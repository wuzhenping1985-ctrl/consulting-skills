
<file path=[Content_Types].xml><?xml version="1.0" encoding="utf-8"?>
<Types xmlns="http://schemas.openxmlformats.org/package/2006/content-types">
  <Default Extension="jpeg" ContentType="image/jpeg"/>
  <Default Extension="JPG" ContentType="image/.jpg"/>
  <Default Extension="xlsx" ContentType="application/vnd.openxmlformats-officedocument.spreadsheetml.sheet"/>
  <Default Extension="png" ContentType="image/png"/>
  <Default Extension="wdp" ContentType="image/vnd.ms-photo"/>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olors1.xml" ContentType="application/vnd.ms-office.chartcolorstyle+xml"/>
  <Override PartName="/ppt/charts/colors2.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style1.xml" ContentType="application/vnd.ms-office.chartstyle+xml"/>
  <Override PartName="/ppt/charts/style2.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rawings/drawing1.xml" ContentType="application/vnd.openxmlformats-officedocument.drawingml.chartshapes+xml"/>
  <Override PartName="/ppt/handoutMasters/handoutMaster1.xml" ContentType="application/vnd.openxmlformats-officedocument.presentationml.handoutMaster+xml"/>
  <Override PartName="/ppt/media/image1001.svg" ContentType="image/svg+xml"/>
  <Override PartName="/ppt/media/image1002.svg" ContentType="image/svg+xml"/>
  <Override PartName="/ppt/media/image1003.svg" ContentType="image/svg+xml"/>
  <Override PartName="/ppt/media/image1004.svg" ContentType="image/svg+xml"/>
  <Override PartName="/ppt/media/image1006.svg" ContentType="image/svg+xml"/>
  <Override PartName="/ppt/media/image1008.svg" ContentType="image/svg+xml"/>
  <Override PartName="/ppt/media/image101.svg" ContentType="image/svg+xml"/>
  <Override PartName="/ppt/media/image1010.svg" ContentType="image/svg+xml"/>
  <Override PartName="/ppt/media/image1012.svg" ContentType="image/svg+xml"/>
  <Override PartName="/ppt/media/image1014.svg" ContentType="image/svg+xml"/>
  <Override PartName="/ppt/media/image1016.svg" ContentType="image/svg+xml"/>
  <Override PartName="/ppt/media/image1018.svg" ContentType="image/svg+xml"/>
  <Override PartName="/ppt/media/image1020.svg" ContentType="image/svg+xml"/>
  <Override PartName="/ppt/media/image1022.svg" ContentType="image/svg+xml"/>
  <Override PartName="/ppt/media/image1024.svg" ContentType="image/svg+xml"/>
  <Override PartName="/ppt/media/image1026.svg" ContentType="image/svg+xml"/>
  <Override PartName="/ppt/media/image1028.svg" ContentType="image/svg+xml"/>
  <Override PartName="/ppt/media/image103.svg" ContentType="image/svg+xml"/>
  <Override PartName="/ppt/media/image1030.svg" ContentType="image/svg+xml"/>
  <Override PartName="/ppt/media/image1032.svg" ContentType="image/svg+xml"/>
  <Override PartName="/ppt/media/image1034.svg" ContentType="image/svg+xml"/>
  <Override PartName="/ppt/media/image1036.svg" ContentType="image/svg+xml"/>
  <Override PartName="/ppt/media/image1037.svg" ContentType="image/svg+xml"/>
  <Override PartName="/ppt/media/image1039.svg" ContentType="image/svg+xml"/>
  <Override PartName="/ppt/media/image1040.svg" ContentType="image/svg+xml"/>
  <Override PartName="/ppt/media/image1041.svg" ContentType="image/svg+xml"/>
  <Override PartName="/ppt/media/image1042.svg" ContentType="image/svg+xml"/>
  <Override PartName="/ppt/media/image1043.svg" ContentType="image/svg+xml"/>
  <Override PartName="/ppt/media/image1044.svg" ContentType="image/svg+xml"/>
  <Override PartName="/ppt/media/image1046.svg" ContentType="image/svg+xml"/>
  <Override PartName="/ppt/media/image1047.svg" ContentType="image/svg+xml"/>
  <Override PartName="/ppt/media/image1048.svg" ContentType="image/svg+xml"/>
  <Override PartName="/ppt/media/image105.svg" ContentType="image/svg+xml"/>
  <Override PartName="/ppt/media/image1050.svg" ContentType="image/svg+xml"/>
  <Override PartName="/ppt/media/image1051.svg" ContentType="image/svg+xml"/>
  <Override PartName="/ppt/media/image1052.svg" ContentType="image/svg+xml"/>
  <Override PartName="/ppt/media/image1054.svg" ContentType="image/svg+xml"/>
  <Override PartName="/ppt/media/image1056.svg" ContentType="image/svg+xml"/>
  <Override PartName="/ppt/media/image1058.svg" ContentType="image/svg+xml"/>
  <Override PartName="/ppt/media/image1060.svg" ContentType="image/svg+xml"/>
  <Override PartName="/ppt/media/image1062.svg" ContentType="image/svg+xml"/>
  <Override PartName="/ppt/media/image1064.svg" ContentType="image/svg+xml"/>
  <Override PartName="/ppt/media/image1066.svg" ContentType="image/svg+xml"/>
  <Override PartName="/ppt/media/image1068.svg" ContentType="image/svg+xml"/>
  <Override PartName="/ppt/media/image107.svg" ContentType="image/svg+xml"/>
  <Override PartName="/ppt/media/image1070.svg" ContentType="image/svg+xml"/>
  <Override PartName="/ppt/media/image1072.svg" ContentType="image/svg+xml"/>
  <Override PartName="/ppt/media/image1074.svg" ContentType="image/svg+xml"/>
  <Override PartName="/ppt/media/image1076.svg" ContentType="image/svg+xml"/>
  <Override PartName="/ppt/media/image1078.svg" ContentType="image/svg+xml"/>
  <Override PartName="/ppt/media/image1080.svg" ContentType="image/svg+xml"/>
  <Override PartName="/ppt/media/image1082.svg" ContentType="image/svg+xml"/>
  <Override PartName="/ppt/media/image1083.svg" ContentType="image/svg+xml"/>
  <Override PartName="/ppt/media/image1085.svg" ContentType="image/svg+xml"/>
  <Override PartName="/ppt/media/image1086.svg" ContentType="image/svg+xml"/>
  <Override PartName="/ppt/media/image1088.svg" ContentType="image/svg+xml"/>
  <Override PartName="/ppt/media/image109.svg" ContentType="image/svg+xml"/>
  <Override PartName="/ppt/media/image1090.svg" ContentType="image/svg+xml"/>
  <Override PartName="/ppt/media/image1091.svg" ContentType="image/svg+xml"/>
  <Override PartName="/ppt/media/image1092.svg" ContentType="image/svg+xml"/>
  <Override PartName="/ppt/media/image1094.svg" ContentType="image/svg+xml"/>
  <Override PartName="/ppt/media/image1096.svg" ContentType="image/svg+xml"/>
  <Override PartName="/ppt/media/image1098.svg" ContentType="image/svg+xml"/>
  <Override PartName="/ppt/media/image1100.svg" ContentType="image/svg+xml"/>
  <Override PartName="/ppt/media/image1102.svg" ContentType="image/svg+xml"/>
  <Override PartName="/ppt/media/image1104.svg" ContentType="image/svg+xml"/>
  <Override PartName="/ppt/media/image1106.svg" ContentType="image/svg+xml"/>
  <Override PartName="/ppt/media/image1108.svg" ContentType="image/svg+xml"/>
  <Override PartName="/ppt/media/image111.svg" ContentType="image/svg+xml"/>
  <Override PartName="/ppt/media/image1110.svg" ContentType="image/svg+xml"/>
  <Override PartName="/ppt/media/image1111.svg" ContentType="image/svg+xml"/>
  <Override PartName="/ppt/media/image1112.svg" ContentType="image/svg+xml"/>
  <Override PartName="/ppt/media/image1113.svg" ContentType="image/svg+xml"/>
  <Override PartName="/ppt/media/image1114.svg" ContentType="image/svg+xml"/>
  <Override PartName="/ppt/media/image1115.svg" ContentType="image/svg+xml"/>
  <Override PartName="/ppt/media/image1116.svg" ContentType="image/svg+xml"/>
  <Override PartName="/ppt/media/image1117.svg" ContentType="image/svg+xml"/>
  <Override PartName="/ppt/media/image1118.svg" ContentType="image/svg+xml"/>
  <Override PartName="/ppt/media/image1120.svg" ContentType="image/svg+xml"/>
  <Override PartName="/ppt/media/image1122.svg" ContentType="image/svg+xml"/>
  <Override PartName="/ppt/media/image1124.svg" ContentType="image/svg+xml"/>
  <Override PartName="/ppt/media/image1126.svg" ContentType="image/svg+xml"/>
  <Override PartName="/ppt/media/image1128.svg" ContentType="image/svg+xml"/>
  <Override PartName="/ppt/media/image113.svg" ContentType="image/svg+xml"/>
  <Override PartName="/ppt/media/image1130.svg" ContentType="image/svg+xml"/>
  <Override PartName="/ppt/media/image1131.svg" ContentType="image/svg+xml"/>
  <Override PartName="/ppt/media/image1133.svg" ContentType="image/svg+xml"/>
  <Override PartName="/ppt/media/image1135.svg" ContentType="image/svg+xml"/>
  <Override PartName="/ppt/media/image1137.svg" ContentType="image/svg+xml"/>
  <Override PartName="/ppt/media/image1138.svg" ContentType="image/svg+xml"/>
  <Override PartName="/ppt/media/image1140.svg" ContentType="image/svg+xml"/>
  <Override PartName="/ppt/media/image1141.svg" ContentType="image/svg+xml"/>
  <Override PartName="/ppt/media/image1143.svg" ContentType="image/svg+xml"/>
  <Override PartName="/ppt/media/image1144.svg" ContentType="image/svg+xml"/>
  <Override PartName="/ppt/media/image1145.svg" ContentType="image/svg+xml"/>
  <Override PartName="/ppt/media/image1147.svg" ContentType="image/svg+xml"/>
  <Override PartName="/ppt/media/image1149.svg" ContentType="image/svg+xml"/>
  <Override PartName="/ppt/media/image115.svg" ContentType="image/svg+xml"/>
  <Override PartName="/ppt/media/image1151.svg" ContentType="image/svg+xml"/>
  <Override PartName="/ppt/media/image1152.svg" ContentType="image/svg+xml"/>
  <Override PartName="/ppt/media/image1153.svg" ContentType="image/svg+xml"/>
  <Override PartName="/ppt/media/image1154.svg" ContentType="image/svg+xml"/>
  <Override PartName="/ppt/media/image1155.svg" ContentType="image/svg+xml"/>
  <Override PartName="/ppt/media/image1156.svg" ContentType="image/svg+xml"/>
  <Override PartName="/ppt/media/image1158.svg" ContentType="image/svg+xml"/>
  <Override PartName="/ppt/media/image1159.svg" ContentType="image/svg+xml"/>
  <Override PartName="/ppt/media/image1160.svg" ContentType="image/svg+xml"/>
  <Override PartName="/ppt/media/image1161.svg" ContentType="image/svg+xml"/>
  <Override PartName="/ppt/media/image1163.svg" ContentType="image/svg+xml"/>
  <Override PartName="/ppt/media/image1164.svg" ContentType="image/svg+xml"/>
  <Override PartName="/ppt/media/image1165.svg" ContentType="image/svg+xml"/>
  <Override PartName="/ppt/media/image1167.svg" ContentType="image/svg+xml"/>
  <Override PartName="/ppt/media/image1168.svg" ContentType="image/svg+xml"/>
  <Override PartName="/ppt/media/image117.svg" ContentType="image/svg+xml"/>
  <Override PartName="/ppt/media/image1170.svg" ContentType="image/svg+xml"/>
  <Override PartName="/ppt/media/image1172.svg" ContentType="image/svg+xml"/>
  <Override PartName="/ppt/media/image1174.svg" ContentType="image/svg+xml"/>
  <Override PartName="/ppt/media/image1176.svg" ContentType="image/svg+xml"/>
  <Override PartName="/ppt/media/image1178.svg" ContentType="image/svg+xml"/>
  <Override PartName="/ppt/media/image118.svg" ContentType="image/svg+xml"/>
  <Override PartName="/ppt/media/image1180.svg" ContentType="image/svg+xml"/>
  <Override PartName="/ppt/media/image1182.svg" ContentType="image/svg+xml"/>
  <Override PartName="/ppt/media/image1184.svg" ContentType="image/svg+xml"/>
  <Override PartName="/ppt/media/image1186.svg" ContentType="image/svg+xml"/>
  <Override PartName="/ppt/media/image1188.svg" ContentType="image/svg+xml"/>
  <Override PartName="/ppt/media/image119.svg" ContentType="image/svg+xml"/>
  <Override PartName="/ppt/media/image1190.svg" ContentType="image/svg+xml"/>
  <Override PartName="/ppt/media/image1192.svg" ContentType="image/svg+xml"/>
  <Override PartName="/ppt/media/image1194.svg" ContentType="image/svg+xml"/>
  <Override PartName="/ppt/media/image1195.svg" ContentType="image/svg+xml"/>
  <Override PartName="/ppt/media/image1196.svg" ContentType="image/svg+xml"/>
  <Override PartName="/ppt/media/image1197.svg" ContentType="image/svg+xml"/>
  <Override PartName="/ppt/media/image1198.svg" ContentType="image/svg+xml"/>
  <Override PartName="/ppt/media/image1199.svg" ContentType="image/svg+xml"/>
  <Override PartName="/ppt/media/image1200.svg" ContentType="image/svg+xml"/>
  <Override PartName="/ppt/media/image1201.svg" ContentType="image/svg+xml"/>
  <Override PartName="/ppt/media/image1203.svg" ContentType="image/svg+xml"/>
  <Override PartName="/ppt/media/image1205.svg" ContentType="image/svg+xml"/>
  <Override PartName="/ppt/media/image1207.svg" ContentType="image/svg+xml"/>
  <Override PartName="/ppt/media/image1208.svg" ContentType="image/svg+xml"/>
  <Override PartName="/ppt/media/image1209.svg" ContentType="image/svg+xml"/>
  <Override PartName="/ppt/media/image121.svg" ContentType="image/svg+xml"/>
  <Override PartName="/ppt/media/image1211.svg" ContentType="image/svg+xml"/>
  <Override PartName="/ppt/media/image122.svg" ContentType="image/svg+xml"/>
  <Override PartName="/ppt/media/image124.svg" ContentType="image/svg+xml"/>
  <Override PartName="/ppt/media/image126.svg" ContentType="image/svg+xml"/>
  <Override PartName="/ppt/media/image128.svg" ContentType="image/svg+xml"/>
  <Override PartName="/ppt/media/image130.svg" ContentType="image/svg+xml"/>
  <Override PartName="/ppt/media/image131.svg" ContentType="image/svg+xml"/>
  <Override PartName="/ppt/media/image132.svg" ContentType="image/svg+xml"/>
  <Override PartName="/ppt/media/image134.svg" ContentType="image/svg+xml"/>
  <Override PartName="/ppt/media/image135.svg" ContentType="image/svg+xml"/>
  <Override PartName="/ppt/media/image137.svg" ContentType="image/svg+xml"/>
  <Override PartName="/ppt/media/image139.svg" ContentType="image/svg+xml"/>
  <Override PartName="/ppt/media/image141.svg" ContentType="image/svg+xml"/>
  <Override PartName="/ppt/media/image143.svg" ContentType="image/svg+xml"/>
  <Override PartName="/ppt/media/image145.svg" ContentType="image/svg+xml"/>
  <Override PartName="/ppt/media/image147.svg" ContentType="image/svg+xml"/>
  <Override PartName="/ppt/media/image149.svg" ContentType="image/svg+xml"/>
  <Override PartName="/ppt/media/image151.svg" ContentType="image/svg+xml"/>
  <Override PartName="/ppt/media/image153.svg" ContentType="image/svg+xml"/>
  <Override PartName="/ppt/media/image155.svg" ContentType="image/svg+xml"/>
  <Override PartName="/ppt/media/image157.svg" ContentType="image/svg+xml"/>
  <Override PartName="/ppt/media/image158.svg" ContentType="image/svg+xml"/>
  <Override PartName="/ppt/media/image159.svg" ContentType="image/svg+xml"/>
  <Override PartName="/ppt/media/image160.svg" ContentType="image/svg+xml"/>
  <Override PartName="/ppt/media/image162.svg" ContentType="image/svg+xml"/>
  <Override PartName="/ppt/media/image164.svg" ContentType="image/svg+xml"/>
  <Override PartName="/ppt/media/image166.svg" ContentType="image/svg+xml"/>
  <Override PartName="/ppt/media/image168.svg" ContentType="image/svg+xml"/>
  <Override PartName="/ppt/media/image17.svg" ContentType="image/svg+xml"/>
  <Override PartName="/ppt/media/image170.svg" ContentType="image/svg+xml"/>
  <Override PartName="/ppt/media/image171.svg" ContentType="image/svg+xml"/>
  <Override PartName="/ppt/media/image173.svg" ContentType="image/svg+xml"/>
  <Override PartName="/ppt/media/image175.svg" ContentType="image/svg+xml"/>
  <Override PartName="/ppt/media/image177.svg" ContentType="image/svg+xml"/>
  <Override PartName="/ppt/media/image179.svg" ContentType="image/svg+xml"/>
  <Override PartName="/ppt/media/image180.svg" ContentType="image/svg+xml"/>
  <Override PartName="/ppt/media/image181.svg" ContentType="image/svg+xml"/>
  <Override PartName="/ppt/media/image183.svg" ContentType="image/svg+xml"/>
  <Override PartName="/ppt/media/image185.svg" ContentType="image/svg+xml"/>
  <Override PartName="/ppt/media/image187.svg" ContentType="image/svg+xml"/>
  <Override PartName="/ppt/media/image189.svg" ContentType="image/svg+xml"/>
  <Override PartName="/ppt/media/image191.svg" ContentType="image/svg+xml"/>
  <Override PartName="/ppt/media/image193.svg" ContentType="image/svg+xml"/>
  <Override PartName="/ppt/media/image195.svg" ContentType="image/svg+xml"/>
  <Override PartName="/ppt/media/image196.svg" ContentType="image/svg+xml"/>
  <Override PartName="/ppt/media/image197.svg" ContentType="image/svg+xml"/>
  <Override PartName="/ppt/media/image199.svg" ContentType="image/svg+xml"/>
  <Override PartName="/ppt/media/image20.svg" ContentType="image/svg+xml"/>
  <Override PartName="/ppt/media/image201.svg" ContentType="image/svg+xml"/>
  <Override PartName="/ppt/media/image202.svg" ContentType="image/svg+xml"/>
  <Override PartName="/ppt/media/image203.svg" ContentType="image/svg+xml"/>
  <Override PartName="/ppt/media/image204.svg" ContentType="image/svg+xml"/>
  <Override PartName="/ppt/media/image205.svg" ContentType="image/svg+xml"/>
  <Override PartName="/ppt/media/image206.svg" ContentType="image/svg+xml"/>
  <Override PartName="/ppt/media/image208.svg" ContentType="image/svg+xml"/>
  <Override PartName="/ppt/media/image211.svg" ContentType="image/svg+xml"/>
  <Override PartName="/ppt/media/image213.svg" ContentType="image/svg+xml"/>
  <Override PartName="/ppt/media/image215.svg" ContentType="image/svg+xml"/>
  <Override PartName="/ppt/media/image217.svg" ContentType="image/svg+xml"/>
  <Override PartName="/ppt/media/image219.svg" ContentType="image/svg+xml"/>
  <Override PartName="/ppt/media/image22.svg" ContentType="image/svg+xml"/>
  <Override PartName="/ppt/media/image221.svg" ContentType="image/svg+xml"/>
  <Override PartName="/ppt/media/image223.svg" ContentType="image/svg+xml"/>
  <Override PartName="/ppt/media/image225.svg" ContentType="image/svg+xml"/>
  <Override PartName="/ppt/media/image227.svg" ContentType="image/svg+xml"/>
  <Override PartName="/ppt/media/image229.svg" ContentType="image/svg+xml"/>
  <Override PartName="/ppt/media/image230.svg" ContentType="image/svg+xml"/>
  <Override PartName="/ppt/media/image231.svg" ContentType="image/svg+xml"/>
  <Override PartName="/ppt/media/image232.svg" ContentType="image/svg+xml"/>
  <Override PartName="/ppt/media/image233.svg" ContentType="image/svg+xml"/>
  <Override PartName="/ppt/media/image234.svg" ContentType="image/svg+xml"/>
  <Override PartName="/ppt/media/image235.svg" ContentType="image/svg+xml"/>
  <Override PartName="/ppt/media/image236.svg" ContentType="image/svg+xml"/>
  <Override PartName="/ppt/media/image237.svg" ContentType="image/svg+xml"/>
  <Override PartName="/ppt/media/image239.svg" ContentType="image/svg+xml"/>
  <Override PartName="/ppt/media/image24.svg" ContentType="image/svg+xml"/>
  <Override PartName="/ppt/media/image241.svg" ContentType="image/svg+xml"/>
  <Override PartName="/ppt/media/image243.svg" ContentType="image/svg+xml"/>
  <Override PartName="/ppt/media/image245.svg" ContentType="image/svg+xml"/>
  <Override PartName="/ppt/media/image246.svg" ContentType="image/svg+xml"/>
  <Override PartName="/ppt/media/image248.svg" ContentType="image/svg+xml"/>
  <Override PartName="/ppt/media/image250.svg" ContentType="image/svg+xml"/>
  <Override PartName="/ppt/media/image252.svg" ContentType="image/svg+xml"/>
  <Override PartName="/ppt/media/image254.svg" ContentType="image/svg+xml"/>
  <Override PartName="/ppt/media/image256.svg" ContentType="image/svg+xml"/>
  <Override PartName="/ppt/media/image258.svg" ContentType="image/svg+xml"/>
  <Override PartName="/ppt/media/image26.svg" ContentType="image/svg+xml"/>
  <Override PartName="/ppt/media/image260.svg" ContentType="image/svg+xml"/>
  <Override PartName="/ppt/media/image262.svg" ContentType="image/svg+xml"/>
  <Override PartName="/ppt/media/image264.svg" ContentType="image/svg+xml"/>
  <Override PartName="/ppt/media/image266.svg" ContentType="image/svg+xml"/>
  <Override PartName="/ppt/media/image268.svg" ContentType="image/svg+xml"/>
  <Override PartName="/ppt/media/image269.svg" ContentType="image/svg+xml"/>
  <Override PartName="/ppt/media/image270.svg" ContentType="image/svg+xml"/>
  <Override PartName="/ppt/media/image274.svg" ContentType="image/svg+xml"/>
  <Override PartName="/ppt/media/image276.svg" ContentType="image/svg+xml"/>
  <Override PartName="/ppt/media/image278.svg" ContentType="image/svg+xml"/>
  <Override PartName="/ppt/media/image28.svg" ContentType="image/svg+xml"/>
  <Override PartName="/ppt/media/image280.svg" ContentType="image/svg+xml"/>
  <Override PartName="/ppt/media/image282.svg" ContentType="image/svg+xml"/>
  <Override PartName="/ppt/media/image283.svg" ContentType="image/svg+xml"/>
  <Override PartName="/ppt/media/image284.svg" ContentType="image/svg+xml"/>
  <Override PartName="/ppt/media/image285.svg" ContentType="image/svg+xml"/>
  <Override PartName="/ppt/media/image286.svg" ContentType="image/svg+xml"/>
  <Override PartName="/ppt/media/image287.svg" ContentType="image/svg+xml"/>
  <Override PartName="/ppt/media/image288.svg" ContentType="image/svg+xml"/>
  <Override PartName="/ppt/media/image290.svg" ContentType="image/svg+xml"/>
  <Override PartName="/ppt/media/image292.svg" ContentType="image/svg+xml"/>
  <Override PartName="/ppt/media/image294.svg" ContentType="image/svg+xml"/>
  <Override PartName="/ppt/media/image296.svg" ContentType="image/svg+xml"/>
  <Override PartName="/ppt/media/image298.svg" ContentType="image/svg+xml"/>
  <Override PartName="/ppt/media/image30.svg" ContentType="image/svg+xml"/>
  <Override PartName="/ppt/media/image300.svg" ContentType="image/svg+xml"/>
  <Override PartName="/ppt/media/image302.svg" ContentType="image/svg+xml"/>
  <Override PartName="/ppt/media/image304.svg" ContentType="image/svg+xml"/>
  <Override PartName="/ppt/media/image306.svg" ContentType="image/svg+xml"/>
  <Override PartName="/ppt/media/image308.svg" ContentType="image/svg+xml"/>
  <Override PartName="/ppt/media/image310.svg" ContentType="image/svg+xml"/>
  <Override PartName="/ppt/media/image312.svg" ContentType="image/svg+xml"/>
  <Override PartName="/ppt/media/image314.svg" ContentType="image/svg+xml"/>
  <Override PartName="/ppt/media/image316.svg" ContentType="image/svg+xml"/>
  <Override PartName="/ppt/media/image318.svg" ContentType="image/svg+xml"/>
  <Override PartName="/ppt/media/image32.svg" ContentType="image/svg+xml"/>
  <Override PartName="/ppt/media/image320.svg" ContentType="image/svg+xml"/>
  <Override PartName="/ppt/media/image322.svg" ContentType="image/svg+xml"/>
  <Override PartName="/ppt/media/image324.svg" ContentType="image/svg+xml"/>
  <Override PartName="/ppt/media/image326.svg" ContentType="image/svg+xml"/>
  <Override PartName="/ppt/media/image328.svg" ContentType="image/svg+xml"/>
  <Override PartName="/ppt/media/image330.svg" ContentType="image/svg+xml"/>
  <Override PartName="/ppt/media/image332.svg" ContentType="image/svg+xml"/>
  <Override PartName="/ppt/media/image334.svg" ContentType="image/svg+xml"/>
  <Override PartName="/ppt/media/image336.svg" ContentType="image/svg+xml"/>
  <Override PartName="/ppt/media/image338.svg" ContentType="image/svg+xml"/>
  <Override PartName="/ppt/media/image34.svg" ContentType="image/svg+xml"/>
  <Override PartName="/ppt/media/image340.svg" ContentType="image/svg+xml"/>
  <Override PartName="/ppt/media/image342.svg" ContentType="image/svg+xml"/>
  <Override PartName="/ppt/media/image343.svg" ContentType="image/svg+xml"/>
  <Override PartName="/ppt/media/image347.svg" ContentType="image/svg+xml"/>
  <Override PartName="/ppt/media/image348.svg" ContentType="image/svg+xml"/>
  <Override PartName="/ppt/media/image35.svg" ContentType="image/svg+xml"/>
  <Override PartName="/ppt/media/image352.svg" ContentType="image/svg+xml"/>
  <Override PartName="/ppt/media/image357.svg" ContentType="image/svg+xml"/>
  <Override PartName="/ppt/media/image359.svg" ContentType="image/svg+xml"/>
  <Override PartName="/ppt/media/image361.svg" ContentType="image/svg+xml"/>
  <Override PartName="/ppt/media/image363.svg" ContentType="image/svg+xml"/>
  <Override PartName="/ppt/media/image365.svg" ContentType="image/svg+xml"/>
  <Override PartName="/ppt/media/image367.svg" ContentType="image/svg+xml"/>
  <Override PartName="/ppt/media/image369.svg" ContentType="image/svg+xml"/>
  <Override PartName="/ppt/media/image371.svg" ContentType="image/svg+xml"/>
  <Override PartName="/ppt/media/image373.svg" ContentType="image/svg+xml"/>
  <Override PartName="/ppt/media/image375.svg" ContentType="image/svg+xml"/>
  <Override PartName="/ppt/media/image376.svg" ContentType="image/svg+xml"/>
  <Override PartName="/ppt/media/image378.svg" ContentType="image/svg+xml"/>
  <Override PartName="/ppt/media/image379.svg" ContentType="image/svg+xml"/>
  <Override PartName="/ppt/media/image38.svg" ContentType="image/svg+xml"/>
  <Override PartName="/ppt/media/image381.svg" ContentType="image/svg+xml"/>
  <Override PartName="/ppt/media/image383.svg" ContentType="image/svg+xml"/>
  <Override PartName="/ppt/media/image385.svg" ContentType="image/svg+xml"/>
  <Override PartName="/ppt/media/image387.svg" ContentType="image/svg+xml"/>
  <Override PartName="/ppt/media/image389.svg" ContentType="image/svg+xml"/>
  <Override PartName="/ppt/media/image39.svg" ContentType="image/svg+xml"/>
  <Override PartName="/ppt/media/image391.svg" ContentType="image/svg+xml"/>
  <Override PartName="/ppt/media/image393.svg" ContentType="image/svg+xml"/>
  <Override PartName="/ppt/media/image395.svg" ContentType="image/svg+xml"/>
  <Override PartName="/ppt/media/image397.svg" ContentType="image/svg+xml"/>
  <Override PartName="/ppt/media/image399.svg" ContentType="image/svg+xml"/>
  <Override PartName="/ppt/media/image40.svg" ContentType="image/svg+xml"/>
  <Override PartName="/ppt/media/image401.svg" ContentType="image/svg+xml"/>
  <Override PartName="/ppt/media/image403.svg" ContentType="image/svg+xml"/>
  <Override PartName="/ppt/media/image405.svg" ContentType="image/svg+xml"/>
  <Override PartName="/ppt/media/image407.svg" ContentType="image/svg+xml"/>
  <Override PartName="/ppt/media/image409.svg" ContentType="image/svg+xml"/>
  <Override PartName="/ppt/media/image41.svg" ContentType="image/svg+xml"/>
  <Override PartName="/ppt/media/image411.svg" ContentType="image/svg+xml"/>
  <Override PartName="/ppt/media/image413.svg" ContentType="image/svg+xml"/>
  <Override PartName="/ppt/media/image415.svg" ContentType="image/svg+xml"/>
  <Override PartName="/ppt/media/image417.svg" ContentType="image/svg+xml"/>
  <Override PartName="/ppt/media/image419.svg" ContentType="image/svg+xml"/>
  <Override PartName="/ppt/media/image42.svg" ContentType="image/svg+xml"/>
  <Override PartName="/ppt/media/image421.svg" ContentType="image/svg+xml"/>
  <Override PartName="/ppt/media/image43.svg" ContentType="image/svg+xml"/>
  <Override PartName="/ppt/media/image431.svg" ContentType="image/svg+xml"/>
  <Override PartName="/ppt/media/image433.svg" ContentType="image/svg+xml"/>
  <Override PartName="/ppt/media/image435.svg" ContentType="image/svg+xml"/>
  <Override PartName="/ppt/media/image437.svg" ContentType="image/svg+xml"/>
  <Override PartName="/ppt/media/image439.svg" ContentType="image/svg+xml"/>
  <Override PartName="/ppt/media/image44.svg" ContentType="image/svg+xml"/>
  <Override PartName="/ppt/media/image440.svg" ContentType="image/svg+xml"/>
  <Override PartName="/ppt/media/image442.svg" ContentType="image/svg+xml"/>
  <Override PartName="/ppt/media/image444.svg" ContentType="image/svg+xml"/>
  <Override PartName="/ppt/media/image445.svg" ContentType="image/svg+xml"/>
  <Override PartName="/ppt/media/image446.svg" ContentType="image/svg+xml"/>
  <Override PartName="/ppt/media/image447.svg" ContentType="image/svg+xml"/>
  <Override PartName="/ppt/media/image448.svg" ContentType="image/svg+xml"/>
  <Override PartName="/ppt/media/image449.svg" ContentType="image/svg+xml"/>
  <Override PartName="/ppt/media/image45.svg" ContentType="image/svg+xml"/>
  <Override PartName="/ppt/media/image450.svg" ContentType="image/svg+xml"/>
  <Override PartName="/ppt/media/image451.svg" ContentType="image/svg+xml"/>
  <Override PartName="/ppt/media/image452.svg" ContentType="image/svg+xml"/>
  <Override PartName="/ppt/media/image453.svg" ContentType="image/svg+xml"/>
  <Override PartName="/ppt/media/image454.svg" ContentType="image/svg+xml"/>
  <Override PartName="/ppt/media/image455.svg" ContentType="image/svg+xml"/>
  <Override PartName="/ppt/media/image456.svg" ContentType="image/svg+xml"/>
  <Override PartName="/ppt/media/image457.svg" ContentType="image/svg+xml"/>
  <Override PartName="/ppt/media/image458.svg" ContentType="image/svg+xml"/>
  <Override PartName="/ppt/media/image459.svg" ContentType="image/svg+xml"/>
  <Override PartName="/ppt/media/image46.svg" ContentType="image/svg+xml"/>
  <Override PartName="/ppt/media/image460.svg" ContentType="image/svg+xml"/>
  <Override PartName="/ppt/media/image461.svg" ContentType="image/svg+xml"/>
  <Override PartName="/ppt/media/image462.svg" ContentType="image/svg+xml"/>
  <Override PartName="/ppt/media/image463.svg" ContentType="image/svg+xml"/>
  <Override PartName="/ppt/media/image464.svg" ContentType="image/svg+xml"/>
  <Override PartName="/ppt/media/image465.svg" ContentType="image/svg+xml"/>
  <Override PartName="/ppt/media/image466.svg" ContentType="image/svg+xml"/>
  <Override PartName="/ppt/media/image467.svg" ContentType="image/svg+xml"/>
  <Override PartName="/ppt/media/image469.svg" ContentType="image/svg+xml"/>
  <Override PartName="/ppt/media/image471.svg" ContentType="image/svg+xml"/>
  <Override PartName="/ppt/media/image473.svg" ContentType="image/svg+xml"/>
  <Override PartName="/ppt/media/image475.svg" ContentType="image/svg+xml"/>
  <Override PartName="/ppt/media/image477.svg" ContentType="image/svg+xml"/>
  <Override PartName="/ppt/media/image479.svg" ContentType="image/svg+xml"/>
  <Override PartName="/ppt/media/image48.svg" ContentType="image/svg+xml"/>
  <Override PartName="/ppt/media/image481.svg" ContentType="image/svg+xml"/>
  <Override PartName="/ppt/media/image483.svg" ContentType="image/svg+xml"/>
  <Override PartName="/ppt/media/image485.svg" ContentType="image/svg+xml"/>
  <Override PartName="/ppt/media/image487.svg" ContentType="image/svg+xml"/>
  <Override PartName="/ppt/media/image489.svg" ContentType="image/svg+xml"/>
  <Override PartName="/ppt/media/image49.svg" ContentType="image/svg+xml"/>
  <Override PartName="/ppt/media/image491.svg" ContentType="image/svg+xml"/>
  <Override PartName="/ppt/media/image493.svg" ContentType="image/svg+xml"/>
  <Override PartName="/ppt/media/image495.svg" ContentType="image/svg+xml"/>
  <Override PartName="/ppt/media/image497.svg" ContentType="image/svg+xml"/>
  <Override PartName="/ppt/media/image498.svg" ContentType="image/svg+xml"/>
  <Override PartName="/ppt/media/image50.svg" ContentType="image/svg+xml"/>
  <Override PartName="/ppt/media/image500.svg" ContentType="image/svg+xml"/>
  <Override PartName="/ppt/media/image502.svg" ContentType="image/svg+xml"/>
  <Override PartName="/ppt/media/image504.svg" ContentType="image/svg+xml"/>
  <Override PartName="/ppt/media/image506.svg" ContentType="image/svg+xml"/>
  <Override PartName="/ppt/media/image507.svg" ContentType="image/svg+xml"/>
  <Override PartName="/ppt/media/image510.svg" ContentType="image/svg+xml"/>
  <Override PartName="/ppt/media/image511.svg" ContentType="image/svg+xml"/>
  <Override PartName="/ppt/media/image513.svg" ContentType="image/svg+xml"/>
  <Override PartName="/ppt/media/image515.svg" ContentType="image/svg+xml"/>
  <Override PartName="/ppt/media/image517.svg" ContentType="image/svg+xml"/>
  <Override PartName="/ppt/media/image518.svg" ContentType="image/svg+xml"/>
  <Override PartName="/ppt/media/image52.svg" ContentType="image/svg+xml"/>
  <Override PartName="/ppt/media/image520.svg" ContentType="image/svg+xml"/>
  <Override PartName="/ppt/media/image522.svg" ContentType="image/svg+xml"/>
  <Override PartName="/ppt/media/image523.svg" ContentType="image/svg+xml"/>
  <Override PartName="/ppt/media/image524.svg" ContentType="image/svg+xml"/>
  <Override PartName="/ppt/media/image526.svg" ContentType="image/svg+xml"/>
  <Override PartName="/ppt/media/image527.svg" ContentType="image/svg+xml"/>
  <Override PartName="/ppt/media/image528.svg" ContentType="image/svg+xml"/>
  <Override PartName="/ppt/media/image530.svg" ContentType="image/svg+xml"/>
  <Override PartName="/ppt/media/image532.svg" ContentType="image/svg+xml"/>
  <Override PartName="/ppt/media/image534.svg" ContentType="image/svg+xml"/>
  <Override PartName="/ppt/media/image536.svg" ContentType="image/svg+xml"/>
  <Override PartName="/ppt/media/image538.svg" ContentType="image/svg+xml"/>
  <Override PartName="/ppt/media/image54.svg" ContentType="image/svg+xml"/>
  <Override PartName="/ppt/media/image540.svg" ContentType="image/svg+xml"/>
  <Override PartName="/ppt/media/image542.svg" ContentType="image/svg+xml"/>
  <Override PartName="/ppt/media/image544.svg" ContentType="image/svg+xml"/>
  <Override PartName="/ppt/media/image546.svg" ContentType="image/svg+xml"/>
  <Override PartName="/ppt/media/image548.svg" ContentType="image/svg+xml"/>
  <Override PartName="/ppt/media/image550.svg" ContentType="image/svg+xml"/>
  <Override PartName="/ppt/media/image552.svg" ContentType="image/svg+xml"/>
  <Override PartName="/ppt/media/image554.svg" ContentType="image/svg+xml"/>
  <Override PartName="/ppt/media/image556.svg" ContentType="image/svg+xml"/>
  <Override PartName="/ppt/media/image558.svg" ContentType="image/svg+xml"/>
  <Override PartName="/ppt/media/image559.svg" ContentType="image/svg+xml"/>
  <Override PartName="/ppt/media/image56.svg" ContentType="image/svg+xml"/>
  <Override PartName="/ppt/media/image561.svg" ContentType="image/svg+xml"/>
  <Override PartName="/ppt/media/image562.svg" ContentType="image/svg+xml"/>
  <Override PartName="/ppt/media/image563.svg" ContentType="image/svg+xml"/>
  <Override PartName="/ppt/media/image565.svg" ContentType="image/svg+xml"/>
  <Override PartName="/ppt/media/image567.svg" ContentType="image/svg+xml"/>
  <Override PartName="/ppt/media/image569.svg" ContentType="image/svg+xml"/>
  <Override PartName="/ppt/media/image57.svg" ContentType="image/svg+xml"/>
  <Override PartName="/ppt/media/image571.svg" ContentType="image/svg+xml"/>
  <Override PartName="/ppt/media/image573.svg" ContentType="image/svg+xml"/>
  <Override PartName="/ppt/media/image575.svg" ContentType="image/svg+xml"/>
  <Override PartName="/ppt/media/image576.svg" ContentType="image/svg+xml"/>
  <Override PartName="/ppt/media/image578.svg" ContentType="image/svg+xml"/>
  <Override PartName="/ppt/media/image58.svg" ContentType="image/svg+xml"/>
  <Override PartName="/ppt/media/image580.svg" ContentType="image/svg+xml"/>
  <Override PartName="/ppt/media/image582.svg" ContentType="image/svg+xml"/>
  <Override PartName="/ppt/media/image584.svg" ContentType="image/svg+xml"/>
  <Override PartName="/ppt/media/image586.svg" ContentType="image/svg+xml"/>
  <Override PartName="/ppt/media/image588.svg" ContentType="image/svg+xml"/>
  <Override PartName="/ppt/media/image590.svg" ContentType="image/svg+xml"/>
  <Override PartName="/ppt/media/image592.svg" ContentType="image/svg+xml"/>
  <Override PartName="/ppt/media/image593.svg" ContentType="image/svg+xml"/>
  <Override PartName="/ppt/media/image595.svg" ContentType="image/svg+xml"/>
  <Override PartName="/ppt/media/image597.svg" ContentType="image/svg+xml"/>
  <Override PartName="/ppt/media/image599.svg" ContentType="image/svg+xml"/>
  <Override PartName="/ppt/media/image60.svg" ContentType="image/svg+xml"/>
  <Override PartName="/ppt/media/image601.svg" ContentType="image/svg+xml"/>
  <Override PartName="/ppt/media/image603.svg" ContentType="image/svg+xml"/>
  <Override PartName="/ppt/media/image605.svg" ContentType="image/svg+xml"/>
  <Override PartName="/ppt/media/image606.svg" ContentType="image/svg+xml"/>
  <Override PartName="/ppt/media/image608.svg" ContentType="image/svg+xml"/>
  <Override PartName="/ppt/media/image610.svg" ContentType="image/svg+xml"/>
  <Override PartName="/ppt/media/image612.svg" ContentType="image/svg+xml"/>
  <Override PartName="/ppt/media/image614.svg" ContentType="image/svg+xml"/>
  <Override PartName="/ppt/media/image616.svg" ContentType="image/svg+xml"/>
  <Override PartName="/ppt/media/image618.svg" ContentType="image/svg+xml"/>
  <Override PartName="/ppt/media/image62.svg" ContentType="image/svg+xml"/>
  <Override PartName="/ppt/media/image620.svg" ContentType="image/svg+xml"/>
  <Override PartName="/ppt/media/image622.svg" ContentType="image/svg+xml"/>
  <Override PartName="/ppt/media/image623.svg" ContentType="image/svg+xml"/>
  <Override PartName="/ppt/media/image624.svg" ContentType="image/svg+xml"/>
  <Override PartName="/ppt/media/image625.svg" ContentType="image/svg+xml"/>
  <Override PartName="/ppt/media/image626.svg" ContentType="image/svg+xml"/>
  <Override PartName="/ppt/media/image627.svg" ContentType="image/svg+xml"/>
  <Override PartName="/ppt/media/image628.svg" ContentType="image/svg+xml"/>
  <Override PartName="/ppt/media/image63.svg" ContentType="image/svg+xml"/>
  <Override PartName="/ppt/media/image630.svg" ContentType="image/svg+xml"/>
  <Override PartName="/ppt/media/image632.svg" ContentType="image/svg+xml"/>
  <Override PartName="/ppt/media/image633.svg" ContentType="image/svg+xml"/>
  <Override PartName="/ppt/media/image635.svg" ContentType="image/svg+xml"/>
  <Override PartName="/ppt/media/image637.svg" ContentType="image/svg+xml"/>
  <Override PartName="/ppt/media/image639.svg" ContentType="image/svg+xml"/>
  <Override PartName="/ppt/media/image641.svg" ContentType="image/svg+xml"/>
  <Override PartName="/ppt/media/image643.svg" ContentType="image/svg+xml"/>
  <Override PartName="/ppt/media/image645.svg" ContentType="image/svg+xml"/>
  <Override PartName="/ppt/media/image647.svg" ContentType="image/svg+xml"/>
  <Override PartName="/ppt/media/image649.svg" ContentType="image/svg+xml"/>
  <Override PartName="/ppt/media/image65.svg" ContentType="image/svg+xml"/>
  <Override PartName="/ppt/media/image651.svg" ContentType="image/svg+xml"/>
  <Override PartName="/ppt/media/image652.svg" ContentType="image/svg+xml"/>
  <Override PartName="/ppt/media/image653.svg" ContentType="image/svg+xml"/>
  <Override PartName="/ppt/media/image655.svg" ContentType="image/svg+xml"/>
  <Override PartName="/ppt/media/image656.svg" ContentType="image/svg+xml"/>
  <Override PartName="/ppt/media/image657.svg" ContentType="image/svg+xml"/>
  <Override PartName="/ppt/media/image659.svg" ContentType="image/svg+xml"/>
  <Override PartName="/ppt/media/image660.svg" ContentType="image/svg+xml"/>
  <Override PartName="/ppt/media/image661.svg" ContentType="image/svg+xml"/>
  <Override PartName="/ppt/media/image662.svg" ContentType="image/svg+xml"/>
  <Override PartName="/ppt/media/image664.svg" ContentType="image/svg+xml"/>
  <Override PartName="/ppt/media/image666.svg" ContentType="image/svg+xml"/>
  <Override PartName="/ppt/media/image668.svg" ContentType="image/svg+xml"/>
  <Override PartName="/ppt/media/image67.svg" ContentType="image/svg+xml"/>
  <Override PartName="/ppt/media/image670.svg" ContentType="image/svg+xml"/>
  <Override PartName="/ppt/media/image672.svg" ContentType="image/svg+xml"/>
  <Override PartName="/ppt/media/image674.svg" ContentType="image/svg+xml"/>
  <Override PartName="/ppt/media/image675.svg" ContentType="image/svg+xml"/>
  <Override PartName="/ppt/media/image677.svg" ContentType="image/svg+xml"/>
  <Override PartName="/ppt/media/image679.svg" ContentType="image/svg+xml"/>
  <Override PartName="/ppt/media/image681.svg" ContentType="image/svg+xml"/>
  <Override PartName="/ppt/media/image683.svg" ContentType="image/svg+xml"/>
  <Override PartName="/ppt/media/image684.svg" ContentType="image/svg+xml"/>
  <Override PartName="/ppt/media/image685.svg" ContentType="image/svg+xml"/>
  <Override PartName="/ppt/media/image687.svg" ContentType="image/svg+xml"/>
  <Override PartName="/ppt/media/image688.svg" ContentType="image/svg+xml"/>
  <Override PartName="/ppt/media/image689.svg" ContentType="image/svg+xml"/>
  <Override PartName="/ppt/media/image69.svg" ContentType="image/svg+xml"/>
  <Override PartName="/ppt/media/image690.svg" ContentType="image/svg+xml"/>
  <Override PartName="/ppt/media/image691.svg" ContentType="image/svg+xml"/>
  <Override PartName="/ppt/media/image692.svg" ContentType="image/svg+xml"/>
  <Override PartName="/ppt/media/image693.svg" ContentType="image/svg+xml"/>
  <Override PartName="/ppt/media/image695.svg" ContentType="image/svg+xml"/>
  <Override PartName="/ppt/media/image697.svg" ContentType="image/svg+xml"/>
  <Override PartName="/ppt/media/image698.svg" ContentType="image/svg+xml"/>
  <Override PartName="/ppt/media/image699.svg" ContentType="image/svg+xml"/>
  <Override PartName="/ppt/media/image700.svg" ContentType="image/svg+xml"/>
  <Override PartName="/ppt/media/image701.svg" ContentType="image/svg+xml"/>
  <Override PartName="/ppt/media/image703.svg" ContentType="image/svg+xml"/>
  <Override PartName="/ppt/media/image705.svg" ContentType="image/svg+xml"/>
  <Override PartName="/ppt/media/image706.svg" ContentType="image/svg+xml"/>
  <Override PartName="/ppt/media/image708.svg" ContentType="image/svg+xml"/>
  <Override PartName="/ppt/media/image71.svg" ContentType="image/svg+xml"/>
  <Override PartName="/ppt/media/image710.svg" ContentType="image/svg+xml"/>
  <Override PartName="/ppt/media/image712.svg" ContentType="image/svg+xml"/>
  <Override PartName="/ppt/media/image714.svg" ContentType="image/svg+xml"/>
  <Override PartName="/ppt/media/image716.svg" ContentType="image/svg+xml"/>
  <Override PartName="/ppt/media/image718.svg" ContentType="image/svg+xml"/>
  <Override PartName="/ppt/media/image720.svg" ContentType="image/svg+xml"/>
  <Override PartName="/ppt/media/image721.svg" ContentType="image/svg+xml"/>
  <Override PartName="/ppt/media/image723.svg" ContentType="image/svg+xml"/>
  <Override PartName="/ppt/media/image725.svg" ContentType="image/svg+xml"/>
  <Override PartName="/ppt/media/image727.svg" ContentType="image/svg+xml"/>
  <Override PartName="/ppt/media/image728.svg" ContentType="image/svg+xml"/>
  <Override PartName="/ppt/media/image729.svg" ContentType="image/svg+xml"/>
  <Override PartName="/ppt/media/image73.svg" ContentType="image/svg+xml"/>
  <Override PartName="/ppt/media/image730.svg" ContentType="image/svg+xml"/>
  <Override PartName="/ppt/media/image731.svg" ContentType="image/svg+xml"/>
  <Override PartName="/ppt/media/image733.svg" ContentType="image/svg+xml"/>
  <Override PartName="/ppt/media/image735.svg" ContentType="image/svg+xml"/>
  <Override PartName="/ppt/media/image737.svg" ContentType="image/svg+xml"/>
  <Override PartName="/ppt/media/image739.svg" ContentType="image/svg+xml"/>
  <Override PartName="/ppt/media/image741.svg" ContentType="image/svg+xml"/>
  <Override PartName="/ppt/media/image743.svg" ContentType="image/svg+xml"/>
  <Override PartName="/ppt/media/image745.svg" ContentType="image/svg+xml"/>
  <Override PartName="/ppt/media/image746.svg" ContentType="image/svg+xml"/>
  <Override PartName="/ppt/media/image747.svg" ContentType="image/svg+xml"/>
  <Override PartName="/ppt/media/image749.svg" ContentType="image/svg+xml"/>
  <Override PartName="/ppt/media/image75.svg" ContentType="image/svg+xml"/>
  <Override PartName="/ppt/media/image751.svg" ContentType="image/svg+xml"/>
  <Override PartName="/ppt/media/image753.svg" ContentType="image/svg+xml"/>
  <Override PartName="/ppt/media/image755.svg" ContentType="image/svg+xml"/>
  <Override PartName="/ppt/media/image757.svg" ContentType="image/svg+xml"/>
  <Override PartName="/ppt/media/image759.svg" ContentType="image/svg+xml"/>
  <Override PartName="/ppt/media/image760.svg" ContentType="image/svg+xml"/>
  <Override PartName="/ppt/media/image762.svg" ContentType="image/svg+xml"/>
  <Override PartName="/ppt/media/image764.svg" ContentType="image/svg+xml"/>
  <Override PartName="/ppt/media/image766.svg" ContentType="image/svg+xml"/>
  <Override PartName="/ppt/media/image767.svg" ContentType="image/svg+xml"/>
  <Override PartName="/ppt/media/image769.svg" ContentType="image/svg+xml"/>
  <Override PartName="/ppt/media/image77.svg" ContentType="image/svg+xml"/>
  <Override PartName="/ppt/media/image771.svg" ContentType="image/svg+xml"/>
  <Override PartName="/ppt/media/image773.svg" ContentType="image/svg+xml"/>
  <Override PartName="/ppt/media/image775.svg" ContentType="image/svg+xml"/>
  <Override PartName="/ppt/media/image777.svg" ContentType="image/svg+xml"/>
  <Override PartName="/ppt/media/image779.svg" ContentType="image/svg+xml"/>
  <Override PartName="/ppt/media/image78.svg" ContentType="image/svg+xml"/>
  <Override PartName="/ppt/media/image781.svg" ContentType="image/svg+xml"/>
  <Override PartName="/ppt/media/image782.svg" ContentType="image/svg+xml"/>
  <Override PartName="/ppt/media/image784.svg" ContentType="image/svg+xml"/>
  <Override PartName="/ppt/media/image785.svg" ContentType="image/svg+xml"/>
  <Override PartName="/ppt/media/image787.svg" ContentType="image/svg+xml"/>
  <Override PartName="/ppt/media/image789.svg" ContentType="image/svg+xml"/>
  <Override PartName="/ppt/media/image791.svg" ContentType="image/svg+xml"/>
  <Override PartName="/ppt/media/image793.svg" ContentType="image/svg+xml"/>
  <Override PartName="/ppt/media/image795.svg" ContentType="image/svg+xml"/>
  <Override PartName="/ppt/media/image797.svg" ContentType="image/svg+xml"/>
  <Override PartName="/ppt/media/image799.svg" ContentType="image/svg+xml"/>
  <Override PartName="/ppt/media/image80.svg" ContentType="image/svg+xml"/>
  <Override PartName="/ppt/media/image800.svg" ContentType="image/svg+xml"/>
  <Override PartName="/ppt/media/image802.svg" ContentType="image/svg+xml"/>
  <Override PartName="/ppt/media/image804.svg" ContentType="image/svg+xml"/>
  <Override PartName="/ppt/media/image805.svg" ContentType="image/svg+xml"/>
  <Override PartName="/ppt/media/image807.svg" ContentType="image/svg+xml"/>
  <Override PartName="/ppt/media/image809.svg" ContentType="image/svg+xml"/>
  <Override PartName="/ppt/media/image811.svg" ContentType="image/svg+xml"/>
  <Override PartName="/ppt/media/image813.svg" ContentType="image/svg+xml"/>
  <Override PartName="/ppt/media/image815.svg" ContentType="image/svg+xml"/>
  <Override PartName="/ppt/media/image817.svg" ContentType="image/svg+xml"/>
  <Override PartName="/ppt/media/image819.svg" ContentType="image/svg+xml"/>
  <Override PartName="/ppt/media/image82.svg" ContentType="image/svg+xml"/>
  <Override PartName="/ppt/media/image821.svg" ContentType="image/svg+xml"/>
  <Override PartName="/ppt/media/image823.svg" ContentType="image/svg+xml"/>
  <Override PartName="/ppt/media/image825.svg" ContentType="image/svg+xml"/>
  <Override PartName="/ppt/media/image827.svg" ContentType="image/svg+xml"/>
  <Override PartName="/ppt/media/image829.svg" ContentType="image/svg+xml"/>
  <Override PartName="/ppt/media/image830.svg" ContentType="image/svg+xml"/>
  <Override PartName="/ppt/media/image832.svg" ContentType="image/svg+xml"/>
  <Override PartName="/ppt/media/image834.svg" ContentType="image/svg+xml"/>
  <Override PartName="/ppt/media/image837.svg" ContentType="image/svg+xml"/>
  <Override PartName="/ppt/media/image839.svg" ContentType="image/svg+xml"/>
  <Override PartName="/ppt/media/image84.svg" ContentType="image/svg+xml"/>
  <Override PartName="/ppt/media/image841.svg" ContentType="image/svg+xml"/>
  <Override PartName="/ppt/media/image843.svg" ContentType="image/svg+xml"/>
  <Override PartName="/ppt/media/image844.svg" ContentType="image/svg+xml"/>
  <Override PartName="/ppt/media/image846.svg" ContentType="image/svg+xml"/>
  <Override PartName="/ppt/media/image847.svg" ContentType="image/svg+xml"/>
  <Override PartName="/ppt/media/image848.svg" ContentType="image/svg+xml"/>
  <Override PartName="/ppt/media/image849.svg" ContentType="image/svg+xml"/>
  <Override PartName="/ppt/media/image851.svg" ContentType="image/svg+xml"/>
  <Override PartName="/ppt/media/image852.svg" ContentType="image/svg+xml"/>
  <Override PartName="/ppt/media/image853.svg" ContentType="image/svg+xml"/>
  <Override PartName="/ppt/media/image855.svg" ContentType="image/svg+xml"/>
  <Override PartName="/ppt/media/image857.svg" ContentType="image/svg+xml"/>
  <Override PartName="/ppt/media/image859.svg" ContentType="image/svg+xml"/>
  <Override PartName="/ppt/media/image86.svg" ContentType="image/svg+xml"/>
  <Override PartName="/ppt/media/image861.svg" ContentType="image/svg+xml"/>
  <Override PartName="/ppt/media/image863.svg" ContentType="image/svg+xml"/>
  <Override PartName="/ppt/media/image864.svg" ContentType="image/svg+xml"/>
  <Override PartName="/ppt/media/image866.svg" ContentType="image/svg+xml"/>
  <Override PartName="/ppt/media/image868.svg" ContentType="image/svg+xml"/>
  <Override PartName="/ppt/media/image870.svg" ContentType="image/svg+xml"/>
  <Override PartName="/ppt/media/image872.svg" ContentType="image/svg+xml"/>
  <Override PartName="/ppt/media/image874.svg" ContentType="image/svg+xml"/>
  <Override PartName="/ppt/media/image876.svg" ContentType="image/svg+xml"/>
  <Override PartName="/ppt/media/image877.svg" ContentType="image/svg+xml"/>
  <Override PartName="/ppt/media/image879.svg" ContentType="image/svg+xml"/>
  <Override PartName="/ppt/media/image88.svg" ContentType="image/svg+xml"/>
  <Override PartName="/ppt/media/image881.svg" ContentType="image/svg+xml"/>
  <Override PartName="/ppt/media/image883.svg" ContentType="image/svg+xml"/>
  <Override PartName="/ppt/media/image885.svg" ContentType="image/svg+xml"/>
  <Override PartName="/ppt/media/image887.svg" ContentType="image/svg+xml"/>
  <Override PartName="/ppt/media/image889.svg" ContentType="image/svg+xml"/>
  <Override PartName="/ppt/media/image891.svg" ContentType="image/svg+xml"/>
  <Override PartName="/ppt/media/image893.svg" ContentType="image/svg+xml"/>
  <Override PartName="/ppt/media/image895.svg" ContentType="image/svg+xml"/>
  <Override PartName="/ppt/media/image897.svg" ContentType="image/svg+xml"/>
  <Override PartName="/ppt/media/image899.svg" ContentType="image/svg+xml"/>
  <Override PartName="/ppt/media/image90.svg" ContentType="image/svg+xml"/>
  <Override PartName="/ppt/media/image901.svg" ContentType="image/svg+xml"/>
  <Override PartName="/ppt/media/image903.svg" ContentType="image/svg+xml"/>
  <Override PartName="/ppt/media/image905.svg" ContentType="image/svg+xml"/>
  <Override PartName="/ppt/media/image907.svg" ContentType="image/svg+xml"/>
  <Override PartName="/ppt/media/image909.svg" ContentType="image/svg+xml"/>
  <Override PartName="/ppt/media/image911.svg" ContentType="image/svg+xml"/>
  <Override PartName="/ppt/media/image912.svg" ContentType="image/svg+xml"/>
  <Override PartName="/ppt/media/image913.svg" ContentType="image/svg+xml"/>
  <Override PartName="/ppt/media/image915.svg" ContentType="image/svg+xml"/>
  <Override PartName="/ppt/media/image917.svg" ContentType="image/svg+xml"/>
  <Override PartName="/ppt/media/image919.svg" ContentType="image/svg+xml"/>
  <Override PartName="/ppt/media/image92.svg" ContentType="image/svg+xml"/>
  <Override PartName="/ppt/media/image921.svg" ContentType="image/svg+xml"/>
  <Override PartName="/ppt/media/image922.svg" ContentType="image/svg+xml"/>
  <Override PartName="/ppt/media/image923.svg" ContentType="image/svg+xml"/>
  <Override PartName="/ppt/media/image924.svg" ContentType="image/svg+xml"/>
  <Override PartName="/ppt/media/image926.svg" ContentType="image/svg+xml"/>
  <Override PartName="/ppt/media/image928.svg" ContentType="image/svg+xml"/>
  <Override PartName="/ppt/media/image929.svg" ContentType="image/svg+xml"/>
  <Override PartName="/ppt/media/image930.svg" ContentType="image/svg+xml"/>
  <Override PartName="/ppt/media/image931.svg" ContentType="image/svg+xml"/>
  <Override PartName="/ppt/media/image932.svg" ContentType="image/svg+xml"/>
  <Override PartName="/ppt/media/image934.svg" ContentType="image/svg+xml"/>
  <Override PartName="/ppt/media/image935.svg" ContentType="image/svg+xml"/>
  <Override PartName="/ppt/media/image937.svg" ContentType="image/svg+xml"/>
  <Override PartName="/ppt/media/image939.svg" ContentType="image/svg+xml"/>
  <Override PartName="/ppt/media/image94.svg" ContentType="image/svg+xml"/>
  <Override PartName="/ppt/media/image941.svg" ContentType="image/svg+xml"/>
  <Override PartName="/ppt/media/image943.svg" ContentType="image/svg+xml"/>
  <Override PartName="/ppt/media/image945.svg" ContentType="image/svg+xml"/>
  <Override PartName="/ppt/media/image947.svg" ContentType="image/svg+xml"/>
  <Override PartName="/ppt/media/image949.svg" ContentType="image/svg+xml"/>
  <Override PartName="/ppt/media/image95.svg" ContentType="image/svg+xml"/>
  <Override PartName="/ppt/media/image951.svg" ContentType="image/svg+xml"/>
  <Override PartName="/ppt/media/image953.svg" ContentType="image/svg+xml"/>
  <Override PartName="/ppt/media/image955.svg" ContentType="image/svg+xml"/>
  <Override PartName="/ppt/media/image957.svg" ContentType="image/svg+xml"/>
  <Override PartName="/ppt/media/image959.svg" ContentType="image/svg+xml"/>
  <Override PartName="/ppt/media/image961.svg" ContentType="image/svg+xml"/>
  <Override PartName="/ppt/media/image963.svg" ContentType="image/svg+xml"/>
  <Override PartName="/ppt/media/image964.svg" ContentType="image/svg+xml"/>
  <Override PartName="/ppt/media/image966.svg" ContentType="image/svg+xml"/>
  <Override PartName="/ppt/media/image968.svg" ContentType="image/svg+xml"/>
  <Override PartName="/ppt/media/image97.svg" ContentType="image/svg+xml"/>
  <Override PartName="/ppt/media/image970.svg" ContentType="image/svg+xml"/>
  <Override PartName="/ppt/media/image972.svg" ContentType="image/svg+xml"/>
  <Override PartName="/ppt/media/image973.svg" ContentType="image/svg+xml"/>
  <Override PartName="/ppt/media/image974.svg" ContentType="image/svg+xml"/>
  <Override PartName="/ppt/media/image975.svg" ContentType="image/svg+xml"/>
  <Override PartName="/ppt/media/image977.svg" ContentType="image/svg+xml"/>
  <Override PartName="/ppt/media/image979.svg" ContentType="image/svg+xml"/>
  <Override PartName="/ppt/media/image980.svg" ContentType="image/svg+xml"/>
  <Override PartName="/ppt/media/image981.svg" ContentType="image/svg+xml"/>
  <Override PartName="/ppt/media/image982.svg" ContentType="image/svg+xml"/>
  <Override PartName="/ppt/media/image984.svg" ContentType="image/svg+xml"/>
  <Override PartName="/ppt/media/image986.svg" ContentType="image/svg+xml"/>
  <Override PartName="/ppt/media/image988.svg" ContentType="image/svg+xml"/>
  <Override PartName="/ppt/media/image989.svg" ContentType="image/svg+xml"/>
  <Override PartName="/ppt/media/image99.svg" ContentType="image/svg+xml"/>
  <Override PartName="/ppt/media/image990.svg" ContentType="image/svg+xml"/>
  <Override PartName="/ppt/media/image991.svg" ContentType="image/svg+xml"/>
  <Override PartName="/ppt/media/image992.svg" ContentType="image/svg+xml"/>
  <Override PartName="/ppt/media/image993.svg" ContentType="image/svg+xml"/>
  <Override PartName="/ppt/media/image995.svg" ContentType="image/svg+xml"/>
  <Override PartName="/ppt/media/image997.svg" ContentType="image/svg+xml"/>
  <Override PartName="/ppt/media/image999.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tags/tag1969.xml" ContentType="application/vnd.openxmlformats-officedocument.presentationml.tags+xml"/>
  <Override PartName="/ppt/tags/tag197.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00.xml" ContentType="application/vnd.openxmlformats-officedocument.presentationml.tags+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tags/tag2055.xml" ContentType="application/vnd.openxmlformats-officedocument.presentationml.tags+xml"/>
  <Override PartName="/ppt/tags/tag2056.xml" ContentType="application/vnd.openxmlformats-officedocument.presentationml.tags+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tags/tag2088.xml" ContentType="application/vnd.openxmlformats-officedocument.presentationml.tags+xml"/>
  <Override PartName="/ppt/tags/tag2089.xml" ContentType="application/vnd.openxmlformats-officedocument.presentationml.tags+xml"/>
  <Override PartName="/ppt/tags/tag20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00.xml" ContentType="application/vnd.openxmlformats-officedocument.presentationml.tags+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tags/tag211.xml" ContentType="application/vnd.openxmlformats-officedocument.presentationml.tags+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tags/tag212.xml" ContentType="application/vnd.openxmlformats-officedocument.presentationml.tags+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tags/tag2129.xml" ContentType="application/vnd.openxmlformats-officedocument.presentationml.tags+xml"/>
  <Override PartName="/ppt/tags/tag213.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tags/tag2138.xml" ContentType="application/vnd.openxmlformats-officedocument.presentationml.tags+xml"/>
  <Override PartName="/ppt/tags/tag2139.xml" ContentType="application/vnd.openxmlformats-officedocument.presentationml.tags+xml"/>
  <Override PartName="/ppt/tags/tag214.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tags/tag215.xml" ContentType="application/vnd.openxmlformats-officedocument.presentationml.tags+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tags/tag2159.xml" ContentType="application/vnd.openxmlformats-officedocument.presentationml.tags+xml"/>
  <Override PartName="/ppt/tags/tag216.xml" ContentType="application/vnd.openxmlformats-officedocument.presentationml.tags+xml"/>
  <Override PartName="/ppt/tags/tag2160.xml" ContentType="application/vnd.openxmlformats-officedocument.presentationml.tags+xml"/>
  <Override PartName="/ppt/tags/tag2161.xml" ContentType="application/vnd.openxmlformats-officedocument.presentationml.tags+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tags/tag2178.xml" ContentType="application/vnd.openxmlformats-officedocument.presentationml.tags+xml"/>
  <Override PartName="/ppt/tags/tag2179.xml" ContentType="application/vnd.openxmlformats-officedocument.presentationml.tags+xml"/>
  <Override PartName="/ppt/tags/tag218.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tags/tag2204.xml" ContentType="application/vnd.openxmlformats-officedocument.presentationml.tags+xml"/>
  <Override PartName="/ppt/tags/tag2205.xml" ContentType="application/vnd.openxmlformats-officedocument.presentationml.tags+xml"/>
  <Override PartName="/ppt/tags/tag2206.xml" ContentType="application/vnd.openxmlformats-officedocument.presentationml.tags+xml"/>
  <Override PartName="/ppt/tags/tag2207.xml" ContentType="application/vnd.openxmlformats-officedocument.presentationml.tags+xml"/>
  <Override PartName="/ppt/tags/tag2208.xml" ContentType="application/vnd.openxmlformats-officedocument.presentationml.tags+xml"/>
  <Override PartName="/ppt/tags/tag2209.xml" ContentType="application/vnd.openxmlformats-officedocument.presentationml.tags+xml"/>
  <Override PartName="/ppt/tags/tag221.xml" ContentType="application/vnd.openxmlformats-officedocument.presentationml.tags+xml"/>
  <Override PartName="/ppt/tags/tag2210.xml" ContentType="application/vnd.openxmlformats-officedocument.presentationml.tags+xml"/>
  <Override PartName="/ppt/tags/tag2211.xml" ContentType="application/vnd.openxmlformats-officedocument.presentationml.tags+xml"/>
  <Override PartName="/ppt/tags/tag2212.xml" ContentType="application/vnd.openxmlformats-officedocument.presentationml.tags+xml"/>
  <Override PartName="/ppt/tags/tag2213.xml" ContentType="application/vnd.openxmlformats-officedocument.presentationml.tags+xml"/>
  <Override PartName="/ppt/tags/tag2214.xml" ContentType="application/vnd.openxmlformats-officedocument.presentationml.tags+xml"/>
  <Override PartName="/ppt/tags/tag2215.xml" ContentType="application/vnd.openxmlformats-officedocument.presentationml.tags+xml"/>
  <Override PartName="/ppt/tags/tag2216.xml" ContentType="application/vnd.openxmlformats-officedocument.presentationml.tags+xml"/>
  <Override PartName="/ppt/tags/tag2217.xml" ContentType="application/vnd.openxmlformats-officedocument.presentationml.tags+xml"/>
  <Override PartName="/ppt/tags/tag2218.xml" ContentType="application/vnd.openxmlformats-officedocument.presentationml.tags+xml"/>
  <Override PartName="/ppt/tags/tag2219.xml" ContentType="application/vnd.openxmlformats-officedocument.presentationml.tags+xml"/>
  <Override PartName="/ppt/tags/tag222.xml" ContentType="application/vnd.openxmlformats-officedocument.presentationml.tags+xml"/>
  <Override PartName="/ppt/tags/tag2220.xml" ContentType="application/vnd.openxmlformats-officedocument.presentationml.tags+xml"/>
  <Override PartName="/ppt/tags/tag2221.xml" ContentType="application/vnd.openxmlformats-officedocument.presentationml.tags+xml"/>
  <Override PartName="/ppt/tags/tag2222.xml" ContentType="application/vnd.openxmlformats-officedocument.presentationml.tags+xml"/>
  <Override PartName="/ppt/tags/tag2223.xml" ContentType="application/vnd.openxmlformats-officedocument.presentationml.tags+xml"/>
  <Override PartName="/ppt/tags/tag2224.xml" ContentType="application/vnd.openxmlformats-officedocument.presentationml.tags+xml"/>
  <Override PartName="/ppt/tags/tag2225.xml" ContentType="application/vnd.openxmlformats-officedocument.presentationml.tags+xml"/>
  <Override PartName="/ppt/tags/tag2226.xml" ContentType="application/vnd.openxmlformats-officedocument.presentationml.tags+xml"/>
  <Override PartName="/ppt/tags/tag2227.xml" ContentType="application/vnd.openxmlformats-officedocument.presentationml.tags+xml"/>
  <Override PartName="/ppt/tags/tag2228.xml" ContentType="application/vnd.openxmlformats-officedocument.presentationml.tags+xml"/>
  <Override PartName="/ppt/tags/tag2229.xml" ContentType="application/vnd.openxmlformats-officedocument.presentationml.tags+xml"/>
  <Override PartName="/ppt/tags/tag223.xml" ContentType="application/vnd.openxmlformats-officedocument.presentationml.tags+xml"/>
  <Override PartName="/ppt/tags/tag2230.xml" ContentType="application/vnd.openxmlformats-officedocument.presentationml.tags+xml"/>
  <Override PartName="/ppt/tags/tag2231.xml" ContentType="application/vnd.openxmlformats-officedocument.presentationml.tags+xml"/>
  <Override PartName="/ppt/tags/tag2232.xml" ContentType="application/vnd.openxmlformats-officedocument.presentationml.tags+xml"/>
  <Override PartName="/ppt/tags/tag2233.xml" ContentType="application/vnd.openxmlformats-officedocument.presentationml.tags+xml"/>
  <Override PartName="/ppt/tags/tag2234.xml" ContentType="application/vnd.openxmlformats-officedocument.presentationml.tags+xml"/>
  <Override PartName="/ppt/tags/tag2235.xml" ContentType="application/vnd.openxmlformats-officedocument.presentationml.tags+xml"/>
  <Override PartName="/ppt/tags/tag2236.xml" ContentType="application/vnd.openxmlformats-officedocument.presentationml.tags+xml"/>
  <Override PartName="/ppt/tags/tag2237.xml" ContentType="application/vnd.openxmlformats-officedocument.presentationml.tags+xml"/>
  <Override PartName="/ppt/tags/tag2238.xml" ContentType="application/vnd.openxmlformats-officedocument.presentationml.tags+xml"/>
  <Override PartName="/ppt/tags/tag2239.xml" ContentType="application/vnd.openxmlformats-officedocument.presentationml.tags+xml"/>
  <Override PartName="/ppt/tags/tag224.xml" ContentType="application/vnd.openxmlformats-officedocument.presentationml.tags+xml"/>
  <Override PartName="/ppt/tags/tag2240.xml" ContentType="application/vnd.openxmlformats-officedocument.presentationml.tags+xml"/>
  <Override PartName="/ppt/tags/tag2241.xml" ContentType="application/vnd.openxmlformats-officedocument.presentationml.tags+xml"/>
  <Override PartName="/ppt/tags/tag2242.xml" ContentType="application/vnd.openxmlformats-officedocument.presentationml.tags+xml"/>
  <Override PartName="/ppt/tags/tag2243.xml" ContentType="application/vnd.openxmlformats-officedocument.presentationml.tags+xml"/>
  <Override PartName="/ppt/tags/tag2244.xml" ContentType="application/vnd.openxmlformats-officedocument.presentationml.tags+xml"/>
  <Override PartName="/ppt/tags/tag2245.xml" ContentType="application/vnd.openxmlformats-officedocument.presentationml.tags+xml"/>
  <Override PartName="/ppt/tags/tag2246.xml" ContentType="application/vnd.openxmlformats-officedocument.presentationml.tags+xml"/>
  <Override PartName="/ppt/tags/tag2247.xml" ContentType="application/vnd.openxmlformats-officedocument.presentationml.tags+xml"/>
  <Override PartName="/ppt/tags/tag2248.xml" ContentType="application/vnd.openxmlformats-officedocument.presentationml.tags+xml"/>
  <Override PartName="/ppt/tags/tag2249.xml" ContentType="application/vnd.openxmlformats-officedocument.presentationml.tags+xml"/>
  <Override PartName="/ppt/tags/tag225.xml" ContentType="application/vnd.openxmlformats-officedocument.presentationml.tags+xml"/>
  <Override PartName="/ppt/tags/tag2250.xml" ContentType="application/vnd.openxmlformats-officedocument.presentationml.tags+xml"/>
  <Override PartName="/ppt/tags/tag2251.xml" ContentType="application/vnd.openxmlformats-officedocument.presentationml.tags+xml"/>
  <Override PartName="/ppt/tags/tag2252.xml" ContentType="application/vnd.openxmlformats-officedocument.presentationml.tags+xml"/>
  <Override PartName="/ppt/tags/tag2253.xml" ContentType="application/vnd.openxmlformats-officedocument.presentationml.tags+xml"/>
  <Override PartName="/ppt/tags/tag2254.xml" ContentType="application/vnd.openxmlformats-officedocument.presentationml.tags+xml"/>
  <Override PartName="/ppt/tags/tag2255.xml" ContentType="application/vnd.openxmlformats-officedocument.presentationml.tags+xml"/>
  <Override PartName="/ppt/tags/tag2256.xml" ContentType="application/vnd.openxmlformats-officedocument.presentationml.tags+xml"/>
  <Override PartName="/ppt/tags/tag2257.xml" ContentType="application/vnd.openxmlformats-officedocument.presentationml.tags+xml"/>
  <Override PartName="/ppt/tags/tag2258.xml" ContentType="application/vnd.openxmlformats-officedocument.presentationml.tags+xml"/>
  <Override PartName="/ppt/tags/tag2259.xml" ContentType="application/vnd.openxmlformats-officedocument.presentationml.tags+xml"/>
  <Override PartName="/ppt/tags/tag226.xml" ContentType="application/vnd.openxmlformats-officedocument.presentationml.tags+xml"/>
  <Override PartName="/ppt/tags/tag2260.xml" ContentType="application/vnd.openxmlformats-officedocument.presentationml.tags+xml"/>
  <Override PartName="/ppt/tags/tag2261.xml" ContentType="application/vnd.openxmlformats-officedocument.presentationml.tags+xml"/>
  <Override PartName="/ppt/tags/tag2262.xml" ContentType="application/vnd.openxmlformats-officedocument.presentationml.tags+xml"/>
  <Override PartName="/ppt/tags/tag2263.xml" ContentType="application/vnd.openxmlformats-officedocument.presentationml.tags+xml"/>
  <Override PartName="/ppt/tags/tag2264.xml" ContentType="application/vnd.openxmlformats-officedocument.presentationml.tags+xml"/>
  <Override PartName="/ppt/tags/tag2265.xml" ContentType="application/vnd.openxmlformats-officedocument.presentationml.tags+xml"/>
  <Override PartName="/ppt/tags/tag2266.xml" ContentType="application/vnd.openxmlformats-officedocument.presentationml.tags+xml"/>
  <Override PartName="/ppt/tags/tag2267.xml" ContentType="application/vnd.openxmlformats-officedocument.presentationml.tags+xml"/>
  <Override PartName="/ppt/tags/tag2268.xml" ContentType="application/vnd.openxmlformats-officedocument.presentationml.tags+xml"/>
  <Override PartName="/ppt/tags/tag2269.xml" ContentType="application/vnd.openxmlformats-officedocument.presentationml.tags+xml"/>
  <Override PartName="/ppt/tags/tag227.xml" ContentType="application/vnd.openxmlformats-officedocument.presentationml.tags+xml"/>
  <Override PartName="/ppt/tags/tag2270.xml" ContentType="application/vnd.openxmlformats-officedocument.presentationml.tags+xml"/>
  <Override PartName="/ppt/tags/tag2271.xml" ContentType="application/vnd.openxmlformats-officedocument.presentationml.tags+xml"/>
  <Override PartName="/ppt/tags/tag2272.xml" ContentType="application/vnd.openxmlformats-officedocument.presentationml.tags+xml"/>
  <Override PartName="/ppt/tags/tag2273.xml" ContentType="application/vnd.openxmlformats-officedocument.presentationml.tags+xml"/>
  <Override PartName="/ppt/tags/tag2274.xml" ContentType="application/vnd.openxmlformats-officedocument.presentationml.tags+xml"/>
  <Override PartName="/ppt/tags/tag2275.xml" ContentType="application/vnd.openxmlformats-officedocument.presentationml.tags+xml"/>
  <Override PartName="/ppt/tags/tag2276.xml" ContentType="application/vnd.openxmlformats-officedocument.presentationml.tags+xml"/>
  <Override PartName="/ppt/tags/tag2277.xml" ContentType="application/vnd.openxmlformats-officedocument.presentationml.tags+xml"/>
  <Override PartName="/ppt/tags/tag2278.xml" ContentType="application/vnd.openxmlformats-officedocument.presentationml.tags+xml"/>
  <Override PartName="/ppt/tags/tag2279.xml" ContentType="application/vnd.openxmlformats-officedocument.presentationml.tags+xml"/>
  <Override PartName="/ppt/tags/tag228.xml" ContentType="application/vnd.openxmlformats-officedocument.presentationml.tags+xml"/>
  <Override PartName="/ppt/tags/tag2280.xml" ContentType="application/vnd.openxmlformats-officedocument.presentationml.tags+xml"/>
  <Override PartName="/ppt/tags/tag2281.xml" ContentType="application/vnd.openxmlformats-officedocument.presentationml.tags+xml"/>
  <Override PartName="/ppt/tags/tag2282.xml" ContentType="application/vnd.openxmlformats-officedocument.presentationml.tags+xml"/>
  <Override PartName="/ppt/tags/tag2283.xml" ContentType="application/vnd.openxmlformats-officedocument.presentationml.tags+xml"/>
  <Override PartName="/ppt/tags/tag2284.xml" ContentType="application/vnd.openxmlformats-officedocument.presentationml.tags+xml"/>
  <Override PartName="/ppt/tags/tag2285.xml" ContentType="application/vnd.openxmlformats-officedocument.presentationml.tags+xml"/>
  <Override PartName="/ppt/tags/tag2286.xml" ContentType="application/vnd.openxmlformats-officedocument.presentationml.tags+xml"/>
  <Override PartName="/ppt/tags/tag2287.xml" ContentType="application/vnd.openxmlformats-officedocument.presentationml.tags+xml"/>
  <Override PartName="/ppt/tags/tag2288.xml" ContentType="application/vnd.openxmlformats-officedocument.presentationml.tags+xml"/>
  <Override PartName="/ppt/tags/tag2289.xml" ContentType="application/vnd.openxmlformats-officedocument.presentationml.tags+xml"/>
  <Override PartName="/ppt/tags/tag229.xml" ContentType="application/vnd.openxmlformats-officedocument.presentationml.tags+xml"/>
  <Override PartName="/ppt/tags/tag2290.xml" ContentType="application/vnd.openxmlformats-officedocument.presentationml.tags+xml"/>
  <Override PartName="/ppt/tags/tag2291.xml" ContentType="application/vnd.openxmlformats-officedocument.presentationml.tags+xml"/>
  <Override PartName="/ppt/tags/tag2292.xml" ContentType="application/vnd.openxmlformats-officedocument.presentationml.tags+xml"/>
  <Override PartName="/ppt/tags/tag2293.xml" ContentType="application/vnd.openxmlformats-officedocument.presentationml.tags+xml"/>
  <Override PartName="/ppt/tags/tag2294.xml" ContentType="application/vnd.openxmlformats-officedocument.presentationml.tags+xml"/>
  <Override PartName="/ppt/tags/tag2295.xml" ContentType="application/vnd.openxmlformats-officedocument.presentationml.tags+xml"/>
  <Override PartName="/ppt/tags/tag2296.xml" ContentType="application/vnd.openxmlformats-officedocument.presentationml.tags+xml"/>
  <Override PartName="/ppt/tags/tag2297.xml" ContentType="application/vnd.openxmlformats-officedocument.presentationml.tags+xml"/>
  <Override PartName="/ppt/tags/tag2298.xml" ContentType="application/vnd.openxmlformats-officedocument.presentationml.tags+xml"/>
  <Override PartName="/ppt/tags/tag229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00.xml" ContentType="application/vnd.openxmlformats-officedocument.presentationml.tags+xml"/>
  <Override PartName="/ppt/tags/tag2301.xml" ContentType="application/vnd.openxmlformats-officedocument.presentationml.tags+xml"/>
  <Override PartName="/ppt/tags/tag2302.xml" ContentType="application/vnd.openxmlformats-officedocument.presentationml.tags+xml"/>
  <Override PartName="/ppt/tags/tag2303.xml" ContentType="application/vnd.openxmlformats-officedocument.presentationml.tags+xml"/>
  <Override PartName="/ppt/tags/tag2304.xml" ContentType="application/vnd.openxmlformats-officedocument.presentationml.tags+xml"/>
  <Override PartName="/ppt/tags/tag2305.xml" ContentType="application/vnd.openxmlformats-officedocument.presentationml.tags+xml"/>
  <Override PartName="/ppt/tags/tag2306.xml" ContentType="application/vnd.openxmlformats-officedocument.presentationml.tags+xml"/>
  <Override PartName="/ppt/tags/tag2307.xml" ContentType="application/vnd.openxmlformats-officedocument.presentationml.tags+xml"/>
  <Override PartName="/ppt/tags/tag2308.xml" ContentType="application/vnd.openxmlformats-officedocument.presentationml.tags+xml"/>
  <Override PartName="/ppt/tags/tag2309.xml" ContentType="application/vnd.openxmlformats-officedocument.presentationml.tags+xml"/>
  <Override PartName="/ppt/tags/tag231.xml" ContentType="application/vnd.openxmlformats-officedocument.presentationml.tags+xml"/>
  <Override PartName="/ppt/tags/tag2310.xml" ContentType="application/vnd.openxmlformats-officedocument.presentationml.tags+xml"/>
  <Override PartName="/ppt/tags/tag2311.xml" ContentType="application/vnd.openxmlformats-officedocument.presentationml.tags+xml"/>
  <Override PartName="/ppt/tags/tag2312.xml" ContentType="application/vnd.openxmlformats-officedocument.presentationml.tags+xml"/>
  <Override PartName="/ppt/tags/tag2313.xml" ContentType="application/vnd.openxmlformats-officedocument.presentationml.tags+xml"/>
  <Override PartName="/ppt/tags/tag2314.xml" ContentType="application/vnd.openxmlformats-officedocument.presentationml.tags+xml"/>
  <Override PartName="/ppt/tags/tag2315.xml" ContentType="application/vnd.openxmlformats-officedocument.presentationml.tags+xml"/>
  <Override PartName="/ppt/tags/tag2316.xml" ContentType="application/vnd.openxmlformats-officedocument.presentationml.tags+xml"/>
  <Override PartName="/ppt/tags/tag2317.xml" ContentType="application/vnd.openxmlformats-officedocument.presentationml.tags+xml"/>
  <Override PartName="/ppt/tags/tag2318.xml" ContentType="application/vnd.openxmlformats-officedocument.presentationml.tags+xml"/>
  <Override PartName="/ppt/tags/tag2319.xml" ContentType="application/vnd.openxmlformats-officedocument.presentationml.tags+xml"/>
  <Override PartName="/ppt/tags/tag232.xml" ContentType="application/vnd.openxmlformats-officedocument.presentationml.tags+xml"/>
  <Override PartName="/ppt/tags/tag2320.xml" ContentType="application/vnd.openxmlformats-officedocument.presentationml.tags+xml"/>
  <Override PartName="/ppt/tags/tag2321.xml" ContentType="application/vnd.openxmlformats-officedocument.presentationml.tags+xml"/>
  <Override PartName="/ppt/tags/tag2322.xml" ContentType="application/vnd.openxmlformats-officedocument.presentationml.tags+xml"/>
  <Override PartName="/ppt/tags/tag2323.xml" ContentType="application/vnd.openxmlformats-officedocument.presentationml.tags+xml"/>
  <Override PartName="/ppt/tags/tag2324.xml" ContentType="application/vnd.openxmlformats-officedocument.presentationml.tags+xml"/>
  <Override PartName="/ppt/tags/tag2325.xml" ContentType="application/vnd.openxmlformats-officedocument.presentationml.tags+xml"/>
  <Override PartName="/ppt/tags/tag2326.xml" ContentType="application/vnd.openxmlformats-officedocument.presentationml.tags+xml"/>
  <Override PartName="/ppt/tags/tag2327.xml" ContentType="application/vnd.openxmlformats-officedocument.presentationml.tags+xml"/>
  <Override PartName="/ppt/tags/tag2328.xml" ContentType="application/vnd.openxmlformats-officedocument.presentationml.tags+xml"/>
  <Override PartName="/ppt/tags/tag2329.xml" ContentType="application/vnd.openxmlformats-officedocument.presentationml.tags+xml"/>
  <Override PartName="/ppt/tags/tag233.xml" ContentType="application/vnd.openxmlformats-officedocument.presentationml.tags+xml"/>
  <Override PartName="/ppt/tags/tag2330.xml" ContentType="application/vnd.openxmlformats-officedocument.presentationml.tags+xml"/>
  <Override PartName="/ppt/tags/tag2331.xml" ContentType="application/vnd.openxmlformats-officedocument.presentationml.tags+xml"/>
  <Override PartName="/ppt/tags/tag2332.xml" ContentType="application/vnd.openxmlformats-officedocument.presentationml.tags+xml"/>
  <Override PartName="/ppt/tags/tag2333.xml" ContentType="application/vnd.openxmlformats-officedocument.presentationml.tags+xml"/>
  <Override PartName="/ppt/tags/tag2334.xml" ContentType="application/vnd.openxmlformats-officedocument.presentationml.tags+xml"/>
  <Override PartName="/ppt/tags/tag2335.xml" ContentType="application/vnd.openxmlformats-officedocument.presentationml.tags+xml"/>
  <Override PartName="/ppt/tags/tag2336.xml" ContentType="application/vnd.openxmlformats-officedocument.presentationml.tags+xml"/>
  <Override PartName="/ppt/tags/tag2337.xml" ContentType="application/vnd.openxmlformats-officedocument.presentationml.tags+xml"/>
  <Override PartName="/ppt/tags/tag2338.xml" ContentType="application/vnd.openxmlformats-officedocument.presentationml.tags+xml"/>
  <Override PartName="/ppt/tags/tag2339.xml" ContentType="application/vnd.openxmlformats-officedocument.presentationml.tags+xml"/>
  <Override PartName="/ppt/tags/tag234.xml" ContentType="application/vnd.openxmlformats-officedocument.presentationml.tags+xml"/>
  <Override PartName="/ppt/tags/tag2340.xml" ContentType="application/vnd.openxmlformats-officedocument.presentationml.tags+xml"/>
  <Override PartName="/ppt/tags/tag2341.xml" ContentType="application/vnd.openxmlformats-officedocument.presentationml.tags+xml"/>
  <Override PartName="/ppt/tags/tag2342.xml" ContentType="application/vnd.openxmlformats-officedocument.presentationml.tags+xml"/>
  <Override PartName="/ppt/tags/tag2343.xml" ContentType="application/vnd.openxmlformats-officedocument.presentationml.tags+xml"/>
  <Override PartName="/ppt/tags/tag2344.xml" ContentType="application/vnd.openxmlformats-officedocument.presentationml.tags+xml"/>
  <Override PartName="/ppt/tags/tag2345.xml" ContentType="application/vnd.openxmlformats-officedocument.presentationml.tags+xml"/>
  <Override PartName="/ppt/tags/tag2346.xml" ContentType="application/vnd.openxmlformats-officedocument.presentationml.tags+xml"/>
  <Override PartName="/ppt/tags/tag2347.xml" ContentType="application/vnd.openxmlformats-officedocument.presentationml.tags+xml"/>
  <Override PartName="/ppt/tags/tag2348.xml" ContentType="application/vnd.openxmlformats-officedocument.presentationml.tags+xml"/>
  <Override PartName="/ppt/tags/tag2349.xml" ContentType="application/vnd.openxmlformats-officedocument.presentationml.tags+xml"/>
  <Override PartName="/ppt/tags/tag235.xml" ContentType="application/vnd.openxmlformats-officedocument.presentationml.tags+xml"/>
  <Override PartName="/ppt/tags/tag2350.xml" ContentType="application/vnd.openxmlformats-officedocument.presentationml.tags+xml"/>
  <Override PartName="/ppt/tags/tag2351.xml" ContentType="application/vnd.openxmlformats-officedocument.presentationml.tags+xml"/>
  <Override PartName="/ppt/tags/tag2352.xml" ContentType="application/vnd.openxmlformats-officedocument.presentationml.tags+xml"/>
  <Override PartName="/ppt/tags/tag2353.xml" ContentType="application/vnd.openxmlformats-officedocument.presentationml.tags+xml"/>
  <Override PartName="/ppt/tags/tag2354.xml" ContentType="application/vnd.openxmlformats-officedocument.presentationml.tags+xml"/>
  <Override PartName="/ppt/tags/tag2355.xml" ContentType="application/vnd.openxmlformats-officedocument.presentationml.tags+xml"/>
  <Override PartName="/ppt/tags/tag2356.xml" ContentType="application/vnd.openxmlformats-officedocument.presentationml.tags+xml"/>
  <Override PartName="/ppt/tags/tag2357.xml" ContentType="application/vnd.openxmlformats-officedocument.presentationml.tags+xml"/>
  <Override PartName="/ppt/tags/tag2358.xml" ContentType="application/vnd.openxmlformats-officedocument.presentationml.tags+xml"/>
  <Override PartName="/ppt/tags/tag2359.xml" ContentType="application/vnd.openxmlformats-officedocument.presentationml.tags+xml"/>
  <Override PartName="/ppt/tags/tag236.xml" ContentType="application/vnd.openxmlformats-officedocument.presentationml.tags+xml"/>
  <Override PartName="/ppt/tags/tag2360.xml" ContentType="application/vnd.openxmlformats-officedocument.presentationml.tags+xml"/>
  <Override PartName="/ppt/tags/tag2361.xml" ContentType="application/vnd.openxmlformats-officedocument.presentationml.tags+xml"/>
  <Override PartName="/ppt/tags/tag2362.xml" ContentType="application/vnd.openxmlformats-officedocument.presentationml.tags+xml"/>
  <Override PartName="/ppt/tags/tag2363.xml" ContentType="application/vnd.openxmlformats-officedocument.presentationml.tags+xml"/>
  <Override PartName="/ppt/tags/tag2364.xml" ContentType="application/vnd.openxmlformats-officedocument.presentationml.tags+xml"/>
  <Override PartName="/ppt/tags/tag2365.xml" ContentType="application/vnd.openxmlformats-officedocument.presentationml.tags+xml"/>
  <Override PartName="/ppt/tags/tag2366.xml" ContentType="application/vnd.openxmlformats-officedocument.presentationml.tags+xml"/>
  <Override PartName="/ppt/tags/tag2367.xml" ContentType="application/vnd.openxmlformats-officedocument.presentationml.tags+xml"/>
  <Override PartName="/ppt/tags/tag2368.xml" ContentType="application/vnd.openxmlformats-officedocument.presentationml.tags+xml"/>
  <Override PartName="/ppt/tags/tag2369.xml" ContentType="application/vnd.openxmlformats-officedocument.presentationml.tags+xml"/>
  <Override PartName="/ppt/tags/tag237.xml" ContentType="application/vnd.openxmlformats-officedocument.presentationml.tags+xml"/>
  <Override PartName="/ppt/tags/tag2370.xml" ContentType="application/vnd.openxmlformats-officedocument.presentationml.tags+xml"/>
  <Override PartName="/ppt/tags/tag2371.xml" ContentType="application/vnd.openxmlformats-officedocument.presentationml.tags+xml"/>
  <Override PartName="/ppt/tags/tag2372.xml" ContentType="application/vnd.openxmlformats-officedocument.presentationml.tags+xml"/>
  <Override PartName="/ppt/tags/tag2373.xml" ContentType="application/vnd.openxmlformats-officedocument.presentationml.tags+xml"/>
  <Override PartName="/ppt/tags/tag2374.xml" ContentType="application/vnd.openxmlformats-officedocument.presentationml.tags+xml"/>
  <Override PartName="/ppt/tags/tag2375.xml" ContentType="application/vnd.openxmlformats-officedocument.presentationml.tags+xml"/>
  <Override PartName="/ppt/tags/tag2376.xml" ContentType="application/vnd.openxmlformats-officedocument.presentationml.tags+xml"/>
  <Override PartName="/ppt/tags/tag2377.xml" ContentType="application/vnd.openxmlformats-officedocument.presentationml.tags+xml"/>
  <Override PartName="/ppt/tags/tag2378.xml" ContentType="application/vnd.openxmlformats-officedocument.presentationml.tags+xml"/>
  <Override PartName="/ppt/tags/tag2379.xml" ContentType="application/vnd.openxmlformats-officedocument.presentationml.tags+xml"/>
  <Override PartName="/ppt/tags/tag238.xml" ContentType="application/vnd.openxmlformats-officedocument.presentationml.tags+xml"/>
  <Override PartName="/ppt/tags/tag2380.xml" ContentType="application/vnd.openxmlformats-officedocument.presentationml.tags+xml"/>
  <Override PartName="/ppt/tags/tag2381.xml" ContentType="application/vnd.openxmlformats-officedocument.presentationml.tags+xml"/>
  <Override PartName="/ppt/tags/tag2382.xml" ContentType="application/vnd.openxmlformats-officedocument.presentationml.tags+xml"/>
  <Override PartName="/ppt/tags/tag2383.xml" ContentType="application/vnd.openxmlformats-officedocument.presentationml.tags+xml"/>
  <Override PartName="/ppt/tags/tag2384.xml" ContentType="application/vnd.openxmlformats-officedocument.presentationml.tags+xml"/>
  <Override PartName="/ppt/tags/tag2385.xml" ContentType="application/vnd.openxmlformats-officedocument.presentationml.tags+xml"/>
  <Override PartName="/ppt/tags/tag2386.xml" ContentType="application/vnd.openxmlformats-officedocument.presentationml.tags+xml"/>
  <Override PartName="/ppt/tags/tag2387.xml" ContentType="application/vnd.openxmlformats-officedocument.presentationml.tags+xml"/>
  <Override PartName="/ppt/tags/tag2388.xml" ContentType="application/vnd.openxmlformats-officedocument.presentationml.tags+xml"/>
  <Override PartName="/ppt/tags/tag2389.xml" ContentType="application/vnd.openxmlformats-officedocument.presentationml.tags+xml"/>
  <Override PartName="/ppt/tags/tag239.xml" ContentType="application/vnd.openxmlformats-officedocument.presentationml.tags+xml"/>
  <Override PartName="/ppt/tags/tag2390.xml" ContentType="application/vnd.openxmlformats-officedocument.presentationml.tags+xml"/>
  <Override PartName="/ppt/tags/tag2391.xml" ContentType="application/vnd.openxmlformats-officedocument.presentationml.tags+xml"/>
  <Override PartName="/ppt/tags/tag2392.xml" ContentType="application/vnd.openxmlformats-officedocument.presentationml.tags+xml"/>
  <Override PartName="/ppt/tags/tag2393.xml" ContentType="application/vnd.openxmlformats-officedocument.presentationml.tags+xml"/>
  <Override PartName="/ppt/tags/tag2394.xml" ContentType="application/vnd.openxmlformats-officedocument.presentationml.tags+xml"/>
  <Override PartName="/ppt/tags/tag2395.xml" ContentType="application/vnd.openxmlformats-officedocument.presentationml.tags+xml"/>
  <Override PartName="/ppt/tags/tag2396.xml" ContentType="application/vnd.openxmlformats-officedocument.presentationml.tags+xml"/>
  <Override PartName="/ppt/tags/tag2397.xml" ContentType="application/vnd.openxmlformats-officedocument.presentationml.tags+xml"/>
  <Override PartName="/ppt/tags/tag2398.xml" ContentType="application/vnd.openxmlformats-officedocument.presentationml.tags+xml"/>
  <Override PartName="/ppt/tags/tag239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00.xml" ContentType="application/vnd.openxmlformats-officedocument.presentationml.tags+xml"/>
  <Override PartName="/ppt/tags/tag2401.xml" ContentType="application/vnd.openxmlformats-officedocument.presentationml.tags+xml"/>
  <Override PartName="/ppt/tags/tag2402.xml" ContentType="application/vnd.openxmlformats-officedocument.presentationml.tags+xml"/>
  <Override PartName="/ppt/tags/tag2403.xml" ContentType="application/vnd.openxmlformats-officedocument.presentationml.tags+xml"/>
  <Override PartName="/ppt/tags/tag2404.xml" ContentType="application/vnd.openxmlformats-officedocument.presentationml.tags+xml"/>
  <Override PartName="/ppt/tags/tag2405.xml" ContentType="application/vnd.openxmlformats-officedocument.presentationml.tags+xml"/>
  <Override PartName="/ppt/tags/tag2406.xml" ContentType="application/vnd.openxmlformats-officedocument.presentationml.tags+xml"/>
  <Override PartName="/ppt/tags/tag2407.xml" ContentType="application/vnd.openxmlformats-officedocument.presentationml.tags+xml"/>
  <Override PartName="/ppt/tags/tag2408.xml" ContentType="application/vnd.openxmlformats-officedocument.presentationml.tags+xml"/>
  <Override PartName="/ppt/tags/tag2409.xml" ContentType="application/vnd.openxmlformats-officedocument.presentationml.tags+xml"/>
  <Override PartName="/ppt/tags/tag241.xml" ContentType="application/vnd.openxmlformats-officedocument.presentationml.tags+xml"/>
  <Override PartName="/ppt/tags/tag2410.xml" ContentType="application/vnd.openxmlformats-officedocument.presentationml.tags+xml"/>
  <Override PartName="/ppt/tags/tag2411.xml" ContentType="application/vnd.openxmlformats-officedocument.presentationml.tags+xml"/>
  <Override PartName="/ppt/tags/tag2412.xml" ContentType="application/vnd.openxmlformats-officedocument.presentationml.tags+xml"/>
  <Override PartName="/ppt/tags/tag2413.xml" ContentType="application/vnd.openxmlformats-officedocument.presentationml.tags+xml"/>
  <Override PartName="/ppt/tags/tag2414.xml" ContentType="application/vnd.openxmlformats-officedocument.presentationml.tags+xml"/>
  <Override PartName="/ppt/tags/tag2415.xml" ContentType="application/vnd.openxmlformats-officedocument.presentationml.tags+xml"/>
  <Override PartName="/ppt/tags/tag2416.xml" ContentType="application/vnd.openxmlformats-officedocument.presentationml.tags+xml"/>
  <Override PartName="/ppt/tags/tag2417.xml" ContentType="application/vnd.openxmlformats-officedocument.presentationml.tags+xml"/>
  <Override PartName="/ppt/tags/tag2418.xml" ContentType="application/vnd.openxmlformats-officedocument.presentationml.tags+xml"/>
  <Override PartName="/ppt/tags/tag2419.xml" ContentType="application/vnd.openxmlformats-officedocument.presentationml.tags+xml"/>
  <Override PartName="/ppt/tags/tag242.xml" ContentType="application/vnd.openxmlformats-officedocument.presentationml.tags+xml"/>
  <Override PartName="/ppt/tags/tag2420.xml" ContentType="application/vnd.openxmlformats-officedocument.presentationml.tags+xml"/>
  <Override PartName="/ppt/tags/tag2421.xml" ContentType="application/vnd.openxmlformats-officedocument.presentationml.tags+xml"/>
  <Override PartName="/ppt/tags/tag2422.xml" ContentType="application/vnd.openxmlformats-officedocument.presentationml.tags+xml"/>
  <Override PartName="/ppt/tags/tag2423.xml" ContentType="application/vnd.openxmlformats-officedocument.presentationml.tags+xml"/>
  <Override PartName="/ppt/tags/tag2424.xml" ContentType="application/vnd.openxmlformats-officedocument.presentationml.tags+xml"/>
  <Override PartName="/ppt/tags/tag2425.xml" ContentType="application/vnd.openxmlformats-officedocument.presentationml.tags+xml"/>
  <Override PartName="/ppt/tags/tag2426.xml" ContentType="application/vnd.openxmlformats-officedocument.presentationml.tags+xml"/>
  <Override PartName="/ppt/tags/tag2427.xml" ContentType="application/vnd.openxmlformats-officedocument.presentationml.tags+xml"/>
  <Override PartName="/ppt/tags/tag2428.xml" ContentType="application/vnd.openxmlformats-officedocument.presentationml.tags+xml"/>
  <Override PartName="/ppt/tags/tag2429.xml" ContentType="application/vnd.openxmlformats-officedocument.presentationml.tags+xml"/>
  <Override PartName="/ppt/tags/tag243.xml" ContentType="application/vnd.openxmlformats-officedocument.presentationml.tags+xml"/>
  <Override PartName="/ppt/tags/tag2430.xml" ContentType="application/vnd.openxmlformats-officedocument.presentationml.tags+xml"/>
  <Override PartName="/ppt/tags/tag2431.xml" ContentType="application/vnd.openxmlformats-officedocument.presentationml.tags+xml"/>
  <Override PartName="/ppt/tags/tag2432.xml" ContentType="application/vnd.openxmlformats-officedocument.presentationml.tags+xml"/>
  <Override PartName="/ppt/tags/tag2433.xml" ContentType="application/vnd.openxmlformats-officedocument.presentationml.tags+xml"/>
  <Override PartName="/ppt/tags/tag2434.xml" ContentType="application/vnd.openxmlformats-officedocument.presentationml.tags+xml"/>
  <Override PartName="/ppt/tags/tag2435.xml" ContentType="application/vnd.openxmlformats-officedocument.presentationml.tags+xml"/>
  <Override PartName="/ppt/tags/tag2436.xml" ContentType="application/vnd.openxmlformats-officedocument.presentationml.tags+xml"/>
  <Override PartName="/ppt/tags/tag2437.xml" ContentType="application/vnd.openxmlformats-officedocument.presentationml.tags+xml"/>
  <Override PartName="/ppt/tags/tag2438.xml" ContentType="application/vnd.openxmlformats-officedocument.presentationml.tags+xml"/>
  <Override PartName="/ppt/tags/tag2439.xml" ContentType="application/vnd.openxmlformats-officedocument.presentationml.tags+xml"/>
  <Override PartName="/ppt/tags/tag244.xml" ContentType="application/vnd.openxmlformats-officedocument.presentationml.tags+xml"/>
  <Override PartName="/ppt/tags/tag2440.xml" ContentType="application/vnd.openxmlformats-officedocument.presentationml.tags+xml"/>
  <Override PartName="/ppt/tags/tag2441.xml" ContentType="application/vnd.openxmlformats-officedocument.presentationml.tags+xml"/>
  <Override PartName="/ppt/tags/tag2442.xml" ContentType="application/vnd.openxmlformats-officedocument.presentationml.tags+xml"/>
  <Override PartName="/ppt/tags/tag2443.xml" ContentType="application/vnd.openxmlformats-officedocument.presentationml.tags+xml"/>
  <Override PartName="/ppt/tags/tag2444.xml" ContentType="application/vnd.openxmlformats-officedocument.presentationml.tags+xml"/>
  <Override PartName="/ppt/tags/tag2445.xml" ContentType="application/vnd.openxmlformats-officedocument.presentationml.tags+xml"/>
  <Override PartName="/ppt/tags/tag2446.xml" ContentType="application/vnd.openxmlformats-officedocument.presentationml.tags+xml"/>
  <Override PartName="/ppt/tags/tag2447.xml" ContentType="application/vnd.openxmlformats-officedocument.presentationml.tags+xml"/>
  <Override PartName="/ppt/tags/tag2448.xml" ContentType="application/vnd.openxmlformats-officedocument.presentationml.tags+xml"/>
  <Override PartName="/ppt/tags/tag2449.xml" ContentType="application/vnd.openxmlformats-officedocument.presentationml.tags+xml"/>
  <Override PartName="/ppt/tags/tag245.xml" ContentType="application/vnd.openxmlformats-officedocument.presentationml.tags+xml"/>
  <Override PartName="/ppt/tags/tag2450.xml" ContentType="application/vnd.openxmlformats-officedocument.presentationml.tags+xml"/>
  <Override PartName="/ppt/tags/tag2451.xml" ContentType="application/vnd.openxmlformats-officedocument.presentationml.tags+xml"/>
  <Override PartName="/ppt/tags/tag2452.xml" ContentType="application/vnd.openxmlformats-officedocument.presentationml.tags+xml"/>
  <Override PartName="/ppt/tags/tag2453.xml" ContentType="application/vnd.openxmlformats-officedocument.presentationml.tags+xml"/>
  <Override PartName="/ppt/tags/tag2454.xml" ContentType="application/vnd.openxmlformats-officedocument.presentationml.tags+xml"/>
  <Override PartName="/ppt/tags/tag2455.xml" ContentType="application/vnd.openxmlformats-officedocument.presentationml.tags+xml"/>
  <Override PartName="/ppt/tags/tag2456.xml" ContentType="application/vnd.openxmlformats-officedocument.presentationml.tags+xml"/>
  <Override PartName="/ppt/tags/tag2457.xml" ContentType="application/vnd.openxmlformats-officedocument.presentationml.tags+xml"/>
  <Override PartName="/ppt/tags/tag2458.xml" ContentType="application/vnd.openxmlformats-officedocument.presentationml.tags+xml"/>
  <Override PartName="/ppt/tags/tag2459.xml" ContentType="application/vnd.openxmlformats-officedocument.presentationml.tags+xml"/>
  <Override PartName="/ppt/tags/tag246.xml" ContentType="application/vnd.openxmlformats-officedocument.presentationml.tags+xml"/>
  <Override PartName="/ppt/tags/tag2460.xml" ContentType="application/vnd.openxmlformats-officedocument.presentationml.tags+xml"/>
  <Override PartName="/ppt/tags/tag2461.xml" ContentType="application/vnd.openxmlformats-officedocument.presentationml.tags+xml"/>
  <Override PartName="/ppt/tags/tag2462.xml" ContentType="application/vnd.openxmlformats-officedocument.presentationml.tags+xml"/>
  <Override PartName="/ppt/tags/tag2463.xml" ContentType="application/vnd.openxmlformats-officedocument.presentationml.tags+xml"/>
  <Override PartName="/ppt/tags/tag2464.xml" ContentType="application/vnd.openxmlformats-officedocument.presentationml.tags+xml"/>
  <Override PartName="/ppt/tags/tag2465.xml" ContentType="application/vnd.openxmlformats-officedocument.presentationml.tags+xml"/>
  <Override PartName="/ppt/tags/tag2466.xml" ContentType="application/vnd.openxmlformats-officedocument.presentationml.tags+xml"/>
  <Override PartName="/ppt/tags/tag2467.xml" ContentType="application/vnd.openxmlformats-officedocument.presentationml.tags+xml"/>
  <Override PartName="/ppt/tags/tag2468.xml" ContentType="application/vnd.openxmlformats-officedocument.presentationml.tags+xml"/>
  <Override PartName="/ppt/tags/tag2469.xml" ContentType="application/vnd.openxmlformats-officedocument.presentationml.tags+xml"/>
  <Override PartName="/ppt/tags/tag247.xml" ContentType="application/vnd.openxmlformats-officedocument.presentationml.tags+xml"/>
  <Override PartName="/ppt/tags/tag2470.xml" ContentType="application/vnd.openxmlformats-officedocument.presentationml.tags+xml"/>
  <Override PartName="/ppt/tags/tag2471.xml" ContentType="application/vnd.openxmlformats-officedocument.presentationml.tags+xml"/>
  <Override PartName="/ppt/tags/tag2472.xml" ContentType="application/vnd.openxmlformats-officedocument.presentationml.tags+xml"/>
  <Override PartName="/ppt/tags/tag2473.xml" ContentType="application/vnd.openxmlformats-officedocument.presentationml.tags+xml"/>
  <Override PartName="/ppt/tags/tag2474.xml" ContentType="application/vnd.openxmlformats-officedocument.presentationml.tags+xml"/>
  <Override PartName="/ppt/tags/tag2475.xml" ContentType="application/vnd.openxmlformats-officedocument.presentationml.tags+xml"/>
  <Override PartName="/ppt/tags/tag2476.xml" ContentType="application/vnd.openxmlformats-officedocument.presentationml.tags+xml"/>
  <Override PartName="/ppt/tags/tag2477.xml" ContentType="application/vnd.openxmlformats-officedocument.presentationml.tags+xml"/>
  <Override PartName="/ppt/tags/tag2478.xml" ContentType="application/vnd.openxmlformats-officedocument.presentationml.tags+xml"/>
  <Override PartName="/ppt/tags/tag2479.xml" ContentType="application/vnd.openxmlformats-officedocument.presentationml.tags+xml"/>
  <Override PartName="/ppt/tags/tag248.xml" ContentType="application/vnd.openxmlformats-officedocument.presentationml.tags+xml"/>
  <Override PartName="/ppt/tags/tag2480.xml" ContentType="application/vnd.openxmlformats-officedocument.presentationml.tags+xml"/>
  <Override PartName="/ppt/tags/tag2481.xml" ContentType="application/vnd.openxmlformats-officedocument.presentationml.tags+xml"/>
  <Override PartName="/ppt/tags/tag2482.xml" ContentType="application/vnd.openxmlformats-officedocument.presentationml.tags+xml"/>
  <Override PartName="/ppt/tags/tag2483.xml" ContentType="application/vnd.openxmlformats-officedocument.presentationml.tags+xml"/>
  <Override PartName="/ppt/tags/tag2484.xml" ContentType="application/vnd.openxmlformats-officedocument.presentationml.tags+xml"/>
  <Override PartName="/ppt/tags/tag2485.xml" ContentType="application/vnd.openxmlformats-officedocument.presentationml.tags+xml"/>
  <Override PartName="/ppt/tags/tag2486.xml" ContentType="application/vnd.openxmlformats-officedocument.presentationml.tags+xml"/>
  <Override PartName="/ppt/tags/tag2487.xml" ContentType="application/vnd.openxmlformats-officedocument.presentationml.tags+xml"/>
  <Override PartName="/ppt/tags/tag2488.xml" ContentType="application/vnd.openxmlformats-officedocument.presentationml.tags+xml"/>
  <Override PartName="/ppt/tags/tag2489.xml" ContentType="application/vnd.openxmlformats-officedocument.presentationml.tags+xml"/>
  <Override PartName="/ppt/tags/tag249.xml" ContentType="application/vnd.openxmlformats-officedocument.presentationml.tags+xml"/>
  <Override PartName="/ppt/tags/tag2490.xml" ContentType="application/vnd.openxmlformats-officedocument.presentationml.tags+xml"/>
  <Override PartName="/ppt/tags/tag2491.xml" ContentType="application/vnd.openxmlformats-officedocument.presentationml.tags+xml"/>
  <Override PartName="/ppt/tags/tag2492.xml" ContentType="application/vnd.openxmlformats-officedocument.presentationml.tags+xml"/>
  <Override PartName="/ppt/tags/tag2493.xml" ContentType="application/vnd.openxmlformats-officedocument.presentationml.tags+xml"/>
  <Override PartName="/ppt/tags/tag2494.xml" ContentType="application/vnd.openxmlformats-officedocument.presentationml.tags+xml"/>
  <Override PartName="/ppt/tags/tag2495.xml" ContentType="application/vnd.openxmlformats-officedocument.presentationml.tags+xml"/>
  <Override PartName="/ppt/tags/tag2496.xml" ContentType="application/vnd.openxmlformats-officedocument.presentationml.tags+xml"/>
  <Override PartName="/ppt/tags/tag2497.xml" ContentType="application/vnd.openxmlformats-officedocument.presentationml.tags+xml"/>
  <Override PartName="/ppt/tags/tag2498.xml" ContentType="application/vnd.openxmlformats-officedocument.presentationml.tags+xml"/>
  <Override PartName="/ppt/tags/tag249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00.xml" ContentType="application/vnd.openxmlformats-officedocument.presentationml.tags+xml"/>
  <Override PartName="/ppt/tags/tag2501.xml" ContentType="application/vnd.openxmlformats-officedocument.presentationml.tags+xml"/>
  <Override PartName="/ppt/tags/tag2502.xml" ContentType="application/vnd.openxmlformats-officedocument.presentationml.tags+xml"/>
  <Override PartName="/ppt/tags/tag2503.xml" ContentType="application/vnd.openxmlformats-officedocument.presentationml.tags+xml"/>
  <Override PartName="/ppt/tags/tag2504.xml" ContentType="application/vnd.openxmlformats-officedocument.presentationml.tags+xml"/>
  <Override PartName="/ppt/tags/tag2505.xml" ContentType="application/vnd.openxmlformats-officedocument.presentationml.tags+xml"/>
  <Override PartName="/ppt/tags/tag2506.xml" ContentType="application/vnd.openxmlformats-officedocument.presentationml.tags+xml"/>
  <Override PartName="/ppt/tags/tag2507.xml" ContentType="application/vnd.openxmlformats-officedocument.presentationml.tags+xml"/>
  <Override PartName="/ppt/tags/tag2508.xml" ContentType="application/vnd.openxmlformats-officedocument.presentationml.tags+xml"/>
  <Override PartName="/ppt/tags/tag2509.xml" ContentType="application/vnd.openxmlformats-officedocument.presentationml.tags+xml"/>
  <Override PartName="/ppt/tags/tag251.xml" ContentType="application/vnd.openxmlformats-officedocument.presentationml.tags+xml"/>
  <Override PartName="/ppt/tags/tag2510.xml" ContentType="application/vnd.openxmlformats-officedocument.presentationml.tags+xml"/>
  <Override PartName="/ppt/tags/tag2511.xml" ContentType="application/vnd.openxmlformats-officedocument.presentationml.tags+xml"/>
  <Override PartName="/ppt/tags/tag2512.xml" ContentType="application/vnd.openxmlformats-officedocument.presentationml.tags+xml"/>
  <Override PartName="/ppt/tags/tag2513.xml" ContentType="application/vnd.openxmlformats-officedocument.presentationml.tags+xml"/>
  <Override PartName="/ppt/tags/tag2514.xml" ContentType="application/vnd.openxmlformats-officedocument.presentationml.tags+xml"/>
  <Override PartName="/ppt/tags/tag2515.xml" ContentType="application/vnd.openxmlformats-officedocument.presentationml.tags+xml"/>
  <Override PartName="/ppt/tags/tag2516.xml" ContentType="application/vnd.openxmlformats-officedocument.presentationml.tags+xml"/>
  <Override PartName="/ppt/tags/tag2517.xml" ContentType="application/vnd.openxmlformats-officedocument.presentationml.tags+xml"/>
  <Override PartName="/ppt/tags/tag2518.xml" ContentType="application/vnd.openxmlformats-officedocument.presentationml.tags+xml"/>
  <Override PartName="/ppt/tags/tag2519.xml" ContentType="application/vnd.openxmlformats-officedocument.presentationml.tags+xml"/>
  <Override PartName="/ppt/tags/tag252.xml" ContentType="application/vnd.openxmlformats-officedocument.presentationml.tags+xml"/>
  <Override PartName="/ppt/tags/tag2520.xml" ContentType="application/vnd.openxmlformats-officedocument.presentationml.tags+xml"/>
  <Override PartName="/ppt/tags/tag2521.xml" ContentType="application/vnd.openxmlformats-officedocument.presentationml.tags+xml"/>
  <Override PartName="/ppt/tags/tag2522.xml" ContentType="application/vnd.openxmlformats-officedocument.presentationml.tags+xml"/>
  <Override PartName="/ppt/tags/tag2523.xml" ContentType="application/vnd.openxmlformats-officedocument.presentationml.tags+xml"/>
  <Override PartName="/ppt/tags/tag2524.xml" ContentType="application/vnd.openxmlformats-officedocument.presentationml.tags+xml"/>
  <Override PartName="/ppt/tags/tag2525.xml" ContentType="application/vnd.openxmlformats-officedocument.presentationml.tags+xml"/>
  <Override PartName="/ppt/tags/tag2526.xml" ContentType="application/vnd.openxmlformats-officedocument.presentationml.tags+xml"/>
  <Override PartName="/ppt/tags/tag2527.xml" ContentType="application/vnd.openxmlformats-officedocument.presentationml.tags+xml"/>
  <Override PartName="/ppt/tags/tag2528.xml" ContentType="application/vnd.openxmlformats-officedocument.presentationml.tags+xml"/>
  <Override PartName="/ppt/tags/tag2529.xml" ContentType="application/vnd.openxmlformats-officedocument.presentationml.tags+xml"/>
  <Override PartName="/ppt/tags/tag253.xml" ContentType="application/vnd.openxmlformats-officedocument.presentationml.tags+xml"/>
  <Override PartName="/ppt/tags/tag2530.xml" ContentType="application/vnd.openxmlformats-officedocument.presentationml.tags+xml"/>
  <Override PartName="/ppt/tags/tag2531.xml" ContentType="application/vnd.openxmlformats-officedocument.presentationml.tags+xml"/>
  <Override PartName="/ppt/tags/tag2532.xml" ContentType="application/vnd.openxmlformats-officedocument.presentationml.tags+xml"/>
  <Override PartName="/ppt/tags/tag2533.xml" ContentType="application/vnd.openxmlformats-officedocument.presentationml.tags+xml"/>
  <Override PartName="/ppt/tags/tag2534.xml" ContentType="application/vnd.openxmlformats-officedocument.presentationml.tags+xml"/>
  <Override PartName="/ppt/tags/tag2535.xml" ContentType="application/vnd.openxmlformats-officedocument.presentationml.tags+xml"/>
  <Override PartName="/ppt/tags/tag2536.xml" ContentType="application/vnd.openxmlformats-officedocument.presentationml.tags+xml"/>
  <Override PartName="/ppt/tags/tag2537.xml" ContentType="application/vnd.openxmlformats-officedocument.presentationml.tags+xml"/>
  <Override PartName="/ppt/tags/tag2538.xml" ContentType="application/vnd.openxmlformats-officedocument.presentationml.tags+xml"/>
  <Override PartName="/ppt/tags/tag2539.xml" ContentType="application/vnd.openxmlformats-officedocument.presentationml.tags+xml"/>
  <Override PartName="/ppt/tags/tag254.xml" ContentType="application/vnd.openxmlformats-officedocument.presentationml.tags+xml"/>
  <Override PartName="/ppt/tags/tag2540.xml" ContentType="application/vnd.openxmlformats-officedocument.presentationml.tags+xml"/>
  <Override PartName="/ppt/tags/tag2541.xml" ContentType="application/vnd.openxmlformats-officedocument.presentationml.tags+xml"/>
  <Override PartName="/ppt/tags/tag2542.xml" ContentType="application/vnd.openxmlformats-officedocument.presentationml.tags+xml"/>
  <Override PartName="/ppt/tags/tag2543.xml" ContentType="application/vnd.openxmlformats-officedocument.presentationml.tags+xml"/>
  <Override PartName="/ppt/tags/tag2544.xml" ContentType="application/vnd.openxmlformats-officedocument.presentationml.tags+xml"/>
  <Override PartName="/ppt/tags/tag2545.xml" ContentType="application/vnd.openxmlformats-officedocument.presentationml.tags+xml"/>
  <Override PartName="/ppt/tags/tag2546.xml" ContentType="application/vnd.openxmlformats-officedocument.presentationml.tags+xml"/>
  <Override PartName="/ppt/tags/tag2547.xml" ContentType="application/vnd.openxmlformats-officedocument.presentationml.tags+xml"/>
  <Override PartName="/ppt/tags/tag2548.xml" ContentType="application/vnd.openxmlformats-officedocument.presentationml.tags+xml"/>
  <Override PartName="/ppt/tags/tag2549.xml" ContentType="application/vnd.openxmlformats-officedocument.presentationml.tags+xml"/>
  <Override PartName="/ppt/tags/tag255.xml" ContentType="application/vnd.openxmlformats-officedocument.presentationml.tags+xml"/>
  <Override PartName="/ppt/tags/tag2550.xml" ContentType="application/vnd.openxmlformats-officedocument.presentationml.tags+xml"/>
  <Override PartName="/ppt/tags/tag2551.xml" ContentType="application/vnd.openxmlformats-officedocument.presentationml.tags+xml"/>
  <Override PartName="/ppt/tags/tag2552.xml" ContentType="application/vnd.openxmlformats-officedocument.presentationml.tags+xml"/>
  <Override PartName="/ppt/tags/tag2553.xml" ContentType="application/vnd.openxmlformats-officedocument.presentationml.tags+xml"/>
  <Override PartName="/ppt/tags/tag2554.xml" ContentType="application/vnd.openxmlformats-officedocument.presentationml.tags+xml"/>
  <Override PartName="/ppt/tags/tag2555.xml" ContentType="application/vnd.openxmlformats-officedocument.presentationml.tags+xml"/>
  <Override PartName="/ppt/tags/tag2556.xml" ContentType="application/vnd.openxmlformats-officedocument.presentationml.tags+xml"/>
  <Override PartName="/ppt/tags/tag2557.xml" ContentType="application/vnd.openxmlformats-officedocument.presentationml.tags+xml"/>
  <Override PartName="/ppt/tags/tag2558.xml" ContentType="application/vnd.openxmlformats-officedocument.presentationml.tags+xml"/>
  <Override PartName="/ppt/tags/tag2559.xml" ContentType="application/vnd.openxmlformats-officedocument.presentationml.tags+xml"/>
  <Override PartName="/ppt/tags/tag256.xml" ContentType="application/vnd.openxmlformats-officedocument.presentationml.tags+xml"/>
  <Override PartName="/ppt/tags/tag2560.xml" ContentType="application/vnd.openxmlformats-officedocument.presentationml.tags+xml"/>
  <Override PartName="/ppt/tags/tag2561.xml" ContentType="application/vnd.openxmlformats-officedocument.presentationml.tags+xml"/>
  <Override PartName="/ppt/tags/tag2562.xml" ContentType="application/vnd.openxmlformats-officedocument.presentationml.tags+xml"/>
  <Override PartName="/ppt/tags/tag2563.xml" ContentType="application/vnd.openxmlformats-officedocument.presentationml.tags+xml"/>
  <Override PartName="/ppt/tags/tag2564.xml" ContentType="application/vnd.openxmlformats-officedocument.presentationml.tags+xml"/>
  <Override PartName="/ppt/tags/tag2565.xml" ContentType="application/vnd.openxmlformats-officedocument.presentationml.tags+xml"/>
  <Override PartName="/ppt/tags/tag2566.xml" ContentType="application/vnd.openxmlformats-officedocument.presentationml.tags+xml"/>
  <Override PartName="/ppt/tags/tag2567.xml" ContentType="application/vnd.openxmlformats-officedocument.presentationml.tags+xml"/>
  <Override PartName="/ppt/tags/tag2568.xml" ContentType="application/vnd.openxmlformats-officedocument.presentationml.tags+xml"/>
  <Override PartName="/ppt/tags/tag2569.xml" ContentType="application/vnd.openxmlformats-officedocument.presentationml.tags+xml"/>
  <Override PartName="/ppt/tags/tag257.xml" ContentType="application/vnd.openxmlformats-officedocument.presentationml.tags+xml"/>
  <Override PartName="/ppt/tags/tag2570.xml" ContentType="application/vnd.openxmlformats-officedocument.presentationml.tags+xml"/>
  <Override PartName="/ppt/tags/tag2571.xml" ContentType="application/vnd.openxmlformats-officedocument.presentationml.tags+xml"/>
  <Override PartName="/ppt/tags/tag2572.xml" ContentType="application/vnd.openxmlformats-officedocument.presentationml.tags+xml"/>
  <Override PartName="/ppt/tags/tag2573.xml" ContentType="application/vnd.openxmlformats-officedocument.presentationml.tags+xml"/>
  <Override PartName="/ppt/tags/tag2574.xml" ContentType="application/vnd.openxmlformats-officedocument.presentationml.tags+xml"/>
  <Override PartName="/ppt/tags/tag2575.xml" ContentType="application/vnd.openxmlformats-officedocument.presentationml.tags+xml"/>
  <Override PartName="/ppt/tags/tag2576.xml" ContentType="application/vnd.openxmlformats-officedocument.presentationml.tags+xml"/>
  <Override PartName="/ppt/tags/tag2577.xml" ContentType="application/vnd.openxmlformats-officedocument.presentationml.tags+xml"/>
  <Override PartName="/ppt/tags/tag2578.xml" ContentType="application/vnd.openxmlformats-officedocument.presentationml.tags+xml"/>
  <Override PartName="/ppt/tags/tag2579.xml" ContentType="application/vnd.openxmlformats-officedocument.presentationml.tags+xml"/>
  <Override PartName="/ppt/tags/tag258.xml" ContentType="application/vnd.openxmlformats-officedocument.presentationml.tags+xml"/>
  <Override PartName="/ppt/tags/tag2580.xml" ContentType="application/vnd.openxmlformats-officedocument.presentationml.tags+xml"/>
  <Override PartName="/ppt/tags/tag2581.xml" ContentType="application/vnd.openxmlformats-officedocument.presentationml.tags+xml"/>
  <Override PartName="/ppt/tags/tag2582.xml" ContentType="application/vnd.openxmlformats-officedocument.presentationml.tags+xml"/>
  <Override PartName="/ppt/tags/tag2583.xml" ContentType="application/vnd.openxmlformats-officedocument.presentationml.tags+xml"/>
  <Override PartName="/ppt/tags/tag2584.xml" ContentType="application/vnd.openxmlformats-officedocument.presentationml.tags+xml"/>
  <Override PartName="/ppt/tags/tag2585.xml" ContentType="application/vnd.openxmlformats-officedocument.presentationml.tags+xml"/>
  <Override PartName="/ppt/tags/tag2586.xml" ContentType="application/vnd.openxmlformats-officedocument.presentationml.tags+xml"/>
  <Override PartName="/ppt/tags/tag2587.xml" ContentType="application/vnd.openxmlformats-officedocument.presentationml.tags+xml"/>
  <Override PartName="/ppt/tags/tag2588.xml" ContentType="application/vnd.openxmlformats-officedocument.presentationml.tags+xml"/>
  <Override PartName="/ppt/tags/tag2589.xml" ContentType="application/vnd.openxmlformats-officedocument.presentationml.tags+xml"/>
  <Override PartName="/ppt/tags/tag259.xml" ContentType="application/vnd.openxmlformats-officedocument.presentationml.tags+xml"/>
  <Override PartName="/ppt/tags/tag2590.xml" ContentType="application/vnd.openxmlformats-officedocument.presentationml.tags+xml"/>
  <Override PartName="/ppt/tags/tag2591.xml" ContentType="application/vnd.openxmlformats-officedocument.presentationml.tags+xml"/>
  <Override PartName="/ppt/tags/tag2592.xml" ContentType="application/vnd.openxmlformats-officedocument.presentationml.tags+xml"/>
  <Override PartName="/ppt/tags/tag2593.xml" ContentType="application/vnd.openxmlformats-officedocument.presentationml.tags+xml"/>
  <Override PartName="/ppt/tags/tag2594.xml" ContentType="application/vnd.openxmlformats-officedocument.presentationml.tags+xml"/>
  <Override PartName="/ppt/tags/tag2595.xml" ContentType="application/vnd.openxmlformats-officedocument.presentationml.tags+xml"/>
  <Override PartName="/ppt/tags/tag2596.xml" ContentType="application/vnd.openxmlformats-officedocument.presentationml.tags+xml"/>
  <Override PartName="/ppt/tags/tag2597.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Override1.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1"/>
    <p:sldMasterId id="2147483657" r:id="rId3"/>
  </p:sldMasterIdLst>
  <p:notesMasterIdLst>
    <p:notesMasterId r:id="rId6"/>
  </p:notesMasterIdLst>
  <p:handoutMasterIdLst>
    <p:handoutMasterId r:id="rId236"/>
  </p:handoutMasterIdLst>
  <p:sldIdLst>
    <p:sldId id="15004852" r:id="rId4"/>
    <p:sldId id="15004853" r:id="rId5"/>
    <p:sldId id="15004854" r:id="rId7"/>
    <p:sldId id="15004855" r:id="rId8"/>
    <p:sldId id="15004857" r:id="rId9"/>
    <p:sldId id="15004858" r:id="rId10"/>
    <p:sldId id="15004859" r:id="rId11"/>
    <p:sldId id="15004860" r:id="rId12"/>
    <p:sldId id="15005705" r:id="rId13"/>
    <p:sldId id="15005706" r:id="rId14"/>
    <p:sldId id="15005707" r:id="rId15"/>
    <p:sldId id="15005708" r:id="rId16"/>
    <p:sldId id="15005709" r:id="rId17"/>
    <p:sldId id="15005710" r:id="rId18"/>
    <p:sldId id="15005711" r:id="rId19"/>
    <p:sldId id="15005712" r:id="rId20"/>
    <p:sldId id="15005713" r:id="rId21"/>
    <p:sldId id="15005714" r:id="rId22"/>
    <p:sldId id="15005715" r:id="rId23"/>
    <p:sldId id="15005716" r:id="rId24"/>
    <p:sldId id="15005717" r:id="rId25"/>
    <p:sldId id="15005718" r:id="rId26"/>
    <p:sldId id="15005719" r:id="rId27"/>
    <p:sldId id="15005720" r:id="rId28"/>
    <p:sldId id="15005721" r:id="rId29"/>
    <p:sldId id="15005722" r:id="rId30"/>
    <p:sldId id="15005723" r:id="rId31"/>
    <p:sldId id="15005724" r:id="rId32"/>
    <p:sldId id="15005725" r:id="rId33"/>
    <p:sldId id="15005726" r:id="rId34"/>
    <p:sldId id="15005727" r:id="rId35"/>
    <p:sldId id="15005728" r:id="rId36"/>
    <p:sldId id="15005729" r:id="rId37"/>
    <p:sldId id="15005730" r:id="rId38"/>
    <p:sldId id="15005731" r:id="rId39"/>
    <p:sldId id="15005732" r:id="rId40"/>
    <p:sldId id="15005733" r:id="rId41"/>
    <p:sldId id="15005734" r:id="rId42"/>
    <p:sldId id="15005735" r:id="rId43"/>
    <p:sldId id="15005736" r:id="rId44"/>
    <p:sldId id="15005737" r:id="rId45"/>
    <p:sldId id="15005738" r:id="rId46"/>
    <p:sldId id="15005739" r:id="rId47"/>
    <p:sldId id="15005740" r:id="rId48"/>
    <p:sldId id="15005741" r:id="rId49"/>
    <p:sldId id="15005742" r:id="rId50"/>
    <p:sldId id="15005667" r:id="rId51"/>
    <p:sldId id="15005668" r:id="rId52"/>
    <p:sldId id="15005669" r:id="rId53"/>
    <p:sldId id="15005670" r:id="rId54"/>
    <p:sldId id="15005671" r:id="rId55"/>
    <p:sldId id="15005672" r:id="rId56"/>
    <p:sldId id="15005673" r:id="rId57"/>
    <p:sldId id="15005674" r:id="rId58"/>
    <p:sldId id="15005675" r:id="rId59"/>
    <p:sldId id="15005676" r:id="rId60"/>
    <p:sldId id="15005677" r:id="rId61"/>
    <p:sldId id="15005678" r:id="rId62"/>
    <p:sldId id="15005679" r:id="rId63"/>
    <p:sldId id="15005680" r:id="rId64"/>
    <p:sldId id="15005681" r:id="rId65"/>
    <p:sldId id="15005682" r:id="rId66"/>
    <p:sldId id="15005683" r:id="rId67"/>
    <p:sldId id="15005684" r:id="rId68"/>
    <p:sldId id="15005685" r:id="rId69"/>
    <p:sldId id="15005686" r:id="rId70"/>
    <p:sldId id="15005687" r:id="rId71"/>
    <p:sldId id="15005688" r:id="rId72"/>
    <p:sldId id="15005689" r:id="rId73"/>
    <p:sldId id="15005690" r:id="rId74"/>
    <p:sldId id="15005691" r:id="rId75"/>
    <p:sldId id="15005692" r:id="rId76"/>
    <p:sldId id="15005693" r:id="rId77"/>
    <p:sldId id="15005694" r:id="rId78"/>
    <p:sldId id="15005695" r:id="rId79"/>
    <p:sldId id="15005696" r:id="rId80"/>
    <p:sldId id="15005697" r:id="rId81"/>
    <p:sldId id="15005698" r:id="rId82"/>
    <p:sldId id="15005699" r:id="rId83"/>
    <p:sldId id="15005700" r:id="rId84"/>
    <p:sldId id="15005701" r:id="rId85"/>
    <p:sldId id="15005702" r:id="rId86"/>
    <p:sldId id="15005703" r:id="rId87"/>
    <p:sldId id="15005704" r:id="rId88"/>
    <p:sldId id="15005631" r:id="rId89"/>
    <p:sldId id="15005632" r:id="rId90"/>
    <p:sldId id="15005633" r:id="rId91"/>
    <p:sldId id="15005634" r:id="rId92"/>
    <p:sldId id="15005635" r:id="rId93"/>
    <p:sldId id="15005636" r:id="rId94"/>
    <p:sldId id="15005637" r:id="rId95"/>
    <p:sldId id="15005638" r:id="rId96"/>
    <p:sldId id="15005639" r:id="rId97"/>
    <p:sldId id="15005640" r:id="rId98"/>
    <p:sldId id="15005641" r:id="rId99"/>
    <p:sldId id="15005642" r:id="rId100"/>
    <p:sldId id="15005643" r:id="rId101"/>
    <p:sldId id="15005644" r:id="rId102"/>
    <p:sldId id="15005645" r:id="rId103"/>
    <p:sldId id="15005646" r:id="rId104"/>
    <p:sldId id="15005647" r:id="rId105"/>
    <p:sldId id="15005648" r:id="rId106"/>
    <p:sldId id="15005649" r:id="rId107"/>
    <p:sldId id="15005650" r:id="rId108"/>
    <p:sldId id="15005651" r:id="rId109"/>
    <p:sldId id="15005652" r:id="rId110"/>
    <p:sldId id="15005653" r:id="rId111"/>
    <p:sldId id="15005654" r:id="rId112"/>
    <p:sldId id="15005655" r:id="rId113"/>
    <p:sldId id="15005656" r:id="rId114"/>
    <p:sldId id="15005657" r:id="rId115"/>
    <p:sldId id="15005658" r:id="rId116"/>
    <p:sldId id="15005659" r:id="rId117"/>
    <p:sldId id="15005660" r:id="rId118"/>
    <p:sldId id="15005661" r:id="rId119"/>
    <p:sldId id="15005662" r:id="rId120"/>
    <p:sldId id="15005663" r:id="rId121"/>
    <p:sldId id="15005664" r:id="rId122"/>
    <p:sldId id="15005665" r:id="rId123"/>
    <p:sldId id="15005666" r:id="rId124"/>
    <p:sldId id="15005595" r:id="rId125"/>
    <p:sldId id="15005778" r:id="rId126"/>
    <p:sldId id="15005779" r:id="rId127"/>
    <p:sldId id="15005780" r:id="rId128"/>
    <p:sldId id="15005781" r:id="rId129"/>
    <p:sldId id="15005782" r:id="rId130"/>
    <p:sldId id="15005783" r:id="rId131"/>
    <p:sldId id="15005784" r:id="rId132"/>
    <p:sldId id="15005785" r:id="rId133"/>
    <p:sldId id="15005786" r:id="rId134"/>
    <p:sldId id="15005787" r:id="rId135"/>
    <p:sldId id="15005788" r:id="rId136"/>
    <p:sldId id="15005789" r:id="rId137"/>
    <p:sldId id="15005790" r:id="rId138"/>
    <p:sldId id="15005791" r:id="rId139"/>
    <p:sldId id="15005792" r:id="rId140"/>
    <p:sldId id="15005793" r:id="rId141"/>
    <p:sldId id="15005794" r:id="rId142"/>
    <p:sldId id="15005795" r:id="rId143"/>
    <p:sldId id="15005796" r:id="rId144"/>
    <p:sldId id="15005797" r:id="rId145"/>
    <p:sldId id="15005798" r:id="rId146"/>
    <p:sldId id="15005799" r:id="rId147"/>
    <p:sldId id="15005800" r:id="rId148"/>
    <p:sldId id="15005801" r:id="rId149"/>
    <p:sldId id="15005802" r:id="rId150"/>
    <p:sldId id="15005803" r:id="rId151"/>
    <p:sldId id="15005804" r:id="rId152"/>
    <p:sldId id="15005805" r:id="rId153"/>
    <p:sldId id="15005806" r:id="rId154"/>
    <p:sldId id="15005807" r:id="rId155"/>
    <p:sldId id="15005808" r:id="rId156"/>
    <p:sldId id="15005809" r:id="rId157"/>
    <p:sldId id="15005810" r:id="rId158"/>
    <p:sldId id="15005811" r:id="rId159"/>
    <p:sldId id="15005812" r:id="rId160"/>
    <p:sldId id="15005562" r:id="rId161"/>
    <p:sldId id="15005743" r:id="rId162"/>
    <p:sldId id="15005744" r:id="rId163"/>
    <p:sldId id="15005745" r:id="rId164"/>
    <p:sldId id="15005746" r:id="rId165"/>
    <p:sldId id="15005747" r:id="rId166"/>
    <p:sldId id="15005748" r:id="rId167"/>
    <p:sldId id="15005749" r:id="rId168"/>
    <p:sldId id="15005750" r:id="rId169"/>
    <p:sldId id="15005751" r:id="rId170"/>
    <p:sldId id="15005752" r:id="rId171"/>
    <p:sldId id="15005753" r:id="rId172"/>
    <p:sldId id="15005754" r:id="rId173"/>
    <p:sldId id="15005755" r:id="rId174"/>
    <p:sldId id="15005756" r:id="rId175"/>
    <p:sldId id="15005757" r:id="rId176"/>
    <p:sldId id="15005758" r:id="rId177"/>
    <p:sldId id="15005759" r:id="rId178"/>
    <p:sldId id="15005760" r:id="rId179"/>
    <p:sldId id="15005761" r:id="rId180"/>
    <p:sldId id="15005762" r:id="rId181"/>
    <p:sldId id="15005763" r:id="rId182"/>
    <p:sldId id="15005764" r:id="rId183"/>
    <p:sldId id="15005765" r:id="rId184"/>
    <p:sldId id="15005766" r:id="rId185"/>
    <p:sldId id="15005767" r:id="rId186"/>
    <p:sldId id="15005768" r:id="rId187"/>
    <p:sldId id="15005769" r:id="rId188"/>
    <p:sldId id="15005770" r:id="rId189"/>
    <p:sldId id="15005771" r:id="rId190"/>
    <p:sldId id="15005772" r:id="rId191"/>
    <p:sldId id="15005773" r:id="rId192"/>
    <p:sldId id="15005774" r:id="rId193"/>
    <p:sldId id="15005775" r:id="rId194"/>
    <p:sldId id="15005776" r:id="rId195"/>
    <p:sldId id="15005777" r:id="rId196"/>
    <p:sldId id="15005528" r:id="rId197"/>
    <p:sldId id="15005813" r:id="rId198"/>
    <p:sldId id="15005814" r:id="rId199"/>
    <p:sldId id="15005815" r:id="rId200"/>
    <p:sldId id="15005816" r:id="rId201"/>
    <p:sldId id="15005817" r:id="rId202"/>
    <p:sldId id="15005818" r:id="rId203"/>
    <p:sldId id="15005819" r:id="rId204"/>
    <p:sldId id="15005820" r:id="rId205"/>
    <p:sldId id="15005821" r:id="rId206"/>
    <p:sldId id="15005822" r:id="rId207"/>
    <p:sldId id="15005823" r:id="rId208"/>
    <p:sldId id="15005824" r:id="rId209"/>
    <p:sldId id="15005825" r:id="rId210"/>
    <p:sldId id="15005826" r:id="rId211"/>
    <p:sldId id="15005827" r:id="rId212"/>
    <p:sldId id="15005828" r:id="rId213"/>
    <p:sldId id="15005829" r:id="rId214"/>
    <p:sldId id="15005830" r:id="rId215"/>
    <p:sldId id="15005831" r:id="rId216"/>
    <p:sldId id="15005832" r:id="rId217"/>
    <p:sldId id="15005833" r:id="rId218"/>
    <p:sldId id="15005834" r:id="rId219"/>
    <p:sldId id="15005835" r:id="rId220"/>
    <p:sldId id="15005836" r:id="rId221"/>
    <p:sldId id="15005837" r:id="rId222"/>
    <p:sldId id="15005838" r:id="rId223"/>
    <p:sldId id="15005839" r:id="rId224"/>
    <p:sldId id="15005840" r:id="rId225"/>
    <p:sldId id="15005841" r:id="rId226"/>
    <p:sldId id="15005842" r:id="rId227"/>
    <p:sldId id="15005843" r:id="rId228"/>
    <p:sldId id="15005844" r:id="rId229"/>
    <p:sldId id="15005845" r:id="rId230"/>
    <p:sldId id="15005846" r:id="rId231"/>
    <p:sldId id="15005847" r:id="rId232"/>
    <p:sldId id="15005848" r:id="rId233"/>
    <p:sldId id="15005849" r:id="rId234"/>
    <p:sldId id="15005561" r:id="rId235"/>
  </p:sldIdLst>
  <p:sldSz cx="12192000" cy="6858000"/>
  <p:notesSz cx="9144000" cy="6858000"/>
  <p:custDataLst>
    <p:tags r:id="rId241"/>
  </p:custDataLst>
  <p:defaultTex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p:defaultTextStyle>
  <p:extLst>
    <p:ext uri="{521415D9-36F7-43E2-AB2F-B90AF26B5E84}">
      <p14:sectionLst xmlns:p14="http://schemas.microsoft.com/office/powerpoint/2010/main">
        <p14:section name="默认节" id="{943B4054-B31F-4383-AF8B-870CB15BB53C}">
          <p14:sldIdLst>
            <p14:sldId id="15004852"/>
            <p14:sldId id="15004853"/>
            <p14:sldId id="15004854"/>
            <p14:sldId id="15004855"/>
            <p14:sldId id="15004857"/>
            <p14:sldId id="15004858"/>
            <p14:sldId id="15004859"/>
            <p14:sldId id="15004860"/>
          </p14:sldIdLst>
        </p14:section>
        <p14:section name="01-屋顶图架构" id="{BA5E2B9F-0EDE-45B2-BB32-A9930482FD26}">
          <p14:sldIdLst>
            <p14:sldId id="15005705"/>
            <p14:sldId id="15005706"/>
            <p14:sldId id="15005707"/>
            <p14:sldId id="15005708"/>
            <p14:sldId id="15005709"/>
            <p14:sldId id="15005710"/>
            <p14:sldId id="15005711"/>
            <p14:sldId id="15005712"/>
            <p14:sldId id="15005713"/>
            <p14:sldId id="15005714"/>
            <p14:sldId id="15005715"/>
            <p14:sldId id="15005716"/>
            <p14:sldId id="15005717"/>
            <p14:sldId id="15005718"/>
            <p14:sldId id="15005719"/>
            <p14:sldId id="15005720"/>
            <p14:sldId id="15005721"/>
            <p14:sldId id="15005722"/>
            <p14:sldId id="15005723"/>
            <p14:sldId id="15005724"/>
            <p14:sldId id="15005725"/>
            <p14:sldId id="15005726"/>
            <p14:sldId id="15005727"/>
            <p14:sldId id="15005728"/>
            <p14:sldId id="15005729"/>
            <p14:sldId id="15005730"/>
            <p14:sldId id="15005731"/>
            <p14:sldId id="15005732"/>
            <p14:sldId id="15005733"/>
            <p14:sldId id="15005734"/>
            <p14:sldId id="15005735"/>
            <p14:sldId id="15005736"/>
            <p14:sldId id="15005737"/>
            <p14:sldId id="15005738"/>
            <p14:sldId id="15005739"/>
            <p14:sldId id="15005740"/>
            <p14:sldId id="15005741"/>
            <p14:sldId id="15005742"/>
          </p14:sldIdLst>
        </p14:section>
        <p14:section name="02-多层平台架构" id="{A07FD6FB-F5B9-4857-8B22-B3E2A3230EC9}">
          <p14:sldIdLst>
            <p14:sldId id="15005667"/>
            <p14:sldId id="15005668"/>
            <p14:sldId id="15005669"/>
            <p14:sldId id="15005670"/>
            <p14:sldId id="15005671"/>
            <p14:sldId id="15005672"/>
            <p14:sldId id="15005673"/>
            <p14:sldId id="15005674"/>
            <p14:sldId id="15005675"/>
            <p14:sldId id="15005676"/>
            <p14:sldId id="15005677"/>
            <p14:sldId id="15005678"/>
            <p14:sldId id="15005679"/>
            <p14:sldId id="15005680"/>
            <p14:sldId id="15005681"/>
            <p14:sldId id="15005682"/>
            <p14:sldId id="15005683"/>
            <p14:sldId id="15005684"/>
            <p14:sldId id="15005685"/>
            <p14:sldId id="15005686"/>
            <p14:sldId id="15005687"/>
            <p14:sldId id="15005688"/>
            <p14:sldId id="15005689"/>
            <p14:sldId id="15005690"/>
            <p14:sldId id="15005691"/>
            <p14:sldId id="15005692"/>
            <p14:sldId id="15005693"/>
            <p14:sldId id="15005694"/>
            <p14:sldId id="15005695"/>
            <p14:sldId id="15005696"/>
            <p14:sldId id="15005697"/>
            <p14:sldId id="15005698"/>
            <p14:sldId id="15005699"/>
            <p14:sldId id="15005700"/>
            <p14:sldId id="15005701"/>
            <p14:sldId id="15005702"/>
            <p14:sldId id="15005703"/>
            <p14:sldId id="15005704"/>
          </p14:sldIdLst>
        </p14:section>
        <p14:section name="03-中心发散架构" id="{A0B47539-89B5-4797-BA17-2E74ABD5AD64}">
          <p14:sldIdLst>
            <p14:sldId id="15005631"/>
            <p14:sldId id="15005632"/>
            <p14:sldId id="15005633"/>
            <p14:sldId id="15005634"/>
            <p14:sldId id="15005635"/>
            <p14:sldId id="15005636"/>
            <p14:sldId id="15005637"/>
            <p14:sldId id="15005638"/>
            <p14:sldId id="15005639"/>
            <p14:sldId id="15005640"/>
            <p14:sldId id="15005641"/>
            <p14:sldId id="15005642"/>
            <p14:sldId id="15005643"/>
            <p14:sldId id="15005644"/>
            <p14:sldId id="15005645"/>
            <p14:sldId id="15005646"/>
            <p14:sldId id="15005647"/>
            <p14:sldId id="15005648"/>
            <p14:sldId id="15005649"/>
            <p14:sldId id="15005650"/>
            <p14:sldId id="15005651"/>
            <p14:sldId id="15005652"/>
            <p14:sldId id="15005653"/>
            <p14:sldId id="15005654"/>
            <p14:sldId id="15005655"/>
            <p14:sldId id="15005656"/>
            <p14:sldId id="15005657"/>
            <p14:sldId id="15005658"/>
            <p14:sldId id="15005659"/>
            <p14:sldId id="15005660"/>
            <p14:sldId id="15005661"/>
            <p14:sldId id="15005662"/>
            <p14:sldId id="15005663"/>
            <p14:sldId id="15005664"/>
            <p14:sldId id="15005665"/>
            <p14:sldId id="15005666"/>
          </p14:sldIdLst>
        </p14:section>
        <p14:section name="04-循环逻辑架构" id="{49519E46-1DBF-441E-B617-DA7B307C3497}">
          <p14:sldIdLst>
            <p14:sldId id="15005595"/>
            <p14:sldId id="15005778"/>
            <p14:sldId id="15005779"/>
            <p14:sldId id="15005780"/>
            <p14:sldId id="15005781"/>
            <p14:sldId id="15005782"/>
            <p14:sldId id="15005783"/>
            <p14:sldId id="15005784"/>
            <p14:sldId id="15005785"/>
            <p14:sldId id="15005786"/>
            <p14:sldId id="15005787"/>
            <p14:sldId id="15005788"/>
            <p14:sldId id="15005789"/>
            <p14:sldId id="15005790"/>
            <p14:sldId id="15005791"/>
            <p14:sldId id="15005792"/>
            <p14:sldId id="15005793"/>
            <p14:sldId id="15005794"/>
            <p14:sldId id="15005795"/>
            <p14:sldId id="15005796"/>
            <p14:sldId id="15005797"/>
            <p14:sldId id="15005798"/>
            <p14:sldId id="15005799"/>
            <p14:sldId id="15005800"/>
            <p14:sldId id="15005801"/>
            <p14:sldId id="15005802"/>
            <p14:sldId id="15005803"/>
            <p14:sldId id="15005804"/>
            <p14:sldId id="15005805"/>
            <p14:sldId id="15005806"/>
            <p14:sldId id="15005807"/>
            <p14:sldId id="15005808"/>
            <p14:sldId id="15005809"/>
            <p14:sldId id="15005810"/>
            <p14:sldId id="15005811"/>
            <p14:sldId id="15005812"/>
          </p14:sldIdLst>
        </p14:section>
        <p14:section name="05-业务流程架构" id="{489F4B75-650C-4D8F-B3B0-0D7A087216E1}">
          <p14:sldIdLst>
            <p14:sldId id="15005562"/>
            <p14:sldId id="15005743"/>
            <p14:sldId id="15005744"/>
            <p14:sldId id="15005745"/>
            <p14:sldId id="15005746"/>
            <p14:sldId id="15005747"/>
            <p14:sldId id="15005748"/>
            <p14:sldId id="15005749"/>
            <p14:sldId id="15005750"/>
            <p14:sldId id="15005751"/>
            <p14:sldId id="15005752"/>
            <p14:sldId id="15005753"/>
            <p14:sldId id="15005754"/>
            <p14:sldId id="15005755"/>
            <p14:sldId id="15005756"/>
            <p14:sldId id="15005757"/>
            <p14:sldId id="15005758"/>
            <p14:sldId id="15005759"/>
            <p14:sldId id="15005760"/>
            <p14:sldId id="15005761"/>
            <p14:sldId id="15005762"/>
            <p14:sldId id="15005763"/>
            <p14:sldId id="15005764"/>
            <p14:sldId id="15005765"/>
            <p14:sldId id="15005766"/>
            <p14:sldId id="15005767"/>
            <p14:sldId id="15005768"/>
            <p14:sldId id="15005769"/>
            <p14:sldId id="15005770"/>
            <p14:sldId id="15005771"/>
            <p14:sldId id="15005772"/>
            <p14:sldId id="15005773"/>
            <p14:sldId id="15005774"/>
            <p14:sldId id="15005775"/>
            <p14:sldId id="15005776"/>
            <p14:sldId id="15005777"/>
          </p14:sldIdLst>
        </p14:section>
        <p14:section name="06-时间轴流程架构" id="{41271098-78D7-45F5-8594-5A2D72ACF282}">
          <p14:sldIdLst>
            <p14:sldId id="15005528"/>
            <p14:sldId id="15005813"/>
            <p14:sldId id="15005814"/>
            <p14:sldId id="15005815"/>
            <p14:sldId id="15005816"/>
            <p14:sldId id="15005817"/>
            <p14:sldId id="15005818"/>
            <p14:sldId id="15005819"/>
            <p14:sldId id="15005820"/>
            <p14:sldId id="15005821"/>
            <p14:sldId id="15005822"/>
            <p14:sldId id="15005823"/>
            <p14:sldId id="15005824"/>
            <p14:sldId id="15005825"/>
            <p14:sldId id="15005826"/>
            <p14:sldId id="15005827"/>
            <p14:sldId id="15005828"/>
            <p14:sldId id="15005829"/>
            <p14:sldId id="15005830"/>
            <p14:sldId id="15005831"/>
            <p14:sldId id="15005832"/>
            <p14:sldId id="15005833"/>
            <p14:sldId id="15005834"/>
            <p14:sldId id="15005835"/>
            <p14:sldId id="15005836"/>
            <p14:sldId id="15005837"/>
            <p14:sldId id="15005838"/>
            <p14:sldId id="15005839"/>
            <p14:sldId id="15005840"/>
            <p14:sldId id="15005841"/>
            <p14:sldId id="15005842"/>
            <p14:sldId id="15005843"/>
            <p14:sldId id="15005844"/>
            <p14:sldId id="15005845"/>
            <p14:sldId id="15005846"/>
            <p14:sldId id="15005847"/>
            <p14:sldId id="15005848"/>
            <p14:sldId id="15005849"/>
            <p14:sldId id="15005561"/>
          </p14:sldIdLst>
        </p14:section>
      </p14:sectionLst>
    </p:ext>
    <p:ext uri="{EFAFB233-063F-42B5-8137-9DF3F51BA10A}">
      <p15:sldGuideLst xmlns:p15="http://schemas.microsoft.com/office/powerpoint/2012/main">
        <p15:guide id="1" orient="horz" pos="2466" userDrawn="1">
          <p15:clr>
            <a:srgbClr val="DCDCDC"/>
          </p15:clr>
        </p15:guide>
        <p15:guide id="2" pos="4128" userDrawn="1">
          <p15:clr>
            <a:srgbClr val="DCDCDC"/>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微软用户" initials="微软用户" lastIdx="1" clrIdx="0"/>
  <p:cmAuthor id="7" name="Administrator" initials="A" lastIdx="0" clrIdx="6"/>
  <p:cmAuthor id="1" name="Microsoft Office User" initials="MOU" lastIdx="1" clrIdx="0"/>
  <p:cmAuthor id="8" name="宋洁然" initials="宋" lastIdx="0" clrIdx="7"/>
  <p:cmAuthor id="2" name="小麦" initials="l" lastIdx="1" clrIdx="1"/>
  <p:cmAuthor id="9" name="ming qiu" initials="m" lastIdx="0" clrIdx="8"/>
  <p:cmAuthor id="3" name="仲杰 李" initials="仲杰" lastIdx="1" clrIdx="3"/>
  <p:cmAuthor id="10" name="WPS_1679281038" initials="W" lastIdx="0" clrIdx="9"/>
  <p:cmAuthor id="5" name="1206988966@qq.com" initials="1" lastIdx="0" clrIdx="4"/>
  <p:cmAuthor id="6" name="姜伟光" initials="姜" lastIdx="0" clrIdx="5"/>
  <p:cmAuthor id="11" name="田野田野" initials="田野田野" lastIdx="0" clrIdx="10"/>
  <p:cmAuthor id="12" name="作者" initials="A" lastIdx="0" clrIdx="11"/>
  <p:cmAuthor id="13" name="ALA11.黄宜隆" initials="A" lastIdx="0" clrIdx="12"/>
  <p:cmAuthor id="14" name="陈 源晨" initials="陈" lastIdx="0" clrIdx="13"/>
  <p:cmAuthor id="15" name="Haval Sh" initials="HS" lastIdx="0" clrIdx="14"/>
  <p:cmAuthor id="16" name="宋 雪贤" initials="宋" lastIdx="0" clrIdx="15"/>
  <p:cmAuthor id="17" name="YOYOON" initials="Y" lastIdx="0" clrIdx="16"/>
  <p:cmAuthor id="18" name=" src" initials="s" lastIdx="0" clrIdx="17"/>
  <p:cmAuthor id="19" name="WHITE GRAPHIC" initials="WG" lastIdx="0" clrIdx="18"/>
  <p:cmAuthor id="20" name="USER" initials="U" lastIdx="0" clrIdx="19"/>
  <p:cmAuthor id="21" name="SheHab" initials="S" lastIdx="0" clrIdx="20"/>
  <p:cmAuthor id="22" name="幸全" initials="幸全" lastIdx="0" clrIdx="21"/>
  <p:cmAuthor id="23" name="刘付观生" initials="刘付观生" lastIdx="0" clrIdx="22"/>
  <p:cmAuthor id="24" name="liufuguansheng" initials="liufu" lastIdx="0" clrIdx="23"/>
  <p:cmAuthor id="25" name="ITC" initials="I" lastIdx="0" clrIdx="24"/>
  <p:cmAuthor id="26" name="WATER MELON" initials="WM" lastIdx="0" clrIdx="25"/>
  <p:cmAuthor id="27" name="余 KM" initials="余" lastIdx="0" clrIdx="26"/>
  <p:cmAuthor id="28" name="8615900558199" initials="8" lastIdx="0" clrIdx="27"/>
  <p:cmAuthor id="29" name="WPS" initials="W" lastIdx="0" clrIdx="28"/>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383838"/>
    <a:srgbClr val="0042FF"/>
    <a:srgbClr val="FF4200"/>
    <a:srgbClr val="3368FF"/>
    <a:srgbClr val="FFFFFF"/>
    <a:srgbClr val="E6E6E6"/>
    <a:srgbClr val="FF4200"/>
    <a:srgbClr val="FFFFFF"/>
    <a:srgbClr val="FFFFFF"/>
    <a:srgbClr val="0042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rgbClr val="383838"/>
      </a:tcTxStyle>
      <a:tcStyle>
        <a:tcBdr>
          <a:left>
            <a:ln w="12700" cmpd="sng">
              <a:solidFill>
                <a:srgbClr val="FFFFFF"/>
              </a:solidFill>
            </a:ln>
          </a:left>
          <a:right>
            <a:ln w="12700" cmpd="sng">
              <a:solidFill>
                <a:srgbClr val="FFFFFF"/>
              </a:solidFill>
            </a:ln>
          </a:right>
          <a:top>
            <a:ln w="12700" cmpd="sng">
              <a:solidFill>
                <a:srgbClr val="FFFFFF"/>
              </a:solidFill>
            </a:ln>
          </a:top>
          <a:bottom>
            <a:ln w="12700" cmpd="sng">
              <a:solidFill>
                <a:srgbClr val="FFFFFF"/>
              </a:solidFill>
            </a:ln>
          </a:bottom>
          <a:insideH>
            <a:ln w="12700" cmpd="sng">
              <a:solidFill>
                <a:srgbClr val="FFFFFF"/>
              </a:solidFill>
            </a:ln>
          </a:insideH>
          <a:insideV>
            <a:ln w="12700" cmpd="sng">
              <a:solidFill>
                <a:srgbClr val="FFFFFF"/>
              </a:solidFill>
            </a:ln>
          </a:insideV>
        </a:tcBdr>
        <a:fill>
          <a:solidFill>
            <a:srgbClr val="E6E6E6"/>
          </a:solidFill>
        </a:fill>
      </a:tcStyle>
    </a:wholeTbl>
    <a:band1H>
      <a:tcStyle>
        <a:tcBdr/>
        <a:fill>
          <a:solidFill>
            <a:srgbClr val="668EFF"/>
          </a:solidFill>
        </a:fill>
      </a:tcStyle>
    </a:band1H>
    <a:band2H>
      <a:tcStyle>
        <a:tcBdr/>
      </a:tcStyle>
    </a:band2H>
    <a:band1V>
      <a:tcStyle>
        <a:tcBdr/>
        <a:fill>
          <a:solidFill>
            <a:srgbClr val="668EFF"/>
          </a:solidFill>
        </a:fill>
      </a:tcStyle>
    </a:band1V>
    <a:band2V>
      <a:tcStyle>
        <a:tcBdr/>
      </a:tcStyle>
    </a:band2V>
    <a:lastCol>
      <a:tcTxStyle b="on">
        <a:fontRef idx="minor">
          <a:prstClr val="black"/>
        </a:fontRef>
        <a:srgbClr val="FFFFFF"/>
      </a:tcTxStyle>
      <a:tcStyle>
        <a:tcBdr/>
        <a:fill>
          <a:solidFill>
            <a:srgbClr val="0042FF"/>
          </a:solidFill>
        </a:fill>
      </a:tcStyle>
    </a:lastCol>
    <a:firstCol>
      <a:tcTxStyle b="on">
        <a:fontRef idx="minor">
          <a:prstClr val="black"/>
        </a:fontRef>
        <a:srgbClr val="FFFFFF"/>
      </a:tcTxStyle>
      <a:tcStyle>
        <a:tcBdr/>
        <a:fill>
          <a:solidFill>
            <a:srgbClr val="0042FF"/>
          </a:solidFill>
        </a:fill>
      </a:tcStyle>
    </a:firstCol>
    <a:lastRow>
      <a:tcTxStyle b="on">
        <a:fontRef idx="minor">
          <a:prstClr val="black"/>
        </a:fontRef>
        <a:srgbClr val="FFFFFF"/>
      </a:tcTxStyle>
      <a:tcStyle>
        <a:tcBdr>
          <a:top>
            <a:ln w="38100" cmpd="sng">
              <a:solidFill>
                <a:srgbClr val="FFFFFF"/>
              </a:solidFill>
            </a:ln>
          </a:top>
        </a:tcBdr>
        <a:fill>
          <a:solidFill>
            <a:srgbClr val="0042FF"/>
          </a:solidFill>
        </a:fill>
      </a:tcStyle>
    </a:lastRow>
    <a:firstRow>
      <a:tcTxStyle b="on">
        <a:fontRef idx="minor">
          <a:prstClr val="black"/>
        </a:fontRef>
        <a:srgbClr val="FFFFFF"/>
      </a:tcTxStyle>
      <a:tcStyle>
        <a:tcBdr>
          <a:bottom>
            <a:ln w="38100" cmpd="sng">
              <a:solidFill>
                <a:srgbClr val="FFFFFF"/>
              </a:solidFill>
            </a:ln>
          </a:bottom>
        </a:tcBdr>
        <a:fill>
          <a:solidFill>
            <a:srgbClr val="0042FF"/>
          </a:solidFill>
        </a:fill>
      </a:tcStyle>
    </a:firstRow>
  </a:tblStyle>
  <a:tblStyle styleId="{F1E6A8D6-9716-4E29-9561-8EDCAC0E31F7}" styleName="三线式标题行镶边行表格样式_1 2 2">
    <a:wholeTbl>
      <a:tcTxStyle>
        <a:fontRef idx="none">
          <a:srgbClr val="0042FF"/>
        </a:fontRef>
      </a:tcTxStyle>
      <a:tcStyle>
        <a:tcBdr/>
        <a:fill>
          <a:solidFill>
            <a:srgbClr val="FFFFFF"/>
          </a:solidFill>
        </a:fill>
      </a:tcStyle>
    </a:wholeTbl>
    <a:band2H>
      <a:tcStyle>
        <a:tcBdr/>
        <a:fill>
          <a:solidFill>
            <a:srgbClr val="E6E6E6"/>
          </a:solidFill>
        </a:fill>
      </a:tcStyle>
    </a:band2H>
    <a:band1V>
      <a:tcStyle>
        <a:tcBdr/>
        <a:fill>
          <a:solidFill>
            <a:srgbClr val="E6E6E6"/>
          </a:solidFill>
        </a:fill>
      </a:tcStyle>
    </a:band1V>
    <a:lastCol>
      <a:tcTxStyle b="on">
        <a:fontRef idx="none">
          <a:srgbClr val="0042FF"/>
        </a:fontRef>
      </a:tcTxStyle>
      <a:tcStyle>
        <a:tcBdr/>
        <a:fill>
          <a:solidFill>
            <a:srgbClr val="E6E6E6"/>
          </a:solidFill>
        </a:fill>
      </a:tcStyle>
    </a:lastCol>
    <a:firstCol>
      <a:tcTxStyle b="on">
        <a:fontRef idx="none">
          <a:srgbClr val="0042FF"/>
        </a:fontRef>
      </a:tcTxStyle>
      <a:tcStyle>
        <a:tcBdr/>
        <a:fill>
          <a:solidFill>
            <a:srgbClr val="E6E6E6"/>
          </a:solidFill>
        </a:fill>
      </a:tcStyle>
    </a:firstCol>
    <a:lastRow>
      <a:tcTxStyle b="on">
        <a:fontRef idx="none">
          <a:srgbClr val="0042FF"/>
        </a:fontRef>
      </a:tcTxStyle>
      <a:tcStyle>
        <a:tcBdr/>
        <a:fill>
          <a:solidFill>
            <a:srgbClr val="E6E6E6"/>
          </a:solidFill>
        </a:fill>
      </a:tcStyle>
    </a:lastRow>
    <a:firstRow>
      <a:tcTxStyle b="on">
        <a:fontRef idx="none">
          <a:srgbClr val="0042FF"/>
        </a:fontRef>
      </a:tcTxStyle>
      <a:tcStyle>
        <a:tcBdr/>
        <a:fill>
          <a:solidFill>
            <a:srgbClr val="E6E6E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860" autoAdjust="0"/>
    <p:restoredTop sz="96457"/>
  </p:normalViewPr>
  <p:slideViewPr>
    <p:cSldViewPr snapToGrid="0" showGuides="1">
      <p:cViewPr varScale="1">
        <p:scale>
          <a:sx n="95" d="100"/>
          <a:sy n="95" d="100"/>
        </p:scale>
        <p:origin x="350" y="53"/>
      </p:cViewPr>
      <p:guideLst>
        <p:guide orient="horz" pos="2466"/>
        <p:guide pos="4128"/>
      </p:guideLst>
    </p:cSldViewPr>
  </p:slideViewPr>
  <p:outlineViewPr>
    <p:cViewPr>
      <p:scale>
        <a:sx n="33" d="100"/>
        <a:sy n="33" d="100"/>
      </p:scale>
      <p:origin x="0" y="-2576"/>
    </p:cViewPr>
  </p:outlineViewPr>
  <p:notesTextViewPr>
    <p:cViewPr>
      <p:scale>
        <a:sx n="3" d="2"/>
        <a:sy n="3" d="2"/>
      </p:scale>
      <p:origin x="0" y="0"/>
    </p:cViewPr>
  </p:notesTextViewPr>
  <p:sorterViewPr>
    <p:cViewPr>
      <p:scale>
        <a:sx n="1" d="1"/>
        <a:sy n="1" d="1"/>
      </p:scale>
      <p:origin x="0" y="-22714"/>
    </p:cViewPr>
  </p:sorter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5.xml"/><Relationship Id="rId98" Type="http://schemas.openxmlformats.org/officeDocument/2006/relationships/slide" Target="slides/slide94.xml"/><Relationship Id="rId97" Type="http://schemas.openxmlformats.org/officeDocument/2006/relationships/slide" Target="slides/slide93.xml"/><Relationship Id="rId96" Type="http://schemas.openxmlformats.org/officeDocument/2006/relationships/slide" Target="slides/slide92.xml"/><Relationship Id="rId95" Type="http://schemas.openxmlformats.org/officeDocument/2006/relationships/slide" Target="slides/slide91.xml"/><Relationship Id="rId94" Type="http://schemas.openxmlformats.org/officeDocument/2006/relationships/slide" Target="slides/slide90.xml"/><Relationship Id="rId93" Type="http://schemas.openxmlformats.org/officeDocument/2006/relationships/slide" Target="slides/slide89.xml"/><Relationship Id="rId92" Type="http://schemas.openxmlformats.org/officeDocument/2006/relationships/slide" Target="slides/slide88.xml"/><Relationship Id="rId91" Type="http://schemas.openxmlformats.org/officeDocument/2006/relationships/slide" Target="slides/slide87.xml"/><Relationship Id="rId90" Type="http://schemas.openxmlformats.org/officeDocument/2006/relationships/slide" Target="slides/slide86.xml"/><Relationship Id="rId9" Type="http://schemas.openxmlformats.org/officeDocument/2006/relationships/slide" Target="slides/slide5.xml"/><Relationship Id="rId89" Type="http://schemas.openxmlformats.org/officeDocument/2006/relationships/slide" Target="slides/slide85.xml"/><Relationship Id="rId88" Type="http://schemas.openxmlformats.org/officeDocument/2006/relationships/slide" Target="slides/slide84.xml"/><Relationship Id="rId87" Type="http://schemas.openxmlformats.org/officeDocument/2006/relationships/slide" Target="slides/slide83.xml"/><Relationship Id="rId86" Type="http://schemas.openxmlformats.org/officeDocument/2006/relationships/slide" Target="slides/slide82.xml"/><Relationship Id="rId85" Type="http://schemas.openxmlformats.org/officeDocument/2006/relationships/slide" Target="slides/slide81.xml"/><Relationship Id="rId84" Type="http://schemas.openxmlformats.org/officeDocument/2006/relationships/slide" Target="slides/slide80.xml"/><Relationship Id="rId83" Type="http://schemas.openxmlformats.org/officeDocument/2006/relationships/slide" Target="slides/slide79.xml"/><Relationship Id="rId82" Type="http://schemas.openxmlformats.org/officeDocument/2006/relationships/slide" Target="slides/slide78.xml"/><Relationship Id="rId81" Type="http://schemas.openxmlformats.org/officeDocument/2006/relationships/slide" Target="slides/slide77.xml"/><Relationship Id="rId80" Type="http://schemas.openxmlformats.org/officeDocument/2006/relationships/slide" Target="slides/slide76.xml"/><Relationship Id="rId8" Type="http://schemas.openxmlformats.org/officeDocument/2006/relationships/slide" Target="slides/slide4.xml"/><Relationship Id="rId79" Type="http://schemas.openxmlformats.org/officeDocument/2006/relationships/slide" Target="slides/slide75.xml"/><Relationship Id="rId78" Type="http://schemas.openxmlformats.org/officeDocument/2006/relationships/slide" Target="slides/slide74.xml"/><Relationship Id="rId77" Type="http://schemas.openxmlformats.org/officeDocument/2006/relationships/slide" Target="slides/slide73.xml"/><Relationship Id="rId76" Type="http://schemas.openxmlformats.org/officeDocument/2006/relationships/slide" Target="slides/slide72.xml"/><Relationship Id="rId75" Type="http://schemas.openxmlformats.org/officeDocument/2006/relationships/slide" Target="slides/slide71.xml"/><Relationship Id="rId74" Type="http://schemas.openxmlformats.org/officeDocument/2006/relationships/slide" Target="slides/slide70.xml"/><Relationship Id="rId73" Type="http://schemas.openxmlformats.org/officeDocument/2006/relationships/slide" Target="slides/slide69.xml"/><Relationship Id="rId72" Type="http://schemas.openxmlformats.org/officeDocument/2006/relationships/slide" Target="slides/slide68.xml"/><Relationship Id="rId71" Type="http://schemas.openxmlformats.org/officeDocument/2006/relationships/slide" Target="slides/slide67.xml"/><Relationship Id="rId70" Type="http://schemas.openxmlformats.org/officeDocument/2006/relationships/slide" Target="slides/slide66.xml"/><Relationship Id="rId7" Type="http://schemas.openxmlformats.org/officeDocument/2006/relationships/slide" Target="slides/slide3.xml"/><Relationship Id="rId69" Type="http://schemas.openxmlformats.org/officeDocument/2006/relationships/slide" Target="slides/slide65.xml"/><Relationship Id="rId68" Type="http://schemas.openxmlformats.org/officeDocument/2006/relationships/slide" Target="slides/slide64.xml"/><Relationship Id="rId67" Type="http://schemas.openxmlformats.org/officeDocument/2006/relationships/slide" Target="slides/slide63.xml"/><Relationship Id="rId66" Type="http://schemas.openxmlformats.org/officeDocument/2006/relationships/slide" Target="slides/slide62.xml"/><Relationship Id="rId65" Type="http://schemas.openxmlformats.org/officeDocument/2006/relationships/slide" Target="slides/slide61.xml"/><Relationship Id="rId64" Type="http://schemas.openxmlformats.org/officeDocument/2006/relationships/slide" Target="slides/slide60.xml"/><Relationship Id="rId63" Type="http://schemas.openxmlformats.org/officeDocument/2006/relationships/slide" Target="slides/slide59.xml"/><Relationship Id="rId62" Type="http://schemas.openxmlformats.org/officeDocument/2006/relationships/slide" Target="slides/slide58.xml"/><Relationship Id="rId61" Type="http://schemas.openxmlformats.org/officeDocument/2006/relationships/slide" Target="slides/slide57.xml"/><Relationship Id="rId60" Type="http://schemas.openxmlformats.org/officeDocument/2006/relationships/slide" Target="slides/slide56.xml"/><Relationship Id="rId6" Type="http://schemas.openxmlformats.org/officeDocument/2006/relationships/notesMaster" Target="notesMasters/notesMaster1.xml"/><Relationship Id="rId59" Type="http://schemas.openxmlformats.org/officeDocument/2006/relationships/slide" Target="slides/slide55.xml"/><Relationship Id="rId58" Type="http://schemas.openxmlformats.org/officeDocument/2006/relationships/slide" Target="slides/slide54.xml"/><Relationship Id="rId57" Type="http://schemas.openxmlformats.org/officeDocument/2006/relationships/slide" Target="slides/slide53.xml"/><Relationship Id="rId56" Type="http://schemas.openxmlformats.org/officeDocument/2006/relationships/slide" Target="slides/slide52.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slide" Target="slides/slide2.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1" Type="http://schemas.openxmlformats.org/officeDocument/2006/relationships/tags" Target="tags/tag2597.xml"/><Relationship Id="rId240" Type="http://schemas.openxmlformats.org/officeDocument/2006/relationships/commentAuthors" Target="commentAuthors.xml"/><Relationship Id="rId24" Type="http://schemas.openxmlformats.org/officeDocument/2006/relationships/slide" Target="slides/slide20.xml"/><Relationship Id="rId239" Type="http://schemas.openxmlformats.org/officeDocument/2006/relationships/tableStyles" Target="tableStyles.xml"/><Relationship Id="rId238" Type="http://schemas.openxmlformats.org/officeDocument/2006/relationships/viewProps" Target="viewProps.xml"/><Relationship Id="rId237" Type="http://schemas.openxmlformats.org/officeDocument/2006/relationships/presProps" Target="presProps.xml"/><Relationship Id="rId236" Type="http://schemas.openxmlformats.org/officeDocument/2006/relationships/handoutMaster" Target="handoutMasters/handoutMaster1.xml"/><Relationship Id="rId235" Type="http://schemas.openxmlformats.org/officeDocument/2006/relationships/slide" Target="slides/slide231.xml"/><Relationship Id="rId234" Type="http://schemas.openxmlformats.org/officeDocument/2006/relationships/slide" Target="slides/slide230.xml"/><Relationship Id="rId233" Type="http://schemas.openxmlformats.org/officeDocument/2006/relationships/slide" Target="slides/slide229.xml"/><Relationship Id="rId232" Type="http://schemas.openxmlformats.org/officeDocument/2006/relationships/slide" Target="slides/slide228.xml"/><Relationship Id="rId231" Type="http://schemas.openxmlformats.org/officeDocument/2006/relationships/slide" Target="slides/slide227.xml"/><Relationship Id="rId230" Type="http://schemas.openxmlformats.org/officeDocument/2006/relationships/slide" Target="slides/slide226.xml"/><Relationship Id="rId23" Type="http://schemas.openxmlformats.org/officeDocument/2006/relationships/slide" Target="slides/slide19.xml"/><Relationship Id="rId229" Type="http://schemas.openxmlformats.org/officeDocument/2006/relationships/slide" Target="slides/slide225.xml"/><Relationship Id="rId228" Type="http://schemas.openxmlformats.org/officeDocument/2006/relationships/slide" Target="slides/slide224.xml"/><Relationship Id="rId227" Type="http://schemas.openxmlformats.org/officeDocument/2006/relationships/slide" Target="slides/slide223.xml"/><Relationship Id="rId226" Type="http://schemas.openxmlformats.org/officeDocument/2006/relationships/slide" Target="slides/slide222.xml"/><Relationship Id="rId225" Type="http://schemas.openxmlformats.org/officeDocument/2006/relationships/slide" Target="slides/slide221.xml"/><Relationship Id="rId224" Type="http://schemas.openxmlformats.org/officeDocument/2006/relationships/slide" Target="slides/slide220.xml"/><Relationship Id="rId223" Type="http://schemas.openxmlformats.org/officeDocument/2006/relationships/slide" Target="slides/slide219.xml"/><Relationship Id="rId222" Type="http://schemas.openxmlformats.org/officeDocument/2006/relationships/slide" Target="slides/slide218.xml"/><Relationship Id="rId221" Type="http://schemas.openxmlformats.org/officeDocument/2006/relationships/slide" Target="slides/slide217.xml"/><Relationship Id="rId220" Type="http://schemas.openxmlformats.org/officeDocument/2006/relationships/slide" Target="slides/slide216.xml"/><Relationship Id="rId22" Type="http://schemas.openxmlformats.org/officeDocument/2006/relationships/slide" Target="slides/slide18.xml"/><Relationship Id="rId219" Type="http://schemas.openxmlformats.org/officeDocument/2006/relationships/slide" Target="slides/slide215.xml"/><Relationship Id="rId218" Type="http://schemas.openxmlformats.org/officeDocument/2006/relationships/slide" Target="slides/slide214.xml"/><Relationship Id="rId217" Type="http://schemas.openxmlformats.org/officeDocument/2006/relationships/slide" Target="slides/slide213.xml"/><Relationship Id="rId216" Type="http://schemas.openxmlformats.org/officeDocument/2006/relationships/slide" Target="slides/slide212.xml"/><Relationship Id="rId215" Type="http://schemas.openxmlformats.org/officeDocument/2006/relationships/slide" Target="slides/slide211.xml"/><Relationship Id="rId214" Type="http://schemas.openxmlformats.org/officeDocument/2006/relationships/slide" Target="slides/slide210.xml"/><Relationship Id="rId213" Type="http://schemas.openxmlformats.org/officeDocument/2006/relationships/slide" Target="slides/slide209.xml"/><Relationship Id="rId212" Type="http://schemas.openxmlformats.org/officeDocument/2006/relationships/slide" Target="slides/slide208.xml"/><Relationship Id="rId211" Type="http://schemas.openxmlformats.org/officeDocument/2006/relationships/slide" Target="slides/slide207.xml"/><Relationship Id="rId210" Type="http://schemas.openxmlformats.org/officeDocument/2006/relationships/slide" Target="slides/slide206.xml"/><Relationship Id="rId21" Type="http://schemas.openxmlformats.org/officeDocument/2006/relationships/slide" Target="slides/slide17.xml"/><Relationship Id="rId209" Type="http://schemas.openxmlformats.org/officeDocument/2006/relationships/slide" Target="slides/slide205.xml"/><Relationship Id="rId208" Type="http://schemas.openxmlformats.org/officeDocument/2006/relationships/slide" Target="slides/slide204.xml"/><Relationship Id="rId207" Type="http://schemas.openxmlformats.org/officeDocument/2006/relationships/slide" Target="slides/slide203.xml"/><Relationship Id="rId206" Type="http://schemas.openxmlformats.org/officeDocument/2006/relationships/slide" Target="slides/slide202.xml"/><Relationship Id="rId205" Type="http://schemas.openxmlformats.org/officeDocument/2006/relationships/slide" Target="slides/slide201.xml"/><Relationship Id="rId204" Type="http://schemas.openxmlformats.org/officeDocument/2006/relationships/slide" Target="slides/slide200.xml"/><Relationship Id="rId203" Type="http://schemas.openxmlformats.org/officeDocument/2006/relationships/slide" Target="slides/slide199.xml"/><Relationship Id="rId202" Type="http://schemas.openxmlformats.org/officeDocument/2006/relationships/slide" Target="slides/slide198.xml"/><Relationship Id="rId201" Type="http://schemas.openxmlformats.org/officeDocument/2006/relationships/slide" Target="slides/slide197.xml"/><Relationship Id="rId200" Type="http://schemas.openxmlformats.org/officeDocument/2006/relationships/slide" Target="slides/slide196.xml"/><Relationship Id="rId20" Type="http://schemas.openxmlformats.org/officeDocument/2006/relationships/slide" Target="slides/slide16.xml"/><Relationship Id="rId2" Type="http://schemas.openxmlformats.org/officeDocument/2006/relationships/theme" Target="theme/theme1.xml"/><Relationship Id="rId199" Type="http://schemas.openxmlformats.org/officeDocument/2006/relationships/slide" Target="slides/slide195.xml"/><Relationship Id="rId198" Type="http://schemas.openxmlformats.org/officeDocument/2006/relationships/slide" Target="slides/slide194.xml"/><Relationship Id="rId197" Type="http://schemas.openxmlformats.org/officeDocument/2006/relationships/slide" Target="slides/slide193.xml"/><Relationship Id="rId196" Type="http://schemas.openxmlformats.org/officeDocument/2006/relationships/slide" Target="slides/slide192.xml"/><Relationship Id="rId195" Type="http://schemas.openxmlformats.org/officeDocument/2006/relationships/slide" Target="slides/slide191.xml"/><Relationship Id="rId194" Type="http://schemas.openxmlformats.org/officeDocument/2006/relationships/slide" Target="slides/slide190.xml"/><Relationship Id="rId193" Type="http://schemas.openxmlformats.org/officeDocument/2006/relationships/slide" Target="slides/slide189.xml"/><Relationship Id="rId192" Type="http://schemas.openxmlformats.org/officeDocument/2006/relationships/slide" Target="slides/slide188.xml"/><Relationship Id="rId191" Type="http://schemas.openxmlformats.org/officeDocument/2006/relationships/slide" Target="slides/slide187.xml"/><Relationship Id="rId190" Type="http://schemas.openxmlformats.org/officeDocument/2006/relationships/slide" Target="slides/slide186.xml"/><Relationship Id="rId19" Type="http://schemas.openxmlformats.org/officeDocument/2006/relationships/slide" Target="slides/slide15.xml"/><Relationship Id="rId189" Type="http://schemas.openxmlformats.org/officeDocument/2006/relationships/slide" Target="slides/slide185.xml"/><Relationship Id="rId188" Type="http://schemas.openxmlformats.org/officeDocument/2006/relationships/slide" Target="slides/slide184.xml"/><Relationship Id="rId187" Type="http://schemas.openxmlformats.org/officeDocument/2006/relationships/slide" Target="slides/slide183.xml"/><Relationship Id="rId186" Type="http://schemas.openxmlformats.org/officeDocument/2006/relationships/slide" Target="slides/slide182.xml"/><Relationship Id="rId185" Type="http://schemas.openxmlformats.org/officeDocument/2006/relationships/slide" Target="slides/slide181.xml"/><Relationship Id="rId184" Type="http://schemas.openxmlformats.org/officeDocument/2006/relationships/slide" Target="slides/slide180.xml"/><Relationship Id="rId183" Type="http://schemas.openxmlformats.org/officeDocument/2006/relationships/slide" Target="slides/slide179.xml"/><Relationship Id="rId182" Type="http://schemas.openxmlformats.org/officeDocument/2006/relationships/slide" Target="slides/slide178.xml"/><Relationship Id="rId181" Type="http://schemas.openxmlformats.org/officeDocument/2006/relationships/slide" Target="slides/slide177.xml"/><Relationship Id="rId180" Type="http://schemas.openxmlformats.org/officeDocument/2006/relationships/slide" Target="slides/slide176.xml"/><Relationship Id="rId18" Type="http://schemas.openxmlformats.org/officeDocument/2006/relationships/slide" Target="slides/slide14.xml"/><Relationship Id="rId179" Type="http://schemas.openxmlformats.org/officeDocument/2006/relationships/slide" Target="slides/slide175.xml"/><Relationship Id="rId178" Type="http://schemas.openxmlformats.org/officeDocument/2006/relationships/slide" Target="slides/slide174.xml"/><Relationship Id="rId177" Type="http://schemas.openxmlformats.org/officeDocument/2006/relationships/slide" Target="slides/slide173.xml"/><Relationship Id="rId176" Type="http://schemas.openxmlformats.org/officeDocument/2006/relationships/slide" Target="slides/slide172.xml"/><Relationship Id="rId175" Type="http://schemas.openxmlformats.org/officeDocument/2006/relationships/slide" Target="slides/slide171.xml"/><Relationship Id="rId174" Type="http://schemas.openxmlformats.org/officeDocument/2006/relationships/slide" Target="slides/slide170.xml"/><Relationship Id="rId173" Type="http://schemas.openxmlformats.org/officeDocument/2006/relationships/slide" Target="slides/slide169.xml"/><Relationship Id="rId172" Type="http://schemas.openxmlformats.org/officeDocument/2006/relationships/slide" Target="slides/slide168.xml"/><Relationship Id="rId171" Type="http://schemas.openxmlformats.org/officeDocument/2006/relationships/slide" Target="slides/slide167.xml"/><Relationship Id="rId170" Type="http://schemas.openxmlformats.org/officeDocument/2006/relationships/slide" Target="slides/slide166.xml"/><Relationship Id="rId17" Type="http://schemas.openxmlformats.org/officeDocument/2006/relationships/slide" Target="slides/slide13.xml"/><Relationship Id="rId169" Type="http://schemas.openxmlformats.org/officeDocument/2006/relationships/slide" Target="slides/slide165.xml"/><Relationship Id="rId168" Type="http://schemas.openxmlformats.org/officeDocument/2006/relationships/slide" Target="slides/slide164.xml"/><Relationship Id="rId167" Type="http://schemas.openxmlformats.org/officeDocument/2006/relationships/slide" Target="slides/slide163.xml"/><Relationship Id="rId166" Type="http://schemas.openxmlformats.org/officeDocument/2006/relationships/slide" Target="slides/slide162.xml"/><Relationship Id="rId165" Type="http://schemas.openxmlformats.org/officeDocument/2006/relationships/slide" Target="slides/slide161.xml"/><Relationship Id="rId164" Type="http://schemas.openxmlformats.org/officeDocument/2006/relationships/slide" Target="slides/slide160.xml"/><Relationship Id="rId163" Type="http://schemas.openxmlformats.org/officeDocument/2006/relationships/slide" Target="slides/slide159.xml"/><Relationship Id="rId162" Type="http://schemas.openxmlformats.org/officeDocument/2006/relationships/slide" Target="slides/slide158.xml"/><Relationship Id="rId161" Type="http://schemas.openxmlformats.org/officeDocument/2006/relationships/slide" Target="slides/slide157.xml"/><Relationship Id="rId160" Type="http://schemas.openxmlformats.org/officeDocument/2006/relationships/slide" Target="slides/slide156.xml"/><Relationship Id="rId16" Type="http://schemas.openxmlformats.org/officeDocument/2006/relationships/slide" Target="slides/slide12.xml"/><Relationship Id="rId159" Type="http://schemas.openxmlformats.org/officeDocument/2006/relationships/slide" Target="slides/slide155.xml"/><Relationship Id="rId158" Type="http://schemas.openxmlformats.org/officeDocument/2006/relationships/slide" Target="slides/slide154.xml"/><Relationship Id="rId157" Type="http://schemas.openxmlformats.org/officeDocument/2006/relationships/slide" Target="slides/slide153.xml"/><Relationship Id="rId156" Type="http://schemas.openxmlformats.org/officeDocument/2006/relationships/slide" Target="slides/slide152.xml"/><Relationship Id="rId155" Type="http://schemas.openxmlformats.org/officeDocument/2006/relationships/slide" Target="slides/slide151.xml"/><Relationship Id="rId154" Type="http://schemas.openxmlformats.org/officeDocument/2006/relationships/slide" Target="slides/slide150.xml"/><Relationship Id="rId153" Type="http://schemas.openxmlformats.org/officeDocument/2006/relationships/slide" Target="slides/slide149.xml"/><Relationship Id="rId152" Type="http://schemas.openxmlformats.org/officeDocument/2006/relationships/slide" Target="slides/slide148.xml"/><Relationship Id="rId151" Type="http://schemas.openxmlformats.org/officeDocument/2006/relationships/slide" Target="slides/slide147.xml"/><Relationship Id="rId150" Type="http://schemas.openxmlformats.org/officeDocument/2006/relationships/slide" Target="slides/slide146.xml"/><Relationship Id="rId15" Type="http://schemas.openxmlformats.org/officeDocument/2006/relationships/slide" Target="slides/slide11.xml"/><Relationship Id="rId149" Type="http://schemas.openxmlformats.org/officeDocument/2006/relationships/slide" Target="slides/slide145.xml"/><Relationship Id="rId148" Type="http://schemas.openxmlformats.org/officeDocument/2006/relationships/slide" Target="slides/slide144.xml"/><Relationship Id="rId147" Type="http://schemas.openxmlformats.org/officeDocument/2006/relationships/slide" Target="slides/slide143.xml"/><Relationship Id="rId146" Type="http://schemas.openxmlformats.org/officeDocument/2006/relationships/slide" Target="slides/slide142.xml"/><Relationship Id="rId145" Type="http://schemas.openxmlformats.org/officeDocument/2006/relationships/slide" Target="slides/slide141.xml"/><Relationship Id="rId144" Type="http://schemas.openxmlformats.org/officeDocument/2006/relationships/slide" Target="slides/slide140.xml"/><Relationship Id="rId143" Type="http://schemas.openxmlformats.org/officeDocument/2006/relationships/slide" Target="slides/slide139.xml"/><Relationship Id="rId142" Type="http://schemas.openxmlformats.org/officeDocument/2006/relationships/slide" Target="slides/slide138.xml"/><Relationship Id="rId141" Type="http://schemas.openxmlformats.org/officeDocument/2006/relationships/slide" Target="slides/slide137.xml"/><Relationship Id="rId140" Type="http://schemas.openxmlformats.org/officeDocument/2006/relationships/slide" Target="slides/slide136.xml"/><Relationship Id="rId14" Type="http://schemas.openxmlformats.org/officeDocument/2006/relationships/slide" Target="slides/slide10.xml"/><Relationship Id="rId139" Type="http://schemas.openxmlformats.org/officeDocument/2006/relationships/slide" Target="slides/slide135.xml"/><Relationship Id="rId138" Type="http://schemas.openxmlformats.org/officeDocument/2006/relationships/slide" Target="slides/slide134.xml"/><Relationship Id="rId137" Type="http://schemas.openxmlformats.org/officeDocument/2006/relationships/slide" Target="slides/slide133.xml"/><Relationship Id="rId136" Type="http://schemas.openxmlformats.org/officeDocument/2006/relationships/slide" Target="slides/slide132.xml"/><Relationship Id="rId135" Type="http://schemas.openxmlformats.org/officeDocument/2006/relationships/slide" Target="slides/slide131.xml"/><Relationship Id="rId134" Type="http://schemas.openxmlformats.org/officeDocument/2006/relationships/slide" Target="slides/slide130.xml"/><Relationship Id="rId133" Type="http://schemas.openxmlformats.org/officeDocument/2006/relationships/slide" Target="slides/slide129.xml"/><Relationship Id="rId132" Type="http://schemas.openxmlformats.org/officeDocument/2006/relationships/slide" Target="slides/slide128.xml"/><Relationship Id="rId131" Type="http://schemas.openxmlformats.org/officeDocument/2006/relationships/slide" Target="slides/slide127.xml"/><Relationship Id="rId130" Type="http://schemas.openxmlformats.org/officeDocument/2006/relationships/slide" Target="slides/slide126.xml"/><Relationship Id="rId13" Type="http://schemas.openxmlformats.org/officeDocument/2006/relationships/slide" Target="slides/slide9.xml"/><Relationship Id="rId129" Type="http://schemas.openxmlformats.org/officeDocument/2006/relationships/slide" Target="slides/slide125.xml"/><Relationship Id="rId128" Type="http://schemas.openxmlformats.org/officeDocument/2006/relationships/slide" Target="slides/slide124.xml"/><Relationship Id="rId127" Type="http://schemas.openxmlformats.org/officeDocument/2006/relationships/slide" Target="slides/slide123.xml"/><Relationship Id="rId126" Type="http://schemas.openxmlformats.org/officeDocument/2006/relationships/slide" Target="slides/slide122.xml"/><Relationship Id="rId125" Type="http://schemas.openxmlformats.org/officeDocument/2006/relationships/slide" Target="slides/slide121.xml"/><Relationship Id="rId124" Type="http://schemas.openxmlformats.org/officeDocument/2006/relationships/slide" Target="slides/slide120.xml"/><Relationship Id="rId123" Type="http://schemas.openxmlformats.org/officeDocument/2006/relationships/slide" Target="slides/slide119.xml"/><Relationship Id="rId122" Type="http://schemas.openxmlformats.org/officeDocument/2006/relationships/slide" Target="slides/slide118.xml"/><Relationship Id="rId121" Type="http://schemas.openxmlformats.org/officeDocument/2006/relationships/slide" Target="slides/slide117.xml"/><Relationship Id="rId120" Type="http://schemas.openxmlformats.org/officeDocument/2006/relationships/slide" Target="slides/slide116.xml"/><Relationship Id="rId12" Type="http://schemas.openxmlformats.org/officeDocument/2006/relationships/slide" Target="slides/slide8.xml"/><Relationship Id="rId119" Type="http://schemas.openxmlformats.org/officeDocument/2006/relationships/slide" Target="slides/slide115.xml"/><Relationship Id="rId118" Type="http://schemas.openxmlformats.org/officeDocument/2006/relationships/slide" Target="slides/slide114.xml"/><Relationship Id="rId117" Type="http://schemas.openxmlformats.org/officeDocument/2006/relationships/slide" Target="slides/slide113.xml"/><Relationship Id="rId116" Type="http://schemas.openxmlformats.org/officeDocument/2006/relationships/slide" Target="slides/slide112.xml"/><Relationship Id="rId115" Type="http://schemas.openxmlformats.org/officeDocument/2006/relationships/slide" Target="slides/slide111.xml"/><Relationship Id="rId114" Type="http://schemas.openxmlformats.org/officeDocument/2006/relationships/slide" Target="slides/slide110.xml"/><Relationship Id="rId113" Type="http://schemas.openxmlformats.org/officeDocument/2006/relationships/slide" Target="slides/slide109.xml"/><Relationship Id="rId112" Type="http://schemas.openxmlformats.org/officeDocument/2006/relationships/slide" Target="slides/slide108.xml"/><Relationship Id="rId111" Type="http://schemas.openxmlformats.org/officeDocument/2006/relationships/slide" Target="slides/slide107.xml"/><Relationship Id="rId110" Type="http://schemas.openxmlformats.org/officeDocument/2006/relationships/slide" Target="slides/slide106.xml"/><Relationship Id="rId11" Type="http://schemas.openxmlformats.org/officeDocument/2006/relationships/slide" Target="slides/slide7.xml"/><Relationship Id="rId109" Type="http://schemas.openxmlformats.org/officeDocument/2006/relationships/slide" Target="slides/slide105.xml"/><Relationship Id="rId108" Type="http://schemas.openxmlformats.org/officeDocument/2006/relationships/slide" Target="slides/slide104.xml"/><Relationship Id="rId107" Type="http://schemas.openxmlformats.org/officeDocument/2006/relationships/slide" Target="slides/slide103.xml"/><Relationship Id="rId106" Type="http://schemas.openxmlformats.org/officeDocument/2006/relationships/slide" Target="slides/slide102.xml"/><Relationship Id="rId105" Type="http://schemas.openxmlformats.org/officeDocument/2006/relationships/slide" Target="slides/slide101.xml"/><Relationship Id="rId104" Type="http://schemas.openxmlformats.org/officeDocument/2006/relationships/slide" Target="slides/slide100.xml"/><Relationship Id="rId103" Type="http://schemas.openxmlformats.org/officeDocument/2006/relationships/slide" Target="slides/slide99.xml"/><Relationship Id="rId102" Type="http://schemas.openxmlformats.org/officeDocument/2006/relationships/slide" Target="slides/slide98.xml"/><Relationship Id="rId101" Type="http://schemas.openxmlformats.org/officeDocument/2006/relationships/slide" Target="slides/slide97.xml"/><Relationship Id="rId100" Type="http://schemas.openxmlformats.org/officeDocument/2006/relationships/slide" Target="slides/slide96.xml"/><Relationship Id="rId10" Type="http://schemas.openxmlformats.org/officeDocument/2006/relationships/slide" Target="slides/slide6.xml"/><Relationship Id="rId1" Type="http://schemas.openxmlformats.org/officeDocument/2006/relationships/slideMaster" Target="slideMasters/slideMaster1.xml"/></Relationships>
</file>

<file path=ppt/charts/_rels/chart1.xml.rels><?xml version="1.0" encoding="UTF-8" standalone="yes"?>
<Relationships xmlns="http://schemas.openxmlformats.org/package/2006/relationships"><Relationship Id="rId3" Type="http://schemas.microsoft.com/office/2011/relationships/chartColorStyle" Target="colors1.xml"/><Relationship Id="rId2" Type="http://schemas.microsoft.com/office/2011/relationships/chartStyle" Target="style1.xml"/><Relationship Id="rId1" Type="http://schemas.openxmlformats.org/officeDocument/2006/relationships/package" Target="../embeddings/Workbook1.xlsx"/></Relationships>
</file>

<file path=ppt/charts/_rels/chart2.xml.rels><?xml version="1.0" encoding="UTF-8" standalone="yes"?>
<Relationships xmlns="http://schemas.openxmlformats.org/package/2006/relationships"><Relationship Id="rId3" Type="http://schemas.microsoft.com/office/2011/relationships/chartColorStyle" Target="colors2.xml"/><Relationship Id="rId2" Type="http://schemas.microsoft.com/office/2011/relationships/chartStyle" Target="style2.xml"/><Relationship Id="rId1" Type="http://schemas.openxmlformats.org/officeDocument/2006/relationships/package" Target="../embeddings/Workbook2.xlsx"/></Relationships>
</file>

<file path=ppt/charts/_rels/chart3.xml.rels><?xml version="1.0" encoding="UTF-8" standalone="yes"?>
<Relationships xmlns="http://schemas.openxmlformats.org/package/2006/relationships"><Relationship Id="rId3" Type="http://schemas.microsoft.com/office/2011/relationships/chartColorStyle" Target="colors3.xml"/><Relationship Id="rId2" Type="http://schemas.microsoft.com/office/2011/relationships/chartStyle" Target="style3.xml"/><Relationship Id="rId1" Type="http://schemas.openxmlformats.org/officeDocument/2006/relationships/package" Target="../embeddings/Workbook3.xlsx"/></Relationships>
</file>

<file path=ppt/charts/_rels/chart4.xml.rels><?xml version="1.0" encoding="UTF-8" standalone="yes"?>
<Relationships xmlns="http://schemas.openxmlformats.org/package/2006/relationships"><Relationship Id="rId3" Type="http://schemas.microsoft.com/office/2011/relationships/chartColorStyle" Target="colors4.xml"/><Relationship Id="rId2" Type="http://schemas.microsoft.com/office/2011/relationships/chartStyle" Target="style4.xml"/><Relationship Id="rId1" Type="http://schemas.openxmlformats.org/officeDocument/2006/relationships/package" Target="../embeddings/Workbook4.xlsx"/></Relationships>
</file>

<file path=ppt/charts/_rels/chart5.xml.rels><?xml version="1.0" encoding="UTF-8" standalone="yes"?>
<Relationships xmlns="http://schemas.openxmlformats.org/package/2006/relationships"><Relationship Id="rId3" Type="http://schemas.microsoft.com/office/2011/relationships/chartColorStyle" Target="colors5.xml"/><Relationship Id="rId2" Type="http://schemas.microsoft.com/office/2011/relationships/chartStyle" Target="style5.xml"/><Relationship Id="rId1" Type="http://schemas.openxmlformats.org/officeDocument/2006/relationships/package" Target="../embeddings/Workbook5.xlsx"/></Relationships>
</file>

<file path=ppt/charts/_rels/chart6.xml.rels><?xml version="1.0" encoding="UTF-8" standalone="yes"?>
<Relationships xmlns="http://schemas.openxmlformats.org/package/2006/relationships"><Relationship Id="rId5" Type="http://schemas.microsoft.com/office/2011/relationships/chartColorStyle" Target="colors6.xml"/><Relationship Id="rId4" Type="http://schemas.microsoft.com/office/2011/relationships/chartStyle" Target="style6.xml"/><Relationship Id="rId3" Type="http://schemas.openxmlformats.org/officeDocument/2006/relationships/chartUserShapes" Target="../drawings/drawing1.xml"/><Relationship Id="rId2" Type="http://schemas.openxmlformats.org/officeDocument/2006/relationships/themeOverride" Target="../theme/themeOverride1.xml"/><Relationship Id="rId1" Type="http://schemas.openxmlformats.org/officeDocument/2006/relationships/package" Target="../embeddings/Workbook6.xlsx"/></Relationships>
</file>

<file path=ppt/charts/_rels/chart7.xml.rels><?xml version='1.0' encoding='UTF-8' standalone='yes'?>
<Relationships xmlns="http://schemas.openxmlformats.org/package/2006/relationships"><Relationship Id="rId3" Type="http://schemas.microsoft.com/office/2011/relationships/chartColorStyle" Target="colors7.xml"/><Relationship Id="rId2" Type="http://schemas.microsoft.com/office/2011/relationships/chartStyle" Target="style7.xml"/><Relationship Id="rId1" Type="http://schemas.openxmlformats.org/officeDocument/2006/relationships/package" Target="../embeddings/CIIC_chart7_data.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0414642330286469"/>
          <c:y val="0.184725613108539"/>
          <c:w val="0.936740698995525"/>
          <c:h val="0.592753892489103"/>
        </c:manualLayout>
      </c:layout>
      <c:lineChart>
        <c:grouping val="standard"/>
        <c:varyColors val="0"/>
        <c:ser>
          <c:idx val="0"/>
          <c:order val="0"/>
          <c:tx>
            <c:strRef>
              <c:f>Sheet1!$B$1</c:f>
              <c:strCache>
                <c:ptCount val="1"/>
                <c:pt idx="0">
                  <c:v>现在</c:v>
                </c:pt>
              </c:strCache>
            </c:strRef>
          </c:tx>
          <c:spPr>
            <a:ln w="12700" cap="rnd">
              <a:solidFill>
                <a:srgbClr val="DCDCDC"/>
              </a:solidFill>
              <a:prstDash val="dash"/>
              <a:round/>
            </a:ln>
            <a:effectLst/>
          </c:spPr>
          <c:marker>
            <c:symbol val="circle"/>
            <c:size val="7"/>
            <c:spPr>
              <a:solidFill>
                <a:srgbClr val="FFFFFF"/>
              </a:solidFill>
              <a:ln w="15875">
                <a:solidFill>
                  <a:srgbClr val="DCDCDC"/>
                </a:solidFill>
              </a:ln>
              <a:effectLst/>
            </c:spPr>
          </c:marker>
          <c:dPt>
            <c:idx val="2"/>
            <c:marker>
              <c:symbol val="circle"/>
              <c:size val="7"/>
              <c:spPr>
                <a:solidFill>
                  <a:srgbClr val="FFFFFF"/>
                </a:solidFill>
                <a:ln w="15875">
                  <a:solidFill>
                    <a:srgbClr val="DCDCDC"/>
                  </a:solidFill>
                </a:ln>
                <a:effectLst/>
              </c:spPr>
            </c:marker>
            <c:bubble3D val="0"/>
          </c:dPt>
          <c:dLbls>
            <c:delete val="1"/>
          </c:dLbls>
          <c:cat>
            <c:strRef>
              <c:f>Sheet1!$A$2:$A$8</c:f>
              <c:strCache>
                <c:ptCount val="7"/>
                <c:pt idx="0">
                  <c:v>0-3月</c:v>
                </c:pt>
                <c:pt idx="1">
                  <c:v>3-6月</c:v>
                </c:pt>
                <c:pt idx="2">
                  <c:v>6-8月</c:v>
                </c:pt>
                <c:pt idx="3">
                  <c:v>8-10月</c:v>
                </c:pt>
                <c:pt idx="4">
                  <c:v>10-12月</c:v>
                </c:pt>
                <c:pt idx="5">
                  <c:v>12-18月</c:v>
                </c:pt>
                <c:pt idx="6">
                  <c:v>18-36月</c:v>
                </c:pt>
              </c:strCache>
            </c:strRef>
          </c:cat>
          <c:val>
            <c:numRef>
              <c:f>Sheet1!$B$2:$B$8</c:f>
              <c:numCache>
                <c:formatCode>General</c:formatCode>
                <c:ptCount val="7"/>
                <c:pt idx="0">
                  <c:v>11.32</c:v>
                </c:pt>
                <c:pt idx="1">
                  <c:v>16</c:v>
                </c:pt>
                <c:pt idx="2">
                  <c:v>18</c:v>
                </c:pt>
                <c:pt idx="3">
                  <c:v>14</c:v>
                </c:pt>
                <c:pt idx="4">
                  <c:v>12.34</c:v>
                </c:pt>
                <c:pt idx="5">
                  <c:v>12.07</c:v>
                </c:pt>
                <c:pt idx="6">
                  <c:v>11.82</c:v>
                </c:pt>
              </c:numCache>
            </c:numRef>
          </c:val>
          <c:smooth val="1"/>
        </c:ser>
        <c:ser>
          <c:idx val="1"/>
          <c:order val="1"/>
          <c:tx>
            <c:strRef>
              <c:f>Sheet1!$C$1</c:f>
              <c:strCache>
                <c:ptCount val="1"/>
                <c:pt idx="0">
                  <c:v>以前</c:v>
                </c:pt>
              </c:strCache>
            </c:strRef>
          </c:tx>
          <c:spPr>
            <a:ln w="19050" cap="rnd">
              <a:solidFill>
                <a:srgbClr val="3368FF"/>
              </a:solidFill>
              <a:prstDash val="solid"/>
              <a:round/>
            </a:ln>
            <a:effectLst/>
          </c:spPr>
          <c:marker>
            <c:symbol val="circle"/>
            <c:size val="5"/>
            <c:spPr>
              <a:solidFill>
                <a:srgbClr val="FFFFFF"/>
              </a:solidFill>
              <a:ln w="19050">
                <a:solidFill>
                  <a:srgbClr val="3368FF"/>
                </a:solidFill>
              </a:ln>
              <a:effectLst/>
            </c:spPr>
          </c:marker>
          <c:dPt>
            <c:idx val="2"/>
            <c:marker>
              <c:symbol val="circle"/>
              <c:size val="5"/>
              <c:spPr>
                <a:solidFill>
                  <a:srgbClr val="FFFFFF"/>
                </a:solidFill>
                <a:ln w="19050">
                  <a:solidFill>
                    <a:srgbClr val="3368FF"/>
                  </a:solidFill>
                </a:ln>
                <a:effectLst/>
              </c:spPr>
            </c:marker>
            <c:bubble3D val="0"/>
          </c:dPt>
          <c:dLbls>
            <c:delete val="1"/>
          </c:dLbls>
          <c:cat>
            <c:strRef>
              <c:f>Sheet1!$A$2:$A$8</c:f>
              <c:strCache>
                <c:ptCount val="7"/>
                <c:pt idx="0">
                  <c:v>0-3月</c:v>
                </c:pt>
                <c:pt idx="1">
                  <c:v>3-6月</c:v>
                </c:pt>
                <c:pt idx="2">
                  <c:v>6-8月</c:v>
                </c:pt>
                <c:pt idx="3">
                  <c:v>8-10月</c:v>
                </c:pt>
                <c:pt idx="4">
                  <c:v>10-12月</c:v>
                </c:pt>
                <c:pt idx="5">
                  <c:v>12-18月</c:v>
                </c:pt>
                <c:pt idx="6">
                  <c:v>18-36月</c:v>
                </c:pt>
              </c:strCache>
            </c:strRef>
          </c:cat>
          <c:val>
            <c:numRef>
              <c:f>Sheet1!$C$2:$C$8</c:f>
              <c:numCache>
                <c:formatCode>General</c:formatCode>
                <c:ptCount val="7"/>
                <c:pt idx="0">
                  <c:v>13</c:v>
                </c:pt>
                <c:pt idx="1">
                  <c:v>18</c:v>
                </c:pt>
                <c:pt idx="2">
                  <c:v>19</c:v>
                </c:pt>
                <c:pt idx="3">
                  <c:v>16</c:v>
                </c:pt>
                <c:pt idx="4">
                  <c:v>17</c:v>
                </c:pt>
                <c:pt idx="5">
                  <c:v>19</c:v>
                </c:pt>
                <c:pt idx="6">
                  <c:v>16.82</c:v>
                </c:pt>
              </c:numCache>
            </c:numRef>
          </c:val>
          <c:smooth val="1"/>
        </c:ser>
        <c:dLbls>
          <c:showLegendKey val="0"/>
          <c:showVal val="0"/>
          <c:showCatName val="0"/>
          <c:showSerName val="0"/>
          <c:showPercent val="0"/>
          <c:showBubbleSize val="0"/>
        </c:dLbls>
        <c:marker val="1"/>
        <c:smooth val="1"/>
        <c:axId val="1563593056"/>
        <c:axId val="1563595536"/>
      </c:lineChart>
      <c:catAx>
        <c:axId val="1563593056"/>
        <c:scaling>
          <c:orientation val="minMax"/>
        </c:scaling>
        <c:delete val="0"/>
        <c:axPos val="b"/>
        <c:numFmt formatCode="General" sourceLinked="1"/>
        <c:majorTickMark val="out"/>
        <c:minorTickMark val="none"/>
        <c:tickLblPos val="nextTo"/>
        <c:spPr>
          <a:noFill/>
          <a:ln w="3175" cap="flat" cmpd="sng" algn="ctr">
            <a:solidFill>
              <a:srgbClr val="0042FF"/>
            </a:solidFill>
            <a:round/>
          </a:ln>
          <a:effectLst/>
        </c:spPr>
        <c:txPr>
          <a:bodyPr rot="-60000000" spcFirstLastPara="1" vertOverflow="ellipsis" vert="horz" wrap="square" anchor="ctr" anchorCtr="1"/>
          <a:lstStyle/>
          <a:p>
            <a:pPr>
              <a:defRPr lang="zh-CN" sz="1000" b="0" i="0" u="none" strike="noStrike" kern="1200" baseline="0">
                <a:noFill/>
                <a:latin typeface="微软雅黑"/>
                <a:ea typeface="微软雅黑"/>
                <a:cs typeface="微软雅黑"/>
              </a:defRPr>
            </a:pPr>
          </a:p>
        </c:txPr>
        <c:crossAx val="1563595536"/>
        <c:crosses val="autoZero"/>
        <c:auto val="1"/>
        <c:lblAlgn val="ctr"/>
        <c:lblOffset val="100"/>
        <c:noMultiLvlLbl val="0"/>
      </c:catAx>
      <c:valAx>
        <c:axId val="1563595536"/>
        <c:scaling>
          <c:orientation val="minMax"/>
          <c:min val="10"/>
        </c:scaling>
        <c:delete val="0"/>
        <c:axPos val="l"/>
        <c:majorGridlines>
          <c:spPr>
            <a:ln w="9525" cap="flat" cmpd="sng" algn="ctr">
              <a:solidFill>
                <a:srgbClr val="383838">
                  <a:alpha val="5000"/>
                </a:srgbClr>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lang="zh-CN" sz="1000" b="0" i="0" u="none" strike="noStrike" kern="1200" baseline="0">
                <a:noFill/>
                <a:latin typeface="微软雅黑"/>
                <a:ea typeface="微软雅黑"/>
                <a:cs typeface="微软雅黑"/>
              </a:defRPr>
            </a:pPr>
          </a:p>
        </c:txPr>
        <c:crossAx val="1563593056"/>
        <c:crosses val="autoZero"/>
        <c:crossBetween val="between"/>
        <c:majorUnit val="2"/>
      </c:valAx>
      <c:spPr>
        <a:noFill/>
        <a:ln>
          <a:noFill/>
        </a:ln>
        <a:effectLst/>
      </c:spPr>
    </c:plotArea>
    <c:plotVisOnly val="1"/>
    <c:dispBlanksAs val="gap"/>
    <c:showDLblsOverMax val="0"/>
    <c:extLst>
      <c:ext uri="{0b15fc19-7d7d-44ad-8c2d-2c3a37ce22c3}">
        <chartProps xmlns="https://web.wps.cn/et/2018/main" chartId="{1e55ca8b-ddd6-4985-8247-93dbb01cde07}"/>
      </c:ext>
    </c:extLst>
  </c:chart>
  <c:spPr>
    <a:noFill/>
    <a:ln>
      <a:noFill/>
    </a:ln>
    <a:effectLst/>
  </c:spPr>
  <c:txPr>
    <a:bodyPr/>
    <a:lstStyle/>
    <a:p>
      <a:pPr>
        <a:defRPr lang="zh-CN">
          <a:noFill/>
          <a:latin typeface="微软雅黑"/>
          <a:ea typeface="微软雅黑"/>
          <a:cs typeface="微软雅黑"/>
        </a:defRPr>
      </a:pPr>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percentStacked"/>
        <c:varyColors val="0"/>
        <c:ser>
          <c:idx val="0"/>
          <c:order val="0"/>
          <c:tx>
            <c:strRef>
              <c:f>Sheet1!$B$1</c:f>
              <c:strCache>
                <c:ptCount val="1"/>
                <c:pt idx="0">
                  <c:v>系列 1</c:v>
                </c:pt>
              </c:strCache>
            </c:strRef>
          </c:tx>
          <c:spPr>
            <a:ln w="28575" cap="rnd">
              <a:solidFill>
                <a:srgbClr val="DCDCDC"/>
              </a:solidFill>
              <a:round/>
            </a:ln>
            <a:effectLst/>
          </c:spPr>
          <c:marker>
            <c:symbol val="none"/>
          </c:marker>
          <c:dLbls>
            <c:delete val="1"/>
          </c:dLbls>
          <c:cat>
            <c:strRef>
              <c:f>Sheet1!$A$2:$A$13</c:f>
              <c:strCache>
                <c:ptCount val="12"/>
                <c:pt idx="0">
                  <c:v>1月</c:v>
                </c:pt>
                <c:pt idx="1">
                  <c:v>2月</c:v>
                </c:pt>
                <c:pt idx="2">
                  <c:v>3月</c:v>
                </c:pt>
                <c:pt idx="3">
                  <c:v>4月</c:v>
                </c:pt>
                <c:pt idx="4">
                  <c:v>5月</c:v>
                </c:pt>
                <c:pt idx="5">
                  <c:v>6月</c:v>
                </c:pt>
                <c:pt idx="6">
                  <c:v>7月</c:v>
                </c:pt>
                <c:pt idx="7">
                  <c:v>8月</c:v>
                </c:pt>
                <c:pt idx="8">
                  <c:v>9月</c:v>
                </c:pt>
                <c:pt idx="9">
                  <c:v>10月</c:v>
                </c:pt>
                <c:pt idx="10">
                  <c:v>11月</c:v>
                </c:pt>
                <c:pt idx="11">
                  <c:v>12月</c:v>
                </c:pt>
              </c:strCache>
            </c:strRef>
          </c:cat>
          <c:val>
            <c:numRef>
              <c:f>Sheet1!$B$2:$B$13</c:f>
              <c:numCache>
                <c:formatCode>General</c:formatCode>
                <c:ptCount val="12"/>
                <c:pt idx="0">
                  <c:v>4.3</c:v>
                </c:pt>
                <c:pt idx="1">
                  <c:v>2.5</c:v>
                </c:pt>
                <c:pt idx="2">
                  <c:v>3.5</c:v>
                </c:pt>
                <c:pt idx="3">
                  <c:v>4.5</c:v>
                </c:pt>
                <c:pt idx="4">
                  <c:v>4.3</c:v>
                </c:pt>
                <c:pt idx="5">
                  <c:v>2.5</c:v>
                </c:pt>
                <c:pt idx="6">
                  <c:v>3.5</c:v>
                </c:pt>
                <c:pt idx="7">
                  <c:v>4.5</c:v>
                </c:pt>
                <c:pt idx="8">
                  <c:v>4.3</c:v>
                </c:pt>
                <c:pt idx="9">
                  <c:v>2.5</c:v>
                </c:pt>
                <c:pt idx="10">
                  <c:v>3.5</c:v>
                </c:pt>
                <c:pt idx="11">
                  <c:v>4.5</c:v>
                </c:pt>
              </c:numCache>
            </c:numRef>
          </c:val>
          <c:smooth val="0"/>
        </c:ser>
        <c:ser>
          <c:idx val="1"/>
          <c:order val="1"/>
          <c:tx>
            <c:strRef>
              <c:f>Sheet1!$C$1</c:f>
              <c:strCache>
                <c:ptCount val="1"/>
                <c:pt idx="0">
                  <c:v>系列 2</c:v>
                </c:pt>
              </c:strCache>
            </c:strRef>
          </c:tx>
          <c:spPr>
            <a:ln w="28575" cap="rnd">
              <a:solidFill>
                <a:srgbClr val="B3D4FE"/>
              </a:solidFill>
              <a:round/>
            </a:ln>
            <a:effectLst/>
          </c:spPr>
          <c:marker>
            <c:symbol val="none"/>
          </c:marker>
          <c:dPt>
            <c:idx val="4"/>
            <c:marker>
              <c:symbol val="none"/>
            </c:marker>
            <c:bubble3D val="0"/>
            <c:spPr>
              <a:ln w="28575" cap="rnd">
                <a:solidFill>
                  <a:srgbClr val="B3D4FE"/>
                </a:solidFill>
                <a:round/>
              </a:ln>
              <a:effectLst/>
            </c:spPr>
          </c:dPt>
          <c:dLbls>
            <c:delete val="1"/>
          </c:dLbls>
          <c:cat>
            <c:strRef>
              <c:f>Sheet1!$A$2:$A$13</c:f>
              <c:strCache>
                <c:ptCount val="12"/>
                <c:pt idx="0">
                  <c:v>1月</c:v>
                </c:pt>
                <c:pt idx="1">
                  <c:v>2月</c:v>
                </c:pt>
                <c:pt idx="2">
                  <c:v>3月</c:v>
                </c:pt>
                <c:pt idx="3">
                  <c:v>4月</c:v>
                </c:pt>
                <c:pt idx="4">
                  <c:v>5月</c:v>
                </c:pt>
                <c:pt idx="5">
                  <c:v>6月</c:v>
                </c:pt>
                <c:pt idx="6">
                  <c:v>7月</c:v>
                </c:pt>
                <c:pt idx="7">
                  <c:v>8月</c:v>
                </c:pt>
                <c:pt idx="8">
                  <c:v>9月</c:v>
                </c:pt>
                <c:pt idx="9">
                  <c:v>10月</c:v>
                </c:pt>
                <c:pt idx="10">
                  <c:v>11月</c:v>
                </c:pt>
                <c:pt idx="11">
                  <c:v>12月</c:v>
                </c:pt>
              </c:strCache>
            </c:strRef>
          </c:cat>
          <c:val>
            <c:numRef>
              <c:f>Sheet1!$C$2:$C$13</c:f>
              <c:numCache>
                <c:formatCode>General</c:formatCode>
                <c:ptCount val="12"/>
                <c:pt idx="0">
                  <c:v>2.4</c:v>
                </c:pt>
                <c:pt idx="1">
                  <c:v>4.4</c:v>
                </c:pt>
                <c:pt idx="2">
                  <c:v>1.8</c:v>
                </c:pt>
                <c:pt idx="3">
                  <c:v>2.8</c:v>
                </c:pt>
                <c:pt idx="4">
                  <c:v>2.4</c:v>
                </c:pt>
                <c:pt idx="5">
                  <c:v>4.4</c:v>
                </c:pt>
                <c:pt idx="6">
                  <c:v>1.8</c:v>
                </c:pt>
                <c:pt idx="7">
                  <c:v>2.8</c:v>
                </c:pt>
                <c:pt idx="8">
                  <c:v>2.4</c:v>
                </c:pt>
                <c:pt idx="9">
                  <c:v>4.4</c:v>
                </c:pt>
                <c:pt idx="10">
                  <c:v>1.8</c:v>
                </c:pt>
                <c:pt idx="11">
                  <c:v>2.8</c:v>
                </c:pt>
              </c:numCache>
            </c:numRef>
          </c:val>
          <c:smooth val="0"/>
        </c:ser>
        <c:ser>
          <c:idx val="2"/>
          <c:order val="2"/>
          <c:tx>
            <c:strRef>
              <c:f>Sheet1!$D$1</c:f>
              <c:strCache>
                <c:ptCount val="1"/>
                <c:pt idx="0">
                  <c:v>系列 3</c:v>
                </c:pt>
              </c:strCache>
            </c:strRef>
          </c:tx>
          <c:spPr>
            <a:ln w="28575" cap="rnd">
              <a:solidFill>
                <a:srgbClr val="3368FF"/>
              </a:solidFill>
              <a:round/>
            </a:ln>
            <a:effectLst/>
          </c:spPr>
          <c:marker>
            <c:symbol val="none"/>
          </c:marker>
          <c:dLbls>
            <c:delete val="1"/>
          </c:dLbls>
          <c:cat>
            <c:strRef>
              <c:f>Sheet1!$A$2:$A$13</c:f>
              <c:strCache>
                <c:ptCount val="12"/>
                <c:pt idx="0">
                  <c:v>1月</c:v>
                </c:pt>
                <c:pt idx="1">
                  <c:v>2月</c:v>
                </c:pt>
                <c:pt idx="2">
                  <c:v>3月</c:v>
                </c:pt>
                <c:pt idx="3">
                  <c:v>4月</c:v>
                </c:pt>
                <c:pt idx="4">
                  <c:v>5月</c:v>
                </c:pt>
                <c:pt idx="5">
                  <c:v>6月</c:v>
                </c:pt>
                <c:pt idx="6">
                  <c:v>7月</c:v>
                </c:pt>
                <c:pt idx="7">
                  <c:v>8月</c:v>
                </c:pt>
                <c:pt idx="8">
                  <c:v>9月</c:v>
                </c:pt>
                <c:pt idx="9">
                  <c:v>10月</c:v>
                </c:pt>
                <c:pt idx="10">
                  <c:v>11月</c:v>
                </c:pt>
                <c:pt idx="11">
                  <c:v>12月</c:v>
                </c:pt>
              </c:strCache>
            </c:strRef>
          </c:cat>
          <c:val>
            <c:numRef>
              <c:f>Sheet1!$D$2:$D$13</c:f>
              <c:numCache>
                <c:formatCode>General</c:formatCode>
                <c:ptCount val="12"/>
                <c:pt idx="0">
                  <c:v>2</c:v>
                </c:pt>
                <c:pt idx="1">
                  <c:v>2</c:v>
                </c:pt>
                <c:pt idx="2">
                  <c:v>3</c:v>
                </c:pt>
                <c:pt idx="3">
                  <c:v>5</c:v>
                </c:pt>
                <c:pt idx="4">
                  <c:v>2</c:v>
                </c:pt>
                <c:pt idx="5">
                  <c:v>2</c:v>
                </c:pt>
                <c:pt idx="6">
                  <c:v>3</c:v>
                </c:pt>
                <c:pt idx="7">
                  <c:v>5</c:v>
                </c:pt>
                <c:pt idx="8">
                  <c:v>2</c:v>
                </c:pt>
                <c:pt idx="9">
                  <c:v>2</c:v>
                </c:pt>
                <c:pt idx="10">
                  <c:v>3</c:v>
                </c:pt>
                <c:pt idx="11">
                  <c:v>5</c:v>
                </c:pt>
              </c:numCache>
            </c:numRef>
          </c:val>
          <c:smooth val="0"/>
        </c:ser>
        <c:dLbls>
          <c:showLegendKey val="0"/>
          <c:showVal val="0"/>
          <c:showCatName val="0"/>
          <c:showSerName val="0"/>
          <c:showPercent val="0"/>
          <c:showBubbleSize val="0"/>
        </c:dLbls>
        <c:marker val="0"/>
        <c:smooth val="0"/>
        <c:axId val="1133416320"/>
        <c:axId val="1132803536"/>
      </c:lineChart>
      <c:catAx>
        <c:axId val="1133416320"/>
        <c:scaling>
          <c:orientation val="minMax"/>
        </c:scaling>
        <c:delete val="0"/>
        <c:axPos val="b"/>
        <c:numFmt formatCode="General" sourceLinked="1"/>
        <c:majorTickMark val="none"/>
        <c:minorTickMark val="none"/>
        <c:tickLblPos val="nextTo"/>
        <c:spPr>
          <a:noFill/>
          <a:ln w="9525" cap="flat" cmpd="sng" algn="ctr">
            <a:solidFill>
              <a:srgbClr val="DCDCDC"/>
            </a:solidFill>
            <a:round/>
          </a:ln>
          <a:effectLst/>
        </c:spPr>
        <c:txPr>
          <a:bodyPr rot="-60000000" spcFirstLastPara="1" vertOverflow="ellipsis" vert="horz" wrap="square" anchor="ctr" anchorCtr="1"/>
          <a:lstStyle/>
          <a:p>
            <a:pPr>
              <a:defRPr lang="zh-CN" sz="1000" b="0" i="0" u="none" strike="noStrike" kern="1200" baseline="0">
                <a:solidFill>
                  <a:srgbClr val="383838"/>
                </a:solidFill>
                <a:latin typeface="微软雅黑"/>
                <a:ea typeface="微软雅黑"/>
                <a:cs typeface="微软雅黑"/>
                <a:sym typeface="微软雅黑"/>
              </a:defRPr>
            </a:pPr>
          </a:p>
        </c:txPr>
        <c:crossAx val="1132803536"/>
        <c:crosses val="autoZero"/>
        <c:auto val="1"/>
        <c:lblAlgn val="ctr"/>
        <c:lblOffset val="100"/>
        <c:noMultiLvlLbl val="0"/>
      </c:catAx>
      <c:valAx>
        <c:axId val="1132803536"/>
        <c:scaling>
          <c:orientation val="minMax"/>
        </c:scaling>
        <c:delete val="0"/>
        <c:axPos val="l"/>
        <c:majorGridlines>
          <c:spPr>
            <a:ln w="9525" cap="flat" cmpd="sng" algn="ctr">
              <a:solidFill>
                <a:srgbClr val="DCDCDC"/>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lang="zh-CN" sz="1000" b="0" i="0" u="none" strike="noStrike" kern="1200" baseline="0">
                <a:solidFill>
                  <a:srgbClr val="383838"/>
                </a:solidFill>
                <a:latin typeface="微软雅黑"/>
                <a:ea typeface="微软雅黑"/>
                <a:cs typeface="微软雅黑"/>
                <a:sym typeface="微软雅黑"/>
              </a:defRPr>
            </a:pPr>
          </a:p>
        </c:txPr>
        <c:crossAx val="1133416320"/>
        <c:crosses val="autoZero"/>
        <c:crossBetween val="between"/>
      </c:valAx>
      <c:spPr>
        <a:noFill/>
        <a:ln>
          <a:noFill/>
        </a:ln>
        <a:effectLst/>
      </c:spPr>
    </c:plotArea>
    <c:plotVisOnly val="1"/>
    <c:dispBlanksAs val="gap"/>
    <c:showDLblsOverMax val="0"/>
    <c:extLst>
      <c:ext uri="{0b15fc19-7d7d-44ad-8c2d-2c3a37ce22c3}">
        <chartProps xmlns="https://web.wps.cn/et/2018/main" chartId="{8b5b5ac8-c029-4984-8c3d-80dc6632e61c}"/>
      </c:ext>
    </c:extLst>
  </c:chart>
  <c:spPr>
    <a:noFill/>
    <a:ln>
      <a:noFill/>
    </a:ln>
    <a:effectLst/>
  </c:spPr>
  <c:txPr>
    <a:bodyPr/>
    <a:lstStyle/>
    <a:p>
      <a:pPr>
        <a:defRPr lang="zh-CN" sz="1000" b="0" i="0">
          <a:solidFill>
            <a:srgbClr val="383838"/>
          </a:solidFill>
          <a:latin typeface="微软雅黑"/>
          <a:ea typeface="微软雅黑"/>
          <a:cs typeface="微软雅黑"/>
          <a:sym typeface="微软雅黑"/>
        </a:defRPr>
      </a:pPr>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活动支出</c:v>
                </c:pt>
              </c:strCache>
            </c:strRef>
          </c:tx>
          <c:spPr>
            <a:solidFill>
              <a:srgbClr val="3368FF"/>
            </a:solidFill>
            <a:ln>
              <a:noFill/>
            </a:ln>
            <a:effectLst/>
          </c:spPr>
          <c:invertIfNegative val="0"/>
          <c:dPt>
            <c:idx val="0"/>
            <c:invertIfNegative val="0"/>
            <c:bubble3D val="0"/>
            <c:spPr>
              <a:solidFill>
                <a:srgbClr val="0042FF"/>
              </a:solidFill>
              <a:ln>
                <a:noFill/>
              </a:ln>
              <a:effectLst/>
            </c:spPr>
          </c:dPt>
          <c:dPt>
            <c:idx val="1"/>
            <c:invertIfNegative val="0"/>
            <c:bubble3D val="0"/>
            <c:spPr>
              <a:solidFill>
                <a:srgbClr val="3368FF"/>
              </a:solidFill>
              <a:ln>
                <a:noFill/>
              </a:ln>
              <a:effectLst/>
            </c:spPr>
          </c:dPt>
          <c:dPt>
            <c:idx val="2"/>
            <c:invertIfNegative val="0"/>
            <c:bubble3D val="0"/>
            <c:spPr>
              <a:solidFill>
                <a:srgbClr val="3368FF"/>
              </a:solidFill>
              <a:ln>
                <a:noFill/>
              </a:ln>
              <a:effectLst/>
            </c:spPr>
          </c:dPt>
          <c:dPt>
            <c:idx val="3"/>
            <c:invertIfNegative val="0"/>
            <c:bubble3D val="0"/>
            <c:spPr>
              <a:solidFill>
                <a:srgbClr val="3368FF"/>
              </a:solidFill>
              <a:ln>
                <a:noFill/>
              </a:ln>
              <a:effectLst/>
            </c:spPr>
          </c:dPt>
          <c:dLbls>
            <c:delete val="1"/>
          </c:dLbls>
          <c:cat>
            <c:strRef>
              <c:f>Sheet1!$A$2:$A$5</c:f>
              <c:strCache>
                <c:ptCount val="4"/>
                <c:pt idx="0">
                  <c:v>人力成本</c:v>
                </c:pt>
                <c:pt idx="1">
                  <c:v>制作成本</c:v>
                </c:pt>
                <c:pt idx="2">
                  <c:v>设计费用</c:v>
                </c:pt>
                <c:pt idx="3">
                  <c:v>运输成本</c:v>
                </c:pt>
              </c:strCache>
            </c:strRef>
          </c:cat>
          <c:val>
            <c:numRef>
              <c:f>Sheet1!$B$2:$B$5</c:f>
              <c:numCache>
                <c:formatCode>General</c:formatCode>
                <c:ptCount val="4"/>
                <c:pt idx="0">
                  <c:v>30</c:v>
                </c:pt>
                <c:pt idx="1">
                  <c:v>15</c:v>
                </c:pt>
                <c:pt idx="2">
                  <c:v>25</c:v>
                </c:pt>
                <c:pt idx="3">
                  <c:v>30</c:v>
                </c:pt>
              </c:numCache>
            </c:numRef>
          </c:val>
        </c:ser>
        <c:dLbls>
          <c:showLegendKey val="0"/>
          <c:showVal val="0"/>
          <c:showCatName val="0"/>
          <c:showSerName val="0"/>
          <c:showPercent val="0"/>
          <c:showBubbleSize val="0"/>
        </c:dLbls>
        <c:gapWidth val="150"/>
        <c:axId val="1331410591"/>
        <c:axId val="6279696"/>
      </c:barChart>
      <c:catAx>
        <c:axId val="1331410591"/>
        <c:scaling>
          <c:orientation val="minMax"/>
        </c:scaling>
        <c:delete val="0"/>
        <c:axPos val="b"/>
        <c:numFmt formatCode="General" sourceLinked="1"/>
        <c:majorTickMark val="out"/>
        <c:minorTickMark val="none"/>
        <c:tickLblPos val="nextTo"/>
        <c:spPr>
          <a:noFill/>
          <a:ln w="9525" cap="flat" cmpd="sng" algn="ctr">
            <a:solidFill>
              <a:srgbClr val="DCDCDC"/>
            </a:solidFill>
            <a:round/>
          </a:ln>
          <a:effectLst/>
        </c:spPr>
        <c:txPr>
          <a:bodyPr rot="-60000000" spcFirstLastPara="1" vertOverflow="ellipsis" vert="horz" wrap="square" anchor="ctr" anchorCtr="1"/>
          <a:lstStyle/>
          <a:p>
            <a:pPr>
              <a:defRPr lang="zh-CN" sz="1000" b="0" i="0" u="none" strike="noStrike" kern="1200" baseline="0">
                <a:solidFill>
                  <a:srgbClr val="383838"/>
                </a:solidFill>
                <a:latin typeface="微软雅黑"/>
                <a:ea typeface="微软雅黑"/>
                <a:cs typeface="微软雅黑"/>
                <a:sym typeface="微软雅黑"/>
              </a:defRPr>
            </a:pPr>
          </a:p>
        </c:txPr>
        <c:crossAx val="6279696"/>
        <c:crosses val="autoZero"/>
        <c:auto val="1"/>
        <c:lblAlgn val="ctr"/>
        <c:lblOffset val="100"/>
        <c:noMultiLvlLbl val="0"/>
      </c:catAx>
      <c:valAx>
        <c:axId val="6279696"/>
        <c:scaling>
          <c:orientation val="minMax"/>
        </c:scaling>
        <c:delete val="0"/>
        <c:axPos val="l"/>
        <c:majorGridlines>
          <c:spPr>
            <a:ln w="9525" cap="flat" cmpd="sng" algn="ctr">
              <a:solidFill>
                <a:srgbClr val="DCDCDC"/>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000" b="0" i="0" u="none" strike="noStrike" kern="1200" baseline="0">
                <a:solidFill>
                  <a:srgbClr val="383838"/>
                </a:solidFill>
                <a:latin typeface="微软雅黑"/>
                <a:ea typeface="微软雅黑"/>
                <a:cs typeface="微软雅黑"/>
                <a:sym typeface="微软雅黑"/>
              </a:defRPr>
            </a:pPr>
          </a:p>
        </c:txPr>
        <c:crossAx val="1331410591"/>
        <c:crosses val="autoZero"/>
        <c:crossBetween val="between"/>
      </c:valAx>
      <c:spPr>
        <a:noFill/>
        <a:ln>
          <a:noFill/>
        </a:ln>
        <a:effectLst/>
      </c:spPr>
    </c:plotArea>
    <c:plotVisOnly val="1"/>
    <c:dispBlanksAs val="zero"/>
    <c:showDLblsOverMax val="0"/>
    <c:extLst>
      <c:ext uri="{0b15fc19-7d7d-44ad-8c2d-2c3a37ce22c3}">
        <chartProps xmlns="https://web.wps.cn/et/2018/main" chartId="{1c43f5d0-f33f-46a5-8973-63c06794ac2e}"/>
      </c:ext>
    </c:extLst>
  </c:chart>
  <c:spPr>
    <a:noFill/>
    <a:ln>
      <a:noFill/>
    </a:ln>
    <a:effectLst/>
  </c:spPr>
  <c:txPr>
    <a:bodyPr/>
    <a:lstStyle/>
    <a:p>
      <a:pPr>
        <a:defRPr lang="zh-CN" sz="1000" b="0" i="0">
          <a:solidFill>
            <a:srgbClr val="383838"/>
          </a:solidFill>
          <a:latin typeface="微软雅黑"/>
          <a:ea typeface="微软雅黑"/>
          <a:cs typeface="微软雅黑"/>
          <a:sym typeface="微软雅黑"/>
        </a:defRPr>
      </a:pPr>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solidFill>
              <a:srgbClr val="668EFF"/>
            </a:solidFill>
          </c:spPr>
          <c:explosion val="0"/>
          <c:dPt>
            <c:idx val="0"/>
            <c:bubble3D val="0"/>
            <c:spPr>
              <a:solidFill>
                <a:srgbClr val="0042FF"/>
              </a:solidFill>
              <a:ln w="19050">
                <a:solidFill>
                  <a:srgbClr val="FFFFFF"/>
                </a:solidFill>
              </a:ln>
              <a:effectLst/>
            </c:spPr>
          </c:dPt>
          <c:dPt>
            <c:idx val="1"/>
            <c:bubble3D val="0"/>
            <c:spPr>
              <a:solidFill>
                <a:srgbClr val="E6E6E6"/>
              </a:solidFill>
              <a:ln w="19050">
                <a:solidFill>
                  <a:srgbClr val="FFFFFF"/>
                </a:solidFill>
              </a:ln>
              <a:effectLst/>
            </c:spPr>
          </c:dPt>
          <c:dLbls>
            <c:delete val="1"/>
          </c:dLbls>
          <c:cat>
            <c:strRef>
              <c:f>Sheet1!$A$2:$A$3</c:f>
              <c:strCache>
                <c:ptCount val="2"/>
                <c:pt idx="0">
                  <c:v>第一季度</c:v>
                </c:pt>
                <c:pt idx="1">
                  <c:v>第二季度</c:v>
                </c:pt>
              </c:strCache>
            </c:strRef>
          </c:cat>
          <c:val>
            <c:numRef>
              <c:f>Sheet1!$B$2:$B$3</c:f>
              <c:numCache>
                <c:formatCode>General</c:formatCode>
                <c:ptCount val="2"/>
                <c:pt idx="0">
                  <c:v>8.2</c:v>
                </c:pt>
                <c:pt idx="1">
                  <c:v>3.2</c:v>
                </c:pt>
              </c:numCache>
            </c:numRef>
          </c:val>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extLst>
      <c:ext uri="{0b15fc19-7d7d-44ad-8c2d-2c3a37ce22c3}">
        <chartProps xmlns="https://web.wps.cn/et/2018/main" chartId="{b53a4344-db32-4b70-9206-d59003f28332}"/>
      </c:ext>
    </c:extLst>
  </c:chart>
  <c:spPr>
    <a:noFill/>
    <a:ln>
      <a:noFill/>
    </a:ln>
    <a:effectLst/>
  </c:spPr>
  <c:txPr>
    <a:bodyPr/>
    <a:lstStyle/>
    <a:p>
      <a:pPr>
        <a:defRPr lang="zh-CN">
          <a:latin typeface="微软雅黑"/>
          <a:ea typeface="微软雅黑"/>
          <a:cs typeface="微软雅黑"/>
          <a:sym typeface="微软雅黑"/>
        </a:defRPr>
      </a:pPr>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销售额</c:v>
                </c:pt>
              </c:strCache>
            </c:strRef>
          </c:tx>
          <c:spPr>
            <a:solidFill>
              <a:srgbClr val="DCDCDC"/>
            </a:solidFill>
          </c:spPr>
          <c:explosion val="0"/>
          <c:dPt>
            <c:idx val="0"/>
            <c:bubble3D val="0"/>
            <c:spPr>
              <a:solidFill>
                <a:srgbClr val="3368FF"/>
              </a:solidFill>
              <a:ln w="19050">
                <a:solidFill>
                  <a:srgbClr val="FFFFFF"/>
                </a:solidFill>
              </a:ln>
              <a:effectLst/>
            </c:spPr>
          </c:dPt>
          <c:dPt>
            <c:idx val="1"/>
            <c:bubble3D val="0"/>
            <c:spPr>
              <a:solidFill>
                <a:srgbClr val="B3D4FE"/>
              </a:solidFill>
              <a:ln w="19050">
                <a:solidFill>
                  <a:srgbClr val="FFFFFF"/>
                </a:solidFill>
              </a:ln>
              <a:effectLst/>
            </c:spPr>
          </c:dPt>
          <c:dPt>
            <c:idx val="2"/>
            <c:bubble3D val="0"/>
            <c:spPr>
              <a:solidFill>
                <a:srgbClr val="FFFFFF"/>
              </a:solidFill>
              <a:ln w="19050">
                <a:solidFill>
                  <a:srgbClr val="FFFFFF"/>
                </a:solidFill>
              </a:ln>
              <a:effectLst/>
            </c:spPr>
          </c:dPt>
          <c:dPt>
            <c:idx val="3"/>
            <c:bubble3D val="0"/>
            <c:spPr>
              <a:solidFill>
                <a:srgbClr val="DCDCDC"/>
              </a:solidFill>
              <a:ln w="19050">
                <a:solidFill>
                  <a:srgbClr val="FFFFFF"/>
                </a:solidFill>
              </a:ln>
              <a:effectLst/>
            </c:spPr>
          </c:dPt>
          <c:dLbls>
            <c:spPr>
              <a:noFill/>
              <a:ln>
                <a:noFill/>
              </a:ln>
              <a:effectLst/>
            </c:spPr>
            <c:txPr>
              <a:bodyPr rot="0" spcFirstLastPara="1" vertOverflow="ellipsis" vert="horz" wrap="square" lIns="38100" tIns="19050" rIns="38100" bIns="19050" anchor="ctr" anchorCtr="1"/>
              <a:lstStyle/>
              <a:p>
                <a:pPr>
                  <a:defRPr lang="zh-CN" sz="1195" b="0" i="0" u="none" strike="noStrike" kern="1200" baseline="0">
                    <a:solidFill>
                      <a:srgbClr val="FFFFFF"/>
                    </a:solidFill>
                    <a:latin typeface="微软雅黑"/>
                    <a:ea typeface="微软雅黑"/>
                    <a:cs typeface="微软雅黑"/>
                    <a:sym typeface="微软雅黑"/>
                  </a:defRPr>
                </a:pPr>
              </a:p>
            </c:txPr>
            <c:dLblPos val="ctr"/>
            <c:showLegendKey val="0"/>
            <c:showVal val="1"/>
            <c:showCatName val="0"/>
            <c:showSerName val="0"/>
            <c:showPercent val="0"/>
            <c:showBubbleSize val="0"/>
            <c:showLeaderLines val="1"/>
            <c:extLst>
              <c:ext xmlns:c15="http://schemas.microsoft.com/office/drawing/2012/chart" uri="{CE6537A1-D6FC-4f65-9D91-7224C49458BB}">
                <c15:layout/>
                <c15:showLeaderLines val="1"/>
                <c15:leaderLines>
                  <c:spPr>
                    <a:ln w="9525" cap="flat" cmpd="sng" algn="ctr">
                      <a:solidFill>
                        <a:srgbClr val="DCDCDC"/>
                      </a:solidFill>
                      <a:round/>
                    </a:ln>
                    <a:effectLst/>
                  </c:spPr>
                </c15:leaderLines>
              </c:ext>
            </c:extLst>
          </c:dLbls>
          <c:cat>
            <c:strRef>
              <c:f>Sheet1!$A$2:$A$5</c:f>
              <c:strCache>
                <c:ptCount val="4"/>
                <c:pt idx="0">
                  <c:v>第一季度</c:v>
                </c:pt>
                <c:pt idx="1">
                  <c:v>第二季度</c:v>
                </c:pt>
                <c:pt idx="2">
                  <c:v>第一季度</c:v>
                </c:pt>
                <c:pt idx="3">
                  <c:v>第二季度</c:v>
                </c:pt>
              </c:strCache>
            </c:strRef>
          </c:cat>
          <c:val>
            <c:numRef>
              <c:f>Sheet1!$B$2:$B$5</c:f>
              <c:numCache>
                <c:formatCode>0%</c:formatCode>
                <c:ptCount val="4"/>
                <c:pt idx="0">
                  <c:v>0.2</c:v>
                </c:pt>
                <c:pt idx="1">
                  <c:v>0.2</c:v>
                </c:pt>
                <c:pt idx="2">
                  <c:v>0.3</c:v>
                </c:pt>
                <c:pt idx="3">
                  <c:v>0.3</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uri="{0b15fc19-7d7d-44ad-8c2d-2c3a37ce22c3}">
        <chartProps xmlns="https://web.wps.cn/et/2018/main" chartId="{39717169-d100-475a-8a15-5ce04c670d72}"/>
      </c:ext>
    </c:extLst>
  </c:chart>
  <c:spPr>
    <a:noFill/>
    <a:ln>
      <a:noFill/>
    </a:ln>
    <a:effectLst/>
  </c:spPr>
  <c:txPr>
    <a:bodyPr/>
    <a:lstStyle/>
    <a:p>
      <a:pPr>
        <a:defRPr lang="zh-CN" b="0" i="0">
          <a:latin typeface="微软雅黑"/>
          <a:ea typeface="微软雅黑"/>
          <a:cs typeface="微软雅黑"/>
          <a:sym typeface="微软雅黑"/>
        </a:defRPr>
      </a:pPr>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系列 1</c:v>
                </c:pt>
              </c:strCache>
            </c:strRef>
          </c:tx>
          <c:spPr>
            <a:solidFill>
              <a:srgbClr val="3368FF"/>
            </a:solidFill>
            <a:ln>
              <a:noFill/>
            </a:ln>
            <a:effectLst/>
          </c:spPr>
          <c:invertIfNegative val="0"/>
          <c:dLbls>
            <c:delete val="1"/>
          </c:dLbls>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系列 2</c:v>
                </c:pt>
              </c:strCache>
            </c:strRef>
          </c:tx>
          <c:spPr>
            <a:solidFill>
              <a:srgbClr val="DCDCDC"/>
            </a:solidFill>
            <a:ln>
              <a:noFill/>
            </a:ln>
            <a:effectLst/>
          </c:spPr>
          <c:invertIfNegative val="0"/>
          <c:dLbls>
            <c:delete val="1"/>
          </c:dLbls>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c:v>
                </c:pt>
                <c:pt idx="2">
                  <c:v>1.8</c:v>
                </c:pt>
                <c:pt idx="3">
                  <c:v>2.8</c:v>
                </c:pt>
              </c:numCache>
            </c:numRef>
          </c:val>
        </c:ser>
        <c:dLbls>
          <c:showLegendKey val="0"/>
          <c:showVal val="0"/>
          <c:showCatName val="0"/>
          <c:showSerName val="0"/>
          <c:showPercent val="0"/>
          <c:showBubbleSize val="0"/>
        </c:dLbls>
        <c:gapWidth val="219"/>
        <c:overlap val="-27"/>
        <c:axId val="1564728768"/>
        <c:axId val="1564725488"/>
      </c:barChart>
      <c:catAx>
        <c:axId val="1564728768"/>
        <c:scaling>
          <c:orientation val="minMax"/>
        </c:scaling>
        <c:delete val="1"/>
        <c:axPos val="b"/>
        <c:numFmt formatCode="General" sourceLinked="1"/>
        <c:majorTickMark val="out"/>
        <c:minorTickMark val="none"/>
        <c:tickLblPos val="nextTo"/>
        <c:txPr>
          <a:bodyPr rot="-60000000" spcFirstLastPara="0" vertOverflow="ellipsis" vert="horz" wrap="square" anchor="ctr" anchorCtr="1"/>
          <a:lstStyle/>
          <a:p>
            <a:pPr>
              <a:defRPr lang="zh-CN" sz="1195" b="0" i="0" u="none" strike="noStrike" kern="1200" baseline="0">
                <a:solidFill>
                  <a:srgbClr val="383838"/>
                </a:solidFill>
                <a:latin typeface="微软雅黑"/>
                <a:ea typeface="微软雅黑"/>
                <a:cs typeface="微软雅黑"/>
              </a:defRPr>
            </a:pPr>
          </a:p>
        </c:txPr>
        <c:crossAx val="1564725488"/>
        <c:crosses val="autoZero"/>
        <c:auto val="1"/>
        <c:lblAlgn val="ctr"/>
        <c:lblOffset val="100"/>
        <c:noMultiLvlLbl val="0"/>
      </c:catAx>
      <c:valAx>
        <c:axId val="1564725488"/>
        <c:scaling>
          <c:orientation val="minMax"/>
        </c:scaling>
        <c:delete val="1"/>
        <c:axPos val="l"/>
        <c:numFmt formatCode="General" sourceLinked="1"/>
        <c:majorTickMark val="out"/>
        <c:minorTickMark val="none"/>
        <c:tickLblPos val="nextTo"/>
        <c:txPr>
          <a:bodyPr rot="-60000000" spcFirstLastPara="0" vertOverflow="ellipsis" vert="horz" wrap="square" anchor="ctr" anchorCtr="1"/>
          <a:lstStyle/>
          <a:p>
            <a:pPr>
              <a:defRPr lang="zh-CN" sz="1195" b="0" i="0" u="none" strike="noStrike" kern="1200" baseline="0">
                <a:solidFill>
                  <a:srgbClr val="383838"/>
                </a:solidFill>
                <a:latin typeface="微软雅黑"/>
                <a:ea typeface="微软雅黑"/>
                <a:cs typeface="微软雅黑"/>
              </a:defRPr>
            </a:pPr>
          </a:p>
        </c:txPr>
        <c:crossAx val="1564728768"/>
        <c:crosses val="autoZero"/>
        <c:crossBetween val="between"/>
      </c:valAx>
      <c:spPr>
        <a:noFill/>
        <a:ln>
          <a:noFill/>
        </a:ln>
        <a:effectLst/>
      </c:spPr>
    </c:plotArea>
    <c:plotVisOnly val="1"/>
    <c:dispBlanksAs val="gap"/>
    <c:showDLblsOverMax val="0"/>
    <c:extLst>
      <c:ext uri="{0b15fc19-7d7d-44ad-8c2d-2c3a37ce22c3}">
        <chartProps xmlns="https://web.wps.cn/et/2018/main" chartId="{90505590-1d1d-4672-b78f-f533f3979681}"/>
      </c:ext>
    </c:extLst>
  </c:chart>
  <c:spPr>
    <a:noFill/>
    <a:ln w="9525" cap="flat" cmpd="sng" algn="ctr">
      <a:noFill/>
      <a:round/>
    </a:ln>
    <a:effectLst/>
  </c:spPr>
  <c:txPr>
    <a:bodyPr/>
    <a:lstStyle/>
    <a:p>
      <a:pPr>
        <a:defRPr lang="zh-CN">
          <a:latin typeface="微软雅黑"/>
          <a:ea typeface="微软雅黑"/>
          <a:cs typeface="微软雅黑"/>
        </a:defRPr>
      </a:pPr>
    </a:p>
  </c:txPr>
  <c:externalData r:id="rId1">
    <c:autoUpdate val="0"/>
  </c:externalData>
  <c:userShapes r:id="rId3"/>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系列 1</c:v>
                </c:pt>
              </c:strCache>
            </c:strRef>
          </c:tx>
          <c:spPr>
            <a:gradFill>
              <a:gsLst>
                <a:gs pos="100000">
                  <a:srgbClr val="E6E6E6">
                    <a:alpha val="0"/>
                  </a:srgbClr>
                </a:gs>
                <a:gs pos="0">
                  <a:srgbClr val="3368FF">
                    <a:alpha val="50000"/>
                  </a:srgbClr>
                </a:gs>
              </a:gsLst>
              <a:lin ang="5400000" scaled="1"/>
            </a:gradFill>
            <a:ln>
              <a:noFill/>
            </a:ln>
            <a:effectLst/>
          </c:spPr>
          <c:dLbls>
            <c:delete val="1"/>
          </c:dLbls>
          <c:cat>
            <c:numRef>
              <c:f>Sheet1!$A$2:$A$22</c:f>
              <c:numCache>
                <c:formatCode>yyyy/m/d</c:formatCode>
                <c:ptCount val="21"/>
                <c:pt idx="0" c:formatCode="yyyy/m/d">
                  <c:v>37261</c:v>
                </c:pt>
                <c:pt idx="1" c:formatCode="yyyy/m/d">
                  <c:v>37262</c:v>
                </c:pt>
                <c:pt idx="2" c:formatCode="yyyy/m/d">
                  <c:v>37263</c:v>
                </c:pt>
                <c:pt idx="3" c:formatCode="yyyy/m/d">
                  <c:v>37264</c:v>
                </c:pt>
                <c:pt idx="4" c:formatCode="yyyy/m/d">
                  <c:v>37265</c:v>
                </c:pt>
                <c:pt idx="5" c:formatCode="yyyy/m/d">
                  <c:v>37266</c:v>
                </c:pt>
                <c:pt idx="6" c:formatCode="yyyy/m/d">
                  <c:v>37267</c:v>
                </c:pt>
                <c:pt idx="7" c:formatCode="yyyy/m/d">
                  <c:v>37268</c:v>
                </c:pt>
                <c:pt idx="8" c:formatCode="yyyy/m/d">
                  <c:v>37269</c:v>
                </c:pt>
                <c:pt idx="9" c:formatCode="yyyy/m/d">
                  <c:v>37270</c:v>
                </c:pt>
                <c:pt idx="10" c:formatCode="yyyy/m/d">
                  <c:v>37271</c:v>
                </c:pt>
                <c:pt idx="11" c:formatCode="yyyy/m/d">
                  <c:v>37272</c:v>
                </c:pt>
                <c:pt idx="12" c:formatCode="yyyy/m/d">
                  <c:v>37273</c:v>
                </c:pt>
                <c:pt idx="13" c:formatCode="yyyy/m/d">
                  <c:v>37274</c:v>
                </c:pt>
                <c:pt idx="14" c:formatCode="yyyy/m/d">
                  <c:v>37275</c:v>
                </c:pt>
                <c:pt idx="15" c:formatCode="yyyy/m/d">
                  <c:v>37276</c:v>
                </c:pt>
                <c:pt idx="16" c:formatCode="yyyy/m/d">
                  <c:v>37277</c:v>
                </c:pt>
                <c:pt idx="17" c:formatCode="yyyy/m/d">
                  <c:v>37278</c:v>
                </c:pt>
                <c:pt idx="18" c:formatCode="yyyy/m/d">
                  <c:v>37279</c:v>
                </c:pt>
                <c:pt idx="19" c:formatCode="yyyy/m/d">
                  <c:v>37280</c:v>
                </c:pt>
                <c:pt idx="20" c:formatCode="yyyy/m/d">
                  <c:v>37281</c:v>
                </c:pt>
              </c:numCache>
            </c:numRef>
          </c:cat>
          <c:val>
            <c:numRef>
              <c:f>Sheet1!$B$2:$B$22</c:f>
              <c:numCache>
                <c:formatCode>General</c:formatCode>
                <c:ptCount val="21"/>
                <c:pt idx="0">
                  <c:v>10</c:v>
                </c:pt>
                <c:pt idx="1">
                  <c:v>7</c:v>
                </c:pt>
                <c:pt idx="2">
                  <c:v>6</c:v>
                </c:pt>
                <c:pt idx="3">
                  <c:v>8</c:v>
                </c:pt>
                <c:pt idx="4">
                  <c:v>11</c:v>
                </c:pt>
                <c:pt idx="5">
                  <c:v>14.5</c:v>
                </c:pt>
                <c:pt idx="6">
                  <c:v>12.6</c:v>
                </c:pt>
                <c:pt idx="7">
                  <c:v>10.5</c:v>
                </c:pt>
                <c:pt idx="8">
                  <c:v>9.5</c:v>
                </c:pt>
                <c:pt idx="9">
                  <c:v>11.5</c:v>
                </c:pt>
                <c:pt idx="10">
                  <c:v>15.5</c:v>
                </c:pt>
                <c:pt idx="11">
                  <c:v>18</c:v>
                </c:pt>
                <c:pt idx="12">
                  <c:v>18.8</c:v>
                </c:pt>
                <c:pt idx="13">
                  <c:v>17</c:v>
                </c:pt>
                <c:pt idx="14">
                  <c:v>15.4</c:v>
                </c:pt>
                <c:pt idx="15">
                  <c:v>15</c:v>
                </c:pt>
                <c:pt idx="16">
                  <c:v>16</c:v>
                </c:pt>
                <c:pt idx="17">
                  <c:v>17.5</c:v>
                </c:pt>
                <c:pt idx="18">
                  <c:v>19</c:v>
                </c:pt>
                <c:pt idx="19">
                  <c:v>22</c:v>
                </c:pt>
                <c:pt idx="20">
                  <c:v>26</c:v>
                </c:pt>
              </c:numCache>
            </c:numRef>
          </c:val>
        </c:ser>
        <c:dLbls>
          <c:showLegendKey val="0"/>
          <c:showVal val="1"/>
          <c:showCatName val="0"/>
          <c:showSerName val="0"/>
          <c:showPercent val="0"/>
          <c:showBubbleSize val="0"/>
        </c:dLbls>
        <c:axId val="234146301"/>
        <c:axId val="383499369"/>
      </c:areaChart>
      <c:dateAx>
        <c:axId val="234146301"/>
        <c:scaling>
          <c:orientation val="minMax"/>
        </c:scaling>
        <c:delete val="1"/>
        <c:axPos val="b"/>
        <c:numFmt formatCode="m/d/yyyy" sourceLinked="0"/>
        <c:majorTickMark val="out"/>
        <c:minorTickMark val="none"/>
        <c:tickLblPos val="nextTo"/>
        <c:txPr>
          <a:bodyPr rot="-60000000" spcFirstLastPara="0" vertOverflow="ellipsis" vert="horz" wrap="square" anchor="ctr" anchorCtr="1"/>
          <a:lstStyle/>
          <a:p>
            <a:pPr>
              <a:defRPr lang="zh-CN" sz="1000" b="0" i="0" u="none" strike="noStrike" kern="1200" baseline="0">
                <a:solidFill>
                  <a:srgbClr val="383838"/>
                </a:solidFill>
                <a:latin typeface="微软雅黑"/>
                <a:ea typeface="微软雅黑"/>
                <a:cs typeface="微软雅黑"/>
              </a:defRPr>
            </a:pPr>
          </a:p>
        </c:txPr>
        <c:crossAx val="383499369"/>
        <c:crosses val="autoZero"/>
        <c:auto val="1"/>
        <c:lblOffset val="100"/>
        <c:baseTimeUnit val="days"/>
      </c:dateAx>
      <c:valAx>
        <c:axId val="383499369"/>
        <c:scaling>
          <c:orientation val="minMax"/>
        </c:scaling>
        <c:delete val="1"/>
        <c:axPos val="l"/>
        <c:numFmt formatCode="General" sourceLinked="1"/>
        <c:majorTickMark val="none"/>
        <c:minorTickMark val="none"/>
        <c:tickLblPos val="nextTo"/>
        <c:txPr>
          <a:bodyPr rot="-60000000" spcFirstLastPara="0" vertOverflow="ellipsis" vert="horz" wrap="square" anchor="ctr" anchorCtr="1"/>
          <a:lstStyle/>
          <a:p>
            <a:pPr>
              <a:defRPr lang="zh-CN" sz="1000" b="0" i="0" u="none" strike="noStrike" kern="1200" baseline="0">
                <a:solidFill>
                  <a:srgbClr val="383838"/>
                </a:solidFill>
                <a:latin typeface="微软雅黑"/>
                <a:ea typeface="微软雅黑"/>
                <a:cs typeface="微软雅黑"/>
              </a:defRPr>
            </a:pPr>
          </a:p>
        </c:txPr>
        <c:crossAx val="234146301"/>
        <c:crosses val="autoZero"/>
        <c:crossBetween val="midCat"/>
      </c:valAx>
      <c:spPr>
        <a:noFill/>
        <a:ln>
          <a:noFill/>
        </a:ln>
        <a:effectLst/>
      </c:spPr>
    </c:plotArea>
    <c:plotVisOnly val="1"/>
    <c:dispBlanksAs val="zero"/>
    <c:showDLblsOverMax val="0"/>
    <c:extLst>
      <c:ext uri="{0b15fc19-7d7d-44ad-8c2d-2c3a37ce22c3}">
        <chartProps xmlns="https://web.wps.cn/et/2018/main" chartId="{23f129d8-61f8-4ad4-922c-8f89e1bac109}"/>
      </c:ext>
    </c:extLst>
  </c:chart>
  <c:spPr>
    <a:noFill/>
    <a:ln>
      <a:noFill/>
    </a:ln>
    <a:effectLst/>
  </c:spPr>
  <c:txPr>
    <a:bodyPr/>
    <a:lstStyle/>
    <a:p>
      <a:pPr>
        <a:defRPr lang="zh-CN">
          <a:latin typeface="微软雅黑"/>
          <a:ea typeface="微软雅黑"/>
          <a:cs typeface="微软雅黑"/>
        </a:defRPr>
      </a:pPr>
    </a:p>
  </c:txPr>
  <c:externalData r:id="rId1">
    <c:autoUpdate val="0"/>
  </c:externalData>
</c:chartSpace>
</file>

<file path=ppt/charts/colors1.xml><?xml version="1.0" encoding="utf-8"?>
<cs:colorStyle xmlns:cs="http://schemas.microsoft.com/office/drawing/2012/chartStyle" xmlns:a="http://schemas.openxmlformats.org/drawingml/2006/main" meth="cycle" id="10">
  <a:srgbClr val="0042FF"/>
  <a:srgbClr val="668EFF"/>
  <a:srgbClr val="0042FF"/>
  <a:srgbClr val="DCDCDC"/>
  <a:srgbClr val="3368FF"/>
  <a:srgbClr val="383838"/>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rgbClr val="0042FF"/>
  <a:srgbClr val="668EFF"/>
  <a:srgbClr val="0042FF"/>
  <a:srgbClr val="DCDCDC"/>
  <a:srgbClr val="3368FF"/>
  <a:srgbClr val="383838"/>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1">
  <a:srgbClr val="0042FF"/>
  <a:srgbClr val="0042FF"/>
  <a:srgbClr val="3368FF"/>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rgbClr val="0042FF"/>
  <a:srgbClr val="668EFF"/>
  <a:srgbClr val="0042FF"/>
  <a:srgbClr val="DCDCDC"/>
  <a:srgbClr val="3368FF"/>
  <a:srgbClr val="383838"/>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rgbClr val="0042FF"/>
  <a:srgbClr val="668EFF"/>
  <a:srgbClr val="0042FF"/>
  <a:srgbClr val="DCDCDC"/>
  <a:srgbClr val="3368FF"/>
  <a:srgbClr val="383838"/>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rgbClr val="0042FF"/>
  <a:srgbClr val="668EFF"/>
  <a:srgbClr val="0042FF"/>
  <a:srgbClr val="DCDCDC"/>
  <a:srgbClr val="3368FF"/>
  <a:srgbClr val="383838"/>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rgbClr val="0042FF"/>
  <a:srgbClr val="668EFF"/>
  <a:srgbClr val="0042FF"/>
  <a:srgbClr val="DCDCDC"/>
  <a:srgbClr val="3368FF"/>
  <a:srgbClr val="383838"/>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332">
  <cs:axisTitle>
    <cs:lnRef idx="0"/>
    <cs:fillRef idx="0"/>
    <cs:effectRef idx="0"/>
    <cs:fontRef idx="minor">
      <a:srgbClr val="383838"/>
    </cs:fontRef>
    <cs:defRPr sz="1330" kern="1200"/>
  </cs:axisTitle>
  <cs:categoryAxis>
    <cs:lnRef idx="0"/>
    <cs:fillRef idx="0"/>
    <cs:effectRef idx="0"/>
    <cs:fontRef idx="minor">
      <a:srgbClr val="383838"/>
    </cs:fontRef>
    <cs:spPr>
      <a:ln w="9525" cap="flat" cmpd="sng" algn="ctr">
        <a:solidFill>
          <a:srgbClr val="DCDCDC"/>
        </a:solidFill>
        <a:round/>
      </a:ln>
    </cs:spPr>
    <cs:defRPr sz="1195" kern="1200"/>
  </cs:categoryAxis>
  <cs:chartArea mods="allowNoFillOverride allowNoLineOverride">
    <cs:lnRef idx="0"/>
    <cs:fillRef idx="0"/>
    <cs:effectRef idx="0"/>
    <cs:fontRef idx="minor">
      <a:srgbClr val="383838"/>
    </cs:fontRef>
    <cs:spPr>
      <a:solidFill>
        <a:srgbClr val="FFFFFF"/>
      </a:solidFill>
      <a:ln w="9525" cap="flat" cmpd="sng" algn="ctr">
        <a:solidFill>
          <a:srgbClr val="DCDCDC"/>
        </a:solidFill>
        <a:round/>
      </a:ln>
    </cs:spPr>
    <cs:defRPr sz="1330" kern="1200"/>
  </cs:chartArea>
  <cs:dataLabel>
    <cs:lnRef idx="0"/>
    <cs:fillRef idx="0"/>
    <cs:effectRef idx="0"/>
    <cs:fontRef idx="minor">
      <a:srgbClr val="383838"/>
    </cs:fontRef>
    <cs:defRPr sz="1195" kern="1200"/>
  </cs:dataLabel>
  <cs:dataLabelCallout>
    <cs:lnRef idx="0"/>
    <cs:fillRef idx="0"/>
    <cs:effectRef idx="0"/>
    <cs:fontRef idx="minor">
      <a:srgbClr val="383838"/>
    </cs:fontRef>
    <cs:spPr>
      <a:solidFill>
        <a:srgbClr val="FFFFFF"/>
      </a:solidFill>
      <a:ln>
        <a:solidFill>
          <a:srgbClr val="DCDCDC"/>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rgbClr val="383838"/>
    </cs:fontRef>
  </cs:dataPoint>
  <cs:dataPoint3D>
    <cs:lnRef idx="0"/>
    <cs:fillRef idx="1">
      <cs:styleClr val="auto"/>
    </cs:fillRef>
    <cs:effectRef idx="0"/>
    <cs:fontRef idx="minor">
      <a:srgbClr val="383838"/>
    </cs:fontRef>
  </cs:dataPoint3D>
  <cs:dataPointLine>
    <cs:lnRef idx="0">
      <cs:styleClr val="auto"/>
    </cs:lnRef>
    <cs:fillRef idx="1"/>
    <cs:effectRef idx="0"/>
    <cs:fontRef idx="minor">
      <a:srgbClr val="383838"/>
    </cs:fontRef>
    <cs:spPr>
      <a:ln w="28575" cap="rnd">
        <a:solidFill>
          <a:schemeClr val="phClr"/>
        </a:solidFill>
        <a:round/>
      </a:ln>
    </cs:spPr>
  </cs:dataPointLine>
  <cs:dataPointMarker>
    <cs:lnRef idx="0">
      <cs:styleClr val="auto"/>
    </cs:lnRef>
    <cs:fillRef idx="1">
      <cs:styleClr val="auto"/>
    </cs:fillRef>
    <cs:effectRef idx="0"/>
    <cs:fontRef idx="minor">
      <a:srgbClr val="383838"/>
    </cs:fontRef>
    <cs:spPr>
      <a:ln w="9525">
        <a:solidFill>
          <a:schemeClr val="phClr"/>
        </a:solidFill>
      </a:ln>
    </cs:spPr>
  </cs:dataPointMarker>
  <cs:dataPointMarkerLayout symbol="circle" size="5"/>
  <cs:dataPointWireframe>
    <cs:lnRef idx="0">
      <cs:styleClr val="auto"/>
    </cs:lnRef>
    <cs:fillRef idx="1"/>
    <cs:effectRef idx="0"/>
    <cs:fontRef idx="minor">
      <a:srgbClr val="383838"/>
    </cs:fontRef>
    <cs:spPr>
      <a:ln w="9525" cap="rnd">
        <a:solidFill>
          <a:schemeClr val="phClr"/>
        </a:solidFill>
        <a:round/>
      </a:ln>
    </cs:spPr>
  </cs:dataPointWireframe>
  <cs:dataTable>
    <cs:lnRef idx="0"/>
    <cs:fillRef idx="0"/>
    <cs:effectRef idx="0"/>
    <cs:fontRef idx="minor">
      <a:srgbClr val="383838"/>
    </cs:fontRef>
    <cs:spPr>
      <a:noFill/>
      <a:ln w="9525" cap="flat" cmpd="sng" algn="ctr">
        <a:solidFill>
          <a:srgbClr val="DCDCDC"/>
        </a:solidFill>
        <a:round/>
      </a:ln>
    </cs:spPr>
    <cs:defRPr sz="1195" kern="1200"/>
  </cs:dataTable>
  <cs:downBar>
    <cs:lnRef idx="0"/>
    <cs:fillRef idx="0"/>
    <cs:effectRef idx="0"/>
    <cs:fontRef idx="minor">
      <a:srgbClr val="383838"/>
    </cs:fontRef>
    <cs:spPr>
      <a:solidFill>
        <a:srgbClr val="383838"/>
      </a:solidFill>
      <a:ln w="9525">
        <a:solidFill>
          <a:srgbClr val="383838"/>
        </a:solidFill>
      </a:ln>
    </cs:spPr>
  </cs:downBar>
  <cs:dropLine>
    <cs:lnRef idx="0"/>
    <cs:fillRef idx="0"/>
    <cs:effectRef idx="0"/>
    <cs:fontRef idx="minor">
      <a:srgbClr val="383838"/>
    </cs:fontRef>
    <cs:spPr>
      <a:ln w="9525" cap="flat" cmpd="sng" algn="ctr">
        <a:solidFill>
          <a:srgbClr val="DCDCDC"/>
        </a:solidFill>
        <a:round/>
      </a:ln>
    </cs:spPr>
  </cs:dropLine>
  <cs:errorBar>
    <cs:lnRef idx="0"/>
    <cs:fillRef idx="0"/>
    <cs:effectRef idx="0"/>
    <cs:fontRef idx="minor">
      <a:srgbClr val="383838"/>
    </cs:fontRef>
    <cs:spPr>
      <a:ln w="9525" cap="flat" cmpd="sng" algn="ctr">
        <a:solidFill>
          <a:srgbClr val="383838"/>
        </a:solidFill>
        <a:round/>
      </a:ln>
    </cs:spPr>
  </cs:errorBar>
  <cs:floor>
    <cs:lnRef idx="0"/>
    <cs:fillRef idx="0"/>
    <cs:effectRef idx="0"/>
    <cs:fontRef idx="minor">
      <a:srgbClr val="383838"/>
    </cs:fontRef>
    <cs:spPr>
      <a:noFill/>
      <a:ln>
        <a:noFill/>
      </a:ln>
    </cs:spPr>
  </cs:floor>
  <cs:gridlineMajor>
    <cs:lnRef idx="0"/>
    <cs:fillRef idx="0"/>
    <cs:effectRef idx="0"/>
    <cs:fontRef idx="minor">
      <a:srgbClr val="383838"/>
    </cs:fontRef>
    <cs:spPr>
      <a:ln w="9525" cap="flat" cmpd="sng" algn="ctr">
        <a:solidFill>
          <a:srgbClr val="DCDCDC"/>
        </a:solidFill>
        <a:round/>
      </a:ln>
    </cs:spPr>
  </cs:gridlineMajor>
  <cs:gridlineMinor>
    <cs:lnRef idx="0"/>
    <cs:fillRef idx="0"/>
    <cs:effectRef idx="0"/>
    <cs:fontRef idx="minor">
      <a:srgbClr val="383838"/>
    </cs:fontRef>
    <cs:spPr>
      <a:ln w="9525" cap="flat" cmpd="sng" algn="ctr">
        <a:solidFill>
          <a:srgbClr val="E6E6E6"/>
        </a:solidFill>
        <a:round/>
      </a:ln>
    </cs:spPr>
  </cs:gridlineMinor>
  <cs:hiLoLine>
    <cs:lnRef idx="0"/>
    <cs:fillRef idx="0"/>
    <cs:effectRef idx="0"/>
    <cs:fontRef idx="minor">
      <a:srgbClr val="383838"/>
    </cs:fontRef>
    <cs:spPr>
      <a:ln w="9525" cap="flat" cmpd="sng" algn="ctr">
        <a:solidFill>
          <a:srgbClr val="383838"/>
        </a:solidFill>
        <a:round/>
      </a:ln>
    </cs:spPr>
  </cs:hiLoLine>
  <cs:leaderLine>
    <cs:lnRef idx="0"/>
    <cs:fillRef idx="0"/>
    <cs:effectRef idx="0"/>
    <cs:fontRef idx="minor">
      <a:srgbClr val="383838"/>
    </cs:fontRef>
    <cs:spPr>
      <a:ln w="9525" cap="flat" cmpd="sng" algn="ctr">
        <a:solidFill>
          <a:srgbClr val="DCDCDC"/>
        </a:solidFill>
        <a:round/>
      </a:ln>
    </cs:spPr>
  </cs:leaderLine>
  <cs:legend>
    <cs:lnRef idx="0"/>
    <cs:fillRef idx="0"/>
    <cs:effectRef idx="0"/>
    <cs:fontRef idx="minor">
      <a:srgbClr val="383838"/>
    </cs:fontRef>
    <cs:defRPr sz="1195" kern="1200"/>
  </cs:legend>
  <cs:plotArea mods="allowNoFillOverride allowNoLineOverride">
    <cs:lnRef idx="0"/>
    <cs:fillRef idx="0"/>
    <cs:effectRef idx="0"/>
    <cs:fontRef idx="minor">
      <a:srgbClr val="383838"/>
    </cs:fontRef>
  </cs:plotArea>
  <cs:plotArea3D mods="allowNoFillOverride allowNoLineOverride">
    <cs:lnRef idx="0"/>
    <cs:fillRef idx="0"/>
    <cs:effectRef idx="0"/>
    <cs:fontRef idx="minor">
      <a:srgbClr val="383838"/>
    </cs:fontRef>
  </cs:plotArea3D>
  <cs:seriesAxis>
    <cs:lnRef idx="0"/>
    <cs:fillRef idx="0"/>
    <cs:effectRef idx="0"/>
    <cs:fontRef idx="minor">
      <a:srgbClr val="383838"/>
    </cs:fontRef>
    <cs:defRPr sz="1195" kern="1200"/>
  </cs:seriesAxis>
  <cs:seriesLine>
    <cs:lnRef idx="0"/>
    <cs:fillRef idx="0"/>
    <cs:effectRef idx="0"/>
    <cs:fontRef idx="minor">
      <a:srgbClr val="383838"/>
    </cs:fontRef>
    <cs:spPr>
      <a:ln w="9525" cap="flat" cmpd="sng" algn="ctr">
        <a:solidFill>
          <a:srgbClr val="DCDCDC"/>
        </a:solidFill>
        <a:round/>
      </a:ln>
    </cs:spPr>
  </cs:seriesLine>
  <cs:title>
    <cs:lnRef idx="0"/>
    <cs:fillRef idx="0"/>
    <cs:effectRef idx="0"/>
    <cs:fontRef idx="minor">
      <a:srgbClr val="383838"/>
    </cs:fontRef>
    <cs:defRPr sz="1860" b="0" kern="1200" spc="0" baseline="0"/>
  </cs:title>
  <cs:trendline>
    <cs:lnRef idx="0">
      <cs:styleClr val="auto"/>
    </cs:lnRef>
    <cs:fillRef idx="0"/>
    <cs:effectRef idx="0"/>
    <cs:fontRef idx="minor">
      <a:srgbClr val="383838"/>
    </cs:fontRef>
    <cs:spPr>
      <a:ln w="19050" cap="rnd">
        <a:solidFill>
          <a:schemeClr val="phClr"/>
        </a:solidFill>
        <a:prstDash val="sysDot"/>
      </a:ln>
    </cs:spPr>
  </cs:trendline>
  <cs:trendlineLabel>
    <cs:lnRef idx="0"/>
    <cs:fillRef idx="0"/>
    <cs:effectRef idx="0"/>
    <cs:fontRef idx="minor">
      <a:srgbClr val="383838"/>
    </cs:fontRef>
    <cs:defRPr sz="1195" kern="1200"/>
  </cs:trendlineLabel>
  <cs:upBar>
    <cs:lnRef idx="0"/>
    <cs:fillRef idx="0"/>
    <cs:effectRef idx="0"/>
    <cs:fontRef idx="minor">
      <a:srgbClr val="383838"/>
    </cs:fontRef>
    <cs:spPr>
      <a:solidFill>
        <a:srgbClr val="FFFFFF"/>
      </a:solidFill>
      <a:ln w="9525">
        <a:solidFill>
          <a:srgbClr val="DCDCDC"/>
        </a:solidFill>
      </a:ln>
    </cs:spPr>
  </cs:upBar>
  <cs:valueAxis>
    <cs:lnRef idx="0"/>
    <cs:fillRef idx="0"/>
    <cs:effectRef idx="0"/>
    <cs:fontRef idx="minor">
      <a:srgbClr val="383838"/>
    </cs:fontRef>
    <cs:defRPr sz="1195" kern="1200"/>
  </cs:valueAxis>
  <cs:wall>
    <cs:lnRef idx="0"/>
    <cs:fillRef idx="0"/>
    <cs:effectRef idx="0"/>
    <cs:fontRef idx="minor">
      <a:srgbClr val="383838"/>
    </cs:fontRef>
    <cs:spPr>
      <a:noFill/>
      <a:ln>
        <a:noFill/>
      </a:ln>
    </cs:spPr>
  </cs:wall>
</cs:chartStyle>
</file>

<file path=ppt/charts/style2.xml><?xml version="1.0" encoding="utf-8"?>
<cs:chartStyle xmlns:cs="http://schemas.microsoft.com/office/drawing/2012/chartStyle" xmlns:a="http://schemas.openxmlformats.org/drawingml/2006/main" id="322">
  <cs:axisTitle>
    <cs:lnRef idx="0"/>
    <cs:fillRef idx="0"/>
    <cs:effectRef idx="0"/>
    <cs:fontRef idx="minor">
      <a:srgbClr val="383838"/>
    </cs:fontRef>
    <cs:defRPr sz="1330" kern="1200"/>
  </cs:axisTitle>
  <cs:categoryAxis>
    <cs:lnRef idx="0"/>
    <cs:fillRef idx="0"/>
    <cs:effectRef idx="0"/>
    <cs:fontRef idx="minor">
      <a:srgbClr val="383838"/>
    </cs:fontRef>
    <cs:spPr>
      <a:ln w="9525" cap="flat" cmpd="sng" algn="ctr">
        <a:solidFill>
          <a:srgbClr val="DCDCDC"/>
        </a:solidFill>
        <a:round/>
      </a:ln>
    </cs:spPr>
    <cs:defRPr sz="1195" kern="1200"/>
  </cs:categoryAxis>
  <cs:chartArea mods="allowNoFillOverride allowNoLineOverride">
    <cs:lnRef idx="0"/>
    <cs:fillRef idx="0"/>
    <cs:effectRef idx="0"/>
    <cs:fontRef idx="minor">
      <a:srgbClr val="383838"/>
    </cs:fontRef>
    <cs:spPr>
      <a:solidFill>
        <a:srgbClr val="FFFFFF"/>
      </a:solidFill>
      <a:ln w="9525" cap="flat" cmpd="sng" algn="ctr">
        <a:solidFill>
          <a:srgbClr val="DCDCDC"/>
        </a:solidFill>
        <a:round/>
      </a:ln>
    </cs:spPr>
    <cs:defRPr sz="1330" kern="1200"/>
  </cs:chartArea>
  <cs:dataLabel>
    <cs:lnRef idx="0"/>
    <cs:fillRef idx="0"/>
    <cs:effectRef idx="0"/>
    <cs:fontRef idx="minor">
      <a:srgbClr val="383838"/>
    </cs:fontRef>
    <cs:defRPr sz="1195" kern="1200"/>
  </cs:dataLabel>
  <cs:dataLabelCallout>
    <cs:lnRef idx="0"/>
    <cs:fillRef idx="0"/>
    <cs:effectRef idx="0"/>
    <cs:fontRef idx="minor">
      <a:srgbClr val="383838"/>
    </cs:fontRef>
    <cs:spPr>
      <a:solidFill>
        <a:srgbClr val="FFFFFF"/>
      </a:solidFill>
      <a:ln>
        <a:solidFill>
          <a:srgbClr val="DCDCDC"/>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rgbClr val="383838"/>
    </cs:fontRef>
  </cs:dataPoint>
  <cs:dataPoint3D>
    <cs:lnRef idx="0"/>
    <cs:fillRef idx="1">
      <cs:styleClr val="auto"/>
    </cs:fillRef>
    <cs:effectRef idx="0"/>
    <cs:fontRef idx="minor">
      <a:srgbClr val="383838"/>
    </cs:fontRef>
  </cs:dataPoint3D>
  <cs:dataPointLine>
    <cs:lnRef idx="0">
      <cs:styleClr val="auto"/>
    </cs:lnRef>
    <cs:fillRef idx="1"/>
    <cs:effectRef idx="0"/>
    <cs:fontRef idx="minor">
      <a:srgbClr val="383838"/>
    </cs:fontRef>
    <cs:spPr>
      <a:ln w="28575" cap="rnd">
        <a:solidFill>
          <a:schemeClr val="phClr"/>
        </a:solidFill>
        <a:round/>
      </a:ln>
    </cs:spPr>
  </cs:dataPointLine>
  <cs:dataPointMarker>
    <cs:lnRef idx="0">
      <cs:styleClr val="auto"/>
    </cs:lnRef>
    <cs:fillRef idx="1">
      <cs:styleClr val="auto"/>
    </cs:fillRef>
    <cs:effectRef idx="0"/>
    <cs:fontRef idx="minor">
      <a:srgbClr val="383838"/>
    </cs:fontRef>
    <cs:spPr>
      <a:ln w="9525">
        <a:solidFill>
          <a:schemeClr val="phClr"/>
        </a:solidFill>
      </a:ln>
    </cs:spPr>
  </cs:dataPointMarker>
  <cs:dataPointMarkerLayout symbol="circle" size="5"/>
  <cs:dataPointWireframe>
    <cs:lnRef idx="0">
      <cs:styleClr val="auto"/>
    </cs:lnRef>
    <cs:fillRef idx="1"/>
    <cs:effectRef idx="0"/>
    <cs:fontRef idx="minor">
      <a:srgbClr val="383838"/>
    </cs:fontRef>
    <cs:spPr>
      <a:ln w="9525" cap="rnd">
        <a:solidFill>
          <a:schemeClr val="phClr"/>
        </a:solidFill>
        <a:round/>
      </a:ln>
    </cs:spPr>
  </cs:dataPointWireframe>
  <cs:dataTable>
    <cs:lnRef idx="0"/>
    <cs:fillRef idx="0"/>
    <cs:effectRef idx="0"/>
    <cs:fontRef idx="minor">
      <a:srgbClr val="383838"/>
    </cs:fontRef>
    <cs:spPr>
      <a:noFill/>
      <a:ln w="9525" cap="flat" cmpd="sng" algn="ctr">
        <a:solidFill>
          <a:srgbClr val="DCDCDC"/>
        </a:solidFill>
        <a:round/>
      </a:ln>
    </cs:spPr>
    <cs:defRPr sz="1195" kern="1200"/>
  </cs:dataTable>
  <cs:downBar>
    <cs:lnRef idx="0"/>
    <cs:fillRef idx="0"/>
    <cs:effectRef idx="0"/>
    <cs:fontRef idx="minor">
      <a:srgbClr val="383838"/>
    </cs:fontRef>
    <cs:spPr>
      <a:solidFill>
        <a:srgbClr val="383838"/>
      </a:solidFill>
      <a:ln w="9525" cap="flat" cmpd="sng" algn="ctr">
        <a:solidFill>
          <a:srgbClr val="383838"/>
        </a:solidFill>
        <a:round/>
      </a:ln>
    </cs:spPr>
  </cs:downBar>
  <cs:dropLine>
    <cs:lnRef idx="0"/>
    <cs:fillRef idx="0"/>
    <cs:effectRef idx="0"/>
    <cs:fontRef idx="minor">
      <a:srgbClr val="383838"/>
    </cs:fontRef>
    <cs:spPr>
      <a:ln w="9525" cap="flat" cmpd="sng" algn="ctr">
        <a:solidFill>
          <a:srgbClr val="DCDCDC"/>
        </a:solidFill>
        <a:round/>
      </a:ln>
    </cs:spPr>
  </cs:dropLine>
  <cs:errorBar>
    <cs:lnRef idx="0"/>
    <cs:fillRef idx="0"/>
    <cs:effectRef idx="0"/>
    <cs:fontRef idx="minor">
      <a:srgbClr val="383838"/>
    </cs:fontRef>
    <cs:spPr>
      <a:ln w="9525" cap="flat" cmpd="sng" algn="ctr">
        <a:solidFill>
          <a:srgbClr val="383838"/>
        </a:solidFill>
        <a:round/>
      </a:ln>
    </cs:spPr>
  </cs:errorBar>
  <cs:floor>
    <cs:lnRef idx="0"/>
    <cs:fillRef idx="0"/>
    <cs:effectRef idx="0"/>
    <cs:fontRef idx="minor">
      <a:srgbClr val="383838"/>
    </cs:fontRef>
    <cs:spPr>
      <a:noFill/>
      <a:ln>
        <a:noFill/>
      </a:ln>
    </cs:spPr>
  </cs:floor>
  <cs:gridlineMajor>
    <cs:lnRef idx="0"/>
    <cs:fillRef idx="0"/>
    <cs:effectRef idx="0"/>
    <cs:fontRef idx="minor">
      <a:srgbClr val="383838"/>
    </cs:fontRef>
    <cs:spPr>
      <a:ln w="9525" cap="flat" cmpd="sng" algn="ctr">
        <a:solidFill>
          <a:srgbClr val="DCDCDC"/>
        </a:solidFill>
        <a:round/>
      </a:ln>
    </cs:spPr>
  </cs:gridlineMajor>
  <cs:gridlineMinor>
    <cs:lnRef idx="0"/>
    <cs:fillRef idx="0"/>
    <cs:effectRef idx="0"/>
    <cs:fontRef idx="minor">
      <a:srgbClr val="383838"/>
    </cs:fontRef>
    <cs:spPr>
      <a:ln w="9525" cap="flat" cmpd="sng" algn="ctr">
        <a:solidFill>
          <a:srgbClr val="E6E6E6"/>
        </a:solidFill>
        <a:round/>
      </a:ln>
    </cs:spPr>
  </cs:gridlineMinor>
  <cs:hiLoLine>
    <cs:lnRef idx="0"/>
    <cs:fillRef idx="0"/>
    <cs:effectRef idx="0"/>
    <cs:fontRef idx="minor">
      <a:srgbClr val="383838"/>
    </cs:fontRef>
    <cs:spPr>
      <a:ln w="9525" cap="flat" cmpd="sng" algn="ctr">
        <a:solidFill>
          <a:srgbClr val="383838"/>
        </a:solidFill>
        <a:round/>
      </a:ln>
    </cs:spPr>
  </cs:hiLoLine>
  <cs:leaderLine>
    <cs:lnRef idx="0"/>
    <cs:fillRef idx="0"/>
    <cs:effectRef idx="0"/>
    <cs:fontRef idx="minor">
      <a:srgbClr val="383838"/>
    </cs:fontRef>
    <cs:spPr>
      <a:ln w="9525" cap="flat" cmpd="sng" algn="ctr">
        <a:solidFill>
          <a:srgbClr val="DCDCDC"/>
        </a:solidFill>
        <a:round/>
      </a:ln>
    </cs:spPr>
  </cs:leaderLine>
  <cs:legend>
    <cs:lnRef idx="0"/>
    <cs:fillRef idx="0"/>
    <cs:effectRef idx="0"/>
    <cs:fontRef idx="minor">
      <a:srgbClr val="383838"/>
    </cs:fontRef>
    <cs:defRPr sz="1195" kern="1200"/>
  </cs:legend>
  <cs:plotArea mods="allowNoFillOverride allowNoLineOverride">
    <cs:lnRef idx="0"/>
    <cs:fillRef idx="0"/>
    <cs:effectRef idx="0"/>
    <cs:fontRef idx="minor">
      <a:srgbClr val="383838"/>
    </cs:fontRef>
  </cs:plotArea>
  <cs:plotArea3D mods="allowNoFillOverride allowNoLineOverride">
    <cs:lnRef idx="0"/>
    <cs:fillRef idx="0"/>
    <cs:effectRef idx="0"/>
    <cs:fontRef idx="minor">
      <a:srgbClr val="383838"/>
    </cs:fontRef>
  </cs:plotArea3D>
  <cs:seriesAxis>
    <cs:lnRef idx="0"/>
    <cs:fillRef idx="0"/>
    <cs:effectRef idx="0"/>
    <cs:fontRef idx="minor">
      <a:srgbClr val="383838"/>
    </cs:fontRef>
    <cs:spPr>
      <a:ln w="9525" cap="flat" cmpd="sng" algn="ctr">
        <a:solidFill>
          <a:srgbClr val="DCDCDC"/>
        </a:solidFill>
        <a:round/>
      </a:ln>
    </cs:spPr>
    <cs:defRPr sz="1195" kern="1200"/>
  </cs:seriesAxis>
  <cs:seriesLine>
    <cs:lnRef idx="0"/>
    <cs:fillRef idx="0"/>
    <cs:effectRef idx="0"/>
    <cs:fontRef idx="minor">
      <a:srgbClr val="383838"/>
    </cs:fontRef>
    <cs:spPr>
      <a:ln w="9525" cap="flat" cmpd="sng" algn="ctr">
        <a:solidFill>
          <a:srgbClr val="DCDCDC"/>
        </a:solidFill>
        <a:round/>
      </a:ln>
    </cs:spPr>
  </cs:seriesLine>
  <cs:title>
    <cs:lnRef idx="0"/>
    <cs:fillRef idx="0"/>
    <cs:effectRef idx="0"/>
    <cs:fontRef idx="minor">
      <a:srgbClr val="383838"/>
    </cs:fontRef>
    <cs:defRPr sz="1860" b="0" kern="1200" spc="0" baseline="0"/>
  </cs:title>
  <cs:trendline>
    <cs:lnRef idx="0">
      <cs:styleClr val="auto"/>
    </cs:lnRef>
    <cs:fillRef idx="0"/>
    <cs:effectRef idx="0"/>
    <cs:fontRef idx="minor">
      <a:srgbClr val="383838"/>
    </cs:fontRef>
    <cs:spPr>
      <a:ln w="19050" cap="rnd">
        <a:solidFill>
          <a:schemeClr val="phClr"/>
        </a:solidFill>
        <a:prstDash val="sysDot"/>
      </a:ln>
    </cs:spPr>
  </cs:trendline>
  <cs:trendlineLabel>
    <cs:lnRef idx="0"/>
    <cs:fillRef idx="0"/>
    <cs:effectRef idx="0"/>
    <cs:fontRef idx="minor">
      <a:srgbClr val="383838"/>
    </cs:fontRef>
    <cs:defRPr sz="1195" kern="1200"/>
  </cs:trendlineLabel>
  <cs:upBar>
    <cs:lnRef idx="0"/>
    <cs:fillRef idx="0"/>
    <cs:effectRef idx="0"/>
    <cs:fontRef idx="minor">
      <a:srgbClr val="383838"/>
    </cs:fontRef>
    <cs:spPr>
      <a:solidFill>
        <a:srgbClr val="FFFFFF"/>
      </a:solidFill>
      <a:ln w="9525" cap="flat" cmpd="sng" algn="ctr">
        <a:solidFill>
          <a:srgbClr val="383838"/>
        </a:solidFill>
        <a:round/>
      </a:ln>
    </cs:spPr>
  </cs:upBar>
  <cs:valueAxis>
    <cs:lnRef idx="0"/>
    <cs:fillRef idx="0"/>
    <cs:effectRef idx="0"/>
    <cs:fontRef idx="minor">
      <a:srgbClr val="383838"/>
    </cs:fontRef>
    <cs:defRPr sz="1195" kern="1200"/>
  </cs:valueAxis>
  <cs:wall>
    <cs:lnRef idx="0"/>
    <cs:fillRef idx="0"/>
    <cs:effectRef idx="0"/>
    <cs:fontRef idx="minor">
      <a:srgbClr val="383838"/>
    </cs:fontRef>
    <cs:spPr>
      <a:noFill/>
      <a:ln>
        <a:noFill/>
      </a:ln>
    </cs:spPr>
  </cs:wall>
</cs:chartStyle>
</file>

<file path=ppt/charts/style3.xml><?xml version="1.0" encoding="utf-8"?>
<cs:chartStyle xmlns:cs="http://schemas.microsoft.com/office/drawing/2012/chartStyle" xmlns:a="http://schemas.openxmlformats.org/drawingml/2006/main" id="276">
  <cs:axisTitle>
    <cs:lnRef idx="0"/>
    <cs:fillRef idx="0"/>
    <cs:effectRef idx="0"/>
    <cs:fontRef idx="minor">
      <a:srgbClr val="383838"/>
    </cs:fontRef>
    <cs:defRPr sz="1330" kern="1200"/>
  </cs:axisTitle>
  <cs:categoryAxis>
    <cs:lnRef idx="0"/>
    <cs:fillRef idx="0"/>
    <cs:effectRef idx="0"/>
    <cs:fontRef idx="minor">
      <a:srgbClr val="383838"/>
    </cs:fontRef>
    <cs:spPr>
      <a:ln w="9525" cap="flat" cmpd="sng" algn="ctr">
        <a:solidFill>
          <a:srgbClr val="DCDCDC"/>
        </a:solidFill>
        <a:round/>
      </a:ln>
    </cs:spPr>
    <cs:defRPr sz="1195" kern="1200"/>
  </cs:categoryAxis>
  <cs:chartArea mods="allowNoFillOverride allowNoLineOverride">
    <cs:lnRef idx="0"/>
    <cs:fillRef idx="0"/>
    <cs:effectRef idx="0"/>
    <cs:fontRef idx="minor">
      <a:srgbClr val="383838"/>
    </cs:fontRef>
    <cs:spPr>
      <a:solidFill>
        <a:srgbClr val="FFFFFF"/>
      </a:solidFill>
      <a:ln w="9525" cap="flat" cmpd="sng" algn="ctr">
        <a:solidFill>
          <a:srgbClr val="DCDCDC"/>
        </a:solidFill>
        <a:round/>
      </a:ln>
    </cs:spPr>
    <cs:defRPr sz="1330" kern="1200"/>
  </cs:chartArea>
  <cs:dataLabel>
    <cs:lnRef idx="0"/>
    <cs:fillRef idx="0"/>
    <cs:effectRef idx="0"/>
    <cs:fontRef idx="minor">
      <a:srgbClr val="383838"/>
    </cs:fontRef>
    <cs:defRPr sz="1195" kern="1200"/>
  </cs:dataLabel>
  <cs:dataLabelCallout>
    <cs:lnRef idx="0"/>
    <cs:fillRef idx="0"/>
    <cs:effectRef idx="0"/>
    <cs:fontRef idx="minor">
      <a:srgbClr val="383838"/>
    </cs:fontRef>
    <cs:spPr>
      <a:solidFill>
        <a:srgbClr val="FFFFFF"/>
      </a:solidFill>
      <a:ln>
        <a:solidFill>
          <a:srgbClr val="DCDCDC"/>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rgbClr val="383838"/>
    </cs:fontRef>
  </cs:dataPoint>
  <cs:dataPoint3D>
    <cs:lnRef idx="0"/>
    <cs:fillRef idx="1">
      <cs:styleClr val="auto"/>
    </cs:fillRef>
    <cs:effectRef idx="0"/>
    <cs:fontRef idx="minor">
      <a:srgbClr val="383838"/>
    </cs:fontRef>
  </cs:dataPoint3D>
  <cs:dataPointLine>
    <cs:lnRef idx="0">
      <cs:styleClr val="auto"/>
    </cs:lnRef>
    <cs:fillRef idx="1"/>
    <cs:effectRef idx="0"/>
    <cs:fontRef idx="minor">
      <a:srgbClr val="383838"/>
    </cs:fontRef>
    <cs:spPr>
      <a:ln w="28575" cap="rnd">
        <a:solidFill>
          <a:schemeClr val="phClr"/>
        </a:solidFill>
        <a:round/>
      </a:ln>
    </cs:spPr>
  </cs:dataPointLine>
  <cs:dataPointMarker>
    <cs:lnRef idx="0">
      <cs:styleClr val="auto"/>
    </cs:lnRef>
    <cs:fillRef idx="1">
      <cs:styleClr val="auto"/>
    </cs:fillRef>
    <cs:effectRef idx="0"/>
    <cs:fontRef idx="minor">
      <a:srgbClr val="383838"/>
    </cs:fontRef>
    <cs:spPr>
      <a:ln w="9525">
        <a:solidFill>
          <a:schemeClr val="phClr"/>
        </a:solidFill>
      </a:ln>
    </cs:spPr>
  </cs:dataPointMarker>
  <cs:dataPointMarkerLayout symbol="circle" size="5"/>
  <cs:dataPointWireframe>
    <cs:lnRef idx="0">
      <cs:styleClr val="auto"/>
    </cs:lnRef>
    <cs:fillRef idx="1"/>
    <cs:effectRef idx="0"/>
    <cs:fontRef idx="minor">
      <a:srgbClr val="383838"/>
    </cs:fontRef>
    <cs:spPr>
      <a:ln w="9525" cap="rnd">
        <a:solidFill>
          <a:schemeClr val="phClr"/>
        </a:solidFill>
        <a:round/>
      </a:ln>
    </cs:spPr>
  </cs:dataPointWireframe>
  <cs:dataTable>
    <cs:lnRef idx="0"/>
    <cs:fillRef idx="0"/>
    <cs:effectRef idx="0"/>
    <cs:fontRef idx="minor">
      <a:srgbClr val="383838"/>
    </cs:fontRef>
    <cs:spPr>
      <a:noFill/>
      <a:ln w="9525" cap="flat" cmpd="sng" algn="ctr">
        <a:solidFill>
          <a:srgbClr val="DCDCDC"/>
        </a:solidFill>
        <a:round/>
      </a:ln>
    </cs:spPr>
    <cs:defRPr sz="1195" kern="1200"/>
  </cs:dataTable>
  <cs:downBar>
    <cs:lnRef idx="0"/>
    <cs:fillRef idx="0"/>
    <cs:effectRef idx="0"/>
    <cs:fontRef idx="minor">
      <a:srgbClr val="383838"/>
    </cs:fontRef>
    <cs:spPr>
      <a:solidFill>
        <a:srgbClr val="383838"/>
      </a:solidFill>
      <a:ln w="9525" cap="flat" cmpd="sng" algn="ctr">
        <a:solidFill>
          <a:srgbClr val="383838"/>
        </a:solidFill>
        <a:round/>
      </a:ln>
    </cs:spPr>
  </cs:downBar>
  <cs:dropLine>
    <cs:lnRef idx="0"/>
    <cs:fillRef idx="0"/>
    <cs:effectRef idx="0"/>
    <cs:fontRef idx="minor">
      <a:srgbClr val="383838"/>
    </cs:fontRef>
    <cs:spPr>
      <a:ln w="9525" cap="flat" cmpd="sng" algn="ctr">
        <a:solidFill>
          <a:srgbClr val="DCDCDC"/>
        </a:solidFill>
        <a:round/>
      </a:ln>
    </cs:spPr>
  </cs:dropLine>
  <cs:errorBar>
    <cs:lnRef idx="0"/>
    <cs:fillRef idx="0"/>
    <cs:effectRef idx="0"/>
    <cs:fontRef idx="minor">
      <a:srgbClr val="383838"/>
    </cs:fontRef>
    <cs:spPr>
      <a:ln w="9525" cap="flat" cmpd="sng" algn="ctr">
        <a:solidFill>
          <a:srgbClr val="383838"/>
        </a:solidFill>
        <a:round/>
      </a:ln>
    </cs:spPr>
  </cs:errorBar>
  <cs:floor>
    <cs:lnRef idx="0"/>
    <cs:fillRef idx="0"/>
    <cs:effectRef idx="0"/>
    <cs:fontRef idx="minor">
      <a:srgbClr val="383838"/>
    </cs:fontRef>
    <cs:spPr>
      <a:ln w="9525" cap="flat" cmpd="sng" algn="ctr">
        <a:solidFill>
          <a:srgbClr val="DCDCDC"/>
        </a:solidFill>
        <a:round/>
      </a:ln>
    </cs:spPr>
  </cs:floor>
  <cs:gridlineMajor>
    <cs:lnRef idx="0"/>
    <cs:fillRef idx="0"/>
    <cs:effectRef idx="0"/>
    <cs:fontRef idx="minor">
      <a:srgbClr val="383838"/>
    </cs:fontRef>
    <cs:spPr>
      <a:ln w="9525" cap="flat" cmpd="sng" algn="ctr">
        <a:solidFill>
          <a:srgbClr val="DCDCDC"/>
        </a:solidFill>
        <a:round/>
      </a:ln>
    </cs:spPr>
  </cs:gridlineMajor>
  <cs:gridlineMinor>
    <cs:lnRef idx="0"/>
    <cs:fillRef idx="0"/>
    <cs:effectRef idx="0"/>
    <cs:fontRef idx="minor">
      <a:srgbClr val="383838"/>
    </cs:fontRef>
    <cs:spPr>
      <a:ln w="9525" cap="flat" cmpd="sng" algn="ctr">
        <a:solidFill>
          <a:srgbClr val="E6E6E6"/>
        </a:solidFill>
        <a:round/>
      </a:ln>
    </cs:spPr>
  </cs:gridlineMinor>
  <cs:hiLoLine>
    <cs:lnRef idx="0"/>
    <cs:fillRef idx="0"/>
    <cs:effectRef idx="0"/>
    <cs:fontRef idx="minor">
      <a:srgbClr val="383838"/>
    </cs:fontRef>
    <cs:spPr>
      <a:ln w="9525" cap="flat" cmpd="sng" algn="ctr">
        <a:solidFill>
          <a:srgbClr val="DCDCDC"/>
        </a:solidFill>
        <a:round/>
      </a:ln>
    </cs:spPr>
  </cs:hiLoLine>
  <cs:leaderLine>
    <cs:lnRef idx="0"/>
    <cs:fillRef idx="0"/>
    <cs:effectRef idx="0"/>
    <cs:fontRef idx="minor">
      <a:srgbClr val="383838"/>
    </cs:fontRef>
    <cs:spPr>
      <a:ln w="9525" cap="flat" cmpd="sng" algn="ctr">
        <a:solidFill>
          <a:srgbClr val="DCDCDC"/>
        </a:solidFill>
        <a:round/>
      </a:ln>
    </cs:spPr>
  </cs:leaderLine>
  <cs:legend>
    <cs:lnRef idx="0"/>
    <cs:fillRef idx="0"/>
    <cs:effectRef idx="0"/>
    <cs:fontRef idx="minor">
      <a:srgbClr val="383838"/>
    </cs:fontRef>
    <cs:defRPr sz="1195" kern="1200"/>
  </cs:legend>
  <cs:plotArea mods="allowNoFillOverride allowNoLineOverride">
    <cs:lnRef idx="0"/>
    <cs:fillRef idx="0"/>
    <cs:effectRef idx="0"/>
    <cs:fontRef idx="minor">
      <a:srgbClr val="383838"/>
    </cs:fontRef>
  </cs:plotArea>
  <cs:plotArea3D mods="allowNoFillOverride allowNoLineOverride">
    <cs:lnRef idx="0"/>
    <cs:fillRef idx="0"/>
    <cs:effectRef idx="0"/>
    <cs:fontRef idx="minor">
      <a:srgbClr val="383838"/>
    </cs:fontRef>
  </cs:plotArea3D>
  <cs:seriesAxis>
    <cs:lnRef idx="0"/>
    <cs:fillRef idx="0"/>
    <cs:effectRef idx="0"/>
    <cs:fontRef idx="minor">
      <a:srgbClr val="383838"/>
    </cs:fontRef>
    <cs:spPr>
      <a:ln w="9525" cap="flat" cmpd="sng" algn="ctr">
        <a:solidFill>
          <a:srgbClr val="DCDCDC"/>
        </a:solidFill>
        <a:round/>
      </a:ln>
    </cs:spPr>
    <cs:defRPr sz="1195" kern="1200"/>
  </cs:seriesAxis>
  <cs:seriesLine>
    <cs:lnRef idx="0"/>
    <cs:fillRef idx="0"/>
    <cs:effectRef idx="0"/>
    <cs:fontRef idx="minor">
      <a:srgbClr val="383838"/>
    </cs:fontRef>
    <cs:spPr>
      <a:ln w="9525" cap="flat" cmpd="sng" algn="ctr">
        <a:solidFill>
          <a:srgbClr val="DCDCDC"/>
        </a:solidFill>
        <a:round/>
      </a:ln>
    </cs:spPr>
  </cs:seriesLine>
  <cs:title>
    <cs:lnRef idx="0"/>
    <cs:fillRef idx="0"/>
    <cs:effectRef idx="0"/>
    <cs:fontRef idx="minor">
      <a:srgbClr val="383838"/>
    </cs:fontRef>
    <cs:defRPr sz="1860" b="0" kern="1200" spc="0" baseline="0"/>
  </cs:title>
  <cs:trendline>
    <cs:lnRef idx="0">
      <cs:styleClr val="auto"/>
    </cs:lnRef>
    <cs:fillRef idx="0"/>
    <cs:effectRef idx="0"/>
    <cs:fontRef idx="minor">
      <a:srgbClr val="383838"/>
    </cs:fontRef>
    <cs:spPr>
      <a:ln w="19050" cap="rnd">
        <a:solidFill>
          <a:schemeClr val="phClr"/>
        </a:solidFill>
        <a:prstDash val="sysDot"/>
      </a:ln>
    </cs:spPr>
  </cs:trendline>
  <cs:trendlineLabel>
    <cs:lnRef idx="0"/>
    <cs:fillRef idx="0"/>
    <cs:effectRef idx="0"/>
    <cs:fontRef idx="minor">
      <a:srgbClr val="383838"/>
    </cs:fontRef>
    <cs:defRPr sz="1195" kern="1200"/>
  </cs:trendlineLabel>
  <cs:upBar>
    <cs:lnRef idx="0"/>
    <cs:fillRef idx="0"/>
    <cs:effectRef idx="0"/>
    <cs:fontRef idx="minor">
      <a:srgbClr val="383838"/>
    </cs:fontRef>
    <cs:spPr>
      <a:solidFill>
        <a:srgbClr val="FFFFFF"/>
      </a:solidFill>
      <a:ln w="9525" cap="flat" cmpd="sng" algn="ctr">
        <a:solidFill>
          <a:srgbClr val="383838"/>
        </a:solidFill>
        <a:round/>
      </a:ln>
    </cs:spPr>
  </cs:upBar>
  <cs:valueAxis>
    <cs:lnRef idx="0"/>
    <cs:fillRef idx="0"/>
    <cs:effectRef idx="0"/>
    <cs:fontRef idx="minor">
      <a:srgbClr val="383838"/>
    </cs:fontRef>
    <cs:defRPr sz="1195" kern="1200"/>
  </cs:valueAxis>
  <cs:wall>
    <cs:lnRef idx="0"/>
    <cs:fillRef idx="0"/>
    <cs:effectRef idx="0"/>
    <cs:fontRef idx="minor">
      <a:srgbClr val="383838"/>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rgbClr val="383838"/>
    </cs:fontRef>
    <cs:defRPr sz="1330" kern="1200"/>
  </cs:axisTitle>
  <cs:categoryAxis>
    <cs:lnRef idx="0"/>
    <cs:fillRef idx="0"/>
    <cs:effectRef idx="0"/>
    <cs:fontRef idx="minor">
      <a:srgbClr val="383838"/>
    </cs:fontRef>
    <cs:spPr>
      <a:ln w="9525" cap="flat" cmpd="sng" algn="ctr">
        <a:solidFill>
          <a:srgbClr val="DCDCDC"/>
        </a:solidFill>
        <a:round/>
      </a:ln>
    </cs:spPr>
    <cs:defRPr sz="1195" kern="1200"/>
  </cs:categoryAxis>
  <cs:chartArea mods="allowNoFillOverride allowNoLineOverride">
    <cs:lnRef idx="0"/>
    <cs:fillRef idx="0"/>
    <cs:effectRef idx="0"/>
    <cs:fontRef idx="minor">
      <a:srgbClr val="383838"/>
    </cs:fontRef>
    <cs:spPr>
      <a:solidFill>
        <a:srgbClr val="FFFFFF"/>
      </a:solidFill>
      <a:ln w="9525" cap="flat" cmpd="sng" algn="ctr">
        <a:solidFill>
          <a:srgbClr val="DCDCDC"/>
        </a:solidFill>
        <a:round/>
      </a:ln>
    </cs:spPr>
    <cs:defRPr sz="1195" kern="1200"/>
  </cs:chartArea>
  <cs:dataLabel>
    <cs:lnRef idx="0"/>
    <cs:fillRef idx="0"/>
    <cs:effectRef idx="0"/>
    <cs:fontRef idx="minor">
      <a:srgbClr val="383838"/>
    </cs:fontRef>
    <cs:defRPr sz="1195" kern="1200"/>
  </cs:dataLabel>
  <cs:dataLabelCallout>
    <cs:lnRef idx="0"/>
    <cs:fillRef idx="0"/>
    <cs:effectRef idx="0"/>
    <cs:fontRef idx="minor">
      <a:srgbClr val="383838"/>
    </cs:fontRef>
    <cs:spPr>
      <a:solidFill>
        <a:srgbClr val="FFFFFF"/>
      </a:solidFill>
      <a:ln>
        <a:solidFill>
          <a:srgbClr val="DCDCDC"/>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rgbClr val="383838"/>
    </cs:fontRef>
    <cs:spPr>
      <a:ln w="19050">
        <a:solidFill>
          <a:srgbClr val="FFFFFF"/>
        </a:solidFill>
      </a:ln>
    </cs:spPr>
  </cs:dataPoint>
  <cs:dataPoint3D>
    <cs:lnRef idx="0"/>
    <cs:fillRef idx="1">
      <cs:styleClr val="auto"/>
    </cs:fillRef>
    <cs:effectRef idx="0"/>
    <cs:fontRef idx="minor">
      <a:srgbClr val="383838"/>
    </cs:fontRef>
    <cs:spPr>
      <a:ln w="25400">
        <a:solidFill>
          <a:srgbClr val="FFFFFF"/>
        </a:solidFill>
      </a:ln>
    </cs:spPr>
  </cs:dataPoint3D>
  <cs:dataPointLine>
    <cs:lnRef idx="0">
      <cs:styleClr val="auto"/>
    </cs:lnRef>
    <cs:fillRef idx="0"/>
    <cs:effectRef idx="0"/>
    <cs:fontRef idx="minor">
      <a:srgbClr val="383838"/>
    </cs:fontRef>
    <cs:spPr>
      <a:ln w="28575" cap="rnd">
        <a:solidFill>
          <a:schemeClr val="phClr"/>
        </a:solidFill>
        <a:round/>
      </a:ln>
    </cs:spPr>
  </cs:dataPointLine>
  <cs:dataPointMarker>
    <cs:lnRef idx="0">
      <cs:styleClr val="auto"/>
    </cs:lnRef>
    <cs:fillRef idx="1">
      <cs:styleClr val="auto"/>
    </cs:fillRef>
    <cs:effectRef idx="0"/>
    <cs:fontRef idx="minor">
      <a:srgbClr val="383838"/>
    </cs:fontRef>
    <cs:spPr>
      <a:ln w="9525">
        <a:solidFill>
          <a:schemeClr val="phClr"/>
        </a:solidFill>
      </a:ln>
    </cs:spPr>
  </cs:dataPointMarker>
  <cs:dataPointMarkerLayout symbol="circle" size="5"/>
  <cs:dataPointWireframe>
    <cs:lnRef idx="0">
      <cs:styleClr val="auto"/>
    </cs:lnRef>
    <cs:fillRef idx="0"/>
    <cs:effectRef idx="0"/>
    <cs:fontRef idx="minor">
      <a:srgbClr val="383838"/>
    </cs:fontRef>
    <cs:spPr>
      <a:ln w="9525" cap="rnd">
        <a:solidFill>
          <a:schemeClr val="phClr"/>
        </a:solidFill>
        <a:round/>
      </a:ln>
    </cs:spPr>
  </cs:dataPointWireframe>
  <cs:dataTable>
    <cs:lnRef idx="0"/>
    <cs:fillRef idx="0"/>
    <cs:effectRef idx="0"/>
    <cs:fontRef idx="minor">
      <a:srgbClr val="383838"/>
    </cs:fontRef>
    <cs:spPr>
      <a:noFill/>
      <a:ln w="9525" cap="flat" cmpd="sng" algn="ctr">
        <a:solidFill>
          <a:srgbClr val="DCDCDC"/>
        </a:solidFill>
        <a:round/>
      </a:ln>
    </cs:spPr>
    <cs:defRPr sz="1195" kern="1200"/>
  </cs:dataTable>
  <cs:downBar>
    <cs:lnRef idx="0"/>
    <cs:fillRef idx="0"/>
    <cs:effectRef idx="0"/>
    <cs:fontRef idx="minor">
      <a:srgbClr val="383838"/>
    </cs:fontRef>
    <cs:spPr>
      <a:solidFill>
        <a:srgbClr val="383838"/>
      </a:solidFill>
      <a:ln w="9525" cap="flat" cmpd="sng" algn="ctr">
        <a:solidFill>
          <a:srgbClr val="383838"/>
        </a:solidFill>
        <a:round/>
      </a:ln>
    </cs:spPr>
  </cs:downBar>
  <cs:dropLine>
    <cs:lnRef idx="0"/>
    <cs:fillRef idx="0"/>
    <cs:effectRef idx="0"/>
    <cs:fontRef idx="minor">
      <a:srgbClr val="383838"/>
    </cs:fontRef>
    <cs:spPr>
      <a:ln w="9525" cap="flat" cmpd="sng" algn="ctr">
        <a:solidFill>
          <a:srgbClr val="DCDCDC"/>
        </a:solidFill>
        <a:round/>
      </a:ln>
    </cs:spPr>
  </cs:dropLine>
  <cs:errorBar>
    <cs:lnRef idx="0"/>
    <cs:fillRef idx="0"/>
    <cs:effectRef idx="0"/>
    <cs:fontRef idx="minor">
      <a:srgbClr val="383838"/>
    </cs:fontRef>
    <cs:spPr>
      <a:ln w="9525" cap="flat" cmpd="sng" algn="ctr">
        <a:solidFill>
          <a:srgbClr val="383838"/>
        </a:solidFill>
        <a:round/>
      </a:ln>
    </cs:spPr>
  </cs:errorBar>
  <cs:floor>
    <cs:lnRef idx="0"/>
    <cs:fillRef idx="0"/>
    <cs:effectRef idx="0"/>
    <cs:fontRef idx="minor">
      <a:srgbClr val="383838"/>
    </cs:fontRef>
    <cs:spPr>
      <a:noFill/>
      <a:ln>
        <a:noFill/>
      </a:ln>
    </cs:spPr>
  </cs:floor>
  <cs:gridlineMajor>
    <cs:lnRef idx="0"/>
    <cs:fillRef idx="0"/>
    <cs:effectRef idx="0"/>
    <cs:fontRef idx="minor">
      <a:srgbClr val="383838"/>
    </cs:fontRef>
    <cs:spPr>
      <a:ln w="9525" cap="flat" cmpd="sng" algn="ctr">
        <a:solidFill>
          <a:srgbClr val="DCDCDC"/>
        </a:solidFill>
        <a:round/>
      </a:ln>
    </cs:spPr>
  </cs:gridlineMajor>
  <cs:gridlineMinor>
    <cs:lnRef idx="0"/>
    <cs:fillRef idx="0"/>
    <cs:effectRef idx="0"/>
    <cs:fontRef idx="minor">
      <a:srgbClr val="383838"/>
    </cs:fontRef>
    <cs:spPr>
      <a:ln w="9525" cap="flat" cmpd="sng" algn="ctr">
        <a:solidFill>
          <a:srgbClr val="E6E6E6"/>
        </a:solidFill>
        <a:round/>
      </a:ln>
    </cs:spPr>
  </cs:gridlineMinor>
  <cs:hiLoLine>
    <cs:lnRef idx="0"/>
    <cs:fillRef idx="0"/>
    <cs:effectRef idx="0"/>
    <cs:fontRef idx="minor">
      <a:srgbClr val="383838"/>
    </cs:fontRef>
    <cs:spPr>
      <a:ln w="9525" cap="flat" cmpd="sng" algn="ctr">
        <a:solidFill>
          <a:srgbClr val="DCDCDC"/>
        </a:solidFill>
        <a:round/>
      </a:ln>
    </cs:spPr>
  </cs:hiLoLine>
  <cs:leaderLine>
    <cs:lnRef idx="0"/>
    <cs:fillRef idx="0"/>
    <cs:effectRef idx="0"/>
    <cs:fontRef idx="minor">
      <a:srgbClr val="383838"/>
    </cs:fontRef>
    <cs:spPr>
      <a:ln w="9525" cap="flat" cmpd="sng" algn="ctr">
        <a:solidFill>
          <a:srgbClr val="DCDCDC"/>
        </a:solidFill>
        <a:round/>
      </a:ln>
    </cs:spPr>
  </cs:leaderLine>
  <cs:legend>
    <cs:lnRef idx="0"/>
    <cs:fillRef idx="0"/>
    <cs:effectRef idx="0"/>
    <cs:fontRef idx="minor">
      <a:srgbClr val="383838"/>
    </cs:fontRef>
    <cs:defRPr sz="1195" kern="1200"/>
  </cs:legend>
  <cs:plotArea mods="allowNoFillOverride allowNoLineOverride">
    <cs:lnRef idx="0"/>
    <cs:fillRef idx="0"/>
    <cs:effectRef idx="0"/>
    <cs:fontRef idx="minor">
      <a:srgbClr val="383838"/>
    </cs:fontRef>
  </cs:plotArea>
  <cs:plotArea3D mods="allowNoFillOverride allowNoLineOverride">
    <cs:lnRef idx="0"/>
    <cs:fillRef idx="0"/>
    <cs:effectRef idx="0"/>
    <cs:fontRef idx="minor">
      <a:srgbClr val="383838"/>
    </cs:fontRef>
  </cs:plotArea3D>
  <cs:seriesAxis>
    <cs:lnRef idx="0"/>
    <cs:fillRef idx="0"/>
    <cs:effectRef idx="0"/>
    <cs:fontRef idx="minor">
      <a:srgbClr val="383838"/>
    </cs:fontRef>
    <cs:defRPr sz="1195" kern="1200"/>
  </cs:seriesAxis>
  <cs:seriesLine>
    <cs:lnRef idx="0"/>
    <cs:fillRef idx="0"/>
    <cs:effectRef idx="0"/>
    <cs:fontRef idx="minor">
      <a:srgbClr val="383838"/>
    </cs:fontRef>
    <cs:spPr>
      <a:ln w="9525" cap="flat" cmpd="sng" algn="ctr">
        <a:solidFill>
          <a:srgbClr val="DCDCDC"/>
        </a:solidFill>
        <a:round/>
      </a:ln>
    </cs:spPr>
  </cs:seriesLine>
  <cs:title>
    <cs:lnRef idx="0"/>
    <cs:fillRef idx="0"/>
    <cs:effectRef idx="0"/>
    <cs:fontRef idx="minor">
      <a:srgbClr val="383838"/>
    </cs:fontRef>
    <cs:defRPr sz="1860" b="0" kern="1200" spc="0" baseline="0"/>
  </cs:title>
  <cs:trendline>
    <cs:lnRef idx="0">
      <cs:styleClr val="auto"/>
    </cs:lnRef>
    <cs:fillRef idx="0"/>
    <cs:effectRef idx="0"/>
    <cs:fontRef idx="minor">
      <a:srgbClr val="383838"/>
    </cs:fontRef>
    <cs:spPr>
      <a:ln w="19050" cap="rnd">
        <a:solidFill>
          <a:schemeClr val="phClr"/>
        </a:solidFill>
        <a:prstDash val="sysDot"/>
      </a:ln>
    </cs:spPr>
  </cs:trendline>
  <cs:trendlineLabel>
    <cs:lnRef idx="0"/>
    <cs:fillRef idx="0"/>
    <cs:effectRef idx="0"/>
    <cs:fontRef idx="minor">
      <a:srgbClr val="383838"/>
    </cs:fontRef>
    <cs:defRPr sz="1195" kern="1200"/>
  </cs:trendlineLabel>
  <cs:upBar>
    <cs:lnRef idx="0"/>
    <cs:fillRef idx="0"/>
    <cs:effectRef idx="0"/>
    <cs:fontRef idx="minor">
      <a:srgbClr val="383838"/>
    </cs:fontRef>
    <cs:spPr>
      <a:solidFill>
        <a:srgbClr val="FFFFFF"/>
      </a:solidFill>
      <a:ln w="9525" cap="flat" cmpd="sng" algn="ctr">
        <a:solidFill>
          <a:srgbClr val="383838"/>
        </a:solidFill>
        <a:round/>
      </a:ln>
    </cs:spPr>
  </cs:upBar>
  <cs:valueAxis>
    <cs:lnRef idx="0"/>
    <cs:fillRef idx="0"/>
    <cs:effectRef idx="0"/>
    <cs:fontRef idx="minor">
      <a:srgbClr val="383838"/>
    </cs:fontRef>
    <cs:defRPr sz="1195" kern="1200"/>
  </cs:valueAxis>
  <cs:wall>
    <cs:lnRef idx="0"/>
    <cs:fillRef idx="0"/>
    <cs:effectRef idx="0"/>
    <cs:fontRef idx="minor">
      <a:srgbClr val="383838"/>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rgbClr val="383838"/>
    </cs:fontRef>
    <cs:defRPr sz="1330" kern="1200"/>
  </cs:axisTitle>
  <cs:categoryAxis>
    <cs:lnRef idx="0"/>
    <cs:fillRef idx="0"/>
    <cs:effectRef idx="0"/>
    <cs:fontRef idx="minor">
      <a:srgbClr val="383838"/>
    </cs:fontRef>
    <cs:spPr>
      <a:ln w="9525" cap="flat" cmpd="sng" algn="ctr">
        <a:solidFill>
          <a:srgbClr val="DCDCDC"/>
        </a:solidFill>
        <a:round/>
      </a:ln>
    </cs:spPr>
    <cs:defRPr sz="1195" kern="1200"/>
  </cs:categoryAxis>
  <cs:chartArea mods="allowNoFillOverride allowNoLineOverride">
    <cs:lnRef idx="0"/>
    <cs:fillRef idx="0"/>
    <cs:effectRef idx="0"/>
    <cs:fontRef idx="minor">
      <a:srgbClr val="383838"/>
    </cs:fontRef>
    <cs:spPr>
      <a:solidFill>
        <a:srgbClr val="FFFFFF"/>
      </a:solidFill>
      <a:ln w="9525" cap="flat" cmpd="sng" algn="ctr">
        <a:solidFill>
          <a:srgbClr val="DCDCDC"/>
        </a:solidFill>
        <a:round/>
      </a:ln>
    </cs:spPr>
    <cs:defRPr sz="1195" kern="1200"/>
  </cs:chartArea>
  <cs:dataLabel>
    <cs:lnRef idx="0"/>
    <cs:fillRef idx="0"/>
    <cs:effectRef idx="0"/>
    <cs:fontRef idx="minor">
      <a:srgbClr val="383838"/>
    </cs:fontRef>
    <cs:defRPr sz="1195" kern="1200"/>
  </cs:dataLabel>
  <cs:dataLabelCallout>
    <cs:lnRef idx="0"/>
    <cs:fillRef idx="0"/>
    <cs:effectRef idx="0"/>
    <cs:fontRef idx="minor">
      <a:srgbClr val="383838"/>
    </cs:fontRef>
    <cs:spPr>
      <a:solidFill>
        <a:srgbClr val="FFFFFF"/>
      </a:solidFill>
      <a:ln>
        <a:solidFill>
          <a:srgbClr val="DCDCDC"/>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rgbClr val="383838"/>
    </cs:fontRef>
    <cs:spPr>
      <a:ln w="19050">
        <a:solidFill>
          <a:srgbClr val="FFFFFF"/>
        </a:solidFill>
      </a:ln>
    </cs:spPr>
  </cs:dataPoint>
  <cs:dataPoint3D>
    <cs:lnRef idx="0"/>
    <cs:fillRef idx="1">
      <cs:styleClr val="auto"/>
    </cs:fillRef>
    <cs:effectRef idx="0"/>
    <cs:fontRef idx="minor">
      <a:srgbClr val="383838"/>
    </cs:fontRef>
    <cs:spPr>
      <a:ln w="25400">
        <a:solidFill>
          <a:srgbClr val="FFFFFF"/>
        </a:solidFill>
      </a:ln>
    </cs:spPr>
  </cs:dataPoint3D>
  <cs:dataPointLine>
    <cs:lnRef idx="0">
      <cs:styleClr val="auto"/>
    </cs:lnRef>
    <cs:fillRef idx="0"/>
    <cs:effectRef idx="0"/>
    <cs:fontRef idx="minor">
      <a:srgbClr val="383838"/>
    </cs:fontRef>
    <cs:spPr>
      <a:ln w="28575" cap="rnd">
        <a:solidFill>
          <a:schemeClr val="phClr"/>
        </a:solidFill>
        <a:round/>
      </a:ln>
    </cs:spPr>
  </cs:dataPointLine>
  <cs:dataPointMarker>
    <cs:lnRef idx="0">
      <cs:styleClr val="auto"/>
    </cs:lnRef>
    <cs:fillRef idx="1">
      <cs:styleClr val="auto"/>
    </cs:fillRef>
    <cs:effectRef idx="0"/>
    <cs:fontRef idx="minor">
      <a:srgbClr val="383838"/>
    </cs:fontRef>
    <cs:spPr>
      <a:ln w="9525">
        <a:solidFill>
          <a:schemeClr val="phClr"/>
        </a:solidFill>
      </a:ln>
    </cs:spPr>
  </cs:dataPointMarker>
  <cs:dataPointMarkerLayout symbol="circle" size="5"/>
  <cs:dataPointWireframe>
    <cs:lnRef idx="0">
      <cs:styleClr val="auto"/>
    </cs:lnRef>
    <cs:fillRef idx="0"/>
    <cs:effectRef idx="0"/>
    <cs:fontRef idx="minor">
      <a:srgbClr val="383838"/>
    </cs:fontRef>
    <cs:spPr>
      <a:ln w="9525" cap="rnd">
        <a:solidFill>
          <a:schemeClr val="phClr"/>
        </a:solidFill>
        <a:round/>
      </a:ln>
    </cs:spPr>
  </cs:dataPointWireframe>
  <cs:dataTable>
    <cs:lnRef idx="0"/>
    <cs:fillRef idx="0"/>
    <cs:effectRef idx="0"/>
    <cs:fontRef idx="minor">
      <a:srgbClr val="383838"/>
    </cs:fontRef>
    <cs:spPr>
      <a:noFill/>
      <a:ln w="9525" cap="flat" cmpd="sng" algn="ctr">
        <a:solidFill>
          <a:srgbClr val="DCDCDC"/>
        </a:solidFill>
        <a:round/>
      </a:ln>
    </cs:spPr>
    <cs:defRPr sz="1195" kern="1200"/>
  </cs:dataTable>
  <cs:downBar>
    <cs:lnRef idx="0"/>
    <cs:fillRef idx="0"/>
    <cs:effectRef idx="0"/>
    <cs:fontRef idx="minor">
      <a:srgbClr val="383838"/>
    </cs:fontRef>
    <cs:spPr>
      <a:solidFill>
        <a:srgbClr val="383838"/>
      </a:solidFill>
      <a:ln w="9525" cap="flat" cmpd="sng" algn="ctr">
        <a:solidFill>
          <a:srgbClr val="383838"/>
        </a:solidFill>
        <a:round/>
      </a:ln>
    </cs:spPr>
  </cs:downBar>
  <cs:dropLine>
    <cs:lnRef idx="0"/>
    <cs:fillRef idx="0"/>
    <cs:effectRef idx="0"/>
    <cs:fontRef idx="minor">
      <a:srgbClr val="383838"/>
    </cs:fontRef>
    <cs:spPr>
      <a:ln w="9525" cap="flat" cmpd="sng" algn="ctr">
        <a:solidFill>
          <a:srgbClr val="DCDCDC"/>
        </a:solidFill>
        <a:round/>
      </a:ln>
    </cs:spPr>
  </cs:dropLine>
  <cs:errorBar>
    <cs:lnRef idx="0"/>
    <cs:fillRef idx="0"/>
    <cs:effectRef idx="0"/>
    <cs:fontRef idx="minor">
      <a:srgbClr val="383838"/>
    </cs:fontRef>
    <cs:spPr>
      <a:ln w="9525" cap="flat" cmpd="sng" algn="ctr">
        <a:solidFill>
          <a:srgbClr val="383838"/>
        </a:solidFill>
        <a:round/>
      </a:ln>
    </cs:spPr>
  </cs:errorBar>
  <cs:floor>
    <cs:lnRef idx="0"/>
    <cs:fillRef idx="0"/>
    <cs:effectRef idx="0"/>
    <cs:fontRef idx="minor">
      <a:srgbClr val="383838"/>
    </cs:fontRef>
    <cs:spPr>
      <a:noFill/>
      <a:ln>
        <a:noFill/>
      </a:ln>
    </cs:spPr>
  </cs:floor>
  <cs:gridlineMajor>
    <cs:lnRef idx="0"/>
    <cs:fillRef idx="0"/>
    <cs:effectRef idx="0"/>
    <cs:fontRef idx="minor">
      <a:srgbClr val="383838"/>
    </cs:fontRef>
    <cs:spPr>
      <a:ln w="9525" cap="flat" cmpd="sng" algn="ctr">
        <a:solidFill>
          <a:srgbClr val="DCDCDC"/>
        </a:solidFill>
        <a:round/>
      </a:ln>
    </cs:spPr>
  </cs:gridlineMajor>
  <cs:gridlineMinor>
    <cs:lnRef idx="0"/>
    <cs:fillRef idx="0"/>
    <cs:effectRef idx="0"/>
    <cs:fontRef idx="minor">
      <a:srgbClr val="383838"/>
    </cs:fontRef>
    <cs:spPr>
      <a:ln w="9525" cap="flat" cmpd="sng" algn="ctr">
        <a:solidFill>
          <a:srgbClr val="E6E6E6"/>
        </a:solidFill>
        <a:round/>
      </a:ln>
    </cs:spPr>
  </cs:gridlineMinor>
  <cs:hiLoLine>
    <cs:lnRef idx="0"/>
    <cs:fillRef idx="0"/>
    <cs:effectRef idx="0"/>
    <cs:fontRef idx="minor">
      <a:srgbClr val="383838"/>
    </cs:fontRef>
    <cs:spPr>
      <a:ln w="9525" cap="flat" cmpd="sng" algn="ctr">
        <a:solidFill>
          <a:srgbClr val="DCDCDC"/>
        </a:solidFill>
        <a:round/>
      </a:ln>
    </cs:spPr>
  </cs:hiLoLine>
  <cs:leaderLine>
    <cs:lnRef idx="0"/>
    <cs:fillRef idx="0"/>
    <cs:effectRef idx="0"/>
    <cs:fontRef idx="minor">
      <a:srgbClr val="383838"/>
    </cs:fontRef>
    <cs:spPr>
      <a:ln w="9525" cap="flat" cmpd="sng" algn="ctr">
        <a:solidFill>
          <a:srgbClr val="DCDCDC"/>
        </a:solidFill>
        <a:round/>
      </a:ln>
    </cs:spPr>
  </cs:leaderLine>
  <cs:legend>
    <cs:lnRef idx="0"/>
    <cs:fillRef idx="0"/>
    <cs:effectRef idx="0"/>
    <cs:fontRef idx="minor">
      <a:srgbClr val="383838"/>
    </cs:fontRef>
    <cs:defRPr sz="1195" kern="1200"/>
  </cs:legend>
  <cs:plotArea mods="allowNoFillOverride allowNoLineOverride">
    <cs:lnRef idx="0"/>
    <cs:fillRef idx="0"/>
    <cs:effectRef idx="0"/>
    <cs:fontRef idx="minor">
      <a:srgbClr val="383838"/>
    </cs:fontRef>
  </cs:plotArea>
  <cs:plotArea3D mods="allowNoFillOverride allowNoLineOverride">
    <cs:lnRef idx="0"/>
    <cs:fillRef idx="0"/>
    <cs:effectRef idx="0"/>
    <cs:fontRef idx="minor">
      <a:srgbClr val="383838"/>
    </cs:fontRef>
  </cs:plotArea3D>
  <cs:seriesAxis>
    <cs:lnRef idx="0"/>
    <cs:fillRef idx="0"/>
    <cs:effectRef idx="0"/>
    <cs:fontRef idx="minor">
      <a:srgbClr val="383838"/>
    </cs:fontRef>
    <cs:defRPr sz="1195" kern="1200"/>
  </cs:seriesAxis>
  <cs:seriesLine>
    <cs:lnRef idx="0"/>
    <cs:fillRef idx="0"/>
    <cs:effectRef idx="0"/>
    <cs:fontRef idx="minor">
      <a:srgbClr val="383838"/>
    </cs:fontRef>
    <cs:spPr>
      <a:ln w="9525" cap="flat" cmpd="sng" algn="ctr">
        <a:solidFill>
          <a:srgbClr val="DCDCDC"/>
        </a:solidFill>
        <a:round/>
      </a:ln>
    </cs:spPr>
  </cs:seriesLine>
  <cs:title>
    <cs:lnRef idx="0"/>
    <cs:fillRef idx="0"/>
    <cs:effectRef idx="0"/>
    <cs:fontRef idx="minor">
      <a:srgbClr val="383838"/>
    </cs:fontRef>
    <cs:defRPr sz="1860" b="0" kern="1200" spc="0" baseline="0"/>
  </cs:title>
  <cs:trendline>
    <cs:lnRef idx="0">
      <cs:styleClr val="auto"/>
    </cs:lnRef>
    <cs:fillRef idx="0"/>
    <cs:effectRef idx="0"/>
    <cs:fontRef idx="minor">
      <a:srgbClr val="383838"/>
    </cs:fontRef>
    <cs:spPr>
      <a:ln w="19050" cap="rnd">
        <a:solidFill>
          <a:schemeClr val="phClr"/>
        </a:solidFill>
        <a:prstDash val="sysDot"/>
      </a:ln>
    </cs:spPr>
  </cs:trendline>
  <cs:trendlineLabel>
    <cs:lnRef idx="0"/>
    <cs:fillRef idx="0"/>
    <cs:effectRef idx="0"/>
    <cs:fontRef idx="minor">
      <a:srgbClr val="383838"/>
    </cs:fontRef>
    <cs:defRPr sz="1195" kern="1200"/>
  </cs:trendlineLabel>
  <cs:upBar>
    <cs:lnRef idx="0"/>
    <cs:fillRef idx="0"/>
    <cs:effectRef idx="0"/>
    <cs:fontRef idx="minor">
      <a:srgbClr val="383838"/>
    </cs:fontRef>
    <cs:spPr>
      <a:solidFill>
        <a:srgbClr val="FFFFFF"/>
      </a:solidFill>
      <a:ln w="9525" cap="flat" cmpd="sng" algn="ctr">
        <a:solidFill>
          <a:srgbClr val="383838"/>
        </a:solidFill>
        <a:round/>
      </a:ln>
    </cs:spPr>
  </cs:upBar>
  <cs:valueAxis>
    <cs:lnRef idx="0"/>
    <cs:fillRef idx="0"/>
    <cs:effectRef idx="0"/>
    <cs:fontRef idx="minor">
      <a:srgbClr val="383838"/>
    </cs:fontRef>
    <cs:defRPr sz="1195" kern="1200"/>
  </cs:valueAxis>
  <cs:wall>
    <cs:lnRef idx="0"/>
    <cs:fillRef idx="0"/>
    <cs:effectRef idx="0"/>
    <cs:fontRef idx="minor">
      <a:srgbClr val="383838"/>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rgbClr val="383838"/>
    </cs:fontRef>
    <cs:defRPr sz="1330" kern="1200"/>
  </cs:axisTitle>
  <cs:categoryAxis>
    <cs:lnRef idx="0"/>
    <cs:fillRef idx="0"/>
    <cs:effectRef idx="0"/>
    <cs:fontRef idx="minor">
      <a:srgbClr val="383838"/>
    </cs:fontRef>
    <cs:spPr>
      <a:ln w="9525" cap="flat" cmpd="sng" algn="ctr">
        <a:solidFill>
          <a:srgbClr val="DCDCDC"/>
        </a:solidFill>
        <a:round/>
      </a:ln>
    </cs:spPr>
    <cs:defRPr sz="1195" kern="1200"/>
  </cs:categoryAxis>
  <cs:chartArea mods="allowNoFillOverride allowNoLineOverride">
    <cs:lnRef idx="0"/>
    <cs:fillRef idx="0"/>
    <cs:effectRef idx="0"/>
    <cs:fontRef idx="minor">
      <a:srgbClr val="383838"/>
    </cs:fontRef>
    <cs:spPr>
      <a:solidFill>
        <a:srgbClr val="FFFFFF"/>
      </a:solidFill>
      <a:ln w="9525" cap="flat" cmpd="sng" algn="ctr">
        <a:solidFill>
          <a:srgbClr val="DCDCDC"/>
        </a:solidFill>
        <a:round/>
      </a:ln>
    </cs:spPr>
    <cs:defRPr sz="1330" kern="1200"/>
  </cs:chartArea>
  <cs:dataLabel>
    <cs:lnRef idx="0"/>
    <cs:fillRef idx="0"/>
    <cs:effectRef idx="0"/>
    <cs:fontRef idx="minor">
      <a:srgbClr val="383838"/>
    </cs:fontRef>
    <cs:defRPr sz="1195" kern="1200"/>
  </cs:dataLabel>
  <cs:dataLabelCallout>
    <cs:lnRef idx="0"/>
    <cs:fillRef idx="0"/>
    <cs:effectRef idx="0"/>
    <cs:fontRef idx="minor">
      <a:srgbClr val="383838"/>
    </cs:fontRef>
    <cs:spPr>
      <a:solidFill>
        <a:srgbClr val="FFFFFF"/>
      </a:solidFill>
      <a:ln>
        <a:solidFill>
          <a:srgbClr val="DCDCDC"/>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rgbClr val="383838"/>
    </cs:fontRef>
  </cs:dataPoint>
  <cs:dataPoint3D>
    <cs:lnRef idx="0"/>
    <cs:fillRef idx="1">
      <cs:styleClr val="auto"/>
    </cs:fillRef>
    <cs:effectRef idx="0"/>
    <cs:fontRef idx="minor">
      <a:srgbClr val="383838"/>
    </cs:fontRef>
  </cs:dataPoint3D>
  <cs:dataPointLine>
    <cs:lnRef idx="0">
      <cs:styleClr val="auto"/>
    </cs:lnRef>
    <cs:fillRef idx="1"/>
    <cs:effectRef idx="0"/>
    <cs:fontRef idx="minor">
      <a:srgbClr val="383838"/>
    </cs:fontRef>
    <cs:spPr>
      <a:ln w="28575" cap="rnd">
        <a:solidFill>
          <a:srgbClr val="FFFFFF"/>
        </a:solidFill>
        <a:round/>
      </a:ln>
    </cs:spPr>
  </cs:dataPointLine>
  <cs:dataPointMarker>
    <cs:lnRef idx="0">
      <cs:styleClr val="auto"/>
    </cs:lnRef>
    <cs:fillRef idx="1">
      <cs:styleClr val="auto"/>
    </cs:fillRef>
    <cs:effectRef idx="0"/>
    <cs:fontRef idx="minor">
      <a:srgbClr val="383838"/>
    </cs:fontRef>
    <cs:spPr>
      <a:ln w="9525">
        <a:solidFill>
          <a:srgbClr val="FFFFFF"/>
        </a:solidFill>
      </a:ln>
    </cs:spPr>
  </cs:dataPointMarker>
  <cs:dataPointMarkerLayout symbol="circle" size="5"/>
  <cs:dataPointWireframe>
    <cs:lnRef idx="0">
      <cs:styleClr val="auto"/>
    </cs:lnRef>
    <cs:fillRef idx="1"/>
    <cs:effectRef idx="0"/>
    <cs:fontRef idx="minor">
      <a:srgbClr val="383838"/>
    </cs:fontRef>
    <cs:spPr>
      <a:ln w="9525" cap="rnd">
        <a:solidFill>
          <a:srgbClr val="FFFFFF"/>
        </a:solidFill>
        <a:round/>
      </a:ln>
    </cs:spPr>
  </cs:dataPointWireframe>
  <cs:dataTable>
    <cs:lnRef idx="0"/>
    <cs:fillRef idx="0"/>
    <cs:effectRef idx="0"/>
    <cs:fontRef idx="minor">
      <a:srgbClr val="383838"/>
    </cs:fontRef>
    <cs:spPr>
      <a:noFill/>
      <a:ln w="9525" cap="flat" cmpd="sng" algn="ctr">
        <a:solidFill>
          <a:srgbClr val="DCDCDC"/>
        </a:solidFill>
        <a:round/>
      </a:ln>
    </cs:spPr>
    <cs:defRPr sz="1195" kern="1200"/>
  </cs:dataTable>
  <cs:downBar>
    <cs:lnRef idx="0"/>
    <cs:fillRef idx="0"/>
    <cs:effectRef idx="0"/>
    <cs:fontRef idx="minor">
      <a:srgbClr val="383838"/>
    </cs:fontRef>
    <cs:spPr>
      <a:solidFill>
        <a:srgbClr val="383838"/>
      </a:solidFill>
      <a:ln w="9525">
        <a:solidFill>
          <a:srgbClr val="383838"/>
        </a:solidFill>
      </a:ln>
    </cs:spPr>
  </cs:downBar>
  <cs:dropLine>
    <cs:lnRef idx="0"/>
    <cs:fillRef idx="0"/>
    <cs:effectRef idx="0"/>
    <cs:fontRef idx="minor">
      <a:srgbClr val="383838"/>
    </cs:fontRef>
    <cs:spPr>
      <a:ln w="9525" cap="flat" cmpd="sng" algn="ctr">
        <a:solidFill>
          <a:srgbClr val="DCDCDC"/>
        </a:solidFill>
        <a:round/>
      </a:ln>
    </cs:spPr>
  </cs:dropLine>
  <cs:errorBar>
    <cs:lnRef idx="0"/>
    <cs:fillRef idx="0"/>
    <cs:effectRef idx="0"/>
    <cs:fontRef idx="minor">
      <a:srgbClr val="383838"/>
    </cs:fontRef>
    <cs:spPr>
      <a:ln w="9525" cap="flat" cmpd="sng" algn="ctr">
        <a:solidFill>
          <a:srgbClr val="383838"/>
        </a:solidFill>
        <a:round/>
      </a:ln>
    </cs:spPr>
  </cs:errorBar>
  <cs:floor>
    <cs:lnRef idx="0"/>
    <cs:fillRef idx="0"/>
    <cs:effectRef idx="0"/>
    <cs:fontRef idx="minor">
      <a:srgbClr val="383838"/>
    </cs:fontRef>
    <cs:spPr>
      <a:noFill/>
      <a:ln>
        <a:noFill/>
      </a:ln>
    </cs:spPr>
  </cs:floor>
  <cs:gridlineMajor>
    <cs:lnRef idx="0"/>
    <cs:fillRef idx="0"/>
    <cs:effectRef idx="0"/>
    <cs:fontRef idx="minor">
      <a:srgbClr val="383838"/>
    </cs:fontRef>
    <cs:spPr>
      <a:ln w="9525" cap="flat" cmpd="sng" algn="ctr">
        <a:solidFill>
          <a:srgbClr val="DCDCDC"/>
        </a:solidFill>
        <a:round/>
      </a:ln>
    </cs:spPr>
  </cs:gridlineMajor>
  <cs:gridlineMinor>
    <cs:lnRef idx="0"/>
    <cs:fillRef idx="0"/>
    <cs:effectRef idx="0"/>
    <cs:fontRef idx="minor">
      <a:srgbClr val="383838"/>
    </cs:fontRef>
    <cs:spPr>
      <a:ln w="9525" cap="flat" cmpd="sng" algn="ctr">
        <a:solidFill>
          <a:srgbClr val="E6E6E6"/>
        </a:solidFill>
        <a:round/>
      </a:ln>
    </cs:spPr>
  </cs:gridlineMinor>
  <cs:hiLoLine>
    <cs:lnRef idx="0"/>
    <cs:fillRef idx="0"/>
    <cs:effectRef idx="0"/>
    <cs:fontRef idx="minor">
      <a:srgbClr val="383838"/>
    </cs:fontRef>
    <cs:spPr>
      <a:ln w="9525" cap="flat" cmpd="sng" algn="ctr">
        <a:solidFill>
          <a:srgbClr val="383838"/>
        </a:solidFill>
        <a:round/>
      </a:ln>
    </cs:spPr>
  </cs:hiLoLine>
  <cs:leaderLine>
    <cs:lnRef idx="0"/>
    <cs:fillRef idx="0"/>
    <cs:effectRef idx="0"/>
    <cs:fontRef idx="minor">
      <a:srgbClr val="383838"/>
    </cs:fontRef>
    <cs:spPr>
      <a:ln w="9525" cap="flat" cmpd="sng" algn="ctr">
        <a:solidFill>
          <a:srgbClr val="DCDCDC"/>
        </a:solidFill>
        <a:round/>
      </a:ln>
    </cs:spPr>
  </cs:leaderLine>
  <cs:legend>
    <cs:lnRef idx="0"/>
    <cs:fillRef idx="0"/>
    <cs:effectRef idx="0"/>
    <cs:fontRef idx="minor">
      <a:srgbClr val="383838"/>
    </cs:fontRef>
    <cs:defRPr sz="1195" kern="1200"/>
  </cs:legend>
  <cs:plotArea mods="allowNoFillOverride allowNoLineOverride">
    <cs:lnRef idx="0"/>
    <cs:fillRef idx="0"/>
    <cs:effectRef idx="0"/>
    <cs:fontRef idx="minor">
      <a:srgbClr val="383838"/>
    </cs:fontRef>
  </cs:plotArea>
  <cs:plotArea3D mods="allowNoFillOverride allowNoLineOverride">
    <cs:lnRef idx="0"/>
    <cs:fillRef idx="0"/>
    <cs:effectRef idx="0"/>
    <cs:fontRef idx="minor">
      <a:srgbClr val="383838"/>
    </cs:fontRef>
  </cs:plotArea3D>
  <cs:seriesAxis>
    <cs:lnRef idx="0"/>
    <cs:fillRef idx="0"/>
    <cs:effectRef idx="0"/>
    <cs:fontRef idx="minor">
      <a:srgbClr val="383838"/>
    </cs:fontRef>
    <cs:defRPr sz="1195" kern="1200"/>
  </cs:seriesAxis>
  <cs:seriesLine>
    <cs:lnRef idx="0"/>
    <cs:fillRef idx="0"/>
    <cs:effectRef idx="0"/>
    <cs:fontRef idx="minor">
      <a:srgbClr val="383838"/>
    </cs:fontRef>
    <cs:spPr>
      <a:ln w="9525" cap="flat" cmpd="sng" algn="ctr">
        <a:solidFill>
          <a:srgbClr val="DCDCDC"/>
        </a:solidFill>
        <a:round/>
      </a:ln>
    </cs:spPr>
  </cs:seriesLine>
  <cs:title>
    <cs:lnRef idx="0"/>
    <cs:fillRef idx="0"/>
    <cs:effectRef idx="0"/>
    <cs:fontRef idx="minor">
      <a:srgbClr val="383838"/>
    </cs:fontRef>
    <cs:defRPr sz="1860" b="0" kern="1200" spc="0" baseline="0"/>
  </cs:title>
  <cs:trendline>
    <cs:lnRef idx="0">
      <cs:styleClr val="auto"/>
    </cs:lnRef>
    <cs:fillRef idx="0"/>
    <cs:effectRef idx="0"/>
    <cs:fontRef idx="minor">
      <a:srgbClr val="383838"/>
    </cs:fontRef>
    <cs:spPr>
      <a:ln w="19050" cap="rnd">
        <a:solidFill>
          <a:srgbClr val="FFFFFF"/>
        </a:solidFill>
        <a:prstDash val="sysDot"/>
      </a:ln>
    </cs:spPr>
  </cs:trendline>
  <cs:trendlineLabel>
    <cs:lnRef idx="0"/>
    <cs:fillRef idx="0"/>
    <cs:effectRef idx="0"/>
    <cs:fontRef idx="minor">
      <a:srgbClr val="383838"/>
    </cs:fontRef>
    <cs:defRPr sz="1195" kern="1200"/>
  </cs:trendlineLabel>
  <cs:upBar>
    <cs:lnRef idx="0"/>
    <cs:fillRef idx="0"/>
    <cs:effectRef idx="0"/>
    <cs:fontRef idx="minor">
      <a:srgbClr val="383838"/>
    </cs:fontRef>
    <cs:spPr>
      <a:solidFill>
        <a:srgbClr val="FFFFFF"/>
      </a:solidFill>
      <a:ln w="9525">
        <a:solidFill>
          <a:srgbClr val="DCDCDC"/>
        </a:solidFill>
      </a:ln>
    </cs:spPr>
  </cs:upBar>
  <cs:valueAxis>
    <cs:lnRef idx="0"/>
    <cs:fillRef idx="0"/>
    <cs:effectRef idx="0"/>
    <cs:fontRef idx="minor">
      <a:srgbClr val="383838"/>
    </cs:fontRef>
    <cs:defRPr sz="1195" kern="1200"/>
  </cs:valueAxis>
  <cs:wall>
    <cs:lnRef idx="0"/>
    <cs:fillRef idx="0"/>
    <cs:effectRef idx="0"/>
    <cs:fontRef idx="minor">
      <a:srgbClr val="383838"/>
    </cs:fontRef>
    <cs:spPr>
      <a:noFill/>
      <a:ln>
        <a:noFill/>
      </a:ln>
    </cs:spPr>
  </cs:wall>
</cs:chartStyle>
</file>

<file path=ppt/charts/style7.xml><?xml version="1.0" encoding="utf-8"?>
<cs:chartStyle xmlns:cs="http://schemas.microsoft.com/office/drawing/2012/chartStyle" xmlns:a="http://schemas.openxmlformats.org/drawingml/2006/main" id="10145">
  <cs:axisTitle>
    <cs:lnRef idx="0"/>
    <cs:fillRef idx="0"/>
    <cs:effectRef idx="0"/>
    <cs:fontRef idx="minor">
      <a:srgbClr val="383838"/>
    </cs:fontRef>
    <cs:defRPr sz="1000" kern="1200"/>
  </cs:axisTitle>
  <cs:categoryAxis>
    <cs:lnRef idx="0"/>
    <cs:fillRef idx="0"/>
    <cs:effectRef idx="0"/>
    <cs:fontRef idx="minor">
      <a:srgbClr val="383838"/>
    </cs:fontRef>
    <cs:spPr>
      <a:ln w="9525" cap="flat" cmpd="sng" algn="ctr">
        <a:solidFill>
          <a:srgbClr val="DCDCDC"/>
        </a:solidFill>
        <a:round/>
      </a:ln>
    </cs:spPr>
    <cs:defRPr sz="1000" kern="1200"/>
  </cs:categoryAxis>
  <cs:chartArea mods="allowNoFillOverride allowNoLineOverride">
    <cs:lnRef idx="0"/>
    <cs:fillRef idx="0"/>
    <cs:effectRef idx="0"/>
    <cs:fontRef idx="minor">
      <a:srgbClr val="383838"/>
    </cs:fontRef>
    <cs:spPr>
      <a:solidFill>
        <a:srgbClr val="FFFFFF"/>
      </a:solidFill>
      <a:ln w="9525" cap="flat" cmpd="sng" algn="ctr">
        <a:solidFill>
          <a:srgbClr val="DCDCDC"/>
        </a:solidFill>
        <a:round/>
      </a:ln>
    </cs:spPr>
    <cs:defRPr sz="1000" kern="1200"/>
  </cs:chartArea>
  <cs:dataLabel>
    <cs:lnRef idx="0"/>
    <cs:fillRef idx="0"/>
    <cs:effectRef idx="0"/>
    <cs:fontRef idx="minor">
      <a:srgbClr val="383838"/>
    </cs:fontRef>
    <cs:defRPr sz="1000" kern="1200"/>
  </cs:dataLabel>
  <cs:dataLabelCallout>
    <cs:lnRef idx="0"/>
    <cs:fillRef idx="0"/>
    <cs:effectRef idx="0"/>
    <cs:fontRef idx="minor">
      <a:srgbClr val="383838"/>
    </cs:fontRef>
    <cs:spPr>
      <a:solidFill>
        <a:srgbClr val="FFFFFF"/>
      </a:solidFill>
      <a:ln>
        <a:solidFill>
          <a:srgbClr val="DCDCDC"/>
        </a:solidFill>
      </a:ln>
    </cs:spPr>
    <cs:defRPr sz="1000" kern="1200"/>
    <cs:bodyPr rot="0" spcFirstLastPara="1" vertOverflow="clip" horzOverflow="clip" vert="horz" wrap="square" lIns="36576" tIns="18288" rIns="36576" bIns="18288" anchor="ctr" anchorCtr="1">
      <a:spAutoFit/>
    </cs:bodyPr>
  </cs:dataLabelCallout>
  <cs:dataPoint>
    <cs:lnRef idx="0">
      <cs:styleClr val="auto"/>
    </cs:lnRef>
    <cs:fillRef idx="1">
      <cs:styleClr val="auto"/>
    </cs:fillRef>
    <cs:effectRef idx="0"/>
    <cs:fontRef idx="minor">
      <a:srgbClr val="383838"/>
    </cs:fontRef>
    <cs:spPr>
      <a:ln>
        <a:noFill/>
      </a:ln>
      <a:effectLst/>
    </cs:spPr>
  </cs:dataPoint>
  <cs:dataPoint3D>
    <cs:lnRef idx="0"/>
    <cs:fillRef idx="1">
      <cs:styleClr val="auto"/>
    </cs:fillRef>
    <cs:effectRef idx="0"/>
    <cs:fontRef idx="minor">
      <a:srgbClr val="383838"/>
    </cs:fontRef>
  </cs:dataPoint3D>
  <cs:dataPointLine>
    <cs:lnRef idx="0">
      <cs:styleClr val="auto"/>
    </cs:lnRef>
    <cs:fillRef idx="1"/>
    <cs:effectRef idx="0"/>
    <cs:fontRef idx="minor">
      <a:srgbClr val="383838"/>
    </cs:fontRef>
    <cs:spPr>
      <a:ln w="28575" cap="rnd">
        <a:solidFill>
          <a:schemeClr val="phClr"/>
        </a:solidFill>
        <a:round/>
      </a:ln>
    </cs:spPr>
  </cs:dataPointLine>
  <cs:dataPointMarker>
    <cs:lnRef idx="0">
      <cs:styleClr val="auto"/>
    </cs:lnRef>
    <cs:fillRef idx="1">
      <cs:styleClr val="auto"/>
    </cs:fillRef>
    <cs:effectRef idx="0"/>
    <cs:fontRef idx="minor">
      <a:srgbClr val="383838"/>
    </cs:fontRef>
    <cs:spPr>
      <a:ln w="9525">
        <a:solidFill>
          <a:schemeClr val="phClr"/>
        </a:solidFill>
      </a:ln>
    </cs:spPr>
  </cs:dataPointMarker>
  <cs:dataPointMarkerLayout symbol="circle" size="5"/>
  <cs:dataPointWireframe>
    <cs:lnRef idx="0">
      <cs:styleClr val="auto"/>
    </cs:lnRef>
    <cs:fillRef idx="1"/>
    <cs:effectRef idx="0"/>
    <cs:fontRef idx="minor">
      <a:srgbClr val="383838"/>
    </cs:fontRef>
    <cs:spPr>
      <a:ln w="9525" cap="rnd">
        <a:solidFill>
          <a:schemeClr val="phClr"/>
        </a:solidFill>
        <a:round/>
      </a:ln>
    </cs:spPr>
  </cs:dataPointWireframe>
  <cs:dataTable>
    <cs:lnRef idx="0"/>
    <cs:fillRef idx="0"/>
    <cs:effectRef idx="0"/>
    <cs:fontRef idx="minor">
      <a:srgbClr val="383838"/>
    </cs:fontRef>
    <cs:spPr>
      <a:noFill/>
      <a:ln w="9525" cap="flat" cmpd="sng" algn="ctr">
        <a:solidFill>
          <a:srgbClr val="DCDCDC"/>
        </a:solidFill>
        <a:round/>
      </a:ln>
    </cs:spPr>
    <cs:defRPr sz="1000" kern="1200"/>
  </cs:dataTable>
  <cs:downBar>
    <cs:lnRef idx="0"/>
    <cs:fillRef idx="0"/>
    <cs:effectRef idx="0"/>
    <cs:fontRef idx="minor">
      <a:srgbClr val="383838"/>
    </cs:fontRef>
    <cs:spPr>
      <a:solidFill>
        <a:srgbClr val="383838"/>
      </a:solidFill>
      <a:ln w="9525" cap="flat" cmpd="sng" algn="ctr">
        <a:solidFill>
          <a:srgbClr val="383838"/>
        </a:solidFill>
        <a:round/>
      </a:ln>
    </cs:spPr>
  </cs:downBar>
  <cs:dropLine>
    <cs:lnRef idx="0"/>
    <cs:fillRef idx="0"/>
    <cs:effectRef idx="0"/>
    <cs:fontRef idx="minor">
      <a:srgbClr val="383838"/>
    </cs:fontRef>
    <cs:spPr>
      <a:ln w="9525" cap="flat" cmpd="sng" algn="ctr">
        <a:solidFill>
          <a:srgbClr val="DCDCDC"/>
        </a:solidFill>
        <a:round/>
      </a:ln>
    </cs:spPr>
  </cs:dropLine>
  <cs:errorBar>
    <cs:lnRef idx="0"/>
    <cs:fillRef idx="0"/>
    <cs:effectRef idx="0"/>
    <cs:fontRef idx="minor">
      <a:srgbClr val="383838"/>
    </cs:fontRef>
    <cs:spPr>
      <a:ln w="9525" cap="flat" cmpd="sng" algn="ctr">
        <a:solidFill>
          <a:srgbClr val="383838"/>
        </a:solidFill>
        <a:round/>
      </a:ln>
    </cs:spPr>
  </cs:errorBar>
  <cs:floor>
    <cs:lnRef idx="0"/>
    <cs:fillRef idx="0"/>
    <cs:effectRef idx="0"/>
    <cs:fontRef idx="minor">
      <a:srgbClr val="383838"/>
    </cs:fontRef>
    <cs:spPr>
      <a:ln w="9525" cap="flat" cmpd="sng" algn="ctr">
        <a:solidFill>
          <a:srgbClr val="DCDCDC"/>
        </a:solidFill>
        <a:round/>
      </a:ln>
    </cs:spPr>
  </cs:floor>
  <cs:gridlineMajor>
    <cs:lnRef idx="0"/>
    <cs:fillRef idx="0"/>
    <cs:effectRef idx="0"/>
    <cs:fontRef idx="minor">
      <a:srgbClr val="383838"/>
    </cs:fontRef>
    <cs:spPr>
      <a:ln w="9525" cap="flat" cmpd="sng" algn="ctr">
        <a:solidFill>
          <a:srgbClr val="E6E6E6"/>
        </a:solidFill>
        <a:round/>
      </a:ln>
    </cs:spPr>
  </cs:gridlineMajor>
  <cs:gridlineMinor>
    <cs:lnRef idx="0"/>
    <cs:fillRef idx="0"/>
    <cs:effectRef idx="0"/>
    <cs:fontRef idx="minor">
      <a:srgbClr val="383838"/>
    </cs:fontRef>
    <cs:spPr>
      <a:ln w="9525" cap="flat" cmpd="sng" algn="ctr">
        <a:solidFill>
          <a:srgbClr val="E6E6E6"/>
        </a:solidFill>
        <a:round/>
      </a:ln>
    </cs:spPr>
  </cs:gridlineMinor>
  <cs:hiLoLine>
    <cs:lnRef idx="0"/>
    <cs:fillRef idx="0"/>
    <cs:effectRef idx="0"/>
    <cs:fontRef idx="minor">
      <a:srgbClr val="383838"/>
    </cs:fontRef>
    <cs:spPr>
      <a:ln w="9525" cap="flat" cmpd="sng" algn="ctr">
        <a:solidFill>
          <a:srgbClr val="DCDCDC"/>
        </a:solidFill>
        <a:round/>
      </a:ln>
    </cs:spPr>
  </cs:hiLoLine>
  <cs:leaderLine>
    <cs:lnRef idx="0"/>
    <cs:fillRef idx="0"/>
    <cs:effectRef idx="0"/>
    <cs:fontRef idx="minor">
      <a:srgbClr val="383838"/>
    </cs:fontRef>
    <cs:spPr>
      <a:ln w="9525" cap="flat" cmpd="sng" algn="ctr">
        <a:solidFill>
          <a:srgbClr val="DCDCDC"/>
        </a:solidFill>
        <a:round/>
      </a:ln>
    </cs:spPr>
  </cs:leaderLine>
  <cs:legend>
    <cs:lnRef idx="0"/>
    <cs:fillRef idx="0"/>
    <cs:effectRef idx="0"/>
    <cs:fontRef idx="minor">
      <a:srgbClr val="383838"/>
    </cs:fontRef>
    <cs:defRPr sz="1000" kern="1200"/>
  </cs:legend>
  <cs:plotArea mods="allowNoFillOverride allowNoLineOverride">
    <cs:lnRef idx="0"/>
    <cs:fillRef idx="0"/>
    <cs:effectRef idx="0"/>
    <cs:fontRef idx="minor">
      <a:srgbClr val="383838"/>
    </cs:fontRef>
  </cs:plotArea>
  <cs:plotArea3D mods="allowNoFillOverride allowNoLineOverride">
    <cs:lnRef idx="0"/>
    <cs:fillRef idx="0"/>
    <cs:effectRef idx="0"/>
    <cs:fontRef idx="minor">
      <a:srgbClr val="383838"/>
    </cs:fontRef>
  </cs:plotArea3D>
  <cs:seriesAxis>
    <cs:lnRef idx="0"/>
    <cs:fillRef idx="0"/>
    <cs:effectRef idx="0"/>
    <cs:fontRef idx="minor">
      <a:srgbClr val="383838"/>
    </cs:fontRef>
    <cs:spPr>
      <a:ln w="9525" cap="flat" cmpd="sng" algn="ctr">
        <a:solidFill>
          <a:srgbClr val="DCDCDC"/>
        </a:solidFill>
        <a:round/>
      </a:ln>
    </cs:spPr>
    <cs:defRPr sz="1000" kern="1200"/>
  </cs:seriesAxis>
  <cs:seriesLine>
    <cs:lnRef idx="0"/>
    <cs:fillRef idx="0"/>
    <cs:effectRef idx="0"/>
    <cs:fontRef idx="minor">
      <a:srgbClr val="383838"/>
    </cs:fontRef>
    <cs:spPr>
      <a:ln w="9525" cap="flat" cmpd="sng" algn="ctr">
        <a:solidFill>
          <a:srgbClr val="DCDCDC"/>
        </a:solidFill>
        <a:round/>
      </a:ln>
    </cs:spPr>
  </cs:seriesLine>
  <cs:title>
    <cs:lnRef idx="0"/>
    <cs:fillRef idx="0"/>
    <cs:effectRef idx="0"/>
    <cs:fontRef idx="minor">
      <a:srgbClr val="383838"/>
    </cs:fontRef>
    <cs:defRPr sz="1400" b="1" kern="1200" baseline="0"/>
  </cs:title>
  <cs:trendline>
    <cs:lnRef idx="0">
      <cs:styleClr val="auto"/>
    </cs:lnRef>
    <cs:fillRef idx="0"/>
    <cs:effectRef idx="0"/>
    <cs:fontRef idx="minor">
      <a:srgbClr val="383838"/>
    </cs:fontRef>
    <cs:spPr>
      <a:ln w="19050" cap="rnd">
        <a:solidFill>
          <a:schemeClr val="phClr"/>
        </a:solidFill>
        <a:prstDash val="sysDot"/>
      </a:ln>
    </cs:spPr>
  </cs:trendline>
  <cs:trendlineLabel>
    <cs:lnRef idx="0"/>
    <cs:fillRef idx="0"/>
    <cs:effectRef idx="0"/>
    <cs:fontRef idx="minor">
      <a:srgbClr val="383838"/>
    </cs:fontRef>
    <cs:defRPr sz="1000" kern="1200"/>
  </cs:trendlineLabel>
  <cs:upBar>
    <cs:lnRef idx="0"/>
    <cs:fillRef idx="0"/>
    <cs:effectRef idx="0"/>
    <cs:fontRef idx="minor">
      <a:srgbClr val="383838"/>
    </cs:fontRef>
    <cs:spPr>
      <a:solidFill>
        <a:srgbClr val="FFFFFF"/>
      </a:solidFill>
      <a:ln w="9525" cap="flat" cmpd="sng" algn="ctr">
        <a:solidFill>
          <a:srgbClr val="383838"/>
        </a:solidFill>
        <a:round/>
      </a:ln>
    </cs:spPr>
  </cs:upBar>
  <cs:valueAxis>
    <cs:lnRef idx="0"/>
    <cs:fillRef idx="0"/>
    <cs:effectRef idx="0"/>
    <cs:fontRef idx="minor">
      <a:srgbClr val="383838"/>
    </cs:fontRef>
    <cs:defRPr sz="1000" kern="1200"/>
  </cs:valueAxis>
  <cs:wall>
    <cs:lnRef idx="0"/>
    <cs:fillRef idx="0"/>
    <cs:effectRef idx="0"/>
    <cs:fontRef idx="minor">
      <a:srgbClr val="383838"/>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alignAcc1">
    <dgm:fillClrLst meth="repeat">
      <a:srgbClr val="FFFFFF">
        <a:alpha val="90000"/>
      </a:srgbClr>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alignAccFollowNode1">
    <dgm:fillClrLst meth="repeat">
      <a:srgbClr val="C6D4FE">
        <a:alpha val="90000"/>
      </a:srgbClr>
      <a:srgbClr val="668EFF">
        <a:alpha val="90000"/>
      </a:srgbClr>
      <a:srgbClr val="DCDCDC">
        <a:alpha val="90000"/>
      </a:srgbClr>
      <a:srgbClr val="B3D4FE">
        <a:alpha val="90000"/>
      </a:srgbClr>
      <a:srgbClr val="DCDCDC">
        <a:alpha val="90000"/>
      </a:srgbClr>
    </dgm:fillClrLst>
    <dgm:linClrLst meth="repeat">
      <a:srgbClr val="C6D4FE">
        <a:alpha val="90000"/>
      </a:srgbClr>
      <a:srgbClr val="668EFF">
        <a:alpha val="90000"/>
      </a:srgbClr>
      <a:srgbClr val="DCDCDC">
        <a:alpha val="90000"/>
      </a:srgbClr>
      <a:srgbClr val="B3D4FE">
        <a:alpha val="90000"/>
      </a:srgbClr>
      <a:srgbClr val="DCDCDC">
        <a:alpha val="90000"/>
      </a:srgbClr>
    </dgm:linClrLst>
    <dgm:effectClrLst/>
    <dgm:txLinClrLst/>
    <dgm:txFillClrLst meth="repeat">
      <a:srgbClr val="383838"/>
    </dgm:txFillClrLst>
    <dgm:txEffectClrLst/>
  </dgm:styleLbl>
  <dgm:styleLbl name="alignImgPlace1">
    <dgm:fillClrLst>
      <a:srgbClr val="668EFF"/>
      <a:srgbClr val="FFFFFF"/>
    </dgm:fillClrLst>
    <dgm:linClrLst meth="repeat">
      <a:srgbClr val="FFFFFF"/>
    </dgm:linClrLst>
    <dgm:effectClrLst/>
    <dgm:txLinClrLst/>
    <dgm:txFillClrLst meth="repeat">
      <a:srgbClr val="FFFFFF"/>
    </dgm:txFillClrLst>
    <dgm:txEffectClrLst/>
  </dgm:styleLbl>
  <dgm:styleLbl name="alignNode1">
    <dgm:fillClrLst meth="repeat">
      <a:srgbClr val="668EFF"/>
      <a:srgbClr val="0042FF"/>
      <a:srgbClr val="DCDCDC"/>
      <a:srgbClr val="3368FF"/>
      <a:srgbClr val="383838"/>
    </dgm:fillClrLst>
    <dgm:linClrLst meth="repeat">
      <a:srgbClr val="668EFF"/>
      <a:srgbClr val="0042FF"/>
      <a:srgbClr val="DCDCDC"/>
      <a:srgbClr val="3368FF"/>
      <a:srgbClr val="383838"/>
    </dgm:linClrLst>
    <dgm:effectClrLst/>
    <dgm:txLinClrLst/>
    <dgm:txFillClrLst/>
    <dgm:txEffectClrLst/>
  </dgm:styleLbl>
  <dgm:styleLbl name="asst0">
    <dgm:fillClrLst meth="repeat">
      <a:srgbClr val="0042FF"/>
    </dgm:fillClrLst>
    <dgm:linClrLst meth="repeat">
      <a:srgbClr val="FFFFFF"/>
    </dgm:linClrLst>
    <dgm:effectClrLst/>
    <dgm:txLinClrLst/>
    <dgm:txFillClrLst/>
    <dgm:txEffectClrLst/>
  </dgm:styleLbl>
  <dgm:styleLbl name="asst1">
    <dgm:fillClrLst meth="repeat">
      <a:srgbClr val="668EFF"/>
    </dgm:fillClrLst>
    <dgm:linClrLst meth="repeat">
      <a:srgbClr val="FFFFFF"/>
    </dgm:linClrLst>
    <dgm:effectClrLst/>
    <dgm:txLinClrLst/>
    <dgm:txFillClrLst/>
    <dgm:txEffectClrLst/>
  </dgm:styleLbl>
  <dgm:styleLbl name="asst2">
    <dgm:fillClrLst>
      <a:srgbClr val="0042FF"/>
    </dgm:fillClrLst>
    <dgm:linClrLst meth="repeat">
      <a:srgbClr val="FFFFFF"/>
    </dgm:linClrLst>
    <dgm:effectClrLst/>
    <dgm:txLinClrLst/>
    <dgm:txFillClrLst/>
    <dgm:txEffectClrLst/>
  </dgm:styleLbl>
  <dgm:styleLbl name="asst3">
    <dgm:fillClrLst>
      <a:srgbClr val="DCDCDC"/>
    </dgm:fillClrLst>
    <dgm:linClrLst meth="repeat">
      <a:srgbClr val="FFFFFF"/>
    </dgm:linClrLst>
    <dgm:effectClrLst/>
    <dgm:txLinClrLst/>
    <dgm:txFillClrLst/>
    <dgm:txEffectClrLst/>
  </dgm:styleLbl>
  <dgm:styleLbl name="asst4">
    <dgm:fillClrLst>
      <a:srgbClr val="3368FF"/>
    </dgm:fillClrLst>
    <dgm:linClrLst meth="repeat">
      <a:srgbClr val="FFFFFF"/>
    </dgm:linClrLst>
    <dgm:effectClrLst/>
    <dgm:txLinClrLst/>
    <dgm:txFillClrLst/>
    <dgm:txEffectClrLst/>
  </dgm:styleLbl>
  <dgm:styleLbl name="bgAcc1">
    <dgm:fillClrLst meth="repeat">
      <a:srgbClr val="FFFFFF">
        <a:alpha val="90000"/>
      </a:srgbClr>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bgAccFollowNode1">
    <dgm:fillClrLst meth="repeat">
      <a:srgbClr val="C6D4FE">
        <a:alpha val="90000"/>
      </a:srgbClr>
      <a:srgbClr val="668EFF">
        <a:alpha val="90000"/>
      </a:srgbClr>
      <a:srgbClr val="DCDCDC">
        <a:alpha val="90000"/>
      </a:srgbClr>
      <a:srgbClr val="B3D4FE">
        <a:alpha val="90000"/>
      </a:srgbClr>
      <a:srgbClr val="DCDCDC">
        <a:alpha val="90000"/>
      </a:srgbClr>
    </dgm:fillClrLst>
    <dgm:linClrLst meth="repeat">
      <a:srgbClr val="C6D4FE">
        <a:alpha val="90000"/>
      </a:srgbClr>
      <a:srgbClr val="668EFF">
        <a:alpha val="90000"/>
      </a:srgbClr>
      <a:srgbClr val="DCDCDC">
        <a:alpha val="90000"/>
      </a:srgbClr>
      <a:srgbClr val="B3D4FE">
        <a:alpha val="90000"/>
      </a:srgbClr>
      <a:srgbClr val="DCDCDC">
        <a:alpha val="90000"/>
      </a:srgbClr>
    </dgm:linClrLst>
    <dgm:effectClrLst/>
    <dgm:txLinClrLst/>
    <dgm:txFillClrLst meth="repeat">
      <a:srgbClr val="383838"/>
    </dgm:txFillClrLst>
    <dgm:txEffectClrLst/>
  </dgm:styleLbl>
  <dgm:styleLbl name="bgImgPlace1">
    <dgm:fillClrLst>
      <a:srgbClr val="668EFF"/>
      <a:srgbClr val="FFFFFF"/>
    </dgm:fillClrLst>
    <dgm:linClrLst meth="repeat">
      <a:srgbClr val="FFFFFF"/>
    </dgm:linClrLst>
    <dgm:effectClrLst/>
    <dgm:txLinClrLst/>
    <dgm:txFillClrLst meth="repeat">
      <a:srgbClr val="FFFFFF"/>
    </dgm:txFillClrLst>
    <dgm:txEffectClrLst/>
  </dgm:styleLbl>
  <dgm:styleLbl name="bgShp">
    <dgm:fillClrLst meth="repeat">
      <a:srgbClr val="C6D4FE"/>
    </dgm:fillClrLst>
    <dgm:linClrLst meth="repeat">
      <a:srgbClr val="383838"/>
    </dgm:linClrLst>
    <dgm:effectClrLst/>
    <dgm:txLinClrLst/>
    <dgm:txFillClrLst meth="repeat">
      <a:srgbClr val="383838"/>
    </dgm:txFillClrLst>
    <dgm:txEffectClrLst/>
  </dgm:styleLbl>
  <dgm:styleLbl name="bgSibTrans2D1">
    <dgm:fillClrLst meth="repeat">
      <a:srgbClr val="668EFF"/>
      <a:srgbClr val="0042FF"/>
      <a:srgbClr val="DCDCDC"/>
      <a:srgbClr val="3368FF"/>
      <a:srgbClr val="383838"/>
    </dgm:fillClrLst>
    <dgm:linClrLst meth="cycle">
      <a:srgbClr val="FFFFFF"/>
    </dgm:linClrLst>
    <dgm:effectClrLst/>
    <dgm:txLinClrLst/>
    <dgm:txFillClrLst meth="repeat">
      <a:srgbClr val="FFFFFF"/>
    </dgm:txFillClrLst>
    <dgm:txEffectClrLst/>
  </dgm:styleLbl>
  <dgm:styleLbl name="callout">
    <dgm:fillClrLst meth="repeat">
      <a:srgbClr val="668EFF"/>
    </dgm:fillClrLst>
    <dgm:linClrLst meth="repeat">
      <a:srgbClr val="C6D4FE"/>
    </dgm:linClrLst>
    <dgm:effectClrLst/>
    <dgm:txLinClrLst/>
    <dgm:txFillClrLst meth="repeat">
      <a:srgbClr val="383838"/>
    </dgm:txFillClrLst>
    <dgm:txEffectClrLst/>
  </dgm:styleLbl>
  <dgm:styleLbl name="conFgAcc1">
    <dgm:fillClrLst meth="repeat">
      <a:srgbClr val="FFFFFF">
        <a:alpha val="90000"/>
      </a:srgbClr>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dkBgShp">
    <dgm:fillClrLst meth="repeat">
      <a:srgbClr val="668EFF"/>
    </dgm:fillClrLst>
    <dgm:linClrLst meth="repeat">
      <a:srgbClr val="383838"/>
    </dgm:linClrLst>
    <dgm:effectClrLst/>
    <dgm:txLinClrLst/>
    <dgm:txFillClrLst meth="repeat">
      <a:srgbClr val="FFFFFF"/>
    </dgm:txFillClrLst>
    <dgm:txEffectClrLst/>
  </dgm:styleLbl>
  <dgm:styleLbl name="fgAcc0">
    <dgm:fillClrLst meth="repeat">
      <a:srgbClr val="FFFFFF">
        <a:alpha val="90000"/>
      </a:srgbClr>
    </dgm:fillClrLst>
    <dgm:linClrLst>
      <a:srgbClr val="0042FF"/>
    </dgm:linClrLst>
    <dgm:effectClrLst/>
    <dgm:txLinClrLst/>
    <dgm:txFillClrLst meth="repeat">
      <a:srgbClr val="383838"/>
    </dgm:txFillClrLst>
    <dgm:txEffectClrLst/>
  </dgm:styleLbl>
  <dgm:styleLbl name="fgAcc1">
    <dgm:fillClrLst meth="repeat">
      <a:srgbClr val="FFFFFF">
        <a:alpha val="90000"/>
      </a:srgbClr>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fgAcc2">
    <dgm:fillClrLst meth="repeat">
      <a:srgbClr val="FFFFFF">
        <a:alpha val="90000"/>
      </a:srgbClr>
    </dgm:fillClrLst>
    <dgm:linClrLst>
      <a:srgbClr val="668EFF"/>
    </dgm:linClrLst>
    <dgm:effectClrLst/>
    <dgm:txLinClrLst/>
    <dgm:txFillClrLst meth="repeat">
      <a:srgbClr val="383838"/>
    </dgm:txFillClrLst>
    <dgm:txEffectClrLst/>
  </dgm:styleLbl>
  <dgm:styleLbl name="fgAcc3">
    <dgm:fillClrLst meth="repeat">
      <a:srgbClr val="FFFFFF">
        <a:alpha val="90000"/>
      </a:srgbClr>
    </dgm:fillClrLst>
    <dgm:linClrLst>
      <a:srgbClr val="0042FF"/>
    </dgm:linClrLst>
    <dgm:effectClrLst/>
    <dgm:txLinClrLst/>
    <dgm:txFillClrLst meth="repeat">
      <a:srgbClr val="383838"/>
    </dgm:txFillClrLst>
    <dgm:txEffectClrLst/>
  </dgm:styleLbl>
  <dgm:styleLbl name="fgAcc4">
    <dgm:fillClrLst meth="repeat">
      <a:srgbClr val="FFFFFF">
        <a:alpha val="90000"/>
      </a:srgbClr>
    </dgm:fillClrLst>
    <dgm:linClrLst>
      <a:srgbClr val="DCDCDC"/>
    </dgm:linClrLst>
    <dgm:effectClrLst/>
    <dgm:txLinClrLst/>
    <dgm:txFillClrLst meth="repeat">
      <a:srgbClr val="383838"/>
    </dgm:txFillClrLst>
    <dgm:txEffectClrLst/>
  </dgm:styleLbl>
  <dgm:styleLbl name="fgAccFollowNode1">
    <dgm:fillClrLst meth="repeat">
      <a:srgbClr val="C6D4FE">
        <a:alpha val="90000"/>
      </a:srgbClr>
      <a:srgbClr val="668EFF">
        <a:alpha val="90000"/>
      </a:srgbClr>
      <a:srgbClr val="DCDCDC">
        <a:alpha val="90000"/>
      </a:srgbClr>
      <a:srgbClr val="B3D4FE">
        <a:alpha val="90000"/>
      </a:srgbClr>
      <a:srgbClr val="DCDCDC">
        <a:alpha val="90000"/>
      </a:srgbClr>
    </dgm:fillClrLst>
    <dgm:linClrLst meth="repeat">
      <a:srgbClr val="C6D4FE">
        <a:alpha val="90000"/>
      </a:srgbClr>
      <a:srgbClr val="668EFF">
        <a:alpha val="90000"/>
      </a:srgbClr>
      <a:srgbClr val="DCDCDC">
        <a:alpha val="90000"/>
      </a:srgbClr>
      <a:srgbClr val="B3D4FE">
        <a:alpha val="90000"/>
      </a:srgbClr>
      <a:srgbClr val="DCDCDC">
        <a:alpha val="90000"/>
      </a:srgbClr>
    </dgm:linClrLst>
    <dgm:effectClrLst/>
    <dgm:txLinClrLst/>
    <dgm:txFillClrLst meth="repeat">
      <a:srgbClr val="383838"/>
    </dgm:txFillClrLst>
    <dgm:txEffectClrLst/>
  </dgm:styleLbl>
  <dgm:styleLbl name="fgImgPlace1">
    <dgm:fillClrLst meth="repeat">
      <a:srgbClr val="C6D4FE"/>
      <a:srgbClr val="668EFF"/>
      <a:srgbClr val="DCDCDC"/>
      <a:srgbClr val="B3D4FE"/>
      <a:srgbClr val="DCDCDC"/>
    </dgm:fillClrLst>
    <dgm:linClrLst meth="repeat">
      <a:srgbClr val="FFFFFF"/>
    </dgm:linClrLst>
    <dgm:effectClrLst/>
    <dgm:txLinClrLst/>
    <dgm:txFillClrLst meth="repeat">
      <a:srgbClr val="FFFFFF"/>
    </dgm:txFillClrLst>
    <dgm:txEffectClrLst/>
  </dgm:styleLbl>
  <dgm:styleLbl name="fgShp">
    <dgm:fillClrLst meth="repeat">
      <a:srgbClr val="C6D4FE"/>
    </dgm:fillClrLst>
    <dgm:linClrLst meth="repeat">
      <a:srgbClr val="FFFFFF"/>
    </dgm:linClrLst>
    <dgm:effectClrLst/>
    <dgm:txLinClrLst/>
    <dgm:txFillClrLst meth="repeat">
      <a:srgbClr val="383838"/>
    </dgm:txFillClrLst>
    <dgm:txEffectClrLst/>
  </dgm:styleLbl>
  <dgm:styleLbl name="fgSibTrans2D1">
    <dgm:fillClrLst meth="repeat">
      <a:srgbClr val="668EFF"/>
      <a:srgbClr val="0042FF"/>
      <a:srgbClr val="DCDCDC"/>
      <a:srgbClr val="3368FF"/>
      <a:srgbClr val="383838"/>
    </dgm:fillClrLst>
    <dgm:linClrLst meth="cycle">
      <a:srgbClr val="FFFFFF"/>
    </dgm:linClrLst>
    <dgm:effectClrLst/>
    <dgm:txLinClrLst/>
    <dgm:txFillClrLst meth="repeat">
      <a:srgbClr val="FFFFFF"/>
    </dgm:txFillClrLst>
    <dgm:txEffectClrLst/>
  </dgm:styleLbl>
  <dgm:styleLbl name="lnNode1">
    <dgm:fillClrLst meth="repeat">
      <a:srgbClr val="668EFF"/>
      <a:srgbClr val="0042FF"/>
      <a:srgbClr val="DCDCDC"/>
      <a:srgbClr val="3368FF"/>
      <a:srgbClr val="383838"/>
    </dgm:fillClrLst>
    <dgm:linClrLst meth="repeat">
      <a:srgbClr val="FFFFFF"/>
    </dgm:linClrLst>
    <dgm:effectClrLst/>
    <dgm:txLinClrLst/>
    <dgm:txFillClrLst/>
    <dgm:txEffectClrLst/>
  </dgm:styleLbl>
  <dgm:styleLbl name="node0">
    <dgm:fillClrLst meth="repeat">
      <a:srgbClr val="0042FF"/>
    </dgm:fillClrLst>
    <dgm:linClrLst meth="repeat">
      <a:srgbClr val="FFFFFF"/>
    </dgm:linClrLst>
    <dgm:effectClrLst/>
    <dgm:txLinClrLst/>
    <dgm:txFillClrLst/>
    <dgm:txEffectClrLst/>
  </dgm:styleLbl>
  <dgm:styleLbl name="node1">
    <dgm:fillClrLst meth="repeat">
      <a:srgbClr val="668EFF"/>
      <a:srgbClr val="0042FF"/>
      <a:srgbClr val="DCDCDC"/>
      <a:srgbClr val="3368FF"/>
      <a:srgbClr val="383838"/>
    </dgm:fillClrLst>
    <dgm:linClrLst meth="repeat">
      <a:srgbClr val="FFFFFF"/>
    </dgm:linClrLst>
    <dgm:effectClrLst/>
    <dgm:txLinClrLst/>
    <dgm:txFillClrLst/>
    <dgm:txEffectClrLst/>
  </dgm:styleLbl>
  <dgm:styleLbl name="node2">
    <dgm:fillClrLst>
      <a:srgbClr val="668EFF"/>
    </dgm:fillClrLst>
    <dgm:linClrLst meth="repeat">
      <a:srgbClr val="FFFFFF"/>
    </dgm:linClrLst>
    <dgm:effectClrLst/>
    <dgm:txLinClrLst/>
    <dgm:txFillClrLst/>
    <dgm:txEffectClrLst/>
  </dgm:styleLbl>
  <dgm:styleLbl name="node3">
    <dgm:fillClrLst>
      <a:srgbClr val="0042FF"/>
    </dgm:fillClrLst>
    <dgm:linClrLst meth="repeat">
      <a:srgbClr val="FFFFFF"/>
    </dgm:linClrLst>
    <dgm:effectClrLst/>
    <dgm:txLinClrLst/>
    <dgm:txFillClrLst/>
    <dgm:txEffectClrLst/>
  </dgm:styleLbl>
  <dgm:styleLbl name="node4">
    <dgm:fillClrLst>
      <a:srgbClr val="DCDCDC"/>
    </dgm:fillClrLst>
    <dgm:linClrLst meth="repeat">
      <a:srgbClr val="FFFFFF"/>
    </dgm:linClrLst>
    <dgm:effectClrLst/>
    <dgm:txLinClrLst/>
    <dgm:txFillClrLst/>
    <dgm:txEffectClrLst/>
  </dgm:styleLbl>
  <dgm:styleLbl name="parChTrans1D1">
    <dgm:fillClrLst meth="repeat">
      <a:srgbClr val="668EFF"/>
    </dgm:fillClrLst>
    <dgm:linClrLst meth="repeat">
      <a:srgbClr val="0042FF"/>
    </dgm:linClrLst>
    <dgm:effectClrLst/>
    <dgm:txLinClrLst/>
    <dgm:txFillClrLst meth="repeat">
      <a:srgbClr val="383838"/>
    </dgm:txFillClrLst>
    <dgm:txEffectClrLst/>
  </dgm:styleLbl>
  <dgm:styleLbl name="parChTrans1D2">
    <dgm:fillClrLst meth="repeat">
      <a:srgbClr val="0042FF"/>
    </dgm:fillClrLst>
    <dgm:linClrLst meth="repeat">
      <a:srgbClr val="668EFF"/>
    </dgm:linClrLst>
    <dgm:effectClrLst/>
    <dgm:txLinClrLst/>
    <dgm:txFillClrLst meth="repeat">
      <a:srgbClr val="383838"/>
    </dgm:txFillClrLst>
    <dgm:txEffectClrLst/>
  </dgm:styleLbl>
  <dgm:styleLbl name="parChTrans1D3">
    <dgm:fillClrLst meth="repeat">
      <a:srgbClr val="DCDCDC"/>
    </dgm:fillClrLst>
    <dgm:linClrLst meth="repeat">
      <a:srgbClr val="0042FF"/>
    </dgm:linClrLst>
    <dgm:effectClrLst/>
    <dgm:txLinClrLst/>
    <dgm:txFillClrLst meth="repeat">
      <a:srgbClr val="383838"/>
    </dgm:txFillClrLst>
    <dgm:txEffectClrLst/>
  </dgm:styleLbl>
  <dgm:styleLbl name="parChTrans1D4">
    <dgm:fillClrLst meth="repeat">
      <a:srgbClr val="B3D4FE"/>
    </dgm:fillClrLst>
    <dgm:linClrLst meth="repeat">
      <a:srgbClr val="DCDCDC"/>
    </dgm:linClrLst>
    <dgm:effectClrLst/>
    <dgm:txLinClrLst/>
    <dgm:txFillClrLst meth="repeat">
      <a:srgbClr val="383838"/>
    </dgm:txFillClrLst>
    <dgm:txEffectClrLst/>
  </dgm:styleLbl>
  <dgm:styleLbl name="parChTrans2D1">
    <dgm:fillClrLst meth="repeat">
      <a:srgbClr val="668EFF"/>
    </dgm:fillClrLst>
    <dgm:linClrLst meth="repeat">
      <a:srgbClr val="FFFFFF"/>
    </dgm:linClrLst>
    <dgm:effectClrLst/>
    <dgm:txLinClrLst/>
    <dgm:txFillClrLst meth="repeat">
      <a:srgbClr val="FFFFFF"/>
    </dgm:txFillClrLst>
    <dgm:txEffectClrLst/>
  </dgm:styleLbl>
  <dgm:styleLbl name="parChTrans2D2">
    <dgm:fillClrLst meth="repeat">
      <a:srgbClr val="0042FF"/>
    </dgm:fillClrLst>
    <dgm:linClrLst meth="repeat">
      <a:srgbClr val="FFFFFF"/>
    </dgm:linClrLst>
    <dgm:effectClrLst/>
    <dgm:txLinClrLst/>
    <dgm:txFillClrLst/>
    <dgm:txEffectClrLst/>
  </dgm:styleLbl>
  <dgm:styleLbl name="parChTrans2D3">
    <dgm:fillClrLst meth="repeat">
      <a:srgbClr val="DCDCDC"/>
    </dgm:fillClrLst>
    <dgm:linClrLst meth="repeat">
      <a:srgbClr val="FFFFFF"/>
    </dgm:linClrLst>
    <dgm:effectClrLst/>
    <dgm:txLinClrLst/>
    <dgm:txFillClrLst/>
    <dgm:txEffectClrLst/>
  </dgm:styleLbl>
  <dgm:styleLbl name="parChTrans2D4">
    <dgm:fillClrLst meth="repeat">
      <a:srgbClr val="3368FF"/>
    </dgm:fillClrLst>
    <dgm:linClrLst meth="repeat">
      <a:srgbClr val="FFFFFF"/>
    </dgm:linClrLst>
    <dgm:effectClrLst/>
    <dgm:txLinClrLst/>
    <dgm:txFillClrLst meth="repeat">
      <a:srgbClr val="FFFFFF"/>
    </dgm:txFillClrLst>
    <dgm:txEffectClrLst/>
  </dgm:styleLbl>
  <dgm:styleLbl name="revTx">
    <dgm:fillClrLst meth="repeat">
      <a:srgbClr val="FFFFFF">
        <a:alpha val="0"/>
      </a:srgbClr>
    </dgm:fillClrLst>
    <dgm:linClrLst meth="repeat">
      <a:srgbClr val="383838">
        <a:alpha val="0"/>
      </a:srgbClr>
    </dgm:linClrLst>
    <dgm:effectClrLst/>
    <dgm:txLinClrLst/>
    <dgm:txFillClrLst meth="repeat">
      <a:srgbClr val="383838"/>
    </dgm:txFillClrLst>
    <dgm:txEffectClrLst/>
  </dgm:styleLbl>
  <dgm:styleLbl name="sibTrans1D1">
    <dgm:fillClrLst meth="repeat">
      <a:srgbClr val="668EFF"/>
      <a:srgbClr val="0042FF"/>
      <a:srgbClr val="DCDCDC"/>
      <a:srgbClr val="3368FF"/>
      <a:srgbClr val="383838"/>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sibTrans2D1">
    <dgm:fillClrLst meth="repeat">
      <a:srgbClr val="668EFF"/>
      <a:srgbClr val="0042FF"/>
      <a:srgbClr val="DCDCDC"/>
      <a:srgbClr val="3368FF"/>
      <a:srgbClr val="383838"/>
    </dgm:fillClrLst>
    <dgm:linClrLst meth="cycle">
      <a:srgbClr val="FFFFFF"/>
    </dgm:linClrLst>
    <dgm:effectClrLst/>
    <dgm:txLinClrLst/>
    <dgm:txFillClrLst/>
    <dgm:txEffectClrLst/>
  </dgm:styleLbl>
  <dgm:styleLbl name="solidAlignAcc1">
    <dgm:fillClrLst meth="repeat">
      <a:srgbClr val="FFFFFF"/>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solidBgAcc1">
    <dgm:fillClrLst meth="repeat">
      <a:srgbClr val="FFFFFF"/>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solidFgAcc1">
    <dgm:fillClrLst meth="repeat">
      <a:srgbClr val="FFFFFF"/>
    </dgm:fillClrLst>
    <dgm:linClrLst meth="repeat">
      <a:srgbClr val="668EFF"/>
      <a:srgbClr val="0042FF"/>
      <a:srgbClr val="DCDCDC"/>
      <a:srgbClr val="3368FF"/>
      <a:srgbClr val="383838"/>
    </dgm:linClrLst>
    <dgm:effectClrLst/>
    <dgm:txLinClrLst/>
    <dgm:txFillClrLst meth="repeat">
      <a:srgbClr val="383838"/>
    </dgm:txFillClrLst>
    <dgm:txEffectClrLst/>
  </dgm:styleLbl>
  <dgm:styleLbl name="trAlignAcc1">
    <dgm:fillClrLst meth="repeat">
      <a:srgbClr val="FFFFFF">
        <a:alpha val="40000"/>
      </a:srgbClr>
    </dgm:fillClrLst>
    <dgm:linClrLst meth="repeat">
      <a:srgbClr val="0042FF"/>
    </dgm:linClrLst>
    <dgm:effectClrLst/>
    <dgm:txLinClrLst/>
    <dgm:txFillClrLst meth="repeat">
      <a:srgbClr val="383838"/>
    </dgm:txFillClrLst>
    <dgm:txEffectClrLst/>
  </dgm:styleLbl>
  <dgm:styleLbl name="trBgShp">
    <dgm:fillClrLst meth="repeat">
      <a:srgbClr val="668EFF">
        <a:alpha val="40000"/>
      </a:srgbClr>
    </dgm:fillClrLst>
    <dgm:linClrLst meth="repeat">
      <a:srgbClr val="668EFF"/>
    </dgm:linClrLst>
    <dgm:effectClrLst/>
    <dgm:txLinClrLst/>
    <dgm:txFillClrLst meth="repeat">
      <a:srgbClr val="FFFFFF"/>
    </dgm:txFillClrLst>
    <dgm:txEffectClrLst/>
  </dgm:styleLbl>
  <dgm:styleLbl name="vennNode1">
    <dgm:fillClrLst meth="repeat">
      <a:srgbClr val="668EFF">
        <a:alpha val="50000"/>
      </a:srgbClr>
      <a:srgbClr val="0042FF">
        <a:alpha val="50000"/>
      </a:srgbClr>
      <a:srgbClr val="DCDCDC">
        <a:alpha val="50000"/>
      </a:srgbClr>
      <a:srgbClr val="3368FF">
        <a:alpha val="50000"/>
      </a:srgbClr>
      <a:srgbClr val="383838">
        <a:alpha val="50000"/>
      </a:srgbClr>
    </dgm:fillClrLst>
    <dgm:linClrLst meth="repeat">
      <a:srgbClr val="FFFFFF"/>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04D99CA4-6036-3045-88D1-303F24D8A82C}" type="doc">
      <dgm:prSet loTypeId="urn:microsoft.com/office/officeart/2005/8/layout/process1" loCatId="" qsTypeId="urn:microsoft.com/office/officeart/2005/8/quickstyle/simple1#2" qsCatId="simple" csTypeId="urn:microsoft.com/office/officeart/2005/8/colors/colorful1#2" csCatId="colorful" phldr="1"/>
      <dgm:spPr/>
    </dgm:pt>
    <dgm:pt modelId="{5A899FB3-8319-6145-A682-4A2C6EB0D40A}" type="pres">
      <dgm:prSet presAssocID="{04D99CA4-6036-3045-88D1-303F24D8A82C}" presName="Name0" presStyleCnt="0">
        <dgm:presLayoutVars>
          <dgm:dir/>
          <dgm:resizeHandles val="exact"/>
        </dgm:presLayoutVars>
      </dgm:prSet>
      <dgm:spPr/>
    </dgm:pt>
  </dgm:ptLst>
  <dgm:cxnLst>
    <dgm:cxn modelId="{1B869829-1F9B-4BE2-9ADC-BF724ED06177}" type="presOf" srcId="{04D99CA4-6036-3045-88D1-303F24D8A82C}" destId="{5A899FB3-8319-6145-A682-4A2C6EB0D40A}" srcOrd="0" destOrd="0" presId="urn:microsoft.com/office/officeart/2005/8/layout/process1"/>
  </dgm:cxnLst>
  <dgm:bg/>
  <dgm:whole/>
  <dgm:extLst/>
</dgm:dataModel>
</file>

<file path=ppt/diagrams/layout1.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2">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rgbClr val="FFFFFF"/>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rgbClr val="FFFFFF"/>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rgbClr val="FFFFFF"/>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rgbClr val="FFFFFF"/>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rgbClr val="383838"/>
      </a:fontRef>
    </dgm:style>
  </dgm:styleLbl>
</dgm:styleDef>
</file>

<file path=ppt/drawings/drawing1.xml><?xml version="1.0" encoding="utf-8"?>
<c:userShapes xmlns:c="http://schemas.openxmlformats.org/drawingml/2006/chart">
  <cdr:relSizeAnchor xmlns:cdr="http://schemas.openxmlformats.org/drawingml/2006/chartDrawing">
    <cdr:from>
      <cdr:x>0.06452</cdr:x>
      <cdr:y>0.91229</cdr:y>
    </cdr:from>
    <cdr:to>
      <cdr:x>0.98046</cdr:x>
      <cdr:y>0.91229</cdr:y>
    </cdr:to>
    <cdr:cxnSp>
      <cdr:nvCxnSpPr>
        <cdr:cNvPr id="2" name="直接箭头连接符 1"/>
        <cdr:cNvCxnSpPr/>
      </cdr:nvCxnSpPr>
      <cdr:spPr xmlns:a="http://schemas.openxmlformats.org/drawingml/2006/main">
        <a:xfrm xmlns:a="http://schemas.openxmlformats.org/drawingml/2006/main">
          <a:off x="146050" y="1466487"/>
          <a:ext cx="2073275" cy="0"/>
        </a:xfrm>
        <a:prstGeom xmlns:a="http://schemas.openxmlformats.org/drawingml/2006/main" prst="straightConnector1">
          <a:avLst/>
        </a:prstGeom>
        <a:ln w="12700">
          <a:solidFill>
            <a:srgbClr val="DCDCDC"/>
          </a:solidFill>
          <a:tailEnd type="arrow"/>
        </a:ln>
      </cdr:spPr>
      <cdr:style>
        <a:lnRef xmlns:a="http://schemas.openxmlformats.org/drawingml/2006/main" idx="1">
          <a:srgbClr val="0042FF"/>
        </a:lnRef>
        <a:fillRef xmlns:a="http://schemas.openxmlformats.org/drawingml/2006/main" idx="0">
          <a:srgbClr val="0042FF"/>
        </a:fillRef>
        <a:effectRef xmlns:a="http://schemas.openxmlformats.org/drawingml/2006/main" idx="0">
          <a:srgbClr val="0042FF"/>
        </a:effectRef>
        <a:fontRef xmlns:a="http://schemas.openxmlformats.org/drawingml/2006/main" idx="minor">
          <a:srgbClr val="383838"/>
        </a:fontRef>
      </cdr:style>
    </cdr:cxnSp>
  </cdr:relSizeAnchor>
  <cdr:relSizeAnchor xmlns:cdr="http://schemas.openxmlformats.org/drawingml/2006/chartDrawing">
    <cdr:from>
      <cdr:x>0.06583</cdr:x>
      <cdr:y>0.05891</cdr:y>
    </cdr:from>
    <cdr:to>
      <cdr:x>0.06583</cdr:x>
      <cdr:y>0.91175</cdr:y>
    </cdr:to>
    <cdr:cxnSp>
      <cdr:nvCxnSpPr>
        <cdr:cNvPr id="3" name="直接箭头连接符 2"/>
        <cdr:cNvCxnSpPr/>
      </cdr:nvCxnSpPr>
      <cdr:spPr xmlns:a="http://schemas.openxmlformats.org/drawingml/2006/main">
        <a:xfrm xmlns:a="http://schemas.openxmlformats.org/drawingml/2006/main" flipV="1">
          <a:off x="149003" y="94697"/>
          <a:ext cx="0" cy="1370920"/>
        </a:xfrm>
        <a:prstGeom xmlns:a="http://schemas.openxmlformats.org/drawingml/2006/main" prst="straightConnector1">
          <a:avLst/>
        </a:prstGeom>
        <a:ln w="12700">
          <a:solidFill>
            <a:srgbClr val="DCDCDC"/>
          </a:solidFill>
          <a:tailEnd type="arrow"/>
        </a:ln>
      </cdr:spPr>
      <cdr:style>
        <a:lnRef xmlns:a="http://schemas.openxmlformats.org/drawingml/2006/main" idx="1">
          <a:srgbClr val="0042FF"/>
        </a:lnRef>
        <a:fillRef xmlns:a="http://schemas.openxmlformats.org/drawingml/2006/main" idx="0">
          <a:srgbClr val="0042FF"/>
        </a:fillRef>
        <a:effectRef xmlns:a="http://schemas.openxmlformats.org/drawingml/2006/main" idx="0">
          <a:srgbClr val="0042FF"/>
        </a:effectRef>
        <a:fontRef xmlns:a="http://schemas.openxmlformats.org/drawingml/2006/main" idx="minor">
          <a:srgbClr val="383838"/>
        </a:fontRef>
      </cdr:style>
    </cdr:cxn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rgbClr val="FFFFFF"/>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3962400" cy="344091"/>
          </a:xfrm>
          <a:prstGeom prst="rect">
            <a:avLst/>
          </a:prstGeom>
        </p:spPr>
        <p:txBody>
          <a:bodyPr vert="horz" lIns="0" tIns="0" rIns="0" bIns="0" rtlCol="0"/>
          <a:lstStyle>
            <a:lvl1pPr algn="l">
              <a:defRPr sz="1600">
                <a:latin typeface="微软雅黑"/>
                <a:ea typeface="微软雅黑"/>
                <a:cs typeface="微软雅黑"/>
              </a:defRPr>
            </a:lvl1pPr>
          </a:lstStyle>
          <a:p>
            <a:pPr>
              <a:defRPr>
                <a:latin typeface="微软雅黑"/>
                <a:ea typeface="微软雅黑"/>
                <a:cs typeface="微软雅黑"/>
              </a:defRPr>
            </a:pPr>
            <a:endParaRPr lang="zh-CN" altLang="en-US">
              <a:latin typeface="微软雅黑"/>
              <a:ea typeface="微软雅黑"/>
              <a:cs typeface="微软雅黑"/>
            </a:endParaRPr>
          </a:p>
        </p:txBody>
      </p:sp>
      <p:sp>
        <p:nvSpPr>
          <p:cNvPr id="3" name="日期占位符 2"/>
          <p:cNvSpPr>
            <a:spLocks noGrp="1"/>
          </p:cNvSpPr>
          <p:nvPr>
            <p:ph type="dt" sz="quarter" idx="1"/>
          </p:nvPr>
        </p:nvSpPr>
        <p:spPr>
          <a:xfrm>
            <a:off x="5179484" y="0"/>
            <a:ext cx="3962400" cy="344091"/>
          </a:xfrm>
          <a:prstGeom prst="rect">
            <a:avLst/>
          </a:prstGeom>
        </p:spPr>
        <p:txBody>
          <a:bodyPr vert="horz" lIns="0" tIns="0" rIns="0" bIns="0" rtlCol="0"/>
          <a:lstStyle>
            <a:lvl1pPr algn="r">
              <a:defRPr sz="1600">
                <a:latin typeface="微软雅黑"/>
                <a:ea typeface="微软雅黑"/>
                <a:cs typeface="微软雅黑"/>
              </a:defRPr>
            </a:lvl1pPr>
          </a:lstStyle>
          <a:p>
            <a:pPr>
              <a:defRPr>
                <a:latin typeface="微软雅黑"/>
                <a:ea typeface="微软雅黑"/>
                <a:cs typeface="微软雅黑"/>
              </a:defRPr>
            </a:pPr>
            <a:fld id="{0F9B84EA-7D68-4D60-9CB1-D50884785D1C}"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4" name="页脚占位符 3"/>
          <p:cNvSpPr>
            <a:spLocks noGrp="1"/>
          </p:cNvSpPr>
          <p:nvPr>
            <p:ph type="ftr" sz="quarter" idx="2"/>
          </p:nvPr>
        </p:nvSpPr>
        <p:spPr>
          <a:xfrm>
            <a:off x="0" y="6513910"/>
            <a:ext cx="3962400" cy="344090"/>
          </a:xfrm>
          <a:prstGeom prst="rect">
            <a:avLst/>
          </a:prstGeom>
        </p:spPr>
        <p:txBody>
          <a:bodyPr vert="horz" lIns="0" tIns="0" rIns="0" bIns="0" rtlCol="0" anchor="b"/>
          <a:lstStyle>
            <a:lvl1pPr algn="l">
              <a:defRPr sz="1600">
                <a:latin typeface="微软雅黑"/>
                <a:ea typeface="微软雅黑"/>
                <a:cs typeface="微软雅黑"/>
              </a:defRPr>
            </a:lvl1pPr>
          </a:lstStyle>
          <a:p>
            <a:pPr>
              <a:defRPr>
                <a:latin typeface="微软雅黑"/>
                <a:ea typeface="微软雅黑"/>
                <a:cs typeface="微软雅黑"/>
              </a:defRPr>
            </a:pPr>
            <a:endParaRPr lang="zh-CN" altLang="en-US">
              <a:latin typeface="微软雅黑"/>
              <a:ea typeface="微软雅黑"/>
              <a:cs typeface="微软雅黑"/>
            </a:endParaRPr>
          </a:p>
        </p:txBody>
      </p:sp>
      <p:sp>
        <p:nvSpPr>
          <p:cNvPr id="5" name="灯片编号占位符 4"/>
          <p:cNvSpPr>
            <a:spLocks noGrp="1"/>
          </p:cNvSpPr>
          <p:nvPr>
            <p:ph type="sldNum" sz="quarter" idx="3"/>
          </p:nvPr>
        </p:nvSpPr>
        <p:spPr>
          <a:xfrm>
            <a:off x="5179484" y="6513910"/>
            <a:ext cx="3962400" cy="344090"/>
          </a:xfrm>
          <a:prstGeom prst="rect">
            <a:avLst/>
          </a:prstGeom>
        </p:spPr>
        <p:txBody>
          <a:bodyPr vert="horz" lIns="0" tIns="0" rIns="0" bIns="0" rtlCol="0" anchor="b"/>
          <a:lstStyle>
            <a:lvl1pPr algn="r">
              <a:defRPr sz="1600">
                <a:latin typeface="微软雅黑"/>
                <a:ea typeface="微软雅黑"/>
                <a:cs typeface="微软雅黑"/>
              </a:defRPr>
            </a:lvl1pPr>
          </a:lstStyle>
          <a:p>
            <a:pPr>
              <a:defRPr>
                <a:latin typeface="微软雅黑"/>
                <a:ea typeface="微软雅黑"/>
                <a:cs typeface="微软雅黑"/>
              </a:defRPr>
            </a:pPr>
            <a:fld id="{8D4E0FC9-F1F8-4FAE-9988-3BA365CFD46F}"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rgbClr val="FFFFFF"/>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3962400" cy="344091"/>
          </a:xfrm>
          <a:prstGeom prst="rect">
            <a:avLst/>
          </a:prstGeom>
        </p:spPr>
        <p:txBody>
          <a:bodyPr vert="horz" lIns="0" tIns="0" rIns="0" bIns="0" rtlCol="0"/>
          <a:lstStyle>
            <a:lvl1pPr algn="l">
              <a:defRPr sz="1200">
                <a:latin typeface="微软雅黑"/>
                <a:ea typeface="微软雅黑"/>
                <a:cs typeface="微软雅黑"/>
              </a:defRPr>
            </a:lvl1pPr>
          </a:lstStyle>
          <a:p>
            <a:pPr>
              <a:defRPr>
                <a:latin typeface="微软雅黑"/>
                <a:ea typeface="微软雅黑"/>
                <a:cs typeface="微软雅黑"/>
              </a:defRPr>
            </a:pPr>
            <a:endParaRPr kumimoji="1" lang="zh-CN" altLang="en-US">
              <a:latin typeface="微软雅黑"/>
              <a:ea typeface="微软雅黑"/>
              <a:cs typeface="微软雅黑"/>
            </a:endParaRPr>
          </a:p>
        </p:txBody>
      </p:sp>
      <p:sp>
        <p:nvSpPr>
          <p:cNvPr id="3" name="日期占位符 2"/>
          <p:cNvSpPr>
            <a:spLocks noGrp="1"/>
          </p:cNvSpPr>
          <p:nvPr>
            <p:ph type="dt" idx="1"/>
          </p:nvPr>
        </p:nvSpPr>
        <p:spPr>
          <a:xfrm>
            <a:off x="5179484" y="0"/>
            <a:ext cx="3962400" cy="344091"/>
          </a:xfrm>
          <a:prstGeom prst="rect">
            <a:avLst/>
          </a:prstGeom>
        </p:spPr>
        <p:txBody>
          <a:bodyPr vert="horz" lIns="0" tIns="0" rIns="0" bIns="0" rtlCol="0"/>
          <a:lstStyle>
            <a:lvl1pPr algn="r">
              <a:defRPr sz="1200">
                <a:latin typeface="微软雅黑"/>
                <a:ea typeface="微软雅黑"/>
                <a:cs typeface="微软雅黑"/>
              </a:defRPr>
            </a:lvl1pPr>
          </a:lstStyle>
          <a:p>
            <a:pPr>
              <a:defRPr>
                <a:latin typeface="微软雅黑"/>
                <a:ea typeface="微软雅黑"/>
                <a:cs typeface="微软雅黑"/>
              </a:defRPr>
            </a:pPr>
            <a:fld id="{ACF6214C-E03D-6F40-B83F-4BCCB0CB53EF}" type="datetimeFigureOut">
              <a:rPr kumimoji="1" lang="zh-CN" altLang="en-US" smtClean="0">
                <a:latin typeface="微软雅黑"/>
                <a:ea typeface="微软雅黑"/>
                <a:cs typeface="微软雅黑"/>
              </a:rPr>
            </a:fld>
            <a:endParaRPr kumimoji="1" lang="zh-CN" altLang="en-US">
              <a:latin typeface="微软雅黑"/>
              <a:ea typeface="微软雅黑"/>
              <a:cs typeface="微软雅黑"/>
            </a:endParaRPr>
          </a:p>
        </p:txBody>
      </p:sp>
      <p:sp>
        <p:nvSpPr>
          <p:cNvPr id="4" name="幻灯片图像占位符 3"/>
          <p:cNvSpPr>
            <a:spLocks noGrp="1" noRot="1" noChangeAspect="1"/>
          </p:cNvSpPr>
          <p:nvPr>
            <p:ph type="sldImg" idx="2"/>
          </p:nvPr>
        </p:nvSpPr>
        <p:spPr>
          <a:xfrm>
            <a:off x="2514600" y="857250"/>
            <a:ext cx="4114800" cy="2314575"/>
          </a:xfrm>
          <a:prstGeom prst="rect">
            <a:avLst/>
          </a:prstGeom>
          <a:noFill/>
          <a:ln w="12700">
            <a:solidFill>
              <a:prstClr val="black"/>
            </a:solidFill>
          </a:ln>
        </p:spPr>
        <p:txBody>
          <a:bodyPr vert="horz" lIns="0" tIns="0" rIns="0" bIns="0" rtlCol="0" anchor="ctr"/>
          <a:lstStyle/>
          <a:p>
            <a:pPr>
              <a:defRPr>
                <a:latin typeface="微软雅黑"/>
                <a:ea typeface="微软雅黑"/>
                <a:cs typeface="微软雅黑"/>
              </a:defRPr>
            </a:pPr>
            <a:endParaRPr lang="zh-CN" altLang="en-US">
              <a:latin typeface="微软雅黑"/>
              <a:ea typeface="微软雅黑"/>
              <a:cs typeface="微软雅黑"/>
            </a:endParaRPr>
          </a:p>
        </p:txBody>
      </p:sp>
      <p:sp>
        <p:nvSpPr>
          <p:cNvPr id="5" name="备注占位符 4"/>
          <p:cNvSpPr>
            <a:spLocks noGrp="1"/>
          </p:cNvSpPr>
          <p:nvPr>
            <p:ph type="body" sz="quarter" idx="3"/>
          </p:nvPr>
        </p:nvSpPr>
        <p:spPr>
          <a:xfrm>
            <a:off x="914400" y="3300413"/>
            <a:ext cx="7315200" cy="2700338"/>
          </a:xfrm>
          <a:prstGeom prst="rect">
            <a:avLst/>
          </a:prstGeom>
        </p:spPr>
        <p:txBody>
          <a:bodyPr vert="horz" lIns="0" tIns="0" rIns="0" bIns="0" rtlCol="0"/>
          <a:lstStyle/>
          <a:p>
            <a:pPr lvl="0">
              <a:defRPr>
                <a:latin typeface="微软雅黑"/>
                <a:ea typeface="微软雅黑"/>
                <a:cs typeface="微软雅黑"/>
              </a:defRPr>
            </a:pPr>
            <a:r>
              <a:rPr kumimoji="1" lang="zh-CN" altLang="en-US">
                <a:latin typeface="微软雅黑"/>
                <a:ea typeface="微软雅黑"/>
                <a:cs typeface="微软雅黑"/>
              </a:rPr>
              <a:t>单击此处编辑母版文本样式</a:t>
            </a:r>
            <a:endParaRPr kumimoji="1" lang="zh-CN" altLang="en-US">
              <a:latin typeface="微软雅黑"/>
              <a:ea typeface="微软雅黑"/>
              <a:cs typeface="微软雅黑"/>
            </a:endParaRPr>
          </a:p>
          <a:p>
            <a:pPr lvl="1">
              <a:defRPr>
                <a:latin typeface="微软雅黑"/>
                <a:ea typeface="微软雅黑"/>
                <a:cs typeface="微软雅黑"/>
              </a:defRPr>
            </a:pPr>
            <a:r>
              <a:rPr kumimoji="1" lang="zh-CN" altLang="en-US">
                <a:latin typeface="微软雅黑"/>
                <a:ea typeface="微软雅黑"/>
                <a:cs typeface="微软雅黑"/>
              </a:rPr>
              <a:t>二级</a:t>
            </a:r>
            <a:endParaRPr kumimoji="1" lang="zh-CN" altLang="en-US">
              <a:latin typeface="微软雅黑"/>
              <a:ea typeface="微软雅黑"/>
              <a:cs typeface="微软雅黑"/>
            </a:endParaRPr>
          </a:p>
          <a:p>
            <a:pPr lvl="2">
              <a:defRPr>
                <a:latin typeface="微软雅黑"/>
                <a:ea typeface="微软雅黑"/>
                <a:cs typeface="微软雅黑"/>
              </a:defRPr>
            </a:pPr>
            <a:r>
              <a:rPr kumimoji="1" lang="zh-CN" altLang="en-US">
                <a:latin typeface="微软雅黑"/>
                <a:ea typeface="微软雅黑"/>
                <a:cs typeface="微软雅黑"/>
              </a:rPr>
              <a:t>三级</a:t>
            </a:r>
            <a:endParaRPr kumimoji="1" lang="zh-CN" altLang="en-US">
              <a:latin typeface="微软雅黑"/>
              <a:ea typeface="微软雅黑"/>
              <a:cs typeface="微软雅黑"/>
            </a:endParaRPr>
          </a:p>
          <a:p>
            <a:pPr lvl="3">
              <a:defRPr>
                <a:latin typeface="微软雅黑"/>
                <a:ea typeface="微软雅黑"/>
                <a:cs typeface="微软雅黑"/>
              </a:defRPr>
            </a:pPr>
            <a:r>
              <a:rPr kumimoji="1" lang="zh-CN" altLang="en-US">
                <a:latin typeface="微软雅黑"/>
                <a:ea typeface="微软雅黑"/>
                <a:cs typeface="微软雅黑"/>
              </a:rPr>
              <a:t>四级</a:t>
            </a:r>
            <a:endParaRPr kumimoji="1" lang="zh-CN" altLang="en-US">
              <a:latin typeface="微软雅黑"/>
              <a:ea typeface="微软雅黑"/>
              <a:cs typeface="微软雅黑"/>
            </a:endParaRPr>
          </a:p>
          <a:p>
            <a:pPr lvl="4">
              <a:defRPr>
                <a:latin typeface="微软雅黑"/>
                <a:ea typeface="微软雅黑"/>
                <a:cs typeface="微软雅黑"/>
              </a:defRPr>
            </a:pPr>
            <a:r>
              <a:rPr kumimoji="1" lang="zh-CN" altLang="en-US">
                <a:latin typeface="微软雅黑"/>
                <a:ea typeface="微软雅黑"/>
                <a:cs typeface="微软雅黑"/>
              </a:rPr>
              <a:t>五级</a:t>
            </a:r>
            <a:endParaRPr kumimoji="1" lang="zh-CN" altLang="en-US">
              <a:latin typeface="微软雅黑"/>
              <a:ea typeface="微软雅黑"/>
              <a:cs typeface="微软雅黑"/>
            </a:endParaRPr>
          </a:p>
        </p:txBody>
      </p:sp>
      <p:sp>
        <p:nvSpPr>
          <p:cNvPr id="6" name="页脚占位符 5"/>
          <p:cNvSpPr>
            <a:spLocks noGrp="1"/>
          </p:cNvSpPr>
          <p:nvPr>
            <p:ph type="ftr" sz="quarter" idx="4"/>
          </p:nvPr>
        </p:nvSpPr>
        <p:spPr>
          <a:xfrm>
            <a:off x="0" y="6513910"/>
            <a:ext cx="3962400" cy="344090"/>
          </a:xfrm>
          <a:prstGeom prst="rect">
            <a:avLst/>
          </a:prstGeom>
        </p:spPr>
        <p:txBody>
          <a:bodyPr vert="horz" lIns="0" tIns="0" rIns="0" bIns="0" rtlCol="0" anchor="b"/>
          <a:lstStyle>
            <a:lvl1pPr algn="l">
              <a:defRPr sz="1200">
                <a:latin typeface="微软雅黑"/>
                <a:ea typeface="微软雅黑"/>
                <a:cs typeface="微软雅黑"/>
              </a:defRPr>
            </a:lvl1pPr>
          </a:lstStyle>
          <a:p>
            <a:pPr>
              <a:defRPr>
                <a:latin typeface="微软雅黑"/>
                <a:ea typeface="微软雅黑"/>
                <a:cs typeface="微软雅黑"/>
              </a:defRPr>
            </a:pPr>
            <a:endParaRPr kumimoji="1" lang="zh-CN" altLang="en-US">
              <a:latin typeface="微软雅黑"/>
              <a:ea typeface="微软雅黑"/>
              <a:cs typeface="微软雅黑"/>
            </a:endParaRPr>
          </a:p>
        </p:txBody>
      </p:sp>
      <p:sp>
        <p:nvSpPr>
          <p:cNvPr id="7" name="灯片编号占位符 6"/>
          <p:cNvSpPr>
            <a:spLocks noGrp="1"/>
          </p:cNvSpPr>
          <p:nvPr>
            <p:ph type="sldNum" sz="quarter" idx="5"/>
          </p:nvPr>
        </p:nvSpPr>
        <p:spPr>
          <a:xfrm>
            <a:off x="5179484" y="6513910"/>
            <a:ext cx="3962400" cy="344090"/>
          </a:xfrm>
          <a:prstGeom prst="rect">
            <a:avLst/>
          </a:prstGeom>
        </p:spPr>
        <p:txBody>
          <a:bodyPr vert="horz" lIns="0" tIns="0" rIns="0" bIns="0" rtlCol="0" anchor="b"/>
          <a:lstStyle>
            <a:lvl1pPr algn="r">
              <a:defRPr sz="1200">
                <a:latin typeface="微软雅黑"/>
                <a:ea typeface="微软雅黑"/>
                <a:cs typeface="微软雅黑"/>
              </a:defRPr>
            </a:lvl1pPr>
          </a:lstStyle>
          <a:p>
            <a:pPr>
              <a:defRPr>
                <a:latin typeface="微软雅黑"/>
                <a:ea typeface="微软雅黑"/>
                <a:cs typeface="微软雅黑"/>
              </a:defRPr>
            </a:pPr>
            <a:fld id="{7D75D23C-CB69-BA4F-AB82-253009860475}" type="slidenum">
              <a:rPr kumimoji="1" lang="zh-CN" altLang="en-US" smtClean="0">
                <a:latin typeface="微软雅黑"/>
                <a:ea typeface="微软雅黑"/>
                <a:cs typeface="微软雅黑"/>
              </a:rPr>
            </a:fld>
            <a:endParaRPr kumimoji="1" lang="zh-CN" altLang="en-US">
              <a:latin typeface="微软雅黑"/>
              <a:ea typeface="微软雅黑"/>
              <a:cs typeface="微软雅黑"/>
            </a:endParaRPr>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rgbClr val="383838"/>
        </a:solidFill>
        <a:latin typeface="微软雅黑"/>
        <a:ea typeface="微软雅黑"/>
        <a:cs typeface="微软雅黑"/>
      </a:defRPr>
    </a:lvl1pPr>
    <a:lvl2pPr marL="457200" algn="l" defTabSz="914400" rtl="0" eaLnBrk="1" latinLnBrk="0" hangingPunct="1">
      <a:defRPr sz="1200" kern="1200">
        <a:solidFill>
          <a:srgbClr val="383838"/>
        </a:solidFill>
        <a:latin typeface="微软雅黑"/>
        <a:ea typeface="微软雅黑"/>
        <a:cs typeface="微软雅黑"/>
      </a:defRPr>
    </a:lvl2pPr>
    <a:lvl3pPr marL="914400" algn="l" defTabSz="914400" rtl="0" eaLnBrk="1" latinLnBrk="0" hangingPunct="1">
      <a:defRPr sz="1200" kern="1200">
        <a:solidFill>
          <a:srgbClr val="383838"/>
        </a:solidFill>
        <a:latin typeface="微软雅黑"/>
        <a:ea typeface="微软雅黑"/>
        <a:cs typeface="微软雅黑"/>
      </a:defRPr>
    </a:lvl3pPr>
    <a:lvl4pPr marL="1371600" algn="l" defTabSz="914400" rtl="0" eaLnBrk="1" latinLnBrk="0" hangingPunct="1">
      <a:defRPr sz="1200" kern="1200">
        <a:solidFill>
          <a:srgbClr val="383838"/>
        </a:solidFill>
        <a:latin typeface="微软雅黑"/>
        <a:ea typeface="微软雅黑"/>
        <a:cs typeface="微软雅黑"/>
      </a:defRPr>
    </a:lvl4pPr>
    <a:lvl5pPr marL="1828800" algn="l" defTabSz="914400" rtl="0" eaLnBrk="1" latinLnBrk="0" hangingPunct="1">
      <a:defRPr sz="1200" kern="1200">
        <a:solidFill>
          <a:srgbClr val="383838"/>
        </a:solidFill>
        <a:latin typeface="微软雅黑"/>
        <a:ea typeface="微软雅黑"/>
        <a:cs typeface="微软雅黑"/>
      </a:defRPr>
    </a:lvl5pPr>
    <a:lvl6pPr marL="2286000" algn="l" defTabSz="914400" rtl="0" eaLnBrk="1" latinLnBrk="0" hangingPunct="1">
      <a:defRPr sz="1200" kern="1200">
        <a:solidFill>
          <a:srgbClr val="383838"/>
        </a:solidFill>
        <a:latin typeface="微软雅黑"/>
        <a:ea typeface="微软雅黑"/>
        <a:cs typeface="微软雅黑"/>
      </a:defRPr>
    </a:lvl6pPr>
    <a:lvl7pPr marL="2743200" algn="l" defTabSz="914400" rtl="0" eaLnBrk="1" latinLnBrk="0" hangingPunct="1">
      <a:defRPr sz="1200" kern="1200">
        <a:solidFill>
          <a:srgbClr val="383838"/>
        </a:solidFill>
        <a:latin typeface="微软雅黑"/>
        <a:ea typeface="微软雅黑"/>
        <a:cs typeface="微软雅黑"/>
      </a:defRPr>
    </a:lvl7pPr>
    <a:lvl8pPr marL="3200400" algn="l" defTabSz="914400" rtl="0" eaLnBrk="1" latinLnBrk="0" hangingPunct="1">
      <a:defRPr sz="1200" kern="1200">
        <a:solidFill>
          <a:srgbClr val="383838"/>
        </a:solidFill>
        <a:latin typeface="微软雅黑"/>
        <a:ea typeface="微软雅黑"/>
        <a:cs typeface="微软雅黑"/>
      </a:defRPr>
    </a:lvl8pPr>
    <a:lvl9pPr marL="3657600" algn="l" defTabSz="914400" rtl="0" eaLnBrk="1" latinLnBrk="0" hangingPunct="1">
      <a:defRPr sz="1200" kern="1200">
        <a:solidFill>
          <a:srgbClr val="383838"/>
        </a:solidFill>
        <a:latin typeface="微软雅黑"/>
        <a:ea typeface="微软雅黑"/>
        <a:cs typeface="微软雅黑"/>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9.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0.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1.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2.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3.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4.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5.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7.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8.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9.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1.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2.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3.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4.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5.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6.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7.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9.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0.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4.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6.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7.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8.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9.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2.xml"/></Relationships>
</file>

<file path=ppt/notesSlides/_rels/notesSlide5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3.xml"/></Relationships>
</file>

<file path=ppt/notesSlides/_rels/notesSlide5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5.xml"/></Relationships>
</file>

<file path=ppt/notesSlides/_rels/notesSlide5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6.xml"/></Relationships>
</file>

<file path=ppt/notesSlides/_rels/notesSlide5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7.xml"/></Relationships>
</file>

<file path=ppt/notesSlides/_rels/notesSlide5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9.xml"/></Relationships>
</file>

<file path=ppt/notesSlides/_rels/notesSlide5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8.xml"/></Relationships>
</file>

<file path=ppt/notesSlides/_rels/notesSlide5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lIns="0" rIns="0" tIns="0" bIns="0"/>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lIns="0" rIns="0" tIns="0" bIns="0"/>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 name="页眉占位符 3"/>
          <p:cNvSpPr>
            <a:spLocks noGrp="1"/>
          </p:cNvSpPr>
          <p:nvPr>
            <p:ph type="hdr" sz="quarter"/>
          </p:nvPr>
        </p:nvSpPr>
        <p:spPr/>
        <p:txBody>
          <a:bodyPr lIns="0" rIns="0" tIns="0" bIns="0"/>
          <a:p>
            <a:pPr>
              <a:defRPr>
                <a:latin typeface="微软雅黑"/>
                <a:ea typeface="微软雅黑"/>
                <a:cs typeface="微软雅黑"/>
              </a:defRPr>
            </a:pPr>
            <a:r>
              <a:rPr kumimoji="1" lang="zh-CN" altLang="en-US">
                <a:latin typeface="微软雅黑"/>
                <a:ea typeface="微软雅黑"/>
                <a:cs typeface="微软雅黑"/>
              </a:rPr>
              <a:t>开悟思维-框架搭建系列PPT模板</a:t>
            </a:r>
            <a:endParaRPr kumimoji="1" lang="zh-CN" altLang="en-US">
              <a:latin typeface="微软雅黑"/>
              <a:ea typeface="微软雅黑"/>
              <a:cs typeface="微软雅黑"/>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lIns="0" rIns="0" tIns="0" bIns="0"/>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lIns="0" rIns="0" tIns="0" bIns="0"/>
          <a:p>
            <a:pPr>
              <a:defRPr>
                <a:latin typeface="微软雅黑"/>
                <a:ea typeface="微软雅黑"/>
                <a:cs typeface="微软雅黑"/>
              </a:defRPr>
            </a:pPr>
            <a:endParaRPr lang="zh-CN" altLang="en-US">
              <a:latin typeface="微软雅黑"/>
              <a:ea typeface="微软雅黑"/>
              <a:cs typeface="微软雅黑"/>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lIns="0" rIns="0" tIns="0" bIns="0"/>
          <a:lstStyle/>
          <a:p>
            <a:pPr>
              <a:defRPr>
                <a:latin typeface="微软雅黑"/>
                <a:ea typeface="微软雅黑"/>
                <a:cs typeface="微软雅黑"/>
              </a:defRPr>
            </a:pPr>
            <a:r>
              <a:rPr lang="en-US" altLang="zh-CN">
                <a:latin typeface="微软雅黑"/>
                <a:ea typeface="微软雅黑"/>
                <a:cs typeface="微软雅黑"/>
              </a:rPr>
              <a:t> </a:t>
            </a:r>
            <a:endParaRPr lang="en-US" altLang="zh-CN">
              <a:latin typeface="微软雅黑"/>
              <a:ea typeface="微软雅黑"/>
              <a:cs typeface="微软雅黑"/>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6" Type="http://schemas.openxmlformats.org/officeDocument/2006/relationships/tags" Target="../tags/tag5.xml"/><Relationship Id="rId5" Type="http://schemas.openxmlformats.org/officeDocument/2006/relationships/tags" Target="../tags/tag4.xml"/><Relationship Id="rId4" Type="http://schemas.openxmlformats.org/officeDocument/2006/relationships/tags" Target="../tags/tag3.xml"/><Relationship Id="rId3" Type="http://schemas.openxmlformats.org/officeDocument/2006/relationships/tags" Target="../tags/tag2.xml"/><Relationship Id="rId2" Type="http://schemas.openxmlformats.org/officeDocument/2006/relationships/tags" Target="../tags/tag1.xml"/><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6" Type="http://schemas.openxmlformats.org/officeDocument/2006/relationships/tags" Target="../tags/tag10.xml"/><Relationship Id="rId5" Type="http://schemas.openxmlformats.org/officeDocument/2006/relationships/tags" Target="../tags/tag9.xml"/><Relationship Id="rId4" Type="http://schemas.openxmlformats.org/officeDocument/2006/relationships/tags" Target="../tags/tag8.xml"/><Relationship Id="rId3" Type="http://schemas.openxmlformats.org/officeDocument/2006/relationships/tags" Target="../tags/tag7.xml"/><Relationship Id="rId2" Type="http://schemas.openxmlformats.org/officeDocument/2006/relationships/tags" Target="../tags/tag6.xml"/><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2_标题和内容">
    <p:spTree>
      <p:nvGrpSpPr>
        <p:cNvPr id="1" name=""/>
        <p:cNvGrpSpPr/>
        <p:nvPr/>
      </p:nvGrpSpPr>
      <p:grpSpPr>
        <a:xfrm>
          <a:off x="0" y="0"/>
          <a:ext cx="0" cy="0"/>
          <a:chOff x="0" y="0"/>
          <a:chExt cx="0" cy="0"/>
        </a:xfrm>
      </p:grpSpPr>
      <p:sp>
        <p:nvSpPr>
          <p:cNvPr id="9" name="文本框 8"/>
          <p:cNvSpPr txBox="1"/>
          <p:nvPr userDrawn="1"/>
        </p:nvSpPr>
        <p:spPr>
          <a:xfrm>
            <a:off x="5227955" y="215900"/>
            <a:ext cx="5846445" cy="826135"/>
          </a:xfrm>
          <a:prstGeom prst="rect">
            <a:avLst/>
          </a:prstGeom>
          <a:noFill/>
        </p:spPr>
        <p:txBody>
          <a:bodyPr wrap="square" rtlCol="0" anchor="ctr" anchorCtr="0">
            <a:noAutofit/>
          </a:bodyPr>
          <a:lstStyle/>
          <a:p>
            <a:pPr algn="ctr">
              <a:lnSpc>
                <a:spcPct val="150000"/>
              </a:lnSpc>
              <a:defRPr>
                <a:latin typeface="微软雅黑"/>
                <a:ea typeface="微软雅黑"/>
                <a:cs typeface="微软雅黑"/>
              </a:defRPr>
            </a:pPr>
            <a:r>
              <a:rPr lang="zh-CN" altLang="en-US" sz="1600">
                <a:solidFill>
                  <a:srgbClr val="FFFFFF"/>
                </a:solidFill>
                <a:latin typeface="微软雅黑"/>
                <a:ea typeface="微软雅黑"/>
                <a:cs typeface="微软雅黑"/>
                <a:sym typeface="微软雅黑"/>
              </a:rPr>
              <a:t>本作品系开悟思维原创作品，已获国家版权局作品登记证书！</a:t>
            </a:r>
            <a:endParaRPr lang="zh-CN" altLang="en-US" sz="1600">
              <a:solidFill>
                <a:srgbClr val="FFFFFF"/>
              </a:solidFill>
              <a:latin typeface="微软雅黑"/>
              <a:ea typeface="微软雅黑"/>
              <a:cs typeface="微软雅黑"/>
              <a:sym typeface="微软雅黑"/>
            </a:endParaRPr>
          </a:p>
          <a:p>
            <a:pPr algn="ctr">
              <a:lnSpc>
                <a:spcPct val="150000"/>
              </a:lnSpc>
              <a:defRPr>
                <a:latin typeface="微软雅黑"/>
                <a:ea typeface="微软雅黑"/>
                <a:cs typeface="微软雅黑"/>
              </a:defRPr>
            </a:pPr>
            <a:r>
              <a:rPr lang="zh-CN" altLang="en-US" sz="1600">
                <a:solidFill>
                  <a:srgbClr val="FFFFFF"/>
                </a:solidFill>
                <a:latin typeface="微软雅黑"/>
                <a:ea typeface="微软雅黑"/>
                <a:cs typeface="微软雅黑"/>
                <a:sym typeface="微软雅黑"/>
              </a:rPr>
              <a:t>原创版权保护，仅供个人学习使用，侵权必究！</a:t>
            </a:r>
            <a:endParaRPr lang="zh-CN" altLang="en-US" sz="1600">
              <a:solidFill>
                <a:srgbClr val="FFFFFF"/>
              </a:solidFill>
              <a:latin typeface="微软雅黑"/>
              <a:ea typeface="微软雅黑"/>
              <a:cs typeface="微软雅黑"/>
            </a:endParaRPr>
          </a:p>
          <a:p>
            <a:pPr>
              <a:defRPr>
                <a:latin typeface="微软雅黑"/>
                <a:ea typeface="微软雅黑"/>
                <a:cs typeface="微软雅黑"/>
              </a:defRPr>
            </a:pPr>
            <a:endParaRPr lang="zh-CN" altLang="en-US" sz="1600">
              <a:solidFill>
                <a:srgbClr val="FFFFFF"/>
              </a:solidFill>
              <a:latin typeface="微软雅黑"/>
              <a:ea typeface="微软雅黑"/>
              <a:cs typeface="微软雅黑"/>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3_标题和内容">
    <p:spTree>
      <p:nvGrpSpPr>
        <p:cNvPr id="1" name=""/>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标题幻灯片">
    <p:spTree>
      <p:nvGrpSpPr>
        <p:cNvPr id="1" name=""/>
        <p:cNvGrpSpPr/>
        <p:nvPr/>
      </p:nvGrpSpPr>
      <p:grpSpPr>
        <a:xfrm>
          <a:off x="0" y="0"/>
          <a:ext cx="0" cy="0"/>
          <a:chOff x="0" y="0"/>
          <a:chExt cx="0" cy="0"/>
        </a:xfrm>
      </p:grpSpPr>
      <p:cxnSp>
        <p:nvCxnSpPr>
          <p:cNvPr id="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58" name="内容占位符 57"/>
          <p:cNvSpPr>
            <a:spLocks noGrp="1"/>
          </p:cNvSpPr>
          <p:nvPr>
            <p:ph sz="quarter" idx="18"/>
          </p:nvPr>
        </p:nvSpPr>
        <p:spPr>
          <a:xfrm>
            <a:off x="519113" y="1289050"/>
            <a:ext cx="10987087" cy="4627563"/>
          </a:xfrm>
        </p:spPr>
        <p:txBody>
          <a:bodyPr lIns="0" rIns="0" tIns="0" bIns="0"/>
          <a:lstStyle>
            <a:lvl1pPr>
              <a:defRPr>
                <a:latin typeface="微软雅黑"/>
                <a:ea typeface="微软雅黑"/>
                <a:cs typeface="微软雅黑"/>
              </a:defRPr>
            </a:lvl1pPr>
            <a:lvl2pPr>
              <a:defRPr>
                <a:latin typeface="微软雅黑"/>
                <a:ea typeface="微软雅黑"/>
                <a:cs typeface="微软雅黑"/>
              </a:defRPr>
            </a:lvl2pPr>
            <a:lvl3pPr>
              <a:defRPr>
                <a:latin typeface="微软雅黑"/>
                <a:ea typeface="微软雅黑"/>
                <a:cs typeface="微软雅黑"/>
              </a:defRPr>
            </a:lvl3pPr>
            <a:lvl4pPr>
              <a:defRPr>
                <a:latin typeface="微软雅黑"/>
                <a:ea typeface="微软雅黑"/>
                <a:cs typeface="微软雅黑"/>
              </a:defRPr>
            </a:lvl4pPr>
            <a:lvl5pPr>
              <a:defRPr>
                <a:latin typeface="微软雅黑"/>
                <a:ea typeface="微软雅黑"/>
                <a:cs typeface="微软雅黑"/>
              </a:defRPr>
            </a:lvl5pPr>
          </a:lstStyle>
          <a:p>
            <a:pPr lvl="0">
              <a:defRPr>
                <a:latin typeface="微软雅黑"/>
                <a:ea typeface="微软雅黑"/>
                <a:cs typeface="微软雅黑"/>
              </a:defRPr>
            </a:pPr>
            <a:r>
              <a:rPr kumimoji="1" lang="zh-CN" altLang="en-US">
                <a:latin typeface="微软雅黑"/>
                <a:ea typeface="微软雅黑"/>
                <a:cs typeface="微软雅黑"/>
              </a:rPr>
              <a:t>单击此处编辑母版文本样式</a:t>
            </a:r>
            <a:endParaRPr kumimoji="1" lang="zh-CN" altLang="en-US">
              <a:latin typeface="微软雅黑"/>
              <a:ea typeface="微软雅黑"/>
              <a:cs typeface="微软雅黑"/>
            </a:endParaRPr>
          </a:p>
          <a:p>
            <a:pPr lvl="1">
              <a:defRPr>
                <a:latin typeface="微软雅黑"/>
                <a:ea typeface="微软雅黑"/>
                <a:cs typeface="微软雅黑"/>
              </a:defRPr>
            </a:pPr>
            <a:r>
              <a:rPr kumimoji="1" lang="zh-CN" altLang="en-US">
                <a:latin typeface="微软雅黑"/>
                <a:ea typeface="微软雅黑"/>
                <a:cs typeface="微软雅黑"/>
              </a:rPr>
              <a:t>二级</a:t>
            </a:r>
            <a:endParaRPr kumimoji="1" lang="zh-CN" altLang="en-US">
              <a:latin typeface="微软雅黑"/>
              <a:ea typeface="微软雅黑"/>
              <a:cs typeface="微软雅黑"/>
            </a:endParaRPr>
          </a:p>
          <a:p>
            <a:pPr lvl="2">
              <a:defRPr>
                <a:latin typeface="微软雅黑"/>
                <a:ea typeface="微软雅黑"/>
                <a:cs typeface="微软雅黑"/>
              </a:defRPr>
            </a:pPr>
            <a:r>
              <a:rPr kumimoji="1" lang="zh-CN" altLang="en-US">
                <a:latin typeface="微软雅黑"/>
                <a:ea typeface="微软雅黑"/>
                <a:cs typeface="微软雅黑"/>
              </a:rPr>
              <a:t>三级</a:t>
            </a:r>
            <a:endParaRPr kumimoji="1" lang="zh-CN" altLang="en-US">
              <a:latin typeface="微软雅黑"/>
              <a:ea typeface="微软雅黑"/>
              <a:cs typeface="微软雅黑"/>
            </a:endParaRPr>
          </a:p>
          <a:p>
            <a:pPr lvl="3">
              <a:defRPr>
                <a:latin typeface="微软雅黑"/>
                <a:ea typeface="微软雅黑"/>
                <a:cs typeface="微软雅黑"/>
              </a:defRPr>
            </a:pPr>
            <a:r>
              <a:rPr kumimoji="1" lang="zh-CN" altLang="en-US">
                <a:latin typeface="微软雅黑"/>
                <a:ea typeface="微软雅黑"/>
                <a:cs typeface="微软雅黑"/>
              </a:rPr>
              <a:t>四级</a:t>
            </a:r>
            <a:endParaRPr kumimoji="1" lang="zh-CN" altLang="en-US">
              <a:latin typeface="微软雅黑"/>
              <a:ea typeface="微软雅黑"/>
              <a:cs typeface="微软雅黑"/>
            </a:endParaRPr>
          </a:p>
          <a:p>
            <a:pPr lvl="4">
              <a:defRPr>
                <a:latin typeface="微软雅黑"/>
                <a:ea typeface="微软雅黑"/>
                <a:cs typeface="微软雅黑"/>
              </a:defRPr>
            </a:pPr>
            <a:r>
              <a:rPr kumimoji="1" lang="zh-CN" altLang="en-US">
                <a:latin typeface="微软雅黑"/>
                <a:ea typeface="微软雅黑"/>
                <a:cs typeface="微软雅黑"/>
              </a:rPr>
              <a:t>五级</a:t>
            </a:r>
            <a:endParaRPr kumimoji="1" lang="zh-CN" altLang="en-US">
              <a:latin typeface="微软雅黑"/>
              <a:ea typeface="微软雅黑"/>
              <a:cs typeface="微软雅黑"/>
            </a:endParaRPr>
          </a:p>
        </p:txBody>
      </p:sp>
      <p:sp>
        <p:nvSpPr>
          <p:cNvPr id="5" name="标题 1"/>
          <p:cNvSpPr>
            <a:spLocks noGrp="1"/>
          </p:cNvSpPr>
          <p:nvPr>
            <p:ph type="ctrTitle" hasCustomPrompt="1"/>
          </p:nvPr>
        </p:nvSpPr>
        <p:spPr>
          <a:xfrm>
            <a:off x="368705" y="275357"/>
            <a:ext cx="2188210" cy="481330"/>
          </a:xfrm>
          <a:ln w="12700">
            <a:miter lim="400000"/>
          </a:ln>
        </p:spPr>
        <p:txBody>
          <a:bodyPr wrap="none" lIns="0" tIns="0" rIns="0" bIns="0">
            <a:spAutoFit/>
          </a:bodyPr>
          <a:lstStyle>
            <a:lvl1pPr>
              <a:defRPr kumimoji="0" lang="zh-CN" altLang="en-US" sz="2800" b="1" u="none" strike="noStrike"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marL="0" marR="0" lvl="0" indent="0" fontAlgn="auto">
              <a:lnSpc>
                <a:spcPct val="100000"/>
              </a:lnSpc>
              <a:spcBef>
                <a:spcPts val="0"/>
              </a:spcBef>
              <a:spcAft>
                <a:spcPts val="0"/>
              </a:spcAft>
              <a:buClrTx/>
              <a:buSzTx/>
              <a:buFontTx/>
              <a:defRPr>
                <a:latin typeface="微软雅黑"/>
                <a:ea typeface="微软雅黑"/>
                <a:cs typeface="微软雅黑"/>
              </a:defRPr>
            </a:pPr>
            <a:r>
              <a:rPr lang="zh-CN" altLang="en-US" dirty="0">
                <a:latin typeface="微软雅黑"/>
                <a:ea typeface="微软雅黑"/>
                <a:cs typeface="微软雅黑"/>
              </a:rPr>
              <a:t>单击输入文字</a:t>
            </a:r>
            <a:endParaRPr lang="zh-CN" altLang="en-US" dirty="0">
              <a:latin typeface="微软雅黑"/>
              <a:ea typeface="微软雅黑"/>
              <a:cs typeface="微软雅黑"/>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3" name="副标题 2"/>
          <p:cNvSpPr>
            <a:spLocks noGrp="1"/>
          </p:cNvSpPr>
          <p:nvPr>
            <p:ph type="subTitle" idx="1" hasCustomPrompt="1"/>
          </p:nvPr>
        </p:nvSpPr>
        <p:spPr>
          <a:xfrm>
            <a:off x="1524000" y="3602038"/>
            <a:ext cx="9144000" cy="1655762"/>
          </a:xfrm>
        </p:spPr>
        <p:txBody>
          <a:bodyPr lIns="0" rIns="0" tIns="0" bIns="0"/>
          <a:lstStyle>
            <a:lvl1pPr marL="0" indent="0" algn="ctr">
              <a:buNone/>
              <a:defRPr sz="2400">
                <a:latin typeface="微软雅黑"/>
                <a:ea typeface="微软雅黑"/>
                <a:cs typeface="微软雅黑"/>
              </a:defRPr>
            </a:lvl1pPr>
            <a:lvl2pPr marL="457200" indent="0" algn="ctr">
              <a:buNone/>
              <a:defRPr sz="2000">
                <a:latin typeface="微软雅黑"/>
                <a:ea typeface="微软雅黑"/>
                <a:cs typeface="微软雅黑"/>
              </a:defRPr>
            </a:lvl2pPr>
            <a:lvl3pPr marL="914400" indent="0" algn="ctr">
              <a:buNone/>
              <a:defRPr sz="1800">
                <a:latin typeface="微软雅黑"/>
                <a:ea typeface="微软雅黑"/>
                <a:cs typeface="微软雅黑"/>
              </a:defRPr>
            </a:lvl3pPr>
            <a:lvl4pPr marL="1371600" indent="0" algn="ctr">
              <a:buNone/>
              <a:defRPr sz="1600">
                <a:latin typeface="微软雅黑"/>
                <a:ea typeface="微软雅黑"/>
                <a:cs typeface="微软雅黑"/>
              </a:defRPr>
            </a:lvl4pPr>
            <a:lvl5pPr marL="1828800" indent="0" algn="ctr">
              <a:buNone/>
              <a:defRPr sz="1600">
                <a:latin typeface="微软雅黑"/>
                <a:ea typeface="微软雅黑"/>
                <a:cs typeface="微软雅黑"/>
              </a:defRPr>
            </a:lvl5pPr>
            <a:lvl6pPr marL="2286000" indent="0" algn="ctr">
              <a:buNone/>
              <a:defRPr sz="1600">
                <a:latin typeface="微软雅黑"/>
                <a:ea typeface="微软雅黑"/>
                <a:cs typeface="微软雅黑"/>
              </a:defRPr>
            </a:lvl6pPr>
            <a:lvl7pPr marL="2743200" indent="0" algn="ctr">
              <a:buNone/>
              <a:defRPr sz="1600">
                <a:latin typeface="微软雅黑"/>
                <a:ea typeface="微软雅黑"/>
                <a:cs typeface="微软雅黑"/>
              </a:defRPr>
            </a:lvl7pPr>
            <a:lvl8pPr marL="3200400" indent="0" algn="ctr">
              <a:buNone/>
              <a:defRPr sz="1600">
                <a:latin typeface="微软雅黑"/>
                <a:ea typeface="微软雅黑"/>
                <a:cs typeface="微软雅黑"/>
              </a:defRPr>
            </a:lvl8pPr>
            <a:lvl9pPr marL="3657600" indent="0" algn="ctr">
              <a:buNone/>
              <a:defRPr sz="1600">
                <a:latin typeface="微软雅黑"/>
                <a:ea typeface="微软雅黑"/>
                <a:cs typeface="微软雅黑"/>
              </a:defRPr>
            </a:lvl9pPr>
          </a:lstStyle>
          <a:p>
            <a:pPr>
              <a:defRPr>
                <a:latin typeface="微软雅黑"/>
                <a:ea typeface="微软雅黑"/>
                <a:cs typeface="微软雅黑"/>
              </a:defRPr>
            </a:pPr>
            <a:r>
              <a:rPr lang="zh-CN" altLang="en-US">
                <a:latin typeface="微软雅黑"/>
                <a:ea typeface="微软雅黑"/>
                <a:cs typeface="微软雅黑"/>
              </a:rPr>
              <a:t>单击以编辑母版副标题样式</a:t>
            </a:r>
            <a:endParaRPr lang="zh-CN" altLang="en-US">
              <a:latin typeface="微软雅黑"/>
              <a:ea typeface="微软雅黑"/>
              <a:cs typeface="微软雅黑"/>
            </a:endParaRPr>
          </a:p>
        </p:txBody>
      </p:sp>
      <p:sp>
        <p:nvSpPr>
          <p:cNvPr id="4" name="日期占位符 3"/>
          <p:cNvSpPr>
            <a:spLocks noGrp="1"/>
          </p:cNvSpPr>
          <p:nvPr>
            <p:ph type="dt" sz="half" idx="10"/>
          </p:nvPr>
        </p:nvSpPr>
        <p:spPr/>
        <p:txBody>
          <a:bodyPr lIns="0" rIns="0" tIns="0" bIns="0"/>
          <a:lstStyle/>
          <a:p>
            <a:pPr>
              <a:defRPr>
                <a:latin typeface="微软雅黑"/>
                <a:ea typeface="微软雅黑"/>
                <a:cs typeface="微软雅黑"/>
              </a:defRPr>
            </a:pPr>
            <a:fld id="{0FC04CB4-406B-4597-B044-D3B6F9EB6171}"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5" name="页脚占位符 4"/>
          <p:cNvSpPr>
            <a:spLocks noGrp="1"/>
          </p:cNvSpPr>
          <p:nvPr>
            <p:ph type="ftr" sz="quarter" idx="11"/>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 name="灯片编号占位符 5"/>
          <p:cNvSpPr>
            <a:spLocks noGrp="1"/>
          </p:cNvSpPr>
          <p:nvPr>
            <p:ph type="sldNum" sz="quarter" idx="12"/>
          </p:nvPr>
        </p:nvSpPr>
        <p:spPr/>
        <p:txBody>
          <a:bodyPr lIns="0" rIns="0" tIns="0" bIns="0"/>
          <a:lstStyle/>
          <a:p>
            <a:pPr>
              <a:defRPr>
                <a:latin typeface="微软雅黑"/>
                <a:ea typeface="微软雅黑"/>
                <a:cs typeface="微软雅黑"/>
              </a:defRPr>
            </a:pPr>
            <a:fld id="{ECD9AE3D-545A-4B2E-82ED-8AC91F57BFDC}"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mc:AlternateContent xmlns:mc="http://schemas.openxmlformats.org/markup-compatibility/2006">
    <mc:Choice xmlns:p14="http://schemas.microsoft.com/office/powerpoint/2010/main" Requires="p14">
      <p:transition spd="slow" p14:dur="1500">
        <p:random/>
      </p:transition>
    </mc:Choice>
    <mc:Fallback>
      <p:transition spd="slow">
        <p:random/>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lIns="0" rIns="0" tIns="0" bIns="0"/>
          <a:lstStyle/>
          <a:p>
            <a:pPr>
              <a:defRPr>
                <a:latin typeface="微软雅黑"/>
                <a:ea typeface="微软雅黑"/>
                <a:cs typeface="微软雅黑"/>
              </a:defRPr>
            </a:pPr>
            <a:r>
              <a:rPr lang="zh-CN" altLang="en-US">
                <a:latin typeface="微软雅黑"/>
                <a:ea typeface="微软雅黑"/>
                <a:cs typeface="微软雅黑"/>
              </a:rPr>
              <a:t>单击此处编辑母版标题样式</a:t>
            </a:r>
            <a:endParaRPr lang="zh-CN" altLang="en-US">
              <a:latin typeface="微软雅黑"/>
              <a:ea typeface="微软雅黑"/>
              <a:cs typeface="微软雅黑"/>
            </a:endParaRPr>
          </a:p>
        </p:txBody>
      </p:sp>
      <p:sp>
        <p:nvSpPr>
          <p:cNvPr id="3" name="日期占位符 2"/>
          <p:cNvSpPr>
            <a:spLocks noGrp="1"/>
          </p:cNvSpPr>
          <p:nvPr>
            <p:ph type="dt" sz="half" idx="10"/>
          </p:nvPr>
        </p:nvSpPr>
        <p:spPr/>
        <p:txBody>
          <a:bodyPr lIns="0" rIns="0" tIns="0" bIns="0"/>
          <a:lstStyle/>
          <a:p>
            <a:pPr>
              <a:defRPr>
                <a:latin typeface="微软雅黑"/>
                <a:ea typeface="微软雅黑"/>
                <a:cs typeface="微软雅黑"/>
              </a:defRPr>
            </a:pPr>
            <a:fld id="{263DB197-84B0-484E-9C0F-88358ECCB797}"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4" name="页脚占位符 3"/>
          <p:cNvSpPr>
            <a:spLocks noGrp="1"/>
          </p:cNvSpPr>
          <p:nvPr>
            <p:ph type="ftr" sz="quarter" idx="11"/>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 name="灯片编号占位符 4"/>
          <p:cNvSpPr>
            <a:spLocks noGrp="1"/>
          </p:cNvSpPr>
          <p:nvPr>
            <p:ph type="sldNum" sz="quarter" idx="12"/>
          </p:nvPr>
        </p:nvSpPr>
        <p:spPr/>
        <p:txBody>
          <a:bodyPr lIns="0" rIns="0" tIns="0" bIns="0"/>
          <a:lstStyle/>
          <a:p>
            <a:pPr>
              <a:defRPr>
                <a:latin typeface="微软雅黑"/>
                <a:ea typeface="微软雅黑"/>
                <a:cs typeface="微软雅黑"/>
              </a:defRPr>
            </a:pPr>
            <a:fld id="{E077DA78-E013-4A8C-AD75-63A150561B10}"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1_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a:xfrm>
            <a:off x="608428" y="608412"/>
            <a:ext cx="10969709" cy="705614"/>
          </a:xfrm>
        </p:spPr>
        <p:txBody>
          <a:bodyPr vert="horz" lIns="0" tIns="0" rIns="0" bIns="0" rtlCol="0" anchor="ctr" anchorCtr="0">
            <a:noAutofit/>
          </a:bodyPr>
          <a:lstStyle/>
          <a:p>
            <a:pPr lvl="0">
              <a:defRPr>
                <a:latin typeface="微软雅黑"/>
                <a:ea typeface="微软雅黑"/>
                <a:cs typeface="微软雅黑"/>
              </a:defRPr>
            </a:pPr>
            <a:r>
              <a:rPr lang="zh-CN" altLang="en-US">
                <a:latin typeface="微软雅黑"/>
                <a:ea typeface="微软雅黑"/>
                <a:cs typeface="微软雅黑"/>
              </a:rPr>
              <a:t>单击此处编辑母版标题样式</a:t>
            </a:r>
            <a:endParaRPr lang="zh-CN" altLang="en-US">
              <a:latin typeface="微软雅黑"/>
              <a:ea typeface="微软雅黑"/>
              <a:cs typeface="微软雅黑"/>
            </a:endParaRPr>
          </a:p>
        </p:txBody>
      </p:sp>
      <p:sp>
        <p:nvSpPr>
          <p:cNvPr id="3" name="内容占位符 2"/>
          <p:cNvSpPr>
            <a:spLocks noGrp="1"/>
          </p:cNvSpPr>
          <p:nvPr>
            <p:ph idx="1"/>
            <p:custDataLst>
              <p:tags r:id="rId3"/>
            </p:custDataLst>
          </p:nvPr>
        </p:nvSpPr>
        <p:spPr>
          <a:xfrm>
            <a:off x="608428" y="1490430"/>
            <a:ext cx="10969709" cy="4759297"/>
          </a:xfrm>
        </p:spPr>
        <p:txBody>
          <a:bodyPr vert="horz" lIns="0" tIns="0" rIns="0" bIns="0" rtlCol="0">
            <a:noAutofit/>
          </a:bodyPr>
          <a:lstStyle/>
          <a:p>
            <a:pPr lvl="0">
              <a:defRPr>
                <a:latin typeface="微软雅黑"/>
                <a:ea typeface="微软雅黑"/>
                <a:cs typeface="微软雅黑"/>
              </a:defRPr>
            </a:pPr>
            <a:r>
              <a:rPr lang="zh-CN" altLang="en-US">
                <a:latin typeface="微软雅黑"/>
                <a:ea typeface="微软雅黑"/>
                <a:cs typeface="微软雅黑"/>
              </a:rPr>
              <a:t>单击此处编辑母版文本样式</a:t>
            </a:r>
            <a:endParaRPr lang="zh-CN" altLang="en-US">
              <a:latin typeface="微软雅黑"/>
              <a:ea typeface="微软雅黑"/>
              <a:cs typeface="微软雅黑"/>
            </a:endParaRPr>
          </a:p>
          <a:p>
            <a:pPr lvl="1">
              <a:defRPr>
                <a:latin typeface="微软雅黑"/>
                <a:ea typeface="微软雅黑"/>
                <a:cs typeface="微软雅黑"/>
              </a:defRPr>
            </a:pPr>
            <a:r>
              <a:rPr lang="zh-CN" altLang="en-US">
                <a:latin typeface="微软雅黑"/>
                <a:ea typeface="微软雅黑"/>
                <a:cs typeface="微软雅黑"/>
              </a:rPr>
              <a:t>第二级</a:t>
            </a:r>
            <a:endParaRPr lang="zh-CN" altLang="en-US">
              <a:latin typeface="微软雅黑"/>
              <a:ea typeface="微软雅黑"/>
              <a:cs typeface="微软雅黑"/>
            </a:endParaRPr>
          </a:p>
          <a:p>
            <a:pPr lvl="2">
              <a:defRPr>
                <a:latin typeface="微软雅黑"/>
                <a:ea typeface="微软雅黑"/>
                <a:cs typeface="微软雅黑"/>
              </a:defRPr>
            </a:pPr>
            <a:r>
              <a:rPr lang="zh-CN" altLang="en-US">
                <a:latin typeface="微软雅黑"/>
                <a:ea typeface="微软雅黑"/>
                <a:cs typeface="微软雅黑"/>
              </a:rPr>
              <a:t>第三级</a:t>
            </a:r>
            <a:endParaRPr lang="zh-CN" altLang="en-US">
              <a:latin typeface="微软雅黑"/>
              <a:ea typeface="微软雅黑"/>
              <a:cs typeface="微软雅黑"/>
            </a:endParaRPr>
          </a:p>
          <a:p>
            <a:pPr lvl="3">
              <a:defRPr>
                <a:latin typeface="微软雅黑"/>
                <a:ea typeface="微软雅黑"/>
                <a:cs typeface="微软雅黑"/>
              </a:defRPr>
            </a:pPr>
            <a:r>
              <a:rPr lang="zh-CN" altLang="en-US">
                <a:latin typeface="微软雅黑"/>
                <a:ea typeface="微软雅黑"/>
                <a:cs typeface="微软雅黑"/>
              </a:rPr>
              <a:t>第四级</a:t>
            </a:r>
            <a:endParaRPr lang="zh-CN" altLang="en-US">
              <a:latin typeface="微软雅黑"/>
              <a:ea typeface="微软雅黑"/>
              <a:cs typeface="微软雅黑"/>
            </a:endParaRPr>
          </a:p>
          <a:p>
            <a:pPr lvl="4">
              <a:defRPr>
                <a:latin typeface="微软雅黑"/>
                <a:ea typeface="微软雅黑"/>
                <a:cs typeface="微软雅黑"/>
              </a:defRPr>
            </a:pPr>
            <a:r>
              <a:rPr lang="zh-CN" altLang="en-US">
                <a:latin typeface="微软雅黑"/>
                <a:ea typeface="微软雅黑"/>
                <a:cs typeface="微软雅黑"/>
              </a:rPr>
              <a:t>第五级</a:t>
            </a:r>
            <a:endParaRPr lang="zh-CN" altLang="en-US">
              <a:latin typeface="微软雅黑"/>
              <a:ea typeface="微软雅黑"/>
              <a:cs typeface="微软雅黑"/>
            </a:endParaRPr>
          </a:p>
        </p:txBody>
      </p:sp>
      <p:sp>
        <p:nvSpPr>
          <p:cNvPr id="4" name="日期占位符 3"/>
          <p:cNvSpPr>
            <a:spLocks noGrp="1"/>
          </p:cNvSpPr>
          <p:nvPr>
            <p:ph type="dt" sz="half" idx="10"/>
            <p:custDataLst>
              <p:tags r:id="rId4"/>
            </p:custDataLst>
          </p:nvPr>
        </p:nvSpPr>
        <p:spPr/>
        <p:txBody>
          <a:bodyPr lIns="0" rIns="0" tIns="0" bIns="0"/>
          <a:lstStyle/>
          <a:p>
            <a:pPr>
              <a:defRPr>
                <a:latin typeface="微软雅黑"/>
                <a:ea typeface="微软雅黑"/>
                <a:cs typeface="微软雅黑"/>
              </a:defRPr>
            </a:pPr>
            <a:fld id="{760FBDFE-C587-4B4C-A407-44438C67B59E}"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5" name="页脚占位符 4"/>
          <p:cNvSpPr>
            <a:spLocks noGrp="1"/>
          </p:cNvSpPr>
          <p:nvPr>
            <p:ph type="ftr" sz="quarter" idx="11"/>
            <p:custDataLst>
              <p:tags r:id="rId5"/>
            </p:custDataLst>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 name="灯片编号占位符 5"/>
          <p:cNvSpPr>
            <a:spLocks noGrp="1"/>
          </p:cNvSpPr>
          <p:nvPr>
            <p:ph type="sldNum" sz="quarter" idx="12"/>
            <p:custDataLst>
              <p:tags r:id="rId6"/>
            </p:custDataLst>
          </p:nvPr>
        </p:nvSpPr>
        <p:spPr/>
        <p:txBody>
          <a:bodyPr lIns="0" rIns="0" tIns="0" bIns="0"/>
          <a:lstStyle/>
          <a:p>
            <a:pPr>
              <a:defRPr>
                <a:latin typeface="微软雅黑"/>
                <a:ea typeface="微软雅黑"/>
                <a:cs typeface="微软雅黑"/>
              </a:defRPr>
            </a:pPr>
            <a:fld id="{49AE70B2-8BF9-45C0-BB95-33D1B9D3A854}"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lIns="0" rIns="0" tIns="0" bIns="0"/>
          <a:lstStyle/>
          <a:p>
            <a:pPr>
              <a:defRPr>
                <a:latin typeface="微软雅黑"/>
                <a:ea typeface="微软雅黑"/>
                <a:cs typeface="微软雅黑"/>
              </a:defRPr>
            </a:pPr>
            <a:r>
              <a:rPr lang="zh-CN" altLang="en-US">
                <a:latin typeface="微软雅黑"/>
                <a:ea typeface="微软雅黑"/>
                <a:cs typeface="微软雅黑"/>
              </a:rPr>
              <a:t>单击此处编辑母版标题样式</a:t>
            </a:r>
            <a:endParaRPr lang="zh-CN" altLang="en-US">
              <a:latin typeface="微软雅黑"/>
              <a:ea typeface="微软雅黑"/>
              <a:cs typeface="微软雅黑"/>
            </a:endParaRPr>
          </a:p>
        </p:txBody>
      </p:sp>
      <p:sp>
        <p:nvSpPr>
          <p:cNvPr id="3" name="日期占位符 2"/>
          <p:cNvSpPr>
            <a:spLocks noGrp="1"/>
          </p:cNvSpPr>
          <p:nvPr>
            <p:ph type="dt" sz="half" idx="10"/>
          </p:nvPr>
        </p:nvSpPr>
        <p:spPr/>
        <p:txBody>
          <a:bodyPr lIns="0" rIns="0" tIns="0" bIns="0"/>
          <a:lstStyle/>
          <a:p>
            <a:pPr>
              <a:defRPr>
                <a:latin typeface="微软雅黑"/>
                <a:ea typeface="微软雅黑"/>
                <a:cs typeface="微软雅黑"/>
              </a:defRPr>
            </a:pPr>
            <a:fld id="{263DB197-84B0-484E-9C0F-88358ECCB797}"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4" name="页脚占位符 3"/>
          <p:cNvSpPr>
            <a:spLocks noGrp="1"/>
          </p:cNvSpPr>
          <p:nvPr>
            <p:ph type="ftr" sz="quarter" idx="11"/>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 name="灯片编号占位符 4"/>
          <p:cNvSpPr>
            <a:spLocks noGrp="1"/>
          </p:cNvSpPr>
          <p:nvPr>
            <p:ph type="sldNum" sz="quarter" idx="12"/>
          </p:nvPr>
        </p:nvSpPr>
        <p:spPr/>
        <p:txBody>
          <a:bodyPr lIns="0" rIns="0" tIns="0" bIns="0"/>
          <a:lstStyle/>
          <a:p>
            <a:pPr>
              <a:defRPr>
                <a:latin typeface="微软雅黑"/>
                <a:ea typeface="微软雅黑"/>
                <a:cs typeface="微软雅黑"/>
              </a:defRPr>
            </a:pPr>
            <a:fld id="{E077DA78-E013-4A8C-AD75-63A150561B10}"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2_标题和内容">
    <p:spTree>
      <p:nvGrpSpPr>
        <p:cNvPr id="1" name=""/>
        <p:cNvGrpSpPr/>
        <p:nvPr/>
      </p:nvGrpSpPr>
      <p:grpSpPr>
        <a:xfrm>
          <a:off x="0" y="0"/>
          <a:ext cx="0" cy="0"/>
          <a:chOff x="0" y="0"/>
          <a:chExt cx="0" cy="0"/>
        </a:xfrm>
      </p:grpSpPr>
      <p:sp>
        <p:nvSpPr>
          <p:cNvPr id="9" name="文本框 8"/>
          <p:cNvSpPr txBox="1"/>
          <p:nvPr userDrawn="1"/>
        </p:nvSpPr>
        <p:spPr>
          <a:xfrm>
            <a:off x="5227955" y="215900"/>
            <a:ext cx="5846445" cy="826135"/>
          </a:xfrm>
          <a:prstGeom prst="rect">
            <a:avLst/>
          </a:prstGeom>
          <a:noFill/>
        </p:spPr>
        <p:txBody>
          <a:bodyPr wrap="square" rtlCol="0" anchor="ctr" anchorCtr="0">
            <a:noAutofit/>
          </a:bodyPr>
          <a:lstStyle/>
          <a:p>
            <a:pPr algn="ctr">
              <a:lnSpc>
                <a:spcPct val="150000"/>
              </a:lnSpc>
              <a:defRPr>
                <a:latin typeface="微软雅黑"/>
                <a:ea typeface="微软雅黑"/>
                <a:cs typeface="微软雅黑"/>
              </a:defRPr>
            </a:pPr>
            <a:r>
              <a:rPr lang="zh-CN" altLang="en-US" sz="1600">
                <a:solidFill>
                  <a:srgbClr val="FFFFFF"/>
                </a:solidFill>
                <a:latin typeface="微软雅黑"/>
                <a:ea typeface="微软雅黑"/>
                <a:cs typeface="微软雅黑"/>
                <a:sym typeface="微软雅黑"/>
              </a:rPr>
              <a:t>本作品系开悟思维原创作品，已获国家版权局作品登记证书！</a:t>
            </a:r>
            <a:endParaRPr lang="zh-CN" altLang="en-US" sz="1600">
              <a:solidFill>
                <a:srgbClr val="FFFFFF"/>
              </a:solidFill>
              <a:latin typeface="微软雅黑"/>
              <a:ea typeface="微软雅黑"/>
              <a:cs typeface="微软雅黑"/>
              <a:sym typeface="微软雅黑"/>
            </a:endParaRPr>
          </a:p>
          <a:p>
            <a:pPr algn="ctr">
              <a:lnSpc>
                <a:spcPct val="150000"/>
              </a:lnSpc>
              <a:defRPr>
                <a:latin typeface="微软雅黑"/>
                <a:ea typeface="微软雅黑"/>
                <a:cs typeface="微软雅黑"/>
              </a:defRPr>
            </a:pPr>
            <a:r>
              <a:rPr lang="zh-CN" altLang="en-US" sz="1600">
                <a:solidFill>
                  <a:srgbClr val="FFFFFF"/>
                </a:solidFill>
                <a:latin typeface="微软雅黑"/>
                <a:ea typeface="微软雅黑"/>
                <a:cs typeface="微软雅黑"/>
                <a:sym typeface="微软雅黑"/>
              </a:rPr>
              <a:t>原创版权保护，仅供个人学习使用，侵权必究！</a:t>
            </a:r>
            <a:endParaRPr lang="zh-CN" altLang="en-US" sz="1600">
              <a:solidFill>
                <a:srgbClr val="FFFFFF"/>
              </a:solidFill>
              <a:latin typeface="微软雅黑"/>
              <a:ea typeface="微软雅黑"/>
              <a:cs typeface="微软雅黑"/>
            </a:endParaRPr>
          </a:p>
          <a:p>
            <a:pPr>
              <a:defRPr>
                <a:latin typeface="微软雅黑"/>
                <a:ea typeface="微软雅黑"/>
                <a:cs typeface="微软雅黑"/>
              </a:defRPr>
            </a:pPr>
            <a:endParaRPr lang="zh-CN" altLang="en-US" sz="1600">
              <a:solidFill>
                <a:srgbClr val="FFFFFF"/>
              </a:solidFill>
              <a:latin typeface="微软雅黑"/>
              <a:ea typeface="微软雅黑"/>
              <a:cs typeface="微软雅黑"/>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 preserve="1">
  <p:cSld name="3_标题和内容">
    <p:spTree>
      <p:nvGrpSpPr>
        <p:cNvPr id="1" name=""/>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标题幻灯片">
    <p:spTree>
      <p:nvGrpSpPr>
        <p:cNvPr id="1" name=""/>
        <p:cNvGrpSpPr/>
        <p:nvPr/>
      </p:nvGrpSpPr>
      <p:grpSpPr>
        <a:xfrm>
          <a:off x="0" y="0"/>
          <a:ext cx="0" cy="0"/>
          <a:chOff x="0" y="0"/>
          <a:chExt cx="0" cy="0"/>
        </a:xfrm>
      </p:grpSpPr>
      <p:sp>
        <p:nvSpPr>
          <p:cNvPr id="58" name="内容占位符 57"/>
          <p:cNvSpPr>
            <a:spLocks noGrp="1"/>
          </p:cNvSpPr>
          <p:nvPr>
            <p:ph sz="quarter" idx="18"/>
          </p:nvPr>
        </p:nvSpPr>
        <p:spPr>
          <a:xfrm>
            <a:off x="519113" y="1289050"/>
            <a:ext cx="10987087" cy="4627563"/>
          </a:xfrm>
        </p:spPr>
        <p:txBody>
          <a:bodyPr lIns="0" rIns="0" tIns="0" bIns="0"/>
          <a:lstStyle>
            <a:lvl1pPr>
              <a:defRPr>
                <a:latin typeface="微软雅黑"/>
                <a:ea typeface="微软雅黑"/>
                <a:cs typeface="微软雅黑"/>
              </a:defRPr>
            </a:lvl1pPr>
            <a:lvl2pPr>
              <a:defRPr>
                <a:latin typeface="微软雅黑"/>
                <a:ea typeface="微软雅黑"/>
                <a:cs typeface="微软雅黑"/>
              </a:defRPr>
            </a:lvl2pPr>
            <a:lvl3pPr>
              <a:defRPr>
                <a:latin typeface="微软雅黑"/>
                <a:ea typeface="微软雅黑"/>
                <a:cs typeface="微软雅黑"/>
              </a:defRPr>
            </a:lvl3pPr>
            <a:lvl4pPr>
              <a:defRPr>
                <a:latin typeface="微软雅黑"/>
                <a:ea typeface="微软雅黑"/>
                <a:cs typeface="微软雅黑"/>
              </a:defRPr>
            </a:lvl4pPr>
            <a:lvl5pPr>
              <a:defRPr>
                <a:latin typeface="微软雅黑"/>
                <a:ea typeface="微软雅黑"/>
                <a:cs typeface="微软雅黑"/>
              </a:defRPr>
            </a:lvl5pPr>
          </a:lstStyle>
          <a:p>
            <a:pPr lvl="0">
              <a:defRPr>
                <a:latin typeface="微软雅黑"/>
                <a:ea typeface="微软雅黑"/>
                <a:cs typeface="微软雅黑"/>
              </a:defRPr>
            </a:pPr>
            <a:r>
              <a:rPr kumimoji="1" lang="zh-CN" altLang="en-US">
                <a:latin typeface="微软雅黑"/>
                <a:ea typeface="微软雅黑"/>
                <a:cs typeface="微软雅黑"/>
              </a:rPr>
              <a:t>单击此处编辑母版文本样式</a:t>
            </a:r>
            <a:endParaRPr kumimoji="1" lang="zh-CN" altLang="en-US">
              <a:latin typeface="微软雅黑"/>
              <a:ea typeface="微软雅黑"/>
              <a:cs typeface="微软雅黑"/>
            </a:endParaRPr>
          </a:p>
          <a:p>
            <a:pPr lvl="1">
              <a:defRPr>
                <a:latin typeface="微软雅黑"/>
                <a:ea typeface="微软雅黑"/>
                <a:cs typeface="微软雅黑"/>
              </a:defRPr>
            </a:pPr>
            <a:r>
              <a:rPr kumimoji="1" lang="zh-CN" altLang="en-US">
                <a:latin typeface="微软雅黑"/>
                <a:ea typeface="微软雅黑"/>
                <a:cs typeface="微软雅黑"/>
              </a:rPr>
              <a:t>二级</a:t>
            </a:r>
            <a:endParaRPr kumimoji="1" lang="zh-CN" altLang="en-US">
              <a:latin typeface="微软雅黑"/>
              <a:ea typeface="微软雅黑"/>
              <a:cs typeface="微软雅黑"/>
            </a:endParaRPr>
          </a:p>
          <a:p>
            <a:pPr lvl="2">
              <a:defRPr>
                <a:latin typeface="微软雅黑"/>
                <a:ea typeface="微软雅黑"/>
                <a:cs typeface="微软雅黑"/>
              </a:defRPr>
            </a:pPr>
            <a:r>
              <a:rPr kumimoji="1" lang="zh-CN" altLang="en-US">
                <a:latin typeface="微软雅黑"/>
                <a:ea typeface="微软雅黑"/>
                <a:cs typeface="微软雅黑"/>
              </a:rPr>
              <a:t>三级</a:t>
            </a:r>
            <a:endParaRPr kumimoji="1" lang="zh-CN" altLang="en-US">
              <a:latin typeface="微软雅黑"/>
              <a:ea typeface="微软雅黑"/>
              <a:cs typeface="微软雅黑"/>
            </a:endParaRPr>
          </a:p>
          <a:p>
            <a:pPr lvl="3">
              <a:defRPr>
                <a:latin typeface="微软雅黑"/>
                <a:ea typeface="微软雅黑"/>
                <a:cs typeface="微软雅黑"/>
              </a:defRPr>
            </a:pPr>
            <a:r>
              <a:rPr kumimoji="1" lang="zh-CN" altLang="en-US">
                <a:latin typeface="微软雅黑"/>
                <a:ea typeface="微软雅黑"/>
                <a:cs typeface="微软雅黑"/>
              </a:rPr>
              <a:t>四级</a:t>
            </a:r>
            <a:endParaRPr kumimoji="1" lang="zh-CN" altLang="en-US">
              <a:latin typeface="微软雅黑"/>
              <a:ea typeface="微软雅黑"/>
              <a:cs typeface="微软雅黑"/>
            </a:endParaRPr>
          </a:p>
          <a:p>
            <a:pPr lvl="4">
              <a:defRPr>
                <a:latin typeface="微软雅黑"/>
                <a:ea typeface="微软雅黑"/>
                <a:cs typeface="微软雅黑"/>
              </a:defRPr>
            </a:pPr>
            <a:r>
              <a:rPr kumimoji="1" lang="zh-CN" altLang="en-US">
                <a:latin typeface="微软雅黑"/>
                <a:ea typeface="微软雅黑"/>
                <a:cs typeface="微软雅黑"/>
              </a:rPr>
              <a:t>五级</a:t>
            </a:r>
            <a:endParaRPr kumimoji="1" lang="zh-CN" altLang="en-US">
              <a:latin typeface="微软雅黑"/>
              <a:ea typeface="微软雅黑"/>
              <a:cs typeface="微软雅黑"/>
            </a:endParaRPr>
          </a:p>
        </p:txBody>
      </p:sp>
      <p:sp>
        <p:nvSpPr>
          <p:cNvPr id="5" name="标题 1"/>
          <p:cNvSpPr>
            <a:spLocks noGrp="1"/>
          </p:cNvSpPr>
          <p:nvPr>
            <p:ph type="ctrTitle" hasCustomPrompt="1"/>
          </p:nvPr>
        </p:nvSpPr>
        <p:spPr>
          <a:xfrm>
            <a:off x="368705" y="275357"/>
            <a:ext cx="2188210" cy="481330"/>
          </a:xfrm>
          <a:ln w="12700">
            <a:miter lim="400000"/>
          </a:ln>
        </p:spPr>
        <p:txBody>
          <a:bodyPr wrap="none" lIns="0" tIns="0" rIns="0" bIns="0">
            <a:spAutoFit/>
          </a:bodyPr>
          <a:lstStyle>
            <a:lvl1pPr>
              <a:defRPr kumimoji="0" lang="zh-CN" altLang="en-US" sz="2800" b="1" u="none" strike="noStrike"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marL="0" marR="0" lvl="0" indent="0" fontAlgn="auto">
              <a:lnSpc>
                <a:spcPct val="100000"/>
              </a:lnSpc>
              <a:spcBef>
                <a:spcPts val="0"/>
              </a:spcBef>
              <a:spcAft>
                <a:spcPts val="0"/>
              </a:spcAft>
              <a:buClrTx/>
              <a:buSzTx/>
              <a:buFontTx/>
              <a:defRPr>
                <a:latin typeface="微软雅黑"/>
                <a:ea typeface="微软雅黑"/>
                <a:cs typeface="微软雅黑"/>
              </a:defRPr>
            </a:pPr>
            <a:r>
              <a:rPr lang="zh-CN" altLang="en-US" dirty="0">
                <a:latin typeface="微软雅黑"/>
                <a:ea typeface="微软雅黑"/>
                <a:cs typeface="微软雅黑"/>
              </a:rPr>
              <a:t>单击输入文字</a:t>
            </a:r>
            <a:endParaRPr lang="zh-CN" altLang="en-US" dirty="0">
              <a:latin typeface="微软雅黑"/>
              <a:ea typeface="微软雅黑"/>
              <a:cs typeface="微软雅黑"/>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3" name="副标题 2"/>
          <p:cNvSpPr>
            <a:spLocks noGrp="1"/>
          </p:cNvSpPr>
          <p:nvPr>
            <p:ph type="subTitle" idx="1" hasCustomPrompt="1"/>
          </p:nvPr>
        </p:nvSpPr>
        <p:spPr>
          <a:xfrm>
            <a:off x="1524000" y="3602038"/>
            <a:ext cx="9144000" cy="1655762"/>
          </a:xfrm>
        </p:spPr>
        <p:txBody>
          <a:bodyPr lIns="0" rIns="0" tIns="0" bIns="0"/>
          <a:lstStyle>
            <a:lvl1pPr marL="0" indent="0" algn="ctr">
              <a:buNone/>
              <a:defRPr sz="2400">
                <a:latin typeface="微软雅黑"/>
                <a:ea typeface="微软雅黑"/>
                <a:cs typeface="微软雅黑"/>
              </a:defRPr>
            </a:lvl1pPr>
            <a:lvl2pPr marL="457200" indent="0" algn="ctr">
              <a:buNone/>
              <a:defRPr sz="2000">
                <a:latin typeface="微软雅黑"/>
                <a:ea typeface="微软雅黑"/>
                <a:cs typeface="微软雅黑"/>
              </a:defRPr>
            </a:lvl2pPr>
            <a:lvl3pPr marL="914400" indent="0" algn="ctr">
              <a:buNone/>
              <a:defRPr sz="1800">
                <a:latin typeface="微软雅黑"/>
                <a:ea typeface="微软雅黑"/>
                <a:cs typeface="微软雅黑"/>
              </a:defRPr>
            </a:lvl3pPr>
            <a:lvl4pPr marL="1371600" indent="0" algn="ctr">
              <a:buNone/>
              <a:defRPr sz="1600">
                <a:latin typeface="微软雅黑"/>
                <a:ea typeface="微软雅黑"/>
                <a:cs typeface="微软雅黑"/>
              </a:defRPr>
            </a:lvl4pPr>
            <a:lvl5pPr marL="1828800" indent="0" algn="ctr">
              <a:buNone/>
              <a:defRPr sz="1600">
                <a:latin typeface="微软雅黑"/>
                <a:ea typeface="微软雅黑"/>
                <a:cs typeface="微软雅黑"/>
              </a:defRPr>
            </a:lvl5pPr>
            <a:lvl6pPr marL="2286000" indent="0" algn="ctr">
              <a:buNone/>
              <a:defRPr sz="1600">
                <a:latin typeface="微软雅黑"/>
                <a:ea typeface="微软雅黑"/>
                <a:cs typeface="微软雅黑"/>
              </a:defRPr>
            </a:lvl6pPr>
            <a:lvl7pPr marL="2743200" indent="0" algn="ctr">
              <a:buNone/>
              <a:defRPr sz="1600">
                <a:latin typeface="微软雅黑"/>
                <a:ea typeface="微软雅黑"/>
                <a:cs typeface="微软雅黑"/>
              </a:defRPr>
            </a:lvl7pPr>
            <a:lvl8pPr marL="3200400" indent="0" algn="ctr">
              <a:buNone/>
              <a:defRPr sz="1600">
                <a:latin typeface="微软雅黑"/>
                <a:ea typeface="微软雅黑"/>
                <a:cs typeface="微软雅黑"/>
              </a:defRPr>
            </a:lvl8pPr>
            <a:lvl9pPr marL="3657600" indent="0" algn="ctr">
              <a:buNone/>
              <a:defRPr sz="1600">
                <a:latin typeface="微软雅黑"/>
                <a:ea typeface="微软雅黑"/>
                <a:cs typeface="微软雅黑"/>
              </a:defRPr>
            </a:lvl9pPr>
          </a:lstStyle>
          <a:p>
            <a:pPr>
              <a:defRPr>
                <a:latin typeface="微软雅黑"/>
                <a:ea typeface="微软雅黑"/>
                <a:cs typeface="微软雅黑"/>
              </a:defRPr>
            </a:pPr>
            <a:r>
              <a:rPr lang="zh-CN" altLang="en-US">
                <a:latin typeface="微软雅黑"/>
                <a:ea typeface="微软雅黑"/>
                <a:cs typeface="微软雅黑"/>
              </a:rPr>
              <a:t>单击以编辑母版副标题样式</a:t>
            </a:r>
            <a:endParaRPr lang="zh-CN" altLang="en-US">
              <a:latin typeface="微软雅黑"/>
              <a:ea typeface="微软雅黑"/>
              <a:cs typeface="微软雅黑"/>
            </a:endParaRPr>
          </a:p>
        </p:txBody>
      </p:sp>
      <p:sp>
        <p:nvSpPr>
          <p:cNvPr id="4" name="日期占位符 3"/>
          <p:cNvSpPr>
            <a:spLocks noGrp="1"/>
          </p:cNvSpPr>
          <p:nvPr>
            <p:ph type="dt" sz="half" idx="10"/>
          </p:nvPr>
        </p:nvSpPr>
        <p:spPr/>
        <p:txBody>
          <a:bodyPr lIns="0" rIns="0" tIns="0" bIns="0"/>
          <a:lstStyle/>
          <a:p>
            <a:pPr>
              <a:defRPr>
                <a:latin typeface="微软雅黑"/>
                <a:ea typeface="微软雅黑"/>
                <a:cs typeface="微软雅黑"/>
              </a:defRPr>
            </a:pPr>
            <a:fld id="{0FC04CB4-406B-4597-B044-D3B6F9EB6171}"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5" name="页脚占位符 4"/>
          <p:cNvSpPr>
            <a:spLocks noGrp="1"/>
          </p:cNvSpPr>
          <p:nvPr>
            <p:ph type="ftr" sz="quarter" idx="11"/>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 name="灯片编号占位符 5"/>
          <p:cNvSpPr>
            <a:spLocks noGrp="1"/>
          </p:cNvSpPr>
          <p:nvPr>
            <p:ph type="sldNum" sz="quarter" idx="12"/>
          </p:nvPr>
        </p:nvSpPr>
        <p:spPr/>
        <p:txBody>
          <a:bodyPr lIns="0" rIns="0" tIns="0" bIns="0"/>
          <a:lstStyle/>
          <a:p>
            <a:pPr>
              <a:defRPr>
                <a:latin typeface="微软雅黑"/>
                <a:ea typeface="微软雅黑"/>
                <a:cs typeface="微软雅黑"/>
              </a:defRPr>
            </a:pPr>
            <a:fld id="{ECD9AE3D-545A-4B2E-82ED-8AC91F57BFDC}"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mc:AlternateContent xmlns:mc="http://schemas.openxmlformats.org/markup-compatibility/2006">
    <mc:Choice xmlns:p14="http://schemas.microsoft.com/office/powerpoint/2010/main" Requires="p14">
      <p:transition spd="slow" p14:dur="1500">
        <p:random/>
      </p:transition>
    </mc:Choice>
    <mc:Fallback>
      <p:transition spd="slow">
        <p:random/>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lIns="0" rIns="0" tIns="0" bIns="0"/>
          <a:lstStyle/>
          <a:p>
            <a:pPr>
              <a:defRPr>
                <a:latin typeface="微软雅黑"/>
                <a:ea typeface="微软雅黑"/>
                <a:cs typeface="微软雅黑"/>
              </a:defRPr>
            </a:pPr>
            <a:r>
              <a:rPr lang="zh-CN" altLang="en-US">
                <a:latin typeface="微软雅黑"/>
                <a:ea typeface="微软雅黑"/>
                <a:cs typeface="微软雅黑"/>
              </a:rPr>
              <a:t>单击此处编辑母版标题样式</a:t>
            </a:r>
            <a:endParaRPr lang="zh-CN" altLang="en-US">
              <a:latin typeface="微软雅黑"/>
              <a:ea typeface="微软雅黑"/>
              <a:cs typeface="微软雅黑"/>
            </a:endParaRPr>
          </a:p>
        </p:txBody>
      </p:sp>
      <p:sp>
        <p:nvSpPr>
          <p:cNvPr id="3" name="日期占位符 2"/>
          <p:cNvSpPr>
            <a:spLocks noGrp="1"/>
          </p:cNvSpPr>
          <p:nvPr>
            <p:ph type="dt" sz="half" idx="10"/>
          </p:nvPr>
        </p:nvSpPr>
        <p:spPr/>
        <p:txBody>
          <a:bodyPr lIns="0" rIns="0" tIns="0" bIns="0"/>
          <a:lstStyle/>
          <a:p>
            <a:pPr>
              <a:defRPr>
                <a:latin typeface="微软雅黑"/>
                <a:ea typeface="微软雅黑"/>
                <a:cs typeface="微软雅黑"/>
              </a:defRPr>
            </a:pPr>
            <a:fld id="{263DB197-84B0-484E-9C0F-88358ECCB797}"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4" name="页脚占位符 3"/>
          <p:cNvSpPr>
            <a:spLocks noGrp="1"/>
          </p:cNvSpPr>
          <p:nvPr>
            <p:ph type="ftr" sz="quarter" idx="11"/>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 name="灯片编号占位符 4"/>
          <p:cNvSpPr>
            <a:spLocks noGrp="1"/>
          </p:cNvSpPr>
          <p:nvPr>
            <p:ph type="sldNum" sz="quarter" idx="12"/>
          </p:nvPr>
        </p:nvSpPr>
        <p:spPr/>
        <p:txBody>
          <a:bodyPr lIns="0" rIns="0" tIns="0" bIns="0"/>
          <a:lstStyle/>
          <a:p>
            <a:pPr>
              <a:defRPr>
                <a:latin typeface="微软雅黑"/>
                <a:ea typeface="微软雅黑"/>
                <a:cs typeface="微软雅黑"/>
              </a:defRPr>
            </a:pPr>
            <a:fld id="{E077DA78-E013-4A8C-AD75-63A150561B10}"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1_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a:xfrm>
            <a:off x="608428" y="608412"/>
            <a:ext cx="10969709" cy="705614"/>
          </a:xfrm>
        </p:spPr>
        <p:txBody>
          <a:bodyPr vert="horz" lIns="0" tIns="0" rIns="0" bIns="0" rtlCol="0" anchor="ctr" anchorCtr="0">
            <a:noAutofit/>
          </a:bodyPr>
          <a:lstStyle/>
          <a:p>
            <a:pPr lvl="0">
              <a:defRPr>
                <a:latin typeface="微软雅黑"/>
                <a:ea typeface="微软雅黑"/>
                <a:cs typeface="微软雅黑"/>
              </a:defRPr>
            </a:pPr>
            <a:r>
              <a:rPr lang="zh-CN" altLang="en-US">
                <a:latin typeface="微软雅黑"/>
                <a:ea typeface="微软雅黑"/>
                <a:cs typeface="微软雅黑"/>
              </a:rPr>
              <a:t>单击此处编辑母版标题样式</a:t>
            </a:r>
            <a:endParaRPr lang="zh-CN" altLang="en-US">
              <a:latin typeface="微软雅黑"/>
              <a:ea typeface="微软雅黑"/>
              <a:cs typeface="微软雅黑"/>
            </a:endParaRPr>
          </a:p>
        </p:txBody>
      </p:sp>
      <p:sp>
        <p:nvSpPr>
          <p:cNvPr id="3" name="内容占位符 2"/>
          <p:cNvSpPr>
            <a:spLocks noGrp="1"/>
          </p:cNvSpPr>
          <p:nvPr>
            <p:ph idx="1"/>
            <p:custDataLst>
              <p:tags r:id="rId3"/>
            </p:custDataLst>
          </p:nvPr>
        </p:nvSpPr>
        <p:spPr>
          <a:xfrm>
            <a:off x="608428" y="1490430"/>
            <a:ext cx="10969709" cy="4759297"/>
          </a:xfrm>
        </p:spPr>
        <p:txBody>
          <a:bodyPr vert="horz" lIns="0" tIns="0" rIns="0" bIns="0" rtlCol="0">
            <a:noAutofit/>
          </a:bodyPr>
          <a:lstStyle/>
          <a:p>
            <a:pPr lvl="0">
              <a:defRPr>
                <a:latin typeface="微软雅黑"/>
                <a:ea typeface="微软雅黑"/>
                <a:cs typeface="微软雅黑"/>
              </a:defRPr>
            </a:pPr>
            <a:r>
              <a:rPr lang="zh-CN" altLang="en-US">
                <a:latin typeface="微软雅黑"/>
                <a:ea typeface="微软雅黑"/>
                <a:cs typeface="微软雅黑"/>
              </a:rPr>
              <a:t>单击此处编辑母版文本样式</a:t>
            </a:r>
            <a:endParaRPr lang="zh-CN" altLang="en-US">
              <a:latin typeface="微软雅黑"/>
              <a:ea typeface="微软雅黑"/>
              <a:cs typeface="微软雅黑"/>
            </a:endParaRPr>
          </a:p>
          <a:p>
            <a:pPr lvl="1">
              <a:defRPr>
                <a:latin typeface="微软雅黑"/>
                <a:ea typeface="微软雅黑"/>
                <a:cs typeface="微软雅黑"/>
              </a:defRPr>
            </a:pPr>
            <a:r>
              <a:rPr lang="zh-CN" altLang="en-US">
                <a:latin typeface="微软雅黑"/>
                <a:ea typeface="微软雅黑"/>
                <a:cs typeface="微软雅黑"/>
              </a:rPr>
              <a:t>第二级</a:t>
            </a:r>
            <a:endParaRPr lang="zh-CN" altLang="en-US">
              <a:latin typeface="微软雅黑"/>
              <a:ea typeface="微软雅黑"/>
              <a:cs typeface="微软雅黑"/>
            </a:endParaRPr>
          </a:p>
          <a:p>
            <a:pPr lvl="2">
              <a:defRPr>
                <a:latin typeface="微软雅黑"/>
                <a:ea typeface="微软雅黑"/>
                <a:cs typeface="微软雅黑"/>
              </a:defRPr>
            </a:pPr>
            <a:r>
              <a:rPr lang="zh-CN" altLang="en-US">
                <a:latin typeface="微软雅黑"/>
                <a:ea typeface="微软雅黑"/>
                <a:cs typeface="微软雅黑"/>
              </a:rPr>
              <a:t>第三级</a:t>
            </a:r>
            <a:endParaRPr lang="zh-CN" altLang="en-US">
              <a:latin typeface="微软雅黑"/>
              <a:ea typeface="微软雅黑"/>
              <a:cs typeface="微软雅黑"/>
            </a:endParaRPr>
          </a:p>
          <a:p>
            <a:pPr lvl="3">
              <a:defRPr>
                <a:latin typeface="微软雅黑"/>
                <a:ea typeface="微软雅黑"/>
                <a:cs typeface="微软雅黑"/>
              </a:defRPr>
            </a:pPr>
            <a:r>
              <a:rPr lang="zh-CN" altLang="en-US">
                <a:latin typeface="微软雅黑"/>
                <a:ea typeface="微软雅黑"/>
                <a:cs typeface="微软雅黑"/>
              </a:rPr>
              <a:t>第四级</a:t>
            </a:r>
            <a:endParaRPr lang="zh-CN" altLang="en-US">
              <a:latin typeface="微软雅黑"/>
              <a:ea typeface="微软雅黑"/>
              <a:cs typeface="微软雅黑"/>
            </a:endParaRPr>
          </a:p>
          <a:p>
            <a:pPr lvl="4">
              <a:defRPr>
                <a:latin typeface="微软雅黑"/>
                <a:ea typeface="微软雅黑"/>
                <a:cs typeface="微软雅黑"/>
              </a:defRPr>
            </a:pPr>
            <a:r>
              <a:rPr lang="zh-CN" altLang="en-US">
                <a:latin typeface="微软雅黑"/>
                <a:ea typeface="微软雅黑"/>
                <a:cs typeface="微软雅黑"/>
              </a:rPr>
              <a:t>第五级</a:t>
            </a:r>
            <a:endParaRPr lang="zh-CN" altLang="en-US">
              <a:latin typeface="微软雅黑"/>
              <a:ea typeface="微软雅黑"/>
              <a:cs typeface="微软雅黑"/>
            </a:endParaRPr>
          </a:p>
        </p:txBody>
      </p:sp>
      <p:sp>
        <p:nvSpPr>
          <p:cNvPr id="4" name="日期占位符 3"/>
          <p:cNvSpPr>
            <a:spLocks noGrp="1"/>
          </p:cNvSpPr>
          <p:nvPr>
            <p:ph type="dt" sz="half" idx="10"/>
            <p:custDataLst>
              <p:tags r:id="rId4"/>
            </p:custDataLst>
          </p:nvPr>
        </p:nvSpPr>
        <p:spPr/>
        <p:txBody>
          <a:bodyPr lIns="0" rIns="0" tIns="0" bIns="0"/>
          <a:lstStyle/>
          <a:p>
            <a:pPr>
              <a:defRPr>
                <a:latin typeface="微软雅黑"/>
                <a:ea typeface="微软雅黑"/>
                <a:cs typeface="微软雅黑"/>
              </a:defRPr>
            </a:pPr>
            <a:fld id="{760FBDFE-C587-4B4C-A407-44438C67B59E}"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5" name="页脚占位符 4"/>
          <p:cNvSpPr>
            <a:spLocks noGrp="1"/>
          </p:cNvSpPr>
          <p:nvPr>
            <p:ph type="ftr" sz="quarter" idx="11"/>
            <p:custDataLst>
              <p:tags r:id="rId5"/>
            </p:custDataLst>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 name="灯片编号占位符 5"/>
          <p:cNvSpPr>
            <a:spLocks noGrp="1"/>
          </p:cNvSpPr>
          <p:nvPr>
            <p:ph type="sldNum" sz="quarter" idx="12"/>
            <p:custDataLst>
              <p:tags r:id="rId6"/>
            </p:custDataLst>
          </p:nvPr>
        </p:nvSpPr>
        <p:spPr/>
        <p:txBody>
          <a:bodyPr lIns="0" rIns="0" tIns="0" bIns="0"/>
          <a:lstStyle/>
          <a:p>
            <a:pPr>
              <a:defRPr>
                <a:latin typeface="微软雅黑"/>
                <a:ea typeface="微软雅黑"/>
                <a:cs typeface="微软雅黑"/>
              </a:defRPr>
            </a:pPr>
            <a:fld id="{49AE70B2-8BF9-45C0-BB95-33D1B9D3A854}"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lIns="0" rIns="0" tIns="0" bIns="0"/>
          <a:lstStyle/>
          <a:p>
            <a:pPr>
              <a:defRPr>
                <a:latin typeface="微软雅黑"/>
                <a:ea typeface="微软雅黑"/>
                <a:cs typeface="微软雅黑"/>
              </a:defRPr>
            </a:pPr>
            <a:r>
              <a:rPr lang="zh-CN" altLang="en-US">
                <a:latin typeface="微软雅黑"/>
                <a:ea typeface="微软雅黑"/>
                <a:cs typeface="微软雅黑"/>
              </a:rPr>
              <a:t>单击此处编辑母版标题样式</a:t>
            </a:r>
            <a:endParaRPr lang="zh-CN" altLang="en-US">
              <a:latin typeface="微软雅黑"/>
              <a:ea typeface="微软雅黑"/>
              <a:cs typeface="微软雅黑"/>
            </a:endParaRPr>
          </a:p>
        </p:txBody>
      </p:sp>
      <p:sp>
        <p:nvSpPr>
          <p:cNvPr id="3" name="日期占位符 2"/>
          <p:cNvSpPr>
            <a:spLocks noGrp="1"/>
          </p:cNvSpPr>
          <p:nvPr>
            <p:ph type="dt" sz="half" idx="10"/>
          </p:nvPr>
        </p:nvSpPr>
        <p:spPr/>
        <p:txBody>
          <a:bodyPr lIns="0" rIns="0" tIns="0" bIns="0"/>
          <a:lstStyle/>
          <a:p>
            <a:pPr>
              <a:defRPr>
                <a:latin typeface="微软雅黑"/>
                <a:ea typeface="微软雅黑"/>
                <a:cs typeface="微软雅黑"/>
              </a:defRPr>
            </a:pPr>
            <a:fld id="{263DB197-84B0-484E-9C0F-88358ECCB797}" type="datetimeFigureOut">
              <a:rPr lang="zh-CN" altLang="en-US" smtClean="0">
                <a:latin typeface="微软雅黑"/>
                <a:ea typeface="微软雅黑"/>
                <a:cs typeface="微软雅黑"/>
              </a:rPr>
            </a:fld>
            <a:endParaRPr lang="zh-CN" altLang="en-US">
              <a:latin typeface="微软雅黑"/>
              <a:ea typeface="微软雅黑"/>
              <a:cs typeface="微软雅黑"/>
            </a:endParaRPr>
          </a:p>
        </p:txBody>
      </p:sp>
      <p:sp>
        <p:nvSpPr>
          <p:cNvPr id="4" name="页脚占位符 3"/>
          <p:cNvSpPr>
            <a:spLocks noGrp="1"/>
          </p:cNvSpPr>
          <p:nvPr>
            <p:ph type="ftr" sz="quarter" idx="11"/>
          </p:nvPr>
        </p:nvSpPr>
        <p:spPr/>
        <p:txBody>
          <a:bodyP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 name="灯片编号占位符 4"/>
          <p:cNvSpPr>
            <a:spLocks noGrp="1"/>
          </p:cNvSpPr>
          <p:nvPr>
            <p:ph type="sldNum" sz="quarter" idx="12"/>
          </p:nvPr>
        </p:nvSpPr>
        <p:spPr/>
        <p:txBody>
          <a:bodyPr lIns="0" rIns="0" tIns="0" bIns="0"/>
          <a:lstStyle/>
          <a:p>
            <a:pPr>
              <a:defRPr>
                <a:latin typeface="微软雅黑"/>
                <a:ea typeface="微软雅黑"/>
                <a:cs typeface="微软雅黑"/>
              </a:defRPr>
            </a:pPr>
            <a:fld id="{E077DA78-E013-4A8C-AD75-63A150561B10}" type="slidenum">
              <a:rPr lang="zh-CN" altLang="en-US" smtClean="0">
                <a:latin typeface="微软雅黑"/>
                <a:ea typeface="微软雅黑"/>
                <a:cs typeface="微软雅黑"/>
              </a:rPr>
            </a:fld>
            <a:endParaRPr lang="zh-CN" altLang="en-US">
              <a:latin typeface="微软雅黑"/>
              <a:ea typeface="微软雅黑"/>
              <a:cs typeface="微软雅黑"/>
            </a:endParaRPr>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theme" Target="../theme/theme1.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theme" Target="../theme/theme2.xml"/><Relationship Id="rId8" Type="http://schemas.openxmlformats.org/officeDocument/2006/relationships/slideLayout" Target="../slideLayouts/slideLayout16.xml"/><Relationship Id="rId7" Type="http://schemas.openxmlformats.org/officeDocument/2006/relationships/slideLayout" Target="../slideLayouts/slideLayout15.xml"/><Relationship Id="rId6" Type="http://schemas.openxmlformats.org/officeDocument/2006/relationships/slideLayout" Target="../slideLayouts/slideLayout14.xml"/><Relationship Id="rId5" Type="http://schemas.openxmlformats.org/officeDocument/2006/relationships/slideLayout" Target="../slideLayouts/slideLayout13.xml"/><Relationship Id="rId4" Type="http://schemas.openxmlformats.org/officeDocument/2006/relationships/slideLayout" Target="../slideLayouts/slideLayout12.xml"/><Relationship Id="rId3" Type="http://schemas.openxmlformats.org/officeDocument/2006/relationships/slideLayout" Target="../slideLayouts/slideLayout11.xml"/><Relationship Id="rId2" Type="http://schemas.openxmlformats.org/officeDocument/2006/relationships/slideLayout" Target="../slideLayouts/slideLayout10.xml"/><Relationship Id="rId1"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0" tIns="0" rIns="0" bIns="0" rtlCol="0" anchor="ctr">
            <a:noAutofit/>
          </a:bodyPr>
          <a:lstStyle/>
          <a:p>
            <a:pPr>
              <a:defRPr>
                <a:latin typeface="微软雅黑"/>
                <a:ea typeface="微软雅黑"/>
                <a:cs typeface="微软雅黑"/>
              </a:defRPr>
            </a:pPr>
            <a:r>
              <a:rPr lang="zh-CN" altLang="en-US" dirty="0">
                <a:latin typeface="微软雅黑"/>
                <a:ea typeface="微软雅黑"/>
                <a:cs typeface="微软雅黑"/>
              </a:rPr>
              <a:t>单击此处编辑母版标题样式</a:t>
            </a:r>
            <a:endParaRPr lang="en-US" dirty="0">
              <a:latin typeface="微软雅黑"/>
              <a:ea typeface="微软雅黑"/>
              <a:cs typeface="微软雅黑"/>
            </a:endParaRPr>
          </a:p>
        </p:txBody>
      </p:sp>
      <p:sp>
        <p:nvSpPr>
          <p:cNvPr id="3" name="文本占位符 2"/>
          <p:cNvSpPr>
            <a:spLocks noGrp="1"/>
          </p:cNvSpPr>
          <p:nvPr>
            <p:ph type="body" idx="1"/>
          </p:nvPr>
        </p:nvSpPr>
        <p:spPr>
          <a:xfrm>
            <a:off x="838200" y="1825625"/>
            <a:ext cx="10515600" cy="4351338"/>
          </a:xfrm>
          <a:prstGeom prst="rect">
            <a:avLst/>
          </a:prstGeom>
        </p:spPr>
        <p:txBody>
          <a:bodyPr vert="horz" lIns="0" tIns="0" rIns="0" bIns="0" rtlCol="0">
            <a:noAutofit/>
          </a:bodyPr>
          <a:lstStyle/>
          <a:p>
            <a:pPr lvl="0">
              <a:defRPr>
                <a:latin typeface="微软雅黑"/>
                <a:ea typeface="微软雅黑"/>
                <a:cs typeface="微软雅黑"/>
              </a:defRPr>
            </a:pPr>
            <a:r>
              <a:rPr lang="zh-CN" altLang="en-US" dirty="0">
                <a:latin typeface="微软雅黑"/>
                <a:ea typeface="微软雅黑"/>
                <a:cs typeface="微软雅黑"/>
              </a:rPr>
              <a:t>单击此处编辑母版文本样式</a:t>
            </a:r>
            <a:endParaRPr lang="zh-CN" altLang="en-US" dirty="0">
              <a:latin typeface="微软雅黑"/>
              <a:ea typeface="微软雅黑"/>
              <a:cs typeface="微软雅黑"/>
            </a:endParaRPr>
          </a:p>
          <a:p>
            <a:pPr lvl="1">
              <a:defRPr>
                <a:latin typeface="微软雅黑"/>
                <a:ea typeface="微软雅黑"/>
                <a:cs typeface="微软雅黑"/>
              </a:defRPr>
            </a:pPr>
            <a:r>
              <a:rPr lang="zh-CN" altLang="en-US" dirty="0">
                <a:latin typeface="微软雅黑"/>
                <a:ea typeface="微软雅黑"/>
                <a:cs typeface="微软雅黑"/>
              </a:rPr>
              <a:t>二级</a:t>
            </a:r>
            <a:endParaRPr lang="zh-CN" altLang="en-US" dirty="0">
              <a:latin typeface="微软雅黑"/>
              <a:ea typeface="微软雅黑"/>
              <a:cs typeface="微软雅黑"/>
            </a:endParaRPr>
          </a:p>
          <a:p>
            <a:pPr lvl="2">
              <a:defRPr>
                <a:latin typeface="微软雅黑"/>
                <a:ea typeface="微软雅黑"/>
                <a:cs typeface="微软雅黑"/>
              </a:defRPr>
            </a:pPr>
            <a:r>
              <a:rPr lang="zh-CN" altLang="en-US" dirty="0">
                <a:latin typeface="微软雅黑"/>
                <a:ea typeface="微软雅黑"/>
                <a:cs typeface="微软雅黑"/>
              </a:rPr>
              <a:t>三级</a:t>
            </a:r>
            <a:endParaRPr lang="zh-CN" altLang="en-US" dirty="0">
              <a:latin typeface="微软雅黑"/>
              <a:ea typeface="微软雅黑"/>
              <a:cs typeface="微软雅黑"/>
            </a:endParaRPr>
          </a:p>
          <a:p>
            <a:pPr lvl="3">
              <a:defRPr>
                <a:latin typeface="微软雅黑"/>
                <a:ea typeface="微软雅黑"/>
                <a:cs typeface="微软雅黑"/>
              </a:defRPr>
            </a:pPr>
            <a:r>
              <a:rPr lang="zh-CN" altLang="en-US" dirty="0">
                <a:latin typeface="微软雅黑"/>
                <a:ea typeface="微软雅黑"/>
                <a:cs typeface="微软雅黑"/>
              </a:rPr>
              <a:t>四级</a:t>
            </a:r>
            <a:endParaRPr lang="zh-CN" altLang="en-US" dirty="0">
              <a:latin typeface="微软雅黑"/>
              <a:ea typeface="微软雅黑"/>
              <a:cs typeface="微软雅黑"/>
            </a:endParaRPr>
          </a:p>
          <a:p>
            <a:pPr lvl="4">
              <a:defRPr>
                <a:latin typeface="微软雅黑"/>
                <a:ea typeface="微软雅黑"/>
                <a:cs typeface="微软雅黑"/>
              </a:defRPr>
            </a:pPr>
            <a:r>
              <a:rPr lang="zh-CN" altLang="en-US" dirty="0">
                <a:latin typeface="微软雅黑"/>
                <a:ea typeface="微软雅黑"/>
                <a:cs typeface="微软雅黑"/>
              </a:rPr>
              <a:t>五级</a:t>
            </a:r>
            <a:endParaRPr lang="en-US" dirty="0">
              <a:latin typeface="微软雅黑"/>
              <a:ea typeface="微软雅黑"/>
              <a:cs typeface="微软雅黑"/>
            </a:endParaRPr>
          </a:p>
        </p:txBody>
      </p:sp>
      <p:sp>
        <p:nvSpPr>
          <p:cNvPr id="4" name="日期占位符 3"/>
          <p:cNvSpPr>
            <a:spLocks noGrp="1"/>
          </p:cNvSpPr>
          <p:nvPr>
            <p:ph type="dt" sz="half" idx="2"/>
          </p:nvPr>
        </p:nvSpPr>
        <p:spPr>
          <a:xfrm>
            <a:off x="838200" y="6356350"/>
            <a:ext cx="2743200" cy="365125"/>
          </a:xfrm>
          <a:prstGeom prst="rect">
            <a:avLst/>
          </a:prstGeom>
        </p:spPr>
        <p:txBody>
          <a:bodyPr vert="horz" lIns="0" tIns="0" rIns="0" bIns="0" rtlCol="0" anchor="ctr"/>
          <a:lstStyle>
            <a:lvl1pPr algn="l">
              <a:defRPr sz="1200">
                <a:solidFill>
                  <a:srgbClr val="383838"/>
                </a:solidFill>
                <a:latin typeface="微软雅黑"/>
                <a:ea typeface="微软雅黑"/>
                <a:cs typeface="微软雅黑"/>
              </a:defRPr>
            </a:lvl1pPr>
          </a:lstStyle>
          <a:p>
            <a:pPr>
              <a:defRPr>
                <a:latin typeface="微软雅黑"/>
                <a:ea typeface="微软雅黑"/>
                <a:cs typeface="微软雅黑"/>
              </a:defRPr>
            </a:pPr>
            <a:fld id="{3854961C-C3E7-4008-B7AA-A672D0EA3DB0}" type="datetimeFigureOut">
              <a:rPr lang="en-US" smtClean="0">
                <a:latin typeface="微软雅黑"/>
                <a:ea typeface="微软雅黑"/>
                <a:cs typeface="微软雅黑"/>
              </a:rPr>
            </a:fld>
            <a:endParaRPr lang="en-US" dirty="0">
              <a:latin typeface="微软雅黑"/>
              <a:ea typeface="微软雅黑"/>
              <a:cs typeface="微软雅黑"/>
            </a:endParaRPr>
          </a:p>
        </p:txBody>
      </p:sp>
      <p:sp>
        <p:nvSpPr>
          <p:cNvPr id="5" name="页脚占位符 4"/>
          <p:cNvSpPr>
            <a:spLocks noGrp="1"/>
          </p:cNvSpPr>
          <p:nvPr>
            <p:ph type="ftr" sz="quarter" idx="3"/>
          </p:nvPr>
        </p:nvSpPr>
        <p:spPr>
          <a:xfrm>
            <a:off x="4038600" y="6356350"/>
            <a:ext cx="4114800" cy="365125"/>
          </a:xfrm>
          <a:prstGeom prst="rect">
            <a:avLst/>
          </a:prstGeom>
        </p:spPr>
        <p:txBody>
          <a:bodyPr vert="horz" lIns="0" tIns="0" rIns="0" bIns="0" rtlCol="0" anchor="ctr"/>
          <a:lstStyle>
            <a:lvl1pPr algn="ctr">
              <a:defRPr sz="1200">
                <a:solidFill>
                  <a:srgbClr val="383838"/>
                </a:solidFill>
                <a:latin typeface="微软雅黑"/>
                <a:ea typeface="微软雅黑"/>
                <a:cs typeface="微软雅黑"/>
              </a:defRPr>
            </a:lvl1pPr>
          </a:lstStyle>
          <a:p>
            <a:pPr>
              <a:defRPr>
                <a:latin typeface="微软雅黑"/>
                <a:ea typeface="微软雅黑"/>
                <a:cs typeface="微软雅黑"/>
              </a:defRPr>
            </a:pPr>
            <a:endParaRPr lang="en-US" dirty="0">
              <a:latin typeface="微软雅黑"/>
              <a:ea typeface="微软雅黑"/>
              <a:cs typeface="微软雅黑"/>
            </a:endParaRPr>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0" tIns="0" rIns="0" bIns="0" rtlCol="0" anchor="ctr"/>
          <a:lstStyle>
            <a:lvl1pPr algn="r">
              <a:defRPr sz="1200">
                <a:solidFill>
                  <a:srgbClr val="383838"/>
                </a:solidFill>
                <a:latin typeface="微软雅黑"/>
                <a:ea typeface="微软雅黑"/>
                <a:cs typeface="微软雅黑"/>
              </a:defRPr>
            </a:lvl1pPr>
          </a:lstStyle>
          <a:p>
            <a:pPr>
              <a:defRPr>
                <a:latin typeface="微软雅黑"/>
                <a:ea typeface="微软雅黑"/>
                <a:cs typeface="微软雅黑"/>
              </a:defRPr>
            </a:pPr>
            <a:fld id="{8472ACB7-49E0-448E-BCC2-AC9877F63D46}" type="slidenum">
              <a:rPr lang="en-US" smtClean="0">
                <a:latin typeface="微软雅黑"/>
                <a:ea typeface="微软雅黑"/>
                <a:cs typeface="微软雅黑"/>
              </a:rPr>
            </a:fld>
            <a:endParaRPr lang="en-US" dirty="0">
              <a:latin typeface="微软雅黑"/>
              <a:ea typeface="微软雅黑"/>
              <a:cs typeface="微软雅黑"/>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Lst>
  <p:txStyles>
    <p:titleStyle>
      <a:lvl1pPr algn="l" defTabSz="914400" rtl="0" eaLnBrk="1" latinLnBrk="0" hangingPunct="1">
        <a:lnSpc>
          <a:spcPct val="90000"/>
        </a:lnSpc>
        <a:spcBef>
          <a:spcPct val="0"/>
        </a:spcBef>
        <a:buNone/>
        <a:defRPr sz="4400" kern="1200">
          <a:solidFill>
            <a:srgbClr val="383838"/>
          </a:solidFill>
          <a:latin typeface="微软雅黑"/>
          <a:ea typeface="微软雅黑"/>
          <a:cs typeface="微软雅黑"/>
        </a:defRPr>
      </a:lvl1pPr>
    </p:titleStyle>
    <p:body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p:bodyStyle>
    <p:other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rgbClr val="FFFFFF"/>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0" tIns="0" rIns="0" bIns="0" rtlCol="0" anchor="ctr">
            <a:noAutofit/>
          </a:bodyPr>
          <a:lstStyle/>
          <a:p>
            <a:pPr>
              <a:defRPr>
                <a:latin typeface="微软雅黑"/>
                <a:ea typeface="微软雅黑"/>
                <a:cs typeface="微软雅黑"/>
              </a:defRPr>
            </a:pPr>
            <a:r>
              <a:rPr lang="zh-CN" altLang="en-US" dirty="0">
                <a:latin typeface="微软雅黑"/>
                <a:ea typeface="微软雅黑"/>
                <a:cs typeface="微软雅黑"/>
              </a:rPr>
              <a:t>单击此处编辑母版标题样式</a:t>
            </a:r>
            <a:endParaRPr lang="en-US" dirty="0">
              <a:latin typeface="微软雅黑"/>
              <a:ea typeface="微软雅黑"/>
              <a:cs typeface="微软雅黑"/>
            </a:endParaRPr>
          </a:p>
        </p:txBody>
      </p:sp>
      <p:sp>
        <p:nvSpPr>
          <p:cNvPr id="3" name="文本占位符 2"/>
          <p:cNvSpPr>
            <a:spLocks noGrp="1"/>
          </p:cNvSpPr>
          <p:nvPr>
            <p:ph type="body" idx="1"/>
          </p:nvPr>
        </p:nvSpPr>
        <p:spPr>
          <a:xfrm>
            <a:off x="838200" y="1825625"/>
            <a:ext cx="10515600" cy="4351338"/>
          </a:xfrm>
          <a:prstGeom prst="rect">
            <a:avLst/>
          </a:prstGeom>
        </p:spPr>
        <p:txBody>
          <a:bodyPr vert="horz" lIns="0" tIns="0" rIns="0" bIns="0" rtlCol="0">
            <a:noAutofit/>
          </a:bodyPr>
          <a:lstStyle/>
          <a:p>
            <a:pPr lvl="0">
              <a:defRPr>
                <a:latin typeface="微软雅黑"/>
                <a:ea typeface="微软雅黑"/>
                <a:cs typeface="微软雅黑"/>
              </a:defRPr>
            </a:pPr>
            <a:r>
              <a:rPr lang="zh-CN" altLang="en-US" dirty="0">
                <a:latin typeface="微软雅黑"/>
                <a:ea typeface="微软雅黑"/>
                <a:cs typeface="微软雅黑"/>
              </a:rPr>
              <a:t>单击此处编辑母版文本样式</a:t>
            </a:r>
            <a:endParaRPr lang="zh-CN" altLang="en-US" dirty="0">
              <a:latin typeface="微软雅黑"/>
              <a:ea typeface="微软雅黑"/>
              <a:cs typeface="微软雅黑"/>
            </a:endParaRPr>
          </a:p>
          <a:p>
            <a:pPr lvl="1">
              <a:defRPr>
                <a:latin typeface="微软雅黑"/>
                <a:ea typeface="微软雅黑"/>
                <a:cs typeface="微软雅黑"/>
              </a:defRPr>
            </a:pPr>
            <a:r>
              <a:rPr lang="zh-CN" altLang="en-US" dirty="0">
                <a:latin typeface="微软雅黑"/>
                <a:ea typeface="微软雅黑"/>
                <a:cs typeface="微软雅黑"/>
              </a:rPr>
              <a:t>二级</a:t>
            </a:r>
            <a:endParaRPr lang="zh-CN" altLang="en-US" dirty="0">
              <a:latin typeface="微软雅黑"/>
              <a:ea typeface="微软雅黑"/>
              <a:cs typeface="微软雅黑"/>
            </a:endParaRPr>
          </a:p>
          <a:p>
            <a:pPr lvl="2">
              <a:defRPr>
                <a:latin typeface="微软雅黑"/>
                <a:ea typeface="微软雅黑"/>
                <a:cs typeface="微软雅黑"/>
              </a:defRPr>
            </a:pPr>
            <a:r>
              <a:rPr lang="zh-CN" altLang="en-US" dirty="0">
                <a:latin typeface="微软雅黑"/>
                <a:ea typeface="微软雅黑"/>
                <a:cs typeface="微软雅黑"/>
              </a:rPr>
              <a:t>三级</a:t>
            </a:r>
            <a:endParaRPr lang="zh-CN" altLang="en-US" dirty="0">
              <a:latin typeface="微软雅黑"/>
              <a:ea typeface="微软雅黑"/>
              <a:cs typeface="微软雅黑"/>
            </a:endParaRPr>
          </a:p>
          <a:p>
            <a:pPr lvl="3">
              <a:defRPr>
                <a:latin typeface="微软雅黑"/>
                <a:ea typeface="微软雅黑"/>
                <a:cs typeface="微软雅黑"/>
              </a:defRPr>
            </a:pPr>
            <a:r>
              <a:rPr lang="zh-CN" altLang="en-US" dirty="0">
                <a:latin typeface="微软雅黑"/>
                <a:ea typeface="微软雅黑"/>
                <a:cs typeface="微软雅黑"/>
              </a:rPr>
              <a:t>四级</a:t>
            </a:r>
            <a:endParaRPr lang="zh-CN" altLang="en-US" dirty="0">
              <a:latin typeface="微软雅黑"/>
              <a:ea typeface="微软雅黑"/>
              <a:cs typeface="微软雅黑"/>
            </a:endParaRPr>
          </a:p>
          <a:p>
            <a:pPr lvl="4">
              <a:defRPr>
                <a:latin typeface="微软雅黑"/>
                <a:ea typeface="微软雅黑"/>
                <a:cs typeface="微软雅黑"/>
              </a:defRPr>
            </a:pPr>
            <a:r>
              <a:rPr lang="zh-CN" altLang="en-US" dirty="0">
                <a:latin typeface="微软雅黑"/>
                <a:ea typeface="微软雅黑"/>
                <a:cs typeface="微软雅黑"/>
              </a:rPr>
              <a:t>五级</a:t>
            </a:r>
            <a:endParaRPr lang="en-US" dirty="0">
              <a:latin typeface="微软雅黑"/>
              <a:ea typeface="微软雅黑"/>
              <a:cs typeface="微软雅黑"/>
            </a:endParaRPr>
          </a:p>
        </p:txBody>
      </p:sp>
      <p:sp>
        <p:nvSpPr>
          <p:cNvPr id="4" name="日期占位符 3"/>
          <p:cNvSpPr>
            <a:spLocks noGrp="1"/>
          </p:cNvSpPr>
          <p:nvPr>
            <p:ph type="dt" sz="half" idx="2"/>
          </p:nvPr>
        </p:nvSpPr>
        <p:spPr>
          <a:xfrm>
            <a:off x="838200" y="6356350"/>
            <a:ext cx="2743200" cy="365125"/>
          </a:xfrm>
          <a:prstGeom prst="rect">
            <a:avLst/>
          </a:prstGeom>
        </p:spPr>
        <p:txBody>
          <a:bodyPr vert="horz" lIns="0" tIns="0" rIns="0" bIns="0" rtlCol="0" anchor="ctr"/>
          <a:lstStyle>
            <a:lvl1pPr algn="l">
              <a:defRPr sz="1200">
                <a:solidFill>
                  <a:srgbClr val="383838"/>
                </a:solidFill>
                <a:latin typeface="微软雅黑"/>
                <a:ea typeface="微软雅黑"/>
                <a:cs typeface="微软雅黑"/>
              </a:defRPr>
            </a:lvl1pPr>
          </a:lstStyle>
          <a:p>
            <a:pPr>
              <a:defRPr>
                <a:latin typeface="微软雅黑"/>
                <a:ea typeface="微软雅黑"/>
                <a:cs typeface="微软雅黑"/>
              </a:defRPr>
            </a:pPr>
            <a:fld id="{3854961C-C3E7-4008-B7AA-A672D0EA3DB0}" type="datetimeFigureOut">
              <a:rPr lang="en-US" smtClean="0">
                <a:latin typeface="微软雅黑"/>
                <a:ea typeface="微软雅黑"/>
                <a:cs typeface="微软雅黑"/>
              </a:rPr>
            </a:fld>
            <a:endParaRPr lang="en-US" dirty="0">
              <a:latin typeface="微软雅黑"/>
              <a:ea typeface="微软雅黑"/>
              <a:cs typeface="微软雅黑"/>
            </a:endParaRPr>
          </a:p>
        </p:txBody>
      </p:sp>
      <p:sp>
        <p:nvSpPr>
          <p:cNvPr id="5" name="页脚占位符 4"/>
          <p:cNvSpPr>
            <a:spLocks noGrp="1"/>
          </p:cNvSpPr>
          <p:nvPr>
            <p:ph type="ftr" sz="quarter" idx="3"/>
          </p:nvPr>
        </p:nvSpPr>
        <p:spPr>
          <a:xfrm>
            <a:off x="4038600" y="6356350"/>
            <a:ext cx="4114800" cy="365125"/>
          </a:xfrm>
          <a:prstGeom prst="rect">
            <a:avLst/>
          </a:prstGeom>
        </p:spPr>
        <p:txBody>
          <a:bodyPr vert="horz" lIns="0" tIns="0" rIns="0" bIns="0" rtlCol="0" anchor="ctr"/>
          <a:lstStyle>
            <a:lvl1pPr algn="ctr">
              <a:defRPr sz="1200">
                <a:solidFill>
                  <a:srgbClr val="383838"/>
                </a:solidFill>
                <a:latin typeface="微软雅黑"/>
                <a:ea typeface="微软雅黑"/>
                <a:cs typeface="微软雅黑"/>
              </a:defRPr>
            </a:lvl1pPr>
          </a:lstStyle>
          <a:p>
            <a:pPr>
              <a:defRPr>
                <a:latin typeface="微软雅黑"/>
                <a:ea typeface="微软雅黑"/>
                <a:cs typeface="微软雅黑"/>
              </a:defRPr>
            </a:pPr>
            <a:endParaRPr lang="en-US" dirty="0">
              <a:latin typeface="微软雅黑"/>
              <a:ea typeface="微软雅黑"/>
              <a:cs typeface="微软雅黑"/>
            </a:endParaRPr>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0" tIns="0" rIns="0" bIns="0" rtlCol="0" anchor="ctr"/>
          <a:lstStyle>
            <a:lvl1pPr algn="r">
              <a:defRPr sz="1200">
                <a:solidFill>
                  <a:srgbClr val="383838"/>
                </a:solidFill>
                <a:latin typeface="微软雅黑"/>
                <a:ea typeface="微软雅黑"/>
                <a:cs typeface="微软雅黑"/>
              </a:defRPr>
            </a:lvl1pPr>
          </a:lstStyle>
          <a:p>
            <a:pPr>
              <a:defRPr>
                <a:latin typeface="微软雅黑"/>
                <a:ea typeface="微软雅黑"/>
                <a:cs typeface="微软雅黑"/>
              </a:defRPr>
            </a:pPr>
            <a:fld id="{8472ACB7-49E0-448E-BCC2-AC9877F63D46}" type="slidenum">
              <a:rPr lang="en-US" smtClean="0">
                <a:latin typeface="微软雅黑"/>
                <a:ea typeface="微软雅黑"/>
                <a:cs typeface="微软雅黑"/>
              </a:rPr>
            </a:fld>
            <a:endParaRPr lang="en-US" dirty="0">
              <a:latin typeface="微软雅黑"/>
              <a:ea typeface="微软雅黑"/>
              <a:cs typeface="微软雅黑"/>
            </a:endParaRPr>
          </a:p>
        </p:txBody>
      </p:sp>
    </p:spTree>
  </p:cSld>
  <p:clrMap bg1="lt1" tx1="dk1" bg2="lt2" tx2="dk2" accent1="accent1" accent2="accent2" accent3="accent3" accent4="accent4" accent5="accent5" accent6="accent6" hlink="hlink" folHlink="folHlink"/>
  <p:sldLayoutIdLst>
    <p:sldLayoutId id="2147483658" r:id="rId1"/>
    <p:sldLayoutId id="2147483659" r:id="rId2"/>
    <p:sldLayoutId id="2147483660" r:id="rId3"/>
    <p:sldLayoutId id="2147483661" r:id="rId4"/>
    <p:sldLayoutId id="2147483662" r:id="rId5"/>
    <p:sldLayoutId id="2147483663" r:id="rId6"/>
    <p:sldLayoutId id="2147483664" r:id="rId7"/>
    <p:sldLayoutId id="2147483665" r:id="rId8"/>
  </p:sldLayoutIdLst>
  <p:txStyles>
    <p:titleStyle>
      <a:lvl1pPr algn="l" defTabSz="914400" rtl="0" eaLnBrk="1" latinLnBrk="0" hangingPunct="1">
        <a:lnSpc>
          <a:spcPct val="90000"/>
        </a:lnSpc>
        <a:spcBef>
          <a:spcPct val="0"/>
        </a:spcBef>
        <a:buNone/>
        <a:defRPr sz="4400" kern="1200">
          <a:solidFill>
            <a:srgbClr val="383838"/>
          </a:solidFill>
          <a:latin typeface="微软雅黑"/>
          <a:ea typeface="微软雅黑"/>
          <a:cs typeface="微软雅黑"/>
        </a:defRPr>
      </a:lvl1pPr>
    </p:titleStyle>
    <p:body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p:bodyStyle>
    <p:other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image" Target="../media/image1.jpeg"/></Relationships>
</file>

<file path=ppt/slides/_rels/slide2.xml.rels><?xml version="1.0" encoding="UTF-8" standalone="yes"?>
<Relationships xmlns="http://schemas.openxmlformats.org/package/2006/relationships"><Relationship Id="rId5" Type="http://schemas.openxmlformats.org/officeDocument/2006/relationships/notesSlide" Target="../notesSlides/notesSlide1.xml"/><Relationship Id="rId4" Type="http://schemas.openxmlformats.org/officeDocument/2006/relationships/slideLayout" Target="../slideLayouts/slideLayout13.xml"/><Relationship Id="rId3" Type="http://schemas.openxmlformats.org/officeDocument/2006/relationships/image" Target="../media/image2.png"/><Relationship Id="rId2" Type="http://schemas.openxmlformats.org/officeDocument/2006/relationships/tags" Target="../tags/tag12.xml"/><Relationship Id="rId1" Type="http://schemas.openxmlformats.org/officeDocument/2006/relationships/tags" Target="../tags/tag11.xml"/></Relationships>
</file>

<file path=ppt/slides/_rels/slide3.xml.rels><?xml version="1.0" encoding="UTF-8" standalone="yes"?>
<Relationships xmlns="http://schemas.openxmlformats.org/package/2006/relationships"><Relationship Id="rId7" Type="http://schemas.openxmlformats.org/officeDocument/2006/relationships/notesSlide" Target="../notesSlides/notesSlide2.xml"/><Relationship Id="rId6" Type="http://schemas.openxmlformats.org/officeDocument/2006/relationships/slideLayout" Target="../slideLayouts/slideLayout13.xml"/><Relationship Id="rId5" Type="http://schemas.openxmlformats.org/officeDocument/2006/relationships/image" Target="../media/image3.png"/><Relationship Id="rId4" Type="http://schemas.openxmlformats.org/officeDocument/2006/relationships/image" Target="../media/image2.png"/><Relationship Id="rId3" Type="http://schemas.openxmlformats.org/officeDocument/2006/relationships/tags" Target="../tags/tag15.xml"/><Relationship Id="rId2" Type="http://schemas.openxmlformats.org/officeDocument/2006/relationships/tags" Target="../tags/tag14.xml"/><Relationship Id="rId1" Type="http://schemas.openxmlformats.org/officeDocument/2006/relationships/tags" Target="../tags/tag13.xml"/></Relationships>
</file>

<file path=ppt/slides/_rels/slide4.xml.rels><?xml version="1.0" encoding="UTF-8" standalone="yes"?>
<Relationships xmlns="http://schemas.openxmlformats.org/package/2006/relationships"><Relationship Id="rId8" Type="http://schemas.openxmlformats.org/officeDocument/2006/relationships/notesSlide" Target="../notesSlides/notesSlide3.xml"/><Relationship Id="rId7" Type="http://schemas.openxmlformats.org/officeDocument/2006/relationships/slideLayout" Target="../slideLayouts/slideLayout13.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2.png"/><Relationship Id="rId3" Type="http://schemas.openxmlformats.org/officeDocument/2006/relationships/tags" Target="../tags/tag18.xml"/><Relationship Id="rId2" Type="http://schemas.openxmlformats.org/officeDocument/2006/relationships/tags" Target="../tags/tag17.xml"/><Relationship Id="rId1" Type="http://schemas.openxmlformats.org/officeDocument/2006/relationships/tags" Target="../tags/tag16.xml"/></Relationships>
</file>

<file path=ppt/slides/_rels/slide5.xml.rels><?xml version="1.0" encoding="UTF-8" standalone="yes"?>
<Relationships xmlns="http://schemas.openxmlformats.org/package/2006/relationships"><Relationship Id="rId9" Type="http://schemas.openxmlformats.org/officeDocument/2006/relationships/tags" Target="../tags/tag26.xml"/><Relationship Id="rId8" Type="http://schemas.openxmlformats.org/officeDocument/2006/relationships/tags" Target="../tags/tag25.xml"/><Relationship Id="rId7" Type="http://schemas.openxmlformats.org/officeDocument/2006/relationships/image" Target="../media/image6.png"/><Relationship Id="rId6" Type="http://schemas.openxmlformats.org/officeDocument/2006/relationships/tags" Target="../tags/tag24.xml"/><Relationship Id="rId5" Type="http://schemas.openxmlformats.org/officeDocument/2006/relationships/tags" Target="../tags/tag23.xml"/><Relationship Id="rId4" Type="http://schemas.openxmlformats.org/officeDocument/2006/relationships/tags" Target="../tags/tag22.xml"/><Relationship Id="rId3" Type="http://schemas.openxmlformats.org/officeDocument/2006/relationships/tags" Target="../tags/tag21.xml"/><Relationship Id="rId2" Type="http://schemas.openxmlformats.org/officeDocument/2006/relationships/tags" Target="../tags/tag20.xml"/><Relationship Id="rId11" Type="http://schemas.openxmlformats.org/officeDocument/2006/relationships/slideLayout" Target="../slideLayouts/slideLayout9.xml"/><Relationship Id="rId10" Type="http://schemas.openxmlformats.org/officeDocument/2006/relationships/image" Target="../media/image7.png"/><Relationship Id="rId1" Type="http://schemas.openxmlformats.org/officeDocument/2006/relationships/tags" Target="../tags/tag19.xml"/></Relationships>
</file>

<file path=ppt/slides/_rels/slide6.xml.rels><?xml version="1.0" encoding="UTF-8" standalone="yes"?>
<Relationships xmlns="http://schemas.openxmlformats.org/package/2006/relationships"><Relationship Id="rId9" Type="http://schemas.openxmlformats.org/officeDocument/2006/relationships/tags" Target="../tags/tag33.xml"/><Relationship Id="rId8" Type="http://schemas.openxmlformats.org/officeDocument/2006/relationships/image" Target="../media/image9.png"/><Relationship Id="rId7" Type="http://schemas.openxmlformats.org/officeDocument/2006/relationships/tags" Target="../tags/tag32.xml"/><Relationship Id="rId6" Type="http://schemas.openxmlformats.org/officeDocument/2006/relationships/tags" Target="../tags/tag31.xml"/><Relationship Id="rId5" Type="http://schemas.openxmlformats.org/officeDocument/2006/relationships/image" Target="../media/image8.png"/><Relationship Id="rId4" Type="http://schemas.openxmlformats.org/officeDocument/2006/relationships/tags" Target="../tags/tag30.xml"/><Relationship Id="rId3" Type="http://schemas.openxmlformats.org/officeDocument/2006/relationships/tags" Target="../tags/tag29.xml"/><Relationship Id="rId2" Type="http://schemas.openxmlformats.org/officeDocument/2006/relationships/tags" Target="../tags/tag28.xml"/><Relationship Id="rId14" Type="http://schemas.openxmlformats.org/officeDocument/2006/relationships/slideLayout" Target="../slideLayouts/slideLayout9.xml"/><Relationship Id="rId13" Type="http://schemas.openxmlformats.org/officeDocument/2006/relationships/image" Target="../media/image11.png"/><Relationship Id="rId12" Type="http://schemas.openxmlformats.org/officeDocument/2006/relationships/image" Target="../media/image10.png"/><Relationship Id="rId11" Type="http://schemas.openxmlformats.org/officeDocument/2006/relationships/tags" Target="../tags/tag35.xml"/><Relationship Id="rId10" Type="http://schemas.openxmlformats.org/officeDocument/2006/relationships/tags" Target="../tags/tag34.xml"/><Relationship Id="rId1" Type="http://schemas.openxmlformats.org/officeDocument/2006/relationships/tags" Target="../tags/tag27.xml"/></Relationships>
</file>

<file path=ppt/slides/_rels/slide7.xml.rels><?xml version="1.0" encoding="UTF-8" standalone="yes"?>
<Relationships xmlns="http://schemas.openxmlformats.org/package/2006/relationships"><Relationship Id="rId9" Type="http://schemas.openxmlformats.org/officeDocument/2006/relationships/tags" Target="../tags/tag42.xml"/><Relationship Id="rId8" Type="http://schemas.openxmlformats.org/officeDocument/2006/relationships/tags" Target="../tags/tag41.xml"/><Relationship Id="rId7" Type="http://schemas.openxmlformats.org/officeDocument/2006/relationships/image" Target="../media/image13.png"/><Relationship Id="rId6" Type="http://schemas.openxmlformats.org/officeDocument/2006/relationships/tags" Target="../tags/tag40.xml"/><Relationship Id="rId5" Type="http://schemas.openxmlformats.org/officeDocument/2006/relationships/tags" Target="../tags/tag39.xml"/><Relationship Id="rId4" Type="http://schemas.openxmlformats.org/officeDocument/2006/relationships/tags" Target="../tags/tag38.xml"/><Relationship Id="rId3" Type="http://schemas.openxmlformats.org/officeDocument/2006/relationships/image" Target="../media/image12.png"/><Relationship Id="rId2" Type="http://schemas.openxmlformats.org/officeDocument/2006/relationships/tags" Target="../tags/tag37.xml"/><Relationship Id="rId15" Type="http://schemas.openxmlformats.org/officeDocument/2006/relationships/slideLayout" Target="../slideLayouts/slideLayout9.xml"/><Relationship Id="rId14" Type="http://schemas.openxmlformats.org/officeDocument/2006/relationships/image" Target="../media/image15.png"/><Relationship Id="rId13" Type="http://schemas.openxmlformats.org/officeDocument/2006/relationships/tags" Target="../tags/tag45.xml"/><Relationship Id="rId12" Type="http://schemas.openxmlformats.org/officeDocument/2006/relationships/image" Target="../media/image14.png"/><Relationship Id="rId11" Type="http://schemas.openxmlformats.org/officeDocument/2006/relationships/tags" Target="../tags/tag44.xml"/><Relationship Id="rId10" Type="http://schemas.openxmlformats.org/officeDocument/2006/relationships/tags" Target="../tags/tag43.xml"/><Relationship Id="rId1" Type="http://schemas.openxmlformats.org/officeDocument/2006/relationships/tags" Target="../tags/tag36.xml"/></Relationships>
</file>

<file path=ppt/slides/_rels/slide8.xml.rels><?xml version="1.0" encoding="UTF-8" standalone="yes"?>
<Relationships xmlns="http://schemas.openxmlformats.org/package/2006/relationships"><Relationship Id="rId99" Type="http://schemas.openxmlformats.org/officeDocument/2006/relationships/tags" Target="../tags/tag142.xml"/><Relationship Id="rId98" Type="http://schemas.openxmlformats.org/officeDocument/2006/relationships/tags" Target="../tags/tag141.xml"/><Relationship Id="rId97" Type="http://schemas.openxmlformats.org/officeDocument/2006/relationships/tags" Target="../tags/tag140.xml"/><Relationship Id="rId96" Type="http://schemas.openxmlformats.org/officeDocument/2006/relationships/tags" Target="../tags/tag139.xml"/><Relationship Id="rId95" Type="http://schemas.openxmlformats.org/officeDocument/2006/relationships/tags" Target="../tags/tag138.xml"/><Relationship Id="rId94" Type="http://schemas.openxmlformats.org/officeDocument/2006/relationships/tags" Target="../tags/tag137.xml"/><Relationship Id="rId93" Type="http://schemas.openxmlformats.org/officeDocument/2006/relationships/tags" Target="../tags/tag136.xml"/><Relationship Id="rId92" Type="http://schemas.openxmlformats.org/officeDocument/2006/relationships/tags" Target="../tags/tag135.xml"/><Relationship Id="rId91" Type="http://schemas.openxmlformats.org/officeDocument/2006/relationships/tags" Target="../tags/tag134.xml"/><Relationship Id="rId90" Type="http://schemas.openxmlformats.org/officeDocument/2006/relationships/tags" Target="../tags/tag133.xml"/><Relationship Id="rId9" Type="http://schemas.openxmlformats.org/officeDocument/2006/relationships/tags" Target="../tags/tag54.xml"/><Relationship Id="rId89" Type="http://schemas.openxmlformats.org/officeDocument/2006/relationships/tags" Target="../tags/tag132.xml"/><Relationship Id="rId88" Type="http://schemas.openxmlformats.org/officeDocument/2006/relationships/tags" Target="../tags/tag131.xml"/><Relationship Id="rId87" Type="http://schemas.openxmlformats.org/officeDocument/2006/relationships/tags" Target="../tags/tag130.xml"/><Relationship Id="rId86" Type="http://schemas.openxmlformats.org/officeDocument/2006/relationships/tags" Target="../tags/tag129.xml"/><Relationship Id="rId85" Type="http://schemas.openxmlformats.org/officeDocument/2006/relationships/tags" Target="../tags/tag128.xml"/><Relationship Id="rId84" Type="http://schemas.openxmlformats.org/officeDocument/2006/relationships/tags" Target="../tags/tag127.xml"/><Relationship Id="rId83" Type="http://schemas.openxmlformats.org/officeDocument/2006/relationships/tags" Target="../tags/tag126.xml"/><Relationship Id="rId82" Type="http://schemas.openxmlformats.org/officeDocument/2006/relationships/tags" Target="../tags/tag125.xml"/><Relationship Id="rId81" Type="http://schemas.openxmlformats.org/officeDocument/2006/relationships/tags" Target="../tags/tag124.xml"/><Relationship Id="rId80" Type="http://schemas.openxmlformats.org/officeDocument/2006/relationships/tags" Target="../tags/tag123.xml"/><Relationship Id="rId8" Type="http://schemas.openxmlformats.org/officeDocument/2006/relationships/tags" Target="../tags/tag53.xml"/><Relationship Id="rId79" Type="http://schemas.openxmlformats.org/officeDocument/2006/relationships/tags" Target="../tags/tag122.xml"/><Relationship Id="rId78" Type="http://schemas.openxmlformats.org/officeDocument/2006/relationships/tags" Target="../tags/tag121.xml"/><Relationship Id="rId77" Type="http://schemas.openxmlformats.org/officeDocument/2006/relationships/tags" Target="../tags/tag120.xml"/><Relationship Id="rId76" Type="http://schemas.openxmlformats.org/officeDocument/2006/relationships/tags" Target="../tags/tag119.xml"/><Relationship Id="rId75" Type="http://schemas.openxmlformats.org/officeDocument/2006/relationships/tags" Target="../tags/tag118.xml"/><Relationship Id="rId74" Type="http://schemas.openxmlformats.org/officeDocument/2006/relationships/tags" Target="../tags/tag117.xml"/><Relationship Id="rId73" Type="http://schemas.openxmlformats.org/officeDocument/2006/relationships/image" Target="../media/image17.svg"/><Relationship Id="rId72" Type="http://schemas.openxmlformats.org/officeDocument/2006/relationships/image" Target="../media/image16.png"/><Relationship Id="rId71" Type="http://schemas.openxmlformats.org/officeDocument/2006/relationships/tags" Target="../tags/tag116.xml"/><Relationship Id="rId70" Type="http://schemas.openxmlformats.org/officeDocument/2006/relationships/tags" Target="../tags/tag115.xml"/><Relationship Id="rId7" Type="http://schemas.openxmlformats.org/officeDocument/2006/relationships/tags" Target="../tags/tag52.xml"/><Relationship Id="rId69" Type="http://schemas.openxmlformats.org/officeDocument/2006/relationships/tags" Target="../tags/tag114.xml"/><Relationship Id="rId68" Type="http://schemas.openxmlformats.org/officeDocument/2006/relationships/tags" Target="../tags/tag113.xml"/><Relationship Id="rId67" Type="http://schemas.openxmlformats.org/officeDocument/2006/relationships/tags" Target="../tags/tag112.xml"/><Relationship Id="rId66" Type="http://schemas.openxmlformats.org/officeDocument/2006/relationships/tags" Target="../tags/tag111.xml"/><Relationship Id="rId65" Type="http://schemas.openxmlformats.org/officeDocument/2006/relationships/tags" Target="../tags/tag110.xml"/><Relationship Id="rId64" Type="http://schemas.openxmlformats.org/officeDocument/2006/relationships/tags" Target="../tags/tag109.xml"/><Relationship Id="rId63" Type="http://schemas.openxmlformats.org/officeDocument/2006/relationships/tags" Target="../tags/tag108.xml"/><Relationship Id="rId62" Type="http://schemas.openxmlformats.org/officeDocument/2006/relationships/tags" Target="../tags/tag107.xml"/><Relationship Id="rId61" Type="http://schemas.openxmlformats.org/officeDocument/2006/relationships/tags" Target="../tags/tag106.xml"/><Relationship Id="rId60" Type="http://schemas.openxmlformats.org/officeDocument/2006/relationships/tags" Target="../tags/tag105.xml"/><Relationship Id="rId6" Type="http://schemas.openxmlformats.org/officeDocument/2006/relationships/tags" Target="../tags/tag51.xml"/><Relationship Id="rId59" Type="http://schemas.openxmlformats.org/officeDocument/2006/relationships/tags" Target="../tags/tag104.xml"/><Relationship Id="rId58" Type="http://schemas.openxmlformats.org/officeDocument/2006/relationships/tags" Target="../tags/tag103.xml"/><Relationship Id="rId57" Type="http://schemas.openxmlformats.org/officeDocument/2006/relationships/tags" Target="../tags/tag102.xml"/><Relationship Id="rId56" Type="http://schemas.openxmlformats.org/officeDocument/2006/relationships/tags" Target="../tags/tag101.xml"/><Relationship Id="rId55" Type="http://schemas.openxmlformats.org/officeDocument/2006/relationships/tags" Target="../tags/tag100.xml"/><Relationship Id="rId54" Type="http://schemas.openxmlformats.org/officeDocument/2006/relationships/tags" Target="../tags/tag99.xml"/><Relationship Id="rId53" Type="http://schemas.openxmlformats.org/officeDocument/2006/relationships/tags" Target="../tags/tag98.xml"/><Relationship Id="rId52" Type="http://schemas.openxmlformats.org/officeDocument/2006/relationships/tags" Target="../tags/tag97.xml"/><Relationship Id="rId51" Type="http://schemas.openxmlformats.org/officeDocument/2006/relationships/tags" Target="../tags/tag96.xml"/><Relationship Id="rId50" Type="http://schemas.openxmlformats.org/officeDocument/2006/relationships/tags" Target="../tags/tag95.xml"/><Relationship Id="rId5" Type="http://schemas.openxmlformats.org/officeDocument/2006/relationships/tags" Target="../tags/tag50.xml"/><Relationship Id="rId49" Type="http://schemas.openxmlformats.org/officeDocument/2006/relationships/tags" Target="../tags/tag94.xml"/><Relationship Id="rId48" Type="http://schemas.openxmlformats.org/officeDocument/2006/relationships/tags" Target="../tags/tag93.xml"/><Relationship Id="rId47" Type="http://schemas.openxmlformats.org/officeDocument/2006/relationships/tags" Target="../tags/tag92.xml"/><Relationship Id="rId46" Type="http://schemas.openxmlformats.org/officeDocument/2006/relationships/tags" Target="../tags/tag91.xml"/><Relationship Id="rId45" Type="http://schemas.openxmlformats.org/officeDocument/2006/relationships/tags" Target="../tags/tag90.xml"/><Relationship Id="rId44" Type="http://schemas.openxmlformats.org/officeDocument/2006/relationships/tags" Target="../tags/tag89.xml"/><Relationship Id="rId43" Type="http://schemas.openxmlformats.org/officeDocument/2006/relationships/tags" Target="../tags/tag88.xml"/><Relationship Id="rId42" Type="http://schemas.openxmlformats.org/officeDocument/2006/relationships/tags" Target="../tags/tag87.xml"/><Relationship Id="rId41" Type="http://schemas.openxmlformats.org/officeDocument/2006/relationships/tags" Target="../tags/tag86.xml"/><Relationship Id="rId40" Type="http://schemas.openxmlformats.org/officeDocument/2006/relationships/tags" Target="../tags/tag85.xml"/><Relationship Id="rId4" Type="http://schemas.openxmlformats.org/officeDocument/2006/relationships/tags" Target="../tags/tag49.xml"/><Relationship Id="rId39" Type="http://schemas.openxmlformats.org/officeDocument/2006/relationships/tags" Target="../tags/tag84.xml"/><Relationship Id="rId38" Type="http://schemas.openxmlformats.org/officeDocument/2006/relationships/tags" Target="../tags/tag83.xml"/><Relationship Id="rId37" Type="http://schemas.openxmlformats.org/officeDocument/2006/relationships/tags" Target="../tags/tag82.xml"/><Relationship Id="rId36" Type="http://schemas.openxmlformats.org/officeDocument/2006/relationships/tags" Target="../tags/tag81.xml"/><Relationship Id="rId35" Type="http://schemas.openxmlformats.org/officeDocument/2006/relationships/tags" Target="../tags/tag80.xml"/><Relationship Id="rId34" Type="http://schemas.openxmlformats.org/officeDocument/2006/relationships/tags" Target="../tags/tag79.xml"/><Relationship Id="rId33" Type="http://schemas.openxmlformats.org/officeDocument/2006/relationships/tags" Target="../tags/tag78.xml"/><Relationship Id="rId32" Type="http://schemas.openxmlformats.org/officeDocument/2006/relationships/tags" Target="../tags/tag77.xml"/><Relationship Id="rId31" Type="http://schemas.openxmlformats.org/officeDocument/2006/relationships/tags" Target="../tags/tag76.xml"/><Relationship Id="rId30" Type="http://schemas.openxmlformats.org/officeDocument/2006/relationships/tags" Target="../tags/tag75.xml"/><Relationship Id="rId3" Type="http://schemas.openxmlformats.org/officeDocument/2006/relationships/tags" Target="../tags/tag48.xml"/><Relationship Id="rId29" Type="http://schemas.openxmlformats.org/officeDocument/2006/relationships/tags" Target="../tags/tag74.xml"/><Relationship Id="rId28" Type="http://schemas.openxmlformats.org/officeDocument/2006/relationships/tags" Target="../tags/tag73.xml"/><Relationship Id="rId27" Type="http://schemas.openxmlformats.org/officeDocument/2006/relationships/tags" Target="../tags/tag72.xml"/><Relationship Id="rId26" Type="http://schemas.openxmlformats.org/officeDocument/2006/relationships/tags" Target="../tags/tag71.xml"/><Relationship Id="rId25" Type="http://schemas.openxmlformats.org/officeDocument/2006/relationships/tags" Target="../tags/tag70.xml"/><Relationship Id="rId24" Type="http://schemas.openxmlformats.org/officeDocument/2006/relationships/tags" Target="../tags/tag69.xml"/><Relationship Id="rId23" Type="http://schemas.openxmlformats.org/officeDocument/2006/relationships/tags" Target="../tags/tag68.xml"/><Relationship Id="rId22" Type="http://schemas.openxmlformats.org/officeDocument/2006/relationships/tags" Target="../tags/tag67.xml"/><Relationship Id="rId21" Type="http://schemas.openxmlformats.org/officeDocument/2006/relationships/tags" Target="../tags/tag66.xml"/><Relationship Id="rId20" Type="http://schemas.openxmlformats.org/officeDocument/2006/relationships/tags" Target="../tags/tag65.xml"/><Relationship Id="rId2" Type="http://schemas.openxmlformats.org/officeDocument/2006/relationships/tags" Target="../tags/tag47.xml"/><Relationship Id="rId19" Type="http://schemas.openxmlformats.org/officeDocument/2006/relationships/tags" Target="../tags/tag64.xml"/><Relationship Id="rId18" Type="http://schemas.openxmlformats.org/officeDocument/2006/relationships/tags" Target="../tags/tag63.xml"/><Relationship Id="rId17" Type="http://schemas.openxmlformats.org/officeDocument/2006/relationships/tags" Target="../tags/tag62.xml"/><Relationship Id="rId16" Type="http://schemas.openxmlformats.org/officeDocument/2006/relationships/tags" Target="../tags/tag61.xml"/><Relationship Id="rId15" Type="http://schemas.openxmlformats.org/officeDocument/2006/relationships/tags" Target="../tags/tag60.xml"/><Relationship Id="rId148" Type="http://schemas.openxmlformats.org/officeDocument/2006/relationships/slideLayout" Target="../slideLayouts/slideLayout9.xml"/><Relationship Id="rId147" Type="http://schemas.openxmlformats.org/officeDocument/2006/relationships/tags" Target="../tags/tag190.xml"/><Relationship Id="rId146" Type="http://schemas.openxmlformats.org/officeDocument/2006/relationships/tags" Target="../tags/tag189.xml"/><Relationship Id="rId145" Type="http://schemas.openxmlformats.org/officeDocument/2006/relationships/tags" Target="../tags/tag188.xml"/><Relationship Id="rId144" Type="http://schemas.openxmlformats.org/officeDocument/2006/relationships/tags" Target="../tags/tag187.xml"/><Relationship Id="rId143" Type="http://schemas.openxmlformats.org/officeDocument/2006/relationships/tags" Target="../tags/tag186.xml"/><Relationship Id="rId142" Type="http://schemas.openxmlformats.org/officeDocument/2006/relationships/tags" Target="../tags/tag185.xml"/><Relationship Id="rId141" Type="http://schemas.openxmlformats.org/officeDocument/2006/relationships/tags" Target="../tags/tag184.xml"/><Relationship Id="rId140" Type="http://schemas.openxmlformats.org/officeDocument/2006/relationships/tags" Target="../tags/tag183.xml"/><Relationship Id="rId14" Type="http://schemas.openxmlformats.org/officeDocument/2006/relationships/tags" Target="../tags/tag59.xml"/><Relationship Id="rId139" Type="http://schemas.openxmlformats.org/officeDocument/2006/relationships/tags" Target="../tags/tag182.xml"/><Relationship Id="rId138" Type="http://schemas.openxmlformats.org/officeDocument/2006/relationships/tags" Target="../tags/tag181.xml"/><Relationship Id="rId137" Type="http://schemas.openxmlformats.org/officeDocument/2006/relationships/tags" Target="../tags/tag180.xml"/><Relationship Id="rId136" Type="http://schemas.openxmlformats.org/officeDocument/2006/relationships/tags" Target="../tags/tag179.xml"/><Relationship Id="rId135" Type="http://schemas.openxmlformats.org/officeDocument/2006/relationships/tags" Target="../tags/tag178.xml"/><Relationship Id="rId134" Type="http://schemas.openxmlformats.org/officeDocument/2006/relationships/tags" Target="../tags/tag177.xml"/><Relationship Id="rId133" Type="http://schemas.openxmlformats.org/officeDocument/2006/relationships/tags" Target="../tags/tag176.xml"/><Relationship Id="rId132" Type="http://schemas.openxmlformats.org/officeDocument/2006/relationships/tags" Target="../tags/tag175.xml"/><Relationship Id="rId131" Type="http://schemas.openxmlformats.org/officeDocument/2006/relationships/tags" Target="../tags/tag174.xml"/><Relationship Id="rId130" Type="http://schemas.openxmlformats.org/officeDocument/2006/relationships/tags" Target="../tags/tag173.xml"/><Relationship Id="rId13" Type="http://schemas.openxmlformats.org/officeDocument/2006/relationships/tags" Target="../tags/tag58.xml"/><Relationship Id="rId129" Type="http://schemas.openxmlformats.org/officeDocument/2006/relationships/tags" Target="../tags/tag172.xml"/><Relationship Id="rId128" Type="http://schemas.openxmlformats.org/officeDocument/2006/relationships/tags" Target="../tags/tag171.xml"/><Relationship Id="rId127" Type="http://schemas.openxmlformats.org/officeDocument/2006/relationships/tags" Target="../tags/tag170.xml"/><Relationship Id="rId126" Type="http://schemas.openxmlformats.org/officeDocument/2006/relationships/tags" Target="../tags/tag169.xml"/><Relationship Id="rId125" Type="http://schemas.openxmlformats.org/officeDocument/2006/relationships/tags" Target="../tags/tag168.xml"/><Relationship Id="rId124" Type="http://schemas.openxmlformats.org/officeDocument/2006/relationships/tags" Target="../tags/tag167.xml"/><Relationship Id="rId123" Type="http://schemas.openxmlformats.org/officeDocument/2006/relationships/tags" Target="../tags/tag166.xml"/><Relationship Id="rId122" Type="http://schemas.openxmlformats.org/officeDocument/2006/relationships/tags" Target="../tags/tag165.xml"/><Relationship Id="rId121" Type="http://schemas.openxmlformats.org/officeDocument/2006/relationships/tags" Target="../tags/tag164.xml"/><Relationship Id="rId120" Type="http://schemas.openxmlformats.org/officeDocument/2006/relationships/tags" Target="../tags/tag163.xml"/><Relationship Id="rId12" Type="http://schemas.openxmlformats.org/officeDocument/2006/relationships/tags" Target="../tags/tag57.xml"/><Relationship Id="rId119" Type="http://schemas.openxmlformats.org/officeDocument/2006/relationships/tags" Target="../tags/tag162.xml"/><Relationship Id="rId118" Type="http://schemas.openxmlformats.org/officeDocument/2006/relationships/tags" Target="../tags/tag161.xml"/><Relationship Id="rId117" Type="http://schemas.openxmlformats.org/officeDocument/2006/relationships/tags" Target="../tags/tag160.xml"/><Relationship Id="rId116" Type="http://schemas.openxmlformats.org/officeDocument/2006/relationships/tags" Target="../tags/tag159.xml"/><Relationship Id="rId115" Type="http://schemas.openxmlformats.org/officeDocument/2006/relationships/tags" Target="../tags/tag158.xml"/><Relationship Id="rId114" Type="http://schemas.openxmlformats.org/officeDocument/2006/relationships/tags" Target="../tags/tag157.xml"/><Relationship Id="rId113" Type="http://schemas.openxmlformats.org/officeDocument/2006/relationships/tags" Target="../tags/tag156.xml"/><Relationship Id="rId112" Type="http://schemas.openxmlformats.org/officeDocument/2006/relationships/tags" Target="../tags/tag155.xml"/><Relationship Id="rId111" Type="http://schemas.openxmlformats.org/officeDocument/2006/relationships/tags" Target="../tags/tag154.xml"/><Relationship Id="rId110" Type="http://schemas.openxmlformats.org/officeDocument/2006/relationships/tags" Target="../tags/tag153.xml"/><Relationship Id="rId11" Type="http://schemas.openxmlformats.org/officeDocument/2006/relationships/tags" Target="../tags/tag56.xml"/><Relationship Id="rId109" Type="http://schemas.openxmlformats.org/officeDocument/2006/relationships/tags" Target="../tags/tag152.xml"/><Relationship Id="rId108" Type="http://schemas.openxmlformats.org/officeDocument/2006/relationships/tags" Target="../tags/tag151.xml"/><Relationship Id="rId107" Type="http://schemas.openxmlformats.org/officeDocument/2006/relationships/tags" Target="../tags/tag150.xml"/><Relationship Id="rId106" Type="http://schemas.openxmlformats.org/officeDocument/2006/relationships/tags" Target="../tags/tag149.xml"/><Relationship Id="rId105" Type="http://schemas.openxmlformats.org/officeDocument/2006/relationships/tags" Target="../tags/tag148.xml"/><Relationship Id="rId104" Type="http://schemas.openxmlformats.org/officeDocument/2006/relationships/tags" Target="../tags/tag147.xml"/><Relationship Id="rId103" Type="http://schemas.openxmlformats.org/officeDocument/2006/relationships/tags" Target="../tags/tag146.xml"/><Relationship Id="rId102" Type="http://schemas.openxmlformats.org/officeDocument/2006/relationships/tags" Target="../tags/tag145.xml"/><Relationship Id="rId101" Type="http://schemas.openxmlformats.org/officeDocument/2006/relationships/tags" Target="../tags/tag144.xml"/><Relationship Id="rId100" Type="http://schemas.openxmlformats.org/officeDocument/2006/relationships/tags" Target="../tags/tag143.xml"/><Relationship Id="rId10" Type="http://schemas.openxmlformats.org/officeDocument/2006/relationships/tags" Target="../tags/tag55.xml"/><Relationship Id="rId1" Type="http://schemas.openxmlformats.org/officeDocument/2006/relationships/tags" Target="../tags/tag46.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image" Target="../media/image18.jpeg"/></Relationships>
</file>

<file path=ppt/slides/_rels/slide10.xml.rels><?xml version="1.0" encoding="UTF-8" standalone="yes"?>
<Relationships xmlns="http://schemas.openxmlformats.org/package/2006/relationships"><Relationship Id="rId9" Type="http://schemas.openxmlformats.org/officeDocument/2006/relationships/image" Target="../media/image27.png"/><Relationship Id="rId8" Type="http://schemas.openxmlformats.org/officeDocument/2006/relationships/image" Target="../media/image26.svg"/><Relationship Id="rId7" Type="http://schemas.openxmlformats.org/officeDocument/2006/relationships/image" Target="../media/image25.png"/><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22.svg"/><Relationship Id="rId3" Type="http://schemas.openxmlformats.org/officeDocument/2006/relationships/image" Target="../media/image21.png"/><Relationship Id="rId20" Type="http://schemas.openxmlformats.org/officeDocument/2006/relationships/notesSlide" Target="../notesSlides/notesSlide4.xml"/><Relationship Id="rId2" Type="http://schemas.openxmlformats.org/officeDocument/2006/relationships/image" Target="../media/image20.svg"/><Relationship Id="rId19" Type="http://schemas.openxmlformats.org/officeDocument/2006/relationships/slideLayout" Target="../slideLayouts/slideLayout12.xml"/><Relationship Id="rId18" Type="http://schemas.openxmlformats.org/officeDocument/2006/relationships/image" Target="../media/image36.png"/><Relationship Id="rId17" Type="http://schemas.openxmlformats.org/officeDocument/2006/relationships/image" Target="../media/image35.svg"/><Relationship Id="rId16" Type="http://schemas.openxmlformats.org/officeDocument/2006/relationships/image" Target="../media/image34.svg"/><Relationship Id="rId15" Type="http://schemas.openxmlformats.org/officeDocument/2006/relationships/image" Target="../media/image33.png"/><Relationship Id="rId14" Type="http://schemas.openxmlformats.org/officeDocument/2006/relationships/image" Target="../media/image32.svg"/><Relationship Id="rId13" Type="http://schemas.openxmlformats.org/officeDocument/2006/relationships/image" Target="../media/image31.png"/><Relationship Id="rId12" Type="http://schemas.openxmlformats.org/officeDocument/2006/relationships/image" Target="../media/image30.svg"/><Relationship Id="rId11" Type="http://schemas.openxmlformats.org/officeDocument/2006/relationships/image" Target="../media/image29.png"/><Relationship Id="rId10" Type="http://schemas.openxmlformats.org/officeDocument/2006/relationships/image" Target="../media/image28.svg"/><Relationship Id="rId1" Type="http://schemas.openxmlformats.org/officeDocument/2006/relationships/image" Target="../media/image19.png"/></Relationships>
</file>

<file path=ppt/slides/_rels/slide11.xml.rels><?xml version="1.0" encoding="UTF-8" standalone="yes"?>
<Relationships xmlns="http://schemas.openxmlformats.org/package/2006/relationships"><Relationship Id="rId9" Type="http://schemas.openxmlformats.org/officeDocument/2006/relationships/image" Target="../media/image27.png"/><Relationship Id="rId8" Type="http://schemas.openxmlformats.org/officeDocument/2006/relationships/image" Target="../media/image41.svg"/><Relationship Id="rId7" Type="http://schemas.openxmlformats.org/officeDocument/2006/relationships/image" Target="../media/image25.png"/><Relationship Id="rId6" Type="http://schemas.openxmlformats.org/officeDocument/2006/relationships/image" Target="../media/image40.svg"/><Relationship Id="rId5" Type="http://schemas.openxmlformats.org/officeDocument/2006/relationships/image" Target="../media/image23.png"/><Relationship Id="rId4" Type="http://schemas.openxmlformats.org/officeDocument/2006/relationships/image" Target="../media/image39.svg"/><Relationship Id="rId3" Type="http://schemas.openxmlformats.org/officeDocument/2006/relationships/image" Target="../media/image21.png"/><Relationship Id="rId2" Type="http://schemas.openxmlformats.org/officeDocument/2006/relationships/image" Target="../media/image38.svg"/><Relationship Id="rId19" Type="http://schemas.openxmlformats.org/officeDocument/2006/relationships/notesSlide" Target="../notesSlides/notesSlide5.xml"/><Relationship Id="rId18" Type="http://schemas.openxmlformats.org/officeDocument/2006/relationships/slideLayout" Target="../slideLayouts/slideLayout12.xml"/><Relationship Id="rId17" Type="http://schemas.openxmlformats.org/officeDocument/2006/relationships/image" Target="../media/image36.png"/><Relationship Id="rId16" Type="http://schemas.openxmlformats.org/officeDocument/2006/relationships/image" Target="../media/image45.svg"/><Relationship Id="rId15" Type="http://schemas.openxmlformats.org/officeDocument/2006/relationships/image" Target="../media/image33.png"/><Relationship Id="rId14" Type="http://schemas.openxmlformats.org/officeDocument/2006/relationships/image" Target="../media/image44.svg"/><Relationship Id="rId13" Type="http://schemas.openxmlformats.org/officeDocument/2006/relationships/image" Target="../media/image31.png"/><Relationship Id="rId12" Type="http://schemas.openxmlformats.org/officeDocument/2006/relationships/image" Target="../media/image43.svg"/><Relationship Id="rId11" Type="http://schemas.openxmlformats.org/officeDocument/2006/relationships/image" Target="../media/image29.png"/><Relationship Id="rId10" Type="http://schemas.openxmlformats.org/officeDocument/2006/relationships/image" Target="../media/image42.svg"/><Relationship Id="rId1" Type="http://schemas.openxmlformats.org/officeDocument/2006/relationships/image" Target="../media/image37.png"/></Relationships>
</file>

<file path=ppt/slides/_rels/slide12.xml.rels><?xml version="1.0" encoding="UTF-8" standalone="yes"?>
<Relationships xmlns="http://schemas.openxmlformats.org/package/2006/relationships"><Relationship Id="rId9" Type="http://schemas.openxmlformats.org/officeDocument/2006/relationships/image" Target="../media/image29.png"/><Relationship Id="rId8" Type="http://schemas.openxmlformats.org/officeDocument/2006/relationships/image" Target="../media/image28.svg"/><Relationship Id="rId7" Type="http://schemas.openxmlformats.org/officeDocument/2006/relationships/image" Target="../media/image27.png"/><Relationship Id="rId6" Type="http://schemas.openxmlformats.org/officeDocument/2006/relationships/image" Target="../media/image26.svg"/><Relationship Id="rId5" Type="http://schemas.openxmlformats.org/officeDocument/2006/relationships/image" Target="../media/image25.png"/><Relationship Id="rId4" Type="http://schemas.openxmlformats.org/officeDocument/2006/relationships/image" Target="../media/image24.svg"/><Relationship Id="rId3" Type="http://schemas.openxmlformats.org/officeDocument/2006/relationships/image" Target="../media/image23.png"/><Relationship Id="rId20" Type="http://schemas.openxmlformats.org/officeDocument/2006/relationships/notesSlide" Target="../notesSlides/notesSlide6.xml"/><Relationship Id="rId2" Type="http://schemas.openxmlformats.org/officeDocument/2006/relationships/image" Target="../media/image46.svg"/><Relationship Id="rId19" Type="http://schemas.openxmlformats.org/officeDocument/2006/relationships/slideLayout" Target="../slideLayouts/slideLayout12.xml"/><Relationship Id="rId18" Type="http://schemas.openxmlformats.org/officeDocument/2006/relationships/image" Target="../media/image36.png"/><Relationship Id="rId17" Type="http://schemas.openxmlformats.org/officeDocument/2006/relationships/image" Target="../media/image49.svg"/><Relationship Id="rId16" Type="http://schemas.openxmlformats.org/officeDocument/2006/relationships/image" Target="../media/image48.svg"/><Relationship Id="rId15" Type="http://schemas.openxmlformats.org/officeDocument/2006/relationships/image" Target="../media/image47.png"/><Relationship Id="rId14" Type="http://schemas.openxmlformats.org/officeDocument/2006/relationships/image" Target="../media/image34.svg"/><Relationship Id="rId13" Type="http://schemas.openxmlformats.org/officeDocument/2006/relationships/image" Target="../media/image33.png"/><Relationship Id="rId12" Type="http://schemas.openxmlformats.org/officeDocument/2006/relationships/image" Target="../media/image32.svg"/><Relationship Id="rId11" Type="http://schemas.openxmlformats.org/officeDocument/2006/relationships/image" Target="../media/image31.png"/><Relationship Id="rId10" Type="http://schemas.openxmlformats.org/officeDocument/2006/relationships/image" Target="../media/image30.svg"/><Relationship Id="rId1" Type="http://schemas.openxmlformats.org/officeDocument/2006/relationships/image" Target="../media/image21.png"/></Relationships>
</file>

<file path=ppt/slides/_rels/slide13.xml.rels><?xml version="1.0" encoding="UTF-8" standalone="yes"?>
<Relationships xmlns="http://schemas.openxmlformats.org/package/2006/relationships"><Relationship Id="rId5" Type="http://schemas.openxmlformats.org/officeDocument/2006/relationships/notesSlide" Target="../notesSlides/notesSlide7.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50.svg"/><Relationship Id="rId1" Type="http://schemas.openxmlformats.org/officeDocument/2006/relationships/image" Target="../media/image21.png"/></Relationships>
</file>

<file path=ppt/slides/_rels/slide14.xml.rels><?xml version="1.0" encoding="UTF-8" standalone="yes"?>
<Relationships xmlns="http://schemas.openxmlformats.org/package/2006/relationships"><Relationship Id="rId9" Type="http://schemas.openxmlformats.org/officeDocument/2006/relationships/image" Target="../media/image36.png"/><Relationship Id="rId8" Type="http://schemas.openxmlformats.org/officeDocument/2006/relationships/image" Target="../media/image57.svg"/><Relationship Id="rId7" Type="http://schemas.openxmlformats.org/officeDocument/2006/relationships/image" Target="../media/image21.png"/><Relationship Id="rId6" Type="http://schemas.openxmlformats.org/officeDocument/2006/relationships/image" Target="../media/image56.svg"/><Relationship Id="rId5" Type="http://schemas.openxmlformats.org/officeDocument/2006/relationships/image" Target="../media/image55.png"/><Relationship Id="rId4" Type="http://schemas.openxmlformats.org/officeDocument/2006/relationships/image" Target="../media/image54.svg"/><Relationship Id="rId3" Type="http://schemas.openxmlformats.org/officeDocument/2006/relationships/image" Target="../media/image53.png"/><Relationship Id="rId2" Type="http://schemas.openxmlformats.org/officeDocument/2006/relationships/image" Target="../media/image52.svg"/><Relationship Id="rId11" Type="http://schemas.openxmlformats.org/officeDocument/2006/relationships/notesSlide" Target="../notesSlides/notesSlide8.xml"/><Relationship Id="rId10" Type="http://schemas.openxmlformats.org/officeDocument/2006/relationships/slideLayout" Target="../slideLayouts/slideLayout12.xml"/><Relationship Id="rId1" Type="http://schemas.openxmlformats.org/officeDocument/2006/relationships/image" Target="../media/image51.png"/></Relationships>
</file>

<file path=ppt/slides/_rels/slide15.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62.svg"/><Relationship Id="rId5" Type="http://schemas.openxmlformats.org/officeDocument/2006/relationships/image" Target="../media/image61.png"/><Relationship Id="rId4" Type="http://schemas.openxmlformats.org/officeDocument/2006/relationships/image" Target="../media/image60.svg"/><Relationship Id="rId3" Type="http://schemas.openxmlformats.org/officeDocument/2006/relationships/image" Target="../media/image59.png"/><Relationship Id="rId2" Type="http://schemas.openxmlformats.org/officeDocument/2006/relationships/image" Target="../media/image58.svg"/><Relationship Id="rId1" Type="http://schemas.openxmlformats.org/officeDocument/2006/relationships/image" Target="../media/image21.png"/></Relationships>
</file>

<file path=ppt/slides/_rels/slide16.xml.rels><?xml version="1.0" encoding="UTF-8" standalone="yes"?>
<Relationships xmlns="http://schemas.openxmlformats.org/package/2006/relationships"><Relationship Id="rId9" Type="http://schemas.openxmlformats.org/officeDocument/2006/relationships/image" Target="../media/image65.svg"/><Relationship Id="rId8" Type="http://schemas.openxmlformats.org/officeDocument/2006/relationships/image" Target="../media/image64.png"/><Relationship Id="rId7" Type="http://schemas.openxmlformats.org/officeDocument/2006/relationships/image" Target="../media/image63.svg"/><Relationship Id="rId6" Type="http://schemas.openxmlformats.org/officeDocument/2006/relationships/image" Target="../media/image51.png"/><Relationship Id="rId5" Type="http://schemas.openxmlformats.org/officeDocument/2006/relationships/tags" Target="../tags/tag195.xml"/><Relationship Id="rId4" Type="http://schemas.openxmlformats.org/officeDocument/2006/relationships/tags" Target="../tags/tag194.xml"/><Relationship Id="rId3" Type="http://schemas.openxmlformats.org/officeDocument/2006/relationships/tags" Target="../tags/tag193.xml"/><Relationship Id="rId26" Type="http://schemas.openxmlformats.org/officeDocument/2006/relationships/notesSlide" Target="../notesSlides/notesSlide9.xml"/><Relationship Id="rId25" Type="http://schemas.openxmlformats.org/officeDocument/2006/relationships/slideLayout" Target="../slideLayouts/slideLayout12.xml"/><Relationship Id="rId24" Type="http://schemas.openxmlformats.org/officeDocument/2006/relationships/image" Target="../media/image36.png"/><Relationship Id="rId23" Type="http://schemas.openxmlformats.org/officeDocument/2006/relationships/image" Target="../media/image77.svg"/><Relationship Id="rId22" Type="http://schemas.openxmlformats.org/officeDocument/2006/relationships/image" Target="../media/image76.png"/><Relationship Id="rId21" Type="http://schemas.openxmlformats.org/officeDocument/2006/relationships/image" Target="../media/image75.svg"/><Relationship Id="rId20" Type="http://schemas.openxmlformats.org/officeDocument/2006/relationships/image" Target="../media/image74.png"/><Relationship Id="rId2" Type="http://schemas.openxmlformats.org/officeDocument/2006/relationships/tags" Target="../tags/tag192.xml"/><Relationship Id="rId19" Type="http://schemas.openxmlformats.org/officeDocument/2006/relationships/image" Target="../media/image73.svg"/><Relationship Id="rId18" Type="http://schemas.openxmlformats.org/officeDocument/2006/relationships/image" Target="../media/image72.png"/><Relationship Id="rId17" Type="http://schemas.openxmlformats.org/officeDocument/2006/relationships/image" Target="../media/image71.svg"/><Relationship Id="rId16" Type="http://schemas.openxmlformats.org/officeDocument/2006/relationships/image" Target="../media/image70.png"/><Relationship Id="rId15" Type="http://schemas.openxmlformats.org/officeDocument/2006/relationships/image" Target="../media/image69.svg"/><Relationship Id="rId14" Type="http://schemas.openxmlformats.org/officeDocument/2006/relationships/image" Target="../media/image68.png"/><Relationship Id="rId13" Type="http://schemas.openxmlformats.org/officeDocument/2006/relationships/image" Target="../media/image67.svg"/><Relationship Id="rId12" Type="http://schemas.openxmlformats.org/officeDocument/2006/relationships/image" Target="../media/image66.png"/><Relationship Id="rId11" Type="http://schemas.openxmlformats.org/officeDocument/2006/relationships/image" Target="../media/image58.svg"/><Relationship Id="rId10" Type="http://schemas.openxmlformats.org/officeDocument/2006/relationships/image" Target="../media/image21.png"/><Relationship Id="rId1" Type="http://schemas.openxmlformats.org/officeDocument/2006/relationships/tags" Target="../tags/tag191.xml"/></Relationships>
</file>

<file path=ppt/slides/_rels/slide17.xml.rels><?xml version="1.0" encoding="UTF-8" standalone="yes"?>
<Relationships xmlns="http://schemas.openxmlformats.org/package/2006/relationships"><Relationship Id="rId9" Type="http://schemas.openxmlformats.org/officeDocument/2006/relationships/image" Target="../media/image36.png"/><Relationship Id="rId8" Type="http://schemas.openxmlformats.org/officeDocument/2006/relationships/tags" Target="../tags/tag201.xml"/><Relationship Id="rId7" Type="http://schemas.openxmlformats.org/officeDocument/2006/relationships/tags" Target="../tags/tag200.xml"/><Relationship Id="rId6" Type="http://schemas.openxmlformats.org/officeDocument/2006/relationships/tags" Target="../tags/tag199.xml"/><Relationship Id="rId5" Type="http://schemas.openxmlformats.org/officeDocument/2006/relationships/tags" Target="../tags/tag198.xml"/><Relationship Id="rId4" Type="http://schemas.openxmlformats.org/officeDocument/2006/relationships/tags" Target="../tags/tag197.xml"/><Relationship Id="rId3" Type="http://schemas.openxmlformats.org/officeDocument/2006/relationships/tags" Target="../tags/tag196.xml"/><Relationship Id="rId2" Type="http://schemas.openxmlformats.org/officeDocument/2006/relationships/image" Target="../media/image78.svg"/><Relationship Id="rId11" Type="http://schemas.openxmlformats.org/officeDocument/2006/relationships/notesSlide" Target="../notesSlides/notesSlide10.xml"/><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18.xml.rels><?xml version="1.0" encoding="UTF-8" standalone="yes"?>
<Relationships xmlns="http://schemas.openxmlformats.org/package/2006/relationships"><Relationship Id="rId9" Type="http://schemas.openxmlformats.org/officeDocument/2006/relationships/tags" Target="../tags/tag208.xml"/><Relationship Id="rId8" Type="http://schemas.openxmlformats.org/officeDocument/2006/relationships/tags" Target="../tags/tag207.xml"/><Relationship Id="rId7" Type="http://schemas.openxmlformats.org/officeDocument/2006/relationships/tags" Target="../tags/tag206.xml"/><Relationship Id="rId6" Type="http://schemas.openxmlformats.org/officeDocument/2006/relationships/tags" Target="../tags/tag205.xml"/><Relationship Id="rId57" Type="http://schemas.openxmlformats.org/officeDocument/2006/relationships/slideLayout" Target="../slideLayouts/slideLayout12.xml"/><Relationship Id="rId56" Type="http://schemas.openxmlformats.org/officeDocument/2006/relationships/image" Target="../media/image36.png"/><Relationship Id="rId55" Type="http://schemas.openxmlformats.org/officeDocument/2006/relationships/tags" Target="../tags/tag240.xml"/><Relationship Id="rId54" Type="http://schemas.openxmlformats.org/officeDocument/2006/relationships/tags" Target="../tags/tag239.xml"/><Relationship Id="rId53" Type="http://schemas.openxmlformats.org/officeDocument/2006/relationships/image" Target="../media/image94.svg"/><Relationship Id="rId52" Type="http://schemas.openxmlformats.org/officeDocument/2006/relationships/image" Target="../media/image93.png"/><Relationship Id="rId51" Type="http://schemas.openxmlformats.org/officeDocument/2006/relationships/image" Target="../media/image92.svg"/><Relationship Id="rId50" Type="http://schemas.openxmlformats.org/officeDocument/2006/relationships/image" Target="../media/image91.png"/><Relationship Id="rId5" Type="http://schemas.openxmlformats.org/officeDocument/2006/relationships/tags" Target="../tags/tag204.xml"/><Relationship Id="rId49" Type="http://schemas.openxmlformats.org/officeDocument/2006/relationships/image" Target="../media/image90.svg"/><Relationship Id="rId48" Type="http://schemas.openxmlformats.org/officeDocument/2006/relationships/image" Target="../media/image89.png"/><Relationship Id="rId47" Type="http://schemas.openxmlformats.org/officeDocument/2006/relationships/image" Target="../media/image88.svg"/><Relationship Id="rId46" Type="http://schemas.openxmlformats.org/officeDocument/2006/relationships/image" Target="../media/image87.png"/><Relationship Id="rId45" Type="http://schemas.openxmlformats.org/officeDocument/2006/relationships/tags" Target="../tags/tag238.xml"/><Relationship Id="rId44" Type="http://schemas.openxmlformats.org/officeDocument/2006/relationships/tags" Target="../tags/tag237.xml"/><Relationship Id="rId43" Type="http://schemas.openxmlformats.org/officeDocument/2006/relationships/tags" Target="../tags/tag236.xml"/><Relationship Id="rId42" Type="http://schemas.openxmlformats.org/officeDocument/2006/relationships/tags" Target="../tags/tag235.xml"/><Relationship Id="rId41" Type="http://schemas.openxmlformats.org/officeDocument/2006/relationships/tags" Target="../tags/tag234.xml"/><Relationship Id="rId40" Type="http://schemas.openxmlformats.org/officeDocument/2006/relationships/tags" Target="../tags/tag233.xml"/><Relationship Id="rId4" Type="http://schemas.openxmlformats.org/officeDocument/2006/relationships/tags" Target="../tags/tag203.xml"/><Relationship Id="rId39" Type="http://schemas.openxmlformats.org/officeDocument/2006/relationships/tags" Target="../tags/tag232.xml"/><Relationship Id="rId38" Type="http://schemas.openxmlformats.org/officeDocument/2006/relationships/tags" Target="../tags/tag231.xml"/><Relationship Id="rId37" Type="http://schemas.openxmlformats.org/officeDocument/2006/relationships/tags" Target="../tags/tag230.xml"/><Relationship Id="rId36" Type="http://schemas.openxmlformats.org/officeDocument/2006/relationships/tags" Target="../tags/tag229.xml"/><Relationship Id="rId35" Type="http://schemas.openxmlformats.org/officeDocument/2006/relationships/tags" Target="../tags/tag228.xml"/><Relationship Id="rId34" Type="http://schemas.openxmlformats.org/officeDocument/2006/relationships/tags" Target="../tags/tag227.xml"/><Relationship Id="rId33" Type="http://schemas.openxmlformats.org/officeDocument/2006/relationships/image" Target="../media/image86.svg"/><Relationship Id="rId32" Type="http://schemas.openxmlformats.org/officeDocument/2006/relationships/image" Target="../media/image85.png"/><Relationship Id="rId31" Type="http://schemas.openxmlformats.org/officeDocument/2006/relationships/image" Target="../media/image84.svg"/><Relationship Id="rId30" Type="http://schemas.openxmlformats.org/officeDocument/2006/relationships/image" Target="../media/image83.png"/><Relationship Id="rId3" Type="http://schemas.openxmlformats.org/officeDocument/2006/relationships/tags" Target="../tags/tag202.xml"/><Relationship Id="rId29" Type="http://schemas.openxmlformats.org/officeDocument/2006/relationships/image" Target="../media/image82.svg"/><Relationship Id="rId28" Type="http://schemas.openxmlformats.org/officeDocument/2006/relationships/image" Target="../media/image81.png"/><Relationship Id="rId27" Type="http://schemas.openxmlformats.org/officeDocument/2006/relationships/tags" Target="../tags/tag226.xml"/><Relationship Id="rId26" Type="http://schemas.openxmlformats.org/officeDocument/2006/relationships/tags" Target="../tags/tag225.xml"/><Relationship Id="rId25" Type="http://schemas.openxmlformats.org/officeDocument/2006/relationships/tags" Target="../tags/tag224.xml"/><Relationship Id="rId24" Type="http://schemas.openxmlformats.org/officeDocument/2006/relationships/tags" Target="../tags/tag223.xml"/><Relationship Id="rId23" Type="http://schemas.openxmlformats.org/officeDocument/2006/relationships/tags" Target="../tags/tag222.xml"/><Relationship Id="rId22" Type="http://schemas.openxmlformats.org/officeDocument/2006/relationships/tags" Target="../tags/tag221.xml"/><Relationship Id="rId21" Type="http://schemas.openxmlformats.org/officeDocument/2006/relationships/tags" Target="../tags/tag220.xml"/><Relationship Id="rId20" Type="http://schemas.openxmlformats.org/officeDocument/2006/relationships/tags" Target="../tags/tag219.xml"/><Relationship Id="rId2" Type="http://schemas.openxmlformats.org/officeDocument/2006/relationships/image" Target="../media/image80.svg"/><Relationship Id="rId19" Type="http://schemas.openxmlformats.org/officeDocument/2006/relationships/tags" Target="../tags/tag218.xml"/><Relationship Id="rId18" Type="http://schemas.openxmlformats.org/officeDocument/2006/relationships/tags" Target="../tags/tag217.xml"/><Relationship Id="rId17" Type="http://schemas.openxmlformats.org/officeDocument/2006/relationships/tags" Target="../tags/tag216.xml"/><Relationship Id="rId16" Type="http://schemas.openxmlformats.org/officeDocument/2006/relationships/tags" Target="../tags/tag215.xml"/><Relationship Id="rId15" Type="http://schemas.openxmlformats.org/officeDocument/2006/relationships/tags" Target="../tags/tag214.xml"/><Relationship Id="rId14" Type="http://schemas.openxmlformats.org/officeDocument/2006/relationships/tags" Target="../tags/tag213.xml"/><Relationship Id="rId13" Type="http://schemas.openxmlformats.org/officeDocument/2006/relationships/tags" Target="../tags/tag212.xml"/><Relationship Id="rId12" Type="http://schemas.openxmlformats.org/officeDocument/2006/relationships/tags" Target="../tags/tag211.xml"/><Relationship Id="rId11" Type="http://schemas.openxmlformats.org/officeDocument/2006/relationships/tags" Target="../tags/tag210.xml"/><Relationship Id="rId10" Type="http://schemas.openxmlformats.org/officeDocument/2006/relationships/tags" Target="../tags/tag209.xml"/><Relationship Id="rId1" Type="http://schemas.openxmlformats.org/officeDocument/2006/relationships/image" Target="../media/image79.png"/></Relationships>
</file>

<file path=ppt/slides/_rels/slide19.xml.rels><?xml version="1.0" encoding="UTF-8" standalone="yes"?>
<Relationships xmlns="http://schemas.openxmlformats.org/package/2006/relationships"><Relationship Id="rId9" Type="http://schemas.openxmlformats.org/officeDocument/2006/relationships/image" Target="../media/image101.svg"/><Relationship Id="rId8" Type="http://schemas.openxmlformats.org/officeDocument/2006/relationships/image" Target="../media/image100.png"/><Relationship Id="rId7" Type="http://schemas.openxmlformats.org/officeDocument/2006/relationships/image" Target="../media/image99.svg"/><Relationship Id="rId6" Type="http://schemas.openxmlformats.org/officeDocument/2006/relationships/image" Target="../media/image98.png"/><Relationship Id="rId5" Type="http://schemas.openxmlformats.org/officeDocument/2006/relationships/image" Target="../media/image97.svg"/><Relationship Id="rId4" Type="http://schemas.openxmlformats.org/officeDocument/2006/relationships/image" Target="../media/image96.png"/><Relationship Id="rId3" Type="http://schemas.openxmlformats.org/officeDocument/2006/relationships/image" Target="../media/image95.svg"/><Relationship Id="rId2" Type="http://schemas.openxmlformats.org/officeDocument/2006/relationships/image" Target="../media/image21.png"/><Relationship Id="rId14" Type="http://schemas.openxmlformats.org/officeDocument/2006/relationships/notesSlide" Target="../notesSlides/notesSlide11.xml"/><Relationship Id="rId13" Type="http://schemas.openxmlformats.org/officeDocument/2006/relationships/slideLayout" Target="../slideLayouts/slideLayout12.xml"/><Relationship Id="rId12" Type="http://schemas.openxmlformats.org/officeDocument/2006/relationships/image" Target="../media/image36.png"/><Relationship Id="rId11" Type="http://schemas.openxmlformats.org/officeDocument/2006/relationships/image" Target="../media/image103.svg"/><Relationship Id="rId10" Type="http://schemas.openxmlformats.org/officeDocument/2006/relationships/image" Target="../media/image102.png"/><Relationship Id="rId1" Type="http://schemas.openxmlformats.org/officeDocument/2006/relationships/chart" Target="../charts/chart1.xml"/></Relationships>
</file>

<file path=ppt/slides/_rels/slide20.xml.rels><?xml version="1.0" encoding="UTF-8" standalone="yes"?>
<Relationships xmlns="http://schemas.openxmlformats.org/package/2006/relationships"><Relationship Id="rId9" Type="http://schemas.openxmlformats.org/officeDocument/2006/relationships/tags" Target="../tags/tag247.xml"/><Relationship Id="rId8" Type="http://schemas.openxmlformats.org/officeDocument/2006/relationships/tags" Target="../tags/tag246.xml"/><Relationship Id="rId7" Type="http://schemas.openxmlformats.org/officeDocument/2006/relationships/tags" Target="../tags/tag245.xml"/><Relationship Id="rId6" Type="http://schemas.openxmlformats.org/officeDocument/2006/relationships/tags" Target="../tags/tag244.xml"/><Relationship Id="rId5" Type="http://schemas.openxmlformats.org/officeDocument/2006/relationships/tags" Target="../tags/tag243.xml"/><Relationship Id="rId4" Type="http://schemas.openxmlformats.org/officeDocument/2006/relationships/tags" Target="../tags/tag242.xml"/><Relationship Id="rId3" Type="http://schemas.openxmlformats.org/officeDocument/2006/relationships/tags" Target="../tags/tag241.xml"/><Relationship Id="rId27" Type="http://schemas.openxmlformats.org/officeDocument/2006/relationships/notesSlide" Target="../notesSlides/notesSlide12.xml"/><Relationship Id="rId26" Type="http://schemas.openxmlformats.org/officeDocument/2006/relationships/slideLayout" Target="../slideLayouts/slideLayout12.xml"/><Relationship Id="rId25" Type="http://schemas.openxmlformats.org/officeDocument/2006/relationships/image" Target="../media/image36.png"/><Relationship Id="rId24" Type="http://schemas.openxmlformats.org/officeDocument/2006/relationships/image" Target="../media/image109.svg"/><Relationship Id="rId23" Type="http://schemas.openxmlformats.org/officeDocument/2006/relationships/image" Target="../media/image108.png"/><Relationship Id="rId22" Type="http://schemas.openxmlformats.org/officeDocument/2006/relationships/image" Target="../media/image107.svg"/><Relationship Id="rId21" Type="http://schemas.openxmlformats.org/officeDocument/2006/relationships/image" Target="../media/image106.png"/><Relationship Id="rId20" Type="http://schemas.openxmlformats.org/officeDocument/2006/relationships/image" Target="../media/image105.svg"/><Relationship Id="rId2" Type="http://schemas.openxmlformats.org/officeDocument/2006/relationships/image" Target="../media/image95.svg"/><Relationship Id="rId19" Type="http://schemas.openxmlformats.org/officeDocument/2006/relationships/image" Target="../media/image104.png"/><Relationship Id="rId18" Type="http://schemas.openxmlformats.org/officeDocument/2006/relationships/tags" Target="../tags/tag256.xml"/><Relationship Id="rId17" Type="http://schemas.openxmlformats.org/officeDocument/2006/relationships/tags" Target="../tags/tag255.xml"/><Relationship Id="rId16" Type="http://schemas.openxmlformats.org/officeDocument/2006/relationships/tags" Target="../tags/tag254.xml"/><Relationship Id="rId15" Type="http://schemas.openxmlformats.org/officeDocument/2006/relationships/tags" Target="../tags/tag253.xml"/><Relationship Id="rId14" Type="http://schemas.openxmlformats.org/officeDocument/2006/relationships/tags" Target="../tags/tag252.xml"/><Relationship Id="rId13" Type="http://schemas.openxmlformats.org/officeDocument/2006/relationships/tags" Target="../tags/tag251.xml"/><Relationship Id="rId12" Type="http://schemas.openxmlformats.org/officeDocument/2006/relationships/tags" Target="../tags/tag250.xml"/><Relationship Id="rId11" Type="http://schemas.openxmlformats.org/officeDocument/2006/relationships/tags" Target="../tags/tag249.xml"/><Relationship Id="rId10" Type="http://schemas.openxmlformats.org/officeDocument/2006/relationships/tags" Target="../tags/tag248.xml"/><Relationship Id="rId1" Type="http://schemas.openxmlformats.org/officeDocument/2006/relationships/image" Target="../media/image21.png"/></Relationships>
</file>

<file path=ppt/slides/_rels/slide21.xml.rels><?xml version="1.0" encoding="UTF-8" standalone="yes"?>
<Relationships xmlns="http://schemas.openxmlformats.org/package/2006/relationships"><Relationship Id="rId9" Type="http://schemas.openxmlformats.org/officeDocument/2006/relationships/tags" Target="../tags/tag263.xml"/><Relationship Id="rId8" Type="http://schemas.openxmlformats.org/officeDocument/2006/relationships/tags" Target="../tags/tag262.xml"/><Relationship Id="rId72" Type="http://schemas.openxmlformats.org/officeDocument/2006/relationships/slideLayout" Target="../slideLayouts/slideLayout12.xml"/><Relationship Id="rId71" Type="http://schemas.openxmlformats.org/officeDocument/2006/relationships/image" Target="../media/image36.png"/><Relationship Id="rId70" Type="http://schemas.openxmlformats.org/officeDocument/2006/relationships/tags" Target="../tags/tag318.xml"/><Relationship Id="rId7" Type="http://schemas.openxmlformats.org/officeDocument/2006/relationships/tags" Target="../tags/tag261.xml"/><Relationship Id="rId69" Type="http://schemas.openxmlformats.org/officeDocument/2006/relationships/tags" Target="../tags/tag317.xml"/><Relationship Id="rId68" Type="http://schemas.openxmlformats.org/officeDocument/2006/relationships/tags" Target="../tags/tag316.xml"/><Relationship Id="rId67" Type="http://schemas.openxmlformats.org/officeDocument/2006/relationships/tags" Target="../tags/tag315.xml"/><Relationship Id="rId66" Type="http://schemas.openxmlformats.org/officeDocument/2006/relationships/tags" Target="../tags/tag314.xml"/><Relationship Id="rId65" Type="http://schemas.openxmlformats.org/officeDocument/2006/relationships/tags" Target="../tags/tag313.xml"/><Relationship Id="rId64" Type="http://schemas.openxmlformats.org/officeDocument/2006/relationships/tags" Target="../tags/tag312.xml"/><Relationship Id="rId63" Type="http://schemas.openxmlformats.org/officeDocument/2006/relationships/tags" Target="../tags/tag311.xml"/><Relationship Id="rId62" Type="http://schemas.openxmlformats.org/officeDocument/2006/relationships/tags" Target="../tags/tag310.xml"/><Relationship Id="rId61" Type="http://schemas.openxmlformats.org/officeDocument/2006/relationships/tags" Target="../tags/tag309.xml"/><Relationship Id="rId60" Type="http://schemas.openxmlformats.org/officeDocument/2006/relationships/tags" Target="../tags/tag308.xml"/><Relationship Id="rId6" Type="http://schemas.openxmlformats.org/officeDocument/2006/relationships/tags" Target="../tags/tag260.xml"/><Relationship Id="rId59" Type="http://schemas.openxmlformats.org/officeDocument/2006/relationships/tags" Target="../tags/tag307.xml"/><Relationship Id="rId58" Type="http://schemas.openxmlformats.org/officeDocument/2006/relationships/tags" Target="../tags/tag306.xml"/><Relationship Id="rId57" Type="http://schemas.openxmlformats.org/officeDocument/2006/relationships/tags" Target="../tags/tag305.xml"/><Relationship Id="rId56" Type="http://schemas.openxmlformats.org/officeDocument/2006/relationships/tags" Target="../tags/tag304.xml"/><Relationship Id="rId55" Type="http://schemas.openxmlformats.org/officeDocument/2006/relationships/tags" Target="../tags/tag303.xml"/><Relationship Id="rId54" Type="http://schemas.openxmlformats.org/officeDocument/2006/relationships/tags" Target="../tags/tag302.xml"/><Relationship Id="rId53" Type="http://schemas.openxmlformats.org/officeDocument/2006/relationships/tags" Target="../tags/tag301.xml"/><Relationship Id="rId52" Type="http://schemas.openxmlformats.org/officeDocument/2006/relationships/tags" Target="../tags/tag300.xml"/><Relationship Id="rId51" Type="http://schemas.openxmlformats.org/officeDocument/2006/relationships/tags" Target="../tags/tag299.xml"/><Relationship Id="rId50" Type="http://schemas.openxmlformats.org/officeDocument/2006/relationships/image" Target="../media/image117.svg"/><Relationship Id="rId5" Type="http://schemas.openxmlformats.org/officeDocument/2006/relationships/tags" Target="../tags/tag259.xml"/><Relationship Id="rId49" Type="http://schemas.openxmlformats.org/officeDocument/2006/relationships/image" Target="../media/image116.png"/><Relationship Id="rId48" Type="http://schemas.openxmlformats.org/officeDocument/2006/relationships/tags" Target="../tags/tag298.xml"/><Relationship Id="rId47" Type="http://schemas.openxmlformats.org/officeDocument/2006/relationships/tags" Target="../tags/tag297.xml"/><Relationship Id="rId46" Type="http://schemas.openxmlformats.org/officeDocument/2006/relationships/tags" Target="../tags/tag296.xml"/><Relationship Id="rId45" Type="http://schemas.openxmlformats.org/officeDocument/2006/relationships/tags" Target="../tags/tag295.xml"/><Relationship Id="rId44" Type="http://schemas.openxmlformats.org/officeDocument/2006/relationships/tags" Target="../tags/tag294.xml"/><Relationship Id="rId43" Type="http://schemas.openxmlformats.org/officeDocument/2006/relationships/tags" Target="../tags/tag293.xml"/><Relationship Id="rId42" Type="http://schemas.openxmlformats.org/officeDocument/2006/relationships/tags" Target="../tags/tag292.xml"/><Relationship Id="rId41" Type="http://schemas.openxmlformats.org/officeDocument/2006/relationships/tags" Target="../tags/tag291.xml"/><Relationship Id="rId40" Type="http://schemas.openxmlformats.org/officeDocument/2006/relationships/tags" Target="../tags/tag290.xml"/><Relationship Id="rId4" Type="http://schemas.openxmlformats.org/officeDocument/2006/relationships/tags" Target="../tags/tag258.xml"/><Relationship Id="rId39" Type="http://schemas.openxmlformats.org/officeDocument/2006/relationships/tags" Target="../tags/tag289.xml"/><Relationship Id="rId38" Type="http://schemas.openxmlformats.org/officeDocument/2006/relationships/image" Target="../media/image115.svg"/><Relationship Id="rId37" Type="http://schemas.openxmlformats.org/officeDocument/2006/relationships/image" Target="../media/image114.png"/><Relationship Id="rId36" Type="http://schemas.openxmlformats.org/officeDocument/2006/relationships/tags" Target="../tags/tag288.xml"/><Relationship Id="rId35" Type="http://schemas.openxmlformats.org/officeDocument/2006/relationships/tags" Target="../tags/tag287.xml"/><Relationship Id="rId34" Type="http://schemas.openxmlformats.org/officeDocument/2006/relationships/tags" Target="../tags/tag286.xml"/><Relationship Id="rId33" Type="http://schemas.openxmlformats.org/officeDocument/2006/relationships/tags" Target="../tags/tag285.xml"/><Relationship Id="rId32" Type="http://schemas.openxmlformats.org/officeDocument/2006/relationships/tags" Target="../tags/tag284.xml"/><Relationship Id="rId31" Type="http://schemas.openxmlformats.org/officeDocument/2006/relationships/tags" Target="../tags/tag283.xml"/><Relationship Id="rId30" Type="http://schemas.openxmlformats.org/officeDocument/2006/relationships/tags" Target="../tags/tag282.xml"/><Relationship Id="rId3" Type="http://schemas.openxmlformats.org/officeDocument/2006/relationships/tags" Target="../tags/tag257.xml"/><Relationship Id="rId29" Type="http://schemas.openxmlformats.org/officeDocument/2006/relationships/tags" Target="../tags/tag281.xml"/><Relationship Id="rId28" Type="http://schemas.openxmlformats.org/officeDocument/2006/relationships/image" Target="../media/image113.svg"/><Relationship Id="rId27" Type="http://schemas.openxmlformats.org/officeDocument/2006/relationships/image" Target="../media/image112.png"/><Relationship Id="rId26" Type="http://schemas.openxmlformats.org/officeDocument/2006/relationships/tags" Target="../tags/tag280.xml"/><Relationship Id="rId25" Type="http://schemas.openxmlformats.org/officeDocument/2006/relationships/tags" Target="../tags/tag279.xml"/><Relationship Id="rId24" Type="http://schemas.openxmlformats.org/officeDocument/2006/relationships/tags" Target="../tags/tag278.xml"/><Relationship Id="rId23" Type="http://schemas.openxmlformats.org/officeDocument/2006/relationships/tags" Target="../tags/tag277.xml"/><Relationship Id="rId22" Type="http://schemas.openxmlformats.org/officeDocument/2006/relationships/tags" Target="../tags/tag276.xml"/><Relationship Id="rId21" Type="http://schemas.openxmlformats.org/officeDocument/2006/relationships/tags" Target="../tags/tag275.xml"/><Relationship Id="rId20" Type="http://schemas.openxmlformats.org/officeDocument/2006/relationships/tags" Target="../tags/tag274.xml"/><Relationship Id="rId2" Type="http://schemas.openxmlformats.org/officeDocument/2006/relationships/image" Target="../media/image111.svg"/><Relationship Id="rId19" Type="http://schemas.openxmlformats.org/officeDocument/2006/relationships/tags" Target="../tags/tag273.xml"/><Relationship Id="rId18" Type="http://schemas.openxmlformats.org/officeDocument/2006/relationships/tags" Target="../tags/tag272.xml"/><Relationship Id="rId17" Type="http://schemas.openxmlformats.org/officeDocument/2006/relationships/tags" Target="../tags/tag271.xml"/><Relationship Id="rId16" Type="http://schemas.openxmlformats.org/officeDocument/2006/relationships/tags" Target="../tags/tag270.xml"/><Relationship Id="rId15" Type="http://schemas.openxmlformats.org/officeDocument/2006/relationships/tags" Target="../tags/tag269.xml"/><Relationship Id="rId14" Type="http://schemas.openxmlformats.org/officeDocument/2006/relationships/tags" Target="../tags/tag268.xml"/><Relationship Id="rId13" Type="http://schemas.openxmlformats.org/officeDocument/2006/relationships/tags" Target="../tags/tag267.xml"/><Relationship Id="rId12" Type="http://schemas.openxmlformats.org/officeDocument/2006/relationships/tags" Target="../tags/tag266.xml"/><Relationship Id="rId11" Type="http://schemas.openxmlformats.org/officeDocument/2006/relationships/tags" Target="../tags/tag265.xml"/><Relationship Id="rId10" Type="http://schemas.openxmlformats.org/officeDocument/2006/relationships/tags" Target="../tags/tag264.xml"/><Relationship Id="rId1" Type="http://schemas.openxmlformats.org/officeDocument/2006/relationships/image" Target="../media/image110.png"/></Relationships>
</file>

<file path=ppt/slides/_rels/slide22.xml.rels><?xml version="1.0" encoding="UTF-8" standalone="yes"?>
<Relationships xmlns="http://schemas.openxmlformats.org/package/2006/relationships"><Relationship Id="rId9" Type="http://schemas.openxmlformats.org/officeDocument/2006/relationships/tags" Target="../tags/tag325.xml"/><Relationship Id="rId8" Type="http://schemas.openxmlformats.org/officeDocument/2006/relationships/tags" Target="../tags/tag324.xml"/><Relationship Id="rId7" Type="http://schemas.openxmlformats.org/officeDocument/2006/relationships/tags" Target="../tags/tag323.xml"/><Relationship Id="rId6" Type="http://schemas.openxmlformats.org/officeDocument/2006/relationships/tags" Target="../tags/tag322.xml"/><Relationship Id="rId5" Type="http://schemas.openxmlformats.org/officeDocument/2006/relationships/tags" Target="../tags/tag321.xml"/><Relationship Id="rId4" Type="http://schemas.openxmlformats.org/officeDocument/2006/relationships/tags" Target="../tags/tag320.xml"/><Relationship Id="rId35" Type="http://schemas.openxmlformats.org/officeDocument/2006/relationships/slideLayout" Target="../slideLayouts/slideLayout12.xml"/><Relationship Id="rId34" Type="http://schemas.openxmlformats.org/officeDocument/2006/relationships/image" Target="../media/image36.png"/><Relationship Id="rId33" Type="http://schemas.openxmlformats.org/officeDocument/2006/relationships/tags" Target="../tags/tag349.xml"/><Relationship Id="rId32" Type="http://schemas.openxmlformats.org/officeDocument/2006/relationships/tags" Target="../tags/tag348.xml"/><Relationship Id="rId31" Type="http://schemas.openxmlformats.org/officeDocument/2006/relationships/tags" Target="../tags/tag347.xml"/><Relationship Id="rId30" Type="http://schemas.openxmlformats.org/officeDocument/2006/relationships/tags" Target="../tags/tag346.xml"/><Relationship Id="rId3" Type="http://schemas.openxmlformats.org/officeDocument/2006/relationships/tags" Target="../tags/tag319.xml"/><Relationship Id="rId29" Type="http://schemas.openxmlformats.org/officeDocument/2006/relationships/tags" Target="../tags/tag345.xml"/><Relationship Id="rId28" Type="http://schemas.openxmlformats.org/officeDocument/2006/relationships/tags" Target="../tags/tag344.xml"/><Relationship Id="rId27" Type="http://schemas.openxmlformats.org/officeDocument/2006/relationships/tags" Target="../tags/tag343.xml"/><Relationship Id="rId26" Type="http://schemas.openxmlformats.org/officeDocument/2006/relationships/tags" Target="../tags/tag342.xml"/><Relationship Id="rId25" Type="http://schemas.openxmlformats.org/officeDocument/2006/relationships/tags" Target="../tags/tag341.xml"/><Relationship Id="rId24" Type="http://schemas.openxmlformats.org/officeDocument/2006/relationships/tags" Target="../tags/tag340.xml"/><Relationship Id="rId23" Type="http://schemas.openxmlformats.org/officeDocument/2006/relationships/tags" Target="../tags/tag339.xml"/><Relationship Id="rId22" Type="http://schemas.openxmlformats.org/officeDocument/2006/relationships/tags" Target="../tags/tag338.xml"/><Relationship Id="rId21" Type="http://schemas.openxmlformats.org/officeDocument/2006/relationships/tags" Target="../tags/tag337.xml"/><Relationship Id="rId20" Type="http://schemas.openxmlformats.org/officeDocument/2006/relationships/tags" Target="../tags/tag336.xml"/><Relationship Id="rId2" Type="http://schemas.openxmlformats.org/officeDocument/2006/relationships/image" Target="../media/image118.svg"/><Relationship Id="rId19" Type="http://schemas.openxmlformats.org/officeDocument/2006/relationships/tags" Target="../tags/tag335.xml"/><Relationship Id="rId18" Type="http://schemas.openxmlformats.org/officeDocument/2006/relationships/tags" Target="../tags/tag334.xml"/><Relationship Id="rId17" Type="http://schemas.openxmlformats.org/officeDocument/2006/relationships/tags" Target="../tags/tag333.xml"/><Relationship Id="rId16" Type="http://schemas.openxmlformats.org/officeDocument/2006/relationships/tags" Target="../tags/tag332.xml"/><Relationship Id="rId15" Type="http://schemas.openxmlformats.org/officeDocument/2006/relationships/tags" Target="../tags/tag331.xml"/><Relationship Id="rId14" Type="http://schemas.openxmlformats.org/officeDocument/2006/relationships/tags" Target="../tags/tag330.xml"/><Relationship Id="rId13" Type="http://schemas.openxmlformats.org/officeDocument/2006/relationships/tags" Target="../tags/tag329.xml"/><Relationship Id="rId12" Type="http://schemas.openxmlformats.org/officeDocument/2006/relationships/tags" Target="../tags/tag328.xml"/><Relationship Id="rId11" Type="http://schemas.openxmlformats.org/officeDocument/2006/relationships/tags" Target="../tags/tag327.xml"/><Relationship Id="rId10" Type="http://schemas.openxmlformats.org/officeDocument/2006/relationships/tags" Target="../tags/tag326.xml"/><Relationship Id="rId1" Type="http://schemas.openxmlformats.org/officeDocument/2006/relationships/image" Target="../media/image21.png"/></Relationships>
</file>

<file path=ppt/slides/_rels/slide23.xml.rels><?xml version="1.0" encoding="UTF-8" standalone="yes"?>
<Relationships xmlns="http://schemas.openxmlformats.org/package/2006/relationships"><Relationship Id="rId9" Type="http://schemas.openxmlformats.org/officeDocument/2006/relationships/image" Target="../media/image121.svg"/><Relationship Id="rId8" Type="http://schemas.openxmlformats.org/officeDocument/2006/relationships/image" Target="../media/image120.png"/><Relationship Id="rId7" Type="http://schemas.openxmlformats.org/officeDocument/2006/relationships/tags" Target="../tags/tag354.xml"/><Relationship Id="rId6" Type="http://schemas.openxmlformats.org/officeDocument/2006/relationships/tags" Target="../tags/tag353.xml"/><Relationship Id="rId5" Type="http://schemas.openxmlformats.org/officeDocument/2006/relationships/tags" Target="../tags/tag352.xml"/><Relationship Id="rId4" Type="http://schemas.openxmlformats.org/officeDocument/2006/relationships/tags" Target="../tags/tag351.xml"/><Relationship Id="rId3" Type="http://schemas.openxmlformats.org/officeDocument/2006/relationships/tags" Target="../tags/tag350.xml"/><Relationship Id="rId2" Type="http://schemas.openxmlformats.org/officeDocument/2006/relationships/image" Target="../media/image119.svg"/><Relationship Id="rId11" Type="http://schemas.openxmlformats.org/officeDocument/2006/relationships/slideLayout" Target="../slideLayouts/slideLayout12.xml"/><Relationship Id="rId10" Type="http://schemas.openxmlformats.org/officeDocument/2006/relationships/image" Target="../media/image36.png"/><Relationship Id="rId1" Type="http://schemas.openxmlformats.org/officeDocument/2006/relationships/image" Target="../media/image21.png"/></Relationships>
</file>

<file path=ppt/slides/_rels/slide24.xml.rels><?xml version="1.0" encoding="UTF-8" standalone="yes"?>
<Relationships xmlns="http://schemas.openxmlformats.org/package/2006/relationships"><Relationship Id="rId9" Type="http://schemas.openxmlformats.org/officeDocument/2006/relationships/image" Target="../media/image129.png"/><Relationship Id="rId8" Type="http://schemas.openxmlformats.org/officeDocument/2006/relationships/image" Target="../media/image128.svg"/><Relationship Id="rId7" Type="http://schemas.openxmlformats.org/officeDocument/2006/relationships/image" Target="../media/image127.png"/><Relationship Id="rId6" Type="http://schemas.openxmlformats.org/officeDocument/2006/relationships/image" Target="../media/image126.svg"/><Relationship Id="rId5" Type="http://schemas.openxmlformats.org/officeDocument/2006/relationships/image" Target="../media/image125.png"/><Relationship Id="rId4" Type="http://schemas.openxmlformats.org/officeDocument/2006/relationships/image" Target="../media/image124.svg"/><Relationship Id="rId3" Type="http://schemas.openxmlformats.org/officeDocument/2006/relationships/image" Target="../media/image123.png"/><Relationship Id="rId2" Type="http://schemas.openxmlformats.org/officeDocument/2006/relationships/image" Target="../media/image122.svg"/><Relationship Id="rId12" Type="http://schemas.openxmlformats.org/officeDocument/2006/relationships/slideLayout" Target="../slideLayouts/slideLayout12.xml"/><Relationship Id="rId11" Type="http://schemas.openxmlformats.org/officeDocument/2006/relationships/image" Target="../media/image36.png"/><Relationship Id="rId10" Type="http://schemas.openxmlformats.org/officeDocument/2006/relationships/image" Target="../media/image130.svg"/><Relationship Id="rId1" Type="http://schemas.openxmlformats.org/officeDocument/2006/relationships/image" Target="../media/image79.png"/></Relationships>
</file>

<file path=ppt/slides/_rels/slide2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31.svg"/><Relationship Id="rId1" Type="http://schemas.openxmlformats.org/officeDocument/2006/relationships/image" Target="../media/image21.png"/></Relationships>
</file>

<file path=ppt/slides/_rels/slide26.xml.rels><?xml version="1.0" encoding="UTF-8" standalone="yes"?>
<Relationships xmlns="http://schemas.openxmlformats.org/package/2006/relationships"><Relationship Id="rId9" Type="http://schemas.openxmlformats.org/officeDocument/2006/relationships/image" Target="../media/image135.svg"/><Relationship Id="rId8" Type="http://schemas.openxmlformats.org/officeDocument/2006/relationships/image" Target="../media/image116.png"/><Relationship Id="rId7" Type="http://schemas.openxmlformats.org/officeDocument/2006/relationships/image" Target="../media/image134.svg"/><Relationship Id="rId6" Type="http://schemas.openxmlformats.org/officeDocument/2006/relationships/image" Target="../media/image133.png"/><Relationship Id="rId5" Type="http://schemas.openxmlformats.org/officeDocument/2006/relationships/tags" Target="../tags/tag357.xml"/><Relationship Id="rId4" Type="http://schemas.openxmlformats.org/officeDocument/2006/relationships/tags" Target="../tags/tag356.xml"/><Relationship Id="rId3" Type="http://schemas.openxmlformats.org/officeDocument/2006/relationships/tags" Target="../tags/tag355.xml"/><Relationship Id="rId29" Type="http://schemas.openxmlformats.org/officeDocument/2006/relationships/slideLayout" Target="../slideLayouts/slideLayout12.xml"/><Relationship Id="rId28" Type="http://schemas.openxmlformats.org/officeDocument/2006/relationships/image" Target="../media/image36.png"/><Relationship Id="rId27" Type="http://schemas.openxmlformats.org/officeDocument/2006/relationships/tags" Target="../tags/tag367.xml"/><Relationship Id="rId26" Type="http://schemas.openxmlformats.org/officeDocument/2006/relationships/tags" Target="../tags/tag366.xml"/><Relationship Id="rId25" Type="http://schemas.openxmlformats.org/officeDocument/2006/relationships/image" Target="../media/image143.svg"/><Relationship Id="rId24" Type="http://schemas.openxmlformats.org/officeDocument/2006/relationships/image" Target="../media/image142.png"/><Relationship Id="rId23" Type="http://schemas.openxmlformats.org/officeDocument/2006/relationships/tags" Target="../tags/tag365.xml"/><Relationship Id="rId22" Type="http://schemas.openxmlformats.org/officeDocument/2006/relationships/image" Target="../media/image141.svg"/><Relationship Id="rId21" Type="http://schemas.openxmlformats.org/officeDocument/2006/relationships/image" Target="../media/image140.png"/><Relationship Id="rId20" Type="http://schemas.openxmlformats.org/officeDocument/2006/relationships/image" Target="../media/image139.svg"/><Relationship Id="rId2" Type="http://schemas.openxmlformats.org/officeDocument/2006/relationships/image" Target="../media/image132.svg"/><Relationship Id="rId19" Type="http://schemas.openxmlformats.org/officeDocument/2006/relationships/image" Target="../media/image138.png"/><Relationship Id="rId18" Type="http://schemas.openxmlformats.org/officeDocument/2006/relationships/tags" Target="../tags/tag364.xml"/><Relationship Id="rId17" Type="http://schemas.openxmlformats.org/officeDocument/2006/relationships/image" Target="../media/image137.svg"/><Relationship Id="rId16" Type="http://schemas.openxmlformats.org/officeDocument/2006/relationships/image" Target="../media/image136.png"/><Relationship Id="rId15" Type="http://schemas.openxmlformats.org/officeDocument/2006/relationships/tags" Target="../tags/tag363.xml"/><Relationship Id="rId14" Type="http://schemas.openxmlformats.org/officeDocument/2006/relationships/tags" Target="../tags/tag362.xml"/><Relationship Id="rId13" Type="http://schemas.openxmlformats.org/officeDocument/2006/relationships/tags" Target="../tags/tag361.xml"/><Relationship Id="rId12" Type="http://schemas.openxmlformats.org/officeDocument/2006/relationships/tags" Target="../tags/tag360.xml"/><Relationship Id="rId11" Type="http://schemas.openxmlformats.org/officeDocument/2006/relationships/tags" Target="../tags/tag359.xml"/><Relationship Id="rId10" Type="http://schemas.openxmlformats.org/officeDocument/2006/relationships/tags" Target="../tags/tag358.xml"/><Relationship Id="rId1" Type="http://schemas.openxmlformats.org/officeDocument/2006/relationships/image" Target="../media/image79.png"/></Relationships>
</file>

<file path=ppt/slides/_rels/slide27.xml.rels><?xml version="1.0" encoding="UTF-8" standalone="yes"?>
<Relationships xmlns="http://schemas.openxmlformats.org/package/2006/relationships"><Relationship Id="rId9" Type="http://schemas.openxmlformats.org/officeDocument/2006/relationships/image" Target="../media/image152.png"/><Relationship Id="rId8" Type="http://schemas.openxmlformats.org/officeDocument/2006/relationships/image" Target="../media/image151.svg"/><Relationship Id="rId7" Type="http://schemas.openxmlformats.org/officeDocument/2006/relationships/image" Target="../media/image150.png"/><Relationship Id="rId6" Type="http://schemas.openxmlformats.org/officeDocument/2006/relationships/image" Target="../media/image149.svg"/><Relationship Id="rId5" Type="http://schemas.openxmlformats.org/officeDocument/2006/relationships/image" Target="../media/image148.png"/><Relationship Id="rId4" Type="http://schemas.openxmlformats.org/officeDocument/2006/relationships/image" Target="../media/image147.svg"/><Relationship Id="rId3" Type="http://schemas.openxmlformats.org/officeDocument/2006/relationships/image" Target="../media/image146.png"/><Relationship Id="rId2" Type="http://schemas.openxmlformats.org/officeDocument/2006/relationships/image" Target="../media/image145.svg"/><Relationship Id="rId16" Type="http://schemas.openxmlformats.org/officeDocument/2006/relationships/slideLayout" Target="../slideLayouts/slideLayout12.xml"/><Relationship Id="rId15" Type="http://schemas.openxmlformats.org/officeDocument/2006/relationships/image" Target="../media/image36.png"/><Relationship Id="rId14" Type="http://schemas.openxmlformats.org/officeDocument/2006/relationships/image" Target="../media/image157.svg"/><Relationship Id="rId13" Type="http://schemas.openxmlformats.org/officeDocument/2006/relationships/image" Target="../media/image156.png"/><Relationship Id="rId12" Type="http://schemas.openxmlformats.org/officeDocument/2006/relationships/image" Target="../media/image155.svg"/><Relationship Id="rId11" Type="http://schemas.openxmlformats.org/officeDocument/2006/relationships/image" Target="../media/image154.png"/><Relationship Id="rId10" Type="http://schemas.openxmlformats.org/officeDocument/2006/relationships/image" Target="../media/image153.svg"/><Relationship Id="rId1" Type="http://schemas.openxmlformats.org/officeDocument/2006/relationships/image" Target="../media/image144.png"/></Relationships>
</file>

<file path=ppt/slides/_rels/slide28.xml.rels><?xml version="1.0" encoding="UTF-8" standalone="yes"?>
<Relationships xmlns="http://schemas.openxmlformats.org/package/2006/relationships"><Relationship Id="rId9" Type="http://schemas.openxmlformats.org/officeDocument/2006/relationships/tags" Target="../tags/tag374.xml"/><Relationship Id="rId8" Type="http://schemas.openxmlformats.org/officeDocument/2006/relationships/tags" Target="../tags/tag373.xml"/><Relationship Id="rId7" Type="http://schemas.openxmlformats.org/officeDocument/2006/relationships/tags" Target="../tags/tag372.xml"/><Relationship Id="rId6" Type="http://schemas.openxmlformats.org/officeDocument/2006/relationships/tags" Target="../tags/tag371.xml"/><Relationship Id="rId5" Type="http://schemas.openxmlformats.org/officeDocument/2006/relationships/tags" Target="../tags/tag370.xml"/><Relationship Id="rId4" Type="http://schemas.openxmlformats.org/officeDocument/2006/relationships/tags" Target="../tags/tag369.xml"/><Relationship Id="rId3" Type="http://schemas.openxmlformats.org/officeDocument/2006/relationships/tags" Target="../tags/tag368.xml"/><Relationship Id="rId21" Type="http://schemas.openxmlformats.org/officeDocument/2006/relationships/slideLayout" Target="../slideLayouts/slideLayout12.xml"/><Relationship Id="rId20" Type="http://schemas.openxmlformats.org/officeDocument/2006/relationships/image" Target="../media/image36.png"/><Relationship Id="rId2" Type="http://schemas.openxmlformats.org/officeDocument/2006/relationships/image" Target="../media/image158.svg"/><Relationship Id="rId19" Type="http://schemas.openxmlformats.org/officeDocument/2006/relationships/tags" Target="../tags/tag384.xml"/><Relationship Id="rId18" Type="http://schemas.openxmlformats.org/officeDocument/2006/relationships/tags" Target="../tags/tag383.xml"/><Relationship Id="rId17" Type="http://schemas.openxmlformats.org/officeDocument/2006/relationships/tags" Target="../tags/tag382.xml"/><Relationship Id="rId16" Type="http://schemas.openxmlformats.org/officeDocument/2006/relationships/tags" Target="../tags/tag381.xml"/><Relationship Id="rId15" Type="http://schemas.openxmlformats.org/officeDocument/2006/relationships/tags" Target="../tags/tag380.xml"/><Relationship Id="rId14" Type="http://schemas.openxmlformats.org/officeDocument/2006/relationships/tags" Target="../tags/tag379.xml"/><Relationship Id="rId13" Type="http://schemas.openxmlformats.org/officeDocument/2006/relationships/tags" Target="../tags/tag378.xml"/><Relationship Id="rId12" Type="http://schemas.openxmlformats.org/officeDocument/2006/relationships/tags" Target="../tags/tag377.xml"/><Relationship Id="rId11" Type="http://schemas.openxmlformats.org/officeDocument/2006/relationships/tags" Target="../tags/tag376.xml"/><Relationship Id="rId10" Type="http://schemas.openxmlformats.org/officeDocument/2006/relationships/tags" Target="../tags/tag375.xml"/><Relationship Id="rId1" Type="http://schemas.openxmlformats.org/officeDocument/2006/relationships/image" Target="../media/image21.png"/></Relationships>
</file>

<file path=ppt/slides/_rels/slide2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59.svg"/><Relationship Id="rId1" Type="http://schemas.openxmlformats.org/officeDocument/2006/relationships/image" Target="../media/image79.png"/></Relationships>
</file>

<file path=ppt/slides/_rels/slide30.xml.rels><?xml version="1.0" encoding="UTF-8" standalone="yes"?>
<Relationships xmlns="http://schemas.openxmlformats.org/package/2006/relationships"><Relationship Id="rId9" Type="http://schemas.openxmlformats.org/officeDocument/2006/relationships/image" Target="../media/image167.png"/><Relationship Id="rId8" Type="http://schemas.openxmlformats.org/officeDocument/2006/relationships/image" Target="../media/image166.svg"/><Relationship Id="rId7" Type="http://schemas.openxmlformats.org/officeDocument/2006/relationships/image" Target="../media/image165.png"/><Relationship Id="rId6" Type="http://schemas.openxmlformats.org/officeDocument/2006/relationships/image" Target="../media/image164.svg"/><Relationship Id="rId5" Type="http://schemas.openxmlformats.org/officeDocument/2006/relationships/image" Target="../media/image163.png"/><Relationship Id="rId4" Type="http://schemas.openxmlformats.org/officeDocument/2006/relationships/image" Target="../media/image162.svg"/><Relationship Id="rId3" Type="http://schemas.openxmlformats.org/officeDocument/2006/relationships/image" Target="../media/image161.png"/><Relationship Id="rId2" Type="http://schemas.openxmlformats.org/officeDocument/2006/relationships/image" Target="../media/image160.svg"/><Relationship Id="rId14" Type="http://schemas.openxmlformats.org/officeDocument/2006/relationships/slideLayout" Target="../slideLayouts/slideLayout12.xml"/><Relationship Id="rId13" Type="http://schemas.openxmlformats.org/officeDocument/2006/relationships/image" Target="../media/image36.png"/><Relationship Id="rId12" Type="http://schemas.openxmlformats.org/officeDocument/2006/relationships/image" Target="../media/image170.svg"/><Relationship Id="rId11" Type="http://schemas.openxmlformats.org/officeDocument/2006/relationships/image" Target="../media/image169.png"/><Relationship Id="rId10" Type="http://schemas.openxmlformats.org/officeDocument/2006/relationships/image" Target="../media/image168.svg"/><Relationship Id="rId1" Type="http://schemas.openxmlformats.org/officeDocument/2006/relationships/image" Target="../media/image21.png"/></Relationships>
</file>

<file path=ppt/slides/_rels/slide31.xml.rels><?xml version="1.0" encoding="UTF-8" standalone="yes"?>
<Relationships xmlns="http://schemas.openxmlformats.org/package/2006/relationships"><Relationship Id="rId9" Type="http://schemas.openxmlformats.org/officeDocument/2006/relationships/tags" Target="../tags/tag387.xml"/><Relationship Id="rId8" Type="http://schemas.openxmlformats.org/officeDocument/2006/relationships/tags" Target="../tags/tag386.xml"/><Relationship Id="rId7" Type="http://schemas.openxmlformats.org/officeDocument/2006/relationships/image" Target="../media/image175.svg"/><Relationship Id="rId6" Type="http://schemas.openxmlformats.org/officeDocument/2006/relationships/image" Target="../media/image174.png"/><Relationship Id="rId5" Type="http://schemas.openxmlformats.org/officeDocument/2006/relationships/tags" Target="../tags/tag385.xml"/><Relationship Id="rId4" Type="http://schemas.openxmlformats.org/officeDocument/2006/relationships/image" Target="../media/image173.svg"/><Relationship Id="rId3" Type="http://schemas.openxmlformats.org/officeDocument/2006/relationships/image" Target="../media/image172.png"/><Relationship Id="rId2" Type="http://schemas.openxmlformats.org/officeDocument/2006/relationships/image" Target="../media/image171.svg"/><Relationship Id="rId16" Type="http://schemas.openxmlformats.org/officeDocument/2006/relationships/slideLayout" Target="../slideLayouts/slideLayout12.xml"/><Relationship Id="rId15" Type="http://schemas.openxmlformats.org/officeDocument/2006/relationships/image" Target="../media/image36.png"/><Relationship Id="rId14" Type="http://schemas.openxmlformats.org/officeDocument/2006/relationships/tags" Target="../tags/tag388.xml"/><Relationship Id="rId13" Type="http://schemas.openxmlformats.org/officeDocument/2006/relationships/image" Target="../media/image179.svg"/><Relationship Id="rId12" Type="http://schemas.openxmlformats.org/officeDocument/2006/relationships/image" Target="../media/image178.png"/><Relationship Id="rId11" Type="http://schemas.openxmlformats.org/officeDocument/2006/relationships/image" Target="../media/image177.svg"/><Relationship Id="rId10" Type="http://schemas.openxmlformats.org/officeDocument/2006/relationships/image" Target="../media/image176.png"/><Relationship Id="rId1" Type="http://schemas.openxmlformats.org/officeDocument/2006/relationships/image" Target="../media/image21.png"/></Relationships>
</file>

<file path=ppt/slides/_rels/slide3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80.svg"/><Relationship Id="rId1" Type="http://schemas.openxmlformats.org/officeDocument/2006/relationships/image" Target="../media/image21.png"/></Relationships>
</file>

<file path=ppt/slides/_rels/slide33.xml.rels><?xml version="1.0" encoding="UTF-8" standalone="yes"?>
<Relationships xmlns="http://schemas.openxmlformats.org/package/2006/relationships"><Relationship Id="rId9" Type="http://schemas.openxmlformats.org/officeDocument/2006/relationships/tags" Target="../tags/tag395.xml"/><Relationship Id="rId8" Type="http://schemas.openxmlformats.org/officeDocument/2006/relationships/tags" Target="../tags/tag394.xml"/><Relationship Id="rId76" Type="http://schemas.openxmlformats.org/officeDocument/2006/relationships/slideLayout" Target="../slideLayouts/slideLayout12.xml"/><Relationship Id="rId75" Type="http://schemas.openxmlformats.org/officeDocument/2006/relationships/image" Target="../media/image36.png"/><Relationship Id="rId74" Type="http://schemas.openxmlformats.org/officeDocument/2006/relationships/tags" Target="../tags/tag446.xml"/><Relationship Id="rId73" Type="http://schemas.openxmlformats.org/officeDocument/2006/relationships/tags" Target="../tags/tag445.xml"/><Relationship Id="rId72" Type="http://schemas.openxmlformats.org/officeDocument/2006/relationships/tags" Target="../tags/tag444.xml"/><Relationship Id="rId71" Type="http://schemas.openxmlformats.org/officeDocument/2006/relationships/tags" Target="../tags/tag443.xml"/><Relationship Id="rId70" Type="http://schemas.openxmlformats.org/officeDocument/2006/relationships/tags" Target="../tags/tag442.xml"/><Relationship Id="rId7" Type="http://schemas.openxmlformats.org/officeDocument/2006/relationships/tags" Target="../tags/tag393.xml"/><Relationship Id="rId69" Type="http://schemas.openxmlformats.org/officeDocument/2006/relationships/tags" Target="../tags/tag441.xml"/><Relationship Id="rId68" Type="http://schemas.openxmlformats.org/officeDocument/2006/relationships/tags" Target="../tags/tag440.xml"/><Relationship Id="rId67" Type="http://schemas.openxmlformats.org/officeDocument/2006/relationships/tags" Target="../tags/tag439.xml"/><Relationship Id="rId66" Type="http://schemas.openxmlformats.org/officeDocument/2006/relationships/image" Target="../media/image195.svg"/><Relationship Id="rId65" Type="http://schemas.openxmlformats.org/officeDocument/2006/relationships/image" Target="../media/image194.png"/><Relationship Id="rId64" Type="http://schemas.openxmlformats.org/officeDocument/2006/relationships/image" Target="../media/image193.svg"/><Relationship Id="rId63" Type="http://schemas.openxmlformats.org/officeDocument/2006/relationships/image" Target="../media/image192.png"/><Relationship Id="rId62" Type="http://schemas.openxmlformats.org/officeDocument/2006/relationships/image" Target="../media/image191.svg"/><Relationship Id="rId61" Type="http://schemas.openxmlformats.org/officeDocument/2006/relationships/image" Target="../media/image190.png"/><Relationship Id="rId60" Type="http://schemas.openxmlformats.org/officeDocument/2006/relationships/image" Target="../media/image189.svg"/><Relationship Id="rId6" Type="http://schemas.openxmlformats.org/officeDocument/2006/relationships/tags" Target="../tags/tag392.xml"/><Relationship Id="rId59" Type="http://schemas.openxmlformats.org/officeDocument/2006/relationships/image" Target="../media/image188.png"/><Relationship Id="rId58" Type="http://schemas.openxmlformats.org/officeDocument/2006/relationships/image" Target="../media/image187.svg"/><Relationship Id="rId57" Type="http://schemas.openxmlformats.org/officeDocument/2006/relationships/image" Target="../media/image186.png"/><Relationship Id="rId56" Type="http://schemas.openxmlformats.org/officeDocument/2006/relationships/image" Target="../media/image185.svg"/><Relationship Id="rId55" Type="http://schemas.openxmlformats.org/officeDocument/2006/relationships/image" Target="../media/image184.png"/><Relationship Id="rId54" Type="http://schemas.openxmlformats.org/officeDocument/2006/relationships/tags" Target="../tags/tag438.xml"/><Relationship Id="rId53" Type="http://schemas.openxmlformats.org/officeDocument/2006/relationships/tags" Target="../tags/tag437.xml"/><Relationship Id="rId52" Type="http://schemas.openxmlformats.org/officeDocument/2006/relationships/tags" Target="../tags/tag436.xml"/><Relationship Id="rId51" Type="http://schemas.openxmlformats.org/officeDocument/2006/relationships/tags" Target="../tags/tag435.xml"/><Relationship Id="rId50" Type="http://schemas.openxmlformats.org/officeDocument/2006/relationships/tags" Target="../tags/tag434.xml"/><Relationship Id="rId5" Type="http://schemas.openxmlformats.org/officeDocument/2006/relationships/tags" Target="../tags/tag391.xml"/><Relationship Id="rId49" Type="http://schemas.openxmlformats.org/officeDocument/2006/relationships/tags" Target="../tags/tag433.xml"/><Relationship Id="rId48" Type="http://schemas.openxmlformats.org/officeDocument/2006/relationships/tags" Target="../tags/tag432.xml"/><Relationship Id="rId47" Type="http://schemas.openxmlformats.org/officeDocument/2006/relationships/tags" Target="../tags/tag431.xml"/><Relationship Id="rId46" Type="http://schemas.openxmlformats.org/officeDocument/2006/relationships/tags" Target="../tags/tag430.xml"/><Relationship Id="rId45" Type="http://schemas.openxmlformats.org/officeDocument/2006/relationships/tags" Target="../tags/tag429.xml"/><Relationship Id="rId44" Type="http://schemas.openxmlformats.org/officeDocument/2006/relationships/tags" Target="../tags/tag428.xml"/><Relationship Id="rId43" Type="http://schemas.openxmlformats.org/officeDocument/2006/relationships/tags" Target="../tags/tag427.xml"/><Relationship Id="rId42" Type="http://schemas.openxmlformats.org/officeDocument/2006/relationships/tags" Target="../tags/tag426.xml"/><Relationship Id="rId41" Type="http://schemas.openxmlformats.org/officeDocument/2006/relationships/image" Target="../media/image183.svg"/><Relationship Id="rId40" Type="http://schemas.openxmlformats.org/officeDocument/2006/relationships/image" Target="../media/image182.png"/><Relationship Id="rId4" Type="http://schemas.openxmlformats.org/officeDocument/2006/relationships/image" Target="../media/image181.svg"/><Relationship Id="rId39" Type="http://schemas.openxmlformats.org/officeDocument/2006/relationships/tags" Target="../tags/tag425.xml"/><Relationship Id="rId38" Type="http://schemas.openxmlformats.org/officeDocument/2006/relationships/tags" Target="../tags/tag424.xml"/><Relationship Id="rId37" Type="http://schemas.openxmlformats.org/officeDocument/2006/relationships/tags" Target="../tags/tag423.xml"/><Relationship Id="rId36" Type="http://schemas.openxmlformats.org/officeDocument/2006/relationships/tags" Target="../tags/tag422.xml"/><Relationship Id="rId35" Type="http://schemas.openxmlformats.org/officeDocument/2006/relationships/tags" Target="../tags/tag421.xml"/><Relationship Id="rId34" Type="http://schemas.openxmlformats.org/officeDocument/2006/relationships/tags" Target="../tags/tag420.xml"/><Relationship Id="rId33" Type="http://schemas.openxmlformats.org/officeDocument/2006/relationships/tags" Target="../tags/tag419.xml"/><Relationship Id="rId32" Type="http://schemas.openxmlformats.org/officeDocument/2006/relationships/tags" Target="../tags/tag418.xml"/><Relationship Id="rId31" Type="http://schemas.openxmlformats.org/officeDocument/2006/relationships/tags" Target="../tags/tag417.xml"/><Relationship Id="rId30" Type="http://schemas.openxmlformats.org/officeDocument/2006/relationships/tags" Target="../tags/tag416.xml"/><Relationship Id="rId3" Type="http://schemas.openxmlformats.org/officeDocument/2006/relationships/image" Target="../media/image79.png"/><Relationship Id="rId29" Type="http://schemas.openxmlformats.org/officeDocument/2006/relationships/tags" Target="../tags/tag415.xml"/><Relationship Id="rId28" Type="http://schemas.openxmlformats.org/officeDocument/2006/relationships/tags" Target="../tags/tag414.xml"/><Relationship Id="rId27" Type="http://schemas.openxmlformats.org/officeDocument/2006/relationships/tags" Target="../tags/tag413.xml"/><Relationship Id="rId26" Type="http://schemas.openxmlformats.org/officeDocument/2006/relationships/tags" Target="../tags/tag412.xml"/><Relationship Id="rId25" Type="http://schemas.openxmlformats.org/officeDocument/2006/relationships/tags" Target="../tags/tag411.xml"/><Relationship Id="rId24" Type="http://schemas.openxmlformats.org/officeDocument/2006/relationships/tags" Target="../tags/tag410.xml"/><Relationship Id="rId23" Type="http://schemas.openxmlformats.org/officeDocument/2006/relationships/tags" Target="../tags/tag409.xml"/><Relationship Id="rId22" Type="http://schemas.openxmlformats.org/officeDocument/2006/relationships/tags" Target="../tags/tag408.xml"/><Relationship Id="rId21" Type="http://schemas.openxmlformats.org/officeDocument/2006/relationships/tags" Target="../tags/tag407.xml"/><Relationship Id="rId20" Type="http://schemas.openxmlformats.org/officeDocument/2006/relationships/tags" Target="../tags/tag406.xml"/><Relationship Id="rId2" Type="http://schemas.openxmlformats.org/officeDocument/2006/relationships/tags" Target="../tags/tag390.xml"/><Relationship Id="rId19" Type="http://schemas.openxmlformats.org/officeDocument/2006/relationships/tags" Target="../tags/tag405.xml"/><Relationship Id="rId18" Type="http://schemas.openxmlformats.org/officeDocument/2006/relationships/tags" Target="../tags/tag404.xml"/><Relationship Id="rId17" Type="http://schemas.openxmlformats.org/officeDocument/2006/relationships/tags" Target="../tags/tag403.xml"/><Relationship Id="rId16" Type="http://schemas.openxmlformats.org/officeDocument/2006/relationships/tags" Target="../tags/tag402.xml"/><Relationship Id="rId15" Type="http://schemas.openxmlformats.org/officeDocument/2006/relationships/tags" Target="../tags/tag401.xml"/><Relationship Id="rId14" Type="http://schemas.openxmlformats.org/officeDocument/2006/relationships/tags" Target="../tags/tag400.xml"/><Relationship Id="rId13" Type="http://schemas.openxmlformats.org/officeDocument/2006/relationships/tags" Target="../tags/tag399.xml"/><Relationship Id="rId12" Type="http://schemas.openxmlformats.org/officeDocument/2006/relationships/tags" Target="../tags/tag398.xml"/><Relationship Id="rId11" Type="http://schemas.openxmlformats.org/officeDocument/2006/relationships/tags" Target="../tags/tag397.xml"/><Relationship Id="rId10" Type="http://schemas.openxmlformats.org/officeDocument/2006/relationships/tags" Target="../tags/tag396.xml"/><Relationship Id="rId1" Type="http://schemas.openxmlformats.org/officeDocument/2006/relationships/tags" Target="../tags/tag389.xml"/></Relationships>
</file>

<file path=ppt/slides/_rels/slide34.xml.rels><?xml version="1.0" encoding="UTF-8" standalone="yes"?>
<Relationships xmlns="http://schemas.openxmlformats.org/package/2006/relationships"><Relationship Id="rId5" Type="http://schemas.openxmlformats.org/officeDocument/2006/relationships/slideLayout" Target="../slideLayouts/slideLayout12.xml"/><Relationship Id="rId4" Type="http://schemas.openxmlformats.org/officeDocument/2006/relationships/image" Target="../media/image36.png"/><Relationship Id="rId3" Type="http://schemas.openxmlformats.org/officeDocument/2006/relationships/tags" Target="../tags/tag447.xml"/><Relationship Id="rId2" Type="http://schemas.openxmlformats.org/officeDocument/2006/relationships/image" Target="../media/image196.svg"/><Relationship Id="rId1" Type="http://schemas.openxmlformats.org/officeDocument/2006/relationships/image" Target="../media/image79.png"/></Relationships>
</file>

<file path=ppt/slides/_rels/slide35.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201.svg"/><Relationship Id="rId5" Type="http://schemas.openxmlformats.org/officeDocument/2006/relationships/image" Target="../media/image200.png"/><Relationship Id="rId4" Type="http://schemas.openxmlformats.org/officeDocument/2006/relationships/image" Target="../media/image199.svg"/><Relationship Id="rId3" Type="http://schemas.openxmlformats.org/officeDocument/2006/relationships/image" Target="../media/image198.png"/><Relationship Id="rId2" Type="http://schemas.openxmlformats.org/officeDocument/2006/relationships/image" Target="../media/image197.svg"/><Relationship Id="rId1" Type="http://schemas.openxmlformats.org/officeDocument/2006/relationships/image" Target="../media/image79.png"/></Relationships>
</file>

<file path=ppt/slides/_rels/slide36.xml.rels><?xml version="1.0" encoding="UTF-8" standalone="yes"?>
<Relationships xmlns="http://schemas.openxmlformats.org/package/2006/relationships"><Relationship Id="rId9" Type="http://schemas.openxmlformats.org/officeDocument/2006/relationships/tags" Target="../tags/tag454.xml"/><Relationship Id="rId8" Type="http://schemas.openxmlformats.org/officeDocument/2006/relationships/tags" Target="../tags/tag453.xml"/><Relationship Id="rId7" Type="http://schemas.openxmlformats.org/officeDocument/2006/relationships/tags" Target="../tags/tag452.xml"/><Relationship Id="rId6" Type="http://schemas.openxmlformats.org/officeDocument/2006/relationships/tags" Target="../tags/tag451.xml"/><Relationship Id="rId5" Type="http://schemas.openxmlformats.org/officeDocument/2006/relationships/tags" Target="../tags/tag450.xml"/><Relationship Id="rId4" Type="http://schemas.openxmlformats.org/officeDocument/2006/relationships/tags" Target="../tags/tag449.xml"/><Relationship Id="rId3" Type="http://schemas.openxmlformats.org/officeDocument/2006/relationships/tags" Target="../tags/tag448.xml"/><Relationship Id="rId2" Type="http://schemas.openxmlformats.org/officeDocument/2006/relationships/image" Target="../media/image202.svg"/><Relationship Id="rId16" Type="http://schemas.openxmlformats.org/officeDocument/2006/relationships/slideLayout" Target="../slideLayouts/slideLayout12.xml"/><Relationship Id="rId15" Type="http://schemas.openxmlformats.org/officeDocument/2006/relationships/image" Target="../media/image36.png"/><Relationship Id="rId14" Type="http://schemas.openxmlformats.org/officeDocument/2006/relationships/tags" Target="../tags/tag459.xml"/><Relationship Id="rId13" Type="http://schemas.openxmlformats.org/officeDocument/2006/relationships/tags" Target="../tags/tag458.xml"/><Relationship Id="rId12" Type="http://schemas.openxmlformats.org/officeDocument/2006/relationships/tags" Target="../tags/tag457.xml"/><Relationship Id="rId11" Type="http://schemas.openxmlformats.org/officeDocument/2006/relationships/tags" Target="../tags/tag456.xml"/><Relationship Id="rId10" Type="http://schemas.openxmlformats.org/officeDocument/2006/relationships/tags" Target="../tags/tag455.xml"/><Relationship Id="rId1" Type="http://schemas.openxmlformats.org/officeDocument/2006/relationships/image" Target="../media/image79.png"/></Relationships>
</file>

<file path=ppt/slides/_rels/slide37.xml.rels><?xml version="1.0" encoding="UTF-8" standalone="yes"?>
<Relationships xmlns="http://schemas.openxmlformats.org/package/2006/relationships"><Relationship Id="rId91" Type="http://schemas.openxmlformats.org/officeDocument/2006/relationships/slideLayout" Target="../slideLayouts/slideLayout12.xml"/><Relationship Id="rId90" Type="http://schemas.openxmlformats.org/officeDocument/2006/relationships/image" Target="../media/image36.png"/><Relationship Id="rId9" Type="http://schemas.openxmlformats.org/officeDocument/2006/relationships/tags" Target="../tags/tag466.xml"/><Relationship Id="rId89" Type="http://schemas.openxmlformats.org/officeDocument/2006/relationships/tags" Target="../tags/tag546.xml"/><Relationship Id="rId88" Type="http://schemas.openxmlformats.org/officeDocument/2006/relationships/tags" Target="../tags/tag545.xml"/><Relationship Id="rId87" Type="http://schemas.openxmlformats.org/officeDocument/2006/relationships/tags" Target="../tags/tag544.xml"/><Relationship Id="rId86" Type="http://schemas.openxmlformats.org/officeDocument/2006/relationships/tags" Target="../tags/tag543.xml"/><Relationship Id="rId85" Type="http://schemas.openxmlformats.org/officeDocument/2006/relationships/tags" Target="../tags/tag542.xml"/><Relationship Id="rId84" Type="http://schemas.openxmlformats.org/officeDocument/2006/relationships/tags" Target="../tags/tag541.xml"/><Relationship Id="rId83" Type="http://schemas.openxmlformats.org/officeDocument/2006/relationships/tags" Target="../tags/tag540.xml"/><Relationship Id="rId82" Type="http://schemas.openxmlformats.org/officeDocument/2006/relationships/tags" Target="../tags/tag539.xml"/><Relationship Id="rId81" Type="http://schemas.openxmlformats.org/officeDocument/2006/relationships/tags" Target="../tags/tag538.xml"/><Relationship Id="rId80" Type="http://schemas.openxmlformats.org/officeDocument/2006/relationships/tags" Target="../tags/tag537.xml"/><Relationship Id="rId8" Type="http://schemas.openxmlformats.org/officeDocument/2006/relationships/tags" Target="../tags/tag465.xml"/><Relationship Id="rId79" Type="http://schemas.openxmlformats.org/officeDocument/2006/relationships/tags" Target="../tags/tag536.xml"/><Relationship Id="rId78" Type="http://schemas.openxmlformats.org/officeDocument/2006/relationships/tags" Target="../tags/tag535.xml"/><Relationship Id="rId77" Type="http://schemas.openxmlformats.org/officeDocument/2006/relationships/tags" Target="../tags/tag534.xml"/><Relationship Id="rId76" Type="http://schemas.openxmlformats.org/officeDocument/2006/relationships/tags" Target="../tags/tag533.xml"/><Relationship Id="rId75" Type="http://schemas.openxmlformats.org/officeDocument/2006/relationships/tags" Target="../tags/tag532.xml"/><Relationship Id="rId74" Type="http://schemas.openxmlformats.org/officeDocument/2006/relationships/tags" Target="../tags/tag531.xml"/><Relationship Id="rId73" Type="http://schemas.openxmlformats.org/officeDocument/2006/relationships/tags" Target="../tags/tag530.xml"/><Relationship Id="rId72" Type="http://schemas.openxmlformats.org/officeDocument/2006/relationships/tags" Target="../tags/tag529.xml"/><Relationship Id="rId71" Type="http://schemas.openxmlformats.org/officeDocument/2006/relationships/tags" Target="../tags/tag528.xml"/><Relationship Id="rId70" Type="http://schemas.openxmlformats.org/officeDocument/2006/relationships/tags" Target="../tags/tag527.xml"/><Relationship Id="rId7" Type="http://schemas.openxmlformats.org/officeDocument/2006/relationships/tags" Target="../tags/tag464.xml"/><Relationship Id="rId69" Type="http://schemas.openxmlformats.org/officeDocument/2006/relationships/tags" Target="../tags/tag526.xml"/><Relationship Id="rId68" Type="http://schemas.openxmlformats.org/officeDocument/2006/relationships/tags" Target="../tags/tag525.xml"/><Relationship Id="rId67" Type="http://schemas.openxmlformats.org/officeDocument/2006/relationships/tags" Target="../tags/tag524.xml"/><Relationship Id="rId66" Type="http://schemas.openxmlformats.org/officeDocument/2006/relationships/tags" Target="../tags/tag523.xml"/><Relationship Id="rId65" Type="http://schemas.openxmlformats.org/officeDocument/2006/relationships/tags" Target="../tags/tag522.xml"/><Relationship Id="rId64" Type="http://schemas.openxmlformats.org/officeDocument/2006/relationships/tags" Target="../tags/tag521.xml"/><Relationship Id="rId63" Type="http://schemas.openxmlformats.org/officeDocument/2006/relationships/tags" Target="../tags/tag520.xml"/><Relationship Id="rId62" Type="http://schemas.openxmlformats.org/officeDocument/2006/relationships/tags" Target="../tags/tag519.xml"/><Relationship Id="rId61" Type="http://schemas.openxmlformats.org/officeDocument/2006/relationships/tags" Target="../tags/tag518.xml"/><Relationship Id="rId60" Type="http://schemas.openxmlformats.org/officeDocument/2006/relationships/tags" Target="../tags/tag517.xml"/><Relationship Id="rId6" Type="http://schemas.openxmlformats.org/officeDocument/2006/relationships/tags" Target="../tags/tag463.xml"/><Relationship Id="rId59" Type="http://schemas.openxmlformats.org/officeDocument/2006/relationships/tags" Target="../tags/tag516.xml"/><Relationship Id="rId58" Type="http://schemas.openxmlformats.org/officeDocument/2006/relationships/tags" Target="../tags/tag515.xml"/><Relationship Id="rId57" Type="http://schemas.openxmlformats.org/officeDocument/2006/relationships/tags" Target="../tags/tag514.xml"/><Relationship Id="rId56" Type="http://schemas.openxmlformats.org/officeDocument/2006/relationships/tags" Target="../tags/tag513.xml"/><Relationship Id="rId55" Type="http://schemas.openxmlformats.org/officeDocument/2006/relationships/tags" Target="../tags/tag512.xml"/><Relationship Id="rId54" Type="http://schemas.openxmlformats.org/officeDocument/2006/relationships/tags" Target="../tags/tag511.xml"/><Relationship Id="rId53" Type="http://schemas.openxmlformats.org/officeDocument/2006/relationships/tags" Target="../tags/tag510.xml"/><Relationship Id="rId52" Type="http://schemas.openxmlformats.org/officeDocument/2006/relationships/tags" Target="../tags/tag509.xml"/><Relationship Id="rId51" Type="http://schemas.openxmlformats.org/officeDocument/2006/relationships/tags" Target="../tags/tag508.xml"/><Relationship Id="rId50" Type="http://schemas.openxmlformats.org/officeDocument/2006/relationships/tags" Target="../tags/tag507.xml"/><Relationship Id="rId5" Type="http://schemas.openxmlformats.org/officeDocument/2006/relationships/tags" Target="../tags/tag462.xml"/><Relationship Id="rId49" Type="http://schemas.openxmlformats.org/officeDocument/2006/relationships/tags" Target="../tags/tag506.xml"/><Relationship Id="rId48" Type="http://schemas.openxmlformats.org/officeDocument/2006/relationships/tags" Target="../tags/tag505.xml"/><Relationship Id="rId47" Type="http://schemas.openxmlformats.org/officeDocument/2006/relationships/tags" Target="../tags/tag504.xml"/><Relationship Id="rId46" Type="http://schemas.openxmlformats.org/officeDocument/2006/relationships/tags" Target="../tags/tag503.xml"/><Relationship Id="rId45" Type="http://schemas.openxmlformats.org/officeDocument/2006/relationships/tags" Target="../tags/tag502.xml"/><Relationship Id="rId44" Type="http://schemas.openxmlformats.org/officeDocument/2006/relationships/tags" Target="../tags/tag501.xml"/><Relationship Id="rId43" Type="http://schemas.openxmlformats.org/officeDocument/2006/relationships/tags" Target="../tags/tag500.xml"/><Relationship Id="rId42" Type="http://schemas.openxmlformats.org/officeDocument/2006/relationships/tags" Target="../tags/tag499.xml"/><Relationship Id="rId41" Type="http://schemas.openxmlformats.org/officeDocument/2006/relationships/tags" Target="../tags/tag498.xml"/><Relationship Id="rId40" Type="http://schemas.openxmlformats.org/officeDocument/2006/relationships/tags" Target="../tags/tag497.xml"/><Relationship Id="rId4" Type="http://schemas.openxmlformats.org/officeDocument/2006/relationships/tags" Target="../tags/tag461.xml"/><Relationship Id="rId39" Type="http://schemas.openxmlformats.org/officeDocument/2006/relationships/tags" Target="../tags/tag496.xml"/><Relationship Id="rId38" Type="http://schemas.openxmlformats.org/officeDocument/2006/relationships/tags" Target="../tags/tag495.xml"/><Relationship Id="rId37" Type="http://schemas.openxmlformats.org/officeDocument/2006/relationships/tags" Target="../tags/tag494.xml"/><Relationship Id="rId36" Type="http://schemas.openxmlformats.org/officeDocument/2006/relationships/tags" Target="../tags/tag493.xml"/><Relationship Id="rId35" Type="http://schemas.openxmlformats.org/officeDocument/2006/relationships/tags" Target="../tags/tag492.xml"/><Relationship Id="rId34" Type="http://schemas.openxmlformats.org/officeDocument/2006/relationships/tags" Target="../tags/tag491.xml"/><Relationship Id="rId33" Type="http://schemas.openxmlformats.org/officeDocument/2006/relationships/tags" Target="../tags/tag490.xml"/><Relationship Id="rId32" Type="http://schemas.openxmlformats.org/officeDocument/2006/relationships/tags" Target="../tags/tag489.xml"/><Relationship Id="rId31" Type="http://schemas.openxmlformats.org/officeDocument/2006/relationships/tags" Target="../tags/tag488.xml"/><Relationship Id="rId30" Type="http://schemas.openxmlformats.org/officeDocument/2006/relationships/tags" Target="../tags/tag487.xml"/><Relationship Id="rId3" Type="http://schemas.openxmlformats.org/officeDocument/2006/relationships/tags" Target="../tags/tag460.xml"/><Relationship Id="rId29" Type="http://schemas.openxmlformats.org/officeDocument/2006/relationships/tags" Target="../tags/tag486.xml"/><Relationship Id="rId28" Type="http://schemas.openxmlformats.org/officeDocument/2006/relationships/tags" Target="../tags/tag485.xml"/><Relationship Id="rId27" Type="http://schemas.openxmlformats.org/officeDocument/2006/relationships/tags" Target="../tags/tag484.xml"/><Relationship Id="rId26" Type="http://schemas.openxmlformats.org/officeDocument/2006/relationships/tags" Target="../tags/tag483.xml"/><Relationship Id="rId25" Type="http://schemas.openxmlformats.org/officeDocument/2006/relationships/tags" Target="../tags/tag482.xml"/><Relationship Id="rId24" Type="http://schemas.openxmlformats.org/officeDocument/2006/relationships/tags" Target="../tags/tag481.xml"/><Relationship Id="rId23" Type="http://schemas.openxmlformats.org/officeDocument/2006/relationships/tags" Target="../tags/tag480.xml"/><Relationship Id="rId22" Type="http://schemas.openxmlformats.org/officeDocument/2006/relationships/tags" Target="../tags/tag479.xml"/><Relationship Id="rId21" Type="http://schemas.openxmlformats.org/officeDocument/2006/relationships/tags" Target="../tags/tag478.xml"/><Relationship Id="rId20" Type="http://schemas.openxmlformats.org/officeDocument/2006/relationships/tags" Target="../tags/tag477.xml"/><Relationship Id="rId2" Type="http://schemas.openxmlformats.org/officeDocument/2006/relationships/image" Target="../media/image203.svg"/><Relationship Id="rId19" Type="http://schemas.openxmlformats.org/officeDocument/2006/relationships/tags" Target="../tags/tag476.xml"/><Relationship Id="rId18" Type="http://schemas.openxmlformats.org/officeDocument/2006/relationships/tags" Target="../tags/tag475.xml"/><Relationship Id="rId17" Type="http://schemas.openxmlformats.org/officeDocument/2006/relationships/tags" Target="../tags/tag474.xml"/><Relationship Id="rId16" Type="http://schemas.openxmlformats.org/officeDocument/2006/relationships/tags" Target="../tags/tag473.xml"/><Relationship Id="rId15" Type="http://schemas.openxmlformats.org/officeDocument/2006/relationships/tags" Target="../tags/tag472.xml"/><Relationship Id="rId14" Type="http://schemas.openxmlformats.org/officeDocument/2006/relationships/tags" Target="../tags/tag471.xml"/><Relationship Id="rId13" Type="http://schemas.openxmlformats.org/officeDocument/2006/relationships/tags" Target="../tags/tag470.xml"/><Relationship Id="rId12" Type="http://schemas.openxmlformats.org/officeDocument/2006/relationships/tags" Target="../tags/tag469.xml"/><Relationship Id="rId11" Type="http://schemas.openxmlformats.org/officeDocument/2006/relationships/tags" Target="../tags/tag468.xml"/><Relationship Id="rId10" Type="http://schemas.openxmlformats.org/officeDocument/2006/relationships/tags" Target="../tags/tag467.xml"/><Relationship Id="rId1" Type="http://schemas.openxmlformats.org/officeDocument/2006/relationships/image" Target="../media/image21.png"/></Relationships>
</file>

<file path=ppt/slides/_rels/slide38.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204.svg"/><Relationship Id="rId5" Type="http://schemas.openxmlformats.org/officeDocument/2006/relationships/image" Target="../media/image21.png"/><Relationship Id="rId4" Type="http://schemas.openxmlformats.org/officeDocument/2006/relationships/chart" Target="../charts/chart5.xml"/><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chart" Target="../charts/chart2.xml"/></Relationships>
</file>

<file path=ppt/slides/_rels/slide3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96.svg"/><Relationship Id="rId1" Type="http://schemas.openxmlformats.org/officeDocument/2006/relationships/image" Target="../media/image79.png"/></Relationships>
</file>

<file path=ppt/slides/_rels/slide40.xml.rels><?xml version="1.0" encoding="UTF-8" standalone="yes"?>
<Relationships xmlns="http://schemas.openxmlformats.org/package/2006/relationships"><Relationship Id="rId9" Type="http://schemas.openxmlformats.org/officeDocument/2006/relationships/image" Target="../media/image36.png"/><Relationship Id="rId8" Type="http://schemas.openxmlformats.org/officeDocument/2006/relationships/tags" Target="../tags/tag552.xml"/><Relationship Id="rId7" Type="http://schemas.openxmlformats.org/officeDocument/2006/relationships/tags" Target="../tags/tag551.xml"/><Relationship Id="rId6" Type="http://schemas.openxmlformats.org/officeDocument/2006/relationships/tags" Target="../tags/tag550.xml"/><Relationship Id="rId5" Type="http://schemas.openxmlformats.org/officeDocument/2006/relationships/tags" Target="../tags/tag549.xml"/><Relationship Id="rId4" Type="http://schemas.openxmlformats.org/officeDocument/2006/relationships/tags" Target="../tags/tag548.xml"/><Relationship Id="rId3" Type="http://schemas.openxmlformats.org/officeDocument/2006/relationships/tags" Target="../tags/tag547.xml"/><Relationship Id="rId2" Type="http://schemas.openxmlformats.org/officeDocument/2006/relationships/image" Target="../media/image205.svg"/><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41.xml.rels><?xml version="1.0" encoding="UTF-8" standalone="yes"?>
<Relationships xmlns="http://schemas.openxmlformats.org/package/2006/relationships"><Relationship Id="rId9" Type="http://schemas.openxmlformats.org/officeDocument/2006/relationships/tags" Target="../tags/tag559.xml"/><Relationship Id="rId8" Type="http://schemas.openxmlformats.org/officeDocument/2006/relationships/tags" Target="../tags/tag558.xml"/><Relationship Id="rId7" Type="http://schemas.openxmlformats.org/officeDocument/2006/relationships/tags" Target="../tags/tag557.xml"/><Relationship Id="rId6" Type="http://schemas.openxmlformats.org/officeDocument/2006/relationships/tags" Target="../tags/tag556.xml"/><Relationship Id="rId5" Type="http://schemas.openxmlformats.org/officeDocument/2006/relationships/tags" Target="../tags/tag555.xml"/><Relationship Id="rId4" Type="http://schemas.openxmlformats.org/officeDocument/2006/relationships/tags" Target="../tags/tag554.xml"/><Relationship Id="rId3" Type="http://schemas.openxmlformats.org/officeDocument/2006/relationships/image" Target="../media/image131.svg"/><Relationship Id="rId2" Type="http://schemas.openxmlformats.org/officeDocument/2006/relationships/image" Target="../media/image21.png"/><Relationship Id="rId15" Type="http://schemas.openxmlformats.org/officeDocument/2006/relationships/slideLayout" Target="../slideLayouts/slideLayout12.xml"/><Relationship Id="rId14" Type="http://schemas.openxmlformats.org/officeDocument/2006/relationships/image" Target="../media/image36.png"/><Relationship Id="rId13" Type="http://schemas.openxmlformats.org/officeDocument/2006/relationships/tags" Target="../tags/tag563.xml"/><Relationship Id="rId12" Type="http://schemas.openxmlformats.org/officeDocument/2006/relationships/tags" Target="../tags/tag562.xml"/><Relationship Id="rId11" Type="http://schemas.openxmlformats.org/officeDocument/2006/relationships/tags" Target="../tags/tag561.xml"/><Relationship Id="rId10" Type="http://schemas.openxmlformats.org/officeDocument/2006/relationships/tags" Target="../tags/tag560.xml"/><Relationship Id="rId1" Type="http://schemas.openxmlformats.org/officeDocument/2006/relationships/tags" Target="../tags/tag553.xml"/></Relationships>
</file>

<file path=ppt/slides/_rels/slide42.xml.rels><?xml version="1.0" encoding="UTF-8" standalone="yes"?>
<Relationships xmlns="http://schemas.openxmlformats.org/package/2006/relationships"><Relationship Id="rId5" Type="http://schemas.openxmlformats.org/officeDocument/2006/relationships/notesSlide" Target="../notesSlides/notesSlide13.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206.svg"/><Relationship Id="rId1" Type="http://schemas.openxmlformats.org/officeDocument/2006/relationships/image" Target="../media/image21.png"/></Relationships>
</file>

<file path=ppt/slides/_rels/slide43.xml.rels><?xml version="1.0" encoding="UTF-8" standalone="yes"?>
<Relationships xmlns="http://schemas.openxmlformats.org/package/2006/relationships"><Relationship Id="rId9" Type="http://schemas.openxmlformats.org/officeDocument/2006/relationships/tags" Target="../tags/tag570.xml"/><Relationship Id="rId8" Type="http://schemas.openxmlformats.org/officeDocument/2006/relationships/tags" Target="../tags/tag569.xml"/><Relationship Id="rId7" Type="http://schemas.openxmlformats.org/officeDocument/2006/relationships/tags" Target="../tags/tag568.xml"/><Relationship Id="rId6" Type="http://schemas.openxmlformats.org/officeDocument/2006/relationships/tags" Target="../tags/tag567.xml"/><Relationship Id="rId5" Type="http://schemas.openxmlformats.org/officeDocument/2006/relationships/tags" Target="../tags/tag566.xml"/><Relationship Id="rId4" Type="http://schemas.openxmlformats.org/officeDocument/2006/relationships/tags" Target="../tags/tag565.xml"/><Relationship Id="rId3" Type="http://schemas.openxmlformats.org/officeDocument/2006/relationships/tags" Target="../tags/tag564.xml"/><Relationship Id="rId2" Type="http://schemas.openxmlformats.org/officeDocument/2006/relationships/image" Target="../media/image196.svg"/><Relationship Id="rId18" Type="http://schemas.openxmlformats.org/officeDocument/2006/relationships/notesSlide" Target="../notesSlides/notesSlide14.xml"/><Relationship Id="rId17" Type="http://schemas.openxmlformats.org/officeDocument/2006/relationships/slideLayout" Target="../slideLayouts/slideLayout12.xml"/><Relationship Id="rId16" Type="http://schemas.openxmlformats.org/officeDocument/2006/relationships/image" Target="../media/image36.png"/><Relationship Id="rId15" Type="http://schemas.openxmlformats.org/officeDocument/2006/relationships/tags" Target="../tags/tag576.xml"/><Relationship Id="rId14" Type="http://schemas.openxmlformats.org/officeDocument/2006/relationships/tags" Target="../tags/tag575.xml"/><Relationship Id="rId13" Type="http://schemas.openxmlformats.org/officeDocument/2006/relationships/tags" Target="../tags/tag574.xml"/><Relationship Id="rId12" Type="http://schemas.openxmlformats.org/officeDocument/2006/relationships/tags" Target="../tags/tag573.xml"/><Relationship Id="rId11" Type="http://schemas.openxmlformats.org/officeDocument/2006/relationships/tags" Target="../tags/tag572.xml"/><Relationship Id="rId10" Type="http://schemas.openxmlformats.org/officeDocument/2006/relationships/tags" Target="../tags/tag571.xml"/><Relationship Id="rId1" Type="http://schemas.openxmlformats.org/officeDocument/2006/relationships/image" Target="../media/image79.png"/></Relationships>
</file>

<file path=ppt/slides/_rels/slide44.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210.png"/><Relationship Id="rId5" Type="http://schemas.openxmlformats.org/officeDocument/2006/relationships/image" Target="../media/image209.png"/><Relationship Id="rId4" Type="http://schemas.openxmlformats.org/officeDocument/2006/relationships/image" Target="../media/image208.svg"/><Relationship Id="rId3" Type="http://schemas.openxmlformats.org/officeDocument/2006/relationships/image" Target="../media/image207.png"/><Relationship Id="rId2" Type="http://schemas.openxmlformats.org/officeDocument/2006/relationships/image" Target="../media/image196.svg"/><Relationship Id="rId1" Type="http://schemas.openxmlformats.org/officeDocument/2006/relationships/image" Target="../media/image79.png"/></Relationships>
</file>

<file path=ppt/slides/_rels/slide45.xml.rels><?xml version="1.0" encoding="UTF-8" standalone="yes"?>
<Relationships xmlns="http://schemas.openxmlformats.org/package/2006/relationships"><Relationship Id="rId99" Type="http://schemas.openxmlformats.org/officeDocument/2006/relationships/tags" Target="../tags/tag657.xml"/><Relationship Id="rId98" Type="http://schemas.openxmlformats.org/officeDocument/2006/relationships/tags" Target="../tags/tag656.xml"/><Relationship Id="rId97" Type="http://schemas.openxmlformats.org/officeDocument/2006/relationships/tags" Target="../tags/tag655.xml"/><Relationship Id="rId96" Type="http://schemas.openxmlformats.org/officeDocument/2006/relationships/tags" Target="../tags/tag654.xml"/><Relationship Id="rId95" Type="http://schemas.openxmlformats.org/officeDocument/2006/relationships/tags" Target="../tags/tag653.xml"/><Relationship Id="rId94" Type="http://schemas.openxmlformats.org/officeDocument/2006/relationships/tags" Target="../tags/tag652.xml"/><Relationship Id="rId93" Type="http://schemas.openxmlformats.org/officeDocument/2006/relationships/tags" Target="../tags/tag651.xml"/><Relationship Id="rId92" Type="http://schemas.openxmlformats.org/officeDocument/2006/relationships/tags" Target="../tags/tag650.xml"/><Relationship Id="rId91" Type="http://schemas.openxmlformats.org/officeDocument/2006/relationships/tags" Target="../tags/tag649.xml"/><Relationship Id="rId90" Type="http://schemas.openxmlformats.org/officeDocument/2006/relationships/tags" Target="../tags/tag648.xml"/><Relationship Id="rId9" Type="http://schemas.openxmlformats.org/officeDocument/2006/relationships/tags" Target="../tags/tag583.xml"/><Relationship Id="rId89" Type="http://schemas.openxmlformats.org/officeDocument/2006/relationships/tags" Target="../tags/tag647.xml"/><Relationship Id="rId88" Type="http://schemas.openxmlformats.org/officeDocument/2006/relationships/tags" Target="../tags/tag646.xml"/><Relationship Id="rId87" Type="http://schemas.openxmlformats.org/officeDocument/2006/relationships/tags" Target="../tags/tag645.xml"/><Relationship Id="rId86" Type="http://schemas.openxmlformats.org/officeDocument/2006/relationships/tags" Target="../tags/tag644.xml"/><Relationship Id="rId85" Type="http://schemas.openxmlformats.org/officeDocument/2006/relationships/tags" Target="../tags/tag643.xml"/><Relationship Id="rId84" Type="http://schemas.openxmlformats.org/officeDocument/2006/relationships/tags" Target="../tags/tag642.xml"/><Relationship Id="rId83" Type="http://schemas.openxmlformats.org/officeDocument/2006/relationships/tags" Target="../tags/tag641.xml"/><Relationship Id="rId82" Type="http://schemas.openxmlformats.org/officeDocument/2006/relationships/tags" Target="../tags/tag640.xml"/><Relationship Id="rId81" Type="http://schemas.openxmlformats.org/officeDocument/2006/relationships/tags" Target="../tags/tag639.xml"/><Relationship Id="rId80" Type="http://schemas.openxmlformats.org/officeDocument/2006/relationships/tags" Target="../tags/tag638.xml"/><Relationship Id="rId8" Type="http://schemas.openxmlformats.org/officeDocument/2006/relationships/tags" Target="../tags/tag582.xml"/><Relationship Id="rId79" Type="http://schemas.openxmlformats.org/officeDocument/2006/relationships/tags" Target="../tags/tag637.xml"/><Relationship Id="rId78" Type="http://schemas.openxmlformats.org/officeDocument/2006/relationships/tags" Target="../tags/tag636.xml"/><Relationship Id="rId77" Type="http://schemas.openxmlformats.org/officeDocument/2006/relationships/tags" Target="../tags/tag635.xml"/><Relationship Id="rId76" Type="http://schemas.openxmlformats.org/officeDocument/2006/relationships/tags" Target="../tags/tag634.xml"/><Relationship Id="rId75" Type="http://schemas.openxmlformats.org/officeDocument/2006/relationships/tags" Target="../tags/tag633.xml"/><Relationship Id="rId74" Type="http://schemas.openxmlformats.org/officeDocument/2006/relationships/tags" Target="../tags/tag632.xml"/><Relationship Id="rId73" Type="http://schemas.openxmlformats.org/officeDocument/2006/relationships/tags" Target="../tags/tag631.xml"/><Relationship Id="rId72" Type="http://schemas.openxmlformats.org/officeDocument/2006/relationships/tags" Target="../tags/tag630.xml"/><Relationship Id="rId71" Type="http://schemas.openxmlformats.org/officeDocument/2006/relationships/tags" Target="../tags/tag629.xml"/><Relationship Id="rId70" Type="http://schemas.openxmlformats.org/officeDocument/2006/relationships/tags" Target="../tags/tag628.xml"/><Relationship Id="rId7" Type="http://schemas.openxmlformats.org/officeDocument/2006/relationships/tags" Target="../tags/tag581.xml"/><Relationship Id="rId69" Type="http://schemas.openxmlformats.org/officeDocument/2006/relationships/tags" Target="../tags/tag627.xml"/><Relationship Id="rId68" Type="http://schemas.openxmlformats.org/officeDocument/2006/relationships/tags" Target="../tags/tag626.xml"/><Relationship Id="rId67" Type="http://schemas.openxmlformats.org/officeDocument/2006/relationships/tags" Target="../tags/tag625.xml"/><Relationship Id="rId66" Type="http://schemas.openxmlformats.org/officeDocument/2006/relationships/tags" Target="../tags/tag624.xml"/><Relationship Id="rId65" Type="http://schemas.openxmlformats.org/officeDocument/2006/relationships/tags" Target="../tags/tag623.xml"/><Relationship Id="rId64" Type="http://schemas.openxmlformats.org/officeDocument/2006/relationships/tags" Target="../tags/tag622.xml"/><Relationship Id="rId63" Type="http://schemas.openxmlformats.org/officeDocument/2006/relationships/tags" Target="../tags/tag621.xml"/><Relationship Id="rId62" Type="http://schemas.openxmlformats.org/officeDocument/2006/relationships/tags" Target="../tags/tag620.xml"/><Relationship Id="rId61" Type="http://schemas.openxmlformats.org/officeDocument/2006/relationships/tags" Target="../tags/tag619.xml"/><Relationship Id="rId60" Type="http://schemas.openxmlformats.org/officeDocument/2006/relationships/tags" Target="../tags/tag618.xml"/><Relationship Id="rId6" Type="http://schemas.openxmlformats.org/officeDocument/2006/relationships/tags" Target="../tags/tag580.xml"/><Relationship Id="rId59" Type="http://schemas.openxmlformats.org/officeDocument/2006/relationships/tags" Target="../tags/tag617.xml"/><Relationship Id="rId58" Type="http://schemas.openxmlformats.org/officeDocument/2006/relationships/tags" Target="../tags/tag616.xml"/><Relationship Id="rId57" Type="http://schemas.openxmlformats.org/officeDocument/2006/relationships/tags" Target="../tags/tag615.xml"/><Relationship Id="rId56" Type="http://schemas.openxmlformats.org/officeDocument/2006/relationships/tags" Target="../tags/tag614.xml"/><Relationship Id="rId55" Type="http://schemas.openxmlformats.org/officeDocument/2006/relationships/tags" Target="../tags/tag613.xml"/><Relationship Id="rId54" Type="http://schemas.openxmlformats.org/officeDocument/2006/relationships/tags" Target="../tags/tag612.xml"/><Relationship Id="rId53" Type="http://schemas.openxmlformats.org/officeDocument/2006/relationships/tags" Target="../tags/tag611.xml"/><Relationship Id="rId52" Type="http://schemas.openxmlformats.org/officeDocument/2006/relationships/tags" Target="../tags/tag610.xml"/><Relationship Id="rId51" Type="http://schemas.openxmlformats.org/officeDocument/2006/relationships/tags" Target="../tags/tag609.xml"/><Relationship Id="rId50" Type="http://schemas.openxmlformats.org/officeDocument/2006/relationships/tags" Target="../tags/tag608.xml"/><Relationship Id="rId5" Type="http://schemas.openxmlformats.org/officeDocument/2006/relationships/tags" Target="../tags/tag579.xml"/><Relationship Id="rId49" Type="http://schemas.openxmlformats.org/officeDocument/2006/relationships/tags" Target="../tags/tag607.xml"/><Relationship Id="rId48" Type="http://schemas.openxmlformats.org/officeDocument/2006/relationships/image" Target="../media/image227.svg"/><Relationship Id="rId47" Type="http://schemas.openxmlformats.org/officeDocument/2006/relationships/image" Target="../media/image226.png"/><Relationship Id="rId46" Type="http://schemas.openxmlformats.org/officeDocument/2006/relationships/image" Target="../media/image225.svg"/><Relationship Id="rId45" Type="http://schemas.openxmlformats.org/officeDocument/2006/relationships/image" Target="../media/image224.png"/><Relationship Id="rId44" Type="http://schemas.openxmlformats.org/officeDocument/2006/relationships/image" Target="../media/image223.svg"/><Relationship Id="rId43" Type="http://schemas.openxmlformats.org/officeDocument/2006/relationships/image" Target="../media/image222.png"/><Relationship Id="rId42" Type="http://schemas.openxmlformats.org/officeDocument/2006/relationships/image" Target="../media/image221.svg"/><Relationship Id="rId41" Type="http://schemas.openxmlformats.org/officeDocument/2006/relationships/image" Target="../media/image220.png"/><Relationship Id="rId40" Type="http://schemas.openxmlformats.org/officeDocument/2006/relationships/image" Target="../media/image219.svg"/><Relationship Id="rId4" Type="http://schemas.openxmlformats.org/officeDocument/2006/relationships/tags" Target="../tags/tag578.xml"/><Relationship Id="rId39" Type="http://schemas.openxmlformats.org/officeDocument/2006/relationships/image" Target="../media/image218.png"/><Relationship Id="rId38" Type="http://schemas.openxmlformats.org/officeDocument/2006/relationships/image" Target="../media/image217.svg"/><Relationship Id="rId37" Type="http://schemas.openxmlformats.org/officeDocument/2006/relationships/image" Target="../media/image216.png"/><Relationship Id="rId36" Type="http://schemas.openxmlformats.org/officeDocument/2006/relationships/tags" Target="../tags/tag606.xml"/><Relationship Id="rId35" Type="http://schemas.openxmlformats.org/officeDocument/2006/relationships/tags" Target="../tags/tag605.xml"/><Relationship Id="rId34" Type="http://schemas.openxmlformats.org/officeDocument/2006/relationships/tags" Target="../tags/tag604.xml"/><Relationship Id="rId33" Type="http://schemas.openxmlformats.org/officeDocument/2006/relationships/tags" Target="../tags/tag603.xml"/><Relationship Id="rId32" Type="http://schemas.openxmlformats.org/officeDocument/2006/relationships/tags" Target="../tags/tag602.xml"/><Relationship Id="rId31" Type="http://schemas.openxmlformats.org/officeDocument/2006/relationships/tags" Target="../tags/tag601.xml"/><Relationship Id="rId30" Type="http://schemas.openxmlformats.org/officeDocument/2006/relationships/tags" Target="../tags/tag600.xml"/><Relationship Id="rId3" Type="http://schemas.openxmlformats.org/officeDocument/2006/relationships/image" Target="../media/image211.svg"/><Relationship Id="rId29" Type="http://schemas.openxmlformats.org/officeDocument/2006/relationships/tags" Target="../tags/tag599.xml"/><Relationship Id="rId28" Type="http://schemas.openxmlformats.org/officeDocument/2006/relationships/tags" Target="../tags/tag598.xml"/><Relationship Id="rId27" Type="http://schemas.openxmlformats.org/officeDocument/2006/relationships/tags" Target="../tags/tag597.xml"/><Relationship Id="rId26" Type="http://schemas.openxmlformats.org/officeDocument/2006/relationships/tags" Target="../tags/tag596.xml"/><Relationship Id="rId25" Type="http://schemas.openxmlformats.org/officeDocument/2006/relationships/tags" Target="../tags/tag595.xml"/><Relationship Id="rId24" Type="http://schemas.openxmlformats.org/officeDocument/2006/relationships/image" Target="../media/image215.svg"/><Relationship Id="rId23" Type="http://schemas.openxmlformats.org/officeDocument/2006/relationships/image" Target="../media/image214.png"/><Relationship Id="rId22" Type="http://schemas.openxmlformats.org/officeDocument/2006/relationships/tags" Target="../tags/tag594.xml"/><Relationship Id="rId21" Type="http://schemas.openxmlformats.org/officeDocument/2006/relationships/image" Target="../media/image213.svg"/><Relationship Id="rId20" Type="http://schemas.openxmlformats.org/officeDocument/2006/relationships/image" Target="../media/image212.png"/><Relationship Id="rId2" Type="http://schemas.openxmlformats.org/officeDocument/2006/relationships/image" Target="../media/image79.png"/><Relationship Id="rId19" Type="http://schemas.openxmlformats.org/officeDocument/2006/relationships/tags" Target="../tags/tag593.xml"/><Relationship Id="rId18" Type="http://schemas.openxmlformats.org/officeDocument/2006/relationships/tags" Target="../tags/tag592.xml"/><Relationship Id="rId176" Type="http://schemas.openxmlformats.org/officeDocument/2006/relationships/slideLayout" Target="../slideLayouts/slideLayout12.xml"/><Relationship Id="rId175" Type="http://schemas.openxmlformats.org/officeDocument/2006/relationships/image" Target="../media/image36.png"/><Relationship Id="rId174" Type="http://schemas.openxmlformats.org/officeDocument/2006/relationships/tags" Target="../tags/tag723.xml"/><Relationship Id="rId173" Type="http://schemas.openxmlformats.org/officeDocument/2006/relationships/tags" Target="../tags/tag722.xml"/><Relationship Id="rId172" Type="http://schemas.openxmlformats.org/officeDocument/2006/relationships/tags" Target="../tags/tag721.xml"/><Relationship Id="rId171" Type="http://schemas.openxmlformats.org/officeDocument/2006/relationships/tags" Target="../tags/tag720.xml"/><Relationship Id="rId170" Type="http://schemas.openxmlformats.org/officeDocument/2006/relationships/tags" Target="../tags/tag719.xml"/><Relationship Id="rId17" Type="http://schemas.openxmlformats.org/officeDocument/2006/relationships/tags" Target="../tags/tag591.xml"/><Relationship Id="rId169" Type="http://schemas.openxmlformats.org/officeDocument/2006/relationships/tags" Target="../tags/tag718.xml"/><Relationship Id="rId168" Type="http://schemas.openxmlformats.org/officeDocument/2006/relationships/tags" Target="../tags/tag717.xml"/><Relationship Id="rId167" Type="http://schemas.openxmlformats.org/officeDocument/2006/relationships/tags" Target="../tags/tag716.xml"/><Relationship Id="rId166" Type="http://schemas.openxmlformats.org/officeDocument/2006/relationships/tags" Target="../tags/tag715.xml"/><Relationship Id="rId165" Type="http://schemas.openxmlformats.org/officeDocument/2006/relationships/tags" Target="../tags/tag714.xml"/><Relationship Id="rId164" Type="http://schemas.openxmlformats.org/officeDocument/2006/relationships/tags" Target="../tags/tag713.xml"/><Relationship Id="rId163" Type="http://schemas.openxmlformats.org/officeDocument/2006/relationships/tags" Target="../tags/tag712.xml"/><Relationship Id="rId162" Type="http://schemas.openxmlformats.org/officeDocument/2006/relationships/tags" Target="../tags/tag711.xml"/><Relationship Id="rId161" Type="http://schemas.openxmlformats.org/officeDocument/2006/relationships/tags" Target="../tags/tag710.xml"/><Relationship Id="rId160" Type="http://schemas.openxmlformats.org/officeDocument/2006/relationships/tags" Target="../tags/tag709.xml"/><Relationship Id="rId16" Type="http://schemas.openxmlformats.org/officeDocument/2006/relationships/tags" Target="../tags/tag590.xml"/><Relationship Id="rId159" Type="http://schemas.openxmlformats.org/officeDocument/2006/relationships/tags" Target="../tags/tag708.xml"/><Relationship Id="rId158" Type="http://schemas.openxmlformats.org/officeDocument/2006/relationships/tags" Target="../tags/tag707.xml"/><Relationship Id="rId157" Type="http://schemas.openxmlformats.org/officeDocument/2006/relationships/tags" Target="../tags/tag706.xml"/><Relationship Id="rId156" Type="http://schemas.openxmlformats.org/officeDocument/2006/relationships/tags" Target="../tags/tag705.xml"/><Relationship Id="rId155" Type="http://schemas.openxmlformats.org/officeDocument/2006/relationships/tags" Target="../tags/tag704.xml"/><Relationship Id="rId154" Type="http://schemas.openxmlformats.org/officeDocument/2006/relationships/tags" Target="../tags/tag703.xml"/><Relationship Id="rId153" Type="http://schemas.openxmlformats.org/officeDocument/2006/relationships/tags" Target="../tags/tag702.xml"/><Relationship Id="rId152" Type="http://schemas.openxmlformats.org/officeDocument/2006/relationships/tags" Target="../tags/tag701.xml"/><Relationship Id="rId151" Type="http://schemas.openxmlformats.org/officeDocument/2006/relationships/tags" Target="../tags/tag700.xml"/><Relationship Id="rId150" Type="http://schemas.openxmlformats.org/officeDocument/2006/relationships/tags" Target="../tags/tag699.xml"/><Relationship Id="rId15" Type="http://schemas.openxmlformats.org/officeDocument/2006/relationships/tags" Target="../tags/tag589.xml"/><Relationship Id="rId149" Type="http://schemas.openxmlformats.org/officeDocument/2006/relationships/tags" Target="../tags/tag698.xml"/><Relationship Id="rId148" Type="http://schemas.openxmlformats.org/officeDocument/2006/relationships/tags" Target="../tags/tag697.xml"/><Relationship Id="rId147" Type="http://schemas.openxmlformats.org/officeDocument/2006/relationships/tags" Target="../tags/tag696.xml"/><Relationship Id="rId146" Type="http://schemas.openxmlformats.org/officeDocument/2006/relationships/tags" Target="../tags/tag695.xml"/><Relationship Id="rId145" Type="http://schemas.openxmlformats.org/officeDocument/2006/relationships/tags" Target="../tags/tag694.xml"/><Relationship Id="rId144" Type="http://schemas.openxmlformats.org/officeDocument/2006/relationships/tags" Target="../tags/tag693.xml"/><Relationship Id="rId143" Type="http://schemas.openxmlformats.org/officeDocument/2006/relationships/tags" Target="../tags/tag692.xml"/><Relationship Id="rId142" Type="http://schemas.openxmlformats.org/officeDocument/2006/relationships/tags" Target="../tags/tag691.xml"/><Relationship Id="rId141" Type="http://schemas.openxmlformats.org/officeDocument/2006/relationships/image" Target="../media/image236.svg"/><Relationship Id="rId140" Type="http://schemas.openxmlformats.org/officeDocument/2006/relationships/tags" Target="../tags/tag690.xml"/><Relationship Id="rId14" Type="http://schemas.openxmlformats.org/officeDocument/2006/relationships/tags" Target="../tags/tag588.xml"/><Relationship Id="rId139" Type="http://schemas.openxmlformats.org/officeDocument/2006/relationships/image" Target="../media/image235.svg"/><Relationship Id="rId138" Type="http://schemas.openxmlformats.org/officeDocument/2006/relationships/tags" Target="../tags/tag689.xml"/><Relationship Id="rId137" Type="http://schemas.openxmlformats.org/officeDocument/2006/relationships/image" Target="../media/image234.svg"/><Relationship Id="rId136" Type="http://schemas.openxmlformats.org/officeDocument/2006/relationships/tags" Target="../tags/tag688.xml"/><Relationship Id="rId135" Type="http://schemas.openxmlformats.org/officeDocument/2006/relationships/image" Target="../media/image233.svg"/><Relationship Id="rId134" Type="http://schemas.openxmlformats.org/officeDocument/2006/relationships/tags" Target="../tags/tag687.xml"/><Relationship Id="rId133" Type="http://schemas.openxmlformats.org/officeDocument/2006/relationships/image" Target="../media/image232.svg"/><Relationship Id="rId132" Type="http://schemas.openxmlformats.org/officeDocument/2006/relationships/tags" Target="../tags/tag686.xml"/><Relationship Id="rId131" Type="http://schemas.openxmlformats.org/officeDocument/2006/relationships/image" Target="../media/image231.svg"/><Relationship Id="rId130" Type="http://schemas.openxmlformats.org/officeDocument/2006/relationships/tags" Target="../tags/tag685.xml"/><Relationship Id="rId13" Type="http://schemas.openxmlformats.org/officeDocument/2006/relationships/tags" Target="../tags/tag587.xml"/><Relationship Id="rId129" Type="http://schemas.openxmlformats.org/officeDocument/2006/relationships/image" Target="../media/image230.svg"/><Relationship Id="rId128" Type="http://schemas.openxmlformats.org/officeDocument/2006/relationships/tags" Target="../tags/tag684.xml"/><Relationship Id="rId127" Type="http://schemas.openxmlformats.org/officeDocument/2006/relationships/image" Target="../media/image229.svg"/><Relationship Id="rId126" Type="http://schemas.openxmlformats.org/officeDocument/2006/relationships/image" Target="../media/image228.png"/><Relationship Id="rId125" Type="http://schemas.openxmlformats.org/officeDocument/2006/relationships/tags" Target="../tags/tag683.xml"/><Relationship Id="rId124" Type="http://schemas.openxmlformats.org/officeDocument/2006/relationships/tags" Target="../tags/tag682.xml"/><Relationship Id="rId123" Type="http://schemas.openxmlformats.org/officeDocument/2006/relationships/tags" Target="../tags/tag681.xml"/><Relationship Id="rId122" Type="http://schemas.openxmlformats.org/officeDocument/2006/relationships/tags" Target="../tags/tag680.xml"/><Relationship Id="rId121" Type="http://schemas.openxmlformats.org/officeDocument/2006/relationships/tags" Target="../tags/tag679.xml"/><Relationship Id="rId120" Type="http://schemas.openxmlformats.org/officeDocument/2006/relationships/tags" Target="../tags/tag678.xml"/><Relationship Id="rId12" Type="http://schemas.openxmlformats.org/officeDocument/2006/relationships/tags" Target="../tags/tag586.xml"/><Relationship Id="rId119" Type="http://schemas.openxmlformats.org/officeDocument/2006/relationships/tags" Target="../tags/tag677.xml"/><Relationship Id="rId118" Type="http://schemas.openxmlformats.org/officeDocument/2006/relationships/tags" Target="../tags/tag676.xml"/><Relationship Id="rId117" Type="http://schemas.openxmlformats.org/officeDocument/2006/relationships/tags" Target="../tags/tag675.xml"/><Relationship Id="rId116" Type="http://schemas.openxmlformats.org/officeDocument/2006/relationships/tags" Target="../tags/tag674.xml"/><Relationship Id="rId115" Type="http://schemas.openxmlformats.org/officeDocument/2006/relationships/tags" Target="../tags/tag673.xml"/><Relationship Id="rId114" Type="http://schemas.openxmlformats.org/officeDocument/2006/relationships/tags" Target="../tags/tag672.xml"/><Relationship Id="rId113" Type="http://schemas.openxmlformats.org/officeDocument/2006/relationships/tags" Target="../tags/tag671.xml"/><Relationship Id="rId112" Type="http://schemas.openxmlformats.org/officeDocument/2006/relationships/tags" Target="../tags/tag670.xml"/><Relationship Id="rId111" Type="http://schemas.openxmlformats.org/officeDocument/2006/relationships/tags" Target="../tags/tag669.xml"/><Relationship Id="rId110" Type="http://schemas.openxmlformats.org/officeDocument/2006/relationships/tags" Target="../tags/tag668.xml"/><Relationship Id="rId11" Type="http://schemas.openxmlformats.org/officeDocument/2006/relationships/tags" Target="../tags/tag585.xml"/><Relationship Id="rId109" Type="http://schemas.openxmlformats.org/officeDocument/2006/relationships/tags" Target="../tags/tag667.xml"/><Relationship Id="rId108" Type="http://schemas.openxmlformats.org/officeDocument/2006/relationships/tags" Target="../tags/tag666.xml"/><Relationship Id="rId107" Type="http://schemas.openxmlformats.org/officeDocument/2006/relationships/tags" Target="../tags/tag665.xml"/><Relationship Id="rId106" Type="http://schemas.openxmlformats.org/officeDocument/2006/relationships/tags" Target="../tags/tag664.xml"/><Relationship Id="rId105" Type="http://schemas.openxmlformats.org/officeDocument/2006/relationships/tags" Target="../tags/tag663.xml"/><Relationship Id="rId104" Type="http://schemas.openxmlformats.org/officeDocument/2006/relationships/tags" Target="../tags/tag662.xml"/><Relationship Id="rId103" Type="http://schemas.openxmlformats.org/officeDocument/2006/relationships/tags" Target="../tags/tag661.xml"/><Relationship Id="rId102" Type="http://schemas.openxmlformats.org/officeDocument/2006/relationships/tags" Target="../tags/tag660.xml"/><Relationship Id="rId101" Type="http://schemas.openxmlformats.org/officeDocument/2006/relationships/tags" Target="../tags/tag659.xml"/><Relationship Id="rId100" Type="http://schemas.openxmlformats.org/officeDocument/2006/relationships/tags" Target="../tags/tag658.xml"/><Relationship Id="rId10" Type="http://schemas.openxmlformats.org/officeDocument/2006/relationships/tags" Target="../tags/tag584.xml"/><Relationship Id="rId1" Type="http://schemas.openxmlformats.org/officeDocument/2006/relationships/tags" Target="../tags/tag577.xml"/></Relationships>
</file>

<file path=ppt/slides/_rels/slide46.xml.rels><?xml version="1.0" encoding="UTF-8" standalone="yes"?>
<Relationships xmlns="http://schemas.openxmlformats.org/package/2006/relationships"><Relationship Id="rId9" Type="http://schemas.openxmlformats.org/officeDocument/2006/relationships/image" Target="../media/image244.png"/><Relationship Id="rId8" Type="http://schemas.openxmlformats.org/officeDocument/2006/relationships/image" Target="../media/image243.svg"/><Relationship Id="rId7" Type="http://schemas.openxmlformats.org/officeDocument/2006/relationships/image" Target="../media/image242.png"/><Relationship Id="rId6" Type="http://schemas.openxmlformats.org/officeDocument/2006/relationships/image" Target="../media/image241.svg"/><Relationship Id="rId5" Type="http://schemas.openxmlformats.org/officeDocument/2006/relationships/image" Target="../media/image240.png"/><Relationship Id="rId4" Type="http://schemas.openxmlformats.org/officeDocument/2006/relationships/image" Target="../media/image239.svg"/><Relationship Id="rId3" Type="http://schemas.openxmlformats.org/officeDocument/2006/relationships/image" Target="../media/image238.png"/><Relationship Id="rId22" Type="http://schemas.openxmlformats.org/officeDocument/2006/relationships/slideLayout" Target="../slideLayouts/slideLayout12.xml"/><Relationship Id="rId21" Type="http://schemas.openxmlformats.org/officeDocument/2006/relationships/image" Target="../media/image36.png"/><Relationship Id="rId20" Type="http://schemas.openxmlformats.org/officeDocument/2006/relationships/tags" Target="../tags/tag733.xml"/><Relationship Id="rId2" Type="http://schemas.openxmlformats.org/officeDocument/2006/relationships/image" Target="../media/image237.svg"/><Relationship Id="rId19" Type="http://schemas.openxmlformats.org/officeDocument/2006/relationships/tags" Target="../tags/tag732.xml"/><Relationship Id="rId18" Type="http://schemas.openxmlformats.org/officeDocument/2006/relationships/tags" Target="../tags/tag731.xml"/><Relationship Id="rId17" Type="http://schemas.openxmlformats.org/officeDocument/2006/relationships/tags" Target="../tags/tag730.xml"/><Relationship Id="rId16" Type="http://schemas.openxmlformats.org/officeDocument/2006/relationships/tags" Target="../tags/tag729.xml"/><Relationship Id="rId15" Type="http://schemas.openxmlformats.org/officeDocument/2006/relationships/tags" Target="../tags/tag728.xml"/><Relationship Id="rId14" Type="http://schemas.openxmlformats.org/officeDocument/2006/relationships/tags" Target="../tags/tag727.xml"/><Relationship Id="rId13" Type="http://schemas.openxmlformats.org/officeDocument/2006/relationships/tags" Target="../tags/tag726.xml"/><Relationship Id="rId12" Type="http://schemas.openxmlformats.org/officeDocument/2006/relationships/tags" Target="../tags/tag725.xml"/><Relationship Id="rId11" Type="http://schemas.openxmlformats.org/officeDocument/2006/relationships/tags" Target="../tags/tag724.xml"/><Relationship Id="rId10" Type="http://schemas.openxmlformats.org/officeDocument/2006/relationships/image" Target="../media/image245.svg"/><Relationship Id="rId1" Type="http://schemas.openxmlformats.org/officeDocument/2006/relationships/image" Target="../media/image79.png"/></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image" Target="../media/image18.jpeg"/></Relationships>
</file>

<file path=ppt/slides/_rels/slide48.xml.rels><?xml version="1.0" encoding="UTF-8" standalone="yes"?>
<Relationships xmlns="http://schemas.openxmlformats.org/package/2006/relationships"><Relationship Id="rId9" Type="http://schemas.openxmlformats.org/officeDocument/2006/relationships/image" Target="../media/image253.png"/><Relationship Id="rId8" Type="http://schemas.openxmlformats.org/officeDocument/2006/relationships/image" Target="../media/image252.svg"/><Relationship Id="rId7" Type="http://schemas.openxmlformats.org/officeDocument/2006/relationships/image" Target="../media/image251.png"/><Relationship Id="rId6" Type="http://schemas.openxmlformats.org/officeDocument/2006/relationships/image" Target="../media/image250.svg"/><Relationship Id="rId5" Type="http://schemas.openxmlformats.org/officeDocument/2006/relationships/image" Target="../media/image249.png"/><Relationship Id="rId4" Type="http://schemas.openxmlformats.org/officeDocument/2006/relationships/image" Target="../media/image248.svg"/><Relationship Id="rId3" Type="http://schemas.openxmlformats.org/officeDocument/2006/relationships/image" Target="../media/image247.png"/><Relationship Id="rId27" Type="http://schemas.openxmlformats.org/officeDocument/2006/relationships/notesSlide" Target="../notesSlides/notesSlide15.xml"/><Relationship Id="rId26" Type="http://schemas.openxmlformats.org/officeDocument/2006/relationships/slideLayout" Target="../slideLayouts/slideLayout12.xml"/><Relationship Id="rId25" Type="http://schemas.openxmlformats.org/officeDocument/2006/relationships/image" Target="../media/image36.png"/><Relationship Id="rId24" Type="http://schemas.openxmlformats.org/officeDocument/2006/relationships/image" Target="../media/image268.svg"/><Relationship Id="rId23" Type="http://schemas.openxmlformats.org/officeDocument/2006/relationships/image" Target="../media/image267.png"/><Relationship Id="rId22" Type="http://schemas.openxmlformats.org/officeDocument/2006/relationships/image" Target="../media/image266.svg"/><Relationship Id="rId21" Type="http://schemas.openxmlformats.org/officeDocument/2006/relationships/image" Target="../media/image265.png"/><Relationship Id="rId20" Type="http://schemas.openxmlformats.org/officeDocument/2006/relationships/image" Target="../media/image264.svg"/><Relationship Id="rId2" Type="http://schemas.openxmlformats.org/officeDocument/2006/relationships/image" Target="../media/image246.svg"/><Relationship Id="rId19" Type="http://schemas.openxmlformats.org/officeDocument/2006/relationships/image" Target="../media/image263.png"/><Relationship Id="rId18" Type="http://schemas.openxmlformats.org/officeDocument/2006/relationships/image" Target="../media/image262.svg"/><Relationship Id="rId17" Type="http://schemas.openxmlformats.org/officeDocument/2006/relationships/image" Target="../media/image261.png"/><Relationship Id="rId16" Type="http://schemas.openxmlformats.org/officeDocument/2006/relationships/image" Target="../media/image260.svg"/><Relationship Id="rId15" Type="http://schemas.openxmlformats.org/officeDocument/2006/relationships/image" Target="../media/image259.png"/><Relationship Id="rId14" Type="http://schemas.openxmlformats.org/officeDocument/2006/relationships/image" Target="../media/image258.svg"/><Relationship Id="rId13" Type="http://schemas.openxmlformats.org/officeDocument/2006/relationships/image" Target="../media/image257.png"/><Relationship Id="rId12" Type="http://schemas.openxmlformats.org/officeDocument/2006/relationships/image" Target="../media/image256.svg"/><Relationship Id="rId11" Type="http://schemas.openxmlformats.org/officeDocument/2006/relationships/image" Target="../media/image255.png"/><Relationship Id="rId10" Type="http://schemas.openxmlformats.org/officeDocument/2006/relationships/image" Target="../media/image254.svg"/><Relationship Id="rId1" Type="http://schemas.openxmlformats.org/officeDocument/2006/relationships/image" Target="../media/image21.png"/></Relationships>
</file>

<file path=ppt/slides/_rels/slide49.xml.rels><?xml version="1.0" encoding="UTF-8" standalone="yes"?>
<Relationships xmlns="http://schemas.openxmlformats.org/package/2006/relationships"><Relationship Id="rId9" Type="http://schemas.openxmlformats.org/officeDocument/2006/relationships/image" Target="../media/image253.png"/><Relationship Id="rId8" Type="http://schemas.openxmlformats.org/officeDocument/2006/relationships/image" Target="../media/image252.svg"/><Relationship Id="rId7" Type="http://schemas.openxmlformats.org/officeDocument/2006/relationships/image" Target="../media/image271.png"/><Relationship Id="rId6" Type="http://schemas.openxmlformats.org/officeDocument/2006/relationships/image" Target="../media/image270.svg"/><Relationship Id="rId5" Type="http://schemas.openxmlformats.org/officeDocument/2006/relationships/image" Target="../media/image249.png"/><Relationship Id="rId4" Type="http://schemas.openxmlformats.org/officeDocument/2006/relationships/image" Target="../media/image248.svg"/><Relationship Id="rId3" Type="http://schemas.openxmlformats.org/officeDocument/2006/relationships/image" Target="../media/image247.png"/><Relationship Id="rId25" Type="http://schemas.openxmlformats.org/officeDocument/2006/relationships/notesSlide" Target="../notesSlides/notesSlide16.xml"/><Relationship Id="rId24" Type="http://schemas.openxmlformats.org/officeDocument/2006/relationships/slideLayout" Target="../slideLayouts/slideLayout12.xml"/><Relationship Id="rId23" Type="http://schemas.openxmlformats.org/officeDocument/2006/relationships/image" Target="../media/image36.png"/><Relationship Id="rId22" Type="http://schemas.openxmlformats.org/officeDocument/2006/relationships/image" Target="../media/image266.svg"/><Relationship Id="rId21" Type="http://schemas.openxmlformats.org/officeDocument/2006/relationships/image" Target="../media/image265.png"/><Relationship Id="rId20" Type="http://schemas.openxmlformats.org/officeDocument/2006/relationships/image" Target="../media/image264.svg"/><Relationship Id="rId2" Type="http://schemas.openxmlformats.org/officeDocument/2006/relationships/image" Target="../media/image269.svg"/><Relationship Id="rId19" Type="http://schemas.openxmlformats.org/officeDocument/2006/relationships/image" Target="../media/image263.png"/><Relationship Id="rId18" Type="http://schemas.openxmlformats.org/officeDocument/2006/relationships/image" Target="../media/image262.svg"/><Relationship Id="rId17" Type="http://schemas.openxmlformats.org/officeDocument/2006/relationships/image" Target="../media/image261.png"/><Relationship Id="rId16" Type="http://schemas.openxmlformats.org/officeDocument/2006/relationships/image" Target="../media/image260.svg"/><Relationship Id="rId15" Type="http://schemas.openxmlformats.org/officeDocument/2006/relationships/image" Target="../media/image259.png"/><Relationship Id="rId14" Type="http://schemas.openxmlformats.org/officeDocument/2006/relationships/image" Target="../media/image258.svg"/><Relationship Id="rId13" Type="http://schemas.openxmlformats.org/officeDocument/2006/relationships/image" Target="../media/image257.png"/><Relationship Id="rId12" Type="http://schemas.openxmlformats.org/officeDocument/2006/relationships/image" Target="../media/image256.svg"/><Relationship Id="rId11" Type="http://schemas.openxmlformats.org/officeDocument/2006/relationships/image" Target="../media/image255.png"/><Relationship Id="rId10" Type="http://schemas.openxmlformats.org/officeDocument/2006/relationships/image" Target="../media/image254.svg"/><Relationship Id="rId1" Type="http://schemas.openxmlformats.org/officeDocument/2006/relationships/image" Target="../media/image21.png"/></Relationships>
</file>

<file path=ppt/slides/_rels/slide50.xml.rels><?xml version="1.0" encoding="UTF-8" standalone="yes"?>
<Relationships xmlns="http://schemas.openxmlformats.org/package/2006/relationships"><Relationship Id="rId9" Type="http://schemas.openxmlformats.org/officeDocument/2006/relationships/tags" Target="../tags/tag742.xml"/><Relationship Id="rId8" Type="http://schemas.openxmlformats.org/officeDocument/2006/relationships/tags" Target="../tags/tag741.xml"/><Relationship Id="rId7" Type="http://schemas.openxmlformats.org/officeDocument/2006/relationships/tags" Target="../tags/tag740.xml"/><Relationship Id="rId6" Type="http://schemas.openxmlformats.org/officeDocument/2006/relationships/tags" Target="../tags/tag739.xml"/><Relationship Id="rId5" Type="http://schemas.openxmlformats.org/officeDocument/2006/relationships/tags" Target="../tags/tag738.xml"/><Relationship Id="rId4" Type="http://schemas.openxmlformats.org/officeDocument/2006/relationships/tags" Target="../tags/tag737.xml"/><Relationship Id="rId3" Type="http://schemas.openxmlformats.org/officeDocument/2006/relationships/tags" Target="../tags/tag736.xml"/><Relationship Id="rId27" Type="http://schemas.openxmlformats.org/officeDocument/2006/relationships/notesSlide" Target="../notesSlides/notesSlide17.xml"/><Relationship Id="rId26" Type="http://schemas.openxmlformats.org/officeDocument/2006/relationships/slideLayout" Target="../slideLayouts/slideLayout12.xml"/><Relationship Id="rId25" Type="http://schemas.openxmlformats.org/officeDocument/2006/relationships/image" Target="../media/image36.png"/><Relationship Id="rId24" Type="http://schemas.openxmlformats.org/officeDocument/2006/relationships/image" Target="../media/image282.svg"/><Relationship Id="rId23" Type="http://schemas.openxmlformats.org/officeDocument/2006/relationships/image" Target="../media/image281.png"/><Relationship Id="rId22" Type="http://schemas.openxmlformats.org/officeDocument/2006/relationships/image" Target="../media/image280.svg"/><Relationship Id="rId21" Type="http://schemas.openxmlformats.org/officeDocument/2006/relationships/image" Target="../media/image21.png"/><Relationship Id="rId20" Type="http://schemas.openxmlformats.org/officeDocument/2006/relationships/image" Target="../media/image279.png"/><Relationship Id="rId2" Type="http://schemas.openxmlformats.org/officeDocument/2006/relationships/tags" Target="../tags/tag735.xml"/><Relationship Id="rId19" Type="http://schemas.openxmlformats.org/officeDocument/2006/relationships/tags" Target="../tags/tag745.xml"/><Relationship Id="rId18" Type="http://schemas.openxmlformats.org/officeDocument/2006/relationships/image" Target="../media/image278.svg"/><Relationship Id="rId17" Type="http://schemas.openxmlformats.org/officeDocument/2006/relationships/image" Target="../media/image277.png"/><Relationship Id="rId16" Type="http://schemas.openxmlformats.org/officeDocument/2006/relationships/image" Target="../media/image276.svg"/><Relationship Id="rId15" Type="http://schemas.openxmlformats.org/officeDocument/2006/relationships/image" Target="../media/image275.png"/><Relationship Id="rId14" Type="http://schemas.openxmlformats.org/officeDocument/2006/relationships/image" Target="../media/image274.svg"/><Relationship Id="rId13" Type="http://schemas.openxmlformats.org/officeDocument/2006/relationships/image" Target="../media/image273.png"/><Relationship Id="rId12" Type="http://schemas.openxmlformats.org/officeDocument/2006/relationships/tags" Target="../tags/tag744.xml"/><Relationship Id="rId11" Type="http://schemas.openxmlformats.org/officeDocument/2006/relationships/image" Target="../media/image272.png"/><Relationship Id="rId10" Type="http://schemas.openxmlformats.org/officeDocument/2006/relationships/tags" Target="../tags/tag743.xml"/><Relationship Id="rId1" Type="http://schemas.openxmlformats.org/officeDocument/2006/relationships/tags" Target="../tags/tag734.xml"/></Relationships>
</file>

<file path=ppt/slides/_rels/slide51.xml.rels><?xml version="1.0" encoding="UTF-8" standalone="yes"?>
<Relationships xmlns="http://schemas.openxmlformats.org/package/2006/relationships"><Relationship Id="rId9" Type="http://schemas.openxmlformats.org/officeDocument/2006/relationships/tags" Target="../tags/tag752.xml"/><Relationship Id="rId8" Type="http://schemas.openxmlformats.org/officeDocument/2006/relationships/tags" Target="../tags/tag751.xml"/><Relationship Id="rId7" Type="http://schemas.openxmlformats.org/officeDocument/2006/relationships/tags" Target="../tags/tag750.xml"/><Relationship Id="rId6" Type="http://schemas.openxmlformats.org/officeDocument/2006/relationships/tags" Target="../tags/tag749.xml"/><Relationship Id="rId5" Type="http://schemas.openxmlformats.org/officeDocument/2006/relationships/tags" Target="../tags/tag748.xml"/><Relationship Id="rId4" Type="http://schemas.openxmlformats.org/officeDocument/2006/relationships/tags" Target="../tags/tag747.xml"/><Relationship Id="rId3" Type="http://schemas.openxmlformats.org/officeDocument/2006/relationships/tags" Target="../tags/tag746.xml"/><Relationship Id="rId25" Type="http://schemas.openxmlformats.org/officeDocument/2006/relationships/notesSlide" Target="../notesSlides/notesSlide18.xml"/><Relationship Id="rId24" Type="http://schemas.openxmlformats.org/officeDocument/2006/relationships/slideLayout" Target="../slideLayouts/slideLayout12.xml"/><Relationship Id="rId23" Type="http://schemas.openxmlformats.org/officeDocument/2006/relationships/image" Target="../media/image36.png"/><Relationship Id="rId22" Type="http://schemas.openxmlformats.org/officeDocument/2006/relationships/image" Target="../media/image285.svg"/><Relationship Id="rId21" Type="http://schemas.openxmlformats.org/officeDocument/2006/relationships/image" Target="../media/image277.png"/><Relationship Id="rId20" Type="http://schemas.openxmlformats.org/officeDocument/2006/relationships/image" Target="../media/image284.svg"/><Relationship Id="rId2" Type="http://schemas.openxmlformats.org/officeDocument/2006/relationships/image" Target="../media/image280.svg"/><Relationship Id="rId19" Type="http://schemas.openxmlformats.org/officeDocument/2006/relationships/image" Target="../media/image275.png"/><Relationship Id="rId18" Type="http://schemas.openxmlformats.org/officeDocument/2006/relationships/image" Target="../media/image283.svg"/><Relationship Id="rId17" Type="http://schemas.openxmlformats.org/officeDocument/2006/relationships/image" Target="../media/image273.png"/><Relationship Id="rId16" Type="http://schemas.openxmlformats.org/officeDocument/2006/relationships/image" Target="../media/image282.svg"/><Relationship Id="rId15" Type="http://schemas.openxmlformats.org/officeDocument/2006/relationships/image" Target="../media/image281.png"/><Relationship Id="rId14" Type="http://schemas.openxmlformats.org/officeDocument/2006/relationships/tags" Target="../tags/tag756.xml"/><Relationship Id="rId13" Type="http://schemas.openxmlformats.org/officeDocument/2006/relationships/image" Target="../media/image272.png"/><Relationship Id="rId12" Type="http://schemas.openxmlformats.org/officeDocument/2006/relationships/tags" Target="../tags/tag755.xml"/><Relationship Id="rId11" Type="http://schemas.openxmlformats.org/officeDocument/2006/relationships/tags" Target="../tags/tag754.xml"/><Relationship Id="rId10" Type="http://schemas.openxmlformats.org/officeDocument/2006/relationships/tags" Target="../tags/tag753.xml"/><Relationship Id="rId1" Type="http://schemas.openxmlformats.org/officeDocument/2006/relationships/image" Target="../media/image21.png"/></Relationships>
</file>

<file path=ppt/slides/_rels/slide52.xml.rels><?xml version="1.0" encoding="UTF-8" standalone="yes"?>
<Relationships xmlns="http://schemas.openxmlformats.org/package/2006/relationships"><Relationship Id="rId5" Type="http://schemas.openxmlformats.org/officeDocument/2006/relationships/notesSlide" Target="../notesSlides/notesSlide19.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286.svg"/><Relationship Id="rId1" Type="http://schemas.openxmlformats.org/officeDocument/2006/relationships/image" Target="../media/image21.png"/></Relationships>
</file>

<file path=ppt/slides/_rels/slide53.xml.rels><?xml version="1.0" encoding="UTF-8" standalone="yes"?>
<Relationships xmlns="http://schemas.openxmlformats.org/package/2006/relationships"><Relationship Id="rId9" Type="http://schemas.openxmlformats.org/officeDocument/2006/relationships/tags" Target="../tags/tag762.xml"/><Relationship Id="rId8" Type="http://schemas.openxmlformats.org/officeDocument/2006/relationships/tags" Target="../tags/tag761.xml"/><Relationship Id="rId7" Type="http://schemas.openxmlformats.org/officeDocument/2006/relationships/tags" Target="../tags/tag760.xml"/><Relationship Id="rId6" Type="http://schemas.openxmlformats.org/officeDocument/2006/relationships/tags" Target="../tags/tag759.xml"/><Relationship Id="rId5" Type="http://schemas.openxmlformats.org/officeDocument/2006/relationships/tags" Target="../tags/tag758.xml"/><Relationship Id="rId4" Type="http://schemas.openxmlformats.org/officeDocument/2006/relationships/tags" Target="../tags/tag757.xml"/><Relationship Id="rId3" Type="http://schemas.openxmlformats.org/officeDocument/2006/relationships/image" Target="../media/image36.png"/><Relationship Id="rId2" Type="http://schemas.openxmlformats.org/officeDocument/2006/relationships/image" Target="../media/image287.svg"/><Relationship Id="rId11" Type="http://schemas.openxmlformats.org/officeDocument/2006/relationships/notesSlide" Target="../notesSlides/notesSlide20.xml"/><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54.xml.rels><?xml version="1.0" encoding="UTF-8" standalone="yes"?>
<Relationships xmlns="http://schemas.openxmlformats.org/package/2006/relationships"><Relationship Id="rId9" Type="http://schemas.openxmlformats.org/officeDocument/2006/relationships/notesSlide" Target="../notesSlides/notesSlide21.xml"/><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288.svg"/><Relationship Id="rId5" Type="http://schemas.openxmlformats.org/officeDocument/2006/relationships/image" Target="../media/image21.png"/><Relationship Id="rId4" Type="http://schemas.openxmlformats.org/officeDocument/2006/relationships/tags" Target="../tags/tag766.xml"/><Relationship Id="rId3" Type="http://schemas.openxmlformats.org/officeDocument/2006/relationships/tags" Target="../tags/tag765.xml"/><Relationship Id="rId2" Type="http://schemas.openxmlformats.org/officeDocument/2006/relationships/tags" Target="../tags/tag764.xml"/><Relationship Id="rId1" Type="http://schemas.openxmlformats.org/officeDocument/2006/relationships/tags" Target="../tags/tag763.xml"/></Relationships>
</file>

<file path=ppt/slides/_rels/slide55.xml.rels><?xml version="1.0" encoding="UTF-8" standalone="yes"?>
<Relationships xmlns="http://schemas.openxmlformats.org/package/2006/relationships"><Relationship Id="rId9" Type="http://schemas.openxmlformats.org/officeDocument/2006/relationships/image" Target="../media/image297.png"/><Relationship Id="rId8" Type="http://schemas.openxmlformats.org/officeDocument/2006/relationships/image" Target="../media/image296.svg"/><Relationship Id="rId7" Type="http://schemas.openxmlformats.org/officeDocument/2006/relationships/image" Target="../media/image295.png"/><Relationship Id="rId6" Type="http://schemas.openxmlformats.org/officeDocument/2006/relationships/image" Target="../media/image294.svg"/><Relationship Id="rId57" Type="http://schemas.openxmlformats.org/officeDocument/2006/relationships/notesSlide" Target="../notesSlides/notesSlide22.xml"/><Relationship Id="rId56" Type="http://schemas.openxmlformats.org/officeDocument/2006/relationships/slideLayout" Target="../slideLayouts/slideLayout12.xml"/><Relationship Id="rId55" Type="http://schemas.openxmlformats.org/officeDocument/2006/relationships/image" Target="../media/image36.png"/><Relationship Id="rId54" Type="http://schemas.openxmlformats.org/officeDocument/2006/relationships/image" Target="../media/image342.svg"/><Relationship Id="rId53" Type="http://schemas.openxmlformats.org/officeDocument/2006/relationships/image" Target="../media/image341.png"/><Relationship Id="rId52" Type="http://schemas.openxmlformats.org/officeDocument/2006/relationships/image" Target="../media/image340.svg"/><Relationship Id="rId51" Type="http://schemas.openxmlformats.org/officeDocument/2006/relationships/image" Target="../media/image339.png"/><Relationship Id="rId50" Type="http://schemas.openxmlformats.org/officeDocument/2006/relationships/image" Target="../media/image338.svg"/><Relationship Id="rId5" Type="http://schemas.openxmlformats.org/officeDocument/2006/relationships/image" Target="../media/image293.png"/><Relationship Id="rId49" Type="http://schemas.openxmlformats.org/officeDocument/2006/relationships/image" Target="../media/image337.png"/><Relationship Id="rId48" Type="http://schemas.openxmlformats.org/officeDocument/2006/relationships/image" Target="../media/image336.svg"/><Relationship Id="rId47" Type="http://schemas.openxmlformats.org/officeDocument/2006/relationships/image" Target="../media/image335.png"/><Relationship Id="rId46" Type="http://schemas.openxmlformats.org/officeDocument/2006/relationships/image" Target="../media/image334.svg"/><Relationship Id="rId45" Type="http://schemas.openxmlformats.org/officeDocument/2006/relationships/image" Target="../media/image333.png"/><Relationship Id="rId44" Type="http://schemas.openxmlformats.org/officeDocument/2006/relationships/image" Target="../media/image332.svg"/><Relationship Id="rId43" Type="http://schemas.openxmlformats.org/officeDocument/2006/relationships/image" Target="../media/image331.png"/><Relationship Id="rId42" Type="http://schemas.openxmlformats.org/officeDocument/2006/relationships/image" Target="../media/image330.svg"/><Relationship Id="rId41" Type="http://schemas.openxmlformats.org/officeDocument/2006/relationships/image" Target="../media/image329.png"/><Relationship Id="rId40" Type="http://schemas.openxmlformats.org/officeDocument/2006/relationships/image" Target="../media/image328.svg"/><Relationship Id="rId4" Type="http://schemas.openxmlformats.org/officeDocument/2006/relationships/image" Target="../media/image292.svg"/><Relationship Id="rId39" Type="http://schemas.openxmlformats.org/officeDocument/2006/relationships/image" Target="../media/image327.png"/><Relationship Id="rId38" Type="http://schemas.openxmlformats.org/officeDocument/2006/relationships/image" Target="../media/image326.svg"/><Relationship Id="rId37" Type="http://schemas.openxmlformats.org/officeDocument/2006/relationships/image" Target="../media/image325.png"/><Relationship Id="rId36" Type="http://schemas.openxmlformats.org/officeDocument/2006/relationships/image" Target="../media/image324.svg"/><Relationship Id="rId35" Type="http://schemas.openxmlformats.org/officeDocument/2006/relationships/image" Target="../media/image323.png"/><Relationship Id="rId34" Type="http://schemas.openxmlformats.org/officeDocument/2006/relationships/image" Target="../media/image322.svg"/><Relationship Id="rId33" Type="http://schemas.openxmlformats.org/officeDocument/2006/relationships/image" Target="../media/image321.png"/><Relationship Id="rId32" Type="http://schemas.openxmlformats.org/officeDocument/2006/relationships/image" Target="../media/image320.svg"/><Relationship Id="rId31" Type="http://schemas.openxmlformats.org/officeDocument/2006/relationships/image" Target="../media/image319.png"/><Relationship Id="rId30" Type="http://schemas.openxmlformats.org/officeDocument/2006/relationships/image" Target="../media/image318.svg"/><Relationship Id="rId3" Type="http://schemas.openxmlformats.org/officeDocument/2006/relationships/image" Target="../media/image291.png"/><Relationship Id="rId29" Type="http://schemas.openxmlformats.org/officeDocument/2006/relationships/image" Target="../media/image317.png"/><Relationship Id="rId28" Type="http://schemas.openxmlformats.org/officeDocument/2006/relationships/image" Target="../media/image316.svg"/><Relationship Id="rId27" Type="http://schemas.openxmlformats.org/officeDocument/2006/relationships/image" Target="../media/image315.png"/><Relationship Id="rId26" Type="http://schemas.openxmlformats.org/officeDocument/2006/relationships/image" Target="../media/image314.svg"/><Relationship Id="rId25" Type="http://schemas.openxmlformats.org/officeDocument/2006/relationships/image" Target="../media/image313.png"/><Relationship Id="rId24" Type="http://schemas.openxmlformats.org/officeDocument/2006/relationships/image" Target="../media/image312.svg"/><Relationship Id="rId23" Type="http://schemas.openxmlformats.org/officeDocument/2006/relationships/image" Target="../media/image311.png"/><Relationship Id="rId22" Type="http://schemas.openxmlformats.org/officeDocument/2006/relationships/image" Target="../media/image310.svg"/><Relationship Id="rId21" Type="http://schemas.openxmlformats.org/officeDocument/2006/relationships/image" Target="../media/image309.png"/><Relationship Id="rId20" Type="http://schemas.openxmlformats.org/officeDocument/2006/relationships/image" Target="../media/image308.svg"/><Relationship Id="rId2" Type="http://schemas.openxmlformats.org/officeDocument/2006/relationships/image" Target="../media/image290.svg"/><Relationship Id="rId19" Type="http://schemas.openxmlformats.org/officeDocument/2006/relationships/image" Target="../media/image307.png"/><Relationship Id="rId18" Type="http://schemas.openxmlformats.org/officeDocument/2006/relationships/image" Target="../media/image306.svg"/><Relationship Id="rId17" Type="http://schemas.openxmlformats.org/officeDocument/2006/relationships/image" Target="../media/image305.png"/><Relationship Id="rId16" Type="http://schemas.openxmlformats.org/officeDocument/2006/relationships/image" Target="../media/image304.svg"/><Relationship Id="rId15" Type="http://schemas.openxmlformats.org/officeDocument/2006/relationships/image" Target="../media/image303.png"/><Relationship Id="rId14" Type="http://schemas.openxmlformats.org/officeDocument/2006/relationships/image" Target="../media/image302.svg"/><Relationship Id="rId13" Type="http://schemas.openxmlformats.org/officeDocument/2006/relationships/image" Target="../media/image301.png"/><Relationship Id="rId12" Type="http://schemas.openxmlformats.org/officeDocument/2006/relationships/image" Target="../media/image300.svg"/><Relationship Id="rId11" Type="http://schemas.openxmlformats.org/officeDocument/2006/relationships/image" Target="../media/image299.png"/><Relationship Id="rId10" Type="http://schemas.openxmlformats.org/officeDocument/2006/relationships/image" Target="../media/image298.svg"/><Relationship Id="rId1" Type="http://schemas.openxmlformats.org/officeDocument/2006/relationships/image" Target="../media/image289.png"/></Relationships>
</file>

<file path=ppt/slides/_rels/slide56.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tags" Target="../tags/tag771.xml"/><Relationship Id="rId7" Type="http://schemas.openxmlformats.org/officeDocument/2006/relationships/tags" Target="../tags/tag770.xml"/><Relationship Id="rId6" Type="http://schemas.openxmlformats.org/officeDocument/2006/relationships/tags" Target="../tags/tag769.xml"/><Relationship Id="rId5" Type="http://schemas.openxmlformats.org/officeDocument/2006/relationships/tags" Target="../tags/tag768.xml"/><Relationship Id="rId4" Type="http://schemas.openxmlformats.org/officeDocument/2006/relationships/image" Target="../media/image36.png"/><Relationship Id="rId3" Type="http://schemas.openxmlformats.org/officeDocument/2006/relationships/image" Target="../media/image343.svg"/><Relationship Id="rId2" Type="http://schemas.openxmlformats.org/officeDocument/2006/relationships/image" Target="../media/image21.png"/><Relationship Id="rId10" Type="http://schemas.openxmlformats.org/officeDocument/2006/relationships/notesSlide" Target="../notesSlides/notesSlide23.xml"/><Relationship Id="rId1" Type="http://schemas.openxmlformats.org/officeDocument/2006/relationships/tags" Target="../tags/tag767.xml"/></Relationships>
</file>

<file path=ppt/slides/_rels/slide57.xml.rels><?xml version="1.0" encoding="UTF-8" standalone="yes"?>
<Relationships xmlns="http://schemas.openxmlformats.org/package/2006/relationships"><Relationship Id="rId5" Type="http://schemas.openxmlformats.org/officeDocument/2006/relationships/notesSlide" Target="../notesSlides/notesSlide24.xml"/><Relationship Id="rId4" Type="http://schemas.openxmlformats.org/officeDocument/2006/relationships/slideLayout" Target="../slideLayouts/slideLayout12.xml"/><Relationship Id="rId3" Type="http://schemas.openxmlformats.org/officeDocument/2006/relationships/image" Target="../media/image343.svg"/><Relationship Id="rId2" Type="http://schemas.openxmlformats.org/officeDocument/2006/relationships/image" Target="../media/image21.png"/><Relationship Id="rId1" Type="http://schemas.openxmlformats.org/officeDocument/2006/relationships/image" Target="../media/image36.png"/></Relationships>
</file>

<file path=ppt/slides/_rels/slide58.xml.rels><?xml version="1.0" encoding="UTF-8" standalone="yes"?>
<Relationships xmlns="http://schemas.openxmlformats.org/package/2006/relationships"><Relationship Id="rId9" Type="http://schemas.openxmlformats.org/officeDocument/2006/relationships/tags" Target="../tags/tag777.xml"/><Relationship Id="rId8" Type="http://schemas.openxmlformats.org/officeDocument/2006/relationships/tags" Target="../tags/tag776.xml"/><Relationship Id="rId7" Type="http://schemas.openxmlformats.org/officeDocument/2006/relationships/tags" Target="../tags/tag775.xml"/><Relationship Id="rId6" Type="http://schemas.openxmlformats.org/officeDocument/2006/relationships/tags" Target="../tags/tag774.xml"/><Relationship Id="rId5" Type="http://schemas.openxmlformats.org/officeDocument/2006/relationships/tags" Target="../tags/tag773.xml"/><Relationship Id="rId45" Type="http://schemas.openxmlformats.org/officeDocument/2006/relationships/notesSlide" Target="../notesSlides/notesSlide25.xml"/><Relationship Id="rId44" Type="http://schemas.openxmlformats.org/officeDocument/2006/relationships/slideLayout" Target="../slideLayouts/slideLayout12.xml"/><Relationship Id="rId43" Type="http://schemas.openxmlformats.org/officeDocument/2006/relationships/tags" Target="../tags/tag811.xml"/><Relationship Id="rId42" Type="http://schemas.openxmlformats.org/officeDocument/2006/relationships/tags" Target="../tags/tag810.xml"/><Relationship Id="rId41" Type="http://schemas.openxmlformats.org/officeDocument/2006/relationships/tags" Target="../tags/tag809.xml"/><Relationship Id="rId40" Type="http://schemas.openxmlformats.org/officeDocument/2006/relationships/tags" Target="../tags/tag808.xml"/><Relationship Id="rId4" Type="http://schemas.openxmlformats.org/officeDocument/2006/relationships/tags" Target="../tags/tag772.xml"/><Relationship Id="rId39" Type="http://schemas.openxmlformats.org/officeDocument/2006/relationships/tags" Target="../tags/tag807.xml"/><Relationship Id="rId38" Type="http://schemas.openxmlformats.org/officeDocument/2006/relationships/tags" Target="../tags/tag806.xml"/><Relationship Id="rId37" Type="http://schemas.openxmlformats.org/officeDocument/2006/relationships/tags" Target="../tags/tag805.xml"/><Relationship Id="rId36" Type="http://schemas.openxmlformats.org/officeDocument/2006/relationships/tags" Target="../tags/tag804.xml"/><Relationship Id="rId35" Type="http://schemas.openxmlformats.org/officeDocument/2006/relationships/tags" Target="../tags/tag803.xml"/><Relationship Id="rId34" Type="http://schemas.openxmlformats.org/officeDocument/2006/relationships/tags" Target="../tags/tag802.xml"/><Relationship Id="rId33" Type="http://schemas.openxmlformats.org/officeDocument/2006/relationships/tags" Target="../tags/tag801.xml"/><Relationship Id="rId32" Type="http://schemas.openxmlformats.org/officeDocument/2006/relationships/tags" Target="../tags/tag800.xml"/><Relationship Id="rId31" Type="http://schemas.openxmlformats.org/officeDocument/2006/relationships/tags" Target="../tags/tag799.xml"/><Relationship Id="rId30" Type="http://schemas.openxmlformats.org/officeDocument/2006/relationships/tags" Target="../tags/tag798.xml"/><Relationship Id="rId3" Type="http://schemas.openxmlformats.org/officeDocument/2006/relationships/image" Target="../media/image36.png"/><Relationship Id="rId29" Type="http://schemas.openxmlformats.org/officeDocument/2006/relationships/tags" Target="../tags/tag797.xml"/><Relationship Id="rId28" Type="http://schemas.openxmlformats.org/officeDocument/2006/relationships/tags" Target="../tags/tag796.xml"/><Relationship Id="rId27" Type="http://schemas.openxmlformats.org/officeDocument/2006/relationships/tags" Target="../tags/tag795.xml"/><Relationship Id="rId26" Type="http://schemas.openxmlformats.org/officeDocument/2006/relationships/tags" Target="../tags/tag794.xml"/><Relationship Id="rId25" Type="http://schemas.openxmlformats.org/officeDocument/2006/relationships/tags" Target="../tags/tag793.xml"/><Relationship Id="rId24" Type="http://schemas.openxmlformats.org/officeDocument/2006/relationships/tags" Target="../tags/tag792.xml"/><Relationship Id="rId23" Type="http://schemas.openxmlformats.org/officeDocument/2006/relationships/tags" Target="../tags/tag791.xml"/><Relationship Id="rId22" Type="http://schemas.openxmlformats.org/officeDocument/2006/relationships/tags" Target="../tags/tag790.xml"/><Relationship Id="rId21" Type="http://schemas.openxmlformats.org/officeDocument/2006/relationships/tags" Target="../tags/tag789.xml"/><Relationship Id="rId20" Type="http://schemas.openxmlformats.org/officeDocument/2006/relationships/tags" Target="../tags/tag788.xml"/><Relationship Id="rId2" Type="http://schemas.openxmlformats.org/officeDocument/2006/relationships/image" Target="../media/image343.svg"/><Relationship Id="rId19" Type="http://schemas.openxmlformats.org/officeDocument/2006/relationships/tags" Target="../tags/tag787.xml"/><Relationship Id="rId18" Type="http://schemas.openxmlformats.org/officeDocument/2006/relationships/tags" Target="../tags/tag786.xml"/><Relationship Id="rId17" Type="http://schemas.openxmlformats.org/officeDocument/2006/relationships/tags" Target="../tags/tag785.xml"/><Relationship Id="rId16" Type="http://schemas.openxmlformats.org/officeDocument/2006/relationships/tags" Target="../tags/tag784.xml"/><Relationship Id="rId15" Type="http://schemas.openxmlformats.org/officeDocument/2006/relationships/tags" Target="../tags/tag783.xml"/><Relationship Id="rId14" Type="http://schemas.openxmlformats.org/officeDocument/2006/relationships/tags" Target="../tags/tag782.xml"/><Relationship Id="rId13" Type="http://schemas.openxmlformats.org/officeDocument/2006/relationships/tags" Target="../tags/tag781.xml"/><Relationship Id="rId12" Type="http://schemas.openxmlformats.org/officeDocument/2006/relationships/tags" Target="../tags/tag780.xml"/><Relationship Id="rId11" Type="http://schemas.openxmlformats.org/officeDocument/2006/relationships/tags" Target="../tags/tag779.xml"/><Relationship Id="rId10" Type="http://schemas.openxmlformats.org/officeDocument/2006/relationships/tags" Target="../tags/tag778.xml"/><Relationship Id="rId1" Type="http://schemas.openxmlformats.org/officeDocument/2006/relationships/image" Target="../media/image21.png"/></Relationships>
</file>

<file path=ppt/slides/_rels/slide59.xml.rels><?xml version="1.0" encoding="UTF-8" standalone="yes"?>
<Relationships xmlns="http://schemas.openxmlformats.org/package/2006/relationships"><Relationship Id="rId9" Type="http://schemas.openxmlformats.org/officeDocument/2006/relationships/tags" Target="../tags/tag820.xml"/><Relationship Id="rId87" Type="http://schemas.openxmlformats.org/officeDocument/2006/relationships/notesSlide" Target="../notesSlides/notesSlide26.xml"/><Relationship Id="rId86" Type="http://schemas.openxmlformats.org/officeDocument/2006/relationships/slideLayout" Target="../slideLayouts/slideLayout12.xml"/><Relationship Id="rId85" Type="http://schemas.openxmlformats.org/officeDocument/2006/relationships/tags" Target="../tags/tag881.xml"/><Relationship Id="rId84" Type="http://schemas.openxmlformats.org/officeDocument/2006/relationships/tags" Target="../tags/tag880.xml"/><Relationship Id="rId83" Type="http://schemas.openxmlformats.org/officeDocument/2006/relationships/tags" Target="../tags/tag879.xml"/><Relationship Id="rId82" Type="http://schemas.openxmlformats.org/officeDocument/2006/relationships/tags" Target="../tags/tag878.xml"/><Relationship Id="rId81" Type="http://schemas.openxmlformats.org/officeDocument/2006/relationships/tags" Target="../tags/tag877.xml"/><Relationship Id="rId80" Type="http://schemas.openxmlformats.org/officeDocument/2006/relationships/tags" Target="../tags/tag876.xml"/><Relationship Id="rId8" Type="http://schemas.openxmlformats.org/officeDocument/2006/relationships/tags" Target="../tags/tag819.xml"/><Relationship Id="rId79" Type="http://schemas.openxmlformats.org/officeDocument/2006/relationships/tags" Target="../tags/tag875.xml"/><Relationship Id="rId78" Type="http://schemas.openxmlformats.org/officeDocument/2006/relationships/tags" Target="../tags/tag874.xml"/><Relationship Id="rId77" Type="http://schemas.openxmlformats.org/officeDocument/2006/relationships/tags" Target="../tags/tag873.xml"/><Relationship Id="rId76" Type="http://schemas.openxmlformats.org/officeDocument/2006/relationships/tags" Target="../tags/tag872.xml"/><Relationship Id="rId75" Type="http://schemas.openxmlformats.org/officeDocument/2006/relationships/image" Target="../media/image356.png"/><Relationship Id="rId74" Type="http://schemas.openxmlformats.org/officeDocument/2006/relationships/tags" Target="../tags/tag871.xml"/><Relationship Id="rId73" Type="http://schemas.openxmlformats.org/officeDocument/2006/relationships/image" Target="../media/image355.png"/><Relationship Id="rId72" Type="http://schemas.openxmlformats.org/officeDocument/2006/relationships/tags" Target="../tags/tag870.xml"/><Relationship Id="rId71" Type="http://schemas.openxmlformats.org/officeDocument/2006/relationships/image" Target="../media/image354.png"/><Relationship Id="rId70" Type="http://schemas.openxmlformats.org/officeDocument/2006/relationships/tags" Target="../tags/tag869.xml"/><Relationship Id="rId7" Type="http://schemas.openxmlformats.org/officeDocument/2006/relationships/tags" Target="../tags/tag818.xml"/><Relationship Id="rId69" Type="http://schemas.openxmlformats.org/officeDocument/2006/relationships/image" Target="../media/image353.png"/><Relationship Id="rId68" Type="http://schemas.openxmlformats.org/officeDocument/2006/relationships/tags" Target="../tags/tag868.xml"/><Relationship Id="rId67" Type="http://schemas.openxmlformats.org/officeDocument/2006/relationships/tags" Target="../tags/tag867.xml"/><Relationship Id="rId66" Type="http://schemas.openxmlformats.org/officeDocument/2006/relationships/image" Target="../media/image352.svg"/><Relationship Id="rId65" Type="http://schemas.openxmlformats.org/officeDocument/2006/relationships/image" Target="../media/image351.png"/><Relationship Id="rId64" Type="http://schemas.openxmlformats.org/officeDocument/2006/relationships/tags" Target="../tags/tag866.xml"/><Relationship Id="rId63" Type="http://schemas.openxmlformats.org/officeDocument/2006/relationships/tags" Target="../tags/tag865.xml"/><Relationship Id="rId62" Type="http://schemas.openxmlformats.org/officeDocument/2006/relationships/image" Target="../media/image350.png"/><Relationship Id="rId61" Type="http://schemas.openxmlformats.org/officeDocument/2006/relationships/tags" Target="../tags/tag864.xml"/><Relationship Id="rId60" Type="http://schemas.openxmlformats.org/officeDocument/2006/relationships/tags" Target="../tags/tag863.xml"/><Relationship Id="rId6" Type="http://schemas.openxmlformats.org/officeDocument/2006/relationships/tags" Target="../tags/tag817.xml"/><Relationship Id="rId59" Type="http://schemas.openxmlformats.org/officeDocument/2006/relationships/image" Target="../media/image349.png"/><Relationship Id="rId58" Type="http://schemas.openxmlformats.org/officeDocument/2006/relationships/tags" Target="../tags/tag862.xml"/><Relationship Id="rId57" Type="http://schemas.openxmlformats.org/officeDocument/2006/relationships/image" Target="../media/image36.png"/><Relationship Id="rId56" Type="http://schemas.openxmlformats.org/officeDocument/2006/relationships/image" Target="../media/image348.svg"/><Relationship Id="rId55" Type="http://schemas.openxmlformats.org/officeDocument/2006/relationships/image" Target="../media/image21.png"/><Relationship Id="rId54" Type="http://schemas.openxmlformats.org/officeDocument/2006/relationships/tags" Target="../tags/tag861.xml"/><Relationship Id="rId53" Type="http://schemas.openxmlformats.org/officeDocument/2006/relationships/tags" Target="../tags/tag860.xml"/><Relationship Id="rId52" Type="http://schemas.openxmlformats.org/officeDocument/2006/relationships/image" Target="../media/image347.svg"/><Relationship Id="rId51" Type="http://schemas.openxmlformats.org/officeDocument/2006/relationships/image" Target="../media/image346.png"/><Relationship Id="rId50" Type="http://schemas.openxmlformats.org/officeDocument/2006/relationships/tags" Target="../tags/tag859.xml"/><Relationship Id="rId5" Type="http://schemas.openxmlformats.org/officeDocument/2006/relationships/tags" Target="../tags/tag816.xml"/><Relationship Id="rId49" Type="http://schemas.openxmlformats.org/officeDocument/2006/relationships/tags" Target="../tags/tag858.xml"/><Relationship Id="rId48" Type="http://schemas.openxmlformats.org/officeDocument/2006/relationships/tags" Target="../tags/tag857.xml"/><Relationship Id="rId47" Type="http://schemas.openxmlformats.org/officeDocument/2006/relationships/tags" Target="../tags/tag856.xml"/><Relationship Id="rId46" Type="http://schemas.openxmlformats.org/officeDocument/2006/relationships/tags" Target="../tags/tag855.xml"/><Relationship Id="rId45" Type="http://schemas.openxmlformats.org/officeDocument/2006/relationships/tags" Target="../tags/tag854.xml"/><Relationship Id="rId44" Type="http://schemas.openxmlformats.org/officeDocument/2006/relationships/tags" Target="../tags/tag853.xml"/><Relationship Id="rId43" Type="http://schemas.openxmlformats.org/officeDocument/2006/relationships/tags" Target="../tags/tag852.xml"/><Relationship Id="rId42" Type="http://schemas.openxmlformats.org/officeDocument/2006/relationships/tags" Target="../tags/tag851.xml"/><Relationship Id="rId41" Type="http://schemas.openxmlformats.org/officeDocument/2006/relationships/tags" Target="../tags/tag850.xml"/><Relationship Id="rId40" Type="http://schemas.openxmlformats.org/officeDocument/2006/relationships/tags" Target="../tags/tag849.xml"/><Relationship Id="rId4" Type="http://schemas.openxmlformats.org/officeDocument/2006/relationships/tags" Target="../tags/tag815.xml"/><Relationship Id="rId39" Type="http://schemas.openxmlformats.org/officeDocument/2006/relationships/tags" Target="../tags/tag848.xml"/><Relationship Id="rId38" Type="http://schemas.openxmlformats.org/officeDocument/2006/relationships/tags" Target="../tags/tag847.xml"/><Relationship Id="rId37" Type="http://schemas.openxmlformats.org/officeDocument/2006/relationships/tags" Target="../tags/tag846.xml"/><Relationship Id="rId36" Type="http://schemas.openxmlformats.org/officeDocument/2006/relationships/tags" Target="../tags/tag845.xml"/><Relationship Id="rId35" Type="http://schemas.openxmlformats.org/officeDocument/2006/relationships/tags" Target="../tags/tag844.xml"/><Relationship Id="rId34" Type="http://schemas.openxmlformats.org/officeDocument/2006/relationships/image" Target="../media/image345.png"/><Relationship Id="rId33" Type="http://schemas.openxmlformats.org/officeDocument/2006/relationships/tags" Target="../tags/tag843.xml"/><Relationship Id="rId32" Type="http://schemas.openxmlformats.org/officeDocument/2006/relationships/image" Target="../media/image344.png"/><Relationship Id="rId31" Type="http://schemas.openxmlformats.org/officeDocument/2006/relationships/tags" Target="../tags/tag842.xml"/><Relationship Id="rId30" Type="http://schemas.openxmlformats.org/officeDocument/2006/relationships/tags" Target="../tags/tag841.xml"/><Relationship Id="rId3" Type="http://schemas.openxmlformats.org/officeDocument/2006/relationships/tags" Target="../tags/tag814.xml"/><Relationship Id="rId29" Type="http://schemas.openxmlformats.org/officeDocument/2006/relationships/tags" Target="../tags/tag840.xml"/><Relationship Id="rId28" Type="http://schemas.openxmlformats.org/officeDocument/2006/relationships/tags" Target="../tags/tag839.xml"/><Relationship Id="rId27" Type="http://schemas.openxmlformats.org/officeDocument/2006/relationships/tags" Target="../tags/tag838.xml"/><Relationship Id="rId26" Type="http://schemas.openxmlformats.org/officeDocument/2006/relationships/tags" Target="../tags/tag837.xml"/><Relationship Id="rId25" Type="http://schemas.openxmlformats.org/officeDocument/2006/relationships/tags" Target="../tags/tag836.xml"/><Relationship Id="rId24" Type="http://schemas.openxmlformats.org/officeDocument/2006/relationships/tags" Target="../tags/tag835.xml"/><Relationship Id="rId23" Type="http://schemas.openxmlformats.org/officeDocument/2006/relationships/tags" Target="../tags/tag834.xml"/><Relationship Id="rId22" Type="http://schemas.openxmlformats.org/officeDocument/2006/relationships/tags" Target="../tags/tag833.xml"/><Relationship Id="rId21" Type="http://schemas.openxmlformats.org/officeDocument/2006/relationships/tags" Target="../tags/tag832.xml"/><Relationship Id="rId20" Type="http://schemas.openxmlformats.org/officeDocument/2006/relationships/tags" Target="../tags/tag831.xml"/><Relationship Id="rId2" Type="http://schemas.openxmlformats.org/officeDocument/2006/relationships/tags" Target="../tags/tag813.xml"/><Relationship Id="rId19" Type="http://schemas.openxmlformats.org/officeDocument/2006/relationships/tags" Target="../tags/tag830.xml"/><Relationship Id="rId18" Type="http://schemas.openxmlformats.org/officeDocument/2006/relationships/tags" Target="../tags/tag829.xml"/><Relationship Id="rId17" Type="http://schemas.openxmlformats.org/officeDocument/2006/relationships/tags" Target="../tags/tag828.xml"/><Relationship Id="rId16" Type="http://schemas.openxmlformats.org/officeDocument/2006/relationships/tags" Target="../tags/tag827.xml"/><Relationship Id="rId15" Type="http://schemas.openxmlformats.org/officeDocument/2006/relationships/tags" Target="../tags/tag826.xml"/><Relationship Id="rId14" Type="http://schemas.openxmlformats.org/officeDocument/2006/relationships/tags" Target="../tags/tag825.xml"/><Relationship Id="rId13" Type="http://schemas.openxmlformats.org/officeDocument/2006/relationships/tags" Target="../tags/tag824.xml"/><Relationship Id="rId12" Type="http://schemas.openxmlformats.org/officeDocument/2006/relationships/tags" Target="../tags/tag823.xml"/><Relationship Id="rId11" Type="http://schemas.openxmlformats.org/officeDocument/2006/relationships/tags" Target="../tags/tag822.xml"/><Relationship Id="rId10" Type="http://schemas.openxmlformats.org/officeDocument/2006/relationships/tags" Target="../tags/tag821.xml"/><Relationship Id="rId1" Type="http://schemas.openxmlformats.org/officeDocument/2006/relationships/tags" Target="../tags/tag812.xml"/></Relationships>
</file>

<file path=ppt/slides/_rels/slide60.xml.rels><?xml version="1.0" encoding="UTF-8" standalone="yes"?>
<Relationships xmlns="http://schemas.openxmlformats.org/package/2006/relationships"><Relationship Id="rId9" Type="http://schemas.openxmlformats.org/officeDocument/2006/relationships/tags" Target="../tags/tag890.xml"/><Relationship Id="rId8" Type="http://schemas.openxmlformats.org/officeDocument/2006/relationships/tags" Target="../tags/tag889.xml"/><Relationship Id="rId7" Type="http://schemas.openxmlformats.org/officeDocument/2006/relationships/tags" Target="../tags/tag888.xml"/><Relationship Id="rId6" Type="http://schemas.openxmlformats.org/officeDocument/2006/relationships/tags" Target="../tags/tag887.xml"/><Relationship Id="rId5" Type="http://schemas.openxmlformats.org/officeDocument/2006/relationships/tags" Target="../tags/tag886.xml"/><Relationship Id="rId4" Type="http://schemas.openxmlformats.org/officeDocument/2006/relationships/tags" Target="../tags/tag885.xml"/><Relationship Id="rId3" Type="http://schemas.openxmlformats.org/officeDocument/2006/relationships/tags" Target="../tags/tag884.xml"/><Relationship Id="rId2" Type="http://schemas.openxmlformats.org/officeDocument/2006/relationships/tags" Target="../tags/tag883.xml"/><Relationship Id="rId17" Type="http://schemas.openxmlformats.org/officeDocument/2006/relationships/notesSlide" Target="../notesSlides/notesSlide27.xml"/><Relationship Id="rId16" Type="http://schemas.openxmlformats.org/officeDocument/2006/relationships/slideLayout" Target="../slideLayouts/slideLayout12.xml"/><Relationship Id="rId15" Type="http://schemas.openxmlformats.org/officeDocument/2006/relationships/image" Target="../media/image36.png"/><Relationship Id="rId14" Type="http://schemas.openxmlformats.org/officeDocument/2006/relationships/image" Target="../media/image357.svg"/><Relationship Id="rId13" Type="http://schemas.openxmlformats.org/officeDocument/2006/relationships/image" Target="../media/image21.png"/><Relationship Id="rId12" Type="http://schemas.openxmlformats.org/officeDocument/2006/relationships/tags" Target="../tags/tag893.xml"/><Relationship Id="rId11" Type="http://schemas.openxmlformats.org/officeDocument/2006/relationships/tags" Target="../tags/tag892.xml"/><Relationship Id="rId10" Type="http://schemas.openxmlformats.org/officeDocument/2006/relationships/tags" Target="../tags/tag891.xml"/><Relationship Id="rId1" Type="http://schemas.openxmlformats.org/officeDocument/2006/relationships/tags" Target="../tags/tag882.xml"/></Relationships>
</file>

<file path=ppt/slides/_rels/slide61.xml.rels><?xml version="1.0" encoding="UTF-8" standalone="yes"?>
<Relationships xmlns="http://schemas.openxmlformats.org/package/2006/relationships"><Relationship Id="rId9" Type="http://schemas.openxmlformats.org/officeDocument/2006/relationships/image" Target="../media/image365.svg"/><Relationship Id="rId8" Type="http://schemas.openxmlformats.org/officeDocument/2006/relationships/image" Target="../media/image364.png"/><Relationship Id="rId7" Type="http://schemas.openxmlformats.org/officeDocument/2006/relationships/image" Target="../media/image363.svg"/><Relationship Id="rId6" Type="http://schemas.openxmlformats.org/officeDocument/2006/relationships/image" Target="../media/image362.png"/><Relationship Id="rId5" Type="http://schemas.openxmlformats.org/officeDocument/2006/relationships/image" Target="../media/image361.svg"/><Relationship Id="rId4" Type="http://schemas.openxmlformats.org/officeDocument/2006/relationships/image" Target="../media/image360.png"/><Relationship Id="rId3" Type="http://schemas.openxmlformats.org/officeDocument/2006/relationships/image" Target="../media/image359.svg"/><Relationship Id="rId2" Type="http://schemas.openxmlformats.org/officeDocument/2006/relationships/image" Target="../media/image358.png"/><Relationship Id="rId15" Type="http://schemas.openxmlformats.org/officeDocument/2006/relationships/notesSlide" Target="../notesSlides/notesSlide28.xml"/><Relationship Id="rId14" Type="http://schemas.openxmlformats.org/officeDocument/2006/relationships/slideLayout" Target="../slideLayouts/slideLayout12.xml"/><Relationship Id="rId13" Type="http://schemas.openxmlformats.org/officeDocument/2006/relationships/image" Target="../media/image286.svg"/><Relationship Id="rId12" Type="http://schemas.openxmlformats.org/officeDocument/2006/relationships/image" Target="../media/image21.png"/><Relationship Id="rId11" Type="http://schemas.openxmlformats.org/officeDocument/2006/relationships/image" Target="../media/image367.svg"/><Relationship Id="rId10" Type="http://schemas.openxmlformats.org/officeDocument/2006/relationships/image" Target="../media/image366.png"/><Relationship Id="rId1" Type="http://schemas.openxmlformats.org/officeDocument/2006/relationships/image" Target="../media/image36.png"/></Relationships>
</file>

<file path=ppt/slides/_rels/slide62.xml.rels><?xml version="1.0" encoding="UTF-8" standalone="yes"?>
<Relationships xmlns="http://schemas.openxmlformats.org/package/2006/relationships"><Relationship Id="rId9" Type="http://schemas.openxmlformats.org/officeDocument/2006/relationships/image" Target="../media/image375.svg"/><Relationship Id="rId8" Type="http://schemas.openxmlformats.org/officeDocument/2006/relationships/image" Target="../media/image374.png"/><Relationship Id="rId7" Type="http://schemas.openxmlformats.org/officeDocument/2006/relationships/image" Target="../media/image373.svg"/><Relationship Id="rId6" Type="http://schemas.openxmlformats.org/officeDocument/2006/relationships/image" Target="../media/image372.png"/><Relationship Id="rId5" Type="http://schemas.openxmlformats.org/officeDocument/2006/relationships/image" Target="../media/image371.svg"/><Relationship Id="rId4" Type="http://schemas.openxmlformats.org/officeDocument/2006/relationships/image" Target="../media/image370.png"/><Relationship Id="rId3" Type="http://schemas.openxmlformats.org/officeDocument/2006/relationships/image" Target="../media/image369.svg"/><Relationship Id="rId2" Type="http://schemas.openxmlformats.org/officeDocument/2006/relationships/image" Target="../media/image368.png"/><Relationship Id="rId13" Type="http://schemas.openxmlformats.org/officeDocument/2006/relationships/notesSlide" Target="../notesSlides/notesSlide29.xml"/><Relationship Id="rId12" Type="http://schemas.openxmlformats.org/officeDocument/2006/relationships/slideLayout" Target="../slideLayouts/slideLayout12.xml"/><Relationship Id="rId11" Type="http://schemas.openxmlformats.org/officeDocument/2006/relationships/image" Target="../media/image286.svg"/><Relationship Id="rId10" Type="http://schemas.openxmlformats.org/officeDocument/2006/relationships/image" Target="../media/image21.png"/><Relationship Id="rId1" Type="http://schemas.openxmlformats.org/officeDocument/2006/relationships/image" Target="../media/image36.png"/></Relationships>
</file>

<file path=ppt/slides/_rels/slide63.xml.rels><?xml version="1.0" encoding="UTF-8" standalone="yes"?>
<Relationships xmlns="http://schemas.openxmlformats.org/package/2006/relationships"><Relationship Id="rId9" Type="http://schemas.openxmlformats.org/officeDocument/2006/relationships/notesSlide" Target="../notesSlides/notesSlide30.xml"/><Relationship Id="rId8" Type="http://schemas.openxmlformats.org/officeDocument/2006/relationships/slideLayout" Target="../slideLayouts/slideLayout12.xml"/><Relationship Id="rId7" Type="http://schemas.openxmlformats.org/officeDocument/2006/relationships/image" Target="../media/image379.svg"/><Relationship Id="rId6" Type="http://schemas.openxmlformats.org/officeDocument/2006/relationships/image" Target="../media/image378.svg"/><Relationship Id="rId5" Type="http://schemas.openxmlformats.org/officeDocument/2006/relationships/image" Target="../media/image377.png"/><Relationship Id="rId4" Type="http://schemas.openxmlformats.org/officeDocument/2006/relationships/tags" Target="../tags/tag894.xml"/><Relationship Id="rId3" Type="http://schemas.openxmlformats.org/officeDocument/2006/relationships/image" Target="../media/image36.png"/><Relationship Id="rId2" Type="http://schemas.openxmlformats.org/officeDocument/2006/relationships/image" Target="../media/image376.svg"/><Relationship Id="rId1" Type="http://schemas.openxmlformats.org/officeDocument/2006/relationships/image" Target="../media/image21.png"/></Relationships>
</file>

<file path=ppt/slides/_rels/slide64.xml.rels><?xml version="1.0" encoding="UTF-8" standalone="yes"?>
<Relationships xmlns="http://schemas.openxmlformats.org/package/2006/relationships"><Relationship Id="rId5" Type="http://schemas.openxmlformats.org/officeDocument/2006/relationships/notesSlide" Target="../notesSlides/notesSlide31.xml"/><Relationship Id="rId4" Type="http://schemas.openxmlformats.org/officeDocument/2006/relationships/slideLayout" Target="../slideLayouts/slideLayout12.xml"/><Relationship Id="rId3" Type="http://schemas.openxmlformats.org/officeDocument/2006/relationships/image" Target="../media/image286.svg"/><Relationship Id="rId2" Type="http://schemas.openxmlformats.org/officeDocument/2006/relationships/image" Target="../media/image21.png"/><Relationship Id="rId1" Type="http://schemas.openxmlformats.org/officeDocument/2006/relationships/image" Target="../media/image36.png"/></Relationships>
</file>

<file path=ppt/slides/_rels/slide65.xml.rels><?xml version="1.0" encoding="UTF-8" standalone="yes"?>
<Relationships xmlns="http://schemas.openxmlformats.org/package/2006/relationships"><Relationship Id="rId9" Type="http://schemas.openxmlformats.org/officeDocument/2006/relationships/image" Target="../media/image388.png"/><Relationship Id="rId8" Type="http://schemas.openxmlformats.org/officeDocument/2006/relationships/image" Target="../media/image387.svg"/><Relationship Id="rId7" Type="http://schemas.openxmlformats.org/officeDocument/2006/relationships/image" Target="../media/image386.png"/><Relationship Id="rId6" Type="http://schemas.openxmlformats.org/officeDocument/2006/relationships/image" Target="../media/image385.svg"/><Relationship Id="rId5" Type="http://schemas.openxmlformats.org/officeDocument/2006/relationships/image" Target="../media/image384.png"/><Relationship Id="rId47" Type="http://schemas.openxmlformats.org/officeDocument/2006/relationships/notesSlide" Target="../notesSlides/notesSlide32.xml"/><Relationship Id="rId46" Type="http://schemas.openxmlformats.org/officeDocument/2006/relationships/slideLayout" Target="../slideLayouts/slideLayout12.xml"/><Relationship Id="rId45" Type="http://schemas.openxmlformats.org/officeDocument/2006/relationships/image" Target="../media/image36.png"/><Relationship Id="rId44" Type="http://schemas.openxmlformats.org/officeDocument/2006/relationships/image" Target="../media/image286.svg"/><Relationship Id="rId43" Type="http://schemas.openxmlformats.org/officeDocument/2006/relationships/image" Target="../media/image21.png"/><Relationship Id="rId42" Type="http://schemas.openxmlformats.org/officeDocument/2006/relationships/image" Target="../media/image421.svg"/><Relationship Id="rId41" Type="http://schemas.openxmlformats.org/officeDocument/2006/relationships/image" Target="../media/image420.png"/><Relationship Id="rId40" Type="http://schemas.openxmlformats.org/officeDocument/2006/relationships/image" Target="../media/image419.svg"/><Relationship Id="rId4" Type="http://schemas.openxmlformats.org/officeDocument/2006/relationships/image" Target="../media/image383.svg"/><Relationship Id="rId39" Type="http://schemas.openxmlformats.org/officeDocument/2006/relationships/image" Target="../media/image418.png"/><Relationship Id="rId38" Type="http://schemas.openxmlformats.org/officeDocument/2006/relationships/image" Target="../media/image417.svg"/><Relationship Id="rId37" Type="http://schemas.openxmlformats.org/officeDocument/2006/relationships/image" Target="../media/image416.png"/><Relationship Id="rId36" Type="http://schemas.openxmlformats.org/officeDocument/2006/relationships/image" Target="../media/image415.svg"/><Relationship Id="rId35" Type="http://schemas.openxmlformats.org/officeDocument/2006/relationships/image" Target="../media/image414.png"/><Relationship Id="rId34" Type="http://schemas.openxmlformats.org/officeDocument/2006/relationships/image" Target="../media/image413.svg"/><Relationship Id="rId33" Type="http://schemas.openxmlformats.org/officeDocument/2006/relationships/image" Target="../media/image412.png"/><Relationship Id="rId32" Type="http://schemas.openxmlformats.org/officeDocument/2006/relationships/image" Target="../media/image411.svg"/><Relationship Id="rId31" Type="http://schemas.openxmlformats.org/officeDocument/2006/relationships/image" Target="../media/image410.png"/><Relationship Id="rId30" Type="http://schemas.openxmlformats.org/officeDocument/2006/relationships/image" Target="../media/image409.svg"/><Relationship Id="rId3" Type="http://schemas.openxmlformats.org/officeDocument/2006/relationships/image" Target="../media/image382.png"/><Relationship Id="rId29" Type="http://schemas.openxmlformats.org/officeDocument/2006/relationships/image" Target="../media/image408.png"/><Relationship Id="rId28" Type="http://schemas.openxmlformats.org/officeDocument/2006/relationships/image" Target="../media/image407.svg"/><Relationship Id="rId27" Type="http://schemas.openxmlformats.org/officeDocument/2006/relationships/image" Target="../media/image406.png"/><Relationship Id="rId26" Type="http://schemas.openxmlformats.org/officeDocument/2006/relationships/image" Target="../media/image405.svg"/><Relationship Id="rId25" Type="http://schemas.openxmlformats.org/officeDocument/2006/relationships/image" Target="../media/image404.png"/><Relationship Id="rId24" Type="http://schemas.openxmlformats.org/officeDocument/2006/relationships/image" Target="../media/image403.svg"/><Relationship Id="rId23" Type="http://schemas.openxmlformats.org/officeDocument/2006/relationships/image" Target="../media/image402.png"/><Relationship Id="rId22" Type="http://schemas.openxmlformats.org/officeDocument/2006/relationships/image" Target="../media/image401.svg"/><Relationship Id="rId21" Type="http://schemas.openxmlformats.org/officeDocument/2006/relationships/image" Target="../media/image400.png"/><Relationship Id="rId20" Type="http://schemas.openxmlformats.org/officeDocument/2006/relationships/image" Target="../media/image399.svg"/><Relationship Id="rId2" Type="http://schemas.openxmlformats.org/officeDocument/2006/relationships/image" Target="../media/image381.svg"/><Relationship Id="rId19" Type="http://schemas.openxmlformats.org/officeDocument/2006/relationships/image" Target="../media/image398.png"/><Relationship Id="rId18" Type="http://schemas.openxmlformats.org/officeDocument/2006/relationships/image" Target="../media/image397.svg"/><Relationship Id="rId17" Type="http://schemas.openxmlformats.org/officeDocument/2006/relationships/image" Target="../media/image396.png"/><Relationship Id="rId16" Type="http://schemas.openxmlformats.org/officeDocument/2006/relationships/image" Target="../media/image395.svg"/><Relationship Id="rId15" Type="http://schemas.openxmlformats.org/officeDocument/2006/relationships/image" Target="../media/image394.png"/><Relationship Id="rId14" Type="http://schemas.openxmlformats.org/officeDocument/2006/relationships/image" Target="../media/image393.svg"/><Relationship Id="rId13" Type="http://schemas.openxmlformats.org/officeDocument/2006/relationships/image" Target="../media/image392.png"/><Relationship Id="rId12" Type="http://schemas.openxmlformats.org/officeDocument/2006/relationships/image" Target="../media/image391.svg"/><Relationship Id="rId11" Type="http://schemas.openxmlformats.org/officeDocument/2006/relationships/image" Target="../media/image390.png"/><Relationship Id="rId10" Type="http://schemas.openxmlformats.org/officeDocument/2006/relationships/image" Target="../media/image389.svg"/><Relationship Id="rId1" Type="http://schemas.openxmlformats.org/officeDocument/2006/relationships/image" Target="../media/image380.png"/></Relationships>
</file>

<file path=ppt/slides/_rels/slide66.xml.rels><?xml version="1.0" encoding="UTF-8" standalone="yes"?>
<Relationships xmlns="http://schemas.openxmlformats.org/package/2006/relationships"><Relationship Id="rId9" Type="http://schemas.openxmlformats.org/officeDocument/2006/relationships/image" Target="../media/image21.png"/><Relationship Id="rId8" Type="http://schemas.openxmlformats.org/officeDocument/2006/relationships/image" Target="../media/image429.png"/><Relationship Id="rId7" Type="http://schemas.openxmlformats.org/officeDocument/2006/relationships/image" Target="../media/image428.png"/><Relationship Id="rId6" Type="http://schemas.openxmlformats.org/officeDocument/2006/relationships/image" Target="../media/image427.png"/><Relationship Id="rId5" Type="http://schemas.openxmlformats.org/officeDocument/2006/relationships/image" Target="../media/image426.png"/><Relationship Id="rId4" Type="http://schemas.openxmlformats.org/officeDocument/2006/relationships/image" Target="../media/image425.png"/><Relationship Id="rId3" Type="http://schemas.openxmlformats.org/officeDocument/2006/relationships/image" Target="../media/image424.png"/><Relationship Id="rId2" Type="http://schemas.openxmlformats.org/officeDocument/2006/relationships/image" Target="../media/image423.png"/><Relationship Id="rId12" Type="http://schemas.openxmlformats.org/officeDocument/2006/relationships/slideLayout" Target="../slideLayouts/slideLayout12.xml"/><Relationship Id="rId11" Type="http://schemas.openxmlformats.org/officeDocument/2006/relationships/image" Target="../media/image36.png"/><Relationship Id="rId10" Type="http://schemas.openxmlformats.org/officeDocument/2006/relationships/image" Target="../media/image288.svg"/><Relationship Id="rId1" Type="http://schemas.openxmlformats.org/officeDocument/2006/relationships/image" Target="../media/image422.png"/></Relationships>
</file>

<file path=ppt/slides/_rels/slide67.xml.rels><?xml version="1.0" encoding="UTF-8" standalone="yes"?>
<Relationships xmlns="http://schemas.openxmlformats.org/package/2006/relationships"><Relationship Id="rId9" Type="http://schemas.openxmlformats.org/officeDocument/2006/relationships/image" Target="../media/image438.png"/><Relationship Id="rId8" Type="http://schemas.openxmlformats.org/officeDocument/2006/relationships/image" Target="../media/image437.svg"/><Relationship Id="rId7" Type="http://schemas.openxmlformats.org/officeDocument/2006/relationships/image" Target="../media/image436.png"/><Relationship Id="rId6" Type="http://schemas.openxmlformats.org/officeDocument/2006/relationships/image" Target="../media/image435.svg"/><Relationship Id="rId5" Type="http://schemas.openxmlformats.org/officeDocument/2006/relationships/image" Target="../media/image434.png"/><Relationship Id="rId4" Type="http://schemas.openxmlformats.org/officeDocument/2006/relationships/image" Target="../media/image433.svg"/><Relationship Id="rId3" Type="http://schemas.openxmlformats.org/officeDocument/2006/relationships/image" Target="../media/image432.png"/><Relationship Id="rId2" Type="http://schemas.openxmlformats.org/officeDocument/2006/relationships/image" Target="../media/image431.svg"/><Relationship Id="rId15" Type="http://schemas.openxmlformats.org/officeDocument/2006/relationships/notesSlide" Target="../notesSlides/notesSlide33.xml"/><Relationship Id="rId14" Type="http://schemas.openxmlformats.org/officeDocument/2006/relationships/slideLayout" Target="../slideLayouts/slideLayout12.xml"/><Relationship Id="rId13" Type="http://schemas.openxmlformats.org/officeDocument/2006/relationships/image" Target="../media/image36.png"/><Relationship Id="rId12" Type="http://schemas.openxmlformats.org/officeDocument/2006/relationships/image" Target="../media/image286.svg"/><Relationship Id="rId11" Type="http://schemas.openxmlformats.org/officeDocument/2006/relationships/image" Target="../media/image21.png"/><Relationship Id="rId10" Type="http://schemas.openxmlformats.org/officeDocument/2006/relationships/image" Target="../media/image439.svg"/><Relationship Id="rId1" Type="http://schemas.openxmlformats.org/officeDocument/2006/relationships/image" Target="../media/image430.png"/></Relationships>
</file>

<file path=ppt/slides/_rels/slide68.xml.rels><?xml version="1.0" encoding="UTF-8" standalone="yes"?>
<Relationships xmlns="http://schemas.openxmlformats.org/package/2006/relationships"><Relationship Id="rId9" Type="http://schemas.openxmlformats.org/officeDocument/2006/relationships/image" Target="../media/image445.svg"/><Relationship Id="rId8" Type="http://schemas.openxmlformats.org/officeDocument/2006/relationships/image" Target="../media/image444.svg"/><Relationship Id="rId7" Type="http://schemas.openxmlformats.org/officeDocument/2006/relationships/image" Target="../media/image443.png"/><Relationship Id="rId6" Type="http://schemas.openxmlformats.org/officeDocument/2006/relationships/image" Target="../media/image442.svg"/><Relationship Id="rId5" Type="http://schemas.openxmlformats.org/officeDocument/2006/relationships/image" Target="../media/image441.png"/><Relationship Id="rId4" Type="http://schemas.openxmlformats.org/officeDocument/2006/relationships/image" Target="../media/image36.png"/><Relationship Id="rId32" Type="http://schemas.openxmlformats.org/officeDocument/2006/relationships/notesSlide" Target="../notesSlides/notesSlide34.xml"/><Relationship Id="rId31" Type="http://schemas.openxmlformats.org/officeDocument/2006/relationships/slideLayout" Target="../slideLayouts/slideLayout12.xml"/><Relationship Id="rId30" Type="http://schemas.openxmlformats.org/officeDocument/2006/relationships/image" Target="../media/image466.svg"/><Relationship Id="rId3" Type="http://schemas.openxmlformats.org/officeDocument/2006/relationships/image" Target="../media/image440.svg"/><Relationship Id="rId29" Type="http://schemas.openxmlformats.org/officeDocument/2006/relationships/image" Target="../media/image465.svg"/><Relationship Id="rId28" Type="http://schemas.openxmlformats.org/officeDocument/2006/relationships/image" Target="../media/image464.svg"/><Relationship Id="rId27" Type="http://schemas.openxmlformats.org/officeDocument/2006/relationships/image" Target="../media/image463.svg"/><Relationship Id="rId26" Type="http://schemas.openxmlformats.org/officeDocument/2006/relationships/image" Target="../media/image462.svg"/><Relationship Id="rId25" Type="http://schemas.openxmlformats.org/officeDocument/2006/relationships/image" Target="../media/image461.svg"/><Relationship Id="rId24" Type="http://schemas.openxmlformats.org/officeDocument/2006/relationships/image" Target="../media/image460.svg"/><Relationship Id="rId23" Type="http://schemas.openxmlformats.org/officeDocument/2006/relationships/image" Target="../media/image459.svg"/><Relationship Id="rId22" Type="http://schemas.openxmlformats.org/officeDocument/2006/relationships/image" Target="../media/image458.svg"/><Relationship Id="rId21" Type="http://schemas.openxmlformats.org/officeDocument/2006/relationships/image" Target="../media/image457.svg"/><Relationship Id="rId20" Type="http://schemas.openxmlformats.org/officeDocument/2006/relationships/image" Target="../media/image456.svg"/><Relationship Id="rId2" Type="http://schemas.openxmlformats.org/officeDocument/2006/relationships/image" Target="../media/image21.png"/><Relationship Id="rId19" Type="http://schemas.openxmlformats.org/officeDocument/2006/relationships/image" Target="../media/image455.svg"/><Relationship Id="rId18" Type="http://schemas.openxmlformats.org/officeDocument/2006/relationships/image" Target="../media/image454.svg"/><Relationship Id="rId17" Type="http://schemas.openxmlformats.org/officeDocument/2006/relationships/image" Target="../media/image453.svg"/><Relationship Id="rId16" Type="http://schemas.openxmlformats.org/officeDocument/2006/relationships/image" Target="../media/image452.svg"/><Relationship Id="rId15" Type="http://schemas.openxmlformats.org/officeDocument/2006/relationships/image" Target="../media/image451.svg"/><Relationship Id="rId14" Type="http://schemas.openxmlformats.org/officeDocument/2006/relationships/image" Target="../media/image450.svg"/><Relationship Id="rId13" Type="http://schemas.openxmlformats.org/officeDocument/2006/relationships/image" Target="../media/image449.svg"/><Relationship Id="rId12" Type="http://schemas.openxmlformats.org/officeDocument/2006/relationships/image" Target="../media/image448.svg"/><Relationship Id="rId11" Type="http://schemas.openxmlformats.org/officeDocument/2006/relationships/image" Target="../media/image447.svg"/><Relationship Id="rId10" Type="http://schemas.openxmlformats.org/officeDocument/2006/relationships/image" Target="../media/image446.svg"/><Relationship Id="rId1" Type="http://schemas.openxmlformats.org/officeDocument/2006/relationships/chart" Target="../charts/chart6.xml"/></Relationships>
</file>

<file path=ppt/slides/_rels/slide69.xml.rels><?xml version="1.0" encoding="UTF-8" standalone="yes"?>
<Relationships xmlns="http://schemas.openxmlformats.org/package/2006/relationships"><Relationship Id="rId9" Type="http://schemas.openxmlformats.org/officeDocument/2006/relationships/tags" Target="../tags/tag901.xml"/><Relationship Id="rId8" Type="http://schemas.openxmlformats.org/officeDocument/2006/relationships/tags" Target="../tags/tag900.xml"/><Relationship Id="rId7" Type="http://schemas.openxmlformats.org/officeDocument/2006/relationships/tags" Target="../tags/tag899.xml"/><Relationship Id="rId69" Type="http://schemas.openxmlformats.org/officeDocument/2006/relationships/notesSlide" Target="../notesSlides/notesSlide35.xml"/><Relationship Id="rId68" Type="http://schemas.openxmlformats.org/officeDocument/2006/relationships/slideLayout" Target="../slideLayouts/slideLayout12.xml"/><Relationship Id="rId67" Type="http://schemas.openxmlformats.org/officeDocument/2006/relationships/image" Target="../media/image36.png"/><Relationship Id="rId66" Type="http://schemas.openxmlformats.org/officeDocument/2006/relationships/image" Target="../media/image479.svg"/><Relationship Id="rId65" Type="http://schemas.openxmlformats.org/officeDocument/2006/relationships/image" Target="../media/image478.png"/><Relationship Id="rId64" Type="http://schemas.openxmlformats.org/officeDocument/2006/relationships/tags" Target="../tags/tag946.xml"/><Relationship Id="rId63" Type="http://schemas.openxmlformats.org/officeDocument/2006/relationships/tags" Target="../tags/tag945.xml"/><Relationship Id="rId62" Type="http://schemas.openxmlformats.org/officeDocument/2006/relationships/tags" Target="../tags/tag944.xml"/><Relationship Id="rId61" Type="http://schemas.openxmlformats.org/officeDocument/2006/relationships/tags" Target="../tags/tag943.xml"/><Relationship Id="rId60" Type="http://schemas.openxmlformats.org/officeDocument/2006/relationships/tags" Target="../tags/tag942.xml"/><Relationship Id="rId6" Type="http://schemas.openxmlformats.org/officeDocument/2006/relationships/tags" Target="../tags/tag898.xml"/><Relationship Id="rId59" Type="http://schemas.openxmlformats.org/officeDocument/2006/relationships/tags" Target="../tags/tag941.xml"/><Relationship Id="rId58" Type="http://schemas.openxmlformats.org/officeDocument/2006/relationships/image" Target="../media/image477.svg"/><Relationship Id="rId57" Type="http://schemas.openxmlformats.org/officeDocument/2006/relationships/image" Target="../media/image476.png"/><Relationship Id="rId56" Type="http://schemas.openxmlformats.org/officeDocument/2006/relationships/tags" Target="../tags/tag940.xml"/><Relationship Id="rId55" Type="http://schemas.openxmlformats.org/officeDocument/2006/relationships/tags" Target="../tags/tag939.xml"/><Relationship Id="rId54" Type="http://schemas.openxmlformats.org/officeDocument/2006/relationships/tags" Target="../tags/tag938.xml"/><Relationship Id="rId53" Type="http://schemas.openxmlformats.org/officeDocument/2006/relationships/tags" Target="../tags/tag937.xml"/><Relationship Id="rId52" Type="http://schemas.openxmlformats.org/officeDocument/2006/relationships/tags" Target="../tags/tag936.xml"/><Relationship Id="rId51" Type="http://schemas.openxmlformats.org/officeDocument/2006/relationships/tags" Target="../tags/tag935.xml"/><Relationship Id="rId50" Type="http://schemas.openxmlformats.org/officeDocument/2006/relationships/tags" Target="../tags/tag934.xml"/><Relationship Id="rId5" Type="http://schemas.openxmlformats.org/officeDocument/2006/relationships/tags" Target="../tags/tag897.xml"/><Relationship Id="rId49" Type="http://schemas.openxmlformats.org/officeDocument/2006/relationships/tags" Target="../tags/tag933.xml"/><Relationship Id="rId48" Type="http://schemas.openxmlformats.org/officeDocument/2006/relationships/tags" Target="../tags/tag932.xml"/><Relationship Id="rId47" Type="http://schemas.openxmlformats.org/officeDocument/2006/relationships/tags" Target="../tags/tag931.xml"/><Relationship Id="rId46" Type="http://schemas.openxmlformats.org/officeDocument/2006/relationships/tags" Target="../tags/tag930.xml"/><Relationship Id="rId45" Type="http://schemas.openxmlformats.org/officeDocument/2006/relationships/tags" Target="../tags/tag929.xml"/><Relationship Id="rId44" Type="http://schemas.openxmlformats.org/officeDocument/2006/relationships/tags" Target="../tags/tag928.xml"/><Relationship Id="rId43" Type="http://schemas.openxmlformats.org/officeDocument/2006/relationships/tags" Target="../tags/tag927.xml"/><Relationship Id="rId42" Type="http://schemas.openxmlformats.org/officeDocument/2006/relationships/tags" Target="../tags/tag926.xml"/><Relationship Id="rId41" Type="http://schemas.openxmlformats.org/officeDocument/2006/relationships/tags" Target="../tags/tag925.xml"/><Relationship Id="rId40" Type="http://schemas.openxmlformats.org/officeDocument/2006/relationships/tags" Target="../tags/tag924.xml"/><Relationship Id="rId4" Type="http://schemas.openxmlformats.org/officeDocument/2006/relationships/tags" Target="../tags/tag896.xml"/><Relationship Id="rId39" Type="http://schemas.openxmlformats.org/officeDocument/2006/relationships/tags" Target="../tags/tag923.xml"/><Relationship Id="rId38" Type="http://schemas.openxmlformats.org/officeDocument/2006/relationships/tags" Target="../tags/tag922.xml"/><Relationship Id="rId37" Type="http://schemas.openxmlformats.org/officeDocument/2006/relationships/tags" Target="../tags/tag921.xml"/><Relationship Id="rId36" Type="http://schemas.openxmlformats.org/officeDocument/2006/relationships/tags" Target="../tags/tag920.xml"/><Relationship Id="rId35" Type="http://schemas.openxmlformats.org/officeDocument/2006/relationships/tags" Target="../tags/tag919.xml"/><Relationship Id="rId34" Type="http://schemas.openxmlformats.org/officeDocument/2006/relationships/tags" Target="../tags/tag918.xml"/><Relationship Id="rId33" Type="http://schemas.openxmlformats.org/officeDocument/2006/relationships/tags" Target="../tags/tag917.xml"/><Relationship Id="rId32" Type="http://schemas.openxmlformats.org/officeDocument/2006/relationships/tags" Target="../tags/tag916.xml"/><Relationship Id="rId31" Type="http://schemas.openxmlformats.org/officeDocument/2006/relationships/tags" Target="../tags/tag915.xml"/><Relationship Id="rId30" Type="http://schemas.openxmlformats.org/officeDocument/2006/relationships/image" Target="../media/image475.svg"/><Relationship Id="rId3" Type="http://schemas.openxmlformats.org/officeDocument/2006/relationships/tags" Target="../tags/tag895.xml"/><Relationship Id="rId29" Type="http://schemas.openxmlformats.org/officeDocument/2006/relationships/image" Target="../media/image474.png"/><Relationship Id="rId28" Type="http://schemas.openxmlformats.org/officeDocument/2006/relationships/image" Target="../media/image473.svg"/><Relationship Id="rId27" Type="http://schemas.openxmlformats.org/officeDocument/2006/relationships/image" Target="../media/image472.png"/><Relationship Id="rId26" Type="http://schemas.openxmlformats.org/officeDocument/2006/relationships/image" Target="../media/image471.svg"/><Relationship Id="rId25" Type="http://schemas.openxmlformats.org/officeDocument/2006/relationships/image" Target="../media/image470.png"/><Relationship Id="rId24" Type="http://schemas.openxmlformats.org/officeDocument/2006/relationships/tags" Target="../tags/tag914.xml"/><Relationship Id="rId23" Type="http://schemas.openxmlformats.org/officeDocument/2006/relationships/tags" Target="../tags/tag913.xml"/><Relationship Id="rId22" Type="http://schemas.openxmlformats.org/officeDocument/2006/relationships/tags" Target="../tags/tag912.xml"/><Relationship Id="rId21" Type="http://schemas.openxmlformats.org/officeDocument/2006/relationships/tags" Target="../tags/tag911.xml"/><Relationship Id="rId20" Type="http://schemas.openxmlformats.org/officeDocument/2006/relationships/tags" Target="../tags/tag910.xml"/><Relationship Id="rId2" Type="http://schemas.openxmlformats.org/officeDocument/2006/relationships/image" Target="../media/image467.svg"/><Relationship Id="rId19" Type="http://schemas.openxmlformats.org/officeDocument/2006/relationships/tags" Target="../tags/tag909.xml"/><Relationship Id="rId18" Type="http://schemas.openxmlformats.org/officeDocument/2006/relationships/tags" Target="../tags/tag908.xml"/><Relationship Id="rId17" Type="http://schemas.openxmlformats.org/officeDocument/2006/relationships/tags" Target="../tags/tag907.xml"/><Relationship Id="rId16" Type="http://schemas.openxmlformats.org/officeDocument/2006/relationships/tags" Target="../tags/tag906.xml"/><Relationship Id="rId15" Type="http://schemas.openxmlformats.org/officeDocument/2006/relationships/tags" Target="../tags/tag905.xml"/><Relationship Id="rId14" Type="http://schemas.openxmlformats.org/officeDocument/2006/relationships/image" Target="../media/image469.svg"/><Relationship Id="rId13" Type="http://schemas.openxmlformats.org/officeDocument/2006/relationships/image" Target="../media/image468.png"/><Relationship Id="rId12" Type="http://schemas.openxmlformats.org/officeDocument/2006/relationships/tags" Target="../tags/tag904.xml"/><Relationship Id="rId11" Type="http://schemas.openxmlformats.org/officeDocument/2006/relationships/tags" Target="../tags/tag903.xml"/><Relationship Id="rId10" Type="http://schemas.openxmlformats.org/officeDocument/2006/relationships/tags" Target="../tags/tag902.xml"/><Relationship Id="rId1" Type="http://schemas.openxmlformats.org/officeDocument/2006/relationships/image" Target="../media/image21.png"/></Relationships>
</file>

<file path=ppt/slides/_rels/slide70.xml.rels><?xml version="1.0" encoding="UTF-8" standalone="yes"?>
<Relationships xmlns="http://schemas.openxmlformats.org/package/2006/relationships"><Relationship Id="rId5" Type="http://schemas.openxmlformats.org/officeDocument/2006/relationships/notesSlide" Target="../notesSlides/notesSlide36.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288.svg"/><Relationship Id="rId1" Type="http://schemas.openxmlformats.org/officeDocument/2006/relationships/image" Target="../media/image21.png"/></Relationships>
</file>

<file path=ppt/slides/_rels/slide71.xml.rels><?xml version="1.0" encoding="UTF-8" standalone="yes"?>
<Relationships xmlns="http://schemas.openxmlformats.org/package/2006/relationships"><Relationship Id="rId9" Type="http://schemas.openxmlformats.org/officeDocument/2006/relationships/tags" Target="../tags/tag955.xml"/><Relationship Id="rId8" Type="http://schemas.openxmlformats.org/officeDocument/2006/relationships/tags" Target="../tags/tag954.xml"/><Relationship Id="rId7" Type="http://schemas.openxmlformats.org/officeDocument/2006/relationships/tags" Target="../tags/tag953.xml"/><Relationship Id="rId6" Type="http://schemas.openxmlformats.org/officeDocument/2006/relationships/tags" Target="../tags/tag952.xml"/><Relationship Id="rId57" Type="http://schemas.openxmlformats.org/officeDocument/2006/relationships/notesSlide" Target="../notesSlides/notesSlide37.xml"/><Relationship Id="rId56" Type="http://schemas.openxmlformats.org/officeDocument/2006/relationships/slideLayout" Target="../slideLayouts/slideLayout12.xml"/><Relationship Id="rId55" Type="http://schemas.openxmlformats.org/officeDocument/2006/relationships/image" Target="../media/image36.png"/><Relationship Id="rId54" Type="http://schemas.openxmlformats.org/officeDocument/2006/relationships/image" Target="../media/image288.svg"/><Relationship Id="rId53" Type="http://schemas.openxmlformats.org/officeDocument/2006/relationships/image" Target="../media/image21.png"/><Relationship Id="rId52" Type="http://schemas.openxmlformats.org/officeDocument/2006/relationships/image" Target="../media/image485.svg"/><Relationship Id="rId51" Type="http://schemas.openxmlformats.org/officeDocument/2006/relationships/image" Target="../media/image484.png"/><Relationship Id="rId50" Type="http://schemas.openxmlformats.org/officeDocument/2006/relationships/image" Target="../media/image483.svg"/><Relationship Id="rId5" Type="http://schemas.openxmlformats.org/officeDocument/2006/relationships/tags" Target="../tags/tag951.xml"/><Relationship Id="rId49" Type="http://schemas.openxmlformats.org/officeDocument/2006/relationships/image" Target="../media/image482.png"/><Relationship Id="rId48" Type="http://schemas.openxmlformats.org/officeDocument/2006/relationships/image" Target="../media/image481.svg"/><Relationship Id="rId47" Type="http://schemas.openxmlformats.org/officeDocument/2006/relationships/image" Target="../media/image480.png"/><Relationship Id="rId46" Type="http://schemas.openxmlformats.org/officeDocument/2006/relationships/tags" Target="../tags/tag992.xml"/><Relationship Id="rId45" Type="http://schemas.openxmlformats.org/officeDocument/2006/relationships/tags" Target="../tags/tag991.xml"/><Relationship Id="rId44" Type="http://schemas.openxmlformats.org/officeDocument/2006/relationships/tags" Target="../tags/tag990.xml"/><Relationship Id="rId43" Type="http://schemas.openxmlformats.org/officeDocument/2006/relationships/tags" Target="../tags/tag989.xml"/><Relationship Id="rId42" Type="http://schemas.openxmlformats.org/officeDocument/2006/relationships/tags" Target="../tags/tag988.xml"/><Relationship Id="rId41" Type="http://schemas.openxmlformats.org/officeDocument/2006/relationships/tags" Target="../tags/tag987.xml"/><Relationship Id="rId40" Type="http://schemas.openxmlformats.org/officeDocument/2006/relationships/tags" Target="../tags/tag986.xml"/><Relationship Id="rId4" Type="http://schemas.openxmlformats.org/officeDocument/2006/relationships/tags" Target="../tags/tag950.xml"/><Relationship Id="rId39" Type="http://schemas.openxmlformats.org/officeDocument/2006/relationships/tags" Target="../tags/tag985.xml"/><Relationship Id="rId38" Type="http://schemas.openxmlformats.org/officeDocument/2006/relationships/tags" Target="../tags/tag984.xml"/><Relationship Id="rId37" Type="http://schemas.openxmlformats.org/officeDocument/2006/relationships/tags" Target="../tags/tag983.xml"/><Relationship Id="rId36" Type="http://schemas.openxmlformats.org/officeDocument/2006/relationships/tags" Target="../tags/tag982.xml"/><Relationship Id="rId35" Type="http://schemas.openxmlformats.org/officeDocument/2006/relationships/tags" Target="../tags/tag981.xml"/><Relationship Id="rId34" Type="http://schemas.openxmlformats.org/officeDocument/2006/relationships/tags" Target="../tags/tag980.xml"/><Relationship Id="rId33" Type="http://schemas.openxmlformats.org/officeDocument/2006/relationships/tags" Target="../tags/tag979.xml"/><Relationship Id="rId32" Type="http://schemas.openxmlformats.org/officeDocument/2006/relationships/tags" Target="../tags/tag978.xml"/><Relationship Id="rId31" Type="http://schemas.openxmlformats.org/officeDocument/2006/relationships/tags" Target="../tags/tag977.xml"/><Relationship Id="rId30" Type="http://schemas.openxmlformats.org/officeDocument/2006/relationships/tags" Target="../tags/tag976.xml"/><Relationship Id="rId3" Type="http://schemas.openxmlformats.org/officeDocument/2006/relationships/tags" Target="../tags/tag949.xml"/><Relationship Id="rId29" Type="http://schemas.openxmlformats.org/officeDocument/2006/relationships/tags" Target="../tags/tag975.xml"/><Relationship Id="rId28" Type="http://schemas.openxmlformats.org/officeDocument/2006/relationships/tags" Target="../tags/tag974.xml"/><Relationship Id="rId27" Type="http://schemas.openxmlformats.org/officeDocument/2006/relationships/tags" Target="../tags/tag973.xml"/><Relationship Id="rId26" Type="http://schemas.openxmlformats.org/officeDocument/2006/relationships/tags" Target="../tags/tag972.xml"/><Relationship Id="rId25" Type="http://schemas.openxmlformats.org/officeDocument/2006/relationships/tags" Target="../tags/tag971.xml"/><Relationship Id="rId24" Type="http://schemas.openxmlformats.org/officeDocument/2006/relationships/tags" Target="../tags/tag970.xml"/><Relationship Id="rId23" Type="http://schemas.openxmlformats.org/officeDocument/2006/relationships/tags" Target="../tags/tag969.xml"/><Relationship Id="rId22" Type="http://schemas.openxmlformats.org/officeDocument/2006/relationships/tags" Target="../tags/tag968.xml"/><Relationship Id="rId21" Type="http://schemas.openxmlformats.org/officeDocument/2006/relationships/tags" Target="../tags/tag967.xml"/><Relationship Id="rId20" Type="http://schemas.openxmlformats.org/officeDocument/2006/relationships/tags" Target="../tags/tag966.xml"/><Relationship Id="rId2" Type="http://schemas.openxmlformats.org/officeDocument/2006/relationships/tags" Target="../tags/tag948.xml"/><Relationship Id="rId19" Type="http://schemas.openxmlformats.org/officeDocument/2006/relationships/tags" Target="../tags/tag965.xml"/><Relationship Id="rId18" Type="http://schemas.openxmlformats.org/officeDocument/2006/relationships/tags" Target="../tags/tag964.xml"/><Relationship Id="rId17" Type="http://schemas.openxmlformats.org/officeDocument/2006/relationships/tags" Target="../tags/tag963.xml"/><Relationship Id="rId16" Type="http://schemas.openxmlformats.org/officeDocument/2006/relationships/tags" Target="../tags/tag962.xml"/><Relationship Id="rId15" Type="http://schemas.openxmlformats.org/officeDocument/2006/relationships/tags" Target="../tags/tag961.xml"/><Relationship Id="rId14" Type="http://schemas.openxmlformats.org/officeDocument/2006/relationships/tags" Target="../tags/tag960.xml"/><Relationship Id="rId13" Type="http://schemas.openxmlformats.org/officeDocument/2006/relationships/tags" Target="../tags/tag959.xml"/><Relationship Id="rId12" Type="http://schemas.openxmlformats.org/officeDocument/2006/relationships/tags" Target="../tags/tag958.xml"/><Relationship Id="rId11" Type="http://schemas.openxmlformats.org/officeDocument/2006/relationships/tags" Target="../tags/tag957.xml"/><Relationship Id="rId10" Type="http://schemas.openxmlformats.org/officeDocument/2006/relationships/tags" Target="../tags/tag956.xml"/><Relationship Id="rId1" Type="http://schemas.openxmlformats.org/officeDocument/2006/relationships/tags" Target="../tags/tag947.xml"/></Relationships>
</file>

<file path=ppt/slides/_rels/slide72.xml.rels><?xml version="1.0" encoding="UTF-8" standalone="yes"?>
<Relationships xmlns="http://schemas.openxmlformats.org/package/2006/relationships"><Relationship Id="rId5" Type="http://schemas.openxmlformats.org/officeDocument/2006/relationships/notesSlide" Target="../notesSlides/notesSlide38.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288.svg"/><Relationship Id="rId1" Type="http://schemas.openxmlformats.org/officeDocument/2006/relationships/image" Target="../media/image21.png"/></Relationships>
</file>

<file path=ppt/slides/_rels/slide73.xml.rels><?xml version="1.0" encoding="UTF-8" standalone="yes"?>
<Relationships xmlns="http://schemas.openxmlformats.org/package/2006/relationships"><Relationship Id="rId9" Type="http://schemas.openxmlformats.org/officeDocument/2006/relationships/image" Target="../media/image494.png"/><Relationship Id="rId8" Type="http://schemas.openxmlformats.org/officeDocument/2006/relationships/image" Target="../media/image493.svg"/><Relationship Id="rId7" Type="http://schemas.openxmlformats.org/officeDocument/2006/relationships/image" Target="../media/image492.png"/><Relationship Id="rId6" Type="http://schemas.openxmlformats.org/officeDocument/2006/relationships/image" Target="../media/image491.svg"/><Relationship Id="rId5" Type="http://schemas.openxmlformats.org/officeDocument/2006/relationships/image" Target="../media/image490.png"/><Relationship Id="rId4" Type="http://schemas.openxmlformats.org/officeDocument/2006/relationships/image" Target="../media/image489.svg"/><Relationship Id="rId3" Type="http://schemas.openxmlformats.org/officeDocument/2006/relationships/image" Target="../media/image488.png"/><Relationship Id="rId2" Type="http://schemas.openxmlformats.org/officeDocument/2006/relationships/image" Target="../media/image487.svg"/><Relationship Id="rId17" Type="http://schemas.openxmlformats.org/officeDocument/2006/relationships/notesSlide" Target="../notesSlides/notesSlide39.xml"/><Relationship Id="rId16" Type="http://schemas.openxmlformats.org/officeDocument/2006/relationships/slideLayout" Target="../slideLayouts/slideLayout12.xml"/><Relationship Id="rId15" Type="http://schemas.openxmlformats.org/officeDocument/2006/relationships/image" Target="../media/image36.png"/><Relationship Id="rId14" Type="http://schemas.openxmlformats.org/officeDocument/2006/relationships/image" Target="../media/image288.svg"/><Relationship Id="rId13" Type="http://schemas.openxmlformats.org/officeDocument/2006/relationships/image" Target="../media/image21.png"/><Relationship Id="rId12" Type="http://schemas.openxmlformats.org/officeDocument/2006/relationships/image" Target="../media/image497.svg"/><Relationship Id="rId11" Type="http://schemas.openxmlformats.org/officeDocument/2006/relationships/image" Target="../media/image496.png"/><Relationship Id="rId10" Type="http://schemas.openxmlformats.org/officeDocument/2006/relationships/image" Target="../media/image495.svg"/><Relationship Id="rId1" Type="http://schemas.openxmlformats.org/officeDocument/2006/relationships/image" Target="../media/image486.png"/></Relationships>
</file>

<file path=ppt/slides/_rels/slide74.xml.rels><?xml version="1.0" encoding="UTF-8" standalone="yes"?>
<Relationships xmlns="http://schemas.openxmlformats.org/package/2006/relationships"><Relationship Id="rId9" Type="http://schemas.openxmlformats.org/officeDocument/2006/relationships/tags" Target="../tags/tag1001.xml"/><Relationship Id="rId8" Type="http://schemas.openxmlformats.org/officeDocument/2006/relationships/tags" Target="../tags/tag1000.xml"/><Relationship Id="rId7" Type="http://schemas.openxmlformats.org/officeDocument/2006/relationships/tags" Target="../tags/tag999.xml"/><Relationship Id="rId6" Type="http://schemas.openxmlformats.org/officeDocument/2006/relationships/tags" Target="../tags/tag998.xml"/><Relationship Id="rId5" Type="http://schemas.openxmlformats.org/officeDocument/2006/relationships/tags" Target="../tags/tag997.xml"/><Relationship Id="rId4" Type="http://schemas.openxmlformats.org/officeDocument/2006/relationships/tags" Target="../tags/tag996.xml"/><Relationship Id="rId3" Type="http://schemas.openxmlformats.org/officeDocument/2006/relationships/tags" Target="../tags/tag995.xml"/><Relationship Id="rId2" Type="http://schemas.openxmlformats.org/officeDocument/2006/relationships/tags" Target="../tags/tag994.xml"/><Relationship Id="rId16" Type="http://schemas.openxmlformats.org/officeDocument/2006/relationships/notesSlide" Target="../notesSlides/notesSlide40.xml"/><Relationship Id="rId15" Type="http://schemas.openxmlformats.org/officeDocument/2006/relationships/slideLayout" Target="../slideLayouts/slideLayout12.xml"/><Relationship Id="rId14" Type="http://schemas.openxmlformats.org/officeDocument/2006/relationships/image" Target="../media/image36.png"/><Relationship Id="rId13" Type="http://schemas.openxmlformats.org/officeDocument/2006/relationships/image" Target="../media/image498.svg"/><Relationship Id="rId12" Type="http://schemas.openxmlformats.org/officeDocument/2006/relationships/image" Target="../media/image21.png"/><Relationship Id="rId11" Type="http://schemas.openxmlformats.org/officeDocument/2006/relationships/tags" Target="../tags/tag1003.xml"/><Relationship Id="rId10" Type="http://schemas.openxmlformats.org/officeDocument/2006/relationships/tags" Target="../tags/tag1002.xml"/><Relationship Id="rId1" Type="http://schemas.openxmlformats.org/officeDocument/2006/relationships/tags" Target="../tags/tag993.xml"/></Relationships>
</file>

<file path=ppt/slides/_rels/slide75.xml.rels><?xml version="1.0" encoding="UTF-8" standalone="yes"?>
<Relationships xmlns="http://schemas.openxmlformats.org/package/2006/relationships"><Relationship Id="rId9" Type="http://schemas.openxmlformats.org/officeDocument/2006/relationships/tags" Target="../tags/tag1008.xml"/><Relationship Id="rId8" Type="http://schemas.openxmlformats.org/officeDocument/2006/relationships/image" Target="../media/image502.svg"/><Relationship Id="rId7" Type="http://schemas.openxmlformats.org/officeDocument/2006/relationships/image" Target="../media/image501.png"/><Relationship Id="rId6" Type="http://schemas.openxmlformats.org/officeDocument/2006/relationships/image" Target="../media/image500.svg"/><Relationship Id="rId5" Type="http://schemas.openxmlformats.org/officeDocument/2006/relationships/image" Target="../media/image499.png"/><Relationship Id="rId45" Type="http://schemas.openxmlformats.org/officeDocument/2006/relationships/notesSlide" Target="../notesSlides/notesSlide41.xml"/><Relationship Id="rId44" Type="http://schemas.openxmlformats.org/officeDocument/2006/relationships/slideLayout" Target="../slideLayouts/slideLayout12.xml"/><Relationship Id="rId43" Type="http://schemas.openxmlformats.org/officeDocument/2006/relationships/tags" Target="../tags/tag1035.xml"/><Relationship Id="rId42" Type="http://schemas.openxmlformats.org/officeDocument/2006/relationships/tags" Target="../tags/tag1034.xml"/><Relationship Id="rId41" Type="http://schemas.openxmlformats.org/officeDocument/2006/relationships/tags" Target="../tags/tag1033.xml"/><Relationship Id="rId40" Type="http://schemas.openxmlformats.org/officeDocument/2006/relationships/tags" Target="../tags/tag1032.xml"/><Relationship Id="rId4" Type="http://schemas.openxmlformats.org/officeDocument/2006/relationships/tags" Target="../tags/tag1007.xml"/><Relationship Id="rId39" Type="http://schemas.openxmlformats.org/officeDocument/2006/relationships/tags" Target="../tags/tag1031.xml"/><Relationship Id="rId38" Type="http://schemas.openxmlformats.org/officeDocument/2006/relationships/image" Target="../media/image36.png"/><Relationship Id="rId37" Type="http://schemas.openxmlformats.org/officeDocument/2006/relationships/image" Target="../media/image286.svg"/><Relationship Id="rId36" Type="http://schemas.openxmlformats.org/officeDocument/2006/relationships/image" Target="../media/image21.png"/><Relationship Id="rId35" Type="http://schemas.openxmlformats.org/officeDocument/2006/relationships/tags" Target="../tags/tag1030.xml"/><Relationship Id="rId34" Type="http://schemas.openxmlformats.org/officeDocument/2006/relationships/tags" Target="../tags/tag1029.xml"/><Relationship Id="rId33" Type="http://schemas.openxmlformats.org/officeDocument/2006/relationships/tags" Target="../tags/tag1028.xml"/><Relationship Id="rId32" Type="http://schemas.openxmlformats.org/officeDocument/2006/relationships/tags" Target="../tags/tag1027.xml"/><Relationship Id="rId31" Type="http://schemas.openxmlformats.org/officeDocument/2006/relationships/tags" Target="../tags/tag1026.xml"/><Relationship Id="rId30" Type="http://schemas.openxmlformats.org/officeDocument/2006/relationships/tags" Target="../tags/tag1025.xml"/><Relationship Id="rId3" Type="http://schemas.openxmlformats.org/officeDocument/2006/relationships/tags" Target="../tags/tag1006.xml"/><Relationship Id="rId29" Type="http://schemas.openxmlformats.org/officeDocument/2006/relationships/tags" Target="../tags/tag1024.xml"/><Relationship Id="rId28" Type="http://schemas.openxmlformats.org/officeDocument/2006/relationships/tags" Target="../tags/tag1023.xml"/><Relationship Id="rId27" Type="http://schemas.openxmlformats.org/officeDocument/2006/relationships/tags" Target="../tags/tag1022.xml"/><Relationship Id="rId26" Type="http://schemas.openxmlformats.org/officeDocument/2006/relationships/tags" Target="../tags/tag1021.xml"/><Relationship Id="rId25" Type="http://schemas.openxmlformats.org/officeDocument/2006/relationships/tags" Target="../tags/tag1020.xml"/><Relationship Id="rId24" Type="http://schemas.openxmlformats.org/officeDocument/2006/relationships/tags" Target="../tags/tag1019.xml"/><Relationship Id="rId23" Type="http://schemas.openxmlformats.org/officeDocument/2006/relationships/tags" Target="../tags/tag1018.xml"/><Relationship Id="rId22" Type="http://schemas.openxmlformats.org/officeDocument/2006/relationships/tags" Target="../tags/tag1017.xml"/><Relationship Id="rId21" Type="http://schemas.openxmlformats.org/officeDocument/2006/relationships/tags" Target="../tags/tag1016.xml"/><Relationship Id="rId20" Type="http://schemas.openxmlformats.org/officeDocument/2006/relationships/tags" Target="../tags/tag1015.xml"/><Relationship Id="rId2" Type="http://schemas.openxmlformats.org/officeDocument/2006/relationships/tags" Target="../tags/tag1005.xml"/><Relationship Id="rId19" Type="http://schemas.openxmlformats.org/officeDocument/2006/relationships/tags" Target="../tags/tag1014.xml"/><Relationship Id="rId18" Type="http://schemas.openxmlformats.org/officeDocument/2006/relationships/tags" Target="../tags/tag1013.xml"/><Relationship Id="rId17" Type="http://schemas.openxmlformats.org/officeDocument/2006/relationships/tags" Target="../tags/tag1012.xml"/><Relationship Id="rId16" Type="http://schemas.openxmlformats.org/officeDocument/2006/relationships/tags" Target="../tags/tag1011.xml"/><Relationship Id="rId15" Type="http://schemas.openxmlformats.org/officeDocument/2006/relationships/tags" Target="../tags/tag1010.xml"/><Relationship Id="rId14" Type="http://schemas.openxmlformats.org/officeDocument/2006/relationships/image" Target="../media/image506.svg"/><Relationship Id="rId13" Type="http://schemas.openxmlformats.org/officeDocument/2006/relationships/image" Target="../media/image505.png"/><Relationship Id="rId12" Type="http://schemas.openxmlformats.org/officeDocument/2006/relationships/tags" Target="../tags/tag1009.xml"/><Relationship Id="rId11" Type="http://schemas.openxmlformats.org/officeDocument/2006/relationships/image" Target="../media/image504.svg"/><Relationship Id="rId10" Type="http://schemas.openxmlformats.org/officeDocument/2006/relationships/image" Target="../media/image503.png"/><Relationship Id="rId1" Type="http://schemas.openxmlformats.org/officeDocument/2006/relationships/tags" Target="../tags/tag1004.xml"/></Relationships>
</file>

<file path=ppt/slides/_rels/slide76.xml.rels><?xml version="1.0" encoding="UTF-8" standalone="yes"?>
<Relationships xmlns="http://schemas.openxmlformats.org/package/2006/relationships"><Relationship Id="rId5" Type="http://schemas.openxmlformats.org/officeDocument/2006/relationships/notesSlide" Target="../notesSlides/notesSlide42.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507.svg"/><Relationship Id="rId1" Type="http://schemas.openxmlformats.org/officeDocument/2006/relationships/image" Target="../media/image21.png"/></Relationships>
</file>

<file path=ppt/slides/_rels/slide77.xml.rels><?xml version="1.0" encoding="UTF-8" standalone="yes"?>
<Relationships xmlns="http://schemas.openxmlformats.org/package/2006/relationships"><Relationship Id="rId9" Type="http://schemas.openxmlformats.org/officeDocument/2006/relationships/tags" Target="../tags/tag1039.xml"/><Relationship Id="rId8" Type="http://schemas.openxmlformats.org/officeDocument/2006/relationships/image" Target="../media/image36.png"/><Relationship Id="rId7" Type="http://schemas.openxmlformats.org/officeDocument/2006/relationships/image" Target="../media/image286.svg"/><Relationship Id="rId6" Type="http://schemas.openxmlformats.org/officeDocument/2006/relationships/image" Target="../media/image21.png"/><Relationship Id="rId5" Type="http://schemas.openxmlformats.org/officeDocument/2006/relationships/tags" Target="../tags/tag1038.xml"/><Relationship Id="rId4" Type="http://schemas.openxmlformats.org/officeDocument/2006/relationships/tags" Target="../tags/tag1037.xml"/><Relationship Id="rId3" Type="http://schemas.openxmlformats.org/officeDocument/2006/relationships/tags" Target="../tags/tag1036.xml"/><Relationship Id="rId2" Type="http://schemas.microsoft.com/office/2007/relationships/hdphoto" Target="../media/image509.wdp"/><Relationship Id="rId14" Type="http://schemas.openxmlformats.org/officeDocument/2006/relationships/notesSlide" Target="../notesSlides/notesSlide43.xml"/><Relationship Id="rId13" Type="http://schemas.openxmlformats.org/officeDocument/2006/relationships/slideLayout" Target="../slideLayouts/slideLayout12.xml"/><Relationship Id="rId12" Type="http://schemas.openxmlformats.org/officeDocument/2006/relationships/tags" Target="../tags/tag1042.xml"/><Relationship Id="rId11" Type="http://schemas.openxmlformats.org/officeDocument/2006/relationships/tags" Target="../tags/tag1041.xml"/><Relationship Id="rId10" Type="http://schemas.openxmlformats.org/officeDocument/2006/relationships/tags" Target="../tags/tag1040.xml"/><Relationship Id="rId1" Type="http://schemas.openxmlformats.org/officeDocument/2006/relationships/image" Target="../media/image508.png"/></Relationships>
</file>

<file path=ppt/slides/_rels/slide7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510.svg"/><Relationship Id="rId1" Type="http://schemas.openxmlformats.org/officeDocument/2006/relationships/image" Target="../media/image79.png"/></Relationships>
</file>

<file path=ppt/slides/_rels/slide79.xml.rels><?xml version="1.0" encoding="UTF-8" standalone="yes"?>
<Relationships xmlns="http://schemas.openxmlformats.org/package/2006/relationships"><Relationship Id="rId9" Type="http://schemas.openxmlformats.org/officeDocument/2006/relationships/image" Target="../media/image517.svg"/><Relationship Id="rId8" Type="http://schemas.openxmlformats.org/officeDocument/2006/relationships/image" Target="../media/image516.png"/><Relationship Id="rId7" Type="http://schemas.openxmlformats.org/officeDocument/2006/relationships/image" Target="../media/image515.svg"/><Relationship Id="rId6" Type="http://schemas.openxmlformats.org/officeDocument/2006/relationships/image" Target="../media/image514.png"/><Relationship Id="rId5" Type="http://schemas.openxmlformats.org/officeDocument/2006/relationships/image" Target="../media/image513.svg"/><Relationship Id="rId4" Type="http://schemas.openxmlformats.org/officeDocument/2006/relationships/image" Target="../media/image512.png"/><Relationship Id="rId3" Type="http://schemas.openxmlformats.org/officeDocument/2006/relationships/image" Target="../media/image36.png"/><Relationship Id="rId2" Type="http://schemas.openxmlformats.org/officeDocument/2006/relationships/image" Target="../media/image511.svg"/><Relationship Id="rId11" Type="http://schemas.openxmlformats.org/officeDocument/2006/relationships/notesSlide" Target="../notesSlides/notesSlide44.xml"/><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80.xml.rels><?xml version="1.0" encoding="UTF-8" standalone="yes"?>
<Relationships xmlns="http://schemas.openxmlformats.org/package/2006/relationships"><Relationship Id="rId5" Type="http://schemas.openxmlformats.org/officeDocument/2006/relationships/notesSlide" Target="../notesSlides/notesSlide45.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518.svg"/><Relationship Id="rId1" Type="http://schemas.openxmlformats.org/officeDocument/2006/relationships/image" Target="../media/image21.png"/></Relationships>
</file>

<file path=ppt/slides/_rels/slide81.xml.rels><?xml version="1.0" encoding="UTF-8" standalone="yes"?>
<Relationships xmlns="http://schemas.openxmlformats.org/package/2006/relationships"><Relationship Id="rId9" Type="http://schemas.openxmlformats.org/officeDocument/2006/relationships/tags" Target="../tags/tag1051.xml"/><Relationship Id="rId8" Type="http://schemas.openxmlformats.org/officeDocument/2006/relationships/tags" Target="../tags/tag1050.xml"/><Relationship Id="rId7" Type="http://schemas.openxmlformats.org/officeDocument/2006/relationships/tags" Target="../tags/tag1049.xml"/><Relationship Id="rId6" Type="http://schemas.openxmlformats.org/officeDocument/2006/relationships/tags" Target="../tags/tag1048.xml"/><Relationship Id="rId5" Type="http://schemas.openxmlformats.org/officeDocument/2006/relationships/tags" Target="../tags/tag1047.xml"/><Relationship Id="rId4" Type="http://schemas.openxmlformats.org/officeDocument/2006/relationships/tags" Target="../tags/tag1046.xml"/><Relationship Id="rId34" Type="http://schemas.openxmlformats.org/officeDocument/2006/relationships/notesSlide" Target="../notesSlides/notesSlide46.xml"/><Relationship Id="rId33" Type="http://schemas.openxmlformats.org/officeDocument/2006/relationships/slideLayout" Target="../slideLayouts/slideLayout12.xml"/><Relationship Id="rId32" Type="http://schemas.openxmlformats.org/officeDocument/2006/relationships/image" Target="../media/image36.png"/><Relationship Id="rId31" Type="http://schemas.openxmlformats.org/officeDocument/2006/relationships/image" Target="../media/image520.svg"/><Relationship Id="rId30" Type="http://schemas.openxmlformats.org/officeDocument/2006/relationships/image" Target="../media/image519.png"/><Relationship Id="rId3" Type="http://schemas.openxmlformats.org/officeDocument/2006/relationships/tags" Target="../tags/tag1045.xml"/><Relationship Id="rId29" Type="http://schemas.openxmlformats.org/officeDocument/2006/relationships/image" Target="../media/image286.svg"/><Relationship Id="rId28" Type="http://schemas.openxmlformats.org/officeDocument/2006/relationships/image" Target="../media/image21.png"/><Relationship Id="rId27" Type="http://schemas.openxmlformats.org/officeDocument/2006/relationships/tags" Target="../tags/tag1069.xml"/><Relationship Id="rId26" Type="http://schemas.openxmlformats.org/officeDocument/2006/relationships/tags" Target="../tags/tag1068.xml"/><Relationship Id="rId25" Type="http://schemas.openxmlformats.org/officeDocument/2006/relationships/tags" Target="../tags/tag1067.xml"/><Relationship Id="rId24" Type="http://schemas.openxmlformats.org/officeDocument/2006/relationships/tags" Target="../tags/tag1066.xml"/><Relationship Id="rId23" Type="http://schemas.openxmlformats.org/officeDocument/2006/relationships/tags" Target="../tags/tag1065.xml"/><Relationship Id="rId22" Type="http://schemas.openxmlformats.org/officeDocument/2006/relationships/tags" Target="../tags/tag1064.xml"/><Relationship Id="rId21" Type="http://schemas.openxmlformats.org/officeDocument/2006/relationships/tags" Target="../tags/tag1063.xml"/><Relationship Id="rId20" Type="http://schemas.openxmlformats.org/officeDocument/2006/relationships/tags" Target="../tags/tag1062.xml"/><Relationship Id="rId2" Type="http://schemas.openxmlformats.org/officeDocument/2006/relationships/tags" Target="../tags/tag1044.xml"/><Relationship Id="rId19" Type="http://schemas.openxmlformats.org/officeDocument/2006/relationships/tags" Target="../tags/tag1061.xml"/><Relationship Id="rId18" Type="http://schemas.openxmlformats.org/officeDocument/2006/relationships/tags" Target="../tags/tag1060.xml"/><Relationship Id="rId17" Type="http://schemas.openxmlformats.org/officeDocument/2006/relationships/tags" Target="../tags/tag1059.xml"/><Relationship Id="rId16" Type="http://schemas.openxmlformats.org/officeDocument/2006/relationships/tags" Target="../tags/tag1058.xml"/><Relationship Id="rId15" Type="http://schemas.openxmlformats.org/officeDocument/2006/relationships/tags" Target="../tags/tag1057.xml"/><Relationship Id="rId14" Type="http://schemas.openxmlformats.org/officeDocument/2006/relationships/tags" Target="../tags/tag1056.xml"/><Relationship Id="rId13" Type="http://schemas.openxmlformats.org/officeDocument/2006/relationships/tags" Target="../tags/tag1055.xml"/><Relationship Id="rId12" Type="http://schemas.openxmlformats.org/officeDocument/2006/relationships/tags" Target="../tags/tag1054.xml"/><Relationship Id="rId11" Type="http://schemas.openxmlformats.org/officeDocument/2006/relationships/tags" Target="../tags/tag1053.xml"/><Relationship Id="rId10" Type="http://schemas.openxmlformats.org/officeDocument/2006/relationships/tags" Target="../tags/tag1052.xml"/><Relationship Id="rId1" Type="http://schemas.openxmlformats.org/officeDocument/2006/relationships/tags" Target="../tags/tag1043.xml"/></Relationships>
</file>

<file path=ppt/slides/_rels/slide8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286.svg"/><Relationship Id="rId1" Type="http://schemas.openxmlformats.org/officeDocument/2006/relationships/image" Target="../media/image21.png"/></Relationships>
</file>

<file path=ppt/slides/_rels/slide8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286.svg"/><Relationship Id="rId1" Type="http://schemas.openxmlformats.org/officeDocument/2006/relationships/image" Target="../media/image21.png"/></Relationships>
</file>

<file path=ppt/slides/_rels/slide84.xml.rels><?xml version="1.0" encoding="UTF-8" standalone="yes"?>
<Relationships xmlns="http://schemas.openxmlformats.org/package/2006/relationships"><Relationship Id="rId9" Type="http://schemas.openxmlformats.org/officeDocument/2006/relationships/image" Target="../media/image529.png"/><Relationship Id="rId8" Type="http://schemas.openxmlformats.org/officeDocument/2006/relationships/image" Target="../media/image528.svg"/><Relationship Id="rId7" Type="http://schemas.openxmlformats.org/officeDocument/2006/relationships/image" Target="../media/image527.svg"/><Relationship Id="rId6" Type="http://schemas.openxmlformats.org/officeDocument/2006/relationships/image" Target="../media/image526.svg"/><Relationship Id="rId5" Type="http://schemas.openxmlformats.org/officeDocument/2006/relationships/image" Target="../media/image525.png"/><Relationship Id="rId4" Type="http://schemas.openxmlformats.org/officeDocument/2006/relationships/image" Target="../media/image524.svg"/><Relationship Id="rId3" Type="http://schemas.openxmlformats.org/officeDocument/2006/relationships/image" Target="../media/image523.svg"/><Relationship Id="rId27" Type="http://schemas.openxmlformats.org/officeDocument/2006/relationships/notesSlide" Target="../notesSlides/notesSlide47.xml"/><Relationship Id="rId26" Type="http://schemas.openxmlformats.org/officeDocument/2006/relationships/slideLayout" Target="../slideLayouts/slideLayout12.xml"/><Relationship Id="rId25" Type="http://schemas.openxmlformats.org/officeDocument/2006/relationships/image" Target="../media/image36.png"/><Relationship Id="rId24" Type="http://schemas.openxmlformats.org/officeDocument/2006/relationships/image" Target="../media/image286.svg"/><Relationship Id="rId23" Type="http://schemas.openxmlformats.org/officeDocument/2006/relationships/image" Target="../media/image21.png"/><Relationship Id="rId22" Type="http://schemas.openxmlformats.org/officeDocument/2006/relationships/image" Target="../media/image542.svg"/><Relationship Id="rId21" Type="http://schemas.openxmlformats.org/officeDocument/2006/relationships/image" Target="../media/image541.png"/><Relationship Id="rId20" Type="http://schemas.openxmlformats.org/officeDocument/2006/relationships/image" Target="../media/image540.svg"/><Relationship Id="rId2" Type="http://schemas.openxmlformats.org/officeDocument/2006/relationships/image" Target="../media/image522.svg"/><Relationship Id="rId19" Type="http://schemas.openxmlformats.org/officeDocument/2006/relationships/image" Target="../media/image539.png"/><Relationship Id="rId18" Type="http://schemas.openxmlformats.org/officeDocument/2006/relationships/image" Target="../media/image538.svg"/><Relationship Id="rId17" Type="http://schemas.openxmlformats.org/officeDocument/2006/relationships/image" Target="../media/image537.png"/><Relationship Id="rId16" Type="http://schemas.openxmlformats.org/officeDocument/2006/relationships/image" Target="../media/image536.svg"/><Relationship Id="rId15" Type="http://schemas.openxmlformats.org/officeDocument/2006/relationships/image" Target="../media/image535.png"/><Relationship Id="rId14" Type="http://schemas.openxmlformats.org/officeDocument/2006/relationships/image" Target="../media/image534.svg"/><Relationship Id="rId13" Type="http://schemas.openxmlformats.org/officeDocument/2006/relationships/image" Target="../media/image533.png"/><Relationship Id="rId12" Type="http://schemas.openxmlformats.org/officeDocument/2006/relationships/image" Target="../media/image532.svg"/><Relationship Id="rId11" Type="http://schemas.openxmlformats.org/officeDocument/2006/relationships/image" Target="../media/image531.png"/><Relationship Id="rId10" Type="http://schemas.openxmlformats.org/officeDocument/2006/relationships/image" Target="../media/image530.svg"/><Relationship Id="rId1" Type="http://schemas.openxmlformats.org/officeDocument/2006/relationships/image" Target="../media/image521.png"/></Relationships>
</file>

<file path=ppt/slides/_rels/slide85.xml.rels><?xml version="1.0" encoding="UTF-8" standalone="yes"?>
<Relationships xmlns="http://schemas.openxmlformats.org/package/2006/relationships"><Relationship Id="rId9" Type="http://schemas.openxmlformats.org/officeDocument/2006/relationships/tags" Target="../tags/tag1077.xml"/><Relationship Id="rId8" Type="http://schemas.openxmlformats.org/officeDocument/2006/relationships/tags" Target="../tags/tag1076.xml"/><Relationship Id="rId7" Type="http://schemas.openxmlformats.org/officeDocument/2006/relationships/tags" Target="../tags/tag1075.xml"/><Relationship Id="rId6" Type="http://schemas.openxmlformats.org/officeDocument/2006/relationships/tags" Target="../tags/tag1074.xml"/><Relationship Id="rId5" Type="http://schemas.openxmlformats.org/officeDocument/2006/relationships/tags" Target="../tags/tag1073.xml"/><Relationship Id="rId4" Type="http://schemas.openxmlformats.org/officeDocument/2006/relationships/tags" Target="../tags/tag1072.xml"/><Relationship Id="rId3" Type="http://schemas.openxmlformats.org/officeDocument/2006/relationships/tags" Target="../tags/tag1071.xml"/><Relationship Id="rId24" Type="http://schemas.openxmlformats.org/officeDocument/2006/relationships/slideLayout" Target="../slideLayouts/slideLayout9.xml"/><Relationship Id="rId23" Type="http://schemas.openxmlformats.org/officeDocument/2006/relationships/tags" Target="../tags/tag1091.xml"/><Relationship Id="rId22" Type="http://schemas.openxmlformats.org/officeDocument/2006/relationships/tags" Target="../tags/tag1090.xml"/><Relationship Id="rId21" Type="http://schemas.openxmlformats.org/officeDocument/2006/relationships/tags" Target="../tags/tag1089.xml"/><Relationship Id="rId20" Type="http://schemas.openxmlformats.org/officeDocument/2006/relationships/tags" Target="../tags/tag1088.xml"/><Relationship Id="rId2" Type="http://schemas.openxmlformats.org/officeDocument/2006/relationships/tags" Target="../tags/tag1070.xml"/><Relationship Id="rId19" Type="http://schemas.openxmlformats.org/officeDocument/2006/relationships/tags" Target="../tags/tag1087.xml"/><Relationship Id="rId18" Type="http://schemas.openxmlformats.org/officeDocument/2006/relationships/tags" Target="../tags/tag1086.xml"/><Relationship Id="rId17" Type="http://schemas.openxmlformats.org/officeDocument/2006/relationships/tags" Target="../tags/tag1085.xml"/><Relationship Id="rId16" Type="http://schemas.openxmlformats.org/officeDocument/2006/relationships/tags" Target="../tags/tag1084.xml"/><Relationship Id="rId15" Type="http://schemas.openxmlformats.org/officeDocument/2006/relationships/tags" Target="../tags/tag1083.xml"/><Relationship Id="rId14" Type="http://schemas.openxmlformats.org/officeDocument/2006/relationships/tags" Target="../tags/tag1082.xml"/><Relationship Id="rId13" Type="http://schemas.openxmlformats.org/officeDocument/2006/relationships/tags" Target="../tags/tag1081.xml"/><Relationship Id="rId12" Type="http://schemas.openxmlformats.org/officeDocument/2006/relationships/tags" Target="../tags/tag1080.xml"/><Relationship Id="rId11" Type="http://schemas.openxmlformats.org/officeDocument/2006/relationships/tags" Target="../tags/tag1079.xml"/><Relationship Id="rId10" Type="http://schemas.openxmlformats.org/officeDocument/2006/relationships/tags" Target="../tags/tag1078.xml"/><Relationship Id="rId1" Type="http://schemas.openxmlformats.org/officeDocument/2006/relationships/image" Target="../media/image18.jpeg"/></Relationships>
</file>

<file path=ppt/slides/_rels/slide86.xml.rels><?xml version="1.0" encoding="UTF-8" standalone="yes"?>
<Relationships xmlns="http://schemas.openxmlformats.org/package/2006/relationships"><Relationship Id="rId9" Type="http://schemas.openxmlformats.org/officeDocument/2006/relationships/image" Target="../media/image551.png"/><Relationship Id="rId8" Type="http://schemas.openxmlformats.org/officeDocument/2006/relationships/image" Target="../media/image550.svg"/><Relationship Id="rId7" Type="http://schemas.openxmlformats.org/officeDocument/2006/relationships/image" Target="../media/image549.png"/><Relationship Id="rId6" Type="http://schemas.openxmlformats.org/officeDocument/2006/relationships/image" Target="../media/image548.svg"/><Relationship Id="rId5" Type="http://schemas.openxmlformats.org/officeDocument/2006/relationships/image" Target="../media/image547.png"/><Relationship Id="rId4" Type="http://schemas.openxmlformats.org/officeDocument/2006/relationships/image" Target="../media/image546.svg"/><Relationship Id="rId3" Type="http://schemas.openxmlformats.org/officeDocument/2006/relationships/image" Target="../media/image545.png"/><Relationship Id="rId23" Type="http://schemas.openxmlformats.org/officeDocument/2006/relationships/notesSlide" Target="../notesSlides/notesSlide48.xml"/><Relationship Id="rId22" Type="http://schemas.openxmlformats.org/officeDocument/2006/relationships/slideLayout" Target="../slideLayouts/slideLayout12.xml"/><Relationship Id="rId21" Type="http://schemas.openxmlformats.org/officeDocument/2006/relationships/image" Target="../media/image36.png"/><Relationship Id="rId20" Type="http://schemas.openxmlformats.org/officeDocument/2006/relationships/image" Target="../media/image561.svg"/><Relationship Id="rId2" Type="http://schemas.openxmlformats.org/officeDocument/2006/relationships/image" Target="../media/image544.svg"/><Relationship Id="rId19" Type="http://schemas.openxmlformats.org/officeDocument/2006/relationships/image" Target="../media/image560.png"/><Relationship Id="rId18" Type="http://schemas.openxmlformats.org/officeDocument/2006/relationships/image" Target="../media/image559.svg"/><Relationship Id="rId17" Type="http://schemas.openxmlformats.org/officeDocument/2006/relationships/image" Target="../media/image21.png"/><Relationship Id="rId16" Type="http://schemas.openxmlformats.org/officeDocument/2006/relationships/image" Target="../media/image558.svg"/><Relationship Id="rId15" Type="http://schemas.openxmlformats.org/officeDocument/2006/relationships/image" Target="../media/image557.png"/><Relationship Id="rId14" Type="http://schemas.openxmlformats.org/officeDocument/2006/relationships/image" Target="../media/image556.svg"/><Relationship Id="rId13" Type="http://schemas.openxmlformats.org/officeDocument/2006/relationships/image" Target="../media/image555.png"/><Relationship Id="rId12" Type="http://schemas.openxmlformats.org/officeDocument/2006/relationships/image" Target="../media/image554.svg"/><Relationship Id="rId11" Type="http://schemas.openxmlformats.org/officeDocument/2006/relationships/image" Target="../media/image553.png"/><Relationship Id="rId10" Type="http://schemas.openxmlformats.org/officeDocument/2006/relationships/image" Target="../media/image552.svg"/><Relationship Id="rId1" Type="http://schemas.openxmlformats.org/officeDocument/2006/relationships/image" Target="../media/image543.png"/></Relationships>
</file>

<file path=ppt/slides/_rels/slide87.xml.rels><?xml version="1.0" encoding="UTF-8" standalone="yes"?>
<Relationships xmlns="http://schemas.openxmlformats.org/package/2006/relationships"><Relationship Id="rId9" Type="http://schemas.openxmlformats.org/officeDocument/2006/relationships/tags" Target="../tags/tag1098.xml"/><Relationship Id="rId8" Type="http://schemas.openxmlformats.org/officeDocument/2006/relationships/tags" Target="../tags/tag1097.xml"/><Relationship Id="rId7" Type="http://schemas.openxmlformats.org/officeDocument/2006/relationships/tags" Target="../tags/tag1096.xml"/><Relationship Id="rId6" Type="http://schemas.openxmlformats.org/officeDocument/2006/relationships/tags" Target="../tags/tag1095.xml"/><Relationship Id="rId5" Type="http://schemas.openxmlformats.org/officeDocument/2006/relationships/tags" Target="../tags/tag1094.xml"/><Relationship Id="rId4" Type="http://schemas.openxmlformats.org/officeDocument/2006/relationships/tags" Target="../tags/tag1093.xml"/><Relationship Id="rId32" Type="http://schemas.openxmlformats.org/officeDocument/2006/relationships/notesSlide" Target="../notesSlides/notesSlide49.xml"/><Relationship Id="rId31" Type="http://schemas.openxmlformats.org/officeDocument/2006/relationships/slideLayout" Target="../slideLayouts/slideLayout12.xml"/><Relationship Id="rId30" Type="http://schemas.openxmlformats.org/officeDocument/2006/relationships/tags" Target="../tags/tag1119.xml"/><Relationship Id="rId3" Type="http://schemas.openxmlformats.org/officeDocument/2006/relationships/tags" Target="../tags/tag1092.xml"/><Relationship Id="rId29" Type="http://schemas.openxmlformats.org/officeDocument/2006/relationships/tags" Target="../tags/tag1118.xml"/><Relationship Id="rId28" Type="http://schemas.openxmlformats.org/officeDocument/2006/relationships/tags" Target="../tags/tag1117.xml"/><Relationship Id="rId27" Type="http://schemas.openxmlformats.org/officeDocument/2006/relationships/tags" Target="../tags/tag1116.xml"/><Relationship Id="rId26" Type="http://schemas.openxmlformats.org/officeDocument/2006/relationships/tags" Target="../tags/tag1115.xml"/><Relationship Id="rId25" Type="http://schemas.openxmlformats.org/officeDocument/2006/relationships/tags" Target="../tags/tag1114.xml"/><Relationship Id="rId24" Type="http://schemas.openxmlformats.org/officeDocument/2006/relationships/tags" Target="../tags/tag1113.xml"/><Relationship Id="rId23" Type="http://schemas.openxmlformats.org/officeDocument/2006/relationships/tags" Target="../tags/tag1112.xml"/><Relationship Id="rId22" Type="http://schemas.openxmlformats.org/officeDocument/2006/relationships/tags" Target="../tags/tag1111.xml"/><Relationship Id="rId21" Type="http://schemas.openxmlformats.org/officeDocument/2006/relationships/tags" Target="../tags/tag1110.xml"/><Relationship Id="rId20" Type="http://schemas.openxmlformats.org/officeDocument/2006/relationships/tags" Target="../tags/tag1109.xml"/><Relationship Id="rId2" Type="http://schemas.openxmlformats.org/officeDocument/2006/relationships/image" Target="../media/image562.svg"/><Relationship Id="rId19" Type="http://schemas.openxmlformats.org/officeDocument/2006/relationships/tags" Target="../tags/tag1108.xml"/><Relationship Id="rId18" Type="http://schemas.openxmlformats.org/officeDocument/2006/relationships/tags" Target="../tags/tag1107.xml"/><Relationship Id="rId17" Type="http://schemas.openxmlformats.org/officeDocument/2006/relationships/tags" Target="../tags/tag1106.xml"/><Relationship Id="rId16" Type="http://schemas.openxmlformats.org/officeDocument/2006/relationships/tags" Target="../tags/tag1105.xml"/><Relationship Id="rId15" Type="http://schemas.openxmlformats.org/officeDocument/2006/relationships/tags" Target="../tags/tag1104.xml"/><Relationship Id="rId14" Type="http://schemas.openxmlformats.org/officeDocument/2006/relationships/tags" Target="../tags/tag1103.xml"/><Relationship Id="rId13" Type="http://schemas.openxmlformats.org/officeDocument/2006/relationships/tags" Target="../tags/tag1102.xml"/><Relationship Id="rId12" Type="http://schemas.openxmlformats.org/officeDocument/2006/relationships/tags" Target="../tags/tag1101.xml"/><Relationship Id="rId11" Type="http://schemas.openxmlformats.org/officeDocument/2006/relationships/tags" Target="../tags/tag1100.xml"/><Relationship Id="rId10" Type="http://schemas.openxmlformats.org/officeDocument/2006/relationships/tags" Target="../tags/tag1099.xml"/><Relationship Id="rId1" Type="http://schemas.openxmlformats.org/officeDocument/2006/relationships/image" Target="../media/image21.png"/></Relationships>
</file>

<file path=ppt/slides/_rels/slide88.xml.rels><?xml version="1.0" encoding="UTF-8" standalone="yes"?>
<Relationships xmlns="http://schemas.openxmlformats.org/package/2006/relationships"><Relationship Id="rId9" Type="http://schemas.openxmlformats.org/officeDocument/2006/relationships/tags" Target="../tags/tag1126.xml"/><Relationship Id="rId8" Type="http://schemas.openxmlformats.org/officeDocument/2006/relationships/tags" Target="../tags/tag1125.xml"/><Relationship Id="rId7" Type="http://schemas.openxmlformats.org/officeDocument/2006/relationships/tags" Target="../tags/tag1124.xml"/><Relationship Id="rId6" Type="http://schemas.openxmlformats.org/officeDocument/2006/relationships/tags" Target="../tags/tag1123.xml"/><Relationship Id="rId5" Type="http://schemas.openxmlformats.org/officeDocument/2006/relationships/tags" Target="../tags/tag1122.xml"/><Relationship Id="rId41" Type="http://schemas.openxmlformats.org/officeDocument/2006/relationships/notesSlide" Target="../notesSlides/notesSlide50.xml"/><Relationship Id="rId40" Type="http://schemas.openxmlformats.org/officeDocument/2006/relationships/slideLayout" Target="../slideLayouts/slideLayout12.xml"/><Relationship Id="rId4" Type="http://schemas.openxmlformats.org/officeDocument/2006/relationships/tags" Target="../tags/tag1121.xml"/><Relationship Id="rId39" Type="http://schemas.openxmlformats.org/officeDocument/2006/relationships/image" Target="../media/image36.png"/><Relationship Id="rId38" Type="http://schemas.openxmlformats.org/officeDocument/2006/relationships/tags" Target="../tags/tag1155.xml"/><Relationship Id="rId37" Type="http://schemas.openxmlformats.org/officeDocument/2006/relationships/tags" Target="../tags/tag1154.xml"/><Relationship Id="rId36" Type="http://schemas.openxmlformats.org/officeDocument/2006/relationships/tags" Target="../tags/tag1153.xml"/><Relationship Id="rId35" Type="http://schemas.openxmlformats.org/officeDocument/2006/relationships/tags" Target="../tags/tag1152.xml"/><Relationship Id="rId34" Type="http://schemas.openxmlformats.org/officeDocument/2006/relationships/tags" Target="../tags/tag1151.xml"/><Relationship Id="rId33" Type="http://schemas.openxmlformats.org/officeDocument/2006/relationships/tags" Target="../tags/tag1150.xml"/><Relationship Id="rId32" Type="http://schemas.openxmlformats.org/officeDocument/2006/relationships/tags" Target="../tags/tag1149.xml"/><Relationship Id="rId31" Type="http://schemas.openxmlformats.org/officeDocument/2006/relationships/tags" Target="../tags/tag1148.xml"/><Relationship Id="rId30" Type="http://schemas.openxmlformats.org/officeDocument/2006/relationships/tags" Target="../tags/tag1147.xml"/><Relationship Id="rId3" Type="http://schemas.openxmlformats.org/officeDocument/2006/relationships/tags" Target="../tags/tag1120.xml"/><Relationship Id="rId29" Type="http://schemas.openxmlformats.org/officeDocument/2006/relationships/tags" Target="../tags/tag1146.xml"/><Relationship Id="rId28" Type="http://schemas.openxmlformats.org/officeDocument/2006/relationships/tags" Target="../tags/tag1145.xml"/><Relationship Id="rId27" Type="http://schemas.openxmlformats.org/officeDocument/2006/relationships/tags" Target="../tags/tag1144.xml"/><Relationship Id="rId26" Type="http://schemas.openxmlformats.org/officeDocument/2006/relationships/tags" Target="../tags/tag1143.xml"/><Relationship Id="rId25" Type="http://schemas.openxmlformats.org/officeDocument/2006/relationships/tags" Target="../tags/tag1142.xml"/><Relationship Id="rId24" Type="http://schemas.openxmlformats.org/officeDocument/2006/relationships/tags" Target="../tags/tag1141.xml"/><Relationship Id="rId23" Type="http://schemas.openxmlformats.org/officeDocument/2006/relationships/tags" Target="../tags/tag1140.xml"/><Relationship Id="rId22" Type="http://schemas.openxmlformats.org/officeDocument/2006/relationships/tags" Target="../tags/tag1139.xml"/><Relationship Id="rId21" Type="http://schemas.openxmlformats.org/officeDocument/2006/relationships/tags" Target="../tags/tag1138.xml"/><Relationship Id="rId20" Type="http://schemas.openxmlformats.org/officeDocument/2006/relationships/tags" Target="../tags/tag1137.xml"/><Relationship Id="rId2" Type="http://schemas.openxmlformats.org/officeDocument/2006/relationships/image" Target="../media/image563.svg"/><Relationship Id="rId19" Type="http://schemas.openxmlformats.org/officeDocument/2006/relationships/tags" Target="../tags/tag1136.xml"/><Relationship Id="rId18" Type="http://schemas.openxmlformats.org/officeDocument/2006/relationships/tags" Target="../tags/tag1135.xml"/><Relationship Id="rId17" Type="http://schemas.openxmlformats.org/officeDocument/2006/relationships/tags" Target="../tags/tag1134.xml"/><Relationship Id="rId16" Type="http://schemas.openxmlformats.org/officeDocument/2006/relationships/tags" Target="../tags/tag1133.xml"/><Relationship Id="rId15" Type="http://schemas.openxmlformats.org/officeDocument/2006/relationships/tags" Target="../tags/tag1132.xml"/><Relationship Id="rId14" Type="http://schemas.openxmlformats.org/officeDocument/2006/relationships/tags" Target="../tags/tag1131.xml"/><Relationship Id="rId13" Type="http://schemas.openxmlformats.org/officeDocument/2006/relationships/tags" Target="../tags/tag1130.xml"/><Relationship Id="rId12" Type="http://schemas.openxmlformats.org/officeDocument/2006/relationships/tags" Target="../tags/tag1129.xml"/><Relationship Id="rId11" Type="http://schemas.openxmlformats.org/officeDocument/2006/relationships/tags" Target="../tags/tag1128.xml"/><Relationship Id="rId10" Type="http://schemas.openxmlformats.org/officeDocument/2006/relationships/tags" Target="../tags/tag1127.xml"/><Relationship Id="rId1" Type="http://schemas.openxmlformats.org/officeDocument/2006/relationships/image" Target="../media/image21.png"/></Relationships>
</file>

<file path=ppt/slides/_rels/slide89.xml.rels><?xml version="1.0" encoding="UTF-8" standalone="yes"?>
<Relationships xmlns="http://schemas.openxmlformats.org/package/2006/relationships"><Relationship Id="rId9" Type="http://schemas.openxmlformats.org/officeDocument/2006/relationships/tags" Target="../tags/tag1164.xml"/><Relationship Id="rId8" Type="http://schemas.openxmlformats.org/officeDocument/2006/relationships/tags" Target="../tags/tag1163.xml"/><Relationship Id="rId7" Type="http://schemas.openxmlformats.org/officeDocument/2006/relationships/tags" Target="../tags/tag1162.xml"/><Relationship Id="rId6" Type="http://schemas.openxmlformats.org/officeDocument/2006/relationships/tags" Target="../tags/tag1161.xml"/><Relationship Id="rId5" Type="http://schemas.openxmlformats.org/officeDocument/2006/relationships/tags" Target="../tags/tag1160.xml"/><Relationship Id="rId41" Type="http://schemas.openxmlformats.org/officeDocument/2006/relationships/notesSlide" Target="../notesSlides/notesSlide51.xml"/><Relationship Id="rId40" Type="http://schemas.openxmlformats.org/officeDocument/2006/relationships/slideLayout" Target="../slideLayouts/slideLayout12.xml"/><Relationship Id="rId4" Type="http://schemas.openxmlformats.org/officeDocument/2006/relationships/tags" Target="../tags/tag1159.xml"/><Relationship Id="rId39" Type="http://schemas.openxmlformats.org/officeDocument/2006/relationships/image" Target="../media/image575.svg"/><Relationship Id="rId38" Type="http://schemas.openxmlformats.org/officeDocument/2006/relationships/image" Target="../media/image574.png"/><Relationship Id="rId37" Type="http://schemas.openxmlformats.org/officeDocument/2006/relationships/image" Target="../media/image573.svg"/><Relationship Id="rId36" Type="http://schemas.openxmlformats.org/officeDocument/2006/relationships/image" Target="../media/image572.png"/><Relationship Id="rId35" Type="http://schemas.openxmlformats.org/officeDocument/2006/relationships/image" Target="../media/image571.svg"/><Relationship Id="rId34" Type="http://schemas.openxmlformats.org/officeDocument/2006/relationships/image" Target="../media/image570.png"/><Relationship Id="rId33" Type="http://schemas.openxmlformats.org/officeDocument/2006/relationships/image" Target="../media/image569.svg"/><Relationship Id="rId32" Type="http://schemas.openxmlformats.org/officeDocument/2006/relationships/image" Target="../media/image568.png"/><Relationship Id="rId31" Type="http://schemas.openxmlformats.org/officeDocument/2006/relationships/image" Target="../media/image567.svg"/><Relationship Id="rId30" Type="http://schemas.openxmlformats.org/officeDocument/2006/relationships/image" Target="../media/image566.png"/><Relationship Id="rId3" Type="http://schemas.openxmlformats.org/officeDocument/2006/relationships/tags" Target="../tags/tag1158.xml"/><Relationship Id="rId29" Type="http://schemas.openxmlformats.org/officeDocument/2006/relationships/image" Target="../media/image565.svg"/><Relationship Id="rId28" Type="http://schemas.openxmlformats.org/officeDocument/2006/relationships/image" Target="../media/image564.png"/><Relationship Id="rId27" Type="http://schemas.openxmlformats.org/officeDocument/2006/relationships/tags" Target="../tags/tag1179.xml"/><Relationship Id="rId26" Type="http://schemas.openxmlformats.org/officeDocument/2006/relationships/tags" Target="../tags/tag1178.xml"/><Relationship Id="rId25" Type="http://schemas.openxmlformats.org/officeDocument/2006/relationships/tags" Target="../tags/tag1177.xml"/><Relationship Id="rId24" Type="http://schemas.openxmlformats.org/officeDocument/2006/relationships/tags" Target="../tags/tag1176.xml"/><Relationship Id="rId23" Type="http://schemas.openxmlformats.org/officeDocument/2006/relationships/tags" Target="../tags/tag1175.xml"/><Relationship Id="rId22" Type="http://schemas.openxmlformats.org/officeDocument/2006/relationships/tags" Target="../tags/tag1174.xml"/><Relationship Id="rId21" Type="http://schemas.openxmlformats.org/officeDocument/2006/relationships/tags" Target="../tags/tag1173.xml"/><Relationship Id="rId20" Type="http://schemas.openxmlformats.org/officeDocument/2006/relationships/tags" Target="../tags/tag1172.xml"/><Relationship Id="rId2" Type="http://schemas.openxmlformats.org/officeDocument/2006/relationships/tags" Target="../tags/tag1157.xml"/><Relationship Id="rId19" Type="http://schemas.openxmlformats.org/officeDocument/2006/relationships/tags" Target="../tags/tag1171.xml"/><Relationship Id="rId18" Type="http://schemas.openxmlformats.org/officeDocument/2006/relationships/tags" Target="../tags/tag1170.xml"/><Relationship Id="rId17" Type="http://schemas.openxmlformats.org/officeDocument/2006/relationships/tags" Target="../tags/tag1169.xml"/><Relationship Id="rId16" Type="http://schemas.openxmlformats.org/officeDocument/2006/relationships/image" Target="../media/image36.png"/><Relationship Id="rId15" Type="http://schemas.openxmlformats.org/officeDocument/2006/relationships/image" Target="../media/image563.svg"/><Relationship Id="rId14" Type="http://schemas.openxmlformats.org/officeDocument/2006/relationships/image" Target="../media/image21.png"/><Relationship Id="rId13" Type="http://schemas.openxmlformats.org/officeDocument/2006/relationships/tags" Target="../tags/tag1168.xml"/><Relationship Id="rId12" Type="http://schemas.openxmlformats.org/officeDocument/2006/relationships/tags" Target="../tags/tag1167.xml"/><Relationship Id="rId11" Type="http://schemas.openxmlformats.org/officeDocument/2006/relationships/tags" Target="../tags/tag1166.xml"/><Relationship Id="rId10" Type="http://schemas.openxmlformats.org/officeDocument/2006/relationships/tags" Target="../tags/tag1165.xml"/><Relationship Id="rId1" Type="http://schemas.openxmlformats.org/officeDocument/2006/relationships/tags" Target="../tags/tag1156.xml"/></Relationships>
</file>

<file path=ppt/slides/_rels/slide90.xml.rels><?xml version="1.0" encoding="UTF-8" standalone="yes"?>
<Relationships xmlns="http://schemas.openxmlformats.org/package/2006/relationships"><Relationship Id="rId9" Type="http://schemas.openxmlformats.org/officeDocument/2006/relationships/image" Target="../media/image577.png"/><Relationship Id="rId8" Type="http://schemas.openxmlformats.org/officeDocument/2006/relationships/tags" Target="../tags/tag1185.xml"/><Relationship Id="rId7" Type="http://schemas.openxmlformats.org/officeDocument/2006/relationships/tags" Target="../tags/tag1184.xml"/><Relationship Id="rId6" Type="http://schemas.openxmlformats.org/officeDocument/2006/relationships/tags" Target="../tags/tag1183.xml"/><Relationship Id="rId5" Type="http://schemas.openxmlformats.org/officeDocument/2006/relationships/tags" Target="../tags/tag1182.xml"/><Relationship Id="rId4" Type="http://schemas.openxmlformats.org/officeDocument/2006/relationships/tags" Target="../tags/tag1181.xml"/><Relationship Id="rId3" Type="http://schemas.openxmlformats.org/officeDocument/2006/relationships/tags" Target="../tags/tag1180.xml"/><Relationship Id="rId28" Type="http://schemas.openxmlformats.org/officeDocument/2006/relationships/slideLayout" Target="../slideLayouts/slideLayout12.xml"/><Relationship Id="rId27" Type="http://schemas.openxmlformats.org/officeDocument/2006/relationships/image" Target="../media/image36.png"/><Relationship Id="rId26" Type="http://schemas.openxmlformats.org/officeDocument/2006/relationships/tags" Target="../tags/tag1187.xml"/><Relationship Id="rId25" Type="http://schemas.openxmlformats.org/officeDocument/2006/relationships/tags" Target="../tags/tag1186.xml"/><Relationship Id="rId24" Type="http://schemas.openxmlformats.org/officeDocument/2006/relationships/image" Target="../media/image592.svg"/><Relationship Id="rId23" Type="http://schemas.openxmlformats.org/officeDocument/2006/relationships/image" Target="../media/image591.png"/><Relationship Id="rId22" Type="http://schemas.openxmlformats.org/officeDocument/2006/relationships/image" Target="../media/image590.svg"/><Relationship Id="rId21" Type="http://schemas.openxmlformats.org/officeDocument/2006/relationships/image" Target="../media/image589.png"/><Relationship Id="rId20" Type="http://schemas.openxmlformats.org/officeDocument/2006/relationships/image" Target="../media/image588.svg"/><Relationship Id="rId2" Type="http://schemas.openxmlformats.org/officeDocument/2006/relationships/image" Target="../media/image576.svg"/><Relationship Id="rId19" Type="http://schemas.openxmlformats.org/officeDocument/2006/relationships/image" Target="../media/image587.png"/><Relationship Id="rId18" Type="http://schemas.openxmlformats.org/officeDocument/2006/relationships/image" Target="../media/image586.svg"/><Relationship Id="rId17" Type="http://schemas.openxmlformats.org/officeDocument/2006/relationships/image" Target="../media/image585.png"/><Relationship Id="rId16" Type="http://schemas.openxmlformats.org/officeDocument/2006/relationships/image" Target="../media/image584.svg"/><Relationship Id="rId15" Type="http://schemas.openxmlformats.org/officeDocument/2006/relationships/image" Target="../media/image583.png"/><Relationship Id="rId14" Type="http://schemas.openxmlformats.org/officeDocument/2006/relationships/image" Target="../media/image582.svg"/><Relationship Id="rId13" Type="http://schemas.openxmlformats.org/officeDocument/2006/relationships/image" Target="../media/image581.png"/><Relationship Id="rId12" Type="http://schemas.openxmlformats.org/officeDocument/2006/relationships/image" Target="../media/image580.svg"/><Relationship Id="rId11" Type="http://schemas.openxmlformats.org/officeDocument/2006/relationships/image" Target="../media/image579.png"/><Relationship Id="rId10" Type="http://schemas.openxmlformats.org/officeDocument/2006/relationships/image" Target="../media/image578.svg"/><Relationship Id="rId1" Type="http://schemas.openxmlformats.org/officeDocument/2006/relationships/image" Target="../media/image21.png"/></Relationships>
</file>

<file path=ppt/slides/_rels/slide91.xml.rels><?xml version="1.0" encoding="UTF-8" standalone="yes"?>
<Relationships xmlns="http://schemas.openxmlformats.org/package/2006/relationships"><Relationship Id="rId9" Type="http://schemas.openxmlformats.org/officeDocument/2006/relationships/image" Target="../media/image600.png"/><Relationship Id="rId8" Type="http://schemas.openxmlformats.org/officeDocument/2006/relationships/image" Target="../media/image599.svg"/><Relationship Id="rId7" Type="http://schemas.openxmlformats.org/officeDocument/2006/relationships/image" Target="../media/image598.png"/><Relationship Id="rId6" Type="http://schemas.openxmlformats.org/officeDocument/2006/relationships/image" Target="../media/image597.svg"/><Relationship Id="rId5" Type="http://schemas.openxmlformats.org/officeDocument/2006/relationships/image" Target="../media/image596.png"/><Relationship Id="rId4" Type="http://schemas.openxmlformats.org/officeDocument/2006/relationships/image" Target="../media/image595.svg"/><Relationship Id="rId3" Type="http://schemas.openxmlformats.org/officeDocument/2006/relationships/image" Target="../media/image594.png"/><Relationship Id="rId2" Type="http://schemas.openxmlformats.org/officeDocument/2006/relationships/image" Target="../media/image593.svg"/><Relationship Id="rId16" Type="http://schemas.openxmlformats.org/officeDocument/2006/relationships/slideLayout" Target="../slideLayouts/slideLayout12.xml"/><Relationship Id="rId15" Type="http://schemas.openxmlformats.org/officeDocument/2006/relationships/image" Target="../media/image36.png"/><Relationship Id="rId14" Type="http://schemas.openxmlformats.org/officeDocument/2006/relationships/image" Target="../media/image605.svg"/><Relationship Id="rId13" Type="http://schemas.openxmlformats.org/officeDocument/2006/relationships/image" Target="../media/image604.png"/><Relationship Id="rId12" Type="http://schemas.openxmlformats.org/officeDocument/2006/relationships/image" Target="../media/image603.svg"/><Relationship Id="rId11" Type="http://schemas.openxmlformats.org/officeDocument/2006/relationships/image" Target="../media/image602.png"/><Relationship Id="rId10" Type="http://schemas.openxmlformats.org/officeDocument/2006/relationships/image" Target="../media/image601.svg"/><Relationship Id="rId1" Type="http://schemas.openxmlformats.org/officeDocument/2006/relationships/image" Target="../media/image21.png"/></Relationships>
</file>

<file path=ppt/slides/_rels/slide92.xml.rels><?xml version="1.0" encoding="UTF-8" standalone="yes"?>
<Relationships xmlns="http://schemas.openxmlformats.org/package/2006/relationships"><Relationship Id="rId9" Type="http://schemas.openxmlformats.org/officeDocument/2006/relationships/image" Target="../media/image613.png"/><Relationship Id="rId8" Type="http://schemas.openxmlformats.org/officeDocument/2006/relationships/image" Target="../media/image612.svg"/><Relationship Id="rId7" Type="http://schemas.openxmlformats.org/officeDocument/2006/relationships/image" Target="../media/image611.png"/><Relationship Id="rId6" Type="http://schemas.openxmlformats.org/officeDocument/2006/relationships/image" Target="../media/image610.svg"/><Relationship Id="rId5" Type="http://schemas.openxmlformats.org/officeDocument/2006/relationships/image" Target="../media/image609.png"/><Relationship Id="rId4" Type="http://schemas.openxmlformats.org/officeDocument/2006/relationships/image" Target="../media/image608.svg"/><Relationship Id="rId3" Type="http://schemas.openxmlformats.org/officeDocument/2006/relationships/image" Target="../media/image607.png"/><Relationship Id="rId21" Type="http://schemas.openxmlformats.org/officeDocument/2006/relationships/notesSlide" Target="../notesSlides/notesSlide52.xml"/><Relationship Id="rId20" Type="http://schemas.openxmlformats.org/officeDocument/2006/relationships/slideLayout" Target="../slideLayouts/slideLayout12.xml"/><Relationship Id="rId2" Type="http://schemas.openxmlformats.org/officeDocument/2006/relationships/image" Target="../media/image606.svg"/><Relationship Id="rId19" Type="http://schemas.openxmlformats.org/officeDocument/2006/relationships/image" Target="../media/image36.png"/><Relationship Id="rId18" Type="http://schemas.openxmlformats.org/officeDocument/2006/relationships/image" Target="../media/image622.svg"/><Relationship Id="rId17" Type="http://schemas.openxmlformats.org/officeDocument/2006/relationships/image" Target="../media/image621.png"/><Relationship Id="rId16" Type="http://schemas.openxmlformats.org/officeDocument/2006/relationships/image" Target="../media/image620.svg"/><Relationship Id="rId15" Type="http://schemas.openxmlformats.org/officeDocument/2006/relationships/image" Target="../media/image619.png"/><Relationship Id="rId14" Type="http://schemas.openxmlformats.org/officeDocument/2006/relationships/image" Target="../media/image618.svg"/><Relationship Id="rId13" Type="http://schemas.openxmlformats.org/officeDocument/2006/relationships/image" Target="../media/image617.png"/><Relationship Id="rId12" Type="http://schemas.openxmlformats.org/officeDocument/2006/relationships/image" Target="../media/image616.svg"/><Relationship Id="rId11" Type="http://schemas.openxmlformats.org/officeDocument/2006/relationships/image" Target="../media/image615.png"/><Relationship Id="rId10" Type="http://schemas.openxmlformats.org/officeDocument/2006/relationships/image" Target="../media/image614.svg"/><Relationship Id="rId1" Type="http://schemas.openxmlformats.org/officeDocument/2006/relationships/image" Target="../media/image21.png"/></Relationships>
</file>

<file path=ppt/slides/_rels/slide93.xml.rels><?xml version="1.0" encoding="UTF-8" standalone="yes"?>
<Relationships xmlns="http://schemas.openxmlformats.org/package/2006/relationships"><Relationship Id="rId5" Type="http://schemas.openxmlformats.org/officeDocument/2006/relationships/notesSlide" Target="../notesSlides/notesSlide53.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623.svg"/><Relationship Id="rId1" Type="http://schemas.openxmlformats.org/officeDocument/2006/relationships/image" Target="../media/image21.png"/></Relationships>
</file>

<file path=ppt/slides/_rels/slide94.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tags" Target="../tags/tag1191.xml"/><Relationship Id="rId6" Type="http://schemas.openxmlformats.org/officeDocument/2006/relationships/tags" Target="../tags/tag1190.xml"/><Relationship Id="rId5" Type="http://schemas.openxmlformats.org/officeDocument/2006/relationships/tags" Target="../tags/tag1189.xml"/><Relationship Id="rId4" Type="http://schemas.openxmlformats.org/officeDocument/2006/relationships/tags" Target="../tags/tag1188.xml"/><Relationship Id="rId3" Type="http://schemas.openxmlformats.org/officeDocument/2006/relationships/image" Target="../media/image36.png"/><Relationship Id="rId2" Type="http://schemas.openxmlformats.org/officeDocument/2006/relationships/image" Target="../media/image624.svg"/><Relationship Id="rId1" Type="http://schemas.openxmlformats.org/officeDocument/2006/relationships/image" Target="../media/image21.png"/></Relationships>
</file>

<file path=ppt/slides/_rels/slide95.xml.rels><?xml version="1.0" encoding="UTF-8" standalone="yes"?>
<Relationships xmlns="http://schemas.openxmlformats.org/package/2006/relationships"><Relationship Id="rId5" Type="http://schemas.openxmlformats.org/officeDocument/2006/relationships/notesSlide" Target="../notesSlides/notesSlide54.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625.svg"/><Relationship Id="rId1" Type="http://schemas.openxmlformats.org/officeDocument/2006/relationships/image" Target="../media/image21.png"/></Relationships>
</file>

<file path=ppt/slides/_rels/slide96.xml.rels><?xml version="1.0" encoding="UTF-8" standalone="yes"?>
<Relationships xmlns="http://schemas.openxmlformats.org/package/2006/relationships"><Relationship Id="rId9" Type="http://schemas.openxmlformats.org/officeDocument/2006/relationships/tags" Target="../tags/tag1197.xml"/><Relationship Id="rId8" Type="http://schemas.openxmlformats.org/officeDocument/2006/relationships/tags" Target="../tags/tag1196.xml"/><Relationship Id="rId7" Type="http://schemas.openxmlformats.org/officeDocument/2006/relationships/tags" Target="../tags/tag1195.xml"/><Relationship Id="rId6" Type="http://schemas.openxmlformats.org/officeDocument/2006/relationships/tags" Target="../tags/tag1194.xml"/><Relationship Id="rId5" Type="http://schemas.openxmlformats.org/officeDocument/2006/relationships/tags" Target="../tags/tag1193.xml"/><Relationship Id="rId4" Type="http://schemas.openxmlformats.org/officeDocument/2006/relationships/tags" Target="../tags/tag1192.xml"/><Relationship Id="rId3" Type="http://schemas.openxmlformats.org/officeDocument/2006/relationships/image" Target="../media/image36.png"/><Relationship Id="rId2" Type="http://schemas.openxmlformats.org/officeDocument/2006/relationships/image" Target="../media/image626.svg"/><Relationship Id="rId16" Type="http://schemas.openxmlformats.org/officeDocument/2006/relationships/notesSlide" Target="../notesSlides/notesSlide55.xml"/><Relationship Id="rId15" Type="http://schemas.openxmlformats.org/officeDocument/2006/relationships/slideLayout" Target="../slideLayouts/slideLayout12.xml"/><Relationship Id="rId14" Type="http://schemas.openxmlformats.org/officeDocument/2006/relationships/tags" Target="../tags/tag1202.xml"/><Relationship Id="rId13" Type="http://schemas.openxmlformats.org/officeDocument/2006/relationships/tags" Target="../tags/tag1201.xml"/><Relationship Id="rId12" Type="http://schemas.openxmlformats.org/officeDocument/2006/relationships/tags" Target="../tags/tag1200.xml"/><Relationship Id="rId11" Type="http://schemas.openxmlformats.org/officeDocument/2006/relationships/tags" Target="../tags/tag1199.xml"/><Relationship Id="rId10" Type="http://schemas.openxmlformats.org/officeDocument/2006/relationships/tags" Target="../tags/tag1198.xml"/><Relationship Id="rId1" Type="http://schemas.openxmlformats.org/officeDocument/2006/relationships/image" Target="../media/image21.png"/></Relationships>
</file>

<file path=ppt/slides/_rels/slide97.xml.rels><?xml version="1.0" encoding="UTF-8" standalone="yes"?>
<Relationships xmlns="http://schemas.openxmlformats.org/package/2006/relationships"><Relationship Id="rId9" Type="http://schemas.openxmlformats.org/officeDocument/2006/relationships/tags" Target="../tags/tag1209.xml"/><Relationship Id="rId8" Type="http://schemas.openxmlformats.org/officeDocument/2006/relationships/tags" Target="../tags/tag1208.xml"/><Relationship Id="rId7" Type="http://schemas.openxmlformats.org/officeDocument/2006/relationships/tags" Target="../tags/tag1207.xml"/><Relationship Id="rId6" Type="http://schemas.openxmlformats.org/officeDocument/2006/relationships/tags" Target="../tags/tag1206.xml"/><Relationship Id="rId5" Type="http://schemas.openxmlformats.org/officeDocument/2006/relationships/tags" Target="../tags/tag1205.xml"/><Relationship Id="rId4" Type="http://schemas.openxmlformats.org/officeDocument/2006/relationships/tags" Target="../tags/tag1204.xml"/><Relationship Id="rId37" Type="http://schemas.openxmlformats.org/officeDocument/2006/relationships/notesSlide" Target="../notesSlides/notesSlide56.xml"/><Relationship Id="rId36" Type="http://schemas.openxmlformats.org/officeDocument/2006/relationships/slideLayout" Target="../slideLayouts/slideLayout12.xml"/><Relationship Id="rId35" Type="http://schemas.openxmlformats.org/officeDocument/2006/relationships/image" Target="../media/image36.png"/><Relationship Id="rId34" Type="http://schemas.openxmlformats.org/officeDocument/2006/relationships/tags" Target="../tags/tag1234.xml"/><Relationship Id="rId33" Type="http://schemas.openxmlformats.org/officeDocument/2006/relationships/tags" Target="../tags/tag1233.xml"/><Relationship Id="rId32" Type="http://schemas.openxmlformats.org/officeDocument/2006/relationships/tags" Target="../tags/tag1232.xml"/><Relationship Id="rId31" Type="http://schemas.openxmlformats.org/officeDocument/2006/relationships/tags" Target="../tags/tag1231.xml"/><Relationship Id="rId30" Type="http://schemas.openxmlformats.org/officeDocument/2006/relationships/tags" Target="../tags/tag1230.xml"/><Relationship Id="rId3" Type="http://schemas.openxmlformats.org/officeDocument/2006/relationships/tags" Target="../tags/tag1203.xml"/><Relationship Id="rId29" Type="http://schemas.openxmlformats.org/officeDocument/2006/relationships/tags" Target="../tags/tag1229.xml"/><Relationship Id="rId28" Type="http://schemas.openxmlformats.org/officeDocument/2006/relationships/tags" Target="../tags/tag1228.xml"/><Relationship Id="rId27" Type="http://schemas.openxmlformats.org/officeDocument/2006/relationships/tags" Target="../tags/tag1227.xml"/><Relationship Id="rId26" Type="http://schemas.openxmlformats.org/officeDocument/2006/relationships/tags" Target="../tags/tag1226.xml"/><Relationship Id="rId25" Type="http://schemas.openxmlformats.org/officeDocument/2006/relationships/tags" Target="../tags/tag1225.xml"/><Relationship Id="rId24" Type="http://schemas.openxmlformats.org/officeDocument/2006/relationships/tags" Target="../tags/tag1224.xml"/><Relationship Id="rId23" Type="http://schemas.openxmlformats.org/officeDocument/2006/relationships/tags" Target="../tags/tag1223.xml"/><Relationship Id="rId22" Type="http://schemas.openxmlformats.org/officeDocument/2006/relationships/tags" Target="../tags/tag1222.xml"/><Relationship Id="rId21" Type="http://schemas.openxmlformats.org/officeDocument/2006/relationships/tags" Target="../tags/tag1221.xml"/><Relationship Id="rId20" Type="http://schemas.openxmlformats.org/officeDocument/2006/relationships/tags" Target="../tags/tag1220.xml"/><Relationship Id="rId2" Type="http://schemas.openxmlformats.org/officeDocument/2006/relationships/image" Target="../media/image627.svg"/><Relationship Id="rId19" Type="http://schemas.openxmlformats.org/officeDocument/2006/relationships/tags" Target="../tags/tag1219.xml"/><Relationship Id="rId18" Type="http://schemas.openxmlformats.org/officeDocument/2006/relationships/tags" Target="../tags/tag1218.xml"/><Relationship Id="rId17" Type="http://schemas.openxmlformats.org/officeDocument/2006/relationships/tags" Target="../tags/tag1217.xml"/><Relationship Id="rId16" Type="http://schemas.openxmlformats.org/officeDocument/2006/relationships/tags" Target="../tags/tag1216.xml"/><Relationship Id="rId15" Type="http://schemas.openxmlformats.org/officeDocument/2006/relationships/tags" Target="../tags/tag1215.xml"/><Relationship Id="rId14" Type="http://schemas.openxmlformats.org/officeDocument/2006/relationships/tags" Target="../tags/tag1214.xml"/><Relationship Id="rId13" Type="http://schemas.openxmlformats.org/officeDocument/2006/relationships/tags" Target="../tags/tag1213.xml"/><Relationship Id="rId12" Type="http://schemas.openxmlformats.org/officeDocument/2006/relationships/tags" Target="../tags/tag1212.xml"/><Relationship Id="rId11" Type="http://schemas.openxmlformats.org/officeDocument/2006/relationships/tags" Target="../tags/tag1211.xml"/><Relationship Id="rId10" Type="http://schemas.openxmlformats.org/officeDocument/2006/relationships/tags" Target="../tags/tag1210.xml"/><Relationship Id="rId1" Type="http://schemas.openxmlformats.org/officeDocument/2006/relationships/image" Target="../media/image21.png"/></Relationships>
</file>

<file path=ppt/slides/_rels/slide98.xml.rels><?xml version="1.0" encoding="UTF-8" standalone="yes"?>
<Relationships xmlns="http://schemas.openxmlformats.org/package/2006/relationships"><Relationship Id="rId9" Type="http://schemas.openxmlformats.org/officeDocument/2006/relationships/image" Target="../media/image630.svg"/><Relationship Id="rId8" Type="http://schemas.openxmlformats.org/officeDocument/2006/relationships/image" Target="../media/image629.png"/><Relationship Id="rId7" Type="http://schemas.openxmlformats.org/officeDocument/2006/relationships/tags" Target="../tags/tag1239.xml"/><Relationship Id="rId6" Type="http://schemas.openxmlformats.org/officeDocument/2006/relationships/tags" Target="../tags/tag1238.xml"/><Relationship Id="rId5" Type="http://schemas.openxmlformats.org/officeDocument/2006/relationships/tags" Target="../tags/tag1237.xml"/><Relationship Id="rId41" Type="http://schemas.openxmlformats.org/officeDocument/2006/relationships/slideLayout" Target="../slideLayouts/slideLayout12.xml"/><Relationship Id="rId40" Type="http://schemas.openxmlformats.org/officeDocument/2006/relationships/image" Target="../media/image36.png"/><Relationship Id="rId4" Type="http://schemas.openxmlformats.org/officeDocument/2006/relationships/tags" Target="../tags/tag1236.xml"/><Relationship Id="rId39" Type="http://schemas.openxmlformats.org/officeDocument/2006/relationships/tags" Target="../tags/tag1267.xml"/><Relationship Id="rId38" Type="http://schemas.openxmlformats.org/officeDocument/2006/relationships/tags" Target="../tags/tag1266.xml"/><Relationship Id="rId37" Type="http://schemas.openxmlformats.org/officeDocument/2006/relationships/tags" Target="../tags/tag1265.xml"/><Relationship Id="rId36" Type="http://schemas.openxmlformats.org/officeDocument/2006/relationships/tags" Target="../tags/tag1264.xml"/><Relationship Id="rId35" Type="http://schemas.openxmlformats.org/officeDocument/2006/relationships/tags" Target="../tags/tag1263.xml"/><Relationship Id="rId34" Type="http://schemas.openxmlformats.org/officeDocument/2006/relationships/tags" Target="../tags/tag1262.xml"/><Relationship Id="rId33" Type="http://schemas.openxmlformats.org/officeDocument/2006/relationships/tags" Target="../tags/tag1261.xml"/><Relationship Id="rId32" Type="http://schemas.openxmlformats.org/officeDocument/2006/relationships/tags" Target="../tags/tag1260.xml"/><Relationship Id="rId31" Type="http://schemas.openxmlformats.org/officeDocument/2006/relationships/tags" Target="../tags/tag1259.xml"/><Relationship Id="rId30" Type="http://schemas.openxmlformats.org/officeDocument/2006/relationships/tags" Target="../tags/tag1258.xml"/><Relationship Id="rId3" Type="http://schemas.openxmlformats.org/officeDocument/2006/relationships/tags" Target="../tags/tag1235.xml"/><Relationship Id="rId29" Type="http://schemas.openxmlformats.org/officeDocument/2006/relationships/tags" Target="../tags/tag1257.xml"/><Relationship Id="rId28" Type="http://schemas.openxmlformats.org/officeDocument/2006/relationships/image" Target="../media/image632.svg"/><Relationship Id="rId27" Type="http://schemas.openxmlformats.org/officeDocument/2006/relationships/image" Target="../media/image631.png"/><Relationship Id="rId26" Type="http://schemas.openxmlformats.org/officeDocument/2006/relationships/tags" Target="../tags/tag1256.xml"/><Relationship Id="rId25" Type="http://schemas.openxmlformats.org/officeDocument/2006/relationships/tags" Target="../tags/tag1255.xml"/><Relationship Id="rId24" Type="http://schemas.openxmlformats.org/officeDocument/2006/relationships/tags" Target="../tags/tag1254.xml"/><Relationship Id="rId23" Type="http://schemas.openxmlformats.org/officeDocument/2006/relationships/tags" Target="../tags/tag1253.xml"/><Relationship Id="rId22" Type="http://schemas.openxmlformats.org/officeDocument/2006/relationships/tags" Target="../tags/tag1252.xml"/><Relationship Id="rId21" Type="http://schemas.openxmlformats.org/officeDocument/2006/relationships/tags" Target="../tags/tag1251.xml"/><Relationship Id="rId20" Type="http://schemas.openxmlformats.org/officeDocument/2006/relationships/tags" Target="../tags/tag1250.xml"/><Relationship Id="rId2" Type="http://schemas.openxmlformats.org/officeDocument/2006/relationships/image" Target="../media/image628.svg"/><Relationship Id="rId19" Type="http://schemas.openxmlformats.org/officeDocument/2006/relationships/tags" Target="../tags/tag1249.xml"/><Relationship Id="rId18" Type="http://schemas.openxmlformats.org/officeDocument/2006/relationships/tags" Target="../tags/tag1248.xml"/><Relationship Id="rId17" Type="http://schemas.openxmlformats.org/officeDocument/2006/relationships/tags" Target="../tags/tag1247.xml"/><Relationship Id="rId16" Type="http://schemas.openxmlformats.org/officeDocument/2006/relationships/tags" Target="../tags/tag1246.xml"/><Relationship Id="rId15" Type="http://schemas.openxmlformats.org/officeDocument/2006/relationships/tags" Target="../tags/tag1245.xml"/><Relationship Id="rId14" Type="http://schemas.openxmlformats.org/officeDocument/2006/relationships/tags" Target="../tags/tag1244.xml"/><Relationship Id="rId13" Type="http://schemas.openxmlformats.org/officeDocument/2006/relationships/tags" Target="../tags/tag1243.xml"/><Relationship Id="rId12" Type="http://schemas.openxmlformats.org/officeDocument/2006/relationships/tags" Target="../tags/tag1242.xml"/><Relationship Id="rId11" Type="http://schemas.openxmlformats.org/officeDocument/2006/relationships/tags" Target="../tags/tag1241.xml"/><Relationship Id="rId10" Type="http://schemas.openxmlformats.org/officeDocument/2006/relationships/tags" Target="../tags/tag1240.xml"/><Relationship Id="rId1" Type="http://schemas.openxmlformats.org/officeDocument/2006/relationships/image" Target="../media/image21.png"/></Relationships>
</file>

<file path=ppt/slides/_rels/slide99.xml.rels><?xml version="1.0" encoding="UTF-8" standalone="yes"?>
<Relationships xmlns="http://schemas.openxmlformats.org/package/2006/relationships"><Relationship Id="rId9" Type="http://schemas.openxmlformats.org/officeDocument/2006/relationships/image" Target="../media/image638.png"/><Relationship Id="rId8" Type="http://schemas.openxmlformats.org/officeDocument/2006/relationships/image" Target="../media/image637.svg"/><Relationship Id="rId7" Type="http://schemas.openxmlformats.org/officeDocument/2006/relationships/image" Target="../media/image636.png"/><Relationship Id="rId6" Type="http://schemas.openxmlformats.org/officeDocument/2006/relationships/image" Target="../media/image635.svg"/><Relationship Id="rId5" Type="http://schemas.openxmlformats.org/officeDocument/2006/relationships/image" Target="../media/image634.png"/><Relationship Id="rId4" Type="http://schemas.openxmlformats.org/officeDocument/2006/relationships/image" Target="../media/image633.svg"/><Relationship Id="rId3" Type="http://schemas.openxmlformats.org/officeDocument/2006/relationships/image" Target="../media/image21.png"/><Relationship Id="rId24" Type="http://schemas.openxmlformats.org/officeDocument/2006/relationships/slideLayout" Target="../slideLayouts/slideLayout12.xml"/><Relationship Id="rId23" Type="http://schemas.openxmlformats.org/officeDocument/2006/relationships/image" Target="../media/image36.png"/><Relationship Id="rId22" Type="http://schemas.openxmlformats.org/officeDocument/2006/relationships/image" Target="../media/image651.svg"/><Relationship Id="rId21" Type="http://schemas.openxmlformats.org/officeDocument/2006/relationships/image" Target="../media/image650.png"/><Relationship Id="rId20" Type="http://schemas.openxmlformats.org/officeDocument/2006/relationships/image" Target="../media/image649.svg"/><Relationship Id="rId2" Type="http://schemas.openxmlformats.org/officeDocument/2006/relationships/tags" Target="../tags/tag1269.xml"/><Relationship Id="rId19" Type="http://schemas.openxmlformats.org/officeDocument/2006/relationships/image" Target="../media/image648.png"/><Relationship Id="rId18" Type="http://schemas.openxmlformats.org/officeDocument/2006/relationships/image" Target="../media/image647.svg"/><Relationship Id="rId17" Type="http://schemas.openxmlformats.org/officeDocument/2006/relationships/image" Target="../media/image646.png"/><Relationship Id="rId16" Type="http://schemas.openxmlformats.org/officeDocument/2006/relationships/image" Target="../media/image645.svg"/><Relationship Id="rId15" Type="http://schemas.openxmlformats.org/officeDocument/2006/relationships/image" Target="../media/image644.png"/><Relationship Id="rId14" Type="http://schemas.openxmlformats.org/officeDocument/2006/relationships/image" Target="../media/image643.svg"/><Relationship Id="rId13" Type="http://schemas.openxmlformats.org/officeDocument/2006/relationships/image" Target="../media/image642.png"/><Relationship Id="rId12" Type="http://schemas.openxmlformats.org/officeDocument/2006/relationships/image" Target="../media/image641.svg"/><Relationship Id="rId11" Type="http://schemas.openxmlformats.org/officeDocument/2006/relationships/image" Target="../media/image640.png"/><Relationship Id="rId10" Type="http://schemas.openxmlformats.org/officeDocument/2006/relationships/image" Target="../media/image639.svg"/><Relationship Id="rId1" Type="http://schemas.openxmlformats.org/officeDocument/2006/relationships/tags" Target="../tags/tag1268.xml"/></Relationships>
</file>

<file path=ppt/slides/_rels/slide100.xml.rels><?xml version="1.0" encoding="UTF-8" standalone="yes"?>
<Relationships xmlns="http://schemas.openxmlformats.org/package/2006/relationships"><Relationship Id="rId9" Type="http://schemas.openxmlformats.org/officeDocument/2006/relationships/tags" Target="../tags/tag1275.xml"/><Relationship Id="rId8" Type="http://schemas.openxmlformats.org/officeDocument/2006/relationships/tags" Target="../tags/tag1274.xml"/><Relationship Id="rId7" Type="http://schemas.openxmlformats.org/officeDocument/2006/relationships/tags" Target="../tags/tag1273.xml"/><Relationship Id="rId6" Type="http://schemas.openxmlformats.org/officeDocument/2006/relationships/tags" Target="../tags/tag1272.xml"/><Relationship Id="rId5" Type="http://schemas.openxmlformats.org/officeDocument/2006/relationships/tags" Target="../tags/tag1271.xml"/><Relationship Id="rId4" Type="http://schemas.openxmlformats.org/officeDocument/2006/relationships/tags" Target="../tags/tag1270.xml"/><Relationship Id="rId3" Type="http://schemas.openxmlformats.org/officeDocument/2006/relationships/image" Target="../media/image36.png"/><Relationship Id="rId25" Type="http://schemas.openxmlformats.org/officeDocument/2006/relationships/slideLayout" Target="../slideLayouts/slideLayout12.xml"/><Relationship Id="rId24" Type="http://schemas.openxmlformats.org/officeDocument/2006/relationships/tags" Target="../tags/tag1290.xml"/><Relationship Id="rId23" Type="http://schemas.openxmlformats.org/officeDocument/2006/relationships/tags" Target="../tags/tag1289.xml"/><Relationship Id="rId22" Type="http://schemas.openxmlformats.org/officeDocument/2006/relationships/tags" Target="../tags/tag1288.xml"/><Relationship Id="rId21" Type="http://schemas.openxmlformats.org/officeDocument/2006/relationships/tags" Target="../tags/tag1287.xml"/><Relationship Id="rId20" Type="http://schemas.openxmlformats.org/officeDocument/2006/relationships/tags" Target="../tags/tag1286.xml"/><Relationship Id="rId2" Type="http://schemas.openxmlformats.org/officeDocument/2006/relationships/image" Target="../media/image624.svg"/><Relationship Id="rId19" Type="http://schemas.openxmlformats.org/officeDocument/2006/relationships/tags" Target="../tags/tag1285.xml"/><Relationship Id="rId18" Type="http://schemas.openxmlformats.org/officeDocument/2006/relationships/tags" Target="../tags/tag1284.xml"/><Relationship Id="rId17" Type="http://schemas.openxmlformats.org/officeDocument/2006/relationships/tags" Target="../tags/tag1283.xml"/><Relationship Id="rId16" Type="http://schemas.openxmlformats.org/officeDocument/2006/relationships/tags" Target="../tags/tag1282.xml"/><Relationship Id="rId15" Type="http://schemas.openxmlformats.org/officeDocument/2006/relationships/tags" Target="../tags/tag1281.xml"/><Relationship Id="rId14" Type="http://schemas.openxmlformats.org/officeDocument/2006/relationships/tags" Target="../tags/tag1280.xml"/><Relationship Id="rId13" Type="http://schemas.openxmlformats.org/officeDocument/2006/relationships/tags" Target="../tags/tag1279.xml"/><Relationship Id="rId12" Type="http://schemas.openxmlformats.org/officeDocument/2006/relationships/tags" Target="../tags/tag1278.xml"/><Relationship Id="rId11" Type="http://schemas.openxmlformats.org/officeDocument/2006/relationships/tags" Target="../tags/tag1277.xml"/><Relationship Id="rId10" Type="http://schemas.openxmlformats.org/officeDocument/2006/relationships/tags" Target="../tags/tag1276.xml"/><Relationship Id="rId1" Type="http://schemas.openxmlformats.org/officeDocument/2006/relationships/image" Target="../media/image21.png"/></Relationships>
</file>

<file path=ppt/slides/_rels/slide10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628.svg"/><Relationship Id="rId1" Type="http://schemas.openxmlformats.org/officeDocument/2006/relationships/image" Target="../media/image21.png"/></Relationships>
</file>

<file path=ppt/slides/_rels/slide102.xml.rels><?xml version="1.0" encoding="UTF-8" standalone="yes"?>
<Relationships xmlns="http://schemas.openxmlformats.org/package/2006/relationships"><Relationship Id="rId9" Type="http://schemas.openxmlformats.org/officeDocument/2006/relationships/tags" Target="../tags/tag1297.xml"/><Relationship Id="rId8" Type="http://schemas.openxmlformats.org/officeDocument/2006/relationships/tags" Target="../tags/tag1296.xml"/><Relationship Id="rId7" Type="http://schemas.openxmlformats.org/officeDocument/2006/relationships/tags" Target="../tags/tag1295.xml"/><Relationship Id="rId6" Type="http://schemas.openxmlformats.org/officeDocument/2006/relationships/tags" Target="../tags/tag1294.xml"/><Relationship Id="rId5" Type="http://schemas.openxmlformats.org/officeDocument/2006/relationships/tags" Target="../tags/tag1293.xml"/><Relationship Id="rId4" Type="http://schemas.openxmlformats.org/officeDocument/2006/relationships/image" Target="../media/image652.svg"/><Relationship Id="rId34" Type="http://schemas.openxmlformats.org/officeDocument/2006/relationships/slideLayout" Target="../slideLayouts/slideLayout12.xml"/><Relationship Id="rId33" Type="http://schemas.openxmlformats.org/officeDocument/2006/relationships/image" Target="../media/image36.png"/><Relationship Id="rId32" Type="http://schemas.openxmlformats.org/officeDocument/2006/relationships/tags" Target="../tags/tag1320.xml"/><Relationship Id="rId31" Type="http://schemas.openxmlformats.org/officeDocument/2006/relationships/tags" Target="../tags/tag1319.xml"/><Relationship Id="rId30" Type="http://schemas.openxmlformats.org/officeDocument/2006/relationships/tags" Target="../tags/tag1318.xml"/><Relationship Id="rId3" Type="http://schemas.openxmlformats.org/officeDocument/2006/relationships/image" Target="../media/image21.png"/><Relationship Id="rId29" Type="http://schemas.openxmlformats.org/officeDocument/2006/relationships/tags" Target="../tags/tag1317.xml"/><Relationship Id="rId28" Type="http://schemas.openxmlformats.org/officeDocument/2006/relationships/tags" Target="../tags/tag1316.xml"/><Relationship Id="rId27" Type="http://schemas.openxmlformats.org/officeDocument/2006/relationships/tags" Target="../tags/tag1315.xml"/><Relationship Id="rId26" Type="http://schemas.openxmlformats.org/officeDocument/2006/relationships/tags" Target="../tags/tag1314.xml"/><Relationship Id="rId25" Type="http://schemas.openxmlformats.org/officeDocument/2006/relationships/tags" Target="../tags/tag1313.xml"/><Relationship Id="rId24" Type="http://schemas.openxmlformats.org/officeDocument/2006/relationships/tags" Target="../tags/tag1312.xml"/><Relationship Id="rId23" Type="http://schemas.openxmlformats.org/officeDocument/2006/relationships/tags" Target="../tags/tag1311.xml"/><Relationship Id="rId22" Type="http://schemas.openxmlformats.org/officeDocument/2006/relationships/tags" Target="../tags/tag1310.xml"/><Relationship Id="rId21" Type="http://schemas.openxmlformats.org/officeDocument/2006/relationships/tags" Target="../tags/tag1309.xml"/><Relationship Id="rId20" Type="http://schemas.openxmlformats.org/officeDocument/2006/relationships/tags" Target="../tags/tag1308.xml"/><Relationship Id="rId2" Type="http://schemas.openxmlformats.org/officeDocument/2006/relationships/tags" Target="../tags/tag1292.xml"/><Relationship Id="rId19" Type="http://schemas.openxmlformats.org/officeDocument/2006/relationships/tags" Target="../tags/tag1307.xml"/><Relationship Id="rId18" Type="http://schemas.openxmlformats.org/officeDocument/2006/relationships/tags" Target="../tags/tag1306.xml"/><Relationship Id="rId17" Type="http://schemas.openxmlformats.org/officeDocument/2006/relationships/tags" Target="../tags/tag1305.xml"/><Relationship Id="rId16" Type="http://schemas.openxmlformats.org/officeDocument/2006/relationships/tags" Target="../tags/tag1304.xml"/><Relationship Id="rId15" Type="http://schemas.openxmlformats.org/officeDocument/2006/relationships/tags" Target="../tags/tag1303.xml"/><Relationship Id="rId14" Type="http://schemas.openxmlformats.org/officeDocument/2006/relationships/tags" Target="../tags/tag1302.xml"/><Relationship Id="rId13" Type="http://schemas.openxmlformats.org/officeDocument/2006/relationships/tags" Target="../tags/tag1301.xml"/><Relationship Id="rId12" Type="http://schemas.openxmlformats.org/officeDocument/2006/relationships/tags" Target="../tags/tag1300.xml"/><Relationship Id="rId11" Type="http://schemas.openxmlformats.org/officeDocument/2006/relationships/tags" Target="../tags/tag1299.xml"/><Relationship Id="rId10" Type="http://schemas.openxmlformats.org/officeDocument/2006/relationships/tags" Target="../tags/tag1298.xml"/><Relationship Id="rId1" Type="http://schemas.openxmlformats.org/officeDocument/2006/relationships/tags" Target="../tags/tag1291.xml"/></Relationships>
</file>

<file path=ppt/slides/_rels/slide103.xml.rels><?xml version="1.0" encoding="UTF-8" standalone="yes"?>
<Relationships xmlns="http://schemas.openxmlformats.org/package/2006/relationships"><Relationship Id="rId9" Type="http://schemas.openxmlformats.org/officeDocument/2006/relationships/image" Target="../media/image656.svg"/><Relationship Id="rId8" Type="http://schemas.openxmlformats.org/officeDocument/2006/relationships/tags" Target="../tags/tag1324.xml"/><Relationship Id="rId7" Type="http://schemas.openxmlformats.org/officeDocument/2006/relationships/tags" Target="../tags/tag1323.xml"/><Relationship Id="rId6" Type="http://schemas.openxmlformats.org/officeDocument/2006/relationships/image" Target="../media/image655.svg"/><Relationship Id="rId5" Type="http://schemas.openxmlformats.org/officeDocument/2006/relationships/image" Target="../media/image654.png"/><Relationship Id="rId40" Type="http://schemas.openxmlformats.org/officeDocument/2006/relationships/slideLayout" Target="../slideLayouts/slideLayout12.xml"/><Relationship Id="rId4" Type="http://schemas.openxmlformats.org/officeDocument/2006/relationships/tags" Target="../tags/tag1322.xml"/><Relationship Id="rId39" Type="http://schemas.openxmlformats.org/officeDocument/2006/relationships/image" Target="../media/image36.png"/><Relationship Id="rId38" Type="http://schemas.openxmlformats.org/officeDocument/2006/relationships/tags" Target="../tags/tag1348.xml"/><Relationship Id="rId37" Type="http://schemas.openxmlformats.org/officeDocument/2006/relationships/tags" Target="../tags/tag1347.xml"/><Relationship Id="rId36" Type="http://schemas.openxmlformats.org/officeDocument/2006/relationships/tags" Target="../tags/tag1346.xml"/><Relationship Id="rId35" Type="http://schemas.openxmlformats.org/officeDocument/2006/relationships/tags" Target="../tags/tag1345.xml"/><Relationship Id="rId34" Type="http://schemas.openxmlformats.org/officeDocument/2006/relationships/tags" Target="../tags/tag1344.xml"/><Relationship Id="rId33" Type="http://schemas.openxmlformats.org/officeDocument/2006/relationships/tags" Target="../tags/tag1343.xml"/><Relationship Id="rId32" Type="http://schemas.openxmlformats.org/officeDocument/2006/relationships/image" Target="../media/image661.svg"/><Relationship Id="rId31" Type="http://schemas.openxmlformats.org/officeDocument/2006/relationships/tags" Target="../tags/tag1342.xml"/><Relationship Id="rId30" Type="http://schemas.openxmlformats.org/officeDocument/2006/relationships/tags" Target="../tags/tag1341.xml"/><Relationship Id="rId3" Type="http://schemas.openxmlformats.org/officeDocument/2006/relationships/tags" Target="../tags/tag1321.xml"/><Relationship Id="rId29" Type="http://schemas.openxmlformats.org/officeDocument/2006/relationships/tags" Target="../tags/tag1340.xml"/><Relationship Id="rId28" Type="http://schemas.openxmlformats.org/officeDocument/2006/relationships/tags" Target="../tags/tag1339.xml"/><Relationship Id="rId27" Type="http://schemas.openxmlformats.org/officeDocument/2006/relationships/tags" Target="../tags/tag1338.xml"/><Relationship Id="rId26" Type="http://schemas.openxmlformats.org/officeDocument/2006/relationships/tags" Target="../tags/tag1337.xml"/><Relationship Id="rId25" Type="http://schemas.openxmlformats.org/officeDocument/2006/relationships/image" Target="../media/image660.svg"/><Relationship Id="rId24" Type="http://schemas.openxmlformats.org/officeDocument/2006/relationships/tags" Target="../tags/tag1336.xml"/><Relationship Id="rId23" Type="http://schemas.openxmlformats.org/officeDocument/2006/relationships/tags" Target="../tags/tag1335.xml"/><Relationship Id="rId22" Type="http://schemas.openxmlformats.org/officeDocument/2006/relationships/image" Target="../media/image659.svg"/><Relationship Id="rId21" Type="http://schemas.openxmlformats.org/officeDocument/2006/relationships/image" Target="../media/image658.png"/><Relationship Id="rId20" Type="http://schemas.openxmlformats.org/officeDocument/2006/relationships/tags" Target="../tags/tag1334.xml"/><Relationship Id="rId2" Type="http://schemas.openxmlformats.org/officeDocument/2006/relationships/image" Target="../media/image653.svg"/><Relationship Id="rId19" Type="http://schemas.openxmlformats.org/officeDocument/2006/relationships/tags" Target="../tags/tag1333.xml"/><Relationship Id="rId18" Type="http://schemas.openxmlformats.org/officeDocument/2006/relationships/tags" Target="../tags/tag1332.xml"/><Relationship Id="rId17" Type="http://schemas.openxmlformats.org/officeDocument/2006/relationships/tags" Target="../tags/tag1331.xml"/><Relationship Id="rId16" Type="http://schemas.openxmlformats.org/officeDocument/2006/relationships/tags" Target="../tags/tag1330.xml"/><Relationship Id="rId15" Type="http://schemas.openxmlformats.org/officeDocument/2006/relationships/tags" Target="../tags/tag1329.xml"/><Relationship Id="rId14" Type="http://schemas.openxmlformats.org/officeDocument/2006/relationships/image" Target="../media/image657.svg"/><Relationship Id="rId13" Type="http://schemas.openxmlformats.org/officeDocument/2006/relationships/tags" Target="../tags/tag1328.xml"/><Relationship Id="rId12" Type="http://schemas.openxmlformats.org/officeDocument/2006/relationships/tags" Target="../tags/tag1327.xml"/><Relationship Id="rId11" Type="http://schemas.openxmlformats.org/officeDocument/2006/relationships/tags" Target="../tags/tag1326.xml"/><Relationship Id="rId10" Type="http://schemas.openxmlformats.org/officeDocument/2006/relationships/tags" Target="../tags/tag1325.xml"/><Relationship Id="rId1" Type="http://schemas.openxmlformats.org/officeDocument/2006/relationships/image" Target="../media/image21.png"/></Relationships>
</file>

<file path=ppt/slides/_rels/slide104.xml.rels><?xml version="1.0" encoding="UTF-8" standalone="yes"?>
<Relationships xmlns="http://schemas.openxmlformats.org/package/2006/relationships"><Relationship Id="rId9" Type="http://schemas.openxmlformats.org/officeDocument/2006/relationships/image" Target="../media/image669.png"/><Relationship Id="rId8" Type="http://schemas.openxmlformats.org/officeDocument/2006/relationships/image" Target="../media/image668.svg"/><Relationship Id="rId7" Type="http://schemas.openxmlformats.org/officeDocument/2006/relationships/image" Target="../media/image667.png"/><Relationship Id="rId6" Type="http://schemas.openxmlformats.org/officeDocument/2006/relationships/image" Target="../media/image666.svg"/><Relationship Id="rId5" Type="http://schemas.openxmlformats.org/officeDocument/2006/relationships/image" Target="../media/image665.png"/><Relationship Id="rId4" Type="http://schemas.openxmlformats.org/officeDocument/2006/relationships/image" Target="../media/image664.svg"/><Relationship Id="rId3" Type="http://schemas.openxmlformats.org/officeDocument/2006/relationships/image" Target="../media/image663.png"/><Relationship Id="rId2" Type="http://schemas.openxmlformats.org/officeDocument/2006/relationships/image" Target="../media/image662.svg"/><Relationship Id="rId16" Type="http://schemas.openxmlformats.org/officeDocument/2006/relationships/slideLayout" Target="../slideLayouts/slideLayout12.xml"/><Relationship Id="rId15" Type="http://schemas.openxmlformats.org/officeDocument/2006/relationships/image" Target="../media/image36.png"/><Relationship Id="rId14" Type="http://schemas.openxmlformats.org/officeDocument/2006/relationships/image" Target="../media/image674.svg"/><Relationship Id="rId13" Type="http://schemas.openxmlformats.org/officeDocument/2006/relationships/image" Target="../media/image673.png"/><Relationship Id="rId12" Type="http://schemas.openxmlformats.org/officeDocument/2006/relationships/image" Target="../media/image672.svg"/><Relationship Id="rId11" Type="http://schemas.openxmlformats.org/officeDocument/2006/relationships/image" Target="../media/image671.png"/><Relationship Id="rId10" Type="http://schemas.openxmlformats.org/officeDocument/2006/relationships/image" Target="../media/image670.svg"/><Relationship Id="rId1" Type="http://schemas.openxmlformats.org/officeDocument/2006/relationships/image" Target="../media/image21.png"/></Relationships>
</file>

<file path=ppt/slides/_rels/slide105.xml.rels><?xml version="1.0" encoding="UTF-8" standalone="yes"?>
<Relationships xmlns="http://schemas.openxmlformats.org/package/2006/relationships"><Relationship Id="rId9" Type="http://schemas.openxmlformats.org/officeDocument/2006/relationships/tags" Target="../tags/tag1354.xml"/><Relationship Id="rId8" Type="http://schemas.openxmlformats.org/officeDocument/2006/relationships/tags" Target="../tags/tag1353.xml"/><Relationship Id="rId7" Type="http://schemas.openxmlformats.org/officeDocument/2006/relationships/tags" Target="../tags/tag1352.xml"/><Relationship Id="rId6" Type="http://schemas.openxmlformats.org/officeDocument/2006/relationships/tags" Target="../tags/tag1351.xml"/><Relationship Id="rId5" Type="http://schemas.openxmlformats.org/officeDocument/2006/relationships/tags" Target="../tags/tag1350.xml"/><Relationship Id="rId4" Type="http://schemas.openxmlformats.org/officeDocument/2006/relationships/tags" Target="../tags/tag1349.xml"/><Relationship Id="rId32" Type="http://schemas.openxmlformats.org/officeDocument/2006/relationships/slideLayout" Target="../slideLayouts/slideLayout12.xml"/><Relationship Id="rId31" Type="http://schemas.openxmlformats.org/officeDocument/2006/relationships/image" Target="../media/image683.svg"/><Relationship Id="rId30" Type="http://schemas.openxmlformats.org/officeDocument/2006/relationships/image" Target="../media/image682.png"/><Relationship Id="rId3" Type="http://schemas.openxmlformats.org/officeDocument/2006/relationships/image" Target="../media/image36.png"/><Relationship Id="rId29" Type="http://schemas.openxmlformats.org/officeDocument/2006/relationships/image" Target="../media/image681.svg"/><Relationship Id="rId28" Type="http://schemas.openxmlformats.org/officeDocument/2006/relationships/image" Target="../media/image680.png"/><Relationship Id="rId27" Type="http://schemas.openxmlformats.org/officeDocument/2006/relationships/image" Target="../media/image679.svg"/><Relationship Id="rId26" Type="http://schemas.openxmlformats.org/officeDocument/2006/relationships/image" Target="../media/image678.png"/><Relationship Id="rId25" Type="http://schemas.openxmlformats.org/officeDocument/2006/relationships/image" Target="../media/image677.svg"/><Relationship Id="rId24" Type="http://schemas.openxmlformats.org/officeDocument/2006/relationships/image" Target="../media/image676.png"/><Relationship Id="rId23" Type="http://schemas.openxmlformats.org/officeDocument/2006/relationships/tags" Target="../tags/tag1368.xml"/><Relationship Id="rId22" Type="http://schemas.openxmlformats.org/officeDocument/2006/relationships/tags" Target="../tags/tag1367.xml"/><Relationship Id="rId21" Type="http://schemas.openxmlformats.org/officeDocument/2006/relationships/tags" Target="../tags/tag1366.xml"/><Relationship Id="rId20" Type="http://schemas.openxmlformats.org/officeDocument/2006/relationships/tags" Target="../tags/tag1365.xml"/><Relationship Id="rId2" Type="http://schemas.openxmlformats.org/officeDocument/2006/relationships/image" Target="../media/image675.svg"/><Relationship Id="rId19" Type="http://schemas.openxmlformats.org/officeDocument/2006/relationships/tags" Target="../tags/tag1364.xml"/><Relationship Id="rId18" Type="http://schemas.openxmlformats.org/officeDocument/2006/relationships/tags" Target="../tags/tag1363.xml"/><Relationship Id="rId17" Type="http://schemas.openxmlformats.org/officeDocument/2006/relationships/tags" Target="../tags/tag1362.xml"/><Relationship Id="rId16" Type="http://schemas.openxmlformats.org/officeDocument/2006/relationships/tags" Target="../tags/tag1361.xml"/><Relationship Id="rId15" Type="http://schemas.openxmlformats.org/officeDocument/2006/relationships/tags" Target="../tags/tag1360.xml"/><Relationship Id="rId14" Type="http://schemas.openxmlformats.org/officeDocument/2006/relationships/tags" Target="../tags/tag1359.xml"/><Relationship Id="rId13" Type="http://schemas.openxmlformats.org/officeDocument/2006/relationships/tags" Target="../tags/tag1358.xml"/><Relationship Id="rId12" Type="http://schemas.openxmlformats.org/officeDocument/2006/relationships/tags" Target="../tags/tag1357.xml"/><Relationship Id="rId11" Type="http://schemas.openxmlformats.org/officeDocument/2006/relationships/tags" Target="../tags/tag1356.xml"/><Relationship Id="rId10" Type="http://schemas.openxmlformats.org/officeDocument/2006/relationships/tags" Target="../tags/tag1355.xml"/><Relationship Id="rId1" Type="http://schemas.openxmlformats.org/officeDocument/2006/relationships/image" Target="../media/image21.png"/></Relationships>
</file>

<file path=ppt/slides/_rels/slide106.xml.rels><?xml version="1.0" encoding="UTF-8" standalone="yes"?>
<Relationships xmlns="http://schemas.openxmlformats.org/package/2006/relationships"><Relationship Id="rId7" Type="http://schemas.openxmlformats.org/officeDocument/2006/relationships/slideLayout" Target="../slideLayouts/slideLayout12.xml"/><Relationship Id="rId6" Type="http://schemas.openxmlformats.org/officeDocument/2006/relationships/tags" Target="../tags/tag1371.xml"/><Relationship Id="rId5" Type="http://schemas.openxmlformats.org/officeDocument/2006/relationships/tags" Target="../tags/tag1370.xml"/><Relationship Id="rId4" Type="http://schemas.openxmlformats.org/officeDocument/2006/relationships/tags" Target="../tags/tag1369.xml"/><Relationship Id="rId3" Type="http://schemas.openxmlformats.org/officeDocument/2006/relationships/image" Target="../media/image36.png"/><Relationship Id="rId2" Type="http://schemas.openxmlformats.org/officeDocument/2006/relationships/image" Target="../media/image684.svg"/><Relationship Id="rId1" Type="http://schemas.openxmlformats.org/officeDocument/2006/relationships/image" Target="../media/image21.png"/></Relationships>
</file>

<file path=ppt/slides/_rels/slide10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685.svg"/><Relationship Id="rId1" Type="http://schemas.openxmlformats.org/officeDocument/2006/relationships/image" Target="../media/image21.png"/></Relationships>
</file>

<file path=ppt/slides/_rels/slide10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687.svg"/><Relationship Id="rId1" Type="http://schemas.openxmlformats.org/officeDocument/2006/relationships/image" Target="../media/image686.png"/></Relationships>
</file>

<file path=ppt/slides/_rels/slide10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688.svg"/><Relationship Id="rId1" Type="http://schemas.openxmlformats.org/officeDocument/2006/relationships/image" Target="../media/image21.png"/></Relationships>
</file>

<file path=ppt/slides/_rels/slide110.xml.rels><?xml version="1.0" encoding="UTF-8" standalone="yes"?>
<Relationships xmlns="http://schemas.openxmlformats.org/package/2006/relationships"><Relationship Id="rId9" Type="http://schemas.openxmlformats.org/officeDocument/2006/relationships/tags" Target="../tags/tag1378.xml"/><Relationship Id="rId8" Type="http://schemas.openxmlformats.org/officeDocument/2006/relationships/tags" Target="../tags/tag1377.xml"/><Relationship Id="rId7" Type="http://schemas.openxmlformats.org/officeDocument/2006/relationships/tags" Target="../tags/tag1376.xml"/><Relationship Id="rId6" Type="http://schemas.openxmlformats.org/officeDocument/2006/relationships/tags" Target="../tags/tag1375.xml"/><Relationship Id="rId5" Type="http://schemas.openxmlformats.org/officeDocument/2006/relationships/tags" Target="../tags/tag1374.xml"/><Relationship Id="rId4" Type="http://schemas.openxmlformats.org/officeDocument/2006/relationships/tags" Target="../tags/tag1373.xml"/><Relationship Id="rId3" Type="http://schemas.openxmlformats.org/officeDocument/2006/relationships/tags" Target="../tags/tag1372.xml"/><Relationship Id="rId2" Type="http://schemas.openxmlformats.org/officeDocument/2006/relationships/image" Target="../media/image689.svg"/><Relationship Id="rId12" Type="http://schemas.openxmlformats.org/officeDocument/2006/relationships/slideLayout" Target="../slideLayouts/slideLayout12.xml"/><Relationship Id="rId11" Type="http://schemas.openxmlformats.org/officeDocument/2006/relationships/image" Target="../media/image36.png"/><Relationship Id="rId10" Type="http://schemas.openxmlformats.org/officeDocument/2006/relationships/tags" Target="../tags/tag1379.xml"/><Relationship Id="rId1" Type="http://schemas.openxmlformats.org/officeDocument/2006/relationships/image" Target="../media/image21.png"/></Relationships>
</file>

<file path=ppt/slides/_rels/slide11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690.svg"/><Relationship Id="rId1" Type="http://schemas.openxmlformats.org/officeDocument/2006/relationships/image" Target="../media/image21.png"/></Relationships>
</file>

<file path=ppt/slides/_rels/slide112.xml.rels><?xml version="1.0" encoding="UTF-8" standalone="yes"?>
<Relationships xmlns="http://schemas.openxmlformats.org/package/2006/relationships"><Relationship Id="rId5" Type="http://schemas.openxmlformats.org/officeDocument/2006/relationships/slideLayout" Target="../slideLayouts/slideLayout12.xml"/><Relationship Id="rId4" Type="http://schemas.openxmlformats.org/officeDocument/2006/relationships/image" Target="../media/image36.png"/><Relationship Id="rId3" Type="http://schemas.openxmlformats.org/officeDocument/2006/relationships/tags" Target="../tags/tag1380.xml"/><Relationship Id="rId2" Type="http://schemas.openxmlformats.org/officeDocument/2006/relationships/image" Target="../media/image691.svg"/><Relationship Id="rId1" Type="http://schemas.openxmlformats.org/officeDocument/2006/relationships/image" Target="../media/image21.png"/></Relationships>
</file>

<file path=ppt/slides/_rels/slide113.xml.rels><?xml version="1.0" encoding="UTF-8" standalone="yes"?>
<Relationships xmlns="http://schemas.openxmlformats.org/package/2006/relationships"><Relationship Id="rId9" Type="http://schemas.openxmlformats.org/officeDocument/2006/relationships/tags" Target="../tags/tag1387.xml"/><Relationship Id="rId8" Type="http://schemas.openxmlformats.org/officeDocument/2006/relationships/tags" Target="../tags/tag1386.xml"/><Relationship Id="rId7" Type="http://schemas.openxmlformats.org/officeDocument/2006/relationships/tags" Target="../tags/tag1385.xml"/><Relationship Id="rId6" Type="http://schemas.openxmlformats.org/officeDocument/2006/relationships/tags" Target="../tags/tag1384.xml"/><Relationship Id="rId5" Type="http://schemas.openxmlformats.org/officeDocument/2006/relationships/tags" Target="../tags/tag1383.xml"/><Relationship Id="rId4" Type="http://schemas.openxmlformats.org/officeDocument/2006/relationships/tags" Target="../tags/tag1382.xml"/><Relationship Id="rId37" Type="http://schemas.openxmlformats.org/officeDocument/2006/relationships/slideLayout" Target="../slideLayouts/slideLayout12.xml"/><Relationship Id="rId36" Type="http://schemas.openxmlformats.org/officeDocument/2006/relationships/tags" Target="../tags/tag1413.xml"/><Relationship Id="rId35" Type="http://schemas.openxmlformats.org/officeDocument/2006/relationships/tags" Target="../tags/tag1412.xml"/><Relationship Id="rId34" Type="http://schemas.openxmlformats.org/officeDocument/2006/relationships/tags" Target="../tags/tag1411.xml"/><Relationship Id="rId33" Type="http://schemas.openxmlformats.org/officeDocument/2006/relationships/tags" Target="../tags/tag1410.xml"/><Relationship Id="rId32" Type="http://schemas.openxmlformats.org/officeDocument/2006/relationships/image" Target="../media/image36.png"/><Relationship Id="rId31" Type="http://schemas.openxmlformats.org/officeDocument/2006/relationships/tags" Target="../tags/tag1409.xml"/><Relationship Id="rId30" Type="http://schemas.openxmlformats.org/officeDocument/2006/relationships/tags" Target="../tags/tag1408.xml"/><Relationship Id="rId3" Type="http://schemas.openxmlformats.org/officeDocument/2006/relationships/tags" Target="../tags/tag1381.xml"/><Relationship Id="rId29" Type="http://schemas.openxmlformats.org/officeDocument/2006/relationships/tags" Target="../tags/tag1407.xml"/><Relationship Id="rId28" Type="http://schemas.openxmlformats.org/officeDocument/2006/relationships/tags" Target="../tags/tag1406.xml"/><Relationship Id="rId27" Type="http://schemas.openxmlformats.org/officeDocument/2006/relationships/tags" Target="../tags/tag1405.xml"/><Relationship Id="rId26" Type="http://schemas.openxmlformats.org/officeDocument/2006/relationships/tags" Target="../tags/tag1404.xml"/><Relationship Id="rId25" Type="http://schemas.openxmlformats.org/officeDocument/2006/relationships/tags" Target="../tags/tag1403.xml"/><Relationship Id="rId24" Type="http://schemas.openxmlformats.org/officeDocument/2006/relationships/tags" Target="../tags/tag1402.xml"/><Relationship Id="rId23" Type="http://schemas.openxmlformats.org/officeDocument/2006/relationships/tags" Target="../tags/tag1401.xml"/><Relationship Id="rId22" Type="http://schemas.openxmlformats.org/officeDocument/2006/relationships/tags" Target="../tags/tag1400.xml"/><Relationship Id="rId21" Type="http://schemas.openxmlformats.org/officeDocument/2006/relationships/tags" Target="../tags/tag1399.xml"/><Relationship Id="rId20" Type="http://schemas.openxmlformats.org/officeDocument/2006/relationships/tags" Target="../tags/tag1398.xml"/><Relationship Id="rId2" Type="http://schemas.openxmlformats.org/officeDocument/2006/relationships/image" Target="../media/image692.svg"/><Relationship Id="rId19" Type="http://schemas.openxmlformats.org/officeDocument/2006/relationships/tags" Target="../tags/tag1397.xml"/><Relationship Id="rId18" Type="http://schemas.openxmlformats.org/officeDocument/2006/relationships/tags" Target="../tags/tag1396.xml"/><Relationship Id="rId17" Type="http://schemas.openxmlformats.org/officeDocument/2006/relationships/tags" Target="../tags/tag1395.xml"/><Relationship Id="rId16" Type="http://schemas.openxmlformats.org/officeDocument/2006/relationships/tags" Target="../tags/tag1394.xml"/><Relationship Id="rId15" Type="http://schemas.openxmlformats.org/officeDocument/2006/relationships/tags" Target="../tags/tag1393.xml"/><Relationship Id="rId14" Type="http://schemas.openxmlformats.org/officeDocument/2006/relationships/tags" Target="../tags/tag1392.xml"/><Relationship Id="rId13" Type="http://schemas.openxmlformats.org/officeDocument/2006/relationships/tags" Target="../tags/tag1391.xml"/><Relationship Id="rId12" Type="http://schemas.openxmlformats.org/officeDocument/2006/relationships/tags" Target="../tags/tag1390.xml"/><Relationship Id="rId11" Type="http://schemas.openxmlformats.org/officeDocument/2006/relationships/tags" Target="../tags/tag1389.xml"/><Relationship Id="rId10" Type="http://schemas.openxmlformats.org/officeDocument/2006/relationships/tags" Target="../tags/tag1388.xml"/><Relationship Id="rId1" Type="http://schemas.openxmlformats.org/officeDocument/2006/relationships/image" Target="../media/image21.png"/></Relationships>
</file>

<file path=ppt/slides/_rels/slide114.xml.rels><?xml version="1.0" encoding="UTF-8" standalone="yes"?>
<Relationships xmlns="http://schemas.openxmlformats.org/package/2006/relationships"><Relationship Id="rId9" Type="http://schemas.openxmlformats.org/officeDocument/2006/relationships/image" Target="../media/image696.png"/><Relationship Id="rId8" Type="http://schemas.openxmlformats.org/officeDocument/2006/relationships/image" Target="../media/image695.svg"/><Relationship Id="rId7" Type="http://schemas.openxmlformats.org/officeDocument/2006/relationships/image" Target="../media/image694.png"/><Relationship Id="rId6" Type="http://schemas.openxmlformats.org/officeDocument/2006/relationships/tags" Target="../tags/tag1417.xml"/><Relationship Id="rId5" Type="http://schemas.openxmlformats.org/officeDocument/2006/relationships/tags" Target="../tags/tag1416.xml"/><Relationship Id="rId4" Type="http://schemas.openxmlformats.org/officeDocument/2006/relationships/tags" Target="../tags/tag1415.xml"/><Relationship Id="rId3" Type="http://schemas.openxmlformats.org/officeDocument/2006/relationships/tags" Target="../tags/tag1414.xml"/><Relationship Id="rId2" Type="http://schemas.openxmlformats.org/officeDocument/2006/relationships/image" Target="../media/image693.svg"/><Relationship Id="rId12" Type="http://schemas.openxmlformats.org/officeDocument/2006/relationships/slideLayout" Target="../slideLayouts/slideLayout12.xml"/><Relationship Id="rId11" Type="http://schemas.openxmlformats.org/officeDocument/2006/relationships/image" Target="../media/image36.png"/><Relationship Id="rId10" Type="http://schemas.openxmlformats.org/officeDocument/2006/relationships/image" Target="../media/image697.svg"/><Relationship Id="rId1" Type="http://schemas.openxmlformats.org/officeDocument/2006/relationships/image" Target="../media/image110.png"/></Relationships>
</file>

<file path=ppt/slides/_rels/slide115.xml.rels><?xml version="1.0" encoding="UTF-8" standalone="yes"?>
<Relationships xmlns="http://schemas.openxmlformats.org/package/2006/relationships"><Relationship Id="rId9" Type="http://schemas.openxmlformats.org/officeDocument/2006/relationships/tags" Target="../tags/tag1423.xml"/><Relationship Id="rId8" Type="http://schemas.openxmlformats.org/officeDocument/2006/relationships/tags" Target="../tags/tag1422.xml"/><Relationship Id="rId7" Type="http://schemas.openxmlformats.org/officeDocument/2006/relationships/tags" Target="../tags/tag1421.xml"/><Relationship Id="rId6" Type="http://schemas.openxmlformats.org/officeDocument/2006/relationships/tags" Target="../tags/tag1420.xml"/><Relationship Id="rId5" Type="http://schemas.openxmlformats.org/officeDocument/2006/relationships/image" Target="../media/image36.png"/><Relationship Id="rId4" Type="http://schemas.openxmlformats.org/officeDocument/2006/relationships/tags" Target="../tags/tag1419.xml"/><Relationship Id="rId3" Type="http://schemas.openxmlformats.org/officeDocument/2006/relationships/tags" Target="../tags/tag1418.xml"/><Relationship Id="rId22" Type="http://schemas.openxmlformats.org/officeDocument/2006/relationships/slideLayout" Target="../slideLayouts/slideLayout12.xml"/><Relationship Id="rId21" Type="http://schemas.openxmlformats.org/officeDocument/2006/relationships/tags" Target="../tags/tag1435.xml"/><Relationship Id="rId20" Type="http://schemas.openxmlformats.org/officeDocument/2006/relationships/tags" Target="../tags/tag1434.xml"/><Relationship Id="rId2" Type="http://schemas.openxmlformats.org/officeDocument/2006/relationships/image" Target="../media/image698.svg"/><Relationship Id="rId19" Type="http://schemas.openxmlformats.org/officeDocument/2006/relationships/tags" Target="../tags/tag1433.xml"/><Relationship Id="rId18" Type="http://schemas.openxmlformats.org/officeDocument/2006/relationships/tags" Target="../tags/tag1432.xml"/><Relationship Id="rId17" Type="http://schemas.openxmlformats.org/officeDocument/2006/relationships/tags" Target="../tags/tag1431.xml"/><Relationship Id="rId16" Type="http://schemas.openxmlformats.org/officeDocument/2006/relationships/tags" Target="../tags/tag1430.xml"/><Relationship Id="rId15" Type="http://schemas.openxmlformats.org/officeDocument/2006/relationships/tags" Target="../tags/tag1429.xml"/><Relationship Id="rId14" Type="http://schemas.openxmlformats.org/officeDocument/2006/relationships/tags" Target="../tags/tag1428.xml"/><Relationship Id="rId13" Type="http://schemas.openxmlformats.org/officeDocument/2006/relationships/tags" Target="../tags/tag1427.xml"/><Relationship Id="rId12" Type="http://schemas.openxmlformats.org/officeDocument/2006/relationships/tags" Target="../tags/tag1426.xml"/><Relationship Id="rId11" Type="http://schemas.openxmlformats.org/officeDocument/2006/relationships/tags" Target="../tags/tag1425.xml"/><Relationship Id="rId10" Type="http://schemas.openxmlformats.org/officeDocument/2006/relationships/tags" Target="../tags/tag1424.xml"/><Relationship Id="rId1" Type="http://schemas.openxmlformats.org/officeDocument/2006/relationships/image" Target="../media/image21.png"/></Relationships>
</file>

<file path=ppt/slides/_rels/slide116.xml.rels><?xml version="1.0" encoding="UTF-8" standalone="yes"?>
<Relationships xmlns="http://schemas.openxmlformats.org/package/2006/relationships"><Relationship Id="rId9" Type="http://schemas.openxmlformats.org/officeDocument/2006/relationships/tags" Target="../tags/tag1442.xml"/><Relationship Id="rId8" Type="http://schemas.openxmlformats.org/officeDocument/2006/relationships/tags" Target="../tags/tag1441.xml"/><Relationship Id="rId7" Type="http://schemas.openxmlformats.org/officeDocument/2006/relationships/tags" Target="../tags/tag1440.xml"/><Relationship Id="rId6" Type="http://schemas.openxmlformats.org/officeDocument/2006/relationships/tags" Target="../tags/tag1439.xml"/><Relationship Id="rId5" Type="http://schemas.openxmlformats.org/officeDocument/2006/relationships/tags" Target="../tags/tag1438.xml"/><Relationship Id="rId4" Type="http://schemas.openxmlformats.org/officeDocument/2006/relationships/tags" Target="../tags/tag1437.xml"/><Relationship Id="rId3" Type="http://schemas.openxmlformats.org/officeDocument/2006/relationships/tags" Target="../tags/tag1436.xml"/><Relationship Id="rId29" Type="http://schemas.openxmlformats.org/officeDocument/2006/relationships/slideLayout" Target="../slideLayouts/slideLayout12.xml"/><Relationship Id="rId28" Type="http://schemas.openxmlformats.org/officeDocument/2006/relationships/image" Target="../media/image36.png"/><Relationship Id="rId27" Type="http://schemas.openxmlformats.org/officeDocument/2006/relationships/tags" Target="../tags/tag1460.xml"/><Relationship Id="rId26" Type="http://schemas.openxmlformats.org/officeDocument/2006/relationships/tags" Target="../tags/tag1459.xml"/><Relationship Id="rId25" Type="http://schemas.openxmlformats.org/officeDocument/2006/relationships/tags" Target="../tags/tag1458.xml"/><Relationship Id="rId24" Type="http://schemas.openxmlformats.org/officeDocument/2006/relationships/tags" Target="../tags/tag1457.xml"/><Relationship Id="rId23" Type="http://schemas.openxmlformats.org/officeDocument/2006/relationships/tags" Target="../tags/tag1456.xml"/><Relationship Id="rId22" Type="http://schemas.openxmlformats.org/officeDocument/2006/relationships/tags" Target="../tags/tag1455.xml"/><Relationship Id="rId21" Type="http://schemas.openxmlformats.org/officeDocument/2006/relationships/tags" Target="../tags/tag1454.xml"/><Relationship Id="rId20" Type="http://schemas.openxmlformats.org/officeDocument/2006/relationships/tags" Target="../tags/tag1453.xml"/><Relationship Id="rId2" Type="http://schemas.openxmlformats.org/officeDocument/2006/relationships/image" Target="../media/image699.svg"/><Relationship Id="rId19" Type="http://schemas.openxmlformats.org/officeDocument/2006/relationships/tags" Target="../tags/tag1452.xml"/><Relationship Id="rId18" Type="http://schemas.openxmlformats.org/officeDocument/2006/relationships/tags" Target="../tags/tag1451.xml"/><Relationship Id="rId17" Type="http://schemas.openxmlformats.org/officeDocument/2006/relationships/tags" Target="../tags/tag1450.xml"/><Relationship Id="rId16" Type="http://schemas.openxmlformats.org/officeDocument/2006/relationships/tags" Target="../tags/tag1449.xml"/><Relationship Id="rId15" Type="http://schemas.openxmlformats.org/officeDocument/2006/relationships/tags" Target="../tags/tag1448.xml"/><Relationship Id="rId14" Type="http://schemas.openxmlformats.org/officeDocument/2006/relationships/tags" Target="../tags/tag1447.xml"/><Relationship Id="rId13" Type="http://schemas.openxmlformats.org/officeDocument/2006/relationships/tags" Target="../tags/tag1446.xml"/><Relationship Id="rId12" Type="http://schemas.openxmlformats.org/officeDocument/2006/relationships/tags" Target="../tags/tag1445.xml"/><Relationship Id="rId11" Type="http://schemas.openxmlformats.org/officeDocument/2006/relationships/tags" Target="../tags/tag1444.xml"/><Relationship Id="rId10" Type="http://schemas.openxmlformats.org/officeDocument/2006/relationships/tags" Target="../tags/tag1443.xml"/><Relationship Id="rId1" Type="http://schemas.openxmlformats.org/officeDocument/2006/relationships/image" Target="../media/image21.png"/></Relationships>
</file>

<file path=ppt/slides/_rels/slide11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700.svg"/><Relationship Id="rId1" Type="http://schemas.openxmlformats.org/officeDocument/2006/relationships/image" Target="../media/image21.png"/></Relationships>
</file>

<file path=ppt/slides/_rels/slide11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701.svg"/><Relationship Id="rId2" Type="http://schemas.openxmlformats.org/officeDocument/2006/relationships/image" Target="../media/image21.png"/><Relationship Id="rId1" Type="http://schemas.openxmlformats.org/officeDocument/2006/relationships/image" Target="../media/image36.png"/></Relationships>
</file>

<file path=ppt/slides/_rels/slide119.xml.rels><?xml version="1.0" encoding="UTF-8" standalone="yes"?>
<Relationships xmlns="http://schemas.openxmlformats.org/package/2006/relationships"><Relationship Id="rId9" Type="http://schemas.openxmlformats.org/officeDocument/2006/relationships/tags" Target="../tags/tag1466.xml"/><Relationship Id="rId8" Type="http://schemas.openxmlformats.org/officeDocument/2006/relationships/tags" Target="../tags/tag1465.xml"/><Relationship Id="rId7" Type="http://schemas.openxmlformats.org/officeDocument/2006/relationships/tags" Target="../tags/tag1464.xml"/><Relationship Id="rId6" Type="http://schemas.openxmlformats.org/officeDocument/2006/relationships/tags" Target="../tags/tag1463.xml"/><Relationship Id="rId5" Type="http://schemas.openxmlformats.org/officeDocument/2006/relationships/tags" Target="../tags/tag1462.xml"/><Relationship Id="rId4" Type="http://schemas.openxmlformats.org/officeDocument/2006/relationships/tags" Target="../tags/tag1461.xml"/><Relationship Id="rId3" Type="http://schemas.openxmlformats.org/officeDocument/2006/relationships/image" Target="../media/image703.svg"/><Relationship Id="rId22" Type="http://schemas.openxmlformats.org/officeDocument/2006/relationships/slideLayout" Target="../slideLayouts/slideLayout12.xml"/><Relationship Id="rId21" Type="http://schemas.openxmlformats.org/officeDocument/2006/relationships/image" Target="../media/image701.svg"/><Relationship Id="rId20" Type="http://schemas.openxmlformats.org/officeDocument/2006/relationships/image" Target="../media/image21.png"/><Relationship Id="rId2" Type="http://schemas.openxmlformats.org/officeDocument/2006/relationships/image" Target="../media/image702.png"/><Relationship Id="rId19" Type="http://schemas.openxmlformats.org/officeDocument/2006/relationships/tags" Target="../tags/tag1476.xml"/><Relationship Id="rId18" Type="http://schemas.openxmlformats.org/officeDocument/2006/relationships/tags" Target="../tags/tag1475.xml"/><Relationship Id="rId17" Type="http://schemas.openxmlformats.org/officeDocument/2006/relationships/tags" Target="../tags/tag1474.xml"/><Relationship Id="rId16" Type="http://schemas.openxmlformats.org/officeDocument/2006/relationships/tags" Target="../tags/tag1473.xml"/><Relationship Id="rId15" Type="http://schemas.openxmlformats.org/officeDocument/2006/relationships/tags" Target="../tags/tag1472.xml"/><Relationship Id="rId14" Type="http://schemas.openxmlformats.org/officeDocument/2006/relationships/tags" Target="../tags/tag1471.xml"/><Relationship Id="rId13" Type="http://schemas.openxmlformats.org/officeDocument/2006/relationships/tags" Target="../tags/tag1470.xml"/><Relationship Id="rId12" Type="http://schemas.openxmlformats.org/officeDocument/2006/relationships/tags" Target="../tags/tag1469.xml"/><Relationship Id="rId11" Type="http://schemas.openxmlformats.org/officeDocument/2006/relationships/tags" Target="../tags/tag1468.xml"/><Relationship Id="rId10" Type="http://schemas.openxmlformats.org/officeDocument/2006/relationships/tags" Target="../tags/tag1467.xml"/><Relationship Id="rId1" Type="http://schemas.openxmlformats.org/officeDocument/2006/relationships/image" Target="../media/image36.png"/></Relationships>
</file>

<file path=ppt/slides/_rels/slide12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701.svg"/><Relationship Id="rId1" Type="http://schemas.openxmlformats.org/officeDocument/2006/relationships/image" Target="../media/image21.png"/></Relationships>
</file>

<file path=ppt/slides/_rels/slide121.xml.rels><?xml version="1.0" encoding="UTF-8" standalone="yes"?>
<Relationships xmlns="http://schemas.openxmlformats.org/package/2006/relationships"><Relationship Id="rId9" Type="http://schemas.openxmlformats.org/officeDocument/2006/relationships/tags" Target="../tags/tag1482.xml"/><Relationship Id="rId8" Type="http://schemas.openxmlformats.org/officeDocument/2006/relationships/tags" Target="../tags/tag1481.xml"/><Relationship Id="rId7" Type="http://schemas.openxmlformats.org/officeDocument/2006/relationships/tags" Target="../tags/tag1480.xml"/><Relationship Id="rId6" Type="http://schemas.openxmlformats.org/officeDocument/2006/relationships/tags" Target="../tags/tag1479.xml"/><Relationship Id="rId5" Type="http://schemas.openxmlformats.org/officeDocument/2006/relationships/image" Target="../media/image705.svg"/><Relationship Id="rId4" Type="http://schemas.openxmlformats.org/officeDocument/2006/relationships/image" Target="../media/image704.png"/><Relationship Id="rId3" Type="http://schemas.openxmlformats.org/officeDocument/2006/relationships/tags" Target="../tags/tag1478.xml"/><Relationship Id="rId21" Type="http://schemas.openxmlformats.org/officeDocument/2006/relationships/slideLayout" Target="../slideLayouts/slideLayout9.xml"/><Relationship Id="rId20" Type="http://schemas.openxmlformats.org/officeDocument/2006/relationships/tags" Target="../tags/tag1493.xml"/><Relationship Id="rId2" Type="http://schemas.openxmlformats.org/officeDocument/2006/relationships/tags" Target="../tags/tag1477.xml"/><Relationship Id="rId19" Type="http://schemas.openxmlformats.org/officeDocument/2006/relationships/tags" Target="../tags/tag1492.xml"/><Relationship Id="rId18" Type="http://schemas.openxmlformats.org/officeDocument/2006/relationships/tags" Target="../tags/tag1491.xml"/><Relationship Id="rId17" Type="http://schemas.openxmlformats.org/officeDocument/2006/relationships/tags" Target="../tags/tag1490.xml"/><Relationship Id="rId16" Type="http://schemas.openxmlformats.org/officeDocument/2006/relationships/tags" Target="../tags/tag1489.xml"/><Relationship Id="rId15" Type="http://schemas.openxmlformats.org/officeDocument/2006/relationships/tags" Target="../tags/tag1488.xml"/><Relationship Id="rId14" Type="http://schemas.openxmlformats.org/officeDocument/2006/relationships/tags" Target="../tags/tag1487.xml"/><Relationship Id="rId13" Type="http://schemas.openxmlformats.org/officeDocument/2006/relationships/tags" Target="../tags/tag1486.xml"/><Relationship Id="rId12" Type="http://schemas.openxmlformats.org/officeDocument/2006/relationships/tags" Target="../tags/tag1485.xml"/><Relationship Id="rId11" Type="http://schemas.openxmlformats.org/officeDocument/2006/relationships/tags" Target="../tags/tag1484.xml"/><Relationship Id="rId10" Type="http://schemas.openxmlformats.org/officeDocument/2006/relationships/tags" Target="../tags/tag1483.xml"/><Relationship Id="rId1" Type="http://schemas.openxmlformats.org/officeDocument/2006/relationships/image" Target="../media/image18.jpeg"/></Relationships>
</file>

<file path=ppt/slides/_rels/slide122.xml.rels><?xml version="1.0" encoding="UTF-8" standalone="yes"?>
<Relationships xmlns="http://schemas.openxmlformats.org/package/2006/relationships"><Relationship Id="rId9" Type="http://schemas.openxmlformats.org/officeDocument/2006/relationships/image" Target="../media/image713.png"/><Relationship Id="rId8" Type="http://schemas.openxmlformats.org/officeDocument/2006/relationships/image" Target="../media/image712.svg"/><Relationship Id="rId7" Type="http://schemas.openxmlformats.org/officeDocument/2006/relationships/image" Target="../media/image711.png"/><Relationship Id="rId6" Type="http://schemas.openxmlformats.org/officeDocument/2006/relationships/image" Target="../media/image710.svg"/><Relationship Id="rId5" Type="http://schemas.openxmlformats.org/officeDocument/2006/relationships/image" Target="../media/image709.png"/><Relationship Id="rId4" Type="http://schemas.openxmlformats.org/officeDocument/2006/relationships/image" Target="../media/image708.svg"/><Relationship Id="rId3" Type="http://schemas.openxmlformats.org/officeDocument/2006/relationships/image" Target="../media/image707.png"/><Relationship Id="rId2" Type="http://schemas.openxmlformats.org/officeDocument/2006/relationships/image" Target="../media/image706.svg"/><Relationship Id="rId18" Type="http://schemas.openxmlformats.org/officeDocument/2006/relationships/slideLayout" Target="../slideLayouts/slideLayout12.xml"/><Relationship Id="rId17" Type="http://schemas.openxmlformats.org/officeDocument/2006/relationships/image" Target="../media/image36.png"/><Relationship Id="rId16" Type="http://schemas.openxmlformats.org/officeDocument/2006/relationships/image" Target="../media/image720.svg"/><Relationship Id="rId15" Type="http://schemas.openxmlformats.org/officeDocument/2006/relationships/image" Target="../media/image719.png"/><Relationship Id="rId14" Type="http://schemas.openxmlformats.org/officeDocument/2006/relationships/image" Target="../media/image718.svg"/><Relationship Id="rId13" Type="http://schemas.openxmlformats.org/officeDocument/2006/relationships/image" Target="../media/image717.png"/><Relationship Id="rId12" Type="http://schemas.openxmlformats.org/officeDocument/2006/relationships/image" Target="../media/image716.svg"/><Relationship Id="rId11" Type="http://schemas.openxmlformats.org/officeDocument/2006/relationships/image" Target="../media/image715.png"/><Relationship Id="rId10" Type="http://schemas.openxmlformats.org/officeDocument/2006/relationships/image" Target="../media/image714.svg"/><Relationship Id="rId1" Type="http://schemas.openxmlformats.org/officeDocument/2006/relationships/image" Target="../media/image21.png"/></Relationships>
</file>

<file path=ppt/slides/_rels/slide123.xml.rels><?xml version="1.0" encoding="UTF-8" standalone="yes"?>
<Relationships xmlns="http://schemas.openxmlformats.org/package/2006/relationships"><Relationship Id="rId9" Type="http://schemas.openxmlformats.org/officeDocument/2006/relationships/image" Target="../media/image728.svg"/><Relationship Id="rId8" Type="http://schemas.openxmlformats.org/officeDocument/2006/relationships/image" Target="../media/image727.svg"/><Relationship Id="rId7" Type="http://schemas.openxmlformats.org/officeDocument/2006/relationships/image" Target="../media/image726.png"/><Relationship Id="rId6" Type="http://schemas.openxmlformats.org/officeDocument/2006/relationships/image" Target="../media/image725.svg"/><Relationship Id="rId5" Type="http://schemas.openxmlformats.org/officeDocument/2006/relationships/image" Target="../media/image724.png"/><Relationship Id="rId4" Type="http://schemas.openxmlformats.org/officeDocument/2006/relationships/image" Target="../media/image723.svg"/><Relationship Id="rId3" Type="http://schemas.openxmlformats.org/officeDocument/2006/relationships/image" Target="../media/image722.png"/><Relationship Id="rId23" Type="http://schemas.openxmlformats.org/officeDocument/2006/relationships/slideLayout" Target="../slideLayouts/slideLayout12.xml"/><Relationship Id="rId22" Type="http://schemas.openxmlformats.org/officeDocument/2006/relationships/image" Target="../media/image36.png"/><Relationship Id="rId21" Type="http://schemas.openxmlformats.org/officeDocument/2006/relationships/tags" Target="../tags/tag1503.xml"/><Relationship Id="rId20" Type="http://schemas.openxmlformats.org/officeDocument/2006/relationships/tags" Target="../tags/tag1502.xml"/><Relationship Id="rId2" Type="http://schemas.openxmlformats.org/officeDocument/2006/relationships/image" Target="../media/image721.svg"/><Relationship Id="rId19" Type="http://schemas.openxmlformats.org/officeDocument/2006/relationships/tags" Target="../tags/tag1501.xml"/><Relationship Id="rId18" Type="http://schemas.openxmlformats.org/officeDocument/2006/relationships/tags" Target="../tags/tag1500.xml"/><Relationship Id="rId17" Type="http://schemas.openxmlformats.org/officeDocument/2006/relationships/tags" Target="../tags/tag1499.xml"/><Relationship Id="rId16" Type="http://schemas.openxmlformats.org/officeDocument/2006/relationships/tags" Target="../tags/tag1498.xml"/><Relationship Id="rId15" Type="http://schemas.openxmlformats.org/officeDocument/2006/relationships/tags" Target="../tags/tag1497.xml"/><Relationship Id="rId14" Type="http://schemas.openxmlformats.org/officeDocument/2006/relationships/tags" Target="../tags/tag1496.xml"/><Relationship Id="rId13" Type="http://schemas.openxmlformats.org/officeDocument/2006/relationships/tags" Target="../tags/tag1495.xml"/><Relationship Id="rId12" Type="http://schemas.openxmlformats.org/officeDocument/2006/relationships/tags" Target="../tags/tag1494.xml"/><Relationship Id="rId11" Type="http://schemas.openxmlformats.org/officeDocument/2006/relationships/image" Target="../media/image730.svg"/><Relationship Id="rId10" Type="http://schemas.openxmlformats.org/officeDocument/2006/relationships/image" Target="../media/image729.svg"/><Relationship Id="rId1" Type="http://schemas.openxmlformats.org/officeDocument/2006/relationships/image" Target="../media/image21.png"/></Relationships>
</file>

<file path=ppt/slides/_rels/slide124.xml.rels><?xml version="1.0" encoding="UTF-8" standalone="yes"?>
<Relationships xmlns="http://schemas.openxmlformats.org/package/2006/relationships"><Relationship Id="rId9" Type="http://schemas.openxmlformats.org/officeDocument/2006/relationships/image" Target="../media/image735.svg"/><Relationship Id="rId8" Type="http://schemas.openxmlformats.org/officeDocument/2006/relationships/image" Target="../media/image734.png"/><Relationship Id="rId7" Type="http://schemas.openxmlformats.org/officeDocument/2006/relationships/image" Target="../media/image733.svg"/><Relationship Id="rId6" Type="http://schemas.openxmlformats.org/officeDocument/2006/relationships/image" Target="../media/image732.png"/><Relationship Id="rId5" Type="http://schemas.openxmlformats.org/officeDocument/2006/relationships/tags" Target="../tags/tag1506.xml"/><Relationship Id="rId4" Type="http://schemas.openxmlformats.org/officeDocument/2006/relationships/tags" Target="../tags/tag1505.xml"/><Relationship Id="rId30" Type="http://schemas.openxmlformats.org/officeDocument/2006/relationships/slideLayout" Target="../slideLayouts/slideLayout12.xml"/><Relationship Id="rId3" Type="http://schemas.openxmlformats.org/officeDocument/2006/relationships/tags" Target="../tags/tag1504.xml"/><Relationship Id="rId29" Type="http://schemas.openxmlformats.org/officeDocument/2006/relationships/image" Target="../media/image36.png"/><Relationship Id="rId28" Type="http://schemas.openxmlformats.org/officeDocument/2006/relationships/tags" Target="../tags/tag1515.xml"/><Relationship Id="rId27" Type="http://schemas.openxmlformats.org/officeDocument/2006/relationships/tags" Target="../tags/tag1514.xml"/><Relationship Id="rId26" Type="http://schemas.openxmlformats.org/officeDocument/2006/relationships/tags" Target="../tags/tag1513.xml"/><Relationship Id="rId25" Type="http://schemas.openxmlformats.org/officeDocument/2006/relationships/tags" Target="../tags/tag1512.xml"/><Relationship Id="rId24" Type="http://schemas.openxmlformats.org/officeDocument/2006/relationships/tags" Target="../tags/tag1511.xml"/><Relationship Id="rId23" Type="http://schemas.openxmlformats.org/officeDocument/2006/relationships/tags" Target="../tags/tag1510.xml"/><Relationship Id="rId22" Type="http://schemas.openxmlformats.org/officeDocument/2006/relationships/tags" Target="../tags/tag1509.xml"/><Relationship Id="rId21" Type="http://schemas.openxmlformats.org/officeDocument/2006/relationships/tags" Target="../tags/tag1508.xml"/><Relationship Id="rId20" Type="http://schemas.openxmlformats.org/officeDocument/2006/relationships/tags" Target="../tags/tag1507.xml"/><Relationship Id="rId2" Type="http://schemas.openxmlformats.org/officeDocument/2006/relationships/image" Target="../media/image731.svg"/><Relationship Id="rId19" Type="http://schemas.openxmlformats.org/officeDocument/2006/relationships/image" Target="../media/image745.svg"/><Relationship Id="rId18" Type="http://schemas.openxmlformats.org/officeDocument/2006/relationships/image" Target="../media/image744.png"/><Relationship Id="rId17" Type="http://schemas.openxmlformats.org/officeDocument/2006/relationships/image" Target="../media/image743.svg"/><Relationship Id="rId16" Type="http://schemas.openxmlformats.org/officeDocument/2006/relationships/image" Target="../media/image742.png"/><Relationship Id="rId15" Type="http://schemas.openxmlformats.org/officeDocument/2006/relationships/image" Target="../media/image741.svg"/><Relationship Id="rId14" Type="http://schemas.openxmlformats.org/officeDocument/2006/relationships/image" Target="../media/image740.png"/><Relationship Id="rId13" Type="http://schemas.openxmlformats.org/officeDocument/2006/relationships/image" Target="../media/image739.svg"/><Relationship Id="rId12" Type="http://schemas.openxmlformats.org/officeDocument/2006/relationships/image" Target="../media/image738.png"/><Relationship Id="rId11" Type="http://schemas.openxmlformats.org/officeDocument/2006/relationships/image" Target="../media/image737.svg"/><Relationship Id="rId10" Type="http://schemas.openxmlformats.org/officeDocument/2006/relationships/image" Target="../media/image736.png"/><Relationship Id="rId1" Type="http://schemas.openxmlformats.org/officeDocument/2006/relationships/image" Target="../media/image21.png"/></Relationships>
</file>

<file path=ppt/slides/_rels/slide12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746.svg"/><Relationship Id="rId1" Type="http://schemas.openxmlformats.org/officeDocument/2006/relationships/image" Target="../media/image21.png"/></Relationships>
</file>

<file path=ppt/slides/_rels/slide126.xml.rels><?xml version="1.0" encoding="UTF-8" standalone="yes"?>
<Relationships xmlns="http://schemas.openxmlformats.org/package/2006/relationships"><Relationship Id="rId9" Type="http://schemas.openxmlformats.org/officeDocument/2006/relationships/image" Target="../media/image748.png"/><Relationship Id="rId8" Type="http://schemas.openxmlformats.org/officeDocument/2006/relationships/tags" Target="../tags/tag1521.xml"/><Relationship Id="rId7" Type="http://schemas.openxmlformats.org/officeDocument/2006/relationships/tags" Target="../tags/tag1520.xml"/><Relationship Id="rId6" Type="http://schemas.openxmlformats.org/officeDocument/2006/relationships/tags" Target="../tags/tag1519.xml"/><Relationship Id="rId5" Type="http://schemas.openxmlformats.org/officeDocument/2006/relationships/tags" Target="../tags/tag1518.xml"/><Relationship Id="rId4" Type="http://schemas.openxmlformats.org/officeDocument/2006/relationships/tags" Target="../tags/tag1517.xml"/><Relationship Id="rId3" Type="http://schemas.openxmlformats.org/officeDocument/2006/relationships/tags" Target="../tags/tag1516.xml"/><Relationship Id="rId22" Type="http://schemas.openxmlformats.org/officeDocument/2006/relationships/slideLayout" Target="../slideLayouts/slideLayout12.xml"/><Relationship Id="rId21" Type="http://schemas.openxmlformats.org/officeDocument/2006/relationships/image" Target="../media/image36.png"/><Relationship Id="rId20" Type="http://schemas.openxmlformats.org/officeDocument/2006/relationships/image" Target="../media/image759.svg"/><Relationship Id="rId2" Type="http://schemas.openxmlformats.org/officeDocument/2006/relationships/image" Target="../media/image747.svg"/><Relationship Id="rId19" Type="http://schemas.openxmlformats.org/officeDocument/2006/relationships/image" Target="../media/image758.png"/><Relationship Id="rId18" Type="http://schemas.openxmlformats.org/officeDocument/2006/relationships/image" Target="../media/image757.svg"/><Relationship Id="rId17" Type="http://schemas.openxmlformats.org/officeDocument/2006/relationships/image" Target="../media/image756.png"/><Relationship Id="rId16" Type="http://schemas.openxmlformats.org/officeDocument/2006/relationships/image" Target="../media/image755.svg"/><Relationship Id="rId15" Type="http://schemas.openxmlformats.org/officeDocument/2006/relationships/image" Target="../media/image754.png"/><Relationship Id="rId14" Type="http://schemas.openxmlformats.org/officeDocument/2006/relationships/image" Target="../media/image753.svg"/><Relationship Id="rId13" Type="http://schemas.openxmlformats.org/officeDocument/2006/relationships/image" Target="../media/image752.png"/><Relationship Id="rId12" Type="http://schemas.openxmlformats.org/officeDocument/2006/relationships/image" Target="../media/image751.svg"/><Relationship Id="rId11" Type="http://schemas.openxmlformats.org/officeDocument/2006/relationships/image" Target="../media/image750.png"/><Relationship Id="rId10" Type="http://schemas.openxmlformats.org/officeDocument/2006/relationships/image" Target="../media/image749.svg"/><Relationship Id="rId1" Type="http://schemas.openxmlformats.org/officeDocument/2006/relationships/image" Target="../media/image21.png"/></Relationships>
</file>

<file path=ppt/slides/_rels/slide127.xml.rels><?xml version="1.0" encoding="UTF-8" standalone="yes"?>
<Relationships xmlns="http://schemas.openxmlformats.org/package/2006/relationships"><Relationship Id="rId9" Type="http://schemas.openxmlformats.org/officeDocument/2006/relationships/image" Target="../media/image36.png"/><Relationship Id="rId8" Type="http://schemas.openxmlformats.org/officeDocument/2006/relationships/image" Target="../media/image766.svg"/><Relationship Id="rId7" Type="http://schemas.openxmlformats.org/officeDocument/2006/relationships/image" Target="../media/image765.png"/><Relationship Id="rId6" Type="http://schemas.openxmlformats.org/officeDocument/2006/relationships/image" Target="../media/image764.svg"/><Relationship Id="rId5" Type="http://schemas.openxmlformats.org/officeDocument/2006/relationships/image" Target="../media/image763.png"/><Relationship Id="rId4" Type="http://schemas.openxmlformats.org/officeDocument/2006/relationships/image" Target="../media/image762.svg"/><Relationship Id="rId3" Type="http://schemas.openxmlformats.org/officeDocument/2006/relationships/image" Target="../media/image761.png"/><Relationship Id="rId2" Type="http://schemas.openxmlformats.org/officeDocument/2006/relationships/image" Target="../media/image760.svg"/><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128.xml.rels><?xml version="1.0" encoding="UTF-8" standalone="yes"?>
<Relationships xmlns="http://schemas.openxmlformats.org/package/2006/relationships"><Relationship Id="rId9" Type="http://schemas.openxmlformats.org/officeDocument/2006/relationships/image" Target="../media/image774.png"/><Relationship Id="rId8" Type="http://schemas.openxmlformats.org/officeDocument/2006/relationships/image" Target="../media/image773.svg"/><Relationship Id="rId7" Type="http://schemas.openxmlformats.org/officeDocument/2006/relationships/image" Target="../media/image772.png"/><Relationship Id="rId6" Type="http://schemas.openxmlformats.org/officeDocument/2006/relationships/image" Target="../media/image771.svg"/><Relationship Id="rId5" Type="http://schemas.openxmlformats.org/officeDocument/2006/relationships/image" Target="../media/image770.png"/><Relationship Id="rId4" Type="http://schemas.openxmlformats.org/officeDocument/2006/relationships/image" Target="../media/image769.svg"/><Relationship Id="rId3" Type="http://schemas.openxmlformats.org/officeDocument/2006/relationships/image" Target="../media/image768.png"/><Relationship Id="rId2" Type="http://schemas.openxmlformats.org/officeDocument/2006/relationships/image" Target="../media/image767.svg"/><Relationship Id="rId18" Type="http://schemas.openxmlformats.org/officeDocument/2006/relationships/slideLayout" Target="../slideLayouts/slideLayout12.xml"/><Relationship Id="rId17" Type="http://schemas.openxmlformats.org/officeDocument/2006/relationships/image" Target="../media/image36.png"/><Relationship Id="rId16" Type="http://schemas.openxmlformats.org/officeDocument/2006/relationships/image" Target="../media/image781.svg"/><Relationship Id="rId15" Type="http://schemas.openxmlformats.org/officeDocument/2006/relationships/image" Target="../media/image780.png"/><Relationship Id="rId14" Type="http://schemas.openxmlformats.org/officeDocument/2006/relationships/image" Target="../media/image779.svg"/><Relationship Id="rId13" Type="http://schemas.openxmlformats.org/officeDocument/2006/relationships/image" Target="../media/image778.png"/><Relationship Id="rId12" Type="http://schemas.openxmlformats.org/officeDocument/2006/relationships/image" Target="../media/image777.svg"/><Relationship Id="rId11" Type="http://schemas.openxmlformats.org/officeDocument/2006/relationships/image" Target="../media/image776.png"/><Relationship Id="rId10" Type="http://schemas.openxmlformats.org/officeDocument/2006/relationships/image" Target="../media/image775.svg"/><Relationship Id="rId1" Type="http://schemas.openxmlformats.org/officeDocument/2006/relationships/image" Target="../media/image21.png"/></Relationships>
</file>

<file path=ppt/slides/_rels/slide129.xml.rels><?xml version="1.0" encoding="UTF-8" standalone="yes"?>
<Relationships xmlns="http://schemas.openxmlformats.org/package/2006/relationships"><Relationship Id="rId6" Type="http://schemas.openxmlformats.org/officeDocument/2006/relationships/slideLayout" Target="../slideLayouts/slideLayout12.xml"/><Relationship Id="rId5" Type="http://schemas.openxmlformats.org/officeDocument/2006/relationships/image" Target="../media/image36.png"/><Relationship Id="rId4" Type="http://schemas.openxmlformats.org/officeDocument/2006/relationships/image" Target="../media/image784.svg"/><Relationship Id="rId3" Type="http://schemas.openxmlformats.org/officeDocument/2006/relationships/image" Target="../media/image783.png"/><Relationship Id="rId2" Type="http://schemas.openxmlformats.org/officeDocument/2006/relationships/image" Target="../media/image782.svg"/><Relationship Id="rId1" Type="http://schemas.openxmlformats.org/officeDocument/2006/relationships/image" Target="../media/image21.png"/></Relationships>
</file>

<file path=ppt/slides/_rels/slide130.xml.rels><?xml version="1.0" encoding="UTF-8" standalone="yes"?>
<Relationships xmlns="http://schemas.openxmlformats.org/package/2006/relationships"><Relationship Id="rId9" Type="http://schemas.openxmlformats.org/officeDocument/2006/relationships/image" Target="../media/image792.png"/><Relationship Id="rId8" Type="http://schemas.openxmlformats.org/officeDocument/2006/relationships/image" Target="../media/image791.svg"/><Relationship Id="rId7" Type="http://schemas.openxmlformats.org/officeDocument/2006/relationships/image" Target="../media/image790.png"/><Relationship Id="rId6" Type="http://schemas.openxmlformats.org/officeDocument/2006/relationships/image" Target="../media/image789.svg"/><Relationship Id="rId5" Type="http://schemas.openxmlformats.org/officeDocument/2006/relationships/image" Target="../media/image788.png"/><Relationship Id="rId4" Type="http://schemas.openxmlformats.org/officeDocument/2006/relationships/image" Target="../media/image787.svg"/><Relationship Id="rId3" Type="http://schemas.openxmlformats.org/officeDocument/2006/relationships/image" Target="../media/image786.png"/><Relationship Id="rId2" Type="http://schemas.openxmlformats.org/officeDocument/2006/relationships/image" Target="../media/image785.svg"/><Relationship Id="rId18" Type="http://schemas.openxmlformats.org/officeDocument/2006/relationships/slideLayout" Target="../slideLayouts/slideLayout12.xml"/><Relationship Id="rId17" Type="http://schemas.openxmlformats.org/officeDocument/2006/relationships/image" Target="../media/image36.png"/><Relationship Id="rId16" Type="http://schemas.openxmlformats.org/officeDocument/2006/relationships/image" Target="../media/image799.svg"/><Relationship Id="rId15" Type="http://schemas.openxmlformats.org/officeDocument/2006/relationships/image" Target="../media/image798.png"/><Relationship Id="rId14" Type="http://schemas.openxmlformats.org/officeDocument/2006/relationships/image" Target="../media/image797.svg"/><Relationship Id="rId13" Type="http://schemas.openxmlformats.org/officeDocument/2006/relationships/image" Target="../media/image796.png"/><Relationship Id="rId12" Type="http://schemas.openxmlformats.org/officeDocument/2006/relationships/image" Target="../media/image795.svg"/><Relationship Id="rId11" Type="http://schemas.openxmlformats.org/officeDocument/2006/relationships/image" Target="../media/image794.png"/><Relationship Id="rId10" Type="http://schemas.openxmlformats.org/officeDocument/2006/relationships/image" Target="../media/image793.svg"/><Relationship Id="rId1" Type="http://schemas.openxmlformats.org/officeDocument/2006/relationships/image" Target="../media/image21.png"/></Relationships>
</file>

<file path=ppt/slides/_rels/slide131.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804.svg"/><Relationship Id="rId5" Type="http://schemas.openxmlformats.org/officeDocument/2006/relationships/image" Target="../media/image803.png"/><Relationship Id="rId4" Type="http://schemas.openxmlformats.org/officeDocument/2006/relationships/image" Target="../media/image802.svg"/><Relationship Id="rId3" Type="http://schemas.openxmlformats.org/officeDocument/2006/relationships/image" Target="../media/image801.png"/><Relationship Id="rId2" Type="http://schemas.openxmlformats.org/officeDocument/2006/relationships/image" Target="../media/image800.svg"/><Relationship Id="rId1" Type="http://schemas.openxmlformats.org/officeDocument/2006/relationships/image" Target="../media/image21.png"/></Relationships>
</file>

<file path=ppt/slides/_rels/slide132.xml.rels><?xml version="1.0" encoding="UTF-8" standalone="yes"?>
<Relationships xmlns="http://schemas.openxmlformats.org/package/2006/relationships"><Relationship Id="rId9" Type="http://schemas.openxmlformats.org/officeDocument/2006/relationships/image" Target="../media/image812.png"/><Relationship Id="rId8" Type="http://schemas.openxmlformats.org/officeDocument/2006/relationships/image" Target="../media/image811.svg"/><Relationship Id="rId7" Type="http://schemas.openxmlformats.org/officeDocument/2006/relationships/image" Target="../media/image810.png"/><Relationship Id="rId6" Type="http://schemas.openxmlformats.org/officeDocument/2006/relationships/image" Target="../media/image809.svg"/><Relationship Id="rId5" Type="http://schemas.openxmlformats.org/officeDocument/2006/relationships/image" Target="../media/image808.png"/><Relationship Id="rId4" Type="http://schemas.openxmlformats.org/officeDocument/2006/relationships/image" Target="../media/image807.svg"/><Relationship Id="rId3" Type="http://schemas.openxmlformats.org/officeDocument/2006/relationships/image" Target="../media/image806.png"/><Relationship Id="rId28" Type="http://schemas.openxmlformats.org/officeDocument/2006/relationships/slideLayout" Target="../slideLayouts/slideLayout12.xml"/><Relationship Id="rId27" Type="http://schemas.openxmlformats.org/officeDocument/2006/relationships/image" Target="../media/image36.png"/><Relationship Id="rId26" Type="http://schemas.openxmlformats.org/officeDocument/2006/relationships/image" Target="../media/image829.svg"/><Relationship Id="rId25" Type="http://schemas.openxmlformats.org/officeDocument/2006/relationships/image" Target="../media/image828.png"/><Relationship Id="rId24" Type="http://schemas.openxmlformats.org/officeDocument/2006/relationships/image" Target="../media/image827.svg"/><Relationship Id="rId23" Type="http://schemas.openxmlformats.org/officeDocument/2006/relationships/image" Target="../media/image826.png"/><Relationship Id="rId22" Type="http://schemas.openxmlformats.org/officeDocument/2006/relationships/image" Target="../media/image825.svg"/><Relationship Id="rId21" Type="http://schemas.openxmlformats.org/officeDocument/2006/relationships/image" Target="../media/image824.png"/><Relationship Id="rId20" Type="http://schemas.openxmlformats.org/officeDocument/2006/relationships/image" Target="../media/image823.svg"/><Relationship Id="rId2" Type="http://schemas.openxmlformats.org/officeDocument/2006/relationships/image" Target="../media/image805.svg"/><Relationship Id="rId19" Type="http://schemas.openxmlformats.org/officeDocument/2006/relationships/image" Target="../media/image822.png"/><Relationship Id="rId18" Type="http://schemas.openxmlformats.org/officeDocument/2006/relationships/image" Target="../media/image821.svg"/><Relationship Id="rId17" Type="http://schemas.openxmlformats.org/officeDocument/2006/relationships/image" Target="../media/image820.png"/><Relationship Id="rId16" Type="http://schemas.openxmlformats.org/officeDocument/2006/relationships/image" Target="../media/image819.svg"/><Relationship Id="rId15" Type="http://schemas.openxmlformats.org/officeDocument/2006/relationships/image" Target="../media/image818.png"/><Relationship Id="rId14" Type="http://schemas.openxmlformats.org/officeDocument/2006/relationships/image" Target="../media/image817.svg"/><Relationship Id="rId13" Type="http://schemas.openxmlformats.org/officeDocument/2006/relationships/image" Target="../media/image816.png"/><Relationship Id="rId12" Type="http://schemas.openxmlformats.org/officeDocument/2006/relationships/image" Target="../media/image815.svg"/><Relationship Id="rId11" Type="http://schemas.openxmlformats.org/officeDocument/2006/relationships/image" Target="../media/image814.png"/><Relationship Id="rId10" Type="http://schemas.openxmlformats.org/officeDocument/2006/relationships/image" Target="../media/image813.svg"/><Relationship Id="rId1" Type="http://schemas.openxmlformats.org/officeDocument/2006/relationships/image" Target="../media/image21.png"/></Relationships>
</file>

<file path=ppt/slides/_rels/slide133.xml.rels><?xml version="1.0" encoding="UTF-8" standalone="yes"?>
<Relationships xmlns="http://schemas.openxmlformats.org/package/2006/relationships"><Relationship Id="rId9" Type="http://schemas.openxmlformats.org/officeDocument/2006/relationships/image" Target="../media/image835.png"/><Relationship Id="rId8" Type="http://schemas.openxmlformats.org/officeDocument/2006/relationships/image" Target="../media/image834.svg"/><Relationship Id="rId7" Type="http://schemas.openxmlformats.org/officeDocument/2006/relationships/image" Target="../media/image833.png"/><Relationship Id="rId6" Type="http://schemas.openxmlformats.org/officeDocument/2006/relationships/image" Target="../media/image749.svg"/><Relationship Id="rId5" Type="http://schemas.openxmlformats.org/officeDocument/2006/relationships/image" Target="../media/image748.png"/><Relationship Id="rId4" Type="http://schemas.openxmlformats.org/officeDocument/2006/relationships/image" Target="../media/image832.svg"/><Relationship Id="rId3" Type="http://schemas.openxmlformats.org/officeDocument/2006/relationships/image" Target="../media/image831.png"/><Relationship Id="rId20" Type="http://schemas.openxmlformats.org/officeDocument/2006/relationships/slideLayout" Target="../slideLayouts/slideLayout12.xml"/><Relationship Id="rId2" Type="http://schemas.openxmlformats.org/officeDocument/2006/relationships/image" Target="../media/image830.svg"/><Relationship Id="rId19" Type="http://schemas.openxmlformats.org/officeDocument/2006/relationships/image" Target="../media/image36.png"/><Relationship Id="rId18" Type="http://schemas.openxmlformats.org/officeDocument/2006/relationships/image" Target="../media/image843.svg"/><Relationship Id="rId17" Type="http://schemas.openxmlformats.org/officeDocument/2006/relationships/image" Target="../media/image842.png"/><Relationship Id="rId16" Type="http://schemas.openxmlformats.org/officeDocument/2006/relationships/image" Target="../media/image841.svg"/><Relationship Id="rId15" Type="http://schemas.openxmlformats.org/officeDocument/2006/relationships/image" Target="../media/image840.png"/><Relationship Id="rId14" Type="http://schemas.openxmlformats.org/officeDocument/2006/relationships/image" Target="../media/image839.svg"/><Relationship Id="rId13" Type="http://schemas.openxmlformats.org/officeDocument/2006/relationships/image" Target="../media/image838.png"/><Relationship Id="rId12" Type="http://schemas.openxmlformats.org/officeDocument/2006/relationships/image" Target="../media/image837.svg"/><Relationship Id="rId11" Type="http://schemas.openxmlformats.org/officeDocument/2006/relationships/image" Target="../media/image836.png"/><Relationship Id="rId10" Type="http://schemas.openxmlformats.org/officeDocument/2006/relationships/image" Target="../media/image751.svg"/><Relationship Id="rId1" Type="http://schemas.openxmlformats.org/officeDocument/2006/relationships/image" Target="../media/image21.png"/></Relationships>
</file>

<file path=ppt/slides/_rels/slide134.xml.rels><?xml version="1.0" encoding="UTF-8" standalone="yes"?>
<Relationships xmlns="http://schemas.openxmlformats.org/package/2006/relationships"><Relationship Id="rId9" Type="http://schemas.openxmlformats.org/officeDocument/2006/relationships/tags" Target="../tags/tag1528.xml"/><Relationship Id="rId8" Type="http://schemas.openxmlformats.org/officeDocument/2006/relationships/tags" Target="../tags/tag1527.xml"/><Relationship Id="rId7" Type="http://schemas.openxmlformats.org/officeDocument/2006/relationships/tags" Target="../tags/tag1526.xml"/><Relationship Id="rId6" Type="http://schemas.openxmlformats.org/officeDocument/2006/relationships/tags" Target="../tags/tag1525.xml"/><Relationship Id="rId5" Type="http://schemas.openxmlformats.org/officeDocument/2006/relationships/tags" Target="../tags/tag1524.xml"/><Relationship Id="rId4" Type="http://schemas.openxmlformats.org/officeDocument/2006/relationships/tags" Target="../tags/tag1523.xml"/><Relationship Id="rId3" Type="http://schemas.openxmlformats.org/officeDocument/2006/relationships/tags" Target="../tags/tag1522.xml"/><Relationship Id="rId2" Type="http://schemas.openxmlformats.org/officeDocument/2006/relationships/image" Target="../media/image844.svg"/><Relationship Id="rId17" Type="http://schemas.openxmlformats.org/officeDocument/2006/relationships/slideLayout" Target="../slideLayouts/slideLayout12.xml"/><Relationship Id="rId16" Type="http://schemas.openxmlformats.org/officeDocument/2006/relationships/image" Target="../media/image36.png"/><Relationship Id="rId15" Type="http://schemas.openxmlformats.org/officeDocument/2006/relationships/tags" Target="../tags/tag1532.xml"/><Relationship Id="rId14" Type="http://schemas.openxmlformats.org/officeDocument/2006/relationships/tags" Target="../tags/tag1531.xml"/><Relationship Id="rId13" Type="http://schemas.openxmlformats.org/officeDocument/2006/relationships/image" Target="../media/image846.svg"/><Relationship Id="rId12" Type="http://schemas.openxmlformats.org/officeDocument/2006/relationships/image" Target="../media/image845.png"/><Relationship Id="rId11" Type="http://schemas.openxmlformats.org/officeDocument/2006/relationships/tags" Target="../tags/tag1530.xml"/><Relationship Id="rId10" Type="http://schemas.openxmlformats.org/officeDocument/2006/relationships/tags" Target="../tags/tag1529.xml"/><Relationship Id="rId1" Type="http://schemas.openxmlformats.org/officeDocument/2006/relationships/image" Target="../media/image21.png"/></Relationships>
</file>

<file path=ppt/slides/_rels/slide135.xml.rels><?xml version="1.0" encoding="UTF-8" standalone="yes"?>
<Relationships xmlns="http://schemas.openxmlformats.org/package/2006/relationships"><Relationship Id="rId9" Type="http://schemas.openxmlformats.org/officeDocument/2006/relationships/tags" Target="../tags/tag1539.xml"/><Relationship Id="rId8" Type="http://schemas.openxmlformats.org/officeDocument/2006/relationships/image" Target="../media/image847.svg"/><Relationship Id="rId7" Type="http://schemas.openxmlformats.org/officeDocument/2006/relationships/image" Target="../media/image21.png"/><Relationship Id="rId6" Type="http://schemas.openxmlformats.org/officeDocument/2006/relationships/tags" Target="../tags/tag1538.xml"/><Relationship Id="rId5" Type="http://schemas.openxmlformats.org/officeDocument/2006/relationships/tags" Target="../tags/tag1537.xml"/><Relationship Id="rId4" Type="http://schemas.openxmlformats.org/officeDocument/2006/relationships/tags" Target="../tags/tag1536.xml"/><Relationship Id="rId31" Type="http://schemas.openxmlformats.org/officeDocument/2006/relationships/slideLayout" Target="../slideLayouts/slideLayout12.xml"/><Relationship Id="rId30" Type="http://schemas.openxmlformats.org/officeDocument/2006/relationships/image" Target="../media/image36.png"/><Relationship Id="rId3" Type="http://schemas.openxmlformats.org/officeDocument/2006/relationships/tags" Target="../tags/tag1535.xml"/><Relationship Id="rId29" Type="http://schemas.openxmlformats.org/officeDocument/2006/relationships/tags" Target="../tags/tag1559.xml"/><Relationship Id="rId28" Type="http://schemas.openxmlformats.org/officeDocument/2006/relationships/tags" Target="../tags/tag1558.xml"/><Relationship Id="rId27" Type="http://schemas.openxmlformats.org/officeDocument/2006/relationships/tags" Target="../tags/tag1557.xml"/><Relationship Id="rId26" Type="http://schemas.openxmlformats.org/officeDocument/2006/relationships/tags" Target="../tags/tag1556.xml"/><Relationship Id="rId25" Type="http://schemas.openxmlformats.org/officeDocument/2006/relationships/tags" Target="../tags/tag1555.xml"/><Relationship Id="rId24" Type="http://schemas.openxmlformats.org/officeDocument/2006/relationships/tags" Target="../tags/tag1554.xml"/><Relationship Id="rId23" Type="http://schemas.openxmlformats.org/officeDocument/2006/relationships/tags" Target="../tags/tag1553.xml"/><Relationship Id="rId22" Type="http://schemas.openxmlformats.org/officeDocument/2006/relationships/tags" Target="../tags/tag1552.xml"/><Relationship Id="rId21" Type="http://schemas.openxmlformats.org/officeDocument/2006/relationships/tags" Target="../tags/tag1551.xml"/><Relationship Id="rId20" Type="http://schemas.openxmlformats.org/officeDocument/2006/relationships/tags" Target="../tags/tag1550.xml"/><Relationship Id="rId2" Type="http://schemas.openxmlformats.org/officeDocument/2006/relationships/tags" Target="../tags/tag1534.xml"/><Relationship Id="rId19" Type="http://schemas.openxmlformats.org/officeDocument/2006/relationships/tags" Target="../tags/tag1549.xml"/><Relationship Id="rId18" Type="http://schemas.openxmlformats.org/officeDocument/2006/relationships/tags" Target="../tags/tag1548.xml"/><Relationship Id="rId17" Type="http://schemas.openxmlformats.org/officeDocument/2006/relationships/tags" Target="../tags/tag1547.xml"/><Relationship Id="rId16" Type="http://schemas.openxmlformats.org/officeDocument/2006/relationships/tags" Target="../tags/tag1546.xml"/><Relationship Id="rId15" Type="http://schemas.openxmlformats.org/officeDocument/2006/relationships/tags" Target="../tags/tag1545.xml"/><Relationship Id="rId14" Type="http://schemas.openxmlformats.org/officeDocument/2006/relationships/tags" Target="../tags/tag1544.xml"/><Relationship Id="rId13" Type="http://schemas.openxmlformats.org/officeDocument/2006/relationships/tags" Target="../tags/tag1543.xml"/><Relationship Id="rId12" Type="http://schemas.openxmlformats.org/officeDocument/2006/relationships/tags" Target="../tags/tag1542.xml"/><Relationship Id="rId11" Type="http://schemas.openxmlformats.org/officeDocument/2006/relationships/tags" Target="../tags/tag1541.xml"/><Relationship Id="rId10" Type="http://schemas.openxmlformats.org/officeDocument/2006/relationships/tags" Target="../tags/tag1540.xml"/><Relationship Id="rId1" Type="http://schemas.openxmlformats.org/officeDocument/2006/relationships/tags" Target="../tags/tag1533.xml"/></Relationships>
</file>

<file path=ppt/slides/_rels/slide136.xml.rels><?xml version="1.0" encoding="UTF-8" standalone="yes"?>
<Relationships xmlns="http://schemas.openxmlformats.org/package/2006/relationships"><Relationship Id="rId9" Type="http://schemas.openxmlformats.org/officeDocument/2006/relationships/tags" Target="../tags/tag1566.xml"/><Relationship Id="rId8" Type="http://schemas.openxmlformats.org/officeDocument/2006/relationships/tags" Target="../tags/tag1565.xml"/><Relationship Id="rId7" Type="http://schemas.openxmlformats.org/officeDocument/2006/relationships/tags" Target="../tags/tag1564.xml"/><Relationship Id="rId6" Type="http://schemas.openxmlformats.org/officeDocument/2006/relationships/tags" Target="../tags/tag1563.xml"/><Relationship Id="rId5" Type="http://schemas.openxmlformats.org/officeDocument/2006/relationships/tags" Target="../tags/tag1562.xml"/><Relationship Id="rId4" Type="http://schemas.openxmlformats.org/officeDocument/2006/relationships/tags" Target="../tags/tag1561.xml"/><Relationship Id="rId3" Type="http://schemas.openxmlformats.org/officeDocument/2006/relationships/tags" Target="../tags/tag1560.xml"/><Relationship Id="rId2" Type="http://schemas.openxmlformats.org/officeDocument/2006/relationships/image" Target="../media/image848.svg"/><Relationship Id="rId12" Type="http://schemas.openxmlformats.org/officeDocument/2006/relationships/slideLayout" Target="../slideLayouts/slideLayout12.xml"/><Relationship Id="rId11" Type="http://schemas.openxmlformats.org/officeDocument/2006/relationships/image" Target="../media/image36.png"/><Relationship Id="rId10" Type="http://schemas.openxmlformats.org/officeDocument/2006/relationships/tags" Target="../tags/tag1567.xml"/><Relationship Id="rId1" Type="http://schemas.openxmlformats.org/officeDocument/2006/relationships/image" Target="../media/image21.png"/></Relationships>
</file>

<file path=ppt/slides/_rels/slide13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706.svg"/><Relationship Id="rId2" Type="http://schemas.openxmlformats.org/officeDocument/2006/relationships/image" Target="../media/image21.png"/><Relationship Id="rId1" Type="http://schemas.openxmlformats.org/officeDocument/2006/relationships/image" Target="../media/image36.png"/></Relationships>
</file>

<file path=ppt/slides/_rels/slide138.xml.rels><?xml version="1.0" encoding="UTF-8" standalone="yes"?>
<Relationships xmlns="http://schemas.openxmlformats.org/package/2006/relationships"><Relationship Id="rId7" Type="http://schemas.openxmlformats.org/officeDocument/2006/relationships/slideLayout" Target="../slideLayouts/slideLayout12.xml"/><Relationship Id="rId6" Type="http://schemas.openxmlformats.org/officeDocument/2006/relationships/image" Target="../media/image36.png"/><Relationship Id="rId5" Type="http://schemas.openxmlformats.org/officeDocument/2006/relationships/tags" Target="../tags/tag1568.xml"/><Relationship Id="rId4" Type="http://schemas.openxmlformats.org/officeDocument/2006/relationships/image" Target="../media/image851.svg"/><Relationship Id="rId3" Type="http://schemas.openxmlformats.org/officeDocument/2006/relationships/image" Target="../media/image850.png"/><Relationship Id="rId2" Type="http://schemas.openxmlformats.org/officeDocument/2006/relationships/image" Target="../media/image849.svg"/><Relationship Id="rId1" Type="http://schemas.openxmlformats.org/officeDocument/2006/relationships/image" Target="../media/image21.png"/></Relationships>
</file>

<file path=ppt/slides/_rels/slide139.xml.rels><?xml version="1.0" encoding="UTF-8" standalone="yes"?>
<Relationships xmlns="http://schemas.openxmlformats.org/package/2006/relationships"><Relationship Id="rId5" Type="http://schemas.openxmlformats.org/officeDocument/2006/relationships/notesSlide" Target="../notesSlides/notesSlide57.xml"/><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830.svg"/><Relationship Id="rId1" Type="http://schemas.openxmlformats.org/officeDocument/2006/relationships/image" Target="../media/image21.png"/></Relationships>
</file>

<file path=ppt/slides/_rels/slide140.xml.rels><?xml version="1.0" encoding="UTF-8" standalone="yes"?>
<Relationships xmlns="http://schemas.openxmlformats.org/package/2006/relationships"><Relationship Id="rId9" Type="http://schemas.openxmlformats.org/officeDocument/2006/relationships/tags" Target="../tags/tag1575.xml"/><Relationship Id="rId8" Type="http://schemas.openxmlformats.org/officeDocument/2006/relationships/tags" Target="../tags/tag1574.xml"/><Relationship Id="rId7" Type="http://schemas.openxmlformats.org/officeDocument/2006/relationships/tags" Target="../tags/tag1573.xml"/><Relationship Id="rId6" Type="http://schemas.openxmlformats.org/officeDocument/2006/relationships/tags" Target="../tags/tag1572.xml"/><Relationship Id="rId5" Type="http://schemas.openxmlformats.org/officeDocument/2006/relationships/tags" Target="../tags/tag1571.xml"/><Relationship Id="rId4" Type="http://schemas.openxmlformats.org/officeDocument/2006/relationships/tags" Target="../tags/tag1570.xml"/><Relationship Id="rId3" Type="http://schemas.openxmlformats.org/officeDocument/2006/relationships/tags" Target="../tags/tag1569.xml"/><Relationship Id="rId20" Type="http://schemas.openxmlformats.org/officeDocument/2006/relationships/slideLayout" Target="../slideLayouts/slideLayout12.xml"/><Relationship Id="rId2" Type="http://schemas.openxmlformats.org/officeDocument/2006/relationships/image" Target="../media/image852.svg"/><Relationship Id="rId19" Type="http://schemas.openxmlformats.org/officeDocument/2006/relationships/image" Target="../media/image36.png"/><Relationship Id="rId18" Type="http://schemas.openxmlformats.org/officeDocument/2006/relationships/tags" Target="../tags/tag1584.xml"/><Relationship Id="rId17" Type="http://schemas.openxmlformats.org/officeDocument/2006/relationships/tags" Target="../tags/tag1583.xml"/><Relationship Id="rId16" Type="http://schemas.openxmlformats.org/officeDocument/2006/relationships/tags" Target="../tags/tag1582.xml"/><Relationship Id="rId15" Type="http://schemas.openxmlformats.org/officeDocument/2006/relationships/tags" Target="../tags/tag1581.xml"/><Relationship Id="rId14" Type="http://schemas.openxmlformats.org/officeDocument/2006/relationships/tags" Target="../tags/tag1580.xml"/><Relationship Id="rId13" Type="http://schemas.openxmlformats.org/officeDocument/2006/relationships/tags" Target="../tags/tag1579.xml"/><Relationship Id="rId12" Type="http://schemas.openxmlformats.org/officeDocument/2006/relationships/tags" Target="../tags/tag1578.xml"/><Relationship Id="rId11" Type="http://schemas.openxmlformats.org/officeDocument/2006/relationships/tags" Target="../tags/tag1577.xml"/><Relationship Id="rId10" Type="http://schemas.openxmlformats.org/officeDocument/2006/relationships/tags" Target="../tags/tag1576.xml"/><Relationship Id="rId1" Type="http://schemas.openxmlformats.org/officeDocument/2006/relationships/image" Target="../media/image21.png"/></Relationships>
</file>

<file path=ppt/slides/_rels/slide141.xml.rels><?xml version="1.0" encoding="UTF-8" standalone="yes"?>
<Relationships xmlns="http://schemas.openxmlformats.org/package/2006/relationships"><Relationship Id="rId9" Type="http://schemas.openxmlformats.org/officeDocument/2006/relationships/image" Target="../media/image860.png"/><Relationship Id="rId8" Type="http://schemas.openxmlformats.org/officeDocument/2006/relationships/image" Target="../media/image859.svg"/><Relationship Id="rId7" Type="http://schemas.openxmlformats.org/officeDocument/2006/relationships/image" Target="../media/image858.png"/><Relationship Id="rId6" Type="http://schemas.openxmlformats.org/officeDocument/2006/relationships/image" Target="../media/image857.svg"/><Relationship Id="rId5" Type="http://schemas.openxmlformats.org/officeDocument/2006/relationships/image" Target="../media/image856.png"/><Relationship Id="rId4" Type="http://schemas.openxmlformats.org/officeDocument/2006/relationships/image" Target="../media/image855.svg"/><Relationship Id="rId3" Type="http://schemas.openxmlformats.org/officeDocument/2006/relationships/image" Target="../media/image854.png"/><Relationship Id="rId2" Type="http://schemas.openxmlformats.org/officeDocument/2006/relationships/image" Target="../media/image853.svg"/><Relationship Id="rId14" Type="http://schemas.openxmlformats.org/officeDocument/2006/relationships/slideLayout" Target="../slideLayouts/slideLayout12.xml"/><Relationship Id="rId13" Type="http://schemas.openxmlformats.org/officeDocument/2006/relationships/image" Target="../media/image36.png"/><Relationship Id="rId12" Type="http://schemas.openxmlformats.org/officeDocument/2006/relationships/image" Target="../media/image863.svg"/><Relationship Id="rId11" Type="http://schemas.openxmlformats.org/officeDocument/2006/relationships/image" Target="../media/image862.png"/><Relationship Id="rId10" Type="http://schemas.openxmlformats.org/officeDocument/2006/relationships/image" Target="../media/image861.svg"/><Relationship Id="rId1" Type="http://schemas.openxmlformats.org/officeDocument/2006/relationships/image" Target="../media/image21.png"/></Relationships>
</file>

<file path=ppt/slides/_rels/slide14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864.svg"/><Relationship Id="rId1" Type="http://schemas.openxmlformats.org/officeDocument/2006/relationships/image" Target="../media/image21.png"/></Relationships>
</file>

<file path=ppt/slides/_rels/slide143.xml.rels><?xml version="1.0" encoding="UTF-8" standalone="yes"?>
<Relationships xmlns="http://schemas.openxmlformats.org/package/2006/relationships"><Relationship Id="rId9" Type="http://schemas.openxmlformats.org/officeDocument/2006/relationships/tags" Target="../tags/tag1587.xml"/><Relationship Id="rId8" Type="http://schemas.openxmlformats.org/officeDocument/2006/relationships/tags" Target="../tags/tag1586.xml"/><Relationship Id="rId7" Type="http://schemas.openxmlformats.org/officeDocument/2006/relationships/tags" Target="../tags/tag1585.xml"/><Relationship Id="rId6" Type="http://schemas.openxmlformats.org/officeDocument/2006/relationships/image" Target="../media/image863.svg"/><Relationship Id="rId5" Type="http://schemas.openxmlformats.org/officeDocument/2006/relationships/image" Target="../media/image862.png"/><Relationship Id="rId4" Type="http://schemas.openxmlformats.org/officeDocument/2006/relationships/image" Target="../media/image861.svg"/><Relationship Id="rId35" Type="http://schemas.openxmlformats.org/officeDocument/2006/relationships/slideLayout" Target="../slideLayouts/slideLayout12.xml"/><Relationship Id="rId34" Type="http://schemas.openxmlformats.org/officeDocument/2006/relationships/image" Target="../media/image36.png"/><Relationship Id="rId33" Type="http://schemas.openxmlformats.org/officeDocument/2006/relationships/image" Target="../media/image872.svg"/><Relationship Id="rId32" Type="http://schemas.openxmlformats.org/officeDocument/2006/relationships/image" Target="../media/image871.png"/><Relationship Id="rId31" Type="http://schemas.openxmlformats.org/officeDocument/2006/relationships/image" Target="../media/image870.svg"/><Relationship Id="rId30" Type="http://schemas.openxmlformats.org/officeDocument/2006/relationships/image" Target="../media/image869.png"/><Relationship Id="rId3" Type="http://schemas.openxmlformats.org/officeDocument/2006/relationships/image" Target="../media/image860.png"/><Relationship Id="rId29" Type="http://schemas.openxmlformats.org/officeDocument/2006/relationships/image" Target="../media/image868.svg"/><Relationship Id="rId28" Type="http://schemas.openxmlformats.org/officeDocument/2006/relationships/image" Target="../media/image867.png"/><Relationship Id="rId27" Type="http://schemas.openxmlformats.org/officeDocument/2006/relationships/image" Target="../media/image866.svg"/><Relationship Id="rId26" Type="http://schemas.openxmlformats.org/officeDocument/2006/relationships/image" Target="../media/image865.png"/><Relationship Id="rId25" Type="http://schemas.openxmlformats.org/officeDocument/2006/relationships/tags" Target="../tags/tag1603.xml"/><Relationship Id="rId24" Type="http://schemas.openxmlformats.org/officeDocument/2006/relationships/tags" Target="../tags/tag1602.xml"/><Relationship Id="rId23" Type="http://schemas.openxmlformats.org/officeDocument/2006/relationships/tags" Target="../tags/tag1601.xml"/><Relationship Id="rId22" Type="http://schemas.openxmlformats.org/officeDocument/2006/relationships/tags" Target="../tags/tag1600.xml"/><Relationship Id="rId21" Type="http://schemas.openxmlformats.org/officeDocument/2006/relationships/tags" Target="../tags/tag1599.xml"/><Relationship Id="rId20" Type="http://schemas.openxmlformats.org/officeDocument/2006/relationships/tags" Target="../tags/tag1598.xml"/><Relationship Id="rId2" Type="http://schemas.openxmlformats.org/officeDocument/2006/relationships/image" Target="../media/image847.svg"/><Relationship Id="rId19" Type="http://schemas.openxmlformats.org/officeDocument/2006/relationships/tags" Target="../tags/tag1597.xml"/><Relationship Id="rId18" Type="http://schemas.openxmlformats.org/officeDocument/2006/relationships/tags" Target="../tags/tag1596.xml"/><Relationship Id="rId17" Type="http://schemas.openxmlformats.org/officeDocument/2006/relationships/tags" Target="../tags/tag1595.xml"/><Relationship Id="rId16" Type="http://schemas.openxmlformats.org/officeDocument/2006/relationships/tags" Target="../tags/tag1594.xml"/><Relationship Id="rId15" Type="http://schemas.openxmlformats.org/officeDocument/2006/relationships/tags" Target="../tags/tag1593.xml"/><Relationship Id="rId14" Type="http://schemas.openxmlformats.org/officeDocument/2006/relationships/tags" Target="../tags/tag1592.xml"/><Relationship Id="rId13" Type="http://schemas.openxmlformats.org/officeDocument/2006/relationships/tags" Target="../tags/tag1591.xml"/><Relationship Id="rId12" Type="http://schemas.openxmlformats.org/officeDocument/2006/relationships/tags" Target="../tags/tag1590.xml"/><Relationship Id="rId11" Type="http://schemas.openxmlformats.org/officeDocument/2006/relationships/tags" Target="../tags/tag1589.xml"/><Relationship Id="rId10" Type="http://schemas.openxmlformats.org/officeDocument/2006/relationships/tags" Target="../tags/tag1588.xml"/><Relationship Id="rId1" Type="http://schemas.openxmlformats.org/officeDocument/2006/relationships/image" Target="../media/image21.png"/></Relationships>
</file>

<file path=ppt/slides/_rels/slide144.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876.svg"/><Relationship Id="rId5" Type="http://schemas.openxmlformats.org/officeDocument/2006/relationships/image" Target="../media/image875.png"/><Relationship Id="rId4" Type="http://schemas.openxmlformats.org/officeDocument/2006/relationships/image" Target="../media/image874.svg"/><Relationship Id="rId3" Type="http://schemas.openxmlformats.org/officeDocument/2006/relationships/image" Target="../media/image873.png"/><Relationship Id="rId2" Type="http://schemas.openxmlformats.org/officeDocument/2006/relationships/image" Target="../media/image830.svg"/><Relationship Id="rId1" Type="http://schemas.openxmlformats.org/officeDocument/2006/relationships/image" Target="../media/image21.png"/></Relationships>
</file>

<file path=ppt/slides/_rels/slide145.xml.rels><?xml version="1.0" encoding="UTF-8" standalone="yes"?>
<Relationships xmlns="http://schemas.openxmlformats.org/package/2006/relationships"><Relationship Id="rId9" Type="http://schemas.openxmlformats.org/officeDocument/2006/relationships/image" Target="../media/image884.png"/><Relationship Id="rId8" Type="http://schemas.openxmlformats.org/officeDocument/2006/relationships/image" Target="../media/image883.svg"/><Relationship Id="rId7" Type="http://schemas.openxmlformats.org/officeDocument/2006/relationships/image" Target="../media/image882.png"/><Relationship Id="rId6" Type="http://schemas.openxmlformats.org/officeDocument/2006/relationships/image" Target="../media/image881.svg"/><Relationship Id="rId5" Type="http://schemas.openxmlformats.org/officeDocument/2006/relationships/image" Target="../media/image880.png"/><Relationship Id="rId4" Type="http://schemas.openxmlformats.org/officeDocument/2006/relationships/image" Target="../media/image879.svg"/><Relationship Id="rId38" Type="http://schemas.openxmlformats.org/officeDocument/2006/relationships/slideLayout" Target="../slideLayouts/slideLayout12.xml"/><Relationship Id="rId37" Type="http://schemas.openxmlformats.org/officeDocument/2006/relationships/image" Target="../media/image36.png"/><Relationship Id="rId36" Type="http://schemas.openxmlformats.org/officeDocument/2006/relationships/image" Target="../media/image911.svg"/><Relationship Id="rId35" Type="http://schemas.openxmlformats.org/officeDocument/2006/relationships/image" Target="../media/image910.png"/><Relationship Id="rId34" Type="http://schemas.openxmlformats.org/officeDocument/2006/relationships/image" Target="../media/image909.svg"/><Relationship Id="rId33" Type="http://schemas.openxmlformats.org/officeDocument/2006/relationships/image" Target="../media/image908.png"/><Relationship Id="rId32" Type="http://schemas.openxmlformats.org/officeDocument/2006/relationships/image" Target="../media/image907.svg"/><Relationship Id="rId31" Type="http://schemas.openxmlformats.org/officeDocument/2006/relationships/image" Target="../media/image906.png"/><Relationship Id="rId30" Type="http://schemas.openxmlformats.org/officeDocument/2006/relationships/image" Target="../media/image905.svg"/><Relationship Id="rId3" Type="http://schemas.openxmlformats.org/officeDocument/2006/relationships/image" Target="../media/image878.png"/><Relationship Id="rId29" Type="http://schemas.openxmlformats.org/officeDocument/2006/relationships/image" Target="../media/image904.png"/><Relationship Id="rId28" Type="http://schemas.openxmlformats.org/officeDocument/2006/relationships/image" Target="../media/image903.svg"/><Relationship Id="rId27" Type="http://schemas.openxmlformats.org/officeDocument/2006/relationships/image" Target="../media/image902.png"/><Relationship Id="rId26" Type="http://schemas.openxmlformats.org/officeDocument/2006/relationships/image" Target="../media/image901.svg"/><Relationship Id="rId25" Type="http://schemas.openxmlformats.org/officeDocument/2006/relationships/image" Target="../media/image900.png"/><Relationship Id="rId24" Type="http://schemas.openxmlformats.org/officeDocument/2006/relationships/image" Target="../media/image899.svg"/><Relationship Id="rId23" Type="http://schemas.openxmlformats.org/officeDocument/2006/relationships/image" Target="../media/image898.png"/><Relationship Id="rId22" Type="http://schemas.openxmlformats.org/officeDocument/2006/relationships/image" Target="../media/image897.svg"/><Relationship Id="rId21" Type="http://schemas.openxmlformats.org/officeDocument/2006/relationships/image" Target="../media/image896.png"/><Relationship Id="rId20" Type="http://schemas.openxmlformats.org/officeDocument/2006/relationships/image" Target="../media/image895.svg"/><Relationship Id="rId2" Type="http://schemas.openxmlformats.org/officeDocument/2006/relationships/image" Target="../media/image877.svg"/><Relationship Id="rId19" Type="http://schemas.openxmlformats.org/officeDocument/2006/relationships/image" Target="../media/image894.png"/><Relationship Id="rId18" Type="http://schemas.openxmlformats.org/officeDocument/2006/relationships/image" Target="../media/image893.svg"/><Relationship Id="rId17" Type="http://schemas.openxmlformats.org/officeDocument/2006/relationships/image" Target="../media/image892.png"/><Relationship Id="rId16" Type="http://schemas.openxmlformats.org/officeDocument/2006/relationships/image" Target="../media/image891.svg"/><Relationship Id="rId15" Type="http://schemas.openxmlformats.org/officeDocument/2006/relationships/image" Target="../media/image890.png"/><Relationship Id="rId14" Type="http://schemas.openxmlformats.org/officeDocument/2006/relationships/image" Target="../media/image889.svg"/><Relationship Id="rId13" Type="http://schemas.openxmlformats.org/officeDocument/2006/relationships/image" Target="../media/image888.png"/><Relationship Id="rId12" Type="http://schemas.openxmlformats.org/officeDocument/2006/relationships/image" Target="../media/image887.svg"/><Relationship Id="rId11" Type="http://schemas.openxmlformats.org/officeDocument/2006/relationships/image" Target="../media/image886.png"/><Relationship Id="rId10" Type="http://schemas.openxmlformats.org/officeDocument/2006/relationships/image" Target="../media/image885.svg"/><Relationship Id="rId1" Type="http://schemas.openxmlformats.org/officeDocument/2006/relationships/image" Target="../media/image21.png"/></Relationships>
</file>

<file path=ppt/slides/_rels/slide146.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12.svg"/><Relationship Id="rId1" Type="http://schemas.openxmlformats.org/officeDocument/2006/relationships/image" Target="../media/image21.png"/></Relationships>
</file>

<file path=ppt/slides/_rels/slide147.xml.rels><?xml version="1.0" encoding="UTF-8" standalone="yes"?>
<Relationships xmlns="http://schemas.openxmlformats.org/package/2006/relationships"><Relationship Id="rId93" Type="http://schemas.openxmlformats.org/officeDocument/2006/relationships/slideLayout" Target="../slideLayouts/slideLayout12.xml"/><Relationship Id="rId92" Type="http://schemas.openxmlformats.org/officeDocument/2006/relationships/image" Target="../media/image36.png"/><Relationship Id="rId91" Type="http://schemas.openxmlformats.org/officeDocument/2006/relationships/image" Target="../media/image921.svg"/><Relationship Id="rId90" Type="http://schemas.openxmlformats.org/officeDocument/2006/relationships/image" Target="../media/image920.png"/><Relationship Id="rId9" Type="http://schemas.openxmlformats.org/officeDocument/2006/relationships/tags" Target="../tags/tag1610.xml"/><Relationship Id="rId89" Type="http://schemas.openxmlformats.org/officeDocument/2006/relationships/tags" Target="../tags/tag1684.xml"/><Relationship Id="rId88" Type="http://schemas.openxmlformats.org/officeDocument/2006/relationships/tags" Target="../tags/tag1683.xml"/><Relationship Id="rId87" Type="http://schemas.openxmlformats.org/officeDocument/2006/relationships/tags" Target="../tags/tag1682.xml"/><Relationship Id="rId86" Type="http://schemas.openxmlformats.org/officeDocument/2006/relationships/tags" Target="../tags/tag1681.xml"/><Relationship Id="rId85" Type="http://schemas.openxmlformats.org/officeDocument/2006/relationships/tags" Target="../tags/tag1680.xml"/><Relationship Id="rId84" Type="http://schemas.openxmlformats.org/officeDocument/2006/relationships/tags" Target="../tags/tag1679.xml"/><Relationship Id="rId83" Type="http://schemas.openxmlformats.org/officeDocument/2006/relationships/tags" Target="../tags/tag1678.xml"/><Relationship Id="rId82" Type="http://schemas.openxmlformats.org/officeDocument/2006/relationships/image" Target="../media/image919.svg"/><Relationship Id="rId81" Type="http://schemas.openxmlformats.org/officeDocument/2006/relationships/image" Target="../media/image918.png"/><Relationship Id="rId80" Type="http://schemas.openxmlformats.org/officeDocument/2006/relationships/tags" Target="../tags/tag1677.xml"/><Relationship Id="rId8" Type="http://schemas.openxmlformats.org/officeDocument/2006/relationships/tags" Target="../tags/tag1609.xml"/><Relationship Id="rId79" Type="http://schemas.openxmlformats.org/officeDocument/2006/relationships/tags" Target="../tags/tag1676.xml"/><Relationship Id="rId78" Type="http://schemas.openxmlformats.org/officeDocument/2006/relationships/tags" Target="../tags/tag1675.xml"/><Relationship Id="rId77" Type="http://schemas.openxmlformats.org/officeDocument/2006/relationships/tags" Target="../tags/tag1674.xml"/><Relationship Id="rId76" Type="http://schemas.openxmlformats.org/officeDocument/2006/relationships/tags" Target="../tags/tag1673.xml"/><Relationship Id="rId75" Type="http://schemas.openxmlformats.org/officeDocument/2006/relationships/tags" Target="../tags/tag1672.xml"/><Relationship Id="rId74" Type="http://schemas.openxmlformats.org/officeDocument/2006/relationships/tags" Target="../tags/tag1671.xml"/><Relationship Id="rId73" Type="http://schemas.openxmlformats.org/officeDocument/2006/relationships/image" Target="../media/image917.svg"/><Relationship Id="rId72" Type="http://schemas.openxmlformats.org/officeDocument/2006/relationships/image" Target="../media/image916.png"/><Relationship Id="rId71" Type="http://schemas.openxmlformats.org/officeDocument/2006/relationships/tags" Target="../tags/tag1670.xml"/><Relationship Id="rId70" Type="http://schemas.openxmlformats.org/officeDocument/2006/relationships/tags" Target="../tags/tag1669.xml"/><Relationship Id="rId7" Type="http://schemas.openxmlformats.org/officeDocument/2006/relationships/tags" Target="../tags/tag1608.xml"/><Relationship Id="rId69" Type="http://schemas.openxmlformats.org/officeDocument/2006/relationships/tags" Target="../tags/tag1668.xml"/><Relationship Id="rId68" Type="http://schemas.openxmlformats.org/officeDocument/2006/relationships/tags" Target="../tags/tag1667.xml"/><Relationship Id="rId67" Type="http://schemas.openxmlformats.org/officeDocument/2006/relationships/tags" Target="../tags/tag1666.xml"/><Relationship Id="rId66" Type="http://schemas.openxmlformats.org/officeDocument/2006/relationships/tags" Target="../tags/tag1665.xml"/><Relationship Id="rId65" Type="http://schemas.openxmlformats.org/officeDocument/2006/relationships/tags" Target="../tags/tag1664.xml"/><Relationship Id="rId64" Type="http://schemas.openxmlformats.org/officeDocument/2006/relationships/tags" Target="../tags/tag1663.xml"/><Relationship Id="rId63" Type="http://schemas.openxmlformats.org/officeDocument/2006/relationships/tags" Target="../tags/tag1662.xml"/><Relationship Id="rId62" Type="http://schemas.openxmlformats.org/officeDocument/2006/relationships/tags" Target="../tags/tag1661.xml"/><Relationship Id="rId61" Type="http://schemas.openxmlformats.org/officeDocument/2006/relationships/tags" Target="../tags/tag1660.xml"/><Relationship Id="rId60" Type="http://schemas.openxmlformats.org/officeDocument/2006/relationships/tags" Target="../tags/tag1659.xml"/><Relationship Id="rId6" Type="http://schemas.openxmlformats.org/officeDocument/2006/relationships/tags" Target="../tags/tag1607.xml"/><Relationship Id="rId59" Type="http://schemas.openxmlformats.org/officeDocument/2006/relationships/tags" Target="../tags/tag1658.xml"/><Relationship Id="rId58" Type="http://schemas.openxmlformats.org/officeDocument/2006/relationships/tags" Target="../tags/tag1657.xml"/><Relationship Id="rId57" Type="http://schemas.openxmlformats.org/officeDocument/2006/relationships/tags" Target="../tags/tag1656.xml"/><Relationship Id="rId56" Type="http://schemas.openxmlformats.org/officeDocument/2006/relationships/tags" Target="../tags/tag1655.xml"/><Relationship Id="rId55" Type="http://schemas.openxmlformats.org/officeDocument/2006/relationships/tags" Target="../tags/tag1654.xml"/><Relationship Id="rId54" Type="http://schemas.openxmlformats.org/officeDocument/2006/relationships/tags" Target="../tags/tag1653.xml"/><Relationship Id="rId53" Type="http://schemas.openxmlformats.org/officeDocument/2006/relationships/tags" Target="../tags/tag1652.xml"/><Relationship Id="rId52" Type="http://schemas.openxmlformats.org/officeDocument/2006/relationships/tags" Target="../tags/tag1651.xml"/><Relationship Id="rId51" Type="http://schemas.openxmlformats.org/officeDocument/2006/relationships/tags" Target="../tags/tag1650.xml"/><Relationship Id="rId50" Type="http://schemas.openxmlformats.org/officeDocument/2006/relationships/tags" Target="../tags/tag1649.xml"/><Relationship Id="rId5" Type="http://schemas.openxmlformats.org/officeDocument/2006/relationships/tags" Target="../tags/tag1606.xml"/><Relationship Id="rId49" Type="http://schemas.openxmlformats.org/officeDocument/2006/relationships/tags" Target="../tags/tag1648.xml"/><Relationship Id="rId48" Type="http://schemas.openxmlformats.org/officeDocument/2006/relationships/image" Target="../media/image915.svg"/><Relationship Id="rId47" Type="http://schemas.openxmlformats.org/officeDocument/2006/relationships/image" Target="../media/image914.png"/><Relationship Id="rId46" Type="http://schemas.openxmlformats.org/officeDocument/2006/relationships/tags" Target="../tags/tag1647.xml"/><Relationship Id="rId45" Type="http://schemas.openxmlformats.org/officeDocument/2006/relationships/tags" Target="../tags/tag1646.xml"/><Relationship Id="rId44" Type="http://schemas.openxmlformats.org/officeDocument/2006/relationships/tags" Target="../tags/tag1645.xml"/><Relationship Id="rId43" Type="http://schemas.openxmlformats.org/officeDocument/2006/relationships/tags" Target="../tags/tag1644.xml"/><Relationship Id="rId42" Type="http://schemas.openxmlformats.org/officeDocument/2006/relationships/tags" Target="../tags/tag1643.xml"/><Relationship Id="rId41" Type="http://schemas.openxmlformats.org/officeDocument/2006/relationships/tags" Target="../tags/tag1642.xml"/><Relationship Id="rId40" Type="http://schemas.openxmlformats.org/officeDocument/2006/relationships/tags" Target="../tags/tag1641.xml"/><Relationship Id="rId4" Type="http://schemas.openxmlformats.org/officeDocument/2006/relationships/tags" Target="../tags/tag1605.xml"/><Relationship Id="rId39" Type="http://schemas.openxmlformats.org/officeDocument/2006/relationships/tags" Target="../tags/tag1640.xml"/><Relationship Id="rId38" Type="http://schemas.openxmlformats.org/officeDocument/2006/relationships/tags" Target="../tags/tag1639.xml"/><Relationship Id="rId37" Type="http://schemas.openxmlformats.org/officeDocument/2006/relationships/tags" Target="../tags/tag1638.xml"/><Relationship Id="rId36" Type="http://schemas.openxmlformats.org/officeDocument/2006/relationships/tags" Target="../tags/tag1637.xml"/><Relationship Id="rId35" Type="http://schemas.openxmlformats.org/officeDocument/2006/relationships/tags" Target="../tags/tag1636.xml"/><Relationship Id="rId34" Type="http://schemas.openxmlformats.org/officeDocument/2006/relationships/tags" Target="../tags/tag1635.xml"/><Relationship Id="rId33" Type="http://schemas.openxmlformats.org/officeDocument/2006/relationships/tags" Target="../tags/tag1634.xml"/><Relationship Id="rId32" Type="http://schemas.openxmlformats.org/officeDocument/2006/relationships/tags" Target="../tags/tag1633.xml"/><Relationship Id="rId31" Type="http://schemas.openxmlformats.org/officeDocument/2006/relationships/tags" Target="../tags/tag1632.xml"/><Relationship Id="rId30" Type="http://schemas.openxmlformats.org/officeDocument/2006/relationships/tags" Target="../tags/tag1631.xml"/><Relationship Id="rId3" Type="http://schemas.openxmlformats.org/officeDocument/2006/relationships/tags" Target="../tags/tag1604.xml"/><Relationship Id="rId29" Type="http://schemas.openxmlformats.org/officeDocument/2006/relationships/tags" Target="../tags/tag1630.xml"/><Relationship Id="rId28" Type="http://schemas.openxmlformats.org/officeDocument/2006/relationships/tags" Target="../tags/tag1629.xml"/><Relationship Id="rId27" Type="http://schemas.openxmlformats.org/officeDocument/2006/relationships/tags" Target="../tags/tag1628.xml"/><Relationship Id="rId26" Type="http://schemas.openxmlformats.org/officeDocument/2006/relationships/tags" Target="../tags/tag1627.xml"/><Relationship Id="rId25" Type="http://schemas.openxmlformats.org/officeDocument/2006/relationships/tags" Target="../tags/tag1626.xml"/><Relationship Id="rId24" Type="http://schemas.openxmlformats.org/officeDocument/2006/relationships/tags" Target="../tags/tag1625.xml"/><Relationship Id="rId23" Type="http://schemas.openxmlformats.org/officeDocument/2006/relationships/tags" Target="../tags/tag1624.xml"/><Relationship Id="rId22" Type="http://schemas.openxmlformats.org/officeDocument/2006/relationships/tags" Target="../tags/tag1623.xml"/><Relationship Id="rId21" Type="http://schemas.openxmlformats.org/officeDocument/2006/relationships/tags" Target="../tags/tag1622.xml"/><Relationship Id="rId20" Type="http://schemas.openxmlformats.org/officeDocument/2006/relationships/tags" Target="../tags/tag1621.xml"/><Relationship Id="rId2" Type="http://schemas.openxmlformats.org/officeDocument/2006/relationships/image" Target="../media/image913.svg"/><Relationship Id="rId19" Type="http://schemas.openxmlformats.org/officeDocument/2006/relationships/tags" Target="../tags/tag1620.xml"/><Relationship Id="rId18" Type="http://schemas.openxmlformats.org/officeDocument/2006/relationships/tags" Target="../tags/tag1619.xml"/><Relationship Id="rId17" Type="http://schemas.openxmlformats.org/officeDocument/2006/relationships/tags" Target="../tags/tag1618.xml"/><Relationship Id="rId16" Type="http://schemas.openxmlformats.org/officeDocument/2006/relationships/tags" Target="../tags/tag1617.xml"/><Relationship Id="rId15" Type="http://schemas.openxmlformats.org/officeDocument/2006/relationships/tags" Target="../tags/tag1616.xml"/><Relationship Id="rId14" Type="http://schemas.openxmlformats.org/officeDocument/2006/relationships/tags" Target="../tags/tag1615.xml"/><Relationship Id="rId13" Type="http://schemas.openxmlformats.org/officeDocument/2006/relationships/tags" Target="../tags/tag1614.xml"/><Relationship Id="rId12" Type="http://schemas.openxmlformats.org/officeDocument/2006/relationships/tags" Target="../tags/tag1613.xml"/><Relationship Id="rId11" Type="http://schemas.openxmlformats.org/officeDocument/2006/relationships/tags" Target="../tags/tag1612.xml"/><Relationship Id="rId10" Type="http://schemas.openxmlformats.org/officeDocument/2006/relationships/tags" Target="../tags/tag1611.xml"/><Relationship Id="rId1" Type="http://schemas.openxmlformats.org/officeDocument/2006/relationships/image" Target="../media/image21.png"/></Relationships>
</file>

<file path=ppt/slides/_rels/slide148.xml.rels><?xml version="1.0" encoding="UTF-8" standalone="yes"?>
<Relationships xmlns="http://schemas.openxmlformats.org/package/2006/relationships"><Relationship Id="rId5" Type="http://schemas.openxmlformats.org/officeDocument/2006/relationships/slideLayout" Target="../slideLayouts/slideLayout12.xml"/><Relationship Id="rId4" Type="http://schemas.openxmlformats.org/officeDocument/2006/relationships/image" Target="../media/image36.png"/><Relationship Id="rId3" Type="http://schemas.openxmlformats.org/officeDocument/2006/relationships/image" Target="../media/image922.svg"/><Relationship Id="rId2" Type="http://schemas.openxmlformats.org/officeDocument/2006/relationships/image" Target="../media/image21.png"/><Relationship Id="rId1" Type="http://schemas.openxmlformats.org/officeDocument/2006/relationships/tags" Target="../tags/tag1685.xml"/></Relationships>
</file>

<file path=ppt/slides/_rels/slide149.xml.rels><?xml version="1.0" encoding="UTF-8" standalone="yes"?>
<Relationships xmlns="http://schemas.openxmlformats.org/package/2006/relationships"><Relationship Id="rId9" Type="http://schemas.openxmlformats.org/officeDocument/2006/relationships/tags" Target="../tags/tag1692.xml"/><Relationship Id="rId8" Type="http://schemas.openxmlformats.org/officeDocument/2006/relationships/tags" Target="../tags/tag1691.xml"/><Relationship Id="rId7" Type="http://schemas.openxmlformats.org/officeDocument/2006/relationships/tags" Target="../tags/tag1690.xml"/><Relationship Id="rId66" Type="http://schemas.openxmlformats.org/officeDocument/2006/relationships/slideLayout" Target="../slideLayouts/slideLayout12.xml"/><Relationship Id="rId65" Type="http://schemas.openxmlformats.org/officeDocument/2006/relationships/image" Target="../media/image36.png"/><Relationship Id="rId64" Type="http://schemas.openxmlformats.org/officeDocument/2006/relationships/tags" Target="../tags/tag1747.xml"/><Relationship Id="rId63" Type="http://schemas.openxmlformats.org/officeDocument/2006/relationships/tags" Target="../tags/tag1746.xml"/><Relationship Id="rId62" Type="http://schemas.openxmlformats.org/officeDocument/2006/relationships/tags" Target="../tags/tag1745.xml"/><Relationship Id="rId61" Type="http://schemas.openxmlformats.org/officeDocument/2006/relationships/tags" Target="../tags/tag1744.xml"/><Relationship Id="rId60" Type="http://schemas.openxmlformats.org/officeDocument/2006/relationships/tags" Target="../tags/tag1743.xml"/><Relationship Id="rId6" Type="http://schemas.openxmlformats.org/officeDocument/2006/relationships/tags" Target="../tags/tag1689.xml"/><Relationship Id="rId59" Type="http://schemas.openxmlformats.org/officeDocument/2006/relationships/tags" Target="../tags/tag1742.xml"/><Relationship Id="rId58" Type="http://schemas.openxmlformats.org/officeDocument/2006/relationships/tags" Target="../tags/tag1741.xml"/><Relationship Id="rId57" Type="http://schemas.openxmlformats.org/officeDocument/2006/relationships/tags" Target="../tags/tag1740.xml"/><Relationship Id="rId56" Type="http://schemas.openxmlformats.org/officeDocument/2006/relationships/tags" Target="../tags/tag1739.xml"/><Relationship Id="rId55" Type="http://schemas.openxmlformats.org/officeDocument/2006/relationships/tags" Target="../tags/tag1738.xml"/><Relationship Id="rId54" Type="http://schemas.openxmlformats.org/officeDocument/2006/relationships/tags" Target="../tags/tag1737.xml"/><Relationship Id="rId53" Type="http://schemas.openxmlformats.org/officeDocument/2006/relationships/tags" Target="../tags/tag1736.xml"/><Relationship Id="rId52" Type="http://schemas.openxmlformats.org/officeDocument/2006/relationships/tags" Target="../tags/tag1735.xml"/><Relationship Id="rId51" Type="http://schemas.openxmlformats.org/officeDocument/2006/relationships/tags" Target="../tags/tag1734.xml"/><Relationship Id="rId50" Type="http://schemas.openxmlformats.org/officeDocument/2006/relationships/tags" Target="../tags/tag1733.xml"/><Relationship Id="rId5" Type="http://schemas.openxmlformats.org/officeDocument/2006/relationships/tags" Target="../tags/tag1688.xml"/><Relationship Id="rId49" Type="http://schemas.openxmlformats.org/officeDocument/2006/relationships/tags" Target="../tags/tag1732.xml"/><Relationship Id="rId48" Type="http://schemas.openxmlformats.org/officeDocument/2006/relationships/tags" Target="../tags/tag1731.xml"/><Relationship Id="rId47" Type="http://schemas.openxmlformats.org/officeDocument/2006/relationships/tags" Target="../tags/tag1730.xml"/><Relationship Id="rId46" Type="http://schemas.openxmlformats.org/officeDocument/2006/relationships/tags" Target="../tags/tag1729.xml"/><Relationship Id="rId45" Type="http://schemas.openxmlformats.org/officeDocument/2006/relationships/tags" Target="../tags/tag1728.xml"/><Relationship Id="rId44" Type="http://schemas.openxmlformats.org/officeDocument/2006/relationships/tags" Target="../tags/tag1727.xml"/><Relationship Id="rId43" Type="http://schemas.openxmlformats.org/officeDocument/2006/relationships/tags" Target="../tags/tag1726.xml"/><Relationship Id="rId42" Type="http://schemas.openxmlformats.org/officeDocument/2006/relationships/tags" Target="../tags/tag1725.xml"/><Relationship Id="rId41" Type="http://schemas.openxmlformats.org/officeDocument/2006/relationships/tags" Target="../tags/tag1724.xml"/><Relationship Id="rId40" Type="http://schemas.openxmlformats.org/officeDocument/2006/relationships/tags" Target="../tags/tag1723.xml"/><Relationship Id="rId4" Type="http://schemas.openxmlformats.org/officeDocument/2006/relationships/tags" Target="../tags/tag1687.xml"/><Relationship Id="rId39" Type="http://schemas.openxmlformats.org/officeDocument/2006/relationships/tags" Target="../tags/tag1722.xml"/><Relationship Id="rId38" Type="http://schemas.openxmlformats.org/officeDocument/2006/relationships/tags" Target="../tags/tag1721.xml"/><Relationship Id="rId37" Type="http://schemas.openxmlformats.org/officeDocument/2006/relationships/tags" Target="../tags/tag1720.xml"/><Relationship Id="rId36" Type="http://schemas.openxmlformats.org/officeDocument/2006/relationships/tags" Target="../tags/tag1719.xml"/><Relationship Id="rId35" Type="http://schemas.openxmlformats.org/officeDocument/2006/relationships/tags" Target="../tags/tag1718.xml"/><Relationship Id="rId34" Type="http://schemas.openxmlformats.org/officeDocument/2006/relationships/tags" Target="../tags/tag1717.xml"/><Relationship Id="rId33" Type="http://schemas.openxmlformats.org/officeDocument/2006/relationships/tags" Target="../tags/tag1716.xml"/><Relationship Id="rId32" Type="http://schemas.openxmlformats.org/officeDocument/2006/relationships/tags" Target="../tags/tag1715.xml"/><Relationship Id="rId31" Type="http://schemas.openxmlformats.org/officeDocument/2006/relationships/tags" Target="../tags/tag1714.xml"/><Relationship Id="rId30" Type="http://schemas.openxmlformats.org/officeDocument/2006/relationships/tags" Target="../tags/tag1713.xml"/><Relationship Id="rId3" Type="http://schemas.openxmlformats.org/officeDocument/2006/relationships/tags" Target="../tags/tag1686.xml"/><Relationship Id="rId29" Type="http://schemas.openxmlformats.org/officeDocument/2006/relationships/tags" Target="../tags/tag1712.xml"/><Relationship Id="rId28" Type="http://schemas.openxmlformats.org/officeDocument/2006/relationships/tags" Target="../tags/tag1711.xml"/><Relationship Id="rId27" Type="http://schemas.openxmlformats.org/officeDocument/2006/relationships/tags" Target="../tags/tag1710.xml"/><Relationship Id="rId26" Type="http://schemas.openxmlformats.org/officeDocument/2006/relationships/tags" Target="../tags/tag1709.xml"/><Relationship Id="rId25" Type="http://schemas.openxmlformats.org/officeDocument/2006/relationships/tags" Target="../tags/tag1708.xml"/><Relationship Id="rId24" Type="http://schemas.openxmlformats.org/officeDocument/2006/relationships/tags" Target="../tags/tag1707.xml"/><Relationship Id="rId23" Type="http://schemas.openxmlformats.org/officeDocument/2006/relationships/tags" Target="../tags/tag1706.xml"/><Relationship Id="rId22" Type="http://schemas.openxmlformats.org/officeDocument/2006/relationships/tags" Target="../tags/tag1705.xml"/><Relationship Id="rId21" Type="http://schemas.openxmlformats.org/officeDocument/2006/relationships/tags" Target="../tags/tag1704.xml"/><Relationship Id="rId20" Type="http://schemas.openxmlformats.org/officeDocument/2006/relationships/tags" Target="../tags/tag1703.xml"/><Relationship Id="rId2" Type="http://schemas.openxmlformats.org/officeDocument/2006/relationships/image" Target="../media/image923.svg"/><Relationship Id="rId19" Type="http://schemas.openxmlformats.org/officeDocument/2006/relationships/tags" Target="../tags/tag1702.xml"/><Relationship Id="rId18" Type="http://schemas.openxmlformats.org/officeDocument/2006/relationships/tags" Target="../tags/tag1701.xml"/><Relationship Id="rId17" Type="http://schemas.openxmlformats.org/officeDocument/2006/relationships/tags" Target="../tags/tag1700.xml"/><Relationship Id="rId16" Type="http://schemas.openxmlformats.org/officeDocument/2006/relationships/tags" Target="../tags/tag1699.xml"/><Relationship Id="rId15" Type="http://schemas.openxmlformats.org/officeDocument/2006/relationships/tags" Target="../tags/tag1698.xml"/><Relationship Id="rId14" Type="http://schemas.openxmlformats.org/officeDocument/2006/relationships/tags" Target="../tags/tag1697.xml"/><Relationship Id="rId13" Type="http://schemas.openxmlformats.org/officeDocument/2006/relationships/tags" Target="../tags/tag1696.xml"/><Relationship Id="rId12" Type="http://schemas.openxmlformats.org/officeDocument/2006/relationships/tags" Target="../tags/tag1695.xml"/><Relationship Id="rId11" Type="http://schemas.openxmlformats.org/officeDocument/2006/relationships/tags" Target="../tags/tag1694.xml"/><Relationship Id="rId10" Type="http://schemas.openxmlformats.org/officeDocument/2006/relationships/tags" Target="../tags/tag1693.xml"/><Relationship Id="rId1" Type="http://schemas.openxmlformats.org/officeDocument/2006/relationships/image" Target="../media/image21.png"/></Relationships>
</file>

<file path=ppt/slides/_rels/slide15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830.svg"/><Relationship Id="rId1" Type="http://schemas.openxmlformats.org/officeDocument/2006/relationships/image" Target="../media/image21.png"/></Relationships>
</file>

<file path=ppt/slides/_rels/slide151.xml.rels><?xml version="1.0" encoding="UTF-8" standalone="yes"?>
<Relationships xmlns="http://schemas.openxmlformats.org/package/2006/relationships"><Relationship Id="rId9" Type="http://schemas.openxmlformats.org/officeDocument/2006/relationships/image" Target="../media/image36.png"/><Relationship Id="rId8" Type="http://schemas.openxmlformats.org/officeDocument/2006/relationships/tags" Target="../tags/tag1749.xml"/><Relationship Id="rId7" Type="http://schemas.openxmlformats.org/officeDocument/2006/relationships/tags" Target="../tags/tag1748.xml"/><Relationship Id="rId6" Type="http://schemas.openxmlformats.org/officeDocument/2006/relationships/image" Target="../media/image928.svg"/><Relationship Id="rId5" Type="http://schemas.openxmlformats.org/officeDocument/2006/relationships/image" Target="../media/image927.png"/><Relationship Id="rId4" Type="http://schemas.openxmlformats.org/officeDocument/2006/relationships/image" Target="../media/image926.svg"/><Relationship Id="rId3" Type="http://schemas.openxmlformats.org/officeDocument/2006/relationships/image" Target="../media/image925.png"/><Relationship Id="rId2" Type="http://schemas.openxmlformats.org/officeDocument/2006/relationships/image" Target="../media/image924.svg"/><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152.xml.rels><?xml version="1.0" encoding="UTF-8" standalone="yes"?>
<Relationships xmlns="http://schemas.openxmlformats.org/package/2006/relationships"><Relationship Id="rId9" Type="http://schemas.openxmlformats.org/officeDocument/2006/relationships/tags" Target="../tags/tag1756.xml"/><Relationship Id="rId8" Type="http://schemas.openxmlformats.org/officeDocument/2006/relationships/tags" Target="../tags/tag1755.xml"/><Relationship Id="rId7" Type="http://schemas.openxmlformats.org/officeDocument/2006/relationships/tags" Target="../tags/tag1754.xml"/><Relationship Id="rId6" Type="http://schemas.openxmlformats.org/officeDocument/2006/relationships/tags" Target="../tags/tag1753.xml"/><Relationship Id="rId50" Type="http://schemas.openxmlformats.org/officeDocument/2006/relationships/slideLayout" Target="../slideLayouts/slideLayout12.xml"/><Relationship Id="rId5" Type="http://schemas.openxmlformats.org/officeDocument/2006/relationships/tags" Target="../tags/tag1752.xml"/><Relationship Id="rId49" Type="http://schemas.openxmlformats.org/officeDocument/2006/relationships/image" Target="../media/image36.png"/><Relationship Id="rId48" Type="http://schemas.openxmlformats.org/officeDocument/2006/relationships/tags" Target="../tags/tag1795.xml"/><Relationship Id="rId47" Type="http://schemas.openxmlformats.org/officeDocument/2006/relationships/tags" Target="../tags/tag1794.xml"/><Relationship Id="rId46" Type="http://schemas.openxmlformats.org/officeDocument/2006/relationships/tags" Target="../tags/tag1793.xml"/><Relationship Id="rId45" Type="http://schemas.openxmlformats.org/officeDocument/2006/relationships/tags" Target="../tags/tag1792.xml"/><Relationship Id="rId44" Type="http://schemas.openxmlformats.org/officeDocument/2006/relationships/tags" Target="../tags/tag1791.xml"/><Relationship Id="rId43" Type="http://schemas.openxmlformats.org/officeDocument/2006/relationships/tags" Target="../tags/tag1790.xml"/><Relationship Id="rId42" Type="http://schemas.openxmlformats.org/officeDocument/2006/relationships/tags" Target="../tags/tag1789.xml"/><Relationship Id="rId41" Type="http://schemas.openxmlformats.org/officeDocument/2006/relationships/tags" Target="../tags/tag1788.xml"/><Relationship Id="rId40" Type="http://schemas.openxmlformats.org/officeDocument/2006/relationships/tags" Target="../tags/tag1787.xml"/><Relationship Id="rId4" Type="http://schemas.openxmlformats.org/officeDocument/2006/relationships/tags" Target="../tags/tag1751.xml"/><Relationship Id="rId39" Type="http://schemas.openxmlformats.org/officeDocument/2006/relationships/tags" Target="../tags/tag1786.xml"/><Relationship Id="rId38" Type="http://schemas.openxmlformats.org/officeDocument/2006/relationships/tags" Target="../tags/tag1785.xml"/><Relationship Id="rId37" Type="http://schemas.openxmlformats.org/officeDocument/2006/relationships/tags" Target="../tags/tag1784.xml"/><Relationship Id="rId36" Type="http://schemas.openxmlformats.org/officeDocument/2006/relationships/tags" Target="../tags/tag1783.xml"/><Relationship Id="rId35" Type="http://schemas.openxmlformats.org/officeDocument/2006/relationships/tags" Target="../tags/tag1782.xml"/><Relationship Id="rId34" Type="http://schemas.openxmlformats.org/officeDocument/2006/relationships/tags" Target="../tags/tag1781.xml"/><Relationship Id="rId33" Type="http://schemas.openxmlformats.org/officeDocument/2006/relationships/tags" Target="../tags/tag1780.xml"/><Relationship Id="rId32" Type="http://schemas.openxmlformats.org/officeDocument/2006/relationships/tags" Target="../tags/tag1779.xml"/><Relationship Id="rId31" Type="http://schemas.openxmlformats.org/officeDocument/2006/relationships/tags" Target="../tags/tag1778.xml"/><Relationship Id="rId30" Type="http://schemas.openxmlformats.org/officeDocument/2006/relationships/tags" Target="../tags/tag1777.xml"/><Relationship Id="rId3" Type="http://schemas.openxmlformats.org/officeDocument/2006/relationships/tags" Target="../tags/tag1750.xml"/><Relationship Id="rId29" Type="http://schemas.openxmlformats.org/officeDocument/2006/relationships/tags" Target="../tags/tag1776.xml"/><Relationship Id="rId28" Type="http://schemas.openxmlformats.org/officeDocument/2006/relationships/tags" Target="../tags/tag1775.xml"/><Relationship Id="rId27" Type="http://schemas.openxmlformats.org/officeDocument/2006/relationships/tags" Target="../tags/tag1774.xml"/><Relationship Id="rId26" Type="http://schemas.openxmlformats.org/officeDocument/2006/relationships/tags" Target="../tags/tag1773.xml"/><Relationship Id="rId25" Type="http://schemas.openxmlformats.org/officeDocument/2006/relationships/tags" Target="../tags/tag1772.xml"/><Relationship Id="rId24" Type="http://schemas.openxmlformats.org/officeDocument/2006/relationships/tags" Target="../tags/tag1771.xml"/><Relationship Id="rId23" Type="http://schemas.openxmlformats.org/officeDocument/2006/relationships/tags" Target="../tags/tag1770.xml"/><Relationship Id="rId22" Type="http://schemas.openxmlformats.org/officeDocument/2006/relationships/tags" Target="../tags/tag1769.xml"/><Relationship Id="rId21" Type="http://schemas.openxmlformats.org/officeDocument/2006/relationships/tags" Target="../tags/tag1768.xml"/><Relationship Id="rId20" Type="http://schemas.openxmlformats.org/officeDocument/2006/relationships/tags" Target="../tags/tag1767.xml"/><Relationship Id="rId2" Type="http://schemas.openxmlformats.org/officeDocument/2006/relationships/image" Target="../media/image929.svg"/><Relationship Id="rId19" Type="http://schemas.openxmlformats.org/officeDocument/2006/relationships/tags" Target="../tags/tag1766.xml"/><Relationship Id="rId18" Type="http://schemas.openxmlformats.org/officeDocument/2006/relationships/tags" Target="../tags/tag1765.xml"/><Relationship Id="rId17" Type="http://schemas.openxmlformats.org/officeDocument/2006/relationships/tags" Target="../tags/tag1764.xml"/><Relationship Id="rId16" Type="http://schemas.openxmlformats.org/officeDocument/2006/relationships/tags" Target="../tags/tag1763.xml"/><Relationship Id="rId15" Type="http://schemas.openxmlformats.org/officeDocument/2006/relationships/tags" Target="../tags/tag1762.xml"/><Relationship Id="rId14" Type="http://schemas.openxmlformats.org/officeDocument/2006/relationships/tags" Target="../tags/tag1761.xml"/><Relationship Id="rId13" Type="http://schemas.openxmlformats.org/officeDocument/2006/relationships/tags" Target="../tags/tag1760.xml"/><Relationship Id="rId12" Type="http://schemas.openxmlformats.org/officeDocument/2006/relationships/tags" Target="../tags/tag1759.xml"/><Relationship Id="rId11" Type="http://schemas.openxmlformats.org/officeDocument/2006/relationships/tags" Target="../tags/tag1758.xml"/><Relationship Id="rId10" Type="http://schemas.openxmlformats.org/officeDocument/2006/relationships/tags" Target="../tags/tag1757.xml"/><Relationship Id="rId1" Type="http://schemas.openxmlformats.org/officeDocument/2006/relationships/image" Target="../media/image21.png"/></Relationships>
</file>

<file path=ppt/slides/_rels/slide15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721.svg"/><Relationship Id="rId1" Type="http://schemas.openxmlformats.org/officeDocument/2006/relationships/image" Target="../media/image21.png"/></Relationships>
</file>

<file path=ppt/slides/_rels/slide154.xml.rels><?xml version="1.0" encoding="UTF-8" standalone="yes"?>
<Relationships xmlns="http://schemas.openxmlformats.org/package/2006/relationships"><Relationship Id="rId5" Type="http://schemas.openxmlformats.org/officeDocument/2006/relationships/slideLayout" Target="../slideLayouts/slideLayout12.xml"/><Relationship Id="rId4" Type="http://schemas.openxmlformats.org/officeDocument/2006/relationships/image" Target="../media/image36.png"/><Relationship Id="rId3" Type="http://schemas.openxmlformats.org/officeDocument/2006/relationships/tags" Target="../tags/tag1796.xml"/><Relationship Id="rId2" Type="http://schemas.openxmlformats.org/officeDocument/2006/relationships/image" Target="../media/image930.svg"/><Relationship Id="rId1" Type="http://schemas.openxmlformats.org/officeDocument/2006/relationships/image" Target="../media/image21.png"/></Relationships>
</file>

<file path=ppt/slides/_rels/slide15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31.svg"/><Relationship Id="rId1" Type="http://schemas.openxmlformats.org/officeDocument/2006/relationships/image" Target="../media/image21.png"/></Relationships>
</file>

<file path=ppt/slides/_rels/slide156.xml.rels><?xml version="1.0" encoding="UTF-8" standalone="yes"?>
<Relationships xmlns="http://schemas.openxmlformats.org/package/2006/relationships"><Relationship Id="rId6" Type="http://schemas.openxmlformats.org/officeDocument/2006/relationships/slideLayout" Target="../slideLayouts/slideLayout12.xml"/><Relationship Id="rId5" Type="http://schemas.openxmlformats.org/officeDocument/2006/relationships/image" Target="../media/image36.png"/><Relationship Id="rId4" Type="http://schemas.openxmlformats.org/officeDocument/2006/relationships/image" Target="../media/image934.svg"/><Relationship Id="rId3" Type="http://schemas.openxmlformats.org/officeDocument/2006/relationships/image" Target="../media/image933.png"/><Relationship Id="rId2" Type="http://schemas.openxmlformats.org/officeDocument/2006/relationships/image" Target="../media/image932.svg"/><Relationship Id="rId1" Type="http://schemas.openxmlformats.org/officeDocument/2006/relationships/image" Target="../media/image21.png"/></Relationships>
</file>

<file path=ppt/slides/_rels/slide157.xml.rels><?xml version="1.0" encoding="UTF-8" standalone="yes"?>
<Relationships xmlns="http://schemas.openxmlformats.org/package/2006/relationships"><Relationship Id="rId9" Type="http://schemas.openxmlformats.org/officeDocument/2006/relationships/tags" Target="../tags/tag1804.xml"/><Relationship Id="rId8" Type="http://schemas.openxmlformats.org/officeDocument/2006/relationships/tags" Target="../tags/tag1803.xml"/><Relationship Id="rId7" Type="http://schemas.openxmlformats.org/officeDocument/2006/relationships/tags" Target="../tags/tag1802.xml"/><Relationship Id="rId6" Type="http://schemas.openxmlformats.org/officeDocument/2006/relationships/tags" Target="../tags/tag1801.xml"/><Relationship Id="rId5" Type="http://schemas.openxmlformats.org/officeDocument/2006/relationships/tags" Target="../tags/tag1800.xml"/><Relationship Id="rId4" Type="http://schemas.openxmlformats.org/officeDocument/2006/relationships/tags" Target="../tags/tag1799.xml"/><Relationship Id="rId37" Type="http://schemas.openxmlformats.org/officeDocument/2006/relationships/slideLayout" Target="../slideLayouts/slideLayout9.xml"/><Relationship Id="rId36" Type="http://schemas.openxmlformats.org/officeDocument/2006/relationships/tags" Target="../tags/tag1831.xml"/><Relationship Id="rId35" Type="http://schemas.openxmlformats.org/officeDocument/2006/relationships/tags" Target="../tags/tag1830.xml"/><Relationship Id="rId34" Type="http://schemas.openxmlformats.org/officeDocument/2006/relationships/tags" Target="../tags/tag1829.xml"/><Relationship Id="rId33" Type="http://schemas.openxmlformats.org/officeDocument/2006/relationships/tags" Target="../tags/tag1828.xml"/><Relationship Id="rId32" Type="http://schemas.openxmlformats.org/officeDocument/2006/relationships/tags" Target="../tags/tag1827.xml"/><Relationship Id="rId31" Type="http://schemas.openxmlformats.org/officeDocument/2006/relationships/tags" Target="../tags/tag1826.xml"/><Relationship Id="rId30" Type="http://schemas.openxmlformats.org/officeDocument/2006/relationships/tags" Target="../tags/tag1825.xml"/><Relationship Id="rId3" Type="http://schemas.openxmlformats.org/officeDocument/2006/relationships/tags" Target="../tags/tag1798.xml"/><Relationship Id="rId29" Type="http://schemas.openxmlformats.org/officeDocument/2006/relationships/tags" Target="../tags/tag1824.xml"/><Relationship Id="rId28" Type="http://schemas.openxmlformats.org/officeDocument/2006/relationships/tags" Target="../tags/tag1823.xml"/><Relationship Id="rId27" Type="http://schemas.openxmlformats.org/officeDocument/2006/relationships/tags" Target="../tags/tag1822.xml"/><Relationship Id="rId26" Type="http://schemas.openxmlformats.org/officeDocument/2006/relationships/tags" Target="../tags/tag1821.xml"/><Relationship Id="rId25" Type="http://schemas.openxmlformats.org/officeDocument/2006/relationships/tags" Target="../tags/tag1820.xml"/><Relationship Id="rId24" Type="http://schemas.openxmlformats.org/officeDocument/2006/relationships/tags" Target="../tags/tag1819.xml"/><Relationship Id="rId23" Type="http://schemas.openxmlformats.org/officeDocument/2006/relationships/tags" Target="../tags/tag1818.xml"/><Relationship Id="rId22" Type="http://schemas.openxmlformats.org/officeDocument/2006/relationships/tags" Target="../tags/tag1817.xml"/><Relationship Id="rId21" Type="http://schemas.openxmlformats.org/officeDocument/2006/relationships/tags" Target="../tags/tag1816.xml"/><Relationship Id="rId20" Type="http://schemas.openxmlformats.org/officeDocument/2006/relationships/tags" Target="../tags/tag1815.xml"/><Relationship Id="rId2" Type="http://schemas.openxmlformats.org/officeDocument/2006/relationships/tags" Target="../tags/tag1797.xml"/><Relationship Id="rId19" Type="http://schemas.openxmlformats.org/officeDocument/2006/relationships/tags" Target="../tags/tag1814.xml"/><Relationship Id="rId18" Type="http://schemas.openxmlformats.org/officeDocument/2006/relationships/tags" Target="../tags/tag1813.xml"/><Relationship Id="rId17" Type="http://schemas.openxmlformats.org/officeDocument/2006/relationships/tags" Target="../tags/tag1812.xml"/><Relationship Id="rId16" Type="http://schemas.openxmlformats.org/officeDocument/2006/relationships/tags" Target="../tags/tag1811.xml"/><Relationship Id="rId15" Type="http://schemas.openxmlformats.org/officeDocument/2006/relationships/tags" Target="../tags/tag1810.xml"/><Relationship Id="rId14" Type="http://schemas.openxmlformats.org/officeDocument/2006/relationships/tags" Target="../tags/tag1809.xml"/><Relationship Id="rId13" Type="http://schemas.openxmlformats.org/officeDocument/2006/relationships/tags" Target="../tags/tag1808.xml"/><Relationship Id="rId12" Type="http://schemas.openxmlformats.org/officeDocument/2006/relationships/tags" Target="../tags/tag1807.xml"/><Relationship Id="rId11" Type="http://schemas.openxmlformats.org/officeDocument/2006/relationships/tags" Target="../tags/tag1806.xml"/><Relationship Id="rId10" Type="http://schemas.openxmlformats.org/officeDocument/2006/relationships/tags" Target="../tags/tag1805.xml"/><Relationship Id="rId1" Type="http://schemas.openxmlformats.org/officeDocument/2006/relationships/image" Target="../media/image18.jpeg"/></Relationships>
</file>

<file path=ppt/slides/_rels/slide158.xml.rels><?xml version="1.0" encoding="UTF-8" standalone="yes"?>
<Relationships xmlns="http://schemas.openxmlformats.org/package/2006/relationships"><Relationship Id="rId9" Type="http://schemas.openxmlformats.org/officeDocument/2006/relationships/image" Target="../media/image942.png"/><Relationship Id="rId8" Type="http://schemas.openxmlformats.org/officeDocument/2006/relationships/image" Target="../media/image941.svg"/><Relationship Id="rId7" Type="http://schemas.openxmlformats.org/officeDocument/2006/relationships/image" Target="../media/image940.png"/><Relationship Id="rId6" Type="http://schemas.openxmlformats.org/officeDocument/2006/relationships/image" Target="../media/image939.svg"/><Relationship Id="rId5" Type="http://schemas.openxmlformats.org/officeDocument/2006/relationships/image" Target="../media/image938.png"/><Relationship Id="rId4" Type="http://schemas.openxmlformats.org/officeDocument/2006/relationships/image" Target="../media/image937.svg"/><Relationship Id="rId33" Type="http://schemas.openxmlformats.org/officeDocument/2006/relationships/notesSlide" Target="../notesSlides/notesSlide58.xml"/><Relationship Id="rId32" Type="http://schemas.openxmlformats.org/officeDocument/2006/relationships/slideLayout" Target="../slideLayouts/slideLayout12.xml"/><Relationship Id="rId31" Type="http://schemas.openxmlformats.org/officeDocument/2006/relationships/image" Target="../media/image36.png"/><Relationship Id="rId30" Type="http://schemas.openxmlformats.org/officeDocument/2006/relationships/image" Target="../media/image963.svg"/><Relationship Id="rId3" Type="http://schemas.openxmlformats.org/officeDocument/2006/relationships/image" Target="../media/image936.png"/><Relationship Id="rId29" Type="http://schemas.openxmlformats.org/officeDocument/2006/relationships/image" Target="../media/image962.png"/><Relationship Id="rId28" Type="http://schemas.openxmlformats.org/officeDocument/2006/relationships/image" Target="../media/image961.svg"/><Relationship Id="rId27" Type="http://schemas.openxmlformats.org/officeDocument/2006/relationships/image" Target="../media/image960.png"/><Relationship Id="rId26" Type="http://schemas.openxmlformats.org/officeDocument/2006/relationships/image" Target="../media/image959.svg"/><Relationship Id="rId25" Type="http://schemas.openxmlformats.org/officeDocument/2006/relationships/image" Target="../media/image958.png"/><Relationship Id="rId24" Type="http://schemas.openxmlformats.org/officeDocument/2006/relationships/image" Target="../media/image957.svg"/><Relationship Id="rId23" Type="http://schemas.openxmlformats.org/officeDocument/2006/relationships/image" Target="../media/image956.png"/><Relationship Id="rId22" Type="http://schemas.openxmlformats.org/officeDocument/2006/relationships/image" Target="../media/image955.svg"/><Relationship Id="rId21" Type="http://schemas.openxmlformats.org/officeDocument/2006/relationships/image" Target="../media/image954.png"/><Relationship Id="rId20" Type="http://schemas.openxmlformats.org/officeDocument/2006/relationships/image" Target="../media/image953.svg"/><Relationship Id="rId2" Type="http://schemas.openxmlformats.org/officeDocument/2006/relationships/image" Target="../media/image935.svg"/><Relationship Id="rId19" Type="http://schemas.openxmlformats.org/officeDocument/2006/relationships/image" Target="../media/image952.png"/><Relationship Id="rId18" Type="http://schemas.openxmlformats.org/officeDocument/2006/relationships/image" Target="../media/image951.svg"/><Relationship Id="rId17" Type="http://schemas.openxmlformats.org/officeDocument/2006/relationships/image" Target="../media/image950.png"/><Relationship Id="rId16" Type="http://schemas.openxmlformats.org/officeDocument/2006/relationships/image" Target="../media/image949.svg"/><Relationship Id="rId15" Type="http://schemas.openxmlformats.org/officeDocument/2006/relationships/image" Target="../media/image948.png"/><Relationship Id="rId14" Type="http://schemas.openxmlformats.org/officeDocument/2006/relationships/image" Target="../media/image947.svg"/><Relationship Id="rId13" Type="http://schemas.openxmlformats.org/officeDocument/2006/relationships/image" Target="../media/image946.png"/><Relationship Id="rId12" Type="http://schemas.openxmlformats.org/officeDocument/2006/relationships/image" Target="../media/image945.svg"/><Relationship Id="rId11" Type="http://schemas.openxmlformats.org/officeDocument/2006/relationships/image" Target="../media/image944.png"/><Relationship Id="rId10" Type="http://schemas.openxmlformats.org/officeDocument/2006/relationships/image" Target="../media/image943.svg"/><Relationship Id="rId1" Type="http://schemas.openxmlformats.org/officeDocument/2006/relationships/image" Target="../media/image21.png"/></Relationships>
</file>

<file path=ppt/slides/_rels/slide159.xml.rels><?xml version="1.0" encoding="UTF-8" standalone="yes"?>
<Relationships xmlns="http://schemas.openxmlformats.org/package/2006/relationships"><Relationship Id="rId9" Type="http://schemas.openxmlformats.org/officeDocument/2006/relationships/image" Target="../media/image971.png"/><Relationship Id="rId8" Type="http://schemas.openxmlformats.org/officeDocument/2006/relationships/image" Target="../media/image970.svg"/><Relationship Id="rId7" Type="http://schemas.openxmlformats.org/officeDocument/2006/relationships/image" Target="../media/image969.png"/><Relationship Id="rId6" Type="http://schemas.openxmlformats.org/officeDocument/2006/relationships/image" Target="../media/image968.svg"/><Relationship Id="rId5" Type="http://schemas.openxmlformats.org/officeDocument/2006/relationships/image" Target="../media/image967.png"/><Relationship Id="rId4" Type="http://schemas.openxmlformats.org/officeDocument/2006/relationships/image" Target="../media/image966.svg"/><Relationship Id="rId3" Type="http://schemas.openxmlformats.org/officeDocument/2006/relationships/image" Target="../media/image965.png"/><Relationship Id="rId2" Type="http://schemas.openxmlformats.org/officeDocument/2006/relationships/image" Target="../media/image964.svg"/><Relationship Id="rId13" Type="http://schemas.openxmlformats.org/officeDocument/2006/relationships/notesSlide" Target="../notesSlides/notesSlide59.xml"/><Relationship Id="rId12" Type="http://schemas.openxmlformats.org/officeDocument/2006/relationships/slideLayout" Target="../slideLayouts/slideLayout12.xml"/><Relationship Id="rId11" Type="http://schemas.openxmlformats.org/officeDocument/2006/relationships/image" Target="../media/image36.png"/><Relationship Id="rId10" Type="http://schemas.openxmlformats.org/officeDocument/2006/relationships/image" Target="../media/image972.svg"/><Relationship Id="rId1" Type="http://schemas.openxmlformats.org/officeDocument/2006/relationships/image" Target="../media/image21.png"/></Relationships>
</file>

<file path=ppt/slides/_rels/slide16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73.svg"/><Relationship Id="rId1" Type="http://schemas.openxmlformats.org/officeDocument/2006/relationships/image" Target="../media/image21.png"/></Relationships>
</file>

<file path=ppt/slides/_rels/slide16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74.svg"/><Relationship Id="rId1" Type="http://schemas.openxmlformats.org/officeDocument/2006/relationships/image" Target="../media/image21.png"/></Relationships>
</file>

<file path=ppt/slides/_rels/slide162.xml.rels><?xml version="1.0" encoding="UTF-8" standalone="yes"?>
<Relationships xmlns="http://schemas.openxmlformats.org/package/2006/relationships"><Relationship Id="rId9" Type="http://schemas.openxmlformats.org/officeDocument/2006/relationships/tags" Target="../tags/tag1838.xml"/><Relationship Id="rId8" Type="http://schemas.openxmlformats.org/officeDocument/2006/relationships/tags" Target="../tags/tag1837.xml"/><Relationship Id="rId7" Type="http://schemas.openxmlformats.org/officeDocument/2006/relationships/tags" Target="../tags/tag1836.xml"/><Relationship Id="rId6" Type="http://schemas.openxmlformats.org/officeDocument/2006/relationships/tags" Target="../tags/tag1835.xml"/><Relationship Id="rId5" Type="http://schemas.openxmlformats.org/officeDocument/2006/relationships/tags" Target="../tags/tag1834.xml"/><Relationship Id="rId45" Type="http://schemas.openxmlformats.org/officeDocument/2006/relationships/slideLayout" Target="../slideLayouts/slideLayout12.xml"/><Relationship Id="rId44" Type="http://schemas.openxmlformats.org/officeDocument/2006/relationships/image" Target="../media/image36.png"/><Relationship Id="rId43" Type="http://schemas.openxmlformats.org/officeDocument/2006/relationships/tags" Target="../tags/tag1872.xml"/><Relationship Id="rId42" Type="http://schemas.openxmlformats.org/officeDocument/2006/relationships/tags" Target="../tags/tag1871.xml"/><Relationship Id="rId41" Type="http://schemas.openxmlformats.org/officeDocument/2006/relationships/tags" Target="../tags/tag1870.xml"/><Relationship Id="rId40" Type="http://schemas.openxmlformats.org/officeDocument/2006/relationships/tags" Target="../tags/tag1869.xml"/><Relationship Id="rId4" Type="http://schemas.openxmlformats.org/officeDocument/2006/relationships/tags" Target="../tags/tag1833.xml"/><Relationship Id="rId39" Type="http://schemas.openxmlformats.org/officeDocument/2006/relationships/tags" Target="../tags/tag1868.xml"/><Relationship Id="rId38" Type="http://schemas.openxmlformats.org/officeDocument/2006/relationships/tags" Target="../tags/tag1867.xml"/><Relationship Id="rId37" Type="http://schemas.openxmlformats.org/officeDocument/2006/relationships/tags" Target="../tags/tag1866.xml"/><Relationship Id="rId36" Type="http://schemas.openxmlformats.org/officeDocument/2006/relationships/tags" Target="../tags/tag1865.xml"/><Relationship Id="rId35" Type="http://schemas.openxmlformats.org/officeDocument/2006/relationships/tags" Target="../tags/tag1864.xml"/><Relationship Id="rId34" Type="http://schemas.openxmlformats.org/officeDocument/2006/relationships/tags" Target="../tags/tag1863.xml"/><Relationship Id="rId33" Type="http://schemas.openxmlformats.org/officeDocument/2006/relationships/tags" Target="../tags/tag1862.xml"/><Relationship Id="rId32" Type="http://schemas.openxmlformats.org/officeDocument/2006/relationships/tags" Target="../tags/tag1861.xml"/><Relationship Id="rId31" Type="http://schemas.openxmlformats.org/officeDocument/2006/relationships/tags" Target="../tags/tag1860.xml"/><Relationship Id="rId30" Type="http://schemas.openxmlformats.org/officeDocument/2006/relationships/tags" Target="../tags/tag1859.xml"/><Relationship Id="rId3" Type="http://schemas.openxmlformats.org/officeDocument/2006/relationships/tags" Target="../tags/tag1832.xml"/><Relationship Id="rId29" Type="http://schemas.openxmlformats.org/officeDocument/2006/relationships/tags" Target="../tags/tag1858.xml"/><Relationship Id="rId28" Type="http://schemas.openxmlformats.org/officeDocument/2006/relationships/tags" Target="../tags/tag1857.xml"/><Relationship Id="rId27" Type="http://schemas.openxmlformats.org/officeDocument/2006/relationships/tags" Target="../tags/tag1856.xml"/><Relationship Id="rId26" Type="http://schemas.openxmlformats.org/officeDocument/2006/relationships/tags" Target="../tags/tag1855.xml"/><Relationship Id="rId25" Type="http://schemas.openxmlformats.org/officeDocument/2006/relationships/tags" Target="../tags/tag1854.xml"/><Relationship Id="rId24" Type="http://schemas.openxmlformats.org/officeDocument/2006/relationships/tags" Target="../tags/tag1853.xml"/><Relationship Id="rId23" Type="http://schemas.openxmlformats.org/officeDocument/2006/relationships/tags" Target="../tags/tag1852.xml"/><Relationship Id="rId22" Type="http://schemas.openxmlformats.org/officeDocument/2006/relationships/tags" Target="../tags/tag1851.xml"/><Relationship Id="rId21" Type="http://schemas.openxmlformats.org/officeDocument/2006/relationships/tags" Target="../tags/tag1850.xml"/><Relationship Id="rId20" Type="http://schemas.openxmlformats.org/officeDocument/2006/relationships/tags" Target="../tags/tag1849.xml"/><Relationship Id="rId2" Type="http://schemas.openxmlformats.org/officeDocument/2006/relationships/image" Target="../media/image975.svg"/><Relationship Id="rId19" Type="http://schemas.openxmlformats.org/officeDocument/2006/relationships/tags" Target="../tags/tag1848.xml"/><Relationship Id="rId18" Type="http://schemas.openxmlformats.org/officeDocument/2006/relationships/tags" Target="../tags/tag1847.xml"/><Relationship Id="rId17" Type="http://schemas.openxmlformats.org/officeDocument/2006/relationships/tags" Target="../tags/tag1846.xml"/><Relationship Id="rId16" Type="http://schemas.openxmlformats.org/officeDocument/2006/relationships/tags" Target="../tags/tag1845.xml"/><Relationship Id="rId15" Type="http://schemas.openxmlformats.org/officeDocument/2006/relationships/tags" Target="../tags/tag1844.xml"/><Relationship Id="rId14" Type="http://schemas.openxmlformats.org/officeDocument/2006/relationships/tags" Target="../tags/tag1843.xml"/><Relationship Id="rId13" Type="http://schemas.openxmlformats.org/officeDocument/2006/relationships/tags" Target="../tags/tag1842.xml"/><Relationship Id="rId12" Type="http://schemas.openxmlformats.org/officeDocument/2006/relationships/tags" Target="../tags/tag1841.xml"/><Relationship Id="rId11" Type="http://schemas.openxmlformats.org/officeDocument/2006/relationships/tags" Target="../tags/tag1840.xml"/><Relationship Id="rId10" Type="http://schemas.openxmlformats.org/officeDocument/2006/relationships/tags" Target="../tags/tag1839.xml"/><Relationship Id="rId1" Type="http://schemas.openxmlformats.org/officeDocument/2006/relationships/image" Target="../media/image21.png"/></Relationships>
</file>

<file path=ppt/slides/_rels/slide163.xml.rels><?xml version="1.0" encoding="UTF-8" standalone="yes"?>
<Relationships xmlns="http://schemas.openxmlformats.org/package/2006/relationships"><Relationship Id="rId6" Type="http://schemas.openxmlformats.org/officeDocument/2006/relationships/slideLayout" Target="../slideLayouts/slideLayout12.xml"/><Relationship Id="rId5" Type="http://schemas.openxmlformats.org/officeDocument/2006/relationships/image" Target="../media/image36.png"/><Relationship Id="rId4" Type="http://schemas.openxmlformats.org/officeDocument/2006/relationships/image" Target="../media/image977.svg"/><Relationship Id="rId3" Type="http://schemas.openxmlformats.org/officeDocument/2006/relationships/image" Target="../media/image976.png"/><Relationship Id="rId2" Type="http://schemas.openxmlformats.org/officeDocument/2006/relationships/image" Target="../media/image935.svg"/><Relationship Id="rId1" Type="http://schemas.openxmlformats.org/officeDocument/2006/relationships/image" Target="../media/image21.png"/></Relationships>
</file>

<file path=ppt/slides/_rels/slide164.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79.svg"/><Relationship Id="rId1" Type="http://schemas.openxmlformats.org/officeDocument/2006/relationships/image" Target="../media/image978.png"/></Relationships>
</file>

<file path=ppt/slides/_rels/slide16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35.svg"/><Relationship Id="rId1" Type="http://schemas.openxmlformats.org/officeDocument/2006/relationships/image" Target="../media/image21.png"/></Relationships>
</file>

<file path=ppt/slides/_rels/slide166.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80.svg"/><Relationship Id="rId1" Type="http://schemas.openxmlformats.org/officeDocument/2006/relationships/image" Target="../media/image21.png"/></Relationships>
</file>

<file path=ppt/slides/_rels/slide16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81.svg"/><Relationship Id="rId1" Type="http://schemas.openxmlformats.org/officeDocument/2006/relationships/image" Target="../media/image21.png"/></Relationships>
</file>

<file path=ppt/slides/_rels/slide168.xml.rels><?xml version="1.0" encoding="UTF-8" standalone="yes"?>
<Relationships xmlns="http://schemas.openxmlformats.org/package/2006/relationships"><Relationship Id="rId9" Type="http://schemas.openxmlformats.org/officeDocument/2006/relationships/image" Target="../media/image36.png"/><Relationship Id="rId8" Type="http://schemas.openxmlformats.org/officeDocument/2006/relationships/image" Target="../media/image985.png"/><Relationship Id="rId7" Type="http://schemas.openxmlformats.org/officeDocument/2006/relationships/image" Target="../media/image984.svg"/><Relationship Id="rId6" Type="http://schemas.openxmlformats.org/officeDocument/2006/relationships/image" Target="../media/image983.png"/><Relationship Id="rId5" Type="http://schemas.openxmlformats.org/officeDocument/2006/relationships/tags" Target="../tags/tag1874.xml"/><Relationship Id="rId4" Type="http://schemas.openxmlformats.org/officeDocument/2006/relationships/image" Target="../media/image353.png"/><Relationship Id="rId3" Type="http://schemas.openxmlformats.org/officeDocument/2006/relationships/tags" Target="../tags/tag1873.xml"/><Relationship Id="rId2" Type="http://schemas.openxmlformats.org/officeDocument/2006/relationships/image" Target="../media/image982.svg"/><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169.xml.rels><?xml version="1.0" encoding="UTF-8" standalone="yes"?>
<Relationships xmlns="http://schemas.openxmlformats.org/package/2006/relationships"><Relationship Id="rId9" Type="http://schemas.openxmlformats.org/officeDocument/2006/relationships/tags" Target="../tags/tag1881.xml"/><Relationship Id="rId8" Type="http://schemas.openxmlformats.org/officeDocument/2006/relationships/tags" Target="../tags/tag1880.xml"/><Relationship Id="rId7" Type="http://schemas.openxmlformats.org/officeDocument/2006/relationships/tags" Target="../tags/tag1879.xml"/><Relationship Id="rId6" Type="http://schemas.openxmlformats.org/officeDocument/2006/relationships/tags" Target="../tags/tag1878.xml"/><Relationship Id="rId5" Type="http://schemas.openxmlformats.org/officeDocument/2006/relationships/tags" Target="../tags/tag1877.xml"/><Relationship Id="rId4" Type="http://schemas.openxmlformats.org/officeDocument/2006/relationships/tags" Target="../tags/tag1876.xml"/><Relationship Id="rId3" Type="http://schemas.openxmlformats.org/officeDocument/2006/relationships/tags" Target="../tags/tag1875.xml"/><Relationship Id="rId2" Type="http://schemas.openxmlformats.org/officeDocument/2006/relationships/image" Target="../media/image986.svg"/><Relationship Id="rId17" Type="http://schemas.openxmlformats.org/officeDocument/2006/relationships/slideLayout" Target="../slideLayouts/slideLayout12.xml"/><Relationship Id="rId16" Type="http://schemas.openxmlformats.org/officeDocument/2006/relationships/image" Target="../media/image36.png"/><Relationship Id="rId15" Type="http://schemas.openxmlformats.org/officeDocument/2006/relationships/image" Target="../media/image990.svg"/><Relationship Id="rId14" Type="http://schemas.openxmlformats.org/officeDocument/2006/relationships/image" Target="../media/image989.svg"/><Relationship Id="rId13" Type="http://schemas.openxmlformats.org/officeDocument/2006/relationships/image" Target="../media/image988.svg"/><Relationship Id="rId12" Type="http://schemas.openxmlformats.org/officeDocument/2006/relationships/image" Target="../media/image987.png"/><Relationship Id="rId11" Type="http://schemas.openxmlformats.org/officeDocument/2006/relationships/tags" Target="../tags/tag1883.xml"/><Relationship Id="rId10" Type="http://schemas.openxmlformats.org/officeDocument/2006/relationships/tags" Target="../tags/tag1882.xml"/><Relationship Id="rId1" Type="http://schemas.openxmlformats.org/officeDocument/2006/relationships/image" Target="../media/image21.png"/></Relationships>
</file>

<file path=ppt/slides/_rels/slide170.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tags" Target="../tags/tag1887.xml"/><Relationship Id="rId5" Type="http://schemas.openxmlformats.org/officeDocument/2006/relationships/tags" Target="../tags/tag1886.xml"/><Relationship Id="rId4" Type="http://schemas.openxmlformats.org/officeDocument/2006/relationships/tags" Target="../tags/tag1885.xml"/><Relationship Id="rId3" Type="http://schemas.openxmlformats.org/officeDocument/2006/relationships/tags" Target="../tags/tag1884.xml"/><Relationship Id="rId2" Type="http://schemas.openxmlformats.org/officeDocument/2006/relationships/image" Target="../media/image991.svg"/><Relationship Id="rId1" Type="http://schemas.openxmlformats.org/officeDocument/2006/relationships/image" Target="../media/image21.png"/></Relationships>
</file>

<file path=ppt/slides/_rels/slide17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92.svg"/><Relationship Id="rId1" Type="http://schemas.openxmlformats.org/officeDocument/2006/relationships/image" Target="../media/image21.png"/></Relationships>
</file>

<file path=ppt/slides/_rels/slide17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93.svg"/><Relationship Id="rId1" Type="http://schemas.openxmlformats.org/officeDocument/2006/relationships/image" Target="../media/image21.png"/></Relationships>
</file>

<file path=ppt/slides/_rels/slide17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991.svg"/><Relationship Id="rId1" Type="http://schemas.openxmlformats.org/officeDocument/2006/relationships/image" Target="../media/image21.png"/></Relationships>
</file>

<file path=ppt/slides/_rels/slide174.xml.rels><?xml version="1.0" encoding="UTF-8" standalone="yes"?>
<Relationships xmlns="http://schemas.openxmlformats.org/package/2006/relationships"><Relationship Id="rId9" Type="http://schemas.openxmlformats.org/officeDocument/2006/relationships/image" Target="../media/image1001.svg"/><Relationship Id="rId8" Type="http://schemas.openxmlformats.org/officeDocument/2006/relationships/image" Target="../media/image1000.png"/><Relationship Id="rId7" Type="http://schemas.openxmlformats.org/officeDocument/2006/relationships/image" Target="../media/image999.svg"/><Relationship Id="rId6" Type="http://schemas.openxmlformats.org/officeDocument/2006/relationships/image" Target="../media/image998.png"/><Relationship Id="rId5" Type="http://schemas.openxmlformats.org/officeDocument/2006/relationships/image" Target="../media/image997.svg"/><Relationship Id="rId4" Type="http://schemas.openxmlformats.org/officeDocument/2006/relationships/image" Target="../media/image996.png"/><Relationship Id="rId3" Type="http://schemas.openxmlformats.org/officeDocument/2006/relationships/image" Target="../media/image995.svg"/><Relationship Id="rId2" Type="http://schemas.openxmlformats.org/officeDocument/2006/relationships/image" Target="../media/image994.png"/><Relationship Id="rId13" Type="http://schemas.openxmlformats.org/officeDocument/2006/relationships/slideLayout" Target="../slideLayouts/slideLayout12.xml"/><Relationship Id="rId12" Type="http://schemas.openxmlformats.org/officeDocument/2006/relationships/image" Target="../media/image36.png"/><Relationship Id="rId11" Type="http://schemas.openxmlformats.org/officeDocument/2006/relationships/image" Target="../media/image991.svg"/><Relationship Id="rId10" Type="http://schemas.openxmlformats.org/officeDocument/2006/relationships/image" Target="../media/image21.png"/><Relationship Id="rId1" Type="http://schemas.openxmlformats.org/officeDocument/2006/relationships/tags" Target="../tags/tag1888.xml"/></Relationships>
</file>

<file path=ppt/slides/_rels/slide17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02.svg"/><Relationship Id="rId1" Type="http://schemas.openxmlformats.org/officeDocument/2006/relationships/image" Target="../media/image978.png"/></Relationships>
</file>

<file path=ppt/slides/_rels/slide176.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03.svg"/><Relationship Id="rId1" Type="http://schemas.openxmlformats.org/officeDocument/2006/relationships/image" Target="../media/image21.png"/></Relationships>
</file>

<file path=ppt/slides/_rels/slide177.xml.rels><?xml version="1.0" encoding="UTF-8" standalone="yes"?>
<Relationships xmlns="http://schemas.openxmlformats.org/package/2006/relationships"><Relationship Id="rId9" Type="http://schemas.openxmlformats.org/officeDocument/2006/relationships/tags" Target="../tags/tag1895.xml"/><Relationship Id="rId8" Type="http://schemas.openxmlformats.org/officeDocument/2006/relationships/tags" Target="../tags/tag1894.xml"/><Relationship Id="rId7" Type="http://schemas.openxmlformats.org/officeDocument/2006/relationships/tags" Target="../tags/tag1893.xml"/><Relationship Id="rId66" Type="http://schemas.openxmlformats.org/officeDocument/2006/relationships/slideLayout" Target="../slideLayouts/slideLayout12.xml"/><Relationship Id="rId65" Type="http://schemas.openxmlformats.org/officeDocument/2006/relationships/image" Target="../media/image36.png"/><Relationship Id="rId64" Type="http://schemas.openxmlformats.org/officeDocument/2006/relationships/tags" Target="../tags/tag1918.xml"/><Relationship Id="rId63" Type="http://schemas.openxmlformats.org/officeDocument/2006/relationships/tags" Target="../tags/tag1917.xml"/><Relationship Id="rId62" Type="http://schemas.openxmlformats.org/officeDocument/2006/relationships/tags" Target="../tags/tag1916.xml"/><Relationship Id="rId61" Type="http://schemas.openxmlformats.org/officeDocument/2006/relationships/tags" Target="../tags/tag1915.xml"/><Relationship Id="rId60" Type="http://schemas.openxmlformats.org/officeDocument/2006/relationships/tags" Target="../tags/tag1914.xml"/><Relationship Id="rId6" Type="http://schemas.openxmlformats.org/officeDocument/2006/relationships/tags" Target="../tags/tag1892.xml"/><Relationship Id="rId59" Type="http://schemas.openxmlformats.org/officeDocument/2006/relationships/tags" Target="../tags/tag1913.xml"/><Relationship Id="rId58" Type="http://schemas.openxmlformats.org/officeDocument/2006/relationships/tags" Target="../tags/tag1912.xml"/><Relationship Id="rId57" Type="http://schemas.openxmlformats.org/officeDocument/2006/relationships/tags" Target="../tags/tag1911.xml"/><Relationship Id="rId56" Type="http://schemas.openxmlformats.org/officeDocument/2006/relationships/tags" Target="../tags/tag1910.xml"/><Relationship Id="rId55" Type="http://schemas.openxmlformats.org/officeDocument/2006/relationships/tags" Target="../tags/tag1909.xml"/><Relationship Id="rId54" Type="http://schemas.openxmlformats.org/officeDocument/2006/relationships/image" Target="../media/image1036.svg"/><Relationship Id="rId53" Type="http://schemas.openxmlformats.org/officeDocument/2006/relationships/image" Target="../media/image1035.png"/><Relationship Id="rId52" Type="http://schemas.openxmlformats.org/officeDocument/2006/relationships/image" Target="../media/image1034.svg"/><Relationship Id="rId51" Type="http://schemas.openxmlformats.org/officeDocument/2006/relationships/image" Target="../media/image1033.png"/><Relationship Id="rId50" Type="http://schemas.openxmlformats.org/officeDocument/2006/relationships/image" Target="../media/image1032.svg"/><Relationship Id="rId5" Type="http://schemas.openxmlformats.org/officeDocument/2006/relationships/tags" Target="../tags/tag1891.xml"/><Relationship Id="rId49" Type="http://schemas.openxmlformats.org/officeDocument/2006/relationships/image" Target="../media/image1031.png"/><Relationship Id="rId48" Type="http://schemas.openxmlformats.org/officeDocument/2006/relationships/image" Target="../media/image1030.svg"/><Relationship Id="rId47" Type="http://schemas.openxmlformats.org/officeDocument/2006/relationships/image" Target="../media/image1029.png"/><Relationship Id="rId46" Type="http://schemas.openxmlformats.org/officeDocument/2006/relationships/image" Target="../media/image1028.svg"/><Relationship Id="rId45" Type="http://schemas.openxmlformats.org/officeDocument/2006/relationships/image" Target="../media/image1027.png"/><Relationship Id="rId44" Type="http://schemas.openxmlformats.org/officeDocument/2006/relationships/image" Target="../media/image1026.svg"/><Relationship Id="rId43" Type="http://schemas.openxmlformats.org/officeDocument/2006/relationships/image" Target="../media/image1025.png"/><Relationship Id="rId42" Type="http://schemas.openxmlformats.org/officeDocument/2006/relationships/image" Target="../media/image1024.svg"/><Relationship Id="rId41" Type="http://schemas.openxmlformats.org/officeDocument/2006/relationships/image" Target="../media/image1023.png"/><Relationship Id="rId40" Type="http://schemas.openxmlformats.org/officeDocument/2006/relationships/image" Target="../media/image1022.svg"/><Relationship Id="rId4" Type="http://schemas.openxmlformats.org/officeDocument/2006/relationships/tags" Target="../tags/tag1890.xml"/><Relationship Id="rId39" Type="http://schemas.openxmlformats.org/officeDocument/2006/relationships/image" Target="../media/image1021.png"/><Relationship Id="rId38" Type="http://schemas.openxmlformats.org/officeDocument/2006/relationships/image" Target="../media/image1020.svg"/><Relationship Id="rId37" Type="http://schemas.openxmlformats.org/officeDocument/2006/relationships/image" Target="../media/image1019.png"/><Relationship Id="rId36" Type="http://schemas.openxmlformats.org/officeDocument/2006/relationships/image" Target="../media/image1018.svg"/><Relationship Id="rId35" Type="http://schemas.openxmlformats.org/officeDocument/2006/relationships/image" Target="../media/image1017.png"/><Relationship Id="rId34" Type="http://schemas.openxmlformats.org/officeDocument/2006/relationships/image" Target="../media/image1016.svg"/><Relationship Id="rId33" Type="http://schemas.openxmlformats.org/officeDocument/2006/relationships/image" Target="../media/image1015.png"/><Relationship Id="rId32" Type="http://schemas.openxmlformats.org/officeDocument/2006/relationships/image" Target="../media/image1014.svg"/><Relationship Id="rId31" Type="http://schemas.openxmlformats.org/officeDocument/2006/relationships/image" Target="../media/image1013.png"/><Relationship Id="rId30" Type="http://schemas.openxmlformats.org/officeDocument/2006/relationships/image" Target="../media/image1012.svg"/><Relationship Id="rId3" Type="http://schemas.openxmlformats.org/officeDocument/2006/relationships/tags" Target="../tags/tag1889.xml"/><Relationship Id="rId29" Type="http://schemas.openxmlformats.org/officeDocument/2006/relationships/image" Target="../media/image1011.png"/><Relationship Id="rId28" Type="http://schemas.openxmlformats.org/officeDocument/2006/relationships/image" Target="../media/image1010.svg"/><Relationship Id="rId27" Type="http://schemas.openxmlformats.org/officeDocument/2006/relationships/image" Target="../media/image1009.png"/><Relationship Id="rId26" Type="http://schemas.openxmlformats.org/officeDocument/2006/relationships/image" Target="../media/image1008.svg"/><Relationship Id="rId25" Type="http://schemas.openxmlformats.org/officeDocument/2006/relationships/image" Target="../media/image1007.png"/><Relationship Id="rId24" Type="http://schemas.openxmlformats.org/officeDocument/2006/relationships/image" Target="../media/image1006.svg"/><Relationship Id="rId23" Type="http://schemas.openxmlformats.org/officeDocument/2006/relationships/image" Target="../media/image1005.png"/><Relationship Id="rId22" Type="http://schemas.openxmlformats.org/officeDocument/2006/relationships/tags" Target="../tags/tag1908.xml"/><Relationship Id="rId21" Type="http://schemas.openxmlformats.org/officeDocument/2006/relationships/tags" Target="../tags/tag1907.xml"/><Relationship Id="rId20" Type="http://schemas.openxmlformats.org/officeDocument/2006/relationships/tags" Target="../tags/tag1906.xml"/><Relationship Id="rId2" Type="http://schemas.openxmlformats.org/officeDocument/2006/relationships/image" Target="../media/image1004.svg"/><Relationship Id="rId19" Type="http://schemas.openxmlformats.org/officeDocument/2006/relationships/tags" Target="../tags/tag1905.xml"/><Relationship Id="rId18" Type="http://schemas.openxmlformats.org/officeDocument/2006/relationships/tags" Target="../tags/tag1904.xml"/><Relationship Id="rId17" Type="http://schemas.openxmlformats.org/officeDocument/2006/relationships/tags" Target="../tags/tag1903.xml"/><Relationship Id="rId16" Type="http://schemas.openxmlformats.org/officeDocument/2006/relationships/tags" Target="../tags/tag1902.xml"/><Relationship Id="rId15" Type="http://schemas.openxmlformats.org/officeDocument/2006/relationships/tags" Target="../tags/tag1901.xml"/><Relationship Id="rId14" Type="http://schemas.openxmlformats.org/officeDocument/2006/relationships/tags" Target="../tags/tag1900.xml"/><Relationship Id="rId13" Type="http://schemas.openxmlformats.org/officeDocument/2006/relationships/tags" Target="../tags/tag1899.xml"/><Relationship Id="rId12" Type="http://schemas.openxmlformats.org/officeDocument/2006/relationships/tags" Target="../tags/tag1898.xml"/><Relationship Id="rId11" Type="http://schemas.openxmlformats.org/officeDocument/2006/relationships/tags" Target="../tags/tag1897.xml"/><Relationship Id="rId10" Type="http://schemas.openxmlformats.org/officeDocument/2006/relationships/tags" Target="../tags/tag1896.xml"/><Relationship Id="rId1" Type="http://schemas.openxmlformats.org/officeDocument/2006/relationships/image" Target="../media/image21.png"/></Relationships>
</file>

<file path=ppt/slides/_rels/slide178.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image" Target="../media/image36.png"/><Relationship Id="rId7" Type="http://schemas.openxmlformats.org/officeDocument/2006/relationships/image" Target="../media/image1039.svg"/><Relationship Id="rId6" Type="http://schemas.openxmlformats.org/officeDocument/2006/relationships/image" Target="../media/image1038.png"/><Relationship Id="rId5" Type="http://schemas.openxmlformats.org/officeDocument/2006/relationships/tags" Target="../tags/tag1921.xml"/><Relationship Id="rId4" Type="http://schemas.openxmlformats.org/officeDocument/2006/relationships/tags" Target="../tags/tag1920.xml"/><Relationship Id="rId3" Type="http://schemas.openxmlformats.org/officeDocument/2006/relationships/tags" Target="../tags/tag1919.xml"/><Relationship Id="rId2" Type="http://schemas.openxmlformats.org/officeDocument/2006/relationships/image" Target="../media/image1037.svg"/><Relationship Id="rId1" Type="http://schemas.openxmlformats.org/officeDocument/2006/relationships/image" Target="../media/image21.png"/></Relationships>
</file>

<file path=ppt/slides/_rels/slide17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40.svg"/><Relationship Id="rId1" Type="http://schemas.openxmlformats.org/officeDocument/2006/relationships/image" Target="../media/image978.png"/></Relationships>
</file>

<file path=ppt/slides/_rels/slide18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41.svg"/><Relationship Id="rId1" Type="http://schemas.openxmlformats.org/officeDocument/2006/relationships/image" Target="../media/image21.png"/></Relationships>
</file>

<file path=ppt/slides/_rels/slide18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42.svg"/><Relationship Id="rId1" Type="http://schemas.openxmlformats.org/officeDocument/2006/relationships/image" Target="../media/image21.png"/></Relationships>
</file>

<file path=ppt/slides/_rels/slide18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43.svg"/><Relationship Id="rId1" Type="http://schemas.openxmlformats.org/officeDocument/2006/relationships/image" Target="../media/image978.png"/></Relationships>
</file>

<file path=ppt/slides/_rels/slide183.xml.rels><?xml version="1.0" encoding="UTF-8" standalone="yes"?>
<Relationships xmlns="http://schemas.openxmlformats.org/package/2006/relationships"><Relationship Id="rId6" Type="http://schemas.openxmlformats.org/officeDocument/2006/relationships/slideLayout" Target="../slideLayouts/slideLayout12.xml"/><Relationship Id="rId5" Type="http://schemas.openxmlformats.org/officeDocument/2006/relationships/image" Target="../media/image36.png"/><Relationship Id="rId4" Type="http://schemas.openxmlformats.org/officeDocument/2006/relationships/image" Target="../media/image1046.svg"/><Relationship Id="rId3" Type="http://schemas.openxmlformats.org/officeDocument/2006/relationships/image" Target="../media/image1045.png"/><Relationship Id="rId2" Type="http://schemas.openxmlformats.org/officeDocument/2006/relationships/image" Target="../media/image1044.svg"/><Relationship Id="rId1" Type="http://schemas.openxmlformats.org/officeDocument/2006/relationships/image" Target="../media/image978.png"/></Relationships>
</file>

<file path=ppt/slides/_rels/slide184.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47.svg"/><Relationship Id="rId1" Type="http://schemas.openxmlformats.org/officeDocument/2006/relationships/image" Target="../media/image21.png"/></Relationships>
</file>

<file path=ppt/slides/_rels/slide185.xml.rels><?xml version="1.0" encoding="UTF-8" standalone="yes"?>
<Relationships xmlns="http://schemas.openxmlformats.org/package/2006/relationships"><Relationship Id="rId7" Type="http://schemas.openxmlformats.org/officeDocument/2006/relationships/slideLayout" Target="../slideLayouts/slideLayout12.xml"/><Relationship Id="rId6" Type="http://schemas.openxmlformats.org/officeDocument/2006/relationships/image" Target="../media/image36.png"/><Relationship Id="rId5" Type="http://schemas.openxmlformats.org/officeDocument/2006/relationships/image" Target="../media/image1051.svg"/><Relationship Id="rId4" Type="http://schemas.openxmlformats.org/officeDocument/2006/relationships/image" Target="../media/image1050.svg"/><Relationship Id="rId3" Type="http://schemas.openxmlformats.org/officeDocument/2006/relationships/image" Target="../media/image1049.png"/><Relationship Id="rId2" Type="http://schemas.openxmlformats.org/officeDocument/2006/relationships/image" Target="../media/image1048.svg"/><Relationship Id="rId1" Type="http://schemas.openxmlformats.org/officeDocument/2006/relationships/image" Target="../media/image978.png"/></Relationships>
</file>

<file path=ppt/slides/_rels/slide186.xml.rels><?xml version="1.0" encoding="UTF-8" standalone="yes"?>
<Relationships xmlns="http://schemas.openxmlformats.org/package/2006/relationships"><Relationship Id="rId9" Type="http://schemas.openxmlformats.org/officeDocument/2006/relationships/image" Target="../media/image1059.png"/><Relationship Id="rId8" Type="http://schemas.openxmlformats.org/officeDocument/2006/relationships/image" Target="../media/image1058.svg"/><Relationship Id="rId7" Type="http://schemas.openxmlformats.org/officeDocument/2006/relationships/image" Target="../media/image1057.png"/><Relationship Id="rId6" Type="http://schemas.openxmlformats.org/officeDocument/2006/relationships/image" Target="../media/image1056.svg"/><Relationship Id="rId5" Type="http://schemas.openxmlformats.org/officeDocument/2006/relationships/image" Target="../media/image1055.png"/><Relationship Id="rId4" Type="http://schemas.openxmlformats.org/officeDocument/2006/relationships/image" Target="../media/image1054.svg"/><Relationship Id="rId34" Type="http://schemas.openxmlformats.org/officeDocument/2006/relationships/slideLayout" Target="../slideLayouts/slideLayout12.xml"/><Relationship Id="rId33" Type="http://schemas.openxmlformats.org/officeDocument/2006/relationships/image" Target="../media/image36.png"/><Relationship Id="rId32" Type="http://schemas.openxmlformats.org/officeDocument/2006/relationships/image" Target="../media/image1082.svg"/><Relationship Id="rId31" Type="http://schemas.openxmlformats.org/officeDocument/2006/relationships/image" Target="../media/image1081.png"/><Relationship Id="rId30" Type="http://schemas.openxmlformats.org/officeDocument/2006/relationships/image" Target="../media/image1080.svg"/><Relationship Id="rId3" Type="http://schemas.openxmlformats.org/officeDocument/2006/relationships/image" Target="../media/image1053.png"/><Relationship Id="rId29" Type="http://schemas.openxmlformats.org/officeDocument/2006/relationships/image" Target="../media/image1079.png"/><Relationship Id="rId28" Type="http://schemas.openxmlformats.org/officeDocument/2006/relationships/image" Target="../media/image1078.svg"/><Relationship Id="rId27" Type="http://schemas.openxmlformats.org/officeDocument/2006/relationships/image" Target="../media/image1077.png"/><Relationship Id="rId26" Type="http://schemas.openxmlformats.org/officeDocument/2006/relationships/image" Target="../media/image1076.svg"/><Relationship Id="rId25" Type="http://schemas.openxmlformats.org/officeDocument/2006/relationships/image" Target="../media/image1075.png"/><Relationship Id="rId24" Type="http://schemas.openxmlformats.org/officeDocument/2006/relationships/image" Target="../media/image1074.svg"/><Relationship Id="rId23" Type="http://schemas.openxmlformats.org/officeDocument/2006/relationships/image" Target="../media/image1073.png"/><Relationship Id="rId22" Type="http://schemas.openxmlformats.org/officeDocument/2006/relationships/image" Target="../media/image1072.svg"/><Relationship Id="rId21" Type="http://schemas.openxmlformats.org/officeDocument/2006/relationships/image" Target="../media/image1071.png"/><Relationship Id="rId20" Type="http://schemas.openxmlformats.org/officeDocument/2006/relationships/image" Target="../media/image1070.svg"/><Relationship Id="rId2" Type="http://schemas.openxmlformats.org/officeDocument/2006/relationships/image" Target="../media/image1052.svg"/><Relationship Id="rId19" Type="http://schemas.openxmlformats.org/officeDocument/2006/relationships/image" Target="../media/image1069.png"/><Relationship Id="rId18" Type="http://schemas.openxmlformats.org/officeDocument/2006/relationships/image" Target="../media/image1068.svg"/><Relationship Id="rId17" Type="http://schemas.openxmlformats.org/officeDocument/2006/relationships/image" Target="../media/image1067.png"/><Relationship Id="rId16" Type="http://schemas.openxmlformats.org/officeDocument/2006/relationships/image" Target="../media/image1066.svg"/><Relationship Id="rId15" Type="http://schemas.openxmlformats.org/officeDocument/2006/relationships/image" Target="../media/image1065.png"/><Relationship Id="rId14" Type="http://schemas.openxmlformats.org/officeDocument/2006/relationships/image" Target="../media/image1064.svg"/><Relationship Id="rId13" Type="http://schemas.openxmlformats.org/officeDocument/2006/relationships/image" Target="../media/image1063.png"/><Relationship Id="rId12" Type="http://schemas.openxmlformats.org/officeDocument/2006/relationships/image" Target="../media/image1062.svg"/><Relationship Id="rId11" Type="http://schemas.openxmlformats.org/officeDocument/2006/relationships/image" Target="../media/image1061.png"/><Relationship Id="rId10" Type="http://schemas.openxmlformats.org/officeDocument/2006/relationships/image" Target="../media/image1060.svg"/><Relationship Id="rId1" Type="http://schemas.openxmlformats.org/officeDocument/2006/relationships/image" Target="../media/image21.png"/></Relationships>
</file>

<file path=ppt/slides/_rels/slide18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83.svg"/><Relationship Id="rId1" Type="http://schemas.openxmlformats.org/officeDocument/2006/relationships/image" Target="../media/image21.png"/></Relationships>
</file>

<file path=ppt/slides/_rels/slide18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83.svg"/><Relationship Id="rId1" Type="http://schemas.openxmlformats.org/officeDocument/2006/relationships/image" Target="../media/image21.png"/></Relationships>
</file>

<file path=ppt/slides/_rels/slide18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85.svg"/><Relationship Id="rId1" Type="http://schemas.openxmlformats.org/officeDocument/2006/relationships/image" Target="../media/image1084.png"/></Relationships>
</file>

<file path=ppt/slides/_rels/slide19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86.svg"/><Relationship Id="rId1" Type="http://schemas.openxmlformats.org/officeDocument/2006/relationships/image" Target="../media/image978.png"/></Relationships>
</file>

<file path=ppt/slides/_rels/slide191.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image" Target="../media/image1090.svg"/><Relationship Id="rId5" Type="http://schemas.openxmlformats.org/officeDocument/2006/relationships/image" Target="../media/image1089.png"/><Relationship Id="rId4" Type="http://schemas.openxmlformats.org/officeDocument/2006/relationships/image" Target="../media/image1088.svg"/><Relationship Id="rId3" Type="http://schemas.openxmlformats.org/officeDocument/2006/relationships/image" Target="../media/image1087.png"/><Relationship Id="rId2" Type="http://schemas.openxmlformats.org/officeDocument/2006/relationships/image" Target="../media/image979.svg"/><Relationship Id="rId1" Type="http://schemas.openxmlformats.org/officeDocument/2006/relationships/image" Target="../media/image21.png"/></Relationships>
</file>

<file path=ppt/slides/_rels/slide19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091.svg"/><Relationship Id="rId1" Type="http://schemas.openxmlformats.org/officeDocument/2006/relationships/image" Target="../media/image978.png"/></Relationships>
</file>

<file path=ppt/slides/_rels/slide193.xml.rels><?xml version="1.0" encoding="UTF-8" standalone="yes"?>
<Relationships xmlns="http://schemas.openxmlformats.org/package/2006/relationships"><Relationship Id="rId9" Type="http://schemas.openxmlformats.org/officeDocument/2006/relationships/tags" Target="../tags/tag1929.xml"/><Relationship Id="rId8" Type="http://schemas.openxmlformats.org/officeDocument/2006/relationships/tags" Target="../tags/tag1928.xml"/><Relationship Id="rId7" Type="http://schemas.openxmlformats.org/officeDocument/2006/relationships/tags" Target="../tags/tag1927.xml"/><Relationship Id="rId6" Type="http://schemas.openxmlformats.org/officeDocument/2006/relationships/tags" Target="../tags/tag1926.xml"/><Relationship Id="rId5" Type="http://schemas.openxmlformats.org/officeDocument/2006/relationships/tags" Target="../tags/tag1925.xml"/><Relationship Id="rId4" Type="http://schemas.openxmlformats.org/officeDocument/2006/relationships/tags" Target="../tags/tag1924.xml"/><Relationship Id="rId3" Type="http://schemas.openxmlformats.org/officeDocument/2006/relationships/tags" Target="../tags/tag1923.xml"/><Relationship Id="rId2" Type="http://schemas.openxmlformats.org/officeDocument/2006/relationships/tags" Target="../tags/tag1922.xml"/><Relationship Id="rId19" Type="http://schemas.openxmlformats.org/officeDocument/2006/relationships/slideLayout" Target="../slideLayouts/slideLayout9.xml"/><Relationship Id="rId18" Type="http://schemas.openxmlformats.org/officeDocument/2006/relationships/tags" Target="../tags/tag1938.xml"/><Relationship Id="rId17" Type="http://schemas.openxmlformats.org/officeDocument/2006/relationships/tags" Target="../tags/tag1937.xml"/><Relationship Id="rId16" Type="http://schemas.openxmlformats.org/officeDocument/2006/relationships/tags" Target="../tags/tag1936.xml"/><Relationship Id="rId15" Type="http://schemas.openxmlformats.org/officeDocument/2006/relationships/tags" Target="../tags/tag1935.xml"/><Relationship Id="rId14" Type="http://schemas.openxmlformats.org/officeDocument/2006/relationships/tags" Target="../tags/tag1934.xml"/><Relationship Id="rId13" Type="http://schemas.openxmlformats.org/officeDocument/2006/relationships/tags" Target="../tags/tag1933.xml"/><Relationship Id="rId12" Type="http://schemas.openxmlformats.org/officeDocument/2006/relationships/tags" Target="../tags/tag1932.xml"/><Relationship Id="rId11" Type="http://schemas.openxmlformats.org/officeDocument/2006/relationships/tags" Target="../tags/tag1931.xml"/><Relationship Id="rId10" Type="http://schemas.openxmlformats.org/officeDocument/2006/relationships/tags" Target="../tags/tag1930.xml"/><Relationship Id="rId1" Type="http://schemas.openxmlformats.org/officeDocument/2006/relationships/image" Target="../media/image18.jpeg"/></Relationships>
</file>

<file path=ppt/slides/_rels/slide194.xml.rels><?xml version="1.0" encoding="UTF-8" standalone="yes"?>
<Relationships xmlns="http://schemas.openxmlformats.org/package/2006/relationships"><Relationship Id="rId9" Type="http://schemas.openxmlformats.org/officeDocument/2006/relationships/tags" Target="../tags/tag1945.xml"/><Relationship Id="rId8" Type="http://schemas.openxmlformats.org/officeDocument/2006/relationships/tags" Target="../tags/tag1944.xml"/><Relationship Id="rId7" Type="http://schemas.openxmlformats.org/officeDocument/2006/relationships/tags" Target="../tags/tag1943.xml"/><Relationship Id="rId6" Type="http://schemas.openxmlformats.org/officeDocument/2006/relationships/tags" Target="../tags/tag1942.xml"/><Relationship Id="rId5" Type="http://schemas.openxmlformats.org/officeDocument/2006/relationships/tags" Target="../tags/tag1941.xml"/><Relationship Id="rId41" Type="http://schemas.openxmlformats.org/officeDocument/2006/relationships/slideLayout" Target="../slideLayouts/slideLayout12.xml"/><Relationship Id="rId40" Type="http://schemas.openxmlformats.org/officeDocument/2006/relationships/image" Target="../media/image36.png"/><Relationship Id="rId4" Type="http://schemas.openxmlformats.org/officeDocument/2006/relationships/tags" Target="../tags/tag1940.xml"/><Relationship Id="rId39" Type="http://schemas.openxmlformats.org/officeDocument/2006/relationships/image" Target="../media/image1110.svg"/><Relationship Id="rId38" Type="http://schemas.openxmlformats.org/officeDocument/2006/relationships/image" Target="../media/image1109.png"/><Relationship Id="rId37" Type="http://schemas.openxmlformats.org/officeDocument/2006/relationships/image" Target="../media/image1108.svg"/><Relationship Id="rId36" Type="http://schemas.openxmlformats.org/officeDocument/2006/relationships/image" Target="../media/image1107.png"/><Relationship Id="rId35" Type="http://schemas.openxmlformats.org/officeDocument/2006/relationships/image" Target="../media/image1106.svg"/><Relationship Id="rId34" Type="http://schemas.openxmlformats.org/officeDocument/2006/relationships/image" Target="../media/image1105.png"/><Relationship Id="rId33" Type="http://schemas.openxmlformats.org/officeDocument/2006/relationships/image" Target="../media/image1104.svg"/><Relationship Id="rId32" Type="http://schemas.openxmlformats.org/officeDocument/2006/relationships/image" Target="../media/image1103.png"/><Relationship Id="rId31" Type="http://schemas.openxmlformats.org/officeDocument/2006/relationships/image" Target="../media/image1102.svg"/><Relationship Id="rId30" Type="http://schemas.openxmlformats.org/officeDocument/2006/relationships/image" Target="../media/image1101.png"/><Relationship Id="rId3" Type="http://schemas.openxmlformats.org/officeDocument/2006/relationships/tags" Target="../tags/tag1939.xml"/><Relationship Id="rId29" Type="http://schemas.openxmlformats.org/officeDocument/2006/relationships/image" Target="../media/image1100.svg"/><Relationship Id="rId28" Type="http://schemas.openxmlformats.org/officeDocument/2006/relationships/image" Target="../media/image1099.png"/><Relationship Id="rId27" Type="http://schemas.openxmlformats.org/officeDocument/2006/relationships/image" Target="../media/image1098.svg"/><Relationship Id="rId26" Type="http://schemas.openxmlformats.org/officeDocument/2006/relationships/image" Target="../media/image1097.png"/><Relationship Id="rId25" Type="http://schemas.openxmlformats.org/officeDocument/2006/relationships/image" Target="../media/image1096.svg"/><Relationship Id="rId24" Type="http://schemas.openxmlformats.org/officeDocument/2006/relationships/image" Target="../media/image1095.png"/><Relationship Id="rId23" Type="http://schemas.openxmlformats.org/officeDocument/2006/relationships/tags" Target="../tags/tag1957.xml"/><Relationship Id="rId22" Type="http://schemas.openxmlformats.org/officeDocument/2006/relationships/tags" Target="../tags/tag1956.xml"/><Relationship Id="rId21" Type="http://schemas.openxmlformats.org/officeDocument/2006/relationships/tags" Target="../tags/tag1955.xml"/><Relationship Id="rId20" Type="http://schemas.openxmlformats.org/officeDocument/2006/relationships/tags" Target="../tags/tag1954.xml"/><Relationship Id="rId2" Type="http://schemas.openxmlformats.org/officeDocument/2006/relationships/image" Target="../media/image1092.svg"/><Relationship Id="rId19" Type="http://schemas.openxmlformats.org/officeDocument/2006/relationships/tags" Target="../tags/tag1953.xml"/><Relationship Id="rId18" Type="http://schemas.openxmlformats.org/officeDocument/2006/relationships/tags" Target="../tags/tag1952.xml"/><Relationship Id="rId17" Type="http://schemas.openxmlformats.org/officeDocument/2006/relationships/tags" Target="../tags/tag1951.xml"/><Relationship Id="rId16" Type="http://schemas.openxmlformats.org/officeDocument/2006/relationships/tags" Target="../tags/tag1950.xml"/><Relationship Id="rId15" Type="http://schemas.openxmlformats.org/officeDocument/2006/relationships/image" Target="../media/image1094.svg"/><Relationship Id="rId14" Type="http://schemas.openxmlformats.org/officeDocument/2006/relationships/image" Target="../media/image1093.png"/><Relationship Id="rId13" Type="http://schemas.openxmlformats.org/officeDocument/2006/relationships/tags" Target="../tags/tag1949.xml"/><Relationship Id="rId12" Type="http://schemas.openxmlformats.org/officeDocument/2006/relationships/tags" Target="../tags/tag1948.xml"/><Relationship Id="rId11" Type="http://schemas.openxmlformats.org/officeDocument/2006/relationships/tags" Target="../tags/tag1947.xml"/><Relationship Id="rId10" Type="http://schemas.openxmlformats.org/officeDocument/2006/relationships/tags" Target="../tags/tag1946.xml"/><Relationship Id="rId1" Type="http://schemas.openxmlformats.org/officeDocument/2006/relationships/image" Target="../media/image21.png"/></Relationships>
</file>

<file path=ppt/slides/_rels/slide195.xml.rels><?xml version="1.0" encoding="UTF-8" standalone="yes"?>
<Relationships xmlns="http://schemas.openxmlformats.org/package/2006/relationships"><Relationship Id="rId5" Type="http://schemas.openxmlformats.org/officeDocument/2006/relationships/slideLayout" Target="../slideLayouts/slideLayout12.xml"/><Relationship Id="rId4" Type="http://schemas.openxmlformats.org/officeDocument/2006/relationships/image" Target="../media/image36.png"/><Relationship Id="rId3" Type="http://schemas.openxmlformats.org/officeDocument/2006/relationships/image" Target="../media/image1111.svg"/><Relationship Id="rId2" Type="http://schemas.openxmlformats.org/officeDocument/2006/relationships/image" Target="../media/image21.png"/><Relationship Id="rId1" Type="http://schemas.openxmlformats.org/officeDocument/2006/relationships/chart" Target="../charts/chart7.xml"/></Relationships>
</file>

<file path=ppt/slides/_rels/slide196.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image" Target="../media/image36.png"/><Relationship Id="rId6" Type="http://schemas.openxmlformats.org/officeDocument/2006/relationships/tags" Target="../tags/tag1961.xml"/><Relationship Id="rId5" Type="http://schemas.openxmlformats.org/officeDocument/2006/relationships/tags" Target="../tags/tag1960.xml"/><Relationship Id="rId4" Type="http://schemas.openxmlformats.org/officeDocument/2006/relationships/tags" Target="../tags/tag1959.xml"/><Relationship Id="rId3" Type="http://schemas.openxmlformats.org/officeDocument/2006/relationships/tags" Target="../tags/tag1958.xml"/><Relationship Id="rId2" Type="http://schemas.openxmlformats.org/officeDocument/2006/relationships/image" Target="../media/image1112.svg"/><Relationship Id="rId1" Type="http://schemas.openxmlformats.org/officeDocument/2006/relationships/image" Target="../media/image21.png"/></Relationships>
</file>

<file path=ppt/slides/_rels/slide19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13.svg"/><Relationship Id="rId1" Type="http://schemas.openxmlformats.org/officeDocument/2006/relationships/image" Target="../media/image21.png"/></Relationships>
</file>

<file path=ppt/slides/_rels/slide19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14.svg"/><Relationship Id="rId1" Type="http://schemas.openxmlformats.org/officeDocument/2006/relationships/image" Target="../media/image21.png"/></Relationships>
</file>

<file path=ppt/slides/_rels/slide19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15.svg"/><Relationship Id="rId1" Type="http://schemas.openxmlformats.org/officeDocument/2006/relationships/image" Target="../media/image21.png"/></Relationships>
</file>

<file path=ppt/slides/_rels/slide20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16.svg"/><Relationship Id="rId1" Type="http://schemas.openxmlformats.org/officeDocument/2006/relationships/image" Target="../media/image21.png"/></Relationships>
</file>

<file path=ppt/slides/_rels/slide201.xml.rels><?xml version="1.0" encoding="UTF-8" standalone="yes"?>
<Relationships xmlns="http://schemas.openxmlformats.org/package/2006/relationships"><Relationship Id="rId99" Type="http://schemas.openxmlformats.org/officeDocument/2006/relationships/tags" Target="../tags/tag2060.xml"/><Relationship Id="rId98" Type="http://schemas.openxmlformats.org/officeDocument/2006/relationships/tags" Target="../tags/tag2059.xml"/><Relationship Id="rId97" Type="http://schemas.openxmlformats.org/officeDocument/2006/relationships/tags" Target="../tags/tag2058.xml"/><Relationship Id="rId96" Type="http://schemas.openxmlformats.org/officeDocument/2006/relationships/tags" Target="../tags/tag2057.xml"/><Relationship Id="rId95" Type="http://schemas.openxmlformats.org/officeDocument/2006/relationships/tags" Target="../tags/tag2056.xml"/><Relationship Id="rId94" Type="http://schemas.openxmlformats.org/officeDocument/2006/relationships/tags" Target="../tags/tag2055.xml"/><Relationship Id="rId93" Type="http://schemas.openxmlformats.org/officeDocument/2006/relationships/tags" Target="../tags/tag2054.xml"/><Relationship Id="rId92" Type="http://schemas.openxmlformats.org/officeDocument/2006/relationships/tags" Target="../tags/tag2053.xml"/><Relationship Id="rId91" Type="http://schemas.openxmlformats.org/officeDocument/2006/relationships/tags" Target="../tags/tag2052.xml"/><Relationship Id="rId90" Type="http://schemas.openxmlformats.org/officeDocument/2006/relationships/tags" Target="../tags/tag2051.xml"/><Relationship Id="rId9" Type="http://schemas.openxmlformats.org/officeDocument/2006/relationships/tags" Target="../tags/tag1970.xml"/><Relationship Id="rId89" Type="http://schemas.openxmlformats.org/officeDocument/2006/relationships/tags" Target="../tags/tag2050.xml"/><Relationship Id="rId88" Type="http://schemas.openxmlformats.org/officeDocument/2006/relationships/tags" Target="../tags/tag2049.xml"/><Relationship Id="rId87" Type="http://schemas.openxmlformats.org/officeDocument/2006/relationships/tags" Target="../tags/tag2048.xml"/><Relationship Id="rId86" Type="http://schemas.openxmlformats.org/officeDocument/2006/relationships/tags" Target="../tags/tag2047.xml"/><Relationship Id="rId85" Type="http://schemas.openxmlformats.org/officeDocument/2006/relationships/tags" Target="../tags/tag2046.xml"/><Relationship Id="rId84" Type="http://schemas.openxmlformats.org/officeDocument/2006/relationships/tags" Target="../tags/tag2045.xml"/><Relationship Id="rId83" Type="http://schemas.openxmlformats.org/officeDocument/2006/relationships/tags" Target="../tags/tag2044.xml"/><Relationship Id="rId82" Type="http://schemas.openxmlformats.org/officeDocument/2006/relationships/tags" Target="../tags/tag2043.xml"/><Relationship Id="rId81" Type="http://schemas.openxmlformats.org/officeDocument/2006/relationships/tags" Target="../tags/tag2042.xml"/><Relationship Id="rId80" Type="http://schemas.openxmlformats.org/officeDocument/2006/relationships/tags" Target="../tags/tag2041.xml"/><Relationship Id="rId8" Type="http://schemas.openxmlformats.org/officeDocument/2006/relationships/tags" Target="../tags/tag1969.xml"/><Relationship Id="rId79" Type="http://schemas.openxmlformats.org/officeDocument/2006/relationships/tags" Target="../tags/tag2040.xml"/><Relationship Id="rId78" Type="http://schemas.openxmlformats.org/officeDocument/2006/relationships/tags" Target="../tags/tag2039.xml"/><Relationship Id="rId77" Type="http://schemas.openxmlformats.org/officeDocument/2006/relationships/tags" Target="../tags/tag2038.xml"/><Relationship Id="rId76" Type="http://schemas.openxmlformats.org/officeDocument/2006/relationships/tags" Target="../tags/tag2037.xml"/><Relationship Id="rId75" Type="http://schemas.openxmlformats.org/officeDocument/2006/relationships/tags" Target="../tags/tag2036.xml"/><Relationship Id="rId74" Type="http://schemas.openxmlformats.org/officeDocument/2006/relationships/tags" Target="../tags/tag2035.xml"/><Relationship Id="rId73" Type="http://schemas.openxmlformats.org/officeDocument/2006/relationships/tags" Target="../tags/tag2034.xml"/><Relationship Id="rId72" Type="http://schemas.openxmlformats.org/officeDocument/2006/relationships/tags" Target="../tags/tag2033.xml"/><Relationship Id="rId71" Type="http://schemas.openxmlformats.org/officeDocument/2006/relationships/tags" Target="../tags/tag2032.xml"/><Relationship Id="rId70" Type="http://schemas.openxmlformats.org/officeDocument/2006/relationships/tags" Target="../tags/tag2031.xml"/><Relationship Id="rId7" Type="http://schemas.openxmlformats.org/officeDocument/2006/relationships/tags" Target="../tags/tag1968.xml"/><Relationship Id="rId69" Type="http://schemas.openxmlformats.org/officeDocument/2006/relationships/tags" Target="../tags/tag2030.xml"/><Relationship Id="rId68" Type="http://schemas.openxmlformats.org/officeDocument/2006/relationships/tags" Target="../tags/tag2029.xml"/><Relationship Id="rId67" Type="http://schemas.openxmlformats.org/officeDocument/2006/relationships/tags" Target="../tags/tag2028.xml"/><Relationship Id="rId66" Type="http://schemas.openxmlformats.org/officeDocument/2006/relationships/tags" Target="../tags/tag2027.xml"/><Relationship Id="rId65" Type="http://schemas.openxmlformats.org/officeDocument/2006/relationships/tags" Target="../tags/tag2026.xml"/><Relationship Id="rId64" Type="http://schemas.openxmlformats.org/officeDocument/2006/relationships/tags" Target="../tags/tag2025.xml"/><Relationship Id="rId63" Type="http://schemas.openxmlformats.org/officeDocument/2006/relationships/tags" Target="../tags/tag2024.xml"/><Relationship Id="rId62" Type="http://schemas.openxmlformats.org/officeDocument/2006/relationships/tags" Target="../tags/tag2023.xml"/><Relationship Id="rId61" Type="http://schemas.openxmlformats.org/officeDocument/2006/relationships/tags" Target="../tags/tag2022.xml"/><Relationship Id="rId60" Type="http://schemas.openxmlformats.org/officeDocument/2006/relationships/tags" Target="../tags/tag2021.xml"/><Relationship Id="rId6" Type="http://schemas.openxmlformats.org/officeDocument/2006/relationships/tags" Target="../tags/tag1967.xml"/><Relationship Id="rId59" Type="http://schemas.openxmlformats.org/officeDocument/2006/relationships/tags" Target="../tags/tag2020.xml"/><Relationship Id="rId58" Type="http://schemas.openxmlformats.org/officeDocument/2006/relationships/tags" Target="../tags/tag2019.xml"/><Relationship Id="rId57" Type="http://schemas.openxmlformats.org/officeDocument/2006/relationships/tags" Target="../tags/tag2018.xml"/><Relationship Id="rId56" Type="http://schemas.openxmlformats.org/officeDocument/2006/relationships/tags" Target="../tags/tag2017.xml"/><Relationship Id="rId55" Type="http://schemas.openxmlformats.org/officeDocument/2006/relationships/tags" Target="../tags/tag2016.xml"/><Relationship Id="rId54" Type="http://schemas.openxmlformats.org/officeDocument/2006/relationships/tags" Target="../tags/tag2015.xml"/><Relationship Id="rId53" Type="http://schemas.openxmlformats.org/officeDocument/2006/relationships/tags" Target="../tags/tag2014.xml"/><Relationship Id="rId52" Type="http://schemas.openxmlformats.org/officeDocument/2006/relationships/tags" Target="../tags/tag2013.xml"/><Relationship Id="rId51" Type="http://schemas.openxmlformats.org/officeDocument/2006/relationships/tags" Target="../tags/tag2012.xml"/><Relationship Id="rId50" Type="http://schemas.openxmlformats.org/officeDocument/2006/relationships/tags" Target="../tags/tag2011.xml"/><Relationship Id="rId5" Type="http://schemas.openxmlformats.org/officeDocument/2006/relationships/tags" Target="../tags/tag1966.xml"/><Relationship Id="rId49" Type="http://schemas.openxmlformats.org/officeDocument/2006/relationships/tags" Target="../tags/tag2010.xml"/><Relationship Id="rId48" Type="http://schemas.openxmlformats.org/officeDocument/2006/relationships/tags" Target="../tags/tag2009.xml"/><Relationship Id="rId47" Type="http://schemas.openxmlformats.org/officeDocument/2006/relationships/tags" Target="../tags/tag2008.xml"/><Relationship Id="rId46" Type="http://schemas.openxmlformats.org/officeDocument/2006/relationships/tags" Target="../tags/tag2007.xml"/><Relationship Id="rId45" Type="http://schemas.openxmlformats.org/officeDocument/2006/relationships/tags" Target="../tags/tag2006.xml"/><Relationship Id="rId44" Type="http://schemas.openxmlformats.org/officeDocument/2006/relationships/tags" Target="../tags/tag2005.xml"/><Relationship Id="rId43" Type="http://schemas.openxmlformats.org/officeDocument/2006/relationships/tags" Target="../tags/tag2004.xml"/><Relationship Id="rId42" Type="http://schemas.openxmlformats.org/officeDocument/2006/relationships/tags" Target="../tags/tag2003.xml"/><Relationship Id="rId41" Type="http://schemas.openxmlformats.org/officeDocument/2006/relationships/tags" Target="../tags/tag2002.xml"/><Relationship Id="rId40" Type="http://schemas.openxmlformats.org/officeDocument/2006/relationships/tags" Target="../tags/tag2001.xml"/><Relationship Id="rId4" Type="http://schemas.openxmlformats.org/officeDocument/2006/relationships/tags" Target="../tags/tag1965.xml"/><Relationship Id="rId39" Type="http://schemas.openxmlformats.org/officeDocument/2006/relationships/tags" Target="../tags/tag2000.xml"/><Relationship Id="rId38" Type="http://schemas.openxmlformats.org/officeDocument/2006/relationships/tags" Target="../tags/tag1999.xml"/><Relationship Id="rId37" Type="http://schemas.openxmlformats.org/officeDocument/2006/relationships/tags" Target="../tags/tag1998.xml"/><Relationship Id="rId36" Type="http://schemas.openxmlformats.org/officeDocument/2006/relationships/tags" Target="../tags/tag1997.xml"/><Relationship Id="rId35" Type="http://schemas.openxmlformats.org/officeDocument/2006/relationships/tags" Target="../tags/tag1996.xml"/><Relationship Id="rId34" Type="http://schemas.openxmlformats.org/officeDocument/2006/relationships/tags" Target="../tags/tag1995.xml"/><Relationship Id="rId33" Type="http://schemas.openxmlformats.org/officeDocument/2006/relationships/tags" Target="../tags/tag1994.xml"/><Relationship Id="rId32" Type="http://schemas.openxmlformats.org/officeDocument/2006/relationships/tags" Target="../tags/tag1993.xml"/><Relationship Id="rId31" Type="http://schemas.openxmlformats.org/officeDocument/2006/relationships/tags" Target="../tags/tag1992.xml"/><Relationship Id="rId30" Type="http://schemas.openxmlformats.org/officeDocument/2006/relationships/tags" Target="../tags/tag1991.xml"/><Relationship Id="rId3" Type="http://schemas.openxmlformats.org/officeDocument/2006/relationships/tags" Target="../tags/tag1964.xml"/><Relationship Id="rId29" Type="http://schemas.openxmlformats.org/officeDocument/2006/relationships/tags" Target="../tags/tag1990.xml"/><Relationship Id="rId28" Type="http://schemas.openxmlformats.org/officeDocument/2006/relationships/tags" Target="../tags/tag1989.xml"/><Relationship Id="rId27" Type="http://schemas.openxmlformats.org/officeDocument/2006/relationships/tags" Target="../tags/tag1988.xml"/><Relationship Id="rId26" Type="http://schemas.openxmlformats.org/officeDocument/2006/relationships/tags" Target="../tags/tag1987.xml"/><Relationship Id="rId25" Type="http://schemas.openxmlformats.org/officeDocument/2006/relationships/tags" Target="../tags/tag1986.xml"/><Relationship Id="rId24" Type="http://schemas.openxmlformats.org/officeDocument/2006/relationships/tags" Target="../tags/tag1985.xml"/><Relationship Id="rId23" Type="http://schemas.openxmlformats.org/officeDocument/2006/relationships/tags" Target="../tags/tag1984.xml"/><Relationship Id="rId22" Type="http://schemas.openxmlformats.org/officeDocument/2006/relationships/tags" Target="../tags/tag1983.xml"/><Relationship Id="rId21" Type="http://schemas.openxmlformats.org/officeDocument/2006/relationships/tags" Target="../tags/tag1982.xml"/><Relationship Id="rId20" Type="http://schemas.openxmlformats.org/officeDocument/2006/relationships/tags" Target="../tags/tag1981.xml"/><Relationship Id="rId2" Type="http://schemas.openxmlformats.org/officeDocument/2006/relationships/tags" Target="../tags/tag1963.xml"/><Relationship Id="rId19" Type="http://schemas.openxmlformats.org/officeDocument/2006/relationships/tags" Target="../tags/tag1980.xml"/><Relationship Id="rId180" Type="http://schemas.openxmlformats.org/officeDocument/2006/relationships/slideLayout" Target="../slideLayouts/slideLayout12.xml"/><Relationship Id="rId18" Type="http://schemas.openxmlformats.org/officeDocument/2006/relationships/tags" Target="../tags/tag1979.xml"/><Relationship Id="rId179" Type="http://schemas.openxmlformats.org/officeDocument/2006/relationships/image" Target="../media/image36.png"/><Relationship Id="rId178" Type="http://schemas.openxmlformats.org/officeDocument/2006/relationships/image" Target="../media/image1117.svg"/><Relationship Id="rId177" Type="http://schemas.openxmlformats.org/officeDocument/2006/relationships/image" Target="../media/image21.png"/><Relationship Id="rId176" Type="http://schemas.openxmlformats.org/officeDocument/2006/relationships/tags" Target="../tags/tag2137.xml"/><Relationship Id="rId175" Type="http://schemas.openxmlformats.org/officeDocument/2006/relationships/tags" Target="../tags/tag2136.xml"/><Relationship Id="rId174" Type="http://schemas.openxmlformats.org/officeDocument/2006/relationships/tags" Target="../tags/tag2135.xml"/><Relationship Id="rId173" Type="http://schemas.openxmlformats.org/officeDocument/2006/relationships/tags" Target="../tags/tag2134.xml"/><Relationship Id="rId172" Type="http://schemas.openxmlformats.org/officeDocument/2006/relationships/tags" Target="../tags/tag2133.xml"/><Relationship Id="rId171" Type="http://schemas.openxmlformats.org/officeDocument/2006/relationships/tags" Target="../tags/tag2132.xml"/><Relationship Id="rId170" Type="http://schemas.openxmlformats.org/officeDocument/2006/relationships/tags" Target="../tags/tag2131.xml"/><Relationship Id="rId17" Type="http://schemas.openxmlformats.org/officeDocument/2006/relationships/tags" Target="../tags/tag1978.xml"/><Relationship Id="rId169" Type="http://schemas.openxmlformats.org/officeDocument/2006/relationships/tags" Target="../tags/tag2130.xml"/><Relationship Id="rId168" Type="http://schemas.openxmlformats.org/officeDocument/2006/relationships/tags" Target="../tags/tag2129.xml"/><Relationship Id="rId167" Type="http://schemas.openxmlformats.org/officeDocument/2006/relationships/tags" Target="../tags/tag2128.xml"/><Relationship Id="rId166" Type="http://schemas.openxmlformats.org/officeDocument/2006/relationships/tags" Target="../tags/tag2127.xml"/><Relationship Id="rId165" Type="http://schemas.openxmlformats.org/officeDocument/2006/relationships/tags" Target="../tags/tag2126.xml"/><Relationship Id="rId164" Type="http://schemas.openxmlformats.org/officeDocument/2006/relationships/tags" Target="../tags/tag2125.xml"/><Relationship Id="rId163" Type="http://schemas.openxmlformats.org/officeDocument/2006/relationships/tags" Target="../tags/tag2124.xml"/><Relationship Id="rId162" Type="http://schemas.openxmlformats.org/officeDocument/2006/relationships/tags" Target="../tags/tag2123.xml"/><Relationship Id="rId161" Type="http://schemas.openxmlformats.org/officeDocument/2006/relationships/tags" Target="../tags/tag2122.xml"/><Relationship Id="rId160" Type="http://schemas.openxmlformats.org/officeDocument/2006/relationships/tags" Target="../tags/tag2121.xml"/><Relationship Id="rId16" Type="http://schemas.openxmlformats.org/officeDocument/2006/relationships/tags" Target="../tags/tag1977.xml"/><Relationship Id="rId159" Type="http://schemas.openxmlformats.org/officeDocument/2006/relationships/tags" Target="../tags/tag2120.xml"/><Relationship Id="rId158" Type="http://schemas.openxmlformats.org/officeDocument/2006/relationships/tags" Target="../tags/tag2119.xml"/><Relationship Id="rId157" Type="http://schemas.openxmlformats.org/officeDocument/2006/relationships/tags" Target="../tags/tag2118.xml"/><Relationship Id="rId156" Type="http://schemas.openxmlformats.org/officeDocument/2006/relationships/tags" Target="../tags/tag2117.xml"/><Relationship Id="rId155" Type="http://schemas.openxmlformats.org/officeDocument/2006/relationships/tags" Target="../tags/tag2116.xml"/><Relationship Id="rId154" Type="http://schemas.openxmlformats.org/officeDocument/2006/relationships/tags" Target="../tags/tag2115.xml"/><Relationship Id="rId153" Type="http://schemas.openxmlformats.org/officeDocument/2006/relationships/tags" Target="../tags/tag2114.xml"/><Relationship Id="rId152" Type="http://schemas.openxmlformats.org/officeDocument/2006/relationships/tags" Target="../tags/tag2113.xml"/><Relationship Id="rId151" Type="http://schemas.openxmlformats.org/officeDocument/2006/relationships/tags" Target="../tags/tag2112.xml"/><Relationship Id="rId150" Type="http://schemas.openxmlformats.org/officeDocument/2006/relationships/tags" Target="../tags/tag2111.xml"/><Relationship Id="rId15" Type="http://schemas.openxmlformats.org/officeDocument/2006/relationships/tags" Target="../tags/tag1976.xml"/><Relationship Id="rId149" Type="http://schemas.openxmlformats.org/officeDocument/2006/relationships/tags" Target="../tags/tag2110.xml"/><Relationship Id="rId148" Type="http://schemas.openxmlformats.org/officeDocument/2006/relationships/tags" Target="../tags/tag2109.xml"/><Relationship Id="rId147" Type="http://schemas.openxmlformats.org/officeDocument/2006/relationships/tags" Target="../tags/tag2108.xml"/><Relationship Id="rId146" Type="http://schemas.openxmlformats.org/officeDocument/2006/relationships/tags" Target="../tags/tag2107.xml"/><Relationship Id="rId145" Type="http://schemas.openxmlformats.org/officeDocument/2006/relationships/tags" Target="../tags/tag2106.xml"/><Relationship Id="rId144" Type="http://schemas.openxmlformats.org/officeDocument/2006/relationships/tags" Target="../tags/tag2105.xml"/><Relationship Id="rId143" Type="http://schemas.openxmlformats.org/officeDocument/2006/relationships/tags" Target="../tags/tag2104.xml"/><Relationship Id="rId142" Type="http://schemas.openxmlformats.org/officeDocument/2006/relationships/tags" Target="../tags/tag2103.xml"/><Relationship Id="rId141" Type="http://schemas.openxmlformats.org/officeDocument/2006/relationships/tags" Target="../tags/tag2102.xml"/><Relationship Id="rId140" Type="http://schemas.openxmlformats.org/officeDocument/2006/relationships/tags" Target="../tags/tag2101.xml"/><Relationship Id="rId14" Type="http://schemas.openxmlformats.org/officeDocument/2006/relationships/tags" Target="../tags/tag1975.xml"/><Relationship Id="rId139" Type="http://schemas.openxmlformats.org/officeDocument/2006/relationships/tags" Target="../tags/tag2100.xml"/><Relationship Id="rId138" Type="http://schemas.openxmlformats.org/officeDocument/2006/relationships/tags" Target="../tags/tag2099.xml"/><Relationship Id="rId137" Type="http://schemas.openxmlformats.org/officeDocument/2006/relationships/tags" Target="../tags/tag2098.xml"/><Relationship Id="rId136" Type="http://schemas.openxmlformats.org/officeDocument/2006/relationships/tags" Target="../tags/tag2097.xml"/><Relationship Id="rId135" Type="http://schemas.openxmlformats.org/officeDocument/2006/relationships/tags" Target="../tags/tag2096.xml"/><Relationship Id="rId134" Type="http://schemas.openxmlformats.org/officeDocument/2006/relationships/tags" Target="../tags/tag2095.xml"/><Relationship Id="rId133" Type="http://schemas.openxmlformats.org/officeDocument/2006/relationships/tags" Target="../tags/tag2094.xml"/><Relationship Id="rId132" Type="http://schemas.openxmlformats.org/officeDocument/2006/relationships/tags" Target="../tags/tag2093.xml"/><Relationship Id="rId131" Type="http://schemas.openxmlformats.org/officeDocument/2006/relationships/tags" Target="../tags/tag2092.xml"/><Relationship Id="rId130" Type="http://schemas.openxmlformats.org/officeDocument/2006/relationships/tags" Target="../tags/tag2091.xml"/><Relationship Id="rId13" Type="http://schemas.openxmlformats.org/officeDocument/2006/relationships/tags" Target="../tags/tag1974.xml"/><Relationship Id="rId129" Type="http://schemas.openxmlformats.org/officeDocument/2006/relationships/tags" Target="../tags/tag2090.xml"/><Relationship Id="rId128" Type="http://schemas.openxmlformats.org/officeDocument/2006/relationships/tags" Target="../tags/tag2089.xml"/><Relationship Id="rId127" Type="http://schemas.openxmlformats.org/officeDocument/2006/relationships/tags" Target="../tags/tag2088.xml"/><Relationship Id="rId126" Type="http://schemas.openxmlformats.org/officeDocument/2006/relationships/tags" Target="../tags/tag2087.xml"/><Relationship Id="rId125" Type="http://schemas.openxmlformats.org/officeDocument/2006/relationships/tags" Target="../tags/tag2086.xml"/><Relationship Id="rId124" Type="http://schemas.openxmlformats.org/officeDocument/2006/relationships/tags" Target="../tags/tag2085.xml"/><Relationship Id="rId123" Type="http://schemas.openxmlformats.org/officeDocument/2006/relationships/tags" Target="../tags/tag2084.xml"/><Relationship Id="rId122" Type="http://schemas.openxmlformats.org/officeDocument/2006/relationships/tags" Target="../tags/tag2083.xml"/><Relationship Id="rId121" Type="http://schemas.openxmlformats.org/officeDocument/2006/relationships/tags" Target="../tags/tag2082.xml"/><Relationship Id="rId120" Type="http://schemas.openxmlformats.org/officeDocument/2006/relationships/tags" Target="../tags/tag2081.xml"/><Relationship Id="rId12" Type="http://schemas.openxmlformats.org/officeDocument/2006/relationships/tags" Target="../tags/tag1973.xml"/><Relationship Id="rId119" Type="http://schemas.openxmlformats.org/officeDocument/2006/relationships/tags" Target="../tags/tag2080.xml"/><Relationship Id="rId118" Type="http://schemas.openxmlformats.org/officeDocument/2006/relationships/tags" Target="../tags/tag2079.xml"/><Relationship Id="rId117" Type="http://schemas.openxmlformats.org/officeDocument/2006/relationships/tags" Target="../tags/tag2078.xml"/><Relationship Id="rId116" Type="http://schemas.openxmlformats.org/officeDocument/2006/relationships/tags" Target="../tags/tag2077.xml"/><Relationship Id="rId115" Type="http://schemas.openxmlformats.org/officeDocument/2006/relationships/tags" Target="../tags/tag2076.xml"/><Relationship Id="rId114" Type="http://schemas.openxmlformats.org/officeDocument/2006/relationships/tags" Target="../tags/tag2075.xml"/><Relationship Id="rId113" Type="http://schemas.openxmlformats.org/officeDocument/2006/relationships/tags" Target="../tags/tag2074.xml"/><Relationship Id="rId112" Type="http://schemas.openxmlformats.org/officeDocument/2006/relationships/tags" Target="../tags/tag2073.xml"/><Relationship Id="rId111" Type="http://schemas.openxmlformats.org/officeDocument/2006/relationships/tags" Target="../tags/tag2072.xml"/><Relationship Id="rId110" Type="http://schemas.openxmlformats.org/officeDocument/2006/relationships/tags" Target="../tags/tag2071.xml"/><Relationship Id="rId11" Type="http://schemas.openxmlformats.org/officeDocument/2006/relationships/tags" Target="../tags/tag1972.xml"/><Relationship Id="rId109" Type="http://schemas.openxmlformats.org/officeDocument/2006/relationships/tags" Target="../tags/tag2070.xml"/><Relationship Id="rId108" Type="http://schemas.openxmlformats.org/officeDocument/2006/relationships/tags" Target="../tags/tag2069.xml"/><Relationship Id="rId107" Type="http://schemas.openxmlformats.org/officeDocument/2006/relationships/tags" Target="../tags/tag2068.xml"/><Relationship Id="rId106" Type="http://schemas.openxmlformats.org/officeDocument/2006/relationships/tags" Target="../tags/tag2067.xml"/><Relationship Id="rId105" Type="http://schemas.openxmlformats.org/officeDocument/2006/relationships/tags" Target="../tags/tag2066.xml"/><Relationship Id="rId104" Type="http://schemas.openxmlformats.org/officeDocument/2006/relationships/tags" Target="../tags/tag2065.xml"/><Relationship Id="rId103" Type="http://schemas.openxmlformats.org/officeDocument/2006/relationships/tags" Target="../tags/tag2064.xml"/><Relationship Id="rId102" Type="http://schemas.openxmlformats.org/officeDocument/2006/relationships/tags" Target="../tags/tag2063.xml"/><Relationship Id="rId101" Type="http://schemas.openxmlformats.org/officeDocument/2006/relationships/tags" Target="../tags/tag2062.xml"/><Relationship Id="rId100" Type="http://schemas.openxmlformats.org/officeDocument/2006/relationships/tags" Target="../tags/tag2061.xml"/><Relationship Id="rId10" Type="http://schemas.openxmlformats.org/officeDocument/2006/relationships/tags" Target="../tags/tag1971.xml"/><Relationship Id="rId1" Type="http://schemas.openxmlformats.org/officeDocument/2006/relationships/tags" Target="../tags/tag1962.xml"/></Relationships>
</file>

<file path=ppt/slides/_rels/slide20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17.svg"/><Relationship Id="rId1" Type="http://schemas.openxmlformats.org/officeDocument/2006/relationships/image" Target="../media/image21.png"/></Relationships>
</file>

<file path=ppt/slides/_rels/slide20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11.svg"/><Relationship Id="rId1" Type="http://schemas.openxmlformats.org/officeDocument/2006/relationships/image" Target="../media/image21.png"/></Relationships>
</file>

<file path=ppt/slides/_rels/slide204.xml.rels><?xml version="1.0" encoding="UTF-8" standalone="yes"?>
<Relationships xmlns="http://schemas.openxmlformats.org/package/2006/relationships"><Relationship Id="rId9" Type="http://schemas.openxmlformats.org/officeDocument/2006/relationships/tags" Target="../tags/tag2144.xml"/><Relationship Id="rId8" Type="http://schemas.openxmlformats.org/officeDocument/2006/relationships/tags" Target="../tags/tag2143.xml"/><Relationship Id="rId7" Type="http://schemas.openxmlformats.org/officeDocument/2006/relationships/tags" Target="../tags/tag2142.xml"/><Relationship Id="rId6" Type="http://schemas.openxmlformats.org/officeDocument/2006/relationships/tags" Target="../tags/tag2141.xml"/><Relationship Id="rId57" Type="http://schemas.openxmlformats.org/officeDocument/2006/relationships/slideLayout" Target="../slideLayouts/slideLayout12.xml"/><Relationship Id="rId56" Type="http://schemas.openxmlformats.org/officeDocument/2006/relationships/image" Target="../media/image36.png"/><Relationship Id="rId55" Type="http://schemas.openxmlformats.org/officeDocument/2006/relationships/image" Target="../media/image1128.svg"/><Relationship Id="rId54" Type="http://schemas.openxmlformats.org/officeDocument/2006/relationships/image" Target="../media/image1127.png"/><Relationship Id="rId53" Type="http://schemas.openxmlformats.org/officeDocument/2006/relationships/tags" Target="../tags/tag2180.xml"/><Relationship Id="rId52" Type="http://schemas.openxmlformats.org/officeDocument/2006/relationships/image" Target="../media/image1126.svg"/><Relationship Id="rId51" Type="http://schemas.openxmlformats.org/officeDocument/2006/relationships/image" Target="../media/image1125.png"/><Relationship Id="rId50" Type="http://schemas.openxmlformats.org/officeDocument/2006/relationships/tags" Target="../tags/tag2179.xml"/><Relationship Id="rId5" Type="http://schemas.openxmlformats.org/officeDocument/2006/relationships/tags" Target="../tags/tag2140.xml"/><Relationship Id="rId49" Type="http://schemas.openxmlformats.org/officeDocument/2006/relationships/image" Target="../media/image1124.svg"/><Relationship Id="rId48" Type="http://schemas.openxmlformats.org/officeDocument/2006/relationships/image" Target="../media/image1123.png"/><Relationship Id="rId47" Type="http://schemas.openxmlformats.org/officeDocument/2006/relationships/tags" Target="../tags/tag2178.xml"/><Relationship Id="rId46" Type="http://schemas.openxmlformats.org/officeDocument/2006/relationships/image" Target="../media/image1122.svg"/><Relationship Id="rId45" Type="http://schemas.openxmlformats.org/officeDocument/2006/relationships/image" Target="../media/image1121.png"/><Relationship Id="rId44" Type="http://schemas.openxmlformats.org/officeDocument/2006/relationships/tags" Target="../tags/tag2177.xml"/><Relationship Id="rId43" Type="http://schemas.openxmlformats.org/officeDocument/2006/relationships/image" Target="../media/image1120.svg"/><Relationship Id="rId42" Type="http://schemas.openxmlformats.org/officeDocument/2006/relationships/image" Target="../media/image1119.png"/><Relationship Id="rId41" Type="http://schemas.openxmlformats.org/officeDocument/2006/relationships/tags" Target="../tags/tag2176.xml"/><Relationship Id="rId40" Type="http://schemas.openxmlformats.org/officeDocument/2006/relationships/tags" Target="../tags/tag2175.xml"/><Relationship Id="rId4" Type="http://schemas.openxmlformats.org/officeDocument/2006/relationships/tags" Target="../tags/tag2139.xml"/><Relationship Id="rId39" Type="http://schemas.openxmlformats.org/officeDocument/2006/relationships/tags" Target="../tags/tag2174.xml"/><Relationship Id="rId38" Type="http://schemas.openxmlformats.org/officeDocument/2006/relationships/tags" Target="../tags/tag2173.xml"/><Relationship Id="rId37" Type="http://schemas.openxmlformats.org/officeDocument/2006/relationships/tags" Target="../tags/tag2172.xml"/><Relationship Id="rId36" Type="http://schemas.openxmlformats.org/officeDocument/2006/relationships/tags" Target="../tags/tag2171.xml"/><Relationship Id="rId35" Type="http://schemas.openxmlformats.org/officeDocument/2006/relationships/tags" Target="../tags/tag2170.xml"/><Relationship Id="rId34" Type="http://schemas.openxmlformats.org/officeDocument/2006/relationships/tags" Target="../tags/tag2169.xml"/><Relationship Id="rId33" Type="http://schemas.openxmlformats.org/officeDocument/2006/relationships/tags" Target="../tags/tag2168.xml"/><Relationship Id="rId32" Type="http://schemas.openxmlformats.org/officeDocument/2006/relationships/tags" Target="../tags/tag2167.xml"/><Relationship Id="rId31" Type="http://schemas.openxmlformats.org/officeDocument/2006/relationships/tags" Target="../tags/tag2166.xml"/><Relationship Id="rId30" Type="http://schemas.openxmlformats.org/officeDocument/2006/relationships/tags" Target="../tags/tag2165.xml"/><Relationship Id="rId3" Type="http://schemas.openxmlformats.org/officeDocument/2006/relationships/tags" Target="../tags/tag2138.xml"/><Relationship Id="rId29" Type="http://schemas.openxmlformats.org/officeDocument/2006/relationships/tags" Target="../tags/tag2164.xml"/><Relationship Id="rId28" Type="http://schemas.openxmlformats.org/officeDocument/2006/relationships/tags" Target="../tags/tag2163.xml"/><Relationship Id="rId27" Type="http://schemas.openxmlformats.org/officeDocument/2006/relationships/tags" Target="../tags/tag2162.xml"/><Relationship Id="rId26" Type="http://schemas.openxmlformats.org/officeDocument/2006/relationships/tags" Target="../tags/tag2161.xml"/><Relationship Id="rId25" Type="http://schemas.openxmlformats.org/officeDocument/2006/relationships/tags" Target="../tags/tag2160.xml"/><Relationship Id="rId24" Type="http://schemas.openxmlformats.org/officeDocument/2006/relationships/tags" Target="../tags/tag2159.xml"/><Relationship Id="rId23" Type="http://schemas.openxmlformats.org/officeDocument/2006/relationships/tags" Target="../tags/tag2158.xml"/><Relationship Id="rId22" Type="http://schemas.openxmlformats.org/officeDocument/2006/relationships/tags" Target="../tags/tag2157.xml"/><Relationship Id="rId21" Type="http://schemas.openxmlformats.org/officeDocument/2006/relationships/tags" Target="../tags/tag2156.xml"/><Relationship Id="rId20" Type="http://schemas.openxmlformats.org/officeDocument/2006/relationships/tags" Target="../tags/tag2155.xml"/><Relationship Id="rId2" Type="http://schemas.openxmlformats.org/officeDocument/2006/relationships/image" Target="../media/image1118.svg"/><Relationship Id="rId19" Type="http://schemas.openxmlformats.org/officeDocument/2006/relationships/tags" Target="../tags/tag2154.xml"/><Relationship Id="rId18" Type="http://schemas.openxmlformats.org/officeDocument/2006/relationships/tags" Target="../tags/tag2153.xml"/><Relationship Id="rId17" Type="http://schemas.openxmlformats.org/officeDocument/2006/relationships/tags" Target="../tags/tag2152.xml"/><Relationship Id="rId16" Type="http://schemas.openxmlformats.org/officeDocument/2006/relationships/tags" Target="../tags/tag2151.xml"/><Relationship Id="rId15" Type="http://schemas.openxmlformats.org/officeDocument/2006/relationships/tags" Target="../tags/tag2150.xml"/><Relationship Id="rId14" Type="http://schemas.openxmlformats.org/officeDocument/2006/relationships/tags" Target="../tags/tag2149.xml"/><Relationship Id="rId13" Type="http://schemas.openxmlformats.org/officeDocument/2006/relationships/tags" Target="../tags/tag2148.xml"/><Relationship Id="rId12" Type="http://schemas.openxmlformats.org/officeDocument/2006/relationships/tags" Target="../tags/tag2147.xml"/><Relationship Id="rId11" Type="http://schemas.openxmlformats.org/officeDocument/2006/relationships/tags" Target="../tags/tag2146.xml"/><Relationship Id="rId10" Type="http://schemas.openxmlformats.org/officeDocument/2006/relationships/tags" Target="../tags/tag2145.xml"/><Relationship Id="rId1" Type="http://schemas.openxmlformats.org/officeDocument/2006/relationships/image" Target="../media/image21.png"/></Relationships>
</file>

<file path=ppt/slides/_rels/slide205.xml.rels><?xml version="1.0" encoding="UTF-8" standalone="yes"?>
<Relationships xmlns="http://schemas.openxmlformats.org/package/2006/relationships"><Relationship Id="rId9" Type="http://schemas.openxmlformats.org/officeDocument/2006/relationships/tags" Target="../tags/tag2187.xml"/><Relationship Id="rId8" Type="http://schemas.openxmlformats.org/officeDocument/2006/relationships/tags" Target="../tags/tag2186.xml"/><Relationship Id="rId7" Type="http://schemas.openxmlformats.org/officeDocument/2006/relationships/tags" Target="../tags/tag2185.xml"/><Relationship Id="rId6" Type="http://schemas.openxmlformats.org/officeDocument/2006/relationships/tags" Target="../tags/tag2184.xml"/><Relationship Id="rId5" Type="http://schemas.openxmlformats.org/officeDocument/2006/relationships/tags" Target="../tags/tag2183.xml"/><Relationship Id="rId4" Type="http://schemas.openxmlformats.org/officeDocument/2006/relationships/tags" Target="../tags/tag2182.xml"/><Relationship Id="rId3" Type="http://schemas.openxmlformats.org/officeDocument/2006/relationships/tags" Target="../tags/tag2181.xml"/><Relationship Id="rId27" Type="http://schemas.openxmlformats.org/officeDocument/2006/relationships/slideLayout" Target="../slideLayouts/slideLayout12.xml"/><Relationship Id="rId26" Type="http://schemas.openxmlformats.org/officeDocument/2006/relationships/image" Target="../media/image36.png"/><Relationship Id="rId25" Type="http://schemas.openxmlformats.org/officeDocument/2006/relationships/image" Target="../media/image1130.svg"/><Relationship Id="rId24" Type="http://schemas.openxmlformats.org/officeDocument/2006/relationships/image" Target="../media/image1129.png"/><Relationship Id="rId23" Type="http://schemas.openxmlformats.org/officeDocument/2006/relationships/tags" Target="../tags/tag2201.xml"/><Relationship Id="rId22" Type="http://schemas.openxmlformats.org/officeDocument/2006/relationships/tags" Target="../tags/tag2200.xml"/><Relationship Id="rId21" Type="http://schemas.openxmlformats.org/officeDocument/2006/relationships/tags" Target="../tags/tag2199.xml"/><Relationship Id="rId20" Type="http://schemas.openxmlformats.org/officeDocument/2006/relationships/tags" Target="../tags/tag2198.xml"/><Relationship Id="rId2" Type="http://schemas.openxmlformats.org/officeDocument/2006/relationships/image" Target="../media/image1118.svg"/><Relationship Id="rId19" Type="http://schemas.openxmlformats.org/officeDocument/2006/relationships/tags" Target="../tags/tag2197.xml"/><Relationship Id="rId18" Type="http://schemas.openxmlformats.org/officeDocument/2006/relationships/tags" Target="../tags/tag2196.xml"/><Relationship Id="rId17" Type="http://schemas.openxmlformats.org/officeDocument/2006/relationships/tags" Target="../tags/tag2195.xml"/><Relationship Id="rId16" Type="http://schemas.openxmlformats.org/officeDocument/2006/relationships/tags" Target="../tags/tag2194.xml"/><Relationship Id="rId15" Type="http://schemas.openxmlformats.org/officeDocument/2006/relationships/tags" Target="../tags/tag2193.xml"/><Relationship Id="rId14" Type="http://schemas.openxmlformats.org/officeDocument/2006/relationships/tags" Target="../tags/tag2192.xml"/><Relationship Id="rId13" Type="http://schemas.openxmlformats.org/officeDocument/2006/relationships/tags" Target="../tags/tag2191.xml"/><Relationship Id="rId12" Type="http://schemas.openxmlformats.org/officeDocument/2006/relationships/tags" Target="../tags/tag2190.xml"/><Relationship Id="rId11" Type="http://schemas.openxmlformats.org/officeDocument/2006/relationships/tags" Target="../tags/tag2189.xml"/><Relationship Id="rId10" Type="http://schemas.openxmlformats.org/officeDocument/2006/relationships/tags" Target="../tags/tag2188.xml"/><Relationship Id="rId1" Type="http://schemas.openxmlformats.org/officeDocument/2006/relationships/image" Target="../media/image21.png"/></Relationships>
</file>

<file path=ppt/slides/_rels/slide206.xml.rels><?xml version="1.0" encoding="UTF-8" standalone="yes"?>
<Relationships xmlns="http://schemas.openxmlformats.org/package/2006/relationships"><Relationship Id="rId9" Type="http://schemas.openxmlformats.org/officeDocument/2006/relationships/tags" Target="../tags/tag2208.xml"/><Relationship Id="rId8" Type="http://schemas.openxmlformats.org/officeDocument/2006/relationships/tags" Target="../tags/tag2207.xml"/><Relationship Id="rId7" Type="http://schemas.openxmlformats.org/officeDocument/2006/relationships/tags" Target="../tags/tag2206.xml"/><Relationship Id="rId6" Type="http://schemas.openxmlformats.org/officeDocument/2006/relationships/tags" Target="../tags/tag2205.xml"/><Relationship Id="rId5" Type="http://schemas.openxmlformats.org/officeDocument/2006/relationships/tags" Target="../tags/tag2204.xml"/><Relationship Id="rId41" Type="http://schemas.openxmlformats.org/officeDocument/2006/relationships/slideLayout" Target="../slideLayouts/slideLayout12.xml"/><Relationship Id="rId40" Type="http://schemas.openxmlformats.org/officeDocument/2006/relationships/image" Target="../media/image36.png"/><Relationship Id="rId4" Type="http://schemas.openxmlformats.org/officeDocument/2006/relationships/tags" Target="../tags/tag2203.xml"/><Relationship Id="rId39" Type="http://schemas.openxmlformats.org/officeDocument/2006/relationships/tags" Target="../tags/tag2232.xml"/><Relationship Id="rId38" Type="http://schemas.openxmlformats.org/officeDocument/2006/relationships/tags" Target="../tags/tag2231.xml"/><Relationship Id="rId37" Type="http://schemas.openxmlformats.org/officeDocument/2006/relationships/tags" Target="../tags/tag2230.xml"/><Relationship Id="rId36" Type="http://schemas.openxmlformats.org/officeDocument/2006/relationships/tags" Target="../tags/tag2229.xml"/><Relationship Id="rId35" Type="http://schemas.openxmlformats.org/officeDocument/2006/relationships/tags" Target="../tags/tag2228.xml"/><Relationship Id="rId34" Type="http://schemas.openxmlformats.org/officeDocument/2006/relationships/tags" Target="../tags/tag2227.xml"/><Relationship Id="rId33" Type="http://schemas.openxmlformats.org/officeDocument/2006/relationships/tags" Target="../tags/tag2226.xml"/><Relationship Id="rId32" Type="http://schemas.openxmlformats.org/officeDocument/2006/relationships/tags" Target="../tags/tag2225.xml"/><Relationship Id="rId31" Type="http://schemas.openxmlformats.org/officeDocument/2006/relationships/tags" Target="../tags/tag2224.xml"/><Relationship Id="rId30" Type="http://schemas.openxmlformats.org/officeDocument/2006/relationships/tags" Target="../tags/tag2223.xml"/><Relationship Id="rId3" Type="http://schemas.openxmlformats.org/officeDocument/2006/relationships/tags" Target="../tags/tag2202.xml"/><Relationship Id="rId29" Type="http://schemas.openxmlformats.org/officeDocument/2006/relationships/tags" Target="../tags/tag2222.xml"/><Relationship Id="rId28" Type="http://schemas.openxmlformats.org/officeDocument/2006/relationships/tags" Target="../tags/tag2221.xml"/><Relationship Id="rId27" Type="http://schemas.openxmlformats.org/officeDocument/2006/relationships/image" Target="../media/image1137.svg"/><Relationship Id="rId26" Type="http://schemas.openxmlformats.org/officeDocument/2006/relationships/image" Target="../media/image1136.png"/><Relationship Id="rId25" Type="http://schemas.openxmlformats.org/officeDocument/2006/relationships/image" Target="../media/image1135.svg"/><Relationship Id="rId24" Type="http://schemas.openxmlformats.org/officeDocument/2006/relationships/image" Target="../media/image1134.png"/><Relationship Id="rId23" Type="http://schemas.openxmlformats.org/officeDocument/2006/relationships/image" Target="../media/image1133.svg"/><Relationship Id="rId22" Type="http://schemas.openxmlformats.org/officeDocument/2006/relationships/image" Target="../media/image1132.png"/><Relationship Id="rId21" Type="http://schemas.openxmlformats.org/officeDocument/2006/relationships/tags" Target="../tags/tag2220.xml"/><Relationship Id="rId20" Type="http://schemas.openxmlformats.org/officeDocument/2006/relationships/tags" Target="../tags/tag2219.xml"/><Relationship Id="rId2" Type="http://schemas.openxmlformats.org/officeDocument/2006/relationships/image" Target="../media/image1131.svg"/><Relationship Id="rId19" Type="http://schemas.openxmlformats.org/officeDocument/2006/relationships/tags" Target="../tags/tag2218.xml"/><Relationship Id="rId18" Type="http://schemas.openxmlformats.org/officeDocument/2006/relationships/tags" Target="../tags/tag2217.xml"/><Relationship Id="rId17" Type="http://schemas.openxmlformats.org/officeDocument/2006/relationships/tags" Target="../tags/tag2216.xml"/><Relationship Id="rId16" Type="http://schemas.openxmlformats.org/officeDocument/2006/relationships/tags" Target="../tags/tag2215.xml"/><Relationship Id="rId15" Type="http://schemas.openxmlformats.org/officeDocument/2006/relationships/tags" Target="../tags/tag2214.xml"/><Relationship Id="rId14" Type="http://schemas.openxmlformats.org/officeDocument/2006/relationships/tags" Target="../tags/tag2213.xml"/><Relationship Id="rId13" Type="http://schemas.openxmlformats.org/officeDocument/2006/relationships/tags" Target="../tags/tag2212.xml"/><Relationship Id="rId12" Type="http://schemas.openxmlformats.org/officeDocument/2006/relationships/tags" Target="../tags/tag2211.xml"/><Relationship Id="rId11" Type="http://schemas.openxmlformats.org/officeDocument/2006/relationships/tags" Target="../tags/tag2210.xml"/><Relationship Id="rId10" Type="http://schemas.openxmlformats.org/officeDocument/2006/relationships/tags" Target="../tags/tag2209.xml"/><Relationship Id="rId1" Type="http://schemas.openxmlformats.org/officeDocument/2006/relationships/image" Target="../media/image21.png"/></Relationships>
</file>

<file path=ppt/slides/_rels/slide207.xml.rels><?xml version="1.0" encoding="UTF-8" standalone="yes"?>
<Relationships xmlns="http://schemas.openxmlformats.org/package/2006/relationships"><Relationship Id="rId6" Type="http://schemas.openxmlformats.org/officeDocument/2006/relationships/slideLayout" Target="../slideLayouts/slideLayout12.xml"/><Relationship Id="rId5" Type="http://schemas.openxmlformats.org/officeDocument/2006/relationships/image" Target="../media/image36.png"/><Relationship Id="rId4" Type="http://schemas.openxmlformats.org/officeDocument/2006/relationships/image" Target="../media/image1140.svg"/><Relationship Id="rId3" Type="http://schemas.openxmlformats.org/officeDocument/2006/relationships/image" Target="../media/image1139.png"/><Relationship Id="rId2" Type="http://schemas.openxmlformats.org/officeDocument/2006/relationships/image" Target="../media/image1138.svg"/><Relationship Id="rId1" Type="http://schemas.openxmlformats.org/officeDocument/2006/relationships/image" Target="../media/image21.png"/></Relationships>
</file>

<file path=ppt/slides/_rels/slide208.xml.rels><?xml version="1.0" encoding="UTF-8" standalone="yes"?>
<Relationships xmlns="http://schemas.openxmlformats.org/package/2006/relationships"><Relationship Id="rId6" Type="http://schemas.openxmlformats.org/officeDocument/2006/relationships/slideLayout" Target="../slideLayouts/slideLayout12.xml"/><Relationship Id="rId5" Type="http://schemas.openxmlformats.org/officeDocument/2006/relationships/image" Target="../media/image36.png"/><Relationship Id="rId4" Type="http://schemas.openxmlformats.org/officeDocument/2006/relationships/image" Target="../media/image1143.svg"/><Relationship Id="rId3" Type="http://schemas.openxmlformats.org/officeDocument/2006/relationships/image" Target="../media/image1142.png"/><Relationship Id="rId2" Type="http://schemas.openxmlformats.org/officeDocument/2006/relationships/image" Target="../media/image1141.svg"/><Relationship Id="rId1" Type="http://schemas.openxmlformats.org/officeDocument/2006/relationships/image" Target="../media/image21.png"/></Relationships>
</file>

<file path=ppt/slides/_rels/slide20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44.svg"/><Relationship Id="rId1" Type="http://schemas.openxmlformats.org/officeDocument/2006/relationships/image" Target="../media/image21.png"/></Relationships>
</file>

<file path=ppt/slides/_rels/slide210.xml.rels><?xml version="1.0" encoding="UTF-8" standalone="yes"?>
<Relationships xmlns="http://schemas.openxmlformats.org/package/2006/relationships"><Relationship Id="rId9" Type="http://schemas.openxmlformats.org/officeDocument/2006/relationships/tags" Target="../tags/tag2239.xml"/><Relationship Id="rId8" Type="http://schemas.openxmlformats.org/officeDocument/2006/relationships/tags" Target="../tags/tag2238.xml"/><Relationship Id="rId70" Type="http://schemas.openxmlformats.org/officeDocument/2006/relationships/slideLayout" Target="../slideLayouts/slideLayout12.xml"/><Relationship Id="rId7" Type="http://schemas.openxmlformats.org/officeDocument/2006/relationships/tags" Target="../tags/tag2237.xml"/><Relationship Id="rId69" Type="http://schemas.openxmlformats.org/officeDocument/2006/relationships/image" Target="../media/image36.png"/><Relationship Id="rId68" Type="http://schemas.openxmlformats.org/officeDocument/2006/relationships/tags" Target="../tags/tag2289.xml"/><Relationship Id="rId67" Type="http://schemas.openxmlformats.org/officeDocument/2006/relationships/tags" Target="../tags/tag2288.xml"/><Relationship Id="rId66" Type="http://schemas.openxmlformats.org/officeDocument/2006/relationships/image" Target="../media/image1154.svg"/><Relationship Id="rId65" Type="http://schemas.openxmlformats.org/officeDocument/2006/relationships/tags" Target="../tags/tag2287.xml"/><Relationship Id="rId64" Type="http://schemas.openxmlformats.org/officeDocument/2006/relationships/tags" Target="../tags/tag2286.xml"/><Relationship Id="rId63" Type="http://schemas.openxmlformats.org/officeDocument/2006/relationships/tags" Target="../tags/tag2285.xml"/><Relationship Id="rId62" Type="http://schemas.openxmlformats.org/officeDocument/2006/relationships/image" Target="../media/image1153.svg"/><Relationship Id="rId61" Type="http://schemas.openxmlformats.org/officeDocument/2006/relationships/tags" Target="../tags/tag2284.xml"/><Relationship Id="rId60" Type="http://schemas.openxmlformats.org/officeDocument/2006/relationships/tags" Target="../tags/tag2283.xml"/><Relationship Id="rId6" Type="http://schemas.openxmlformats.org/officeDocument/2006/relationships/tags" Target="../tags/tag2236.xml"/><Relationship Id="rId59" Type="http://schemas.openxmlformats.org/officeDocument/2006/relationships/tags" Target="../tags/tag2282.xml"/><Relationship Id="rId58" Type="http://schemas.openxmlformats.org/officeDocument/2006/relationships/image" Target="../media/image1152.svg"/><Relationship Id="rId57" Type="http://schemas.openxmlformats.org/officeDocument/2006/relationships/tags" Target="../tags/tag2281.xml"/><Relationship Id="rId56" Type="http://schemas.openxmlformats.org/officeDocument/2006/relationships/tags" Target="../tags/tag2280.xml"/><Relationship Id="rId55" Type="http://schemas.openxmlformats.org/officeDocument/2006/relationships/tags" Target="../tags/tag2279.xml"/><Relationship Id="rId54" Type="http://schemas.openxmlformats.org/officeDocument/2006/relationships/image" Target="../media/image1151.svg"/><Relationship Id="rId53" Type="http://schemas.openxmlformats.org/officeDocument/2006/relationships/image" Target="../media/image1150.png"/><Relationship Id="rId52" Type="http://schemas.openxmlformats.org/officeDocument/2006/relationships/tags" Target="../tags/tag2278.xml"/><Relationship Id="rId51" Type="http://schemas.openxmlformats.org/officeDocument/2006/relationships/tags" Target="../tags/tag2277.xml"/><Relationship Id="rId50" Type="http://schemas.openxmlformats.org/officeDocument/2006/relationships/tags" Target="../tags/tag2276.xml"/><Relationship Id="rId5" Type="http://schemas.openxmlformats.org/officeDocument/2006/relationships/tags" Target="../tags/tag2235.xml"/><Relationship Id="rId49" Type="http://schemas.openxmlformats.org/officeDocument/2006/relationships/image" Target="../media/image1149.svg"/><Relationship Id="rId48" Type="http://schemas.openxmlformats.org/officeDocument/2006/relationships/image" Target="../media/image1148.png"/><Relationship Id="rId47" Type="http://schemas.openxmlformats.org/officeDocument/2006/relationships/tags" Target="../tags/tag2275.xml"/><Relationship Id="rId46" Type="http://schemas.openxmlformats.org/officeDocument/2006/relationships/tags" Target="../tags/tag2274.xml"/><Relationship Id="rId45" Type="http://schemas.openxmlformats.org/officeDocument/2006/relationships/tags" Target="../tags/tag2273.xml"/><Relationship Id="rId44" Type="http://schemas.openxmlformats.org/officeDocument/2006/relationships/image" Target="../media/image1147.svg"/><Relationship Id="rId43" Type="http://schemas.openxmlformats.org/officeDocument/2006/relationships/image" Target="../media/image1146.png"/><Relationship Id="rId42" Type="http://schemas.openxmlformats.org/officeDocument/2006/relationships/tags" Target="../tags/tag2272.xml"/><Relationship Id="rId41" Type="http://schemas.openxmlformats.org/officeDocument/2006/relationships/tags" Target="../tags/tag2271.xml"/><Relationship Id="rId40" Type="http://schemas.openxmlformats.org/officeDocument/2006/relationships/tags" Target="../tags/tag2270.xml"/><Relationship Id="rId4" Type="http://schemas.openxmlformats.org/officeDocument/2006/relationships/tags" Target="../tags/tag2234.xml"/><Relationship Id="rId39" Type="http://schemas.openxmlformats.org/officeDocument/2006/relationships/tags" Target="../tags/tag2269.xml"/><Relationship Id="rId38" Type="http://schemas.openxmlformats.org/officeDocument/2006/relationships/tags" Target="../tags/tag2268.xml"/><Relationship Id="rId37" Type="http://schemas.openxmlformats.org/officeDocument/2006/relationships/tags" Target="../tags/tag2267.xml"/><Relationship Id="rId36" Type="http://schemas.openxmlformats.org/officeDocument/2006/relationships/tags" Target="../tags/tag2266.xml"/><Relationship Id="rId35" Type="http://schemas.openxmlformats.org/officeDocument/2006/relationships/tags" Target="../tags/tag2265.xml"/><Relationship Id="rId34" Type="http://schemas.openxmlformats.org/officeDocument/2006/relationships/tags" Target="../tags/tag2264.xml"/><Relationship Id="rId33" Type="http://schemas.openxmlformats.org/officeDocument/2006/relationships/tags" Target="../tags/tag2263.xml"/><Relationship Id="rId32" Type="http://schemas.openxmlformats.org/officeDocument/2006/relationships/tags" Target="../tags/tag2262.xml"/><Relationship Id="rId31" Type="http://schemas.openxmlformats.org/officeDocument/2006/relationships/tags" Target="../tags/tag2261.xml"/><Relationship Id="rId30" Type="http://schemas.openxmlformats.org/officeDocument/2006/relationships/tags" Target="../tags/tag2260.xml"/><Relationship Id="rId3" Type="http://schemas.openxmlformats.org/officeDocument/2006/relationships/tags" Target="../tags/tag2233.xml"/><Relationship Id="rId29" Type="http://schemas.openxmlformats.org/officeDocument/2006/relationships/tags" Target="../tags/tag2259.xml"/><Relationship Id="rId28" Type="http://schemas.openxmlformats.org/officeDocument/2006/relationships/tags" Target="../tags/tag2258.xml"/><Relationship Id="rId27" Type="http://schemas.openxmlformats.org/officeDocument/2006/relationships/tags" Target="../tags/tag2257.xml"/><Relationship Id="rId26" Type="http://schemas.openxmlformats.org/officeDocument/2006/relationships/tags" Target="../tags/tag2256.xml"/><Relationship Id="rId25" Type="http://schemas.openxmlformats.org/officeDocument/2006/relationships/tags" Target="../tags/tag2255.xml"/><Relationship Id="rId24" Type="http://schemas.openxmlformats.org/officeDocument/2006/relationships/tags" Target="../tags/tag2254.xml"/><Relationship Id="rId23" Type="http://schemas.openxmlformats.org/officeDocument/2006/relationships/tags" Target="../tags/tag2253.xml"/><Relationship Id="rId22" Type="http://schemas.openxmlformats.org/officeDocument/2006/relationships/tags" Target="../tags/tag2252.xml"/><Relationship Id="rId21" Type="http://schemas.openxmlformats.org/officeDocument/2006/relationships/tags" Target="../tags/tag2251.xml"/><Relationship Id="rId20" Type="http://schemas.openxmlformats.org/officeDocument/2006/relationships/tags" Target="../tags/tag2250.xml"/><Relationship Id="rId2" Type="http://schemas.openxmlformats.org/officeDocument/2006/relationships/image" Target="../media/image1145.svg"/><Relationship Id="rId19" Type="http://schemas.openxmlformats.org/officeDocument/2006/relationships/tags" Target="../tags/tag2249.xml"/><Relationship Id="rId18" Type="http://schemas.openxmlformats.org/officeDocument/2006/relationships/tags" Target="../tags/tag2248.xml"/><Relationship Id="rId17" Type="http://schemas.openxmlformats.org/officeDocument/2006/relationships/tags" Target="../tags/tag2247.xml"/><Relationship Id="rId16" Type="http://schemas.openxmlformats.org/officeDocument/2006/relationships/tags" Target="../tags/tag2246.xml"/><Relationship Id="rId15" Type="http://schemas.openxmlformats.org/officeDocument/2006/relationships/tags" Target="../tags/tag2245.xml"/><Relationship Id="rId14" Type="http://schemas.openxmlformats.org/officeDocument/2006/relationships/tags" Target="../tags/tag2244.xml"/><Relationship Id="rId13" Type="http://schemas.openxmlformats.org/officeDocument/2006/relationships/tags" Target="../tags/tag2243.xml"/><Relationship Id="rId12" Type="http://schemas.openxmlformats.org/officeDocument/2006/relationships/tags" Target="../tags/tag2242.xml"/><Relationship Id="rId11" Type="http://schemas.openxmlformats.org/officeDocument/2006/relationships/tags" Target="../tags/tag2241.xml"/><Relationship Id="rId10" Type="http://schemas.openxmlformats.org/officeDocument/2006/relationships/tags" Target="../tags/tag2240.xml"/><Relationship Id="rId1" Type="http://schemas.openxmlformats.org/officeDocument/2006/relationships/image" Target="../media/image21.png"/></Relationships>
</file>

<file path=ppt/slides/_rels/slide211.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image" Target="../media/image36.png"/><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 Id="rId3" Type="http://schemas.openxmlformats.org/officeDocument/2006/relationships/diagramData" Target="../diagrams/data1.xml"/><Relationship Id="rId2" Type="http://schemas.openxmlformats.org/officeDocument/2006/relationships/image" Target="../media/image1155.svg"/><Relationship Id="rId1" Type="http://schemas.openxmlformats.org/officeDocument/2006/relationships/image" Target="../media/image21.png"/></Relationships>
</file>

<file path=ppt/slides/_rels/slide212.xml.rels><?xml version="1.0" encoding="UTF-8" standalone="yes"?>
<Relationships xmlns="http://schemas.openxmlformats.org/package/2006/relationships"><Relationship Id="rId9" Type="http://schemas.openxmlformats.org/officeDocument/2006/relationships/tags" Target="../tags/tag2296.xml"/><Relationship Id="rId8" Type="http://schemas.openxmlformats.org/officeDocument/2006/relationships/tags" Target="../tags/tag2295.xml"/><Relationship Id="rId7" Type="http://schemas.openxmlformats.org/officeDocument/2006/relationships/tags" Target="../tags/tag2294.xml"/><Relationship Id="rId6" Type="http://schemas.openxmlformats.org/officeDocument/2006/relationships/tags" Target="../tags/tag2293.xml"/><Relationship Id="rId5" Type="http://schemas.openxmlformats.org/officeDocument/2006/relationships/tags" Target="../tags/tag2292.xml"/><Relationship Id="rId40" Type="http://schemas.openxmlformats.org/officeDocument/2006/relationships/slideLayout" Target="../slideLayouts/slideLayout12.xml"/><Relationship Id="rId4" Type="http://schemas.openxmlformats.org/officeDocument/2006/relationships/tags" Target="../tags/tag2291.xml"/><Relationship Id="rId39" Type="http://schemas.openxmlformats.org/officeDocument/2006/relationships/image" Target="../media/image36.png"/><Relationship Id="rId38" Type="http://schemas.openxmlformats.org/officeDocument/2006/relationships/tags" Target="../tags/tag2325.xml"/><Relationship Id="rId37" Type="http://schemas.openxmlformats.org/officeDocument/2006/relationships/tags" Target="../tags/tag2324.xml"/><Relationship Id="rId36" Type="http://schemas.openxmlformats.org/officeDocument/2006/relationships/tags" Target="../tags/tag2323.xml"/><Relationship Id="rId35" Type="http://schemas.openxmlformats.org/officeDocument/2006/relationships/tags" Target="../tags/tag2322.xml"/><Relationship Id="rId34" Type="http://schemas.openxmlformats.org/officeDocument/2006/relationships/tags" Target="../tags/tag2321.xml"/><Relationship Id="rId33" Type="http://schemas.openxmlformats.org/officeDocument/2006/relationships/tags" Target="../tags/tag2320.xml"/><Relationship Id="rId32" Type="http://schemas.openxmlformats.org/officeDocument/2006/relationships/tags" Target="../tags/tag2319.xml"/><Relationship Id="rId31" Type="http://schemas.openxmlformats.org/officeDocument/2006/relationships/tags" Target="../tags/tag2318.xml"/><Relationship Id="rId30" Type="http://schemas.openxmlformats.org/officeDocument/2006/relationships/tags" Target="../tags/tag2317.xml"/><Relationship Id="rId3" Type="http://schemas.openxmlformats.org/officeDocument/2006/relationships/tags" Target="../tags/tag2290.xml"/><Relationship Id="rId29" Type="http://schemas.openxmlformats.org/officeDocument/2006/relationships/tags" Target="../tags/tag2316.xml"/><Relationship Id="rId28" Type="http://schemas.openxmlformats.org/officeDocument/2006/relationships/tags" Target="../tags/tag2315.xml"/><Relationship Id="rId27" Type="http://schemas.openxmlformats.org/officeDocument/2006/relationships/tags" Target="../tags/tag2314.xml"/><Relationship Id="rId26" Type="http://schemas.openxmlformats.org/officeDocument/2006/relationships/tags" Target="../tags/tag2313.xml"/><Relationship Id="rId25" Type="http://schemas.openxmlformats.org/officeDocument/2006/relationships/tags" Target="../tags/tag2312.xml"/><Relationship Id="rId24" Type="http://schemas.openxmlformats.org/officeDocument/2006/relationships/tags" Target="../tags/tag2311.xml"/><Relationship Id="rId23" Type="http://schemas.openxmlformats.org/officeDocument/2006/relationships/tags" Target="../tags/tag2310.xml"/><Relationship Id="rId22" Type="http://schemas.openxmlformats.org/officeDocument/2006/relationships/tags" Target="../tags/tag2309.xml"/><Relationship Id="rId21" Type="http://schemas.openxmlformats.org/officeDocument/2006/relationships/tags" Target="../tags/tag2308.xml"/><Relationship Id="rId20" Type="http://schemas.openxmlformats.org/officeDocument/2006/relationships/tags" Target="../tags/tag2307.xml"/><Relationship Id="rId2" Type="http://schemas.openxmlformats.org/officeDocument/2006/relationships/image" Target="../media/image1116.svg"/><Relationship Id="rId19" Type="http://schemas.openxmlformats.org/officeDocument/2006/relationships/tags" Target="../tags/tag2306.xml"/><Relationship Id="rId18" Type="http://schemas.openxmlformats.org/officeDocument/2006/relationships/tags" Target="../tags/tag2305.xml"/><Relationship Id="rId17" Type="http://schemas.openxmlformats.org/officeDocument/2006/relationships/tags" Target="../tags/tag2304.xml"/><Relationship Id="rId16" Type="http://schemas.openxmlformats.org/officeDocument/2006/relationships/tags" Target="../tags/tag2303.xml"/><Relationship Id="rId15" Type="http://schemas.openxmlformats.org/officeDocument/2006/relationships/tags" Target="../tags/tag2302.xml"/><Relationship Id="rId14" Type="http://schemas.openxmlformats.org/officeDocument/2006/relationships/tags" Target="../tags/tag2301.xml"/><Relationship Id="rId13" Type="http://schemas.openxmlformats.org/officeDocument/2006/relationships/tags" Target="../tags/tag2300.xml"/><Relationship Id="rId12" Type="http://schemas.openxmlformats.org/officeDocument/2006/relationships/tags" Target="../tags/tag2299.xml"/><Relationship Id="rId11" Type="http://schemas.openxmlformats.org/officeDocument/2006/relationships/tags" Target="../tags/tag2298.xml"/><Relationship Id="rId10" Type="http://schemas.openxmlformats.org/officeDocument/2006/relationships/tags" Target="../tags/tag2297.xml"/><Relationship Id="rId1" Type="http://schemas.openxmlformats.org/officeDocument/2006/relationships/image" Target="../media/image21.png"/></Relationships>
</file>

<file path=ppt/slides/_rels/slide21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12.svg"/><Relationship Id="rId1" Type="http://schemas.openxmlformats.org/officeDocument/2006/relationships/image" Target="../media/image21.png"/></Relationships>
</file>

<file path=ppt/slides/_rels/slide214.xml.rels><?xml version="1.0" encoding="UTF-8" standalone="yes"?>
<Relationships xmlns="http://schemas.openxmlformats.org/package/2006/relationships"><Relationship Id="rId9" Type="http://schemas.openxmlformats.org/officeDocument/2006/relationships/image" Target="../media/image1163.svg"/><Relationship Id="rId8" Type="http://schemas.openxmlformats.org/officeDocument/2006/relationships/image" Target="../media/image1162.png"/><Relationship Id="rId7" Type="http://schemas.openxmlformats.org/officeDocument/2006/relationships/image" Target="../media/image1161.svg"/><Relationship Id="rId6" Type="http://schemas.openxmlformats.org/officeDocument/2006/relationships/image" Target="../media/image1160.svg"/><Relationship Id="rId5" Type="http://schemas.openxmlformats.org/officeDocument/2006/relationships/image" Target="../media/image1159.svg"/><Relationship Id="rId4" Type="http://schemas.openxmlformats.org/officeDocument/2006/relationships/image" Target="../media/image1158.svg"/><Relationship Id="rId3" Type="http://schemas.openxmlformats.org/officeDocument/2006/relationships/image" Target="../media/image1157.png"/><Relationship Id="rId2" Type="http://schemas.openxmlformats.org/officeDocument/2006/relationships/image" Target="../media/image1156.svg"/><Relationship Id="rId11" Type="http://schemas.openxmlformats.org/officeDocument/2006/relationships/slideLayout" Target="../slideLayouts/slideLayout12.xml"/><Relationship Id="rId10" Type="http://schemas.openxmlformats.org/officeDocument/2006/relationships/image" Target="../media/image36.png"/><Relationship Id="rId1" Type="http://schemas.openxmlformats.org/officeDocument/2006/relationships/image" Target="../media/image21.png"/></Relationships>
</file>

<file path=ppt/slides/_rels/slide21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64.svg"/><Relationship Id="rId1" Type="http://schemas.openxmlformats.org/officeDocument/2006/relationships/image" Target="../media/image21.png"/></Relationships>
</file>

<file path=ppt/slides/_rels/slide216.xml.rels><?xml version="1.0" encoding="UTF-8" standalone="yes"?>
<Relationships xmlns="http://schemas.openxmlformats.org/package/2006/relationships"><Relationship Id="rId6" Type="http://schemas.openxmlformats.org/officeDocument/2006/relationships/slideLayout" Target="../slideLayouts/slideLayout12.xml"/><Relationship Id="rId5" Type="http://schemas.openxmlformats.org/officeDocument/2006/relationships/image" Target="../media/image36.png"/><Relationship Id="rId4" Type="http://schemas.openxmlformats.org/officeDocument/2006/relationships/image" Target="../media/image1167.svg"/><Relationship Id="rId3" Type="http://schemas.openxmlformats.org/officeDocument/2006/relationships/image" Target="../media/image1166.png"/><Relationship Id="rId2" Type="http://schemas.openxmlformats.org/officeDocument/2006/relationships/image" Target="../media/image1165.svg"/><Relationship Id="rId1" Type="http://schemas.openxmlformats.org/officeDocument/2006/relationships/image" Target="../media/image21.png"/></Relationships>
</file>

<file path=ppt/slides/_rels/slide217.xml.rels><?xml version="1.0" encoding="UTF-8" standalone="yes"?>
<Relationships xmlns="http://schemas.openxmlformats.org/package/2006/relationships"><Relationship Id="rId9" Type="http://schemas.openxmlformats.org/officeDocument/2006/relationships/image" Target="../media/image1173.png"/><Relationship Id="rId8" Type="http://schemas.openxmlformats.org/officeDocument/2006/relationships/image" Target="../media/image1172.svg"/><Relationship Id="rId7" Type="http://schemas.openxmlformats.org/officeDocument/2006/relationships/image" Target="../media/image1171.png"/><Relationship Id="rId6" Type="http://schemas.openxmlformats.org/officeDocument/2006/relationships/image" Target="../media/image1170.svg"/><Relationship Id="rId5" Type="http://schemas.openxmlformats.org/officeDocument/2006/relationships/image" Target="../media/image1169.png"/><Relationship Id="rId4" Type="http://schemas.openxmlformats.org/officeDocument/2006/relationships/tags" Target="../tags/tag2327.xml"/><Relationship Id="rId32" Type="http://schemas.openxmlformats.org/officeDocument/2006/relationships/slideLayout" Target="../slideLayouts/slideLayout12.xml"/><Relationship Id="rId31" Type="http://schemas.openxmlformats.org/officeDocument/2006/relationships/image" Target="../media/image36.png"/><Relationship Id="rId30" Type="http://schemas.openxmlformats.org/officeDocument/2006/relationships/image" Target="../media/image1194.svg"/><Relationship Id="rId3" Type="http://schemas.openxmlformats.org/officeDocument/2006/relationships/tags" Target="../tags/tag2326.xml"/><Relationship Id="rId29" Type="http://schemas.openxmlformats.org/officeDocument/2006/relationships/image" Target="../media/image1193.png"/><Relationship Id="rId28" Type="http://schemas.openxmlformats.org/officeDocument/2006/relationships/image" Target="../media/image1192.svg"/><Relationship Id="rId27" Type="http://schemas.openxmlformats.org/officeDocument/2006/relationships/image" Target="../media/image1191.png"/><Relationship Id="rId26" Type="http://schemas.openxmlformats.org/officeDocument/2006/relationships/image" Target="../media/image1190.svg"/><Relationship Id="rId25" Type="http://schemas.openxmlformats.org/officeDocument/2006/relationships/image" Target="../media/image1189.png"/><Relationship Id="rId24" Type="http://schemas.openxmlformats.org/officeDocument/2006/relationships/image" Target="../media/image1188.svg"/><Relationship Id="rId23" Type="http://schemas.openxmlformats.org/officeDocument/2006/relationships/image" Target="../media/image1187.png"/><Relationship Id="rId22" Type="http://schemas.openxmlformats.org/officeDocument/2006/relationships/image" Target="../media/image1186.svg"/><Relationship Id="rId21" Type="http://schemas.openxmlformats.org/officeDocument/2006/relationships/image" Target="../media/image1185.png"/><Relationship Id="rId20" Type="http://schemas.openxmlformats.org/officeDocument/2006/relationships/image" Target="../media/image1184.svg"/><Relationship Id="rId2" Type="http://schemas.openxmlformats.org/officeDocument/2006/relationships/image" Target="../media/image1168.svg"/><Relationship Id="rId19" Type="http://schemas.openxmlformats.org/officeDocument/2006/relationships/image" Target="../media/image1183.png"/><Relationship Id="rId18" Type="http://schemas.openxmlformats.org/officeDocument/2006/relationships/image" Target="../media/image1182.svg"/><Relationship Id="rId17" Type="http://schemas.openxmlformats.org/officeDocument/2006/relationships/image" Target="../media/image1181.png"/><Relationship Id="rId16" Type="http://schemas.openxmlformats.org/officeDocument/2006/relationships/image" Target="../media/image1180.svg"/><Relationship Id="rId15" Type="http://schemas.openxmlformats.org/officeDocument/2006/relationships/image" Target="../media/image1179.png"/><Relationship Id="rId14" Type="http://schemas.openxmlformats.org/officeDocument/2006/relationships/image" Target="../media/image1178.svg"/><Relationship Id="rId13" Type="http://schemas.openxmlformats.org/officeDocument/2006/relationships/image" Target="../media/image1177.png"/><Relationship Id="rId12" Type="http://schemas.openxmlformats.org/officeDocument/2006/relationships/image" Target="../media/image1176.svg"/><Relationship Id="rId11" Type="http://schemas.openxmlformats.org/officeDocument/2006/relationships/image" Target="../media/image1175.png"/><Relationship Id="rId10" Type="http://schemas.openxmlformats.org/officeDocument/2006/relationships/image" Target="../media/image1174.svg"/><Relationship Id="rId1" Type="http://schemas.openxmlformats.org/officeDocument/2006/relationships/image" Target="../media/image21.png"/></Relationships>
</file>

<file path=ppt/slides/_rels/slide21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95.svg"/><Relationship Id="rId1" Type="http://schemas.openxmlformats.org/officeDocument/2006/relationships/image" Target="../media/image21.png"/></Relationships>
</file>

<file path=ppt/slides/_rels/slide21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96.svg"/><Relationship Id="rId1" Type="http://schemas.openxmlformats.org/officeDocument/2006/relationships/image" Target="../media/image21.png"/></Relationships>
</file>

<file path=ppt/slides/_rels/slide22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97.svg"/><Relationship Id="rId1" Type="http://schemas.openxmlformats.org/officeDocument/2006/relationships/image" Target="../media/image21.png"/></Relationships>
</file>

<file path=ppt/slides/_rels/slide221.xml.rels><?xml version="1.0" encoding="UTF-8" standalone="yes"?>
<Relationships xmlns="http://schemas.openxmlformats.org/package/2006/relationships"><Relationship Id="rId99" Type="http://schemas.openxmlformats.org/officeDocument/2006/relationships/tags" Target="../tags/tag2424.xml"/><Relationship Id="rId98" Type="http://schemas.openxmlformats.org/officeDocument/2006/relationships/tags" Target="../tags/tag2423.xml"/><Relationship Id="rId97" Type="http://schemas.openxmlformats.org/officeDocument/2006/relationships/tags" Target="../tags/tag2422.xml"/><Relationship Id="rId96" Type="http://schemas.openxmlformats.org/officeDocument/2006/relationships/tags" Target="../tags/tag2421.xml"/><Relationship Id="rId95" Type="http://schemas.openxmlformats.org/officeDocument/2006/relationships/tags" Target="../tags/tag2420.xml"/><Relationship Id="rId94" Type="http://schemas.openxmlformats.org/officeDocument/2006/relationships/tags" Target="../tags/tag2419.xml"/><Relationship Id="rId93" Type="http://schemas.openxmlformats.org/officeDocument/2006/relationships/tags" Target="../tags/tag2418.xml"/><Relationship Id="rId92" Type="http://schemas.openxmlformats.org/officeDocument/2006/relationships/tags" Target="../tags/tag2417.xml"/><Relationship Id="rId91" Type="http://schemas.openxmlformats.org/officeDocument/2006/relationships/tags" Target="../tags/tag2416.xml"/><Relationship Id="rId90" Type="http://schemas.openxmlformats.org/officeDocument/2006/relationships/tags" Target="../tags/tag2415.xml"/><Relationship Id="rId9" Type="http://schemas.openxmlformats.org/officeDocument/2006/relationships/tags" Target="../tags/tag2334.xml"/><Relationship Id="rId89" Type="http://schemas.openxmlformats.org/officeDocument/2006/relationships/tags" Target="../tags/tag2414.xml"/><Relationship Id="rId88" Type="http://schemas.openxmlformats.org/officeDocument/2006/relationships/tags" Target="../tags/tag2413.xml"/><Relationship Id="rId87" Type="http://schemas.openxmlformats.org/officeDocument/2006/relationships/tags" Target="../tags/tag2412.xml"/><Relationship Id="rId86" Type="http://schemas.openxmlformats.org/officeDocument/2006/relationships/tags" Target="../tags/tag2411.xml"/><Relationship Id="rId85" Type="http://schemas.openxmlformats.org/officeDocument/2006/relationships/tags" Target="../tags/tag2410.xml"/><Relationship Id="rId84" Type="http://schemas.openxmlformats.org/officeDocument/2006/relationships/tags" Target="../tags/tag2409.xml"/><Relationship Id="rId83" Type="http://schemas.openxmlformats.org/officeDocument/2006/relationships/tags" Target="../tags/tag2408.xml"/><Relationship Id="rId82" Type="http://schemas.openxmlformats.org/officeDocument/2006/relationships/tags" Target="../tags/tag2407.xml"/><Relationship Id="rId81" Type="http://schemas.openxmlformats.org/officeDocument/2006/relationships/tags" Target="../tags/tag2406.xml"/><Relationship Id="rId80" Type="http://schemas.openxmlformats.org/officeDocument/2006/relationships/tags" Target="../tags/tag2405.xml"/><Relationship Id="rId8" Type="http://schemas.openxmlformats.org/officeDocument/2006/relationships/tags" Target="../tags/tag2333.xml"/><Relationship Id="rId79" Type="http://schemas.openxmlformats.org/officeDocument/2006/relationships/tags" Target="../tags/tag2404.xml"/><Relationship Id="rId78" Type="http://schemas.openxmlformats.org/officeDocument/2006/relationships/tags" Target="../tags/tag2403.xml"/><Relationship Id="rId77" Type="http://schemas.openxmlformats.org/officeDocument/2006/relationships/tags" Target="../tags/tag2402.xml"/><Relationship Id="rId76" Type="http://schemas.openxmlformats.org/officeDocument/2006/relationships/tags" Target="../tags/tag2401.xml"/><Relationship Id="rId75" Type="http://schemas.openxmlformats.org/officeDocument/2006/relationships/tags" Target="../tags/tag2400.xml"/><Relationship Id="rId74" Type="http://schemas.openxmlformats.org/officeDocument/2006/relationships/tags" Target="../tags/tag2399.xml"/><Relationship Id="rId73" Type="http://schemas.openxmlformats.org/officeDocument/2006/relationships/tags" Target="../tags/tag2398.xml"/><Relationship Id="rId72" Type="http://schemas.openxmlformats.org/officeDocument/2006/relationships/tags" Target="../tags/tag2397.xml"/><Relationship Id="rId71" Type="http://schemas.openxmlformats.org/officeDocument/2006/relationships/tags" Target="../tags/tag2396.xml"/><Relationship Id="rId70" Type="http://schemas.openxmlformats.org/officeDocument/2006/relationships/tags" Target="../tags/tag2395.xml"/><Relationship Id="rId7" Type="http://schemas.openxmlformats.org/officeDocument/2006/relationships/tags" Target="../tags/tag2332.xml"/><Relationship Id="rId69" Type="http://schemas.openxmlformats.org/officeDocument/2006/relationships/tags" Target="../tags/tag2394.xml"/><Relationship Id="rId68" Type="http://schemas.openxmlformats.org/officeDocument/2006/relationships/tags" Target="../tags/tag2393.xml"/><Relationship Id="rId67" Type="http://schemas.openxmlformats.org/officeDocument/2006/relationships/tags" Target="../tags/tag2392.xml"/><Relationship Id="rId66" Type="http://schemas.openxmlformats.org/officeDocument/2006/relationships/tags" Target="../tags/tag2391.xml"/><Relationship Id="rId65" Type="http://schemas.openxmlformats.org/officeDocument/2006/relationships/tags" Target="../tags/tag2390.xml"/><Relationship Id="rId64" Type="http://schemas.openxmlformats.org/officeDocument/2006/relationships/tags" Target="../tags/tag2389.xml"/><Relationship Id="rId63" Type="http://schemas.openxmlformats.org/officeDocument/2006/relationships/tags" Target="../tags/tag2388.xml"/><Relationship Id="rId62" Type="http://schemas.openxmlformats.org/officeDocument/2006/relationships/tags" Target="../tags/tag2387.xml"/><Relationship Id="rId61" Type="http://schemas.openxmlformats.org/officeDocument/2006/relationships/tags" Target="../tags/tag2386.xml"/><Relationship Id="rId60" Type="http://schemas.openxmlformats.org/officeDocument/2006/relationships/tags" Target="../tags/tag2385.xml"/><Relationship Id="rId6" Type="http://schemas.openxmlformats.org/officeDocument/2006/relationships/tags" Target="../tags/tag2331.xml"/><Relationship Id="rId59" Type="http://schemas.openxmlformats.org/officeDocument/2006/relationships/tags" Target="../tags/tag2384.xml"/><Relationship Id="rId58" Type="http://schemas.openxmlformats.org/officeDocument/2006/relationships/tags" Target="../tags/tag2383.xml"/><Relationship Id="rId57" Type="http://schemas.openxmlformats.org/officeDocument/2006/relationships/tags" Target="../tags/tag2382.xml"/><Relationship Id="rId56" Type="http://schemas.openxmlformats.org/officeDocument/2006/relationships/tags" Target="../tags/tag2381.xml"/><Relationship Id="rId55" Type="http://schemas.openxmlformats.org/officeDocument/2006/relationships/tags" Target="../tags/tag2380.xml"/><Relationship Id="rId54" Type="http://schemas.openxmlformats.org/officeDocument/2006/relationships/tags" Target="../tags/tag2379.xml"/><Relationship Id="rId53" Type="http://schemas.openxmlformats.org/officeDocument/2006/relationships/tags" Target="../tags/tag2378.xml"/><Relationship Id="rId52" Type="http://schemas.openxmlformats.org/officeDocument/2006/relationships/tags" Target="../tags/tag2377.xml"/><Relationship Id="rId51" Type="http://schemas.openxmlformats.org/officeDocument/2006/relationships/tags" Target="../tags/tag2376.xml"/><Relationship Id="rId50" Type="http://schemas.openxmlformats.org/officeDocument/2006/relationships/tags" Target="../tags/tag2375.xml"/><Relationship Id="rId5" Type="http://schemas.openxmlformats.org/officeDocument/2006/relationships/tags" Target="../tags/tag2330.xml"/><Relationship Id="rId49" Type="http://schemas.openxmlformats.org/officeDocument/2006/relationships/tags" Target="../tags/tag2374.xml"/><Relationship Id="rId48" Type="http://schemas.openxmlformats.org/officeDocument/2006/relationships/tags" Target="../tags/tag2373.xml"/><Relationship Id="rId47" Type="http://schemas.openxmlformats.org/officeDocument/2006/relationships/tags" Target="../tags/tag2372.xml"/><Relationship Id="rId46" Type="http://schemas.openxmlformats.org/officeDocument/2006/relationships/tags" Target="../tags/tag2371.xml"/><Relationship Id="rId45" Type="http://schemas.openxmlformats.org/officeDocument/2006/relationships/tags" Target="../tags/tag2370.xml"/><Relationship Id="rId44" Type="http://schemas.openxmlformats.org/officeDocument/2006/relationships/tags" Target="../tags/tag2369.xml"/><Relationship Id="rId43" Type="http://schemas.openxmlformats.org/officeDocument/2006/relationships/tags" Target="../tags/tag2368.xml"/><Relationship Id="rId42" Type="http://schemas.openxmlformats.org/officeDocument/2006/relationships/tags" Target="../tags/tag2367.xml"/><Relationship Id="rId41" Type="http://schemas.openxmlformats.org/officeDocument/2006/relationships/tags" Target="../tags/tag2366.xml"/><Relationship Id="rId40" Type="http://schemas.openxmlformats.org/officeDocument/2006/relationships/tags" Target="../tags/tag2365.xml"/><Relationship Id="rId4" Type="http://schemas.openxmlformats.org/officeDocument/2006/relationships/tags" Target="../tags/tag2329.xml"/><Relationship Id="rId39" Type="http://schemas.openxmlformats.org/officeDocument/2006/relationships/tags" Target="../tags/tag2364.xml"/><Relationship Id="rId38" Type="http://schemas.openxmlformats.org/officeDocument/2006/relationships/tags" Target="../tags/tag2363.xml"/><Relationship Id="rId37" Type="http://schemas.openxmlformats.org/officeDocument/2006/relationships/tags" Target="../tags/tag2362.xml"/><Relationship Id="rId36" Type="http://schemas.openxmlformats.org/officeDocument/2006/relationships/tags" Target="../tags/tag2361.xml"/><Relationship Id="rId35" Type="http://schemas.openxmlformats.org/officeDocument/2006/relationships/tags" Target="../tags/tag2360.xml"/><Relationship Id="rId34" Type="http://schemas.openxmlformats.org/officeDocument/2006/relationships/tags" Target="../tags/tag2359.xml"/><Relationship Id="rId33" Type="http://schemas.openxmlformats.org/officeDocument/2006/relationships/tags" Target="../tags/tag2358.xml"/><Relationship Id="rId32" Type="http://schemas.openxmlformats.org/officeDocument/2006/relationships/tags" Target="../tags/tag2357.xml"/><Relationship Id="rId31" Type="http://schemas.openxmlformats.org/officeDocument/2006/relationships/tags" Target="../tags/tag2356.xml"/><Relationship Id="rId30" Type="http://schemas.openxmlformats.org/officeDocument/2006/relationships/tags" Target="../tags/tag2355.xml"/><Relationship Id="rId3" Type="http://schemas.openxmlformats.org/officeDocument/2006/relationships/tags" Target="../tags/tag2328.xml"/><Relationship Id="rId29" Type="http://schemas.openxmlformats.org/officeDocument/2006/relationships/tags" Target="../tags/tag2354.xml"/><Relationship Id="rId28" Type="http://schemas.openxmlformats.org/officeDocument/2006/relationships/tags" Target="../tags/tag2353.xml"/><Relationship Id="rId27" Type="http://schemas.openxmlformats.org/officeDocument/2006/relationships/tags" Target="../tags/tag2352.xml"/><Relationship Id="rId26" Type="http://schemas.openxmlformats.org/officeDocument/2006/relationships/tags" Target="../tags/tag2351.xml"/><Relationship Id="rId25" Type="http://schemas.openxmlformats.org/officeDocument/2006/relationships/tags" Target="../tags/tag2350.xml"/><Relationship Id="rId24" Type="http://schemas.openxmlformats.org/officeDocument/2006/relationships/tags" Target="../tags/tag2349.xml"/><Relationship Id="rId23" Type="http://schemas.openxmlformats.org/officeDocument/2006/relationships/tags" Target="../tags/tag2348.xml"/><Relationship Id="rId22" Type="http://schemas.openxmlformats.org/officeDocument/2006/relationships/tags" Target="../tags/tag2347.xml"/><Relationship Id="rId218" Type="http://schemas.openxmlformats.org/officeDocument/2006/relationships/slideLayout" Target="../slideLayouts/slideLayout12.xml"/><Relationship Id="rId217" Type="http://schemas.openxmlformats.org/officeDocument/2006/relationships/image" Target="../media/image36.png"/><Relationship Id="rId216" Type="http://schemas.openxmlformats.org/officeDocument/2006/relationships/tags" Target="../tags/tag2541.xml"/><Relationship Id="rId215" Type="http://schemas.openxmlformats.org/officeDocument/2006/relationships/tags" Target="../tags/tag2540.xml"/><Relationship Id="rId214" Type="http://schemas.openxmlformats.org/officeDocument/2006/relationships/tags" Target="../tags/tag2539.xml"/><Relationship Id="rId213" Type="http://schemas.openxmlformats.org/officeDocument/2006/relationships/tags" Target="../tags/tag2538.xml"/><Relationship Id="rId212" Type="http://schemas.openxmlformats.org/officeDocument/2006/relationships/tags" Target="../tags/tag2537.xml"/><Relationship Id="rId211" Type="http://schemas.openxmlformats.org/officeDocument/2006/relationships/tags" Target="../tags/tag2536.xml"/><Relationship Id="rId210" Type="http://schemas.openxmlformats.org/officeDocument/2006/relationships/tags" Target="../tags/tag2535.xml"/><Relationship Id="rId21" Type="http://schemas.openxmlformats.org/officeDocument/2006/relationships/tags" Target="../tags/tag2346.xml"/><Relationship Id="rId209" Type="http://schemas.openxmlformats.org/officeDocument/2006/relationships/tags" Target="../tags/tag2534.xml"/><Relationship Id="rId208" Type="http://schemas.openxmlformats.org/officeDocument/2006/relationships/tags" Target="../tags/tag2533.xml"/><Relationship Id="rId207" Type="http://schemas.openxmlformats.org/officeDocument/2006/relationships/tags" Target="../tags/tag2532.xml"/><Relationship Id="rId206" Type="http://schemas.openxmlformats.org/officeDocument/2006/relationships/tags" Target="../tags/tag2531.xml"/><Relationship Id="rId205" Type="http://schemas.openxmlformats.org/officeDocument/2006/relationships/tags" Target="../tags/tag2530.xml"/><Relationship Id="rId204" Type="http://schemas.openxmlformats.org/officeDocument/2006/relationships/tags" Target="../tags/tag2529.xml"/><Relationship Id="rId203" Type="http://schemas.openxmlformats.org/officeDocument/2006/relationships/tags" Target="../tags/tag2528.xml"/><Relationship Id="rId202" Type="http://schemas.openxmlformats.org/officeDocument/2006/relationships/tags" Target="../tags/tag2527.xml"/><Relationship Id="rId201" Type="http://schemas.openxmlformats.org/officeDocument/2006/relationships/tags" Target="../tags/tag2526.xml"/><Relationship Id="rId200" Type="http://schemas.openxmlformats.org/officeDocument/2006/relationships/tags" Target="../tags/tag2525.xml"/><Relationship Id="rId20" Type="http://schemas.openxmlformats.org/officeDocument/2006/relationships/tags" Target="../tags/tag2345.xml"/><Relationship Id="rId2" Type="http://schemas.openxmlformats.org/officeDocument/2006/relationships/image" Target="../media/image1116.svg"/><Relationship Id="rId199" Type="http://schemas.openxmlformats.org/officeDocument/2006/relationships/tags" Target="../tags/tag2524.xml"/><Relationship Id="rId198" Type="http://schemas.openxmlformats.org/officeDocument/2006/relationships/tags" Target="../tags/tag2523.xml"/><Relationship Id="rId197" Type="http://schemas.openxmlformats.org/officeDocument/2006/relationships/tags" Target="../tags/tag2522.xml"/><Relationship Id="rId196" Type="http://schemas.openxmlformats.org/officeDocument/2006/relationships/tags" Target="../tags/tag2521.xml"/><Relationship Id="rId195" Type="http://schemas.openxmlformats.org/officeDocument/2006/relationships/tags" Target="../tags/tag2520.xml"/><Relationship Id="rId194" Type="http://schemas.openxmlformats.org/officeDocument/2006/relationships/tags" Target="../tags/tag2519.xml"/><Relationship Id="rId193" Type="http://schemas.openxmlformats.org/officeDocument/2006/relationships/tags" Target="../tags/tag2518.xml"/><Relationship Id="rId192" Type="http://schemas.openxmlformats.org/officeDocument/2006/relationships/tags" Target="../tags/tag2517.xml"/><Relationship Id="rId191" Type="http://schemas.openxmlformats.org/officeDocument/2006/relationships/tags" Target="../tags/tag2516.xml"/><Relationship Id="rId190" Type="http://schemas.openxmlformats.org/officeDocument/2006/relationships/tags" Target="../tags/tag2515.xml"/><Relationship Id="rId19" Type="http://schemas.openxmlformats.org/officeDocument/2006/relationships/tags" Target="../tags/tag2344.xml"/><Relationship Id="rId189" Type="http://schemas.openxmlformats.org/officeDocument/2006/relationships/tags" Target="../tags/tag2514.xml"/><Relationship Id="rId188" Type="http://schemas.openxmlformats.org/officeDocument/2006/relationships/tags" Target="../tags/tag2513.xml"/><Relationship Id="rId187" Type="http://schemas.openxmlformats.org/officeDocument/2006/relationships/tags" Target="../tags/tag2512.xml"/><Relationship Id="rId186" Type="http://schemas.openxmlformats.org/officeDocument/2006/relationships/tags" Target="../tags/tag2511.xml"/><Relationship Id="rId185" Type="http://schemas.openxmlformats.org/officeDocument/2006/relationships/tags" Target="../tags/tag2510.xml"/><Relationship Id="rId184" Type="http://schemas.openxmlformats.org/officeDocument/2006/relationships/tags" Target="../tags/tag2509.xml"/><Relationship Id="rId183" Type="http://schemas.openxmlformats.org/officeDocument/2006/relationships/tags" Target="../tags/tag2508.xml"/><Relationship Id="rId182" Type="http://schemas.openxmlformats.org/officeDocument/2006/relationships/tags" Target="../tags/tag2507.xml"/><Relationship Id="rId181" Type="http://schemas.openxmlformats.org/officeDocument/2006/relationships/tags" Target="../tags/tag2506.xml"/><Relationship Id="rId180" Type="http://schemas.openxmlformats.org/officeDocument/2006/relationships/tags" Target="../tags/tag2505.xml"/><Relationship Id="rId18" Type="http://schemas.openxmlformats.org/officeDocument/2006/relationships/tags" Target="../tags/tag2343.xml"/><Relationship Id="rId179" Type="http://schemas.openxmlformats.org/officeDocument/2006/relationships/tags" Target="../tags/tag2504.xml"/><Relationship Id="rId178" Type="http://schemas.openxmlformats.org/officeDocument/2006/relationships/tags" Target="../tags/tag2503.xml"/><Relationship Id="rId177" Type="http://schemas.openxmlformats.org/officeDocument/2006/relationships/tags" Target="../tags/tag2502.xml"/><Relationship Id="rId176" Type="http://schemas.openxmlformats.org/officeDocument/2006/relationships/tags" Target="../tags/tag2501.xml"/><Relationship Id="rId175" Type="http://schemas.openxmlformats.org/officeDocument/2006/relationships/tags" Target="../tags/tag2500.xml"/><Relationship Id="rId174" Type="http://schemas.openxmlformats.org/officeDocument/2006/relationships/tags" Target="../tags/tag2499.xml"/><Relationship Id="rId173" Type="http://schemas.openxmlformats.org/officeDocument/2006/relationships/tags" Target="../tags/tag2498.xml"/><Relationship Id="rId172" Type="http://schemas.openxmlformats.org/officeDocument/2006/relationships/tags" Target="../tags/tag2497.xml"/><Relationship Id="rId171" Type="http://schemas.openxmlformats.org/officeDocument/2006/relationships/tags" Target="../tags/tag2496.xml"/><Relationship Id="rId170" Type="http://schemas.openxmlformats.org/officeDocument/2006/relationships/tags" Target="../tags/tag2495.xml"/><Relationship Id="rId17" Type="http://schemas.openxmlformats.org/officeDocument/2006/relationships/tags" Target="../tags/tag2342.xml"/><Relationship Id="rId169" Type="http://schemas.openxmlformats.org/officeDocument/2006/relationships/tags" Target="../tags/tag2494.xml"/><Relationship Id="rId168" Type="http://schemas.openxmlformats.org/officeDocument/2006/relationships/tags" Target="../tags/tag2493.xml"/><Relationship Id="rId167" Type="http://schemas.openxmlformats.org/officeDocument/2006/relationships/tags" Target="../tags/tag2492.xml"/><Relationship Id="rId166" Type="http://schemas.openxmlformats.org/officeDocument/2006/relationships/tags" Target="../tags/tag2491.xml"/><Relationship Id="rId165" Type="http://schemas.openxmlformats.org/officeDocument/2006/relationships/tags" Target="../tags/tag2490.xml"/><Relationship Id="rId164" Type="http://schemas.openxmlformats.org/officeDocument/2006/relationships/tags" Target="../tags/tag2489.xml"/><Relationship Id="rId163" Type="http://schemas.openxmlformats.org/officeDocument/2006/relationships/tags" Target="../tags/tag2488.xml"/><Relationship Id="rId162" Type="http://schemas.openxmlformats.org/officeDocument/2006/relationships/tags" Target="../tags/tag2487.xml"/><Relationship Id="rId161" Type="http://schemas.openxmlformats.org/officeDocument/2006/relationships/tags" Target="../tags/tag2486.xml"/><Relationship Id="rId160" Type="http://schemas.openxmlformats.org/officeDocument/2006/relationships/tags" Target="../tags/tag2485.xml"/><Relationship Id="rId16" Type="http://schemas.openxmlformats.org/officeDocument/2006/relationships/tags" Target="../tags/tag2341.xml"/><Relationship Id="rId159" Type="http://schemas.openxmlformats.org/officeDocument/2006/relationships/tags" Target="../tags/tag2484.xml"/><Relationship Id="rId158" Type="http://schemas.openxmlformats.org/officeDocument/2006/relationships/tags" Target="../tags/tag2483.xml"/><Relationship Id="rId157" Type="http://schemas.openxmlformats.org/officeDocument/2006/relationships/tags" Target="../tags/tag2482.xml"/><Relationship Id="rId156" Type="http://schemas.openxmlformats.org/officeDocument/2006/relationships/tags" Target="../tags/tag2481.xml"/><Relationship Id="rId155" Type="http://schemas.openxmlformats.org/officeDocument/2006/relationships/tags" Target="../tags/tag2480.xml"/><Relationship Id="rId154" Type="http://schemas.openxmlformats.org/officeDocument/2006/relationships/tags" Target="../tags/tag2479.xml"/><Relationship Id="rId153" Type="http://schemas.openxmlformats.org/officeDocument/2006/relationships/tags" Target="../tags/tag2478.xml"/><Relationship Id="rId152" Type="http://schemas.openxmlformats.org/officeDocument/2006/relationships/tags" Target="../tags/tag2477.xml"/><Relationship Id="rId151" Type="http://schemas.openxmlformats.org/officeDocument/2006/relationships/tags" Target="../tags/tag2476.xml"/><Relationship Id="rId150" Type="http://schemas.openxmlformats.org/officeDocument/2006/relationships/tags" Target="../tags/tag2475.xml"/><Relationship Id="rId15" Type="http://schemas.openxmlformats.org/officeDocument/2006/relationships/tags" Target="../tags/tag2340.xml"/><Relationship Id="rId149" Type="http://schemas.openxmlformats.org/officeDocument/2006/relationships/tags" Target="../tags/tag2474.xml"/><Relationship Id="rId148" Type="http://schemas.openxmlformats.org/officeDocument/2006/relationships/tags" Target="../tags/tag2473.xml"/><Relationship Id="rId147" Type="http://schemas.openxmlformats.org/officeDocument/2006/relationships/tags" Target="../tags/tag2472.xml"/><Relationship Id="rId146" Type="http://schemas.openxmlformats.org/officeDocument/2006/relationships/tags" Target="../tags/tag2471.xml"/><Relationship Id="rId145" Type="http://schemas.openxmlformats.org/officeDocument/2006/relationships/tags" Target="../tags/tag2470.xml"/><Relationship Id="rId144" Type="http://schemas.openxmlformats.org/officeDocument/2006/relationships/tags" Target="../tags/tag2469.xml"/><Relationship Id="rId143" Type="http://schemas.openxmlformats.org/officeDocument/2006/relationships/tags" Target="../tags/tag2468.xml"/><Relationship Id="rId142" Type="http://schemas.openxmlformats.org/officeDocument/2006/relationships/tags" Target="../tags/tag2467.xml"/><Relationship Id="rId141" Type="http://schemas.openxmlformats.org/officeDocument/2006/relationships/tags" Target="../tags/tag2466.xml"/><Relationship Id="rId140" Type="http://schemas.openxmlformats.org/officeDocument/2006/relationships/tags" Target="../tags/tag2465.xml"/><Relationship Id="rId14" Type="http://schemas.openxmlformats.org/officeDocument/2006/relationships/tags" Target="../tags/tag2339.xml"/><Relationship Id="rId139" Type="http://schemas.openxmlformats.org/officeDocument/2006/relationships/tags" Target="../tags/tag2464.xml"/><Relationship Id="rId138" Type="http://schemas.openxmlformats.org/officeDocument/2006/relationships/tags" Target="../tags/tag2463.xml"/><Relationship Id="rId137" Type="http://schemas.openxmlformats.org/officeDocument/2006/relationships/tags" Target="../tags/tag2462.xml"/><Relationship Id="rId136" Type="http://schemas.openxmlformats.org/officeDocument/2006/relationships/tags" Target="../tags/tag2461.xml"/><Relationship Id="rId135" Type="http://schemas.openxmlformats.org/officeDocument/2006/relationships/tags" Target="../tags/tag2460.xml"/><Relationship Id="rId134" Type="http://schemas.openxmlformats.org/officeDocument/2006/relationships/tags" Target="../tags/tag2459.xml"/><Relationship Id="rId133" Type="http://schemas.openxmlformats.org/officeDocument/2006/relationships/tags" Target="../tags/tag2458.xml"/><Relationship Id="rId132" Type="http://schemas.openxmlformats.org/officeDocument/2006/relationships/tags" Target="../tags/tag2457.xml"/><Relationship Id="rId131" Type="http://schemas.openxmlformats.org/officeDocument/2006/relationships/tags" Target="../tags/tag2456.xml"/><Relationship Id="rId130" Type="http://schemas.openxmlformats.org/officeDocument/2006/relationships/tags" Target="../tags/tag2455.xml"/><Relationship Id="rId13" Type="http://schemas.openxmlformats.org/officeDocument/2006/relationships/tags" Target="../tags/tag2338.xml"/><Relationship Id="rId129" Type="http://schemas.openxmlformats.org/officeDocument/2006/relationships/tags" Target="../tags/tag2454.xml"/><Relationship Id="rId128" Type="http://schemas.openxmlformats.org/officeDocument/2006/relationships/tags" Target="../tags/tag2453.xml"/><Relationship Id="rId127" Type="http://schemas.openxmlformats.org/officeDocument/2006/relationships/tags" Target="../tags/tag2452.xml"/><Relationship Id="rId126" Type="http://schemas.openxmlformats.org/officeDocument/2006/relationships/tags" Target="../tags/tag2451.xml"/><Relationship Id="rId125" Type="http://schemas.openxmlformats.org/officeDocument/2006/relationships/tags" Target="../tags/tag2450.xml"/><Relationship Id="rId124" Type="http://schemas.openxmlformats.org/officeDocument/2006/relationships/tags" Target="../tags/tag2449.xml"/><Relationship Id="rId123" Type="http://schemas.openxmlformats.org/officeDocument/2006/relationships/tags" Target="../tags/tag2448.xml"/><Relationship Id="rId122" Type="http://schemas.openxmlformats.org/officeDocument/2006/relationships/tags" Target="../tags/tag2447.xml"/><Relationship Id="rId121" Type="http://schemas.openxmlformats.org/officeDocument/2006/relationships/tags" Target="../tags/tag2446.xml"/><Relationship Id="rId120" Type="http://schemas.openxmlformats.org/officeDocument/2006/relationships/tags" Target="../tags/tag2445.xml"/><Relationship Id="rId12" Type="http://schemas.openxmlformats.org/officeDocument/2006/relationships/tags" Target="../tags/tag2337.xml"/><Relationship Id="rId119" Type="http://schemas.openxmlformats.org/officeDocument/2006/relationships/tags" Target="../tags/tag2444.xml"/><Relationship Id="rId118" Type="http://schemas.openxmlformats.org/officeDocument/2006/relationships/tags" Target="../tags/tag2443.xml"/><Relationship Id="rId117" Type="http://schemas.openxmlformats.org/officeDocument/2006/relationships/tags" Target="../tags/tag2442.xml"/><Relationship Id="rId116" Type="http://schemas.openxmlformats.org/officeDocument/2006/relationships/tags" Target="../tags/tag2441.xml"/><Relationship Id="rId115" Type="http://schemas.openxmlformats.org/officeDocument/2006/relationships/tags" Target="../tags/tag2440.xml"/><Relationship Id="rId114" Type="http://schemas.openxmlformats.org/officeDocument/2006/relationships/tags" Target="../tags/tag2439.xml"/><Relationship Id="rId113" Type="http://schemas.openxmlformats.org/officeDocument/2006/relationships/tags" Target="../tags/tag2438.xml"/><Relationship Id="rId112" Type="http://schemas.openxmlformats.org/officeDocument/2006/relationships/tags" Target="../tags/tag2437.xml"/><Relationship Id="rId111" Type="http://schemas.openxmlformats.org/officeDocument/2006/relationships/tags" Target="../tags/tag2436.xml"/><Relationship Id="rId110" Type="http://schemas.openxmlformats.org/officeDocument/2006/relationships/tags" Target="../tags/tag2435.xml"/><Relationship Id="rId11" Type="http://schemas.openxmlformats.org/officeDocument/2006/relationships/tags" Target="../tags/tag2336.xml"/><Relationship Id="rId109" Type="http://schemas.openxmlformats.org/officeDocument/2006/relationships/tags" Target="../tags/tag2434.xml"/><Relationship Id="rId108" Type="http://schemas.openxmlformats.org/officeDocument/2006/relationships/tags" Target="../tags/tag2433.xml"/><Relationship Id="rId107" Type="http://schemas.openxmlformats.org/officeDocument/2006/relationships/tags" Target="../tags/tag2432.xml"/><Relationship Id="rId106" Type="http://schemas.openxmlformats.org/officeDocument/2006/relationships/tags" Target="../tags/tag2431.xml"/><Relationship Id="rId105" Type="http://schemas.openxmlformats.org/officeDocument/2006/relationships/tags" Target="../tags/tag2430.xml"/><Relationship Id="rId104" Type="http://schemas.openxmlformats.org/officeDocument/2006/relationships/tags" Target="../tags/tag2429.xml"/><Relationship Id="rId103" Type="http://schemas.openxmlformats.org/officeDocument/2006/relationships/tags" Target="../tags/tag2428.xml"/><Relationship Id="rId102" Type="http://schemas.openxmlformats.org/officeDocument/2006/relationships/tags" Target="../tags/tag2427.xml"/><Relationship Id="rId101" Type="http://schemas.openxmlformats.org/officeDocument/2006/relationships/tags" Target="../tags/tag2426.xml"/><Relationship Id="rId100" Type="http://schemas.openxmlformats.org/officeDocument/2006/relationships/tags" Target="../tags/tag2425.xml"/><Relationship Id="rId10" Type="http://schemas.openxmlformats.org/officeDocument/2006/relationships/tags" Target="../tags/tag2335.xml"/><Relationship Id="rId1" Type="http://schemas.openxmlformats.org/officeDocument/2006/relationships/image" Target="../media/image21.png"/></Relationships>
</file>

<file path=ppt/slides/_rels/slide22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98.svg"/><Relationship Id="rId1" Type="http://schemas.openxmlformats.org/officeDocument/2006/relationships/image" Target="../media/image21.png"/></Relationships>
</file>

<file path=ppt/slides/_rels/slide22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99.svg"/><Relationship Id="rId1" Type="http://schemas.openxmlformats.org/officeDocument/2006/relationships/image" Target="../media/image21.png"/></Relationships>
</file>

<file path=ppt/slides/_rels/slide224.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99.svg"/><Relationship Id="rId1" Type="http://schemas.openxmlformats.org/officeDocument/2006/relationships/image" Target="../media/image21.png"/></Relationships>
</file>

<file path=ppt/slides/_rels/slide22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198.svg"/><Relationship Id="rId1" Type="http://schemas.openxmlformats.org/officeDocument/2006/relationships/image" Target="../media/image21.png"/></Relationships>
</file>

<file path=ppt/slides/_rels/slide226.xml.rels><?xml version="1.0" encoding="UTF-8" standalone="yes"?>
<Relationships xmlns="http://schemas.openxmlformats.org/package/2006/relationships"><Relationship Id="rId9" Type="http://schemas.openxmlformats.org/officeDocument/2006/relationships/tags" Target="../tags/tag2548.xml"/><Relationship Id="rId8" Type="http://schemas.openxmlformats.org/officeDocument/2006/relationships/tags" Target="../tags/tag2547.xml"/><Relationship Id="rId7" Type="http://schemas.openxmlformats.org/officeDocument/2006/relationships/tags" Target="../tags/tag2546.xml"/><Relationship Id="rId6" Type="http://schemas.openxmlformats.org/officeDocument/2006/relationships/tags" Target="../tags/tag2545.xml"/><Relationship Id="rId5" Type="http://schemas.openxmlformats.org/officeDocument/2006/relationships/tags" Target="../tags/tag2544.xml"/><Relationship Id="rId4" Type="http://schemas.openxmlformats.org/officeDocument/2006/relationships/tags" Target="../tags/tag2543.xml"/><Relationship Id="rId3" Type="http://schemas.openxmlformats.org/officeDocument/2006/relationships/tags" Target="../tags/tag2542.xml"/><Relationship Id="rId23" Type="http://schemas.openxmlformats.org/officeDocument/2006/relationships/slideLayout" Target="../slideLayouts/slideLayout12.xml"/><Relationship Id="rId22" Type="http://schemas.openxmlformats.org/officeDocument/2006/relationships/image" Target="../media/image36.png"/><Relationship Id="rId21" Type="http://schemas.openxmlformats.org/officeDocument/2006/relationships/tags" Target="../tags/tag2560.xml"/><Relationship Id="rId20" Type="http://schemas.openxmlformats.org/officeDocument/2006/relationships/tags" Target="../tags/tag2559.xml"/><Relationship Id="rId2" Type="http://schemas.openxmlformats.org/officeDocument/2006/relationships/image" Target="../media/image1200.svg"/><Relationship Id="rId19" Type="http://schemas.openxmlformats.org/officeDocument/2006/relationships/tags" Target="../tags/tag2558.xml"/><Relationship Id="rId18" Type="http://schemas.openxmlformats.org/officeDocument/2006/relationships/tags" Target="../tags/tag2557.xml"/><Relationship Id="rId17" Type="http://schemas.openxmlformats.org/officeDocument/2006/relationships/tags" Target="../tags/tag2556.xml"/><Relationship Id="rId16" Type="http://schemas.openxmlformats.org/officeDocument/2006/relationships/tags" Target="../tags/tag2555.xml"/><Relationship Id="rId15" Type="http://schemas.openxmlformats.org/officeDocument/2006/relationships/tags" Target="../tags/tag2554.xml"/><Relationship Id="rId14" Type="http://schemas.openxmlformats.org/officeDocument/2006/relationships/tags" Target="../tags/tag2553.xml"/><Relationship Id="rId13" Type="http://schemas.openxmlformats.org/officeDocument/2006/relationships/tags" Target="../tags/tag2552.xml"/><Relationship Id="rId12" Type="http://schemas.openxmlformats.org/officeDocument/2006/relationships/tags" Target="../tags/tag2551.xml"/><Relationship Id="rId11" Type="http://schemas.openxmlformats.org/officeDocument/2006/relationships/tags" Target="../tags/tag2550.xml"/><Relationship Id="rId10" Type="http://schemas.openxmlformats.org/officeDocument/2006/relationships/tags" Target="../tags/tag2549.xml"/><Relationship Id="rId1" Type="http://schemas.openxmlformats.org/officeDocument/2006/relationships/image" Target="../media/image21.png"/></Relationships>
</file>

<file path=ppt/slides/_rels/slide227.xml.rels><?xml version="1.0" encoding="UTF-8" standalone="yes"?>
<Relationships xmlns="http://schemas.openxmlformats.org/package/2006/relationships"><Relationship Id="rId9" Type="http://schemas.openxmlformats.org/officeDocument/2006/relationships/image" Target="../media/image36.png"/><Relationship Id="rId8" Type="http://schemas.openxmlformats.org/officeDocument/2006/relationships/image" Target="../media/image1207.svg"/><Relationship Id="rId7" Type="http://schemas.openxmlformats.org/officeDocument/2006/relationships/image" Target="../media/image1206.png"/><Relationship Id="rId6" Type="http://schemas.openxmlformats.org/officeDocument/2006/relationships/image" Target="../media/image1205.svg"/><Relationship Id="rId5" Type="http://schemas.openxmlformats.org/officeDocument/2006/relationships/image" Target="../media/image1204.png"/><Relationship Id="rId4" Type="http://schemas.openxmlformats.org/officeDocument/2006/relationships/image" Target="../media/image1203.svg"/><Relationship Id="rId3" Type="http://schemas.openxmlformats.org/officeDocument/2006/relationships/image" Target="../media/image1202.png"/><Relationship Id="rId2" Type="http://schemas.openxmlformats.org/officeDocument/2006/relationships/image" Target="../media/image1201.svg"/><Relationship Id="rId10" Type="http://schemas.openxmlformats.org/officeDocument/2006/relationships/slideLayout" Target="../slideLayouts/slideLayout12.xml"/><Relationship Id="rId1" Type="http://schemas.openxmlformats.org/officeDocument/2006/relationships/image" Target="../media/image21.png"/></Relationships>
</file>

<file path=ppt/slides/_rels/slide228.xml.rels><?xml version="1.0" encoding="UTF-8" standalone="yes"?>
<Relationships xmlns="http://schemas.openxmlformats.org/package/2006/relationships"><Relationship Id="rId9" Type="http://schemas.openxmlformats.org/officeDocument/2006/relationships/tags" Target="../tags/tag2567.xml"/><Relationship Id="rId8" Type="http://schemas.openxmlformats.org/officeDocument/2006/relationships/tags" Target="../tags/tag2566.xml"/><Relationship Id="rId7" Type="http://schemas.openxmlformats.org/officeDocument/2006/relationships/tags" Target="../tags/tag2565.xml"/><Relationship Id="rId6" Type="http://schemas.openxmlformats.org/officeDocument/2006/relationships/tags" Target="../tags/tag2564.xml"/><Relationship Id="rId5" Type="http://schemas.openxmlformats.org/officeDocument/2006/relationships/tags" Target="../tags/tag2563.xml"/><Relationship Id="rId4" Type="http://schemas.openxmlformats.org/officeDocument/2006/relationships/tags" Target="../tags/tag2562.xml"/><Relationship Id="rId3" Type="http://schemas.openxmlformats.org/officeDocument/2006/relationships/tags" Target="../tags/tag2561.xml"/><Relationship Id="rId26" Type="http://schemas.openxmlformats.org/officeDocument/2006/relationships/slideLayout" Target="../slideLayouts/slideLayout12.xml"/><Relationship Id="rId25" Type="http://schemas.openxmlformats.org/officeDocument/2006/relationships/image" Target="../media/image36.png"/><Relationship Id="rId24" Type="http://schemas.openxmlformats.org/officeDocument/2006/relationships/tags" Target="../tags/tag2582.xml"/><Relationship Id="rId23" Type="http://schemas.openxmlformats.org/officeDocument/2006/relationships/tags" Target="../tags/tag2581.xml"/><Relationship Id="rId22" Type="http://schemas.openxmlformats.org/officeDocument/2006/relationships/tags" Target="../tags/tag2580.xml"/><Relationship Id="rId21" Type="http://schemas.openxmlformats.org/officeDocument/2006/relationships/tags" Target="../tags/tag2579.xml"/><Relationship Id="rId20" Type="http://schemas.openxmlformats.org/officeDocument/2006/relationships/tags" Target="../tags/tag2578.xml"/><Relationship Id="rId2" Type="http://schemas.openxmlformats.org/officeDocument/2006/relationships/image" Target="../media/image1208.svg"/><Relationship Id="rId19" Type="http://schemas.openxmlformats.org/officeDocument/2006/relationships/tags" Target="../tags/tag2577.xml"/><Relationship Id="rId18" Type="http://schemas.openxmlformats.org/officeDocument/2006/relationships/tags" Target="../tags/tag2576.xml"/><Relationship Id="rId17" Type="http://schemas.openxmlformats.org/officeDocument/2006/relationships/tags" Target="../tags/tag2575.xml"/><Relationship Id="rId16" Type="http://schemas.openxmlformats.org/officeDocument/2006/relationships/tags" Target="../tags/tag2574.xml"/><Relationship Id="rId15" Type="http://schemas.openxmlformats.org/officeDocument/2006/relationships/tags" Target="../tags/tag2573.xml"/><Relationship Id="rId14" Type="http://schemas.openxmlformats.org/officeDocument/2006/relationships/tags" Target="../tags/tag2572.xml"/><Relationship Id="rId13" Type="http://schemas.openxmlformats.org/officeDocument/2006/relationships/tags" Target="../tags/tag2571.xml"/><Relationship Id="rId12" Type="http://schemas.openxmlformats.org/officeDocument/2006/relationships/tags" Target="../tags/tag2570.xml"/><Relationship Id="rId11" Type="http://schemas.openxmlformats.org/officeDocument/2006/relationships/tags" Target="../tags/tag2569.xml"/><Relationship Id="rId10" Type="http://schemas.openxmlformats.org/officeDocument/2006/relationships/tags" Target="../tags/tag2568.xml"/><Relationship Id="rId1" Type="http://schemas.openxmlformats.org/officeDocument/2006/relationships/image" Target="../media/image21.png"/></Relationships>
</file>

<file path=ppt/slides/_rels/slide22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36.png"/><Relationship Id="rId2" Type="http://schemas.openxmlformats.org/officeDocument/2006/relationships/image" Target="../media/image1209.svg"/><Relationship Id="rId1" Type="http://schemas.openxmlformats.org/officeDocument/2006/relationships/image" Target="../media/image21.png"/></Relationships>
</file>

<file path=ppt/slides/_rels/slide230.xml.rels><?xml version="1.0" encoding="UTF-8" standalone="yes"?>
<Relationships xmlns="http://schemas.openxmlformats.org/package/2006/relationships"><Relationship Id="rId9" Type="http://schemas.openxmlformats.org/officeDocument/2006/relationships/tags" Target="../tags/tag2589.xml"/><Relationship Id="rId8" Type="http://schemas.openxmlformats.org/officeDocument/2006/relationships/tags" Target="../tags/tag2588.xml"/><Relationship Id="rId7" Type="http://schemas.openxmlformats.org/officeDocument/2006/relationships/tags" Target="../tags/tag2587.xml"/><Relationship Id="rId6" Type="http://schemas.openxmlformats.org/officeDocument/2006/relationships/tags" Target="../tags/tag2586.xml"/><Relationship Id="rId5" Type="http://schemas.openxmlformats.org/officeDocument/2006/relationships/tags" Target="../tags/tag2585.xml"/><Relationship Id="rId4" Type="http://schemas.openxmlformats.org/officeDocument/2006/relationships/tags" Target="../tags/tag2584.xml"/><Relationship Id="rId3" Type="http://schemas.openxmlformats.org/officeDocument/2006/relationships/tags" Target="../tags/tag2583.xml"/><Relationship Id="rId2" Type="http://schemas.openxmlformats.org/officeDocument/2006/relationships/image" Target="../media/image1211.svg"/><Relationship Id="rId18" Type="http://schemas.openxmlformats.org/officeDocument/2006/relationships/slideLayout" Target="../slideLayouts/slideLayout12.xml"/><Relationship Id="rId17" Type="http://schemas.openxmlformats.org/officeDocument/2006/relationships/image" Target="../media/image36.png"/><Relationship Id="rId16" Type="http://schemas.openxmlformats.org/officeDocument/2006/relationships/tags" Target="../tags/tag2596.xml"/><Relationship Id="rId15" Type="http://schemas.openxmlformats.org/officeDocument/2006/relationships/tags" Target="../tags/tag2595.xml"/><Relationship Id="rId14" Type="http://schemas.openxmlformats.org/officeDocument/2006/relationships/tags" Target="../tags/tag2594.xml"/><Relationship Id="rId13" Type="http://schemas.openxmlformats.org/officeDocument/2006/relationships/tags" Target="../tags/tag2593.xml"/><Relationship Id="rId12" Type="http://schemas.openxmlformats.org/officeDocument/2006/relationships/tags" Target="../tags/tag2592.xml"/><Relationship Id="rId11" Type="http://schemas.openxmlformats.org/officeDocument/2006/relationships/tags" Target="../tags/tag2591.xml"/><Relationship Id="rId10" Type="http://schemas.openxmlformats.org/officeDocument/2006/relationships/tags" Target="../tags/tag2590.xml"/><Relationship Id="rId1" Type="http://schemas.openxmlformats.org/officeDocument/2006/relationships/image" Target="../media/image1210.png"/></Relationships>
</file>

<file path=ppt/slides/_rels/slide231.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image" Target="../media/image18.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图片 44" descr="&amp;pky380_sjzg_VCG41N612724130_sjzg_VCG41N612724130&amp;"/>
          <p:cNvPicPr>
            <a:picLocks noChangeAspect="1"/>
          </p:cNvPicPr>
          <p:nvPr userDrawn="1"/>
        </p:nvPicPr>
        <p:blipFill>
          <a:blip r:embed="rId1">
            <a:lum contrast="-66000"/>
          </a:blip>
          <a:stretch>
            <a:fillRect/>
          </a:stretch>
        </p:blipFill>
        <p:spPr>
          <a:xfrm>
            <a:off x="-11430" y="0"/>
            <a:ext cx="12214225" cy="6858000"/>
          </a:xfrm>
          <a:prstGeom prst="rect">
            <a:avLst/>
          </a:prstGeom>
        </p:spPr>
      </p:pic>
      <p:sp>
        <p:nvSpPr>
          <p:cNvPr id="46" name="矩形 45"/>
          <p:cNvSpPr/>
          <p:nvPr userDrawn="1"/>
        </p:nvSpPr>
        <p:spPr>
          <a:xfrm>
            <a:off x="0" y="0"/>
            <a:ext cx="12192000" cy="6858000"/>
          </a:xfrm>
          <a:prstGeom prst="rect">
            <a:avLst/>
          </a:prstGeom>
          <a:gradFill>
            <a:gsLst>
              <a:gs pos="0">
                <a:srgbClr val="0042FF">
                  <a:alpha val="90000"/>
                </a:srgbClr>
              </a:gs>
              <a:gs pos="100000">
                <a:srgbClr val="0042FF">
                  <a:alpha val="60000"/>
                </a:srgbClr>
              </a:gs>
            </a:gsLst>
            <a:lin ang="27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cxnSp>
        <p:nvCxnSpPr>
          <p:cNvPr id="44" name="直接连接符 43"/>
          <p:cNvCxnSpPr/>
          <p:nvPr/>
        </p:nvCxnSpPr>
        <p:spPr>
          <a:xfrm>
            <a:off x="1567721" y="8585987"/>
            <a:ext cx="572022" cy="0"/>
          </a:xfrm>
          <a:prstGeom prst="line">
            <a:avLst/>
          </a:prstGeom>
          <a:ln w="12700">
            <a:gradFill flip="none" rotWithShape="1">
              <a:gsLst>
                <a:gs pos="11000">
                  <a:srgbClr val="FFFFFF">
                    <a:alpha val="0"/>
                  </a:srgbClr>
                </a:gs>
                <a:gs pos="100000">
                  <a:srgbClr val="FFFFFF"/>
                </a:gs>
              </a:gsLst>
              <a:lin ang="0" scaled="1"/>
              <a:tileRect/>
            </a:gradFill>
          </a:ln>
        </p:spPr>
        <p:style>
          <a:lnRef idx="1">
            <a:srgbClr val="0042FF"/>
          </a:lnRef>
          <a:fillRef idx="0">
            <a:srgbClr val="0042FF"/>
          </a:fillRef>
          <a:effectRef idx="0">
            <a:srgbClr val="0042FF"/>
          </a:effectRef>
          <a:fontRef idx="minor">
            <a:srgbClr val="383838"/>
          </a:fontRef>
        </p:style>
      </p:cxnSp>
      <p:sp>
        <p:nvSpPr>
          <p:cNvPr id="79" name="文本框 78"/>
          <p:cNvSpPr txBox="1"/>
          <p:nvPr/>
        </p:nvSpPr>
        <p:spPr>
          <a:xfrm>
            <a:off x="3870960" y="1540510"/>
            <a:ext cx="4001135" cy="706755"/>
          </a:xfrm>
          <a:prstGeom prst="rect">
            <a:avLst/>
          </a:prstGeom>
          <a:noFill/>
        </p:spPr>
        <p:txBody>
          <a:bodyPr wrap="none" rtlCol="0" anchor="ctr" lIns="0" rIns="0" tIns="0" bIns="0">
            <a:spAutoFit/>
          </a:bodyPr>
          <a:lstStyle/>
          <a:p>
            <a:pPr algn="ctr">
              <a:defRPr>
                <a:solidFill>
                  <a:srgbClr val="FFFFFF"/>
                </a:solidFill>
                <a:latin typeface="微软雅黑"/>
                <a:ea typeface="微软雅黑"/>
                <a:cs typeface="微软雅黑"/>
              </a:defRPr>
            </a:pPr>
            <a:r>
              <a:rPr lang="zh-CN" altLang="en-US" sz="3200" b="1" dirty="0">
                <a:solidFill>
                  <a:srgbClr val="FFFFFF"/>
                </a:solidFill>
                <a:latin typeface="微软雅黑"/>
                <a:ea typeface="微软雅黑"/>
                <a:cs typeface="微软雅黑"/>
              </a:rPr>
              <a:t>「框架搭建系列</a:t>
            </a:r>
            <a:r>
              <a:rPr lang="zh-CN" altLang="en-US" sz="3200" b="1" dirty="0">
                <a:solidFill>
                  <a:srgbClr val="FFFFFF"/>
                </a:solidFill>
                <a:latin typeface="微软雅黑"/>
                <a:ea typeface="微软雅黑"/>
                <a:cs typeface="微软雅黑"/>
                <a:sym typeface="微软雅黑"/>
              </a:rPr>
              <a:t>」</a:t>
            </a:r>
            <a:endParaRPr lang="zh-CN" altLang="en-US" sz="3200" b="1" dirty="0">
              <a:solidFill>
                <a:srgbClr val="FFFFFF"/>
              </a:solidFill>
              <a:latin typeface="微软雅黑"/>
              <a:ea typeface="微软雅黑"/>
              <a:cs typeface="微软雅黑"/>
              <a:sym typeface="微软雅黑"/>
            </a:endParaRPr>
          </a:p>
        </p:txBody>
      </p:sp>
      <p:sp>
        <p:nvSpPr>
          <p:cNvPr id="80" name="文本框 79"/>
          <p:cNvSpPr txBox="1"/>
          <p:nvPr/>
        </p:nvSpPr>
        <p:spPr>
          <a:xfrm>
            <a:off x="2024380" y="2326005"/>
            <a:ext cx="7940040" cy="1014730"/>
          </a:xfrm>
          <a:prstGeom prst="rect">
            <a:avLst/>
          </a:prstGeom>
          <a:noFill/>
        </p:spPr>
        <p:txBody>
          <a:bodyPr wrap="none" rtlCol="0" anchor="ctr" lIns="0" rIns="0" tIns="0" bIns="0">
            <a:spAutoFit/>
          </a:bodyPr>
          <a:lstStyle/>
          <a:p>
            <a:pPr algn="ctr">
              <a:defRPr>
                <a:solidFill>
                  <a:srgbClr val="FFFFFF"/>
                </a:solidFill>
                <a:latin typeface="微软雅黑"/>
                <a:ea typeface="微软雅黑"/>
                <a:cs typeface="微软雅黑"/>
              </a:defRPr>
            </a:pPr>
            <a:r>
              <a:rPr lang="zh-CN" sz="4400" b="1" dirty="0">
                <a:solidFill>
                  <a:srgbClr val="FFFFFF"/>
                </a:solidFill>
                <a:latin typeface="微软雅黑"/>
                <a:ea typeface="微软雅黑"/>
                <a:cs typeface="微软雅黑"/>
              </a:rPr>
              <a:t>复杂逻辑场景</a:t>
            </a:r>
            <a:r>
              <a:rPr lang="en-US" altLang="zh-CN" sz="4400" b="1" dirty="0">
                <a:solidFill>
                  <a:srgbClr val="FFFFFF"/>
                </a:solidFill>
                <a:latin typeface="微软雅黑"/>
                <a:ea typeface="微软雅黑"/>
                <a:cs typeface="微软雅黑"/>
              </a:rPr>
              <a:t>PPT</a:t>
            </a:r>
            <a:r>
              <a:rPr lang="zh-CN" altLang="en-US" sz="4400" b="1" dirty="0">
                <a:solidFill>
                  <a:srgbClr val="FFFFFF"/>
                </a:solidFill>
                <a:latin typeface="微软雅黑"/>
                <a:ea typeface="微软雅黑"/>
                <a:cs typeface="微软雅黑"/>
              </a:rPr>
              <a:t>模板</a:t>
            </a:r>
            <a:endParaRPr lang="zh-CN" altLang="en-US" sz="4400" b="1" dirty="0">
              <a:solidFill>
                <a:srgbClr val="FFFFFF"/>
              </a:solidFill>
              <a:latin typeface="微软雅黑"/>
              <a:ea typeface="微软雅黑"/>
              <a:cs typeface="微软雅黑"/>
            </a:endParaRPr>
          </a:p>
        </p:txBody>
      </p:sp>
      <p:sp>
        <p:nvSpPr>
          <p:cNvPr id="81" name="文本框 80"/>
          <p:cNvSpPr txBox="1"/>
          <p:nvPr/>
        </p:nvSpPr>
        <p:spPr>
          <a:xfrm>
            <a:off x="5244518" y="4138060"/>
            <a:ext cx="1702965" cy="306705"/>
          </a:xfrm>
          <a:prstGeom prst="rect">
            <a:avLst/>
          </a:prstGeom>
          <a:noFill/>
          <a:ln w="3175">
            <a:noFill/>
          </a:ln>
        </p:spPr>
        <p:txBody>
          <a:bodyPr wrap="square" rtlCol="0">
            <a:spAutoFit/>
          </a:body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汇报人：开悟思维</a:t>
            </a:r>
            <a:endParaRPr lang="zh-CN" altLang="en-US" sz="1400" dirty="0">
              <a:solidFill>
                <a:srgbClr val="FFFFFF"/>
              </a:solidFill>
              <a:latin typeface="微软雅黑"/>
              <a:ea typeface="微软雅黑"/>
              <a:cs typeface="微软雅黑"/>
            </a:endParaRPr>
          </a:p>
        </p:txBody>
      </p:sp>
      <p:sp>
        <p:nvSpPr>
          <p:cNvPr id="82" name="文本框 81"/>
          <p:cNvSpPr txBox="1"/>
          <p:nvPr/>
        </p:nvSpPr>
        <p:spPr>
          <a:xfrm>
            <a:off x="4721860" y="4411345"/>
            <a:ext cx="2490470" cy="306705"/>
          </a:xfrm>
          <a:prstGeom prst="rect">
            <a:avLst/>
          </a:prstGeom>
          <a:noFill/>
          <a:ln w="3175">
            <a:noFill/>
          </a:ln>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sz="14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汇报时间：</a:t>
            </a:r>
            <a:r>
              <a:rPr lang="en-US" altLang="zh-CN" dirty="0">
                <a:solidFill>
                  <a:srgbClr val="FFFFFF"/>
                </a:solidFill>
                <a:latin typeface="微软雅黑"/>
                <a:ea typeface="微软雅黑"/>
                <a:cs typeface="微软雅黑"/>
              </a:rPr>
              <a:t>20xx.xx</a:t>
            </a:r>
            <a:endParaRPr lang="zh-CN" altLang="en-US" dirty="0">
              <a:solidFill>
                <a:srgbClr val="FFFFFF"/>
              </a:solidFill>
              <a:latin typeface="微软雅黑"/>
              <a:ea typeface="微软雅黑"/>
              <a:cs typeface="微软雅黑"/>
            </a:endParaRPr>
          </a:p>
        </p:txBody>
      </p:sp>
      <p:cxnSp>
        <p:nvCxnSpPr>
          <p:cNvPr id="83" name="直接连接符 82"/>
          <p:cNvCxnSpPr/>
          <p:nvPr/>
        </p:nvCxnSpPr>
        <p:spPr>
          <a:xfrm>
            <a:off x="2328724" y="3360147"/>
            <a:ext cx="7534552" cy="6350"/>
          </a:xfrm>
          <a:prstGeom prst="line">
            <a:avLst/>
          </a:prstGeom>
          <a:ln w="12700">
            <a:solidFill>
              <a:srgbClr val="E6E6E6"/>
            </a:solidFill>
          </a:ln>
        </p:spPr>
        <p:style>
          <a:lnRef idx="1">
            <a:srgbClr val="0042FF"/>
          </a:lnRef>
          <a:fillRef idx="0">
            <a:srgbClr val="0042FF"/>
          </a:fillRef>
          <a:effectRef idx="0">
            <a:srgbClr val="0042FF"/>
          </a:effectRef>
          <a:fontRef idx="minor">
            <a:srgbClr val="383838"/>
          </a:fontRef>
        </p:style>
      </p:cxnSp>
      <p:sp>
        <p:nvSpPr>
          <p:cNvPr id="84" name="等腰三角形 83"/>
          <p:cNvSpPr/>
          <p:nvPr/>
        </p:nvSpPr>
        <p:spPr>
          <a:xfrm flipV="1">
            <a:off x="9715109" y="3360147"/>
            <a:ext cx="148167" cy="127730"/>
          </a:xfrm>
          <a:prstGeom prst="triangle">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85" name="文本框 84"/>
          <p:cNvSpPr txBox="1"/>
          <p:nvPr/>
        </p:nvSpPr>
        <p:spPr>
          <a:xfrm>
            <a:off x="2608152" y="3437112"/>
            <a:ext cx="6975697" cy="27559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Framework Series: Complex Logic Construction PPT Template</a:t>
            </a:r>
            <a:endParaRPr lang="en-US" altLang="zh-CN" sz="1200" dirty="0">
              <a:solidFill>
                <a:srgbClr val="FFFFFF"/>
              </a:solidFill>
              <a:latin typeface="微软雅黑"/>
              <a:ea typeface="微软雅黑"/>
              <a:cs typeface="微软雅黑"/>
            </a:endParaRPr>
          </a:p>
        </p:txBody>
      </p:sp>
      <p:sp>
        <p:nvSpPr>
          <p:cNvPr id="23" name="文本框 22"/>
          <p:cNvSpPr txBox="1"/>
          <p:nvPr userDrawn="1"/>
        </p:nvSpPr>
        <p:spPr>
          <a:xfrm>
            <a:off x="9388344" y="744017"/>
            <a:ext cx="2357120" cy="92075"/>
          </a:xfrm>
          <a:prstGeom prst="rect">
            <a:avLst/>
          </a:prstGeom>
          <a:noFill/>
        </p:spPr>
        <p:txBody>
          <a:bodyPr wrap="none" lIns="0" tIns="0" rIns="0" bIns="0" rtlCol="0">
            <a:spAutoFit/>
          </a:bodyPr>
          <a:lstStyle/>
          <a:p>
            <a:pPr algn="r">
              <a:lnSpc>
                <a:spcPct val="60000"/>
              </a:lnSpc>
              <a:spcAft>
                <a:spcPts val="600"/>
              </a:spcAft>
              <a:defRPr>
                <a:solidFill>
                  <a:srgbClr val="FFFFFF"/>
                </a:solidFill>
                <a:latin typeface="微软雅黑"/>
                <a:ea typeface="微软雅黑"/>
                <a:cs typeface="微软雅黑"/>
              </a:defRPr>
            </a:pPr>
            <a:r>
              <a:rPr lang="zh-CN" altLang="en-US" sz="1000" spc="160">
                <a:solidFill>
                  <a:srgbClr val="FFFFFF"/>
                </a:solidFill>
                <a:latin typeface="微软雅黑"/>
                <a:ea typeface="微软雅黑"/>
                <a:cs typeface="微软雅黑"/>
                <a:sym typeface="微软雅黑"/>
              </a:rPr>
              <a:t>仅供学习使用，严禁商用，侵权必究</a:t>
            </a:r>
            <a:endParaRPr lang="zh-CN" altLang="en-US" sz="1000" spc="160">
              <a:solidFill>
                <a:srgbClr val="FFFFFF"/>
              </a:solidFill>
              <a:latin typeface="微软雅黑"/>
              <a:ea typeface="微软雅黑"/>
              <a:cs typeface="微软雅黑"/>
              <a:sym typeface="微软雅黑"/>
            </a:endParaRPr>
          </a:p>
        </p:txBody>
      </p:sp>
      <p:sp>
        <p:nvSpPr>
          <p:cNvPr id="3" name="矩形 2"/>
          <p:cNvSpPr/>
          <p:nvPr userDrawn="1"/>
        </p:nvSpPr>
        <p:spPr>
          <a:xfrm>
            <a:off x="9200515" y="521970"/>
            <a:ext cx="2626995" cy="454660"/>
          </a:xfrm>
          <a:prstGeom prst="rect">
            <a:avLst/>
          </a:prstGeom>
          <a:noFill/>
          <a:ln>
            <a:solidFill>
              <a:srgbClr val="FFFFFF"/>
            </a:soli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Tree>
  </p:cSld>
  <p:clrMapOvr>
    <a:masterClrMapping/>
  </p:clrMapOvr>
  <mc:AlternateContent xmlns:mc="http://schemas.openxmlformats.org/markup-compatibility/2006">
    <mc:Choice xmlns:p14="http://schemas.microsoft.com/office/powerpoint/2010/main" Requires="p14">
      <p:transition spd="slow" p14:dur="1500">
        <p:random/>
      </p:transition>
    </mc:Choice>
    <mc:Fallback>
      <p:transition spd="slow">
        <p:random/>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矩形 68"/>
          <p:cNvSpPr/>
          <p:nvPr/>
        </p:nvSpPr>
        <p:spPr>
          <a:xfrm>
            <a:off x="1476693" y="914400"/>
            <a:ext cx="9086215" cy="231775"/>
          </a:xfrm>
          <a:prstGeom prst="rect">
            <a:avLst/>
          </a:prstGeom>
          <a:solidFill>
            <a:srgbClr val="E6E6E6"/>
          </a:solidFill>
          <a:ln>
            <a:solidFill>
              <a:srgbClr val="383838">
                <a:alpha val="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2" name="文本框 11"/>
          <p:cNvSpPr txBox="1"/>
          <p:nvPr>
            <p:custDataLst>
              <p:tags r:id="rId1"/>
            </p:custDataLst>
          </p:nvPr>
        </p:nvSpPr>
        <p:spPr>
          <a:xfrm flipH="1">
            <a:off x="3674110" y="530860"/>
            <a:ext cx="4691380" cy="491490"/>
          </a:xfrm>
          <a:prstGeom prst="rect">
            <a:avLst/>
          </a:prstGeom>
          <a:noFill/>
        </p:spPr>
        <p:txBody>
          <a:bodyPr wrap="square" rtlCol="0">
            <a:noAutofit/>
          </a:bodyPr>
          <a:lstStyle/>
          <a:p>
            <a:pPr algn="ctr">
              <a:defRPr>
                <a:latin typeface="微软雅黑"/>
                <a:ea typeface="微软雅黑"/>
                <a:cs typeface="微软雅黑"/>
              </a:defRPr>
            </a:pPr>
            <a:r>
              <a:rPr lang="zh-CN" sz="3200" b="1">
                <a:solidFill>
                  <a:srgbClr val="0042FF"/>
                </a:solidFill>
                <a:latin typeface="微软雅黑"/>
                <a:ea typeface="微软雅黑"/>
                <a:cs typeface="微软雅黑"/>
              </a:rPr>
              <a:t>本版配色说明</a:t>
            </a:r>
            <a:endParaRPr lang="zh-CN" sz="3200" b="1">
              <a:solidFill>
                <a:srgbClr val="0042FF"/>
              </a:solidFill>
              <a:latin typeface="微软雅黑"/>
              <a:ea typeface="微软雅黑"/>
              <a:cs typeface="微软雅黑"/>
            </a:endParaRPr>
          </a:p>
        </p:txBody>
      </p:sp>
      <p:sp>
        <p:nvSpPr>
          <p:cNvPr id="30" name="任意多边形 29"/>
          <p:cNvSpPr/>
          <p:nvPr>
            <p:custDataLst>
              <p:tags r:id="rId2"/>
            </p:custDataLst>
          </p:nvPr>
        </p:nvSpPr>
        <p:spPr>
          <a:xfrm flipH="1">
            <a:off x="9965690" y="-13970"/>
            <a:ext cx="2244725" cy="848995"/>
          </a:xfrm>
          <a:custGeom>
            <a:avLst/>
            <a:gdLst/>
            <a:ahLst/>
            <a:cxnLst>
              <a:cxn ang="3">
                <a:pos x="hc" y="t"/>
              </a:cxn>
              <a:cxn ang="cd2">
                <a:pos x="l" y="vc"/>
              </a:cxn>
              <a:cxn ang="cd4">
                <a:pos x="hc" y="b"/>
              </a:cxn>
              <a:cxn ang="0">
                <a:pos x="r" y="vc"/>
              </a:cxn>
            </a:cxnLst>
            <a:rect l="l" t="t" r="r" b="b"/>
            <a:pathLst>
              <a:path w="3549" h="1050">
                <a:moveTo>
                  <a:pt x="0" y="0"/>
                </a:moveTo>
                <a:lnTo>
                  <a:pt x="3549" y="0"/>
                </a:lnTo>
                <a:lnTo>
                  <a:pt x="1628" y="937"/>
                </a:lnTo>
                <a:cubicBezTo>
                  <a:pt x="1076" y="1207"/>
                  <a:pt x="410" y="977"/>
                  <a:pt x="141" y="425"/>
                </a:cubicBezTo>
                <a:lnTo>
                  <a:pt x="0" y="137"/>
                </a:lnTo>
                <a:lnTo>
                  <a:pt x="0" y="0"/>
                </a:lnTo>
                <a:close/>
              </a:path>
            </a:pathLst>
          </a:custGeom>
          <a:solidFill>
            <a:srgbClr val="E6E6E6"/>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latin typeface="微软雅黑"/>
              <a:ea typeface="微软雅黑"/>
              <a:cs typeface="微软雅黑"/>
            </a:endParaRPr>
          </a:p>
        </p:txBody>
      </p:sp>
      <p:pic>
        <p:nvPicPr>
          <p:cNvPr id="31" name="图片 30"/>
          <p:cNvPicPr>
            <a:picLocks noChangeAspect="1"/>
          </p:cNvPicPr>
          <p:nvPr userDrawn="1"/>
        </p:nvPicPr>
        <p:blipFill>
          <a:blip r:embed="rId3"/>
          <a:srcRect r="58023" b="-8235"/>
          <a:stretch>
            <a:fillRect/>
          </a:stretch>
        </p:blipFill>
        <p:spPr>
          <a:xfrm>
            <a:off x="10253980" y="147320"/>
            <a:ext cx="1591310" cy="350520"/>
          </a:xfrm>
          <a:prstGeom prst="rect">
            <a:avLst/>
          </a:prstGeom>
        </p:spPr>
      </p:pic>
      <p:sp>
        <p:nvSpPr>
          <p:cNvPr id="85" name="文本框 84"/>
          <p:cNvSpPr txBox="1"/>
          <p:nvPr/>
        </p:nvSpPr>
        <p:spPr>
          <a:xfrm rot="2580000">
            <a:off x="3877945" y="4537075"/>
            <a:ext cx="274320" cy="706755"/>
          </a:xfrm>
          <a:prstGeom prst="rect">
            <a:avLst/>
          </a:prstGeom>
          <a:noFill/>
        </p:spPr>
        <p:txBody>
          <a:bodyPr wrap="square" rtlCol="0">
            <a:spAutoFit/>
          </a:bodyPr>
          <a:lstStyle/>
          <a:p>
            <a:pPr algn="l">
              <a:defRPr>
                <a:solidFill>
                  <a:srgbClr val="FFFFFF"/>
                </a:solidFill>
                <a:latin typeface="微软雅黑"/>
                <a:ea typeface="微软雅黑"/>
                <a:cs typeface="微软雅黑"/>
              </a:defRPr>
            </a:pPr>
            <a:r>
              <a:rPr lang="en-US" sz="2000" b="1" spc="0" baseline="0" dirty="0">
                <a:solidFill>
                  <a:srgbClr val="FFFFFF"/>
                </a:solidFill>
                <a:latin typeface="微软雅黑"/>
                <a:ea typeface="微软雅黑"/>
                <a:cs typeface="微软雅黑"/>
                <a:sym typeface="微软雅黑"/>
                <a:rtl val="0"/>
              </a:rPr>
              <a:t>04</a:t>
            </a:r>
            <a:endParaRPr lang="en-US" sz="2000" b="1" spc="0" baseline="0" dirty="0">
              <a:solidFill>
                <a:srgbClr val="FFFFFF"/>
              </a:solidFill>
              <a:latin typeface="微软雅黑"/>
              <a:ea typeface="微软雅黑"/>
              <a:cs typeface="微软雅黑"/>
              <a:sym typeface="微软雅黑"/>
              <a:rtl val="0"/>
            </a:endParaRPr>
          </a:p>
        </p:txBody>
      </p:sp>
      <p:sp>
        <p:nvSpPr>
          <p:cNvPr id="82" name="文本框 81"/>
          <p:cNvSpPr txBox="1"/>
          <p:nvPr/>
        </p:nvSpPr>
        <p:spPr>
          <a:xfrm rot="19800000">
            <a:off x="3994150" y="3270885"/>
            <a:ext cx="274320" cy="706755"/>
          </a:xfrm>
          <a:prstGeom prst="rect">
            <a:avLst/>
          </a:prstGeom>
          <a:noFill/>
        </p:spPr>
        <p:txBody>
          <a:bodyPr wrap="square" rtlCol="0">
            <a:spAutoFit/>
          </a:bodyPr>
          <a:lstStyle/>
          <a:p>
            <a:pPr algn="l">
              <a:defRPr>
                <a:solidFill>
                  <a:srgbClr val="FFFFFF"/>
                </a:solidFill>
                <a:latin typeface="微软雅黑"/>
                <a:ea typeface="微软雅黑"/>
                <a:cs typeface="微软雅黑"/>
              </a:defRPr>
            </a:pPr>
            <a:r>
              <a:rPr lang="en-US" sz="2000" b="1" spc="0" baseline="0" dirty="0">
                <a:solidFill>
                  <a:srgbClr val="FFFFFF"/>
                </a:solidFill>
                <a:latin typeface="微软雅黑"/>
                <a:ea typeface="微软雅黑"/>
                <a:cs typeface="微软雅黑"/>
                <a:sym typeface="微软雅黑"/>
                <a:rtl val="0"/>
              </a:rPr>
              <a:t>01</a:t>
            </a:r>
            <a:endParaRPr lang="en-US" sz="2000" b="1" spc="0" baseline="0" dirty="0">
              <a:solidFill>
                <a:srgbClr val="FFFFFF"/>
              </a:solidFill>
              <a:latin typeface="微软雅黑"/>
              <a:ea typeface="微软雅黑"/>
              <a:cs typeface="微软雅黑"/>
              <a:sym typeface="微软雅黑"/>
              <a:rtl val="0"/>
            </a:endParaRPr>
          </a:p>
        </p:txBody>
      </p:sp>
      <p:sp>
        <p:nvSpPr>
          <p:cNvPr id="84" name="文本框 83"/>
          <p:cNvSpPr txBox="1"/>
          <p:nvPr/>
        </p:nvSpPr>
        <p:spPr>
          <a:xfrm rot="18960000">
            <a:off x="6292215" y="3458210"/>
            <a:ext cx="274320" cy="706755"/>
          </a:xfrm>
          <a:prstGeom prst="rect">
            <a:avLst/>
          </a:prstGeom>
          <a:noFill/>
        </p:spPr>
        <p:txBody>
          <a:bodyPr wrap="square" rtlCol="0">
            <a:spAutoFit/>
          </a:bodyPr>
          <a:lstStyle/>
          <a:p>
            <a:pPr algn="l">
              <a:defRPr>
                <a:latin typeface="微软雅黑"/>
                <a:ea typeface="微软雅黑"/>
                <a:cs typeface="微软雅黑"/>
              </a:defRPr>
            </a:pPr>
            <a:r>
              <a:rPr lang="en-US" sz="2000" b="1" spc="0" baseline="0" dirty="0">
                <a:solidFill>
                  <a:srgbClr val="383838"/>
                </a:solidFill>
                <a:latin typeface="微软雅黑"/>
                <a:ea typeface="微软雅黑"/>
                <a:cs typeface="微软雅黑"/>
                <a:sym typeface="微软雅黑"/>
                <a:rtl val="0"/>
              </a:rPr>
              <a:t>03</a:t>
            </a:r>
            <a:endParaRPr lang="en-US" sz="2000" b="1" spc="0" baseline="0" dirty="0">
              <a:solidFill>
                <a:srgbClr val="383838"/>
              </a:solidFill>
              <a:latin typeface="微软雅黑"/>
              <a:ea typeface="微软雅黑"/>
              <a:cs typeface="微软雅黑"/>
              <a:sym typeface="微软雅黑"/>
              <a:rtl val="0"/>
            </a:endParaRPr>
          </a:p>
        </p:txBody>
      </p:sp>
      <p:sp>
        <p:nvSpPr>
          <p:cNvPr id="83" name="文本框 82"/>
          <p:cNvSpPr txBox="1"/>
          <p:nvPr/>
        </p:nvSpPr>
        <p:spPr>
          <a:xfrm>
            <a:off x="6394450" y="4545330"/>
            <a:ext cx="274320" cy="706755"/>
          </a:xfrm>
          <a:prstGeom prst="rect">
            <a:avLst/>
          </a:prstGeom>
          <a:noFill/>
        </p:spPr>
        <p:txBody>
          <a:bodyPr wrap="square" rtlCol="0">
            <a:spAutoFit/>
          </a:bodyPr>
          <a:lstStyle/>
          <a:p>
            <a:pPr algn="l">
              <a:defRPr>
                <a:latin typeface="微软雅黑"/>
                <a:ea typeface="微软雅黑"/>
                <a:cs typeface="微软雅黑"/>
              </a:defRPr>
            </a:pPr>
            <a:r>
              <a:rPr lang="en-US" sz="2000" b="1" spc="0" baseline="0">
                <a:solidFill>
                  <a:srgbClr val="383838"/>
                </a:solidFill>
                <a:latin typeface="微软雅黑"/>
                <a:ea typeface="微软雅黑"/>
                <a:cs typeface="微软雅黑"/>
                <a:sym typeface="微软雅黑"/>
                <a:rtl val="0"/>
              </a:rPr>
              <a:t>02</a:t>
            </a:r>
            <a:endParaRPr lang="en-US" sz="2000" b="1" spc="0" baseline="0">
              <a:solidFill>
                <a:srgbClr val="383838"/>
              </a:solidFill>
              <a:latin typeface="微软雅黑"/>
              <a:ea typeface="微软雅黑"/>
              <a:cs typeface="微软雅黑"/>
              <a:sym typeface="微软雅黑"/>
              <a:rtl val="0"/>
            </a:endParaRPr>
          </a:p>
        </p:txBody>
      </p:sp>
      <p:sp>
        <p:nvSpPr>
          <p:cNvPr id="68" name="任意多边形: 形状 56"/>
          <p:cNvSpPr/>
          <p:nvPr/>
        </p:nvSpPr>
        <p:spPr>
          <a:xfrm>
            <a:off x="5866765" y="3973195"/>
            <a:ext cx="2520315" cy="1205230"/>
          </a:xfrm>
          <a:custGeom>
            <a:avLst/>
            <a:gdLst>
              <a:gd name="connsiteX0" fmla="*/ 323850 w 1082039"/>
              <a:gd name="connsiteY0" fmla="*/ 75248 h 1005840"/>
              <a:gd name="connsiteX1" fmla="*/ 631508 w 1082039"/>
              <a:gd name="connsiteY1" fmla="*/ 420053 h 1005840"/>
              <a:gd name="connsiteX2" fmla="*/ 1038225 w 1082039"/>
              <a:gd name="connsiteY2" fmla="*/ 681990 h 1005840"/>
              <a:gd name="connsiteX3" fmla="*/ 1082040 w 1082039"/>
              <a:gd name="connsiteY3" fmla="*/ 864870 h 1005840"/>
              <a:gd name="connsiteX4" fmla="*/ 932498 w 1082039"/>
              <a:gd name="connsiteY4" fmla="*/ 1005840 h 1005840"/>
              <a:gd name="connsiteX5" fmla="*/ 168592 w 1082039"/>
              <a:gd name="connsiteY5" fmla="*/ 423863 h 1005840"/>
              <a:gd name="connsiteX6" fmla="*/ 120967 w 1082039"/>
              <a:gd name="connsiteY6" fmla="*/ 363855 h 1005840"/>
              <a:gd name="connsiteX7" fmla="*/ 0 w 1082039"/>
              <a:gd name="connsiteY7" fmla="*/ 205740 h 1005840"/>
              <a:gd name="connsiteX8" fmla="*/ 193358 w 1082039"/>
              <a:gd name="connsiteY8" fmla="*/ 180023 h 1005840"/>
              <a:gd name="connsiteX9" fmla="*/ 267652 w 1082039"/>
              <a:gd name="connsiteY9" fmla="*/ 0 h 1005840"/>
              <a:gd name="connsiteX10" fmla="*/ 323850 w 1082039"/>
              <a:gd name="connsiteY10" fmla="*/ 75248 h 100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07" h="2491">
                <a:moveTo>
                  <a:pt x="763" y="177"/>
                </a:moveTo>
                <a:cubicBezTo>
                  <a:pt x="1281" y="766"/>
                  <a:pt x="1555" y="1285"/>
                  <a:pt x="2589" y="1650"/>
                </a:cubicBezTo>
                <a:lnTo>
                  <a:pt x="2589" y="1649"/>
                </a:lnTo>
                <a:cubicBezTo>
                  <a:pt x="2688" y="1672"/>
                  <a:pt x="2805" y="1685"/>
                  <a:pt x="2903" y="1685"/>
                </a:cubicBezTo>
                <a:cubicBezTo>
                  <a:pt x="3697" y="1709"/>
                  <a:pt x="4354" y="1016"/>
                  <a:pt x="4399" y="319"/>
                </a:cubicBezTo>
                <a:lnTo>
                  <a:pt x="4810" y="81"/>
                </a:lnTo>
                <a:lnTo>
                  <a:pt x="5207" y="310"/>
                </a:lnTo>
                <a:cubicBezTo>
                  <a:pt x="5177" y="1541"/>
                  <a:pt x="4023" y="2520"/>
                  <a:pt x="2903" y="2490"/>
                </a:cubicBezTo>
                <a:cubicBezTo>
                  <a:pt x="2848" y="2493"/>
                  <a:pt x="2633" y="2487"/>
                  <a:pt x="2340" y="2414"/>
                </a:cubicBezTo>
                <a:lnTo>
                  <a:pt x="2341" y="2412"/>
                </a:lnTo>
                <a:lnTo>
                  <a:pt x="2197" y="2368"/>
                </a:lnTo>
                <a:lnTo>
                  <a:pt x="2196" y="2369"/>
                </a:lnTo>
                <a:cubicBezTo>
                  <a:pt x="445" y="1509"/>
                  <a:pt x="153" y="565"/>
                  <a:pt x="285" y="857"/>
                </a:cubicBezTo>
                <a:cubicBezTo>
                  <a:pt x="217" y="771"/>
                  <a:pt x="139" y="668"/>
                  <a:pt x="81" y="591"/>
                </a:cubicBezTo>
                <a:cubicBezTo>
                  <a:pt x="55" y="557"/>
                  <a:pt x="19" y="509"/>
                  <a:pt x="0" y="485"/>
                </a:cubicBezTo>
                <a:lnTo>
                  <a:pt x="455" y="424"/>
                </a:lnTo>
                <a:lnTo>
                  <a:pt x="630" y="0"/>
                </a:lnTo>
                <a:cubicBezTo>
                  <a:pt x="672" y="57"/>
                  <a:pt x="722" y="124"/>
                  <a:pt x="763" y="177"/>
                </a:cubicBezTo>
                <a:close/>
              </a:path>
            </a:pathLst>
          </a:custGeom>
          <a:solidFill>
            <a:srgbClr val="FF4200"/>
          </a:solidFill>
          <a:ln w="9525" cap="flat">
            <a:noFill/>
            <a:prstDash val="solid"/>
            <a:miter/>
          </a:ln>
        </p:spPr>
        <p:txBody>
          <a:bodyPr wrap="square" rtlCol="0" anchor="ctr">
            <a:noAutofit/>
          </a:bodyPr>
          <a:lstStyle/>
          <a:p>
            <a:pPr>
              <a:defRPr>
                <a:solidFill>
                  <a:srgbClr val="FFFFFF"/>
                </a:solidFill>
                <a:latin typeface="微软雅黑"/>
                <a:ea typeface="微软雅黑"/>
                <a:cs typeface="微软雅黑"/>
              </a:defRPr>
            </a:pPr>
            <a:endParaRPr lang="en-US" sz="2000">
              <a:solidFill>
                <a:srgbClr val="FFFFFF"/>
              </a:solidFill>
              <a:latin typeface="微软雅黑"/>
              <a:ea typeface="微软雅黑"/>
              <a:cs typeface="微软雅黑"/>
            </a:endParaRPr>
          </a:p>
        </p:txBody>
      </p:sp>
      <p:sp>
        <p:nvSpPr>
          <p:cNvPr id="2" name="任意多边形: 形状 57"/>
          <p:cNvSpPr/>
          <p:nvPr/>
        </p:nvSpPr>
        <p:spPr>
          <a:xfrm>
            <a:off x="5991860" y="2943860"/>
            <a:ext cx="2396490" cy="1115695"/>
          </a:xfrm>
          <a:custGeom>
            <a:avLst/>
            <a:gdLst>
              <a:gd name="connsiteX0" fmla="*/ 1286828 w 1286827"/>
              <a:gd name="connsiteY0" fmla="*/ 971550 h 972502"/>
              <a:gd name="connsiteX1" fmla="*/ 1117283 w 1286827"/>
              <a:gd name="connsiteY1" fmla="*/ 873443 h 972502"/>
              <a:gd name="connsiteX2" fmla="*/ 944880 w 1286827"/>
              <a:gd name="connsiteY2" fmla="*/ 972503 h 972502"/>
              <a:gd name="connsiteX3" fmla="*/ 307658 w 1286827"/>
              <a:gd name="connsiteY3" fmla="*/ 341948 h 972502"/>
              <a:gd name="connsiteX4" fmla="*/ 147638 w 1286827"/>
              <a:gd name="connsiteY4" fmla="*/ 366713 h 972502"/>
              <a:gd name="connsiteX5" fmla="*/ 0 w 1286827"/>
              <a:gd name="connsiteY5" fmla="*/ 226695 h 972502"/>
              <a:gd name="connsiteX6" fmla="*/ 44768 w 1286827"/>
              <a:gd name="connsiteY6" fmla="*/ 40958 h 972502"/>
              <a:gd name="connsiteX7" fmla="*/ 307658 w 1286827"/>
              <a:gd name="connsiteY7" fmla="*/ 0 h 972502"/>
              <a:gd name="connsiteX8" fmla="*/ 1286828 w 1286827"/>
              <a:gd name="connsiteY8" fmla="*/ 971550 h 9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1" h="2306">
                <a:moveTo>
                  <a:pt x="4951" y="2288"/>
                </a:moveTo>
                <a:lnTo>
                  <a:pt x="4552" y="2057"/>
                </a:lnTo>
                <a:lnTo>
                  <a:pt x="4146" y="2290"/>
                </a:lnTo>
                <a:cubicBezTo>
                  <a:pt x="4162" y="1456"/>
                  <a:pt x="3393" y="785"/>
                  <a:pt x="2645" y="805"/>
                </a:cubicBezTo>
                <a:cubicBezTo>
                  <a:pt x="2535" y="804"/>
                  <a:pt x="2401" y="826"/>
                  <a:pt x="2307" y="852"/>
                </a:cubicBezTo>
                <a:lnTo>
                  <a:pt x="2308" y="853"/>
                </a:lnTo>
                <a:lnTo>
                  <a:pt x="2128" y="915"/>
                </a:lnTo>
                <a:lnTo>
                  <a:pt x="2128" y="915"/>
                </a:lnTo>
                <a:cubicBezTo>
                  <a:pt x="1466" y="1164"/>
                  <a:pt x="798" y="1908"/>
                  <a:pt x="505" y="2305"/>
                </a:cubicBezTo>
                <a:cubicBezTo>
                  <a:pt x="483" y="2276"/>
                  <a:pt x="455" y="2240"/>
                  <a:pt x="436" y="2215"/>
                </a:cubicBezTo>
                <a:cubicBezTo>
                  <a:pt x="415" y="2186"/>
                  <a:pt x="388" y="2151"/>
                  <a:pt x="370" y="2128"/>
                </a:cubicBezTo>
                <a:cubicBezTo>
                  <a:pt x="342" y="2088"/>
                  <a:pt x="307" y="2043"/>
                  <a:pt x="278" y="2007"/>
                </a:cubicBezTo>
                <a:cubicBezTo>
                  <a:pt x="188" y="1885"/>
                  <a:pt x="85" y="1748"/>
                  <a:pt x="0" y="1639"/>
                </a:cubicBezTo>
                <a:lnTo>
                  <a:pt x="13" y="1627"/>
                </a:lnTo>
                <a:cubicBezTo>
                  <a:pt x="372" y="1159"/>
                  <a:pt x="1162" y="404"/>
                  <a:pt x="1865" y="154"/>
                </a:cubicBezTo>
                <a:lnTo>
                  <a:pt x="1865" y="152"/>
                </a:lnTo>
                <a:lnTo>
                  <a:pt x="2025" y="97"/>
                </a:lnTo>
                <a:lnTo>
                  <a:pt x="2025" y="96"/>
                </a:lnTo>
                <a:lnTo>
                  <a:pt x="2031" y="95"/>
                </a:lnTo>
                <a:lnTo>
                  <a:pt x="2045" y="90"/>
                </a:lnTo>
                <a:lnTo>
                  <a:pt x="2045" y="91"/>
                </a:lnTo>
                <a:cubicBezTo>
                  <a:pt x="2234" y="33"/>
                  <a:pt x="2458" y="-1"/>
                  <a:pt x="2645" y="0"/>
                </a:cubicBezTo>
                <a:cubicBezTo>
                  <a:pt x="3928" y="-37"/>
                  <a:pt x="4972" y="1137"/>
                  <a:pt x="4951" y="2288"/>
                </a:cubicBezTo>
                <a:close/>
              </a:path>
            </a:pathLst>
          </a:custGeom>
          <a:solidFill>
            <a:srgbClr val="FF4200"/>
          </a:solidFill>
          <a:ln w="9525" cap="flat">
            <a:noFill/>
            <a:prstDash val="solid"/>
            <a:miter/>
          </a:ln>
        </p:spPr>
        <p:txBody>
          <a:bodyPr wrap="square" rtlCol="0" anchor="ctr">
            <a:noAutofit/>
          </a:bodyPr>
          <a:lstStyle/>
          <a:p>
            <a:pPr>
              <a:defRPr>
                <a:solidFill>
                  <a:srgbClr val="FFFFFF"/>
                </a:solidFill>
                <a:latin typeface="微软雅黑"/>
                <a:ea typeface="微软雅黑"/>
                <a:cs typeface="微软雅黑"/>
              </a:defRPr>
            </a:pPr>
            <a:endParaRPr lang="en-US" sz="2000">
              <a:solidFill>
                <a:srgbClr val="FFFFFF"/>
              </a:solidFill>
              <a:latin typeface="微软雅黑"/>
              <a:ea typeface="微软雅黑"/>
              <a:cs typeface="微软雅黑"/>
            </a:endParaRPr>
          </a:p>
        </p:txBody>
      </p:sp>
      <p:sp>
        <p:nvSpPr>
          <p:cNvPr id="70" name="任意多边形: 形状 64"/>
          <p:cNvSpPr/>
          <p:nvPr/>
        </p:nvSpPr>
        <p:spPr>
          <a:xfrm>
            <a:off x="3610610" y="2945130"/>
            <a:ext cx="2518410" cy="1204595"/>
          </a:xfrm>
          <a:custGeom>
            <a:avLst/>
            <a:gdLst>
              <a:gd name="connsiteX0" fmla="*/ 1247775 w 1292542"/>
              <a:gd name="connsiteY0" fmla="*/ 40005 h 973454"/>
              <a:gd name="connsiteX1" fmla="*/ 1292543 w 1292542"/>
              <a:gd name="connsiteY1" fmla="*/ 226695 h 973454"/>
              <a:gd name="connsiteX2" fmla="*/ 1145858 w 1292542"/>
              <a:gd name="connsiteY2" fmla="*/ 364808 h 973454"/>
              <a:gd name="connsiteX3" fmla="*/ 980123 w 1292542"/>
              <a:gd name="connsiteY3" fmla="*/ 340995 h 973454"/>
              <a:gd name="connsiteX4" fmla="*/ 342900 w 1292542"/>
              <a:gd name="connsiteY4" fmla="*/ 968693 h 973454"/>
              <a:gd name="connsiteX5" fmla="*/ 174308 w 1292542"/>
              <a:gd name="connsiteY5" fmla="*/ 872490 h 973454"/>
              <a:gd name="connsiteX6" fmla="*/ 0 w 1292542"/>
              <a:gd name="connsiteY6" fmla="*/ 973455 h 973454"/>
              <a:gd name="connsiteX7" fmla="*/ 979170 w 1292542"/>
              <a:gd name="connsiteY7" fmla="*/ 0 h 973454"/>
              <a:gd name="connsiteX8" fmla="*/ 1247775 w 1292542"/>
              <a:gd name="connsiteY8" fmla="*/ 40005 h 97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 h="2488">
                <a:moveTo>
                  <a:pt x="2700" y="859"/>
                </a:moveTo>
                <a:lnTo>
                  <a:pt x="2699" y="860"/>
                </a:lnTo>
                <a:cubicBezTo>
                  <a:pt x="2579" y="823"/>
                  <a:pt x="2423" y="803"/>
                  <a:pt x="2314" y="804"/>
                </a:cubicBezTo>
                <a:lnTo>
                  <a:pt x="2308" y="804"/>
                </a:lnTo>
                <a:lnTo>
                  <a:pt x="2269" y="803"/>
                </a:lnTo>
                <a:cubicBezTo>
                  <a:pt x="1439" y="779"/>
                  <a:pt x="778" y="1620"/>
                  <a:pt x="808" y="2282"/>
                </a:cubicBezTo>
                <a:lnTo>
                  <a:pt x="411" y="2055"/>
                </a:lnTo>
                <a:lnTo>
                  <a:pt x="1" y="2293"/>
                </a:lnTo>
                <a:lnTo>
                  <a:pt x="0" y="2232"/>
                </a:lnTo>
                <a:cubicBezTo>
                  <a:pt x="-28" y="974"/>
                  <a:pt x="1242" y="-29"/>
                  <a:pt x="2251" y="0"/>
                </a:cubicBezTo>
                <a:lnTo>
                  <a:pt x="2306" y="1"/>
                </a:lnTo>
                <a:lnTo>
                  <a:pt x="2316" y="1"/>
                </a:lnTo>
                <a:lnTo>
                  <a:pt x="2326" y="1"/>
                </a:lnTo>
                <a:cubicBezTo>
                  <a:pt x="2526" y="-1"/>
                  <a:pt x="2770" y="45"/>
                  <a:pt x="2915" y="88"/>
                </a:cubicBezTo>
                <a:lnTo>
                  <a:pt x="2914" y="85"/>
                </a:lnTo>
                <a:lnTo>
                  <a:pt x="3087" y="141"/>
                </a:lnTo>
                <a:lnTo>
                  <a:pt x="3087" y="142"/>
                </a:lnTo>
                <a:lnTo>
                  <a:pt x="3087" y="142"/>
                </a:lnTo>
                <a:cubicBezTo>
                  <a:pt x="4534" y="854"/>
                  <a:pt x="4907" y="1681"/>
                  <a:pt x="4924" y="1635"/>
                </a:cubicBezTo>
                <a:cubicBezTo>
                  <a:pt x="5017" y="1755"/>
                  <a:pt x="5119" y="1892"/>
                  <a:pt x="5203" y="2003"/>
                </a:cubicBezTo>
                <a:lnTo>
                  <a:pt x="5028" y="2427"/>
                </a:lnTo>
                <a:lnTo>
                  <a:pt x="4572" y="2488"/>
                </a:lnTo>
                <a:cubicBezTo>
                  <a:pt x="4528" y="2432"/>
                  <a:pt x="4481" y="2370"/>
                  <a:pt x="4442" y="2319"/>
                </a:cubicBezTo>
                <a:cubicBezTo>
                  <a:pt x="4169" y="1982"/>
                  <a:pt x="3707" y="1300"/>
                  <a:pt x="2841" y="907"/>
                </a:cubicBezTo>
                <a:lnTo>
                  <a:pt x="2864" y="884"/>
                </a:lnTo>
                <a:lnTo>
                  <a:pt x="2839" y="904"/>
                </a:lnTo>
                <a:lnTo>
                  <a:pt x="2700" y="859"/>
                </a:lnTo>
                <a:close/>
              </a:path>
            </a:pathLst>
          </a:custGeom>
          <a:solidFill>
            <a:srgbClr val="0042FF"/>
          </a:solidFill>
          <a:ln w="9525" cap="flat">
            <a:noFill/>
            <a:prstDash val="solid"/>
            <a:miter/>
          </a:ln>
        </p:spPr>
        <p:txBody>
          <a:bodyPr wrap="square" rtlCol="0" anchor="ctr">
            <a:noAutofit/>
          </a:bodyPr>
          <a:lstStyle/>
          <a:p>
            <a:pPr>
              <a:defRPr>
                <a:solidFill>
                  <a:srgbClr val="FFFFFF"/>
                </a:solidFill>
                <a:latin typeface="微软雅黑"/>
                <a:ea typeface="微软雅黑"/>
                <a:cs typeface="微软雅黑"/>
              </a:defRPr>
            </a:pPr>
            <a:endParaRPr lang="zh-CN" altLang="en-US" sz="2000">
              <a:solidFill>
                <a:srgbClr val="FFFFFF"/>
              </a:solidFill>
              <a:latin typeface="微软雅黑"/>
              <a:ea typeface="微软雅黑"/>
              <a:cs typeface="微软雅黑"/>
            </a:endParaRPr>
          </a:p>
        </p:txBody>
      </p:sp>
      <p:sp>
        <p:nvSpPr>
          <p:cNvPr id="71" name="任意多边形: 形状 65"/>
          <p:cNvSpPr/>
          <p:nvPr/>
        </p:nvSpPr>
        <p:spPr>
          <a:xfrm>
            <a:off x="3610610" y="4011930"/>
            <a:ext cx="2395220" cy="1166495"/>
          </a:xfrm>
          <a:custGeom>
            <a:avLst/>
            <a:gdLst>
              <a:gd name="connsiteX0" fmla="*/ 1073468 w 1220152"/>
              <a:gd name="connsiteY0" fmla="*/ 849630 h 1022985"/>
              <a:gd name="connsiteX1" fmla="*/ 1220153 w 1220152"/>
              <a:gd name="connsiteY1" fmla="*/ 988695 h 1022985"/>
              <a:gd name="connsiteX2" fmla="*/ 978218 w 1220152"/>
              <a:gd name="connsiteY2" fmla="*/ 1022985 h 1022985"/>
              <a:gd name="connsiteX3" fmla="*/ 0 w 1220152"/>
              <a:gd name="connsiteY3" fmla="*/ 100013 h 1022985"/>
              <a:gd name="connsiteX4" fmla="*/ 173355 w 1220152"/>
              <a:gd name="connsiteY4" fmla="*/ 0 h 1022985"/>
              <a:gd name="connsiteX5" fmla="*/ 342900 w 1220152"/>
              <a:gd name="connsiteY5" fmla="*/ 97155 h 1022985"/>
              <a:gd name="connsiteX6" fmla="*/ 978218 w 1220152"/>
              <a:gd name="connsiteY6" fmla="*/ 680085 h 1022985"/>
              <a:gd name="connsiteX7" fmla="*/ 1117283 w 1220152"/>
              <a:gd name="connsiteY7" fmla="*/ 661035 h 1022985"/>
              <a:gd name="connsiteX8" fmla="*/ 1073468 w 1220152"/>
              <a:gd name="connsiteY8" fmla="*/ 849630 h 1022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48" h="2410">
                <a:moveTo>
                  <a:pt x="2554" y="2393"/>
                </a:moveTo>
                <a:cubicBezTo>
                  <a:pt x="2489" y="2402"/>
                  <a:pt x="2368" y="2410"/>
                  <a:pt x="2304" y="2409"/>
                </a:cubicBezTo>
                <a:cubicBezTo>
                  <a:pt x="1059" y="2447"/>
                  <a:pt x="34" y="1340"/>
                  <a:pt x="0" y="236"/>
                </a:cubicBezTo>
                <a:lnTo>
                  <a:pt x="408" y="0"/>
                </a:lnTo>
                <a:lnTo>
                  <a:pt x="808" y="229"/>
                </a:lnTo>
                <a:cubicBezTo>
                  <a:pt x="849" y="1011"/>
                  <a:pt x="1589" y="1620"/>
                  <a:pt x="2304" y="1602"/>
                </a:cubicBezTo>
                <a:cubicBezTo>
                  <a:pt x="2318" y="1602"/>
                  <a:pt x="2346" y="1601"/>
                  <a:pt x="2347" y="1601"/>
                </a:cubicBezTo>
                <a:lnTo>
                  <a:pt x="2347" y="1600"/>
                </a:lnTo>
                <a:cubicBezTo>
                  <a:pt x="2489" y="1593"/>
                  <a:pt x="2671" y="1553"/>
                  <a:pt x="2783" y="1510"/>
                </a:cubicBezTo>
                <a:lnTo>
                  <a:pt x="2783" y="1509"/>
                </a:lnTo>
                <a:cubicBezTo>
                  <a:pt x="2956" y="1442"/>
                  <a:pt x="2919" y="1447"/>
                  <a:pt x="2996" y="1409"/>
                </a:cubicBezTo>
                <a:lnTo>
                  <a:pt x="2997" y="1416"/>
                </a:lnTo>
                <a:cubicBezTo>
                  <a:pt x="3553" y="1154"/>
                  <a:pt x="4190" y="464"/>
                  <a:pt x="4446" y="109"/>
                </a:cubicBezTo>
                <a:cubicBezTo>
                  <a:pt x="4467" y="137"/>
                  <a:pt x="4493" y="171"/>
                  <a:pt x="4510" y="194"/>
                </a:cubicBezTo>
                <a:cubicBezTo>
                  <a:pt x="4531" y="221"/>
                  <a:pt x="4556" y="255"/>
                  <a:pt x="4573" y="277"/>
                </a:cubicBezTo>
                <a:cubicBezTo>
                  <a:pt x="4597" y="310"/>
                  <a:pt x="4626" y="348"/>
                  <a:pt x="4648" y="376"/>
                </a:cubicBezTo>
                <a:cubicBezTo>
                  <a:pt x="4655" y="385"/>
                  <a:pt x="4658" y="389"/>
                  <a:pt x="4668" y="402"/>
                </a:cubicBezTo>
                <a:cubicBezTo>
                  <a:pt x="4759" y="526"/>
                  <a:pt x="4862" y="661"/>
                  <a:pt x="4948" y="771"/>
                </a:cubicBezTo>
                <a:lnTo>
                  <a:pt x="4939" y="780"/>
                </a:lnTo>
                <a:cubicBezTo>
                  <a:pt x="4606" y="1213"/>
                  <a:pt x="3902" y="1899"/>
                  <a:pt x="3262" y="2179"/>
                </a:cubicBezTo>
                <a:lnTo>
                  <a:pt x="3265" y="2181"/>
                </a:lnTo>
                <a:cubicBezTo>
                  <a:pt x="2845" y="2379"/>
                  <a:pt x="2582" y="2390"/>
                  <a:pt x="2554" y="2395"/>
                </a:cubicBezTo>
                <a:lnTo>
                  <a:pt x="2554" y="2393"/>
                </a:lnTo>
                <a:close/>
              </a:path>
            </a:pathLst>
          </a:custGeom>
          <a:solidFill>
            <a:srgbClr val="3368FF"/>
          </a:solidFill>
          <a:ln w="9525" cap="flat">
            <a:noFill/>
            <a:prstDash val="solid"/>
            <a:miter/>
          </a:ln>
        </p:spPr>
        <p:txBody>
          <a:bodyPr wrap="square" rtlCol="0" anchor="ctr">
            <a:noAutofit/>
          </a:bodyPr>
          <a:lstStyle/>
          <a:p>
            <a:pPr>
              <a:defRPr>
                <a:solidFill>
                  <a:srgbClr val="FFFFFF"/>
                </a:solidFill>
                <a:latin typeface="微软雅黑"/>
                <a:ea typeface="微软雅黑"/>
                <a:cs typeface="微软雅黑"/>
              </a:defRPr>
            </a:pPr>
            <a:endParaRPr lang="en-US" sz="2000">
              <a:solidFill>
                <a:srgbClr val="FFFFFF"/>
              </a:solidFill>
              <a:latin typeface="微软雅黑"/>
              <a:ea typeface="微软雅黑"/>
              <a:cs typeface="微软雅黑"/>
            </a:endParaRPr>
          </a:p>
        </p:txBody>
      </p:sp>
      <p:sp>
        <p:nvSpPr>
          <p:cNvPr id="78" name="文本框 77"/>
          <p:cNvSpPr txBox="1"/>
          <p:nvPr/>
        </p:nvSpPr>
        <p:spPr>
          <a:xfrm>
            <a:off x="6209030" y="3173730"/>
            <a:ext cx="2220595" cy="2220595"/>
          </a:xfrm>
          <a:prstGeom prst="rect">
            <a:avLst/>
          </a:prstGeom>
          <a:noFill/>
        </p:spPr>
        <p:txBody>
          <a:bodyPr wrap="square" lIns="0" rIns="0" tIns="0" bIns="0">
            <a:prstTxWarp prst="textArchUp">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2000" b="0" i="0" u="none" strike="noStrike" kern="1200" cap="none" normalizeH="0" baseline="0" noProof="0" dirty="0">
                <a:ln>
                  <a:noFill/>
                </a:ln>
                <a:solidFill>
                  <a:srgbClr val="FFFFFF"/>
                </a:solidFill>
                <a:effectLst/>
                <a:uLnTx/>
                <a:uFillTx/>
                <a:latin typeface="微软雅黑"/>
                <a:ea typeface="微软雅黑"/>
                <a:cs typeface="微软雅黑"/>
              </a:rPr>
              <a:t>整合：全域数据资产化与智能中台</a:t>
            </a:r>
            <a:endParaRPr kumimoji="0" lang="zh-CN" altLang="en-US" sz="2000" b="0" i="0" u="none" strike="noStrike" kern="1200" cap="none" normalizeH="0" baseline="0" noProof="0" dirty="0">
              <a:ln>
                <a:noFill/>
              </a:ln>
              <a:solidFill>
                <a:srgbClr val="FFFFFF"/>
              </a:solidFill>
              <a:effectLst/>
              <a:uLnTx/>
              <a:uFillTx/>
              <a:latin typeface="微软雅黑"/>
              <a:ea typeface="微软雅黑"/>
              <a:cs typeface="微软雅黑"/>
            </a:endParaRPr>
          </a:p>
        </p:txBody>
      </p:sp>
      <p:sp>
        <p:nvSpPr>
          <p:cNvPr id="77" name="文本框 76"/>
          <p:cNvSpPr txBox="1"/>
          <p:nvPr/>
        </p:nvSpPr>
        <p:spPr>
          <a:xfrm rot="600000">
            <a:off x="3634105" y="3187065"/>
            <a:ext cx="2220595" cy="2220595"/>
          </a:xfrm>
          <a:prstGeom prst="rect">
            <a:avLst/>
          </a:prstGeom>
          <a:noFill/>
        </p:spPr>
        <p:txBody>
          <a:bodyPr wrap="square" lIns="0" rIns="0" tIns="0" bIns="0">
            <a:prstTxWarp prst="textArchUp">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2000" b="0" i="0" u="none" strike="noStrike" kern="1200" cap="none" normalizeH="0" baseline="0" noProof="0" dirty="0">
                <a:ln>
                  <a:noFill/>
                </a:ln>
                <a:solidFill>
                  <a:srgbClr val="FFFFFF"/>
                </a:solidFill>
                <a:effectLst/>
                <a:uLnTx/>
                <a:uFillTx/>
                <a:latin typeface="微软雅黑"/>
                <a:ea typeface="微软雅黑"/>
                <a:cs typeface="微软雅黑"/>
              </a:rPr>
              <a:t>启动：系统化工具基础构建</a:t>
            </a:r>
            <a:endParaRPr kumimoji="0" lang="zh-CN" altLang="en-US" sz="2000" b="0" i="0" u="none" strike="noStrike" kern="1200" cap="none" normalizeH="0" baseline="0" noProof="0" dirty="0">
              <a:ln>
                <a:noFill/>
              </a:ln>
              <a:solidFill>
                <a:srgbClr val="FFFFFF"/>
              </a:solidFill>
              <a:effectLst/>
              <a:uLnTx/>
              <a:uFillTx/>
              <a:latin typeface="微软雅黑"/>
              <a:ea typeface="微软雅黑"/>
              <a:cs typeface="微软雅黑"/>
            </a:endParaRPr>
          </a:p>
        </p:txBody>
      </p:sp>
      <p:sp>
        <p:nvSpPr>
          <p:cNvPr id="79" name="文本框 78"/>
          <p:cNvSpPr txBox="1"/>
          <p:nvPr/>
        </p:nvSpPr>
        <p:spPr>
          <a:xfrm rot="21240000">
            <a:off x="3614420" y="2780665"/>
            <a:ext cx="2159000" cy="2159000"/>
          </a:xfrm>
          <a:prstGeom prst="rect">
            <a:avLst/>
          </a:prstGeom>
          <a:noFill/>
        </p:spPr>
        <p:txBody>
          <a:bodyPr wrap="square" lIns="0" rIns="0" tIns="0" bIns="0">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2000" b="0" i="0" u="none" strike="noStrike" kern="1200" cap="none" normalizeH="0" baseline="0" noProof="0" dirty="0">
                <a:ln>
                  <a:noFill/>
                </a:ln>
                <a:solidFill>
                  <a:srgbClr val="FFFFFF"/>
                </a:solidFill>
                <a:effectLst/>
                <a:uLnTx/>
                <a:uFillTx/>
                <a:latin typeface="微软雅黑"/>
                <a:ea typeface="微软雅黑"/>
                <a:cs typeface="微软雅黑"/>
              </a:rPr>
              <a:t>升级：数据驱动的全域增长</a:t>
            </a:r>
            <a:endParaRPr kumimoji="0" lang="zh-CN" sz="2000" b="0" i="0" u="none" strike="noStrike" kern="1200" cap="none" normalizeH="0" baseline="0" noProof="0" dirty="0">
              <a:ln>
                <a:noFill/>
              </a:ln>
              <a:solidFill>
                <a:srgbClr val="FFFFFF"/>
              </a:solidFill>
              <a:effectLst/>
              <a:uLnTx/>
              <a:uFillTx/>
              <a:latin typeface="微软雅黑"/>
              <a:ea typeface="微软雅黑"/>
              <a:cs typeface="微软雅黑"/>
            </a:endParaRPr>
          </a:p>
        </p:txBody>
      </p:sp>
      <p:sp>
        <p:nvSpPr>
          <p:cNvPr id="86" name="文本框 85"/>
          <p:cNvSpPr txBox="1"/>
          <p:nvPr/>
        </p:nvSpPr>
        <p:spPr>
          <a:xfrm rot="21360000">
            <a:off x="6177280" y="2766060"/>
            <a:ext cx="2159000" cy="2159000"/>
          </a:xfrm>
          <a:prstGeom prst="rect">
            <a:avLst/>
          </a:prstGeom>
          <a:noFill/>
        </p:spPr>
        <p:txBody>
          <a:bodyPr wrap="square" lIns="0" rIns="0" tIns="0" bIns="0">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2000" b="0" i="0" u="none" strike="noStrike" kern="1200" cap="none" normalizeH="0" baseline="0" noProof="0" dirty="0">
                <a:ln>
                  <a:noFill/>
                </a:ln>
                <a:solidFill>
                  <a:srgbClr val="FFFFFF"/>
                </a:solidFill>
                <a:effectLst/>
                <a:uLnTx/>
                <a:uFillTx/>
                <a:latin typeface="微软雅黑"/>
                <a:ea typeface="微软雅黑"/>
                <a:cs typeface="微软雅黑"/>
              </a:rPr>
              <a:t>深化：全域融合与体验升级</a:t>
            </a:r>
            <a:endParaRPr kumimoji="0" lang="zh-CN" altLang="en-US" sz="2000" b="0" i="0" u="none" strike="noStrike" kern="1200" cap="none" normalizeH="0" baseline="0" noProof="0" dirty="0">
              <a:ln>
                <a:noFill/>
              </a:ln>
              <a:solidFill>
                <a:srgbClr val="FFFFFF"/>
              </a:solidFill>
              <a:effectLst/>
              <a:uLnTx/>
              <a:uFillTx/>
              <a:latin typeface="微软雅黑"/>
              <a:ea typeface="微软雅黑"/>
              <a:cs typeface="微软雅黑"/>
            </a:endParaRPr>
          </a:p>
        </p:txBody>
      </p:sp>
      <p:sp>
        <p:nvSpPr>
          <p:cNvPr id="10" name="文本框 9"/>
          <p:cNvSpPr txBox="1"/>
          <p:nvPr/>
        </p:nvSpPr>
        <p:spPr>
          <a:xfrm>
            <a:off x="3228340" y="1597660"/>
            <a:ext cx="5621655" cy="475615"/>
          </a:xfrm>
          <a:prstGeom prst="rect">
            <a:avLst/>
          </a:prstGeom>
          <a:noFill/>
        </p:spPr>
        <p:txBody>
          <a:bodyPr wrap="square" rtlCol="0">
            <a:spAutoFit/>
          </a:bodyPr>
          <a:lstStyle/>
          <a:p>
            <a:pPr algn="ctr">
              <a:defRPr>
                <a:latin typeface="微软雅黑"/>
                <a:ea typeface="微软雅黑"/>
                <a:cs typeface="微软雅黑"/>
              </a:defRPr>
            </a:pPr>
            <a:r>
              <a:rPr lang="zh-CN" altLang="en-US" sz="2500" b="1">
                <a:solidFill>
                  <a:srgbClr val="0042FF"/>
                </a:solidFill>
                <a:latin typeface="微软雅黑"/>
                <a:ea typeface="微软雅黑"/>
                <a:cs typeface="微软雅黑"/>
              </a:rPr>
              <a:t>中智咨询：</a:t>
            </a:r>
            <a:r>
              <a:rPr lang="zh-CN" sz="2500" b="1">
                <a:solidFill>
                  <a:srgbClr val="0042FF"/>
                </a:solidFill>
                <a:latin typeface="微软雅黑"/>
                <a:ea typeface="微软雅黑"/>
                <a:cs typeface="微软雅黑"/>
              </a:rPr>
              <a:t>规范蓝色</a:t>
            </a:r>
            <a:endParaRPr lang="zh-CN" sz="2500" b="1">
              <a:solidFill>
                <a:srgbClr val="0042FF"/>
              </a:solidFill>
              <a:latin typeface="微软雅黑"/>
              <a:ea typeface="微软雅黑"/>
              <a:cs typeface="微软雅黑"/>
            </a:endParaRPr>
          </a:p>
        </p:txBody>
      </p:sp>
      <p:sp>
        <p:nvSpPr>
          <p:cNvPr id="11" name="任意多边形 10"/>
          <p:cNvSpPr/>
          <p:nvPr/>
        </p:nvSpPr>
        <p:spPr>
          <a:xfrm>
            <a:off x="2637155" y="2799080"/>
            <a:ext cx="3343910" cy="3589020"/>
          </a:xfrm>
          <a:custGeom>
            <a:avLst/>
            <a:gdLst>
              <a:gd name="adj" fmla="val 6506"/>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520" h="9467">
                <a:moveTo>
                  <a:pt x="0" y="616"/>
                </a:moveTo>
                <a:cubicBezTo>
                  <a:pt x="-11" y="270"/>
                  <a:pt x="306" y="-8"/>
                  <a:pt x="616" y="0"/>
                </a:cubicBezTo>
                <a:lnTo>
                  <a:pt x="8520" y="0"/>
                </a:lnTo>
                <a:lnTo>
                  <a:pt x="8520" y="9467"/>
                </a:lnTo>
                <a:lnTo>
                  <a:pt x="616" y="9467"/>
                </a:lnTo>
                <a:cubicBezTo>
                  <a:pt x="270" y="9478"/>
                  <a:pt x="-8" y="9161"/>
                  <a:pt x="0" y="8851"/>
                </a:cubicBezTo>
                <a:lnTo>
                  <a:pt x="0" y="616"/>
                </a:lnTo>
                <a:close/>
              </a:path>
            </a:pathLst>
          </a:custGeom>
          <a:solidFill>
            <a:srgbClr val="0042FF"/>
          </a:solidFill>
          <a:ln w="76200">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2000">
              <a:solidFill>
                <a:srgbClr val="FFFFFF"/>
              </a:solidFill>
              <a:latin typeface="微软雅黑"/>
              <a:ea typeface="微软雅黑"/>
              <a:cs typeface="微软雅黑"/>
            </a:endParaRPr>
          </a:p>
        </p:txBody>
      </p:sp>
      <p:sp>
        <p:nvSpPr>
          <p:cNvPr id="14" name="任意多边形 13"/>
          <p:cNvSpPr/>
          <p:nvPr/>
        </p:nvSpPr>
        <p:spPr>
          <a:xfrm flipH="1">
            <a:off x="5980430" y="2799080"/>
            <a:ext cx="3370580" cy="3589020"/>
          </a:xfrm>
          <a:custGeom>
            <a:avLst/>
            <a:gdLst>
              <a:gd name="adj" fmla="val 6506"/>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520" h="9467">
                <a:moveTo>
                  <a:pt x="0" y="616"/>
                </a:moveTo>
                <a:cubicBezTo>
                  <a:pt x="-11" y="270"/>
                  <a:pt x="306" y="-8"/>
                  <a:pt x="616" y="0"/>
                </a:cubicBezTo>
                <a:lnTo>
                  <a:pt x="8520" y="0"/>
                </a:lnTo>
                <a:lnTo>
                  <a:pt x="8520" y="9467"/>
                </a:lnTo>
                <a:lnTo>
                  <a:pt x="616" y="9467"/>
                </a:lnTo>
                <a:cubicBezTo>
                  <a:pt x="270" y="9478"/>
                  <a:pt x="-8" y="9161"/>
                  <a:pt x="0" y="8851"/>
                </a:cubicBezTo>
                <a:lnTo>
                  <a:pt x="0" y="616"/>
                </a:lnTo>
                <a:close/>
              </a:path>
            </a:pathLst>
          </a:custGeom>
          <a:solidFill>
            <a:srgbClr val="3368FF"/>
          </a:solidFill>
          <a:ln w="76200">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2000">
              <a:solidFill>
                <a:srgbClr val="FFFFFF"/>
              </a:solidFill>
              <a:latin typeface="微软雅黑"/>
              <a:ea typeface="微软雅黑"/>
              <a:cs typeface="微软雅黑"/>
            </a:endParaRPr>
          </a:p>
        </p:txBody>
      </p:sp>
      <p:sp>
        <p:nvSpPr>
          <p:cNvPr id="15" name="十二边形 14"/>
          <p:cNvSpPr/>
          <p:nvPr/>
        </p:nvSpPr>
        <p:spPr>
          <a:xfrm>
            <a:off x="5173345" y="3685540"/>
            <a:ext cx="1684020" cy="1684020"/>
          </a:xfrm>
          <a:prstGeom prst="dodecagon">
            <a:avLst/>
          </a:prstGeom>
          <a:solidFill>
            <a:srgbClr val="DCDCDC"/>
          </a:solidFill>
          <a:ln w="76200">
            <a:solidFill>
              <a:srgbClr val="FFFF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2000">
              <a:latin typeface="微软雅黑"/>
              <a:ea typeface="微软雅黑"/>
              <a:cs typeface="微软雅黑"/>
            </a:endParaRPr>
          </a:p>
        </p:txBody>
      </p:sp>
      <p:sp>
        <p:nvSpPr>
          <p:cNvPr id="16" name="文本框 15"/>
          <p:cNvSpPr txBox="1"/>
          <p:nvPr/>
        </p:nvSpPr>
        <p:spPr>
          <a:xfrm>
            <a:off x="3227705" y="4276725"/>
            <a:ext cx="1700530" cy="70675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2000" b="1">
                <a:solidFill>
                  <a:srgbClr val="FFFFFF"/>
                </a:solidFill>
                <a:latin typeface="微软雅黑"/>
                <a:ea typeface="微软雅黑"/>
                <a:cs typeface="微软雅黑"/>
                <a:sym typeface="微软雅黑"/>
              </a:rPr>
              <a:t>中智主蓝</a:t>
            </a:r>
            <a:r>
              <a:rPr lang="en-US" altLang="zh-CN" sz="2000">
                <a:solidFill>
                  <a:srgbClr val="FFFFFF"/>
                </a:solidFill>
                <a:latin typeface="微软雅黑"/>
                <a:ea typeface="微软雅黑"/>
                <a:cs typeface="微软雅黑"/>
                <a:sym typeface="微软雅黑"/>
              </a:rPr>
              <a:t>#</a:t>
            </a:r>
            <a:r>
              <a:rPr lang="en-US" altLang="zh-CN" sz="2000">
                <a:solidFill>
                  <a:srgbClr val="FFFFFF"/>
                </a:solidFill>
                <a:latin typeface="微软雅黑"/>
                <a:ea typeface="微软雅黑"/>
                <a:cs typeface="微软雅黑"/>
              </a:rPr>
              <a:t>0042FF</a:t>
            </a:r>
            <a:endParaRPr lang="en-US" altLang="zh-CN" sz="2000">
              <a:solidFill>
                <a:srgbClr val="FFFFFF"/>
              </a:solidFill>
              <a:latin typeface="微软雅黑"/>
              <a:ea typeface="微软雅黑"/>
              <a:cs typeface="微软雅黑"/>
            </a:endParaRPr>
          </a:p>
        </p:txBody>
      </p:sp>
      <p:sp>
        <p:nvSpPr>
          <p:cNvPr id="17" name="文本框 16"/>
          <p:cNvSpPr txBox="1"/>
          <p:nvPr/>
        </p:nvSpPr>
        <p:spPr>
          <a:xfrm>
            <a:off x="7047230" y="4276725"/>
            <a:ext cx="1833245" cy="706755"/>
          </a:xfrm>
          <a:prstGeom prst="rect">
            <a:avLst/>
          </a:prstGeom>
          <a:noFill/>
        </p:spPr>
        <p:txBody>
          <a:bodyPr wrap="square" rtlCol="0">
            <a:spAutoFit/>
          </a:bodyPr>
          <a:lstStyle/>
          <a:p>
            <a:pPr lvl="0" algn="ctr">
              <a:buClrTx/>
              <a:buSzTx/>
              <a:buFontTx/>
              <a:defRPr>
                <a:solidFill>
                  <a:srgbClr val="FFFFFF"/>
                </a:solidFill>
                <a:latin typeface="微软雅黑"/>
                <a:ea typeface="微软雅黑"/>
                <a:cs typeface="微软雅黑"/>
              </a:defRPr>
            </a:pPr>
            <a:r>
              <a:rPr lang="zh-CN" altLang="en-US" sz="2000" b="1">
                <a:solidFill>
                  <a:srgbClr val="FFFFFF"/>
                </a:solidFill>
                <a:latin typeface="微软雅黑"/>
                <a:ea typeface="微软雅黑"/>
                <a:cs typeface="微软雅黑"/>
                <a:sym typeface="微软雅黑"/>
              </a:rPr>
              <a:t>辅助蓝</a:t>
            </a:r>
            <a:endParaRPr lang="zh-CN" altLang="en-US" sz="2000" b="1">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2000">
                <a:solidFill>
                  <a:srgbClr val="FFFFFF"/>
                </a:solidFill>
                <a:latin typeface="微软雅黑"/>
                <a:ea typeface="微软雅黑"/>
                <a:cs typeface="微软雅黑"/>
                <a:sym typeface="微软雅黑"/>
              </a:rPr>
              <a:t>#</a:t>
            </a:r>
            <a:r>
              <a:rPr lang="en-US" altLang="zh-CN" sz="2000">
                <a:solidFill>
                  <a:srgbClr val="FFFFFF"/>
                </a:solidFill>
                <a:latin typeface="微软雅黑"/>
                <a:ea typeface="微软雅黑"/>
                <a:cs typeface="微软雅黑"/>
                <a:sym typeface="微软雅黑"/>
              </a:rPr>
              <a:t>3368FF</a:t>
            </a:r>
            <a:endParaRPr lang="en-US" altLang="zh-CN" sz="2000">
              <a:solidFill>
                <a:srgbClr val="FFFFFF"/>
              </a:solidFill>
              <a:latin typeface="微软雅黑"/>
              <a:ea typeface="微软雅黑"/>
              <a:cs typeface="微软雅黑"/>
              <a:sym typeface="微软雅黑"/>
            </a:endParaRPr>
          </a:p>
        </p:txBody>
      </p:sp>
      <p:sp>
        <p:nvSpPr>
          <p:cNvPr id="18" name="文本框 17"/>
          <p:cNvSpPr txBox="1"/>
          <p:nvPr/>
        </p:nvSpPr>
        <p:spPr>
          <a:xfrm>
            <a:off x="5258118" y="4174173"/>
            <a:ext cx="1514475" cy="706755"/>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2000" b="1">
                <a:solidFill>
                  <a:srgbClr val="383838"/>
                </a:solidFill>
                <a:latin typeface="微软雅黑"/>
                <a:ea typeface="微软雅黑"/>
                <a:cs typeface="微软雅黑"/>
                <a:sym typeface="微软雅黑"/>
              </a:rPr>
              <a:t>规范灰</a:t>
            </a:r>
            <a:endParaRPr lang="zh-CN" altLang="en-US" sz="2000" b="1">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2000">
                <a:solidFill>
                  <a:srgbClr val="383838"/>
                </a:solidFill>
                <a:latin typeface="微软雅黑"/>
                <a:ea typeface="微软雅黑"/>
                <a:cs typeface="微软雅黑"/>
                <a:sym typeface="微软雅黑"/>
              </a:rPr>
              <a:t>#</a:t>
            </a:r>
            <a:r>
              <a:rPr lang="en-US" altLang="zh-CN" sz="2000">
                <a:solidFill>
                  <a:srgbClr val="383838"/>
                </a:solidFill>
                <a:latin typeface="微软雅黑"/>
                <a:ea typeface="微软雅黑"/>
                <a:cs typeface="微软雅黑"/>
                <a:sym typeface="微软雅黑"/>
              </a:rPr>
              <a:t>DCDCDC</a:t>
            </a:r>
            <a:endParaRPr lang="en-US" altLang="zh-CN" sz="2000">
              <a:solidFill>
                <a:srgbClr val="383838"/>
              </a:solidFill>
              <a:latin typeface="微软雅黑"/>
              <a:ea typeface="微软雅黑"/>
              <a:cs typeface="微软雅黑"/>
              <a:sym typeface="微软雅黑"/>
            </a:endParaRPr>
          </a:p>
        </p:txBody>
      </p:sp>
      <p:sp>
        <p:nvSpPr>
          <p:cNvPr id="288" name="文本框 287"/>
          <p:cNvSpPr txBox="1"/>
          <p:nvPr/>
        </p:nvSpPr>
        <p:spPr>
          <a:xfrm>
            <a:off x="3429953" y="2145030"/>
            <a:ext cx="5218430" cy="475615"/>
          </a:xfrm>
          <a:prstGeom prst="rect">
            <a:avLst/>
          </a:prstGeom>
          <a:noFill/>
        </p:spPr>
        <p:txBody>
          <a:bodyPr wrap="none" rtlCol="0" anchor="ctr" lIns="0" rIns="0" tIns="0" bIns="0">
            <a:spAutoFit/>
          </a:bodyPr>
          <a:lstStyle/>
          <a:p>
            <a:pPr lvl="0" algn="ctr">
              <a:buClrTx/>
              <a:buSzTx/>
              <a:buFontTx/>
              <a:defRPr>
                <a:latin typeface="微软雅黑"/>
                <a:ea typeface="微软雅黑"/>
                <a:cs typeface="微软雅黑"/>
              </a:defRPr>
            </a:pPr>
            <a:r>
              <a:rPr lang="en-US" sz="1800" spc="-150" noProof="0" dirty="0">
                <a:ln>
                  <a:noFill/>
                </a:ln>
                <a:solidFill>
                  <a:srgbClr val="383838"/>
                </a:solidFill>
                <a:effectLst/>
                <a:uLnTx/>
                <a:uFillTx/>
                <a:latin typeface="微软雅黑"/>
                <a:ea typeface="微软雅黑"/>
                <a:cs typeface="微软雅黑"/>
                <a:sym typeface="微软雅黑"/>
              </a:rPr>
              <a:t/>
            </a:r>
            <a:r>
              <a:rPr lang="zh-CN" altLang="en-US" sz="1800" spc="-150" noProof="0" dirty="0">
                <a:ln>
                  <a:noFill/>
                </a:ln>
                <a:solidFill>
                  <a:srgbClr val="383838"/>
                </a:solidFill>
                <a:effectLst/>
                <a:uLnTx/>
                <a:uFillTx/>
                <a:latin typeface="微软雅黑"/>
                <a:ea typeface="微软雅黑"/>
                <a:cs typeface="微软雅黑"/>
                <a:sym typeface="微软雅黑"/>
              </a:rPr>
              <a:t>主蓝统领层级，浅蓝与灰色辅助</a:t>
            </a:r>
            <a:r>
              <a:rPr lang="en-US" sz="1800" spc="-150" noProof="0" dirty="0">
                <a:ln>
                  <a:noFill/>
                </a:ln>
                <a:solidFill>
                  <a:srgbClr val="383838"/>
                </a:solidFill>
                <a:effectLst/>
                <a:uLnTx/>
                <a:uFillTx/>
                <a:latin typeface="微软雅黑"/>
                <a:ea typeface="微软雅黑"/>
                <a:cs typeface="微软雅黑"/>
                <a:sym typeface="微软雅黑"/>
              </a:rPr>
              <a:t/>
            </a:r>
            <a:endParaRPr lang="en-US" sz="1800" spc="-150" noProof="0" dirty="0">
              <a:ln>
                <a:noFill/>
              </a:ln>
              <a:solidFill>
                <a:srgbClr val="383838"/>
              </a:solidFill>
              <a:effectLst/>
              <a:uLnTx/>
              <a:uFillTx/>
              <a:latin typeface="微软雅黑"/>
              <a:ea typeface="微软雅黑"/>
              <a:cs typeface="微软雅黑"/>
              <a:sym typeface="微软雅黑"/>
            </a:endParaRPr>
          </a:p>
        </p:txBody>
      </p:sp>
      <p:sp>
        <p:nvSpPr>
          <p:cNvPr id="291" name="文本框 290"/>
          <p:cNvSpPr txBox="1"/>
          <p:nvPr/>
        </p:nvSpPr>
        <p:spPr>
          <a:xfrm>
            <a:off x="2945130" y="3068320"/>
            <a:ext cx="1464310" cy="398780"/>
          </a:xfrm>
          <a:prstGeom prst="rect">
            <a:avLst/>
          </a:prstGeom>
          <a:noFill/>
        </p:spPr>
        <p:txBody>
          <a:bodyPr wrap="square" rtlCol="0">
            <a:spAutoFit/>
          </a:bodyPr>
          <a:lstStyle/>
          <a:p>
            <a:pPr lvl="0" algn="ctr">
              <a:buClrTx/>
              <a:buSzTx/>
              <a:buFontTx/>
              <a:defRPr>
                <a:solidFill>
                  <a:srgbClr val="FFFFFF"/>
                </a:solidFill>
                <a:latin typeface="微软雅黑"/>
                <a:ea typeface="微软雅黑"/>
                <a:cs typeface="微软雅黑"/>
              </a:defRPr>
            </a:pPr>
            <a:r>
              <a:rPr lang="zh-CN" altLang="en-US" sz="2000" b="1" spc="-150" noProof="0" dirty="0">
                <a:ln w="47625">
                  <a:noFill/>
                </a:ln>
                <a:solidFill>
                  <a:srgbClr val="FFFFFF"/>
                </a:solidFill>
                <a:effectLst/>
                <a:uLnTx/>
                <a:uFillTx/>
                <a:latin typeface="微软雅黑"/>
                <a:ea typeface="微软雅黑"/>
                <a:cs typeface="微软雅黑"/>
                <a:sym typeface="微软雅黑"/>
              </a:rPr>
              <a:t>中智配色</a:t>
            </a:r>
            <a:endParaRPr lang="en-US" altLang="zh-CN" sz="2000" b="1" spc="-150" noProof="0" dirty="0">
              <a:ln w="47625">
                <a:noFill/>
              </a:ln>
              <a:solidFill>
                <a:srgbClr val="FFFFFF"/>
              </a:solidFill>
              <a:effectLst/>
              <a:uLnTx/>
              <a:uFillTx/>
              <a:latin typeface="微软雅黑"/>
              <a:ea typeface="微软雅黑"/>
              <a:cs typeface="微软雅黑"/>
              <a:sym typeface="微软雅黑"/>
            </a:endParaRPr>
          </a:p>
        </p:txBody>
      </p:sp>
    </p:spTree>
  </p:cSld>
  <p:clrMapOvr>
    <a:masterClrMapping/>
  </p:clrMapOvr>
  <mc:AlternateContent xmlns:mc="http://schemas.openxmlformats.org/markup-compatibility/2006">
    <mc:Choice xmlns:p14="http://schemas.microsoft.com/office/powerpoint/2010/main" Requires="p14">
      <p:transition spd="slow" p14:dur="1500">
        <p:random/>
      </p:transition>
    </mc:Choice>
    <mc:Fallback>
      <p:transition spd="slow">
        <p:random/>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矩形 68"/>
          <p:cNvSpPr/>
          <p:nvPr/>
        </p:nvSpPr>
        <p:spPr>
          <a:xfrm>
            <a:off x="1476693" y="914400"/>
            <a:ext cx="9086215" cy="231775"/>
          </a:xfrm>
          <a:prstGeom prst="rect">
            <a:avLst/>
          </a:prstGeom>
          <a:solidFill>
            <a:srgbClr val="E6E6E6"/>
          </a:solidFill>
          <a:ln>
            <a:solidFill>
              <a:srgbClr val="383838">
                <a:alpha val="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74" name="文本框 73"/>
          <p:cNvSpPr txBox="1"/>
          <p:nvPr>
            <p:custDataLst>
              <p:tags r:id="rId1"/>
            </p:custDataLst>
          </p:nvPr>
        </p:nvSpPr>
        <p:spPr>
          <a:xfrm>
            <a:off x="1544955" y="1263015"/>
            <a:ext cx="9367520" cy="347345"/>
          </a:xfrm>
          <a:prstGeom prst="rect">
            <a:avLst/>
          </a:prstGeom>
          <a:noFill/>
        </p:spPr>
        <p:txBody>
          <a:bodyPr wrap="square" rtlCol="0" lIns="0" rIns="0" tIns="0" bIns="0">
            <a:noAutofit/>
          </a:bodyPr>
          <a:lstStyle/>
          <a:p>
            <a:pPr algn="ctr">
              <a:lnSpc>
                <a:spcPct val="100000"/>
              </a:lnSpc>
              <a:defRPr>
                <a:latin typeface="微软雅黑"/>
                <a:ea typeface="微软雅黑"/>
                <a:cs typeface="微软雅黑"/>
              </a:defRPr>
            </a:pPr>
            <a:r>
              <a:rPr lang="zh-CN" altLang="en-US">
                <a:solidFill>
                  <a:srgbClr val="383838"/>
                </a:solidFill>
                <a:latin typeface="微软雅黑"/>
                <a:ea typeface="微软雅黑"/>
                <a:cs typeface="微软雅黑"/>
              </a:rPr>
              <a:t>本作品系开悟思维原创作品，已获国家版权局作品登记证书，仅供个人学习使用！</a:t>
            </a:r>
            <a:endParaRPr lang="zh-CN" altLang="en-US">
              <a:solidFill>
                <a:srgbClr val="383838"/>
              </a:solidFill>
              <a:latin typeface="微软雅黑"/>
              <a:ea typeface="微软雅黑"/>
              <a:cs typeface="微软雅黑"/>
            </a:endParaRPr>
          </a:p>
        </p:txBody>
      </p:sp>
      <p:sp>
        <p:nvSpPr>
          <p:cNvPr id="12" name="文本框 11"/>
          <p:cNvSpPr txBox="1"/>
          <p:nvPr>
            <p:custDataLst>
              <p:tags r:id="rId2"/>
            </p:custDataLst>
          </p:nvPr>
        </p:nvSpPr>
        <p:spPr>
          <a:xfrm flipH="1">
            <a:off x="3674110" y="530860"/>
            <a:ext cx="4691380" cy="491490"/>
          </a:xfrm>
          <a:prstGeom prst="rect">
            <a:avLst/>
          </a:prstGeom>
          <a:noFill/>
        </p:spPr>
        <p:txBody>
          <a:bodyPr wrap="square" rtlCol="0">
            <a:noAutofit/>
          </a:bodyPr>
          <a:lstStyle/>
          <a:p>
            <a:pPr algn="ctr">
              <a:defRPr>
                <a:latin typeface="微软雅黑"/>
                <a:ea typeface="微软雅黑"/>
                <a:cs typeface="微软雅黑"/>
              </a:defRPr>
            </a:pPr>
            <a:r>
              <a:rPr lang="zh-CN" altLang="en-US" sz="3200" b="1">
                <a:solidFill>
                  <a:srgbClr val="0042FF"/>
                </a:solidFill>
                <a:latin typeface="微软雅黑"/>
                <a:ea typeface="微软雅黑"/>
                <a:cs typeface="微软雅黑"/>
              </a:rPr>
              <a:t>原创版权保护</a:t>
            </a:r>
            <a:r>
              <a:rPr lang="en-US" altLang="zh-CN" sz="3200" b="1">
                <a:solidFill>
                  <a:srgbClr val="0042FF"/>
                </a:solidFill>
                <a:latin typeface="微软雅黑"/>
                <a:ea typeface="微软雅黑"/>
                <a:cs typeface="微软雅黑"/>
              </a:rPr>
              <a:t> </a:t>
            </a:r>
            <a:r>
              <a:rPr lang="zh-CN" altLang="en-US" sz="3200" b="1">
                <a:solidFill>
                  <a:srgbClr val="0042FF"/>
                </a:solidFill>
                <a:latin typeface="微软雅黑"/>
                <a:ea typeface="微软雅黑"/>
                <a:cs typeface="微软雅黑"/>
              </a:rPr>
              <a:t>侵权必究</a:t>
            </a:r>
            <a:endParaRPr lang="zh-CN" altLang="en-US" sz="3200" b="1">
              <a:solidFill>
                <a:srgbClr val="0042FF"/>
              </a:solidFill>
              <a:latin typeface="微软雅黑"/>
              <a:ea typeface="微软雅黑"/>
              <a:cs typeface="微软雅黑"/>
            </a:endParaRPr>
          </a:p>
        </p:txBody>
      </p:sp>
      <p:sp>
        <p:nvSpPr>
          <p:cNvPr id="30" name="任意多边形 29"/>
          <p:cNvSpPr/>
          <p:nvPr>
            <p:custDataLst>
              <p:tags r:id="rId3"/>
            </p:custDataLst>
          </p:nvPr>
        </p:nvSpPr>
        <p:spPr>
          <a:xfrm flipH="1">
            <a:off x="9965690" y="-13970"/>
            <a:ext cx="2244725" cy="848995"/>
          </a:xfrm>
          <a:custGeom>
            <a:avLst/>
            <a:gdLst/>
            <a:ahLst/>
            <a:cxnLst>
              <a:cxn ang="3">
                <a:pos x="hc" y="t"/>
              </a:cxn>
              <a:cxn ang="cd2">
                <a:pos x="l" y="vc"/>
              </a:cxn>
              <a:cxn ang="cd4">
                <a:pos x="hc" y="b"/>
              </a:cxn>
              <a:cxn ang="0">
                <a:pos x="r" y="vc"/>
              </a:cxn>
            </a:cxnLst>
            <a:rect l="l" t="t" r="r" b="b"/>
            <a:pathLst>
              <a:path w="3549" h="1050">
                <a:moveTo>
                  <a:pt x="0" y="0"/>
                </a:moveTo>
                <a:lnTo>
                  <a:pt x="3549" y="0"/>
                </a:lnTo>
                <a:lnTo>
                  <a:pt x="1628" y="937"/>
                </a:lnTo>
                <a:cubicBezTo>
                  <a:pt x="1076" y="1207"/>
                  <a:pt x="410" y="977"/>
                  <a:pt x="141" y="425"/>
                </a:cubicBezTo>
                <a:lnTo>
                  <a:pt x="0" y="137"/>
                </a:lnTo>
                <a:lnTo>
                  <a:pt x="0" y="0"/>
                </a:lnTo>
                <a:close/>
              </a:path>
            </a:pathLst>
          </a:custGeom>
          <a:solidFill>
            <a:srgbClr val="E6E6E6"/>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latin typeface="微软雅黑"/>
              <a:ea typeface="微软雅黑"/>
              <a:cs typeface="微软雅黑"/>
            </a:endParaRPr>
          </a:p>
        </p:txBody>
      </p:sp>
      <p:pic>
        <p:nvPicPr>
          <p:cNvPr id="31" name="图片 30"/>
          <p:cNvPicPr>
            <a:picLocks noChangeAspect="1"/>
          </p:cNvPicPr>
          <p:nvPr userDrawn="1"/>
        </p:nvPicPr>
        <p:blipFill>
          <a:blip r:embed="rId4"/>
          <a:srcRect r="58023" b="-8235"/>
          <a:stretch>
            <a:fillRect/>
          </a:stretch>
        </p:blipFill>
        <p:spPr>
          <a:xfrm>
            <a:off x="10253980" y="147320"/>
            <a:ext cx="1591310" cy="350520"/>
          </a:xfrm>
          <a:prstGeom prst="rect">
            <a:avLst/>
          </a:prstGeom>
        </p:spPr>
      </p:pic>
      <p:pic>
        <p:nvPicPr>
          <p:cNvPr id="3" name="图片 2"/>
          <p:cNvPicPr>
            <a:picLocks noChangeAspect="1"/>
          </p:cNvPicPr>
          <p:nvPr/>
        </p:nvPicPr>
        <p:blipFill>
          <a:blip r:embed="rId5"/>
          <a:stretch>
            <a:fillRect/>
          </a:stretch>
        </p:blipFill>
        <p:spPr>
          <a:xfrm>
            <a:off x="2948940" y="1851025"/>
            <a:ext cx="6596380" cy="4688205"/>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1500">
        <p:random/>
      </p:transition>
    </mc:Choice>
    <mc:Fallback>
      <p:transition spd="slow">
        <p:random/>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矩形 68"/>
          <p:cNvSpPr/>
          <p:nvPr/>
        </p:nvSpPr>
        <p:spPr>
          <a:xfrm>
            <a:off x="1476693" y="914400"/>
            <a:ext cx="9086215" cy="231775"/>
          </a:xfrm>
          <a:prstGeom prst="rect">
            <a:avLst/>
          </a:prstGeom>
          <a:solidFill>
            <a:srgbClr val="E6E6E6"/>
          </a:solidFill>
          <a:ln>
            <a:solidFill>
              <a:srgbClr val="383838">
                <a:alpha val="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74" name="文本框 73"/>
          <p:cNvSpPr txBox="1"/>
          <p:nvPr>
            <p:custDataLst>
              <p:tags r:id="rId1"/>
            </p:custDataLst>
          </p:nvPr>
        </p:nvSpPr>
        <p:spPr>
          <a:xfrm>
            <a:off x="1544955" y="1263015"/>
            <a:ext cx="9367520" cy="347345"/>
          </a:xfrm>
          <a:prstGeom prst="rect">
            <a:avLst/>
          </a:prstGeom>
          <a:noFill/>
        </p:spPr>
        <p:txBody>
          <a:bodyPr wrap="square" rtlCol="0" lIns="0" rIns="0" tIns="0" bIns="0">
            <a:noAutofit/>
          </a:bodyPr>
          <a:lstStyle/>
          <a:p>
            <a:pPr algn="ctr">
              <a:lnSpc>
                <a:spcPct val="100000"/>
              </a:lnSpc>
              <a:defRPr>
                <a:latin typeface="微软雅黑"/>
                <a:ea typeface="微软雅黑"/>
                <a:cs typeface="微软雅黑"/>
              </a:defRPr>
            </a:pPr>
            <a:r>
              <a:rPr lang="en-US" altLang="en-US">
                <a:solidFill>
                  <a:srgbClr val="383838"/>
                </a:solidFill>
                <a:latin typeface="微软雅黑"/>
                <a:ea typeface="微软雅黑"/>
                <a:cs typeface="微软雅黑"/>
              </a:rPr>
              <a:t>↓</a:t>
            </a:r>
            <a:r>
              <a:rPr lang="zh-CN" altLang="en-US">
                <a:solidFill>
                  <a:srgbClr val="383838"/>
                </a:solidFill>
                <a:latin typeface="微软雅黑"/>
                <a:ea typeface="微软雅黑"/>
                <a:cs typeface="微软雅黑"/>
              </a:rPr>
              <a:t>欢迎关注微信号，或小红书账号</a:t>
            </a:r>
            <a:r>
              <a:rPr lang="en-US" altLang="zh-CN">
                <a:solidFill>
                  <a:srgbClr val="383838"/>
                </a:solidFill>
                <a:latin typeface="微软雅黑"/>
                <a:ea typeface="微软雅黑"/>
                <a:cs typeface="微软雅黑"/>
              </a:rPr>
              <a:t>“</a:t>
            </a:r>
            <a:r>
              <a:rPr lang="zh-CN" altLang="en-US">
                <a:solidFill>
                  <a:srgbClr val="383838"/>
                </a:solidFill>
                <a:latin typeface="微软雅黑"/>
                <a:ea typeface="微软雅黑"/>
                <a:cs typeface="微软雅黑"/>
              </a:rPr>
              <a:t>开悟思维锦囊</a:t>
            </a:r>
            <a:r>
              <a:rPr lang="en-US" altLang="zh-CN">
                <a:solidFill>
                  <a:srgbClr val="383838"/>
                </a:solidFill>
                <a:latin typeface="微软雅黑"/>
                <a:ea typeface="微软雅黑"/>
                <a:cs typeface="微软雅黑"/>
              </a:rPr>
              <a:t>”</a:t>
            </a:r>
            <a:r>
              <a:rPr lang="en-US" altLang="en-US">
                <a:solidFill>
                  <a:srgbClr val="383838"/>
                </a:solidFill>
                <a:latin typeface="微软雅黑"/>
                <a:ea typeface="微软雅黑"/>
                <a:cs typeface="微软雅黑"/>
              </a:rPr>
              <a:t>↓</a:t>
            </a:r>
            <a:endParaRPr lang="en-US" altLang="en-US">
              <a:solidFill>
                <a:srgbClr val="383838"/>
              </a:solidFill>
              <a:latin typeface="微软雅黑"/>
              <a:ea typeface="微软雅黑"/>
              <a:cs typeface="微软雅黑"/>
            </a:endParaRPr>
          </a:p>
        </p:txBody>
      </p:sp>
      <p:sp>
        <p:nvSpPr>
          <p:cNvPr id="12" name="文本框 11"/>
          <p:cNvSpPr txBox="1"/>
          <p:nvPr>
            <p:custDataLst>
              <p:tags r:id="rId2"/>
            </p:custDataLst>
          </p:nvPr>
        </p:nvSpPr>
        <p:spPr>
          <a:xfrm flipH="1">
            <a:off x="2905125" y="530860"/>
            <a:ext cx="5909310" cy="491490"/>
          </a:xfrm>
          <a:prstGeom prst="rect">
            <a:avLst/>
          </a:prstGeom>
          <a:noFill/>
        </p:spPr>
        <p:txBody>
          <a:bodyPr wrap="square" rtlCol="0">
            <a:noAutofit/>
          </a:bodyPr>
          <a:lstStyle/>
          <a:p>
            <a:pPr algn="ctr">
              <a:defRPr>
                <a:latin typeface="微软雅黑"/>
                <a:ea typeface="微软雅黑"/>
                <a:cs typeface="微软雅黑"/>
              </a:defRPr>
            </a:pPr>
            <a:r>
              <a:rPr lang="en-US" sz="3200" b="1">
                <a:solidFill>
                  <a:srgbClr val="0042FF"/>
                </a:solidFill>
                <a:latin typeface="微软雅黑"/>
                <a:ea typeface="微软雅黑"/>
                <a:cs typeface="微软雅黑"/>
              </a:rPr>
              <a:t>PPT</a:t>
            </a:r>
            <a:r>
              <a:rPr lang="zh-CN" altLang="en-US" sz="3200" b="1">
                <a:solidFill>
                  <a:srgbClr val="0042FF"/>
                </a:solidFill>
                <a:latin typeface="微软雅黑"/>
                <a:ea typeface="微软雅黑"/>
                <a:cs typeface="微软雅黑"/>
              </a:rPr>
              <a:t>模板使用过程中有任何问题</a:t>
            </a:r>
            <a:endParaRPr lang="zh-CN" altLang="en-US" sz="3200" b="1">
              <a:solidFill>
                <a:srgbClr val="0042FF"/>
              </a:solidFill>
              <a:latin typeface="微软雅黑"/>
              <a:ea typeface="微软雅黑"/>
              <a:cs typeface="微软雅黑"/>
            </a:endParaRPr>
          </a:p>
        </p:txBody>
      </p:sp>
      <p:sp>
        <p:nvSpPr>
          <p:cNvPr id="30" name="任意多边形 29"/>
          <p:cNvSpPr/>
          <p:nvPr>
            <p:custDataLst>
              <p:tags r:id="rId3"/>
            </p:custDataLst>
          </p:nvPr>
        </p:nvSpPr>
        <p:spPr>
          <a:xfrm flipH="1">
            <a:off x="9965690" y="-13970"/>
            <a:ext cx="2244725" cy="848995"/>
          </a:xfrm>
          <a:custGeom>
            <a:avLst/>
            <a:gdLst/>
            <a:ahLst/>
            <a:cxnLst>
              <a:cxn ang="3">
                <a:pos x="hc" y="t"/>
              </a:cxn>
              <a:cxn ang="cd2">
                <a:pos x="l" y="vc"/>
              </a:cxn>
              <a:cxn ang="cd4">
                <a:pos x="hc" y="b"/>
              </a:cxn>
              <a:cxn ang="0">
                <a:pos x="r" y="vc"/>
              </a:cxn>
            </a:cxnLst>
            <a:rect l="l" t="t" r="r" b="b"/>
            <a:pathLst>
              <a:path w="3549" h="1050">
                <a:moveTo>
                  <a:pt x="0" y="0"/>
                </a:moveTo>
                <a:lnTo>
                  <a:pt x="3549" y="0"/>
                </a:lnTo>
                <a:lnTo>
                  <a:pt x="1628" y="937"/>
                </a:lnTo>
                <a:cubicBezTo>
                  <a:pt x="1076" y="1207"/>
                  <a:pt x="410" y="977"/>
                  <a:pt x="141" y="425"/>
                </a:cubicBezTo>
                <a:lnTo>
                  <a:pt x="0" y="137"/>
                </a:lnTo>
                <a:lnTo>
                  <a:pt x="0" y="0"/>
                </a:lnTo>
                <a:close/>
              </a:path>
            </a:pathLst>
          </a:custGeom>
          <a:solidFill>
            <a:srgbClr val="E6E6E6"/>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latin typeface="微软雅黑"/>
              <a:ea typeface="微软雅黑"/>
              <a:cs typeface="微软雅黑"/>
            </a:endParaRPr>
          </a:p>
        </p:txBody>
      </p:sp>
      <p:pic>
        <p:nvPicPr>
          <p:cNvPr id="31" name="图片 30"/>
          <p:cNvPicPr>
            <a:picLocks noChangeAspect="1"/>
          </p:cNvPicPr>
          <p:nvPr userDrawn="1"/>
        </p:nvPicPr>
        <p:blipFill>
          <a:blip r:embed="rId4"/>
          <a:srcRect r="58023" b="-8235"/>
          <a:stretch>
            <a:fillRect/>
          </a:stretch>
        </p:blipFill>
        <p:spPr>
          <a:xfrm>
            <a:off x="10253980" y="147320"/>
            <a:ext cx="1591310" cy="350520"/>
          </a:xfrm>
          <a:prstGeom prst="rect">
            <a:avLst/>
          </a:prstGeom>
        </p:spPr>
      </p:pic>
      <p:pic>
        <p:nvPicPr>
          <p:cNvPr id="3" name="图片 2"/>
          <p:cNvPicPr>
            <a:picLocks noChangeAspect="1"/>
          </p:cNvPicPr>
          <p:nvPr/>
        </p:nvPicPr>
        <p:blipFill>
          <a:blip r:embed="rId5"/>
          <a:srcRect l="851" t="-77" r="464" b="1258"/>
          <a:stretch>
            <a:fillRect/>
          </a:stretch>
        </p:blipFill>
        <p:spPr>
          <a:xfrm>
            <a:off x="2287905" y="2447925"/>
            <a:ext cx="3238500" cy="3242945"/>
          </a:xfrm>
          <a:prstGeom prst="rect">
            <a:avLst/>
          </a:prstGeom>
        </p:spPr>
      </p:pic>
      <p:pic>
        <p:nvPicPr>
          <p:cNvPr id="4" name="图片 3"/>
          <p:cNvPicPr>
            <a:picLocks noChangeAspect="1"/>
          </p:cNvPicPr>
          <p:nvPr/>
        </p:nvPicPr>
        <p:blipFill>
          <a:blip r:embed="rId6"/>
          <a:stretch>
            <a:fillRect/>
          </a:stretch>
        </p:blipFill>
        <p:spPr>
          <a:xfrm>
            <a:off x="6543040" y="2495550"/>
            <a:ext cx="3206750" cy="3147695"/>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1500">
        <p:random/>
      </p:transition>
    </mc:Choice>
    <mc:Fallback>
      <p:transition spd="slow">
        <p:random/>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文本框 25"/>
          <p:cNvSpPr txBox="1"/>
          <p:nvPr/>
        </p:nvSpPr>
        <p:spPr>
          <a:xfrm>
            <a:off x="368935" y="306388"/>
            <a:ext cx="7585710" cy="47561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2500" b="1" dirty="0">
                <a:solidFill>
                  <a:srgbClr val="0042FF"/>
                </a:solidFill>
                <a:latin typeface="微软雅黑"/>
                <a:ea typeface="微软雅黑"/>
                <a:cs typeface="微软雅黑"/>
                <a:sym typeface="微软雅黑"/>
              </a:rPr>
              <a:t>使用模板时：</a:t>
            </a:r>
            <a:r>
              <a:rPr lang="zh-CN" sz="2500" b="1" dirty="0">
                <a:solidFill>
                  <a:srgbClr val="383838"/>
                </a:solidFill>
                <a:latin typeface="微软雅黑"/>
                <a:ea typeface="微软雅黑"/>
                <a:cs typeface="微软雅黑"/>
                <a:sym typeface="微软雅黑"/>
              </a:rPr>
              <a:t>复制到自己</a:t>
            </a:r>
            <a:r>
              <a:rPr lang="en-US" altLang="zh-CN" sz="2500" b="1" dirty="0">
                <a:solidFill>
                  <a:srgbClr val="383838"/>
                </a:solidFill>
                <a:latin typeface="微软雅黑"/>
                <a:ea typeface="微软雅黑"/>
                <a:cs typeface="微软雅黑"/>
                <a:sym typeface="微软雅黑"/>
              </a:rPr>
              <a:t>PPT</a:t>
            </a:r>
            <a:r>
              <a:rPr lang="zh-CN" altLang="en-US" sz="2500" b="1" dirty="0">
                <a:solidFill>
                  <a:srgbClr val="383838"/>
                </a:solidFill>
                <a:latin typeface="微软雅黑"/>
                <a:ea typeface="微软雅黑"/>
                <a:cs typeface="微软雅黑"/>
                <a:sym typeface="微软雅黑"/>
              </a:rPr>
              <a:t>颜色变了怎么办？</a:t>
            </a:r>
            <a:endParaRPr lang="zh-CN" altLang="en-US" sz="2500" b="1" dirty="0">
              <a:solidFill>
                <a:srgbClr val="383838"/>
              </a:solidFill>
              <a:latin typeface="微软雅黑"/>
              <a:ea typeface="微软雅黑"/>
              <a:cs typeface="微软雅黑"/>
              <a:sym typeface="微软雅黑"/>
            </a:endParaRPr>
          </a:p>
        </p:txBody>
      </p:sp>
      <p:cxnSp>
        <p:nvCxnSpPr>
          <p:cNvPr id="2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32" name="圆角矩形 31"/>
          <p:cNvSpPr/>
          <p:nvPr>
            <p:custDataLst>
              <p:tags r:id="rId1"/>
            </p:custDataLst>
          </p:nvPr>
        </p:nvSpPr>
        <p:spPr>
          <a:xfrm>
            <a:off x="368935" y="1158875"/>
            <a:ext cx="5592445" cy="5207000"/>
          </a:xfrm>
          <a:prstGeom prst="roundRect">
            <a:avLst>
              <a:gd name="adj" fmla="val 6466"/>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4" name="文本框 33"/>
          <p:cNvSpPr txBox="1"/>
          <p:nvPr>
            <p:custDataLst>
              <p:tags r:id="rId2"/>
            </p:custDataLst>
          </p:nvPr>
        </p:nvSpPr>
        <p:spPr>
          <a:xfrm>
            <a:off x="520065" y="1809750"/>
            <a:ext cx="5454650" cy="58356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1600">
                <a:solidFill>
                  <a:srgbClr val="383838"/>
                </a:solidFill>
                <a:latin typeface="微软雅黑"/>
                <a:ea typeface="微软雅黑"/>
                <a:cs typeface="微软雅黑"/>
                <a:sym typeface="微软雅黑"/>
              </a:rPr>
              <a:t>复制</a:t>
            </a:r>
            <a:r>
              <a:rPr lang="en-US" altLang="zh-CN" sz="1600">
                <a:solidFill>
                  <a:srgbClr val="383838"/>
                </a:solidFill>
                <a:latin typeface="微软雅黑"/>
                <a:ea typeface="微软雅黑"/>
                <a:cs typeface="微软雅黑"/>
                <a:sym typeface="微软雅黑"/>
              </a:rPr>
              <a:t>PPT</a:t>
            </a:r>
            <a:r>
              <a:rPr lang="zh-CN" altLang="en-US" sz="1600">
                <a:solidFill>
                  <a:srgbClr val="383838"/>
                </a:solidFill>
                <a:latin typeface="微软雅黑"/>
                <a:ea typeface="微软雅黑"/>
                <a:cs typeface="微软雅黑"/>
                <a:sym typeface="微软雅黑"/>
              </a:rPr>
              <a:t>模板页面（也可多选页面）</a:t>
            </a:r>
            <a:r>
              <a:rPr lang="zh-CN" altLang="en-US" sz="1600" noProof="0" dirty="0">
                <a:ln>
                  <a:noFill/>
                </a:ln>
                <a:solidFill>
                  <a:srgbClr val="383838"/>
                </a:solidFill>
                <a:effectLst/>
                <a:uLnTx/>
                <a:uFillTx/>
                <a:latin typeface="微软雅黑"/>
                <a:ea typeface="微软雅黑"/>
                <a:cs typeface="微软雅黑"/>
                <a:sym typeface="微软雅黑"/>
              </a:rPr>
              <a:t>，选择</a:t>
            </a:r>
            <a:r>
              <a:rPr lang="zh-CN" sz="1600" noProof="0" dirty="0">
                <a:ln>
                  <a:noFill/>
                </a:ln>
                <a:solidFill>
                  <a:srgbClr val="383838"/>
                </a:solidFill>
                <a:effectLst/>
                <a:uLnTx/>
                <a:uFillTx/>
                <a:latin typeface="微软雅黑"/>
                <a:ea typeface="微软雅黑"/>
                <a:cs typeface="微软雅黑"/>
                <a:sym typeface="微软雅黑"/>
              </a:rPr>
              <a:t>自己的</a:t>
            </a:r>
            <a:r>
              <a:rPr lang="en-US" altLang="zh-CN" sz="1600" noProof="0" dirty="0">
                <a:ln>
                  <a:noFill/>
                </a:ln>
                <a:solidFill>
                  <a:srgbClr val="383838"/>
                </a:solidFill>
                <a:effectLst/>
                <a:uLnTx/>
                <a:uFillTx/>
                <a:latin typeface="微软雅黑"/>
                <a:ea typeface="微软雅黑"/>
                <a:cs typeface="微软雅黑"/>
                <a:sym typeface="微软雅黑"/>
              </a:rPr>
              <a:t>PPT</a:t>
            </a:r>
            <a:r>
              <a:rPr lang="zh-CN" altLang="en-US" sz="1600" noProof="0" dirty="0">
                <a:ln>
                  <a:noFill/>
                </a:ln>
                <a:solidFill>
                  <a:srgbClr val="383838"/>
                </a:solidFill>
                <a:effectLst/>
                <a:uLnTx/>
                <a:uFillTx/>
                <a:latin typeface="微软雅黑"/>
                <a:ea typeface="微软雅黑"/>
                <a:cs typeface="微软雅黑"/>
                <a:sym typeface="微软雅黑"/>
              </a:rPr>
              <a:t>报告页面，右键点击选择</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带格式粘贴</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dirty="0">
                <a:solidFill>
                  <a:srgbClr val="383838"/>
                </a:solidFill>
                <a:latin typeface="微软雅黑"/>
                <a:ea typeface="微软雅黑"/>
                <a:cs typeface="微软雅黑"/>
                <a:sym typeface="微软雅黑"/>
              </a:rPr>
              <a:t>。</a:t>
            </a:r>
            <a:endParaRPr lang="zh-CN" altLang="en-US" sz="1600" dirty="0">
              <a:solidFill>
                <a:srgbClr val="383838"/>
              </a:solidFill>
              <a:latin typeface="微软雅黑"/>
              <a:ea typeface="微软雅黑"/>
              <a:cs typeface="微软雅黑"/>
              <a:sym typeface="微软雅黑"/>
            </a:endParaRPr>
          </a:p>
        </p:txBody>
      </p:sp>
      <p:sp>
        <p:nvSpPr>
          <p:cNvPr id="38" name="圆角矩形 37"/>
          <p:cNvSpPr/>
          <p:nvPr>
            <p:custDataLst>
              <p:tags r:id="rId3"/>
            </p:custDataLst>
          </p:nvPr>
        </p:nvSpPr>
        <p:spPr>
          <a:xfrm>
            <a:off x="6369685" y="1158875"/>
            <a:ext cx="5592445" cy="5207000"/>
          </a:xfrm>
          <a:prstGeom prst="roundRect">
            <a:avLst>
              <a:gd name="adj" fmla="val 6466"/>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4" name="文本框 3"/>
          <p:cNvSpPr txBox="1"/>
          <p:nvPr>
            <p:custDataLst>
              <p:tags r:id="rId4"/>
            </p:custDataLst>
          </p:nvPr>
        </p:nvSpPr>
        <p:spPr>
          <a:xfrm>
            <a:off x="2306320" y="1234758"/>
            <a:ext cx="1753235" cy="398780"/>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zh-CN" sz="2000" b="1">
                <a:solidFill>
                  <a:srgbClr val="0042FF"/>
                </a:solidFill>
                <a:latin typeface="微软雅黑"/>
                <a:ea typeface="微软雅黑"/>
                <a:cs typeface="微软雅黑"/>
                <a:sym typeface="微软雅黑"/>
              </a:rPr>
              <a:t>WPS</a:t>
            </a:r>
            <a:r>
              <a:rPr lang="zh-CN" altLang="en-US" sz="2000" b="1">
                <a:solidFill>
                  <a:srgbClr val="0042FF"/>
                </a:solidFill>
                <a:latin typeface="微软雅黑"/>
                <a:ea typeface="微软雅黑"/>
                <a:cs typeface="微软雅黑"/>
                <a:sym typeface="微软雅黑"/>
              </a:rPr>
              <a:t>版本</a:t>
            </a:r>
            <a:endParaRPr lang="zh-CN" altLang="en-US" sz="2000" b="1">
              <a:solidFill>
                <a:srgbClr val="0042FF"/>
              </a:solidFill>
              <a:latin typeface="微软雅黑"/>
              <a:ea typeface="微软雅黑"/>
              <a:cs typeface="微软雅黑"/>
              <a:sym typeface="微软雅黑"/>
            </a:endParaRPr>
          </a:p>
        </p:txBody>
      </p:sp>
      <p:sp>
        <p:nvSpPr>
          <p:cNvPr id="7" name="文本框 6"/>
          <p:cNvSpPr txBox="1"/>
          <p:nvPr>
            <p:custDataLst>
              <p:tags r:id="rId5"/>
            </p:custDataLst>
          </p:nvPr>
        </p:nvSpPr>
        <p:spPr>
          <a:xfrm>
            <a:off x="8225155" y="1234758"/>
            <a:ext cx="1753235" cy="398780"/>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zh-CN" sz="2000" b="1">
                <a:solidFill>
                  <a:srgbClr val="0042FF"/>
                </a:solidFill>
                <a:latin typeface="微软雅黑"/>
                <a:ea typeface="微软雅黑"/>
                <a:cs typeface="微软雅黑"/>
                <a:sym typeface="微软雅黑"/>
              </a:rPr>
              <a:t>office</a:t>
            </a:r>
            <a:r>
              <a:rPr lang="zh-CN" altLang="en-US" sz="2000" b="1">
                <a:solidFill>
                  <a:srgbClr val="0042FF"/>
                </a:solidFill>
                <a:latin typeface="微软雅黑"/>
                <a:ea typeface="微软雅黑"/>
                <a:cs typeface="微软雅黑"/>
                <a:sym typeface="微软雅黑"/>
              </a:rPr>
              <a:t>版本</a:t>
            </a:r>
            <a:endParaRPr lang="zh-CN" altLang="en-US" sz="2000" b="1">
              <a:solidFill>
                <a:srgbClr val="0042FF"/>
              </a:solidFill>
              <a:latin typeface="微软雅黑"/>
              <a:ea typeface="微软雅黑"/>
              <a:cs typeface="微软雅黑"/>
              <a:sym typeface="微软雅黑"/>
            </a:endParaRPr>
          </a:p>
        </p:txBody>
      </p:sp>
      <p:pic>
        <p:nvPicPr>
          <p:cNvPr id="3" name="图片 2"/>
          <p:cNvPicPr>
            <a:picLocks noChangeAspect="1"/>
          </p:cNvPicPr>
          <p:nvPr>
            <p:custDataLst>
              <p:tags r:id="rId6"/>
            </p:custDataLst>
          </p:nvPr>
        </p:nvPicPr>
        <p:blipFill>
          <a:blip r:embed="rId7"/>
          <a:stretch>
            <a:fillRect/>
          </a:stretch>
        </p:blipFill>
        <p:spPr>
          <a:xfrm>
            <a:off x="786765" y="2526030"/>
            <a:ext cx="4668520" cy="3519170"/>
          </a:xfrm>
          <a:prstGeom prst="rect">
            <a:avLst/>
          </a:prstGeom>
        </p:spPr>
      </p:pic>
      <p:sp>
        <p:nvSpPr>
          <p:cNvPr id="10" name="文本框 9"/>
          <p:cNvSpPr txBox="1"/>
          <p:nvPr>
            <p:custDataLst>
              <p:tags r:id="rId8"/>
            </p:custDataLst>
          </p:nvPr>
        </p:nvSpPr>
        <p:spPr>
          <a:xfrm>
            <a:off x="6600190" y="1858645"/>
            <a:ext cx="5454650" cy="58356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1600">
                <a:solidFill>
                  <a:srgbClr val="383838"/>
                </a:solidFill>
                <a:latin typeface="微软雅黑"/>
                <a:ea typeface="微软雅黑"/>
                <a:cs typeface="微软雅黑"/>
                <a:sym typeface="微软雅黑"/>
              </a:rPr>
              <a:t>复制</a:t>
            </a:r>
            <a:r>
              <a:rPr lang="en-US" altLang="zh-CN" sz="1600">
                <a:solidFill>
                  <a:srgbClr val="383838"/>
                </a:solidFill>
                <a:latin typeface="微软雅黑"/>
                <a:ea typeface="微软雅黑"/>
                <a:cs typeface="微软雅黑"/>
                <a:sym typeface="微软雅黑"/>
              </a:rPr>
              <a:t>PPT</a:t>
            </a:r>
            <a:r>
              <a:rPr lang="zh-CN" altLang="en-US" sz="1600">
                <a:solidFill>
                  <a:srgbClr val="383838"/>
                </a:solidFill>
                <a:latin typeface="微软雅黑"/>
                <a:ea typeface="微软雅黑"/>
                <a:cs typeface="微软雅黑"/>
                <a:sym typeface="微软雅黑"/>
              </a:rPr>
              <a:t>模板页面（也可多选页面）</a:t>
            </a:r>
            <a:r>
              <a:rPr lang="zh-CN" altLang="en-US" sz="1600" noProof="0" dirty="0">
                <a:ln>
                  <a:noFill/>
                </a:ln>
                <a:solidFill>
                  <a:srgbClr val="383838"/>
                </a:solidFill>
                <a:effectLst/>
                <a:uLnTx/>
                <a:uFillTx/>
                <a:latin typeface="微软雅黑"/>
                <a:ea typeface="微软雅黑"/>
                <a:cs typeface="微软雅黑"/>
                <a:sym typeface="微软雅黑"/>
              </a:rPr>
              <a:t>，选择</a:t>
            </a:r>
            <a:r>
              <a:rPr lang="zh-CN" sz="1600" noProof="0" dirty="0">
                <a:ln>
                  <a:noFill/>
                </a:ln>
                <a:solidFill>
                  <a:srgbClr val="383838"/>
                </a:solidFill>
                <a:effectLst/>
                <a:uLnTx/>
                <a:uFillTx/>
                <a:latin typeface="微软雅黑"/>
                <a:ea typeface="微软雅黑"/>
                <a:cs typeface="微软雅黑"/>
                <a:sym typeface="微软雅黑"/>
              </a:rPr>
              <a:t>自己的</a:t>
            </a:r>
            <a:r>
              <a:rPr lang="en-US" altLang="zh-CN" sz="1600" noProof="0" dirty="0">
                <a:ln>
                  <a:noFill/>
                </a:ln>
                <a:solidFill>
                  <a:srgbClr val="383838"/>
                </a:solidFill>
                <a:effectLst/>
                <a:uLnTx/>
                <a:uFillTx/>
                <a:latin typeface="微软雅黑"/>
                <a:ea typeface="微软雅黑"/>
                <a:cs typeface="微软雅黑"/>
                <a:sym typeface="微软雅黑"/>
              </a:rPr>
              <a:t>PPT</a:t>
            </a:r>
            <a:r>
              <a:rPr lang="zh-CN" altLang="en-US" sz="1600" noProof="0" dirty="0">
                <a:ln>
                  <a:noFill/>
                </a:ln>
                <a:solidFill>
                  <a:srgbClr val="383838"/>
                </a:solidFill>
                <a:effectLst/>
                <a:uLnTx/>
                <a:uFillTx/>
                <a:latin typeface="微软雅黑"/>
                <a:ea typeface="微软雅黑"/>
                <a:cs typeface="微软雅黑"/>
                <a:sym typeface="微软雅黑"/>
              </a:rPr>
              <a:t>报告页面，右键点击选择</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保留原格式</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dirty="0">
                <a:solidFill>
                  <a:srgbClr val="383838"/>
                </a:solidFill>
                <a:latin typeface="微软雅黑"/>
                <a:ea typeface="微软雅黑"/>
                <a:cs typeface="微软雅黑"/>
                <a:sym typeface="微软雅黑"/>
              </a:rPr>
              <a:t>。</a:t>
            </a:r>
            <a:endParaRPr lang="zh-CN" altLang="en-US" sz="1600" dirty="0">
              <a:solidFill>
                <a:srgbClr val="383838"/>
              </a:solidFill>
              <a:latin typeface="微软雅黑"/>
              <a:ea typeface="微软雅黑"/>
              <a:cs typeface="微软雅黑"/>
              <a:sym typeface="微软雅黑"/>
            </a:endParaRPr>
          </a:p>
        </p:txBody>
      </p:sp>
      <p:pic>
        <p:nvPicPr>
          <p:cNvPr id="11" name="图片 10"/>
          <p:cNvPicPr>
            <a:picLocks noChangeAspect="1"/>
          </p:cNvPicPr>
          <p:nvPr>
            <p:custDataLst>
              <p:tags r:id="rId9"/>
            </p:custDataLst>
          </p:nvPr>
        </p:nvPicPr>
        <p:blipFill>
          <a:blip r:embed="rId10"/>
          <a:stretch>
            <a:fillRect/>
          </a:stretch>
        </p:blipFill>
        <p:spPr>
          <a:xfrm>
            <a:off x="7367270" y="2748915"/>
            <a:ext cx="3867150" cy="3134360"/>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文本框 25"/>
          <p:cNvSpPr txBox="1"/>
          <p:nvPr/>
        </p:nvSpPr>
        <p:spPr>
          <a:xfrm>
            <a:off x="368935" y="306388"/>
            <a:ext cx="7585710" cy="47561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2500" b="1">
                <a:solidFill>
                  <a:srgbClr val="0042FF"/>
                </a:solidFill>
                <a:latin typeface="微软雅黑"/>
                <a:ea typeface="微软雅黑"/>
                <a:cs typeface="微软雅黑"/>
                <a:sym typeface="微软雅黑"/>
              </a:rPr>
              <a:t>使用模板时：</a:t>
            </a:r>
            <a:r>
              <a:rPr lang="zh-CN" altLang="en-US" sz="2500" b="1">
                <a:solidFill>
                  <a:srgbClr val="383838"/>
                </a:solidFill>
                <a:latin typeface="微软雅黑"/>
                <a:ea typeface="微软雅黑"/>
                <a:cs typeface="微软雅黑"/>
                <a:sym typeface="微软雅黑"/>
              </a:rPr>
              <a:t>如何一键修改整套</a:t>
            </a:r>
            <a:r>
              <a:rPr lang="en-US" altLang="zh-CN" sz="2500" b="1">
                <a:solidFill>
                  <a:srgbClr val="383838"/>
                </a:solidFill>
                <a:latin typeface="微软雅黑"/>
                <a:ea typeface="微软雅黑"/>
                <a:cs typeface="微软雅黑"/>
                <a:sym typeface="微软雅黑"/>
              </a:rPr>
              <a:t>PPT</a:t>
            </a:r>
            <a:r>
              <a:rPr lang="zh-CN" altLang="en-US" sz="2500" b="1">
                <a:solidFill>
                  <a:srgbClr val="383838"/>
                </a:solidFill>
                <a:latin typeface="微软雅黑"/>
                <a:ea typeface="微软雅黑"/>
                <a:cs typeface="微软雅黑"/>
                <a:sym typeface="微软雅黑"/>
              </a:rPr>
              <a:t>的颜色？</a:t>
            </a:r>
            <a:endParaRPr lang="zh-CN" altLang="en-US" sz="2500" b="1">
              <a:solidFill>
                <a:srgbClr val="383838"/>
              </a:solidFill>
              <a:latin typeface="微软雅黑"/>
              <a:ea typeface="微软雅黑"/>
              <a:cs typeface="微软雅黑"/>
              <a:sym typeface="微软雅黑"/>
            </a:endParaRPr>
          </a:p>
        </p:txBody>
      </p:sp>
      <p:cxnSp>
        <p:nvCxnSpPr>
          <p:cNvPr id="2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32" name="圆角矩形 31"/>
          <p:cNvSpPr/>
          <p:nvPr>
            <p:custDataLst>
              <p:tags r:id="rId1"/>
            </p:custDataLst>
          </p:nvPr>
        </p:nvSpPr>
        <p:spPr>
          <a:xfrm>
            <a:off x="368935" y="1158875"/>
            <a:ext cx="5592445" cy="5207000"/>
          </a:xfrm>
          <a:prstGeom prst="roundRect">
            <a:avLst>
              <a:gd name="adj" fmla="val 6466"/>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4" name="文本框 33"/>
          <p:cNvSpPr txBox="1"/>
          <p:nvPr>
            <p:custDataLst>
              <p:tags r:id="rId2"/>
            </p:custDataLst>
          </p:nvPr>
        </p:nvSpPr>
        <p:spPr>
          <a:xfrm>
            <a:off x="520065" y="1563370"/>
            <a:ext cx="5454650" cy="107632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1600">
                <a:solidFill>
                  <a:srgbClr val="383838"/>
                </a:solidFill>
                <a:latin typeface="微软雅黑"/>
                <a:ea typeface="微软雅黑"/>
                <a:cs typeface="微软雅黑"/>
                <a:sym typeface="微软雅黑"/>
              </a:rPr>
              <a:t>①</a:t>
            </a:r>
            <a:r>
              <a:rPr lang="en-US" altLang="zh-CN" sz="1600">
                <a:solidFill>
                  <a:srgbClr val="383838"/>
                </a:solidFill>
                <a:latin typeface="微软雅黑"/>
                <a:ea typeface="微软雅黑"/>
                <a:cs typeface="微软雅黑"/>
                <a:sym typeface="微软雅黑"/>
              </a:rPr>
              <a:t> </a:t>
            </a:r>
            <a:r>
              <a:rPr lang="zh-CN" altLang="en-US" sz="1600" noProof="0" dirty="0">
                <a:ln>
                  <a:noFill/>
                </a:ln>
                <a:solidFill>
                  <a:srgbClr val="383838"/>
                </a:solidFill>
                <a:effectLst/>
                <a:uLnTx/>
                <a:uFillTx/>
                <a:latin typeface="微软雅黑"/>
                <a:ea typeface="微软雅黑"/>
                <a:cs typeface="微软雅黑"/>
                <a:sym typeface="微软雅黑"/>
              </a:rPr>
              <a:t>点击</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dirty="0">
                <a:solidFill>
                  <a:srgbClr val="383838"/>
                </a:solidFill>
                <a:latin typeface="微软雅黑"/>
                <a:ea typeface="微软雅黑"/>
                <a:cs typeface="微软雅黑"/>
                <a:sym typeface="微软雅黑"/>
              </a:rPr>
              <a:t>设计</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选项卡，选择</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配色方案</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选项，选择【更多配色方案】，</a:t>
            </a:r>
            <a:r>
              <a:rPr lang="zh-CN" sz="1600">
                <a:solidFill>
                  <a:srgbClr val="383838"/>
                </a:solidFill>
                <a:latin typeface="微软雅黑"/>
                <a:ea typeface="微软雅黑"/>
                <a:cs typeface="微软雅黑"/>
                <a:sym typeface="微软雅黑"/>
              </a:rPr>
              <a:t>里面有本模板已经设定好的多种配色</a:t>
            </a:r>
            <a:r>
              <a:rPr lang="zh-CN" altLang="en-US" sz="1600" noProof="0" dirty="0">
                <a:ln>
                  <a:noFill/>
                </a:ln>
                <a:solidFill>
                  <a:srgbClr val="383838"/>
                </a:solidFill>
                <a:effectLst/>
                <a:uLnTx/>
                <a:uFillTx/>
                <a:latin typeface="微软雅黑"/>
                <a:ea typeface="微软雅黑"/>
                <a:cs typeface="微软雅黑"/>
                <a:sym typeface="微软雅黑"/>
              </a:rPr>
              <a:t>。</a:t>
            </a:r>
            <a:r>
              <a:rPr lang="zh-CN" altLang="en-US" sz="1600" dirty="0">
                <a:solidFill>
                  <a:srgbClr val="383838"/>
                </a:solidFill>
                <a:latin typeface="微软雅黑"/>
                <a:ea typeface="微软雅黑"/>
                <a:cs typeface="微软雅黑"/>
                <a:sym typeface="微软雅黑"/>
              </a:rPr>
              <a:t>点击【使用】即可一键全部替换。选择【自定义】也可配置自己的常用色。</a:t>
            </a:r>
            <a:endParaRPr lang="zh-CN" altLang="en-US" sz="1600" dirty="0">
              <a:solidFill>
                <a:srgbClr val="383838"/>
              </a:solidFill>
              <a:latin typeface="微软雅黑"/>
              <a:ea typeface="微软雅黑"/>
              <a:cs typeface="微软雅黑"/>
              <a:sym typeface="微软雅黑"/>
            </a:endParaRPr>
          </a:p>
        </p:txBody>
      </p:sp>
      <p:sp>
        <p:nvSpPr>
          <p:cNvPr id="38" name="圆角矩形 37"/>
          <p:cNvSpPr/>
          <p:nvPr>
            <p:custDataLst>
              <p:tags r:id="rId3"/>
            </p:custDataLst>
          </p:nvPr>
        </p:nvSpPr>
        <p:spPr>
          <a:xfrm>
            <a:off x="6369685" y="1158875"/>
            <a:ext cx="5592445" cy="5207000"/>
          </a:xfrm>
          <a:prstGeom prst="roundRect">
            <a:avLst>
              <a:gd name="adj" fmla="val 6466"/>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pic>
        <p:nvPicPr>
          <p:cNvPr id="2" name="图片 1"/>
          <p:cNvPicPr>
            <a:picLocks noChangeAspect="1"/>
          </p:cNvPicPr>
          <p:nvPr>
            <p:custDataLst>
              <p:tags r:id="rId4"/>
            </p:custDataLst>
          </p:nvPr>
        </p:nvPicPr>
        <p:blipFill>
          <a:blip r:embed="rId5"/>
          <a:srcRect r="1191" b="22551"/>
          <a:stretch>
            <a:fillRect/>
          </a:stretch>
        </p:blipFill>
        <p:spPr>
          <a:xfrm>
            <a:off x="431800" y="2770505"/>
            <a:ext cx="5319395" cy="2425065"/>
          </a:xfrm>
          <a:prstGeom prst="rect">
            <a:avLst/>
          </a:prstGeom>
        </p:spPr>
      </p:pic>
      <p:sp>
        <p:nvSpPr>
          <p:cNvPr id="4" name="文本框 3"/>
          <p:cNvSpPr txBox="1"/>
          <p:nvPr>
            <p:custDataLst>
              <p:tags r:id="rId6"/>
            </p:custDataLst>
          </p:nvPr>
        </p:nvSpPr>
        <p:spPr>
          <a:xfrm>
            <a:off x="2306320" y="1234758"/>
            <a:ext cx="1753235" cy="398780"/>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zh-CN" sz="2000" b="1">
                <a:solidFill>
                  <a:srgbClr val="0042FF"/>
                </a:solidFill>
                <a:latin typeface="微软雅黑"/>
                <a:ea typeface="微软雅黑"/>
                <a:cs typeface="微软雅黑"/>
                <a:sym typeface="微软雅黑"/>
              </a:rPr>
              <a:t>WPS</a:t>
            </a:r>
            <a:r>
              <a:rPr lang="zh-CN" altLang="en-US" sz="2000" b="1">
                <a:solidFill>
                  <a:srgbClr val="0042FF"/>
                </a:solidFill>
                <a:latin typeface="微软雅黑"/>
                <a:ea typeface="微软雅黑"/>
                <a:cs typeface="微软雅黑"/>
                <a:sym typeface="微软雅黑"/>
              </a:rPr>
              <a:t>版本</a:t>
            </a:r>
            <a:endParaRPr lang="zh-CN" altLang="en-US" sz="2000" b="1">
              <a:solidFill>
                <a:srgbClr val="0042FF"/>
              </a:solidFill>
              <a:latin typeface="微软雅黑"/>
              <a:ea typeface="微软雅黑"/>
              <a:cs typeface="微软雅黑"/>
              <a:sym typeface="微软雅黑"/>
            </a:endParaRPr>
          </a:p>
        </p:txBody>
      </p:sp>
      <p:pic>
        <p:nvPicPr>
          <p:cNvPr id="5" name="图片 4"/>
          <p:cNvPicPr>
            <a:picLocks noChangeAspect="1"/>
          </p:cNvPicPr>
          <p:nvPr>
            <p:custDataLst>
              <p:tags r:id="rId7"/>
            </p:custDataLst>
          </p:nvPr>
        </p:nvPicPr>
        <p:blipFill>
          <a:blip r:embed="rId8"/>
          <a:stretch>
            <a:fillRect/>
          </a:stretch>
        </p:blipFill>
        <p:spPr>
          <a:xfrm>
            <a:off x="1367790" y="3487420"/>
            <a:ext cx="2376170" cy="2754630"/>
          </a:xfrm>
          <a:prstGeom prst="rect">
            <a:avLst/>
          </a:prstGeom>
        </p:spPr>
      </p:pic>
      <p:sp>
        <p:nvSpPr>
          <p:cNvPr id="6" name="文本框 5"/>
          <p:cNvSpPr txBox="1"/>
          <p:nvPr>
            <p:custDataLst>
              <p:tags r:id="rId9"/>
            </p:custDataLst>
          </p:nvPr>
        </p:nvSpPr>
        <p:spPr>
          <a:xfrm>
            <a:off x="6438900" y="1686560"/>
            <a:ext cx="5454650" cy="82994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1600">
                <a:solidFill>
                  <a:srgbClr val="383838"/>
                </a:solidFill>
                <a:latin typeface="微软雅黑"/>
                <a:ea typeface="微软雅黑"/>
                <a:cs typeface="微软雅黑"/>
                <a:sym typeface="微软雅黑"/>
              </a:rPr>
              <a:t>①</a:t>
            </a:r>
            <a:r>
              <a:rPr lang="en-US" altLang="zh-CN" sz="1600">
                <a:solidFill>
                  <a:srgbClr val="383838"/>
                </a:solidFill>
                <a:latin typeface="微软雅黑"/>
                <a:ea typeface="微软雅黑"/>
                <a:cs typeface="微软雅黑"/>
                <a:sym typeface="微软雅黑"/>
              </a:rPr>
              <a:t> </a:t>
            </a:r>
            <a:r>
              <a:rPr lang="zh-CN" altLang="en-US" sz="1600" noProof="0" dirty="0">
                <a:ln>
                  <a:noFill/>
                </a:ln>
                <a:solidFill>
                  <a:srgbClr val="383838"/>
                </a:solidFill>
                <a:effectLst/>
                <a:uLnTx/>
                <a:uFillTx/>
                <a:latin typeface="微软雅黑"/>
                <a:ea typeface="微软雅黑"/>
                <a:cs typeface="微软雅黑"/>
                <a:sym typeface="微软雅黑"/>
              </a:rPr>
              <a:t>点击</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dirty="0">
                <a:solidFill>
                  <a:srgbClr val="383838"/>
                </a:solidFill>
                <a:latin typeface="微软雅黑"/>
                <a:ea typeface="微软雅黑"/>
                <a:cs typeface="微软雅黑"/>
                <a:sym typeface="微软雅黑"/>
              </a:rPr>
              <a:t>设计</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选项卡，找到【变体】选择</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颜色</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选项，</a:t>
            </a:r>
            <a:r>
              <a:rPr lang="zh-CN" sz="1600">
                <a:solidFill>
                  <a:srgbClr val="383838"/>
                </a:solidFill>
                <a:latin typeface="微软雅黑"/>
                <a:ea typeface="微软雅黑"/>
                <a:cs typeface="微软雅黑"/>
                <a:sym typeface="微软雅黑"/>
              </a:rPr>
              <a:t>里面有本模板已经设定好的多种配色</a:t>
            </a:r>
            <a:r>
              <a:rPr lang="zh-CN" altLang="en-US" sz="1600" noProof="0" dirty="0">
                <a:ln>
                  <a:noFill/>
                </a:ln>
                <a:solidFill>
                  <a:srgbClr val="383838"/>
                </a:solidFill>
                <a:effectLst/>
                <a:uLnTx/>
                <a:uFillTx/>
                <a:latin typeface="微软雅黑"/>
                <a:ea typeface="微软雅黑"/>
                <a:cs typeface="微软雅黑"/>
                <a:sym typeface="微软雅黑"/>
              </a:rPr>
              <a:t>。</a:t>
            </a:r>
            <a:r>
              <a:rPr lang="zh-CN" altLang="en-US" sz="1600" dirty="0">
                <a:solidFill>
                  <a:srgbClr val="383838"/>
                </a:solidFill>
                <a:latin typeface="微软雅黑"/>
                <a:ea typeface="微软雅黑"/>
                <a:cs typeface="微软雅黑"/>
                <a:sym typeface="微软雅黑"/>
              </a:rPr>
              <a:t>点击其中一种颜色即可一键全部替换。选择【自定义】也可配置自己的颜色。</a:t>
            </a:r>
            <a:endParaRPr lang="zh-CN" altLang="en-US" sz="1600" dirty="0">
              <a:solidFill>
                <a:srgbClr val="383838"/>
              </a:solidFill>
              <a:latin typeface="微软雅黑"/>
              <a:ea typeface="微软雅黑"/>
              <a:cs typeface="微软雅黑"/>
              <a:sym typeface="微软雅黑"/>
            </a:endParaRPr>
          </a:p>
        </p:txBody>
      </p:sp>
      <p:sp>
        <p:nvSpPr>
          <p:cNvPr id="7" name="文本框 6"/>
          <p:cNvSpPr txBox="1"/>
          <p:nvPr>
            <p:custDataLst>
              <p:tags r:id="rId10"/>
            </p:custDataLst>
          </p:nvPr>
        </p:nvSpPr>
        <p:spPr>
          <a:xfrm>
            <a:off x="8225155" y="1234758"/>
            <a:ext cx="1753235" cy="398780"/>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zh-CN" sz="2000" b="1">
                <a:solidFill>
                  <a:srgbClr val="0042FF"/>
                </a:solidFill>
                <a:latin typeface="微软雅黑"/>
                <a:ea typeface="微软雅黑"/>
                <a:cs typeface="微软雅黑"/>
                <a:sym typeface="微软雅黑"/>
              </a:rPr>
              <a:t>office</a:t>
            </a:r>
            <a:r>
              <a:rPr lang="zh-CN" altLang="en-US" sz="2000" b="1">
                <a:solidFill>
                  <a:srgbClr val="0042FF"/>
                </a:solidFill>
                <a:latin typeface="微软雅黑"/>
                <a:ea typeface="微软雅黑"/>
                <a:cs typeface="微软雅黑"/>
                <a:sym typeface="微软雅黑"/>
              </a:rPr>
              <a:t>版本</a:t>
            </a:r>
            <a:endParaRPr lang="zh-CN" altLang="en-US" sz="2000" b="1">
              <a:solidFill>
                <a:srgbClr val="0042FF"/>
              </a:solidFill>
              <a:latin typeface="微软雅黑"/>
              <a:ea typeface="微软雅黑"/>
              <a:cs typeface="微软雅黑"/>
              <a:sym typeface="微软雅黑"/>
            </a:endParaRPr>
          </a:p>
        </p:txBody>
      </p:sp>
      <p:pic>
        <p:nvPicPr>
          <p:cNvPr id="8" name="图片 7"/>
          <p:cNvPicPr>
            <a:picLocks noChangeAspect="1"/>
          </p:cNvPicPr>
          <p:nvPr>
            <p:custDataLst>
              <p:tags r:id="rId11"/>
            </p:custDataLst>
          </p:nvPr>
        </p:nvPicPr>
        <p:blipFill>
          <a:blip r:embed="rId12"/>
          <a:stretch>
            <a:fillRect/>
          </a:stretch>
        </p:blipFill>
        <p:spPr>
          <a:xfrm>
            <a:off x="6579870" y="2639695"/>
            <a:ext cx="5171440" cy="2321560"/>
          </a:xfrm>
          <a:prstGeom prst="rect">
            <a:avLst/>
          </a:prstGeom>
        </p:spPr>
      </p:pic>
      <p:pic>
        <p:nvPicPr>
          <p:cNvPr id="9" name="图片 8"/>
          <p:cNvPicPr>
            <a:picLocks noChangeAspect="1"/>
          </p:cNvPicPr>
          <p:nvPr/>
        </p:nvPicPr>
        <p:blipFill>
          <a:blip r:embed="rId13"/>
          <a:stretch>
            <a:fillRect/>
          </a:stretch>
        </p:blipFill>
        <p:spPr>
          <a:xfrm>
            <a:off x="8391525" y="3858895"/>
            <a:ext cx="2294890" cy="2442210"/>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文本框 25"/>
          <p:cNvSpPr txBox="1"/>
          <p:nvPr/>
        </p:nvSpPr>
        <p:spPr>
          <a:xfrm>
            <a:off x="368935" y="306388"/>
            <a:ext cx="7585710" cy="47561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2500" b="1">
                <a:solidFill>
                  <a:srgbClr val="0042FF"/>
                </a:solidFill>
                <a:latin typeface="微软雅黑"/>
                <a:ea typeface="微软雅黑"/>
                <a:cs typeface="微软雅黑"/>
                <a:sym typeface="微软雅黑"/>
              </a:rPr>
              <a:t>使用模板时：</a:t>
            </a:r>
            <a:r>
              <a:rPr lang="zh-CN" altLang="en-US" sz="2500" b="1">
                <a:solidFill>
                  <a:srgbClr val="383838"/>
                </a:solidFill>
                <a:latin typeface="微软雅黑"/>
                <a:ea typeface="微软雅黑"/>
                <a:cs typeface="微软雅黑"/>
                <a:sym typeface="微软雅黑"/>
              </a:rPr>
              <a:t>如何一键去除右上角的logo？</a:t>
            </a:r>
            <a:endParaRPr lang="zh-CN" altLang="en-US" sz="2500" b="1">
              <a:solidFill>
                <a:srgbClr val="383838"/>
              </a:solidFill>
              <a:latin typeface="微软雅黑"/>
              <a:ea typeface="微软雅黑"/>
              <a:cs typeface="微软雅黑"/>
              <a:sym typeface="微软雅黑"/>
            </a:endParaRPr>
          </a:p>
        </p:txBody>
      </p:sp>
      <p:cxnSp>
        <p:nvCxnSpPr>
          <p:cNvPr id="2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32" name="圆角矩形 31"/>
          <p:cNvSpPr/>
          <p:nvPr>
            <p:custDataLst>
              <p:tags r:id="rId1"/>
            </p:custDataLst>
          </p:nvPr>
        </p:nvSpPr>
        <p:spPr>
          <a:xfrm>
            <a:off x="368935" y="1158875"/>
            <a:ext cx="5592445" cy="5207000"/>
          </a:xfrm>
          <a:prstGeom prst="roundRect">
            <a:avLst>
              <a:gd name="adj" fmla="val 6466"/>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pic>
        <p:nvPicPr>
          <p:cNvPr id="33" name="图片 32"/>
          <p:cNvPicPr>
            <a:picLocks noChangeAspect="1"/>
          </p:cNvPicPr>
          <p:nvPr>
            <p:custDataLst>
              <p:tags r:id="rId2"/>
            </p:custDataLst>
          </p:nvPr>
        </p:nvPicPr>
        <p:blipFill>
          <a:blip r:embed="rId3"/>
          <a:srcRect r="1364" b="46622"/>
          <a:stretch>
            <a:fillRect/>
          </a:stretch>
        </p:blipFill>
        <p:spPr>
          <a:xfrm>
            <a:off x="641985" y="2576830"/>
            <a:ext cx="5029835" cy="1704340"/>
          </a:xfrm>
          <a:prstGeom prst="rect">
            <a:avLst/>
          </a:prstGeom>
        </p:spPr>
      </p:pic>
      <p:sp>
        <p:nvSpPr>
          <p:cNvPr id="34" name="文本框 33"/>
          <p:cNvSpPr txBox="1"/>
          <p:nvPr>
            <p:custDataLst>
              <p:tags r:id="rId4"/>
            </p:custDataLst>
          </p:nvPr>
        </p:nvSpPr>
        <p:spPr>
          <a:xfrm>
            <a:off x="641985" y="1610360"/>
            <a:ext cx="5116195" cy="82994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1600">
                <a:solidFill>
                  <a:srgbClr val="383838"/>
                </a:solidFill>
                <a:latin typeface="微软雅黑"/>
                <a:ea typeface="微软雅黑"/>
                <a:cs typeface="微软雅黑"/>
                <a:sym typeface="微软雅黑"/>
              </a:rPr>
              <a:t>①</a:t>
            </a:r>
            <a:r>
              <a:rPr lang="en-US" altLang="zh-CN" sz="1600">
                <a:solidFill>
                  <a:srgbClr val="383838"/>
                </a:solidFill>
                <a:latin typeface="微软雅黑"/>
                <a:ea typeface="微软雅黑"/>
                <a:cs typeface="微软雅黑"/>
                <a:sym typeface="微软雅黑"/>
              </a:rPr>
              <a:t> </a:t>
            </a:r>
            <a:r>
              <a:rPr lang="zh-CN" altLang="en-US" sz="1600" noProof="0" dirty="0">
                <a:ln>
                  <a:noFill/>
                </a:ln>
                <a:solidFill>
                  <a:srgbClr val="383838"/>
                </a:solidFill>
                <a:effectLst/>
                <a:uLnTx/>
                <a:uFillTx/>
                <a:latin typeface="微软雅黑"/>
                <a:ea typeface="微软雅黑"/>
                <a:cs typeface="微软雅黑"/>
                <a:sym typeface="微软雅黑"/>
              </a:rPr>
              <a:t>点击</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dirty="0">
                <a:solidFill>
                  <a:srgbClr val="383838"/>
                </a:solidFill>
                <a:latin typeface="微软雅黑"/>
                <a:ea typeface="微软雅黑"/>
                <a:cs typeface="微软雅黑"/>
                <a:sym typeface="微软雅黑"/>
              </a:rPr>
              <a:t>设计</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选项卡，选择</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母版</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noProof="0" dirty="0">
                <a:ln>
                  <a:noFill/>
                </a:ln>
                <a:solidFill>
                  <a:srgbClr val="383838"/>
                </a:solidFill>
                <a:effectLst/>
                <a:uLnTx/>
                <a:uFillTx/>
                <a:latin typeface="微软雅黑"/>
                <a:ea typeface="微软雅黑"/>
                <a:cs typeface="微软雅黑"/>
                <a:sym typeface="微软雅黑"/>
              </a:rPr>
              <a:t>选项，进入母版视图。</a:t>
            </a:r>
            <a:r>
              <a:rPr lang="zh-CN" altLang="en-US" sz="1600">
                <a:solidFill>
                  <a:srgbClr val="383838"/>
                </a:solidFill>
                <a:latin typeface="微软雅黑"/>
                <a:ea typeface="微软雅黑"/>
                <a:cs typeface="微软雅黑"/>
                <a:sym typeface="微软雅黑"/>
              </a:rPr>
              <a:t>②</a:t>
            </a:r>
            <a:r>
              <a:rPr lang="en-US" altLang="zh-CN" sz="1600">
                <a:solidFill>
                  <a:srgbClr val="383838"/>
                </a:solidFill>
                <a:latin typeface="微软雅黑"/>
                <a:ea typeface="微软雅黑"/>
                <a:cs typeface="微软雅黑"/>
                <a:sym typeface="微软雅黑"/>
              </a:rPr>
              <a:t> </a:t>
            </a:r>
            <a:r>
              <a:rPr lang="zh-CN" altLang="en-US" sz="1600">
                <a:solidFill>
                  <a:srgbClr val="383838"/>
                </a:solidFill>
                <a:latin typeface="微软雅黑"/>
                <a:ea typeface="微软雅黑"/>
                <a:cs typeface="微软雅黑"/>
                <a:sym typeface="微软雅黑"/>
              </a:rPr>
              <a:t>进入母版视图后，右击logo选择删除，点击</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a:solidFill>
                  <a:srgbClr val="383838"/>
                </a:solidFill>
                <a:latin typeface="微软雅黑"/>
                <a:ea typeface="微软雅黑"/>
                <a:cs typeface="微软雅黑"/>
                <a:sym typeface="微软雅黑"/>
              </a:rPr>
              <a:t>关闭</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a:solidFill>
                  <a:srgbClr val="383838"/>
                </a:solidFill>
                <a:latin typeface="微软雅黑"/>
                <a:ea typeface="微软雅黑"/>
                <a:cs typeface="微软雅黑"/>
                <a:sym typeface="微软雅黑"/>
              </a:rPr>
              <a:t>幻灯片母版视图即可</a:t>
            </a:r>
            <a:r>
              <a:rPr lang="zh-CN" altLang="en-US" sz="1600" dirty="0">
                <a:solidFill>
                  <a:srgbClr val="383838"/>
                </a:solidFill>
                <a:latin typeface="微软雅黑"/>
                <a:ea typeface="微软雅黑"/>
                <a:cs typeface="微软雅黑"/>
                <a:sym typeface="微软雅黑"/>
              </a:rPr>
              <a:t>。</a:t>
            </a:r>
            <a:endParaRPr lang="zh-CN" altLang="en-US" sz="1600" dirty="0">
              <a:solidFill>
                <a:srgbClr val="383838"/>
              </a:solidFill>
              <a:latin typeface="微软雅黑"/>
              <a:ea typeface="微软雅黑"/>
              <a:cs typeface="微软雅黑"/>
              <a:sym typeface="微软雅黑"/>
            </a:endParaRPr>
          </a:p>
        </p:txBody>
      </p:sp>
      <p:sp>
        <p:nvSpPr>
          <p:cNvPr id="38" name="圆角矩形 37"/>
          <p:cNvSpPr/>
          <p:nvPr>
            <p:custDataLst>
              <p:tags r:id="rId5"/>
            </p:custDataLst>
          </p:nvPr>
        </p:nvSpPr>
        <p:spPr>
          <a:xfrm>
            <a:off x="6369685" y="1158875"/>
            <a:ext cx="5592445" cy="5207000"/>
          </a:xfrm>
          <a:prstGeom prst="roundRect">
            <a:avLst>
              <a:gd name="adj" fmla="val 6466"/>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pic>
        <p:nvPicPr>
          <p:cNvPr id="39" name="图片 38"/>
          <p:cNvPicPr>
            <a:picLocks noChangeAspect="1"/>
          </p:cNvPicPr>
          <p:nvPr>
            <p:custDataLst>
              <p:tags r:id="rId6"/>
            </p:custDataLst>
          </p:nvPr>
        </p:nvPicPr>
        <p:blipFill>
          <a:blip r:embed="rId7"/>
          <a:srcRect l="2160" t="-2686" r="934" b="33542"/>
          <a:stretch>
            <a:fillRect/>
          </a:stretch>
        </p:blipFill>
        <p:spPr>
          <a:xfrm>
            <a:off x="641985" y="4417695"/>
            <a:ext cx="4970145" cy="1762760"/>
          </a:xfrm>
          <a:prstGeom prst="rect">
            <a:avLst/>
          </a:prstGeom>
        </p:spPr>
      </p:pic>
      <p:sp>
        <p:nvSpPr>
          <p:cNvPr id="2" name="文本框 1"/>
          <p:cNvSpPr txBox="1"/>
          <p:nvPr>
            <p:custDataLst>
              <p:tags r:id="rId8"/>
            </p:custDataLst>
          </p:nvPr>
        </p:nvSpPr>
        <p:spPr>
          <a:xfrm>
            <a:off x="2306320" y="1234758"/>
            <a:ext cx="1753235" cy="398780"/>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zh-CN" sz="2000" b="1">
                <a:solidFill>
                  <a:srgbClr val="0042FF"/>
                </a:solidFill>
                <a:latin typeface="微软雅黑"/>
                <a:ea typeface="微软雅黑"/>
                <a:cs typeface="微软雅黑"/>
                <a:sym typeface="微软雅黑"/>
              </a:rPr>
              <a:t>WPS</a:t>
            </a:r>
            <a:r>
              <a:rPr lang="zh-CN" altLang="en-US" sz="2000" b="1">
                <a:solidFill>
                  <a:srgbClr val="0042FF"/>
                </a:solidFill>
                <a:latin typeface="微软雅黑"/>
                <a:ea typeface="微软雅黑"/>
                <a:cs typeface="微软雅黑"/>
                <a:sym typeface="微软雅黑"/>
              </a:rPr>
              <a:t>版本</a:t>
            </a:r>
            <a:endParaRPr lang="zh-CN" altLang="en-US" sz="2000" b="1">
              <a:solidFill>
                <a:srgbClr val="0042FF"/>
              </a:solidFill>
              <a:latin typeface="微软雅黑"/>
              <a:ea typeface="微软雅黑"/>
              <a:cs typeface="微软雅黑"/>
              <a:sym typeface="微软雅黑"/>
            </a:endParaRPr>
          </a:p>
        </p:txBody>
      </p:sp>
      <p:sp>
        <p:nvSpPr>
          <p:cNvPr id="3" name="文本框 2"/>
          <p:cNvSpPr txBox="1"/>
          <p:nvPr>
            <p:custDataLst>
              <p:tags r:id="rId9"/>
            </p:custDataLst>
          </p:nvPr>
        </p:nvSpPr>
        <p:spPr>
          <a:xfrm>
            <a:off x="6771640" y="1572895"/>
            <a:ext cx="5116195" cy="82994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en-US" sz="1600" dirty="0">
                <a:solidFill>
                  <a:srgbClr val="383838"/>
                </a:solidFill>
                <a:latin typeface="微软雅黑"/>
                <a:ea typeface="微软雅黑"/>
                <a:cs typeface="微软雅黑"/>
                <a:sym typeface="微软雅黑"/>
              </a:rPr>
              <a:t>①</a:t>
            </a:r>
            <a:r>
              <a:rPr lang="en-US" altLang="zh-CN" sz="1600" dirty="0">
                <a:solidFill>
                  <a:srgbClr val="383838"/>
                </a:solidFill>
                <a:latin typeface="微软雅黑"/>
                <a:ea typeface="微软雅黑"/>
                <a:cs typeface="微软雅黑"/>
                <a:sym typeface="微软雅黑"/>
              </a:rPr>
              <a:t> </a:t>
            </a:r>
            <a:r>
              <a:rPr lang="zh-CN" altLang="en-US" sz="1600" dirty="0">
                <a:solidFill>
                  <a:srgbClr val="383838"/>
                </a:solidFill>
                <a:latin typeface="微软雅黑"/>
                <a:ea typeface="微软雅黑"/>
                <a:cs typeface="微软雅黑"/>
                <a:sym typeface="微软雅黑"/>
              </a:rPr>
              <a:t>点击【试图】选项卡，选择【幻灯片母版】选项，进入母版视图。</a:t>
            </a:r>
            <a:r>
              <a:rPr lang="zh-CN" altLang="en-US" sz="1600">
                <a:solidFill>
                  <a:srgbClr val="383838"/>
                </a:solidFill>
                <a:latin typeface="微软雅黑"/>
                <a:ea typeface="微软雅黑"/>
                <a:cs typeface="微软雅黑"/>
                <a:sym typeface="微软雅黑"/>
              </a:rPr>
              <a:t>②</a:t>
            </a:r>
            <a:r>
              <a:rPr lang="en-US" altLang="zh-CN" sz="1600">
                <a:solidFill>
                  <a:srgbClr val="383838"/>
                </a:solidFill>
                <a:latin typeface="微软雅黑"/>
                <a:ea typeface="微软雅黑"/>
                <a:cs typeface="微软雅黑"/>
                <a:sym typeface="微软雅黑"/>
              </a:rPr>
              <a:t> </a:t>
            </a:r>
            <a:r>
              <a:rPr lang="zh-CN" altLang="en-US" sz="1600">
                <a:solidFill>
                  <a:srgbClr val="383838"/>
                </a:solidFill>
                <a:latin typeface="微软雅黑"/>
                <a:ea typeface="微软雅黑"/>
                <a:cs typeface="微软雅黑"/>
                <a:sym typeface="微软雅黑"/>
              </a:rPr>
              <a:t>进入母版视图后，右击logo选择删除，点击</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a:solidFill>
                  <a:srgbClr val="383838"/>
                </a:solidFill>
                <a:latin typeface="微软雅黑"/>
                <a:ea typeface="微软雅黑"/>
                <a:cs typeface="微软雅黑"/>
                <a:sym typeface="微软雅黑"/>
              </a:rPr>
              <a:t>关闭</a:t>
            </a:r>
            <a:r>
              <a:rPr lang="en-US" altLang="zh-CN" sz="1600" noProof="0" dirty="0">
                <a:ln>
                  <a:noFill/>
                </a:ln>
                <a:solidFill>
                  <a:srgbClr val="383838"/>
                </a:solidFill>
                <a:effectLst/>
                <a:uLnTx/>
                <a:uFillTx/>
                <a:latin typeface="微软雅黑"/>
                <a:ea typeface="微软雅黑"/>
                <a:cs typeface="微软雅黑"/>
                <a:sym typeface="微软雅黑"/>
              </a:rPr>
              <a:t>】</a:t>
            </a:r>
            <a:r>
              <a:rPr lang="zh-CN" altLang="en-US" sz="1600">
                <a:solidFill>
                  <a:srgbClr val="383838"/>
                </a:solidFill>
                <a:latin typeface="微软雅黑"/>
                <a:ea typeface="微软雅黑"/>
                <a:cs typeface="微软雅黑"/>
                <a:sym typeface="微软雅黑"/>
              </a:rPr>
              <a:t>幻灯片母版视图即可。</a:t>
            </a:r>
            <a:endParaRPr lang="zh-CN" altLang="en-US" sz="1600" dirty="0">
              <a:solidFill>
                <a:srgbClr val="383838"/>
              </a:solidFill>
              <a:latin typeface="微软雅黑"/>
              <a:ea typeface="微软雅黑"/>
              <a:cs typeface="微软雅黑"/>
              <a:sym typeface="微软雅黑"/>
            </a:endParaRPr>
          </a:p>
        </p:txBody>
      </p:sp>
      <p:sp>
        <p:nvSpPr>
          <p:cNvPr id="4" name="文本框 3"/>
          <p:cNvSpPr txBox="1"/>
          <p:nvPr>
            <p:custDataLst>
              <p:tags r:id="rId10"/>
            </p:custDataLst>
          </p:nvPr>
        </p:nvSpPr>
        <p:spPr>
          <a:xfrm>
            <a:off x="8435975" y="1197293"/>
            <a:ext cx="1753235" cy="398780"/>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zh-CN" sz="2000" b="1">
                <a:solidFill>
                  <a:srgbClr val="0042FF"/>
                </a:solidFill>
                <a:latin typeface="微软雅黑"/>
                <a:ea typeface="微软雅黑"/>
                <a:cs typeface="微软雅黑"/>
                <a:sym typeface="微软雅黑"/>
              </a:rPr>
              <a:t>office</a:t>
            </a:r>
            <a:r>
              <a:rPr lang="zh-CN" altLang="en-US" sz="2000" b="1">
                <a:solidFill>
                  <a:srgbClr val="0042FF"/>
                </a:solidFill>
                <a:latin typeface="微软雅黑"/>
                <a:ea typeface="微软雅黑"/>
                <a:cs typeface="微软雅黑"/>
                <a:sym typeface="微软雅黑"/>
              </a:rPr>
              <a:t>版本</a:t>
            </a:r>
            <a:endParaRPr lang="zh-CN" altLang="en-US" sz="2000" b="1">
              <a:solidFill>
                <a:srgbClr val="0042FF"/>
              </a:solidFill>
              <a:latin typeface="微软雅黑"/>
              <a:ea typeface="微软雅黑"/>
              <a:cs typeface="微软雅黑"/>
              <a:sym typeface="微软雅黑"/>
            </a:endParaRPr>
          </a:p>
        </p:txBody>
      </p:sp>
      <p:pic>
        <p:nvPicPr>
          <p:cNvPr id="5" name="图片 4"/>
          <p:cNvPicPr>
            <a:picLocks noChangeAspect="1"/>
          </p:cNvPicPr>
          <p:nvPr>
            <p:custDataLst>
              <p:tags r:id="rId11"/>
            </p:custDataLst>
          </p:nvPr>
        </p:nvPicPr>
        <p:blipFill>
          <a:blip r:embed="rId12"/>
          <a:srcRect t="1212" b="49421"/>
          <a:stretch>
            <a:fillRect/>
          </a:stretch>
        </p:blipFill>
        <p:spPr>
          <a:xfrm>
            <a:off x="6507480" y="2618740"/>
            <a:ext cx="5321300" cy="1706880"/>
          </a:xfrm>
          <a:prstGeom prst="rect">
            <a:avLst/>
          </a:prstGeom>
        </p:spPr>
      </p:pic>
      <p:pic>
        <p:nvPicPr>
          <p:cNvPr id="6" name="图片 5"/>
          <p:cNvPicPr>
            <a:picLocks noChangeAspect="1"/>
          </p:cNvPicPr>
          <p:nvPr>
            <p:custDataLst>
              <p:tags r:id="rId13"/>
            </p:custDataLst>
          </p:nvPr>
        </p:nvPicPr>
        <p:blipFill>
          <a:blip r:embed="rId14"/>
          <a:srcRect t="401" r="6963" b="47355"/>
          <a:stretch>
            <a:fillRect/>
          </a:stretch>
        </p:blipFill>
        <p:spPr>
          <a:xfrm>
            <a:off x="6507480" y="4490085"/>
            <a:ext cx="5332730" cy="1617980"/>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文本框 27"/>
          <p:cNvSpPr txBox="1"/>
          <p:nvPr/>
        </p:nvSpPr>
        <p:spPr>
          <a:xfrm>
            <a:off x="1619885" y="447358"/>
            <a:ext cx="6458585" cy="55308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en-US" altLang="zh-CN" sz="3000" b="1">
                <a:solidFill>
                  <a:srgbClr val="383838"/>
                </a:solidFill>
                <a:latin typeface="微软雅黑"/>
                <a:ea typeface="微软雅黑"/>
                <a:cs typeface="微软雅黑"/>
                <a:sym typeface="微软雅黑"/>
              </a:rPr>
              <a:t>CONTENTS</a:t>
            </a:r>
            <a:endParaRPr lang="en-US" altLang="zh-CN" sz="3000" b="1">
              <a:solidFill>
                <a:srgbClr val="383838"/>
              </a:solidFill>
              <a:latin typeface="微软雅黑"/>
              <a:ea typeface="微软雅黑"/>
              <a:cs typeface="微软雅黑"/>
              <a:sym typeface="微软雅黑"/>
            </a:endParaRPr>
          </a:p>
        </p:txBody>
      </p:sp>
      <p:sp>
        <p:nvSpPr>
          <p:cNvPr id="26" name="文本框 25"/>
          <p:cNvSpPr txBox="1"/>
          <p:nvPr/>
        </p:nvSpPr>
        <p:spPr>
          <a:xfrm>
            <a:off x="415925" y="370840"/>
            <a:ext cx="1203960" cy="706755"/>
          </a:xfrm>
          <a:prstGeom prst="rect">
            <a:avLst/>
          </a:prstGeom>
          <a:noFill/>
        </p:spPr>
        <p:txBody>
          <a:bodyPr wrap="square" rtlCol="0" anchor="ctr" anchorCtr="0">
            <a:spAutoFit/>
          </a:bodyPr>
          <a:lstStyle/>
          <a:p>
            <a:pPr fontAlgn="ctr">
              <a:lnSpc>
                <a:spcPct val="100000"/>
              </a:lnSpc>
              <a:defRPr>
                <a:latin typeface="微软雅黑"/>
                <a:ea typeface="微软雅黑"/>
                <a:cs typeface="微软雅黑"/>
              </a:defRPr>
            </a:pPr>
            <a:r>
              <a:rPr lang="zh-CN" altLang="en-US" sz="4000" b="1">
                <a:solidFill>
                  <a:srgbClr val="0042FF"/>
                </a:solidFill>
                <a:latin typeface="微软雅黑"/>
                <a:ea typeface="微软雅黑"/>
                <a:cs typeface="微软雅黑"/>
                <a:sym typeface="微软雅黑"/>
              </a:rPr>
              <a:t>目录</a:t>
            </a:r>
            <a:endParaRPr lang="zh-CN" altLang="en-US" sz="4000" b="1">
              <a:solidFill>
                <a:srgbClr val="0042FF"/>
              </a:solidFill>
              <a:latin typeface="微软雅黑"/>
              <a:ea typeface="微软雅黑"/>
              <a:cs typeface="微软雅黑"/>
              <a:sym typeface="微软雅黑"/>
            </a:endParaRPr>
          </a:p>
        </p:txBody>
      </p:sp>
      <p:sp>
        <p:nvSpPr>
          <p:cNvPr id="2" name="矩形 1"/>
          <p:cNvSpPr/>
          <p:nvPr>
            <p:custDataLst>
              <p:tags r:id="rId1"/>
            </p:custDataLst>
          </p:nvPr>
        </p:nvSpPr>
        <p:spPr>
          <a:xfrm>
            <a:off x="707390" y="1388745"/>
            <a:ext cx="3366135" cy="2374265"/>
          </a:xfrm>
          <a:prstGeom prst="rect">
            <a:avLst/>
          </a:prstGeom>
          <a:solidFill>
            <a:srgbClr val="E6E6E6">
              <a:alpha val="40000"/>
            </a:srgbClr>
          </a:solidFill>
          <a:ln>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1" name="文本框 40"/>
          <p:cNvSpPr txBox="1"/>
          <p:nvPr>
            <p:custDataLst>
              <p:tags r:id="rId2"/>
            </p:custDataLst>
          </p:nvPr>
        </p:nvSpPr>
        <p:spPr>
          <a:xfrm>
            <a:off x="707390" y="1995170"/>
            <a:ext cx="3366135" cy="398780"/>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altLang="en-US" sz="2000" b="1" spc="-150" noProof="0" dirty="0">
                <a:ln>
                  <a:noFill/>
                </a:ln>
                <a:solidFill>
                  <a:srgbClr val="0042FF"/>
                </a:solidFill>
                <a:effectLst/>
                <a:uLnTx/>
                <a:uFillTx/>
                <a:latin typeface="微软雅黑"/>
                <a:ea typeface="微软雅黑"/>
                <a:cs typeface="微软雅黑"/>
                <a:sym typeface="微软雅黑"/>
              </a:rPr>
              <a:t>屋顶</a:t>
            </a:r>
            <a:r>
              <a:rPr lang="en-US" altLang="zh-CN" sz="2000" b="1" spc="-150" noProof="0" dirty="0">
                <a:ln>
                  <a:noFill/>
                </a:ln>
                <a:solidFill>
                  <a:srgbClr val="0042FF"/>
                </a:solidFill>
                <a:effectLst/>
                <a:uLnTx/>
                <a:uFillTx/>
                <a:latin typeface="微软雅黑"/>
                <a:ea typeface="微软雅黑"/>
                <a:cs typeface="微软雅黑"/>
                <a:sym typeface="微软雅黑"/>
              </a:rPr>
              <a:t>/</a:t>
            </a:r>
            <a:r>
              <a:rPr lang="zh-CN" altLang="en-US" sz="2000" b="1" spc="-150" noProof="0" dirty="0">
                <a:ln>
                  <a:noFill/>
                </a:ln>
                <a:solidFill>
                  <a:srgbClr val="0042FF"/>
                </a:solidFill>
                <a:effectLst/>
                <a:uLnTx/>
                <a:uFillTx/>
                <a:latin typeface="微软雅黑"/>
                <a:ea typeface="微软雅黑"/>
                <a:cs typeface="微软雅黑"/>
                <a:sym typeface="微软雅黑"/>
              </a:rPr>
              <a:t>战略屋架构</a:t>
            </a:r>
            <a:endParaRPr lang="zh-CN" altLang="en-US" sz="2000" b="1" spc="-150" noProof="0" dirty="0">
              <a:ln>
                <a:noFill/>
              </a:ln>
              <a:solidFill>
                <a:srgbClr val="0042FF"/>
              </a:solidFill>
              <a:effectLst/>
              <a:uLnTx/>
              <a:uFillTx/>
              <a:latin typeface="微软雅黑"/>
              <a:ea typeface="微软雅黑"/>
              <a:cs typeface="微软雅黑"/>
              <a:sym typeface="微软雅黑"/>
            </a:endParaRPr>
          </a:p>
        </p:txBody>
      </p:sp>
      <p:sp>
        <p:nvSpPr>
          <p:cNvPr id="42" name="文本框 41"/>
          <p:cNvSpPr txBox="1"/>
          <p:nvPr>
            <p:custDataLst>
              <p:tags r:id="rId3"/>
            </p:custDataLst>
          </p:nvPr>
        </p:nvSpPr>
        <p:spPr>
          <a:xfrm>
            <a:off x="1867535" y="1479550"/>
            <a:ext cx="1046480" cy="5530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en-US" altLang="zh-CN" sz="3000" b="1">
                <a:solidFill>
                  <a:srgbClr val="383838"/>
                </a:solidFill>
                <a:latin typeface="微软雅黑"/>
                <a:ea typeface="微软雅黑"/>
                <a:cs typeface="微软雅黑"/>
                <a:sym typeface="微软雅黑"/>
              </a:rPr>
              <a:t>①</a:t>
            </a:r>
            <a:endParaRPr lang="en-US" altLang="zh-CN" sz="3000" b="1">
              <a:solidFill>
                <a:srgbClr val="383838"/>
              </a:solidFill>
              <a:latin typeface="微软雅黑"/>
              <a:ea typeface="微软雅黑"/>
              <a:cs typeface="微软雅黑"/>
              <a:sym typeface="微软雅黑"/>
            </a:endParaRPr>
          </a:p>
        </p:txBody>
      </p:sp>
      <p:sp>
        <p:nvSpPr>
          <p:cNvPr id="67" name="矩形 66"/>
          <p:cNvSpPr/>
          <p:nvPr>
            <p:custDataLst>
              <p:tags r:id="rId4"/>
            </p:custDataLst>
          </p:nvPr>
        </p:nvSpPr>
        <p:spPr>
          <a:xfrm>
            <a:off x="4485640" y="1388745"/>
            <a:ext cx="3366135" cy="2374265"/>
          </a:xfrm>
          <a:prstGeom prst="rect">
            <a:avLst/>
          </a:prstGeom>
          <a:solidFill>
            <a:srgbClr val="E6E6E6">
              <a:alpha val="40000"/>
            </a:srgbClr>
          </a:solidFill>
          <a:ln>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6" name="文本框 75"/>
          <p:cNvSpPr txBox="1"/>
          <p:nvPr>
            <p:custDataLst>
              <p:tags r:id="rId5"/>
            </p:custDataLst>
          </p:nvPr>
        </p:nvSpPr>
        <p:spPr>
          <a:xfrm>
            <a:off x="4485640" y="1995170"/>
            <a:ext cx="3366135" cy="398780"/>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sz="2000" b="1" spc="-150" noProof="0" dirty="0">
                <a:ln>
                  <a:noFill/>
                </a:ln>
                <a:solidFill>
                  <a:srgbClr val="0042FF"/>
                </a:solidFill>
                <a:effectLst/>
                <a:uLnTx/>
                <a:uFillTx/>
                <a:latin typeface="微软雅黑"/>
                <a:ea typeface="微软雅黑"/>
                <a:cs typeface="微软雅黑"/>
                <a:sym typeface="微软雅黑"/>
              </a:rPr>
              <a:t>多层平台架构</a:t>
            </a:r>
            <a:endParaRPr lang="zh-CN" sz="2000" b="1" spc="-150" noProof="0" dirty="0">
              <a:ln>
                <a:noFill/>
              </a:ln>
              <a:solidFill>
                <a:srgbClr val="0042FF"/>
              </a:solidFill>
              <a:effectLst/>
              <a:uLnTx/>
              <a:uFillTx/>
              <a:latin typeface="微软雅黑"/>
              <a:ea typeface="微软雅黑"/>
              <a:cs typeface="微软雅黑"/>
              <a:sym typeface="微软雅黑"/>
            </a:endParaRPr>
          </a:p>
        </p:txBody>
      </p:sp>
      <p:sp>
        <p:nvSpPr>
          <p:cNvPr id="77" name="文本框 76"/>
          <p:cNvSpPr txBox="1"/>
          <p:nvPr>
            <p:custDataLst>
              <p:tags r:id="rId6"/>
            </p:custDataLst>
          </p:nvPr>
        </p:nvSpPr>
        <p:spPr>
          <a:xfrm>
            <a:off x="5645785" y="1479550"/>
            <a:ext cx="1046480" cy="5530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000" b="1">
                <a:solidFill>
                  <a:srgbClr val="383838"/>
                </a:solidFill>
                <a:latin typeface="微软雅黑"/>
                <a:ea typeface="微软雅黑"/>
                <a:cs typeface="微软雅黑"/>
                <a:sym typeface="微软雅黑"/>
              </a:rPr>
              <a:t>②</a:t>
            </a:r>
            <a:endParaRPr lang="zh-CN" altLang="en-US" sz="3000" b="1">
              <a:solidFill>
                <a:srgbClr val="383838"/>
              </a:solidFill>
              <a:latin typeface="微软雅黑"/>
              <a:ea typeface="微软雅黑"/>
              <a:cs typeface="微软雅黑"/>
              <a:sym typeface="微软雅黑"/>
            </a:endParaRPr>
          </a:p>
        </p:txBody>
      </p:sp>
      <p:sp>
        <p:nvSpPr>
          <p:cNvPr id="79" name="矩形 78"/>
          <p:cNvSpPr/>
          <p:nvPr>
            <p:custDataLst>
              <p:tags r:id="rId7"/>
            </p:custDataLst>
          </p:nvPr>
        </p:nvSpPr>
        <p:spPr>
          <a:xfrm>
            <a:off x="8268970" y="1389380"/>
            <a:ext cx="3366135" cy="2374265"/>
          </a:xfrm>
          <a:prstGeom prst="rect">
            <a:avLst/>
          </a:prstGeom>
          <a:solidFill>
            <a:srgbClr val="E6E6E6">
              <a:alpha val="40000"/>
            </a:srgbClr>
          </a:solidFill>
          <a:ln>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88" name="文本框 87"/>
          <p:cNvSpPr txBox="1"/>
          <p:nvPr>
            <p:custDataLst>
              <p:tags r:id="rId8"/>
            </p:custDataLst>
          </p:nvPr>
        </p:nvSpPr>
        <p:spPr>
          <a:xfrm>
            <a:off x="8268970" y="1995805"/>
            <a:ext cx="3366135" cy="398780"/>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sz="2000" b="1" spc="-150" noProof="0" dirty="0">
                <a:ln>
                  <a:noFill/>
                </a:ln>
                <a:solidFill>
                  <a:srgbClr val="0042FF"/>
                </a:solidFill>
                <a:effectLst/>
                <a:uLnTx/>
                <a:uFillTx/>
                <a:latin typeface="微软雅黑"/>
                <a:ea typeface="微软雅黑"/>
                <a:cs typeface="微软雅黑"/>
                <a:sym typeface="微软雅黑"/>
              </a:rPr>
              <a:t>中心发散</a:t>
            </a:r>
            <a:r>
              <a:rPr lang="zh-CN" altLang="en-US" sz="2000" b="1" spc="-150" noProof="0" dirty="0">
                <a:ln>
                  <a:noFill/>
                </a:ln>
                <a:solidFill>
                  <a:srgbClr val="0042FF"/>
                </a:solidFill>
                <a:effectLst/>
                <a:uLnTx/>
                <a:uFillTx/>
                <a:latin typeface="微软雅黑"/>
                <a:ea typeface="微软雅黑"/>
                <a:cs typeface="微软雅黑"/>
                <a:sym typeface="微软雅黑"/>
              </a:rPr>
              <a:t>架构</a:t>
            </a:r>
            <a:endParaRPr lang="zh-CN" altLang="en-US" sz="2000" b="1" spc="-150" noProof="0" dirty="0">
              <a:ln>
                <a:noFill/>
              </a:ln>
              <a:solidFill>
                <a:srgbClr val="0042FF"/>
              </a:solidFill>
              <a:effectLst/>
              <a:uLnTx/>
              <a:uFillTx/>
              <a:latin typeface="微软雅黑"/>
              <a:ea typeface="微软雅黑"/>
              <a:cs typeface="微软雅黑"/>
              <a:sym typeface="微软雅黑"/>
            </a:endParaRPr>
          </a:p>
        </p:txBody>
      </p:sp>
      <p:sp>
        <p:nvSpPr>
          <p:cNvPr id="89" name="文本框 88"/>
          <p:cNvSpPr txBox="1"/>
          <p:nvPr>
            <p:custDataLst>
              <p:tags r:id="rId9"/>
            </p:custDataLst>
          </p:nvPr>
        </p:nvSpPr>
        <p:spPr>
          <a:xfrm>
            <a:off x="9429115" y="1480185"/>
            <a:ext cx="1046480" cy="5530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000" b="1">
                <a:solidFill>
                  <a:srgbClr val="383838"/>
                </a:solidFill>
                <a:latin typeface="微软雅黑"/>
                <a:ea typeface="微软雅黑"/>
                <a:cs typeface="微软雅黑"/>
                <a:sym typeface="微软雅黑"/>
              </a:rPr>
              <a:t>③</a:t>
            </a:r>
            <a:endParaRPr lang="zh-CN" altLang="en-US" sz="3000" b="1">
              <a:solidFill>
                <a:srgbClr val="383838"/>
              </a:solidFill>
              <a:latin typeface="微软雅黑"/>
              <a:ea typeface="微软雅黑"/>
              <a:cs typeface="微软雅黑"/>
              <a:sym typeface="微软雅黑"/>
            </a:endParaRPr>
          </a:p>
        </p:txBody>
      </p:sp>
      <p:sp>
        <p:nvSpPr>
          <p:cNvPr id="91" name="矩形 90"/>
          <p:cNvSpPr/>
          <p:nvPr>
            <p:custDataLst>
              <p:tags r:id="rId10"/>
            </p:custDataLst>
          </p:nvPr>
        </p:nvSpPr>
        <p:spPr>
          <a:xfrm>
            <a:off x="707390" y="4131945"/>
            <a:ext cx="3366135" cy="2374265"/>
          </a:xfrm>
          <a:prstGeom prst="rect">
            <a:avLst/>
          </a:prstGeom>
          <a:solidFill>
            <a:srgbClr val="E6E6E6">
              <a:alpha val="40000"/>
            </a:srgbClr>
          </a:solidFill>
          <a:ln>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00" name="文本框 99"/>
          <p:cNvSpPr txBox="1"/>
          <p:nvPr>
            <p:custDataLst>
              <p:tags r:id="rId11"/>
            </p:custDataLst>
          </p:nvPr>
        </p:nvSpPr>
        <p:spPr>
          <a:xfrm>
            <a:off x="707390" y="4738370"/>
            <a:ext cx="3366135" cy="398780"/>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sz="2000" b="1" spc="-150" noProof="0" dirty="0">
                <a:ln>
                  <a:noFill/>
                </a:ln>
                <a:solidFill>
                  <a:srgbClr val="0042FF"/>
                </a:solidFill>
                <a:effectLst/>
                <a:uLnTx/>
                <a:uFillTx/>
                <a:latin typeface="微软雅黑"/>
                <a:ea typeface="微软雅黑"/>
                <a:cs typeface="微软雅黑"/>
                <a:sym typeface="微软雅黑"/>
              </a:rPr>
              <a:t>循环逻辑</a:t>
            </a:r>
            <a:r>
              <a:rPr lang="zh-CN" altLang="en-US" sz="2000" b="1" spc="-150" noProof="0" dirty="0">
                <a:ln>
                  <a:noFill/>
                </a:ln>
                <a:solidFill>
                  <a:srgbClr val="0042FF"/>
                </a:solidFill>
                <a:effectLst/>
                <a:uLnTx/>
                <a:uFillTx/>
                <a:latin typeface="微软雅黑"/>
                <a:ea typeface="微软雅黑"/>
                <a:cs typeface="微软雅黑"/>
                <a:sym typeface="微软雅黑"/>
              </a:rPr>
              <a:t>架构</a:t>
            </a:r>
            <a:endParaRPr lang="zh-CN" altLang="en-US" sz="2000" b="1" spc="-150" noProof="0" dirty="0">
              <a:ln>
                <a:noFill/>
              </a:ln>
              <a:solidFill>
                <a:srgbClr val="0042FF"/>
              </a:solidFill>
              <a:effectLst/>
              <a:uLnTx/>
              <a:uFillTx/>
              <a:latin typeface="微软雅黑"/>
              <a:ea typeface="微软雅黑"/>
              <a:cs typeface="微软雅黑"/>
              <a:sym typeface="微软雅黑"/>
            </a:endParaRPr>
          </a:p>
        </p:txBody>
      </p:sp>
      <p:sp>
        <p:nvSpPr>
          <p:cNvPr id="101" name="文本框 100"/>
          <p:cNvSpPr txBox="1"/>
          <p:nvPr>
            <p:custDataLst>
              <p:tags r:id="rId12"/>
            </p:custDataLst>
          </p:nvPr>
        </p:nvSpPr>
        <p:spPr>
          <a:xfrm>
            <a:off x="1867535" y="4222750"/>
            <a:ext cx="1046480" cy="5530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000" b="1">
                <a:solidFill>
                  <a:srgbClr val="383838"/>
                </a:solidFill>
                <a:latin typeface="微软雅黑"/>
                <a:ea typeface="微软雅黑"/>
                <a:cs typeface="微软雅黑"/>
                <a:sym typeface="微软雅黑"/>
              </a:rPr>
              <a:t>④</a:t>
            </a:r>
            <a:endParaRPr lang="zh-CN" altLang="en-US" sz="3000" b="1">
              <a:solidFill>
                <a:srgbClr val="383838"/>
              </a:solidFill>
              <a:latin typeface="微软雅黑"/>
              <a:ea typeface="微软雅黑"/>
              <a:cs typeface="微软雅黑"/>
              <a:sym typeface="微软雅黑"/>
            </a:endParaRPr>
          </a:p>
        </p:txBody>
      </p:sp>
      <p:sp>
        <p:nvSpPr>
          <p:cNvPr id="103" name="矩形 102"/>
          <p:cNvSpPr/>
          <p:nvPr>
            <p:custDataLst>
              <p:tags r:id="rId13"/>
            </p:custDataLst>
          </p:nvPr>
        </p:nvSpPr>
        <p:spPr>
          <a:xfrm>
            <a:off x="4485640" y="4131945"/>
            <a:ext cx="3366135" cy="2374265"/>
          </a:xfrm>
          <a:prstGeom prst="rect">
            <a:avLst/>
          </a:prstGeom>
          <a:solidFill>
            <a:srgbClr val="E6E6E6">
              <a:alpha val="40000"/>
            </a:srgbClr>
          </a:solidFill>
          <a:ln>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2" name="文本框 111"/>
          <p:cNvSpPr txBox="1"/>
          <p:nvPr>
            <p:custDataLst>
              <p:tags r:id="rId14"/>
            </p:custDataLst>
          </p:nvPr>
        </p:nvSpPr>
        <p:spPr>
          <a:xfrm>
            <a:off x="4485640" y="4738370"/>
            <a:ext cx="3366135" cy="398780"/>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sz="2000" b="1" spc="-150" noProof="0" dirty="0">
                <a:ln>
                  <a:noFill/>
                </a:ln>
                <a:solidFill>
                  <a:srgbClr val="0042FF"/>
                </a:solidFill>
                <a:effectLst/>
                <a:uLnTx/>
                <a:uFillTx/>
                <a:latin typeface="微软雅黑"/>
                <a:ea typeface="微软雅黑"/>
                <a:cs typeface="微软雅黑"/>
                <a:sym typeface="微软雅黑"/>
              </a:rPr>
              <a:t>业务流程</a:t>
            </a:r>
            <a:r>
              <a:rPr lang="zh-CN" altLang="en-US" sz="2000" b="1" spc="-150" noProof="0" dirty="0">
                <a:ln>
                  <a:noFill/>
                </a:ln>
                <a:solidFill>
                  <a:srgbClr val="0042FF"/>
                </a:solidFill>
                <a:effectLst/>
                <a:uLnTx/>
                <a:uFillTx/>
                <a:latin typeface="微软雅黑"/>
                <a:ea typeface="微软雅黑"/>
                <a:cs typeface="微软雅黑"/>
                <a:sym typeface="微软雅黑"/>
              </a:rPr>
              <a:t>架构</a:t>
            </a:r>
            <a:endParaRPr lang="zh-CN" altLang="en-US" sz="2000" b="1" spc="-150" noProof="0" dirty="0">
              <a:ln>
                <a:noFill/>
              </a:ln>
              <a:solidFill>
                <a:srgbClr val="0042FF"/>
              </a:solidFill>
              <a:effectLst/>
              <a:uLnTx/>
              <a:uFillTx/>
              <a:latin typeface="微软雅黑"/>
              <a:ea typeface="微软雅黑"/>
              <a:cs typeface="微软雅黑"/>
              <a:sym typeface="微软雅黑"/>
            </a:endParaRPr>
          </a:p>
        </p:txBody>
      </p:sp>
      <p:sp>
        <p:nvSpPr>
          <p:cNvPr id="113" name="文本框 112"/>
          <p:cNvSpPr txBox="1"/>
          <p:nvPr>
            <p:custDataLst>
              <p:tags r:id="rId15"/>
            </p:custDataLst>
          </p:nvPr>
        </p:nvSpPr>
        <p:spPr>
          <a:xfrm>
            <a:off x="5645785" y="4222750"/>
            <a:ext cx="1046480" cy="5530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000" b="1">
                <a:solidFill>
                  <a:srgbClr val="383838"/>
                </a:solidFill>
                <a:latin typeface="微软雅黑"/>
                <a:ea typeface="微软雅黑"/>
                <a:cs typeface="微软雅黑"/>
                <a:sym typeface="微软雅黑"/>
              </a:rPr>
              <a:t>⑤</a:t>
            </a:r>
            <a:endParaRPr lang="zh-CN" altLang="en-US" sz="3000" b="1">
              <a:solidFill>
                <a:srgbClr val="383838"/>
              </a:solidFill>
              <a:latin typeface="微软雅黑"/>
              <a:ea typeface="微软雅黑"/>
              <a:cs typeface="微软雅黑"/>
              <a:sym typeface="微软雅黑"/>
            </a:endParaRPr>
          </a:p>
        </p:txBody>
      </p:sp>
      <p:sp>
        <p:nvSpPr>
          <p:cNvPr id="115" name="矩形 114"/>
          <p:cNvSpPr/>
          <p:nvPr>
            <p:custDataLst>
              <p:tags r:id="rId16"/>
            </p:custDataLst>
          </p:nvPr>
        </p:nvSpPr>
        <p:spPr>
          <a:xfrm>
            <a:off x="8268970" y="4132580"/>
            <a:ext cx="3366135" cy="2374265"/>
          </a:xfrm>
          <a:prstGeom prst="rect">
            <a:avLst/>
          </a:prstGeom>
          <a:solidFill>
            <a:srgbClr val="E6E6E6">
              <a:alpha val="40000"/>
            </a:srgbClr>
          </a:solidFill>
          <a:ln>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4" name="文本框 123"/>
          <p:cNvSpPr txBox="1"/>
          <p:nvPr>
            <p:custDataLst>
              <p:tags r:id="rId17"/>
            </p:custDataLst>
          </p:nvPr>
        </p:nvSpPr>
        <p:spPr>
          <a:xfrm>
            <a:off x="8268970" y="4739005"/>
            <a:ext cx="3366135" cy="398780"/>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sz="2000" b="1" spc="-150" noProof="0" dirty="0">
                <a:ln>
                  <a:noFill/>
                </a:ln>
                <a:solidFill>
                  <a:srgbClr val="0042FF"/>
                </a:solidFill>
                <a:effectLst/>
                <a:uLnTx/>
                <a:uFillTx/>
                <a:latin typeface="微软雅黑"/>
                <a:ea typeface="微软雅黑"/>
                <a:cs typeface="微软雅黑"/>
                <a:sym typeface="微软雅黑"/>
              </a:rPr>
              <a:t>时间流程</a:t>
            </a:r>
            <a:r>
              <a:rPr lang="zh-CN" altLang="en-US" sz="2000" b="1" spc="-150" noProof="0" dirty="0">
                <a:ln>
                  <a:noFill/>
                </a:ln>
                <a:solidFill>
                  <a:srgbClr val="0042FF"/>
                </a:solidFill>
                <a:effectLst/>
                <a:uLnTx/>
                <a:uFillTx/>
                <a:latin typeface="微软雅黑"/>
                <a:ea typeface="微软雅黑"/>
                <a:cs typeface="微软雅黑"/>
                <a:sym typeface="微软雅黑"/>
              </a:rPr>
              <a:t>架构</a:t>
            </a:r>
            <a:endParaRPr lang="zh-CN" altLang="en-US" sz="2000" b="1" spc="-150" noProof="0" dirty="0">
              <a:ln>
                <a:noFill/>
              </a:ln>
              <a:solidFill>
                <a:srgbClr val="0042FF"/>
              </a:solidFill>
              <a:effectLst/>
              <a:uLnTx/>
              <a:uFillTx/>
              <a:latin typeface="微软雅黑"/>
              <a:ea typeface="微软雅黑"/>
              <a:cs typeface="微软雅黑"/>
              <a:sym typeface="微软雅黑"/>
            </a:endParaRPr>
          </a:p>
        </p:txBody>
      </p:sp>
      <p:sp>
        <p:nvSpPr>
          <p:cNvPr id="125" name="文本框 124"/>
          <p:cNvSpPr txBox="1"/>
          <p:nvPr>
            <p:custDataLst>
              <p:tags r:id="rId18"/>
            </p:custDataLst>
          </p:nvPr>
        </p:nvSpPr>
        <p:spPr>
          <a:xfrm>
            <a:off x="9429115" y="4223385"/>
            <a:ext cx="1046480" cy="5530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000" b="1">
                <a:solidFill>
                  <a:srgbClr val="383838"/>
                </a:solidFill>
                <a:latin typeface="微软雅黑"/>
                <a:ea typeface="微软雅黑"/>
                <a:cs typeface="微软雅黑"/>
                <a:sym typeface="微软雅黑"/>
              </a:rPr>
              <a:t>⑥</a:t>
            </a:r>
            <a:endParaRPr lang="zh-CN" altLang="en-US" sz="3000" b="1">
              <a:solidFill>
                <a:srgbClr val="383838"/>
              </a:solidFill>
              <a:latin typeface="微软雅黑"/>
              <a:ea typeface="微软雅黑"/>
              <a:cs typeface="微软雅黑"/>
              <a:sym typeface="微软雅黑"/>
            </a:endParaRPr>
          </a:p>
        </p:txBody>
      </p:sp>
      <p:sp>
        <p:nvSpPr>
          <p:cNvPr id="127" name="梯形 126"/>
          <p:cNvSpPr/>
          <p:nvPr>
            <p:custDataLst>
              <p:tags r:id="rId19"/>
            </p:custDataLst>
          </p:nvPr>
        </p:nvSpPr>
        <p:spPr>
          <a:xfrm>
            <a:off x="5431155" y="3411855"/>
            <a:ext cx="1583055" cy="71755"/>
          </a:xfrm>
          <a:prstGeom prst="trapezoid">
            <a:avLst>
              <a:gd name="adj" fmla="val 187465"/>
            </a:avLst>
          </a:prstGeom>
          <a:gradFill>
            <a:gsLst>
              <a:gs pos="0">
                <a:srgbClr val="3368FF">
                  <a:alpha val="0"/>
                </a:srgbClr>
              </a:gs>
              <a:gs pos="100000">
                <a:srgbClr val="3368FF"/>
              </a:gs>
            </a:gsLst>
            <a:lin ang="5400000" scaled="1"/>
          </a:gra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28" name="梯形 127"/>
          <p:cNvSpPr/>
          <p:nvPr>
            <p:custDataLst>
              <p:tags r:id="rId20"/>
            </p:custDataLst>
          </p:nvPr>
        </p:nvSpPr>
        <p:spPr>
          <a:xfrm>
            <a:off x="5431155" y="3058795"/>
            <a:ext cx="1583055" cy="71755"/>
          </a:xfrm>
          <a:prstGeom prst="trapezoid">
            <a:avLst>
              <a:gd name="adj" fmla="val 187465"/>
            </a:avLst>
          </a:prstGeom>
          <a:gradFill>
            <a:gsLst>
              <a:gs pos="0">
                <a:srgbClr val="3368FF">
                  <a:alpha val="0"/>
                </a:srgbClr>
              </a:gs>
              <a:gs pos="100000">
                <a:srgbClr val="3368FF"/>
              </a:gs>
            </a:gsLst>
            <a:lin ang="5400000" scaled="1"/>
          </a:gra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29" name="梯形 128"/>
          <p:cNvSpPr/>
          <p:nvPr>
            <p:custDataLst>
              <p:tags r:id="rId21"/>
            </p:custDataLst>
          </p:nvPr>
        </p:nvSpPr>
        <p:spPr>
          <a:xfrm>
            <a:off x="5431155" y="2705100"/>
            <a:ext cx="1583055" cy="71755"/>
          </a:xfrm>
          <a:prstGeom prst="trapezoid">
            <a:avLst>
              <a:gd name="adj" fmla="val 187465"/>
            </a:avLst>
          </a:prstGeom>
          <a:gradFill>
            <a:gsLst>
              <a:gs pos="0">
                <a:srgbClr val="3368FF">
                  <a:alpha val="0"/>
                </a:srgbClr>
              </a:gs>
              <a:gs pos="100000">
                <a:srgbClr val="3368FF"/>
              </a:gs>
            </a:gsLst>
            <a:lin ang="5400000" scaled="1"/>
          </a:gra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30" name="Freeform 1482"/>
          <p:cNvSpPr/>
          <p:nvPr>
            <p:custDataLst>
              <p:tags r:id="rId22"/>
            </p:custDataLst>
          </p:nvPr>
        </p:nvSpPr>
        <p:spPr>
          <a:xfrm>
            <a:off x="5433695" y="3482340"/>
            <a:ext cx="1580515" cy="71755"/>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a:ln w="3175" cap="flat" cmpd="sng" algn="ctr">
            <a:solidFill>
              <a:srgbClr val="FFFFFF"/>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31" name="Freeform 1484"/>
          <p:cNvSpPr/>
          <p:nvPr>
            <p:custDataLst>
              <p:tags r:id="rId23"/>
            </p:custDataLst>
          </p:nvPr>
        </p:nvSpPr>
        <p:spPr>
          <a:xfrm>
            <a:off x="5433695" y="3129280"/>
            <a:ext cx="1580515" cy="71755"/>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a:ln w="3175" cap="flat" cmpd="sng" algn="ctr">
            <a:solidFill>
              <a:srgbClr val="FFFFFF"/>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32" name="Freeform 1486"/>
          <p:cNvSpPr/>
          <p:nvPr>
            <p:custDataLst>
              <p:tags r:id="rId24"/>
            </p:custDataLst>
          </p:nvPr>
        </p:nvSpPr>
        <p:spPr>
          <a:xfrm>
            <a:off x="5433695" y="2776855"/>
            <a:ext cx="1580515" cy="71755"/>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a:ln w="3175" cap="flat" cmpd="sng" algn="ctr">
            <a:solidFill>
              <a:srgbClr val="FFFFFF"/>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33" name="矩形: 圆角 43"/>
          <p:cNvSpPr/>
          <p:nvPr>
            <p:custDataLst>
              <p:tags r:id="rId25"/>
            </p:custDataLst>
          </p:nvPr>
        </p:nvSpPr>
        <p:spPr>
          <a:xfrm>
            <a:off x="5581650" y="2873375"/>
            <a:ext cx="370205" cy="175260"/>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34" name="Freeform 1529"/>
          <p:cNvSpPr/>
          <p:nvPr>
            <p:custDataLst>
              <p:tags r:id="rId26"/>
            </p:custDataLst>
          </p:nvPr>
        </p:nvSpPr>
        <p:spPr>
          <a:xfrm>
            <a:off x="5603240" y="2893695"/>
            <a:ext cx="323215" cy="47625"/>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35" name="矩形: 圆角 8"/>
          <p:cNvSpPr/>
          <p:nvPr>
            <p:custDataLst>
              <p:tags r:id="rId27"/>
            </p:custDataLst>
          </p:nvPr>
        </p:nvSpPr>
        <p:spPr>
          <a:xfrm>
            <a:off x="5624195" y="2513330"/>
            <a:ext cx="269875" cy="171450"/>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36" name="Freeform 1493"/>
          <p:cNvSpPr/>
          <p:nvPr>
            <p:custDataLst>
              <p:tags r:id="rId28"/>
            </p:custDataLst>
          </p:nvPr>
        </p:nvSpPr>
        <p:spPr>
          <a:xfrm>
            <a:off x="5644515" y="2524125"/>
            <a:ext cx="226695" cy="4889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137" name="矩形: 圆角 8"/>
          <p:cNvSpPr/>
          <p:nvPr>
            <p:custDataLst>
              <p:tags r:id="rId29"/>
            </p:custDataLst>
          </p:nvPr>
        </p:nvSpPr>
        <p:spPr>
          <a:xfrm>
            <a:off x="5943600" y="2513330"/>
            <a:ext cx="269875" cy="171450"/>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38" name="Freeform 1493"/>
          <p:cNvSpPr/>
          <p:nvPr>
            <p:custDataLst>
              <p:tags r:id="rId30"/>
            </p:custDataLst>
          </p:nvPr>
        </p:nvSpPr>
        <p:spPr>
          <a:xfrm>
            <a:off x="5963920" y="2524125"/>
            <a:ext cx="226695" cy="4889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139" name="矩形: 圆角 8"/>
          <p:cNvSpPr/>
          <p:nvPr>
            <p:custDataLst>
              <p:tags r:id="rId31"/>
            </p:custDataLst>
          </p:nvPr>
        </p:nvSpPr>
        <p:spPr>
          <a:xfrm>
            <a:off x="6263005" y="2513330"/>
            <a:ext cx="269875" cy="171450"/>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40" name="Freeform 1493"/>
          <p:cNvSpPr/>
          <p:nvPr>
            <p:custDataLst>
              <p:tags r:id="rId32"/>
            </p:custDataLst>
          </p:nvPr>
        </p:nvSpPr>
        <p:spPr>
          <a:xfrm>
            <a:off x="6283325" y="2524125"/>
            <a:ext cx="226695" cy="4889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141" name="矩形: 圆角 8"/>
          <p:cNvSpPr/>
          <p:nvPr>
            <p:custDataLst>
              <p:tags r:id="rId33"/>
            </p:custDataLst>
          </p:nvPr>
        </p:nvSpPr>
        <p:spPr>
          <a:xfrm>
            <a:off x="6581775" y="2513330"/>
            <a:ext cx="269875" cy="171450"/>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42" name="Freeform 1493"/>
          <p:cNvSpPr/>
          <p:nvPr>
            <p:custDataLst>
              <p:tags r:id="rId34"/>
            </p:custDataLst>
          </p:nvPr>
        </p:nvSpPr>
        <p:spPr>
          <a:xfrm>
            <a:off x="6602730" y="2524125"/>
            <a:ext cx="226695" cy="4889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143" name="矩形: 圆角 43"/>
          <p:cNvSpPr/>
          <p:nvPr>
            <p:custDataLst>
              <p:tags r:id="rId35"/>
            </p:custDataLst>
          </p:nvPr>
        </p:nvSpPr>
        <p:spPr>
          <a:xfrm>
            <a:off x="6023610" y="2873375"/>
            <a:ext cx="370205" cy="175260"/>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44" name="Freeform 1529"/>
          <p:cNvSpPr/>
          <p:nvPr>
            <p:custDataLst>
              <p:tags r:id="rId36"/>
            </p:custDataLst>
          </p:nvPr>
        </p:nvSpPr>
        <p:spPr>
          <a:xfrm>
            <a:off x="6044565" y="2893695"/>
            <a:ext cx="323215" cy="47625"/>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solidFill>
            <a:srgbClr val="E6E6E6">
              <a:alpha val="50195"/>
            </a:srgbClr>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145" name="矩形: 圆角 43"/>
          <p:cNvSpPr/>
          <p:nvPr>
            <p:custDataLst>
              <p:tags r:id="rId37"/>
            </p:custDataLst>
          </p:nvPr>
        </p:nvSpPr>
        <p:spPr>
          <a:xfrm>
            <a:off x="6466205" y="2873375"/>
            <a:ext cx="370205" cy="175260"/>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46" name="Freeform 1529"/>
          <p:cNvSpPr/>
          <p:nvPr>
            <p:custDataLst>
              <p:tags r:id="rId38"/>
            </p:custDataLst>
          </p:nvPr>
        </p:nvSpPr>
        <p:spPr>
          <a:xfrm>
            <a:off x="6486525" y="2893695"/>
            <a:ext cx="323215" cy="47625"/>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47" name="Rectangle 1555"/>
          <p:cNvSpPr/>
          <p:nvPr>
            <p:custDataLst>
              <p:tags r:id="rId39"/>
            </p:custDataLst>
          </p:nvPr>
        </p:nvSpPr>
        <p:spPr>
          <a:xfrm>
            <a:off x="6044565" y="2891790"/>
            <a:ext cx="323215" cy="51435"/>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48" name="矩形: 圆角 48"/>
          <p:cNvSpPr/>
          <p:nvPr>
            <p:custDataLst>
              <p:tags r:id="rId40"/>
            </p:custDataLst>
          </p:nvPr>
        </p:nvSpPr>
        <p:spPr>
          <a:xfrm>
            <a:off x="5599430" y="3232785"/>
            <a:ext cx="586105" cy="163195"/>
          </a:xfrm>
          <a:prstGeom prst="roundRect">
            <a:avLst>
              <a:gd name="adj" fmla="val 1871"/>
            </a:avLst>
          </a:prstGeom>
          <a:solidFill>
            <a:srgbClr val="383838">
              <a:alpha val="0"/>
            </a:srgbClr>
          </a:solidFill>
          <a:ln w="11430" cap="flat" cmpd="sng" algn="ctr">
            <a:solidFill>
              <a:srgbClr val="668EFF"/>
            </a:solidFill>
            <a:prstDash val="dash"/>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endParaRPr>
          </a:p>
        </p:txBody>
      </p:sp>
      <p:sp>
        <p:nvSpPr>
          <p:cNvPr id="150" name="Freeform 1536"/>
          <p:cNvSpPr/>
          <p:nvPr>
            <p:custDataLst>
              <p:tags r:id="rId41"/>
            </p:custDataLst>
          </p:nvPr>
        </p:nvSpPr>
        <p:spPr>
          <a:xfrm>
            <a:off x="5619115" y="3313430"/>
            <a:ext cx="274320" cy="66675"/>
          </a:xfrm>
          <a:custGeom>
            <a:avLst/>
            <a:gdLst/>
            <a:ahLst/>
            <a:cxnLst/>
            <a:rect l="0" t="0" r="0" b="0"/>
            <a:pathLst>
              <a:path w="1716024" h="338328">
                <a:moveTo>
                  <a:pt x="0" y="338328"/>
                </a:moveTo>
                <a:lnTo>
                  <a:pt x="1716024" y="338328"/>
                </a:lnTo>
                <a:lnTo>
                  <a:pt x="1716024" y="0"/>
                </a:lnTo>
                <a:lnTo>
                  <a:pt x="0" y="0"/>
                </a:lnTo>
                <a:lnTo>
                  <a:pt x="0" y="338328"/>
                </a:lnTo>
                <a:close/>
              </a:path>
            </a:pathLst>
          </a:custGeom>
          <a:noFill/>
          <a:ln w="12191" cap="flat" cmpd="sng" algn="ctr">
            <a:solidFill>
              <a:srgbClr val="668E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151" name="Freeform 1537"/>
          <p:cNvSpPr/>
          <p:nvPr>
            <p:custDataLst>
              <p:tags r:id="rId42"/>
            </p:custDataLst>
          </p:nvPr>
        </p:nvSpPr>
        <p:spPr>
          <a:xfrm>
            <a:off x="5906770" y="3313430"/>
            <a:ext cx="262255" cy="66675"/>
          </a:xfrm>
          <a:custGeom>
            <a:avLst/>
            <a:gdLst/>
            <a:ahLst/>
            <a:cxnLst/>
            <a:rect l="0" t="0" r="0" b="0"/>
            <a:pathLst>
              <a:path w="2241804" h="338328">
                <a:moveTo>
                  <a:pt x="0" y="338328"/>
                </a:moveTo>
                <a:lnTo>
                  <a:pt x="2241804" y="338328"/>
                </a:lnTo>
                <a:lnTo>
                  <a:pt x="2241804" y="0"/>
                </a:lnTo>
                <a:lnTo>
                  <a:pt x="0" y="0"/>
                </a:lnTo>
                <a:lnTo>
                  <a:pt x="0" y="338328"/>
                </a:lnTo>
                <a:close/>
              </a:path>
            </a:pathLst>
          </a:custGeom>
          <a:noFill/>
          <a:ln w="12191" cap="flat" cmpd="sng" algn="ctr">
            <a:solidFill>
              <a:srgbClr val="668E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52" name="Rectangle 1570"/>
          <p:cNvSpPr/>
          <p:nvPr>
            <p:custDataLst>
              <p:tags r:id="rId43"/>
            </p:custDataLst>
          </p:nvPr>
        </p:nvSpPr>
        <p:spPr>
          <a:xfrm>
            <a:off x="5617210" y="3251200"/>
            <a:ext cx="551815" cy="44450"/>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54" name="Freeform 1536"/>
          <p:cNvSpPr/>
          <p:nvPr>
            <p:custDataLst>
              <p:tags r:id="rId44"/>
            </p:custDataLst>
          </p:nvPr>
        </p:nvSpPr>
        <p:spPr>
          <a:xfrm>
            <a:off x="6257925" y="3313430"/>
            <a:ext cx="274320" cy="66675"/>
          </a:xfrm>
          <a:custGeom>
            <a:avLst/>
            <a:gdLst/>
            <a:ahLst/>
            <a:cxnLst/>
            <a:rect l="0" t="0" r="0" b="0"/>
            <a:pathLst>
              <a:path w="1716024" h="338328">
                <a:moveTo>
                  <a:pt x="0" y="338328"/>
                </a:moveTo>
                <a:lnTo>
                  <a:pt x="1716024" y="338328"/>
                </a:lnTo>
                <a:lnTo>
                  <a:pt x="1716024" y="0"/>
                </a:lnTo>
                <a:lnTo>
                  <a:pt x="0" y="0"/>
                </a:lnTo>
                <a:lnTo>
                  <a:pt x="0" y="338328"/>
                </a:lnTo>
                <a:close/>
              </a:path>
            </a:pathLst>
          </a:custGeom>
          <a:noFill/>
          <a:ln w="12191" cap="flat" cmpd="sng" algn="ctr">
            <a:solidFill>
              <a:srgbClr val="668E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155" name="Freeform 1537"/>
          <p:cNvSpPr/>
          <p:nvPr>
            <p:custDataLst>
              <p:tags r:id="rId45"/>
            </p:custDataLst>
          </p:nvPr>
        </p:nvSpPr>
        <p:spPr>
          <a:xfrm>
            <a:off x="6546215" y="3313430"/>
            <a:ext cx="262255" cy="66675"/>
          </a:xfrm>
          <a:custGeom>
            <a:avLst/>
            <a:gdLst/>
            <a:ahLst/>
            <a:cxnLst/>
            <a:rect l="0" t="0" r="0" b="0"/>
            <a:pathLst>
              <a:path w="2241804" h="338328">
                <a:moveTo>
                  <a:pt x="0" y="338328"/>
                </a:moveTo>
                <a:lnTo>
                  <a:pt x="2241804" y="338328"/>
                </a:lnTo>
                <a:lnTo>
                  <a:pt x="2241804" y="0"/>
                </a:lnTo>
                <a:lnTo>
                  <a:pt x="0" y="0"/>
                </a:lnTo>
                <a:lnTo>
                  <a:pt x="0" y="338328"/>
                </a:lnTo>
                <a:close/>
              </a:path>
            </a:pathLst>
          </a:custGeom>
          <a:noFill/>
          <a:ln w="12191" cap="flat" cmpd="sng" algn="ctr">
            <a:solidFill>
              <a:srgbClr val="668E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56" name="Rectangle 1570"/>
          <p:cNvSpPr/>
          <p:nvPr>
            <p:custDataLst>
              <p:tags r:id="rId46"/>
            </p:custDataLst>
          </p:nvPr>
        </p:nvSpPr>
        <p:spPr>
          <a:xfrm>
            <a:off x="6256020" y="3248660"/>
            <a:ext cx="551815" cy="44450"/>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57" name="矩形: 圆角 48"/>
          <p:cNvSpPr/>
          <p:nvPr>
            <p:custDataLst>
              <p:tags r:id="rId47"/>
            </p:custDataLst>
          </p:nvPr>
        </p:nvSpPr>
        <p:spPr>
          <a:xfrm>
            <a:off x="6238875" y="3232785"/>
            <a:ext cx="586105" cy="163195"/>
          </a:xfrm>
          <a:prstGeom prst="roundRect">
            <a:avLst>
              <a:gd name="adj" fmla="val 1871"/>
            </a:avLst>
          </a:prstGeom>
          <a:noFill/>
          <a:ln w="11430" cap="flat" cmpd="sng" algn="ctr">
            <a:solidFill>
              <a:srgbClr val="668E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endParaRPr>
          </a:p>
        </p:txBody>
      </p:sp>
      <p:grpSp>
        <p:nvGrpSpPr>
          <p:cNvPr id="158" name="组合 157"/>
          <p:cNvGrpSpPr/>
          <p:nvPr>
            <p:custDataLst>
              <p:tags r:id="rId48"/>
            </p:custDataLst>
          </p:nvPr>
        </p:nvGrpSpPr>
        <p:grpSpPr>
          <a:xfrm>
            <a:off x="8874760" y="2491740"/>
            <a:ext cx="2159000" cy="965200"/>
            <a:chOff x="1978" y="9485"/>
            <a:chExt cx="4539" cy="2029"/>
          </a:xfrm>
        </p:grpSpPr>
        <p:sp>
          <p:nvSpPr>
            <p:cNvPr id="216" name="Shape"/>
            <p:cNvSpPr/>
            <p:nvPr>
              <p:custDataLst>
                <p:tags r:id="rId49"/>
              </p:custDataLst>
            </p:nvPr>
          </p:nvSpPr>
          <p:spPr>
            <a:xfrm>
              <a:off x="3454" y="10131"/>
              <a:ext cx="699" cy="737"/>
            </a:xfrm>
            <a:custGeom>
              <a:avLst/>
              <a:gdLst/>
              <a:ahLst/>
              <a:cxnLst>
                <a:cxn ang="0">
                  <a:pos x="wd2" y="hd2"/>
                </a:cxn>
                <a:cxn ang="5400000">
                  <a:pos x="wd2" y="hd2"/>
                </a:cxn>
                <a:cxn ang="10800000">
                  <a:pos x="wd2" y="hd2"/>
                </a:cxn>
                <a:cxn ang="16200000">
                  <a:pos x="wd2" y="hd2"/>
                </a:cxn>
              </a:cxnLst>
              <a:rect l="0" t="0" r="r" b="b"/>
              <a:pathLst>
                <a:path w="21600" h="21600" extrusionOk="0">
                  <a:moveTo>
                    <a:pt x="11375" y="0"/>
                  </a:moveTo>
                  <a:cubicBezTo>
                    <a:pt x="8463" y="0"/>
                    <a:pt x="5552" y="1056"/>
                    <a:pt x="3331" y="3165"/>
                  </a:cubicBezTo>
                  <a:cubicBezTo>
                    <a:pt x="1110" y="5274"/>
                    <a:pt x="0" y="8038"/>
                    <a:pt x="0" y="10801"/>
                  </a:cubicBezTo>
                  <a:cubicBezTo>
                    <a:pt x="0" y="13565"/>
                    <a:pt x="1110" y="16329"/>
                    <a:pt x="3331" y="18438"/>
                  </a:cubicBezTo>
                  <a:cubicBezTo>
                    <a:pt x="5552" y="20546"/>
                    <a:pt x="8463" y="21600"/>
                    <a:pt x="11375" y="21600"/>
                  </a:cubicBezTo>
                  <a:cubicBezTo>
                    <a:pt x="14286" y="21600"/>
                    <a:pt x="17197" y="20546"/>
                    <a:pt x="19418" y="18438"/>
                  </a:cubicBezTo>
                  <a:cubicBezTo>
                    <a:pt x="20341" y="17562"/>
                    <a:pt x="21061" y="16569"/>
                    <a:pt x="21600" y="15513"/>
                  </a:cubicBezTo>
                  <a:cubicBezTo>
                    <a:pt x="21198" y="15286"/>
                    <a:pt x="20815" y="15014"/>
                    <a:pt x="20469" y="14686"/>
                  </a:cubicBezTo>
                  <a:cubicBezTo>
                    <a:pt x="18210" y="12541"/>
                    <a:pt x="18210" y="9061"/>
                    <a:pt x="20469" y="6917"/>
                  </a:cubicBezTo>
                  <a:cubicBezTo>
                    <a:pt x="20815" y="6588"/>
                    <a:pt x="21198" y="6317"/>
                    <a:pt x="21600" y="6089"/>
                  </a:cubicBezTo>
                  <a:cubicBezTo>
                    <a:pt x="21061" y="5034"/>
                    <a:pt x="20341" y="4041"/>
                    <a:pt x="19418" y="3165"/>
                  </a:cubicBezTo>
                  <a:cubicBezTo>
                    <a:pt x="17197" y="1056"/>
                    <a:pt x="14286" y="0"/>
                    <a:pt x="11375" y="0"/>
                  </a:cubicBezTo>
                  <a:close/>
                </a:path>
              </a:pathLst>
            </a:custGeom>
            <a:solidFill>
              <a:srgbClr val="3368FF"/>
            </a:solidFill>
            <a:ln w="12700">
              <a:miter lim="400000"/>
            </a:ln>
          </p:spPr>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0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17" name="Shape"/>
            <p:cNvSpPr/>
            <p:nvPr>
              <p:custDataLst>
                <p:tags r:id="rId50"/>
              </p:custDataLst>
            </p:nvPr>
          </p:nvSpPr>
          <p:spPr>
            <a:xfrm>
              <a:off x="4345" y="10131"/>
              <a:ext cx="700" cy="737"/>
            </a:xfrm>
            <a:custGeom>
              <a:avLst/>
              <a:gdLst/>
              <a:ahLst/>
              <a:cxnLst>
                <a:cxn ang="0">
                  <a:pos x="wd2" y="hd2"/>
                </a:cxn>
                <a:cxn ang="5400000">
                  <a:pos x="wd2" y="hd2"/>
                </a:cxn>
                <a:cxn ang="10800000">
                  <a:pos x="wd2" y="hd2"/>
                </a:cxn>
                <a:cxn ang="16200000">
                  <a:pos x="wd2" y="hd2"/>
                </a:cxn>
              </a:cxnLst>
              <a:rect l="0" t="0" r="r" b="b"/>
              <a:pathLst>
                <a:path w="21600" h="21600" extrusionOk="0">
                  <a:moveTo>
                    <a:pt x="10224" y="0"/>
                  </a:moveTo>
                  <a:cubicBezTo>
                    <a:pt x="7313" y="0"/>
                    <a:pt x="4403" y="1056"/>
                    <a:pt x="2182" y="3165"/>
                  </a:cubicBezTo>
                  <a:cubicBezTo>
                    <a:pt x="1259" y="4041"/>
                    <a:pt x="539" y="5034"/>
                    <a:pt x="0" y="6089"/>
                  </a:cubicBezTo>
                  <a:cubicBezTo>
                    <a:pt x="402" y="6317"/>
                    <a:pt x="784" y="6588"/>
                    <a:pt x="1130" y="6917"/>
                  </a:cubicBezTo>
                  <a:cubicBezTo>
                    <a:pt x="3389" y="9061"/>
                    <a:pt x="3389" y="12541"/>
                    <a:pt x="1130" y="14686"/>
                  </a:cubicBezTo>
                  <a:cubicBezTo>
                    <a:pt x="784" y="15014"/>
                    <a:pt x="402" y="15286"/>
                    <a:pt x="0" y="15513"/>
                  </a:cubicBezTo>
                  <a:cubicBezTo>
                    <a:pt x="539" y="16569"/>
                    <a:pt x="1259" y="17562"/>
                    <a:pt x="2182" y="18438"/>
                  </a:cubicBezTo>
                  <a:cubicBezTo>
                    <a:pt x="4403" y="20546"/>
                    <a:pt x="7313" y="21600"/>
                    <a:pt x="10224" y="21600"/>
                  </a:cubicBezTo>
                  <a:cubicBezTo>
                    <a:pt x="13135" y="21600"/>
                    <a:pt x="16046" y="20546"/>
                    <a:pt x="18267" y="18438"/>
                  </a:cubicBezTo>
                  <a:cubicBezTo>
                    <a:pt x="20488" y="16329"/>
                    <a:pt x="21600" y="13565"/>
                    <a:pt x="21600" y="10801"/>
                  </a:cubicBezTo>
                  <a:cubicBezTo>
                    <a:pt x="21600" y="8038"/>
                    <a:pt x="20488" y="5274"/>
                    <a:pt x="18267" y="3165"/>
                  </a:cubicBezTo>
                  <a:cubicBezTo>
                    <a:pt x="16046" y="1056"/>
                    <a:pt x="13135" y="0"/>
                    <a:pt x="10224" y="0"/>
                  </a:cubicBezTo>
                  <a:close/>
                </a:path>
              </a:pathLst>
            </a:custGeom>
            <a:solidFill>
              <a:srgbClr val="3368FF"/>
            </a:solidFill>
            <a:ln w="12700">
              <a:miter lim="400000"/>
            </a:ln>
          </p:spPr>
          <p:txBody>
            <a:bodyPr lIns="0" tIns="0" rIns="0" bIns="0" anchor="ctr">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sz="1000" noProof="0">
                <a:ln>
                  <a:noFill/>
                </a:ln>
                <a:solidFill>
                  <a:srgbClr val="FFFFFF"/>
                </a:solidFill>
                <a:effectLst/>
                <a:uLnTx/>
                <a:uFillTx/>
                <a:latin typeface="微软雅黑"/>
                <a:ea typeface="微软雅黑"/>
                <a:cs typeface="微软雅黑"/>
                <a:sym typeface="微软雅黑"/>
              </a:endParaRPr>
            </a:p>
          </p:txBody>
        </p:sp>
        <p:sp>
          <p:nvSpPr>
            <p:cNvPr id="218" name="Circle"/>
            <p:cNvSpPr/>
            <p:nvPr>
              <p:custDataLst>
                <p:tags r:id="rId51"/>
              </p:custDataLst>
            </p:nvPr>
          </p:nvSpPr>
          <p:spPr>
            <a:xfrm>
              <a:off x="4093" y="10343"/>
              <a:ext cx="312" cy="312"/>
            </a:xfrm>
            <a:prstGeom prst="ellipse">
              <a:avLst/>
            </a:prstGeom>
            <a:solidFill>
              <a:srgbClr val="3368FF"/>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23" name="Circle"/>
            <p:cNvSpPr/>
            <p:nvPr>
              <p:custDataLst>
                <p:tags r:id="rId52"/>
              </p:custDataLst>
            </p:nvPr>
          </p:nvSpPr>
          <p:spPr>
            <a:xfrm>
              <a:off x="6037" y="9485"/>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29" name="Circle"/>
            <p:cNvSpPr/>
            <p:nvPr>
              <p:custDataLst>
                <p:tags r:id="rId53"/>
              </p:custDataLst>
            </p:nvPr>
          </p:nvSpPr>
          <p:spPr>
            <a:xfrm>
              <a:off x="6037" y="10002"/>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30" name="Circle"/>
            <p:cNvSpPr/>
            <p:nvPr>
              <p:custDataLst>
                <p:tags r:id="rId54"/>
              </p:custDataLst>
            </p:nvPr>
          </p:nvSpPr>
          <p:spPr>
            <a:xfrm>
              <a:off x="6037" y="10518"/>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31" name="Circle"/>
            <p:cNvSpPr/>
            <p:nvPr>
              <p:custDataLst>
                <p:tags r:id="rId55"/>
              </p:custDataLst>
            </p:nvPr>
          </p:nvSpPr>
          <p:spPr>
            <a:xfrm>
              <a:off x="6037" y="11034"/>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32" name="Circle"/>
            <p:cNvSpPr/>
            <p:nvPr>
              <p:custDataLst>
                <p:tags r:id="rId56"/>
              </p:custDataLst>
            </p:nvPr>
          </p:nvSpPr>
          <p:spPr>
            <a:xfrm>
              <a:off x="1978" y="9485"/>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33" name="Circle"/>
            <p:cNvSpPr/>
            <p:nvPr>
              <p:custDataLst>
                <p:tags r:id="rId57"/>
              </p:custDataLst>
            </p:nvPr>
          </p:nvSpPr>
          <p:spPr>
            <a:xfrm>
              <a:off x="1978" y="10002"/>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34" name="Circle"/>
            <p:cNvSpPr/>
            <p:nvPr>
              <p:custDataLst>
                <p:tags r:id="rId58"/>
              </p:custDataLst>
            </p:nvPr>
          </p:nvSpPr>
          <p:spPr>
            <a:xfrm>
              <a:off x="1978" y="10518"/>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35" name="Circle"/>
            <p:cNvSpPr/>
            <p:nvPr>
              <p:custDataLst>
                <p:tags r:id="rId59"/>
              </p:custDataLst>
            </p:nvPr>
          </p:nvSpPr>
          <p:spPr>
            <a:xfrm>
              <a:off x="1978" y="11034"/>
              <a:ext cx="480" cy="480"/>
            </a:xfrm>
            <a:prstGeom prst="ellipse">
              <a:avLst/>
            </a:prstGeom>
            <a:solidFill>
              <a:srgbClr val="668EFF"/>
            </a:solidFill>
            <a:ln w="12700" cap="flat">
              <a:noFill/>
              <a:miter lim="400000"/>
            </a:ln>
            <a:effectLst/>
          </p:spPr>
          <p:txBody>
            <a:bodyPr wrap="square" lIns="0" tIns="0" rIns="0" bIns="0" numCol="1" anchor="ctr">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36" name="Line"/>
            <p:cNvSpPr/>
            <p:nvPr>
              <p:custDataLst>
                <p:tags r:id="rId60"/>
              </p:custDataLst>
            </p:nvPr>
          </p:nvSpPr>
          <p:spPr>
            <a:xfrm flipH="1" flipV="1">
              <a:off x="2479" y="9810"/>
              <a:ext cx="971" cy="383"/>
            </a:xfrm>
            <a:prstGeom prst="line">
              <a:avLst/>
            </a:prstGeom>
            <a:ln w="38100">
              <a:solidFill>
                <a:srgbClr val="3368FF"/>
              </a:solidFill>
              <a:custDash>
                <a:ds d="200000" sp="200000"/>
              </a:custDash>
              <a:miter lim="400000"/>
              <a:tailEnd type="triangle"/>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37" name="Line"/>
            <p:cNvSpPr/>
            <p:nvPr>
              <p:custDataLst>
                <p:tags r:id="rId61"/>
              </p:custDataLst>
            </p:nvPr>
          </p:nvSpPr>
          <p:spPr>
            <a:xfrm flipH="1" flipV="1">
              <a:off x="2491" y="10286"/>
              <a:ext cx="858" cy="107"/>
            </a:xfrm>
            <a:prstGeom prst="line">
              <a:avLst/>
            </a:prstGeom>
            <a:ln w="38100">
              <a:solidFill>
                <a:srgbClr val="3368FF"/>
              </a:solidFill>
              <a:custDash>
                <a:ds d="200000" sp="200000"/>
              </a:custDash>
              <a:miter lim="400000"/>
              <a:tailEnd type="triangle"/>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38" name="Line"/>
            <p:cNvSpPr/>
            <p:nvPr>
              <p:custDataLst>
                <p:tags r:id="rId62"/>
              </p:custDataLst>
            </p:nvPr>
          </p:nvSpPr>
          <p:spPr>
            <a:xfrm flipH="1">
              <a:off x="2488" y="10621"/>
              <a:ext cx="865" cy="106"/>
            </a:xfrm>
            <a:prstGeom prst="line">
              <a:avLst/>
            </a:prstGeom>
            <a:ln w="38100">
              <a:solidFill>
                <a:srgbClr val="3368FF"/>
              </a:solidFill>
              <a:custDash>
                <a:ds d="200000" sp="200000"/>
              </a:custDash>
              <a:miter lim="400000"/>
              <a:tailEnd type="triangle"/>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39" name="Line"/>
            <p:cNvSpPr/>
            <p:nvPr>
              <p:custDataLst>
                <p:tags r:id="rId63"/>
              </p:custDataLst>
            </p:nvPr>
          </p:nvSpPr>
          <p:spPr>
            <a:xfrm flipH="1">
              <a:off x="2478" y="10805"/>
              <a:ext cx="977" cy="370"/>
            </a:xfrm>
            <a:prstGeom prst="line">
              <a:avLst/>
            </a:prstGeom>
            <a:ln w="38100">
              <a:solidFill>
                <a:srgbClr val="3368FF"/>
              </a:solidFill>
              <a:custDash>
                <a:ds d="200000" sp="200000"/>
              </a:custDash>
              <a:miter lim="400000"/>
              <a:tailEnd type="triangle"/>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40" name="Line"/>
            <p:cNvSpPr/>
            <p:nvPr>
              <p:custDataLst>
                <p:tags r:id="rId64"/>
              </p:custDataLst>
            </p:nvPr>
          </p:nvSpPr>
          <p:spPr>
            <a:xfrm>
              <a:off x="5029" y="10802"/>
              <a:ext cx="986" cy="376"/>
            </a:xfrm>
            <a:prstGeom prst="line">
              <a:avLst/>
            </a:prstGeom>
            <a:ln w="38100">
              <a:solidFill>
                <a:srgbClr val="3368FF"/>
              </a:solidFill>
              <a:custDash>
                <a:ds d="200000" sp="200000"/>
              </a:custDash>
              <a:miter lim="400000"/>
              <a:tailEnd type="triangle"/>
            </a:ln>
          </p:spPr>
          <p:txBody>
            <a:bodyPr lIns="0" tIns="0" rIns="0" bIns="0">
              <a:noAutofit/>
            </a:bodyPr>
            <a:lstStyle/>
            <a:p>
              <a:pPr lvl="0" algn="ctr">
                <a:spcBef>
                  <a:spcPts val="0"/>
                </a:spcBef>
                <a:spcAft>
                  <a:spcPts val="0"/>
                </a:spcAft>
                <a:buClrTx/>
                <a:buSzTx/>
                <a:buFontTx/>
                <a:defRPr>
                  <a:latin typeface="微软雅黑"/>
                  <a:ea typeface="微软雅黑"/>
                  <a:cs typeface="微软雅黑"/>
                </a:defRPr>
              </a:pPr>
              <a:endParaRPr sz="1000" noProof="0">
                <a:ln>
                  <a:noFill/>
                </a:ln>
                <a:solidFill>
                  <a:prstClr val="black"/>
                </a:solidFill>
                <a:effectLst/>
                <a:uLnTx/>
                <a:uFillTx/>
                <a:latin typeface="微软雅黑"/>
                <a:cs typeface="微软雅黑"/>
                <a:sym typeface="微软雅黑"/>
                <a:ea typeface="微软雅黑"/>
              </a:endParaRPr>
            </a:p>
          </p:txBody>
        </p:sp>
        <p:sp>
          <p:nvSpPr>
            <p:cNvPr id="241" name="Line"/>
            <p:cNvSpPr/>
            <p:nvPr>
              <p:custDataLst>
                <p:tags r:id="rId65"/>
              </p:custDataLst>
            </p:nvPr>
          </p:nvSpPr>
          <p:spPr>
            <a:xfrm>
              <a:off x="5127" y="10611"/>
              <a:ext cx="875" cy="111"/>
            </a:xfrm>
            <a:prstGeom prst="line">
              <a:avLst/>
            </a:prstGeom>
            <a:ln w="38100">
              <a:solidFill>
                <a:srgbClr val="3368FF"/>
              </a:solidFill>
              <a:custDash>
                <a:ds d="200000" sp="200000"/>
              </a:custDash>
              <a:miter lim="400000"/>
              <a:tailEnd type="triangle"/>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42" name="Line"/>
            <p:cNvSpPr/>
            <p:nvPr>
              <p:custDataLst>
                <p:tags r:id="rId66"/>
              </p:custDataLst>
            </p:nvPr>
          </p:nvSpPr>
          <p:spPr>
            <a:xfrm flipV="1">
              <a:off x="5128" y="10281"/>
              <a:ext cx="877" cy="114"/>
            </a:xfrm>
            <a:prstGeom prst="line">
              <a:avLst/>
            </a:prstGeom>
            <a:ln w="38100">
              <a:solidFill>
                <a:srgbClr val="3368FF"/>
              </a:solidFill>
              <a:custDash>
                <a:ds d="200000" sp="200000"/>
              </a:custDash>
              <a:miter lim="400000"/>
              <a:tailEnd type="triangle"/>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45" name="Line"/>
            <p:cNvSpPr/>
            <p:nvPr>
              <p:custDataLst>
                <p:tags r:id="rId67"/>
              </p:custDataLst>
            </p:nvPr>
          </p:nvSpPr>
          <p:spPr>
            <a:xfrm flipV="1">
              <a:off x="5030" y="9821"/>
              <a:ext cx="984" cy="378"/>
            </a:xfrm>
            <a:prstGeom prst="line">
              <a:avLst/>
            </a:prstGeom>
            <a:ln w="38100">
              <a:solidFill>
                <a:srgbClr val="3368FF"/>
              </a:solidFill>
              <a:custDash>
                <a:ds d="200000" sp="200000"/>
              </a:custDash>
              <a:miter lim="400000"/>
              <a:tailEnd type="triangle"/>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46" name="Line"/>
            <p:cNvSpPr/>
            <p:nvPr>
              <p:custDataLst>
                <p:tags r:id="rId68"/>
              </p:custDataLst>
            </p:nvPr>
          </p:nvSpPr>
          <p:spPr>
            <a:xfrm>
              <a:off x="3337" y="10034"/>
              <a:ext cx="467" cy="932"/>
            </a:xfrm>
            <a:custGeom>
              <a:avLst/>
              <a:gdLst/>
              <a:ahLst/>
              <a:cxnLst>
                <a:cxn ang="0">
                  <a:pos x="wd2" y="hd2"/>
                </a:cxn>
                <a:cxn ang="5400000">
                  <a:pos x="wd2" y="hd2"/>
                </a:cxn>
                <a:cxn ang="10800000">
                  <a:pos x="wd2" y="hd2"/>
                </a:cxn>
                <a:cxn ang="16200000">
                  <a:pos x="wd2" y="hd2"/>
                </a:cxn>
              </a:cxnLst>
              <a:rect l="0" t="0" r="r" b="b"/>
              <a:pathLst>
                <a:path w="21592" h="21592" extrusionOk="0">
                  <a:moveTo>
                    <a:pt x="21483" y="0"/>
                  </a:moveTo>
                  <a:cubicBezTo>
                    <a:pt x="9601" y="20"/>
                    <a:pt x="-8" y="4851"/>
                    <a:pt x="0" y="10801"/>
                  </a:cubicBezTo>
                  <a:cubicBezTo>
                    <a:pt x="9" y="16768"/>
                    <a:pt x="9678" y="21600"/>
                    <a:pt x="21592" y="21592"/>
                  </a:cubicBezTo>
                </a:path>
              </a:pathLst>
            </a:custGeom>
            <a:ln w="38100">
              <a:solidFill>
                <a:srgbClr val="3368FF"/>
              </a:solidFill>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0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47" name="Line"/>
            <p:cNvSpPr/>
            <p:nvPr>
              <p:custDataLst>
                <p:tags r:id="rId69"/>
              </p:custDataLst>
            </p:nvPr>
          </p:nvSpPr>
          <p:spPr>
            <a:xfrm>
              <a:off x="4694" y="10033"/>
              <a:ext cx="448" cy="933"/>
            </a:xfrm>
            <a:custGeom>
              <a:avLst/>
              <a:gdLst/>
              <a:ahLst/>
              <a:cxnLst>
                <a:cxn ang="0">
                  <a:pos x="wd2" y="hd2"/>
                </a:cxn>
                <a:cxn ang="5400000">
                  <a:pos x="wd2" y="hd2"/>
                </a:cxn>
                <a:cxn ang="10800000">
                  <a:pos x="wd2" y="hd2"/>
                </a:cxn>
                <a:cxn ang="16200000">
                  <a:pos x="wd2" y="hd2"/>
                </a:cxn>
              </a:cxnLst>
              <a:rect l="0" t="0" r="r" b="b"/>
              <a:pathLst>
                <a:path w="20753" h="21600" extrusionOk="0">
                  <a:moveTo>
                    <a:pt x="0" y="0"/>
                  </a:moveTo>
                  <a:cubicBezTo>
                    <a:pt x="12246" y="292"/>
                    <a:pt x="21600" y="5577"/>
                    <a:pt x="20692" y="11690"/>
                  </a:cubicBezTo>
                  <a:cubicBezTo>
                    <a:pt x="19881" y="17155"/>
                    <a:pt x="10952" y="21431"/>
                    <a:pt x="0" y="21600"/>
                  </a:cubicBezTo>
                </a:path>
              </a:pathLst>
            </a:custGeom>
            <a:ln w="38100">
              <a:solidFill>
                <a:srgbClr val="3368FF"/>
              </a:solidFill>
            </a:ln>
          </p:spPr>
          <p:txBody>
            <a:bodyPr lIns="0" tIns="0" r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sz="1000" noProof="0">
                <a:ln>
                  <a:noFill/>
                </a:ln>
                <a:solidFill>
                  <a:srgbClr val="FFFFFF"/>
                </a:solidFill>
                <a:effectLst/>
                <a:uLnTx/>
                <a:uFillTx/>
                <a:latin typeface="微软雅黑"/>
                <a:ea typeface="微软雅黑"/>
                <a:cs typeface="微软雅黑"/>
                <a:sym typeface="微软雅黑"/>
              </a:endParaRPr>
            </a:p>
          </p:txBody>
        </p:sp>
      </p:grpSp>
      <p:grpSp>
        <p:nvGrpSpPr>
          <p:cNvPr id="159" name="组合 158"/>
          <p:cNvGrpSpPr/>
          <p:nvPr>
            <p:custDataLst>
              <p:tags r:id="rId70"/>
            </p:custDataLst>
          </p:nvPr>
        </p:nvGrpSpPr>
        <p:grpSpPr>
          <a:xfrm>
            <a:off x="1816100" y="5186680"/>
            <a:ext cx="1156335" cy="1155401"/>
            <a:chOff x="2917" y="9383"/>
            <a:chExt cx="2530" cy="2529"/>
          </a:xfrm>
        </p:grpSpPr>
        <p:pic>
          <p:nvPicPr>
            <p:cNvPr id="249" name="图片 248" descr="左右箭头-2"/>
            <p:cNvPicPr>
              <a:picLocks noChangeAspect="1"/>
            </p:cNvPicPr>
            <p:nvPr>
              <p:custDataLst>
                <p:tags r:id="rId71"/>
              </p:custDataLst>
            </p:nvPr>
          </p:nvPicPr>
          <p:blipFill>
            <a:blip r:embed="rId72">
              <a:extLst>
                <a:ext uri="{96DAC541-7B7A-43D3-8B79-37D633B846F1}">
                  <asvg:svgBlip xmlns:asvg="http://schemas.microsoft.com/office/drawing/2016/SVG/main" r:embed="rId73"/>
                </a:ext>
              </a:extLst>
            </a:blip>
            <a:stretch>
              <a:fillRect/>
            </a:stretch>
          </p:blipFill>
          <p:spPr>
            <a:xfrm>
              <a:off x="4171" y="10609"/>
              <a:ext cx="79" cy="79"/>
            </a:xfrm>
            <a:prstGeom prst="rect">
              <a:avLst/>
            </a:prstGeom>
          </p:spPr>
        </p:pic>
        <p:sp>
          <p:nvSpPr>
            <p:cNvPr id="250" name="紫荆的职场Point8"/>
            <p:cNvSpPr/>
            <p:nvPr>
              <p:custDataLst>
                <p:tags r:id="rId74"/>
              </p:custDataLst>
            </p:nvPr>
          </p:nvSpPr>
          <p:spPr bwMode="auto">
            <a:xfrm>
              <a:off x="4470" y="10061"/>
              <a:ext cx="479" cy="498"/>
            </a:xfrm>
            <a:custGeom>
              <a:avLst/>
              <a:gdLst>
                <a:gd name="connsiteX0" fmla="*/ 619628 w 1306515"/>
                <a:gd name="connsiteY0" fmla="*/ 0 h 1357311"/>
                <a:gd name="connsiteX1" fmla="*/ 1306515 w 1306515"/>
                <a:gd name="connsiteY1" fmla="*/ 1189815 h 1357311"/>
                <a:gd name="connsiteX2" fmla="*/ 357258 w 1306515"/>
                <a:gd name="connsiteY2" fmla="*/ 1357311 h 1357311"/>
                <a:gd name="connsiteX3" fmla="*/ 0 w 1306515"/>
                <a:gd name="connsiteY3" fmla="*/ 738585 h 1357311"/>
              </a:gdLst>
              <a:ahLst/>
              <a:cxnLst>
                <a:cxn ang="0">
                  <a:pos x="connsiteX0" y="connsiteY0"/>
                </a:cxn>
                <a:cxn ang="0">
                  <a:pos x="connsiteX1" y="connsiteY1"/>
                </a:cxn>
                <a:cxn ang="0">
                  <a:pos x="connsiteX2" y="connsiteY2"/>
                </a:cxn>
                <a:cxn ang="0">
                  <a:pos x="connsiteX3" y="connsiteY3"/>
                </a:cxn>
              </a:cxnLst>
              <a:rect l="l" t="t" r="r" b="b"/>
              <a:pathLst>
                <a:path w="1306515" h="1357311">
                  <a:moveTo>
                    <a:pt x="619628" y="0"/>
                  </a:moveTo>
                  <a:cubicBezTo>
                    <a:pt x="981268" y="303552"/>
                    <a:pt x="1224584" y="724865"/>
                    <a:pt x="1306515" y="1189815"/>
                  </a:cubicBezTo>
                  <a:lnTo>
                    <a:pt x="357258" y="1357311"/>
                  </a:lnTo>
                  <a:cubicBezTo>
                    <a:pt x="314577" y="1115499"/>
                    <a:pt x="188060" y="896363"/>
                    <a:pt x="0" y="738585"/>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1" name="紫荆的职场Point9"/>
            <p:cNvSpPr/>
            <p:nvPr>
              <p:custDataLst>
                <p:tags r:id="rId75"/>
              </p:custDataLst>
            </p:nvPr>
          </p:nvSpPr>
          <p:spPr bwMode="auto">
            <a:xfrm>
              <a:off x="4560" y="10531"/>
              <a:ext cx="405" cy="497"/>
            </a:xfrm>
            <a:custGeom>
              <a:avLst/>
              <a:gdLst>
                <a:gd name="connsiteX0" fmla="*/ 1072263 w 1102722"/>
                <a:gd name="connsiteY0" fmla="*/ 0 h 1352548"/>
                <a:gd name="connsiteX1" fmla="*/ 833940 w 1102722"/>
                <a:gd name="connsiteY1" fmla="*/ 1352548 h 1352548"/>
                <a:gd name="connsiteX2" fmla="*/ 0 w 1102722"/>
                <a:gd name="connsiteY2" fmla="*/ 870774 h 1352548"/>
                <a:gd name="connsiteX3" fmla="*/ 123920 w 1102722"/>
                <a:gd name="connsiteY3" fmla="*/ 167449 h 1352548"/>
              </a:gdLst>
              <a:ahLst/>
              <a:cxnLst>
                <a:cxn ang="0">
                  <a:pos x="connsiteX0" y="connsiteY0"/>
                </a:cxn>
                <a:cxn ang="0">
                  <a:pos x="connsiteX1" y="connsiteY1"/>
                </a:cxn>
                <a:cxn ang="0">
                  <a:pos x="connsiteX2" y="connsiteY2"/>
                </a:cxn>
                <a:cxn ang="0">
                  <a:pos x="connsiteX3" y="connsiteY3"/>
                </a:cxn>
              </a:cxnLst>
              <a:rect l="l" t="t" r="r" b="b"/>
              <a:pathLst>
                <a:path w="1102722" h="1352548">
                  <a:moveTo>
                    <a:pt x="1072263" y="0"/>
                  </a:moveTo>
                  <a:cubicBezTo>
                    <a:pt x="1154115" y="465010"/>
                    <a:pt x="1069788" y="943736"/>
                    <a:pt x="833940" y="1352548"/>
                  </a:cubicBezTo>
                  <a:lnTo>
                    <a:pt x="0" y="870774"/>
                  </a:lnTo>
                  <a:cubicBezTo>
                    <a:pt x="122588" y="658177"/>
                    <a:pt x="166560" y="409194"/>
                    <a:pt x="123920" y="167449"/>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2" name="紫荆的职场Point10"/>
            <p:cNvSpPr/>
            <p:nvPr>
              <p:custDataLst>
                <p:tags r:id="rId76"/>
              </p:custDataLst>
            </p:nvPr>
          </p:nvSpPr>
          <p:spPr bwMode="auto">
            <a:xfrm>
              <a:off x="4344" y="10874"/>
              <a:ext cx="507" cy="502"/>
            </a:xfrm>
            <a:custGeom>
              <a:avLst/>
              <a:gdLst>
                <a:gd name="connsiteX0" fmla="*/ 547519 w 1382715"/>
                <a:gd name="connsiteY0" fmla="*/ 0 h 1365248"/>
                <a:gd name="connsiteX1" fmla="*/ 1382715 w 1382715"/>
                <a:gd name="connsiteY1" fmla="*/ 482144 h 1365248"/>
                <a:gd name="connsiteX2" fmla="*/ 329808 w 1382715"/>
                <a:gd name="connsiteY2" fmla="*/ 1365248 h 1365248"/>
                <a:gd name="connsiteX3" fmla="*/ 0 w 1382715"/>
                <a:gd name="connsiteY3" fmla="*/ 459275 h 1365248"/>
                <a:gd name="connsiteX4" fmla="*/ 547519 w 1382715"/>
                <a:gd name="connsiteY4" fmla="*/ 0 h 1365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2715" h="1365248">
                  <a:moveTo>
                    <a:pt x="547519" y="0"/>
                  </a:moveTo>
                  <a:lnTo>
                    <a:pt x="1382715" y="482144"/>
                  </a:lnTo>
                  <a:cubicBezTo>
                    <a:pt x="1146512" y="891108"/>
                    <a:pt x="773810" y="1203835"/>
                    <a:pt x="329808" y="1365248"/>
                  </a:cubicBezTo>
                  <a:lnTo>
                    <a:pt x="0" y="459275"/>
                  </a:lnTo>
                  <a:cubicBezTo>
                    <a:pt x="230866" y="375424"/>
                    <a:pt x="424556" y="212677"/>
                    <a:pt x="547519"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3" name="紫荆的职场Point11"/>
            <p:cNvSpPr/>
            <p:nvPr>
              <p:custDataLst>
                <p:tags r:id="rId77"/>
              </p:custDataLst>
            </p:nvPr>
          </p:nvSpPr>
          <p:spPr bwMode="auto">
            <a:xfrm>
              <a:off x="3932" y="11053"/>
              <a:ext cx="504" cy="377"/>
            </a:xfrm>
            <a:custGeom>
              <a:avLst/>
              <a:gdLst>
                <a:gd name="connsiteX0" fmla="*/ 329870 w 1374777"/>
                <a:gd name="connsiteY0" fmla="*/ 0 h 1026426"/>
                <a:gd name="connsiteX1" fmla="*/ 1044716 w 1374777"/>
                <a:gd name="connsiteY1" fmla="*/ 0 h 1026426"/>
                <a:gd name="connsiteX2" fmla="*/ 1374777 w 1374777"/>
                <a:gd name="connsiteY2" fmla="*/ 905312 h 1026426"/>
                <a:gd name="connsiteX3" fmla="*/ 0 w 1374777"/>
                <a:gd name="connsiteY3" fmla="*/ 905312 h 1026426"/>
              </a:gdLst>
              <a:ahLst/>
              <a:cxnLst>
                <a:cxn ang="0">
                  <a:pos x="connsiteX0" y="connsiteY0"/>
                </a:cxn>
                <a:cxn ang="0">
                  <a:pos x="connsiteX1" y="connsiteY1"/>
                </a:cxn>
                <a:cxn ang="0">
                  <a:pos x="connsiteX2" y="connsiteY2"/>
                </a:cxn>
                <a:cxn ang="0">
                  <a:pos x="connsiteX3" y="connsiteY3"/>
                </a:cxn>
              </a:cxnLst>
              <a:rect l="l" t="t" r="r" b="b"/>
              <a:pathLst>
                <a:path w="1374777" h="1026426">
                  <a:moveTo>
                    <a:pt x="329870" y="0"/>
                  </a:moveTo>
                  <a:cubicBezTo>
                    <a:pt x="560779" y="83981"/>
                    <a:pt x="813807" y="83981"/>
                    <a:pt x="1044716" y="0"/>
                  </a:cubicBezTo>
                  <a:lnTo>
                    <a:pt x="1374777" y="905312"/>
                  </a:lnTo>
                  <a:cubicBezTo>
                    <a:pt x="930692" y="1066798"/>
                    <a:pt x="443895" y="1066798"/>
                    <a:pt x="0" y="905312"/>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4" name="紫荆的职场Point12"/>
            <p:cNvSpPr/>
            <p:nvPr>
              <p:custDataLst>
                <p:tags r:id="rId78"/>
              </p:custDataLst>
            </p:nvPr>
          </p:nvSpPr>
          <p:spPr bwMode="auto">
            <a:xfrm>
              <a:off x="3518" y="10874"/>
              <a:ext cx="507" cy="502"/>
            </a:xfrm>
            <a:custGeom>
              <a:avLst/>
              <a:gdLst>
                <a:gd name="connsiteX0" fmla="*/ 834237 w 1381127"/>
                <a:gd name="connsiteY0" fmla="*/ 0 h 1365248"/>
                <a:gd name="connsiteX1" fmla="*/ 1381127 w 1381127"/>
                <a:gd name="connsiteY1" fmla="*/ 459275 h 1365248"/>
                <a:gd name="connsiteX2" fmla="*/ 1051508 w 1381127"/>
                <a:gd name="connsiteY2" fmla="*/ 1365248 h 1365248"/>
                <a:gd name="connsiteX3" fmla="*/ 0 w 1381127"/>
                <a:gd name="connsiteY3" fmla="*/ 482144 h 1365248"/>
              </a:gdLst>
              <a:ahLst/>
              <a:cxnLst>
                <a:cxn ang="0">
                  <a:pos x="connsiteX0" y="connsiteY0"/>
                </a:cxn>
                <a:cxn ang="0">
                  <a:pos x="connsiteX1" y="connsiteY1"/>
                </a:cxn>
                <a:cxn ang="0">
                  <a:pos x="connsiteX2" y="connsiteY2"/>
                </a:cxn>
                <a:cxn ang="0">
                  <a:pos x="connsiteX3" y="connsiteY3"/>
                </a:cxn>
              </a:cxnLst>
              <a:rect l="l" t="t" r="r" b="b"/>
              <a:pathLst>
                <a:path w="1381127" h="1365248">
                  <a:moveTo>
                    <a:pt x="834237" y="0"/>
                  </a:moveTo>
                  <a:cubicBezTo>
                    <a:pt x="956868" y="212677"/>
                    <a:pt x="1150527" y="375424"/>
                    <a:pt x="1381127" y="459275"/>
                  </a:cubicBezTo>
                  <a:lnTo>
                    <a:pt x="1051508" y="1365248"/>
                  </a:lnTo>
                  <a:cubicBezTo>
                    <a:pt x="608206" y="1203835"/>
                    <a:pt x="235742" y="891108"/>
                    <a:pt x="0" y="482144"/>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5" name="紫荆的职场Point13"/>
            <p:cNvSpPr/>
            <p:nvPr>
              <p:custDataLst>
                <p:tags r:id="rId79"/>
              </p:custDataLst>
            </p:nvPr>
          </p:nvSpPr>
          <p:spPr bwMode="auto">
            <a:xfrm>
              <a:off x="3404" y="10527"/>
              <a:ext cx="405" cy="497"/>
            </a:xfrm>
            <a:custGeom>
              <a:avLst/>
              <a:gdLst>
                <a:gd name="connsiteX0" fmla="*/ 30497 w 1104248"/>
                <a:gd name="connsiteY0" fmla="*/ 0 h 1352548"/>
                <a:gd name="connsiteX1" fmla="*/ 980178 w 1104248"/>
                <a:gd name="connsiteY1" fmla="*/ 167449 h 1352548"/>
                <a:gd name="connsiteX2" fmla="*/ 1104248 w 1104248"/>
                <a:gd name="connsiteY2" fmla="*/ 870774 h 1352548"/>
                <a:gd name="connsiteX3" fmla="*/ 269109 w 1104248"/>
                <a:gd name="connsiteY3" fmla="*/ 1352548 h 1352548"/>
                <a:gd name="connsiteX4" fmla="*/ 30497 w 1104248"/>
                <a:gd name="connsiteY4" fmla="*/ 0 h 135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248" h="1352548">
                  <a:moveTo>
                    <a:pt x="30497" y="0"/>
                  </a:moveTo>
                  <a:lnTo>
                    <a:pt x="980178" y="167449"/>
                  </a:lnTo>
                  <a:cubicBezTo>
                    <a:pt x="937487" y="409194"/>
                    <a:pt x="981321" y="658177"/>
                    <a:pt x="1104248" y="870774"/>
                  </a:cubicBezTo>
                  <a:lnTo>
                    <a:pt x="269109" y="1352548"/>
                  </a:lnTo>
                  <a:cubicBezTo>
                    <a:pt x="32975" y="943736"/>
                    <a:pt x="-51454" y="465010"/>
                    <a:pt x="30497"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6" name="紫荆的职场Point14"/>
            <p:cNvSpPr/>
            <p:nvPr>
              <p:custDataLst>
                <p:tags r:id="rId80"/>
              </p:custDataLst>
            </p:nvPr>
          </p:nvSpPr>
          <p:spPr bwMode="auto">
            <a:xfrm>
              <a:off x="3421" y="10061"/>
              <a:ext cx="479" cy="498"/>
            </a:xfrm>
            <a:custGeom>
              <a:avLst/>
              <a:gdLst>
                <a:gd name="connsiteX0" fmla="*/ 686888 w 1306515"/>
                <a:gd name="connsiteY0" fmla="*/ 0 h 1357311"/>
                <a:gd name="connsiteX1" fmla="*/ 1306515 w 1306515"/>
                <a:gd name="connsiteY1" fmla="*/ 738593 h 1357311"/>
                <a:gd name="connsiteX2" fmla="*/ 949353 w 1306515"/>
                <a:gd name="connsiteY2" fmla="*/ 1357311 h 1357311"/>
                <a:gd name="connsiteX3" fmla="*/ 0 w 1306515"/>
                <a:gd name="connsiteY3" fmla="*/ 1189887 h 1357311"/>
                <a:gd name="connsiteX4" fmla="*/ 686888 w 1306515"/>
                <a:gd name="connsiteY4" fmla="*/ 0 h 13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6515" h="1357311">
                  <a:moveTo>
                    <a:pt x="686888" y="0"/>
                  </a:moveTo>
                  <a:lnTo>
                    <a:pt x="1306515" y="738593"/>
                  </a:lnTo>
                  <a:cubicBezTo>
                    <a:pt x="1118455" y="896393"/>
                    <a:pt x="991938" y="1115465"/>
                    <a:pt x="949353" y="1357311"/>
                  </a:cubicBezTo>
                  <a:lnTo>
                    <a:pt x="0" y="1189887"/>
                  </a:lnTo>
                  <a:cubicBezTo>
                    <a:pt x="82027" y="724776"/>
                    <a:pt x="325248" y="303499"/>
                    <a:pt x="686888"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7" name="紫荆的职场Point15"/>
            <p:cNvSpPr/>
            <p:nvPr>
              <p:custDataLst>
                <p:tags r:id="rId81"/>
              </p:custDataLst>
            </p:nvPr>
          </p:nvSpPr>
          <p:spPr bwMode="auto">
            <a:xfrm>
              <a:off x="3696" y="9869"/>
              <a:ext cx="474" cy="443"/>
            </a:xfrm>
            <a:custGeom>
              <a:avLst/>
              <a:gdLst>
                <a:gd name="connsiteX0" fmla="*/ 1290640 w 1290640"/>
                <a:gd name="connsiteY0" fmla="*/ 0 h 1208086"/>
                <a:gd name="connsiteX1" fmla="*/ 1290640 w 1290640"/>
                <a:gd name="connsiteY1" fmla="*/ 963840 h 1208086"/>
                <a:gd name="connsiteX2" fmla="*/ 619599 w 1290640"/>
                <a:gd name="connsiteY2" fmla="*/ 1208086 h 1208086"/>
                <a:gd name="connsiteX3" fmla="*/ 0 w 1290640"/>
                <a:gd name="connsiteY3" fmla="*/ 469631 h 1208086"/>
                <a:gd name="connsiteX4" fmla="*/ 1290640 w 1290640"/>
                <a:gd name="connsiteY4" fmla="*/ 0 h 120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40" h="1208086">
                  <a:moveTo>
                    <a:pt x="1290640" y="0"/>
                  </a:moveTo>
                  <a:lnTo>
                    <a:pt x="1290640" y="963840"/>
                  </a:lnTo>
                  <a:cubicBezTo>
                    <a:pt x="1045239" y="963840"/>
                    <a:pt x="807650" y="1050336"/>
                    <a:pt x="619599" y="1208086"/>
                  </a:cubicBezTo>
                  <a:lnTo>
                    <a:pt x="0" y="469631"/>
                  </a:lnTo>
                  <a:cubicBezTo>
                    <a:pt x="361623" y="166324"/>
                    <a:pt x="818701" y="0"/>
                    <a:pt x="1290640"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8" name="紫荆的职场Point16"/>
            <p:cNvSpPr/>
            <p:nvPr>
              <p:custDataLst>
                <p:tags r:id="rId82"/>
              </p:custDataLst>
            </p:nvPr>
          </p:nvSpPr>
          <p:spPr bwMode="auto">
            <a:xfrm>
              <a:off x="4200" y="9869"/>
              <a:ext cx="474" cy="443"/>
            </a:xfrm>
            <a:custGeom>
              <a:avLst/>
              <a:gdLst>
                <a:gd name="connsiteX0" fmla="*/ 0 w 1290640"/>
                <a:gd name="connsiteY0" fmla="*/ 0 h 1208086"/>
                <a:gd name="connsiteX1" fmla="*/ 1290640 w 1290640"/>
                <a:gd name="connsiteY1" fmla="*/ 469631 h 1208086"/>
                <a:gd name="connsiteX2" fmla="*/ 671133 w 1290640"/>
                <a:gd name="connsiteY2" fmla="*/ 1208086 h 1208086"/>
                <a:gd name="connsiteX3" fmla="*/ 0 w 1290640"/>
                <a:gd name="connsiteY3" fmla="*/ 963840 h 1208086"/>
              </a:gdLst>
              <a:ahLst/>
              <a:cxnLst>
                <a:cxn ang="0">
                  <a:pos x="connsiteX0" y="connsiteY0"/>
                </a:cxn>
                <a:cxn ang="0">
                  <a:pos x="connsiteX1" y="connsiteY1"/>
                </a:cxn>
                <a:cxn ang="0">
                  <a:pos x="connsiteX2" y="connsiteY2"/>
                </a:cxn>
                <a:cxn ang="0">
                  <a:pos x="connsiteX3" y="connsiteY3"/>
                </a:cxn>
              </a:cxnLst>
              <a:rect l="l" t="t" r="r" b="b"/>
              <a:pathLst>
                <a:path w="1290640" h="1208086">
                  <a:moveTo>
                    <a:pt x="0" y="0"/>
                  </a:moveTo>
                  <a:cubicBezTo>
                    <a:pt x="472060" y="0"/>
                    <a:pt x="929070" y="166324"/>
                    <a:pt x="1290640" y="469631"/>
                  </a:cubicBezTo>
                  <a:lnTo>
                    <a:pt x="671133" y="1208086"/>
                  </a:lnTo>
                  <a:cubicBezTo>
                    <a:pt x="483109" y="1050336"/>
                    <a:pt x="245555" y="963840"/>
                    <a:pt x="0" y="96384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9" name="紫荆的职场Point17"/>
            <p:cNvSpPr/>
            <p:nvPr>
              <p:custDataLst>
                <p:tags r:id="rId83"/>
              </p:custDataLst>
            </p:nvPr>
          </p:nvSpPr>
          <p:spPr>
            <a:xfrm>
              <a:off x="3820" y="10294"/>
              <a:ext cx="706" cy="706"/>
            </a:xfrm>
            <a:prstGeom prst="ellipse">
              <a:avLst/>
            </a:prstGeom>
            <a:solidFill>
              <a:srgbClr val="3368FF"/>
            </a:solidFill>
            <a:ln w="25617"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spcBef>
                  <a:spcPct val="0"/>
                </a:spcBef>
                <a:spcAft>
                  <a:spcPct val="0"/>
                </a:spcAft>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262" name="任意多边形: 形状 54"/>
            <p:cNvSpPr/>
            <p:nvPr>
              <p:custDataLst>
                <p:tags r:id="rId84"/>
              </p:custDataLst>
            </p:nvPr>
          </p:nvSpPr>
          <p:spPr>
            <a:xfrm>
              <a:off x="3005" y="9466"/>
              <a:ext cx="1184" cy="1176"/>
            </a:xfrm>
            <a:custGeom>
              <a:avLst/>
              <a:gdLst>
                <a:gd name="connsiteX0" fmla="*/ 720258 w 2418588"/>
                <a:gd name="connsiteY0" fmla="*/ 2400151 h 2400300"/>
                <a:gd name="connsiteX1" fmla="*/ 2414280 w 2418588"/>
                <a:gd name="connsiteY1" fmla="*/ 718417 h 2400300"/>
                <a:gd name="connsiteX2" fmla="*/ 2419805 w 2418588"/>
                <a:gd name="connsiteY2" fmla="*/ 718417 h 2400300"/>
                <a:gd name="connsiteX3" fmla="*/ 2419805 w 2418588"/>
                <a:gd name="connsiteY3" fmla="*/ -54 h 2400300"/>
                <a:gd name="connsiteX4" fmla="*/ 2413899 w 2418588"/>
                <a:gd name="connsiteY4" fmla="*/ -54 h 2400300"/>
                <a:gd name="connsiteX5" fmla="*/ 1216 w 2418588"/>
                <a:gd name="connsiteY5" fmla="*/ 2400247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8588" h="2400300">
                  <a:moveTo>
                    <a:pt x="720258" y="2400151"/>
                  </a:moveTo>
                  <a:cubicBezTo>
                    <a:pt x="727117" y="1470225"/>
                    <a:pt x="1482830" y="718417"/>
                    <a:pt x="2414280" y="718417"/>
                  </a:cubicBezTo>
                  <a:lnTo>
                    <a:pt x="2419805" y="718417"/>
                  </a:lnTo>
                  <a:lnTo>
                    <a:pt x="2419805" y="-54"/>
                  </a:lnTo>
                  <a:lnTo>
                    <a:pt x="2413899" y="-54"/>
                  </a:lnTo>
                  <a:cubicBezTo>
                    <a:pt x="1085543" y="-54"/>
                    <a:pt x="7980" y="1073509"/>
                    <a:pt x="1216" y="2400247"/>
                  </a:cubicBezTo>
                  <a:close/>
                </a:path>
              </a:pathLst>
            </a:custGeom>
            <a:solidFill>
              <a:srgbClr val="3368FF"/>
            </a:solidFill>
            <a:ln w="9525"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63" name="任意多边形: 形状 55"/>
            <p:cNvSpPr/>
            <p:nvPr>
              <p:custDataLst>
                <p:tags r:id="rId85"/>
              </p:custDataLst>
            </p:nvPr>
          </p:nvSpPr>
          <p:spPr>
            <a:xfrm>
              <a:off x="2917" y="10298"/>
              <a:ext cx="1271" cy="1532"/>
            </a:xfrm>
            <a:custGeom>
              <a:avLst/>
              <a:gdLst>
                <a:gd name="connsiteX0" fmla="*/ 2592778 w 2596610"/>
                <a:gd name="connsiteY0" fmla="*/ 2409581 h 3128200"/>
                <a:gd name="connsiteX1" fmla="*/ 898471 w 2596610"/>
                <a:gd name="connsiteY1" fmla="*/ 715274 h 3128200"/>
                <a:gd name="connsiteX2" fmla="*/ 898471 w 2596610"/>
                <a:gd name="connsiteY2" fmla="*/ 715179 h 3128200"/>
                <a:gd name="connsiteX3" fmla="*/ 898471 w 2596610"/>
                <a:gd name="connsiteY3" fmla="*/ 707749 h 3128200"/>
                <a:gd name="connsiteX4" fmla="*/ 1069921 w 2596610"/>
                <a:gd name="connsiteY4" fmla="*/ 707749 h 3128200"/>
                <a:gd name="connsiteX5" fmla="*/ 535568 w 2596610"/>
                <a:gd name="connsiteY5" fmla="*/ -54 h 3128200"/>
                <a:gd name="connsiteX6" fmla="*/ 1216 w 2596610"/>
                <a:gd name="connsiteY6" fmla="*/ 707749 h 3128200"/>
                <a:gd name="connsiteX7" fmla="*/ 179428 w 2596610"/>
                <a:gd name="connsiteY7" fmla="*/ 707749 h 3128200"/>
                <a:gd name="connsiteX8" fmla="*/ 179428 w 2596610"/>
                <a:gd name="connsiteY8" fmla="*/ 715179 h 3128200"/>
                <a:gd name="connsiteX9" fmla="*/ 2592302 w 2596610"/>
                <a:gd name="connsiteY9" fmla="*/ 3128147 h 3128200"/>
                <a:gd name="connsiteX10" fmla="*/ 2597826 w 2596610"/>
                <a:gd name="connsiteY10" fmla="*/ 3128147 h 3128200"/>
                <a:gd name="connsiteX11" fmla="*/ 2597826 w 2596610"/>
                <a:gd name="connsiteY11" fmla="*/ 2409391 h 312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6610" h="3128200">
                  <a:moveTo>
                    <a:pt x="2592778" y="2409581"/>
                  </a:moveTo>
                  <a:cubicBezTo>
                    <a:pt x="1657042" y="2409581"/>
                    <a:pt x="898471" y="1651010"/>
                    <a:pt x="898471" y="715274"/>
                  </a:cubicBezTo>
                  <a:cubicBezTo>
                    <a:pt x="898471" y="715245"/>
                    <a:pt x="898471" y="715207"/>
                    <a:pt x="898471" y="715179"/>
                  </a:cubicBezTo>
                  <a:cubicBezTo>
                    <a:pt x="898471" y="712702"/>
                    <a:pt x="898471" y="710226"/>
                    <a:pt x="898471" y="707749"/>
                  </a:cubicBezTo>
                  <a:lnTo>
                    <a:pt x="1069921" y="707749"/>
                  </a:lnTo>
                  <a:lnTo>
                    <a:pt x="535568" y="-54"/>
                  </a:lnTo>
                  <a:lnTo>
                    <a:pt x="1216" y="707749"/>
                  </a:lnTo>
                  <a:lnTo>
                    <a:pt x="179428" y="707749"/>
                  </a:lnTo>
                  <a:cubicBezTo>
                    <a:pt x="179428" y="710226"/>
                    <a:pt x="179428" y="712702"/>
                    <a:pt x="179428" y="715179"/>
                  </a:cubicBezTo>
                  <a:cubicBezTo>
                    <a:pt x="179428" y="2047822"/>
                    <a:pt x="1259754" y="3128147"/>
                    <a:pt x="2592302" y="3128147"/>
                  </a:cubicBezTo>
                  <a:lnTo>
                    <a:pt x="2597826" y="3128147"/>
                  </a:lnTo>
                  <a:lnTo>
                    <a:pt x="2597826" y="2409391"/>
                  </a:lnTo>
                  <a:close/>
                </a:path>
              </a:pathLst>
            </a:custGeom>
            <a:solidFill>
              <a:srgbClr val="668EFF"/>
            </a:soli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64" name="任意多边形: 形状 56"/>
            <p:cNvSpPr/>
            <p:nvPr>
              <p:custDataLst>
                <p:tags r:id="rId86"/>
              </p:custDataLst>
            </p:nvPr>
          </p:nvSpPr>
          <p:spPr>
            <a:xfrm>
              <a:off x="3848" y="10642"/>
              <a:ext cx="1519" cy="1270"/>
            </a:xfrm>
            <a:custGeom>
              <a:avLst/>
              <a:gdLst>
                <a:gd name="connsiteX0" fmla="*/ 3104937 w 3103721"/>
                <a:gd name="connsiteY0" fmla="*/ 12520 h 2592038"/>
                <a:gd name="connsiteX1" fmla="*/ 3104937 w 3103721"/>
                <a:gd name="connsiteY1" fmla="*/ -54 h 2592038"/>
                <a:gd name="connsiteX2" fmla="*/ 2386180 w 3103721"/>
                <a:gd name="connsiteY2" fmla="*/ -54 h 2592038"/>
                <a:gd name="connsiteX3" fmla="*/ 2386180 w 3103721"/>
                <a:gd name="connsiteY3" fmla="*/ 12520 h 2592038"/>
                <a:gd name="connsiteX4" fmla="*/ 708923 w 3103721"/>
                <a:gd name="connsiteY4" fmla="*/ 1706541 h 2592038"/>
                <a:gd name="connsiteX5" fmla="*/ 708923 w 3103721"/>
                <a:gd name="connsiteY5" fmla="*/ 1523280 h 2592038"/>
                <a:gd name="connsiteX6" fmla="*/ 1216 w 3103721"/>
                <a:gd name="connsiteY6" fmla="*/ 2057632 h 2592038"/>
                <a:gd name="connsiteX7" fmla="*/ 708923 w 3103721"/>
                <a:gd name="connsiteY7" fmla="*/ 2591985 h 2592038"/>
                <a:gd name="connsiteX8" fmla="*/ 708923 w 3103721"/>
                <a:gd name="connsiteY8" fmla="*/ 2425297 h 2592038"/>
                <a:gd name="connsiteX9" fmla="*/ 3104937 w 3103721"/>
                <a:gd name="connsiteY9" fmla="*/ 12520 h 259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3721" h="2592038">
                  <a:moveTo>
                    <a:pt x="3104937" y="12520"/>
                  </a:moveTo>
                  <a:cubicBezTo>
                    <a:pt x="3104937" y="8329"/>
                    <a:pt x="3104937" y="4137"/>
                    <a:pt x="3104937" y="-54"/>
                  </a:cubicBezTo>
                  <a:lnTo>
                    <a:pt x="2386180" y="-54"/>
                  </a:lnTo>
                  <a:cubicBezTo>
                    <a:pt x="2386180" y="4137"/>
                    <a:pt x="2386180" y="8329"/>
                    <a:pt x="2386180" y="12520"/>
                  </a:cubicBezTo>
                  <a:cubicBezTo>
                    <a:pt x="2386123" y="941550"/>
                    <a:pt x="1637906" y="1697244"/>
                    <a:pt x="708923" y="1706541"/>
                  </a:cubicBezTo>
                  <a:lnTo>
                    <a:pt x="708923" y="1523280"/>
                  </a:lnTo>
                  <a:lnTo>
                    <a:pt x="1216" y="2057632"/>
                  </a:lnTo>
                  <a:lnTo>
                    <a:pt x="708923" y="2591985"/>
                  </a:lnTo>
                  <a:lnTo>
                    <a:pt x="708923" y="2425297"/>
                  </a:lnTo>
                  <a:cubicBezTo>
                    <a:pt x="2033755" y="2416153"/>
                    <a:pt x="3104937" y="1339542"/>
                    <a:pt x="3104937" y="12520"/>
                  </a:cubicBezTo>
                  <a:close/>
                </a:path>
              </a:pathLst>
            </a:custGeom>
            <a:solidFill>
              <a:srgbClr val="3368FF"/>
            </a:solidFill>
            <a:ln w="9525"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65" name="任意多边形: 形状 57"/>
            <p:cNvSpPr/>
            <p:nvPr>
              <p:custDataLst>
                <p:tags r:id="rId87"/>
              </p:custDataLst>
            </p:nvPr>
          </p:nvSpPr>
          <p:spPr>
            <a:xfrm>
              <a:off x="4188" y="9466"/>
              <a:ext cx="1259" cy="1517"/>
            </a:xfrm>
            <a:custGeom>
              <a:avLst/>
              <a:gdLst>
                <a:gd name="connsiteX0" fmla="*/ 2408279 w 2570511"/>
                <a:gd name="connsiteY0" fmla="*/ 2389864 h 3097625"/>
                <a:gd name="connsiteX1" fmla="*/ 1216 w 2570511"/>
                <a:gd name="connsiteY1" fmla="*/ -54 h 3097625"/>
                <a:gd name="connsiteX2" fmla="*/ 1216 w 2570511"/>
                <a:gd name="connsiteY2" fmla="*/ 718608 h 3097625"/>
                <a:gd name="connsiteX3" fmla="*/ 1689522 w 2570511"/>
                <a:gd name="connsiteY3" fmla="*/ 2389864 h 3097625"/>
                <a:gd name="connsiteX4" fmla="*/ 1503023 w 2570511"/>
                <a:gd name="connsiteY4" fmla="*/ 2389864 h 3097625"/>
                <a:gd name="connsiteX5" fmla="*/ 2037375 w 2570511"/>
                <a:gd name="connsiteY5" fmla="*/ 3097572 h 3097625"/>
                <a:gd name="connsiteX6" fmla="*/ 2571728 w 2570511"/>
                <a:gd name="connsiteY6" fmla="*/ 2389864 h 309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0511" h="3097625">
                  <a:moveTo>
                    <a:pt x="2408279" y="2389864"/>
                  </a:moveTo>
                  <a:cubicBezTo>
                    <a:pt x="2395611" y="1069604"/>
                    <a:pt x="1323667" y="2899"/>
                    <a:pt x="1216" y="-54"/>
                  </a:cubicBezTo>
                  <a:lnTo>
                    <a:pt x="1216" y="718608"/>
                  </a:lnTo>
                  <a:cubicBezTo>
                    <a:pt x="926760" y="721465"/>
                    <a:pt x="1677616" y="1466511"/>
                    <a:pt x="1689522" y="2389864"/>
                  </a:cubicBezTo>
                  <a:lnTo>
                    <a:pt x="1503023" y="2389864"/>
                  </a:lnTo>
                  <a:lnTo>
                    <a:pt x="2037375" y="3097572"/>
                  </a:lnTo>
                  <a:lnTo>
                    <a:pt x="2571728" y="2389864"/>
                  </a:lnTo>
                  <a:close/>
                </a:path>
              </a:pathLst>
            </a:custGeom>
            <a:solidFill>
              <a:srgbClr val="668EFF"/>
            </a:soli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66" name="任意多边形: 形状 59"/>
            <p:cNvSpPr/>
            <p:nvPr>
              <p:custDataLst>
                <p:tags r:id="rId88"/>
              </p:custDataLst>
            </p:nvPr>
          </p:nvSpPr>
          <p:spPr>
            <a:xfrm>
              <a:off x="4150" y="9383"/>
              <a:ext cx="352" cy="524"/>
            </a:xfrm>
            <a:custGeom>
              <a:avLst/>
              <a:gdLst>
                <a:gd name="connsiteX0" fmla="*/ 0 w 718946"/>
                <a:gd name="connsiteY0" fmla="*/ 0 h 1068704"/>
                <a:gd name="connsiteX1" fmla="*/ 718947 w 718946"/>
                <a:gd name="connsiteY1" fmla="*/ 534353 h 1068704"/>
                <a:gd name="connsiteX2" fmla="*/ 0 w 718946"/>
                <a:gd name="connsiteY2" fmla="*/ 1068705 h 1068704"/>
                <a:gd name="connsiteX3" fmla="*/ 0 w 718946"/>
                <a:gd name="connsiteY3" fmla="*/ 0 h 1068704"/>
              </a:gdLst>
              <a:ahLst/>
              <a:cxnLst>
                <a:cxn ang="0">
                  <a:pos x="connsiteX0" y="connsiteY0"/>
                </a:cxn>
                <a:cxn ang="0">
                  <a:pos x="connsiteX1" y="connsiteY1"/>
                </a:cxn>
                <a:cxn ang="0">
                  <a:pos x="connsiteX2" y="connsiteY2"/>
                </a:cxn>
                <a:cxn ang="0">
                  <a:pos x="connsiteX3" y="connsiteY3"/>
                </a:cxn>
              </a:cxnLst>
              <a:rect l="l" t="t" r="r" b="b"/>
              <a:pathLst>
                <a:path w="718946" h="1068704">
                  <a:moveTo>
                    <a:pt x="0" y="0"/>
                  </a:moveTo>
                  <a:lnTo>
                    <a:pt x="718947" y="534353"/>
                  </a:lnTo>
                  <a:lnTo>
                    <a:pt x="0" y="1068705"/>
                  </a:lnTo>
                  <a:lnTo>
                    <a:pt x="0" y="0"/>
                  </a:lnTo>
                  <a:close/>
                </a:path>
              </a:pathLst>
            </a:custGeom>
            <a:solidFill>
              <a:srgbClr val="3368FF"/>
            </a:solidFill>
            <a:ln w="9525"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grpSp>
        <p:nvGrpSpPr>
          <p:cNvPr id="161" name="组合 160"/>
          <p:cNvGrpSpPr/>
          <p:nvPr>
            <p:custDataLst>
              <p:tags r:id="rId89"/>
            </p:custDataLst>
          </p:nvPr>
        </p:nvGrpSpPr>
        <p:grpSpPr>
          <a:xfrm>
            <a:off x="9033510" y="5218430"/>
            <a:ext cx="1974850" cy="974725"/>
            <a:chOff x="759" y="11416"/>
            <a:chExt cx="6502" cy="3209"/>
          </a:xfrm>
        </p:grpSpPr>
        <p:grpSp>
          <p:nvGrpSpPr>
            <p:cNvPr id="280" name="天蝎PPT原创©1"/>
            <p:cNvGrpSpPr/>
            <p:nvPr>
              <p:custDataLst>
                <p:tags r:id="rId90"/>
              </p:custDataLst>
            </p:nvPr>
          </p:nvGrpSpPr>
          <p:grpSpPr>
            <a:xfrm>
              <a:off x="760" y="11850"/>
              <a:ext cx="6496" cy="2138"/>
              <a:chOff x="371833" y="1813205"/>
              <a:chExt cx="11650653" cy="1175604"/>
            </a:xfrm>
            <a:solidFill>
              <a:srgbClr val="B3D4FE"/>
            </a:solidFill>
          </p:grpSpPr>
          <p:sp>
            <p:nvSpPr>
              <p:cNvPr id="281" name="天蝎PPT原创©1-1"/>
              <p:cNvSpPr/>
              <p:nvPr>
                <p:custDataLst>
                  <p:tags r:id="rId91"/>
                </p:custDataLst>
              </p:nvPr>
            </p:nvSpPr>
            <p:spPr>
              <a:xfrm>
                <a:off x="371833"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282" name="天蝎PPT原创©1-2"/>
              <p:cNvSpPr/>
              <p:nvPr>
                <p:custDataLst>
                  <p:tags r:id="rId92"/>
                </p:custDataLst>
              </p:nvPr>
            </p:nvSpPr>
            <p:spPr>
              <a:xfrm>
                <a:off x="3318233"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287" name="天蝎PPT原创©1-3"/>
              <p:cNvSpPr/>
              <p:nvPr>
                <p:custDataLst>
                  <p:tags r:id="rId93"/>
                </p:custDataLst>
              </p:nvPr>
            </p:nvSpPr>
            <p:spPr>
              <a:xfrm>
                <a:off x="6247699"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288" name="天蝎PPT原创©1-4"/>
              <p:cNvSpPr/>
              <p:nvPr>
                <p:custDataLst>
                  <p:tags r:id="rId94"/>
                </p:custDataLst>
              </p:nvPr>
            </p:nvSpPr>
            <p:spPr>
              <a:xfrm>
                <a:off x="9194099"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grpSp>
        <p:sp>
          <p:nvSpPr>
            <p:cNvPr id="289" name="天蝎PPT原创©2-1"/>
            <p:cNvSpPr/>
            <p:nvPr>
              <p:custDataLst>
                <p:tags r:id="rId95"/>
              </p:custDataLst>
            </p:nvPr>
          </p:nvSpPr>
          <p:spPr>
            <a:xfrm>
              <a:off x="765" y="11850"/>
              <a:ext cx="1577" cy="551"/>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290" name="天蝎PPT原创©2-2"/>
            <p:cNvSpPr/>
            <p:nvPr>
              <p:custDataLst>
                <p:tags r:id="rId96"/>
              </p:custDataLst>
            </p:nvPr>
          </p:nvSpPr>
          <p:spPr>
            <a:xfrm>
              <a:off x="2408" y="11850"/>
              <a:ext cx="1577" cy="551"/>
            </a:xfrm>
            <a:prstGeom prst="rect">
              <a:avLst/>
            </a:prstGeom>
            <a:solidFill>
              <a:srgbClr val="3368FF"/>
            </a:solidFill>
            <a:ln>
              <a:noFill/>
            </a:ln>
          </p:spPr>
          <p:txBody>
            <a:bodyPr spcFirstLastPara="1" wrap="square" lIns="0" tIns="0" rIns="0" bIns="0" rtlCol="0" anchor="ctr" anchorCtr="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96" name="天蝎PPT原创©2-3"/>
            <p:cNvSpPr/>
            <p:nvPr>
              <p:custDataLst>
                <p:tags r:id="rId97"/>
              </p:custDataLst>
            </p:nvPr>
          </p:nvSpPr>
          <p:spPr>
            <a:xfrm>
              <a:off x="4042" y="11850"/>
              <a:ext cx="1577" cy="551"/>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297" name="天蝎PPT原创©2-4"/>
            <p:cNvSpPr/>
            <p:nvPr>
              <p:custDataLst>
                <p:tags r:id="rId98"/>
              </p:custDataLst>
            </p:nvPr>
          </p:nvSpPr>
          <p:spPr>
            <a:xfrm>
              <a:off x="5684" y="11850"/>
              <a:ext cx="1577" cy="551"/>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298" name="天蝎PPT原创©7"/>
            <p:cNvSpPr/>
            <p:nvPr>
              <p:custDataLst>
                <p:tags r:id="rId99"/>
              </p:custDataLst>
            </p:nvPr>
          </p:nvSpPr>
          <p:spPr>
            <a:xfrm>
              <a:off x="765" y="14069"/>
              <a:ext cx="1040" cy="556"/>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99" name="天蝎PPT原创©8"/>
            <p:cNvSpPr/>
            <p:nvPr>
              <p:custDataLst>
                <p:tags r:id="rId100"/>
              </p:custDataLst>
            </p:nvPr>
          </p:nvSpPr>
          <p:spPr>
            <a:xfrm>
              <a:off x="1848" y="14069"/>
              <a:ext cx="5413" cy="556"/>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algn="ctr">
                <a:defRPr>
                  <a:solidFill>
                    <a:srgbClr val="383838"/>
                  </a:solidFill>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300" name="天蝎PPT原创©18"/>
            <p:cNvSpPr/>
            <p:nvPr>
              <p:custDataLst>
                <p:tags r:id="rId101"/>
              </p:custDataLst>
            </p:nvPr>
          </p:nvSpPr>
          <p:spPr>
            <a:xfrm rot="5400000">
              <a:off x="3849" y="8442"/>
              <a:ext cx="438" cy="6386"/>
            </a:xfrm>
            <a:custGeom>
              <a:avLst/>
              <a:gdLst>
                <a:gd name="connsiteX0" fmla="*/ 0 w 298898"/>
                <a:gd name="connsiteY0" fmla="*/ 257670 h 10698196"/>
                <a:gd name="connsiteX1" fmla="*/ 149449 w 298898"/>
                <a:gd name="connsiteY1" fmla="*/ 0 h 10698196"/>
                <a:gd name="connsiteX2" fmla="*/ 298898 w 298898"/>
                <a:gd name="connsiteY2" fmla="*/ 257670 h 10698196"/>
                <a:gd name="connsiteX3" fmla="*/ 213612 w 298898"/>
                <a:gd name="connsiteY3" fmla="*/ 257670 h 10698196"/>
                <a:gd name="connsiteX4" fmla="*/ 213612 w 298898"/>
                <a:gd name="connsiteY4" fmla="*/ 10698196 h 10698196"/>
                <a:gd name="connsiteX5" fmla="*/ 87002 w 298898"/>
                <a:gd name="connsiteY5" fmla="*/ 10698196 h 10698196"/>
                <a:gd name="connsiteX6" fmla="*/ 87002 w 298898"/>
                <a:gd name="connsiteY6" fmla="*/ 257670 h 10698196"/>
                <a:gd name="connsiteX0-1" fmla="*/ 0 w 270261"/>
                <a:gd name="connsiteY0-2" fmla="*/ 271117 h 10698196"/>
                <a:gd name="connsiteX1-3" fmla="*/ 120812 w 270261"/>
                <a:gd name="connsiteY1-4" fmla="*/ 0 h 10698196"/>
                <a:gd name="connsiteX2-5" fmla="*/ 270261 w 270261"/>
                <a:gd name="connsiteY2-6" fmla="*/ 257670 h 10698196"/>
                <a:gd name="connsiteX3-7" fmla="*/ 184975 w 270261"/>
                <a:gd name="connsiteY3-8" fmla="*/ 257670 h 10698196"/>
                <a:gd name="connsiteX4-9" fmla="*/ 184975 w 270261"/>
                <a:gd name="connsiteY4-10" fmla="*/ 10698196 h 10698196"/>
                <a:gd name="connsiteX5-11" fmla="*/ 58365 w 270261"/>
                <a:gd name="connsiteY5-12" fmla="*/ 10698196 h 10698196"/>
                <a:gd name="connsiteX6-13" fmla="*/ 58365 w 270261"/>
                <a:gd name="connsiteY6-14" fmla="*/ 257670 h 10698196"/>
                <a:gd name="connsiteX7" fmla="*/ 0 w 270261"/>
                <a:gd name="connsiteY7" fmla="*/ 271117 h 10698196"/>
                <a:gd name="connsiteX0-15" fmla="*/ 0 w 270261"/>
                <a:gd name="connsiteY0-16" fmla="*/ 432483 h 10859562"/>
                <a:gd name="connsiteX1-17" fmla="*/ 120813 w 270261"/>
                <a:gd name="connsiteY1-18" fmla="*/ 0 h 10859562"/>
                <a:gd name="connsiteX2-19" fmla="*/ 270261 w 270261"/>
                <a:gd name="connsiteY2-20" fmla="*/ 419036 h 10859562"/>
                <a:gd name="connsiteX3-21" fmla="*/ 184975 w 270261"/>
                <a:gd name="connsiteY3-22" fmla="*/ 419036 h 10859562"/>
                <a:gd name="connsiteX4-23" fmla="*/ 184975 w 270261"/>
                <a:gd name="connsiteY4-24" fmla="*/ 10859562 h 10859562"/>
                <a:gd name="connsiteX5-25" fmla="*/ 58365 w 270261"/>
                <a:gd name="connsiteY5-26" fmla="*/ 10859562 h 10859562"/>
                <a:gd name="connsiteX6-27" fmla="*/ 58365 w 270261"/>
                <a:gd name="connsiteY6-28" fmla="*/ 419036 h 10859562"/>
                <a:gd name="connsiteX7-29" fmla="*/ 0 w 270261"/>
                <a:gd name="connsiteY7-30" fmla="*/ 432483 h 10859562"/>
                <a:gd name="connsiteX0-31" fmla="*/ 0 w 237533"/>
                <a:gd name="connsiteY0-32" fmla="*/ 432483 h 10859562"/>
                <a:gd name="connsiteX1-33" fmla="*/ 120813 w 237533"/>
                <a:gd name="connsiteY1-34" fmla="*/ 0 h 10859562"/>
                <a:gd name="connsiteX2-35" fmla="*/ 237533 w 237533"/>
                <a:gd name="connsiteY2-36" fmla="*/ 405589 h 10859562"/>
                <a:gd name="connsiteX3-37" fmla="*/ 184975 w 237533"/>
                <a:gd name="connsiteY3-38" fmla="*/ 419036 h 10859562"/>
                <a:gd name="connsiteX4-39" fmla="*/ 184975 w 237533"/>
                <a:gd name="connsiteY4-40" fmla="*/ 10859562 h 10859562"/>
                <a:gd name="connsiteX5-41" fmla="*/ 58365 w 237533"/>
                <a:gd name="connsiteY5-42" fmla="*/ 10859562 h 10859562"/>
                <a:gd name="connsiteX6-43" fmla="*/ 58365 w 237533"/>
                <a:gd name="connsiteY6-44" fmla="*/ 419036 h 10859562"/>
                <a:gd name="connsiteX7-45" fmla="*/ 0 w 237533"/>
                <a:gd name="connsiteY7-46" fmla="*/ 432483 h 1085956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29" y="connsiteY7-30"/>
                </a:cxn>
              </a:cxnLst>
              <a:rect l="l" t="t" r="r" b="b"/>
              <a:pathLst>
                <a:path w="237533" h="10859562">
                  <a:moveTo>
                    <a:pt x="0" y="432483"/>
                  </a:moveTo>
                  <a:lnTo>
                    <a:pt x="120813" y="0"/>
                  </a:lnTo>
                  <a:lnTo>
                    <a:pt x="237533" y="405589"/>
                  </a:lnTo>
                  <a:lnTo>
                    <a:pt x="184975" y="419036"/>
                  </a:lnTo>
                  <a:lnTo>
                    <a:pt x="184975" y="10859562"/>
                  </a:lnTo>
                  <a:lnTo>
                    <a:pt x="58365" y="10859562"/>
                  </a:lnTo>
                  <a:lnTo>
                    <a:pt x="58365" y="419036"/>
                  </a:lnTo>
                  <a:cubicBezTo>
                    <a:pt x="29364" y="419036"/>
                    <a:pt x="29001" y="432483"/>
                    <a:pt x="0" y="432483"/>
                  </a:cubicBezTo>
                  <a:close/>
                </a:path>
              </a:pathLst>
            </a:cu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301" name="天蝎PPT原创©25"/>
            <p:cNvSpPr/>
            <p:nvPr>
              <p:custDataLst>
                <p:tags r:id="rId102"/>
              </p:custDataLst>
            </p:nvPr>
          </p:nvSpPr>
          <p:spPr>
            <a:xfrm>
              <a:off x="2396"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306" name="天蝎PPT原创©27"/>
            <p:cNvSpPr/>
            <p:nvPr>
              <p:custDataLst>
                <p:tags r:id="rId103"/>
              </p:custDataLst>
            </p:nvPr>
          </p:nvSpPr>
          <p:spPr>
            <a:xfrm>
              <a:off x="4019"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307" name="天蝎PPT原创©29"/>
            <p:cNvSpPr/>
            <p:nvPr>
              <p:custDataLst>
                <p:tags r:id="rId104"/>
              </p:custDataLst>
            </p:nvPr>
          </p:nvSpPr>
          <p:spPr>
            <a:xfrm>
              <a:off x="5624"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308" name="天蝎PPT原创©17"/>
            <p:cNvSpPr/>
            <p:nvPr>
              <p:custDataLst>
                <p:tags r:id="rId105"/>
              </p:custDataLst>
            </p:nvPr>
          </p:nvSpPr>
          <p:spPr>
            <a:xfrm>
              <a:off x="759"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grpSp>
      <p:sp>
        <p:nvSpPr>
          <p:cNvPr id="4" name="圆角矩形 8"/>
          <p:cNvSpPr/>
          <p:nvPr>
            <p:custDataLst>
              <p:tags r:id="rId106"/>
            </p:custDataLst>
          </p:nvPr>
        </p:nvSpPr>
        <p:spPr>
          <a:xfrm>
            <a:off x="5149850" y="5986780"/>
            <a:ext cx="599440" cy="135890"/>
          </a:xfrm>
          <a:prstGeom prst="roundRect">
            <a:avLst>
              <a:gd name="adj" fmla="val 2689"/>
            </a:avLst>
          </a:pr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5" name="圆角矩形 8"/>
          <p:cNvSpPr/>
          <p:nvPr>
            <p:custDataLst>
              <p:tags r:id="rId107"/>
            </p:custDataLst>
          </p:nvPr>
        </p:nvSpPr>
        <p:spPr>
          <a:xfrm>
            <a:off x="5944870" y="5986780"/>
            <a:ext cx="599440" cy="135890"/>
          </a:xfrm>
          <a:prstGeom prst="roundRect">
            <a:avLst>
              <a:gd name="adj" fmla="val 2689"/>
            </a:avLst>
          </a:pr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 name="圆角矩形 8"/>
          <p:cNvSpPr/>
          <p:nvPr>
            <p:custDataLst>
              <p:tags r:id="rId108"/>
            </p:custDataLst>
          </p:nvPr>
        </p:nvSpPr>
        <p:spPr>
          <a:xfrm>
            <a:off x="6739255" y="5986780"/>
            <a:ext cx="599440" cy="135890"/>
          </a:xfrm>
          <a:prstGeom prst="roundRect">
            <a:avLst>
              <a:gd name="adj" fmla="val 2689"/>
            </a:avLst>
          </a:pr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 name="圆角矩形 59"/>
          <p:cNvSpPr/>
          <p:nvPr>
            <p:custDataLst>
              <p:tags r:id="rId109"/>
            </p:custDataLst>
          </p:nvPr>
        </p:nvSpPr>
        <p:spPr>
          <a:xfrm>
            <a:off x="5095875" y="5417820"/>
            <a:ext cx="415290" cy="49530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8" name="Freeform 2384"/>
          <p:cNvSpPr/>
          <p:nvPr>
            <p:custDataLst>
              <p:tags r:id="rId110"/>
            </p:custDataLst>
          </p:nvPr>
        </p:nvSpPr>
        <p:spPr>
          <a:xfrm>
            <a:off x="6981190" y="5207635"/>
            <a:ext cx="361950" cy="116205"/>
          </a:xfrm>
          <a:custGeom>
            <a:avLst/>
            <a:gdLst/>
            <a:ahLst/>
            <a:cxnLst/>
            <a:rect l="0" t="0" r="0" b="0"/>
            <a:pathLst>
              <a:path w="1648967" h="527305">
                <a:moveTo>
                  <a:pt x="0" y="108967"/>
                </a:moveTo>
                <a:lnTo>
                  <a:pt x="108965" y="0"/>
                </a:lnTo>
                <a:lnTo>
                  <a:pt x="1648967" y="0"/>
                </a:lnTo>
                <a:lnTo>
                  <a:pt x="1648967" y="418338"/>
                </a:lnTo>
                <a:lnTo>
                  <a:pt x="1540001" y="527305"/>
                </a:lnTo>
                <a:lnTo>
                  <a:pt x="0" y="527305"/>
                </a:lnTo>
                <a:close/>
                <a:moveTo>
                  <a:pt x="0" y="108967"/>
                </a:moveTo>
                <a:lnTo>
                  <a:pt x="1540001" y="108967"/>
                </a:lnTo>
                <a:lnTo>
                  <a:pt x="1648967" y="0"/>
                </a:lnTo>
                <a:moveTo>
                  <a:pt x="1540001" y="108967"/>
                </a:moveTo>
                <a:lnTo>
                  <a:pt x="1540001" y="527305"/>
                </a:lnTo>
              </a:path>
            </a:pathLst>
          </a:custGeom>
          <a:noFill/>
          <a:ln w="6095" cap="flat" cmpd="sng" algn="ctr">
            <a:solidFill>
              <a:srgbClr val="668EFF"/>
            </a:solidFill>
            <a:prstDash val="solid"/>
            <a:miter lim="127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 name="Freeform 2385"/>
          <p:cNvSpPr/>
          <p:nvPr>
            <p:custDataLst>
              <p:tags r:id="rId111"/>
            </p:custDataLst>
          </p:nvPr>
        </p:nvSpPr>
        <p:spPr>
          <a:xfrm>
            <a:off x="6981190" y="5231130"/>
            <a:ext cx="339090" cy="93345"/>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0" name="Freeform 2389"/>
          <p:cNvSpPr/>
          <p:nvPr>
            <p:custDataLst>
              <p:tags r:id="rId112"/>
            </p:custDataLst>
          </p:nvPr>
        </p:nvSpPr>
        <p:spPr>
          <a:xfrm>
            <a:off x="5101590" y="5209540"/>
            <a:ext cx="361950" cy="116205"/>
          </a:xfrm>
          <a:custGeom>
            <a:avLst/>
            <a:gdLst/>
            <a:ahLst/>
            <a:cxnLst/>
            <a:rect l="0" t="0" r="0" b="0"/>
            <a:pathLst>
              <a:path w="1648967" h="527305">
                <a:moveTo>
                  <a:pt x="0" y="108967"/>
                </a:moveTo>
                <a:lnTo>
                  <a:pt x="108953" y="0"/>
                </a:lnTo>
                <a:lnTo>
                  <a:pt x="1648967" y="0"/>
                </a:lnTo>
                <a:lnTo>
                  <a:pt x="1648967" y="418338"/>
                </a:lnTo>
                <a:lnTo>
                  <a:pt x="1540001" y="527305"/>
                </a:lnTo>
                <a:lnTo>
                  <a:pt x="0" y="527305"/>
                </a:lnTo>
                <a:close/>
                <a:moveTo>
                  <a:pt x="0" y="108967"/>
                </a:moveTo>
                <a:lnTo>
                  <a:pt x="1540001" y="108967"/>
                </a:lnTo>
                <a:lnTo>
                  <a:pt x="1648967" y="0"/>
                </a:lnTo>
                <a:moveTo>
                  <a:pt x="1540001" y="108967"/>
                </a:moveTo>
                <a:lnTo>
                  <a:pt x="1540001"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1" name="Freeform 2390"/>
          <p:cNvSpPr/>
          <p:nvPr>
            <p:custDataLst>
              <p:tags r:id="rId113"/>
            </p:custDataLst>
          </p:nvPr>
        </p:nvSpPr>
        <p:spPr>
          <a:xfrm>
            <a:off x="5100955" y="5231130"/>
            <a:ext cx="339090" cy="93345"/>
          </a:xfrm>
          <a:custGeom>
            <a:avLst/>
            <a:gdLst/>
            <a:ahLst/>
            <a:cxnLst/>
            <a:rect l="0" t="0" r="0" b="0"/>
            <a:pathLst>
              <a:path w="1545336" h="425195">
                <a:moveTo>
                  <a:pt x="0" y="425195"/>
                </a:moveTo>
                <a:lnTo>
                  <a:pt x="1545336" y="425195"/>
                </a:lnTo>
                <a:lnTo>
                  <a:pt x="1545336" y="0"/>
                </a:lnTo>
                <a:lnTo>
                  <a:pt x="0" y="0"/>
                </a:lnTo>
                <a:lnTo>
                  <a:pt x="0" y="425195"/>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2" name="Freeform 2409"/>
          <p:cNvSpPr/>
          <p:nvPr>
            <p:custDataLst>
              <p:tags r:id="rId114"/>
            </p:custDataLst>
          </p:nvPr>
        </p:nvSpPr>
        <p:spPr>
          <a:xfrm>
            <a:off x="5076190" y="6168390"/>
            <a:ext cx="2302510" cy="116205"/>
          </a:xfrm>
          <a:custGeom>
            <a:avLst/>
            <a:gdLst/>
            <a:ahLst/>
            <a:cxnLst/>
            <a:rect l="0" t="0" r="0" b="0"/>
            <a:pathLst>
              <a:path w="10489693" h="527303">
                <a:moveTo>
                  <a:pt x="0" y="108953"/>
                </a:moveTo>
                <a:lnTo>
                  <a:pt x="108954" y="0"/>
                </a:lnTo>
                <a:lnTo>
                  <a:pt x="10489693" y="0"/>
                </a:lnTo>
                <a:lnTo>
                  <a:pt x="10489693" y="418338"/>
                </a:lnTo>
                <a:lnTo>
                  <a:pt x="10380727" y="527303"/>
                </a:lnTo>
                <a:lnTo>
                  <a:pt x="0" y="527303"/>
                </a:lnTo>
                <a:close/>
                <a:moveTo>
                  <a:pt x="0" y="108953"/>
                </a:moveTo>
                <a:lnTo>
                  <a:pt x="10380727" y="108953"/>
                </a:lnTo>
                <a:lnTo>
                  <a:pt x="10489693" y="0"/>
                </a:lnTo>
                <a:moveTo>
                  <a:pt x="10380727" y="108953"/>
                </a:moveTo>
                <a:lnTo>
                  <a:pt x="10380727" y="527303"/>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3" name="Freeform 2410"/>
          <p:cNvSpPr/>
          <p:nvPr>
            <p:custDataLst>
              <p:tags r:id="rId115"/>
            </p:custDataLst>
          </p:nvPr>
        </p:nvSpPr>
        <p:spPr>
          <a:xfrm>
            <a:off x="5075555" y="6191250"/>
            <a:ext cx="2281555" cy="93345"/>
          </a:xfrm>
          <a:custGeom>
            <a:avLst/>
            <a:gdLst/>
            <a:ahLst/>
            <a:cxnLst/>
            <a:rect l="0" t="0" r="0" b="0"/>
            <a:pathLst>
              <a:path w="10395204" h="425196">
                <a:moveTo>
                  <a:pt x="0" y="425196"/>
                </a:moveTo>
                <a:lnTo>
                  <a:pt x="10395204" y="425196"/>
                </a:lnTo>
                <a:lnTo>
                  <a:pt x="10395204"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4" name="Freeform 2447"/>
          <p:cNvSpPr/>
          <p:nvPr>
            <p:custDataLst>
              <p:tags r:id="rId116"/>
            </p:custDataLst>
          </p:nvPr>
        </p:nvSpPr>
        <p:spPr>
          <a:xfrm>
            <a:off x="6503670" y="5207635"/>
            <a:ext cx="361950" cy="116205"/>
          </a:xfrm>
          <a:custGeom>
            <a:avLst/>
            <a:gdLst/>
            <a:ahLst/>
            <a:cxnLst/>
            <a:rect l="0" t="0" r="0" b="0"/>
            <a:pathLst>
              <a:path w="1648969" h="527305">
                <a:moveTo>
                  <a:pt x="0" y="108967"/>
                </a:moveTo>
                <a:lnTo>
                  <a:pt x="108966" y="0"/>
                </a:lnTo>
                <a:lnTo>
                  <a:pt x="1648969" y="0"/>
                </a:lnTo>
                <a:lnTo>
                  <a:pt x="1648969" y="418338"/>
                </a:lnTo>
                <a:lnTo>
                  <a:pt x="1540002" y="527305"/>
                </a:lnTo>
                <a:lnTo>
                  <a:pt x="0" y="527305"/>
                </a:lnTo>
                <a:close/>
                <a:moveTo>
                  <a:pt x="0" y="108967"/>
                </a:moveTo>
                <a:lnTo>
                  <a:pt x="1540002" y="108967"/>
                </a:lnTo>
                <a:lnTo>
                  <a:pt x="1648969" y="0"/>
                </a:lnTo>
                <a:moveTo>
                  <a:pt x="1540002" y="108967"/>
                </a:moveTo>
                <a:lnTo>
                  <a:pt x="1540002"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5" name="Freeform 2448"/>
          <p:cNvSpPr/>
          <p:nvPr>
            <p:custDataLst>
              <p:tags r:id="rId117"/>
            </p:custDataLst>
          </p:nvPr>
        </p:nvSpPr>
        <p:spPr>
          <a:xfrm>
            <a:off x="6503670" y="5231130"/>
            <a:ext cx="339090" cy="93345"/>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6" name="Freeform 2482"/>
          <p:cNvSpPr/>
          <p:nvPr>
            <p:custDataLst>
              <p:tags r:id="rId118"/>
            </p:custDataLst>
          </p:nvPr>
        </p:nvSpPr>
        <p:spPr>
          <a:xfrm>
            <a:off x="6054090" y="5207635"/>
            <a:ext cx="361950" cy="116205"/>
          </a:xfrm>
          <a:custGeom>
            <a:avLst/>
            <a:gdLst/>
            <a:ahLst/>
            <a:cxnLst/>
            <a:rect l="0" t="0" r="0" b="0"/>
            <a:pathLst>
              <a:path w="1648968" h="527305">
                <a:moveTo>
                  <a:pt x="0" y="108967"/>
                </a:moveTo>
                <a:lnTo>
                  <a:pt x="108967" y="0"/>
                </a:lnTo>
                <a:lnTo>
                  <a:pt x="1648968" y="0"/>
                </a:lnTo>
                <a:lnTo>
                  <a:pt x="1648968" y="418338"/>
                </a:lnTo>
                <a:lnTo>
                  <a:pt x="1540003" y="527305"/>
                </a:lnTo>
                <a:lnTo>
                  <a:pt x="0" y="527305"/>
                </a:lnTo>
                <a:close/>
                <a:moveTo>
                  <a:pt x="0" y="108967"/>
                </a:moveTo>
                <a:lnTo>
                  <a:pt x="1540003" y="108967"/>
                </a:lnTo>
                <a:lnTo>
                  <a:pt x="1648968" y="0"/>
                </a:lnTo>
                <a:moveTo>
                  <a:pt x="1540003" y="108967"/>
                </a:moveTo>
                <a:lnTo>
                  <a:pt x="1540003"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 name="Freeform 2483"/>
          <p:cNvSpPr/>
          <p:nvPr>
            <p:custDataLst>
              <p:tags r:id="rId119"/>
            </p:custDataLst>
          </p:nvPr>
        </p:nvSpPr>
        <p:spPr>
          <a:xfrm>
            <a:off x="6053455" y="5231130"/>
            <a:ext cx="339090" cy="93345"/>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cxnSp>
        <p:nvCxnSpPr>
          <p:cNvPr id="22" name="直接连接符 21"/>
          <p:cNvCxnSpPr/>
          <p:nvPr>
            <p:custDataLst>
              <p:tags r:id="rId120"/>
            </p:custDataLst>
          </p:nvPr>
        </p:nvCxnSpPr>
        <p:spPr>
          <a:xfrm rot="10800000">
            <a:off x="5005705" y="6238240"/>
            <a:ext cx="67310"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sp>
        <p:nvSpPr>
          <p:cNvPr id="23" name="Freeform 2470"/>
          <p:cNvSpPr/>
          <p:nvPr>
            <p:custDataLst>
              <p:tags r:id="rId121"/>
            </p:custDataLst>
          </p:nvPr>
        </p:nvSpPr>
        <p:spPr>
          <a:xfrm>
            <a:off x="5582285" y="5207635"/>
            <a:ext cx="361950" cy="116205"/>
          </a:xfrm>
          <a:custGeom>
            <a:avLst/>
            <a:gdLst/>
            <a:ahLst/>
            <a:cxnLst/>
            <a:rect l="0" t="0" r="0" b="0"/>
            <a:pathLst>
              <a:path w="1648968" h="527305">
                <a:moveTo>
                  <a:pt x="0" y="108967"/>
                </a:moveTo>
                <a:lnTo>
                  <a:pt x="108965" y="0"/>
                </a:lnTo>
                <a:lnTo>
                  <a:pt x="1648968" y="0"/>
                </a:lnTo>
                <a:lnTo>
                  <a:pt x="1648968" y="418338"/>
                </a:lnTo>
                <a:lnTo>
                  <a:pt x="1540002" y="527305"/>
                </a:lnTo>
                <a:lnTo>
                  <a:pt x="0" y="527305"/>
                </a:lnTo>
                <a:close/>
                <a:moveTo>
                  <a:pt x="0" y="108967"/>
                </a:moveTo>
                <a:lnTo>
                  <a:pt x="1540002" y="108967"/>
                </a:lnTo>
                <a:lnTo>
                  <a:pt x="1648968" y="0"/>
                </a:lnTo>
                <a:moveTo>
                  <a:pt x="1540002" y="108967"/>
                </a:moveTo>
                <a:lnTo>
                  <a:pt x="1540002"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 name="Freeform 2471"/>
          <p:cNvSpPr/>
          <p:nvPr>
            <p:custDataLst>
              <p:tags r:id="rId122"/>
            </p:custDataLst>
          </p:nvPr>
        </p:nvSpPr>
        <p:spPr>
          <a:xfrm>
            <a:off x="5581650" y="5231130"/>
            <a:ext cx="339090" cy="93345"/>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5" name="圆角矩形 59"/>
          <p:cNvSpPr/>
          <p:nvPr>
            <p:custDataLst>
              <p:tags r:id="rId123"/>
            </p:custDataLst>
          </p:nvPr>
        </p:nvSpPr>
        <p:spPr>
          <a:xfrm>
            <a:off x="6015990" y="5417820"/>
            <a:ext cx="415290" cy="49530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27" name="圆角矩形 59"/>
          <p:cNvSpPr/>
          <p:nvPr>
            <p:custDataLst>
              <p:tags r:id="rId124"/>
            </p:custDataLst>
          </p:nvPr>
        </p:nvSpPr>
        <p:spPr>
          <a:xfrm>
            <a:off x="6475730" y="5417820"/>
            <a:ext cx="415290" cy="49530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30" name="圆角矩形 59"/>
          <p:cNvSpPr/>
          <p:nvPr>
            <p:custDataLst>
              <p:tags r:id="rId125"/>
            </p:custDataLst>
          </p:nvPr>
        </p:nvSpPr>
        <p:spPr>
          <a:xfrm>
            <a:off x="5556250" y="5417820"/>
            <a:ext cx="415290" cy="49530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31" name="圆角矩形 59"/>
          <p:cNvSpPr/>
          <p:nvPr>
            <p:custDataLst>
              <p:tags r:id="rId126"/>
            </p:custDataLst>
          </p:nvPr>
        </p:nvSpPr>
        <p:spPr>
          <a:xfrm>
            <a:off x="6935470" y="5417820"/>
            <a:ext cx="415290" cy="49530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35" name="等腰三角形 34"/>
          <p:cNvSpPr/>
          <p:nvPr>
            <p:custDataLst>
              <p:tags r:id="rId127"/>
            </p:custDataLst>
          </p:nvPr>
        </p:nvSpPr>
        <p:spPr>
          <a:xfrm rot="5400000">
            <a:off x="6891020" y="5224780"/>
            <a:ext cx="75565" cy="75565"/>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6" name="等腰三角形 35"/>
          <p:cNvSpPr/>
          <p:nvPr>
            <p:custDataLst>
              <p:tags r:id="rId128"/>
            </p:custDataLst>
          </p:nvPr>
        </p:nvSpPr>
        <p:spPr>
          <a:xfrm rot="5400000">
            <a:off x="5491480" y="5224780"/>
            <a:ext cx="75565" cy="75565"/>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3" name="等腰三角形 42"/>
          <p:cNvSpPr/>
          <p:nvPr>
            <p:custDataLst>
              <p:tags r:id="rId129"/>
            </p:custDataLst>
          </p:nvPr>
        </p:nvSpPr>
        <p:spPr>
          <a:xfrm rot="5400000">
            <a:off x="5966460" y="5224780"/>
            <a:ext cx="75565" cy="75565"/>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4" name="等腰三角形 43"/>
          <p:cNvSpPr/>
          <p:nvPr>
            <p:custDataLst>
              <p:tags r:id="rId130"/>
            </p:custDataLst>
          </p:nvPr>
        </p:nvSpPr>
        <p:spPr>
          <a:xfrm rot="5400000">
            <a:off x="6431280" y="5224780"/>
            <a:ext cx="75565" cy="75565"/>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5" name="等腰三角形 44"/>
          <p:cNvSpPr/>
          <p:nvPr>
            <p:custDataLst>
              <p:tags r:id="rId131"/>
            </p:custDataLst>
          </p:nvPr>
        </p:nvSpPr>
        <p:spPr>
          <a:xfrm rot="16200000" flipH="1">
            <a:off x="6606540" y="6015355"/>
            <a:ext cx="75565" cy="75565"/>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6" name="等腰三角形 45"/>
          <p:cNvSpPr/>
          <p:nvPr>
            <p:custDataLst>
              <p:tags r:id="rId132"/>
            </p:custDataLst>
          </p:nvPr>
        </p:nvSpPr>
        <p:spPr>
          <a:xfrm rot="16200000" flipH="1">
            <a:off x="5814695" y="6015355"/>
            <a:ext cx="75565" cy="75565"/>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cxnSp>
        <p:nvCxnSpPr>
          <p:cNvPr id="49" name="直接连接符 48"/>
          <p:cNvCxnSpPr/>
          <p:nvPr>
            <p:custDataLst>
              <p:tags r:id="rId133"/>
            </p:custDataLst>
          </p:nvPr>
        </p:nvCxnSpPr>
        <p:spPr>
          <a:xfrm flipH="1">
            <a:off x="4997450" y="5270500"/>
            <a:ext cx="98425"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cxnSp>
        <p:nvCxnSpPr>
          <p:cNvPr id="50" name="直接连接符 49"/>
          <p:cNvCxnSpPr/>
          <p:nvPr>
            <p:custDataLst>
              <p:tags r:id="rId134"/>
            </p:custDataLst>
          </p:nvPr>
        </p:nvCxnSpPr>
        <p:spPr>
          <a:xfrm flipV="1">
            <a:off x="5005070" y="5269865"/>
            <a:ext cx="0" cy="977265"/>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sp>
        <p:nvSpPr>
          <p:cNvPr id="51" name="等腰三角形 50"/>
          <p:cNvSpPr/>
          <p:nvPr>
            <p:custDataLst>
              <p:tags r:id="rId135"/>
            </p:custDataLst>
          </p:nvPr>
        </p:nvSpPr>
        <p:spPr>
          <a:xfrm flipH="1">
            <a:off x="4964430" y="5671185"/>
            <a:ext cx="75565" cy="75565"/>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nvGrpSpPr>
          <p:cNvPr id="56" name="组合 55"/>
          <p:cNvGrpSpPr/>
          <p:nvPr>
            <p:custDataLst>
              <p:tags r:id="rId136"/>
            </p:custDataLst>
          </p:nvPr>
        </p:nvGrpSpPr>
        <p:grpSpPr>
          <a:xfrm flipH="1">
            <a:off x="7336790" y="5250180"/>
            <a:ext cx="130810" cy="976630"/>
            <a:chOff x="8018" y="8499"/>
            <a:chExt cx="206" cy="1538"/>
          </a:xfrm>
        </p:grpSpPr>
        <p:cxnSp>
          <p:nvCxnSpPr>
            <p:cNvPr id="52" name="直接连接符 51"/>
            <p:cNvCxnSpPr/>
            <p:nvPr>
              <p:custDataLst>
                <p:tags r:id="rId137"/>
              </p:custDataLst>
            </p:nvPr>
          </p:nvCxnSpPr>
          <p:spPr>
            <a:xfrm rot="10800000">
              <a:off x="8083" y="10024"/>
              <a:ext cx="106"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cxnSp>
          <p:nvCxnSpPr>
            <p:cNvPr id="53" name="直接连接符 52"/>
            <p:cNvCxnSpPr/>
            <p:nvPr>
              <p:custDataLst>
                <p:tags r:id="rId138"/>
              </p:custDataLst>
            </p:nvPr>
          </p:nvCxnSpPr>
          <p:spPr>
            <a:xfrm flipH="1">
              <a:off x="8070" y="8500"/>
              <a:ext cx="155"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cxnSp>
          <p:nvCxnSpPr>
            <p:cNvPr id="54" name="直接连接符 53"/>
            <p:cNvCxnSpPr/>
            <p:nvPr>
              <p:custDataLst>
                <p:tags r:id="rId139"/>
              </p:custDataLst>
            </p:nvPr>
          </p:nvCxnSpPr>
          <p:spPr>
            <a:xfrm flipV="1">
              <a:off x="8082" y="8499"/>
              <a:ext cx="0" cy="1539"/>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sp>
          <p:nvSpPr>
            <p:cNvPr id="55" name="等腰三角形 54"/>
            <p:cNvSpPr/>
            <p:nvPr>
              <p:custDataLst>
                <p:tags r:id="rId140"/>
              </p:custDataLst>
            </p:nvPr>
          </p:nvSpPr>
          <p:spPr>
            <a:xfrm flipH="1" flipV="1">
              <a:off x="8018" y="9131"/>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sp>
        <p:nvSpPr>
          <p:cNvPr id="3" name="Google Shape;464;p24"/>
          <p:cNvSpPr/>
          <p:nvPr>
            <p:custDataLst>
              <p:tags r:id="rId141"/>
            </p:custDataLst>
          </p:nvPr>
        </p:nvSpPr>
        <p:spPr>
          <a:xfrm>
            <a:off x="2690495" y="2694305"/>
            <a:ext cx="639445" cy="761365"/>
          </a:xfrm>
          <a:prstGeom prst="roundRect">
            <a:avLst>
              <a:gd name="adj" fmla="val 2676"/>
            </a:avLst>
          </a:prstGeom>
          <a:solidFill>
            <a:srgbClr val="668EFF"/>
          </a:solidFill>
          <a:ln w="12700" cap="flat" cmpd="sng" algn="ctr">
            <a:noFill/>
            <a:prstDash val="solid"/>
            <a:miter lim="800000"/>
          </a:ln>
          <a:effectLst/>
        </p:spPr>
        <p:txBody>
          <a:bodyPr spcFirstLastPara="0" vert="horz" wrap="square" lIns="91444" tIns="45722" rIns="91444" bIns="45722" rtlCol="0" anchor="ctr" anchorCtr="0">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8" name="Google Shape;450;p24"/>
          <p:cNvSpPr/>
          <p:nvPr>
            <p:custDataLst>
              <p:tags r:id="rId142"/>
            </p:custDataLst>
          </p:nvPr>
        </p:nvSpPr>
        <p:spPr>
          <a:xfrm>
            <a:off x="1382395" y="2464435"/>
            <a:ext cx="1948180" cy="217170"/>
          </a:xfrm>
          <a:custGeom>
            <a:avLst/>
            <a:gdLst/>
            <a:ahLst/>
            <a:cxnLst/>
            <a:rect l="l" t="t" r="r" b="b"/>
            <a:pathLst>
              <a:path w="21588" h="21575" extrusionOk="0">
                <a:moveTo>
                  <a:pt x="109" y="19963"/>
                </a:moveTo>
                <a:cubicBezTo>
                  <a:pt x="41" y="20039"/>
                  <a:pt x="-6" y="20418"/>
                  <a:pt x="0" y="20836"/>
                </a:cubicBezTo>
                <a:cubicBezTo>
                  <a:pt x="7" y="21266"/>
                  <a:pt x="68" y="21590"/>
                  <a:pt x="139" y="21574"/>
                </a:cubicBezTo>
                <a:lnTo>
                  <a:pt x="21476" y="21515"/>
                </a:lnTo>
                <a:cubicBezTo>
                  <a:pt x="21535" y="21473"/>
                  <a:pt x="21581" y="21191"/>
                  <a:pt x="21587" y="20835"/>
                </a:cubicBezTo>
                <a:cubicBezTo>
                  <a:pt x="21594" y="20443"/>
                  <a:pt x="21552" y="20082"/>
                  <a:pt x="21489" y="19993"/>
                </a:cubicBezTo>
                <a:lnTo>
                  <a:pt x="10898" y="125"/>
                </a:lnTo>
                <a:cubicBezTo>
                  <a:pt x="10866" y="51"/>
                  <a:pt x="10833" y="10"/>
                  <a:pt x="10798" y="2"/>
                </a:cubicBezTo>
                <a:cubicBezTo>
                  <a:pt x="10748" y="-10"/>
                  <a:pt x="10699" y="50"/>
                  <a:pt x="10653" y="176"/>
                </a:cubicBezTo>
                <a:lnTo>
                  <a:pt x="109" y="19963"/>
                </a:lnTo>
                <a:close/>
              </a:path>
            </a:pathLst>
          </a:custGeom>
          <a:solidFill>
            <a:srgbClr val="3368FF"/>
          </a:solidFill>
          <a:ln>
            <a:noFill/>
          </a:ln>
        </p:spPr>
        <p:txBody>
          <a:bodyPr spcFirstLastPara="1" wrap="square" lIns="22868" tIns="22868" rIns="22868" bIns="22868" anchor="t"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19" name="Google Shape;452;p24"/>
          <p:cNvSpPr/>
          <p:nvPr>
            <p:custDataLst>
              <p:tags r:id="rId143"/>
            </p:custDataLst>
          </p:nvPr>
        </p:nvSpPr>
        <p:spPr>
          <a:xfrm>
            <a:off x="1386205" y="2694305"/>
            <a:ext cx="639445" cy="762635"/>
          </a:xfrm>
          <a:prstGeom prst="roundRect">
            <a:avLst>
              <a:gd name="adj" fmla="val 2676"/>
            </a:avLst>
          </a:prstGeom>
          <a:solidFill>
            <a:srgbClr val="668EFF"/>
          </a:solidFill>
          <a:ln w="12700" cap="flat" cmpd="sng" algn="ctr">
            <a:noFill/>
            <a:prstDash val="solid"/>
            <a:miter lim="800000"/>
          </a:ln>
          <a:effectLst/>
        </p:spPr>
        <p:txBody>
          <a:bodyPr spcFirstLastPara="0" vert="horz" wrap="square" lIns="91444" tIns="45722" rIns="91444" bIns="45722" rtlCol="0" anchor="ctr" anchorCtr="0">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0" name="Google Shape;453;p24"/>
          <p:cNvSpPr/>
          <p:nvPr>
            <p:custDataLst>
              <p:tags r:id="rId144"/>
            </p:custDataLst>
          </p:nvPr>
        </p:nvSpPr>
        <p:spPr>
          <a:xfrm>
            <a:off x="1386205" y="2694305"/>
            <a:ext cx="639445" cy="99060"/>
          </a:xfrm>
          <a:custGeom>
            <a:avLst/>
            <a:gdLst/>
            <a:ahLst/>
            <a:cxnLst/>
            <a:rect l="l" t="t" r="r" b="b"/>
            <a:pathLst>
              <a:path w="21599" h="21600" extrusionOk="0">
                <a:moveTo>
                  <a:pt x="688" y="0"/>
                </a:moveTo>
                <a:cubicBezTo>
                  <a:pt x="486" y="0"/>
                  <a:pt x="365" y="5"/>
                  <a:pt x="284" y="209"/>
                </a:cubicBezTo>
                <a:cubicBezTo>
                  <a:pt x="167" y="466"/>
                  <a:pt x="75" y="1022"/>
                  <a:pt x="33" y="1728"/>
                </a:cubicBezTo>
                <a:cubicBezTo>
                  <a:pt x="-1" y="2217"/>
                  <a:pt x="0" y="2947"/>
                  <a:pt x="0" y="4171"/>
                </a:cubicBezTo>
                <a:lnTo>
                  <a:pt x="0" y="21600"/>
                </a:lnTo>
                <a:lnTo>
                  <a:pt x="21599" y="21600"/>
                </a:lnTo>
                <a:lnTo>
                  <a:pt x="21599" y="4171"/>
                </a:lnTo>
                <a:cubicBezTo>
                  <a:pt x="21599" y="2947"/>
                  <a:pt x="21598" y="2217"/>
                  <a:pt x="21564" y="1728"/>
                </a:cubicBezTo>
                <a:cubicBezTo>
                  <a:pt x="21522" y="1022"/>
                  <a:pt x="21430" y="466"/>
                  <a:pt x="21313" y="209"/>
                </a:cubicBezTo>
                <a:cubicBezTo>
                  <a:pt x="21232" y="5"/>
                  <a:pt x="21111" y="0"/>
                  <a:pt x="20909" y="0"/>
                </a:cubicBezTo>
                <a:lnTo>
                  <a:pt x="688" y="0"/>
                </a:lnTo>
                <a:close/>
              </a:path>
            </a:pathLst>
          </a:custGeom>
          <a:solidFill>
            <a:srgbClr val="3368FF"/>
          </a:solidFill>
          <a:ln>
            <a:noFill/>
          </a:ln>
        </p:spPr>
        <p:txBody>
          <a:bodyPr spcFirstLastPara="1" wrap="square" lIns="0" tIns="0" rIns="0" bIns="0" anchor="ctr"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47" name="Google Shape;458;p24"/>
          <p:cNvSpPr/>
          <p:nvPr>
            <p:custDataLst>
              <p:tags r:id="rId145"/>
            </p:custDataLst>
          </p:nvPr>
        </p:nvSpPr>
        <p:spPr>
          <a:xfrm>
            <a:off x="2038985" y="2694305"/>
            <a:ext cx="639445" cy="762635"/>
          </a:xfrm>
          <a:prstGeom prst="roundRect">
            <a:avLst>
              <a:gd name="adj" fmla="val 2676"/>
            </a:avLst>
          </a:prstGeom>
          <a:solidFill>
            <a:srgbClr val="668EFF"/>
          </a:solidFill>
          <a:ln w="12700" cap="flat" cmpd="sng" algn="ctr">
            <a:noFill/>
            <a:prstDash val="solid"/>
            <a:miter lim="800000"/>
          </a:ln>
          <a:effectLst/>
        </p:spPr>
        <p:txBody>
          <a:bodyPr spcFirstLastPara="0" vert="horz" wrap="square" lIns="91444" tIns="45722" rIns="91444" bIns="45722" rtlCol="0" anchor="ctr" anchorCtr="0">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48" name="Google Shape;459;p24"/>
          <p:cNvSpPr/>
          <p:nvPr>
            <p:custDataLst>
              <p:tags r:id="rId146"/>
            </p:custDataLst>
          </p:nvPr>
        </p:nvSpPr>
        <p:spPr>
          <a:xfrm>
            <a:off x="2038985" y="2694305"/>
            <a:ext cx="639445" cy="99060"/>
          </a:xfrm>
          <a:custGeom>
            <a:avLst/>
            <a:gdLst/>
            <a:ahLst/>
            <a:cxnLst/>
            <a:rect l="l" t="t" r="r" b="b"/>
            <a:pathLst>
              <a:path w="21599" h="21600" extrusionOk="0">
                <a:moveTo>
                  <a:pt x="688" y="0"/>
                </a:moveTo>
                <a:cubicBezTo>
                  <a:pt x="486" y="0"/>
                  <a:pt x="365" y="5"/>
                  <a:pt x="284" y="209"/>
                </a:cubicBezTo>
                <a:cubicBezTo>
                  <a:pt x="167" y="466"/>
                  <a:pt x="75" y="1022"/>
                  <a:pt x="33" y="1728"/>
                </a:cubicBezTo>
                <a:cubicBezTo>
                  <a:pt x="-1" y="2217"/>
                  <a:pt x="0" y="2947"/>
                  <a:pt x="0" y="4171"/>
                </a:cubicBezTo>
                <a:lnTo>
                  <a:pt x="0" y="21600"/>
                </a:lnTo>
                <a:lnTo>
                  <a:pt x="21599" y="21600"/>
                </a:lnTo>
                <a:lnTo>
                  <a:pt x="21599" y="4171"/>
                </a:lnTo>
                <a:cubicBezTo>
                  <a:pt x="21599" y="2947"/>
                  <a:pt x="21598" y="2217"/>
                  <a:pt x="21564" y="1728"/>
                </a:cubicBezTo>
                <a:cubicBezTo>
                  <a:pt x="21522" y="1022"/>
                  <a:pt x="21430" y="466"/>
                  <a:pt x="21313" y="209"/>
                </a:cubicBezTo>
                <a:cubicBezTo>
                  <a:pt x="21232" y="5"/>
                  <a:pt x="21111" y="0"/>
                  <a:pt x="20909" y="0"/>
                </a:cubicBezTo>
                <a:lnTo>
                  <a:pt x="688" y="0"/>
                </a:lnTo>
                <a:close/>
              </a:path>
            </a:pathLst>
          </a:custGeom>
          <a:solidFill>
            <a:srgbClr val="3368FF"/>
          </a:solidFill>
          <a:ln>
            <a:noFill/>
          </a:ln>
        </p:spPr>
        <p:txBody>
          <a:bodyPr spcFirstLastPara="1" wrap="square" lIns="0" tIns="0" rIns="0" bIns="0" anchor="ctr"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57" name="Google Shape;465;p24"/>
          <p:cNvSpPr/>
          <p:nvPr>
            <p:custDataLst>
              <p:tags r:id="rId147"/>
            </p:custDataLst>
          </p:nvPr>
        </p:nvSpPr>
        <p:spPr>
          <a:xfrm>
            <a:off x="2690495" y="2694305"/>
            <a:ext cx="639445" cy="99060"/>
          </a:xfrm>
          <a:custGeom>
            <a:avLst/>
            <a:gdLst/>
            <a:ahLst/>
            <a:cxnLst/>
            <a:rect l="l" t="t" r="r" b="b"/>
            <a:pathLst>
              <a:path w="21599" h="21600" extrusionOk="0">
                <a:moveTo>
                  <a:pt x="688" y="0"/>
                </a:moveTo>
                <a:cubicBezTo>
                  <a:pt x="486" y="0"/>
                  <a:pt x="365" y="5"/>
                  <a:pt x="284" y="209"/>
                </a:cubicBezTo>
                <a:cubicBezTo>
                  <a:pt x="167" y="466"/>
                  <a:pt x="75" y="1022"/>
                  <a:pt x="33" y="1728"/>
                </a:cubicBezTo>
                <a:cubicBezTo>
                  <a:pt x="-1" y="2217"/>
                  <a:pt x="0" y="2947"/>
                  <a:pt x="0" y="4171"/>
                </a:cubicBezTo>
                <a:lnTo>
                  <a:pt x="0" y="21600"/>
                </a:lnTo>
                <a:lnTo>
                  <a:pt x="21599" y="21600"/>
                </a:lnTo>
                <a:lnTo>
                  <a:pt x="21599" y="4171"/>
                </a:lnTo>
                <a:cubicBezTo>
                  <a:pt x="21599" y="2947"/>
                  <a:pt x="21598" y="2217"/>
                  <a:pt x="21564" y="1728"/>
                </a:cubicBezTo>
                <a:cubicBezTo>
                  <a:pt x="21522" y="1022"/>
                  <a:pt x="21430" y="466"/>
                  <a:pt x="21313" y="209"/>
                </a:cubicBezTo>
                <a:cubicBezTo>
                  <a:pt x="21232" y="5"/>
                  <a:pt x="21111" y="0"/>
                  <a:pt x="20909" y="0"/>
                </a:cubicBezTo>
                <a:lnTo>
                  <a:pt x="688" y="0"/>
                </a:lnTo>
                <a:close/>
              </a:path>
            </a:pathLst>
          </a:custGeom>
          <a:solidFill>
            <a:srgbClr val="3368FF"/>
          </a:solidFill>
          <a:ln>
            <a:noFill/>
          </a:ln>
        </p:spPr>
        <p:txBody>
          <a:bodyPr spcFirstLastPara="1" wrap="square" lIns="0" tIns="0" rIns="0" bIns="0" anchor="ctr"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天蝎PPT1"/>
          <p:cNvPicPr>
            <a:picLocks noChangeAspect="1"/>
          </p:cNvPicPr>
          <p:nvPr/>
        </p:nvPicPr>
        <p:blipFill rotWithShape="1">
          <a:blip r:embed="rId1" cstate="email"/>
          <a:srcRect/>
          <a:stretch>
            <a:fillRect/>
          </a:stretch>
        </p:blipFill>
        <p:spPr>
          <a:xfrm flipH="1">
            <a:off x="4431665" y="1270"/>
            <a:ext cx="7755825" cy="6858000"/>
          </a:xfrm>
          <a:prstGeom prst="rect">
            <a:avLst/>
          </a:prstGeom>
        </p:spPr>
      </p:pic>
      <p:sp>
        <p:nvSpPr>
          <p:cNvPr id="36" name="矩形 35"/>
          <p:cNvSpPr/>
          <p:nvPr/>
        </p:nvSpPr>
        <p:spPr>
          <a:xfrm>
            <a:off x="0" y="1270"/>
            <a:ext cx="12268200" cy="6858000"/>
          </a:xfrm>
          <a:prstGeom prst="rect">
            <a:avLst/>
          </a:prstGeom>
          <a:gradFill>
            <a:gsLst>
              <a:gs pos="0">
                <a:srgbClr val="FFFFFF"/>
              </a:gs>
              <a:gs pos="100000">
                <a:srgbClr val="DCDCDC">
                  <a:alpha val="50000"/>
                </a:srgbClr>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0" y="-5080"/>
            <a:ext cx="5048250" cy="6865620"/>
          </a:xfrm>
          <a:prstGeom prst="rect">
            <a:avLst/>
          </a:prstGeom>
          <a:gradFill>
            <a:gsLst>
              <a:gs pos="0">
                <a:srgbClr val="E6E6E6"/>
              </a:gs>
              <a:gs pos="100000">
                <a:srgbClr val="E6E6E6"/>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nvGrpSpPr>
          <p:cNvPr id="15" name="组合 14"/>
          <p:cNvGrpSpPr/>
          <p:nvPr/>
        </p:nvGrpSpPr>
        <p:grpSpPr>
          <a:xfrm>
            <a:off x="585470" y="1805940"/>
            <a:ext cx="3877310" cy="1181735"/>
            <a:chOff x="4274" y="7459"/>
            <a:chExt cx="6106" cy="1861"/>
          </a:xfrm>
        </p:grpSpPr>
        <p:sp>
          <p:nvSpPr>
            <p:cNvPr id="6" name="文本框 5"/>
            <p:cNvSpPr txBox="1"/>
            <p:nvPr/>
          </p:nvSpPr>
          <p:spPr>
            <a:xfrm>
              <a:off x="4274" y="7459"/>
              <a:ext cx="6106" cy="919"/>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altLang="en-US" sz="3200" b="1" spc="-150" noProof="0" dirty="0">
                  <a:ln>
                    <a:noFill/>
                  </a:ln>
                  <a:solidFill>
                    <a:srgbClr val="0042FF"/>
                  </a:solidFill>
                  <a:effectLst/>
                  <a:uLnTx/>
                  <a:uFillTx/>
                  <a:latin typeface="微软雅黑"/>
                  <a:ea typeface="微软雅黑"/>
                  <a:cs typeface="微软雅黑"/>
                  <a:sym typeface="微软雅黑"/>
                </a:rPr>
                <a:t>屋顶</a:t>
              </a:r>
              <a:r>
                <a:rPr lang="en-US" altLang="zh-CN" sz="3200" b="1" spc="-150" noProof="0" dirty="0">
                  <a:ln>
                    <a:noFill/>
                  </a:ln>
                  <a:solidFill>
                    <a:srgbClr val="0042FF"/>
                  </a:solidFill>
                  <a:effectLst/>
                  <a:uLnTx/>
                  <a:uFillTx/>
                  <a:latin typeface="微软雅黑"/>
                  <a:ea typeface="微软雅黑"/>
                  <a:cs typeface="微软雅黑"/>
                  <a:sym typeface="微软雅黑"/>
                </a:rPr>
                <a:t>/</a:t>
              </a:r>
              <a:r>
                <a:rPr lang="zh-CN" altLang="en-US" sz="3200" b="1" spc="-150" noProof="0" dirty="0">
                  <a:ln>
                    <a:noFill/>
                  </a:ln>
                  <a:solidFill>
                    <a:srgbClr val="0042FF"/>
                  </a:solidFill>
                  <a:effectLst/>
                  <a:uLnTx/>
                  <a:uFillTx/>
                  <a:latin typeface="微软雅黑"/>
                  <a:ea typeface="微软雅黑"/>
                  <a:cs typeface="微软雅黑"/>
                  <a:sym typeface="微软雅黑"/>
                </a:rPr>
                <a:t>战略屋架构</a:t>
              </a:r>
              <a:endParaRPr lang="zh-CN" altLang="en-US" sz="3200" b="1" spc="-150" noProof="0" dirty="0">
                <a:ln>
                  <a:noFill/>
                </a:ln>
                <a:solidFill>
                  <a:srgbClr val="0042FF"/>
                </a:solidFill>
                <a:effectLst/>
                <a:uLnTx/>
                <a:uFillTx/>
                <a:latin typeface="微软雅黑"/>
                <a:ea typeface="微软雅黑"/>
                <a:cs typeface="微软雅黑"/>
                <a:sym typeface="微软雅黑"/>
              </a:endParaRPr>
            </a:p>
          </p:txBody>
        </p:sp>
        <p:sp>
          <p:nvSpPr>
            <p:cNvPr id="9" name="文本框 8"/>
            <p:cNvSpPr txBox="1"/>
            <p:nvPr/>
          </p:nvSpPr>
          <p:spPr>
            <a:xfrm>
              <a:off x="4294" y="8789"/>
              <a:ext cx="5370" cy="531"/>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en-US" altLang="zh-CN" sz="1600">
                  <a:solidFill>
                    <a:srgbClr val="383838"/>
                  </a:solidFill>
                  <a:latin typeface="微软雅黑"/>
                  <a:ea typeface="微软雅黑"/>
                  <a:cs typeface="微软雅黑"/>
                  <a:sym typeface="微软雅黑"/>
                </a:rPr>
                <a:t>Strategy House Framework</a:t>
              </a:r>
              <a:endParaRPr lang="en-US" altLang="zh-CN" sz="1600">
                <a:solidFill>
                  <a:srgbClr val="383838"/>
                </a:solidFill>
                <a:latin typeface="微软雅黑"/>
                <a:ea typeface="微软雅黑"/>
                <a:cs typeface="微软雅黑"/>
                <a:sym typeface="微软雅黑"/>
              </a:endParaRPr>
            </a:p>
          </p:txBody>
        </p:sp>
        <p:sp>
          <p:nvSpPr>
            <p:cNvPr id="12" name="矩形 11"/>
            <p:cNvSpPr/>
            <p:nvPr/>
          </p:nvSpPr>
          <p:spPr>
            <a:xfrm>
              <a:off x="5041" y="8400"/>
              <a:ext cx="624" cy="57"/>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grpSp>
        <p:nvGrpSpPr>
          <p:cNvPr id="21" name="组合 20"/>
          <p:cNvGrpSpPr/>
          <p:nvPr/>
        </p:nvGrpSpPr>
        <p:grpSpPr>
          <a:xfrm>
            <a:off x="761365" y="3835400"/>
            <a:ext cx="3525520" cy="1797685"/>
            <a:chOff x="2124" y="1201"/>
            <a:chExt cx="3054" cy="1557"/>
          </a:xfrm>
        </p:grpSpPr>
        <p:sp>
          <p:nvSpPr>
            <p:cNvPr id="10" name="Google Shape;464;p24"/>
            <p:cNvSpPr/>
            <p:nvPr/>
          </p:nvSpPr>
          <p:spPr>
            <a:xfrm>
              <a:off x="4176" y="1562"/>
              <a:ext cx="1003" cy="1194"/>
            </a:xfrm>
            <a:prstGeom prst="roundRect">
              <a:avLst>
                <a:gd name="adj" fmla="val 2676"/>
              </a:avLst>
            </a:prstGeom>
            <a:solidFill>
              <a:srgbClr val="668EFF"/>
            </a:solidFill>
            <a:ln w="12700" cap="flat" cmpd="sng" algn="ctr">
              <a:noFill/>
              <a:prstDash val="solid"/>
              <a:miter lim="800000"/>
            </a:ln>
            <a:effectLst/>
          </p:spPr>
          <p:txBody>
            <a:bodyPr spcFirstLastPara="0" vert="horz" wrap="square" lIns="91444" tIns="45722" rIns="91444" bIns="45722" rtlCol="0" anchor="ctr" anchorCtr="0">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1" name="Google Shape;450;p24"/>
            <p:cNvSpPr/>
            <p:nvPr/>
          </p:nvSpPr>
          <p:spPr>
            <a:xfrm>
              <a:off x="2124" y="1201"/>
              <a:ext cx="3055" cy="341"/>
            </a:xfrm>
            <a:custGeom>
              <a:avLst/>
              <a:gdLst/>
              <a:ahLst/>
              <a:cxnLst/>
              <a:rect l="l" t="t" r="r" b="b"/>
              <a:pathLst>
                <a:path w="21588" h="21575" extrusionOk="0">
                  <a:moveTo>
                    <a:pt x="109" y="19963"/>
                  </a:moveTo>
                  <a:cubicBezTo>
                    <a:pt x="41" y="20039"/>
                    <a:pt x="-6" y="20418"/>
                    <a:pt x="0" y="20836"/>
                  </a:cubicBezTo>
                  <a:cubicBezTo>
                    <a:pt x="7" y="21266"/>
                    <a:pt x="68" y="21590"/>
                    <a:pt x="139" y="21574"/>
                  </a:cubicBezTo>
                  <a:lnTo>
                    <a:pt x="21476" y="21515"/>
                  </a:lnTo>
                  <a:cubicBezTo>
                    <a:pt x="21535" y="21473"/>
                    <a:pt x="21581" y="21191"/>
                    <a:pt x="21587" y="20835"/>
                  </a:cubicBezTo>
                  <a:cubicBezTo>
                    <a:pt x="21594" y="20443"/>
                    <a:pt x="21552" y="20082"/>
                    <a:pt x="21489" y="19993"/>
                  </a:cubicBezTo>
                  <a:lnTo>
                    <a:pt x="10898" y="125"/>
                  </a:lnTo>
                  <a:cubicBezTo>
                    <a:pt x="10866" y="51"/>
                    <a:pt x="10833" y="10"/>
                    <a:pt x="10798" y="2"/>
                  </a:cubicBezTo>
                  <a:cubicBezTo>
                    <a:pt x="10748" y="-10"/>
                    <a:pt x="10699" y="50"/>
                    <a:pt x="10653" y="176"/>
                  </a:cubicBezTo>
                  <a:lnTo>
                    <a:pt x="109" y="19963"/>
                  </a:lnTo>
                  <a:close/>
                </a:path>
              </a:pathLst>
            </a:custGeom>
            <a:solidFill>
              <a:srgbClr val="3368FF"/>
            </a:solidFill>
            <a:ln>
              <a:noFill/>
            </a:ln>
          </p:spPr>
          <p:txBody>
            <a:bodyPr spcFirstLastPara="1" wrap="square" lIns="22868" tIns="22868" rIns="22868" bIns="22868" anchor="t"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13" name="Google Shape;452;p24"/>
            <p:cNvSpPr/>
            <p:nvPr/>
          </p:nvSpPr>
          <p:spPr>
            <a:xfrm>
              <a:off x="2130" y="1562"/>
              <a:ext cx="1003" cy="1196"/>
            </a:xfrm>
            <a:prstGeom prst="roundRect">
              <a:avLst>
                <a:gd name="adj" fmla="val 2676"/>
              </a:avLst>
            </a:prstGeom>
            <a:solidFill>
              <a:srgbClr val="668EFF"/>
            </a:solidFill>
            <a:ln w="12700" cap="flat" cmpd="sng" algn="ctr">
              <a:noFill/>
              <a:prstDash val="solid"/>
              <a:miter lim="800000"/>
            </a:ln>
            <a:effectLst/>
          </p:spPr>
          <p:txBody>
            <a:bodyPr spcFirstLastPara="0" vert="horz" wrap="square" lIns="91444" tIns="45722" rIns="91444" bIns="45722" rtlCol="0" anchor="ctr" anchorCtr="0">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4" name="Google Shape;453;p24"/>
            <p:cNvSpPr/>
            <p:nvPr/>
          </p:nvSpPr>
          <p:spPr>
            <a:xfrm>
              <a:off x="2130" y="1562"/>
              <a:ext cx="1003" cy="155"/>
            </a:xfrm>
            <a:custGeom>
              <a:avLst/>
              <a:gdLst/>
              <a:ahLst/>
              <a:cxnLst/>
              <a:rect l="l" t="t" r="r" b="b"/>
              <a:pathLst>
                <a:path w="21599" h="21600" extrusionOk="0">
                  <a:moveTo>
                    <a:pt x="688" y="0"/>
                  </a:moveTo>
                  <a:cubicBezTo>
                    <a:pt x="486" y="0"/>
                    <a:pt x="365" y="5"/>
                    <a:pt x="284" y="209"/>
                  </a:cubicBezTo>
                  <a:cubicBezTo>
                    <a:pt x="167" y="466"/>
                    <a:pt x="75" y="1022"/>
                    <a:pt x="33" y="1728"/>
                  </a:cubicBezTo>
                  <a:cubicBezTo>
                    <a:pt x="-1" y="2217"/>
                    <a:pt x="0" y="2947"/>
                    <a:pt x="0" y="4171"/>
                  </a:cubicBezTo>
                  <a:lnTo>
                    <a:pt x="0" y="21600"/>
                  </a:lnTo>
                  <a:lnTo>
                    <a:pt x="21599" y="21600"/>
                  </a:lnTo>
                  <a:lnTo>
                    <a:pt x="21599" y="4171"/>
                  </a:lnTo>
                  <a:cubicBezTo>
                    <a:pt x="21599" y="2947"/>
                    <a:pt x="21598" y="2217"/>
                    <a:pt x="21564" y="1728"/>
                  </a:cubicBezTo>
                  <a:cubicBezTo>
                    <a:pt x="21522" y="1022"/>
                    <a:pt x="21430" y="466"/>
                    <a:pt x="21313" y="209"/>
                  </a:cubicBezTo>
                  <a:cubicBezTo>
                    <a:pt x="21232" y="5"/>
                    <a:pt x="21111" y="0"/>
                    <a:pt x="20909" y="0"/>
                  </a:cubicBezTo>
                  <a:lnTo>
                    <a:pt x="688" y="0"/>
                  </a:lnTo>
                  <a:close/>
                </a:path>
              </a:pathLst>
            </a:custGeom>
            <a:solidFill>
              <a:srgbClr val="3368FF"/>
            </a:solidFill>
            <a:ln>
              <a:noFill/>
            </a:ln>
          </p:spPr>
          <p:txBody>
            <a:bodyPr spcFirstLastPara="1" wrap="square" lIns="0" tIns="0" rIns="0" bIns="0" anchor="ctr"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16" name="Google Shape;458;p24"/>
            <p:cNvSpPr/>
            <p:nvPr/>
          </p:nvSpPr>
          <p:spPr>
            <a:xfrm>
              <a:off x="3153" y="1562"/>
              <a:ext cx="1003" cy="1196"/>
            </a:xfrm>
            <a:prstGeom prst="roundRect">
              <a:avLst>
                <a:gd name="adj" fmla="val 2676"/>
              </a:avLst>
            </a:prstGeom>
            <a:solidFill>
              <a:srgbClr val="668EFF"/>
            </a:solidFill>
            <a:ln w="12700" cap="flat" cmpd="sng" algn="ctr">
              <a:noFill/>
              <a:prstDash val="solid"/>
              <a:miter lim="800000"/>
            </a:ln>
            <a:effectLst/>
          </p:spPr>
          <p:txBody>
            <a:bodyPr spcFirstLastPara="0" vert="horz" wrap="square" lIns="91444" tIns="45722" rIns="91444" bIns="45722" rtlCol="0" anchor="ctr" anchorCtr="0">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7" name="Google Shape;459;p24"/>
            <p:cNvSpPr/>
            <p:nvPr/>
          </p:nvSpPr>
          <p:spPr>
            <a:xfrm>
              <a:off x="3153" y="1562"/>
              <a:ext cx="1003" cy="155"/>
            </a:xfrm>
            <a:custGeom>
              <a:avLst/>
              <a:gdLst/>
              <a:ahLst/>
              <a:cxnLst/>
              <a:rect l="l" t="t" r="r" b="b"/>
              <a:pathLst>
                <a:path w="21599" h="21600" extrusionOk="0">
                  <a:moveTo>
                    <a:pt x="688" y="0"/>
                  </a:moveTo>
                  <a:cubicBezTo>
                    <a:pt x="486" y="0"/>
                    <a:pt x="365" y="5"/>
                    <a:pt x="284" y="209"/>
                  </a:cubicBezTo>
                  <a:cubicBezTo>
                    <a:pt x="167" y="466"/>
                    <a:pt x="75" y="1022"/>
                    <a:pt x="33" y="1728"/>
                  </a:cubicBezTo>
                  <a:cubicBezTo>
                    <a:pt x="-1" y="2217"/>
                    <a:pt x="0" y="2947"/>
                    <a:pt x="0" y="4171"/>
                  </a:cubicBezTo>
                  <a:lnTo>
                    <a:pt x="0" y="21600"/>
                  </a:lnTo>
                  <a:lnTo>
                    <a:pt x="21599" y="21600"/>
                  </a:lnTo>
                  <a:lnTo>
                    <a:pt x="21599" y="4171"/>
                  </a:lnTo>
                  <a:cubicBezTo>
                    <a:pt x="21599" y="2947"/>
                    <a:pt x="21598" y="2217"/>
                    <a:pt x="21564" y="1728"/>
                  </a:cubicBezTo>
                  <a:cubicBezTo>
                    <a:pt x="21522" y="1022"/>
                    <a:pt x="21430" y="466"/>
                    <a:pt x="21313" y="209"/>
                  </a:cubicBezTo>
                  <a:cubicBezTo>
                    <a:pt x="21232" y="5"/>
                    <a:pt x="21111" y="0"/>
                    <a:pt x="20909" y="0"/>
                  </a:cubicBezTo>
                  <a:lnTo>
                    <a:pt x="688" y="0"/>
                  </a:lnTo>
                  <a:close/>
                </a:path>
              </a:pathLst>
            </a:custGeom>
            <a:solidFill>
              <a:srgbClr val="3368FF"/>
            </a:solidFill>
            <a:ln>
              <a:noFill/>
            </a:ln>
          </p:spPr>
          <p:txBody>
            <a:bodyPr spcFirstLastPara="1" wrap="square" lIns="0" tIns="0" rIns="0" bIns="0" anchor="ctr"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19" name="Google Shape;465;p24"/>
            <p:cNvSpPr/>
            <p:nvPr/>
          </p:nvSpPr>
          <p:spPr>
            <a:xfrm>
              <a:off x="4176" y="1562"/>
              <a:ext cx="1003" cy="155"/>
            </a:xfrm>
            <a:custGeom>
              <a:avLst/>
              <a:gdLst/>
              <a:ahLst/>
              <a:cxnLst/>
              <a:rect l="l" t="t" r="r" b="b"/>
              <a:pathLst>
                <a:path w="21599" h="21600" extrusionOk="0">
                  <a:moveTo>
                    <a:pt x="688" y="0"/>
                  </a:moveTo>
                  <a:cubicBezTo>
                    <a:pt x="486" y="0"/>
                    <a:pt x="365" y="5"/>
                    <a:pt x="284" y="209"/>
                  </a:cubicBezTo>
                  <a:cubicBezTo>
                    <a:pt x="167" y="466"/>
                    <a:pt x="75" y="1022"/>
                    <a:pt x="33" y="1728"/>
                  </a:cubicBezTo>
                  <a:cubicBezTo>
                    <a:pt x="-1" y="2217"/>
                    <a:pt x="0" y="2947"/>
                    <a:pt x="0" y="4171"/>
                  </a:cubicBezTo>
                  <a:lnTo>
                    <a:pt x="0" y="21600"/>
                  </a:lnTo>
                  <a:lnTo>
                    <a:pt x="21599" y="21600"/>
                  </a:lnTo>
                  <a:lnTo>
                    <a:pt x="21599" y="4171"/>
                  </a:lnTo>
                  <a:cubicBezTo>
                    <a:pt x="21599" y="2947"/>
                    <a:pt x="21598" y="2217"/>
                    <a:pt x="21564" y="1728"/>
                  </a:cubicBezTo>
                  <a:cubicBezTo>
                    <a:pt x="21522" y="1022"/>
                    <a:pt x="21430" y="466"/>
                    <a:pt x="21313" y="209"/>
                  </a:cubicBezTo>
                  <a:cubicBezTo>
                    <a:pt x="21232" y="5"/>
                    <a:pt x="21111" y="0"/>
                    <a:pt x="20909" y="0"/>
                  </a:cubicBezTo>
                  <a:lnTo>
                    <a:pt x="688" y="0"/>
                  </a:lnTo>
                  <a:close/>
                </a:path>
              </a:pathLst>
            </a:custGeom>
            <a:solidFill>
              <a:srgbClr val="3368FF"/>
            </a:solidFill>
            <a:ln>
              <a:noFill/>
            </a:ln>
          </p:spPr>
          <p:txBody>
            <a:bodyPr spcFirstLastPara="1" wrap="square" lIns="0" tIns="0" rIns="0" bIns="0" anchor="ctr" anchorCtr="0">
              <a:noAutofit/>
            </a:bodyPr>
            <a:lstStyle/>
            <a:p>
              <a:pPr algn="ctr">
                <a:buClr>
                  <a:srgbClr val="383838"/>
                </a:buClr>
                <a:buSzPts val="1100"/>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grpSp>
      <p:sp>
        <p:nvSpPr>
          <p:cNvPr id="30" name="文本框 29"/>
          <p:cNvSpPr txBox="1"/>
          <p:nvPr/>
        </p:nvSpPr>
        <p:spPr>
          <a:xfrm>
            <a:off x="2000885" y="833755"/>
            <a:ext cx="1046480" cy="86042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en-US" altLang="zh-CN" sz="5000" b="1">
                <a:solidFill>
                  <a:srgbClr val="383838"/>
                </a:solidFill>
                <a:latin typeface="微软雅黑"/>
                <a:ea typeface="微软雅黑"/>
                <a:cs typeface="微软雅黑"/>
                <a:sym typeface="微软雅黑"/>
              </a:rPr>
              <a:t>①</a:t>
            </a:r>
            <a:endParaRPr lang="en-US" altLang="zh-CN" sz="5000" b="1">
              <a:solidFill>
                <a:srgbClr val="383838"/>
              </a:solidFill>
              <a:latin typeface="微软雅黑"/>
              <a:ea typeface="微软雅黑"/>
              <a:cs typeface="微软雅黑"/>
              <a:sym typeface="微软雅黑"/>
            </a:endParaRPr>
          </a:p>
        </p:txBody>
      </p:sp>
      <p:sp>
        <p:nvSpPr>
          <p:cNvPr id="31" name="文本框 30"/>
          <p:cNvSpPr txBox="1"/>
          <p:nvPr/>
        </p:nvSpPr>
        <p:spPr>
          <a:xfrm>
            <a:off x="5690870" y="2173605"/>
            <a:ext cx="5712460" cy="1706880"/>
          </a:xfrm>
          <a:prstGeom prst="rect">
            <a:avLst/>
          </a:prstGeom>
          <a:noFill/>
        </p:spPr>
        <p:txBody>
          <a:bodyPr wrap="square" rtlCol="0">
            <a:spAutoFit/>
          </a:bodyPr>
          <a:lstStyle/>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设计元素：</a:t>
            </a:r>
            <a:r>
              <a:rPr lang="zh-CN" altLang="en-US" sz="1400">
                <a:solidFill>
                  <a:srgbClr val="383838"/>
                </a:solidFill>
                <a:latin typeface="微软雅黑"/>
                <a:ea typeface="微软雅黑"/>
                <a:cs typeface="微软雅黑"/>
              </a:rPr>
              <a:t>主要由屋顶、支柱层、地基层组成，屋顶层（</a:t>
            </a:r>
            <a:r>
              <a:rPr lang="zh-CN" sz="1400">
                <a:solidFill>
                  <a:srgbClr val="383838"/>
                </a:solidFill>
                <a:latin typeface="微软雅黑"/>
                <a:ea typeface="微软雅黑"/>
                <a:cs typeface="微软雅黑"/>
              </a:rPr>
              <a:t>量化目标</a:t>
            </a:r>
            <a:r>
              <a:rPr lang="zh-CN" altLang="en-US" sz="1400">
                <a:solidFill>
                  <a:srgbClr val="383838"/>
                </a:solidFill>
                <a:latin typeface="微软雅黑"/>
                <a:ea typeface="微软雅黑"/>
                <a:cs typeface="微软雅黑"/>
              </a:rPr>
              <a:t>）、支柱层（多维度拆解）、底基层（基础能力）。</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应用场景：</a:t>
            </a:r>
            <a:r>
              <a:rPr lang="zh-CN" altLang="en-US" sz="1400">
                <a:solidFill>
                  <a:srgbClr val="383838"/>
                </a:solidFill>
                <a:latin typeface="微软雅黑"/>
                <a:ea typeface="微软雅黑"/>
                <a:cs typeface="微软雅黑"/>
              </a:rPr>
              <a:t>主要应用在企业战略汇报、组织架构变革、商业计划书等场景中，</a:t>
            </a:r>
            <a:r>
              <a:rPr lang="zh-CN" altLang="en-US" sz="1400">
                <a:solidFill>
                  <a:srgbClr val="383838"/>
                </a:solidFill>
                <a:latin typeface="微软雅黑"/>
                <a:ea typeface="微软雅黑"/>
                <a:cs typeface="微软雅黑"/>
                <a:sym typeface="微软雅黑"/>
              </a:rPr>
              <a:t>实现将战略目标视觉化、逻辑关系结构化，</a:t>
            </a:r>
            <a:r>
              <a:rPr lang="zh-CN" altLang="en-US" sz="1400">
                <a:solidFill>
                  <a:srgbClr val="383838"/>
                </a:solidFill>
                <a:latin typeface="微软雅黑"/>
                <a:ea typeface="微软雅黑"/>
                <a:cs typeface="微软雅黑"/>
              </a:rPr>
              <a:t>抽象概念具象化。</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0042FF"/>
                </a:solidFill>
                <a:latin typeface="微软雅黑"/>
                <a:ea typeface="微软雅黑"/>
                <a:cs typeface="微软雅黑"/>
              </a:rPr>
              <a:t>核心关键词：</a:t>
            </a:r>
            <a:r>
              <a:rPr lang="zh-CN" altLang="en-US" sz="1400">
                <a:solidFill>
                  <a:srgbClr val="383838"/>
                </a:solidFill>
                <a:latin typeface="微软雅黑"/>
                <a:ea typeface="微软雅黑"/>
                <a:cs typeface="微软雅黑"/>
              </a:rPr>
              <a:t>「上层目标可量化、中层支柱可操作、底层保障可执行」。</a:t>
            </a:r>
            <a:endParaRPr lang="zh-CN" altLang="en-US" sz="1400">
              <a:solidFill>
                <a:srgbClr val="383838"/>
              </a:solidFill>
              <a:latin typeface="微软雅黑"/>
              <a:ea typeface="微软雅黑"/>
              <a:cs typeface="微软雅黑"/>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6" name="图片 145" descr="A01"/>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rot="21060000" flipH="1">
            <a:off x="703580" y="-306070"/>
            <a:ext cx="3044190" cy="4309745"/>
          </a:xfrm>
          <a:prstGeom prst="rect">
            <a:avLst/>
          </a:prstGeom>
        </p:spPr>
      </p:pic>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数智驱动的数字化转型架构</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55600" y="186055"/>
            <a:ext cx="549910" cy="549910"/>
          </a:xfrm>
          <a:prstGeom prst="rect">
            <a:avLst/>
          </a:prstGeom>
        </p:spPr>
      </p:pic>
      <p:sp>
        <p:nvSpPr>
          <p:cNvPr id="68" name="©显眼包PPT5"/>
          <p:cNvSpPr txBox="1"/>
          <p:nvPr/>
        </p:nvSpPr>
        <p:spPr>
          <a:xfrm>
            <a:off x="1598930" y="3234690"/>
            <a:ext cx="230441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A-I-S-A-S</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用户精细运营策略</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6" name="©显眼包PPT6"/>
          <p:cNvSpPr txBox="1"/>
          <p:nvPr/>
        </p:nvSpPr>
        <p:spPr>
          <a:xfrm>
            <a:off x="4486275" y="3291840"/>
            <a:ext cx="327977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O-S-M</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产品生命周期增长路径</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85" name="©显眼包PPT7"/>
          <p:cNvSpPr txBox="1"/>
          <p:nvPr/>
        </p:nvSpPr>
        <p:spPr>
          <a:xfrm>
            <a:off x="7884795" y="3234690"/>
            <a:ext cx="327723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F-A-C-T+</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内容运营生态轴的场景运营</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53" name="©显眼包PPT13"/>
          <p:cNvSpPr/>
          <p:nvPr/>
        </p:nvSpPr>
        <p:spPr>
          <a:xfrm>
            <a:off x="1084580" y="2896235"/>
            <a:ext cx="10055860" cy="239395"/>
          </a:xfrm>
          <a:prstGeom prst="trapezoid">
            <a:avLst>
              <a:gd name="adj" fmla="val 223821"/>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338" name="组合 337"/>
          <p:cNvGrpSpPr/>
          <p:nvPr/>
        </p:nvGrpSpPr>
        <p:grpSpPr>
          <a:xfrm>
            <a:off x="3234290" y="1065045"/>
            <a:ext cx="5792235" cy="606745"/>
            <a:chOff x="3671" y="-1290"/>
            <a:chExt cx="11146" cy="1291"/>
          </a:xfrm>
        </p:grpSpPr>
        <p:sp>
          <p:nvSpPr>
            <p:cNvPr id="334" name="梯形 333"/>
            <p:cNvSpPr/>
            <p:nvPr/>
          </p:nvSpPr>
          <p:spPr>
            <a:xfrm>
              <a:off x="3671" y="-795"/>
              <a:ext cx="11146" cy="796"/>
            </a:xfrm>
            <a:prstGeom prst="trapezoid">
              <a:avLst>
                <a:gd name="adj" fmla="val 443339"/>
              </a:avLst>
            </a:prstGeom>
            <a:gradFill flip="none" rotWithShape="1">
              <a:gsLst>
                <a:gs pos="0">
                  <a:srgbClr val="B3D4FE">
                    <a:alpha val="41000"/>
                  </a:srgbClr>
                </a:gs>
                <a:gs pos="100000">
                  <a:srgbClr val="B3D4FE">
                    <a:alpha val="15000"/>
                  </a:srgbClr>
                </a:gs>
              </a:gsLst>
              <a:lin ang="5400000" scaled="1"/>
              <a:tileRect/>
            </a:gradFill>
            <a:ln w="6350">
              <a:gradFill>
                <a:gsLst>
                  <a:gs pos="0">
                    <a:srgbClr val="B3D4FE"/>
                  </a:gs>
                  <a:gs pos="100000">
                    <a:srgbClr val="B3D4FE"/>
                  </a:gs>
                  <a:gs pos="41000">
                    <a:srgbClr val="B3D4FE">
                      <a:alpha val="0"/>
                    </a:srgbClr>
                  </a:gs>
                  <a:gs pos="70000">
                    <a:srgbClr val="B3D4FE">
                      <a:alpha val="0"/>
                    </a:srgbClr>
                  </a:gs>
                </a:gsLst>
                <a:lin ang="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335" name="紫荆的职场Point28"/>
            <p:cNvSpPr/>
            <p:nvPr/>
          </p:nvSpPr>
          <p:spPr>
            <a:xfrm>
              <a:off x="6808" y="-1290"/>
              <a:ext cx="4897" cy="499"/>
            </a:xfrm>
            <a:prstGeom prst="triangle">
              <a:avLst>
                <a:gd name="adj" fmla="val 50434"/>
              </a:avLst>
            </a:prstGeom>
            <a:gradFill flip="none" rotWithShape="1">
              <a:gsLst>
                <a:gs pos="0">
                  <a:srgbClr val="B3D4FE">
                    <a:alpha val="41000"/>
                  </a:srgbClr>
                </a:gs>
                <a:gs pos="100000">
                  <a:srgbClr val="B3D4FE">
                    <a:alpha val="15000"/>
                  </a:srgbClr>
                </a:gs>
              </a:gsLst>
              <a:lin ang="5400000" scaled="1"/>
              <a:tileRect/>
            </a:gradFill>
            <a:ln w="6350">
              <a:gradFill>
                <a:gsLst>
                  <a:gs pos="0">
                    <a:srgbClr val="B3D4FE">
                      <a:alpha val="81000"/>
                    </a:srgbClr>
                  </a:gs>
                  <a:gs pos="100000">
                    <a:srgbClr val="B3D4FE">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336" name="紫荆的职场Point28"/>
            <p:cNvSpPr/>
            <p:nvPr/>
          </p:nvSpPr>
          <p:spPr>
            <a:xfrm>
              <a:off x="5480" y="-1245"/>
              <a:ext cx="7479" cy="1125"/>
            </a:xfrm>
            <a:prstGeom prst="triangle">
              <a:avLst/>
            </a:prstGeom>
            <a:gradFill flip="none" rotWithShape="1">
              <a:gsLst>
                <a:gs pos="0">
                  <a:srgbClr val="FFFFFF">
                    <a:alpha val="41000"/>
                  </a:srgbClr>
                </a:gs>
                <a:gs pos="100000">
                  <a:srgbClr val="B3D4FE">
                    <a:alpha val="15000"/>
                  </a:srgbClr>
                </a:gs>
              </a:gsLst>
              <a:lin ang="5400000" scaled="1"/>
              <a:tileRect/>
            </a:gradFill>
            <a:ln w="6350">
              <a:gradFill>
                <a:gsLst>
                  <a:gs pos="0">
                    <a:srgbClr val="B3D4FE">
                      <a:alpha val="81000"/>
                    </a:srgbClr>
                  </a:gs>
                  <a:gs pos="100000">
                    <a:srgbClr val="B3D4FE">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grpSp>
      <p:sp>
        <p:nvSpPr>
          <p:cNvPr id="340" name="©显眼包PPT5"/>
          <p:cNvSpPr/>
          <p:nvPr/>
        </p:nvSpPr>
        <p:spPr>
          <a:xfrm>
            <a:off x="3223895" y="1671955"/>
            <a:ext cx="5808345" cy="281940"/>
          </a:xfrm>
          <a:prstGeom prst="rect">
            <a:avLst/>
          </a:prstGeom>
          <a:gradFill flip="none" rotWithShape="1">
            <a:gsLst>
              <a:gs pos="0">
                <a:srgbClr val="B3D4FE"/>
              </a:gs>
              <a:gs pos="54000">
                <a:srgbClr val="3368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对应</a:t>
            </a:r>
            <a:r>
              <a:rPr lang="en-US" altLang="zh-CN" sz="1400" dirty="0">
                <a:solidFill>
                  <a:srgbClr val="FFFFFF"/>
                </a:solidFill>
                <a:latin typeface="微软雅黑"/>
                <a:ea typeface="微软雅黑"/>
                <a:cs typeface="微软雅黑"/>
              </a:rPr>
              <a:t>“</a:t>
            </a:r>
            <a:r>
              <a:rPr lang="zh-CN" altLang="en-US" sz="1400" dirty="0">
                <a:solidFill>
                  <a:srgbClr val="FFFFFF"/>
                </a:solidFill>
                <a:latin typeface="微软雅黑"/>
                <a:ea typeface="微软雅黑"/>
                <a:cs typeface="微软雅黑"/>
              </a:rPr>
              <a:t>战略决策平台</a:t>
            </a:r>
            <a:r>
              <a:rPr lang="en-US" altLang="zh-CN" sz="1400" dirty="0">
                <a:solidFill>
                  <a:srgbClr val="FFFFFF"/>
                </a:solidFill>
                <a:latin typeface="微软雅黑"/>
                <a:ea typeface="微软雅黑"/>
                <a:cs typeface="微软雅黑"/>
              </a:rPr>
              <a:t>”</a:t>
            </a:r>
            <a:r>
              <a:rPr lang="zh-CN" altLang="en-US" sz="1400" dirty="0">
                <a:solidFill>
                  <a:srgbClr val="FFFFFF"/>
                </a:solidFill>
                <a:latin typeface="微软雅黑"/>
                <a:ea typeface="微软雅黑"/>
                <a:cs typeface="微软雅黑"/>
              </a:rPr>
              <a:t>，作为统一入口和决策中心</a:t>
            </a:r>
            <a:endParaRPr lang="zh-CN" altLang="en-US" sz="1400" dirty="0">
              <a:solidFill>
                <a:srgbClr val="FFFFFF"/>
              </a:solidFill>
              <a:latin typeface="微软雅黑"/>
              <a:ea typeface="微软雅黑"/>
              <a:cs typeface="微软雅黑"/>
            </a:endParaRPr>
          </a:p>
        </p:txBody>
      </p:sp>
      <p:sp>
        <p:nvSpPr>
          <p:cNvPr id="21" name="©显眼包PPT16"/>
          <p:cNvSpPr txBox="1"/>
          <p:nvPr/>
        </p:nvSpPr>
        <p:spPr>
          <a:xfrm>
            <a:off x="5288237" y="1271337"/>
            <a:ext cx="1524000" cy="30734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一核</a:t>
            </a: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引领</a:t>
            </a:r>
            <a:endPar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sp>
        <p:nvSpPr>
          <p:cNvPr id="63" name="矩形 62"/>
          <p:cNvSpPr/>
          <p:nvPr/>
        </p:nvSpPr>
        <p:spPr>
          <a:xfrm>
            <a:off x="3223895" y="1990725"/>
            <a:ext cx="1908000" cy="969645"/>
          </a:xfrm>
          <a:prstGeom prst="rect">
            <a:avLst/>
          </a:prstGeom>
          <a:gradFill>
            <a:gsLst>
              <a:gs pos="100000">
                <a:srgbClr val="E6E6E6">
                  <a:alpha val="50000"/>
                </a:srgbClr>
              </a:gs>
              <a:gs pos="0">
                <a:srgbClr val="E6E6E6">
                  <a:alpha val="0"/>
                </a:srgbClr>
              </a:gs>
            </a:gsLst>
            <a:lin ang="5400000" scaled="0"/>
          </a:gradFill>
          <a:ln>
            <a:gradFill>
              <a:gsLst>
                <a:gs pos="0">
                  <a:srgbClr val="E6E6E6"/>
                </a:gs>
                <a:gs pos="100000">
                  <a:srgbClr val="E6E6E6">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5" name="©显眼包PPT24"/>
          <p:cNvSpPr/>
          <p:nvPr/>
        </p:nvSpPr>
        <p:spPr>
          <a:xfrm>
            <a:off x="3374390" y="2092325"/>
            <a:ext cx="1617345" cy="239395"/>
          </a:xfrm>
          <a:prstGeom prst="roundRect">
            <a:avLst>
              <a:gd name="adj" fmla="val 10021"/>
            </a:avLst>
          </a:prstGeom>
          <a:solidFill>
            <a:srgbClr val="E6E6E6">
              <a:alpha val="65000"/>
            </a:srgbClr>
          </a:solidFill>
          <a:ln w="6350">
            <a:solidFill>
              <a:srgbClr val="E6E6E6"/>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100" dirty="0">
                <a:solidFill>
                  <a:srgbClr val="383838"/>
                </a:solidFill>
                <a:latin typeface="微软雅黑"/>
                <a:ea typeface="微软雅黑"/>
                <a:cs typeface="微软雅黑"/>
              </a:rPr>
              <a:t>①</a:t>
            </a:r>
            <a:r>
              <a:rPr lang="en-US" altLang="zh-CN" sz="1100" dirty="0">
                <a:solidFill>
                  <a:srgbClr val="383838"/>
                </a:solidFill>
                <a:latin typeface="微软雅黑"/>
                <a:ea typeface="微软雅黑"/>
                <a:cs typeface="微软雅黑"/>
              </a:rPr>
              <a:t> </a:t>
            </a:r>
            <a:r>
              <a:rPr lang="zh-CN" altLang="en-US" sz="1100" dirty="0">
                <a:solidFill>
                  <a:srgbClr val="383838"/>
                </a:solidFill>
                <a:latin typeface="微软雅黑"/>
                <a:ea typeface="微软雅黑"/>
                <a:cs typeface="微软雅黑"/>
              </a:rPr>
              <a:t>战略执行体系</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6" name="©显眼包PPT25"/>
          <p:cNvSpPr txBox="1"/>
          <p:nvPr/>
        </p:nvSpPr>
        <p:spPr>
          <a:xfrm>
            <a:off x="3330575" y="2406015"/>
            <a:ext cx="1691640" cy="59817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将战略目标分解为可执行计划，建立监控评估机制，驱动组织协同，确保战略逐级落地与动态校准。</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8" name="矩形 77"/>
          <p:cNvSpPr/>
          <p:nvPr/>
        </p:nvSpPr>
        <p:spPr>
          <a:xfrm>
            <a:off x="5171900" y="1990725"/>
            <a:ext cx="1907540" cy="969645"/>
          </a:xfrm>
          <a:prstGeom prst="rect">
            <a:avLst/>
          </a:prstGeom>
          <a:gradFill>
            <a:gsLst>
              <a:gs pos="100000">
                <a:srgbClr val="FFFFFF">
                  <a:alpha val="50000"/>
                </a:srgbClr>
              </a:gs>
              <a:gs pos="0">
                <a:srgbClr val="FFFFFF">
                  <a:alpha val="0"/>
                </a:srgbClr>
              </a:gs>
            </a:gsLst>
            <a:lin ang="5400000" scaled="0"/>
          </a:gradFill>
          <a:ln>
            <a:gradFill>
              <a:gsLst>
                <a:gs pos="0">
                  <a:srgbClr val="FFFFFF"/>
                </a:gs>
                <a:gs pos="100000">
                  <a:srgbClr val="FFFF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9" name="矩形 78"/>
          <p:cNvSpPr/>
          <p:nvPr/>
        </p:nvSpPr>
        <p:spPr>
          <a:xfrm>
            <a:off x="7119445" y="1990725"/>
            <a:ext cx="1907540" cy="969645"/>
          </a:xfrm>
          <a:prstGeom prst="rect">
            <a:avLst/>
          </a:prstGeom>
          <a:gradFill>
            <a:gsLst>
              <a:gs pos="100000">
                <a:srgbClr val="E6E6E6">
                  <a:alpha val="50000"/>
                </a:srgbClr>
              </a:gs>
              <a:gs pos="0">
                <a:srgbClr val="E6E6E6">
                  <a:alpha val="0"/>
                </a:srgbClr>
              </a:gs>
            </a:gsLst>
            <a:lin ang="5400000" scaled="0"/>
          </a:gradFill>
          <a:ln>
            <a:gradFill>
              <a:gsLst>
                <a:gs pos="0">
                  <a:srgbClr val="E6E6E6"/>
                </a:gs>
                <a:gs pos="100000">
                  <a:srgbClr val="E6E6E6">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62" name="©显眼包PPT15"/>
          <p:cNvSpPr/>
          <p:nvPr/>
        </p:nvSpPr>
        <p:spPr>
          <a:xfrm>
            <a:off x="3218180" y="2960370"/>
            <a:ext cx="1913890" cy="76200"/>
          </a:xfrm>
          <a:prstGeom prst="rect">
            <a:avLst/>
          </a:prstGeom>
          <a:gradFill>
            <a:gsLst>
              <a:gs pos="0">
                <a:srgbClr val="3368FF"/>
              </a:gs>
              <a:gs pos="54000">
                <a:srgbClr val="0042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0" name="©显眼包PPT15"/>
          <p:cNvSpPr/>
          <p:nvPr/>
        </p:nvSpPr>
        <p:spPr>
          <a:xfrm>
            <a:off x="5172075" y="2960370"/>
            <a:ext cx="1913890" cy="76200"/>
          </a:xfrm>
          <a:prstGeom prst="rect">
            <a:avLst/>
          </a:prstGeom>
          <a:gradFill>
            <a:gsLst>
              <a:gs pos="0">
                <a:srgbClr val="B3D4FE"/>
              </a:gs>
              <a:gs pos="54000">
                <a:srgbClr val="3368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3" name="©显眼包PPT15"/>
          <p:cNvSpPr/>
          <p:nvPr/>
        </p:nvSpPr>
        <p:spPr>
          <a:xfrm>
            <a:off x="7119620" y="2960370"/>
            <a:ext cx="1913890" cy="76200"/>
          </a:xfrm>
          <a:prstGeom prst="rect">
            <a:avLst/>
          </a:prstGeom>
          <a:gradFill>
            <a:gsLst>
              <a:gs pos="0">
                <a:srgbClr val="3368FF"/>
              </a:gs>
              <a:gs pos="54000">
                <a:srgbClr val="0042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4" name="©显眼包PPT24"/>
          <p:cNvSpPr/>
          <p:nvPr/>
        </p:nvSpPr>
        <p:spPr>
          <a:xfrm>
            <a:off x="7257415" y="2092325"/>
            <a:ext cx="1617345" cy="239395"/>
          </a:xfrm>
          <a:prstGeom prst="roundRect">
            <a:avLst>
              <a:gd name="adj" fmla="val 10021"/>
            </a:avLst>
          </a:prstGeom>
          <a:solidFill>
            <a:srgbClr val="E6E6E6">
              <a:alpha val="65000"/>
            </a:srgbClr>
          </a:solidFill>
          <a:ln w="6350">
            <a:solidFill>
              <a:srgbClr val="E6E6E6"/>
            </a:solid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② 运营支撑平台</a:t>
            </a:r>
            <a:endParaRPr lang="zh-CN" altLang="en-US" sz="1100" dirty="0">
              <a:solidFill>
                <a:srgbClr val="383838"/>
              </a:solidFill>
              <a:latin typeface="微软雅黑"/>
              <a:ea typeface="微软雅黑"/>
              <a:cs typeface="微软雅黑"/>
              <a:sym typeface="微软雅黑"/>
            </a:endParaRPr>
          </a:p>
        </p:txBody>
      </p:sp>
      <p:sp>
        <p:nvSpPr>
          <p:cNvPr id="85" name="©显眼包PPT25"/>
          <p:cNvSpPr txBox="1"/>
          <p:nvPr/>
        </p:nvSpPr>
        <p:spPr>
          <a:xfrm>
            <a:off x="7213600" y="2406015"/>
            <a:ext cx="1691640" cy="59817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通过流程标准化、绩效量化、风险管控与资源优化，构建高效稳定的运营保障体系，支撑业务持续运行。</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6" name="上箭头 85"/>
          <p:cNvSpPr/>
          <p:nvPr/>
        </p:nvSpPr>
        <p:spPr>
          <a:xfrm>
            <a:off x="5625465" y="2022475"/>
            <a:ext cx="274320" cy="244475"/>
          </a:xfrm>
          <a:prstGeom prst="upArrow">
            <a:avLst/>
          </a:prstGeom>
          <a:gradFill>
            <a:gsLst>
              <a:gs pos="0">
                <a:srgbClr val="B3D4FE"/>
              </a:gs>
              <a:gs pos="100000">
                <a:srgbClr val="FFFF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7" name="上箭头 86"/>
          <p:cNvSpPr/>
          <p:nvPr/>
        </p:nvSpPr>
        <p:spPr>
          <a:xfrm>
            <a:off x="6316345" y="2022475"/>
            <a:ext cx="274320" cy="244475"/>
          </a:xfrm>
          <a:prstGeom prst="upArrow">
            <a:avLst/>
          </a:prstGeom>
          <a:gradFill>
            <a:gsLst>
              <a:gs pos="0">
                <a:srgbClr val="B3D4FE"/>
              </a:gs>
              <a:gs pos="100000">
                <a:srgbClr val="FFFF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8" name="矩形 87"/>
          <p:cNvSpPr/>
          <p:nvPr/>
        </p:nvSpPr>
        <p:spPr>
          <a:xfrm>
            <a:off x="5232400" y="2308225"/>
            <a:ext cx="1754505" cy="259715"/>
          </a:xfrm>
          <a:prstGeom prst="rect">
            <a:avLst/>
          </a:prstGeom>
          <a:solidFill>
            <a:srgbClr val="FFFFFF">
              <a:alpha val="50000"/>
            </a:srgbClr>
          </a:solidFill>
          <a:ln w="6350">
            <a:solidFill>
              <a:srgbClr val="3368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战略定位与方向指引</a:t>
            </a:r>
            <a:endParaRPr lang="zh-CN" altLang="en-US" sz="1100" dirty="0">
              <a:solidFill>
                <a:srgbClr val="383838"/>
              </a:solidFill>
              <a:latin typeface="微软雅黑"/>
              <a:ea typeface="微软雅黑"/>
              <a:cs typeface="微软雅黑"/>
              <a:sym typeface="微软雅黑"/>
            </a:endParaRPr>
          </a:p>
        </p:txBody>
      </p:sp>
      <p:sp>
        <p:nvSpPr>
          <p:cNvPr id="89" name="矩形 88"/>
          <p:cNvSpPr/>
          <p:nvPr/>
        </p:nvSpPr>
        <p:spPr>
          <a:xfrm>
            <a:off x="5232400" y="2620010"/>
            <a:ext cx="1754505" cy="259715"/>
          </a:xfrm>
          <a:prstGeom prst="rect">
            <a:avLst/>
          </a:prstGeom>
          <a:solidFill>
            <a:srgbClr val="FFFFFF">
              <a:alpha val="50000"/>
            </a:srgbClr>
          </a:solidFill>
          <a:ln w="6350">
            <a:solidFill>
              <a:srgbClr val="3368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信息整合与决策协同</a:t>
            </a:r>
            <a:endParaRPr lang="zh-CN" altLang="en-US" sz="1100" dirty="0">
              <a:solidFill>
                <a:srgbClr val="383838"/>
              </a:solidFill>
              <a:latin typeface="微软雅黑"/>
              <a:ea typeface="微软雅黑"/>
              <a:cs typeface="微软雅黑"/>
              <a:sym typeface="微软雅黑"/>
            </a:endParaRPr>
          </a:p>
        </p:txBody>
      </p:sp>
      <p:cxnSp>
        <p:nvCxnSpPr>
          <p:cNvPr id="95" name="直接连接符 94"/>
          <p:cNvCxnSpPr/>
          <p:nvPr/>
        </p:nvCxnSpPr>
        <p:spPr>
          <a:xfrm>
            <a:off x="603885" y="1102995"/>
            <a:ext cx="505460" cy="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96" name="直接连接符 95"/>
          <p:cNvCxnSpPr/>
          <p:nvPr/>
        </p:nvCxnSpPr>
        <p:spPr>
          <a:xfrm>
            <a:off x="608330" y="3135630"/>
            <a:ext cx="496570" cy="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97" name="直接箭头连接符 96"/>
          <p:cNvCxnSpPr/>
          <p:nvPr/>
        </p:nvCxnSpPr>
        <p:spPr>
          <a:xfrm>
            <a:off x="856615" y="1219835"/>
            <a:ext cx="0" cy="182435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sp>
        <p:nvSpPr>
          <p:cNvPr id="98" name="文本框 97"/>
          <p:cNvSpPr txBox="1"/>
          <p:nvPr/>
        </p:nvSpPr>
        <p:spPr>
          <a:xfrm>
            <a:off x="431165" y="1393190"/>
            <a:ext cx="333375" cy="1395730"/>
          </a:xfrm>
          <a:prstGeom prst="rect">
            <a:avLst/>
          </a:prstGeom>
          <a:noFill/>
        </p:spPr>
        <p:txBody>
          <a:bodyPr vert="eaVert" wrap="square" rtlCol="0" anchor="ctr" anchorCtr="0">
            <a:no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一核两翼</a:t>
            </a:r>
            <a:r>
              <a:rPr lang="en-US" altLang="zh-CN" sz="1400" b="1">
                <a:solidFill>
                  <a:srgbClr val="383838"/>
                </a:solidFill>
                <a:latin typeface="微软雅黑"/>
                <a:ea typeface="微软雅黑"/>
                <a:cs typeface="微软雅黑"/>
              </a:rPr>
              <a:t>“</a:t>
            </a:r>
            <a:endParaRPr lang="en-US" altLang="zh-CN" sz="1400" b="1">
              <a:solidFill>
                <a:srgbClr val="383838"/>
              </a:solidFill>
              <a:latin typeface="微软雅黑"/>
              <a:ea typeface="微软雅黑"/>
              <a:cs typeface="微软雅黑"/>
            </a:endParaRPr>
          </a:p>
        </p:txBody>
      </p:sp>
      <p:cxnSp>
        <p:nvCxnSpPr>
          <p:cNvPr id="137" name="直接箭头连接符 136"/>
          <p:cNvCxnSpPr/>
          <p:nvPr/>
        </p:nvCxnSpPr>
        <p:spPr>
          <a:xfrm>
            <a:off x="856615" y="3135630"/>
            <a:ext cx="0" cy="182435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sp>
        <p:nvSpPr>
          <p:cNvPr id="138" name="文本框 137"/>
          <p:cNvSpPr txBox="1"/>
          <p:nvPr/>
        </p:nvSpPr>
        <p:spPr>
          <a:xfrm>
            <a:off x="431165" y="3372485"/>
            <a:ext cx="333375" cy="1395730"/>
          </a:xfrm>
          <a:prstGeom prst="rect">
            <a:avLst/>
          </a:prstGeom>
          <a:noFill/>
        </p:spPr>
        <p:txBody>
          <a:bodyPr vert="eaVert" wrap="square" rtlCol="0" anchor="ctr" anchorCtr="0">
            <a:no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四柱支撑</a:t>
            </a:r>
            <a:r>
              <a:rPr lang="en-US" altLang="zh-CN" sz="1400" b="1">
                <a:solidFill>
                  <a:srgbClr val="383838"/>
                </a:solidFill>
                <a:latin typeface="微软雅黑"/>
                <a:ea typeface="微软雅黑"/>
                <a:cs typeface="微软雅黑"/>
              </a:rPr>
              <a:t>“</a:t>
            </a:r>
            <a:endParaRPr lang="en-US" altLang="zh-CN" sz="1400" b="1">
              <a:solidFill>
                <a:srgbClr val="383838"/>
              </a:solidFill>
              <a:latin typeface="微软雅黑"/>
              <a:ea typeface="微软雅黑"/>
              <a:cs typeface="微软雅黑"/>
            </a:endParaRPr>
          </a:p>
        </p:txBody>
      </p:sp>
      <p:sp>
        <p:nvSpPr>
          <p:cNvPr id="140" name="©显眼包PPT10"/>
          <p:cNvSpPr/>
          <p:nvPr/>
        </p:nvSpPr>
        <p:spPr>
          <a:xfrm>
            <a:off x="1109345" y="3135630"/>
            <a:ext cx="10017760" cy="443230"/>
          </a:xfrm>
          <a:prstGeom prst="rect">
            <a:avLst/>
          </a:prstGeom>
          <a:gradFill>
            <a:gsLst>
              <a:gs pos="0">
                <a:srgbClr val="3368FF"/>
              </a:gs>
              <a:gs pos="62000">
                <a:srgbClr val="0042FF"/>
              </a:gs>
            </a:gsLst>
            <a:lin ang="162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在运营支撑平台中体现为</a:t>
            </a:r>
            <a:r>
              <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流程管理、绩效管理、风险控制、资源调度</a:t>
            </a:r>
            <a:r>
              <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四个支柱支撑</a:t>
            </a:r>
            <a:endPar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03" name="矩形: 圆角 118"/>
          <p:cNvSpPr/>
          <p:nvPr/>
        </p:nvSpPr>
        <p:spPr>
          <a:xfrm>
            <a:off x="264795" y="5030470"/>
            <a:ext cx="11661140" cy="1173480"/>
          </a:xfrm>
          <a:prstGeom prst="roundRect">
            <a:avLst>
              <a:gd name="adj" fmla="val 0"/>
            </a:avLst>
          </a:prstGeom>
          <a:solidFill>
            <a:srgbClr val="FFFFFF"/>
          </a:solidFill>
          <a:ln w="12700" cap="flat">
            <a:gradFill>
              <a:gsLst>
                <a:gs pos="35000">
                  <a:srgbClr val="668EFF">
                    <a:alpha val="0"/>
                  </a:srgbClr>
                </a:gs>
                <a:gs pos="0">
                  <a:srgbClr val="668EFF"/>
                </a:gs>
                <a:gs pos="65000">
                  <a:srgbClr val="668EFF">
                    <a:alpha val="0"/>
                  </a:srgbClr>
                </a:gs>
                <a:gs pos="100000">
                  <a:srgbClr val="668EFF"/>
                </a:gs>
              </a:gsLst>
              <a:lin ang="4200000" scaled="0"/>
            </a:gra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825500">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305" name="梯形 304"/>
          <p:cNvSpPr/>
          <p:nvPr/>
        </p:nvSpPr>
        <p:spPr>
          <a:xfrm>
            <a:off x="254000" y="4784090"/>
            <a:ext cx="11685270" cy="246380"/>
          </a:xfrm>
          <a:prstGeom prst="trapezoid">
            <a:avLst>
              <a:gd name="adj" fmla="val 178306"/>
            </a:avLst>
          </a:prstGeom>
          <a:gradFill>
            <a:gsLst>
              <a:gs pos="0">
                <a:srgbClr val="668EFF">
                  <a:alpha val="0"/>
                </a:srgbClr>
              </a:gs>
              <a:gs pos="98165">
                <a:srgbClr val="3368FF"/>
              </a:gs>
              <a:gs pos="88000">
                <a:srgbClr val="3368FF">
                  <a:alpha val="7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354" name="©显眼包PPT8-1"/>
          <p:cNvSpPr/>
          <p:nvPr/>
        </p:nvSpPr>
        <p:spPr>
          <a:xfrm>
            <a:off x="264795" y="6203950"/>
            <a:ext cx="11674475" cy="421640"/>
          </a:xfrm>
          <a:prstGeom prst="rect">
            <a:avLst/>
          </a:prstGeom>
          <a:gradFill>
            <a:gsLst>
              <a:gs pos="0">
                <a:srgbClr val="3368FF"/>
              </a:gs>
              <a:gs pos="62000">
                <a:srgbClr val="0042FF"/>
              </a:gs>
            </a:gsLst>
            <a:lin ang="1620000" scaled="0"/>
          </a:gradFill>
          <a:ln>
            <a:gradFill>
              <a:gsLst>
                <a:gs pos="0">
                  <a:srgbClr val="3368FF"/>
                </a:gs>
                <a:gs pos="100000">
                  <a:srgbClr val="0042FF"/>
                </a:gs>
              </a:gsLst>
              <a:lin ang="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sz="1600" b="1" noProof="0" dirty="0">
                <a:ln>
                  <a:noFill/>
                </a:ln>
                <a:solidFill>
                  <a:srgbClr val="FFFFFF"/>
                </a:solidFill>
                <a:effectLst/>
                <a:uLnTx/>
                <a:uFillTx/>
                <a:latin typeface="微软雅黑"/>
                <a:ea typeface="微软雅黑"/>
                <a:cs typeface="微软雅黑"/>
                <a:sym typeface="微软雅黑"/>
              </a:rPr>
              <a:t>底层支撑的</a:t>
            </a:r>
            <a:r>
              <a:rPr lang="en-US" altLang="zh-CN" sz="1600" b="1" noProof="0" dirty="0">
                <a:ln>
                  <a:noFill/>
                </a:ln>
                <a:solidFill>
                  <a:srgbClr val="FFFFFF"/>
                </a:solidFill>
                <a:effectLst/>
                <a:uLnTx/>
                <a:uFillTx/>
                <a:latin typeface="微软雅黑"/>
                <a:ea typeface="微软雅黑"/>
                <a:cs typeface="微软雅黑"/>
                <a:sym typeface="微软雅黑"/>
              </a:rPr>
              <a:t>”</a:t>
            </a:r>
            <a:r>
              <a:rPr lang="zh-CN" sz="1600" b="1" noProof="0" dirty="0">
                <a:ln>
                  <a:noFill/>
                </a:ln>
                <a:solidFill>
                  <a:srgbClr val="FFFFFF"/>
                </a:solidFill>
                <a:effectLst/>
                <a:uLnTx/>
                <a:uFillTx/>
                <a:latin typeface="微软雅黑"/>
                <a:ea typeface="微软雅黑"/>
                <a:cs typeface="微软雅黑"/>
                <a:sym typeface="微软雅黑"/>
              </a:rPr>
              <a:t>经营管理中枢</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，共同构成从</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战略</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执行</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运营</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优化</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的完整经营管理闭环</a:t>
            </a:r>
            <a:endParaRPr lang="zh-CN" altLang="en-US" sz="1600" b="1" noProof="0" dirty="0">
              <a:ln>
                <a:noFill/>
              </a:ln>
              <a:solidFill>
                <a:srgbClr val="FFFFFF"/>
              </a:solidFill>
              <a:effectLst/>
              <a:uLnTx/>
              <a:uFillTx/>
              <a:latin typeface="微软雅黑"/>
              <a:ea typeface="微软雅黑"/>
              <a:cs typeface="微软雅黑"/>
              <a:sym typeface="微软雅黑"/>
            </a:endParaRPr>
          </a:p>
        </p:txBody>
      </p:sp>
      <p:sp>
        <p:nvSpPr>
          <p:cNvPr id="355" name="©显眼包PPT8-2"/>
          <p:cNvSpPr/>
          <p:nvPr/>
        </p:nvSpPr>
        <p:spPr>
          <a:xfrm>
            <a:off x="267335" y="5741670"/>
            <a:ext cx="11671300" cy="464185"/>
          </a:xfrm>
          <a:prstGeom prst="trapezoid">
            <a:avLst>
              <a:gd name="adj" fmla="val 207256"/>
            </a:avLst>
          </a:prstGeom>
          <a:gradFill>
            <a:gsLst>
              <a:gs pos="0">
                <a:srgbClr val="668EFF">
                  <a:alpha val="0"/>
                </a:srgbClr>
              </a:gs>
              <a:gs pos="100000">
                <a:srgbClr val="3368FF">
                  <a:alpha val="7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622" name="文本框 621"/>
          <p:cNvSpPr txBox="1"/>
          <p:nvPr/>
        </p:nvSpPr>
        <p:spPr>
          <a:xfrm>
            <a:off x="431165" y="4908550"/>
            <a:ext cx="333375" cy="1395730"/>
          </a:xfrm>
          <a:prstGeom prst="rect">
            <a:avLst/>
          </a:prstGeom>
          <a:noFill/>
        </p:spPr>
        <p:txBody>
          <a:bodyPr vert="eaVert" wrap="square" rtlCol="0" anchor="ctr" anchorCtr="0">
            <a:no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底层支撑</a:t>
            </a:r>
            <a:r>
              <a:rPr lang="en-US" altLang="zh-CN" sz="1400" b="1">
                <a:solidFill>
                  <a:srgbClr val="383838"/>
                </a:solidFill>
                <a:latin typeface="微软雅黑"/>
                <a:ea typeface="微软雅黑"/>
                <a:cs typeface="微软雅黑"/>
              </a:rPr>
              <a:t>“</a:t>
            </a:r>
            <a:endParaRPr lang="en-US" altLang="zh-CN" sz="1400" b="1">
              <a:solidFill>
                <a:srgbClr val="383838"/>
              </a:solidFill>
              <a:latin typeface="微软雅黑"/>
              <a:ea typeface="微软雅黑"/>
              <a:cs typeface="微软雅黑"/>
            </a:endParaRPr>
          </a:p>
        </p:txBody>
      </p:sp>
      <p:cxnSp>
        <p:nvCxnSpPr>
          <p:cNvPr id="623" name="直接箭头连接符 622"/>
          <p:cNvCxnSpPr/>
          <p:nvPr/>
        </p:nvCxnSpPr>
        <p:spPr>
          <a:xfrm>
            <a:off x="856615" y="5095240"/>
            <a:ext cx="0" cy="103314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grpSp>
        <p:nvGrpSpPr>
          <p:cNvPr id="345" name="组合 344"/>
          <p:cNvGrpSpPr/>
          <p:nvPr/>
        </p:nvGrpSpPr>
        <p:grpSpPr>
          <a:xfrm>
            <a:off x="3226435" y="5205730"/>
            <a:ext cx="938530" cy="821690"/>
            <a:chOff x="4993" y="8155"/>
            <a:chExt cx="1478" cy="1294"/>
          </a:xfrm>
        </p:grpSpPr>
        <p:grpSp>
          <p:nvGrpSpPr>
            <p:cNvPr id="69" name="组合 68"/>
            <p:cNvGrpSpPr/>
            <p:nvPr/>
          </p:nvGrpSpPr>
          <p:grpSpPr>
            <a:xfrm>
              <a:off x="4993" y="8155"/>
              <a:ext cx="1478" cy="1295"/>
              <a:chOff x="2183" y="8155"/>
              <a:chExt cx="1478" cy="1295"/>
            </a:xfrm>
          </p:grpSpPr>
          <p:sp>
            <p:nvSpPr>
              <p:cNvPr id="76" name="菱形 75"/>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77" name="菱形 76"/>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grpSp>
            <p:nvGrpSpPr>
              <p:cNvPr id="81" name="组合 80"/>
              <p:cNvGrpSpPr/>
              <p:nvPr/>
            </p:nvGrpSpPr>
            <p:grpSpPr>
              <a:xfrm rot="0">
                <a:off x="3571" y="9173"/>
                <a:ext cx="90" cy="59"/>
                <a:chOff x="8353512" y="3886200"/>
                <a:chExt cx="307127" cy="266701"/>
              </a:xfrm>
            </p:grpSpPr>
            <p:cxnSp>
              <p:nvCxnSpPr>
                <p:cNvPr id="82" name="直接连接符 81"/>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99" name="直接连接符 98"/>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00" name="组合 99"/>
              <p:cNvGrpSpPr/>
              <p:nvPr/>
            </p:nvGrpSpPr>
            <p:grpSpPr>
              <a:xfrm rot="0" flipH="1">
                <a:off x="2183" y="9173"/>
                <a:ext cx="90" cy="59"/>
                <a:chOff x="8353512" y="3886200"/>
                <a:chExt cx="307127" cy="266701"/>
              </a:xfrm>
            </p:grpSpPr>
            <p:cxnSp>
              <p:nvCxnSpPr>
                <p:cNvPr id="107" name="直接连接符 106"/>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08" name="直接连接符 107"/>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09" name="直接连接符 108"/>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110" name="直接连接符 109"/>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117" name="菱形 116"/>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118" name="梯形 117"/>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119" name="文本框 118"/>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rPr>
                  <a:t>业务流程</a:t>
                </a:r>
                <a:endPar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协同优化</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pic>
          <p:nvPicPr>
            <p:cNvPr id="344" name="图片 343" descr="流程图／流程状态"/>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443" y="8752"/>
              <a:ext cx="533" cy="533"/>
            </a:xfrm>
            <a:prstGeom prst="rect">
              <a:avLst/>
            </a:prstGeom>
          </p:spPr>
        </p:pic>
      </p:grpSp>
      <p:grpSp>
        <p:nvGrpSpPr>
          <p:cNvPr id="352" name="组合 351"/>
          <p:cNvGrpSpPr/>
          <p:nvPr/>
        </p:nvGrpSpPr>
        <p:grpSpPr>
          <a:xfrm rot="0">
            <a:off x="1484630" y="5205730"/>
            <a:ext cx="938530" cy="822325"/>
            <a:chOff x="2183" y="8155"/>
            <a:chExt cx="1478" cy="1295"/>
          </a:xfrm>
        </p:grpSpPr>
        <p:sp>
          <p:nvSpPr>
            <p:cNvPr id="356" name="菱形 355"/>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357" name="菱形 356"/>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grpSp>
          <p:nvGrpSpPr>
            <p:cNvPr id="358" name="组合 357"/>
            <p:cNvGrpSpPr/>
            <p:nvPr/>
          </p:nvGrpSpPr>
          <p:grpSpPr>
            <a:xfrm rot="0">
              <a:off x="3571" y="9173"/>
              <a:ext cx="90" cy="59"/>
              <a:chOff x="8353512" y="3886200"/>
              <a:chExt cx="307127" cy="266701"/>
            </a:xfrm>
          </p:grpSpPr>
          <p:cxnSp>
            <p:nvCxnSpPr>
              <p:cNvPr id="359" name="直接连接符 358"/>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60" name="直接连接符 359"/>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61" name="组合 360"/>
            <p:cNvGrpSpPr/>
            <p:nvPr/>
          </p:nvGrpSpPr>
          <p:grpSpPr>
            <a:xfrm rot="0" flipH="1">
              <a:off x="2183" y="9173"/>
              <a:ext cx="90" cy="59"/>
              <a:chOff x="8353512" y="3886200"/>
              <a:chExt cx="307127" cy="266701"/>
            </a:xfrm>
          </p:grpSpPr>
          <p:cxnSp>
            <p:nvCxnSpPr>
              <p:cNvPr id="362" name="直接连接符 361"/>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63" name="直接连接符 362"/>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64" name="直接连接符 363"/>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65" name="直接连接符 364"/>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66" name="菱形 365"/>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67" name="梯形 366"/>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68" name="文本框 367"/>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rPr>
                <a:t>战略解码</a:t>
              </a:r>
              <a:endPar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目标传导</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371" name="组合 370"/>
          <p:cNvGrpSpPr/>
          <p:nvPr/>
        </p:nvGrpSpPr>
        <p:grpSpPr>
          <a:xfrm rot="0">
            <a:off x="4968240" y="5205730"/>
            <a:ext cx="938530" cy="822325"/>
            <a:chOff x="2183" y="8155"/>
            <a:chExt cx="1478" cy="1295"/>
          </a:xfrm>
        </p:grpSpPr>
        <p:sp>
          <p:nvSpPr>
            <p:cNvPr id="372" name="菱形 371"/>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373" name="菱形 372"/>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grpSp>
          <p:nvGrpSpPr>
            <p:cNvPr id="374" name="组合 373"/>
            <p:cNvGrpSpPr/>
            <p:nvPr/>
          </p:nvGrpSpPr>
          <p:grpSpPr>
            <a:xfrm rot="0">
              <a:off x="3571" y="9173"/>
              <a:ext cx="90" cy="59"/>
              <a:chOff x="8353512" y="3886200"/>
              <a:chExt cx="307127" cy="266701"/>
            </a:xfrm>
          </p:grpSpPr>
          <p:cxnSp>
            <p:nvCxnSpPr>
              <p:cNvPr id="375" name="直接连接符 374"/>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76" name="直接连接符 375"/>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77" name="组合 376"/>
            <p:cNvGrpSpPr/>
            <p:nvPr/>
          </p:nvGrpSpPr>
          <p:grpSpPr>
            <a:xfrm rot="0" flipH="1">
              <a:off x="2183" y="9173"/>
              <a:ext cx="90" cy="59"/>
              <a:chOff x="8353512" y="3886200"/>
              <a:chExt cx="307127" cy="266701"/>
            </a:xfrm>
          </p:grpSpPr>
          <p:cxnSp>
            <p:nvCxnSpPr>
              <p:cNvPr id="378" name="直接连接符 377"/>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79" name="直接连接符 378"/>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80" name="直接连接符 379"/>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81" name="直接连接符 380"/>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82" name="菱形 381"/>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83" name="梯形 382"/>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84" name="文本框 383"/>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rPr>
                <a:t>数据治理</a:t>
              </a:r>
              <a:endPar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决策支持</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387" name="组合 386"/>
          <p:cNvGrpSpPr/>
          <p:nvPr/>
        </p:nvGrpSpPr>
        <p:grpSpPr>
          <a:xfrm rot="0">
            <a:off x="6710045" y="5205730"/>
            <a:ext cx="938530" cy="822325"/>
            <a:chOff x="2183" y="8155"/>
            <a:chExt cx="1478" cy="1295"/>
          </a:xfrm>
        </p:grpSpPr>
        <p:sp>
          <p:nvSpPr>
            <p:cNvPr id="388" name="菱形 387"/>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389" name="菱形 388"/>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grpSp>
          <p:nvGrpSpPr>
            <p:cNvPr id="390" name="组合 389"/>
            <p:cNvGrpSpPr/>
            <p:nvPr/>
          </p:nvGrpSpPr>
          <p:grpSpPr>
            <a:xfrm rot="0">
              <a:off x="3571" y="9173"/>
              <a:ext cx="90" cy="59"/>
              <a:chOff x="8353512" y="3886200"/>
              <a:chExt cx="307127" cy="266701"/>
            </a:xfrm>
          </p:grpSpPr>
          <p:cxnSp>
            <p:nvCxnSpPr>
              <p:cNvPr id="391" name="直接连接符 390"/>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92" name="直接连接符 391"/>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93" name="组合 392"/>
            <p:cNvGrpSpPr/>
            <p:nvPr/>
          </p:nvGrpSpPr>
          <p:grpSpPr>
            <a:xfrm rot="0" flipH="1">
              <a:off x="2183" y="9173"/>
              <a:ext cx="90" cy="59"/>
              <a:chOff x="8353512" y="3886200"/>
              <a:chExt cx="307127" cy="266701"/>
            </a:xfrm>
          </p:grpSpPr>
          <p:cxnSp>
            <p:nvCxnSpPr>
              <p:cNvPr id="394" name="直接连接符 393"/>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95" name="直接连接符 394"/>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96" name="直接连接符 395"/>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97" name="直接连接符 396"/>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98" name="菱形 397"/>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99" name="梯形 398"/>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400" name="文本框 399"/>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rPr>
                <a:t>组织赋能</a:t>
              </a:r>
              <a:endPar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人才发展</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403" name="组合 402"/>
          <p:cNvGrpSpPr/>
          <p:nvPr/>
        </p:nvGrpSpPr>
        <p:grpSpPr>
          <a:xfrm rot="0">
            <a:off x="8451850" y="5205730"/>
            <a:ext cx="938530" cy="822325"/>
            <a:chOff x="2183" y="8155"/>
            <a:chExt cx="1478" cy="1295"/>
          </a:xfrm>
        </p:grpSpPr>
        <p:sp>
          <p:nvSpPr>
            <p:cNvPr id="404" name="菱形 403"/>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405" name="菱形 404"/>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grpSp>
          <p:nvGrpSpPr>
            <p:cNvPr id="406" name="组合 405"/>
            <p:cNvGrpSpPr/>
            <p:nvPr/>
          </p:nvGrpSpPr>
          <p:grpSpPr>
            <a:xfrm rot="0">
              <a:off x="3571" y="9173"/>
              <a:ext cx="90" cy="59"/>
              <a:chOff x="8353512" y="3886200"/>
              <a:chExt cx="307127" cy="266701"/>
            </a:xfrm>
          </p:grpSpPr>
          <p:cxnSp>
            <p:nvCxnSpPr>
              <p:cNvPr id="407" name="直接连接符 406"/>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08" name="直接连接符 407"/>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409" name="组合 408"/>
            <p:cNvGrpSpPr/>
            <p:nvPr/>
          </p:nvGrpSpPr>
          <p:grpSpPr>
            <a:xfrm rot="0" flipH="1">
              <a:off x="2183" y="9173"/>
              <a:ext cx="90" cy="59"/>
              <a:chOff x="8353512" y="3886200"/>
              <a:chExt cx="307127" cy="266701"/>
            </a:xfrm>
          </p:grpSpPr>
          <p:cxnSp>
            <p:nvCxnSpPr>
              <p:cNvPr id="410" name="直接连接符 409"/>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11" name="直接连接符 410"/>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412" name="直接连接符 411"/>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413" name="直接连接符 412"/>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414" name="菱形 413"/>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415" name="梯形 414"/>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416" name="文本框 415"/>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rPr>
                <a:t>创新孵化</a:t>
              </a:r>
              <a:endPar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变革推动</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419" name="组合 418"/>
          <p:cNvGrpSpPr/>
          <p:nvPr/>
        </p:nvGrpSpPr>
        <p:grpSpPr>
          <a:xfrm rot="0">
            <a:off x="10193655" y="5205730"/>
            <a:ext cx="938530" cy="822325"/>
            <a:chOff x="2183" y="8155"/>
            <a:chExt cx="1478" cy="1295"/>
          </a:xfrm>
        </p:grpSpPr>
        <p:sp>
          <p:nvSpPr>
            <p:cNvPr id="420" name="菱形 419"/>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421" name="菱形 420"/>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grpSp>
          <p:nvGrpSpPr>
            <p:cNvPr id="422" name="组合 421"/>
            <p:cNvGrpSpPr/>
            <p:nvPr/>
          </p:nvGrpSpPr>
          <p:grpSpPr>
            <a:xfrm rot="0">
              <a:off x="3571" y="9173"/>
              <a:ext cx="90" cy="59"/>
              <a:chOff x="8353512" y="3886200"/>
              <a:chExt cx="307127" cy="266701"/>
            </a:xfrm>
          </p:grpSpPr>
          <p:cxnSp>
            <p:nvCxnSpPr>
              <p:cNvPr id="423" name="直接连接符 422"/>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24" name="直接连接符 423"/>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425" name="组合 424"/>
            <p:cNvGrpSpPr/>
            <p:nvPr/>
          </p:nvGrpSpPr>
          <p:grpSpPr>
            <a:xfrm rot="0" flipH="1">
              <a:off x="2183" y="9173"/>
              <a:ext cx="90" cy="59"/>
              <a:chOff x="8353512" y="3886200"/>
              <a:chExt cx="307127" cy="266701"/>
            </a:xfrm>
          </p:grpSpPr>
          <p:cxnSp>
            <p:nvCxnSpPr>
              <p:cNvPr id="426" name="直接连接符 425"/>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27" name="直接连接符 426"/>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428" name="直接连接符 427"/>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429" name="直接连接符 428"/>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430" name="菱形 429"/>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431" name="梯形 430"/>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432" name="文本框 431"/>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rPr>
                <a:t>运营监控</a:t>
              </a:r>
              <a:endParaRPr kumimoji="0" lang="zh-CN" altLang="en-US" sz="1000" b="1" i="0" u="none" strike="noStrike" cap="none" spc="0" normalizeH="0" baseline="0" dirty="0">
                <a:ln>
                  <a:noFill/>
                </a:ln>
                <a:solidFill>
                  <a:srgbClr val="383838"/>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持续改进</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pic>
        <p:nvPicPr>
          <p:cNvPr id="434" name="图片 433" descr="战略目标"/>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832610" y="5635625"/>
            <a:ext cx="235585" cy="235585"/>
          </a:xfrm>
          <a:prstGeom prst="rect">
            <a:avLst/>
          </a:prstGeom>
        </p:spPr>
      </p:pic>
      <p:pic>
        <p:nvPicPr>
          <p:cNvPr id="437" name="图片 436" descr="icon_组织类型_企业组织"/>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040880" y="5593715"/>
            <a:ext cx="303530" cy="303530"/>
          </a:xfrm>
          <a:prstGeom prst="rect">
            <a:avLst/>
          </a:prstGeom>
        </p:spPr>
      </p:pic>
      <p:pic>
        <p:nvPicPr>
          <p:cNvPr id="439" name="图片 438" descr="数据治理"/>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334635" y="5631815"/>
            <a:ext cx="252730" cy="252730"/>
          </a:xfrm>
          <a:prstGeom prst="rect">
            <a:avLst/>
          </a:prstGeom>
        </p:spPr>
      </p:pic>
      <p:pic>
        <p:nvPicPr>
          <p:cNvPr id="440" name="图片 439" descr="解决方案"/>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8800465" y="5598795"/>
            <a:ext cx="272415" cy="272415"/>
          </a:xfrm>
          <a:prstGeom prst="rect">
            <a:avLst/>
          </a:prstGeom>
        </p:spPr>
      </p:pic>
      <p:pic>
        <p:nvPicPr>
          <p:cNvPr id="442" name="图片 441" descr="3运营"/>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0513695" y="5605145"/>
            <a:ext cx="279400" cy="279400"/>
          </a:xfrm>
          <a:prstGeom prst="rect">
            <a:avLst/>
          </a:prstGeom>
        </p:spPr>
      </p:pic>
      <p:grpSp>
        <p:nvGrpSpPr>
          <p:cNvPr id="17" name="组合 16"/>
          <p:cNvGrpSpPr/>
          <p:nvPr/>
        </p:nvGrpSpPr>
        <p:grpSpPr>
          <a:xfrm>
            <a:off x="1685290" y="3708400"/>
            <a:ext cx="1877695" cy="1059180"/>
            <a:chOff x="2750" y="5762"/>
            <a:chExt cx="2957" cy="1668"/>
          </a:xfrm>
        </p:grpSpPr>
        <p:sp>
          <p:nvSpPr>
            <p:cNvPr id="19"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20"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dirty="0">
                  <a:solidFill>
                    <a:srgbClr val="383838"/>
                  </a:solidFill>
                  <a:effectLst/>
                  <a:latin typeface="微软雅黑"/>
                  <a:ea typeface="微软雅黑"/>
                  <a:cs typeface="微软雅黑"/>
                  <a:sym typeface="微软雅黑"/>
                </a:rPr>
                <a:t>以标准化与协同为核心，通过梳理、设计、优化关键业务流程，明确权责与节点，消除冗余与断点，提升整体运营效率与服务质量。</a:t>
              </a:r>
              <a:endParaRPr lang="zh-CN" altLang="en-US" sz="1000" b="0" i="0" dirty="0">
                <a:solidFill>
                  <a:srgbClr val="383838"/>
                </a:solidFill>
                <a:effectLst/>
                <a:latin typeface="微软雅黑"/>
                <a:ea typeface="微软雅黑"/>
                <a:cs typeface="微软雅黑"/>
              </a:endParaRPr>
            </a:p>
          </p:txBody>
        </p:sp>
        <p:grpSp>
          <p:nvGrpSpPr>
            <p:cNvPr id="22" name="组合 21"/>
            <p:cNvGrpSpPr/>
            <p:nvPr/>
          </p:nvGrpSpPr>
          <p:grpSpPr>
            <a:xfrm rot="0">
              <a:off x="2750" y="5762"/>
              <a:ext cx="2957" cy="391"/>
              <a:chOff x="1437949" y="3612626"/>
              <a:chExt cx="1877464" cy="248345"/>
            </a:xfrm>
          </p:grpSpPr>
          <p:sp>
            <p:nvSpPr>
              <p:cNvPr id="23"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 name="显眼包PPT-3"/>
              <p:cNvSpPr txBox="1"/>
              <p:nvPr/>
            </p:nvSpPr>
            <p:spPr>
              <a:xfrm>
                <a:off x="1958983" y="3644702"/>
                <a:ext cx="914288" cy="184195"/>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流程管理支撑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25"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1</a:t>
                </a:r>
                <a:endParaRPr lang="en-US" altLang="zh-CN" sz="1000">
                  <a:solidFill>
                    <a:srgbClr val="FFFFFF"/>
                  </a:solidFill>
                  <a:latin typeface="微软雅黑"/>
                  <a:ea typeface="微软雅黑"/>
                  <a:cs typeface="微软雅黑"/>
                  <a:sym typeface="微软雅黑"/>
                </a:endParaRPr>
              </a:p>
            </p:txBody>
          </p:sp>
        </p:grpSp>
      </p:grpSp>
      <p:grpSp>
        <p:nvGrpSpPr>
          <p:cNvPr id="26" name="组合 25"/>
          <p:cNvGrpSpPr/>
          <p:nvPr/>
        </p:nvGrpSpPr>
        <p:grpSpPr>
          <a:xfrm>
            <a:off x="4138295" y="3708400"/>
            <a:ext cx="1877695" cy="1059180"/>
            <a:chOff x="2750" y="5762"/>
            <a:chExt cx="2957" cy="1668"/>
          </a:xfrm>
        </p:grpSpPr>
        <p:sp>
          <p:nvSpPr>
            <p:cNvPr id="27"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28"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以目标与结果为导向，建立覆盖组织、团队、个人的多层次绩效指标体系，通过目标设定、过程跟踪，驱动实现持续改进与价值创造。</a:t>
              </a:r>
              <a:endParaRPr lang="zh-CN" altLang="en-US" sz="1000" b="0" i="0" dirty="0">
                <a:solidFill>
                  <a:srgbClr val="383838"/>
                </a:solidFill>
                <a:effectLst/>
                <a:latin typeface="微软雅黑"/>
                <a:ea typeface="微软雅黑"/>
                <a:cs typeface="微软雅黑"/>
              </a:endParaRPr>
            </a:p>
          </p:txBody>
        </p:sp>
        <p:grpSp>
          <p:nvGrpSpPr>
            <p:cNvPr id="29" name="组合 28"/>
            <p:cNvGrpSpPr/>
            <p:nvPr/>
          </p:nvGrpSpPr>
          <p:grpSpPr>
            <a:xfrm rot="0">
              <a:off x="2750" y="5762"/>
              <a:ext cx="2957" cy="391"/>
              <a:chOff x="1437949" y="3612626"/>
              <a:chExt cx="1877464" cy="248345"/>
            </a:xfrm>
          </p:grpSpPr>
          <p:sp>
            <p:nvSpPr>
              <p:cNvPr id="30"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1" name="显眼包PPT-3"/>
              <p:cNvSpPr txBox="1"/>
              <p:nvPr/>
            </p:nvSpPr>
            <p:spPr>
              <a:xfrm>
                <a:off x="1958983" y="3644702"/>
                <a:ext cx="914288" cy="184195"/>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绩效管理支撑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32"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2</a:t>
                </a:r>
                <a:endParaRPr lang="en-US" altLang="zh-CN" sz="1000">
                  <a:solidFill>
                    <a:srgbClr val="FFFFFF"/>
                  </a:solidFill>
                  <a:latin typeface="微软雅黑"/>
                  <a:ea typeface="微软雅黑"/>
                  <a:cs typeface="微软雅黑"/>
                  <a:sym typeface="微软雅黑"/>
                </a:endParaRPr>
              </a:p>
            </p:txBody>
          </p:sp>
        </p:grpSp>
      </p:grpSp>
      <p:grpSp>
        <p:nvGrpSpPr>
          <p:cNvPr id="33" name="组合 32"/>
          <p:cNvGrpSpPr/>
          <p:nvPr/>
        </p:nvGrpSpPr>
        <p:grpSpPr>
          <a:xfrm>
            <a:off x="6162675" y="3708400"/>
            <a:ext cx="1877695" cy="1059180"/>
            <a:chOff x="2750" y="5762"/>
            <a:chExt cx="2957" cy="1668"/>
          </a:xfrm>
        </p:grpSpPr>
        <p:sp>
          <p:nvSpPr>
            <p:cNvPr id="34"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35"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以预防与韧性为重点，系统识别、评估、监控运营过程中的内外部风险，建立预警机制与应对预案，保障运营安全，增强组织抵御能力。</a:t>
              </a:r>
              <a:endParaRPr lang="zh-CN" altLang="en-US" sz="1000" b="0" i="0" dirty="0">
                <a:solidFill>
                  <a:srgbClr val="383838"/>
                </a:solidFill>
                <a:effectLst/>
                <a:latin typeface="微软雅黑"/>
                <a:ea typeface="微软雅黑"/>
                <a:cs typeface="微软雅黑"/>
              </a:endParaRPr>
            </a:p>
          </p:txBody>
        </p:sp>
        <p:grpSp>
          <p:nvGrpSpPr>
            <p:cNvPr id="36" name="组合 35"/>
            <p:cNvGrpSpPr/>
            <p:nvPr/>
          </p:nvGrpSpPr>
          <p:grpSpPr>
            <a:xfrm rot="0">
              <a:off x="2750" y="5762"/>
              <a:ext cx="2957" cy="391"/>
              <a:chOff x="1437949" y="3612626"/>
              <a:chExt cx="1877464" cy="248345"/>
            </a:xfrm>
          </p:grpSpPr>
          <p:sp>
            <p:nvSpPr>
              <p:cNvPr id="37"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8" name="显眼包PPT-3"/>
              <p:cNvSpPr txBox="1"/>
              <p:nvPr/>
            </p:nvSpPr>
            <p:spPr>
              <a:xfrm>
                <a:off x="1958983" y="3644702"/>
                <a:ext cx="914288" cy="184195"/>
              </a:xfrm>
              <a:prstGeom prst="rect">
                <a:avLst/>
              </a:prstGeom>
              <a:noFill/>
            </p:spPr>
            <p:txBody>
              <a:bodyPr wrap="none" lIns="0" tIns="0" rIns="0" bIns="0" rtlCol="0">
                <a:spAutoFit/>
              </a:bodyPr>
              <a:lstStyle/>
              <a:p>
                <a:pPr algn="l">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风险控制支撑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39"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3</a:t>
                </a:r>
                <a:endParaRPr lang="en-US" altLang="zh-CN" sz="1000">
                  <a:solidFill>
                    <a:srgbClr val="FFFFFF"/>
                  </a:solidFill>
                  <a:latin typeface="微软雅黑"/>
                  <a:ea typeface="微软雅黑"/>
                  <a:cs typeface="微软雅黑"/>
                  <a:sym typeface="微软雅黑"/>
                </a:endParaRPr>
              </a:p>
            </p:txBody>
          </p:sp>
        </p:grpSp>
      </p:grpSp>
      <p:grpSp>
        <p:nvGrpSpPr>
          <p:cNvPr id="40" name="组合 39"/>
          <p:cNvGrpSpPr/>
          <p:nvPr/>
        </p:nvGrpSpPr>
        <p:grpSpPr>
          <a:xfrm>
            <a:off x="8632190" y="3708400"/>
            <a:ext cx="1877695" cy="1059180"/>
            <a:chOff x="2750" y="5762"/>
            <a:chExt cx="2957" cy="1668"/>
          </a:xfrm>
        </p:grpSpPr>
        <p:sp>
          <p:nvSpPr>
            <p:cNvPr id="41"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42"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以优化与动态配置为手段，统筹协调人力、资金、物资、数据、技术等关键资源，最大化资源利用效率，支撑业务敏捷响应与稳定供给。</a:t>
              </a:r>
              <a:endParaRPr lang="zh-CN" altLang="en-US" sz="1000" b="0" i="0" dirty="0">
                <a:solidFill>
                  <a:srgbClr val="383838"/>
                </a:solidFill>
                <a:effectLst/>
                <a:latin typeface="微软雅黑"/>
                <a:ea typeface="微软雅黑"/>
                <a:cs typeface="微软雅黑"/>
              </a:endParaRPr>
            </a:p>
          </p:txBody>
        </p:sp>
        <p:grpSp>
          <p:nvGrpSpPr>
            <p:cNvPr id="43" name="组合 42"/>
            <p:cNvGrpSpPr/>
            <p:nvPr/>
          </p:nvGrpSpPr>
          <p:grpSpPr>
            <a:xfrm rot="0">
              <a:off x="2750" y="5762"/>
              <a:ext cx="2957" cy="391"/>
              <a:chOff x="1437949" y="3612626"/>
              <a:chExt cx="1877464" cy="248345"/>
            </a:xfrm>
          </p:grpSpPr>
          <p:sp>
            <p:nvSpPr>
              <p:cNvPr id="44"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5" name="显眼包PPT-3"/>
              <p:cNvSpPr txBox="1"/>
              <p:nvPr/>
            </p:nvSpPr>
            <p:spPr>
              <a:xfrm>
                <a:off x="1958983" y="3644702"/>
                <a:ext cx="914288" cy="184195"/>
              </a:xfrm>
              <a:prstGeom prst="rect">
                <a:avLst/>
              </a:prstGeom>
              <a:noFill/>
            </p:spPr>
            <p:txBody>
              <a:bodyPr wrap="none" lIns="0" tIns="0" rIns="0" bIns="0" rtlCol="0">
                <a:spAutoFit/>
              </a:bodyPr>
              <a:lstStyle/>
              <a:p>
                <a:pPr algn="l">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资源调度支撑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46"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4</a:t>
                </a:r>
                <a:endParaRPr lang="en-US" altLang="zh-CN" sz="1000">
                  <a:solidFill>
                    <a:srgbClr val="FFFFFF"/>
                  </a:solidFill>
                  <a:latin typeface="微软雅黑"/>
                  <a:ea typeface="微软雅黑"/>
                  <a:cs typeface="微软雅黑"/>
                  <a:sym typeface="微软雅黑"/>
                </a:endParaRPr>
              </a:p>
            </p:txBody>
          </p:sp>
        </p:grpSp>
      </p:grpSp>
      <p:sp>
        <p:nvSpPr>
          <p:cNvPr id="47" name="上箭头 46"/>
          <p:cNvSpPr/>
          <p:nvPr/>
        </p:nvSpPr>
        <p:spPr>
          <a:xfrm>
            <a:off x="268986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8" name="上箭头 47"/>
          <p:cNvSpPr/>
          <p:nvPr/>
        </p:nvSpPr>
        <p:spPr>
          <a:xfrm>
            <a:off x="443865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9" name="上箭头 48"/>
          <p:cNvSpPr/>
          <p:nvPr/>
        </p:nvSpPr>
        <p:spPr>
          <a:xfrm>
            <a:off x="618744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50" name="上箭头 49"/>
          <p:cNvSpPr/>
          <p:nvPr/>
        </p:nvSpPr>
        <p:spPr>
          <a:xfrm>
            <a:off x="793623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51" name="上箭头 50"/>
          <p:cNvSpPr/>
          <p:nvPr/>
        </p:nvSpPr>
        <p:spPr>
          <a:xfrm>
            <a:off x="968502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nvGrpSpPr>
          <p:cNvPr id="75" name="组合 74"/>
          <p:cNvGrpSpPr/>
          <p:nvPr/>
        </p:nvGrpSpPr>
        <p:grpSpPr>
          <a:xfrm rot="0">
            <a:off x="3631565" y="3603625"/>
            <a:ext cx="387350" cy="1308735"/>
            <a:chOff x="2157" y="5063"/>
            <a:chExt cx="2447" cy="5122"/>
          </a:xfrm>
        </p:grpSpPr>
        <p:sp>
          <p:nvSpPr>
            <p:cNvPr id="101"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02"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03"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04"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05" name="矩形 104"/>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06" name="组合 105"/>
          <p:cNvGrpSpPr/>
          <p:nvPr/>
        </p:nvGrpSpPr>
        <p:grpSpPr>
          <a:xfrm rot="0">
            <a:off x="8152765" y="3603625"/>
            <a:ext cx="387350" cy="1308735"/>
            <a:chOff x="2157" y="5063"/>
            <a:chExt cx="2447" cy="5122"/>
          </a:xfrm>
        </p:grpSpPr>
        <p:sp>
          <p:nvSpPr>
            <p:cNvPr id="120"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1"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2"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3"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4" name="矩形 123"/>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25" name="组合 124"/>
          <p:cNvGrpSpPr/>
          <p:nvPr/>
        </p:nvGrpSpPr>
        <p:grpSpPr>
          <a:xfrm rot="0">
            <a:off x="1240790" y="3603625"/>
            <a:ext cx="387350" cy="1308735"/>
            <a:chOff x="2157" y="5063"/>
            <a:chExt cx="2447" cy="5122"/>
          </a:xfrm>
        </p:grpSpPr>
        <p:sp>
          <p:nvSpPr>
            <p:cNvPr id="126"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7"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8"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9"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0" name="矩形 129"/>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31" name="组合 130"/>
          <p:cNvGrpSpPr/>
          <p:nvPr/>
        </p:nvGrpSpPr>
        <p:grpSpPr>
          <a:xfrm rot="0">
            <a:off x="10615930" y="3603625"/>
            <a:ext cx="387350" cy="1308735"/>
            <a:chOff x="2157" y="5063"/>
            <a:chExt cx="2447" cy="5122"/>
          </a:xfrm>
        </p:grpSpPr>
        <p:sp>
          <p:nvSpPr>
            <p:cNvPr id="132"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33"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4"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35"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6" name="矩形 135"/>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sp>
        <p:nvSpPr>
          <p:cNvPr id="143" name="©显眼包PPT16"/>
          <p:cNvSpPr txBox="1"/>
          <p:nvPr/>
        </p:nvSpPr>
        <p:spPr>
          <a:xfrm>
            <a:off x="2068195" y="1271270"/>
            <a:ext cx="931545" cy="307340"/>
          </a:xfrm>
          <a:prstGeom prst="rect">
            <a:avLst/>
          </a:prstGeom>
          <a:solidFill>
            <a:srgbClr val="FFFFFF"/>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左翼</a:t>
            </a: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endPar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sp>
        <p:nvSpPr>
          <p:cNvPr id="144" name="©显眼包PPT16"/>
          <p:cNvSpPr txBox="1"/>
          <p:nvPr/>
        </p:nvSpPr>
        <p:spPr>
          <a:xfrm>
            <a:off x="9097010" y="1364615"/>
            <a:ext cx="1098550" cy="30734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右翼</a:t>
            </a: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endPar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pic>
        <p:nvPicPr>
          <p:cNvPr id="147" name="图片 146" descr="A01"/>
          <p:cNvPicPr>
            <a:picLocks noChangeAspect="1"/>
          </p:cNvPicPr>
          <p:nvPr/>
        </p:nvPicPr>
        <p:blipFill>
          <a:blip r:embed="rId1">
            <a:extLst>
              <a:ext uri="{96DAC541-7B7A-43D3-8B79-37D633B846F1}">
                <asvg:svgBlip xmlns:asvg="http://schemas.microsoft.com/office/drawing/2016/SVG/main" r:embed="rId17"/>
              </a:ext>
            </a:extLst>
          </a:blip>
          <a:stretch>
            <a:fillRect/>
          </a:stretch>
        </p:blipFill>
        <p:spPr>
          <a:xfrm rot="540000">
            <a:off x="8528685" y="-306070"/>
            <a:ext cx="3044190" cy="4309745"/>
          </a:xfrm>
          <a:prstGeom prst="rect">
            <a:avLst/>
          </a:prstGeom>
        </p:spPr>
      </p:pic>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18"/>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6" name="图片 145" descr="A01"/>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rot="21060000" flipH="1">
            <a:off x="703580" y="-306070"/>
            <a:ext cx="3044190" cy="4309745"/>
          </a:xfrm>
          <a:prstGeom prst="rect">
            <a:avLst/>
          </a:prstGeom>
        </p:spPr>
      </p:pic>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数智驱动的数字化转型架构</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55600" y="186055"/>
            <a:ext cx="549910" cy="549910"/>
          </a:xfrm>
          <a:prstGeom prst="rect">
            <a:avLst/>
          </a:prstGeom>
        </p:spPr>
      </p:pic>
      <p:sp>
        <p:nvSpPr>
          <p:cNvPr id="68" name="©显眼包PPT5"/>
          <p:cNvSpPr txBox="1"/>
          <p:nvPr/>
        </p:nvSpPr>
        <p:spPr>
          <a:xfrm>
            <a:off x="1598930" y="3234690"/>
            <a:ext cx="230441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A-I-S-A-S</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用户精细运营策略</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6" name="©显眼包PPT6"/>
          <p:cNvSpPr txBox="1"/>
          <p:nvPr/>
        </p:nvSpPr>
        <p:spPr>
          <a:xfrm>
            <a:off x="4486275" y="3291840"/>
            <a:ext cx="327977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O-S-M</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产品生命周期增长路径</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85" name="©显眼包PPT7"/>
          <p:cNvSpPr txBox="1"/>
          <p:nvPr/>
        </p:nvSpPr>
        <p:spPr>
          <a:xfrm>
            <a:off x="7884795" y="3234690"/>
            <a:ext cx="327723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F-A-C-T+</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内容运营生态轴的场景运营</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53" name="©显眼包PPT13"/>
          <p:cNvSpPr/>
          <p:nvPr/>
        </p:nvSpPr>
        <p:spPr>
          <a:xfrm>
            <a:off x="1084580" y="2896235"/>
            <a:ext cx="10055860" cy="239395"/>
          </a:xfrm>
          <a:prstGeom prst="trapezoid">
            <a:avLst>
              <a:gd name="adj" fmla="val 223821"/>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338" name="组合 337"/>
          <p:cNvGrpSpPr/>
          <p:nvPr/>
        </p:nvGrpSpPr>
        <p:grpSpPr>
          <a:xfrm>
            <a:off x="3234290" y="1065045"/>
            <a:ext cx="5792235" cy="606745"/>
            <a:chOff x="3671" y="-1290"/>
            <a:chExt cx="11146" cy="1291"/>
          </a:xfrm>
        </p:grpSpPr>
        <p:sp>
          <p:nvSpPr>
            <p:cNvPr id="334" name="梯形 333"/>
            <p:cNvSpPr/>
            <p:nvPr/>
          </p:nvSpPr>
          <p:spPr>
            <a:xfrm>
              <a:off x="3671" y="-795"/>
              <a:ext cx="11146" cy="796"/>
            </a:xfrm>
            <a:prstGeom prst="trapezoid">
              <a:avLst>
                <a:gd name="adj" fmla="val 443339"/>
              </a:avLst>
            </a:prstGeom>
            <a:gradFill flip="none" rotWithShape="1">
              <a:gsLst>
                <a:gs pos="0">
                  <a:srgbClr val="B3D4FE">
                    <a:alpha val="41000"/>
                  </a:srgbClr>
                </a:gs>
                <a:gs pos="100000">
                  <a:srgbClr val="B3D4FE">
                    <a:alpha val="15000"/>
                  </a:srgbClr>
                </a:gs>
              </a:gsLst>
              <a:lin ang="5400000" scaled="1"/>
              <a:tileRect/>
            </a:gradFill>
            <a:ln w="6350">
              <a:gradFill>
                <a:gsLst>
                  <a:gs pos="0">
                    <a:srgbClr val="B3D4FE"/>
                  </a:gs>
                  <a:gs pos="100000">
                    <a:srgbClr val="B3D4FE"/>
                  </a:gs>
                  <a:gs pos="41000">
                    <a:srgbClr val="B3D4FE">
                      <a:alpha val="0"/>
                    </a:srgbClr>
                  </a:gs>
                  <a:gs pos="70000">
                    <a:srgbClr val="B3D4FE">
                      <a:alpha val="0"/>
                    </a:srgbClr>
                  </a:gs>
                </a:gsLst>
                <a:lin ang="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335" name="紫荆的职场Point28"/>
            <p:cNvSpPr/>
            <p:nvPr/>
          </p:nvSpPr>
          <p:spPr>
            <a:xfrm>
              <a:off x="6808" y="-1290"/>
              <a:ext cx="4897" cy="499"/>
            </a:xfrm>
            <a:prstGeom prst="triangle">
              <a:avLst>
                <a:gd name="adj" fmla="val 50434"/>
              </a:avLst>
            </a:prstGeom>
            <a:gradFill flip="none" rotWithShape="1">
              <a:gsLst>
                <a:gs pos="0">
                  <a:srgbClr val="B3D4FE">
                    <a:alpha val="41000"/>
                  </a:srgbClr>
                </a:gs>
                <a:gs pos="100000">
                  <a:srgbClr val="B3D4FE">
                    <a:alpha val="15000"/>
                  </a:srgbClr>
                </a:gs>
              </a:gsLst>
              <a:lin ang="5400000" scaled="1"/>
              <a:tileRect/>
            </a:gradFill>
            <a:ln w="6350">
              <a:gradFill>
                <a:gsLst>
                  <a:gs pos="0">
                    <a:srgbClr val="B3D4FE">
                      <a:alpha val="81000"/>
                    </a:srgbClr>
                  </a:gs>
                  <a:gs pos="100000">
                    <a:srgbClr val="B3D4FE">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336" name="紫荆的职场Point28"/>
            <p:cNvSpPr/>
            <p:nvPr/>
          </p:nvSpPr>
          <p:spPr>
            <a:xfrm>
              <a:off x="5480" y="-1245"/>
              <a:ext cx="7479" cy="1125"/>
            </a:xfrm>
            <a:prstGeom prst="triangle">
              <a:avLst/>
            </a:prstGeom>
            <a:gradFill flip="none" rotWithShape="1">
              <a:gsLst>
                <a:gs pos="0">
                  <a:srgbClr val="FFFFFF">
                    <a:alpha val="41000"/>
                  </a:srgbClr>
                </a:gs>
                <a:gs pos="100000">
                  <a:srgbClr val="B3D4FE">
                    <a:alpha val="15000"/>
                  </a:srgbClr>
                </a:gs>
              </a:gsLst>
              <a:lin ang="5400000" scaled="1"/>
              <a:tileRect/>
            </a:gradFill>
            <a:ln w="6350">
              <a:gradFill>
                <a:gsLst>
                  <a:gs pos="0">
                    <a:srgbClr val="B3D4FE">
                      <a:alpha val="81000"/>
                    </a:srgbClr>
                  </a:gs>
                  <a:gs pos="100000">
                    <a:srgbClr val="B3D4FE">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grpSp>
      <p:sp>
        <p:nvSpPr>
          <p:cNvPr id="340" name="©显眼包PPT5"/>
          <p:cNvSpPr/>
          <p:nvPr/>
        </p:nvSpPr>
        <p:spPr>
          <a:xfrm>
            <a:off x="3223895" y="1671955"/>
            <a:ext cx="5808345" cy="281940"/>
          </a:xfrm>
          <a:prstGeom prst="rect">
            <a:avLst/>
          </a:prstGeom>
          <a:gradFill flip="none" rotWithShape="1">
            <a:gsLst>
              <a:gs pos="0">
                <a:srgbClr val="B3D4FE"/>
              </a:gs>
              <a:gs pos="54000">
                <a:srgbClr val="3368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对应</a:t>
            </a:r>
            <a:r>
              <a:rPr lang="en-US" altLang="zh-CN" sz="1400" dirty="0">
                <a:solidFill>
                  <a:srgbClr val="FFFFFF"/>
                </a:solidFill>
                <a:latin typeface="微软雅黑"/>
                <a:ea typeface="微软雅黑"/>
                <a:cs typeface="微软雅黑"/>
              </a:rPr>
              <a:t>“</a:t>
            </a:r>
            <a:r>
              <a:rPr lang="zh-CN" altLang="en-US" sz="1400" dirty="0">
                <a:solidFill>
                  <a:srgbClr val="FFFFFF"/>
                </a:solidFill>
                <a:latin typeface="微软雅黑"/>
                <a:ea typeface="微软雅黑"/>
                <a:cs typeface="微软雅黑"/>
              </a:rPr>
              <a:t>战略决策平台</a:t>
            </a:r>
            <a:r>
              <a:rPr lang="en-US" altLang="zh-CN" sz="1400" dirty="0">
                <a:solidFill>
                  <a:srgbClr val="FFFFFF"/>
                </a:solidFill>
                <a:latin typeface="微软雅黑"/>
                <a:ea typeface="微软雅黑"/>
                <a:cs typeface="微软雅黑"/>
              </a:rPr>
              <a:t>”</a:t>
            </a:r>
            <a:r>
              <a:rPr lang="zh-CN" altLang="en-US" sz="1400" dirty="0">
                <a:solidFill>
                  <a:srgbClr val="FFFFFF"/>
                </a:solidFill>
                <a:latin typeface="微软雅黑"/>
                <a:ea typeface="微软雅黑"/>
                <a:cs typeface="微软雅黑"/>
              </a:rPr>
              <a:t>，作为统一入口和决策中心</a:t>
            </a:r>
            <a:endParaRPr lang="zh-CN" altLang="en-US" sz="1400" dirty="0">
              <a:solidFill>
                <a:srgbClr val="FFFFFF"/>
              </a:solidFill>
              <a:latin typeface="微软雅黑"/>
              <a:ea typeface="微软雅黑"/>
              <a:cs typeface="微软雅黑"/>
            </a:endParaRPr>
          </a:p>
        </p:txBody>
      </p:sp>
      <p:sp>
        <p:nvSpPr>
          <p:cNvPr id="21" name="©显眼包PPT16"/>
          <p:cNvSpPr txBox="1"/>
          <p:nvPr/>
        </p:nvSpPr>
        <p:spPr>
          <a:xfrm>
            <a:off x="5288237" y="1271337"/>
            <a:ext cx="1524000" cy="30734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一核</a:t>
            </a: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引领</a:t>
            </a:r>
            <a:endPar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sp>
        <p:nvSpPr>
          <p:cNvPr id="63" name="矩形 62"/>
          <p:cNvSpPr/>
          <p:nvPr/>
        </p:nvSpPr>
        <p:spPr>
          <a:xfrm>
            <a:off x="3223895" y="1990725"/>
            <a:ext cx="1908000" cy="969645"/>
          </a:xfrm>
          <a:prstGeom prst="rect">
            <a:avLst/>
          </a:prstGeom>
          <a:gradFill>
            <a:gsLst>
              <a:gs pos="100000">
                <a:srgbClr val="FFFFFF">
                  <a:alpha val="50000"/>
                </a:srgbClr>
              </a:gs>
              <a:gs pos="0">
                <a:srgbClr val="FFFFFF">
                  <a:alpha val="0"/>
                </a:srgbClr>
              </a:gs>
            </a:gsLst>
            <a:lin ang="5400000" scaled="0"/>
          </a:gradFill>
          <a:ln>
            <a:gradFill>
              <a:gsLst>
                <a:gs pos="0">
                  <a:srgbClr val="FFFFFF"/>
                </a:gs>
                <a:gs pos="100000">
                  <a:srgbClr val="FFFF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5" name="©显眼包PPT24"/>
          <p:cNvSpPr/>
          <p:nvPr/>
        </p:nvSpPr>
        <p:spPr>
          <a:xfrm>
            <a:off x="3374390" y="2092325"/>
            <a:ext cx="1617345" cy="239395"/>
          </a:xfrm>
          <a:prstGeom prst="roundRect">
            <a:avLst>
              <a:gd name="adj" fmla="val 10021"/>
            </a:avLst>
          </a:prstGeom>
          <a:solidFill>
            <a:srgbClr val="FFFFFF">
              <a:alpha val="65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100" dirty="0">
                <a:solidFill>
                  <a:srgbClr val="383838"/>
                </a:solidFill>
                <a:latin typeface="微软雅黑"/>
                <a:ea typeface="微软雅黑"/>
                <a:cs typeface="微软雅黑"/>
              </a:rPr>
              <a:t>①</a:t>
            </a:r>
            <a:r>
              <a:rPr lang="en-US" altLang="zh-CN" sz="1100" dirty="0">
                <a:solidFill>
                  <a:srgbClr val="383838"/>
                </a:solidFill>
                <a:latin typeface="微软雅黑"/>
                <a:ea typeface="微软雅黑"/>
                <a:cs typeface="微软雅黑"/>
              </a:rPr>
              <a:t> </a:t>
            </a:r>
            <a:r>
              <a:rPr lang="zh-CN" altLang="en-US" sz="1100" dirty="0">
                <a:solidFill>
                  <a:srgbClr val="383838"/>
                </a:solidFill>
                <a:latin typeface="微软雅黑"/>
                <a:ea typeface="微软雅黑"/>
                <a:cs typeface="微软雅黑"/>
              </a:rPr>
              <a:t>战略执行体系</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6" name="©显眼包PPT25"/>
          <p:cNvSpPr txBox="1"/>
          <p:nvPr/>
        </p:nvSpPr>
        <p:spPr>
          <a:xfrm>
            <a:off x="3330575" y="2406015"/>
            <a:ext cx="1691640" cy="59817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将战略目标分解为可执行计划，建立监控评估机制，驱动组织协同，确保战略逐级落地与动态校准。</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8" name="矩形 77"/>
          <p:cNvSpPr/>
          <p:nvPr/>
        </p:nvSpPr>
        <p:spPr>
          <a:xfrm>
            <a:off x="5171900" y="1990725"/>
            <a:ext cx="1907540" cy="969645"/>
          </a:xfrm>
          <a:prstGeom prst="rect">
            <a:avLst/>
          </a:prstGeom>
          <a:gradFill>
            <a:gsLst>
              <a:gs pos="100000">
                <a:srgbClr val="E6E6E6">
                  <a:alpha val="50000"/>
                </a:srgbClr>
              </a:gs>
              <a:gs pos="0">
                <a:srgbClr val="E6E6E6">
                  <a:alpha val="0"/>
                </a:srgbClr>
              </a:gs>
            </a:gsLst>
            <a:lin ang="5400000" scaled="0"/>
          </a:gradFill>
          <a:ln>
            <a:gradFill>
              <a:gsLst>
                <a:gs pos="0">
                  <a:srgbClr val="E6E6E6"/>
                </a:gs>
                <a:gs pos="100000">
                  <a:srgbClr val="E6E6E6">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9" name="矩形 78"/>
          <p:cNvSpPr/>
          <p:nvPr/>
        </p:nvSpPr>
        <p:spPr>
          <a:xfrm>
            <a:off x="7119445" y="1990725"/>
            <a:ext cx="1907540" cy="969645"/>
          </a:xfrm>
          <a:prstGeom prst="rect">
            <a:avLst/>
          </a:prstGeom>
          <a:gradFill>
            <a:gsLst>
              <a:gs pos="100000">
                <a:srgbClr val="FFFFFF">
                  <a:alpha val="50000"/>
                </a:srgbClr>
              </a:gs>
              <a:gs pos="0">
                <a:srgbClr val="FFFFFF">
                  <a:alpha val="0"/>
                </a:srgbClr>
              </a:gs>
            </a:gsLst>
            <a:lin ang="5400000" scaled="0"/>
          </a:gradFill>
          <a:ln>
            <a:gradFill>
              <a:gsLst>
                <a:gs pos="0">
                  <a:srgbClr val="FFFFFF"/>
                </a:gs>
                <a:gs pos="100000">
                  <a:srgbClr val="FFFF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62" name="©显眼包PPT15"/>
          <p:cNvSpPr/>
          <p:nvPr/>
        </p:nvSpPr>
        <p:spPr>
          <a:xfrm>
            <a:off x="3218180" y="2960370"/>
            <a:ext cx="1913890" cy="76200"/>
          </a:xfrm>
          <a:prstGeom prst="rect">
            <a:avLst/>
          </a:prstGeom>
          <a:gradFill>
            <a:gsLst>
              <a:gs pos="0">
                <a:srgbClr val="B3D4FE"/>
              </a:gs>
              <a:gs pos="54000">
                <a:srgbClr val="3368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0" name="©显眼包PPT15"/>
          <p:cNvSpPr/>
          <p:nvPr/>
        </p:nvSpPr>
        <p:spPr>
          <a:xfrm>
            <a:off x="5172075" y="2960370"/>
            <a:ext cx="1913890" cy="76200"/>
          </a:xfrm>
          <a:prstGeom prst="rect">
            <a:avLst/>
          </a:prstGeom>
          <a:gradFill>
            <a:gsLst>
              <a:gs pos="0">
                <a:srgbClr val="3368FF"/>
              </a:gs>
              <a:gs pos="54000">
                <a:srgbClr val="0042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3" name="©显眼包PPT15"/>
          <p:cNvSpPr/>
          <p:nvPr/>
        </p:nvSpPr>
        <p:spPr>
          <a:xfrm>
            <a:off x="7119620" y="2960370"/>
            <a:ext cx="1913890" cy="76200"/>
          </a:xfrm>
          <a:prstGeom prst="rect">
            <a:avLst/>
          </a:prstGeom>
          <a:gradFill>
            <a:gsLst>
              <a:gs pos="0">
                <a:srgbClr val="B3D4FE"/>
              </a:gs>
              <a:gs pos="54000">
                <a:srgbClr val="3368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4" name="©显眼包PPT24"/>
          <p:cNvSpPr/>
          <p:nvPr/>
        </p:nvSpPr>
        <p:spPr>
          <a:xfrm>
            <a:off x="7257415" y="2092325"/>
            <a:ext cx="1617345" cy="239395"/>
          </a:xfrm>
          <a:prstGeom prst="roundRect">
            <a:avLst>
              <a:gd name="adj" fmla="val 10021"/>
            </a:avLst>
          </a:prstGeom>
          <a:solidFill>
            <a:srgbClr val="FFFFFF">
              <a:alpha val="65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② 运营支撑平台</a:t>
            </a:r>
            <a:endParaRPr lang="zh-CN" altLang="en-US" sz="1100" dirty="0">
              <a:solidFill>
                <a:srgbClr val="383838"/>
              </a:solidFill>
              <a:latin typeface="微软雅黑"/>
              <a:ea typeface="微软雅黑"/>
              <a:cs typeface="微软雅黑"/>
              <a:sym typeface="微软雅黑"/>
            </a:endParaRPr>
          </a:p>
        </p:txBody>
      </p:sp>
      <p:sp>
        <p:nvSpPr>
          <p:cNvPr id="85" name="©显眼包PPT25"/>
          <p:cNvSpPr txBox="1"/>
          <p:nvPr/>
        </p:nvSpPr>
        <p:spPr>
          <a:xfrm>
            <a:off x="7213600" y="2406015"/>
            <a:ext cx="1691640" cy="59817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通过流程标准化、绩效量化、风险管控与资源优化，构建高效稳定的运营保障体系，支撑业务持续运行。</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6" name="上箭头 85"/>
          <p:cNvSpPr/>
          <p:nvPr/>
        </p:nvSpPr>
        <p:spPr>
          <a:xfrm>
            <a:off x="5625465" y="2022475"/>
            <a:ext cx="274320" cy="244475"/>
          </a:xfrm>
          <a:prstGeom prst="upArrow">
            <a:avLst/>
          </a:prstGeom>
          <a:gradFill>
            <a:gsLst>
              <a:gs pos="0">
                <a:srgbClr val="3368FF"/>
              </a:gs>
              <a:gs pos="100000">
                <a:srgbClr val="E6E6E6">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87" name="上箭头 86"/>
          <p:cNvSpPr/>
          <p:nvPr/>
        </p:nvSpPr>
        <p:spPr>
          <a:xfrm>
            <a:off x="6316345" y="2022475"/>
            <a:ext cx="274320" cy="244475"/>
          </a:xfrm>
          <a:prstGeom prst="upArrow">
            <a:avLst/>
          </a:prstGeom>
          <a:gradFill>
            <a:gsLst>
              <a:gs pos="0">
                <a:srgbClr val="3368FF"/>
              </a:gs>
              <a:gs pos="100000">
                <a:srgbClr val="E6E6E6">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88" name="矩形 87"/>
          <p:cNvSpPr/>
          <p:nvPr/>
        </p:nvSpPr>
        <p:spPr>
          <a:xfrm>
            <a:off x="5232400" y="2308225"/>
            <a:ext cx="1754505" cy="259715"/>
          </a:xfrm>
          <a:prstGeom prst="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战略定位与方向指引</a:t>
            </a:r>
            <a:endParaRPr lang="zh-CN" altLang="en-US" sz="1100" dirty="0">
              <a:solidFill>
                <a:srgbClr val="383838"/>
              </a:solidFill>
              <a:latin typeface="微软雅黑"/>
              <a:ea typeface="微软雅黑"/>
              <a:cs typeface="微软雅黑"/>
              <a:sym typeface="微软雅黑"/>
            </a:endParaRPr>
          </a:p>
        </p:txBody>
      </p:sp>
      <p:sp>
        <p:nvSpPr>
          <p:cNvPr id="89" name="矩形 88"/>
          <p:cNvSpPr/>
          <p:nvPr/>
        </p:nvSpPr>
        <p:spPr>
          <a:xfrm>
            <a:off x="5232400" y="2620010"/>
            <a:ext cx="1754505" cy="259715"/>
          </a:xfrm>
          <a:prstGeom prst="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信息整合与决策协同</a:t>
            </a:r>
            <a:endParaRPr lang="zh-CN" altLang="en-US" sz="1100" dirty="0">
              <a:solidFill>
                <a:srgbClr val="383838"/>
              </a:solidFill>
              <a:latin typeface="微软雅黑"/>
              <a:ea typeface="微软雅黑"/>
              <a:cs typeface="微软雅黑"/>
              <a:sym typeface="微软雅黑"/>
            </a:endParaRPr>
          </a:p>
        </p:txBody>
      </p:sp>
      <p:cxnSp>
        <p:nvCxnSpPr>
          <p:cNvPr id="95" name="直接连接符 94"/>
          <p:cNvCxnSpPr/>
          <p:nvPr/>
        </p:nvCxnSpPr>
        <p:spPr>
          <a:xfrm>
            <a:off x="603885" y="1102995"/>
            <a:ext cx="505460" cy="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96" name="直接连接符 95"/>
          <p:cNvCxnSpPr/>
          <p:nvPr/>
        </p:nvCxnSpPr>
        <p:spPr>
          <a:xfrm>
            <a:off x="608330" y="3135630"/>
            <a:ext cx="496570" cy="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97" name="直接箭头连接符 96"/>
          <p:cNvCxnSpPr/>
          <p:nvPr/>
        </p:nvCxnSpPr>
        <p:spPr>
          <a:xfrm>
            <a:off x="856615" y="1219835"/>
            <a:ext cx="0" cy="182435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sp>
        <p:nvSpPr>
          <p:cNvPr id="98" name="文本框 97"/>
          <p:cNvSpPr txBox="1"/>
          <p:nvPr/>
        </p:nvSpPr>
        <p:spPr>
          <a:xfrm>
            <a:off x="431165" y="1393190"/>
            <a:ext cx="333375" cy="1395730"/>
          </a:xfrm>
          <a:prstGeom prst="rect">
            <a:avLst/>
          </a:prstGeom>
          <a:noFill/>
        </p:spPr>
        <p:txBody>
          <a:bodyPr vert="eaVert" wrap="square" rtlCol="0" anchor="ctr" anchorCtr="0">
            <a:no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一核两翼</a:t>
            </a:r>
            <a:r>
              <a:rPr lang="en-US" altLang="zh-CN" sz="1400" b="1">
                <a:solidFill>
                  <a:srgbClr val="383838"/>
                </a:solidFill>
                <a:latin typeface="微软雅黑"/>
                <a:ea typeface="微软雅黑"/>
                <a:cs typeface="微软雅黑"/>
              </a:rPr>
              <a:t>“</a:t>
            </a:r>
            <a:endParaRPr lang="en-US" altLang="zh-CN" sz="1400" b="1">
              <a:solidFill>
                <a:srgbClr val="383838"/>
              </a:solidFill>
              <a:latin typeface="微软雅黑"/>
              <a:ea typeface="微软雅黑"/>
              <a:cs typeface="微软雅黑"/>
            </a:endParaRPr>
          </a:p>
        </p:txBody>
      </p:sp>
      <p:cxnSp>
        <p:nvCxnSpPr>
          <p:cNvPr id="137" name="直接箭头连接符 136"/>
          <p:cNvCxnSpPr/>
          <p:nvPr/>
        </p:nvCxnSpPr>
        <p:spPr>
          <a:xfrm>
            <a:off x="856615" y="3135630"/>
            <a:ext cx="0" cy="182435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sp>
        <p:nvSpPr>
          <p:cNvPr id="138" name="文本框 137"/>
          <p:cNvSpPr txBox="1"/>
          <p:nvPr/>
        </p:nvSpPr>
        <p:spPr>
          <a:xfrm>
            <a:off x="431165" y="3372485"/>
            <a:ext cx="333375" cy="1395730"/>
          </a:xfrm>
          <a:prstGeom prst="rect">
            <a:avLst/>
          </a:prstGeom>
          <a:noFill/>
        </p:spPr>
        <p:txBody>
          <a:bodyPr vert="eaVert" wrap="square" rtlCol="0" anchor="ctr" anchorCtr="0">
            <a:no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四柱支撑</a:t>
            </a:r>
            <a:r>
              <a:rPr lang="en-US" altLang="zh-CN" sz="1400" b="1">
                <a:solidFill>
                  <a:srgbClr val="383838"/>
                </a:solidFill>
                <a:latin typeface="微软雅黑"/>
                <a:ea typeface="微软雅黑"/>
                <a:cs typeface="微软雅黑"/>
              </a:rPr>
              <a:t>“</a:t>
            </a:r>
            <a:endParaRPr lang="en-US" altLang="zh-CN" sz="1400" b="1">
              <a:solidFill>
                <a:srgbClr val="383838"/>
              </a:solidFill>
              <a:latin typeface="微软雅黑"/>
              <a:ea typeface="微软雅黑"/>
              <a:cs typeface="微软雅黑"/>
            </a:endParaRPr>
          </a:p>
        </p:txBody>
      </p:sp>
      <p:sp>
        <p:nvSpPr>
          <p:cNvPr id="140" name="©显眼包PPT10"/>
          <p:cNvSpPr/>
          <p:nvPr/>
        </p:nvSpPr>
        <p:spPr>
          <a:xfrm>
            <a:off x="1109345" y="3135630"/>
            <a:ext cx="10017760" cy="443230"/>
          </a:xfrm>
          <a:prstGeom prst="rect">
            <a:avLst/>
          </a:prstGeom>
          <a:gradFill>
            <a:gsLst>
              <a:gs pos="0">
                <a:srgbClr val="3368FF"/>
              </a:gs>
              <a:gs pos="62000">
                <a:srgbClr val="0042FF"/>
              </a:gs>
            </a:gsLst>
            <a:lin ang="162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在运营支撑平台中体现为</a:t>
            </a:r>
            <a:r>
              <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流程管理、绩效管理、风险控制、资源调度</a:t>
            </a:r>
            <a:r>
              <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四个支柱支撑</a:t>
            </a:r>
            <a:endPar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03" name="矩形: 圆角 118"/>
          <p:cNvSpPr/>
          <p:nvPr/>
        </p:nvSpPr>
        <p:spPr>
          <a:xfrm>
            <a:off x="264795" y="5030470"/>
            <a:ext cx="11661140" cy="1173480"/>
          </a:xfrm>
          <a:prstGeom prst="roundRect">
            <a:avLst>
              <a:gd name="adj" fmla="val 0"/>
            </a:avLst>
          </a:prstGeom>
          <a:solidFill>
            <a:srgbClr val="FFFFFF"/>
          </a:solidFill>
          <a:ln w="12700" cap="flat">
            <a:gradFill>
              <a:gsLst>
                <a:gs pos="35000">
                  <a:srgbClr val="668EFF">
                    <a:alpha val="0"/>
                  </a:srgbClr>
                </a:gs>
                <a:gs pos="0">
                  <a:srgbClr val="668EFF"/>
                </a:gs>
                <a:gs pos="65000">
                  <a:srgbClr val="668EFF">
                    <a:alpha val="0"/>
                  </a:srgbClr>
                </a:gs>
                <a:gs pos="100000">
                  <a:srgbClr val="668EFF"/>
                </a:gs>
              </a:gsLst>
              <a:lin ang="4200000" scaled="0"/>
            </a:gra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825500">
              <a:defRPr>
                <a:solidFill>
                  <a:srgbClr val="FFFFFF"/>
                </a:solidFill>
                <a:latin typeface="微软雅黑"/>
                <a:ea typeface="微软雅黑"/>
                <a:cs typeface="微软雅黑"/>
              </a:defRPr>
            </a:pPr>
            <a:endParaRPr lang="zh-CN" altLang="en-US" sz="1100">
              <a:solidFill>
                <a:srgbClr val="FFFFFF"/>
              </a:solidFill>
              <a:latin typeface="微软雅黑"/>
              <a:ea typeface="微软雅黑"/>
              <a:cs typeface="微软雅黑"/>
              <a:sym typeface="微软雅黑"/>
            </a:endParaRPr>
          </a:p>
        </p:txBody>
      </p:sp>
      <p:sp>
        <p:nvSpPr>
          <p:cNvPr id="305" name="梯形 304"/>
          <p:cNvSpPr/>
          <p:nvPr/>
        </p:nvSpPr>
        <p:spPr>
          <a:xfrm>
            <a:off x="254000" y="4784090"/>
            <a:ext cx="11685270" cy="246380"/>
          </a:xfrm>
          <a:prstGeom prst="trapezoid">
            <a:avLst>
              <a:gd name="adj" fmla="val 178306"/>
            </a:avLst>
          </a:prstGeom>
          <a:gradFill>
            <a:gsLst>
              <a:gs pos="0">
                <a:srgbClr val="668EFF">
                  <a:alpha val="0"/>
                </a:srgbClr>
              </a:gs>
              <a:gs pos="98165">
                <a:srgbClr val="3368FF"/>
              </a:gs>
              <a:gs pos="88000">
                <a:srgbClr val="3368FF">
                  <a:alpha val="7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354" name="©显眼包PPT8-1"/>
          <p:cNvSpPr/>
          <p:nvPr/>
        </p:nvSpPr>
        <p:spPr>
          <a:xfrm>
            <a:off x="264795" y="6203950"/>
            <a:ext cx="11674475" cy="421640"/>
          </a:xfrm>
          <a:prstGeom prst="rect">
            <a:avLst/>
          </a:prstGeom>
          <a:gradFill>
            <a:gsLst>
              <a:gs pos="0">
                <a:srgbClr val="3368FF"/>
              </a:gs>
              <a:gs pos="62000">
                <a:srgbClr val="0042FF"/>
              </a:gs>
            </a:gsLst>
            <a:lin ang="1620000" scaled="0"/>
          </a:gradFill>
          <a:ln>
            <a:gradFill>
              <a:gsLst>
                <a:gs pos="0">
                  <a:srgbClr val="3368FF"/>
                </a:gs>
                <a:gs pos="100000">
                  <a:srgbClr val="0042FF"/>
                </a:gs>
              </a:gsLst>
              <a:lin ang="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sz="1600" b="1" noProof="0" dirty="0">
                <a:ln>
                  <a:noFill/>
                </a:ln>
                <a:solidFill>
                  <a:srgbClr val="FFFFFF"/>
                </a:solidFill>
                <a:effectLst/>
                <a:uLnTx/>
                <a:uFillTx/>
                <a:latin typeface="微软雅黑"/>
                <a:ea typeface="微软雅黑"/>
                <a:cs typeface="微软雅黑"/>
                <a:sym typeface="微软雅黑"/>
              </a:rPr>
              <a:t>底层支撑的</a:t>
            </a:r>
            <a:r>
              <a:rPr lang="en-US" altLang="zh-CN" sz="1600" b="1" noProof="0" dirty="0">
                <a:ln>
                  <a:noFill/>
                </a:ln>
                <a:solidFill>
                  <a:srgbClr val="FFFFFF"/>
                </a:solidFill>
                <a:effectLst/>
                <a:uLnTx/>
                <a:uFillTx/>
                <a:latin typeface="微软雅黑"/>
                <a:ea typeface="微软雅黑"/>
                <a:cs typeface="微软雅黑"/>
                <a:sym typeface="微软雅黑"/>
              </a:rPr>
              <a:t>”</a:t>
            </a:r>
            <a:r>
              <a:rPr lang="zh-CN" sz="1600" b="1" noProof="0" dirty="0">
                <a:ln>
                  <a:noFill/>
                </a:ln>
                <a:solidFill>
                  <a:srgbClr val="FFFFFF"/>
                </a:solidFill>
                <a:effectLst/>
                <a:uLnTx/>
                <a:uFillTx/>
                <a:latin typeface="微软雅黑"/>
                <a:ea typeface="微软雅黑"/>
                <a:cs typeface="微软雅黑"/>
                <a:sym typeface="微软雅黑"/>
              </a:rPr>
              <a:t>经营管理中枢</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，共同构成从</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战略</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执行</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运营</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优化</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的完整经营管理闭环</a:t>
            </a:r>
            <a:endParaRPr lang="zh-CN" altLang="en-US" sz="1600" b="1" noProof="0" dirty="0">
              <a:ln>
                <a:noFill/>
              </a:ln>
              <a:solidFill>
                <a:srgbClr val="FFFFFF"/>
              </a:solidFill>
              <a:effectLst/>
              <a:uLnTx/>
              <a:uFillTx/>
              <a:latin typeface="微软雅黑"/>
              <a:ea typeface="微软雅黑"/>
              <a:cs typeface="微软雅黑"/>
              <a:sym typeface="微软雅黑"/>
            </a:endParaRPr>
          </a:p>
        </p:txBody>
      </p:sp>
      <p:sp>
        <p:nvSpPr>
          <p:cNvPr id="355" name="©显眼包PPT8-2"/>
          <p:cNvSpPr/>
          <p:nvPr/>
        </p:nvSpPr>
        <p:spPr>
          <a:xfrm>
            <a:off x="267335" y="5741670"/>
            <a:ext cx="11671300" cy="464185"/>
          </a:xfrm>
          <a:prstGeom prst="trapezoid">
            <a:avLst>
              <a:gd name="adj" fmla="val 207256"/>
            </a:avLst>
          </a:prstGeom>
          <a:gradFill>
            <a:gsLst>
              <a:gs pos="0">
                <a:srgbClr val="668EFF">
                  <a:alpha val="0"/>
                </a:srgbClr>
              </a:gs>
              <a:gs pos="100000">
                <a:srgbClr val="3368FF">
                  <a:alpha val="7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622" name="文本框 621"/>
          <p:cNvSpPr txBox="1"/>
          <p:nvPr/>
        </p:nvSpPr>
        <p:spPr>
          <a:xfrm>
            <a:off x="431165" y="4908550"/>
            <a:ext cx="333375" cy="1395730"/>
          </a:xfrm>
          <a:prstGeom prst="rect">
            <a:avLst/>
          </a:prstGeom>
          <a:noFill/>
        </p:spPr>
        <p:txBody>
          <a:bodyPr vert="eaVert" wrap="square" rtlCol="0" anchor="ctr" anchorCtr="0">
            <a:noAutofit/>
          </a:bodyPr>
          <a:p>
            <a:pPr algn="ctr">
              <a:defRPr>
                <a:solidFill>
                  <a:srgbClr val="FFFFFF"/>
                </a:solidFill>
                <a:latin typeface="微软雅黑"/>
                <a:ea typeface="微软雅黑"/>
                <a:cs typeface="微软雅黑"/>
              </a:defRPr>
            </a:pPr>
            <a:r>
              <a:rPr lang="en-US" altLang="zh-CN" sz="1400" b="1">
                <a:solidFill>
                  <a:srgbClr val="FFFFFF"/>
                </a:solidFill>
                <a:latin typeface="微软雅黑"/>
                <a:ea typeface="微软雅黑"/>
                <a:cs typeface="微软雅黑"/>
              </a:rPr>
              <a:t>”</a:t>
            </a:r>
            <a:r>
              <a:rPr lang="zh-CN" altLang="en-US" sz="1400" b="1">
                <a:solidFill>
                  <a:srgbClr val="FFFFFF"/>
                </a:solidFill>
                <a:latin typeface="微软雅黑"/>
                <a:ea typeface="微软雅黑"/>
                <a:cs typeface="微软雅黑"/>
              </a:rPr>
              <a:t>底层支撑</a:t>
            </a:r>
            <a:r>
              <a:rPr lang="en-US" altLang="zh-CN" sz="1400" b="1">
                <a:solidFill>
                  <a:srgbClr val="FFFFFF"/>
                </a:solidFill>
                <a:latin typeface="微软雅黑"/>
                <a:ea typeface="微软雅黑"/>
                <a:cs typeface="微软雅黑"/>
              </a:rPr>
              <a:t>“</a:t>
            </a:r>
            <a:endParaRPr lang="en-US" altLang="zh-CN" sz="1400" b="1">
              <a:solidFill>
                <a:srgbClr val="FFFFFF"/>
              </a:solidFill>
              <a:latin typeface="微软雅黑"/>
              <a:ea typeface="微软雅黑"/>
              <a:cs typeface="微软雅黑"/>
            </a:endParaRPr>
          </a:p>
        </p:txBody>
      </p:sp>
      <p:cxnSp>
        <p:nvCxnSpPr>
          <p:cNvPr id="623" name="直接箭头连接符 622"/>
          <p:cNvCxnSpPr/>
          <p:nvPr/>
        </p:nvCxnSpPr>
        <p:spPr>
          <a:xfrm>
            <a:off x="856615" y="5095240"/>
            <a:ext cx="0" cy="103314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grpSp>
        <p:nvGrpSpPr>
          <p:cNvPr id="345" name="组合 344"/>
          <p:cNvGrpSpPr/>
          <p:nvPr/>
        </p:nvGrpSpPr>
        <p:grpSpPr>
          <a:xfrm>
            <a:off x="3226435" y="5205730"/>
            <a:ext cx="938530" cy="821690"/>
            <a:chOff x="4993" y="8155"/>
            <a:chExt cx="1478" cy="1294"/>
          </a:xfrm>
        </p:grpSpPr>
        <p:grpSp>
          <p:nvGrpSpPr>
            <p:cNvPr id="69" name="组合 68"/>
            <p:cNvGrpSpPr/>
            <p:nvPr/>
          </p:nvGrpSpPr>
          <p:grpSpPr>
            <a:xfrm>
              <a:off x="4993" y="8155"/>
              <a:ext cx="1478" cy="1295"/>
              <a:chOff x="2183" y="8155"/>
              <a:chExt cx="1478" cy="1295"/>
            </a:xfrm>
          </p:grpSpPr>
          <p:sp>
            <p:nvSpPr>
              <p:cNvPr id="76" name="菱形 75"/>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77" name="菱形 76"/>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81" name="组合 80"/>
              <p:cNvGrpSpPr/>
              <p:nvPr/>
            </p:nvGrpSpPr>
            <p:grpSpPr>
              <a:xfrm rot="0">
                <a:off x="3571" y="9173"/>
                <a:ext cx="90" cy="59"/>
                <a:chOff x="8353512" y="3886200"/>
                <a:chExt cx="307127" cy="266701"/>
              </a:xfrm>
            </p:grpSpPr>
            <p:cxnSp>
              <p:nvCxnSpPr>
                <p:cNvPr id="82" name="直接连接符 81"/>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99" name="直接连接符 98"/>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00" name="组合 99"/>
              <p:cNvGrpSpPr/>
              <p:nvPr/>
            </p:nvGrpSpPr>
            <p:grpSpPr>
              <a:xfrm rot="0" flipH="1">
                <a:off x="2183" y="9173"/>
                <a:ext cx="90" cy="59"/>
                <a:chOff x="8353512" y="3886200"/>
                <a:chExt cx="307127" cy="266701"/>
              </a:xfrm>
            </p:grpSpPr>
            <p:cxnSp>
              <p:nvCxnSpPr>
                <p:cNvPr id="107" name="直接连接符 106"/>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08" name="直接连接符 107"/>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09" name="直接连接符 108"/>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110" name="直接连接符 109"/>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117" name="菱形 116"/>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118" name="梯形 117"/>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119" name="文本框 118"/>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rPr>
                  <a:t>业务流程</a:t>
                </a:r>
                <a:endPar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rPr>
                  <a:t>协同优化</a:t>
                </a:r>
                <a:endPar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endParaRPr>
              </a:p>
            </p:txBody>
          </p:sp>
        </p:grpSp>
        <p:pic>
          <p:nvPicPr>
            <p:cNvPr id="344" name="图片 343" descr="流程图／流程状态"/>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443" y="8752"/>
              <a:ext cx="533" cy="533"/>
            </a:xfrm>
            <a:prstGeom prst="rect">
              <a:avLst/>
            </a:prstGeom>
          </p:spPr>
        </p:pic>
      </p:grpSp>
      <p:grpSp>
        <p:nvGrpSpPr>
          <p:cNvPr id="352" name="组合 351"/>
          <p:cNvGrpSpPr/>
          <p:nvPr/>
        </p:nvGrpSpPr>
        <p:grpSpPr>
          <a:xfrm rot="0">
            <a:off x="1484630" y="5205730"/>
            <a:ext cx="938530" cy="822325"/>
            <a:chOff x="2183" y="8155"/>
            <a:chExt cx="1478" cy="1295"/>
          </a:xfrm>
        </p:grpSpPr>
        <p:sp>
          <p:nvSpPr>
            <p:cNvPr id="356" name="菱形 355"/>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357" name="菱形 356"/>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358" name="组合 357"/>
            <p:cNvGrpSpPr/>
            <p:nvPr/>
          </p:nvGrpSpPr>
          <p:grpSpPr>
            <a:xfrm rot="0">
              <a:off x="3571" y="9173"/>
              <a:ext cx="90" cy="59"/>
              <a:chOff x="8353512" y="3886200"/>
              <a:chExt cx="307127" cy="266701"/>
            </a:xfrm>
          </p:grpSpPr>
          <p:cxnSp>
            <p:nvCxnSpPr>
              <p:cNvPr id="359" name="直接连接符 358"/>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60" name="直接连接符 359"/>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61" name="组合 360"/>
            <p:cNvGrpSpPr/>
            <p:nvPr/>
          </p:nvGrpSpPr>
          <p:grpSpPr>
            <a:xfrm rot="0" flipH="1">
              <a:off x="2183" y="9173"/>
              <a:ext cx="90" cy="59"/>
              <a:chOff x="8353512" y="3886200"/>
              <a:chExt cx="307127" cy="266701"/>
            </a:xfrm>
          </p:grpSpPr>
          <p:cxnSp>
            <p:nvCxnSpPr>
              <p:cNvPr id="362" name="直接连接符 361"/>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63" name="直接连接符 362"/>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64" name="直接连接符 363"/>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65" name="直接连接符 364"/>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66" name="菱形 365"/>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67" name="梯形 366"/>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68" name="文本框 367"/>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rPr>
                <a:t>战略解码</a:t>
              </a:r>
              <a:endPar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rPr>
                <a:t>目标传导</a:t>
              </a:r>
              <a:endPar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endParaRPr>
            </a:p>
          </p:txBody>
        </p:sp>
      </p:grpSp>
      <p:grpSp>
        <p:nvGrpSpPr>
          <p:cNvPr id="371" name="组合 370"/>
          <p:cNvGrpSpPr/>
          <p:nvPr/>
        </p:nvGrpSpPr>
        <p:grpSpPr>
          <a:xfrm rot="0">
            <a:off x="4968240" y="5205730"/>
            <a:ext cx="938530" cy="822325"/>
            <a:chOff x="2183" y="8155"/>
            <a:chExt cx="1478" cy="1295"/>
          </a:xfrm>
        </p:grpSpPr>
        <p:sp>
          <p:nvSpPr>
            <p:cNvPr id="372" name="菱形 371"/>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373" name="菱形 372"/>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374" name="组合 373"/>
            <p:cNvGrpSpPr/>
            <p:nvPr/>
          </p:nvGrpSpPr>
          <p:grpSpPr>
            <a:xfrm rot="0">
              <a:off x="3571" y="9173"/>
              <a:ext cx="90" cy="59"/>
              <a:chOff x="8353512" y="3886200"/>
              <a:chExt cx="307127" cy="266701"/>
            </a:xfrm>
          </p:grpSpPr>
          <p:cxnSp>
            <p:nvCxnSpPr>
              <p:cNvPr id="375" name="直接连接符 374"/>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76" name="直接连接符 375"/>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77" name="组合 376"/>
            <p:cNvGrpSpPr/>
            <p:nvPr/>
          </p:nvGrpSpPr>
          <p:grpSpPr>
            <a:xfrm rot="0" flipH="1">
              <a:off x="2183" y="9173"/>
              <a:ext cx="90" cy="59"/>
              <a:chOff x="8353512" y="3886200"/>
              <a:chExt cx="307127" cy="266701"/>
            </a:xfrm>
          </p:grpSpPr>
          <p:cxnSp>
            <p:nvCxnSpPr>
              <p:cNvPr id="378" name="直接连接符 377"/>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79" name="直接连接符 378"/>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80" name="直接连接符 379"/>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81" name="直接连接符 380"/>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82" name="菱形 381"/>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83" name="梯形 382"/>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84" name="文本框 383"/>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rPr>
                <a:t>数据治理</a:t>
              </a:r>
              <a:endPar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rPr>
                <a:t>决策支持</a:t>
              </a:r>
              <a:endPar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endParaRPr>
            </a:p>
          </p:txBody>
        </p:sp>
      </p:grpSp>
      <p:grpSp>
        <p:nvGrpSpPr>
          <p:cNvPr id="387" name="组合 386"/>
          <p:cNvGrpSpPr/>
          <p:nvPr/>
        </p:nvGrpSpPr>
        <p:grpSpPr>
          <a:xfrm rot="0">
            <a:off x="6710045" y="5205730"/>
            <a:ext cx="938530" cy="822325"/>
            <a:chOff x="2183" y="8155"/>
            <a:chExt cx="1478" cy="1295"/>
          </a:xfrm>
        </p:grpSpPr>
        <p:sp>
          <p:nvSpPr>
            <p:cNvPr id="388" name="菱形 387"/>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389" name="菱形 388"/>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390" name="组合 389"/>
            <p:cNvGrpSpPr/>
            <p:nvPr/>
          </p:nvGrpSpPr>
          <p:grpSpPr>
            <a:xfrm rot="0">
              <a:off x="3571" y="9173"/>
              <a:ext cx="90" cy="59"/>
              <a:chOff x="8353512" y="3886200"/>
              <a:chExt cx="307127" cy="266701"/>
            </a:xfrm>
          </p:grpSpPr>
          <p:cxnSp>
            <p:nvCxnSpPr>
              <p:cNvPr id="391" name="直接连接符 390"/>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92" name="直接连接符 391"/>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93" name="组合 392"/>
            <p:cNvGrpSpPr/>
            <p:nvPr/>
          </p:nvGrpSpPr>
          <p:grpSpPr>
            <a:xfrm rot="0" flipH="1">
              <a:off x="2183" y="9173"/>
              <a:ext cx="90" cy="59"/>
              <a:chOff x="8353512" y="3886200"/>
              <a:chExt cx="307127" cy="266701"/>
            </a:xfrm>
          </p:grpSpPr>
          <p:cxnSp>
            <p:nvCxnSpPr>
              <p:cNvPr id="394" name="直接连接符 393"/>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95" name="直接连接符 394"/>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96" name="直接连接符 395"/>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97" name="直接连接符 396"/>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98" name="菱形 397"/>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99" name="梯形 398"/>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00" name="文本框 399"/>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rPr>
                <a:t>组织赋能</a:t>
              </a:r>
              <a:endPar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rPr>
                <a:t>人才发展</a:t>
              </a:r>
              <a:endPar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endParaRPr>
            </a:p>
          </p:txBody>
        </p:sp>
      </p:grpSp>
      <p:grpSp>
        <p:nvGrpSpPr>
          <p:cNvPr id="403" name="组合 402"/>
          <p:cNvGrpSpPr/>
          <p:nvPr/>
        </p:nvGrpSpPr>
        <p:grpSpPr>
          <a:xfrm rot="0">
            <a:off x="8451850" y="5205730"/>
            <a:ext cx="938530" cy="822325"/>
            <a:chOff x="2183" y="8155"/>
            <a:chExt cx="1478" cy="1295"/>
          </a:xfrm>
        </p:grpSpPr>
        <p:sp>
          <p:nvSpPr>
            <p:cNvPr id="404" name="菱形 403"/>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405" name="菱形 404"/>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406" name="组合 405"/>
            <p:cNvGrpSpPr/>
            <p:nvPr/>
          </p:nvGrpSpPr>
          <p:grpSpPr>
            <a:xfrm rot="0">
              <a:off x="3571" y="9173"/>
              <a:ext cx="90" cy="59"/>
              <a:chOff x="8353512" y="3886200"/>
              <a:chExt cx="307127" cy="266701"/>
            </a:xfrm>
          </p:grpSpPr>
          <p:cxnSp>
            <p:nvCxnSpPr>
              <p:cNvPr id="407" name="直接连接符 406"/>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08" name="直接连接符 407"/>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409" name="组合 408"/>
            <p:cNvGrpSpPr/>
            <p:nvPr/>
          </p:nvGrpSpPr>
          <p:grpSpPr>
            <a:xfrm rot="0" flipH="1">
              <a:off x="2183" y="9173"/>
              <a:ext cx="90" cy="59"/>
              <a:chOff x="8353512" y="3886200"/>
              <a:chExt cx="307127" cy="266701"/>
            </a:xfrm>
          </p:grpSpPr>
          <p:cxnSp>
            <p:nvCxnSpPr>
              <p:cNvPr id="410" name="直接连接符 409"/>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11" name="直接连接符 410"/>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412" name="直接连接符 411"/>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413" name="直接连接符 412"/>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414" name="菱形 413"/>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15" name="梯形 414"/>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16" name="文本框 415"/>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rPr>
                <a:t>创新孵化</a:t>
              </a:r>
              <a:endPar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rPr>
                <a:t>变革推动</a:t>
              </a:r>
              <a:endPar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endParaRPr>
            </a:p>
          </p:txBody>
        </p:sp>
      </p:grpSp>
      <p:grpSp>
        <p:nvGrpSpPr>
          <p:cNvPr id="419" name="组合 418"/>
          <p:cNvGrpSpPr/>
          <p:nvPr/>
        </p:nvGrpSpPr>
        <p:grpSpPr>
          <a:xfrm rot="0">
            <a:off x="10193655" y="5205730"/>
            <a:ext cx="938530" cy="822325"/>
            <a:chOff x="2183" y="8155"/>
            <a:chExt cx="1478" cy="1295"/>
          </a:xfrm>
        </p:grpSpPr>
        <p:sp>
          <p:nvSpPr>
            <p:cNvPr id="420" name="菱形 419"/>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421" name="菱形 420"/>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422" name="组合 421"/>
            <p:cNvGrpSpPr/>
            <p:nvPr/>
          </p:nvGrpSpPr>
          <p:grpSpPr>
            <a:xfrm rot="0">
              <a:off x="3571" y="9173"/>
              <a:ext cx="90" cy="59"/>
              <a:chOff x="8353512" y="3886200"/>
              <a:chExt cx="307127" cy="266701"/>
            </a:xfrm>
          </p:grpSpPr>
          <p:cxnSp>
            <p:nvCxnSpPr>
              <p:cNvPr id="423" name="直接连接符 422"/>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24" name="直接连接符 423"/>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425" name="组合 424"/>
            <p:cNvGrpSpPr/>
            <p:nvPr/>
          </p:nvGrpSpPr>
          <p:grpSpPr>
            <a:xfrm rot="0" flipH="1">
              <a:off x="2183" y="9173"/>
              <a:ext cx="90" cy="59"/>
              <a:chOff x="8353512" y="3886200"/>
              <a:chExt cx="307127" cy="266701"/>
            </a:xfrm>
          </p:grpSpPr>
          <p:cxnSp>
            <p:nvCxnSpPr>
              <p:cNvPr id="426" name="直接连接符 425"/>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27" name="直接连接符 426"/>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428" name="直接连接符 427"/>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429" name="直接连接符 428"/>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430" name="菱形 429"/>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31" name="梯形 430"/>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32" name="文本框 431"/>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rPr>
                <a:t>运营监控</a:t>
              </a:r>
              <a:endParaRPr kumimoji="0" lang="zh-CN" altLang="en-US" sz="1000" b="1" i="0" u="none" strike="noStrike" cap="none" spc="0" normalizeH="0" baseline="0" dirty="0">
                <a:ln>
                  <a:noFill/>
                </a:ln>
                <a:solidFill>
                  <a:srgbClr val="FFFFFF"/>
                </a:solidFill>
                <a:effectLst/>
                <a:uFillTx/>
                <a:latin typeface="微软雅黑"/>
                <a:ea typeface="微软雅黑"/>
                <a:cs typeface="微软雅黑"/>
                <a:sym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rPr>
                <a:t>持续改进</a:t>
              </a:r>
              <a:endParaRPr kumimoji="0" lang="zh-CN" altLang="en-US" sz="1000" b="0" i="0" u="none" strike="noStrike" cap="none" spc="0" normalizeH="0" baseline="0" dirty="0">
                <a:ln>
                  <a:noFill/>
                </a:ln>
                <a:solidFill>
                  <a:srgbClr val="FFFFFF"/>
                </a:solidFill>
                <a:effectLst/>
                <a:uFillTx/>
                <a:latin typeface="微软雅黑"/>
                <a:ea typeface="微软雅黑"/>
                <a:cs typeface="微软雅黑"/>
                <a:sym typeface="微软雅黑"/>
              </a:endParaRPr>
            </a:p>
          </p:txBody>
        </p:sp>
      </p:grpSp>
      <p:pic>
        <p:nvPicPr>
          <p:cNvPr id="434" name="图片 433" descr="战略目标"/>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832610" y="5635625"/>
            <a:ext cx="235585" cy="235585"/>
          </a:xfrm>
          <a:prstGeom prst="rect">
            <a:avLst/>
          </a:prstGeom>
        </p:spPr>
      </p:pic>
      <p:pic>
        <p:nvPicPr>
          <p:cNvPr id="437" name="图片 436" descr="icon_组织类型_企业组织"/>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040880" y="5593715"/>
            <a:ext cx="303530" cy="303530"/>
          </a:xfrm>
          <a:prstGeom prst="rect">
            <a:avLst/>
          </a:prstGeom>
        </p:spPr>
      </p:pic>
      <p:pic>
        <p:nvPicPr>
          <p:cNvPr id="439" name="图片 438" descr="数据治理"/>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334635" y="5631815"/>
            <a:ext cx="252730" cy="252730"/>
          </a:xfrm>
          <a:prstGeom prst="rect">
            <a:avLst/>
          </a:prstGeom>
        </p:spPr>
      </p:pic>
      <p:pic>
        <p:nvPicPr>
          <p:cNvPr id="440" name="图片 439" descr="解决方案"/>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8800465" y="5598795"/>
            <a:ext cx="272415" cy="272415"/>
          </a:xfrm>
          <a:prstGeom prst="rect">
            <a:avLst/>
          </a:prstGeom>
        </p:spPr>
      </p:pic>
      <p:pic>
        <p:nvPicPr>
          <p:cNvPr id="442" name="图片 441" descr="3运营"/>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0513695" y="5605145"/>
            <a:ext cx="279400" cy="279400"/>
          </a:xfrm>
          <a:prstGeom prst="rect">
            <a:avLst/>
          </a:prstGeom>
        </p:spPr>
      </p:pic>
      <p:grpSp>
        <p:nvGrpSpPr>
          <p:cNvPr id="17" name="组合 16"/>
          <p:cNvGrpSpPr/>
          <p:nvPr/>
        </p:nvGrpSpPr>
        <p:grpSpPr>
          <a:xfrm>
            <a:off x="1685290" y="3708400"/>
            <a:ext cx="1877695" cy="1059180"/>
            <a:chOff x="2750" y="5762"/>
            <a:chExt cx="2957" cy="1668"/>
          </a:xfrm>
        </p:grpSpPr>
        <p:sp>
          <p:nvSpPr>
            <p:cNvPr id="19"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20"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dirty="0">
                  <a:solidFill>
                    <a:srgbClr val="383838"/>
                  </a:solidFill>
                  <a:effectLst/>
                  <a:latin typeface="微软雅黑"/>
                  <a:ea typeface="微软雅黑"/>
                  <a:cs typeface="微软雅黑"/>
                  <a:sym typeface="微软雅黑"/>
                </a:rPr>
                <a:t>以标准化与协同为核心，通过梳理、设计、优化关键业务流程，明确权责与节点，消除冗余与断点，提升整体运营效率与服务质量。</a:t>
              </a:r>
              <a:endParaRPr lang="zh-CN" altLang="en-US" sz="1000" b="0" i="0" dirty="0">
                <a:solidFill>
                  <a:srgbClr val="383838"/>
                </a:solidFill>
                <a:effectLst/>
                <a:latin typeface="微软雅黑"/>
                <a:ea typeface="微软雅黑"/>
                <a:cs typeface="微软雅黑"/>
              </a:endParaRPr>
            </a:p>
          </p:txBody>
        </p:sp>
        <p:grpSp>
          <p:nvGrpSpPr>
            <p:cNvPr id="22" name="组合 21"/>
            <p:cNvGrpSpPr/>
            <p:nvPr/>
          </p:nvGrpSpPr>
          <p:grpSpPr>
            <a:xfrm rot="0">
              <a:off x="2750" y="5762"/>
              <a:ext cx="2957" cy="391"/>
              <a:chOff x="1437949" y="3612626"/>
              <a:chExt cx="1877464" cy="248345"/>
            </a:xfrm>
          </p:grpSpPr>
          <p:sp>
            <p:nvSpPr>
              <p:cNvPr id="23"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 name="显眼包PPT-3"/>
              <p:cNvSpPr txBox="1"/>
              <p:nvPr/>
            </p:nvSpPr>
            <p:spPr>
              <a:xfrm>
                <a:off x="1958983" y="3644702"/>
                <a:ext cx="914288" cy="184195"/>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流程管理支撑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25"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1</a:t>
                </a:r>
                <a:endParaRPr lang="en-US" altLang="zh-CN" sz="1000">
                  <a:solidFill>
                    <a:srgbClr val="FFFFFF"/>
                  </a:solidFill>
                  <a:latin typeface="微软雅黑"/>
                  <a:ea typeface="微软雅黑"/>
                  <a:cs typeface="微软雅黑"/>
                  <a:sym typeface="微软雅黑"/>
                </a:endParaRPr>
              </a:p>
            </p:txBody>
          </p:sp>
        </p:grpSp>
      </p:grpSp>
      <p:grpSp>
        <p:nvGrpSpPr>
          <p:cNvPr id="26" name="组合 25"/>
          <p:cNvGrpSpPr/>
          <p:nvPr/>
        </p:nvGrpSpPr>
        <p:grpSpPr>
          <a:xfrm>
            <a:off x="4138295" y="3708400"/>
            <a:ext cx="1877695" cy="1059180"/>
            <a:chOff x="2750" y="5762"/>
            <a:chExt cx="2957" cy="1668"/>
          </a:xfrm>
        </p:grpSpPr>
        <p:sp>
          <p:nvSpPr>
            <p:cNvPr id="27"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28"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以目标与结果为导向，建立覆盖组织、团队、个人的多层次绩效指标体系，通过目标设定、过程跟踪，驱动实现持续改进与价值创造。</a:t>
              </a:r>
              <a:endParaRPr lang="zh-CN" altLang="en-US" sz="1000" b="0" i="0" dirty="0">
                <a:solidFill>
                  <a:srgbClr val="383838"/>
                </a:solidFill>
                <a:effectLst/>
                <a:latin typeface="微软雅黑"/>
                <a:ea typeface="微软雅黑"/>
                <a:cs typeface="微软雅黑"/>
              </a:endParaRPr>
            </a:p>
          </p:txBody>
        </p:sp>
        <p:grpSp>
          <p:nvGrpSpPr>
            <p:cNvPr id="29" name="组合 28"/>
            <p:cNvGrpSpPr/>
            <p:nvPr/>
          </p:nvGrpSpPr>
          <p:grpSpPr>
            <a:xfrm rot="0">
              <a:off x="2750" y="5762"/>
              <a:ext cx="2957" cy="391"/>
              <a:chOff x="1437949" y="3612626"/>
              <a:chExt cx="1877464" cy="248345"/>
            </a:xfrm>
          </p:grpSpPr>
          <p:sp>
            <p:nvSpPr>
              <p:cNvPr id="30"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1" name="显眼包PPT-3"/>
              <p:cNvSpPr txBox="1"/>
              <p:nvPr/>
            </p:nvSpPr>
            <p:spPr>
              <a:xfrm>
                <a:off x="1958983" y="3644702"/>
                <a:ext cx="914288" cy="184195"/>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绩效管理支撑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32"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2</a:t>
                </a:r>
                <a:endParaRPr lang="en-US" altLang="zh-CN" sz="1000">
                  <a:solidFill>
                    <a:srgbClr val="FFFFFF"/>
                  </a:solidFill>
                  <a:latin typeface="微软雅黑"/>
                  <a:ea typeface="微软雅黑"/>
                  <a:cs typeface="微软雅黑"/>
                  <a:sym typeface="微软雅黑"/>
                </a:endParaRPr>
              </a:p>
            </p:txBody>
          </p:sp>
        </p:grpSp>
      </p:grpSp>
      <p:grpSp>
        <p:nvGrpSpPr>
          <p:cNvPr id="33" name="组合 32"/>
          <p:cNvGrpSpPr/>
          <p:nvPr/>
        </p:nvGrpSpPr>
        <p:grpSpPr>
          <a:xfrm>
            <a:off x="6162675" y="3708400"/>
            <a:ext cx="1877695" cy="1059180"/>
            <a:chOff x="2750" y="5762"/>
            <a:chExt cx="2957" cy="1668"/>
          </a:xfrm>
        </p:grpSpPr>
        <p:sp>
          <p:nvSpPr>
            <p:cNvPr id="34"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35"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以预防与韧性为重点，系统识别、评估、监控运营过程中的内外部风险，建立预警机制与应对预案，保障运营安全，增强组织抵御能力。</a:t>
              </a:r>
              <a:endParaRPr lang="zh-CN" altLang="en-US" sz="1000" b="0" i="0" dirty="0">
                <a:solidFill>
                  <a:srgbClr val="383838"/>
                </a:solidFill>
                <a:effectLst/>
                <a:latin typeface="微软雅黑"/>
                <a:ea typeface="微软雅黑"/>
                <a:cs typeface="微软雅黑"/>
              </a:endParaRPr>
            </a:p>
          </p:txBody>
        </p:sp>
        <p:grpSp>
          <p:nvGrpSpPr>
            <p:cNvPr id="36" name="组合 35"/>
            <p:cNvGrpSpPr/>
            <p:nvPr/>
          </p:nvGrpSpPr>
          <p:grpSpPr>
            <a:xfrm rot="0">
              <a:off x="2750" y="5762"/>
              <a:ext cx="2957" cy="391"/>
              <a:chOff x="1437949" y="3612626"/>
              <a:chExt cx="1877464" cy="248345"/>
            </a:xfrm>
          </p:grpSpPr>
          <p:sp>
            <p:nvSpPr>
              <p:cNvPr id="37"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8" name="显眼包PPT-3"/>
              <p:cNvSpPr txBox="1"/>
              <p:nvPr/>
            </p:nvSpPr>
            <p:spPr>
              <a:xfrm>
                <a:off x="1958983" y="3644702"/>
                <a:ext cx="914288" cy="184195"/>
              </a:xfrm>
              <a:prstGeom prst="rect">
                <a:avLst/>
              </a:prstGeom>
              <a:noFill/>
            </p:spPr>
            <p:txBody>
              <a:bodyPr wrap="none" lIns="0" tIns="0" rIns="0" bIns="0" rtlCol="0">
                <a:spAutoFit/>
              </a:bodyPr>
              <a:lstStyle/>
              <a:p>
                <a:pPr algn="l">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风险控制支撑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39"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3</a:t>
                </a:r>
                <a:endParaRPr lang="en-US" altLang="zh-CN" sz="1000">
                  <a:solidFill>
                    <a:srgbClr val="FFFFFF"/>
                  </a:solidFill>
                  <a:latin typeface="微软雅黑"/>
                  <a:ea typeface="微软雅黑"/>
                  <a:cs typeface="微软雅黑"/>
                  <a:sym typeface="微软雅黑"/>
                </a:endParaRPr>
              </a:p>
            </p:txBody>
          </p:sp>
        </p:grpSp>
      </p:grpSp>
      <p:grpSp>
        <p:nvGrpSpPr>
          <p:cNvPr id="40" name="组合 39"/>
          <p:cNvGrpSpPr/>
          <p:nvPr/>
        </p:nvGrpSpPr>
        <p:grpSpPr>
          <a:xfrm>
            <a:off x="8632190" y="3708400"/>
            <a:ext cx="1877695" cy="1059180"/>
            <a:chOff x="2750" y="5762"/>
            <a:chExt cx="2957" cy="1668"/>
          </a:xfrm>
        </p:grpSpPr>
        <p:sp>
          <p:nvSpPr>
            <p:cNvPr id="41"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42"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以优化与动态配置为手段，统筹协调人力、资金、物资、数据、技术等关键资源，最大化资源利用效率，支撑业务敏捷响应与稳定供给。</a:t>
              </a:r>
              <a:endParaRPr lang="zh-CN" altLang="en-US" sz="1000" b="0" i="0" dirty="0">
                <a:solidFill>
                  <a:srgbClr val="383838"/>
                </a:solidFill>
                <a:effectLst/>
                <a:latin typeface="微软雅黑"/>
                <a:ea typeface="微软雅黑"/>
                <a:cs typeface="微软雅黑"/>
              </a:endParaRPr>
            </a:p>
          </p:txBody>
        </p:sp>
        <p:grpSp>
          <p:nvGrpSpPr>
            <p:cNvPr id="43" name="组合 42"/>
            <p:cNvGrpSpPr/>
            <p:nvPr/>
          </p:nvGrpSpPr>
          <p:grpSpPr>
            <a:xfrm rot="0">
              <a:off x="2750" y="5762"/>
              <a:ext cx="2957" cy="391"/>
              <a:chOff x="1437949" y="3612626"/>
              <a:chExt cx="1877464" cy="248345"/>
            </a:xfrm>
          </p:grpSpPr>
          <p:sp>
            <p:nvSpPr>
              <p:cNvPr id="44"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5" name="显眼包PPT-3"/>
              <p:cNvSpPr txBox="1"/>
              <p:nvPr/>
            </p:nvSpPr>
            <p:spPr>
              <a:xfrm>
                <a:off x="1958983" y="3644702"/>
                <a:ext cx="914288" cy="184195"/>
              </a:xfrm>
              <a:prstGeom prst="rect">
                <a:avLst/>
              </a:prstGeom>
              <a:noFill/>
            </p:spPr>
            <p:txBody>
              <a:bodyPr wrap="none" lIns="0" tIns="0" rIns="0" bIns="0" rtlCol="0">
                <a:spAutoFit/>
              </a:bodyPr>
              <a:lstStyle/>
              <a:p>
                <a:pPr algn="l">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资源调度支撑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46"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4</a:t>
                </a:r>
                <a:endParaRPr lang="en-US" altLang="zh-CN" sz="1000">
                  <a:solidFill>
                    <a:srgbClr val="FFFFFF"/>
                  </a:solidFill>
                  <a:latin typeface="微软雅黑"/>
                  <a:ea typeface="微软雅黑"/>
                  <a:cs typeface="微软雅黑"/>
                  <a:sym typeface="微软雅黑"/>
                </a:endParaRPr>
              </a:p>
            </p:txBody>
          </p:sp>
        </p:grpSp>
      </p:grpSp>
      <p:sp>
        <p:nvSpPr>
          <p:cNvPr id="47" name="上箭头 46"/>
          <p:cNvSpPr/>
          <p:nvPr/>
        </p:nvSpPr>
        <p:spPr>
          <a:xfrm>
            <a:off x="268986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8" name="上箭头 47"/>
          <p:cNvSpPr/>
          <p:nvPr/>
        </p:nvSpPr>
        <p:spPr>
          <a:xfrm>
            <a:off x="443865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9" name="上箭头 48"/>
          <p:cNvSpPr/>
          <p:nvPr/>
        </p:nvSpPr>
        <p:spPr>
          <a:xfrm>
            <a:off x="618744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0" name="上箭头 49"/>
          <p:cNvSpPr/>
          <p:nvPr/>
        </p:nvSpPr>
        <p:spPr>
          <a:xfrm>
            <a:off x="793623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1" name="上箭头 50"/>
          <p:cNvSpPr/>
          <p:nvPr/>
        </p:nvSpPr>
        <p:spPr>
          <a:xfrm>
            <a:off x="968502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nvGrpSpPr>
          <p:cNvPr id="75" name="组合 74"/>
          <p:cNvGrpSpPr/>
          <p:nvPr/>
        </p:nvGrpSpPr>
        <p:grpSpPr>
          <a:xfrm rot="0">
            <a:off x="3631565" y="3603625"/>
            <a:ext cx="387350" cy="1308735"/>
            <a:chOff x="2157" y="5063"/>
            <a:chExt cx="2447" cy="5122"/>
          </a:xfrm>
        </p:grpSpPr>
        <p:sp>
          <p:nvSpPr>
            <p:cNvPr id="101"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02"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03"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04"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05" name="矩形 104"/>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06" name="组合 105"/>
          <p:cNvGrpSpPr/>
          <p:nvPr/>
        </p:nvGrpSpPr>
        <p:grpSpPr>
          <a:xfrm rot="0">
            <a:off x="8152765" y="3603625"/>
            <a:ext cx="387350" cy="1308735"/>
            <a:chOff x="2157" y="5063"/>
            <a:chExt cx="2447" cy="5122"/>
          </a:xfrm>
        </p:grpSpPr>
        <p:sp>
          <p:nvSpPr>
            <p:cNvPr id="120"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1"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2"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3"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4" name="矩形 123"/>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25" name="组合 124"/>
          <p:cNvGrpSpPr/>
          <p:nvPr/>
        </p:nvGrpSpPr>
        <p:grpSpPr>
          <a:xfrm rot="0">
            <a:off x="1240790" y="3603625"/>
            <a:ext cx="387350" cy="1308735"/>
            <a:chOff x="2157" y="5063"/>
            <a:chExt cx="2447" cy="5122"/>
          </a:xfrm>
        </p:grpSpPr>
        <p:sp>
          <p:nvSpPr>
            <p:cNvPr id="126"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7"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8"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9"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0" name="矩形 129"/>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31" name="组合 130"/>
          <p:cNvGrpSpPr/>
          <p:nvPr/>
        </p:nvGrpSpPr>
        <p:grpSpPr>
          <a:xfrm rot="0">
            <a:off x="10615930" y="3603625"/>
            <a:ext cx="387350" cy="1308735"/>
            <a:chOff x="2157" y="5063"/>
            <a:chExt cx="2447" cy="5122"/>
          </a:xfrm>
        </p:grpSpPr>
        <p:sp>
          <p:nvSpPr>
            <p:cNvPr id="132"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33"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4"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35"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6" name="矩形 135"/>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sp>
        <p:nvSpPr>
          <p:cNvPr id="143" name="©显眼包PPT16"/>
          <p:cNvSpPr txBox="1"/>
          <p:nvPr/>
        </p:nvSpPr>
        <p:spPr>
          <a:xfrm>
            <a:off x="2068195" y="1271270"/>
            <a:ext cx="931545" cy="307340"/>
          </a:xfrm>
          <a:prstGeom prst="rect">
            <a:avLst/>
          </a:prstGeom>
          <a:solidFill>
            <a:srgbClr val="FFFFFF"/>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左翼</a:t>
            </a: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endPar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sp>
        <p:nvSpPr>
          <p:cNvPr id="144" name="©显眼包PPT16"/>
          <p:cNvSpPr txBox="1"/>
          <p:nvPr/>
        </p:nvSpPr>
        <p:spPr>
          <a:xfrm>
            <a:off x="9097010" y="1364615"/>
            <a:ext cx="1098550" cy="30734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右翼</a:t>
            </a: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endPar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pic>
        <p:nvPicPr>
          <p:cNvPr id="147" name="图片 146" descr="A01"/>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rot="540000">
            <a:off x="8528685" y="-306070"/>
            <a:ext cx="3044190" cy="4309745"/>
          </a:xfrm>
          <a:prstGeom prst="rect">
            <a:avLst/>
          </a:prstGeom>
        </p:spPr>
      </p:pic>
      <p:grpSp>
        <p:nvGrpSpPr>
          <p:cNvPr id="6" name="组合 5"/>
          <p:cNvGrpSpPr/>
          <p:nvPr/>
        </p:nvGrpSpPr>
        <p:grpSpPr>
          <a:xfrm>
            <a:off x="0" y="4959350"/>
            <a:ext cx="12192000" cy="1898650"/>
            <a:chOff x="0" y="7810"/>
            <a:chExt cx="19200" cy="2990"/>
          </a:xfrm>
        </p:grpSpPr>
        <p:sp>
          <p:nvSpPr>
            <p:cNvPr id="2" name="矩形 1"/>
            <p:cNvSpPr/>
            <p:nvPr/>
          </p:nvSpPr>
          <p:spPr>
            <a:xfrm>
              <a:off x="0" y="7810"/>
              <a:ext cx="19200" cy="2990"/>
            </a:xfrm>
            <a:prstGeom prst="rect">
              <a:avLst/>
            </a:prstGeom>
            <a:solidFill>
              <a:srgbClr val="0042FF">
                <a:alpha val="80000"/>
              </a:srgbClr>
            </a:solidFill>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 name="©显眼包PPT16"/>
            <p:cNvSpPr txBox="1"/>
            <p:nvPr/>
          </p:nvSpPr>
          <p:spPr>
            <a:xfrm>
              <a:off x="2990" y="8578"/>
              <a:ext cx="11508" cy="1454"/>
            </a:xfrm>
            <a:prstGeom prst="rect">
              <a:avLst/>
            </a:prstGeom>
            <a:noFill/>
            <a:extLst>
              <a:ext uri="{909E8E84-426E-40DD-AFC4-6F175D3DCCD1}">
                <a14:hiddenFill xmlns:a14="http://schemas.microsoft.com/office/drawing/2010/main">
                  <a:solidFill>
                    <a:srgbClr val="FFFFFF"/>
                  </a:solidFill>
                </a14:hiddenFill>
              </a:ext>
            </a:ex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另一个配色效果供选择，删除本框即可！</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本页不计入页面数量</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p:txBody>
        </p:sp>
      </p:grpSp>
      <p:grpSp>
        <p:nvGrpSpPr>
          <p:cNvPr id="7" name="组合 6"/>
          <p:cNvGrpSpPr/>
          <p:nvPr/>
        </p:nvGrpSpPr>
        <p:grpSpPr>
          <a:xfrm>
            <a:off x="7675245" y="347980"/>
            <a:ext cx="4588510" cy="367030"/>
            <a:chOff x="12087" y="-1089"/>
            <a:chExt cx="7226" cy="578"/>
          </a:xfrm>
        </p:grpSpPr>
        <p:pic>
          <p:nvPicPr>
            <p:cNvPr id="3" name="图片 2"/>
            <p:cNvPicPr>
              <a:picLocks noChangeAspect="1"/>
            </p:cNvPicPr>
            <p:nvPr userDrawn="1"/>
          </p:nvPicPr>
          <p:blipFill>
            <a:blip r:embed="rId17"/>
            <a:srcRect r="57320" b="-13333"/>
            <a:stretch>
              <a:fillRect/>
            </a:stretch>
          </p:blipFill>
          <p:spPr>
            <a:xfrm>
              <a:off x="12087" y="-1089"/>
              <a:ext cx="2548" cy="578"/>
            </a:xfrm>
            <a:prstGeom prst="rect">
              <a:avLst/>
            </a:prstGeom>
          </p:spPr>
        </p:pic>
        <p:sp>
          <p:nvSpPr>
            <p:cNvPr id="8" name="文本框 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数智驱动的数字化转型架构</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8" name="©显眼包PPT5"/>
          <p:cNvSpPr txBox="1"/>
          <p:nvPr/>
        </p:nvSpPr>
        <p:spPr>
          <a:xfrm>
            <a:off x="1598930" y="3234690"/>
            <a:ext cx="230441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A-I-S-A-S</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用户精细运营策略</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6" name="©显眼包PPT6"/>
          <p:cNvSpPr txBox="1"/>
          <p:nvPr/>
        </p:nvSpPr>
        <p:spPr>
          <a:xfrm>
            <a:off x="4486275" y="3291840"/>
            <a:ext cx="327977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O-S-M</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产品生命周期增长路径</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85" name="©显眼包PPT7"/>
          <p:cNvSpPr txBox="1"/>
          <p:nvPr/>
        </p:nvSpPr>
        <p:spPr>
          <a:xfrm>
            <a:off x="7884795" y="3234690"/>
            <a:ext cx="3277235" cy="257810"/>
          </a:xfrm>
          <a:prstGeom prst="rect">
            <a:avLst/>
          </a:prstGeom>
          <a:noFill/>
        </p:spPr>
        <p:txBody>
          <a:bodyPr wrap="square" lIns="0" tIns="0" rIns="0" bIns="0" rtlCol="0">
            <a:spAutoFit/>
          </a:bodyPr>
          <a:lstStyle>
            <a:defPPr>
              <a:defRPr lang="en-US">
                <a:latin typeface="微软雅黑"/>
                <a:ea typeface="微软雅黑"/>
                <a:cs typeface="微软雅黑"/>
              </a:defRPr>
            </a:defPPr>
            <a:lvl1pPr marR="0" lvl="0" indent="0" algn="ctr" fontAlgn="auto">
              <a:lnSpc>
                <a:spcPct val="120000"/>
              </a:lnSpc>
              <a:spcBef>
                <a:spcPts val="0"/>
              </a:spcBef>
              <a:spcAft>
                <a:spcPts val="0"/>
              </a:spcAft>
              <a:buClrTx/>
              <a:buSzTx/>
              <a:buFontTx/>
              <a:buNone/>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F-A-C-T+</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内容运营生态轴的场景运营</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53" name="©显眼包PPT13"/>
          <p:cNvSpPr/>
          <p:nvPr/>
        </p:nvSpPr>
        <p:spPr>
          <a:xfrm>
            <a:off x="1084580" y="2896235"/>
            <a:ext cx="10055860" cy="239395"/>
          </a:xfrm>
          <a:prstGeom prst="trapezoid">
            <a:avLst>
              <a:gd name="adj" fmla="val 223821"/>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338" name="组合 337"/>
          <p:cNvGrpSpPr/>
          <p:nvPr/>
        </p:nvGrpSpPr>
        <p:grpSpPr>
          <a:xfrm>
            <a:off x="3234290" y="1065045"/>
            <a:ext cx="5792235" cy="606745"/>
            <a:chOff x="3671" y="-1290"/>
            <a:chExt cx="11146" cy="1291"/>
          </a:xfrm>
        </p:grpSpPr>
        <p:sp>
          <p:nvSpPr>
            <p:cNvPr id="334" name="梯形 333"/>
            <p:cNvSpPr/>
            <p:nvPr/>
          </p:nvSpPr>
          <p:spPr>
            <a:xfrm>
              <a:off x="3671" y="-795"/>
              <a:ext cx="11146" cy="796"/>
            </a:xfrm>
            <a:prstGeom prst="trapezoid">
              <a:avLst>
                <a:gd name="adj" fmla="val 443339"/>
              </a:avLst>
            </a:prstGeom>
            <a:gradFill flip="none" rotWithShape="1">
              <a:gsLst>
                <a:gs pos="0">
                  <a:srgbClr val="B3D4FE">
                    <a:alpha val="41000"/>
                  </a:srgbClr>
                </a:gs>
                <a:gs pos="100000">
                  <a:srgbClr val="B3D4FE">
                    <a:alpha val="15000"/>
                  </a:srgbClr>
                </a:gs>
              </a:gsLst>
              <a:lin ang="5400000" scaled="1"/>
              <a:tileRect/>
            </a:gradFill>
            <a:ln w="6350">
              <a:gradFill>
                <a:gsLst>
                  <a:gs pos="0">
                    <a:srgbClr val="B3D4FE"/>
                  </a:gs>
                  <a:gs pos="100000">
                    <a:srgbClr val="B3D4FE"/>
                  </a:gs>
                  <a:gs pos="41000">
                    <a:srgbClr val="B3D4FE">
                      <a:alpha val="0"/>
                    </a:srgbClr>
                  </a:gs>
                  <a:gs pos="70000">
                    <a:srgbClr val="B3D4FE">
                      <a:alpha val="0"/>
                    </a:srgbClr>
                  </a:gs>
                </a:gsLst>
                <a:lin ang="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sym typeface="微软雅黑"/>
                <a:cs typeface="微软雅黑"/>
              </a:endParaRPr>
            </a:p>
          </p:txBody>
        </p:sp>
        <p:sp>
          <p:nvSpPr>
            <p:cNvPr id="335" name="紫荆的职场Point28"/>
            <p:cNvSpPr/>
            <p:nvPr/>
          </p:nvSpPr>
          <p:spPr>
            <a:xfrm>
              <a:off x="6808" y="-1290"/>
              <a:ext cx="4897" cy="499"/>
            </a:xfrm>
            <a:prstGeom prst="triangle">
              <a:avLst>
                <a:gd name="adj" fmla="val 50434"/>
              </a:avLst>
            </a:prstGeom>
            <a:gradFill flip="none" rotWithShape="1">
              <a:gsLst>
                <a:gs pos="0">
                  <a:srgbClr val="B3D4FE">
                    <a:alpha val="41000"/>
                  </a:srgbClr>
                </a:gs>
                <a:gs pos="100000">
                  <a:srgbClr val="B3D4FE">
                    <a:alpha val="15000"/>
                  </a:srgbClr>
                </a:gs>
              </a:gsLst>
              <a:lin ang="5400000" scaled="1"/>
              <a:tileRect/>
            </a:gradFill>
            <a:ln w="6350">
              <a:gradFill>
                <a:gsLst>
                  <a:gs pos="0">
                    <a:srgbClr val="B3D4FE">
                      <a:alpha val="81000"/>
                    </a:srgbClr>
                  </a:gs>
                  <a:gs pos="100000">
                    <a:srgbClr val="B3D4FE">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sym typeface="微软雅黑"/>
                <a:cs typeface="微软雅黑"/>
              </a:endParaRPr>
            </a:p>
          </p:txBody>
        </p:sp>
        <p:sp>
          <p:nvSpPr>
            <p:cNvPr id="336" name="紫荆的职场Point28"/>
            <p:cNvSpPr/>
            <p:nvPr/>
          </p:nvSpPr>
          <p:spPr>
            <a:xfrm>
              <a:off x="5480" y="-1245"/>
              <a:ext cx="7479" cy="1125"/>
            </a:xfrm>
            <a:prstGeom prst="triangle">
              <a:avLst/>
            </a:prstGeom>
            <a:gradFill flip="none" rotWithShape="1">
              <a:gsLst>
                <a:gs pos="0">
                  <a:srgbClr val="FFFFFF">
                    <a:alpha val="41000"/>
                  </a:srgbClr>
                </a:gs>
                <a:gs pos="100000">
                  <a:srgbClr val="B3D4FE">
                    <a:alpha val="15000"/>
                  </a:srgbClr>
                </a:gs>
              </a:gsLst>
              <a:lin ang="5400000" scaled="1"/>
              <a:tileRect/>
            </a:gradFill>
            <a:ln w="6350">
              <a:gradFill>
                <a:gsLst>
                  <a:gs pos="0">
                    <a:srgbClr val="B3D4FE">
                      <a:alpha val="81000"/>
                    </a:srgbClr>
                  </a:gs>
                  <a:gs pos="100000">
                    <a:srgbClr val="B3D4FE">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sym typeface="微软雅黑"/>
                <a:cs typeface="微软雅黑"/>
              </a:endParaRPr>
            </a:p>
          </p:txBody>
        </p:sp>
      </p:grpSp>
      <p:sp>
        <p:nvSpPr>
          <p:cNvPr id="340" name="©显眼包PPT5"/>
          <p:cNvSpPr/>
          <p:nvPr/>
        </p:nvSpPr>
        <p:spPr>
          <a:xfrm>
            <a:off x="3223895" y="1671955"/>
            <a:ext cx="5808345" cy="281940"/>
          </a:xfrm>
          <a:prstGeom prst="rect">
            <a:avLst/>
          </a:prstGeom>
          <a:gradFill flip="none" rotWithShape="1">
            <a:gsLst>
              <a:gs pos="0">
                <a:srgbClr val="B3D4FE"/>
              </a:gs>
              <a:gs pos="54000">
                <a:srgbClr val="3368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对应</a:t>
            </a:r>
            <a:r>
              <a:rPr lang="en-US" altLang="zh-CN" sz="1400" dirty="0">
                <a:solidFill>
                  <a:srgbClr val="FFFFFF"/>
                </a:solidFill>
                <a:latin typeface="微软雅黑"/>
                <a:ea typeface="微软雅黑"/>
                <a:cs typeface="微软雅黑"/>
              </a:rPr>
              <a:t>“</a:t>
            </a:r>
            <a:r>
              <a:rPr lang="zh-CN" altLang="en-US" sz="1400" dirty="0">
                <a:solidFill>
                  <a:srgbClr val="FFFFFF"/>
                </a:solidFill>
                <a:latin typeface="微软雅黑"/>
                <a:ea typeface="微软雅黑"/>
                <a:cs typeface="微软雅黑"/>
              </a:rPr>
              <a:t>战略决策平台</a:t>
            </a:r>
            <a:r>
              <a:rPr lang="en-US" altLang="zh-CN" sz="1400" dirty="0">
                <a:solidFill>
                  <a:srgbClr val="FFFFFF"/>
                </a:solidFill>
                <a:latin typeface="微软雅黑"/>
                <a:ea typeface="微软雅黑"/>
                <a:cs typeface="微软雅黑"/>
              </a:rPr>
              <a:t>”</a:t>
            </a:r>
            <a:r>
              <a:rPr lang="zh-CN" altLang="en-US" sz="1400" dirty="0">
                <a:solidFill>
                  <a:srgbClr val="FFFFFF"/>
                </a:solidFill>
                <a:latin typeface="微软雅黑"/>
                <a:ea typeface="微软雅黑"/>
                <a:cs typeface="微软雅黑"/>
              </a:rPr>
              <a:t>，作为统一入口和决策中心</a:t>
            </a:r>
            <a:endParaRPr lang="zh-CN" altLang="en-US" sz="1400" dirty="0">
              <a:solidFill>
                <a:srgbClr val="FFFFFF"/>
              </a:solidFill>
              <a:latin typeface="微软雅黑"/>
              <a:ea typeface="微软雅黑"/>
              <a:cs typeface="微软雅黑"/>
            </a:endParaRPr>
          </a:p>
        </p:txBody>
      </p:sp>
      <p:sp>
        <p:nvSpPr>
          <p:cNvPr id="21" name="©显眼包PPT16"/>
          <p:cNvSpPr txBox="1"/>
          <p:nvPr/>
        </p:nvSpPr>
        <p:spPr>
          <a:xfrm>
            <a:off x="5288237" y="1271337"/>
            <a:ext cx="1524000" cy="30734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一核</a:t>
            </a:r>
            <a:r>
              <a:rPr kumimoji="0" lang="en-US" altLang="zh-CN"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a:t>
            </a:r>
            <a:r>
              <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引领</a:t>
            </a:r>
            <a:endParaRPr kumimoji="0" lang="zh-CN" altLang="en-US" sz="2000"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sp>
        <p:nvSpPr>
          <p:cNvPr id="63" name="矩形 62"/>
          <p:cNvSpPr/>
          <p:nvPr/>
        </p:nvSpPr>
        <p:spPr>
          <a:xfrm>
            <a:off x="3223895" y="1990725"/>
            <a:ext cx="1908000" cy="969645"/>
          </a:xfrm>
          <a:prstGeom prst="rect">
            <a:avLst/>
          </a:prstGeom>
          <a:gradFill>
            <a:gsLst>
              <a:gs pos="100000">
                <a:srgbClr val="FFFFFF">
                  <a:alpha val="50000"/>
                </a:srgbClr>
              </a:gs>
              <a:gs pos="0">
                <a:srgbClr val="FFFFFF">
                  <a:alpha val="0"/>
                </a:srgbClr>
              </a:gs>
            </a:gsLst>
            <a:lin ang="5400000" scaled="0"/>
          </a:gradFill>
          <a:ln>
            <a:gradFill>
              <a:gsLst>
                <a:gs pos="0">
                  <a:srgbClr val="FFFFFF"/>
                </a:gs>
                <a:gs pos="100000">
                  <a:srgbClr val="FFFF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65" name="©显眼包PPT24"/>
          <p:cNvSpPr/>
          <p:nvPr/>
        </p:nvSpPr>
        <p:spPr>
          <a:xfrm>
            <a:off x="3374390" y="2092325"/>
            <a:ext cx="1617345" cy="239395"/>
          </a:xfrm>
          <a:prstGeom prst="roundRect">
            <a:avLst>
              <a:gd name="adj" fmla="val 10021"/>
            </a:avLst>
          </a:prstGeom>
          <a:solidFill>
            <a:srgbClr val="FFFFFF">
              <a:alpha val="65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100" dirty="0">
                <a:solidFill>
                  <a:srgbClr val="383838"/>
                </a:solidFill>
                <a:latin typeface="微软雅黑"/>
                <a:ea typeface="微软雅黑"/>
                <a:cs typeface="微软雅黑"/>
              </a:rPr>
              <a:t>①</a:t>
            </a:r>
            <a:r>
              <a:rPr lang="en-US" altLang="zh-CN" sz="1100" dirty="0">
                <a:solidFill>
                  <a:srgbClr val="383838"/>
                </a:solidFill>
                <a:latin typeface="微软雅黑"/>
                <a:ea typeface="微软雅黑"/>
                <a:cs typeface="微软雅黑"/>
              </a:rPr>
              <a:t> </a:t>
            </a:r>
            <a:r>
              <a:rPr lang="zh-CN" altLang="en-US" sz="1100" dirty="0">
                <a:solidFill>
                  <a:srgbClr val="383838"/>
                </a:solidFill>
                <a:latin typeface="微软雅黑"/>
                <a:ea typeface="微软雅黑"/>
                <a:cs typeface="微软雅黑"/>
              </a:rPr>
              <a:t>战略执行体系</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6" name="©显眼包PPT25"/>
          <p:cNvSpPr txBox="1"/>
          <p:nvPr/>
        </p:nvSpPr>
        <p:spPr>
          <a:xfrm>
            <a:off x="3330575" y="2406015"/>
            <a:ext cx="1691640" cy="59817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将战略目标分解为可执行计划，建立监控评估机制，驱动组织协同，确保战略逐级落地与动态校准。</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8" name="矩形 77"/>
          <p:cNvSpPr/>
          <p:nvPr/>
        </p:nvSpPr>
        <p:spPr>
          <a:xfrm>
            <a:off x="5171900" y="1990725"/>
            <a:ext cx="1907540" cy="969645"/>
          </a:xfrm>
          <a:prstGeom prst="rect">
            <a:avLst/>
          </a:prstGeom>
          <a:gradFill>
            <a:gsLst>
              <a:gs pos="100000">
                <a:srgbClr val="E6E6E6">
                  <a:alpha val="50000"/>
                </a:srgbClr>
              </a:gs>
              <a:gs pos="0">
                <a:srgbClr val="E6E6E6">
                  <a:alpha val="0"/>
                </a:srgbClr>
              </a:gs>
            </a:gsLst>
            <a:lin ang="5400000" scaled="0"/>
          </a:gradFill>
          <a:ln>
            <a:gradFill>
              <a:gsLst>
                <a:gs pos="0">
                  <a:srgbClr val="E6E6E6"/>
                </a:gs>
                <a:gs pos="100000">
                  <a:srgbClr val="E6E6E6">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ym typeface="微软雅黑"/>
              <a:latin typeface="微软雅黑"/>
              <a:ea typeface="微软雅黑"/>
              <a:cs typeface="微软雅黑"/>
            </a:endParaRPr>
          </a:p>
        </p:txBody>
      </p:sp>
      <p:sp>
        <p:nvSpPr>
          <p:cNvPr id="79" name="矩形 78"/>
          <p:cNvSpPr/>
          <p:nvPr/>
        </p:nvSpPr>
        <p:spPr>
          <a:xfrm>
            <a:off x="7119445" y="1990725"/>
            <a:ext cx="1907540" cy="969645"/>
          </a:xfrm>
          <a:prstGeom prst="rect">
            <a:avLst/>
          </a:prstGeom>
          <a:gradFill>
            <a:gsLst>
              <a:gs pos="100000">
                <a:srgbClr val="FFFFFF">
                  <a:alpha val="50000"/>
                </a:srgbClr>
              </a:gs>
              <a:gs pos="0">
                <a:srgbClr val="FFFFFF">
                  <a:alpha val="0"/>
                </a:srgbClr>
              </a:gs>
            </a:gsLst>
            <a:lin ang="5400000" scaled="0"/>
          </a:gradFill>
          <a:ln>
            <a:gradFill>
              <a:gsLst>
                <a:gs pos="0">
                  <a:srgbClr val="FFFFFF"/>
                </a:gs>
                <a:gs pos="100000">
                  <a:srgbClr val="FFFF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ym typeface="微软雅黑"/>
              <a:latin typeface="微软雅黑"/>
              <a:ea typeface="微软雅黑"/>
              <a:cs typeface="微软雅黑"/>
            </a:endParaRPr>
          </a:p>
        </p:txBody>
      </p:sp>
      <p:sp>
        <p:nvSpPr>
          <p:cNvPr id="462" name="©显眼包PPT15"/>
          <p:cNvSpPr/>
          <p:nvPr/>
        </p:nvSpPr>
        <p:spPr>
          <a:xfrm>
            <a:off x="3218180" y="2960370"/>
            <a:ext cx="1913890" cy="76200"/>
          </a:xfrm>
          <a:prstGeom prst="rect">
            <a:avLst/>
          </a:prstGeom>
          <a:gradFill>
            <a:gsLst>
              <a:gs pos="0">
                <a:srgbClr val="B3D4FE"/>
              </a:gs>
              <a:gs pos="54000">
                <a:srgbClr val="3368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0" name="©显眼包PPT15"/>
          <p:cNvSpPr/>
          <p:nvPr/>
        </p:nvSpPr>
        <p:spPr>
          <a:xfrm>
            <a:off x="5172075" y="2960370"/>
            <a:ext cx="1913890" cy="76200"/>
          </a:xfrm>
          <a:prstGeom prst="rect">
            <a:avLst/>
          </a:prstGeom>
          <a:gradFill>
            <a:gsLst>
              <a:gs pos="0">
                <a:srgbClr val="3368FF"/>
              </a:gs>
              <a:gs pos="54000">
                <a:srgbClr val="0042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3" name="©显眼包PPT15"/>
          <p:cNvSpPr/>
          <p:nvPr/>
        </p:nvSpPr>
        <p:spPr>
          <a:xfrm>
            <a:off x="7119620" y="2960370"/>
            <a:ext cx="1913890" cy="76200"/>
          </a:xfrm>
          <a:prstGeom prst="rect">
            <a:avLst/>
          </a:prstGeom>
          <a:gradFill>
            <a:gsLst>
              <a:gs pos="0">
                <a:srgbClr val="B3D4FE"/>
              </a:gs>
              <a:gs pos="54000">
                <a:srgbClr val="3368FF"/>
              </a:gs>
            </a:gsLst>
            <a:lin ang="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84" name="©显眼包PPT24"/>
          <p:cNvSpPr/>
          <p:nvPr/>
        </p:nvSpPr>
        <p:spPr>
          <a:xfrm>
            <a:off x="7257415" y="2092325"/>
            <a:ext cx="1617345" cy="239395"/>
          </a:xfrm>
          <a:prstGeom prst="roundRect">
            <a:avLst>
              <a:gd name="adj" fmla="val 10021"/>
            </a:avLst>
          </a:prstGeom>
          <a:solidFill>
            <a:srgbClr val="FFFFFF">
              <a:alpha val="65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② 运营支撑平台</a:t>
            </a:r>
            <a:endParaRPr lang="zh-CN" altLang="en-US" sz="1100" dirty="0">
              <a:solidFill>
                <a:srgbClr val="383838"/>
              </a:solidFill>
              <a:latin typeface="微软雅黑"/>
              <a:ea typeface="微软雅黑"/>
              <a:cs typeface="微软雅黑"/>
              <a:sym typeface="微软雅黑"/>
            </a:endParaRPr>
          </a:p>
        </p:txBody>
      </p:sp>
      <p:sp>
        <p:nvSpPr>
          <p:cNvPr id="85" name="©显眼包PPT25"/>
          <p:cNvSpPr txBox="1"/>
          <p:nvPr/>
        </p:nvSpPr>
        <p:spPr>
          <a:xfrm>
            <a:off x="7213600" y="2406015"/>
            <a:ext cx="1691640" cy="59817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通过流程标准化、绩效量化、风险管控与资源优化，构建高效稳定的运营保障体系，支撑业务持续运行。</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6" name="上箭头 85"/>
          <p:cNvSpPr/>
          <p:nvPr/>
        </p:nvSpPr>
        <p:spPr>
          <a:xfrm>
            <a:off x="5625465" y="2022475"/>
            <a:ext cx="274320" cy="244475"/>
          </a:xfrm>
          <a:prstGeom prst="upArrow">
            <a:avLst/>
          </a:prstGeom>
          <a:gradFill>
            <a:gsLst>
              <a:gs pos="0">
                <a:srgbClr val="3368FF"/>
              </a:gs>
              <a:gs pos="100000">
                <a:srgbClr val="E6E6E6">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sym typeface="微软雅黑"/>
              <a:latin typeface="微软雅黑"/>
              <a:ea typeface="微软雅黑"/>
              <a:cs typeface="微软雅黑"/>
            </a:endParaRPr>
          </a:p>
        </p:txBody>
      </p:sp>
      <p:sp>
        <p:nvSpPr>
          <p:cNvPr id="87" name="上箭头 86"/>
          <p:cNvSpPr/>
          <p:nvPr/>
        </p:nvSpPr>
        <p:spPr>
          <a:xfrm>
            <a:off x="6316345" y="2022475"/>
            <a:ext cx="274320" cy="244475"/>
          </a:xfrm>
          <a:prstGeom prst="upArrow">
            <a:avLst/>
          </a:prstGeom>
          <a:gradFill>
            <a:gsLst>
              <a:gs pos="0">
                <a:srgbClr val="3368FF"/>
              </a:gs>
              <a:gs pos="100000">
                <a:srgbClr val="E6E6E6">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sym typeface="微软雅黑"/>
              <a:latin typeface="微软雅黑"/>
              <a:ea typeface="微软雅黑"/>
              <a:cs typeface="微软雅黑"/>
            </a:endParaRPr>
          </a:p>
        </p:txBody>
      </p:sp>
      <p:sp>
        <p:nvSpPr>
          <p:cNvPr id="88" name="矩形 87"/>
          <p:cNvSpPr/>
          <p:nvPr/>
        </p:nvSpPr>
        <p:spPr>
          <a:xfrm>
            <a:off x="5232400" y="2308225"/>
            <a:ext cx="1754505" cy="259715"/>
          </a:xfrm>
          <a:prstGeom prst="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战略定位与方向指引</a:t>
            </a:r>
            <a:endParaRPr lang="zh-CN" altLang="en-US" sz="1100" dirty="0">
              <a:solidFill>
                <a:srgbClr val="383838"/>
              </a:solidFill>
              <a:latin typeface="微软雅黑"/>
              <a:ea typeface="微软雅黑"/>
              <a:cs typeface="微软雅黑"/>
              <a:sym typeface="微软雅黑"/>
            </a:endParaRPr>
          </a:p>
        </p:txBody>
      </p:sp>
      <p:sp>
        <p:nvSpPr>
          <p:cNvPr id="89" name="矩形 88"/>
          <p:cNvSpPr/>
          <p:nvPr/>
        </p:nvSpPr>
        <p:spPr>
          <a:xfrm>
            <a:off x="5232400" y="2620010"/>
            <a:ext cx="1754505" cy="259715"/>
          </a:xfrm>
          <a:prstGeom prst="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信息整合与决策协同</a:t>
            </a:r>
            <a:endParaRPr lang="zh-CN" altLang="en-US" sz="1100" dirty="0">
              <a:solidFill>
                <a:srgbClr val="383838"/>
              </a:solidFill>
              <a:latin typeface="微软雅黑"/>
              <a:ea typeface="微软雅黑"/>
              <a:cs typeface="微软雅黑"/>
              <a:sym typeface="微软雅黑"/>
            </a:endParaRPr>
          </a:p>
        </p:txBody>
      </p:sp>
      <p:cxnSp>
        <p:nvCxnSpPr>
          <p:cNvPr id="95" name="直接连接符 94"/>
          <p:cNvCxnSpPr/>
          <p:nvPr/>
        </p:nvCxnSpPr>
        <p:spPr>
          <a:xfrm>
            <a:off x="603885" y="1102995"/>
            <a:ext cx="505460" cy="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96" name="直接连接符 95"/>
          <p:cNvCxnSpPr/>
          <p:nvPr/>
        </p:nvCxnSpPr>
        <p:spPr>
          <a:xfrm>
            <a:off x="608330" y="3135630"/>
            <a:ext cx="496570" cy="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97" name="直接箭头连接符 96"/>
          <p:cNvCxnSpPr/>
          <p:nvPr/>
        </p:nvCxnSpPr>
        <p:spPr>
          <a:xfrm>
            <a:off x="856615" y="1219835"/>
            <a:ext cx="0" cy="182435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sp>
        <p:nvSpPr>
          <p:cNvPr id="98" name="文本框 97"/>
          <p:cNvSpPr txBox="1"/>
          <p:nvPr/>
        </p:nvSpPr>
        <p:spPr>
          <a:xfrm>
            <a:off x="431165" y="1393190"/>
            <a:ext cx="333375" cy="1395730"/>
          </a:xfrm>
          <a:prstGeom prst="rect">
            <a:avLst/>
          </a:prstGeom>
          <a:noFill/>
        </p:spPr>
        <p:txBody>
          <a:bodyPr vert="eaVert" wrap="square" rtlCol="0" anchor="ctr" anchorCtr="0">
            <a:no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一核两翼</a:t>
            </a:r>
            <a:r>
              <a:rPr lang="en-US" altLang="zh-CN" sz="1400" b="1">
                <a:solidFill>
                  <a:srgbClr val="383838"/>
                </a:solidFill>
                <a:latin typeface="微软雅黑"/>
                <a:ea typeface="微软雅黑"/>
                <a:cs typeface="微软雅黑"/>
              </a:rPr>
              <a:t>“</a:t>
            </a:r>
            <a:endParaRPr lang="en-US" altLang="zh-CN" sz="1400" b="1">
              <a:solidFill>
                <a:srgbClr val="383838"/>
              </a:solidFill>
              <a:latin typeface="微软雅黑"/>
              <a:ea typeface="微软雅黑"/>
              <a:cs typeface="微软雅黑"/>
            </a:endParaRPr>
          </a:p>
        </p:txBody>
      </p:sp>
      <p:cxnSp>
        <p:nvCxnSpPr>
          <p:cNvPr id="137" name="直接箭头连接符 136"/>
          <p:cNvCxnSpPr/>
          <p:nvPr/>
        </p:nvCxnSpPr>
        <p:spPr>
          <a:xfrm>
            <a:off x="856615" y="3135630"/>
            <a:ext cx="0" cy="182435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sp>
        <p:nvSpPr>
          <p:cNvPr id="138" name="文本框 137"/>
          <p:cNvSpPr txBox="1"/>
          <p:nvPr/>
        </p:nvSpPr>
        <p:spPr>
          <a:xfrm>
            <a:off x="431165" y="3372485"/>
            <a:ext cx="333375" cy="1395730"/>
          </a:xfrm>
          <a:prstGeom prst="rect">
            <a:avLst/>
          </a:prstGeom>
          <a:noFill/>
        </p:spPr>
        <p:txBody>
          <a:bodyPr vert="eaVert" wrap="square" rtlCol="0" anchor="ctr" anchorCtr="0">
            <a:no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四柱支撑</a:t>
            </a:r>
            <a:r>
              <a:rPr lang="en-US" altLang="zh-CN" sz="1400" b="1">
                <a:solidFill>
                  <a:srgbClr val="383838"/>
                </a:solidFill>
                <a:latin typeface="微软雅黑"/>
                <a:ea typeface="微软雅黑"/>
                <a:cs typeface="微软雅黑"/>
              </a:rPr>
              <a:t>“</a:t>
            </a:r>
            <a:endParaRPr lang="en-US" altLang="zh-CN" sz="1400" b="1">
              <a:solidFill>
                <a:srgbClr val="383838"/>
              </a:solidFill>
              <a:latin typeface="微软雅黑"/>
              <a:ea typeface="微软雅黑"/>
              <a:cs typeface="微软雅黑"/>
            </a:endParaRPr>
          </a:p>
        </p:txBody>
      </p:sp>
      <p:sp>
        <p:nvSpPr>
          <p:cNvPr id="140" name="©显眼包PPT10"/>
          <p:cNvSpPr/>
          <p:nvPr/>
        </p:nvSpPr>
        <p:spPr>
          <a:xfrm>
            <a:off x="1109345" y="3135630"/>
            <a:ext cx="10017760" cy="443230"/>
          </a:xfrm>
          <a:prstGeom prst="rect">
            <a:avLst/>
          </a:prstGeom>
          <a:gradFill>
            <a:gsLst>
              <a:gs pos="0">
                <a:srgbClr val="3368FF"/>
              </a:gs>
              <a:gs pos="62000">
                <a:srgbClr val="0042FF"/>
              </a:gs>
            </a:gsLst>
            <a:lin ang="162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在运营支撑平台中体现为</a:t>
            </a:r>
            <a:r>
              <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流程管理、绩效管理、风险控制、资源调度</a:t>
            </a:r>
            <a:r>
              <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四个支柱支撑</a:t>
            </a:r>
            <a:endParaRPr kumimoji="0" lang="en-US" altLang="zh-CN" sz="16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03" name="矩形: 圆角 118"/>
          <p:cNvSpPr/>
          <p:nvPr/>
        </p:nvSpPr>
        <p:spPr>
          <a:xfrm>
            <a:off x="264795" y="5030470"/>
            <a:ext cx="11661140" cy="1173480"/>
          </a:xfrm>
          <a:prstGeom prst="roundRect">
            <a:avLst>
              <a:gd name="adj" fmla="val 0"/>
            </a:avLst>
          </a:prstGeom>
          <a:solidFill>
            <a:srgbClr val="FFFFFF"/>
          </a:solidFill>
          <a:ln w="12700" cap="flat">
            <a:gradFill>
              <a:gsLst>
                <a:gs pos="35000">
                  <a:srgbClr val="668EFF">
                    <a:alpha val="0"/>
                  </a:srgbClr>
                </a:gs>
                <a:gs pos="0">
                  <a:srgbClr val="668EFF"/>
                </a:gs>
                <a:gs pos="65000">
                  <a:srgbClr val="668EFF">
                    <a:alpha val="0"/>
                  </a:srgbClr>
                </a:gs>
                <a:gs pos="100000">
                  <a:srgbClr val="668EFF"/>
                </a:gs>
              </a:gsLst>
              <a:lin ang="4200000" scaled="0"/>
            </a:gra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noAutofit/>
          </a:bodyPr>
          <a:lstStyle/>
          <a:p>
            <a:pPr defTabSz="825500">
              <a:defRPr>
                <a:solidFill>
                  <a:srgbClr val="FFFFFF"/>
                </a:solidFill>
                <a:latin typeface="微软雅黑"/>
                <a:ea typeface="微软雅黑"/>
                <a:cs typeface="微软雅黑"/>
              </a:defRPr>
            </a:pPr>
            <a:endParaRPr lang="zh-CN" altLang="en-US" sz="1100">
              <a:solidFill>
                <a:srgbClr val="FFFFFF"/>
              </a:solidFill>
              <a:latin typeface="微软雅黑"/>
              <a:ea typeface="微软雅黑"/>
              <a:sym typeface="微软雅黑"/>
              <a:cs typeface="微软雅黑"/>
            </a:endParaRPr>
          </a:p>
        </p:txBody>
      </p:sp>
      <p:sp>
        <p:nvSpPr>
          <p:cNvPr id="305" name="梯形 304"/>
          <p:cNvSpPr/>
          <p:nvPr/>
        </p:nvSpPr>
        <p:spPr>
          <a:xfrm>
            <a:off x="254000" y="4784090"/>
            <a:ext cx="11685270" cy="246380"/>
          </a:xfrm>
          <a:prstGeom prst="trapezoid">
            <a:avLst>
              <a:gd name="adj" fmla="val 178306"/>
            </a:avLst>
          </a:prstGeom>
          <a:gradFill>
            <a:gsLst>
              <a:gs pos="0">
                <a:srgbClr val="668EFF">
                  <a:alpha val="0"/>
                </a:srgbClr>
              </a:gs>
              <a:gs pos="98165">
                <a:srgbClr val="3368FF"/>
              </a:gs>
              <a:gs pos="88000">
                <a:srgbClr val="3368FF">
                  <a:alpha val="7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354" name="©显眼包PPT8-1"/>
          <p:cNvSpPr/>
          <p:nvPr/>
        </p:nvSpPr>
        <p:spPr>
          <a:xfrm>
            <a:off x="264795" y="6203950"/>
            <a:ext cx="11674475" cy="421640"/>
          </a:xfrm>
          <a:prstGeom prst="rect">
            <a:avLst/>
          </a:prstGeom>
          <a:gradFill>
            <a:gsLst>
              <a:gs pos="0">
                <a:srgbClr val="3368FF"/>
              </a:gs>
              <a:gs pos="62000">
                <a:srgbClr val="0042FF"/>
              </a:gs>
            </a:gsLst>
            <a:lin ang="1620000" scaled="0"/>
          </a:gradFill>
          <a:ln>
            <a:gradFill>
              <a:gsLst>
                <a:gs pos="0">
                  <a:srgbClr val="3368FF"/>
                </a:gs>
                <a:gs pos="100000">
                  <a:srgbClr val="0042FF"/>
                </a:gs>
              </a:gsLst>
              <a:lin ang="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sz="1600" b="1" noProof="0" dirty="0">
                <a:ln>
                  <a:noFill/>
                </a:ln>
                <a:solidFill>
                  <a:srgbClr val="FFFFFF"/>
                </a:solidFill>
                <a:effectLst/>
                <a:uLnTx/>
                <a:uFillTx/>
                <a:latin typeface="微软雅黑"/>
                <a:ea typeface="微软雅黑"/>
                <a:cs typeface="微软雅黑"/>
                <a:sym typeface="微软雅黑"/>
              </a:rPr>
              <a:t>底层支撑的</a:t>
            </a:r>
            <a:r>
              <a:rPr lang="en-US" altLang="zh-CN" sz="1600" b="1" noProof="0" dirty="0">
                <a:ln>
                  <a:noFill/>
                </a:ln>
                <a:solidFill>
                  <a:srgbClr val="FFFFFF"/>
                </a:solidFill>
                <a:effectLst/>
                <a:uLnTx/>
                <a:uFillTx/>
                <a:latin typeface="微软雅黑"/>
                <a:ea typeface="微软雅黑"/>
                <a:cs typeface="微软雅黑"/>
                <a:sym typeface="微软雅黑"/>
              </a:rPr>
              <a:t>”</a:t>
            </a:r>
            <a:r>
              <a:rPr lang="zh-CN" sz="1600" b="1" noProof="0" dirty="0">
                <a:ln>
                  <a:noFill/>
                </a:ln>
                <a:solidFill>
                  <a:srgbClr val="FFFFFF"/>
                </a:solidFill>
                <a:effectLst/>
                <a:uLnTx/>
                <a:uFillTx/>
                <a:latin typeface="微软雅黑"/>
                <a:ea typeface="微软雅黑"/>
                <a:cs typeface="微软雅黑"/>
                <a:sym typeface="微软雅黑"/>
              </a:rPr>
              <a:t>经营管理中枢</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，共同构成从</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战略</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执行</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运营</a:t>
            </a:r>
            <a:r>
              <a:rPr lang="en-US" altLang="en-US"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优化</a:t>
            </a:r>
            <a:r>
              <a:rPr lang="en-US" altLang="zh-CN" sz="1600" b="1" noProof="0" dirty="0">
                <a:ln>
                  <a:noFill/>
                </a:ln>
                <a:solidFill>
                  <a:srgbClr val="FFFFFF"/>
                </a:solidFill>
                <a:effectLst/>
                <a:uLnTx/>
                <a:uFillTx/>
                <a:latin typeface="微软雅黑"/>
                <a:ea typeface="微软雅黑"/>
                <a:cs typeface="微软雅黑"/>
                <a:sym typeface="微软雅黑"/>
              </a:rPr>
              <a:t>”</a:t>
            </a:r>
            <a:r>
              <a:rPr lang="zh-CN" altLang="en-US" sz="1600" b="1" noProof="0" dirty="0">
                <a:ln>
                  <a:noFill/>
                </a:ln>
                <a:solidFill>
                  <a:srgbClr val="FFFFFF"/>
                </a:solidFill>
                <a:effectLst/>
                <a:uLnTx/>
                <a:uFillTx/>
                <a:latin typeface="微软雅黑"/>
                <a:ea typeface="微软雅黑"/>
                <a:cs typeface="微软雅黑"/>
                <a:sym typeface="微软雅黑"/>
              </a:rPr>
              <a:t>的完整经营管理闭环</a:t>
            </a:r>
            <a:endParaRPr lang="zh-CN" altLang="en-US" sz="1600" b="1" noProof="0" dirty="0">
              <a:ln>
                <a:noFill/>
              </a:ln>
              <a:solidFill>
                <a:srgbClr val="FFFFFF"/>
              </a:solidFill>
              <a:effectLst/>
              <a:uLnTx/>
              <a:uFillTx/>
              <a:latin typeface="微软雅黑"/>
              <a:ea typeface="微软雅黑"/>
              <a:cs typeface="微软雅黑"/>
              <a:sym typeface="微软雅黑"/>
            </a:endParaRPr>
          </a:p>
        </p:txBody>
      </p:sp>
      <p:sp>
        <p:nvSpPr>
          <p:cNvPr id="355" name="©显眼包PPT8-2"/>
          <p:cNvSpPr/>
          <p:nvPr/>
        </p:nvSpPr>
        <p:spPr>
          <a:xfrm>
            <a:off x="267335" y="5741670"/>
            <a:ext cx="11671300" cy="464185"/>
          </a:xfrm>
          <a:prstGeom prst="trapezoid">
            <a:avLst>
              <a:gd name="adj" fmla="val 207256"/>
            </a:avLst>
          </a:prstGeom>
          <a:gradFill>
            <a:gsLst>
              <a:gs pos="0">
                <a:srgbClr val="668EFF">
                  <a:alpha val="0"/>
                </a:srgbClr>
              </a:gs>
              <a:gs pos="100000">
                <a:srgbClr val="3368FF">
                  <a:alpha val="7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622" name="文本框 621"/>
          <p:cNvSpPr txBox="1"/>
          <p:nvPr/>
        </p:nvSpPr>
        <p:spPr>
          <a:xfrm>
            <a:off x="431165" y="4908550"/>
            <a:ext cx="333375" cy="1395730"/>
          </a:xfrm>
          <a:prstGeom prst="rect">
            <a:avLst/>
          </a:prstGeom>
          <a:noFill/>
        </p:spPr>
        <p:txBody>
          <a:bodyPr vert="eaVert" wrap="square" rtlCol="0" anchor="ctr" anchorCtr="0">
            <a:noAutofit/>
          </a:bodyPr>
          <a:p>
            <a:pPr algn="ctr">
              <a:defRPr>
                <a:solidFill>
                  <a:srgbClr val="FFFFFF"/>
                </a:solidFill>
                <a:latin typeface="微软雅黑"/>
                <a:ea typeface="微软雅黑"/>
                <a:cs typeface="微软雅黑"/>
              </a:defRPr>
            </a:pPr>
            <a:r>
              <a:rPr lang="en-US" altLang="zh-CN" sz="1400" b="1">
                <a:solidFill>
                  <a:srgbClr val="FFFFFF"/>
                </a:solidFill>
                <a:latin typeface="微软雅黑"/>
                <a:ea typeface="微软雅黑"/>
                <a:cs typeface="微软雅黑"/>
              </a:rPr>
              <a:t>”</a:t>
            </a:r>
            <a:r>
              <a:rPr lang="zh-CN" altLang="en-US" sz="1400" b="1">
                <a:solidFill>
                  <a:srgbClr val="FFFFFF"/>
                </a:solidFill>
                <a:latin typeface="微软雅黑"/>
                <a:ea typeface="微软雅黑"/>
                <a:cs typeface="微软雅黑"/>
              </a:rPr>
              <a:t>底层支撑</a:t>
            </a:r>
            <a:r>
              <a:rPr lang="en-US" altLang="zh-CN" sz="1400" b="1">
                <a:solidFill>
                  <a:srgbClr val="FFFFFF"/>
                </a:solidFill>
                <a:latin typeface="微软雅黑"/>
                <a:ea typeface="微软雅黑"/>
                <a:cs typeface="微软雅黑"/>
              </a:rPr>
              <a:t>“</a:t>
            </a:r>
            <a:endParaRPr lang="en-US" altLang="zh-CN" sz="1400" b="1">
              <a:solidFill>
                <a:srgbClr val="FFFFFF"/>
              </a:solidFill>
              <a:latin typeface="微软雅黑"/>
              <a:ea typeface="微软雅黑"/>
              <a:cs typeface="微软雅黑"/>
            </a:endParaRPr>
          </a:p>
        </p:txBody>
      </p:sp>
      <p:cxnSp>
        <p:nvCxnSpPr>
          <p:cNvPr id="623" name="直接箭头连接符 622"/>
          <p:cNvCxnSpPr/>
          <p:nvPr/>
        </p:nvCxnSpPr>
        <p:spPr>
          <a:xfrm>
            <a:off x="856615" y="5095240"/>
            <a:ext cx="0" cy="1033145"/>
          </a:xfrm>
          <a:prstGeom prst="straightConnector1">
            <a:avLst/>
          </a:prstGeom>
          <a:ln>
            <a:solidFill>
              <a:srgbClr val="383838"/>
            </a:solidFill>
            <a:headEnd type="triangle" w="lg" len="med"/>
            <a:tailEnd type="triangle" w="lg" len="med"/>
          </a:ln>
        </p:spPr>
        <p:style>
          <a:lnRef idx="2">
            <a:srgbClr val="0042FF"/>
          </a:lnRef>
          <a:fillRef idx="0">
            <a:srgbClr val="FFFFFF"/>
          </a:fillRef>
          <a:effectRef idx="0">
            <a:srgbClr val="FFFFFF"/>
          </a:effectRef>
          <a:fontRef idx="minor">
            <a:srgbClr val="383838"/>
          </a:fontRef>
        </p:style>
      </p:cxnSp>
      <p:grpSp>
        <p:nvGrpSpPr>
          <p:cNvPr id="345" name="组合 344"/>
          <p:cNvGrpSpPr/>
          <p:nvPr/>
        </p:nvGrpSpPr>
        <p:grpSpPr>
          <a:xfrm>
            <a:off x="3226435" y="5205730"/>
            <a:ext cx="938530" cy="821690"/>
            <a:chOff x="4993" y="8155"/>
            <a:chExt cx="1478" cy="1294"/>
          </a:xfrm>
        </p:grpSpPr>
        <p:grpSp>
          <p:nvGrpSpPr>
            <p:cNvPr id="69" name="组合 68"/>
            <p:cNvGrpSpPr/>
            <p:nvPr/>
          </p:nvGrpSpPr>
          <p:grpSpPr>
            <a:xfrm>
              <a:off x="4993" y="8155"/>
              <a:ext cx="1478" cy="1295"/>
              <a:chOff x="2183" y="8155"/>
              <a:chExt cx="1478" cy="1295"/>
            </a:xfrm>
          </p:grpSpPr>
          <p:sp>
            <p:nvSpPr>
              <p:cNvPr id="76" name="菱形 75"/>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77" name="菱形 76"/>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81" name="组合 80"/>
              <p:cNvGrpSpPr/>
              <p:nvPr/>
            </p:nvGrpSpPr>
            <p:grpSpPr>
              <a:xfrm rot="0">
                <a:off x="3571" y="9173"/>
                <a:ext cx="90" cy="59"/>
                <a:chOff x="8353512" y="3886200"/>
                <a:chExt cx="307127" cy="266701"/>
              </a:xfrm>
            </p:grpSpPr>
            <p:cxnSp>
              <p:nvCxnSpPr>
                <p:cNvPr id="82" name="直接连接符 81"/>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99" name="直接连接符 98"/>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00" name="组合 99"/>
              <p:cNvGrpSpPr/>
              <p:nvPr/>
            </p:nvGrpSpPr>
            <p:grpSpPr>
              <a:xfrm rot="0" flipH="1">
                <a:off x="2183" y="9173"/>
                <a:ext cx="90" cy="59"/>
                <a:chOff x="8353512" y="3886200"/>
                <a:chExt cx="307127" cy="266701"/>
              </a:xfrm>
            </p:grpSpPr>
            <p:cxnSp>
              <p:nvCxnSpPr>
                <p:cNvPr id="107" name="直接连接符 106"/>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08" name="直接连接符 107"/>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09" name="直接连接符 108"/>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110" name="直接连接符 109"/>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117" name="菱形 116"/>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118" name="梯形 117"/>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119" name="文本框 118"/>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rPr>
                  <a:t>业务流程</a:t>
                </a:r>
                <a:endPar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rPr>
                  <a:t>协同优化</a:t>
                </a:r>
                <a:endPar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endParaRPr>
              </a:p>
            </p:txBody>
          </p:sp>
        </p:grpSp>
        <p:pic>
          <p:nvPicPr>
            <p:cNvPr id="344" name="图片 343" descr="流程图／流程状态"/>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443" y="8752"/>
              <a:ext cx="533" cy="533"/>
            </a:xfrm>
            <a:prstGeom prst="rect">
              <a:avLst/>
            </a:prstGeom>
          </p:spPr>
        </p:pic>
      </p:grpSp>
      <p:grpSp>
        <p:nvGrpSpPr>
          <p:cNvPr id="352" name="组合 351"/>
          <p:cNvGrpSpPr/>
          <p:nvPr/>
        </p:nvGrpSpPr>
        <p:grpSpPr>
          <a:xfrm rot="0">
            <a:off x="1484630" y="5205730"/>
            <a:ext cx="938530" cy="822325"/>
            <a:chOff x="2183" y="8155"/>
            <a:chExt cx="1478" cy="1295"/>
          </a:xfrm>
        </p:grpSpPr>
        <p:sp>
          <p:nvSpPr>
            <p:cNvPr id="356" name="菱形 355"/>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357" name="菱形 356"/>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358" name="组合 357"/>
            <p:cNvGrpSpPr/>
            <p:nvPr/>
          </p:nvGrpSpPr>
          <p:grpSpPr>
            <a:xfrm rot="0">
              <a:off x="3571" y="9173"/>
              <a:ext cx="90" cy="59"/>
              <a:chOff x="8353512" y="3886200"/>
              <a:chExt cx="307127" cy="266701"/>
            </a:xfrm>
          </p:grpSpPr>
          <p:cxnSp>
            <p:nvCxnSpPr>
              <p:cNvPr id="359" name="直接连接符 358"/>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60" name="直接连接符 359"/>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61" name="组合 360"/>
            <p:cNvGrpSpPr/>
            <p:nvPr/>
          </p:nvGrpSpPr>
          <p:grpSpPr>
            <a:xfrm rot="0" flipH="1">
              <a:off x="2183" y="9173"/>
              <a:ext cx="90" cy="59"/>
              <a:chOff x="8353512" y="3886200"/>
              <a:chExt cx="307127" cy="266701"/>
            </a:xfrm>
          </p:grpSpPr>
          <p:cxnSp>
            <p:nvCxnSpPr>
              <p:cNvPr id="362" name="直接连接符 361"/>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63" name="直接连接符 362"/>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64" name="直接连接符 363"/>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65" name="直接连接符 364"/>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66" name="菱形 365"/>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67" name="梯形 366"/>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68" name="文本框 367"/>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rPr>
                <a:t>战略解码</a:t>
              </a:r>
              <a:endPar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rPr>
                <a:t>目标传导</a:t>
              </a:r>
              <a:endPar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endParaRPr>
            </a:p>
          </p:txBody>
        </p:sp>
      </p:grpSp>
      <p:grpSp>
        <p:nvGrpSpPr>
          <p:cNvPr id="371" name="组合 370"/>
          <p:cNvGrpSpPr/>
          <p:nvPr/>
        </p:nvGrpSpPr>
        <p:grpSpPr>
          <a:xfrm rot="0">
            <a:off x="4968240" y="5205730"/>
            <a:ext cx="938530" cy="822325"/>
            <a:chOff x="2183" y="8155"/>
            <a:chExt cx="1478" cy="1295"/>
          </a:xfrm>
        </p:grpSpPr>
        <p:sp>
          <p:nvSpPr>
            <p:cNvPr id="372" name="菱形 371"/>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373" name="菱形 372"/>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374" name="组合 373"/>
            <p:cNvGrpSpPr/>
            <p:nvPr/>
          </p:nvGrpSpPr>
          <p:grpSpPr>
            <a:xfrm rot="0">
              <a:off x="3571" y="9173"/>
              <a:ext cx="90" cy="59"/>
              <a:chOff x="8353512" y="3886200"/>
              <a:chExt cx="307127" cy="266701"/>
            </a:xfrm>
          </p:grpSpPr>
          <p:cxnSp>
            <p:nvCxnSpPr>
              <p:cNvPr id="375" name="直接连接符 374"/>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76" name="直接连接符 375"/>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77" name="组合 376"/>
            <p:cNvGrpSpPr/>
            <p:nvPr/>
          </p:nvGrpSpPr>
          <p:grpSpPr>
            <a:xfrm rot="0" flipH="1">
              <a:off x="2183" y="9173"/>
              <a:ext cx="90" cy="59"/>
              <a:chOff x="8353512" y="3886200"/>
              <a:chExt cx="307127" cy="266701"/>
            </a:xfrm>
          </p:grpSpPr>
          <p:cxnSp>
            <p:nvCxnSpPr>
              <p:cNvPr id="378" name="直接连接符 377"/>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79" name="直接连接符 378"/>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80" name="直接连接符 379"/>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81" name="直接连接符 380"/>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82" name="菱形 381"/>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83" name="梯形 382"/>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84" name="文本框 383"/>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rPr>
                <a:t>数据治理</a:t>
              </a:r>
              <a:endPar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rPr>
                <a:t>决策支持</a:t>
              </a:r>
              <a:endPar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endParaRPr>
            </a:p>
          </p:txBody>
        </p:sp>
      </p:grpSp>
      <p:grpSp>
        <p:nvGrpSpPr>
          <p:cNvPr id="387" name="组合 386"/>
          <p:cNvGrpSpPr/>
          <p:nvPr/>
        </p:nvGrpSpPr>
        <p:grpSpPr>
          <a:xfrm rot="0">
            <a:off x="6710045" y="5205730"/>
            <a:ext cx="938530" cy="822325"/>
            <a:chOff x="2183" y="8155"/>
            <a:chExt cx="1478" cy="1295"/>
          </a:xfrm>
        </p:grpSpPr>
        <p:sp>
          <p:nvSpPr>
            <p:cNvPr id="388" name="菱形 387"/>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389" name="菱形 388"/>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390" name="组合 389"/>
            <p:cNvGrpSpPr/>
            <p:nvPr/>
          </p:nvGrpSpPr>
          <p:grpSpPr>
            <a:xfrm rot="0">
              <a:off x="3571" y="9173"/>
              <a:ext cx="90" cy="59"/>
              <a:chOff x="8353512" y="3886200"/>
              <a:chExt cx="307127" cy="266701"/>
            </a:xfrm>
          </p:grpSpPr>
          <p:cxnSp>
            <p:nvCxnSpPr>
              <p:cNvPr id="391" name="直接连接符 390"/>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92" name="直接连接符 391"/>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393" name="组合 392"/>
            <p:cNvGrpSpPr/>
            <p:nvPr/>
          </p:nvGrpSpPr>
          <p:grpSpPr>
            <a:xfrm rot="0" flipH="1">
              <a:off x="2183" y="9173"/>
              <a:ext cx="90" cy="59"/>
              <a:chOff x="8353512" y="3886200"/>
              <a:chExt cx="307127" cy="266701"/>
            </a:xfrm>
          </p:grpSpPr>
          <p:cxnSp>
            <p:nvCxnSpPr>
              <p:cNvPr id="394" name="直接连接符 393"/>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395" name="直接连接符 394"/>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396" name="直接连接符 395"/>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397" name="直接连接符 396"/>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398" name="菱形 397"/>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399" name="梯形 398"/>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00" name="文本框 399"/>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rPr>
                <a:t>组织赋能</a:t>
              </a:r>
              <a:endPar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rPr>
                <a:t>人才发展</a:t>
              </a:r>
              <a:endPar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endParaRPr>
            </a:p>
          </p:txBody>
        </p:sp>
      </p:grpSp>
      <p:grpSp>
        <p:nvGrpSpPr>
          <p:cNvPr id="403" name="组合 402"/>
          <p:cNvGrpSpPr/>
          <p:nvPr/>
        </p:nvGrpSpPr>
        <p:grpSpPr>
          <a:xfrm rot="0">
            <a:off x="8451850" y="5205730"/>
            <a:ext cx="938530" cy="822325"/>
            <a:chOff x="2183" y="8155"/>
            <a:chExt cx="1478" cy="1295"/>
          </a:xfrm>
        </p:grpSpPr>
        <p:sp>
          <p:nvSpPr>
            <p:cNvPr id="404" name="菱形 403"/>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405" name="菱形 404"/>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406" name="组合 405"/>
            <p:cNvGrpSpPr/>
            <p:nvPr/>
          </p:nvGrpSpPr>
          <p:grpSpPr>
            <a:xfrm rot="0">
              <a:off x="3571" y="9173"/>
              <a:ext cx="90" cy="59"/>
              <a:chOff x="8353512" y="3886200"/>
              <a:chExt cx="307127" cy="266701"/>
            </a:xfrm>
          </p:grpSpPr>
          <p:cxnSp>
            <p:nvCxnSpPr>
              <p:cNvPr id="407" name="直接连接符 406"/>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08" name="直接连接符 407"/>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409" name="组合 408"/>
            <p:cNvGrpSpPr/>
            <p:nvPr/>
          </p:nvGrpSpPr>
          <p:grpSpPr>
            <a:xfrm rot="0" flipH="1">
              <a:off x="2183" y="9173"/>
              <a:ext cx="90" cy="59"/>
              <a:chOff x="8353512" y="3886200"/>
              <a:chExt cx="307127" cy="266701"/>
            </a:xfrm>
          </p:grpSpPr>
          <p:cxnSp>
            <p:nvCxnSpPr>
              <p:cNvPr id="410" name="直接连接符 409"/>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11" name="直接连接符 410"/>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412" name="直接连接符 411"/>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413" name="直接连接符 412"/>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414" name="菱形 413"/>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15" name="梯形 414"/>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16" name="文本框 415"/>
            <p:cNvSpPr txBox="1"/>
            <p:nvPr/>
          </p:nvSpPr>
          <p:spPr>
            <a:xfrm>
              <a:off x="2468"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rPr>
                <a:t>创新孵化</a:t>
              </a:r>
              <a:endPar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rPr>
                <a:t>变革推动</a:t>
              </a:r>
              <a:endPar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endParaRPr>
            </a:p>
          </p:txBody>
        </p:sp>
      </p:grpSp>
      <p:grpSp>
        <p:nvGrpSpPr>
          <p:cNvPr id="419" name="组合 418"/>
          <p:cNvGrpSpPr/>
          <p:nvPr/>
        </p:nvGrpSpPr>
        <p:grpSpPr>
          <a:xfrm rot="0">
            <a:off x="10193655" y="5205730"/>
            <a:ext cx="938530" cy="822325"/>
            <a:chOff x="2183" y="8155"/>
            <a:chExt cx="1478" cy="1295"/>
          </a:xfrm>
        </p:grpSpPr>
        <p:sp>
          <p:nvSpPr>
            <p:cNvPr id="420" name="菱形 419"/>
            <p:cNvSpPr/>
            <p:nvPr/>
          </p:nvSpPr>
          <p:spPr>
            <a:xfrm>
              <a:off x="2186" y="8955"/>
              <a:ext cx="1472" cy="494"/>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sp>
          <p:nvSpPr>
            <p:cNvPr id="421" name="菱形 420"/>
            <p:cNvSpPr/>
            <p:nvPr/>
          </p:nvSpPr>
          <p:spPr>
            <a:xfrm>
              <a:off x="2322" y="9001"/>
              <a:ext cx="1200" cy="403"/>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E6E6E6">
                  <a:alpha val="63000"/>
                </a:srgbClr>
              </a:innerShdw>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a:solidFill>
                  <a:srgbClr val="FFFFFF"/>
                </a:solidFill>
                <a:latin typeface="微软雅黑"/>
                <a:ea typeface="微软雅黑"/>
                <a:cs typeface="微软雅黑"/>
              </a:endParaRPr>
            </a:p>
          </p:txBody>
        </p:sp>
        <p:grpSp>
          <p:nvGrpSpPr>
            <p:cNvPr id="422" name="组合 421"/>
            <p:cNvGrpSpPr/>
            <p:nvPr/>
          </p:nvGrpSpPr>
          <p:grpSpPr>
            <a:xfrm rot="0">
              <a:off x="3571" y="9173"/>
              <a:ext cx="90" cy="59"/>
              <a:chOff x="8353512" y="3886200"/>
              <a:chExt cx="307127" cy="266701"/>
            </a:xfrm>
          </p:grpSpPr>
          <p:cxnSp>
            <p:nvCxnSpPr>
              <p:cNvPr id="423" name="直接连接符 422"/>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24" name="直接连接符 423"/>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425" name="组合 424"/>
            <p:cNvGrpSpPr/>
            <p:nvPr/>
          </p:nvGrpSpPr>
          <p:grpSpPr>
            <a:xfrm rot="0" flipH="1">
              <a:off x="2183" y="9173"/>
              <a:ext cx="90" cy="59"/>
              <a:chOff x="8353512" y="3886200"/>
              <a:chExt cx="307127" cy="266701"/>
            </a:xfrm>
          </p:grpSpPr>
          <p:cxnSp>
            <p:nvCxnSpPr>
              <p:cNvPr id="426" name="直接连接符 425"/>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427" name="直接连接符 426"/>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428" name="直接连接符 427"/>
            <p:cNvCxnSpPr/>
            <p:nvPr/>
          </p:nvCxnSpPr>
          <p:spPr>
            <a:xfrm flipV="1">
              <a:off x="2923" y="9419"/>
              <a:ext cx="90" cy="30"/>
            </a:xfrm>
            <a:prstGeom prst="line">
              <a:avLst/>
            </a:prstGeom>
            <a:noFill/>
            <a:ln w="19050" cap="flat" cmpd="sng" algn="ctr">
              <a:solidFill>
                <a:srgbClr val="0042FF"/>
              </a:solidFill>
              <a:prstDash val="solid"/>
              <a:miter lim="800000"/>
            </a:ln>
            <a:effectLst/>
          </p:spPr>
        </p:cxnSp>
        <p:cxnSp>
          <p:nvCxnSpPr>
            <p:cNvPr id="429" name="直接连接符 428"/>
            <p:cNvCxnSpPr/>
            <p:nvPr/>
          </p:nvCxnSpPr>
          <p:spPr>
            <a:xfrm>
              <a:off x="2834" y="9420"/>
              <a:ext cx="90" cy="30"/>
            </a:xfrm>
            <a:prstGeom prst="line">
              <a:avLst/>
            </a:prstGeom>
            <a:noFill/>
            <a:ln w="19050" cap="flat" cmpd="sng" algn="ctr">
              <a:solidFill>
                <a:srgbClr val="0042FF"/>
              </a:solidFill>
              <a:prstDash val="solid"/>
              <a:miter lim="800000"/>
            </a:ln>
            <a:effectLst/>
          </p:spPr>
        </p:cxnSp>
        <p:sp>
          <p:nvSpPr>
            <p:cNvPr id="430" name="菱形 429"/>
            <p:cNvSpPr/>
            <p:nvPr/>
          </p:nvSpPr>
          <p:spPr>
            <a:xfrm>
              <a:off x="2551" y="9078"/>
              <a:ext cx="742" cy="249"/>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31" name="梯形 430"/>
            <p:cNvSpPr/>
            <p:nvPr/>
          </p:nvSpPr>
          <p:spPr>
            <a:xfrm rot="10800000">
              <a:off x="2444" y="8480"/>
              <a:ext cx="927" cy="752"/>
            </a:xfrm>
            <a:prstGeom prst="trapezoid">
              <a:avLst>
                <a:gd name="adj" fmla="val 19469"/>
              </a:avLst>
            </a:prstGeom>
            <a:gradFill>
              <a:gsLst>
                <a:gs pos="100000">
                  <a:srgbClr val="E6E6E6">
                    <a:alpha val="0"/>
                  </a:srgbClr>
                </a:gs>
                <a:gs pos="44100">
                  <a:srgbClr val="E6E6E6"/>
                </a:gs>
                <a:gs pos="0">
                  <a:srgbClr val="E6E6E6">
                    <a:alpha val="0"/>
                  </a:srgbClr>
                </a:gs>
              </a:gsLst>
              <a:lin ang="5400000" scaled="1"/>
            </a:gradFill>
            <a:ln w="12700" cap="flat" cmpd="sng" algn="ctr">
              <a:noFill/>
              <a:prstDash val="solid"/>
              <a:miter lim="800000"/>
            </a:ln>
            <a:effectLst/>
          </p:spPr>
          <p:txBody>
            <a:bodyPr rtlCol="0" anchor="ctr" lIns="0" rIns="0" tIns="0" bIns="0"/>
            <a:lstStyle/>
            <a:p>
              <a:pPr algn="ctr" defTabSz="1920240">
                <a:defRPr>
                  <a:solidFill>
                    <a:srgbClr val="FFFFFF"/>
                  </a:solidFill>
                  <a:latin typeface="微软雅黑"/>
                  <a:ea typeface="微软雅黑"/>
                  <a:cs typeface="微软雅黑"/>
                </a:defRPr>
              </a:pPr>
              <a:endParaRPr lang="zh-CN" altLang="en-US" sz="1400" kern="0" dirty="0">
                <a:solidFill>
                  <a:srgbClr val="FFFFFF"/>
                </a:solidFill>
                <a:latin typeface="微软雅黑"/>
                <a:ea typeface="微软雅黑"/>
                <a:cs typeface="微软雅黑"/>
              </a:endParaRPr>
            </a:p>
          </p:txBody>
        </p:sp>
        <p:sp>
          <p:nvSpPr>
            <p:cNvPr id="432" name="文本框 431"/>
            <p:cNvSpPr txBox="1"/>
            <p:nvPr/>
          </p:nvSpPr>
          <p:spPr>
            <a:xfrm>
              <a:off x="2470" y="8155"/>
              <a:ext cx="884" cy="59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rPr>
                <a:t>运营监控</a:t>
              </a:r>
              <a:endParaRPr kumimoji="0" lang="zh-CN" altLang="en-US" sz="1000" b="1" i="0" u="none" strike="noStrike" cap="none" spc="0" normalizeH="0" baseline="0" dirty="0">
                <a:ln>
                  <a:noFill/>
                </a:ln>
                <a:solidFill>
                  <a:srgbClr val="FFFFFF"/>
                </a:solidFill>
                <a:effectLst/>
                <a:uFillTx/>
                <a:latin typeface="微软雅黑"/>
                <a:ea typeface="微软雅黑"/>
                <a:sym typeface="微软雅黑"/>
                <a:cs typeface="微软雅黑"/>
              </a:endParaRPr>
            </a:p>
            <a:p>
              <a:pPr marL="0" marR="0" indent="0" algn="ctr" defTabSz="2438400" rtl="0" fontAlgn="auto" latinLnBrk="0" hangingPunct="0">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rPr>
                <a:t>持续改进</a:t>
              </a:r>
              <a:endParaRPr kumimoji="0" lang="zh-CN" altLang="en-US" sz="1000" b="0" i="0" u="none" strike="noStrike" cap="none" spc="0" normalizeH="0" baseline="0" dirty="0">
                <a:ln>
                  <a:noFill/>
                </a:ln>
                <a:solidFill>
                  <a:srgbClr val="FFFFFF"/>
                </a:solidFill>
                <a:effectLst/>
                <a:uFillTx/>
                <a:latin typeface="微软雅黑"/>
                <a:ea typeface="微软雅黑"/>
                <a:sym typeface="微软雅黑"/>
                <a:cs typeface="微软雅黑"/>
              </a:endParaRPr>
            </a:p>
          </p:txBody>
        </p:sp>
      </p:grpSp>
      <p:pic>
        <p:nvPicPr>
          <p:cNvPr id="434" name="图片 433" descr="战略目标"/>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832610" y="5635625"/>
            <a:ext cx="235585" cy="235585"/>
          </a:xfrm>
          <a:prstGeom prst="rect">
            <a:avLst/>
          </a:prstGeom>
        </p:spPr>
      </p:pic>
      <p:pic>
        <p:nvPicPr>
          <p:cNvPr id="437" name="图片 436" descr="icon_组织类型_企业组织"/>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040880" y="5593715"/>
            <a:ext cx="303530" cy="303530"/>
          </a:xfrm>
          <a:prstGeom prst="rect">
            <a:avLst/>
          </a:prstGeom>
        </p:spPr>
      </p:pic>
      <p:pic>
        <p:nvPicPr>
          <p:cNvPr id="439" name="图片 438" descr="数据治理"/>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334635" y="5631815"/>
            <a:ext cx="252730" cy="252730"/>
          </a:xfrm>
          <a:prstGeom prst="rect">
            <a:avLst/>
          </a:prstGeom>
        </p:spPr>
      </p:pic>
      <p:pic>
        <p:nvPicPr>
          <p:cNvPr id="440" name="图片 439" descr="解决方案"/>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800465" y="5598795"/>
            <a:ext cx="272415" cy="272415"/>
          </a:xfrm>
          <a:prstGeom prst="rect">
            <a:avLst/>
          </a:prstGeom>
        </p:spPr>
      </p:pic>
      <p:pic>
        <p:nvPicPr>
          <p:cNvPr id="442" name="图片 441" descr="3运营"/>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0513695" y="5605145"/>
            <a:ext cx="279400" cy="279400"/>
          </a:xfrm>
          <a:prstGeom prst="rect">
            <a:avLst/>
          </a:prstGeom>
        </p:spPr>
      </p:pic>
      <p:grpSp>
        <p:nvGrpSpPr>
          <p:cNvPr id="17" name="组合 16"/>
          <p:cNvGrpSpPr/>
          <p:nvPr/>
        </p:nvGrpSpPr>
        <p:grpSpPr>
          <a:xfrm>
            <a:off x="1685290" y="3708400"/>
            <a:ext cx="1877695" cy="1059180"/>
            <a:chOff x="2750" y="5762"/>
            <a:chExt cx="2957" cy="1668"/>
          </a:xfrm>
        </p:grpSpPr>
        <p:sp>
          <p:nvSpPr>
            <p:cNvPr id="19"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20"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dirty="0">
                  <a:solidFill>
                    <a:srgbClr val="383838"/>
                  </a:solidFill>
                  <a:effectLst/>
                  <a:latin typeface="微软雅黑"/>
                  <a:ea typeface="微软雅黑"/>
                  <a:cs typeface="微软雅黑"/>
                  <a:sym typeface="微软雅黑"/>
                </a:rPr>
                <a:t>以标准化与协同为核心，通过梳理、设计、优化关键业务流程，明确权责与节点，消除冗余与断点，提升整体运营效率与服务质量。</a:t>
              </a:r>
              <a:endParaRPr lang="zh-CN" altLang="en-US" sz="1000" b="0" i="0" dirty="0">
                <a:solidFill>
                  <a:srgbClr val="383838"/>
                </a:solidFill>
                <a:effectLst/>
                <a:latin typeface="微软雅黑"/>
                <a:ea typeface="微软雅黑"/>
                <a:cs typeface="微软雅黑"/>
              </a:endParaRPr>
            </a:p>
          </p:txBody>
        </p:sp>
        <p:grpSp>
          <p:nvGrpSpPr>
            <p:cNvPr id="22" name="组合 21"/>
            <p:cNvGrpSpPr/>
            <p:nvPr/>
          </p:nvGrpSpPr>
          <p:grpSpPr>
            <a:xfrm rot="0">
              <a:off x="2750" y="5762"/>
              <a:ext cx="2957" cy="391"/>
              <a:chOff x="1437949" y="3612626"/>
              <a:chExt cx="1877464" cy="248345"/>
            </a:xfrm>
          </p:grpSpPr>
          <p:sp>
            <p:nvSpPr>
              <p:cNvPr id="23"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 name="显眼包PPT-3"/>
              <p:cNvSpPr txBox="1"/>
              <p:nvPr/>
            </p:nvSpPr>
            <p:spPr>
              <a:xfrm>
                <a:off x="1958983" y="3644702"/>
                <a:ext cx="914288" cy="184195"/>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流程管理支撑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25"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1</a:t>
                </a:r>
                <a:endParaRPr lang="en-US" altLang="zh-CN" sz="1000">
                  <a:solidFill>
                    <a:srgbClr val="FFFFFF"/>
                  </a:solidFill>
                  <a:latin typeface="微软雅黑"/>
                  <a:ea typeface="微软雅黑"/>
                  <a:cs typeface="微软雅黑"/>
                  <a:sym typeface="微软雅黑"/>
                </a:endParaRPr>
              </a:p>
            </p:txBody>
          </p:sp>
        </p:grpSp>
      </p:grpSp>
      <p:grpSp>
        <p:nvGrpSpPr>
          <p:cNvPr id="26" name="组合 25"/>
          <p:cNvGrpSpPr/>
          <p:nvPr/>
        </p:nvGrpSpPr>
        <p:grpSpPr>
          <a:xfrm>
            <a:off x="4138295" y="3708400"/>
            <a:ext cx="1877695" cy="1059180"/>
            <a:chOff x="2750" y="5762"/>
            <a:chExt cx="2957" cy="1668"/>
          </a:xfrm>
        </p:grpSpPr>
        <p:sp>
          <p:nvSpPr>
            <p:cNvPr id="27"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28"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以目标与结果为导向，建立覆盖组织、团队、个人的多层次绩效指标体系，通过目标设定、过程跟踪，驱动实现持续改进与价值创造。</a:t>
              </a:r>
              <a:endParaRPr lang="zh-CN" altLang="en-US" sz="1000" b="0" i="0" dirty="0">
                <a:solidFill>
                  <a:srgbClr val="383838"/>
                </a:solidFill>
                <a:effectLst/>
                <a:latin typeface="微软雅黑"/>
                <a:ea typeface="微软雅黑"/>
                <a:cs typeface="微软雅黑"/>
              </a:endParaRPr>
            </a:p>
          </p:txBody>
        </p:sp>
        <p:grpSp>
          <p:nvGrpSpPr>
            <p:cNvPr id="29" name="组合 28"/>
            <p:cNvGrpSpPr/>
            <p:nvPr/>
          </p:nvGrpSpPr>
          <p:grpSpPr>
            <a:xfrm rot="0">
              <a:off x="2750" y="5762"/>
              <a:ext cx="2957" cy="391"/>
              <a:chOff x="1437949" y="3612626"/>
              <a:chExt cx="1877464" cy="248345"/>
            </a:xfrm>
          </p:grpSpPr>
          <p:sp>
            <p:nvSpPr>
              <p:cNvPr id="30"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1" name="显眼包PPT-3"/>
              <p:cNvSpPr txBox="1"/>
              <p:nvPr/>
            </p:nvSpPr>
            <p:spPr>
              <a:xfrm>
                <a:off x="1958983" y="3644702"/>
                <a:ext cx="914288" cy="184195"/>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绩效管理支撑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32"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2</a:t>
                </a:r>
                <a:endParaRPr lang="en-US" altLang="zh-CN" sz="1000">
                  <a:solidFill>
                    <a:srgbClr val="FFFFFF"/>
                  </a:solidFill>
                  <a:latin typeface="微软雅黑"/>
                  <a:ea typeface="微软雅黑"/>
                  <a:cs typeface="微软雅黑"/>
                  <a:sym typeface="微软雅黑"/>
                </a:endParaRPr>
              </a:p>
            </p:txBody>
          </p:sp>
        </p:grpSp>
      </p:grpSp>
      <p:grpSp>
        <p:nvGrpSpPr>
          <p:cNvPr id="33" name="组合 32"/>
          <p:cNvGrpSpPr/>
          <p:nvPr/>
        </p:nvGrpSpPr>
        <p:grpSpPr>
          <a:xfrm>
            <a:off x="6162675" y="3708400"/>
            <a:ext cx="1877695" cy="1059180"/>
            <a:chOff x="2750" y="5762"/>
            <a:chExt cx="2957" cy="1668"/>
          </a:xfrm>
        </p:grpSpPr>
        <p:sp>
          <p:nvSpPr>
            <p:cNvPr id="34"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35"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以预防与韧性为重点，系统识别、评估、监控运营过程中的内外部风险，建立预警机制与应对预案，保障运营安全，增强组织抵御能力。</a:t>
              </a:r>
              <a:endParaRPr lang="zh-CN" altLang="en-US" sz="1000" b="0" i="0" dirty="0">
                <a:solidFill>
                  <a:srgbClr val="383838"/>
                </a:solidFill>
                <a:effectLst/>
                <a:latin typeface="微软雅黑"/>
                <a:ea typeface="微软雅黑"/>
                <a:cs typeface="微软雅黑"/>
              </a:endParaRPr>
            </a:p>
          </p:txBody>
        </p:sp>
        <p:grpSp>
          <p:nvGrpSpPr>
            <p:cNvPr id="36" name="组合 35"/>
            <p:cNvGrpSpPr/>
            <p:nvPr/>
          </p:nvGrpSpPr>
          <p:grpSpPr>
            <a:xfrm rot="0">
              <a:off x="2750" y="5762"/>
              <a:ext cx="2957" cy="391"/>
              <a:chOff x="1437949" y="3612626"/>
              <a:chExt cx="1877464" cy="248345"/>
            </a:xfrm>
          </p:grpSpPr>
          <p:sp>
            <p:nvSpPr>
              <p:cNvPr id="37"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8" name="显眼包PPT-3"/>
              <p:cNvSpPr txBox="1"/>
              <p:nvPr/>
            </p:nvSpPr>
            <p:spPr>
              <a:xfrm>
                <a:off x="1958983" y="3644702"/>
                <a:ext cx="914288" cy="184195"/>
              </a:xfrm>
              <a:prstGeom prst="rect">
                <a:avLst/>
              </a:prstGeom>
              <a:noFill/>
            </p:spPr>
            <p:txBody>
              <a:bodyPr wrap="none" lIns="0" tIns="0" rIns="0" bIns="0" rtlCol="0">
                <a:spAutoFit/>
              </a:bodyPr>
              <a:lstStyle/>
              <a:p>
                <a:pPr algn="l">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风险控制支撑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39"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3</a:t>
                </a:r>
                <a:endParaRPr lang="en-US" altLang="zh-CN" sz="1000">
                  <a:solidFill>
                    <a:srgbClr val="FFFFFF"/>
                  </a:solidFill>
                  <a:latin typeface="微软雅黑"/>
                  <a:ea typeface="微软雅黑"/>
                  <a:cs typeface="微软雅黑"/>
                  <a:sym typeface="微软雅黑"/>
                </a:endParaRPr>
              </a:p>
            </p:txBody>
          </p:sp>
        </p:grpSp>
      </p:grpSp>
      <p:grpSp>
        <p:nvGrpSpPr>
          <p:cNvPr id="40" name="组合 39"/>
          <p:cNvGrpSpPr/>
          <p:nvPr/>
        </p:nvGrpSpPr>
        <p:grpSpPr>
          <a:xfrm>
            <a:off x="8632190" y="3708400"/>
            <a:ext cx="1877695" cy="1059180"/>
            <a:chOff x="2750" y="5762"/>
            <a:chExt cx="2957" cy="1668"/>
          </a:xfrm>
        </p:grpSpPr>
        <p:sp>
          <p:nvSpPr>
            <p:cNvPr id="41" name="显眼包PPT5"/>
            <p:cNvSpPr/>
            <p:nvPr/>
          </p:nvSpPr>
          <p:spPr>
            <a:xfrm flipV="1">
              <a:off x="2750" y="5795"/>
              <a:ext cx="2956" cy="1635"/>
            </a:xfrm>
            <a:prstGeom prst="rect">
              <a:avLst/>
            </a:prstGeom>
            <a:gradFill flip="none" rotWithShape="1">
              <a:gsLst>
                <a:gs pos="0">
                  <a:srgbClr val="E6E6E6">
                    <a:alpha val="56000"/>
                  </a:srgbClr>
                </a:gs>
                <a:gs pos="100000">
                  <a:srgbClr val="E6E6E6">
                    <a:alpha val="0"/>
                  </a:srgbClr>
                </a:gs>
              </a:gsLst>
              <a:lin ang="5400000" scaled="1"/>
              <a:tileRect/>
            </a:gra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42" name="显眼包PPT-1"/>
            <p:cNvSpPr txBox="1"/>
            <p:nvPr/>
          </p:nvSpPr>
          <p:spPr>
            <a:xfrm>
              <a:off x="2834" y="6327"/>
              <a:ext cx="2769" cy="1166"/>
            </a:xfrm>
            <a:prstGeom prst="rect">
              <a:avLst/>
            </a:prstGeom>
            <a:noFill/>
          </p:spPr>
          <p:txBody>
            <a:bodyPr wrap="square" lIns="0" tIns="0" rIns="0" bIns="0" rtlCol="0" anchor="t">
              <a:noAutofit/>
            </a:bodyPr>
            <a:lstStyle/>
            <a:p>
              <a:pPr algn="ctr">
                <a:lnSpc>
                  <a:spcPts val="112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以优化与动态配置为手段，统筹协调人力、资金、物资、数据、技术等关键资源，最大化资源利用效率，支撑业务敏捷响应与稳定供给。</a:t>
              </a:r>
              <a:endParaRPr lang="zh-CN" altLang="en-US" sz="1000" b="0" i="0" dirty="0">
                <a:solidFill>
                  <a:srgbClr val="383838"/>
                </a:solidFill>
                <a:effectLst/>
                <a:latin typeface="微软雅黑"/>
                <a:ea typeface="微软雅黑"/>
                <a:cs typeface="微软雅黑"/>
              </a:endParaRPr>
            </a:p>
          </p:txBody>
        </p:sp>
        <p:grpSp>
          <p:nvGrpSpPr>
            <p:cNvPr id="43" name="组合 42"/>
            <p:cNvGrpSpPr/>
            <p:nvPr/>
          </p:nvGrpSpPr>
          <p:grpSpPr>
            <a:xfrm rot="0">
              <a:off x="2750" y="5762"/>
              <a:ext cx="2957" cy="391"/>
              <a:chOff x="1437949" y="3612626"/>
              <a:chExt cx="1877464" cy="248345"/>
            </a:xfrm>
          </p:grpSpPr>
          <p:sp>
            <p:nvSpPr>
              <p:cNvPr id="44" name="显眼包PPT-2"/>
              <p:cNvSpPr/>
              <p:nvPr/>
            </p:nvSpPr>
            <p:spPr>
              <a:xfrm>
                <a:off x="1437949" y="3612626"/>
                <a:ext cx="1877464" cy="248345"/>
              </a:xfrm>
              <a:prstGeom prst="rect">
                <a:avLst/>
              </a:prstGeom>
              <a:gradFill flip="none" rotWithShape="1">
                <a:gsLst>
                  <a:gs pos="0">
                    <a:srgbClr val="3368FF">
                      <a:alpha val="20000"/>
                    </a:srgbClr>
                  </a:gs>
                  <a:gs pos="100000">
                    <a:srgbClr val="3368FF">
                      <a:alpha val="20000"/>
                    </a:srgbClr>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5" name="显眼包PPT-3"/>
              <p:cNvSpPr txBox="1"/>
              <p:nvPr/>
            </p:nvSpPr>
            <p:spPr>
              <a:xfrm>
                <a:off x="1958983" y="3644702"/>
                <a:ext cx="914288" cy="184195"/>
              </a:xfrm>
              <a:prstGeom prst="rect">
                <a:avLst/>
              </a:prstGeom>
              <a:noFill/>
            </p:spPr>
            <p:txBody>
              <a:bodyPr wrap="none" lIns="0" tIns="0" rIns="0" bIns="0" rtlCol="0">
                <a:spAutoFit/>
              </a:bodyPr>
              <a:lstStyle/>
              <a:p>
                <a:pPr algn="l">
                  <a:defRPr>
                    <a:latin typeface="微软雅黑"/>
                    <a:ea typeface="微软雅黑"/>
                    <a:cs typeface="微软雅黑"/>
                  </a:defRPr>
                </a:pPr>
                <a:r>
                  <a:rPr lang="zh-CN" altLang="en-US" sz="1200">
                    <a:gradFill>
                      <a:gsLst>
                        <a:gs pos="0">
                          <a:srgbClr val="0042FF"/>
                        </a:gs>
                        <a:gs pos="83000">
                          <a:srgbClr val="0042FF"/>
                        </a:gs>
                      </a:gsLst>
                      <a:lin ang="5400000" scaled="0"/>
                    </a:gradFill>
                    <a:latin typeface="微软雅黑"/>
                    <a:ea typeface="微软雅黑"/>
                    <a:cs typeface="微软雅黑"/>
                    <a:sym typeface="微软雅黑"/>
                  </a:rPr>
                  <a:t>资源调度支撑</a:t>
                </a:r>
                <a:endParaRPr lang="zh-CN" altLang="en-US" sz="1200">
                  <a:gradFill>
                    <a:gsLst>
                      <a:gs pos="0">
                        <a:srgbClr val="0042FF"/>
                      </a:gs>
                      <a:gs pos="83000">
                        <a:srgbClr val="0042FF"/>
                      </a:gs>
                    </a:gsLst>
                    <a:lin ang="5400000" scaled="0"/>
                  </a:gradFill>
                  <a:latin typeface="微软雅黑"/>
                  <a:ea typeface="微软雅黑"/>
                  <a:cs typeface="微软雅黑"/>
                  <a:sym typeface="微软雅黑"/>
                </a:endParaRPr>
              </a:p>
            </p:txBody>
          </p:sp>
          <p:sp>
            <p:nvSpPr>
              <p:cNvPr id="46" name="显眼包PPT-4"/>
              <p:cNvSpPr/>
              <p:nvPr/>
            </p:nvSpPr>
            <p:spPr>
              <a:xfrm>
                <a:off x="1550330" y="3637484"/>
                <a:ext cx="198906" cy="198906"/>
              </a:xfrm>
              <a:prstGeom prst="ellipse">
                <a:avLst/>
              </a:prstGeom>
              <a:gradFill flip="none" rotWithShape="1">
                <a:gsLst>
                  <a:gs pos="100000">
                    <a:srgbClr val="3368FF"/>
                  </a:gs>
                  <a:gs pos="0">
                    <a:srgbClr val="0042FF"/>
                  </a:gs>
                </a:gsLst>
                <a:lin ang="8100000"/>
              </a:gradFill>
              <a:ln w="12700">
                <a:solidFill>
                  <a:srgbClr val="FFFFFF"/>
                </a:solidFill>
              </a:ln>
              <a:effectLst>
                <a:outerShdw blurRad="103632" dist="25400" dir="5400000" sx="98000" sy="98000" algn="t" rotWithShape="0">
                  <a:srgbClr val="3368FF">
                    <a:alpha val="47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sym typeface="微软雅黑"/>
                  </a:rPr>
                  <a:t>4</a:t>
                </a:r>
                <a:endParaRPr lang="en-US" altLang="zh-CN" sz="1000">
                  <a:solidFill>
                    <a:srgbClr val="FFFFFF"/>
                  </a:solidFill>
                  <a:latin typeface="微软雅黑"/>
                  <a:ea typeface="微软雅黑"/>
                  <a:cs typeface="微软雅黑"/>
                  <a:sym typeface="微软雅黑"/>
                </a:endParaRPr>
              </a:p>
            </p:txBody>
          </p:sp>
        </p:grpSp>
      </p:grpSp>
      <p:sp>
        <p:nvSpPr>
          <p:cNvPr id="47" name="上箭头 46"/>
          <p:cNvSpPr/>
          <p:nvPr/>
        </p:nvSpPr>
        <p:spPr>
          <a:xfrm>
            <a:off x="268986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8" name="上箭头 47"/>
          <p:cNvSpPr/>
          <p:nvPr/>
        </p:nvSpPr>
        <p:spPr>
          <a:xfrm>
            <a:off x="443865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9" name="上箭头 48"/>
          <p:cNvSpPr/>
          <p:nvPr/>
        </p:nvSpPr>
        <p:spPr>
          <a:xfrm>
            <a:off x="618744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0" name="上箭头 49"/>
          <p:cNvSpPr/>
          <p:nvPr/>
        </p:nvSpPr>
        <p:spPr>
          <a:xfrm>
            <a:off x="793623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1" name="上箭头 50"/>
          <p:cNvSpPr/>
          <p:nvPr/>
        </p:nvSpPr>
        <p:spPr>
          <a:xfrm>
            <a:off x="9685020" y="5118735"/>
            <a:ext cx="274320" cy="293370"/>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75" name="组合 74"/>
          <p:cNvGrpSpPr/>
          <p:nvPr/>
        </p:nvGrpSpPr>
        <p:grpSpPr>
          <a:xfrm rot="0">
            <a:off x="3631565" y="3603625"/>
            <a:ext cx="387350" cy="1308735"/>
            <a:chOff x="2157" y="5063"/>
            <a:chExt cx="2447" cy="5122"/>
          </a:xfrm>
        </p:grpSpPr>
        <p:sp>
          <p:nvSpPr>
            <p:cNvPr id="101"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02"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03"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04"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05" name="矩形 104"/>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06" name="组合 105"/>
          <p:cNvGrpSpPr/>
          <p:nvPr/>
        </p:nvGrpSpPr>
        <p:grpSpPr>
          <a:xfrm rot="0">
            <a:off x="8152765" y="3603625"/>
            <a:ext cx="387350" cy="1308735"/>
            <a:chOff x="2157" y="5063"/>
            <a:chExt cx="2447" cy="5122"/>
          </a:xfrm>
        </p:grpSpPr>
        <p:sp>
          <p:nvSpPr>
            <p:cNvPr id="120"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1"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2"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3"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4" name="矩形 123"/>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25" name="组合 124"/>
          <p:cNvGrpSpPr/>
          <p:nvPr/>
        </p:nvGrpSpPr>
        <p:grpSpPr>
          <a:xfrm rot="0">
            <a:off x="1240790" y="3603625"/>
            <a:ext cx="387350" cy="1308735"/>
            <a:chOff x="2157" y="5063"/>
            <a:chExt cx="2447" cy="5122"/>
          </a:xfrm>
        </p:grpSpPr>
        <p:sp>
          <p:nvSpPr>
            <p:cNvPr id="126"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7"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28"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29"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0" name="矩形 129"/>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grpSp>
        <p:nvGrpSpPr>
          <p:cNvPr id="131" name="组合 130"/>
          <p:cNvGrpSpPr/>
          <p:nvPr/>
        </p:nvGrpSpPr>
        <p:grpSpPr>
          <a:xfrm rot="0">
            <a:off x="10615930" y="3603625"/>
            <a:ext cx="387350" cy="1308735"/>
            <a:chOff x="2157" y="5063"/>
            <a:chExt cx="2447" cy="5122"/>
          </a:xfrm>
        </p:grpSpPr>
        <p:sp>
          <p:nvSpPr>
            <p:cNvPr id="132" name="Freeform: Shape 88"/>
            <p:cNvSpPr/>
            <p:nvPr/>
          </p:nvSpPr>
          <p:spPr>
            <a:xfrm>
              <a:off x="2166" y="5591"/>
              <a:ext cx="2438"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33" name="Freeform: Shape 89"/>
            <p:cNvSpPr/>
            <p:nvPr/>
          </p:nvSpPr>
          <p:spPr>
            <a:xfrm>
              <a:off x="2166" y="5063"/>
              <a:ext cx="2438" cy="527"/>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4" name="Freeform: Shape 90"/>
            <p:cNvSpPr/>
            <p:nvPr/>
          </p:nvSpPr>
          <p:spPr>
            <a:xfrm>
              <a:off x="2157" y="9599"/>
              <a:ext cx="2438"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135" name="Freeform: Shape 91"/>
            <p:cNvSpPr/>
            <p:nvPr/>
          </p:nvSpPr>
          <p:spPr>
            <a:xfrm>
              <a:off x="2157" y="9933"/>
              <a:ext cx="2438"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36" name="矩形 135"/>
            <p:cNvSpPr/>
            <p:nvPr/>
          </p:nvSpPr>
          <p:spPr>
            <a:xfrm>
              <a:off x="2507" y="5970"/>
              <a:ext cx="1750" cy="3654"/>
            </a:xfrm>
            <a:prstGeom prst="rect">
              <a:avLst/>
            </a:prstGeom>
            <a:pattFill prst="wdDn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pic>
        <p:nvPicPr>
          <p:cNvPr id="637" name="图片 636" descr="古风祥云云朵20"/>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155430" y="2053908"/>
            <a:ext cx="2187575" cy="838200"/>
          </a:xfrm>
          <a:prstGeom prst="rect">
            <a:avLst/>
          </a:prstGeom>
        </p:spPr>
      </p:pic>
      <p:sp>
        <p:nvSpPr>
          <p:cNvPr id="639" name="©显眼包PPT16"/>
          <p:cNvSpPr txBox="1"/>
          <p:nvPr/>
        </p:nvSpPr>
        <p:spPr>
          <a:xfrm>
            <a:off x="9140190" y="1903730"/>
            <a:ext cx="1219200"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右翼展开</a:t>
            </a:r>
            <a:endParaRPr kumimoji="0" lang="zh-CN" altLang="en-US"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pic>
        <p:nvPicPr>
          <p:cNvPr id="640" name="图片 639" descr="古风祥云云朵20"/>
          <p:cNvPicPr>
            <a:picLocks noChangeAspect="1"/>
          </p:cNvPicPr>
          <p:nvPr/>
        </p:nvPicPr>
        <p:blipFill>
          <a:blip r:embed="rId15">
            <a:extLst>
              <a:ext uri="{96DAC541-7B7A-43D3-8B79-37D633B846F1}">
                <asvg:svgBlip xmlns:asvg="http://schemas.microsoft.com/office/drawing/2016/SVG/main" r:embed="rId17"/>
              </a:ext>
            </a:extLst>
          </a:blip>
          <a:stretch>
            <a:fillRect/>
          </a:stretch>
        </p:blipFill>
        <p:spPr>
          <a:xfrm flipH="1">
            <a:off x="966470" y="2053908"/>
            <a:ext cx="2187575" cy="838200"/>
          </a:xfrm>
          <a:prstGeom prst="rect">
            <a:avLst/>
          </a:prstGeom>
        </p:spPr>
      </p:pic>
      <p:sp>
        <p:nvSpPr>
          <p:cNvPr id="641" name="©显眼包PPT16"/>
          <p:cNvSpPr txBox="1"/>
          <p:nvPr/>
        </p:nvSpPr>
        <p:spPr>
          <a:xfrm>
            <a:off x="1901825" y="1903730"/>
            <a:ext cx="1219200"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左翼展开</a:t>
            </a:r>
            <a:endParaRPr kumimoji="0" lang="zh-CN" altLang="en-US"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grpSp>
        <p:nvGrpSpPr>
          <p:cNvPr id="6" name="组合 5"/>
          <p:cNvGrpSpPr/>
          <p:nvPr/>
        </p:nvGrpSpPr>
        <p:grpSpPr>
          <a:xfrm>
            <a:off x="0" y="4959350"/>
            <a:ext cx="12192000" cy="1898650"/>
            <a:chOff x="0" y="7810"/>
            <a:chExt cx="19200" cy="2990"/>
          </a:xfrm>
        </p:grpSpPr>
        <p:sp>
          <p:nvSpPr>
            <p:cNvPr id="2" name="矩形 1"/>
            <p:cNvSpPr/>
            <p:nvPr/>
          </p:nvSpPr>
          <p:spPr>
            <a:xfrm>
              <a:off x="0" y="7810"/>
              <a:ext cx="19200" cy="2990"/>
            </a:xfrm>
            <a:prstGeom prst="rect">
              <a:avLst/>
            </a:prstGeom>
            <a:solidFill>
              <a:srgbClr val="0042FF">
                <a:alpha val="80000"/>
              </a:srgbClr>
            </a:solidFill>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 name="©显眼包PPT16"/>
            <p:cNvSpPr txBox="1"/>
            <p:nvPr/>
          </p:nvSpPr>
          <p:spPr>
            <a:xfrm>
              <a:off x="2990" y="8578"/>
              <a:ext cx="11508" cy="1454"/>
            </a:xfrm>
            <a:prstGeom prst="rect">
              <a:avLst/>
            </a:prstGeom>
            <a:noFill/>
            <a:extLst>
              <a:ext uri="{909E8E84-426E-40DD-AFC4-6F175D3DCCD1}">
                <a14:hiddenFill xmlns:a14="http://schemas.microsoft.com/office/drawing/2010/main">
                  <a:solidFill>
                    <a:srgbClr val="FFFFFF"/>
                  </a:solidFill>
                </a14:hiddenFill>
              </a:ext>
            </a:ex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另一个配色效果供选择，删除本框即可！</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本页不计入页面数量</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p:txBody>
        </p:sp>
      </p:grpSp>
      <p:grpSp>
        <p:nvGrpSpPr>
          <p:cNvPr id="7" name="组合 6"/>
          <p:cNvGrpSpPr/>
          <p:nvPr/>
        </p:nvGrpSpPr>
        <p:grpSpPr>
          <a:xfrm>
            <a:off x="7675245" y="347980"/>
            <a:ext cx="4588510" cy="367030"/>
            <a:chOff x="12087" y="-1089"/>
            <a:chExt cx="7226" cy="578"/>
          </a:xfrm>
        </p:grpSpPr>
        <p:pic>
          <p:nvPicPr>
            <p:cNvPr id="3" name="图片 2"/>
            <p:cNvPicPr>
              <a:picLocks noChangeAspect="1"/>
            </p:cNvPicPr>
            <p:nvPr userDrawn="1"/>
          </p:nvPicPr>
          <p:blipFill>
            <a:blip r:embed="rId18"/>
            <a:srcRect r="57320" b="-13333"/>
            <a:stretch>
              <a:fillRect/>
            </a:stretch>
          </p:blipFill>
          <p:spPr>
            <a:xfrm>
              <a:off x="12087" y="-1089"/>
              <a:ext cx="2548" cy="578"/>
            </a:xfrm>
            <a:prstGeom prst="rect">
              <a:avLst/>
            </a:prstGeom>
          </p:spPr>
        </p:pic>
        <p:sp>
          <p:nvSpPr>
            <p:cNvPr id="8" name="文本框 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lang="zh-CN" altLang="en-US" sz="2500" dirty="0">
                <a:solidFill>
                  <a:srgbClr val="0042FF"/>
                </a:solidFill>
                <a:effectLst/>
                <a:latin typeface="微软雅黑"/>
                <a:ea typeface="微软雅黑"/>
                <a:cs typeface="微软雅黑"/>
              </a:rPr>
              <a:t> </a:t>
            </a:r>
            <a:r>
              <a:rPr sz="2500" noProof="0">
                <a:solidFill>
                  <a:srgbClr val="383838"/>
                </a:solidFill>
                <a:effectLst/>
                <a:latin typeface="微软雅黑"/>
                <a:ea typeface="微软雅黑"/>
                <a:cs typeface="微软雅黑"/>
                <a:sym typeface="微软雅黑"/>
              </a:rPr>
              <a:t>企业经营管理标杆模式架构</a:t>
            </a:r>
            <a:endParaRPr lang="zh-CN" altLang="en-US" sz="2500" dirty="0">
              <a:solidFill>
                <a:srgbClr val="383838"/>
              </a:solidFill>
              <a:effectLst/>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1" name="组合 10"/>
          <p:cNvGrpSpPr/>
          <p:nvPr/>
        </p:nvGrpSpPr>
        <p:grpSpPr>
          <a:xfrm>
            <a:off x="652145" y="2613660"/>
            <a:ext cx="2137410" cy="3276600"/>
            <a:chOff x="1027" y="4140"/>
            <a:chExt cx="3366" cy="5160"/>
          </a:xfrm>
        </p:grpSpPr>
        <p:sp>
          <p:nvSpPr>
            <p:cNvPr id="10" name="显眼包PPT1"/>
            <p:cNvSpPr/>
            <p:nvPr/>
          </p:nvSpPr>
          <p:spPr>
            <a:xfrm>
              <a:off x="1028" y="5105"/>
              <a:ext cx="3364" cy="4195"/>
            </a:xfrm>
            <a:prstGeom prst="rect">
              <a:avLst/>
            </a:prstGeom>
            <a:gradFill flip="none" rotWithShape="1">
              <a:gsLst>
                <a:gs pos="18000">
                  <a:srgbClr val="E6E6E6">
                    <a:alpha val="47000"/>
                  </a:srgbClr>
                </a:gs>
                <a:gs pos="100000">
                  <a:srgbClr val="E6E6E6">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19" name="显眼包PPT3"/>
            <p:cNvSpPr/>
            <p:nvPr/>
          </p:nvSpPr>
          <p:spPr>
            <a:xfrm>
              <a:off x="1028" y="4140"/>
              <a:ext cx="3364" cy="965"/>
            </a:xfrm>
            <a:prstGeom prst="rect">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使命驱动</a:t>
              </a:r>
              <a:endParaRPr lang="zh-CN" altLang="en-US" b="1">
                <a:solidFill>
                  <a:srgbClr val="FFFFFF"/>
                </a:solidFill>
                <a:latin typeface="微软雅黑"/>
                <a:ea typeface="微软雅黑"/>
                <a:cs typeface="微软雅黑"/>
              </a:endParaRPr>
            </a:p>
          </p:txBody>
        </p:sp>
        <p:sp>
          <p:nvSpPr>
            <p:cNvPr id="304" name="显眼包PPT12"/>
            <p:cNvSpPr/>
            <p:nvPr/>
          </p:nvSpPr>
          <p:spPr>
            <a:xfrm>
              <a:off x="1027" y="8300"/>
              <a:ext cx="3366" cy="1001"/>
            </a:xfrm>
            <a:prstGeom prst="rect">
              <a:avLst/>
            </a:prstGeom>
            <a:gradFill flip="none" rotWithShape="1">
              <a:gsLst>
                <a:gs pos="18000">
                  <a:srgbClr val="3368FF">
                    <a:alpha val="27000"/>
                  </a:srgbClr>
                </a:gs>
                <a:gs pos="100000">
                  <a:srgbClr val="3368FF">
                    <a:alpha val="10000"/>
                  </a:srgbClr>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200" spc="300" dirty="0">
                <a:solidFill>
                  <a:srgbClr val="383838"/>
                </a:solidFill>
                <a:latin typeface="微软雅黑"/>
                <a:ea typeface="微软雅黑"/>
                <a:cs typeface="微软雅黑"/>
                <a:sym typeface="微软雅黑"/>
              </a:endParaRPr>
            </a:p>
          </p:txBody>
        </p:sp>
      </p:grpSp>
      <p:grpSp>
        <p:nvGrpSpPr>
          <p:cNvPr id="13" name="组合 12"/>
          <p:cNvGrpSpPr/>
          <p:nvPr/>
        </p:nvGrpSpPr>
        <p:grpSpPr>
          <a:xfrm>
            <a:off x="2805430" y="2613660"/>
            <a:ext cx="2137410" cy="3276600"/>
            <a:chOff x="1027" y="4140"/>
            <a:chExt cx="3366" cy="5160"/>
          </a:xfrm>
        </p:grpSpPr>
        <p:sp>
          <p:nvSpPr>
            <p:cNvPr id="14" name="显眼包PPT1"/>
            <p:cNvSpPr/>
            <p:nvPr/>
          </p:nvSpPr>
          <p:spPr>
            <a:xfrm>
              <a:off x="1028" y="5105"/>
              <a:ext cx="3364" cy="4195"/>
            </a:xfrm>
            <a:prstGeom prst="rect">
              <a:avLst/>
            </a:prstGeom>
            <a:gradFill flip="none" rotWithShape="1">
              <a:gsLst>
                <a:gs pos="18000">
                  <a:srgbClr val="FFFFFF">
                    <a:alpha val="47000"/>
                  </a:srgbClr>
                </a:gs>
                <a:gs pos="100000">
                  <a:srgbClr val="FFFFFF">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5" name="显眼包PPT3"/>
            <p:cNvSpPr/>
            <p:nvPr/>
          </p:nvSpPr>
          <p:spPr>
            <a:xfrm>
              <a:off x="1028" y="4140"/>
              <a:ext cx="3364" cy="965"/>
            </a:xfrm>
            <a:prstGeom prst="rect">
              <a:avLst/>
            </a:prstGeom>
            <a:gradFill>
              <a:gsLst>
                <a:gs pos="18000">
                  <a:srgbClr val="B3D4FE"/>
                </a:gs>
                <a:gs pos="100000">
                  <a:srgbClr val="3368FF"/>
                </a:gs>
              </a:gsLst>
              <a:lin ang="0" scaled="1"/>
            </a:gradFill>
            <a:ln>
              <a:noFill/>
            </a:ln>
            <a:effectLst>
              <a:innerShdw blurRad="2540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r>
                <a:rPr lang="zh-CN" altLang="en-US" b="1">
                  <a:solidFill>
                    <a:srgbClr val="383838"/>
                  </a:solidFill>
                  <a:latin typeface="微软雅黑"/>
                  <a:ea typeface="微软雅黑"/>
                  <a:cs typeface="微软雅黑"/>
                </a:rPr>
                <a:t>团队协同</a:t>
              </a:r>
              <a:endParaRPr lang="zh-CN" altLang="en-US" b="1">
                <a:solidFill>
                  <a:srgbClr val="383838"/>
                </a:solidFill>
                <a:latin typeface="微软雅黑"/>
                <a:ea typeface="微软雅黑"/>
                <a:cs typeface="微软雅黑"/>
              </a:endParaRPr>
            </a:p>
          </p:txBody>
        </p:sp>
        <p:sp>
          <p:nvSpPr>
            <p:cNvPr id="16" name="显眼包PPT12"/>
            <p:cNvSpPr/>
            <p:nvPr/>
          </p:nvSpPr>
          <p:spPr>
            <a:xfrm>
              <a:off x="1027" y="8300"/>
              <a:ext cx="3366" cy="1001"/>
            </a:xfrm>
            <a:prstGeom prst="rect">
              <a:avLst/>
            </a:prstGeom>
            <a:gradFill flip="none" rotWithShape="1">
              <a:gsLst>
                <a:gs pos="18000">
                  <a:srgbClr val="B3D4FE">
                    <a:alpha val="27000"/>
                  </a:srgbClr>
                </a:gs>
                <a:gs pos="100000">
                  <a:srgbClr val="B3D4FE">
                    <a:alpha val="10000"/>
                  </a:srgbClr>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200" spc="300" dirty="0">
                <a:solidFill>
                  <a:srgbClr val="383838"/>
                </a:solidFill>
                <a:latin typeface="微软雅黑"/>
                <a:ea typeface="微软雅黑"/>
                <a:cs typeface="微软雅黑"/>
                <a:sym typeface="微软雅黑"/>
              </a:endParaRPr>
            </a:p>
          </p:txBody>
        </p:sp>
      </p:grpSp>
      <p:grpSp>
        <p:nvGrpSpPr>
          <p:cNvPr id="17" name="组合 16"/>
          <p:cNvGrpSpPr/>
          <p:nvPr/>
        </p:nvGrpSpPr>
        <p:grpSpPr>
          <a:xfrm>
            <a:off x="4958715" y="2613660"/>
            <a:ext cx="2137410" cy="3276600"/>
            <a:chOff x="1027" y="4140"/>
            <a:chExt cx="3366" cy="5160"/>
          </a:xfrm>
        </p:grpSpPr>
        <p:sp>
          <p:nvSpPr>
            <p:cNvPr id="18" name="显眼包PPT1"/>
            <p:cNvSpPr/>
            <p:nvPr/>
          </p:nvSpPr>
          <p:spPr>
            <a:xfrm>
              <a:off x="1028" y="5105"/>
              <a:ext cx="3364" cy="4195"/>
            </a:xfrm>
            <a:prstGeom prst="rect">
              <a:avLst/>
            </a:prstGeom>
            <a:gradFill flip="none" rotWithShape="1">
              <a:gsLst>
                <a:gs pos="18000">
                  <a:srgbClr val="E6E6E6">
                    <a:alpha val="47000"/>
                  </a:srgbClr>
                </a:gs>
                <a:gs pos="100000">
                  <a:srgbClr val="E6E6E6">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9" name="显眼包PPT3"/>
            <p:cNvSpPr/>
            <p:nvPr/>
          </p:nvSpPr>
          <p:spPr>
            <a:xfrm>
              <a:off x="1028" y="4140"/>
              <a:ext cx="3364" cy="965"/>
            </a:xfrm>
            <a:prstGeom prst="rect">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智慧运营</a:t>
              </a:r>
              <a:endParaRPr lang="zh-CN" altLang="en-US" b="1">
                <a:solidFill>
                  <a:srgbClr val="FFFFFF"/>
                </a:solidFill>
                <a:latin typeface="微软雅黑"/>
                <a:ea typeface="微软雅黑"/>
                <a:cs typeface="微软雅黑"/>
              </a:endParaRPr>
            </a:p>
          </p:txBody>
        </p:sp>
        <p:sp>
          <p:nvSpPr>
            <p:cNvPr id="21" name="显眼包PPT12"/>
            <p:cNvSpPr/>
            <p:nvPr/>
          </p:nvSpPr>
          <p:spPr>
            <a:xfrm>
              <a:off x="1027" y="8300"/>
              <a:ext cx="3366" cy="1001"/>
            </a:xfrm>
            <a:prstGeom prst="rect">
              <a:avLst/>
            </a:prstGeom>
            <a:gradFill flip="none" rotWithShape="1">
              <a:gsLst>
                <a:gs pos="18000">
                  <a:srgbClr val="3368FF">
                    <a:alpha val="27000"/>
                  </a:srgbClr>
                </a:gs>
                <a:gs pos="100000">
                  <a:srgbClr val="3368FF">
                    <a:alpha val="10000"/>
                  </a:srgbClr>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200" spc="300" dirty="0">
                <a:solidFill>
                  <a:srgbClr val="383838"/>
                </a:solidFill>
                <a:latin typeface="微软雅黑"/>
                <a:ea typeface="微软雅黑"/>
                <a:cs typeface="微软雅黑"/>
                <a:sym typeface="微软雅黑"/>
              </a:endParaRPr>
            </a:p>
          </p:txBody>
        </p:sp>
      </p:grpSp>
      <p:grpSp>
        <p:nvGrpSpPr>
          <p:cNvPr id="22" name="组合 21"/>
          <p:cNvGrpSpPr/>
          <p:nvPr/>
        </p:nvGrpSpPr>
        <p:grpSpPr>
          <a:xfrm>
            <a:off x="7112000" y="2613660"/>
            <a:ext cx="2137410" cy="3276600"/>
            <a:chOff x="1027" y="4140"/>
            <a:chExt cx="3366" cy="5160"/>
          </a:xfrm>
        </p:grpSpPr>
        <p:sp>
          <p:nvSpPr>
            <p:cNvPr id="23" name="显眼包PPT1"/>
            <p:cNvSpPr/>
            <p:nvPr/>
          </p:nvSpPr>
          <p:spPr>
            <a:xfrm>
              <a:off x="1028" y="5105"/>
              <a:ext cx="3364" cy="4195"/>
            </a:xfrm>
            <a:prstGeom prst="rect">
              <a:avLst/>
            </a:prstGeom>
            <a:gradFill flip="none" rotWithShape="1">
              <a:gsLst>
                <a:gs pos="18000">
                  <a:srgbClr val="FFFFFF">
                    <a:alpha val="47000"/>
                  </a:srgbClr>
                </a:gs>
                <a:gs pos="100000">
                  <a:srgbClr val="FFFFFF">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 name="显眼包PPT3"/>
            <p:cNvSpPr/>
            <p:nvPr/>
          </p:nvSpPr>
          <p:spPr>
            <a:xfrm>
              <a:off x="1028" y="4140"/>
              <a:ext cx="3364" cy="965"/>
            </a:xfrm>
            <a:prstGeom prst="rect">
              <a:avLst/>
            </a:prstGeom>
            <a:gradFill>
              <a:gsLst>
                <a:gs pos="18000">
                  <a:srgbClr val="B3D4FE"/>
                </a:gs>
                <a:gs pos="100000">
                  <a:srgbClr val="3368FF"/>
                </a:gs>
              </a:gsLst>
              <a:lin ang="0" scaled="1"/>
            </a:gradFill>
            <a:ln>
              <a:noFill/>
            </a:ln>
            <a:effectLst>
              <a:innerShdw blurRad="2540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r>
                <a:rPr lang="zh-CN" altLang="en-US" b="1">
                  <a:solidFill>
                    <a:srgbClr val="383838"/>
                  </a:solidFill>
                  <a:latin typeface="微软雅黑"/>
                  <a:ea typeface="微软雅黑"/>
                  <a:cs typeface="微软雅黑"/>
                </a:rPr>
                <a:t>生态共建</a:t>
              </a:r>
              <a:endParaRPr lang="zh-CN" altLang="en-US" b="1">
                <a:solidFill>
                  <a:srgbClr val="383838"/>
                </a:solidFill>
                <a:latin typeface="微软雅黑"/>
                <a:ea typeface="微软雅黑"/>
                <a:cs typeface="微软雅黑"/>
              </a:endParaRPr>
            </a:p>
          </p:txBody>
        </p:sp>
        <p:sp>
          <p:nvSpPr>
            <p:cNvPr id="25" name="显眼包PPT12"/>
            <p:cNvSpPr/>
            <p:nvPr/>
          </p:nvSpPr>
          <p:spPr>
            <a:xfrm>
              <a:off x="1027" y="8300"/>
              <a:ext cx="3366" cy="1001"/>
            </a:xfrm>
            <a:prstGeom prst="rect">
              <a:avLst/>
            </a:prstGeom>
            <a:gradFill flip="none" rotWithShape="1">
              <a:gsLst>
                <a:gs pos="18000">
                  <a:srgbClr val="B3D4FE">
                    <a:alpha val="27000"/>
                  </a:srgbClr>
                </a:gs>
                <a:gs pos="100000">
                  <a:srgbClr val="B3D4FE">
                    <a:alpha val="10000"/>
                  </a:srgbClr>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200" spc="300" dirty="0">
                <a:solidFill>
                  <a:srgbClr val="383838"/>
                </a:solidFill>
                <a:latin typeface="微软雅黑"/>
                <a:ea typeface="微软雅黑"/>
                <a:cs typeface="微软雅黑"/>
                <a:sym typeface="微软雅黑"/>
              </a:endParaRPr>
            </a:p>
          </p:txBody>
        </p:sp>
      </p:grpSp>
      <p:grpSp>
        <p:nvGrpSpPr>
          <p:cNvPr id="26" name="组合 25"/>
          <p:cNvGrpSpPr/>
          <p:nvPr/>
        </p:nvGrpSpPr>
        <p:grpSpPr>
          <a:xfrm>
            <a:off x="9265285" y="2613660"/>
            <a:ext cx="2137410" cy="3276600"/>
            <a:chOff x="1027" y="4140"/>
            <a:chExt cx="3366" cy="5160"/>
          </a:xfrm>
        </p:grpSpPr>
        <p:sp>
          <p:nvSpPr>
            <p:cNvPr id="27" name="显眼包PPT1"/>
            <p:cNvSpPr/>
            <p:nvPr/>
          </p:nvSpPr>
          <p:spPr>
            <a:xfrm>
              <a:off x="1028" y="5105"/>
              <a:ext cx="3364" cy="4195"/>
            </a:xfrm>
            <a:prstGeom prst="rect">
              <a:avLst/>
            </a:prstGeom>
            <a:gradFill flip="none" rotWithShape="1">
              <a:gsLst>
                <a:gs pos="18000">
                  <a:srgbClr val="E6E6E6">
                    <a:alpha val="47000"/>
                  </a:srgbClr>
                </a:gs>
                <a:gs pos="100000">
                  <a:srgbClr val="E6E6E6">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1" name="显眼包PPT3"/>
            <p:cNvSpPr/>
            <p:nvPr/>
          </p:nvSpPr>
          <p:spPr>
            <a:xfrm>
              <a:off x="1028" y="4140"/>
              <a:ext cx="3364" cy="965"/>
            </a:xfrm>
            <a:prstGeom prst="rect">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价值创造</a:t>
              </a:r>
              <a:endParaRPr lang="zh-CN" altLang="en-US" b="1">
                <a:solidFill>
                  <a:srgbClr val="FFFFFF"/>
                </a:solidFill>
                <a:latin typeface="微软雅黑"/>
                <a:ea typeface="微软雅黑"/>
                <a:cs typeface="微软雅黑"/>
              </a:endParaRPr>
            </a:p>
          </p:txBody>
        </p:sp>
        <p:sp>
          <p:nvSpPr>
            <p:cNvPr id="32" name="显眼包PPT12"/>
            <p:cNvSpPr/>
            <p:nvPr/>
          </p:nvSpPr>
          <p:spPr>
            <a:xfrm>
              <a:off x="1027" y="8300"/>
              <a:ext cx="3366" cy="1001"/>
            </a:xfrm>
            <a:prstGeom prst="rect">
              <a:avLst/>
            </a:prstGeom>
            <a:gradFill flip="none" rotWithShape="1">
              <a:gsLst>
                <a:gs pos="18000">
                  <a:srgbClr val="3368FF">
                    <a:alpha val="27000"/>
                  </a:srgbClr>
                </a:gs>
                <a:gs pos="100000">
                  <a:srgbClr val="3368FF">
                    <a:alpha val="0"/>
                  </a:srgbClr>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200" spc="300" dirty="0">
                <a:solidFill>
                  <a:srgbClr val="383838"/>
                </a:solidFill>
                <a:latin typeface="微软雅黑"/>
                <a:ea typeface="微软雅黑"/>
                <a:cs typeface="微软雅黑"/>
                <a:sym typeface="微软雅黑"/>
              </a:endParaRPr>
            </a:p>
          </p:txBody>
        </p:sp>
      </p:grpSp>
      <p:sp>
        <p:nvSpPr>
          <p:cNvPr id="33" name="显眼包PPT3"/>
          <p:cNvSpPr/>
          <p:nvPr/>
        </p:nvSpPr>
        <p:spPr>
          <a:xfrm>
            <a:off x="669290" y="5920740"/>
            <a:ext cx="10732770" cy="612775"/>
          </a:xfrm>
          <a:prstGeom prst="rect">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五位一体系统推进，努力实现五个升级，积极构建具有行业标杆作用和竞争优势的企业管理模式</a:t>
            </a:r>
            <a:endParaRPr lang="zh-CN" altLang="en-US" b="1">
              <a:solidFill>
                <a:srgbClr val="FFFFFF"/>
              </a:solidFill>
              <a:latin typeface="微软雅黑"/>
              <a:ea typeface="微软雅黑"/>
              <a:cs typeface="微软雅黑"/>
            </a:endParaRPr>
          </a:p>
        </p:txBody>
      </p:sp>
      <p:sp>
        <p:nvSpPr>
          <p:cNvPr id="2" name="矩形 1"/>
          <p:cNvSpPr/>
          <p:nvPr/>
        </p:nvSpPr>
        <p:spPr>
          <a:xfrm>
            <a:off x="646430" y="1957104"/>
            <a:ext cx="10754995" cy="609600"/>
          </a:xfrm>
          <a:prstGeom prst="rect">
            <a:avLst/>
          </a:prstGeom>
          <a:solidFill>
            <a:srgbClr val="E6E6E6">
              <a:alpha val="20000"/>
            </a:srgbClr>
          </a:solidFill>
          <a:ln w="6350">
            <a:gradFill>
              <a:gsLst>
                <a:gs pos="0">
                  <a:srgbClr val="3368FF"/>
                </a:gs>
                <a:gs pos="100000">
                  <a:srgbClr val="3368FF"/>
                </a:gs>
              </a:gsLst>
              <a:lin ang="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4" name="©显眼包PPT16"/>
          <p:cNvSpPr txBox="1"/>
          <p:nvPr/>
        </p:nvSpPr>
        <p:spPr>
          <a:xfrm>
            <a:off x="877570" y="2123474"/>
            <a:ext cx="10287000" cy="2768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rPr>
              <a:t>系统设计：全领域统筹，推动规模扩张到质量效益升级，构建跨部门协同、全流程贯通的企业运营体系</a:t>
            </a:r>
            <a:endParaRPr kumimoji="0" lang="en-US" altLang="zh-CN" b="1" i="0" u="none" strike="noStrike" kern="1200" cap="none" spc="0" normalizeH="0" baseline="0" noProof="0" dirty="0">
              <a:ln w="3175">
                <a:noFill/>
              </a:ln>
              <a:solidFill>
                <a:srgbClr val="383838"/>
              </a:solidFill>
              <a:effectLst/>
              <a:uLnTx/>
              <a:uFillTx/>
              <a:latin typeface="微软雅黑"/>
              <a:ea typeface="微软雅黑"/>
              <a:cs typeface="微软雅黑"/>
              <a:sym typeface="微软雅黑"/>
            </a:endParaRPr>
          </a:p>
        </p:txBody>
      </p:sp>
      <p:sp>
        <p:nvSpPr>
          <p:cNvPr id="6" name="梯形 5"/>
          <p:cNvSpPr/>
          <p:nvPr/>
        </p:nvSpPr>
        <p:spPr>
          <a:xfrm>
            <a:off x="648335" y="1383030"/>
            <a:ext cx="10752455" cy="505460"/>
          </a:xfrm>
          <a:prstGeom prst="trapezoid">
            <a:avLst>
              <a:gd name="adj" fmla="val 355209"/>
            </a:avLst>
          </a:prstGeom>
          <a:gradFill flip="none" rotWithShape="1">
            <a:gsLst>
              <a:gs pos="0">
                <a:srgbClr val="3368FF">
                  <a:alpha val="41000"/>
                </a:srgbClr>
              </a:gs>
              <a:gs pos="100000">
                <a:srgbClr val="3368FF">
                  <a:alpha val="15000"/>
                </a:srgbClr>
              </a:gs>
            </a:gsLst>
            <a:lin ang="5400000" scaled="1"/>
            <a:tileRect/>
          </a:gradFill>
          <a:ln w="6350">
            <a:gradFill>
              <a:gsLst>
                <a:gs pos="0">
                  <a:srgbClr val="3368FF"/>
                </a:gs>
                <a:gs pos="100000">
                  <a:srgbClr val="3368FF"/>
                </a:gs>
                <a:gs pos="41000">
                  <a:srgbClr val="3368FF">
                    <a:alpha val="0"/>
                  </a:srgbClr>
                </a:gs>
                <a:gs pos="70000">
                  <a:srgbClr val="3368FF">
                    <a:alpha val="0"/>
                  </a:srgbClr>
                </a:gs>
              </a:gsLst>
              <a:lin ang="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32" name="紫荆的职场Point28"/>
          <p:cNvSpPr/>
          <p:nvPr/>
        </p:nvSpPr>
        <p:spPr>
          <a:xfrm>
            <a:off x="2342515" y="1067435"/>
            <a:ext cx="7185660" cy="316230"/>
          </a:xfrm>
          <a:prstGeom prst="triangle">
            <a:avLst>
              <a:gd name="adj" fmla="val 50434"/>
            </a:avLst>
          </a:prstGeom>
          <a:gradFill flip="none" rotWithShape="1">
            <a:gsLst>
              <a:gs pos="0">
                <a:srgbClr val="E6E6E6">
                  <a:alpha val="41000"/>
                </a:srgbClr>
              </a:gs>
              <a:gs pos="100000">
                <a:srgbClr val="3368FF">
                  <a:alpha val="15000"/>
                </a:srgbClr>
              </a:gs>
            </a:gsLst>
            <a:lin ang="5400000" scaled="1"/>
            <a:tileRect/>
          </a:gradFill>
          <a:ln w="6350">
            <a:gradFill>
              <a:gsLst>
                <a:gs pos="0">
                  <a:srgbClr val="3368FF">
                    <a:alpha val="81000"/>
                  </a:srgbClr>
                </a:gs>
                <a:gs pos="100000">
                  <a:srgbClr val="3368FF">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33" name="紫荆的职场Point28"/>
          <p:cNvSpPr/>
          <p:nvPr/>
        </p:nvSpPr>
        <p:spPr>
          <a:xfrm>
            <a:off x="1829435" y="1067435"/>
            <a:ext cx="8201660" cy="714375"/>
          </a:xfrm>
          <a:prstGeom prst="triangle">
            <a:avLst/>
          </a:prstGeom>
          <a:gradFill flip="none" rotWithShape="1">
            <a:gsLst>
              <a:gs pos="0">
                <a:srgbClr val="E6E6E6">
                  <a:alpha val="41000"/>
                </a:srgbClr>
              </a:gs>
              <a:gs pos="100000">
                <a:srgbClr val="3368FF">
                  <a:alpha val="15000"/>
                </a:srgbClr>
              </a:gs>
            </a:gsLst>
            <a:lin ang="5400000" scaled="1"/>
            <a:tileRect/>
          </a:gradFill>
          <a:ln w="6350">
            <a:gradFill>
              <a:gsLst>
                <a:gs pos="0">
                  <a:srgbClr val="3368FF">
                    <a:alpha val="81000"/>
                  </a:srgbClr>
                </a:gs>
                <a:gs pos="100000">
                  <a:srgbClr val="3368FF">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34" name="矩形 233"/>
          <p:cNvSpPr/>
          <p:nvPr/>
        </p:nvSpPr>
        <p:spPr>
          <a:xfrm>
            <a:off x="3339465" y="1414145"/>
            <a:ext cx="5255895" cy="368300"/>
          </a:xfrm>
          <a:prstGeom prst="rect">
            <a:avLst/>
          </a:prstGeom>
          <a:noFill/>
          <a:ln w="6350">
            <a:noFill/>
          </a:ln>
          <a:effectLst/>
          <a:extLst>
            <a:ext uri="{909E8E84-426E-40DD-AFC4-6F175D3DCCD1}">
              <a14:hiddenFill xmlns:a14="http://schemas.microsoft.com/office/drawing/2010/main">
                <a:gradFill flip="none" rotWithShape="1">
                  <a:gsLst>
                    <a:gs pos="0">
                      <a:srgbClr val="B3D4FE">
                        <a:alpha val="41000"/>
                      </a:srgbClr>
                    </a:gs>
                    <a:gs pos="100000">
                      <a:srgbClr val="B3D4FE">
                        <a:alpha val="15000"/>
                      </a:srgbClr>
                    </a:gs>
                  </a:gsLst>
                  <a:lin ang="5400000" scaled="1"/>
                  <a:tileRect/>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r>
              <a:rPr lang="zh-CN" altLang="en-US" b="1" noProof="0">
                <a:ln>
                  <a:noFill/>
                </a:ln>
                <a:solidFill>
                  <a:srgbClr val="383838"/>
                </a:solidFill>
                <a:effectLst/>
                <a:uLnTx/>
                <a:uFillTx/>
                <a:latin typeface="微软雅黑"/>
                <a:ea typeface="微软雅黑"/>
                <a:cs typeface="微软雅黑"/>
                <a:sym typeface="微软雅黑"/>
              </a:rPr>
              <a:t>“一站式”企业经营管理标杆模式</a:t>
            </a:r>
            <a:endParaRPr lang="zh-CN" altLang="en-US" b="1" noProof="0">
              <a:ln>
                <a:noFill/>
              </a:ln>
              <a:solidFill>
                <a:srgbClr val="383838"/>
              </a:solidFill>
              <a:effectLst/>
              <a:uLnTx/>
              <a:uFillTx/>
              <a:latin typeface="微软雅黑"/>
              <a:ea typeface="微软雅黑"/>
              <a:cs typeface="微软雅黑"/>
              <a:sym typeface="微软雅黑"/>
            </a:endParaRPr>
          </a:p>
        </p:txBody>
      </p:sp>
      <p:sp>
        <p:nvSpPr>
          <p:cNvPr id="20" name="显眼包PPT-1"/>
          <p:cNvSpPr txBox="1"/>
          <p:nvPr/>
        </p:nvSpPr>
        <p:spPr>
          <a:xfrm>
            <a:off x="841693" y="5346700"/>
            <a:ext cx="1758315" cy="561340"/>
          </a:xfrm>
          <a:prstGeom prst="rect">
            <a:avLst/>
          </a:prstGeom>
          <a:noFill/>
        </p:spPr>
        <p:txBody>
          <a:bodyPr wrap="square" lIns="0" tIns="0" rIns="0" bIns="0" rtlCol="0" anchor="t">
            <a:noAutofit/>
          </a:bodyPr>
          <a:lstStyle/>
          <a:p>
            <a:pPr indent="0" algn="ctr" fontAlgn="auto">
              <a:lnSpc>
                <a:spcPts val="168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打造员工可参与、文化能共鸣的</a:t>
            </a:r>
            <a:endParaRPr lang="zh-CN" altLang="en-US" sz="1000" b="0" i="0" dirty="0">
              <a:solidFill>
                <a:srgbClr val="383838"/>
              </a:solidFill>
              <a:effectLst/>
              <a:latin typeface="微软雅黑"/>
              <a:ea typeface="微软雅黑"/>
              <a:cs typeface="微软雅黑"/>
            </a:endParaRPr>
          </a:p>
          <a:p>
            <a:pPr indent="0" algn="ctr" fontAlgn="auto">
              <a:lnSpc>
                <a:spcPts val="1680"/>
              </a:lnSpc>
              <a:spcAft>
                <a:spcPts val="0"/>
              </a:spcAft>
              <a:defRPr>
                <a:latin typeface="微软雅黑"/>
                <a:ea typeface="微软雅黑"/>
                <a:cs typeface="微软雅黑"/>
              </a:defRPr>
              <a:spcBef>
                <a:spcPts val="0"/>
              </a:spcBef>
            </a:pPr>
            <a:r>
              <a:rPr lang="zh-CN" altLang="en-US" sz="1500" b="1" i="0" dirty="0">
                <a:solidFill>
                  <a:srgbClr val="383838"/>
                </a:solidFill>
                <a:effectLst/>
                <a:latin typeface="微软雅黑"/>
                <a:ea typeface="微软雅黑"/>
                <a:cs typeface="微软雅黑"/>
              </a:rPr>
              <a:t>组织凝聚力场域</a:t>
            </a:r>
            <a:endParaRPr lang="zh-CN" altLang="en-US" sz="1500" b="1" i="0" dirty="0">
              <a:solidFill>
                <a:srgbClr val="383838"/>
              </a:solidFill>
              <a:effectLst/>
              <a:latin typeface="微软雅黑"/>
              <a:ea typeface="微软雅黑"/>
              <a:cs typeface="微软雅黑"/>
            </a:endParaRPr>
          </a:p>
        </p:txBody>
      </p:sp>
      <p:sp>
        <p:nvSpPr>
          <p:cNvPr id="8" name="显眼包PPT-1"/>
          <p:cNvSpPr txBox="1"/>
          <p:nvPr/>
        </p:nvSpPr>
        <p:spPr>
          <a:xfrm>
            <a:off x="2994978" y="5385435"/>
            <a:ext cx="1758315" cy="419100"/>
          </a:xfrm>
          <a:prstGeom prst="rect">
            <a:avLst/>
          </a:prstGeom>
          <a:noFill/>
        </p:spPr>
        <p:txBody>
          <a:bodyPr wrap="square" lIns="0" tIns="0" rIns="0" bIns="0" rtlCol="0" anchor="t">
            <a:noAutofit/>
          </a:bodyPr>
          <a:lstStyle/>
          <a:p>
            <a:pPr indent="0" algn="ctr" fontAlgn="auto">
              <a:lnSpc>
                <a:spcPts val="168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构建员工与企业共同成长的</a:t>
            </a:r>
            <a:endParaRPr lang="zh-CN" altLang="en-US" sz="1000" b="0" i="0" dirty="0">
              <a:solidFill>
                <a:srgbClr val="383838"/>
              </a:solidFill>
              <a:effectLst/>
              <a:latin typeface="微软雅黑"/>
              <a:ea typeface="微软雅黑"/>
              <a:cs typeface="微软雅黑"/>
            </a:endParaRPr>
          </a:p>
          <a:p>
            <a:pPr indent="0" algn="ctr" fontAlgn="auto">
              <a:lnSpc>
                <a:spcPts val="1680"/>
              </a:lnSpc>
              <a:spcAft>
                <a:spcPts val="0"/>
              </a:spcAft>
              <a:defRPr>
                <a:latin typeface="微软雅黑"/>
                <a:ea typeface="微软雅黑"/>
                <a:cs typeface="微软雅黑"/>
              </a:defRPr>
              <a:spcBef>
                <a:spcPts val="0"/>
              </a:spcBef>
            </a:pPr>
            <a:r>
              <a:rPr lang="zh-CN" altLang="en-US" sz="1500" b="1" i="0" dirty="0">
                <a:solidFill>
                  <a:srgbClr val="383838"/>
                </a:solidFill>
                <a:effectLst/>
                <a:latin typeface="微软雅黑"/>
                <a:ea typeface="微软雅黑"/>
                <a:cs typeface="微软雅黑"/>
              </a:rPr>
              <a:t>学习型发展共同体</a:t>
            </a:r>
            <a:endParaRPr lang="zh-CN" altLang="en-US" sz="1500" b="1" i="0" dirty="0">
              <a:solidFill>
                <a:srgbClr val="383838"/>
              </a:solidFill>
              <a:effectLst/>
              <a:latin typeface="微软雅黑"/>
              <a:ea typeface="微软雅黑"/>
              <a:cs typeface="微软雅黑"/>
            </a:endParaRPr>
          </a:p>
        </p:txBody>
      </p:sp>
      <p:sp>
        <p:nvSpPr>
          <p:cNvPr id="28" name="显眼包PPT-1"/>
          <p:cNvSpPr txBox="1"/>
          <p:nvPr/>
        </p:nvSpPr>
        <p:spPr>
          <a:xfrm>
            <a:off x="5148263" y="5346700"/>
            <a:ext cx="1758315" cy="561340"/>
          </a:xfrm>
          <a:prstGeom prst="rect">
            <a:avLst/>
          </a:prstGeom>
          <a:noFill/>
        </p:spPr>
        <p:txBody>
          <a:bodyPr wrap="square" lIns="0" tIns="0" rIns="0" bIns="0" rtlCol="0" anchor="t">
            <a:noAutofit/>
          </a:bodyPr>
          <a:lstStyle/>
          <a:p>
            <a:pPr indent="0" algn="ctr" fontAlgn="auto">
              <a:lnSpc>
                <a:spcPts val="168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打造需求可感知、服务可触达的</a:t>
            </a:r>
            <a:endParaRPr lang="zh-CN" altLang="en-US" sz="1000" b="0" i="0" dirty="0">
              <a:solidFill>
                <a:srgbClr val="383838"/>
              </a:solidFill>
              <a:effectLst/>
              <a:latin typeface="微软雅黑"/>
              <a:ea typeface="微软雅黑"/>
              <a:cs typeface="微软雅黑"/>
            </a:endParaRPr>
          </a:p>
          <a:p>
            <a:pPr indent="0" algn="ctr" fontAlgn="auto">
              <a:lnSpc>
                <a:spcPts val="1680"/>
              </a:lnSpc>
              <a:spcAft>
                <a:spcPts val="0"/>
              </a:spcAft>
              <a:defRPr>
                <a:latin typeface="微软雅黑"/>
                <a:ea typeface="微软雅黑"/>
                <a:cs typeface="微软雅黑"/>
              </a:defRPr>
              <a:spcBef>
                <a:spcPts val="0"/>
              </a:spcBef>
            </a:pPr>
            <a:r>
              <a:rPr lang="zh-CN" altLang="en-US" sz="1500" b="1" i="0" dirty="0">
                <a:solidFill>
                  <a:srgbClr val="383838"/>
                </a:solidFill>
                <a:effectLst/>
                <a:latin typeface="微软雅黑"/>
                <a:ea typeface="微软雅黑"/>
                <a:cs typeface="微软雅黑"/>
              </a:rPr>
              <a:t>智慧运营中枢</a:t>
            </a:r>
            <a:endParaRPr lang="zh-CN" altLang="en-US" sz="1500" b="1" i="0" dirty="0">
              <a:solidFill>
                <a:srgbClr val="383838"/>
              </a:solidFill>
              <a:effectLst/>
              <a:latin typeface="微软雅黑"/>
              <a:ea typeface="微软雅黑"/>
              <a:cs typeface="微软雅黑"/>
            </a:endParaRPr>
          </a:p>
        </p:txBody>
      </p:sp>
      <p:sp>
        <p:nvSpPr>
          <p:cNvPr id="29" name="显眼包PPT-1"/>
          <p:cNvSpPr txBox="1"/>
          <p:nvPr/>
        </p:nvSpPr>
        <p:spPr>
          <a:xfrm>
            <a:off x="7232015" y="5346700"/>
            <a:ext cx="1897380" cy="561340"/>
          </a:xfrm>
          <a:prstGeom prst="rect">
            <a:avLst/>
          </a:prstGeom>
          <a:noFill/>
        </p:spPr>
        <p:txBody>
          <a:bodyPr wrap="square" lIns="0" tIns="0" rIns="0" bIns="0" rtlCol="0" anchor="t">
            <a:noAutofit/>
          </a:bodyPr>
          <a:lstStyle/>
          <a:p>
            <a:pPr indent="0" algn="ctr" fontAlgn="auto">
              <a:lnSpc>
                <a:spcPts val="168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塑造战略、执行、文化、协同发展的</a:t>
            </a:r>
            <a:endParaRPr lang="zh-CN" altLang="en-US" sz="1000" b="0" i="0" dirty="0">
              <a:solidFill>
                <a:srgbClr val="383838"/>
              </a:solidFill>
              <a:effectLst/>
              <a:latin typeface="微软雅黑"/>
              <a:ea typeface="微软雅黑"/>
              <a:cs typeface="微软雅黑"/>
            </a:endParaRPr>
          </a:p>
          <a:p>
            <a:pPr indent="0" algn="ctr" fontAlgn="auto">
              <a:lnSpc>
                <a:spcPts val="1680"/>
              </a:lnSpc>
              <a:spcAft>
                <a:spcPts val="0"/>
              </a:spcAft>
              <a:defRPr>
                <a:latin typeface="微软雅黑"/>
                <a:ea typeface="微软雅黑"/>
                <a:cs typeface="微软雅黑"/>
              </a:defRPr>
              <a:spcBef>
                <a:spcPts val="0"/>
              </a:spcBef>
            </a:pPr>
            <a:r>
              <a:rPr lang="zh-CN" altLang="en-US" sz="1500" b="1" i="0" dirty="0">
                <a:solidFill>
                  <a:srgbClr val="383838"/>
                </a:solidFill>
                <a:effectLst/>
                <a:latin typeface="微软雅黑"/>
                <a:ea typeface="微软雅黑"/>
                <a:cs typeface="微软雅黑"/>
              </a:rPr>
              <a:t>多维商业生态</a:t>
            </a:r>
            <a:endParaRPr lang="zh-CN" altLang="en-US" sz="1500" b="1" i="0" dirty="0">
              <a:solidFill>
                <a:srgbClr val="383838"/>
              </a:solidFill>
              <a:effectLst/>
              <a:latin typeface="微软雅黑"/>
              <a:ea typeface="微软雅黑"/>
              <a:cs typeface="微软雅黑"/>
            </a:endParaRPr>
          </a:p>
        </p:txBody>
      </p:sp>
      <p:sp>
        <p:nvSpPr>
          <p:cNvPr id="30" name="显眼包PPT-1"/>
          <p:cNvSpPr txBox="1"/>
          <p:nvPr/>
        </p:nvSpPr>
        <p:spPr>
          <a:xfrm>
            <a:off x="9454833" y="5346700"/>
            <a:ext cx="1758315" cy="561340"/>
          </a:xfrm>
          <a:prstGeom prst="rect">
            <a:avLst/>
          </a:prstGeom>
          <a:noFill/>
        </p:spPr>
        <p:txBody>
          <a:bodyPr wrap="square" lIns="0" tIns="0" rIns="0" bIns="0" rtlCol="0" anchor="t">
            <a:noAutofit/>
          </a:bodyPr>
          <a:lstStyle/>
          <a:p>
            <a:pPr indent="0" algn="ctr" fontAlgn="auto">
              <a:lnSpc>
                <a:spcPts val="1680"/>
              </a:lnSpc>
              <a:spcAft>
                <a:spcPts val="0"/>
              </a:spcAft>
              <a:defRPr>
                <a:latin typeface="微软雅黑"/>
                <a:ea typeface="微软雅黑"/>
                <a:cs typeface="微软雅黑"/>
              </a:defRPr>
              <a:spcBef>
                <a:spcPts val="0"/>
              </a:spcBef>
            </a:pPr>
            <a:r>
              <a:rPr lang="zh-CN" altLang="en-US" sz="1000" b="0" i="0" dirty="0">
                <a:solidFill>
                  <a:srgbClr val="383838"/>
                </a:solidFill>
                <a:effectLst/>
                <a:latin typeface="微软雅黑"/>
                <a:ea typeface="微软雅黑"/>
                <a:cs typeface="微软雅黑"/>
              </a:rPr>
              <a:t>实现运营创新与人才深度融合的</a:t>
            </a:r>
            <a:endParaRPr lang="zh-CN" altLang="en-US" sz="1000" b="0" i="0" dirty="0">
              <a:solidFill>
                <a:srgbClr val="383838"/>
              </a:solidFill>
              <a:effectLst/>
              <a:latin typeface="微软雅黑"/>
              <a:ea typeface="微软雅黑"/>
              <a:cs typeface="微软雅黑"/>
            </a:endParaRPr>
          </a:p>
          <a:p>
            <a:pPr indent="0" algn="ctr" fontAlgn="auto">
              <a:lnSpc>
                <a:spcPts val="1680"/>
              </a:lnSpc>
              <a:spcAft>
                <a:spcPts val="0"/>
              </a:spcAft>
              <a:defRPr>
                <a:latin typeface="微软雅黑"/>
                <a:ea typeface="微软雅黑"/>
                <a:cs typeface="微软雅黑"/>
              </a:defRPr>
              <a:spcBef>
                <a:spcPts val="0"/>
              </a:spcBef>
            </a:pPr>
            <a:r>
              <a:rPr lang="zh-CN" altLang="en-US" sz="1500" b="1" i="0" dirty="0">
                <a:solidFill>
                  <a:srgbClr val="383838"/>
                </a:solidFill>
                <a:effectLst/>
                <a:latin typeface="微软雅黑"/>
                <a:ea typeface="微软雅黑"/>
                <a:cs typeface="微软雅黑"/>
              </a:rPr>
              <a:t>企业成长模式</a:t>
            </a:r>
            <a:endParaRPr lang="zh-CN" altLang="en-US" sz="1500" b="1" i="0" dirty="0">
              <a:solidFill>
                <a:srgbClr val="383838"/>
              </a:solidFill>
              <a:effectLst/>
              <a:latin typeface="微软雅黑"/>
              <a:ea typeface="微软雅黑"/>
              <a:cs typeface="微软雅黑"/>
            </a:endParaRPr>
          </a:p>
        </p:txBody>
      </p:sp>
      <p:sp>
        <p:nvSpPr>
          <p:cNvPr id="34" name="矩形 33"/>
          <p:cNvSpPr/>
          <p:nvPr/>
        </p:nvSpPr>
        <p:spPr>
          <a:xfrm>
            <a:off x="1047750" y="3466465"/>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企业价值</a:t>
            </a:r>
            <a:endParaRPr lang="zh-CN" altLang="en-US" sz="1400">
              <a:solidFill>
                <a:srgbClr val="0042FF"/>
              </a:solidFill>
              <a:latin typeface="微软雅黑"/>
              <a:ea typeface="微软雅黑"/>
              <a:cs typeface="微软雅黑"/>
            </a:endParaRPr>
          </a:p>
        </p:txBody>
      </p:sp>
      <p:sp>
        <p:nvSpPr>
          <p:cNvPr id="35" name="矩形 34"/>
          <p:cNvSpPr/>
          <p:nvPr/>
        </p:nvSpPr>
        <p:spPr>
          <a:xfrm>
            <a:off x="1047750" y="4308793"/>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文化践行</a:t>
            </a:r>
            <a:endParaRPr lang="zh-CN" altLang="en-US" sz="1400">
              <a:solidFill>
                <a:srgbClr val="0042FF"/>
              </a:solidFill>
              <a:latin typeface="微软雅黑"/>
              <a:ea typeface="微软雅黑"/>
              <a:cs typeface="微软雅黑"/>
            </a:endParaRPr>
          </a:p>
        </p:txBody>
      </p:sp>
      <p:sp>
        <p:nvSpPr>
          <p:cNvPr id="36" name="显眼包PPT-3"/>
          <p:cNvSpPr txBox="1"/>
          <p:nvPr/>
        </p:nvSpPr>
        <p:spPr>
          <a:xfrm>
            <a:off x="1170940" y="4827905"/>
            <a:ext cx="1172210" cy="222250"/>
          </a:xfrm>
          <a:prstGeom prst="rect">
            <a:avLst/>
          </a:prstGeom>
          <a:noFill/>
        </p:spPr>
        <p:txBody>
          <a:bodyPr wrap="none" lIns="0" tIns="0" rIns="0" bIns="0" rtlCol="0">
            <a:noAutofit/>
          </a:bodyPr>
          <a:lstStyle/>
          <a:p>
            <a:pPr lvl="0" algn="ctr">
              <a:spcBef>
                <a:spcPts val="0"/>
              </a:spcBef>
              <a:spcAft>
                <a:spcPts val="0"/>
              </a:spcAft>
              <a:buClrTx/>
              <a:buSzTx/>
              <a:buFontTx/>
              <a:defRPr>
                <a:latin typeface="微软雅黑"/>
                <a:ea typeface="微软雅黑"/>
                <a:cs typeface="微软雅黑"/>
              </a:defRPr>
            </a:pPr>
            <a:r>
              <a:rPr lang="zh-CN" altLang="en-US" b="1" noProof="0" dirty="0">
                <a:ln w="3175">
                  <a:noFill/>
                </a:ln>
                <a:solidFill>
                  <a:srgbClr val="0042FF"/>
                </a:solidFill>
                <a:effectLst/>
                <a:uLnTx/>
                <a:uFillTx/>
                <a:latin typeface="微软雅黑"/>
                <a:ea typeface="微软雅黑"/>
                <a:cs typeface="微软雅黑"/>
                <a:sym typeface="微软雅黑"/>
              </a:rPr>
              <a:t>全方位</a:t>
            </a:r>
            <a:r>
              <a:rPr lang="zh-CN" altLang="en-US" b="1" noProof="0" dirty="0">
                <a:ln w="3175">
                  <a:noFill/>
                </a:ln>
                <a:solidFill>
                  <a:srgbClr val="383838"/>
                </a:solidFill>
                <a:effectLst/>
                <a:uLnTx/>
                <a:uFillTx/>
                <a:latin typeface="微软雅黑"/>
                <a:ea typeface="微软雅黑"/>
                <a:cs typeface="微软雅黑"/>
                <a:sym typeface="微软雅黑"/>
              </a:rPr>
              <a:t>引领</a:t>
            </a:r>
            <a:endParaRPr lang="zh-CN" altLang="en-US" b="1" noProof="0" dirty="0">
              <a:ln w="3175">
                <a:noFill/>
              </a:ln>
              <a:solidFill>
                <a:srgbClr val="383838"/>
              </a:solidFill>
              <a:effectLst/>
              <a:uLnTx/>
              <a:uFillTx/>
              <a:latin typeface="微软雅黑"/>
              <a:ea typeface="微软雅黑"/>
              <a:cs typeface="微软雅黑"/>
              <a:sym typeface="微软雅黑"/>
            </a:endParaRPr>
          </a:p>
        </p:txBody>
      </p:sp>
      <p:sp>
        <p:nvSpPr>
          <p:cNvPr id="38" name="矩形 37"/>
          <p:cNvSpPr/>
          <p:nvPr/>
        </p:nvSpPr>
        <p:spPr>
          <a:xfrm>
            <a:off x="3168650" y="3466465"/>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管理支持</a:t>
            </a:r>
            <a:endParaRPr lang="zh-CN" altLang="en-US" sz="1400">
              <a:solidFill>
                <a:srgbClr val="0042FF"/>
              </a:solidFill>
              <a:latin typeface="微软雅黑"/>
              <a:ea typeface="微软雅黑"/>
              <a:cs typeface="微软雅黑"/>
            </a:endParaRPr>
          </a:p>
        </p:txBody>
      </p:sp>
      <p:sp>
        <p:nvSpPr>
          <p:cNvPr id="39" name="矩形 38"/>
          <p:cNvSpPr/>
          <p:nvPr/>
        </p:nvSpPr>
        <p:spPr>
          <a:xfrm>
            <a:off x="3168650" y="4308793"/>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共享共建</a:t>
            </a:r>
            <a:endParaRPr lang="zh-CN" altLang="en-US" sz="1400">
              <a:solidFill>
                <a:srgbClr val="0042FF"/>
              </a:solidFill>
              <a:latin typeface="微软雅黑"/>
              <a:ea typeface="微软雅黑"/>
              <a:cs typeface="微软雅黑"/>
            </a:endParaRPr>
          </a:p>
        </p:txBody>
      </p:sp>
      <p:sp>
        <p:nvSpPr>
          <p:cNvPr id="40" name="显眼包PPT-3"/>
          <p:cNvSpPr txBox="1"/>
          <p:nvPr/>
        </p:nvSpPr>
        <p:spPr>
          <a:xfrm>
            <a:off x="3291840" y="4865370"/>
            <a:ext cx="1172210" cy="222250"/>
          </a:xfrm>
          <a:prstGeom prst="rect">
            <a:avLst/>
          </a:prstGeom>
          <a:noFill/>
        </p:spPr>
        <p:txBody>
          <a:bodyPr wrap="none" lIns="0" tIns="0" rIns="0" bIns="0" rtlCol="0">
            <a:noAutofit/>
          </a:bodyPr>
          <a:lstStyle/>
          <a:p>
            <a:pPr lvl="0" algn="ctr">
              <a:spcBef>
                <a:spcPts val="0"/>
              </a:spcBef>
              <a:spcAft>
                <a:spcPts val="0"/>
              </a:spcAft>
              <a:buClrTx/>
              <a:buSzTx/>
              <a:buFontTx/>
              <a:defRPr>
                <a:latin typeface="微软雅黑"/>
                <a:ea typeface="微软雅黑"/>
                <a:cs typeface="微软雅黑"/>
              </a:defRPr>
            </a:pPr>
            <a:r>
              <a:rPr lang="zh-CN" altLang="en-US" b="1" noProof="0" dirty="0">
                <a:ln w="3175">
                  <a:noFill/>
                </a:ln>
                <a:solidFill>
                  <a:srgbClr val="0042FF"/>
                </a:solidFill>
                <a:effectLst/>
                <a:uLnTx/>
                <a:uFillTx/>
                <a:latin typeface="微软雅黑"/>
                <a:ea typeface="微软雅黑"/>
                <a:cs typeface="微软雅黑"/>
                <a:sym typeface="微软雅黑"/>
              </a:rPr>
              <a:t>全员化</a:t>
            </a:r>
            <a:r>
              <a:rPr lang="zh-CN" altLang="en-US" b="1" noProof="0" dirty="0">
                <a:ln w="3175">
                  <a:noFill/>
                </a:ln>
                <a:solidFill>
                  <a:srgbClr val="383838"/>
                </a:solidFill>
                <a:effectLst/>
                <a:uLnTx/>
                <a:uFillTx/>
                <a:latin typeface="微软雅黑"/>
                <a:ea typeface="微软雅黑"/>
                <a:cs typeface="微软雅黑"/>
                <a:sym typeface="微软雅黑"/>
              </a:rPr>
              <a:t>参与</a:t>
            </a:r>
            <a:endParaRPr lang="zh-CN" altLang="en-US" b="1" noProof="0" dirty="0">
              <a:ln w="3175">
                <a:noFill/>
              </a:ln>
              <a:solidFill>
                <a:srgbClr val="383838"/>
              </a:solidFill>
              <a:effectLst/>
              <a:uLnTx/>
              <a:uFillTx/>
              <a:latin typeface="微软雅黑"/>
              <a:ea typeface="微软雅黑"/>
              <a:cs typeface="微软雅黑"/>
              <a:sym typeface="微软雅黑"/>
            </a:endParaRPr>
          </a:p>
        </p:txBody>
      </p:sp>
      <p:sp>
        <p:nvSpPr>
          <p:cNvPr id="42" name="矩形 41"/>
          <p:cNvSpPr/>
          <p:nvPr/>
        </p:nvSpPr>
        <p:spPr>
          <a:xfrm>
            <a:off x="5321618" y="3466465"/>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数据采集</a:t>
            </a:r>
            <a:endParaRPr lang="zh-CN" altLang="en-US" sz="1400">
              <a:solidFill>
                <a:srgbClr val="0042FF"/>
              </a:solidFill>
              <a:latin typeface="微软雅黑"/>
              <a:ea typeface="微软雅黑"/>
              <a:cs typeface="微软雅黑"/>
            </a:endParaRPr>
          </a:p>
        </p:txBody>
      </p:sp>
      <p:sp>
        <p:nvSpPr>
          <p:cNvPr id="43" name="矩形 42"/>
          <p:cNvSpPr/>
          <p:nvPr/>
        </p:nvSpPr>
        <p:spPr>
          <a:xfrm>
            <a:off x="5321618" y="4308793"/>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决策支持</a:t>
            </a:r>
            <a:endParaRPr lang="zh-CN" altLang="en-US" sz="1400">
              <a:solidFill>
                <a:srgbClr val="0042FF"/>
              </a:solidFill>
              <a:latin typeface="微软雅黑"/>
              <a:ea typeface="微软雅黑"/>
              <a:cs typeface="微软雅黑"/>
            </a:endParaRPr>
          </a:p>
        </p:txBody>
      </p:sp>
      <p:sp>
        <p:nvSpPr>
          <p:cNvPr id="44" name="显眼包PPT-3"/>
          <p:cNvSpPr txBox="1"/>
          <p:nvPr/>
        </p:nvSpPr>
        <p:spPr>
          <a:xfrm>
            <a:off x="5441315" y="4827905"/>
            <a:ext cx="1172210" cy="222250"/>
          </a:xfrm>
          <a:prstGeom prst="rect">
            <a:avLst/>
          </a:prstGeom>
          <a:noFill/>
        </p:spPr>
        <p:txBody>
          <a:bodyPr wrap="none" lIns="0" tIns="0" rIns="0" bIns="0" rtlCol="0">
            <a:noAutofit/>
          </a:bodyPr>
          <a:lstStyle/>
          <a:p>
            <a:pPr lvl="0" algn="ctr">
              <a:spcBef>
                <a:spcPts val="0"/>
              </a:spcBef>
              <a:spcAft>
                <a:spcPts val="0"/>
              </a:spcAft>
              <a:buClrTx/>
              <a:buSzTx/>
              <a:buFontTx/>
              <a:defRPr>
                <a:latin typeface="微软雅黑"/>
                <a:ea typeface="微软雅黑"/>
                <a:cs typeface="微软雅黑"/>
              </a:defRPr>
            </a:pPr>
            <a:r>
              <a:rPr lang="zh-CN" altLang="en-US" b="1" noProof="0" dirty="0">
                <a:ln w="3175">
                  <a:noFill/>
                </a:ln>
                <a:solidFill>
                  <a:srgbClr val="0042FF"/>
                </a:solidFill>
                <a:effectLst/>
                <a:uLnTx/>
                <a:uFillTx/>
                <a:latin typeface="微软雅黑"/>
                <a:ea typeface="微软雅黑"/>
                <a:cs typeface="微软雅黑"/>
                <a:sym typeface="微软雅黑"/>
              </a:rPr>
              <a:t>全数据</a:t>
            </a:r>
            <a:r>
              <a:rPr lang="zh-CN" altLang="en-US" b="1" noProof="0" dirty="0">
                <a:ln w="3175">
                  <a:noFill/>
                </a:ln>
                <a:solidFill>
                  <a:srgbClr val="383838"/>
                </a:solidFill>
                <a:effectLst/>
                <a:uLnTx/>
                <a:uFillTx/>
                <a:latin typeface="微软雅黑"/>
                <a:ea typeface="微软雅黑"/>
                <a:cs typeface="微软雅黑"/>
                <a:sym typeface="微软雅黑"/>
              </a:rPr>
              <a:t>赋能</a:t>
            </a:r>
            <a:endParaRPr lang="zh-CN" altLang="en-US" b="1" noProof="0" dirty="0">
              <a:ln w="3175">
                <a:noFill/>
              </a:ln>
              <a:solidFill>
                <a:srgbClr val="383838"/>
              </a:solidFill>
              <a:effectLst/>
              <a:uLnTx/>
              <a:uFillTx/>
              <a:latin typeface="微软雅黑"/>
              <a:ea typeface="微软雅黑"/>
              <a:cs typeface="微软雅黑"/>
              <a:sym typeface="微软雅黑"/>
            </a:endParaRPr>
          </a:p>
        </p:txBody>
      </p:sp>
      <p:sp>
        <p:nvSpPr>
          <p:cNvPr id="46" name="矩形 45"/>
          <p:cNvSpPr/>
          <p:nvPr/>
        </p:nvSpPr>
        <p:spPr>
          <a:xfrm>
            <a:off x="7474903" y="3466465"/>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业务场景</a:t>
            </a:r>
            <a:endParaRPr lang="zh-CN" altLang="en-US" sz="1400">
              <a:solidFill>
                <a:srgbClr val="0042FF"/>
              </a:solidFill>
              <a:latin typeface="微软雅黑"/>
              <a:ea typeface="微软雅黑"/>
              <a:cs typeface="微软雅黑"/>
            </a:endParaRPr>
          </a:p>
        </p:txBody>
      </p:sp>
      <p:sp>
        <p:nvSpPr>
          <p:cNvPr id="47" name="矩形 46"/>
          <p:cNvSpPr/>
          <p:nvPr/>
        </p:nvSpPr>
        <p:spPr>
          <a:xfrm>
            <a:off x="7474903" y="4308793"/>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成长平台</a:t>
            </a:r>
            <a:endParaRPr lang="zh-CN" altLang="en-US" sz="1400">
              <a:solidFill>
                <a:srgbClr val="0042FF"/>
              </a:solidFill>
              <a:latin typeface="微软雅黑"/>
              <a:ea typeface="微软雅黑"/>
              <a:cs typeface="微软雅黑"/>
            </a:endParaRPr>
          </a:p>
        </p:txBody>
      </p:sp>
      <p:sp>
        <p:nvSpPr>
          <p:cNvPr id="48" name="显眼包PPT-3"/>
          <p:cNvSpPr txBox="1"/>
          <p:nvPr/>
        </p:nvSpPr>
        <p:spPr>
          <a:xfrm>
            <a:off x="7594600" y="4865370"/>
            <a:ext cx="1172210" cy="222250"/>
          </a:xfrm>
          <a:prstGeom prst="rect">
            <a:avLst/>
          </a:prstGeom>
          <a:noFill/>
        </p:spPr>
        <p:txBody>
          <a:bodyPr wrap="none" lIns="0" tIns="0" rIns="0" bIns="0" rtlCol="0">
            <a:noAutofit/>
          </a:bodyPr>
          <a:lstStyle/>
          <a:p>
            <a:pPr lvl="0" algn="ctr">
              <a:spcBef>
                <a:spcPts val="0"/>
              </a:spcBef>
              <a:spcAft>
                <a:spcPts val="0"/>
              </a:spcAft>
              <a:buClrTx/>
              <a:buSzTx/>
              <a:buFontTx/>
              <a:defRPr>
                <a:latin typeface="微软雅黑"/>
                <a:ea typeface="微软雅黑"/>
                <a:cs typeface="微软雅黑"/>
              </a:defRPr>
            </a:pPr>
            <a:r>
              <a:rPr lang="zh-CN" altLang="en-US" b="1" noProof="0" dirty="0">
                <a:ln w="3175">
                  <a:noFill/>
                </a:ln>
                <a:solidFill>
                  <a:srgbClr val="0042FF"/>
                </a:solidFill>
                <a:effectLst/>
                <a:uLnTx/>
                <a:uFillTx/>
                <a:latin typeface="微软雅黑"/>
                <a:ea typeface="微软雅黑"/>
                <a:cs typeface="微软雅黑"/>
                <a:sym typeface="微软雅黑"/>
              </a:rPr>
              <a:t>全要素</a:t>
            </a:r>
            <a:r>
              <a:rPr lang="zh-CN" altLang="en-US" b="1" noProof="0" dirty="0">
                <a:ln w="3175">
                  <a:noFill/>
                </a:ln>
                <a:solidFill>
                  <a:srgbClr val="383838"/>
                </a:solidFill>
                <a:effectLst/>
                <a:uLnTx/>
                <a:uFillTx/>
                <a:latin typeface="微软雅黑"/>
                <a:ea typeface="微软雅黑"/>
                <a:cs typeface="微软雅黑"/>
                <a:sym typeface="微软雅黑"/>
              </a:rPr>
              <a:t>融合</a:t>
            </a:r>
            <a:endParaRPr lang="zh-CN" altLang="en-US" b="1" noProof="0" dirty="0">
              <a:ln w="3175">
                <a:noFill/>
              </a:ln>
              <a:solidFill>
                <a:srgbClr val="383838"/>
              </a:solidFill>
              <a:effectLst/>
              <a:uLnTx/>
              <a:uFillTx/>
              <a:latin typeface="微软雅黑"/>
              <a:ea typeface="微软雅黑"/>
              <a:cs typeface="微软雅黑"/>
              <a:sym typeface="微软雅黑"/>
            </a:endParaRPr>
          </a:p>
        </p:txBody>
      </p:sp>
      <p:sp>
        <p:nvSpPr>
          <p:cNvPr id="54" name="矩形 53"/>
          <p:cNvSpPr/>
          <p:nvPr/>
        </p:nvSpPr>
        <p:spPr>
          <a:xfrm>
            <a:off x="9628188" y="3466465"/>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阶段衔接</a:t>
            </a:r>
            <a:endParaRPr lang="zh-CN" altLang="en-US" sz="1400">
              <a:solidFill>
                <a:srgbClr val="0042FF"/>
              </a:solidFill>
              <a:latin typeface="微软雅黑"/>
              <a:ea typeface="微软雅黑"/>
              <a:cs typeface="微软雅黑"/>
            </a:endParaRPr>
          </a:p>
        </p:txBody>
      </p:sp>
      <p:sp>
        <p:nvSpPr>
          <p:cNvPr id="55" name="矩形 54"/>
          <p:cNvSpPr/>
          <p:nvPr/>
        </p:nvSpPr>
        <p:spPr>
          <a:xfrm>
            <a:off x="9628188" y="4308793"/>
            <a:ext cx="1411605" cy="304165"/>
          </a:xfrm>
          <a:prstGeom prst="rect">
            <a:avLst/>
          </a:prstGeom>
          <a:solidFill>
            <a:srgbClr val="FFFFFF"/>
          </a:soli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能力适配</a:t>
            </a:r>
            <a:endParaRPr lang="zh-CN" altLang="en-US" sz="1400">
              <a:solidFill>
                <a:srgbClr val="0042FF"/>
              </a:solidFill>
              <a:latin typeface="微软雅黑"/>
              <a:ea typeface="微软雅黑"/>
              <a:cs typeface="微软雅黑"/>
            </a:endParaRPr>
          </a:p>
        </p:txBody>
      </p:sp>
      <p:sp>
        <p:nvSpPr>
          <p:cNvPr id="56" name="显眼包PPT-3"/>
          <p:cNvSpPr txBox="1"/>
          <p:nvPr/>
        </p:nvSpPr>
        <p:spPr>
          <a:xfrm>
            <a:off x="9747885" y="4827905"/>
            <a:ext cx="1172210" cy="222250"/>
          </a:xfrm>
          <a:prstGeom prst="rect">
            <a:avLst/>
          </a:prstGeom>
          <a:noFill/>
        </p:spPr>
        <p:txBody>
          <a:bodyPr wrap="none" lIns="0" tIns="0" rIns="0" bIns="0" rtlCol="0">
            <a:noAutofit/>
          </a:bodyPr>
          <a:lstStyle/>
          <a:p>
            <a:pPr lvl="0" algn="ctr">
              <a:spcBef>
                <a:spcPts val="0"/>
              </a:spcBef>
              <a:spcAft>
                <a:spcPts val="0"/>
              </a:spcAft>
              <a:buClrTx/>
              <a:buSzTx/>
              <a:buFontTx/>
              <a:defRPr>
                <a:latin typeface="微软雅黑"/>
                <a:ea typeface="微软雅黑"/>
                <a:cs typeface="微软雅黑"/>
              </a:defRPr>
            </a:pPr>
            <a:r>
              <a:rPr lang="zh-CN" altLang="en-US" b="1" noProof="0" dirty="0">
                <a:ln w="3175">
                  <a:noFill/>
                </a:ln>
                <a:solidFill>
                  <a:srgbClr val="0042FF"/>
                </a:solidFill>
                <a:effectLst/>
                <a:uLnTx/>
                <a:uFillTx/>
                <a:latin typeface="微软雅黑"/>
                <a:ea typeface="微软雅黑"/>
                <a:cs typeface="微软雅黑"/>
                <a:sym typeface="微软雅黑"/>
              </a:rPr>
              <a:t>全周期</a:t>
            </a:r>
            <a:r>
              <a:rPr lang="zh-CN" altLang="en-US" b="1" noProof="0" dirty="0">
                <a:ln w="3175">
                  <a:noFill/>
                </a:ln>
                <a:solidFill>
                  <a:srgbClr val="383838"/>
                </a:solidFill>
                <a:effectLst/>
                <a:uLnTx/>
                <a:uFillTx/>
                <a:latin typeface="微软雅黑"/>
                <a:ea typeface="微软雅黑"/>
                <a:cs typeface="微软雅黑"/>
                <a:sym typeface="微软雅黑"/>
              </a:rPr>
              <a:t>覆盖</a:t>
            </a:r>
            <a:endParaRPr lang="zh-CN" altLang="en-US" b="1" noProof="0" dirty="0">
              <a:ln w="3175">
                <a:noFill/>
              </a:ln>
              <a:solidFill>
                <a:srgbClr val="383838"/>
              </a:solidFill>
              <a:effectLst/>
              <a:uLnTx/>
              <a:uFillTx/>
              <a:latin typeface="微软雅黑"/>
              <a:ea typeface="微软雅黑"/>
              <a:cs typeface="微软雅黑"/>
              <a:sym typeface="微软雅黑"/>
            </a:endParaRPr>
          </a:p>
        </p:txBody>
      </p:sp>
      <p:grpSp>
        <p:nvGrpSpPr>
          <p:cNvPr id="57" name="组合 56"/>
          <p:cNvGrpSpPr>
            <a:grpSpLocks noChangeAspect="1"/>
          </p:cNvGrpSpPr>
          <p:nvPr/>
        </p:nvGrpSpPr>
        <p:grpSpPr>
          <a:xfrm rot="5400000">
            <a:off x="1555115" y="3846830"/>
            <a:ext cx="332105" cy="384175"/>
            <a:chOff x="14325029" y="4991308"/>
            <a:chExt cx="630847" cy="474526"/>
          </a:xfrm>
        </p:grpSpPr>
        <p:sp>
          <p:nvSpPr>
            <p:cNvPr id="58" name="三角形 4"/>
            <p:cNvSpPr/>
            <p:nvPr/>
          </p:nvSpPr>
          <p:spPr>
            <a:xfrm rot="5400000">
              <a:off x="14507965" y="5017922"/>
              <a:ext cx="474526" cy="421297"/>
            </a:xfrm>
            <a:prstGeom prst="triangle">
              <a:avLst/>
            </a:prstGeom>
            <a:gradFill>
              <a:gsLst>
                <a:gs pos="0">
                  <a:srgbClr val="3368FF">
                    <a:alpha val="0"/>
                  </a:srgbClr>
                </a:gs>
                <a:gs pos="99000">
                  <a:srgbClr val="3368FF"/>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solidFill>
                    <a:srgbClr val="383838"/>
                  </a:solidFill>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59" name="三角形 5"/>
            <p:cNvSpPr/>
            <p:nvPr/>
          </p:nvSpPr>
          <p:spPr>
            <a:xfrm rot="5400000">
              <a:off x="14298415" y="5017922"/>
              <a:ext cx="474526" cy="421297"/>
            </a:xfrm>
            <a:prstGeom prst="triangle">
              <a:avLst/>
            </a:prstGeom>
            <a:gradFill>
              <a:gsLst>
                <a:gs pos="0">
                  <a:srgbClr val="3368FF">
                    <a:alpha val="0"/>
                  </a:srgbClr>
                </a:gs>
                <a:gs pos="73000">
                  <a:srgbClr val="3368FF"/>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solidFill>
                    <a:srgbClr val="383838"/>
                  </a:solidFill>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grpSp>
      <p:grpSp>
        <p:nvGrpSpPr>
          <p:cNvPr id="60" name="组合 59"/>
          <p:cNvGrpSpPr>
            <a:grpSpLocks noChangeAspect="1"/>
          </p:cNvGrpSpPr>
          <p:nvPr/>
        </p:nvGrpSpPr>
        <p:grpSpPr>
          <a:xfrm rot="5400000">
            <a:off x="3712210" y="3846830"/>
            <a:ext cx="332105" cy="384175"/>
            <a:chOff x="14325029" y="4991308"/>
            <a:chExt cx="630847" cy="474526"/>
          </a:xfrm>
        </p:grpSpPr>
        <p:sp>
          <p:nvSpPr>
            <p:cNvPr id="61" name="三角形 4"/>
            <p:cNvSpPr/>
            <p:nvPr/>
          </p:nvSpPr>
          <p:spPr>
            <a:xfrm rot="5400000">
              <a:off x="14507965" y="5017922"/>
              <a:ext cx="474526" cy="421297"/>
            </a:xfrm>
            <a:prstGeom prst="triangle">
              <a:avLst/>
            </a:prstGeom>
            <a:gradFill>
              <a:gsLst>
                <a:gs pos="0">
                  <a:srgbClr val="B3D4FE">
                    <a:alpha val="0"/>
                  </a:srgbClr>
                </a:gs>
                <a:gs pos="99000">
                  <a:srgbClr val="B3D4FE"/>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62" name="三角形 5"/>
            <p:cNvSpPr/>
            <p:nvPr/>
          </p:nvSpPr>
          <p:spPr>
            <a:xfrm rot="5400000">
              <a:off x="14298415" y="5017922"/>
              <a:ext cx="474526" cy="421297"/>
            </a:xfrm>
            <a:prstGeom prst="triangle">
              <a:avLst/>
            </a:prstGeom>
            <a:gradFill>
              <a:gsLst>
                <a:gs pos="0">
                  <a:srgbClr val="B3D4FE">
                    <a:alpha val="0"/>
                  </a:srgbClr>
                </a:gs>
                <a:gs pos="73000">
                  <a:srgbClr val="B3D4FE"/>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grpSp>
      <p:grpSp>
        <p:nvGrpSpPr>
          <p:cNvPr id="63" name="组合 62"/>
          <p:cNvGrpSpPr>
            <a:grpSpLocks noChangeAspect="1"/>
          </p:cNvGrpSpPr>
          <p:nvPr/>
        </p:nvGrpSpPr>
        <p:grpSpPr>
          <a:xfrm rot="5400000">
            <a:off x="5861368" y="3846830"/>
            <a:ext cx="332105" cy="384175"/>
            <a:chOff x="14325029" y="4991308"/>
            <a:chExt cx="630847" cy="474526"/>
          </a:xfrm>
        </p:grpSpPr>
        <p:sp>
          <p:nvSpPr>
            <p:cNvPr id="64" name="三角形 4"/>
            <p:cNvSpPr/>
            <p:nvPr/>
          </p:nvSpPr>
          <p:spPr>
            <a:xfrm rot="5400000">
              <a:off x="14507965" y="5017922"/>
              <a:ext cx="474526" cy="421297"/>
            </a:xfrm>
            <a:prstGeom prst="triangle">
              <a:avLst/>
            </a:prstGeom>
            <a:gradFill>
              <a:gsLst>
                <a:gs pos="0">
                  <a:srgbClr val="3368FF">
                    <a:alpha val="0"/>
                  </a:srgbClr>
                </a:gs>
                <a:gs pos="99000">
                  <a:srgbClr val="3368FF"/>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solidFill>
                    <a:srgbClr val="383838"/>
                  </a:solidFill>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65" name="三角形 5"/>
            <p:cNvSpPr/>
            <p:nvPr/>
          </p:nvSpPr>
          <p:spPr>
            <a:xfrm rot="5400000">
              <a:off x="14298415" y="5017922"/>
              <a:ext cx="474526" cy="421297"/>
            </a:xfrm>
            <a:prstGeom prst="triangle">
              <a:avLst/>
            </a:prstGeom>
            <a:gradFill>
              <a:gsLst>
                <a:gs pos="0">
                  <a:srgbClr val="3368FF">
                    <a:alpha val="0"/>
                  </a:srgbClr>
                </a:gs>
                <a:gs pos="73000">
                  <a:srgbClr val="3368FF"/>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solidFill>
                    <a:srgbClr val="383838"/>
                  </a:solidFill>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grpSp>
      <p:grpSp>
        <p:nvGrpSpPr>
          <p:cNvPr id="66" name="组合 65"/>
          <p:cNvGrpSpPr>
            <a:grpSpLocks noChangeAspect="1"/>
          </p:cNvGrpSpPr>
          <p:nvPr/>
        </p:nvGrpSpPr>
        <p:grpSpPr>
          <a:xfrm rot="5400000">
            <a:off x="8014653" y="3846830"/>
            <a:ext cx="332105" cy="384175"/>
            <a:chOff x="14325029" y="4991308"/>
            <a:chExt cx="630847" cy="474526"/>
          </a:xfrm>
        </p:grpSpPr>
        <p:sp>
          <p:nvSpPr>
            <p:cNvPr id="67" name="三角形 4"/>
            <p:cNvSpPr/>
            <p:nvPr/>
          </p:nvSpPr>
          <p:spPr>
            <a:xfrm rot="5400000">
              <a:off x="14507965" y="5017922"/>
              <a:ext cx="474526" cy="421297"/>
            </a:xfrm>
            <a:prstGeom prst="triangle">
              <a:avLst/>
            </a:prstGeom>
            <a:gradFill>
              <a:gsLst>
                <a:gs pos="0">
                  <a:srgbClr val="B3D4FE">
                    <a:alpha val="0"/>
                  </a:srgbClr>
                </a:gs>
                <a:gs pos="99000">
                  <a:srgbClr val="B3D4FE"/>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68" name="三角形 5"/>
            <p:cNvSpPr/>
            <p:nvPr/>
          </p:nvSpPr>
          <p:spPr>
            <a:xfrm rot="5400000">
              <a:off x="14298415" y="5017922"/>
              <a:ext cx="474526" cy="421297"/>
            </a:xfrm>
            <a:prstGeom prst="triangle">
              <a:avLst/>
            </a:prstGeom>
            <a:gradFill>
              <a:gsLst>
                <a:gs pos="0">
                  <a:srgbClr val="B3D4FE">
                    <a:alpha val="0"/>
                  </a:srgbClr>
                </a:gs>
                <a:gs pos="73000">
                  <a:srgbClr val="B3D4FE"/>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grpSp>
      <p:grpSp>
        <p:nvGrpSpPr>
          <p:cNvPr id="69" name="组合 68"/>
          <p:cNvGrpSpPr>
            <a:grpSpLocks noChangeAspect="1"/>
          </p:cNvGrpSpPr>
          <p:nvPr/>
        </p:nvGrpSpPr>
        <p:grpSpPr>
          <a:xfrm rot="5400000">
            <a:off x="10167938" y="3846830"/>
            <a:ext cx="332105" cy="384175"/>
            <a:chOff x="14325029" y="4991308"/>
            <a:chExt cx="630847" cy="474526"/>
          </a:xfrm>
        </p:grpSpPr>
        <p:sp>
          <p:nvSpPr>
            <p:cNvPr id="70" name="三角形 4"/>
            <p:cNvSpPr/>
            <p:nvPr/>
          </p:nvSpPr>
          <p:spPr>
            <a:xfrm rot="5400000">
              <a:off x="14507965" y="5017922"/>
              <a:ext cx="474526" cy="421297"/>
            </a:xfrm>
            <a:prstGeom prst="triangle">
              <a:avLst/>
            </a:prstGeom>
            <a:gradFill>
              <a:gsLst>
                <a:gs pos="0">
                  <a:srgbClr val="3368FF">
                    <a:alpha val="0"/>
                  </a:srgbClr>
                </a:gs>
                <a:gs pos="99000">
                  <a:srgbClr val="3368FF"/>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solidFill>
                    <a:srgbClr val="383838"/>
                  </a:solidFill>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71" name="三角形 5"/>
            <p:cNvSpPr/>
            <p:nvPr/>
          </p:nvSpPr>
          <p:spPr>
            <a:xfrm rot="5400000">
              <a:off x="14298415" y="5017922"/>
              <a:ext cx="474526" cy="421297"/>
            </a:xfrm>
            <a:prstGeom prst="triangle">
              <a:avLst/>
            </a:prstGeom>
            <a:gradFill>
              <a:gsLst>
                <a:gs pos="0">
                  <a:srgbClr val="3368FF">
                    <a:alpha val="0"/>
                  </a:srgbClr>
                </a:gs>
                <a:gs pos="73000">
                  <a:srgbClr val="3368FF"/>
                </a:gs>
              </a:gsLst>
              <a:lin ang="16200000" scaled="0"/>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algn="ctr" defTabSz="238125" hangingPunct="0">
                <a:defRPr>
                  <a:solidFill>
                    <a:srgbClr val="383838"/>
                  </a:solidFill>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grpSp>
      <p:grpSp>
        <p:nvGrpSpPr>
          <p:cNvPr id="7" name="组合 6"/>
          <p:cNvGrpSpPr/>
          <p:nvPr/>
        </p:nvGrpSpPr>
        <p:grpSpPr>
          <a:xfrm>
            <a:off x="7675245" y="347980"/>
            <a:ext cx="4588510" cy="367030"/>
            <a:chOff x="12087" y="-1089"/>
            <a:chExt cx="7226" cy="578"/>
          </a:xfrm>
        </p:grpSpPr>
        <p:pic>
          <p:nvPicPr>
            <p:cNvPr id="3" name="图片 2"/>
            <p:cNvPicPr>
              <a:picLocks noChangeAspect="1"/>
            </p:cNvPicPr>
            <p:nvPr userDrawn="1"/>
          </p:nvPicPr>
          <p:blipFill>
            <a:blip r:embed="rId3"/>
            <a:srcRect r="57320" b="-13333"/>
            <a:stretch>
              <a:fillRect/>
            </a:stretch>
          </p:blipFill>
          <p:spPr>
            <a:xfrm>
              <a:off x="12087" y="-1089"/>
              <a:ext cx="2548" cy="578"/>
            </a:xfrm>
            <a:prstGeom prst="rect">
              <a:avLst/>
            </a:prstGeom>
          </p:spPr>
        </p:pic>
        <p:sp>
          <p:nvSpPr>
            <p:cNvPr id="9" name="文本框 8"/>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fill="hold"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3364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sz="2200" dirty="0">
                <a:solidFill>
                  <a:srgbClr val="383838"/>
                </a:solidFill>
                <a:effectLst/>
                <a:latin typeface="微软雅黑"/>
                <a:ea typeface="微软雅黑"/>
                <a:cs typeface="微软雅黑"/>
              </a:rPr>
              <a:t>“</a:t>
            </a:r>
            <a:r>
              <a:rPr lang="zh-CN" altLang="en-US" sz="2200" dirty="0">
                <a:solidFill>
                  <a:srgbClr val="383838"/>
                </a:solidFill>
                <a:effectLst/>
                <a:latin typeface="微软雅黑"/>
                <a:ea typeface="微软雅黑"/>
                <a:cs typeface="微软雅黑"/>
              </a:rPr>
              <a:t>一体两翼四柱</a:t>
            </a:r>
            <a:r>
              <a:rPr lang="en-US" altLang="zh-CN" sz="2200" dirty="0">
                <a:solidFill>
                  <a:srgbClr val="383838"/>
                </a:solidFill>
                <a:effectLst/>
                <a:latin typeface="微软雅黑"/>
                <a:ea typeface="微软雅黑"/>
                <a:cs typeface="微软雅黑"/>
              </a:rPr>
              <a:t>”</a:t>
            </a:r>
            <a:r>
              <a:rPr sz="2200" dirty="0">
                <a:solidFill>
                  <a:srgbClr val="383838"/>
                </a:solidFill>
                <a:effectLst/>
                <a:latin typeface="微软雅黑"/>
                <a:ea typeface="微软雅黑"/>
                <a:cs typeface="微软雅黑"/>
              </a:rPr>
              <a:t>运营提升工程</a:t>
            </a:r>
            <a:endParaRPr sz="2200" dirty="0">
              <a:solidFill>
                <a:srgbClr val="383838"/>
              </a:solidFill>
              <a:effectLst/>
              <a:latin typeface="微软雅黑"/>
              <a:ea typeface="微软雅黑"/>
              <a:cs typeface="微软雅黑"/>
            </a:endParaRPr>
          </a:p>
        </p:txBody>
      </p:sp>
      <p:sp>
        <p:nvSpPr>
          <p:cNvPr id="177" name="显眼包PPT1"/>
          <p:cNvSpPr/>
          <p:nvPr/>
        </p:nvSpPr>
        <p:spPr>
          <a:xfrm>
            <a:off x="228056" y="5943345"/>
            <a:ext cx="11814629" cy="276999"/>
          </a:xfrm>
          <a:prstGeom prst="trapezoid">
            <a:avLst>
              <a:gd name="adj" fmla="val 123909"/>
            </a:avLst>
          </a:prstGeom>
          <a:gradFill flip="none" rotWithShape="1">
            <a:gsLst>
              <a:gs pos="17000">
                <a:srgbClr val="E6E6E6">
                  <a:alpha val="0"/>
                </a:srgbClr>
              </a:gs>
              <a:gs pos="100000">
                <a:srgbClr val="668EFF"/>
              </a:gs>
            </a:gsLst>
            <a:lin ang="5400000" scaled="1"/>
            <a:tileRect/>
          </a:gradFill>
          <a:ln w="9525" cap="rnd">
            <a:noFill/>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78" name="显眼包PPT2"/>
          <p:cNvSpPr/>
          <p:nvPr/>
        </p:nvSpPr>
        <p:spPr>
          <a:xfrm>
            <a:off x="228056" y="6222567"/>
            <a:ext cx="11814629" cy="537550"/>
          </a:xfrm>
          <a:prstGeom prst="rect">
            <a:avLst/>
          </a:prstGeom>
          <a:gradFill flip="none" rotWithShape="1">
            <a:gsLst>
              <a:gs pos="13000">
                <a:srgbClr val="0042FF"/>
              </a:gs>
              <a:gs pos="95000">
                <a:srgbClr val="3368FF"/>
              </a:gs>
            </a:gsLst>
            <a:lin ang="5400000" scaled="1"/>
            <a:tileRect/>
          </a:gradFill>
          <a:ln>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en-US" altLang="zh-CN" sz="1600">
                <a:solidFill>
                  <a:srgbClr val="383838"/>
                </a:solidFill>
                <a:latin typeface="微软雅黑"/>
                <a:cs typeface="微软雅黑"/>
                <a:sym typeface="微软雅黑"/>
                <a:ea typeface="微软雅黑"/>
              </a:rPr>
              <a:t>v</a:t>
            </a:r>
            <a:endParaRPr lang="en-US" altLang="zh-CN" sz="1600">
              <a:solidFill>
                <a:srgbClr val="383838"/>
              </a:solidFill>
              <a:latin typeface="微软雅黑"/>
              <a:cs typeface="微软雅黑"/>
              <a:sym typeface="微软雅黑"/>
              <a:ea typeface="微软雅黑"/>
            </a:endParaRPr>
          </a:p>
        </p:txBody>
      </p:sp>
      <p:grpSp>
        <p:nvGrpSpPr>
          <p:cNvPr id="4302" name="显眼包PPT"/>
          <p:cNvGrpSpPr/>
          <p:nvPr/>
        </p:nvGrpSpPr>
        <p:grpSpPr>
          <a:xfrm>
            <a:off x="4497324" y="6352843"/>
            <a:ext cx="3276092" cy="276860"/>
            <a:chOff x="4401965" y="6145198"/>
            <a:chExt cx="3276092" cy="276860"/>
          </a:xfrm>
        </p:grpSpPr>
        <p:sp>
          <p:nvSpPr>
            <p:cNvPr id="179" name="显眼包PPT-1"/>
            <p:cNvSpPr txBox="1"/>
            <p:nvPr/>
          </p:nvSpPr>
          <p:spPr>
            <a:xfrm>
              <a:off x="5430411" y="6145198"/>
              <a:ext cx="1219200" cy="27686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b="1" spc="600">
                  <a:solidFill>
                    <a:srgbClr val="FFFFFF"/>
                  </a:solidFill>
                  <a:latin typeface="微软雅黑"/>
                  <a:ea typeface="微软雅黑"/>
                  <a:cs typeface="微软雅黑"/>
                </a:rPr>
                <a:t>预期效果</a:t>
              </a:r>
              <a:endParaRPr lang="zh-CN" altLang="en-US" b="1" spc="600" dirty="0">
                <a:solidFill>
                  <a:srgbClr val="FFFFFF"/>
                </a:solidFill>
                <a:latin typeface="微软雅黑"/>
                <a:ea typeface="微软雅黑"/>
                <a:cs typeface="微软雅黑"/>
              </a:endParaRPr>
            </a:p>
          </p:txBody>
        </p:sp>
        <p:grpSp>
          <p:nvGrpSpPr>
            <p:cNvPr id="4538" name="组合 4537"/>
            <p:cNvGrpSpPr/>
            <p:nvPr/>
          </p:nvGrpSpPr>
          <p:grpSpPr>
            <a:xfrm>
              <a:off x="6799644" y="6215247"/>
              <a:ext cx="878413" cy="136901"/>
              <a:chOff x="8866240" y="7032171"/>
              <a:chExt cx="2518892" cy="486229"/>
            </a:xfrm>
          </p:grpSpPr>
          <p:cxnSp>
            <p:nvCxnSpPr>
              <p:cNvPr id="4506" name="显眼包PPT-2"/>
              <p:cNvCxnSpPr/>
              <p:nvPr/>
            </p:nvCxnSpPr>
            <p:spPr>
              <a:xfrm>
                <a:off x="10997611"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09" name="显眼包PPT-3"/>
              <p:cNvCxnSpPr/>
              <p:nvPr/>
            </p:nvCxnSpPr>
            <p:spPr>
              <a:xfrm>
                <a:off x="11191372"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10" name="显眼包PPT-4"/>
              <p:cNvCxnSpPr/>
              <p:nvPr/>
            </p:nvCxnSpPr>
            <p:spPr>
              <a:xfrm>
                <a:off x="11385132"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11" name="显眼包PPT-5"/>
              <p:cNvCxnSpPr/>
              <p:nvPr/>
            </p:nvCxnSpPr>
            <p:spPr>
              <a:xfrm>
                <a:off x="8866240"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64" name="显眼包PPT-6"/>
              <p:cNvCxnSpPr/>
              <p:nvPr/>
            </p:nvCxnSpPr>
            <p:spPr>
              <a:xfrm>
                <a:off x="9060001"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66" name="显眼包PPT-7"/>
              <p:cNvCxnSpPr/>
              <p:nvPr/>
            </p:nvCxnSpPr>
            <p:spPr>
              <a:xfrm>
                <a:off x="9253762"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67" name="显眼包PPT-8"/>
              <p:cNvCxnSpPr/>
              <p:nvPr/>
            </p:nvCxnSpPr>
            <p:spPr>
              <a:xfrm>
                <a:off x="9447523" y="7032171"/>
                <a:ext cx="0" cy="486229"/>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30" name="显眼包PPT-9"/>
              <p:cNvCxnSpPr/>
              <p:nvPr/>
            </p:nvCxnSpPr>
            <p:spPr>
              <a:xfrm>
                <a:off x="9641284"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31" name="显眼包PPT-10"/>
              <p:cNvCxnSpPr/>
              <p:nvPr/>
            </p:nvCxnSpPr>
            <p:spPr>
              <a:xfrm>
                <a:off x="9835045"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32" name="显眼包PPT-11"/>
              <p:cNvCxnSpPr/>
              <p:nvPr/>
            </p:nvCxnSpPr>
            <p:spPr>
              <a:xfrm>
                <a:off x="10028806"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34" name="显眼包PPT-12"/>
              <p:cNvCxnSpPr/>
              <p:nvPr/>
            </p:nvCxnSpPr>
            <p:spPr>
              <a:xfrm>
                <a:off x="10222567"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35" name="显眼包PPT-13"/>
              <p:cNvCxnSpPr/>
              <p:nvPr/>
            </p:nvCxnSpPr>
            <p:spPr>
              <a:xfrm>
                <a:off x="10416328"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36" name="显眼包PPT-14"/>
              <p:cNvCxnSpPr/>
              <p:nvPr/>
            </p:nvCxnSpPr>
            <p:spPr>
              <a:xfrm>
                <a:off x="10610089"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37" name="显眼包PPT-15"/>
              <p:cNvCxnSpPr/>
              <p:nvPr/>
            </p:nvCxnSpPr>
            <p:spPr>
              <a:xfrm>
                <a:off x="10803850" y="7032171"/>
                <a:ext cx="0" cy="486229"/>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grpSp>
        <p:grpSp>
          <p:nvGrpSpPr>
            <p:cNvPr id="4539" name="组合 4538"/>
            <p:cNvGrpSpPr/>
            <p:nvPr/>
          </p:nvGrpSpPr>
          <p:grpSpPr>
            <a:xfrm>
              <a:off x="4401965" y="6215247"/>
              <a:ext cx="878413" cy="136901"/>
              <a:chOff x="8866240" y="7032171"/>
              <a:chExt cx="2518892" cy="486229"/>
            </a:xfrm>
          </p:grpSpPr>
          <p:cxnSp>
            <p:nvCxnSpPr>
              <p:cNvPr id="4540" name="显眼包PPT-16"/>
              <p:cNvCxnSpPr/>
              <p:nvPr/>
            </p:nvCxnSpPr>
            <p:spPr>
              <a:xfrm>
                <a:off x="10997611"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41" name="显眼包PPT-17"/>
              <p:cNvCxnSpPr/>
              <p:nvPr/>
            </p:nvCxnSpPr>
            <p:spPr>
              <a:xfrm>
                <a:off x="11191372"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42" name="显眼包PPT-18"/>
              <p:cNvCxnSpPr/>
              <p:nvPr/>
            </p:nvCxnSpPr>
            <p:spPr>
              <a:xfrm>
                <a:off x="11385132"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543" name="显眼包PPT-19"/>
              <p:cNvCxnSpPr/>
              <p:nvPr/>
            </p:nvCxnSpPr>
            <p:spPr>
              <a:xfrm>
                <a:off x="8866240"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88" name="显眼包PPT-20"/>
              <p:cNvCxnSpPr/>
              <p:nvPr/>
            </p:nvCxnSpPr>
            <p:spPr>
              <a:xfrm>
                <a:off x="9060001"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89" name="显眼包PPT-21"/>
              <p:cNvCxnSpPr/>
              <p:nvPr/>
            </p:nvCxnSpPr>
            <p:spPr>
              <a:xfrm>
                <a:off x="9253762"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90" name="显眼包PPT-22"/>
              <p:cNvCxnSpPr/>
              <p:nvPr/>
            </p:nvCxnSpPr>
            <p:spPr>
              <a:xfrm>
                <a:off x="9447523" y="7032171"/>
                <a:ext cx="0" cy="486229"/>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91" name="显眼包PPT-23"/>
              <p:cNvCxnSpPr/>
              <p:nvPr/>
            </p:nvCxnSpPr>
            <p:spPr>
              <a:xfrm>
                <a:off x="9641284"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92" name="显眼包PPT-24"/>
              <p:cNvCxnSpPr/>
              <p:nvPr/>
            </p:nvCxnSpPr>
            <p:spPr>
              <a:xfrm>
                <a:off x="9835045"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93" name="显眼包PPT-25"/>
              <p:cNvCxnSpPr/>
              <p:nvPr/>
            </p:nvCxnSpPr>
            <p:spPr>
              <a:xfrm>
                <a:off x="10028806"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96" name="显眼包PPT-26"/>
              <p:cNvCxnSpPr/>
              <p:nvPr/>
            </p:nvCxnSpPr>
            <p:spPr>
              <a:xfrm>
                <a:off x="10222567"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97" name="显眼包PPT-27"/>
              <p:cNvCxnSpPr/>
              <p:nvPr/>
            </p:nvCxnSpPr>
            <p:spPr>
              <a:xfrm>
                <a:off x="10416328"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298" name="显眼包PPT-28"/>
              <p:cNvCxnSpPr/>
              <p:nvPr/>
            </p:nvCxnSpPr>
            <p:spPr>
              <a:xfrm>
                <a:off x="10610089" y="7148285"/>
                <a:ext cx="0" cy="25400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4301" name="显眼包PPT-29"/>
              <p:cNvCxnSpPr/>
              <p:nvPr/>
            </p:nvCxnSpPr>
            <p:spPr>
              <a:xfrm>
                <a:off x="10803850" y="7032171"/>
                <a:ext cx="0" cy="486229"/>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grpSp>
      </p:grpSp>
      <p:sp>
        <p:nvSpPr>
          <p:cNvPr id="4307" name="显眼包PPT14"/>
          <p:cNvSpPr/>
          <p:nvPr/>
        </p:nvSpPr>
        <p:spPr>
          <a:xfrm>
            <a:off x="1704975" y="6332220"/>
            <a:ext cx="2606675" cy="318135"/>
          </a:xfrm>
          <a:prstGeom prst="rect">
            <a:avLst/>
          </a:prstGeom>
          <a:solidFill>
            <a:srgbClr val="FFFFFF">
              <a:alpha val="77000"/>
            </a:srgbClr>
          </a:solidFill>
          <a:ln w="12700">
            <a:solidFill>
              <a:srgbClr val="FFFFFF"/>
            </a:solid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r>
              <a:rPr lang="zh-CN" altLang="en-US" sz="1400">
                <a:solidFill>
                  <a:srgbClr val="383838"/>
                </a:solidFill>
                <a:effectLst/>
                <a:latin typeface="微软雅黑"/>
                <a:ea typeface="微软雅黑"/>
                <a:cs typeface="微软雅黑"/>
                <a:sym typeface="微软雅黑"/>
              </a:rPr>
              <a:t>流程周期缩短，运营成本降低</a:t>
            </a:r>
            <a:endParaRPr lang="zh-CN" altLang="en-US" sz="1400">
              <a:solidFill>
                <a:srgbClr val="383838"/>
              </a:solidFill>
              <a:effectLst/>
              <a:latin typeface="微软雅黑"/>
              <a:ea typeface="微软雅黑"/>
              <a:cs typeface="微软雅黑"/>
              <a:sym typeface="微软雅黑"/>
            </a:endParaRPr>
          </a:p>
        </p:txBody>
      </p:sp>
      <p:sp>
        <p:nvSpPr>
          <p:cNvPr id="4308" name="显眼包PPT15"/>
          <p:cNvSpPr/>
          <p:nvPr/>
        </p:nvSpPr>
        <p:spPr>
          <a:xfrm>
            <a:off x="7902575" y="6332220"/>
            <a:ext cx="2575560" cy="318135"/>
          </a:xfrm>
          <a:prstGeom prst="rect">
            <a:avLst/>
          </a:prstGeom>
          <a:solidFill>
            <a:srgbClr val="FFFFFF">
              <a:alpha val="77000"/>
            </a:srgbClr>
          </a:solidFill>
          <a:ln w="12700">
            <a:solidFill>
              <a:srgbClr val="FFFFFF"/>
            </a:solid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r>
              <a:rPr lang="zh-CN" altLang="en-US" sz="1400">
                <a:solidFill>
                  <a:srgbClr val="383838"/>
                </a:solidFill>
                <a:effectLst/>
                <a:latin typeface="微软雅黑"/>
                <a:ea typeface="微软雅黑"/>
                <a:cs typeface="微软雅黑"/>
                <a:sym typeface="微软雅黑"/>
              </a:rPr>
              <a:t>决策智能化，业务响应敏捷</a:t>
            </a:r>
            <a:endParaRPr lang="zh-CN" altLang="en-US" sz="1400">
              <a:solidFill>
                <a:srgbClr val="383838"/>
              </a:solidFill>
              <a:effectLst/>
              <a:latin typeface="微软雅黑"/>
              <a:ea typeface="微软雅黑"/>
              <a:cs typeface="微软雅黑"/>
              <a:sym typeface="微软雅黑"/>
            </a:endParaRPr>
          </a:p>
        </p:txBody>
      </p:sp>
      <p:sp>
        <p:nvSpPr>
          <p:cNvPr id="92" name="矩形 91"/>
          <p:cNvSpPr/>
          <p:nvPr/>
        </p:nvSpPr>
        <p:spPr>
          <a:xfrm>
            <a:off x="5108575" y="2835910"/>
            <a:ext cx="1951990" cy="3495040"/>
          </a:xfrm>
          <a:prstGeom prst="rect">
            <a:avLst/>
          </a:prstGeom>
          <a:gradFill>
            <a:gsLst>
              <a:gs pos="0">
                <a:srgbClr val="FFFFFF">
                  <a:alpha val="70000"/>
                </a:srgbClr>
              </a:gs>
              <a:gs pos="100000">
                <a:srgbClr val="FFFFFF">
                  <a:alpha val="0"/>
                </a:srgbClr>
              </a:gs>
            </a:gsLst>
            <a:lin ang="5400000"/>
          </a:gradFill>
          <a:ln w="25400">
            <a:gradFill>
              <a:gsLst>
                <a:gs pos="0">
                  <a:srgbClr val="3368FF">
                    <a:alpha val="50000"/>
                  </a:srgbClr>
                </a:gs>
                <a:gs pos="100000">
                  <a:srgbClr val="3368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6" name="等腰三角形 5"/>
          <p:cNvSpPr/>
          <p:nvPr/>
        </p:nvSpPr>
        <p:spPr>
          <a:xfrm>
            <a:off x="185420" y="1038225"/>
            <a:ext cx="11776710" cy="1689100"/>
          </a:xfrm>
          <a:prstGeom prst="triangle">
            <a:avLst/>
          </a:prstGeom>
          <a:noFill/>
          <a:ln w="127000">
            <a:gradFill>
              <a:gsLst>
                <a:gs pos="11000">
                  <a:srgbClr val="3368FF">
                    <a:alpha val="0"/>
                  </a:srgbClr>
                </a:gs>
                <a:gs pos="100000">
                  <a:srgbClr val="3368FF"/>
                </a:gs>
              </a:gsLst>
              <a:lin ang="16200000" scaled="1"/>
            </a:gra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74" name="Freeform 41"/>
          <p:cNvSpPr/>
          <p:nvPr/>
        </p:nvSpPr>
        <p:spPr>
          <a:xfrm>
            <a:off x="5108575" y="1200150"/>
            <a:ext cx="1952625" cy="1509395"/>
          </a:xfrm>
          <a:custGeom>
            <a:avLst/>
            <a:gdLst>
              <a:gd name="connsiteX0" fmla="*/ 842434 w 1689100"/>
              <a:gd name="connsiteY0" fmla="*/ 0 h 1214967"/>
              <a:gd name="connsiteX1" fmla="*/ 0 w 1689100"/>
              <a:gd name="connsiteY1" fmla="*/ 215900 h 1214967"/>
              <a:gd name="connsiteX2" fmla="*/ 0 w 1689100"/>
              <a:gd name="connsiteY2" fmla="*/ 1214967 h 1214967"/>
              <a:gd name="connsiteX3" fmla="*/ 1689100 w 1689100"/>
              <a:gd name="connsiteY3" fmla="*/ 1214967 h 1214967"/>
              <a:gd name="connsiteX4" fmla="*/ 1689100 w 1689100"/>
              <a:gd name="connsiteY4" fmla="*/ 203200 h 1214967"/>
              <a:gd name="connsiteX5" fmla="*/ 842434 w 1689100"/>
              <a:gd name="connsiteY5" fmla="*/ 0 h 121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59" h="2442">
                <a:moveTo>
                  <a:pt x="1576" y="0"/>
                </a:moveTo>
                <a:lnTo>
                  <a:pt x="3159" y="534"/>
                </a:lnTo>
                <a:lnTo>
                  <a:pt x="3159" y="2442"/>
                </a:lnTo>
                <a:lnTo>
                  <a:pt x="0" y="2442"/>
                </a:lnTo>
                <a:lnTo>
                  <a:pt x="0" y="567"/>
                </a:lnTo>
                <a:lnTo>
                  <a:pt x="1576" y="0"/>
                </a:lnTo>
                <a:close/>
              </a:path>
            </a:pathLst>
          </a:custGeom>
          <a:gradFill flip="none" rotWithShape="1">
            <a:gsLst>
              <a:gs pos="0">
                <a:srgbClr val="B3D4FE"/>
              </a:gs>
              <a:gs pos="100000">
                <a:srgbClr val="3368FF"/>
              </a:gs>
            </a:gsLst>
            <a:lin ang="2700000" scaled="1"/>
            <a:tileRect/>
          </a:gradFill>
          <a:ln>
            <a:noFill/>
            <a:prstDash val="solid"/>
          </a:ln>
          <a:effectLst>
            <a:innerShdw blurRad="2794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spc="300">
              <a:solidFill>
                <a:srgbClr val="383838"/>
              </a:solidFill>
              <a:latin typeface="微软雅黑"/>
              <a:ea typeface="微软雅黑"/>
              <a:cs typeface="微软雅黑"/>
              <a:sym typeface="微软雅黑"/>
            </a:endParaRPr>
          </a:p>
        </p:txBody>
      </p:sp>
      <p:sp>
        <p:nvSpPr>
          <p:cNvPr id="7" name="Freeform 42"/>
          <p:cNvSpPr/>
          <p:nvPr/>
        </p:nvSpPr>
        <p:spPr>
          <a:xfrm>
            <a:off x="2065020" y="1593215"/>
            <a:ext cx="2882265" cy="1116965"/>
          </a:xfrm>
          <a:custGeom>
            <a:avLst/>
            <a:gdLst>
              <a:gd name="connsiteX0" fmla="*/ 4663 w 4663"/>
              <a:gd name="connsiteY0" fmla="*/ 0 h 1807"/>
              <a:gd name="connsiteX1" fmla="*/ 4663 w 4663"/>
              <a:gd name="connsiteY1" fmla="*/ 1807 h 1807"/>
              <a:gd name="connsiteX2" fmla="*/ 1008 w 4663"/>
              <a:gd name="connsiteY2" fmla="*/ 1789 h 1807"/>
              <a:gd name="connsiteX3" fmla="*/ 1002 w 4663"/>
              <a:gd name="connsiteY3" fmla="*/ 1201 h 1807"/>
              <a:gd name="connsiteX4" fmla="*/ 0 w 4663"/>
              <a:gd name="connsiteY4" fmla="*/ 1223 h 1807"/>
              <a:gd name="connsiteX5" fmla="*/ 2986 w 4663"/>
              <a:gd name="connsiteY5" fmla="*/ 438 h 1807"/>
              <a:gd name="connsiteX6" fmla="*/ 3137 w 4663"/>
              <a:gd name="connsiteY6" fmla="*/ 398 h 1807"/>
              <a:gd name="connsiteX7" fmla="*/ 3349 w 4663"/>
              <a:gd name="connsiteY7" fmla="*/ 342 h 1807"/>
              <a:gd name="connsiteX8" fmla="*/ 3350 w 4663"/>
              <a:gd name="connsiteY8" fmla="*/ 341 h 1807"/>
              <a:gd name="connsiteX9" fmla="*/ 3360 w 4663"/>
              <a:gd name="connsiteY9" fmla="*/ 338 h 1807"/>
              <a:gd name="connsiteX10" fmla="*/ 3360 w 4663"/>
              <a:gd name="connsiteY10" fmla="*/ 344 h 1807"/>
              <a:gd name="connsiteX11" fmla="*/ 4289 w 4663"/>
              <a:gd name="connsiteY11" fmla="*/ 100 h 1807"/>
              <a:gd name="connsiteX12" fmla="*/ 4440 w 4663"/>
              <a:gd name="connsiteY12" fmla="*/ 60 h 1807"/>
              <a:gd name="connsiteX13" fmla="*/ 4652 w 4663"/>
              <a:gd name="connsiteY13" fmla="*/ 4 h 1807"/>
              <a:gd name="connsiteX14" fmla="*/ 4653 w 4663"/>
              <a:gd name="connsiteY14" fmla="*/ 3 h 1807"/>
              <a:gd name="connsiteX15" fmla="*/ 4663 w 4663"/>
              <a:gd name="connsiteY15" fmla="*/ 0 h 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63" h="1807">
                <a:moveTo>
                  <a:pt x="4663" y="0"/>
                </a:moveTo>
                <a:lnTo>
                  <a:pt x="4663" y="1807"/>
                </a:lnTo>
                <a:lnTo>
                  <a:pt x="1008" y="1789"/>
                </a:lnTo>
                <a:lnTo>
                  <a:pt x="1002" y="1201"/>
                </a:lnTo>
                <a:lnTo>
                  <a:pt x="0" y="1223"/>
                </a:lnTo>
                <a:lnTo>
                  <a:pt x="2986" y="438"/>
                </a:lnTo>
                <a:lnTo>
                  <a:pt x="3137" y="398"/>
                </a:lnTo>
                <a:lnTo>
                  <a:pt x="3349" y="342"/>
                </a:lnTo>
                <a:lnTo>
                  <a:pt x="3350" y="341"/>
                </a:lnTo>
                <a:lnTo>
                  <a:pt x="3360" y="338"/>
                </a:lnTo>
                <a:lnTo>
                  <a:pt x="3360" y="344"/>
                </a:lnTo>
                <a:lnTo>
                  <a:pt x="4289" y="100"/>
                </a:lnTo>
                <a:lnTo>
                  <a:pt x="4440" y="60"/>
                </a:lnTo>
                <a:lnTo>
                  <a:pt x="4652" y="4"/>
                </a:lnTo>
                <a:lnTo>
                  <a:pt x="4653" y="3"/>
                </a:lnTo>
                <a:lnTo>
                  <a:pt x="4663" y="0"/>
                </a:lnTo>
                <a:close/>
              </a:path>
            </a:pathLst>
          </a:custGeom>
          <a:gradFill flip="none" rotWithShape="1">
            <a:gsLst>
              <a:gs pos="0">
                <a:srgbClr val="3368FF"/>
              </a:gs>
              <a:gs pos="100000">
                <a:srgbClr val="0042FF"/>
              </a:gs>
            </a:gsLst>
            <a:lin ang="2700000" scaled="1"/>
            <a:tileRect/>
          </a:gradFill>
          <a:ln>
            <a:noFill/>
            <a:prstDash val="solid"/>
          </a:ln>
          <a:effectLst>
            <a:innerShdw blurRad="2794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spc="300">
              <a:solidFill>
                <a:srgbClr val="FFFFFF"/>
              </a:solidFill>
              <a:latin typeface="微软雅黑"/>
              <a:ea typeface="微软雅黑"/>
              <a:cs typeface="微软雅黑"/>
              <a:sym typeface="微软雅黑"/>
            </a:endParaRPr>
          </a:p>
        </p:txBody>
      </p:sp>
      <p:sp>
        <p:nvSpPr>
          <p:cNvPr id="71" name="椭圆 70"/>
          <p:cNvSpPr/>
          <p:nvPr/>
        </p:nvSpPr>
        <p:spPr>
          <a:xfrm>
            <a:off x="4838065" y="1922145"/>
            <a:ext cx="395605" cy="395605"/>
          </a:xfrm>
          <a:prstGeom prst="ellipse">
            <a:avLst/>
          </a:prstGeom>
          <a:solidFill>
            <a:srgbClr val="E6E6E6"/>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2500">
                <a:cs typeface="微软雅黑"/>
                <a:latin typeface="微软雅黑"/>
                <a:ea typeface="微软雅黑"/>
              </a:rPr>
              <a:t>+</a:t>
            </a:r>
            <a:endParaRPr lang="en-US" altLang="zh-CN" sz="2500">
              <a:cs typeface="微软雅黑"/>
              <a:latin typeface="微软雅黑"/>
              <a:ea typeface="微软雅黑"/>
            </a:endParaRPr>
          </a:p>
        </p:txBody>
      </p:sp>
      <p:sp>
        <p:nvSpPr>
          <p:cNvPr id="80" name="Freeform 42"/>
          <p:cNvSpPr/>
          <p:nvPr/>
        </p:nvSpPr>
        <p:spPr>
          <a:xfrm flipH="1">
            <a:off x="7164705" y="1569085"/>
            <a:ext cx="2882265" cy="1116965"/>
          </a:xfrm>
          <a:custGeom>
            <a:avLst/>
            <a:gdLst>
              <a:gd name="connsiteX0" fmla="*/ 4663 w 4663"/>
              <a:gd name="connsiteY0" fmla="*/ 0 h 1807"/>
              <a:gd name="connsiteX1" fmla="*/ 4663 w 4663"/>
              <a:gd name="connsiteY1" fmla="*/ 1807 h 1807"/>
              <a:gd name="connsiteX2" fmla="*/ 1008 w 4663"/>
              <a:gd name="connsiteY2" fmla="*/ 1789 h 1807"/>
              <a:gd name="connsiteX3" fmla="*/ 1002 w 4663"/>
              <a:gd name="connsiteY3" fmla="*/ 1201 h 1807"/>
              <a:gd name="connsiteX4" fmla="*/ 0 w 4663"/>
              <a:gd name="connsiteY4" fmla="*/ 1223 h 1807"/>
              <a:gd name="connsiteX5" fmla="*/ 2986 w 4663"/>
              <a:gd name="connsiteY5" fmla="*/ 438 h 1807"/>
              <a:gd name="connsiteX6" fmla="*/ 3137 w 4663"/>
              <a:gd name="connsiteY6" fmla="*/ 398 h 1807"/>
              <a:gd name="connsiteX7" fmla="*/ 3349 w 4663"/>
              <a:gd name="connsiteY7" fmla="*/ 342 h 1807"/>
              <a:gd name="connsiteX8" fmla="*/ 3350 w 4663"/>
              <a:gd name="connsiteY8" fmla="*/ 341 h 1807"/>
              <a:gd name="connsiteX9" fmla="*/ 3360 w 4663"/>
              <a:gd name="connsiteY9" fmla="*/ 338 h 1807"/>
              <a:gd name="connsiteX10" fmla="*/ 3360 w 4663"/>
              <a:gd name="connsiteY10" fmla="*/ 344 h 1807"/>
              <a:gd name="connsiteX11" fmla="*/ 4289 w 4663"/>
              <a:gd name="connsiteY11" fmla="*/ 100 h 1807"/>
              <a:gd name="connsiteX12" fmla="*/ 4440 w 4663"/>
              <a:gd name="connsiteY12" fmla="*/ 60 h 1807"/>
              <a:gd name="connsiteX13" fmla="*/ 4652 w 4663"/>
              <a:gd name="connsiteY13" fmla="*/ 4 h 1807"/>
              <a:gd name="connsiteX14" fmla="*/ 4653 w 4663"/>
              <a:gd name="connsiteY14" fmla="*/ 3 h 1807"/>
              <a:gd name="connsiteX15" fmla="*/ 4663 w 4663"/>
              <a:gd name="connsiteY15" fmla="*/ 0 h 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63" h="1807">
                <a:moveTo>
                  <a:pt x="4663" y="0"/>
                </a:moveTo>
                <a:lnTo>
                  <a:pt x="4663" y="1807"/>
                </a:lnTo>
                <a:lnTo>
                  <a:pt x="1008" y="1789"/>
                </a:lnTo>
                <a:lnTo>
                  <a:pt x="1002" y="1201"/>
                </a:lnTo>
                <a:lnTo>
                  <a:pt x="0" y="1223"/>
                </a:lnTo>
                <a:lnTo>
                  <a:pt x="2986" y="438"/>
                </a:lnTo>
                <a:lnTo>
                  <a:pt x="3137" y="398"/>
                </a:lnTo>
                <a:lnTo>
                  <a:pt x="3349" y="342"/>
                </a:lnTo>
                <a:lnTo>
                  <a:pt x="3350" y="341"/>
                </a:lnTo>
                <a:lnTo>
                  <a:pt x="3360" y="338"/>
                </a:lnTo>
                <a:lnTo>
                  <a:pt x="3360" y="344"/>
                </a:lnTo>
                <a:lnTo>
                  <a:pt x="4289" y="100"/>
                </a:lnTo>
                <a:lnTo>
                  <a:pt x="4440" y="60"/>
                </a:lnTo>
                <a:lnTo>
                  <a:pt x="4652" y="4"/>
                </a:lnTo>
                <a:lnTo>
                  <a:pt x="4653" y="3"/>
                </a:lnTo>
                <a:lnTo>
                  <a:pt x="4663" y="0"/>
                </a:lnTo>
                <a:close/>
              </a:path>
            </a:pathLst>
          </a:custGeom>
          <a:gradFill flip="none" rotWithShape="1">
            <a:gsLst>
              <a:gs pos="0">
                <a:srgbClr val="3368FF"/>
              </a:gs>
              <a:gs pos="100000">
                <a:srgbClr val="0042FF"/>
              </a:gs>
            </a:gsLst>
            <a:lin ang="2700000" scaled="1"/>
            <a:tileRect/>
          </a:gradFill>
          <a:ln>
            <a:noFill/>
            <a:prstDash val="solid"/>
          </a:ln>
          <a:effectLst>
            <a:innerShdw blurRad="2794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spc="300">
              <a:solidFill>
                <a:srgbClr val="FFFFFF"/>
              </a:solidFill>
              <a:latin typeface="微软雅黑"/>
              <a:ea typeface="微软雅黑"/>
              <a:cs typeface="微软雅黑"/>
              <a:sym typeface="微软雅黑"/>
            </a:endParaRPr>
          </a:p>
        </p:txBody>
      </p:sp>
      <p:sp>
        <p:nvSpPr>
          <p:cNvPr id="8" name="椭圆 7"/>
          <p:cNvSpPr/>
          <p:nvPr/>
        </p:nvSpPr>
        <p:spPr>
          <a:xfrm>
            <a:off x="6966585" y="1922145"/>
            <a:ext cx="395605" cy="395605"/>
          </a:xfrm>
          <a:prstGeom prst="ellipse">
            <a:avLst/>
          </a:prstGeom>
          <a:solidFill>
            <a:srgbClr val="E6E6E6"/>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2500">
                <a:cs typeface="微软雅黑"/>
                <a:latin typeface="微软雅黑"/>
                <a:ea typeface="微软雅黑"/>
              </a:rPr>
              <a:t>+</a:t>
            </a:r>
            <a:endParaRPr lang="en-US" altLang="zh-CN" sz="2500">
              <a:cs typeface="微软雅黑"/>
              <a:latin typeface="微软雅黑"/>
              <a:ea typeface="微软雅黑"/>
            </a:endParaRPr>
          </a:p>
        </p:txBody>
      </p:sp>
      <p:sp>
        <p:nvSpPr>
          <p:cNvPr id="9" name="梯形 8"/>
          <p:cNvSpPr/>
          <p:nvPr/>
        </p:nvSpPr>
        <p:spPr>
          <a:xfrm>
            <a:off x="1465580" y="2708910"/>
            <a:ext cx="3423920" cy="520065"/>
          </a:xfrm>
          <a:prstGeom prst="trapezoid">
            <a:avLst>
              <a:gd name="adj" fmla="val 252035"/>
            </a:avLst>
          </a:prstGeom>
          <a:gradFill>
            <a:gsLst>
              <a:gs pos="0">
                <a:srgbClr val="E6E6E6">
                  <a:alpha val="0"/>
                </a:srgbClr>
              </a:gs>
              <a:gs pos="100000">
                <a:srgbClr val="668E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2" name="文本框 11"/>
          <p:cNvSpPr txBox="1"/>
          <p:nvPr/>
        </p:nvSpPr>
        <p:spPr>
          <a:xfrm>
            <a:off x="5887403" y="2976245"/>
            <a:ext cx="958215" cy="3136265"/>
          </a:xfrm>
          <a:prstGeom prst="rect">
            <a:avLst/>
          </a:prstGeom>
          <a:noFill/>
        </p:spPr>
        <p:txBody>
          <a:bodyPr vert="mongolianVert" wrap="square" rtlCol="0" anchor="b" anchorCtr="0">
            <a:noAutofit/>
          </a:bodyPr>
          <a:p>
            <a:pPr indent="0" algn="ctr" fontAlgn="auto">
              <a:lnSpc>
                <a:spcPct val="150000"/>
              </a:lnSpc>
              <a:defRPr>
                <a:latin typeface="微软雅黑"/>
                <a:ea typeface="微软雅黑"/>
                <a:cs typeface="微软雅黑"/>
              </a:defRPr>
            </a:pPr>
            <a:r>
              <a:rPr lang="zh-CN" altLang="en-US" sz="2500" b="1">
                <a:solidFill>
                  <a:srgbClr val="0042FF"/>
                </a:solidFill>
                <a:latin typeface="微软雅黑"/>
                <a:ea typeface="微软雅黑"/>
                <a:cs typeface="微软雅黑"/>
              </a:rPr>
              <a:t>构建</a:t>
            </a:r>
            <a:r>
              <a:rPr lang="en-US" altLang="zh-CN" sz="2500" b="1">
                <a:solidFill>
                  <a:srgbClr val="0042FF"/>
                </a:solidFill>
                <a:latin typeface="微软雅黑"/>
                <a:ea typeface="微软雅黑"/>
                <a:cs typeface="微软雅黑"/>
              </a:rPr>
              <a:t>"</a:t>
            </a:r>
            <a:r>
              <a:rPr lang="zh-CN" altLang="en-US" sz="2500" b="1">
                <a:solidFill>
                  <a:srgbClr val="0042FF"/>
                </a:solidFill>
                <a:latin typeface="微软雅黑"/>
                <a:ea typeface="微软雅黑"/>
                <a:cs typeface="微软雅黑"/>
              </a:rPr>
              <a:t>一体两翼四柱</a:t>
            </a:r>
            <a:r>
              <a:rPr lang="en-US" altLang="zh-CN" sz="2500" b="1">
                <a:solidFill>
                  <a:srgbClr val="0042FF"/>
                </a:solidFill>
                <a:latin typeface="微软雅黑"/>
                <a:ea typeface="微软雅黑"/>
                <a:cs typeface="微软雅黑"/>
              </a:rPr>
              <a:t>"</a:t>
            </a:r>
            <a:r>
              <a:rPr lang="zh-CN" altLang="en-US" sz="2500" b="1">
                <a:solidFill>
                  <a:srgbClr val="0042FF"/>
                </a:solidFill>
                <a:latin typeface="微软雅黑"/>
                <a:ea typeface="微软雅黑"/>
                <a:cs typeface="微软雅黑"/>
              </a:rPr>
              <a:t>的数字化转型战略</a:t>
            </a:r>
            <a:endParaRPr lang="zh-CN" altLang="en-US" sz="2500" b="1">
              <a:solidFill>
                <a:srgbClr val="0042FF"/>
              </a:solidFill>
              <a:latin typeface="微软雅黑"/>
              <a:ea typeface="微软雅黑"/>
              <a:cs typeface="微软雅黑"/>
            </a:endParaRPr>
          </a:p>
        </p:txBody>
      </p:sp>
      <p:sp>
        <p:nvSpPr>
          <p:cNvPr id="154" name="Rectangle 11"/>
          <p:cNvSpPr>
            <a:spLocks noChangeArrowheads="1"/>
          </p:cNvSpPr>
          <p:nvPr/>
        </p:nvSpPr>
        <p:spPr bwMode="gray">
          <a:xfrm flipH="1">
            <a:off x="5389245" y="1931035"/>
            <a:ext cx="1341120" cy="292100"/>
          </a:xfrm>
          <a:prstGeom prst="rect">
            <a:avLst/>
          </a:prstGeom>
          <a:noFill/>
          <a:ln w="9525">
            <a:noFill/>
            <a:miter lim="800000"/>
          </a:ln>
        </p:spPr>
        <p:txBody>
          <a:bodyPr wrap="square" lIns="0" tIns="0" rIns="0" bIns="0" anchor="ctr" anchorCtr="0">
            <a:spAutoFit/>
          </a:bodyPr>
          <a:lstStyle/>
          <a:p>
            <a:pPr marL="0" marR="0" lvl="0" indent="0" algn="ctr" defTabSz="786765" rtl="0" eaLnBrk="1" fontAlgn="auto" latinLnBrk="0" hangingPunct="1">
              <a:lnSpc>
                <a:spcPct val="95000"/>
              </a:lnSpc>
              <a:spcBef>
                <a:spcPct val="80000"/>
              </a:spcBef>
              <a:spcAft>
                <a:spcPts val="0"/>
              </a:spcAft>
              <a:buClr>
                <a:srgbClr val="383838"/>
              </a:buClr>
              <a:buSzTx/>
              <a:buFontTx/>
              <a:buNone/>
              <a:defRPr>
                <a:latin typeface="微软雅黑"/>
                <a:ea typeface="微软雅黑"/>
                <a:cs typeface="微软雅黑"/>
              </a:defRPr>
            </a:pPr>
            <a:r>
              <a:rPr kumimoji="0" lang="en-US" altLang="zh-CN" sz="2000" b="1" i="0" u="none" strike="noStrike" kern="0" cap="none" spc="0" normalizeH="0" baseline="0" noProof="0" dirty="0">
                <a:ln>
                  <a:noFill/>
                </a:ln>
                <a:solidFill>
                  <a:prstClr val="white"/>
                </a:solidFill>
                <a:effectLst/>
                <a:uLnTx/>
                <a:uFillTx/>
                <a:latin typeface="微软雅黑"/>
                <a:ea typeface="微软雅黑"/>
                <a:cs typeface="微软雅黑"/>
              </a:rPr>
              <a:t>“</a:t>
            </a:r>
            <a:r>
              <a:rPr kumimoji="0" lang="zh-CN" altLang="en-US" sz="2000" b="1" i="0" u="none" strike="noStrike" kern="0" cap="none" spc="0" normalizeH="0" baseline="0" noProof="0" dirty="0">
                <a:ln>
                  <a:noFill/>
                </a:ln>
                <a:solidFill>
                  <a:prstClr val="white"/>
                </a:solidFill>
                <a:effectLst/>
                <a:uLnTx/>
                <a:uFillTx/>
                <a:latin typeface="微软雅黑"/>
                <a:ea typeface="微软雅黑"/>
                <a:cs typeface="微软雅黑"/>
              </a:rPr>
              <a:t>一体</a:t>
            </a:r>
            <a:r>
              <a:rPr kumimoji="0" lang="en-US" altLang="zh-CN" sz="2000" b="1" i="0" u="none" strike="noStrike" kern="0" cap="none" spc="0" normalizeH="0" baseline="0" noProof="0" dirty="0">
                <a:ln>
                  <a:noFill/>
                </a:ln>
                <a:solidFill>
                  <a:prstClr val="white"/>
                </a:solidFill>
                <a:effectLst/>
                <a:uLnTx/>
                <a:uFillTx/>
                <a:latin typeface="微软雅黑"/>
                <a:ea typeface="微软雅黑"/>
                <a:cs typeface="微软雅黑"/>
              </a:rPr>
              <a:t>”</a:t>
            </a:r>
            <a:endParaRPr kumimoji="0" lang="en-US" altLang="zh-CN" sz="2000" b="1" i="0" u="none" strike="noStrike" kern="0" cap="none" spc="0" normalizeH="0" baseline="0" noProof="0" dirty="0">
              <a:ln>
                <a:noFill/>
              </a:ln>
              <a:solidFill>
                <a:prstClr val="white"/>
              </a:solidFill>
              <a:effectLst/>
              <a:uLnTx/>
              <a:uFillTx/>
              <a:latin typeface="微软雅黑"/>
              <a:ea typeface="微软雅黑"/>
              <a:cs typeface="微软雅黑"/>
            </a:endParaRPr>
          </a:p>
        </p:txBody>
      </p:sp>
      <p:sp>
        <p:nvSpPr>
          <p:cNvPr id="165" name="Rectangle 64"/>
          <p:cNvSpPr/>
          <p:nvPr/>
        </p:nvSpPr>
        <p:spPr>
          <a:xfrm>
            <a:off x="5268595" y="2331085"/>
            <a:ext cx="1632585" cy="215265"/>
          </a:xfrm>
          <a:prstGeom prst="rect">
            <a:avLst/>
          </a:prstGeom>
        </p:spPr>
        <p:txBody>
          <a:bodyPr wrap="square" lIns="0" tIns="0" rIns="0" bIns="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运营效能提升工程</a:t>
            </a:r>
            <a:endParaRPr kumimoji="0" lang="zh-CN" altLang="en-US" sz="14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70" name="Rectangle 64"/>
          <p:cNvSpPr/>
          <p:nvPr/>
        </p:nvSpPr>
        <p:spPr>
          <a:xfrm>
            <a:off x="2757805" y="2331085"/>
            <a:ext cx="2131060" cy="215265"/>
          </a:xfrm>
          <a:prstGeom prst="rect">
            <a:avLst/>
          </a:prstGeom>
        </p:spPr>
        <p:txBody>
          <a:bodyPr wrap="square" lIns="0" tIns="0" rIns="0" bIns="0">
            <a:spAutoFit/>
          </a:bodyPr>
          <a:lstStyle/>
          <a:p>
            <a:pPr algn="ctr">
              <a:defRPr>
                <a:solidFill>
                  <a:srgbClr val="FFFFFF"/>
                </a:solidFill>
                <a:latin typeface="微软雅黑"/>
                <a:ea typeface="微软雅黑"/>
                <a:cs typeface="微软雅黑"/>
              </a:defRPr>
            </a:pPr>
            <a:r>
              <a:rPr kumimoji="0" lang="zh-CN" altLang="en-US" sz="1400" i="0" u="none" strike="noStrike" kern="0" cap="none" spc="0" normalizeH="0" baseline="0" noProof="0" dirty="0">
                <a:ln>
                  <a:noFill/>
                </a:ln>
                <a:solidFill>
                  <a:srgbClr val="FFFFFF"/>
                </a:solidFill>
                <a:effectLst/>
                <a:uLnTx/>
                <a:uFillTx/>
                <a:latin typeface="微软雅黑"/>
                <a:ea typeface="微软雅黑"/>
                <a:cs typeface="微软雅黑"/>
                <a:sym typeface="微软雅黑"/>
              </a:rPr>
              <a:t>高效流程优化（引擎工程）</a:t>
            </a:r>
            <a:endParaRPr kumimoji="0" lang="zh-CN" altLang="en-US" sz="140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1" name="Rectangle 11"/>
          <p:cNvSpPr>
            <a:spLocks noChangeArrowheads="1"/>
          </p:cNvSpPr>
          <p:nvPr/>
        </p:nvSpPr>
        <p:spPr bwMode="gray">
          <a:xfrm flipH="1">
            <a:off x="3590925" y="2038350"/>
            <a:ext cx="1122680" cy="233045"/>
          </a:xfrm>
          <a:prstGeom prst="rect">
            <a:avLst/>
          </a:prstGeom>
          <a:noFill/>
          <a:ln w="9525">
            <a:noFill/>
            <a:miter lim="800000"/>
          </a:ln>
        </p:spPr>
        <p:txBody>
          <a:bodyPr wrap="square" lIns="0" tIns="0" rIns="0" bIns="0" anchor="ctr" anchorCtr="0">
            <a:spAutoFit/>
          </a:bodyPr>
          <a:lstStyle/>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r>
              <a:rPr kumimoji="0" lang="en-US" altLang="zh-CN" sz="1600" b="1" i="0" u="none" strike="noStrike" kern="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0" cap="none" spc="0" normalizeH="0" baseline="0" noProof="0" dirty="0">
                <a:ln>
                  <a:noFill/>
                </a:ln>
                <a:solidFill>
                  <a:srgbClr val="FFFFFF"/>
                </a:solidFill>
                <a:effectLst/>
                <a:uLnTx/>
                <a:uFillTx/>
                <a:latin typeface="微软雅黑"/>
                <a:ea typeface="微软雅黑"/>
                <a:cs typeface="微软雅黑"/>
              </a:rPr>
              <a:t>左翼</a:t>
            </a:r>
            <a:r>
              <a:rPr kumimoji="0" lang="en-US" altLang="zh-CN" sz="1600" b="1" i="0" u="none" strike="noStrike" kern="0" cap="none" spc="0" normalizeH="0" baseline="0" noProof="0" dirty="0">
                <a:ln>
                  <a:noFill/>
                </a:ln>
                <a:solidFill>
                  <a:srgbClr val="FFFFFF"/>
                </a:solidFill>
                <a:effectLst/>
                <a:uLnTx/>
                <a:uFillTx/>
                <a:latin typeface="微软雅黑"/>
                <a:ea typeface="微软雅黑"/>
                <a:cs typeface="微软雅黑"/>
              </a:rPr>
              <a:t>”</a:t>
            </a:r>
            <a:endParaRPr kumimoji="0" lang="en-US" altLang="zh-CN" sz="1600" b="1"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72" name="Rectangle 11"/>
          <p:cNvSpPr>
            <a:spLocks noChangeArrowheads="1"/>
          </p:cNvSpPr>
          <p:nvPr/>
        </p:nvSpPr>
        <p:spPr bwMode="gray">
          <a:xfrm flipH="1">
            <a:off x="7487920" y="2038350"/>
            <a:ext cx="1341120" cy="233045"/>
          </a:xfrm>
          <a:prstGeom prst="rect">
            <a:avLst/>
          </a:prstGeom>
          <a:noFill/>
          <a:ln w="9525">
            <a:noFill/>
            <a:miter lim="800000"/>
          </a:ln>
        </p:spPr>
        <p:txBody>
          <a:bodyPr wrap="square" lIns="0" tIns="0" rIns="0" bIns="0" anchor="ctr" anchorCtr="0">
            <a:spAutoFit/>
          </a:bodyPr>
          <a:lstStyle/>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r>
              <a:rPr kumimoji="0" lang="en-US" altLang="zh-CN" sz="1600" b="1" i="0" u="none" strike="noStrike" kern="0" cap="none" spc="0" normalizeH="0" baseline="0" noProof="0" dirty="0">
                <a:ln>
                  <a:noFill/>
                </a:ln>
                <a:solidFill>
                  <a:srgbClr val="FFFFFF"/>
                </a:solidFill>
                <a:effectLst/>
                <a:uLnTx/>
                <a:uFillTx/>
                <a:latin typeface="微软雅黑"/>
                <a:ea typeface="微软雅黑"/>
                <a:cs typeface="微软雅黑"/>
              </a:rPr>
              <a:t>“</a:t>
            </a:r>
            <a:r>
              <a:rPr kumimoji="0" lang="zh-CN" altLang="en-US" sz="1600" b="1" i="0" u="none" strike="noStrike" kern="0" cap="none" spc="0" normalizeH="0" baseline="0" noProof="0" dirty="0">
                <a:ln>
                  <a:noFill/>
                </a:ln>
                <a:solidFill>
                  <a:srgbClr val="FFFFFF"/>
                </a:solidFill>
                <a:effectLst/>
                <a:uLnTx/>
                <a:uFillTx/>
                <a:latin typeface="微软雅黑"/>
                <a:ea typeface="微软雅黑"/>
                <a:cs typeface="微软雅黑"/>
              </a:rPr>
              <a:t>右翼</a:t>
            </a:r>
            <a:r>
              <a:rPr kumimoji="0" lang="en-US" altLang="zh-CN" sz="1600" b="1" i="0" u="none" strike="noStrike" kern="0" cap="none" spc="0" normalizeH="0" baseline="0" noProof="0" dirty="0">
                <a:ln>
                  <a:noFill/>
                </a:ln>
                <a:solidFill>
                  <a:srgbClr val="FFFFFF"/>
                </a:solidFill>
                <a:effectLst/>
                <a:uLnTx/>
                <a:uFillTx/>
                <a:latin typeface="微软雅黑"/>
                <a:ea typeface="微软雅黑"/>
                <a:cs typeface="微软雅黑"/>
              </a:rPr>
              <a:t>”</a:t>
            </a:r>
            <a:endParaRPr kumimoji="0" lang="en-US" altLang="zh-CN" sz="1600" b="1"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73" name="Rectangle 64"/>
          <p:cNvSpPr/>
          <p:nvPr/>
        </p:nvSpPr>
        <p:spPr>
          <a:xfrm>
            <a:off x="7321550" y="2331085"/>
            <a:ext cx="2066925" cy="215265"/>
          </a:xfrm>
          <a:prstGeom prst="rect">
            <a:avLst/>
          </a:prstGeom>
        </p:spPr>
        <p:txBody>
          <a:bodyPr wrap="square" lIns="0" tIns="0" rIns="0" bIns="0">
            <a:spAutoFit/>
          </a:bodyPr>
          <a:lstStyle/>
          <a:p>
            <a:pPr algn="ctr">
              <a:defRPr>
                <a:solidFill>
                  <a:srgbClr val="FFFFFF"/>
                </a:solidFill>
                <a:latin typeface="微软雅黑"/>
                <a:ea typeface="微软雅黑"/>
                <a:cs typeface="微软雅黑"/>
              </a:defRPr>
            </a:pPr>
            <a:r>
              <a:rPr kumimoji="0" lang="zh-CN" altLang="en-US" sz="1400" i="0" u="none" strike="noStrike" kern="0" cap="none" spc="0" normalizeH="0" baseline="0" noProof="0" dirty="0">
                <a:ln>
                  <a:noFill/>
                </a:ln>
                <a:solidFill>
                  <a:srgbClr val="FFFFFF"/>
                </a:solidFill>
                <a:effectLst/>
                <a:uLnTx/>
                <a:uFillTx/>
                <a:latin typeface="微软雅黑"/>
                <a:ea typeface="微软雅黑"/>
                <a:cs typeface="微软雅黑"/>
                <a:sym typeface="微软雅黑"/>
              </a:rPr>
              <a:t>创新技术赋能（加速工程）</a:t>
            </a:r>
            <a:endParaRPr kumimoji="0" lang="zh-CN" altLang="en-US" sz="140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pic>
        <p:nvPicPr>
          <p:cNvPr id="174" name="图片 173" descr="服务"/>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5911215" y="1431925"/>
            <a:ext cx="347345" cy="347345"/>
          </a:xfrm>
          <a:prstGeom prst="rect">
            <a:avLst/>
          </a:prstGeom>
        </p:spPr>
      </p:pic>
      <p:sp>
        <p:nvSpPr>
          <p:cNvPr id="35" name="Freeform: Shape 88"/>
          <p:cNvSpPr/>
          <p:nvPr/>
        </p:nvSpPr>
        <p:spPr>
          <a:xfrm>
            <a:off x="1464945" y="3338195"/>
            <a:ext cx="1506855" cy="199390"/>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7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81" name="Freeform: Shape 89"/>
          <p:cNvSpPr/>
          <p:nvPr/>
        </p:nvSpPr>
        <p:spPr>
          <a:xfrm>
            <a:off x="1464945" y="3020695"/>
            <a:ext cx="1506855" cy="316865"/>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gradFill>
            <a:gsLst>
              <a:gs pos="0">
                <a:srgbClr val="3368FF"/>
              </a:gs>
              <a:gs pos="100000">
                <a:srgbClr val="668EFF"/>
              </a:gs>
            </a:gsLst>
            <a:lin ang="16200000" scaled="0"/>
          </a:gra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82" name="Freeform: Shape 90"/>
          <p:cNvSpPr/>
          <p:nvPr/>
        </p:nvSpPr>
        <p:spPr>
          <a:xfrm>
            <a:off x="1459230" y="5747385"/>
            <a:ext cx="1506855" cy="200660"/>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70000"/>
            </a:srgbClr>
          </a:solidFill>
          <a:ln cap="flat">
            <a:noFill/>
            <a:prstDash val="solid"/>
          </a:ln>
        </p:spPr>
        <p:txBody>
          <a:bodyPr vert="horz" wrap="none" lIns="0" tIns="0" rIns="0" bIns="0" anchor="ctr" anchorCtr="1" compatLnSpc="0">
            <a:noAutofit/>
          </a:bodyPr>
          <a:lstStyle/>
          <a:p>
            <a:pPr lvl="0" algn="l" hangingPunct="0">
              <a:buClrTx/>
              <a:buSzTx/>
              <a:buFontTx/>
              <a:defRPr>
                <a:latin typeface="微软雅黑"/>
                <a:ea typeface="微软雅黑"/>
                <a:cs typeface="微软雅黑"/>
              </a:defRPr>
            </a:pPr>
            <a:endParaRPr lang="en-US" sz="1000" dirty="0">
              <a:latin typeface="微软雅黑"/>
              <a:ea typeface="微软雅黑"/>
              <a:cs typeface="微软雅黑"/>
              <a:sym typeface="微软雅黑"/>
            </a:endParaRPr>
          </a:p>
        </p:txBody>
      </p:sp>
      <p:sp>
        <p:nvSpPr>
          <p:cNvPr id="83" name="Freeform: Shape 91"/>
          <p:cNvSpPr/>
          <p:nvPr/>
        </p:nvSpPr>
        <p:spPr>
          <a:xfrm>
            <a:off x="1459230" y="5948045"/>
            <a:ext cx="1506855" cy="151130"/>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noAutofit/>
          </a:bodyPr>
          <a:lstStyle/>
          <a:p>
            <a:pPr lvl="0" algn="l" hangingPunct="0">
              <a:buClrTx/>
              <a:buSzTx/>
              <a:buFontTx/>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sym typeface="微软雅黑"/>
            </a:endParaRPr>
          </a:p>
        </p:txBody>
      </p:sp>
      <p:sp>
        <p:nvSpPr>
          <p:cNvPr id="37" name="矩形 36"/>
          <p:cNvSpPr/>
          <p:nvPr/>
        </p:nvSpPr>
        <p:spPr>
          <a:xfrm>
            <a:off x="1675765" y="3566160"/>
            <a:ext cx="1081405" cy="2196465"/>
          </a:xfrm>
          <a:prstGeom prst="rect">
            <a:avLst/>
          </a:prstGeom>
          <a:pattFill prst="wdUp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38" name="Google Shape;723;p30"/>
          <p:cNvSpPr txBox="1"/>
          <p:nvPr/>
        </p:nvSpPr>
        <p:spPr>
          <a:xfrm>
            <a:off x="1558925" y="3089910"/>
            <a:ext cx="1308735" cy="191770"/>
          </a:xfrm>
          <a:prstGeom prst="rect">
            <a:avLst/>
          </a:prstGeom>
          <a:noFill/>
          <a:ln>
            <a:noFill/>
          </a:ln>
        </p:spPr>
        <p:txBody>
          <a:bodyPr spcFirstLastPara="1" wrap="square" lIns="0" tIns="0" rIns="0" bIns="0" anchor="t" anchorCtr="0">
            <a:spAutoFit/>
          </a:bodyPr>
          <a:lstStyle/>
          <a:p>
            <a:pPr algn="ctr">
              <a:defRPr>
                <a:solidFill>
                  <a:srgbClr val="FFFFFF"/>
                </a:solidFill>
                <a:latin typeface="微软雅黑"/>
                <a:ea typeface="微软雅黑"/>
                <a:cs typeface="微软雅黑"/>
              </a:defRPr>
            </a:pPr>
            <a:r>
              <a:rPr lang="en-US" altLang="zh-CN" sz="1000" b="1">
                <a:solidFill>
                  <a:srgbClr val="FFFFFF"/>
                </a:solidFill>
                <a:latin typeface="微软雅黑"/>
                <a:ea typeface="微软雅黑"/>
                <a:cs typeface="微软雅黑"/>
                <a:sym typeface="微软雅黑"/>
              </a:rPr>
              <a:t>”</a:t>
            </a:r>
            <a:r>
              <a:rPr lang="zh-CN" altLang="en-US" sz="1000" b="1">
                <a:solidFill>
                  <a:srgbClr val="FFFFFF"/>
                </a:solidFill>
                <a:latin typeface="微软雅黑"/>
                <a:ea typeface="微软雅黑"/>
                <a:cs typeface="微软雅黑"/>
                <a:sym typeface="微软雅黑"/>
              </a:rPr>
              <a:t>第一支柱：筑基</a:t>
            </a:r>
            <a:r>
              <a:rPr lang="en-US" altLang="zh-CN" sz="1000" b="1">
                <a:solidFill>
                  <a:srgbClr val="FFFFFF"/>
                </a:solidFill>
                <a:latin typeface="微软雅黑"/>
                <a:ea typeface="微软雅黑"/>
                <a:cs typeface="微软雅黑"/>
                <a:sym typeface="微软雅黑"/>
              </a:rPr>
              <a:t>“</a:t>
            </a:r>
            <a:endParaRPr lang="en-US" altLang="zh-CN" sz="1000" b="1" dirty="0">
              <a:solidFill>
                <a:srgbClr val="FFFFFF"/>
              </a:solidFill>
              <a:latin typeface="微软雅黑"/>
              <a:ea typeface="微软雅黑"/>
              <a:cs typeface="微软雅黑"/>
              <a:sym typeface="微软雅黑"/>
            </a:endParaRPr>
          </a:p>
        </p:txBody>
      </p:sp>
      <p:sp>
        <p:nvSpPr>
          <p:cNvPr id="207" name="Google Shape;723;p30"/>
          <p:cNvSpPr txBox="1"/>
          <p:nvPr/>
        </p:nvSpPr>
        <p:spPr>
          <a:xfrm>
            <a:off x="1997075" y="5724525"/>
            <a:ext cx="431165" cy="222250"/>
          </a:xfrm>
          <a:prstGeom prst="rect">
            <a:avLst/>
          </a:prstGeom>
          <a:noFill/>
          <a:ln>
            <a:noFill/>
          </a:ln>
        </p:spPr>
        <p:txBody>
          <a:bodyPr spcFirstLastPara="1" wrap="square" lIns="19050" tIns="19050" rIns="19050" bIns="19050" anchor="t" anchorCtr="0">
            <a:spAutoFit/>
          </a:bodyPr>
          <a:lstStyle/>
          <a:p>
            <a:pPr algn="ctr">
              <a:defRPr>
                <a:latin typeface="微软雅黑"/>
                <a:ea typeface="微软雅黑"/>
                <a:cs typeface="微软雅黑"/>
              </a:defRPr>
            </a:pPr>
            <a:r>
              <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①</a:t>
            </a:r>
            <a:endPar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181" name="矩形 180"/>
          <p:cNvSpPr/>
          <p:nvPr/>
        </p:nvSpPr>
        <p:spPr>
          <a:xfrm>
            <a:off x="1675765" y="3559175"/>
            <a:ext cx="1081405" cy="2196465"/>
          </a:xfrm>
          <a:prstGeom prst="rect">
            <a:avLst/>
          </a:prstGeom>
          <a:solidFill>
            <a:srgbClr val="FFFFFF">
              <a:alpha val="40000"/>
            </a:srgbClr>
          </a:solid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182" name="五边形 181"/>
          <p:cNvSpPr/>
          <p:nvPr/>
        </p:nvSpPr>
        <p:spPr>
          <a:xfrm rot="5400000">
            <a:off x="1229360" y="4261485"/>
            <a:ext cx="2011680" cy="829310"/>
          </a:xfrm>
          <a:prstGeom prst="homePlate">
            <a:avLst>
              <a:gd name="adj" fmla="val 27119"/>
            </a:avLst>
          </a:prstGeom>
          <a:solidFill>
            <a:srgbClr val="FFFFFF"/>
          </a:solidFill>
          <a:ln w="12700">
            <a:gradFill>
              <a:gsLst>
                <a:gs pos="0">
                  <a:srgbClr val="3368FF"/>
                </a:gs>
                <a:gs pos="100000">
                  <a:srgbClr val="E6E6E6"/>
                </a:gs>
              </a:gsLst>
              <a:lin ang="10800000" scaled="1"/>
            </a:grad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183" name="下箭头 182"/>
          <p:cNvSpPr/>
          <p:nvPr/>
        </p:nvSpPr>
        <p:spPr>
          <a:xfrm>
            <a:off x="2042160" y="3538855"/>
            <a:ext cx="352425" cy="2050415"/>
          </a:xfrm>
          <a:prstGeom prst="downArrow">
            <a:avLst/>
          </a:prstGeom>
          <a:solidFill>
            <a:srgbClr val="E6E6E6">
              <a:alpha val="7000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184" name="组合 183"/>
          <p:cNvGrpSpPr/>
          <p:nvPr/>
        </p:nvGrpSpPr>
        <p:grpSpPr>
          <a:xfrm rot="0">
            <a:off x="1929130" y="4072890"/>
            <a:ext cx="599440" cy="316865"/>
            <a:chOff x="2917" y="6632"/>
            <a:chExt cx="970" cy="527"/>
          </a:xfrm>
        </p:grpSpPr>
        <p:sp>
          <p:nvSpPr>
            <p:cNvPr id="187" name="Google Shape;703;p30"/>
            <p:cNvSpPr/>
            <p:nvPr/>
          </p:nvSpPr>
          <p:spPr>
            <a:xfrm>
              <a:off x="2918" y="6632"/>
              <a:ext cx="969" cy="527"/>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88" name="Google Shape;723;p30"/>
            <p:cNvSpPr txBox="1"/>
            <p:nvPr/>
          </p:nvSpPr>
          <p:spPr>
            <a:xfrm>
              <a:off x="2917" y="6672"/>
              <a:ext cx="970" cy="560"/>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标准化体</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系筑基</a:t>
              </a:r>
              <a:endParaRPr lang="zh-CN" altLang="en-US" sz="1000" dirty="0">
                <a:solidFill>
                  <a:srgbClr val="383838"/>
                </a:solidFill>
                <a:latin typeface="微软雅黑"/>
                <a:ea typeface="微软雅黑"/>
                <a:cs typeface="微软雅黑"/>
                <a:sym typeface="微软雅黑"/>
              </a:endParaRPr>
            </a:p>
          </p:txBody>
        </p:sp>
      </p:grpSp>
      <p:grpSp>
        <p:nvGrpSpPr>
          <p:cNvPr id="189" name="组合 188"/>
          <p:cNvGrpSpPr/>
          <p:nvPr/>
        </p:nvGrpSpPr>
        <p:grpSpPr>
          <a:xfrm rot="0">
            <a:off x="1934845" y="4554220"/>
            <a:ext cx="599440" cy="298450"/>
            <a:chOff x="2926" y="7538"/>
            <a:chExt cx="970" cy="496"/>
          </a:xfrm>
        </p:grpSpPr>
        <p:sp>
          <p:nvSpPr>
            <p:cNvPr id="190" name="Google Shape;703;p30"/>
            <p:cNvSpPr/>
            <p:nvPr/>
          </p:nvSpPr>
          <p:spPr>
            <a:xfrm>
              <a:off x="2927" y="7538"/>
              <a:ext cx="969" cy="496"/>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93" name="Google Shape;723;p30"/>
            <p:cNvSpPr txBox="1"/>
            <p:nvPr/>
          </p:nvSpPr>
          <p:spPr>
            <a:xfrm>
              <a:off x="2926" y="7562"/>
              <a:ext cx="970" cy="559"/>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专业化人</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才梯队</a:t>
              </a:r>
              <a:endParaRPr lang="zh-CN" altLang="en-US" sz="1000" dirty="0">
                <a:solidFill>
                  <a:srgbClr val="383838"/>
                </a:solidFill>
                <a:latin typeface="微软雅黑"/>
                <a:ea typeface="微软雅黑"/>
                <a:cs typeface="微软雅黑"/>
                <a:sym typeface="微软雅黑"/>
              </a:endParaRPr>
            </a:p>
          </p:txBody>
        </p:sp>
      </p:grpSp>
      <p:sp>
        <p:nvSpPr>
          <p:cNvPr id="195" name="Google Shape;703;p30"/>
          <p:cNvSpPr/>
          <p:nvPr/>
        </p:nvSpPr>
        <p:spPr>
          <a:xfrm>
            <a:off x="1935480" y="5017135"/>
            <a:ext cx="598805" cy="293370"/>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grpSp>
        <p:nvGrpSpPr>
          <p:cNvPr id="197" name="组合 196"/>
          <p:cNvGrpSpPr/>
          <p:nvPr/>
        </p:nvGrpSpPr>
        <p:grpSpPr>
          <a:xfrm rot="0">
            <a:off x="1861185" y="3707130"/>
            <a:ext cx="748030" cy="267970"/>
            <a:chOff x="4060" y="4527"/>
            <a:chExt cx="1210" cy="446"/>
          </a:xfrm>
        </p:grpSpPr>
        <p:sp>
          <p:nvSpPr>
            <p:cNvPr id="198" name="矩形 197"/>
            <p:cNvSpPr/>
            <p:nvPr/>
          </p:nvSpPr>
          <p:spPr>
            <a:xfrm>
              <a:off x="4147" y="4638"/>
              <a:ext cx="1003" cy="328"/>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99" name="文本框 198"/>
            <p:cNvSpPr txBox="1"/>
            <p:nvPr/>
          </p:nvSpPr>
          <p:spPr>
            <a:xfrm>
              <a:off x="4060" y="4527"/>
              <a:ext cx="1210" cy="447"/>
            </a:xfrm>
            <a:prstGeom prst="rect">
              <a:avLst/>
            </a:prstGeom>
            <a:noFill/>
            <a:extLst>
              <a:ext uri="{909E8E84-426E-40DD-AFC4-6F175D3DCCD1}">
                <a14:hiddenFill xmlns:a14="http://schemas.microsoft.com/office/drawing/2010/main">
                  <a:solidFill>
                    <a:srgbClr val="FFFFFF"/>
                  </a:solidFill>
                </a14:hiddenFill>
              </a:ext>
            </a:extLst>
          </p:spPr>
          <p:txBody>
            <a:bodyPr wrap="square" rtlCol="0" anchor="t" anchorCtr="0" lIns="0" rIns="0" tIns="0" bIns="0">
              <a:noAutofit/>
            </a:bodyPr>
            <a:lstStyle/>
            <a:p>
              <a:pPr indent="0" algn="ctr" fontAlgn="auto">
                <a:lnSpc>
                  <a:spcPts val="1640"/>
                </a:lnSpc>
                <a:defRPr>
                  <a:latin typeface="微软雅黑"/>
                  <a:ea typeface="微软雅黑"/>
                  <a:cs typeface="微软雅黑"/>
                </a:defRPr>
              </a:pPr>
              <a:r>
                <a:rPr lang="zh-CN" altLang="en-US" sz="1000" b="1">
                  <a:solidFill>
                    <a:srgbClr val="383838"/>
                  </a:solidFill>
                  <a:latin typeface="微软雅黑"/>
                  <a:ea typeface="微软雅黑"/>
                  <a:cs typeface="微软雅黑"/>
                </a:rPr>
                <a:t>核心举措</a:t>
              </a:r>
              <a:endParaRPr lang="zh-CN" altLang="en-US" sz="1000" b="1">
                <a:solidFill>
                  <a:srgbClr val="383838"/>
                </a:solidFill>
                <a:latin typeface="微软雅黑"/>
                <a:ea typeface="微软雅黑"/>
                <a:cs typeface="微软雅黑"/>
              </a:endParaRPr>
            </a:p>
          </p:txBody>
        </p:sp>
      </p:grpSp>
      <p:sp>
        <p:nvSpPr>
          <p:cNvPr id="200" name="Google Shape;723;p30"/>
          <p:cNvSpPr txBox="1"/>
          <p:nvPr/>
        </p:nvSpPr>
        <p:spPr>
          <a:xfrm>
            <a:off x="1935480" y="5029200"/>
            <a:ext cx="599440" cy="336550"/>
          </a:xfrm>
          <a:prstGeom prst="rect">
            <a:avLst/>
          </a:prstGeom>
          <a:noFill/>
          <a:ln>
            <a:noFill/>
          </a:ln>
        </p:spPr>
        <p:txBody>
          <a:bodyPr spcFirstLastPara="1" wrap="square" lIns="0" tIns="0" rIns="0" bIns="0" anchor="t" anchorCtr="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规范化制</a:t>
            </a:r>
            <a:endParaRPr lang="zh-CN" altLang="en-US" sz="100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度保障</a:t>
            </a:r>
            <a:endParaRPr lang="zh-CN" altLang="en-US" sz="1000" dirty="0">
              <a:solidFill>
                <a:srgbClr val="383838"/>
              </a:solidFill>
              <a:latin typeface="微软雅黑"/>
              <a:ea typeface="微软雅黑"/>
              <a:cs typeface="微软雅黑"/>
              <a:sym typeface="微软雅黑"/>
            </a:endParaRPr>
          </a:p>
        </p:txBody>
      </p:sp>
      <p:grpSp>
        <p:nvGrpSpPr>
          <p:cNvPr id="242" name="组合 241"/>
          <p:cNvGrpSpPr/>
          <p:nvPr/>
        </p:nvGrpSpPr>
        <p:grpSpPr>
          <a:xfrm>
            <a:off x="3376295" y="3035300"/>
            <a:ext cx="1512570" cy="3063875"/>
            <a:chOff x="2298" y="4943"/>
            <a:chExt cx="2382" cy="4986"/>
          </a:xfrm>
        </p:grpSpPr>
        <p:sp>
          <p:nvSpPr>
            <p:cNvPr id="243" name="Freeform: Shape 88"/>
            <p:cNvSpPr/>
            <p:nvPr/>
          </p:nvSpPr>
          <p:spPr>
            <a:xfrm>
              <a:off x="2307" y="5457"/>
              <a:ext cx="2373" cy="323"/>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248" name="Freeform: Shape 89"/>
            <p:cNvSpPr/>
            <p:nvPr/>
          </p:nvSpPr>
          <p:spPr>
            <a:xfrm>
              <a:off x="2307" y="4943"/>
              <a:ext cx="2373" cy="513"/>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gradFill>
              <a:gsLst>
                <a:gs pos="0">
                  <a:srgbClr val="3368FF"/>
                </a:gs>
                <a:gs pos="100000">
                  <a:srgbClr val="668EFF"/>
                </a:gs>
              </a:gsLst>
              <a:lin ang="16200000" scaled="0"/>
            </a:gra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249" name="Freeform: Shape 90"/>
            <p:cNvSpPr/>
            <p:nvPr/>
          </p:nvSpPr>
          <p:spPr>
            <a:xfrm>
              <a:off x="2298" y="9359"/>
              <a:ext cx="2373" cy="325"/>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noAutofit/>
            </a:bodyPr>
            <a:lstStyle/>
            <a:p>
              <a:pPr lvl="0" algn="l" hangingPunct="0">
                <a:buClrTx/>
                <a:buSzTx/>
                <a:buFontTx/>
                <a:defRPr>
                  <a:latin typeface="微软雅黑"/>
                  <a:ea typeface="微软雅黑"/>
                  <a:cs typeface="微软雅黑"/>
                </a:defRPr>
              </a:pPr>
              <a:endParaRPr lang="en-US" sz="1000" dirty="0">
                <a:latin typeface="微软雅黑"/>
                <a:ea typeface="微软雅黑"/>
                <a:cs typeface="微软雅黑"/>
                <a:sym typeface="微软雅黑"/>
              </a:endParaRPr>
            </a:p>
          </p:txBody>
        </p:sp>
        <p:sp>
          <p:nvSpPr>
            <p:cNvPr id="250" name="Freeform: Shape 91"/>
            <p:cNvSpPr/>
            <p:nvPr/>
          </p:nvSpPr>
          <p:spPr>
            <a:xfrm>
              <a:off x="2298" y="9684"/>
              <a:ext cx="2373" cy="245"/>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gradFill>
              <a:gsLst>
                <a:gs pos="0">
                  <a:srgbClr val="3368FF"/>
                </a:gs>
                <a:gs pos="100000">
                  <a:srgbClr val="668EFF"/>
                </a:gs>
              </a:gsLst>
              <a:lin ang="16200000" scaled="0"/>
            </a:gradFill>
            <a:ln cap="flat">
              <a:noFill/>
              <a:prstDash val="solid"/>
            </a:ln>
          </p:spPr>
          <p:txBody>
            <a:bodyPr vert="horz" wrap="none" lIns="0" tIns="0" rIns="0" bIns="0" anchor="ctr" anchorCtr="1" compatLnSpc="0">
              <a:noAutofit/>
            </a:bodyPr>
            <a:lstStyle/>
            <a:p>
              <a:pPr lvl="0" algn="l" hangingPunct="0">
                <a:buClrTx/>
                <a:buSzTx/>
                <a:buFontTx/>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sym typeface="微软雅黑"/>
              </a:endParaRPr>
            </a:p>
          </p:txBody>
        </p:sp>
        <p:sp>
          <p:nvSpPr>
            <p:cNvPr id="251" name="矩形 250"/>
            <p:cNvSpPr/>
            <p:nvPr/>
          </p:nvSpPr>
          <p:spPr>
            <a:xfrm>
              <a:off x="2639" y="5826"/>
              <a:ext cx="1703" cy="3557"/>
            </a:xfrm>
            <a:prstGeom prst="rect">
              <a:avLst/>
            </a:prstGeom>
            <a:pattFill prst="wdUp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252" name="Google Shape;723;p30"/>
            <p:cNvSpPr txBox="1"/>
            <p:nvPr/>
          </p:nvSpPr>
          <p:spPr>
            <a:xfrm>
              <a:off x="2455" y="5055"/>
              <a:ext cx="2061" cy="312"/>
            </a:xfrm>
            <a:prstGeom prst="rect">
              <a:avLst/>
            </a:prstGeom>
            <a:noFill/>
            <a:ln>
              <a:noFill/>
            </a:ln>
          </p:spPr>
          <p:txBody>
            <a:bodyPr spcFirstLastPara="1" wrap="square" lIns="0" tIns="0" rIns="0" bIns="0" anchor="t" anchorCtr="0">
              <a:spAutoFit/>
            </a:bodyPr>
            <a:lstStyle/>
            <a:p>
              <a:pPr algn="ctr">
                <a:defRPr>
                  <a:solidFill>
                    <a:srgbClr val="FFFFFF"/>
                  </a:solidFill>
                  <a:latin typeface="微软雅黑"/>
                  <a:ea typeface="微软雅黑"/>
                  <a:cs typeface="微软雅黑"/>
                </a:defRPr>
              </a:pPr>
              <a:r>
                <a:rPr lang="en-US" altLang="zh-CN" sz="1000" b="1">
                  <a:solidFill>
                    <a:srgbClr val="FFFFFF"/>
                  </a:solidFill>
                  <a:latin typeface="微软雅黑"/>
                  <a:ea typeface="微软雅黑"/>
                  <a:cs typeface="微软雅黑"/>
                  <a:sym typeface="微软雅黑"/>
                </a:rPr>
                <a:t>”</a:t>
              </a:r>
              <a:r>
                <a:rPr lang="zh-CN" altLang="en-US" sz="1000" b="1">
                  <a:solidFill>
                    <a:srgbClr val="FFFFFF"/>
                  </a:solidFill>
                  <a:latin typeface="微软雅黑"/>
                  <a:ea typeface="微软雅黑"/>
                  <a:cs typeface="微软雅黑"/>
                  <a:sym typeface="微软雅黑"/>
                </a:rPr>
                <a:t>第二支柱：提效</a:t>
              </a:r>
              <a:r>
                <a:rPr lang="en-US" altLang="zh-CN" sz="1000" b="1">
                  <a:solidFill>
                    <a:srgbClr val="FFFFFF"/>
                  </a:solidFill>
                  <a:latin typeface="微软雅黑"/>
                  <a:ea typeface="微软雅黑"/>
                  <a:cs typeface="微软雅黑"/>
                  <a:sym typeface="微软雅黑"/>
                </a:rPr>
                <a:t>“</a:t>
              </a:r>
              <a:endParaRPr lang="en-US" altLang="zh-CN" sz="1000" b="1" dirty="0">
                <a:solidFill>
                  <a:srgbClr val="FFFFFF"/>
                </a:solidFill>
                <a:latin typeface="微软雅黑"/>
                <a:ea typeface="微软雅黑"/>
                <a:cs typeface="微软雅黑"/>
                <a:sym typeface="微软雅黑"/>
              </a:endParaRPr>
            </a:p>
          </p:txBody>
        </p:sp>
        <p:sp>
          <p:nvSpPr>
            <p:cNvPr id="272" name="Google Shape;723;p30"/>
            <p:cNvSpPr txBox="1"/>
            <p:nvPr/>
          </p:nvSpPr>
          <p:spPr>
            <a:xfrm>
              <a:off x="3145" y="9322"/>
              <a:ext cx="679" cy="362"/>
            </a:xfrm>
            <a:prstGeom prst="rect">
              <a:avLst/>
            </a:prstGeom>
            <a:noFill/>
            <a:ln>
              <a:noFill/>
            </a:ln>
          </p:spPr>
          <p:txBody>
            <a:bodyPr spcFirstLastPara="1" wrap="square" lIns="19050" tIns="19050" rIns="19050" bIns="19050" anchor="t" anchorCtr="0">
              <a:spAutoFit/>
            </a:bodyPr>
            <a:lstStyle/>
            <a:p>
              <a:pPr algn="ctr">
                <a:defRPr>
                  <a:latin typeface="微软雅黑"/>
                  <a:ea typeface="微软雅黑"/>
                  <a:cs typeface="微软雅黑"/>
                </a:defRPr>
              </a:pPr>
              <a:r>
                <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②</a:t>
              </a:r>
              <a:endPar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273" name="矩形 272"/>
            <p:cNvSpPr/>
            <p:nvPr/>
          </p:nvSpPr>
          <p:spPr>
            <a:xfrm>
              <a:off x="2639" y="5815"/>
              <a:ext cx="1703" cy="3557"/>
            </a:xfrm>
            <a:prstGeom prst="rect">
              <a:avLst/>
            </a:prstGeom>
            <a:solidFill>
              <a:srgbClr val="FFFFFF">
                <a:alpha val="40000"/>
              </a:srgbClr>
            </a:solid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274" name="五边形 273"/>
            <p:cNvSpPr/>
            <p:nvPr/>
          </p:nvSpPr>
          <p:spPr>
            <a:xfrm rot="5400000">
              <a:off x="1891" y="6971"/>
              <a:ext cx="3258" cy="1306"/>
            </a:xfrm>
            <a:prstGeom prst="homePlate">
              <a:avLst>
                <a:gd name="adj" fmla="val 27119"/>
              </a:avLst>
            </a:prstGeom>
            <a:solidFill>
              <a:srgbClr val="FFFFFF"/>
            </a:solidFill>
            <a:ln w="12700">
              <a:gradFill>
                <a:gsLst>
                  <a:gs pos="0">
                    <a:srgbClr val="3368FF"/>
                  </a:gs>
                  <a:gs pos="100000">
                    <a:srgbClr val="E6E6E6"/>
                  </a:gs>
                </a:gsLst>
                <a:lin ang="10800000" scaled="1"/>
              </a:grad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275" name="下箭头 274"/>
            <p:cNvSpPr/>
            <p:nvPr/>
          </p:nvSpPr>
          <p:spPr>
            <a:xfrm>
              <a:off x="3216" y="5782"/>
              <a:ext cx="555" cy="3321"/>
            </a:xfrm>
            <a:prstGeom prst="downArrow">
              <a:avLst/>
            </a:prstGeom>
            <a:solidFill>
              <a:srgbClr val="E6E6E6">
                <a:alpha val="7000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281" name="组合 280"/>
            <p:cNvGrpSpPr/>
            <p:nvPr/>
          </p:nvGrpSpPr>
          <p:grpSpPr>
            <a:xfrm rot="0">
              <a:off x="3038" y="6647"/>
              <a:ext cx="944" cy="513"/>
              <a:chOff x="2917" y="6632"/>
              <a:chExt cx="970" cy="527"/>
            </a:xfrm>
          </p:grpSpPr>
          <p:sp>
            <p:nvSpPr>
              <p:cNvPr id="282" name="Google Shape;703;p30"/>
              <p:cNvSpPr/>
              <p:nvPr/>
            </p:nvSpPr>
            <p:spPr>
              <a:xfrm>
                <a:off x="2918" y="6632"/>
                <a:ext cx="969" cy="527"/>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283" name="Google Shape;723;p30"/>
              <p:cNvSpPr txBox="1"/>
              <p:nvPr/>
            </p:nvSpPr>
            <p:spPr>
              <a:xfrm>
                <a:off x="2917" y="6672"/>
                <a:ext cx="970" cy="524"/>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精益运营贯通管理</a:t>
                </a:r>
                <a:endParaRPr lang="zh-CN" altLang="en-US" sz="1000" dirty="0">
                  <a:solidFill>
                    <a:srgbClr val="383838"/>
                  </a:solidFill>
                  <a:latin typeface="微软雅黑"/>
                  <a:ea typeface="微软雅黑"/>
                  <a:cs typeface="微软雅黑"/>
                  <a:sym typeface="微软雅黑"/>
                </a:endParaRPr>
              </a:p>
            </p:txBody>
          </p:sp>
        </p:grpSp>
        <p:grpSp>
          <p:nvGrpSpPr>
            <p:cNvPr id="284" name="组合 283"/>
            <p:cNvGrpSpPr/>
            <p:nvPr/>
          </p:nvGrpSpPr>
          <p:grpSpPr>
            <a:xfrm rot="0">
              <a:off x="3047" y="7427"/>
              <a:ext cx="944" cy="485"/>
              <a:chOff x="2926" y="7538"/>
              <a:chExt cx="970" cy="498"/>
            </a:xfrm>
          </p:grpSpPr>
          <p:sp>
            <p:nvSpPr>
              <p:cNvPr id="285" name="Google Shape;703;p30"/>
              <p:cNvSpPr/>
              <p:nvPr/>
            </p:nvSpPr>
            <p:spPr>
              <a:xfrm>
                <a:off x="2927" y="7538"/>
                <a:ext cx="969" cy="496"/>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286" name="Google Shape;723;p30"/>
              <p:cNvSpPr txBox="1"/>
              <p:nvPr/>
            </p:nvSpPr>
            <p:spPr>
              <a:xfrm>
                <a:off x="2926" y="7562"/>
                <a:ext cx="970" cy="524"/>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流程优化与自动化</a:t>
                </a:r>
                <a:endParaRPr lang="zh-CN" altLang="en-US" sz="1000" dirty="0">
                  <a:solidFill>
                    <a:srgbClr val="383838"/>
                  </a:solidFill>
                  <a:latin typeface="微软雅黑"/>
                  <a:ea typeface="微软雅黑"/>
                  <a:cs typeface="微软雅黑"/>
                  <a:sym typeface="微软雅黑"/>
                </a:endParaRPr>
              </a:p>
            </p:txBody>
          </p:sp>
        </p:grpSp>
        <p:sp>
          <p:nvSpPr>
            <p:cNvPr id="287" name="Google Shape;703;p30"/>
            <p:cNvSpPr/>
            <p:nvPr/>
          </p:nvSpPr>
          <p:spPr>
            <a:xfrm>
              <a:off x="3048" y="8177"/>
              <a:ext cx="943" cy="475"/>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grpSp>
          <p:nvGrpSpPr>
            <p:cNvPr id="290" name="组合 289"/>
            <p:cNvGrpSpPr/>
            <p:nvPr/>
          </p:nvGrpSpPr>
          <p:grpSpPr>
            <a:xfrm rot="0">
              <a:off x="2931" y="6055"/>
              <a:ext cx="1178" cy="434"/>
              <a:chOff x="4060" y="4527"/>
              <a:chExt cx="1210" cy="446"/>
            </a:xfrm>
          </p:grpSpPr>
          <p:sp>
            <p:nvSpPr>
              <p:cNvPr id="292" name="矩形 291"/>
              <p:cNvSpPr/>
              <p:nvPr/>
            </p:nvSpPr>
            <p:spPr>
              <a:xfrm>
                <a:off x="4147" y="4638"/>
                <a:ext cx="1003" cy="328"/>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6" name="文本框 295"/>
              <p:cNvSpPr txBox="1"/>
              <p:nvPr/>
            </p:nvSpPr>
            <p:spPr>
              <a:xfrm>
                <a:off x="4060" y="4527"/>
                <a:ext cx="1210" cy="447"/>
              </a:xfrm>
              <a:prstGeom prst="rect">
                <a:avLst/>
              </a:prstGeom>
              <a:noFill/>
              <a:extLst>
                <a:ext uri="{909E8E84-426E-40DD-AFC4-6F175D3DCCD1}">
                  <a14:hiddenFill xmlns:a14="http://schemas.microsoft.com/office/drawing/2010/main">
                    <a:solidFill>
                      <a:srgbClr val="FFFFFF"/>
                    </a:solidFill>
                  </a14:hiddenFill>
                </a:ext>
              </a:extLst>
            </p:spPr>
            <p:txBody>
              <a:bodyPr wrap="square" rtlCol="0" anchor="t" anchorCtr="0" lIns="0" rIns="0" tIns="0" bIns="0">
                <a:noAutofit/>
              </a:bodyPr>
              <a:lstStyle/>
              <a:p>
                <a:pPr indent="0" algn="ctr" fontAlgn="auto">
                  <a:lnSpc>
                    <a:spcPts val="1640"/>
                  </a:lnSpc>
                  <a:defRPr>
                    <a:latin typeface="微软雅黑"/>
                    <a:ea typeface="微软雅黑"/>
                    <a:cs typeface="微软雅黑"/>
                  </a:defRPr>
                </a:pPr>
                <a:r>
                  <a:rPr lang="zh-CN" altLang="en-US" sz="1000" b="1">
                    <a:solidFill>
                      <a:srgbClr val="383838"/>
                    </a:solidFill>
                    <a:latin typeface="微软雅黑"/>
                    <a:ea typeface="微软雅黑"/>
                    <a:cs typeface="微软雅黑"/>
                  </a:rPr>
                  <a:t>核心举措</a:t>
                </a:r>
                <a:endParaRPr lang="zh-CN" altLang="en-US" sz="1000" b="1">
                  <a:solidFill>
                    <a:srgbClr val="383838"/>
                  </a:solidFill>
                  <a:latin typeface="微软雅黑"/>
                  <a:ea typeface="微软雅黑"/>
                  <a:cs typeface="微软雅黑"/>
                </a:endParaRPr>
              </a:p>
            </p:txBody>
          </p:sp>
        </p:grpSp>
        <p:sp>
          <p:nvSpPr>
            <p:cNvPr id="297" name="Google Shape;723;p30"/>
            <p:cNvSpPr txBox="1"/>
            <p:nvPr/>
          </p:nvSpPr>
          <p:spPr>
            <a:xfrm>
              <a:off x="3048" y="8196"/>
              <a:ext cx="944" cy="510"/>
            </a:xfrm>
            <a:prstGeom prst="rect">
              <a:avLst/>
            </a:prstGeom>
            <a:noFill/>
            <a:ln>
              <a:noFill/>
            </a:ln>
          </p:spPr>
          <p:txBody>
            <a:bodyPr spcFirstLastPara="1" wrap="square" lIns="0" tIns="0" rIns="0" bIns="0" anchor="t" anchorCtr="0">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sym typeface="微软雅黑"/>
                </a:rPr>
                <a:t>持续改进闭环机制</a:t>
              </a:r>
              <a:endParaRPr lang="zh-CN" altLang="en-US" sz="1000" dirty="0">
                <a:solidFill>
                  <a:srgbClr val="383838"/>
                </a:solidFill>
                <a:latin typeface="微软雅黑"/>
                <a:ea typeface="微软雅黑"/>
                <a:cs typeface="微软雅黑"/>
                <a:sym typeface="微软雅黑"/>
              </a:endParaRPr>
            </a:p>
          </p:txBody>
        </p:sp>
      </p:grpSp>
      <p:grpSp>
        <p:nvGrpSpPr>
          <p:cNvPr id="378" name="组合 377"/>
          <p:cNvGrpSpPr/>
          <p:nvPr/>
        </p:nvGrpSpPr>
        <p:grpSpPr>
          <a:xfrm>
            <a:off x="2943860" y="2616200"/>
            <a:ext cx="466725" cy="380365"/>
            <a:chOff x="4636" y="4120"/>
            <a:chExt cx="735" cy="599"/>
          </a:xfrm>
        </p:grpSpPr>
        <p:grpSp>
          <p:nvGrpSpPr>
            <p:cNvPr id="530" name="©显眼包PPT4"/>
            <p:cNvGrpSpPr/>
            <p:nvPr/>
          </p:nvGrpSpPr>
          <p:grpSpPr>
            <a:xfrm rot="10800000" flipH="1">
              <a:off x="4636" y="4120"/>
              <a:ext cx="735" cy="496"/>
              <a:chOff x="6553358" y="-8441"/>
              <a:chExt cx="483040" cy="379009"/>
            </a:xfrm>
          </p:grpSpPr>
          <p:grpSp>
            <p:nvGrpSpPr>
              <p:cNvPr id="206" name="组合 205"/>
              <p:cNvGrpSpPr/>
              <p:nvPr/>
            </p:nvGrpSpPr>
            <p:grpSpPr>
              <a:xfrm>
                <a:off x="6610718" y="212835"/>
                <a:ext cx="369630" cy="157733"/>
                <a:chOff x="6671598" y="231774"/>
                <a:chExt cx="369630" cy="127608"/>
              </a:xfrm>
            </p:grpSpPr>
            <p:sp>
              <p:nvSpPr>
                <p:cNvPr id="209" name="©显眼包PPT4-1"/>
                <p:cNvSpPr/>
                <p:nvPr/>
              </p:nvSpPr>
              <p:spPr bwMode="auto">
                <a:xfrm>
                  <a:off x="6671598" y="268288"/>
                  <a:ext cx="369630" cy="91094"/>
                </a:xfrm>
                <a:custGeom>
                  <a:avLst/>
                  <a:gdLst>
                    <a:gd name="connsiteX0" fmla="*/ 0 w 444500"/>
                    <a:gd name="connsiteY0" fmla="*/ 0 h 91094"/>
                    <a:gd name="connsiteX1" fmla="*/ 222250 w 444500"/>
                    <a:gd name="connsiteY1" fmla="*/ 36513 h 91094"/>
                    <a:gd name="connsiteX2" fmla="*/ 444500 w 444500"/>
                    <a:gd name="connsiteY2" fmla="*/ 0 h 91094"/>
                    <a:gd name="connsiteX3" fmla="*/ 444500 w 444500"/>
                    <a:gd name="connsiteY3" fmla="*/ 54581 h 91094"/>
                    <a:gd name="connsiteX4" fmla="*/ 222250 w 444500"/>
                    <a:gd name="connsiteY4" fmla="*/ 91094 h 91094"/>
                    <a:gd name="connsiteX5" fmla="*/ 0 w 444500"/>
                    <a:gd name="connsiteY5" fmla="*/ 54581 h 91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500" h="91094">
                      <a:moveTo>
                        <a:pt x="0" y="0"/>
                      </a:moveTo>
                      <a:cubicBezTo>
                        <a:pt x="0" y="20178"/>
                        <a:pt x="99574" y="36513"/>
                        <a:pt x="222250" y="36513"/>
                      </a:cubicBezTo>
                      <a:cubicBezTo>
                        <a:pt x="345022" y="36513"/>
                        <a:pt x="444500" y="20178"/>
                        <a:pt x="444500" y="0"/>
                      </a:cubicBezTo>
                      <a:lnTo>
                        <a:pt x="444500" y="54581"/>
                      </a:lnTo>
                      <a:cubicBezTo>
                        <a:pt x="444500" y="74759"/>
                        <a:pt x="345022" y="91094"/>
                        <a:pt x="222250" y="91094"/>
                      </a:cubicBezTo>
                      <a:cubicBezTo>
                        <a:pt x="99574" y="91094"/>
                        <a:pt x="0" y="74759"/>
                        <a:pt x="0" y="54581"/>
                      </a:cubicBezTo>
                      <a:close/>
                    </a:path>
                  </a:pathLst>
                </a:custGeom>
                <a:gradFill flip="none" rotWithShape="1">
                  <a:gsLst>
                    <a:gs pos="3846">
                      <a:srgbClr val="E6E6E6"/>
                    </a:gs>
                    <a:gs pos="15000">
                      <a:srgbClr val="668EFF"/>
                    </a:gs>
                    <a:gs pos="74000">
                      <a:srgbClr val="3368FF"/>
                    </a:gs>
                  </a:gsLst>
                  <a:lin ang="10800000" scaled="1"/>
                  <a:tileRect/>
                </a:gradFill>
                <a:ln w="6350">
                  <a:solidFill>
                    <a:srgbClr val="FFFFFF"/>
                  </a:solidFill>
                  <a:prstDash val="solid"/>
                  <a:round/>
                </a:ln>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210" name="©显眼包PPT4-2"/>
                <p:cNvSpPr>
                  <a:spLocks noChangeArrowheads="1"/>
                </p:cNvSpPr>
                <p:nvPr/>
              </p:nvSpPr>
              <p:spPr bwMode="auto">
                <a:xfrm>
                  <a:off x="6671598" y="231774"/>
                  <a:ext cx="369630" cy="85159"/>
                </a:xfrm>
                <a:prstGeom prst="ellipse">
                  <a:avLst/>
                </a:prstGeom>
                <a:gradFill flip="none" rotWithShape="1">
                  <a:gsLst>
                    <a:gs pos="9402">
                      <a:srgbClr val="E6E6E6"/>
                    </a:gs>
                    <a:gs pos="58000">
                      <a:srgbClr val="668EFF"/>
                    </a:gs>
                    <a:gs pos="100000">
                      <a:srgbClr val="3368FF"/>
                    </a:gs>
                  </a:gsLst>
                  <a:lin ang="5400000" scaled="1"/>
                  <a:tileRect/>
                </a:gradFill>
                <a:ln w="0">
                  <a:noFill/>
                  <a:prstDash val="solid"/>
                  <a:round/>
                </a:ln>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sp>
            <p:nvSpPr>
              <p:cNvPr id="225" name="©显眼包PPT4-3"/>
              <p:cNvSpPr>
                <a:spLocks noChangeArrowheads="1"/>
              </p:cNvSpPr>
              <p:nvPr/>
            </p:nvSpPr>
            <p:spPr bwMode="auto">
              <a:xfrm>
                <a:off x="6553358" y="-8441"/>
                <a:ext cx="483040" cy="295719"/>
              </a:xfrm>
              <a:custGeom>
                <a:avLst/>
                <a:gdLst>
                  <a:gd name="connsiteX0" fmla="*/ 0 w 800"/>
                  <a:gd name="connsiteY0" fmla="*/ 0 h 387"/>
                  <a:gd name="connsiteX1" fmla="*/ 800 w 800"/>
                  <a:gd name="connsiteY1" fmla="*/ 0 h 387"/>
                  <a:gd name="connsiteX2" fmla="*/ 703 w 800"/>
                  <a:gd name="connsiteY2" fmla="*/ 344 h 387"/>
                  <a:gd name="connsiteX3" fmla="*/ 700 w 800"/>
                  <a:gd name="connsiteY3" fmla="*/ 344 h 387"/>
                  <a:gd name="connsiteX4" fmla="*/ 700 w 800"/>
                  <a:gd name="connsiteY4" fmla="*/ 344 h 387"/>
                  <a:gd name="connsiteX5" fmla="*/ 399 w 800"/>
                  <a:gd name="connsiteY5" fmla="*/ 387 h 387"/>
                  <a:gd name="connsiteX6" fmla="*/ 263 w 800"/>
                  <a:gd name="connsiteY6" fmla="*/ 325 h 387"/>
                  <a:gd name="connsiteX7" fmla="*/ 98 w 800"/>
                  <a:gd name="connsiteY7" fmla="*/ 344 h 387"/>
                  <a:gd name="connsiteX8" fmla="*/ 97 w 800"/>
                  <a:gd name="connsiteY8" fmla="*/ 344 h 387"/>
                  <a:gd name="connsiteX9" fmla="*/ 0 w 800"/>
                  <a:gd name="connsiteY9" fmla="*/ 0 h 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0" h="387">
                    <a:moveTo>
                      <a:pt x="0" y="0"/>
                    </a:moveTo>
                    <a:lnTo>
                      <a:pt x="800" y="0"/>
                    </a:lnTo>
                    <a:lnTo>
                      <a:pt x="703" y="344"/>
                    </a:lnTo>
                    <a:lnTo>
                      <a:pt x="700" y="344"/>
                    </a:lnTo>
                    <a:lnTo>
                      <a:pt x="700" y="344"/>
                    </a:lnTo>
                    <a:cubicBezTo>
                      <a:pt x="700" y="368"/>
                      <a:pt x="566" y="387"/>
                      <a:pt x="399" y="387"/>
                    </a:cubicBezTo>
                    <a:cubicBezTo>
                      <a:pt x="233" y="387"/>
                      <a:pt x="263" y="349"/>
                      <a:pt x="263" y="325"/>
                    </a:cubicBezTo>
                    <a:lnTo>
                      <a:pt x="98" y="344"/>
                    </a:lnTo>
                    <a:lnTo>
                      <a:pt x="97" y="344"/>
                    </a:lnTo>
                    <a:lnTo>
                      <a:pt x="0" y="0"/>
                    </a:lnTo>
                    <a:close/>
                  </a:path>
                </a:pathLst>
              </a:custGeom>
              <a:gradFill flip="none" rotWithShape="1">
                <a:gsLst>
                  <a:gs pos="0">
                    <a:srgbClr val="FFFFFF">
                      <a:alpha val="0"/>
                    </a:srgbClr>
                  </a:gs>
                  <a:gs pos="63000">
                    <a:srgbClr val="E6E6E6">
                      <a:alpha val="100000"/>
                    </a:srgbClr>
                  </a:gs>
                  <a:gs pos="100000">
                    <a:srgbClr val="FFFFFF">
                      <a:alpha val="0"/>
                    </a:srgbClr>
                  </a:gs>
                </a:gsLst>
                <a:lin ang="5400000" scaled="1"/>
                <a:tileRect/>
              </a:gradFill>
              <a:ln w="0">
                <a:noFill/>
                <a:prstDash val="solid"/>
                <a:round/>
              </a:ln>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230" name="©显眼包PPT4-4"/>
              <p:cNvSpPr>
                <a:spLocks noChangeArrowheads="1"/>
              </p:cNvSpPr>
              <p:nvPr/>
            </p:nvSpPr>
            <p:spPr bwMode="auto">
              <a:xfrm>
                <a:off x="6652856" y="241623"/>
                <a:ext cx="285354" cy="45719"/>
              </a:xfrm>
              <a:prstGeom prst="ellipse">
                <a:avLst/>
              </a:prstGeom>
              <a:gradFill flip="none" rotWithShape="1">
                <a:gsLst>
                  <a:gs pos="9000">
                    <a:srgbClr val="FFFFFF">
                      <a:alpha val="0"/>
                    </a:srgbClr>
                  </a:gs>
                  <a:gs pos="100000">
                    <a:srgbClr val="FFFFFF"/>
                  </a:gs>
                </a:gsLst>
                <a:lin ang="5400000" scaled="1"/>
                <a:tileRect/>
              </a:gradFill>
              <a:ln w="6350">
                <a:gradFill>
                  <a:gsLst>
                    <a:gs pos="16000">
                      <a:srgbClr val="FFFFFF">
                        <a:alpha val="0"/>
                      </a:srgbClr>
                    </a:gs>
                    <a:gs pos="100000">
                      <a:srgbClr val="FFFFFF"/>
                    </a:gs>
                  </a:gsLst>
                  <a:lin ang="5400000" scaled="1"/>
                </a:gradFill>
                <a:prstDash val="solid"/>
                <a:round/>
              </a:ln>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pic>
          <p:nvPicPr>
            <p:cNvPr id="299" name="图片 298" descr="1_画板 1"/>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779" y="4269"/>
              <a:ext cx="450" cy="450"/>
            </a:xfrm>
            <a:prstGeom prst="rect">
              <a:avLst/>
            </a:prstGeom>
            <a:gradFill flip="none" rotWithShape="1">
              <a:gsLst>
                <a:gs pos="12000">
                  <a:srgbClr val="B3D4FE"/>
                </a:gs>
                <a:gs pos="61000">
                  <a:srgbClr val="668EFF"/>
                </a:gs>
              </a:gsLst>
              <a:lin ang="2700000" scaled="1"/>
              <a:tileRect/>
            </a:gradFill>
            <a:effectLst>
              <a:reflection blurRad="6350" stA="27000" endPos="38500" dist="26924" dir="5400000" sy="-100000" algn="bl" rotWithShape="0"/>
            </a:effectLst>
          </p:spPr>
        </p:pic>
      </p:grpSp>
      <p:sp>
        <p:nvSpPr>
          <p:cNvPr id="301" name="梯形 300"/>
          <p:cNvSpPr/>
          <p:nvPr/>
        </p:nvSpPr>
        <p:spPr>
          <a:xfrm>
            <a:off x="7240270" y="2685415"/>
            <a:ext cx="3423920" cy="543560"/>
          </a:xfrm>
          <a:prstGeom prst="trapezoid">
            <a:avLst>
              <a:gd name="adj" fmla="val 252035"/>
            </a:avLst>
          </a:prstGeom>
          <a:gradFill>
            <a:gsLst>
              <a:gs pos="0">
                <a:srgbClr val="E6E6E6">
                  <a:alpha val="0"/>
                </a:srgbClr>
              </a:gs>
              <a:gs pos="100000">
                <a:srgbClr val="668E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nvGrpSpPr>
          <p:cNvPr id="307" name="组合 306"/>
          <p:cNvGrpSpPr/>
          <p:nvPr/>
        </p:nvGrpSpPr>
        <p:grpSpPr>
          <a:xfrm>
            <a:off x="7233920" y="3021330"/>
            <a:ext cx="1512570" cy="3077845"/>
            <a:chOff x="2298" y="4943"/>
            <a:chExt cx="2382" cy="4986"/>
          </a:xfrm>
        </p:grpSpPr>
        <p:sp>
          <p:nvSpPr>
            <p:cNvPr id="312" name="Freeform: Shape 88"/>
            <p:cNvSpPr/>
            <p:nvPr/>
          </p:nvSpPr>
          <p:spPr>
            <a:xfrm>
              <a:off x="2307" y="5457"/>
              <a:ext cx="2373" cy="323"/>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320" name="Freeform: Shape 89"/>
            <p:cNvSpPr/>
            <p:nvPr/>
          </p:nvSpPr>
          <p:spPr>
            <a:xfrm>
              <a:off x="2307" y="4943"/>
              <a:ext cx="2373" cy="513"/>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gradFill>
              <a:gsLst>
                <a:gs pos="0">
                  <a:srgbClr val="3368FF"/>
                </a:gs>
                <a:gs pos="100000">
                  <a:srgbClr val="668EFF"/>
                </a:gs>
              </a:gsLst>
              <a:lin ang="16200000" scaled="0"/>
            </a:gra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325" name="Freeform: Shape 90"/>
            <p:cNvSpPr/>
            <p:nvPr/>
          </p:nvSpPr>
          <p:spPr>
            <a:xfrm>
              <a:off x="2298" y="9359"/>
              <a:ext cx="2373" cy="325"/>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noAutofit/>
            </a:bodyPr>
            <a:lstStyle/>
            <a:p>
              <a:pPr lvl="0" algn="l" hangingPunct="0">
                <a:buClrTx/>
                <a:buSzTx/>
                <a:buFontTx/>
                <a:defRPr>
                  <a:latin typeface="微软雅黑"/>
                  <a:ea typeface="微软雅黑"/>
                  <a:cs typeface="微软雅黑"/>
                </a:defRPr>
              </a:pPr>
              <a:endParaRPr lang="en-US" sz="1000" dirty="0">
                <a:latin typeface="微软雅黑"/>
                <a:ea typeface="微软雅黑"/>
                <a:cs typeface="微软雅黑"/>
                <a:sym typeface="微软雅黑"/>
              </a:endParaRPr>
            </a:p>
          </p:txBody>
        </p:sp>
        <p:sp>
          <p:nvSpPr>
            <p:cNvPr id="329" name="Freeform: Shape 91"/>
            <p:cNvSpPr/>
            <p:nvPr/>
          </p:nvSpPr>
          <p:spPr>
            <a:xfrm>
              <a:off x="2298" y="9684"/>
              <a:ext cx="2373" cy="245"/>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gradFill>
              <a:gsLst>
                <a:gs pos="0">
                  <a:srgbClr val="3368FF"/>
                </a:gs>
                <a:gs pos="100000">
                  <a:srgbClr val="668EFF"/>
                </a:gs>
              </a:gsLst>
              <a:lin ang="16200000" scaled="0"/>
            </a:gradFill>
            <a:ln cap="flat">
              <a:noFill/>
              <a:prstDash val="solid"/>
            </a:ln>
          </p:spPr>
          <p:txBody>
            <a:bodyPr vert="horz" wrap="none" lIns="0" tIns="0" rIns="0" bIns="0" anchor="ctr" anchorCtr="1" compatLnSpc="0">
              <a:noAutofit/>
            </a:bodyPr>
            <a:lstStyle/>
            <a:p>
              <a:pPr lvl="0" algn="l" hangingPunct="0">
                <a:buClrTx/>
                <a:buSzTx/>
                <a:buFontTx/>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sym typeface="微软雅黑"/>
              </a:endParaRPr>
            </a:p>
          </p:txBody>
        </p:sp>
        <p:sp>
          <p:nvSpPr>
            <p:cNvPr id="330" name="矩形 329"/>
            <p:cNvSpPr/>
            <p:nvPr/>
          </p:nvSpPr>
          <p:spPr>
            <a:xfrm>
              <a:off x="2639" y="5826"/>
              <a:ext cx="1703" cy="3557"/>
            </a:xfrm>
            <a:prstGeom prst="rect">
              <a:avLst/>
            </a:prstGeom>
            <a:pattFill prst="wdUp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331" name="Google Shape;723;p30"/>
            <p:cNvSpPr txBox="1"/>
            <p:nvPr/>
          </p:nvSpPr>
          <p:spPr>
            <a:xfrm>
              <a:off x="2455" y="5055"/>
              <a:ext cx="2061" cy="311"/>
            </a:xfrm>
            <a:prstGeom prst="rect">
              <a:avLst/>
            </a:prstGeom>
            <a:noFill/>
            <a:ln>
              <a:noFill/>
            </a:ln>
          </p:spPr>
          <p:txBody>
            <a:bodyPr spcFirstLastPara="1" wrap="square" lIns="0" tIns="0" rIns="0" bIns="0" anchor="t" anchorCtr="0">
              <a:spAutoFit/>
            </a:bodyPr>
            <a:lstStyle/>
            <a:p>
              <a:pPr algn="ctr">
                <a:defRPr>
                  <a:solidFill>
                    <a:srgbClr val="FFFFFF"/>
                  </a:solidFill>
                  <a:latin typeface="微软雅黑"/>
                  <a:ea typeface="微软雅黑"/>
                  <a:cs typeface="微软雅黑"/>
                </a:defRPr>
              </a:pPr>
              <a:r>
                <a:rPr lang="en-US" altLang="zh-CN" sz="1000" b="1">
                  <a:solidFill>
                    <a:srgbClr val="FFFFFF"/>
                  </a:solidFill>
                  <a:latin typeface="微软雅黑"/>
                  <a:ea typeface="微软雅黑"/>
                  <a:cs typeface="微软雅黑"/>
                  <a:sym typeface="微软雅黑"/>
                </a:rPr>
                <a:t>”</a:t>
              </a:r>
              <a:r>
                <a:rPr lang="zh-CN" altLang="en-US" sz="1000" b="1">
                  <a:solidFill>
                    <a:srgbClr val="FFFFFF"/>
                  </a:solidFill>
                  <a:latin typeface="微软雅黑"/>
                  <a:ea typeface="微软雅黑"/>
                  <a:cs typeface="微软雅黑"/>
                  <a:sym typeface="微软雅黑"/>
                </a:rPr>
                <a:t>第三支柱：固本</a:t>
              </a:r>
              <a:r>
                <a:rPr lang="en-US" altLang="zh-CN" sz="1000" b="1">
                  <a:solidFill>
                    <a:srgbClr val="FFFFFF"/>
                  </a:solidFill>
                  <a:latin typeface="微软雅黑"/>
                  <a:ea typeface="微软雅黑"/>
                  <a:cs typeface="微软雅黑"/>
                  <a:sym typeface="微软雅黑"/>
                </a:rPr>
                <a:t>“</a:t>
              </a:r>
              <a:endParaRPr lang="en-US" altLang="zh-CN" sz="1000" b="1" dirty="0">
                <a:solidFill>
                  <a:srgbClr val="FFFFFF"/>
                </a:solidFill>
                <a:latin typeface="微软雅黑"/>
                <a:ea typeface="微软雅黑"/>
                <a:cs typeface="微软雅黑"/>
                <a:sym typeface="微软雅黑"/>
              </a:endParaRPr>
            </a:p>
          </p:txBody>
        </p:sp>
        <p:sp>
          <p:nvSpPr>
            <p:cNvPr id="332" name="Google Shape;723;p30"/>
            <p:cNvSpPr txBox="1"/>
            <p:nvPr/>
          </p:nvSpPr>
          <p:spPr>
            <a:xfrm>
              <a:off x="3145" y="9322"/>
              <a:ext cx="679" cy="360"/>
            </a:xfrm>
            <a:prstGeom prst="rect">
              <a:avLst/>
            </a:prstGeom>
            <a:noFill/>
            <a:ln>
              <a:noFill/>
            </a:ln>
          </p:spPr>
          <p:txBody>
            <a:bodyPr spcFirstLastPara="1" wrap="square" lIns="19050" tIns="19050" rIns="19050" bIns="19050" anchor="t" anchorCtr="0">
              <a:spAutoFit/>
            </a:bodyPr>
            <a:lstStyle/>
            <a:p>
              <a:pPr algn="ctr">
                <a:defRPr>
                  <a:latin typeface="微软雅黑"/>
                  <a:ea typeface="微软雅黑"/>
                  <a:cs typeface="微软雅黑"/>
                </a:defRPr>
              </a:pPr>
              <a:r>
                <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③</a:t>
              </a:r>
              <a:endPar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333" name="矩形 332"/>
            <p:cNvSpPr/>
            <p:nvPr/>
          </p:nvSpPr>
          <p:spPr>
            <a:xfrm>
              <a:off x="2639" y="5815"/>
              <a:ext cx="1703" cy="3557"/>
            </a:xfrm>
            <a:prstGeom prst="rect">
              <a:avLst/>
            </a:prstGeom>
            <a:solidFill>
              <a:srgbClr val="FFFFFF">
                <a:alpha val="40000"/>
              </a:srgbClr>
            </a:solid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334" name="五边形 333"/>
            <p:cNvSpPr/>
            <p:nvPr/>
          </p:nvSpPr>
          <p:spPr>
            <a:xfrm rot="5400000">
              <a:off x="1891" y="6971"/>
              <a:ext cx="3258" cy="1306"/>
            </a:xfrm>
            <a:prstGeom prst="homePlate">
              <a:avLst>
                <a:gd name="adj" fmla="val 27119"/>
              </a:avLst>
            </a:prstGeom>
            <a:solidFill>
              <a:srgbClr val="FFFFFF"/>
            </a:solidFill>
            <a:ln w="12700">
              <a:gradFill>
                <a:gsLst>
                  <a:gs pos="0">
                    <a:srgbClr val="3368FF"/>
                  </a:gs>
                  <a:gs pos="100000">
                    <a:srgbClr val="E6E6E6"/>
                  </a:gs>
                </a:gsLst>
                <a:lin ang="10800000" scaled="1"/>
              </a:grad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335" name="下箭头 334"/>
            <p:cNvSpPr/>
            <p:nvPr/>
          </p:nvSpPr>
          <p:spPr>
            <a:xfrm>
              <a:off x="3216" y="5782"/>
              <a:ext cx="555" cy="3321"/>
            </a:xfrm>
            <a:prstGeom prst="downArrow">
              <a:avLst/>
            </a:prstGeom>
            <a:solidFill>
              <a:srgbClr val="E6E6E6">
                <a:alpha val="7000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336" name="组合 335"/>
            <p:cNvGrpSpPr/>
            <p:nvPr/>
          </p:nvGrpSpPr>
          <p:grpSpPr>
            <a:xfrm rot="0">
              <a:off x="3038" y="6647"/>
              <a:ext cx="944" cy="513"/>
              <a:chOff x="2917" y="6632"/>
              <a:chExt cx="970" cy="527"/>
            </a:xfrm>
          </p:grpSpPr>
          <p:sp>
            <p:nvSpPr>
              <p:cNvPr id="337" name="Google Shape;703;p30"/>
              <p:cNvSpPr/>
              <p:nvPr/>
            </p:nvSpPr>
            <p:spPr>
              <a:xfrm>
                <a:off x="2918" y="6632"/>
                <a:ext cx="969" cy="527"/>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38" name="Google Shape;723;p30"/>
              <p:cNvSpPr txBox="1"/>
              <p:nvPr/>
            </p:nvSpPr>
            <p:spPr>
              <a:xfrm>
                <a:off x="2917" y="6672"/>
                <a:ext cx="970" cy="522"/>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数据驱动文化培育</a:t>
                </a:r>
                <a:endParaRPr lang="zh-CN" altLang="en-US" sz="1000" dirty="0">
                  <a:solidFill>
                    <a:srgbClr val="383838"/>
                  </a:solidFill>
                  <a:latin typeface="微软雅黑"/>
                  <a:ea typeface="微软雅黑"/>
                  <a:cs typeface="微软雅黑"/>
                  <a:sym typeface="微软雅黑"/>
                </a:endParaRPr>
              </a:p>
            </p:txBody>
          </p:sp>
        </p:grpSp>
        <p:grpSp>
          <p:nvGrpSpPr>
            <p:cNvPr id="339" name="组合 338"/>
            <p:cNvGrpSpPr/>
            <p:nvPr/>
          </p:nvGrpSpPr>
          <p:grpSpPr>
            <a:xfrm rot="0">
              <a:off x="3047" y="7427"/>
              <a:ext cx="944" cy="483"/>
              <a:chOff x="2926" y="7538"/>
              <a:chExt cx="970" cy="496"/>
            </a:xfrm>
          </p:grpSpPr>
          <p:sp>
            <p:nvSpPr>
              <p:cNvPr id="340" name="Google Shape;703;p30"/>
              <p:cNvSpPr/>
              <p:nvPr/>
            </p:nvSpPr>
            <p:spPr>
              <a:xfrm>
                <a:off x="2927" y="7538"/>
                <a:ext cx="969" cy="496"/>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41" name="Google Shape;723;p30"/>
              <p:cNvSpPr txBox="1"/>
              <p:nvPr/>
            </p:nvSpPr>
            <p:spPr>
              <a:xfrm>
                <a:off x="2926" y="7562"/>
                <a:ext cx="970" cy="522"/>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知识沉淀与复用</a:t>
                </a:r>
                <a:endParaRPr lang="zh-CN" altLang="en-US" sz="1000" dirty="0">
                  <a:solidFill>
                    <a:srgbClr val="383838"/>
                  </a:solidFill>
                  <a:latin typeface="微软雅黑"/>
                  <a:ea typeface="微软雅黑"/>
                  <a:cs typeface="微软雅黑"/>
                  <a:sym typeface="微软雅黑"/>
                </a:endParaRPr>
              </a:p>
            </p:txBody>
          </p:sp>
        </p:grpSp>
        <p:sp>
          <p:nvSpPr>
            <p:cNvPr id="342" name="Google Shape;703;p30"/>
            <p:cNvSpPr/>
            <p:nvPr/>
          </p:nvSpPr>
          <p:spPr>
            <a:xfrm>
              <a:off x="3048" y="8177"/>
              <a:ext cx="943" cy="475"/>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grpSp>
          <p:nvGrpSpPr>
            <p:cNvPr id="345" name="组合 344"/>
            <p:cNvGrpSpPr/>
            <p:nvPr/>
          </p:nvGrpSpPr>
          <p:grpSpPr>
            <a:xfrm rot="0">
              <a:off x="2931" y="6055"/>
              <a:ext cx="1178" cy="434"/>
              <a:chOff x="4060" y="4527"/>
              <a:chExt cx="1210" cy="446"/>
            </a:xfrm>
          </p:grpSpPr>
          <p:sp>
            <p:nvSpPr>
              <p:cNvPr id="346" name="矩形 345"/>
              <p:cNvSpPr/>
              <p:nvPr/>
            </p:nvSpPr>
            <p:spPr>
              <a:xfrm>
                <a:off x="4147" y="4638"/>
                <a:ext cx="1003" cy="328"/>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47" name="文本框 346"/>
              <p:cNvSpPr txBox="1"/>
              <p:nvPr/>
            </p:nvSpPr>
            <p:spPr>
              <a:xfrm>
                <a:off x="4060" y="4527"/>
                <a:ext cx="1210" cy="447"/>
              </a:xfrm>
              <a:prstGeom prst="rect">
                <a:avLst/>
              </a:prstGeom>
              <a:noFill/>
              <a:extLst>
                <a:ext uri="{909E8E84-426E-40DD-AFC4-6F175D3DCCD1}">
                  <a14:hiddenFill xmlns:a14="http://schemas.microsoft.com/office/drawing/2010/main">
                    <a:solidFill>
                      <a:srgbClr val="FFFFFF"/>
                    </a:solidFill>
                  </a14:hiddenFill>
                </a:ext>
              </a:extLst>
            </p:spPr>
            <p:txBody>
              <a:bodyPr wrap="square" rtlCol="0" anchor="t" anchorCtr="0" lIns="0" rIns="0" tIns="0" bIns="0">
                <a:noAutofit/>
              </a:bodyPr>
              <a:lstStyle/>
              <a:p>
                <a:pPr indent="0" algn="ctr" fontAlgn="auto">
                  <a:lnSpc>
                    <a:spcPts val="1640"/>
                  </a:lnSpc>
                  <a:defRPr>
                    <a:latin typeface="微软雅黑"/>
                    <a:ea typeface="微软雅黑"/>
                    <a:cs typeface="微软雅黑"/>
                  </a:defRPr>
                </a:pPr>
                <a:r>
                  <a:rPr lang="zh-CN" altLang="en-US" sz="1000" b="1">
                    <a:solidFill>
                      <a:srgbClr val="383838"/>
                    </a:solidFill>
                    <a:latin typeface="微软雅黑"/>
                    <a:ea typeface="微软雅黑"/>
                    <a:cs typeface="微软雅黑"/>
                  </a:rPr>
                  <a:t>核心举措</a:t>
                </a:r>
                <a:endParaRPr lang="zh-CN" altLang="en-US" sz="1000" b="1">
                  <a:solidFill>
                    <a:srgbClr val="383838"/>
                  </a:solidFill>
                  <a:latin typeface="微软雅黑"/>
                  <a:ea typeface="微软雅黑"/>
                  <a:cs typeface="微软雅黑"/>
                </a:endParaRPr>
              </a:p>
            </p:txBody>
          </p:sp>
        </p:grpSp>
        <p:sp>
          <p:nvSpPr>
            <p:cNvPr id="348" name="Google Shape;723;p30"/>
            <p:cNvSpPr txBox="1"/>
            <p:nvPr/>
          </p:nvSpPr>
          <p:spPr>
            <a:xfrm>
              <a:off x="3048" y="8196"/>
              <a:ext cx="944" cy="508"/>
            </a:xfrm>
            <a:prstGeom prst="rect">
              <a:avLst/>
            </a:prstGeom>
            <a:noFill/>
            <a:ln>
              <a:noFill/>
            </a:ln>
          </p:spPr>
          <p:txBody>
            <a:bodyPr spcFirstLastPara="1" wrap="square" lIns="0" tIns="0" rIns="0" bIns="0" anchor="t" anchorCtr="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跨部门协同赋能</a:t>
              </a:r>
              <a:endParaRPr lang="zh-CN" altLang="en-US" sz="1000" dirty="0">
                <a:solidFill>
                  <a:srgbClr val="383838"/>
                </a:solidFill>
                <a:latin typeface="微软雅黑"/>
                <a:ea typeface="微软雅黑"/>
                <a:cs typeface="微软雅黑"/>
                <a:sym typeface="微软雅黑"/>
              </a:endParaRPr>
            </a:p>
          </p:txBody>
        </p:sp>
      </p:grpSp>
      <p:grpSp>
        <p:nvGrpSpPr>
          <p:cNvPr id="355" name="组合 354"/>
          <p:cNvGrpSpPr/>
          <p:nvPr/>
        </p:nvGrpSpPr>
        <p:grpSpPr>
          <a:xfrm>
            <a:off x="9150985" y="3021330"/>
            <a:ext cx="1512570" cy="3077845"/>
            <a:chOff x="2298" y="4943"/>
            <a:chExt cx="2382" cy="4986"/>
          </a:xfrm>
        </p:grpSpPr>
        <p:sp>
          <p:nvSpPr>
            <p:cNvPr id="356" name="Freeform: Shape 88"/>
            <p:cNvSpPr/>
            <p:nvPr/>
          </p:nvSpPr>
          <p:spPr>
            <a:xfrm>
              <a:off x="2307" y="5457"/>
              <a:ext cx="2373" cy="323"/>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lstStyle/>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357" name="Freeform: Shape 89"/>
            <p:cNvSpPr/>
            <p:nvPr/>
          </p:nvSpPr>
          <p:spPr>
            <a:xfrm>
              <a:off x="2307" y="4943"/>
              <a:ext cx="2373" cy="513"/>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gradFill>
              <a:gsLst>
                <a:gs pos="0">
                  <a:srgbClr val="3368FF"/>
                </a:gs>
                <a:gs pos="100000">
                  <a:srgbClr val="668EFF"/>
                </a:gs>
              </a:gsLst>
              <a:lin ang="16200000" scaled="0"/>
            </a:gradFill>
            <a:ln cap="flat">
              <a:noFill/>
              <a:prstDash val="solid"/>
            </a:ln>
          </p:spPr>
          <p:txBody>
            <a:bodyPr vert="horz" wrap="none" lIns="0" tIns="0" rIns="0" bIns="0" anchor="ctr" anchorCtr="1" compatLnSpc="0"/>
            <a:lstStyle/>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358" name="Freeform: Shape 90"/>
            <p:cNvSpPr/>
            <p:nvPr/>
          </p:nvSpPr>
          <p:spPr>
            <a:xfrm>
              <a:off x="2298" y="9359"/>
              <a:ext cx="2373" cy="325"/>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noAutofit/>
            </a:bodyPr>
            <a:lstStyle/>
            <a:p>
              <a:pPr lvl="0" algn="l" hangingPunct="0">
                <a:buClrTx/>
                <a:buSzTx/>
                <a:buFontTx/>
                <a:defRPr>
                  <a:latin typeface="微软雅黑"/>
                  <a:ea typeface="微软雅黑"/>
                  <a:cs typeface="微软雅黑"/>
                </a:defRPr>
              </a:pPr>
              <a:endParaRPr lang="en-US" sz="1000" dirty="0">
                <a:latin typeface="微软雅黑"/>
                <a:ea typeface="微软雅黑"/>
                <a:cs typeface="微软雅黑"/>
                <a:sym typeface="微软雅黑"/>
              </a:endParaRPr>
            </a:p>
          </p:txBody>
        </p:sp>
        <p:sp>
          <p:nvSpPr>
            <p:cNvPr id="359" name="Freeform: Shape 91"/>
            <p:cNvSpPr/>
            <p:nvPr/>
          </p:nvSpPr>
          <p:spPr>
            <a:xfrm>
              <a:off x="2298" y="9684"/>
              <a:ext cx="2373" cy="245"/>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gradFill>
              <a:gsLst>
                <a:gs pos="0">
                  <a:srgbClr val="3368FF"/>
                </a:gs>
                <a:gs pos="100000">
                  <a:srgbClr val="668EFF"/>
                </a:gs>
              </a:gsLst>
              <a:lin ang="16200000" scaled="0"/>
            </a:gradFill>
            <a:ln cap="flat">
              <a:noFill/>
              <a:prstDash val="solid"/>
            </a:ln>
          </p:spPr>
          <p:txBody>
            <a:bodyPr vert="horz" wrap="none" lIns="0" tIns="0" rIns="0" bIns="0" anchor="ctr" anchorCtr="1" compatLnSpc="0">
              <a:noAutofit/>
            </a:bodyPr>
            <a:lstStyle/>
            <a:p>
              <a:pPr lvl="0" algn="l" hangingPunct="0">
                <a:buClrTx/>
                <a:buSzTx/>
                <a:buFontTx/>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sym typeface="微软雅黑"/>
              </a:endParaRPr>
            </a:p>
          </p:txBody>
        </p:sp>
        <p:sp>
          <p:nvSpPr>
            <p:cNvPr id="360" name="矩形 359"/>
            <p:cNvSpPr/>
            <p:nvPr/>
          </p:nvSpPr>
          <p:spPr>
            <a:xfrm>
              <a:off x="2639" y="5826"/>
              <a:ext cx="1703" cy="3557"/>
            </a:xfrm>
            <a:prstGeom prst="rect">
              <a:avLst/>
            </a:prstGeom>
            <a:pattFill prst="wdUpDiag">
              <a:fgClr>
                <a:srgbClr val="FFFFFF"/>
              </a:fgClr>
              <a:bgClr>
                <a:srgbClr val="E6E6E6"/>
              </a:bgClr>
            </a:patt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361" name="Google Shape;723;p30"/>
            <p:cNvSpPr txBox="1"/>
            <p:nvPr/>
          </p:nvSpPr>
          <p:spPr>
            <a:xfrm>
              <a:off x="2455" y="5055"/>
              <a:ext cx="2061" cy="311"/>
            </a:xfrm>
            <a:prstGeom prst="rect">
              <a:avLst/>
            </a:prstGeom>
            <a:noFill/>
            <a:ln>
              <a:noFill/>
            </a:ln>
          </p:spPr>
          <p:txBody>
            <a:bodyPr spcFirstLastPara="1" wrap="square" lIns="0" tIns="0" rIns="0" bIns="0" anchor="t" anchorCtr="0">
              <a:spAutoFit/>
            </a:bodyPr>
            <a:lstStyle/>
            <a:p>
              <a:pPr algn="ctr">
                <a:defRPr>
                  <a:solidFill>
                    <a:srgbClr val="FFFFFF"/>
                  </a:solidFill>
                  <a:latin typeface="微软雅黑"/>
                  <a:ea typeface="微软雅黑"/>
                  <a:cs typeface="微软雅黑"/>
                </a:defRPr>
              </a:pPr>
              <a:r>
                <a:rPr lang="en-US" altLang="zh-CN" sz="1000" b="1">
                  <a:solidFill>
                    <a:srgbClr val="FFFFFF"/>
                  </a:solidFill>
                  <a:latin typeface="微软雅黑"/>
                  <a:ea typeface="微软雅黑"/>
                  <a:cs typeface="微软雅黑"/>
                  <a:sym typeface="微软雅黑"/>
                </a:rPr>
                <a:t>”</a:t>
              </a:r>
              <a:r>
                <a:rPr lang="zh-CN" altLang="en-US" sz="1000" b="1">
                  <a:solidFill>
                    <a:srgbClr val="FFFFFF"/>
                  </a:solidFill>
                  <a:latin typeface="微软雅黑"/>
                  <a:ea typeface="微软雅黑"/>
                  <a:cs typeface="微软雅黑"/>
                  <a:sym typeface="微软雅黑"/>
                </a:rPr>
                <a:t>第四支柱：</a:t>
              </a:r>
              <a:r>
                <a:rPr lang="zh-CN" altLang="en-US" sz="1000" b="1">
                  <a:solidFill>
                    <a:srgbClr val="FFFFFF"/>
                  </a:solidFill>
                  <a:latin typeface="微软雅黑"/>
                  <a:ea typeface="微软雅黑"/>
                  <a:cs typeface="微软雅黑"/>
                  <a:sym typeface="微软雅黑"/>
                </a:rPr>
                <a:t>拓新</a:t>
              </a:r>
              <a:r>
                <a:rPr lang="en-US" altLang="zh-CN" sz="1000" b="1">
                  <a:solidFill>
                    <a:srgbClr val="FFFFFF"/>
                  </a:solidFill>
                  <a:latin typeface="微软雅黑"/>
                  <a:ea typeface="微软雅黑"/>
                  <a:cs typeface="微软雅黑"/>
                  <a:sym typeface="微软雅黑"/>
                </a:rPr>
                <a:t>“</a:t>
              </a:r>
              <a:endParaRPr lang="en-US" altLang="zh-CN" sz="1000" b="1" dirty="0">
                <a:solidFill>
                  <a:srgbClr val="FFFFFF"/>
                </a:solidFill>
                <a:latin typeface="微软雅黑"/>
                <a:ea typeface="微软雅黑"/>
                <a:cs typeface="微软雅黑"/>
                <a:sym typeface="微软雅黑"/>
              </a:endParaRPr>
            </a:p>
          </p:txBody>
        </p:sp>
        <p:sp>
          <p:nvSpPr>
            <p:cNvPr id="362" name="Google Shape;723;p30"/>
            <p:cNvSpPr txBox="1"/>
            <p:nvPr/>
          </p:nvSpPr>
          <p:spPr>
            <a:xfrm>
              <a:off x="3145" y="9322"/>
              <a:ext cx="679" cy="360"/>
            </a:xfrm>
            <a:prstGeom prst="rect">
              <a:avLst/>
            </a:prstGeom>
            <a:noFill/>
            <a:ln>
              <a:noFill/>
            </a:ln>
          </p:spPr>
          <p:txBody>
            <a:bodyPr spcFirstLastPara="1" wrap="square" lIns="19050" tIns="19050" rIns="19050" bIns="19050" anchor="t" anchorCtr="0">
              <a:spAutoFit/>
            </a:bodyPr>
            <a:lstStyle/>
            <a:p>
              <a:pPr algn="ctr">
                <a:defRPr>
                  <a:latin typeface="微软雅黑"/>
                  <a:ea typeface="微软雅黑"/>
                  <a:cs typeface="微软雅黑"/>
                </a:defRPr>
              </a:pPr>
              <a:r>
                <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④</a:t>
              </a:r>
              <a:endParaRPr lang="zh-CN" sz="1200" b="1" dirty="0">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363" name="矩形 362"/>
            <p:cNvSpPr/>
            <p:nvPr/>
          </p:nvSpPr>
          <p:spPr>
            <a:xfrm>
              <a:off x="2639" y="5815"/>
              <a:ext cx="1703" cy="3557"/>
            </a:xfrm>
            <a:prstGeom prst="rect">
              <a:avLst/>
            </a:prstGeom>
            <a:solidFill>
              <a:srgbClr val="FFFFFF">
                <a:alpha val="40000"/>
              </a:srgbClr>
            </a:solid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364" name="五边形 363"/>
            <p:cNvSpPr/>
            <p:nvPr/>
          </p:nvSpPr>
          <p:spPr>
            <a:xfrm rot="5400000">
              <a:off x="1891" y="6971"/>
              <a:ext cx="3258" cy="1306"/>
            </a:xfrm>
            <a:prstGeom prst="homePlate">
              <a:avLst>
                <a:gd name="adj" fmla="val 27119"/>
              </a:avLst>
            </a:prstGeom>
            <a:solidFill>
              <a:srgbClr val="FFFFFF"/>
            </a:solidFill>
            <a:ln w="12700">
              <a:gradFill>
                <a:gsLst>
                  <a:gs pos="0">
                    <a:srgbClr val="3368FF"/>
                  </a:gs>
                  <a:gs pos="100000">
                    <a:srgbClr val="E6E6E6"/>
                  </a:gs>
                </a:gsLst>
                <a:lin ang="10800000" scaled="1"/>
              </a:gradFill>
            </a:ln>
          </p:spPr>
          <p:txBody>
            <a:bodyPr spcFirstLastPara="1" wrap="square" lIns="0" tIns="0" rIns="0" bIns="0" rtlCol="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365" name="下箭头 364"/>
            <p:cNvSpPr/>
            <p:nvPr/>
          </p:nvSpPr>
          <p:spPr>
            <a:xfrm>
              <a:off x="3216" y="5782"/>
              <a:ext cx="555" cy="3321"/>
            </a:xfrm>
            <a:prstGeom prst="downArrow">
              <a:avLst/>
            </a:prstGeom>
            <a:solidFill>
              <a:srgbClr val="E6E6E6">
                <a:alpha val="7000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366" name="组合 365"/>
            <p:cNvGrpSpPr/>
            <p:nvPr/>
          </p:nvGrpSpPr>
          <p:grpSpPr>
            <a:xfrm rot="0">
              <a:off x="3038" y="6647"/>
              <a:ext cx="944" cy="513"/>
              <a:chOff x="2917" y="6632"/>
              <a:chExt cx="970" cy="527"/>
            </a:xfrm>
          </p:grpSpPr>
          <p:sp>
            <p:nvSpPr>
              <p:cNvPr id="367" name="Google Shape;703;p30"/>
              <p:cNvSpPr/>
              <p:nvPr/>
            </p:nvSpPr>
            <p:spPr>
              <a:xfrm>
                <a:off x="2918" y="6632"/>
                <a:ext cx="969" cy="527"/>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68" name="Google Shape;723;p30"/>
              <p:cNvSpPr txBox="1"/>
              <p:nvPr/>
            </p:nvSpPr>
            <p:spPr>
              <a:xfrm>
                <a:off x="2917" y="6672"/>
                <a:ext cx="970" cy="522"/>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智能技术场景融合</a:t>
                </a:r>
                <a:endParaRPr lang="zh-CN" altLang="en-US" sz="1000" dirty="0">
                  <a:solidFill>
                    <a:srgbClr val="383838"/>
                  </a:solidFill>
                  <a:latin typeface="微软雅黑"/>
                  <a:ea typeface="微软雅黑"/>
                  <a:cs typeface="微软雅黑"/>
                  <a:sym typeface="微软雅黑"/>
                </a:endParaRPr>
              </a:p>
            </p:txBody>
          </p:sp>
        </p:grpSp>
        <p:grpSp>
          <p:nvGrpSpPr>
            <p:cNvPr id="369" name="组合 368"/>
            <p:cNvGrpSpPr/>
            <p:nvPr/>
          </p:nvGrpSpPr>
          <p:grpSpPr>
            <a:xfrm rot="0">
              <a:off x="3047" y="7427"/>
              <a:ext cx="944" cy="483"/>
              <a:chOff x="2926" y="7538"/>
              <a:chExt cx="970" cy="496"/>
            </a:xfrm>
          </p:grpSpPr>
          <p:sp>
            <p:nvSpPr>
              <p:cNvPr id="370" name="Google Shape;703;p30"/>
              <p:cNvSpPr/>
              <p:nvPr/>
            </p:nvSpPr>
            <p:spPr>
              <a:xfrm>
                <a:off x="2927" y="7538"/>
                <a:ext cx="969" cy="496"/>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71" name="Google Shape;723;p30"/>
              <p:cNvSpPr txBox="1"/>
              <p:nvPr/>
            </p:nvSpPr>
            <p:spPr>
              <a:xfrm>
                <a:off x="2926" y="7562"/>
                <a:ext cx="970" cy="522"/>
              </a:xfrm>
              <a:prstGeom prst="rect">
                <a:avLst/>
              </a:prstGeom>
              <a:noFill/>
              <a:ln>
                <a:noFill/>
              </a:ln>
            </p:spPr>
            <p:txBody>
              <a:bodyPr spcFirstLastPara="1" wrap="square" lIns="0" tIns="0" rIns="0" bIns="0" anchor="t" anchorCtr="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平台化生态构建</a:t>
                </a:r>
                <a:endParaRPr lang="zh-CN" altLang="en-US" sz="1000" dirty="0">
                  <a:solidFill>
                    <a:srgbClr val="383838"/>
                  </a:solidFill>
                  <a:latin typeface="微软雅黑"/>
                  <a:ea typeface="微软雅黑"/>
                  <a:cs typeface="微软雅黑"/>
                  <a:sym typeface="微软雅黑"/>
                </a:endParaRPr>
              </a:p>
            </p:txBody>
          </p:sp>
        </p:grpSp>
        <p:sp>
          <p:nvSpPr>
            <p:cNvPr id="372" name="Google Shape;703;p30"/>
            <p:cNvSpPr/>
            <p:nvPr/>
          </p:nvSpPr>
          <p:spPr>
            <a:xfrm>
              <a:off x="3048" y="8177"/>
              <a:ext cx="943" cy="475"/>
            </a:xfrm>
            <a:prstGeom prst="roundRect">
              <a:avLst>
                <a:gd name="adj" fmla="val 3814"/>
              </a:avLst>
            </a:prstGeom>
            <a:solidFill>
              <a:srgbClr val="FFFFFF"/>
            </a:solidFill>
            <a:ln w="12700">
              <a:solidFill>
                <a:srgbClr val="668E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grpSp>
          <p:nvGrpSpPr>
            <p:cNvPr id="373" name="组合 372"/>
            <p:cNvGrpSpPr/>
            <p:nvPr/>
          </p:nvGrpSpPr>
          <p:grpSpPr>
            <a:xfrm rot="0">
              <a:off x="2931" y="6055"/>
              <a:ext cx="1178" cy="434"/>
              <a:chOff x="4060" y="4527"/>
              <a:chExt cx="1210" cy="446"/>
            </a:xfrm>
          </p:grpSpPr>
          <p:sp>
            <p:nvSpPr>
              <p:cNvPr id="374" name="矩形 373"/>
              <p:cNvSpPr/>
              <p:nvPr/>
            </p:nvSpPr>
            <p:spPr>
              <a:xfrm>
                <a:off x="4147" y="4638"/>
                <a:ext cx="1003" cy="328"/>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75" name="文本框 374"/>
              <p:cNvSpPr txBox="1"/>
              <p:nvPr/>
            </p:nvSpPr>
            <p:spPr>
              <a:xfrm>
                <a:off x="4060" y="4527"/>
                <a:ext cx="1210" cy="447"/>
              </a:xfrm>
              <a:prstGeom prst="rect">
                <a:avLst/>
              </a:prstGeom>
              <a:noFill/>
              <a:extLst>
                <a:ext uri="{909E8E84-426E-40DD-AFC4-6F175D3DCCD1}">
                  <a14:hiddenFill xmlns:a14="http://schemas.microsoft.com/office/drawing/2010/main">
                    <a:solidFill>
                      <a:srgbClr val="FFFFFF"/>
                    </a:solidFill>
                  </a14:hiddenFill>
                </a:ext>
              </a:extLst>
            </p:spPr>
            <p:txBody>
              <a:bodyPr wrap="square" rtlCol="0" anchor="t" anchorCtr="0" lIns="0" rIns="0" tIns="0" bIns="0">
                <a:noAutofit/>
              </a:bodyPr>
              <a:lstStyle/>
              <a:p>
                <a:pPr indent="0" algn="ctr" fontAlgn="auto">
                  <a:lnSpc>
                    <a:spcPts val="1640"/>
                  </a:lnSpc>
                  <a:defRPr>
                    <a:latin typeface="微软雅黑"/>
                    <a:ea typeface="微软雅黑"/>
                    <a:cs typeface="微软雅黑"/>
                  </a:defRPr>
                </a:pPr>
                <a:r>
                  <a:rPr lang="zh-CN" altLang="en-US" sz="1000" b="1">
                    <a:solidFill>
                      <a:srgbClr val="383838"/>
                    </a:solidFill>
                    <a:latin typeface="微软雅黑"/>
                    <a:ea typeface="微软雅黑"/>
                    <a:cs typeface="微软雅黑"/>
                  </a:rPr>
                  <a:t>核心举措</a:t>
                </a:r>
                <a:endParaRPr lang="zh-CN" altLang="en-US" sz="1000" b="1">
                  <a:solidFill>
                    <a:srgbClr val="383838"/>
                  </a:solidFill>
                  <a:latin typeface="微软雅黑"/>
                  <a:ea typeface="微软雅黑"/>
                  <a:cs typeface="微软雅黑"/>
                </a:endParaRPr>
              </a:p>
            </p:txBody>
          </p:sp>
        </p:grpSp>
        <p:sp>
          <p:nvSpPr>
            <p:cNvPr id="376" name="Google Shape;723;p30"/>
            <p:cNvSpPr txBox="1"/>
            <p:nvPr/>
          </p:nvSpPr>
          <p:spPr>
            <a:xfrm>
              <a:off x="3048" y="8196"/>
              <a:ext cx="944" cy="508"/>
            </a:xfrm>
            <a:prstGeom prst="rect">
              <a:avLst/>
            </a:prstGeom>
            <a:noFill/>
            <a:ln>
              <a:noFill/>
            </a:ln>
          </p:spPr>
          <p:txBody>
            <a:bodyPr spcFirstLastPara="1" wrap="square" lIns="0" tIns="0" rIns="0" bIns="0" anchor="t" anchorCtr="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前瞻能力孵化布局</a:t>
              </a:r>
              <a:endParaRPr lang="zh-CN" altLang="en-US" sz="1000" dirty="0">
                <a:solidFill>
                  <a:srgbClr val="383838"/>
                </a:solidFill>
                <a:latin typeface="微软雅黑"/>
                <a:ea typeface="微软雅黑"/>
                <a:cs typeface="微软雅黑"/>
                <a:sym typeface="微软雅黑"/>
              </a:endParaRPr>
            </a:p>
          </p:txBody>
        </p:sp>
      </p:grpSp>
      <p:grpSp>
        <p:nvGrpSpPr>
          <p:cNvPr id="380" name="©显眼包PPT4"/>
          <p:cNvGrpSpPr/>
          <p:nvPr/>
        </p:nvGrpSpPr>
        <p:grpSpPr>
          <a:xfrm rot="10800000" flipH="1">
            <a:off x="8710930" y="2583815"/>
            <a:ext cx="466725" cy="314960"/>
            <a:chOff x="6553358" y="-8441"/>
            <a:chExt cx="483040" cy="379009"/>
          </a:xfrm>
        </p:grpSpPr>
        <p:grpSp>
          <p:nvGrpSpPr>
            <p:cNvPr id="381" name="组合 380"/>
            <p:cNvGrpSpPr/>
            <p:nvPr/>
          </p:nvGrpSpPr>
          <p:grpSpPr>
            <a:xfrm>
              <a:off x="6610718" y="212835"/>
              <a:ext cx="369630" cy="157733"/>
              <a:chOff x="6671598" y="231774"/>
              <a:chExt cx="369630" cy="127608"/>
            </a:xfrm>
          </p:grpSpPr>
          <p:sp>
            <p:nvSpPr>
              <p:cNvPr id="382" name="©显眼包PPT4-1"/>
              <p:cNvSpPr/>
              <p:nvPr/>
            </p:nvSpPr>
            <p:spPr bwMode="auto">
              <a:xfrm>
                <a:off x="6671598" y="268288"/>
                <a:ext cx="369630" cy="91094"/>
              </a:xfrm>
              <a:custGeom>
                <a:avLst/>
                <a:gdLst>
                  <a:gd name="connsiteX0" fmla="*/ 0 w 444500"/>
                  <a:gd name="connsiteY0" fmla="*/ 0 h 91094"/>
                  <a:gd name="connsiteX1" fmla="*/ 222250 w 444500"/>
                  <a:gd name="connsiteY1" fmla="*/ 36513 h 91094"/>
                  <a:gd name="connsiteX2" fmla="*/ 444500 w 444500"/>
                  <a:gd name="connsiteY2" fmla="*/ 0 h 91094"/>
                  <a:gd name="connsiteX3" fmla="*/ 444500 w 444500"/>
                  <a:gd name="connsiteY3" fmla="*/ 54581 h 91094"/>
                  <a:gd name="connsiteX4" fmla="*/ 222250 w 444500"/>
                  <a:gd name="connsiteY4" fmla="*/ 91094 h 91094"/>
                  <a:gd name="connsiteX5" fmla="*/ 0 w 444500"/>
                  <a:gd name="connsiteY5" fmla="*/ 54581 h 91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500" h="91094">
                    <a:moveTo>
                      <a:pt x="0" y="0"/>
                    </a:moveTo>
                    <a:cubicBezTo>
                      <a:pt x="0" y="20178"/>
                      <a:pt x="99574" y="36513"/>
                      <a:pt x="222250" y="36513"/>
                    </a:cubicBezTo>
                    <a:cubicBezTo>
                      <a:pt x="345022" y="36513"/>
                      <a:pt x="444500" y="20178"/>
                      <a:pt x="444500" y="0"/>
                    </a:cubicBezTo>
                    <a:lnTo>
                      <a:pt x="444500" y="54581"/>
                    </a:lnTo>
                    <a:cubicBezTo>
                      <a:pt x="444500" y="74759"/>
                      <a:pt x="345022" y="91094"/>
                      <a:pt x="222250" y="91094"/>
                    </a:cubicBezTo>
                    <a:cubicBezTo>
                      <a:pt x="99574" y="91094"/>
                      <a:pt x="0" y="74759"/>
                      <a:pt x="0" y="54581"/>
                    </a:cubicBezTo>
                    <a:close/>
                  </a:path>
                </a:pathLst>
              </a:custGeom>
              <a:gradFill flip="none" rotWithShape="1">
                <a:gsLst>
                  <a:gs pos="3846">
                    <a:srgbClr val="E6E6E6"/>
                  </a:gs>
                  <a:gs pos="15000">
                    <a:srgbClr val="668EFF"/>
                  </a:gs>
                  <a:gs pos="74000">
                    <a:srgbClr val="3368FF"/>
                  </a:gs>
                </a:gsLst>
                <a:lin ang="10800000" scaled="1"/>
                <a:tileRect/>
              </a:gradFill>
              <a:ln w="6350">
                <a:solidFill>
                  <a:srgbClr val="FFFFFF"/>
                </a:solidFill>
                <a:prstDash val="solid"/>
                <a:round/>
              </a:ln>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383" name="©显眼包PPT4-2"/>
              <p:cNvSpPr>
                <a:spLocks noChangeArrowheads="1"/>
              </p:cNvSpPr>
              <p:nvPr/>
            </p:nvSpPr>
            <p:spPr bwMode="auto">
              <a:xfrm>
                <a:off x="6671598" y="231774"/>
                <a:ext cx="369630" cy="85159"/>
              </a:xfrm>
              <a:prstGeom prst="ellipse">
                <a:avLst/>
              </a:prstGeom>
              <a:gradFill flip="none" rotWithShape="1">
                <a:gsLst>
                  <a:gs pos="9402">
                    <a:srgbClr val="E6E6E6"/>
                  </a:gs>
                  <a:gs pos="58000">
                    <a:srgbClr val="668EFF"/>
                  </a:gs>
                  <a:gs pos="100000">
                    <a:srgbClr val="3368FF"/>
                  </a:gs>
                </a:gsLst>
                <a:lin ang="5400000" scaled="1"/>
                <a:tileRect/>
              </a:gradFill>
              <a:ln w="0">
                <a:noFill/>
                <a:prstDash val="solid"/>
                <a:round/>
              </a:ln>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sp>
          <p:nvSpPr>
            <p:cNvPr id="384" name="©显眼包PPT4-3"/>
            <p:cNvSpPr>
              <a:spLocks noChangeArrowheads="1"/>
            </p:cNvSpPr>
            <p:nvPr/>
          </p:nvSpPr>
          <p:spPr bwMode="auto">
            <a:xfrm>
              <a:off x="6553358" y="-8441"/>
              <a:ext cx="483040" cy="295719"/>
            </a:xfrm>
            <a:custGeom>
              <a:avLst/>
              <a:gdLst>
                <a:gd name="connsiteX0" fmla="*/ 0 w 800"/>
                <a:gd name="connsiteY0" fmla="*/ 0 h 387"/>
                <a:gd name="connsiteX1" fmla="*/ 800 w 800"/>
                <a:gd name="connsiteY1" fmla="*/ 0 h 387"/>
                <a:gd name="connsiteX2" fmla="*/ 703 w 800"/>
                <a:gd name="connsiteY2" fmla="*/ 344 h 387"/>
                <a:gd name="connsiteX3" fmla="*/ 700 w 800"/>
                <a:gd name="connsiteY3" fmla="*/ 344 h 387"/>
                <a:gd name="connsiteX4" fmla="*/ 700 w 800"/>
                <a:gd name="connsiteY4" fmla="*/ 344 h 387"/>
                <a:gd name="connsiteX5" fmla="*/ 399 w 800"/>
                <a:gd name="connsiteY5" fmla="*/ 387 h 387"/>
                <a:gd name="connsiteX6" fmla="*/ 263 w 800"/>
                <a:gd name="connsiteY6" fmla="*/ 325 h 387"/>
                <a:gd name="connsiteX7" fmla="*/ 98 w 800"/>
                <a:gd name="connsiteY7" fmla="*/ 344 h 387"/>
                <a:gd name="connsiteX8" fmla="*/ 97 w 800"/>
                <a:gd name="connsiteY8" fmla="*/ 344 h 387"/>
                <a:gd name="connsiteX9" fmla="*/ 0 w 800"/>
                <a:gd name="connsiteY9" fmla="*/ 0 h 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0" h="387">
                  <a:moveTo>
                    <a:pt x="0" y="0"/>
                  </a:moveTo>
                  <a:lnTo>
                    <a:pt x="800" y="0"/>
                  </a:lnTo>
                  <a:lnTo>
                    <a:pt x="703" y="344"/>
                  </a:lnTo>
                  <a:lnTo>
                    <a:pt x="700" y="344"/>
                  </a:lnTo>
                  <a:lnTo>
                    <a:pt x="700" y="344"/>
                  </a:lnTo>
                  <a:cubicBezTo>
                    <a:pt x="700" y="368"/>
                    <a:pt x="566" y="387"/>
                    <a:pt x="399" y="387"/>
                  </a:cubicBezTo>
                  <a:cubicBezTo>
                    <a:pt x="233" y="387"/>
                    <a:pt x="263" y="349"/>
                    <a:pt x="263" y="325"/>
                  </a:cubicBezTo>
                  <a:lnTo>
                    <a:pt x="98" y="344"/>
                  </a:lnTo>
                  <a:lnTo>
                    <a:pt x="97" y="344"/>
                  </a:lnTo>
                  <a:lnTo>
                    <a:pt x="0" y="0"/>
                  </a:lnTo>
                  <a:close/>
                </a:path>
              </a:pathLst>
            </a:custGeom>
            <a:gradFill flip="none" rotWithShape="1">
              <a:gsLst>
                <a:gs pos="0">
                  <a:srgbClr val="FFFFFF">
                    <a:alpha val="0"/>
                  </a:srgbClr>
                </a:gs>
                <a:gs pos="63000">
                  <a:srgbClr val="E6E6E6">
                    <a:alpha val="100000"/>
                  </a:srgbClr>
                </a:gs>
                <a:gs pos="100000">
                  <a:srgbClr val="FFFFFF">
                    <a:alpha val="0"/>
                  </a:srgbClr>
                </a:gs>
              </a:gsLst>
              <a:lin ang="5400000" scaled="1"/>
              <a:tileRect/>
            </a:gradFill>
            <a:ln w="0">
              <a:noFill/>
              <a:prstDash val="solid"/>
              <a:round/>
            </a:ln>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385" name="©显眼包PPT4-4"/>
            <p:cNvSpPr>
              <a:spLocks noChangeArrowheads="1"/>
            </p:cNvSpPr>
            <p:nvPr/>
          </p:nvSpPr>
          <p:spPr bwMode="auto">
            <a:xfrm>
              <a:off x="6652856" y="241623"/>
              <a:ext cx="285354" cy="45719"/>
            </a:xfrm>
            <a:prstGeom prst="ellipse">
              <a:avLst/>
            </a:prstGeom>
            <a:gradFill flip="none" rotWithShape="1">
              <a:gsLst>
                <a:gs pos="9000">
                  <a:srgbClr val="FFFFFF">
                    <a:alpha val="0"/>
                  </a:srgbClr>
                </a:gs>
                <a:gs pos="100000">
                  <a:srgbClr val="FFFFFF"/>
                </a:gs>
              </a:gsLst>
              <a:lin ang="5400000" scaled="1"/>
              <a:tileRect/>
            </a:gradFill>
            <a:ln w="6350">
              <a:gradFill>
                <a:gsLst>
                  <a:gs pos="16000">
                    <a:srgbClr val="FFFFFF">
                      <a:alpha val="0"/>
                    </a:srgbClr>
                  </a:gs>
                  <a:gs pos="100000">
                    <a:srgbClr val="FFFFFF"/>
                  </a:gs>
                </a:gsLst>
                <a:lin ang="5400000" scaled="1"/>
              </a:gradFill>
              <a:prstDash val="solid"/>
              <a:round/>
            </a:ln>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pic>
        <p:nvPicPr>
          <p:cNvPr id="388" name="图片 387" descr="创新思维"/>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796338" y="2723515"/>
            <a:ext cx="295910" cy="295910"/>
          </a:xfrm>
          <a:prstGeom prst="rect">
            <a:avLst/>
          </a:prstGeom>
          <a:effectLst>
            <a:reflection blurRad="6350" stA="52000" endA="300" endPos="35000" dir="5400000" sy="-100000" algn="bl" rotWithShape="0"/>
          </a:effectLst>
        </p:spPr>
      </p:pic>
      <p:pic>
        <p:nvPicPr>
          <p:cNvPr id="2" name="图片 1" descr="屋顶资源管理"/>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5600" y="186055"/>
            <a:ext cx="549910" cy="549910"/>
          </a:xfrm>
          <a:prstGeom prst="rect">
            <a:avLst/>
          </a:prstGeom>
        </p:spPr>
      </p:pic>
      <p:grpSp>
        <p:nvGrpSpPr>
          <p:cNvPr id="3" name="组合 2"/>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9"/>
            <a:srcRect r="57320" b="-13333"/>
            <a:stretch>
              <a:fillRect/>
            </a:stretch>
          </p:blipFill>
          <p:spPr>
            <a:xfrm>
              <a:off x="12087" y="-1089"/>
              <a:ext cx="2548" cy="578"/>
            </a:xfrm>
            <a:prstGeom prst="rect">
              <a:avLst/>
            </a:prstGeom>
          </p:spPr>
        </p:pic>
        <p:sp>
          <p:nvSpPr>
            <p:cNvPr id="10" name="文本框 9"/>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9836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6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60">
                <a:solidFill>
                  <a:srgbClr val="0042FF"/>
                </a:solidFill>
                <a:effectLst/>
                <a:latin typeface="微软雅黑"/>
                <a:ea typeface="微软雅黑"/>
                <a:cs typeface="微软雅黑"/>
              </a:rPr>
              <a:t>业务框架</a:t>
            </a:r>
            <a:r>
              <a:rPr lang="en-US" altLang="zh-CN" sz="2460">
                <a:solidFill>
                  <a:srgbClr val="0042FF"/>
                </a:solidFill>
                <a:effectLst/>
                <a:latin typeface="微软雅黑"/>
                <a:ea typeface="微软雅黑"/>
                <a:cs typeface="微软雅黑"/>
              </a:rPr>
              <a:t>-</a:t>
            </a:r>
            <a:r>
              <a:rPr sz="2460">
                <a:solidFill>
                  <a:srgbClr val="0042FF"/>
                </a:solidFill>
                <a:effectLst/>
                <a:latin typeface="微软雅黑"/>
                <a:ea typeface="微软雅黑"/>
                <a:cs typeface="微软雅黑"/>
              </a:rPr>
              <a:t>屋顶架构 | </a:t>
            </a:r>
            <a:r>
              <a:rPr lang="zh-CN" altLang="en-US" sz="2460">
                <a:solidFill>
                  <a:srgbClr val="383838"/>
                </a:solidFill>
                <a:effectLst/>
                <a:latin typeface="微软雅黑"/>
                <a:ea typeface="微软雅黑"/>
                <a:cs typeface="微软雅黑"/>
                <a:sym typeface="微软雅黑"/>
              </a:rPr>
              <a:t>数字化平台赋能从获客到经营</a:t>
            </a:r>
            <a:endParaRPr lang="en-US" altLang="zh-CN" sz="2460">
              <a:solidFill>
                <a:srgbClr val="383838"/>
              </a:solidFill>
              <a:effectLst/>
              <a:latin typeface="微软雅黑"/>
              <a:ea typeface="微软雅黑"/>
              <a:cs typeface="微软雅黑"/>
              <a:sym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88" name="Freeform: Shape 87"/>
          <p:cNvSpPr/>
          <p:nvPr/>
        </p:nvSpPr>
        <p:spPr>
          <a:xfrm>
            <a:off x="510540" y="1095375"/>
            <a:ext cx="11174730" cy="1088390"/>
          </a:xfrm>
          <a:custGeom>
            <a:avLst/>
            <a:gdLst/>
            <a:ahLst/>
            <a:cxnLst>
              <a:cxn ang="3">
                <a:pos x="hc" y="t"/>
              </a:cxn>
              <a:cxn ang="cd2">
                <a:pos x="l" y="vc"/>
              </a:cxn>
              <a:cxn ang="cd4">
                <a:pos x="hc" y="b"/>
              </a:cxn>
              <a:cxn ang="0">
                <a:pos x="r" y="vc"/>
              </a:cxn>
            </a:cxnLst>
            <a:rect l="l" t="t" r="r" b="b"/>
            <a:pathLst>
              <a:path w="7632" h="1674">
                <a:moveTo>
                  <a:pt x="3817" y="0"/>
                </a:moveTo>
                <a:lnTo>
                  <a:pt x="0" y="1674"/>
                </a:lnTo>
                <a:lnTo>
                  <a:pt x="7632" y="1674"/>
                </a:lnTo>
                <a:close/>
              </a:path>
            </a:pathLst>
          </a:custGeom>
          <a:gradFill>
            <a:gsLst>
              <a:gs pos="100000">
                <a:srgbClr val="3368FF"/>
              </a:gs>
              <a:gs pos="0">
                <a:srgbClr val="0042FF"/>
              </a:gs>
            </a:gsLst>
            <a:lin ang="5400000" scaled="0"/>
          </a:gradFill>
          <a:ln w="25400" cap="flat">
            <a:solidFill>
              <a:srgbClr val="FFFFFF"/>
            </a:solidFill>
            <a:prstDash val="solid"/>
          </a:ln>
        </p:spPr>
        <p:txBody>
          <a:bodyPr vert="horz" wrap="none" lIns="0" tIns="0" rIns="0" bIns="0" anchor="ctr" anchorCtr="1" compatLnSpc="0"/>
          <a:p>
            <a:pPr hangingPunct="0">
              <a:defRPr>
                <a:solidFill>
                  <a:srgbClr val="383838"/>
                </a:solidFill>
                <a:latin typeface="微软雅黑"/>
                <a:ea typeface="微软雅黑"/>
                <a:cs typeface="微软雅黑"/>
              </a:defRPr>
            </a:pPr>
            <a:endParaRPr lang="en-US" sz="1000" dirty="0">
              <a:solidFill>
                <a:srgbClr val="383838"/>
              </a:solidFill>
              <a:latin typeface="微软雅黑"/>
              <a:ea typeface="微软雅黑"/>
              <a:cs typeface="微软雅黑"/>
            </a:endParaRPr>
          </a:p>
        </p:txBody>
      </p:sp>
      <p:sp>
        <p:nvSpPr>
          <p:cNvPr id="129" name="Freeform: Shape 128"/>
          <p:cNvSpPr/>
          <p:nvPr/>
        </p:nvSpPr>
        <p:spPr>
          <a:xfrm>
            <a:off x="1847215" y="5801360"/>
            <a:ext cx="8403590" cy="371475"/>
          </a:xfrm>
          <a:custGeom>
            <a:avLst/>
            <a:gdLst/>
            <a:ahLst/>
            <a:cxnLst>
              <a:cxn ang="3">
                <a:pos x="hc" y="t"/>
              </a:cxn>
              <a:cxn ang="cd2">
                <a:pos x="l" y="vc"/>
              </a:cxn>
              <a:cxn ang="cd4">
                <a:pos x="hc" y="b"/>
              </a:cxn>
              <a:cxn ang="0">
                <a:pos x="r" y="vc"/>
              </a:cxn>
            </a:cxnLst>
            <a:rect l="l" t="t" r="r" b="b"/>
            <a:pathLst>
              <a:path w="7745" h="345">
                <a:moveTo>
                  <a:pt x="7745" y="345"/>
                </a:moveTo>
                <a:lnTo>
                  <a:pt x="0" y="345"/>
                </a:lnTo>
                <a:lnTo>
                  <a:pt x="0" y="0"/>
                </a:lnTo>
                <a:lnTo>
                  <a:pt x="7745" y="0"/>
                </a:lnTo>
                <a:close/>
              </a:path>
            </a:pathLst>
          </a:custGeom>
          <a:gradFill>
            <a:gsLst>
              <a:gs pos="13000">
                <a:srgbClr val="3368FF"/>
              </a:gs>
              <a:gs pos="95000">
                <a:srgbClr val="B3D4FE"/>
              </a:gs>
            </a:gsLst>
            <a:lin ang="5400000" scaled="0"/>
          </a:gradFill>
          <a:ln cap="flat">
            <a:solidFill>
              <a:srgbClr val="FFFFFF"/>
            </a:solidFill>
            <a:prstDash val="solid"/>
          </a:ln>
        </p:spPr>
        <p:txBody>
          <a:bodyPr vert="horz" wrap="none" lIns="0" tIns="0" rIns="0" bIns="0" anchor="ctr" anchorCtr="1" compatLnSpc="0">
            <a:noAutofit/>
          </a:bodyPr>
          <a:p>
            <a:pPr lvl="0" algn="l" hangingPunct="0">
              <a:buClrTx/>
              <a:buSzTx/>
              <a:buFontTx/>
              <a:defRPr>
                <a:latin typeface="微软雅黑"/>
                <a:ea typeface="微软雅黑"/>
                <a:cs typeface="微软雅黑"/>
              </a:defRPr>
            </a:pPr>
            <a:endParaRPr lang="en-US" sz="1000" dirty="0">
              <a:latin typeface="微软雅黑"/>
              <a:ea typeface="微软雅黑"/>
              <a:cs typeface="微软雅黑"/>
              <a:sym typeface="微软雅黑"/>
            </a:endParaRPr>
          </a:p>
        </p:txBody>
      </p:sp>
      <p:sp>
        <p:nvSpPr>
          <p:cNvPr id="130" name="Freeform: Shape 129"/>
          <p:cNvSpPr/>
          <p:nvPr/>
        </p:nvSpPr>
        <p:spPr>
          <a:xfrm>
            <a:off x="1338580" y="6172835"/>
            <a:ext cx="9420860" cy="394335"/>
          </a:xfrm>
          <a:custGeom>
            <a:avLst/>
            <a:gdLst/>
            <a:ahLst/>
            <a:cxnLst>
              <a:cxn ang="3">
                <a:pos x="hc" y="t"/>
              </a:cxn>
              <a:cxn ang="cd2">
                <a:pos x="l" y="vc"/>
              </a:cxn>
              <a:cxn ang="cd4">
                <a:pos x="hc" y="b"/>
              </a:cxn>
              <a:cxn ang="0">
                <a:pos x="r" y="vc"/>
              </a:cxn>
            </a:cxnLst>
            <a:rect l="l" t="t" r="r" b="b"/>
            <a:pathLst>
              <a:path w="8118" h="345">
                <a:moveTo>
                  <a:pt x="8118" y="345"/>
                </a:moveTo>
                <a:lnTo>
                  <a:pt x="0" y="345"/>
                </a:lnTo>
                <a:lnTo>
                  <a:pt x="0" y="0"/>
                </a:lnTo>
                <a:lnTo>
                  <a:pt x="8118" y="0"/>
                </a:lnTo>
                <a:close/>
              </a:path>
            </a:pathLst>
          </a:custGeom>
          <a:gradFill flip="none" rotWithShape="1">
            <a:gsLst>
              <a:gs pos="0">
                <a:srgbClr val="0042FF"/>
              </a:gs>
              <a:gs pos="75000">
                <a:srgbClr val="3368FF"/>
              </a:gs>
            </a:gsLst>
            <a:lin ang="5400000" scaled="1"/>
            <a:tileRect/>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a:solidFill>
                <a:srgbClr val="FFFFFF"/>
              </a:solidFill>
              <a:latin typeface="微软雅黑"/>
              <a:cs typeface="微软雅黑"/>
              <a:sym typeface="微软雅黑"/>
              <a:ea typeface="微软雅黑"/>
            </a:endParaRPr>
          </a:p>
        </p:txBody>
      </p:sp>
      <p:grpSp>
        <p:nvGrpSpPr>
          <p:cNvPr id="214" name="组合 213"/>
          <p:cNvGrpSpPr/>
          <p:nvPr/>
        </p:nvGrpSpPr>
        <p:grpSpPr>
          <a:xfrm rot="0">
            <a:off x="3393440" y="2256155"/>
            <a:ext cx="1243965" cy="3490595"/>
            <a:chOff x="3388" y="4290"/>
            <a:chExt cx="1533" cy="4631"/>
          </a:xfrm>
        </p:grpSpPr>
        <p:sp>
          <p:nvSpPr>
            <p:cNvPr id="215" name="Freeform: Shape 88"/>
            <p:cNvSpPr/>
            <p:nvPr/>
          </p:nvSpPr>
          <p:spPr>
            <a:xfrm>
              <a:off x="3388" y="4502"/>
              <a:ext cx="1533" cy="280"/>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B3D4FE">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216" name="Freeform: Shape 89"/>
            <p:cNvSpPr/>
            <p:nvPr/>
          </p:nvSpPr>
          <p:spPr>
            <a:xfrm>
              <a:off x="3388" y="4290"/>
              <a:ext cx="1533" cy="211"/>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B3D4FE"/>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217" name="Freeform: Shape 90"/>
            <p:cNvSpPr/>
            <p:nvPr/>
          </p:nvSpPr>
          <p:spPr>
            <a:xfrm>
              <a:off x="3388" y="8427"/>
              <a:ext cx="1533" cy="281"/>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B3D4FE">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218" name="Freeform: Shape 91"/>
            <p:cNvSpPr/>
            <p:nvPr/>
          </p:nvSpPr>
          <p:spPr>
            <a:xfrm>
              <a:off x="3388" y="8709"/>
              <a:ext cx="1533" cy="21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B3D4FE"/>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grpSp>
      <p:sp>
        <p:nvSpPr>
          <p:cNvPr id="219" name="矩形 218"/>
          <p:cNvSpPr/>
          <p:nvPr/>
        </p:nvSpPr>
        <p:spPr>
          <a:xfrm>
            <a:off x="3567430" y="2656205"/>
            <a:ext cx="892810" cy="2686050"/>
          </a:xfrm>
          <a:prstGeom prst="rect">
            <a:avLst/>
          </a:prstGeom>
          <a:pattFill prst="wdUpDiag">
            <a:fgClr>
              <a:srgbClr val="E6E6E6"/>
            </a:fgClr>
            <a:bgClr>
              <a:srgbClr val="FFFFFF"/>
            </a:bgClr>
          </a:pattFill>
          <a:ln>
            <a:noFill/>
          </a:ln>
        </p:spPr>
        <p:txBody>
          <a:bodyPr spcFirstLastPara="1" wrap="square" lIns="0" tIns="0" rIns="0" bIns="0" rtlCol="0" anchor="ctr" anchorCtr="0">
            <a:noAutofit/>
          </a:bodyPr>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235" name="五边形 234"/>
          <p:cNvSpPr/>
          <p:nvPr/>
        </p:nvSpPr>
        <p:spPr>
          <a:xfrm rot="5400000">
            <a:off x="2736215" y="3673475"/>
            <a:ext cx="2576195" cy="707390"/>
          </a:xfrm>
          <a:prstGeom prst="homePlate">
            <a:avLst>
              <a:gd name="adj" fmla="val 27119"/>
            </a:avLst>
          </a:prstGeom>
          <a:solidFill>
            <a:srgbClr val="FFFFFF"/>
          </a:solidFill>
          <a:ln w="12700">
            <a:gradFill>
              <a:gsLst>
                <a:gs pos="0">
                  <a:srgbClr val="3368FF"/>
                </a:gs>
                <a:gs pos="100000">
                  <a:srgbClr val="B3D4FE"/>
                </a:gs>
              </a:gsLst>
              <a:lin ang="10800000" scaled="1"/>
            </a:gradFill>
          </a:ln>
        </p:spPr>
        <p:txBody>
          <a:bodyPr spcFirstLastPara="1" wrap="square" lIns="0" tIns="0" rIns="0" bIns="0" rtlCol="0" anchor="ctr" anchorCtr="0">
            <a:noAutofit/>
          </a:bodyPr>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grpSp>
        <p:nvGrpSpPr>
          <p:cNvPr id="239" name="组合 238"/>
          <p:cNvGrpSpPr/>
          <p:nvPr/>
        </p:nvGrpSpPr>
        <p:grpSpPr>
          <a:xfrm rot="0">
            <a:off x="7509510" y="2243455"/>
            <a:ext cx="1243965" cy="3490595"/>
            <a:chOff x="3388" y="4290"/>
            <a:chExt cx="1533" cy="4631"/>
          </a:xfrm>
        </p:grpSpPr>
        <p:sp>
          <p:nvSpPr>
            <p:cNvPr id="240" name="Freeform: Shape 88"/>
            <p:cNvSpPr/>
            <p:nvPr/>
          </p:nvSpPr>
          <p:spPr>
            <a:xfrm>
              <a:off x="3388" y="4502"/>
              <a:ext cx="1533" cy="280"/>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B3D4FE">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241" name="Freeform: Shape 89"/>
            <p:cNvSpPr/>
            <p:nvPr/>
          </p:nvSpPr>
          <p:spPr>
            <a:xfrm>
              <a:off x="3388" y="4290"/>
              <a:ext cx="1533" cy="211"/>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B3D4FE"/>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242" name="Freeform: Shape 90"/>
            <p:cNvSpPr/>
            <p:nvPr/>
          </p:nvSpPr>
          <p:spPr>
            <a:xfrm>
              <a:off x="3388" y="8427"/>
              <a:ext cx="1533" cy="281"/>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B3D4FE">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243" name="Freeform: Shape 91"/>
            <p:cNvSpPr/>
            <p:nvPr/>
          </p:nvSpPr>
          <p:spPr>
            <a:xfrm>
              <a:off x="3388" y="8709"/>
              <a:ext cx="1533" cy="21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B3D4FE"/>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grpSp>
      <p:sp>
        <p:nvSpPr>
          <p:cNvPr id="244" name="矩形 243"/>
          <p:cNvSpPr/>
          <p:nvPr/>
        </p:nvSpPr>
        <p:spPr>
          <a:xfrm>
            <a:off x="7683500" y="2643505"/>
            <a:ext cx="892810" cy="2686050"/>
          </a:xfrm>
          <a:prstGeom prst="rect">
            <a:avLst/>
          </a:prstGeom>
          <a:pattFill prst="wdUpDiag">
            <a:fgClr>
              <a:srgbClr val="E6E6E6"/>
            </a:fgClr>
            <a:bgClr>
              <a:srgbClr val="FFFFFF"/>
            </a:bgClr>
          </a:pattFill>
          <a:ln>
            <a:noFill/>
          </a:ln>
        </p:spPr>
        <p:txBody>
          <a:bodyPr spcFirstLastPara="1" wrap="square" lIns="0" tIns="0" rIns="0" bIns="0" rtlCol="0" anchor="ctr" anchorCtr="0">
            <a:noAutofit/>
          </a:bodyPr>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245" name="五边形 244"/>
          <p:cNvSpPr/>
          <p:nvPr/>
        </p:nvSpPr>
        <p:spPr>
          <a:xfrm rot="5400000">
            <a:off x="6852285" y="3660775"/>
            <a:ext cx="2576195" cy="707390"/>
          </a:xfrm>
          <a:prstGeom prst="homePlate">
            <a:avLst>
              <a:gd name="adj" fmla="val 27119"/>
            </a:avLst>
          </a:prstGeom>
          <a:solidFill>
            <a:srgbClr val="FFFFFF"/>
          </a:solidFill>
          <a:ln w="12700">
            <a:gradFill>
              <a:gsLst>
                <a:gs pos="0">
                  <a:srgbClr val="3368FF"/>
                </a:gs>
                <a:gs pos="100000">
                  <a:srgbClr val="B3D4FE"/>
                </a:gs>
              </a:gsLst>
              <a:lin ang="10800000" scaled="1"/>
            </a:gradFill>
          </a:ln>
        </p:spPr>
        <p:txBody>
          <a:bodyPr spcFirstLastPara="1" wrap="square" lIns="0" tIns="0" rIns="0" bIns="0" rtlCol="0" anchor="ctr" anchorCtr="0">
            <a:noAutofit/>
          </a:bodyPr>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288" name="文本框 287"/>
          <p:cNvSpPr txBox="1"/>
          <p:nvPr/>
        </p:nvSpPr>
        <p:spPr>
          <a:xfrm>
            <a:off x="2228215" y="5818505"/>
            <a:ext cx="764159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不是为了数字化而数字化，是为了提升效率，服务好客户</a:t>
            </a:r>
            <a:endParaRPr lang="zh-CN" altLang="en-US" sz="1600" b="1">
              <a:solidFill>
                <a:srgbClr val="383838"/>
              </a:solidFill>
              <a:latin typeface="微软雅黑"/>
              <a:ea typeface="微软雅黑"/>
              <a:cs typeface="微软雅黑"/>
            </a:endParaRPr>
          </a:p>
        </p:txBody>
      </p:sp>
      <p:sp>
        <p:nvSpPr>
          <p:cNvPr id="290" name="文本框 289"/>
          <p:cNvSpPr txBox="1"/>
          <p:nvPr/>
        </p:nvSpPr>
        <p:spPr>
          <a:xfrm rot="20820000">
            <a:off x="3777615" y="1534160"/>
            <a:ext cx="180340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①营销员视角旅程</a:t>
            </a:r>
            <a:endParaRPr lang="zh-CN" altLang="en-US" sz="1400" b="1">
              <a:solidFill>
                <a:srgbClr val="FFFFFF"/>
              </a:solidFill>
              <a:latin typeface="微软雅黑"/>
              <a:ea typeface="微软雅黑"/>
              <a:cs typeface="微软雅黑"/>
            </a:endParaRPr>
          </a:p>
        </p:txBody>
      </p:sp>
      <p:sp>
        <p:nvSpPr>
          <p:cNvPr id="291" name="文本框 290"/>
          <p:cNvSpPr txBox="1"/>
          <p:nvPr/>
        </p:nvSpPr>
        <p:spPr>
          <a:xfrm rot="780000">
            <a:off x="6506845" y="1564005"/>
            <a:ext cx="1927860" cy="306705"/>
          </a:xfrm>
          <a:prstGeom prst="rect">
            <a:avLst/>
          </a:prstGeom>
          <a:noFill/>
        </p:spPr>
        <p:txBody>
          <a:bodyPr wrap="square" rtlCol="0">
            <a:sp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sym typeface="微软雅黑"/>
              </a:rPr>
              <a:t>②</a:t>
            </a:r>
            <a:r>
              <a:rPr lang="en-US" altLang="zh-CN" sz="1400" b="1">
                <a:solidFill>
                  <a:srgbClr val="FFFFFF"/>
                </a:solidFill>
                <a:latin typeface="微软雅黑"/>
                <a:ea typeface="微软雅黑"/>
                <a:cs typeface="微软雅黑"/>
                <a:sym typeface="微软雅黑"/>
              </a:rPr>
              <a:t> </a:t>
            </a:r>
            <a:r>
              <a:rPr lang="zh-CN" altLang="en-US" sz="1400" b="1">
                <a:solidFill>
                  <a:srgbClr val="FFFFFF"/>
                </a:solidFill>
                <a:latin typeface="微软雅黑"/>
                <a:ea typeface="微软雅黑"/>
                <a:cs typeface="微软雅黑"/>
                <a:sym typeface="微软雅黑"/>
              </a:rPr>
              <a:t>客户平台视角旅程</a:t>
            </a:r>
            <a:endParaRPr lang="zh-CN" altLang="en-US" sz="1400" b="1">
              <a:solidFill>
                <a:srgbClr val="FFFFFF"/>
              </a:solidFill>
              <a:latin typeface="微软雅黑"/>
              <a:ea typeface="微软雅黑"/>
              <a:cs typeface="微软雅黑"/>
              <a:sym typeface="微软雅黑"/>
            </a:endParaRPr>
          </a:p>
        </p:txBody>
      </p:sp>
      <p:sp>
        <p:nvSpPr>
          <p:cNvPr id="4" name="矩形 3"/>
          <p:cNvSpPr/>
          <p:nvPr/>
        </p:nvSpPr>
        <p:spPr>
          <a:xfrm>
            <a:off x="355600" y="3011170"/>
            <a:ext cx="1268730" cy="2019935"/>
          </a:xfrm>
          <a:prstGeom prst="rect">
            <a:avLst/>
          </a:prstGeom>
          <a:solidFill>
            <a:srgbClr val="E6E6E6">
              <a:alpha val="20000"/>
            </a:srgbClr>
          </a:solidFill>
          <a:ln w="19050">
            <a:gradFill>
              <a:gsLst>
                <a:gs pos="0">
                  <a:srgbClr val="3368FF"/>
                </a:gs>
                <a:gs pos="53000">
                  <a:srgbClr val="3368FF">
                    <a:alpha val="0"/>
                  </a:srgbClr>
                </a:gs>
                <a:gs pos="100000">
                  <a:srgbClr val="3368FF"/>
                </a:gs>
              </a:gsLst>
              <a:lin ang="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9" name="直接连接符 8"/>
          <p:cNvCxnSpPr>
            <a:stCxn id="4" idx="3"/>
          </p:cNvCxnSpPr>
          <p:nvPr/>
        </p:nvCxnSpPr>
        <p:spPr>
          <a:xfrm>
            <a:off x="1624330" y="4021455"/>
            <a:ext cx="426720" cy="97155"/>
          </a:xfrm>
          <a:prstGeom prst="line">
            <a:avLst/>
          </a:prstGeom>
          <a:solidFill>
            <a:srgbClr val="FFFFFF">
              <a:alpha val="50000"/>
            </a:srgbClr>
          </a:solidFill>
          <a:ln w="19050">
            <a:gradFill>
              <a:gsLst>
                <a:gs pos="0">
                  <a:srgbClr val="668EFF"/>
                </a:gs>
                <a:gs pos="0">
                  <a:srgbClr val="3368FF">
                    <a:alpha val="0"/>
                  </a:srgbClr>
                </a:gs>
                <a:gs pos="100000">
                  <a:srgbClr val="3368FF"/>
                </a:gs>
              </a:gsLst>
              <a:lin ang="0" scaled="1"/>
            </a:gradFill>
            <a:tailEnd type="oval"/>
          </a:ln>
        </p:spPr>
        <p:style>
          <a:lnRef idx="2">
            <a:srgbClr val="0042FF"/>
          </a:lnRef>
          <a:fillRef idx="1">
            <a:srgbClr val="0042FF"/>
          </a:fillRef>
          <a:effectRef idx="0">
            <a:srgbClr val="FFFFFF"/>
          </a:effectRef>
          <a:fontRef idx="minor">
            <a:srgbClr val="FFFFFF"/>
          </a:fontRef>
        </p:style>
      </p:cxnSp>
      <p:sp>
        <p:nvSpPr>
          <p:cNvPr id="75" name="文本框 74"/>
          <p:cNvSpPr txBox="1"/>
          <p:nvPr/>
        </p:nvSpPr>
        <p:spPr>
          <a:xfrm>
            <a:off x="377190" y="3143250"/>
            <a:ext cx="1198245" cy="1773555"/>
          </a:xfrm>
          <a:prstGeom prst="rect">
            <a:avLst/>
          </a:prstGeom>
          <a:noFill/>
        </p:spPr>
        <p:txBody>
          <a:bodyPr wrap="square" rtlCol="0">
            <a:spAutoFit/>
          </a:bodyPr>
          <a:p>
            <a:pPr indent="0" algn="ctr" fontAlgn="auto">
              <a:lnSpc>
                <a:spcPts val="1640"/>
              </a:lnSpc>
              <a:defRPr>
                <a:latin typeface="微软雅黑"/>
                <a:ea typeface="微软雅黑"/>
                <a:cs typeface="微软雅黑"/>
              </a:defRPr>
            </a:pPr>
            <a:r>
              <a:rPr lang="zh-CN" altLang="en-US" sz="1200" b="1">
                <a:solidFill>
                  <a:srgbClr val="0042FF"/>
                </a:solidFill>
                <a:latin typeface="微软雅黑"/>
                <a:ea typeface="微软雅黑"/>
                <a:cs typeface="微软雅黑"/>
              </a:rPr>
              <a:t>梳理代理人客户经营标准动作</a:t>
            </a:r>
            <a:r>
              <a:rPr lang="zh-CN" altLang="en-US" sz="1200" b="1">
                <a:solidFill>
                  <a:srgbClr val="383838"/>
                </a:solidFill>
                <a:latin typeface="微软雅黑"/>
                <a:ea typeface="微软雅黑"/>
                <a:cs typeface="微软雅黑"/>
              </a:rPr>
              <a:t>，端到端提升代理人从获客到经营的能力，全面释放和提升代理人产能。</a:t>
            </a:r>
            <a:endParaRPr lang="zh-CN" altLang="en-US" sz="1200" b="1">
              <a:solidFill>
                <a:srgbClr val="383838"/>
              </a:solidFill>
              <a:latin typeface="微软雅黑"/>
              <a:ea typeface="微软雅黑"/>
              <a:cs typeface="微软雅黑"/>
            </a:endParaRPr>
          </a:p>
        </p:txBody>
      </p:sp>
      <p:sp>
        <p:nvSpPr>
          <p:cNvPr id="2" name="矩形 1"/>
          <p:cNvSpPr/>
          <p:nvPr/>
        </p:nvSpPr>
        <p:spPr>
          <a:xfrm>
            <a:off x="10442575" y="3023870"/>
            <a:ext cx="1268730" cy="2019935"/>
          </a:xfrm>
          <a:prstGeom prst="rect">
            <a:avLst/>
          </a:prstGeom>
          <a:solidFill>
            <a:srgbClr val="E6E6E6">
              <a:alpha val="20000"/>
            </a:srgbClr>
          </a:solidFill>
          <a:ln w="19050">
            <a:gradFill>
              <a:gsLst>
                <a:gs pos="0">
                  <a:srgbClr val="3368FF"/>
                </a:gs>
                <a:gs pos="53000">
                  <a:srgbClr val="3368FF">
                    <a:alpha val="0"/>
                  </a:srgbClr>
                </a:gs>
                <a:gs pos="100000">
                  <a:srgbClr val="3368FF"/>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 name="文本框 2"/>
          <p:cNvSpPr txBox="1"/>
          <p:nvPr/>
        </p:nvSpPr>
        <p:spPr>
          <a:xfrm>
            <a:off x="10464165" y="3169285"/>
            <a:ext cx="1212215" cy="1773555"/>
          </a:xfrm>
          <a:prstGeom prst="rect">
            <a:avLst/>
          </a:prstGeom>
          <a:noFill/>
        </p:spPr>
        <p:txBody>
          <a:bodyPr wrap="square" rtlCol="0">
            <a:spAutoFit/>
          </a:bodyPr>
          <a:p>
            <a:pPr lvl="0" algn="ctr">
              <a:lnSpc>
                <a:spcPts val="1640"/>
              </a:lnSpc>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厘清客户数字化矩阵功能与价值定位</a:t>
            </a:r>
            <a:r>
              <a:rPr lang="zh-CN" altLang="en-US" sz="1200" b="1">
                <a:solidFill>
                  <a:srgbClr val="0042FF"/>
                </a:solidFill>
                <a:latin typeface="微软雅黑"/>
                <a:ea typeface="微软雅黑"/>
                <a:cs typeface="微软雅黑"/>
                <a:sym typeface="微软雅黑"/>
              </a:rPr>
              <a:t>，</a:t>
            </a:r>
            <a:r>
              <a:rPr lang="zh-CN" altLang="en-US" sz="1200" b="1">
                <a:solidFill>
                  <a:srgbClr val="383838"/>
                </a:solidFill>
                <a:latin typeface="微软雅黑"/>
                <a:ea typeface="微软雅黑"/>
                <a:cs typeface="微软雅黑"/>
                <a:sym typeface="微软雅黑"/>
              </a:rPr>
              <a:t>通过引流</a:t>
            </a:r>
            <a:r>
              <a:rPr lang="zh-CN" altLang="en-US" sz="1200" b="1">
                <a:solidFill>
                  <a:srgbClr val="383838"/>
                </a:solidFill>
                <a:latin typeface="微软雅黑"/>
                <a:ea typeface="微软雅黑"/>
                <a:cs typeface="微软雅黑"/>
                <a:sym typeface="微软雅黑"/>
              </a:rPr>
              <a:t>/</a:t>
            </a:r>
            <a:r>
              <a:rPr lang="zh-CN" altLang="en-US" sz="1200" b="1">
                <a:solidFill>
                  <a:srgbClr val="383838"/>
                </a:solidFill>
                <a:latin typeface="微软雅黑"/>
                <a:ea typeface="微软雅黑"/>
                <a:cs typeface="微软雅黑"/>
                <a:sym typeface="微软雅黑"/>
              </a:rPr>
              <a:t>获客</a:t>
            </a:r>
            <a:r>
              <a:rPr lang="zh-CN" altLang="en-US" sz="1200" b="1">
                <a:solidFill>
                  <a:srgbClr val="383838"/>
                </a:solidFill>
                <a:latin typeface="微软雅黑"/>
                <a:ea typeface="微软雅黑"/>
                <a:cs typeface="微软雅黑"/>
                <a:sym typeface="微软雅黑"/>
              </a:rPr>
              <a:t>/</a:t>
            </a:r>
            <a:r>
              <a:rPr lang="zh-CN" altLang="en-US" sz="1200" b="1">
                <a:solidFill>
                  <a:srgbClr val="383838"/>
                </a:solidFill>
                <a:latin typeface="微软雅黑"/>
                <a:ea typeface="微软雅黑"/>
                <a:cs typeface="微软雅黑"/>
                <a:sym typeface="微软雅黑"/>
              </a:rPr>
              <a:t>黏客</a:t>
            </a:r>
            <a:r>
              <a:rPr lang="zh-CN" altLang="en-US" sz="1200" b="1">
                <a:solidFill>
                  <a:srgbClr val="383838"/>
                </a:solidFill>
                <a:latin typeface="微软雅黑"/>
                <a:ea typeface="微软雅黑"/>
                <a:cs typeface="微软雅黑"/>
                <a:sym typeface="微软雅黑"/>
              </a:rPr>
              <a:t>/</a:t>
            </a:r>
            <a:r>
              <a:rPr lang="zh-CN" altLang="en-US" sz="1200" b="1">
                <a:solidFill>
                  <a:srgbClr val="383838"/>
                </a:solidFill>
                <a:latin typeface="微软雅黑"/>
                <a:ea typeface="微软雅黑"/>
                <a:cs typeface="微软雅黑"/>
                <a:sym typeface="微软雅黑"/>
              </a:rPr>
              <a:t>转化等方式，丰富数据获取并</a:t>
            </a:r>
            <a:r>
              <a:rPr lang="zh-CN" altLang="en-US" sz="1200" b="1">
                <a:solidFill>
                  <a:srgbClr val="383838"/>
                </a:solidFill>
                <a:latin typeface="微软雅黑"/>
                <a:ea typeface="微软雅黑"/>
                <a:cs typeface="微软雅黑"/>
                <a:sym typeface="微软雅黑"/>
              </a:rPr>
              <a:t>赋能客户经营旅程</a:t>
            </a:r>
            <a:r>
              <a:rPr lang="zh-CN" altLang="en-US" sz="1200" b="1">
                <a:solidFill>
                  <a:srgbClr val="383838"/>
                </a:solidFill>
                <a:latin typeface="微软雅黑"/>
                <a:ea typeface="微软雅黑"/>
                <a:cs typeface="微软雅黑"/>
                <a:sym typeface="微软雅黑"/>
              </a:rPr>
              <a:t>。</a:t>
            </a:r>
            <a:endParaRPr lang="zh-CN" altLang="en-US" sz="1200" b="1">
              <a:solidFill>
                <a:srgbClr val="383838"/>
              </a:solidFill>
              <a:latin typeface="微软雅黑"/>
              <a:ea typeface="微软雅黑"/>
              <a:cs typeface="微软雅黑"/>
              <a:sym typeface="微软雅黑"/>
            </a:endParaRPr>
          </a:p>
        </p:txBody>
      </p:sp>
      <p:sp>
        <p:nvSpPr>
          <p:cNvPr id="36" name="Freeform: Shape 87"/>
          <p:cNvSpPr/>
          <p:nvPr/>
        </p:nvSpPr>
        <p:spPr>
          <a:xfrm>
            <a:off x="3534093" y="1602105"/>
            <a:ext cx="5126355" cy="581660"/>
          </a:xfrm>
          <a:custGeom>
            <a:avLst/>
            <a:gdLst/>
            <a:ahLst/>
            <a:cxnLst>
              <a:cxn ang="3">
                <a:pos x="hc" y="t"/>
              </a:cxn>
              <a:cxn ang="cd2">
                <a:pos x="l" y="vc"/>
              </a:cxn>
              <a:cxn ang="cd4">
                <a:pos x="hc" y="b"/>
              </a:cxn>
              <a:cxn ang="0">
                <a:pos x="r" y="vc"/>
              </a:cxn>
            </a:cxnLst>
            <a:rect l="l" t="t" r="r" b="b"/>
            <a:pathLst>
              <a:path w="7632" h="1674">
                <a:moveTo>
                  <a:pt x="3817" y="0"/>
                </a:moveTo>
                <a:lnTo>
                  <a:pt x="0" y="1674"/>
                </a:lnTo>
                <a:lnTo>
                  <a:pt x="7632" y="1674"/>
                </a:lnTo>
                <a:close/>
              </a:path>
            </a:pathLst>
          </a:custGeom>
          <a:gradFill flip="none" rotWithShape="1">
            <a:gsLst>
              <a:gs pos="0">
                <a:srgbClr val="B3D4FE"/>
              </a:gs>
              <a:gs pos="100000">
                <a:srgbClr val="3368FF"/>
              </a:gs>
            </a:gsLst>
            <a:lin ang="2700000" scaled="1"/>
            <a:tileRect/>
          </a:gradFill>
          <a:ln w="31750">
            <a:solidFill>
              <a:srgbClr val="FFFFFF"/>
            </a:solidFill>
            <a:prstDash val="solid"/>
          </a:ln>
          <a:effectLst>
            <a:innerShdw blurRad="2794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spc="300">
              <a:solidFill>
                <a:srgbClr val="383838"/>
              </a:solidFill>
              <a:latin typeface="微软雅黑"/>
              <a:ea typeface="微软雅黑"/>
              <a:cs typeface="微软雅黑"/>
              <a:sym typeface="微软雅黑"/>
            </a:endParaRPr>
          </a:p>
        </p:txBody>
      </p:sp>
      <p:sp>
        <p:nvSpPr>
          <p:cNvPr id="38" name="文本框 37"/>
          <p:cNvSpPr txBox="1"/>
          <p:nvPr/>
        </p:nvSpPr>
        <p:spPr>
          <a:xfrm>
            <a:off x="4958080" y="1877060"/>
            <a:ext cx="248729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营销端（</a:t>
            </a:r>
            <a:r>
              <a:rPr lang="en-US" altLang="zh-CN" sz="1400" b="1">
                <a:solidFill>
                  <a:srgbClr val="383838"/>
                </a:solidFill>
                <a:latin typeface="微软雅黑"/>
                <a:ea typeface="微软雅黑"/>
                <a:cs typeface="微软雅黑"/>
              </a:rPr>
              <a:t>B </a:t>
            </a:r>
            <a:r>
              <a:rPr lang="zh-CN" altLang="en-US" sz="1400" b="1">
                <a:solidFill>
                  <a:srgbClr val="383838"/>
                </a:solidFill>
                <a:latin typeface="微软雅黑"/>
                <a:ea typeface="微软雅黑"/>
                <a:cs typeface="微软雅黑"/>
              </a:rPr>
              <a:t>）</a:t>
            </a:r>
            <a:r>
              <a:rPr lang="en-US" altLang="zh-CN" sz="1400" b="1">
                <a:solidFill>
                  <a:srgbClr val="383838"/>
                </a:solidFill>
                <a:latin typeface="微软雅黑"/>
                <a:ea typeface="微软雅黑"/>
                <a:cs typeface="微软雅黑"/>
                <a:sym typeface="微软雅黑"/>
              </a:rPr>
              <a:t>→ </a:t>
            </a:r>
            <a:r>
              <a:rPr lang="zh-CN" altLang="en-US" sz="1400" b="1">
                <a:solidFill>
                  <a:srgbClr val="383838"/>
                </a:solidFill>
                <a:latin typeface="微软雅黑"/>
                <a:ea typeface="微软雅黑"/>
                <a:cs typeface="微软雅黑"/>
                <a:sym typeface="微软雅黑"/>
              </a:rPr>
              <a:t>客户</a:t>
            </a:r>
            <a:r>
              <a:rPr lang="zh-CN" altLang="en-US" sz="1400" b="1">
                <a:solidFill>
                  <a:srgbClr val="383838"/>
                </a:solidFill>
                <a:latin typeface="微软雅黑"/>
                <a:ea typeface="微软雅黑"/>
                <a:cs typeface="微软雅黑"/>
              </a:rPr>
              <a:t>端（</a:t>
            </a:r>
            <a:r>
              <a:rPr lang="en-US" altLang="zh-CN" sz="1400" b="1">
                <a:solidFill>
                  <a:srgbClr val="383838"/>
                </a:solidFill>
                <a:latin typeface="微软雅黑"/>
                <a:ea typeface="微软雅黑"/>
                <a:cs typeface="微软雅黑"/>
              </a:rPr>
              <a:t>C</a:t>
            </a:r>
            <a:r>
              <a:rPr lang="zh-CN" altLang="en-US" sz="1400" b="1">
                <a:solidFill>
                  <a:srgbClr val="383838"/>
                </a:solidFill>
                <a:latin typeface="微软雅黑"/>
                <a:ea typeface="微软雅黑"/>
                <a:cs typeface="微软雅黑"/>
              </a:rPr>
              <a:t>）</a:t>
            </a:r>
            <a:endParaRPr lang="zh-CN" altLang="en-US" sz="1400" b="1">
              <a:solidFill>
                <a:srgbClr val="383838"/>
              </a:solidFill>
              <a:latin typeface="微软雅黑"/>
              <a:ea typeface="微软雅黑"/>
              <a:cs typeface="微软雅黑"/>
            </a:endParaRPr>
          </a:p>
        </p:txBody>
      </p:sp>
      <p:sp>
        <p:nvSpPr>
          <p:cNvPr id="39" name="椭圆 38"/>
          <p:cNvSpPr/>
          <p:nvPr/>
        </p:nvSpPr>
        <p:spPr>
          <a:xfrm>
            <a:off x="5831523" y="1276350"/>
            <a:ext cx="531495" cy="531495"/>
          </a:xfrm>
          <a:prstGeom prst="ellipse">
            <a:avLst/>
          </a:prstGeom>
          <a:solidFill>
            <a:srgbClr val="FFFFFF"/>
          </a:solidFill>
          <a:ln w="25400">
            <a:solidFill>
              <a:srgbClr val="E6E6E6"/>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1" name="Graphic 123"/>
          <p:cNvSpPr>
            <a:spLocks noChangeAspect="1"/>
          </p:cNvSpPr>
          <p:nvPr/>
        </p:nvSpPr>
        <p:spPr>
          <a:xfrm>
            <a:off x="5972493" y="1416685"/>
            <a:ext cx="246380" cy="250825"/>
          </a:xfrm>
          <a:custGeom>
            <a:avLst/>
            <a:gdLst>
              <a:gd name="connsiteX0" fmla="*/ 4714237 w 4795513"/>
              <a:gd name="connsiteY0" fmla="*/ 1706880 h 4876800"/>
              <a:gd name="connsiteX1" fmla="*/ 4795514 w 4795513"/>
              <a:gd name="connsiteY1" fmla="*/ 1625603 h 4876800"/>
              <a:gd name="connsiteX2" fmla="*/ 4795514 w 4795513"/>
              <a:gd name="connsiteY2" fmla="*/ 1219200 h 4876800"/>
              <a:gd name="connsiteX3" fmla="*/ 4714237 w 4795513"/>
              <a:gd name="connsiteY3" fmla="*/ 1137923 h 4876800"/>
              <a:gd name="connsiteX4" fmla="*/ 4465844 w 4795513"/>
              <a:gd name="connsiteY4" fmla="*/ 1137923 h 4876800"/>
              <a:gd name="connsiteX5" fmla="*/ 3846195 w 4795513"/>
              <a:gd name="connsiteY5" fmla="*/ 343995 h 4876800"/>
              <a:gd name="connsiteX6" fmla="*/ 2397757 w 4795513"/>
              <a:gd name="connsiteY6" fmla="*/ 0 h 4876800"/>
              <a:gd name="connsiteX7" fmla="*/ 949319 w 4795513"/>
              <a:gd name="connsiteY7" fmla="*/ 343995 h 4876800"/>
              <a:gd name="connsiteX8" fmla="*/ 329670 w 4795513"/>
              <a:gd name="connsiteY8" fmla="*/ 1137923 h 4876800"/>
              <a:gd name="connsiteX9" fmla="*/ 81277 w 4795513"/>
              <a:gd name="connsiteY9" fmla="*/ 1137923 h 4876800"/>
              <a:gd name="connsiteX10" fmla="*/ 0 w 4795513"/>
              <a:gd name="connsiteY10" fmla="*/ 1219200 h 4876800"/>
              <a:gd name="connsiteX11" fmla="*/ 0 w 4795513"/>
              <a:gd name="connsiteY11" fmla="*/ 1625603 h 4876800"/>
              <a:gd name="connsiteX12" fmla="*/ 81277 w 4795513"/>
              <a:gd name="connsiteY12" fmla="*/ 1706880 h 4876800"/>
              <a:gd name="connsiteX13" fmla="*/ 325117 w 4795513"/>
              <a:gd name="connsiteY13" fmla="*/ 1706880 h 4876800"/>
              <a:gd name="connsiteX14" fmla="*/ 325117 w 4795513"/>
              <a:gd name="connsiteY14" fmla="*/ 4307843 h 4876800"/>
              <a:gd name="connsiteX15" fmla="*/ 81277 w 4795513"/>
              <a:gd name="connsiteY15" fmla="*/ 4307843 h 4876800"/>
              <a:gd name="connsiteX16" fmla="*/ 0 w 4795513"/>
              <a:gd name="connsiteY16" fmla="*/ 4389120 h 4876800"/>
              <a:gd name="connsiteX17" fmla="*/ 0 w 4795513"/>
              <a:gd name="connsiteY17" fmla="*/ 4795524 h 4876800"/>
              <a:gd name="connsiteX18" fmla="*/ 81277 w 4795513"/>
              <a:gd name="connsiteY18" fmla="*/ 4876800 h 4876800"/>
              <a:gd name="connsiteX19" fmla="*/ 4714237 w 4795513"/>
              <a:gd name="connsiteY19" fmla="*/ 4876800 h 4876800"/>
              <a:gd name="connsiteX20" fmla="*/ 4795514 w 4795513"/>
              <a:gd name="connsiteY20" fmla="*/ 4795524 h 4876800"/>
              <a:gd name="connsiteX21" fmla="*/ 4795514 w 4795513"/>
              <a:gd name="connsiteY21" fmla="*/ 4389120 h 4876800"/>
              <a:gd name="connsiteX22" fmla="*/ 4714237 w 4795513"/>
              <a:gd name="connsiteY22" fmla="*/ 4307843 h 4876800"/>
              <a:gd name="connsiteX23" fmla="*/ 4470397 w 4795513"/>
              <a:gd name="connsiteY23" fmla="*/ 4307843 h 4876800"/>
              <a:gd name="connsiteX24" fmla="*/ 4470397 w 4795513"/>
              <a:gd name="connsiteY24" fmla="*/ 1706880 h 4876800"/>
              <a:gd name="connsiteX25" fmla="*/ 4714237 w 4795513"/>
              <a:gd name="connsiteY25" fmla="*/ 1706880 h 4876800"/>
              <a:gd name="connsiteX26" fmla="*/ 1029986 w 4795513"/>
              <a:gd name="connsiteY26" fmla="*/ 485137 h 4876800"/>
              <a:gd name="connsiteX27" fmla="*/ 2397757 w 4795513"/>
              <a:gd name="connsiteY27" fmla="*/ 162563 h 4876800"/>
              <a:gd name="connsiteX28" fmla="*/ 3765528 w 4795513"/>
              <a:gd name="connsiteY28" fmla="*/ 485146 h 4876800"/>
              <a:gd name="connsiteX29" fmla="*/ 4301605 w 4795513"/>
              <a:gd name="connsiteY29" fmla="*/ 1137923 h 4876800"/>
              <a:gd name="connsiteX30" fmla="*/ 493909 w 4795513"/>
              <a:gd name="connsiteY30" fmla="*/ 1137923 h 4876800"/>
              <a:gd name="connsiteX31" fmla="*/ 1029986 w 4795513"/>
              <a:gd name="connsiteY31" fmla="*/ 485137 h 4876800"/>
              <a:gd name="connsiteX32" fmla="*/ 4632960 w 4795513"/>
              <a:gd name="connsiteY32" fmla="*/ 4470397 h 4876800"/>
              <a:gd name="connsiteX33" fmla="*/ 4632960 w 4795513"/>
              <a:gd name="connsiteY33" fmla="*/ 4714237 h 4876800"/>
              <a:gd name="connsiteX34" fmla="*/ 162554 w 4795513"/>
              <a:gd name="connsiteY34" fmla="*/ 4714237 h 4876800"/>
              <a:gd name="connsiteX35" fmla="*/ 162554 w 4795513"/>
              <a:gd name="connsiteY35" fmla="*/ 4470397 h 4876800"/>
              <a:gd name="connsiteX36" fmla="*/ 406394 w 4795513"/>
              <a:gd name="connsiteY36" fmla="*/ 4470397 h 4876800"/>
              <a:gd name="connsiteX37" fmla="*/ 812797 w 4795513"/>
              <a:gd name="connsiteY37" fmla="*/ 4470397 h 4876800"/>
              <a:gd name="connsiteX38" fmla="*/ 1300477 w 4795513"/>
              <a:gd name="connsiteY38" fmla="*/ 4470397 h 4876800"/>
              <a:gd name="connsiteX39" fmla="*/ 1706880 w 4795513"/>
              <a:gd name="connsiteY39" fmla="*/ 4470397 h 4876800"/>
              <a:gd name="connsiteX40" fmla="*/ 2194560 w 4795513"/>
              <a:gd name="connsiteY40" fmla="*/ 4470397 h 4876800"/>
              <a:gd name="connsiteX41" fmla="*/ 2600963 w 4795513"/>
              <a:gd name="connsiteY41" fmla="*/ 4470397 h 4876800"/>
              <a:gd name="connsiteX42" fmla="*/ 3088643 w 4795513"/>
              <a:gd name="connsiteY42" fmla="*/ 4470397 h 4876800"/>
              <a:gd name="connsiteX43" fmla="*/ 3495037 w 4795513"/>
              <a:gd name="connsiteY43" fmla="*/ 4470397 h 4876800"/>
              <a:gd name="connsiteX44" fmla="*/ 3982717 w 4795513"/>
              <a:gd name="connsiteY44" fmla="*/ 4470397 h 4876800"/>
              <a:gd name="connsiteX45" fmla="*/ 4389120 w 4795513"/>
              <a:gd name="connsiteY45" fmla="*/ 4470397 h 4876800"/>
              <a:gd name="connsiteX46" fmla="*/ 4632960 w 4795513"/>
              <a:gd name="connsiteY46" fmla="*/ 4470397 h 4876800"/>
              <a:gd name="connsiteX47" fmla="*/ 487680 w 4795513"/>
              <a:gd name="connsiteY47" fmla="*/ 4307843 h 4876800"/>
              <a:gd name="connsiteX48" fmla="*/ 487680 w 4795513"/>
              <a:gd name="connsiteY48" fmla="*/ 1706880 h 4876800"/>
              <a:gd name="connsiteX49" fmla="*/ 731520 w 4795513"/>
              <a:gd name="connsiteY49" fmla="*/ 1706880 h 4876800"/>
              <a:gd name="connsiteX50" fmla="*/ 731520 w 4795513"/>
              <a:gd name="connsiteY50" fmla="*/ 4307843 h 4876800"/>
              <a:gd name="connsiteX51" fmla="*/ 487680 w 4795513"/>
              <a:gd name="connsiteY51" fmla="*/ 4307843 h 4876800"/>
              <a:gd name="connsiteX52" fmla="*/ 894074 w 4795513"/>
              <a:gd name="connsiteY52" fmla="*/ 4307843 h 4876800"/>
              <a:gd name="connsiteX53" fmla="*/ 894074 w 4795513"/>
              <a:gd name="connsiteY53" fmla="*/ 1706880 h 4876800"/>
              <a:gd name="connsiteX54" fmla="*/ 1219191 w 4795513"/>
              <a:gd name="connsiteY54" fmla="*/ 1706880 h 4876800"/>
              <a:gd name="connsiteX55" fmla="*/ 1219191 w 4795513"/>
              <a:gd name="connsiteY55" fmla="*/ 4307843 h 4876800"/>
              <a:gd name="connsiteX56" fmla="*/ 894074 w 4795513"/>
              <a:gd name="connsiteY56" fmla="*/ 4307843 h 4876800"/>
              <a:gd name="connsiteX57" fmla="*/ 1381754 w 4795513"/>
              <a:gd name="connsiteY57" fmla="*/ 4307843 h 4876800"/>
              <a:gd name="connsiteX58" fmla="*/ 1381754 w 4795513"/>
              <a:gd name="connsiteY58" fmla="*/ 1706880 h 4876800"/>
              <a:gd name="connsiteX59" fmla="*/ 1625594 w 4795513"/>
              <a:gd name="connsiteY59" fmla="*/ 1706880 h 4876800"/>
              <a:gd name="connsiteX60" fmla="*/ 1625594 w 4795513"/>
              <a:gd name="connsiteY60" fmla="*/ 4307843 h 4876800"/>
              <a:gd name="connsiteX61" fmla="*/ 1381754 w 4795513"/>
              <a:gd name="connsiteY61" fmla="*/ 4307843 h 4876800"/>
              <a:gd name="connsiteX62" fmla="*/ 1788157 w 4795513"/>
              <a:gd name="connsiteY62" fmla="*/ 4307843 h 4876800"/>
              <a:gd name="connsiteX63" fmla="*/ 1788157 w 4795513"/>
              <a:gd name="connsiteY63" fmla="*/ 1706880 h 4876800"/>
              <a:gd name="connsiteX64" fmla="*/ 2113274 w 4795513"/>
              <a:gd name="connsiteY64" fmla="*/ 1706880 h 4876800"/>
              <a:gd name="connsiteX65" fmla="*/ 2113274 w 4795513"/>
              <a:gd name="connsiteY65" fmla="*/ 4307843 h 4876800"/>
              <a:gd name="connsiteX66" fmla="*/ 1788157 w 4795513"/>
              <a:gd name="connsiteY66" fmla="*/ 4307843 h 4876800"/>
              <a:gd name="connsiteX67" fmla="*/ 2275837 w 4795513"/>
              <a:gd name="connsiteY67" fmla="*/ 4307843 h 4876800"/>
              <a:gd name="connsiteX68" fmla="*/ 2275837 w 4795513"/>
              <a:gd name="connsiteY68" fmla="*/ 1706880 h 4876800"/>
              <a:gd name="connsiteX69" fmla="*/ 2519677 w 4795513"/>
              <a:gd name="connsiteY69" fmla="*/ 1706880 h 4876800"/>
              <a:gd name="connsiteX70" fmla="*/ 2519677 w 4795513"/>
              <a:gd name="connsiteY70" fmla="*/ 4307843 h 4876800"/>
              <a:gd name="connsiteX71" fmla="*/ 2275837 w 4795513"/>
              <a:gd name="connsiteY71" fmla="*/ 4307843 h 4876800"/>
              <a:gd name="connsiteX72" fmla="*/ 2682240 w 4795513"/>
              <a:gd name="connsiteY72" fmla="*/ 4307843 h 4876800"/>
              <a:gd name="connsiteX73" fmla="*/ 2682240 w 4795513"/>
              <a:gd name="connsiteY73" fmla="*/ 1706880 h 4876800"/>
              <a:gd name="connsiteX74" fmla="*/ 3007357 w 4795513"/>
              <a:gd name="connsiteY74" fmla="*/ 1706880 h 4876800"/>
              <a:gd name="connsiteX75" fmla="*/ 3007357 w 4795513"/>
              <a:gd name="connsiteY75" fmla="*/ 4307843 h 4876800"/>
              <a:gd name="connsiteX76" fmla="*/ 2682240 w 4795513"/>
              <a:gd name="connsiteY76" fmla="*/ 4307843 h 4876800"/>
              <a:gd name="connsiteX77" fmla="*/ 3169920 w 4795513"/>
              <a:gd name="connsiteY77" fmla="*/ 4307843 h 4876800"/>
              <a:gd name="connsiteX78" fmla="*/ 3169920 w 4795513"/>
              <a:gd name="connsiteY78" fmla="*/ 1706880 h 4876800"/>
              <a:gd name="connsiteX79" fmla="*/ 3413760 w 4795513"/>
              <a:gd name="connsiteY79" fmla="*/ 1706880 h 4876800"/>
              <a:gd name="connsiteX80" fmla="*/ 3413760 w 4795513"/>
              <a:gd name="connsiteY80" fmla="*/ 4307843 h 4876800"/>
              <a:gd name="connsiteX81" fmla="*/ 3169920 w 4795513"/>
              <a:gd name="connsiteY81" fmla="*/ 4307843 h 4876800"/>
              <a:gd name="connsiteX82" fmla="*/ 3576314 w 4795513"/>
              <a:gd name="connsiteY82" fmla="*/ 4307843 h 4876800"/>
              <a:gd name="connsiteX83" fmla="*/ 3576314 w 4795513"/>
              <a:gd name="connsiteY83" fmla="*/ 1706880 h 4876800"/>
              <a:gd name="connsiteX84" fmla="*/ 3901431 w 4795513"/>
              <a:gd name="connsiteY84" fmla="*/ 1706880 h 4876800"/>
              <a:gd name="connsiteX85" fmla="*/ 3901431 w 4795513"/>
              <a:gd name="connsiteY85" fmla="*/ 4307843 h 4876800"/>
              <a:gd name="connsiteX86" fmla="*/ 3576314 w 4795513"/>
              <a:gd name="connsiteY86" fmla="*/ 4307843 h 4876800"/>
              <a:gd name="connsiteX87" fmla="*/ 4063994 w 4795513"/>
              <a:gd name="connsiteY87" fmla="*/ 4307843 h 4876800"/>
              <a:gd name="connsiteX88" fmla="*/ 4063994 w 4795513"/>
              <a:gd name="connsiteY88" fmla="*/ 1706880 h 4876800"/>
              <a:gd name="connsiteX89" fmla="*/ 4307834 w 4795513"/>
              <a:gd name="connsiteY89" fmla="*/ 1706880 h 4876800"/>
              <a:gd name="connsiteX90" fmla="*/ 4307834 w 4795513"/>
              <a:gd name="connsiteY90" fmla="*/ 4307843 h 4876800"/>
              <a:gd name="connsiteX91" fmla="*/ 4063994 w 4795513"/>
              <a:gd name="connsiteY91" fmla="*/ 4307843 h 4876800"/>
              <a:gd name="connsiteX92" fmla="*/ 4389120 w 4795513"/>
              <a:gd name="connsiteY92" fmla="*/ 1544317 h 4876800"/>
              <a:gd name="connsiteX93" fmla="*/ 3982717 w 4795513"/>
              <a:gd name="connsiteY93" fmla="*/ 1544317 h 4876800"/>
              <a:gd name="connsiteX94" fmla="*/ 3495037 w 4795513"/>
              <a:gd name="connsiteY94" fmla="*/ 1544317 h 4876800"/>
              <a:gd name="connsiteX95" fmla="*/ 3088634 w 4795513"/>
              <a:gd name="connsiteY95" fmla="*/ 1544317 h 4876800"/>
              <a:gd name="connsiteX96" fmla="*/ 2600954 w 4795513"/>
              <a:gd name="connsiteY96" fmla="*/ 1544317 h 4876800"/>
              <a:gd name="connsiteX97" fmla="*/ 2194551 w 4795513"/>
              <a:gd name="connsiteY97" fmla="*/ 1544317 h 4876800"/>
              <a:gd name="connsiteX98" fmla="*/ 1706871 w 4795513"/>
              <a:gd name="connsiteY98" fmla="*/ 1544317 h 4876800"/>
              <a:gd name="connsiteX99" fmla="*/ 1300477 w 4795513"/>
              <a:gd name="connsiteY99" fmla="*/ 1544317 h 4876800"/>
              <a:gd name="connsiteX100" fmla="*/ 812797 w 4795513"/>
              <a:gd name="connsiteY100" fmla="*/ 1544317 h 4876800"/>
              <a:gd name="connsiteX101" fmla="*/ 406394 w 4795513"/>
              <a:gd name="connsiteY101" fmla="*/ 1544317 h 4876800"/>
              <a:gd name="connsiteX102" fmla="*/ 162554 w 4795513"/>
              <a:gd name="connsiteY102" fmla="*/ 1544317 h 4876800"/>
              <a:gd name="connsiteX103" fmla="*/ 162554 w 4795513"/>
              <a:gd name="connsiteY103" fmla="*/ 1300477 h 4876800"/>
              <a:gd name="connsiteX104" fmla="*/ 4632951 w 4795513"/>
              <a:gd name="connsiteY104" fmla="*/ 1300477 h 4876800"/>
              <a:gd name="connsiteX105" fmla="*/ 4632951 w 4795513"/>
              <a:gd name="connsiteY105" fmla="*/ 1544317 h 4876800"/>
              <a:gd name="connsiteX106" fmla="*/ 4389120 w 4795513"/>
              <a:gd name="connsiteY106" fmla="*/ 1544317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4795513" h="4876800">
                <a:moveTo>
                  <a:pt x="4714237" y="1706880"/>
                </a:moveTo>
                <a:cubicBezTo>
                  <a:pt x="4759128" y="1706880"/>
                  <a:pt x="4795514" y="1670485"/>
                  <a:pt x="4795514" y="1625603"/>
                </a:cubicBezTo>
                <a:lnTo>
                  <a:pt x="4795514" y="1219200"/>
                </a:lnTo>
                <a:cubicBezTo>
                  <a:pt x="4795514" y="1174309"/>
                  <a:pt x="4759119" y="1137923"/>
                  <a:pt x="4714237" y="1137923"/>
                </a:cubicBezTo>
                <a:lnTo>
                  <a:pt x="4465844" y="1137923"/>
                </a:lnTo>
                <a:cubicBezTo>
                  <a:pt x="4432888" y="834704"/>
                  <a:pt x="4215899" y="555269"/>
                  <a:pt x="3846195" y="343995"/>
                </a:cubicBezTo>
                <a:cubicBezTo>
                  <a:pt x="3457985" y="122158"/>
                  <a:pt x="2943577" y="0"/>
                  <a:pt x="2397757" y="0"/>
                </a:cubicBezTo>
                <a:cubicBezTo>
                  <a:pt x="1851936" y="0"/>
                  <a:pt x="1337520" y="122158"/>
                  <a:pt x="949319" y="343995"/>
                </a:cubicBezTo>
                <a:cubicBezTo>
                  <a:pt x="579615" y="555269"/>
                  <a:pt x="362617" y="834704"/>
                  <a:pt x="329670" y="1137923"/>
                </a:cubicBezTo>
                <a:lnTo>
                  <a:pt x="81277" y="1137923"/>
                </a:lnTo>
                <a:cubicBezTo>
                  <a:pt x="36385" y="1137923"/>
                  <a:pt x="0" y="1174318"/>
                  <a:pt x="0" y="1219200"/>
                </a:cubicBezTo>
                <a:lnTo>
                  <a:pt x="0" y="1625603"/>
                </a:lnTo>
                <a:cubicBezTo>
                  <a:pt x="0" y="1670495"/>
                  <a:pt x="36395" y="1706880"/>
                  <a:pt x="81277" y="1706880"/>
                </a:cubicBezTo>
                <a:lnTo>
                  <a:pt x="325117" y="1706880"/>
                </a:lnTo>
                <a:lnTo>
                  <a:pt x="325117" y="4307843"/>
                </a:lnTo>
                <a:lnTo>
                  <a:pt x="81277" y="4307843"/>
                </a:lnTo>
                <a:cubicBezTo>
                  <a:pt x="36385" y="4307843"/>
                  <a:pt x="0" y="4344239"/>
                  <a:pt x="0" y="4389120"/>
                </a:cubicBezTo>
                <a:lnTo>
                  <a:pt x="0" y="4795524"/>
                </a:lnTo>
                <a:cubicBezTo>
                  <a:pt x="0" y="4840415"/>
                  <a:pt x="36395" y="4876800"/>
                  <a:pt x="81277" y="4876800"/>
                </a:cubicBezTo>
                <a:lnTo>
                  <a:pt x="4714237" y="4876800"/>
                </a:lnTo>
                <a:cubicBezTo>
                  <a:pt x="4759128" y="4876800"/>
                  <a:pt x="4795514" y="4840405"/>
                  <a:pt x="4795514" y="4795524"/>
                </a:cubicBezTo>
                <a:lnTo>
                  <a:pt x="4795514" y="4389120"/>
                </a:lnTo>
                <a:cubicBezTo>
                  <a:pt x="4795514" y="4344229"/>
                  <a:pt x="4759119" y="4307843"/>
                  <a:pt x="4714237" y="4307843"/>
                </a:cubicBezTo>
                <a:lnTo>
                  <a:pt x="4470397" y="4307843"/>
                </a:lnTo>
                <a:lnTo>
                  <a:pt x="4470397" y="1706880"/>
                </a:lnTo>
                <a:lnTo>
                  <a:pt x="4714237" y="1706880"/>
                </a:lnTo>
                <a:close/>
                <a:moveTo>
                  <a:pt x="1029986" y="485137"/>
                </a:moveTo>
                <a:cubicBezTo>
                  <a:pt x="1394022" y="277120"/>
                  <a:pt x="1879759" y="162563"/>
                  <a:pt x="2397757" y="162563"/>
                </a:cubicBezTo>
                <a:cubicBezTo>
                  <a:pt x="2915755" y="162563"/>
                  <a:pt x="3401492" y="277120"/>
                  <a:pt x="3765528" y="485146"/>
                </a:cubicBezTo>
                <a:cubicBezTo>
                  <a:pt x="4080405" y="665064"/>
                  <a:pt x="4267372" y="894379"/>
                  <a:pt x="4301605" y="1137923"/>
                </a:cubicBezTo>
                <a:lnTo>
                  <a:pt x="493909" y="1137923"/>
                </a:lnTo>
                <a:cubicBezTo>
                  <a:pt x="528152" y="894379"/>
                  <a:pt x="715108" y="665055"/>
                  <a:pt x="1029986" y="485137"/>
                </a:cubicBezTo>
                <a:close/>
                <a:moveTo>
                  <a:pt x="4632960" y="4470397"/>
                </a:moveTo>
                <a:lnTo>
                  <a:pt x="4632960" y="4714237"/>
                </a:lnTo>
                <a:lnTo>
                  <a:pt x="162554" y="4714237"/>
                </a:lnTo>
                <a:lnTo>
                  <a:pt x="162554" y="4470397"/>
                </a:lnTo>
                <a:lnTo>
                  <a:pt x="406394" y="4470397"/>
                </a:lnTo>
                <a:lnTo>
                  <a:pt x="812797" y="4470397"/>
                </a:lnTo>
                <a:lnTo>
                  <a:pt x="1300477" y="4470397"/>
                </a:lnTo>
                <a:lnTo>
                  <a:pt x="1706880" y="4470397"/>
                </a:lnTo>
                <a:lnTo>
                  <a:pt x="2194560" y="4470397"/>
                </a:lnTo>
                <a:lnTo>
                  <a:pt x="2600963" y="4470397"/>
                </a:lnTo>
                <a:lnTo>
                  <a:pt x="3088643" y="4470397"/>
                </a:lnTo>
                <a:lnTo>
                  <a:pt x="3495037" y="4470397"/>
                </a:lnTo>
                <a:lnTo>
                  <a:pt x="3982717" y="4470397"/>
                </a:lnTo>
                <a:lnTo>
                  <a:pt x="4389120" y="4470397"/>
                </a:lnTo>
                <a:lnTo>
                  <a:pt x="4632960" y="4470397"/>
                </a:lnTo>
                <a:close/>
                <a:moveTo>
                  <a:pt x="487680" y="4307843"/>
                </a:moveTo>
                <a:lnTo>
                  <a:pt x="487680" y="1706880"/>
                </a:lnTo>
                <a:lnTo>
                  <a:pt x="731520" y="1706880"/>
                </a:lnTo>
                <a:lnTo>
                  <a:pt x="731520" y="4307843"/>
                </a:lnTo>
                <a:lnTo>
                  <a:pt x="487680" y="4307843"/>
                </a:lnTo>
                <a:close/>
                <a:moveTo>
                  <a:pt x="894074" y="4307843"/>
                </a:moveTo>
                <a:lnTo>
                  <a:pt x="894074" y="1706880"/>
                </a:lnTo>
                <a:lnTo>
                  <a:pt x="1219191" y="1706880"/>
                </a:lnTo>
                <a:lnTo>
                  <a:pt x="1219191" y="4307843"/>
                </a:lnTo>
                <a:lnTo>
                  <a:pt x="894074" y="4307843"/>
                </a:lnTo>
                <a:close/>
                <a:moveTo>
                  <a:pt x="1381754" y="4307843"/>
                </a:moveTo>
                <a:lnTo>
                  <a:pt x="1381754" y="1706880"/>
                </a:lnTo>
                <a:lnTo>
                  <a:pt x="1625594" y="1706880"/>
                </a:lnTo>
                <a:lnTo>
                  <a:pt x="1625594" y="4307843"/>
                </a:lnTo>
                <a:lnTo>
                  <a:pt x="1381754" y="4307843"/>
                </a:lnTo>
                <a:close/>
                <a:moveTo>
                  <a:pt x="1788157" y="4307843"/>
                </a:moveTo>
                <a:lnTo>
                  <a:pt x="1788157" y="1706880"/>
                </a:lnTo>
                <a:lnTo>
                  <a:pt x="2113274" y="1706880"/>
                </a:lnTo>
                <a:lnTo>
                  <a:pt x="2113274" y="4307843"/>
                </a:lnTo>
                <a:lnTo>
                  <a:pt x="1788157" y="4307843"/>
                </a:lnTo>
                <a:close/>
                <a:moveTo>
                  <a:pt x="2275837" y="4307843"/>
                </a:moveTo>
                <a:lnTo>
                  <a:pt x="2275837" y="1706880"/>
                </a:lnTo>
                <a:lnTo>
                  <a:pt x="2519677" y="1706880"/>
                </a:lnTo>
                <a:lnTo>
                  <a:pt x="2519677" y="4307843"/>
                </a:lnTo>
                <a:lnTo>
                  <a:pt x="2275837" y="4307843"/>
                </a:lnTo>
                <a:close/>
                <a:moveTo>
                  <a:pt x="2682240" y="4307843"/>
                </a:moveTo>
                <a:lnTo>
                  <a:pt x="2682240" y="1706880"/>
                </a:lnTo>
                <a:lnTo>
                  <a:pt x="3007357" y="1706880"/>
                </a:lnTo>
                <a:lnTo>
                  <a:pt x="3007357" y="4307843"/>
                </a:lnTo>
                <a:lnTo>
                  <a:pt x="2682240" y="4307843"/>
                </a:lnTo>
                <a:close/>
                <a:moveTo>
                  <a:pt x="3169920" y="4307843"/>
                </a:moveTo>
                <a:lnTo>
                  <a:pt x="3169920" y="1706880"/>
                </a:lnTo>
                <a:lnTo>
                  <a:pt x="3413760" y="1706880"/>
                </a:lnTo>
                <a:lnTo>
                  <a:pt x="3413760" y="4307843"/>
                </a:lnTo>
                <a:lnTo>
                  <a:pt x="3169920" y="4307843"/>
                </a:lnTo>
                <a:close/>
                <a:moveTo>
                  <a:pt x="3576314" y="4307843"/>
                </a:moveTo>
                <a:lnTo>
                  <a:pt x="3576314" y="1706880"/>
                </a:lnTo>
                <a:lnTo>
                  <a:pt x="3901431" y="1706880"/>
                </a:lnTo>
                <a:lnTo>
                  <a:pt x="3901431" y="4307843"/>
                </a:lnTo>
                <a:lnTo>
                  <a:pt x="3576314" y="4307843"/>
                </a:lnTo>
                <a:close/>
                <a:moveTo>
                  <a:pt x="4063994" y="4307843"/>
                </a:moveTo>
                <a:lnTo>
                  <a:pt x="4063994" y="1706880"/>
                </a:lnTo>
                <a:lnTo>
                  <a:pt x="4307834" y="1706880"/>
                </a:lnTo>
                <a:lnTo>
                  <a:pt x="4307834" y="4307843"/>
                </a:lnTo>
                <a:lnTo>
                  <a:pt x="4063994" y="4307843"/>
                </a:lnTo>
                <a:close/>
                <a:moveTo>
                  <a:pt x="4389120" y="1544317"/>
                </a:moveTo>
                <a:lnTo>
                  <a:pt x="3982717" y="1544317"/>
                </a:lnTo>
                <a:lnTo>
                  <a:pt x="3495037" y="1544317"/>
                </a:lnTo>
                <a:lnTo>
                  <a:pt x="3088634" y="1544317"/>
                </a:lnTo>
                <a:lnTo>
                  <a:pt x="2600954" y="1544317"/>
                </a:lnTo>
                <a:lnTo>
                  <a:pt x="2194551" y="1544317"/>
                </a:lnTo>
                <a:lnTo>
                  <a:pt x="1706871" y="1544317"/>
                </a:lnTo>
                <a:lnTo>
                  <a:pt x="1300477" y="1544317"/>
                </a:lnTo>
                <a:lnTo>
                  <a:pt x="812797" y="1544317"/>
                </a:lnTo>
                <a:lnTo>
                  <a:pt x="406394" y="1544317"/>
                </a:lnTo>
                <a:lnTo>
                  <a:pt x="162554" y="1544317"/>
                </a:lnTo>
                <a:lnTo>
                  <a:pt x="162554" y="1300477"/>
                </a:lnTo>
                <a:lnTo>
                  <a:pt x="4632951" y="1300477"/>
                </a:lnTo>
                <a:lnTo>
                  <a:pt x="4632951" y="1544317"/>
                </a:lnTo>
                <a:lnTo>
                  <a:pt x="4389120" y="1544317"/>
                </a:lnTo>
                <a:close/>
              </a:path>
            </a:pathLst>
          </a:custGeom>
          <a:solidFill>
            <a:srgbClr val="0042FF"/>
          </a:solidFill>
          <a:ln w="9525" cap="flat">
            <a:noFill/>
            <a:prstDash val="solid"/>
            <a:miter/>
          </a:ln>
        </p:spPr>
        <p:txBody>
          <a:bodyPr rtlCol="0" anchor="ctr" lIns="0" rIns="0" tIns="0" bIns="0"/>
          <a:p>
            <a:pPr>
              <a:defRPr>
                <a:solidFill>
                  <a:srgbClr val="383838"/>
                </a:solidFill>
                <a:latin typeface="微软雅黑"/>
                <a:ea typeface="微软雅黑"/>
                <a:cs typeface="微软雅黑"/>
              </a:defRPr>
            </a:pPr>
            <a:endParaRPr lang="en-US" dirty="0">
              <a:solidFill>
                <a:srgbClr val="383838"/>
              </a:solidFill>
              <a:cs typeface="微软雅黑"/>
              <a:latin typeface="微软雅黑"/>
              <a:ea typeface="微软雅黑"/>
            </a:endParaRPr>
          </a:p>
        </p:txBody>
      </p:sp>
      <p:sp>
        <p:nvSpPr>
          <p:cNvPr id="43" name="等腰三角形 42"/>
          <p:cNvSpPr/>
          <p:nvPr/>
        </p:nvSpPr>
        <p:spPr>
          <a:xfrm rot="15240000">
            <a:off x="4835525" y="1821180"/>
            <a:ext cx="114300" cy="114300"/>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4" name="等腰三角形 43"/>
          <p:cNvSpPr/>
          <p:nvPr/>
        </p:nvSpPr>
        <p:spPr>
          <a:xfrm rot="6360000" flipH="1">
            <a:off x="7306310" y="1835785"/>
            <a:ext cx="114300" cy="114300"/>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3" name="文本框 52"/>
          <p:cNvSpPr txBox="1"/>
          <p:nvPr/>
        </p:nvSpPr>
        <p:spPr>
          <a:xfrm>
            <a:off x="2035493" y="6201410"/>
            <a:ext cx="802703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altLang="zh-CN" sz="1400">
                <a:solidFill>
                  <a:srgbClr val="FFFFFF"/>
                </a:solidFill>
                <a:latin typeface="微软雅黑"/>
                <a:ea typeface="微软雅黑"/>
                <a:cs typeface="微软雅黑"/>
              </a:rPr>
              <a:t>— </a:t>
            </a:r>
            <a:r>
              <a:rPr lang="zh-CN" altLang="en-US" sz="1400">
                <a:solidFill>
                  <a:srgbClr val="FFFFFF"/>
                </a:solidFill>
                <a:latin typeface="微软雅黑"/>
                <a:ea typeface="微软雅黑"/>
                <a:cs typeface="微软雅黑"/>
              </a:rPr>
              <a:t>应该适当地做一些减法，了解并聚焦那些能最好地提升客户体验的举措，把力气花在刀刃上！</a:t>
            </a:r>
            <a:r>
              <a:rPr lang="en-US" altLang="zh-CN" sz="1400">
                <a:solidFill>
                  <a:srgbClr val="FFFFFF"/>
                </a:solidFill>
                <a:latin typeface="微软雅黑"/>
                <a:ea typeface="微软雅黑"/>
                <a:cs typeface="微软雅黑"/>
                <a:sym typeface="微软雅黑"/>
              </a:rPr>
              <a:t>—</a:t>
            </a:r>
            <a:endParaRPr lang="zh-CN" altLang="en-US" sz="1400">
              <a:solidFill>
                <a:srgbClr val="FFFFFF"/>
              </a:solidFill>
              <a:latin typeface="微软雅黑"/>
              <a:ea typeface="微软雅黑"/>
              <a:cs typeface="微软雅黑"/>
            </a:endParaRPr>
          </a:p>
        </p:txBody>
      </p:sp>
      <p:sp>
        <p:nvSpPr>
          <p:cNvPr id="8" name="任意多边形 7"/>
          <p:cNvSpPr/>
          <p:nvPr/>
        </p:nvSpPr>
        <p:spPr>
          <a:xfrm>
            <a:off x="3809365" y="2171065"/>
            <a:ext cx="430530" cy="3020060"/>
          </a:xfrm>
          <a:custGeom>
            <a:avLst/>
            <a:gdLst>
              <a:gd name="adj1" fmla="val 50000"/>
              <a:gd name="adj2" fmla="val 50000"/>
              <a:gd name="maxAdj2" fmla="*/ 100000 h ss"/>
              <a:gd name="a1" fmla="pin 0 adj1 100000"/>
              <a:gd name="a2" fmla="pin 0 adj2 maxAdj2"/>
              <a:gd name="dy1" fmla="*/ ss a2 100000"/>
              <a:gd name="y1" fmla="+- b 0 dy1"/>
              <a:gd name="dx1" fmla="*/ w a1 200000"/>
              <a:gd name="x1" fmla="+- hc 0 dx1"/>
              <a:gd name="x2" fmla="+- hc dx1 0"/>
              <a:gd name="dy2" fmla="*/ x1 dy1 wd2"/>
              <a:gd name="y2" fmla="+- y1 dy2 0"/>
            </a:gdLst>
            <a:ahLst/>
            <a:cxnLst>
              <a:cxn ang="3">
                <a:pos x="hc" y="t"/>
              </a:cxn>
              <a:cxn ang="cd2">
                <a:pos x="l" y="y1"/>
              </a:cxn>
              <a:cxn ang="cd4">
                <a:pos x="hc" y="b"/>
              </a:cxn>
              <a:cxn ang="0">
                <a:pos x="r" y="y1"/>
              </a:cxn>
            </a:cxnLst>
            <a:rect l="l" t="t" r="r" b="b"/>
            <a:pathLst>
              <a:path w="678" h="4754">
                <a:moveTo>
                  <a:pt x="0" y="4383"/>
                </a:moveTo>
                <a:lnTo>
                  <a:pt x="170" y="4383"/>
                </a:lnTo>
                <a:lnTo>
                  <a:pt x="170" y="0"/>
                </a:lnTo>
                <a:lnTo>
                  <a:pt x="509" y="0"/>
                </a:lnTo>
                <a:lnTo>
                  <a:pt x="509" y="4383"/>
                </a:lnTo>
                <a:lnTo>
                  <a:pt x="678" y="4383"/>
                </a:lnTo>
                <a:lnTo>
                  <a:pt x="339" y="4754"/>
                </a:lnTo>
                <a:lnTo>
                  <a:pt x="0" y="4383"/>
                </a:lnTo>
                <a:close/>
              </a:path>
            </a:pathLst>
          </a:custGeom>
          <a:solidFill>
            <a:srgbClr val="FFFFFF">
              <a:alpha val="70000"/>
            </a:srgbClr>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11" name="椭圆 10"/>
          <p:cNvSpPr/>
          <p:nvPr/>
        </p:nvSpPr>
        <p:spPr>
          <a:xfrm>
            <a:off x="3763645" y="3446145"/>
            <a:ext cx="551815" cy="551815"/>
          </a:xfrm>
          <a:prstGeom prst="ellipse">
            <a:avLst/>
          </a:prstGeom>
          <a:solidFill>
            <a:srgbClr val="FFFFFF"/>
          </a:solidFill>
          <a:ln w="25400">
            <a:gradFill>
              <a:gsLst>
                <a:gs pos="0">
                  <a:srgbClr val="3368FF"/>
                </a:gs>
                <a:gs pos="100000">
                  <a:srgbClr val="B3D4FE"/>
                </a:gs>
              </a:gsLst>
              <a:lin ang="108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 name="文本框 28"/>
          <p:cNvSpPr txBox="1"/>
          <p:nvPr/>
        </p:nvSpPr>
        <p:spPr>
          <a:xfrm>
            <a:off x="3670935" y="4041140"/>
            <a:ext cx="741045" cy="460375"/>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代理人平台</a:t>
            </a:r>
            <a:endParaRPr lang="zh-CN" altLang="en-US" sz="1200" b="1">
              <a:solidFill>
                <a:srgbClr val="0042FF"/>
              </a:solidFill>
              <a:latin typeface="微软雅黑"/>
              <a:ea typeface="微软雅黑"/>
              <a:cs typeface="微软雅黑"/>
            </a:endParaRPr>
          </a:p>
        </p:txBody>
      </p:sp>
      <p:pic>
        <p:nvPicPr>
          <p:cNvPr id="31" name="图片 30" descr="production"/>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877945" y="3537585"/>
            <a:ext cx="323215" cy="323215"/>
          </a:xfrm>
          <a:prstGeom prst="rect">
            <a:avLst/>
          </a:prstGeom>
        </p:spPr>
      </p:pic>
      <p:sp>
        <p:nvSpPr>
          <p:cNvPr id="34" name="任意多边形 33"/>
          <p:cNvSpPr/>
          <p:nvPr/>
        </p:nvSpPr>
        <p:spPr>
          <a:xfrm>
            <a:off x="7925435" y="2171065"/>
            <a:ext cx="430530" cy="3020060"/>
          </a:xfrm>
          <a:custGeom>
            <a:avLst/>
            <a:gdLst>
              <a:gd name="adj1" fmla="val 50000"/>
              <a:gd name="adj2" fmla="val 50000"/>
              <a:gd name="maxAdj2" fmla="*/ 100000 h ss"/>
              <a:gd name="a1" fmla="pin 0 adj1 100000"/>
              <a:gd name="a2" fmla="pin 0 adj2 maxAdj2"/>
              <a:gd name="dy1" fmla="*/ ss a2 100000"/>
              <a:gd name="y1" fmla="+- b 0 dy1"/>
              <a:gd name="dx1" fmla="*/ w a1 200000"/>
              <a:gd name="x1" fmla="+- hc 0 dx1"/>
              <a:gd name="x2" fmla="+- hc dx1 0"/>
              <a:gd name="dy2" fmla="*/ x1 dy1 wd2"/>
              <a:gd name="y2" fmla="+- y1 dy2 0"/>
            </a:gdLst>
            <a:ahLst/>
            <a:cxnLst>
              <a:cxn ang="3">
                <a:pos x="hc" y="t"/>
              </a:cxn>
              <a:cxn ang="cd2">
                <a:pos x="l" y="y1"/>
              </a:cxn>
              <a:cxn ang="cd4">
                <a:pos x="hc" y="b"/>
              </a:cxn>
              <a:cxn ang="0">
                <a:pos x="r" y="y1"/>
              </a:cxn>
            </a:cxnLst>
            <a:rect l="l" t="t" r="r" b="b"/>
            <a:pathLst>
              <a:path w="678" h="4754">
                <a:moveTo>
                  <a:pt x="0" y="4383"/>
                </a:moveTo>
                <a:lnTo>
                  <a:pt x="170" y="4383"/>
                </a:lnTo>
                <a:lnTo>
                  <a:pt x="170" y="0"/>
                </a:lnTo>
                <a:lnTo>
                  <a:pt x="509" y="0"/>
                </a:lnTo>
                <a:lnTo>
                  <a:pt x="509" y="4383"/>
                </a:lnTo>
                <a:lnTo>
                  <a:pt x="678" y="4383"/>
                </a:lnTo>
                <a:lnTo>
                  <a:pt x="339" y="4754"/>
                </a:lnTo>
                <a:lnTo>
                  <a:pt x="0" y="4383"/>
                </a:lnTo>
                <a:close/>
              </a:path>
            </a:pathLst>
          </a:custGeom>
          <a:solidFill>
            <a:srgbClr val="FFFFFF">
              <a:alpha val="70000"/>
            </a:srgbClr>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35" name="椭圆 34"/>
          <p:cNvSpPr/>
          <p:nvPr/>
        </p:nvSpPr>
        <p:spPr>
          <a:xfrm>
            <a:off x="7879715" y="3433445"/>
            <a:ext cx="551815" cy="551815"/>
          </a:xfrm>
          <a:prstGeom prst="ellipse">
            <a:avLst/>
          </a:prstGeom>
          <a:solidFill>
            <a:srgbClr val="FFFFFF"/>
          </a:solidFill>
          <a:ln w="25400">
            <a:gradFill>
              <a:gsLst>
                <a:gs pos="0">
                  <a:srgbClr val="3368FF"/>
                </a:gs>
                <a:gs pos="100000">
                  <a:srgbClr val="B3D4FE"/>
                </a:gs>
              </a:gsLst>
              <a:lin ang="108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7" name="文本框 36"/>
          <p:cNvSpPr txBox="1"/>
          <p:nvPr/>
        </p:nvSpPr>
        <p:spPr>
          <a:xfrm>
            <a:off x="7787005" y="4028440"/>
            <a:ext cx="741045" cy="460375"/>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客户经营平台</a:t>
            </a:r>
            <a:endParaRPr lang="zh-CN" altLang="en-US" sz="1200" b="1">
              <a:solidFill>
                <a:srgbClr val="0042FF"/>
              </a:solidFill>
              <a:latin typeface="微软雅黑"/>
              <a:ea typeface="微软雅黑"/>
              <a:cs typeface="微软雅黑"/>
            </a:endParaRPr>
          </a:p>
        </p:txBody>
      </p:sp>
      <p:pic>
        <p:nvPicPr>
          <p:cNvPr id="40" name="图片 39" descr="member-1-2"/>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006715" y="3560445"/>
            <a:ext cx="297815" cy="297815"/>
          </a:xfrm>
          <a:prstGeom prst="rect">
            <a:avLst/>
          </a:prstGeom>
        </p:spPr>
      </p:pic>
      <p:sp>
        <p:nvSpPr>
          <p:cNvPr id="32" name="矩形 31"/>
          <p:cNvSpPr/>
          <p:nvPr/>
        </p:nvSpPr>
        <p:spPr>
          <a:xfrm>
            <a:off x="4730750" y="2250440"/>
            <a:ext cx="2703830" cy="3457575"/>
          </a:xfrm>
          <a:prstGeom prst="rect">
            <a:avLst/>
          </a:prstGeom>
          <a:gradFill>
            <a:gsLst>
              <a:gs pos="0">
                <a:srgbClr val="FFFFFF">
                  <a:alpha val="70000"/>
                </a:srgbClr>
              </a:gs>
              <a:gs pos="100000">
                <a:srgbClr val="FFFFFF">
                  <a:alpha val="0"/>
                </a:srgbClr>
              </a:gs>
            </a:gsLst>
            <a:lin ang="5400000"/>
          </a:gradFill>
          <a:ln w="25400">
            <a:gradFill>
              <a:gsLst>
                <a:gs pos="0">
                  <a:srgbClr val="3368FF">
                    <a:alpha val="50000"/>
                  </a:srgbClr>
                </a:gs>
                <a:gs pos="100000">
                  <a:srgbClr val="3368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33" name="直接箭头连接符 32"/>
          <p:cNvCxnSpPr/>
          <p:nvPr/>
        </p:nvCxnSpPr>
        <p:spPr>
          <a:xfrm flipH="1">
            <a:off x="4852035" y="2846070"/>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sp>
        <p:nvSpPr>
          <p:cNvPr id="42" name="文本框 41"/>
          <p:cNvSpPr txBox="1"/>
          <p:nvPr/>
        </p:nvSpPr>
        <p:spPr>
          <a:xfrm>
            <a:off x="5274945" y="2289810"/>
            <a:ext cx="161544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客户经营漏斗</a:t>
            </a:r>
            <a:endParaRPr lang="zh-CN" altLang="en-US" sz="1400" b="1">
              <a:solidFill>
                <a:srgbClr val="0042FF"/>
              </a:solidFill>
              <a:latin typeface="微软雅黑"/>
              <a:ea typeface="微软雅黑"/>
              <a:cs typeface="微软雅黑"/>
            </a:endParaRPr>
          </a:p>
        </p:txBody>
      </p:sp>
      <p:cxnSp>
        <p:nvCxnSpPr>
          <p:cNvPr id="45" name="直接箭头连接符 44"/>
          <p:cNvCxnSpPr/>
          <p:nvPr/>
        </p:nvCxnSpPr>
        <p:spPr>
          <a:xfrm>
            <a:off x="4852035" y="2966085"/>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46" name="直接箭头连接符 45"/>
          <p:cNvCxnSpPr/>
          <p:nvPr/>
        </p:nvCxnSpPr>
        <p:spPr>
          <a:xfrm flipH="1">
            <a:off x="4852035" y="3446780"/>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47" name="直接箭头连接符 46"/>
          <p:cNvCxnSpPr/>
          <p:nvPr/>
        </p:nvCxnSpPr>
        <p:spPr>
          <a:xfrm>
            <a:off x="4852035" y="3566795"/>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48" name="直接箭头连接符 47"/>
          <p:cNvCxnSpPr/>
          <p:nvPr/>
        </p:nvCxnSpPr>
        <p:spPr>
          <a:xfrm flipH="1">
            <a:off x="4852035" y="4081780"/>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50" name="直接箭头连接符 49"/>
          <p:cNvCxnSpPr/>
          <p:nvPr/>
        </p:nvCxnSpPr>
        <p:spPr>
          <a:xfrm>
            <a:off x="4852035" y="4201795"/>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51" name="直接箭头连接符 50"/>
          <p:cNvCxnSpPr/>
          <p:nvPr/>
        </p:nvCxnSpPr>
        <p:spPr>
          <a:xfrm flipH="1">
            <a:off x="4852035" y="4664075"/>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52" name="直接箭头连接符 51"/>
          <p:cNvCxnSpPr/>
          <p:nvPr/>
        </p:nvCxnSpPr>
        <p:spPr>
          <a:xfrm>
            <a:off x="4852035" y="4784090"/>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54" name="直接箭头连接符 53"/>
          <p:cNvCxnSpPr/>
          <p:nvPr/>
        </p:nvCxnSpPr>
        <p:spPr>
          <a:xfrm flipH="1">
            <a:off x="4852035" y="5288280"/>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cxnSp>
        <p:nvCxnSpPr>
          <p:cNvPr id="55" name="直接箭头连接符 54"/>
          <p:cNvCxnSpPr/>
          <p:nvPr/>
        </p:nvCxnSpPr>
        <p:spPr>
          <a:xfrm>
            <a:off x="4852035" y="5408295"/>
            <a:ext cx="2486660" cy="17780"/>
          </a:xfrm>
          <a:prstGeom prst="straightConnector1">
            <a:avLst/>
          </a:prstGeom>
          <a:ln>
            <a:solidFill>
              <a:srgbClr val="3368FF">
                <a:alpha val="50000"/>
              </a:srgbClr>
            </a:solidFill>
            <a:prstDash val="dash"/>
            <a:tailEnd type="triangle" w="med" len="lg"/>
          </a:ln>
        </p:spPr>
        <p:style>
          <a:lnRef idx="2">
            <a:srgbClr val="0042FF"/>
          </a:lnRef>
          <a:fillRef idx="0">
            <a:srgbClr val="FFFFFF"/>
          </a:fillRef>
          <a:effectRef idx="0">
            <a:srgbClr val="FFFFFF"/>
          </a:effectRef>
          <a:fontRef idx="minor">
            <a:srgbClr val="383838"/>
          </a:fontRef>
        </p:style>
      </p:cxnSp>
      <p:sp>
        <p:nvSpPr>
          <p:cNvPr id="56" name="梯形 55"/>
          <p:cNvSpPr/>
          <p:nvPr/>
        </p:nvSpPr>
        <p:spPr>
          <a:xfrm flipV="1">
            <a:off x="5422583" y="3886200"/>
            <a:ext cx="1353185" cy="480060"/>
          </a:xfrm>
          <a:prstGeom prst="trapezoid">
            <a:avLst>
              <a:gd name="adj" fmla="val 19444"/>
            </a:avLst>
          </a:prstGeom>
          <a:solidFill>
            <a:srgbClr val="FFFFFF"/>
          </a:solidFill>
          <a:ln w="25400">
            <a:gradFill>
              <a:gsLst>
                <a:gs pos="0">
                  <a:srgbClr val="B3D4FE"/>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7" name="梯形 56"/>
          <p:cNvSpPr/>
          <p:nvPr/>
        </p:nvSpPr>
        <p:spPr>
          <a:xfrm flipV="1">
            <a:off x="5308283" y="3279775"/>
            <a:ext cx="1581785" cy="484505"/>
          </a:xfrm>
          <a:prstGeom prst="trapezoid">
            <a:avLst>
              <a:gd name="adj" fmla="val 19444"/>
            </a:avLst>
          </a:prstGeom>
          <a:solidFill>
            <a:srgbClr val="FFFFFF"/>
          </a:solidFill>
          <a:ln w="25400">
            <a:gradFill>
              <a:gsLst>
                <a:gs pos="0">
                  <a:srgbClr val="B3D4FE"/>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8" name="梯形 57"/>
          <p:cNvSpPr/>
          <p:nvPr/>
        </p:nvSpPr>
        <p:spPr>
          <a:xfrm flipV="1">
            <a:off x="5186680" y="2651125"/>
            <a:ext cx="1824990" cy="506730"/>
          </a:xfrm>
          <a:prstGeom prst="trapezoid">
            <a:avLst>
              <a:gd name="adj" fmla="val 19444"/>
            </a:avLst>
          </a:prstGeom>
          <a:solidFill>
            <a:srgbClr val="FFFFFF"/>
          </a:solidFill>
          <a:ln w="25400">
            <a:gradFill>
              <a:gsLst>
                <a:gs pos="0">
                  <a:srgbClr val="B3D4FE"/>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9" name="文本框 58"/>
          <p:cNvSpPr txBox="1"/>
          <p:nvPr/>
        </p:nvSpPr>
        <p:spPr>
          <a:xfrm>
            <a:off x="5484178" y="2751138"/>
            <a:ext cx="122999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alpha val="80000"/>
                  </a:srgbClr>
                </a:solidFill>
                <a:latin typeface="微软雅黑"/>
                <a:ea typeface="微软雅黑"/>
                <a:cs typeface="微软雅黑"/>
              </a:rPr>
              <a:t>潜客触达</a:t>
            </a:r>
            <a:endParaRPr lang="zh-CN" altLang="en-US" sz="1400" b="1">
              <a:solidFill>
                <a:srgbClr val="383838">
                  <a:alpha val="80000"/>
                </a:srgbClr>
              </a:solidFill>
              <a:latin typeface="微软雅黑"/>
              <a:ea typeface="微软雅黑"/>
              <a:cs typeface="微软雅黑"/>
            </a:endParaRPr>
          </a:p>
        </p:txBody>
      </p:sp>
      <p:sp>
        <p:nvSpPr>
          <p:cNvPr id="60" name="文本框 59"/>
          <p:cNvSpPr txBox="1"/>
          <p:nvPr/>
        </p:nvSpPr>
        <p:spPr>
          <a:xfrm>
            <a:off x="5484178" y="3378041"/>
            <a:ext cx="122999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alpha val="80000"/>
                  </a:srgbClr>
                </a:solidFill>
                <a:latin typeface="微软雅黑"/>
                <a:ea typeface="微软雅黑"/>
                <a:cs typeface="微软雅黑"/>
              </a:rPr>
              <a:t>潜客经营</a:t>
            </a:r>
            <a:endParaRPr lang="zh-CN" altLang="en-US" sz="1400" b="1">
              <a:solidFill>
                <a:srgbClr val="383838">
                  <a:alpha val="80000"/>
                </a:srgbClr>
              </a:solidFill>
              <a:latin typeface="微软雅黑"/>
              <a:ea typeface="微软雅黑"/>
              <a:cs typeface="微软雅黑"/>
            </a:endParaRPr>
          </a:p>
        </p:txBody>
      </p:sp>
      <p:sp>
        <p:nvSpPr>
          <p:cNvPr id="61" name="文本框 60"/>
          <p:cNvSpPr txBox="1"/>
          <p:nvPr/>
        </p:nvSpPr>
        <p:spPr>
          <a:xfrm>
            <a:off x="5484178" y="3958670"/>
            <a:ext cx="122999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alpha val="80000"/>
                  </a:srgbClr>
                </a:solidFill>
                <a:latin typeface="微软雅黑"/>
                <a:ea typeface="微软雅黑"/>
                <a:cs typeface="微软雅黑"/>
              </a:rPr>
              <a:t>潜客转化</a:t>
            </a:r>
            <a:endParaRPr lang="zh-CN" altLang="en-US" sz="1400" b="1">
              <a:solidFill>
                <a:srgbClr val="383838">
                  <a:alpha val="80000"/>
                </a:srgbClr>
              </a:solidFill>
              <a:latin typeface="微软雅黑"/>
              <a:ea typeface="微软雅黑"/>
              <a:cs typeface="微软雅黑"/>
            </a:endParaRPr>
          </a:p>
        </p:txBody>
      </p:sp>
      <p:sp>
        <p:nvSpPr>
          <p:cNvPr id="62" name="梯形 61"/>
          <p:cNvSpPr/>
          <p:nvPr/>
        </p:nvSpPr>
        <p:spPr>
          <a:xfrm flipV="1">
            <a:off x="5568950" y="4488180"/>
            <a:ext cx="1060450" cy="506730"/>
          </a:xfrm>
          <a:prstGeom prst="trapezoid">
            <a:avLst>
              <a:gd name="adj" fmla="val 19444"/>
            </a:avLst>
          </a:prstGeom>
          <a:solidFill>
            <a:srgbClr val="FFFFFF"/>
          </a:solidFill>
          <a:ln w="25400">
            <a:gradFill>
              <a:gsLst>
                <a:gs pos="0">
                  <a:srgbClr val="B3D4FE"/>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3" name="文本框 62"/>
          <p:cNvSpPr txBox="1"/>
          <p:nvPr/>
        </p:nvSpPr>
        <p:spPr>
          <a:xfrm>
            <a:off x="5618480" y="4588193"/>
            <a:ext cx="96139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alpha val="80000"/>
                  </a:srgbClr>
                </a:solidFill>
                <a:latin typeface="微软雅黑"/>
                <a:ea typeface="微软雅黑"/>
                <a:cs typeface="微软雅黑"/>
              </a:rPr>
              <a:t>客户留存</a:t>
            </a:r>
            <a:endParaRPr lang="zh-CN" altLang="en-US" sz="1400" b="1">
              <a:solidFill>
                <a:srgbClr val="383838">
                  <a:alpha val="80000"/>
                </a:srgbClr>
              </a:solidFill>
              <a:latin typeface="微软雅黑"/>
              <a:ea typeface="微软雅黑"/>
              <a:cs typeface="微软雅黑"/>
            </a:endParaRPr>
          </a:p>
        </p:txBody>
      </p:sp>
      <p:sp>
        <p:nvSpPr>
          <p:cNvPr id="64" name="梯形 63"/>
          <p:cNvSpPr/>
          <p:nvPr/>
        </p:nvSpPr>
        <p:spPr>
          <a:xfrm flipV="1">
            <a:off x="5701348" y="5116830"/>
            <a:ext cx="795655" cy="506730"/>
          </a:xfrm>
          <a:prstGeom prst="trapezoid">
            <a:avLst>
              <a:gd name="adj" fmla="val 19444"/>
            </a:avLst>
          </a:prstGeom>
          <a:solidFill>
            <a:srgbClr val="FFFFFF"/>
          </a:solidFill>
          <a:ln w="25400">
            <a:gradFill>
              <a:gsLst>
                <a:gs pos="0">
                  <a:srgbClr val="B3D4FE"/>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5" name="文本框 64"/>
          <p:cNvSpPr txBox="1"/>
          <p:nvPr/>
        </p:nvSpPr>
        <p:spPr>
          <a:xfrm>
            <a:off x="5701030" y="5125085"/>
            <a:ext cx="796290" cy="429260"/>
          </a:xfrm>
          <a:prstGeom prst="rect">
            <a:avLst/>
          </a:prstGeom>
          <a:noFill/>
        </p:spPr>
        <p:txBody>
          <a:bodyPr wrap="square" rtlCol="0">
            <a:noAutofit/>
          </a:bodyPr>
          <a:p>
            <a:pPr algn="ctr">
              <a:defRPr>
                <a:latin typeface="微软雅黑"/>
                <a:ea typeface="微软雅黑"/>
                <a:cs typeface="微软雅黑"/>
              </a:defRPr>
            </a:pPr>
            <a:r>
              <a:rPr lang="zh-CN" altLang="en-US" sz="1400" b="1">
                <a:solidFill>
                  <a:srgbClr val="383838">
                    <a:alpha val="80000"/>
                  </a:srgbClr>
                </a:solidFill>
                <a:latin typeface="微软雅黑"/>
                <a:ea typeface="微软雅黑"/>
                <a:cs typeface="微软雅黑"/>
              </a:rPr>
              <a:t>加保</a:t>
            </a:r>
            <a:endParaRPr lang="zh-CN" altLang="en-US" sz="1400" b="1">
              <a:solidFill>
                <a:srgbClr val="383838">
                  <a:alpha val="80000"/>
                </a:srgbClr>
              </a:solidFill>
              <a:latin typeface="微软雅黑"/>
              <a:ea typeface="微软雅黑"/>
              <a:cs typeface="微软雅黑"/>
            </a:endParaRPr>
          </a:p>
          <a:p>
            <a:pPr algn="ctr">
              <a:defRPr>
                <a:latin typeface="微软雅黑"/>
                <a:ea typeface="微软雅黑"/>
                <a:cs typeface="微软雅黑"/>
              </a:defRPr>
            </a:pPr>
            <a:r>
              <a:rPr lang="zh-CN" altLang="en-US" sz="1400" b="1">
                <a:solidFill>
                  <a:srgbClr val="383838">
                    <a:alpha val="80000"/>
                  </a:srgbClr>
                </a:solidFill>
                <a:latin typeface="微软雅黑"/>
                <a:ea typeface="微软雅黑"/>
                <a:cs typeface="微软雅黑"/>
              </a:rPr>
              <a:t>转介</a:t>
            </a:r>
            <a:endParaRPr lang="zh-CN" altLang="en-US" sz="1400" b="1">
              <a:solidFill>
                <a:srgbClr val="383838">
                  <a:alpha val="80000"/>
                </a:srgbClr>
              </a:solidFill>
              <a:latin typeface="微软雅黑"/>
              <a:ea typeface="微软雅黑"/>
              <a:cs typeface="微软雅黑"/>
            </a:endParaRPr>
          </a:p>
        </p:txBody>
      </p:sp>
      <p:grpSp>
        <p:nvGrpSpPr>
          <p:cNvPr id="69" name="组合 68"/>
          <p:cNvGrpSpPr/>
          <p:nvPr/>
        </p:nvGrpSpPr>
        <p:grpSpPr>
          <a:xfrm>
            <a:off x="1954530" y="2245995"/>
            <a:ext cx="1243330" cy="3490595"/>
            <a:chOff x="3078" y="3553"/>
            <a:chExt cx="1958" cy="5497"/>
          </a:xfrm>
        </p:grpSpPr>
        <p:sp>
          <p:nvSpPr>
            <p:cNvPr id="49" name="Freeform: Shape 88"/>
            <p:cNvSpPr/>
            <p:nvPr/>
          </p:nvSpPr>
          <p:spPr>
            <a:xfrm>
              <a:off x="3078" y="3805"/>
              <a:ext cx="1959"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81" name="Freeform: Shape 89"/>
            <p:cNvSpPr/>
            <p:nvPr/>
          </p:nvSpPr>
          <p:spPr>
            <a:xfrm>
              <a:off x="3078" y="3553"/>
              <a:ext cx="1959" cy="250"/>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82" name="Freeform: Shape 90"/>
            <p:cNvSpPr/>
            <p:nvPr/>
          </p:nvSpPr>
          <p:spPr>
            <a:xfrm>
              <a:off x="3078" y="8464"/>
              <a:ext cx="1959"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83" name="Freeform: Shape 91"/>
            <p:cNvSpPr/>
            <p:nvPr/>
          </p:nvSpPr>
          <p:spPr>
            <a:xfrm>
              <a:off x="3078" y="8798"/>
              <a:ext cx="1959"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144" name="矩形 143"/>
            <p:cNvSpPr/>
            <p:nvPr/>
          </p:nvSpPr>
          <p:spPr>
            <a:xfrm>
              <a:off x="3352" y="4183"/>
              <a:ext cx="1406" cy="4230"/>
            </a:xfrm>
            <a:prstGeom prst="rect">
              <a:avLst/>
            </a:prstGeom>
            <a:pattFill prst="wdUpDiag">
              <a:fgClr>
                <a:srgbClr val="E6E6E6"/>
              </a:fgClr>
              <a:bgClr>
                <a:srgbClr val="E6E6E6"/>
              </a:bgClr>
            </a:pattFill>
            <a:ln>
              <a:noFill/>
            </a:ln>
          </p:spPr>
          <p:txBody>
            <a:bodyPr spcFirstLastPara="1" wrap="square" lIns="0" tIns="0" rIns="0" bIns="0" rtlCol="0" anchor="ctr" anchorCtr="0">
              <a:noAutofit/>
            </a:bodyPr>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478" name="Google Shape;703;p30"/>
            <p:cNvSpPr/>
            <p:nvPr/>
          </p:nvSpPr>
          <p:spPr>
            <a:xfrm>
              <a:off x="3516" y="431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59" name="Google Shape;703;p30"/>
            <p:cNvSpPr/>
            <p:nvPr/>
          </p:nvSpPr>
          <p:spPr>
            <a:xfrm>
              <a:off x="3516" y="514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60" name="Google Shape;723;p30"/>
            <p:cNvSpPr txBox="1"/>
            <p:nvPr/>
          </p:nvSpPr>
          <p:spPr>
            <a:xfrm>
              <a:off x="3573" y="520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a:solidFill>
                    <a:srgbClr val="383838">
                      <a:alpha val="80000"/>
                    </a:srgbClr>
                  </a:solidFill>
                  <a:latin typeface="微软雅黑"/>
                  <a:ea typeface="微软雅黑"/>
                  <a:cs typeface="微软雅黑"/>
                  <a:sym typeface="微软雅黑"/>
                </a:rPr>
                <a:t>建立关系需求沟通</a:t>
              </a:r>
              <a:endParaRPr lang="zh-CN" altLang="en-US" sz="1000" b="1" dirty="0">
                <a:solidFill>
                  <a:srgbClr val="383838">
                    <a:alpha val="80000"/>
                  </a:srgbClr>
                </a:solidFill>
                <a:latin typeface="微软雅黑"/>
                <a:ea typeface="微软雅黑"/>
                <a:cs typeface="微软雅黑"/>
                <a:sym typeface="微软雅黑"/>
              </a:endParaRPr>
            </a:p>
          </p:txBody>
        </p:sp>
        <p:sp>
          <p:nvSpPr>
            <p:cNvPr id="162" name="Google Shape;703;p30"/>
            <p:cNvSpPr/>
            <p:nvPr/>
          </p:nvSpPr>
          <p:spPr>
            <a:xfrm>
              <a:off x="3516" y="597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63" name="Google Shape;723;p30"/>
            <p:cNvSpPr txBox="1"/>
            <p:nvPr/>
          </p:nvSpPr>
          <p:spPr>
            <a:xfrm>
              <a:off x="3573" y="603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a:solidFill>
                    <a:srgbClr val="383838">
                      <a:alpha val="80000"/>
                    </a:srgbClr>
                  </a:solidFill>
                  <a:latin typeface="微软雅黑"/>
                  <a:ea typeface="微软雅黑"/>
                  <a:cs typeface="微软雅黑"/>
                  <a:sym typeface="微软雅黑"/>
                </a:rPr>
                <a:t>定制方案面谈签单</a:t>
              </a:r>
              <a:endParaRPr lang="zh-CN" altLang="en-US" sz="1000" b="1" dirty="0">
                <a:solidFill>
                  <a:srgbClr val="383838">
                    <a:alpha val="80000"/>
                  </a:srgbClr>
                </a:solidFill>
                <a:latin typeface="微软雅黑"/>
                <a:ea typeface="微软雅黑"/>
                <a:cs typeface="微软雅黑"/>
                <a:sym typeface="微软雅黑"/>
              </a:endParaRPr>
            </a:p>
          </p:txBody>
        </p:sp>
        <p:sp>
          <p:nvSpPr>
            <p:cNvPr id="165" name="Google Shape;703;p30"/>
            <p:cNvSpPr/>
            <p:nvPr/>
          </p:nvSpPr>
          <p:spPr>
            <a:xfrm>
              <a:off x="3516" y="680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66" name="Google Shape;723;p30"/>
            <p:cNvSpPr txBox="1"/>
            <p:nvPr/>
          </p:nvSpPr>
          <p:spPr>
            <a:xfrm>
              <a:off x="3573" y="686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a:solidFill>
                    <a:srgbClr val="383838">
                      <a:alpha val="80000"/>
                    </a:srgbClr>
                  </a:solidFill>
                  <a:latin typeface="微软雅黑"/>
                  <a:ea typeface="微软雅黑"/>
                  <a:cs typeface="微软雅黑"/>
                  <a:sym typeface="微软雅黑"/>
                </a:rPr>
                <a:t>客户关怀售后服务</a:t>
              </a:r>
              <a:endParaRPr lang="zh-CN" altLang="en-US" sz="1000" b="1" dirty="0">
                <a:solidFill>
                  <a:srgbClr val="383838">
                    <a:alpha val="80000"/>
                  </a:srgbClr>
                </a:solidFill>
                <a:latin typeface="微软雅黑"/>
                <a:ea typeface="微软雅黑"/>
                <a:cs typeface="微软雅黑"/>
                <a:sym typeface="微软雅黑"/>
              </a:endParaRPr>
            </a:p>
          </p:txBody>
        </p:sp>
        <p:sp>
          <p:nvSpPr>
            <p:cNvPr id="168" name="Google Shape;703;p30"/>
            <p:cNvSpPr/>
            <p:nvPr/>
          </p:nvSpPr>
          <p:spPr>
            <a:xfrm>
              <a:off x="3516" y="763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69" name="Google Shape;723;p30"/>
            <p:cNvSpPr txBox="1"/>
            <p:nvPr/>
          </p:nvSpPr>
          <p:spPr>
            <a:xfrm>
              <a:off x="3573" y="769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a:solidFill>
                    <a:srgbClr val="383838">
                      <a:alpha val="80000"/>
                    </a:srgbClr>
                  </a:solidFill>
                  <a:latin typeface="微软雅黑"/>
                  <a:ea typeface="微软雅黑"/>
                  <a:cs typeface="微软雅黑"/>
                  <a:sym typeface="微软雅黑"/>
                </a:rPr>
                <a:t>长期维护深耕价值</a:t>
              </a:r>
              <a:endParaRPr lang="zh-CN" altLang="en-US" sz="1000" b="1" dirty="0">
                <a:solidFill>
                  <a:srgbClr val="383838">
                    <a:alpha val="80000"/>
                  </a:srgbClr>
                </a:solidFill>
                <a:latin typeface="微软雅黑"/>
                <a:ea typeface="微软雅黑"/>
                <a:cs typeface="微软雅黑"/>
                <a:sym typeface="微软雅黑"/>
              </a:endParaRPr>
            </a:p>
          </p:txBody>
        </p:sp>
        <p:sp>
          <p:nvSpPr>
            <p:cNvPr id="68" name="Google Shape;723;p30"/>
            <p:cNvSpPr txBox="1"/>
            <p:nvPr/>
          </p:nvSpPr>
          <p:spPr>
            <a:xfrm>
              <a:off x="3573" y="437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a:solidFill>
                    <a:srgbClr val="383838">
                      <a:alpha val="80000"/>
                    </a:srgbClr>
                  </a:solidFill>
                  <a:latin typeface="微软雅黑"/>
                  <a:ea typeface="微软雅黑"/>
                  <a:cs typeface="微软雅黑"/>
                  <a:sym typeface="微软雅黑"/>
                </a:rPr>
                <a:t>潜客获取缘故获客</a:t>
              </a:r>
              <a:endParaRPr lang="zh-CN" altLang="en-US" sz="1000" b="1" dirty="0">
                <a:solidFill>
                  <a:srgbClr val="383838">
                    <a:alpha val="80000"/>
                  </a:srgbClr>
                </a:solidFill>
                <a:latin typeface="微软雅黑"/>
                <a:ea typeface="微软雅黑"/>
                <a:cs typeface="微软雅黑"/>
                <a:sym typeface="微软雅黑"/>
              </a:endParaRPr>
            </a:p>
          </p:txBody>
        </p:sp>
      </p:grpSp>
      <p:grpSp>
        <p:nvGrpSpPr>
          <p:cNvPr id="70" name="组合 69"/>
          <p:cNvGrpSpPr/>
          <p:nvPr/>
        </p:nvGrpSpPr>
        <p:grpSpPr>
          <a:xfrm>
            <a:off x="8850630" y="2245995"/>
            <a:ext cx="1243965" cy="3490595"/>
            <a:chOff x="3078" y="3553"/>
            <a:chExt cx="1959" cy="5497"/>
          </a:xfrm>
        </p:grpSpPr>
        <p:sp>
          <p:nvSpPr>
            <p:cNvPr id="71" name="Freeform: Shape 88"/>
            <p:cNvSpPr/>
            <p:nvPr/>
          </p:nvSpPr>
          <p:spPr>
            <a:xfrm>
              <a:off x="3078" y="3805"/>
              <a:ext cx="1959" cy="332"/>
            </a:xfrm>
            <a:custGeom>
              <a:avLst/>
              <a:gdLst/>
              <a:ahLst/>
              <a:cxnLst>
                <a:cxn ang="3">
                  <a:pos x="hc" y="t"/>
                </a:cxn>
                <a:cxn ang="cd2">
                  <a:pos x="l" y="vc"/>
                </a:cxn>
                <a:cxn ang="cd4">
                  <a:pos x="hc" y="b"/>
                </a:cxn>
                <a:cxn ang="0">
                  <a:pos x="r" y="vc"/>
                </a:cxn>
              </a:cxnLst>
              <a:rect l="l" t="t" r="r" b="b"/>
              <a:pathLst>
                <a:path w="1563" h="286">
                  <a:moveTo>
                    <a:pt x="0" y="0"/>
                  </a:moveTo>
                  <a:lnTo>
                    <a:pt x="232" y="286"/>
                  </a:lnTo>
                  <a:lnTo>
                    <a:pt x="781" y="286"/>
                  </a:lnTo>
                  <a:lnTo>
                    <a:pt x="1331" y="286"/>
                  </a:lnTo>
                  <a:lnTo>
                    <a:pt x="1563" y="0"/>
                  </a:lnTo>
                  <a:lnTo>
                    <a:pt x="1563" y="0"/>
                  </a:lnTo>
                  <a:close/>
                </a:path>
              </a:pathLst>
            </a:custGeom>
            <a:solidFill>
              <a:srgbClr val="3368FF">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72" name="Freeform: Shape 89"/>
            <p:cNvSpPr/>
            <p:nvPr/>
          </p:nvSpPr>
          <p:spPr>
            <a:xfrm>
              <a:off x="3078" y="3553"/>
              <a:ext cx="1959" cy="250"/>
            </a:xfrm>
            <a:custGeom>
              <a:avLst/>
              <a:gdLst/>
              <a:ahLst/>
              <a:cxnLst>
                <a:cxn ang="3">
                  <a:pos x="hc" y="t"/>
                </a:cxn>
                <a:cxn ang="cd2">
                  <a:pos x="l" y="vc"/>
                </a:cxn>
                <a:cxn ang="cd4">
                  <a:pos x="hc" y="b"/>
                </a:cxn>
                <a:cxn ang="0">
                  <a:pos x="r" y="vc"/>
                </a:cxn>
              </a:cxnLst>
              <a:rect l="l" t="t" r="r" b="b"/>
              <a:pathLst>
                <a:path w="1563" h="216">
                  <a:moveTo>
                    <a:pt x="0" y="0"/>
                  </a:moveTo>
                  <a:lnTo>
                    <a:pt x="0" y="216"/>
                  </a:lnTo>
                  <a:lnTo>
                    <a:pt x="0" y="216"/>
                  </a:lnTo>
                  <a:lnTo>
                    <a:pt x="1563" y="216"/>
                  </a:lnTo>
                  <a:lnTo>
                    <a:pt x="1563" y="216"/>
                  </a:lnTo>
                  <a:lnTo>
                    <a:pt x="1563" y="0"/>
                  </a:lnTo>
                  <a:close/>
                </a:path>
              </a:pathLst>
            </a:custGeom>
            <a:solidFill>
              <a:srgbClr val="3368FF"/>
            </a:solidFill>
            <a:ln cap="flat">
              <a:noFill/>
              <a:prstDash val="solid"/>
            </a:ln>
          </p:spPr>
          <p:txBody>
            <a:bodyPr vert="horz" wrap="none" lIns="0" tIns="0" rIns="0" bIns="0" anchor="ctr" anchorCtr="1" compatLnSpc="0"/>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73" name="Freeform: Shape 90"/>
            <p:cNvSpPr/>
            <p:nvPr/>
          </p:nvSpPr>
          <p:spPr>
            <a:xfrm>
              <a:off x="3078" y="8464"/>
              <a:ext cx="1959" cy="334"/>
            </a:xfrm>
            <a:custGeom>
              <a:avLst/>
              <a:gdLst/>
              <a:ahLst/>
              <a:cxnLst>
                <a:cxn ang="3">
                  <a:pos x="hc" y="t"/>
                </a:cxn>
                <a:cxn ang="cd2">
                  <a:pos x="l" y="vc"/>
                </a:cxn>
                <a:cxn ang="cd4">
                  <a:pos x="hc" y="b"/>
                </a:cxn>
                <a:cxn ang="0">
                  <a:pos x="r" y="vc"/>
                </a:cxn>
              </a:cxnLst>
              <a:rect l="l" t="t" r="r" b="b"/>
              <a:pathLst>
                <a:path w="1563" h="287">
                  <a:moveTo>
                    <a:pt x="1563" y="287"/>
                  </a:moveTo>
                  <a:lnTo>
                    <a:pt x="1331" y="0"/>
                  </a:lnTo>
                  <a:lnTo>
                    <a:pt x="781" y="0"/>
                  </a:lnTo>
                  <a:lnTo>
                    <a:pt x="232" y="0"/>
                  </a:lnTo>
                  <a:lnTo>
                    <a:pt x="0" y="287"/>
                  </a:lnTo>
                  <a:lnTo>
                    <a:pt x="0" y="287"/>
                  </a:lnTo>
                  <a:close/>
                </a:path>
              </a:pathLst>
            </a:custGeom>
            <a:solidFill>
              <a:srgbClr val="3368FF">
                <a:alpha val="50000"/>
              </a:srgbClr>
            </a:solidFill>
            <a:ln cap="flat">
              <a:noFill/>
              <a:prstDash val="solid"/>
            </a:ln>
          </p:spPr>
          <p:txBody>
            <a:bodyPr vert="horz" wrap="none" lIns="0" tIns="0" rIns="0" bIns="0" anchor="ctr" anchorCtr="1" compatLnSpc="0"/>
            <a:p>
              <a:pPr hangingPunct="0">
                <a:defRPr>
                  <a:latin typeface="微软雅黑"/>
                  <a:ea typeface="微软雅黑"/>
                  <a:cs typeface="微软雅黑"/>
                </a:defRPr>
              </a:pPr>
              <a:endParaRPr lang="en-US" sz="1000" dirty="0">
                <a:latin typeface="微软雅黑"/>
                <a:ea typeface="微软雅黑"/>
                <a:cs typeface="微软雅黑"/>
              </a:endParaRPr>
            </a:p>
          </p:txBody>
        </p:sp>
        <p:sp>
          <p:nvSpPr>
            <p:cNvPr id="74" name="Freeform: Shape 91"/>
            <p:cNvSpPr/>
            <p:nvPr/>
          </p:nvSpPr>
          <p:spPr>
            <a:xfrm>
              <a:off x="3078" y="8798"/>
              <a:ext cx="1959" cy="252"/>
            </a:xfrm>
            <a:custGeom>
              <a:avLst/>
              <a:gdLst/>
              <a:ahLst/>
              <a:cxnLst>
                <a:cxn ang="3">
                  <a:pos x="hc" y="t"/>
                </a:cxn>
                <a:cxn ang="cd2">
                  <a:pos x="l" y="vc"/>
                </a:cxn>
                <a:cxn ang="cd4">
                  <a:pos x="hc" y="b"/>
                </a:cxn>
                <a:cxn ang="0">
                  <a:pos x="r" y="vc"/>
                </a:cxn>
              </a:cxnLst>
              <a:rect l="l" t="t" r="r" b="b"/>
              <a:pathLst>
                <a:path w="1563" h="217">
                  <a:moveTo>
                    <a:pt x="1563" y="217"/>
                  </a:moveTo>
                  <a:lnTo>
                    <a:pt x="1563" y="0"/>
                  </a:lnTo>
                  <a:lnTo>
                    <a:pt x="1563" y="0"/>
                  </a:lnTo>
                  <a:lnTo>
                    <a:pt x="0" y="0"/>
                  </a:lnTo>
                  <a:lnTo>
                    <a:pt x="0" y="0"/>
                  </a:lnTo>
                  <a:lnTo>
                    <a:pt x="0" y="217"/>
                  </a:lnTo>
                  <a:close/>
                </a:path>
              </a:pathLst>
            </a:custGeom>
            <a:solidFill>
              <a:srgbClr val="3368FF"/>
            </a:solidFill>
            <a:ln cap="flat">
              <a:noFill/>
              <a:prstDash val="solid"/>
            </a:ln>
          </p:spPr>
          <p:txBody>
            <a:bodyPr vert="horz" wrap="none" lIns="0" tIns="0" rIns="0" bIns="0" anchor="ctr" anchorCtr="1" compatLnSpc="0"/>
            <a:p>
              <a:pPr hangingPunct="0">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76" name="矩形 75"/>
            <p:cNvSpPr/>
            <p:nvPr/>
          </p:nvSpPr>
          <p:spPr>
            <a:xfrm>
              <a:off x="3352" y="4183"/>
              <a:ext cx="1406" cy="4230"/>
            </a:xfrm>
            <a:prstGeom prst="rect">
              <a:avLst/>
            </a:prstGeom>
            <a:pattFill prst="wdUpDiag">
              <a:fgClr>
                <a:srgbClr val="E6E6E6"/>
              </a:fgClr>
              <a:bgClr>
                <a:srgbClr val="E6E6E6"/>
              </a:bgClr>
            </a:pattFill>
            <a:ln>
              <a:noFill/>
            </a:ln>
          </p:spPr>
          <p:txBody>
            <a:bodyPr spcFirstLastPara="1" wrap="square" lIns="0" tIns="0" rIns="0" bIns="0" rtlCol="0" anchor="ctr" anchorCtr="0">
              <a:noAutofit/>
            </a:bodyPr>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77" name="Google Shape;703;p30"/>
            <p:cNvSpPr/>
            <p:nvPr/>
          </p:nvSpPr>
          <p:spPr>
            <a:xfrm>
              <a:off x="3516" y="431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78" name="Google Shape;703;p30"/>
            <p:cNvSpPr/>
            <p:nvPr/>
          </p:nvSpPr>
          <p:spPr>
            <a:xfrm>
              <a:off x="3516" y="514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79" name="Google Shape;723;p30"/>
            <p:cNvSpPr txBox="1"/>
            <p:nvPr/>
          </p:nvSpPr>
          <p:spPr>
            <a:xfrm>
              <a:off x="3573" y="520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sym typeface="微软雅黑"/>
                </a:rPr>
                <a:t>用户洞察线上服务</a:t>
              </a:r>
              <a:endParaRPr lang="zh-CN" altLang="en-US" sz="1000" b="1" dirty="0">
                <a:solidFill>
                  <a:srgbClr val="383838">
                    <a:alpha val="80000"/>
                  </a:srgbClr>
                </a:solidFill>
                <a:latin typeface="微软雅黑"/>
                <a:ea typeface="微软雅黑"/>
                <a:cs typeface="微软雅黑"/>
                <a:sym typeface="微软雅黑"/>
              </a:endParaRPr>
            </a:p>
          </p:txBody>
        </p:sp>
        <p:sp>
          <p:nvSpPr>
            <p:cNvPr id="80" name="Google Shape;703;p30"/>
            <p:cNvSpPr/>
            <p:nvPr/>
          </p:nvSpPr>
          <p:spPr>
            <a:xfrm>
              <a:off x="3516" y="597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84" name="Google Shape;723;p30"/>
            <p:cNvSpPr txBox="1"/>
            <p:nvPr/>
          </p:nvSpPr>
          <p:spPr>
            <a:xfrm>
              <a:off x="3573" y="603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sym typeface="微软雅黑"/>
                </a:rPr>
                <a:t>加速转化线上签单</a:t>
              </a:r>
              <a:endParaRPr lang="zh-CN" altLang="en-US" sz="1000" b="1" dirty="0">
                <a:solidFill>
                  <a:srgbClr val="383838">
                    <a:alpha val="80000"/>
                  </a:srgbClr>
                </a:solidFill>
                <a:latin typeface="微软雅黑"/>
                <a:ea typeface="微软雅黑"/>
                <a:cs typeface="微软雅黑"/>
                <a:sym typeface="微软雅黑"/>
              </a:endParaRPr>
            </a:p>
          </p:txBody>
        </p:sp>
        <p:sp>
          <p:nvSpPr>
            <p:cNvPr id="89" name="Google Shape;703;p30"/>
            <p:cNvSpPr/>
            <p:nvPr/>
          </p:nvSpPr>
          <p:spPr>
            <a:xfrm>
              <a:off x="3516" y="680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90" name="Google Shape;723;p30"/>
            <p:cNvSpPr txBox="1"/>
            <p:nvPr/>
          </p:nvSpPr>
          <p:spPr>
            <a:xfrm>
              <a:off x="3573" y="686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sym typeface="微软雅黑"/>
                </a:rPr>
                <a:t>提供服务个性推送</a:t>
              </a:r>
              <a:endParaRPr lang="zh-CN" altLang="en-US" sz="1000" b="1" dirty="0">
                <a:solidFill>
                  <a:srgbClr val="383838">
                    <a:alpha val="80000"/>
                  </a:srgbClr>
                </a:solidFill>
                <a:latin typeface="微软雅黑"/>
                <a:ea typeface="微软雅黑"/>
                <a:cs typeface="微软雅黑"/>
                <a:sym typeface="微软雅黑"/>
              </a:endParaRPr>
            </a:p>
          </p:txBody>
        </p:sp>
        <p:sp>
          <p:nvSpPr>
            <p:cNvPr id="91" name="Google Shape;703;p30"/>
            <p:cNvSpPr/>
            <p:nvPr/>
          </p:nvSpPr>
          <p:spPr>
            <a:xfrm>
              <a:off x="3516" y="7634"/>
              <a:ext cx="1084" cy="671"/>
            </a:xfrm>
            <a:prstGeom prst="roundRect">
              <a:avLst>
                <a:gd name="adj" fmla="val 3814"/>
              </a:avLst>
            </a:prstGeom>
            <a:solidFill>
              <a:srgbClr val="FFFFFF"/>
            </a:solidFill>
            <a:ln w="12700">
              <a:solidFill>
                <a:srgbClr val="3368FF"/>
              </a:solidFill>
            </a:ln>
            <a:effectLst>
              <a:outerShdw blurRad="50800" dist="38100" dir="2700000" algn="tl" rotWithShape="0">
                <a:srgbClr val="DCDCDC">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92" name="Google Shape;723;p30"/>
            <p:cNvSpPr txBox="1"/>
            <p:nvPr/>
          </p:nvSpPr>
          <p:spPr>
            <a:xfrm>
              <a:off x="3573" y="769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sym typeface="微软雅黑"/>
                </a:rPr>
                <a:t>长期追踪客户洞察</a:t>
              </a:r>
              <a:endParaRPr lang="zh-CN" altLang="en-US" sz="1000" b="1" dirty="0">
                <a:solidFill>
                  <a:srgbClr val="383838">
                    <a:alpha val="80000"/>
                  </a:srgbClr>
                </a:solidFill>
                <a:latin typeface="微软雅黑"/>
                <a:ea typeface="微软雅黑"/>
                <a:cs typeface="微软雅黑"/>
                <a:sym typeface="微软雅黑"/>
              </a:endParaRPr>
            </a:p>
          </p:txBody>
        </p:sp>
        <p:sp>
          <p:nvSpPr>
            <p:cNvPr id="94" name="Google Shape;723;p30"/>
            <p:cNvSpPr txBox="1"/>
            <p:nvPr/>
          </p:nvSpPr>
          <p:spPr>
            <a:xfrm>
              <a:off x="3573" y="4377"/>
              <a:ext cx="970" cy="544"/>
            </a:xfrm>
            <a:prstGeom prst="rect">
              <a:avLst/>
            </a:prstGeom>
            <a:noFill/>
            <a:ln>
              <a:noFill/>
            </a:ln>
          </p:spPr>
          <p:txBody>
            <a:bodyPr spcFirstLastPara="1" wrap="square" lIns="0" tIns="0" rIns="0" bIns="0" anchor="t" anchorCtr="0">
              <a:spAutoFit/>
            </a:bodyPr>
            <a:p>
              <a:pPr algn="ct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sym typeface="微软雅黑"/>
                </a:rPr>
                <a:t>树立品牌引流拓客</a:t>
              </a:r>
              <a:endParaRPr lang="zh-CN" altLang="en-US" sz="1000" b="1" dirty="0">
                <a:solidFill>
                  <a:srgbClr val="383838">
                    <a:alpha val="80000"/>
                  </a:srgbClr>
                </a:solidFill>
                <a:latin typeface="微软雅黑"/>
                <a:ea typeface="微软雅黑"/>
                <a:cs typeface="微软雅黑"/>
                <a:sym typeface="微软雅黑"/>
              </a:endParaRPr>
            </a:p>
          </p:txBody>
        </p:sp>
      </p:grpSp>
      <p:cxnSp>
        <p:nvCxnSpPr>
          <p:cNvPr id="95" name="直接连接符 94"/>
          <p:cNvCxnSpPr/>
          <p:nvPr/>
        </p:nvCxnSpPr>
        <p:spPr>
          <a:xfrm flipH="1">
            <a:off x="10009505" y="3958590"/>
            <a:ext cx="426720" cy="97155"/>
          </a:xfrm>
          <a:prstGeom prst="line">
            <a:avLst/>
          </a:prstGeom>
          <a:solidFill>
            <a:srgbClr val="FFFFFF">
              <a:alpha val="50000"/>
            </a:srgbClr>
          </a:solidFill>
          <a:ln w="19050">
            <a:gradFill>
              <a:gsLst>
                <a:gs pos="0">
                  <a:srgbClr val="668EFF"/>
                </a:gs>
                <a:gs pos="0">
                  <a:srgbClr val="3368FF">
                    <a:alpha val="0"/>
                  </a:srgbClr>
                </a:gs>
                <a:gs pos="100000">
                  <a:srgbClr val="3368FF"/>
                </a:gs>
              </a:gsLst>
              <a:lin ang="0" scaled="1"/>
            </a:gradFill>
            <a:tailEnd type="oval"/>
          </a:ln>
        </p:spPr>
        <p:style>
          <a:lnRef idx="2">
            <a:srgbClr val="0042FF"/>
          </a:lnRef>
          <a:fillRef idx="1">
            <a:srgbClr val="0042FF"/>
          </a:fillRef>
          <a:effectRef idx="0">
            <a:srgbClr val="FFFFFF"/>
          </a:effectRef>
          <a:fontRef idx="minor">
            <a:srgbClr val="FFFFFF"/>
          </a:fontRef>
        </p:style>
      </p:cxnSp>
      <p:grpSp>
        <p:nvGrpSpPr>
          <p:cNvPr id="7" name="组合 6"/>
          <p:cNvGrpSpPr/>
          <p:nvPr/>
        </p:nvGrpSpPr>
        <p:grpSpPr>
          <a:xfrm>
            <a:off x="7675245" y="347980"/>
            <a:ext cx="4588510" cy="367030"/>
            <a:chOff x="12087" y="-1089"/>
            <a:chExt cx="7226" cy="578"/>
          </a:xfrm>
        </p:grpSpPr>
        <p:pic>
          <p:nvPicPr>
            <p:cNvPr id="6" name="图片 5"/>
            <p:cNvPicPr>
              <a:picLocks noChangeAspect="1"/>
            </p:cNvPicPr>
            <p:nvPr userDrawn="1"/>
          </p:nvPicPr>
          <p:blipFill>
            <a:blip r:embed="rId7"/>
            <a:srcRect r="57320" b="-13333"/>
            <a:stretch>
              <a:fillRect/>
            </a:stretch>
          </p:blipFill>
          <p:spPr>
            <a:xfrm>
              <a:off x="12087" y="-1089"/>
              <a:ext cx="2548" cy="578"/>
            </a:xfrm>
            <a:prstGeom prst="rect">
              <a:avLst/>
            </a:prstGeom>
          </p:spPr>
        </p:pic>
        <p:sp>
          <p:nvSpPr>
            <p:cNvPr id="12" name="文本框 11"/>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sym typeface="微软雅黑"/>
              </a:rPr>
              <a:t>新能源汽车用户体系分析</a:t>
            </a:r>
            <a:endParaRPr sz="2500">
              <a:solidFill>
                <a:srgbClr val="383838"/>
              </a:solidFill>
              <a:effectLst/>
              <a:latin typeface="微软雅黑"/>
              <a:ea typeface="微软雅黑"/>
              <a:cs typeface="微软雅黑"/>
              <a:sym typeface="微软雅黑"/>
            </a:endParaRPr>
          </a:p>
        </p:txBody>
      </p:sp>
      <p:sp>
        <p:nvSpPr>
          <p:cNvPr id="66" name="等腰三角形 65"/>
          <p:cNvSpPr/>
          <p:nvPr/>
        </p:nvSpPr>
        <p:spPr>
          <a:xfrm>
            <a:off x="771525" y="1178560"/>
            <a:ext cx="10641330" cy="1617345"/>
          </a:xfrm>
          <a:prstGeom prst="triangle">
            <a:avLst/>
          </a:prstGeom>
          <a:noFill/>
          <a:ln w="127000">
            <a:gradFill>
              <a:gsLst>
                <a:gs pos="11000">
                  <a:srgbClr val="3368FF">
                    <a:alpha val="0"/>
                  </a:srgbClr>
                </a:gs>
                <a:gs pos="100000">
                  <a:srgbClr val="3368FF"/>
                </a:gs>
              </a:gsLst>
              <a:lin ang="16200000" scaled="1"/>
            </a:gra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7" name="Freeform 34"/>
          <p:cNvSpPr/>
          <p:nvPr/>
        </p:nvSpPr>
        <p:spPr>
          <a:xfrm flipH="1">
            <a:off x="9027472" y="3358502"/>
            <a:ext cx="143246" cy="105235"/>
          </a:xfrm>
          <a:custGeom>
            <a:avLst/>
            <a:gdLst>
              <a:gd name="connsiteX0" fmla="*/ 0 w 104775"/>
              <a:gd name="connsiteY0" fmla="*/ 128587 h 128587"/>
              <a:gd name="connsiteX1" fmla="*/ 103187 w 104775"/>
              <a:gd name="connsiteY1" fmla="*/ 0 h 128587"/>
              <a:gd name="connsiteX2" fmla="*/ 104775 w 104775"/>
              <a:gd name="connsiteY2" fmla="*/ 128587 h 128587"/>
              <a:gd name="connsiteX3" fmla="*/ 0 w 104775"/>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04775" h="128587">
                <a:moveTo>
                  <a:pt x="0" y="128587"/>
                </a:moveTo>
                <a:lnTo>
                  <a:pt x="103187" y="0"/>
                </a:lnTo>
                <a:cubicBezTo>
                  <a:pt x="103716" y="42862"/>
                  <a:pt x="104246" y="85725"/>
                  <a:pt x="104775" y="128587"/>
                </a:cubicBezTo>
                <a:lnTo>
                  <a:pt x="0" y="128587"/>
                </a:lnTo>
                <a:close/>
              </a:path>
            </a:pathLst>
          </a:custGeom>
          <a:solidFill>
            <a:srgbClr val="3368FF"/>
          </a:solidFill>
          <a:ln w="25400" cap="flat" cmpd="sng" algn="ctr">
            <a:noFill/>
            <a:prstDash val="solid"/>
          </a:ln>
          <a:effectLst/>
        </p:spPr>
        <p:txBody>
          <a:bodyPr lIns="0" tIns="0" rIns="0" bIns="0" rtlCol="0" anchor="ctr"/>
          <a:p>
            <a:pPr marL="0" marR="0" lvl="0" indent="0" algn="ctr" defTabSz="913765"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74" name="Freeform 41"/>
          <p:cNvSpPr/>
          <p:nvPr/>
        </p:nvSpPr>
        <p:spPr>
          <a:xfrm>
            <a:off x="5118735" y="1402715"/>
            <a:ext cx="2005965" cy="2026285"/>
          </a:xfrm>
          <a:custGeom>
            <a:avLst/>
            <a:gdLst>
              <a:gd name="connsiteX0" fmla="*/ 842434 w 1689100"/>
              <a:gd name="connsiteY0" fmla="*/ 0 h 1214967"/>
              <a:gd name="connsiteX1" fmla="*/ 0 w 1689100"/>
              <a:gd name="connsiteY1" fmla="*/ 215900 h 1214967"/>
              <a:gd name="connsiteX2" fmla="*/ 0 w 1689100"/>
              <a:gd name="connsiteY2" fmla="*/ 1214967 h 1214967"/>
              <a:gd name="connsiteX3" fmla="*/ 1689100 w 1689100"/>
              <a:gd name="connsiteY3" fmla="*/ 1214967 h 1214967"/>
              <a:gd name="connsiteX4" fmla="*/ 1689100 w 1689100"/>
              <a:gd name="connsiteY4" fmla="*/ 203200 h 1214967"/>
              <a:gd name="connsiteX5" fmla="*/ 842434 w 1689100"/>
              <a:gd name="connsiteY5" fmla="*/ 0 h 121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9100" h="1214967">
                <a:moveTo>
                  <a:pt x="842434" y="0"/>
                </a:moveTo>
                <a:lnTo>
                  <a:pt x="0" y="215900"/>
                </a:lnTo>
                <a:lnTo>
                  <a:pt x="0" y="1214967"/>
                </a:lnTo>
                <a:lnTo>
                  <a:pt x="1689100" y="1214967"/>
                </a:lnTo>
                <a:lnTo>
                  <a:pt x="1689100" y="203200"/>
                </a:lnTo>
                <a:lnTo>
                  <a:pt x="842434" y="0"/>
                </a:lnTo>
                <a:close/>
              </a:path>
            </a:pathLst>
          </a:custGeom>
          <a:gradFill flip="none" rotWithShape="1">
            <a:gsLst>
              <a:gs pos="100000">
                <a:srgbClr val="3368FF"/>
              </a:gs>
              <a:gs pos="0">
                <a:srgbClr val="0042FF"/>
              </a:gs>
            </a:gsLst>
            <a:lin ang="6600000" scaled="1"/>
          </a:gradFill>
          <a:ln>
            <a:noFill/>
            <a:prstDash val="solid"/>
          </a:ln>
          <a:effectLst>
            <a:innerShdw blurRad="2794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spc="300">
              <a:solidFill>
                <a:srgbClr val="FFFFFF"/>
              </a:solidFill>
              <a:latin typeface="微软雅黑"/>
              <a:ea typeface="微软雅黑"/>
              <a:cs typeface="微软雅黑"/>
              <a:sym typeface="微软雅黑"/>
            </a:endParaRPr>
          </a:p>
        </p:txBody>
      </p:sp>
      <p:sp>
        <p:nvSpPr>
          <p:cNvPr id="76" name="Freeform 42"/>
          <p:cNvSpPr/>
          <p:nvPr/>
        </p:nvSpPr>
        <p:spPr>
          <a:xfrm>
            <a:off x="2827655" y="1792509"/>
            <a:ext cx="2133600" cy="1636491"/>
          </a:xfrm>
          <a:custGeom>
            <a:avLst/>
            <a:gdLst>
              <a:gd name="connsiteX0" fmla="*/ 1320800 w 1325034"/>
              <a:gd name="connsiteY0" fmla="*/ 12700 h 952500"/>
              <a:gd name="connsiteX1" fmla="*/ 0 w 1325034"/>
              <a:gd name="connsiteY1" fmla="*/ 334434 h 952500"/>
              <a:gd name="connsiteX2" fmla="*/ 279400 w 1325034"/>
              <a:gd name="connsiteY2" fmla="*/ 334434 h 952500"/>
              <a:gd name="connsiteX3" fmla="*/ 279400 w 1325034"/>
              <a:gd name="connsiteY3" fmla="*/ 952500 h 952500"/>
              <a:gd name="connsiteX4" fmla="*/ 1325034 w 1325034"/>
              <a:gd name="connsiteY4" fmla="*/ 952500 h 952500"/>
              <a:gd name="connsiteX5" fmla="*/ 1325034 w 1325034"/>
              <a:gd name="connsiteY5" fmla="*/ 0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 h="2577">
                <a:moveTo>
                  <a:pt x="3349" y="4"/>
                </a:moveTo>
                <a:lnTo>
                  <a:pt x="3137" y="60"/>
                </a:lnTo>
                <a:lnTo>
                  <a:pt x="2986" y="100"/>
                </a:lnTo>
                <a:lnTo>
                  <a:pt x="2986" y="100"/>
                </a:lnTo>
                <a:lnTo>
                  <a:pt x="0" y="885"/>
                </a:lnTo>
                <a:lnTo>
                  <a:pt x="708" y="885"/>
                </a:lnTo>
                <a:lnTo>
                  <a:pt x="708" y="2577"/>
                </a:lnTo>
                <a:lnTo>
                  <a:pt x="3360" y="2577"/>
                </a:lnTo>
                <a:lnTo>
                  <a:pt x="3360" y="0"/>
                </a:lnTo>
                <a:lnTo>
                  <a:pt x="3350" y="3"/>
                </a:lnTo>
                <a:lnTo>
                  <a:pt x="3349" y="4"/>
                </a:lnTo>
                <a:close/>
              </a:path>
            </a:pathLst>
          </a:custGeom>
          <a:gradFill flip="none" rotWithShape="1">
            <a:gsLst>
              <a:gs pos="0">
                <a:srgbClr val="B3D4FE"/>
              </a:gs>
              <a:gs pos="100000">
                <a:srgbClr val="3368FF"/>
              </a:gs>
            </a:gsLst>
            <a:lin ang="2700000" scaled="1"/>
            <a:tileRect/>
          </a:gradFill>
          <a:ln>
            <a:noFill/>
            <a:prstDash val="solid"/>
          </a:ln>
          <a:effectLst>
            <a:innerShdw blurRad="2794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spc="300">
              <a:solidFill>
                <a:srgbClr val="383838"/>
              </a:solidFill>
              <a:latin typeface="微软雅黑"/>
              <a:ea typeface="微软雅黑"/>
              <a:cs typeface="微软雅黑"/>
              <a:sym typeface="微软雅黑"/>
            </a:endParaRPr>
          </a:p>
        </p:txBody>
      </p:sp>
      <p:sp>
        <p:nvSpPr>
          <p:cNvPr id="77" name="Freeform 43"/>
          <p:cNvSpPr/>
          <p:nvPr/>
        </p:nvSpPr>
        <p:spPr>
          <a:xfrm flipH="1">
            <a:off x="7283450" y="1795106"/>
            <a:ext cx="2133600" cy="1633894"/>
          </a:xfrm>
          <a:custGeom>
            <a:avLst/>
            <a:gdLst>
              <a:gd name="connsiteX0" fmla="*/ 1320800 w 1325034"/>
              <a:gd name="connsiteY0" fmla="*/ 12700 h 952500"/>
              <a:gd name="connsiteX1" fmla="*/ 0 w 1325034"/>
              <a:gd name="connsiteY1" fmla="*/ 334434 h 952500"/>
              <a:gd name="connsiteX2" fmla="*/ 279400 w 1325034"/>
              <a:gd name="connsiteY2" fmla="*/ 334434 h 952500"/>
              <a:gd name="connsiteX3" fmla="*/ 279400 w 1325034"/>
              <a:gd name="connsiteY3" fmla="*/ 952500 h 952500"/>
              <a:gd name="connsiteX4" fmla="*/ 1325034 w 1325034"/>
              <a:gd name="connsiteY4" fmla="*/ 952500 h 952500"/>
              <a:gd name="connsiteX5" fmla="*/ 1325034 w 1325034"/>
              <a:gd name="connsiteY5" fmla="*/ 0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 h="2573">
                <a:moveTo>
                  <a:pt x="3142" y="54"/>
                </a:moveTo>
                <a:lnTo>
                  <a:pt x="0" y="881"/>
                </a:lnTo>
                <a:lnTo>
                  <a:pt x="708" y="881"/>
                </a:lnTo>
                <a:lnTo>
                  <a:pt x="708" y="2573"/>
                </a:lnTo>
                <a:lnTo>
                  <a:pt x="3360" y="2573"/>
                </a:lnTo>
                <a:lnTo>
                  <a:pt x="3360" y="0"/>
                </a:lnTo>
                <a:lnTo>
                  <a:pt x="3142" y="54"/>
                </a:lnTo>
                <a:close/>
              </a:path>
            </a:pathLst>
          </a:custGeom>
          <a:gradFill flip="none" rotWithShape="1">
            <a:gsLst>
              <a:gs pos="0">
                <a:srgbClr val="B3D4FE"/>
              </a:gs>
              <a:gs pos="100000">
                <a:srgbClr val="3368FF"/>
              </a:gs>
            </a:gsLst>
            <a:lin ang="2700000" scaled="1"/>
            <a:tileRect/>
          </a:gradFill>
          <a:ln>
            <a:noFill/>
            <a:prstDash val="solid"/>
          </a:ln>
          <a:effectLst>
            <a:innerShdw blurRad="2794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spc="300">
              <a:solidFill>
                <a:srgbClr val="383838"/>
              </a:solidFill>
              <a:latin typeface="微软雅黑"/>
              <a:ea typeface="微软雅黑"/>
              <a:cs typeface="微软雅黑"/>
              <a:sym typeface="微软雅黑"/>
            </a:endParaRPr>
          </a:p>
        </p:txBody>
      </p:sp>
      <p:sp>
        <p:nvSpPr>
          <p:cNvPr id="78" name="Freeform 44"/>
          <p:cNvSpPr/>
          <p:nvPr/>
        </p:nvSpPr>
        <p:spPr>
          <a:xfrm>
            <a:off x="3066866" y="3358502"/>
            <a:ext cx="143246" cy="105235"/>
          </a:xfrm>
          <a:custGeom>
            <a:avLst/>
            <a:gdLst>
              <a:gd name="connsiteX0" fmla="*/ 0 w 104775"/>
              <a:gd name="connsiteY0" fmla="*/ 128587 h 128587"/>
              <a:gd name="connsiteX1" fmla="*/ 103187 w 104775"/>
              <a:gd name="connsiteY1" fmla="*/ 0 h 128587"/>
              <a:gd name="connsiteX2" fmla="*/ 104775 w 104775"/>
              <a:gd name="connsiteY2" fmla="*/ 128587 h 128587"/>
              <a:gd name="connsiteX3" fmla="*/ 0 w 104775"/>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04775" h="128587">
                <a:moveTo>
                  <a:pt x="0" y="128587"/>
                </a:moveTo>
                <a:lnTo>
                  <a:pt x="103187" y="0"/>
                </a:lnTo>
                <a:cubicBezTo>
                  <a:pt x="103716" y="42862"/>
                  <a:pt x="104246" y="85725"/>
                  <a:pt x="104775" y="128587"/>
                </a:cubicBezTo>
                <a:lnTo>
                  <a:pt x="0" y="128587"/>
                </a:lnTo>
                <a:close/>
              </a:path>
            </a:pathLst>
          </a:custGeom>
          <a:solidFill>
            <a:srgbClr val="3368FF"/>
          </a:solidFill>
          <a:ln w="25400" cap="flat" cmpd="sng" algn="ctr">
            <a:noFill/>
            <a:prstDash val="solid"/>
          </a:ln>
          <a:effectLst/>
        </p:spPr>
        <p:txBody>
          <a:bodyPr lIns="0" tIns="0" rIns="0" bIns="0" rtlCol="0" anchor="ctr"/>
          <a:p>
            <a:pPr marL="0" marR="0" lvl="0" indent="0" algn="ctr" defTabSz="913765"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79" name="Rectangle 9"/>
          <p:cNvSpPr>
            <a:spLocks noChangeArrowheads="1"/>
          </p:cNvSpPr>
          <p:nvPr/>
        </p:nvSpPr>
        <p:spPr bwMode="gray">
          <a:xfrm>
            <a:off x="3070472" y="3461776"/>
            <a:ext cx="6100235" cy="674619"/>
          </a:xfrm>
          <a:prstGeom prst="rect">
            <a:avLst/>
          </a:prstGeom>
          <a:gradFill>
            <a:gsLst>
              <a:gs pos="90000">
                <a:srgbClr val="0042FF"/>
              </a:gs>
              <a:gs pos="0">
                <a:srgbClr val="3368FF"/>
              </a:gs>
            </a:gsLst>
            <a:lin ang="16200000" scaled="0"/>
          </a:gradFill>
          <a:ln w="9525">
            <a:noFill/>
            <a:miter lim="800000"/>
          </a:ln>
        </p:spPr>
        <p:txBody>
          <a:bodyPr wrap="square" lIns="0" tIns="0" rIns="0" bIns="0" anchor="t" anchorCtr="0">
            <a:no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endParaRPr kumimoji="0" lang="zh-CN" altLang="en-US" sz="1600" b="1"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86" name="Rectangle 62"/>
          <p:cNvSpPr/>
          <p:nvPr/>
        </p:nvSpPr>
        <p:spPr>
          <a:xfrm>
            <a:off x="5215890" y="2733675"/>
            <a:ext cx="775335" cy="171450"/>
          </a:xfrm>
          <a:prstGeom prst="rect">
            <a:avLst/>
          </a:prstGeom>
        </p:spPr>
        <p:txBody>
          <a:bodyPr wrap="square" lIns="0" tIns="0" rIns="0" bIns="0" anchor="t">
            <a:noAutofit/>
          </a:bodyPr>
          <a:p>
            <a:pPr marL="0" marR="0" lvl="1" indent="0" algn="ctr" defTabSz="913765" rtl="0" eaLnBrk="1" fontAlgn="auto" latinLnBrk="0" hangingPunct="1">
              <a:lnSpc>
                <a:spcPts val="1120"/>
              </a:lnSpc>
              <a:spcBef>
                <a:spcPts val="0"/>
              </a:spcBef>
              <a:spcAft>
                <a:spcPts val="0"/>
              </a:spcAft>
              <a:buClrTx/>
              <a:buSzPct val="100000"/>
              <a:buFontTx/>
              <a:buNone/>
              <a:defRPr>
                <a:solidFill>
                  <a:srgbClr val="FFFFFF"/>
                </a:solidFill>
                <a:latin typeface="微软雅黑"/>
                <a:ea typeface="微软雅黑"/>
                <a:cs typeface="微软雅黑"/>
              </a:defRPr>
            </a:pPr>
            <a:r>
              <a:rPr kumimoji="0" lang="en-US" altLang="zh-CN" sz="1000" b="1" i="0" u="none" strike="noStrike" kern="0" cap="none" spc="0" normalizeH="0" baseline="0" noProof="0" dirty="0">
                <a:ln>
                  <a:noFill/>
                </a:ln>
                <a:solidFill>
                  <a:srgbClr val="FFFFFF"/>
                </a:solidFill>
                <a:effectLst/>
                <a:uLnTx/>
                <a:uFillTx/>
                <a:latin typeface="微软雅黑"/>
                <a:ea typeface="微软雅黑"/>
                <a:cs typeface="微软雅黑"/>
              </a:rPr>
              <a:t>NIO Power</a:t>
            </a:r>
            <a:endParaRPr kumimoji="0" lang="en-US" altLang="zh-CN" sz="1000" b="1"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87" name="Rectangle 64"/>
          <p:cNvSpPr/>
          <p:nvPr/>
        </p:nvSpPr>
        <p:spPr>
          <a:xfrm>
            <a:off x="3315665" y="2849454"/>
            <a:ext cx="1609589" cy="336550"/>
          </a:xfrm>
          <a:prstGeom prst="rect">
            <a:avLst/>
          </a:prstGeom>
        </p:spPr>
        <p:txBody>
          <a:bodyPr wrap="square" lIns="0" tIns="0" rIns="0" bIns="0" anchor="t">
            <a:noAutofit/>
          </a:bodyPr>
          <a:p>
            <a:pPr marL="0" marR="0" lvl="1" indent="0" algn="ctr" defTabSz="913765" rtl="0" eaLnBrk="1" fontAlgn="auto" latinLnBrk="0" hangingPunct="1">
              <a:lnSpc>
                <a:spcPts val="1120"/>
              </a:lnSpc>
              <a:spcBef>
                <a:spcPts val="0"/>
              </a:spcBef>
              <a:spcAft>
                <a:spcPts val="0"/>
              </a:spcAft>
              <a:buClrTx/>
              <a:buSzPct val="100000"/>
              <a:buFontTx/>
              <a:buNone/>
              <a:defRPr>
                <a:solidFill>
                  <a:srgbClr val="383838"/>
                </a:solidFill>
                <a:latin typeface="微软雅黑"/>
                <a:ea typeface="微软雅黑"/>
                <a:cs typeface="微软雅黑"/>
              </a:defRPr>
            </a:pPr>
            <a:r>
              <a:rPr kumimoji="0" lang="zh-CN" altLang="en-US" sz="1000" b="1" i="0" u="none" strike="noStrike" kern="0" cap="none" spc="0" normalizeH="0" baseline="0" noProof="0" dirty="0">
                <a:ln>
                  <a:noFill/>
                </a:ln>
                <a:solidFill>
                  <a:srgbClr val="383838"/>
                </a:solidFill>
                <a:effectLst/>
                <a:uLnTx/>
                <a:uFillTx/>
                <a:latin typeface="微软雅黑"/>
                <a:ea typeface="微软雅黑"/>
                <a:cs typeface="微软雅黑"/>
              </a:rPr>
              <a:t>高端智能电动汽车</a:t>
            </a:r>
            <a:endParaRPr kumimoji="0" lang="zh-CN" altLang="en-US" sz="1000" b="0" i="0" u="none" strike="noStrike" kern="0" cap="none" spc="0" normalizeH="0" baseline="0" noProof="0" dirty="0">
              <a:ln>
                <a:noFill/>
              </a:ln>
              <a:solidFill>
                <a:srgbClr val="383838"/>
              </a:solidFill>
              <a:effectLst/>
              <a:uLnTx/>
              <a:uFillTx/>
              <a:latin typeface="微软雅黑"/>
              <a:ea typeface="微软雅黑"/>
              <a:cs typeface="微软雅黑"/>
            </a:endParaRPr>
          </a:p>
          <a:p>
            <a:pPr marL="0" marR="0" lvl="1" indent="0" algn="ctr" defTabSz="913765" rtl="0" eaLnBrk="1" fontAlgn="auto" latinLnBrk="0" hangingPunct="1">
              <a:lnSpc>
                <a:spcPts val="1120"/>
              </a:lnSpc>
              <a:spcBef>
                <a:spcPts val="0"/>
              </a:spcBef>
              <a:spcAft>
                <a:spcPts val="0"/>
              </a:spcAft>
              <a:buClrTx/>
              <a:buSzPct val="100000"/>
              <a:buFontTx/>
              <a:buNone/>
              <a:defRPr>
                <a:solidFill>
                  <a:srgbClr val="383838"/>
                </a:solidFill>
                <a:latin typeface="微软雅黑"/>
                <a:ea typeface="微软雅黑"/>
                <a:cs typeface="微软雅黑"/>
              </a:defRPr>
            </a:pPr>
            <a:r>
              <a:rPr kumimoji="0" lang="zh-CN" altLang="en-US" sz="1000" b="0" i="0" u="none" strike="noStrike" kern="0" cap="none" spc="0" normalizeH="0" baseline="0" noProof="0" dirty="0">
                <a:ln>
                  <a:noFill/>
                </a:ln>
                <a:solidFill>
                  <a:srgbClr val="383838"/>
                </a:solidFill>
                <a:effectLst/>
                <a:uLnTx/>
                <a:uFillTx/>
                <a:latin typeface="微软雅黑"/>
                <a:ea typeface="微软雅黑"/>
                <a:cs typeface="微软雅黑"/>
              </a:rPr>
              <a:t>科技打造多重感官体验</a:t>
            </a:r>
            <a:endParaRPr kumimoji="0" lang="zh-CN" altLang="en-US" sz="10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91" name="Rectangle 11"/>
          <p:cNvSpPr>
            <a:spLocks noChangeArrowheads="1"/>
          </p:cNvSpPr>
          <p:nvPr/>
        </p:nvSpPr>
        <p:spPr bwMode="gray">
          <a:xfrm flipH="1">
            <a:off x="3434616" y="2471057"/>
            <a:ext cx="1377758" cy="262890"/>
          </a:xfrm>
          <a:prstGeom prst="rect">
            <a:avLst/>
          </a:prstGeom>
          <a:noFill/>
          <a:ln w="9525">
            <a:noFill/>
            <a:miter lim="800000"/>
          </a:ln>
        </p:spPr>
        <p:txBody>
          <a:bodyPr wrap="square" lIns="0" tIns="0" rIns="0" bIns="0" anchor="ctr" anchorCtr="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latin typeface="微软雅黑"/>
                <a:ea typeface="微软雅黑"/>
                <a:cs typeface="微软雅黑"/>
              </a:defRPr>
            </a:pPr>
            <a:r>
              <a:rPr kumimoji="0" lang="zh-CN" altLang="zh-TW" b="1" i="0" u="none" strike="noStrike" kern="0" cap="none" spc="0" normalizeH="0" baseline="0" noProof="0" dirty="0">
                <a:ln>
                  <a:noFill/>
                </a:ln>
                <a:solidFill>
                  <a:prstClr val="white"/>
                </a:solidFill>
                <a:effectLst/>
                <a:uLnTx/>
                <a:uFillTx/>
                <a:latin typeface="微软雅黑"/>
                <a:ea typeface="微软雅黑"/>
                <a:cs typeface="微软雅黑"/>
              </a:rPr>
              <a:t>产品</a:t>
            </a:r>
            <a:endParaRPr kumimoji="0" lang="zh-CN" altLang="zh-TW" b="1" i="0" u="none" strike="noStrike" kern="0" cap="none" spc="0" normalizeH="0" baseline="0" noProof="0" dirty="0">
              <a:ln>
                <a:noFill/>
              </a:ln>
              <a:solidFill>
                <a:prstClr val="white"/>
              </a:solidFill>
              <a:effectLst/>
              <a:uLnTx/>
              <a:uFillTx/>
              <a:latin typeface="微软雅黑"/>
              <a:ea typeface="微软雅黑"/>
              <a:cs typeface="微软雅黑"/>
            </a:endParaRPr>
          </a:p>
        </p:txBody>
      </p:sp>
      <p:sp>
        <p:nvSpPr>
          <p:cNvPr id="113" name="Rectangle 60"/>
          <p:cNvSpPr/>
          <p:nvPr/>
        </p:nvSpPr>
        <p:spPr>
          <a:xfrm rot="10800000" flipV="1">
            <a:off x="3996197" y="3575685"/>
            <a:ext cx="4248785" cy="233045"/>
          </a:xfrm>
          <a:prstGeom prst="rect">
            <a:avLst/>
          </a:prstGeom>
        </p:spPr>
        <p:txBody>
          <a:bodyPr wrap="square" lIns="0" tIns="0" rIns="0" bIns="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r>
              <a:rPr lang="zh-CN" altLang="en-US" sz="1600" b="1" kern="0" noProof="0" dirty="0">
                <a:ln>
                  <a:noFill/>
                </a:ln>
                <a:solidFill>
                  <a:srgbClr val="FFFFFF"/>
                </a:solidFill>
                <a:effectLst/>
                <a:uLnTx/>
                <a:uFillTx/>
                <a:latin typeface="微软雅黑"/>
                <a:ea typeface="微软雅黑"/>
                <a:cs typeface="微软雅黑"/>
                <a:sym typeface="微软雅黑"/>
              </a:rPr>
              <a:t>品牌基因</a:t>
            </a:r>
            <a:endParaRPr kumimoji="0" lang="zh-CN" altLang="en-US" sz="16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53" name="任意多边形 152"/>
          <p:cNvSpPr/>
          <p:nvPr/>
        </p:nvSpPr>
        <p:spPr>
          <a:xfrm>
            <a:off x="8317230" y="4204970"/>
            <a:ext cx="3258185" cy="921385"/>
          </a:xfrm>
          <a:custGeom>
            <a:avLst/>
            <a:gdLst>
              <a:gd name="adj" fmla="val 277394"/>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5076" h="1451">
                <a:moveTo>
                  <a:pt x="0" y="0"/>
                </a:moveTo>
                <a:lnTo>
                  <a:pt x="1051" y="0"/>
                </a:lnTo>
                <a:lnTo>
                  <a:pt x="5076" y="1451"/>
                </a:lnTo>
                <a:lnTo>
                  <a:pt x="1857" y="1451"/>
                </a:lnTo>
                <a:lnTo>
                  <a:pt x="0" y="0"/>
                </a:lnTo>
                <a:close/>
              </a:path>
            </a:pathLst>
          </a:custGeom>
          <a:gradFill>
            <a:gsLst>
              <a:gs pos="10000">
                <a:srgbClr val="3368FF">
                  <a:alpha val="0"/>
                </a:srgbClr>
              </a:gs>
              <a:gs pos="100000">
                <a:srgbClr val="3368FF">
                  <a:alpha val="50000"/>
                </a:srgbClr>
              </a:gs>
            </a:gsLst>
            <a:lin ang="5400000" scaled="1"/>
          </a:gradFill>
          <a:ln>
            <a:gradFill>
              <a:gsLst>
                <a:gs pos="58000">
                  <a:srgbClr val="3368FF">
                    <a:alpha val="0"/>
                  </a:srgbClr>
                </a:gs>
                <a:gs pos="100000">
                  <a:srgbClr val="3368FF">
                    <a:alpha val="0"/>
                  </a:srgbClr>
                </a:gs>
                <a:gs pos="83000">
                  <a:srgbClr val="3368FF">
                    <a:alpha val="65000"/>
                  </a:srgbClr>
                </a:gs>
              </a:gsLst>
              <a:lin ang="5400000" scaled="1"/>
            </a:gra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ym typeface="微软雅黑"/>
              <a:latin typeface="微软雅黑"/>
              <a:ea typeface="微软雅黑"/>
              <a:cs typeface="微软雅黑"/>
            </a:endParaRPr>
          </a:p>
        </p:txBody>
      </p:sp>
      <p:sp>
        <p:nvSpPr>
          <p:cNvPr id="154" name="任意多边形 153"/>
          <p:cNvSpPr/>
          <p:nvPr/>
        </p:nvSpPr>
        <p:spPr>
          <a:xfrm>
            <a:off x="6553200" y="4212590"/>
            <a:ext cx="2823210" cy="921385"/>
          </a:xfrm>
          <a:custGeom>
            <a:avLst/>
            <a:gdLst>
              <a:gd name="adj" fmla="val 277394"/>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4411" h="1451">
                <a:moveTo>
                  <a:pt x="0" y="0"/>
                </a:moveTo>
                <a:lnTo>
                  <a:pt x="2554" y="0"/>
                </a:lnTo>
                <a:lnTo>
                  <a:pt x="4411" y="1451"/>
                </a:lnTo>
                <a:lnTo>
                  <a:pt x="1134" y="1451"/>
                </a:lnTo>
                <a:lnTo>
                  <a:pt x="0" y="0"/>
                </a:lnTo>
                <a:close/>
              </a:path>
            </a:pathLst>
          </a:custGeom>
          <a:gradFill>
            <a:gsLst>
              <a:gs pos="10000">
                <a:srgbClr val="B3D4FE">
                  <a:alpha val="0"/>
                </a:srgbClr>
              </a:gs>
              <a:gs pos="100000">
                <a:srgbClr val="B3D4FE">
                  <a:alpha val="50000"/>
                </a:srgbClr>
              </a:gs>
            </a:gsLst>
            <a:lin ang="5400000" scaled="1"/>
          </a:gradFill>
          <a:ln>
            <a:gradFill>
              <a:gsLst>
                <a:gs pos="58000">
                  <a:srgbClr val="B3D4FE">
                    <a:alpha val="0"/>
                  </a:srgbClr>
                </a:gs>
                <a:gs pos="100000">
                  <a:srgbClr val="B3D4FE">
                    <a:alpha val="0"/>
                  </a:srgbClr>
                </a:gs>
                <a:gs pos="83000">
                  <a:srgbClr val="B3D4FE">
                    <a:alpha val="65000"/>
                  </a:srgbClr>
                </a:gs>
              </a:gsLst>
              <a:lin ang="5400000" scaled="1"/>
            </a:grad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US" altLang="zh-CN">
              <a:sym typeface="微软雅黑"/>
              <a:latin typeface="微软雅黑"/>
              <a:ea typeface="微软雅黑"/>
              <a:cs typeface="微软雅黑"/>
            </a:endParaRPr>
          </a:p>
        </p:txBody>
      </p:sp>
      <p:sp>
        <p:nvSpPr>
          <p:cNvPr id="155" name="任意多边形 154"/>
          <p:cNvSpPr/>
          <p:nvPr/>
        </p:nvSpPr>
        <p:spPr>
          <a:xfrm>
            <a:off x="5051425" y="4216400"/>
            <a:ext cx="2110740" cy="921385"/>
          </a:xfrm>
          <a:custGeom>
            <a:avLst/>
            <a:gdLst>
              <a:gd name="adj" fmla="val 277394"/>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3290" h="1451">
                <a:moveTo>
                  <a:pt x="1134" y="0"/>
                </a:moveTo>
                <a:lnTo>
                  <a:pt x="2157" y="0"/>
                </a:lnTo>
                <a:lnTo>
                  <a:pt x="3290" y="1451"/>
                </a:lnTo>
                <a:lnTo>
                  <a:pt x="0" y="1451"/>
                </a:lnTo>
                <a:lnTo>
                  <a:pt x="1134" y="0"/>
                </a:lnTo>
                <a:close/>
              </a:path>
            </a:pathLst>
          </a:custGeom>
          <a:gradFill>
            <a:gsLst>
              <a:gs pos="10000">
                <a:srgbClr val="3368FF">
                  <a:alpha val="0"/>
                </a:srgbClr>
              </a:gs>
              <a:gs pos="100000">
                <a:srgbClr val="3368FF">
                  <a:alpha val="50000"/>
                </a:srgbClr>
              </a:gs>
            </a:gsLst>
            <a:lin ang="5400000" scaled="1"/>
          </a:gradFill>
          <a:ln>
            <a:gradFill>
              <a:gsLst>
                <a:gs pos="58000">
                  <a:srgbClr val="3368FF">
                    <a:alpha val="0"/>
                  </a:srgbClr>
                </a:gs>
                <a:gs pos="100000">
                  <a:srgbClr val="3368FF">
                    <a:alpha val="0"/>
                  </a:srgbClr>
                </a:gs>
                <a:gs pos="83000">
                  <a:srgbClr val="3368FF">
                    <a:alpha val="65000"/>
                  </a:srgbClr>
                </a:gs>
              </a:gsLst>
              <a:lin ang="5400000" scaled="1"/>
            </a:gra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zh-CN" altLang="en-US">
                <a:sym typeface="微软雅黑"/>
                <a:latin typeface="微软雅黑"/>
                <a:ea typeface="微软雅黑"/>
                <a:cs typeface="微软雅黑"/>
              </a:rPr>
              <a:t>0</a:t>
            </a:r>
            <a:endParaRPr lang="zh-CN" altLang="en-US">
              <a:sym typeface="微软雅黑"/>
              <a:latin typeface="微软雅黑"/>
              <a:ea typeface="微软雅黑"/>
              <a:cs typeface="微软雅黑"/>
            </a:endParaRPr>
          </a:p>
        </p:txBody>
      </p:sp>
      <p:sp>
        <p:nvSpPr>
          <p:cNvPr id="156" name="任意多边形 155"/>
          <p:cNvSpPr/>
          <p:nvPr/>
        </p:nvSpPr>
        <p:spPr>
          <a:xfrm>
            <a:off x="2846705" y="4204970"/>
            <a:ext cx="2828925" cy="921385"/>
          </a:xfrm>
          <a:custGeom>
            <a:avLst/>
            <a:gdLst>
              <a:gd name="adj" fmla="val 277394"/>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4407" h="1451">
                <a:moveTo>
                  <a:pt x="1857" y="0"/>
                </a:moveTo>
                <a:lnTo>
                  <a:pt x="4407" y="0"/>
                </a:lnTo>
                <a:lnTo>
                  <a:pt x="3273" y="1451"/>
                </a:lnTo>
                <a:lnTo>
                  <a:pt x="0" y="1451"/>
                </a:lnTo>
                <a:lnTo>
                  <a:pt x="1857" y="0"/>
                </a:lnTo>
                <a:close/>
              </a:path>
            </a:pathLst>
          </a:custGeom>
          <a:gradFill>
            <a:gsLst>
              <a:gs pos="10000">
                <a:srgbClr val="B3D4FE">
                  <a:alpha val="0"/>
                </a:srgbClr>
              </a:gs>
              <a:gs pos="100000">
                <a:srgbClr val="B3D4FE">
                  <a:alpha val="50000"/>
                </a:srgbClr>
              </a:gs>
            </a:gsLst>
            <a:lin ang="5400000" scaled="1"/>
          </a:gradFill>
          <a:ln>
            <a:gradFill>
              <a:gsLst>
                <a:gs pos="58000">
                  <a:srgbClr val="B3D4FE">
                    <a:alpha val="0"/>
                  </a:srgbClr>
                </a:gs>
                <a:gs pos="100000">
                  <a:srgbClr val="B3D4FE">
                    <a:alpha val="0"/>
                  </a:srgbClr>
                </a:gs>
                <a:gs pos="83000">
                  <a:srgbClr val="B3D4FE">
                    <a:alpha val="65000"/>
                  </a:srgbClr>
                </a:gs>
              </a:gsLst>
              <a:lin ang="5400000" scaled="1"/>
            </a:grad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US" altLang="zh-CN">
              <a:sym typeface="微软雅黑"/>
              <a:latin typeface="微软雅黑"/>
              <a:ea typeface="微软雅黑"/>
              <a:cs typeface="微软雅黑"/>
            </a:endParaRPr>
          </a:p>
        </p:txBody>
      </p:sp>
      <p:sp>
        <p:nvSpPr>
          <p:cNvPr id="170" name="任意多边形 169"/>
          <p:cNvSpPr/>
          <p:nvPr/>
        </p:nvSpPr>
        <p:spPr>
          <a:xfrm>
            <a:off x="633095" y="4204970"/>
            <a:ext cx="3277235" cy="921385"/>
          </a:xfrm>
          <a:custGeom>
            <a:avLst/>
            <a:gdLst>
              <a:gd name="adj" fmla="val 277394"/>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5113" h="1451">
                <a:moveTo>
                  <a:pt x="0" y="1451"/>
                </a:moveTo>
                <a:lnTo>
                  <a:pt x="4025" y="0"/>
                </a:lnTo>
                <a:lnTo>
                  <a:pt x="5113" y="0"/>
                </a:lnTo>
                <a:lnTo>
                  <a:pt x="3255" y="1451"/>
                </a:lnTo>
                <a:lnTo>
                  <a:pt x="0" y="1451"/>
                </a:lnTo>
                <a:close/>
              </a:path>
            </a:pathLst>
          </a:custGeom>
          <a:gradFill>
            <a:gsLst>
              <a:gs pos="10000">
                <a:srgbClr val="3368FF">
                  <a:alpha val="0"/>
                </a:srgbClr>
              </a:gs>
              <a:gs pos="100000">
                <a:srgbClr val="3368FF">
                  <a:alpha val="50000"/>
                </a:srgbClr>
              </a:gs>
            </a:gsLst>
            <a:lin ang="5400000" scaled="1"/>
          </a:gradFill>
          <a:ln>
            <a:gradFill>
              <a:gsLst>
                <a:gs pos="58000">
                  <a:srgbClr val="3368FF">
                    <a:alpha val="0"/>
                  </a:srgbClr>
                </a:gs>
                <a:gs pos="100000">
                  <a:srgbClr val="3368FF">
                    <a:alpha val="0"/>
                  </a:srgbClr>
                </a:gs>
                <a:gs pos="83000">
                  <a:srgbClr val="3368FF">
                    <a:alpha val="65000"/>
                  </a:srgbClr>
                </a:gs>
              </a:gsLst>
              <a:lin ang="5400000" scaled="1"/>
            </a:gra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ym typeface="微软雅黑"/>
              <a:latin typeface="微软雅黑"/>
              <a:ea typeface="微软雅黑"/>
              <a:cs typeface="微软雅黑"/>
            </a:endParaRPr>
          </a:p>
        </p:txBody>
      </p:sp>
      <p:sp>
        <p:nvSpPr>
          <p:cNvPr id="182" name="Rectangle 60"/>
          <p:cNvSpPr/>
          <p:nvPr/>
        </p:nvSpPr>
        <p:spPr>
          <a:xfrm rot="10800000" flipV="1">
            <a:off x="4025643" y="3821886"/>
            <a:ext cx="4248948" cy="184150"/>
          </a:xfrm>
          <a:prstGeom prst="rect">
            <a:avLst/>
          </a:prstGeom>
        </p:spPr>
        <p:txBody>
          <a:bodyPr wrap="square" lIns="0" tIns="0" rIns="0" bIns="0">
            <a:spAutoFit/>
          </a:bodyPr>
          <a:p>
            <a:pPr marL="0" marR="0" lvl="1" indent="0" algn="ctr" defTabSz="913765" rtl="0" eaLnBrk="1" fontAlgn="auto" latinLnBrk="0" hangingPunct="1">
              <a:lnSpc>
                <a:spcPct val="100000"/>
              </a:lnSpc>
              <a:spcBef>
                <a:spcPts val="0"/>
              </a:spcBef>
              <a:spcAft>
                <a:spcPts val="0"/>
              </a:spcAft>
              <a:buClrTx/>
              <a:buSzPct val="100000"/>
              <a:buFontTx/>
              <a:buNone/>
              <a:defRPr>
                <a:solidFill>
                  <a:srgbClr val="FFFFFF"/>
                </a:solidFill>
                <a:latin typeface="微软雅黑"/>
                <a:ea typeface="微软雅黑"/>
                <a:cs typeface="微软雅黑"/>
              </a:defRPr>
            </a:pPr>
            <a:r>
              <a:rPr kumimoji="0" lang="en-US" sz="1200" b="0" i="0" u="none" strike="noStrike" kern="0" cap="none" spc="0" normalizeH="0" baseline="0" noProof="0" dirty="0">
                <a:ln>
                  <a:noFill/>
                </a:ln>
                <a:solidFill>
                  <a:srgbClr val="FFFFFF"/>
                </a:solidFill>
                <a:effectLst/>
                <a:uLnTx/>
                <a:uFillTx/>
                <a:latin typeface="微软雅黑"/>
                <a:ea typeface="微软雅黑"/>
                <a:cs typeface="微软雅黑"/>
              </a:rPr>
              <a:t>“</a:t>
            </a:r>
            <a:r>
              <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rPr>
              <a:t>有想法、有品味、靠谱的朋友</a:t>
            </a:r>
            <a:r>
              <a:rPr kumimoji="0" lang="en-US" sz="1200" b="0" i="0" u="none" strike="noStrike" kern="0" cap="none" spc="0" normalizeH="0" baseline="0" noProof="0" dirty="0">
                <a:ln>
                  <a:noFill/>
                </a:ln>
                <a:solidFill>
                  <a:srgbClr val="FFFFFF"/>
                </a:solidFill>
                <a:effectLst/>
                <a:uLnTx/>
                <a:uFillTx/>
                <a:latin typeface="微软雅黑"/>
                <a:ea typeface="微软雅黑"/>
                <a:cs typeface="微软雅黑"/>
              </a:rPr>
              <a:t>”</a:t>
            </a:r>
            <a:endParaRPr kumimoji="0" lang="en-US" sz="1200" b="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220" name="Freeform 35"/>
          <p:cNvSpPr/>
          <p:nvPr>
            <p:custDataLst>
              <p:tags r:id="rId1"/>
            </p:custDataLst>
          </p:nvPr>
        </p:nvSpPr>
        <p:spPr>
          <a:xfrm>
            <a:off x="2846705" y="5126355"/>
            <a:ext cx="2087880" cy="366395"/>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gradFill>
            <a:gsLst>
              <a:gs pos="90000">
                <a:srgbClr val="B3D4FE"/>
              </a:gs>
              <a:gs pos="0">
                <a:srgbClr val="B3D4FE"/>
              </a:gs>
            </a:gsLst>
            <a:lin ang="16200000" scaled="0"/>
          </a:gradFill>
          <a:ln w="12700" cap="flat" cmpd="sng" algn="ctr">
            <a:solidFill>
              <a:srgbClr val="B3D4FE"/>
            </a:solidFill>
            <a:prstDash val="solid"/>
          </a:ln>
          <a:effectLst/>
        </p:spPr>
        <p:txBody>
          <a:bodyPr spcFirstLastPara="0" vert="horz" wrap="none" lIns="0" tIns="0" rIns="0" bIns="0" numCol="1" spcCol="1270" anchor="ctr" anchorCtr="0">
            <a:noAutofit/>
          </a:bodyPr>
          <a:p>
            <a:pPr lvl="0" algn="ctr" defTabSz="799465">
              <a:spcAft>
                <a:spcPts val="0"/>
              </a:spcAft>
              <a:buClrTx/>
              <a:buSzTx/>
              <a:buFontTx/>
              <a:defRPr>
                <a:latin typeface="微软雅黑"/>
                <a:ea typeface="微软雅黑"/>
                <a:cs typeface="微软雅黑"/>
              </a:defRPr>
            </a:pPr>
            <a:endParaRPr lang="zh-CN" altLang="en-US" b="1" kern="0" baseline="-25000" noProof="0" dirty="0">
              <a:ln>
                <a:noFill/>
              </a:ln>
              <a:solidFill>
                <a:prstClr val="white"/>
              </a:solidFill>
              <a:effectLst/>
              <a:uLnTx/>
              <a:uFillTx/>
              <a:latin typeface="微软雅黑"/>
              <a:ea typeface="微软雅黑"/>
              <a:cs typeface="微软雅黑"/>
              <a:sym typeface="微软雅黑"/>
            </a:endParaRPr>
          </a:p>
        </p:txBody>
      </p:sp>
      <p:sp>
        <p:nvSpPr>
          <p:cNvPr id="222" name="Rectangle 60"/>
          <p:cNvSpPr/>
          <p:nvPr/>
        </p:nvSpPr>
        <p:spPr>
          <a:xfrm rot="10800000" flipV="1">
            <a:off x="3096895" y="5193030"/>
            <a:ext cx="1588135" cy="233045"/>
          </a:xfrm>
          <a:prstGeom prst="rect">
            <a:avLst/>
          </a:prstGeom>
        </p:spPr>
        <p:txBody>
          <a:bodyPr wrap="square" lIns="0" tIns="0" rIns="0" bIns="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latin typeface="微软雅黑"/>
                <a:ea typeface="微软雅黑"/>
                <a:cs typeface="微软雅黑"/>
              </a:defRPr>
            </a:pPr>
            <a:r>
              <a:rPr lang="zh-CN" sz="1600" b="1" kern="0" noProof="0" dirty="0">
                <a:ln>
                  <a:noFill/>
                </a:ln>
                <a:solidFill>
                  <a:prstClr val="white"/>
                </a:solidFill>
                <a:effectLst/>
                <a:uLnTx/>
                <a:uFillTx/>
                <a:latin typeface="微软雅黑"/>
                <a:ea typeface="微软雅黑"/>
                <a:cs typeface="微软雅黑"/>
                <a:sym typeface="微软雅黑"/>
              </a:rPr>
              <a:t>②</a:t>
            </a:r>
            <a:r>
              <a:rPr lang="en-US" altLang="zh-CN" sz="1600" b="1" kern="0" noProof="0" dirty="0">
                <a:ln>
                  <a:noFill/>
                </a:ln>
                <a:solidFill>
                  <a:prstClr val="white"/>
                </a:solidFill>
                <a:effectLst/>
                <a:uLnTx/>
                <a:uFillTx/>
                <a:latin typeface="微软雅黑"/>
                <a:ea typeface="微软雅黑"/>
                <a:cs typeface="微软雅黑"/>
                <a:sym typeface="微软雅黑"/>
              </a:rPr>
              <a:t> </a:t>
            </a:r>
            <a:r>
              <a:rPr lang="zh-CN" altLang="en-US" sz="1600" b="1" kern="0" noProof="0" dirty="0">
                <a:ln>
                  <a:noFill/>
                </a:ln>
                <a:solidFill>
                  <a:prstClr val="white"/>
                </a:solidFill>
                <a:effectLst/>
                <a:uLnTx/>
                <a:uFillTx/>
                <a:latin typeface="微软雅黑"/>
                <a:ea typeface="微软雅黑"/>
                <a:cs typeface="微软雅黑"/>
                <a:sym typeface="微软雅黑"/>
              </a:rPr>
              <a:t>供应链</a:t>
            </a:r>
            <a:endParaRPr kumimoji="0" lang="zh-CN" altLang="en-US" sz="1600" b="1" i="0" u="none" strike="noStrike" kern="0" cap="none" spc="0" normalizeH="0" baseline="0" noProof="0" dirty="0">
              <a:ln>
                <a:noFill/>
              </a:ln>
              <a:solidFill>
                <a:prstClr val="white"/>
              </a:solidFill>
              <a:effectLst/>
              <a:uLnTx/>
              <a:uFillTx/>
              <a:latin typeface="微软雅黑"/>
              <a:ea typeface="微软雅黑"/>
              <a:cs typeface="微软雅黑"/>
              <a:sym typeface="微软雅黑"/>
            </a:endParaRPr>
          </a:p>
        </p:txBody>
      </p:sp>
      <p:sp>
        <p:nvSpPr>
          <p:cNvPr id="224" name="Freeform 35"/>
          <p:cNvSpPr/>
          <p:nvPr>
            <p:custDataLst>
              <p:tags r:id="rId2"/>
            </p:custDataLst>
          </p:nvPr>
        </p:nvSpPr>
        <p:spPr>
          <a:xfrm>
            <a:off x="5060315" y="5126355"/>
            <a:ext cx="2087880" cy="366395"/>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gradFill>
            <a:gsLst>
              <a:gs pos="90000">
                <a:srgbClr val="3368FF"/>
              </a:gs>
              <a:gs pos="0">
                <a:srgbClr val="668EFF"/>
              </a:gs>
            </a:gsLst>
            <a:lin ang="16200000" scaled="0"/>
          </a:gradFill>
          <a:ln w="12700" cap="flat" cmpd="sng" algn="ctr">
            <a:solidFill>
              <a:srgbClr val="3368FF"/>
            </a:solidFill>
            <a:prstDash val="solid"/>
          </a:ln>
          <a:effectLst/>
        </p:spPr>
        <p:txBody>
          <a:bodyPr spcFirstLastPara="0" vert="horz" wrap="none" lIns="0" tIns="0" rIns="0" bIns="0" numCol="1" spcCol="1270" anchor="ctr" anchorCtr="0">
            <a:noAutofit/>
          </a:bodyPr>
          <a:p>
            <a:pPr lvl="0" algn="ctr" defTabSz="799465">
              <a:spcAft>
                <a:spcPts val="0"/>
              </a:spcAft>
              <a:buClrTx/>
              <a:buSzTx/>
              <a:buFontTx/>
              <a:defRPr>
                <a:solidFill>
                  <a:srgbClr val="FFFFFF"/>
                </a:solidFill>
                <a:latin typeface="微软雅黑"/>
                <a:ea typeface="微软雅黑"/>
                <a:cs typeface="微软雅黑"/>
              </a:defRPr>
            </a:pPr>
            <a:endParaRPr lang="zh-CN" altLang="en-US" b="1" kern="0" baseline="-25000" noProof="0" dirty="0">
              <a:ln>
                <a:noFill/>
              </a:ln>
              <a:solidFill>
                <a:srgbClr val="FFFFFF"/>
              </a:solidFill>
              <a:effectLst/>
              <a:uLnTx/>
              <a:uFillTx/>
              <a:latin typeface="微软雅黑"/>
              <a:ea typeface="微软雅黑"/>
              <a:cs typeface="微软雅黑"/>
              <a:sym typeface="微软雅黑"/>
            </a:endParaRPr>
          </a:p>
        </p:txBody>
      </p:sp>
      <p:sp>
        <p:nvSpPr>
          <p:cNvPr id="226" name="Rectangle 60"/>
          <p:cNvSpPr/>
          <p:nvPr/>
        </p:nvSpPr>
        <p:spPr>
          <a:xfrm rot="10800000" flipV="1">
            <a:off x="5310505" y="5193030"/>
            <a:ext cx="1588135" cy="233045"/>
          </a:xfrm>
          <a:prstGeom prst="rect">
            <a:avLst/>
          </a:prstGeom>
        </p:spPr>
        <p:txBody>
          <a:bodyPr wrap="square" lIns="0" tIns="0" rIns="0" bIns="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r>
              <a:rPr lang="zh-CN" sz="1600" b="1" kern="0" noProof="0" dirty="0">
                <a:ln>
                  <a:noFill/>
                </a:ln>
                <a:solidFill>
                  <a:srgbClr val="FFFFFF"/>
                </a:solidFill>
                <a:effectLst/>
                <a:uLnTx/>
                <a:uFillTx/>
                <a:latin typeface="微软雅黑"/>
                <a:ea typeface="微软雅黑"/>
                <a:cs typeface="微软雅黑"/>
                <a:sym typeface="微软雅黑"/>
              </a:rPr>
              <a:t>③</a:t>
            </a:r>
            <a:r>
              <a:rPr lang="en-US" altLang="zh-CN" sz="1600" b="1" kern="0" noProof="0" dirty="0">
                <a:ln>
                  <a:noFill/>
                </a:ln>
                <a:solidFill>
                  <a:srgbClr val="FFFFFF"/>
                </a:solidFill>
                <a:effectLst/>
                <a:uLnTx/>
                <a:uFillTx/>
                <a:latin typeface="微软雅黑"/>
                <a:ea typeface="微软雅黑"/>
                <a:cs typeface="微软雅黑"/>
                <a:sym typeface="微软雅黑"/>
              </a:rPr>
              <a:t> </a:t>
            </a:r>
            <a:r>
              <a:rPr lang="zh-CN" altLang="en-US" sz="1600" b="1" kern="0" noProof="0" dirty="0">
                <a:ln>
                  <a:noFill/>
                </a:ln>
                <a:solidFill>
                  <a:srgbClr val="FFFFFF"/>
                </a:solidFill>
                <a:effectLst/>
                <a:uLnTx/>
                <a:uFillTx/>
                <a:latin typeface="微软雅黑"/>
                <a:ea typeface="微软雅黑"/>
                <a:cs typeface="微软雅黑"/>
                <a:sym typeface="微软雅黑"/>
              </a:rPr>
              <a:t>质量</a:t>
            </a:r>
            <a:endParaRPr kumimoji="0" lang="zh-CN" altLang="en-US" sz="16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228" name="Freeform 35"/>
          <p:cNvSpPr/>
          <p:nvPr>
            <p:custDataLst>
              <p:tags r:id="rId3"/>
            </p:custDataLst>
          </p:nvPr>
        </p:nvSpPr>
        <p:spPr>
          <a:xfrm>
            <a:off x="7273925" y="5126355"/>
            <a:ext cx="2087880" cy="366395"/>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gradFill>
            <a:gsLst>
              <a:gs pos="90000">
                <a:srgbClr val="B3D4FE"/>
              </a:gs>
              <a:gs pos="0">
                <a:srgbClr val="B3D4FE"/>
              </a:gs>
            </a:gsLst>
            <a:lin ang="16200000" scaled="0"/>
          </a:gradFill>
          <a:ln w="12700" cap="flat" cmpd="sng" algn="ctr">
            <a:solidFill>
              <a:srgbClr val="B3D4FE"/>
            </a:solidFill>
            <a:prstDash val="solid"/>
          </a:ln>
          <a:effectLst/>
        </p:spPr>
        <p:txBody>
          <a:bodyPr spcFirstLastPara="0" vert="horz" wrap="none" lIns="0" tIns="0" rIns="0" bIns="0" numCol="1" spcCol="1270" anchor="ctr" anchorCtr="0">
            <a:noAutofit/>
          </a:bodyPr>
          <a:p>
            <a:pPr lvl="0" algn="ctr" defTabSz="799465">
              <a:spcAft>
                <a:spcPts val="0"/>
              </a:spcAft>
              <a:buClrTx/>
              <a:buSzTx/>
              <a:buFontTx/>
              <a:defRPr>
                <a:latin typeface="微软雅黑"/>
                <a:ea typeface="微软雅黑"/>
                <a:cs typeface="微软雅黑"/>
              </a:defRPr>
            </a:pPr>
            <a:endParaRPr lang="zh-CN" altLang="en-US" b="1" kern="0" baseline="-25000" noProof="0" dirty="0">
              <a:ln>
                <a:noFill/>
              </a:ln>
              <a:solidFill>
                <a:prstClr val="white"/>
              </a:solidFill>
              <a:effectLst/>
              <a:uLnTx/>
              <a:uFillTx/>
              <a:latin typeface="微软雅黑"/>
              <a:ea typeface="微软雅黑"/>
              <a:cs typeface="微软雅黑"/>
              <a:sym typeface="微软雅黑"/>
            </a:endParaRPr>
          </a:p>
        </p:txBody>
      </p:sp>
      <p:sp>
        <p:nvSpPr>
          <p:cNvPr id="230" name="Rectangle 60"/>
          <p:cNvSpPr/>
          <p:nvPr/>
        </p:nvSpPr>
        <p:spPr>
          <a:xfrm rot="10800000" flipV="1">
            <a:off x="7524115" y="5193030"/>
            <a:ext cx="1588135" cy="233045"/>
          </a:xfrm>
          <a:prstGeom prst="rect">
            <a:avLst/>
          </a:prstGeom>
        </p:spPr>
        <p:txBody>
          <a:bodyPr wrap="square" lIns="0" tIns="0" rIns="0" bIns="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latin typeface="微软雅黑"/>
                <a:ea typeface="微软雅黑"/>
                <a:cs typeface="微软雅黑"/>
              </a:defRPr>
            </a:pPr>
            <a:r>
              <a:rPr lang="zh-CN" sz="1600" b="1" kern="0" noProof="0" dirty="0">
                <a:ln>
                  <a:noFill/>
                </a:ln>
                <a:solidFill>
                  <a:prstClr val="white"/>
                </a:solidFill>
                <a:effectLst/>
                <a:uLnTx/>
                <a:uFillTx/>
                <a:latin typeface="微软雅黑"/>
                <a:ea typeface="微软雅黑"/>
                <a:cs typeface="微软雅黑"/>
                <a:sym typeface="微软雅黑"/>
              </a:rPr>
              <a:t>④</a:t>
            </a:r>
            <a:r>
              <a:rPr lang="en-US" altLang="zh-CN" sz="1600" b="1" kern="0" noProof="0" dirty="0">
                <a:ln>
                  <a:noFill/>
                </a:ln>
                <a:solidFill>
                  <a:prstClr val="white"/>
                </a:solidFill>
                <a:effectLst/>
                <a:uLnTx/>
                <a:uFillTx/>
                <a:latin typeface="微软雅黑"/>
                <a:ea typeface="微软雅黑"/>
                <a:cs typeface="微软雅黑"/>
                <a:sym typeface="微软雅黑"/>
              </a:rPr>
              <a:t> </a:t>
            </a:r>
            <a:r>
              <a:rPr lang="zh-CN" altLang="en-US" sz="1600" b="1" kern="0" noProof="0" dirty="0">
                <a:ln>
                  <a:noFill/>
                </a:ln>
                <a:solidFill>
                  <a:prstClr val="white"/>
                </a:solidFill>
                <a:effectLst/>
                <a:uLnTx/>
                <a:uFillTx/>
                <a:latin typeface="微软雅黑"/>
                <a:ea typeface="微软雅黑"/>
                <a:cs typeface="微软雅黑"/>
                <a:sym typeface="微软雅黑"/>
              </a:rPr>
              <a:t>营销</a:t>
            </a:r>
            <a:endParaRPr kumimoji="0" lang="zh-CN" altLang="en-US" sz="1600" b="1" i="0" u="none" strike="noStrike" kern="0" cap="none" spc="0" normalizeH="0" baseline="0" noProof="0" dirty="0">
              <a:ln>
                <a:noFill/>
              </a:ln>
              <a:solidFill>
                <a:prstClr val="white"/>
              </a:solidFill>
              <a:effectLst/>
              <a:uLnTx/>
              <a:uFillTx/>
              <a:latin typeface="微软雅黑"/>
              <a:ea typeface="微软雅黑"/>
              <a:cs typeface="微软雅黑"/>
              <a:sym typeface="微软雅黑"/>
            </a:endParaRPr>
          </a:p>
        </p:txBody>
      </p:sp>
      <p:sp>
        <p:nvSpPr>
          <p:cNvPr id="232" name="Freeform 35"/>
          <p:cNvSpPr/>
          <p:nvPr>
            <p:custDataLst>
              <p:tags r:id="rId4"/>
            </p:custDataLst>
          </p:nvPr>
        </p:nvSpPr>
        <p:spPr>
          <a:xfrm>
            <a:off x="9487535" y="5126355"/>
            <a:ext cx="2087880" cy="366395"/>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gradFill>
            <a:gsLst>
              <a:gs pos="90000">
                <a:srgbClr val="3368FF"/>
              </a:gs>
              <a:gs pos="0">
                <a:srgbClr val="668EFF"/>
              </a:gs>
            </a:gsLst>
            <a:lin ang="16200000" scaled="0"/>
          </a:gradFill>
          <a:ln w="12700" cap="flat" cmpd="sng" algn="ctr">
            <a:solidFill>
              <a:srgbClr val="3368FF"/>
            </a:solidFill>
            <a:prstDash val="solid"/>
          </a:ln>
          <a:effectLst/>
        </p:spPr>
        <p:txBody>
          <a:bodyPr spcFirstLastPara="0" vert="horz" wrap="none" lIns="0" tIns="0" rIns="0" bIns="0" numCol="1" spcCol="1270" anchor="ctr" anchorCtr="0">
            <a:noAutofit/>
          </a:bodyPr>
          <a:p>
            <a:pPr lvl="0" algn="ctr" defTabSz="799465">
              <a:spcAft>
                <a:spcPts val="0"/>
              </a:spcAft>
              <a:buClrTx/>
              <a:buSzTx/>
              <a:buFontTx/>
              <a:defRPr>
                <a:solidFill>
                  <a:srgbClr val="FFFFFF"/>
                </a:solidFill>
                <a:latin typeface="微软雅黑"/>
                <a:ea typeface="微软雅黑"/>
                <a:cs typeface="微软雅黑"/>
              </a:defRPr>
            </a:pPr>
            <a:endParaRPr lang="zh-CN" altLang="en-US" b="1" kern="0" baseline="-25000" noProof="0" dirty="0">
              <a:ln>
                <a:noFill/>
              </a:ln>
              <a:solidFill>
                <a:srgbClr val="FFFFFF"/>
              </a:solidFill>
              <a:effectLst/>
              <a:uLnTx/>
              <a:uFillTx/>
              <a:latin typeface="微软雅黑"/>
              <a:ea typeface="微软雅黑"/>
              <a:cs typeface="微软雅黑"/>
              <a:sym typeface="微软雅黑"/>
            </a:endParaRPr>
          </a:p>
        </p:txBody>
      </p:sp>
      <p:sp>
        <p:nvSpPr>
          <p:cNvPr id="234" name="Rectangle 60"/>
          <p:cNvSpPr/>
          <p:nvPr/>
        </p:nvSpPr>
        <p:spPr>
          <a:xfrm rot="10800000" flipV="1">
            <a:off x="9737725" y="5193030"/>
            <a:ext cx="1588135" cy="233045"/>
          </a:xfrm>
          <a:prstGeom prst="rect">
            <a:avLst/>
          </a:prstGeom>
        </p:spPr>
        <p:txBody>
          <a:bodyPr wrap="square" lIns="0" tIns="0" rIns="0" bIns="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r>
              <a:rPr lang="zh-CN" sz="1600" b="1" kern="0" noProof="0" dirty="0">
                <a:ln>
                  <a:noFill/>
                </a:ln>
                <a:solidFill>
                  <a:srgbClr val="FFFFFF"/>
                </a:solidFill>
                <a:effectLst/>
                <a:uLnTx/>
                <a:uFillTx/>
                <a:latin typeface="微软雅黑"/>
                <a:ea typeface="微软雅黑"/>
                <a:cs typeface="微软雅黑"/>
                <a:sym typeface="微软雅黑"/>
              </a:rPr>
              <a:t>⑤</a:t>
            </a:r>
            <a:r>
              <a:rPr lang="en-US" altLang="zh-CN" sz="1600" b="1" kern="0" noProof="0" dirty="0">
                <a:ln>
                  <a:noFill/>
                </a:ln>
                <a:solidFill>
                  <a:srgbClr val="FFFFFF"/>
                </a:solidFill>
                <a:effectLst/>
                <a:uLnTx/>
                <a:uFillTx/>
                <a:latin typeface="微软雅黑"/>
                <a:ea typeface="微软雅黑"/>
                <a:cs typeface="微软雅黑"/>
                <a:sym typeface="微软雅黑"/>
              </a:rPr>
              <a:t> </a:t>
            </a:r>
            <a:r>
              <a:rPr lang="zh-CN" altLang="en-US" sz="1600" b="1" kern="0" noProof="0" dirty="0">
                <a:ln>
                  <a:noFill/>
                </a:ln>
                <a:solidFill>
                  <a:srgbClr val="FFFFFF"/>
                </a:solidFill>
                <a:effectLst/>
                <a:uLnTx/>
                <a:uFillTx/>
                <a:latin typeface="微软雅黑"/>
                <a:ea typeface="微软雅黑"/>
                <a:cs typeface="微软雅黑"/>
                <a:sym typeface="微软雅黑"/>
              </a:rPr>
              <a:t>售后</a:t>
            </a:r>
            <a:endParaRPr kumimoji="0" lang="zh-CN" altLang="en-US" sz="16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248" name="Rectangle 11"/>
          <p:cNvSpPr>
            <a:spLocks noChangeArrowheads="1"/>
          </p:cNvSpPr>
          <p:nvPr/>
        </p:nvSpPr>
        <p:spPr bwMode="gray">
          <a:xfrm flipH="1">
            <a:off x="5432839" y="2208167"/>
            <a:ext cx="1377758" cy="262890"/>
          </a:xfrm>
          <a:prstGeom prst="rect">
            <a:avLst/>
          </a:prstGeom>
          <a:noFill/>
          <a:ln w="9525">
            <a:noFill/>
            <a:miter lim="800000"/>
          </a:ln>
        </p:spPr>
        <p:txBody>
          <a:bodyPr wrap="square" lIns="0" tIns="0" rIns="0" bIns="0" anchor="ctr" anchorCtr="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r>
              <a:rPr kumimoji="0" lang="zh-CN" altLang="en-US" b="1" i="0" u="none" strike="noStrike" kern="0" cap="none" spc="0" normalizeH="0" baseline="0" noProof="0" dirty="0">
                <a:ln>
                  <a:noFill/>
                </a:ln>
                <a:solidFill>
                  <a:srgbClr val="FFFFFF"/>
                </a:solidFill>
                <a:effectLst/>
                <a:uLnTx/>
                <a:uFillTx/>
                <a:latin typeface="微软雅黑"/>
                <a:ea typeface="微软雅黑"/>
                <a:cs typeface="微软雅黑"/>
              </a:rPr>
              <a:t>服务</a:t>
            </a:r>
            <a:endParaRPr kumimoji="0" lang="zh-CN" altLang="en-US" b="1" i="0" u="none" strike="noStrike" kern="0" cap="none" spc="0" normalizeH="0" baseline="0" noProof="0" dirty="0">
              <a:ln>
                <a:noFill/>
              </a:ln>
              <a:solidFill>
                <a:srgbClr val="FFFFFF"/>
              </a:solidFill>
              <a:effectLst/>
              <a:uLnTx/>
              <a:uFillTx/>
              <a:latin typeface="微软雅黑"/>
              <a:ea typeface="微软雅黑"/>
              <a:cs typeface="微软雅黑"/>
            </a:endParaRPr>
          </a:p>
        </p:txBody>
      </p:sp>
      <p:cxnSp>
        <p:nvCxnSpPr>
          <p:cNvPr id="249" name="直接连接符 248"/>
          <p:cNvCxnSpPr/>
          <p:nvPr/>
        </p:nvCxnSpPr>
        <p:spPr>
          <a:xfrm>
            <a:off x="6103620" y="2735580"/>
            <a:ext cx="0" cy="497840"/>
          </a:xfrm>
          <a:prstGeom prst="line">
            <a:avLst/>
          </a:prstGeom>
          <a:ln w="12700">
            <a:solidFill>
              <a:srgbClr val="FFFFFF"/>
            </a:solidFill>
          </a:ln>
        </p:spPr>
        <p:style>
          <a:lnRef idx="2">
            <a:srgbClr val="0042FF"/>
          </a:lnRef>
          <a:fillRef idx="0">
            <a:srgbClr val="FFFFFF"/>
          </a:fillRef>
          <a:effectRef idx="0">
            <a:srgbClr val="FFFFFF"/>
          </a:effectRef>
          <a:fontRef idx="minor">
            <a:srgbClr val="383838"/>
          </a:fontRef>
        </p:style>
      </p:cxnSp>
      <p:sp>
        <p:nvSpPr>
          <p:cNvPr id="250" name="Rectangle 64"/>
          <p:cNvSpPr/>
          <p:nvPr/>
        </p:nvSpPr>
        <p:spPr>
          <a:xfrm>
            <a:off x="5171440" y="2945765"/>
            <a:ext cx="864870" cy="455930"/>
          </a:xfrm>
          <a:prstGeom prst="rect">
            <a:avLst/>
          </a:prstGeom>
        </p:spPr>
        <p:txBody>
          <a:bodyPr wrap="square" lIns="0" tIns="0" rIns="0" bIns="0" anchor="t">
            <a:noAutofit/>
          </a:bodyPr>
          <a:p>
            <a:pPr marL="0" marR="0" lvl="1" indent="0" algn="ctr" defTabSz="913765" rtl="0" eaLnBrk="1" fontAlgn="auto" latinLnBrk="0" hangingPunct="1">
              <a:lnSpc>
                <a:spcPts val="1120"/>
              </a:lnSpc>
              <a:spcBef>
                <a:spcPts val="0"/>
              </a:spcBef>
              <a:spcAft>
                <a:spcPts val="0"/>
              </a:spcAft>
              <a:buClrTx/>
              <a:buSzPct val="100000"/>
              <a:buFontTx/>
              <a:buNone/>
              <a:defRPr>
                <a:solidFill>
                  <a:srgbClr val="FFFFFF"/>
                </a:solidFill>
                <a:latin typeface="微软雅黑"/>
                <a:ea typeface="微软雅黑"/>
                <a:cs typeface="微软雅黑"/>
              </a:defRPr>
            </a:pPr>
            <a:r>
              <a:rPr kumimoji="0" lang="zh-CN" altLang="en-US" sz="1000" i="0" u="none" strike="noStrike" kern="0" cap="none" spc="0" normalizeH="0" baseline="0" noProof="0" dirty="0">
                <a:ln>
                  <a:noFill/>
                </a:ln>
                <a:solidFill>
                  <a:srgbClr val="FFFFFF"/>
                </a:solidFill>
                <a:effectLst/>
                <a:uLnTx/>
                <a:uFillTx/>
                <a:latin typeface="微软雅黑"/>
                <a:ea typeface="微软雅黑"/>
                <a:cs typeface="微软雅黑"/>
              </a:rPr>
              <a:t>可充可换可升级的全场景补能</a:t>
            </a:r>
            <a:endParaRPr kumimoji="0" lang="zh-CN" altLang="en-US" sz="100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251" name="Rectangle 62"/>
          <p:cNvSpPr/>
          <p:nvPr/>
        </p:nvSpPr>
        <p:spPr>
          <a:xfrm>
            <a:off x="6237605" y="2733675"/>
            <a:ext cx="775335" cy="171450"/>
          </a:xfrm>
          <a:prstGeom prst="rect">
            <a:avLst/>
          </a:prstGeom>
        </p:spPr>
        <p:txBody>
          <a:bodyPr wrap="square" lIns="0" tIns="0" rIns="0" bIns="0" anchor="t">
            <a:noAutofit/>
          </a:bodyPr>
          <a:p>
            <a:pPr marL="0" marR="0" lvl="1" indent="0" algn="ctr" defTabSz="913765" rtl="0" eaLnBrk="1" fontAlgn="auto" latinLnBrk="0" hangingPunct="1">
              <a:lnSpc>
                <a:spcPts val="1120"/>
              </a:lnSpc>
              <a:spcBef>
                <a:spcPts val="0"/>
              </a:spcBef>
              <a:spcAft>
                <a:spcPts val="0"/>
              </a:spcAft>
              <a:buClrTx/>
              <a:buSzPct val="100000"/>
              <a:buFontTx/>
              <a:buNone/>
              <a:defRPr>
                <a:solidFill>
                  <a:srgbClr val="FFFFFF"/>
                </a:solidFill>
                <a:latin typeface="微软雅黑"/>
                <a:ea typeface="微软雅黑"/>
                <a:cs typeface="微软雅黑"/>
              </a:defRPr>
            </a:pPr>
            <a:r>
              <a:rPr kumimoji="0" lang="en-US" altLang="zh-CN" sz="1000" b="1" i="0" u="none" strike="noStrike" kern="0" cap="none" spc="0" normalizeH="0" baseline="0" noProof="0" dirty="0">
                <a:ln>
                  <a:noFill/>
                </a:ln>
                <a:solidFill>
                  <a:srgbClr val="FFFFFF"/>
                </a:solidFill>
                <a:effectLst/>
                <a:uLnTx/>
                <a:uFillTx/>
                <a:latin typeface="微软雅黑"/>
                <a:ea typeface="微软雅黑"/>
                <a:cs typeface="微软雅黑"/>
              </a:rPr>
              <a:t>NIO Service</a:t>
            </a:r>
            <a:endParaRPr kumimoji="0" lang="en-US" altLang="zh-CN" sz="1000" b="1"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252" name="Rectangle 64"/>
          <p:cNvSpPr/>
          <p:nvPr/>
        </p:nvSpPr>
        <p:spPr>
          <a:xfrm>
            <a:off x="6193155" y="2945765"/>
            <a:ext cx="785495" cy="313690"/>
          </a:xfrm>
          <a:prstGeom prst="rect">
            <a:avLst/>
          </a:prstGeom>
        </p:spPr>
        <p:txBody>
          <a:bodyPr wrap="square" lIns="0" tIns="0" rIns="0" bIns="0" anchor="t">
            <a:noAutofit/>
          </a:bodyPr>
          <a:p>
            <a:pPr marL="0" marR="0" lvl="1" indent="0" algn="ctr" defTabSz="913765" rtl="0" eaLnBrk="1" fontAlgn="auto" latinLnBrk="0" hangingPunct="1">
              <a:lnSpc>
                <a:spcPts val="1120"/>
              </a:lnSpc>
              <a:spcBef>
                <a:spcPts val="0"/>
              </a:spcBef>
              <a:spcAft>
                <a:spcPts val="0"/>
              </a:spcAft>
              <a:buClrTx/>
              <a:buSzPct val="100000"/>
              <a:buFontTx/>
              <a:buNone/>
              <a:defRPr>
                <a:solidFill>
                  <a:srgbClr val="FFFFFF"/>
                </a:solidFill>
                <a:latin typeface="微软雅黑"/>
                <a:ea typeface="微软雅黑"/>
                <a:cs typeface="微软雅黑"/>
              </a:defRPr>
            </a:pPr>
            <a:r>
              <a:rPr kumimoji="0" lang="zh-CN" altLang="en-US" sz="1000" i="0" u="none" strike="noStrike" kern="0" cap="none" spc="0" normalizeH="0" baseline="0" noProof="0" dirty="0">
                <a:ln>
                  <a:noFill/>
                </a:ln>
                <a:solidFill>
                  <a:srgbClr val="FFFFFF"/>
                </a:solidFill>
                <a:effectLst/>
                <a:uLnTx/>
                <a:uFillTx/>
                <a:latin typeface="微软雅黑"/>
                <a:ea typeface="微软雅黑"/>
                <a:cs typeface="微软雅黑"/>
              </a:rPr>
              <a:t>一站式用车服务体验</a:t>
            </a:r>
            <a:endParaRPr kumimoji="0" lang="zh-CN" altLang="en-US" sz="100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254" name="Rectangle 11"/>
          <p:cNvSpPr>
            <a:spLocks noChangeArrowheads="1"/>
          </p:cNvSpPr>
          <p:nvPr/>
        </p:nvSpPr>
        <p:spPr bwMode="gray">
          <a:xfrm flipH="1">
            <a:off x="7453091" y="2472962"/>
            <a:ext cx="1377758" cy="262890"/>
          </a:xfrm>
          <a:prstGeom prst="rect">
            <a:avLst/>
          </a:prstGeom>
          <a:noFill/>
          <a:ln w="9525">
            <a:noFill/>
            <a:miter lim="800000"/>
          </a:ln>
        </p:spPr>
        <p:txBody>
          <a:bodyPr wrap="square" lIns="0" tIns="0" rIns="0" bIns="0" anchor="ctr" anchorCtr="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latin typeface="微软雅黑"/>
                <a:ea typeface="微软雅黑"/>
                <a:cs typeface="微软雅黑"/>
              </a:defRPr>
            </a:pPr>
            <a:r>
              <a:rPr kumimoji="0" lang="zh-CN" altLang="en-US" b="1" i="0" u="none" strike="noStrike" kern="0" cap="none" spc="0" normalizeH="0" baseline="0" noProof="0" dirty="0">
                <a:ln>
                  <a:noFill/>
                </a:ln>
                <a:solidFill>
                  <a:prstClr val="white"/>
                </a:solidFill>
                <a:effectLst/>
                <a:uLnTx/>
                <a:uFillTx/>
                <a:latin typeface="微软雅黑"/>
                <a:ea typeface="微软雅黑"/>
                <a:cs typeface="微软雅黑"/>
              </a:rPr>
              <a:t>社区</a:t>
            </a:r>
            <a:endParaRPr kumimoji="0" lang="zh-CN" altLang="en-US" b="1" i="0" u="none" strike="noStrike" kern="0" cap="none" spc="0" normalizeH="0" baseline="0" noProof="0" dirty="0">
              <a:ln>
                <a:noFill/>
              </a:ln>
              <a:solidFill>
                <a:prstClr val="white"/>
              </a:solidFill>
              <a:effectLst/>
              <a:uLnTx/>
              <a:uFillTx/>
              <a:latin typeface="微软雅黑"/>
              <a:ea typeface="微软雅黑"/>
              <a:cs typeface="微软雅黑"/>
            </a:endParaRPr>
          </a:p>
        </p:txBody>
      </p:sp>
      <p:sp>
        <p:nvSpPr>
          <p:cNvPr id="255" name="Rectangle 62"/>
          <p:cNvSpPr/>
          <p:nvPr/>
        </p:nvSpPr>
        <p:spPr>
          <a:xfrm>
            <a:off x="7376795" y="2781300"/>
            <a:ext cx="1587500" cy="965200"/>
          </a:xfrm>
          <a:prstGeom prst="rect">
            <a:avLst/>
          </a:prstGeom>
        </p:spPr>
        <p:txBody>
          <a:bodyPr wrap="square" lIns="0" tIns="0" rIns="0" bIns="0" anchor="ctr">
            <a:noAutofit/>
          </a:bodyPr>
          <a:p>
            <a:pPr marL="0" marR="0" lvl="1" indent="0" algn="l" defTabSz="913765" rtl="0" eaLnBrk="1" fontAlgn="auto" latinLnBrk="0" hangingPunct="1">
              <a:lnSpc>
                <a:spcPts val="1120"/>
              </a:lnSpc>
              <a:spcBef>
                <a:spcPts val="0"/>
              </a:spcBef>
              <a:spcAft>
                <a:spcPts val="0"/>
              </a:spcAft>
              <a:buClrTx/>
              <a:buSzPct val="100000"/>
              <a:buFontTx/>
              <a:buNone/>
              <a:defRPr>
                <a:solidFill>
                  <a:srgbClr val="383838"/>
                </a:solidFill>
                <a:latin typeface="微软雅黑"/>
                <a:ea typeface="微软雅黑"/>
                <a:cs typeface="微软雅黑"/>
              </a:defRPr>
            </a:pPr>
            <a:r>
              <a:rPr kumimoji="0" lang="en-US" altLang="zh-CN" sz="1000" b="1" i="0" u="none" strike="noStrike" kern="0" cap="none" spc="0" normalizeH="0" baseline="0" noProof="0" dirty="0">
                <a:ln>
                  <a:noFill/>
                </a:ln>
                <a:solidFill>
                  <a:srgbClr val="383838"/>
                </a:solidFill>
                <a:effectLst/>
                <a:uLnTx/>
                <a:uFillTx/>
                <a:latin typeface="微软雅黑"/>
                <a:ea typeface="微软雅黑"/>
                <a:cs typeface="微软雅黑"/>
              </a:rPr>
              <a:t>NIO House </a:t>
            </a:r>
            <a:r>
              <a:rPr kumimoji="0" lang="zh-CN" altLang="en-US" sz="1000" i="0" u="none" strike="noStrike" kern="0" cap="none" spc="0" normalizeH="0" baseline="0" noProof="0" dirty="0">
                <a:ln>
                  <a:noFill/>
                </a:ln>
                <a:solidFill>
                  <a:srgbClr val="383838"/>
                </a:solidFill>
                <a:effectLst/>
                <a:uLnTx/>
                <a:uFillTx/>
                <a:latin typeface="微软雅黑"/>
                <a:ea typeface="微软雅黑"/>
                <a:cs typeface="微软雅黑"/>
              </a:rPr>
              <a:t>线下愉悦生活社区</a:t>
            </a:r>
            <a:endParaRPr kumimoji="0" lang="zh-CN" altLang="en-US" sz="1000" i="0" u="none" strike="noStrike" kern="0" cap="none" spc="0" normalizeH="0" baseline="0" noProof="0" dirty="0">
              <a:ln>
                <a:noFill/>
              </a:ln>
              <a:solidFill>
                <a:srgbClr val="383838"/>
              </a:solidFill>
              <a:effectLst/>
              <a:uLnTx/>
              <a:uFillTx/>
              <a:latin typeface="微软雅黑"/>
              <a:ea typeface="微软雅黑"/>
              <a:cs typeface="微软雅黑"/>
            </a:endParaRPr>
          </a:p>
          <a:p>
            <a:pPr marL="0" marR="0" lvl="1" indent="0" algn="l" defTabSz="913765" rtl="0" eaLnBrk="1" fontAlgn="auto" latinLnBrk="0" hangingPunct="1">
              <a:lnSpc>
                <a:spcPts val="1120"/>
              </a:lnSpc>
              <a:spcBef>
                <a:spcPts val="0"/>
              </a:spcBef>
              <a:spcAft>
                <a:spcPts val="0"/>
              </a:spcAft>
              <a:buClrTx/>
              <a:buSzPct val="100000"/>
              <a:buFontTx/>
              <a:buNone/>
              <a:defRPr>
                <a:solidFill>
                  <a:srgbClr val="383838"/>
                </a:solidFill>
                <a:latin typeface="微软雅黑"/>
                <a:ea typeface="微软雅黑"/>
                <a:cs typeface="微软雅黑"/>
              </a:defRPr>
            </a:pPr>
            <a:r>
              <a:rPr lang="en-US" altLang="zh-CN" sz="1000" b="1" kern="0" noProof="0" dirty="0">
                <a:ln>
                  <a:noFill/>
                </a:ln>
                <a:solidFill>
                  <a:srgbClr val="383838"/>
                </a:solidFill>
                <a:effectLst/>
                <a:uLnTx/>
                <a:uFillTx/>
                <a:latin typeface="微软雅黑"/>
                <a:ea typeface="微软雅黑"/>
                <a:cs typeface="微软雅黑"/>
                <a:sym typeface="微软雅黑"/>
              </a:rPr>
              <a:t>NIO App </a:t>
            </a:r>
            <a:r>
              <a:rPr lang="zh-CN" altLang="en-US" sz="1000" kern="0" noProof="0" dirty="0">
                <a:ln>
                  <a:noFill/>
                </a:ln>
                <a:solidFill>
                  <a:srgbClr val="383838"/>
                </a:solidFill>
                <a:effectLst/>
                <a:uLnTx/>
                <a:uFillTx/>
                <a:latin typeface="微软雅黑"/>
                <a:ea typeface="微软雅黑"/>
                <a:cs typeface="微软雅黑"/>
                <a:sym typeface="微软雅黑"/>
              </a:rPr>
              <a:t>线上多元服务社区</a:t>
            </a:r>
            <a:endParaRPr kumimoji="0" lang="zh-CN" altLang="en-US" sz="1000" i="0" u="none" strike="noStrike" kern="0" cap="none" spc="0" normalizeH="0" baseline="0" noProof="0" dirty="0">
              <a:ln>
                <a:noFill/>
              </a:ln>
              <a:solidFill>
                <a:srgbClr val="383838"/>
              </a:solidFill>
              <a:effectLst/>
              <a:uLnTx/>
              <a:uFillTx/>
              <a:latin typeface="微软雅黑"/>
              <a:ea typeface="微软雅黑"/>
              <a:cs typeface="微软雅黑"/>
            </a:endParaRPr>
          </a:p>
          <a:p>
            <a:pPr marL="0" marR="0" lvl="1" indent="0" algn="l" defTabSz="913765" rtl="0" eaLnBrk="1" fontAlgn="auto" latinLnBrk="0" hangingPunct="1">
              <a:lnSpc>
                <a:spcPts val="1120"/>
              </a:lnSpc>
              <a:spcBef>
                <a:spcPts val="0"/>
              </a:spcBef>
              <a:spcAft>
                <a:spcPts val="0"/>
              </a:spcAft>
              <a:buClrTx/>
              <a:buSzPct val="100000"/>
              <a:buFontTx/>
              <a:buNone/>
              <a:defRPr>
                <a:solidFill>
                  <a:srgbClr val="383838"/>
                </a:solidFill>
                <a:latin typeface="微软雅黑"/>
                <a:ea typeface="微软雅黑"/>
                <a:cs typeface="微软雅黑"/>
              </a:defRPr>
            </a:pPr>
            <a:r>
              <a:rPr lang="en-US" altLang="zh-CN" sz="1000" b="1" kern="0" noProof="0" dirty="0">
                <a:ln>
                  <a:noFill/>
                </a:ln>
                <a:solidFill>
                  <a:srgbClr val="383838"/>
                </a:solidFill>
                <a:effectLst/>
                <a:uLnTx/>
                <a:uFillTx/>
                <a:latin typeface="微软雅黑"/>
                <a:ea typeface="微软雅黑"/>
                <a:cs typeface="微软雅黑"/>
                <a:sym typeface="微软雅黑"/>
              </a:rPr>
              <a:t>NIO Life </a:t>
            </a:r>
            <a:r>
              <a:rPr lang="zh-CN" altLang="en-US" sz="1000" kern="0" noProof="0" dirty="0">
                <a:ln>
                  <a:noFill/>
                </a:ln>
                <a:solidFill>
                  <a:srgbClr val="383838"/>
                </a:solidFill>
                <a:effectLst/>
                <a:uLnTx/>
                <a:uFillTx/>
                <a:latin typeface="微软雅黑"/>
                <a:ea typeface="微软雅黑"/>
                <a:cs typeface="微软雅黑"/>
                <a:sym typeface="微软雅黑"/>
              </a:rPr>
              <a:t>品牌创意衍生精品</a:t>
            </a:r>
            <a:endParaRPr kumimoji="0" lang="zh-CN" altLang="en-US" sz="10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69" name="椭圆 268"/>
          <p:cNvSpPr/>
          <p:nvPr/>
        </p:nvSpPr>
        <p:spPr>
          <a:xfrm>
            <a:off x="1910715" y="4265930"/>
            <a:ext cx="622300" cy="622300"/>
          </a:xfrm>
          <a:prstGeom prst="ellipse">
            <a:avLst/>
          </a:prstGeom>
          <a:gradFill>
            <a:gsLst>
              <a:gs pos="100000">
                <a:srgbClr val="0042FF"/>
              </a:gs>
              <a:gs pos="0">
                <a:srgbClr val="3368FF"/>
              </a:gs>
            </a:gsLst>
            <a:lin ang="16200000" scaled="0"/>
          </a:gradFill>
          <a:ln>
            <a:noFill/>
          </a:ln>
          <a:effectLst>
            <a:reflection blurRad="6350" stA="52000" endA="300" endPos="35000" dir="5400000" sy="-100000" algn="bl" rotWithShape="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72" name="椭圆 271"/>
          <p:cNvSpPr/>
          <p:nvPr/>
        </p:nvSpPr>
        <p:spPr>
          <a:xfrm>
            <a:off x="3809365" y="4265930"/>
            <a:ext cx="622300" cy="622300"/>
          </a:xfrm>
          <a:prstGeom prst="ellipse">
            <a:avLst/>
          </a:prstGeom>
          <a:gradFill>
            <a:gsLst>
              <a:gs pos="100000">
                <a:srgbClr val="3368FF"/>
              </a:gs>
              <a:gs pos="0">
                <a:srgbClr val="B3D4FE"/>
              </a:gs>
            </a:gsLst>
            <a:lin ang="16200000" scaled="0"/>
          </a:gradFill>
          <a:ln>
            <a:noFill/>
          </a:ln>
          <a:effectLst>
            <a:reflection blurRad="6350" stA="52000" endA="300" endPos="35000" dir="5400000" sy="-100000" algn="bl" rotWithShape="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 name="Freeform 35"/>
          <p:cNvSpPr/>
          <p:nvPr>
            <p:custDataLst>
              <p:tags r:id="rId5"/>
            </p:custDataLst>
          </p:nvPr>
        </p:nvSpPr>
        <p:spPr>
          <a:xfrm>
            <a:off x="633095" y="5126355"/>
            <a:ext cx="2087880" cy="366395"/>
          </a:xfrm>
          <a:custGeom>
            <a:avLst/>
            <a:gdLst>
              <a:gd name="connsiteX0" fmla="*/ 0 w 1073399"/>
              <a:gd name="connsiteY0" fmla="*/ 0 h 644039"/>
              <a:gd name="connsiteX1" fmla="*/ 1073399 w 1073399"/>
              <a:gd name="connsiteY1" fmla="*/ 0 h 644039"/>
              <a:gd name="connsiteX2" fmla="*/ 1073399 w 1073399"/>
              <a:gd name="connsiteY2" fmla="*/ 644039 h 644039"/>
              <a:gd name="connsiteX3" fmla="*/ 0 w 1073399"/>
              <a:gd name="connsiteY3" fmla="*/ 644039 h 644039"/>
              <a:gd name="connsiteX4" fmla="*/ 0 w 1073399"/>
              <a:gd name="connsiteY4" fmla="*/ 0 h 64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99" h="644039">
                <a:moveTo>
                  <a:pt x="0" y="0"/>
                </a:moveTo>
                <a:lnTo>
                  <a:pt x="1073399" y="0"/>
                </a:lnTo>
                <a:lnTo>
                  <a:pt x="1073399" y="644039"/>
                </a:lnTo>
                <a:lnTo>
                  <a:pt x="0" y="644039"/>
                </a:lnTo>
                <a:lnTo>
                  <a:pt x="0" y="0"/>
                </a:lnTo>
                <a:close/>
              </a:path>
            </a:pathLst>
          </a:custGeom>
          <a:gradFill>
            <a:gsLst>
              <a:gs pos="90000">
                <a:srgbClr val="3368FF"/>
              </a:gs>
              <a:gs pos="0">
                <a:srgbClr val="668EFF"/>
              </a:gs>
            </a:gsLst>
            <a:lin ang="16200000" scaled="0"/>
          </a:gradFill>
          <a:ln w="12700" cap="flat" cmpd="sng" algn="ctr">
            <a:solidFill>
              <a:srgbClr val="3368FF"/>
            </a:solidFill>
            <a:prstDash val="solid"/>
          </a:ln>
          <a:effectLst/>
        </p:spPr>
        <p:txBody>
          <a:bodyPr spcFirstLastPara="0" vert="horz" wrap="none" lIns="0" tIns="0" rIns="0" bIns="0" numCol="1" spcCol="1270" anchor="ctr" anchorCtr="0">
            <a:noAutofit/>
          </a:bodyPr>
          <a:p>
            <a:pPr marL="0" marR="0" lvl="0" indent="0" algn="ctr" defTabSz="799465"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0" cap="none" spc="0" normalizeH="0" baseline="-25000" noProof="0" dirty="0">
              <a:ln>
                <a:noFill/>
              </a:ln>
              <a:solidFill>
                <a:srgbClr val="FFFFFF"/>
              </a:solidFill>
              <a:effectLst/>
              <a:uLnTx/>
              <a:uFillTx/>
              <a:latin typeface="微软雅黑"/>
              <a:ea typeface="微软雅黑"/>
              <a:cs typeface="微软雅黑"/>
            </a:endParaRPr>
          </a:p>
        </p:txBody>
      </p:sp>
      <p:sp>
        <p:nvSpPr>
          <p:cNvPr id="4" name="Rectangle 60"/>
          <p:cNvSpPr/>
          <p:nvPr/>
        </p:nvSpPr>
        <p:spPr>
          <a:xfrm rot="10800000" flipV="1">
            <a:off x="883285" y="5193030"/>
            <a:ext cx="1588135" cy="233045"/>
          </a:xfrm>
          <a:prstGeom prst="rect">
            <a:avLst/>
          </a:prstGeom>
        </p:spPr>
        <p:txBody>
          <a:bodyPr wrap="square" lIns="0" tIns="0" rIns="0" bIns="0">
            <a:spAutoFit/>
          </a:bodyPr>
          <a:p>
            <a:pPr marL="0" marR="0" lvl="0" indent="0" algn="ctr" defTabSz="786765" rtl="0" eaLnBrk="1" fontAlgn="auto" latinLnBrk="0" hangingPunct="1">
              <a:lnSpc>
                <a:spcPct val="95000"/>
              </a:lnSpc>
              <a:spcBef>
                <a:spcPct val="80000"/>
              </a:spcBef>
              <a:spcAft>
                <a:spcPts val="0"/>
              </a:spcAft>
              <a:buClr>
                <a:srgbClr val="383838"/>
              </a:buClr>
              <a:buSzTx/>
              <a:buFontTx/>
              <a:buNone/>
              <a:defRPr>
                <a:solidFill>
                  <a:srgbClr val="FFFFFF"/>
                </a:solidFill>
                <a:latin typeface="微软雅黑"/>
                <a:ea typeface="微软雅黑"/>
                <a:cs typeface="微软雅黑"/>
              </a:defRPr>
            </a:pPr>
            <a:r>
              <a:rPr lang="zh-CN" altLang="en-US" sz="1600" b="1" kern="0" noProof="0" dirty="0">
                <a:ln>
                  <a:noFill/>
                </a:ln>
                <a:solidFill>
                  <a:srgbClr val="FFFFFF"/>
                </a:solidFill>
                <a:effectLst/>
                <a:uLnTx/>
                <a:uFillTx/>
                <a:latin typeface="微软雅黑"/>
                <a:ea typeface="微软雅黑"/>
                <a:cs typeface="微软雅黑"/>
                <a:sym typeface="微软雅黑"/>
              </a:rPr>
              <a:t>①</a:t>
            </a:r>
            <a:r>
              <a:rPr lang="en-US" altLang="zh-CN" sz="1600" b="1" kern="0" noProof="0" dirty="0">
                <a:ln>
                  <a:noFill/>
                </a:ln>
                <a:solidFill>
                  <a:srgbClr val="FFFFFF"/>
                </a:solidFill>
                <a:effectLst/>
                <a:uLnTx/>
                <a:uFillTx/>
                <a:latin typeface="微软雅黑"/>
                <a:ea typeface="微软雅黑"/>
                <a:cs typeface="微软雅黑"/>
                <a:sym typeface="微软雅黑"/>
              </a:rPr>
              <a:t> </a:t>
            </a:r>
            <a:r>
              <a:rPr lang="zh-CN" altLang="en-US" sz="1600" b="1" kern="0" noProof="0" dirty="0">
                <a:ln>
                  <a:noFill/>
                </a:ln>
                <a:solidFill>
                  <a:srgbClr val="FFFFFF"/>
                </a:solidFill>
                <a:effectLst/>
                <a:uLnTx/>
                <a:uFillTx/>
                <a:latin typeface="微软雅黑"/>
                <a:ea typeface="微软雅黑"/>
                <a:cs typeface="微软雅黑"/>
                <a:sym typeface="微软雅黑"/>
              </a:rPr>
              <a:t>研发</a:t>
            </a:r>
            <a:endParaRPr kumimoji="0" lang="zh-CN" altLang="en-US" sz="16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5" name="©显眼包PPT9"/>
          <p:cNvSpPr/>
          <p:nvPr/>
        </p:nvSpPr>
        <p:spPr>
          <a:xfrm>
            <a:off x="633095" y="5613400"/>
            <a:ext cx="2087245" cy="1089660"/>
          </a:xfrm>
          <a:prstGeom prst="roundRect">
            <a:avLst>
              <a:gd name="adj" fmla="val 9673"/>
            </a:avLst>
          </a:prstGeom>
          <a:solidFill>
            <a:srgbClr val="FFFFFF"/>
          </a:solidFill>
          <a:ln w="6350">
            <a:solidFill>
              <a:srgbClr val="3368FF"/>
            </a:solidFill>
          </a:ln>
          <a:effectLst>
            <a:innerShdw blurRad="254000">
              <a:srgbClr val="E6E6E6"/>
            </a:innerShdw>
          </a:effectLst>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endParaRPr lang="zh-CN" altLang="en-US" sz="2000" dirty="0">
              <a:solidFill>
                <a:srgbClr val="383838"/>
              </a:solidFill>
              <a:latin typeface="微软雅黑"/>
              <a:ea typeface="微软雅黑"/>
              <a:cs typeface="微软雅黑"/>
            </a:endParaRPr>
          </a:p>
        </p:txBody>
      </p:sp>
      <p:sp>
        <p:nvSpPr>
          <p:cNvPr id="6" name="文本框 5"/>
          <p:cNvSpPr txBox="1"/>
          <p:nvPr/>
        </p:nvSpPr>
        <p:spPr>
          <a:xfrm>
            <a:off x="817245" y="5789930"/>
            <a:ext cx="1719580" cy="737235"/>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围绕核心技术全栈自研以及关注用户直接感知的科技</a:t>
            </a:r>
            <a:endParaRPr lang="zh-CN" altLang="en-US" sz="1400">
              <a:solidFill>
                <a:srgbClr val="383838"/>
              </a:solidFill>
              <a:latin typeface="微软雅黑"/>
              <a:ea typeface="微软雅黑"/>
              <a:cs typeface="微软雅黑"/>
            </a:endParaRPr>
          </a:p>
        </p:txBody>
      </p:sp>
      <p:sp>
        <p:nvSpPr>
          <p:cNvPr id="10" name="©显眼包PPT9"/>
          <p:cNvSpPr/>
          <p:nvPr/>
        </p:nvSpPr>
        <p:spPr>
          <a:xfrm>
            <a:off x="2846705" y="5613400"/>
            <a:ext cx="2087245" cy="1089660"/>
          </a:xfrm>
          <a:prstGeom prst="roundRect">
            <a:avLst>
              <a:gd name="adj" fmla="val 9673"/>
            </a:avLst>
          </a:prstGeom>
          <a:solidFill>
            <a:srgbClr val="FFFFFF"/>
          </a:solidFill>
          <a:ln w="6350">
            <a:solidFill>
              <a:srgbClr val="B3D4FE"/>
            </a:solidFill>
          </a:ln>
          <a:effectLst>
            <a:innerShdw blurRad="2540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dirty="0">
              <a:solidFill>
                <a:srgbClr val="383838"/>
              </a:solidFill>
              <a:latin typeface="微软雅黑"/>
              <a:ea typeface="微软雅黑"/>
              <a:cs typeface="微软雅黑"/>
              <a:sym typeface="微软雅黑"/>
            </a:endParaRPr>
          </a:p>
        </p:txBody>
      </p:sp>
      <p:sp>
        <p:nvSpPr>
          <p:cNvPr id="11" name="文本框 10"/>
          <p:cNvSpPr txBox="1"/>
          <p:nvPr/>
        </p:nvSpPr>
        <p:spPr>
          <a:xfrm>
            <a:off x="2898140" y="5789930"/>
            <a:ext cx="1979295" cy="953135"/>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部分核心零部件自主生产，为用户生产一流的整车和动力系统</a:t>
            </a:r>
            <a:endParaRPr lang="zh-CN" altLang="en-US" sz="1400">
              <a:solidFill>
                <a:srgbClr val="383838"/>
              </a:solidFill>
              <a:latin typeface="微软雅黑"/>
              <a:ea typeface="微软雅黑"/>
              <a:cs typeface="微软雅黑"/>
            </a:endParaRPr>
          </a:p>
          <a:p>
            <a:pPr algn="ctr">
              <a:defRPr>
                <a:latin typeface="微软雅黑"/>
                <a:ea typeface="微软雅黑"/>
                <a:cs typeface="微软雅黑"/>
              </a:defRPr>
            </a:pPr>
            <a:endParaRPr lang="zh-CN" altLang="en-US" sz="1400">
              <a:solidFill>
                <a:srgbClr val="383838"/>
              </a:solidFill>
              <a:latin typeface="微软雅黑"/>
              <a:ea typeface="微软雅黑"/>
              <a:cs typeface="微软雅黑"/>
            </a:endParaRPr>
          </a:p>
        </p:txBody>
      </p:sp>
      <p:sp>
        <p:nvSpPr>
          <p:cNvPr id="13" name="©显眼包PPT9"/>
          <p:cNvSpPr/>
          <p:nvPr/>
        </p:nvSpPr>
        <p:spPr>
          <a:xfrm>
            <a:off x="5074920" y="5612765"/>
            <a:ext cx="2087245" cy="1089660"/>
          </a:xfrm>
          <a:prstGeom prst="roundRect">
            <a:avLst>
              <a:gd name="adj" fmla="val 9673"/>
            </a:avLst>
          </a:prstGeom>
          <a:solidFill>
            <a:srgbClr val="FFFFFF"/>
          </a:solidFill>
          <a:ln w="6350">
            <a:solidFill>
              <a:srgbClr val="3368FF"/>
            </a:solidFill>
          </a:ln>
          <a:effectLst>
            <a:innerShdw blurRad="254000">
              <a:srgbClr val="E6E6E6"/>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dirty="0">
              <a:solidFill>
                <a:srgbClr val="383838"/>
              </a:solidFill>
              <a:latin typeface="微软雅黑"/>
              <a:ea typeface="微软雅黑"/>
              <a:cs typeface="微软雅黑"/>
              <a:sym typeface="微软雅黑"/>
            </a:endParaRPr>
          </a:p>
        </p:txBody>
      </p:sp>
      <p:sp>
        <p:nvSpPr>
          <p:cNvPr id="14" name="文本框 13"/>
          <p:cNvSpPr txBox="1"/>
          <p:nvPr/>
        </p:nvSpPr>
        <p:spPr>
          <a:xfrm>
            <a:off x="5153025" y="5681345"/>
            <a:ext cx="1931035" cy="953135"/>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产品开发、合作伙伴、制造、售后和服务五大支柱搭建横向拉通用户旅程和质量体系</a:t>
            </a:r>
            <a:endParaRPr lang="zh-CN" altLang="en-US" sz="1400">
              <a:solidFill>
                <a:srgbClr val="383838"/>
              </a:solidFill>
              <a:latin typeface="微软雅黑"/>
              <a:ea typeface="微软雅黑"/>
              <a:cs typeface="微软雅黑"/>
            </a:endParaRPr>
          </a:p>
        </p:txBody>
      </p:sp>
      <p:sp>
        <p:nvSpPr>
          <p:cNvPr id="17" name="©显眼包PPT9"/>
          <p:cNvSpPr/>
          <p:nvPr/>
        </p:nvSpPr>
        <p:spPr>
          <a:xfrm>
            <a:off x="7273925" y="5613400"/>
            <a:ext cx="2087245" cy="1089660"/>
          </a:xfrm>
          <a:prstGeom prst="roundRect">
            <a:avLst>
              <a:gd name="adj" fmla="val 9673"/>
            </a:avLst>
          </a:prstGeom>
          <a:solidFill>
            <a:srgbClr val="FFFFFF"/>
          </a:solidFill>
          <a:ln w="6350">
            <a:solidFill>
              <a:srgbClr val="B3D4FE"/>
            </a:solidFill>
          </a:ln>
          <a:effectLst>
            <a:innerShdw blurRad="2540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dirty="0">
              <a:solidFill>
                <a:srgbClr val="383838"/>
              </a:solidFill>
              <a:latin typeface="微软雅黑"/>
              <a:ea typeface="微软雅黑"/>
              <a:cs typeface="微软雅黑"/>
              <a:sym typeface="微软雅黑"/>
            </a:endParaRPr>
          </a:p>
        </p:txBody>
      </p:sp>
      <p:sp>
        <p:nvSpPr>
          <p:cNvPr id="18" name="文本框 17"/>
          <p:cNvSpPr txBox="1"/>
          <p:nvPr/>
        </p:nvSpPr>
        <p:spPr>
          <a:xfrm>
            <a:off x="7322185" y="5789930"/>
            <a:ext cx="1991360" cy="737235"/>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不同于传统广告投放，通过服务用户形成口碑营销，驱动涟漪效应</a:t>
            </a:r>
            <a:endParaRPr lang="zh-CN" altLang="en-US" sz="1400">
              <a:solidFill>
                <a:srgbClr val="383838"/>
              </a:solidFill>
              <a:latin typeface="微软雅黑"/>
              <a:ea typeface="微软雅黑"/>
              <a:cs typeface="微软雅黑"/>
            </a:endParaRPr>
          </a:p>
        </p:txBody>
      </p:sp>
      <p:sp>
        <p:nvSpPr>
          <p:cNvPr id="20" name="©显眼包PPT9"/>
          <p:cNvSpPr/>
          <p:nvPr/>
        </p:nvSpPr>
        <p:spPr>
          <a:xfrm>
            <a:off x="9487535" y="5613400"/>
            <a:ext cx="2087245" cy="1089660"/>
          </a:xfrm>
          <a:prstGeom prst="roundRect">
            <a:avLst>
              <a:gd name="adj" fmla="val 9673"/>
            </a:avLst>
          </a:prstGeom>
          <a:solidFill>
            <a:srgbClr val="FFFFFF"/>
          </a:solidFill>
          <a:ln w="6350">
            <a:solidFill>
              <a:srgbClr val="3368FF"/>
            </a:solidFill>
          </a:ln>
          <a:effectLst>
            <a:innerShdw blurRad="254000">
              <a:srgbClr val="E6E6E6"/>
            </a:innerShdw>
          </a:effectLst>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endParaRPr lang="zh-CN" altLang="en-US" sz="2000" dirty="0">
              <a:solidFill>
                <a:srgbClr val="383838"/>
              </a:solidFill>
              <a:latin typeface="微软雅黑"/>
              <a:ea typeface="微软雅黑"/>
              <a:cs typeface="微软雅黑"/>
            </a:endParaRPr>
          </a:p>
        </p:txBody>
      </p:sp>
      <p:sp>
        <p:nvSpPr>
          <p:cNvPr id="21" name="文本框 20"/>
          <p:cNvSpPr txBox="1"/>
          <p:nvPr/>
        </p:nvSpPr>
        <p:spPr>
          <a:xfrm>
            <a:off x="9671685" y="5897245"/>
            <a:ext cx="1719580" cy="521970"/>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为用户提供一站式的综合服务保障</a:t>
            </a:r>
            <a:endParaRPr lang="zh-CN" altLang="en-US" sz="1400">
              <a:solidFill>
                <a:srgbClr val="383838"/>
              </a:solidFill>
              <a:latin typeface="微软雅黑"/>
              <a:ea typeface="微软雅黑"/>
              <a:cs typeface="微软雅黑"/>
            </a:endParaRPr>
          </a:p>
        </p:txBody>
      </p:sp>
      <p:sp>
        <p:nvSpPr>
          <p:cNvPr id="25" name="椭圆 24"/>
          <p:cNvSpPr/>
          <p:nvPr/>
        </p:nvSpPr>
        <p:spPr>
          <a:xfrm>
            <a:off x="5799455" y="4265930"/>
            <a:ext cx="622300" cy="622300"/>
          </a:xfrm>
          <a:prstGeom prst="ellipse">
            <a:avLst/>
          </a:prstGeom>
          <a:gradFill>
            <a:gsLst>
              <a:gs pos="100000">
                <a:srgbClr val="0042FF"/>
              </a:gs>
              <a:gs pos="0">
                <a:srgbClr val="3368FF"/>
              </a:gs>
            </a:gsLst>
            <a:lin ang="16200000" scaled="0"/>
          </a:gradFill>
          <a:ln>
            <a:noFill/>
          </a:ln>
          <a:effectLst>
            <a:reflection blurRad="6350" stA="52000" endA="300" endPos="35000" dir="5400000" sy="-100000" algn="bl" rotWithShape="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0" name="椭圆 29"/>
          <p:cNvSpPr/>
          <p:nvPr/>
        </p:nvSpPr>
        <p:spPr>
          <a:xfrm>
            <a:off x="7606665" y="4265930"/>
            <a:ext cx="622300" cy="622300"/>
          </a:xfrm>
          <a:prstGeom prst="ellipse">
            <a:avLst/>
          </a:prstGeom>
          <a:gradFill>
            <a:gsLst>
              <a:gs pos="100000">
                <a:srgbClr val="3368FF"/>
              </a:gs>
              <a:gs pos="0">
                <a:srgbClr val="B3D4FE"/>
              </a:gs>
            </a:gsLst>
            <a:lin ang="16200000" scaled="0"/>
          </a:gradFill>
          <a:ln>
            <a:noFill/>
          </a:ln>
          <a:effectLst>
            <a:reflection blurRad="6350" stA="52000" endA="300" endPos="35000" dir="5400000" sy="-100000" algn="bl" rotWithShape="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3" name="椭圆 32"/>
          <p:cNvSpPr/>
          <p:nvPr/>
        </p:nvSpPr>
        <p:spPr>
          <a:xfrm>
            <a:off x="9505315" y="4265930"/>
            <a:ext cx="622300" cy="622300"/>
          </a:xfrm>
          <a:prstGeom prst="ellipse">
            <a:avLst/>
          </a:prstGeom>
          <a:gradFill>
            <a:gsLst>
              <a:gs pos="100000">
                <a:srgbClr val="0042FF"/>
              </a:gs>
              <a:gs pos="0">
                <a:srgbClr val="3368FF"/>
              </a:gs>
            </a:gsLst>
            <a:lin ang="16200000" scaled="0"/>
          </a:gradFill>
          <a:ln>
            <a:noFill/>
          </a:ln>
          <a:effectLst>
            <a:reflection blurRad="6350" stA="52000" endA="300" endPos="35000" dir="5400000" sy="-100000" algn="bl" rotWithShape="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pic>
        <p:nvPicPr>
          <p:cNvPr id="7" name="图片 6" descr="服务"/>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41695" y="1676400"/>
            <a:ext cx="356870" cy="356870"/>
          </a:xfrm>
          <a:prstGeom prst="rect">
            <a:avLst/>
          </a:prstGeom>
        </p:spPr>
      </p:pic>
      <p:pic>
        <p:nvPicPr>
          <p:cNvPr id="8" name="图片 7" descr="社区"/>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433945" y="2034540"/>
            <a:ext cx="415290" cy="415290"/>
          </a:xfrm>
          <a:prstGeom prst="rect">
            <a:avLst/>
          </a:prstGeom>
        </p:spPr>
      </p:pic>
      <p:pic>
        <p:nvPicPr>
          <p:cNvPr id="2" name="图片 1" descr="屋顶资源管理"/>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55600" y="186055"/>
            <a:ext cx="549910" cy="549910"/>
          </a:xfrm>
          <a:prstGeom prst="rect">
            <a:avLst/>
          </a:prstGeom>
        </p:spPr>
      </p:pic>
      <p:pic>
        <p:nvPicPr>
          <p:cNvPr id="260" name="图片 259" descr="产品状态"/>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436745" y="2061210"/>
            <a:ext cx="369570" cy="369570"/>
          </a:xfrm>
          <a:prstGeom prst="rect">
            <a:avLst/>
          </a:prstGeom>
        </p:spPr>
      </p:pic>
      <p:pic>
        <p:nvPicPr>
          <p:cNvPr id="270" name="图片 269" descr="研发设计"/>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2038985" y="4394200"/>
            <a:ext cx="365760" cy="365760"/>
          </a:xfrm>
          <a:prstGeom prst="rect">
            <a:avLst/>
          </a:prstGeom>
        </p:spPr>
      </p:pic>
      <p:pic>
        <p:nvPicPr>
          <p:cNvPr id="273" name="图片 272" descr="供应链"/>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3924618" y="4381183"/>
            <a:ext cx="391795" cy="391795"/>
          </a:xfrm>
          <a:prstGeom prst="rect">
            <a:avLst/>
          </a:prstGeom>
        </p:spPr>
      </p:pic>
      <p:pic>
        <p:nvPicPr>
          <p:cNvPr id="281" name="图片 280" descr="质量"/>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5930900" y="4397375"/>
            <a:ext cx="359410" cy="359410"/>
          </a:xfrm>
          <a:prstGeom prst="rect">
            <a:avLst/>
          </a:prstGeom>
        </p:spPr>
      </p:pic>
      <p:pic>
        <p:nvPicPr>
          <p:cNvPr id="282" name="图片 281" descr="营销中心"/>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7748588" y="4407853"/>
            <a:ext cx="338455" cy="338455"/>
          </a:xfrm>
          <a:prstGeom prst="rect">
            <a:avLst/>
          </a:prstGeom>
        </p:spPr>
      </p:pic>
      <p:pic>
        <p:nvPicPr>
          <p:cNvPr id="283" name="图片 282" descr="售后培训"/>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9637713" y="4398328"/>
            <a:ext cx="357505" cy="357505"/>
          </a:xfrm>
          <a:prstGeom prst="rect">
            <a:avLst/>
          </a:prstGeom>
        </p:spPr>
      </p:pic>
      <p:grpSp>
        <p:nvGrpSpPr>
          <p:cNvPr id="9" name="组合 8"/>
          <p:cNvGrpSpPr/>
          <p:nvPr/>
        </p:nvGrpSpPr>
        <p:grpSpPr>
          <a:xfrm>
            <a:off x="7675245" y="347980"/>
            <a:ext cx="4588510" cy="367030"/>
            <a:chOff x="12087" y="-1089"/>
            <a:chExt cx="7226" cy="578"/>
          </a:xfrm>
        </p:grpSpPr>
        <p:pic>
          <p:nvPicPr>
            <p:cNvPr id="12" name="图片 11"/>
            <p:cNvPicPr>
              <a:picLocks noChangeAspect="1"/>
            </p:cNvPicPr>
            <p:nvPr userDrawn="1"/>
          </p:nvPicPr>
          <p:blipFill>
            <a:blip r:embed="rId24"/>
            <a:srcRect r="57320" b="-13333"/>
            <a:stretch>
              <a:fillRect/>
            </a:stretch>
          </p:blipFill>
          <p:spPr>
            <a:xfrm>
              <a:off x="12087" y="-1089"/>
              <a:ext cx="2548" cy="578"/>
            </a:xfrm>
            <a:prstGeom prst="rect">
              <a:avLst/>
            </a:prstGeom>
          </p:spPr>
        </p:pic>
        <p:sp>
          <p:nvSpPr>
            <p:cNvPr id="16" name="文本框 1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矩形 63"/>
          <p:cNvSpPr/>
          <p:nvPr/>
        </p:nvSpPr>
        <p:spPr>
          <a:xfrm>
            <a:off x="3879850" y="1971675"/>
            <a:ext cx="4443095" cy="2800350"/>
          </a:xfrm>
          <a:prstGeom prst="rect">
            <a:avLst/>
          </a:prstGeom>
          <a:gradFill flip="none" rotWithShape="1">
            <a:gsLst>
              <a:gs pos="100000">
                <a:srgbClr val="FFFFFF"/>
              </a:gs>
              <a:gs pos="0">
                <a:srgbClr val="FFFFFF">
                  <a:alpha val="10000"/>
                </a:srgbClr>
              </a:gs>
            </a:gsLst>
            <a:lin ang="0" scaled="1"/>
            <a:tileRect/>
          </a:gradFill>
          <a:ln w="12700">
            <a:solidFill>
              <a:srgbClr val="B3D4FE"/>
            </a:solidFill>
            <a:prstDash val="solid"/>
          </a:ln>
          <a:effectLst>
            <a:outerShdw blurRad="101600" sx="101000" sy="101000" algn="ctr" rotWithShape="0">
              <a:srgbClr val="3368FF">
                <a:alpha val="1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245" name="文本框 244"/>
          <p:cNvSpPr txBox="1"/>
          <p:nvPr/>
        </p:nvSpPr>
        <p:spPr>
          <a:xfrm>
            <a:off x="3923030" y="4822825"/>
            <a:ext cx="93091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a:solidFill>
                  <a:srgbClr val="383838"/>
                </a:solidFill>
                <a:latin typeface="微软雅黑"/>
                <a:ea typeface="微软雅黑"/>
                <a:cs typeface="微软雅黑"/>
              </a:rPr>
              <a:t>客户</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识别</a:t>
            </a:r>
            <a:endParaRPr lang="zh-CN" altLang="en-US" sz="1000">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私域运营的全流程拆解</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1" name="矩形: 圆角 2062"/>
          <p:cNvSpPr/>
          <p:nvPr/>
        </p:nvSpPr>
        <p:spPr>
          <a:xfrm>
            <a:off x="3960495" y="3556000"/>
            <a:ext cx="4272280" cy="1115060"/>
          </a:xfrm>
          <a:prstGeom prst="roundRect">
            <a:avLst>
              <a:gd name="adj" fmla="val 0"/>
            </a:avLst>
          </a:prstGeom>
          <a:solidFill>
            <a:srgbClr val="FFFFFF">
              <a:alpha val="50000"/>
            </a:srgbClr>
          </a:soli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2" name="等腰三角形 61"/>
          <p:cNvSpPr/>
          <p:nvPr/>
        </p:nvSpPr>
        <p:spPr>
          <a:xfrm>
            <a:off x="3866515" y="1101725"/>
            <a:ext cx="4479925" cy="869950"/>
          </a:xfrm>
          <a:prstGeom prst="triangle">
            <a:avLst/>
          </a:prstGeom>
          <a:gradFill flip="none" rotWithShape="1">
            <a:gsLst>
              <a:gs pos="0">
                <a:srgbClr val="B3D4FE"/>
              </a:gs>
              <a:gs pos="100000">
                <a:srgbClr val="3368FF"/>
              </a:gs>
            </a:gsLst>
            <a:lin ang="16200000" scaled="1"/>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a:solidFill>
                <a:srgbClr val="383838"/>
              </a:solidFill>
              <a:latin typeface="微软雅黑"/>
              <a:ea typeface="微软雅黑"/>
              <a:cs typeface="微软雅黑"/>
              <a:sym typeface="微软雅黑"/>
            </a:endParaRPr>
          </a:p>
        </p:txBody>
      </p:sp>
      <p:sp>
        <p:nvSpPr>
          <p:cNvPr id="67" name="内容占位符 20"/>
          <p:cNvSpPr txBox="1"/>
          <p:nvPr/>
        </p:nvSpPr>
        <p:spPr>
          <a:xfrm>
            <a:off x="5158740" y="2070100"/>
            <a:ext cx="2115185" cy="247650"/>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微软雅黑"/>
              <a:buNone/>
              <a:defRPr sz="1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b="1" dirty="0">
                <a:gradFill>
                  <a:gsLst>
                    <a:gs pos="0">
                      <a:srgbClr val="0042FF"/>
                    </a:gs>
                    <a:gs pos="100000">
                      <a:srgbClr val="0042FF"/>
                    </a:gs>
                  </a:gsLst>
                  <a:lin ang="0" scaled="0"/>
                </a:gradFill>
                <a:cs typeface="微软雅黑"/>
                <a:latin typeface="微软雅黑"/>
                <a:ea typeface="微软雅黑"/>
              </a:rPr>
              <a:t>新零售模型下会员体系框架</a:t>
            </a:r>
            <a:endParaRPr lang="zh-CN" altLang="en-US" sz="1200" b="1" dirty="0">
              <a:gradFill>
                <a:gsLst>
                  <a:gs pos="0">
                    <a:srgbClr val="0042FF"/>
                  </a:gs>
                  <a:gs pos="100000">
                    <a:srgbClr val="0042FF"/>
                  </a:gs>
                </a:gsLst>
                <a:lin ang="0" scaled="0"/>
              </a:gradFill>
              <a:cs typeface="微软雅黑"/>
              <a:latin typeface="微软雅黑"/>
              <a:ea typeface="微软雅黑"/>
            </a:endParaRPr>
          </a:p>
        </p:txBody>
      </p:sp>
      <p:sp>
        <p:nvSpPr>
          <p:cNvPr id="75" name="Rectangle: Top Corners Rounded 32"/>
          <p:cNvSpPr>
            <a:spLocks noChangeAspect="1"/>
          </p:cNvSpPr>
          <p:nvPr/>
        </p:nvSpPr>
        <p:spPr>
          <a:xfrm>
            <a:off x="5862955" y="2586355"/>
            <a:ext cx="685165" cy="687070"/>
          </a:xfrm>
          <a:prstGeom prst="ellipse">
            <a:avLst/>
          </a:prstGeom>
          <a:gradFill flip="none" rotWithShape="1">
            <a:gsLst>
              <a:gs pos="0">
                <a:srgbClr val="3368FF"/>
              </a:gs>
              <a:gs pos="100000">
                <a:srgbClr val="B3D4FE"/>
              </a:gs>
            </a:gsLst>
            <a:lin ang="16200000" scaled="1"/>
            <a:tileRect/>
          </a:gradFill>
          <a:ln>
            <a:solidFill>
              <a:srgbClr val="FFFFFF"/>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tLang="zh-CN" sz="1200" b="1">
              <a:latin typeface="微软雅黑"/>
              <a:ea typeface="微软雅黑"/>
              <a:cs typeface="微软雅黑"/>
              <a:sym typeface="微软雅黑"/>
            </a:endParaRPr>
          </a:p>
        </p:txBody>
      </p:sp>
      <p:sp>
        <p:nvSpPr>
          <p:cNvPr id="76" name="Rectangle: Top Corners Rounded 32"/>
          <p:cNvSpPr>
            <a:spLocks noChangeAspect="1"/>
          </p:cNvSpPr>
          <p:nvPr/>
        </p:nvSpPr>
        <p:spPr>
          <a:xfrm>
            <a:off x="7306310" y="2586355"/>
            <a:ext cx="685165" cy="687070"/>
          </a:xfrm>
          <a:prstGeom prst="ellipse">
            <a:avLst/>
          </a:prstGeom>
          <a:gradFill flip="none" rotWithShape="1">
            <a:gsLst>
              <a:gs pos="0">
                <a:srgbClr val="3368FF"/>
              </a:gs>
              <a:gs pos="100000">
                <a:srgbClr val="B3D4FE"/>
              </a:gs>
            </a:gsLst>
            <a:lin ang="16200000" scaled="1"/>
            <a:tileRect/>
          </a:gradFill>
          <a:ln>
            <a:solidFill>
              <a:srgbClr val="FFFFFF"/>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tLang="zh-CN" sz="1200" b="1">
              <a:latin typeface="微软雅黑"/>
              <a:ea typeface="微软雅黑"/>
              <a:cs typeface="微软雅黑"/>
              <a:sym typeface="微软雅黑"/>
            </a:endParaRPr>
          </a:p>
        </p:txBody>
      </p:sp>
      <p:sp>
        <p:nvSpPr>
          <p:cNvPr id="137" name="箭头: 下 47"/>
          <p:cNvSpPr/>
          <p:nvPr/>
        </p:nvSpPr>
        <p:spPr>
          <a:xfrm rot="5400000" flipH="1" flipV="1">
            <a:off x="3212465" y="3206750"/>
            <a:ext cx="473075" cy="638810"/>
          </a:xfrm>
          <a:custGeom>
            <a:avLst/>
            <a:gdLst>
              <a:gd name="connsiteX0" fmla="*/ 0 w 1222513"/>
              <a:gd name="connsiteY0" fmla="*/ 1515718 h 2126974"/>
              <a:gd name="connsiteX1" fmla="*/ 305628 w 1222513"/>
              <a:gd name="connsiteY1" fmla="*/ 1515718 h 2126974"/>
              <a:gd name="connsiteX2" fmla="*/ 305628 w 1222513"/>
              <a:gd name="connsiteY2" fmla="*/ 0 h 2126974"/>
              <a:gd name="connsiteX3" fmla="*/ 916885 w 1222513"/>
              <a:gd name="connsiteY3" fmla="*/ 0 h 2126974"/>
              <a:gd name="connsiteX4" fmla="*/ 916885 w 1222513"/>
              <a:gd name="connsiteY4" fmla="*/ 1515718 h 2126974"/>
              <a:gd name="connsiteX5" fmla="*/ 1222513 w 1222513"/>
              <a:gd name="connsiteY5" fmla="*/ 1515718 h 2126974"/>
              <a:gd name="connsiteX6" fmla="*/ 611257 w 1222513"/>
              <a:gd name="connsiteY6" fmla="*/ 2126974 h 2126974"/>
              <a:gd name="connsiteX7" fmla="*/ 0 w 1222513"/>
              <a:gd name="connsiteY7" fmla="*/ 1515718 h 2126974"/>
              <a:gd name="connsiteX0-1" fmla="*/ 101875 w 1324388"/>
              <a:gd name="connsiteY0-2" fmla="*/ 1545534 h 2156790"/>
              <a:gd name="connsiteX1-3" fmla="*/ 407503 w 1324388"/>
              <a:gd name="connsiteY1-4" fmla="*/ 1545534 h 2156790"/>
              <a:gd name="connsiteX2-5" fmla="*/ 0 w 1324388"/>
              <a:gd name="connsiteY2-6" fmla="*/ 0 h 2156790"/>
              <a:gd name="connsiteX3-7" fmla="*/ 1018760 w 1324388"/>
              <a:gd name="connsiteY3-8" fmla="*/ 29816 h 2156790"/>
              <a:gd name="connsiteX4-9" fmla="*/ 1018760 w 1324388"/>
              <a:gd name="connsiteY4-10" fmla="*/ 1545534 h 2156790"/>
              <a:gd name="connsiteX5-11" fmla="*/ 1324388 w 1324388"/>
              <a:gd name="connsiteY5-12" fmla="*/ 1545534 h 2156790"/>
              <a:gd name="connsiteX6-13" fmla="*/ 713132 w 1324388"/>
              <a:gd name="connsiteY6-14" fmla="*/ 2156790 h 2156790"/>
              <a:gd name="connsiteX7-15" fmla="*/ 101875 w 1324388"/>
              <a:gd name="connsiteY7-16" fmla="*/ 1545534 h 2156790"/>
              <a:gd name="connsiteX0-17" fmla="*/ 101875 w 1475960"/>
              <a:gd name="connsiteY0-18" fmla="*/ 1545535 h 2156791"/>
              <a:gd name="connsiteX1-19" fmla="*/ 407503 w 1475960"/>
              <a:gd name="connsiteY1-20" fmla="*/ 1545535 h 2156791"/>
              <a:gd name="connsiteX2-21" fmla="*/ 0 w 1475960"/>
              <a:gd name="connsiteY2-22" fmla="*/ 1 h 2156791"/>
              <a:gd name="connsiteX3-23" fmla="*/ 1475960 w 1475960"/>
              <a:gd name="connsiteY3-24" fmla="*/ 0 h 2156791"/>
              <a:gd name="connsiteX4-25" fmla="*/ 1018760 w 1475960"/>
              <a:gd name="connsiteY4-26" fmla="*/ 1545535 h 2156791"/>
              <a:gd name="connsiteX5-27" fmla="*/ 1324388 w 1475960"/>
              <a:gd name="connsiteY5-28" fmla="*/ 1545535 h 2156791"/>
              <a:gd name="connsiteX6-29" fmla="*/ 713132 w 1475960"/>
              <a:gd name="connsiteY6-30" fmla="*/ 2156791 h 2156791"/>
              <a:gd name="connsiteX7-31" fmla="*/ 101875 w 1475960"/>
              <a:gd name="connsiteY7-32" fmla="*/ 1545535 h 215679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475960" h="2156791">
                <a:moveTo>
                  <a:pt x="101875" y="1545535"/>
                </a:moveTo>
                <a:lnTo>
                  <a:pt x="407503" y="1545535"/>
                </a:lnTo>
                <a:lnTo>
                  <a:pt x="0" y="1"/>
                </a:lnTo>
                <a:lnTo>
                  <a:pt x="1475960" y="0"/>
                </a:lnTo>
                <a:lnTo>
                  <a:pt x="1018760" y="1545535"/>
                </a:lnTo>
                <a:lnTo>
                  <a:pt x="1324388" y="1545535"/>
                </a:lnTo>
                <a:lnTo>
                  <a:pt x="713132" y="2156791"/>
                </a:lnTo>
                <a:lnTo>
                  <a:pt x="101875" y="1545535"/>
                </a:lnTo>
                <a:close/>
              </a:path>
            </a:pathLst>
          </a:custGeom>
          <a:gradFill>
            <a:gsLst>
              <a:gs pos="14000">
                <a:srgbClr val="3368FF">
                  <a:alpha val="0"/>
                </a:srgbClr>
              </a:gs>
              <a:gs pos="10000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38" name="箭头: 下 47"/>
          <p:cNvSpPr/>
          <p:nvPr/>
        </p:nvSpPr>
        <p:spPr>
          <a:xfrm rot="16200000" flipV="1">
            <a:off x="8513445" y="3206750"/>
            <a:ext cx="473075" cy="638810"/>
          </a:xfrm>
          <a:custGeom>
            <a:avLst/>
            <a:gdLst>
              <a:gd name="connsiteX0" fmla="*/ 0 w 1222513"/>
              <a:gd name="connsiteY0" fmla="*/ 1515718 h 2126974"/>
              <a:gd name="connsiteX1" fmla="*/ 305628 w 1222513"/>
              <a:gd name="connsiteY1" fmla="*/ 1515718 h 2126974"/>
              <a:gd name="connsiteX2" fmla="*/ 305628 w 1222513"/>
              <a:gd name="connsiteY2" fmla="*/ 0 h 2126974"/>
              <a:gd name="connsiteX3" fmla="*/ 916885 w 1222513"/>
              <a:gd name="connsiteY3" fmla="*/ 0 h 2126974"/>
              <a:gd name="connsiteX4" fmla="*/ 916885 w 1222513"/>
              <a:gd name="connsiteY4" fmla="*/ 1515718 h 2126974"/>
              <a:gd name="connsiteX5" fmla="*/ 1222513 w 1222513"/>
              <a:gd name="connsiteY5" fmla="*/ 1515718 h 2126974"/>
              <a:gd name="connsiteX6" fmla="*/ 611257 w 1222513"/>
              <a:gd name="connsiteY6" fmla="*/ 2126974 h 2126974"/>
              <a:gd name="connsiteX7" fmla="*/ 0 w 1222513"/>
              <a:gd name="connsiteY7" fmla="*/ 1515718 h 2126974"/>
              <a:gd name="connsiteX0-1" fmla="*/ 101875 w 1324388"/>
              <a:gd name="connsiteY0-2" fmla="*/ 1545534 h 2156790"/>
              <a:gd name="connsiteX1-3" fmla="*/ 407503 w 1324388"/>
              <a:gd name="connsiteY1-4" fmla="*/ 1545534 h 2156790"/>
              <a:gd name="connsiteX2-5" fmla="*/ 0 w 1324388"/>
              <a:gd name="connsiteY2-6" fmla="*/ 0 h 2156790"/>
              <a:gd name="connsiteX3-7" fmla="*/ 1018760 w 1324388"/>
              <a:gd name="connsiteY3-8" fmla="*/ 29816 h 2156790"/>
              <a:gd name="connsiteX4-9" fmla="*/ 1018760 w 1324388"/>
              <a:gd name="connsiteY4-10" fmla="*/ 1545534 h 2156790"/>
              <a:gd name="connsiteX5-11" fmla="*/ 1324388 w 1324388"/>
              <a:gd name="connsiteY5-12" fmla="*/ 1545534 h 2156790"/>
              <a:gd name="connsiteX6-13" fmla="*/ 713132 w 1324388"/>
              <a:gd name="connsiteY6-14" fmla="*/ 2156790 h 2156790"/>
              <a:gd name="connsiteX7-15" fmla="*/ 101875 w 1324388"/>
              <a:gd name="connsiteY7-16" fmla="*/ 1545534 h 2156790"/>
              <a:gd name="connsiteX0-17" fmla="*/ 101875 w 1475960"/>
              <a:gd name="connsiteY0-18" fmla="*/ 1545535 h 2156791"/>
              <a:gd name="connsiteX1-19" fmla="*/ 407503 w 1475960"/>
              <a:gd name="connsiteY1-20" fmla="*/ 1545535 h 2156791"/>
              <a:gd name="connsiteX2-21" fmla="*/ 0 w 1475960"/>
              <a:gd name="connsiteY2-22" fmla="*/ 1 h 2156791"/>
              <a:gd name="connsiteX3-23" fmla="*/ 1475960 w 1475960"/>
              <a:gd name="connsiteY3-24" fmla="*/ 0 h 2156791"/>
              <a:gd name="connsiteX4-25" fmla="*/ 1018760 w 1475960"/>
              <a:gd name="connsiteY4-26" fmla="*/ 1545535 h 2156791"/>
              <a:gd name="connsiteX5-27" fmla="*/ 1324388 w 1475960"/>
              <a:gd name="connsiteY5-28" fmla="*/ 1545535 h 2156791"/>
              <a:gd name="connsiteX6-29" fmla="*/ 713132 w 1475960"/>
              <a:gd name="connsiteY6-30" fmla="*/ 2156791 h 2156791"/>
              <a:gd name="connsiteX7-31" fmla="*/ 101875 w 1475960"/>
              <a:gd name="connsiteY7-32" fmla="*/ 1545535 h 215679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475960" h="2156791">
                <a:moveTo>
                  <a:pt x="101875" y="1545535"/>
                </a:moveTo>
                <a:lnTo>
                  <a:pt x="407503" y="1545535"/>
                </a:lnTo>
                <a:lnTo>
                  <a:pt x="0" y="1"/>
                </a:lnTo>
                <a:lnTo>
                  <a:pt x="1475960" y="0"/>
                </a:lnTo>
                <a:lnTo>
                  <a:pt x="1018760" y="1545535"/>
                </a:lnTo>
                <a:lnTo>
                  <a:pt x="1324388" y="1545535"/>
                </a:lnTo>
                <a:lnTo>
                  <a:pt x="713132" y="2156791"/>
                </a:lnTo>
                <a:lnTo>
                  <a:pt x="101875" y="1545535"/>
                </a:lnTo>
                <a:close/>
              </a:path>
            </a:pathLst>
          </a:custGeom>
          <a:gradFill>
            <a:gsLst>
              <a:gs pos="14000">
                <a:srgbClr val="3368FF">
                  <a:alpha val="0"/>
                </a:srgbClr>
              </a:gs>
              <a:gs pos="10000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39" name="文本框 138"/>
          <p:cNvSpPr txBox="1"/>
          <p:nvPr/>
        </p:nvSpPr>
        <p:spPr>
          <a:xfrm>
            <a:off x="8347075" y="2560955"/>
            <a:ext cx="813435" cy="645160"/>
          </a:xfrm>
          <a:prstGeom prst="rect">
            <a:avLst/>
          </a:prstGeom>
          <a:noFill/>
        </p:spPr>
        <p:txBody>
          <a:bodyPr wrap="square" rtlCol="0">
            <a:spAutoFit/>
          </a:bodyPr>
          <a:lstStyle/>
          <a:p>
            <a:pPr algn="ctr">
              <a:defRPr>
                <a:latin typeface="微软雅黑"/>
                <a:ea typeface="微软雅黑"/>
                <a:cs typeface="微软雅黑"/>
              </a:defRPr>
            </a:pPr>
            <a:r>
              <a:rPr lang="zh-CN" altLang="en-US" sz="1200">
                <a:solidFill>
                  <a:srgbClr val="383838"/>
                </a:solidFill>
                <a:latin typeface="微软雅黑"/>
                <a:ea typeface="微软雅黑"/>
                <a:cs typeface="微软雅黑"/>
              </a:rPr>
              <a:t>公域全域全渠道</a:t>
            </a:r>
            <a:endParaRPr lang="zh-CN" altLang="en-US" sz="12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a:solidFill>
                  <a:srgbClr val="383838"/>
                </a:solidFill>
                <a:latin typeface="微软雅黑"/>
                <a:ea typeface="微软雅黑"/>
                <a:cs typeface="微软雅黑"/>
              </a:rPr>
              <a:t>一体运营</a:t>
            </a:r>
            <a:endParaRPr lang="zh-CN" altLang="en-US" sz="1200">
              <a:solidFill>
                <a:srgbClr val="383838"/>
              </a:solidFill>
              <a:latin typeface="微软雅黑"/>
              <a:ea typeface="微软雅黑"/>
              <a:cs typeface="微软雅黑"/>
            </a:endParaRPr>
          </a:p>
        </p:txBody>
      </p:sp>
      <p:sp>
        <p:nvSpPr>
          <p:cNvPr id="140" name="文本框 139"/>
          <p:cNvSpPr txBox="1"/>
          <p:nvPr/>
        </p:nvSpPr>
        <p:spPr>
          <a:xfrm>
            <a:off x="3014345" y="2806065"/>
            <a:ext cx="930910" cy="460375"/>
          </a:xfrm>
          <a:prstGeom prst="rect">
            <a:avLst/>
          </a:prstGeom>
          <a:noFill/>
        </p:spPr>
        <p:txBody>
          <a:bodyPr wrap="square" rtlCol="0">
            <a:spAutoFit/>
          </a:bodyPr>
          <a:lstStyle/>
          <a:p>
            <a:pPr algn="ctr">
              <a:defRPr>
                <a:latin typeface="微软雅黑"/>
                <a:ea typeface="微软雅黑"/>
                <a:cs typeface="微软雅黑"/>
              </a:defRPr>
            </a:pPr>
            <a:r>
              <a:rPr lang="zh-CN" sz="1200">
                <a:solidFill>
                  <a:srgbClr val="383838"/>
                </a:solidFill>
                <a:latin typeface="微软雅黑"/>
                <a:ea typeface="微软雅黑"/>
                <a:cs typeface="微软雅黑"/>
              </a:rPr>
              <a:t>人货场</a:t>
            </a:r>
            <a:endParaRPr lang="zh-CN" sz="1200">
              <a:solidFill>
                <a:srgbClr val="383838"/>
              </a:solidFill>
              <a:latin typeface="微软雅黑"/>
              <a:ea typeface="微软雅黑"/>
              <a:cs typeface="微软雅黑"/>
            </a:endParaRPr>
          </a:p>
          <a:p>
            <a:pPr algn="ctr">
              <a:defRPr>
                <a:latin typeface="微软雅黑"/>
                <a:ea typeface="微软雅黑"/>
                <a:cs typeface="微软雅黑"/>
              </a:defRPr>
            </a:pPr>
            <a:r>
              <a:rPr lang="zh-CN" sz="1200">
                <a:solidFill>
                  <a:srgbClr val="383838"/>
                </a:solidFill>
                <a:latin typeface="微软雅黑"/>
                <a:ea typeface="微软雅黑"/>
                <a:cs typeface="微软雅黑"/>
              </a:rPr>
              <a:t>精准匹配</a:t>
            </a:r>
            <a:endParaRPr lang="zh-CN" sz="1200">
              <a:solidFill>
                <a:srgbClr val="383838"/>
              </a:solidFill>
              <a:latin typeface="微软雅黑"/>
              <a:ea typeface="微软雅黑"/>
              <a:cs typeface="微软雅黑"/>
            </a:endParaRPr>
          </a:p>
        </p:txBody>
      </p:sp>
      <p:cxnSp>
        <p:nvCxnSpPr>
          <p:cNvPr id="264" name="连接符: 肘形 263"/>
          <p:cNvCxnSpPr/>
          <p:nvPr/>
        </p:nvCxnSpPr>
        <p:spPr>
          <a:xfrm>
            <a:off x="1847850" y="5509260"/>
            <a:ext cx="1991360" cy="129540"/>
          </a:xfrm>
          <a:prstGeom prst="bentConnector3">
            <a:avLst>
              <a:gd name="adj1" fmla="val -446"/>
            </a:avLst>
          </a:prstGeom>
          <a:ln>
            <a:solidFill>
              <a:srgbClr val="668EFF"/>
            </a:solidFill>
            <a:tailEnd type="triangle"/>
          </a:ln>
        </p:spPr>
        <p:style>
          <a:lnRef idx="1">
            <a:srgbClr val="0042FF"/>
          </a:lnRef>
          <a:fillRef idx="0">
            <a:srgbClr val="0042FF"/>
          </a:fillRef>
          <a:effectRef idx="0">
            <a:srgbClr val="0042FF"/>
          </a:effectRef>
          <a:fontRef idx="minor">
            <a:srgbClr val="383838"/>
          </a:fontRef>
        </p:style>
      </p:cxnSp>
      <p:cxnSp>
        <p:nvCxnSpPr>
          <p:cNvPr id="144" name="连接符: 肘形 263"/>
          <p:cNvCxnSpPr/>
          <p:nvPr/>
        </p:nvCxnSpPr>
        <p:spPr>
          <a:xfrm flipH="1">
            <a:off x="8342630" y="5509260"/>
            <a:ext cx="1991360" cy="129540"/>
          </a:xfrm>
          <a:prstGeom prst="bentConnector3">
            <a:avLst>
              <a:gd name="adj1" fmla="val -446"/>
            </a:avLst>
          </a:prstGeom>
          <a:ln>
            <a:solidFill>
              <a:srgbClr val="668EFF"/>
            </a:solidFill>
            <a:tailEnd type="triangle"/>
          </a:ln>
        </p:spPr>
        <p:style>
          <a:lnRef idx="1">
            <a:srgbClr val="0042FF"/>
          </a:lnRef>
          <a:fillRef idx="0">
            <a:srgbClr val="0042FF"/>
          </a:fillRef>
          <a:effectRef idx="0">
            <a:srgbClr val="0042FF"/>
          </a:effectRef>
          <a:fontRef idx="minor">
            <a:srgbClr val="383838"/>
          </a:fontRef>
        </p:style>
      </p:cxnSp>
      <p:sp>
        <p:nvSpPr>
          <p:cNvPr id="145" name="文本框 144"/>
          <p:cNvSpPr txBox="1"/>
          <p:nvPr/>
        </p:nvSpPr>
        <p:spPr>
          <a:xfrm>
            <a:off x="2591435" y="5652135"/>
            <a:ext cx="93091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a:solidFill>
                  <a:srgbClr val="383838"/>
                </a:solidFill>
                <a:latin typeface="微软雅黑"/>
                <a:ea typeface="微软雅黑"/>
                <a:cs typeface="微软雅黑"/>
              </a:rPr>
              <a:t>数据互通</a:t>
            </a:r>
            <a:endParaRPr lang="zh-CN" altLang="en-US" sz="1200">
              <a:solidFill>
                <a:srgbClr val="383838"/>
              </a:solidFill>
              <a:latin typeface="微软雅黑"/>
              <a:ea typeface="微软雅黑"/>
              <a:cs typeface="微软雅黑"/>
            </a:endParaRPr>
          </a:p>
        </p:txBody>
      </p:sp>
      <p:sp>
        <p:nvSpPr>
          <p:cNvPr id="146" name="文本框 145"/>
          <p:cNvSpPr txBox="1"/>
          <p:nvPr/>
        </p:nvSpPr>
        <p:spPr>
          <a:xfrm>
            <a:off x="8424545" y="5652135"/>
            <a:ext cx="2404110" cy="275590"/>
          </a:xfrm>
          <a:prstGeom prst="rect">
            <a:avLst/>
          </a:prstGeom>
          <a:noFill/>
        </p:spPr>
        <p:txBody>
          <a:bodyPr wrap="square" rtlCol="0">
            <a:spAutoFit/>
          </a:bodyPr>
          <a:lstStyle/>
          <a:p>
            <a:pPr algn="l">
              <a:defRPr>
                <a:latin typeface="微软雅黑"/>
                <a:ea typeface="微软雅黑"/>
                <a:cs typeface="微软雅黑"/>
              </a:defRPr>
            </a:pPr>
            <a:r>
              <a:rPr lang="zh-CN" altLang="en-US" sz="1200">
                <a:solidFill>
                  <a:srgbClr val="383838"/>
                </a:solidFill>
                <a:latin typeface="微软雅黑"/>
                <a:ea typeface="微软雅黑"/>
                <a:cs typeface="微软雅黑"/>
              </a:rPr>
              <a:t>站内站外数据持续接入</a:t>
            </a:r>
            <a:endParaRPr lang="zh-CN" altLang="en-US" sz="1200">
              <a:solidFill>
                <a:srgbClr val="383838"/>
              </a:solidFill>
              <a:latin typeface="微软雅黑"/>
              <a:ea typeface="微软雅黑"/>
              <a:cs typeface="微软雅黑"/>
            </a:endParaRPr>
          </a:p>
        </p:txBody>
      </p:sp>
      <p:cxnSp>
        <p:nvCxnSpPr>
          <p:cNvPr id="164" name="直接箭头连接符 163"/>
          <p:cNvCxnSpPr/>
          <p:nvPr/>
        </p:nvCxnSpPr>
        <p:spPr>
          <a:xfrm flipV="1">
            <a:off x="4953000" y="4822825"/>
            <a:ext cx="0" cy="271780"/>
          </a:xfrm>
          <a:prstGeom prst="straightConnector1">
            <a:avLst/>
          </a:prstGeom>
          <a:ln w="25400">
            <a:gradFill>
              <a:gsLst>
                <a:gs pos="100000">
                  <a:srgbClr val="0042FF">
                    <a:alpha val="0"/>
                  </a:srgbClr>
                </a:gs>
                <a:gs pos="0">
                  <a:srgbClr val="0042FF"/>
                </a:gs>
              </a:gsLst>
              <a:lin ang="16200000" scaled="1"/>
            </a:gradFill>
            <a:tailEnd type="arrow"/>
          </a:ln>
        </p:spPr>
        <p:style>
          <a:lnRef idx="2">
            <a:srgbClr val="0042FF"/>
          </a:lnRef>
          <a:fillRef idx="0">
            <a:srgbClr val="FFFFFF"/>
          </a:fillRef>
          <a:effectRef idx="0">
            <a:srgbClr val="FFFFFF"/>
          </a:effectRef>
          <a:fontRef idx="minor">
            <a:srgbClr val="383838"/>
          </a:fontRef>
        </p:style>
      </p:cxnSp>
      <p:sp>
        <p:nvSpPr>
          <p:cNvPr id="167" name="文本框 166"/>
          <p:cNvSpPr txBox="1"/>
          <p:nvPr/>
        </p:nvSpPr>
        <p:spPr>
          <a:xfrm>
            <a:off x="4935220" y="4822825"/>
            <a:ext cx="93091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a:solidFill>
                  <a:srgbClr val="383838"/>
                </a:solidFill>
                <a:latin typeface="微软雅黑"/>
                <a:ea typeface="微软雅黑"/>
                <a:cs typeface="微软雅黑"/>
              </a:rPr>
              <a:t>策略输出</a:t>
            </a:r>
            <a:endParaRPr lang="zh-CN" altLang="en-US" sz="1000">
              <a:solidFill>
                <a:srgbClr val="383838"/>
              </a:solidFill>
              <a:latin typeface="微软雅黑"/>
              <a:ea typeface="微软雅黑"/>
              <a:cs typeface="微软雅黑"/>
            </a:endParaRPr>
          </a:p>
        </p:txBody>
      </p:sp>
      <p:sp>
        <p:nvSpPr>
          <p:cNvPr id="169" name="文本框 168"/>
          <p:cNvSpPr txBox="1"/>
          <p:nvPr/>
        </p:nvSpPr>
        <p:spPr>
          <a:xfrm>
            <a:off x="5110480" y="1310005"/>
            <a:ext cx="1931035" cy="583565"/>
          </a:xfrm>
          <a:prstGeom prst="rect">
            <a:avLst/>
          </a:prstGeom>
          <a:noFill/>
        </p:spPr>
        <p:txBody>
          <a:bodyPr wrap="square" rtlCol="0">
            <a:spAutoFit/>
          </a:bodyPr>
          <a:lstStyle/>
          <a:p>
            <a:pPr algn="ctr">
              <a:defRPr>
                <a:latin typeface="微软雅黑"/>
                <a:ea typeface="微软雅黑"/>
                <a:cs typeface="微软雅黑"/>
              </a:defRPr>
            </a:pPr>
            <a:r>
              <a:rPr lang="en-US" altLang="zh-CN" sz="1600" b="1">
                <a:solidFill>
                  <a:srgbClr val="383838"/>
                </a:solidFill>
                <a:latin typeface="微软雅黑"/>
                <a:ea typeface="微软雅黑"/>
                <a:cs typeface="微软雅黑"/>
              </a:rPr>
              <a:t>**</a:t>
            </a:r>
            <a:r>
              <a:rPr lang="zh-CN" altLang="en-US" sz="1600" b="1">
                <a:solidFill>
                  <a:srgbClr val="383838"/>
                </a:solidFill>
                <a:latin typeface="微软雅黑"/>
                <a:ea typeface="微软雅黑"/>
                <a:cs typeface="微软雅黑"/>
              </a:rPr>
              <a:t>品牌</a:t>
            </a:r>
            <a:endParaRPr lang="zh-CN" sz="1600" b="1">
              <a:solidFill>
                <a:srgbClr val="383838"/>
              </a:solidFill>
              <a:latin typeface="微软雅黑"/>
              <a:ea typeface="微软雅黑"/>
              <a:cs typeface="微软雅黑"/>
            </a:endParaRPr>
          </a:p>
          <a:p>
            <a:pPr algn="ctr">
              <a:defRPr>
                <a:latin typeface="微软雅黑"/>
                <a:ea typeface="微软雅黑"/>
                <a:cs typeface="微软雅黑"/>
              </a:defRPr>
            </a:pPr>
            <a:r>
              <a:rPr lang="zh-CN" sz="1600" b="1">
                <a:solidFill>
                  <a:srgbClr val="383838"/>
                </a:solidFill>
                <a:latin typeface="微软雅黑"/>
                <a:ea typeface="微软雅黑"/>
                <a:cs typeface="微软雅黑"/>
              </a:rPr>
              <a:t>会员管理体系</a:t>
            </a:r>
            <a:endParaRPr lang="zh-CN" sz="1600" b="1">
              <a:solidFill>
                <a:srgbClr val="383838"/>
              </a:solidFill>
              <a:latin typeface="微软雅黑"/>
              <a:ea typeface="微软雅黑"/>
              <a:cs typeface="微软雅黑"/>
            </a:endParaRPr>
          </a:p>
        </p:txBody>
      </p:sp>
      <p:sp>
        <p:nvSpPr>
          <p:cNvPr id="185" name="加号 184"/>
          <p:cNvSpPr/>
          <p:nvPr/>
        </p:nvSpPr>
        <p:spPr>
          <a:xfrm>
            <a:off x="6680200" y="2661285"/>
            <a:ext cx="504825" cy="504825"/>
          </a:xfrm>
          <a:prstGeom prst="mathPlus">
            <a:avLst/>
          </a:prstGeom>
          <a:gradFill flip="none" rotWithShape="1">
            <a:gsLst>
              <a:gs pos="0">
                <a:srgbClr val="FFFFFF"/>
              </a:gs>
              <a:gs pos="100000">
                <a:srgbClr val="FFFFFF"/>
              </a:gs>
            </a:gsLst>
            <a:lin ang="16200000" scaled="1"/>
            <a:tileRect/>
          </a:gradFill>
          <a:ln>
            <a:gradFill>
              <a:gsLst>
                <a:gs pos="0">
                  <a:srgbClr val="3368FF"/>
                </a:gs>
                <a:gs pos="100000">
                  <a:srgbClr val="B3D4FE"/>
                </a:gs>
              </a:gsLst>
              <a:lin ang="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86" name="Rectangle: Top Corners Rounded 32"/>
          <p:cNvSpPr>
            <a:spLocks noChangeAspect="1"/>
          </p:cNvSpPr>
          <p:nvPr/>
        </p:nvSpPr>
        <p:spPr>
          <a:xfrm>
            <a:off x="4423410" y="2673985"/>
            <a:ext cx="490220" cy="492125"/>
          </a:xfrm>
          <a:prstGeom prst="ellipse">
            <a:avLst/>
          </a:prstGeom>
          <a:gradFill flip="none" rotWithShape="1">
            <a:gsLst>
              <a:gs pos="0">
                <a:srgbClr val="3368FF"/>
              </a:gs>
              <a:gs pos="100000">
                <a:srgbClr val="B3D4FE"/>
              </a:gs>
            </a:gsLst>
            <a:lin ang="16200000" scaled="1"/>
            <a:tileRect/>
          </a:gradFill>
          <a:ln>
            <a:solidFill>
              <a:srgbClr val="FFFFFF"/>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tLang="zh-CN" sz="1200" b="1">
              <a:latin typeface="微软雅黑"/>
              <a:ea typeface="微软雅黑"/>
              <a:cs typeface="微软雅黑"/>
              <a:sym typeface="微软雅黑"/>
            </a:endParaRPr>
          </a:p>
        </p:txBody>
      </p:sp>
      <p:cxnSp>
        <p:nvCxnSpPr>
          <p:cNvPr id="191" name="直接连接符 190"/>
          <p:cNvCxnSpPr/>
          <p:nvPr/>
        </p:nvCxnSpPr>
        <p:spPr>
          <a:xfrm>
            <a:off x="6113145" y="3716655"/>
            <a:ext cx="0" cy="525780"/>
          </a:xfrm>
          <a:prstGeom prst="line">
            <a:avLst/>
          </a:prstGeom>
          <a:ln w="31750">
            <a:gradFill>
              <a:gsLst>
                <a:gs pos="0">
                  <a:srgbClr val="3368FF">
                    <a:alpha val="0"/>
                  </a:srgbClr>
                </a:gs>
                <a:gs pos="100000">
                  <a:srgbClr val="3368FF"/>
                </a:gs>
              </a:gsLst>
              <a:lin ang="16200000" scaled="1"/>
            </a:gradFill>
          </a:ln>
        </p:spPr>
        <p:style>
          <a:lnRef idx="2">
            <a:srgbClr val="0042FF"/>
          </a:lnRef>
          <a:fillRef idx="0">
            <a:srgbClr val="FFFFFF"/>
          </a:fillRef>
          <a:effectRef idx="0">
            <a:srgbClr val="FFFFFF"/>
          </a:effectRef>
          <a:fontRef idx="minor">
            <a:srgbClr val="383838"/>
          </a:fontRef>
        </p:style>
      </p:cxnSp>
      <p:cxnSp>
        <p:nvCxnSpPr>
          <p:cNvPr id="244" name="直接箭头连接符 243"/>
          <p:cNvCxnSpPr/>
          <p:nvPr/>
        </p:nvCxnSpPr>
        <p:spPr>
          <a:xfrm>
            <a:off x="4756785" y="4819650"/>
            <a:ext cx="0" cy="271780"/>
          </a:xfrm>
          <a:prstGeom prst="straightConnector1">
            <a:avLst/>
          </a:prstGeom>
          <a:ln w="25400">
            <a:gradFill>
              <a:gsLst>
                <a:gs pos="100000">
                  <a:srgbClr val="0042FF">
                    <a:alpha val="0"/>
                  </a:srgbClr>
                </a:gs>
                <a:gs pos="0">
                  <a:srgbClr val="0042FF"/>
                </a:gs>
              </a:gsLst>
              <a:lin ang="16200000" scaled="1"/>
            </a:gradFill>
            <a:tailEnd type="arrow"/>
          </a:ln>
        </p:spPr>
        <p:style>
          <a:lnRef idx="2">
            <a:srgbClr val="0042FF"/>
          </a:lnRef>
          <a:fillRef idx="0">
            <a:srgbClr val="FFFFFF"/>
          </a:fillRef>
          <a:effectRef idx="0">
            <a:srgbClr val="FFFFFF"/>
          </a:effectRef>
          <a:fontRef idx="minor">
            <a:srgbClr val="383838"/>
          </a:fontRef>
        </p:style>
      </p:cxnSp>
      <p:cxnSp>
        <p:nvCxnSpPr>
          <p:cNvPr id="256" name="直接箭头连接符 255"/>
          <p:cNvCxnSpPr/>
          <p:nvPr/>
        </p:nvCxnSpPr>
        <p:spPr>
          <a:xfrm flipV="1">
            <a:off x="7411085" y="4819015"/>
            <a:ext cx="0" cy="271780"/>
          </a:xfrm>
          <a:prstGeom prst="straightConnector1">
            <a:avLst/>
          </a:prstGeom>
          <a:ln w="25400">
            <a:gradFill>
              <a:gsLst>
                <a:gs pos="100000">
                  <a:srgbClr val="0042FF">
                    <a:alpha val="0"/>
                  </a:srgbClr>
                </a:gs>
                <a:gs pos="0">
                  <a:srgbClr val="0042FF"/>
                </a:gs>
              </a:gsLst>
              <a:lin ang="16200000" scaled="1"/>
            </a:gradFill>
            <a:tailEnd type="arrow"/>
          </a:ln>
        </p:spPr>
        <p:style>
          <a:lnRef idx="2">
            <a:srgbClr val="0042FF"/>
          </a:lnRef>
          <a:fillRef idx="0">
            <a:srgbClr val="FFFFFF"/>
          </a:fillRef>
          <a:effectRef idx="0">
            <a:srgbClr val="FFFFFF"/>
          </a:effectRef>
          <a:fontRef idx="minor">
            <a:srgbClr val="383838"/>
          </a:fontRef>
        </p:style>
      </p:cxnSp>
      <p:sp>
        <p:nvSpPr>
          <p:cNvPr id="257" name="文本框 256"/>
          <p:cNvSpPr txBox="1"/>
          <p:nvPr/>
        </p:nvSpPr>
        <p:spPr>
          <a:xfrm>
            <a:off x="7362190" y="4822825"/>
            <a:ext cx="93091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a:solidFill>
                  <a:srgbClr val="383838"/>
                </a:solidFill>
                <a:latin typeface="微软雅黑"/>
                <a:ea typeface="微软雅黑"/>
                <a:cs typeface="微软雅黑"/>
              </a:rPr>
              <a:t>服务输出</a:t>
            </a:r>
            <a:endParaRPr lang="zh-CN" altLang="en-US" sz="1000">
              <a:solidFill>
                <a:srgbClr val="383838"/>
              </a:solidFill>
              <a:latin typeface="微软雅黑"/>
              <a:ea typeface="微软雅黑"/>
              <a:cs typeface="微软雅黑"/>
            </a:endParaRPr>
          </a:p>
        </p:txBody>
      </p:sp>
      <p:cxnSp>
        <p:nvCxnSpPr>
          <p:cNvPr id="258" name="直接箭头连接符 257"/>
          <p:cNvCxnSpPr/>
          <p:nvPr/>
        </p:nvCxnSpPr>
        <p:spPr>
          <a:xfrm>
            <a:off x="7214870" y="4815840"/>
            <a:ext cx="0" cy="271780"/>
          </a:xfrm>
          <a:prstGeom prst="straightConnector1">
            <a:avLst/>
          </a:prstGeom>
          <a:ln w="25400">
            <a:gradFill>
              <a:gsLst>
                <a:gs pos="100000">
                  <a:srgbClr val="0042FF">
                    <a:alpha val="0"/>
                  </a:srgbClr>
                </a:gs>
                <a:gs pos="0">
                  <a:srgbClr val="0042FF"/>
                </a:gs>
              </a:gsLst>
              <a:lin ang="16200000" scaled="1"/>
            </a:gradFill>
            <a:tailEnd type="arrow"/>
          </a:ln>
        </p:spPr>
        <p:style>
          <a:lnRef idx="2">
            <a:srgbClr val="0042FF"/>
          </a:lnRef>
          <a:fillRef idx="0">
            <a:srgbClr val="FFFFFF"/>
          </a:fillRef>
          <a:effectRef idx="0">
            <a:srgbClr val="FFFFFF"/>
          </a:effectRef>
          <a:fontRef idx="minor">
            <a:srgbClr val="383838"/>
          </a:fontRef>
        </p:style>
      </p:cxnSp>
      <p:sp>
        <p:nvSpPr>
          <p:cNvPr id="259" name="文本框 258"/>
          <p:cNvSpPr txBox="1"/>
          <p:nvPr/>
        </p:nvSpPr>
        <p:spPr>
          <a:xfrm>
            <a:off x="6376035" y="4822825"/>
            <a:ext cx="93091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数据输入</a:t>
            </a:r>
            <a:endParaRPr lang="zh-CN" altLang="en-US" sz="1000">
              <a:solidFill>
                <a:srgbClr val="383838"/>
              </a:solidFill>
              <a:latin typeface="微软雅黑"/>
              <a:ea typeface="微软雅黑"/>
              <a:cs typeface="微软雅黑"/>
            </a:endParaRPr>
          </a:p>
        </p:txBody>
      </p:sp>
      <p:grpSp>
        <p:nvGrpSpPr>
          <p:cNvPr id="4" name="组合 3"/>
          <p:cNvGrpSpPr/>
          <p:nvPr/>
        </p:nvGrpSpPr>
        <p:grpSpPr>
          <a:xfrm>
            <a:off x="3510280" y="6055360"/>
            <a:ext cx="5155565" cy="624205"/>
            <a:chOff x="369" y="11026"/>
            <a:chExt cx="18282" cy="1334"/>
          </a:xfrm>
        </p:grpSpPr>
        <p:sp>
          <p:nvSpPr>
            <p:cNvPr id="2" name="子陵职场PPT1"/>
            <p:cNvSpPr/>
            <p:nvPr/>
          </p:nvSpPr>
          <p:spPr>
            <a:xfrm>
              <a:off x="369" y="11026"/>
              <a:ext cx="18279" cy="299"/>
            </a:xfrm>
            <a:prstGeom prst="trapezoid">
              <a:avLst>
                <a:gd name="adj" fmla="val 164557"/>
              </a:avLst>
            </a:prstGeom>
            <a:gradFill>
              <a:gsLst>
                <a:gs pos="0">
                  <a:srgbClr val="0042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dirty="0">
                <a:solidFill>
                  <a:srgbClr val="383838"/>
                </a:solidFill>
                <a:cs typeface="微软雅黑"/>
                <a:latin typeface="微软雅黑"/>
                <a:ea typeface="微软雅黑"/>
              </a:endParaRPr>
            </a:p>
          </p:txBody>
        </p:sp>
        <p:sp>
          <p:nvSpPr>
            <p:cNvPr id="3" name="子陵职场PPT2"/>
            <p:cNvSpPr/>
            <p:nvPr/>
          </p:nvSpPr>
          <p:spPr>
            <a:xfrm>
              <a:off x="369" y="11324"/>
              <a:ext cx="18282" cy="1036"/>
            </a:xfrm>
            <a:prstGeom prst="rect">
              <a:avLst/>
            </a:prstGeom>
            <a:gradFill flip="none" rotWithShape="1">
              <a:gsLst>
                <a:gs pos="0">
                  <a:srgbClr val="0042FF"/>
                </a:gs>
                <a:gs pos="100000">
                  <a:srgbClr val="3368FF"/>
                </a:gs>
              </a:gsLst>
              <a:lin ang="2700000" scaled="1"/>
            </a:gradFill>
            <a:ln>
              <a:noFill/>
            </a:ln>
            <a:effectLst>
              <a:outerShdw blurRad="254000" dist="114300" dir="5400000" sx="99000" sy="99000" algn="t"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00">
                <a:solidFill>
                  <a:srgbClr val="383838"/>
                </a:solidFill>
                <a:latin typeface="微软雅黑"/>
                <a:ea typeface="微软雅黑"/>
                <a:cs typeface="微软雅黑"/>
                <a:sym typeface="微软雅黑"/>
              </a:endParaRPr>
            </a:p>
          </p:txBody>
        </p:sp>
      </p:grpSp>
      <p:sp>
        <p:nvSpPr>
          <p:cNvPr id="32" name="任意多边形 31"/>
          <p:cNvSpPr>
            <a:spLocks noChangeAspect="1"/>
          </p:cNvSpPr>
          <p:nvPr/>
        </p:nvSpPr>
        <p:spPr>
          <a:xfrm rot="4396374" flipH="1" flipV="1">
            <a:off x="4761230" y="5718810"/>
            <a:ext cx="413385" cy="534035"/>
          </a:xfrm>
          <a:custGeom>
            <a:avLst/>
            <a:gdLst>
              <a:gd name="adj1" fmla="val 16310"/>
              <a:gd name="adj2" fmla="val 31370"/>
              <a:gd name="a1" fmla="pin 1 adj1 75000"/>
              <a:gd name="maxAdj2" fmla="*/ 70000 w ss"/>
              <a:gd name="a2" fmla="pin 0 adj2 maxAdj2"/>
              <a:gd name="ad1" fmla="*/ h a1 100000"/>
              <a:gd name="ad2" fmla="*/ ss a2 100000"/>
              <a:gd name="xB" fmla="+- r 0 ad2"/>
              <a:gd name="yB" fmla="+- t ssd8 0"/>
              <a:gd name="alfa" fmla="*/ cd4 1 14"/>
              <a:gd name="dx0" fmla="tan ssd8 alfa"/>
              <a:gd name="xC" fmla="+- xB 0 dx0"/>
              <a:gd name="dx1" fmla="tan ad1 alfa"/>
              <a:gd name="yF" fmla="+- yB ad1 0"/>
              <a:gd name="xF" fmla="+- xB dx1 0"/>
              <a:gd name="xE" fmla="+- xF dx0 0"/>
              <a:gd name="yE" fmla="+- yF ssd8 0"/>
              <a:gd name="dy2" fmla="+- yE 0 t"/>
              <a:gd name="dy22" fmla="*/ dy2 1 2"/>
              <a:gd name="dy3" fmla="*/ h 1 20"/>
              <a:gd name="yD" fmla="+- t dy22 dy3"/>
              <a:gd name="dy4" fmla="*/ hd6 1 1"/>
              <a:gd name="yP1" fmla="+- hd6 dy4 0"/>
              <a:gd name="xP1" fmla="val wd6"/>
              <a:gd name="dy5" fmla="*/ hd6 1 2"/>
              <a:gd name="yP2" fmla="+- yF dy5 0"/>
              <a:gd name="xP2" fmla="val wd4"/>
            </a:gdLst>
            <a:ahLst/>
            <a:cxnLst>
              <a:cxn ang="cd4">
                <a:pos x="l" y="b"/>
              </a:cxn>
              <a:cxn ang="3">
                <a:pos x="xC" y="t"/>
              </a:cxn>
              <a:cxn ang="0">
                <a:pos x="r" y="yD"/>
              </a:cxn>
              <a:cxn ang="cd4">
                <a:pos x="xE" y="yE"/>
              </a:cxn>
            </a:cxnLst>
            <a:rect l="l" t="t" r="r" b="b"/>
            <a:pathLst>
              <a:path w="651" h="841">
                <a:moveTo>
                  <a:pt x="0" y="841"/>
                </a:moveTo>
                <a:cubicBezTo>
                  <a:pt x="66" y="465"/>
                  <a:pt x="240" y="198"/>
                  <a:pt x="447" y="81"/>
                </a:cubicBezTo>
                <a:lnTo>
                  <a:pt x="438" y="0"/>
                </a:lnTo>
                <a:lnTo>
                  <a:pt x="651" y="108"/>
                </a:lnTo>
                <a:lnTo>
                  <a:pt x="471" y="300"/>
                </a:lnTo>
                <a:lnTo>
                  <a:pt x="462" y="219"/>
                </a:lnTo>
                <a:cubicBezTo>
                  <a:pt x="263" y="254"/>
                  <a:pt x="97" y="503"/>
                  <a:pt x="0" y="841"/>
                </a:cubicBezTo>
                <a:close/>
              </a:path>
            </a:pathLst>
          </a:custGeom>
          <a:gradFill>
            <a:gsLst>
              <a:gs pos="0">
                <a:srgbClr val="0042FF"/>
              </a:gs>
              <a:gs pos="100000">
                <a:srgbClr val="3368FF">
                  <a:alpha val="0"/>
                </a:srgbClr>
              </a:gs>
            </a:gsLst>
            <a:lin ang="5400000"/>
          </a:gradFill>
          <a:ln>
            <a:no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wrap="square" lIns="0" rIns="0" tIns="0" bIns="0">
            <a:noAutofit/>
          </a:bodyPr>
          <a:lstStyle/>
          <a:p>
            <a:pP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33" name="形状 32"/>
          <p:cNvSpPr>
            <a:spLocks noChangeAspect="1"/>
          </p:cNvSpPr>
          <p:nvPr/>
        </p:nvSpPr>
        <p:spPr>
          <a:xfrm rot="17203626" flipV="1">
            <a:off x="6751955" y="5718810"/>
            <a:ext cx="413385" cy="534035"/>
          </a:xfrm>
          <a:prstGeom prst="swooshArrow">
            <a:avLst>
              <a:gd name="adj1" fmla="val 16310"/>
              <a:gd name="adj2" fmla="val 31370"/>
            </a:avLst>
          </a:prstGeom>
          <a:gradFill>
            <a:gsLst>
              <a:gs pos="0">
                <a:srgbClr val="0042FF"/>
              </a:gs>
              <a:gs pos="100000">
                <a:srgbClr val="3368FF">
                  <a:alpha val="0"/>
                </a:srgbClr>
              </a:gs>
            </a:gsLst>
            <a:lin ang="5400000"/>
          </a:gradFill>
          <a:ln>
            <a:no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59" name="文本框 58"/>
          <p:cNvSpPr txBox="1"/>
          <p:nvPr/>
        </p:nvSpPr>
        <p:spPr>
          <a:xfrm>
            <a:off x="5610225" y="6314440"/>
            <a:ext cx="930910" cy="27559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跨界生态</a:t>
            </a:r>
            <a:endParaRPr lang="zh-CN" altLang="en-US" sz="1200" b="1">
              <a:solidFill>
                <a:srgbClr val="FFFFFF"/>
              </a:solidFill>
              <a:latin typeface="微软雅黑"/>
              <a:ea typeface="微软雅黑"/>
              <a:cs typeface="微软雅黑"/>
            </a:endParaRPr>
          </a:p>
        </p:txBody>
      </p:sp>
      <p:grpSp>
        <p:nvGrpSpPr>
          <p:cNvPr id="63" name="组合 62"/>
          <p:cNvGrpSpPr/>
          <p:nvPr/>
        </p:nvGrpSpPr>
        <p:grpSpPr>
          <a:xfrm>
            <a:off x="3880485" y="6333490"/>
            <a:ext cx="355600" cy="275590"/>
            <a:chOff x="6075" y="10082"/>
            <a:chExt cx="560" cy="434"/>
          </a:xfrm>
        </p:grpSpPr>
        <p:sp>
          <p:nvSpPr>
            <p:cNvPr id="36" name="椭圆 35"/>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60" name="文本框 59"/>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航空</a:t>
              </a:r>
              <a:br/>
              <a:r>
                <a:rPr lang="zh-CN" altLang="en-US" sz="1000">
                  <a:solidFill>
                    <a:srgbClr val="0042FF"/>
                  </a:solidFill>
                  <a:latin typeface="微软雅黑"/>
                  <a:ea typeface="微软雅黑"/>
                  <a:cs typeface="微软雅黑"/>
                </a:rPr>
                <a:t>公司</a:t>
              </a:r>
              <a:endParaRPr lang="zh-CN" altLang="en-US" sz="1000">
                <a:solidFill>
                  <a:srgbClr val="0042FF"/>
                </a:solidFill>
                <a:latin typeface="微软雅黑"/>
                <a:ea typeface="微软雅黑"/>
                <a:cs typeface="微软雅黑"/>
              </a:endParaRPr>
            </a:p>
          </p:txBody>
        </p:sp>
      </p:grpSp>
      <p:grpSp>
        <p:nvGrpSpPr>
          <p:cNvPr id="77" name="组合 76"/>
          <p:cNvGrpSpPr/>
          <p:nvPr/>
        </p:nvGrpSpPr>
        <p:grpSpPr>
          <a:xfrm>
            <a:off x="4316095" y="6258560"/>
            <a:ext cx="355600" cy="275590"/>
            <a:chOff x="6075" y="10070"/>
            <a:chExt cx="560" cy="434"/>
          </a:xfrm>
        </p:grpSpPr>
        <p:sp>
          <p:nvSpPr>
            <p:cNvPr id="78" name="椭圆 77"/>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79" name="文本框 78"/>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0042FF"/>
                  </a:solidFill>
                  <a:latin typeface="微软雅黑"/>
                  <a:ea typeface="微软雅黑"/>
                  <a:cs typeface="微软雅黑"/>
                </a:rPr>
                <a:t>LV</a:t>
              </a:r>
              <a:br/>
              <a:r>
                <a:rPr lang="zh-CN" altLang="en-US" sz="1000">
                  <a:solidFill>
                    <a:srgbClr val="0042FF"/>
                  </a:solidFill>
                  <a:latin typeface="微软雅黑"/>
                  <a:ea typeface="微软雅黑"/>
                  <a:cs typeface="微软雅黑"/>
                </a:rPr>
                <a:t>联名</a:t>
              </a:r>
              <a:endParaRPr lang="zh-CN" altLang="en-US" sz="1000">
                <a:solidFill>
                  <a:srgbClr val="0042FF"/>
                </a:solidFill>
                <a:latin typeface="微软雅黑"/>
                <a:ea typeface="微软雅黑"/>
                <a:cs typeface="微软雅黑"/>
              </a:endParaRPr>
            </a:p>
          </p:txBody>
        </p:sp>
      </p:grpSp>
      <p:grpSp>
        <p:nvGrpSpPr>
          <p:cNvPr id="86" name="组合 85"/>
          <p:cNvGrpSpPr/>
          <p:nvPr/>
        </p:nvGrpSpPr>
        <p:grpSpPr>
          <a:xfrm>
            <a:off x="4751705" y="6350635"/>
            <a:ext cx="355600" cy="275590"/>
            <a:chOff x="6075" y="10070"/>
            <a:chExt cx="560" cy="434"/>
          </a:xfrm>
        </p:grpSpPr>
        <p:sp>
          <p:nvSpPr>
            <p:cNvPr id="87" name="椭圆 86"/>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88" name="文本框 87"/>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招商</a:t>
              </a:r>
              <a:br/>
              <a:r>
                <a:rPr lang="zh-CN" sz="1000">
                  <a:solidFill>
                    <a:srgbClr val="0042FF"/>
                  </a:solidFill>
                  <a:latin typeface="微软雅黑"/>
                  <a:ea typeface="微软雅黑"/>
                  <a:cs typeface="微软雅黑"/>
                </a:rPr>
                <a:t>银行</a:t>
              </a:r>
              <a:endParaRPr lang="zh-CN" sz="1000">
                <a:solidFill>
                  <a:srgbClr val="0042FF"/>
                </a:solidFill>
                <a:latin typeface="微软雅黑"/>
                <a:ea typeface="微软雅黑"/>
                <a:cs typeface="微软雅黑"/>
              </a:endParaRPr>
            </a:p>
          </p:txBody>
        </p:sp>
      </p:grpSp>
      <p:grpSp>
        <p:nvGrpSpPr>
          <p:cNvPr id="89" name="组合 88"/>
          <p:cNvGrpSpPr/>
          <p:nvPr/>
        </p:nvGrpSpPr>
        <p:grpSpPr>
          <a:xfrm>
            <a:off x="5187315" y="6315710"/>
            <a:ext cx="355600" cy="275590"/>
            <a:chOff x="6075" y="10070"/>
            <a:chExt cx="560" cy="434"/>
          </a:xfrm>
        </p:grpSpPr>
        <p:sp>
          <p:nvSpPr>
            <p:cNvPr id="90" name="椭圆 89"/>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91" name="文本框 90"/>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山姆</a:t>
              </a:r>
              <a:br/>
              <a:r>
                <a:rPr lang="zh-CN" sz="1000">
                  <a:solidFill>
                    <a:srgbClr val="0042FF"/>
                  </a:solidFill>
                  <a:latin typeface="微软雅黑"/>
                  <a:ea typeface="微软雅黑"/>
                  <a:cs typeface="微软雅黑"/>
                </a:rPr>
                <a:t>会员</a:t>
              </a:r>
              <a:endParaRPr lang="zh-CN" sz="1000">
                <a:solidFill>
                  <a:srgbClr val="0042FF"/>
                </a:solidFill>
                <a:latin typeface="微软雅黑"/>
                <a:ea typeface="微软雅黑"/>
                <a:cs typeface="微软雅黑"/>
              </a:endParaRPr>
            </a:p>
          </p:txBody>
        </p:sp>
      </p:grpSp>
      <p:grpSp>
        <p:nvGrpSpPr>
          <p:cNvPr id="105" name="组合 104"/>
          <p:cNvGrpSpPr/>
          <p:nvPr/>
        </p:nvGrpSpPr>
        <p:grpSpPr>
          <a:xfrm>
            <a:off x="6605905" y="6304280"/>
            <a:ext cx="355600" cy="275590"/>
            <a:chOff x="6075" y="10070"/>
            <a:chExt cx="560" cy="434"/>
          </a:xfrm>
        </p:grpSpPr>
        <p:sp>
          <p:nvSpPr>
            <p:cNvPr id="106" name="椭圆 105"/>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107" name="文本框 106"/>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五星</a:t>
              </a:r>
              <a:br/>
              <a:r>
                <a:rPr lang="zh-CN" sz="1000">
                  <a:solidFill>
                    <a:srgbClr val="0042FF"/>
                  </a:solidFill>
                  <a:latin typeface="微软雅黑"/>
                  <a:ea typeface="微软雅黑"/>
                  <a:cs typeface="微软雅黑"/>
                </a:rPr>
                <a:t>酒店</a:t>
              </a:r>
              <a:endParaRPr lang="zh-CN" sz="1000">
                <a:solidFill>
                  <a:srgbClr val="0042FF"/>
                </a:solidFill>
                <a:latin typeface="微软雅黑"/>
                <a:ea typeface="微软雅黑"/>
                <a:cs typeface="微软雅黑"/>
              </a:endParaRPr>
            </a:p>
          </p:txBody>
        </p:sp>
      </p:grpSp>
      <p:grpSp>
        <p:nvGrpSpPr>
          <p:cNvPr id="108" name="组合 107"/>
          <p:cNvGrpSpPr/>
          <p:nvPr/>
        </p:nvGrpSpPr>
        <p:grpSpPr>
          <a:xfrm>
            <a:off x="7026275" y="6258560"/>
            <a:ext cx="355600" cy="275590"/>
            <a:chOff x="6075" y="10070"/>
            <a:chExt cx="560" cy="434"/>
          </a:xfrm>
        </p:grpSpPr>
        <p:sp>
          <p:nvSpPr>
            <p:cNvPr id="109" name="椭圆 108"/>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110" name="文本框 109"/>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大众</a:t>
              </a:r>
              <a:br/>
              <a:r>
                <a:rPr lang="zh-CN" sz="1000">
                  <a:solidFill>
                    <a:srgbClr val="0042FF"/>
                  </a:solidFill>
                  <a:latin typeface="微软雅黑"/>
                  <a:ea typeface="微软雅黑"/>
                  <a:cs typeface="微软雅黑"/>
                </a:rPr>
                <a:t>点评</a:t>
              </a:r>
              <a:endParaRPr lang="zh-CN" sz="1000">
                <a:solidFill>
                  <a:srgbClr val="0042FF"/>
                </a:solidFill>
                <a:latin typeface="微软雅黑"/>
                <a:ea typeface="微软雅黑"/>
                <a:cs typeface="微软雅黑"/>
              </a:endParaRPr>
            </a:p>
          </p:txBody>
        </p:sp>
      </p:grpSp>
      <p:grpSp>
        <p:nvGrpSpPr>
          <p:cNvPr id="112" name="组合 111"/>
          <p:cNvGrpSpPr/>
          <p:nvPr/>
        </p:nvGrpSpPr>
        <p:grpSpPr>
          <a:xfrm>
            <a:off x="7446645" y="6339205"/>
            <a:ext cx="355600" cy="275590"/>
            <a:chOff x="6075" y="10070"/>
            <a:chExt cx="560" cy="434"/>
          </a:xfrm>
        </p:grpSpPr>
        <p:sp>
          <p:nvSpPr>
            <p:cNvPr id="113" name="椭圆 112"/>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114" name="文本框 113"/>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加油站</a:t>
              </a:r>
              <a:endParaRPr lang="zh-CN" sz="1000">
                <a:solidFill>
                  <a:srgbClr val="0042FF"/>
                </a:solidFill>
                <a:latin typeface="微软雅黑"/>
                <a:ea typeface="微软雅黑"/>
                <a:cs typeface="微软雅黑"/>
              </a:endParaRPr>
            </a:p>
          </p:txBody>
        </p:sp>
      </p:grpSp>
      <p:grpSp>
        <p:nvGrpSpPr>
          <p:cNvPr id="115" name="组合 114"/>
          <p:cNvGrpSpPr/>
          <p:nvPr/>
        </p:nvGrpSpPr>
        <p:grpSpPr>
          <a:xfrm>
            <a:off x="7867015" y="6277610"/>
            <a:ext cx="355600" cy="275590"/>
            <a:chOff x="6075" y="10070"/>
            <a:chExt cx="560" cy="434"/>
          </a:xfrm>
        </p:grpSpPr>
        <p:sp>
          <p:nvSpPr>
            <p:cNvPr id="119" name="椭圆 118"/>
            <p:cNvSpPr/>
            <p:nvPr/>
          </p:nvSpPr>
          <p:spPr>
            <a:xfrm>
              <a:off x="6048" y="9984"/>
              <a:ext cx="620" cy="620"/>
            </a:xfrm>
            <a:prstGeom prst="ellipse">
              <a:avLst/>
            </a:prstGeom>
            <a:gradFill flip="none" rotWithShape="1">
              <a:gsLst>
                <a:gs pos="0">
                  <a:srgbClr val="FFFFFF"/>
                </a:gs>
                <a:gs pos="100000">
                  <a:srgbClr val="FFFFFF"/>
                </a:gs>
              </a:gsLst>
              <a:path path="circle">
                <a:fillToRect l="50000" t="50000" r="50000" b="50000"/>
              </a:path>
              <a:tileRect/>
            </a:gradFill>
            <a:ln w="12700" cmpd="sng">
              <a:solidFill>
                <a:srgbClr val="668EFF"/>
              </a:solidFill>
              <a:prstDash val="solid"/>
            </a:ln>
            <a:effectLst>
              <a:glow rad="63500">
                <a:srgbClr val="E6E6E6">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glow>
                    <a:srgbClr val="FFFFFF">
                      <a:alpha val="100000"/>
                    </a:srgbClr>
                  </a:glow>
                  <a:outerShdw blurRad="137160" dist="41148" dir="2699997" algn="tl">
                    <a:srgbClr val="383838">
                      <a:alpha val="40000"/>
                    </a:srgbClr>
                  </a:outerShdw>
                </a:effectLst>
                <a:latin typeface="微软雅黑"/>
                <a:ea typeface="微软雅黑"/>
                <a:cs typeface="微软雅黑"/>
                <a:sym typeface="微软雅黑"/>
              </a:endParaRPr>
            </a:p>
          </p:txBody>
        </p:sp>
        <p:sp>
          <p:nvSpPr>
            <p:cNvPr id="120" name="文本框 119"/>
            <p:cNvSpPr txBox="1"/>
            <p:nvPr/>
          </p:nvSpPr>
          <p:spPr>
            <a:xfrm>
              <a:off x="6048" y="10004"/>
              <a:ext cx="620" cy="580"/>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高端</a:t>
              </a:r>
              <a:br/>
              <a:r>
                <a:rPr lang="zh-CN" sz="1000">
                  <a:solidFill>
                    <a:srgbClr val="0042FF"/>
                  </a:solidFill>
                  <a:latin typeface="微软雅黑"/>
                  <a:ea typeface="微软雅黑"/>
                  <a:cs typeface="微软雅黑"/>
                </a:rPr>
                <a:t>会所</a:t>
              </a:r>
              <a:endParaRPr lang="zh-CN" sz="1000">
                <a:solidFill>
                  <a:srgbClr val="0042FF"/>
                </a:solidFill>
                <a:latin typeface="微软雅黑"/>
                <a:ea typeface="微软雅黑"/>
                <a:cs typeface="微软雅黑"/>
              </a:endParaRPr>
            </a:p>
          </p:txBody>
        </p:sp>
      </p:grpSp>
      <p:sp>
        <p:nvSpPr>
          <p:cNvPr id="129" name="子陵职场PPT19"/>
          <p:cNvSpPr/>
          <p:nvPr>
            <p:custDataLst>
              <p:tags r:id="rId3"/>
            </p:custDataLst>
          </p:nvPr>
        </p:nvSpPr>
        <p:spPr>
          <a:xfrm flipH="1">
            <a:off x="4953000" y="2070100"/>
            <a:ext cx="241300" cy="241300"/>
          </a:xfrm>
          <a:prstGeom prst="ellipse">
            <a:avLst/>
          </a:prstGeom>
          <a:gradFill flip="none" rotWithShape="1">
            <a:gsLst>
              <a:gs pos="0">
                <a:srgbClr val="3368FF"/>
              </a:gs>
              <a:gs pos="100000">
                <a:srgbClr val="B3D4FE"/>
              </a:gs>
            </a:gsLst>
            <a:lin ang="16200000" scaled="1"/>
            <a:tileRect/>
          </a:gradFill>
          <a:ln>
            <a:solidFill>
              <a:srgbClr val="FFFFFF"/>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200" b="1">
                <a:latin typeface="微软雅黑"/>
                <a:ea typeface="微软雅黑"/>
                <a:cs typeface="微软雅黑"/>
                <a:sym typeface="微软雅黑"/>
              </a:rPr>
              <a:t>1</a:t>
            </a:r>
            <a:endParaRPr lang="en-US" altLang="zh-CN" sz="1200" b="1">
              <a:latin typeface="微软雅黑"/>
              <a:ea typeface="微软雅黑"/>
              <a:cs typeface="微软雅黑"/>
              <a:sym typeface="微软雅黑"/>
            </a:endParaRPr>
          </a:p>
        </p:txBody>
      </p:sp>
      <p:sp>
        <p:nvSpPr>
          <p:cNvPr id="131" name="内容占位符 20"/>
          <p:cNvSpPr txBox="1"/>
          <p:nvPr/>
        </p:nvSpPr>
        <p:spPr>
          <a:xfrm>
            <a:off x="5176520" y="4495800"/>
            <a:ext cx="2115185" cy="247650"/>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微软雅黑"/>
              <a:buNone/>
              <a:defRPr sz="1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b="1" dirty="0">
                <a:gradFill>
                  <a:gsLst>
                    <a:gs pos="0">
                      <a:srgbClr val="0042FF"/>
                    </a:gs>
                    <a:gs pos="100000">
                      <a:srgbClr val="0042FF"/>
                    </a:gs>
                  </a:gsLst>
                  <a:lin ang="0" scaled="0"/>
                </a:gradFill>
                <a:cs typeface="微软雅黑"/>
                <a:latin typeface="微软雅黑"/>
                <a:ea typeface="微软雅黑"/>
              </a:rPr>
              <a:t>会员的深度连接与价值沉淀</a:t>
            </a:r>
            <a:endParaRPr lang="zh-CN" altLang="en-US" sz="1200" b="1" dirty="0">
              <a:gradFill>
                <a:gsLst>
                  <a:gs pos="0">
                    <a:srgbClr val="0042FF"/>
                  </a:gs>
                  <a:gs pos="100000">
                    <a:srgbClr val="0042FF"/>
                  </a:gs>
                </a:gsLst>
                <a:lin ang="0" scaled="0"/>
              </a:gradFill>
              <a:cs typeface="微软雅黑"/>
              <a:latin typeface="微软雅黑"/>
              <a:ea typeface="微软雅黑"/>
            </a:endParaRPr>
          </a:p>
        </p:txBody>
      </p:sp>
      <p:sp>
        <p:nvSpPr>
          <p:cNvPr id="132" name="子陵职场PPT19"/>
          <p:cNvSpPr/>
          <p:nvPr>
            <p:custDataLst>
              <p:tags r:id="rId4"/>
            </p:custDataLst>
          </p:nvPr>
        </p:nvSpPr>
        <p:spPr>
          <a:xfrm flipH="1">
            <a:off x="4970780" y="4495800"/>
            <a:ext cx="241300" cy="241300"/>
          </a:xfrm>
          <a:prstGeom prst="ellipse">
            <a:avLst/>
          </a:prstGeom>
          <a:gradFill flip="none" rotWithShape="1">
            <a:gsLst>
              <a:gs pos="0">
                <a:srgbClr val="3368FF"/>
              </a:gs>
              <a:gs pos="100000">
                <a:srgbClr val="B3D4FE"/>
              </a:gs>
            </a:gsLst>
            <a:lin ang="16200000" scaled="1"/>
            <a:tileRect/>
          </a:gradFill>
          <a:ln>
            <a:solidFill>
              <a:srgbClr val="FFFFFF"/>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200" b="1">
                <a:latin typeface="微软雅黑"/>
                <a:ea typeface="微软雅黑"/>
                <a:cs typeface="微软雅黑"/>
                <a:sym typeface="微软雅黑"/>
              </a:rPr>
              <a:t>2</a:t>
            </a:r>
            <a:endParaRPr lang="en-US" altLang="zh-CN" sz="1200" b="1">
              <a:latin typeface="微软雅黑"/>
              <a:ea typeface="微软雅黑"/>
              <a:cs typeface="微软雅黑"/>
              <a:sym typeface="微软雅黑"/>
            </a:endParaRPr>
          </a:p>
        </p:txBody>
      </p:sp>
      <p:sp>
        <p:nvSpPr>
          <p:cNvPr id="134" name="文本框 133"/>
          <p:cNvSpPr txBox="1"/>
          <p:nvPr/>
        </p:nvSpPr>
        <p:spPr>
          <a:xfrm>
            <a:off x="5833110" y="2699703"/>
            <a:ext cx="744855" cy="460375"/>
          </a:xfrm>
          <a:prstGeom prst="rect">
            <a:avLst/>
          </a:prstGeom>
          <a:noFill/>
        </p:spPr>
        <p:txBody>
          <a:bodyPr wrap="square" rtlCol="0">
            <a:spAutoFit/>
          </a:bodyPr>
          <a:lstStyle/>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全员</a:t>
            </a:r>
            <a:endParaRPr lang="zh-CN" altLang="en-US" sz="12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生态</a:t>
            </a:r>
            <a:endParaRPr lang="zh-CN" altLang="en-US" sz="1200" b="1">
              <a:solidFill>
                <a:srgbClr val="383838"/>
              </a:solidFill>
              <a:latin typeface="微软雅黑"/>
              <a:ea typeface="微软雅黑"/>
              <a:cs typeface="微软雅黑"/>
            </a:endParaRPr>
          </a:p>
        </p:txBody>
      </p:sp>
      <p:sp>
        <p:nvSpPr>
          <p:cNvPr id="135" name="文本框 134"/>
          <p:cNvSpPr txBox="1"/>
          <p:nvPr/>
        </p:nvSpPr>
        <p:spPr>
          <a:xfrm>
            <a:off x="7276465" y="2699703"/>
            <a:ext cx="744855" cy="460375"/>
          </a:xfrm>
          <a:prstGeom prst="rect">
            <a:avLst/>
          </a:prstGeom>
          <a:noFill/>
        </p:spPr>
        <p:txBody>
          <a:bodyPr wrap="square" rtlCol="0">
            <a:spAutoFit/>
          </a:bodyPr>
          <a:lstStyle/>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全渠道整合</a:t>
            </a:r>
            <a:endParaRPr lang="zh-CN" altLang="en-US" sz="1200" b="1">
              <a:solidFill>
                <a:srgbClr val="383838"/>
              </a:solidFill>
              <a:latin typeface="微软雅黑"/>
              <a:ea typeface="微软雅黑"/>
              <a:cs typeface="微软雅黑"/>
            </a:endParaRPr>
          </a:p>
        </p:txBody>
      </p:sp>
      <p:sp>
        <p:nvSpPr>
          <p:cNvPr id="136" name="文本框 135"/>
          <p:cNvSpPr txBox="1"/>
          <p:nvPr/>
        </p:nvSpPr>
        <p:spPr>
          <a:xfrm>
            <a:off x="4286885" y="2714943"/>
            <a:ext cx="744855" cy="39878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人货</a:t>
            </a:r>
            <a:endParaRPr lang="zh-CN" altLang="en-US" sz="10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场</a:t>
            </a:r>
            <a:endParaRPr lang="zh-CN" altLang="en-US" sz="1000" b="1">
              <a:solidFill>
                <a:srgbClr val="383838"/>
              </a:solidFill>
              <a:latin typeface="微软雅黑"/>
              <a:ea typeface="微软雅黑"/>
              <a:cs typeface="微软雅黑"/>
            </a:endParaRPr>
          </a:p>
        </p:txBody>
      </p:sp>
      <p:grpSp>
        <p:nvGrpSpPr>
          <p:cNvPr id="166" name="组合 165"/>
          <p:cNvGrpSpPr/>
          <p:nvPr/>
        </p:nvGrpSpPr>
        <p:grpSpPr>
          <a:xfrm>
            <a:off x="4106521" y="2370412"/>
            <a:ext cx="1220952" cy="1108491"/>
            <a:chOff x="18793" y="6794"/>
            <a:chExt cx="2210" cy="2006"/>
          </a:xfrm>
        </p:grpSpPr>
        <p:sp>
          <p:nvSpPr>
            <p:cNvPr id="143" name="子陵职场PPT9"/>
            <p:cNvSpPr txBox="1"/>
            <p:nvPr/>
          </p:nvSpPr>
          <p:spPr>
            <a:xfrm>
              <a:off x="18999" y="8223"/>
              <a:ext cx="575" cy="575"/>
            </a:xfrm>
            <a:prstGeom prst="rect">
              <a:avLst/>
            </a:prstGeom>
            <a:noFill/>
          </p:spPr>
          <p:txBody>
            <a:bodyPr wrap="square" rtlCol="0" lIns="0" rIns="0" tIns="0" bIns="0" anchor="ctr">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a:solidFill>
                    <a:srgbClr val="383838"/>
                  </a:solidFill>
                  <a:effectLst/>
                  <a:latin typeface="微软雅黑"/>
                  <a:ea typeface="微软雅黑"/>
                  <a:cs typeface="微软雅黑"/>
                  <a:sym typeface="微软雅黑"/>
                </a:rPr>
                <a:t>物流</a:t>
              </a:r>
              <a:br/>
              <a:r>
                <a:rPr lang="zh-CN" altLang="en-US" sz="1000">
                  <a:solidFill>
                    <a:srgbClr val="383838"/>
                  </a:solidFill>
                  <a:effectLst/>
                  <a:latin typeface="微软雅黑"/>
                  <a:ea typeface="微软雅黑"/>
                  <a:cs typeface="微软雅黑"/>
                  <a:sym typeface="微软雅黑"/>
                </a:rPr>
                <a:t>送达</a:t>
              </a:r>
              <a:endParaRPr lang="zh-CN" altLang="en-US" sz="1000">
                <a:solidFill>
                  <a:srgbClr val="383838"/>
                </a:solidFill>
                <a:effectLst/>
                <a:latin typeface="微软雅黑"/>
                <a:ea typeface="微软雅黑"/>
                <a:cs typeface="微软雅黑"/>
                <a:sym typeface="微软雅黑"/>
              </a:endParaRPr>
            </a:p>
          </p:txBody>
        </p:sp>
        <p:sp>
          <p:nvSpPr>
            <p:cNvPr id="155" name="子陵职场PPT10"/>
            <p:cNvSpPr txBox="1"/>
            <p:nvPr/>
          </p:nvSpPr>
          <p:spPr>
            <a:xfrm>
              <a:off x="18928" y="6921"/>
              <a:ext cx="575" cy="575"/>
            </a:xfrm>
            <a:prstGeom prst="rect">
              <a:avLst/>
            </a:prstGeom>
            <a:noFill/>
          </p:spPr>
          <p:txBody>
            <a:bodyPr wrap="square" rtlCol="0" lIns="0" rIns="0" tIns="0" bIns="0" anchor="ctr">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a:solidFill>
                    <a:srgbClr val="383838"/>
                  </a:solidFill>
                  <a:effectLst/>
                  <a:latin typeface="微软雅黑"/>
                  <a:ea typeface="微软雅黑"/>
                  <a:cs typeface="微软雅黑"/>
                  <a:sym typeface="微软雅黑"/>
                </a:rPr>
                <a:t>货品</a:t>
              </a:r>
              <a:br/>
              <a:r>
                <a:rPr lang="zh-CN" altLang="en-US" sz="1000">
                  <a:solidFill>
                    <a:srgbClr val="383838"/>
                  </a:solidFill>
                  <a:effectLst/>
                  <a:latin typeface="微软雅黑"/>
                  <a:ea typeface="微软雅黑"/>
                  <a:cs typeface="微软雅黑"/>
                  <a:sym typeface="微软雅黑"/>
                </a:rPr>
                <a:t>供给</a:t>
              </a:r>
              <a:endParaRPr lang="zh-CN" altLang="en-US" sz="1000">
                <a:solidFill>
                  <a:srgbClr val="383838"/>
                </a:solidFill>
                <a:effectLst/>
                <a:latin typeface="微软雅黑"/>
                <a:ea typeface="微软雅黑"/>
                <a:cs typeface="微软雅黑"/>
                <a:sym typeface="微软雅黑"/>
              </a:endParaRPr>
            </a:p>
          </p:txBody>
        </p:sp>
        <p:sp>
          <p:nvSpPr>
            <p:cNvPr id="156" name="子陵职场PPT11"/>
            <p:cNvSpPr txBox="1"/>
            <p:nvPr/>
          </p:nvSpPr>
          <p:spPr>
            <a:xfrm>
              <a:off x="20246" y="6794"/>
              <a:ext cx="575" cy="575"/>
            </a:xfrm>
            <a:prstGeom prst="rect">
              <a:avLst/>
            </a:prstGeom>
            <a:noFill/>
          </p:spPr>
          <p:txBody>
            <a:bodyPr wrap="square" rtlCol="0" lIns="0" rIns="0" tIns="0" bIns="0" anchor="ctr">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a:solidFill>
                    <a:srgbClr val="383838"/>
                  </a:solidFill>
                  <a:effectLst/>
                  <a:latin typeface="微软雅黑"/>
                  <a:ea typeface="微软雅黑"/>
                  <a:cs typeface="微软雅黑"/>
                  <a:sym typeface="微软雅黑"/>
                </a:rPr>
                <a:t>购买</a:t>
              </a:r>
              <a:br/>
              <a:r>
                <a:rPr lang="zh-CN" altLang="en-US" sz="1000">
                  <a:solidFill>
                    <a:srgbClr val="383838"/>
                  </a:solidFill>
                  <a:effectLst/>
                  <a:latin typeface="微软雅黑"/>
                  <a:ea typeface="微软雅黑"/>
                  <a:cs typeface="微软雅黑"/>
                  <a:sym typeface="微软雅黑"/>
                </a:rPr>
                <a:t>场景</a:t>
              </a:r>
              <a:endParaRPr lang="zh-CN" altLang="en-US" sz="1000">
                <a:solidFill>
                  <a:srgbClr val="383838"/>
                </a:solidFill>
                <a:effectLst/>
                <a:latin typeface="微软雅黑"/>
                <a:ea typeface="微软雅黑"/>
                <a:cs typeface="微软雅黑"/>
                <a:sym typeface="微软雅黑"/>
              </a:endParaRPr>
            </a:p>
          </p:txBody>
        </p:sp>
        <p:sp>
          <p:nvSpPr>
            <p:cNvPr id="157" name="子陵职场PPT12"/>
            <p:cNvSpPr txBox="1"/>
            <p:nvPr/>
          </p:nvSpPr>
          <p:spPr>
            <a:xfrm>
              <a:off x="20227" y="8131"/>
              <a:ext cx="575" cy="575"/>
            </a:xfrm>
            <a:prstGeom prst="rect">
              <a:avLst/>
            </a:prstGeom>
            <a:noFill/>
          </p:spPr>
          <p:txBody>
            <a:bodyPr wrap="square" rtlCol="0" lIns="0" rIns="0" tIns="0" bIns="0" anchor="ctr">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a:solidFill>
                    <a:srgbClr val="383838"/>
                  </a:solidFill>
                  <a:effectLst/>
                  <a:latin typeface="微软雅黑"/>
                  <a:ea typeface="微软雅黑"/>
                  <a:cs typeface="微软雅黑"/>
                  <a:sym typeface="微软雅黑"/>
                </a:rPr>
                <a:t>人货</a:t>
              </a:r>
              <a:br/>
              <a:r>
                <a:rPr lang="zh-CN" altLang="en-US" sz="1000">
                  <a:solidFill>
                    <a:srgbClr val="383838"/>
                  </a:solidFill>
                  <a:effectLst/>
                  <a:latin typeface="微软雅黑"/>
                  <a:ea typeface="微软雅黑"/>
                  <a:cs typeface="微软雅黑"/>
                  <a:sym typeface="微软雅黑"/>
                </a:rPr>
                <a:t>匹配</a:t>
              </a:r>
              <a:endParaRPr lang="zh-CN" altLang="en-US" sz="1000">
                <a:solidFill>
                  <a:srgbClr val="383838"/>
                </a:solidFill>
                <a:effectLst/>
                <a:latin typeface="微软雅黑"/>
                <a:ea typeface="微软雅黑"/>
                <a:cs typeface="微软雅黑"/>
                <a:sym typeface="微软雅黑"/>
              </a:endParaRPr>
            </a:p>
          </p:txBody>
        </p:sp>
        <p:sp>
          <p:nvSpPr>
            <p:cNvPr id="159" name="子陵职场PPT13-1"/>
            <p:cNvSpPr/>
            <p:nvPr>
              <p:custDataLst>
                <p:tags r:id="rId5"/>
              </p:custDataLst>
            </p:nvPr>
          </p:nvSpPr>
          <p:spPr>
            <a:xfrm rot="21180000" flipH="1">
              <a:off x="19038" y="6951"/>
              <a:ext cx="1510" cy="1510"/>
            </a:xfrm>
            <a:prstGeom prst="arc">
              <a:avLst>
                <a:gd name="adj1" fmla="val 14146529"/>
                <a:gd name="adj2" fmla="val 0"/>
              </a:avLst>
            </a:prstGeom>
            <a:noFill/>
            <a:ln w="25400">
              <a:gradFill flip="none" rotWithShape="1">
                <a:gsLst>
                  <a:gs pos="0">
                    <a:srgbClr val="3368FF"/>
                  </a:gs>
                  <a:gs pos="66000">
                    <a:srgbClr val="3368FF">
                      <a:alpha val="0"/>
                    </a:srgbClr>
                  </a:gs>
                </a:gsLst>
                <a:lin ang="0" scaled="1"/>
                <a:tileRect/>
              </a:gradFill>
              <a:headEnd type="arrow"/>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61" name="子陵职场PPT13-3"/>
            <p:cNvSpPr/>
            <p:nvPr>
              <p:custDataLst>
                <p:tags r:id="rId6"/>
              </p:custDataLst>
            </p:nvPr>
          </p:nvSpPr>
          <p:spPr>
            <a:xfrm rot="4620000" flipH="1">
              <a:off x="19166" y="7071"/>
              <a:ext cx="1510" cy="1510"/>
            </a:xfrm>
            <a:prstGeom prst="arc">
              <a:avLst>
                <a:gd name="adj1" fmla="val 14146529"/>
                <a:gd name="adj2" fmla="val 0"/>
              </a:avLst>
            </a:prstGeom>
            <a:noFill/>
            <a:ln w="25400">
              <a:gradFill flip="none" rotWithShape="1">
                <a:gsLst>
                  <a:gs pos="0">
                    <a:srgbClr val="3368FF"/>
                  </a:gs>
                  <a:gs pos="66000">
                    <a:srgbClr val="3368FF">
                      <a:alpha val="0"/>
                    </a:srgbClr>
                  </a:gs>
                </a:gsLst>
                <a:lin ang="0" scaled="1"/>
                <a:tileRect/>
              </a:gradFill>
              <a:headEnd type="arrow"/>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62" name="子陵职场PPT13-4"/>
            <p:cNvSpPr/>
            <p:nvPr>
              <p:custDataLst>
                <p:tags r:id="rId7"/>
              </p:custDataLst>
            </p:nvPr>
          </p:nvSpPr>
          <p:spPr>
            <a:xfrm rot="10380000" flipH="1">
              <a:off x="19036" y="7155"/>
              <a:ext cx="1510" cy="1510"/>
            </a:xfrm>
            <a:prstGeom prst="arc">
              <a:avLst>
                <a:gd name="adj1" fmla="val 14146529"/>
                <a:gd name="adj2" fmla="val 0"/>
              </a:avLst>
            </a:prstGeom>
            <a:noFill/>
            <a:ln w="25400">
              <a:gradFill flip="none" rotWithShape="1">
                <a:gsLst>
                  <a:gs pos="0">
                    <a:srgbClr val="3368FF"/>
                  </a:gs>
                  <a:gs pos="66000">
                    <a:srgbClr val="3368FF">
                      <a:alpha val="0"/>
                    </a:srgbClr>
                  </a:gs>
                </a:gsLst>
                <a:lin ang="0" scaled="1"/>
                <a:tileRect/>
              </a:gradFill>
              <a:headEnd type="arrow"/>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63" name="子陵职场PPT13-5"/>
            <p:cNvSpPr/>
            <p:nvPr>
              <p:custDataLst>
                <p:tags r:id="rId8"/>
              </p:custDataLst>
            </p:nvPr>
          </p:nvSpPr>
          <p:spPr>
            <a:xfrm rot="15720000" flipH="1">
              <a:off x="18962" y="7078"/>
              <a:ext cx="1510" cy="1510"/>
            </a:xfrm>
            <a:prstGeom prst="arc">
              <a:avLst>
                <a:gd name="adj1" fmla="val 14146529"/>
                <a:gd name="adj2" fmla="val 0"/>
              </a:avLst>
            </a:prstGeom>
            <a:noFill/>
            <a:ln w="25400">
              <a:gradFill flip="none" rotWithShape="1">
                <a:gsLst>
                  <a:gs pos="0">
                    <a:srgbClr val="3368FF"/>
                  </a:gs>
                  <a:gs pos="66000">
                    <a:srgbClr val="3368FF">
                      <a:alpha val="0"/>
                    </a:srgbClr>
                  </a:gs>
                </a:gsLst>
                <a:lin ang="0" scaled="1"/>
                <a:tileRect/>
              </a:gradFill>
              <a:headEnd type="arrow"/>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grpSp>
      <p:sp>
        <p:nvSpPr>
          <p:cNvPr id="168" name="子陵职场PPT18"/>
          <p:cNvSpPr/>
          <p:nvPr/>
        </p:nvSpPr>
        <p:spPr>
          <a:xfrm>
            <a:off x="5327650" y="2863850"/>
            <a:ext cx="438785" cy="228600"/>
          </a:xfrm>
          <a:prstGeom prst="leftRightArrow">
            <a:avLst/>
          </a:prstGeom>
          <a:gradFill flip="none" rotWithShape="1">
            <a:gsLst>
              <a:gs pos="0">
                <a:srgbClr val="FFFFFF"/>
              </a:gs>
              <a:gs pos="100000">
                <a:srgbClr val="FFFFFF"/>
              </a:gs>
            </a:gsLst>
            <a:lin ang="16200000" scaled="1"/>
            <a:tileRect/>
          </a:gradFill>
          <a:ln>
            <a:gradFill>
              <a:gsLst>
                <a:gs pos="0">
                  <a:srgbClr val="3368FF"/>
                </a:gs>
                <a:gs pos="100000">
                  <a:srgbClr val="B3D4FE"/>
                </a:gs>
              </a:gsLst>
              <a:lin ang="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nvGrpSpPr>
          <p:cNvPr id="550" name="组合 549"/>
          <p:cNvGrpSpPr/>
          <p:nvPr/>
        </p:nvGrpSpPr>
        <p:grpSpPr>
          <a:xfrm>
            <a:off x="3881120" y="5062220"/>
            <a:ext cx="2076450" cy="773430"/>
            <a:chOff x="6112" y="7972"/>
            <a:chExt cx="3270" cy="1218"/>
          </a:xfrm>
        </p:grpSpPr>
        <p:grpSp>
          <p:nvGrpSpPr>
            <p:cNvPr id="527" name="组合 526"/>
            <p:cNvGrpSpPr/>
            <p:nvPr/>
          </p:nvGrpSpPr>
          <p:grpSpPr>
            <a:xfrm>
              <a:off x="6112" y="7972"/>
              <a:ext cx="3271" cy="1218"/>
              <a:chOff x="14043" y="-655"/>
              <a:chExt cx="4787" cy="2037"/>
            </a:xfrm>
          </p:grpSpPr>
          <p:grpSp>
            <p:nvGrpSpPr>
              <p:cNvPr id="615" name="©显眼包PPT1"/>
              <p:cNvGrpSpPr/>
              <p:nvPr/>
            </p:nvGrpSpPr>
            <p:grpSpPr>
              <a:xfrm>
                <a:off x="14043" y="-655"/>
                <a:ext cx="4787" cy="2037"/>
                <a:chOff x="319048" y="2416431"/>
                <a:chExt cx="3039950" cy="1293557"/>
              </a:xfrm>
            </p:grpSpPr>
            <p:sp>
              <p:nvSpPr>
                <p:cNvPr id="502" name="©显眼包PPT1-1"/>
                <p:cNvSpPr/>
                <p:nvPr/>
              </p:nvSpPr>
              <p:spPr>
                <a:xfrm>
                  <a:off x="327668" y="2416431"/>
                  <a:ext cx="3031330" cy="116492"/>
                </a:xfrm>
                <a:prstGeom prst="parallelogram">
                  <a:avLst>
                    <a:gd name="adj" fmla="val 125865"/>
                  </a:avLst>
                </a:prstGeom>
                <a:gradFill flip="none" rotWithShape="1">
                  <a:gsLst>
                    <a:gs pos="0">
                      <a:srgbClr val="3368FF">
                        <a:alpha val="50000"/>
                      </a:srgbClr>
                    </a:gs>
                    <a:gs pos="100000">
                      <a:srgbClr val="3368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03" name="©显眼包PPT1-2"/>
                <p:cNvSpPr/>
                <p:nvPr/>
              </p:nvSpPr>
              <p:spPr>
                <a:xfrm rot="16200000" flipH="1">
                  <a:off x="2632735" y="2993215"/>
                  <a:ext cx="1281110" cy="152435"/>
                </a:xfrm>
                <a:prstGeom prst="parallelogram">
                  <a:avLst>
                    <a:gd name="adj" fmla="val 77381"/>
                  </a:avLst>
                </a:prstGeom>
                <a:gradFill>
                  <a:gsLst>
                    <a:gs pos="0">
                      <a:srgbClr val="3368FF">
                        <a:alpha val="60000"/>
                      </a:srgbClr>
                    </a:gs>
                    <a:gs pos="99000">
                      <a:srgbClr val="3368FF">
                        <a:alpha val="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04" name="©显眼包PPT1-3"/>
                <p:cNvSpPr/>
                <p:nvPr/>
              </p:nvSpPr>
              <p:spPr>
                <a:xfrm flipH="1">
                  <a:off x="319048" y="2527300"/>
                  <a:ext cx="2901043" cy="1165353"/>
                </a:xfrm>
                <a:prstGeom prst="roundRect">
                  <a:avLst>
                    <a:gd name="adj" fmla="val 4679"/>
                  </a:avLst>
                </a:prstGeom>
                <a:solidFill>
                  <a:srgbClr val="FFFFFF"/>
                </a:solidFill>
                <a:ln w="25400">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526" name="©显眼包PPT2"/>
              <p:cNvSpPr/>
              <p:nvPr/>
            </p:nvSpPr>
            <p:spPr>
              <a:xfrm flipH="1">
                <a:off x="14734" y="-447"/>
                <a:ext cx="3188" cy="550"/>
              </a:xfrm>
              <a:custGeom>
                <a:avLst/>
                <a:gdLst>
                  <a:gd name="connsiteX0" fmla="*/ 718 w 1790049"/>
                  <a:gd name="connsiteY0" fmla="*/ 0 h 237380"/>
                  <a:gd name="connsiteX1" fmla="*/ 1789332 w 1790049"/>
                  <a:gd name="connsiteY1" fmla="*/ 0 h 237380"/>
                  <a:gd name="connsiteX2" fmla="*/ 1790049 w 1790049"/>
                  <a:gd name="connsiteY2" fmla="*/ 4297 h 237380"/>
                  <a:gd name="connsiteX3" fmla="*/ 1725074 w 1790049"/>
                  <a:gd name="connsiteY3" fmla="*/ 212122 h 237380"/>
                  <a:gd name="connsiteX4" fmla="*/ 1690714 w 1790049"/>
                  <a:gd name="connsiteY4" fmla="*/ 237380 h 237380"/>
                  <a:gd name="connsiteX5" fmla="*/ 99335 w 1790049"/>
                  <a:gd name="connsiteY5" fmla="*/ 237380 h 237380"/>
                  <a:gd name="connsiteX6" fmla="*/ 64975 w 1790049"/>
                  <a:gd name="connsiteY6" fmla="*/ 212122 h 237380"/>
                  <a:gd name="connsiteX7" fmla="*/ 0 w 1790049"/>
                  <a:gd name="connsiteY7" fmla="*/ 4297 h 2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0049" h="237380">
                    <a:moveTo>
                      <a:pt x="718" y="0"/>
                    </a:moveTo>
                    <a:lnTo>
                      <a:pt x="1789332" y="0"/>
                    </a:lnTo>
                    <a:lnTo>
                      <a:pt x="1790049" y="4297"/>
                    </a:lnTo>
                    <a:lnTo>
                      <a:pt x="1725074" y="212122"/>
                    </a:lnTo>
                    <a:cubicBezTo>
                      <a:pt x="1720376" y="227151"/>
                      <a:pt x="1706460" y="237380"/>
                      <a:pt x="1690714" y="237380"/>
                    </a:cubicBezTo>
                    <a:lnTo>
                      <a:pt x="99335" y="237380"/>
                    </a:lnTo>
                    <a:cubicBezTo>
                      <a:pt x="83589" y="237380"/>
                      <a:pt x="69673" y="227151"/>
                      <a:pt x="64975" y="212122"/>
                    </a:cubicBezTo>
                    <a:lnTo>
                      <a:pt x="0" y="4297"/>
                    </a:lnTo>
                    <a:close/>
                  </a:path>
                </a:pathLst>
              </a:custGeom>
              <a:gradFill>
                <a:gsLst>
                  <a:gs pos="0">
                    <a:srgbClr val="0042FF"/>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b="1" dirty="0">
                    <a:solidFill>
                      <a:srgbClr val="FFFFFF"/>
                    </a:solidFill>
                    <a:latin typeface="微软雅黑"/>
                    <a:ea typeface="微软雅黑"/>
                    <a:cs typeface="微软雅黑"/>
                  </a:rPr>
                  <a:t>CRM&amp;</a:t>
                </a:r>
                <a:r>
                  <a:rPr lang="zh-CN" altLang="en-US" sz="1000" b="1" dirty="0">
                    <a:solidFill>
                      <a:srgbClr val="FFFFFF"/>
                    </a:solidFill>
                    <a:latin typeface="微软雅黑"/>
                    <a:ea typeface="微软雅黑"/>
                    <a:cs typeface="微软雅黑"/>
                  </a:rPr>
                  <a:t>精准营销系统</a:t>
                </a:r>
                <a:endParaRPr lang="zh-CN" altLang="en-US" sz="1000" b="1" dirty="0">
                  <a:solidFill>
                    <a:srgbClr val="FFFFFF"/>
                  </a:solidFill>
                  <a:latin typeface="微软雅黑"/>
                  <a:ea typeface="微软雅黑"/>
                  <a:cs typeface="微软雅黑"/>
                </a:endParaRPr>
              </a:p>
            </p:txBody>
          </p:sp>
        </p:grpSp>
        <p:grpSp>
          <p:nvGrpSpPr>
            <p:cNvPr id="537" name="组合 536"/>
            <p:cNvGrpSpPr/>
            <p:nvPr/>
          </p:nvGrpSpPr>
          <p:grpSpPr>
            <a:xfrm>
              <a:off x="6183" y="8584"/>
              <a:ext cx="1035" cy="362"/>
              <a:chOff x="8146" y="8692"/>
              <a:chExt cx="1110" cy="362"/>
            </a:xfrm>
          </p:grpSpPr>
          <p:sp>
            <p:nvSpPr>
              <p:cNvPr id="534" name="圆角矩形 533"/>
              <p:cNvSpPr/>
              <p:nvPr/>
            </p:nvSpPr>
            <p:spPr>
              <a:xfrm>
                <a:off x="8173" y="8692"/>
                <a:ext cx="969" cy="340"/>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536" name="文本框 535"/>
              <p:cNvSpPr txBox="1"/>
              <p:nvPr/>
            </p:nvSpPr>
            <p:spPr>
              <a:xfrm>
                <a:off x="8146" y="8692"/>
                <a:ext cx="1110" cy="362"/>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360</a:t>
                </a:r>
                <a:r>
                  <a:rPr lang="zh-CN" altLang="en-US" sz="1000">
                    <a:solidFill>
                      <a:srgbClr val="383838"/>
                    </a:solidFill>
                    <a:latin typeface="微软雅黑"/>
                    <a:ea typeface="微软雅黑"/>
                    <a:cs typeface="微软雅黑"/>
                  </a:rPr>
                  <a:t>画像</a:t>
                </a:r>
                <a:endParaRPr lang="zh-CN" altLang="en-US" sz="1000">
                  <a:solidFill>
                    <a:srgbClr val="383838"/>
                  </a:solidFill>
                  <a:latin typeface="微软雅黑"/>
                  <a:ea typeface="微软雅黑"/>
                  <a:cs typeface="微软雅黑"/>
                </a:endParaRPr>
              </a:p>
            </p:txBody>
          </p:sp>
        </p:grpSp>
        <p:grpSp>
          <p:nvGrpSpPr>
            <p:cNvPr id="538" name="组合 537"/>
            <p:cNvGrpSpPr/>
            <p:nvPr/>
          </p:nvGrpSpPr>
          <p:grpSpPr>
            <a:xfrm>
              <a:off x="7110" y="8584"/>
              <a:ext cx="1125" cy="362"/>
              <a:chOff x="8049" y="8692"/>
              <a:chExt cx="1207" cy="362"/>
            </a:xfrm>
          </p:grpSpPr>
          <p:sp>
            <p:nvSpPr>
              <p:cNvPr id="539" name="圆角矩形 538"/>
              <p:cNvSpPr/>
              <p:nvPr/>
            </p:nvSpPr>
            <p:spPr>
              <a:xfrm>
                <a:off x="8173" y="8692"/>
                <a:ext cx="969" cy="340"/>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540" name="文本框 539"/>
              <p:cNvSpPr txBox="1"/>
              <p:nvPr/>
            </p:nvSpPr>
            <p:spPr>
              <a:xfrm>
                <a:off x="8049" y="8692"/>
                <a:ext cx="1207" cy="362"/>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RFM</a:t>
                </a:r>
                <a:r>
                  <a:rPr lang="zh-CN" altLang="en-US" sz="1000">
                    <a:solidFill>
                      <a:srgbClr val="383838"/>
                    </a:solidFill>
                    <a:latin typeface="微软雅黑"/>
                    <a:ea typeface="微软雅黑"/>
                    <a:cs typeface="微软雅黑"/>
                  </a:rPr>
                  <a:t>模型</a:t>
                </a:r>
                <a:endParaRPr lang="zh-CN" altLang="en-US" sz="1000">
                  <a:solidFill>
                    <a:srgbClr val="383838"/>
                  </a:solidFill>
                  <a:latin typeface="微软雅黑"/>
                  <a:ea typeface="微软雅黑"/>
                  <a:cs typeface="微软雅黑"/>
                </a:endParaRPr>
              </a:p>
            </p:txBody>
          </p:sp>
        </p:grpSp>
        <p:grpSp>
          <p:nvGrpSpPr>
            <p:cNvPr id="541" name="组合 540"/>
            <p:cNvGrpSpPr/>
            <p:nvPr/>
          </p:nvGrpSpPr>
          <p:grpSpPr>
            <a:xfrm>
              <a:off x="8217" y="8584"/>
              <a:ext cx="1035" cy="362"/>
              <a:chOff x="8146" y="8692"/>
              <a:chExt cx="1110" cy="362"/>
            </a:xfrm>
          </p:grpSpPr>
          <p:sp>
            <p:nvSpPr>
              <p:cNvPr id="542" name="圆角矩形 541"/>
              <p:cNvSpPr/>
              <p:nvPr/>
            </p:nvSpPr>
            <p:spPr>
              <a:xfrm>
                <a:off x="8173" y="8692"/>
                <a:ext cx="969" cy="340"/>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543" name="文本框 542"/>
              <p:cNvSpPr txBox="1"/>
              <p:nvPr/>
            </p:nvSpPr>
            <p:spPr>
              <a:xfrm>
                <a:off x="8146" y="8692"/>
                <a:ext cx="1110" cy="362"/>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产品推荐</a:t>
                </a:r>
                <a:endParaRPr lang="zh-CN" altLang="en-US" sz="1000">
                  <a:solidFill>
                    <a:srgbClr val="383838"/>
                  </a:solidFill>
                  <a:latin typeface="微软雅黑"/>
                  <a:ea typeface="微软雅黑"/>
                  <a:cs typeface="微软雅黑"/>
                </a:endParaRPr>
              </a:p>
            </p:txBody>
          </p:sp>
        </p:grpSp>
      </p:grpSp>
      <p:grpSp>
        <p:nvGrpSpPr>
          <p:cNvPr id="551" name="组合 550"/>
          <p:cNvGrpSpPr/>
          <p:nvPr/>
        </p:nvGrpSpPr>
        <p:grpSpPr>
          <a:xfrm>
            <a:off x="6320155" y="5062220"/>
            <a:ext cx="2076450" cy="773430"/>
            <a:chOff x="6112" y="7972"/>
            <a:chExt cx="3270" cy="1218"/>
          </a:xfrm>
        </p:grpSpPr>
        <p:grpSp>
          <p:nvGrpSpPr>
            <p:cNvPr id="552" name="组合 551"/>
            <p:cNvGrpSpPr/>
            <p:nvPr/>
          </p:nvGrpSpPr>
          <p:grpSpPr>
            <a:xfrm>
              <a:off x="6112" y="7972"/>
              <a:ext cx="3271" cy="1218"/>
              <a:chOff x="14043" y="-655"/>
              <a:chExt cx="4787" cy="2037"/>
            </a:xfrm>
          </p:grpSpPr>
          <p:grpSp>
            <p:nvGrpSpPr>
              <p:cNvPr id="553" name="©显眼包PPT1"/>
              <p:cNvGrpSpPr/>
              <p:nvPr/>
            </p:nvGrpSpPr>
            <p:grpSpPr>
              <a:xfrm>
                <a:off x="14043" y="-655"/>
                <a:ext cx="4787" cy="2037"/>
                <a:chOff x="319048" y="2416431"/>
                <a:chExt cx="3039950" cy="1293557"/>
              </a:xfrm>
            </p:grpSpPr>
            <p:sp>
              <p:nvSpPr>
                <p:cNvPr id="554" name="©显眼包PPT1-1"/>
                <p:cNvSpPr/>
                <p:nvPr/>
              </p:nvSpPr>
              <p:spPr>
                <a:xfrm>
                  <a:off x="327668" y="2416431"/>
                  <a:ext cx="3031330" cy="116492"/>
                </a:xfrm>
                <a:prstGeom prst="parallelogram">
                  <a:avLst>
                    <a:gd name="adj" fmla="val 125865"/>
                  </a:avLst>
                </a:prstGeom>
                <a:gradFill flip="none" rotWithShape="1">
                  <a:gsLst>
                    <a:gs pos="0">
                      <a:srgbClr val="3368FF">
                        <a:alpha val="50000"/>
                      </a:srgbClr>
                    </a:gs>
                    <a:gs pos="100000">
                      <a:srgbClr val="3368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55" name="©显眼包PPT1-2"/>
                <p:cNvSpPr/>
                <p:nvPr/>
              </p:nvSpPr>
              <p:spPr>
                <a:xfrm rot="16200000" flipH="1">
                  <a:off x="2632735" y="2993215"/>
                  <a:ext cx="1281110" cy="152435"/>
                </a:xfrm>
                <a:prstGeom prst="parallelogram">
                  <a:avLst>
                    <a:gd name="adj" fmla="val 77381"/>
                  </a:avLst>
                </a:prstGeom>
                <a:gradFill>
                  <a:gsLst>
                    <a:gs pos="0">
                      <a:srgbClr val="3368FF">
                        <a:alpha val="60000"/>
                      </a:srgbClr>
                    </a:gs>
                    <a:gs pos="99000">
                      <a:srgbClr val="3368FF">
                        <a:alpha val="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56" name="©显眼包PPT1-3"/>
                <p:cNvSpPr/>
                <p:nvPr/>
              </p:nvSpPr>
              <p:spPr>
                <a:xfrm flipH="1">
                  <a:off x="319048" y="2527300"/>
                  <a:ext cx="2901043" cy="1165353"/>
                </a:xfrm>
                <a:prstGeom prst="roundRect">
                  <a:avLst>
                    <a:gd name="adj" fmla="val 4679"/>
                  </a:avLst>
                </a:prstGeom>
                <a:solidFill>
                  <a:srgbClr val="FFFFFF"/>
                </a:solidFill>
                <a:ln w="25400">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557" name="©显眼包PPT2"/>
              <p:cNvSpPr/>
              <p:nvPr/>
            </p:nvSpPr>
            <p:spPr>
              <a:xfrm flipH="1">
                <a:off x="14734" y="-447"/>
                <a:ext cx="3188" cy="550"/>
              </a:xfrm>
              <a:custGeom>
                <a:avLst/>
                <a:gdLst>
                  <a:gd name="connsiteX0" fmla="*/ 718 w 1790049"/>
                  <a:gd name="connsiteY0" fmla="*/ 0 h 237380"/>
                  <a:gd name="connsiteX1" fmla="*/ 1789332 w 1790049"/>
                  <a:gd name="connsiteY1" fmla="*/ 0 h 237380"/>
                  <a:gd name="connsiteX2" fmla="*/ 1790049 w 1790049"/>
                  <a:gd name="connsiteY2" fmla="*/ 4297 h 237380"/>
                  <a:gd name="connsiteX3" fmla="*/ 1725074 w 1790049"/>
                  <a:gd name="connsiteY3" fmla="*/ 212122 h 237380"/>
                  <a:gd name="connsiteX4" fmla="*/ 1690714 w 1790049"/>
                  <a:gd name="connsiteY4" fmla="*/ 237380 h 237380"/>
                  <a:gd name="connsiteX5" fmla="*/ 99335 w 1790049"/>
                  <a:gd name="connsiteY5" fmla="*/ 237380 h 237380"/>
                  <a:gd name="connsiteX6" fmla="*/ 64975 w 1790049"/>
                  <a:gd name="connsiteY6" fmla="*/ 212122 h 237380"/>
                  <a:gd name="connsiteX7" fmla="*/ 0 w 1790049"/>
                  <a:gd name="connsiteY7" fmla="*/ 4297 h 23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0049" h="237380">
                    <a:moveTo>
                      <a:pt x="718" y="0"/>
                    </a:moveTo>
                    <a:lnTo>
                      <a:pt x="1789332" y="0"/>
                    </a:lnTo>
                    <a:lnTo>
                      <a:pt x="1790049" y="4297"/>
                    </a:lnTo>
                    <a:lnTo>
                      <a:pt x="1725074" y="212122"/>
                    </a:lnTo>
                    <a:cubicBezTo>
                      <a:pt x="1720376" y="227151"/>
                      <a:pt x="1706460" y="237380"/>
                      <a:pt x="1690714" y="237380"/>
                    </a:cubicBezTo>
                    <a:lnTo>
                      <a:pt x="99335" y="237380"/>
                    </a:lnTo>
                    <a:cubicBezTo>
                      <a:pt x="83589" y="237380"/>
                      <a:pt x="69673" y="227151"/>
                      <a:pt x="64975" y="212122"/>
                    </a:cubicBezTo>
                    <a:lnTo>
                      <a:pt x="0" y="4297"/>
                    </a:lnTo>
                    <a:close/>
                  </a:path>
                </a:pathLst>
              </a:custGeom>
              <a:gradFill>
                <a:gsLst>
                  <a:gs pos="0">
                    <a:srgbClr val="0042FF"/>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数据中台与</a:t>
                </a:r>
                <a:r>
                  <a:rPr lang="en-US" altLang="zh-CN" sz="1000" b="1" dirty="0">
                    <a:solidFill>
                      <a:srgbClr val="FFFFFF"/>
                    </a:solidFill>
                    <a:latin typeface="微软雅黑"/>
                    <a:ea typeface="微软雅黑"/>
                    <a:cs typeface="微软雅黑"/>
                  </a:rPr>
                  <a:t>CDP</a:t>
                </a:r>
                <a:r>
                  <a:rPr lang="zh-CN" altLang="en-US" sz="1000" b="1" dirty="0">
                    <a:solidFill>
                      <a:srgbClr val="FFFFFF"/>
                    </a:solidFill>
                    <a:latin typeface="微软雅黑"/>
                    <a:ea typeface="微软雅黑"/>
                    <a:cs typeface="微软雅黑"/>
                  </a:rPr>
                  <a:t>系统</a:t>
                </a:r>
                <a:endParaRPr lang="zh-CN" altLang="en-US" sz="1000" b="1" dirty="0">
                  <a:solidFill>
                    <a:srgbClr val="FFFFFF"/>
                  </a:solidFill>
                  <a:latin typeface="微软雅黑"/>
                  <a:ea typeface="微软雅黑"/>
                  <a:cs typeface="微软雅黑"/>
                </a:endParaRPr>
              </a:p>
            </p:txBody>
          </p:sp>
        </p:grpSp>
        <p:grpSp>
          <p:nvGrpSpPr>
            <p:cNvPr id="558" name="组合 557"/>
            <p:cNvGrpSpPr/>
            <p:nvPr/>
          </p:nvGrpSpPr>
          <p:grpSpPr>
            <a:xfrm>
              <a:off x="6183" y="8584"/>
              <a:ext cx="1035" cy="362"/>
              <a:chOff x="8146" y="8692"/>
              <a:chExt cx="1110" cy="362"/>
            </a:xfrm>
          </p:grpSpPr>
          <p:sp>
            <p:nvSpPr>
              <p:cNvPr id="559" name="圆角矩形 558"/>
              <p:cNvSpPr/>
              <p:nvPr/>
            </p:nvSpPr>
            <p:spPr>
              <a:xfrm>
                <a:off x="8173" y="8692"/>
                <a:ext cx="969" cy="340"/>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560" name="文本框 559"/>
              <p:cNvSpPr txBox="1"/>
              <p:nvPr/>
            </p:nvSpPr>
            <p:spPr>
              <a:xfrm>
                <a:off x="8146" y="8692"/>
                <a:ext cx="1110" cy="362"/>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全域数据</a:t>
                </a:r>
                <a:endParaRPr lang="zh-CN" sz="1000">
                  <a:solidFill>
                    <a:srgbClr val="383838"/>
                  </a:solidFill>
                  <a:latin typeface="微软雅黑"/>
                  <a:ea typeface="微软雅黑"/>
                  <a:cs typeface="微软雅黑"/>
                </a:endParaRPr>
              </a:p>
            </p:txBody>
          </p:sp>
        </p:grpSp>
        <p:grpSp>
          <p:nvGrpSpPr>
            <p:cNvPr id="561" name="组合 560"/>
            <p:cNvGrpSpPr/>
            <p:nvPr/>
          </p:nvGrpSpPr>
          <p:grpSpPr>
            <a:xfrm>
              <a:off x="7110" y="8584"/>
              <a:ext cx="1125" cy="362"/>
              <a:chOff x="8049" y="8692"/>
              <a:chExt cx="1207" cy="362"/>
            </a:xfrm>
          </p:grpSpPr>
          <p:sp>
            <p:nvSpPr>
              <p:cNvPr id="562" name="圆角矩形 561"/>
              <p:cNvSpPr/>
              <p:nvPr/>
            </p:nvSpPr>
            <p:spPr>
              <a:xfrm>
                <a:off x="8173" y="8692"/>
                <a:ext cx="969" cy="340"/>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563" name="文本框 562"/>
              <p:cNvSpPr txBox="1"/>
              <p:nvPr/>
            </p:nvSpPr>
            <p:spPr>
              <a:xfrm>
                <a:off x="8049" y="8692"/>
                <a:ext cx="1207" cy="362"/>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行为分析</a:t>
                </a:r>
                <a:endParaRPr lang="zh-CN" sz="1000">
                  <a:solidFill>
                    <a:srgbClr val="383838"/>
                  </a:solidFill>
                  <a:latin typeface="微软雅黑"/>
                  <a:ea typeface="微软雅黑"/>
                  <a:cs typeface="微软雅黑"/>
                </a:endParaRPr>
              </a:p>
            </p:txBody>
          </p:sp>
        </p:grpSp>
        <p:grpSp>
          <p:nvGrpSpPr>
            <p:cNvPr id="564" name="组合 563"/>
            <p:cNvGrpSpPr/>
            <p:nvPr/>
          </p:nvGrpSpPr>
          <p:grpSpPr>
            <a:xfrm>
              <a:off x="8217" y="8584"/>
              <a:ext cx="1035" cy="362"/>
              <a:chOff x="8146" y="8692"/>
              <a:chExt cx="1110" cy="362"/>
            </a:xfrm>
          </p:grpSpPr>
          <p:sp>
            <p:nvSpPr>
              <p:cNvPr id="565" name="圆角矩形 564"/>
              <p:cNvSpPr/>
              <p:nvPr/>
            </p:nvSpPr>
            <p:spPr>
              <a:xfrm>
                <a:off x="8173" y="8692"/>
                <a:ext cx="969" cy="340"/>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566" name="文本框 565"/>
              <p:cNvSpPr txBox="1"/>
              <p:nvPr/>
            </p:nvSpPr>
            <p:spPr>
              <a:xfrm>
                <a:off x="8146" y="8692"/>
                <a:ext cx="1110" cy="362"/>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服务输出</a:t>
                </a:r>
                <a:endParaRPr lang="zh-CN" altLang="en-US" sz="1000">
                  <a:solidFill>
                    <a:srgbClr val="383838"/>
                  </a:solidFill>
                  <a:latin typeface="微软雅黑"/>
                  <a:ea typeface="微软雅黑"/>
                  <a:cs typeface="微软雅黑"/>
                </a:endParaRPr>
              </a:p>
            </p:txBody>
          </p:sp>
        </p:grpSp>
      </p:grpSp>
      <p:sp>
        <p:nvSpPr>
          <p:cNvPr id="583" name="显眼包PPT-1"/>
          <p:cNvSpPr/>
          <p:nvPr/>
        </p:nvSpPr>
        <p:spPr>
          <a:xfrm>
            <a:off x="4333240" y="3654425"/>
            <a:ext cx="424180" cy="332105"/>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latin typeface="微软雅黑"/>
                <a:ea typeface="微软雅黑"/>
              </a:rPr>
              <a:t>企微</a:t>
            </a:r>
            <a:endParaRPr lang="zh-CN" altLang="en-US" sz="1000" dirty="0">
              <a:solidFill>
                <a:srgbClr val="383838"/>
              </a:solidFill>
              <a:cs typeface="微软雅黑"/>
              <a:latin typeface="微软雅黑"/>
              <a:ea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latin typeface="微软雅黑"/>
                <a:ea typeface="微软雅黑"/>
              </a:rPr>
              <a:t>社群</a:t>
            </a:r>
            <a:endParaRPr lang="zh-CN" altLang="en-US" sz="1000" dirty="0">
              <a:solidFill>
                <a:srgbClr val="383838"/>
              </a:solidFill>
              <a:cs typeface="微软雅黑"/>
              <a:latin typeface="微软雅黑"/>
              <a:ea typeface="微软雅黑"/>
            </a:endParaRPr>
          </a:p>
        </p:txBody>
      </p:sp>
      <p:sp>
        <p:nvSpPr>
          <p:cNvPr id="584" name="显眼包PPT-1"/>
          <p:cNvSpPr/>
          <p:nvPr/>
        </p:nvSpPr>
        <p:spPr>
          <a:xfrm>
            <a:off x="4853940" y="3649980"/>
            <a:ext cx="424180" cy="336550"/>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latin typeface="微软雅黑"/>
                <a:ea typeface="微软雅黑"/>
              </a:rPr>
              <a:t>品牌</a:t>
            </a:r>
            <a:endParaRPr lang="zh-CN" altLang="en-US" sz="1000" dirty="0">
              <a:solidFill>
                <a:srgbClr val="383838"/>
              </a:solidFill>
              <a:cs typeface="微软雅黑"/>
              <a:latin typeface="微软雅黑"/>
              <a:ea typeface="微软雅黑"/>
            </a:endParaRPr>
          </a:p>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cs typeface="微软雅黑"/>
                <a:latin typeface="微软雅黑"/>
                <a:ea typeface="微软雅黑"/>
              </a:rPr>
              <a:t>APP</a:t>
            </a:r>
            <a:endParaRPr lang="en-US" altLang="zh-CN" sz="1000" dirty="0">
              <a:solidFill>
                <a:srgbClr val="383838"/>
              </a:solidFill>
              <a:cs typeface="微软雅黑"/>
              <a:latin typeface="微软雅黑"/>
              <a:ea typeface="微软雅黑"/>
            </a:endParaRPr>
          </a:p>
        </p:txBody>
      </p:sp>
      <p:sp>
        <p:nvSpPr>
          <p:cNvPr id="585" name="显眼包PPT-1"/>
          <p:cNvSpPr/>
          <p:nvPr/>
        </p:nvSpPr>
        <p:spPr>
          <a:xfrm>
            <a:off x="4327525" y="3999230"/>
            <a:ext cx="424180" cy="336550"/>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latin typeface="微软雅黑"/>
                <a:ea typeface="微软雅黑"/>
              </a:rPr>
              <a:t>微信</a:t>
            </a:r>
            <a:endParaRPr lang="zh-CN" altLang="en-US" sz="1000" dirty="0">
              <a:solidFill>
                <a:srgbClr val="383838"/>
              </a:solidFill>
              <a:cs typeface="微软雅黑"/>
              <a:latin typeface="微软雅黑"/>
              <a:ea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latin typeface="微软雅黑"/>
                <a:ea typeface="微软雅黑"/>
              </a:rPr>
              <a:t>公众号</a:t>
            </a:r>
            <a:endParaRPr lang="zh-CN" altLang="en-US" sz="1000" dirty="0">
              <a:solidFill>
                <a:srgbClr val="383838"/>
              </a:solidFill>
              <a:cs typeface="微软雅黑"/>
              <a:latin typeface="微软雅黑"/>
              <a:ea typeface="微软雅黑"/>
            </a:endParaRPr>
          </a:p>
        </p:txBody>
      </p:sp>
      <p:sp>
        <p:nvSpPr>
          <p:cNvPr id="586" name="显眼包PPT-1"/>
          <p:cNvSpPr/>
          <p:nvPr/>
        </p:nvSpPr>
        <p:spPr>
          <a:xfrm>
            <a:off x="4859020" y="4001135"/>
            <a:ext cx="424180" cy="336550"/>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cs typeface="微软雅黑"/>
                <a:latin typeface="微软雅黑"/>
                <a:ea typeface="微软雅黑"/>
              </a:rPr>
              <a:t>线下</a:t>
            </a:r>
            <a:endParaRPr lang="zh-CN" sz="1000" dirty="0">
              <a:solidFill>
                <a:srgbClr val="383838"/>
              </a:solidFill>
              <a:cs typeface="微软雅黑"/>
              <a:latin typeface="微软雅黑"/>
              <a:ea typeface="微软雅黑"/>
            </a:endParaRPr>
          </a:p>
          <a:p>
            <a:pPr algn="ctr">
              <a:defRPr>
                <a:latin typeface="微软雅黑"/>
                <a:ea typeface="微软雅黑"/>
                <a:cs typeface="微软雅黑"/>
              </a:defRPr>
              <a:lnSpc>
                <a:spcPts val="1120"/>
              </a:lnSpc>
              <a:spcBef>
                <a:spcPts val="0"/>
              </a:spcBef>
              <a:spcAft>
                <a:spcPts val="0"/>
              </a:spcAft>
            </a:pPr>
            <a:r>
              <a:rPr lang="zh-CN" sz="1000" dirty="0">
                <a:solidFill>
                  <a:srgbClr val="383838"/>
                </a:solidFill>
                <a:cs typeface="微软雅黑"/>
                <a:latin typeface="微软雅黑"/>
                <a:ea typeface="微软雅黑"/>
              </a:rPr>
              <a:t>导流</a:t>
            </a:r>
            <a:endParaRPr lang="zh-CN" sz="1000" dirty="0">
              <a:solidFill>
                <a:srgbClr val="383838"/>
              </a:solidFill>
              <a:cs typeface="微软雅黑"/>
              <a:latin typeface="微软雅黑"/>
              <a:ea typeface="微软雅黑"/>
            </a:endParaRPr>
          </a:p>
        </p:txBody>
      </p:sp>
      <p:sp>
        <p:nvSpPr>
          <p:cNvPr id="587" name="显眼包PPT-1"/>
          <p:cNvSpPr/>
          <p:nvPr/>
        </p:nvSpPr>
        <p:spPr>
          <a:xfrm>
            <a:off x="5410200" y="3652520"/>
            <a:ext cx="424180" cy="336550"/>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cs typeface="微软雅黑"/>
                <a:latin typeface="微软雅黑"/>
                <a:ea typeface="微软雅黑"/>
              </a:rPr>
              <a:t>微信</a:t>
            </a:r>
            <a:endParaRPr lang="zh-CN" sz="1000" dirty="0">
              <a:solidFill>
                <a:srgbClr val="383838"/>
              </a:solidFill>
              <a:cs typeface="微软雅黑"/>
              <a:latin typeface="微软雅黑"/>
              <a:ea typeface="微软雅黑"/>
            </a:endParaRPr>
          </a:p>
          <a:p>
            <a:pPr algn="ctr">
              <a:defRPr>
                <a:latin typeface="微软雅黑"/>
                <a:ea typeface="微软雅黑"/>
                <a:cs typeface="微软雅黑"/>
              </a:defRPr>
              <a:lnSpc>
                <a:spcPts val="1120"/>
              </a:lnSpc>
              <a:spcBef>
                <a:spcPts val="0"/>
              </a:spcBef>
              <a:spcAft>
                <a:spcPts val="0"/>
              </a:spcAft>
            </a:pPr>
            <a:r>
              <a:rPr lang="zh-CN" sz="1000" dirty="0">
                <a:solidFill>
                  <a:srgbClr val="383838"/>
                </a:solidFill>
                <a:cs typeface="微软雅黑"/>
                <a:latin typeface="微软雅黑"/>
                <a:ea typeface="微软雅黑"/>
              </a:rPr>
              <a:t>小程序</a:t>
            </a:r>
            <a:endParaRPr lang="zh-CN" sz="1000" dirty="0">
              <a:solidFill>
                <a:srgbClr val="383838"/>
              </a:solidFill>
              <a:cs typeface="微软雅黑"/>
              <a:latin typeface="微软雅黑"/>
              <a:ea typeface="微软雅黑"/>
            </a:endParaRPr>
          </a:p>
        </p:txBody>
      </p:sp>
      <p:sp>
        <p:nvSpPr>
          <p:cNvPr id="588" name="显眼包PPT-1"/>
          <p:cNvSpPr/>
          <p:nvPr/>
        </p:nvSpPr>
        <p:spPr>
          <a:xfrm>
            <a:off x="5344160" y="4003675"/>
            <a:ext cx="546100" cy="317500"/>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cs typeface="微软雅黑"/>
                <a:latin typeface="微软雅黑"/>
                <a:ea typeface="微软雅黑"/>
              </a:rPr>
              <a:t>VIP</a:t>
            </a:r>
            <a:br/>
            <a:r>
              <a:rPr lang="zh-CN" altLang="en-US" sz="1000" dirty="0">
                <a:solidFill>
                  <a:srgbClr val="383838"/>
                </a:solidFill>
                <a:cs typeface="微软雅黑"/>
                <a:latin typeface="微软雅黑"/>
                <a:ea typeface="微软雅黑"/>
              </a:rPr>
              <a:t>专</a:t>
            </a:r>
            <a:r>
              <a:rPr lang="zh-CN" altLang="en-US" sz="1000" dirty="0">
                <a:solidFill>
                  <a:srgbClr val="383838"/>
                </a:solidFill>
                <a:cs typeface="微软雅黑"/>
                <a:latin typeface="微软雅黑"/>
                <a:ea typeface="微软雅黑"/>
              </a:rPr>
              <a:t>属运营</a:t>
            </a:r>
            <a:endParaRPr lang="zh-CN" altLang="en-US" sz="1000" dirty="0">
              <a:solidFill>
                <a:srgbClr val="383838"/>
              </a:solidFill>
              <a:cs typeface="微软雅黑"/>
              <a:latin typeface="微软雅黑"/>
              <a:ea typeface="微软雅黑"/>
            </a:endParaRPr>
          </a:p>
        </p:txBody>
      </p:sp>
      <p:grpSp>
        <p:nvGrpSpPr>
          <p:cNvPr id="592" name="组合 591"/>
          <p:cNvGrpSpPr/>
          <p:nvPr/>
        </p:nvGrpSpPr>
        <p:grpSpPr>
          <a:xfrm>
            <a:off x="4008755" y="3649980"/>
            <a:ext cx="272415" cy="614680"/>
            <a:chOff x="6392" y="5910"/>
            <a:chExt cx="429" cy="968"/>
          </a:xfrm>
        </p:grpSpPr>
        <p:sp>
          <p:nvSpPr>
            <p:cNvPr id="590" name="内容占位符 20"/>
            <p:cNvSpPr txBox="1"/>
            <p:nvPr/>
          </p:nvSpPr>
          <p:spPr>
            <a:xfrm>
              <a:off x="6392" y="5920"/>
              <a:ext cx="414" cy="959"/>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微软雅黑"/>
                <a:buNone/>
                <a:defRPr sz="1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sz="1000" b="1" dirty="0">
                  <a:solidFill>
                    <a:srgbClr val="383838"/>
                  </a:solidFill>
                  <a:effectLst/>
                  <a:cs typeface="微软雅黑"/>
                  <a:latin typeface="微软雅黑"/>
                  <a:ea typeface="微软雅黑"/>
                </a:rPr>
                <a:t>私域渠道</a:t>
              </a:r>
              <a:endParaRPr lang="zh-CN" sz="1000" b="1" dirty="0">
                <a:solidFill>
                  <a:srgbClr val="383838"/>
                </a:solidFill>
                <a:effectLst/>
                <a:cs typeface="微软雅黑"/>
                <a:latin typeface="微软雅黑"/>
                <a:ea typeface="微软雅黑"/>
              </a:endParaRPr>
            </a:p>
          </p:txBody>
        </p:sp>
        <p:sp>
          <p:nvSpPr>
            <p:cNvPr id="591" name="内容占位符 20"/>
            <p:cNvSpPr txBox="1"/>
            <p:nvPr/>
          </p:nvSpPr>
          <p:spPr>
            <a:xfrm>
              <a:off x="6392" y="5920"/>
              <a:ext cx="414" cy="959"/>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微软雅黑"/>
                <a:buNone/>
                <a:defRPr sz="1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sz="1000" b="1" dirty="0">
                  <a:gradFill>
                    <a:gsLst>
                      <a:gs pos="0">
                        <a:srgbClr val="0042FF"/>
                      </a:gs>
                      <a:gs pos="100000">
                        <a:srgbClr val="0042FF"/>
                      </a:gs>
                    </a:gsLst>
                    <a:lin ang="5400000" scaled="0"/>
                  </a:gradFill>
                  <a:effectLst/>
                  <a:cs typeface="微软雅黑"/>
                  <a:latin typeface="微软雅黑"/>
                  <a:ea typeface="微软雅黑"/>
                </a:rPr>
                <a:t>私域渠道</a:t>
              </a:r>
              <a:endParaRPr lang="zh-CN" sz="1000" b="1" dirty="0">
                <a:gradFill>
                  <a:gsLst>
                    <a:gs pos="0">
                      <a:srgbClr val="0042FF"/>
                    </a:gs>
                    <a:gs pos="100000">
                      <a:srgbClr val="0042FF"/>
                    </a:gs>
                  </a:gsLst>
                  <a:lin ang="5400000" scaled="0"/>
                </a:gradFill>
                <a:effectLst/>
                <a:cs typeface="微软雅黑"/>
                <a:latin typeface="微软雅黑"/>
                <a:ea typeface="微软雅黑"/>
              </a:endParaRPr>
            </a:p>
          </p:txBody>
        </p:sp>
      </p:grpSp>
      <p:grpSp>
        <p:nvGrpSpPr>
          <p:cNvPr id="594" name="组合 593"/>
          <p:cNvGrpSpPr/>
          <p:nvPr/>
        </p:nvGrpSpPr>
        <p:grpSpPr>
          <a:xfrm>
            <a:off x="7861300" y="3649980"/>
            <a:ext cx="271780" cy="614045"/>
            <a:chOff x="6393" y="5910"/>
            <a:chExt cx="428" cy="967"/>
          </a:xfrm>
        </p:grpSpPr>
        <p:sp>
          <p:nvSpPr>
            <p:cNvPr id="595" name="内容占位符 20"/>
            <p:cNvSpPr txBox="1"/>
            <p:nvPr/>
          </p:nvSpPr>
          <p:spPr>
            <a:xfrm>
              <a:off x="6393" y="5918"/>
              <a:ext cx="414" cy="959"/>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微软雅黑"/>
                <a:buNone/>
                <a:defRPr sz="1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sz="1000" b="1" dirty="0">
                  <a:solidFill>
                    <a:srgbClr val="383838"/>
                  </a:solidFill>
                  <a:effectLst/>
                  <a:cs typeface="微软雅黑"/>
                  <a:latin typeface="微软雅黑"/>
                  <a:ea typeface="微软雅黑"/>
                </a:rPr>
                <a:t>公域渠道</a:t>
              </a:r>
              <a:endParaRPr lang="zh-CN" sz="1000" b="1" dirty="0">
                <a:solidFill>
                  <a:srgbClr val="383838"/>
                </a:solidFill>
                <a:effectLst/>
                <a:cs typeface="微软雅黑"/>
                <a:latin typeface="微软雅黑"/>
                <a:ea typeface="微软雅黑"/>
              </a:endParaRPr>
            </a:p>
          </p:txBody>
        </p:sp>
        <p:sp>
          <p:nvSpPr>
            <p:cNvPr id="596" name="内容占位符 20"/>
            <p:cNvSpPr txBox="1"/>
            <p:nvPr/>
          </p:nvSpPr>
          <p:spPr>
            <a:xfrm>
              <a:off x="6393" y="5918"/>
              <a:ext cx="414" cy="959"/>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微软雅黑"/>
                <a:buNone/>
                <a:defRPr sz="1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b="1" dirty="0">
                  <a:gradFill>
                    <a:gsLst>
                      <a:gs pos="0">
                        <a:srgbClr val="0042FF"/>
                      </a:gs>
                      <a:gs pos="100000">
                        <a:srgbClr val="0042FF"/>
                      </a:gs>
                    </a:gsLst>
                    <a:lin ang="5400000" scaled="0"/>
                  </a:gradFill>
                  <a:effectLst/>
                  <a:cs typeface="微软雅黑"/>
                  <a:latin typeface="微软雅黑"/>
                  <a:ea typeface="微软雅黑"/>
                </a:rPr>
                <a:t>公域渠道</a:t>
              </a:r>
              <a:endParaRPr lang="zh-CN" altLang="en-US" sz="1000" b="1" dirty="0">
                <a:gradFill>
                  <a:gsLst>
                    <a:gs pos="0">
                      <a:srgbClr val="0042FF"/>
                    </a:gs>
                    <a:gs pos="100000">
                      <a:srgbClr val="0042FF"/>
                    </a:gs>
                  </a:gsLst>
                  <a:lin ang="5400000" scaled="0"/>
                </a:gradFill>
                <a:effectLst/>
                <a:cs typeface="微软雅黑"/>
                <a:latin typeface="微软雅黑"/>
                <a:ea typeface="微软雅黑"/>
              </a:endParaRPr>
            </a:p>
          </p:txBody>
        </p:sp>
      </p:grpSp>
      <p:sp>
        <p:nvSpPr>
          <p:cNvPr id="602" name="显眼包PPT-1"/>
          <p:cNvSpPr/>
          <p:nvPr/>
        </p:nvSpPr>
        <p:spPr>
          <a:xfrm>
            <a:off x="6294120" y="3517900"/>
            <a:ext cx="1512570" cy="444500"/>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endParaRPr lang="zh-CN" altLang="en-US" sz="1000" dirty="0">
              <a:solidFill>
                <a:srgbClr val="383838"/>
              </a:solidFill>
              <a:cs typeface="微软雅黑"/>
              <a:latin typeface="微软雅黑"/>
              <a:ea typeface="微软雅黑"/>
            </a:endParaRPr>
          </a:p>
        </p:txBody>
      </p:sp>
      <p:sp>
        <p:nvSpPr>
          <p:cNvPr id="603" name="文本框 602"/>
          <p:cNvSpPr txBox="1"/>
          <p:nvPr/>
        </p:nvSpPr>
        <p:spPr>
          <a:xfrm>
            <a:off x="6319520" y="3526790"/>
            <a:ext cx="1461770" cy="431800"/>
          </a:xfrm>
          <a:prstGeom prst="rect">
            <a:avLst/>
          </a:prstGeom>
          <a:solidFill>
            <a:srgbClr val="383838">
              <a:alpha val="0"/>
            </a:srgbClr>
          </a:solidFill>
        </p:spPr>
        <p:txBody>
          <a:bodyPr wrap="square" lIns="0" rIns="0" rtlCol="0" tIns="0" bIns="0" anchor="ctr">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0042FF"/>
                </a:solidFill>
                <a:latin typeface="微软雅黑"/>
                <a:ea typeface="微软雅黑"/>
                <a:cs typeface="微软雅黑"/>
              </a:rPr>
              <a:t>平台合作：</a:t>
            </a:r>
            <a:r>
              <a:rPr lang="zh-CN" altLang="en-US" sz="1000" dirty="0">
                <a:solidFill>
                  <a:srgbClr val="383838">
                    <a:alpha val="80000"/>
                  </a:srgbClr>
                </a:solidFill>
                <a:latin typeface="微软雅黑"/>
                <a:ea typeface="微软雅黑"/>
                <a:cs typeface="微软雅黑"/>
              </a:rPr>
              <a:t>通过抖音、天猫品牌号等公域入口吸引泛流量。</a:t>
            </a:r>
            <a:endParaRPr lang="zh-CN" altLang="en-US" sz="1000" dirty="0">
              <a:solidFill>
                <a:srgbClr val="383838">
                  <a:alpha val="80000"/>
                </a:srgbClr>
              </a:solidFill>
              <a:latin typeface="微软雅黑"/>
              <a:ea typeface="微软雅黑"/>
              <a:cs typeface="微软雅黑"/>
            </a:endParaRPr>
          </a:p>
        </p:txBody>
      </p:sp>
      <p:sp>
        <p:nvSpPr>
          <p:cNvPr id="605" name="显眼包PPT-1"/>
          <p:cNvSpPr/>
          <p:nvPr/>
        </p:nvSpPr>
        <p:spPr>
          <a:xfrm>
            <a:off x="6289675" y="4000500"/>
            <a:ext cx="1512570" cy="444500"/>
          </a:xfrm>
          <a:prstGeom prst="roundRect">
            <a:avLst/>
          </a:prstGeom>
          <a:solidFill>
            <a:srgbClr val="FFFFFF">
              <a:alpha val="50000"/>
            </a:srgbClr>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endParaRPr lang="zh-CN" altLang="en-US" sz="1000" dirty="0">
              <a:solidFill>
                <a:srgbClr val="383838"/>
              </a:solidFill>
              <a:cs typeface="微软雅黑"/>
              <a:latin typeface="微软雅黑"/>
              <a:ea typeface="微软雅黑"/>
            </a:endParaRPr>
          </a:p>
        </p:txBody>
      </p:sp>
      <p:sp>
        <p:nvSpPr>
          <p:cNvPr id="607" name="文本框 606"/>
          <p:cNvSpPr txBox="1"/>
          <p:nvPr/>
        </p:nvSpPr>
        <p:spPr>
          <a:xfrm>
            <a:off x="6315075" y="4009390"/>
            <a:ext cx="1461770" cy="431800"/>
          </a:xfrm>
          <a:prstGeom prst="rect">
            <a:avLst/>
          </a:prstGeom>
          <a:solidFill>
            <a:srgbClr val="383838">
              <a:alpha val="0"/>
            </a:srgbClr>
          </a:solidFill>
        </p:spPr>
        <p:txBody>
          <a:bodyPr wrap="square" lIns="0" rIns="0" rtlCol="0" tIns="0" bIns="0" anchor="ctr">
            <a:noAutofit/>
          </a:bodyPr>
          <a:lstStyle/>
          <a:p>
            <a:pPr algn="ctr">
              <a:defRPr>
                <a:latin typeface="微软雅黑"/>
                <a:ea typeface="微软雅黑"/>
                <a:cs typeface="微软雅黑"/>
              </a:defRPr>
              <a:lnSpc>
                <a:spcPts val="1120"/>
              </a:lnSpc>
              <a:spcBef>
                <a:spcPts val="0"/>
              </a:spcBef>
              <a:spcAft>
                <a:spcPts val="0"/>
              </a:spcAft>
            </a:pPr>
            <a:r>
              <a:rPr lang="en-US" altLang="zh-CN" sz="1000" b="1" dirty="0">
                <a:solidFill>
                  <a:srgbClr val="0042FF"/>
                </a:solidFill>
                <a:latin typeface="微软雅黑"/>
                <a:ea typeface="微软雅黑"/>
                <a:cs typeface="微软雅黑"/>
              </a:rPr>
              <a:t>IP</a:t>
            </a:r>
            <a:r>
              <a:rPr lang="zh-CN" altLang="en-US" sz="1000" b="1" dirty="0">
                <a:solidFill>
                  <a:srgbClr val="0042FF"/>
                </a:solidFill>
                <a:latin typeface="微软雅黑"/>
                <a:ea typeface="微软雅黑"/>
                <a:cs typeface="微软雅黑"/>
              </a:rPr>
              <a:t>联动：</a:t>
            </a:r>
            <a:r>
              <a:rPr lang="zh-CN" altLang="en-US" sz="1000" dirty="0">
                <a:solidFill>
                  <a:srgbClr val="383838">
                    <a:alpha val="80000"/>
                  </a:srgbClr>
                </a:solidFill>
                <a:latin typeface="微软雅黑"/>
                <a:ea typeface="微软雅黑"/>
                <a:cs typeface="微软雅黑"/>
              </a:rPr>
              <a:t>联合头部主播</a:t>
            </a:r>
            <a:r>
              <a:rPr lang="en-US" altLang="zh-CN" sz="1000" dirty="0">
                <a:solidFill>
                  <a:srgbClr val="383838">
                    <a:alpha val="80000"/>
                  </a:srgbClr>
                </a:solidFill>
                <a:latin typeface="微软雅黑"/>
                <a:ea typeface="微软雅黑"/>
                <a:cs typeface="微软雅黑"/>
              </a:rPr>
              <a:t>/KOL</a:t>
            </a:r>
            <a:r>
              <a:rPr lang="zh-CN" altLang="en-US" sz="1000" dirty="0">
                <a:solidFill>
                  <a:srgbClr val="383838">
                    <a:alpha val="80000"/>
                  </a:srgbClr>
                </a:solidFill>
                <a:latin typeface="微软雅黑"/>
                <a:ea typeface="微软雅黑"/>
                <a:cs typeface="微软雅黑"/>
              </a:rPr>
              <a:t>打造爆款，引导用户跳转私域。</a:t>
            </a:r>
            <a:endParaRPr lang="zh-CN" altLang="en-US" sz="1000" dirty="0">
              <a:solidFill>
                <a:srgbClr val="383838">
                  <a:alpha val="80000"/>
                </a:srgbClr>
              </a:solidFill>
              <a:latin typeface="微软雅黑"/>
              <a:ea typeface="微软雅黑"/>
              <a:cs typeface="微软雅黑"/>
            </a:endParaRPr>
          </a:p>
        </p:txBody>
      </p:sp>
      <p:grpSp>
        <p:nvGrpSpPr>
          <p:cNvPr id="617" name="组合 616"/>
          <p:cNvGrpSpPr/>
          <p:nvPr/>
        </p:nvGrpSpPr>
        <p:grpSpPr>
          <a:xfrm flipH="1">
            <a:off x="6108065" y="998220"/>
            <a:ext cx="2506345" cy="1154430"/>
            <a:chOff x="5657" y="1548"/>
            <a:chExt cx="3947" cy="1818"/>
          </a:xfrm>
        </p:grpSpPr>
        <p:cxnSp>
          <p:nvCxnSpPr>
            <p:cNvPr id="618" name="直线连接符 128"/>
            <p:cNvCxnSpPr/>
            <p:nvPr/>
          </p:nvCxnSpPr>
          <p:spPr>
            <a:xfrm flipV="1">
              <a:off x="5686" y="1548"/>
              <a:ext cx="3918" cy="1509"/>
            </a:xfrm>
            <a:prstGeom prst="line">
              <a:avLst/>
            </a:prstGeom>
            <a:noFill/>
            <a:ln w="38100" cap="rnd" cmpd="sng" algn="ctr">
              <a:gradFill>
                <a:gsLst>
                  <a:gs pos="100000">
                    <a:srgbClr val="B3D4FE"/>
                  </a:gs>
                  <a:gs pos="0">
                    <a:srgbClr val="3368FF"/>
                  </a:gs>
                </a:gsLst>
                <a:lin ang="16200000" scaled="1"/>
              </a:gradFill>
              <a:prstDash val="solid"/>
              <a:round/>
            </a:ln>
            <a:effectLst/>
          </p:spPr>
        </p:cxnSp>
        <p:sp>
          <p:nvSpPr>
            <p:cNvPr id="619" name="直角三角形 618"/>
            <p:cNvSpPr/>
            <p:nvPr/>
          </p:nvSpPr>
          <p:spPr>
            <a:xfrm rot="10800000">
              <a:off x="5657" y="3081"/>
              <a:ext cx="465" cy="285"/>
            </a:xfrm>
            <a:prstGeom prst="rtTriangle">
              <a:avLst/>
            </a:prstGeom>
            <a:gradFill>
              <a:gsLst>
                <a:gs pos="100000">
                  <a:srgbClr val="B3D4FE"/>
                </a:gs>
                <a:gs pos="0">
                  <a:srgbClr val="B3D4FE"/>
                </a:gs>
              </a:gsLst>
              <a:lin ang="0" scaled="0"/>
            </a:gradFill>
            <a:ln w="38100" cap="rnd" cmpd="sng" algn="ctr">
              <a:noFill/>
              <a:prstDash val="solid"/>
              <a:round/>
            </a:ln>
            <a:effectLst/>
          </p:spPr>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620" name="组合 619"/>
          <p:cNvGrpSpPr/>
          <p:nvPr/>
        </p:nvGrpSpPr>
        <p:grpSpPr>
          <a:xfrm>
            <a:off x="3594735" y="998220"/>
            <a:ext cx="2498090" cy="1154430"/>
            <a:chOff x="5657" y="1548"/>
            <a:chExt cx="3934" cy="1818"/>
          </a:xfrm>
        </p:grpSpPr>
        <p:cxnSp>
          <p:nvCxnSpPr>
            <p:cNvPr id="621" name="直线连接符 128"/>
            <p:cNvCxnSpPr/>
            <p:nvPr/>
          </p:nvCxnSpPr>
          <p:spPr>
            <a:xfrm flipV="1">
              <a:off x="5686" y="1548"/>
              <a:ext cx="3905" cy="1509"/>
            </a:xfrm>
            <a:prstGeom prst="line">
              <a:avLst/>
            </a:prstGeom>
            <a:noFill/>
            <a:ln w="38100" cap="rnd" cmpd="sng" algn="ctr">
              <a:gradFill>
                <a:gsLst>
                  <a:gs pos="100000">
                    <a:srgbClr val="B3D4FE"/>
                  </a:gs>
                  <a:gs pos="0">
                    <a:srgbClr val="3368FF"/>
                  </a:gs>
                </a:gsLst>
                <a:lin ang="16200000" scaled="1"/>
              </a:gradFill>
              <a:prstDash val="solid"/>
              <a:round/>
            </a:ln>
            <a:effectLst/>
          </p:spPr>
        </p:cxnSp>
        <p:sp>
          <p:nvSpPr>
            <p:cNvPr id="622" name="直角三角形 621"/>
            <p:cNvSpPr/>
            <p:nvPr/>
          </p:nvSpPr>
          <p:spPr>
            <a:xfrm rot="10800000">
              <a:off x="5657" y="3081"/>
              <a:ext cx="450" cy="285"/>
            </a:xfrm>
            <a:prstGeom prst="rtTriangle">
              <a:avLst/>
            </a:prstGeom>
            <a:gradFill>
              <a:gsLst>
                <a:gs pos="100000">
                  <a:srgbClr val="B3D4FE"/>
                </a:gs>
                <a:gs pos="0">
                  <a:srgbClr val="B3D4FE"/>
                </a:gs>
              </a:gsLst>
              <a:lin ang="0" scaled="0"/>
            </a:gradFill>
            <a:ln w="38100" cap="rnd" cmpd="sng" algn="ctr">
              <a:noFill/>
              <a:prstDash val="solid"/>
              <a:round/>
            </a:ln>
            <a:effectLst/>
          </p:spPr>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14" name="组合 13"/>
          <p:cNvGrpSpPr/>
          <p:nvPr/>
        </p:nvGrpSpPr>
        <p:grpSpPr>
          <a:xfrm>
            <a:off x="415925" y="1116965"/>
            <a:ext cx="2598420" cy="4391660"/>
            <a:chOff x="655" y="1759"/>
            <a:chExt cx="4092" cy="6916"/>
          </a:xfrm>
        </p:grpSpPr>
        <p:sp>
          <p:nvSpPr>
            <p:cNvPr id="205" name="显眼包PPT4"/>
            <p:cNvSpPr/>
            <p:nvPr/>
          </p:nvSpPr>
          <p:spPr>
            <a:xfrm>
              <a:off x="655" y="2056"/>
              <a:ext cx="4092" cy="631"/>
            </a:xfrm>
            <a:prstGeom prst="roundRect">
              <a:avLst>
                <a:gd name="adj" fmla="val 28193"/>
              </a:avLst>
            </a:prstGeom>
            <a:gradFill flip="none" rotWithShape="1">
              <a:gsLst>
                <a:gs pos="0">
                  <a:srgbClr val="3368FF"/>
                </a:gs>
                <a:gs pos="100000">
                  <a:srgbClr val="0042FF"/>
                </a:gs>
              </a:gsLst>
              <a:lin ang="0" scaled="1"/>
              <a:tileRect/>
            </a:gradFill>
            <a:ln w="9525">
              <a:gradFill flip="none" rotWithShape="1">
                <a:gsLst>
                  <a:gs pos="0">
                    <a:srgbClr val="B3D4FE"/>
                  </a:gs>
                  <a:gs pos="88000">
                    <a:srgbClr val="B3D4FE">
                      <a:alpha val="0"/>
                    </a:srgbClr>
                  </a:gs>
                </a:gsLst>
                <a:lin ang="5400000" scaled="1"/>
                <a:tileRect/>
              </a:gradFill>
              <a:prstDash val="solid"/>
            </a:ln>
            <a:effectLst>
              <a:outerShdw blurRad="190500" dist="25400" dir="16200000" rotWithShape="0">
                <a:srgbClr val="3368FF">
                  <a:alpha val="21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3" name="显眼包PPT5"/>
            <p:cNvSpPr/>
            <p:nvPr/>
          </p:nvSpPr>
          <p:spPr>
            <a:xfrm>
              <a:off x="655" y="2127"/>
              <a:ext cx="4092" cy="6548"/>
            </a:xfrm>
            <a:prstGeom prst="roundRect">
              <a:avLst>
                <a:gd name="adj" fmla="val 4488"/>
              </a:avLst>
            </a:prstGeom>
            <a:gradFill>
              <a:gsLst>
                <a:gs pos="65000">
                  <a:srgbClr val="FFFFFF"/>
                </a:gs>
                <a:gs pos="90000">
                  <a:srgbClr val="FFFFFF">
                    <a:alpha val="0"/>
                  </a:srgbClr>
                </a:gs>
              </a:gsLst>
              <a:lin ang="5400000" scaled="1"/>
            </a:gradFill>
            <a:ln w="9525">
              <a:gradFill flip="none" rotWithShape="1">
                <a:gsLst>
                  <a:gs pos="32000">
                    <a:srgbClr val="668EFF"/>
                  </a:gs>
                  <a:gs pos="100000">
                    <a:srgbClr val="3368FF"/>
                  </a:gs>
                </a:gsLst>
                <a:lin ang="5400000" scaled="1"/>
                <a:tileRect/>
              </a:gradFill>
              <a:prstDash val="solid"/>
            </a:ln>
            <a:effectLst>
              <a:outerShdw blurRad="190500" dist="25400" dir="16200000" rotWithShape="0">
                <a:srgbClr val="3368FF">
                  <a:alpha val="21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1" name="显眼包PPT2"/>
            <p:cNvSpPr/>
            <p:nvPr/>
          </p:nvSpPr>
          <p:spPr>
            <a:xfrm rot="10800000" flipH="1" flipV="1">
              <a:off x="752" y="1759"/>
              <a:ext cx="3896" cy="316"/>
            </a:xfrm>
            <a:prstGeom prst="trapezoid">
              <a:avLst>
                <a:gd name="adj" fmla="val 132773"/>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235" name="显眼包PPT1"/>
            <p:cNvGrpSpPr/>
            <p:nvPr/>
          </p:nvGrpSpPr>
          <p:grpSpPr>
            <a:xfrm rot="0">
              <a:off x="812" y="2259"/>
              <a:ext cx="3778" cy="6417"/>
              <a:chOff x="1239199" y="2593718"/>
              <a:chExt cx="2368665" cy="4074286"/>
            </a:xfrm>
          </p:grpSpPr>
          <p:sp>
            <p:nvSpPr>
              <p:cNvPr id="236" name="显眼包PPT1-1"/>
              <p:cNvSpPr/>
              <p:nvPr/>
            </p:nvSpPr>
            <p:spPr>
              <a:xfrm flipH="1" flipV="1">
                <a:off x="1240453" y="2664829"/>
                <a:ext cx="2367411" cy="4003175"/>
              </a:xfrm>
              <a:prstGeom prst="rect">
                <a:avLst/>
              </a:prstGeom>
              <a:gradFill flip="none" rotWithShape="1">
                <a:gsLst>
                  <a:gs pos="0">
                    <a:srgbClr val="3368FF">
                      <a:alpha val="21000"/>
                    </a:srgbClr>
                  </a:gs>
                  <a:gs pos="100000">
                    <a:srgbClr val="3368FF">
                      <a:alpha val="0"/>
                    </a:srgbClr>
                  </a:gs>
                </a:gsLst>
                <a:lin ang="16200000" scaled="1"/>
                <a:tileRect/>
              </a:gradFill>
              <a:ln w="6350">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39" name="显眼包PPT1-2"/>
              <p:cNvSpPr/>
              <p:nvPr/>
            </p:nvSpPr>
            <p:spPr>
              <a:xfrm>
                <a:off x="1239199" y="2593718"/>
                <a:ext cx="2367337" cy="344127"/>
              </a:xfrm>
              <a:prstGeom prst="roundRect">
                <a:avLst>
                  <a:gd name="adj" fmla="val 19452"/>
                </a:avLst>
              </a:prstGeom>
              <a:gradFill flip="none" rotWithShape="1">
                <a:gsLst>
                  <a:gs pos="0">
                    <a:srgbClr val="3368FF"/>
                  </a:gs>
                  <a:gs pos="100000">
                    <a:srgbClr val="0042FF"/>
                  </a:gs>
                </a:gsLst>
                <a:path path="circle">
                  <a:fillToRect l="100000" b="100000"/>
                </a:path>
                <a:tileRect t="-100000" r="-100000"/>
              </a:gradFill>
              <a:ln w="9525">
                <a:gradFill flip="none" rotWithShape="1">
                  <a:gsLst>
                    <a:gs pos="0">
                      <a:srgbClr val="FFFFFF">
                        <a:alpha val="0"/>
                      </a:srgbClr>
                    </a:gs>
                    <a:gs pos="100000">
                      <a:srgbClr val="B3D4FE"/>
                    </a:gs>
                  </a:gsLst>
                  <a:lin ang="16200000" scaled="1"/>
                  <a:tileRect/>
                </a:gradFill>
              </a:ln>
              <a:effectLst>
                <a:outerShdw blurRad="114300" dist="76200" dir="5400000" algn="t" rotWithShape="0">
                  <a:srgbClr val="3368FF">
                    <a:alpha val="16000"/>
                  </a:srgbClr>
                </a:outerShdw>
              </a:effectLst>
            </p:spPr>
            <p:style>
              <a:lnRef idx="2">
                <a:srgbClr val="0042FF"/>
              </a:lnRef>
              <a:fillRef idx="1">
                <a:srgbClr val="0042FF"/>
              </a:fillRef>
              <a:effectRef idx="0">
                <a:srgbClr val="0042FF"/>
              </a:effectRef>
              <a:fontRef idx="minor">
                <a:srgbClr val="FFFFFF"/>
              </a:fontRef>
            </p:style>
            <p:txBody>
              <a:bodyPr wrap="none" lIns="98865" tIns="49432" rIns="98865" bIns="49432" rtlCol="0" anchor="ctr"/>
              <a:lstStyle/>
              <a:p>
                <a:pPr algn="ctr">
                  <a:defRPr>
                    <a:solidFill>
                      <a:srgbClr val="FFFFFF"/>
                    </a:solidFill>
                    <a:latin typeface="微软雅黑"/>
                    <a:ea typeface="微软雅黑"/>
                    <a:cs typeface="微软雅黑"/>
                  </a:defRPr>
                </a:pPr>
                <a:endParaRPr lang="zh-CN" altLang="en-US" sz="1400" dirty="0">
                  <a:solidFill>
                    <a:srgbClr val="FFFFFF"/>
                  </a:solidFill>
                  <a:effectLst>
                    <a:outerShdw blurRad="50800" dist="38100" dir="5400000" algn="t" rotWithShape="0">
                      <a:srgbClr val="0042FF">
                        <a:alpha val="40000"/>
                      </a:srgbClr>
                    </a:outerShdw>
                  </a:effectLst>
                  <a:latin typeface="微软雅黑"/>
                  <a:ea typeface="微软雅黑"/>
                  <a:cs typeface="微软雅黑"/>
                  <a:sym typeface="微软雅黑"/>
                </a:endParaRPr>
              </a:p>
            </p:txBody>
          </p:sp>
        </p:grpSp>
        <p:sp>
          <p:nvSpPr>
            <p:cNvPr id="288" name="文本框 287"/>
            <p:cNvSpPr txBox="1"/>
            <p:nvPr/>
          </p:nvSpPr>
          <p:spPr>
            <a:xfrm>
              <a:off x="1116" y="2271"/>
              <a:ext cx="3222" cy="483"/>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私域一体化运营</a:t>
              </a:r>
              <a:endParaRPr lang="zh-CN" altLang="en-US" sz="1400" b="1">
                <a:solidFill>
                  <a:srgbClr val="FFFFFF"/>
                </a:solidFill>
                <a:latin typeface="微软雅黑"/>
                <a:ea typeface="微软雅黑"/>
                <a:cs typeface="微软雅黑"/>
              </a:endParaRPr>
            </a:p>
          </p:txBody>
        </p:sp>
        <p:sp>
          <p:nvSpPr>
            <p:cNvPr id="289" name="Rectangle: Top Corners Rounded 32"/>
            <p:cNvSpPr/>
            <p:nvPr/>
          </p:nvSpPr>
          <p:spPr>
            <a:xfrm>
              <a:off x="1140" y="2323"/>
              <a:ext cx="402" cy="380"/>
            </a:xfrm>
            <a:prstGeom prst="ellipse">
              <a:avLst/>
            </a:prstGeom>
            <a:solidFill>
              <a:srgbClr val="FFFFFF"/>
            </a:solidFill>
            <a:ln w="9525" cap="flat" cmpd="sng" algn="ctr">
              <a:noFill/>
              <a:prstDash val="solid"/>
              <a:miter lim="800000"/>
            </a:ln>
            <a:effectLst>
              <a:outerShdw blurRad="50800" dist="38100" dir="2700000" algn="tl" rotWithShape="0">
                <a:srgbClr val="383838">
                  <a:alpha val="40000"/>
                </a:srgbClr>
              </a:outerShdw>
            </a:effectLst>
          </p:spPr>
          <p:txBody>
            <a:bodyPr rtlCol="0" anchor="ctr"/>
            <a:lstStyle/>
            <a:p>
              <a:pPr algn="ctr">
                <a:defRPr>
                  <a:latin typeface="微软雅黑"/>
                  <a:ea typeface="微软雅黑"/>
                  <a:cs typeface="微软雅黑"/>
                </a:defRPr>
              </a:pPr>
              <a:r>
                <a:rPr lang="en-US" sz="1050" b="1" kern="0">
                  <a:solidFill>
                    <a:srgbClr val="0042FF"/>
                  </a:solidFill>
                  <a:latin typeface="微软雅黑"/>
                  <a:ea typeface="微软雅黑"/>
                  <a:cs typeface="微软雅黑"/>
                  <a:sym typeface="微软雅黑"/>
                </a:rPr>
                <a:t>4</a:t>
              </a:r>
              <a:endParaRPr lang="en-US" sz="1050" b="1" kern="0" dirty="0">
                <a:solidFill>
                  <a:srgbClr val="0042FF"/>
                </a:solidFill>
                <a:latin typeface="微软雅黑"/>
                <a:ea typeface="微软雅黑"/>
                <a:cs typeface="微软雅黑"/>
                <a:sym typeface="微软雅黑"/>
              </a:endParaRPr>
            </a:p>
          </p:txBody>
        </p:sp>
        <p:sp>
          <p:nvSpPr>
            <p:cNvPr id="291" name="圆角矩形 290"/>
            <p:cNvSpPr/>
            <p:nvPr/>
          </p:nvSpPr>
          <p:spPr>
            <a:xfrm>
              <a:off x="1084" y="3273"/>
              <a:ext cx="806" cy="743"/>
            </a:xfrm>
            <a:prstGeom prst="roundRect">
              <a:avLst/>
            </a:prstGeom>
            <a:solidFill>
              <a:srgbClr val="FFFFFF"/>
            </a:solidFill>
            <a:ln w="12700" cmpd="sng">
              <a:solidFill>
                <a:srgbClr val="3368FF"/>
              </a:solidFill>
              <a:prstDash val="sys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lstStyle/>
            <a:p>
              <a:pPr lvl="0" algn="ctr">
                <a:buClrTx/>
                <a:buSzTx/>
                <a:buFontTx/>
                <a:defRPr>
                  <a:latin typeface="微软雅黑"/>
                  <a:ea typeface="微软雅黑"/>
                  <a:cs typeface="微软雅黑"/>
                </a:defRPr>
              </a:pPr>
              <a:endParaRPr lang="zh-CN" altLang="en-US" sz="1300" b="1" dirty="0">
                <a:solidFill>
                  <a:srgbClr val="0042FF"/>
                </a:solidFill>
                <a:effectLst/>
                <a:latin typeface="微软雅黑"/>
                <a:ea typeface="微软雅黑"/>
                <a:cs typeface="微软雅黑"/>
                <a:sym typeface="微软雅黑"/>
              </a:endParaRPr>
            </a:p>
          </p:txBody>
        </p:sp>
        <p:sp>
          <p:nvSpPr>
            <p:cNvPr id="293" name="圆角矩形 292"/>
            <p:cNvSpPr/>
            <p:nvPr/>
          </p:nvSpPr>
          <p:spPr>
            <a:xfrm>
              <a:off x="2391" y="3025"/>
              <a:ext cx="1705" cy="1291"/>
            </a:xfrm>
            <a:prstGeom prst="roundRect">
              <a:avLst>
                <a:gd name="adj" fmla="val 6111"/>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94" name="圆角矩形 293"/>
            <p:cNvSpPr/>
            <p:nvPr/>
          </p:nvSpPr>
          <p:spPr>
            <a:xfrm>
              <a:off x="2484" y="3495"/>
              <a:ext cx="1517" cy="313"/>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sz="1000" dirty="0">
                  <a:solidFill>
                    <a:srgbClr val="383838"/>
                  </a:solidFill>
                  <a:effectLst/>
                  <a:latin typeface="微软雅黑"/>
                  <a:ea typeface="微软雅黑"/>
                  <a:cs typeface="微软雅黑"/>
                  <a:sym typeface="微软雅黑"/>
                </a:rPr>
                <a:t>划分用户等级</a:t>
              </a:r>
              <a:endParaRPr lang="zh-CN" sz="1000" dirty="0">
                <a:solidFill>
                  <a:srgbClr val="383838"/>
                </a:solidFill>
                <a:effectLst/>
                <a:latin typeface="微软雅黑"/>
                <a:ea typeface="微软雅黑"/>
                <a:cs typeface="微软雅黑"/>
                <a:sym typeface="微软雅黑"/>
              </a:endParaRPr>
            </a:p>
          </p:txBody>
        </p:sp>
        <p:sp>
          <p:nvSpPr>
            <p:cNvPr id="295" name="圆角矩形 294"/>
            <p:cNvSpPr/>
            <p:nvPr/>
          </p:nvSpPr>
          <p:spPr>
            <a:xfrm>
              <a:off x="2484" y="3894"/>
              <a:ext cx="1517" cy="313"/>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sym typeface="微软雅黑"/>
                </a:rPr>
                <a:t>差异化运营</a:t>
              </a:r>
              <a:endParaRPr lang="zh-CN" altLang="en-US" sz="1000" dirty="0">
                <a:solidFill>
                  <a:srgbClr val="383838"/>
                </a:solidFill>
                <a:effectLst/>
                <a:latin typeface="微软雅黑"/>
                <a:ea typeface="微软雅黑"/>
                <a:cs typeface="微软雅黑"/>
                <a:sym typeface="微软雅黑"/>
              </a:endParaRPr>
            </a:p>
          </p:txBody>
        </p:sp>
        <p:sp>
          <p:nvSpPr>
            <p:cNvPr id="300" name="任意多边形 299"/>
            <p:cNvSpPr/>
            <p:nvPr/>
          </p:nvSpPr>
          <p:spPr>
            <a:xfrm>
              <a:off x="2391" y="3012"/>
              <a:ext cx="1705" cy="378"/>
            </a:xfrm>
            <a:custGeom>
              <a:avLst/>
              <a:gdLst/>
              <a:ahLst/>
              <a:cxnLst>
                <a:cxn ang="3">
                  <a:pos x="hc" y="t"/>
                </a:cxn>
                <a:cxn ang="cd2">
                  <a:pos x="l" y="vc"/>
                </a:cxn>
                <a:cxn ang="cd4">
                  <a:pos x="hc" y="b"/>
                </a:cxn>
                <a:cxn ang="0">
                  <a:pos x="r" y="vc"/>
                </a:cxn>
              </a:cxnLst>
              <a:rect l="l" t="t" r="r" b="b"/>
              <a:pathLst>
                <a:path w="1705" h="378">
                  <a:moveTo>
                    <a:pt x="0" y="60"/>
                  </a:moveTo>
                  <a:lnTo>
                    <a:pt x="2" y="60"/>
                  </a:lnTo>
                  <a:cubicBezTo>
                    <a:pt x="7" y="28"/>
                    <a:pt x="44" y="-2"/>
                    <a:pt x="77" y="0"/>
                  </a:cubicBezTo>
                  <a:lnTo>
                    <a:pt x="1628" y="0"/>
                  </a:lnTo>
                  <a:cubicBezTo>
                    <a:pt x="1665" y="-2"/>
                    <a:pt x="1698" y="32"/>
                    <a:pt x="1703" y="60"/>
                  </a:cubicBezTo>
                  <a:lnTo>
                    <a:pt x="1705" y="60"/>
                  </a:lnTo>
                  <a:lnTo>
                    <a:pt x="1705" y="378"/>
                  </a:lnTo>
                  <a:lnTo>
                    <a:pt x="0" y="378"/>
                  </a:lnTo>
                  <a:lnTo>
                    <a:pt x="0" y="60"/>
                  </a:lnTo>
                  <a:close/>
                </a:path>
              </a:pathLst>
            </a:custGeom>
            <a:gradFill>
              <a:gsLst>
                <a:gs pos="81000">
                  <a:srgbClr val="3368FF"/>
                </a:gs>
                <a:gs pos="0">
                  <a:srgbClr val="668EFF"/>
                </a:gs>
              </a:gsLst>
              <a:path path="circle">
                <a:fillToRect l="100000" b="100000"/>
              </a:path>
              <a:tileRect t="-100000" r="-100000"/>
            </a:gra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grpSp>
          <p:nvGrpSpPr>
            <p:cNvPr id="302" name="组合 301"/>
            <p:cNvGrpSpPr/>
            <p:nvPr/>
          </p:nvGrpSpPr>
          <p:grpSpPr>
            <a:xfrm rot="0">
              <a:off x="1958" y="3617"/>
              <a:ext cx="287" cy="111"/>
              <a:chOff x="2189" y="4946"/>
              <a:chExt cx="333" cy="209"/>
            </a:xfrm>
          </p:grpSpPr>
          <p:cxnSp>
            <p:nvCxnSpPr>
              <p:cNvPr id="303" name="直接箭头连接符 302"/>
              <p:cNvCxnSpPr/>
              <p:nvPr/>
            </p:nvCxnSpPr>
            <p:spPr>
              <a:xfrm rot="5400000">
                <a:off x="2342" y="4793"/>
                <a:ext cx="0" cy="306"/>
              </a:xfrm>
              <a:prstGeom prst="straightConnector1">
                <a:avLst/>
              </a:prstGeom>
              <a:ln>
                <a:gradFill>
                  <a:gsLst>
                    <a:gs pos="0">
                      <a:srgbClr val="3368FF"/>
                    </a:gs>
                    <a:gs pos="100000">
                      <a:srgbClr val="668EFF"/>
                    </a:gs>
                  </a:gsLst>
                  <a:lin ang="16200000" scaled="1"/>
                </a:gradFill>
                <a:headEnd type="none"/>
                <a:tailEnd type="triangle"/>
              </a:ln>
            </p:spPr>
            <p:style>
              <a:lnRef idx="2">
                <a:srgbClr val="0042FF"/>
              </a:lnRef>
              <a:fillRef idx="0">
                <a:srgbClr val="FFFFFF"/>
              </a:fillRef>
              <a:effectRef idx="0">
                <a:srgbClr val="FFFFFF"/>
              </a:effectRef>
              <a:fontRef idx="minor">
                <a:srgbClr val="383838"/>
              </a:fontRef>
            </p:style>
          </p:cxnSp>
          <p:cxnSp>
            <p:nvCxnSpPr>
              <p:cNvPr id="304" name="直接箭头连接符 303"/>
              <p:cNvCxnSpPr/>
              <p:nvPr/>
            </p:nvCxnSpPr>
            <p:spPr>
              <a:xfrm rot="5400000">
                <a:off x="2369" y="5002"/>
                <a:ext cx="0" cy="306"/>
              </a:xfrm>
              <a:prstGeom prst="straightConnector1">
                <a:avLst/>
              </a:prstGeom>
              <a:ln>
                <a:gradFill>
                  <a:gsLst>
                    <a:gs pos="0">
                      <a:srgbClr val="3368FF"/>
                    </a:gs>
                    <a:gs pos="100000">
                      <a:srgbClr val="668EFF"/>
                    </a:gs>
                  </a:gsLst>
                  <a:lin ang="16200000" scaled="1"/>
                </a:gradFill>
                <a:headEnd type="triangle"/>
                <a:tailEnd type="none"/>
              </a:ln>
            </p:spPr>
            <p:style>
              <a:lnRef idx="2">
                <a:srgbClr val="0042FF"/>
              </a:lnRef>
              <a:fillRef idx="0">
                <a:srgbClr val="FFFFFF"/>
              </a:fillRef>
              <a:effectRef idx="0">
                <a:srgbClr val="FFFFFF"/>
              </a:effectRef>
              <a:fontRef idx="minor">
                <a:srgbClr val="383838"/>
              </a:fontRef>
            </p:style>
          </p:cxnSp>
        </p:grpSp>
        <p:sp>
          <p:nvSpPr>
            <p:cNvPr id="306" name="圆角矩形 305"/>
            <p:cNvSpPr/>
            <p:nvPr/>
          </p:nvSpPr>
          <p:spPr>
            <a:xfrm>
              <a:off x="1086" y="5012"/>
              <a:ext cx="806" cy="743"/>
            </a:xfrm>
            <a:prstGeom prst="roundRect">
              <a:avLst/>
            </a:prstGeom>
            <a:solidFill>
              <a:srgbClr val="FFFFFF"/>
            </a:solidFill>
            <a:ln w="12700" cmpd="sng">
              <a:solidFill>
                <a:srgbClr val="3368FF"/>
              </a:solidFill>
              <a:prstDash val="sys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lstStyle/>
            <a:p>
              <a:pPr lvl="0" algn="ctr">
                <a:buClrTx/>
                <a:buSzTx/>
                <a:buFontTx/>
                <a:defRPr>
                  <a:latin typeface="微软雅黑"/>
                  <a:ea typeface="微软雅黑"/>
                  <a:cs typeface="微软雅黑"/>
                </a:defRPr>
              </a:pPr>
              <a:endParaRPr lang="zh-CN" altLang="en-US" sz="1300" b="1" dirty="0">
                <a:solidFill>
                  <a:srgbClr val="0042FF"/>
                </a:solidFill>
                <a:effectLst/>
                <a:latin typeface="微软雅黑"/>
                <a:ea typeface="微软雅黑"/>
                <a:cs typeface="微软雅黑"/>
                <a:sym typeface="微软雅黑"/>
              </a:endParaRPr>
            </a:p>
          </p:txBody>
        </p:sp>
        <p:sp>
          <p:nvSpPr>
            <p:cNvPr id="308" name="圆角矩形 307"/>
            <p:cNvSpPr/>
            <p:nvPr/>
          </p:nvSpPr>
          <p:spPr>
            <a:xfrm>
              <a:off x="2393" y="4610"/>
              <a:ext cx="1705" cy="1760"/>
            </a:xfrm>
            <a:prstGeom prst="roundRect">
              <a:avLst>
                <a:gd name="adj" fmla="val 6111"/>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09" name="圆角矩形 308"/>
            <p:cNvSpPr/>
            <p:nvPr/>
          </p:nvSpPr>
          <p:spPr>
            <a:xfrm>
              <a:off x="2486" y="5080"/>
              <a:ext cx="1517" cy="314"/>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sz="1000" dirty="0">
                  <a:solidFill>
                    <a:srgbClr val="383838"/>
                  </a:solidFill>
                  <a:effectLst/>
                  <a:latin typeface="微软雅黑"/>
                  <a:ea typeface="微软雅黑"/>
                  <a:cs typeface="微软雅黑"/>
                  <a:sym typeface="微软雅黑"/>
                </a:rPr>
                <a:t>社群打卡</a:t>
              </a:r>
              <a:endParaRPr lang="zh-CN" sz="1000" dirty="0">
                <a:solidFill>
                  <a:srgbClr val="383838"/>
                </a:solidFill>
                <a:effectLst/>
                <a:latin typeface="微软雅黑"/>
                <a:ea typeface="微软雅黑"/>
                <a:cs typeface="微软雅黑"/>
                <a:sym typeface="微软雅黑"/>
              </a:endParaRPr>
            </a:p>
          </p:txBody>
        </p:sp>
        <p:sp>
          <p:nvSpPr>
            <p:cNvPr id="310" name="圆角矩形 309"/>
            <p:cNvSpPr/>
            <p:nvPr/>
          </p:nvSpPr>
          <p:spPr>
            <a:xfrm>
              <a:off x="2486" y="5479"/>
              <a:ext cx="1517" cy="314"/>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sym typeface="微软雅黑"/>
                </a:rPr>
                <a:t>会员福利</a:t>
              </a:r>
              <a:endParaRPr lang="zh-CN" altLang="en-US" sz="1000" dirty="0">
                <a:solidFill>
                  <a:srgbClr val="383838"/>
                </a:solidFill>
                <a:effectLst/>
                <a:latin typeface="微软雅黑"/>
                <a:ea typeface="微软雅黑"/>
                <a:cs typeface="微软雅黑"/>
                <a:sym typeface="微软雅黑"/>
              </a:endParaRPr>
            </a:p>
          </p:txBody>
        </p:sp>
        <p:sp>
          <p:nvSpPr>
            <p:cNvPr id="311" name="圆角矩形 310"/>
            <p:cNvSpPr/>
            <p:nvPr/>
          </p:nvSpPr>
          <p:spPr>
            <a:xfrm>
              <a:off x="2486" y="5878"/>
              <a:ext cx="1517" cy="314"/>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sym typeface="微软雅黑"/>
                </a:rPr>
                <a:t>完美日记</a:t>
              </a:r>
              <a:endParaRPr lang="zh-CN" altLang="en-US" sz="1000" dirty="0">
                <a:solidFill>
                  <a:srgbClr val="383838"/>
                </a:solidFill>
                <a:effectLst/>
                <a:latin typeface="微软雅黑"/>
                <a:ea typeface="微软雅黑"/>
                <a:cs typeface="微软雅黑"/>
                <a:sym typeface="微软雅黑"/>
              </a:endParaRPr>
            </a:p>
          </p:txBody>
        </p:sp>
        <p:sp>
          <p:nvSpPr>
            <p:cNvPr id="313" name="任意多边形 312"/>
            <p:cNvSpPr/>
            <p:nvPr/>
          </p:nvSpPr>
          <p:spPr>
            <a:xfrm>
              <a:off x="2393" y="4597"/>
              <a:ext cx="1705" cy="378"/>
            </a:xfrm>
            <a:custGeom>
              <a:avLst/>
              <a:gdLst/>
              <a:ahLst/>
              <a:cxnLst>
                <a:cxn ang="3">
                  <a:pos x="hc" y="t"/>
                </a:cxn>
                <a:cxn ang="cd2">
                  <a:pos x="l" y="vc"/>
                </a:cxn>
                <a:cxn ang="cd4">
                  <a:pos x="hc" y="b"/>
                </a:cxn>
                <a:cxn ang="0">
                  <a:pos x="r" y="vc"/>
                </a:cxn>
              </a:cxnLst>
              <a:rect l="l" t="t" r="r" b="b"/>
              <a:pathLst>
                <a:path w="1705" h="378">
                  <a:moveTo>
                    <a:pt x="0" y="60"/>
                  </a:moveTo>
                  <a:lnTo>
                    <a:pt x="2" y="60"/>
                  </a:lnTo>
                  <a:cubicBezTo>
                    <a:pt x="7" y="28"/>
                    <a:pt x="44" y="-2"/>
                    <a:pt x="77" y="0"/>
                  </a:cubicBezTo>
                  <a:lnTo>
                    <a:pt x="1628" y="0"/>
                  </a:lnTo>
                  <a:cubicBezTo>
                    <a:pt x="1665" y="-2"/>
                    <a:pt x="1698" y="32"/>
                    <a:pt x="1703" y="60"/>
                  </a:cubicBezTo>
                  <a:lnTo>
                    <a:pt x="1705" y="60"/>
                  </a:lnTo>
                  <a:lnTo>
                    <a:pt x="1705" y="378"/>
                  </a:lnTo>
                  <a:lnTo>
                    <a:pt x="0" y="378"/>
                  </a:lnTo>
                  <a:lnTo>
                    <a:pt x="0" y="60"/>
                  </a:lnTo>
                  <a:close/>
                </a:path>
              </a:pathLst>
            </a:custGeom>
            <a:gradFill>
              <a:gsLst>
                <a:gs pos="81000">
                  <a:srgbClr val="3368FF"/>
                </a:gs>
                <a:gs pos="0">
                  <a:srgbClr val="668EFF"/>
                </a:gs>
              </a:gsLst>
              <a:path path="circle">
                <a:fillToRect l="100000" b="100000"/>
              </a:path>
              <a:tileRect t="-100000" r="-100000"/>
            </a:gra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grpSp>
          <p:nvGrpSpPr>
            <p:cNvPr id="315" name="组合 314"/>
            <p:cNvGrpSpPr/>
            <p:nvPr/>
          </p:nvGrpSpPr>
          <p:grpSpPr>
            <a:xfrm rot="0">
              <a:off x="1961" y="5357"/>
              <a:ext cx="287" cy="111"/>
              <a:chOff x="2189" y="4946"/>
              <a:chExt cx="333" cy="209"/>
            </a:xfrm>
          </p:grpSpPr>
          <p:cxnSp>
            <p:nvCxnSpPr>
              <p:cNvPr id="316" name="直接箭头连接符 315"/>
              <p:cNvCxnSpPr/>
              <p:nvPr/>
            </p:nvCxnSpPr>
            <p:spPr>
              <a:xfrm rot="5400000">
                <a:off x="2342" y="4793"/>
                <a:ext cx="0" cy="306"/>
              </a:xfrm>
              <a:prstGeom prst="straightConnector1">
                <a:avLst/>
              </a:prstGeom>
              <a:ln>
                <a:gradFill>
                  <a:gsLst>
                    <a:gs pos="0">
                      <a:srgbClr val="3368FF"/>
                    </a:gs>
                    <a:gs pos="100000">
                      <a:srgbClr val="668EFF"/>
                    </a:gs>
                  </a:gsLst>
                  <a:lin ang="16200000" scaled="1"/>
                </a:gradFill>
                <a:headEnd type="none"/>
                <a:tailEnd type="triangle"/>
              </a:ln>
            </p:spPr>
            <p:style>
              <a:lnRef idx="2">
                <a:srgbClr val="0042FF"/>
              </a:lnRef>
              <a:fillRef idx="0">
                <a:srgbClr val="FFFFFF"/>
              </a:fillRef>
              <a:effectRef idx="0">
                <a:srgbClr val="FFFFFF"/>
              </a:effectRef>
              <a:fontRef idx="minor">
                <a:srgbClr val="383838"/>
              </a:fontRef>
            </p:style>
          </p:cxnSp>
          <p:cxnSp>
            <p:nvCxnSpPr>
              <p:cNvPr id="317" name="直接箭头连接符 316"/>
              <p:cNvCxnSpPr/>
              <p:nvPr/>
            </p:nvCxnSpPr>
            <p:spPr>
              <a:xfrm rot="5400000">
                <a:off x="2369" y="5002"/>
                <a:ext cx="0" cy="306"/>
              </a:xfrm>
              <a:prstGeom prst="straightConnector1">
                <a:avLst/>
              </a:prstGeom>
              <a:ln>
                <a:gradFill>
                  <a:gsLst>
                    <a:gs pos="0">
                      <a:srgbClr val="3368FF"/>
                    </a:gs>
                    <a:gs pos="100000">
                      <a:srgbClr val="668EFF"/>
                    </a:gs>
                  </a:gsLst>
                  <a:lin ang="16200000" scaled="1"/>
                </a:gradFill>
                <a:headEnd type="triangle"/>
                <a:tailEnd type="none"/>
              </a:ln>
            </p:spPr>
            <p:style>
              <a:lnRef idx="2">
                <a:srgbClr val="0042FF"/>
              </a:lnRef>
              <a:fillRef idx="0">
                <a:srgbClr val="FFFFFF"/>
              </a:fillRef>
              <a:effectRef idx="0">
                <a:srgbClr val="FFFFFF"/>
              </a:effectRef>
              <a:fontRef idx="minor">
                <a:srgbClr val="383838"/>
              </a:fontRef>
            </p:style>
          </p:cxnSp>
        </p:grpSp>
        <p:sp>
          <p:nvSpPr>
            <p:cNvPr id="319" name="圆角矩形 318"/>
            <p:cNvSpPr/>
            <p:nvPr/>
          </p:nvSpPr>
          <p:spPr>
            <a:xfrm>
              <a:off x="1071" y="7073"/>
              <a:ext cx="806" cy="743"/>
            </a:xfrm>
            <a:prstGeom prst="roundRect">
              <a:avLst/>
            </a:prstGeom>
            <a:solidFill>
              <a:srgbClr val="FFFFFF"/>
            </a:solidFill>
            <a:ln w="12700" cmpd="sng">
              <a:solidFill>
                <a:srgbClr val="3368FF"/>
              </a:solidFill>
              <a:prstDash val="sys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lstStyle/>
            <a:p>
              <a:pPr lvl="0" algn="ctr">
                <a:buClrTx/>
                <a:buSzTx/>
                <a:buFontTx/>
                <a:defRPr>
                  <a:latin typeface="微软雅黑"/>
                  <a:ea typeface="微软雅黑"/>
                  <a:cs typeface="微软雅黑"/>
                </a:defRPr>
              </a:pPr>
              <a:endParaRPr lang="zh-CN" altLang="en-US" sz="1300" b="1" dirty="0">
                <a:solidFill>
                  <a:srgbClr val="0042FF"/>
                </a:solidFill>
                <a:effectLst/>
                <a:latin typeface="微软雅黑"/>
                <a:ea typeface="微软雅黑"/>
                <a:cs typeface="微软雅黑"/>
                <a:sym typeface="微软雅黑"/>
              </a:endParaRPr>
            </a:p>
          </p:txBody>
        </p:sp>
        <p:sp>
          <p:nvSpPr>
            <p:cNvPr id="321" name="圆角矩形 320"/>
            <p:cNvSpPr/>
            <p:nvPr/>
          </p:nvSpPr>
          <p:spPr>
            <a:xfrm>
              <a:off x="2378" y="6671"/>
              <a:ext cx="1705" cy="1656"/>
            </a:xfrm>
            <a:prstGeom prst="roundRect">
              <a:avLst>
                <a:gd name="adj" fmla="val 6111"/>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22" name="圆角矩形 321"/>
            <p:cNvSpPr/>
            <p:nvPr/>
          </p:nvSpPr>
          <p:spPr>
            <a:xfrm>
              <a:off x="2471" y="7115"/>
              <a:ext cx="1517" cy="313"/>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sz="1000" dirty="0">
                  <a:solidFill>
                    <a:srgbClr val="383838"/>
                  </a:solidFill>
                  <a:effectLst/>
                  <a:latin typeface="微软雅黑"/>
                  <a:ea typeface="微软雅黑"/>
                  <a:cs typeface="微软雅黑"/>
                  <a:sym typeface="微软雅黑"/>
                </a:rPr>
                <a:t>话题挑战</a:t>
              </a:r>
              <a:endParaRPr lang="zh-CN" sz="1000" dirty="0">
                <a:solidFill>
                  <a:srgbClr val="383838"/>
                </a:solidFill>
                <a:effectLst/>
                <a:latin typeface="微软雅黑"/>
                <a:ea typeface="微软雅黑"/>
                <a:cs typeface="微软雅黑"/>
                <a:sym typeface="微软雅黑"/>
              </a:endParaRPr>
            </a:p>
          </p:txBody>
        </p:sp>
        <p:sp>
          <p:nvSpPr>
            <p:cNvPr id="323" name="圆角矩形 322"/>
            <p:cNvSpPr/>
            <p:nvPr/>
          </p:nvSpPr>
          <p:spPr>
            <a:xfrm>
              <a:off x="2471" y="7514"/>
              <a:ext cx="1517" cy="313"/>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sym typeface="微软雅黑"/>
                </a:rPr>
                <a:t>老荐新奖励</a:t>
              </a:r>
              <a:endParaRPr lang="zh-CN" altLang="en-US" sz="1000" dirty="0">
                <a:solidFill>
                  <a:srgbClr val="383838"/>
                </a:solidFill>
                <a:effectLst/>
                <a:latin typeface="微软雅黑"/>
                <a:ea typeface="微软雅黑"/>
                <a:cs typeface="微软雅黑"/>
                <a:sym typeface="微软雅黑"/>
              </a:endParaRPr>
            </a:p>
          </p:txBody>
        </p:sp>
        <p:sp>
          <p:nvSpPr>
            <p:cNvPr id="324" name="圆角矩形 323"/>
            <p:cNvSpPr/>
            <p:nvPr/>
          </p:nvSpPr>
          <p:spPr>
            <a:xfrm>
              <a:off x="2471" y="7913"/>
              <a:ext cx="1517" cy="313"/>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sym typeface="微软雅黑"/>
                </a:rPr>
                <a:t>发起盲盒开箱</a:t>
              </a:r>
              <a:endParaRPr lang="zh-CN" altLang="en-US" sz="1000" dirty="0">
                <a:solidFill>
                  <a:srgbClr val="383838"/>
                </a:solidFill>
                <a:effectLst/>
                <a:latin typeface="微软雅黑"/>
                <a:ea typeface="微软雅黑"/>
                <a:cs typeface="微软雅黑"/>
                <a:sym typeface="微软雅黑"/>
              </a:endParaRPr>
            </a:p>
          </p:txBody>
        </p:sp>
        <p:sp>
          <p:nvSpPr>
            <p:cNvPr id="326" name="任意多边形 325"/>
            <p:cNvSpPr/>
            <p:nvPr/>
          </p:nvSpPr>
          <p:spPr>
            <a:xfrm>
              <a:off x="2378" y="6658"/>
              <a:ext cx="1705" cy="378"/>
            </a:xfrm>
            <a:custGeom>
              <a:avLst/>
              <a:gdLst/>
              <a:ahLst/>
              <a:cxnLst>
                <a:cxn ang="3">
                  <a:pos x="hc" y="t"/>
                </a:cxn>
                <a:cxn ang="cd2">
                  <a:pos x="l" y="vc"/>
                </a:cxn>
                <a:cxn ang="cd4">
                  <a:pos x="hc" y="b"/>
                </a:cxn>
                <a:cxn ang="0">
                  <a:pos x="r" y="vc"/>
                </a:cxn>
              </a:cxnLst>
              <a:rect l="l" t="t" r="r" b="b"/>
              <a:pathLst>
                <a:path w="1705" h="378">
                  <a:moveTo>
                    <a:pt x="0" y="60"/>
                  </a:moveTo>
                  <a:lnTo>
                    <a:pt x="2" y="60"/>
                  </a:lnTo>
                  <a:cubicBezTo>
                    <a:pt x="7" y="28"/>
                    <a:pt x="44" y="-2"/>
                    <a:pt x="77" y="0"/>
                  </a:cubicBezTo>
                  <a:lnTo>
                    <a:pt x="1628" y="0"/>
                  </a:lnTo>
                  <a:cubicBezTo>
                    <a:pt x="1665" y="-2"/>
                    <a:pt x="1698" y="32"/>
                    <a:pt x="1703" y="60"/>
                  </a:cubicBezTo>
                  <a:lnTo>
                    <a:pt x="1705" y="60"/>
                  </a:lnTo>
                  <a:lnTo>
                    <a:pt x="1705" y="378"/>
                  </a:lnTo>
                  <a:lnTo>
                    <a:pt x="0" y="378"/>
                  </a:lnTo>
                  <a:lnTo>
                    <a:pt x="0" y="60"/>
                  </a:lnTo>
                  <a:close/>
                </a:path>
              </a:pathLst>
            </a:custGeom>
            <a:gradFill>
              <a:gsLst>
                <a:gs pos="81000">
                  <a:srgbClr val="3368FF"/>
                </a:gs>
                <a:gs pos="0">
                  <a:srgbClr val="668EFF"/>
                </a:gs>
              </a:gsLst>
              <a:path path="circle">
                <a:fillToRect l="100000" b="100000"/>
              </a:path>
              <a:tileRect t="-100000" r="-100000"/>
            </a:gra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grpSp>
          <p:nvGrpSpPr>
            <p:cNvPr id="328" name="组合 327"/>
            <p:cNvGrpSpPr/>
            <p:nvPr/>
          </p:nvGrpSpPr>
          <p:grpSpPr>
            <a:xfrm rot="0">
              <a:off x="1945" y="7418"/>
              <a:ext cx="287" cy="111"/>
              <a:chOff x="2189" y="4946"/>
              <a:chExt cx="333" cy="209"/>
            </a:xfrm>
          </p:grpSpPr>
          <p:cxnSp>
            <p:nvCxnSpPr>
              <p:cNvPr id="343" name="直接箭头连接符 342"/>
              <p:cNvCxnSpPr/>
              <p:nvPr/>
            </p:nvCxnSpPr>
            <p:spPr>
              <a:xfrm rot="5400000">
                <a:off x="2342" y="4793"/>
                <a:ext cx="0" cy="306"/>
              </a:xfrm>
              <a:prstGeom prst="straightConnector1">
                <a:avLst/>
              </a:prstGeom>
              <a:ln>
                <a:gradFill>
                  <a:gsLst>
                    <a:gs pos="0">
                      <a:srgbClr val="3368FF"/>
                    </a:gs>
                    <a:gs pos="100000">
                      <a:srgbClr val="668EFF"/>
                    </a:gs>
                  </a:gsLst>
                  <a:lin ang="16200000" scaled="1"/>
                </a:gradFill>
                <a:headEnd type="none"/>
                <a:tailEnd type="triangle"/>
              </a:ln>
            </p:spPr>
            <p:style>
              <a:lnRef idx="2">
                <a:srgbClr val="0042FF"/>
              </a:lnRef>
              <a:fillRef idx="0">
                <a:srgbClr val="FFFFFF"/>
              </a:fillRef>
              <a:effectRef idx="0">
                <a:srgbClr val="FFFFFF"/>
              </a:effectRef>
              <a:fontRef idx="minor">
                <a:srgbClr val="383838"/>
              </a:fontRef>
            </p:style>
          </p:cxnSp>
          <p:cxnSp>
            <p:nvCxnSpPr>
              <p:cNvPr id="344" name="直接箭头连接符 343"/>
              <p:cNvCxnSpPr/>
              <p:nvPr/>
            </p:nvCxnSpPr>
            <p:spPr>
              <a:xfrm rot="5400000">
                <a:off x="2369" y="5002"/>
                <a:ext cx="0" cy="306"/>
              </a:xfrm>
              <a:prstGeom prst="straightConnector1">
                <a:avLst/>
              </a:prstGeom>
              <a:ln>
                <a:gradFill>
                  <a:gsLst>
                    <a:gs pos="0">
                      <a:srgbClr val="3368FF"/>
                    </a:gs>
                    <a:gs pos="100000">
                      <a:srgbClr val="668EFF"/>
                    </a:gs>
                  </a:gsLst>
                  <a:lin ang="16200000" scaled="1"/>
                </a:gradFill>
                <a:headEnd type="triangle"/>
                <a:tailEnd type="none"/>
              </a:ln>
            </p:spPr>
            <p:style>
              <a:lnRef idx="2">
                <a:srgbClr val="0042FF"/>
              </a:lnRef>
              <a:fillRef idx="0">
                <a:srgbClr val="FFFFFF"/>
              </a:fillRef>
              <a:effectRef idx="0">
                <a:srgbClr val="FFFFFF"/>
              </a:effectRef>
              <a:fontRef idx="minor">
                <a:srgbClr val="383838"/>
              </a:fontRef>
            </p:style>
          </p:cxnSp>
        </p:grpSp>
        <p:grpSp>
          <p:nvGrpSpPr>
            <p:cNvPr id="392" name="组合 391"/>
            <p:cNvGrpSpPr/>
            <p:nvPr/>
          </p:nvGrpSpPr>
          <p:grpSpPr>
            <a:xfrm rot="16200000">
              <a:off x="3107" y="4369"/>
              <a:ext cx="185" cy="130"/>
              <a:chOff x="2189" y="4946"/>
              <a:chExt cx="333" cy="209"/>
            </a:xfrm>
          </p:grpSpPr>
          <p:cxnSp>
            <p:nvCxnSpPr>
              <p:cNvPr id="393" name="直接箭头连接符 392"/>
              <p:cNvCxnSpPr/>
              <p:nvPr/>
            </p:nvCxnSpPr>
            <p:spPr>
              <a:xfrm rot="5400000">
                <a:off x="2342" y="4793"/>
                <a:ext cx="0" cy="306"/>
              </a:xfrm>
              <a:prstGeom prst="straightConnector1">
                <a:avLst/>
              </a:prstGeom>
              <a:ln>
                <a:gradFill>
                  <a:gsLst>
                    <a:gs pos="0">
                      <a:srgbClr val="3368FF"/>
                    </a:gs>
                    <a:gs pos="100000">
                      <a:srgbClr val="668EFF"/>
                    </a:gs>
                  </a:gsLst>
                  <a:lin ang="16200000" scaled="1"/>
                </a:gradFill>
                <a:headEnd type="none"/>
                <a:tailEnd type="triangle"/>
              </a:ln>
            </p:spPr>
            <p:style>
              <a:lnRef idx="2">
                <a:srgbClr val="0042FF"/>
              </a:lnRef>
              <a:fillRef idx="0">
                <a:srgbClr val="FFFFFF"/>
              </a:fillRef>
              <a:effectRef idx="0">
                <a:srgbClr val="FFFFFF"/>
              </a:effectRef>
              <a:fontRef idx="minor">
                <a:srgbClr val="383838"/>
              </a:fontRef>
            </p:style>
          </p:cxnSp>
          <p:cxnSp>
            <p:nvCxnSpPr>
              <p:cNvPr id="394" name="直接箭头连接符 393"/>
              <p:cNvCxnSpPr/>
              <p:nvPr/>
            </p:nvCxnSpPr>
            <p:spPr>
              <a:xfrm rot="5400000">
                <a:off x="2369" y="5002"/>
                <a:ext cx="0" cy="306"/>
              </a:xfrm>
              <a:prstGeom prst="straightConnector1">
                <a:avLst/>
              </a:prstGeom>
              <a:ln>
                <a:gradFill>
                  <a:gsLst>
                    <a:gs pos="0">
                      <a:srgbClr val="3368FF"/>
                    </a:gs>
                    <a:gs pos="100000">
                      <a:srgbClr val="668EFF"/>
                    </a:gs>
                  </a:gsLst>
                  <a:lin ang="16200000" scaled="1"/>
                </a:gradFill>
                <a:headEnd type="triangle"/>
                <a:tailEnd type="none"/>
              </a:ln>
            </p:spPr>
            <p:style>
              <a:lnRef idx="2">
                <a:srgbClr val="0042FF"/>
              </a:lnRef>
              <a:fillRef idx="0">
                <a:srgbClr val="FFFFFF"/>
              </a:fillRef>
              <a:effectRef idx="0">
                <a:srgbClr val="FFFFFF"/>
              </a:effectRef>
              <a:fontRef idx="minor">
                <a:srgbClr val="383838"/>
              </a:fontRef>
            </p:style>
          </p:cxnSp>
        </p:grpSp>
        <p:grpSp>
          <p:nvGrpSpPr>
            <p:cNvPr id="395" name="组合 394"/>
            <p:cNvGrpSpPr/>
            <p:nvPr/>
          </p:nvGrpSpPr>
          <p:grpSpPr>
            <a:xfrm rot="16200000">
              <a:off x="3085" y="6423"/>
              <a:ext cx="185" cy="130"/>
              <a:chOff x="2189" y="4946"/>
              <a:chExt cx="333" cy="209"/>
            </a:xfrm>
          </p:grpSpPr>
          <p:cxnSp>
            <p:nvCxnSpPr>
              <p:cNvPr id="396" name="直接箭头连接符 395"/>
              <p:cNvCxnSpPr/>
              <p:nvPr/>
            </p:nvCxnSpPr>
            <p:spPr>
              <a:xfrm rot="5400000">
                <a:off x="2342" y="4793"/>
                <a:ext cx="0" cy="306"/>
              </a:xfrm>
              <a:prstGeom prst="straightConnector1">
                <a:avLst/>
              </a:prstGeom>
              <a:ln>
                <a:gradFill>
                  <a:gsLst>
                    <a:gs pos="0">
                      <a:srgbClr val="3368FF"/>
                    </a:gs>
                    <a:gs pos="100000">
                      <a:srgbClr val="668EFF"/>
                    </a:gs>
                  </a:gsLst>
                  <a:lin ang="16200000" scaled="1"/>
                </a:gradFill>
                <a:headEnd type="none"/>
                <a:tailEnd type="triangle"/>
              </a:ln>
            </p:spPr>
            <p:style>
              <a:lnRef idx="2">
                <a:srgbClr val="0042FF"/>
              </a:lnRef>
              <a:fillRef idx="0">
                <a:srgbClr val="FFFFFF"/>
              </a:fillRef>
              <a:effectRef idx="0">
                <a:srgbClr val="FFFFFF"/>
              </a:effectRef>
              <a:fontRef idx="minor">
                <a:srgbClr val="383838"/>
              </a:fontRef>
            </p:style>
          </p:cxnSp>
          <p:cxnSp>
            <p:nvCxnSpPr>
              <p:cNvPr id="397" name="直接箭头连接符 396"/>
              <p:cNvCxnSpPr/>
              <p:nvPr/>
            </p:nvCxnSpPr>
            <p:spPr>
              <a:xfrm rot="5400000">
                <a:off x="2369" y="5002"/>
                <a:ext cx="0" cy="306"/>
              </a:xfrm>
              <a:prstGeom prst="straightConnector1">
                <a:avLst/>
              </a:prstGeom>
              <a:ln>
                <a:gradFill>
                  <a:gsLst>
                    <a:gs pos="0">
                      <a:srgbClr val="3368FF"/>
                    </a:gs>
                    <a:gs pos="100000">
                      <a:srgbClr val="668EFF"/>
                    </a:gs>
                  </a:gsLst>
                  <a:lin ang="16200000" scaled="1"/>
                </a:gradFill>
                <a:headEnd type="triangle"/>
                <a:tailEnd type="none"/>
              </a:ln>
            </p:spPr>
            <p:style>
              <a:lnRef idx="2">
                <a:srgbClr val="0042FF"/>
              </a:lnRef>
              <a:fillRef idx="0">
                <a:srgbClr val="FFFFFF"/>
              </a:fillRef>
              <a:effectRef idx="0">
                <a:srgbClr val="FFFFFF"/>
              </a:effectRef>
              <a:fontRef idx="minor">
                <a:srgbClr val="383838"/>
              </a:fontRef>
            </p:style>
          </p:cxnSp>
        </p:grpSp>
        <p:sp>
          <p:nvSpPr>
            <p:cNvPr id="6" name="文本框 5"/>
            <p:cNvSpPr txBox="1"/>
            <p:nvPr/>
          </p:nvSpPr>
          <p:spPr>
            <a:xfrm>
              <a:off x="918" y="3281"/>
              <a:ext cx="1161" cy="736"/>
            </a:xfrm>
            <a:prstGeom prst="rect">
              <a:avLst/>
            </a:prstGeom>
            <a:noFill/>
          </p:spPr>
          <p:txBody>
            <a:bodyPr wrap="square" rtlCol="0" anchor="ctr" anchorCtr="0">
              <a:noAutofit/>
            </a:bodyPr>
            <a:lstStyle/>
            <a:p>
              <a:pPr algn="ctr">
                <a:defRPr>
                  <a:latin typeface="微软雅黑"/>
                  <a:ea typeface="微软雅黑"/>
                  <a:cs typeface="微软雅黑"/>
                </a:defRPr>
              </a:pPr>
              <a:r>
                <a:rPr lang="zh-CN" altLang="en-US" sz="1200">
                  <a:solidFill>
                    <a:srgbClr val="0042FF"/>
                  </a:solidFill>
                  <a:latin typeface="微软雅黑"/>
                  <a:ea typeface="微软雅黑"/>
                  <a:cs typeface="微软雅黑"/>
                </a:rPr>
                <a:t>客户</a:t>
              </a:r>
              <a:endParaRPr lang="zh-CN" altLang="en-US" sz="120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a:solidFill>
                    <a:srgbClr val="0042FF"/>
                  </a:solidFill>
                  <a:latin typeface="微软雅黑"/>
                  <a:ea typeface="微软雅黑"/>
                  <a:cs typeface="微软雅黑"/>
                </a:rPr>
                <a:t>识别</a:t>
              </a:r>
              <a:endParaRPr lang="zh-CN" altLang="en-US" sz="1200">
                <a:solidFill>
                  <a:srgbClr val="0042FF"/>
                </a:solidFill>
                <a:latin typeface="微软雅黑"/>
                <a:ea typeface="微软雅黑"/>
                <a:cs typeface="微软雅黑"/>
              </a:endParaRPr>
            </a:p>
          </p:txBody>
        </p:sp>
        <p:sp>
          <p:nvSpPr>
            <p:cNvPr id="7" name="文本框 6"/>
            <p:cNvSpPr txBox="1"/>
            <p:nvPr/>
          </p:nvSpPr>
          <p:spPr>
            <a:xfrm>
              <a:off x="921" y="5021"/>
              <a:ext cx="1161" cy="736"/>
            </a:xfrm>
            <a:prstGeom prst="rect">
              <a:avLst/>
            </a:prstGeom>
            <a:noFill/>
          </p:spPr>
          <p:txBody>
            <a:bodyPr wrap="square" rtlCol="0" anchor="ctr" anchorCtr="0">
              <a:noAutofit/>
            </a:bodyPr>
            <a:lstStyle/>
            <a:p>
              <a:pPr algn="ctr">
                <a:defRPr>
                  <a:latin typeface="微软雅黑"/>
                  <a:ea typeface="微软雅黑"/>
                  <a:cs typeface="微软雅黑"/>
                </a:defRPr>
              </a:pPr>
              <a:r>
                <a:rPr lang="zh-CN" altLang="en-US" sz="1200">
                  <a:solidFill>
                    <a:srgbClr val="0042FF"/>
                  </a:solidFill>
                  <a:latin typeface="微软雅黑"/>
                  <a:ea typeface="微软雅黑"/>
                  <a:cs typeface="微软雅黑"/>
                </a:rPr>
                <a:t>内容</a:t>
              </a:r>
              <a:endParaRPr lang="zh-CN" altLang="en-US" sz="120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a:solidFill>
                    <a:srgbClr val="0042FF"/>
                  </a:solidFill>
                  <a:latin typeface="微软雅黑"/>
                  <a:ea typeface="微软雅黑"/>
                  <a:cs typeface="微软雅黑"/>
                </a:rPr>
                <a:t>矩阵</a:t>
              </a:r>
              <a:endParaRPr lang="zh-CN" altLang="en-US" sz="1200">
                <a:solidFill>
                  <a:srgbClr val="0042FF"/>
                </a:solidFill>
                <a:latin typeface="微软雅黑"/>
                <a:ea typeface="微软雅黑"/>
                <a:cs typeface="微软雅黑"/>
              </a:endParaRPr>
            </a:p>
          </p:txBody>
        </p:sp>
        <p:sp>
          <p:nvSpPr>
            <p:cNvPr id="8" name="文本框 7"/>
            <p:cNvSpPr txBox="1"/>
            <p:nvPr/>
          </p:nvSpPr>
          <p:spPr>
            <a:xfrm>
              <a:off x="892" y="7081"/>
              <a:ext cx="1161" cy="736"/>
            </a:xfrm>
            <a:prstGeom prst="rect">
              <a:avLst/>
            </a:prstGeom>
            <a:noFill/>
          </p:spPr>
          <p:txBody>
            <a:bodyPr wrap="square" rtlCol="0" anchor="ctr" anchorCtr="0">
              <a:noAutofit/>
            </a:bodyPr>
            <a:lstStyle/>
            <a:p>
              <a:pPr algn="ctr">
                <a:defRPr>
                  <a:latin typeface="微软雅黑"/>
                  <a:ea typeface="微软雅黑"/>
                  <a:cs typeface="微软雅黑"/>
                </a:defRPr>
              </a:pPr>
              <a:r>
                <a:rPr lang="zh-CN" altLang="en-US" sz="1200">
                  <a:solidFill>
                    <a:srgbClr val="0042FF"/>
                  </a:solidFill>
                  <a:latin typeface="微软雅黑"/>
                  <a:ea typeface="微软雅黑"/>
                  <a:cs typeface="微软雅黑"/>
                </a:rPr>
                <a:t>用户</a:t>
              </a:r>
              <a:endParaRPr lang="zh-CN" altLang="en-US" sz="120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a:solidFill>
                    <a:srgbClr val="0042FF"/>
                  </a:solidFill>
                  <a:latin typeface="微软雅黑"/>
                  <a:ea typeface="微软雅黑"/>
                  <a:cs typeface="微软雅黑"/>
                </a:rPr>
                <a:t>裂变</a:t>
              </a:r>
              <a:endParaRPr lang="zh-CN" altLang="en-US" sz="1200">
                <a:solidFill>
                  <a:srgbClr val="0042FF"/>
                </a:solidFill>
                <a:latin typeface="微软雅黑"/>
                <a:ea typeface="微软雅黑"/>
                <a:cs typeface="微软雅黑"/>
              </a:endParaRPr>
            </a:p>
          </p:txBody>
        </p:sp>
        <p:sp>
          <p:nvSpPr>
            <p:cNvPr id="11" name="文本框 10"/>
            <p:cNvSpPr txBox="1"/>
            <p:nvPr/>
          </p:nvSpPr>
          <p:spPr>
            <a:xfrm>
              <a:off x="2393" y="4589"/>
              <a:ext cx="1759" cy="386"/>
            </a:xfrm>
            <a:prstGeom prst="rect">
              <a:avLst/>
            </a:prstGeom>
            <a:noFill/>
          </p:spPr>
          <p:txBody>
            <a:bodyPr wrap="square" rtlCol="0" lIns="0" rIns="0" tIns="0" bIns="0">
              <a:spAutoFit/>
            </a:bodyPr>
            <a:lstStyle/>
            <a:p>
              <a:pPr lvl="0" algn="ctr">
                <a:buClrTx/>
                <a:buSzTx/>
                <a:buFontTx/>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sym typeface="微软雅黑"/>
                </a:rPr>
                <a:t>内容与活动</a:t>
              </a:r>
              <a:endParaRPr lang="zh-CN" sz="1000" b="1">
                <a:solidFill>
                  <a:srgbClr val="FFFFFF"/>
                </a:solidFill>
                <a:latin typeface="微软雅黑"/>
                <a:ea typeface="微软雅黑"/>
                <a:cs typeface="微软雅黑"/>
                <a:sym typeface="微软雅黑"/>
              </a:endParaRPr>
            </a:p>
          </p:txBody>
        </p:sp>
        <p:sp>
          <p:nvSpPr>
            <p:cNvPr id="12" name="文本框 11"/>
            <p:cNvSpPr txBox="1"/>
            <p:nvPr/>
          </p:nvSpPr>
          <p:spPr>
            <a:xfrm>
              <a:off x="2331" y="6627"/>
              <a:ext cx="1759" cy="386"/>
            </a:xfrm>
            <a:prstGeom prst="rect">
              <a:avLst/>
            </a:prstGeom>
            <a:noFill/>
          </p:spPr>
          <p:txBody>
            <a:bodyPr wrap="square" rtlCol="0" lIns="0" rIns="0" tIns="0" bIns="0">
              <a:spAutoFit/>
            </a:bodyPr>
            <a:lstStyle/>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口碑裂变传播</a:t>
              </a:r>
              <a:endParaRPr lang="zh-CN" sz="1000" b="1">
                <a:solidFill>
                  <a:srgbClr val="FFFFFF"/>
                </a:solidFill>
                <a:latin typeface="微软雅黑"/>
                <a:ea typeface="微软雅黑"/>
                <a:cs typeface="微软雅黑"/>
              </a:endParaRPr>
            </a:p>
          </p:txBody>
        </p:sp>
        <p:sp>
          <p:nvSpPr>
            <p:cNvPr id="13" name="文本框 12"/>
            <p:cNvSpPr txBox="1"/>
            <p:nvPr/>
          </p:nvSpPr>
          <p:spPr>
            <a:xfrm>
              <a:off x="2331" y="3012"/>
              <a:ext cx="1759" cy="386"/>
            </a:xfrm>
            <a:prstGeom prst="rect">
              <a:avLst/>
            </a:prstGeom>
            <a:noFill/>
          </p:spPr>
          <p:txBody>
            <a:bodyPr wrap="square" rtlCol="0" lIns="0" rIns="0" tIns="0" bIns="0">
              <a:spAutoFit/>
            </a:bodyPr>
            <a:lstStyle/>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客户分层运营</a:t>
              </a:r>
              <a:endParaRPr lang="zh-CN" sz="1000" b="1">
                <a:solidFill>
                  <a:srgbClr val="FFFFFF"/>
                </a:solidFill>
                <a:latin typeface="微软雅黑"/>
                <a:ea typeface="微软雅黑"/>
                <a:cs typeface="微软雅黑"/>
              </a:endParaRPr>
            </a:p>
          </p:txBody>
        </p:sp>
      </p:grpSp>
      <p:grpSp>
        <p:nvGrpSpPr>
          <p:cNvPr id="212" name="组合 211"/>
          <p:cNvGrpSpPr/>
          <p:nvPr/>
        </p:nvGrpSpPr>
        <p:grpSpPr>
          <a:xfrm>
            <a:off x="9228455" y="1117600"/>
            <a:ext cx="2598420" cy="4391660"/>
            <a:chOff x="14533" y="1760"/>
            <a:chExt cx="4092" cy="6916"/>
          </a:xfrm>
        </p:grpSpPr>
        <p:sp>
          <p:nvSpPr>
            <p:cNvPr id="73" name="显眼包PPT4"/>
            <p:cNvSpPr/>
            <p:nvPr/>
          </p:nvSpPr>
          <p:spPr>
            <a:xfrm>
              <a:off x="14533" y="2057"/>
              <a:ext cx="4092" cy="631"/>
            </a:xfrm>
            <a:prstGeom prst="roundRect">
              <a:avLst>
                <a:gd name="adj" fmla="val 28193"/>
              </a:avLst>
            </a:prstGeom>
            <a:gradFill flip="none" rotWithShape="1">
              <a:gsLst>
                <a:gs pos="0">
                  <a:srgbClr val="3368FF"/>
                </a:gs>
                <a:gs pos="100000">
                  <a:srgbClr val="0042FF"/>
                </a:gs>
              </a:gsLst>
              <a:lin ang="0" scaled="1"/>
              <a:tileRect/>
            </a:gradFill>
            <a:ln w="9525">
              <a:gradFill flip="none" rotWithShape="1">
                <a:gsLst>
                  <a:gs pos="0">
                    <a:srgbClr val="B3D4FE"/>
                  </a:gs>
                  <a:gs pos="88000">
                    <a:srgbClr val="B3D4FE">
                      <a:alpha val="0"/>
                    </a:srgbClr>
                  </a:gs>
                </a:gsLst>
                <a:lin ang="5400000" scaled="1"/>
                <a:tileRect/>
              </a:gradFill>
              <a:prstDash val="solid"/>
            </a:ln>
            <a:effectLst>
              <a:outerShdw blurRad="190500" dist="25400" dir="16200000" rotWithShape="0">
                <a:srgbClr val="3368FF">
                  <a:alpha val="21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4" name="显眼包PPT5"/>
            <p:cNvSpPr/>
            <p:nvPr/>
          </p:nvSpPr>
          <p:spPr>
            <a:xfrm>
              <a:off x="14533" y="2128"/>
              <a:ext cx="4092" cy="6548"/>
            </a:xfrm>
            <a:prstGeom prst="roundRect">
              <a:avLst>
                <a:gd name="adj" fmla="val 4488"/>
              </a:avLst>
            </a:prstGeom>
            <a:gradFill>
              <a:gsLst>
                <a:gs pos="65000">
                  <a:srgbClr val="FFFFFF"/>
                </a:gs>
                <a:gs pos="90000">
                  <a:srgbClr val="FFFFFF">
                    <a:alpha val="0"/>
                  </a:srgbClr>
                </a:gs>
              </a:gsLst>
              <a:lin ang="5400000" scaled="1"/>
            </a:gradFill>
            <a:ln w="9525">
              <a:gradFill flip="none" rotWithShape="1">
                <a:gsLst>
                  <a:gs pos="32000">
                    <a:srgbClr val="668EFF"/>
                  </a:gs>
                  <a:gs pos="100000">
                    <a:srgbClr val="3368FF"/>
                  </a:gs>
                </a:gsLst>
                <a:lin ang="5400000" scaled="1"/>
                <a:tileRect/>
              </a:gradFill>
              <a:prstDash val="solid"/>
            </a:ln>
            <a:effectLst>
              <a:outerShdw blurRad="190500" dist="25400" dir="16200000" rotWithShape="0">
                <a:srgbClr val="3368FF">
                  <a:alpha val="21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80" name="显眼包PPT2"/>
            <p:cNvSpPr/>
            <p:nvPr/>
          </p:nvSpPr>
          <p:spPr>
            <a:xfrm rot="10800000" flipH="1" flipV="1">
              <a:off x="14630" y="1760"/>
              <a:ext cx="3896" cy="316"/>
            </a:xfrm>
            <a:prstGeom prst="trapezoid">
              <a:avLst>
                <a:gd name="adj" fmla="val 132773"/>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81" name="显眼包PPT1"/>
            <p:cNvGrpSpPr/>
            <p:nvPr/>
          </p:nvGrpSpPr>
          <p:grpSpPr>
            <a:xfrm rot="0">
              <a:off x="14690" y="2260"/>
              <a:ext cx="3778" cy="6417"/>
              <a:chOff x="1239199" y="2593718"/>
              <a:chExt cx="2368665" cy="4074286"/>
            </a:xfrm>
          </p:grpSpPr>
          <p:sp>
            <p:nvSpPr>
              <p:cNvPr id="82" name="显眼包PPT1-1"/>
              <p:cNvSpPr/>
              <p:nvPr/>
            </p:nvSpPr>
            <p:spPr>
              <a:xfrm flipH="1" flipV="1">
                <a:off x="1240453" y="2664829"/>
                <a:ext cx="2367411" cy="4003175"/>
              </a:xfrm>
              <a:prstGeom prst="rect">
                <a:avLst/>
              </a:prstGeom>
              <a:gradFill flip="none" rotWithShape="1">
                <a:gsLst>
                  <a:gs pos="0">
                    <a:srgbClr val="3368FF">
                      <a:alpha val="21000"/>
                    </a:srgbClr>
                  </a:gs>
                  <a:gs pos="100000">
                    <a:srgbClr val="3368FF">
                      <a:alpha val="0"/>
                    </a:srgbClr>
                  </a:gs>
                </a:gsLst>
                <a:lin ang="16200000" scaled="1"/>
                <a:tileRect/>
              </a:gradFill>
              <a:ln w="6350">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83" name="显眼包PPT1-2"/>
              <p:cNvSpPr/>
              <p:nvPr/>
            </p:nvSpPr>
            <p:spPr>
              <a:xfrm>
                <a:off x="1239199" y="2593718"/>
                <a:ext cx="2367337" cy="344127"/>
              </a:xfrm>
              <a:prstGeom prst="roundRect">
                <a:avLst>
                  <a:gd name="adj" fmla="val 19452"/>
                </a:avLst>
              </a:prstGeom>
              <a:gradFill flip="none" rotWithShape="1">
                <a:gsLst>
                  <a:gs pos="0">
                    <a:srgbClr val="3368FF"/>
                  </a:gs>
                  <a:gs pos="100000">
                    <a:srgbClr val="0042FF"/>
                  </a:gs>
                </a:gsLst>
                <a:path path="circle">
                  <a:fillToRect l="100000" b="100000"/>
                </a:path>
                <a:tileRect t="-100000" r="-100000"/>
              </a:gradFill>
              <a:ln w="9525">
                <a:gradFill flip="none" rotWithShape="1">
                  <a:gsLst>
                    <a:gs pos="0">
                      <a:srgbClr val="FFFFFF">
                        <a:alpha val="0"/>
                      </a:srgbClr>
                    </a:gs>
                    <a:gs pos="100000">
                      <a:srgbClr val="B3D4FE"/>
                    </a:gs>
                  </a:gsLst>
                  <a:lin ang="16200000" scaled="1"/>
                  <a:tileRect/>
                </a:gradFill>
              </a:ln>
              <a:effectLst>
                <a:outerShdw blurRad="114300" dist="76200" dir="5400000" algn="t" rotWithShape="0">
                  <a:srgbClr val="3368FF">
                    <a:alpha val="16000"/>
                  </a:srgbClr>
                </a:outerShdw>
              </a:effectLst>
            </p:spPr>
            <p:style>
              <a:lnRef idx="2">
                <a:srgbClr val="0042FF"/>
              </a:lnRef>
              <a:fillRef idx="1">
                <a:srgbClr val="0042FF"/>
              </a:fillRef>
              <a:effectRef idx="0">
                <a:srgbClr val="0042FF"/>
              </a:effectRef>
              <a:fontRef idx="minor">
                <a:srgbClr val="FFFFFF"/>
              </a:fontRef>
            </p:style>
            <p:txBody>
              <a:bodyPr wrap="none" lIns="98865" tIns="49432" rIns="98865" bIns="49432" rtlCol="0" anchor="ctr"/>
              <a:lstStyle/>
              <a:p>
                <a:pPr algn="ctr">
                  <a:defRPr>
                    <a:solidFill>
                      <a:srgbClr val="FFFFFF"/>
                    </a:solidFill>
                    <a:latin typeface="微软雅黑"/>
                    <a:ea typeface="微软雅黑"/>
                    <a:cs typeface="微软雅黑"/>
                  </a:defRPr>
                </a:pPr>
                <a:endParaRPr lang="zh-CN" altLang="en-US" sz="1400" dirty="0">
                  <a:solidFill>
                    <a:srgbClr val="FFFFFF"/>
                  </a:solidFill>
                  <a:effectLst>
                    <a:outerShdw blurRad="50800" dist="38100" dir="5400000" algn="t" rotWithShape="0">
                      <a:srgbClr val="0042FF">
                        <a:alpha val="40000"/>
                      </a:srgbClr>
                    </a:outerShdw>
                  </a:effectLst>
                  <a:latin typeface="微软雅黑"/>
                  <a:ea typeface="微软雅黑"/>
                  <a:cs typeface="微软雅黑"/>
                  <a:sym typeface="微软雅黑"/>
                </a:endParaRPr>
              </a:p>
            </p:txBody>
          </p:sp>
        </p:grpSp>
        <p:sp>
          <p:nvSpPr>
            <p:cNvPr id="84" name="文本框 83"/>
            <p:cNvSpPr txBox="1"/>
            <p:nvPr/>
          </p:nvSpPr>
          <p:spPr>
            <a:xfrm>
              <a:off x="15122" y="2272"/>
              <a:ext cx="3222" cy="483"/>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sym typeface="微软雅黑"/>
                </a:rPr>
                <a:t>全域连接场景拓展</a:t>
              </a:r>
              <a:endParaRPr lang="zh-CN" altLang="en-US" sz="1400" b="1">
                <a:solidFill>
                  <a:srgbClr val="FFFFFF"/>
                </a:solidFill>
                <a:latin typeface="微软雅黑"/>
                <a:ea typeface="微软雅黑"/>
                <a:cs typeface="微软雅黑"/>
              </a:endParaRPr>
            </a:p>
          </p:txBody>
        </p:sp>
        <p:sp>
          <p:nvSpPr>
            <p:cNvPr id="85" name="Rectangle: Top Corners Rounded 32"/>
            <p:cNvSpPr/>
            <p:nvPr/>
          </p:nvSpPr>
          <p:spPr>
            <a:xfrm>
              <a:off x="15018" y="2324"/>
              <a:ext cx="402" cy="380"/>
            </a:xfrm>
            <a:prstGeom prst="ellipse">
              <a:avLst/>
            </a:prstGeom>
            <a:solidFill>
              <a:srgbClr val="FFFFFF"/>
            </a:solidFill>
            <a:ln w="9525" cap="flat" cmpd="sng" algn="ctr">
              <a:noFill/>
              <a:prstDash val="solid"/>
              <a:miter lim="800000"/>
            </a:ln>
            <a:effectLst>
              <a:outerShdw blurRad="50800" dist="38100" dir="2700000" algn="tl" rotWithShape="0">
                <a:srgbClr val="383838">
                  <a:alpha val="40000"/>
                </a:srgbClr>
              </a:outerShdw>
            </a:effectLst>
          </p:spPr>
          <p:txBody>
            <a:bodyPr rtlCol="0" anchor="ctr"/>
            <a:lstStyle/>
            <a:p>
              <a:pPr algn="ctr">
                <a:defRPr>
                  <a:latin typeface="微软雅黑"/>
                  <a:ea typeface="微软雅黑"/>
                  <a:cs typeface="微软雅黑"/>
                </a:defRPr>
              </a:pPr>
              <a:r>
                <a:rPr lang="en-US" sz="1050" b="1" kern="0">
                  <a:solidFill>
                    <a:srgbClr val="0042FF"/>
                  </a:solidFill>
                  <a:latin typeface="微软雅黑"/>
                  <a:ea typeface="微软雅黑"/>
                  <a:cs typeface="微软雅黑"/>
                  <a:sym typeface="微软雅黑"/>
                </a:rPr>
                <a:t>3</a:t>
              </a:r>
              <a:endParaRPr lang="en-US" sz="1050" b="1" kern="0" dirty="0">
                <a:solidFill>
                  <a:srgbClr val="0042FF"/>
                </a:solidFill>
                <a:latin typeface="微软雅黑"/>
                <a:ea typeface="微软雅黑"/>
                <a:cs typeface="微软雅黑"/>
                <a:sym typeface="微软雅黑"/>
              </a:endParaRPr>
            </a:p>
          </p:txBody>
        </p:sp>
        <p:sp>
          <p:nvSpPr>
            <p:cNvPr id="160" name="圆角矩形 159"/>
            <p:cNvSpPr/>
            <p:nvPr/>
          </p:nvSpPr>
          <p:spPr>
            <a:xfrm>
              <a:off x="15122" y="2982"/>
              <a:ext cx="2946" cy="2530"/>
            </a:xfrm>
            <a:prstGeom prst="roundRect">
              <a:avLst>
                <a:gd name="adj" fmla="val 6111"/>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65" name="文本框 164"/>
            <p:cNvSpPr txBox="1"/>
            <p:nvPr/>
          </p:nvSpPr>
          <p:spPr>
            <a:xfrm>
              <a:off x="15299" y="3048"/>
              <a:ext cx="2616" cy="434"/>
            </a:xfrm>
            <a:prstGeom prst="rect">
              <a:avLst/>
            </a:prstGeom>
            <a:noFill/>
          </p:spPr>
          <p:txBody>
            <a:bodyPr wrap="square" rtlCol="0">
              <a:spAutoFit/>
            </a:bodyPr>
            <a:lstStyle/>
            <a:p>
              <a:pPr algn="ctr">
                <a:defRPr>
                  <a:latin typeface="微软雅黑"/>
                  <a:ea typeface="微软雅黑"/>
                  <a:cs typeface="微软雅黑"/>
                </a:defRPr>
              </a:pPr>
              <a:r>
                <a:rPr lang="zh-CN" sz="1200" b="1">
                  <a:solidFill>
                    <a:srgbClr val="0042FF"/>
                  </a:solidFill>
                  <a:latin typeface="微软雅黑"/>
                  <a:ea typeface="微软雅黑"/>
                  <a:cs typeface="微软雅黑"/>
                </a:rPr>
                <a:t>公域流量引流至私域</a:t>
              </a:r>
              <a:endParaRPr lang="zh-CN" sz="1200" b="1">
                <a:solidFill>
                  <a:srgbClr val="0042FF"/>
                </a:solidFill>
                <a:latin typeface="微软雅黑"/>
                <a:ea typeface="微软雅黑"/>
                <a:cs typeface="微软雅黑"/>
              </a:endParaRPr>
            </a:p>
          </p:txBody>
        </p:sp>
        <p:sp>
          <p:nvSpPr>
            <p:cNvPr id="170" name="圆角矩形 169"/>
            <p:cNvSpPr/>
            <p:nvPr/>
          </p:nvSpPr>
          <p:spPr>
            <a:xfrm>
              <a:off x="15355" y="3566"/>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71" name="圆角矩形 170"/>
            <p:cNvSpPr/>
            <p:nvPr/>
          </p:nvSpPr>
          <p:spPr>
            <a:xfrm>
              <a:off x="15355" y="4566"/>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72" name="圆角矩形 171"/>
            <p:cNvSpPr/>
            <p:nvPr/>
          </p:nvSpPr>
          <p:spPr>
            <a:xfrm>
              <a:off x="16262" y="3566"/>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73" name="圆角矩形 172"/>
            <p:cNvSpPr/>
            <p:nvPr/>
          </p:nvSpPr>
          <p:spPr>
            <a:xfrm>
              <a:off x="16262" y="4566"/>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74" name="圆角矩形 173"/>
            <p:cNvSpPr/>
            <p:nvPr/>
          </p:nvSpPr>
          <p:spPr>
            <a:xfrm>
              <a:off x="17169" y="3566"/>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75" name="圆角矩形 174"/>
            <p:cNvSpPr/>
            <p:nvPr/>
          </p:nvSpPr>
          <p:spPr>
            <a:xfrm>
              <a:off x="17169" y="4566"/>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76" name="圆角矩形 175"/>
            <p:cNvSpPr/>
            <p:nvPr/>
          </p:nvSpPr>
          <p:spPr>
            <a:xfrm>
              <a:off x="15122" y="5886"/>
              <a:ext cx="2946" cy="2530"/>
            </a:xfrm>
            <a:prstGeom prst="roundRect">
              <a:avLst>
                <a:gd name="adj" fmla="val 6111"/>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77" name="文本框 176"/>
            <p:cNvSpPr txBox="1"/>
            <p:nvPr/>
          </p:nvSpPr>
          <p:spPr>
            <a:xfrm>
              <a:off x="15166" y="5952"/>
              <a:ext cx="2848" cy="434"/>
            </a:xfrm>
            <a:prstGeom prst="rect">
              <a:avLst/>
            </a:prstGeom>
            <a:noFill/>
          </p:spPr>
          <p:txBody>
            <a:bodyPr wrap="square" rtlCol="0">
              <a:spAutoFit/>
            </a:bodyPr>
            <a:lstStyle/>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定制化商品与动态供给</a:t>
              </a:r>
              <a:endParaRPr lang="zh-CN" altLang="en-US" sz="1200" b="1">
                <a:solidFill>
                  <a:srgbClr val="0042FF"/>
                </a:solidFill>
                <a:latin typeface="微软雅黑"/>
                <a:ea typeface="微软雅黑"/>
                <a:cs typeface="微软雅黑"/>
              </a:endParaRPr>
            </a:p>
          </p:txBody>
        </p:sp>
        <p:sp>
          <p:nvSpPr>
            <p:cNvPr id="178" name="圆角矩形 177"/>
            <p:cNvSpPr/>
            <p:nvPr/>
          </p:nvSpPr>
          <p:spPr>
            <a:xfrm>
              <a:off x="15355" y="6470"/>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79" name="圆角矩形 178"/>
            <p:cNvSpPr/>
            <p:nvPr/>
          </p:nvSpPr>
          <p:spPr>
            <a:xfrm>
              <a:off x="15355" y="7470"/>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80" name="圆角矩形 179"/>
            <p:cNvSpPr/>
            <p:nvPr/>
          </p:nvSpPr>
          <p:spPr>
            <a:xfrm>
              <a:off x="16262" y="6470"/>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81" name="圆角矩形 180"/>
            <p:cNvSpPr/>
            <p:nvPr/>
          </p:nvSpPr>
          <p:spPr>
            <a:xfrm>
              <a:off x="16262" y="7470"/>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82" name="圆角矩形 181"/>
            <p:cNvSpPr/>
            <p:nvPr/>
          </p:nvSpPr>
          <p:spPr>
            <a:xfrm>
              <a:off x="17169" y="6470"/>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83" name="圆角矩形 182"/>
            <p:cNvSpPr/>
            <p:nvPr/>
          </p:nvSpPr>
          <p:spPr>
            <a:xfrm>
              <a:off x="17169" y="7470"/>
              <a:ext cx="717" cy="728"/>
            </a:xfrm>
            <a:prstGeom prst="roundRect">
              <a:avLst/>
            </a:prstGeom>
            <a:solidFill>
              <a:srgbClr val="E6E6E6">
                <a:alpha val="30000"/>
              </a:srgbClr>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effectLst/>
                <a:latin typeface="微软雅黑"/>
                <a:ea typeface="微软雅黑"/>
                <a:cs typeface="微软雅黑"/>
                <a:sym typeface="微软雅黑"/>
              </a:endParaRPr>
            </a:p>
          </p:txBody>
        </p:sp>
        <p:sp>
          <p:nvSpPr>
            <p:cNvPr id="199" name="文本框 198"/>
            <p:cNvSpPr txBox="1"/>
            <p:nvPr/>
          </p:nvSpPr>
          <p:spPr>
            <a:xfrm>
              <a:off x="15375" y="3576"/>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短视频</a:t>
              </a:r>
              <a:br/>
              <a:r>
                <a:rPr lang="zh-CN" sz="1000">
                  <a:solidFill>
                    <a:srgbClr val="383838"/>
                  </a:solidFill>
                  <a:latin typeface="微软雅黑"/>
                  <a:ea typeface="微软雅黑"/>
                  <a:cs typeface="微软雅黑"/>
                </a:rPr>
                <a:t>广告</a:t>
              </a:r>
              <a:endParaRPr lang="zh-CN" sz="1000">
                <a:solidFill>
                  <a:srgbClr val="383838"/>
                </a:solidFill>
                <a:latin typeface="微软雅黑"/>
                <a:ea typeface="微软雅黑"/>
                <a:cs typeface="微软雅黑"/>
              </a:endParaRPr>
            </a:p>
          </p:txBody>
        </p:sp>
        <p:sp>
          <p:nvSpPr>
            <p:cNvPr id="200" name="文本框 199"/>
            <p:cNvSpPr txBox="1"/>
            <p:nvPr/>
          </p:nvSpPr>
          <p:spPr>
            <a:xfrm>
              <a:off x="16282" y="3576"/>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小红书</a:t>
              </a:r>
              <a:br/>
              <a:r>
                <a:rPr lang="zh-CN" sz="1000">
                  <a:solidFill>
                    <a:srgbClr val="383838"/>
                  </a:solidFill>
                  <a:latin typeface="微软雅黑"/>
                  <a:ea typeface="微软雅黑"/>
                  <a:cs typeface="微软雅黑"/>
                </a:rPr>
                <a:t>种草</a:t>
              </a:r>
              <a:endParaRPr lang="zh-CN" sz="1000">
                <a:solidFill>
                  <a:srgbClr val="383838"/>
                </a:solidFill>
                <a:latin typeface="微软雅黑"/>
                <a:ea typeface="微软雅黑"/>
                <a:cs typeface="微软雅黑"/>
              </a:endParaRPr>
            </a:p>
          </p:txBody>
        </p:sp>
        <p:sp>
          <p:nvSpPr>
            <p:cNvPr id="201" name="文本框 200"/>
            <p:cNvSpPr txBox="1"/>
            <p:nvPr/>
          </p:nvSpPr>
          <p:spPr>
            <a:xfrm>
              <a:off x="17189" y="3576"/>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直播间</a:t>
              </a:r>
              <a:br/>
              <a:r>
                <a:rPr lang="zh-CN" sz="1000">
                  <a:solidFill>
                    <a:srgbClr val="383838"/>
                  </a:solidFill>
                  <a:latin typeface="微软雅黑"/>
                  <a:ea typeface="微软雅黑"/>
                  <a:cs typeface="微软雅黑"/>
                </a:rPr>
                <a:t>引流</a:t>
              </a:r>
              <a:endParaRPr lang="zh-CN" sz="1000">
                <a:solidFill>
                  <a:srgbClr val="383838"/>
                </a:solidFill>
                <a:latin typeface="微软雅黑"/>
                <a:ea typeface="微软雅黑"/>
                <a:cs typeface="微软雅黑"/>
              </a:endParaRPr>
            </a:p>
          </p:txBody>
        </p:sp>
        <p:sp>
          <p:nvSpPr>
            <p:cNvPr id="202" name="文本框 201"/>
            <p:cNvSpPr txBox="1"/>
            <p:nvPr/>
          </p:nvSpPr>
          <p:spPr>
            <a:xfrm>
              <a:off x="15375" y="4576"/>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SEO</a:t>
              </a:r>
              <a:br/>
              <a:r>
                <a:rPr lang="zh-CN" altLang="en-US" sz="1000">
                  <a:solidFill>
                    <a:srgbClr val="383838"/>
                  </a:solidFill>
                  <a:latin typeface="微软雅黑"/>
                  <a:ea typeface="微软雅黑"/>
                  <a:cs typeface="微软雅黑"/>
                </a:rPr>
                <a:t>优化</a:t>
              </a:r>
              <a:endParaRPr lang="zh-CN" altLang="en-US" sz="1000">
                <a:solidFill>
                  <a:srgbClr val="383838"/>
                </a:solidFill>
                <a:latin typeface="微软雅黑"/>
                <a:ea typeface="微软雅黑"/>
                <a:cs typeface="微软雅黑"/>
              </a:endParaRPr>
            </a:p>
          </p:txBody>
        </p:sp>
        <p:sp>
          <p:nvSpPr>
            <p:cNvPr id="203" name="文本框 202"/>
            <p:cNvSpPr txBox="1"/>
            <p:nvPr/>
          </p:nvSpPr>
          <p:spPr>
            <a:xfrm>
              <a:off x="16282" y="4576"/>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电商</a:t>
              </a:r>
              <a:br/>
              <a:r>
                <a:rPr lang="zh-CN" sz="1000">
                  <a:solidFill>
                    <a:srgbClr val="383838"/>
                  </a:solidFill>
                  <a:latin typeface="微软雅黑"/>
                  <a:ea typeface="微软雅黑"/>
                  <a:cs typeface="微软雅黑"/>
                </a:rPr>
                <a:t>平台</a:t>
              </a:r>
              <a:br/>
              <a:r>
                <a:rPr lang="zh-CN" sz="1000">
                  <a:solidFill>
                    <a:srgbClr val="383838"/>
                  </a:solidFill>
                  <a:latin typeface="微软雅黑"/>
                  <a:ea typeface="微软雅黑"/>
                  <a:cs typeface="微软雅黑"/>
                </a:rPr>
                <a:t>硬广</a:t>
              </a:r>
              <a:endParaRPr lang="zh-CN" sz="1000">
                <a:solidFill>
                  <a:srgbClr val="383838"/>
                </a:solidFill>
                <a:latin typeface="微软雅黑"/>
                <a:ea typeface="微软雅黑"/>
                <a:cs typeface="微软雅黑"/>
              </a:endParaRPr>
            </a:p>
          </p:txBody>
        </p:sp>
        <p:sp>
          <p:nvSpPr>
            <p:cNvPr id="204" name="文本框 203"/>
            <p:cNvSpPr txBox="1"/>
            <p:nvPr/>
          </p:nvSpPr>
          <p:spPr>
            <a:xfrm>
              <a:off x="17189" y="4576"/>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门店</a:t>
              </a:r>
              <a:br/>
              <a:r>
                <a:rPr lang="zh-CN" sz="1000">
                  <a:solidFill>
                    <a:srgbClr val="383838"/>
                  </a:solidFill>
                  <a:latin typeface="微软雅黑"/>
                  <a:ea typeface="微软雅黑"/>
                  <a:cs typeface="微软雅黑"/>
                </a:rPr>
                <a:t>活动</a:t>
              </a:r>
              <a:br/>
              <a:r>
                <a:rPr lang="zh-CN" sz="1000">
                  <a:solidFill>
                    <a:srgbClr val="383838"/>
                  </a:solidFill>
                  <a:latin typeface="微软雅黑"/>
                  <a:ea typeface="微软雅黑"/>
                  <a:cs typeface="微软雅黑"/>
                </a:rPr>
                <a:t>物料</a:t>
              </a:r>
              <a:endParaRPr lang="zh-CN" sz="1000">
                <a:solidFill>
                  <a:srgbClr val="383838"/>
                </a:solidFill>
                <a:latin typeface="微软雅黑"/>
                <a:ea typeface="微软雅黑"/>
                <a:cs typeface="微软雅黑"/>
              </a:endParaRPr>
            </a:p>
          </p:txBody>
        </p:sp>
        <p:sp>
          <p:nvSpPr>
            <p:cNvPr id="206" name="文本框 205"/>
            <p:cNvSpPr txBox="1"/>
            <p:nvPr/>
          </p:nvSpPr>
          <p:spPr>
            <a:xfrm>
              <a:off x="15375" y="6480"/>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钩子</a:t>
              </a:r>
              <a:br/>
              <a:r>
                <a:rPr lang="zh-CN" sz="1000">
                  <a:solidFill>
                    <a:srgbClr val="383838"/>
                  </a:solidFill>
                  <a:latin typeface="微软雅黑"/>
                  <a:ea typeface="微软雅黑"/>
                  <a:cs typeface="微软雅黑"/>
                </a:rPr>
                <a:t>引流品</a:t>
              </a:r>
              <a:endParaRPr lang="zh-CN" sz="1000">
                <a:solidFill>
                  <a:srgbClr val="383838"/>
                </a:solidFill>
                <a:latin typeface="微软雅黑"/>
                <a:ea typeface="微软雅黑"/>
                <a:cs typeface="微软雅黑"/>
              </a:endParaRPr>
            </a:p>
          </p:txBody>
        </p:sp>
        <p:sp>
          <p:nvSpPr>
            <p:cNvPr id="207" name="文本框 206"/>
            <p:cNvSpPr txBox="1"/>
            <p:nvPr/>
          </p:nvSpPr>
          <p:spPr>
            <a:xfrm>
              <a:off x="16282" y="6480"/>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会员</a:t>
              </a:r>
              <a:br/>
              <a:r>
                <a:rPr lang="zh-CN" sz="1000">
                  <a:solidFill>
                    <a:srgbClr val="383838"/>
                  </a:solidFill>
                  <a:latin typeface="微软雅黑"/>
                  <a:ea typeface="微软雅黑"/>
                  <a:cs typeface="微软雅黑"/>
                </a:rPr>
                <a:t>专属</a:t>
              </a:r>
              <a:br/>
              <a:r>
                <a:rPr lang="zh-CN" sz="1000">
                  <a:solidFill>
                    <a:srgbClr val="383838"/>
                  </a:solidFill>
                  <a:latin typeface="微软雅黑"/>
                  <a:ea typeface="微软雅黑"/>
                  <a:cs typeface="微软雅黑"/>
                </a:rPr>
                <a:t>产品</a:t>
              </a:r>
              <a:endParaRPr lang="zh-CN" sz="1000">
                <a:solidFill>
                  <a:srgbClr val="383838"/>
                </a:solidFill>
                <a:latin typeface="微软雅黑"/>
                <a:ea typeface="微软雅黑"/>
                <a:cs typeface="微软雅黑"/>
              </a:endParaRPr>
            </a:p>
          </p:txBody>
        </p:sp>
        <p:sp>
          <p:nvSpPr>
            <p:cNvPr id="208" name="文本框 207"/>
            <p:cNvSpPr txBox="1"/>
            <p:nvPr/>
          </p:nvSpPr>
          <p:spPr>
            <a:xfrm>
              <a:off x="17189" y="6480"/>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动态</a:t>
              </a:r>
              <a:br/>
              <a:r>
                <a:rPr lang="zh-CN" altLang="en-US" sz="1000">
                  <a:solidFill>
                    <a:srgbClr val="383838"/>
                  </a:solidFill>
                  <a:latin typeface="微软雅黑"/>
                  <a:ea typeface="微软雅黑"/>
                  <a:cs typeface="微软雅黑"/>
                </a:rPr>
                <a:t>选品</a:t>
              </a:r>
              <a:endParaRPr lang="zh-CN" altLang="en-US" sz="1000">
                <a:solidFill>
                  <a:srgbClr val="383838"/>
                </a:solidFill>
                <a:latin typeface="微软雅黑"/>
                <a:ea typeface="微软雅黑"/>
                <a:cs typeface="微软雅黑"/>
              </a:endParaRPr>
            </a:p>
          </p:txBody>
        </p:sp>
        <p:sp>
          <p:nvSpPr>
            <p:cNvPr id="209" name="文本框 208"/>
            <p:cNvSpPr txBox="1"/>
            <p:nvPr/>
          </p:nvSpPr>
          <p:spPr>
            <a:xfrm>
              <a:off x="15375" y="7480"/>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节假日</a:t>
              </a:r>
              <a:br/>
              <a:r>
                <a:rPr lang="zh-CN" sz="1000">
                  <a:solidFill>
                    <a:srgbClr val="383838"/>
                  </a:solidFill>
                  <a:latin typeface="微软雅黑"/>
                  <a:ea typeface="微软雅黑"/>
                  <a:cs typeface="微软雅黑"/>
                </a:rPr>
                <a:t>契合品</a:t>
              </a:r>
              <a:endParaRPr lang="zh-CN" sz="1000">
                <a:solidFill>
                  <a:srgbClr val="383838"/>
                </a:solidFill>
                <a:latin typeface="微软雅黑"/>
                <a:ea typeface="微软雅黑"/>
                <a:cs typeface="微软雅黑"/>
              </a:endParaRPr>
            </a:p>
          </p:txBody>
        </p:sp>
        <p:sp>
          <p:nvSpPr>
            <p:cNvPr id="210" name="文本框 209"/>
            <p:cNvSpPr txBox="1"/>
            <p:nvPr/>
          </p:nvSpPr>
          <p:spPr>
            <a:xfrm>
              <a:off x="16282" y="7480"/>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公域</a:t>
              </a:r>
              <a:br/>
              <a:r>
                <a:rPr lang="zh-CN" sz="1000">
                  <a:solidFill>
                    <a:srgbClr val="383838"/>
                  </a:solidFill>
                  <a:latin typeface="微软雅黑"/>
                  <a:ea typeface="微软雅黑"/>
                  <a:cs typeface="微软雅黑"/>
                </a:rPr>
                <a:t>爆款</a:t>
              </a:r>
              <a:endParaRPr lang="zh-CN" sz="1000">
                <a:solidFill>
                  <a:srgbClr val="383838"/>
                </a:solidFill>
                <a:latin typeface="微软雅黑"/>
                <a:ea typeface="微软雅黑"/>
                <a:cs typeface="微软雅黑"/>
              </a:endParaRPr>
            </a:p>
          </p:txBody>
        </p:sp>
        <p:sp>
          <p:nvSpPr>
            <p:cNvPr id="211" name="文本框 210"/>
            <p:cNvSpPr txBox="1"/>
            <p:nvPr/>
          </p:nvSpPr>
          <p:spPr>
            <a:xfrm>
              <a:off x="17189" y="7480"/>
              <a:ext cx="677" cy="708"/>
            </a:xfrm>
            <a:prstGeom prst="rect">
              <a:avLst/>
            </a:prstGeom>
            <a:noFill/>
          </p:spPr>
          <p:txBody>
            <a:bodyPr wrap="square" rtlCol="0" lIns="0" rIns="0" tIns="0" bIns="0" anchor="ctr">
              <a:noAutofit/>
            </a:bodyPr>
            <a:lstStyle/>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双</a:t>
              </a:r>
              <a:r>
                <a:rPr lang="en-US" altLang="zh-CN" sz="1000">
                  <a:solidFill>
                    <a:srgbClr val="383838"/>
                  </a:solidFill>
                  <a:latin typeface="微软雅黑"/>
                  <a:ea typeface="微软雅黑"/>
                  <a:cs typeface="微软雅黑"/>
                </a:rPr>
                <a:t>11</a:t>
              </a:r>
              <a:br/>
              <a:r>
                <a:rPr lang="zh-CN" altLang="en-US" sz="1000">
                  <a:solidFill>
                    <a:srgbClr val="383838"/>
                  </a:solidFill>
                  <a:latin typeface="微软雅黑"/>
                  <a:ea typeface="微软雅黑"/>
                  <a:cs typeface="微软雅黑"/>
                </a:rPr>
                <a:t>限量</a:t>
              </a:r>
              <a:br/>
              <a:r>
                <a:rPr lang="zh-CN" altLang="en-US" sz="1000">
                  <a:solidFill>
                    <a:srgbClr val="383838"/>
                  </a:solidFill>
                  <a:latin typeface="微软雅黑"/>
                  <a:ea typeface="微软雅黑"/>
                  <a:cs typeface="微软雅黑"/>
                </a:rPr>
                <a:t>礼盒</a:t>
              </a:r>
              <a:endParaRPr lang="zh-CN" altLang="en-US" sz="1000">
                <a:solidFill>
                  <a:srgbClr val="383838"/>
                </a:solidFill>
                <a:latin typeface="微软雅黑"/>
                <a:ea typeface="微软雅黑"/>
                <a:cs typeface="微软雅黑"/>
              </a:endParaRPr>
            </a:p>
          </p:txBody>
        </p:sp>
      </p:grpSp>
      <p:grpSp>
        <p:nvGrpSpPr>
          <p:cNvPr id="9" name="组合 8"/>
          <p:cNvGrpSpPr/>
          <p:nvPr/>
        </p:nvGrpSpPr>
        <p:grpSpPr>
          <a:xfrm>
            <a:off x="7675245" y="347980"/>
            <a:ext cx="4588510" cy="367030"/>
            <a:chOff x="12087" y="-1089"/>
            <a:chExt cx="7226" cy="578"/>
          </a:xfrm>
        </p:grpSpPr>
        <p:pic>
          <p:nvPicPr>
            <p:cNvPr id="15" name="图片 14"/>
            <p:cNvPicPr>
              <a:picLocks noChangeAspect="1"/>
            </p:cNvPicPr>
            <p:nvPr userDrawn="1"/>
          </p:nvPicPr>
          <p:blipFill>
            <a:blip r:embed="rId9"/>
            <a:srcRect r="57320" b="-13333"/>
            <a:stretch>
              <a:fillRect/>
            </a:stretch>
          </p:blipFill>
          <p:spPr>
            <a:xfrm>
              <a:off x="12087" y="-1089"/>
              <a:ext cx="2548" cy="578"/>
            </a:xfrm>
            <a:prstGeom prst="rect">
              <a:avLst/>
            </a:prstGeom>
          </p:spPr>
        </p:pic>
        <p:sp>
          <p:nvSpPr>
            <p:cNvPr id="16" name="文本框 1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 name="矩形 436"/>
          <p:cNvSpPr/>
          <p:nvPr/>
        </p:nvSpPr>
        <p:spPr>
          <a:xfrm>
            <a:off x="539115" y="1040130"/>
            <a:ext cx="11269980" cy="753745"/>
          </a:xfrm>
          <a:prstGeom prst="rect">
            <a:avLst/>
          </a:prstGeom>
          <a:solidFill>
            <a:srgbClr val="E6E6E6">
              <a:alpha val="20000"/>
            </a:srgbClr>
          </a:solidFill>
          <a:ln>
            <a:solidFill>
              <a:srgbClr val="E6E6E6"/>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13" name="等腰三角形 12"/>
          <p:cNvSpPr/>
          <p:nvPr/>
        </p:nvSpPr>
        <p:spPr>
          <a:xfrm>
            <a:off x="705485" y="2082800"/>
            <a:ext cx="4667885" cy="1046480"/>
          </a:xfrm>
          <a:prstGeom prst="triangle">
            <a:avLst>
              <a:gd name="adj" fmla="val 49830"/>
            </a:avLst>
          </a:prstGeom>
          <a:gradFill flip="none" rotWithShape="1">
            <a:gsLst>
              <a:gs pos="100000">
                <a:srgbClr val="3368FF">
                  <a:alpha val="10000"/>
                </a:srgbClr>
              </a:gs>
              <a:gs pos="30000">
                <a:srgbClr val="3368FF">
                  <a:alpha val="40000"/>
                </a:srgbClr>
              </a:gs>
            </a:gsLst>
            <a:lin ang="5400000" scaled="1"/>
            <a:tileRect/>
          </a:gradFill>
          <a:ln w="25400">
            <a:noFill/>
          </a:ln>
          <a:effectLst>
            <a:outerShdw blurRad="241300" dist="190500" dir="5400000" sx="94000" sy="94000" algn="t" rotWithShape="0">
              <a:srgbClr val="3368FF">
                <a:alpha val="43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none" lIns="98865" tIns="49432" rIns="98865" bIns="49432"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spc="300">
              <a:solidFill>
                <a:srgbClr val="FFFFFF"/>
              </a:solidFill>
              <a:effectLst>
                <a:outerShdw blurRad="50800" dist="38100" dir="5400000" algn="t" rotWithShape="0">
                  <a:srgbClr val="0042FF">
                    <a:alpha val="40000"/>
                  </a:srgbClr>
                </a:outerShdw>
              </a:effectLst>
              <a:latin typeface="微软雅黑"/>
              <a:ea typeface="微软雅黑"/>
              <a:cs typeface="微软雅黑"/>
              <a:sym typeface="微软雅黑"/>
            </a:endParaRPr>
          </a:p>
        </p:txBody>
      </p:sp>
      <p:sp>
        <p:nvSpPr>
          <p:cNvPr id="11" name="矩形 10"/>
          <p:cNvSpPr/>
          <p:nvPr/>
        </p:nvSpPr>
        <p:spPr>
          <a:xfrm>
            <a:off x="900430" y="3288665"/>
            <a:ext cx="4216400" cy="971550"/>
          </a:xfrm>
          <a:prstGeom prst="rect">
            <a:avLst/>
          </a:prstGeom>
          <a:solidFill>
            <a:srgbClr val="E6E6E6">
              <a:alpha val="40000"/>
            </a:srgbClr>
          </a:solidFill>
          <a:ln w="12700" cap="flat" cmpd="sng" algn="ctr">
            <a:solidFill>
              <a:srgbClr val="0042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5" name="标题 2"/>
          <p:cNvSpPr>
            <a:spLocks noGrp="1"/>
          </p:cNvSpPr>
          <p:nvPr/>
        </p:nvSpPr>
        <p:spPr>
          <a:xfrm>
            <a:off x="1105535" y="347980"/>
            <a:ext cx="725551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80">
                <a:solidFill>
                  <a:srgbClr val="0042FF"/>
                </a:solidFill>
                <a:effectLst/>
                <a:latin typeface="微软雅黑"/>
                <a:ea typeface="微软雅黑"/>
                <a:cs typeface="微软雅黑"/>
              </a:rPr>
              <a:t>业务框架</a:t>
            </a:r>
            <a:r>
              <a:rPr lang="en-US" altLang="zh-CN" sz="2480">
                <a:solidFill>
                  <a:srgbClr val="0042FF"/>
                </a:solidFill>
                <a:effectLst/>
                <a:latin typeface="微软雅黑"/>
                <a:ea typeface="微软雅黑"/>
                <a:cs typeface="微软雅黑"/>
              </a:rPr>
              <a:t>-</a:t>
            </a:r>
            <a:r>
              <a:rPr sz="2480">
                <a:solidFill>
                  <a:srgbClr val="0042FF"/>
                </a:solidFill>
                <a:effectLst/>
                <a:latin typeface="微软雅黑"/>
                <a:ea typeface="微软雅黑"/>
                <a:cs typeface="微软雅黑"/>
              </a:rPr>
              <a:t>屋顶架构</a:t>
            </a:r>
            <a:r>
              <a:rPr sz="2480">
                <a:solidFill>
                  <a:srgbClr val="0042FF"/>
                </a:solidFill>
                <a:latin typeface="微软雅黑"/>
                <a:ea typeface="微软雅黑"/>
                <a:cs typeface="微软雅黑"/>
              </a:rPr>
              <a:t> | </a:t>
            </a:r>
            <a:r>
              <a:rPr sz="2480">
                <a:solidFill>
                  <a:srgbClr val="383838"/>
                </a:solidFill>
                <a:effectLst/>
                <a:latin typeface="微软雅黑"/>
                <a:ea typeface="微软雅黑"/>
                <a:cs typeface="微软雅黑"/>
              </a:rPr>
              <a:t>消费品行业运营管理体系框架</a:t>
            </a:r>
            <a:endParaRPr sz="248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等腰三角形 12"/>
          <p:cNvSpPr/>
          <p:nvPr/>
        </p:nvSpPr>
        <p:spPr>
          <a:xfrm>
            <a:off x="950595" y="2165350"/>
            <a:ext cx="4189095" cy="960755"/>
          </a:xfrm>
          <a:prstGeom prst="triangle">
            <a:avLst>
              <a:gd name="adj" fmla="val 49830"/>
            </a:avLst>
          </a:prstGeom>
          <a:gradFill>
            <a:gsLst>
              <a:gs pos="0">
                <a:srgbClr val="3368FF"/>
              </a:gs>
              <a:gs pos="100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endParaRPr>
          </a:p>
        </p:txBody>
      </p:sp>
      <p:sp>
        <p:nvSpPr>
          <p:cNvPr id="6" name="文本框 5"/>
          <p:cNvSpPr txBox="1"/>
          <p:nvPr/>
        </p:nvSpPr>
        <p:spPr>
          <a:xfrm>
            <a:off x="1836420" y="2531745"/>
            <a:ext cx="2435860" cy="52197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消费品行业</a:t>
            </a:r>
            <a:endParaRPr lang="zh-CN" altLang="en-US" sz="14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运营管理体系框架</a:t>
            </a:r>
            <a:endParaRPr lang="zh-CN" altLang="en-US" sz="1400" b="1">
              <a:solidFill>
                <a:srgbClr val="FFFFFF"/>
              </a:solidFill>
              <a:latin typeface="微软雅黑"/>
              <a:ea typeface="微软雅黑"/>
              <a:cs typeface="微软雅黑"/>
            </a:endParaRPr>
          </a:p>
        </p:txBody>
      </p:sp>
      <p:sp>
        <p:nvSpPr>
          <p:cNvPr id="259" name="右箭头 258"/>
          <p:cNvSpPr/>
          <p:nvPr/>
        </p:nvSpPr>
        <p:spPr>
          <a:xfrm rot="5400000">
            <a:off x="1478915" y="3152775"/>
            <a:ext cx="392430" cy="219710"/>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9" name="右箭头 8"/>
          <p:cNvSpPr/>
          <p:nvPr/>
        </p:nvSpPr>
        <p:spPr>
          <a:xfrm rot="5400000">
            <a:off x="4135120" y="3152775"/>
            <a:ext cx="392430" cy="219710"/>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2" name="矩形 11"/>
          <p:cNvSpPr/>
          <p:nvPr/>
        </p:nvSpPr>
        <p:spPr>
          <a:xfrm>
            <a:off x="900430" y="4358005"/>
            <a:ext cx="4226560" cy="971550"/>
          </a:xfrm>
          <a:prstGeom prst="rect">
            <a:avLst/>
          </a:prstGeom>
          <a:solidFill>
            <a:srgbClr val="3368FF">
              <a:alpha val="10000"/>
            </a:srgbClr>
          </a:solidFill>
          <a:ln w="12700" cmpd="sng">
            <a:solidFill>
              <a:srgbClr val="3368FF"/>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13" name="矩形 12"/>
          <p:cNvSpPr/>
          <p:nvPr/>
        </p:nvSpPr>
        <p:spPr>
          <a:xfrm>
            <a:off x="854710" y="5485130"/>
            <a:ext cx="4271645" cy="971550"/>
          </a:xfrm>
          <a:prstGeom prst="rect">
            <a:avLst/>
          </a:prstGeom>
          <a:solidFill>
            <a:srgbClr val="E6E6E6">
              <a:alpha val="40000"/>
            </a:srgbClr>
          </a:solidFill>
          <a:ln w="12700" cap="flat" cmpd="sng" algn="ctr">
            <a:solidFill>
              <a:srgbClr val="0042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4" name="左弧形箭头 13"/>
          <p:cNvSpPr/>
          <p:nvPr/>
        </p:nvSpPr>
        <p:spPr>
          <a:xfrm>
            <a:off x="615315" y="3980815"/>
            <a:ext cx="215900" cy="577850"/>
          </a:xfrm>
          <a:prstGeom prst="curvedRightArrow">
            <a:avLst/>
          </a:prstGeom>
          <a:gradFill>
            <a:gsLst>
              <a:gs pos="0">
                <a:srgbClr val="0042FF">
                  <a:alpha val="0"/>
                </a:srgbClr>
              </a:gs>
              <a:gs pos="100000">
                <a:srgbClr val="0042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5" name="左弧形箭头 14"/>
          <p:cNvSpPr/>
          <p:nvPr/>
        </p:nvSpPr>
        <p:spPr>
          <a:xfrm>
            <a:off x="565785" y="5170170"/>
            <a:ext cx="215900" cy="577850"/>
          </a:xfrm>
          <a:prstGeom prst="curvedRightArrow">
            <a:avLst/>
          </a:prstGeom>
          <a:gradFill>
            <a:gsLst>
              <a:gs pos="0">
                <a:srgbClr val="3368FF">
                  <a:alpha val="0"/>
                </a:srgbClr>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2" name="文本占位符 30"/>
          <p:cNvSpPr>
            <a:spLocks noGrp="1"/>
          </p:cNvSpPr>
          <p:nvPr/>
        </p:nvSpPr>
        <p:spPr>
          <a:xfrm>
            <a:off x="650875" y="1132205"/>
            <a:ext cx="10923270" cy="62484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indent="0">
              <a:buNone/>
              <a:defRPr>
                <a:latin typeface="微软雅黑"/>
                <a:ea typeface="微软雅黑"/>
                <a:cs typeface="微软雅黑"/>
              </a:defRPr>
            </a:pPr>
            <a:r>
              <a:rPr lang="zh-CN" altLang="en-US" sz="1500" b="1">
                <a:solidFill>
                  <a:srgbClr val="0042FF"/>
                </a:solidFill>
                <a:latin typeface="微软雅黑"/>
                <a:ea typeface="微软雅黑"/>
                <a:cs typeface="微软雅黑"/>
              </a:rPr>
              <a:t>运营管理目标：</a:t>
            </a:r>
            <a:r>
              <a:rPr lang="zh-CN" altLang="en-US" sz="1500">
                <a:solidFill>
                  <a:srgbClr val="383838"/>
                </a:solidFill>
                <a:latin typeface="微软雅黑"/>
                <a:ea typeface="微软雅黑"/>
                <a:cs typeface="微软雅黑"/>
              </a:rPr>
              <a:t>构建</a:t>
            </a:r>
            <a:r>
              <a:rPr lang="en-US" altLang="zh-CN" sz="1500">
                <a:solidFill>
                  <a:srgbClr val="383838"/>
                </a:solidFill>
                <a:latin typeface="微软雅黑"/>
                <a:ea typeface="微软雅黑"/>
                <a:cs typeface="微软雅黑"/>
              </a:rPr>
              <a:t>“</a:t>
            </a:r>
            <a:r>
              <a:rPr lang="zh-CN" altLang="en-US" sz="1500">
                <a:solidFill>
                  <a:srgbClr val="383838"/>
                </a:solidFill>
                <a:latin typeface="微软雅黑"/>
                <a:ea typeface="微软雅黑"/>
                <a:cs typeface="微软雅黑"/>
              </a:rPr>
              <a:t>市场洞察</a:t>
            </a:r>
            <a:r>
              <a:rPr lang="en-US" altLang="zh-CN" sz="1500">
                <a:solidFill>
                  <a:srgbClr val="383838"/>
                </a:solidFill>
                <a:latin typeface="微软雅黑"/>
                <a:ea typeface="微软雅黑"/>
                <a:cs typeface="微软雅黑"/>
              </a:rPr>
              <a:t>-</a:t>
            </a:r>
            <a:r>
              <a:rPr lang="zh-CN" altLang="en-US" sz="1500">
                <a:solidFill>
                  <a:srgbClr val="383838"/>
                </a:solidFill>
                <a:latin typeface="微软雅黑"/>
                <a:ea typeface="微软雅黑"/>
                <a:cs typeface="微软雅黑"/>
              </a:rPr>
              <a:t>供应链协同</a:t>
            </a:r>
            <a:r>
              <a:rPr lang="en-US" altLang="zh-CN" sz="1500">
                <a:solidFill>
                  <a:srgbClr val="383838"/>
                </a:solidFill>
                <a:latin typeface="微软雅黑"/>
                <a:ea typeface="微软雅黑"/>
                <a:cs typeface="微软雅黑"/>
              </a:rPr>
              <a:t>-</a:t>
            </a:r>
            <a:r>
              <a:rPr lang="zh-CN" altLang="en-US" sz="1500">
                <a:solidFill>
                  <a:srgbClr val="383838"/>
                </a:solidFill>
                <a:latin typeface="微软雅黑"/>
                <a:ea typeface="微软雅黑"/>
                <a:cs typeface="微软雅黑"/>
              </a:rPr>
              <a:t>渠道增效</a:t>
            </a:r>
            <a:r>
              <a:rPr lang="en-US" altLang="zh-CN" sz="1500">
                <a:solidFill>
                  <a:srgbClr val="383838"/>
                </a:solidFill>
                <a:latin typeface="微软雅黑"/>
                <a:ea typeface="微软雅黑"/>
                <a:cs typeface="微软雅黑"/>
              </a:rPr>
              <a:t>-</a:t>
            </a:r>
            <a:r>
              <a:rPr lang="zh-CN" altLang="en-US" sz="1500">
                <a:solidFill>
                  <a:srgbClr val="383838"/>
                </a:solidFill>
                <a:latin typeface="微软雅黑"/>
                <a:ea typeface="微软雅黑"/>
                <a:cs typeface="微软雅黑"/>
              </a:rPr>
              <a:t>客户运营</a:t>
            </a:r>
            <a:r>
              <a:rPr lang="en-US" altLang="zh-CN" sz="1500">
                <a:solidFill>
                  <a:srgbClr val="383838"/>
                </a:solidFill>
                <a:latin typeface="微软雅黑"/>
                <a:ea typeface="微软雅黑"/>
                <a:cs typeface="微软雅黑"/>
              </a:rPr>
              <a:t>”</a:t>
            </a:r>
            <a:r>
              <a:rPr lang="zh-CN" altLang="en-US" sz="1500">
                <a:solidFill>
                  <a:srgbClr val="383838"/>
                </a:solidFill>
                <a:latin typeface="微软雅黑"/>
                <a:ea typeface="微软雅黑"/>
                <a:cs typeface="微软雅黑"/>
              </a:rPr>
              <a:t>的全链路数字化管理体系，实现</a:t>
            </a:r>
            <a:r>
              <a:rPr lang="zh-CN" altLang="en-US" sz="1500" b="1">
                <a:solidFill>
                  <a:srgbClr val="0042FF"/>
                </a:solidFill>
                <a:latin typeface="微软雅黑"/>
                <a:ea typeface="微软雅黑"/>
                <a:cs typeface="微软雅黑"/>
              </a:rPr>
              <a:t>需求精准响应、资源动态配置、成本持续优化</a:t>
            </a:r>
            <a:r>
              <a:rPr lang="zh-CN" altLang="en-US" sz="1500">
                <a:solidFill>
                  <a:srgbClr val="383838"/>
                </a:solidFill>
                <a:latin typeface="微软雅黑"/>
                <a:ea typeface="微软雅黑"/>
                <a:cs typeface="微软雅黑"/>
              </a:rPr>
              <a:t>，支撑企业可持续增长。</a:t>
            </a:r>
            <a:endParaRPr lang="zh-CN" altLang="en-US" sz="1500">
              <a:solidFill>
                <a:srgbClr val="383838"/>
              </a:solidFill>
              <a:latin typeface="微软雅黑"/>
              <a:ea typeface="微软雅黑"/>
              <a:cs typeface="微软雅黑"/>
            </a:endParaRPr>
          </a:p>
        </p:txBody>
      </p:sp>
      <p:sp>
        <p:nvSpPr>
          <p:cNvPr id="23" name="文本框 22"/>
          <p:cNvSpPr txBox="1"/>
          <p:nvPr/>
        </p:nvSpPr>
        <p:spPr>
          <a:xfrm>
            <a:off x="1784985" y="3354705"/>
            <a:ext cx="2470150" cy="321945"/>
          </a:xfrm>
          <a:prstGeom prst="rect">
            <a:avLst/>
          </a:prstGeom>
          <a:noFill/>
        </p:spPr>
        <p:txBody>
          <a:bodyPr wrap="square" rtlCol="0">
            <a:spAutoFit/>
          </a:bodyPr>
          <a:lstStyle/>
          <a:p>
            <a:pPr algn="ctr">
              <a:defRPr>
                <a:latin typeface="微软雅黑"/>
                <a:ea typeface="微软雅黑"/>
                <a:cs typeface="微软雅黑"/>
              </a:defRPr>
            </a:pPr>
            <a:r>
              <a:rPr lang="zh-CN" altLang="en-US" sz="1500" b="1">
                <a:solidFill>
                  <a:srgbClr val="0042FF"/>
                </a:solidFill>
                <a:latin typeface="微软雅黑"/>
                <a:ea typeface="微软雅黑"/>
                <a:cs typeface="微软雅黑"/>
              </a:rPr>
              <a:t>消费品全生命周期管理</a:t>
            </a:r>
            <a:endParaRPr lang="zh-CN" altLang="en-US" sz="1500" b="1">
              <a:solidFill>
                <a:srgbClr val="0042FF"/>
              </a:solidFill>
              <a:latin typeface="微软雅黑"/>
              <a:ea typeface="微软雅黑"/>
              <a:cs typeface="微软雅黑"/>
            </a:endParaRPr>
          </a:p>
        </p:txBody>
      </p:sp>
      <p:grpSp>
        <p:nvGrpSpPr>
          <p:cNvPr id="28" name="组合 27"/>
          <p:cNvGrpSpPr/>
          <p:nvPr/>
        </p:nvGrpSpPr>
        <p:grpSpPr>
          <a:xfrm>
            <a:off x="1113155" y="3703955"/>
            <a:ext cx="756920" cy="450850"/>
            <a:chOff x="1753" y="5330"/>
            <a:chExt cx="1192" cy="710"/>
          </a:xfrm>
        </p:grpSpPr>
        <p:sp>
          <p:nvSpPr>
            <p:cNvPr id="24" name="矩形 23"/>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357" name="Object60"/>
            <p:cNvSpPr/>
            <p:nvPr>
              <p:custDataLst>
                <p:tags r:id="rId3"/>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市场需求</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分析</a:t>
              </a:r>
              <a:endParaRPr lang="zh-CN" altLang="en-US" sz="1050" dirty="0" err="1">
                <a:solidFill>
                  <a:srgbClr val="383838"/>
                </a:solidFill>
                <a:latin typeface="微软雅黑"/>
                <a:ea typeface="微软雅黑"/>
                <a:cs typeface="微软雅黑"/>
              </a:endParaRPr>
            </a:p>
          </p:txBody>
        </p:sp>
      </p:grpSp>
      <p:grpSp>
        <p:nvGrpSpPr>
          <p:cNvPr id="29" name="组合 28"/>
          <p:cNvGrpSpPr/>
          <p:nvPr/>
        </p:nvGrpSpPr>
        <p:grpSpPr>
          <a:xfrm>
            <a:off x="2096770" y="3703955"/>
            <a:ext cx="757555" cy="450850"/>
            <a:chOff x="1753" y="5330"/>
            <a:chExt cx="1193" cy="710"/>
          </a:xfrm>
        </p:grpSpPr>
        <p:sp>
          <p:nvSpPr>
            <p:cNvPr id="30" name="矩形 29"/>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31" name="Object60"/>
            <p:cNvSpPr/>
            <p:nvPr>
              <p:custDataLst>
                <p:tags r:id="rId4"/>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产品生命周期管理</a:t>
              </a:r>
              <a:endParaRPr lang="zh-CN" altLang="en-US" sz="1050" dirty="0" err="1">
                <a:solidFill>
                  <a:srgbClr val="383838"/>
                </a:solidFill>
                <a:latin typeface="微软雅黑"/>
                <a:ea typeface="微软雅黑"/>
                <a:cs typeface="微软雅黑"/>
              </a:endParaRPr>
            </a:p>
          </p:txBody>
        </p:sp>
      </p:grpSp>
      <p:grpSp>
        <p:nvGrpSpPr>
          <p:cNvPr id="32" name="组合 31"/>
          <p:cNvGrpSpPr/>
          <p:nvPr/>
        </p:nvGrpSpPr>
        <p:grpSpPr>
          <a:xfrm>
            <a:off x="3081020" y="3703955"/>
            <a:ext cx="757555" cy="450850"/>
            <a:chOff x="1753" y="5330"/>
            <a:chExt cx="1193" cy="710"/>
          </a:xfrm>
        </p:grpSpPr>
        <p:sp>
          <p:nvSpPr>
            <p:cNvPr id="33" name="矩形 32"/>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34" name="Object60"/>
            <p:cNvSpPr/>
            <p:nvPr>
              <p:custDataLst>
                <p:tags r:id="rId5"/>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渠道效能</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分析</a:t>
              </a:r>
              <a:endParaRPr lang="zh-CN" altLang="en-US" sz="1050" dirty="0" err="1">
                <a:solidFill>
                  <a:srgbClr val="383838"/>
                </a:solidFill>
                <a:latin typeface="微软雅黑"/>
                <a:ea typeface="微软雅黑"/>
                <a:cs typeface="微软雅黑"/>
              </a:endParaRPr>
            </a:p>
          </p:txBody>
        </p:sp>
      </p:grpSp>
      <p:grpSp>
        <p:nvGrpSpPr>
          <p:cNvPr id="36" name="组合 35"/>
          <p:cNvGrpSpPr/>
          <p:nvPr/>
        </p:nvGrpSpPr>
        <p:grpSpPr>
          <a:xfrm>
            <a:off x="4065270" y="3703955"/>
            <a:ext cx="757555" cy="450850"/>
            <a:chOff x="1753" y="5330"/>
            <a:chExt cx="1193" cy="710"/>
          </a:xfrm>
        </p:grpSpPr>
        <p:sp>
          <p:nvSpPr>
            <p:cNvPr id="37" name="矩形 36"/>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38" name="Object60"/>
            <p:cNvSpPr/>
            <p:nvPr>
              <p:custDataLst>
                <p:tags r:id="rId6"/>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客户价值</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分层</a:t>
              </a:r>
              <a:endParaRPr lang="zh-CN" altLang="en-US" sz="1050" dirty="0" err="1">
                <a:solidFill>
                  <a:srgbClr val="383838"/>
                </a:solidFill>
                <a:latin typeface="微软雅黑"/>
                <a:ea typeface="微软雅黑"/>
                <a:cs typeface="微软雅黑"/>
              </a:endParaRPr>
            </a:p>
          </p:txBody>
        </p:sp>
      </p:grpSp>
      <p:sp>
        <p:nvSpPr>
          <p:cNvPr id="52" name="文本框 51"/>
          <p:cNvSpPr txBox="1"/>
          <p:nvPr/>
        </p:nvSpPr>
        <p:spPr>
          <a:xfrm>
            <a:off x="1784985" y="4430395"/>
            <a:ext cx="2436495" cy="321945"/>
          </a:xfrm>
          <a:prstGeom prst="rect">
            <a:avLst/>
          </a:prstGeom>
          <a:noFill/>
        </p:spPr>
        <p:txBody>
          <a:bodyPr wrap="square" rtlCol="0">
            <a:spAutoFit/>
          </a:bodyPr>
          <a:lstStyle/>
          <a:p>
            <a:pPr algn="ctr">
              <a:defRPr>
                <a:latin typeface="微软雅黑"/>
                <a:ea typeface="微软雅黑"/>
                <a:cs typeface="微软雅黑"/>
              </a:defRPr>
            </a:pPr>
            <a:r>
              <a:rPr lang="zh-CN" altLang="en-US" sz="1500" b="1">
                <a:solidFill>
                  <a:srgbClr val="0042FF"/>
                </a:solidFill>
                <a:latin typeface="微软雅黑"/>
                <a:ea typeface="微软雅黑"/>
                <a:cs typeface="微软雅黑"/>
              </a:rPr>
              <a:t>运营标准化与分析体系</a:t>
            </a:r>
            <a:endParaRPr lang="zh-CN" altLang="en-US" sz="1500" b="1">
              <a:solidFill>
                <a:srgbClr val="0042FF"/>
              </a:solidFill>
              <a:latin typeface="微软雅黑"/>
              <a:ea typeface="微软雅黑"/>
              <a:cs typeface="微软雅黑"/>
            </a:endParaRPr>
          </a:p>
        </p:txBody>
      </p:sp>
      <p:grpSp>
        <p:nvGrpSpPr>
          <p:cNvPr id="53" name="组合 52"/>
          <p:cNvGrpSpPr/>
          <p:nvPr/>
        </p:nvGrpSpPr>
        <p:grpSpPr>
          <a:xfrm>
            <a:off x="1148080" y="4779645"/>
            <a:ext cx="757555" cy="450850"/>
            <a:chOff x="1753" y="5330"/>
            <a:chExt cx="1193" cy="710"/>
          </a:xfrm>
        </p:grpSpPr>
        <p:sp>
          <p:nvSpPr>
            <p:cNvPr id="54" name="矩形 53"/>
            <p:cNvSpPr/>
            <p:nvPr/>
          </p:nvSpPr>
          <p:spPr>
            <a:xfrm>
              <a:off x="1753" y="5330"/>
              <a:ext cx="1179" cy="71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55" name="Object60"/>
            <p:cNvSpPr/>
            <p:nvPr>
              <p:custDataLst>
                <p:tags r:id="rId7"/>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供应链</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效率分析</a:t>
              </a:r>
              <a:endParaRPr lang="zh-CN" altLang="en-US" sz="1050" dirty="0" err="1">
                <a:solidFill>
                  <a:srgbClr val="383838"/>
                </a:solidFill>
                <a:latin typeface="微软雅黑"/>
                <a:ea typeface="微软雅黑"/>
                <a:cs typeface="微软雅黑"/>
              </a:endParaRPr>
            </a:p>
          </p:txBody>
        </p:sp>
      </p:grpSp>
      <p:grpSp>
        <p:nvGrpSpPr>
          <p:cNvPr id="56" name="组合 55"/>
          <p:cNvGrpSpPr/>
          <p:nvPr/>
        </p:nvGrpSpPr>
        <p:grpSpPr>
          <a:xfrm>
            <a:off x="2131695" y="4779645"/>
            <a:ext cx="757555" cy="450850"/>
            <a:chOff x="1753" y="5330"/>
            <a:chExt cx="1193" cy="710"/>
          </a:xfrm>
        </p:grpSpPr>
        <p:sp>
          <p:nvSpPr>
            <p:cNvPr id="57" name="矩形 56"/>
            <p:cNvSpPr/>
            <p:nvPr/>
          </p:nvSpPr>
          <p:spPr>
            <a:xfrm>
              <a:off x="1753" y="5330"/>
              <a:ext cx="1179" cy="71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58" name="Object60"/>
            <p:cNvSpPr/>
            <p:nvPr>
              <p:custDataLst>
                <p:tags r:id="rId8"/>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服务满意</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度分析</a:t>
              </a:r>
              <a:endParaRPr lang="zh-CN" altLang="en-US" sz="1050" dirty="0" err="1">
                <a:solidFill>
                  <a:srgbClr val="383838"/>
                </a:solidFill>
                <a:latin typeface="微软雅黑"/>
                <a:ea typeface="微软雅黑"/>
                <a:cs typeface="微软雅黑"/>
              </a:endParaRPr>
            </a:p>
          </p:txBody>
        </p:sp>
      </p:grpSp>
      <p:grpSp>
        <p:nvGrpSpPr>
          <p:cNvPr id="59" name="组合 58"/>
          <p:cNvGrpSpPr/>
          <p:nvPr/>
        </p:nvGrpSpPr>
        <p:grpSpPr>
          <a:xfrm>
            <a:off x="3115945" y="4779645"/>
            <a:ext cx="757555" cy="450850"/>
            <a:chOff x="1753" y="5330"/>
            <a:chExt cx="1193" cy="710"/>
          </a:xfrm>
        </p:grpSpPr>
        <p:sp>
          <p:nvSpPr>
            <p:cNvPr id="61" name="矩形 60"/>
            <p:cNvSpPr/>
            <p:nvPr/>
          </p:nvSpPr>
          <p:spPr>
            <a:xfrm>
              <a:off x="1753" y="5330"/>
              <a:ext cx="1179" cy="71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62" name="Object60"/>
            <p:cNvSpPr/>
            <p:nvPr>
              <p:custDataLst>
                <p:tags r:id="rId9"/>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客户运营</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分析</a:t>
              </a:r>
              <a:endParaRPr lang="zh-CN" altLang="en-US" sz="1050" dirty="0" err="1">
                <a:solidFill>
                  <a:srgbClr val="383838"/>
                </a:solidFill>
                <a:latin typeface="微软雅黑"/>
                <a:ea typeface="微软雅黑"/>
                <a:cs typeface="微软雅黑"/>
              </a:endParaRPr>
            </a:p>
          </p:txBody>
        </p:sp>
      </p:grpSp>
      <p:grpSp>
        <p:nvGrpSpPr>
          <p:cNvPr id="64" name="组合 63"/>
          <p:cNvGrpSpPr/>
          <p:nvPr/>
        </p:nvGrpSpPr>
        <p:grpSpPr>
          <a:xfrm>
            <a:off x="4100195" y="4779645"/>
            <a:ext cx="757555" cy="450850"/>
            <a:chOff x="1753" y="5330"/>
            <a:chExt cx="1193" cy="710"/>
          </a:xfrm>
        </p:grpSpPr>
        <p:sp>
          <p:nvSpPr>
            <p:cNvPr id="65" name="矩形 64"/>
            <p:cNvSpPr/>
            <p:nvPr/>
          </p:nvSpPr>
          <p:spPr>
            <a:xfrm>
              <a:off x="1753" y="5330"/>
              <a:ext cx="1179" cy="710"/>
            </a:xfrm>
            <a:prstGeom prst="rect">
              <a:avLst/>
            </a:prstGeom>
            <a:gradFill>
              <a:gsLst>
                <a:gs pos="0">
                  <a:srgbClr val="0042FF"/>
                </a:gs>
                <a:gs pos="100000">
                  <a:srgbClr val="3368FF"/>
                </a:gs>
              </a:gsLst>
              <a:lin ang="27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200">
                <a:solidFill>
                  <a:srgbClr val="FFFFFF"/>
                </a:solidFill>
                <a:cs typeface="微软雅黑"/>
                <a:latin typeface="微软雅黑"/>
                <a:ea typeface="微软雅黑"/>
              </a:endParaRPr>
            </a:p>
          </p:txBody>
        </p:sp>
        <p:sp>
          <p:nvSpPr>
            <p:cNvPr id="66" name="Object60"/>
            <p:cNvSpPr/>
            <p:nvPr>
              <p:custDataLst>
                <p:tags r:id="rId10"/>
              </p:custDataLst>
            </p:nvPr>
          </p:nvSpPr>
          <p:spPr>
            <a:xfrm flipH="1">
              <a:off x="1763" y="5437"/>
              <a:ext cx="1183" cy="508"/>
            </a:xfrm>
            <a:prstGeom prst="rect">
              <a:avLst/>
            </a:prstGeom>
            <a:noFill/>
          </p:spPr>
          <p:txBody>
            <a:bodyPr wrap="square" lIns="0" tIns="0" rIns="0" bIns="0" rtlCol="0" anchor="t">
              <a:spAutoFit/>
            </a:bodyPr>
            <a:lstStyle/>
            <a:p>
              <a:pPr algn="ctr" defTabSz="731520">
                <a:defRPr>
                  <a:solidFill>
                    <a:srgbClr val="FFFFFF"/>
                  </a:solidFill>
                  <a:latin typeface="微软雅黑"/>
                  <a:ea typeface="微软雅黑"/>
                  <a:cs typeface="微软雅黑"/>
                </a:defRPr>
              </a:pPr>
              <a:r>
                <a:rPr lang="zh-CN" altLang="en-US" sz="1050" b="1" dirty="0" err="1">
                  <a:solidFill>
                    <a:srgbClr val="FFFFFF"/>
                  </a:solidFill>
                  <a:latin typeface="微软雅黑"/>
                  <a:ea typeface="微软雅黑"/>
                  <a:cs typeface="微软雅黑"/>
                </a:rPr>
                <a:t>销售效能</a:t>
              </a:r>
              <a:endParaRPr lang="zh-CN" altLang="en-US" sz="1050" b="1" dirty="0" err="1">
                <a:solidFill>
                  <a:srgbClr val="FFFFFF"/>
                </a:solidFill>
                <a:latin typeface="微软雅黑"/>
                <a:ea typeface="微软雅黑"/>
                <a:cs typeface="微软雅黑"/>
              </a:endParaRPr>
            </a:p>
            <a:p>
              <a:pPr algn="ctr" defTabSz="731520">
                <a:defRPr>
                  <a:solidFill>
                    <a:srgbClr val="FFFFFF"/>
                  </a:solidFill>
                  <a:latin typeface="微软雅黑"/>
                  <a:ea typeface="微软雅黑"/>
                  <a:cs typeface="微软雅黑"/>
                </a:defRPr>
              </a:pPr>
              <a:r>
                <a:rPr lang="zh-CN" altLang="en-US" sz="1050" b="1" dirty="0" err="1">
                  <a:solidFill>
                    <a:srgbClr val="FFFFFF"/>
                  </a:solidFill>
                  <a:latin typeface="微软雅黑"/>
                  <a:ea typeface="微软雅黑"/>
                  <a:cs typeface="微软雅黑"/>
                </a:rPr>
                <a:t>分析</a:t>
              </a:r>
              <a:endParaRPr lang="zh-CN" altLang="en-US" sz="1050" b="1" dirty="0" err="1">
                <a:solidFill>
                  <a:srgbClr val="FFFFFF"/>
                </a:solidFill>
                <a:latin typeface="微软雅黑"/>
                <a:ea typeface="微软雅黑"/>
                <a:cs typeface="微软雅黑"/>
              </a:endParaRPr>
            </a:p>
          </p:txBody>
        </p:sp>
      </p:grpSp>
      <p:sp>
        <p:nvSpPr>
          <p:cNvPr id="67" name="文本框 66"/>
          <p:cNvSpPr txBox="1"/>
          <p:nvPr/>
        </p:nvSpPr>
        <p:spPr>
          <a:xfrm>
            <a:off x="1290320" y="5539740"/>
            <a:ext cx="3522980" cy="321945"/>
          </a:xfrm>
          <a:prstGeom prst="rect">
            <a:avLst/>
          </a:prstGeom>
          <a:noFill/>
        </p:spPr>
        <p:txBody>
          <a:bodyPr wrap="square" rtlCol="0">
            <a:spAutoFit/>
          </a:bodyPr>
          <a:lstStyle/>
          <a:p>
            <a:pPr algn="ctr">
              <a:defRPr>
                <a:latin typeface="微软雅黑"/>
                <a:ea typeface="微软雅黑"/>
                <a:cs typeface="微软雅黑"/>
              </a:defRPr>
            </a:pPr>
            <a:r>
              <a:rPr lang="en-US" altLang="zh-CN" sz="1500" b="1">
                <a:solidFill>
                  <a:srgbClr val="0042FF"/>
                </a:solidFill>
                <a:latin typeface="微软雅黑"/>
                <a:ea typeface="微软雅黑"/>
                <a:cs typeface="微软雅黑"/>
              </a:rPr>
              <a:t>“</a:t>
            </a:r>
            <a:r>
              <a:rPr lang="zh-CN" altLang="en-US" sz="1500" b="1">
                <a:solidFill>
                  <a:srgbClr val="0042FF"/>
                </a:solidFill>
                <a:latin typeface="微软雅黑"/>
                <a:ea typeface="微软雅黑"/>
                <a:cs typeface="微软雅黑"/>
              </a:rPr>
              <a:t>人</a:t>
            </a:r>
            <a:r>
              <a:rPr lang="en-US" altLang="zh-CN" sz="1500" b="1">
                <a:solidFill>
                  <a:srgbClr val="0042FF"/>
                </a:solidFill>
                <a:latin typeface="微软雅黑"/>
                <a:ea typeface="微软雅黑"/>
                <a:cs typeface="微软雅黑"/>
              </a:rPr>
              <a:t>-</a:t>
            </a:r>
            <a:r>
              <a:rPr lang="zh-CN" altLang="en-US" sz="1500" b="1">
                <a:solidFill>
                  <a:srgbClr val="0042FF"/>
                </a:solidFill>
                <a:latin typeface="微软雅黑"/>
                <a:ea typeface="微软雅黑"/>
                <a:cs typeface="微软雅黑"/>
              </a:rPr>
              <a:t>货</a:t>
            </a:r>
            <a:r>
              <a:rPr lang="en-US" altLang="zh-CN" sz="1500" b="1">
                <a:solidFill>
                  <a:srgbClr val="0042FF"/>
                </a:solidFill>
                <a:latin typeface="微软雅黑"/>
                <a:ea typeface="微软雅黑"/>
                <a:cs typeface="微软雅黑"/>
              </a:rPr>
              <a:t>-</a:t>
            </a:r>
            <a:r>
              <a:rPr lang="zh-CN" altLang="en-US" sz="1500" b="1">
                <a:solidFill>
                  <a:srgbClr val="0042FF"/>
                </a:solidFill>
                <a:latin typeface="微软雅黑"/>
                <a:ea typeface="微软雅黑"/>
                <a:cs typeface="微软雅黑"/>
              </a:rPr>
              <a:t>场</a:t>
            </a:r>
            <a:r>
              <a:rPr lang="en-US" altLang="zh-CN" sz="1500" b="1">
                <a:solidFill>
                  <a:srgbClr val="0042FF"/>
                </a:solidFill>
                <a:latin typeface="微软雅黑"/>
                <a:ea typeface="微软雅黑"/>
                <a:cs typeface="微软雅黑"/>
              </a:rPr>
              <a:t>”</a:t>
            </a:r>
            <a:r>
              <a:rPr lang="zh-CN" altLang="en-US" sz="1500" b="1">
                <a:solidFill>
                  <a:srgbClr val="0042FF"/>
                </a:solidFill>
                <a:latin typeface="微软雅黑"/>
                <a:ea typeface="微软雅黑"/>
                <a:cs typeface="微软雅黑"/>
              </a:rPr>
              <a:t>数据融合与智能决策</a:t>
            </a:r>
            <a:endParaRPr lang="zh-CN" altLang="en-US" sz="1500" b="1">
              <a:solidFill>
                <a:srgbClr val="0042FF"/>
              </a:solidFill>
              <a:latin typeface="微软雅黑"/>
              <a:ea typeface="微软雅黑"/>
              <a:cs typeface="微软雅黑"/>
            </a:endParaRPr>
          </a:p>
        </p:txBody>
      </p:sp>
      <p:grpSp>
        <p:nvGrpSpPr>
          <p:cNvPr id="71" name="组合 70"/>
          <p:cNvGrpSpPr/>
          <p:nvPr/>
        </p:nvGrpSpPr>
        <p:grpSpPr>
          <a:xfrm>
            <a:off x="1156970" y="5888990"/>
            <a:ext cx="757555" cy="450850"/>
            <a:chOff x="1753" y="5330"/>
            <a:chExt cx="1193" cy="710"/>
          </a:xfrm>
        </p:grpSpPr>
        <p:sp>
          <p:nvSpPr>
            <p:cNvPr id="72" name="矩形 71"/>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73" name="Object60"/>
            <p:cNvSpPr/>
            <p:nvPr>
              <p:custDataLst>
                <p:tags r:id="rId11"/>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打通业务</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数据链</a:t>
              </a:r>
              <a:endParaRPr lang="zh-CN" altLang="en-US" sz="1050" dirty="0" err="1">
                <a:solidFill>
                  <a:srgbClr val="383838"/>
                </a:solidFill>
                <a:latin typeface="微软雅黑"/>
                <a:ea typeface="微软雅黑"/>
                <a:cs typeface="微软雅黑"/>
              </a:endParaRPr>
            </a:p>
          </p:txBody>
        </p:sp>
      </p:grpSp>
      <p:grpSp>
        <p:nvGrpSpPr>
          <p:cNvPr id="74" name="组合 73"/>
          <p:cNvGrpSpPr/>
          <p:nvPr/>
        </p:nvGrpSpPr>
        <p:grpSpPr>
          <a:xfrm>
            <a:off x="2140585" y="5888990"/>
            <a:ext cx="757555" cy="450850"/>
            <a:chOff x="1753" y="5330"/>
            <a:chExt cx="1193" cy="710"/>
          </a:xfrm>
        </p:grpSpPr>
        <p:sp>
          <p:nvSpPr>
            <p:cNvPr id="75" name="矩形 74"/>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76" name="Object60"/>
            <p:cNvSpPr/>
            <p:nvPr>
              <p:custDataLst>
                <p:tags r:id="rId12"/>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动态定价</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策略体系</a:t>
              </a:r>
              <a:endParaRPr lang="zh-CN" altLang="en-US" sz="1050" dirty="0" err="1">
                <a:solidFill>
                  <a:srgbClr val="383838"/>
                </a:solidFill>
                <a:latin typeface="微软雅黑"/>
                <a:ea typeface="微软雅黑"/>
                <a:cs typeface="微软雅黑"/>
              </a:endParaRPr>
            </a:p>
          </p:txBody>
        </p:sp>
      </p:grpSp>
      <p:grpSp>
        <p:nvGrpSpPr>
          <p:cNvPr id="77" name="组合 76"/>
          <p:cNvGrpSpPr/>
          <p:nvPr/>
        </p:nvGrpSpPr>
        <p:grpSpPr>
          <a:xfrm>
            <a:off x="3124835" y="5888990"/>
            <a:ext cx="757555" cy="450850"/>
            <a:chOff x="1753" y="5330"/>
            <a:chExt cx="1193" cy="710"/>
          </a:xfrm>
        </p:grpSpPr>
        <p:sp>
          <p:nvSpPr>
            <p:cNvPr id="78" name="矩形 77"/>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79" name="Object60"/>
            <p:cNvSpPr/>
            <p:nvPr>
              <p:custDataLst>
                <p:tags r:id="rId13"/>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促销资源</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智能分配</a:t>
              </a:r>
              <a:endParaRPr lang="zh-CN" altLang="en-US" sz="1050" dirty="0" err="1">
                <a:solidFill>
                  <a:srgbClr val="383838"/>
                </a:solidFill>
                <a:latin typeface="微软雅黑"/>
                <a:ea typeface="微软雅黑"/>
                <a:cs typeface="微软雅黑"/>
              </a:endParaRPr>
            </a:p>
          </p:txBody>
        </p:sp>
      </p:grpSp>
      <p:grpSp>
        <p:nvGrpSpPr>
          <p:cNvPr id="80" name="组合 79"/>
          <p:cNvGrpSpPr/>
          <p:nvPr/>
        </p:nvGrpSpPr>
        <p:grpSpPr>
          <a:xfrm>
            <a:off x="4109085" y="5888990"/>
            <a:ext cx="757555" cy="450850"/>
            <a:chOff x="1753" y="5330"/>
            <a:chExt cx="1193" cy="710"/>
          </a:xfrm>
        </p:grpSpPr>
        <p:sp>
          <p:nvSpPr>
            <p:cNvPr id="81" name="矩形 80"/>
            <p:cNvSpPr/>
            <p:nvPr/>
          </p:nvSpPr>
          <p:spPr>
            <a:xfrm>
              <a:off x="1753" y="5330"/>
              <a:ext cx="1179" cy="71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82" name="Object60"/>
            <p:cNvSpPr/>
            <p:nvPr>
              <p:custDataLst>
                <p:tags r:id="rId14"/>
              </p:custDataLst>
            </p:nvPr>
          </p:nvSpPr>
          <p:spPr>
            <a:xfrm flipH="1">
              <a:off x="1763" y="5437"/>
              <a:ext cx="1183" cy="508"/>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精准营销</a:t>
              </a:r>
              <a:endParaRPr lang="zh-CN" altLang="en-US" sz="1050" dirty="0" err="1">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触达</a:t>
              </a:r>
              <a:endParaRPr lang="zh-CN" altLang="en-US" sz="1050" dirty="0" err="1">
                <a:solidFill>
                  <a:srgbClr val="383838"/>
                </a:solidFill>
                <a:latin typeface="微软雅黑"/>
                <a:ea typeface="微软雅黑"/>
                <a:cs typeface="微软雅黑"/>
              </a:endParaRPr>
            </a:p>
          </p:txBody>
        </p:sp>
      </p:grpSp>
      <p:sp>
        <p:nvSpPr>
          <p:cNvPr id="234" name="文本框 233"/>
          <p:cNvSpPr txBox="1"/>
          <p:nvPr/>
        </p:nvSpPr>
        <p:spPr>
          <a:xfrm>
            <a:off x="111760" y="4096385"/>
            <a:ext cx="535305" cy="460375"/>
          </a:xfrm>
          <a:prstGeom prst="rect">
            <a:avLst/>
          </a:prstGeom>
          <a:noFill/>
        </p:spPr>
        <p:txBody>
          <a:bodyPr wrap="square" rtlCol="0">
            <a:spAutoFit/>
          </a:bodyPr>
          <a:lstStyle/>
          <a:p>
            <a:pPr algn="ctr">
              <a:defRPr>
                <a:latin typeface="微软雅黑"/>
                <a:ea typeface="微软雅黑"/>
                <a:cs typeface="微软雅黑"/>
              </a:defRPr>
            </a:pPr>
            <a:r>
              <a:rPr lang="zh-CN" altLang="en-US" sz="1200">
                <a:solidFill>
                  <a:srgbClr val="0042FF"/>
                </a:solidFill>
                <a:latin typeface="微软雅黑"/>
                <a:ea typeface="微软雅黑"/>
                <a:cs typeface="微软雅黑"/>
              </a:rPr>
              <a:t>需求洞察</a:t>
            </a:r>
            <a:endParaRPr lang="zh-CN" altLang="en-US" sz="1200">
              <a:solidFill>
                <a:srgbClr val="0042FF"/>
              </a:solidFill>
              <a:latin typeface="微软雅黑"/>
              <a:ea typeface="微软雅黑"/>
              <a:cs typeface="微软雅黑"/>
            </a:endParaRPr>
          </a:p>
        </p:txBody>
      </p:sp>
      <p:sp>
        <p:nvSpPr>
          <p:cNvPr id="236" name="文本框 235"/>
          <p:cNvSpPr txBox="1"/>
          <p:nvPr/>
        </p:nvSpPr>
        <p:spPr>
          <a:xfrm>
            <a:off x="115570" y="5252085"/>
            <a:ext cx="535305" cy="460375"/>
          </a:xfrm>
          <a:prstGeom prst="rect">
            <a:avLst/>
          </a:prstGeom>
          <a:noFill/>
        </p:spPr>
        <p:txBody>
          <a:bodyPr wrap="square" rtlCol="0">
            <a:spAutoFit/>
          </a:bodyPr>
          <a:lstStyle/>
          <a:p>
            <a:pPr algn="ctr">
              <a:defRPr>
                <a:latin typeface="微软雅黑"/>
                <a:ea typeface="微软雅黑"/>
                <a:cs typeface="微软雅黑"/>
              </a:defRPr>
            </a:pPr>
            <a:r>
              <a:rPr lang="zh-CN" altLang="en-US" sz="1200">
                <a:solidFill>
                  <a:srgbClr val="0042FF"/>
                </a:solidFill>
                <a:latin typeface="微软雅黑"/>
                <a:ea typeface="微软雅黑"/>
                <a:cs typeface="微软雅黑"/>
              </a:rPr>
              <a:t>技术提效</a:t>
            </a:r>
            <a:endParaRPr lang="zh-CN" altLang="en-US" sz="1200">
              <a:solidFill>
                <a:srgbClr val="0042FF"/>
              </a:solidFill>
              <a:latin typeface="微软雅黑"/>
              <a:ea typeface="微软雅黑"/>
              <a:cs typeface="微软雅黑"/>
            </a:endParaRPr>
          </a:p>
        </p:txBody>
      </p:sp>
      <p:sp>
        <p:nvSpPr>
          <p:cNvPr id="35" name="任意多边形 34"/>
          <p:cNvSpPr/>
          <p:nvPr/>
        </p:nvSpPr>
        <p:spPr>
          <a:xfrm rot="16200000">
            <a:off x="5969000" y="849630"/>
            <a:ext cx="4740910" cy="6937375"/>
          </a:xfrm>
          <a:custGeom>
            <a:avLst/>
            <a:gdLst>
              <a:gd name="adj" fmla="val 36146"/>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304" h="10733">
                <a:moveTo>
                  <a:pt x="38" y="1506"/>
                </a:moveTo>
                <a:lnTo>
                  <a:pt x="2672" y="0"/>
                </a:lnTo>
                <a:lnTo>
                  <a:pt x="7304" y="1499"/>
                </a:lnTo>
                <a:lnTo>
                  <a:pt x="7304" y="1507"/>
                </a:lnTo>
                <a:lnTo>
                  <a:pt x="7293" y="1507"/>
                </a:lnTo>
                <a:lnTo>
                  <a:pt x="7293" y="10733"/>
                </a:lnTo>
                <a:lnTo>
                  <a:pt x="0" y="10733"/>
                </a:lnTo>
                <a:lnTo>
                  <a:pt x="0" y="1506"/>
                </a:lnTo>
                <a:lnTo>
                  <a:pt x="38" y="1506"/>
                </a:lnTo>
                <a:close/>
              </a:path>
            </a:pathLst>
          </a:custGeom>
          <a:gradFill>
            <a:gsLst>
              <a:gs pos="0">
                <a:srgbClr val="E6E6E6">
                  <a:alpha val="40000"/>
                </a:srgbClr>
              </a:gs>
              <a:gs pos="100000">
                <a:srgbClr val="E6E6E6">
                  <a:alpha val="0"/>
                </a:srgbClr>
              </a:gs>
            </a:gsLst>
            <a:lin ang="2700000" scaled="0"/>
          </a:gra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nvGrpSpPr>
          <p:cNvPr id="498" name="显眼包PPT"/>
          <p:cNvGrpSpPr/>
          <p:nvPr/>
        </p:nvGrpSpPr>
        <p:grpSpPr>
          <a:xfrm>
            <a:off x="5656580" y="3504565"/>
            <a:ext cx="5935980" cy="175895"/>
            <a:chOff x="3701786" y="3441903"/>
            <a:chExt cx="4782717" cy="175999"/>
          </a:xfrm>
        </p:grpSpPr>
        <p:sp>
          <p:nvSpPr>
            <p:cNvPr id="483" name="显眼包PPT-1"/>
            <p:cNvSpPr/>
            <p:nvPr/>
          </p:nvSpPr>
          <p:spPr>
            <a:xfrm>
              <a:off x="3701786" y="3441903"/>
              <a:ext cx="4782717" cy="126905"/>
            </a:xfrm>
            <a:prstGeom prst="trapezoid">
              <a:avLst>
                <a:gd name="adj" fmla="val 126950"/>
              </a:avLst>
            </a:prstGeom>
            <a:gradFill flip="none" rotWithShape="1">
              <a:gsLst>
                <a:gs pos="0">
                  <a:srgbClr val="E6E6E6">
                    <a:alpha val="88000"/>
                  </a:srgbClr>
                </a:gs>
                <a:gs pos="100000">
                  <a:srgbClr val="E6E6E6">
                    <a:alpha val="0"/>
                  </a:srgbClr>
                </a:gs>
              </a:gsLst>
              <a:lin ang="16200000" scaled="1"/>
              <a:tileRect/>
            </a:gradFill>
            <a:ln w="6350">
              <a:gradFill flip="none" rotWithShape="1">
                <a:gsLst>
                  <a:gs pos="0">
                    <a:srgbClr val="3368FF"/>
                  </a:gs>
                  <a:gs pos="100000">
                    <a:srgbClr val="3368FF">
                      <a:alpha val="0"/>
                    </a:srgbClr>
                  </a:gs>
                </a:gsLst>
                <a:lin ang="162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497" name="显眼包PPT-2"/>
            <p:cNvSpPr/>
            <p:nvPr/>
          </p:nvSpPr>
          <p:spPr>
            <a:xfrm>
              <a:off x="3701786" y="3572183"/>
              <a:ext cx="4782717" cy="45719"/>
            </a:xfrm>
            <a:prstGeom prst="round2SameRect">
              <a:avLst>
                <a:gd name="adj1" fmla="val 0"/>
                <a:gd name="adj2" fmla="val 0"/>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grpSp>
        <p:nvGrpSpPr>
          <p:cNvPr id="180" name="显眼包PPT"/>
          <p:cNvGrpSpPr/>
          <p:nvPr/>
        </p:nvGrpSpPr>
        <p:grpSpPr>
          <a:xfrm>
            <a:off x="5656580" y="4970780"/>
            <a:ext cx="5943600" cy="175895"/>
            <a:chOff x="3701786" y="3441903"/>
            <a:chExt cx="4782717" cy="175999"/>
          </a:xfrm>
        </p:grpSpPr>
        <p:sp>
          <p:nvSpPr>
            <p:cNvPr id="181" name="显眼包PPT-1"/>
            <p:cNvSpPr/>
            <p:nvPr/>
          </p:nvSpPr>
          <p:spPr>
            <a:xfrm>
              <a:off x="3701786" y="3441903"/>
              <a:ext cx="4782717" cy="126905"/>
            </a:xfrm>
            <a:prstGeom prst="trapezoid">
              <a:avLst>
                <a:gd name="adj" fmla="val 126950"/>
              </a:avLst>
            </a:prstGeom>
            <a:gradFill flip="none" rotWithShape="1">
              <a:gsLst>
                <a:gs pos="0">
                  <a:srgbClr val="E6E6E6">
                    <a:alpha val="88000"/>
                  </a:srgbClr>
                </a:gs>
                <a:gs pos="100000">
                  <a:srgbClr val="E6E6E6">
                    <a:alpha val="0"/>
                  </a:srgbClr>
                </a:gs>
              </a:gsLst>
              <a:lin ang="16200000" scaled="1"/>
              <a:tileRect/>
            </a:gradFill>
            <a:ln w="6350">
              <a:gradFill flip="none" rotWithShape="1">
                <a:gsLst>
                  <a:gs pos="0">
                    <a:srgbClr val="3368FF"/>
                  </a:gs>
                  <a:gs pos="100000">
                    <a:srgbClr val="3368FF">
                      <a:alpha val="0"/>
                    </a:srgbClr>
                  </a:gs>
                </a:gsLst>
                <a:lin ang="162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82" name="显眼包PPT-2"/>
            <p:cNvSpPr/>
            <p:nvPr/>
          </p:nvSpPr>
          <p:spPr>
            <a:xfrm>
              <a:off x="3701786" y="3572183"/>
              <a:ext cx="4782717" cy="45719"/>
            </a:xfrm>
            <a:prstGeom prst="round2SameRect">
              <a:avLst>
                <a:gd name="adj1" fmla="val 0"/>
                <a:gd name="adj2" fmla="val 0"/>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grpSp>
        <p:nvGrpSpPr>
          <p:cNvPr id="251" name="组合 250"/>
          <p:cNvGrpSpPr/>
          <p:nvPr/>
        </p:nvGrpSpPr>
        <p:grpSpPr>
          <a:xfrm rot="0">
            <a:off x="8783320" y="1970405"/>
            <a:ext cx="2870835" cy="1392555"/>
            <a:chOff x="23614" y="6785"/>
            <a:chExt cx="4521" cy="2193"/>
          </a:xfrm>
        </p:grpSpPr>
        <p:sp>
          <p:nvSpPr>
            <p:cNvPr id="226" name="不完整圆 100"/>
            <p:cNvSpPr/>
            <p:nvPr>
              <p:custDataLst>
                <p:tags r:id="rId15"/>
              </p:custDataLst>
            </p:nvPr>
          </p:nvSpPr>
          <p:spPr>
            <a:xfrm rot="10800000">
              <a:off x="23614" y="7169"/>
              <a:ext cx="1582" cy="1581"/>
            </a:xfrm>
            <a:prstGeom prst="pie">
              <a:avLst>
                <a:gd name="adj1" fmla="val 5449339"/>
                <a:gd name="adj2" fmla="val 16200000"/>
              </a:avLst>
            </a:prstGeom>
            <a:noFill/>
            <a:ln w="13716" cap="flat" cmpd="sng" algn="ctr">
              <a:gradFill flip="none" rotWithShape="1">
                <a:gsLst>
                  <a:gs pos="3000">
                    <a:srgbClr val="3368FF">
                      <a:alpha val="0"/>
                    </a:srgbClr>
                  </a:gs>
                  <a:gs pos="11000">
                    <a:srgbClr val="3368FF"/>
                  </a:gs>
                </a:gsLst>
                <a:lin ang="10800000" scaled="1"/>
                <a:tileRect/>
              </a:gradFill>
              <a:prstDash val="dash"/>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cxnSp>
          <p:nvCxnSpPr>
            <p:cNvPr id="227" name="直线连接符 97"/>
            <p:cNvCxnSpPr/>
            <p:nvPr>
              <p:custDataLst>
                <p:tags r:id="rId16"/>
              </p:custDataLst>
            </p:nvPr>
          </p:nvCxnSpPr>
          <p:spPr>
            <a:xfrm flipH="1">
              <a:off x="25134" y="7667"/>
              <a:ext cx="405" cy="2"/>
            </a:xfrm>
            <a:prstGeom prst="line">
              <a:avLst/>
            </a:prstGeom>
            <a:noFill/>
            <a:ln w="12700" cap="flat" cmpd="sng" algn="ctr">
              <a:solidFill>
                <a:srgbClr val="3368FF"/>
              </a:solidFill>
              <a:prstDash val="dash"/>
              <a:headEnd type="triangle"/>
            </a:ln>
            <a:effectLst/>
          </p:spPr>
        </p:cxnSp>
        <p:cxnSp>
          <p:nvCxnSpPr>
            <p:cNvPr id="228" name="直线连接符 50"/>
            <p:cNvCxnSpPr/>
            <p:nvPr>
              <p:custDataLst>
                <p:tags r:id="rId17"/>
              </p:custDataLst>
            </p:nvPr>
          </p:nvCxnSpPr>
          <p:spPr>
            <a:xfrm flipH="1">
              <a:off x="24469" y="7144"/>
              <a:ext cx="812" cy="4"/>
            </a:xfrm>
            <a:prstGeom prst="line">
              <a:avLst/>
            </a:prstGeom>
            <a:noFill/>
            <a:ln w="12700" cap="flat" cmpd="sng" algn="ctr">
              <a:solidFill>
                <a:srgbClr val="3368FF"/>
              </a:solidFill>
              <a:prstDash val="dash"/>
              <a:headEnd type="triangle"/>
            </a:ln>
            <a:effectLst/>
          </p:spPr>
        </p:cxnSp>
        <p:cxnSp>
          <p:nvCxnSpPr>
            <p:cNvPr id="230" name="直线连接符 97"/>
            <p:cNvCxnSpPr/>
            <p:nvPr>
              <p:custDataLst>
                <p:tags r:id="rId18"/>
              </p:custDataLst>
            </p:nvPr>
          </p:nvCxnSpPr>
          <p:spPr>
            <a:xfrm flipH="1">
              <a:off x="25153" y="8220"/>
              <a:ext cx="405" cy="2"/>
            </a:xfrm>
            <a:prstGeom prst="line">
              <a:avLst/>
            </a:prstGeom>
            <a:noFill/>
            <a:ln w="12700" cap="flat" cmpd="sng" algn="ctr">
              <a:solidFill>
                <a:srgbClr val="3368FF"/>
              </a:solidFill>
              <a:prstDash val="dash"/>
              <a:headEnd type="triangle"/>
            </a:ln>
            <a:effectLst/>
          </p:spPr>
        </p:cxnSp>
        <p:cxnSp>
          <p:nvCxnSpPr>
            <p:cNvPr id="231" name="直线连接符 50"/>
            <p:cNvCxnSpPr/>
            <p:nvPr>
              <p:custDataLst>
                <p:tags r:id="rId19"/>
              </p:custDataLst>
            </p:nvPr>
          </p:nvCxnSpPr>
          <p:spPr>
            <a:xfrm flipH="1">
              <a:off x="24528" y="8749"/>
              <a:ext cx="909" cy="7"/>
            </a:xfrm>
            <a:prstGeom prst="line">
              <a:avLst/>
            </a:prstGeom>
            <a:noFill/>
            <a:ln w="12700" cap="flat" cmpd="sng" algn="ctr">
              <a:solidFill>
                <a:srgbClr val="3368FF"/>
              </a:solidFill>
              <a:prstDash val="dash"/>
              <a:headEnd type="triangle"/>
            </a:ln>
            <a:effectLst/>
          </p:spPr>
        </p:cxnSp>
        <p:sp>
          <p:nvSpPr>
            <p:cNvPr id="232" name="椭圆 231"/>
            <p:cNvSpPr/>
            <p:nvPr/>
          </p:nvSpPr>
          <p:spPr>
            <a:xfrm>
              <a:off x="24082" y="7566"/>
              <a:ext cx="676" cy="676"/>
            </a:xfrm>
            <a:prstGeom prst="ellipse">
              <a:avLst/>
            </a:prstGeom>
            <a:solidFill>
              <a:srgbClr val="3368FF"/>
            </a:solidFill>
            <a:ln w="25400">
              <a:solidFill>
                <a:srgbClr val="E6E6E6"/>
              </a:solidFill>
              <a:prstDash val="soli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233" name="矩形 232"/>
            <p:cNvSpPr/>
            <p:nvPr/>
          </p:nvSpPr>
          <p:spPr>
            <a:xfrm>
              <a:off x="24025" y="7736"/>
              <a:ext cx="790" cy="362"/>
            </a:xfrm>
            <a:prstGeom prst="rect">
              <a:avLst/>
            </a:prstGeom>
            <a:noFill/>
            <a:ln>
              <a:noFill/>
              <a:prstDash val="solid"/>
            </a:ln>
            <a:extLst>
              <a:ext uri="{909E8E84-426E-40DD-AFC4-6F175D3DCCD1}">
                <a14:hiddenFill xmlns:a14="http://schemas.microsoft.com/office/drawing/2010/main">
                  <a:solidFill>
                    <a:srgbClr val="DCDCDC">
                      <a:alpha val="50000"/>
                    </a:srgbClr>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b="1">
                  <a:solidFill>
                    <a:srgbClr val="FFFFFF"/>
                  </a:solidFill>
                  <a:cs typeface="微软雅黑"/>
                  <a:sym typeface="微软雅黑"/>
                  <a:latin typeface="微软雅黑"/>
                  <a:ea typeface="微软雅黑"/>
                </a:rPr>
                <a:t>策略</a:t>
              </a:r>
              <a:endParaRPr lang="zh-CN" altLang="en-US" sz="1000" b="1">
                <a:solidFill>
                  <a:srgbClr val="FFFFFF"/>
                </a:solidFill>
                <a:cs typeface="微软雅黑"/>
                <a:sym typeface="微软雅黑"/>
                <a:latin typeface="微软雅黑"/>
                <a:ea typeface="微软雅黑"/>
              </a:endParaRPr>
            </a:p>
          </p:txBody>
        </p:sp>
        <p:grpSp>
          <p:nvGrpSpPr>
            <p:cNvPr id="235" name="组合 234"/>
            <p:cNvGrpSpPr/>
            <p:nvPr/>
          </p:nvGrpSpPr>
          <p:grpSpPr>
            <a:xfrm>
              <a:off x="24427" y="7113"/>
              <a:ext cx="769" cy="1693"/>
              <a:chOff x="11551" y="4949"/>
              <a:chExt cx="1029" cy="2266"/>
            </a:xfrm>
          </p:grpSpPr>
          <p:sp>
            <p:nvSpPr>
              <p:cNvPr id="237" name="椭圆 236"/>
              <p:cNvSpPr/>
              <p:nvPr>
                <p:custDataLst>
                  <p:tags r:id="rId20"/>
                </p:custDataLst>
              </p:nvPr>
            </p:nvSpPr>
            <p:spPr>
              <a:xfrm>
                <a:off x="11551" y="4949"/>
                <a:ext cx="135" cy="135"/>
              </a:xfrm>
              <a:prstGeom prst="ellipse">
                <a:avLst/>
              </a:prstGeom>
              <a:solidFill>
                <a:srgbClr val="3368FF"/>
              </a:solidFill>
              <a:ln w="12700" cap="flat" cmpd="sng" algn="ctr">
                <a:noFill/>
                <a:prstDash val="solid"/>
                <a:miter lim="800000"/>
              </a:ln>
              <a:effectLst/>
            </p:spPr>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238" name="椭圆 237"/>
              <p:cNvSpPr/>
              <p:nvPr>
                <p:custDataLst>
                  <p:tags r:id="rId21"/>
                </p:custDataLst>
              </p:nvPr>
            </p:nvSpPr>
            <p:spPr>
              <a:xfrm>
                <a:off x="11551" y="7080"/>
                <a:ext cx="135" cy="135"/>
              </a:xfrm>
              <a:prstGeom prst="ellipse">
                <a:avLst/>
              </a:prstGeom>
              <a:solidFill>
                <a:srgbClr val="3368FF"/>
              </a:solidFill>
              <a:ln w="12700" cap="flat" cmpd="sng" algn="ctr">
                <a:noFill/>
                <a:prstDash val="solid"/>
                <a:miter lim="800000"/>
              </a:ln>
              <a:effectLst/>
            </p:spPr>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239" name="椭圆 238"/>
              <p:cNvSpPr/>
              <p:nvPr>
                <p:custDataLst>
                  <p:tags r:id="rId22"/>
                </p:custDataLst>
              </p:nvPr>
            </p:nvSpPr>
            <p:spPr>
              <a:xfrm>
                <a:off x="12445" y="5624"/>
                <a:ext cx="135" cy="135"/>
              </a:xfrm>
              <a:prstGeom prst="ellipse">
                <a:avLst/>
              </a:prstGeom>
              <a:solidFill>
                <a:srgbClr val="3368FF"/>
              </a:solidFill>
              <a:ln w="12700" cap="flat" cmpd="sng" algn="ctr">
                <a:noFill/>
                <a:prstDash val="solid"/>
                <a:miter lim="800000"/>
              </a:ln>
              <a:effectLst/>
            </p:spPr>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240" name="椭圆 239"/>
              <p:cNvSpPr/>
              <p:nvPr>
                <p:custDataLst>
                  <p:tags r:id="rId23"/>
                </p:custDataLst>
              </p:nvPr>
            </p:nvSpPr>
            <p:spPr>
              <a:xfrm>
                <a:off x="12445" y="6382"/>
                <a:ext cx="135" cy="135"/>
              </a:xfrm>
              <a:prstGeom prst="ellipse">
                <a:avLst/>
              </a:prstGeom>
              <a:solidFill>
                <a:srgbClr val="3368FF"/>
              </a:solidFill>
              <a:ln w="12700" cap="flat" cmpd="sng" algn="ctr">
                <a:noFill/>
                <a:prstDash val="solid"/>
                <a:miter lim="800000"/>
              </a:ln>
              <a:effectLst/>
            </p:spPr>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sp>
          <p:nvSpPr>
            <p:cNvPr id="241" name="Text Box 1030"/>
            <p:cNvSpPr txBox="1">
              <a:spLocks noChangeArrowheads="1"/>
            </p:cNvSpPr>
            <p:nvPr>
              <p:custDataLst>
                <p:tags r:id="rId24"/>
              </p:custDataLst>
            </p:nvPr>
          </p:nvSpPr>
          <p:spPr bwMode="auto">
            <a:xfrm>
              <a:off x="25280" y="6785"/>
              <a:ext cx="2193" cy="58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人均销量提升</a:t>
              </a:r>
              <a:endParaRPr lang="zh-CN" altLang="en-US" sz="1200" dirty="0">
                <a:solidFill>
                  <a:srgbClr val="383838"/>
                </a:solidFill>
                <a:latin typeface="微软雅黑"/>
                <a:ea typeface="微软雅黑"/>
                <a:cs typeface="微软雅黑"/>
              </a:endParaRPr>
            </a:p>
          </p:txBody>
        </p:sp>
        <p:sp>
          <p:nvSpPr>
            <p:cNvPr id="242" name="Text Box 1030"/>
            <p:cNvSpPr txBox="1">
              <a:spLocks noChangeArrowheads="1"/>
            </p:cNvSpPr>
            <p:nvPr>
              <p:custDataLst>
                <p:tags r:id="rId25"/>
              </p:custDataLst>
            </p:nvPr>
          </p:nvSpPr>
          <p:spPr bwMode="auto">
            <a:xfrm>
              <a:off x="25475" y="7346"/>
              <a:ext cx="2193" cy="58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sz="1200" dirty="0">
                  <a:solidFill>
                    <a:srgbClr val="383838"/>
                  </a:solidFill>
                  <a:latin typeface="微软雅黑"/>
                  <a:ea typeface="微软雅黑"/>
                  <a:cs typeface="微软雅黑"/>
                </a:rPr>
                <a:t>平均客单价提升</a:t>
              </a:r>
              <a:endParaRPr lang="zh-CN" sz="1200" dirty="0">
                <a:solidFill>
                  <a:srgbClr val="383838"/>
                </a:solidFill>
                <a:latin typeface="微软雅黑"/>
                <a:ea typeface="微软雅黑"/>
                <a:cs typeface="微软雅黑"/>
              </a:endParaRPr>
            </a:p>
          </p:txBody>
        </p:sp>
        <p:sp>
          <p:nvSpPr>
            <p:cNvPr id="243" name="Text Box 1030"/>
            <p:cNvSpPr txBox="1">
              <a:spLocks noChangeArrowheads="1"/>
            </p:cNvSpPr>
            <p:nvPr>
              <p:custDataLst>
                <p:tags r:id="rId26"/>
              </p:custDataLst>
            </p:nvPr>
          </p:nvSpPr>
          <p:spPr bwMode="auto">
            <a:xfrm>
              <a:off x="25530" y="7882"/>
              <a:ext cx="2605" cy="58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高毛利</a:t>
              </a:r>
              <a:r>
                <a:rPr lang="en-US" altLang="zh-CN" sz="1200" dirty="0">
                  <a:solidFill>
                    <a:srgbClr val="383838"/>
                  </a:solidFill>
                  <a:latin typeface="微软雅黑"/>
                  <a:ea typeface="微软雅黑"/>
                  <a:cs typeface="微软雅黑"/>
                </a:rPr>
                <a:t>SKU</a:t>
              </a:r>
              <a:r>
                <a:rPr lang="zh-CN" altLang="en-US" sz="1200" dirty="0">
                  <a:solidFill>
                    <a:srgbClr val="383838"/>
                  </a:solidFill>
                  <a:latin typeface="微软雅黑"/>
                  <a:ea typeface="微软雅黑"/>
                  <a:cs typeface="微软雅黑"/>
                </a:rPr>
                <a:t>占比增加</a:t>
              </a:r>
              <a:endParaRPr lang="zh-CN" altLang="en-US" sz="1200" dirty="0">
                <a:solidFill>
                  <a:srgbClr val="383838"/>
                </a:solidFill>
                <a:latin typeface="微软雅黑"/>
                <a:ea typeface="微软雅黑"/>
                <a:cs typeface="微软雅黑"/>
              </a:endParaRPr>
            </a:p>
          </p:txBody>
        </p:sp>
        <p:sp>
          <p:nvSpPr>
            <p:cNvPr id="246" name="Text Box 1030"/>
            <p:cNvSpPr txBox="1">
              <a:spLocks noChangeArrowheads="1"/>
            </p:cNvSpPr>
            <p:nvPr>
              <p:custDataLst>
                <p:tags r:id="rId27"/>
              </p:custDataLst>
            </p:nvPr>
          </p:nvSpPr>
          <p:spPr bwMode="auto">
            <a:xfrm>
              <a:off x="25371" y="8398"/>
              <a:ext cx="2193" cy="58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sz="1200" dirty="0" err="1">
                  <a:solidFill>
                    <a:srgbClr val="383838"/>
                  </a:solidFill>
                  <a:latin typeface="微软雅黑"/>
                  <a:ea typeface="微软雅黑"/>
                  <a:cs typeface="微软雅黑"/>
                  <a:sym typeface="微软雅黑"/>
                </a:rPr>
                <a:t>拓展新区域</a:t>
              </a:r>
              <a:r>
                <a:rPr lang="en-US" altLang="zh-CN" sz="1200" dirty="0" err="1">
                  <a:solidFill>
                    <a:srgbClr val="383838"/>
                  </a:solidFill>
                  <a:latin typeface="微软雅黑"/>
                  <a:ea typeface="微软雅黑"/>
                  <a:cs typeface="微软雅黑"/>
                  <a:sym typeface="微软雅黑"/>
                </a:rPr>
                <a:t>/</a:t>
              </a:r>
              <a:r>
                <a:rPr lang="zh-CN" altLang="en-US" sz="1200" dirty="0" err="1">
                  <a:solidFill>
                    <a:srgbClr val="383838"/>
                  </a:solidFill>
                  <a:latin typeface="微软雅黑"/>
                  <a:ea typeface="微软雅黑"/>
                  <a:cs typeface="微软雅黑"/>
                  <a:sym typeface="微软雅黑"/>
                </a:rPr>
                <a:t>渠道</a:t>
              </a:r>
              <a:endParaRPr lang="zh-CN" altLang="en-US" sz="1200" dirty="0" err="1">
                <a:solidFill>
                  <a:srgbClr val="383838"/>
                </a:solidFill>
                <a:latin typeface="微软雅黑"/>
                <a:ea typeface="微软雅黑"/>
                <a:cs typeface="微软雅黑"/>
                <a:sym typeface="微软雅黑"/>
              </a:endParaRPr>
            </a:p>
          </p:txBody>
        </p:sp>
      </p:grpSp>
      <p:grpSp>
        <p:nvGrpSpPr>
          <p:cNvPr id="350" name="组合 349"/>
          <p:cNvGrpSpPr/>
          <p:nvPr/>
        </p:nvGrpSpPr>
        <p:grpSpPr>
          <a:xfrm>
            <a:off x="6002020" y="2281555"/>
            <a:ext cx="3036570" cy="1125855"/>
            <a:chOff x="9452" y="3129"/>
            <a:chExt cx="4782" cy="1773"/>
          </a:xfrm>
        </p:grpSpPr>
        <p:grpSp>
          <p:nvGrpSpPr>
            <p:cNvPr id="274" name="组合 273"/>
            <p:cNvGrpSpPr/>
            <p:nvPr/>
          </p:nvGrpSpPr>
          <p:grpSpPr>
            <a:xfrm rot="0">
              <a:off x="11166" y="3129"/>
              <a:ext cx="2288" cy="479"/>
              <a:chOff x="10996" y="3157"/>
              <a:chExt cx="2288" cy="479"/>
            </a:xfrm>
          </p:grpSpPr>
          <p:grpSp>
            <p:nvGrpSpPr>
              <p:cNvPr id="1090" name="显眼包PPT"/>
              <p:cNvGrpSpPr/>
              <p:nvPr/>
            </p:nvGrpSpPr>
            <p:grpSpPr>
              <a:xfrm>
                <a:off x="10996" y="3157"/>
                <a:ext cx="2288" cy="479"/>
                <a:chOff x="5191704" y="4124207"/>
                <a:chExt cx="1452880" cy="304165"/>
              </a:xfrm>
            </p:grpSpPr>
            <p:sp>
              <p:nvSpPr>
                <p:cNvPr id="252" name="显眼包PPT-1"/>
                <p:cNvSpPr/>
                <p:nvPr/>
              </p:nvSpPr>
              <p:spPr>
                <a:xfrm>
                  <a:off x="5191704" y="4124207"/>
                  <a:ext cx="1452880" cy="304165"/>
                </a:xfrm>
                <a:prstGeom prst="roundRect">
                  <a:avLst>
                    <a:gd name="adj" fmla="val 50000"/>
                  </a:avLst>
                </a:prstGeom>
                <a:solidFill>
                  <a:srgbClr val="FFFFFF"/>
                </a:solidFill>
                <a:ln w="9525">
                  <a:solidFill>
                    <a:srgbClr val="668EFF"/>
                  </a:solidFill>
                </a:ln>
              </p:spPr>
              <p:style>
                <a:lnRef idx="2">
                  <a:srgbClr val="0042FF"/>
                </a:lnRef>
                <a:fillRef idx="1">
                  <a:srgbClr val="0042FF"/>
                </a:fillRef>
                <a:effectRef idx="0">
                  <a:srgbClr val="0042FF"/>
                </a:effectRef>
                <a:fontRef idx="minor">
                  <a:srgbClr val="FFFFFF"/>
                </a:fontRef>
              </p:style>
              <p:txBody>
                <a:bodyPr wrap="none" rtlCol="0" anchor="ctr"/>
                <a:lstStyle/>
                <a:p>
                  <a:pPr algn="r">
                    <a:defRPr>
                      <a:latin typeface="微软雅黑"/>
                      <a:ea typeface="微软雅黑"/>
                      <a:cs typeface="微软雅黑"/>
                    </a:defRPr>
                  </a:pPr>
                  <a:endParaRPr lang="zh-CN" altLang="en-US" sz="1600">
                    <a:solidFill>
                      <a:srgbClr val="383838"/>
                    </a:solidFill>
                    <a:latin typeface="微软雅黑"/>
                    <a:cs typeface="微软雅黑"/>
                    <a:ea typeface="微软雅黑"/>
                  </a:endParaRPr>
                </a:p>
              </p:txBody>
            </p:sp>
            <p:sp>
              <p:nvSpPr>
                <p:cNvPr id="260" name="显眼包PPT-2"/>
                <p:cNvSpPr/>
                <p:nvPr/>
              </p:nvSpPr>
              <p:spPr>
                <a:xfrm>
                  <a:off x="5257470" y="4176944"/>
                  <a:ext cx="198683" cy="198681"/>
                </a:xfrm>
                <a:prstGeom prst="ellipse">
                  <a:avLst/>
                </a:prstGeom>
                <a:gradFill flip="none" rotWithShape="1">
                  <a:gsLst>
                    <a:gs pos="0">
                      <a:srgbClr val="668EFF"/>
                    </a:gs>
                    <a:gs pos="46000">
                      <a:srgbClr val="0042FF"/>
                    </a:gs>
                    <a:gs pos="100000">
                      <a:srgbClr val="0042FF"/>
                    </a:gs>
                  </a:gsLst>
                  <a:path path="circle">
                    <a:fillToRect r="100000" b="100000"/>
                  </a:path>
                  <a:tileRect l="-100000" t="-100000"/>
                </a:gradFill>
                <a:ln w="22225">
                  <a:noFill/>
                </a:ln>
                <a:effectLst>
                  <a:innerShdw blurRad="127000">
                    <a:srgbClr val="3368FF"/>
                  </a:innerShdw>
                </a:effectLst>
              </p:spPr>
              <p:style>
                <a:lnRef idx="2">
                  <a:srgbClr val="0042FF"/>
                </a:lnRef>
                <a:fillRef idx="1">
                  <a:srgbClr val="0042FF"/>
                </a:fillRef>
                <a:effectRef idx="0">
                  <a:srgbClr val="0042FF"/>
                </a:effectRef>
                <a:fontRef idx="minor">
                  <a:srgbClr val="FFFFFF"/>
                </a:fontRef>
              </p:style>
              <p:txBody>
                <a:bodyPr wrap="none" lIns="89555" tIns="44777" rIns="89555" bIns="44777"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262" name="显眼包PPT-4"/>
                <p:cNvSpPr txBox="1"/>
                <p:nvPr/>
              </p:nvSpPr>
              <p:spPr>
                <a:xfrm>
                  <a:off x="5508083" y="4177452"/>
                  <a:ext cx="974090" cy="18415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销售</a:t>
                  </a:r>
                  <a:r>
                    <a:rPr lang="en-US" altLang="zh-CN" sz="1200">
                      <a:solidFill>
                        <a:srgbClr val="383838"/>
                      </a:solidFill>
                      <a:latin typeface="微软雅黑"/>
                      <a:ea typeface="微软雅黑"/>
                      <a:cs typeface="微软雅黑"/>
                      <a:sym typeface="微软雅黑"/>
                    </a:rPr>
                    <a:t>GMV</a:t>
                  </a:r>
                  <a:r>
                    <a:rPr lang="zh-CN" altLang="en-US" sz="1200">
                      <a:solidFill>
                        <a:srgbClr val="383838"/>
                      </a:solidFill>
                      <a:latin typeface="微软雅黑"/>
                      <a:ea typeface="微软雅黑"/>
                      <a:cs typeface="微软雅黑"/>
                      <a:sym typeface="微软雅黑"/>
                    </a:rPr>
                    <a:t>提升</a:t>
                  </a:r>
                  <a:endParaRPr lang="zh-CN" altLang="en-US" sz="1200">
                    <a:cs typeface="微软雅黑"/>
                    <a:latin typeface="微软雅黑"/>
                    <a:ea typeface="微软雅黑"/>
                  </a:endParaRPr>
                </a:p>
              </p:txBody>
            </p:sp>
          </p:grpSp>
          <p:pic>
            <p:nvPicPr>
              <p:cNvPr id="273" name="图片 272" descr="销售额"/>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11160" y="3296"/>
                <a:ext cx="183" cy="183"/>
              </a:xfrm>
              <a:prstGeom prst="rect">
                <a:avLst/>
              </a:prstGeom>
            </p:spPr>
          </p:pic>
        </p:grpSp>
        <p:grpSp>
          <p:nvGrpSpPr>
            <p:cNvPr id="280" name="显眼包PPT"/>
            <p:cNvGrpSpPr/>
            <p:nvPr/>
          </p:nvGrpSpPr>
          <p:grpSpPr>
            <a:xfrm rot="0">
              <a:off x="11166" y="3776"/>
              <a:ext cx="2288" cy="479"/>
              <a:chOff x="5191704" y="4124207"/>
              <a:chExt cx="1452880" cy="304165"/>
            </a:xfrm>
          </p:grpSpPr>
          <p:sp>
            <p:nvSpPr>
              <p:cNvPr id="281" name="显眼包PPT-1"/>
              <p:cNvSpPr/>
              <p:nvPr/>
            </p:nvSpPr>
            <p:spPr>
              <a:xfrm>
                <a:off x="5191704" y="4124207"/>
                <a:ext cx="1452880" cy="304165"/>
              </a:xfrm>
              <a:prstGeom prst="roundRect">
                <a:avLst>
                  <a:gd name="adj" fmla="val 50000"/>
                </a:avLst>
              </a:prstGeom>
              <a:solidFill>
                <a:srgbClr val="FFFFFF"/>
              </a:solidFill>
              <a:ln w="9525">
                <a:solidFill>
                  <a:srgbClr val="668EFF"/>
                </a:solidFill>
              </a:ln>
            </p:spPr>
            <p:style>
              <a:lnRef idx="2">
                <a:srgbClr val="0042FF"/>
              </a:lnRef>
              <a:fillRef idx="1">
                <a:srgbClr val="0042FF"/>
              </a:fillRef>
              <a:effectRef idx="0">
                <a:srgbClr val="0042FF"/>
              </a:effectRef>
              <a:fontRef idx="minor">
                <a:srgbClr val="FFFFFF"/>
              </a:fontRef>
            </p:style>
            <p:txBody>
              <a:bodyPr wrap="none" rtlCol="0" anchor="ctr"/>
              <a:lstStyle/>
              <a:p>
                <a:pPr algn="r">
                  <a:defRPr>
                    <a:latin typeface="微软雅黑"/>
                    <a:ea typeface="微软雅黑"/>
                    <a:cs typeface="微软雅黑"/>
                  </a:defRPr>
                </a:pPr>
                <a:endParaRPr lang="zh-CN" altLang="en-US" sz="1600">
                  <a:solidFill>
                    <a:srgbClr val="383838"/>
                  </a:solidFill>
                  <a:latin typeface="微软雅黑"/>
                  <a:cs typeface="微软雅黑"/>
                  <a:ea typeface="微软雅黑"/>
                </a:endParaRPr>
              </a:p>
            </p:txBody>
          </p:sp>
          <p:sp>
            <p:nvSpPr>
              <p:cNvPr id="300" name="显眼包PPT-2"/>
              <p:cNvSpPr/>
              <p:nvPr/>
            </p:nvSpPr>
            <p:spPr>
              <a:xfrm>
                <a:off x="5257470" y="4176944"/>
                <a:ext cx="198683" cy="198681"/>
              </a:xfrm>
              <a:prstGeom prst="ellipse">
                <a:avLst/>
              </a:prstGeom>
              <a:gradFill flip="none" rotWithShape="1">
                <a:gsLst>
                  <a:gs pos="0">
                    <a:srgbClr val="668EFF"/>
                  </a:gs>
                  <a:gs pos="46000">
                    <a:srgbClr val="0042FF"/>
                  </a:gs>
                  <a:gs pos="100000">
                    <a:srgbClr val="0042FF"/>
                  </a:gs>
                </a:gsLst>
                <a:path path="circle">
                  <a:fillToRect r="100000" b="100000"/>
                </a:path>
                <a:tileRect l="-100000" t="-100000"/>
              </a:gradFill>
              <a:ln w="22225">
                <a:noFill/>
              </a:ln>
              <a:effectLst>
                <a:innerShdw blurRad="127000">
                  <a:srgbClr val="3368FF"/>
                </a:innerShdw>
              </a:effectLst>
            </p:spPr>
            <p:style>
              <a:lnRef idx="2">
                <a:srgbClr val="0042FF"/>
              </a:lnRef>
              <a:fillRef idx="1">
                <a:srgbClr val="0042FF"/>
              </a:fillRef>
              <a:effectRef idx="0">
                <a:srgbClr val="0042FF"/>
              </a:effectRef>
              <a:fontRef idx="minor">
                <a:srgbClr val="FFFFFF"/>
              </a:fontRef>
            </p:style>
            <p:txBody>
              <a:bodyPr wrap="none" lIns="89555" tIns="44777" rIns="89555" bIns="44777"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301" name="显眼包PPT-4"/>
              <p:cNvSpPr txBox="1"/>
              <p:nvPr/>
            </p:nvSpPr>
            <p:spPr>
              <a:xfrm>
                <a:off x="5537928" y="4177452"/>
                <a:ext cx="914400" cy="18415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200">
                    <a:solidFill>
                      <a:srgbClr val="383838"/>
                    </a:solidFill>
                    <a:cs typeface="微软雅黑"/>
                    <a:latin typeface="微软雅黑"/>
                    <a:ea typeface="微软雅黑"/>
                  </a:rPr>
                  <a:t>价格策略优化</a:t>
                </a:r>
                <a:endParaRPr lang="zh-CN" altLang="en-US" sz="1200">
                  <a:solidFill>
                    <a:srgbClr val="383838"/>
                  </a:solidFill>
                  <a:cs typeface="微软雅黑"/>
                  <a:latin typeface="微软雅黑"/>
                  <a:ea typeface="微软雅黑"/>
                </a:endParaRPr>
              </a:p>
            </p:txBody>
          </p:sp>
        </p:grpSp>
        <p:grpSp>
          <p:nvGrpSpPr>
            <p:cNvPr id="304" name="显眼包PPT"/>
            <p:cNvGrpSpPr/>
            <p:nvPr/>
          </p:nvGrpSpPr>
          <p:grpSpPr>
            <a:xfrm rot="0">
              <a:off x="11166" y="4423"/>
              <a:ext cx="2288" cy="479"/>
              <a:chOff x="5191704" y="4124207"/>
              <a:chExt cx="1452880" cy="304165"/>
            </a:xfrm>
          </p:grpSpPr>
          <p:sp>
            <p:nvSpPr>
              <p:cNvPr id="305" name="显眼包PPT-1"/>
              <p:cNvSpPr/>
              <p:nvPr/>
            </p:nvSpPr>
            <p:spPr>
              <a:xfrm>
                <a:off x="5191704" y="4124207"/>
                <a:ext cx="1452880" cy="304165"/>
              </a:xfrm>
              <a:prstGeom prst="roundRect">
                <a:avLst>
                  <a:gd name="adj" fmla="val 50000"/>
                </a:avLst>
              </a:prstGeom>
              <a:solidFill>
                <a:srgbClr val="FFFFFF"/>
              </a:solidFill>
              <a:ln w="9525">
                <a:solidFill>
                  <a:srgbClr val="668EFF"/>
                </a:solidFill>
              </a:ln>
            </p:spPr>
            <p:style>
              <a:lnRef idx="2">
                <a:srgbClr val="0042FF"/>
              </a:lnRef>
              <a:fillRef idx="1">
                <a:srgbClr val="0042FF"/>
              </a:fillRef>
              <a:effectRef idx="0">
                <a:srgbClr val="0042FF"/>
              </a:effectRef>
              <a:fontRef idx="minor">
                <a:srgbClr val="FFFFFF"/>
              </a:fontRef>
            </p:style>
            <p:txBody>
              <a:bodyPr wrap="none" rtlCol="0" anchor="ctr"/>
              <a:lstStyle/>
              <a:p>
                <a:pPr algn="r">
                  <a:defRPr>
                    <a:latin typeface="微软雅黑"/>
                    <a:ea typeface="微软雅黑"/>
                    <a:cs typeface="微软雅黑"/>
                  </a:defRPr>
                </a:pPr>
                <a:endParaRPr lang="zh-CN" altLang="en-US" sz="1600">
                  <a:solidFill>
                    <a:srgbClr val="383838"/>
                  </a:solidFill>
                  <a:latin typeface="微软雅黑"/>
                  <a:cs typeface="微软雅黑"/>
                  <a:ea typeface="微软雅黑"/>
                </a:endParaRPr>
              </a:p>
            </p:txBody>
          </p:sp>
          <p:sp>
            <p:nvSpPr>
              <p:cNvPr id="306" name="显眼包PPT-2"/>
              <p:cNvSpPr/>
              <p:nvPr/>
            </p:nvSpPr>
            <p:spPr>
              <a:xfrm>
                <a:off x="5257470" y="4176944"/>
                <a:ext cx="198683" cy="198681"/>
              </a:xfrm>
              <a:prstGeom prst="ellipse">
                <a:avLst/>
              </a:prstGeom>
              <a:gradFill flip="none" rotWithShape="1">
                <a:gsLst>
                  <a:gs pos="0">
                    <a:srgbClr val="668EFF"/>
                  </a:gs>
                  <a:gs pos="46000">
                    <a:srgbClr val="0042FF"/>
                  </a:gs>
                  <a:gs pos="100000">
                    <a:srgbClr val="0042FF"/>
                  </a:gs>
                </a:gsLst>
                <a:path path="circle">
                  <a:fillToRect r="100000" b="100000"/>
                </a:path>
                <a:tileRect l="-100000" t="-100000"/>
              </a:gradFill>
              <a:ln w="22225">
                <a:noFill/>
              </a:ln>
              <a:effectLst>
                <a:innerShdw blurRad="127000">
                  <a:srgbClr val="3368FF"/>
                </a:innerShdw>
              </a:effectLst>
            </p:spPr>
            <p:style>
              <a:lnRef idx="2">
                <a:srgbClr val="0042FF"/>
              </a:lnRef>
              <a:fillRef idx="1">
                <a:srgbClr val="0042FF"/>
              </a:fillRef>
              <a:effectRef idx="0">
                <a:srgbClr val="0042FF"/>
              </a:effectRef>
              <a:fontRef idx="minor">
                <a:srgbClr val="FFFFFF"/>
              </a:fontRef>
            </p:style>
            <p:txBody>
              <a:bodyPr wrap="none" lIns="89555" tIns="44777" rIns="89555" bIns="44777"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307" name="显眼包PPT-4"/>
              <p:cNvSpPr txBox="1"/>
              <p:nvPr/>
            </p:nvSpPr>
            <p:spPr>
              <a:xfrm>
                <a:off x="5507448" y="4177452"/>
                <a:ext cx="1066800" cy="18415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新产品增长趋势</a:t>
                </a:r>
                <a:endParaRPr lang="zh-CN" altLang="en-US" sz="1200">
                  <a:cs typeface="微软雅黑"/>
                  <a:latin typeface="微软雅黑"/>
                  <a:ea typeface="微软雅黑"/>
                </a:endParaRPr>
              </a:p>
            </p:txBody>
          </p:sp>
        </p:grpSp>
        <p:sp>
          <p:nvSpPr>
            <p:cNvPr id="309" name="右中括号 308"/>
            <p:cNvSpPr/>
            <p:nvPr/>
          </p:nvSpPr>
          <p:spPr>
            <a:xfrm>
              <a:off x="13481" y="3257"/>
              <a:ext cx="186" cy="924"/>
            </a:xfrm>
            <a:prstGeom prst="rightBracket">
              <a:avLst/>
            </a:prstGeom>
            <a:ln>
              <a:solidFill>
                <a:srgbClr val="3368FF"/>
              </a:solidFill>
            </a:ln>
          </p:spPr>
          <p:style>
            <a:lnRef idx="2">
              <a:srgbClr val="0042FF"/>
            </a:lnRef>
            <a:fillRef idx="0">
              <a:srgbClr val="FFFFFF"/>
            </a:fillRef>
            <a:effectRef idx="0">
              <a:srgbClr val="FFFF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cxnSp>
          <p:nvCxnSpPr>
            <p:cNvPr id="310" name="直接连接符 309"/>
            <p:cNvCxnSpPr/>
            <p:nvPr/>
          </p:nvCxnSpPr>
          <p:spPr>
            <a:xfrm>
              <a:off x="13667" y="3771"/>
              <a:ext cx="567" cy="0"/>
            </a:xfrm>
            <a:prstGeom prst="line">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grpSp>
          <p:nvGrpSpPr>
            <p:cNvPr id="314" name="显眼包PPT"/>
            <p:cNvGrpSpPr/>
            <p:nvPr/>
          </p:nvGrpSpPr>
          <p:grpSpPr>
            <a:xfrm rot="0">
              <a:off x="9452" y="3410"/>
              <a:ext cx="1210" cy="1315"/>
              <a:chOff x="2109843" y="885746"/>
              <a:chExt cx="627380" cy="700632"/>
            </a:xfrm>
          </p:grpSpPr>
          <p:sp>
            <p:nvSpPr>
              <p:cNvPr id="315" name="显眼包PPT-1"/>
              <p:cNvSpPr/>
              <p:nvPr/>
            </p:nvSpPr>
            <p:spPr>
              <a:xfrm>
                <a:off x="2109843" y="885746"/>
                <a:ext cx="627380" cy="700632"/>
              </a:xfrm>
              <a:custGeom>
                <a:avLst/>
                <a:gdLst>
                  <a:gd name="connsiteX0" fmla="*/ 498562 w 848053"/>
                  <a:gd name="connsiteY0" fmla="*/ 26961 h 947071"/>
                  <a:gd name="connsiteX1" fmla="*/ 636035 w 848053"/>
                  <a:gd name="connsiteY1" fmla="*/ 106330 h 947071"/>
                  <a:gd name="connsiteX2" fmla="*/ 773510 w 848053"/>
                  <a:gd name="connsiteY2" fmla="*/ 185701 h 947071"/>
                  <a:gd name="connsiteX3" fmla="*/ 848038 w 848053"/>
                  <a:gd name="connsiteY3" fmla="*/ 314794 h 947071"/>
                  <a:gd name="connsiteX4" fmla="*/ 848038 w 848053"/>
                  <a:gd name="connsiteY4" fmla="*/ 473534 h 947071"/>
                  <a:gd name="connsiteX5" fmla="*/ 848038 w 848053"/>
                  <a:gd name="connsiteY5" fmla="*/ 632279 h 947071"/>
                  <a:gd name="connsiteX6" fmla="*/ 773510 w 848053"/>
                  <a:gd name="connsiteY6" fmla="*/ 761369 h 947071"/>
                  <a:gd name="connsiteX7" fmla="*/ 636035 w 848053"/>
                  <a:gd name="connsiteY7" fmla="*/ 840738 h 947071"/>
                  <a:gd name="connsiteX8" fmla="*/ 498562 w 848053"/>
                  <a:gd name="connsiteY8" fmla="*/ 920107 h 947071"/>
                  <a:gd name="connsiteX9" fmla="*/ 349489 w 848053"/>
                  <a:gd name="connsiteY9" fmla="*/ 920107 h 947071"/>
                  <a:gd name="connsiteX10" fmla="*/ 212022 w 848053"/>
                  <a:gd name="connsiteY10" fmla="*/ 840738 h 947071"/>
                  <a:gd name="connsiteX11" fmla="*/ 74554 w 848053"/>
                  <a:gd name="connsiteY11" fmla="*/ 761369 h 947071"/>
                  <a:gd name="connsiteX12" fmla="*/ 19 w 848053"/>
                  <a:gd name="connsiteY12" fmla="*/ 632279 h 947071"/>
                  <a:gd name="connsiteX13" fmla="*/ 19 w 848053"/>
                  <a:gd name="connsiteY13" fmla="*/ 473535 h 947071"/>
                  <a:gd name="connsiteX14" fmla="*/ 19 w 848053"/>
                  <a:gd name="connsiteY14" fmla="*/ 314795 h 947071"/>
                  <a:gd name="connsiteX15" fmla="*/ 74554 w 848053"/>
                  <a:gd name="connsiteY15" fmla="*/ 185702 h 947071"/>
                  <a:gd name="connsiteX16" fmla="*/ 212022 w 848053"/>
                  <a:gd name="connsiteY16" fmla="*/ 106330 h 947071"/>
                  <a:gd name="connsiteX17" fmla="*/ 349489 w 848053"/>
                  <a:gd name="connsiteY17" fmla="*/ 26961 h 947071"/>
                  <a:gd name="connsiteX18" fmla="*/ 498562 w 848053"/>
                  <a:gd name="connsiteY18" fmla="*/ 26961 h 9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8053" h="947071">
                    <a:moveTo>
                      <a:pt x="498562" y="26961"/>
                    </a:moveTo>
                    <a:cubicBezTo>
                      <a:pt x="544385" y="53416"/>
                      <a:pt x="590207" y="79874"/>
                      <a:pt x="636035" y="106330"/>
                    </a:cubicBezTo>
                    <a:cubicBezTo>
                      <a:pt x="681858" y="132786"/>
                      <a:pt x="727701" y="159210"/>
                      <a:pt x="773510" y="185701"/>
                    </a:cubicBezTo>
                    <a:cubicBezTo>
                      <a:pt x="836737" y="222272"/>
                      <a:pt x="846672" y="241592"/>
                      <a:pt x="848038" y="314794"/>
                    </a:cubicBezTo>
                    <a:lnTo>
                      <a:pt x="848038" y="473534"/>
                    </a:lnTo>
                    <a:cubicBezTo>
                      <a:pt x="848038" y="526446"/>
                      <a:pt x="848074" y="579367"/>
                      <a:pt x="848038" y="632279"/>
                    </a:cubicBezTo>
                    <a:cubicBezTo>
                      <a:pt x="847982" y="705330"/>
                      <a:pt x="836214" y="723584"/>
                      <a:pt x="773510" y="761369"/>
                    </a:cubicBezTo>
                    <a:cubicBezTo>
                      <a:pt x="727680" y="787831"/>
                      <a:pt x="681857" y="814281"/>
                      <a:pt x="636035" y="840738"/>
                    </a:cubicBezTo>
                    <a:cubicBezTo>
                      <a:pt x="590205" y="867194"/>
                      <a:pt x="544405" y="893685"/>
                      <a:pt x="498562" y="920107"/>
                    </a:cubicBezTo>
                    <a:cubicBezTo>
                      <a:pt x="435276" y="956589"/>
                      <a:pt x="413575" y="955527"/>
                      <a:pt x="349489" y="920107"/>
                    </a:cubicBezTo>
                    <a:cubicBezTo>
                      <a:pt x="303667" y="893657"/>
                      <a:pt x="257844" y="867194"/>
                      <a:pt x="212022" y="840738"/>
                    </a:cubicBezTo>
                    <a:cubicBezTo>
                      <a:pt x="166201" y="814281"/>
                      <a:pt x="120348" y="787860"/>
                      <a:pt x="74554" y="761369"/>
                    </a:cubicBezTo>
                    <a:cubicBezTo>
                      <a:pt x="11312" y="724802"/>
                      <a:pt x="1383" y="705477"/>
                      <a:pt x="19" y="632279"/>
                    </a:cubicBezTo>
                    <a:lnTo>
                      <a:pt x="19" y="473535"/>
                    </a:lnTo>
                    <a:cubicBezTo>
                      <a:pt x="19" y="420623"/>
                      <a:pt x="-24" y="367707"/>
                      <a:pt x="19" y="314795"/>
                    </a:cubicBezTo>
                    <a:cubicBezTo>
                      <a:pt x="75" y="241744"/>
                      <a:pt x="11836" y="223486"/>
                      <a:pt x="74554" y="185702"/>
                    </a:cubicBezTo>
                    <a:cubicBezTo>
                      <a:pt x="120370" y="159246"/>
                      <a:pt x="166199" y="132786"/>
                      <a:pt x="212022" y="106330"/>
                    </a:cubicBezTo>
                    <a:cubicBezTo>
                      <a:pt x="257844" y="79875"/>
                      <a:pt x="303653" y="53382"/>
                      <a:pt x="349489" y="26961"/>
                    </a:cubicBezTo>
                    <a:cubicBezTo>
                      <a:pt x="412782" y="-9514"/>
                      <a:pt x="434483" y="-8456"/>
                      <a:pt x="498562" y="26961"/>
                    </a:cubicBezTo>
                    <a:close/>
                  </a:path>
                </a:pathLst>
              </a:custGeom>
              <a:gradFill flip="none" rotWithShape="1">
                <a:gsLst>
                  <a:gs pos="100000">
                    <a:srgbClr val="3368FF">
                      <a:alpha val="0"/>
                    </a:srgbClr>
                  </a:gs>
                  <a:gs pos="0">
                    <a:srgbClr val="3368FF">
                      <a:alpha val="29000"/>
                    </a:srgbClr>
                  </a:gs>
                </a:gsLst>
                <a:lin ang="5400000" scaled="1"/>
                <a:tileRect/>
              </a:gradFill>
              <a:ln w="25400">
                <a:noFill/>
              </a:ln>
              <a:effectLst>
                <a:outerShdw blurRad="241300" dist="190500" dir="5400000" sx="94000" sy="94000" algn="t" rotWithShape="0">
                  <a:srgbClr val="3368FF">
                    <a:alpha val="43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none" lIns="98865" tIns="49432" rIns="98865" bIns="49432"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600" spc="300">
                  <a:solidFill>
                    <a:srgbClr val="FFFFFF"/>
                  </a:solidFill>
                  <a:effectLst>
                    <a:outerShdw blurRad="50800" dist="38100" dir="5400000" algn="t" rotWithShape="0">
                      <a:srgbClr val="0042FF">
                        <a:alpha val="40000"/>
                      </a:srgbClr>
                    </a:outerShdw>
                  </a:effectLst>
                  <a:latin typeface="微软雅黑"/>
                  <a:ea typeface="微软雅黑"/>
                  <a:cs typeface="微软雅黑"/>
                </a:endParaRPr>
              </a:p>
            </p:txBody>
          </p:sp>
          <p:sp>
            <p:nvSpPr>
              <p:cNvPr id="316" name="显眼包PPT-2"/>
              <p:cNvSpPr/>
              <p:nvPr/>
            </p:nvSpPr>
            <p:spPr>
              <a:xfrm>
                <a:off x="2197728" y="983891"/>
                <a:ext cx="451610" cy="504343"/>
              </a:xfrm>
              <a:custGeom>
                <a:avLst/>
                <a:gdLst>
                  <a:gd name="connsiteX0" fmla="*/ 498562 w 848053"/>
                  <a:gd name="connsiteY0" fmla="*/ 26961 h 947071"/>
                  <a:gd name="connsiteX1" fmla="*/ 636035 w 848053"/>
                  <a:gd name="connsiteY1" fmla="*/ 106330 h 947071"/>
                  <a:gd name="connsiteX2" fmla="*/ 773510 w 848053"/>
                  <a:gd name="connsiteY2" fmla="*/ 185701 h 947071"/>
                  <a:gd name="connsiteX3" fmla="*/ 848038 w 848053"/>
                  <a:gd name="connsiteY3" fmla="*/ 314794 h 947071"/>
                  <a:gd name="connsiteX4" fmla="*/ 848038 w 848053"/>
                  <a:gd name="connsiteY4" fmla="*/ 473534 h 947071"/>
                  <a:gd name="connsiteX5" fmla="*/ 848038 w 848053"/>
                  <a:gd name="connsiteY5" fmla="*/ 632279 h 947071"/>
                  <a:gd name="connsiteX6" fmla="*/ 773510 w 848053"/>
                  <a:gd name="connsiteY6" fmla="*/ 761369 h 947071"/>
                  <a:gd name="connsiteX7" fmla="*/ 636035 w 848053"/>
                  <a:gd name="connsiteY7" fmla="*/ 840738 h 947071"/>
                  <a:gd name="connsiteX8" fmla="*/ 498562 w 848053"/>
                  <a:gd name="connsiteY8" fmla="*/ 920107 h 947071"/>
                  <a:gd name="connsiteX9" fmla="*/ 349489 w 848053"/>
                  <a:gd name="connsiteY9" fmla="*/ 920107 h 947071"/>
                  <a:gd name="connsiteX10" fmla="*/ 212022 w 848053"/>
                  <a:gd name="connsiteY10" fmla="*/ 840738 h 947071"/>
                  <a:gd name="connsiteX11" fmla="*/ 74554 w 848053"/>
                  <a:gd name="connsiteY11" fmla="*/ 761369 h 947071"/>
                  <a:gd name="connsiteX12" fmla="*/ 19 w 848053"/>
                  <a:gd name="connsiteY12" fmla="*/ 632279 h 947071"/>
                  <a:gd name="connsiteX13" fmla="*/ 19 w 848053"/>
                  <a:gd name="connsiteY13" fmla="*/ 473535 h 947071"/>
                  <a:gd name="connsiteX14" fmla="*/ 19 w 848053"/>
                  <a:gd name="connsiteY14" fmla="*/ 314795 h 947071"/>
                  <a:gd name="connsiteX15" fmla="*/ 74554 w 848053"/>
                  <a:gd name="connsiteY15" fmla="*/ 185702 h 947071"/>
                  <a:gd name="connsiteX16" fmla="*/ 212022 w 848053"/>
                  <a:gd name="connsiteY16" fmla="*/ 106330 h 947071"/>
                  <a:gd name="connsiteX17" fmla="*/ 349489 w 848053"/>
                  <a:gd name="connsiteY17" fmla="*/ 26961 h 947071"/>
                  <a:gd name="connsiteX18" fmla="*/ 498562 w 848053"/>
                  <a:gd name="connsiteY18" fmla="*/ 26961 h 9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8053" h="947071">
                    <a:moveTo>
                      <a:pt x="498562" y="26961"/>
                    </a:moveTo>
                    <a:cubicBezTo>
                      <a:pt x="544385" y="53416"/>
                      <a:pt x="590207" y="79874"/>
                      <a:pt x="636035" y="106330"/>
                    </a:cubicBezTo>
                    <a:cubicBezTo>
                      <a:pt x="681858" y="132786"/>
                      <a:pt x="727701" y="159210"/>
                      <a:pt x="773510" y="185701"/>
                    </a:cubicBezTo>
                    <a:cubicBezTo>
                      <a:pt x="836737" y="222272"/>
                      <a:pt x="846672" y="241592"/>
                      <a:pt x="848038" y="314794"/>
                    </a:cubicBezTo>
                    <a:lnTo>
                      <a:pt x="848038" y="473534"/>
                    </a:lnTo>
                    <a:cubicBezTo>
                      <a:pt x="848038" y="526446"/>
                      <a:pt x="848074" y="579367"/>
                      <a:pt x="848038" y="632279"/>
                    </a:cubicBezTo>
                    <a:cubicBezTo>
                      <a:pt x="847982" y="705330"/>
                      <a:pt x="836214" y="723584"/>
                      <a:pt x="773510" y="761369"/>
                    </a:cubicBezTo>
                    <a:cubicBezTo>
                      <a:pt x="727680" y="787831"/>
                      <a:pt x="681857" y="814281"/>
                      <a:pt x="636035" y="840738"/>
                    </a:cubicBezTo>
                    <a:cubicBezTo>
                      <a:pt x="590205" y="867194"/>
                      <a:pt x="544405" y="893685"/>
                      <a:pt x="498562" y="920107"/>
                    </a:cubicBezTo>
                    <a:cubicBezTo>
                      <a:pt x="435276" y="956589"/>
                      <a:pt x="413575" y="955527"/>
                      <a:pt x="349489" y="920107"/>
                    </a:cubicBezTo>
                    <a:cubicBezTo>
                      <a:pt x="303667" y="893657"/>
                      <a:pt x="257844" y="867194"/>
                      <a:pt x="212022" y="840738"/>
                    </a:cubicBezTo>
                    <a:cubicBezTo>
                      <a:pt x="166201" y="814281"/>
                      <a:pt x="120348" y="787860"/>
                      <a:pt x="74554" y="761369"/>
                    </a:cubicBezTo>
                    <a:cubicBezTo>
                      <a:pt x="11312" y="724802"/>
                      <a:pt x="1383" y="705477"/>
                      <a:pt x="19" y="632279"/>
                    </a:cubicBezTo>
                    <a:lnTo>
                      <a:pt x="19" y="473535"/>
                    </a:lnTo>
                    <a:cubicBezTo>
                      <a:pt x="19" y="420623"/>
                      <a:pt x="-24" y="367707"/>
                      <a:pt x="19" y="314795"/>
                    </a:cubicBezTo>
                    <a:cubicBezTo>
                      <a:pt x="75" y="241744"/>
                      <a:pt x="11836" y="223486"/>
                      <a:pt x="74554" y="185702"/>
                    </a:cubicBezTo>
                    <a:cubicBezTo>
                      <a:pt x="120370" y="159246"/>
                      <a:pt x="166199" y="132786"/>
                      <a:pt x="212022" y="106330"/>
                    </a:cubicBezTo>
                    <a:cubicBezTo>
                      <a:pt x="257844" y="79875"/>
                      <a:pt x="303653" y="53382"/>
                      <a:pt x="349489" y="26961"/>
                    </a:cubicBezTo>
                    <a:cubicBezTo>
                      <a:pt x="412782" y="-9514"/>
                      <a:pt x="434483" y="-8456"/>
                      <a:pt x="498562" y="26961"/>
                    </a:cubicBezTo>
                    <a:close/>
                  </a:path>
                </a:pathLst>
              </a:custGeom>
              <a:gradFill flip="none" rotWithShape="1">
                <a:gsLst>
                  <a:gs pos="100000">
                    <a:srgbClr val="3368FF"/>
                  </a:gs>
                  <a:gs pos="0">
                    <a:srgbClr val="3368FF"/>
                  </a:gs>
                  <a:gs pos="70000">
                    <a:srgbClr val="0042FF"/>
                  </a:gs>
                </a:gsLst>
                <a:path path="circle">
                  <a:fillToRect r="100000" b="100000"/>
                </a:path>
                <a:tileRect l="-100000" t="-100000"/>
              </a:gradFill>
              <a:ln w="12700">
                <a:gradFill>
                  <a:gsLst>
                    <a:gs pos="15000">
                      <a:srgbClr val="FFFFFF"/>
                    </a:gs>
                    <a:gs pos="73000">
                      <a:srgbClr val="FFFFFF">
                        <a:alpha val="0"/>
                      </a:srgbClr>
                    </a:gs>
                  </a:gsLst>
                  <a:lin ang="5400000" scaled="1"/>
                </a:gradFill>
              </a:ln>
              <a:effectLst>
                <a:outerShdw blurRad="241300" dir="5400000" sx="98000" sy="98000" algn="t" rotWithShape="0">
                  <a:srgbClr val="3368FF">
                    <a:alpha val="62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none" lIns="98865" tIns="49432" rIns="98865" bIns="49432"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600" b="1">
                    <a:solidFill>
                      <a:srgbClr val="FFFFFF"/>
                    </a:solidFill>
                    <a:effectLst>
                      <a:outerShdw blurRad="50800" dist="38100" dir="5400000" algn="t" rotWithShape="0">
                        <a:srgbClr val="0042FF">
                          <a:alpha val="40000"/>
                        </a:srgbClr>
                      </a:outerShdw>
                    </a:effectLst>
                    <a:latin typeface="微软雅黑"/>
                    <a:ea typeface="微软雅黑"/>
                    <a:cs typeface="微软雅黑"/>
                  </a:rPr>
                  <a:t>收入</a:t>
                </a:r>
                <a:endParaRPr lang="zh-CN" altLang="en-US" sz="1600" b="1">
                  <a:solidFill>
                    <a:srgbClr val="FFFFFF"/>
                  </a:solidFill>
                  <a:effectLst>
                    <a:outerShdw blurRad="50800" dist="38100" dir="5400000" algn="t" rotWithShape="0">
                      <a:srgbClr val="0042FF">
                        <a:alpha val="40000"/>
                      </a:srgbClr>
                    </a:outerShdw>
                  </a:effectLst>
                  <a:latin typeface="微软雅黑"/>
                  <a:ea typeface="微软雅黑"/>
                  <a:cs typeface="微软雅黑"/>
                </a:endParaRPr>
              </a:p>
            </p:txBody>
          </p:sp>
        </p:grpSp>
        <p:sp>
          <p:nvSpPr>
            <p:cNvPr id="317" name="梯形 316"/>
            <p:cNvSpPr/>
            <p:nvPr/>
          </p:nvSpPr>
          <p:spPr>
            <a:xfrm rot="16200000">
              <a:off x="10117" y="3733"/>
              <a:ext cx="1426" cy="672"/>
            </a:xfrm>
            <a:prstGeom prst="trapezoid">
              <a:avLst>
                <a:gd name="adj" fmla="val 73363"/>
              </a:avLst>
            </a:prstGeom>
            <a:gradFill>
              <a:gsLst>
                <a:gs pos="100000">
                  <a:srgbClr val="3368FF">
                    <a:alpha val="0"/>
                  </a:srgbClr>
                </a:gs>
                <a:gs pos="0">
                  <a:srgbClr val="3368FF">
                    <a:alpha val="29000"/>
                  </a:srgbClr>
                </a:gs>
              </a:gsLst>
              <a:lin ang="5400000" scaled="0"/>
            </a:gradFill>
            <a:ln w="12700" cmpd="sng">
              <a:gradFill>
                <a:gsLst>
                  <a:gs pos="15000">
                    <a:srgbClr val="FFFFFF"/>
                  </a:gs>
                  <a:gs pos="100000">
                    <a:srgbClr val="FFFFFF">
                      <a:alpha val="0"/>
                    </a:srgbClr>
                  </a:gs>
                </a:gsLst>
                <a:lin ang="5400000" scaled="1"/>
              </a:gradFill>
              <a:prstDash val="solid"/>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cxnSp>
          <p:nvCxnSpPr>
            <p:cNvPr id="321" name="直接连接符 320"/>
            <p:cNvCxnSpPr>
              <a:stCxn id="317" idx="0"/>
              <a:endCxn id="317" idx="2"/>
            </p:cNvCxnSpPr>
            <p:nvPr/>
          </p:nvCxnSpPr>
          <p:spPr>
            <a:xfrm>
              <a:off x="10494" y="4069"/>
              <a:ext cx="672" cy="0"/>
            </a:xfrm>
            <a:prstGeom prst="line">
              <a:avLst/>
            </a:prstGeom>
            <a:ln w="15875">
              <a:gradFill>
                <a:gsLst>
                  <a:gs pos="15000">
                    <a:srgbClr val="FFFFFF"/>
                  </a:gs>
                  <a:gs pos="100000">
                    <a:srgbClr val="FFFFFF">
                      <a:alpha val="0"/>
                    </a:srgbClr>
                  </a:gs>
                </a:gsLst>
                <a:lin ang="2700000" scaled="1"/>
              </a:gradFill>
            </a:ln>
          </p:spPr>
          <p:style>
            <a:lnRef idx="2">
              <a:srgbClr val="0042FF"/>
            </a:lnRef>
            <a:fillRef idx="0">
              <a:srgbClr val="FFFFFF"/>
            </a:fillRef>
            <a:effectRef idx="0">
              <a:srgbClr val="FFFFFF"/>
            </a:effectRef>
            <a:fontRef idx="minor">
              <a:srgbClr val="383838"/>
            </a:fontRef>
          </p:style>
        </p:cxnSp>
        <p:pic>
          <p:nvPicPr>
            <p:cNvPr id="323" name="图片 322" descr="3.1-价格"/>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11306" y="3896"/>
              <a:ext cx="243" cy="243"/>
            </a:xfrm>
            <a:prstGeom prst="rect">
              <a:avLst/>
            </a:prstGeom>
          </p:spPr>
        </p:pic>
        <p:pic>
          <p:nvPicPr>
            <p:cNvPr id="324" name="图片 323" descr="agora_产品组合"/>
            <p:cNvPicPr>
              <a:picLocks noChangeAspect="1"/>
            </p:cNvPicPr>
            <p:nvPr/>
          </p:nvPicPr>
          <p:blipFill>
            <a:blip r:embed="rId32">
              <a:extLst>
                <a:ext uri="{96DAC541-7B7A-43D3-8B79-37D633B846F1}">
                  <asvg:svgBlip xmlns:asvg="http://schemas.microsoft.com/office/drawing/2016/SVG/main" r:embed="rId33"/>
                </a:ext>
              </a:extLst>
            </a:blip>
            <a:stretch>
              <a:fillRect/>
            </a:stretch>
          </p:blipFill>
          <p:spPr>
            <a:xfrm>
              <a:off x="11269" y="4493"/>
              <a:ext cx="326" cy="326"/>
            </a:xfrm>
            <a:prstGeom prst="rect">
              <a:avLst/>
            </a:prstGeom>
          </p:spPr>
        </p:pic>
      </p:grpSp>
      <p:grpSp>
        <p:nvGrpSpPr>
          <p:cNvPr id="349" name="组合 348"/>
          <p:cNvGrpSpPr/>
          <p:nvPr/>
        </p:nvGrpSpPr>
        <p:grpSpPr>
          <a:xfrm>
            <a:off x="8799830" y="3943350"/>
            <a:ext cx="2728595" cy="824230"/>
            <a:chOff x="13858" y="5874"/>
            <a:chExt cx="4297" cy="1298"/>
          </a:xfrm>
        </p:grpSpPr>
        <p:sp>
          <p:nvSpPr>
            <p:cNvPr id="326" name="Text Box 1030"/>
            <p:cNvSpPr txBox="1">
              <a:spLocks noChangeArrowheads="1"/>
            </p:cNvSpPr>
            <p:nvPr>
              <p:custDataLst>
                <p:tags r:id="rId34"/>
              </p:custDataLst>
            </p:nvPr>
          </p:nvSpPr>
          <p:spPr bwMode="auto">
            <a:xfrm>
              <a:off x="14054" y="5932"/>
              <a:ext cx="1283" cy="383"/>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物流成本</a:t>
              </a:r>
              <a:endParaRPr lang="zh-CN" altLang="en-US" sz="1000" dirty="0">
                <a:solidFill>
                  <a:srgbClr val="383838"/>
                </a:solidFill>
                <a:latin typeface="微软雅黑"/>
                <a:ea typeface="微软雅黑"/>
                <a:cs typeface="微软雅黑"/>
              </a:endParaRPr>
            </a:p>
          </p:txBody>
        </p:sp>
        <p:sp>
          <p:nvSpPr>
            <p:cNvPr id="327" name="Text Box 1030"/>
            <p:cNvSpPr txBox="1">
              <a:spLocks noChangeArrowheads="1"/>
            </p:cNvSpPr>
            <p:nvPr>
              <p:custDataLst>
                <p:tags r:id="rId35"/>
              </p:custDataLst>
            </p:nvPr>
          </p:nvSpPr>
          <p:spPr bwMode="auto">
            <a:xfrm>
              <a:off x="16763" y="6333"/>
              <a:ext cx="1308" cy="4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rIns="0" tIns="0" bIns="0" anchor="t">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生产效率</a:t>
              </a:r>
              <a:endParaRPr lang="zh-CN" altLang="en-US" sz="1000" dirty="0">
                <a:solidFill>
                  <a:srgbClr val="383838"/>
                </a:solidFill>
                <a:latin typeface="微软雅黑"/>
                <a:ea typeface="微软雅黑"/>
                <a:cs typeface="微软雅黑"/>
              </a:endParaRPr>
            </a:p>
          </p:txBody>
        </p:sp>
        <p:sp>
          <p:nvSpPr>
            <p:cNvPr id="328" name="Text Box 1030"/>
            <p:cNvSpPr txBox="1">
              <a:spLocks noChangeArrowheads="1"/>
            </p:cNvSpPr>
            <p:nvPr>
              <p:custDataLst>
                <p:tags r:id="rId36"/>
              </p:custDataLst>
            </p:nvPr>
          </p:nvSpPr>
          <p:spPr bwMode="auto">
            <a:xfrm>
              <a:off x="16578" y="5874"/>
              <a:ext cx="1464" cy="4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rIns="0" tIns="0" bIns="0" anchor="t">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原料采购成本</a:t>
              </a:r>
              <a:endParaRPr lang="zh-CN" altLang="en-US" sz="1000" dirty="0">
                <a:solidFill>
                  <a:srgbClr val="383838"/>
                </a:solidFill>
                <a:latin typeface="微软雅黑"/>
                <a:ea typeface="微软雅黑"/>
                <a:cs typeface="微软雅黑"/>
              </a:endParaRPr>
            </a:p>
          </p:txBody>
        </p:sp>
        <p:cxnSp>
          <p:nvCxnSpPr>
            <p:cNvPr id="329" name="直接连接符 328"/>
            <p:cNvCxnSpPr/>
            <p:nvPr/>
          </p:nvCxnSpPr>
          <p:spPr>
            <a:xfrm>
              <a:off x="14885" y="6137"/>
              <a:ext cx="394" cy="0"/>
            </a:xfrm>
            <a:prstGeom prst="line">
              <a:avLst/>
            </a:prstGeom>
            <a:noFill/>
            <a:ln w="12700" cap="flat" cmpd="sng" algn="ctr">
              <a:solidFill>
                <a:srgbClr val="B3D4FE"/>
              </a:solidFill>
              <a:prstDash val="sysDash"/>
              <a:headEnd type="triangle"/>
            </a:ln>
            <a:effectLst/>
          </p:spPr>
        </p:cxnSp>
        <p:grpSp>
          <p:nvGrpSpPr>
            <p:cNvPr id="330" name="组合 329"/>
            <p:cNvGrpSpPr/>
            <p:nvPr/>
          </p:nvGrpSpPr>
          <p:grpSpPr>
            <a:xfrm rot="0">
              <a:off x="15160" y="6021"/>
              <a:ext cx="1151" cy="1151"/>
              <a:chOff x="16037" y="5688"/>
              <a:chExt cx="996" cy="996"/>
            </a:xfrm>
          </p:grpSpPr>
          <p:sp>
            <p:nvSpPr>
              <p:cNvPr id="331" name="椭圆 330"/>
              <p:cNvSpPr/>
              <p:nvPr/>
            </p:nvSpPr>
            <p:spPr>
              <a:xfrm>
                <a:off x="16037" y="5688"/>
                <a:ext cx="996" cy="996"/>
              </a:xfrm>
              <a:prstGeom prst="ellipse">
                <a:avLst/>
              </a:prstGeom>
              <a:solidFill>
                <a:srgbClr val="B3D4FE">
                  <a:alpha val="0"/>
                </a:srgbClr>
              </a:solidFill>
              <a:ln>
                <a:solidFill>
                  <a:srgbClr val="B3D4FE"/>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32" name="椭圆 331"/>
              <p:cNvSpPr/>
              <p:nvPr/>
            </p:nvSpPr>
            <p:spPr>
              <a:xfrm>
                <a:off x="16169" y="5820"/>
                <a:ext cx="733" cy="733"/>
              </a:xfrm>
              <a:prstGeom prst="ellipse">
                <a:avLst/>
              </a:prstGeom>
              <a:solidFill>
                <a:srgbClr val="B3D4FE"/>
              </a:solidFill>
              <a:ln>
                <a:solidFill>
                  <a:srgbClr val="B3D4FE"/>
                </a:solidFill>
                <a:prstDash val="soli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33" name="矩形 332"/>
              <p:cNvSpPr/>
              <p:nvPr/>
            </p:nvSpPr>
            <p:spPr>
              <a:xfrm>
                <a:off x="16140" y="5896"/>
                <a:ext cx="790" cy="580"/>
              </a:xfrm>
              <a:prstGeom prst="rect">
                <a:avLst/>
              </a:prstGeom>
              <a:noFill/>
              <a:ln>
                <a:noFill/>
                <a:prstDash val="sysDash"/>
              </a:ln>
              <a:extLst>
                <a:ext uri="{909E8E84-426E-40DD-AFC4-6F175D3DCCD1}">
                  <a14:hiddenFill xmlns:a14="http://schemas.microsoft.com/office/drawing/2010/main">
                    <a:solidFill>
                      <a:srgbClr val="DCDCDC">
                        <a:alpha val="50000"/>
                      </a:srgbClr>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zh-CN" altLang="en-US" sz="1000" b="1">
                    <a:solidFill>
                      <a:srgbClr val="383838"/>
                    </a:solidFill>
                    <a:cs typeface="微软雅黑"/>
                    <a:sym typeface="微软雅黑"/>
                    <a:latin typeface="微软雅黑"/>
                    <a:ea typeface="微软雅黑"/>
                  </a:rPr>
                  <a:t>控制点</a:t>
                </a:r>
                <a:endParaRPr lang="zh-CN" altLang="en-US" sz="1000" b="1">
                  <a:solidFill>
                    <a:srgbClr val="383838"/>
                  </a:solidFill>
                  <a:cs typeface="微软雅黑"/>
                  <a:sym typeface="微软雅黑"/>
                  <a:latin typeface="微软雅黑"/>
                  <a:ea typeface="微软雅黑"/>
                </a:endParaRPr>
              </a:p>
            </p:txBody>
          </p:sp>
        </p:grpSp>
        <p:sp>
          <p:nvSpPr>
            <p:cNvPr id="334" name="椭圆 333"/>
            <p:cNvSpPr/>
            <p:nvPr>
              <p:custDataLst>
                <p:tags r:id="rId37"/>
              </p:custDataLst>
            </p:nvPr>
          </p:nvSpPr>
          <p:spPr>
            <a:xfrm>
              <a:off x="15279" y="6084"/>
              <a:ext cx="117" cy="117"/>
            </a:xfrm>
            <a:prstGeom prst="ellipse">
              <a:avLst/>
            </a:prstGeom>
            <a:solidFill>
              <a:srgbClr val="B3D4FE"/>
            </a:solidFill>
            <a:ln w="12700" cap="flat" cmpd="sng" algn="ctr">
              <a:no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35" name="椭圆 334"/>
            <p:cNvSpPr/>
            <p:nvPr>
              <p:custDataLst>
                <p:tags r:id="rId38"/>
              </p:custDataLst>
            </p:nvPr>
          </p:nvSpPr>
          <p:spPr>
            <a:xfrm>
              <a:off x="16085" y="6084"/>
              <a:ext cx="117" cy="117"/>
            </a:xfrm>
            <a:prstGeom prst="ellipse">
              <a:avLst/>
            </a:prstGeom>
            <a:solidFill>
              <a:srgbClr val="B3D4FE"/>
            </a:solidFill>
            <a:ln w="12700" cap="flat" cmpd="sng" algn="ctr">
              <a:no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36" name="椭圆 335"/>
            <p:cNvSpPr/>
            <p:nvPr>
              <p:custDataLst>
                <p:tags r:id="rId39"/>
              </p:custDataLst>
            </p:nvPr>
          </p:nvSpPr>
          <p:spPr>
            <a:xfrm>
              <a:off x="16113" y="6926"/>
              <a:ext cx="117" cy="117"/>
            </a:xfrm>
            <a:prstGeom prst="ellipse">
              <a:avLst/>
            </a:prstGeom>
            <a:solidFill>
              <a:srgbClr val="B3D4FE"/>
            </a:solidFill>
            <a:ln w="12700" cap="flat" cmpd="sng" algn="ctr">
              <a:no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37" name="椭圆 336"/>
            <p:cNvSpPr/>
            <p:nvPr>
              <p:custDataLst>
                <p:tags r:id="rId40"/>
              </p:custDataLst>
            </p:nvPr>
          </p:nvSpPr>
          <p:spPr>
            <a:xfrm>
              <a:off x="15226" y="6927"/>
              <a:ext cx="117" cy="116"/>
            </a:xfrm>
            <a:prstGeom prst="ellipse">
              <a:avLst/>
            </a:prstGeom>
            <a:solidFill>
              <a:srgbClr val="B3D4FE"/>
            </a:solidFill>
            <a:ln w="12700" cap="flat" cmpd="sng" algn="ctr">
              <a:no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38" name="椭圆 337"/>
            <p:cNvSpPr/>
            <p:nvPr>
              <p:custDataLst>
                <p:tags r:id="rId41"/>
              </p:custDataLst>
            </p:nvPr>
          </p:nvSpPr>
          <p:spPr>
            <a:xfrm>
              <a:off x="15109" y="6523"/>
              <a:ext cx="117" cy="116"/>
            </a:xfrm>
            <a:prstGeom prst="ellipse">
              <a:avLst/>
            </a:prstGeom>
            <a:solidFill>
              <a:srgbClr val="B3D4FE"/>
            </a:solidFill>
            <a:ln w="12700" cap="flat" cmpd="sng" algn="ctr">
              <a:no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39" name="椭圆 338"/>
            <p:cNvSpPr/>
            <p:nvPr>
              <p:custDataLst>
                <p:tags r:id="rId42"/>
              </p:custDataLst>
            </p:nvPr>
          </p:nvSpPr>
          <p:spPr>
            <a:xfrm>
              <a:off x="16252" y="6522"/>
              <a:ext cx="117" cy="117"/>
            </a:xfrm>
            <a:prstGeom prst="ellipse">
              <a:avLst/>
            </a:prstGeom>
            <a:solidFill>
              <a:srgbClr val="B3D4FE"/>
            </a:solidFill>
            <a:ln w="12700" cap="flat" cmpd="sng" algn="ctr">
              <a:no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cxnSp>
          <p:nvCxnSpPr>
            <p:cNvPr id="340" name="直接连接符 339"/>
            <p:cNvCxnSpPr/>
            <p:nvPr/>
          </p:nvCxnSpPr>
          <p:spPr>
            <a:xfrm>
              <a:off x="14722" y="6586"/>
              <a:ext cx="394" cy="0"/>
            </a:xfrm>
            <a:prstGeom prst="line">
              <a:avLst/>
            </a:prstGeom>
            <a:noFill/>
            <a:ln w="12700" cap="flat" cmpd="sng" algn="ctr">
              <a:solidFill>
                <a:srgbClr val="B3D4FE"/>
              </a:solidFill>
              <a:prstDash val="sysDash"/>
              <a:headEnd type="triangle"/>
            </a:ln>
            <a:effectLst/>
          </p:spPr>
        </p:cxnSp>
        <p:cxnSp>
          <p:nvCxnSpPr>
            <p:cNvPr id="341" name="直接连接符 340"/>
            <p:cNvCxnSpPr/>
            <p:nvPr/>
          </p:nvCxnSpPr>
          <p:spPr>
            <a:xfrm>
              <a:off x="14841" y="6985"/>
              <a:ext cx="394" cy="0"/>
            </a:xfrm>
            <a:prstGeom prst="line">
              <a:avLst/>
            </a:prstGeom>
            <a:noFill/>
            <a:ln w="12700" cap="flat" cmpd="sng" algn="ctr">
              <a:solidFill>
                <a:srgbClr val="B3D4FE"/>
              </a:solidFill>
              <a:prstDash val="sysDash"/>
              <a:headEnd type="triangle"/>
            </a:ln>
            <a:effectLst/>
          </p:spPr>
        </p:cxnSp>
        <p:sp>
          <p:nvSpPr>
            <p:cNvPr id="342" name="Text Box 1030"/>
            <p:cNvSpPr txBox="1">
              <a:spLocks noChangeArrowheads="1"/>
            </p:cNvSpPr>
            <p:nvPr>
              <p:custDataLst>
                <p:tags r:id="rId43"/>
              </p:custDataLst>
            </p:nvPr>
          </p:nvSpPr>
          <p:spPr bwMode="auto">
            <a:xfrm>
              <a:off x="13858" y="6359"/>
              <a:ext cx="1076" cy="383"/>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库存成本</a:t>
              </a:r>
              <a:endParaRPr lang="zh-CN" altLang="en-US" sz="1000" dirty="0">
                <a:solidFill>
                  <a:srgbClr val="383838"/>
                </a:solidFill>
                <a:latin typeface="微软雅黑"/>
                <a:ea typeface="微软雅黑"/>
                <a:cs typeface="微软雅黑"/>
              </a:endParaRPr>
            </a:p>
          </p:txBody>
        </p:sp>
        <p:sp>
          <p:nvSpPr>
            <p:cNvPr id="343" name="Text Box 1030"/>
            <p:cNvSpPr txBox="1">
              <a:spLocks noChangeArrowheads="1"/>
            </p:cNvSpPr>
            <p:nvPr>
              <p:custDataLst>
                <p:tags r:id="rId44"/>
              </p:custDataLst>
            </p:nvPr>
          </p:nvSpPr>
          <p:spPr bwMode="auto">
            <a:xfrm>
              <a:off x="14147" y="6770"/>
              <a:ext cx="972" cy="383"/>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人效比</a:t>
              </a:r>
              <a:endParaRPr lang="zh-CN" altLang="en-US" sz="1000" dirty="0">
                <a:solidFill>
                  <a:srgbClr val="383838"/>
                </a:solidFill>
                <a:latin typeface="微软雅黑"/>
                <a:ea typeface="微软雅黑"/>
                <a:cs typeface="微软雅黑"/>
              </a:endParaRPr>
            </a:p>
          </p:txBody>
        </p:sp>
        <p:cxnSp>
          <p:nvCxnSpPr>
            <p:cNvPr id="344" name="直接连接符 343"/>
            <p:cNvCxnSpPr/>
            <p:nvPr/>
          </p:nvCxnSpPr>
          <p:spPr>
            <a:xfrm flipH="1">
              <a:off x="16230" y="6148"/>
              <a:ext cx="394" cy="0"/>
            </a:xfrm>
            <a:prstGeom prst="line">
              <a:avLst/>
            </a:prstGeom>
            <a:noFill/>
            <a:ln w="12700" cap="flat" cmpd="sng" algn="ctr">
              <a:solidFill>
                <a:srgbClr val="B3D4FE"/>
              </a:solidFill>
              <a:prstDash val="sysDash"/>
              <a:headEnd type="triangle"/>
            </a:ln>
            <a:effectLst/>
          </p:spPr>
        </p:cxnSp>
        <p:cxnSp>
          <p:nvCxnSpPr>
            <p:cNvPr id="345" name="直接连接符 344"/>
            <p:cNvCxnSpPr/>
            <p:nvPr/>
          </p:nvCxnSpPr>
          <p:spPr>
            <a:xfrm flipH="1">
              <a:off x="16369" y="6586"/>
              <a:ext cx="394" cy="0"/>
            </a:xfrm>
            <a:prstGeom prst="line">
              <a:avLst/>
            </a:prstGeom>
            <a:noFill/>
            <a:ln w="12700" cap="flat" cmpd="sng" algn="ctr">
              <a:solidFill>
                <a:srgbClr val="B3D4FE"/>
              </a:solidFill>
              <a:prstDash val="sysDash"/>
              <a:headEnd type="triangle"/>
            </a:ln>
            <a:effectLst/>
          </p:spPr>
        </p:cxnSp>
        <p:cxnSp>
          <p:nvCxnSpPr>
            <p:cNvPr id="346" name="直接连接符 345"/>
            <p:cNvCxnSpPr/>
            <p:nvPr/>
          </p:nvCxnSpPr>
          <p:spPr>
            <a:xfrm flipH="1">
              <a:off x="16230" y="6985"/>
              <a:ext cx="394" cy="0"/>
            </a:xfrm>
            <a:prstGeom prst="line">
              <a:avLst/>
            </a:prstGeom>
            <a:noFill/>
            <a:ln w="12700" cap="flat" cmpd="sng" algn="ctr">
              <a:solidFill>
                <a:srgbClr val="B3D4FE"/>
              </a:solidFill>
              <a:prstDash val="sysDash"/>
              <a:headEnd type="triangle"/>
            </a:ln>
            <a:effectLst/>
          </p:spPr>
        </p:cxnSp>
        <p:sp>
          <p:nvSpPr>
            <p:cNvPr id="347" name="Text Box 1030"/>
            <p:cNvSpPr txBox="1">
              <a:spLocks noChangeArrowheads="1"/>
            </p:cNvSpPr>
            <p:nvPr>
              <p:custDataLst>
                <p:tags r:id="rId45"/>
              </p:custDataLst>
            </p:nvPr>
          </p:nvSpPr>
          <p:spPr bwMode="auto">
            <a:xfrm>
              <a:off x="16587" y="6716"/>
              <a:ext cx="1568" cy="4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rIns="0" tIns="0" bIns="0" anchor="t">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职能调整并岗</a:t>
              </a:r>
              <a:endParaRPr lang="zh-CN" altLang="en-US" sz="1000" dirty="0">
                <a:solidFill>
                  <a:srgbClr val="383838"/>
                </a:solidFill>
                <a:latin typeface="微软雅黑"/>
                <a:ea typeface="微软雅黑"/>
                <a:cs typeface="微软雅黑"/>
              </a:endParaRPr>
            </a:p>
          </p:txBody>
        </p:sp>
      </p:grpSp>
      <p:grpSp>
        <p:nvGrpSpPr>
          <p:cNvPr id="353" name="显眼包PPT"/>
          <p:cNvGrpSpPr/>
          <p:nvPr/>
        </p:nvGrpSpPr>
        <p:grpSpPr>
          <a:xfrm rot="0">
            <a:off x="7090410" y="3981450"/>
            <a:ext cx="1452880" cy="304165"/>
            <a:chOff x="5191704" y="4124207"/>
            <a:chExt cx="1452880" cy="304165"/>
          </a:xfrm>
        </p:grpSpPr>
        <p:sp>
          <p:nvSpPr>
            <p:cNvPr id="354" name="显眼包PPT-1"/>
            <p:cNvSpPr/>
            <p:nvPr/>
          </p:nvSpPr>
          <p:spPr>
            <a:xfrm>
              <a:off x="5191704" y="4124207"/>
              <a:ext cx="1452880" cy="304165"/>
            </a:xfrm>
            <a:prstGeom prst="roundRect">
              <a:avLst>
                <a:gd name="adj" fmla="val 50000"/>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r">
                <a:defRPr>
                  <a:latin typeface="微软雅黑"/>
                  <a:ea typeface="微软雅黑"/>
                  <a:cs typeface="微软雅黑"/>
                </a:defRPr>
              </a:pPr>
              <a:endParaRPr lang="zh-CN" altLang="en-US" sz="1600">
                <a:solidFill>
                  <a:srgbClr val="383838"/>
                </a:solidFill>
                <a:latin typeface="微软雅黑"/>
                <a:cs typeface="微软雅黑"/>
                <a:ea typeface="微软雅黑"/>
              </a:endParaRPr>
            </a:p>
          </p:txBody>
        </p:sp>
        <p:sp>
          <p:nvSpPr>
            <p:cNvPr id="355" name="显眼包PPT-2"/>
            <p:cNvSpPr/>
            <p:nvPr/>
          </p:nvSpPr>
          <p:spPr>
            <a:xfrm>
              <a:off x="5257470" y="4176944"/>
              <a:ext cx="198683" cy="198681"/>
            </a:xfrm>
            <a:prstGeom prst="ellipse">
              <a:avLst/>
            </a:prstGeom>
            <a:gradFill flip="none" rotWithShape="1">
              <a:gsLst>
                <a:gs pos="0">
                  <a:srgbClr val="B3D4FE"/>
                </a:gs>
                <a:gs pos="46000">
                  <a:srgbClr val="3368FF"/>
                </a:gs>
                <a:gs pos="100000">
                  <a:srgbClr val="3368FF"/>
                </a:gs>
              </a:gsLst>
              <a:path path="circle">
                <a:fillToRect r="100000" b="100000"/>
              </a:path>
              <a:tileRect l="-100000" t="-100000"/>
            </a:gradFill>
            <a:ln w="22225">
              <a:noFill/>
            </a:ln>
            <a:effectLst>
              <a:innerShdw blurRad="127000">
                <a:srgbClr val="B3D4FE"/>
              </a:innerShdw>
            </a:effectLst>
          </p:spPr>
          <p:style>
            <a:lnRef idx="2">
              <a:srgbClr val="0042FF"/>
            </a:lnRef>
            <a:fillRef idx="1">
              <a:srgbClr val="0042FF"/>
            </a:fillRef>
            <a:effectRef idx="0">
              <a:srgbClr val="0042FF"/>
            </a:effectRef>
            <a:fontRef idx="minor">
              <a:srgbClr val="FFFFFF"/>
            </a:fontRef>
          </p:style>
          <p:txBody>
            <a:bodyPr wrap="none" lIns="89555" tIns="44777" rIns="89555" bIns="44777"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356" name="显眼包PPT-4"/>
            <p:cNvSpPr txBox="1"/>
            <p:nvPr/>
          </p:nvSpPr>
          <p:spPr>
            <a:xfrm>
              <a:off x="5537928" y="4177452"/>
              <a:ext cx="914400" cy="184150"/>
            </a:xfrm>
            <a:prstGeom prst="rect">
              <a:avLst/>
            </a:prstGeom>
            <a:noFill/>
          </p:spPr>
          <p:txBody>
            <a:bodyPr wrap="none" lIns="0" tIns="0" rIns="0" bIns="0">
              <a:spAutoFit/>
            </a:bodyPr>
            <a:lstStyle/>
            <a:p>
              <a:pPr algn="ctr">
                <a:defRPr>
                  <a:latin typeface="微软雅黑"/>
                  <a:ea typeface="微软雅黑"/>
                  <a:cs typeface="微软雅黑"/>
                </a:defRPr>
              </a:pPr>
              <a:r>
                <a:rPr lang="zh-CN" sz="1200">
                  <a:cs typeface="微软雅黑"/>
                  <a:latin typeface="微软雅黑"/>
                  <a:ea typeface="微软雅黑"/>
                </a:rPr>
                <a:t>生产成本降低</a:t>
              </a:r>
              <a:endParaRPr lang="zh-CN" sz="1200">
                <a:cs typeface="微软雅黑"/>
                <a:latin typeface="微软雅黑"/>
                <a:ea typeface="微软雅黑"/>
              </a:endParaRPr>
            </a:p>
          </p:txBody>
        </p:sp>
      </p:grpSp>
      <p:grpSp>
        <p:nvGrpSpPr>
          <p:cNvPr id="369" name="显眼包PPT"/>
          <p:cNvGrpSpPr/>
          <p:nvPr/>
        </p:nvGrpSpPr>
        <p:grpSpPr>
          <a:xfrm rot="0">
            <a:off x="6003290" y="3966210"/>
            <a:ext cx="768350" cy="835025"/>
            <a:chOff x="2109843" y="885746"/>
            <a:chExt cx="627380" cy="700632"/>
          </a:xfrm>
        </p:grpSpPr>
        <p:sp>
          <p:nvSpPr>
            <p:cNvPr id="370" name="显眼包PPT-1"/>
            <p:cNvSpPr/>
            <p:nvPr/>
          </p:nvSpPr>
          <p:spPr>
            <a:xfrm>
              <a:off x="2109843" y="885746"/>
              <a:ext cx="627380" cy="700632"/>
            </a:xfrm>
            <a:custGeom>
              <a:avLst/>
              <a:gdLst>
                <a:gd name="connsiteX0" fmla="*/ 498562 w 848053"/>
                <a:gd name="connsiteY0" fmla="*/ 26961 h 947071"/>
                <a:gd name="connsiteX1" fmla="*/ 636035 w 848053"/>
                <a:gd name="connsiteY1" fmla="*/ 106330 h 947071"/>
                <a:gd name="connsiteX2" fmla="*/ 773510 w 848053"/>
                <a:gd name="connsiteY2" fmla="*/ 185701 h 947071"/>
                <a:gd name="connsiteX3" fmla="*/ 848038 w 848053"/>
                <a:gd name="connsiteY3" fmla="*/ 314794 h 947071"/>
                <a:gd name="connsiteX4" fmla="*/ 848038 w 848053"/>
                <a:gd name="connsiteY4" fmla="*/ 473534 h 947071"/>
                <a:gd name="connsiteX5" fmla="*/ 848038 w 848053"/>
                <a:gd name="connsiteY5" fmla="*/ 632279 h 947071"/>
                <a:gd name="connsiteX6" fmla="*/ 773510 w 848053"/>
                <a:gd name="connsiteY6" fmla="*/ 761369 h 947071"/>
                <a:gd name="connsiteX7" fmla="*/ 636035 w 848053"/>
                <a:gd name="connsiteY7" fmla="*/ 840738 h 947071"/>
                <a:gd name="connsiteX8" fmla="*/ 498562 w 848053"/>
                <a:gd name="connsiteY8" fmla="*/ 920107 h 947071"/>
                <a:gd name="connsiteX9" fmla="*/ 349489 w 848053"/>
                <a:gd name="connsiteY9" fmla="*/ 920107 h 947071"/>
                <a:gd name="connsiteX10" fmla="*/ 212022 w 848053"/>
                <a:gd name="connsiteY10" fmla="*/ 840738 h 947071"/>
                <a:gd name="connsiteX11" fmla="*/ 74554 w 848053"/>
                <a:gd name="connsiteY11" fmla="*/ 761369 h 947071"/>
                <a:gd name="connsiteX12" fmla="*/ 19 w 848053"/>
                <a:gd name="connsiteY12" fmla="*/ 632279 h 947071"/>
                <a:gd name="connsiteX13" fmla="*/ 19 w 848053"/>
                <a:gd name="connsiteY13" fmla="*/ 473535 h 947071"/>
                <a:gd name="connsiteX14" fmla="*/ 19 w 848053"/>
                <a:gd name="connsiteY14" fmla="*/ 314795 h 947071"/>
                <a:gd name="connsiteX15" fmla="*/ 74554 w 848053"/>
                <a:gd name="connsiteY15" fmla="*/ 185702 h 947071"/>
                <a:gd name="connsiteX16" fmla="*/ 212022 w 848053"/>
                <a:gd name="connsiteY16" fmla="*/ 106330 h 947071"/>
                <a:gd name="connsiteX17" fmla="*/ 349489 w 848053"/>
                <a:gd name="connsiteY17" fmla="*/ 26961 h 947071"/>
                <a:gd name="connsiteX18" fmla="*/ 498562 w 848053"/>
                <a:gd name="connsiteY18" fmla="*/ 26961 h 9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8053" h="947071">
                  <a:moveTo>
                    <a:pt x="498562" y="26961"/>
                  </a:moveTo>
                  <a:cubicBezTo>
                    <a:pt x="544385" y="53416"/>
                    <a:pt x="590207" y="79874"/>
                    <a:pt x="636035" y="106330"/>
                  </a:cubicBezTo>
                  <a:cubicBezTo>
                    <a:pt x="681858" y="132786"/>
                    <a:pt x="727701" y="159210"/>
                    <a:pt x="773510" y="185701"/>
                  </a:cubicBezTo>
                  <a:cubicBezTo>
                    <a:pt x="836737" y="222272"/>
                    <a:pt x="846672" y="241592"/>
                    <a:pt x="848038" y="314794"/>
                  </a:cubicBezTo>
                  <a:lnTo>
                    <a:pt x="848038" y="473534"/>
                  </a:lnTo>
                  <a:cubicBezTo>
                    <a:pt x="848038" y="526446"/>
                    <a:pt x="848074" y="579367"/>
                    <a:pt x="848038" y="632279"/>
                  </a:cubicBezTo>
                  <a:cubicBezTo>
                    <a:pt x="847982" y="705330"/>
                    <a:pt x="836214" y="723584"/>
                    <a:pt x="773510" y="761369"/>
                  </a:cubicBezTo>
                  <a:cubicBezTo>
                    <a:pt x="727680" y="787831"/>
                    <a:pt x="681857" y="814281"/>
                    <a:pt x="636035" y="840738"/>
                  </a:cubicBezTo>
                  <a:cubicBezTo>
                    <a:pt x="590205" y="867194"/>
                    <a:pt x="544405" y="893685"/>
                    <a:pt x="498562" y="920107"/>
                  </a:cubicBezTo>
                  <a:cubicBezTo>
                    <a:pt x="435276" y="956589"/>
                    <a:pt x="413575" y="955527"/>
                    <a:pt x="349489" y="920107"/>
                  </a:cubicBezTo>
                  <a:cubicBezTo>
                    <a:pt x="303667" y="893657"/>
                    <a:pt x="257844" y="867194"/>
                    <a:pt x="212022" y="840738"/>
                  </a:cubicBezTo>
                  <a:cubicBezTo>
                    <a:pt x="166201" y="814281"/>
                    <a:pt x="120348" y="787860"/>
                    <a:pt x="74554" y="761369"/>
                  </a:cubicBezTo>
                  <a:cubicBezTo>
                    <a:pt x="11312" y="724802"/>
                    <a:pt x="1383" y="705477"/>
                    <a:pt x="19" y="632279"/>
                  </a:cubicBezTo>
                  <a:lnTo>
                    <a:pt x="19" y="473535"/>
                  </a:lnTo>
                  <a:cubicBezTo>
                    <a:pt x="19" y="420623"/>
                    <a:pt x="-24" y="367707"/>
                    <a:pt x="19" y="314795"/>
                  </a:cubicBezTo>
                  <a:cubicBezTo>
                    <a:pt x="75" y="241744"/>
                    <a:pt x="11836" y="223486"/>
                    <a:pt x="74554" y="185702"/>
                  </a:cubicBezTo>
                  <a:cubicBezTo>
                    <a:pt x="120370" y="159246"/>
                    <a:pt x="166199" y="132786"/>
                    <a:pt x="212022" y="106330"/>
                  </a:cubicBezTo>
                  <a:cubicBezTo>
                    <a:pt x="257844" y="79875"/>
                    <a:pt x="303653" y="53382"/>
                    <a:pt x="349489" y="26961"/>
                  </a:cubicBezTo>
                  <a:cubicBezTo>
                    <a:pt x="412782" y="-9514"/>
                    <a:pt x="434483" y="-8456"/>
                    <a:pt x="498562" y="26961"/>
                  </a:cubicBezTo>
                  <a:close/>
                </a:path>
              </a:pathLst>
            </a:custGeom>
            <a:gradFill flip="none" rotWithShape="1">
              <a:gsLst>
                <a:gs pos="100000">
                  <a:srgbClr val="B3D4FE">
                    <a:alpha val="0"/>
                  </a:srgbClr>
                </a:gs>
                <a:gs pos="0">
                  <a:srgbClr val="B3D4FE">
                    <a:alpha val="29000"/>
                  </a:srgbClr>
                </a:gs>
              </a:gsLst>
              <a:lin ang="5400000" scaled="1"/>
              <a:tileRect/>
            </a:gradFill>
            <a:ln w="25400">
              <a:noFill/>
            </a:ln>
            <a:effectLst>
              <a:outerShdw blurRad="241300" dist="190500" dir="5400000" sx="94000" sy="94000" algn="t" rotWithShape="0">
                <a:srgbClr val="B3D4FE">
                  <a:alpha val="43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none" lIns="98865" tIns="49432" rIns="98865" bIns="49432" numCol="1" spcCol="0" rtlCol="0" fromWordArt="0" anchor="ctr" anchorCtr="0" forceAA="0" compatLnSpc="1">
              <a:noAutofit/>
            </a:bodyPr>
            <a:lstStyle/>
            <a:p>
              <a:pPr algn="ctr">
                <a:defRPr>
                  <a:latin typeface="微软雅黑"/>
                  <a:ea typeface="微软雅黑"/>
                  <a:cs typeface="微软雅黑"/>
                </a:defRPr>
              </a:pPr>
              <a:endParaRPr lang="zh-CN" altLang="en-US" sz="1600" spc="300">
                <a:solidFill>
                  <a:srgbClr val="383838"/>
                </a:solidFill>
                <a:effectLst>
                  <a:outerShdw blurRad="50800" dist="38100" dir="5400000" algn="t" rotWithShape="0">
                    <a:srgbClr val="0042FF">
                      <a:alpha val="40000"/>
                    </a:srgbClr>
                  </a:outerShdw>
                </a:effectLst>
                <a:latin typeface="微软雅黑"/>
                <a:ea typeface="微软雅黑"/>
                <a:cs typeface="微软雅黑"/>
              </a:endParaRPr>
            </a:p>
          </p:txBody>
        </p:sp>
        <p:sp>
          <p:nvSpPr>
            <p:cNvPr id="371" name="显眼包PPT-2"/>
            <p:cNvSpPr/>
            <p:nvPr/>
          </p:nvSpPr>
          <p:spPr>
            <a:xfrm>
              <a:off x="2197728" y="983891"/>
              <a:ext cx="451610" cy="504343"/>
            </a:xfrm>
            <a:custGeom>
              <a:avLst/>
              <a:gdLst>
                <a:gd name="connsiteX0" fmla="*/ 498562 w 848053"/>
                <a:gd name="connsiteY0" fmla="*/ 26961 h 947071"/>
                <a:gd name="connsiteX1" fmla="*/ 636035 w 848053"/>
                <a:gd name="connsiteY1" fmla="*/ 106330 h 947071"/>
                <a:gd name="connsiteX2" fmla="*/ 773510 w 848053"/>
                <a:gd name="connsiteY2" fmla="*/ 185701 h 947071"/>
                <a:gd name="connsiteX3" fmla="*/ 848038 w 848053"/>
                <a:gd name="connsiteY3" fmla="*/ 314794 h 947071"/>
                <a:gd name="connsiteX4" fmla="*/ 848038 w 848053"/>
                <a:gd name="connsiteY4" fmla="*/ 473534 h 947071"/>
                <a:gd name="connsiteX5" fmla="*/ 848038 w 848053"/>
                <a:gd name="connsiteY5" fmla="*/ 632279 h 947071"/>
                <a:gd name="connsiteX6" fmla="*/ 773510 w 848053"/>
                <a:gd name="connsiteY6" fmla="*/ 761369 h 947071"/>
                <a:gd name="connsiteX7" fmla="*/ 636035 w 848053"/>
                <a:gd name="connsiteY7" fmla="*/ 840738 h 947071"/>
                <a:gd name="connsiteX8" fmla="*/ 498562 w 848053"/>
                <a:gd name="connsiteY8" fmla="*/ 920107 h 947071"/>
                <a:gd name="connsiteX9" fmla="*/ 349489 w 848053"/>
                <a:gd name="connsiteY9" fmla="*/ 920107 h 947071"/>
                <a:gd name="connsiteX10" fmla="*/ 212022 w 848053"/>
                <a:gd name="connsiteY10" fmla="*/ 840738 h 947071"/>
                <a:gd name="connsiteX11" fmla="*/ 74554 w 848053"/>
                <a:gd name="connsiteY11" fmla="*/ 761369 h 947071"/>
                <a:gd name="connsiteX12" fmla="*/ 19 w 848053"/>
                <a:gd name="connsiteY12" fmla="*/ 632279 h 947071"/>
                <a:gd name="connsiteX13" fmla="*/ 19 w 848053"/>
                <a:gd name="connsiteY13" fmla="*/ 473535 h 947071"/>
                <a:gd name="connsiteX14" fmla="*/ 19 w 848053"/>
                <a:gd name="connsiteY14" fmla="*/ 314795 h 947071"/>
                <a:gd name="connsiteX15" fmla="*/ 74554 w 848053"/>
                <a:gd name="connsiteY15" fmla="*/ 185702 h 947071"/>
                <a:gd name="connsiteX16" fmla="*/ 212022 w 848053"/>
                <a:gd name="connsiteY16" fmla="*/ 106330 h 947071"/>
                <a:gd name="connsiteX17" fmla="*/ 349489 w 848053"/>
                <a:gd name="connsiteY17" fmla="*/ 26961 h 947071"/>
                <a:gd name="connsiteX18" fmla="*/ 498562 w 848053"/>
                <a:gd name="connsiteY18" fmla="*/ 26961 h 9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8053" h="947071">
                  <a:moveTo>
                    <a:pt x="498562" y="26961"/>
                  </a:moveTo>
                  <a:cubicBezTo>
                    <a:pt x="544385" y="53416"/>
                    <a:pt x="590207" y="79874"/>
                    <a:pt x="636035" y="106330"/>
                  </a:cubicBezTo>
                  <a:cubicBezTo>
                    <a:pt x="681858" y="132786"/>
                    <a:pt x="727701" y="159210"/>
                    <a:pt x="773510" y="185701"/>
                  </a:cubicBezTo>
                  <a:cubicBezTo>
                    <a:pt x="836737" y="222272"/>
                    <a:pt x="846672" y="241592"/>
                    <a:pt x="848038" y="314794"/>
                  </a:cubicBezTo>
                  <a:lnTo>
                    <a:pt x="848038" y="473534"/>
                  </a:lnTo>
                  <a:cubicBezTo>
                    <a:pt x="848038" y="526446"/>
                    <a:pt x="848074" y="579367"/>
                    <a:pt x="848038" y="632279"/>
                  </a:cubicBezTo>
                  <a:cubicBezTo>
                    <a:pt x="847982" y="705330"/>
                    <a:pt x="836214" y="723584"/>
                    <a:pt x="773510" y="761369"/>
                  </a:cubicBezTo>
                  <a:cubicBezTo>
                    <a:pt x="727680" y="787831"/>
                    <a:pt x="681857" y="814281"/>
                    <a:pt x="636035" y="840738"/>
                  </a:cubicBezTo>
                  <a:cubicBezTo>
                    <a:pt x="590205" y="867194"/>
                    <a:pt x="544405" y="893685"/>
                    <a:pt x="498562" y="920107"/>
                  </a:cubicBezTo>
                  <a:cubicBezTo>
                    <a:pt x="435276" y="956589"/>
                    <a:pt x="413575" y="955527"/>
                    <a:pt x="349489" y="920107"/>
                  </a:cubicBezTo>
                  <a:cubicBezTo>
                    <a:pt x="303667" y="893657"/>
                    <a:pt x="257844" y="867194"/>
                    <a:pt x="212022" y="840738"/>
                  </a:cubicBezTo>
                  <a:cubicBezTo>
                    <a:pt x="166201" y="814281"/>
                    <a:pt x="120348" y="787860"/>
                    <a:pt x="74554" y="761369"/>
                  </a:cubicBezTo>
                  <a:cubicBezTo>
                    <a:pt x="11312" y="724802"/>
                    <a:pt x="1383" y="705477"/>
                    <a:pt x="19" y="632279"/>
                  </a:cubicBezTo>
                  <a:lnTo>
                    <a:pt x="19" y="473535"/>
                  </a:lnTo>
                  <a:cubicBezTo>
                    <a:pt x="19" y="420623"/>
                    <a:pt x="-24" y="367707"/>
                    <a:pt x="19" y="314795"/>
                  </a:cubicBezTo>
                  <a:cubicBezTo>
                    <a:pt x="75" y="241744"/>
                    <a:pt x="11836" y="223486"/>
                    <a:pt x="74554" y="185702"/>
                  </a:cubicBezTo>
                  <a:cubicBezTo>
                    <a:pt x="120370" y="159246"/>
                    <a:pt x="166199" y="132786"/>
                    <a:pt x="212022" y="106330"/>
                  </a:cubicBezTo>
                  <a:cubicBezTo>
                    <a:pt x="257844" y="79875"/>
                    <a:pt x="303653" y="53382"/>
                    <a:pt x="349489" y="26961"/>
                  </a:cubicBezTo>
                  <a:cubicBezTo>
                    <a:pt x="412782" y="-9514"/>
                    <a:pt x="434483" y="-8456"/>
                    <a:pt x="498562" y="26961"/>
                  </a:cubicBezTo>
                  <a:close/>
                </a:path>
              </a:pathLst>
            </a:custGeom>
            <a:gradFill flip="none" rotWithShape="1">
              <a:gsLst>
                <a:gs pos="100000">
                  <a:srgbClr val="B3D4FE"/>
                </a:gs>
                <a:gs pos="0">
                  <a:srgbClr val="B3D4FE"/>
                </a:gs>
                <a:gs pos="70000">
                  <a:srgbClr val="3368FF"/>
                </a:gs>
              </a:gsLst>
              <a:path path="circle">
                <a:fillToRect r="100000" b="100000"/>
              </a:path>
              <a:tileRect l="-100000" t="-100000"/>
            </a:gradFill>
            <a:ln w="12700">
              <a:gradFill>
                <a:gsLst>
                  <a:gs pos="15000">
                    <a:srgbClr val="FFFFFF"/>
                  </a:gs>
                  <a:gs pos="73000">
                    <a:srgbClr val="FFFFFF">
                      <a:alpha val="0"/>
                    </a:srgbClr>
                  </a:gs>
                </a:gsLst>
                <a:lin ang="5400000" scaled="1"/>
              </a:gradFill>
            </a:ln>
            <a:effectLst>
              <a:outerShdw blurRad="241300" dir="5400000" sx="98000" sy="98000" algn="t" rotWithShape="0">
                <a:srgbClr val="B3D4FE">
                  <a:alpha val="62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none" lIns="98865" tIns="49432" rIns="98865" bIns="49432" numCol="1" spcCol="0" rtlCol="0" fromWordArt="0" anchor="ctr" anchorCtr="0" forceAA="0" compatLnSpc="1">
              <a:noAutofit/>
            </a:bodyPr>
            <a:lstStyle/>
            <a:p>
              <a:pPr algn="ctr">
                <a:defRPr>
                  <a:latin typeface="微软雅黑"/>
                  <a:ea typeface="微软雅黑"/>
                  <a:cs typeface="微软雅黑"/>
                </a:defRPr>
              </a:pPr>
              <a:r>
                <a:rPr lang="zh-CN" altLang="en-US" sz="1600" b="1">
                  <a:solidFill>
                    <a:srgbClr val="383838"/>
                  </a:solidFill>
                  <a:effectLst>
                    <a:outerShdw blurRad="50800" dist="38100" dir="5400000" algn="t" rotWithShape="0">
                      <a:srgbClr val="0042FF">
                        <a:alpha val="40000"/>
                      </a:srgbClr>
                    </a:outerShdw>
                  </a:effectLst>
                  <a:latin typeface="微软雅黑"/>
                  <a:ea typeface="微软雅黑"/>
                  <a:cs typeface="微软雅黑"/>
                </a:rPr>
                <a:t>成本</a:t>
              </a:r>
              <a:endParaRPr lang="zh-CN" altLang="en-US" sz="1600" b="1">
                <a:solidFill>
                  <a:srgbClr val="383838"/>
                </a:solidFill>
                <a:effectLst>
                  <a:outerShdw blurRad="50800" dist="38100" dir="5400000" algn="t" rotWithShape="0">
                    <a:srgbClr val="0042FF">
                      <a:alpha val="40000"/>
                    </a:srgbClr>
                  </a:outerShdw>
                </a:effectLst>
                <a:latin typeface="微软雅黑"/>
                <a:ea typeface="微软雅黑"/>
                <a:cs typeface="微软雅黑"/>
              </a:endParaRPr>
            </a:p>
          </p:txBody>
        </p:sp>
      </p:grpSp>
      <p:sp>
        <p:nvSpPr>
          <p:cNvPr id="372" name="梯形 371"/>
          <p:cNvSpPr/>
          <p:nvPr/>
        </p:nvSpPr>
        <p:spPr>
          <a:xfrm rot="16200000">
            <a:off x="6557645" y="4170045"/>
            <a:ext cx="641350" cy="426720"/>
          </a:xfrm>
          <a:prstGeom prst="trapezoid">
            <a:avLst>
              <a:gd name="adj" fmla="val 40327"/>
            </a:avLst>
          </a:prstGeom>
          <a:gradFill>
            <a:gsLst>
              <a:gs pos="100000">
                <a:srgbClr val="B3D4FE">
                  <a:alpha val="0"/>
                </a:srgbClr>
              </a:gs>
              <a:gs pos="0">
                <a:srgbClr val="B3D4FE">
                  <a:alpha val="29000"/>
                </a:srgbClr>
              </a:gs>
            </a:gsLst>
            <a:lin ang="5400000" scaled="0"/>
          </a:gradFill>
          <a:ln w="12700" cmpd="sng">
            <a:gradFill>
              <a:gsLst>
                <a:gs pos="15000">
                  <a:srgbClr val="FFFFFF"/>
                </a:gs>
                <a:gs pos="100000">
                  <a:srgbClr val="FFFFFF">
                    <a:alpha val="0"/>
                  </a:srgbClr>
                </a:gs>
              </a:gsLst>
              <a:lin ang="5400000" scaled="1"/>
            </a:gradFill>
            <a:prstDash val="solid"/>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363" name="显眼包PPT"/>
          <p:cNvGrpSpPr/>
          <p:nvPr/>
        </p:nvGrpSpPr>
        <p:grpSpPr>
          <a:xfrm rot="0">
            <a:off x="7090410" y="4451350"/>
            <a:ext cx="1452880" cy="304165"/>
            <a:chOff x="5191704" y="4124207"/>
            <a:chExt cx="1452880" cy="304165"/>
          </a:xfrm>
        </p:grpSpPr>
        <p:sp>
          <p:nvSpPr>
            <p:cNvPr id="364" name="显眼包PPT-1"/>
            <p:cNvSpPr/>
            <p:nvPr/>
          </p:nvSpPr>
          <p:spPr>
            <a:xfrm>
              <a:off x="5191704" y="4124207"/>
              <a:ext cx="1452880" cy="304165"/>
            </a:xfrm>
            <a:prstGeom prst="roundRect">
              <a:avLst>
                <a:gd name="adj" fmla="val 50000"/>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r">
                <a:defRPr>
                  <a:latin typeface="微软雅黑"/>
                  <a:ea typeface="微软雅黑"/>
                  <a:cs typeface="微软雅黑"/>
                </a:defRPr>
              </a:pPr>
              <a:endParaRPr lang="zh-CN" altLang="en-US" sz="1600">
                <a:solidFill>
                  <a:srgbClr val="383838"/>
                </a:solidFill>
                <a:latin typeface="微软雅黑"/>
                <a:cs typeface="微软雅黑"/>
                <a:ea typeface="微软雅黑"/>
              </a:endParaRPr>
            </a:p>
          </p:txBody>
        </p:sp>
        <p:sp>
          <p:nvSpPr>
            <p:cNvPr id="365" name="显眼包PPT-2"/>
            <p:cNvSpPr/>
            <p:nvPr/>
          </p:nvSpPr>
          <p:spPr>
            <a:xfrm>
              <a:off x="5257470" y="4176944"/>
              <a:ext cx="198683" cy="198681"/>
            </a:xfrm>
            <a:prstGeom prst="ellipse">
              <a:avLst/>
            </a:prstGeom>
            <a:gradFill flip="none" rotWithShape="1">
              <a:gsLst>
                <a:gs pos="0">
                  <a:srgbClr val="B3D4FE"/>
                </a:gs>
                <a:gs pos="46000">
                  <a:srgbClr val="3368FF"/>
                </a:gs>
                <a:gs pos="100000">
                  <a:srgbClr val="3368FF"/>
                </a:gs>
              </a:gsLst>
              <a:path path="circle">
                <a:fillToRect r="100000" b="100000"/>
              </a:path>
              <a:tileRect l="-100000" t="-100000"/>
            </a:gradFill>
            <a:ln w="22225">
              <a:noFill/>
            </a:ln>
            <a:effectLst>
              <a:innerShdw blurRad="127000">
                <a:srgbClr val="B3D4FE"/>
              </a:innerShdw>
            </a:effectLst>
          </p:spPr>
          <p:style>
            <a:lnRef idx="2">
              <a:srgbClr val="0042FF"/>
            </a:lnRef>
            <a:fillRef idx="1">
              <a:srgbClr val="0042FF"/>
            </a:fillRef>
            <a:effectRef idx="0">
              <a:srgbClr val="0042FF"/>
            </a:effectRef>
            <a:fontRef idx="minor">
              <a:srgbClr val="FFFFFF"/>
            </a:fontRef>
          </p:style>
          <p:txBody>
            <a:bodyPr wrap="none" lIns="89555" tIns="44777" rIns="89555" bIns="44777"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366" name="显眼包PPT-4"/>
            <p:cNvSpPr txBox="1"/>
            <p:nvPr/>
          </p:nvSpPr>
          <p:spPr>
            <a:xfrm>
              <a:off x="5507448" y="4177452"/>
              <a:ext cx="1066800" cy="18415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供应链成本管控</a:t>
              </a:r>
              <a:endParaRPr lang="zh-CN" altLang="en-US" sz="1200">
                <a:cs typeface="微软雅黑"/>
                <a:latin typeface="微软雅黑"/>
                <a:ea typeface="微软雅黑"/>
              </a:endParaRPr>
            </a:p>
          </p:txBody>
        </p:sp>
      </p:grpSp>
      <p:sp>
        <p:nvSpPr>
          <p:cNvPr id="377" name="右大括号 376"/>
          <p:cNvSpPr/>
          <p:nvPr/>
        </p:nvSpPr>
        <p:spPr>
          <a:xfrm>
            <a:off x="8560435" y="4076700"/>
            <a:ext cx="172085" cy="598170"/>
          </a:xfrm>
          <a:prstGeom prst="rightBrace">
            <a:avLst>
              <a:gd name="adj1" fmla="val 39483"/>
              <a:gd name="adj2" fmla="val 48726"/>
            </a:avLst>
          </a:prstGeom>
          <a:ln>
            <a:solidFill>
              <a:srgbClr val="B3D4FE"/>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402" name="显眼包PPT"/>
          <p:cNvGrpSpPr/>
          <p:nvPr/>
        </p:nvGrpSpPr>
        <p:grpSpPr>
          <a:xfrm rot="0">
            <a:off x="7090410" y="5495290"/>
            <a:ext cx="1452880" cy="304165"/>
            <a:chOff x="5191704" y="4124207"/>
            <a:chExt cx="1452880" cy="304165"/>
          </a:xfrm>
        </p:grpSpPr>
        <p:sp>
          <p:nvSpPr>
            <p:cNvPr id="403" name="显眼包PPT-1"/>
            <p:cNvSpPr/>
            <p:nvPr/>
          </p:nvSpPr>
          <p:spPr>
            <a:xfrm>
              <a:off x="5191704" y="4124207"/>
              <a:ext cx="1452880" cy="304165"/>
            </a:xfrm>
            <a:prstGeom prst="roundRect">
              <a:avLst>
                <a:gd name="adj" fmla="val 50000"/>
              </a:avLst>
            </a:prstGeom>
            <a:solidFill>
              <a:srgbClr val="FFFFFF"/>
            </a:solidFill>
            <a:ln w="9525">
              <a:solidFill>
                <a:srgbClr val="668EFF"/>
              </a:solidFill>
            </a:ln>
          </p:spPr>
          <p:style>
            <a:lnRef idx="2">
              <a:srgbClr val="0042FF"/>
            </a:lnRef>
            <a:fillRef idx="1">
              <a:srgbClr val="0042FF"/>
            </a:fillRef>
            <a:effectRef idx="0">
              <a:srgbClr val="0042FF"/>
            </a:effectRef>
            <a:fontRef idx="minor">
              <a:srgbClr val="FFFFFF"/>
            </a:fontRef>
          </p:style>
          <p:txBody>
            <a:bodyPr wrap="none" rtlCol="0" anchor="ctr"/>
            <a:lstStyle/>
            <a:p>
              <a:pPr algn="r">
                <a:defRPr>
                  <a:latin typeface="微软雅黑"/>
                  <a:ea typeface="微软雅黑"/>
                  <a:cs typeface="微软雅黑"/>
                </a:defRPr>
              </a:pPr>
              <a:endParaRPr lang="zh-CN" altLang="en-US" sz="1600">
                <a:solidFill>
                  <a:srgbClr val="383838"/>
                </a:solidFill>
                <a:latin typeface="微软雅黑"/>
                <a:cs typeface="微软雅黑"/>
                <a:ea typeface="微软雅黑"/>
              </a:endParaRPr>
            </a:p>
          </p:txBody>
        </p:sp>
        <p:sp>
          <p:nvSpPr>
            <p:cNvPr id="404" name="显眼包PPT-2"/>
            <p:cNvSpPr/>
            <p:nvPr/>
          </p:nvSpPr>
          <p:spPr>
            <a:xfrm>
              <a:off x="5257470" y="4176944"/>
              <a:ext cx="198683" cy="198681"/>
            </a:xfrm>
            <a:prstGeom prst="ellipse">
              <a:avLst/>
            </a:prstGeom>
            <a:gradFill flip="none" rotWithShape="1">
              <a:gsLst>
                <a:gs pos="0">
                  <a:srgbClr val="668EFF"/>
                </a:gs>
                <a:gs pos="46000">
                  <a:srgbClr val="0042FF"/>
                </a:gs>
                <a:gs pos="100000">
                  <a:srgbClr val="0042FF"/>
                </a:gs>
              </a:gsLst>
              <a:path path="circle">
                <a:fillToRect r="100000" b="100000"/>
              </a:path>
              <a:tileRect l="-100000" t="-100000"/>
            </a:gradFill>
            <a:ln w="22225">
              <a:noFill/>
            </a:ln>
            <a:effectLst>
              <a:innerShdw blurRad="127000">
                <a:srgbClr val="3368FF"/>
              </a:innerShdw>
            </a:effectLst>
          </p:spPr>
          <p:style>
            <a:lnRef idx="2">
              <a:srgbClr val="0042FF"/>
            </a:lnRef>
            <a:fillRef idx="1">
              <a:srgbClr val="0042FF"/>
            </a:fillRef>
            <a:effectRef idx="0">
              <a:srgbClr val="0042FF"/>
            </a:effectRef>
            <a:fontRef idx="minor">
              <a:srgbClr val="FFFFFF"/>
            </a:fontRef>
          </p:style>
          <p:txBody>
            <a:bodyPr wrap="none" lIns="89555" tIns="44777" rIns="89555" bIns="44777"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405" name="显眼包PPT-4"/>
            <p:cNvSpPr txBox="1"/>
            <p:nvPr/>
          </p:nvSpPr>
          <p:spPr>
            <a:xfrm>
              <a:off x="5537928" y="4177452"/>
              <a:ext cx="914400" cy="18415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200">
                  <a:cs typeface="微软雅黑"/>
                  <a:latin typeface="微软雅黑"/>
                  <a:ea typeface="微软雅黑"/>
                </a:rPr>
                <a:t>营销费用管控</a:t>
              </a:r>
              <a:endParaRPr lang="zh-CN" altLang="en-US" sz="1200">
                <a:cs typeface="微软雅黑"/>
                <a:latin typeface="微软雅黑"/>
                <a:ea typeface="微软雅黑"/>
              </a:endParaRPr>
            </a:p>
          </p:txBody>
        </p:sp>
      </p:grpSp>
      <p:grpSp>
        <p:nvGrpSpPr>
          <p:cNvPr id="407" name="显眼包PPT"/>
          <p:cNvGrpSpPr/>
          <p:nvPr/>
        </p:nvGrpSpPr>
        <p:grpSpPr>
          <a:xfrm rot="0">
            <a:off x="6003290" y="5488940"/>
            <a:ext cx="768350" cy="835025"/>
            <a:chOff x="2109843" y="885746"/>
            <a:chExt cx="627380" cy="700632"/>
          </a:xfrm>
        </p:grpSpPr>
        <p:sp>
          <p:nvSpPr>
            <p:cNvPr id="408" name="显眼包PPT-1"/>
            <p:cNvSpPr/>
            <p:nvPr/>
          </p:nvSpPr>
          <p:spPr>
            <a:xfrm>
              <a:off x="2109843" y="885746"/>
              <a:ext cx="627380" cy="700632"/>
            </a:xfrm>
            <a:custGeom>
              <a:avLst/>
              <a:gdLst>
                <a:gd name="connsiteX0" fmla="*/ 498562 w 848053"/>
                <a:gd name="connsiteY0" fmla="*/ 26961 h 947071"/>
                <a:gd name="connsiteX1" fmla="*/ 636035 w 848053"/>
                <a:gd name="connsiteY1" fmla="*/ 106330 h 947071"/>
                <a:gd name="connsiteX2" fmla="*/ 773510 w 848053"/>
                <a:gd name="connsiteY2" fmla="*/ 185701 h 947071"/>
                <a:gd name="connsiteX3" fmla="*/ 848038 w 848053"/>
                <a:gd name="connsiteY3" fmla="*/ 314794 h 947071"/>
                <a:gd name="connsiteX4" fmla="*/ 848038 w 848053"/>
                <a:gd name="connsiteY4" fmla="*/ 473534 h 947071"/>
                <a:gd name="connsiteX5" fmla="*/ 848038 w 848053"/>
                <a:gd name="connsiteY5" fmla="*/ 632279 h 947071"/>
                <a:gd name="connsiteX6" fmla="*/ 773510 w 848053"/>
                <a:gd name="connsiteY6" fmla="*/ 761369 h 947071"/>
                <a:gd name="connsiteX7" fmla="*/ 636035 w 848053"/>
                <a:gd name="connsiteY7" fmla="*/ 840738 h 947071"/>
                <a:gd name="connsiteX8" fmla="*/ 498562 w 848053"/>
                <a:gd name="connsiteY8" fmla="*/ 920107 h 947071"/>
                <a:gd name="connsiteX9" fmla="*/ 349489 w 848053"/>
                <a:gd name="connsiteY9" fmla="*/ 920107 h 947071"/>
                <a:gd name="connsiteX10" fmla="*/ 212022 w 848053"/>
                <a:gd name="connsiteY10" fmla="*/ 840738 h 947071"/>
                <a:gd name="connsiteX11" fmla="*/ 74554 w 848053"/>
                <a:gd name="connsiteY11" fmla="*/ 761369 h 947071"/>
                <a:gd name="connsiteX12" fmla="*/ 19 w 848053"/>
                <a:gd name="connsiteY12" fmla="*/ 632279 h 947071"/>
                <a:gd name="connsiteX13" fmla="*/ 19 w 848053"/>
                <a:gd name="connsiteY13" fmla="*/ 473535 h 947071"/>
                <a:gd name="connsiteX14" fmla="*/ 19 w 848053"/>
                <a:gd name="connsiteY14" fmla="*/ 314795 h 947071"/>
                <a:gd name="connsiteX15" fmla="*/ 74554 w 848053"/>
                <a:gd name="connsiteY15" fmla="*/ 185702 h 947071"/>
                <a:gd name="connsiteX16" fmla="*/ 212022 w 848053"/>
                <a:gd name="connsiteY16" fmla="*/ 106330 h 947071"/>
                <a:gd name="connsiteX17" fmla="*/ 349489 w 848053"/>
                <a:gd name="connsiteY17" fmla="*/ 26961 h 947071"/>
                <a:gd name="connsiteX18" fmla="*/ 498562 w 848053"/>
                <a:gd name="connsiteY18" fmla="*/ 26961 h 9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8053" h="947071">
                  <a:moveTo>
                    <a:pt x="498562" y="26961"/>
                  </a:moveTo>
                  <a:cubicBezTo>
                    <a:pt x="544385" y="53416"/>
                    <a:pt x="590207" y="79874"/>
                    <a:pt x="636035" y="106330"/>
                  </a:cubicBezTo>
                  <a:cubicBezTo>
                    <a:pt x="681858" y="132786"/>
                    <a:pt x="727701" y="159210"/>
                    <a:pt x="773510" y="185701"/>
                  </a:cubicBezTo>
                  <a:cubicBezTo>
                    <a:pt x="836737" y="222272"/>
                    <a:pt x="846672" y="241592"/>
                    <a:pt x="848038" y="314794"/>
                  </a:cubicBezTo>
                  <a:lnTo>
                    <a:pt x="848038" y="473534"/>
                  </a:lnTo>
                  <a:cubicBezTo>
                    <a:pt x="848038" y="526446"/>
                    <a:pt x="848074" y="579367"/>
                    <a:pt x="848038" y="632279"/>
                  </a:cubicBezTo>
                  <a:cubicBezTo>
                    <a:pt x="847982" y="705330"/>
                    <a:pt x="836214" y="723584"/>
                    <a:pt x="773510" y="761369"/>
                  </a:cubicBezTo>
                  <a:cubicBezTo>
                    <a:pt x="727680" y="787831"/>
                    <a:pt x="681857" y="814281"/>
                    <a:pt x="636035" y="840738"/>
                  </a:cubicBezTo>
                  <a:cubicBezTo>
                    <a:pt x="590205" y="867194"/>
                    <a:pt x="544405" y="893685"/>
                    <a:pt x="498562" y="920107"/>
                  </a:cubicBezTo>
                  <a:cubicBezTo>
                    <a:pt x="435276" y="956589"/>
                    <a:pt x="413575" y="955527"/>
                    <a:pt x="349489" y="920107"/>
                  </a:cubicBezTo>
                  <a:cubicBezTo>
                    <a:pt x="303667" y="893657"/>
                    <a:pt x="257844" y="867194"/>
                    <a:pt x="212022" y="840738"/>
                  </a:cubicBezTo>
                  <a:cubicBezTo>
                    <a:pt x="166201" y="814281"/>
                    <a:pt x="120348" y="787860"/>
                    <a:pt x="74554" y="761369"/>
                  </a:cubicBezTo>
                  <a:cubicBezTo>
                    <a:pt x="11312" y="724802"/>
                    <a:pt x="1383" y="705477"/>
                    <a:pt x="19" y="632279"/>
                  </a:cubicBezTo>
                  <a:lnTo>
                    <a:pt x="19" y="473535"/>
                  </a:lnTo>
                  <a:cubicBezTo>
                    <a:pt x="19" y="420623"/>
                    <a:pt x="-24" y="367707"/>
                    <a:pt x="19" y="314795"/>
                  </a:cubicBezTo>
                  <a:cubicBezTo>
                    <a:pt x="75" y="241744"/>
                    <a:pt x="11836" y="223486"/>
                    <a:pt x="74554" y="185702"/>
                  </a:cubicBezTo>
                  <a:cubicBezTo>
                    <a:pt x="120370" y="159246"/>
                    <a:pt x="166199" y="132786"/>
                    <a:pt x="212022" y="106330"/>
                  </a:cubicBezTo>
                  <a:cubicBezTo>
                    <a:pt x="257844" y="79875"/>
                    <a:pt x="303653" y="53382"/>
                    <a:pt x="349489" y="26961"/>
                  </a:cubicBezTo>
                  <a:cubicBezTo>
                    <a:pt x="412782" y="-9514"/>
                    <a:pt x="434483" y="-8456"/>
                    <a:pt x="498562" y="26961"/>
                  </a:cubicBezTo>
                  <a:close/>
                </a:path>
              </a:pathLst>
            </a:custGeom>
            <a:gradFill flip="none" rotWithShape="1">
              <a:gsLst>
                <a:gs pos="100000">
                  <a:srgbClr val="3368FF">
                    <a:alpha val="0"/>
                  </a:srgbClr>
                </a:gs>
                <a:gs pos="0">
                  <a:srgbClr val="3368FF">
                    <a:alpha val="29000"/>
                  </a:srgbClr>
                </a:gs>
              </a:gsLst>
              <a:lin ang="5400000" scaled="1"/>
              <a:tileRect/>
            </a:gradFill>
            <a:ln w="25400">
              <a:noFill/>
            </a:ln>
            <a:effectLst>
              <a:outerShdw blurRad="241300" dist="190500" dir="5400000" sx="94000" sy="94000" algn="t" rotWithShape="0">
                <a:srgbClr val="3368FF">
                  <a:alpha val="43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none" lIns="98865" tIns="49432" rIns="98865" bIns="49432"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600" spc="300">
                <a:solidFill>
                  <a:srgbClr val="FFFFFF"/>
                </a:solidFill>
                <a:effectLst>
                  <a:outerShdw blurRad="50800" dist="38100" dir="5400000" algn="t" rotWithShape="0">
                    <a:srgbClr val="0042FF">
                      <a:alpha val="40000"/>
                    </a:srgbClr>
                  </a:outerShdw>
                </a:effectLst>
                <a:latin typeface="微软雅黑"/>
                <a:ea typeface="微软雅黑"/>
                <a:cs typeface="微软雅黑"/>
              </a:endParaRPr>
            </a:p>
          </p:txBody>
        </p:sp>
        <p:sp>
          <p:nvSpPr>
            <p:cNvPr id="409" name="显眼包PPT-2"/>
            <p:cNvSpPr/>
            <p:nvPr/>
          </p:nvSpPr>
          <p:spPr>
            <a:xfrm>
              <a:off x="2197728" y="983891"/>
              <a:ext cx="451610" cy="504343"/>
            </a:xfrm>
            <a:custGeom>
              <a:avLst/>
              <a:gdLst>
                <a:gd name="connsiteX0" fmla="*/ 498562 w 848053"/>
                <a:gd name="connsiteY0" fmla="*/ 26961 h 947071"/>
                <a:gd name="connsiteX1" fmla="*/ 636035 w 848053"/>
                <a:gd name="connsiteY1" fmla="*/ 106330 h 947071"/>
                <a:gd name="connsiteX2" fmla="*/ 773510 w 848053"/>
                <a:gd name="connsiteY2" fmla="*/ 185701 h 947071"/>
                <a:gd name="connsiteX3" fmla="*/ 848038 w 848053"/>
                <a:gd name="connsiteY3" fmla="*/ 314794 h 947071"/>
                <a:gd name="connsiteX4" fmla="*/ 848038 w 848053"/>
                <a:gd name="connsiteY4" fmla="*/ 473534 h 947071"/>
                <a:gd name="connsiteX5" fmla="*/ 848038 w 848053"/>
                <a:gd name="connsiteY5" fmla="*/ 632279 h 947071"/>
                <a:gd name="connsiteX6" fmla="*/ 773510 w 848053"/>
                <a:gd name="connsiteY6" fmla="*/ 761369 h 947071"/>
                <a:gd name="connsiteX7" fmla="*/ 636035 w 848053"/>
                <a:gd name="connsiteY7" fmla="*/ 840738 h 947071"/>
                <a:gd name="connsiteX8" fmla="*/ 498562 w 848053"/>
                <a:gd name="connsiteY8" fmla="*/ 920107 h 947071"/>
                <a:gd name="connsiteX9" fmla="*/ 349489 w 848053"/>
                <a:gd name="connsiteY9" fmla="*/ 920107 h 947071"/>
                <a:gd name="connsiteX10" fmla="*/ 212022 w 848053"/>
                <a:gd name="connsiteY10" fmla="*/ 840738 h 947071"/>
                <a:gd name="connsiteX11" fmla="*/ 74554 w 848053"/>
                <a:gd name="connsiteY11" fmla="*/ 761369 h 947071"/>
                <a:gd name="connsiteX12" fmla="*/ 19 w 848053"/>
                <a:gd name="connsiteY12" fmla="*/ 632279 h 947071"/>
                <a:gd name="connsiteX13" fmla="*/ 19 w 848053"/>
                <a:gd name="connsiteY13" fmla="*/ 473535 h 947071"/>
                <a:gd name="connsiteX14" fmla="*/ 19 w 848053"/>
                <a:gd name="connsiteY14" fmla="*/ 314795 h 947071"/>
                <a:gd name="connsiteX15" fmla="*/ 74554 w 848053"/>
                <a:gd name="connsiteY15" fmla="*/ 185702 h 947071"/>
                <a:gd name="connsiteX16" fmla="*/ 212022 w 848053"/>
                <a:gd name="connsiteY16" fmla="*/ 106330 h 947071"/>
                <a:gd name="connsiteX17" fmla="*/ 349489 w 848053"/>
                <a:gd name="connsiteY17" fmla="*/ 26961 h 947071"/>
                <a:gd name="connsiteX18" fmla="*/ 498562 w 848053"/>
                <a:gd name="connsiteY18" fmla="*/ 26961 h 9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8053" h="947071">
                  <a:moveTo>
                    <a:pt x="498562" y="26961"/>
                  </a:moveTo>
                  <a:cubicBezTo>
                    <a:pt x="544385" y="53416"/>
                    <a:pt x="590207" y="79874"/>
                    <a:pt x="636035" y="106330"/>
                  </a:cubicBezTo>
                  <a:cubicBezTo>
                    <a:pt x="681858" y="132786"/>
                    <a:pt x="727701" y="159210"/>
                    <a:pt x="773510" y="185701"/>
                  </a:cubicBezTo>
                  <a:cubicBezTo>
                    <a:pt x="836737" y="222272"/>
                    <a:pt x="846672" y="241592"/>
                    <a:pt x="848038" y="314794"/>
                  </a:cubicBezTo>
                  <a:lnTo>
                    <a:pt x="848038" y="473534"/>
                  </a:lnTo>
                  <a:cubicBezTo>
                    <a:pt x="848038" y="526446"/>
                    <a:pt x="848074" y="579367"/>
                    <a:pt x="848038" y="632279"/>
                  </a:cubicBezTo>
                  <a:cubicBezTo>
                    <a:pt x="847982" y="705330"/>
                    <a:pt x="836214" y="723584"/>
                    <a:pt x="773510" y="761369"/>
                  </a:cubicBezTo>
                  <a:cubicBezTo>
                    <a:pt x="727680" y="787831"/>
                    <a:pt x="681857" y="814281"/>
                    <a:pt x="636035" y="840738"/>
                  </a:cubicBezTo>
                  <a:cubicBezTo>
                    <a:pt x="590205" y="867194"/>
                    <a:pt x="544405" y="893685"/>
                    <a:pt x="498562" y="920107"/>
                  </a:cubicBezTo>
                  <a:cubicBezTo>
                    <a:pt x="435276" y="956589"/>
                    <a:pt x="413575" y="955527"/>
                    <a:pt x="349489" y="920107"/>
                  </a:cubicBezTo>
                  <a:cubicBezTo>
                    <a:pt x="303667" y="893657"/>
                    <a:pt x="257844" y="867194"/>
                    <a:pt x="212022" y="840738"/>
                  </a:cubicBezTo>
                  <a:cubicBezTo>
                    <a:pt x="166201" y="814281"/>
                    <a:pt x="120348" y="787860"/>
                    <a:pt x="74554" y="761369"/>
                  </a:cubicBezTo>
                  <a:cubicBezTo>
                    <a:pt x="11312" y="724802"/>
                    <a:pt x="1383" y="705477"/>
                    <a:pt x="19" y="632279"/>
                  </a:cubicBezTo>
                  <a:lnTo>
                    <a:pt x="19" y="473535"/>
                  </a:lnTo>
                  <a:cubicBezTo>
                    <a:pt x="19" y="420623"/>
                    <a:pt x="-24" y="367707"/>
                    <a:pt x="19" y="314795"/>
                  </a:cubicBezTo>
                  <a:cubicBezTo>
                    <a:pt x="75" y="241744"/>
                    <a:pt x="11836" y="223486"/>
                    <a:pt x="74554" y="185702"/>
                  </a:cubicBezTo>
                  <a:cubicBezTo>
                    <a:pt x="120370" y="159246"/>
                    <a:pt x="166199" y="132786"/>
                    <a:pt x="212022" y="106330"/>
                  </a:cubicBezTo>
                  <a:cubicBezTo>
                    <a:pt x="257844" y="79875"/>
                    <a:pt x="303653" y="53382"/>
                    <a:pt x="349489" y="26961"/>
                  </a:cubicBezTo>
                  <a:cubicBezTo>
                    <a:pt x="412782" y="-9514"/>
                    <a:pt x="434483" y="-8456"/>
                    <a:pt x="498562" y="26961"/>
                  </a:cubicBezTo>
                  <a:close/>
                </a:path>
              </a:pathLst>
            </a:custGeom>
            <a:gradFill flip="none" rotWithShape="1">
              <a:gsLst>
                <a:gs pos="100000">
                  <a:srgbClr val="3368FF"/>
                </a:gs>
                <a:gs pos="0">
                  <a:srgbClr val="3368FF"/>
                </a:gs>
                <a:gs pos="70000">
                  <a:srgbClr val="0042FF"/>
                </a:gs>
              </a:gsLst>
              <a:path path="circle">
                <a:fillToRect r="100000" b="100000"/>
              </a:path>
              <a:tileRect l="-100000" t="-100000"/>
            </a:gradFill>
            <a:ln w="12700">
              <a:gradFill>
                <a:gsLst>
                  <a:gs pos="15000">
                    <a:srgbClr val="FFFFFF"/>
                  </a:gs>
                  <a:gs pos="73000">
                    <a:srgbClr val="FFFFFF">
                      <a:alpha val="0"/>
                    </a:srgbClr>
                  </a:gs>
                </a:gsLst>
                <a:lin ang="5400000" scaled="1"/>
              </a:gradFill>
            </a:ln>
            <a:effectLst>
              <a:outerShdw blurRad="241300" dir="5400000" sx="98000" sy="98000" algn="t" rotWithShape="0">
                <a:srgbClr val="3368FF">
                  <a:alpha val="62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none" lIns="98865" tIns="49432" rIns="98865" bIns="49432"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600" b="1">
                  <a:solidFill>
                    <a:srgbClr val="FFFFFF"/>
                  </a:solidFill>
                  <a:effectLst>
                    <a:outerShdw blurRad="50800" dist="38100" dir="5400000" algn="t" rotWithShape="0">
                      <a:srgbClr val="0042FF">
                        <a:alpha val="40000"/>
                      </a:srgbClr>
                    </a:outerShdw>
                  </a:effectLst>
                  <a:latin typeface="微软雅黑"/>
                  <a:ea typeface="微软雅黑"/>
                  <a:cs typeface="微软雅黑"/>
                </a:rPr>
                <a:t>费用</a:t>
              </a:r>
              <a:endParaRPr lang="zh-CN" altLang="en-US" sz="1600" b="1">
                <a:solidFill>
                  <a:srgbClr val="FFFFFF"/>
                </a:solidFill>
                <a:effectLst>
                  <a:outerShdw blurRad="50800" dist="38100" dir="5400000" algn="t" rotWithShape="0">
                    <a:srgbClr val="0042FF">
                      <a:alpha val="40000"/>
                    </a:srgbClr>
                  </a:outerShdw>
                </a:effectLst>
                <a:latin typeface="微软雅黑"/>
                <a:ea typeface="微软雅黑"/>
                <a:cs typeface="微软雅黑"/>
              </a:endParaRPr>
            </a:p>
          </p:txBody>
        </p:sp>
      </p:grpSp>
      <p:sp>
        <p:nvSpPr>
          <p:cNvPr id="410" name="梯形 409"/>
          <p:cNvSpPr/>
          <p:nvPr/>
        </p:nvSpPr>
        <p:spPr>
          <a:xfrm rot="16200000">
            <a:off x="6557645" y="5692775"/>
            <a:ext cx="641350" cy="426720"/>
          </a:xfrm>
          <a:prstGeom prst="trapezoid">
            <a:avLst>
              <a:gd name="adj" fmla="val 40327"/>
            </a:avLst>
          </a:prstGeom>
          <a:gradFill>
            <a:gsLst>
              <a:gs pos="100000">
                <a:srgbClr val="3368FF">
                  <a:alpha val="0"/>
                </a:srgbClr>
              </a:gs>
              <a:gs pos="0">
                <a:srgbClr val="3368FF">
                  <a:alpha val="29000"/>
                </a:srgbClr>
              </a:gs>
            </a:gsLst>
            <a:lin ang="5400000" scaled="0"/>
          </a:gradFill>
          <a:ln w="12700" cmpd="sng">
            <a:gradFill>
              <a:gsLst>
                <a:gs pos="15000">
                  <a:srgbClr val="FFFFFF"/>
                </a:gs>
                <a:gs pos="100000">
                  <a:srgbClr val="FFFFFF">
                    <a:alpha val="0"/>
                  </a:srgbClr>
                </a:gs>
              </a:gsLst>
              <a:lin ang="5400000" scaled="1"/>
            </a:gradFill>
            <a:prstDash val="solid"/>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412" name="显眼包PPT"/>
          <p:cNvGrpSpPr/>
          <p:nvPr/>
        </p:nvGrpSpPr>
        <p:grpSpPr>
          <a:xfrm rot="0">
            <a:off x="7090410" y="6107113"/>
            <a:ext cx="1452880" cy="304165"/>
            <a:chOff x="5191704" y="4124207"/>
            <a:chExt cx="1452880" cy="304165"/>
          </a:xfrm>
        </p:grpSpPr>
        <p:sp>
          <p:nvSpPr>
            <p:cNvPr id="413" name="显眼包PPT-1"/>
            <p:cNvSpPr/>
            <p:nvPr/>
          </p:nvSpPr>
          <p:spPr>
            <a:xfrm>
              <a:off x="5191704" y="4124207"/>
              <a:ext cx="1452880" cy="304165"/>
            </a:xfrm>
            <a:prstGeom prst="roundRect">
              <a:avLst>
                <a:gd name="adj" fmla="val 50000"/>
              </a:avLst>
            </a:prstGeom>
            <a:solidFill>
              <a:srgbClr val="FFFFFF"/>
            </a:solidFill>
            <a:ln w="9525">
              <a:solidFill>
                <a:srgbClr val="668EFF"/>
              </a:solidFill>
            </a:ln>
          </p:spPr>
          <p:style>
            <a:lnRef idx="2">
              <a:srgbClr val="0042FF"/>
            </a:lnRef>
            <a:fillRef idx="1">
              <a:srgbClr val="0042FF"/>
            </a:fillRef>
            <a:effectRef idx="0">
              <a:srgbClr val="0042FF"/>
            </a:effectRef>
            <a:fontRef idx="minor">
              <a:srgbClr val="FFFFFF"/>
            </a:fontRef>
          </p:style>
          <p:txBody>
            <a:bodyPr wrap="none" rtlCol="0" anchor="ctr"/>
            <a:lstStyle/>
            <a:p>
              <a:pPr algn="r">
                <a:defRPr>
                  <a:latin typeface="微软雅黑"/>
                  <a:ea typeface="微软雅黑"/>
                  <a:cs typeface="微软雅黑"/>
                </a:defRPr>
              </a:pPr>
              <a:endParaRPr lang="zh-CN" altLang="en-US" sz="1600">
                <a:solidFill>
                  <a:srgbClr val="383838"/>
                </a:solidFill>
                <a:latin typeface="微软雅黑"/>
                <a:cs typeface="微软雅黑"/>
                <a:ea typeface="微软雅黑"/>
              </a:endParaRPr>
            </a:p>
          </p:txBody>
        </p:sp>
        <p:sp>
          <p:nvSpPr>
            <p:cNvPr id="414" name="显眼包PPT-2"/>
            <p:cNvSpPr/>
            <p:nvPr/>
          </p:nvSpPr>
          <p:spPr>
            <a:xfrm>
              <a:off x="5257470" y="4176944"/>
              <a:ext cx="198683" cy="198681"/>
            </a:xfrm>
            <a:prstGeom prst="ellipse">
              <a:avLst/>
            </a:prstGeom>
            <a:gradFill flip="none" rotWithShape="1">
              <a:gsLst>
                <a:gs pos="0">
                  <a:srgbClr val="668EFF"/>
                </a:gs>
                <a:gs pos="46000">
                  <a:srgbClr val="0042FF"/>
                </a:gs>
                <a:gs pos="100000">
                  <a:srgbClr val="0042FF"/>
                </a:gs>
              </a:gsLst>
              <a:path path="circle">
                <a:fillToRect r="100000" b="100000"/>
              </a:path>
              <a:tileRect l="-100000" t="-100000"/>
            </a:gradFill>
            <a:ln w="22225">
              <a:noFill/>
            </a:ln>
            <a:effectLst>
              <a:innerShdw blurRad="127000">
                <a:srgbClr val="3368FF"/>
              </a:innerShdw>
            </a:effectLst>
          </p:spPr>
          <p:style>
            <a:lnRef idx="2">
              <a:srgbClr val="0042FF"/>
            </a:lnRef>
            <a:fillRef idx="1">
              <a:srgbClr val="0042FF"/>
            </a:fillRef>
            <a:effectRef idx="0">
              <a:srgbClr val="0042FF"/>
            </a:effectRef>
            <a:fontRef idx="minor">
              <a:srgbClr val="FFFFFF"/>
            </a:fontRef>
          </p:style>
          <p:txBody>
            <a:bodyPr wrap="none" lIns="89555" tIns="44777" rIns="89555" bIns="44777"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415" name="显眼包PPT-4"/>
            <p:cNvSpPr txBox="1"/>
            <p:nvPr/>
          </p:nvSpPr>
          <p:spPr>
            <a:xfrm>
              <a:off x="5583648" y="4177452"/>
              <a:ext cx="914400" cy="18415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200">
                  <a:cs typeface="微软雅黑"/>
                  <a:latin typeface="微软雅黑"/>
                  <a:ea typeface="微软雅黑"/>
                </a:rPr>
                <a:t>渠道费用管控</a:t>
              </a:r>
              <a:endParaRPr lang="zh-CN" altLang="en-US" sz="1200">
                <a:cs typeface="微软雅黑"/>
                <a:latin typeface="微软雅黑"/>
                <a:ea typeface="微软雅黑"/>
              </a:endParaRPr>
            </a:p>
          </p:txBody>
        </p:sp>
      </p:grpSp>
      <p:pic>
        <p:nvPicPr>
          <p:cNvPr id="420" name="图片 419" descr="营销管理"/>
          <p:cNvPicPr>
            <a:picLocks noChangeAspect="1"/>
          </p:cNvPicPr>
          <p:nvPr/>
        </p:nvPicPr>
        <p:blipFill>
          <a:blip r:embed="rId46">
            <a:extLst>
              <a:ext uri="{96DAC541-7B7A-43D3-8B79-37D633B846F1}">
                <asvg:svgBlip xmlns:asvg="http://schemas.microsoft.com/office/drawing/2016/SVG/main" r:embed="rId47"/>
              </a:ext>
            </a:extLst>
          </a:blip>
          <a:stretch>
            <a:fillRect/>
          </a:stretch>
        </p:blipFill>
        <p:spPr>
          <a:xfrm>
            <a:off x="7205345" y="5605780"/>
            <a:ext cx="97790" cy="97790"/>
          </a:xfrm>
          <a:prstGeom prst="rect">
            <a:avLst/>
          </a:prstGeom>
        </p:spPr>
      </p:pic>
      <p:pic>
        <p:nvPicPr>
          <p:cNvPr id="421" name="图片 420" descr="渠道系统"/>
          <p:cNvPicPr>
            <a:picLocks noChangeAspect="1"/>
          </p:cNvPicPr>
          <p:nvPr/>
        </p:nvPicPr>
        <p:blipFill>
          <a:blip r:embed="rId48">
            <a:extLst>
              <a:ext uri="{96DAC541-7B7A-43D3-8B79-37D633B846F1}">
                <asvg:svgBlip xmlns:asvg="http://schemas.microsoft.com/office/drawing/2016/SVG/main" r:embed="rId49"/>
              </a:ext>
            </a:extLst>
          </a:blip>
          <a:stretch>
            <a:fillRect/>
          </a:stretch>
        </p:blipFill>
        <p:spPr>
          <a:xfrm>
            <a:off x="7201535" y="6210300"/>
            <a:ext cx="114300" cy="106045"/>
          </a:xfrm>
          <a:prstGeom prst="rect">
            <a:avLst/>
          </a:prstGeom>
        </p:spPr>
      </p:pic>
      <p:cxnSp>
        <p:nvCxnSpPr>
          <p:cNvPr id="424" name="直接连接符 423"/>
          <p:cNvCxnSpPr/>
          <p:nvPr/>
        </p:nvCxnSpPr>
        <p:spPr>
          <a:xfrm>
            <a:off x="8559165" y="5647373"/>
            <a:ext cx="330200" cy="0"/>
          </a:xfrm>
          <a:prstGeom prst="line">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425" name="直接连接符 424"/>
          <p:cNvCxnSpPr/>
          <p:nvPr/>
        </p:nvCxnSpPr>
        <p:spPr>
          <a:xfrm>
            <a:off x="8559165" y="6259195"/>
            <a:ext cx="330200" cy="0"/>
          </a:xfrm>
          <a:prstGeom prst="line">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pic>
        <p:nvPicPr>
          <p:cNvPr id="429" name="图片 428" descr="供应链 (1)"/>
          <p:cNvPicPr>
            <a:picLocks noChangeAspect="1"/>
          </p:cNvPicPr>
          <p:nvPr/>
        </p:nvPicPr>
        <p:blipFill>
          <a:blip r:embed="rId50">
            <a:extLst>
              <a:ext uri="{96DAC541-7B7A-43D3-8B79-37D633B846F1}">
                <asvg:svgBlip xmlns:asvg="http://schemas.microsoft.com/office/drawing/2016/SVG/main" r:embed="rId51"/>
              </a:ext>
            </a:extLst>
          </a:blip>
          <a:stretch>
            <a:fillRect/>
          </a:stretch>
        </p:blipFill>
        <p:spPr>
          <a:xfrm>
            <a:off x="7185660" y="4530725"/>
            <a:ext cx="146050" cy="146050"/>
          </a:xfrm>
          <a:prstGeom prst="rect">
            <a:avLst/>
          </a:prstGeom>
        </p:spPr>
      </p:pic>
      <p:pic>
        <p:nvPicPr>
          <p:cNvPr id="430" name="图片 429" descr="生产加工"/>
          <p:cNvPicPr>
            <a:picLocks noChangeAspect="1"/>
          </p:cNvPicPr>
          <p:nvPr/>
        </p:nvPicPr>
        <p:blipFill>
          <a:blip r:embed="rId52">
            <a:extLst>
              <a:ext uri="{96DAC541-7B7A-43D3-8B79-37D633B846F1}">
                <asvg:svgBlip xmlns:asvg="http://schemas.microsoft.com/office/drawing/2016/SVG/main" r:embed="rId53"/>
              </a:ext>
            </a:extLst>
          </a:blip>
          <a:stretch>
            <a:fillRect/>
          </a:stretch>
        </p:blipFill>
        <p:spPr>
          <a:xfrm>
            <a:off x="7169785" y="4046855"/>
            <a:ext cx="172720" cy="172720"/>
          </a:xfrm>
          <a:prstGeom prst="rect">
            <a:avLst/>
          </a:prstGeom>
        </p:spPr>
      </p:pic>
      <p:sp>
        <p:nvSpPr>
          <p:cNvPr id="432" name="矩形 431"/>
          <p:cNvSpPr/>
          <p:nvPr/>
        </p:nvSpPr>
        <p:spPr>
          <a:xfrm>
            <a:off x="8924290" y="5388610"/>
            <a:ext cx="2649855" cy="517525"/>
          </a:xfrm>
          <a:prstGeom prst="rect">
            <a:avLst/>
          </a:prstGeom>
          <a:solidFill>
            <a:srgbClr val="E6E6E6">
              <a:alpha val="50000"/>
            </a:srgbClr>
          </a:solidFill>
          <a:ln w="12700" cmpd="sng">
            <a:solidFill>
              <a:srgbClr val="668EFF"/>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433" name="矩形 432"/>
          <p:cNvSpPr/>
          <p:nvPr/>
        </p:nvSpPr>
        <p:spPr>
          <a:xfrm>
            <a:off x="8924290" y="6000750"/>
            <a:ext cx="2649855" cy="517525"/>
          </a:xfrm>
          <a:prstGeom prst="rect">
            <a:avLst/>
          </a:prstGeom>
          <a:solidFill>
            <a:srgbClr val="E6E6E6">
              <a:alpha val="50000"/>
            </a:srgbClr>
          </a:solidFill>
          <a:ln w="12700" cmpd="sng">
            <a:solidFill>
              <a:srgbClr val="668EFF"/>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434" name="Text Box 1030"/>
          <p:cNvSpPr txBox="1">
            <a:spLocks noChangeArrowheads="1"/>
          </p:cNvSpPr>
          <p:nvPr>
            <p:custDataLst>
              <p:tags r:id="rId54"/>
            </p:custDataLst>
          </p:nvPr>
        </p:nvSpPr>
        <p:spPr bwMode="auto">
          <a:xfrm>
            <a:off x="8924290" y="5395595"/>
            <a:ext cx="2604135" cy="62103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marL="107950" indent="-107950" eaLnBrk="1" fontAlgn="auto" hangingPunct="1">
              <a:lnSpc>
                <a:spcPts val="1120"/>
              </a:lnSpc>
              <a:buFont typeface="微软雅黑"/>
              <a:buChar char="➢"/>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rPr>
              <a:t>广告投放</a:t>
            </a:r>
            <a:r>
              <a:rPr lang="en-US" altLang="zh-CN" sz="1000" b="1" dirty="0">
                <a:solidFill>
                  <a:srgbClr val="383838"/>
                </a:solidFill>
                <a:latin typeface="微软雅黑"/>
                <a:ea typeface="微软雅黑"/>
                <a:cs typeface="微软雅黑"/>
              </a:rPr>
              <a:t>ROI</a:t>
            </a:r>
            <a:r>
              <a:rPr lang="zh-CN" altLang="en-US" sz="1000" b="1"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精准投放（</a:t>
            </a:r>
            <a:r>
              <a:rPr lang="en-US" altLang="zh-CN" sz="1000" dirty="0">
                <a:solidFill>
                  <a:srgbClr val="383838"/>
                </a:solidFill>
                <a:latin typeface="微软雅黑"/>
                <a:ea typeface="微软雅黑"/>
                <a:cs typeface="微软雅黑"/>
              </a:rPr>
              <a:t>DMP</a:t>
            </a:r>
            <a:r>
              <a:rPr lang="zh-CN" altLang="en-US" sz="1000" dirty="0">
                <a:solidFill>
                  <a:srgbClr val="383838"/>
                </a:solidFill>
                <a:latin typeface="微软雅黑"/>
                <a:ea typeface="微软雅黑"/>
                <a:cs typeface="微软雅黑"/>
              </a:rPr>
              <a:t>人群定向）、效果归因分析；</a:t>
            </a:r>
            <a:endParaRPr lang="zh-CN" altLang="en-US" sz="1000" dirty="0">
              <a:solidFill>
                <a:srgbClr val="383838"/>
              </a:solidFill>
              <a:latin typeface="微软雅黑"/>
              <a:ea typeface="微软雅黑"/>
              <a:cs typeface="微软雅黑"/>
            </a:endParaRPr>
          </a:p>
          <a:p>
            <a:pPr marL="107950" indent="-107950" eaLnBrk="1" fontAlgn="auto" hangingPunct="1">
              <a:lnSpc>
                <a:spcPts val="1120"/>
              </a:lnSpc>
              <a:buFont typeface="微软雅黑"/>
              <a:buChar char="➢"/>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促销费用：</a:t>
            </a:r>
            <a:r>
              <a:rPr lang="zh-CN" altLang="en-US" sz="1000" dirty="0">
                <a:solidFill>
                  <a:srgbClr val="383838"/>
                </a:solidFill>
                <a:latin typeface="微软雅黑"/>
                <a:ea typeface="微软雅黑"/>
                <a:cs typeface="微软雅黑"/>
                <a:sym typeface="微软雅黑"/>
              </a:rPr>
              <a:t>档期活动</a:t>
            </a:r>
            <a:r>
              <a:rPr lang="en-US" altLang="zh-CN" sz="1000" dirty="0">
                <a:solidFill>
                  <a:srgbClr val="383838"/>
                </a:solidFill>
                <a:latin typeface="微软雅黑"/>
                <a:ea typeface="微软雅黑"/>
                <a:cs typeface="微软雅黑"/>
                <a:sym typeface="微软雅黑"/>
              </a:rPr>
              <a:t>GMV/</a:t>
            </a:r>
            <a:r>
              <a:rPr lang="zh-CN" altLang="en-US" sz="1000" dirty="0">
                <a:solidFill>
                  <a:srgbClr val="383838"/>
                </a:solidFill>
                <a:latin typeface="微软雅黑"/>
                <a:ea typeface="微软雅黑"/>
                <a:cs typeface="微软雅黑"/>
                <a:sym typeface="微软雅黑"/>
              </a:rPr>
              <a:t>费用比、满减券核销率。</a:t>
            </a:r>
            <a:endParaRPr lang="en-US" altLang="zh-CN" sz="1000" dirty="0">
              <a:solidFill>
                <a:srgbClr val="383838"/>
              </a:solidFill>
              <a:latin typeface="微软雅黑"/>
              <a:ea typeface="微软雅黑"/>
              <a:cs typeface="微软雅黑"/>
            </a:endParaRPr>
          </a:p>
        </p:txBody>
      </p:sp>
      <p:sp>
        <p:nvSpPr>
          <p:cNvPr id="435" name="Text Box 1030"/>
          <p:cNvSpPr txBox="1">
            <a:spLocks noChangeArrowheads="1"/>
          </p:cNvSpPr>
          <p:nvPr>
            <p:custDataLst>
              <p:tags r:id="rId55"/>
            </p:custDataLst>
          </p:nvPr>
        </p:nvSpPr>
        <p:spPr bwMode="auto">
          <a:xfrm>
            <a:off x="8924290" y="6029325"/>
            <a:ext cx="2649855" cy="6350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marL="107950" indent="-107950" eaLnBrk="1" fontAlgn="auto" hangingPunct="1">
              <a:lnSpc>
                <a:spcPts val="1120"/>
              </a:lnSpc>
              <a:buFont typeface="微软雅黑"/>
              <a:buChar char="➢"/>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rPr>
              <a:t>渠道返点与佣金：</a:t>
            </a:r>
            <a:r>
              <a:rPr lang="zh-CN" altLang="en-US" sz="1000" dirty="0">
                <a:solidFill>
                  <a:srgbClr val="383838"/>
                </a:solidFill>
                <a:latin typeface="微软雅黑"/>
                <a:ea typeface="微软雅黑"/>
                <a:cs typeface="微软雅黑"/>
                <a:sym typeface="微软雅黑"/>
              </a:rPr>
              <a:t>分级渠道激励政策（如</a:t>
            </a:r>
            <a:r>
              <a:rPr lang="en-US" altLang="zh-CN" sz="1000" dirty="0">
                <a:solidFill>
                  <a:srgbClr val="383838"/>
                </a:solidFill>
                <a:latin typeface="微软雅黑"/>
                <a:ea typeface="微软雅黑"/>
                <a:cs typeface="微软雅黑"/>
                <a:sym typeface="微软雅黑"/>
              </a:rPr>
              <a:t>KA</a:t>
            </a:r>
            <a:r>
              <a:rPr lang="zh-CN" altLang="en-US" sz="1000" dirty="0">
                <a:solidFill>
                  <a:srgbClr val="383838"/>
                </a:solidFill>
                <a:latin typeface="微软雅黑"/>
                <a:ea typeface="微软雅黑"/>
                <a:cs typeface="微软雅黑"/>
                <a:sym typeface="微软雅黑"/>
              </a:rPr>
              <a:t>客户阶梯返利）</a:t>
            </a:r>
            <a:r>
              <a:rPr lang="en-US" altLang="zh-CN" sz="1000" dirty="0">
                <a:solidFill>
                  <a:srgbClr val="383838"/>
                </a:solidFill>
                <a:latin typeface="微软雅黑"/>
                <a:ea typeface="微软雅黑"/>
                <a:cs typeface="微软雅黑"/>
                <a:sym typeface="微软雅黑"/>
              </a:rPr>
              <a:t>;</a:t>
            </a:r>
            <a:endParaRPr lang="en-US" altLang="zh-CN" sz="1000" dirty="0">
              <a:solidFill>
                <a:srgbClr val="383838"/>
              </a:solidFill>
              <a:latin typeface="微软雅黑"/>
              <a:ea typeface="微软雅黑"/>
              <a:cs typeface="微软雅黑"/>
              <a:sym typeface="微软雅黑"/>
            </a:endParaRPr>
          </a:p>
          <a:p>
            <a:pPr marL="107950" indent="-107950" eaLnBrk="1" fontAlgn="auto" hangingPunct="1">
              <a:lnSpc>
                <a:spcPts val="1120"/>
              </a:lnSpc>
              <a:buFont typeface="微软雅黑"/>
              <a:buChar char="➢"/>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终端陈列费：</a:t>
            </a:r>
            <a:r>
              <a:rPr lang="zh-CN" altLang="en-US" sz="1000" dirty="0">
                <a:solidFill>
                  <a:srgbClr val="383838"/>
                </a:solidFill>
                <a:latin typeface="微软雅黑"/>
                <a:ea typeface="微软雅黑"/>
                <a:cs typeface="微软雅黑"/>
              </a:rPr>
              <a:t>高效陈列位利用率（如黄金货架坪效）。</a:t>
            </a:r>
            <a:endParaRPr lang="zh-CN" altLang="en-US" sz="1000" dirty="0">
              <a:solidFill>
                <a:srgbClr val="383838"/>
              </a:solidFill>
              <a:latin typeface="微软雅黑"/>
              <a:ea typeface="微软雅黑"/>
              <a:cs typeface="微软雅黑"/>
            </a:endParaRPr>
          </a:p>
        </p:txBody>
      </p:sp>
      <p:sp>
        <p:nvSpPr>
          <p:cNvPr id="436" name="右箭头 435"/>
          <p:cNvSpPr/>
          <p:nvPr/>
        </p:nvSpPr>
        <p:spPr>
          <a:xfrm rot="16200000" flipV="1">
            <a:off x="5210175" y="4218305"/>
            <a:ext cx="858520" cy="306705"/>
          </a:xfrm>
          <a:prstGeom prst="rightArrow">
            <a:avLst/>
          </a:prstGeom>
          <a:gradFill>
            <a:gsLst>
              <a:gs pos="0">
                <a:srgbClr val="B3D4FE">
                  <a:alpha val="0"/>
                </a:srgbClr>
              </a:gs>
              <a:gs pos="100000">
                <a:srgbClr val="B3D4FE"/>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56"/>
            <a:srcRect r="57320" b="-13333"/>
            <a:stretch>
              <a:fillRect/>
            </a:stretch>
          </p:blipFill>
          <p:spPr>
            <a:xfrm>
              <a:off x="12087" y="-1089"/>
              <a:ext cx="2548" cy="578"/>
            </a:xfrm>
            <a:prstGeom prst="rect">
              <a:avLst/>
            </a:prstGeom>
          </p:spPr>
        </p:pic>
        <p:sp>
          <p:nvSpPr>
            <p:cNvPr id="2" name="文本框 1"/>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文本框 51"/>
          <p:cNvSpPr txBox="1"/>
          <p:nvPr/>
        </p:nvSpPr>
        <p:spPr>
          <a:xfrm>
            <a:off x="297815" y="2530475"/>
            <a:ext cx="690880" cy="460375"/>
          </a:xfrm>
          <a:prstGeom prst="rect">
            <a:avLst/>
          </a:prstGeom>
          <a:noFill/>
        </p:spPr>
        <p:txBody>
          <a:bodyPr wrap="square" rtlCol="0">
            <a:spAutoFit/>
          </a:bodyPr>
          <a:lstStyle/>
          <a:p>
            <a:pPr algn="ctr">
              <a:defRPr>
                <a:latin typeface="微软雅黑"/>
                <a:ea typeface="微软雅黑"/>
                <a:cs typeface="微软雅黑"/>
              </a:defRPr>
            </a:pPr>
            <a:r>
              <a:rPr lang="en-US" altLang="zh-CN" sz="1200" b="1" dirty="0">
                <a:solidFill>
                  <a:srgbClr val="383838">
                    <a:alpha val="80000"/>
                  </a:srgbClr>
                </a:solidFill>
                <a:latin typeface="微软雅黑"/>
                <a:ea typeface="微软雅黑"/>
                <a:cs typeface="微软雅黑"/>
              </a:rPr>
              <a:t>S</a:t>
            </a:r>
            <a:endParaRPr lang="en-US" altLang="zh-CN" sz="1200" b="1" dirty="0">
              <a:solidFill>
                <a:srgbClr val="383838">
                  <a:alpha val="80000"/>
                </a:srgbClr>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战略</a:t>
            </a:r>
            <a:endParaRPr lang="zh-CN" altLang="en-US" sz="1200" b="1" dirty="0">
              <a:solidFill>
                <a:srgbClr val="383838">
                  <a:alpha val="80000"/>
                </a:srgbClr>
              </a:solidFill>
              <a:latin typeface="微软雅黑"/>
              <a:ea typeface="微软雅黑"/>
              <a:cs typeface="微软雅黑"/>
            </a:endParaRPr>
          </a:p>
        </p:txBody>
      </p:sp>
      <p:sp>
        <p:nvSpPr>
          <p:cNvPr id="128" name="燕尾形 65"/>
          <p:cNvSpPr/>
          <p:nvPr/>
        </p:nvSpPr>
        <p:spPr>
          <a:xfrm>
            <a:off x="6003925" y="4650740"/>
            <a:ext cx="2945765" cy="2009140"/>
          </a:xfrm>
          <a:prstGeom prst="roundRect">
            <a:avLst>
              <a:gd name="adj" fmla="val 3855"/>
            </a:avLst>
          </a:prstGeom>
          <a:solidFill>
            <a:srgbClr val="E6E6E6">
              <a:alpha val="30000"/>
            </a:srgbClr>
          </a:solidFill>
          <a:ln>
            <a:solidFill>
              <a:srgbClr val="3368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lang="zh-CN" altLang="en-US" sz="2500" dirty="0">
                <a:solidFill>
                  <a:srgbClr val="0042FF"/>
                </a:solidFill>
                <a:effectLst/>
                <a:latin typeface="微软雅黑"/>
                <a:ea typeface="微软雅黑"/>
                <a:cs typeface="微软雅黑"/>
              </a:rPr>
              <a:t> </a:t>
            </a:r>
            <a:r>
              <a:rPr sz="2500">
                <a:solidFill>
                  <a:srgbClr val="383838"/>
                </a:solidFill>
                <a:effectLst/>
                <a:latin typeface="微软雅黑"/>
                <a:ea typeface="微软雅黑"/>
                <a:cs typeface="微软雅黑"/>
                <a:sym typeface="微软雅黑"/>
              </a:rPr>
              <a:t>品牌战略支撑体系方法论</a:t>
            </a:r>
            <a:endParaRPr lang="en-US" altLang="zh-CN" sz="2500" dirty="0">
              <a:solidFill>
                <a:srgbClr val="383838"/>
              </a:solidFill>
              <a:effectLst/>
              <a:latin typeface="微软雅黑"/>
              <a:ea typeface="微软雅黑"/>
              <a:cs typeface="微软雅黑"/>
              <a:sym typeface="微软雅黑"/>
            </a:endParaRPr>
          </a:p>
        </p:txBody>
      </p:sp>
      <p:pic>
        <p:nvPicPr>
          <p:cNvPr id="10" name="图片 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
        <p:nvSpPr>
          <p:cNvPr id="288" name="燕尾形 65"/>
          <p:cNvSpPr/>
          <p:nvPr/>
        </p:nvSpPr>
        <p:spPr>
          <a:xfrm>
            <a:off x="9105900" y="4657725"/>
            <a:ext cx="2607945" cy="2009140"/>
          </a:xfrm>
          <a:prstGeom prst="roundRect">
            <a:avLst>
              <a:gd name="adj" fmla="val 3855"/>
            </a:avLst>
          </a:prstGeom>
          <a:solidFill>
            <a:srgbClr val="E6E6E6">
              <a:alpha val="30000"/>
            </a:srgbClr>
          </a:solidFill>
          <a:ln>
            <a:solidFill>
              <a:srgbClr val="3368FF">
                <a:alpha val="33534"/>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2" name="等腰三角形 12"/>
          <p:cNvSpPr/>
          <p:nvPr/>
        </p:nvSpPr>
        <p:spPr>
          <a:xfrm>
            <a:off x="1171575" y="3846830"/>
            <a:ext cx="2058035" cy="290195"/>
          </a:xfrm>
          <a:prstGeom prst="triangle">
            <a:avLst>
              <a:gd name="adj" fmla="val 48380"/>
            </a:avLst>
          </a:prstGeom>
          <a:gradFill>
            <a:gsLst>
              <a:gs pos="0">
                <a:srgbClr val="B3D4FE"/>
              </a:gs>
              <a:gs pos="100000">
                <a:srgbClr val="B3D4FE">
                  <a:alpha val="0"/>
                </a:srgbClr>
              </a:gs>
            </a:gsLst>
            <a:lin ang="5400000" scaled="0"/>
          </a:gradFill>
          <a:ln>
            <a:gradFill>
              <a:gsLst>
                <a:gs pos="4000">
                  <a:srgbClr val="B3D4FE">
                    <a:alpha val="0"/>
                  </a:srgbClr>
                </a:gs>
                <a:gs pos="100000">
                  <a:srgbClr val="B3D4FE"/>
                </a:gs>
              </a:gsLst>
              <a:lin ang="16200000"/>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b="1" dirty="0">
              <a:latin typeface="微软雅黑"/>
              <a:ea typeface="微软雅黑"/>
              <a:cs typeface="微软雅黑"/>
            </a:endParaRPr>
          </a:p>
        </p:txBody>
      </p:sp>
      <p:sp>
        <p:nvSpPr>
          <p:cNvPr id="3" name="等腰三角形 12"/>
          <p:cNvSpPr/>
          <p:nvPr/>
        </p:nvSpPr>
        <p:spPr>
          <a:xfrm>
            <a:off x="862330" y="1898650"/>
            <a:ext cx="3996055" cy="490220"/>
          </a:xfrm>
          <a:prstGeom prst="triangle">
            <a:avLst>
              <a:gd name="adj" fmla="val 49830"/>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endParaRPr>
          </a:p>
        </p:txBody>
      </p:sp>
      <p:sp>
        <p:nvSpPr>
          <p:cNvPr id="9" name="内容占位符 20"/>
          <p:cNvSpPr txBox="1"/>
          <p:nvPr/>
        </p:nvSpPr>
        <p:spPr>
          <a:xfrm>
            <a:off x="2176145" y="2052955"/>
            <a:ext cx="1377315" cy="288925"/>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微软雅黑"/>
              <a:buNone/>
              <a:defRPr sz="1800" kern="1200">
                <a:solidFill>
                  <a:srgbClr val="FFFFFF"/>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FFFFFF"/>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FFFFFF"/>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FFFFFF"/>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FFFFFF"/>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FFFFFF"/>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FFFFFF"/>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FFFFFF"/>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品牌架构</a:t>
            </a:r>
            <a:endParaRPr lang="zh-CN" altLang="en-US" sz="1600" b="1" dirty="0">
              <a:solidFill>
                <a:srgbClr val="FFFFFF"/>
              </a:solidFill>
              <a:latin typeface="微软雅黑"/>
              <a:ea typeface="微软雅黑"/>
              <a:cs typeface="微软雅黑"/>
            </a:endParaRPr>
          </a:p>
        </p:txBody>
      </p:sp>
      <p:cxnSp>
        <p:nvCxnSpPr>
          <p:cNvPr id="12" name="直线连接符 128"/>
          <p:cNvCxnSpPr/>
          <p:nvPr/>
        </p:nvCxnSpPr>
        <p:spPr>
          <a:xfrm flipV="1">
            <a:off x="824230" y="1847850"/>
            <a:ext cx="2021840" cy="485775"/>
          </a:xfrm>
          <a:prstGeom prst="line">
            <a:avLst/>
          </a:prstGeom>
          <a:noFill/>
          <a:ln w="38100" cap="rnd" cmpd="sng" algn="ctr">
            <a:gradFill>
              <a:gsLst>
                <a:gs pos="0">
                  <a:srgbClr val="3368FF"/>
                </a:gs>
                <a:gs pos="100000">
                  <a:srgbClr val="0042FF"/>
                </a:gs>
              </a:gsLst>
              <a:lin ang="5400000" scaled="1"/>
            </a:gradFill>
            <a:prstDash val="solid"/>
            <a:round/>
          </a:ln>
          <a:effectLst/>
        </p:spPr>
      </p:cxnSp>
      <p:cxnSp>
        <p:nvCxnSpPr>
          <p:cNvPr id="13" name="直线连接符 133"/>
          <p:cNvCxnSpPr/>
          <p:nvPr/>
        </p:nvCxnSpPr>
        <p:spPr>
          <a:xfrm flipH="1" flipV="1">
            <a:off x="2853690" y="1847850"/>
            <a:ext cx="2068195" cy="476885"/>
          </a:xfrm>
          <a:prstGeom prst="line">
            <a:avLst/>
          </a:prstGeom>
          <a:noFill/>
          <a:ln w="38100" cap="rnd" cmpd="sng" algn="ctr">
            <a:gradFill>
              <a:gsLst>
                <a:gs pos="0">
                  <a:srgbClr val="3368FF"/>
                </a:gs>
                <a:gs pos="100000">
                  <a:srgbClr val="0042FF"/>
                </a:gs>
              </a:gsLst>
              <a:lin ang="5400000" scaled="1"/>
            </a:gradFill>
            <a:prstDash val="solid"/>
            <a:round/>
          </a:ln>
          <a:effectLst/>
        </p:spPr>
      </p:cxnSp>
      <p:grpSp>
        <p:nvGrpSpPr>
          <p:cNvPr id="14" name="组合 13"/>
          <p:cNvGrpSpPr/>
          <p:nvPr/>
        </p:nvGrpSpPr>
        <p:grpSpPr>
          <a:xfrm rot="0">
            <a:off x="797560" y="2513467"/>
            <a:ext cx="127635" cy="513368"/>
            <a:chOff x="1487" y="3855"/>
            <a:chExt cx="201" cy="661"/>
          </a:xfrm>
        </p:grpSpPr>
        <p:cxnSp>
          <p:nvCxnSpPr>
            <p:cNvPr id="15" name="直接连接符 14"/>
            <p:cNvCxnSpPr/>
            <p:nvPr/>
          </p:nvCxnSpPr>
          <p:spPr>
            <a:xfrm>
              <a:off x="1487" y="3863"/>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16" name="直接连接符 15"/>
            <p:cNvCxnSpPr/>
            <p:nvPr/>
          </p:nvCxnSpPr>
          <p:spPr>
            <a:xfrm>
              <a:off x="1490" y="4513"/>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17" name="直接连接符 16"/>
            <p:cNvCxnSpPr/>
            <p:nvPr/>
          </p:nvCxnSpPr>
          <p:spPr>
            <a:xfrm>
              <a:off x="1677" y="3855"/>
              <a:ext cx="0" cy="661"/>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grpSp>
      <p:cxnSp>
        <p:nvCxnSpPr>
          <p:cNvPr id="30" name="直接连接符 29"/>
          <p:cNvCxnSpPr/>
          <p:nvPr/>
        </p:nvCxnSpPr>
        <p:spPr>
          <a:xfrm>
            <a:off x="570865" y="1594485"/>
            <a:ext cx="4547870" cy="0"/>
          </a:xfrm>
          <a:prstGeom prst="line">
            <a:avLst/>
          </a:prstGeom>
          <a:ln w="38100">
            <a:solidFill>
              <a:srgbClr val="0042FF"/>
            </a:solidFill>
          </a:ln>
        </p:spPr>
        <p:style>
          <a:lnRef idx="2">
            <a:srgbClr val="0042FF"/>
          </a:lnRef>
          <a:fillRef idx="0">
            <a:srgbClr val="FFFFFF"/>
          </a:fillRef>
          <a:effectRef idx="0">
            <a:srgbClr val="FFFFFF"/>
          </a:effectRef>
          <a:fontRef idx="minor">
            <a:srgbClr val="383838"/>
          </a:fontRef>
        </p:style>
      </p:cxnSp>
      <p:cxnSp>
        <p:nvCxnSpPr>
          <p:cNvPr id="31" name="直接连接符 30"/>
          <p:cNvCxnSpPr/>
          <p:nvPr/>
        </p:nvCxnSpPr>
        <p:spPr>
          <a:xfrm>
            <a:off x="570865" y="6477635"/>
            <a:ext cx="4526280" cy="0"/>
          </a:xfrm>
          <a:prstGeom prst="line">
            <a:avLst/>
          </a:prstGeom>
          <a:ln w="38100">
            <a:solidFill>
              <a:srgbClr val="0042FF"/>
            </a:solidFill>
          </a:ln>
        </p:spPr>
        <p:style>
          <a:lnRef idx="2">
            <a:srgbClr val="0042FF"/>
          </a:lnRef>
          <a:fillRef idx="0">
            <a:srgbClr val="FFFFFF"/>
          </a:fillRef>
          <a:effectRef idx="0">
            <a:srgbClr val="FFFFFF"/>
          </a:effectRef>
          <a:fontRef idx="minor">
            <a:srgbClr val="383838"/>
          </a:fontRef>
        </p:style>
      </p:cxnSp>
      <p:sp>
        <p:nvSpPr>
          <p:cNvPr id="32" name="标题 2"/>
          <p:cNvSpPr>
            <a:spLocks noGrp="1"/>
          </p:cNvSpPr>
          <p:nvPr/>
        </p:nvSpPr>
        <p:spPr>
          <a:xfrm>
            <a:off x="1088390" y="1142365"/>
            <a:ext cx="2049780" cy="327660"/>
          </a:xfrm>
          <a:prstGeom prst="rect">
            <a:avLst/>
          </a:prstGeom>
          <a:ln w="12700">
            <a:miter lim="400000"/>
          </a:ln>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pPr>
            <a:r>
              <a:rPr sz="2000">
                <a:solidFill>
                  <a:srgbClr val="0042FF"/>
                </a:solidFill>
                <a:effectLst/>
                <a:latin typeface="微软雅黑"/>
                <a:ea typeface="微软雅黑"/>
                <a:cs typeface="微软雅黑"/>
              </a:rPr>
              <a:t>品牌战略拆解</a:t>
            </a:r>
            <a:endParaRPr sz="2000" b="0">
              <a:solidFill>
                <a:srgbClr val="0042FF"/>
              </a:solidFill>
              <a:effectLst/>
              <a:latin typeface="微软雅黑"/>
              <a:ea typeface="微软雅黑"/>
              <a:cs typeface="微软雅黑"/>
            </a:endParaRPr>
          </a:p>
        </p:txBody>
      </p:sp>
      <p:cxnSp>
        <p:nvCxnSpPr>
          <p:cNvPr id="33" name="直接连接符 32"/>
          <p:cNvCxnSpPr/>
          <p:nvPr/>
        </p:nvCxnSpPr>
        <p:spPr>
          <a:xfrm>
            <a:off x="5095875" y="1585595"/>
            <a:ext cx="634365" cy="2451100"/>
          </a:xfrm>
          <a:prstGeom prst="line">
            <a:avLst/>
          </a:prstGeom>
          <a:ln w="38100">
            <a:solidFill>
              <a:srgbClr val="0042FF"/>
            </a:solidFill>
          </a:ln>
        </p:spPr>
        <p:style>
          <a:lnRef idx="2">
            <a:srgbClr val="0042FF"/>
          </a:lnRef>
          <a:fillRef idx="0">
            <a:srgbClr val="FFFFFF"/>
          </a:fillRef>
          <a:effectRef idx="0">
            <a:srgbClr val="FFFFFF"/>
          </a:effectRef>
          <a:fontRef idx="minor">
            <a:srgbClr val="383838"/>
          </a:fontRef>
        </p:style>
      </p:cxnSp>
      <p:cxnSp>
        <p:nvCxnSpPr>
          <p:cNvPr id="36" name="直接连接符 35"/>
          <p:cNvCxnSpPr/>
          <p:nvPr/>
        </p:nvCxnSpPr>
        <p:spPr>
          <a:xfrm flipV="1">
            <a:off x="5095875" y="4036695"/>
            <a:ext cx="634365" cy="2451100"/>
          </a:xfrm>
          <a:prstGeom prst="line">
            <a:avLst/>
          </a:prstGeom>
          <a:ln w="38100">
            <a:solidFill>
              <a:srgbClr val="0042FF"/>
            </a:solidFill>
          </a:ln>
        </p:spPr>
        <p:style>
          <a:lnRef idx="2">
            <a:srgbClr val="0042FF"/>
          </a:lnRef>
          <a:fillRef idx="0">
            <a:srgbClr val="FFFFFF"/>
          </a:fillRef>
          <a:effectRef idx="0">
            <a:srgbClr val="FFFFFF"/>
          </a:effectRef>
          <a:fontRef idx="minor">
            <a:srgbClr val="383838"/>
          </a:fontRef>
        </p:style>
      </p:cxnSp>
      <p:cxnSp>
        <p:nvCxnSpPr>
          <p:cNvPr id="39" name="直接连接符 38"/>
          <p:cNvCxnSpPr/>
          <p:nvPr/>
        </p:nvCxnSpPr>
        <p:spPr>
          <a:xfrm>
            <a:off x="5485765" y="2869565"/>
            <a:ext cx="301625" cy="1166495"/>
          </a:xfrm>
          <a:prstGeom prst="line">
            <a:avLst/>
          </a:prstGeom>
          <a:ln w="76200">
            <a:solidFill>
              <a:srgbClr val="0042FF"/>
            </a:solidFill>
          </a:ln>
        </p:spPr>
        <p:style>
          <a:lnRef idx="2">
            <a:srgbClr val="0042FF"/>
          </a:lnRef>
          <a:fillRef idx="0">
            <a:srgbClr val="FFFFFF"/>
          </a:fillRef>
          <a:effectRef idx="0">
            <a:srgbClr val="FFFFFF"/>
          </a:effectRef>
          <a:fontRef idx="minor">
            <a:srgbClr val="383838"/>
          </a:fontRef>
        </p:style>
      </p:cxnSp>
      <p:cxnSp>
        <p:nvCxnSpPr>
          <p:cNvPr id="40" name="直接连接符 39"/>
          <p:cNvCxnSpPr/>
          <p:nvPr/>
        </p:nvCxnSpPr>
        <p:spPr>
          <a:xfrm flipV="1">
            <a:off x="5485765" y="4006850"/>
            <a:ext cx="295275" cy="1169035"/>
          </a:xfrm>
          <a:prstGeom prst="line">
            <a:avLst/>
          </a:prstGeom>
          <a:ln w="88900">
            <a:solidFill>
              <a:srgbClr val="0042FF"/>
            </a:solidFill>
          </a:ln>
        </p:spPr>
        <p:style>
          <a:lnRef idx="2">
            <a:srgbClr val="0042FF"/>
          </a:lnRef>
          <a:fillRef idx="0">
            <a:srgbClr val="FFFFFF"/>
          </a:fillRef>
          <a:effectRef idx="0">
            <a:srgbClr val="FFFFFF"/>
          </a:effectRef>
          <a:fontRef idx="minor">
            <a:srgbClr val="383838"/>
          </a:fontRef>
        </p:style>
      </p:cxnSp>
      <p:cxnSp>
        <p:nvCxnSpPr>
          <p:cNvPr id="44" name="直接连接符 43"/>
          <p:cNvCxnSpPr/>
          <p:nvPr/>
        </p:nvCxnSpPr>
        <p:spPr>
          <a:xfrm>
            <a:off x="5975350" y="1594485"/>
            <a:ext cx="5675630" cy="0"/>
          </a:xfrm>
          <a:prstGeom prst="line">
            <a:avLst/>
          </a:prstGeom>
          <a:ln w="63500">
            <a:gradFill>
              <a:gsLst>
                <a:gs pos="0">
                  <a:srgbClr val="3368FF">
                    <a:alpha val="0"/>
                  </a:srgbClr>
                </a:gs>
                <a:gs pos="67000">
                  <a:srgbClr val="3368FF"/>
                </a:gs>
              </a:gsLst>
              <a:lin ang="0"/>
              <a:tileRect/>
            </a:gradFill>
          </a:ln>
        </p:spPr>
        <p:style>
          <a:lnRef idx="2">
            <a:srgbClr val="0042FF"/>
          </a:lnRef>
          <a:fillRef idx="0">
            <a:srgbClr val="FFFFFF"/>
          </a:fillRef>
          <a:effectRef idx="0">
            <a:srgbClr val="FFFFFF"/>
          </a:effectRef>
          <a:fontRef idx="minor">
            <a:srgbClr val="383838"/>
          </a:fontRef>
        </p:style>
      </p:cxnSp>
      <p:sp>
        <p:nvSpPr>
          <p:cNvPr id="45" name="标题 2"/>
          <p:cNvSpPr>
            <a:spLocks noGrp="1"/>
          </p:cNvSpPr>
          <p:nvPr/>
        </p:nvSpPr>
        <p:spPr>
          <a:xfrm>
            <a:off x="6627495" y="1142365"/>
            <a:ext cx="3554095" cy="327660"/>
          </a:xfrm>
          <a:prstGeom prst="rect">
            <a:avLst/>
          </a:prstGeom>
          <a:ln w="12700">
            <a:miter lim="400000"/>
          </a:ln>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pPr>
            <a:r>
              <a:rPr sz="2000">
                <a:solidFill>
                  <a:srgbClr val="0042FF"/>
                </a:solidFill>
                <a:latin typeface="微软雅黑"/>
                <a:ea typeface="微软雅黑"/>
                <a:cs typeface="微软雅黑"/>
              </a:rPr>
              <a:t>品牌运营执行策略拆解</a:t>
            </a:r>
            <a:endParaRPr sz="2000" b="0">
              <a:solidFill>
                <a:srgbClr val="0042FF"/>
              </a:solidFill>
              <a:latin typeface="微软雅黑"/>
              <a:ea typeface="微软雅黑"/>
              <a:cs typeface="微软雅黑"/>
            </a:endParaRPr>
          </a:p>
        </p:txBody>
      </p:sp>
      <p:cxnSp>
        <p:nvCxnSpPr>
          <p:cNvPr id="46" name="直接连接符 45"/>
          <p:cNvCxnSpPr/>
          <p:nvPr/>
        </p:nvCxnSpPr>
        <p:spPr>
          <a:xfrm>
            <a:off x="6000750" y="4535805"/>
            <a:ext cx="2955290" cy="0"/>
          </a:xfrm>
          <a:prstGeom prst="line">
            <a:avLst/>
          </a:prstGeom>
          <a:ln w="63500">
            <a:gradFill>
              <a:gsLst>
                <a:gs pos="0">
                  <a:srgbClr val="3368FF"/>
                </a:gs>
                <a:gs pos="0">
                  <a:srgbClr val="3368FF">
                    <a:alpha val="0"/>
                  </a:srgbClr>
                </a:gs>
                <a:gs pos="67000">
                  <a:srgbClr val="3368FF"/>
                </a:gs>
              </a:gsLst>
              <a:lin ang="0" scaled="1"/>
            </a:gradFill>
          </a:ln>
        </p:spPr>
        <p:style>
          <a:lnRef idx="2">
            <a:srgbClr val="0042FF"/>
          </a:lnRef>
          <a:fillRef idx="0">
            <a:srgbClr val="FFFFFF"/>
          </a:fillRef>
          <a:effectRef idx="0">
            <a:srgbClr val="FFFFFF"/>
          </a:effectRef>
          <a:fontRef idx="minor">
            <a:srgbClr val="383838"/>
          </a:fontRef>
        </p:style>
      </p:cxnSp>
      <p:sp>
        <p:nvSpPr>
          <p:cNvPr id="47" name="标题 2"/>
          <p:cNvSpPr>
            <a:spLocks noGrp="1"/>
          </p:cNvSpPr>
          <p:nvPr/>
        </p:nvSpPr>
        <p:spPr>
          <a:xfrm>
            <a:off x="6686550" y="4145915"/>
            <a:ext cx="2112645" cy="327660"/>
          </a:xfrm>
          <a:prstGeom prst="rect">
            <a:avLst/>
          </a:prstGeom>
          <a:ln w="12700">
            <a:miter lim="400000"/>
          </a:ln>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pPr>
            <a:r>
              <a:rPr sz="2000">
                <a:solidFill>
                  <a:srgbClr val="0042FF"/>
                </a:solidFill>
                <a:latin typeface="微软雅黑"/>
                <a:ea typeface="微软雅黑"/>
                <a:cs typeface="微软雅黑"/>
              </a:rPr>
              <a:t>定指标与目标</a:t>
            </a:r>
            <a:endParaRPr sz="2000" b="0">
              <a:solidFill>
                <a:srgbClr val="0042FF"/>
              </a:solidFill>
              <a:latin typeface="微软雅黑"/>
              <a:ea typeface="微软雅黑"/>
              <a:cs typeface="微软雅黑"/>
            </a:endParaRPr>
          </a:p>
        </p:txBody>
      </p:sp>
      <p:cxnSp>
        <p:nvCxnSpPr>
          <p:cNvPr id="48" name="直接连接符 47"/>
          <p:cNvCxnSpPr/>
          <p:nvPr/>
        </p:nvCxnSpPr>
        <p:spPr>
          <a:xfrm>
            <a:off x="9105900" y="4535805"/>
            <a:ext cx="2607310" cy="0"/>
          </a:xfrm>
          <a:prstGeom prst="line">
            <a:avLst/>
          </a:prstGeom>
          <a:ln w="63500">
            <a:gradFill>
              <a:gsLst>
                <a:gs pos="0">
                  <a:srgbClr val="3368FF"/>
                </a:gs>
                <a:gs pos="0">
                  <a:srgbClr val="3368FF">
                    <a:alpha val="0"/>
                  </a:srgbClr>
                </a:gs>
                <a:gs pos="51000">
                  <a:srgbClr val="3368FF"/>
                </a:gs>
              </a:gsLst>
              <a:lin ang="0" scaled="1"/>
            </a:gradFill>
          </a:ln>
        </p:spPr>
        <p:style>
          <a:lnRef idx="2">
            <a:srgbClr val="0042FF"/>
          </a:lnRef>
          <a:fillRef idx="0">
            <a:srgbClr val="FFFFFF"/>
          </a:fillRef>
          <a:effectRef idx="0">
            <a:srgbClr val="FFFFFF"/>
          </a:effectRef>
          <a:fontRef idx="minor">
            <a:srgbClr val="383838"/>
          </a:fontRef>
        </p:style>
      </p:cxnSp>
      <p:sp>
        <p:nvSpPr>
          <p:cNvPr id="49" name="矩形 48"/>
          <p:cNvSpPr/>
          <p:nvPr/>
        </p:nvSpPr>
        <p:spPr>
          <a:xfrm>
            <a:off x="1103630" y="2499360"/>
            <a:ext cx="3620770" cy="545465"/>
          </a:xfrm>
          <a:prstGeom prst="rect">
            <a:avLst/>
          </a:prstGeom>
          <a:solidFill>
            <a:srgbClr val="E6E6E6">
              <a:alpha val="30000"/>
            </a:srgbClr>
          </a:solidFill>
          <a:ln>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50" name="文本框 49"/>
          <p:cNvSpPr txBox="1"/>
          <p:nvPr/>
        </p:nvSpPr>
        <p:spPr>
          <a:xfrm>
            <a:off x="1681480" y="2613660"/>
            <a:ext cx="2694940" cy="337185"/>
          </a:xfrm>
          <a:prstGeom prst="rect">
            <a:avLst/>
          </a:prstGeom>
          <a:noFill/>
        </p:spPr>
        <p:txBody>
          <a:bodyPr wrap="square" rtlCol="0">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使命、愿景、价值观</a:t>
            </a:r>
            <a:endParaRPr lang="zh-CN" altLang="en-US" sz="1600" b="1" dirty="0">
              <a:solidFill>
                <a:srgbClr val="0042FF"/>
              </a:solidFill>
              <a:latin typeface="微软雅黑"/>
              <a:ea typeface="微软雅黑"/>
              <a:cs typeface="微软雅黑"/>
            </a:endParaRPr>
          </a:p>
        </p:txBody>
      </p:sp>
      <p:sp>
        <p:nvSpPr>
          <p:cNvPr id="53" name="文本框 52"/>
          <p:cNvSpPr txBox="1"/>
          <p:nvPr/>
        </p:nvSpPr>
        <p:spPr>
          <a:xfrm>
            <a:off x="297815" y="3290570"/>
            <a:ext cx="690880" cy="460375"/>
          </a:xfrm>
          <a:prstGeom prst="rect">
            <a:avLst/>
          </a:prstGeom>
          <a:noFill/>
        </p:spPr>
        <p:txBody>
          <a:bodyPr wrap="square" rtlCol="0">
            <a:spAutoFit/>
          </a:bodyPr>
          <a:lstStyle/>
          <a:p>
            <a:pPr algn="ctr">
              <a:defRPr>
                <a:latin typeface="微软雅黑"/>
                <a:ea typeface="微软雅黑"/>
                <a:cs typeface="微软雅黑"/>
              </a:defRPr>
            </a:pPr>
            <a:r>
              <a:rPr lang="en-US" sz="1200" b="1" dirty="0">
                <a:solidFill>
                  <a:srgbClr val="383838">
                    <a:alpha val="80000"/>
                  </a:srgbClr>
                </a:solidFill>
                <a:latin typeface="微软雅黑"/>
                <a:ea typeface="微软雅黑"/>
                <a:cs typeface="微软雅黑"/>
              </a:rPr>
              <a:t>P</a:t>
            </a:r>
            <a:endParaRPr lang="en-US" sz="1200" b="1" dirty="0">
              <a:solidFill>
                <a:srgbClr val="383838">
                  <a:alpha val="80000"/>
                </a:srgbClr>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产品</a:t>
            </a:r>
            <a:endParaRPr lang="zh-CN" altLang="en-US" sz="1200" b="1" dirty="0">
              <a:solidFill>
                <a:srgbClr val="383838">
                  <a:alpha val="80000"/>
                </a:srgbClr>
              </a:solidFill>
              <a:latin typeface="微软雅黑"/>
              <a:ea typeface="微软雅黑"/>
              <a:cs typeface="微软雅黑"/>
            </a:endParaRPr>
          </a:p>
        </p:txBody>
      </p:sp>
      <p:sp>
        <p:nvSpPr>
          <p:cNvPr id="54" name="文本框 53"/>
          <p:cNvSpPr txBox="1"/>
          <p:nvPr/>
        </p:nvSpPr>
        <p:spPr>
          <a:xfrm>
            <a:off x="242570" y="4398645"/>
            <a:ext cx="800735" cy="645160"/>
          </a:xfrm>
          <a:prstGeom prst="rect">
            <a:avLst/>
          </a:prstGeom>
          <a:noFill/>
        </p:spPr>
        <p:txBody>
          <a:bodyPr wrap="square" rtlCol="0">
            <a:spAutoFit/>
          </a:bodyPr>
          <a:lstStyle/>
          <a:p>
            <a:pPr algn="ctr">
              <a:defRPr>
                <a:latin typeface="微软雅黑"/>
                <a:ea typeface="微软雅黑"/>
                <a:cs typeface="微软雅黑"/>
              </a:defRPr>
            </a:pPr>
            <a:r>
              <a:rPr lang="en-US" sz="1200" b="1" dirty="0">
                <a:solidFill>
                  <a:srgbClr val="383838">
                    <a:alpha val="80000"/>
                  </a:srgbClr>
                </a:solidFill>
                <a:latin typeface="微软雅黑"/>
                <a:ea typeface="微软雅黑"/>
                <a:cs typeface="微软雅黑"/>
              </a:rPr>
              <a:t>M</a:t>
            </a:r>
            <a:endParaRPr lang="en-US" sz="1200" b="1" dirty="0">
              <a:solidFill>
                <a:srgbClr val="383838">
                  <a:alpha val="80000"/>
                </a:srgbClr>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产品</a:t>
            </a:r>
            <a:endParaRPr lang="zh-CN" altLang="en-US" sz="1200" b="1" dirty="0">
              <a:solidFill>
                <a:srgbClr val="383838">
                  <a:alpha val="80000"/>
                </a:srgbClr>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系列</a:t>
            </a:r>
            <a:endParaRPr lang="zh-CN" altLang="en-US" sz="1200" b="1" dirty="0">
              <a:solidFill>
                <a:srgbClr val="383838">
                  <a:alpha val="80000"/>
                </a:srgbClr>
              </a:solidFill>
              <a:latin typeface="微软雅黑"/>
              <a:ea typeface="微软雅黑"/>
              <a:cs typeface="微软雅黑"/>
            </a:endParaRPr>
          </a:p>
        </p:txBody>
      </p:sp>
      <p:sp>
        <p:nvSpPr>
          <p:cNvPr id="55" name="文本框 54"/>
          <p:cNvSpPr txBox="1"/>
          <p:nvPr/>
        </p:nvSpPr>
        <p:spPr>
          <a:xfrm>
            <a:off x="297815" y="5680075"/>
            <a:ext cx="690880" cy="460375"/>
          </a:xfrm>
          <a:prstGeom prst="rect">
            <a:avLst/>
          </a:prstGeom>
          <a:noFill/>
        </p:spPr>
        <p:txBody>
          <a:bodyPr wrap="square" rtlCol="0">
            <a:spAutoFit/>
          </a:bodyPr>
          <a:lstStyle/>
          <a:p>
            <a:pPr algn="ctr">
              <a:defRPr>
                <a:latin typeface="微软雅黑"/>
                <a:ea typeface="微软雅黑"/>
                <a:cs typeface="微软雅黑"/>
              </a:defRPr>
            </a:pPr>
            <a:r>
              <a:rPr lang="en-US" sz="1200" b="1" dirty="0">
                <a:solidFill>
                  <a:srgbClr val="383838">
                    <a:alpha val="80000"/>
                  </a:srgbClr>
                </a:solidFill>
                <a:latin typeface="微软雅黑"/>
                <a:ea typeface="微软雅黑"/>
                <a:cs typeface="微软雅黑"/>
              </a:rPr>
              <a:t>O</a:t>
            </a:r>
            <a:endParaRPr lang="en-US" sz="1200" b="1" dirty="0">
              <a:solidFill>
                <a:srgbClr val="383838">
                  <a:alpha val="80000"/>
                </a:srgbClr>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延伸</a:t>
            </a:r>
            <a:endParaRPr lang="zh-CN" altLang="en-US" sz="1200" b="1" dirty="0">
              <a:solidFill>
                <a:srgbClr val="383838">
                  <a:alpha val="80000"/>
                </a:srgbClr>
              </a:solidFill>
              <a:latin typeface="微软雅黑"/>
              <a:ea typeface="微软雅黑"/>
              <a:cs typeface="微软雅黑"/>
            </a:endParaRPr>
          </a:p>
        </p:txBody>
      </p:sp>
      <p:sp>
        <p:nvSpPr>
          <p:cNvPr id="56" name="矩形: 圆角 48"/>
          <p:cNvSpPr/>
          <p:nvPr/>
        </p:nvSpPr>
        <p:spPr>
          <a:xfrm>
            <a:off x="6003925" y="1696085"/>
            <a:ext cx="5647690" cy="2238375"/>
          </a:xfrm>
          <a:prstGeom prst="roundRect">
            <a:avLst>
              <a:gd name="adj" fmla="val 2567"/>
            </a:avLst>
          </a:prstGeom>
          <a:solidFill>
            <a:srgbClr val="3368FF">
              <a:alpha val="5000"/>
            </a:srgbClr>
          </a:solidFill>
          <a:ln>
            <a:solidFill>
              <a:srgbClr val="3368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89" name="Rectangle: Top Corners Rounded 32"/>
          <p:cNvSpPr/>
          <p:nvPr/>
        </p:nvSpPr>
        <p:spPr>
          <a:xfrm>
            <a:off x="8500745" y="2280920"/>
            <a:ext cx="899795" cy="899795"/>
          </a:xfrm>
          <a:prstGeom prst="ellipse">
            <a:avLst/>
          </a:prstGeom>
          <a:solidFill>
            <a:srgbClr val="FFFFFF">
              <a:alpha val="70000"/>
            </a:srgbClr>
          </a:solidFill>
          <a:ln w="381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dirty="0">
              <a:solidFill>
                <a:srgbClr val="FFFFFF"/>
              </a:solidFill>
              <a:latin typeface="微软雅黑"/>
              <a:ea typeface="微软雅黑"/>
              <a:cs typeface="微软雅黑"/>
              <a:sym typeface="微软雅黑"/>
            </a:endParaRPr>
          </a:p>
        </p:txBody>
      </p:sp>
      <p:sp>
        <p:nvSpPr>
          <p:cNvPr id="90" name="Rectangle: Top Corners Rounded 32"/>
          <p:cNvSpPr>
            <a:spLocks noChangeAspect="1"/>
          </p:cNvSpPr>
          <p:nvPr/>
        </p:nvSpPr>
        <p:spPr>
          <a:xfrm>
            <a:off x="8572500" y="2363153"/>
            <a:ext cx="756285" cy="756285"/>
          </a:xfrm>
          <a:prstGeom prst="ellipse">
            <a:avLst/>
          </a:prstGeom>
          <a:gradFill flip="none" rotWithShape="1">
            <a:gsLst>
              <a:gs pos="15000">
                <a:srgbClr val="B3D4FE"/>
              </a:gs>
              <a:gs pos="67000">
                <a:srgbClr val="3368FF"/>
              </a:gs>
            </a:gsLst>
            <a:lin ang="2700000" scaled="1"/>
            <a:tileRect/>
          </a:gradFill>
          <a:ln>
            <a:noFill/>
          </a:ln>
          <a:effectLst>
            <a:innerShdw blurRad="3048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b="1" dirty="0">
                <a:solidFill>
                  <a:srgbClr val="FFFFFF"/>
                </a:solidFill>
                <a:latin typeface="微软雅黑"/>
                <a:ea typeface="微软雅黑"/>
                <a:cs typeface="微软雅黑"/>
                <a:sym typeface="微软雅黑"/>
              </a:rPr>
              <a:t>会员的深度运营</a:t>
            </a:r>
            <a:endParaRPr lang="en-US" altLang="zh-CN" sz="1000" b="1" dirty="0">
              <a:solidFill>
                <a:srgbClr val="FFFFFF"/>
              </a:solidFill>
              <a:latin typeface="微软雅黑"/>
              <a:ea typeface="微软雅黑"/>
              <a:cs typeface="微软雅黑"/>
              <a:sym typeface="微软雅黑"/>
            </a:endParaRPr>
          </a:p>
        </p:txBody>
      </p:sp>
      <p:cxnSp>
        <p:nvCxnSpPr>
          <p:cNvPr id="92" name="直接连接符 1127"/>
          <p:cNvCxnSpPr/>
          <p:nvPr/>
        </p:nvCxnSpPr>
        <p:spPr>
          <a:xfrm flipH="1">
            <a:off x="8950325" y="2043430"/>
            <a:ext cx="0" cy="215900"/>
          </a:xfrm>
          <a:prstGeom prst="line">
            <a:avLst/>
          </a:prstGeom>
          <a:ln>
            <a:solidFill>
              <a:srgbClr val="DCDCDC"/>
            </a:solidFill>
            <a:tailEnd type="none"/>
          </a:ln>
        </p:spPr>
        <p:style>
          <a:lnRef idx="1">
            <a:srgbClr val="0042FF"/>
          </a:lnRef>
          <a:fillRef idx="0">
            <a:srgbClr val="0042FF"/>
          </a:fillRef>
          <a:effectRef idx="0">
            <a:srgbClr val="0042FF"/>
          </a:effectRef>
          <a:fontRef idx="minor">
            <a:srgbClr val="383838"/>
          </a:fontRef>
        </p:style>
      </p:cxnSp>
      <p:cxnSp>
        <p:nvCxnSpPr>
          <p:cNvPr id="93" name="直接箭头连接符 1129"/>
          <p:cNvCxnSpPr/>
          <p:nvPr/>
        </p:nvCxnSpPr>
        <p:spPr>
          <a:xfrm>
            <a:off x="8950325" y="3156585"/>
            <a:ext cx="0" cy="396240"/>
          </a:xfrm>
          <a:prstGeom prst="straightConnector1">
            <a:avLst/>
          </a:prstGeom>
          <a:ln>
            <a:solidFill>
              <a:srgbClr val="DCDCDC"/>
            </a:solidFill>
            <a:tailEnd type="triangle"/>
          </a:ln>
        </p:spPr>
        <p:style>
          <a:lnRef idx="1">
            <a:srgbClr val="0042FF"/>
          </a:lnRef>
          <a:fillRef idx="0">
            <a:srgbClr val="0042FF"/>
          </a:fillRef>
          <a:effectRef idx="0">
            <a:srgbClr val="0042FF"/>
          </a:effectRef>
          <a:fontRef idx="minor">
            <a:srgbClr val="383838"/>
          </a:fontRef>
        </p:style>
      </p:cxnSp>
      <p:cxnSp>
        <p:nvCxnSpPr>
          <p:cNvPr id="95" name="连接符: 肘形 1132"/>
          <p:cNvCxnSpPr/>
          <p:nvPr/>
        </p:nvCxnSpPr>
        <p:spPr>
          <a:xfrm rot="5400000" flipH="1" flipV="1">
            <a:off x="8963025" y="713105"/>
            <a:ext cx="6985" cy="3096260"/>
          </a:xfrm>
          <a:prstGeom prst="bentConnector3">
            <a:avLst>
              <a:gd name="adj1" fmla="val 1800000"/>
            </a:avLst>
          </a:prstGeom>
          <a:ln>
            <a:solidFill>
              <a:srgbClr val="DCDCDC"/>
            </a:solidFill>
            <a:headEnd type="triangle"/>
            <a:tailEnd type="triangle"/>
          </a:ln>
        </p:spPr>
        <p:style>
          <a:lnRef idx="1">
            <a:srgbClr val="0042FF"/>
          </a:lnRef>
          <a:fillRef idx="0">
            <a:srgbClr val="0042FF"/>
          </a:fillRef>
          <a:effectRef idx="0">
            <a:srgbClr val="0042FF"/>
          </a:effectRef>
          <a:fontRef idx="minor">
            <a:srgbClr val="383838"/>
          </a:fontRef>
        </p:style>
      </p:cxnSp>
      <p:cxnSp>
        <p:nvCxnSpPr>
          <p:cNvPr id="96" name="连接符: 肘形 1133"/>
          <p:cNvCxnSpPr/>
          <p:nvPr/>
        </p:nvCxnSpPr>
        <p:spPr>
          <a:xfrm rot="16200000" flipH="1">
            <a:off x="8951595" y="1790700"/>
            <a:ext cx="6985" cy="3096260"/>
          </a:xfrm>
          <a:prstGeom prst="bentConnector3">
            <a:avLst>
              <a:gd name="adj1" fmla="val 1800000"/>
            </a:avLst>
          </a:prstGeom>
          <a:ln>
            <a:solidFill>
              <a:srgbClr val="DCDCDC"/>
            </a:solidFill>
            <a:headEnd type="triangle"/>
            <a:tailEnd type="triangle"/>
          </a:ln>
        </p:spPr>
        <p:style>
          <a:lnRef idx="1">
            <a:srgbClr val="0042FF"/>
          </a:lnRef>
          <a:fillRef idx="0">
            <a:srgbClr val="0042FF"/>
          </a:fillRef>
          <a:effectRef idx="0">
            <a:srgbClr val="0042FF"/>
          </a:effectRef>
          <a:fontRef idx="minor">
            <a:srgbClr val="383838"/>
          </a:fontRef>
        </p:style>
      </p:cxnSp>
      <p:sp>
        <p:nvSpPr>
          <p:cNvPr id="97" name="文本框 96"/>
          <p:cNvSpPr txBox="1"/>
          <p:nvPr/>
        </p:nvSpPr>
        <p:spPr>
          <a:xfrm>
            <a:off x="6619875" y="2116455"/>
            <a:ext cx="764540" cy="270510"/>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三位一体</a:t>
            </a:r>
            <a:endParaRPr lang="zh-CN" altLang="en-US" sz="1000" dirty="0">
              <a:solidFill>
                <a:srgbClr val="383838"/>
              </a:solidFill>
              <a:latin typeface="微软雅黑"/>
              <a:ea typeface="微软雅黑"/>
              <a:cs typeface="微软雅黑"/>
            </a:endParaRPr>
          </a:p>
        </p:txBody>
      </p:sp>
      <p:sp>
        <p:nvSpPr>
          <p:cNvPr id="98" name="文本框 97"/>
          <p:cNvSpPr txBox="1"/>
          <p:nvPr/>
        </p:nvSpPr>
        <p:spPr>
          <a:xfrm>
            <a:off x="7648575" y="2116455"/>
            <a:ext cx="764540" cy="26098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体系搭建</a:t>
            </a:r>
            <a:endParaRPr lang="zh-CN" altLang="en-US" sz="1000" dirty="0">
              <a:solidFill>
                <a:srgbClr val="383838"/>
              </a:solidFill>
              <a:latin typeface="微软雅黑"/>
              <a:ea typeface="微软雅黑"/>
              <a:cs typeface="微软雅黑"/>
            </a:endParaRPr>
          </a:p>
        </p:txBody>
      </p:sp>
      <p:sp>
        <p:nvSpPr>
          <p:cNvPr id="99" name="文本框 98"/>
          <p:cNvSpPr txBox="1"/>
          <p:nvPr/>
        </p:nvSpPr>
        <p:spPr>
          <a:xfrm>
            <a:off x="9585325" y="2147570"/>
            <a:ext cx="764540" cy="22987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公域场景化</a:t>
            </a:r>
            <a:endParaRPr lang="zh-CN" altLang="en-US" sz="1000" dirty="0">
              <a:solidFill>
                <a:srgbClr val="383838"/>
              </a:solidFill>
              <a:latin typeface="微软雅黑"/>
              <a:ea typeface="微软雅黑"/>
              <a:cs typeface="微软雅黑"/>
            </a:endParaRPr>
          </a:p>
        </p:txBody>
      </p:sp>
      <p:cxnSp>
        <p:nvCxnSpPr>
          <p:cNvPr id="100" name="直接箭头连接符 1139"/>
          <p:cNvCxnSpPr/>
          <p:nvPr/>
        </p:nvCxnSpPr>
        <p:spPr>
          <a:xfrm>
            <a:off x="9400540" y="2712720"/>
            <a:ext cx="639445" cy="0"/>
          </a:xfrm>
          <a:prstGeom prst="straightConnector1">
            <a:avLst/>
          </a:prstGeom>
          <a:ln>
            <a:solidFill>
              <a:srgbClr val="DCDCDC"/>
            </a:solidFill>
            <a:headEnd type="triangle"/>
            <a:tailEnd type="triangle"/>
          </a:ln>
        </p:spPr>
        <p:style>
          <a:lnRef idx="1">
            <a:srgbClr val="0042FF"/>
          </a:lnRef>
          <a:fillRef idx="0">
            <a:srgbClr val="0042FF"/>
          </a:fillRef>
          <a:effectRef idx="0">
            <a:srgbClr val="0042FF"/>
          </a:effectRef>
          <a:fontRef idx="minor">
            <a:srgbClr val="383838"/>
          </a:fontRef>
        </p:style>
      </p:cxnSp>
      <p:cxnSp>
        <p:nvCxnSpPr>
          <p:cNvPr id="101" name="直接箭头连接符 1140"/>
          <p:cNvCxnSpPr/>
          <p:nvPr/>
        </p:nvCxnSpPr>
        <p:spPr>
          <a:xfrm>
            <a:off x="7860665" y="2712720"/>
            <a:ext cx="639445" cy="0"/>
          </a:xfrm>
          <a:prstGeom prst="straightConnector1">
            <a:avLst/>
          </a:prstGeom>
          <a:ln>
            <a:solidFill>
              <a:srgbClr val="DCDCDC"/>
            </a:solidFill>
            <a:headEnd type="triangle"/>
            <a:tailEnd type="triangle"/>
          </a:ln>
        </p:spPr>
        <p:style>
          <a:lnRef idx="1">
            <a:srgbClr val="0042FF"/>
          </a:lnRef>
          <a:fillRef idx="0">
            <a:srgbClr val="0042FF"/>
          </a:fillRef>
          <a:effectRef idx="0">
            <a:srgbClr val="0042FF"/>
          </a:effectRef>
          <a:fontRef idx="minor">
            <a:srgbClr val="383838"/>
          </a:fontRef>
        </p:style>
      </p:cxnSp>
      <p:sp>
        <p:nvSpPr>
          <p:cNvPr id="102" name="文本框 101"/>
          <p:cNvSpPr txBox="1"/>
          <p:nvPr/>
        </p:nvSpPr>
        <p:spPr>
          <a:xfrm>
            <a:off x="7800340" y="2717800"/>
            <a:ext cx="764540" cy="260985"/>
          </a:xfrm>
          <a:prstGeom prst="rect">
            <a:avLst/>
          </a:prstGeom>
          <a:noFill/>
          <a:ln>
            <a:noFill/>
          </a:ln>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en-US" altLang="zh-CN" sz="1000" dirty="0">
                <a:solidFill>
                  <a:srgbClr val="383838"/>
                </a:solidFill>
                <a:latin typeface="微软雅黑"/>
                <a:ea typeface="微软雅黑"/>
                <a:cs typeface="微软雅黑"/>
              </a:rPr>
              <a:t>One ID</a:t>
            </a:r>
            <a:endParaRPr lang="en-US" altLang="zh-CN" sz="1000" dirty="0">
              <a:solidFill>
                <a:srgbClr val="383838"/>
              </a:solidFill>
              <a:latin typeface="微软雅黑"/>
              <a:ea typeface="微软雅黑"/>
              <a:cs typeface="微软雅黑"/>
            </a:endParaRPr>
          </a:p>
        </p:txBody>
      </p:sp>
      <p:sp>
        <p:nvSpPr>
          <p:cNvPr id="105" name="文本框 104"/>
          <p:cNvSpPr txBox="1"/>
          <p:nvPr/>
        </p:nvSpPr>
        <p:spPr>
          <a:xfrm>
            <a:off x="9355455" y="2717800"/>
            <a:ext cx="764540" cy="26098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场连接</a:t>
            </a:r>
            <a:endParaRPr lang="zh-CN" altLang="en-US" sz="1000" dirty="0">
              <a:solidFill>
                <a:srgbClr val="383838"/>
              </a:solidFill>
              <a:latin typeface="微软雅黑"/>
              <a:ea typeface="微软雅黑"/>
              <a:cs typeface="微软雅黑"/>
            </a:endParaRPr>
          </a:p>
        </p:txBody>
      </p:sp>
      <p:sp>
        <p:nvSpPr>
          <p:cNvPr id="106" name="文本框 105"/>
          <p:cNvSpPr txBox="1"/>
          <p:nvPr/>
        </p:nvSpPr>
        <p:spPr>
          <a:xfrm>
            <a:off x="6892925" y="3153410"/>
            <a:ext cx="1062990" cy="26098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消费者统一体验</a:t>
            </a:r>
            <a:endParaRPr lang="zh-CN" altLang="en-US" sz="1000" dirty="0">
              <a:solidFill>
                <a:srgbClr val="383838"/>
              </a:solidFill>
              <a:latin typeface="微软雅黑"/>
              <a:ea typeface="微软雅黑"/>
              <a:cs typeface="微软雅黑"/>
            </a:endParaRPr>
          </a:p>
        </p:txBody>
      </p:sp>
      <p:sp>
        <p:nvSpPr>
          <p:cNvPr id="107" name="文本框 106"/>
          <p:cNvSpPr txBox="1"/>
          <p:nvPr/>
        </p:nvSpPr>
        <p:spPr>
          <a:xfrm>
            <a:off x="9983470" y="3153410"/>
            <a:ext cx="1062990" cy="270510"/>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公私域协同运营</a:t>
            </a:r>
            <a:endParaRPr lang="zh-CN" altLang="en-US" sz="1000" dirty="0">
              <a:solidFill>
                <a:srgbClr val="383838"/>
              </a:solidFill>
              <a:latin typeface="微软雅黑"/>
              <a:ea typeface="微软雅黑"/>
              <a:cs typeface="微软雅黑"/>
            </a:endParaRPr>
          </a:p>
        </p:txBody>
      </p:sp>
      <p:sp>
        <p:nvSpPr>
          <p:cNvPr id="108" name="Rectangle: Top Corners Rounded 32"/>
          <p:cNvSpPr/>
          <p:nvPr/>
        </p:nvSpPr>
        <p:spPr>
          <a:xfrm>
            <a:off x="7957820" y="1793875"/>
            <a:ext cx="2006600" cy="252095"/>
          </a:xfrm>
          <a:prstGeom prst="round2SameRect">
            <a:avLst>
              <a:gd name="adj1" fmla="val 6470"/>
              <a:gd name="adj2" fmla="val 12821"/>
            </a:avLst>
          </a:prstGeom>
          <a:solidFill>
            <a:srgbClr val="3368FF"/>
          </a:solid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a:lstStyle/>
          <a:p>
            <a:pPr algn="ctr">
              <a:defRPr>
                <a:solidFill>
                  <a:srgbClr val="FFFFFF"/>
                </a:solidFill>
                <a:latin typeface="微软雅黑"/>
                <a:ea typeface="微软雅黑"/>
                <a:cs typeface="微软雅黑"/>
              </a:defRPr>
            </a:pPr>
            <a:r>
              <a:rPr lang="zh-CN" altLang="en-US" sz="1050" kern="0" dirty="0">
                <a:solidFill>
                  <a:srgbClr val="FFFFFF"/>
                </a:solidFill>
                <a:latin typeface="微软雅黑"/>
                <a:ea typeface="微软雅黑"/>
                <a:cs typeface="微软雅黑"/>
                <a:sym typeface="微软雅黑"/>
              </a:rPr>
              <a:t>品牌运营的增长飞轮</a:t>
            </a:r>
            <a:endParaRPr lang="zh-CN" altLang="en-US" sz="1050" kern="0" dirty="0">
              <a:solidFill>
                <a:srgbClr val="FFFFFF"/>
              </a:solidFill>
              <a:latin typeface="微软雅黑"/>
              <a:ea typeface="微软雅黑"/>
              <a:cs typeface="微软雅黑"/>
              <a:sym typeface="微软雅黑"/>
            </a:endParaRPr>
          </a:p>
        </p:txBody>
      </p:sp>
      <p:sp>
        <p:nvSpPr>
          <p:cNvPr id="91" name="Rectangle: Top Corners Rounded 32"/>
          <p:cNvSpPr/>
          <p:nvPr/>
        </p:nvSpPr>
        <p:spPr>
          <a:xfrm>
            <a:off x="7849235" y="3556635"/>
            <a:ext cx="2181860" cy="252095"/>
          </a:xfrm>
          <a:prstGeom prst="round2SameRect">
            <a:avLst>
              <a:gd name="adj1" fmla="val 6470"/>
              <a:gd name="adj2" fmla="val 12821"/>
            </a:avLst>
          </a:prstGeom>
          <a:solidFill>
            <a:srgbClr val="3368FF"/>
          </a:solid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a:lstStyle/>
          <a:p>
            <a:pPr algn="ctr">
              <a:defRPr>
                <a:solidFill>
                  <a:srgbClr val="FFFFFF"/>
                </a:solidFill>
                <a:latin typeface="微软雅黑"/>
                <a:ea typeface="微软雅黑"/>
                <a:cs typeface="微软雅黑"/>
              </a:defRPr>
            </a:pPr>
            <a:r>
              <a:rPr lang="zh-CN" altLang="en-US" sz="1050" kern="0" dirty="0">
                <a:solidFill>
                  <a:srgbClr val="FFFFFF"/>
                </a:solidFill>
                <a:latin typeface="微软雅黑"/>
                <a:ea typeface="微软雅黑"/>
                <a:cs typeface="微软雅黑"/>
                <a:sym typeface="微软雅黑"/>
              </a:rPr>
              <a:t>品牌全渠道可持续性运营用户</a:t>
            </a:r>
            <a:endParaRPr lang="zh-CN" altLang="en-US" sz="1050" kern="0" dirty="0">
              <a:solidFill>
                <a:srgbClr val="FFFFFF"/>
              </a:solidFill>
              <a:latin typeface="微软雅黑"/>
              <a:ea typeface="微软雅黑"/>
              <a:cs typeface="微软雅黑"/>
              <a:sym typeface="微软雅黑"/>
            </a:endParaRPr>
          </a:p>
        </p:txBody>
      </p:sp>
      <p:sp>
        <p:nvSpPr>
          <p:cNvPr id="94" name="AutoShape 8" descr="天猫logo|网页|电商|阿戈同学 - 原创作品 - 站酷 (ZCOOL)"/>
          <p:cNvSpPr>
            <a:spLocks noChangeAspect="1" noChangeArrowheads="1"/>
          </p:cNvSpPr>
          <p:nvPr/>
        </p:nvSpPr>
        <p:spPr bwMode="auto">
          <a:xfrm>
            <a:off x="10285730" y="226504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pic>
        <p:nvPicPr>
          <p:cNvPr id="103" name="图片 102" descr="使命"/>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484630" y="2569845"/>
            <a:ext cx="347980" cy="347980"/>
          </a:xfrm>
          <a:prstGeom prst="rect">
            <a:avLst/>
          </a:prstGeom>
        </p:spPr>
      </p:pic>
      <p:sp>
        <p:nvSpPr>
          <p:cNvPr id="109" name="矩形 108"/>
          <p:cNvSpPr/>
          <p:nvPr/>
        </p:nvSpPr>
        <p:spPr>
          <a:xfrm>
            <a:off x="1254125" y="4119880"/>
            <a:ext cx="539750" cy="1270000"/>
          </a:xfrm>
          <a:prstGeom prst="rect">
            <a:avLst/>
          </a:prstGeom>
          <a:solidFill>
            <a:srgbClr val="FFFFFF">
              <a:alpha val="50000"/>
            </a:srgbClr>
          </a:solidFill>
          <a:ln>
            <a:solidFill>
              <a:srgbClr val="B3D4FE">
                <a:alpha val="8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10" name="矩形 109"/>
          <p:cNvSpPr/>
          <p:nvPr/>
        </p:nvSpPr>
        <p:spPr>
          <a:xfrm>
            <a:off x="1972310" y="4119880"/>
            <a:ext cx="539750" cy="1270000"/>
          </a:xfrm>
          <a:prstGeom prst="rect">
            <a:avLst/>
          </a:prstGeom>
          <a:solidFill>
            <a:srgbClr val="FFFFFF">
              <a:alpha val="50000"/>
            </a:srgbClr>
          </a:solidFill>
          <a:ln>
            <a:solidFill>
              <a:srgbClr val="B3D4FE">
                <a:alpha val="8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83" name="矩形 182"/>
          <p:cNvSpPr/>
          <p:nvPr/>
        </p:nvSpPr>
        <p:spPr>
          <a:xfrm>
            <a:off x="2690495" y="4119880"/>
            <a:ext cx="539750" cy="1270000"/>
          </a:xfrm>
          <a:prstGeom prst="rect">
            <a:avLst/>
          </a:prstGeom>
          <a:solidFill>
            <a:srgbClr val="FFFFFF">
              <a:alpha val="50000"/>
            </a:srgbClr>
          </a:solidFill>
          <a:ln>
            <a:solidFill>
              <a:srgbClr val="B3D4FE">
                <a:alpha val="8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2" name="矩形 111"/>
          <p:cNvSpPr/>
          <p:nvPr/>
        </p:nvSpPr>
        <p:spPr>
          <a:xfrm>
            <a:off x="3408680" y="4137025"/>
            <a:ext cx="539750" cy="1270000"/>
          </a:xfrm>
          <a:prstGeom prst="rect">
            <a:avLst/>
          </a:prstGeom>
          <a:solidFill>
            <a:srgbClr val="E6E6E6">
              <a:alpha val="50000"/>
            </a:srgbClr>
          </a:solidFill>
          <a:ln>
            <a:solidFill>
              <a:srgbClr val="3368FF">
                <a:alpha val="8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00" name="矩形 199"/>
          <p:cNvSpPr/>
          <p:nvPr/>
        </p:nvSpPr>
        <p:spPr>
          <a:xfrm>
            <a:off x="4126865" y="4137025"/>
            <a:ext cx="539750" cy="1270000"/>
          </a:xfrm>
          <a:prstGeom prst="rect">
            <a:avLst/>
          </a:prstGeom>
          <a:solidFill>
            <a:srgbClr val="E6E6E6">
              <a:alpha val="50000"/>
            </a:srgbClr>
          </a:solidFill>
          <a:ln>
            <a:solidFill>
              <a:srgbClr val="3368FF">
                <a:alpha val="8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0" name="文本框 119"/>
          <p:cNvSpPr txBox="1"/>
          <p:nvPr/>
        </p:nvSpPr>
        <p:spPr>
          <a:xfrm>
            <a:off x="1280795" y="4145915"/>
            <a:ext cx="519430" cy="1198245"/>
          </a:xfrm>
          <a:prstGeom prst="rect">
            <a:avLst/>
          </a:prstGeom>
          <a:noFill/>
        </p:spPr>
        <p:txBody>
          <a:bodyPr vert="mongolianVert" wrap="square" rtlCol="0" lIns="0" rIns="0" tIns="0" bIns="0">
            <a:noAutofit/>
          </a:bodyPr>
          <a:lstStyle/>
          <a:p>
            <a:pPr algn="l">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家电系列：</a:t>
            </a:r>
            <a:r>
              <a:rPr lang="zh-CN" altLang="en-US" sz="1000" dirty="0">
                <a:solidFill>
                  <a:srgbClr val="383838"/>
                </a:solidFill>
                <a:latin typeface="微软雅黑"/>
                <a:ea typeface="微软雅黑"/>
                <a:cs typeface="微软雅黑"/>
                <a:sym typeface="微软雅黑"/>
              </a:rPr>
              <a:t>净水器、空调、扫地机器人</a:t>
            </a:r>
            <a:endParaRPr lang="zh-CN" altLang="en-US" sz="1000" dirty="0">
              <a:solidFill>
                <a:srgbClr val="383838"/>
              </a:solidFill>
              <a:latin typeface="微软雅黑"/>
              <a:ea typeface="微软雅黑"/>
              <a:cs typeface="微软雅黑"/>
              <a:sym typeface="微软雅黑"/>
            </a:endParaRPr>
          </a:p>
        </p:txBody>
      </p:sp>
      <p:sp>
        <p:nvSpPr>
          <p:cNvPr id="121" name="文本框 120"/>
          <p:cNvSpPr txBox="1"/>
          <p:nvPr/>
        </p:nvSpPr>
        <p:spPr>
          <a:xfrm>
            <a:off x="1939290" y="4145915"/>
            <a:ext cx="578485" cy="1198245"/>
          </a:xfrm>
          <a:prstGeom prst="rect">
            <a:avLst/>
          </a:prstGeom>
          <a:noFill/>
        </p:spPr>
        <p:txBody>
          <a:bodyPr vert="mongolianVert" wrap="square" rtlCol="0" lIns="0" rIns="0" tIns="0" bIns="0">
            <a:noAutofit/>
          </a:bodyPr>
          <a:lstStyle/>
          <a:p>
            <a:pPr algn="l">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影音系列：</a:t>
            </a:r>
            <a:r>
              <a:rPr lang="zh-CN" altLang="en-US" sz="1000" dirty="0">
                <a:solidFill>
                  <a:srgbClr val="383838"/>
                </a:solidFill>
                <a:latin typeface="微软雅黑"/>
                <a:ea typeface="微软雅黑"/>
                <a:cs typeface="微软雅黑"/>
                <a:sym typeface="微软雅黑"/>
              </a:rPr>
              <a:t>电视机、智能</a:t>
            </a:r>
            <a:r>
              <a:rPr lang="zh-CN" altLang="en-US" sz="1000" b="1" dirty="0">
                <a:solidFill>
                  <a:srgbClr val="383838"/>
                </a:solidFill>
                <a:latin typeface="微软雅黑"/>
                <a:ea typeface="微软雅黑"/>
                <a:cs typeface="微软雅黑"/>
                <a:sym typeface="微软雅黑"/>
              </a:rPr>
              <a:t>音箱</a:t>
            </a:r>
            <a:r>
              <a:rPr lang="zh-CN" altLang="en-US" sz="1000" dirty="0">
                <a:solidFill>
                  <a:srgbClr val="383838"/>
                </a:solidFill>
                <a:latin typeface="微软雅黑"/>
                <a:ea typeface="微软雅黑"/>
                <a:cs typeface="微软雅黑"/>
                <a:sym typeface="微软雅黑"/>
              </a:rPr>
              <a:t>、路由器、摄像机等</a:t>
            </a:r>
            <a:endParaRPr lang="zh-CN" altLang="en-US" sz="1000" dirty="0">
              <a:solidFill>
                <a:srgbClr val="383838"/>
              </a:solidFill>
              <a:latin typeface="微软雅黑"/>
              <a:ea typeface="微软雅黑"/>
              <a:cs typeface="微软雅黑"/>
              <a:sym typeface="微软雅黑"/>
            </a:endParaRPr>
          </a:p>
        </p:txBody>
      </p:sp>
      <p:sp>
        <p:nvSpPr>
          <p:cNvPr id="123" name="文本框 122"/>
          <p:cNvSpPr txBox="1"/>
          <p:nvPr/>
        </p:nvSpPr>
        <p:spPr>
          <a:xfrm>
            <a:off x="2665095" y="4145915"/>
            <a:ext cx="578485" cy="1198245"/>
          </a:xfrm>
          <a:prstGeom prst="rect">
            <a:avLst/>
          </a:prstGeom>
          <a:noFill/>
        </p:spPr>
        <p:txBody>
          <a:bodyPr vert="mongolianVert" wrap="square" rtlCol="0" lIns="0" rIns="0" tIns="0" bIns="0">
            <a:noAutofit/>
          </a:bodyPr>
          <a:lstStyle/>
          <a:p>
            <a:pPr algn="l">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厨房家电：</a:t>
            </a:r>
            <a:r>
              <a:rPr lang="zh-CN" altLang="en-US" sz="1000" dirty="0">
                <a:solidFill>
                  <a:srgbClr val="383838"/>
                </a:solidFill>
                <a:latin typeface="微软雅黑"/>
                <a:ea typeface="微软雅黑"/>
                <a:cs typeface="微软雅黑"/>
                <a:sym typeface="微软雅黑"/>
              </a:rPr>
              <a:t>净水器、空气炸锅、电饭煲、炒菜机、净烟器</a:t>
            </a:r>
            <a:endParaRPr lang="zh-CN" altLang="en-US" sz="1000" dirty="0">
              <a:solidFill>
                <a:srgbClr val="383838"/>
              </a:solidFill>
              <a:latin typeface="微软雅黑"/>
              <a:ea typeface="微软雅黑"/>
              <a:cs typeface="微软雅黑"/>
              <a:sym typeface="微软雅黑"/>
            </a:endParaRPr>
          </a:p>
        </p:txBody>
      </p:sp>
      <p:sp>
        <p:nvSpPr>
          <p:cNvPr id="124" name="文本框 123"/>
          <p:cNvSpPr txBox="1"/>
          <p:nvPr/>
        </p:nvSpPr>
        <p:spPr>
          <a:xfrm>
            <a:off x="3389630" y="4170680"/>
            <a:ext cx="393700" cy="1198245"/>
          </a:xfrm>
          <a:prstGeom prst="rect">
            <a:avLst/>
          </a:prstGeom>
          <a:noFill/>
        </p:spPr>
        <p:txBody>
          <a:bodyPr vert="mongolianVert" wrap="square" rtlCol="0" lIns="0" rIns="0" tIns="0" bIns="0">
            <a:noAutofit/>
          </a:bodyPr>
          <a:lstStyle/>
          <a:p>
            <a:pPr algn="l">
              <a:defRPr>
                <a:latin typeface="微软雅黑"/>
                <a:ea typeface="微软雅黑"/>
                <a:cs typeface="微软雅黑"/>
              </a:defRPr>
            </a:pPr>
            <a:r>
              <a:rPr lang="zh-CN" altLang="en-US" sz="1000" b="1">
                <a:solidFill>
                  <a:srgbClr val="383838"/>
                </a:solidFill>
                <a:latin typeface="微软雅黑"/>
                <a:ea typeface="微软雅黑"/>
                <a:cs typeface="微软雅黑"/>
              </a:rPr>
              <a:t>办公设备系列：</a:t>
            </a:r>
            <a:r>
              <a:rPr lang="zh-CN" altLang="en-US" sz="1000">
                <a:solidFill>
                  <a:srgbClr val="383838"/>
                </a:solidFill>
                <a:latin typeface="微软雅黑"/>
                <a:ea typeface="微软雅黑"/>
                <a:cs typeface="微软雅黑"/>
              </a:rPr>
              <a:t>笔记本、打印机、桌面快充插座</a:t>
            </a:r>
            <a:endParaRPr lang="zh-CN" altLang="en-US" sz="1000">
              <a:solidFill>
                <a:srgbClr val="383838"/>
              </a:solidFill>
              <a:latin typeface="微软雅黑"/>
              <a:ea typeface="微软雅黑"/>
              <a:cs typeface="微软雅黑"/>
            </a:endParaRPr>
          </a:p>
        </p:txBody>
      </p:sp>
      <p:sp>
        <p:nvSpPr>
          <p:cNvPr id="125" name="文本框 124"/>
          <p:cNvSpPr txBox="1"/>
          <p:nvPr/>
        </p:nvSpPr>
        <p:spPr>
          <a:xfrm>
            <a:off x="4164330" y="4181475"/>
            <a:ext cx="414655" cy="1198245"/>
          </a:xfrm>
          <a:prstGeom prst="rect">
            <a:avLst/>
          </a:prstGeom>
          <a:noFill/>
        </p:spPr>
        <p:txBody>
          <a:bodyPr vert="mongolianVert" wrap="square" rtlCol="0" lIns="0" rIns="0" tIns="0" bIns="0">
            <a:noAutofit/>
          </a:bodyPr>
          <a:lstStyle/>
          <a:p>
            <a:pPr algn="l">
              <a:defRPr>
                <a:latin typeface="微软雅黑"/>
                <a:ea typeface="微软雅黑"/>
                <a:cs typeface="微软雅黑"/>
              </a:defRPr>
            </a:pPr>
            <a:r>
              <a:rPr lang="zh-CN" altLang="en-US" sz="1000">
                <a:solidFill>
                  <a:srgbClr val="383838"/>
                </a:solidFill>
                <a:latin typeface="微软雅黑"/>
                <a:ea typeface="微软雅黑"/>
                <a:cs typeface="微软雅黑"/>
              </a:rPr>
              <a:t>互联互通，整合生态互联技术</a:t>
            </a:r>
            <a:endParaRPr lang="zh-CN" altLang="en-US" sz="1000">
              <a:solidFill>
                <a:srgbClr val="383838"/>
              </a:solidFill>
              <a:latin typeface="微软雅黑"/>
              <a:ea typeface="微软雅黑"/>
              <a:cs typeface="微软雅黑"/>
            </a:endParaRPr>
          </a:p>
        </p:txBody>
      </p:sp>
      <p:cxnSp>
        <p:nvCxnSpPr>
          <p:cNvPr id="127" name="直线连接符 11"/>
          <p:cNvCxnSpPr/>
          <p:nvPr/>
        </p:nvCxnSpPr>
        <p:spPr>
          <a:xfrm>
            <a:off x="4946015" y="2510790"/>
            <a:ext cx="0" cy="3639185"/>
          </a:xfrm>
          <a:prstGeom prst="line">
            <a:avLst/>
          </a:prstGeom>
          <a:ln w="12700">
            <a:solidFill>
              <a:srgbClr val="DCDCDC"/>
            </a:solidFill>
            <a:prstDash val="sysDash"/>
          </a:ln>
        </p:spPr>
        <p:style>
          <a:lnRef idx="1">
            <a:srgbClr val="0042FF"/>
          </a:lnRef>
          <a:fillRef idx="0">
            <a:srgbClr val="0042FF"/>
          </a:fillRef>
          <a:effectRef idx="0">
            <a:srgbClr val="0042FF"/>
          </a:effectRef>
          <a:fontRef idx="minor">
            <a:srgbClr val="383838"/>
          </a:fontRef>
        </p:style>
      </p:cxnSp>
      <p:sp>
        <p:nvSpPr>
          <p:cNvPr id="129" name="textbox 548"/>
          <p:cNvSpPr/>
          <p:nvPr/>
        </p:nvSpPr>
        <p:spPr>
          <a:xfrm>
            <a:off x="6096000" y="5888990"/>
            <a:ext cx="2738120" cy="664210"/>
          </a:xfrm>
          <a:prstGeom prst="rect">
            <a:avLst/>
          </a:prstGeom>
        </p:spPr>
        <p:txBody>
          <a:bodyPr vert="horz" wrap="square" lIns="0" tIns="0" rIns="0" bIns="0" anchor="t">
            <a:noAutofit/>
          </a:bodyPr>
          <a:lstStyle/>
          <a:p>
            <a:pPr marL="171450" indent="-171450" algn="l" rtl="0" eaLnBrk="0">
              <a:lnSpc>
                <a:spcPts val="1120"/>
              </a:lnSpc>
              <a:buFont typeface="微软雅黑"/>
              <a:buChar char="➢"/>
              <a:defRPr>
                <a:latin typeface="微软雅黑"/>
                <a:ea typeface="微软雅黑"/>
                <a:cs typeface="微软雅黑"/>
              </a:defRPr>
              <a:spcBef>
                <a:spcPts val="0"/>
              </a:spcBef>
              <a:spcAft>
                <a:spcPts val="0"/>
              </a:spcAft>
            </a:pPr>
            <a:r>
              <a:rPr lang="en-US" altLang="zh-CN" sz="1000" dirty="0">
                <a:solidFill>
                  <a:srgbClr val="383838"/>
                </a:solidFill>
                <a:latin typeface="微软雅黑"/>
                <a:ea typeface="微软雅黑"/>
                <a:cs typeface="微软雅黑"/>
              </a:rPr>
              <a:t>KPI</a:t>
            </a:r>
            <a:r>
              <a:rPr lang="zh-CN" altLang="en-US" sz="1000" dirty="0">
                <a:solidFill>
                  <a:srgbClr val="383838"/>
                </a:solidFill>
                <a:latin typeface="微软雅黑"/>
                <a:ea typeface="微软雅黑"/>
                <a:cs typeface="微软雅黑"/>
              </a:rPr>
              <a:t>制定三级指标体系：一级品牌战略核心目标、二级业务单元支撑目标、三级执行层量化目标；</a:t>
            </a:r>
            <a:endParaRPr lang="zh-CN" altLang="en-US" sz="1000" dirty="0">
              <a:solidFill>
                <a:srgbClr val="383838"/>
              </a:solidFill>
              <a:latin typeface="微软雅黑"/>
              <a:ea typeface="微软雅黑"/>
              <a:cs typeface="微软雅黑"/>
            </a:endParaRPr>
          </a:p>
          <a:p>
            <a:pPr marL="171450" indent="-171450" algn="l" rtl="0" eaLnBrk="0">
              <a:lnSpc>
                <a:spcPts val="1120"/>
              </a:lnSpc>
              <a:buFont typeface="微软雅黑"/>
              <a:buChar char="➢"/>
              <a:defRPr>
                <a:latin typeface="微软雅黑"/>
                <a:ea typeface="微软雅黑"/>
                <a:cs typeface="微软雅黑"/>
              </a:defRPr>
              <a:spcBef>
                <a:spcPts val="0"/>
              </a:spcBef>
              <a:spcAft>
                <a:spcPts val="0"/>
              </a:spcAft>
            </a:pPr>
            <a:r>
              <a:rPr lang="zh-CN" sz="1000" dirty="0">
                <a:solidFill>
                  <a:srgbClr val="383838"/>
                </a:solidFill>
                <a:latin typeface="微软雅黑"/>
                <a:ea typeface="微软雅黑"/>
                <a:cs typeface="微软雅黑"/>
              </a:rPr>
              <a:t>目标达成与执行监控：</a:t>
            </a:r>
            <a:r>
              <a:rPr lang="zh-CN" altLang="en-US" sz="1000" dirty="0">
                <a:solidFill>
                  <a:srgbClr val="383838"/>
                </a:solidFill>
                <a:latin typeface="微软雅黑"/>
                <a:ea typeface="微软雅黑"/>
                <a:cs typeface="微软雅黑"/>
              </a:rPr>
              <a:t>资源匹配与敏捷执行、数据仪表盘与纠偏机制、数据监控与预警机制。</a:t>
            </a:r>
            <a:endParaRPr lang="zh-CN" altLang="en-US" sz="1000" dirty="0">
              <a:solidFill>
                <a:srgbClr val="383838"/>
              </a:solidFill>
              <a:latin typeface="微软雅黑"/>
              <a:ea typeface="微软雅黑"/>
              <a:cs typeface="微软雅黑"/>
            </a:endParaRPr>
          </a:p>
        </p:txBody>
      </p:sp>
      <p:sp>
        <p:nvSpPr>
          <p:cNvPr id="166" name="Rectangle: Top Corners Rounded 32"/>
          <p:cNvSpPr/>
          <p:nvPr/>
        </p:nvSpPr>
        <p:spPr>
          <a:xfrm>
            <a:off x="665480" y="1090930"/>
            <a:ext cx="333375" cy="333375"/>
          </a:xfrm>
          <a:prstGeom prst="ellipse">
            <a:avLst/>
          </a:prstGeom>
          <a:solidFill>
            <a:srgbClr val="0042FF"/>
          </a:solidFill>
          <a:ln w="9525"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a:defRPr>
                <a:solidFill>
                  <a:srgbClr val="FFFFFF"/>
                </a:solidFill>
                <a:latin typeface="微软雅黑"/>
                <a:ea typeface="微软雅黑"/>
                <a:cs typeface="微软雅黑"/>
              </a:defRPr>
            </a:pPr>
            <a:r>
              <a:rPr lang="en-US" sz="1400" b="1" kern="0">
                <a:solidFill>
                  <a:srgbClr val="FFFFFF"/>
                </a:solidFill>
                <a:latin typeface="微软雅黑"/>
                <a:ea typeface="微软雅黑"/>
                <a:cs typeface="微软雅黑"/>
                <a:sym typeface="微软雅黑"/>
              </a:rPr>
              <a:t>1</a:t>
            </a:r>
            <a:endParaRPr lang="en-US" sz="1400" b="1" kern="0" dirty="0">
              <a:solidFill>
                <a:srgbClr val="FFFFFF"/>
              </a:solidFill>
              <a:latin typeface="微软雅黑"/>
              <a:ea typeface="微软雅黑"/>
              <a:cs typeface="微软雅黑"/>
              <a:sym typeface="微软雅黑"/>
            </a:endParaRPr>
          </a:p>
        </p:txBody>
      </p:sp>
      <p:grpSp>
        <p:nvGrpSpPr>
          <p:cNvPr id="276" name="组合 275"/>
          <p:cNvGrpSpPr/>
          <p:nvPr/>
        </p:nvGrpSpPr>
        <p:grpSpPr>
          <a:xfrm rot="0">
            <a:off x="6033770" y="4850130"/>
            <a:ext cx="2700020" cy="1136650"/>
            <a:chOff x="9472" y="7538"/>
            <a:chExt cx="4252" cy="1790"/>
          </a:xfrm>
        </p:grpSpPr>
        <p:grpSp>
          <p:nvGrpSpPr>
            <p:cNvPr id="268" name="组合 267"/>
            <p:cNvGrpSpPr/>
            <p:nvPr/>
          </p:nvGrpSpPr>
          <p:grpSpPr>
            <a:xfrm>
              <a:off x="9472" y="7538"/>
              <a:ext cx="4252" cy="1790"/>
              <a:chOff x="9629" y="7582"/>
              <a:chExt cx="4660" cy="1947"/>
            </a:xfrm>
          </p:grpSpPr>
          <p:graphicFrame>
            <p:nvGraphicFramePr>
              <p:cNvPr id="181" name="Chart 3"/>
              <p:cNvGraphicFramePr/>
              <p:nvPr/>
            </p:nvGraphicFramePr>
            <p:xfrm>
              <a:off x="9629" y="7683"/>
              <a:ext cx="4660" cy="1846"/>
            </p:xfrm>
            <a:graphic>
              <a:graphicData uri="http://schemas.openxmlformats.org/drawingml/2006/chart">
                <c:chart xmlns:c="http://schemas.openxmlformats.org/drawingml/2006/chart" xmlns:r="http://schemas.openxmlformats.org/officeDocument/2006/relationships" r:id="rId1"/>
              </a:graphicData>
            </a:graphic>
          </p:graphicFrame>
          <p:cxnSp>
            <p:nvCxnSpPr>
              <p:cNvPr id="190" name="直接箭头连接符 189"/>
              <p:cNvCxnSpPr/>
              <p:nvPr/>
            </p:nvCxnSpPr>
            <p:spPr>
              <a:xfrm flipV="1">
                <a:off x="10017" y="7582"/>
                <a:ext cx="0" cy="1329"/>
              </a:xfrm>
              <a:prstGeom prst="straightConnector1">
                <a:avLst/>
              </a:prstGeom>
              <a:ln w="3175">
                <a:solidFill>
                  <a:srgbClr val="0042FF"/>
                </a:solidFill>
                <a:tailEnd type="arrow" w="med" len="med"/>
              </a:ln>
            </p:spPr>
            <p:style>
              <a:lnRef idx="2">
                <a:srgbClr val="0042FF"/>
              </a:lnRef>
              <a:fillRef idx="0">
                <a:srgbClr val="FFFFFF"/>
              </a:fillRef>
              <a:effectRef idx="0">
                <a:srgbClr val="FFFFFF"/>
              </a:effectRef>
              <a:fontRef idx="minor">
                <a:srgbClr val="383838"/>
              </a:fontRef>
            </p:style>
          </p:cxnSp>
          <p:sp>
            <p:nvSpPr>
              <p:cNvPr id="263" name="文本框 262"/>
              <p:cNvSpPr txBox="1"/>
              <p:nvPr/>
            </p:nvSpPr>
            <p:spPr>
              <a:xfrm>
                <a:off x="10705" y="8261"/>
                <a:ext cx="1717" cy="364"/>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预算</a:t>
                </a:r>
                <a:r>
                  <a:rPr lang="en-US" altLang="zh-CN" sz="1000">
                    <a:solidFill>
                      <a:srgbClr val="383838"/>
                    </a:solidFill>
                    <a:latin typeface="微软雅黑"/>
                    <a:ea typeface="微软雅黑"/>
                    <a:cs typeface="微软雅黑"/>
                  </a:rPr>
                  <a:t>KPI</a:t>
                </a:r>
                <a:r>
                  <a:rPr lang="zh-CN" altLang="en-US" sz="1000">
                    <a:solidFill>
                      <a:srgbClr val="383838"/>
                    </a:solidFill>
                    <a:latin typeface="微软雅黑"/>
                    <a:ea typeface="微软雅黑"/>
                    <a:cs typeface="微软雅黑"/>
                  </a:rPr>
                  <a:t>值</a:t>
                </a:r>
                <a:endParaRPr lang="zh-CN" altLang="en-US" sz="1000">
                  <a:solidFill>
                    <a:srgbClr val="383838"/>
                  </a:solidFill>
                  <a:latin typeface="微软雅黑"/>
                  <a:ea typeface="微软雅黑"/>
                  <a:cs typeface="微软雅黑"/>
                </a:endParaRPr>
              </a:p>
            </p:txBody>
          </p:sp>
        </p:grpSp>
        <p:sp>
          <p:nvSpPr>
            <p:cNvPr id="274" name="文本框 273"/>
            <p:cNvSpPr txBox="1"/>
            <p:nvPr/>
          </p:nvSpPr>
          <p:spPr>
            <a:xfrm>
              <a:off x="11486" y="7802"/>
              <a:ext cx="1104" cy="335"/>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实际达成值</a:t>
              </a:r>
              <a:endParaRPr lang="zh-CN" sz="1000">
                <a:solidFill>
                  <a:srgbClr val="383838"/>
                </a:solidFill>
                <a:latin typeface="微软雅黑"/>
                <a:ea typeface="微软雅黑"/>
                <a:cs typeface="微软雅黑"/>
              </a:endParaRPr>
            </a:p>
          </p:txBody>
        </p:sp>
      </p:grpSp>
      <p:sp>
        <p:nvSpPr>
          <p:cNvPr id="278" name="标题 2"/>
          <p:cNvSpPr>
            <a:spLocks noGrp="1"/>
          </p:cNvSpPr>
          <p:nvPr/>
        </p:nvSpPr>
        <p:spPr>
          <a:xfrm>
            <a:off x="6619875" y="4737100"/>
            <a:ext cx="1846580" cy="189230"/>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effectLst/>
                <a:latin typeface="微软雅黑"/>
                <a:ea typeface="微软雅黑"/>
                <a:cs typeface="微软雅黑"/>
              </a:rPr>
              <a:t>年度</a:t>
            </a:r>
            <a:r>
              <a:rPr lang="en-US" altLang="zh-CN" sz="1000">
                <a:solidFill>
                  <a:srgbClr val="0042FF"/>
                </a:solidFill>
                <a:effectLst/>
                <a:latin typeface="微软雅黑"/>
                <a:ea typeface="微软雅黑"/>
                <a:cs typeface="微软雅黑"/>
              </a:rPr>
              <a:t>KPI</a:t>
            </a:r>
            <a:r>
              <a:rPr sz="1000">
                <a:solidFill>
                  <a:srgbClr val="0042FF"/>
                </a:solidFill>
                <a:effectLst/>
                <a:latin typeface="微软雅黑"/>
                <a:ea typeface="微软雅黑"/>
                <a:cs typeface="微软雅黑"/>
              </a:rPr>
              <a:t>制定及目标达成</a:t>
            </a:r>
            <a:endParaRPr sz="1000">
              <a:solidFill>
                <a:srgbClr val="0042FF"/>
              </a:solidFill>
              <a:effectLst/>
              <a:latin typeface="微软雅黑"/>
              <a:ea typeface="微软雅黑"/>
              <a:cs typeface="微软雅黑"/>
            </a:endParaRPr>
          </a:p>
        </p:txBody>
      </p:sp>
      <p:sp>
        <p:nvSpPr>
          <p:cNvPr id="279" name="标题 2"/>
          <p:cNvSpPr>
            <a:spLocks noGrp="1"/>
          </p:cNvSpPr>
          <p:nvPr/>
        </p:nvSpPr>
        <p:spPr>
          <a:xfrm>
            <a:off x="9653270" y="4137025"/>
            <a:ext cx="1912620" cy="327660"/>
          </a:xfrm>
          <a:prstGeom prst="rect">
            <a:avLst/>
          </a:prstGeom>
          <a:ln w="12700">
            <a:miter lim="400000"/>
          </a:ln>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pPr>
            <a:r>
              <a:rPr lang="en-US" altLang="zh-CN" sz="2000">
                <a:solidFill>
                  <a:srgbClr val="0042FF"/>
                </a:solidFill>
                <a:latin typeface="微软雅黑"/>
                <a:ea typeface="微软雅黑"/>
                <a:cs typeface="微软雅黑"/>
              </a:rPr>
              <a:t> </a:t>
            </a:r>
            <a:r>
              <a:rPr sz="2000">
                <a:solidFill>
                  <a:srgbClr val="0042FF"/>
                </a:solidFill>
                <a:latin typeface="微软雅黑"/>
                <a:ea typeface="微软雅黑"/>
                <a:cs typeface="微软雅黑"/>
              </a:rPr>
              <a:t>定组织与制度</a:t>
            </a:r>
            <a:endParaRPr sz="2000" b="0">
              <a:solidFill>
                <a:srgbClr val="0042FF"/>
              </a:solidFill>
              <a:latin typeface="微软雅黑"/>
              <a:ea typeface="微软雅黑"/>
              <a:cs typeface="微软雅黑"/>
            </a:endParaRPr>
          </a:p>
        </p:txBody>
      </p:sp>
      <p:sp>
        <p:nvSpPr>
          <p:cNvPr id="281" name="Rectangle: Top Corners Rounded 32"/>
          <p:cNvSpPr/>
          <p:nvPr/>
        </p:nvSpPr>
        <p:spPr>
          <a:xfrm>
            <a:off x="6157595" y="1090930"/>
            <a:ext cx="333375" cy="333375"/>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a:defRPr>
                <a:solidFill>
                  <a:srgbClr val="FFFFFF"/>
                </a:solidFill>
                <a:latin typeface="微软雅黑"/>
                <a:ea typeface="微软雅黑"/>
                <a:cs typeface="微软雅黑"/>
              </a:defRPr>
            </a:pPr>
            <a:r>
              <a:rPr lang="en-US" sz="1400" b="1" kern="0">
                <a:solidFill>
                  <a:srgbClr val="FFFFFF"/>
                </a:solidFill>
                <a:latin typeface="微软雅黑"/>
                <a:ea typeface="微软雅黑"/>
                <a:cs typeface="微软雅黑"/>
                <a:sym typeface="微软雅黑"/>
              </a:rPr>
              <a:t>2</a:t>
            </a:r>
            <a:endParaRPr lang="en-US" sz="1400" b="1" kern="0" dirty="0">
              <a:solidFill>
                <a:srgbClr val="FFFFFF"/>
              </a:solidFill>
              <a:latin typeface="微软雅黑"/>
              <a:ea typeface="微软雅黑"/>
              <a:cs typeface="微软雅黑"/>
              <a:sym typeface="微软雅黑"/>
            </a:endParaRPr>
          </a:p>
        </p:txBody>
      </p:sp>
      <p:sp>
        <p:nvSpPr>
          <p:cNvPr id="282" name="Rectangle: Top Corners Rounded 32"/>
          <p:cNvSpPr/>
          <p:nvPr/>
        </p:nvSpPr>
        <p:spPr>
          <a:xfrm>
            <a:off x="6247765" y="4096385"/>
            <a:ext cx="333375" cy="333375"/>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a:defRPr>
                <a:solidFill>
                  <a:srgbClr val="FFFFFF"/>
                </a:solidFill>
                <a:latin typeface="微软雅黑"/>
                <a:ea typeface="微软雅黑"/>
                <a:cs typeface="微软雅黑"/>
              </a:defRPr>
            </a:pPr>
            <a:r>
              <a:rPr lang="en-US" sz="1400" b="1" kern="0">
                <a:solidFill>
                  <a:srgbClr val="FFFFFF"/>
                </a:solidFill>
                <a:latin typeface="微软雅黑"/>
                <a:ea typeface="微软雅黑"/>
                <a:cs typeface="微软雅黑"/>
                <a:sym typeface="微软雅黑"/>
              </a:rPr>
              <a:t>3</a:t>
            </a:r>
            <a:endParaRPr lang="en-US" sz="1400" b="1" kern="0" dirty="0">
              <a:solidFill>
                <a:srgbClr val="FFFFFF"/>
              </a:solidFill>
              <a:latin typeface="微软雅黑"/>
              <a:ea typeface="微软雅黑"/>
              <a:cs typeface="微软雅黑"/>
              <a:sym typeface="微软雅黑"/>
            </a:endParaRPr>
          </a:p>
        </p:txBody>
      </p:sp>
      <p:sp>
        <p:nvSpPr>
          <p:cNvPr id="283" name="Rectangle: Top Corners Rounded 32"/>
          <p:cNvSpPr/>
          <p:nvPr/>
        </p:nvSpPr>
        <p:spPr>
          <a:xfrm>
            <a:off x="9293225" y="4096385"/>
            <a:ext cx="333375" cy="333375"/>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a:defRPr>
                <a:solidFill>
                  <a:srgbClr val="FFFFFF"/>
                </a:solidFill>
                <a:latin typeface="微软雅黑"/>
                <a:ea typeface="微软雅黑"/>
                <a:cs typeface="微软雅黑"/>
              </a:defRPr>
            </a:pPr>
            <a:r>
              <a:rPr lang="en-US" sz="1400" b="1" kern="0">
                <a:solidFill>
                  <a:srgbClr val="FFFFFF"/>
                </a:solidFill>
                <a:latin typeface="微软雅黑"/>
                <a:ea typeface="微软雅黑"/>
                <a:cs typeface="微软雅黑"/>
                <a:sym typeface="微软雅黑"/>
              </a:rPr>
              <a:t>4</a:t>
            </a:r>
            <a:endParaRPr lang="en-US" sz="1400" b="1" kern="0" dirty="0">
              <a:solidFill>
                <a:srgbClr val="FFFFFF"/>
              </a:solidFill>
              <a:latin typeface="微软雅黑"/>
              <a:ea typeface="微软雅黑"/>
              <a:cs typeface="微软雅黑"/>
              <a:sym typeface="微软雅黑"/>
            </a:endParaRPr>
          </a:p>
        </p:txBody>
      </p:sp>
      <p:sp>
        <p:nvSpPr>
          <p:cNvPr id="299" name="任意多边形: 形状 6"/>
          <p:cNvSpPr/>
          <p:nvPr/>
        </p:nvSpPr>
        <p:spPr>
          <a:xfrm>
            <a:off x="9328785" y="4850130"/>
            <a:ext cx="2357755" cy="1013460"/>
          </a:xfrm>
          <a:custGeom>
            <a:avLst/>
            <a:gdLst>
              <a:gd name="connsiteX0" fmla="*/ 97237 w 12454337"/>
              <a:gd name="connsiteY0" fmla="*/ 5448300 h 5546742"/>
              <a:gd name="connsiteX1" fmla="*/ 135337 w 12454337"/>
              <a:gd name="connsiteY1" fmla="*/ 5359400 h 5546742"/>
              <a:gd name="connsiteX2" fmla="*/ 1405337 w 12454337"/>
              <a:gd name="connsiteY2" fmla="*/ 3746500 h 5546742"/>
              <a:gd name="connsiteX3" fmla="*/ 5050237 w 12454337"/>
              <a:gd name="connsiteY3" fmla="*/ 3162300 h 5546742"/>
              <a:gd name="connsiteX4" fmla="*/ 7780737 w 12454337"/>
              <a:gd name="connsiteY4" fmla="*/ 1346200 h 5546742"/>
              <a:gd name="connsiteX5" fmla="*/ 11273237 w 12454337"/>
              <a:gd name="connsiteY5" fmla="*/ 787400 h 5546742"/>
              <a:gd name="connsiteX6" fmla="*/ 12454337 w 12454337"/>
              <a:gd name="connsiteY6" fmla="*/ 0 h 5546742"/>
              <a:gd name="connsiteX0-1" fmla="*/ 0 w 12319000"/>
              <a:gd name="connsiteY0-2" fmla="*/ 5359400 h 5359400"/>
              <a:gd name="connsiteX1-3" fmla="*/ 1270000 w 12319000"/>
              <a:gd name="connsiteY1-4" fmla="*/ 3746500 h 5359400"/>
              <a:gd name="connsiteX2-5" fmla="*/ 4914900 w 12319000"/>
              <a:gd name="connsiteY2-6" fmla="*/ 3162300 h 5359400"/>
              <a:gd name="connsiteX3-7" fmla="*/ 7645400 w 12319000"/>
              <a:gd name="connsiteY3-8" fmla="*/ 1346200 h 5359400"/>
              <a:gd name="connsiteX4-9" fmla="*/ 11137900 w 12319000"/>
              <a:gd name="connsiteY4-10" fmla="*/ 787400 h 5359400"/>
              <a:gd name="connsiteX5-11" fmla="*/ 12319000 w 12319000"/>
              <a:gd name="connsiteY5-12" fmla="*/ 0 h 5359400"/>
              <a:gd name="connsiteX0-13" fmla="*/ 0 w 12319000"/>
              <a:gd name="connsiteY0-14" fmla="*/ 5359400 h 5359400"/>
              <a:gd name="connsiteX1-15" fmla="*/ 1270000 w 12319000"/>
              <a:gd name="connsiteY1-16" fmla="*/ 3746500 h 5359400"/>
              <a:gd name="connsiteX2-17" fmla="*/ 4914900 w 12319000"/>
              <a:gd name="connsiteY2-18" fmla="*/ 3162300 h 5359400"/>
              <a:gd name="connsiteX3-19" fmla="*/ 7645400 w 12319000"/>
              <a:gd name="connsiteY3-20" fmla="*/ 1346200 h 5359400"/>
              <a:gd name="connsiteX4-21" fmla="*/ 11137900 w 12319000"/>
              <a:gd name="connsiteY4-22" fmla="*/ 787400 h 5359400"/>
              <a:gd name="connsiteX5-23" fmla="*/ 12319000 w 12319000"/>
              <a:gd name="connsiteY5-24" fmla="*/ 0 h 5359400"/>
              <a:gd name="connsiteX0-25" fmla="*/ 0 w 13088257"/>
              <a:gd name="connsiteY0-26" fmla="*/ 5388428 h 5388428"/>
              <a:gd name="connsiteX1-27" fmla="*/ 2039257 w 13088257"/>
              <a:gd name="connsiteY1-28" fmla="*/ 3746500 h 5388428"/>
              <a:gd name="connsiteX2-29" fmla="*/ 5684157 w 13088257"/>
              <a:gd name="connsiteY2-30" fmla="*/ 3162300 h 5388428"/>
              <a:gd name="connsiteX3-31" fmla="*/ 8414657 w 13088257"/>
              <a:gd name="connsiteY3-32" fmla="*/ 1346200 h 5388428"/>
              <a:gd name="connsiteX4-33" fmla="*/ 11907157 w 13088257"/>
              <a:gd name="connsiteY4-34" fmla="*/ 787400 h 5388428"/>
              <a:gd name="connsiteX5-35" fmla="*/ 13088257 w 13088257"/>
              <a:gd name="connsiteY5-36" fmla="*/ 0 h 5388428"/>
              <a:gd name="connsiteX0-37" fmla="*/ 0 w 13088257"/>
              <a:gd name="connsiteY0-38" fmla="*/ 5388428 h 5388428"/>
              <a:gd name="connsiteX1-39" fmla="*/ 2126343 w 13088257"/>
              <a:gd name="connsiteY1-40" fmla="*/ 3804557 h 5388428"/>
              <a:gd name="connsiteX2-41" fmla="*/ 5684157 w 13088257"/>
              <a:gd name="connsiteY2-42" fmla="*/ 3162300 h 5388428"/>
              <a:gd name="connsiteX3-43" fmla="*/ 8414657 w 13088257"/>
              <a:gd name="connsiteY3-44" fmla="*/ 1346200 h 5388428"/>
              <a:gd name="connsiteX4-45" fmla="*/ 11907157 w 13088257"/>
              <a:gd name="connsiteY4-46" fmla="*/ 787400 h 5388428"/>
              <a:gd name="connsiteX5-47" fmla="*/ 13088257 w 13088257"/>
              <a:gd name="connsiteY5-48" fmla="*/ 0 h 5388428"/>
              <a:gd name="connsiteX0-49" fmla="*/ 0 w 13088257"/>
              <a:gd name="connsiteY0-50" fmla="*/ 5388428 h 5388428"/>
              <a:gd name="connsiteX1-51" fmla="*/ 2084914 w 13088257"/>
              <a:gd name="connsiteY1-52" fmla="*/ 3684610 h 5388428"/>
              <a:gd name="connsiteX2-53" fmla="*/ 5684157 w 13088257"/>
              <a:gd name="connsiteY2-54" fmla="*/ 3162300 h 5388428"/>
              <a:gd name="connsiteX3-55" fmla="*/ 8414657 w 13088257"/>
              <a:gd name="connsiteY3-56" fmla="*/ 1346200 h 5388428"/>
              <a:gd name="connsiteX4-57" fmla="*/ 11907157 w 13088257"/>
              <a:gd name="connsiteY4-58" fmla="*/ 787400 h 5388428"/>
              <a:gd name="connsiteX5-59" fmla="*/ 13088257 w 13088257"/>
              <a:gd name="connsiteY5-60" fmla="*/ 0 h 5388428"/>
              <a:gd name="connsiteX0-61" fmla="*/ 0 w 13198736"/>
              <a:gd name="connsiteY0-62" fmla="*/ 4863659 h 4863659"/>
              <a:gd name="connsiteX1-63" fmla="*/ 2195393 w 13198736"/>
              <a:gd name="connsiteY1-64" fmla="*/ 3684610 h 4863659"/>
              <a:gd name="connsiteX2-65" fmla="*/ 5794636 w 13198736"/>
              <a:gd name="connsiteY2-66" fmla="*/ 3162300 h 4863659"/>
              <a:gd name="connsiteX3-67" fmla="*/ 8525136 w 13198736"/>
              <a:gd name="connsiteY3-68" fmla="*/ 1346200 h 4863659"/>
              <a:gd name="connsiteX4-69" fmla="*/ 12017636 w 13198736"/>
              <a:gd name="connsiteY4-70" fmla="*/ 787400 h 4863659"/>
              <a:gd name="connsiteX5-71" fmla="*/ 13198736 w 13198736"/>
              <a:gd name="connsiteY5-72" fmla="*/ 0 h 4863659"/>
              <a:gd name="connsiteX0-73" fmla="*/ 0 w 13198736"/>
              <a:gd name="connsiteY0-74" fmla="*/ 4863659 h 4863659"/>
              <a:gd name="connsiteX1-75" fmla="*/ 2195393 w 13198736"/>
              <a:gd name="connsiteY1-76" fmla="*/ 3684610 h 4863659"/>
              <a:gd name="connsiteX2-77" fmla="*/ 5725588 w 13198736"/>
              <a:gd name="connsiteY2-78" fmla="*/ 2832445 h 4863659"/>
              <a:gd name="connsiteX3-79" fmla="*/ 8525136 w 13198736"/>
              <a:gd name="connsiteY3-80" fmla="*/ 1346200 h 4863659"/>
              <a:gd name="connsiteX4-81" fmla="*/ 12017636 w 13198736"/>
              <a:gd name="connsiteY4-82" fmla="*/ 787400 h 4863659"/>
              <a:gd name="connsiteX5-83" fmla="*/ 13198736 w 13198736"/>
              <a:gd name="connsiteY5-84" fmla="*/ 0 h 4863659"/>
              <a:gd name="connsiteX0-85" fmla="*/ 0 w 13198736"/>
              <a:gd name="connsiteY0-86" fmla="*/ 4863659 h 4863659"/>
              <a:gd name="connsiteX1-87" fmla="*/ 2195393 w 13198736"/>
              <a:gd name="connsiteY1-88" fmla="*/ 3684610 h 4863659"/>
              <a:gd name="connsiteX2-89" fmla="*/ 6057024 w 13198736"/>
              <a:gd name="connsiteY2-90" fmla="*/ 2832445 h 4863659"/>
              <a:gd name="connsiteX3-91" fmla="*/ 8525136 w 13198736"/>
              <a:gd name="connsiteY3-92" fmla="*/ 1346200 h 4863659"/>
              <a:gd name="connsiteX4-93" fmla="*/ 12017636 w 13198736"/>
              <a:gd name="connsiteY4-94" fmla="*/ 787400 h 4863659"/>
              <a:gd name="connsiteX5-95" fmla="*/ 13198736 w 13198736"/>
              <a:gd name="connsiteY5-96" fmla="*/ 0 h 4863659"/>
              <a:gd name="connsiteX0-97" fmla="*/ 0 w 13198736"/>
              <a:gd name="connsiteY0-98" fmla="*/ 4863659 h 4863659"/>
              <a:gd name="connsiteX1-99" fmla="*/ 2195393 w 13198736"/>
              <a:gd name="connsiteY1-100" fmla="*/ 3684610 h 4863659"/>
              <a:gd name="connsiteX2-101" fmla="*/ 5513263 w 13198736"/>
              <a:gd name="connsiteY2-102" fmla="*/ 2556941 h 4863659"/>
              <a:gd name="connsiteX3-103" fmla="*/ 8525136 w 13198736"/>
              <a:gd name="connsiteY3-104" fmla="*/ 1346200 h 4863659"/>
              <a:gd name="connsiteX4-105" fmla="*/ 12017636 w 13198736"/>
              <a:gd name="connsiteY4-106" fmla="*/ 787400 h 4863659"/>
              <a:gd name="connsiteX5-107" fmla="*/ 13198736 w 13198736"/>
              <a:gd name="connsiteY5-108" fmla="*/ 0 h 4863659"/>
              <a:gd name="connsiteX0-109" fmla="*/ 0 w 13198736"/>
              <a:gd name="connsiteY0-110" fmla="*/ 4863659 h 4863659"/>
              <a:gd name="connsiteX1-111" fmla="*/ 2195393 w 13198736"/>
              <a:gd name="connsiteY1-112" fmla="*/ 3684610 h 4863659"/>
              <a:gd name="connsiteX2-113" fmla="*/ 5513263 w 13198736"/>
              <a:gd name="connsiteY2-114" fmla="*/ 2556941 h 4863659"/>
              <a:gd name="connsiteX3-115" fmla="*/ 8658056 w 13198736"/>
              <a:gd name="connsiteY3-116" fmla="*/ 1674181 h 4863659"/>
              <a:gd name="connsiteX4-117" fmla="*/ 12017636 w 13198736"/>
              <a:gd name="connsiteY4-118" fmla="*/ 787400 h 4863659"/>
              <a:gd name="connsiteX5-119" fmla="*/ 13198736 w 13198736"/>
              <a:gd name="connsiteY5-120" fmla="*/ 0 h 4863659"/>
              <a:gd name="connsiteX0-121" fmla="*/ 0 w 13198736"/>
              <a:gd name="connsiteY0-122" fmla="*/ 4863659 h 4863659"/>
              <a:gd name="connsiteX1-123" fmla="*/ 2195393 w 13198736"/>
              <a:gd name="connsiteY1-124" fmla="*/ 3684610 h 4863659"/>
              <a:gd name="connsiteX2-125" fmla="*/ 5694517 w 13198736"/>
              <a:gd name="connsiteY2-126" fmla="*/ 2884922 h 4863659"/>
              <a:gd name="connsiteX3-127" fmla="*/ 8658056 w 13198736"/>
              <a:gd name="connsiteY3-128" fmla="*/ 1674181 h 4863659"/>
              <a:gd name="connsiteX4-129" fmla="*/ 12017636 w 13198736"/>
              <a:gd name="connsiteY4-130" fmla="*/ 787400 h 4863659"/>
              <a:gd name="connsiteX5-131" fmla="*/ 13198736 w 13198736"/>
              <a:gd name="connsiteY5-132" fmla="*/ 0 h 4863659"/>
              <a:gd name="connsiteX0-133" fmla="*/ 0 w 13198736"/>
              <a:gd name="connsiteY0-134" fmla="*/ 4863659 h 4863659"/>
              <a:gd name="connsiteX1-135" fmla="*/ 2195393 w 13198736"/>
              <a:gd name="connsiteY1-136" fmla="*/ 3684610 h 4863659"/>
              <a:gd name="connsiteX2-137" fmla="*/ 5694517 w 13198736"/>
              <a:gd name="connsiteY2-138" fmla="*/ 2884922 h 4863659"/>
              <a:gd name="connsiteX3-139" fmla="*/ 6727110 w 13198736"/>
              <a:gd name="connsiteY3-140" fmla="*/ 1924780 h 4863659"/>
              <a:gd name="connsiteX4-141" fmla="*/ 8658056 w 13198736"/>
              <a:gd name="connsiteY4-142" fmla="*/ 1674181 h 4863659"/>
              <a:gd name="connsiteX5-143" fmla="*/ 12017636 w 13198736"/>
              <a:gd name="connsiteY5-144" fmla="*/ 787400 h 4863659"/>
              <a:gd name="connsiteX6-145" fmla="*/ 13198736 w 13198736"/>
              <a:gd name="connsiteY6-146" fmla="*/ 0 h 4863659"/>
              <a:gd name="connsiteX0-147" fmla="*/ 0 w 13198736"/>
              <a:gd name="connsiteY0-148" fmla="*/ 4863659 h 4863659"/>
              <a:gd name="connsiteX1-149" fmla="*/ 2195393 w 13198736"/>
              <a:gd name="connsiteY1-150" fmla="*/ 3684610 h 4863659"/>
              <a:gd name="connsiteX2-151" fmla="*/ 4957419 w 13198736"/>
              <a:gd name="connsiteY2-152" fmla="*/ 2832445 h 4863659"/>
              <a:gd name="connsiteX3-153" fmla="*/ 6727110 w 13198736"/>
              <a:gd name="connsiteY3-154" fmla="*/ 1924780 h 4863659"/>
              <a:gd name="connsiteX4-155" fmla="*/ 8658056 w 13198736"/>
              <a:gd name="connsiteY4-156" fmla="*/ 1674181 h 4863659"/>
              <a:gd name="connsiteX5-157" fmla="*/ 12017636 w 13198736"/>
              <a:gd name="connsiteY5-158" fmla="*/ 787400 h 4863659"/>
              <a:gd name="connsiteX6-159" fmla="*/ 13198736 w 13198736"/>
              <a:gd name="connsiteY6-160" fmla="*/ 0 h 4863659"/>
              <a:gd name="connsiteX0-161" fmla="*/ 0 w 13198736"/>
              <a:gd name="connsiteY0-162" fmla="*/ 4863659 h 4863659"/>
              <a:gd name="connsiteX1-163" fmla="*/ 2195393 w 13198736"/>
              <a:gd name="connsiteY1-164" fmla="*/ 3684610 h 4863659"/>
              <a:gd name="connsiteX2-165" fmla="*/ 5029921 w 13198736"/>
              <a:gd name="connsiteY2-166" fmla="*/ 3055472 h 4863659"/>
              <a:gd name="connsiteX3-167" fmla="*/ 6727110 w 13198736"/>
              <a:gd name="connsiteY3-168" fmla="*/ 1924780 h 4863659"/>
              <a:gd name="connsiteX4-169" fmla="*/ 8658056 w 13198736"/>
              <a:gd name="connsiteY4-170" fmla="*/ 1674181 h 4863659"/>
              <a:gd name="connsiteX5-171" fmla="*/ 12017636 w 13198736"/>
              <a:gd name="connsiteY5-172" fmla="*/ 787400 h 4863659"/>
              <a:gd name="connsiteX6-173" fmla="*/ 13198736 w 13198736"/>
              <a:gd name="connsiteY6-174" fmla="*/ 0 h 4863659"/>
              <a:gd name="connsiteX0-175" fmla="*/ 0 w 13198736"/>
              <a:gd name="connsiteY0-176" fmla="*/ 4863659 h 4863659"/>
              <a:gd name="connsiteX1-177" fmla="*/ 2195393 w 13198736"/>
              <a:gd name="connsiteY1-178" fmla="*/ 3684610 h 4863659"/>
              <a:gd name="connsiteX2-179" fmla="*/ 5029921 w 13198736"/>
              <a:gd name="connsiteY2-180" fmla="*/ 3055472 h 4863659"/>
              <a:gd name="connsiteX3-181" fmla="*/ 6449187 w 13198736"/>
              <a:gd name="connsiteY3-182" fmla="*/ 2003495 h 4863659"/>
              <a:gd name="connsiteX4-183" fmla="*/ 8658056 w 13198736"/>
              <a:gd name="connsiteY4-184" fmla="*/ 1674181 h 4863659"/>
              <a:gd name="connsiteX5-185" fmla="*/ 12017636 w 13198736"/>
              <a:gd name="connsiteY5-186" fmla="*/ 787400 h 4863659"/>
              <a:gd name="connsiteX6-187" fmla="*/ 13198736 w 13198736"/>
              <a:gd name="connsiteY6-188" fmla="*/ 0 h 4863659"/>
              <a:gd name="connsiteX0-189" fmla="*/ 0 w 13198736"/>
              <a:gd name="connsiteY0-190" fmla="*/ 4863659 h 4863659"/>
              <a:gd name="connsiteX1-191" fmla="*/ 2195393 w 13198736"/>
              <a:gd name="connsiteY1-192" fmla="*/ 3684610 h 4863659"/>
              <a:gd name="connsiteX2-193" fmla="*/ 5029921 w 13198736"/>
              <a:gd name="connsiteY2-194" fmla="*/ 3055472 h 4863659"/>
              <a:gd name="connsiteX3-195" fmla="*/ 6449187 w 13198736"/>
              <a:gd name="connsiteY3-196" fmla="*/ 2003495 h 4863659"/>
              <a:gd name="connsiteX4-197" fmla="*/ 8658056 w 13198736"/>
              <a:gd name="connsiteY4-198" fmla="*/ 1674181 h 4863659"/>
              <a:gd name="connsiteX5-199" fmla="*/ 10410518 w 13198736"/>
              <a:gd name="connsiteY5-200" fmla="*/ 892354 h 4863659"/>
              <a:gd name="connsiteX6-201" fmla="*/ 13198736 w 13198736"/>
              <a:gd name="connsiteY6-202" fmla="*/ 0 h 4863659"/>
              <a:gd name="connsiteX0-203" fmla="*/ 0 w 12763727"/>
              <a:gd name="connsiteY0-204" fmla="*/ 5558978 h 5558978"/>
              <a:gd name="connsiteX1-205" fmla="*/ 2195393 w 12763727"/>
              <a:gd name="connsiteY1-206" fmla="*/ 4379929 h 5558978"/>
              <a:gd name="connsiteX2-207" fmla="*/ 5029921 w 12763727"/>
              <a:gd name="connsiteY2-208" fmla="*/ 3750791 h 5558978"/>
              <a:gd name="connsiteX3-209" fmla="*/ 6449187 w 12763727"/>
              <a:gd name="connsiteY3-210" fmla="*/ 2698814 h 5558978"/>
              <a:gd name="connsiteX4-211" fmla="*/ 8658056 w 12763727"/>
              <a:gd name="connsiteY4-212" fmla="*/ 2369500 h 5558978"/>
              <a:gd name="connsiteX5-213" fmla="*/ 10410518 w 12763727"/>
              <a:gd name="connsiteY5-214" fmla="*/ 1587673 h 5558978"/>
              <a:gd name="connsiteX6-215" fmla="*/ 12763727 w 12763727"/>
              <a:gd name="connsiteY6-216" fmla="*/ 0 h 5558978"/>
              <a:gd name="connsiteX0-217" fmla="*/ 0 w 12763727"/>
              <a:gd name="connsiteY0-218" fmla="*/ 5558978 h 5558978"/>
              <a:gd name="connsiteX1-219" fmla="*/ 2195393 w 12763727"/>
              <a:gd name="connsiteY1-220" fmla="*/ 4379929 h 5558978"/>
              <a:gd name="connsiteX2-221" fmla="*/ 5029921 w 12763727"/>
              <a:gd name="connsiteY2-222" fmla="*/ 3750791 h 5558978"/>
              <a:gd name="connsiteX3-223" fmla="*/ 6449187 w 12763727"/>
              <a:gd name="connsiteY3-224" fmla="*/ 2698814 h 5558978"/>
              <a:gd name="connsiteX4-225" fmla="*/ 8658056 w 12763727"/>
              <a:gd name="connsiteY4-226" fmla="*/ 2369500 h 5558978"/>
              <a:gd name="connsiteX5-227" fmla="*/ 10410518 w 12763727"/>
              <a:gd name="connsiteY5-228" fmla="*/ 1587673 h 5558978"/>
              <a:gd name="connsiteX6-229" fmla="*/ 12763727 w 12763727"/>
              <a:gd name="connsiteY6-230" fmla="*/ 0 h 5558978"/>
              <a:gd name="connsiteX0-231" fmla="*/ 0 w 12763727"/>
              <a:gd name="connsiteY0-232" fmla="*/ 5558978 h 5558978"/>
              <a:gd name="connsiteX1-233" fmla="*/ 2195393 w 12763727"/>
              <a:gd name="connsiteY1-234" fmla="*/ 4379929 h 5558978"/>
              <a:gd name="connsiteX2-235" fmla="*/ 5029921 w 12763727"/>
              <a:gd name="connsiteY2-236" fmla="*/ 3750791 h 5558978"/>
              <a:gd name="connsiteX3-237" fmla="*/ 6449187 w 12763727"/>
              <a:gd name="connsiteY3-238" fmla="*/ 2698814 h 5558978"/>
              <a:gd name="connsiteX4-239" fmla="*/ 8440551 w 12763727"/>
              <a:gd name="connsiteY4-240" fmla="*/ 2303904 h 5558978"/>
              <a:gd name="connsiteX5-241" fmla="*/ 10410518 w 12763727"/>
              <a:gd name="connsiteY5-242" fmla="*/ 1587673 h 5558978"/>
              <a:gd name="connsiteX6-243" fmla="*/ 12763727 w 12763727"/>
              <a:gd name="connsiteY6-244" fmla="*/ 0 h 5558978"/>
              <a:gd name="connsiteX0-245" fmla="*/ 0 w 12763727"/>
              <a:gd name="connsiteY0-246" fmla="*/ 5558978 h 5558978"/>
              <a:gd name="connsiteX1-247" fmla="*/ 2195393 w 12763727"/>
              <a:gd name="connsiteY1-248" fmla="*/ 4379929 h 5558978"/>
              <a:gd name="connsiteX2-249" fmla="*/ 5029921 w 12763727"/>
              <a:gd name="connsiteY2-250" fmla="*/ 3750791 h 5558978"/>
              <a:gd name="connsiteX3-251" fmla="*/ 6449187 w 12763727"/>
              <a:gd name="connsiteY3-252" fmla="*/ 2698814 h 5558978"/>
              <a:gd name="connsiteX4-253" fmla="*/ 8428468 w 12763727"/>
              <a:gd name="connsiteY4-254" fmla="*/ 2513812 h 5558978"/>
              <a:gd name="connsiteX5-255" fmla="*/ 10410518 w 12763727"/>
              <a:gd name="connsiteY5-256" fmla="*/ 1587673 h 5558978"/>
              <a:gd name="connsiteX6-257" fmla="*/ 12763727 w 12763727"/>
              <a:gd name="connsiteY6-258" fmla="*/ 0 h 5558978"/>
              <a:gd name="connsiteX0-259" fmla="*/ 0 w 12763727"/>
              <a:gd name="connsiteY0-260" fmla="*/ 5558978 h 5558978"/>
              <a:gd name="connsiteX1-261" fmla="*/ 2026223 w 12763727"/>
              <a:gd name="connsiteY1-262" fmla="*/ 4209380 h 5558978"/>
              <a:gd name="connsiteX2-263" fmla="*/ 5029921 w 12763727"/>
              <a:gd name="connsiteY2-264" fmla="*/ 3750791 h 5558978"/>
              <a:gd name="connsiteX3-265" fmla="*/ 6449187 w 12763727"/>
              <a:gd name="connsiteY3-266" fmla="*/ 2698814 h 5558978"/>
              <a:gd name="connsiteX4-267" fmla="*/ 8428468 w 12763727"/>
              <a:gd name="connsiteY4-268" fmla="*/ 2513812 h 5558978"/>
              <a:gd name="connsiteX5-269" fmla="*/ 10410518 w 12763727"/>
              <a:gd name="connsiteY5-270" fmla="*/ 1587673 h 5558978"/>
              <a:gd name="connsiteX6-271" fmla="*/ 12763727 w 12763727"/>
              <a:gd name="connsiteY6-272" fmla="*/ 0 h 5558978"/>
              <a:gd name="connsiteX0-273" fmla="*/ 0 w 12763727"/>
              <a:gd name="connsiteY0-274" fmla="*/ 5558978 h 5558978"/>
              <a:gd name="connsiteX1-275" fmla="*/ 2026223 w 12763727"/>
              <a:gd name="connsiteY1-276" fmla="*/ 4209380 h 5558978"/>
              <a:gd name="connsiteX2-277" fmla="*/ 4570745 w 12763727"/>
              <a:gd name="connsiteY2-278" fmla="*/ 3842626 h 5558978"/>
              <a:gd name="connsiteX3-279" fmla="*/ 6449187 w 12763727"/>
              <a:gd name="connsiteY3-280" fmla="*/ 2698814 h 5558978"/>
              <a:gd name="connsiteX4-281" fmla="*/ 8428468 w 12763727"/>
              <a:gd name="connsiteY4-282" fmla="*/ 2513812 h 5558978"/>
              <a:gd name="connsiteX5-283" fmla="*/ 10410518 w 12763727"/>
              <a:gd name="connsiteY5-284" fmla="*/ 1587673 h 5558978"/>
              <a:gd name="connsiteX6-285" fmla="*/ 12763727 w 12763727"/>
              <a:gd name="connsiteY6-286" fmla="*/ 0 h 5558978"/>
              <a:gd name="connsiteX0-287" fmla="*/ 0 w 12763727"/>
              <a:gd name="connsiteY0-288" fmla="*/ 5558978 h 5558978"/>
              <a:gd name="connsiteX1-289" fmla="*/ 2026223 w 12763727"/>
              <a:gd name="connsiteY1-290" fmla="*/ 4209380 h 5558978"/>
              <a:gd name="connsiteX2-291" fmla="*/ 4570745 w 12763727"/>
              <a:gd name="connsiteY2-292" fmla="*/ 3842626 h 5558978"/>
              <a:gd name="connsiteX3-293" fmla="*/ 6098763 w 12763727"/>
              <a:gd name="connsiteY3-294" fmla="*/ 2830007 h 5558978"/>
              <a:gd name="connsiteX4-295" fmla="*/ 8428468 w 12763727"/>
              <a:gd name="connsiteY4-296" fmla="*/ 2513812 h 5558978"/>
              <a:gd name="connsiteX5-297" fmla="*/ 10410518 w 12763727"/>
              <a:gd name="connsiteY5-298" fmla="*/ 1587673 h 5558978"/>
              <a:gd name="connsiteX6-299" fmla="*/ 12763727 w 12763727"/>
              <a:gd name="connsiteY6-300" fmla="*/ 0 h 5558978"/>
              <a:gd name="connsiteX0-301" fmla="*/ 0 w 12763727"/>
              <a:gd name="connsiteY0-302" fmla="*/ 5558978 h 5558978"/>
              <a:gd name="connsiteX1-303" fmla="*/ 2026223 w 12763727"/>
              <a:gd name="connsiteY1-304" fmla="*/ 4209380 h 5558978"/>
              <a:gd name="connsiteX2-305" fmla="*/ 4280739 w 12763727"/>
              <a:gd name="connsiteY2-306" fmla="*/ 3921341 h 5558978"/>
              <a:gd name="connsiteX3-307" fmla="*/ 6098763 w 12763727"/>
              <a:gd name="connsiteY3-308" fmla="*/ 2830007 h 5558978"/>
              <a:gd name="connsiteX4-309" fmla="*/ 8428468 w 12763727"/>
              <a:gd name="connsiteY4-310" fmla="*/ 2513812 h 5558978"/>
              <a:gd name="connsiteX5-311" fmla="*/ 10410518 w 12763727"/>
              <a:gd name="connsiteY5-312" fmla="*/ 1587673 h 5558978"/>
              <a:gd name="connsiteX6-313" fmla="*/ 12763727 w 12763727"/>
              <a:gd name="connsiteY6-314" fmla="*/ 0 h 5558978"/>
              <a:gd name="connsiteX0-315" fmla="*/ 0 w 12763727"/>
              <a:gd name="connsiteY0-316" fmla="*/ 5558978 h 5558978"/>
              <a:gd name="connsiteX1-317" fmla="*/ 2026223 w 12763727"/>
              <a:gd name="connsiteY1-318" fmla="*/ 4209380 h 5558978"/>
              <a:gd name="connsiteX2-319" fmla="*/ 4280739 w 12763727"/>
              <a:gd name="connsiteY2-320" fmla="*/ 3921341 h 5558978"/>
              <a:gd name="connsiteX3-321" fmla="*/ 6098763 w 12763727"/>
              <a:gd name="connsiteY3-322" fmla="*/ 2830007 h 5558978"/>
              <a:gd name="connsiteX4-323" fmla="*/ 8428468 w 12763727"/>
              <a:gd name="connsiteY4-324" fmla="*/ 2513812 h 5558978"/>
              <a:gd name="connsiteX5-325" fmla="*/ 10410518 w 12763727"/>
              <a:gd name="connsiteY5-326" fmla="*/ 1587673 h 5558978"/>
              <a:gd name="connsiteX6-327" fmla="*/ 12763727 w 12763727"/>
              <a:gd name="connsiteY6-328" fmla="*/ 0 h 5558978"/>
              <a:gd name="connsiteX0-329" fmla="*/ 0 w 12763727"/>
              <a:gd name="connsiteY0-330" fmla="*/ 5558978 h 5558978"/>
              <a:gd name="connsiteX1-331" fmla="*/ 2026223 w 12763727"/>
              <a:gd name="connsiteY1-332" fmla="*/ 4209380 h 5558978"/>
              <a:gd name="connsiteX2-333" fmla="*/ 4280739 w 12763727"/>
              <a:gd name="connsiteY2-334" fmla="*/ 3921341 h 5558978"/>
              <a:gd name="connsiteX3-335" fmla="*/ 6098763 w 12763727"/>
              <a:gd name="connsiteY3-336" fmla="*/ 2830007 h 5558978"/>
              <a:gd name="connsiteX4-337" fmla="*/ 8428468 w 12763727"/>
              <a:gd name="connsiteY4-338" fmla="*/ 2513812 h 5558978"/>
              <a:gd name="connsiteX5-339" fmla="*/ 10410518 w 12763727"/>
              <a:gd name="connsiteY5-340" fmla="*/ 1587673 h 5558978"/>
              <a:gd name="connsiteX6-341" fmla="*/ 12763727 w 12763727"/>
              <a:gd name="connsiteY6-342" fmla="*/ 0 h 5558978"/>
              <a:gd name="connsiteX0-343" fmla="*/ 0 w 12944981"/>
              <a:gd name="connsiteY0-344" fmla="*/ 5047328 h 5047328"/>
              <a:gd name="connsiteX1-345" fmla="*/ 2026223 w 12944981"/>
              <a:gd name="connsiteY1-346" fmla="*/ 3697730 h 5047328"/>
              <a:gd name="connsiteX2-347" fmla="*/ 4280739 w 12944981"/>
              <a:gd name="connsiteY2-348" fmla="*/ 3409691 h 5047328"/>
              <a:gd name="connsiteX3-349" fmla="*/ 6098763 w 12944981"/>
              <a:gd name="connsiteY3-350" fmla="*/ 2318357 h 5047328"/>
              <a:gd name="connsiteX4-351" fmla="*/ 8428468 w 12944981"/>
              <a:gd name="connsiteY4-352" fmla="*/ 2002162 h 5047328"/>
              <a:gd name="connsiteX5-353" fmla="*/ 10410518 w 12944981"/>
              <a:gd name="connsiteY5-354" fmla="*/ 1076023 h 5047328"/>
              <a:gd name="connsiteX6-355" fmla="*/ 12944981 w 12944981"/>
              <a:gd name="connsiteY6-356" fmla="*/ 0 h 5047328"/>
              <a:gd name="connsiteX0-357" fmla="*/ 0 w 13198736"/>
              <a:gd name="connsiteY0-358" fmla="*/ 4761985 h 4761985"/>
              <a:gd name="connsiteX1-359" fmla="*/ 2026223 w 13198736"/>
              <a:gd name="connsiteY1-360" fmla="*/ 3412387 h 4761985"/>
              <a:gd name="connsiteX2-361" fmla="*/ 4280739 w 13198736"/>
              <a:gd name="connsiteY2-362" fmla="*/ 3124348 h 4761985"/>
              <a:gd name="connsiteX3-363" fmla="*/ 6098763 w 13198736"/>
              <a:gd name="connsiteY3-364" fmla="*/ 2033014 h 4761985"/>
              <a:gd name="connsiteX4-365" fmla="*/ 8428468 w 13198736"/>
              <a:gd name="connsiteY4-366" fmla="*/ 1716819 h 4761985"/>
              <a:gd name="connsiteX5-367" fmla="*/ 10410518 w 13198736"/>
              <a:gd name="connsiteY5-368" fmla="*/ 790680 h 4761985"/>
              <a:gd name="connsiteX6-369" fmla="*/ 13198736 w 13198736"/>
              <a:gd name="connsiteY6-370" fmla="*/ 0 h 476198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45" y="connsiteY6-146"/>
              </a:cxn>
            </a:cxnLst>
            <a:rect l="l" t="t" r="r" b="b"/>
            <a:pathLst>
              <a:path w="13198736" h="4761985">
                <a:moveTo>
                  <a:pt x="0" y="4761985"/>
                </a:moveTo>
                <a:cubicBezTo>
                  <a:pt x="164229" y="4467594"/>
                  <a:pt x="1312767" y="3685326"/>
                  <a:pt x="2026223" y="3412387"/>
                </a:cubicBezTo>
                <a:cubicBezTo>
                  <a:pt x="2739679" y="3139448"/>
                  <a:pt x="3601982" y="3354243"/>
                  <a:pt x="4280739" y="3124348"/>
                </a:cubicBezTo>
                <a:cubicBezTo>
                  <a:pt x="4959496" y="2894453"/>
                  <a:pt x="5604840" y="2234804"/>
                  <a:pt x="6098763" y="2033014"/>
                </a:cubicBezTo>
                <a:cubicBezTo>
                  <a:pt x="6592686" y="1831224"/>
                  <a:pt x="7709842" y="1923875"/>
                  <a:pt x="8428468" y="1716819"/>
                </a:cubicBezTo>
                <a:cubicBezTo>
                  <a:pt x="9147094" y="1509763"/>
                  <a:pt x="9290658" y="1086274"/>
                  <a:pt x="10410518" y="790680"/>
                </a:cubicBezTo>
                <a:cubicBezTo>
                  <a:pt x="11189452" y="566313"/>
                  <a:pt x="12743896" y="45370"/>
                  <a:pt x="13198736" y="0"/>
                </a:cubicBezTo>
              </a:path>
            </a:pathLst>
          </a:custGeom>
          <a:noFill/>
          <a:ln w="50800">
            <a:gradFill>
              <a:gsLst>
                <a:gs pos="0">
                  <a:srgbClr val="3368FF">
                    <a:alpha val="0"/>
                  </a:srgbClr>
                </a:gs>
                <a:gs pos="23000">
                  <a:srgbClr val="3368FF"/>
                </a:gs>
                <a:gs pos="100000">
                  <a:srgbClr val="3368FF">
                    <a:alpha val="0"/>
                  </a:srgbClr>
                </a:gs>
                <a:gs pos="64000">
                  <a:srgbClr val="3368FF"/>
                </a:gs>
              </a:gsLst>
              <a:lin ang="0" scaled="0"/>
            </a:gradFill>
          </a:ln>
          <a:effectLst>
            <a:outerShdw blurRad="139700" dist="50800" dir="2700000" algn="tl" rotWithShape="0">
              <a:srgbClr val="3368FF">
                <a:alpha val="40000"/>
              </a:srgbClr>
            </a:outerShdw>
          </a:effectLst>
        </p:spPr>
        <p:style>
          <a:lnRef idx="2">
            <a:srgbClr val="0042FF"/>
          </a:lnRef>
          <a:fillRef idx="1">
            <a:srgbClr val="3368FF"/>
          </a:fillRef>
          <a:effectRef idx="0">
            <a:srgbClr val="3368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grpSp>
        <p:nvGrpSpPr>
          <p:cNvPr id="300" name="组合 299"/>
          <p:cNvGrpSpPr/>
          <p:nvPr/>
        </p:nvGrpSpPr>
        <p:grpSpPr>
          <a:xfrm rot="0">
            <a:off x="9163050" y="4806315"/>
            <a:ext cx="848360" cy="652780"/>
            <a:chOff x="14661" y="11021"/>
            <a:chExt cx="1336" cy="1028"/>
          </a:xfrm>
        </p:grpSpPr>
        <p:sp>
          <p:nvSpPr>
            <p:cNvPr id="301" name="菱形 300"/>
            <p:cNvSpPr/>
            <p:nvPr/>
          </p:nvSpPr>
          <p:spPr>
            <a:xfrm>
              <a:off x="14805" y="11021"/>
              <a:ext cx="1028" cy="1028"/>
            </a:xfrm>
            <a:prstGeom prst="diamond">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b="1">
                <a:solidFill>
                  <a:srgbClr val="FFFFFF"/>
                </a:solidFill>
                <a:latin typeface="微软雅黑"/>
                <a:ea typeface="微软雅黑"/>
                <a:cs typeface="微软雅黑"/>
              </a:endParaRPr>
            </a:p>
          </p:txBody>
        </p:sp>
        <p:sp>
          <p:nvSpPr>
            <p:cNvPr id="302" name="文本框 301"/>
            <p:cNvSpPr txBox="1"/>
            <p:nvPr/>
          </p:nvSpPr>
          <p:spPr>
            <a:xfrm>
              <a:off x="14661" y="11235"/>
              <a:ext cx="1336" cy="530"/>
            </a:xfrm>
            <a:prstGeom prst="rect">
              <a:avLst/>
            </a:prstGeom>
            <a:noFill/>
          </p:spPr>
          <p:txBody>
            <a:bodyPr wrap="square" lIns="0" tIns="0" rIns="0" bIns="0" rtlCol="0" anchor="t">
              <a:noAutofit/>
            </a:bodyPr>
            <a:lstStyle/>
            <a:p>
              <a:pPr algn="ctr">
                <a:lnSpc>
                  <a:spcPts val="1120"/>
                </a:lnSpc>
                <a:buClrTx/>
                <a:buSzTx/>
                <a:buFontTx/>
                <a:defRPr>
                  <a:solidFill>
                    <a:srgbClr val="FFFFFF"/>
                  </a:solidFill>
                  <a:latin typeface="微软雅黑"/>
                  <a:ea typeface="微软雅黑"/>
                  <a:cs typeface="微软雅黑"/>
                </a:defRPr>
                <a:spcBef>
                  <a:spcPts val="0"/>
                </a:spcBef>
                <a:spcAft>
                  <a:spcPts val="0"/>
                </a:spcAft>
              </a:pPr>
              <a:r>
                <a:rPr lang="zh-CN" altLang="en-US" sz="1000" b="1" dirty="0">
                  <a:solidFill>
                    <a:srgbClr val="FFFFFF"/>
                  </a:solidFill>
                  <a:latin typeface="微软雅黑"/>
                  <a:ea typeface="微软雅黑"/>
                  <a:cs typeface="微软雅黑"/>
                </a:rPr>
                <a:t>梭状</a:t>
              </a:r>
              <a:endParaRPr lang="zh-CN" altLang="en-US" sz="1000" b="1" dirty="0">
                <a:solidFill>
                  <a:srgbClr val="FFFFFF"/>
                </a:solidFill>
                <a:latin typeface="微软雅黑"/>
                <a:ea typeface="微软雅黑"/>
                <a:cs typeface="微软雅黑"/>
              </a:endParaRPr>
            </a:p>
            <a:p>
              <a:pPr algn="ctr">
                <a:lnSpc>
                  <a:spcPts val="1120"/>
                </a:lnSpc>
                <a:buClrTx/>
                <a:buSzTx/>
                <a:buFontTx/>
                <a:defRPr>
                  <a:solidFill>
                    <a:srgbClr val="FFFFFF"/>
                  </a:solidFill>
                  <a:latin typeface="微软雅黑"/>
                  <a:ea typeface="微软雅黑"/>
                  <a:cs typeface="微软雅黑"/>
                </a:defRPr>
                <a:spcBef>
                  <a:spcPts val="0"/>
                </a:spcBef>
                <a:spcAft>
                  <a:spcPts val="0"/>
                </a:spcAft>
              </a:pPr>
              <a:r>
                <a:rPr lang="zh-CN" altLang="en-US" sz="1000" b="1" dirty="0">
                  <a:solidFill>
                    <a:srgbClr val="FFFFFF"/>
                  </a:solidFill>
                  <a:latin typeface="微软雅黑"/>
                  <a:ea typeface="微软雅黑"/>
                  <a:cs typeface="微软雅黑"/>
                </a:rPr>
                <a:t>人才结构</a:t>
              </a:r>
              <a:endParaRPr lang="zh-CN" altLang="en-US" sz="1000" b="1" dirty="0">
                <a:solidFill>
                  <a:srgbClr val="FFFFFF"/>
                </a:solidFill>
                <a:latin typeface="微软雅黑"/>
                <a:ea typeface="微软雅黑"/>
                <a:cs typeface="微软雅黑"/>
              </a:endParaRPr>
            </a:p>
          </p:txBody>
        </p:sp>
      </p:grpSp>
      <p:sp>
        <p:nvSpPr>
          <p:cNvPr id="304" name="椭圆 303"/>
          <p:cNvSpPr/>
          <p:nvPr/>
        </p:nvSpPr>
        <p:spPr>
          <a:xfrm>
            <a:off x="11144250" y="4973955"/>
            <a:ext cx="86360" cy="86360"/>
          </a:xfrm>
          <a:prstGeom prst="ellipse">
            <a:avLst/>
          </a:prstGeom>
          <a:solidFill>
            <a:srgbClr val="3368FF"/>
          </a:solidFill>
          <a:ln w="38100">
            <a:solidFill>
              <a:srgbClr val="FFFFFF"/>
            </a:solidFill>
          </a:ln>
          <a:effectLst>
            <a:outerShdw blurRad="203200" dist="63500" dir="2700000" algn="tl" rotWithShape="0">
              <a:srgbClr val="3368FF">
                <a:alpha val="30000"/>
              </a:srgbClr>
            </a:outerShdw>
          </a:effectLst>
        </p:spPr>
        <p:style>
          <a:lnRef idx="2">
            <a:srgbClr val="0042FF"/>
          </a:lnRef>
          <a:fillRef idx="1">
            <a:srgbClr val="3368FF"/>
          </a:fillRef>
          <a:effectRef idx="0">
            <a:srgbClr val="3368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305" name="椭圆 304"/>
          <p:cNvSpPr/>
          <p:nvPr/>
        </p:nvSpPr>
        <p:spPr>
          <a:xfrm>
            <a:off x="10119995" y="5407025"/>
            <a:ext cx="86360" cy="86360"/>
          </a:xfrm>
          <a:prstGeom prst="ellipse">
            <a:avLst/>
          </a:prstGeom>
          <a:solidFill>
            <a:srgbClr val="3368FF"/>
          </a:solidFill>
          <a:ln w="38100">
            <a:solidFill>
              <a:srgbClr val="FFFFFF"/>
            </a:solidFill>
          </a:ln>
          <a:effectLst>
            <a:outerShdw blurRad="203200" dist="63500" dir="2700000" algn="tl" rotWithShape="0">
              <a:srgbClr val="3368FF">
                <a:alpha val="30000"/>
              </a:srgbClr>
            </a:outerShdw>
          </a:effectLst>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306" name="椭圆 305"/>
          <p:cNvSpPr/>
          <p:nvPr/>
        </p:nvSpPr>
        <p:spPr>
          <a:xfrm>
            <a:off x="9417050" y="5680075"/>
            <a:ext cx="86360" cy="86360"/>
          </a:xfrm>
          <a:prstGeom prst="ellipse">
            <a:avLst/>
          </a:prstGeom>
          <a:solidFill>
            <a:srgbClr val="3368FF"/>
          </a:solidFill>
          <a:ln w="38100">
            <a:solidFill>
              <a:srgbClr val="FFFFFF"/>
            </a:solidFill>
          </a:ln>
          <a:effectLst>
            <a:outerShdw blurRad="203200" dist="63500" dir="2700000" algn="tl" rotWithShape="0">
              <a:srgbClr val="3368FF">
                <a:alpha val="30000"/>
              </a:srgbClr>
            </a:outerShdw>
          </a:effectLst>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308" name="文本框 307"/>
          <p:cNvSpPr txBox="1"/>
          <p:nvPr/>
        </p:nvSpPr>
        <p:spPr>
          <a:xfrm>
            <a:off x="9551670" y="5710555"/>
            <a:ext cx="654685" cy="313690"/>
          </a:xfrm>
          <a:prstGeom prst="rect">
            <a:avLst/>
          </a:prstGeom>
          <a:noFill/>
        </p:spPr>
        <p:txBody>
          <a:bodyPr wrap="square" lIns="0" tIns="0" rIns="0" bIns="0" rtlCol="0" anchor="t">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招聘高素质本科生</a:t>
            </a:r>
            <a:endParaRPr lang="zh-CN" altLang="en-US" sz="1000" dirty="0">
              <a:solidFill>
                <a:srgbClr val="383838"/>
              </a:solidFill>
              <a:latin typeface="微软雅黑"/>
              <a:ea typeface="微软雅黑"/>
              <a:cs typeface="微软雅黑"/>
            </a:endParaRPr>
          </a:p>
        </p:txBody>
      </p:sp>
      <p:sp>
        <p:nvSpPr>
          <p:cNvPr id="309" name="文本框 308"/>
          <p:cNvSpPr txBox="1"/>
          <p:nvPr/>
        </p:nvSpPr>
        <p:spPr>
          <a:xfrm>
            <a:off x="10181590" y="5490845"/>
            <a:ext cx="654685" cy="313690"/>
          </a:xfrm>
          <a:prstGeom prst="rect">
            <a:avLst/>
          </a:prstGeom>
          <a:noFill/>
        </p:spPr>
        <p:txBody>
          <a:bodyPr wrap="square" lIns="0" tIns="0" rIns="0" bIns="0" rtlCol="0" anchor="t">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业务培养一线经理</a:t>
            </a:r>
            <a:endParaRPr lang="zh-CN" altLang="en-US" sz="1000" dirty="0">
              <a:solidFill>
                <a:srgbClr val="383838"/>
              </a:solidFill>
              <a:latin typeface="微软雅黑"/>
              <a:ea typeface="微软雅黑"/>
              <a:cs typeface="微软雅黑"/>
            </a:endParaRPr>
          </a:p>
        </p:txBody>
      </p:sp>
      <p:sp>
        <p:nvSpPr>
          <p:cNvPr id="310" name="文本框 309"/>
          <p:cNvSpPr txBox="1"/>
          <p:nvPr/>
        </p:nvSpPr>
        <p:spPr>
          <a:xfrm>
            <a:off x="10285730" y="4986655"/>
            <a:ext cx="654685" cy="313690"/>
          </a:xfrm>
          <a:prstGeom prst="rect">
            <a:avLst/>
          </a:prstGeom>
          <a:noFill/>
        </p:spPr>
        <p:txBody>
          <a:bodyPr wrap="square" lIns="0" tIns="0" rIns="0" bIns="0" rtlCol="0" anchor="t">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综合岗位试炼提拔</a:t>
            </a:r>
            <a:endParaRPr lang="zh-CN" altLang="en-US" sz="1000" dirty="0">
              <a:solidFill>
                <a:srgbClr val="383838"/>
              </a:solidFill>
              <a:latin typeface="微软雅黑"/>
              <a:ea typeface="微软雅黑"/>
              <a:cs typeface="微软雅黑"/>
            </a:endParaRPr>
          </a:p>
        </p:txBody>
      </p:sp>
      <p:sp>
        <p:nvSpPr>
          <p:cNvPr id="312" name="标题 2"/>
          <p:cNvSpPr>
            <a:spLocks noGrp="1"/>
          </p:cNvSpPr>
          <p:nvPr/>
        </p:nvSpPr>
        <p:spPr>
          <a:xfrm>
            <a:off x="9626600" y="4737100"/>
            <a:ext cx="1846580" cy="189230"/>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effectLst/>
                <a:latin typeface="微软雅黑"/>
                <a:ea typeface="微软雅黑"/>
                <a:cs typeface="微软雅黑"/>
              </a:rPr>
              <a:t>建立组织及人才培养机制</a:t>
            </a:r>
            <a:endParaRPr sz="1000">
              <a:solidFill>
                <a:srgbClr val="0042FF"/>
              </a:solidFill>
              <a:effectLst/>
              <a:latin typeface="微软雅黑"/>
              <a:ea typeface="微软雅黑"/>
              <a:cs typeface="微软雅黑"/>
            </a:endParaRPr>
          </a:p>
        </p:txBody>
      </p:sp>
      <p:sp>
        <p:nvSpPr>
          <p:cNvPr id="313" name="textbox 548"/>
          <p:cNvSpPr/>
          <p:nvPr/>
        </p:nvSpPr>
        <p:spPr>
          <a:xfrm>
            <a:off x="9207500" y="5963285"/>
            <a:ext cx="2442845" cy="664210"/>
          </a:xfrm>
          <a:prstGeom prst="rect">
            <a:avLst/>
          </a:prstGeom>
        </p:spPr>
        <p:txBody>
          <a:bodyPr vert="horz" wrap="square" lIns="0" tIns="0" rIns="0" bIns="0" anchor="t">
            <a:noAutofit/>
          </a:bodyPr>
          <a:lstStyle/>
          <a:p>
            <a:pPr marL="171450" indent="-171450" algn="l" rtl="0" eaLnBrk="0">
              <a:lnSpc>
                <a:spcPts val="1120"/>
              </a:lnSpc>
              <a:buFont typeface="微软雅黑"/>
              <a:buChar char="➢"/>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敏捷协作机制：会议制度、一体化协同平台、绩效管理与反馈机制、</a:t>
            </a:r>
            <a:r>
              <a:rPr lang="en-US" altLang="zh-CN" sz="1000" dirty="0">
                <a:solidFill>
                  <a:srgbClr val="383838"/>
                </a:solidFill>
                <a:latin typeface="微软雅黑"/>
                <a:ea typeface="微软雅黑"/>
                <a:cs typeface="微软雅黑"/>
              </a:rPr>
              <a:t>OKR</a:t>
            </a:r>
            <a:r>
              <a:rPr lang="zh-CN" altLang="en-US" sz="1000" dirty="0">
                <a:solidFill>
                  <a:srgbClr val="383838"/>
                </a:solidFill>
                <a:latin typeface="微软雅黑"/>
                <a:ea typeface="微软雅黑"/>
                <a:cs typeface="微软雅黑"/>
              </a:rPr>
              <a:t>与</a:t>
            </a:r>
            <a:r>
              <a:rPr lang="en-US" altLang="zh-CN" sz="1000" dirty="0">
                <a:solidFill>
                  <a:srgbClr val="383838"/>
                </a:solidFill>
                <a:latin typeface="微软雅黑"/>
                <a:ea typeface="微软雅黑"/>
                <a:cs typeface="微软雅黑"/>
              </a:rPr>
              <a:t>KPI</a:t>
            </a:r>
            <a:r>
              <a:rPr lang="zh-CN" altLang="en-US" sz="1000" dirty="0">
                <a:solidFill>
                  <a:srgbClr val="383838"/>
                </a:solidFill>
                <a:latin typeface="微软雅黑"/>
                <a:ea typeface="微软雅黑"/>
                <a:cs typeface="微软雅黑"/>
              </a:rPr>
              <a:t>融合；</a:t>
            </a:r>
            <a:endParaRPr lang="zh-CN" altLang="en-US" sz="1000" dirty="0">
              <a:solidFill>
                <a:srgbClr val="383838"/>
              </a:solidFill>
              <a:latin typeface="微软雅黑"/>
              <a:ea typeface="微软雅黑"/>
              <a:cs typeface="微软雅黑"/>
            </a:endParaRPr>
          </a:p>
          <a:p>
            <a:pPr marL="171450" indent="-171450" algn="l" rtl="0" eaLnBrk="0">
              <a:lnSpc>
                <a:spcPts val="1120"/>
              </a:lnSpc>
              <a:buFont typeface="微软雅黑"/>
              <a:buChar char="➢"/>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制度落地保障措施</a:t>
            </a:r>
            <a:r>
              <a:rPr lang="zh-CN" sz="1000" dirty="0">
                <a:solidFill>
                  <a:srgbClr val="383838"/>
                </a:solidFill>
                <a:latin typeface="微软雅黑"/>
                <a:ea typeface="微软雅黑"/>
                <a:cs typeface="微软雅黑"/>
              </a:rPr>
              <a:t>：工作管理制度、文化渗透、标杆引领、晋升管理制度。</a:t>
            </a:r>
            <a:endParaRPr lang="zh-CN" altLang="zh-CN" sz="1000" dirty="0">
              <a:solidFill>
                <a:srgbClr val="383838"/>
              </a:solidFill>
              <a:latin typeface="微软雅黑"/>
              <a:ea typeface="微软雅黑"/>
              <a:cs typeface="微软雅黑"/>
            </a:endParaRPr>
          </a:p>
        </p:txBody>
      </p:sp>
      <p:sp>
        <p:nvSpPr>
          <p:cNvPr id="314" name="文本框 313"/>
          <p:cNvSpPr txBox="1"/>
          <p:nvPr/>
        </p:nvSpPr>
        <p:spPr>
          <a:xfrm>
            <a:off x="10566400" y="2147570"/>
            <a:ext cx="764540" cy="22987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私域差异化</a:t>
            </a:r>
            <a:endParaRPr lang="zh-CN" altLang="en-US" sz="1000" dirty="0">
              <a:solidFill>
                <a:srgbClr val="383838"/>
              </a:solidFill>
              <a:latin typeface="微软雅黑"/>
              <a:ea typeface="微软雅黑"/>
              <a:cs typeface="微软雅黑"/>
            </a:endParaRPr>
          </a:p>
        </p:txBody>
      </p:sp>
      <p:grpSp>
        <p:nvGrpSpPr>
          <p:cNvPr id="760" name="组合 759"/>
          <p:cNvGrpSpPr/>
          <p:nvPr/>
        </p:nvGrpSpPr>
        <p:grpSpPr>
          <a:xfrm rot="0">
            <a:off x="1118870" y="5760085"/>
            <a:ext cx="821055" cy="512445"/>
            <a:chOff x="8798407" y="2673726"/>
            <a:chExt cx="775948" cy="558354"/>
          </a:xfrm>
        </p:grpSpPr>
        <p:sp>
          <p:nvSpPr>
            <p:cNvPr id="340" name="©显眼包PPT1-1"/>
            <p:cNvSpPr/>
            <p:nvPr/>
          </p:nvSpPr>
          <p:spPr>
            <a:xfrm>
              <a:off x="8798407" y="2673726"/>
              <a:ext cx="775948" cy="519149"/>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341" name="©显眼包PPT1-2"/>
            <p:cNvSpPr/>
            <p:nvPr/>
          </p:nvSpPr>
          <p:spPr>
            <a:xfrm>
              <a:off x="8798407" y="2993167"/>
              <a:ext cx="775948" cy="19970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342" name="©显眼包PPT1-3"/>
            <p:cNvSpPr/>
            <p:nvPr/>
          </p:nvSpPr>
          <p:spPr>
            <a:xfrm>
              <a:off x="8862565" y="3030198"/>
              <a:ext cx="647632" cy="117745"/>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343" name="©显眼包PPT1-4"/>
            <p:cNvSpPr txBox="1"/>
            <p:nvPr/>
          </p:nvSpPr>
          <p:spPr>
            <a:xfrm>
              <a:off x="8951444" y="2829165"/>
              <a:ext cx="475877" cy="200648"/>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生态</a:t>
              </a:r>
              <a:endParaRPr lang="zh-CN" altLang="en-US" sz="1200" b="1" dirty="0">
                <a:solidFill>
                  <a:srgbClr val="383838"/>
                </a:solidFill>
                <a:latin typeface="微软雅黑"/>
                <a:ea typeface="微软雅黑"/>
                <a:cs typeface="微软雅黑"/>
              </a:endParaRPr>
            </a:p>
          </p:txBody>
        </p:sp>
        <p:sp>
          <p:nvSpPr>
            <p:cNvPr id="344" name="©显眼包PPT1-5"/>
            <p:cNvSpPr/>
            <p:nvPr/>
          </p:nvSpPr>
          <p:spPr>
            <a:xfrm>
              <a:off x="8798407" y="3032372"/>
              <a:ext cx="775948" cy="19970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grpSp>
        <p:nvGrpSpPr>
          <p:cNvPr id="42" name="组合 41"/>
          <p:cNvGrpSpPr/>
          <p:nvPr/>
        </p:nvGrpSpPr>
        <p:grpSpPr>
          <a:xfrm>
            <a:off x="6958330" y="2299335"/>
            <a:ext cx="883920" cy="883920"/>
            <a:chOff x="9163" y="3645"/>
            <a:chExt cx="1392" cy="1392"/>
          </a:xfrm>
        </p:grpSpPr>
        <p:grpSp>
          <p:nvGrpSpPr>
            <p:cNvPr id="43" name="组合 42"/>
            <p:cNvGrpSpPr/>
            <p:nvPr/>
          </p:nvGrpSpPr>
          <p:grpSpPr>
            <a:xfrm rot="0">
              <a:off x="9163" y="3645"/>
              <a:ext cx="1392" cy="1392"/>
              <a:chOff x="5719739" y="3319093"/>
              <a:chExt cx="752522" cy="752522"/>
            </a:xfrm>
          </p:grpSpPr>
          <p:sp>
            <p:nvSpPr>
              <p:cNvPr id="51" name="©显眼包PPT-1"/>
              <p:cNvSpPr/>
              <p:nvPr/>
            </p:nvSpPr>
            <p:spPr>
              <a:xfrm>
                <a:off x="5719739" y="3319093"/>
                <a:ext cx="752522" cy="752522"/>
              </a:xfrm>
              <a:prstGeom prst="ellipse">
                <a:avLst/>
              </a:pr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60" name="©显眼包PPT-2"/>
              <p:cNvSpPr/>
              <p:nvPr/>
            </p:nvSpPr>
            <p:spPr>
              <a:xfrm>
                <a:off x="5756814" y="3356168"/>
                <a:ext cx="678371" cy="678371"/>
              </a:xfrm>
              <a:prstGeom prst="ellipse">
                <a:avLst/>
              </a:prstGeom>
              <a:gradFill flip="none" rotWithShape="1">
                <a:gsLst>
                  <a:gs pos="39000">
                    <a:srgbClr val="FFFFFF"/>
                  </a:gs>
                  <a:gs pos="100000">
                    <a:srgbClr val="B3D4FE"/>
                  </a:gs>
                </a:gsLst>
                <a:path path="circle">
                  <a:fillToRect l="50000" t="50000" r="50000" b="50000"/>
                </a:path>
                <a:tileRect/>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kern="0" dirty="0">
                  <a:solidFill>
                    <a:srgbClr val="0042FF"/>
                  </a:solidFill>
                  <a:latin typeface="微软雅黑"/>
                  <a:ea typeface="微软雅黑"/>
                  <a:cs typeface="微软雅黑"/>
                  <a:sym typeface="微软雅黑"/>
                </a:endParaRPr>
              </a:p>
            </p:txBody>
          </p:sp>
          <p:sp>
            <p:nvSpPr>
              <p:cNvPr id="61" name="©显眼包PPT-3"/>
              <p:cNvSpPr/>
              <p:nvPr/>
            </p:nvSpPr>
            <p:spPr>
              <a:xfrm>
                <a:off x="5783108" y="3382462"/>
                <a:ext cx="625785" cy="625785"/>
              </a:xfrm>
              <a:prstGeom prst="ellipse">
                <a:avLst/>
              </a:prstGeom>
              <a:noFill/>
              <a:ln w="635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grpSp>
        <p:sp>
          <p:nvSpPr>
            <p:cNvPr id="62" name="文本框 61"/>
            <p:cNvSpPr txBox="1"/>
            <p:nvPr/>
          </p:nvSpPr>
          <p:spPr>
            <a:xfrm>
              <a:off x="9322" y="3987"/>
              <a:ext cx="1075" cy="709"/>
            </a:xfrm>
            <a:prstGeom prst="rect">
              <a:avLst/>
            </a:prstGeom>
            <a:noFill/>
          </p:spPr>
          <p:txBody>
            <a:bodyPr wrap="square" rtlCol="0" anchor="ctr" anchorCtr="0" lIns="0" rIns="0" tIns="0" bIns="0">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会员体系化建设</a:t>
              </a:r>
              <a:endParaRPr lang="zh-CN" altLang="en-US" sz="1000" dirty="0">
                <a:solidFill>
                  <a:srgbClr val="383838"/>
                </a:solidFill>
                <a:latin typeface="微软雅黑"/>
                <a:ea typeface="微软雅黑"/>
                <a:cs typeface="微软雅黑"/>
              </a:endParaRPr>
            </a:p>
          </p:txBody>
        </p:sp>
      </p:grpSp>
      <p:grpSp>
        <p:nvGrpSpPr>
          <p:cNvPr id="70" name="组合 69"/>
          <p:cNvGrpSpPr/>
          <p:nvPr/>
        </p:nvGrpSpPr>
        <p:grpSpPr>
          <a:xfrm>
            <a:off x="10026650" y="2299335"/>
            <a:ext cx="883920" cy="883920"/>
            <a:chOff x="9163" y="3645"/>
            <a:chExt cx="1392" cy="1392"/>
          </a:xfrm>
        </p:grpSpPr>
        <p:grpSp>
          <p:nvGrpSpPr>
            <p:cNvPr id="71" name="组合 70"/>
            <p:cNvGrpSpPr/>
            <p:nvPr/>
          </p:nvGrpSpPr>
          <p:grpSpPr>
            <a:xfrm rot="0">
              <a:off x="9163" y="3645"/>
              <a:ext cx="1392" cy="1392"/>
              <a:chOff x="5719739" y="3319093"/>
              <a:chExt cx="752522" cy="752522"/>
            </a:xfrm>
          </p:grpSpPr>
          <p:sp>
            <p:nvSpPr>
              <p:cNvPr id="73" name="©显眼包PPT-1"/>
              <p:cNvSpPr/>
              <p:nvPr/>
            </p:nvSpPr>
            <p:spPr>
              <a:xfrm>
                <a:off x="5719739" y="3319093"/>
                <a:ext cx="752522" cy="752522"/>
              </a:xfrm>
              <a:prstGeom prst="ellipse">
                <a:avLst/>
              </a:pr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75" name="©显眼包PPT-2"/>
              <p:cNvSpPr/>
              <p:nvPr/>
            </p:nvSpPr>
            <p:spPr>
              <a:xfrm>
                <a:off x="5756814" y="3356168"/>
                <a:ext cx="678371" cy="678371"/>
              </a:xfrm>
              <a:prstGeom prst="ellipse">
                <a:avLst/>
              </a:prstGeom>
              <a:gradFill flip="none" rotWithShape="1">
                <a:gsLst>
                  <a:gs pos="39000">
                    <a:srgbClr val="FFFFFF"/>
                  </a:gs>
                  <a:gs pos="100000">
                    <a:srgbClr val="B3D4FE"/>
                  </a:gs>
                </a:gsLst>
                <a:path path="circle">
                  <a:fillToRect l="50000" t="50000" r="50000" b="50000"/>
                </a:path>
                <a:tileRect/>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kern="0" dirty="0">
                  <a:solidFill>
                    <a:srgbClr val="0042FF"/>
                  </a:solidFill>
                  <a:latin typeface="微软雅黑"/>
                  <a:ea typeface="微软雅黑"/>
                  <a:cs typeface="微软雅黑"/>
                  <a:sym typeface="微软雅黑"/>
                </a:endParaRPr>
              </a:p>
            </p:txBody>
          </p:sp>
          <p:sp>
            <p:nvSpPr>
              <p:cNvPr id="76" name="©显眼包PPT-3"/>
              <p:cNvSpPr/>
              <p:nvPr/>
            </p:nvSpPr>
            <p:spPr>
              <a:xfrm>
                <a:off x="5783108" y="3382462"/>
                <a:ext cx="625785" cy="625785"/>
              </a:xfrm>
              <a:prstGeom prst="ellipse">
                <a:avLst/>
              </a:prstGeom>
              <a:noFill/>
              <a:ln w="635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grpSp>
        <p:sp>
          <p:nvSpPr>
            <p:cNvPr id="77" name="文本框 76"/>
            <p:cNvSpPr txBox="1"/>
            <p:nvPr/>
          </p:nvSpPr>
          <p:spPr>
            <a:xfrm>
              <a:off x="9322" y="3988"/>
              <a:ext cx="1075" cy="709"/>
            </a:xfrm>
            <a:prstGeom prst="rect">
              <a:avLst/>
            </a:prstGeom>
            <a:noFill/>
          </p:spPr>
          <p:txBody>
            <a:bodyPr wrap="square" rtlCol="0" anchor="ctr" anchorCtr="0" lIns="0" rIns="0" tIns="0" bIns="0">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全渠道协同的运营</a:t>
              </a:r>
              <a:endParaRPr lang="zh-CN" altLang="en-US" sz="1000" dirty="0">
                <a:solidFill>
                  <a:srgbClr val="383838"/>
                </a:solidFill>
                <a:latin typeface="微软雅黑"/>
                <a:ea typeface="微软雅黑"/>
                <a:cs typeface="微软雅黑"/>
              </a:endParaRPr>
            </a:p>
          </p:txBody>
        </p:sp>
      </p:grpSp>
      <p:sp>
        <p:nvSpPr>
          <p:cNvPr id="78" name="椭圆 77"/>
          <p:cNvSpPr/>
          <p:nvPr/>
        </p:nvSpPr>
        <p:spPr>
          <a:xfrm>
            <a:off x="10717530" y="5175885"/>
            <a:ext cx="86360" cy="86360"/>
          </a:xfrm>
          <a:prstGeom prst="ellipse">
            <a:avLst/>
          </a:prstGeom>
          <a:solidFill>
            <a:srgbClr val="3368FF"/>
          </a:solidFill>
          <a:ln w="38100">
            <a:solidFill>
              <a:srgbClr val="FFFFFF"/>
            </a:solidFill>
          </a:ln>
          <a:effectLst>
            <a:outerShdw blurRad="203200" dist="63500" dir="2700000" algn="tl" rotWithShape="0">
              <a:srgbClr val="3368FF">
                <a:alpha val="30000"/>
              </a:srgbClr>
            </a:outerShdw>
          </a:effectLst>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79" name="文本框 78"/>
          <p:cNvSpPr txBox="1"/>
          <p:nvPr/>
        </p:nvSpPr>
        <p:spPr>
          <a:xfrm>
            <a:off x="11144250" y="5093335"/>
            <a:ext cx="654685" cy="313690"/>
          </a:xfrm>
          <a:prstGeom prst="rect">
            <a:avLst/>
          </a:prstGeom>
          <a:noFill/>
        </p:spPr>
        <p:txBody>
          <a:bodyPr wrap="square" lIns="0" tIns="0" rIns="0" bIns="0" rtlCol="0" anchor="t">
            <a:noAutofit/>
          </a:bodyPr>
          <a:lstStyle/>
          <a:p>
            <a:pPr algn="l">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部门总总经理</a:t>
            </a:r>
            <a:endParaRPr lang="zh-CN" altLang="en-US" sz="1000" dirty="0">
              <a:solidFill>
                <a:srgbClr val="383838"/>
              </a:solidFill>
              <a:latin typeface="微软雅黑"/>
              <a:ea typeface="微软雅黑"/>
              <a:cs typeface="微软雅黑"/>
            </a:endParaRPr>
          </a:p>
        </p:txBody>
      </p:sp>
      <p:sp>
        <p:nvSpPr>
          <p:cNvPr id="80" name="文本框 79"/>
          <p:cNvSpPr txBox="1"/>
          <p:nvPr/>
        </p:nvSpPr>
        <p:spPr>
          <a:xfrm>
            <a:off x="6625590" y="5626100"/>
            <a:ext cx="321945" cy="171450"/>
          </a:xfrm>
          <a:prstGeom prst="rect">
            <a:avLst/>
          </a:prstGeom>
          <a:noFill/>
        </p:spPr>
        <p:txBody>
          <a:bodyPr wrap="square" rtlCol="0"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2</a:t>
            </a:r>
            <a:r>
              <a:rPr lang="zh-CN" altLang="en-US" sz="1000">
                <a:solidFill>
                  <a:srgbClr val="383838"/>
                </a:solidFill>
                <a:latin typeface="微软雅黑"/>
                <a:ea typeface="微软雅黑"/>
                <a:cs typeface="微软雅黑"/>
              </a:rPr>
              <a:t>月</a:t>
            </a:r>
            <a:endParaRPr lang="zh-CN" altLang="en-US" sz="1000">
              <a:solidFill>
                <a:srgbClr val="383838"/>
              </a:solidFill>
              <a:latin typeface="微软雅黑"/>
              <a:ea typeface="微软雅黑"/>
              <a:cs typeface="微软雅黑"/>
            </a:endParaRPr>
          </a:p>
        </p:txBody>
      </p:sp>
      <p:sp>
        <p:nvSpPr>
          <p:cNvPr id="81" name="文本框 80"/>
          <p:cNvSpPr txBox="1"/>
          <p:nvPr/>
        </p:nvSpPr>
        <p:spPr>
          <a:xfrm>
            <a:off x="6975475" y="5626100"/>
            <a:ext cx="321945" cy="171450"/>
          </a:xfrm>
          <a:prstGeom prst="rect">
            <a:avLst/>
          </a:prstGeom>
          <a:noFill/>
        </p:spPr>
        <p:txBody>
          <a:bodyPr wrap="square" rtlCol="0"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3</a:t>
            </a:r>
            <a:r>
              <a:rPr lang="zh-CN" altLang="en-US" sz="1000">
                <a:solidFill>
                  <a:srgbClr val="383838"/>
                </a:solidFill>
                <a:latin typeface="微软雅黑"/>
                <a:ea typeface="微软雅黑"/>
                <a:cs typeface="微软雅黑"/>
              </a:rPr>
              <a:t>月</a:t>
            </a:r>
            <a:endParaRPr lang="zh-CN" altLang="en-US" sz="1000">
              <a:solidFill>
                <a:srgbClr val="383838"/>
              </a:solidFill>
              <a:latin typeface="微软雅黑"/>
              <a:ea typeface="微软雅黑"/>
              <a:cs typeface="微软雅黑"/>
            </a:endParaRPr>
          </a:p>
        </p:txBody>
      </p:sp>
      <p:sp>
        <p:nvSpPr>
          <p:cNvPr id="82" name="文本框 81"/>
          <p:cNvSpPr txBox="1"/>
          <p:nvPr/>
        </p:nvSpPr>
        <p:spPr>
          <a:xfrm>
            <a:off x="7325360" y="5626100"/>
            <a:ext cx="321945" cy="171450"/>
          </a:xfrm>
          <a:prstGeom prst="rect">
            <a:avLst/>
          </a:prstGeom>
          <a:noFill/>
        </p:spPr>
        <p:txBody>
          <a:bodyPr wrap="square" rtlCol="0"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a:t>
            </a:r>
            <a:r>
              <a:rPr lang="zh-CN" altLang="en-US" sz="1000">
                <a:solidFill>
                  <a:srgbClr val="383838"/>
                </a:solidFill>
                <a:latin typeface="微软雅黑"/>
                <a:ea typeface="微软雅黑"/>
                <a:cs typeface="微软雅黑"/>
              </a:rPr>
              <a:t>月</a:t>
            </a:r>
            <a:endParaRPr lang="zh-CN" altLang="en-US" sz="1000">
              <a:solidFill>
                <a:srgbClr val="383838"/>
              </a:solidFill>
              <a:latin typeface="微软雅黑"/>
              <a:ea typeface="微软雅黑"/>
              <a:cs typeface="微软雅黑"/>
            </a:endParaRPr>
          </a:p>
        </p:txBody>
      </p:sp>
      <p:sp>
        <p:nvSpPr>
          <p:cNvPr id="111" name="文本框 110"/>
          <p:cNvSpPr txBox="1"/>
          <p:nvPr/>
        </p:nvSpPr>
        <p:spPr>
          <a:xfrm>
            <a:off x="7675245" y="5626100"/>
            <a:ext cx="321945" cy="171450"/>
          </a:xfrm>
          <a:prstGeom prst="rect">
            <a:avLst/>
          </a:prstGeom>
          <a:noFill/>
        </p:spPr>
        <p:txBody>
          <a:bodyPr wrap="square" rtlCol="0"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5</a:t>
            </a:r>
            <a:r>
              <a:rPr lang="zh-CN" altLang="en-US" sz="1000">
                <a:solidFill>
                  <a:srgbClr val="383838"/>
                </a:solidFill>
                <a:latin typeface="微软雅黑"/>
                <a:ea typeface="微软雅黑"/>
                <a:cs typeface="微软雅黑"/>
              </a:rPr>
              <a:t>月</a:t>
            </a:r>
            <a:endParaRPr lang="zh-CN" altLang="en-US" sz="1000">
              <a:solidFill>
                <a:srgbClr val="383838"/>
              </a:solidFill>
              <a:latin typeface="微软雅黑"/>
              <a:ea typeface="微软雅黑"/>
              <a:cs typeface="微软雅黑"/>
            </a:endParaRPr>
          </a:p>
        </p:txBody>
      </p:sp>
      <p:sp>
        <p:nvSpPr>
          <p:cNvPr id="116" name="文本框 115"/>
          <p:cNvSpPr txBox="1"/>
          <p:nvPr/>
        </p:nvSpPr>
        <p:spPr>
          <a:xfrm>
            <a:off x="8025130" y="5626100"/>
            <a:ext cx="321945" cy="171450"/>
          </a:xfrm>
          <a:prstGeom prst="rect">
            <a:avLst/>
          </a:prstGeom>
          <a:noFill/>
        </p:spPr>
        <p:txBody>
          <a:bodyPr wrap="square" rtlCol="0"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6</a:t>
            </a:r>
            <a:r>
              <a:rPr lang="zh-CN" altLang="en-US" sz="1000">
                <a:solidFill>
                  <a:srgbClr val="383838"/>
                </a:solidFill>
                <a:latin typeface="微软雅黑"/>
                <a:ea typeface="微软雅黑"/>
                <a:cs typeface="微软雅黑"/>
              </a:rPr>
              <a:t>月</a:t>
            </a:r>
            <a:endParaRPr lang="zh-CN" altLang="en-US" sz="1000">
              <a:solidFill>
                <a:srgbClr val="383838"/>
              </a:solidFill>
              <a:latin typeface="微软雅黑"/>
              <a:ea typeface="微软雅黑"/>
              <a:cs typeface="微软雅黑"/>
            </a:endParaRPr>
          </a:p>
        </p:txBody>
      </p:sp>
      <p:sp>
        <p:nvSpPr>
          <p:cNvPr id="117" name="文本框 116"/>
          <p:cNvSpPr txBox="1"/>
          <p:nvPr/>
        </p:nvSpPr>
        <p:spPr>
          <a:xfrm>
            <a:off x="8375015" y="5626100"/>
            <a:ext cx="321945" cy="171450"/>
          </a:xfrm>
          <a:prstGeom prst="rect">
            <a:avLst/>
          </a:prstGeom>
          <a:noFill/>
        </p:spPr>
        <p:txBody>
          <a:bodyPr wrap="square" rtlCol="0"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7</a:t>
            </a:r>
            <a:r>
              <a:rPr lang="zh-CN" altLang="en-US" sz="1000">
                <a:solidFill>
                  <a:srgbClr val="383838"/>
                </a:solidFill>
                <a:latin typeface="微软雅黑"/>
                <a:ea typeface="微软雅黑"/>
                <a:cs typeface="微软雅黑"/>
              </a:rPr>
              <a:t>月</a:t>
            </a:r>
            <a:endParaRPr lang="zh-CN" altLang="en-US" sz="1000">
              <a:solidFill>
                <a:srgbClr val="383838"/>
              </a:solidFill>
              <a:latin typeface="微软雅黑"/>
              <a:ea typeface="微软雅黑"/>
              <a:cs typeface="微软雅黑"/>
            </a:endParaRPr>
          </a:p>
        </p:txBody>
      </p:sp>
      <p:sp>
        <p:nvSpPr>
          <p:cNvPr id="118" name="文本框 117"/>
          <p:cNvSpPr txBox="1"/>
          <p:nvPr/>
        </p:nvSpPr>
        <p:spPr>
          <a:xfrm>
            <a:off x="6275705" y="5626100"/>
            <a:ext cx="321945" cy="171450"/>
          </a:xfrm>
          <a:prstGeom prst="rect">
            <a:avLst/>
          </a:prstGeom>
          <a:noFill/>
        </p:spPr>
        <p:txBody>
          <a:bodyPr wrap="square" rtlCol="0"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1</a:t>
            </a:r>
            <a:r>
              <a:rPr lang="zh-CN" altLang="en-US" sz="1000">
                <a:solidFill>
                  <a:srgbClr val="383838"/>
                </a:solidFill>
                <a:latin typeface="微软雅黑"/>
                <a:ea typeface="微软雅黑"/>
                <a:cs typeface="微软雅黑"/>
              </a:rPr>
              <a:t>月</a:t>
            </a:r>
            <a:endParaRPr lang="zh-CN" altLang="en-US" sz="1000">
              <a:solidFill>
                <a:srgbClr val="383838"/>
              </a:solidFill>
              <a:latin typeface="微软雅黑"/>
              <a:ea typeface="微软雅黑"/>
              <a:cs typeface="微软雅黑"/>
            </a:endParaRPr>
          </a:p>
        </p:txBody>
      </p:sp>
      <p:grpSp>
        <p:nvGrpSpPr>
          <p:cNvPr id="148" name="组合 147"/>
          <p:cNvGrpSpPr/>
          <p:nvPr/>
        </p:nvGrpSpPr>
        <p:grpSpPr>
          <a:xfrm rot="0">
            <a:off x="1090295" y="3161030"/>
            <a:ext cx="692150" cy="692150"/>
            <a:chOff x="9163" y="3645"/>
            <a:chExt cx="1392" cy="1392"/>
          </a:xfrm>
        </p:grpSpPr>
        <p:grpSp>
          <p:nvGrpSpPr>
            <p:cNvPr id="149" name="组合 148"/>
            <p:cNvGrpSpPr/>
            <p:nvPr/>
          </p:nvGrpSpPr>
          <p:grpSpPr>
            <a:xfrm rot="0">
              <a:off x="9163" y="3645"/>
              <a:ext cx="1392" cy="1392"/>
              <a:chOff x="5719739" y="3319093"/>
              <a:chExt cx="752522" cy="752522"/>
            </a:xfrm>
          </p:grpSpPr>
          <p:sp>
            <p:nvSpPr>
              <p:cNvPr id="150" name="©显眼包PPT-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sp>
            <p:nvSpPr>
              <p:cNvPr id="151" name="©显眼包PPT-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kern="0" dirty="0">
                  <a:solidFill>
                    <a:srgbClr val="383838"/>
                  </a:solidFill>
                  <a:latin typeface="微软雅黑"/>
                  <a:ea typeface="微软雅黑"/>
                  <a:cs typeface="微软雅黑"/>
                  <a:sym typeface="微软雅黑"/>
                </a:endParaRPr>
              </a:p>
            </p:txBody>
          </p:sp>
          <p:sp>
            <p:nvSpPr>
              <p:cNvPr id="152" name="©显眼包PPT-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grpSp>
        <p:sp>
          <p:nvSpPr>
            <p:cNvPr id="153" name="文本框 152"/>
            <p:cNvSpPr txBox="1"/>
            <p:nvPr/>
          </p:nvSpPr>
          <p:spPr>
            <a:xfrm>
              <a:off x="9322" y="3944"/>
              <a:ext cx="1075" cy="802"/>
            </a:xfrm>
            <a:prstGeom prst="rect">
              <a:avLst/>
            </a:prstGeom>
            <a:noFill/>
          </p:spPr>
          <p:txBody>
            <a:bodyPr wrap="square" rtlCol="0" anchor="ctr" anchorCtr="0" lIns="0" rIns="0" tIns="0" bIns="0">
              <a:spAutoFit/>
            </a:bodyPr>
            <a:lstStyle/>
            <a:p>
              <a:pPr indent="0" algn="ctr" fontAlgn="auto">
                <a:lnSpc>
                  <a:spcPct val="100000"/>
                </a:lnSpc>
                <a:defRPr>
                  <a:latin typeface="微软雅黑"/>
                  <a:ea typeface="微软雅黑"/>
                  <a:cs typeface="微软雅黑"/>
                </a:defRPr>
              </a:pPr>
              <a:r>
                <a:rPr lang="zh-CN" altLang="en-US" sz="1000" b="1" dirty="0">
                  <a:solidFill>
                    <a:srgbClr val="383838"/>
                  </a:solidFill>
                  <a:latin typeface="微软雅黑"/>
                  <a:ea typeface="微软雅黑"/>
                  <a:cs typeface="微软雅黑"/>
                </a:rPr>
                <a:t>智能</a:t>
              </a:r>
              <a:endParaRPr lang="zh-CN" altLang="en-US" sz="1000" b="1" dirty="0">
                <a:solidFill>
                  <a:srgbClr val="383838"/>
                </a:solidFill>
                <a:latin typeface="微软雅黑"/>
                <a:ea typeface="微软雅黑"/>
                <a:cs typeface="微软雅黑"/>
              </a:endParaRPr>
            </a:p>
            <a:p>
              <a:pPr indent="0" algn="ctr" fontAlgn="auto">
                <a:lnSpc>
                  <a:spcPct val="100000"/>
                </a:lnSpc>
                <a:defRPr>
                  <a:latin typeface="微软雅黑"/>
                  <a:ea typeface="微软雅黑"/>
                  <a:cs typeface="微软雅黑"/>
                </a:defRPr>
              </a:pPr>
              <a:r>
                <a:rPr lang="zh-CN" altLang="en-US" sz="1000" b="1" dirty="0">
                  <a:solidFill>
                    <a:srgbClr val="383838"/>
                  </a:solidFill>
                  <a:latin typeface="微软雅黑"/>
                  <a:ea typeface="微软雅黑"/>
                  <a:cs typeface="微软雅黑"/>
                </a:rPr>
                <a:t>手机</a:t>
              </a:r>
              <a:endParaRPr lang="zh-CN" altLang="en-US" sz="1000" b="1" dirty="0">
                <a:solidFill>
                  <a:srgbClr val="383838"/>
                </a:solidFill>
                <a:latin typeface="微软雅黑"/>
                <a:ea typeface="微软雅黑"/>
                <a:cs typeface="微软雅黑"/>
              </a:endParaRPr>
            </a:p>
          </p:txBody>
        </p:sp>
      </p:grpSp>
      <p:grpSp>
        <p:nvGrpSpPr>
          <p:cNvPr id="154" name="组合 153"/>
          <p:cNvGrpSpPr/>
          <p:nvPr/>
        </p:nvGrpSpPr>
        <p:grpSpPr>
          <a:xfrm rot="0">
            <a:off x="1826260" y="3161030"/>
            <a:ext cx="692150" cy="692150"/>
            <a:chOff x="9163" y="3645"/>
            <a:chExt cx="1392" cy="1392"/>
          </a:xfrm>
        </p:grpSpPr>
        <p:grpSp>
          <p:nvGrpSpPr>
            <p:cNvPr id="155" name="组合 154"/>
            <p:cNvGrpSpPr/>
            <p:nvPr/>
          </p:nvGrpSpPr>
          <p:grpSpPr>
            <a:xfrm rot="0">
              <a:off x="9163" y="3645"/>
              <a:ext cx="1392" cy="1392"/>
              <a:chOff x="5719739" y="3319093"/>
              <a:chExt cx="752522" cy="752522"/>
            </a:xfrm>
          </p:grpSpPr>
          <p:sp>
            <p:nvSpPr>
              <p:cNvPr id="156" name="©显眼包PPT-1"/>
              <p:cNvSpPr/>
              <p:nvPr/>
            </p:nvSpPr>
            <p:spPr>
              <a:xfrm>
                <a:off x="5719739" y="3319093"/>
                <a:ext cx="752522" cy="752522"/>
              </a:xfrm>
              <a:prstGeom prst="ellipse">
                <a:avLst/>
              </a:pr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sp>
            <p:nvSpPr>
              <p:cNvPr id="157" name="©显眼包PPT-2"/>
              <p:cNvSpPr/>
              <p:nvPr/>
            </p:nvSpPr>
            <p:spPr>
              <a:xfrm>
                <a:off x="5756814" y="3356168"/>
                <a:ext cx="678371" cy="678371"/>
              </a:xfrm>
              <a:prstGeom prst="ellipse">
                <a:avLst/>
              </a:prstGeom>
              <a:gradFill flip="none" rotWithShape="1">
                <a:gsLst>
                  <a:gs pos="39000">
                    <a:srgbClr val="FFFFFF"/>
                  </a:gs>
                  <a:gs pos="100000">
                    <a:srgbClr val="B3D4FE"/>
                  </a:gs>
                </a:gsLst>
                <a:path path="circle">
                  <a:fillToRect l="50000" t="50000" r="50000" b="50000"/>
                </a:path>
                <a:tileRect/>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kern="0" dirty="0">
                  <a:solidFill>
                    <a:srgbClr val="0042FF"/>
                  </a:solidFill>
                  <a:latin typeface="微软雅黑"/>
                  <a:ea typeface="微软雅黑"/>
                  <a:cs typeface="微软雅黑"/>
                  <a:sym typeface="微软雅黑"/>
                </a:endParaRPr>
              </a:p>
            </p:txBody>
          </p:sp>
          <p:sp>
            <p:nvSpPr>
              <p:cNvPr id="158" name="©显眼包PPT-3"/>
              <p:cNvSpPr/>
              <p:nvPr/>
            </p:nvSpPr>
            <p:spPr>
              <a:xfrm>
                <a:off x="5783108" y="3382462"/>
                <a:ext cx="625785" cy="625785"/>
              </a:xfrm>
              <a:prstGeom prst="ellipse">
                <a:avLst/>
              </a:prstGeom>
              <a:noFill/>
              <a:ln w="635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grpSp>
        <p:sp>
          <p:nvSpPr>
            <p:cNvPr id="159" name="文本框 158"/>
            <p:cNvSpPr txBox="1"/>
            <p:nvPr/>
          </p:nvSpPr>
          <p:spPr>
            <a:xfrm>
              <a:off x="9322" y="3945"/>
              <a:ext cx="1075" cy="802"/>
            </a:xfrm>
            <a:prstGeom prst="rect">
              <a:avLst/>
            </a:prstGeom>
            <a:noFill/>
          </p:spPr>
          <p:txBody>
            <a:bodyPr wrap="square" rtlCol="0" anchor="ctr" anchorCtr="0" lIns="0" rIns="0" tIns="0" bIns="0">
              <a:spAutoFit/>
            </a:bodyPr>
            <a:lstStyle/>
            <a:p>
              <a:pPr indent="0" algn="ctr" fontAlgn="auto">
                <a:lnSpc>
                  <a:spcPct val="100000"/>
                </a:lnSpc>
                <a:defRPr>
                  <a:latin typeface="微软雅黑"/>
                  <a:ea typeface="微软雅黑"/>
                  <a:cs typeface="微软雅黑"/>
                </a:defRPr>
              </a:pPr>
              <a:r>
                <a:rPr lang="zh-CN" altLang="en-US" sz="1000" b="1" dirty="0">
                  <a:solidFill>
                    <a:srgbClr val="0042FF"/>
                  </a:solidFill>
                  <a:latin typeface="微软雅黑"/>
                  <a:ea typeface="微软雅黑"/>
                  <a:cs typeface="微软雅黑"/>
                </a:rPr>
                <a:t>智能</a:t>
              </a:r>
              <a:endParaRPr lang="zh-CN" altLang="en-US" sz="1000" b="1" dirty="0">
                <a:solidFill>
                  <a:srgbClr val="0042FF"/>
                </a:solidFill>
                <a:latin typeface="微软雅黑"/>
                <a:ea typeface="微软雅黑"/>
                <a:cs typeface="微软雅黑"/>
              </a:endParaRPr>
            </a:p>
            <a:p>
              <a:pPr indent="0" algn="ctr" fontAlgn="auto">
                <a:lnSpc>
                  <a:spcPct val="100000"/>
                </a:lnSpc>
                <a:defRPr>
                  <a:latin typeface="微软雅黑"/>
                  <a:ea typeface="微软雅黑"/>
                  <a:cs typeface="微软雅黑"/>
                </a:defRPr>
              </a:pPr>
              <a:r>
                <a:rPr lang="zh-CN" altLang="en-US" sz="1000" b="1" dirty="0">
                  <a:solidFill>
                    <a:srgbClr val="0042FF"/>
                  </a:solidFill>
                  <a:latin typeface="微软雅黑"/>
                  <a:ea typeface="微软雅黑"/>
                  <a:cs typeface="微软雅黑"/>
                </a:rPr>
                <a:t>家居</a:t>
              </a:r>
              <a:endParaRPr lang="zh-CN" altLang="en-US" sz="1000" b="1" dirty="0">
                <a:solidFill>
                  <a:srgbClr val="0042FF"/>
                </a:solidFill>
                <a:latin typeface="微软雅黑"/>
                <a:ea typeface="微软雅黑"/>
                <a:cs typeface="微软雅黑"/>
              </a:endParaRPr>
            </a:p>
          </p:txBody>
        </p:sp>
      </p:grpSp>
      <p:grpSp>
        <p:nvGrpSpPr>
          <p:cNvPr id="161" name="组合 160"/>
          <p:cNvGrpSpPr/>
          <p:nvPr/>
        </p:nvGrpSpPr>
        <p:grpSpPr>
          <a:xfrm rot="0">
            <a:off x="2562225" y="3161030"/>
            <a:ext cx="692150" cy="692150"/>
            <a:chOff x="9163" y="3645"/>
            <a:chExt cx="1392" cy="1392"/>
          </a:xfrm>
        </p:grpSpPr>
        <p:grpSp>
          <p:nvGrpSpPr>
            <p:cNvPr id="162" name="组合 161"/>
            <p:cNvGrpSpPr/>
            <p:nvPr/>
          </p:nvGrpSpPr>
          <p:grpSpPr>
            <a:xfrm rot="0">
              <a:off x="9163" y="3645"/>
              <a:ext cx="1392" cy="1392"/>
              <a:chOff x="5719739" y="3319093"/>
              <a:chExt cx="752522" cy="752522"/>
            </a:xfrm>
          </p:grpSpPr>
          <p:sp>
            <p:nvSpPr>
              <p:cNvPr id="163" name="©显眼包PPT-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sp>
            <p:nvSpPr>
              <p:cNvPr id="164" name="©显眼包PPT-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kern="0" dirty="0">
                  <a:solidFill>
                    <a:srgbClr val="383838"/>
                  </a:solidFill>
                  <a:latin typeface="微软雅黑"/>
                  <a:ea typeface="微软雅黑"/>
                  <a:cs typeface="微软雅黑"/>
                  <a:sym typeface="微软雅黑"/>
                </a:endParaRPr>
              </a:p>
            </p:txBody>
          </p:sp>
          <p:sp>
            <p:nvSpPr>
              <p:cNvPr id="165" name="©显眼包PPT-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grpSp>
        <p:sp>
          <p:nvSpPr>
            <p:cNvPr id="167" name="文本框 166"/>
            <p:cNvSpPr txBox="1"/>
            <p:nvPr/>
          </p:nvSpPr>
          <p:spPr>
            <a:xfrm>
              <a:off x="9322" y="3946"/>
              <a:ext cx="1075" cy="802"/>
            </a:xfrm>
            <a:prstGeom prst="rect">
              <a:avLst/>
            </a:prstGeom>
            <a:noFill/>
          </p:spPr>
          <p:txBody>
            <a:bodyPr wrap="square" rtlCol="0" anchor="ctr" anchorCtr="0" lIns="0" rIns="0" tIns="0" bIns="0">
              <a:spAutoFit/>
            </a:bodyPr>
            <a:lstStyle/>
            <a:p>
              <a:pPr indent="0" algn="ctr" fontAlgn="auto">
                <a:lnSpc>
                  <a:spcPct val="100000"/>
                </a:lnSpc>
                <a:defRPr>
                  <a:latin typeface="微软雅黑"/>
                  <a:ea typeface="微软雅黑"/>
                  <a:cs typeface="微软雅黑"/>
                </a:defRPr>
              </a:pPr>
              <a:r>
                <a:rPr lang="zh-CN" altLang="en-US" sz="1000" b="1" dirty="0">
                  <a:solidFill>
                    <a:srgbClr val="383838"/>
                  </a:solidFill>
                  <a:latin typeface="微软雅黑"/>
                  <a:ea typeface="微软雅黑"/>
                  <a:cs typeface="微软雅黑"/>
                </a:rPr>
                <a:t>办公设备</a:t>
              </a:r>
              <a:endParaRPr lang="zh-CN" altLang="en-US" sz="1000" b="1" dirty="0">
                <a:solidFill>
                  <a:srgbClr val="383838"/>
                </a:solidFill>
                <a:latin typeface="微软雅黑"/>
                <a:ea typeface="微软雅黑"/>
                <a:cs typeface="微软雅黑"/>
              </a:endParaRPr>
            </a:p>
          </p:txBody>
        </p:sp>
      </p:grpSp>
      <p:grpSp>
        <p:nvGrpSpPr>
          <p:cNvPr id="168" name="组合 167"/>
          <p:cNvGrpSpPr/>
          <p:nvPr/>
        </p:nvGrpSpPr>
        <p:grpSpPr>
          <a:xfrm rot="0">
            <a:off x="3298190" y="3161030"/>
            <a:ext cx="692150" cy="692150"/>
            <a:chOff x="9163" y="3645"/>
            <a:chExt cx="1392" cy="1392"/>
          </a:xfrm>
        </p:grpSpPr>
        <p:grpSp>
          <p:nvGrpSpPr>
            <p:cNvPr id="169" name="组合 168"/>
            <p:cNvGrpSpPr/>
            <p:nvPr/>
          </p:nvGrpSpPr>
          <p:grpSpPr>
            <a:xfrm rot="0">
              <a:off x="9163" y="3645"/>
              <a:ext cx="1392" cy="1392"/>
              <a:chOff x="5719739" y="3319093"/>
              <a:chExt cx="752522" cy="752522"/>
            </a:xfrm>
          </p:grpSpPr>
          <p:sp>
            <p:nvSpPr>
              <p:cNvPr id="170" name="©显眼包PPT-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sp>
            <p:nvSpPr>
              <p:cNvPr id="174" name="©显眼包PPT-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kern="0" dirty="0">
                  <a:solidFill>
                    <a:srgbClr val="383838"/>
                  </a:solidFill>
                  <a:latin typeface="微软雅黑"/>
                  <a:ea typeface="微软雅黑"/>
                  <a:cs typeface="微软雅黑"/>
                  <a:sym typeface="微软雅黑"/>
                </a:endParaRPr>
              </a:p>
            </p:txBody>
          </p:sp>
          <p:sp>
            <p:nvSpPr>
              <p:cNvPr id="175" name="©显眼包PPT-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grpSp>
        <p:sp>
          <p:nvSpPr>
            <p:cNvPr id="176" name="文本框 175"/>
            <p:cNvSpPr txBox="1"/>
            <p:nvPr/>
          </p:nvSpPr>
          <p:spPr>
            <a:xfrm>
              <a:off x="9322" y="3946"/>
              <a:ext cx="1075" cy="802"/>
            </a:xfrm>
            <a:prstGeom prst="rect">
              <a:avLst/>
            </a:prstGeom>
            <a:noFill/>
          </p:spPr>
          <p:txBody>
            <a:bodyPr wrap="square" rtlCol="0" anchor="ctr" anchorCtr="0" lIns="0" rIns="0" tIns="0" bIns="0">
              <a:spAutoFit/>
            </a:bodyPr>
            <a:lstStyle/>
            <a:p>
              <a:pPr indent="0" algn="ctr" fontAlgn="auto">
                <a:lnSpc>
                  <a:spcPct val="100000"/>
                </a:lnSpc>
                <a:defRPr>
                  <a:latin typeface="微软雅黑"/>
                  <a:ea typeface="微软雅黑"/>
                  <a:cs typeface="微软雅黑"/>
                </a:defRPr>
              </a:pPr>
              <a:r>
                <a:rPr lang="zh-CN" altLang="en-US" sz="1000" b="1" dirty="0">
                  <a:solidFill>
                    <a:srgbClr val="383838"/>
                  </a:solidFill>
                  <a:latin typeface="微软雅黑"/>
                  <a:ea typeface="微软雅黑"/>
                  <a:cs typeface="微软雅黑"/>
                </a:rPr>
                <a:t>智能手机</a:t>
              </a:r>
              <a:endParaRPr lang="zh-CN" altLang="en-US" sz="1000" b="1" dirty="0">
                <a:solidFill>
                  <a:srgbClr val="383838"/>
                </a:solidFill>
                <a:latin typeface="微软雅黑"/>
                <a:ea typeface="微软雅黑"/>
                <a:cs typeface="微软雅黑"/>
              </a:endParaRPr>
            </a:p>
          </p:txBody>
        </p:sp>
      </p:grpSp>
      <p:grpSp>
        <p:nvGrpSpPr>
          <p:cNvPr id="177" name="组合 176"/>
          <p:cNvGrpSpPr/>
          <p:nvPr/>
        </p:nvGrpSpPr>
        <p:grpSpPr>
          <a:xfrm rot="0">
            <a:off x="4034155" y="3161030"/>
            <a:ext cx="692150" cy="692150"/>
            <a:chOff x="9163" y="3645"/>
            <a:chExt cx="1392" cy="1392"/>
          </a:xfrm>
        </p:grpSpPr>
        <p:grpSp>
          <p:nvGrpSpPr>
            <p:cNvPr id="178" name="组合 177"/>
            <p:cNvGrpSpPr/>
            <p:nvPr/>
          </p:nvGrpSpPr>
          <p:grpSpPr>
            <a:xfrm rot="0">
              <a:off x="9163" y="3645"/>
              <a:ext cx="1392" cy="1392"/>
              <a:chOff x="5719739" y="3319093"/>
              <a:chExt cx="752522" cy="752522"/>
            </a:xfrm>
          </p:grpSpPr>
          <p:sp>
            <p:nvSpPr>
              <p:cNvPr id="179" name="©显眼包PPT-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100">
                  <a:solidFill>
                    <a:srgbClr val="0042FF"/>
                  </a:solidFill>
                  <a:latin typeface="微软雅黑"/>
                  <a:ea typeface="微软雅黑"/>
                  <a:cs typeface="微软雅黑"/>
                </a:endParaRPr>
              </a:p>
            </p:txBody>
          </p:sp>
          <p:sp>
            <p:nvSpPr>
              <p:cNvPr id="180" name="©显眼包PPT-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100" kern="0" dirty="0">
                  <a:solidFill>
                    <a:srgbClr val="383838"/>
                  </a:solidFill>
                  <a:latin typeface="微软雅黑"/>
                  <a:ea typeface="微软雅黑"/>
                  <a:cs typeface="微软雅黑"/>
                  <a:sym typeface="微软雅黑"/>
                </a:endParaRPr>
              </a:p>
            </p:txBody>
          </p:sp>
          <p:sp>
            <p:nvSpPr>
              <p:cNvPr id="182" name="©显眼包PPT-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100">
                  <a:solidFill>
                    <a:srgbClr val="383838"/>
                  </a:solidFill>
                  <a:latin typeface="微软雅黑"/>
                  <a:ea typeface="微软雅黑"/>
                  <a:cs typeface="微软雅黑"/>
                </a:endParaRPr>
              </a:p>
            </p:txBody>
          </p:sp>
        </p:grpSp>
        <p:sp>
          <p:nvSpPr>
            <p:cNvPr id="184" name="文本框 183"/>
            <p:cNvSpPr txBox="1"/>
            <p:nvPr/>
          </p:nvSpPr>
          <p:spPr>
            <a:xfrm>
              <a:off x="9280" y="3946"/>
              <a:ext cx="1157" cy="802"/>
            </a:xfrm>
            <a:prstGeom prst="rect">
              <a:avLst/>
            </a:prstGeom>
            <a:noFill/>
          </p:spPr>
          <p:txBody>
            <a:bodyPr wrap="square" rtlCol="0" anchor="ctr" anchorCtr="0" lIns="0" rIns="0" tIns="0" bIns="0">
              <a:spAutoFit/>
            </a:bodyPr>
            <a:lstStyle/>
            <a:p>
              <a:pPr indent="0" algn="ctr" fontAlgn="auto">
                <a:lnSpc>
                  <a:spcPct val="100000"/>
                </a:lnSpc>
                <a:defRPr>
                  <a:latin typeface="微软雅黑"/>
                  <a:ea typeface="微软雅黑"/>
                  <a:cs typeface="微软雅黑"/>
                </a:defRPr>
              </a:pPr>
              <a:r>
                <a:rPr lang="zh-CN" altLang="en-US" sz="1000" b="1" dirty="0">
                  <a:solidFill>
                    <a:srgbClr val="383838"/>
                  </a:solidFill>
                  <a:latin typeface="微软雅黑"/>
                  <a:ea typeface="微软雅黑"/>
                  <a:cs typeface="微软雅黑"/>
                </a:rPr>
                <a:t>互联网服务</a:t>
              </a:r>
              <a:endParaRPr lang="zh-CN" altLang="en-US" sz="1000" b="1" dirty="0">
                <a:solidFill>
                  <a:srgbClr val="383838"/>
                </a:solidFill>
                <a:latin typeface="微软雅黑"/>
                <a:ea typeface="微软雅黑"/>
                <a:cs typeface="微软雅黑"/>
              </a:endParaRPr>
            </a:p>
          </p:txBody>
        </p:sp>
      </p:grpSp>
      <p:cxnSp>
        <p:nvCxnSpPr>
          <p:cNvPr id="187" name="直接连接符 186"/>
          <p:cNvCxnSpPr/>
          <p:nvPr/>
        </p:nvCxnSpPr>
        <p:spPr>
          <a:xfrm>
            <a:off x="1149985" y="5489575"/>
            <a:ext cx="3641090" cy="0"/>
          </a:xfrm>
          <a:prstGeom prst="line">
            <a:avLst/>
          </a:prstGeom>
          <a:ln w="9525">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88" name="直接连接符 187"/>
          <p:cNvCxnSpPr/>
          <p:nvPr/>
        </p:nvCxnSpPr>
        <p:spPr>
          <a:xfrm>
            <a:off x="1148080" y="3949065"/>
            <a:ext cx="3519170" cy="0"/>
          </a:xfrm>
          <a:prstGeom prst="line">
            <a:avLst/>
          </a:prstGeom>
          <a:ln w="9525">
            <a:solidFill>
              <a:srgbClr val="DCDCDC"/>
            </a:solidFill>
            <a:prstDash val="dash"/>
          </a:ln>
        </p:spPr>
        <p:style>
          <a:lnRef idx="1">
            <a:srgbClr val="0042FF"/>
          </a:lnRef>
          <a:fillRef idx="0">
            <a:srgbClr val="0042FF"/>
          </a:fillRef>
          <a:effectRef idx="0">
            <a:srgbClr val="0042FF"/>
          </a:effectRef>
          <a:fontRef idx="minor">
            <a:srgbClr val="383838"/>
          </a:fontRef>
        </p:style>
      </p:cxnSp>
      <p:pic>
        <p:nvPicPr>
          <p:cNvPr id="192" name="图片 191" descr="icon-办事服务-生态环境-生态环境"/>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278255" y="5511165"/>
            <a:ext cx="520700" cy="520700"/>
          </a:xfrm>
          <a:prstGeom prst="rect">
            <a:avLst/>
          </a:prstGeom>
        </p:spPr>
      </p:pic>
      <p:grpSp>
        <p:nvGrpSpPr>
          <p:cNvPr id="238" name="组合 237"/>
          <p:cNvGrpSpPr/>
          <p:nvPr/>
        </p:nvGrpSpPr>
        <p:grpSpPr>
          <a:xfrm rot="0">
            <a:off x="2047240" y="5758180"/>
            <a:ext cx="821055" cy="512445"/>
            <a:chOff x="8798407" y="2673726"/>
            <a:chExt cx="775948" cy="558354"/>
          </a:xfrm>
        </p:grpSpPr>
        <p:sp>
          <p:nvSpPr>
            <p:cNvPr id="239" name="©显眼包PPT1-1"/>
            <p:cNvSpPr/>
            <p:nvPr/>
          </p:nvSpPr>
          <p:spPr>
            <a:xfrm>
              <a:off x="8798407" y="2673726"/>
              <a:ext cx="775948" cy="519149"/>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40" name="©显眼包PPT1-2"/>
            <p:cNvSpPr/>
            <p:nvPr/>
          </p:nvSpPr>
          <p:spPr>
            <a:xfrm>
              <a:off x="8798407" y="2993167"/>
              <a:ext cx="775948" cy="19970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41" name="©显眼包PPT1-3"/>
            <p:cNvSpPr/>
            <p:nvPr/>
          </p:nvSpPr>
          <p:spPr>
            <a:xfrm>
              <a:off x="8862565" y="3030198"/>
              <a:ext cx="647632" cy="117745"/>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42" name="©显眼包PPT1-4"/>
            <p:cNvSpPr txBox="1"/>
            <p:nvPr/>
          </p:nvSpPr>
          <p:spPr>
            <a:xfrm>
              <a:off x="8951444" y="2829165"/>
              <a:ext cx="475877" cy="200648"/>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技术</a:t>
              </a:r>
              <a:endParaRPr lang="zh-CN" altLang="en-US" sz="1200" b="1" dirty="0">
                <a:solidFill>
                  <a:srgbClr val="383838"/>
                </a:solidFill>
                <a:latin typeface="微软雅黑"/>
                <a:ea typeface="微软雅黑"/>
                <a:cs typeface="微软雅黑"/>
              </a:endParaRPr>
            </a:p>
          </p:txBody>
        </p:sp>
        <p:sp>
          <p:nvSpPr>
            <p:cNvPr id="243" name="©显眼包PPT1-5"/>
            <p:cNvSpPr/>
            <p:nvPr/>
          </p:nvSpPr>
          <p:spPr>
            <a:xfrm>
              <a:off x="8798407" y="3032372"/>
              <a:ext cx="775948" cy="19970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grpSp>
        <p:nvGrpSpPr>
          <p:cNvPr id="244" name="组合 243"/>
          <p:cNvGrpSpPr/>
          <p:nvPr/>
        </p:nvGrpSpPr>
        <p:grpSpPr>
          <a:xfrm rot="0">
            <a:off x="2975610" y="5756275"/>
            <a:ext cx="821055" cy="512445"/>
            <a:chOff x="8798407" y="2673726"/>
            <a:chExt cx="775948" cy="558354"/>
          </a:xfrm>
        </p:grpSpPr>
        <p:sp>
          <p:nvSpPr>
            <p:cNvPr id="245" name="©显眼包PPT1-1"/>
            <p:cNvSpPr/>
            <p:nvPr/>
          </p:nvSpPr>
          <p:spPr>
            <a:xfrm>
              <a:off x="8798407" y="2673726"/>
              <a:ext cx="775948" cy="519149"/>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46" name="©显眼包PPT1-2"/>
            <p:cNvSpPr/>
            <p:nvPr/>
          </p:nvSpPr>
          <p:spPr>
            <a:xfrm>
              <a:off x="8798407" y="2993167"/>
              <a:ext cx="775948" cy="19970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47" name="©显眼包PPT1-3"/>
            <p:cNvSpPr/>
            <p:nvPr/>
          </p:nvSpPr>
          <p:spPr>
            <a:xfrm>
              <a:off x="8862565" y="3030198"/>
              <a:ext cx="647632" cy="117745"/>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48" name="©显眼包PPT1-4"/>
            <p:cNvSpPr txBox="1"/>
            <p:nvPr/>
          </p:nvSpPr>
          <p:spPr>
            <a:xfrm>
              <a:off x="8951444" y="2829165"/>
              <a:ext cx="475877" cy="200648"/>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产业链</a:t>
              </a:r>
              <a:endParaRPr lang="zh-CN" altLang="en-US" sz="1200" b="1" dirty="0">
                <a:solidFill>
                  <a:srgbClr val="383838"/>
                </a:solidFill>
                <a:latin typeface="微软雅黑"/>
                <a:ea typeface="微软雅黑"/>
                <a:cs typeface="微软雅黑"/>
              </a:endParaRPr>
            </a:p>
          </p:txBody>
        </p:sp>
        <p:sp>
          <p:nvSpPr>
            <p:cNvPr id="249" name="©显眼包PPT1-5"/>
            <p:cNvSpPr/>
            <p:nvPr/>
          </p:nvSpPr>
          <p:spPr>
            <a:xfrm>
              <a:off x="8798407" y="3032372"/>
              <a:ext cx="775948" cy="19970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grpSp>
        <p:nvGrpSpPr>
          <p:cNvPr id="250" name="组合 249"/>
          <p:cNvGrpSpPr/>
          <p:nvPr/>
        </p:nvGrpSpPr>
        <p:grpSpPr>
          <a:xfrm rot="0">
            <a:off x="3911600" y="5760085"/>
            <a:ext cx="821055" cy="512445"/>
            <a:chOff x="8798407" y="2673726"/>
            <a:chExt cx="775948" cy="558354"/>
          </a:xfrm>
        </p:grpSpPr>
        <p:sp>
          <p:nvSpPr>
            <p:cNvPr id="251" name="©显眼包PPT1-1"/>
            <p:cNvSpPr/>
            <p:nvPr/>
          </p:nvSpPr>
          <p:spPr>
            <a:xfrm>
              <a:off x="8798407" y="2673726"/>
              <a:ext cx="775948" cy="519149"/>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52" name="©显眼包PPT1-2"/>
            <p:cNvSpPr/>
            <p:nvPr/>
          </p:nvSpPr>
          <p:spPr>
            <a:xfrm>
              <a:off x="8798407" y="2993167"/>
              <a:ext cx="775948" cy="19970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53" name="©显眼包PPT1-3"/>
            <p:cNvSpPr/>
            <p:nvPr/>
          </p:nvSpPr>
          <p:spPr>
            <a:xfrm>
              <a:off x="8862565" y="3030198"/>
              <a:ext cx="647632" cy="117745"/>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54" name="©显眼包PPT1-4"/>
            <p:cNvSpPr txBox="1"/>
            <p:nvPr/>
          </p:nvSpPr>
          <p:spPr>
            <a:xfrm>
              <a:off x="8951444" y="2829165"/>
              <a:ext cx="475877" cy="200648"/>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公益</a:t>
              </a:r>
              <a:endParaRPr lang="zh-CN" altLang="en-US" sz="1200" b="1" dirty="0">
                <a:solidFill>
                  <a:srgbClr val="383838"/>
                </a:solidFill>
                <a:latin typeface="微软雅黑"/>
                <a:ea typeface="微软雅黑"/>
                <a:cs typeface="微软雅黑"/>
              </a:endParaRPr>
            </a:p>
          </p:txBody>
        </p:sp>
        <p:sp>
          <p:nvSpPr>
            <p:cNvPr id="255" name="©显眼包PPT1-5"/>
            <p:cNvSpPr/>
            <p:nvPr/>
          </p:nvSpPr>
          <p:spPr>
            <a:xfrm>
              <a:off x="8798407" y="3032372"/>
              <a:ext cx="775948" cy="19970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sp>
        <p:nvSpPr>
          <p:cNvPr id="256" name="©显眼包PPT1"/>
          <p:cNvSpPr/>
          <p:nvPr/>
        </p:nvSpPr>
        <p:spPr>
          <a:xfrm>
            <a:off x="3230880" y="5615305"/>
            <a:ext cx="333375" cy="273685"/>
          </a:xfrm>
          <a:custGeom>
            <a:avLst/>
            <a:gdLst>
              <a:gd name="connsiteX0" fmla="*/ 1391603 w 1785937"/>
              <a:gd name="connsiteY0" fmla="*/ 498991 h 1465540"/>
              <a:gd name="connsiteX1" fmla="*/ 1568768 w 1785937"/>
              <a:gd name="connsiteY1" fmla="*/ 578644 h 1465540"/>
              <a:gd name="connsiteX2" fmla="*/ 1568768 w 1785937"/>
              <a:gd name="connsiteY2" fmla="*/ 873800 h 1465540"/>
              <a:gd name="connsiteX3" fmla="*/ 1581983 w 1785937"/>
              <a:gd name="connsiteY3" fmla="*/ 888802 h 1465540"/>
              <a:gd name="connsiteX4" fmla="*/ 1682710 w 1785937"/>
              <a:gd name="connsiteY4" fmla="*/ 1001554 h 1465540"/>
              <a:gd name="connsiteX5" fmla="*/ 1682710 w 1785937"/>
              <a:gd name="connsiteY5" fmla="*/ 1465540 h 1465540"/>
              <a:gd name="connsiteX6" fmla="*/ 1785938 w 1785937"/>
              <a:gd name="connsiteY6" fmla="*/ 1465540 h 1465540"/>
              <a:gd name="connsiteX7" fmla="*/ 1785938 w 1785937"/>
              <a:gd name="connsiteY7" fmla="*/ 962620 h 1465540"/>
              <a:gd name="connsiteX8" fmla="*/ 1772722 w 1785937"/>
              <a:gd name="connsiteY8" fmla="*/ 947976 h 1465540"/>
              <a:gd name="connsiteX9" fmla="*/ 1672114 w 1785937"/>
              <a:gd name="connsiteY9" fmla="*/ 835223 h 1465540"/>
              <a:gd name="connsiteX10" fmla="*/ 1672114 w 1785937"/>
              <a:gd name="connsiteY10" fmla="*/ 519470 h 1465540"/>
              <a:gd name="connsiteX11" fmla="*/ 1646039 w 1785937"/>
              <a:gd name="connsiteY11" fmla="*/ 504587 h 1465540"/>
              <a:gd name="connsiteX12" fmla="*/ 1391484 w 1785937"/>
              <a:gd name="connsiteY12" fmla="*/ 386834 h 1465540"/>
              <a:gd name="connsiteX13" fmla="*/ 870228 w 1785937"/>
              <a:gd name="connsiteY13" fmla="*/ 553879 h 1465540"/>
              <a:gd name="connsiteX14" fmla="*/ 870228 w 1785937"/>
              <a:gd name="connsiteY14" fmla="*/ 1449348 h 1465540"/>
              <a:gd name="connsiteX15" fmla="*/ 1391603 w 1785937"/>
              <a:gd name="connsiteY15" fmla="*/ 1449348 h 1465540"/>
              <a:gd name="connsiteX16" fmla="*/ 1391603 w 1785937"/>
              <a:gd name="connsiteY16" fmla="*/ 498991 h 1465540"/>
              <a:gd name="connsiteX17" fmla="*/ 372666 w 1785937"/>
              <a:gd name="connsiteY17" fmla="*/ 254079 h 1465540"/>
              <a:gd name="connsiteX18" fmla="*/ 273129 w 1785937"/>
              <a:gd name="connsiteY18" fmla="*/ 280273 h 1465540"/>
              <a:gd name="connsiteX19" fmla="*/ 273129 w 1785937"/>
              <a:gd name="connsiteY19" fmla="*/ 437436 h 1465540"/>
              <a:gd name="connsiteX20" fmla="*/ 372666 w 1785937"/>
              <a:gd name="connsiteY20" fmla="*/ 417552 h 1465540"/>
              <a:gd name="connsiteX21" fmla="*/ 372666 w 1785937"/>
              <a:gd name="connsiteY21" fmla="*/ 254079 h 1465540"/>
              <a:gd name="connsiteX22" fmla="*/ 1305997 w 1785937"/>
              <a:gd name="connsiteY22" fmla="*/ 530066 h 1465540"/>
              <a:gd name="connsiteX23" fmla="*/ 1305997 w 1785937"/>
              <a:gd name="connsiteY23" fmla="*/ 660440 h 1465540"/>
              <a:gd name="connsiteX24" fmla="*/ 1219795 w 1785937"/>
              <a:gd name="connsiteY24" fmla="*/ 677585 h 1465540"/>
              <a:gd name="connsiteX25" fmla="*/ 1219795 w 1785937"/>
              <a:gd name="connsiteY25" fmla="*/ 552807 h 1465540"/>
              <a:gd name="connsiteX26" fmla="*/ 1305997 w 1785937"/>
              <a:gd name="connsiteY26" fmla="*/ 530066 h 1465540"/>
              <a:gd name="connsiteX27" fmla="*/ 1004292 w 1785937"/>
              <a:gd name="connsiteY27" fmla="*/ 950476 h 1465540"/>
              <a:gd name="connsiteX28" fmla="*/ 1004292 w 1785937"/>
              <a:gd name="connsiteY28" fmla="*/ 1061323 h 1465540"/>
              <a:gd name="connsiteX29" fmla="*/ 941427 w 1785937"/>
              <a:gd name="connsiteY29" fmla="*/ 1061323 h 1465540"/>
              <a:gd name="connsiteX30" fmla="*/ 941427 w 1785937"/>
              <a:gd name="connsiteY30" fmla="*/ 954643 h 1465540"/>
              <a:gd name="connsiteX31" fmla="*/ 1004292 w 1785937"/>
              <a:gd name="connsiteY31" fmla="*/ 950476 h 1465540"/>
              <a:gd name="connsiteX32" fmla="*/ 1143357 w 1785937"/>
              <a:gd name="connsiteY32" fmla="*/ 941546 h 1465540"/>
              <a:gd name="connsiteX33" fmla="*/ 1143357 w 1785937"/>
              <a:gd name="connsiteY33" fmla="*/ 1061323 h 1465540"/>
              <a:gd name="connsiteX34" fmla="*/ 1070253 w 1785937"/>
              <a:gd name="connsiteY34" fmla="*/ 1061323 h 1465540"/>
              <a:gd name="connsiteX35" fmla="*/ 1070253 w 1785937"/>
              <a:gd name="connsiteY35" fmla="*/ 946190 h 1465540"/>
              <a:gd name="connsiteX36" fmla="*/ 1143357 w 1785937"/>
              <a:gd name="connsiteY36" fmla="*/ 941546 h 1465540"/>
              <a:gd name="connsiteX37" fmla="*/ 1305997 w 1785937"/>
              <a:gd name="connsiteY37" fmla="*/ 930950 h 1465540"/>
              <a:gd name="connsiteX38" fmla="*/ 1305997 w 1785937"/>
              <a:gd name="connsiteY38" fmla="*/ 1061323 h 1465540"/>
              <a:gd name="connsiteX39" fmla="*/ 1219795 w 1785937"/>
              <a:gd name="connsiteY39" fmla="*/ 1061323 h 1465540"/>
              <a:gd name="connsiteX40" fmla="*/ 1219795 w 1785937"/>
              <a:gd name="connsiteY40" fmla="*/ 936546 h 1465540"/>
              <a:gd name="connsiteX41" fmla="*/ 1305997 w 1785937"/>
              <a:gd name="connsiteY41" fmla="*/ 930950 h 1465540"/>
              <a:gd name="connsiteX42" fmla="*/ 1004292 w 1785937"/>
              <a:gd name="connsiteY42" fmla="*/ 780217 h 1465540"/>
              <a:gd name="connsiteX43" fmla="*/ 1004292 w 1785937"/>
              <a:gd name="connsiteY43" fmla="*/ 891064 h 1465540"/>
              <a:gd name="connsiteX44" fmla="*/ 941427 w 1785937"/>
              <a:gd name="connsiteY44" fmla="*/ 897255 h 1465540"/>
              <a:gd name="connsiteX45" fmla="*/ 941427 w 1785937"/>
              <a:gd name="connsiteY45" fmla="*/ 790337 h 1465540"/>
              <a:gd name="connsiteX46" fmla="*/ 1004292 w 1785937"/>
              <a:gd name="connsiteY46" fmla="*/ 780217 h 1465540"/>
              <a:gd name="connsiteX47" fmla="*/ 1143357 w 1785937"/>
              <a:gd name="connsiteY47" fmla="*/ 757476 h 1465540"/>
              <a:gd name="connsiteX48" fmla="*/ 1143357 w 1785937"/>
              <a:gd name="connsiteY48" fmla="*/ 877133 h 1465540"/>
              <a:gd name="connsiteX49" fmla="*/ 1070372 w 1785937"/>
              <a:gd name="connsiteY49" fmla="*/ 884396 h 1465540"/>
              <a:gd name="connsiteX50" fmla="*/ 1070372 w 1785937"/>
              <a:gd name="connsiteY50" fmla="*/ 769382 h 1465540"/>
              <a:gd name="connsiteX51" fmla="*/ 1143357 w 1785937"/>
              <a:gd name="connsiteY51" fmla="*/ 757476 h 1465540"/>
              <a:gd name="connsiteX52" fmla="*/ 1305997 w 1785937"/>
              <a:gd name="connsiteY52" fmla="*/ 730687 h 1465540"/>
              <a:gd name="connsiteX53" fmla="*/ 1305997 w 1785937"/>
              <a:gd name="connsiteY53" fmla="*/ 861060 h 1465540"/>
              <a:gd name="connsiteX54" fmla="*/ 1219795 w 1785937"/>
              <a:gd name="connsiteY54" fmla="*/ 869513 h 1465540"/>
              <a:gd name="connsiteX55" fmla="*/ 1219795 w 1785937"/>
              <a:gd name="connsiteY55" fmla="*/ 744736 h 1465540"/>
              <a:gd name="connsiteX56" fmla="*/ 1305997 w 1785937"/>
              <a:gd name="connsiteY56" fmla="*/ 730687 h 1465540"/>
              <a:gd name="connsiteX57" fmla="*/ 1004292 w 1785937"/>
              <a:gd name="connsiteY57" fmla="*/ 609600 h 1465540"/>
              <a:gd name="connsiteX58" fmla="*/ 1004292 w 1785937"/>
              <a:gd name="connsiteY58" fmla="*/ 720566 h 1465540"/>
              <a:gd name="connsiteX59" fmla="*/ 941427 w 1785937"/>
              <a:gd name="connsiteY59" fmla="*/ 733068 h 1465540"/>
              <a:gd name="connsiteX60" fmla="*/ 941427 w 1785937"/>
              <a:gd name="connsiteY60" fmla="*/ 626150 h 1465540"/>
              <a:gd name="connsiteX61" fmla="*/ 1004292 w 1785937"/>
              <a:gd name="connsiteY61" fmla="*/ 609600 h 1465540"/>
              <a:gd name="connsiteX62" fmla="*/ 1143357 w 1785937"/>
              <a:gd name="connsiteY62" fmla="*/ 573048 h 1465540"/>
              <a:gd name="connsiteX63" fmla="*/ 1143357 w 1785937"/>
              <a:gd name="connsiteY63" fmla="*/ 693063 h 1465540"/>
              <a:gd name="connsiteX64" fmla="*/ 1070372 w 1785937"/>
              <a:gd name="connsiteY64" fmla="*/ 707469 h 1465540"/>
              <a:gd name="connsiteX65" fmla="*/ 1070372 w 1785937"/>
              <a:gd name="connsiteY65" fmla="*/ 592217 h 1465540"/>
              <a:gd name="connsiteX66" fmla="*/ 1143357 w 1785937"/>
              <a:gd name="connsiteY66" fmla="*/ 573048 h 1465540"/>
              <a:gd name="connsiteX67" fmla="*/ 594360 w 1785937"/>
              <a:gd name="connsiteY67" fmla="*/ 195620 h 1465540"/>
              <a:gd name="connsiteX68" fmla="*/ 477083 w 1785937"/>
              <a:gd name="connsiteY68" fmla="*/ 226576 h 1465540"/>
              <a:gd name="connsiteX69" fmla="*/ 477083 w 1785937"/>
              <a:gd name="connsiteY69" fmla="*/ 396835 h 1465540"/>
              <a:gd name="connsiteX70" fmla="*/ 594360 w 1785937"/>
              <a:gd name="connsiteY70" fmla="*/ 373499 h 1465540"/>
              <a:gd name="connsiteX71" fmla="*/ 594360 w 1785937"/>
              <a:gd name="connsiteY71" fmla="*/ 195620 h 1465540"/>
              <a:gd name="connsiteX72" fmla="*/ 182880 w 1785937"/>
              <a:gd name="connsiteY72" fmla="*/ 769144 h 1465540"/>
              <a:gd name="connsiteX73" fmla="*/ 97274 w 1785937"/>
              <a:gd name="connsiteY73" fmla="*/ 774740 h 1465540"/>
              <a:gd name="connsiteX74" fmla="*/ 97274 w 1785937"/>
              <a:gd name="connsiteY74" fmla="*/ 920234 h 1465540"/>
              <a:gd name="connsiteX75" fmla="*/ 182761 w 1785937"/>
              <a:gd name="connsiteY75" fmla="*/ 920234 h 1465540"/>
              <a:gd name="connsiteX76" fmla="*/ 182880 w 1785937"/>
              <a:gd name="connsiteY76" fmla="*/ 769144 h 1465540"/>
              <a:gd name="connsiteX77" fmla="*/ 372666 w 1785937"/>
              <a:gd name="connsiteY77" fmla="*/ 756761 h 1465540"/>
              <a:gd name="connsiteX78" fmla="*/ 273129 w 1785937"/>
              <a:gd name="connsiteY78" fmla="*/ 763310 h 1465540"/>
              <a:gd name="connsiteX79" fmla="*/ 273129 w 1785937"/>
              <a:gd name="connsiteY79" fmla="*/ 920115 h 1465540"/>
              <a:gd name="connsiteX80" fmla="*/ 372666 w 1785937"/>
              <a:gd name="connsiteY80" fmla="*/ 920115 h 1465540"/>
              <a:gd name="connsiteX81" fmla="*/ 372666 w 1785937"/>
              <a:gd name="connsiteY81" fmla="*/ 756761 h 1465540"/>
              <a:gd name="connsiteX82" fmla="*/ 594360 w 1785937"/>
              <a:gd name="connsiteY82" fmla="*/ 742355 h 1465540"/>
              <a:gd name="connsiteX83" fmla="*/ 477083 w 1785937"/>
              <a:gd name="connsiteY83" fmla="*/ 750094 h 1465540"/>
              <a:gd name="connsiteX84" fmla="*/ 477083 w 1785937"/>
              <a:gd name="connsiteY84" fmla="*/ 920234 h 1465540"/>
              <a:gd name="connsiteX85" fmla="*/ 594360 w 1785937"/>
              <a:gd name="connsiteY85" fmla="*/ 920234 h 1465540"/>
              <a:gd name="connsiteX86" fmla="*/ 594360 w 1785937"/>
              <a:gd name="connsiteY86" fmla="*/ 742355 h 1465540"/>
              <a:gd name="connsiteX87" fmla="*/ 182880 w 1785937"/>
              <a:gd name="connsiteY87" fmla="*/ 536615 h 1465540"/>
              <a:gd name="connsiteX88" fmla="*/ 97274 w 1785937"/>
              <a:gd name="connsiteY88" fmla="*/ 550664 h 1465540"/>
              <a:gd name="connsiteX89" fmla="*/ 97274 w 1785937"/>
              <a:gd name="connsiteY89" fmla="*/ 696278 h 1465540"/>
              <a:gd name="connsiteX90" fmla="*/ 182880 w 1785937"/>
              <a:gd name="connsiteY90" fmla="*/ 687943 h 1465540"/>
              <a:gd name="connsiteX91" fmla="*/ 182880 w 1785937"/>
              <a:gd name="connsiteY91" fmla="*/ 536615 h 1465540"/>
              <a:gd name="connsiteX92" fmla="*/ 372666 w 1785937"/>
              <a:gd name="connsiteY92" fmla="*/ 505539 h 1465540"/>
              <a:gd name="connsiteX93" fmla="*/ 273129 w 1785937"/>
              <a:gd name="connsiteY93" fmla="*/ 521851 h 1465540"/>
              <a:gd name="connsiteX94" fmla="*/ 273129 w 1785937"/>
              <a:gd name="connsiteY94" fmla="*/ 678775 h 1465540"/>
              <a:gd name="connsiteX95" fmla="*/ 372666 w 1785937"/>
              <a:gd name="connsiteY95" fmla="*/ 669012 h 1465540"/>
              <a:gd name="connsiteX96" fmla="*/ 372666 w 1785937"/>
              <a:gd name="connsiteY96" fmla="*/ 505539 h 1465540"/>
              <a:gd name="connsiteX97" fmla="*/ 594360 w 1785937"/>
              <a:gd name="connsiteY97" fmla="*/ 469225 h 1465540"/>
              <a:gd name="connsiteX98" fmla="*/ 477083 w 1785937"/>
              <a:gd name="connsiteY98" fmla="*/ 488394 h 1465540"/>
              <a:gd name="connsiteX99" fmla="*/ 477083 w 1785937"/>
              <a:gd name="connsiteY99" fmla="*/ 658535 h 1465540"/>
              <a:gd name="connsiteX100" fmla="*/ 594360 w 1785937"/>
              <a:gd name="connsiteY100" fmla="*/ 646867 h 1465540"/>
              <a:gd name="connsiteX101" fmla="*/ 594360 w 1785937"/>
              <a:gd name="connsiteY101" fmla="*/ 469225 h 1465540"/>
              <a:gd name="connsiteX102" fmla="*/ 182880 w 1785937"/>
              <a:gd name="connsiteY102" fmla="*/ 303967 h 1465540"/>
              <a:gd name="connsiteX103" fmla="*/ 97274 w 1785937"/>
              <a:gd name="connsiteY103" fmla="*/ 326469 h 1465540"/>
              <a:gd name="connsiteX104" fmla="*/ 97274 w 1785937"/>
              <a:gd name="connsiteY104" fmla="*/ 472202 h 1465540"/>
              <a:gd name="connsiteX105" fmla="*/ 182880 w 1785937"/>
              <a:gd name="connsiteY105" fmla="*/ 455176 h 1465540"/>
              <a:gd name="connsiteX106" fmla="*/ 182880 w 1785937"/>
              <a:gd name="connsiteY106" fmla="*/ 303967 h 1465540"/>
              <a:gd name="connsiteX107" fmla="*/ 711041 w 1785937"/>
              <a:gd name="connsiteY107" fmla="*/ 0 h 1465540"/>
              <a:gd name="connsiteX108" fmla="*/ 1048822 w 1785937"/>
              <a:gd name="connsiteY108" fmla="*/ 176808 h 1465540"/>
              <a:gd name="connsiteX109" fmla="*/ 1075134 w 1785937"/>
              <a:gd name="connsiteY109" fmla="*/ 191810 h 1465540"/>
              <a:gd name="connsiteX110" fmla="*/ 1075134 w 1785937"/>
              <a:gd name="connsiteY110" fmla="*/ 458510 h 1465540"/>
              <a:gd name="connsiteX111" fmla="*/ 971550 w 1785937"/>
              <a:gd name="connsiteY111" fmla="*/ 458510 h 1465540"/>
              <a:gd name="connsiteX112" fmla="*/ 971550 w 1785937"/>
              <a:gd name="connsiteY112" fmla="*/ 251103 h 1465540"/>
              <a:gd name="connsiteX113" fmla="*/ 711041 w 1785937"/>
              <a:gd name="connsiteY113" fmla="*/ 115967 h 1465540"/>
              <a:gd name="connsiteX114" fmla="*/ 711041 w 1785937"/>
              <a:gd name="connsiteY114" fmla="*/ 1449467 h 1465540"/>
              <a:gd name="connsiteX115" fmla="*/ 0 w 1785937"/>
              <a:gd name="connsiteY115" fmla="*/ 1449467 h 1465540"/>
              <a:gd name="connsiteX116" fmla="*/ 0 w 1785937"/>
              <a:gd name="connsiteY116" fmla="*/ 228005 h 1465540"/>
              <a:gd name="connsiteX117" fmla="*/ 711041 w 1785937"/>
              <a:gd name="connsiteY117" fmla="*/ 0 h 146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785937" h="1465540">
                <a:moveTo>
                  <a:pt x="1391603" y="498991"/>
                </a:moveTo>
                <a:lnTo>
                  <a:pt x="1568768" y="578644"/>
                </a:lnTo>
                <a:lnTo>
                  <a:pt x="1568768" y="873800"/>
                </a:lnTo>
                <a:lnTo>
                  <a:pt x="1581983" y="888802"/>
                </a:lnTo>
                <a:lnTo>
                  <a:pt x="1682710" y="1001554"/>
                </a:lnTo>
                <a:lnTo>
                  <a:pt x="1682710" y="1465540"/>
                </a:lnTo>
                <a:lnTo>
                  <a:pt x="1785938" y="1465540"/>
                </a:lnTo>
                <a:lnTo>
                  <a:pt x="1785938" y="962620"/>
                </a:lnTo>
                <a:lnTo>
                  <a:pt x="1772722" y="947976"/>
                </a:lnTo>
                <a:lnTo>
                  <a:pt x="1672114" y="835223"/>
                </a:lnTo>
                <a:lnTo>
                  <a:pt x="1672114" y="519470"/>
                </a:lnTo>
                <a:lnTo>
                  <a:pt x="1646039" y="504587"/>
                </a:lnTo>
                <a:lnTo>
                  <a:pt x="1391484" y="386834"/>
                </a:lnTo>
                <a:lnTo>
                  <a:pt x="870228" y="553879"/>
                </a:lnTo>
                <a:lnTo>
                  <a:pt x="870228" y="1449348"/>
                </a:lnTo>
                <a:lnTo>
                  <a:pt x="1391603" y="1449348"/>
                </a:lnTo>
                <a:lnTo>
                  <a:pt x="1391603" y="498991"/>
                </a:lnTo>
                <a:close/>
                <a:moveTo>
                  <a:pt x="372666" y="254079"/>
                </a:moveTo>
                <a:lnTo>
                  <a:pt x="273129" y="280273"/>
                </a:lnTo>
                <a:lnTo>
                  <a:pt x="273129" y="437436"/>
                </a:lnTo>
                <a:lnTo>
                  <a:pt x="372666" y="417552"/>
                </a:lnTo>
                <a:lnTo>
                  <a:pt x="372666" y="254079"/>
                </a:lnTo>
                <a:close/>
                <a:moveTo>
                  <a:pt x="1305997" y="530066"/>
                </a:moveTo>
                <a:lnTo>
                  <a:pt x="1305997" y="660440"/>
                </a:lnTo>
                <a:lnTo>
                  <a:pt x="1219795" y="677585"/>
                </a:lnTo>
                <a:lnTo>
                  <a:pt x="1219795" y="552807"/>
                </a:lnTo>
                <a:cubicBezTo>
                  <a:pt x="1247894" y="545544"/>
                  <a:pt x="1276350" y="537924"/>
                  <a:pt x="1305997" y="530066"/>
                </a:cubicBezTo>
                <a:moveTo>
                  <a:pt x="1004292" y="950476"/>
                </a:moveTo>
                <a:lnTo>
                  <a:pt x="1004292" y="1061323"/>
                </a:lnTo>
                <a:lnTo>
                  <a:pt x="941427" y="1061323"/>
                </a:lnTo>
                <a:lnTo>
                  <a:pt x="941427" y="954643"/>
                </a:lnTo>
                <a:lnTo>
                  <a:pt x="1004292" y="950476"/>
                </a:lnTo>
                <a:moveTo>
                  <a:pt x="1143357" y="941546"/>
                </a:moveTo>
                <a:lnTo>
                  <a:pt x="1143357" y="1061323"/>
                </a:lnTo>
                <a:lnTo>
                  <a:pt x="1070253" y="1061323"/>
                </a:lnTo>
                <a:lnTo>
                  <a:pt x="1070253" y="946190"/>
                </a:lnTo>
                <a:lnTo>
                  <a:pt x="1143357" y="941546"/>
                </a:lnTo>
                <a:moveTo>
                  <a:pt x="1305997" y="930950"/>
                </a:moveTo>
                <a:lnTo>
                  <a:pt x="1305997" y="1061323"/>
                </a:lnTo>
                <a:lnTo>
                  <a:pt x="1219795" y="1061323"/>
                </a:lnTo>
                <a:lnTo>
                  <a:pt x="1219795" y="936546"/>
                </a:lnTo>
                <a:lnTo>
                  <a:pt x="1305997" y="930950"/>
                </a:lnTo>
                <a:moveTo>
                  <a:pt x="1004292" y="780217"/>
                </a:moveTo>
                <a:lnTo>
                  <a:pt x="1004292" y="891064"/>
                </a:lnTo>
                <a:cubicBezTo>
                  <a:pt x="982861" y="893088"/>
                  <a:pt x="961787" y="895112"/>
                  <a:pt x="941427" y="897255"/>
                </a:cubicBezTo>
                <a:lnTo>
                  <a:pt x="941427" y="790337"/>
                </a:lnTo>
                <a:lnTo>
                  <a:pt x="1004292" y="780217"/>
                </a:lnTo>
                <a:moveTo>
                  <a:pt x="1143357" y="757476"/>
                </a:moveTo>
                <a:lnTo>
                  <a:pt x="1143357" y="877133"/>
                </a:lnTo>
                <a:lnTo>
                  <a:pt x="1070372" y="884396"/>
                </a:lnTo>
                <a:lnTo>
                  <a:pt x="1070372" y="769382"/>
                </a:lnTo>
                <a:cubicBezTo>
                  <a:pt x="1094065" y="765334"/>
                  <a:pt x="1118354" y="761405"/>
                  <a:pt x="1143357" y="757476"/>
                </a:cubicBezTo>
                <a:moveTo>
                  <a:pt x="1305997" y="730687"/>
                </a:moveTo>
                <a:lnTo>
                  <a:pt x="1305997" y="861060"/>
                </a:lnTo>
                <a:lnTo>
                  <a:pt x="1219795" y="869513"/>
                </a:lnTo>
                <a:lnTo>
                  <a:pt x="1219795" y="744736"/>
                </a:lnTo>
                <a:cubicBezTo>
                  <a:pt x="1247894" y="740331"/>
                  <a:pt x="1276350" y="735330"/>
                  <a:pt x="1305997" y="730687"/>
                </a:cubicBezTo>
                <a:moveTo>
                  <a:pt x="1004292" y="609600"/>
                </a:moveTo>
                <a:lnTo>
                  <a:pt x="1004292" y="720566"/>
                </a:lnTo>
                <a:cubicBezTo>
                  <a:pt x="982861" y="724733"/>
                  <a:pt x="961787" y="728782"/>
                  <a:pt x="941427" y="733068"/>
                </a:cubicBezTo>
                <a:lnTo>
                  <a:pt x="941427" y="626150"/>
                </a:lnTo>
                <a:lnTo>
                  <a:pt x="1004292" y="609600"/>
                </a:lnTo>
                <a:moveTo>
                  <a:pt x="1143357" y="573048"/>
                </a:moveTo>
                <a:lnTo>
                  <a:pt x="1143357" y="693063"/>
                </a:lnTo>
                <a:cubicBezTo>
                  <a:pt x="1118354" y="697825"/>
                  <a:pt x="1094065" y="702707"/>
                  <a:pt x="1070372" y="707469"/>
                </a:cubicBezTo>
                <a:lnTo>
                  <a:pt x="1070372" y="592217"/>
                </a:lnTo>
                <a:lnTo>
                  <a:pt x="1143357" y="573048"/>
                </a:lnTo>
                <a:moveTo>
                  <a:pt x="594360" y="195620"/>
                </a:moveTo>
                <a:cubicBezTo>
                  <a:pt x="554236" y="206335"/>
                  <a:pt x="515064" y="216575"/>
                  <a:pt x="477083" y="226576"/>
                </a:cubicBezTo>
                <a:lnTo>
                  <a:pt x="477083" y="396835"/>
                </a:lnTo>
                <a:lnTo>
                  <a:pt x="594360" y="373499"/>
                </a:lnTo>
                <a:lnTo>
                  <a:pt x="594360" y="195620"/>
                </a:lnTo>
                <a:close/>
                <a:moveTo>
                  <a:pt x="182880" y="769144"/>
                </a:moveTo>
                <a:cubicBezTo>
                  <a:pt x="153591" y="770930"/>
                  <a:pt x="125135" y="772597"/>
                  <a:pt x="97274" y="774740"/>
                </a:cubicBezTo>
                <a:lnTo>
                  <a:pt x="97274" y="920234"/>
                </a:lnTo>
                <a:lnTo>
                  <a:pt x="182761" y="920234"/>
                </a:lnTo>
                <a:lnTo>
                  <a:pt x="182880" y="769144"/>
                </a:lnTo>
                <a:moveTo>
                  <a:pt x="372666" y="756761"/>
                </a:moveTo>
                <a:lnTo>
                  <a:pt x="273129" y="763310"/>
                </a:lnTo>
                <a:lnTo>
                  <a:pt x="273129" y="920115"/>
                </a:lnTo>
                <a:lnTo>
                  <a:pt x="372666" y="920115"/>
                </a:lnTo>
                <a:lnTo>
                  <a:pt x="372666" y="756761"/>
                </a:lnTo>
                <a:close/>
                <a:moveTo>
                  <a:pt x="594360" y="742355"/>
                </a:moveTo>
                <a:cubicBezTo>
                  <a:pt x="554236" y="744974"/>
                  <a:pt x="515064" y="747713"/>
                  <a:pt x="477083" y="750094"/>
                </a:cubicBezTo>
                <a:lnTo>
                  <a:pt x="477083" y="920234"/>
                </a:lnTo>
                <a:lnTo>
                  <a:pt x="594360" y="920234"/>
                </a:lnTo>
                <a:lnTo>
                  <a:pt x="594360" y="742355"/>
                </a:lnTo>
                <a:close/>
                <a:moveTo>
                  <a:pt x="182880" y="536615"/>
                </a:moveTo>
                <a:lnTo>
                  <a:pt x="97274" y="550664"/>
                </a:lnTo>
                <a:lnTo>
                  <a:pt x="97274" y="696278"/>
                </a:lnTo>
                <a:lnTo>
                  <a:pt x="182880" y="687943"/>
                </a:lnTo>
                <a:lnTo>
                  <a:pt x="182880" y="536615"/>
                </a:lnTo>
                <a:close/>
                <a:moveTo>
                  <a:pt x="372666" y="505539"/>
                </a:moveTo>
                <a:lnTo>
                  <a:pt x="273129" y="521851"/>
                </a:lnTo>
                <a:lnTo>
                  <a:pt x="273129" y="678775"/>
                </a:lnTo>
                <a:lnTo>
                  <a:pt x="372666" y="669012"/>
                </a:lnTo>
                <a:lnTo>
                  <a:pt x="372666" y="505539"/>
                </a:lnTo>
                <a:close/>
                <a:moveTo>
                  <a:pt x="594360" y="469225"/>
                </a:moveTo>
                <a:lnTo>
                  <a:pt x="477083" y="488394"/>
                </a:lnTo>
                <a:lnTo>
                  <a:pt x="477083" y="658535"/>
                </a:lnTo>
                <a:lnTo>
                  <a:pt x="594360" y="646867"/>
                </a:lnTo>
                <a:lnTo>
                  <a:pt x="594360" y="469225"/>
                </a:lnTo>
                <a:close/>
                <a:moveTo>
                  <a:pt x="182880" y="303967"/>
                </a:moveTo>
                <a:lnTo>
                  <a:pt x="97274" y="326469"/>
                </a:lnTo>
                <a:lnTo>
                  <a:pt x="97274" y="472202"/>
                </a:lnTo>
                <a:lnTo>
                  <a:pt x="182880" y="455176"/>
                </a:lnTo>
                <a:lnTo>
                  <a:pt x="182880" y="303967"/>
                </a:lnTo>
                <a:close/>
                <a:moveTo>
                  <a:pt x="711041" y="0"/>
                </a:moveTo>
                <a:lnTo>
                  <a:pt x="1048822" y="176808"/>
                </a:lnTo>
                <a:lnTo>
                  <a:pt x="1075134" y="191810"/>
                </a:lnTo>
                <a:lnTo>
                  <a:pt x="1075134" y="458510"/>
                </a:lnTo>
                <a:lnTo>
                  <a:pt x="971550" y="458510"/>
                </a:lnTo>
                <a:lnTo>
                  <a:pt x="971550" y="251103"/>
                </a:lnTo>
                <a:lnTo>
                  <a:pt x="711041" y="115967"/>
                </a:lnTo>
                <a:lnTo>
                  <a:pt x="711041" y="1449467"/>
                </a:lnTo>
                <a:lnTo>
                  <a:pt x="0" y="1449467"/>
                </a:lnTo>
                <a:lnTo>
                  <a:pt x="0" y="228005"/>
                </a:lnTo>
                <a:lnTo>
                  <a:pt x="711041" y="0"/>
                </a:lnTo>
                <a:close/>
              </a:path>
            </a:pathLst>
          </a:custGeom>
          <a:gradFill>
            <a:gsLst>
              <a:gs pos="0">
                <a:srgbClr val="3368FF"/>
              </a:gs>
              <a:gs pos="96000">
                <a:srgbClr val="3368FF">
                  <a:alpha val="0"/>
                </a:srgbClr>
              </a:gs>
            </a:gsLst>
            <a:lin ang="5400000" scaled="1"/>
          </a:gradFill>
          <a:ln w="186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pic>
        <p:nvPicPr>
          <p:cNvPr id="257" name="图片 256" descr="科学技术-30"/>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303145" y="5605780"/>
            <a:ext cx="293370" cy="293370"/>
          </a:xfrm>
          <a:prstGeom prst="rect">
            <a:avLst/>
          </a:prstGeom>
        </p:spPr>
      </p:pic>
      <p:pic>
        <p:nvPicPr>
          <p:cNvPr id="258" name="图片 257" descr="公益"/>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199890" y="5590540"/>
            <a:ext cx="298450" cy="298450"/>
          </a:xfrm>
          <a:prstGeom prst="rect">
            <a:avLst/>
          </a:prstGeom>
        </p:spPr>
      </p:pic>
      <p:grpSp>
        <p:nvGrpSpPr>
          <p:cNvPr id="264" name="组合 263"/>
          <p:cNvGrpSpPr/>
          <p:nvPr/>
        </p:nvGrpSpPr>
        <p:grpSpPr>
          <a:xfrm rot="0">
            <a:off x="799465" y="3203575"/>
            <a:ext cx="127635" cy="725805"/>
            <a:chOff x="1487" y="3855"/>
            <a:chExt cx="201" cy="661"/>
          </a:xfrm>
        </p:grpSpPr>
        <p:cxnSp>
          <p:nvCxnSpPr>
            <p:cNvPr id="265" name="直接连接符 264"/>
            <p:cNvCxnSpPr/>
            <p:nvPr/>
          </p:nvCxnSpPr>
          <p:spPr>
            <a:xfrm>
              <a:off x="1487" y="3861"/>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266" name="直接连接符 265"/>
            <p:cNvCxnSpPr/>
            <p:nvPr/>
          </p:nvCxnSpPr>
          <p:spPr>
            <a:xfrm>
              <a:off x="1490" y="4513"/>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267" name="直接连接符 266"/>
            <p:cNvCxnSpPr/>
            <p:nvPr/>
          </p:nvCxnSpPr>
          <p:spPr>
            <a:xfrm>
              <a:off x="1677" y="3855"/>
              <a:ext cx="0" cy="661"/>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grpSp>
      <p:grpSp>
        <p:nvGrpSpPr>
          <p:cNvPr id="275" name="组合 274"/>
          <p:cNvGrpSpPr/>
          <p:nvPr/>
        </p:nvGrpSpPr>
        <p:grpSpPr>
          <a:xfrm rot="0">
            <a:off x="797560" y="4036060"/>
            <a:ext cx="127635" cy="1370330"/>
            <a:chOff x="1487" y="3855"/>
            <a:chExt cx="201" cy="661"/>
          </a:xfrm>
        </p:grpSpPr>
        <p:cxnSp>
          <p:nvCxnSpPr>
            <p:cNvPr id="277" name="直接连接符 276"/>
            <p:cNvCxnSpPr/>
            <p:nvPr/>
          </p:nvCxnSpPr>
          <p:spPr>
            <a:xfrm>
              <a:off x="1487" y="3861"/>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280" name="直接连接符 279"/>
            <p:cNvCxnSpPr/>
            <p:nvPr/>
          </p:nvCxnSpPr>
          <p:spPr>
            <a:xfrm>
              <a:off x="1490" y="4513"/>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284" name="直接连接符 283"/>
            <p:cNvCxnSpPr/>
            <p:nvPr/>
          </p:nvCxnSpPr>
          <p:spPr>
            <a:xfrm>
              <a:off x="1677" y="3855"/>
              <a:ext cx="0" cy="661"/>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grpSp>
      <p:grpSp>
        <p:nvGrpSpPr>
          <p:cNvPr id="285" name="组合 284"/>
          <p:cNvGrpSpPr/>
          <p:nvPr/>
        </p:nvGrpSpPr>
        <p:grpSpPr>
          <a:xfrm rot="0">
            <a:off x="797560" y="5546725"/>
            <a:ext cx="127635" cy="725805"/>
            <a:chOff x="1487" y="3855"/>
            <a:chExt cx="201" cy="661"/>
          </a:xfrm>
        </p:grpSpPr>
        <p:cxnSp>
          <p:nvCxnSpPr>
            <p:cNvPr id="286" name="直接连接符 285"/>
            <p:cNvCxnSpPr/>
            <p:nvPr/>
          </p:nvCxnSpPr>
          <p:spPr>
            <a:xfrm>
              <a:off x="1487" y="3861"/>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287" name="直接连接符 286"/>
            <p:cNvCxnSpPr/>
            <p:nvPr/>
          </p:nvCxnSpPr>
          <p:spPr>
            <a:xfrm>
              <a:off x="1490" y="4513"/>
              <a:ext cx="198" cy="0"/>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cxnSp>
          <p:nvCxnSpPr>
            <p:cNvPr id="289" name="直接连接符 288"/>
            <p:cNvCxnSpPr/>
            <p:nvPr/>
          </p:nvCxnSpPr>
          <p:spPr>
            <a:xfrm>
              <a:off x="1677" y="3855"/>
              <a:ext cx="0" cy="661"/>
            </a:xfrm>
            <a:prstGeom prst="line">
              <a:avLst/>
            </a:prstGeom>
            <a:ln>
              <a:solidFill>
                <a:srgbClr val="383838">
                  <a:alpha val="95000"/>
                </a:srgbClr>
              </a:solidFill>
            </a:ln>
          </p:spPr>
          <p:style>
            <a:lnRef idx="2">
              <a:srgbClr val="0042FF"/>
            </a:lnRef>
            <a:fillRef idx="0">
              <a:srgbClr val="FFFFFF"/>
            </a:fillRef>
            <a:effectRef idx="0">
              <a:srgbClr val="FFFFFF"/>
            </a:effectRef>
            <a:fontRef idx="minor">
              <a:srgbClr val="383838"/>
            </a:fontRef>
          </p:style>
        </p:cxnSp>
      </p:grpSp>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12"/>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矩形: 圆角 470"/>
          <p:cNvSpPr/>
          <p:nvPr/>
        </p:nvSpPr>
        <p:spPr>
          <a:xfrm>
            <a:off x="1821815" y="1955800"/>
            <a:ext cx="9806305" cy="1435735"/>
          </a:xfrm>
          <a:prstGeom prst="roundRect">
            <a:avLst>
              <a:gd name="adj" fmla="val 2718"/>
            </a:avLst>
          </a:prstGeom>
          <a:solidFill>
            <a:srgbClr val="0042FF">
              <a:alpha val="5000"/>
            </a:srgbClr>
          </a:solidFill>
          <a:ln w="12700" cap="flat" cmpd="sng" algn="ctr">
            <a:solidFill>
              <a:srgbClr val="0042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77" name="紫荆的职场Point28"/>
          <p:cNvSpPr/>
          <p:nvPr/>
        </p:nvSpPr>
        <p:spPr>
          <a:xfrm>
            <a:off x="181610" y="1044575"/>
            <a:ext cx="11842750" cy="799465"/>
          </a:xfrm>
          <a:prstGeom prst="triangle">
            <a:avLst>
              <a:gd name="adj" fmla="val 50311"/>
            </a:avLst>
          </a:prstGeom>
          <a:gradFill flip="none" rotWithShape="1">
            <a:gsLst>
              <a:gs pos="85000">
                <a:srgbClr val="3368FF"/>
              </a:gs>
              <a:gs pos="0">
                <a:srgbClr val="0042FF"/>
              </a:gs>
            </a:gsLst>
            <a:lin ang="0" scaled="1"/>
            <a:tileRect/>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a:solidFill>
                <a:srgbClr val="FFFFFF"/>
              </a:solidFill>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屋顶架构 |</a:t>
            </a:r>
            <a:r>
              <a:rPr lang="zh-CN" altLang="en-US" sz="2500" dirty="0">
                <a:solidFill>
                  <a:srgbClr val="0042FF"/>
                </a:solidFill>
                <a:effectLst/>
                <a:latin typeface="微软雅黑"/>
                <a:ea typeface="微软雅黑"/>
                <a:cs typeface="微软雅黑"/>
              </a:rPr>
              <a:t> </a:t>
            </a:r>
            <a:r>
              <a:rPr sz="2500">
                <a:solidFill>
                  <a:srgbClr val="383838"/>
                </a:solidFill>
                <a:effectLst/>
                <a:latin typeface="微软雅黑"/>
                <a:ea typeface="微软雅黑"/>
                <a:cs typeface="微软雅黑"/>
                <a:sym typeface="微软雅黑"/>
              </a:rPr>
              <a:t>传统企业在转型中的危与机</a:t>
            </a:r>
            <a:endParaRPr lang="en-US" altLang="zh-CN" sz="2500" dirty="0">
              <a:solidFill>
                <a:srgbClr val="383838"/>
              </a:solidFill>
              <a:effectLst/>
              <a:latin typeface="微软雅黑"/>
              <a:ea typeface="微软雅黑"/>
              <a:cs typeface="微软雅黑"/>
              <a:sym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7" name="textbox 2040"/>
          <p:cNvSpPr/>
          <p:nvPr/>
        </p:nvSpPr>
        <p:spPr>
          <a:xfrm>
            <a:off x="4079875" y="1343025"/>
            <a:ext cx="4142740" cy="307340"/>
          </a:xfrm>
          <a:prstGeom prst="rect">
            <a:avLst/>
          </a:prstGeom>
        </p:spPr>
        <p:txBody>
          <a:bodyPr vert="horz" wrap="square" lIns="0" tIns="0" rIns="0" bIns="0">
            <a:spAutoFit/>
          </a:bodyPr>
          <a:lstStyle/>
          <a:p>
            <a:pPr algn="ctr" rtl="0" eaLnBrk="0">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传统企业转型中的危与机</a:t>
            </a:r>
            <a:endParaRPr lang="zh-CN" altLang="en-US" sz="2000" b="1" dirty="0">
              <a:solidFill>
                <a:srgbClr val="FFFFFF"/>
              </a:solidFill>
              <a:latin typeface="微软雅黑"/>
              <a:ea typeface="微软雅黑"/>
              <a:cs typeface="微软雅黑"/>
            </a:endParaRPr>
          </a:p>
        </p:txBody>
      </p:sp>
      <p:sp>
        <p:nvSpPr>
          <p:cNvPr id="482" name="矩形: 圆角 481"/>
          <p:cNvSpPr/>
          <p:nvPr>
            <p:custDataLst>
              <p:tags r:id="rId3"/>
            </p:custDataLst>
          </p:nvPr>
        </p:nvSpPr>
        <p:spPr>
          <a:xfrm>
            <a:off x="563880" y="1955800"/>
            <a:ext cx="1189355" cy="1435735"/>
          </a:xfrm>
          <a:prstGeom prst="roundRect">
            <a:avLst>
              <a:gd name="adj" fmla="val 6596"/>
            </a:avLst>
          </a:prstGeom>
          <a:gradFill>
            <a:gsLst>
              <a:gs pos="100000">
                <a:srgbClr val="3368FF"/>
              </a:gs>
              <a:gs pos="0">
                <a:srgbClr val="0042FF"/>
              </a:gs>
            </a:gsLst>
            <a:lin ang="54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b="1">
              <a:solidFill>
                <a:srgbClr val="FFFFFF"/>
              </a:solidFill>
              <a:latin typeface="微软雅黑"/>
              <a:ea typeface="微软雅黑"/>
              <a:cs typeface="微软雅黑"/>
              <a:sym typeface="微软雅黑"/>
            </a:endParaRPr>
          </a:p>
        </p:txBody>
      </p:sp>
      <p:grpSp>
        <p:nvGrpSpPr>
          <p:cNvPr id="78" name="组合 77"/>
          <p:cNvGrpSpPr/>
          <p:nvPr/>
        </p:nvGrpSpPr>
        <p:grpSpPr>
          <a:xfrm>
            <a:off x="3172460" y="1844040"/>
            <a:ext cx="332105" cy="492125"/>
            <a:chOff x="3703" y="3191"/>
            <a:chExt cx="798" cy="1127"/>
          </a:xfrm>
        </p:grpSpPr>
        <p:sp>
          <p:nvSpPr>
            <p:cNvPr id="318" name="菱形 317"/>
            <p:cNvSpPr/>
            <p:nvPr/>
          </p:nvSpPr>
          <p:spPr>
            <a:xfrm rot="16200000" flipH="1" flipV="1">
              <a:off x="3661" y="3478"/>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FFFFFF"/>
                  </a:solidFill>
                  <a:latin typeface="微软雅黑"/>
                  <a:ea typeface="微软雅黑"/>
                  <a:cs typeface="微软雅黑"/>
                </a:defRPr>
              </a:pPr>
              <a:endParaRPr lang="zh-CN" altLang="en-US" kern="0" dirty="0">
                <a:solidFill>
                  <a:srgbClr val="FFFFFF"/>
                </a:solidFill>
                <a:latin typeface="微软雅黑"/>
                <a:ea typeface="微软雅黑"/>
                <a:cs typeface="微软雅黑"/>
                <a:sym typeface="微软雅黑"/>
              </a:endParaRPr>
            </a:p>
          </p:txBody>
        </p:sp>
        <p:sp>
          <p:nvSpPr>
            <p:cNvPr id="319" name="菱形 318"/>
            <p:cNvSpPr/>
            <p:nvPr/>
          </p:nvSpPr>
          <p:spPr>
            <a:xfrm rot="16200000" flipH="1" flipV="1">
              <a:off x="3641" y="3253"/>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79" name="组合 78"/>
          <p:cNvGrpSpPr/>
          <p:nvPr/>
        </p:nvGrpSpPr>
        <p:grpSpPr>
          <a:xfrm>
            <a:off x="5146675" y="1844040"/>
            <a:ext cx="332105" cy="492125"/>
            <a:chOff x="3703" y="3191"/>
            <a:chExt cx="798" cy="1127"/>
          </a:xfrm>
        </p:grpSpPr>
        <p:sp>
          <p:nvSpPr>
            <p:cNvPr id="80" name="菱形 79"/>
            <p:cNvSpPr/>
            <p:nvPr/>
          </p:nvSpPr>
          <p:spPr>
            <a:xfrm rot="16200000" flipH="1" flipV="1">
              <a:off x="3661" y="3478"/>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81" name="菱形 80"/>
            <p:cNvSpPr/>
            <p:nvPr/>
          </p:nvSpPr>
          <p:spPr>
            <a:xfrm rot="16200000" flipH="1" flipV="1">
              <a:off x="3641" y="3253"/>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82" name="组合 81"/>
          <p:cNvGrpSpPr/>
          <p:nvPr/>
        </p:nvGrpSpPr>
        <p:grpSpPr>
          <a:xfrm>
            <a:off x="7120890" y="1844040"/>
            <a:ext cx="332105" cy="492125"/>
            <a:chOff x="3703" y="3191"/>
            <a:chExt cx="798" cy="1127"/>
          </a:xfrm>
        </p:grpSpPr>
        <p:sp>
          <p:nvSpPr>
            <p:cNvPr id="111" name="菱形 110"/>
            <p:cNvSpPr/>
            <p:nvPr/>
          </p:nvSpPr>
          <p:spPr>
            <a:xfrm rot="16200000" flipH="1" flipV="1">
              <a:off x="3661" y="3478"/>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16" name="菱形 115"/>
            <p:cNvSpPr/>
            <p:nvPr/>
          </p:nvSpPr>
          <p:spPr>
            <a:xfrm rot="16200000" flipH="1" flipV="1">
              <a:off x="3641" y="3253"/>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117" name="组合 116"/>
          <p:cNvGrpSpPr/>
          <p:nvPr/>
        </p:nvGrpSpPr>
        <p:grpSpPr>
          <a:xfrm>
            <a:off x="9095105" y="1844040"/>
            <a:ext cx="332105" cy="492125"/>
            <a:chOff x="3703" y="3191"/>
            <a:chExt cx="798" cy="1127"/>
          </a:xfrm>
        </p:grpSpPr>
        <p:sp>
          <p:nvSpPr>
            <p:cNvPr id="118" name="菱形 117"/>
            <p:cNvSpPr/>
            <p:nvPr/>
          </p:nvSpPr>
          <p:spPr>
            <a:xfrm rot="16200000" flipH="1" flipV="1">
              <a:off x="3661" y="3478"/>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22" name="菱形 121"/>
            <p:cNvSpPr/>
            <p:nvPr/>
          </p:nvSpPr>
          <p:spPr>
            <a:xfrm rot="16200000" flipH="1" flipV="1">
              <a:off x="3641" y="3253"/>
              <a:ext cx="902" cy="779"/>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3" name="组合 2"/>
          <p:cNvGrpSpPr/>
          <p:nvPr/>
        </p:nvGrpSpPr>
        <p:grpSpPr>
          <a:xfrm>
            <a:off x="4334510" y="2336800"/>
            <a:ext cx="4947920" cy="922655"/>
            <a:chOff x="5620" y="4229"/>
            <a:chExt cx="7792" cy="1453"/>
          </a:xfrm>
        </p:grpSpPr>
        <p:sp>
          <p:nvSpPr>
            <p:cNvPr id="136" name="文本框 135"/>
            <p:cNvSpPr txBox="1"/>
            <p:nvPr/>
          </p:nvSpPr>
          <p:spPr>
            <a:xfrm>
              <a:off x="9567" y="4229"/>
              <a:ext cx="1002" cy="476"/>
            </a:xfrm>
            <a:prstGeom prst="rect">
              <a:avLst/>
            </a:prstGeom>
            <a:noFill/>
          </p:spPr>
          <p:txBody>
            <a:bodyPr wrap="square" rtlCol="0">
              <a:noAutofit/>
            </a:bodyPr>
            <a:lstStyle/>
            <a:p>
              <a:pPr>
                <a:defRPr>
                  <a:latin typeface="微软雅黑"/>
                  <a:ea typeface="微软雅黑"/>
                  <a:cs typeface="微软雅黑"/>
                </a:defRPr>
              </a:pPr>
              <a:r>
                <a:rPr lang="zh-CN" altLang="en-US" sz="1500" b="1">
                  <a:solidFill>
                    <a:srgbClr val="0042FF"/>
                  </a:solidFill>
                  <a:latin typeface="微软雅黑"/>
                  <a:ea typeface="微软雅黑"/>
                  <a:cs typeface="微软雅黑"/>
                </a:rPr>
                <a:t>失衡</a:t>
              </a:r>
              <a:endParaRPr lang="zh-CN" altLang="en-US" sz="1500" b="1">
                <a:solidFill>
                  <a:srgbClr val="0042FF"/>
                </a:solidFill>
                <a:latin typeface="微软雅黑"/>
                <a:ea typeface="微软雅黑"/>
                <a:cs typeface="微软雅黑"/>
              </a:endParaRPr>
            </a:p>
          </p:txBody>
        </p:sp>
        <p:grpSp>
          <p:nvGrpSpPr>
            <p:cNvPr id="2" name="组合 1"/>
            <p:cNvGrpSpPr/>
            <p:nvPr/>
          </p:nvGrpSpPr>
          <p:grpSpPr>
            <a:xfrm>
              <a:off x="5620" y="4778"/>
              <a:ext cx="7792" cy="904"/>
              <a:chOff x="5620" y="4778"/>
              <a:chExt cx="7792" cy="904"/>
            </a:xfrm>
          </p:grpSpPr>
          <p:grpSp>
            <p:nvGrpSpPr>
              <p:cNvPr id="133" name="组合 132"/>
              <p:cNvGrpSpPr/>
              <p:nvPr/>
            </p:nvGrpSpPr>
            <p:grpSpPr>
              <a:xfrm>
                <a:off x="5620" y="4778"/>
                <a:ext cx="7793" cy="297"/>
                <a:chOff x="10749" y="5102"/>
                <a:chExt cx="5397" cy="297"/>
              </a:xfrm>
              <a:effectLst/>
            </p:grpSpPr>
            <p:sp>
              <p:nvSpPr>
                <p:cNvPr id="192" name="梯形 191"/>
                <p:cNvSpPr/>
                <p:nvPr/>
              </p:nvSpPr>
              <p:spPr>
                <a:xfrm rot="300000">
                  <a:off x="10762" y="5102"/>
                  <a:ext cx="5384" cy="178"/>
                </a:xfrm>
                <a:prstGeom prst="trapezoid">
                  <a:avLst>
                    <a:gd name="adj" fmla="val 119447"/>
                  </a:avLst>
                </a:prstGeom>
                <a:gradFill>
                  <a:gsLst>
                    <a:gs pos="0">
                      <a:srgbClr val="0042FF">
                        <a:alpha val="80000"/>
                      </a:srgbClr>
                    </a:gs>
                    <a:gs pos="100000">
                      <a:srgbClr val="0042FF">
                        <a:alpha val="0"/>
                      </a:srgbClr>
                    </a:gs>
                  </a:gsLst>
                  <a:lin ang="16200000" scaled="0"/>
                </a:gradFill>
                <a:ln w="127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93" name="矩形 192"/>
                <p:cNvSpPr/>
                <p:nvPr/>
              </p:nvSpPr>
              <p:spPr>
                <a:xfrm rot="300000">
                  <a:off x="10749" y="5279"/>
                  <a:ext cx="5384" cy="120"/>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135" name="等腰三角形 134"/>
              <p:cNvSpPr/>
              <p:nvPr>
                <p:custDataLst>
                  <p:tags r:id="rId4"/>
                </p:custDataLst>
              </p:nvPr>
            </p:nvSpPr>
            <p:spPr>
              <a:xfrm flipH="1">
                <a:off x="9625" y="5106"/>
                <a:ext cx="535" cy="463"/>
              </a:xfrm>
              <a:prstGeom prst="triangle">
                <a:avLst/>
              </a:prstGeom>
              <a:gradFill>
                <a:gsLst>
                  <a:gs pos="100000">
                    <a:srgbClr val="0042FF"/>
                  </a:gs>
                  <a:gs pos="0">
                    <a:srgbClr val="0042FF">
                      <a:alpha val="0"/>
                    </a:srgbClr>
                  </a:gs>
                </a:gsLst>
                <a:path path="shape">
                  <a:fillToRect l="50000" t="50000" r="50000" b="50000"/>
                </a:path>
                <a:tileRect/>
              </a:gradFill>
              <a:ln w="12700" cap="flat" cmpd="sng" algn="ctr">
                <a:solidFill>
                  <a:srgbClr val="0042FF"/>
                </a:solidFill>
                <a:prstDash val="solid"/>
                <a:miter lim="800000"/>
              </a:ln>
              <a:effectLst>
                <a:outerShdw blurRad="50800" dist="38100" dir="2700000" algn="tl" rotWithShape="0">
                  <a:prstClr val="black">
                    <a:alpha val="40000"/>
                  </a:prstClr>
                </a:outerShdw>
              </a:effectLst>
            </p:spPr>
            <p:txBody>
              <a:bodyPr rtlCol="0" anchor="ctr" lIns="0" rIns="0" tIns="0" bIns="0"/>
              <a:lstStyle/>
              <a:p>
                <a:pPr algn="ctr">
                  <a:defRPr>
                    <a:solidFill>
                      <a:srgbClr val="383838"/>
                    </a:solidFill>
                    <a:latin typeface="微软雅黑"/>
                    <a:ea typeface="微软雅黑"/>
                    <a:cs typeface="微软雅黑"/>
                  </a:defRPr>
                </a:pPr>
                <a:endParaRPr kumimoji="1" lang="zh-CN" altLang="en-US" sz="1000">
                  <a:solidFill>
                    <a:srgbClr val="383838"/>
                  </a:solidFill>
                  <a:latin typeface="微软雅黑"/>
                  <a:ea typeface="微软雅黑"/>
                  <a:cs typeface="微软雅黑"/>
                </a:endParaRPr>
              </a:p>
            </p:txBody>
          </p:sp>
          <p:sp>
            <p:nvSpPr>
              <p:cNvPr id="138" name="矩形 137"/>
              <p:cNvSpPr/>
              <p:nvPr/>
            </p:nvSpPr>
            <p:spPr>
              <a:xfrm>
                <a:off x="6687" y="5538"/>
                <a:ext cx="6478" cy="144"/>
              </a:xfrm>
              <a:prstGeom prst="rect">
                <a:avLst/>
              </a:prstGeom>
              <a:gradFill>
                <a:gsLst>
                  <a:gs pos="0">
                    <a:srgbClr val="0042FF">
                      <a:alpha val="60000"/>
                    </a:srgbClr>
                  </a:gs>
                  <a:gs pos="100000">
                    <a:srgbClr val="0042FF">
                      <a:alpha val="10000"/>
                    </a:srgbClr>
                  </a:gs>
                </a:gsLst>
                <a:lin ang="8100000" scaled="0"/>
              </a:gradFill>
              <a:ln>
                <a:noFill/>
              </a:ln>
              <a:effectLst/>
              <a:scene3d>
                <a:camera prst="perspectiveRelaxedModerately"/>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sp>
        <p:nvSpPr>
          <p:cNvPr id="139" name="Google Shape;703;p30"/>
          <p:cNvSpPr/>
          <p:nvPr/>
        </p:nvSpPr>
        <p:spPr>
          <a:xfrm>
            <a:off x="2116455" y="2169160"/>
            <a:ext cx="1968500" cy="643255"/>
          </a:xfrm>
          <a:prstGeom prst="roundRect">
            <a:avLst>
              <a:gd name="adj" fmla="val 3814"/>
            </a:avLst>
          </a:prstGeom>
          <a:gradFill flip="none" rotWithShape="1">
            <a:gsLst>
              <a:gs pos="23000">
                <a:srgbClr val="0042FF"/>
              </a:gs>
              <a:gs pos="100000">
                <a:srgbClr val="0042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568"/>
              </a:lnSpc>
              <a:spcBef>
                <a:spcPts val="0"/>
              </a:spcBef>
              <a:spcAft>
                <a:spcPts val="0"/>
              </a:spcAft>
            </a:pPr>
            <a:r>
              <a:rPr lang="zh-CN" altLang="en-US" sz="1400" b="1" dirty="0">
                <a:solidFill>
                  <a:srgbClr val="FFFFFF"/>
                </a:solidFill>
                <a:latin typeface="微软雅黑"/>
                <a:ea typeface="微软雅黑"/>
                <a:cs typeface="微软雅黑"/>
                <a:sym typeface="微软雅黑"/>
              </a:rPr>
              <a:t>新兴市场开拓</a:t>
            </a:r>
            <a:endParaRPr lang="zh-CN" altLang="en-US" sz="14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lnSpc>
                <a:spcPts val="1568"/>
              </a:lnSpc>
              <a:spcBef>
                <a:spcPts val="0"/>
              </a:spcBef>
              <a:spcAft>
                <a:spcPts val="0"/>
              </a:spcAft>
            </a:pPr>
            <a:r>
              <a:rPr lang="zh-CN" altLang="en-US" sz="1000" dirty="0">
                <a:solidFill>
                  <a:srgbClr val="FFFFFF"/>
                </a:solidFill>
                <a:latin typeface="微软雅黑"/>
                <a:ea typeface="微软雅黑"/>
                <a:cs typeface="微软雅黑"/>
                <a:sym typeface="微软雅黑"/>
              </a:rPr>
              <a:t>资源投入分散，缺乏持续培育机制</a:t>
            </a:r>
            <a:endParaRPr lang="zh-CN" altLang="en-US" sz="1000" dirty="0">
              <a:solidFill>
                <a:srgbClr val="FFFFFF"/>
              </a:solidFill>
              <a:latin typeface="微软雅黑"/>
              <a:ea typeface="微软雅黑"/>
              <a:cs typeface="微软雅黑"/>
              <a:sym typeface="微软雅黑"/>
            </a:endParaRPr>
          </a:p>
        </p:txBody>
      </p:sp>
      <p:sp>
        <p:nvSpPr>
          <p:cNvPr id="140" name="Google Shape;703;p30"/>
          <p:cNvSpPr/>
          <p:nvPr/>
        </p:nvSpPr>
        <p:spPr>
          <a:xfrm>
            <a:off x="9443720" y="2628900"/>
            <a:ext cx="1884045" cy="643255"/>
          </a:xfrm>
          <a:prstGeom prst="roundRect">
            <a:avLst>
              <a:gd name="adj" fmla="val 3814"/>
            </a:avLst>
          </a:prstGeom>
          <a:gradFill flip="none" rotWithShape="1">
            <a:gsLst>
              <a:gs pos="23000">
                <a:srgbClr val="0042FF"/>
              </a:gs>
              <a:gs pos="100000">
                <a:srgbClr val="0042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568"/>
              </a:lnSpc>
              <a:spcBef>
                <a:spcPts val="0"/>
              </a:spcBef>
              <a:spcAft>
                <a:spcPts val="0"/>
              </a:spcAft>
            </a:pPr>
            <a:r>
              <a:rPr lang="zh-CN" altLang="en-US" sz="1400" b="1" dirty="0">
                <a:solidFill>
                  <a:srgbClr val="FFFFFF"/>
                </a:solidFill>
                <a:latin typeface="微软雅黑"/>
                <a:ea typeface="微软雅黑"/>
                <a:cs typeface="微软雅黑"/>
                <a:sym typeface="微软雅黑"/>
              </a:rPr>
              <a:t>传统业务维护</a:t>
            </a:r>
            <a:endParaRPr lang="zh-CN" altLang="en-US" sz="14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lnSpc>
                <a:spcPts val="1568"/>
              </a:lnSpc>
              <a:spcBef>
                <a:spcPts val="0"/>
              </a:spcBef>
              <a:spcAft>
                <a:spcPts val="0"/>
              </a:spcAft>
            </a:pPr>
            <a:r>
              <a:rPr lang="zh-CN" altLang="en-US" sz="1000" dirty="0">
                <a:solidFill>
                  <a:srgbClr val="FFFFFF"/>
                </a:solidFill>
                <a:latin typeface="微软雅黑"/>
                <a:ea typeface="微软雅黑"/>
                <a:cs typeface="微软雅黑"/>
                <a:sym typeface="微软雅黑"/>
              </a:rPr>
              <a:t>转型动力不足，资源固化难调配</a:t>
            </a:r>
            <a:endParaRPr lang="zh-CN" altLang="en-US" sz="1000" dirty="0">
              <a:solidFill>
                <a:srgbClr val="FFFFFF"/>
              </a:solidFill>
              <a:latin typeface="微软雅黑"/>
              <a:ea typeface="微软雅黑"/>
              <a:cs typeface="微软雅黑"/>
              <a:sym typeface="微软雅黑"/>
            </a:endParaRPr>
          </a:p>
        </p:txBody>
      </p:sp>
      <p:cxnSp>
        <p:nvCxnSpPr>
          <p:cNvPr id="9" name="直接连接符 8"/>
          <p:cNvCxnSpPr/>
          <p:nvPr/>
        </p:nvCxnSpPr>
        <p:spPr>
          <a:xfrm>
            <a:off x="4084955" y="2521585"/>
            <a:ext cx="363855" cy="0"/>
          </a:xfrm>
          <a:prstGeom prst="line">
            <a:avLst/>
          </a:prstGeom>
          <a:ln>
            <a:solidFill>
              <a:srgbClr val="668EFF"/>
            </a:solidFill>
            <a:tailEnd type="oval"/>
          </a:ln>
        </p:spPr>
        <p:style>
          <a:lnRef idx="2">
            <a:srgbClr val="0042FF"/>
          </a:lnRef>
          <a:fillRef idx="0">
            <a:srgbClr val="FFFFFF"/>
          </a:fillRef>
          <a:effectRef idx="0">
            <a:srgbClr val="FFFFFF"/>
          </a:effectRef>
          <a:fontRef idx="minor">
            <a:srgbClr val="383838"/>
          </a:fontRef>
        </p:style>
      </p:cxnSp>
      <p:cxnSp>
        <p:nvCxnSpPr>
          <p:cNvPr id="11" name="直接连接符 10"/>
          <p:cNvCxnSpPr/>
          <p:nvPr/>
        </p:nvCxnSpPr>
        <p:spPr>
          <a:xfrm>
            <a:off x="8855710" y="2893695"/>
            <a:ext cx="588010" cy="0"/>
          </a:xfrm>
          <a:prstGeom prst="line">
            <a:avLst/>
          </a:prstGeom>
          <a:ln>
            <a:solidFill>
              <a:srgbClr val="668EFF"/>
            </a:solidFill>
            <a:headEnd type="oval"/>
            <a:tailEnd type="none"/>
          </a:ln>
        </p:spPr>
        <p:style>
          <a:lnRef idx="2">
            <a:srgbClr val="0042FF"/>
          </a:lnRef>
          <a:fillRef idx="0">
            <a:srgbClr val="FFFFFF"/>
          </a:fillRef>
          <a:effectRef idx="0">
            <a:srgbClr val="FFFFFF"/>
          </a:effectRef>
          <a:fontRef idx="minor">
            <a:srgbClr val="383838"/>
          </a:fontRef>
        </p:style>
      </p:cxnSp>
      <p:sp>
        <p:nvSpPr>
          <p:cNvPr id="15" name="文本框 14"/>
          <p:cNvSpPr txBox="1"/>
          <p:nvPr/>
        </p:nvSpPr>
        <p:spPr>
          <a:xfrm>
            <a:off x="723583" y="2690495"/>
            <a:ext cx="869950" cy="39878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2000" b="1">
                <a:solidFill>
                  <a:srgbClr val="FFFFFF"/>
                </a:solidFill>
                <a:latin typeface="微软雅黑"/>
                <a:ea typeface="微软雅黑"/>
                <a:cs typeface="微软雅黑"/>
              </a:rPr>
              <a:t>战略</a:t>
            </a:r>
            <a:endParaRPr lang="zh-CN" altLang="en-US" sz="2000" b="1">
              <a:solidFill>
                <a:srgbClr val="FFFFFF"/>
              </a:solidFill>
              <a:latin typeface="微软雅黑"/>
              <a:ea typeface="微软雅黑"/>
              <a:cs typeface="微软雅黑"/>
            </a:endParaRPr>
          </a:p>
        </p:txBody>
      </p:sp>
      <p:sp>
        <p:nvSpPr>
          <p:cNvPr id="16" name="矩形: 圆角 481"/>
          <p:cNvSpPr/>
          <p:nvPr>
            <p:custDataLst>
              <p:tags r:id="rId5"/>
            </p:custDataLst>
          </p:nvPr>
        </p:nvSpPr>
        <p:spPr>
          <a:xfrm>
            <a:off x="563880" y="3503295"/>
            <a:ext cx="1189355" cy="1111250"/>
          </a:xfrm>
          <a:prstGeom prst="roundRect">
            <a:avLst>
              <a:gd name="adj" fmla="val 6596"/>
            </a:avLst>
          </a:prstGeom>
          <a:gradFill>
            <a:gsLst>
              <a:gs pos="0">
                <a:srgbClr val="3368FF"/>
              </a:gs>
              <a:gs pos="100000">
                <a:srgbClr val="668EFF"/>
              </a:gs>
            </a:gsLst>
            <a:lin ang="54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b="1">
              <a:solidFill>
                <a:srgbClr val="FFFFFF"/>
              </a:solidFill>
              <a:latin typeface="微软雅黑"/>
              <a:ea typeface="微软雅黑"/>
              <a:cs typeface="微软雅黑"/>
              <a:sym typeface="微软雅黑"/>
            </a:endParaRPr>
          </a:p>
        </p:txBody>
      </p:sp>
      <p:sp>
        <p:nvSpPr>
          <p:cNvPr id="18" name="矩形: 圆角 481"/>
          <p:cNvSpPr/>
          <p:nvPr>
            <p:custDataLst>
              <p:tags r:id="rId6"/>
            </p:custDataLst>
          </p:nvPr>
        </p:nvSpPr>
        <p:spPr>
          <a:xfrm>
            <a:off x="563880" y="4714875"/>
            <a:ext cx="1189355" cy="1956435"/>
          </a:xfrm>
          <a:prstGeom prst="roundRect">
            <a:avLst>
              <a:gd name="adj" fmla="val 6596"/>
            </a:avLst>
          </a:prstGeom>
          <a:gradFill>
            <a:gsLst>
              <a:gs pos="0">
                <a:srgbClr val="3368FF"/>
              </a:gs>
              <a:gs pos="100000">
                <a:srgbClr val="B3D4FE"/>
              </a:gs>
            </a:gsLst>
            <a:lin ang="54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b="1">
              <a:latin typeface="微软雅黑"/>
              <a:ea typeface="微软雅黑"/>
              <a:cs typeface="微软雅黑"/>
              <a:sym typeface="微软雅黑"/>
            </a:endParaRPr>
          </a:p>
        </p:txBody>
      </p:sp>
      <p:sp>
        <p:nvSpPr>
          <p:cNvPr id="17" name="文本框 16"/>
          <p:cNvSpPr txBox="1"/>
          <p:nvPr/>
        </p:nvSpPr>
        <p:spPr>
          <a:xfrm>
            <a:off x="723583" y="4079240"/>
            <a:ext cx="869950" cy="337185"/>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lang="zh-CN" altLang="en-US" sz="1600" b="1">
                <a:solidFill>
                  <a:srgbClr val="383838"/>
                </a:solidFill>
                <a:latin typeface="微软雅黑"/>
                <a:ea typeface="微软雅黑"/>
                <a:cs typeface="微软雅黑"/>
              </a:rPr>
              <a:t>运营</a:t>
            </a:r>
            <a:endParaRPr lang="zh-CN" altLang="en-US" sz="1600" b="1">
              <a:solidFill>
                <a:srgbClr val="383838"/>
              </a:solidFill>
              <a:latin typeface="微软雅黑"/>
              <a:ea typeface="微软雅黑"/>
              <a:cs typeface="微软雅黑"/>
            </a:endParaRPr>
          </a:p>
        </p:txBody>
      </p:sp>
      <p:sp>
        <p:nvSpPr>
          <p:cNvPr id="23" name="矩形: 圆角 470"/>
          <p:cNvSpPr/>
          <p:nvPr/>
        </p:nvSpPr>
        <p:spPr>
          <a:xfrm>
            <a:off x="1821815" y="3503295"/>
            <a:ext cx="3240000" cy="1097280"/>
          </a:xfrm>
          <a:prstGeom prst="roundRect">
            <a:avLst>
              <a:gd name="adj" fmla="val 2718"/>
            </a:avLst>
          </a:prstGeom>
          <a:solidFill>
            <a:srgbClr val="E6E6E6">
              <a:alpha val="40000"/>
            </a:srgbClr>
          </a:solidFill>
          <a:ln w="12700" cap="flat" cmpd="sng" algn="ctr">
            <a:solidFill>
              <a:srgbClr val="3368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cxnSp>
        <p:nvCxnSpPr>
          <p:cNvPr id="24" name="直接连接符 23"/>
          <p:cNvCxnSpPr/>
          <p:nvPr/>
        </p:nvCxnSpPr>
        <p:spPr>
          <a:xfrm>
            <a:off x="595630" y="3452495"/>
            <a:ext cx="11105515" cy="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19" name="文本框 18"/>
          <p:cNvSpPr txBox="1"/>
          <p:nvPr/>
        </p:nvSpPr>
        <p:spPr>
          <a:xfrm>
            <a:off x="723583" y="5755640"/>
            <a:ext cx="869950" cy="583565"/>
          </a:xfrm>
          <a:prstGeom prst="rect">
            <a:avLst/>
          </a:prstGeom>
          <a:noFill/>
        </p:spPr>
        <p:txBody>
          <a:bodyPr wrap="square" rtlCol="0">
            <a:spAutoFit/>
          </a:bodyPr>
          <a:lstStyle/>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体系</a:t>
            </a:r>
            <a:endParaRPr lang="zh-CN" altLang="en-US" sz="16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能力</a:t>
            </a:r>
            <a:endParaRPr lang="zh-CN" altLang="en-US" sz="1600" b="1">
              <a:solidFill>
                <a:srgbClr val="383838"/>
              </a:solidFill>
              <a:latin typeface="微软雅黑"/>
              <a:ea typeface="微软雅黑"/>
              <a:cs typeface="微软雅黑"/>
            </a:endParaRPr>
          </a:p>
        </p:txBody>
      </p:sp>
      <p:cxnSp>
        <p:nvCxnSpPr>
          <p:cNvPr id="26" name="直接连接符 25"/>
          <p:cNvCxnSpPr/>
          <p:nvPr/>
        </p:nvCxnSpPr>
        <p:spPr>
          <a:xfrm>
            <a:off x="595630" y="4669155"/>
            <a:ext cx="11105515" cy="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27" name="矩形: 圆角 470"/>
          <p:cNvSpPr/>
          <p:nvPr/>
        </p:nvSpPr>
        <p:spPr>
          <a:xfrm>
            <a:off x="5101820" y="3503295"/>
            <a:ext cx="3239770" cy="1097280"/>
          </a:xfrm>
          <a:prstGeom prst="roundRect">
            <a:avLst>
              <a:gd name="adj" fmla="val 2718"/>
            </a:avLst>
          </a:prstGeom>
          <a:solidFill>
            <a:srgbClr val="E6E6E6">
              <a:alpha val="40000"/>
            </a:srgbClr>
          </a:solidFill>
          <a:ln w="12700" cap="flat" cmpd="sng" algn="ctr">
            <a:solidFill>
              <a:srgbClr val="3368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8" name="矩形: 圆角 470"/>
          <p:cNvSpPr/>
          <p:nvPr/>
        </p:nvSpPr>
        <p:spPr>
          <a:xfrm>
            <a:off x="8381595" y="3517265"/>
            <a:ext cx="3239770" cy="1097280"/>
          </a:xfrm>
          <a:prstGeom prst="roundRect">
            <a:avLst>
              <a:gd name="adj" fmla="val 2718"/>
            </a:avLst>
          </a:prstGeom>
          <a:solidFill>
            <a:srgbClr val="E6E6E6">
              <a:alpha val="40000"/>
            </a:srgbClr>
          </a:solidFill>
          <a:ln w="12700" cap="flat" cmpd="sng" algn="ctr">
            <a:solidFill>
              <a:srgbClr val="3368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31" name="矩形: 圆角 470"/>
          <p:cNvSpPr/>
          <p:nvPr/>
        </p:nvSpPr>
        <p:spPr>
          <a:xfrm>
            <a:off x="1821815" y="4713605"/>
            <a:ext cx="3239135" cy="868045"/>
          </a:xfrm>
          <a:prstGeom prst="roundRect">
            <a:avLst>
              <a:gd name="adj" fmla="val 2718"/>
            </a:avLst>
          </a:prstGeom>
          <a:solidFill>
            <a:srgbClr val="B3D4FE">
              <a:alpha val="5000"/>
            </a:srgbClr>
          </a:solidFill>
          <a:ln w="12700" cmpd="sng">
            <a:solidFill>
              <a:srgbClr val="B3D4FE"/>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14" name="textbox 2040"/>
          <p:cNvSpPr/>
          <p:nvPr/>
        </p:nvSpPr>
        <p:spPr>
          <a:xfrm>
            <a:off x="1924685" y="3599180"/>
            <a:ext cx="3072130" cy="21526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400" b="1" dirty="0">
                <a:solidFill>
                  <a:srgbClr val="0042FF"/>
                </a:solidFill>
                <a:latin typeface="微软雅黑"/>
                <a:ea typeface="微软雅黑"/>
                <a:cs typeface="微软雅黑"/>
              </a:rPr>
              <a:t>后台支撑失衡</a:t>
            </a:r>
            <a:endParaRPr lang="zh-CN" altLang="en-US" sz="1400" b="1" dirty="0">
              <a:solidFill>
                <a:srgbClr val="0042FF"/>
              </a:solidFill>
              <a:latin typeface="微软雅黑"/>
              <a:ea typeface="微软雅黑"/>
              <a:cs typeface="微软雅黑"/>
            </a:endParaRPr>
          </a:p>
        </p:txBody>
      </p:sp>
      <p:sp>
        <p:nvSpPr>
          <p:cNvPr id="41" name="textbox 2040"/>
          <p:cNvSpPr/>
          <p:nvPr/>
        </p:nvSpPr>
        <p:spPr>
          <a:xfrm>
            <a:off x="5189220" y="3599180"/>
            <a:ext cx="3072130" cy="21526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400" b="1" dirty="0">
                <a:solidFill>
                  <a:srgbClr val="0042FF"/>
                </a:solidFill>
                <a:latin typeface="微软雅黑"/>
                <a:ea typeface="微软雅黑"/>
                <a:cs typeface="微软雅黑"/>
              </a:rPr>
              <a:t>中台运营效率低下</a:t>
            </a:r>
            <a:endParaRPr lang="zh-CN" altLang="en-US" sz="1400" b="1" dirty="0">
              <a:solidFill>
                <a:srgbClr val="0042FF"/>
              </a:solidFill>
              <a:latin typeface="微软雅黑"/>
              <a:ea typeface="微软雅黑"/>
              <a:cs typeface="微软雅黑"/>
            </a:endParaRPr>
          </a:p>
        </p:txBody>
      </p:sp>
      <p:sp>
        <p:nvSpPr>
          <p:cNvPr id="47" name="textbox 2040"/>
          <p:cNvSpPr/>
          <p:nvPr/>
        </p:nvSpPr>
        <p:spPr>
          <a:xfrm>
            <a:off x="8468995" y="3599180"/>
            <a:ext cx="3072130" cy="21526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400" b="1" dirty="0">
                <a:solidFill>
                  <a:srgbClr val="0042FF"/>
                </a:solidFill>
                <a:latin typeface="微软雅黑"/>
                <a:ea typeface="微软雅黑"/>
                <a:cs typeface="微软雅黑"/>
              </a:rPr>
              <a:t>业务流程数字化不足</a:t>
            </a:r>
            <a:endParaRPr lang="zh-CN" altLang="en-US" sz="1400" b="1" dirty="0">
              <a:solidFill>
                <a:srgbClr val="0042FF"/>
              </a:solidFill>
              <a:latin typeface="微软雅黑"/>
              <a:ea typeface="微软雅黑"/>
              <a:cs typeface="微软雅黑"/>
            </a:endParaRPr>
          </a:p>
        </p:txBody>
      </p:sp>
      <p:sp>
        <p:nvSpPr>
          <p:cNvPr id="52" name="矩形: 圆角 470"/>
          <p:cNvSpPr/>
          <p:nvPr/>
        </p:nvSpPr>
        <p:spPr>
          <a:xfrm>
            <a:off x="5102225" y="4713605"/>
            <a:ext cx="3239135" cy="868045"/>
          </a:xfrm>
          <a:prstGeom prst="roundRect">
            <a:avLst>
              <a:gd name="adj" fmla="val 2718"/>
            </a:avLst>
          </a:prstGeom>
          <a:solidFill>
            <a:srgbClr val="B3D4FE">
              <a:alpha val="5000"/>
            </a:srgbClr>
          </a:solidFill>
          <a:ln w="12700" cmpd="sng">
            <a:solidFill>
              <a:srgbClr val="B3D4FE"/>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53" name="矩形: 圆角 470"/>
          <p:cNvSpPr/>
          <p:nvPr/>
        </p:nvSpPr>
        <p:spPr>
          <a:xfrm>
            <a:off x="8388985" y="4714875"/>
            <a:ext cx="3239135" cy="868045"/>
          </a:xfrm>
          <a:prstGeom prst="roundRect">
            <a:avLst>
              <a:gd name="adj" fmla="val 2718"/>
            </a:avLst>
          </a:prstGeom>
          <a:solidFill>
            <a:srgbClr val="B3D4FE">
              <a:alpha val="5000"/>
            </a:srgbClr>
          </a:solidFill>
          <a:ln w="12700" cmpd="sng">
            <a:solidFill>
              <a:srgbClr val="B3D4FE"/>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54" name="textbox 2040"/>
          <p:cNvSpPr/>
          <p:nvPr/>
        </p:nvSpPr>
        <p:spPr>
          <a:xfrm>
            <a:off x="1989455" y="4803775"/>
            <a:ext cx="3072130" cy="21526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400" b="1" dirty="0">
                <a:solidFill>
                  <a:srgbClr val="0042FF"/>
                </a:solidFill>
                <a:latin typeface="微软雅黑"/>
                <a:ea typeface="微软雅黑"/>
                <a:cs typeface="微软雅黑"/>
              </a:rPr>
              <a:t>资源分配失衡与动力不足</a:t>
            </a:r>
            <a:endParaRPr lang="zh-CN" altLang="en-US" sz="1400" b="1" dirty="0">
              <a:solidFill>
                <a:srgbClr val="0042FF"/>
              </a:solidFill>
              <a:latin typeface="微软雅黑"/>
              <a:ea typeface="微软雅黑"/>
              <a:cs typeface="微软雅黑"/>
            </a:endParaRPr>
          </a:p>
        </p:txBody>
      </p:sp>
      <p:sp>
        <p:nvSpPr>
          <p:cNvPr id="55" name="textbox 2040"/>
          <p:cNvSpPr/>
          <p:nvPr/>
        </p:nvSpPr>
        <p:spPr>
          <a:xfrm>
            <a:off x="2100580" y="5075555"/>
            <a:ext cx="2784475" cy="36893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dirty="0">
                <a:solidFill>
                  <a:srgbClr val="383838"/>
                </a:solidFill>
                <a:latin typeface="微软雅黑"/>
                <a:ea typeface="微软雅黑"/>
                <a:cs typeface="微软雅黑"/>
              </a:rPr>
              <a:t>组织惯性大，过度依赖传统业务，对新兴市场投入分散，缺乏长期培育机制。</a:t>
            </a:r>
            <a:endParaRPr lang="zh-CN" altLang="en-US" sz="1200" dirty="0">
              <a:solidFill>
                <a:srgbClr val="383838"/>
              </a:solidFill>
              <a:latin typeface="微软雅黑"/>
              <a:ea typeface="微软雅黑"/>
              <a:cs typeface="微软雅黑"/>
            </a:endParaRPr>
          </a:p>
        </p:txBody>
      </p:sp>
      <p:sp>
        <p:nvSpPr>
          <p:cNvPr id="56" name="textbox 2040"/>
          <p:cNvSpPr/>
          <p:nvPr/>
        </p:nvSpPr>
        <p:spPr>
          <a:xfrm>
            <a:off x="5217795" y="4777740"/>
            <a:ext cx="3072130" cy="21526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400" b="1" dirty="0">
                <a:solidFill>
                  <a:srgbClr val="0042FF"/>
                </a:solidFill>
                <a:latin typeface="微软雅黑"/>
                <a:ea typeface="微软雅黑"/>
                <a:cs typeface="微软雅黑"/>
              </a:rPr>
              <a:t>组织架构冗余与人才断层</a:t>
            </a:r>
            <a:endParaRPr lang="zh-CN" altLang="en-US" sz="1400" b="1" dirty="0">
              <a:solidFill>
                <a:srgbClr val="0042FF"/>
              </a:solidFill>
              <a:latin typeface="微软雅黑"/>
              <a:ea typeface="微软雅黑"/>
              <a:cs typeface="微软雅黑"/>
            </a:endParaRPr>
          </a:p>
        </p:txBody>
      </p:sp>
      <p:sp>
        <p:nvSpPr>
          <p:cNvPr id="57" name="textbox 2040"/>
          <p:cNvSpPr/>
          <p:nvPr/>
        </p:nvSpPr>
        <p:spPr>
          <a:xfrm>
            <a:off x="5217795" y="5049520"/>
            <a:ext cx="2947670" cy="36893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dirty="0">
                <a:solidFill>
                  <a:srgbClr val="383838"/>
                </a:solidFill>
                <a:latin typeface="微软雅黑"/>
                <a:ea typeface="微软雅黑"/>
                <a:cs typeface="微软雅黑"/>
              </a:rPr>
              <a:t>组织层级复杂，团队缺乏活力；人才缺失，晋升机制不规范，员工技能与转型需求脱节。</a:t>
            </a:r>
            <a:endParaRPr lang="zh-CN" altLang="en-US" sz="1200" dirty="0">
              <a:solidFill>
                <a:srgbClr val="383838"/>
              </a:solidFill>
              <a:latin typeface="微软雅黑"/>
              <a:ea typeface="微软雅黑"/>
              <a:cs typeface="微软雅黑"/>
            </a:endParaRPr>
          </a:p>
        </p:txBody>
      </p:sp>
      <p:sp>
        <p:nvSpPr>
          <p:cNvPr id="58" name="textbox 2040"/>
          <p:cNvSpPr/>
          <p:nvPr/>
        </p:nvSpPr>
        <p:spPr>
          <a:xfrm>
            <a:off x="8498205" y="4777740"/>
            <a:ext cx="3072130" cy="21526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400" b="1" dirty="0">
                <a:solidFill>
                  <a:srgbClr val="0042FF"/>
                </a:solidFill>
                <a:latin typeface="微软雅黑"/>
                <a:ea typeface="微软雅黑"/>
                <a:cs typeface="微软雅黑"/>
              </a:rPr>
              <a:t>数字化工具落后</a:t>
            </a:r>
            <a:endParaRPr lang="zh-CN" altLang="en-US" sz="1400" b="1" dirty="0">
              <a:solidFill>
                <a:srgbClr val="0042FF"/>
              </a:solidFill>
              <a:latin typeface="微软雅黑"/>
              <a:ea typeface="微软雅黑"/>
              <a:cs typeface="微软雅黑"/>
            </a:endParaRPr>
          </a:p>
        </p:txBody>
      </p:sp>
      <p:sp>
        <p:nvSpPr>
          <p:cNvPr id="59" name="textbox 2040"/>
          <p:cNvSpPr/>
          <p:nvPr/>
        </p:nvSpPr>
        <p:spPr>
          <a:xfrm>
            <a:off x="8650605" y="5049520"/>
            <a:ext cx="2717800" cy="36893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dirty="0">
                <a:solidFill>
                  <a:srgbClr val="383838"/>
                </a:solidFill>
                <a:latin typeface="微软雅黑"/>
                <a:ea typeface="微软雅黑"/>
                <a:cs typeface="微软雅黑"/>
              </a:rPr>
              <a:t>多数存在系统老旧，各系统间数据孤岛严重、协同弱，智能化应用不足。</a:t>
            </a:r>
            <a:endParaRPr lang="zh-CN" altLang="en-US" sz="1200" dirty="0">
              <a:solidFill>
                <a:srgbClr val="383838"/>
              </a:solidFill>
              <a:latin typeface="微软雅黑"/>
              <a:ea typeface="微软雅黑"/>
              <a:cs typeface="微软雅黑"/>
            </a:endParaRPr>
          </a:p>
        </p:txBody>
      </p:sp>
      <p:grpSp>
        <p:nvGrpSpPr>
          <p:cNvPr id="66" name="组合 65"/>
          <p:cNvGrpSpPr/>
          <p:nvPr/>
        </p:nvGrpSpPr>
        <p:grpSpPr>
          <a:xfrm>
            <a:off x="9230360" y="5478780"/>
            <a:ext cx="284480" cy="218440"/>
            <a:chOff x="3471" y="7328"/>
            <a:chExt cx="924" cy="460"/>
          </a:xfrm>
        </p:grpSpPr>
        <p:sp>
          <p:nvSpPr>
            <p:cNvPr id="84" name="箭头: 下 47"/>
            <p:cNvSpPr/>
            <p:nvPr>
              <p:custDataLst>
                <p:tags r:id="rId7"/>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7" name="箭头: 下 47"/>
            <p:cNvSpPr/>
            <p:nvPr>
              <p:custDataLst>
                <p:tags r:id="rId8"/>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247" name="矩形 246"/>
          <p:cNvSpPr/>
          <p:nvPr/>
        </p:nvSpPr>
        <p:spPr>
          <a:xfrm>
            <a:off x="8388985" y="5755640"/>
            <a:ext cx="3239135" cy="949960"/>
          </a:xfrm>
          <a:prstGeom prst="rect">
            <a:avLst/>
          </a:prstGeom>
          <a:solidFill>
            <a:srgbClr val="3368FF">
              <a:alpha val="2000"/>
            </a:srgbClr>
          </a:solidFill>
          <a:ln w="12700" cmpd="sng">
            <a:solidFill>
              <a:srgbClr val="3368FF"/>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248" name="矩形 247"/>
          <p:cNvSpPr/>
          <p:nvPr/>
        </p:nvSpPr>
        <p:spPr>
          <a:xfrm>
            <a:off x="8388985" y="5755640"/>
            <a:ext cx="3239135" cy="308610"/>
          </a:xfrm>
          <a:prstGeom prst="rect">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智能化系统升级替代</a:t>
            </a:r>
            <a:endParaRPr lang="zh-CN" altLang="en-US" sz="1400" b="1" dirty="0">
              <a:solidFill>
                <a:srgbClr val="383838"/>
              </a:solidFill>
              <a:latin typeface="微软雅黑"/>
              <a:ea typeface="微软雅黑"/>
              <a:cs typeface="微软雅黑"/>
              <a:sym typeface="微软雅黑"/>
            </a:endParaRPr>
          </a:p>
        </p:txBody>
      </p:sp>
      <p:grpSp>
        <p:nvGrpSpPr>
          <p:cNvPr id="50" name="组合 49"/>
          <p:cNvGrpSpPr/>
          <p:nvPr/>
        </p:nvGrpSpPr>
        <p:grpSpPr>
          <a:xfrm>
            <a:off x="8479790" y="6211570"/>
            <a:ext cx="1008380" cy="299720"/>
            <a:chOff x="13336" y="9782"/>
            <a:chExt cx="1588" cy="472"/>
          </a:xfrm>
        </p:grpSpPr>
        <p:sp>
          <p:nvSpPr>
            <p:cNvPr id="251" name="圆角矩形 250"/>
            <p:cNvSpPr/>
            <p:nvPr/>
          </p:nvSpPr>
          <p:spPr>
            <a:xfrm>
              <a:off x="13337" y="9782"/>
              <a:ext cx="1587" cy="472"/>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89" name="textbox 2040"/>
            <p:cNvSpPr/>
            <p:nvPr/>
          </p:nvSpPr>
          <p:spPr>
            <a:xfrm>
              <a:off x="13310" y="9860"/>
              <a:ext cx="1640" cy="300"/>
            </a:xfrm>
            <a:prstGeom prst="rect">
              <a:avLst/>
            </a:prstGeom>
          </p:spPr>
          <p:txBody>
            <a:bodyPr vert="horz" wrap="square" lIns="0" tIns="0" rIns="0" bIns="0" anchor="ctr">
              <a:noAutofit/>
            </a:bodyPr>
            <a:lstStyle/>
            <a:p>
              <a:pPr algn="ctr" rtl="0" eaLnBrk="0">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部署智能管理工具</a:t>
              </a:r>
              <a:endParaRPr lang="zh-CN" altLang="en-US" sz="1000" dirty="0">
                <a:solidFill>
                  <a:srgbClr val="0042FF"/>
                </a:solidFill>
                <a:latin typeface="微软雅黑"/>
                <a:ea typeface="微软雅黑"/>
                <a:cs typeface="微软雅黑"/>
              </a:endParaRPr>
            </a:p>
          </p:txBody>
        </p:sp>
      </p:grpSp>
      <p:grpSp>
        <p:nvGrpSpPr>
          <p:cNvPr id="49" name="组合 48"/>
          <p:cNvGrpSpPr/>
          <p:nvPr/>
        </p:nvGrpSpPr>
        <p:grpSpPr>
          <a:xfrm>
            <a:off x="9585960" y="6211570"/>
            <a:ext cx="855980" cy="299720"/>
            <a:chOff x="15226" y="9783"/>
            <a:chExt cx="1348" cy="472"/>
          </a:xfrm>
        </p:grpSpPr>
        <p:sp>
          <p:nvSpPr>
            <p:cNvPr id="87" name="圆角矩形 86"/>
            <p:cNvSpPr/>
            <p:nvPr/>
          </p:nvSpPr>
          <p:spPr>
            <a:xfrm>
              <a:off x="15227" y="9783"/>
              <a:ext cx="1347" cy="472"/>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90" name="textbox 2040"/>
            <p:cNvSpPr/>
            <p:nvPr/>
          </p:nvSpPr>
          <p:spPr>
            <a:xfrm>
              <a:off x="15226" y="9910"/>
              <a:ext cx="1348" cy="270"/>
            </a:xfrm>
            <a:prstGeom prst="rect">
              <a:avLst/>
            </a:prstGeom>
          </p:spPr>
          <p:txBody>
            <a:bodyPr vert="horz" wrap="square" lIns="0" tIns="0" rIns="0" bIns="0" anchor="t">
              <a:noAutofit/>
            </a:bodyPr>
            <a:lstStyle/>
            <a:p>
              <a:pPr algn="ctr" rtl="0" eaLnBrk="0">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打通数据链</a:t>
              </a:r>
              <a:endParaRPr lang="zh-CN" altLang="en-US" sz="1000" dirty="0">
                <a:solidFill>
                  <a:srgbClr val="0042FF"/>
                </a:solidFill>
                <a:latin typeface="微软雅黑"/>
                <a:ea typeface="微软雅黑"/>
                <a:cs typeface="微软雅黑"/>
              </a:endParaRPr>
            </a:p>
          </p:txBody>
        </p:sp>
      </p:grpSp>
      <p:grpSp>
        <p:nvGrpSpPr>
          <p:cNvPr id="91" name="组合 90"/>
          <p:cNvGrpSpPr/>
          <p:nvPr/>
        </p:nvGrpSpPr>
        <p:grpSpPr>
          <a:xfrm>
            <a:off x="10438130" y="5478780"/>
            <a:ext cx="284480" cy="218440"/>
            <a:chOff x="3471" y="7328"/>
            <a:chExt cx="924" cy="460"/>
          </a:xfrm>
        </p:grpSpPr>
        <p:sp>
          <p:nvSpPr>
            <p:cNvPr id="92" name="箭头: 下 47"/>
            <p:cNvSpPr/>
            <p:nvPr>
              <p:custDataLst>
                <p:tags r:id="rId9"/>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93" name="箭头: 下 47"/>
            <p:cNvSpPr/>
            <p:nvPr>
              <p:custDataLst>
                <p:tags r:id="rId10"/>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51" name="组合 50"/>
          <p:cNvGrpSpPr/>
          <p:nvPr/>
        </p:nvGrpSpPr>
        <p:grpSpPr>
          <a:xfrm>
            <a:off x="10539730" y="6211570"/>
            <a:ext cx="1008380" cy="299720"/>
            <a:chOff x="16634" y="9782"/>
            <a:chExt cx="1588" cy="472"/>
          </a:xfrm>
        </p:grpSpPr>
        <p:sp>
          <p:nvSpPr>
            <p:cNvPr id="88" name="圆角矩形 87"/>
            <p:cNvSpPr/>
            <p:nvPr/>
          </p:nvSpPr>
          <p:spPr>
            <a:xfrm>
              <a:off x="16635" y="9782"/>
              <a:ext cx="1587" cy="472"/>
            </a:xfrm>
            <a:prstGeom prst="roundRect">
              <a:avLst>
                <a:gd name="adj" fmla="val 11790"/>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94" name="textbox 2040"/>
            <p:cNvSpPr/>
            <p:nvPr/>
          </p:nvSpPr>
          <p:spPr>
            <a:xfrm>
              <a:off x="16608" y="9860"/>
              <a:ext cx="1640" cy="300"/>
            </a:xfrm>
            <a:prstGeom prst="rect">
              <a:avLst/>
            </a:prstGeom>
          </p:spPr>
          <p:txBody>
            <a:bodyPr vert="horz" wrap="square" lIns="0" tIns="0" rIns="0" bIns="0" anchor="ctr">
              <a:noAutofit/>
            </a:bodyPr>
            <a:lstStyle/>
            <a:p>
              <a:pPr algn="ctr" rtl="0" eaLnBrk="0">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提升生产运营效率</a:t>
              </a:r>
              <a:endParaRPr lang="zh-CN" altLang="en-US" sz="1000" dirty="0">
                <a:solidFill>
                  <a:srgbClr val="0042FF"/>
                </a:solidFill>
                <a:latin typeface="微软雅黑"/>
                <a:ea typeface="微软雅黑"/>
                <a:cs typeface="微软雅黑"/>
              </a:endParaRPr>
            </a:p>
          </p:txBody>
        </p:sp>
      </p:grpSp>
      <p:grpSp>
        <p:nvGrpSpPr>
          <p:cNvPr id="97" name="组合 96"/>
          <p:cNvGrpSpPr/>
          <p:nvPr/>
        </p:nvGrpSpPr>
        <p:grpSpPr>
          <a:xfrm>
            <a:off x="5937250" y="5478780"/>
            <a:ext cx="284480" cy="218440"/>
            <a:chOff x="3471" y="7328"/>
            <a:chExt cx="924" cy="460"/>
          </a:xfrm>
        </p:grpSpPr>
        <p:sp>
          <p:nvSpPr>
            <p:cNvPr id="98" name="箭头: 下 47"/>
            <p:cNvSpPr/>
            <p:nvPr>
              <p:custDataLst>
                <p:tags r:id="rId11"/>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99" name="箭头: 下 47"/>
            <p:cNvSpPr/>
            <p:nvPr>
              <p:custDataLst>
                <p:tags r:id="rId12"/>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100" name="矩形 99"/>
          <p:cNvSpPr/>
          <p:nvPr/>
        </p:nvSpPr>
        <p:spPr>
          <a:xfrm>
            <a:off x="5095875" y="5755640"/>
            <a:ext cx="3239135" cy="949960"/>
          </a:xfrm>
          <a:prstGeom prst="rect">
            <a:avLst/>
          </a:prstGeom>
          <a:solidFill>
            <a:srgbClr val="3368FF">
              <a:alpha val="2000"/>
            </a:srgbClr>
          </a:solidFill>
          <a:ln w="12700" cmpd="sng">
            <a:solidFill>
              <a:srgbClr val="3368FF"/>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101" name="矩形 100"/>
          <p:cNvSpPr/>
          <p:nvPr/>
        </p:nvSpPr>
        <p:spPr>
          <a:xfrm>
            <a:off x="5095875" y="5755640"/>
            <a:ext cx="3239135" cy="308610"/>
          </a:xfrm>
          <a:prstGeom prst="rect">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组织与人才双轮驱动</a:t>
            </a:r>
            <a:endParaRPr lang="zh-CN" altLang="en-US" sz="1400" b="1" dirty="0">
              <a:solidFill>
                <a:srgbClr val="383838"/>
              </a:solidFill>
              <a:latin typeface="微软雅黑"/>
              <a:ea typeface="微软雅黑"/>
              <a:cs typeface="微软雅黑"/>
              <a:sym typeface="微软雅黑"/>
            </a:endParaRPr>
          </a:p>
        </p:txBody>
      </p:sp>
      <p:grpSp>
        <p:nvGrpSpPr>
          <p:cNvPr id="108" name="组合 107"/>
          <p:cNvGrpSpPr/>
          <p:nvPr/>
        </p:nvGrpSpPr>
        <p:grpSpPr>
          <a:xfrm>
            <a:off x="7145020" y="5478780"/>
            <a:ext cx="284480" cy="218440"/>
            <a:chOff x="3471" y="7328"/>
            <a:chExt cx="924" cy="460"/>
          </a:xfrm>
        </p:grpSpPr>
        <p:sp>
          <p:nvSpPr>
            <p:cNvPr id="109" name="箭头: 下 47"/>
            <p:cNvSpPr/>
            <p:nvPr>
              <p:custDataLst>
                <p:tags r:id="rId13"/>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0" name="箭头: 下 47"/>
            <p:cNvSpPr/>
            <p:nvPr>
              <p:custDataLst>
                <p:tags r:id="rId14"/>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113" name="组合 112"/>
          <p:cNvGrpSpPr/>
          <p:nvPr/>
        </p:nvGrpSpPr>
        <p:grpSpPr>
          <a:xfrm>
            <a:off x="1821815" y="5478780"/>
            <a:ext cx="3239135" cy="1193165"/>
            <a:chOff x="13331" y="8628"/>
            <a:chExt cx="5101" cy="1879"/>
          </a:xfrm>
        </p:grpSpPr>
        <p:grpSp>
          <p:nvGrpSpPr>
            <p:cNvPr id="114" name="组合 113"/>
            <p:cNvGrpSpPr/>
            <p:nvPr/>
          </p:nvGrpSpPr>
          <p:grpSpPr>
            <a:xfrm>
              <a:off x="14656" y="8628"/>
              <a:ext cx="448" cy="344"/>
              <a:chOff x="3471" y="7328"/>
              <a:chExt cx="924" cy="460"/>
            </a:xfrm>
          </p:grpSpPr>
          <p:sp>
            <p:nvSpPr>
              <p:cNvPr id="115" name="箭头: 下 47"/>
              <p:cNvSpPr/>
              <p:nvPr>
                <p:custDataLst>
                  <p:tags r:id="rId15"/>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9" name="箭头: 下 47"/>
              <p:cNvSpPr/>
              <p:nvPr>
                <p:custDataLst>
                  <p:tags r:id="rId16"/>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120" name="矩形 119"/>
            <p:cNvSpPr/>
            <p:nvPr/>
          </p:nvSpPr>
          <p:spPr>
            <a:xfrm>
              <a:off x="13331" y="9064"/>
              <a:ext cx="5101" cy="1496"/>
            </a:xfrm>
            <a:prstGeom prst="rect">
              <a:avLst/>
            </a:prstGeom>
            <a:solidFill>
              <a:srgbClr val="3368FF">
                <a:alpha val="2000"/>
              </a:srgbClr>
            </a:solidFill>
            <a:ln w="12700" cmpd="sng">
              <a:solidFill>
                <a:srgbClr val="3368FF"/>
              </a:solidFill>
              <a:prstDash val="solid"/>
            </a:ln>
          </p:spPr>
          <p:txBody>
            <a:bodyPr rot="0" spcFirstLastPara="0" vert="horz" wrap="square" lIns="0" tIns="0" rIns="0" bIns="0" numCol="1" spcCol="0" rtlCol="0" fromWordArt="0" anchor="ctr" anchorCtr="0" forceAA="0" compatLnSpc="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121" name="矩形 120"/>
            <p:cNvSpPr/>
            <p:nvPr/>
          </p:nvSpPr>
          <p:spPr>
            <a:xfrm>
              <a:off x="13331" y="9064"/>
              <a:ext cx="5101" cy="486"/>
            </a:xfrm>
            <a:prstGeom prst="rect">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战略聚焦与创新激活</a:t>
              </a:r>
              <a:endParaRPr lang="zh-CN" altLang="en-US" sz="1400" b="1" dirty="0">
                <a:solidFill>
                  <a:srgbClr val="383838"/>
                </a:solidFill>
                <a:latin typeface="微软雅黑"/>
                <a:ea typeface="微软雅黑"/>
                <a:cs typeface="微软雅黑"/>
                <a:sym typeface="微软雅黑"/>
              </a:endParaRPr>
            </a:p>
          </p:txBody>
        </p:sp>
        <p:grpSp>
          <p:nvGrpSpPr>
            <p:cNvPr id="128" name="组合 127"/>
            <p:cNvGrpSpPr/>
            <p:nvPr/>
          </p:nvGrpSpPr>
          <p:grpSpPr>
            <a:xfrm>
              <a:off x="16558" y="8628"/>
              <a:ext cx="448" cy="344"/>
              <a:chOff x="3471" y="7328"/>
              <a:chExt cx="924" cy="460"/>
            </a:xfrm>
          </p:grpSpPr>
          <p:sp>
            <p:nvSpPr>
              <p:cNvPr id="129" name="箭头: 下 47"/>
              <p:cNvSpPr/>
              <p:nvPr>
                <p:custDataLst>
                  <p:tags r:id="rId17"/>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30" name="箭头: 下 47"/>
              <p:cNvSpPr/>
              <p:nvPr>
                <p:custDataLst>
                  <p:tags r:id="rId18"/>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sp>
        <p:nvSpPr>
          <p:cNvPr id="142" name="圆角矩形 141"/>
          <p:cNvSpPr/>
          <p:nvPr/>
        </p:nvSpPr>
        <p:spPr>
          <a:xfrm>
            <a:off x="1889125" y="6076950"/>
            <a:ext cx="1537335" cy="609600"/>
          </a:xfrm>
          <a:prstGeom prst="roundRect">
            <a:avLst>
              <a:gd name="adj" fmla="val 11790"/>
            </a:avLst>
          </a:prstGeom>
          <a:solidFill>
            <a:srgbClr val="FFFFFF"/>
          </a:solidFill>
          <a:ln w="12700" cmpd="sng">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143" name="圆角矩形 142"/>
          <p:cNvSpPr/>
          <p:nvPr/>
        </p:nvSpPr>
        <p:spPr>
          <a:xfrm>
            <a:off x="3491865" y="6076950"/>
            <a:ext cx="1515745" cy="609600"/>
          </a:xfrm>
          <a:prstGeom prst="roundRect">
            <a:avLst>
              <a:gd name="adj" fmla="val 11790"/>
            </a:avLst>
          </a:prstGeom>
          <a:solidFill>
            <a:srgbClr val="FFFFFF"/>
          </a:solidFill>
          <a:ln w="12700" cmpd="sng">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144" name="textbox 2040"/>
          <p:cNvSpPr/>
          <p:nvPr/>
        </p:nvSpPr>
        <p:spPr>
          <a:xfrm>
            <a:off x="1906905" y="6083300"/>
            <a:ext cx="1501775" cy="603250"/>
          </a:xfrm>
          <a:prstGeom prst="rect">
            <a:avLst/>
          </a:prstGeom>
        </p:spPr>
        <p:txBody>
          <a:bodyPr vert="horz" wrap="square" lIns="0" tIns="0" rIns="0" bIns="0" anchor="ctr">
            <a:noAutofit/>
          </a:bodyPr>
          <a:lstStyle/>
          <a:p>
            <a:pPr algn="ctr" rtl="0" eaLnBrk="0">
              <a:defRPr>
                <a:latin typeface="微软雅黑"/>
                <a:ea typeface="微软雅黑"/>
                <a:cs typeface="微软雅黑"/>
              </a:defRPr>
              <a:lnSpc>
                <a:spcPts val="1120"/>
              </a:lnSpc>
              <a:spcBef>
                <a:spcPts val="0"/>
              </a:spcBef>
              <a:spcAft>
                <a:spcPts val="0"/>
              </a:spcAft>
            </a:pPr>
            <a:r>
              <a:rPr lang="zh-CN" altLang="en-US" sz="1000" b="1" dirty="0">
                <a:solidFill>
                  <a:srgbClr val="0042FF"/>
                </a:solidFill>
                <a:latin typeface="微软雅黑"/>
                <a:ea typeface="微软雅黑"/>
                <a:cs typeface="微软雅黑"/>
              </a:rPr>
              <a:t>聚焦资源培育</a:t>
            </a:r>
            <a:r>
              <a:rPr lang="zh-CN" altLang="en-US" sz="1000" dirty="0">
                <a:solidFill>
                  <a:srgbClr val="383838"/>
                </a:solidFill>
                <a:latin typeface="微软雅黑"/>
                <a:ea typeface="微软雅黑"/>
                <a:cs typeface="微软雅黑"/>
              </a:rPr>
              <a:t>高潜力新兴业务</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管理层牵头制定</a:t>
            </a:r>
            <a:r>
              <a:rPr lang="en-US" altLang="zh-CN" sz="1000" dirty="0">
                <a:solidFill>
                  <a:srgbClr val="383838"/>
                </a:solidFill>
                <a:latin typeface="微软雅黑"/>
                <a:ea typeface="微软雅黑"/>
                <a:cs typeface="微软雅黑"/>
              </a:rPr>
              <a:t>3-5</a:t>
            </a:r>
            <a:r>
              <a:rPr lang="zh-CN" altLang="en-US" sz="1000" dirty="0">
                <a:solidFill>
                  <a:srgbClr val="383838"/>
                </a:solidFill>
                <a:latin typeface="微软雅黑"/>
                <a:ea typeface="微软雅黑"/>
                <a:cs typeface="微软雅黑"/>
              </a:rPr>
              <a:t>年转型路线图，明确优先级。</a:t>
            </a:r>
            <a:endParaRPr lang="zh-CN" altLang="en-US" sz="1000" dirty="0">
              <a:solidFill>
                <a:srgbClr val="383838"/>
              </a:solidFill>
              <a:latin typeface="微软雅黑"/>
              <a:ea typeface="微软雅黑"/>
              <a:cs typeface="微软雅黑"/>
            </a:endParaRPr>
          </a:p>
        </p:txBody>
      </p:sp>
      <p:sp>
        <p:nvSpPr>
          <p:cNvPr id="145" name="textbox 2040"/>
          <p:cNvSpPr/>
          <p:nvPr/>
        </p:nvSpPr>
        <p:spPr>
          <a:xfrm>
            <a:off x="3509645" y="6083300"/>
            <a:ext cx="1480185" cy="603250"/>
          </a:xfrm>
          <a:prstGeom prst="rect">
            <a:avLst/>
          </a:prstGeom>
        </p:spPr>
        <p:txBody>
          <a:bodyPr vert="horz" wrap="square" lIns="0" tIns="0" rIns="0" bIns="0" anchor="ctr">
            <a:noAutofit/>
          </a:bodyPr>
          <a:lstStyle/>
          <a:p>
            <a:pPr algn="ctr" rtl="0" eaLnBrk="0">
              <a:defRPr>
                <a:latin typeface="微软雅黑"/>
                <a:ea typeface="微软雅黑"/>
                <a:cs typeface="微软雅黑"/>
              </a:defRPr>
              <a:lnSpc>
                <a:spcPts val="1120"/>
              </a:lnSpc>
              <a:spcBef>
                <a:spcPts val="0"/>
              </a:spcBef>
              <a:spcAft>
                <a:spcPts val="0"/>
              </a:spcAft>
            </a:pPr>
            <a:r>
              <a:rPr lang="zh-CN" sz="1000" b="1" dirty="0">
                <a:solidFill>
                  <a:srgbClr val="0042FF"/>
                </a:solidFill>
                <a:latin typeface="微软雅黑"/>
                <a:ea typeface="微软雅黑"/>
                <a:cs typeface="微软雅黑"/>
              </a:rPr>
              <a:t>试点创新孵化：</a:t>
            </a:r>
            <a:r>
              <a:rPr lang="zh-CN" altLang="en-US" sz="1000" dirty="0">
                <a:solidFill>
                  <a:srgbClr val="383838"/>
                </a:solidFill>
                <a:latin typeface="微软雅黑"/>
                <a:ea typeface="微软雅黑"/>
                <a:cs typeface="微软雅黑"/>
              </a:rPr>
              <a:t>设立独立创新单元，简化审批流程，允许小步快跑、快速迭代。</a:t>
            </a:r>
            <a:endParaRPr lang="zh-CN" altLang="en-US" sz="1000" dirty="0">
              <a:solidFill>
                <a:srgbClr val="383838"/>
              </a:solidFill>
              <a:latin typeface="微软雅黑"/>
              <a:ea typeface="微软雅黑"/>
              <a:cs typeface="微软雅黑"/>
            </a:endParaRPr>
          </a:p>
        </p:txBody>
      </p:sp>
      <p:sp>
        <p:nvSpPr>
          <p:cNvPr id="146" name="圆角矩形 145"/>
          <p:cNvSpPr/>
          <p:nvPr/>
        </p:nvSpPr>
        <p:spPr>
          <a:xfrm>
            <a:off x="5165090" y="6076950"/>
            <a:ext cx="1515745" cy="609600"/>
          </a:xfrm>
          <a:prstGeom prst="roundRect">
            <a:avLst>
              <a:gd name="adj" fmla="val 11790"/>
            </a:avLst>
          </a:prstGeom>
          <a:solidFill>
            <a:srgbClr val="FFFFFF"/>
          </a:solidFill>
          <a:ln w="12700" cmpd="sng">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147" name="圆角矩形 146"/>
          <p:cNvSpPr/>
          <p:nvPr/>
        </p:nvSpPr>
        <p:spPr>
          <a:xfrm>
            <a:off x="6774180" y="6076950"/>
            <a:ext cx="1515745" cy="609600"/>
          </a:xfrm>
          <a:prstGeom prst="roundRect">
            <a:avLst>
              <a:gd name="adj" fmla="val 11790"/>
            </a:avLst>
          </a:prstGeom>
          <a:solidFill>
            <a:srgbClr val="FFFFFF"/>
          </a:solidFill>
          <a:ln w="12700" cmpd="sng">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sz="1000" dirty="0">
              <a:solidFill>
                <a:srgbClr val="0042FF"/>
              </a:solidFill>
              <a:effectLst/>
              <a:latin typeface="微软雅黑"/>
              <a:ea typeface="微软雅黑"/>
              <a:cs typeface="微软雅黑"/>
              <a:sym typeface="微软雅黑"/>
            </a:endParaRPr>
          </a:p>
        </p:txBody>
      </p:sp>
      <p:sp>
        <p:nvSpPr>
          <p:cNvPr id="148" name="textbox 2040"/>
          <p:cNvSpPr/>
          <p:nvPr/>
        </p:nvSpPr>
        <p:spPr>
          <a:xfrm>
            <a:off x="5182870" y="6083300"/>
            <a:ext cx="1480185" cy="603250"/>
          </a:xfrm>
          <a:prstGeom prst="rect">
            <a:avLst/>
          </a:prstGeom>
        </p:spPr>
        <p:txBody>
          <a:bodyPr vert="horz" wrap="square" lIns="0" tIns="0" rIns="0" bIns="0" anchor="ctr">
            <a:noAutofit/>
          </a:bodyPr>
          <a:lstStyle/>
          <a:p>
            <a:pPr algn="ctr" rtl="0" eaLnBrk="0">
              <a:defRPr>
                <a:latin typeface="微软雅黑"/>
                <a:ea typeface="微软雅黑"/>
                <a:cs typeface="微软雅黑"/>
              </a:defRPr>
              <a:lnSpc>
                <a:spcPts val="1120"/>
              </a:lnSpc>
              <a:spcBef>
                <a:spcPts val="0"/>
              </a:spcBef>
              <a:spcAft>
                <a:spcPts val="0"/>
              </a:spcAft>
            </a:pPr>
            <a:r>
              <a:rPr lang="zh-CN" altLang="en-US" sz="1000" b="1" dirty="0">
                <a:solidFill>
                  <a:srgbClr val="0042FF"/>
                </a:solidFill>
                <a:latin typeface="微软雅黑"/>
                <a:ea typeface="微软雅黑"/>
                <a:cs typeface="微软雅黑"/>
              </a:rPr>
              <a:t>扁平化组织：</a:t>
            </a:r>
            <a:r>
              <a:rPr lang="zh-CN" altLang="en-US" sz="1000" dirty="0">
                <a:solidFill>
                  <a:srgbClr val="383838"/>
                </a:solidFill>
                <a:latin typeface="微软雅黑"/>
                <a:ea typeface="微软雅黑"/>
                <a:cs typeface="微软雅黑"/>
              </a:rPr>
              <a:t>压缩管理层级，建立跨部门协作小组，授权一线团队快速决策。</a:t>
            </a:r>
            <a:endParaRPr lang="zh-CN" altLang="en-US" sz="1000" dirty="0">
              <a:solidFill>
                <a:srgbClr val="383838"/>
              </a:solidFill>
              <a:latin typeface="微软雅黑"/>
              <a:ea typeface="微软雅黑"/>
              <a:cs typeface="微软雅黑"/>
            </a:endParaRPr>
          </a:p>
        </p:txBody>
      </p:sp>
      <p:sp>
        <p:nvSpPr>
          <p:cNvPr id="149" name="textbox 2040"/>
          <p:cNvSpPr/>
          <p:nvPr/>
        </p:nvSpPr>
        <p:spPr>
          <a:xfrm>
            <a:off x="6791960" y="6083300"/>
            <a:ext cx="1480185" cy="603250"/>
          </a:xfrm>
          <a:prstGeom prst="rect">
            <a:avLst/>
          </a:prstGeom>
        </p:spPr>
        <p:txBody>
          <a:bodyPr vert="horz" wrap="square" lIns="0" tIns="0" rIns="0" bIns="0" anchor="ctr">
            <a:noAutofit/>
          </a:bodyPr>
          <a:lstStyle/>
          <a:p>
            <a:pPr algn="ctr" rtl="0" eaLnBrk="0">
              <a:defRPr>
                <a:latin typeface="微软雅黑"/>
                <a:ea typeface="微软雅黑"/>
                <a:cs typeface="微软雅黑"/>
              </a:defRPr>
              <a:lnSpc>
                <a:spcPts val="1120"/>
              </a:lnSpc>
              <a:spcBef>
                <a:spcPts val="0"/>
              </a:spcBef>
              <a:spcAft>
                <a:spcPts val="0"/>
              </a:spcAft>
            </a:pPr>
            <a:r>
              <a:rPr lang="zh-CN" altLang="en-US" sz="1000" b="1" dirty="0">
                <a:solidFill>
                  <a:srgbClr val="0042FF"/>
                </a:solidFill>
                <a:latin typeface="微软雅黑"/>
                <a:ea typeface="微软雅黑"/>
                <a:cs typeface="微软雅黑"/>
              </a:rPr>
              <a:t>人才战略升级：</a:t>
            </a:r>
            <a:r>
              <a:rPr lang="zh-CN" altLang="en-US" sz="1000" dirty="0">
                <a:solidFill>
                  <a:srgbClr val="383838"/>
                </a:solidFill>
                <a:latin typeface="微软雅黑"/>
                <a:ea typeface="微软雅黑"/>
                <a:cs typeface="微软雅黑"/>
              </a:rPr>
              <a:t>定制培训计划，外部招募跨界复合型人才，设计长期留人机制。</a:t>
            </a:r>
            <a:endParaRPr lang="zh-CN" altLang="en-US" sz="1000" dirty="0">
              <a:solidFill>
                <a:srgbClr val="383838"/>
              </a:solidFill>
              <a:latin typeface="微软雅黑"/>
              <a:ea typeface="微软雅黑"/>
              <a:cs typeface="微软雅黑"/>
            </a:endParaRPr>
          </a:p>
        </p:txBody>
      </p:sp>
      <p:sp>
        <p:nvSpPr>
          <p:cNvPr id="150" name="右箭头 149"/>
          <p:cNvSpPr/>
          <p:nvPr/>
        </p:nvSpPr>
        <p:spPr>
          <a:xfrm>
            <a:off x="8608695" y="4135120"/>
            <a:ext cx="2827020" cy="194310"/>
          </a:xfrm>
          <a:prstGeom prst="rightArrow">
            <a:avLst/>
          </a:prstGeom>
          <a:gradFill>
            <a:gsLst>
              <a:gs pos="100000">
                <a:srgbClr val="3368FF"/>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grpSp>
        <p:nvGrpSpPr>
          <p:cNvPr id="44" name="组合 43"/>
          <p:cNvGrpSpPr/>
          <p:nvPr/>
        </p:nvGrpSpPr>
        <p:grpSpPr>
          <a:xfrm>
            <a:off x="8601710" y="4048125"/>
            <a:ext cx="485140" cy="368300"/>
            <a:chOff x="13546" y="6375"/>
            <a:chExt cx="764" cy="580"/>
          </a:xfrm>
        </p:grpSpPr>
        <p:sp>
          <p:nvSpPr>
            <p:cNvPr id="151" name="矩形 150"/>
            <p:cNvSpPr/>
            <p:nvPr/>
          </p:nvSpPr>
          <p:spPr>
            <a:xfrm>
              <a:off x="13567" y="6375"/>
              <a:ext cx="723" cy="580"/>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0042FF"/>
                </a:solidFill>
                <a:cs typeface="微软雅黑"/>
                <a:latin typeface="微软雅黑"/>
                <a:ea typeface="微软雅黑"/>
              </a:endParaRPr>
            </a:p>
          </p:txBody>
        </p:sp>
        <p:sp>
          <p:nvSpPr>
            <p:cNvPr id="155" name="textbox 2040"/>
            <p:cNvSpPr/>
            <p:nvPr/>
          </p:nvSpPr>
          <p:spPr>
            <a:xfrm>
              <a:off x="13546" y="6520"/>
              <a:ext cx="764" cy="29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dirty="0">
                  <a:solidFill>
                    <a:srgbClr val="0042FF"/>
                  </a:solidFill>
                  <a:latin typeface="微软雅黑"/>
                  <a:ea typeface="微软雅黑"/>
                  <a:cs typeface="微软雅黑"/>
                </a:rPr>
                <a:t>研发</a:t>
              </a:r>
              <a:endParaRPr lang="zh-CN" altLang="en-US" sz="1200" dirty="0">
                <a:solidFill>
                  <a:srgbClr val="0042FF"/>
                </a:solidFill>
                <a:latin typeface="微软雅黑"/>
                <a:ea typeface="微软雅黑"/>
                <a:cs typeface="微软雅黑"/>
              </a:endParaRPr>
            </a:p>
          </p:txBody>
        </p:sp>
      </p:grpSp>
      <p:grpSp>
        <p:nvGrpSpPr>
          <p:cNvPr id="45" name="组合 44"/>
          <p:cNvGrpSpPr/>
          <p:nvPr/>
        </p:nvGrpSpPr>
        <p:grpSpPr>
          <a:xfrm>
            <a:off x="9272905" y="4048125"/>
            <a:ext cx="485140" cy="368300"/>
            <a:chOff x="14600" y="6375"/>
            <a:chExt cx="764" cy="580"/>
          </a:xfrm>
        </p:grpSpPr>
        <p:sp>
          <p:nvSpPr>
            <p:cNvPr id="152" name="矩形 151"/>
            <p:cNvSpPr/>
            <p:nvPr/>
          </p:nvSpPr>
          <p:spPr>
            <a:xfrm>
              <a:off x="14608" y="6375"/>
              <a:ext cx="723" cy="580"/>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0042FF"/>
                </a:solidFill>
                <a:cs typeface="微软雅黑"/>
                <a:latin typeface="微软雅黑"/>
                <a:ea typeface="微软雅黑"/>
              </a:endParaRPr>
            </a:p>
          </p:txBody>
        </p:sp>
        <p:sp>
          <p:nvSpPr>
            <p:cNvPr id="156" name="textbox 2040"/>
            <p:cNvSpPr/>
            <p:nvPr/>
          </p:nvSpPr>
          <p:spPr>
            <a:xfrm>
              <a:off x="14600" y="6510"/>
              <a:ext cx="764" cy="29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dirty="0">
                  <a:solidFill>
                    <a:srgbClr val="0042FF"/>
                  </a:solidFill>
                  <a:latin typeface="微软雅黑"/>
                  <a:ea typeface="微软雅黑"/>
                  <a:cs typeface="微软雅黑"/>
                </a:rPr>
                <a:t>生产</a:t>
              </a:r>
              <a:endParaRPr lang="zh-CN" altLang="en-US" sz="1200" dirty="0">
                <a:solidFill>
                  <a:srgbClr val="0042FF"/>
                </a:solidFill>
                <a:latin typeface="微软雅黑"/>
                <a:ea typeface="微软雅黑"/>
                <a:cs typeface="微软雅黑"/>
              </a:endParaRPr>
            </a:p>
          </p:txBody>
        </p:sp>
      </p:grpSp>
      <p:sp>
        <p:nvSpPr>
          <p:cNvPr id="153" name="矩形 152"/>
          <p:cNvSpPr/>
          <p:nvPr/>
        </p:nvSpPr>
        <p:spPr>
          <a:xfrm>
            <a:off x="9944100" y="4048125"/>
            <a:ext cx="459105" cy="368300"/>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0042FF"/>
              </a:solidFill>
              <a:cs typeface="微软雅黑"/>
              <a:latin typeface="微软雅黑"/>
              <a:ea typeface="微软雅黑"/>
            </a:endParaRPr>
          </a:p>
        </p:txBody>
      </p:sp>
      <p:sp>
        <p:nvSpPr>
          <p:cNvPr id="157" name="textbox 2040"/>
          <p:cNvSpPr/>
          <p:nvPr/>
        </p:nvSpPr>
        <p:spPr>
          <a:xfrm>
            <a:off x="9927590" y="4068445"/>
            <a:ext cx="476250" cy="196215"/>
          </a:xfrm>
          <a:prstGeom prst="rect">
            <a:avLst/>
          </a:prstGeom>
        </p:spPr>
        <p:txBody>
          <a:bodyPr vert="horz" wrap="square" lIns="0" tIns="0" rIns="0" bIns="0">
            <a:noAutofit/>
          </a:bodyPr>
          <a:lstStyle/>
          <a:p>
            <a:pPr algn="ctr" rtl="0" eaLnBrk="0">
              <a:defRPr>
                <a:latin typeface="微软雅黑"/>
                <a:ea typeface="微软雅黑"/>
                <a:cs typeface="微软雅黑"/>
              </a:defRPr>
            </a:pPr>
            <a:r>
              <a:rPr lang="zh-CN" altLang="en-US" sz="1100" dirty="0">
                <a:solidFill>
                  <a:srgbClr val="0042FF"/>
                </a:solidFill>
                <a:latin typeface="微软雅黑"/>
                <a:ea typeface="微软雅黑"/>
                <a:cs typeface="微软雅黑"/>
              </a:rPr>
              <a:t>供应</a:t>
            </a:r>
            <a:endParaRPr lang="zh-CN" altLang="en-US" sz="1100" dirty="0">
              <a:solidFill>
                <a:srgbClr val="0042FF"/>
              </a:solidFill>
              <a:latin typeface="微软雅黑"/>
              <a:ea typeface="微软雅黑"/>
              <a:cs typeface="微软雅黑"/>
            </a:endParaRPr>
          </a:p>
          <a:p>
            <a:pPr algn="ctr" rtl="0" eaLnBrk="0">
              <a:defRPr>
                <a:latin typeface="微软雅黑"/>
                <a:ea typeface="微软雅黑"/>
                <a:cs typeface="微软雅黑"/>
              </a:defRPr>
            </a:pPr>
            <a:r>
              <a:rPr lang="zh-CN" altLang="en-US" sz="1100" dirty="0">
                <a:solidFill>
                  <a:srgbClr val="0042FF"/>
                </a:solidFill>
                <a:latin typeface="微软雅黑"/>
                <a:ea typeface="微软雅黑"/>
                <a:cs typeface="微软雅黑"/>
              </a:rPr>
              <a:t>链</a:t>
            </a:r>
            <a:endParaRPr lang="zh-CN" altLang="en-US" sz="1100" dirty="0">
              <a:solidFill>
                <a:srgbClr val="0042FF"/>
              </a:solidFill>
              <a:latin typeface="微软雅黑"/>
              <a:ea typeface="微软雅黑"/>
              <a:cs typeface="微软雅黑"/>
            </a:endParaRPr>
          </a:p>
        </p:txBody>
      </p:sp>
      <p:grpSp>
        <p:nvGrpSpPr>
          <p:cNvPr id="48" name="组合 47"/>
          <p:cNvGrpSpPr/>
          <p:nvPr/>
        </p:nvGrpSpPr>
        <p:grpSpPr>
          <a:xfrm>
            <a:off x="10589260" y="4048125"/>
            <a:ext cx="485140" cy="368300"/>
            <a:chOff x="16676" y="6375"/>
            <a:chExt cx="764" cy="580"/>
          </a:xfrm>
        </p:grpSpPr>
        <p:sp>
          <p:nvSpPr>
            <p:cNvPr id="154" name="矩形 153"/>
            <p:cNvSpPr/>
            <p:nvPr/>
          </p:nvSpPr>
          <p:spPr>
            <a:xfrm>
              <a:off x="16697" y="6375"/>
              <a:ext cx="723" cy="580"/>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0042FF"/>
                </a:solidFill>
                <a:cs typeface="微软雅黑"/>
                <a:latin typeface="微软雅黑"/>
                <a:ea typeface="微软雅黑"/>
              </a:endParaRPr>
            </a:p>
          </p:txBody>
        </p:sp>
        <p:sp>
          <p:nvSpPr>
            <p:cNvPr id="159" name="textbox 2040"/>
            <p:cNvSpPr/>
            <p:nvPr/>
          </p:nvSpPr>
          <p:spPr>
            <a:xfrm>
              <a:off x="16676" y="6510"/>
              <a:ext cx="764" cy="29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dirty="0">
                  <a:solidFill>
                    <a:srgbClr val="0042FF"/>
                  </a:solidFill>
                  <a:latin typeface="微软雅黑"/>
                  <a:ea typeface="微软雅黑"/>
                  <a:cs typeface="微软雅黑"/>
                </a:rPr>
                <a:t>销售</a:t>
              </a:r>
              <a:endParaRPr lang="zh-CN" altLang="en-US" sz="1200" dirty="0">
                <a:solidFill>
                  <a:srgbClr val="0042FF"/>
                </a:solidFill>
                <a:latin typeface="微软雅黑"/>
                <a:ea typeface="微软雅黑"/>
                <a:cs typeface="微软雅黑"/>
              </a:endParaRPr>
            </a:p>
          </p:txBody>
        </p:sp>
      </p:grpSp>
      <p:grpSp>
        <p:nvGrpSpPr>
          <p:cNvPr id="175" name="组合 174"/>
          <p:cNvGrpSpPr/>
          <p:nvPr/>
        </p:nvGrpSpPr>
        <p:grpSpPr>
          <a:xfrm>
            <a:off x="1871980" y="3880485"/>
            <a:ext cx="897890" cy="610235"/>
            <a:chOff x="2948" y="6111"/>
            <a:chExt cx="1414" cy="961"/>
          </a:xfrm>
        </p:grpSpPr>
        <p:sp>
          <p:nvSpPr>
            <p:cNvPr id="161" name="矩形 160"/>
            <p:cNvSpPr/>
            <p:nvPr/>
          </p:nvSpPr>
          <p:spPr>
            <a:xfrm>
              <a:off x="3041" y="6111"/>
              <a:ext cx="1229" cy="431"/>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383838"/>
                </a:solidFill>
                <a:cs typeface="微软雅黑"/>
                <a:latin typeface="微软雅黑"/>
                <a:ea typeface="微软雅黑"/>
              </a:endParaRPr>
            </a:p>
          </p:txBody>
        </p:sp>
        <p:sp>
          <p:nvSpPr>
            <p:cNvPr id="162" name="textbox 2040"/>
            <p:cNvSpPr/>
            <p:nvPr/>
          </p:nvSpPr>
          <p:spPr>
            <a:xfrm>
              <a:off x="2948" y="6197"/>
              <a:ext cx="141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000" dirty="0">
                  <a:solidFill>
                    <a:srgbClr val="0042FF"/>
                  </a:solidFill>
                  <a:latin typeface="微软雅黑"/>
                  <a:ea typeface="微软雅黑"/>
                  <a:cs typeface="微软雅黑"/>
                </a:rPr>
                <a:t>预算</a:t>
              </a:r>
              <a:r>
                <a:rPr lang="en-US" altLang="zh-CN" sz="1000" dirty="0">
                  <a:solidFill>
                    <a:srgbClr val="0042FF"/>
                  </a:solidFill>
                  <a:latin typeface="微软雅黑"/>
                  <a:ea typeface="微软雅黑"/>
                  <a:cs typeface="微软雅黑"/>
                </a:rPr>
                <a:t>VS</a:t>
              </a:r>
              <a:r>
                <a:rPr lang="zh-CN" altLang="en-US" sz="1000" dirty="0">
                  <a:solidFill>
                    <a:srgbClr val="0042FF"/>
                  </a:solidFill>
                  <a:latin typeface="微软雅黑"/>
                  <a:ea typeface="微软雅黑"/>
                  <a:cs typeface="微软雅黑"/>
                </a:rPr>
                <a:t>成本</a:t>
              </a:r>
              <a:endParaRPr lang="zh-CN" altLang="en-US" sz="1000" dirty="0">
                <a:solidFill>
                  <a:srgbClr val="0042FF"/>
                </a:solidFill>
                <a:latin typeface="微软雅黑"/>
                <a:ea typeface="微软雅黑"/>
                <a:cs typeface="微软雅黑"/>
              </a:endParaRPr>
            </a:p>
          </p:txBody>
        </p:sp>
        <p:sp>
          <p:nvSpPr>
            <p:cNvPr id="163" name="textbox 2040"/>
            <p:cNvSpPr/>
            <p:nvPr/>
          </p:nvSpPr>
          <p:spPr>
            <a:xfrm>
              <a:off x="2948" y="6830"/>
              <a:ext cx="141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sz="1000" dirty="0">
                  <a:solidFill>
                    <a:srgbClr val="383838"/>
                  </a:solidFill>
                  <a:latin typeface="微软雅黑"/>
                  <a:ea typeface="微软雅黑"/>
                  <a:cs typeface="微软雅黑"/>
                </a:rPr>
                <a:t>缺乏战略导向</a:t>
              </a:r>
              <a:endParaRPr lang="zh-CN" sz="1000" dirty="0">
                <a:solidFill>
                  <a:srgbClr val="383838"/>
                </a:solidFill>
                <a:latin typeface="微软雅黑"/>
                <a:ea typeface="微软雅黑"/>
                <a:cs typeface="微软雅黑"/>
              </a:endParaRPr>
            </a:p>
          </p:txBody>
        </p:sp>
        <p:cxnSp>
          <p:nvCxnSpPr>
            <p:cNvPr id="165" name="直接箭头连接符 164"/>
            <p:cNvCxnSpPr>
              <a:stCxn id="161" idx="2"/>
              <a:endCxn id="163" idx="0"/>
            </p:cNvCxnSpPr>
            <p:nvPr/>
          </p:nvCxnSpPr>
          <p:spPr>
            <a:xfrm flipH="1">
              <a:off x="3655" y="6542"/>
              <a:ext cx="1" cy="288"/>
            </a:xfrm>
            <a:prstGeom prst="straightConnector1">
              <a:avLst/>
            </a:prstGeom>
            <a:ln>
              <a:solidFill>
                <a:srgbClr val="3368FF"/>
              </a:solidFill>
              <a:tailEnd type="triangle" w="sm" len="med"/>
            </a:ln>
          </p:spPr>
          <p:style>
            <a:lnRef idx="2">
              <a:srgbClr val="0042FF"/>
            </a:lnRef>
            <a:fillRef idx="0">
              <a:srgbClr val="FFFFFF"/>
            </a:fillRef>
            <a:effectRef idx="0">
              <a:srgbClr val="FFFFFF"/>
            </a:effectRef>
            <a:fontRef idx="minor">
              <a:srgbClr val="383838"/>
            </a:fontRef>
          </p:style>
        </p:cxnSp>
      </p:grpSp>
      <p:sp>
        <p:nvSpPr>
          <p:cNvPr id="166" name="矩形 165"/>
          <p:cNvSpPr/>
          <p:nvPr/>
        </p:nvSpPr>
        <p:spPr>
          <a:xfrm>
            <a:off x="2973070" y="3880485"/>
            <a:ext cx="897890" cy="273685"/>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0042FF"/>
              </a:solidFill>
              <a:cs typeface="微软雅黑"/>
              <a:latin typeface="微软雅黑"/>
              <a:ea typeface="微软雅黑"/>
            </a:endParaRPr>
          </a:p>
        </p:txBody>
      </p:sp>
      <p:sp>
        <p:nvSpPr>
          <p:cNvPr id="167" name="textbox 2040"/>
          <p:cNvSpPr/>
          <p:nvPr/>
        </p:nvSpPr>
        <p:spPr>
          <a:xfrm>
            <a:off x="2973070" y="3935095"/>
            <a:ext cx="887730" cy="15367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sz="1000" dirty="0">
                <a:solidFill>
                  <a:srgbClr val="0042FF"/>
                </a:solidFill>
                <a:latin typeface="微软雅黑"/>
                <a:ea typeface="微软雅黑"/>
                <a:cs typeface="微软雅黑"/>
              </a:rPr>
              <a:t>考核机制僵化</a:t>
            </a:r>
            <a:endParaRPr lang="zh-CN" sz="1000" dirty="0">
              <a:solidFill>
                <a:srgbClr val="0042FF"/>
              </a:solidFill>
              <a:latin typeface="微软雅黑"/>
              <a:ea typeface="微软雅黑"/>
              <a:cs typeface="微软雅黑"/>
            </a:endParaRPr>
          </a:p>
        </p:txBody>
      </p:sp>
      <p:sp>
        <p:nvSpPr>
          <p:cNvPr id="168" name="textbox 2040"/>
          <p:cNvSpPr/>
          <p:nvPr/>
        </p:nvSpPr>
        <p:spPr>
          <a:xfrm>
            <a:off x="2973070" y="4337050"/>
            <a:ext cx="897890" cy="15367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sz="1000" dirty="0">
                <a:solidFill>
                  <a:srgbClr val="383838"/>
                </a:solidFill>
                <a:latin typeface="微软雅黑"/>
                <a:ea typeface="微软雅黑"/>
                <a:cs typeface="微软雅黑"/>
              </a:rPr>
              <a:t>团队缺乏活力</a:t>
            </a:r>
            <a:endParaRPr lang="zh-CN" sz="1000" dirty="0">
              <a:solidFill>
                <a:srgbClr val="383838"/>
              </a:solidFill>
              <a:latin typeface="微软雅黑"/>
              <a:ea typeface="微软雅黑"/>
              <a:cs typeface="微软雅黑"/>
            </a:endParaRPr>
          </a:p>
        </p:txBody>
      </p:sp>
      <p:cxnSp>
        <p:nvCxnSpPr>
          <p:cNvPr id="169" name="直接箭头连接符 168"/>
          <p:cNvCxnSpPr>
            <a:stCxn id="166" idx="2"/>
            <a:endCxn id="168" idx="0"/>
          </p:cNvCxnSpPr>
          <p:nvPr/>
        </p:nvCxnSpPr>
        <p:spPr>
          <a:xfrm>
            <a:off x="3422015" y="4154170"/>
            <a:ext cx="0" cy="182880"/>
          </a:xfrm>
          <a:prstGeom prst="straightConnector1">
            <a:avLst/>
          </a:prstGeom>
          <a:ln>
            <a:solidFill>
              <a:srgbClr val="3368FF"/>
            </a:solidFill>
            <a:tailEnd type="triangle" w="sm" len="med"/>
          </a:ln>
        </p:spPr>
        <p:style>
          <a:lnRef idx="2">
            <a:srgbClr val="0042FF"/>
          </a:lnRef>
          <a:fillRef idx="0">
            <a:srgbClr val="FFFFFF"/>
          </a:fillRef>
          <a:effectRef idx="0">
            <a:srgbClr val="FFFFFF"/>
          </a:effectRef>
          <a:fontRef idx="minor">
            <a:srgbClr val="383838"/>
          </a:fontRef>
        </p:style>
      </p:cxnSp>
      <p:grpSp>
        <p:nvGrpSpPr>
          <p:cNvPr id="174" name="组合 173"/>
          <p:cNvGrpSpPr/>
          <p:nvPr/>
        </p:nvGrpSpPr>
        <p:grpSpPr>
          <a:xfrm>
            <a:off x="4123690" y="3880485"/>
            <a:ext cx="908050" cy="610235"/>
            <a:chOff x="6494" y="6111"/>
            <a:chExt cx="1430" cy="961"/>
          </a:xfrm>
        </p:grpSpPr>
        <p:sp>
          <p:nvSpPr>
            <p:cNvPr id="170" name="矩形 169"/>
            <p:cNvSpPr/>
            <p:nvPr/>
          </p:nvSpPr>
          <p:spPr>
            <a:xfrm>
              <a:off x="6587" y="6111"/>
              <a:ext cx="1229" cy="431"/>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383838"/>
                </a:solidFill>
                <a:cs typeface="微软雅黑"/>
                <a:latin typeface="微软雅黑"/>
                <a:ea typeface="微软雅黑"/>
              </a:endParaRPr>
            </a:p>
          </p:txBody>
        </p:sp>
        <p:sp>
          <p:nvSpPr>
            <p:cNvPr id="171" name="textbox 2040"/>
            <p:cNvSpPr/>
            <p:nvPr/>
          </p:nvSpPr>
          <p:spPr>
            <a:xfrm>
              <a:off x="6494" y="6197"/>
              <a:ext cx="141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sz="1000" dirty="0">
                  <a:solidFill>
                    <a:srgbClr val="0042FF"/>
                  </a:solidFill>
                  <a:latin typeface="微软雅黑"/>
                  <a:ea typeface="微软雅黑"/>
                  <a:cs typeface="微软雅黑"/>
                </a:rPr>
                <a:t>员工培育滞后</a:t>
              </a:r>
              <a:endParaRPr lang="zh-CN" sz="1000" dirty="0">
                <a:solidFill>
                  <a:srgbClr val="0042FF"/>
                </a:solidFill>
                <a:latin typeface="微软雅黑"/>
                <a:ea typeface="微软雅黑"/>
                <a:cs typeface="微软雅黑"/>
              </a:endParaRPr>
            </a:p>
          </p:txBody>
        </p:sp>
        <p:sp>
          <p:nvSpPr>
            <p:cNvPr id="172" name="textbox 2040"/>
            <p:cNvSpPr/>
            <p:nvPr/>
          </p:nvSpPr>
          <p:spPr>
            <a:xfrm>
              <a:off x="6510" y="6830"/>
              <a:ext cx="141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sz="1000" dirty="0">
                  <a:solidFill>
                    <a:srgbClr val="383838"/>
                  </a:solidFill>
                  <a:latin typeface="微软雅黑"/>
                  <a:ea typeface="微软雅黑"/>
                  <a:cs typeface="微软雅黑"/>
                </a:rPr>
                <a:t>员工能力不足</a:t>
              </a:r>
              <a:endParaRPr lang="zh-CN" sz="1000" dirty="0">
                <a:solidFill>
                  <a:srgbClr val="383838"/>
                </a:solidFill>
                <a:latin typeface="微软雅黑"/>
                <a:ea typeface="微软雅黑"/>
                <a:cs typeface="微软雅黑"/>
              </a:endParaRPr>
            </a:p>
          </p:txBody>
        </p:sp>
        <p:cxnSp>
          <p:nvCxnSpPr>
            <p:cNvPr id="173" name="直接箭头连接符 172"/>
            <p:cNvCxnSpPr>
              <a:endCxn id="172" idx="0"/>
            </p:cNvCxnSpPr>
            <p:nvPr/>
          </p:nvCxnSpPr>
          <p:spPr>
            <a:xfrm>
              <a:off x="7213" y="6565"/>
              <a:ext cx="8" cy="265"/>
            </a:xfrm>
            <a:prstGeom prst="straightConnector1">
              <a:avLst/>
            </a:prstGeom>
            <a:ln>
              <a:solidFill>
                <a:srgbClr val="3368FF"/>
              </a:solidFill>
              <a:tailEnd type="triangle" w="sm" len="med"/>
            </a:ln>
          </p:spPr>
          <p:style>
            <a:lnRef idx="2">
              <a:srgbClr val="0042FF"/>
            </a:lnRef>
            <a:fillRef idx="0">
              <a:srgbClr val="FFFFFF"/>
            </a:fillRef>
            <a:effectRef idx="0">
              <a:srgbClr val="FFFFFF"/>
            </a:effectRef>
            <a:fontRef idx="minor">
              <a:srgbClr val="383838"/>
            </a:fontRef>
          </p:style>
        </p:cxnSp>
      </p:grpSp>
      <p:sp>
        <p:nvSpPr>
          <p:cNvPr id="189" name="textbox 2040"/>
          <p:cNvSpPr/>
          <p:nvPr/>
        </p:nvSpPr>
        <p:spPr>
          <a:xfrm>
            <a:off x="2639060" y="3907155"/>
            <a:ext cx="420370" cy="23050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sz="1500" dirty="0">
                <a:solidFill>
                  <a:srgbClr val="0042FF"/>
                </a:solidFill>
                <a:latin typeface="微软雅黑"/>
                <a:ea typeface="微软雅黑"/>
                <a:cs typeface="微软雅黑"/>
              </a:rPr>
              <a:t>＋</a:t>
            </a:r>
            <a:endParaRPr lang="zh-CN" sz="1500" dirty="0">
              <a:solidFill>
                <a:srgbClr val="0042FF"/>
              </a:solidFill>
              <a:latin typeface="微软雅黑"/>
              <a:ea typeface="微软雅黑"/>
              <a:cs typeface="微软雅黑"/>
            </a:endParaRPr>
          </a:p>
        </p:txBody>
      </p:sp>
      <p:sp>
        <p:nvSpPr>
          <p:cNvPr id="190" name="textbox 2040"/>
          <p:cNvSpPr/>
          <p:nvPr/>
        </p:nvSpPr>
        <p:spPr>
          <a:xfrm>
            <a:off x="3834130" y="3895090"/>
            <a:ext cx="420370" cy="23050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sz="1500" dirty="0">
                <a:solidFill>
                  <a:srgbClr val="0042FF"/>
                </a:solidFill>
                <a:latin typeface="微软雅黑"/>
                <a:ea typeface="微软雅黑"/>
                <a:cs typeface="微软雅黑"/>
              </a:rPr>
              <a:t>＋</a:t>
            </a:r>
            <a:endParaRPr lang="zh-CN" sz="1500" dirty="0">
              <a:solidFill>
                <a:srgbClr val="0042FF"/>
              </a:solidFill>
              <a:latin typeface="微软雅黑"/>
              <a:ea typeface="微软雅黑"/>
              <a:cs typeface="微软雅黑"/>
            </a:endParaRPr>
          </a:p>
        </p:txBody>
      </p:sp>
      <p:grpSp>
        <p:nvGrpSpPr>
          <p:cNvPr id="30" name="组合 29"/>
          <p:cNvGrpSpPr/>
          <p:nvPr/>
        </p:nvGrpSpPr>
        <p:grpSpPr>
          <a:xfrm>
            <a:off x="954723" y="2192655"/>
            <a:ext cx="407670" cy="407670"/>
            <a:chOff x="1506" y="3453"/>
            <a:chExt cx="642" cy="642"/>
          </a:xfrm>
        </p:grpSpPr>
        <p:sp>
          <p:nvSpPr>
            <p:cNvPr id="21" name="椭圆 20"/>
            <p:cNvSpPr/>
            <p:nvPr/>
          </p:nvSpPr>
          <p:spPr>
            <a:xfrm>
              <a:off x="1506" y="3453"/>
              <a:ext cx="642" cy="642"/>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pic>
          <p:nvPicPr>
            <p:cNvPr id="29" name="图片 28" descr="战略"/>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rot="1560000">
              <a:off x="1567" y="3514"/>
              <a:ext cx="519" cy="519"/>
            </a:xfrm>
            <a:prstGeom prst="rect">
              <a:avLst/>
            </a:prstGeom>
          </p:spPr>
        </p:pic>
      </p:grpSp>
      <p:grpSp>
        <p:nvGrpSpPr>
          <p:cNvPr id="36" name="组合 35"/>
          <p:cNvGrpSpPr/>
          <p:nvPr/>
        </p:nvGrpSpPr>
        <p:grpSpPr>
          <a:xfrm>
            <a:off x="954723" y="3655060"/>
            <a:ext cx="407670" cy="407670"/>
            <a:chOff x="1532" y="5756"/>
            <a:chExt cx="642" cy="642"/>
          </a:xfrm>
        </p:grpSpPr>
        <p:sp>
          <p:nvSpPr>
            <p:cNvPr id="33" name="椭圆 32"/>
            <p:cNvSpPr/>
            <p:nvPr/>
          </p:nvSpPr>
          <p:spPr>
            <a:xfrm>
              <a:off x="1532" y="5756"/>
              <a:ext cx="642" cy="642"/>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pic>
          <p:nvPicPr>
            <p:cNvPr id="35" name="图片 34" descr="3运营 (1)"/>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1676" y="5900"/>
              <a:ext cx="355" cy="355"/>
            </a:xfrm>
            <a:prstGeom prst="rect">
              <a:avLst/>
            </a:prstGeom>
          </p:spPr>
        </p:pic>
      </p:grpSp>
      <p:sp>
        <p:nvSpPr>
          <p:cNvPr id="38" name="椭圆 37"/>
          <p:cNvSpPr/>
          <p:nvPr/>
        </p:nvSpPr>
        <p:spPr>
          <a:xfrm>
            <a:off x="954723" y="5218430"/>
            <a:ext cx="407670" cy="407670"/>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pic>
        <p:nvPicPr>
          <p:cNvPr id="40" name="图片 39" descr="独立体系"/>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1036320" y="5300028"/>
            <a:ext cx="244475" cy="244475"/>
          </a:xfrm>
          <a:prstGeom prst="rect">
            <a:avLst/>
          </a:prstGeom>
        </p:spPr>
      </p:pic>
      <p:grpSp>
        <p:nvGrpSpPr>
          <p:cNvPr id="43" name="组合 42"/>
          <p:cNvGrpSpPr/>
          <p:nvPr/>
        </p:nvGrpSpPr>
        <p:grpSpPr>
          <a:xfrm>
            <a:off x="5377815" y="3895090"/>
            <a:ext cx="2792095" cy="622300"/>
            <a:chOff x="8217" y="6134"/>
            <a:chExt cx="4397" cy="980"/>
          </a:xfrm>
        </p:grpSpPr>
        <p:sp>
          <p:nvSpPr>
            <p:cNvPr id="178" name="矩形 177"/>
            <p:cNvSpPr/>
            <p:nvPr/>
          </p:nvSpPr>
          <p:spPr>
            <a:xfrm>
              <a:off x="8217" y="6134"/>
              <a:ext cx="894" cy="431"/>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0042FF"/>
                </a:solidFill>
                <a:cs typeface="微软雅黑"/>
                <a:latin typeface="微软雅黑"/>
                <a:ea typeface="微软雅黑"/>
              </a:endParaRPr>
            </a:p>
          </p:txBody>
        </p:sp>
        <p:sp>
          <p:nvSpPr>
            <p:cNvPr id="179" name="矩形 178"/>
            <p:cNvSpPr/>
            <p:nvPr/>
          </p:nvSpPr>
          <p:spPr>
            <a:xfrm>
              <a:off x="8217" y="6684"/>
              <a:ext cx="894" cy="431"/>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0042FF"/>
                </a:solidFill>
                <a:cs typeface="微软雅黑"/>
                <a:latin typeface="微软雅黑"/>
                <a:ea typeface="微软雅黑"/>
              </a:endParaRPr>
            </a:p>
          </p:txBody>
        </p:sp>
        <p:sp>
          <p:nvSpPr>
            <p:cNvPr id="180" name="矩形 179"/>
            <p:cNvSpPr/>
            <p:nvPr/>
          </p:nvSpPr>
          <p:spPr>
            <a:xfrm>
              <a:off x="9220" y="6134"/>
              <a:ext cx="894" cy="431"/>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0042FF"/>
                </a:solidFill>
                <a:cs typeface="微软雅黑"/>
                <a:latin typeface="微软雅黑"/>
                <a:ea typeface="微软雅黑"/>
              </a:endParaRPr>
            </a:p>
          </p:txBody>
        </p:sp>
        <p:sp>
          <p:nvSpPr>
            <p:cNvPr id="181" name="矩形 180"/>
            <p:cNvSpPr/>
            <p:nvPr/>
          </p:nvSpPr>
          <p:spPr>
            <a:xfrm>
              <a:off x="9220" y="6684"/>
              <a:ext cx="894" cy="431"/>
            </a:xfrm>
            <a:prstGeom prst="rect">
              <a:avLst/>
            </a:prstGeom>
            <a:solidFill>
              <a:srgbClr val="FFFFFF"/>
            </a:solidFill>
            <a:ln w="15875">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b="1">
                <a:solidFill>
                  <a:srgbClr val="0042FF"/>
                </a:solidFill>
                <a:cs typeface="微软雅黑"/>
                <a:latin typeface="微软雅黑"/>
                <a:ea typeface="微软雅黑"/>
              </a:endParaRPr>
            </a:p>
          </p:txBody>
        </p:sp>
        <p:sp>
          <p:nvSpPr>
            <p:cNvPr id="183" name="textbox 2040"/>
            <p:cNvSpPr/>
            <p:nvPr/>
          </p:nvSpPr>
          <p:spPr>
            <a:xfrm>
              <a:off x="8217" y="6222"/>
              <a:ext cx="89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000" dirty="0">
                  <a:solidFill>
                    <a:srgbClr val="0042FF"/>
                  </a:solidFill>
                  <a:latin typeface="微软雅黑"/>
                  <a:ea typeface="微软雅黑"/>
                  <a:cs typeface="微软雅黑"/>
                </a:rPr>
                <a:t>生产</a:t>
              </a:r>
              <a:endParaRPr lang="zh-CN" altLang="en-US" sz="1000" dirty="0">
                <a:solidFill>
                  <a:srgbClr val="0042FF"/>
                </a:solidFill>
                <a:latin typeface="微软雅黑"/>
                <a:ea typeface="微软雅黑"/>
                <a:cs typeface="微软雅黑"/>
              </a:endParaRPr>
            </a:p>
          </p:txBody>
        </p:sp>
        <p:sp>
          <p:nvSpPr>
            <p:cNvPr id="184" name="textbox 2040"/>
            <p:cNvSpPr/>
            <p:nvPr/>
          </p:nvSpPr>
          <p:spPr>
            <a:xfrm>
              <a:off x="8217" y="6771"/>
              <a:ext cx="89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000" dirty="0">
                  <a:solidFill>
                    <a:srgbClr val="0042FF"/>
                  </a:solidFill>
                  <a:latin typeface="微软雅黑"/>
                  <a:ea typeface="微软雅黑"/>
                  <a:cs typeface="微软雅黑"/>
                </a:rPr>
                <a:t>供应链</a:t>
              </a:r>
              <a:endParaRPr lang="zh-CN" altLang="en-US" sz="1000" dirty="0">
                <a:solidFill>
                  <a:srgbClr val="0042FF"/>
                </a:solidFill>
                <a:latin typeface="微软雅黑"/>
                <a:ea typeface="微软雅黑"/>
                <a:cs typeface="微软雅黑"/>
              </a:endParaRPr>
            </a:p>
          </p:txBody>
        </p:sp>
        <p:sp>
          <p:nvSpPr>
            <p:cNvPr id="185" name="textbox 2040"/>
            <p:cNvSpPr/>
            <p:nvPr/>
          </p:nvSpPr>
          <p:spPr>
            <a:xfrm>
              <a:off x="9220" y="6222"/>
              <a:ext cx="89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000" dirty="0">
                  <a:solidFill>
                    <a:srgbClr val="0042FF"/>
                  </a:solidFill>
                  <a:latin typeface="微软雅黑"/>
                  <a:ea typeface="微软雅黑"/>
                  <a:cs typeface="微软雅黑"/>
                </a:rPr>
                <a:t>运营</a:t>
              </a:r>
              <a:endParaRPr lang="zh-CN" altLang="en-US" sz="1000" dirty="0">
                <a:solidFill>
                  <a:srgbClr val="0042FF"/>
                </a:solidFill>
                <a:latin typeface="微软雅黑"/>
                <a:ea typeface="微软雅黑"/>
                <a:cs typeface="微软雅黑"/>
              </a:endParaRPr>
            </a:p>
          </p:txBody>
        </p:sp>
        <p:sp>
          <p:nvSpPr>
            <p:cNvPr id="186" name="textbox 2040"/>
            <p:cNvSpPr/>
            <p:nvPr/>
          </p:nvSpPr>
          <p:spPr>
            <a:xfrm>
              <a:off x="9220" y="6800"/>
              <a:ext cx="894" cy="242"/>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000" dirty="0">
                  <a:solidFill>
                    <a:srgbClr val="0042FF"/>
                  </a:solidFill>
                  <a:latin typeface="微软雅黑"/>
                  <a:ea typeface="微软雅黑"/>
                  <a:cs typeface="微软雅黑"/>
                </a:rPr>
                <a:t>财务</a:t>
              </a:r>
              <a:endParaRPr lang="zh-CN" altLang="en-US" sz="1000" dirty="0">
                <a:solidFill>
                  <a:srgbClr val="0042FF"/>
                </a:solidFill>
                <a:latin typeface="微软雅黑"/>
                <a:ea typeface="微软雅黑"/>
                <a:cs typeface="微软雅黑"/>
              </a:endParaRPr>
            </a:p>
          </p:txBody>
        </p:sp>
        <p:cxnSp>
          <p:nvCxnSpPr>
            <p:cNvPr id="187" name="直接箭头连接符 186"/>
            <p:cNvCxnSpPr/>
            <p:nvPr/>
          </p:nvCxnSpPr>
          <p:spPr>
            <a:xfrm flipV="1">
              <a:off x="10300" y="6616"/>
              <a:ext cx="279" cy="1"/>
            </a:xfrm>
            <a:prstGeom prst="straightConnector1">
              <a:avLst/>
            </a:prstGeom>
            <a:ln>
              <a:solidFill>
                <a:srgbClr val="3368FF"/>
              </a:solidFill>
              <a:tailEnd type="triangle" w="sm" len="med"/>
            </a:ln>
          </p:spPr>
          <p:style>
            <a:lnRef idx="2">
              <a:srgbClr val="0042FF"/>
            </a:lnRef>
            <a:fillRef idx="0">
              <a:srgbClr val="FFFFFF"/>
            </a:fillRef>
            <a:effectRef idx="0">
              <a:srgbClr val="FFFFFF"/>
            </a:effectRef>
            <a:fontRef idx="minor">
              <a:srgbClr val="383838"/>
            </a:fontRef>
          </p:style>
        </p:cxnSp>
        <p:sp>
          <p:nvSpPr>
            <p:cNvPr id="309" name="右中括号 308"/>
            <p:cNvSpPr/>
            <p:nvPr/>
          </p:nvSpPr>
          <p:spPr>
            <a:xfrm>
              <a:off x="10114" y="6280"/>
              <a:ext cx="186" cy="676"/>
            </a:xfrm>
            <a:prstGeom prst="rightBracket">
              <a:avLst/>
            </a:prstGeom>
            <a:ln>
              <a:solidFill>
                <a:srgbClr val="3368FF"/>
              </a:solidFill>
            </a:ln>
          </p:spPr>
          <p:style>
            <a:lnRef idx="2">
              <a:srgbClr val="0042FF"/>
            </a:lnRef>
            <a:fillRef idx="0">
              <a:srgbClr val="FFFFFF"/>
            </a:fillRef>
            <a:effectRef idx="0">
              <a:srgbClr val="FFFF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2" name="textbox 2040"/>
            <p:cNvSpPr/>
            <p:nvPr/>
          </p:nvSpPr>
          <p:spPr>
            <a:xfrm>
              <a:off x="10668" y="6346"/>
              <a:ext cx="1946" cy="484"/>
            </a:xfrm>
            <a:prstGeom prst="rect">
              <a:avLst/>
            </a:prstGeom>
          </p:spPr>
          <p:txBody>
            <a:bodyPr vert="horz" wrap="square" lIns="0" tIns="0" rIns="0" bIns="0">
              <a:spAutoFit/>
            </a:bodyPr>
            <a:lstStyle/>
            <a:p>
              <a:pPr algn="l" rtl="0" eaLnBrk="0">
                <a:defRPr>
                  <a:latin typeface="微软雅黑"/>
                  <a:ea typeface="微软雅黑"/>
                  <a:cs typeface="微软雅黑"/>
                </a:defRPr>
              </a:pPr>
              <a:r>
                <a:rPr lang="zh-CN" altLang="en-US" sz="1000" dirty="0">
                  <a:solidFill>
                    <a:srgbClr val="383838"/>
                  </a:solidFill>
                  <a:latin typeface="微软雅黑"/>
                  <a:ea typeface="微软雅黑"/>
                  <a:cs typeface="微软雅黑"/>
                </a:rPr>
                <a:t>过度追求标准化，忽视灵活性与成本优化。</a:t>
              </a:r>
              <a:endParaRPr lang="zh-CN" altLang="en-US" sz="1000" dirty="0">
                <a:solidFill>
                  <a:srgbClr val="383838"/>
                </a:solidFill>
                <a:latin typeface="微软雅黑"/>
                <a:ea typeface="微软雅黑"/>
                <a:cs typeface="微软雅黑"/>
              </a:endParaRPr>
            </a:p>
          </p:txBody>
        </p:sp>
      </p:grpSp>
      <p:grpSp>
        <p:nvGrpSpPr>
          <p:cNvPr id="4" name="组合 3"/>
          <p:cNvGrpSpPr/>
          <p:nvPr/>
        </p:nvGrpSpPr>
        <p:grpSpPr>
          <a:xfrm>
            <a:off x="7675245" y="347980"/>
            <a:ext cx="4588510" cy="367030"/>
            <a:chOff x="12087" y="-1089"/>
            <a:chExt cx="7226" cy="578"/>
          </a:xfrm>
        </p:grpSpPr>
        <p:pic>
          <p:nvPicPr>
            <p:cNvPr id="6" name="图片 5"/>
            <p:cNvPicPr>
              <a:picLocks noChangeAspect="1"/>
            </p:cNvPicPr>
            <p:nvPr userDrawn="1"/>
          </p:nvPicPr>
          <p:blipFill>
            <a:blip r:embed="rId25"/>
            <a:srcRect r="57320" b="-13333"/>
            <a:stretch>
              <a:fillRect/>
            </a:stretch>
          </p:blipFill>
          <p:spPr>
            <a:xfrm>
              <a:off x="12087" y="-1089"/>
              <a:ext cx="2548" cy="578"/>
            </a:xfrm>
            <a:prstGeom prst="rect">
              <a:avLst/>
            </a:prstGeom>
          </p:spPr>
        </p:pic>
        <p:sp>
          <p:nvSpPr>
            <p:cNvPr id="8" name="文本框 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消费者全生命周期运营模型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7" name="紫荆的职场Point5"/>
          <p:cNvSpPr/>
          <p:nvPr/>
        </p:nvSpPr>
        <p:spPr>
          <a:xfrm flipV="1">
            <a:off x="1132840" y="2094230"/>
            <a:ext cx="10759440" cy="2611755"/>
          </a:xfrm>
          <a:prstGeom prst="rect">
            <a:avLst/>
          </a:prstGeom>
          <a:solidFill>
            <a:srgbClr val="FFFFFF">
              <a:alpha val="40000"/>
            </a:srgbClr>
          </a:solidFill>
          <a:ln w="12700" cap="flat" cmpd="sng" algn="ctr">
            <a:solidFill>
              <a:srgbClr val="B3D4FE">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8" name="紫荆的职场Point6"/>
          <p:cNvSpPr/>
          <p:nvPr/>
        </p:nvSpPr>
        <p:spPr>
          <a:xfrm>
            <a:off x="1170369" y="969513"/>
            <a:ext cx="10759320" cy="563941"/>
          </a:xfrm>
          <a:prstGeom prst="triangle">
            <a:avLst/>
          </a:prstGeom>
          <a:gradFill flip="none" rotWithShape="1">
            <a:gsLst>
              <a:gs pos="20000">
                <a:srgbClr val="3368FF"/>
              </a:gs>
              <a:gs pos="100000">
                <a:srgbClr val="0042FF"/>
              </a:gs>
            </a:gsLst>
            <a:lin ang="0" scaled="1"/>
            <a:tileRect/>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00">
              <a:solidFill>
                <a:srgbClr val="383838"/>
              </a:solidFill>
              <a:latin typeface="微软雅黑"/>
              <a:ea typeface="微软雅黑"/>
              <a:cs typeface="微软雅黑"/>
              <a:sym typeface="微软雅黑"/>
            </a:endParaRPr>
          </a:p>
        </p:txBody>
      </p:sp>
      <p:sp>
        <p:nvSpPr>
          <p:cNvPr id="9" name="紫荆的职场Point7"/>
          <p:cNvSpPr txBox="1"/>
          <p:nvPr/>
        </p:nvSpPr>
        <p:spPr>
          <a:xfrm>
            <a:off x="5017671" y="1139204"/>
            <a:ext cx="2933700" cy="368300"/>
          </a:xfrm>
          <a:prstGeom prst="rect">
            <a:avLst/>
          </a:prstGeom>
          <a:noFill/>
        </p:spPr>
        <p:txBody>
          <a:bodyPr wrap="none" lIns="0" rIns="0" tIns="0" bIns="0">
            <a:spAutoFit/>
          </a:bodyPr>
          <a:lstStyle/>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消费者全生命周期运营模型</a:t>
            </a:r>
            <a:endParaRPr lang="zh-CN" altLang="en-US" b="1" dirty="0">
              <a:solidFill>
                <a:srgbClr val="FFFFFF"/>
              </a:solidFill>
              <a:latin typeface="微软雅黑"/>
              <a:ea typeface="微软雅黑"/>
              <a:cs typeface="微软雅黑"/>
            </a:endParaRPr>
          </a:p>
        </p:txBody>
      </p:sp>
      <p:sp>
        <p:nvSpPr>
          <p:cNvPr id="11" name="紫荆的职场Point8"/>
          <p:cNvSpPr/>
          <p:nvPr/>
        </p:nvSpPr>
        <p:spPr>
          <a:xfrm>
            <a:off x="1133475" y="1610995"/>
            <a:ext cx="3748405" cy="409575"/>
          </a:xfrm>
          <a:prstGeom prst="homePlate">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围绕消费者生命周期</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2" name="紫荆的职场Point9"/>
          <p:cNvSpPr/>
          <p:nvPr/>
        </p:nvSpPr>
        <p:spPr>
          <a:xfrm>
            <a:off x="4759234" y="1611167"/>
            <a:ext cx="3745738" cy="409296"/>
          </a:xfrm>
          <a:prstGeom prst="chevron">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打造全业务链精益管理能力</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3" name="紫荆的职场Point10"/>
          <p:cNvSpPr/>
          <p:nvPr/>
        </p:nvSpPr>
        <p:spPr>
          <a:xfrm>
            <a:off x="8385827" y="1611167"/>
            <a:ext cx="3512670" cy="409296"/>
          </a:xfrm>
          <a:custGeom>
            <a:avLst/>
            <a:gdLst>
              <a:gd name="connsiteX0" fmla="*/ 0 w 3512670"/>
              <a:gd name="connsiteY0" fmla="*/ 0 h 409296"/>
              <a:gd name="connsiteX1" fmla="*/ 3512670 w 3512670"/>
              <a:gd name="connsiteY1" fmla="*/ 0 h 409296"/>
              <a:gd name="connsiteX2" fmla="*/ 3512670 w 3512670"/>
              <a:gd name="connsiteY2" fmla="*/ 409296 h 409296"/>
              <a:gd name="connsiteX3" fmla="*/ 0 w 3512670"/>
              <a:gd name="connsiteY3" fmla="*/ 409296 h 409296"/>
              <a:gd name="connsiteX4" fmla="*/ 204648 w 3512670"/>
              <a:gd name="connsiteY4" fmla="*/ 204648 h 409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670" h="409296">
                <a:moveTo>
                  <a:pt x="0" y="0"/>
                </a:moveTo>
                <a:lnTo>
                  <a:pt x="3512670" y="0"/>
                </a:lnTo>
                <a:lnTo>
                  <a:pt x="3512670" y="409296"/>
                </a:lnTo>
                <a:lnTo>
                  <a:pt x="0" y="409296"/>
                </a:lnTo>
                <a:lnTo>
                  <a:pt x="204648" y="204648"/>
                </a:lnTo>
                <a:close/>
              </a:path>
            </a:pathLst>
          </a:cu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挖掘增值服务与价值产出</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4" name="圆角矩形 13"/>
          <p:cNvSpPr/>
          <p:nvPr>
            <p:custDataLst>
              <p:tags r:id="rId3"/>
            </p:custDataLst>
          </p:nvPr>
        </p:nvSpPr>
        <p:spPr>
          <a:xfrm>
            <a:off x="1463040" y="2564765"/>
            <a:ext cx="10097770" cy="1696085"/>
          </a:xfrm>
          <a:prstGeom prst="roundRect">
            <a:avLst/>
          </a:prstGeom>
          <a:noFill/>
          <a:ln w="25400" cmpd="sng">
            <a:solidFill>
              <a:srgbClr val="B3D4FE"/>
            </a:solidFill>
            <a:prstDash val="dash"/>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 name="椭圆 14"/>
          <p:cNvSpPr/>
          <p:nvPr>
            <p:custDataLst>
              <p:tags r:id="rId4"/>
            </p:custDataLst>
          </p:nvPr>
        </p:nvSpPr>
        <p:spPr>
          <a:xfrm>
            <a:off x="2204085" y="2503805"/>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6" name="椭圆 15"/>
          <p:cNvSpPr/>
          <p:nvPr>
            <p:custDataLst>
              <p:tags r:id="rId5"/>
            </p:custDataLst>
          </p:nvPr>
        </p:nvSpPr>
        <p:spPr>
          <a:xfrm>
            <a:off x="2085340" y="419354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7" name="椭圆 16"/>
          <p:cNvSpPr/>
          <p:nvPr>
            <p:custDataLst>
              <p:tags r:id="rId6"/>
            </p:custDataLst>
          </p:nvPr>
        </p:nvSpPr>
        <p:spPr>
          <a:xfrm>
            <a:off x="3543300" y="419354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 name="椭圆 17"/>
          <p:cNvSpPr/>
          <p:nvPr>
            <p:custDataLst>
              <p:tags r:id="rId7"/>
            </p:custDataLst>
          </p:nvPr>
        </p:nvSpPr>
        <p:spPr>
          <a:xfrm>
            <a:off x="10833100" y="419354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9" name="椭圆 18"/>
          <p:cNvSpPr/>
          <p:nvPr>
            <p:custDataLst>
              <p:tags r:id="rId8"/>
            </p:custDataLst>
          </p:nvPr>
        </p:nvSpPr>
        <p:spPr>
          <a:xfrm>
            <a:off x="5001260" y="419354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0" name="椭圆 19"/>
          <p:cNvSpPr/>
          <p:nvPr>
            <p:custDataLst>
              <p:tags r:id="rId9"/>
            </p:custDataLst>
          </p:nvPr>
        </p:nvSpPr>
        <p:spPr>
          <a:xfrm>
            <a:off x="6459220" y="419354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1" name="椭圆 20"/>
          <p:cNvSpPr/>
          <p:nvPr>
            <p:custDataLst>
              <p:tags r:id="rId10"/>
            </p:custDataLst>
          </p:nvPr>
        </p:nvSpPr>
        <p:spPr>
          <a:xfrm>
            <a:off x="7917180" y="419354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2" name="椭圆 21"/>
          <p:cNvSpPr/>
          <p:nvPr>
            <p:custDataLst>
              <p:tags r:id="rId11"/>
            </p:custDataLst>
          </p:nvPr>
        </p:nvSpPr>
        <p:spPr>
          <a:xfrm>
            <a:off x="9375140" y="419354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 name="文本框 22"/>
          <p:cNvSpPr txBox="1"/>
          <p:nvPr>
            <p:custDataLst>
              <p:tags r:id="rId12"/>
            </p:custDataLst>
          </p:nvPr>
        </p:nvSpPr>
        <p:spPr>
          <a:xfrm flipH="1">
            <a:off x="7660640" y="2198370"/>
            <a:ext cx="873125"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客户提车</a:t>
            </a:r>
            <a:endParaRPr lang="zh-CN" altLang="en-US" sz="1200" dirty="0">
              <a:solidFill>
                <a:srgbClr val="383838"/>
              </a:solidFill>
              <a:latin typeface="微软雅黑"/>
              <a:ea typeface="微软雅黑"/>
              <a:cs typeface="微软雅黑"/>
            </a:endParaRPr>
          </a:p>
        </p:txBody>
      </p:sp>
      <p:sp>
        <p:nvSpPr>
          <p:cNvPr id="24" name="文本框 23"/>
          <p:cNvSpPr txBox="1"/>
          <p:nvPr>
            <p:custDataLst>
              <p:tags r:id="rId13"/>
            </p:custDataLst>
          </p:nvPr>
        </p:nvSpPr>
        <p:spPr>
          <a:xfrm flipH="1">
            <a:off x="9023985" y="2198370"/>
            <a:ext cx="103632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亲子活动</a:t>
            </a:r>
            <a:endParaRPr lang="zh-CN" altLang="en-US" sz="1200" dirty="0">
              <a:solidFill>
                <a:srgbClr val="383838"/>
              </a:solidFill>
              <a:latin typeface="微软雅黑"/>
              <a:ea typeface="微软雅黑"/>
              <a:cs typeface="微软雅黑"/>
            </a:endParaRPr>
          </a:p>
        </p:txBody>
      </p:sp>
      <p:sp>
        <p:nvSpPr>
          <p:cNvPr id="25" name="文本框 24"/>
          <p:cNvSpPr txBox="1"/>
          <p:nvPr>
            <p:custDataLst>
              <p:tags r:id="rId14"/>
            </p:custDataLst>
          </p:nvPr>
        </p:nvSpPr>
        <p:spPr>
          <a:xfrm flipH="1">
            <a:off x="10523855" y="4367848"/>
            <a:ext cx="109855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保险到期</a:t>
            </a:r>
            <a:endParaRPr lang="zh-CN" altLang="en-US" sz="1200" dirty="0">
              <a:solidFill>
                <a:srgbClr val="383838"/>
              </a:solidFill>
              <a:latin typeface="微软雅黑"/>
              <a:ea typeface="微软雅黑"/>
              <a:cs typeface="微软雅黑"/>
            </a:endParaRPr>
          </a:p>
        </p:txBody>
      </p:sp>
      <p:sp>
        <p:nvSpPr>
          <p:cNvPr id="26" name="文本框 25"/>
          <p:cNvSpPr txBox="1"/>
          <p:nvPr>
            <p:custDataLst>
              <p:tags r:id="rId15"/>
            </p:custDataLst>
          </p:nvPr>
        </p:nvSpPr>
        <p:spPr>
          <a:xfrm flipH="1">
            <a:off x="7663815" y="4367848"/>
            <a:ext cx="1021715"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流失招揽</a:t>
            </a:r>
            <a:endParaRPr lang="zh-CN" altLang="en-US" sz="1200" dirty="0">
              <a:solidFill>
                <a:srgbClr val="383838"/>
              </a:solidFill>
              <a:latin typeface="微软雅黑"/>
              <a:ea typeface="微软雅黑"/>
              <a:cs typeface="微软雅黑"/>
            </a:endParaRPr>
          </a:p>
        </p:txBody>
      </p:sp>
      <p:sp>
        <p:nvSpPr>
          <p:cNvPr id="27" name="文本框 26"/>
          <p:cNvSpPr txBox="1"/>
          <p:nvPr>
            <p:custDataLst>
              <p:tags r:id="rId16"/>
            </p:custDataLst>
          </p:nvPr>
        </p:nvSpPr>
        <p:spPr>
          <a:xfrm flipH="1">
            <a:off x="4555490" y="4367848"/>
            <a:ext cx="1146175"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车辆健康检测</a:t>
            </a:r>
            <a:endParaRPr lang="zh-CN" altLang="en-US" sz="1200" dirty="0">
              <a:solidFill>
                <a:srgbClr val="383838"/>
              </a:solidFill>
              <a:latin typeface="微软雅黑"/>
              <a:ea typeface="微软雅黑"/>
              <a:cs typeface="微软雅黑"/>
            </a:endParaRPr>
          </a:p>
        </p:txBody>
      </p:sp>
      <p:sp>
        <p:nvSpPr>
          <p:cNvPr id="28" name="文本框 27"/>
          <p:cNvSpPr txBox="1"/>
          <p:nvPr>
            <p:custDataLst>
              <p:tags r:id="rId17"/>
            </p:custDataLst>
          </p:nvPr>
        </p:nvSpPr>
        <p:spPr>
          <a:xfrm flipH="1">
            <a:off x="1893570" y="2198370"/>
            <a:ext cx="82677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潜客拉新</a:t>
            </a:r>
            <a:endParaRPr lang="zh-CN" altLang="en-US" sz="1200" dirty="0">
              <a:solidFill>
                <a:srgbClr val="383838"/>
              </a:solidFill>
              <a:latin typeface="微软雅黑"/>
              <a:ea typeface="微软雅黑"/>
              <a:cs typeface="微软雅黑"/>
            </a:endParaRPr>
          </a:p>
        </p:txBody>
      </p:sp>
      <p:sp>
        <p:nvSpPr>
          <p:cNvPr id="29" name="文本框 28"/>
          <p:cNvSpPr txBox="1"/>
          <p:nvPr>
            <p:custDataLst>
              <p:tags r:id="rId18"/>
            </p:custDataLst>
          </p:nvPr>
        </p:nvSpPr>
        <p:spPr>
          <a:xfrm flipH="1">
            <a:off x="1712595" y="4367848"/>
            <a:ext cx="1021715" cy="275590"/>
          </a:xfrm>
          <a:prstGeom prst="rect">
            <a:avLst/>
          </a:prstGeom>
          <a:noFill/>
          <a:ln>
            <a:noFill/>
          </a:ln>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老客户推荐</a:t>
            </a:r>
            <a:endParaRPr lang="zh-CN" altLang="en-US" sz="1200" dirty="0">
              <a:solidFill>
                <a:srgbClr val="383838"/>
              </a:solidFill>
              <a:latin typeface="微软雅黑"/>
              <a:ea typeface="微软雅黑"/>
              <a:cs typeface="微软雅黑"/>
            </a:endParaRPr>
          </a:p>
        </p:txBody>
      </p:sp>
      <p:sp>
        <p:nvSpPr>
          <p:cNvPr id="30" name="文本框 29"/>
          <p:cNvSpPr txBox="1"/>
          <p:nvPr>
            <p:custDataLst>
              <p:tags r:id="rId19"/>
            </p:custDataLst>
          </p:nvPr>
        </p:nvSpPr>
        <p:spPr>
          <a:xfrm flipH="1">
            <a:off x="6169025" y="4367848"/>
            <a:ext cx="1021715"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汽车美容</a:t>
            </a:r>
            <a:endParaRPr lang="zh-CN" altLang="en-US" sz="1200" dirty="0">
              <a:solidFill>
                <a:srgbClr val="383838"/>
              </a:solidFill>
              <a:latin typeface="微软雅黑"/>
              <a:ea typeface="微软雅黑"/>
              <a:cs typeface="微软雅黑"/>
            </a:endParaRPr>
          </a:p>
        </p:txBody>
      </p:sp>
      <p:sp>
        <p:nvSpPr>
          <p:cNvPr id="33" name="文本框 32"/>
          <p:cNvSpPr txBox="1"/>
          <p:nvPr>
            <p:custDataLst>
              <p:tags r:id="rId20"/>
            </p:custDataLst>
          </p:nvPr>
        </p:nvSpPr>
        <p:spPr>
          <a:xfrm flipH="1">
            <a:off x="3273425" y="2198370"/>
            <a:ext cx="102235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邀约进店</a:t>
            </a:r>
            <a:endParaRPr lang="zh-CN" altLang="en-US" sz="1200" dirty="0">
              <a:solidFill>
                <a:srgbClr val="383838"/>
              </a:solidFill>
              <a:latin typeface="微软雅黑"/>
              <a:ea typeface="微软雅黑"/>
              <a:cs typeface="微软雅黑"/>
            </a:endParaRPr>
          </a:p>
        </p:txBody>
      </p:sp>
      <p:sp>
        <p:nvSpPr>
          <p:cNvPr id="34" name="文本框 33"/>
          <p:cNvSpPr txBox="1"/>
          <p:nvPr>
            <p:custDataLst>
              <p:tags r:id="rId21"/>
            </p:custDataLst>
          </p:nvPr>
        </p:nvSpPr>
        <p:spPr>
          <a:xfrm flipH="1">
            <a:off x="4744720" y="2198370"/>
            <a:ext cx="102235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销售跟进</a:t>
            </a:r>
            <a:endParaRPr lang="zh-CN" altLang="en-US" sz="1200" dirty="0">
              <a:solidFill>
                <a:srgbClr val="383838"/>
              </a:solidFill>
              <a:latin typeface="微软雅黑"/>
              <a:ea typeface="微软雅黑"/>
              <a:cs typeface="微软雅黑"/>
            </a:endParaRPr>
          </a:p>
        </p:txBody>
      </p:sp>
      <p:sp>
        <p:nvSpPr>
          <p:cNvPr id="36" name="文本框 35"/>
          <p:cNvSpPr txBox="1"/>
          <p:nvPr>
            <p:custDataLst>
              <p:tags r:id="rId22"/>
            </p:custDataLst>
          </p:nvPr>
        </p:nvSpPr>
        <p:spPr>
          <a:xfrm flipH="1">
            <a:off x="6164580" y="2198370"/>
            <a:ext cx="102235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下订购车</a:t>
            </a:r>
            <a:endParaRPr lang="zh-CN" altLang="en-US" sz="1200" dirty="0">
              <a:solidFill>
                <a:srgbClr val="383838"/>
              </a:solidFill>
              <a:latin typeface="微软雅黑"/>
              <a:ea typeface="微软雅黑"/>
              <a:cs typeface="微软雅黑"/>
            </a:endParaRPr>
          </a:p>
        </p:txBody>
      </p:sp>
      <p:sp>
        <p:nvSpPr>
          <p:cNvPr id="40" name="Parallelogram 3"/>
          <p:cNvSpPr/>
          <p:nvPr>
            <p:custDataLst>
              <p:tags r:id="rId23"/>
            </p:custDataLst>
          </p:nvPr>
        </p:nvSpPr>
        <p:spPr>
          <a:xfrm>
            <a:off x="1624965" y="2743835"/>
            <a:ext cx="5015230" cy="320675"/>
          </a:xfrm>
          <a:custGeom>
            <a:avLst/>
            <a:gdLst>
              <a:gd name="connsiteX0" fmla="*/ 405 w 7701"/>
              <a:gd name="connsiteY0" fmla="*/ 505 h 505"/>
              <a:gd name="connsiteX1" fmla="*/ 0 w 7701"/>
              <a:gd name="connsiteY1" fmla="*/ 10 h 505"/>
              <a:gd name="connsiteX2" fmla="*/ 7701 w 7701"/>
              <a:gd name="connsiteY2" fmla="*/ 0 h 505"/>
              <a:gd name="connsiteX3" fmla="*/ 7447 w 7701"/>
              <a:gd name="connsiteY3" fmla="*/ 498 h 505"/>
              <a:gd name="connsiteX4" fmla="*/ 405 w 7701"/>
              <a:gd name="connsiteY4" fmla="*/ 505 h 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1" h="505">
                <a:moveTo>
                  <a:pt x="405" y="505"/>
                </a:moveTo>
                <a:lnTo>
                  <a:pt x="0" y="10"/>
                </a:lnTo>
                <a:lnTo>
                  <a:pt x="7701" y="0"/>
                </a:lnTo>
                <a:lnTo>
                  <a:pt x="7447" y="498"/>
                </a:lnTo>
                <a:lnTo>
                  <a:pt x="405" y="505"/>
                </a:lnTo>
                <a:close/>
              </a:path>
            </a:pathLst>
          </a:custGeom>
          <a:gradFill>
            <a:gsLst>
              <a:gs pos="18000">
                <a:srgbClr val="B3D4FE"/>
              </a:gs>
              <a:gs pos="100000">
                <a:srgbClr val="B3D4FE"/>
              </a:gs>
            </a:gsLst>
            <a:lin ang="0" scaled="0"/>
          </a:gradFill>
          <a:ln>
            <a:noFill/>
          </a:ln>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r>
              <a:rPr lang="zh-CN" altLang="en-US" sz="1300" b="1" dirty="0">
                <a:latin typeface="微软雅黑"/>
                <a:ea typeface="微软雅黑"/>
                <a:sym typeface="微软雅黑"/>
                <a:cs typeface="微软雅黑"/>
              </a:rPr>
              <a:t>销售客户转化</a:t>
            </a:r>
            <a:endParaRPr lang="zh-CN" altLang="en-US" sz="1300" b="1" dirty="0">
              <a:latin typeface="微软雅黑"/>
              <a:ea typeface="微软雅黑"/>
              <a:sym typeface="微软雅黑"/>
              <a:cs typeface="微软雅黑"/>
            </a:endParaRPr>
          </a:p>
        </p:txBody>
      </p:sp>
      <p:sp>
        <p:nvSpPr>
          <p:cNvPr id="44" name="Parallelogram 4"/>
          <p:cNvSpPr/>
          <p:nvPr>
            <p:custDataLst>
              <p:tags r:id="rId24"/>
            </p:custDataLst>
          </p:nvPr>
        </p:nvSpPr>
        <p:spPr>
          <a:xfrm>
            <a:off x="6586855" y="2751455"/>
            <a:ext cx="4726940" cy="308610"/>
          </a:xfrm>
          <a:prstGeom prst="parallelogram">
            <a:avLst>
              <a:gd name="adj" fmla="val 50926"/>
            </a:avLst>
          </a:prstGeom>
          <a:gradFill>
            <a:gsLst>
              <a:gs pos="18000">
                <a:srgbClr val="B3D4FE"/>
              </a:gs>
              <a:gs pos="100000">
                <a:srgbClr val="B3D4FE"/>
              </a:gs>
            </a:gsLst>
            <a:lin ang="0" scaled="0"/>
          </a:gradFill>
          <a:ln>
            <a:noFill/>
          </a:ln>
        </p:spPr>
        <p:style>
          <a:lnRef idx="2">
            <a:srgbClr val="0042FF"/>
          </a:lnRef>
          <a:fillRef idx="1">
            <a:srgbClr val="3368FF"/>
          </a:fillRef>
          <a:effectRef idx="0">
            <a:srgbClr val="3368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300" b="1" dirty="0">
                <a:solidFill>
                  <a:srgbClr val="383838"/>
                </a:solidFill>
                <a:latin typeface="微软雅黑"/>
                <a:ea typeface="微软雅黑"/>
                <a:cs typeface="微软雅黑"/>
              </a:rPr>
              <a:t>新车用户保持</a:t>
            </a:r>
            <a:endParaRPr lang="zh-CN" altLang="en-US" sz="1300" b="1" dirty="0">
              <a:solidFill>
                <a:srgbClr val="383838"/>
              </a:solidFill>
              <a:latin typeface="微软雅黑"/>
              <a:ea typeface="微软雅黑"/>
              <a:cs typeface="微软雅黑"/>
            </a:endParaRPr>
          </a:p>
        </p:txBody>
      </p:sp>
      <p:sp>
        <p:nvSpPr>
          <p:cNvPr id="46" name="Parallelogram 3"/>
          <p:cNvSpPr/>
          <p:nvPr>
            <p:custDataLst>
              <p:tags r:id="rId25"/>
            </p:custDataLst>
          </p:nvPr>
        </p:nvSpPr>
        <p:spPr>
          <a:xfrm rot="16200000" flipV="1">
            <a:off x="10649585" y="3324225"/>
            <a:ext cx="1317625" cy="171450"/>
          </a:xfrm>
          <a:custGeom>
            <a:avLst/>
            <a:gdLst>
              <a:gd name="connsiteX0" fmla="*/ 500 w 2075"/>
              <a:gd name="connsiteY0" fmla="*/ 245 h 270"/>
              <a:gd name="connsiteX1" fmla="*/ 0 w 2075"/>
              <a:gd name="connsiteY1" fmla="*/ 0 h 270"/>
              <a:gd name="connsiteX2" fmla="*/ 2075 w 2075"/>
              <a:gd name="connsiteY2" fmla="*/ 25 h 270"/>
              <a:gd name="connsiteX3" fmla="*/ 1605 w 2075"/>
              <a:gd name="connsiteY3" fmla="*/ 270 h 270"/>
              <a:gd name="connsiteX4" fmla="*/ 500 w 2075"/>
              <a:gd name="connsiteY4" fmla="*/ 245 h 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5" h="270">
                <a:moveTo>
                  <a:pt x="500" y="245"/>
                </a:moveTo>
                <a:lnTo>
                  <a:pt x="0" y="0"/>
                </a:lnTo>
                <a:lnTo>
                  <a:pt x="2075" y="25"/>
                </a:lnTo>
                <a:lnTo>
                  <a:pt x="1605" y="270"/>
                </a:lnTo>
                <a:lnTo>
                  <a:pt x="500" y="245"/>
                </a:lnTo>
                <a:close/>
              </a:path>
            </a:pathLst>
          </a:custGeom>
          <a:gradFill>
            <a:gsLst>
              <a:gs pos="18000">
                <a:srgbClr val="B3D4FE"/>
              </a:gs>
              <a:gs pos="100000">
                <a:srgbClr val="B3D4FE"/>
              </a:gs>
            </a:gsLst>
            <a:lin ang="0" scaled="0"/>
          </a:gradFill>
          <a:ln>
            <a:noFill/>
          </a:ln>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sz="1300" b="1" dirty="0">
              <a:latin typeface="微软雅黑"/>
              <a:ea typeface="微软雅黑"/>
              <a:sym typeface="微软雅黑"/>
              <a:cs typeface="微软雅黑"/>
            </a:endParaRPr>
          </a:p>
        </p:txBody>
      </p:sp>
      <p:pic>
        <p:nvPicPr>
          <p:cNvPr id="47" name="图片 46" descr="303b343532343232313bd0c2d4f6d3c3bba7"/>
          <p:cNvPicPr>
            <a:picLocks noChangeAspect="1"/>
          </p:cNvPicPr>
          <p:nvPr>
            <p:custDataLst>
              <p:tags r:id="rId26"/>
            </p:custDataLst>
          </p:nvPr>
        </p:nvPicPr>
        <p:blipFill>
          <a:blip r:embed="rId27">
            <a:extLst>
              <a:ext uri="{96DAC541-7B7A-43D3-8B79-37D633B846F1}">
                <asvg:svgBlip xmlns:asvg="http://schemas.microsoft.com/office/drawing/2016/SVG/main" r:embed="rId28"/>
              </a:ext>
            </a:extLst>
          </a:blip>
          <a:stretch>
            <a:fillRect/>
          </a:stretch>
        </p:blipFill>
        <p:spPr>
          <a:xfrm>
            <a:off x="8185150" y="2781935"/>
            <a:ext cx="178435" cy="208915"/>
          </a:xfrm>
          <a:prstGeom prst="rect">
            <a:avLst/>
          </a:prstGeom>
        </p:spPr>
      </p:pic>
      <p:sp>
        <p:nvSpPr>
          <p:cNvPr id="48" name="Parallelogram 3"/>
          <p:cNvSpPr/>
          <p:nvPr>
            <p:custDataLst>
              <p:tags r:id="rId29"/>
            </p:custDataLst>
          </p:nvPr>
        </p:nvSpPr>
        <p:spPr>
          <a:xfrm flipH="1">
            <a:off x="6689090" y="3766185"/>
            <a:ext cx="4674870" cy="316230"/>
          </a:xfrm>
          <a:prstGeom prst="parallelogram">
            <a:avLst>
              <a:gd name="adj" fmla="val 50926"/>
            </a:avLst>
          </a:prstGeom>
          <a:gradFill>
            <a:gsLst>
              <a:gs pos="18000">
                <a:srgbClr val="B3D4FE"/>
              </a:gs>
              <a:gs pos="100000">
                <a:srgbClr val="B3D4FE"/>
              </a:gs>
            </a:gsLst>
            <a:lin ang="0" scaled="0"/>
          </a:gradFill>
          <a:ln>
            <a:noFill/>
          </a:ln>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r>
              <a:rPr lang="zh-CN" altLang="en-US" sz="1300" b="1" dirty="0">
                <a:latin typeface="微软雅黑"/>
                <a:ea typeface="微软雅黑"/>
                <a:sym typeface="微软雅黑"/>
                <a:cs typeface="微软雅黑"/>
              </a:rPr>
              <a:t>忠诚客户保持</a:t>
            </a:r>
            <a:endParaRPr lang="zh-CN" altLang="en-US" sz="1300" b="1" dirty="0">
              <a:latin typeface="微软雅黑"/>
              <a:ea typeface="微软雅黑"/>
              <a:sym typeface="微软雅黑"/>
              <a:cs typeface="微软雅黑"/>
            </a:endParaRPr>
          </a:p>
        </p:txBody>
      </p:sp>
      <p:sp>
        <p:nvSpPr>
          <p:cNvPr id="50" name="文本框 49"/>
          <p:cNvSpPr txBox="1"/>
          <p:nvPr>
            <p:custDataLst>
              <p:tags r:id="rId30"/>
            </p:custDataLst>
          </p:nvPr>
        </p:nvSpPr>
        <p:spPr>
          <a:xfrm flipH="1">
            <a:off x="10541635" y="2198370"/>
            <a:ext cx="103759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首保邀约</a:t>
            </a:r>
            <a:endParaRPr lang="zh-CN" altLang="en-US" sz="1200" dirty="0">
              <a:solidFill>
                <a:srgbClr val="383838"/>
              </a:solidFill>
              <a:latin typeface="微软雅黑"/>
              <a:ea typeface="微软雅黑"/>
              <a:cs typeface="微软雅黑"/>
            </a:endParaRPr>
          </a:p>
        </p:txBody>
      </p:sp>
      <p:sp>
        <p:nvSpPr>
          <p:cNvPr id="51" name="文本框 50"/>
          <p:cNvSpPr txBox="1"/>
          <p:nvPr>
            <p:custDataLst>
              <p:tags r:id="rId31"/>
            </p:custDataLst>
          </p:nvPr>
        </p:nvSpPr>
        <p:spPr>
          <a:xfrm flipH="1">
            <a:off x="9048750" y="4367848"/>
            <a:ext cx="1098550"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保养提醒</a:t>
            </a:r>
            <a:endParaRPr lang="zh-CN" altLang="en-US" sz="1200" dirty="0">
              <a:solidFill>
                <a:srgbClr val="383838"/>
              </a:solidFill>
              <a:latin typeface="微软雅黑"/>
              <a:ea typeface="微软雅黑"/>
              <a:cs typeface="微软雅黑"/>
            </a:endParaRPr>
          </a:p>
        </p:txBody>
      </p:sp>
      <p:sp>
        <p:nvSpPr>
          <p:cNvPr id="52" name="文本框 51"/>
          <p:cNvSpPr txBox="1"/>
          <p:nvPr>
            <p:custDataLst>
              <p:tags r:id="rId32"/>
            </p:custDataLst>
          </p:nvPr>
        </p:nvSpPr>
        <p:spPr>
          <a:xfrm flipH="1">
            <a:off x="3244850" y="4367848"/>
            <a:ext cx="1021715" cy="275590"/>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年检到期</a:t>
            </a:r>
            <a:endParaRPr lang="zh-CN" altLang="en-US" sz="1200" dirty="0">
              <a:solidFill>
                <a:srgbClr val="383838"/>
              </a:solidFill>
              <a:latin typeface="微软雅黑"/>
              <a:ea typeface="微软雅黑"/>
              <a:cs typeface="微软雅黑"/>
            </a:endParaRPr>
          </a:p>
        </p:txBody>
      </p:sp>
      <p:sp>
        <p:nvSpPr>
          <p:cNvPr id="53" name="Parallelogram 3"/>
          <p:cNvSpPr/>
          <p:nvPr>
            <p:custDataLst>
              <p:tags r:id="rId33"/>
            </p:custDataLst>
          </p:nvPr>
        </p:nvSpPr>
        <p:spPr>
          <a:xfrm flipH="1">
            <a:off x="1624965" y="3766185"/>
            <a:ext cx="5150485" cy="316230"/>
          </a:xfrm>
          <a:custGeom>
            <a:avLst/>
            <a:gdLst>
              <a:gd name="connsiteX0" fmla="*/ 0 w 7556"/>
              <a:gd name="connsiteY0" fmla="*/ 498 h 498"/>
              <a:gd name="connsiteX1" fmla="*/ 254 w 7556"/>
              <a:gd name="connsiteY1" fmla="*/ 0 h 498"/>
              <a:gd name="connsiteX2" fmla="*/ 7149 w 7556"/>
              <a:gd name="connsiteY2" fmla="*/ 5 h 498"/>
              <a:gd name="connsiteX3" fmla="*/ 7556 w 7556"/>
              <a:gd name="connsiteY3" fmla="*/ 498 h 498"/>
              <a:gd name="connsiteX4" fmla="*/ 0 w 7556"/>
              <a:gd name="connsiteY4" fmla="*/ 498 h 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6" h="498">
                <a:moveTo>
                  <a:pt x="0" y="498"/>
                </a:moveTo>
                <a:lnTo>
                  <a:pt x="254" y="0"/>
                </a:lnTo>
                <a:lnTo>
                  <a:pt x="7149" y="5"/>
                </a:lnTo>
                <a:lnTo>
                  <a:pt x="7556" y="498"/>
                </a:lnTo>
                <a:lnTo>
                  <a:pt x="0" y="498"/>
                </a:lnTo>
                <a:close/>
              </a:path>
            </a:pathLst>
          </a:custGeom>
          <a:gradFill>
            <a:gsLst>
              <a:gs pos="18000">
                <a:srgbClr val="B3D4FE"/>
              </a:gs>
              <a:gs pos="100000">
                <a:srgbClr val="B3D4FE"/>
              </a:gs>
            </a:gsLst>
            <a:lin ang="0" scaled="0"/>
          </a:gradFill>
          <a:ln>
            <a:noFill/>
          </a:ln>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r>
              <a:rPr lang="zh-CN" altLang="en-US" sz="1300" b="1" dirty="0">
                <a:latin typeface="微软雅黑"/>
                <a:ea typeface="微软雅黑"/>
                <a:sym typeface="微软雅黑"/>
                <a:cs typeface="微软雅黑"/>
              </a:rPr>
              <a:t>增值业务开发</a:t>
            </a:r>
            <a:endParaRPr lang="zh-CN" altLang="en-US" sz="1300" b="1" dirty="0">
              <a:latin typeface="微软雅黑"/>
              <a:ea typeface="微软雅黑"/>
              <a:sym typeface="微软雅黑"/>
              <a:cs typeface="微软雅黑"/>
            </a:endParaRPr>
          </a:p>
        </p:txBody>
      </p:sp>
      <p:sp>
        <p:nvSpPr>
          <p:cNvPr id="54" name="Parallelogram 3"/>
          <p:cNvSpPr/>
          <p:nvPr>
            <p:custDataLst>
              <p:tags r:id="rId34"/>
            </p:custDataLst>
          </p:nvPr>
        </p:nvSpPr>
        <p:spPr>
          <a:xfrm rot="16200000">
            <a:off x="1023620" y="3290570"/>
            <a:ext cx="1317625" cy="266700"/>
          </a:xfrm>
          <a:custGeom>
            <a:avLst/>
            <a:gdLst>
              <a:gd name="connsiteX0" fmla="*/ 500 w 2075"/>
              <a:gd name="connsiteY0" fmla="*/ 245 h 270"/>
              <a:gd name="connsiteX1" fmla="*/ 0 w 2075"/>
              <a:gd name="connsiteY1" fmla="*/ 0 h 270"/>
              <a:gd name="connsiteX2" fmla="*/ 2075 w 2075"/>
              <a:gd name="connsiteY2" fmla="*/ 25 h 270"/>
              <a:gd name="connsiteX3" fmla="*/ 1605 w 2075"/>
              <a:gd name="connsiteY3" fmla="*/ 270 h 270"/>
              <a:gd name="connsiteX4" fmla="*/ 500 w 2075"/>
              <a:gd name="connsiteY4" fmla="*/ 245 h 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5" h="270">
                <a:moveTo>
                  <a:pt x="500" y="245"/>
                </a:moveTo>
                <a:lnTo>
                  <a:pt x="0" y="0"/>
                </a:lnTo>
                <a:lnTo>
                  <a:pt x="2075" y="25"/>
                </a:lnTo>
                <a:lnTo>
                  <a:pt x="1605" y="270"/>
                </a:lnTo>
                <a:lnTo>
                  <a:pt x="500" y="245"/>
                </a:lnTo>
                <a:close/>
              </a:path>
            </a:pathLst>
          </a:custGeom>
          <a:gradFill>
            <a:gsLst>
              <a:gs pos="18000">
                <a:srgbClr val="B3D4FE"/>
              </a:gs>
              <a:gs pos="100000">
                <a:srgbClr val="B3D4FE"/>
              </a:gs>
            </a:gsLst>
            <a:lin ang="0" scaled="0"/>
          </a:gradFill>
          <a:ln>
            <a:noFill/>
          </a:ln>
        </p:spPr>
        <p:style>
          <a:lnRef idx="2">
            <a:srgbClr val="0042FF"/>
          </a:lnRef>
          <a:fillRef idx="1">
            <a:srgbClr val="3368FF"/>
          </a:fillRef>
          <a:effectRef idx="0">
            <a:srgbClr val="3368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sz="1300" b="1" dirty="0">
              <a:latin typeface="微软雅黑"/>
              <a:ea typeface="微软雅黑"/>
              <a:sym typeface="微软雅黑"/>
              <a:cs typeface="微软雅黑"/>
            </a:endParaRPr>
          </a:p>
        </p:txBody>
      </p:sp>
      <p:sp>
        <p:nvSpPr>
          <p:cNvPr id="55" name="iconfont-11672-5428412"/>
          <p:cNvSpPr/>
          <p:nvPr>
            <p:custDataLst>
              <p:tags r:id="rId35"/>
            </p:custDataLst>
          </p:nvPr>
        </p:nvSpPr>
        <p:spPr>
          <a:xfrm>
            <a:off x="8274050" y="3846830"/>
            <a:ext cx="111760" cy="154940"/>
          </a:xfrm>
          <a:custGeom>
            <a:avLst/>
            <a:gdLst>
              <a:gd name="T0" fmla="*/ 12000 w 12800"/>
              <a:gd name="T1" fmla="*/ 12800 h 12800"/>
              <a:gd name="T2" fmla="*/ 4000 w 12800"/>
              <a:gd name="T3" fmla="*/ 12800 h 12800"/>
              <a:gd name="T4" fmla="*/ 3200 w 12800"/>
              <a:gd name="T5" fmla="*/ 12000 h 12800"/>
              <a:gd name="T6" fmla="*/ 3200 w 12800"/>
              <a:gd name="T7" fmla="*/ 9600 h 12800"/>
              <a:gd name="T8" fmla="*/ 800 w 12800"/>
              <a:gd name="T9" fmla="*/ 9600 h 12800"/>
              <a:gd name="T10" fmla="*/ 0 w 12800"/>
              <a:gd name="T11" fmla="*/ 8800 h 12800"/>
              <a:gd name="T12" fmla="*/ 0 w 12800"/>
              <a:gd name="T13" fmla="*/ 800 h 12800"/>
              <a:gd name="T14" fmla="*/ 800 w 12800"/>
              <a:gd name="T15" fmla="*/ 0 h 12800"/>
              <a:gd name="T16" fmla="*/ 8800 w 12800"/>
              <a:gd name="T17" fmla="*/ 0 h 12800"/>
              <a:gd name="T18" fmla="*/ 9600 w 12800"/>
              <a:gd name="T19" fmla="*/ 800 h 12800"/>
              <a:gd name="T20" fmla="*/ 9600 w 12800"/>
              <a:gd name="T21" fmla="*/ 3200 h 12800"/>
              <a:gd name="T22" fmla="*/ 12000 w 12800"/>
              <a:gd name="T23" fmla="*/ 3200 h 12800"/>
              <a:gd name="T24" fmla="*/ 12800 w 12800"/>
              <a:gd name="T25" fmla="*/ 4000 h 12800"/>
              <a:gd name="T26" fmla="*/ 12800 w 12800"/>
              <a:gd name="T27" fmla="*/ 12000 h 12800"/>
              <a:gd name="T28" fmla="*/ 12000 w 12800"/>
              <a:gd name="T29" fmla="*/ 12800 h 12800"/>
              <a:gd name="T30" fmla="*/ 8000 w 12800"/>
              <a:gd name="T31" fmla="*/ 1600 h 12800"/>
              <a:gd name="T32" fmla="*/ 1600 w 12800"/>
              <a:gd name="T33" fmla="*/ 1600 h 12800"/>
              <a:gd name="T34" fmla="*/ 1600 w 12800"/>
              <a:gd name="T35" fmla="*/ 8000 h 12800"/>
              <a:gd name="T36" fmla="*/ 3200 w 12800"/>
              <a:gd name="T37" fmla="*/ 8000 h 12800"/>
              <a:gd name="T38" fmla="*/ 3200 w 12800"/>
              <a:gd name="T39" fmla="*/ 4000 h 12800"/>
              <a:gd name="T40" fmla="*/ 4000 w 12800"/>
              <a:gd name="T41" fmla="*/ 3200 h 12800"/>
              <a:gd name="T42" fmla="*/ 8000 w 12800"/>
              <a:gd name="T43" fmla="*/ 3200 h 12800"/>
              <a:gd name="T44" fmla="*/ 8000 w 12800"/>
              <a:gd name="T45" fmla="*/ 1600 h 12800"/>
              <a:gd name="T46" fmla="*/ 11200 w 12800"/>
              <a:gd name="T47" fmla="*/ 4800 h 12800"/>
              <a:gd name="T48" fmla="*/ 9600 w 12800"/>
              <a:gd name="T49" fmla="*/ 4800 h 12800"/>
              <a:gd name="T50" fmla="*/ 9600 w 12800"/>
              <a:gd name="T51" fmla="*/ 8800 h 12800"/>
              <a:gd name="T52" fmla="*/ 8800 w 12800"/>
              <a:gd name="T53" fmla="*/ 9600 h 12800"/>
              <a:gd name="T54" fmla="*/ 4800 w 12800"/>
              <a:gd name="T55" fmla="*/ 9600 h 12800"/>
              <a:gd name="T56" fmla="*/ 4800 w 12800"/>
              <a:gd name="T57" fmla="*/ 11200 h 12800"/>
              <a:gd name="T58" fmla="*/ 11200 w 12800"/>
              <a:gd name="T59" fmla="*/ 11200 h 12800"/>
              <a:gd name="T60" fmla="*/ 11200 w 12800"/>
              <a:gd name="T61" fmla="*/ 480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00" h="12800">
                <a:moveTo>
                  <a:pt x="12000" y="12800"/>
                </a:moveTo>
                <a:lnTo>
                  <a:pt x="4000" y="12800"/>
                </a:lnTo>
                <a:cubicBezTo>
                  <a:pt x="3558" y="12800"/>
                  <a:pt x="3200" y="12442"/>
                  <a:pt x="3200" y="12000"/>
                </a:cubicBezTo>
                <a:lnTo>
                  <a:pt x="3200" y="9600"/>
                </a:lnTo>
                <a:lnTo>
                  <a:pt x="800" y="9600"/>
                </a:lnTo>
                <a:cubicBezTo>
                  <a:pt x="358" y="9600"/>
                  <a:pt x="0" y="9242"/>
                  <a:pt x="0" y="8800"/>
                </a:cubicBezTo>
                <a:lnTo>
                  <a:pt x="0" y="800"/>
                </a:lnTo>
                <a:cubicBezTo>
                  <a:pt x="0" y="358"/>
                  <a:pt x="358" y="0"/>
                  <a:pt x="800" y="0"/>
                </a:cubicBezTo>
                <a:lnTo>
                  <a:pt x="8800" y="0"/>
                </a:lnTo>
                <a:cubicBezTo>
                  <a:pt x="9242" y="0"/>
                  <a:pt x="9600" y="358"/>
                  <a:pt x="9600" y="800"/>
                </a:cubicBezTo>
                <a:lnTo>
                  <a:pt x="9600" y="3200"/>
                </a:lnTo>
                <a:lnTo>
                  <a:pt x="12000" y="3200"/>
                </a:lnTo>
                <a:cubicBezTo>
                  <a:pt x="12442" y="3200"/>
                  <a:pt x="12800" y="3558"/>
                  <a:pt x="12800" y="4000"/>
                </a:cubicBezTo>
                <a:lnTo>
                  <a:pt x="12800" y="12000"/>
                </a:lnTo>
                <a:cubicBezTo>
                  <a:pt x="12800" y="12442"/>
                  <a:pt x="12442" y="12800"/>
                  <a:pt x="12000" y="12800"/>
                </a:cubicBezTo>
                <a:close/>
                <a:moveTo>
                  <a:pt x="8000" y="1600"/>
                </a:moveTo>
                <a:lnTo>
                  <a:pt x="1600" y="1600"/>
                </a:lnTo>
                <a:lnTo>
                  <a:pt x="1600" y="8000"/>
                </a:lnTo>
                <a:lnTo>
                  <a:pt x="3200" y="8000"/>
                </a:lnTo>
                <a:lnTo>
                  <a:pt x="3200" y="4000"/>
                </a:lnTo>
                <a:cubicBezTo>
                  <a:pt x="3200" y="3558"/>
                  <a:pt x="3558" y="3200"/>
                  <a:pt x="4000" y="3200"/>
                </a:cubicBezTo>
                <a:lnTo>
                  <a:pt x="8000" y="3200"/>
                </a:lnTo>
                <a:lnTo>
                  <a:pt x="8000" y="1600"/>
                </a:lnTo>
                <a:close/>
                <a:moveTo>
                  <a:pt x="11200" y="4800"/>
                </a:moveTo>
                <a:lnTo>
                  <a:pt x="9600" y="4800"/>
                </a:lnTo>
                <a:lnTo>
                  <a:pt x="9600" y="8800"/>
                </a:lnTo>
                <a:cubicBezTo>
                  <a:pt x="9600" y="9242"/>
                  <a:pt x="9242" y="9600"/>
                  <a:pt x="8800" y="9600"/>
                </a:cubicBezTo>
                <a:lnTo>
                  <a:pt x="4800" y="9600"/>
                </a:lnTo>
                <a:lnTo>
                  <a:pt x="4800" y="11200"/>
                </a:lnTo>
                <a:lnTo>
                  <a:pt x="11200" y="11200"/>
                </a:lnTo>
                <a:lnTo>
                  <a:pt x="11200" y="4800"/>
                </a:lnTo>
                <a:close/>
              </a:path>
            </a:pathLst>
          </a:custGeom>
          <a:solidFill>
            <a:srgbClr val="FFFFFF"/>
          </a:solidFill>
          <a:ln>
            <a:noFill/>
          </a:ln>
        </p:spPr>
        <p:style>
          <a:lnRef idx="2">
            <a:srgbClr val="0042FF"/>
          </a:lnRef>
          <a:fillRef idx="1">
            <a:srgbClr val="668EFF"/>
          </a:fillRef>
          <a:effectRef idx="0">
            <a:srgbClr val="668EFF"/>
          </a:effectRef>
          <a:fontRef idx="minor">
            <a:srgbClr val="FFFFFF"/>
          </a:fontRef>
        </p:style>
        <p:txBody>
          <a:bodyPr rtlCol="0" anchor="ctr"/>
          <a:lstStyle/>
          <a:p>
            <a:pPr algn="ctr">
              <a:defRPr>
                <a:latin typeface="微软雅黑"/>
                <a:ea typeface="微软雅黑"/>
                <a:cs typeface="微软雅黑"/>
              </a:defRPr>
            </a:pPr>
            <a:endParaRPr lang="en-US" sz="1200" b="1">
              <a:solidFill>
                <a:srgbClr val="383838"/>
              </a:solidFill>
              <a:latin typeface="微软雅黑"/>
              <a:ea typeface="微软雅黑"/>
              <a:cs typeface="微软雅黑"/>
            </a:endParaRPr>
          </a:p>
        </p:txBody>
      </p:sp>
      <p:pic>
        <p:nvPicPr>
          <p:cNvPr id="57" name="图片 56" descr="303b333530343937363bc9e8b1b8b0f3b6a8"/>
          <p:cNvPicPr>
            <a:picLocks noChangeAspect="1"/>
          </p:cNvPicPr>
          <p:nvPr>
            <p:custDataLst>
              <p:tags r:id="rId36"/>
            </p:custDataLst>
          </p:nvPr>
        </p:nvPicPr>
        <p:blipFill>
          <a:blip r:embed="rId37">
            <a:extLst>
              <a:ext uri="{96DAC541-7B7A-43D3-8B79-37D633B846F1}">
                <asvg:svgBlip xmlns:asvg="http://schemas.microsoft.com/office/drawing/2016/SVG/main" r:embed="rId38"/>
              </a:ext>
            </a:extLst>
          </a:blip>
          <a:stretch>
            <a:fillRect/>
          </a:stretch>
        </p:blipFill>
        <p:spPr>
          <a:xfrm>
            <a:off x="3376930" y="3811905"/>
            <a:ext cx="161925" cy="189865"/>
          </a:xfrm>
          <a:prstGeom prst="rect">
            <a:avLst/>
          </a:prstGeom>
        </p:spPr>
      </p:pic>
      <p:sp>
        <p:nvSpPr>
          <p:cNvPr id="58" name="文本框 57"/>
          <p:cNvSpPr txBox="1"/>
          <p:nvPr>
            <p:custDataLst>
              <p:tags r:id="rId39"/>
            </p:custDataLst>
          </p:nvPr>
        </p:nvSpPr>
        <p:spPr>
          <a:xfrm flipH="1">
            <a:off x="1115060" y="3097530"/>
            <a:ext cx="330200" cy="460375"/>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置</a:t>
            </a:r>
            <a:endParaRPr lang="zh-CN" altLang="en-US" sz="1200" dirty="0">
              <a:solidFill>
                <a:srgbClr val="383838"/>
              </a:solidFill>
              <a:latin typeface="微软雅黑"/>
              <a:ea typeface="微软雅黑"/>
              <a:cs typeface="微软雅黑"/>
            </a:endParaRPr>
          </a:p>
          <a:p>
            <a:pPr>
              <a:defRPr>
                <a:latin typeface="微软雅黑"/>
                <a:ea typeface="微软雅黑"/>
                <a:cs typeface="微软雅黑"/>
              </a:defRPr>
            </a:pPr>
            <a:r>
              <a:rPr lang="zh-CN" altLang="en-US" sz="1200" dirty="0">
                <a:solidFill>
                  <a:srgbClr val="383838"/>
                </a:solidFill>
                <a:latin typeface="微软雅黑"/>
                <a:ea typeface="微软雅黑"/>
                <a:cs typeface="微软雅黑"/>
              </a:rPr>
              <a:t>换</a:t>
            </a:r>
            <a:endParaRPr lang="zh-CN" altLang="en-US" sz="1200" dirty="0">
              <a:solidFill>
                <a:srgbClr val="383838"/>
              </a:solidFill>
              <a:latin typeface="微软雅黑"/>
              <a:ea typeface="微软雅黑"/>
              <a:cs typeface="微软雅黑"/>
            </a:endParaRPr>
          </a:p>
        </p:txBody>
      </p:sp>
      <p:sp>
        <p:nvSpPr>
          <p:cNvPr id="59" name="椭圆 58"/>
          <p:cNvSpPr/>
          <p:nvPr>
            <p:custDataLst>
              <p:tags r:id="rId40"/>
            </p:custDataLst>
          </p:nvPr>
        </p:nvSpPr>
        <p:spPr>
          <a:xfrm>
            <a:off x="1393190" y="3255010"/>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1" name="椭圆 60"/>
          <p:cNvSpPr/>
          <p:nvPr>
            <p:custDataLst>
              <p:tags r:id="rId41"/>
            </p:custDataLst>
          </p:nvPr>
        </p:nvSpPr>
        <p:spPr>
          <a:xfrm>
            <a:off x="3600450" y="2503805"/>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2" name="椭圆 61"/>
          <p:cNvSpPr/>
          <p:nvPr>
            <p:custDataLst>
              <p:tags r:id="rId42"/>
            </p:custDataLst>
          </p:nvPr>
        </p:nvSpPr>
        <p:spPr>
          <a:xfrm>
            <a:off x="5057775" y="2499995"/>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5" name="椭圆 64"/>
          <p:cNvSpPr/>
          <p:nvPr>
            <p:custDataLst>
              <p:tags r:id="rId43"/>
            </p:custDataLst>
          </p:nvPr>
        </p:nvSpPr>
        <p:spPr>
          <a:xfrm>
            <a:off x="6515735" y="2499995"/>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6" name="椭圆 65"/>
          <p:cNvSpPr/>
          <p:nvPr>
            <p:custDataLst>
              <p:tags r:id="rId44"/>
            </p:custDataLst>
          </p:nvPr>
        </p:nvSpPr>
        <p:spPr>
          <a:xfrm>
            <a:off x="8034655" y="2496185"/>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7" name="椭圆 66"/>
          <p:cNvSpPr/>
          <p:nvPr>
            <p:custDataLst>
              <p:tags r:id="rId45"/>
            </p:custDataLst>
          </p:nvPr>
        </p:nvSpPr>
        <p:spPr>
          <a:xfrm>
            <a:off x="9375140" y="2499995"/>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71" name="椭圆 70"/>
          <p:cNvSpPr/>
          <p:nvPr>
            <p:custDataLst>
              <p:tags r:id="rId46"/>
            </p:custDataLst>
          </p:nvPr>
        </p:nvSpPr>
        <p:spPr>
          <a:xfrm>
            <a:off x="10889615" y="2503805"/>
            <a:ext cx="129600" cy="12960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72" name="椭圆 71"/>
          <p:cNvSpPr/>
          <p:nvPr>
            <p:custDataLst>
              <p:tags r:id="rId47"/>
            </p:custDataLst>
          </p:nvPr>
        </p:nvSpPr>
        <p:spPr>
          <a:xfrm>
            <a:off x="11507470" y="3270885"/>
            <a:ext cx="124460" cy="130810"/>
          </a:xfrm>
          <a:prstGeom prst="ellipse">
            <a:avLst/>
          </a:prstGeom>
          <a:solidFill>
            <a:srgbClr val="FFFFFF"/>
          </a:solidFill>
          <a:ln w="25400">
            <a:solidFill>
              <a:srgbClr val="B3D4FE"/>
            </a:solidFill>
          </a:ln>
        </p:spPr>
        <p:style>
          <a:lnRef idx="2">
            <a:srgbClr val="0042FF"/>
          </a:lnRef>
          <a:fillRef idx="1">
            <a:srgbClr val="668EFF"/>
          </a:fillRef>
          <a:effectRef idx="0">
            <a:srgbClr val="668E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73" name="文本框 72"/>
          <p:cNvSpPr txBox="1"/>
          <p:nvPr>
            <p:custDataLst>
              <p:tags r:id="rId48"/>
            </p:custDataLst>
          </p:nvPr>
        </p:nvSpPr>
        <p:spPr>
          <a:xfrm flipH="1">
            <a:off x="11586210" y="2968625"/>
            <a:ext cx="182880" cy="878205"/>
          </a:xfrm>
          <a:prstGeom prst="rect">
            <a:avLst/>
          </a:prstGeom>
          <a:noFill/>
        </p:spPr>
        <p:txBody>
          <a:bodyPr wrap="square" rtlCol="0">
            <a:no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系统升级</a:t>
            </a:r>
            <a:endParaRPr lang="zh-CN" altLang="en-US" sz="1200" dirty="0">
              <a:solidFill>
                <a:srgbClr val="383838"/>
              </a:solidFill>
              <a:latin typeface="微软雅黑"/>
              <a:ea typeface="微软雅黑"/>
              <a:cs typeface="微软雅黑"/>
            </a:endParaRPr>
          </a:p>
        </p:txBody>
      </p:sp>
      <p:pic>
        <p:nvPicPr>
          <p:cNvPr id="74" name="图片 73" descr="关键指标"/>
          <p:cNvPicPr>
            <a:picLocks noChangeAspect="1"/>
          </p:cNvPicPr>
          <p:nvPr/>
        </p:nvPicPr>
        <p:blipFill>
          <a:blip r:embed="rId49">
            <a:extLst>
              <a:ext uri="{96DAC541-7B7A-43D3-8B79-37D633B846F1}">
                <asvg:svgBlip xmlns:asvg="http://schemas.microsoft.com/office/drawing/2016/SVG/main" r:embed="rId50"/>
              </a:ext>
            </a:extLst>
          </a:blip>
          <a:stretch>
            <a:fillRect/>
          </a:stretch>
        </p:blipFill>
        <p:spPr>
          <a:xfrm>
            <a:off x="3342005" y="2789555"/>
            <a:ext cx="196850" cy="201295"/>
          </a:xfrm>
          <a:prstGeom prst="rect">
            <a:avLst/>
          </a:prstGeom>
        </p:spPr>
      </p:pic>
      <p:sp>
        <p:nvSpPr>
          <p:cNvPr id="75" name="圆角矩形 74"/>
          <p:cNvSpPr/>
          <p:nvPr/>
        </p:nvSpPr>
        <p:spPr>
          <a:xfrm>
            <a:off x="2082165" y="3206115"/>
            <a:ext cx="8918575" cy="454660"/>
          </a:xfrm>
          <a:prstGeom prst="roundRect">
            <a:avLst>
              <a:gd name="adj" fmla="val 50000"/>
            </a:avLst>
          </a:prstGeom>
          <a:no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b="1">
                <a:solidFill>
                  <a:srgbClr val="0042FF"/>
                </a:solidFill>
                <a:cs typeface="微软雅黑"/>
                <a:latin typeface="微软雅黑"/>
                <a:ea typeface="微软雅黑"/>
              </a:rPr>
              <a:t>客户生命周期全流程节点</a:t>
            </a:r>
            <a:endParaRPr lang="zh-CN" altLang="en-US" b="1">
              <a:solidFill>
                <a:srgbClr val="0042FF"/>
              </a:solidFill>
              <a:cs typeface="微软雅黑"/>
              <a:latin typeface="微软雅黑"/>
              <a:ea typeface="微软雅黑"/>
            </a:endParaRPr>
          </a:p>
        </p:txBody>
      </p:sp>
      <p:grpSp>
        <p:nvGrpSpPr>
          <p:cNvPr id="134" name="组合 133"/>
          <p:cNvGrpSpPr/>
          <p:nvPr/>
        </p:nvGrpSpPr>
        <p:grpSpPr>
          <a:xfrm>
            <a:off x="2700655" y="2499360"/>
            <a:ext cx="7573645" cy="124460"/>
            <a:chOff x="4253" y="3936"/>
            <a:chExt cx="11927" cy="196"/>
          </a:xfrm>
          <a:solidFill>
            <a:srgbClr val="B3D4FE"/>
          </a:solidFill>
        </p:grpSpPr>
        <p:sp>
          <p:nvSpPr>
            <p:cNvPr id="135" name="等腰三角形 134"/>
            <p:cNvSpPr/>
            <p:nvPr/>
          </p:nvSpPr>
          <p:spPr>
            <a:xfrm rot="5400000">
              <a:off x="4226"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36" name="等腰三角形 135"/>
            <p:cNvSpPr/>
            <p:nvPr/>
          </p:nvSpPr>
          <p:spPr>
            <a:xfrm rot="5400000">
              <a:off x="6791"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38" name="等腰三角形 137"/>
            <p:cNvSpPr/>
            <p:nvPr/>
          </p:nvSpPr>
          <p:spPr>
            <a:xfrm rot="5400000">
              <a:off x="9001"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39" name="等腰三角形 138"/>
            <p:cNvSpPr/>
            <p:nvPr/>
          </p:nvSpPr>
          <p:spPr>
            <a:xfrm rot="5400000">
              <a:off x="11576"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0" name="等腰三角形 139"/>
            <p:cNvSpPr/>
            <p:nvPr/>
          </p:nvSpPr>
          <p:spPr>
            <a:xfrm rot="5400000">
              <a:off x="13786"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1" name="等腰三角形 140"/>
            <p:cNvSpPr/>
            <p:nvPr/>
          </p:nvSpPr>
          <p:spPr>
            <a:xfrm rot="5400000">
              <a:off x="16011"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grpSp>
        <p:nvGrpSpPr>
          <p:cNvPr id="142" name="组合 141"/>
          <p:cNvGrpSpPr/>
          <p:nvPr/>
        </p:nvGrpSpPr>
        <p:grpSpPr>
          <a:xfrm flipH="1">
            <a:off x="2753995" y="4197985"/>
            <a:ext cx="7573645" cy="124460"/>
            <a:chOff x="4253" y="3936"/>
            <a:chExt cx="11927" cy="196"/>
          </a:xfrm>
          <a:solidFill>
            <a:srgbClr val="B3D4FE"/>
          </a:solidFill>
        </p:grpSpPr>
        <p:sp>
          <p:nvSpPr>
            <p:cNvPr id="143" name="等腰三角形 142"/>
            <p:cNvSpPr/>
            <p:nvPr/>
          </p:nvSpPr>
          <p:spPr>
            <a:xfrm rot="5400000">
              <a:off x="4226"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4" name="等腰三角形 143"/>
            <p:cNvSpPr/>
            <p:nvPr/>
          </p:nvSpPr>
          <p:spPr>
            <a:xfrm rot="5400000">
              <a:off x="6791"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7" name="等腰三角形 146"/>
            <p:cNvSpPr/>
            <p:nvPr/>
          </p:nvSpPr>
          <p:spPr>
            <a:xfrm rot="5400000">
              <a:off x="9001"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8" name="等腰三角形 147"/>
            <p:cNvSpPr/>
            <p:nvPr/>
          </p:nvSpPr>
          <p:spPr>
            <a:xfrm rot="5400000">
              <a:off x="11576"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9" name="等腰三角形 148"/>
            <p:cNvSpPr/>
            <p:nvPr/>
          </p:nvSpPr>
          <p:spPr>
            <a:xfrm rot="5400000">
              <a:off x="13786"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0" name="等腰三角形 149"/>
            <p:cNvSpPr/>
            <p:nvPr/>
          </p:nvSpPr>
          <p:spPr>
            <a:xfrm rot="5400000">
              <a:off x="16011" y="3963"/>
              <a:ext cx="196" cy="143"/>
            </a:xfrm>
            <a:prstGeom prst="triangle">
              <a:avLst/>
            </a:prstGeom>
            <a:grp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sp>
        <p:nvSpPr>
          <p:cNvPr id="155" name="等腰三角形 154"/>
          <p:cNvSpPr/>
          <p:nvPr/>
        </p:nvSpPr>
        <p:spPr>
          <a:xfrm flipH="1">
            <a:off x="1393190" y="3467100"/>
            <a:ext cx="124460" cy="90805"/>
          </a:xfrm>
          <a:prstGeom prst="triangle">
            <a:avLst/>
          </a:prstGeom>
          <a:solidFill>
            <a:srgbClr val="B3D4FE"/>
          </a:solid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6" name="等腰三角形 155"/>
          <p:cNvSpPr/>
          <p:nvPr/>
        </p:nvSpPr>
        <p:spPr>
          <a:xfrm rot="10800000">
            <a:off x="11497945" y="3630930"/>
            <a:ext cx="124460" cy="90805"/>
          </a:xfrm>
          <a:prstGeom prst="triangle">
            <a:avLst/>
          </a:prstGeom>
          <a:solidFill>
            <a:srgbClr val="B3D4FE"/>
          </a:solidFill>
          <a:ln w="25400" cmpd="sng">
            <a:noFill/>
            <a:prstDash val="solid"/>
          </a:ln>
        </p:spPr>
        <p:style>
          <a:lnRef idx="2">
            <a:srgbClr val="0042FF"/>
          </a:lnRef>
          <a:fillRef idx="1">
            <a:srgbClr val="668EFF"/>
          </a:fillRef>
          <a:effectRef idx="0">
            <a:srgbClr val="668E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7" name="文本框 156"/>
          <p:cNvSpPr txBox="1"/>
          <p:nvPr/>
        </p:nvSpPr>
        <p:spPr>
          <a:xfrm>
            <a:off x="125730" y="5562600"/>
            <a:ext cx="986155" cy="412750"/>
          </a:xfrm>
          <a:prstGeom prst="rect">
            <a:avLst/>
          </a:prstGeom>
          <a:noFill/>
        </p:spPr>
        <p:txBody>
          <a:bodyPr wrap="square" rtlCol="0">
            <a:noAutofit/>
          </a:bodyPr>
          <a:lstStyle/>
          <a:p>
            <a:pPr algn="ctr">
              <a:defRPr>
                <a:latin typeface="微软雅黑"/>
                <a:ea typeface="微软雅黑"/>
                <a:cs typeface="微软雅黑"/>
              </a:defRPr>
            </a:pPr>
            <a:r>
              <a:rPr lang="zh-CN" sz="1400" b="1" dirty="0">
                <a:solidFill>
                  <a:srgbClr val="383838"/>
                </a:solidFill>
                <a:latin typeface="微软雅黑"/>
                <a:ea typeface="微软雅黑"/>
                <a:cs typeface="微软雅黑"/>
              </a:rPr>
              <a:t>能力支撑</a:t>
            </a:r>
            <a:endParaRPr lang="zh-CN" sz="1400" b="1" dirty="0">
              <a:solidFill>
                <a:srgbClr val="383838"/>
              </a:solidFill>
              <a:latin typeface="微软雅黑"/>
              <a:ea typeface="微软雅黑"/>
              <a:cs typeface="微软雅黑"/>
            </a:endParaRPr>
          </a:p>
        </p:txBody>
      </p:sp>
      <p:cxnSp>
        <p:nvCxnSpPr>
          <p:cNvPr id="158" name="直接连接符 1187"/>
          <p:cNvCxnSpPr/>
          <p:nvPr/>
        </p:nvCxnSpPr>
        <p:spPr>
          <a:xfrm flipV="1">
            <a:off x="174422" y="6649633"/>
            <a:ext cx="930910" cy="7620"/>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cxnSp>
        <p:nvCxnSpPr>
          <p:cNvPr id="159" name="直接箭头连接符 1207"/>
          <p:cNvCxnSpPr/>
          <p:nvPr/>
        </p:nvCxnSpPr>
        <p:spPr>
          <a:xfrm flipV="1">
            <a:off x="541184" y="3813164"/>
            <a:ext cx="0" cy="1587500"/>
          </a:xfrm>
          <a:prstGeom prst="straightConnector1">
            <a:avLst/>
          </a:prstGeom>
          <a:ln>
            <a:solidFill>
              <a:srgbClr val="383838"/>
            </a:solidFill>
            <a:tailEnd type="triangle"/>
          </a:ln>
        </p:spPr>
        <p:style>
          <a:lnRef idx="1">
            <a:srgbClr val="0042FF"/>
          </a:lnRef>
          <a:fillRef idx="0">
            <a:srgbClr val="0042FF"/>
          </a:fillRef>
          <a:effectRef idx="0">
            <a:srgbClr val="0042FF"/>
          </a:effectRef>
          <a:fontRef idx="minor">
            <a:srgbClr val="383838"/>
          </a:fontRef>
        </p:style>
      </p:cxnSp>
      <p:cxnSp>
        <p:nvCxnSpPr>
          <p:cNvPr id="160" name="直接箭头连接符 1209"/>
          <p:cNvCxnSpPr/>
          <p:nvPr/>
        </p:nvCxnSpPr>
        <p:spPr>
          <a:xfrm>
            <a:off x="580977" y="6023579"/>
            <a:ext cx="4445" cy="556895"/>
          </a:xfrm>
          <a:prstGeom prst="straightConnector1">
            <a:avLst/>
          </a:prstGeom>
          <a:ln>
            <a:solidFill>
              <a:srgbClr val="383838"/>
            </a:solidFill>
            <a:tailEnd type="triangle"/>
          </a:ln>
        </p:spPr>
        <p:style>
          <a:lnRef idx="1">
            <a:srgbClr val="0042FF"/>
          </a:lnRef>
          <a:fillRef idx="0">
            <a:srgbClr val="0042FF"/>
          </a:fillRef>
          <a:effectRef idx="0">
            <a:srgbClr val="0042FF"/>
          </a:effectRef>
          <a:fontRef idx="minor">
            <a:srgbClr val="383838"/>
          </a:fontRef>
        </p:style>
      </p:cxnSp>
      <p:cxnSp>
        <p:nvCxnSpPr>
          <p:cNvPr id="162" name="直接连接符 1186"/>
          <p:cNvCxnSpPr/>
          <p:nvPr/>
        </p:nvCxnSpPr>
        <p:spPr>
          <a:xfrm flipV="1">
            <a:off x="249987" y="1138147"/>
            <a:ext cx="920115" cy="7620"/>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cxnSp>
        <p:nvCxnSpPr>
          <p:cNvPr id="163" name="直接箭头连接符 1207"/>
          <p:cNvCxnSpPr/>
          <p:nvPr/>
        </p:nvCxnSpPr>
        <p:spPr>
          <a:xfrm>
            <a:off x="668184" y="3857614"/>
            <a:ext cx="0" cy="1583690"/>
          </a:xfrm>
          <a:prstGeom prst="straightConnector1">
            <a:avLst/>
          </a:prstGeom>
          <a:ln>
            <a:solidFill>
              <a:srgbClr val="383838"/>
            </a:solidFill>
            <a:tailEnd type="triangle"/>
          </a:ln>
        </p:spPr>
        <p:style>
          <a:lnRef idx="1">
            <a:srgbClr val="0042FF"/>
          </a:lnRef>
          <a:fillRef idx="0">
            <a:srgbClr val="0042FF"/>
          </a:fillRef>
          <a:effectRef idx="0">
            <a:srgbClr val="0042FF"/>
          </a:effectRef>
          <a:fontRef idx="minor">
            <a:srgbClr val="383838"/>
          </a:fontRef>
        </p:style>
      </p:cxnSp>
      <p:sp>
        <p:nvSpPr>
          <p:cNvPr id="164" name="文本框 163"/>
          <p:cNvSpPr txBox="1"/>
          <p:nvPr>
            <p:custDataLst>
              <p:tags r:id="rId51"/>
            </p:custDataLst>
          </p:nvPr>
        </p:nvSpPr>
        <p:spPr>
          <a:xfrm flipH="1">
            <a:off x="238125" y="4046855"/>
            <a:ext cx="377190" cy="460375"/>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赋</a:t>
            </a:r>
            <a:endParaRPr lang="zh-CN" altLang="en-US" sz="1200" dirty="0">
              <a:solidFill>
                <a:srgbClr val="383838"/>
              </a:solidFill>
              <a:latin typeface="微软雅黑"/>
              <a:ea typeface="微软雅黑"/>
              <a:cs typeface="微软雅黑"/>
            </a:endParaRPr>
          </a:p>
          <a:p>
            <a:pPr>
              <a:defRPr>
                <a:latin typeface="微软雅黑"/>
                <a:ea typeface="微软雅黑"/>
                <a:cs typeface="微软雅黑"/>
              </a:defRPr>
            </a:pPr>
            <a:r>
              <a:rPr lang="zh-CN" altLang="en-US" sz="1200" dirty="0">
                <a:solidFill>
                  <a:srgbClr val="383838"/>
                </a:solidFill>
                <a:latin typeface="微软雅黑"/>
                <a:ea typeface="微软雅黑"/>
                <a:cs typeface="微软雅黑"/>
              </a:rPr>
              <a:t>能</a:t>
            </a:r>
            <a:endParaRPr lang="zh-CN" altLang="en-US" sz="1200" dirty="0">
              <a:solidFill>
                <a:srgbClr val="383838"/>
              </a:solidFill>
              <a:latin typeface="微软雅黑"/>
              <a:ea typeface="微软雅黑"/>
              <a:cs typeface="微软雅黑"/>
            </a:endParaRPr>
          </a:p>
        </p:txBody>
      </p:sp>
      <p:sp>
        <p:nvSpPr>
          <p:cNvPr id="165" name="文本框 164"/>
          <p:cNvSpPr txBox="1"/>
          <p:nvPr>
            <p:custDataLst>
              <p:tags r:id="rId52"/>
            </p:custDataLst>
          </p:nvPr>
        </p:nvSpPr>
        <p:spPr>
          <a:xfrm flipH="1">
            <a:off x="655320" y="4809490"/>
            <a:ext cx="377190" cy="460375"/>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诉求</a:t>
            </a:r>
            <a:endParaRPr lang="zh-CN" altLang="en-US" sz="1200" dirty="0">
              <a:solidFill>
                <a:srgbClr val="383838"/>
              </a:solidFill>
              <a:latin typeface="微软雅黑"/>
              <a:ea typeface="微软雅黑"/>
              <a:cs typeface="微软雅黑"/>
            </a:endParaRPr>
          </a:p>
        </p:txBody>
      </p:sp>
      <p:cxnSp>
        <p:nvCxnSpPr>
          <p:cNvPr id="166" name="直接箭头连接符 1209"/>
          <p:cNvCxnSpPr/>
          <p:nvPr/>
        </p:nvCxnSpPr>
        <p:spPr>
          <a:xfrm flipV="1">
            <a:off x="613997" y="1196944"/>
            <a:ext cx="3175" cy="412115"/>
          </a:xfrm>
          <a:prstGeom prst="straightConnector1">
            <a:avLst/>
          </a:prstGeom>
          <a:ln>
            <a:solidFill>
              <a:srgbClr val="383838"/>
            </a:solidFill>
            <a:tailEnd type="triangle"/>
          </a:ln>
        </p:spPr>
        <p:style>
          <a:lnRef idx="1">
            <a:srgbClr val="0042FF"/>
          </a:lnRef>
          <a:fillRef idx="0">
            <a:srgbClr val="0042FF"/>
          </a:fillRef>
          <a:effectRef idx="0">
            <a:srgbClr val="0042FF"/>
          </a:effectRef>
          <a:fontRef idx="minor">
            <a:srgbClr val="383838"/>
          </a:fontRef>
        </p:style>
      </p:cxnSp>
      <p:sp>
        <p:nvSpPr>
          <p:cNvPr id="168" name="文本框 167"/>
          <p:cNvSpPr txBox="1"/>
          <p:nvPr/>
        </p:nvSpPr>
        <p:spPr>
          <a:xfrm>
            <a:off x="146685" y="1680210"/>
            <a:ext cx="986155" cy="489585"/>
          </a:xfrm>
          <a:prstGeom prst="rect">
            <a:avLst/>
          </a:prstGeom>
          <a:noFill/>
        </p:spPr>
        <p:txBody>
          <a:bodyPr wrap="square" rtlCol="0">
            <a:noAutofit/>
          </a:bodyPr>
          <a:lstStyle/>
          <a:p>
            <a:pPr algn="ctr">
              <a:defRPr>
                <a:latin typeface="微软雅黑"/>
                <a:ea typeface="微软雅黑"/>
                <a:cs typeface="微软雅黑"/>
              </a:defRPr>
            </a:pPr>
            <a:r>
              <a:rPr lang="zh-CN" sz="1400" b="1" dirty="0">
                <a:solidFill>
                  <a:srgbClr val="383838"/>
                </a:solidFill>
                <a:latin typeface="微软雅黑"/>
                <a:ea typeface="微软雅黑"/>
                <a:cs typeface="微软雅黑"/>
              </a:rPr>
              <a:t>盈利能力</a:t>
            </a:r>
            <a:endParaRPr lang="zh-CN" sz="1400" b="1" dirty="0">
              <a:solidFill>
                <a:srgbClr val="383838"/>
              </a:solidFill>
              <a:latin typeface="微软雅黑"/>
              <a:ea typeface="微软雅黑"/>
              <a:cs typeface="微软雅黑"/>
            </a:endParaRPr>
          </a:p>
        </p:txBody>
      </p:sp>
      <p:grpSp>
        <p:nvGrpSpPr>
          <p:cNvPr id="169" name="组合 168"/>
          <p:cNvGrpSpPr/>
          <p:nvPr/>
        </p:nvGrpSpPr>
        <p:grpSpPr>
          <a:xfrm>
            <a:off x="541020" y="2020570"/>
            <a:ext cx="127000" cy="1381125"/>
            <a:chOff x="852" y="3091"/>
            <a:chExt cx="200" cy="2564"/>
          </a:xfrm>
        </p:grpSpPr>
        <p:cxnSp>
          <p:nvCxnSpPr>
            <p:cNvPr id="170" name="直接箭头连接符 1207"/>
            <p:cNvCxnSpPr/>
            <p:nvPr/>
          </p:nvCxnSpPr>
          <p:spPr>
            <a:xfrm flipV="1">
              <a:off x="852" y="3091"/>
              <a:ext cx="0" cy="2500"/>
            </a:xfrm>
            <a:prstGeom prst="straightConnector1">
              <a:avLst/>
            </a:prstGeom>
            <a:ln>
              <a:solidFill>
                <a:srgbClr val="383838"/>
              </a:solidFill>
              <a:tailEnd type="triangle"/>
            </a:ln>
          </p:spPr>
          <p:style>
            <a:lnRef idx="1">
              <a:srgbClr val="0042FF"/>
            </a:lnRef>
            <a:fillRef idx="0">
              <a:srgbClr val="0042FF"/>
            </a:fillRef>
            <a:effectRef idx="0">
              <a:srgbClr val="0042FF"/>
            </a:effectRef>
            <a:fontRef idx="minor">
              <a:srgbClr val="383838"/>
            </a:fontRef>
          </p:style>
        </p:cxnSp>
        <p:cxnSp>
          <p:nvCxnSpPr>
            <p:cNvPr id="172" name="直接箭头连接符 1207"/>
            <p:cNvCxnSpPr/>
            <p:nvPr/>
          </p:nvCxnSpPr>
          <p:spPr>
            <a:xfrm>
              <a:off x="1052" y="3161"/>
              <a:ext cx="0" cy="2494"/>
            </a:xfrm>
            <a:prstGeom prst="straightConnector1">
              <a:avLst/>
            </a:prstGeom>
            <a:ln>
              <a:solidFill>
                <a:srgbClr val="383838"/>
              </a:solidFill>
              <a:tailEnd type="triangle"/>
            </a:ln>
          </p:spPr>
          <p:style>
            <a:lnRef idx="1">
              <a:srgbClr val="0042FF"/>
            </a:lnRef>
            <a:fillRef idx="0">
              <a:srgbClr val="0042FF"/>
            </a:fillRef>
            <a:effectRef idx="0">
              <a:srgbClr val="0042FF"/>
            </a:effectRef>
            <a:fontRef idx="minor">
              <a:srgbClr val="383838"/>
            </a:fontRef>
          </p:style>
        </p:cxnSp>
      </p:grpSp>
      <p:sp>
        <p:nvSpPr>
          <p:cNvPr id="173" name="文本框 172"/>
          <p:cNvSpPr txBox="1"/>
          <p:nvPr>
            <p:custDataLst>
              <p:tags r:id="rId53"/>
            </p:custDataLst>
          </p:nvPr>
        </p:nvSpPr>
        <p:spPr>
          <a:xfrm flipH="1">
            <a:off x="228600" y="2094230"/>
            <a:ext cx="377190" cy="460375"/>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提升</a:t>
            </a:r>
            <a:endParaRPr lang="zh-CN" altLang="en-US" sz="1200" dirty="0">
              <a:solidFill>
                <a:srgbClr val="383838"/>
              </a:solidFill>
              <a:latin typeface="微软雅黑"/>
              <a:ea typeface="微软雅黑"/>
              <a:cs typeface="微软雅黑"/>
            </a:endParaRPr>
          </a:p>
        </p:txBody>
      </p:sp>
      <p:sp>
        <p:nvSpPr>
          <p:cNvPr id="174" name="文本框 173"/>
          <p:cNvSpPr txBox="1"/>
          <p:nvPr>
            <p:custDataLst>
              <p:tags r:id="rId54"/>
            </p:custDataLst>
          </p:nvPr>
        </p:nvSpPr>
        <p:spPr>
          <a:xfrm flipH="1">
            <a:off x="645795" y="2856865"/>
            <a:ext cx="377190" cy="460375"/>
          </a:xfrm>
          <a:prstGeom prst="rect">
            <a:avLst/>
          </a:prstGeom>
          <a:noFill/>
        </p:spPr>
        <p:txBody>
          <a:bodyPr wrap="squar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引领</a:t>
            </a:r>
            <a:endParaRPr lang="zh-CN" altLang="en-US" sz="1200" dirty="0">
              <a:solidFill>
                <a:srgbClr val="383838"/>
              </a:solidFill>
              <a:latin typeface="微软雅黑"/>
              <a:ea typeface="微软雅黑"/>
              <a:cs typeface="微软雅黑"/>
            </a:endParaRPr>
          </a:p>
        </p:txBody>
      </p:sp>
      <p:cxnSp>
        <p:nvCxnSpPr>
          <p:cNvPr id="42" name="直接连接符 1186"/>
          <p:cNvCxnSpPr/>
          <p:nvPr/>
        </p:nvCxnSpPr>
        <p:spPr>
          <a:xfrm flipV="1">
            <a:off x="102667" y="3558132"/>
            <a:ext cx="920115" cy="7620"/>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grpSp>
        <p:nvGrpSpPr>
          <p:cNvPr id="96" name="组合 95"/>
          <p:cNvGrpSpPr/>
          <p:nvPr/>
        </p:nvGrpSpPr>
        <p:grpSpPr>
          <a:xfrm>
            <a:off x="1132840" y="4653280"/>
            <a:ext cx="2672080" cy="2007235"/>
            <a:chOff x="1784" y="7328"/>
            <a:chExt cx="4208" cy="3161"/>
          </a:xfrm>
        </p:grpSpPr>
        <p:sp>
          <p:nvSpPr>
            <p:cNvPr id="76" name="矩形 75"/>
            <p:cNvSpPr/>
            <p:nvPr>
              <p:custDataLst>
                <p:tags r:id="rId55"/>
              </p:custDataLst>
            </p:nvPr>
          </p:nvSpPr>
          <p:spPr>
            <a:xfrm>
              <a:off x="1784" y="8053"/>
              <a:ext cx="4208" cy="2436"/>
            </a:xfrm>
            <a:prstGeom prst="rect">
              <a:avLst/>
            </a:prstGeom>
            <a:gradFill flip="none" rotWithShape="1">
              <a:gsLst>
                <a:gs pos="18000">
                  <a:srgbClr val="E6E6E6">
                    <a:alpha val="47000"/>
                  </a:srgbClr>
                </a:gs>
                <a:gs pos="100000">
                  <a:srgbClr val="E6E6E6">
                    <a:alpha val="0"/>
                  </a:srgbClr>
                </a:gs>
              </a:gsLst>
              <a:lin ang="5400000" scaled="1"/>
              <a:tileRect/>
            </a:gra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2" name="矩形: 圆角 138"/>
            <p:cNvSpPr/>
            <p:nvPr>
              <p:custDataLst>
                <p:tags r:id="rId56"/>
              </p:custDataLst>
            </p:nvPr>
          </p:nvSpPr>
          <p:spPr>
            <a:xfrm>
              <a:off x="2744" y="7789"/>
              <a:ext cx="2340" cy="610"/>
            </a:xfrm>
            <a:prstGeom prst="roundRect">
              <a:avLst>
                <a:gd name="adj" fmla="val 8930"/>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sym typeface="微软雅黑"/>
                </a:rPr>
                <a:t>数字化系统支撑</a:t>
              </a:r>
              <a:endParaRPr lang="zh-CN" altLang="en-US" sz="1200" b="1">
                <a:solidFill>
                  <a:srgbClr val="FFFFFF"/>
                </a:solidFill>
                <a:latin typeface="微软雅黑"/>
                <a:ea typeface="微软雅黑"/>
                <a:cs typeface="微软雅黑"/>
                <a:sym typeface="微软雅黑"/>
              </a:endParaRPr>
            </a:p>
          </p:txBody>
        </p:sp>
        <p:grpSp>
          <p:nvGrpSpPr>
            <p:cNvPr id="2" name="组合 1"/>
            <p:cNvGrpSpPr/>
            <p:nvPr/>
          </p:nvGrpSpPr>
          <p:grpSpPr>
            <a:xfrm>
              <a:off x="3471" y="7328"/>
              <a:ext cx="924" cy="460"/>
              <a:chOff x="3471" y="7328"/>
              <a:chExt cx="924" cy="460"/>
            </a:xfrm>
          </p:grpSpPr>
          <p:sp>
            <p:nvSpPr>
              <p:cNvPr id="84" name="箭头: 下 47"/>
              <p:cNvSpPr/>
              <p:nvPr>
                <p:custDataLst>
                  <p:tags r:id="rId57"/>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85" name="箭头: 下 47"/>
              <p:cNvSpPr/>
              <p:nvPr>
                <p:custDataLst>
                  <p:tags r:id="rId58"/>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45" name="显眼包PPT-6"/>
            <p:cNvSpPr/>
            <p:nvPr/>
          </p:nvSpPr>
          <p:spPr>
            <a:xfrm>
              <a:off x="1957"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客户手机</a:t>
              </a:r>
              <a:r>
                <a:rPr lang="en-US" altLang="zh-CN" sz="1200" dirty="0">
                  <a:solidFill>
                    <a:srgbClr val="0042FF"/>
                  </a:solidFill>
                  <a:latin typeface="微软雅黑"/>
                  <a:ea typeface="微软雅黑"/>
                  <a:cs typeface="微软雅黑"/>
                </a:rPr>
                <a:t>APP</a:t>
              </a:r>
              <a:endParaRPr lang="en-US" altLang="zh-CN" sz="1200" dirty="0">
                <a:solidFill>
                  <a:srgbClr val="0042FF"/>
                </a:solidFill>
                <a:latin typeface="微软雅黑"/>
                <a:ea typeface="微软雅黑"/>
                <a:cs typeface="微软雅黑"/>
              </a:endParaRPr>
            </a:p>
          </p:txBody>
        </p:sp>
        <p:sp>
          <p:nvSpPr>
            <p:cNvPr id="70" name="显眼包PPT-6"/>
            <p:cNvSpPr/>
            <p:nvPr/>
          </p:nvSpPr>
          <p:spPr>
            <a:xfrm>
              <a:off x="3988"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企业微信</a:t>
              </a:r>
              <a:endParaRPr lang="zh-CN" altLang="en-US" sz="1200" dirty="0">
                <a:solidFill>
                  <a:srgbClr val="0042FF"/>
                </a:solidFill>
                <a:latin typeface="微软雅黑"/>
                <a:ea typeface="微软雅黑"/>
                <a:cs typeface="微软雅黑"/>
              </a:endParaRPr>
            </a:p>
          </p:txBody>
        </p:sp>
        <p:sp>
          <p:nvSpPr>
            <p:cNvPr id="78" name="显眼包PPT-6"/>
            <p:cNvSpPr/>
            <p:nvPr/>
          </p:nvSpPr>
          <p:spPr>
            <a:xfrm>
              <a:off x="1957"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营销系统工具</a:t>
              </a:r>
              <a:endParaRPr lang="zh-CN" altLang="en-US" sz="1200" dirty="0">
                <a:solidFill>
                  <a:srgbClr val="0042FF"/>
                </a:solidFill>
                <a:latin typeface="微软雅黑"/>
                <a:ea typeface="微软雅黑"/>
                <a:cs typeface="微软雅黑"/>
              </a:endParaRPr>
            </a:p>
          </p:txBody>
        </p:sp>
        <p:sp>
          <p:nvSpPr>
            <p:cNvPr id="83" name="显眼包PPT-6"/>
            <p:cNvSpPr/>
            <p:nvPr/>
          </p:nvSpPr>
          <p:spPr>
            <a:xfrm>
              <a:off x="3988"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销售系统</a:t>
              </a:r>
              <a:endParaRPr lang="zh-CN" altLang="en-US" sz="1200" dirty="0">
                <a:solidFill>
                  <a:srgbClr val="0042FF"/>
                </a:solidFill>
                <a:latin typeface="微软雅黑"/>
                <a:ea typeface="微软雅黑"/>
                <a:cs typeface="微软雅黑"/>
              </a:endParaRPr>
            </a:p>
          </p:txBody>
        </p:sp>
        <p:sp>
          <p:nvSpPr>
            <p:cNvPr id="89" name="显眼包PPT-6"/>
            <p:cNvSpPr/>
            <p:nvPr/>
          </p:nvSpPr>
          <p:spPr>
            <a:xfrm>
              <a:off x="1957"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en-US" altLang="zh-CN" sz="1200" dirty="0">
                  <a:solidFill>
                    <a:srgbClr val="0042FF"/>
                  </a:solidFill>
                  <a:latin typeface="微软雅黑"/>
                  <a:ea typeface="微软雅黑"/>
                  <a:cs typeface="微软雅黑"/>
                </a:rPr>
                <a:t>SCRM</a:t>
              </a:r>
              <a:r>
                <a:rPr lang="zh-CN" altLang="en-US" sz="1200" dirty="0">
                  <a:solidFill>
                    <a:srgbClr val="0042FF"/>
                  </a:solidFill>
                  <a:latin typeface="微软雅黑"/>
                  <a:ea typeface="微软雅黑"/>
                  <a:cs typeface="微软雅黑"/>
                </a:rPr>
                <a:t>系统</a:t>
              </a:r>
              <a:endParaRPr lang="zh-CN" altLang="en-US" sz="1200" dirty="0">
                <a:solidFill>
                  <a:srgbClr val="0042FF"/>
                </a:solidFill>
                <a:latin typeface="微软雅黑"/>
                <a:ea typeface="微软雅黑"/>
                <a:cs typeface="微软雅黑"/>
              </a:endParaRPr>
            </a:p>
          </p:txBody>
        </p:sp>
        <p:sp>
          <p:nvSpPr>
            <p:cNvPr id="90" name="显眼包PPT-6"/>
            <p:cNvSpPr/>
            <p:nvPr/>
          </p:nvSpPr>
          <p:spPr>
            <a:xfrm>
              <a:off x="3988"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en-US" altLang="zh-CN" sz="1200" dirty="0">
                  <a:solidFill>
                    <a:srgbClr val="0042FF"/>
                  </a:solidFill>
                  <a:latin typeface="微软雅黑"/>
                  <a:ea typeface="微软雅黑"/>
                  <a:cs typeface="微软雅黑"/>
                </a:rPr>
                <a:t>ERP</a:t>
              </a:r>
              <a:r>
                <a:rPr lang="zh-CN" altLang="en-US" sz="1200" dirty="0">
                  <a:solidFill>
                    <a:srgbClr val="0042FF"/>
                  </a:solidFill>
                  <a:latin typeface="微软雅黑"/>
                  <a:ea typeface="微软雅黑"/>
                  <a:cs typeface="微软雅黑"/>
                </a:rPr>
                <a:t>系统</a:t>
              </a:r>
              <a:endParaRPr lang="zh-CN" altLang="en-US" sz="1200" dirty="0">
                <a:solidFill>
                  <a:srgbClr val="0042FF"/>
                </a:solidFill>
                <a:latin typeface="微软雅黑"/>
                <a:ea typeface="微软雅黑"/>
                <a:cs typeface="微软雅黑"/>
              </a:endParaRPr>
            </a:p>
          </p:txBody>
        </p:sp>
      </p:grpSp>
      <p:grpSp>
        <p:nvGrpSpPr>
          <p:cNvPr id="180" name="组合 179"/>
          <p:cNvGrpSpPr/>
          <p:nvPr/>
        </p:nvGrpSpPr>
        <p:grpSpPr>
          <a:xfrm>
            <a:off x="3943350" y="4642485"/>
            <a:ext cx="2464435" cy="2007235"/>
            <a:chOff x="1784" y="7328"/>
            <a:chExt cx="4208" cy="3161"/>
          </a:xfrm>
        </p:grpSpPr>
        <p:sp>
          <p:nvSpPr>
            <p:cNvPr id="181" name="矩形 180"/>
            <p:cNvSpPr/>
            <p:nvPr>
              <p:custDataLst>
                <p:tags r:id="rId59"/>
              </p:custDataLst>
            </p:nvPr>
          </p:nvSpPr>
          <p:spPr>
            <a:xfrm>
              <a:off x="1784" y="8053"/>
              <a:ext cx="4208" cy="2436"/>
            </a:xfrm>
            <a:prstGeom prst="rect">
              <a:avLst/>
            </a:prstGeom>
            <a:gradFill flip="none" rotWithShape="1">
              <a:gsLst>
                <a:gs pos="18000">
                  <a:srgbClr val="E6E6E6">
                    <a:alpha val="47000"/>
                  </a:srgbClr>
                </a:gs>
                <a:gs pos="100000">
                  <a:srgbClr val="E6E6E6">
                    <a:alpha val="0"/>
                  </a:srgbClr>
                </a:gs>
              </a:gsLst>
              <a:lin ang="5400000" scaled="1"/>
              <a:tileRect/>
            </a:gra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82" name="矩形: 圆角 138"/>
            <p:cNvSpPr/>
            <p:nvPr>
              <p:custDataLst>
                <p:tags r:id="rId60"/>
              </p:custDataLst>
            </p:nvPr>
          </p:nvSpPr>
          <p:spPr>
            <a:xfrm>
              <a:off x="2645" y="7789"/>
              <a:ext cx="2536" cy="610"/>
            </a:xfrm>
            <a:prstGeom prst="roundRect">
              <a:avLst>
                <a:gd name="adj" fmla="val 8930"/>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sym typeface="微软雅黑"/>
                </a:rPr>
                <a:t>精益业务运营</a:t>
              </a:r>
              <a:endParaRPr lang="zh-CN" altLang="en-US" sz="1200" b="1">
                <a:solidFill>
                  <a:srgbClr val="FFFFFF"/>
                </a:solidFill>
                <a:latin typeface="微软雅黑"/>
                <a:ea typeface="微软雅黑"/>
                <a:cs typeface="微软雅黑"/>
                <a:sym typeface="微软雅黑"/>
              </a:endParaRPr>
            </a:p>
          </p:txBody>
        </p:sp>
        <p:grpSp>
          <p:nvGrpSpPr>
            <p:cNvPr id="183" name="组合 182"/>
            <p:cNvGrpSpPr/>
            <p:nvPr/>
          </p:nvGrpSpPr>
          <p:grpSpPr>
            <a:xfrm>
              <a:off x="3471" y="7328"/>
              <a:ext cx="924" cy="460"/>
              <a:chOff x="3471" y="7328"/>
              <a:chExt cx="924" cy="460"/>
            </a:xfrm>
          </p:grpSpPr>
          <p:sp>
            <p:nvSpPr>
              <p:cNvPr id="184" name="箭头: 下 47"/>
              <p:cNvSpPr/>
              <p:nvPr>
                <p:custDataLst>
                  <p:tags r:id="rId61"/>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5" name="箭头: 下 47"/>
              <p:cNvSpPr/>
              <p:nvPr>
                <p:custDataLst>
                  <p:tags r:id="rId62"/>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186" name="显眼包PPT-6"/>
            <p:cNvSpPr/>
            <p:nvPr/>
          </p:nvSpPr>
          <p:spPr>
            <a:xfrm>
              <a:off x="1957"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精准策略</a:t>
              </a:r>
              <a:endParaRPr lang="zh-CN" altLang="en-US" sz="1200" dirty="0">
                <a:solidFill>
                  <a:srgbClr val="0042FF"/>
                </a:solidFill>
                <a:latin typeface="微软雅黑"/>
                <a:ea typeface="微软雅黑"/>
                <a:cs typeface="微软雅黑"/>
              </a:endParaRPr>
            </a:p>
          </p:txBody>
        </p:sp>
        <p:sp>
          <p:nvSpPr>
            <p:cNvPr id="187" name="显眼包PPT-6"/>
            <p:cNvSpPr/>
            <p:nvPr/>
          </p:nvSpPr>
          <p:spPr>
            <a:xfrm>
              <a:off x="3988"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靶向治疗</a:t>
              </a:r>
              <a:endParaRPr lang="zh-CN" altLang="en-US" sz="1200" dirty="0">
                <a:solidFill>
                  <a:srgbClr val="0042FF"/>
                </a:solidFill>
                <a:latin typeface="微软雅黑"/>
                <a:ea typeface="微软雅黑"/>
                <a:cs typeface="微软雅黑"/>
              </a:endParaRPr>
            </a:p>
          </p:txBody>
        </p:sp>
        <p:sp>
          <p:nvSpPr>
            <p:cNvPr id="188" name="显眼包PPT-6"/>
            <p:cNvSpPr/>
            <p:nvPr/>
          </p:nvSpPr>
          <p:spPr>
            <a:xfrm>
              <a:off x="1957"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营销自动化</a:t>
              </a:r>
              <a:endParaRPr lang="zh-CN" altLang="en-US" sz="1200" dirty="0">
                <a:solidFill>
                  <a:srgbClr val="0042FF"/>
                </a:solidFill>
                <a:latin typeface="微软雅黑"/>
                <a:ea typeface="微软雅黑"/>
                <a:cs typeface="微软雅黑"/>
              </a:endParaRPr>
            </a:p>
          </p:txBody>
        </p:sp>
        <p:sp>
          <p:nvSpPr>
            <p:cNvPr id="189" name="显眼包PPT-6"/>
            <p:cNvSpPr/>
            <p:nvPr/>
          </p:nvSpPr>
          <p:spPr>
            <a:xfrm>
              <a:off x="3988"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执行透明</a:t>
              </a:r>
              <a:endParaRPr lang="zh-CN" altLang="en-US" sz="1200" dirty="0">
                <a:solidFill>
                  <a:srgbClr val="0042FF"/>
                </a:solidFill>
                <a:latin typeface="微软雅黑"/>
                <a:ea typeface="微软雅黑"/>
                <a:cs typeface="微软雅黑"/>
              </a:endParaRPr>
            </a:p>
          </p:txBody>
        </p:sp>
        <p:sp>
          <p:nvSpPr>
            <p:cNvPr id="190" name="显眼包PPT-6"/>
            <p:cNvSpPr/>
            <p:nvPr/>
          </p:nvSpPr>
          <p:spPr>
            <a:xfrm>
              <a:off x="1957"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sz="1200" dirty="0">
                  <a:solidFill>
                    <a:srgbClr val="0042FF"/>
                  </a:solidFill>
                  <a:latin typeface="微软雅黑"/>
                  <a:ea typeface="微软雅黑"/>
                  <a:cs typeface="微软雅黑"/>
                </a:rPr>
                <a:t>业绩有效</a:t>
              </a:r>
              <a:endParaRPr lang="zh-CN" sz="1200" dirty="0">
                <a:solidFill>
                  <a:srgbClr val="0042FF"/>
                </a:solidFill>
                <a:latin typeface="微软雅黑"/>
                <a:ea typeface="微软雅黑"/>
                <a:cs typeface="微软雅黑"/>
              </a:endParaRPr>
            </a:p>
          </p:txBody>
        </p:sp>
        <p:sp>
          <p:nvSpPr>
            <p:cNvPr id="191" name="显眼包PPT-6"/>
            <p:cNvSpPr/>
            <p:nvPr/>
          </p:nvSpPr>
          <p:spPr>
            <a:xfrm>
              <a:off x="3988"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sz="1200" dirty="0">
                  <a:solidFill>
                    <a:srgbClr val="0042FF"/>
                  </a:solidFill>
                  <a:latin typeface="微软雅黑"/>
                  <a:ea typeface="微软雅黑"/>
                  <a:cs typeface="微软雅黑"/>
                </a:rPr>
                <a:t>标杆可比</a:t>
              </a:r>
              <a:endParaRPr lang="zh-CN" sz="1200" dirty="0">
                <a:solidFill>
                  <a:srgbClr val="0042FF"/>
                </a:solidFill>
                <a:latin typeface="微软雅黑"/>
                <a:ea typeface="微软雅黑"/>
                <a:cs typeface="微软雅黑"/>
              </a:endParaRPr>
            </a:p>
          </p:txBody>
        </p:sp>
      </p:grpSp>
      <p:grpSp>
        <p:nvGrpSpPr>
          <p:cNvPr id="216" name="组合 215"/>
          <p:cNvGrpSpPr/>
          <p:nvPr/>
        </p:nvGrpSpPr>
        <p:grpSpPr>
          <a:xfrm>
            <a:off x="6532245" y="4642485"/>
            <a:ext cx="2567305" cy="2007235"/>
            <a:chOff x="1784" y="7328"/>
            <a:chExt cx="4208" cy="3161"/>
          </a:xfrm>
        </p:grpSpPr>
        <p:sp>
          <p:nvSpPr>
            <p:cNvPr id="217" name="矩形 216"/>
            <p:cNvSpPr/>
            <p:nvPr>
              <p:custDataLst>
                <p:tags r:id="rId63"/>
              </p:custDataLst>
            </p:nvPr>
          </p:nvSpPr>
          <p:spPr>
            <a:xfrm>
              <a:off x="1784" y="8053"/>
              <a:ext cx="4208" cy="2436"/>
            </a:xfrm>
            <a:prstGeom prst="rect">
              <a:avLst/>
            </a:prstGeom>
            <a:gradFill flip="none" rotWithShape="1">
              <a:gsLst>
                <a:gs pos="18000">
                  <a:srgbClr val="E6E6E6">
                    <a:alpha val="47000"/>
                  </a:srgbClr>
                </a:gs>
                <a:gs pos="100000">
                  <a:srgbClr val="E6E6E6">
                    <a:alpha val="0"/>
                  </a:srgbClr>
                </a:gs>
              </a:gsLst>
              <a:lin ang="5400000" scaled="1"/>
              <a:tileRect/>
            </a:gra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18" name="矩形: 圆角 138"/>
            <p:cNvSpPr/>
            <p:nvPr>
              <p:custDataLst>
                <p:tags r:id="rId64"/>
              </p:custDataLst>
            </p:nvPr>
          </p:nvSpPr>
          <p:spPr>
            <a:xfrm>
              <a:off x="2595" y="7806"/>
              <a:ext cx="2435" cy="610"/>
            </a:xfrm>
            <a:prstGeom prst="roundRect">
              <a:avLst>
                <a:gd name="adj" fmla="val 8930"/>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sym typeface="微软雅黑"/>
                </a:rPr>
                <a:t>客户服务管理</a:t>
              </a:r>
              <a:endParaRPr lang="zh-CN" altLang="en-US" sz="1200" b="1">
                <a:solidFill>
                  <a:srgbClr val="FFFFFF"/>
                </a:solidFill>
                <a:latin typeface="微软雅黑"/>
                <a:ea typeface="微软雅黑"/>
                <a:cs typeface="微软雅黑"/>
                <a:sym typeface="微软雅黑"/>
              </a:endParaRPr>
            </a:p>
          </p:txBody>
        </p:sp>
        <p:grpSp>
          <p:nvGrpSpPr>
            <p:cNvPr id="219" name="组合 218"/>
            <p:cNvGrpSpPr/>
            <p:nvPr/>
          </p:nvGrpSpPr>
          <p:grpSpPr>
            <a:xfrm>
              <a:off x="3471" y="7328"/>
              <a:ext cx="924" cy="460"/>
              <a:chOff x="3471" y="7328"/>
              <a:chExt cx="924" cy="460"/>
            </a:xfrm>
          </p:grpSpPr>
          <p:sp>
            <p:nvSpPr>
              <p:cNvPr id="220" name="箭头: 下 47"/>
              <p:cNvSpPr/>
              <p:nvPr>
                <p:custDataLst>
                  <p:tags r:id="rId65"/>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21" name="箭头: 下 47"/>
              <p:cNvSpPr/>
              <p:nvPr>
                <p:custDataLst>
                  <p:tags r:id="rId66"/>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222" name="显眼包PPT-6"/>
            <p:cNvSpPr/>
            <p:nvPr/>
          </p:nvSpPr>
          <p:spPr>
            <a:xfrm>
              <a:off x="1957"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sz="1200" dirty="0">
                  <a:solidFill>
                    <a:srgbClr val="0042FF"/>
                  </a:solidFill>
                  <a:latin typeface="微软雅黑"/>
                  <a:ea typeface="微软雅黑"/>
                  <a:cs typeface="微软雅黑"/>
                </a:rPr>
                <a:t>服务数字化</a:t>
              </a:r>
              <a:endParaRPr lang="zh-CN" sz="1200" dirty="0">
                <a:solidFill>
                  <a:srgbClr val="0042FF"/>
                </a:solidFill>
                <a:latin typeface="微软雅黑"/>
                <a:ea typeface="微软雅黑"/>
                <a:cs typeface="微软雅黑"/>
              </a:endParaRPr>
            </a:p>
          </p:txBody>
        </p:sp>
        <p:sp>
          <p:nvSpPr>
            <p:cNvPr id="223" name="显眼包PPT-6"/>
            <p:cNvSpPr/>
            <p:nvPr/>
          </p:nvSpPr>
          <p:spPr>
            <a:xfrm>
              <a:off x="3988"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全流程监测</a:t>
              </a:r>
              <a:endParaRPr lang="zh-CN" altLang="en-US" sz="1200" dirty="0">
                <a:solidFill>
                  <a:srgbClr val="0042FF"/>
                </a:solidFill>
                <a:latin typeface="微软雅黑"/>
                <a:ea typeface="微软雅黑"/>
                <a:cs typeface="微软雅黑"/>
              </a:endParaRPr>
            </a:p>
          </p:txBody>
        </p:sp>
        <p:sp>
          <p:nvSpPr>
            <p:cNvPr id="224" name="显眼包PPT-6"/>
            <p:cNvSpPr/>
            <p:nvPr/>
          </p:nvSpPr>
          <p:spPr>
            <a:xfrm>
              <a:off x="1957"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统一服务标准</a:t>
              </a:r>
              <a:endParaRPr lang="zh-CN" altLang="en-US" sz="1200" dirty="0">
                <a:solidFill>
                  <a:srgbClr val="0042FF"/>
                </a:solidFill>
                <a:latin typeface="微软雅黑"/>
                <a:ea typeface="微软雅黑"/>
                <a:cs typeface="微软雅黑"/>
              </a:endParaRPr>
            </a:p>
          </p:txBody>
        </p:sp>
        <p:sp>
          <p:nvSpPr>
            <p:cNvPr id="225" name="显眼包PPT-6"/>
            <p:cNvSpPr/>
            <p:nvPr/>
          </p:nvSpPr>
          <p:spPr>
            <a:xfrm>
              <a:off x="3988"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en-US" altLang="zh-CN" sz="1200" dirty="0">
                  <a:solidFill>
                    <a:srgbClr val="0042FF"/>
                  </a:solidFill>
                  <a:latin typeface="微软雅黑"/>
                  <a:ea typeface="微软雅黑"/>
                  <a:cs typeface="微软雅黑"/>
                </a:rPr>
                <a:t>AI</a:t>
              </a:r>
              <a:r>
                <a:rPr lang="zh-CN" altLang="en-US" sz="1200" dirty="0">
                  <a:solidFill>
                    <a:srgbClr val="0042FF"/>
                  </a:solidFill>
                  <a:latin typeface="微软雅黑"/>
                  <a:ea typeface="微软雅黑"/>
                  <a:cs typeface="微软雅黑"/>
                </a:rPr>
                <a:t>客服接管</a:t>
              </a:r>
              <a:endParaRPr lang="zh-CN" altLang="en-US" sz="1200" dirty="0">
                <a:solidFill>
                  <a:srgbClr val="0042FF"/>
                </a:solidFill>
                <a:latin typeface="微软雅黑"/>
                <a:ea typeface="微软雅黑"/>
                <a:cs typeface="微软雅黑"/>
              </a:endParaRPr>
            </a:p>
          </p:txBody>
        </p:sp>
        <p:sp>
          <p:nvSpPr>
            <p:cNvPr id="226" name="显眼包PPT-6"/>
            <p:cNvSpPr/>
            <p:nvPr/>
          </p:nvSpPr>
          <p:spPr>
            <a:xfrm>
              <a:off x="1957"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售前售后衔接</a:t>
              </a:r>
              <a:endParaRPr lang="zh-CN" altLang="en-US" sz="1200" dirty="0">
                <a:solidFill>
                  <a:srgbClr val="0042FF"/>
                </a:solidFill>
                <a:latin typeface="微软雅黑"/>
                <a:ea typeface="微软雅黑"/>
                <a:cs typeface="微软雅黑"/>
              </a:endParaRPr>
            </a:p>
          </p:txBody>
        </p:sp>
        <p:sp>
          <p:nvSpPr>
            <p:cNvPr id="227" name="显眼包PPT-6"/>
            <p:cNvSpPr/>
            <p:nvPr/>
          </p:nvSpPr>
          <p:spPr>
            <a:xfrm>
              <a:off x="3988"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客户回访调研</a:t>
              </a:r>
              <a:endParaRPr lang="zh-CN" altLang="en-US" sz="1200" dirty="0">
                <a:solidFill>
                  <a:srgbClr val="0042FF"/>
                </a:solidFill>
                <a:latin typeface="微软雅黑"/>
                <a:ea typeface="微软雅黑"/>
                <a:cs typeface="微软雅黑"/>
              </a:endParaRPr>
            </a:p>
          </p:txBody>
        </p:sp>
      </p:grpSp>
      <p:grpSp>
        <p:nvGrpSpPr>
          <p:cNvPr id="228" name="组合 227"/>
          <p:cNvGrpSpPr/>
          <p:nvPr/>
        </p:nvGrpSpPr>
        <p:grpSpPr>
          <a:xfrm>
            <a:off x="9237980" y="4653280"/>
            <a:ext cx="2531110" cy="2007235"/>
            <a:chOff x="1784" y="7328"/>
            <a:chExt cx="4208" cy="3161"/>
          </a:xfrm>
        </p:grpSpPr>
        <p:sp>
          <p:nvSpPr>
            <p:cNvPr id="229" name="矩形 228"/>
            <p:cNvSpPr/>
            <p:nvPr>
              <p:custDataLst>
                <p:tags r:id="rId67"/>
              </p:custDataLst>
            </p:nvPr>
          </p:nvSpPr>
          <p:spPr>
            <a:xfrm>
              <a:off x="1784" y="8053"/>
              <a:ext cx="4208" cy="2436"/>
            </a:xfrm>
            <a:prstGeom prst="rect">
              <a:avLst/>
            </a:prstGeom>
            <a:gradFill flip="none" rotWithShape="1">
              <a:gsLst>
                <a:gs pos="18000">
                  <a:srgbClr val="E6E6E6">
                    <a:alpha val="47000"/>
                  </a:srgbClr>
                </a:gs>
                <a:gs pos="100000">
                  <a:srgbClr val="E6E6E6">
                    <a:alpha val="0"/>
                  </a:srgbClr>
                </a:gs>
              </a:gsLst>
              <a:lin ang="5400000" scaled="1"/>
              <a:tileRect/>
            </a:gra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30" name="矩形: 圆角 138"/>
            <p:cNvSpPr/>
            <p:nvPr>
              <p:custDataLst>
                <p:tags r:id="rId68"/>
              </p:custDataLst>
            </p:nvPr>
          </p:nvSpPr>
          <p:spPr>
            <a:xfrm>
              <a:off x="2645" y="7789"/>
              <a:ext cx="2536" cy="610"/>
            </a:xfrm>
            <a:prstGeom prst="roundRect">
              <a:avLst>
                <a:gd name="adj" fmla="val 8930"/>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sym typeface="微软雅黑"/>
                </a:rPr>
                <a:t>有形管理体系</a:t>
              </a:r>
              <a:endParaRPr lang="zh-CN" altLang="en-US" sz="1200" b="1">
                <a:solidFill>
                  <a:srgbClr val="FFFFFF"/>
                </a:solidFill>
                <a:latin typeface="微软雅黑"/>
                <a:ea typeface="微软雅黑"/>
                <a:cs typeface="微软雅黑"/>
                <a:sym typeface="微软雅黑"/>
              </a:endParaRPr>
            </a:p>
          </p:txBody>
        </p:sp>
        <p:grpSp>
          <p:nvGrpSpPr>
            <p:cNvPr id="231" name="组合 230"/>
            <p:cNvGrpSpPr/>
            <p:nvPr/>
          </p:nvGrpSpPr>
          <p:grpSpPr>
            <a:xfrm>
              <a:off x="3471" y="7328"/>
              <a:ext cx="924" cy="460"/>
              <a:chOff x="3471" y="7328"/>
              <a:chExt cx="924" cy="460"/>
            </a:xfrm>
          </p:grpSpPr>
          <p:sp>
            <p:nvSpPr>
              <p:cNvPr id="232" name="箭头: 下 47"/>
              <p:cNvSpPr/>
              <p:nvPr>
                <p:custDataLst>
                  <p:tags r:id="rId69"/>
                </p:custDataLst>
              </p:nvPr>
            </p:nvSpPr>
            <p:spPr>
              <a:xfrm rot="10800000" flipH="1" flipV="1">
                <a:off x="3471" y="73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3" name="箭头: 下 47"/>
              <p:cNvSpPr/>
              <p:nvPr>
                <p:custDataLst>
                  <p:tags r:id="rId70"/>
                </p:custDataLst>
              </p:nvPr>
            </p:nvSpPr>
            <p:spPr>
              <a:xfrm rot="10800000" flipH="1" flipV="1">
                <a:off x="3471" y="748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234" name="显眼包PPT-6"/>
            <p:cNvSpPr/>
            <p:nvPr/>
          </p:nvSpPr>
          <p:spPr>
            <a:xfrm>
              <a:off x="1957"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客户管理体系</a:t>
              </a:r>
              <a:endParaRPr lang="zh-CN" altLang="en-US" sz="1200" dirty="0">
                <a:solidFill>
                  <a:srgbClr val="0042FF"/>
                </a:solidFill>
                <a:latin typeface="微软雅黑"/>
                <a:ea typeface="微软雅黑"/>
                <a:cs typeface="微软雅黑"/>
              </a:endParaRPr>
            </a:p>
          </p:txBody>
        </p:sp>
        <p:sp>
          <p:nvSpPr>
            <p:cNvPr id="235" name="显眼包PPT-6"/>
            <p:cNvSpPr/>
            <p:nvPr/>
          </p:nvSpPr>
          <p:spPr>
            <a:xfrm>
              <a:off x="3988" y="8568"/>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营销管理体系</a:t>
              </a:r>
              <a:endParaRPr lang="zh-CN" altLang="en-US" sz="1200" dirty="0">
                <a:solidFill>
                  <a:srgbClr val="0042FF"/>
                </a:solidFill>
                <a:latin typeface="微软雅黑"/>
                <a:ea typeface="微软雅黑"/>
                <a:cs typeface="微软雅黑"/>
              </a:endParaRPr>
            </a:p>
          </p:txBody>
        </p:sp>
        <p:sp>
          <p:nvSpPr>
            <p:cNvPr id="236" name="显眼包PPT-6"/>
            <p:cNvSpPr/>
            <p:nvPr/>
          </p:nvSpPr>
          <p:spPr>
            <a:xfrm>
              <a:off x="1957"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执行监控体系</a:t>
              </a:r>
              <a:endParaRPr lang="zh-CN" altLang="en-US" sz="1200" dirty="0">
                <a:solidFill>
                  <a:srgbClr val="0042FF"/>
                </a:solidFill>
                <a:latin typeface="微软雅黑"/>
                <a:ea typeface="微软雅黑"/>
                <a:cs typeface="微软雅黑"/>
              </a:endParaRPr>
            </a:p>
          </p:txBody>
        </p:sp>
        <p:sp>
          <p:nvSpPr>
            <p:cNvPr id="237" name="显眼包PPT-6"/>
            <p:cNvSpPr/>
            <p:nvPr/>
          </p:nvSpPr>
          <p:spPr>
            <a:xfrm>
              <a:off x="3988" y="9222"/>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服务管理体系</a:t>
              </a:r>
              <a:r>
                <a:rPr lang="en-US" altLang="zh-CN" sz="1200" dirty="0">
                  <a:solidFill>
                    <a:srgbClr val="0042FF"/>
                  </a:solidFill>
                  <a:latin typeface="微软雅黑"/>
                  <a:ea typeface="微软雅黑"/>
                  <a:cs typeface="微软雅黑"/>
                </a:rPr>
                <a:t> </a:t>
              </a:r>
              <a:endParaRPr lang="en-US" altLang="zh-CN" sz="1200" dirty="0">
                <a:solidFill>
                  <a:srgbClr val="0042FF"/>
                </a:solidFill>
                <a:latin typeface="微软雅黑"/>
                <a:ea typeface="微软雅黑"/>
                <a:cs typeface="微软雅黑"/>
              </a:endParaRPr>
            </a:p>
          </p:txBody>
        </p:sp>
        <p:sp>
          <p:nvSpPr>
            <p:cNvPr id="238" name="显眼包PPT-6"/>
            <p:cNvSpPr/>
            <p:nvPr/>
          </p:nvSpPr>
          <p:spPr>
            <a:xfrm>
              <a:off x="1957"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sz="1200" dirty="0">
                  <a:solidFill>
                    <a:srgbClr val="0042FF"/>
                  </a:solidFill>
                  <a:latin typeface="微软雅黑"/>
                  <a:ea typeface="微软雅黑"/>
                  <a:cs typeface="微软雅黑"/>
                </a:rPr>
                <a:t>培训管理体系</a:t>
              </a:r>
              <a:endParaRPr lang="zh-CN" sz="1200" dirty="0">
                <a:solidFill>
                  <a:srgbClr val="0042FF"/>
                </a:solidFill>
                <a:latin typeface="微软雅黑"/>
                <a:ea typeface="微软雅黑"/>
                <a:cs typeface="微软雅黑"/>
              </a:endParaRPr>
            </a:p>
          </p:txBody>
        </p:sp>
        <p:sp>
          <p:nvSpPr>
            <p:cNvPr id="239" name="显眼包PPT-6"/>
            <p:cNvSpPr/>
            <p:nvPr/>
          </p:nvSpPr>
          <p:spPr>
            <a:xfrm>
              <a:off x="3988" y="9876"/>
              <a:ext cx="1862" cy="482"/>
            </a:xfrm>
            <a:prstGeom prst="round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wrap="none" lIns="144000" rtlCol="0" anchor="ctr">
              <a:no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数据决策体系</a:t>
              </a:r>
              <a:endParaRPr lang="zh-CN" altLang="en-US" sz="1200" dirty="0">
                <a:solidFill>
                  <a:srgbClr val="0042FF"/>
                </a:solidFill>
                <a:latin typeface="微软雅黑"/>
                <a:ea typeface="微软雅黑"/>
                <a:cs typeface="微软雅黑"/>
              </a:endParaRPr>
            </a:p>
          </p:txBody>
        </p:sp>
      </p:grpSp>
      <p:grpSp>
        <p:nvGrpSpPr>
          <p:cNvPr id="3" name="组合 2"/>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71"/>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紫荆的职场Point28"/>
          <p:cNvSpPr/>
          <p:nvPr/>
        </p:nvSpPr>
        <p:spPr>
          <a:xfrm>
            <a:off x="201930" y="1012190"/>
            <a:ext cx="11842750" cy="812165"/>
          </a:xfrm>
          <a:prstGeom prst="triangle">
            <a:avLst>
              <a:gd name="adj" fmla="val 50311"/>
            </a:avLst>
          </a:prstGeom>
          <a:gradFill flip="none" rotWithShape="1">
            <a:gsLst>
              <a:gs pos="0">
                <a:srgbClr val="668EFF"/>
              </a:gs>
              <a:gs pos="100000">
                <a:srgbClr val="668EFF">
                  <a:alpha val="0"/>
                </a:srgbClr>
              </a:gs>
            </a:gsLst>
            <a:lin ang="5400000" scaled="1"/>
            <a:tileRect/>
          </a:gradFill>
          <a:ln w="19050" cap="flat" cmpd="sng" algn="ctr">
            <a:gradFill flip="none" rotWithShape="1">
              <a:gsLst>
                <a:gs pos="0">
                  <a:srgbClr val="3368FF"/>
                </a:gs>
                <a:gs pos="100000">
                  <a:srgbClr val="3368FF">
                    <a:alpha val="0"/>
                  </a:srgbClr>
                </a:gs>
              </a:gsLst>
              <a:lin ang="5400000" scaled="1"/>
              <a:tileRect/>
            </a:grad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8" name="图形 22"/>
          <p:cNvSpPr/>
          <p:nvPr/>
        </p:nvSpPr>
        <p:spPr>
          <a:xfrm>
            <a:off x="1352550" y="1912620"/>
            <a:ext cx="9893935" cy="76200"/>
          </a:xfrm>
          <a:custGeom>
            <a:avLst/>
            <a:gdLst>
              <a:gd name="connsiteX0" fmla="*/ 0 w 11766158"/>
              <a:gd name="connsiteY0" fmla="*/ 76486 h 150040"/>
              <a:gd name="connsiteX1" fmla="*/ 0 w 11766158"/>
              <a:gd name="connsiteY1" fmla="*/ 150040 h 150040"/>
              <a:gd name="connsiteX2" fmla="*/ 11766158 w 11766158"/>
              <a:gd name="connsiteY2" fmla="*/ 150040 h 150040"/>
              <a:gd name="connsiteX3" fmla="*/ 11319987 w 11766158"/>
              <a:gd name="connsiteY3" fmla="*/ 0 h 150040"/>
              <a:gd name="connsiteX4" fmla="*/ 11319987 w 11766158"/>
              <a:gd name="connsiteY4" fmla="*/ 74956 h 150040"/>
              <a:gd name="connsiteX5" fmla="*/ 0 w 11766158"/>
              <a:gd name="connsiteY5" fmla="*/ 76486 h 15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66158" h="150040">
                <a:moveTo>
                  <a:pt x="0" y="76486"/>
                </a:moveTo>
                <a:lnTo>
                  <a:pt x="0" y="150040"/>
                </a:lnTo>
                <a:lnTo>
                  <a:pt x="11766158" y="150040"/>
                </a:lnTo>
                <a:lnTo>
                  <a:pt x="11319987" y="0"/>
                </a:lnTo>
                <a:lnTo>
                  <a:pt x="11319987" y="74956"/>
                </a:lnTo>
                <a:lnTo>
                  <a:pt x="0" y="76486"/>
                </a:lnTo>
                <a:close/>
              </a:path>
            </a:pathLst>
          </a:custGeom>
          <a:ln w="63500">
            <a:gradFill>
              <a:gsLst>
                <a:gs pos="0">
                  <a:srgbClr val="3368FF"/>
                </a:gs>
                <a:gs pos="43000">
                  <a:srgbClr val="3368FF"/>
                </a:gs>
                <a:gs pos="0">
                  <a:srgbClr val="3368FF">
                    <a:alpha val="0"/>
                  </a:srgbClr>
                </a:gs>
                <a:gs pos="70000">
                  <a:srgbClr val="3368FF"/>
                </a:gs>
              </a:gsLst>
              <a:lin ang="0" scaled="1"/>
            </a:gradFill>
          </a:ln>
        </p:spPr>
        <p:style>
          <a:lnRef idx="2">
            <a:srgbClr val="0042FF"/>
          </a:lnRef>
          <a:fillRef idx="0">
            <a:srgbClr val="FFFFFF"/>
          </a:fillRef>
          <a:effectRef idx="0">
            <a:srgbClr val="FFFFFF"/>
          </a:effectRef>
          <a:fontRef idx="minor">
            <a:srgbClr val="383838"/>
          </a:fontRef>
        </p:style>
        <p:txBody>
          <a:bodyPr rtlCol="0" anchor="ctr" lIns="0" rIns="0" tIns="0" bIns="0"/>
          <a:lstStyle/>
          <a:p>
            <a:pPr marL="0" marR="0" lvl="0" indent="0" algn="ctr" defTabSz="403225"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585" u="none" strike="noStrike" kern="0" cap="none" spc="0" normalizeH="0" baseline="0" noProof="0">
              <a:ln>
                <a:noFill/>
              </a:ln>
              <a:solidFill>
                <a:prstClr val="black"/>
              </a:solidFill>
              <a:effectLst/>
              <a:uLnTx/>
              <a:uFillTx/>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公司</a:t>
            </a:r>
            <a:r>
              <a:rPr sz="2500">
                <a:solidFill>
                  <a:srgbClr val="383838"/>
                </a:solidFill>
                <a:effectLst/>
                <a:latin typeface="微软雅黑"/>
                <a:ea typeface="微软雅黑"/>
                <a:cs typeface="微软雅黑"/>
                <a:sym typeface="微软雅黑"/>
              </a:rPr>
              <a:t>年度</a:t>
            </a:r>
            <a:r>
              <a:rPr sz="2500">
                <a:solidFill>
                  <a:srgbClr val="383838"/>
                </a:solidFill>
                <a:effectLst/>
                <a:latin typeface="微软雅黑"/>
                <a:ea typeface="微软雅黑"/>
                <a:cs typeface="微软雅黑"/>
              </a:rPr>
              <a:t>运营规划</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55" name="文本框 54"/>
          <p:cNvSpPr txBox="1"/>
          <p:nvPr/>
        </p:nvSpPr>
        <p:spPr>
          <a:xfrm>
            <a:off x="2138680" y="1571625"/>
            <a:ext cx="936625" cy="309245"/>
          </a:xfrm>
          <a:prstGeom prst="rect">
            <a:avLst/>
          </a:prstGeom>
          <a:noFill/>
        </p:spPr>
        <p:txBody>
          <a:bodyPr wrap="none" rtlCol="0" lIns="0" rIns="0" tIns="0" bIns="0">
            <a:spAutoFit/>
          </a:bodyPr>
          <a:lstStyle/>
          <a:p>
            <a:pPr marL="0" marR="0" lvl="0" indent="0" algn="ctr" defTabSz="80645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410" b="1" u="none" strike="noStrike" kern="0" cap="none" spc="0" normalizeH="0" baseline="0" noProof="0">
                <a:ln>
                  <a:noFill/>
                </a:ln>
                <a:solidFill>
                  <a:srgbClr val="383838"/>
                </a:solidFill>
                <a:effectLst/>
                <a:uLnTx/>
                <a:uFillTx/>
                <a:latin typeface="微软雅黑"/>
                <a:ea typeface="微软雅黑"/>
                <a:cs typeface="微软雅黑"/>
              </a:rPr>
              <a:t>起步阶段</a:t>
            </a:r>
            <a:endParaRPr kumimoji="0" lang="zh-CN" altLang="en-US" sz="1410" b="1"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56" name="文本框 55"/>
          <p:cNvSpPr txBox="1"/>
          <p:nvPr/>
        </p:nvSpPr>
        <p:spPr>
          <a:xfrm>
            <a:off x="5494655" y="1571625"/>
            <a:ext cx="909320" cy="309245"/>
          </a:xfrm>
          <a:prstGeom prst="rect">
            <a:avLst/>
          </a:prstGeom>
          <a:noFill/>
        </p:spPr>
        <p:txBody>
          <a:bodyPr wrap="none" rtlCol="0" lIns="0" rIns="0" tIns="0" bIns="0">
            <a:spAutoFit/>
          </a:bodyPr>
          <a:lstStyle/>
          <a:p>
            <a:pPr marL="0" marR="0" lvl="0" indent="0" algn="ctr" defTabSz="80645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410" b="1" u="none" strike="noStrike" kern="0" cap="none" spc="0" normalizeH="0" baseline="0" noProof="0">
                <a:ln>
                  <a:noFill/>
                </a:ln>
                <a:solidFill>
                  <a:srgbClr val="383838"/>
                </a:solidFill>
                <a:effectLst/>
                <a:uLnTx/>
                <a:uFillTx/>
                <a:latin typeface="微软雅黑"/>
                <a:ea typeface="微软雅黑"/>
                <a:cs typeface="微软雅黑"/>
              </a:rPr>
              <a:t>运营阶段</a:t>
            </a:r>
            <a:endParaRPr kumimoji="0" lang="zh-CN" altLang="en-US" sz="1410" b="1"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57" name="文本框 56"/>
          <p:cNvSpPr txBox="1"/>
          <p:nvPr/>
        </p:nvSpPr>
        <p:spPr>
          <a:xfrm>
            <a:off x="9392920" y="1571625"/>
            <a:ext cx="909320" cy="309245"/>
          </a:xfrm>
          <a:prstGeom prst="rect">
            <a:avLst/>
          </a:prstGeom>
          <a:noFill/>
        </p:spPr>
        <p:txBody>
          <a:bodyPr wrap="none" rtlCol="0" lIns="0" rIns="0" tIns="0" bIns="0">
            <a:spAutoFit/>
          </a:bodyPr>
          <a:lstStyle/>
          <a:p>
            <a:pPr marL="0" marR="0" lvl="0" indent="0" algn="ctr" defTabSz="80645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410" b="1" u="none" strike="noStrike" kern="0" cap="none" spc="0" normalizeH="0" baseline="0" noProof="0">
                <a:ln>
                  <a:noFill/>
                </a:ln>
                <a:solidFill>
                  <a:srgbClr val="383838"/>
                </a:solidFill>
                <a:effectLst/>
                <a:uLnTx/>
                <a:uFillTx/>
                <a:latin typeface="微软雅黑"/>
                <a:ea typeface="微软雅黑"/>
                <a:cs typeface="微软雅黑"/>
              </a:rPr>
              <a:t>变革阶段</a:t>
            </a:r>
            <a:endParaRPr kumimoji="0" lang="zh-CN" altLang="en-US" sz="1410" b="1"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6" name="椭圆 5"/>
          <p:cNvSpPr/>
          <p:nvPr/>
        </p:nvSpPr>
        <p:spPr>
          <a:xfrm>
            <a:off x="2543810" y="1898015"/>
            <a:ext cx="126365" cy="126365"/>
          </a:xfrm>
          <a:prstGeom prst="ellipse">
            <a:avLst/>
          </a:prstGeom>
          <a:solidFill>
            <a:srgbClr val="FFFFFF"/>
          </a:solidFill>
          <a:ln w="38100" cap="flat" cmpd="sng" algn="ctr">
            <a:solidFill>
              <a:srgbClr val="3368FF"/>
            </a:solidFill>
            <a:prstDash val="solid"/>
            <a:miter lim="800000"/>
          </a:ln>
          <a:effectLst/>
        </p:spPr>
        <p:txBody>
          <a:bodyPr wrap="square" rtlCol="0" anchor="ctr">
            <a:noAutofit/>
          </a:bodyPr>
          <a:lstStyle/>
          <a:p>
            <a:pPr>
              <a:defRPr>
                <a:latin typeface="微软雅黑"/>
                <a:ea typeface="微软雅黑"/>
                <a:cs typeface="微软雅黑"/>
              </a:defRPr>
            </a:pPr>
            <a:endParaRPr lang="zh-CN" altLang="en-US" sz="1600" b="1" kern="0">
              <a:solidFill>
                <a:prstClr val="white"/>
              </a:solidFill>
              <a:latin typeface="微软雅黑"/>
              <a:ea typeface="微软雅黑"/>
              <a:cs typeface="微软雅黑"/>
            </a:endParaRPr>
          </a:p>
        </p:txBody>
      </p:sp>
      <p:sp>
        <p:nvSpPr>
          <p:cNvPr id="7" name="椭圆 6"/>
          <p:cNvSpPr/>
          <p:nvPr/>
        </p:nvSpPr>
        <p:spPr>
          <a:xfrm>
            <a:off x="5889625" y="1898015"/>
            <a:ext cx="126365" cy="126365"/>
          </a:xfrm>
          <a:prstGeom prst="ellipse">
            <a:avLst/>
          </a:prstGeom>
          <a:solidFill>
            <a:srgbClr val="FFFFFF"/>
          </a:solidFill>
          <a:ln w="38100" cap="flat" cmpd="sng" algn="ctr">
            <a:solidFill>
              <a:srgbClr val="3368FF"/>
            </a:solidFill>
            <a:prstDash val="solid"/>
            <a:miter lim="800000"/>
          </a:ln>
          <a:effectLst/>
        </p:spPr>
        <p:txBody>
          <a:bodyPr wrap="square" rtlCol="0" anchor="ctr">
            <a:noAutofit/>
          </a:bodyPr>
          <a:lstStyle/>
          <a:p>
            <a:pPr lvl="0" algn="l">
              <a:buClrTx/>
              <a:buSzTx/>
              <a:buFontTx/>
              <a:defRPr>
                <a:latin typeface="微软雅黑"/>
                <a:ea typeface="微软雅黑"/>
                <a:cs typeface="微软雅黑"/>
              </a:defRPr>
            </a:pPr>
            <a:endParaRPr lang="zh-CN" altLang="en-US" sz="1600" b="1" kern="0">
              <a:solidFill>
                <a:prstClr val="white"/>
              </a:solidFill>
              <a:latin typeface="微软雅黑"/>
              <a:ea typeface="微软雅黑"/>
              <a:cs typeface="微软雅黑"/>
              <a:sym typeface="微软雅黑"/>
            </a:endParaRPr>
          </a:p>
        </p:txBody>
      </p:sp>
      <p:sp>
        <p:nvSpPr>
          <p:cNvPr id="61" name="椭圆 60"/>
          <p:cNvSpPr/>
          <p:nvPr/>
        </p:nvSpPr>
        <p:spPr>
          <a:xfrm>
            <a:off x="9784080" y="1898015"/>
            <a:ext cx="126365" cy="126365"/>
          </a:xfrm>
          <a:prstGeom prst="ellipse">
            <a:avLst/>
          </a:prstGeom>
          <a:solidFill>
            <a:srgbClr val="FFFFFF"/>
          </a:solidFill>
          <a:ln w="38100" cap="flat" cmpd="sng" algn="ctr">
            <a:solidFill>
              <a:srgbClr val="3368FF"/>
            </a:solidFill>
            <a:prstDash val="solid"/>
            <a:miter lim="800000"/>
          </a:ln>
          <a:effectLst/>
        </p:spPr>
        <p:txBody>
          <a:bodyPr wrap="square" rtlCol="0" anchor="ctr">
            <a:noAutofit/>
          </a:bodyPr>
          <a:lstStyle/>
          <a:p>
            <a:pPr lvl="0" algn="l">
              <a:buClrTx/>
              <a:buSzTx/>
              <a:buFontTx/>
              <a:defRPr>
                <a:latin typeface="微软雅黑"/>
                <a:ea typeface="微软雅黑"/>
                <a:cs typeface="微软雅黑"/>
              </a:defRPr>
            </a:pPr>
            <a:endParaRPr lang="zh-CN" altLang="en-US" sz="1600" b="1" kern="0">
              <a:solidFill>
                <a:prstClr val="white"/>
              </a:solidFill>
              <a:latin typeface="微软雅黑"/>
              <a:ea typeface="微软雅黑"/>
              <a:cs typeface="微软雅黑"/>
              <a:sym typeface="微软雅黑"/>
            </a:endParaRPr>
          </a:p>
        </p:txBody>
      </p:sp>
      <p:sp>
        <p:nvSpPr>
          <p:cNvPr id="13" name="矩形: 圆角 12"/>
          <p:cNvSpPr/>
          <p:nvPr/>
        </p:nvSpPr>
        <p:spPr>
          <a:xfrm>
            <a:off x="1273810" y="2122805"/>
            <a:ext cx="2665730" cy="345440"/>
          </a:xfrm>
          <a:prstGeom prst="roundRect">
            <a:avLst>
              <a:gd name="adj" fmla="val 9886"/>
            </a:avLst>
          </a:prstGeom>
          <a:gradFill>
            <a:gsLst>
              <a:gs pos="0">
                <a:srgbClr val="3368FF"/>
              </a:gs>
              <a:gs pos="100000">
                <a:srgbClr val="0042FF"/>
              </a:gs>
            </a:gsLst>
            <a:lin ang="2700000" scaled="0"/>
          </a:gradFill>
          <a:ln w="9708" cap="flat">
            <a:noFill/>
            <a:prstDash val="solid"/>
            <a:miter/>
          </a:ln>
          <a:effectLst>
            <a:outerShdw blurRad="50800" dist="38100" dir="2700000" algn="tl" rotWithShape="0">
              <a:srgbClr val="3368FF">
                <a:alpha val="40000"/>
              </a:srgbClr>
            </a:outerShdw>
          </a:effectLst>
        </p:spPr>
        <p:txBody>
          <a:bodyPr rot="0" spcFirstLastPara="0" vertOverflow="overflow" horzOverflow="overflow" vert="horz" wrap="square" lIns="93196" tIns="46598" rIns="93196" bIns="46598"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050" b="1" kern="0" dirty="0">
                <a:solidFill>
                  <a:srgbClr val="FFFFFF"/>
                </a:solidFill>
                <a:latin typeface="微软雅黑"/>
                <a:ea typeface="微软雅黑"/>
                <a:cs typeface="微软雅黑"/>
              </a:rPr>
              <a:t>提高销售额：增加产品销售额</a:t>
            </a:r>
            <a:r>
              <a:rPr lang="en-US" altLang="zh-CN" sz="1050" b="1" kern="0" dirty="0">
                <a:solidFill>
                  <a:srgbClr val="FFFFFF"/>
                </a:solidFill>
                <a:latin typeface="微软雅黑"/>
                <a:ea typeface="微软雅黑"/>
                <a:cs typeface="微软雅黑"/>
              </a:rPr>
              <a:t>10%</a:t>
            </a:r>
            <a:endParaRPr lang="zh-CN" altLang="en-US" sz="1050" b="1" kern="0" dirty="0">
              <a:solidFill>
                <a:srgbClr val="FFFFFF"/>
              </a:solidFill>
              <a:latin typeface="微软雅黑"/>
              <a:ea typeface="微软雅黑"/>
              <a:cs typeface="微软雅黑"/>
            </a:endParaRPr>
          </a:p>
        </p:txBody>
      </p:sp>
      <p:sp>
        <p:nvSpPr>
          <p:cNvPr id="14" name="矩形: 圆角 13"/>
          <p:cNvSpPr/>
          <p:nvPr/>
        </p:nvSpPr>
        <p:spPr>
          <a:xfrm>
            <a:off x="4100195" y="2122805"/>
            <a:ext cx="3705225" cy="345440"/>
          </a:xfrm>
          <a:prstGeom prst="roundRect">
            <a:avLst>
              <a:gd name="adj" fmla="val 9886"/>
            </a:avLst>
          </a:prstGeom>
          <a:gradFill>
            <a:gsLst>
              <a:gs pos="0">
                <a:srgbClr val="B3D4FE"/>
              </a:gs>
              <a:gs pos="100000">
                <a:srgbClr val="3368FF"/>
              </a:gs>
            </a:gsLst>
            <a:lin ang="2700000" scaled="0"/>
          </a:gradFill>
          <a:ln w="9708" cap="flat">
            <a:noFill/>
            <a:prstDash val="solid"/>
            <a:miter/>
          </a:ln>
          <a:effectLst>
            <a:outerShdw blurRad="50800" dist="38100" dir="2700000" algn="tl" rotWithShape="0">
              <a:srgbClr val="B3D4FE">
                <a:alpha val="40000"/>
              </a:srgbClr>
            </a:outerShdw>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50" b="1" kern="0" dirty="0">
                <a:solidFill>
                  <a:srgbClr val="383838"/>
                </a:solidFill>
                <a:latin typeface="微软雅黑"/>
                <a:ea typeface="微软雅黑"/>
                <a:cs typeface="微软雅黑"/>
                <a:sym typeface="微软雅黑"/>
              </a:rPr>
              <a:t>提升用户满意度：提高客户满意度评分至85%以上。</a:t>
            </a:r>
            <a:endParaRPr lang="zh-CN" altLang="en-US" sz="1050" b="1" kern="0" dirty="0">
              <a:solidFill>
                <a:srgbClr val="383838"/>
              </a:solidFill>
              <a:latin typeface="微软雅黑"/>
              <a:ea typeface="微软雅黑"/>
              <a:cs typeface="微软雅黑"/>
              <a:sym typeface="微软雅黑"/>
            </a:endParaRPr>
          </a:p>
        </p:txBody>
      </p:sp>
      <p:sp>
        <p:nvSpPr>
          <p:cNvPr id="15" name="矩形: 圆角 14"/>
          <p:cNvSpPr/>
          <p:nvPr/>
        </p:nvSpPr>
        <p:spPr>
          <a:xfrm>
            <a:off x="7964805" y="2122805"/>
            <a:ext cx="3764915" cy="345440"/>
          </a:xfrm>
          <a:prstGeom prst="roundRect">
            <a:avLst>
              <a:gd name="adj" fmla="val 9886"/>
            </a:avLst>
          </a:prstGeom>
          <a:gradFill>
            <a:gsLst>
              <a:gs pos="0">
                <a:srgbClr val="3368FF"/>
              </a:gs>
              <a:gs pos="100000">
                <a:srgbClr val="0042FF"/>
              </a:gs>
            </a:gsLst>
            <a:lin ang="2700000" scaled="0"/>
          </a:gradFill>
          <a:ln w="9708" cap="flat">
            <a:noFill/>
            <a:prstDash val="solid"/>
            <a:miter/>
          </a:ln>
          <a:effectLst>
            <a:outerShdw blurRad="50800" dist="38100" dir="2700000" algn="tl" rotWithShape="0">
              <a:srgbClr val="3368FF">
                <a:alpha val="40000"/>
              </a:srgbClr>
            </a:outerShdw>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kern="0" dirty="0">
                <a:solidFill>
                  <a:srgbClr val="FFFFFF"/>
                </a:solidFill>
                <a:latin typeface="微软雅黑"/>
                <a:ea typeface="微软雅黑"/>
                <a:cs typeface="微软雅黑"/>
                <a:sym typeface="微软雅黑"/>
              </a:rPr>
              <a:t>扩大市场份额：增加市场份额2%。</a:t>
            </a:r>
            <a:endParaRPr lang="zh-CN" altLang="en-US" sz="1050" b="1" kern="0" dirty="0">
              <a:solidFill>
                <a:srgbClr val="FFFFFF"/>
              </a:solidFill>
              <a:latin typeface="微软雅黑"/>
              <a:ea typeface="微软雅黑"/>
              <a:cs typeface="微软雅黑"/>
              <a:sym typeface="微软雅黑"/>
            </a:endParaRPr>
          </a:p>
        </p:txBody>
      </p:sp>
      <p:sp>
        <p:nvSpPr>
          <p:cNvPr id="479" name="矩形: 圆角 478"/>
          <p:cNvSpPr/>
          <p:nvPr>
            <p:custDataLst>
              <p:tags r:id="rId3"/>
            </p:custDataLst>
          </p:nvPr>
        </p:nvSpPr>
        <p:spPr>
          <a:xfrm>
            <a:off x="356235" y="2122805"/>
            <a:ext cx="803275" cy="345440"/>
          </a:xfrm>
          <a:prstGeom prst="roundRect">
            <a:avLst>
              <a:gd name="adj" fmla="val 9886"/>
            </a:avLst>
          </a:prstGeom>
          <a:solidFill>
            <a:srgbClr val="E6E6E6">
              <a:alpha val="50000"/>
            </a:srgbClr>
          </a:solidFill>
          <a:ln w="12700" cap="flat" cmpd="sng" algn="ctr">
            <a:solidFill>
              <a:srgbClr val="3368FF">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目标</a:t>
            </a:r>
            <a:endParaRPr lang="zh-CN" altLang="en-US" sz="1200" b="1">
              <a:solidFill>
                <a:srgbClr val="0042FF"/>
              </a:solidFill>
              <a:latin typeface="微软雅黑"/>
              <a:ea typeface="微软雅黑"/>
              <a:cs typeface="微软雅黑"/>
              <a:sym typeface="微软雅黑"/>
            </a:endParaRPr>
          </a:p>
        </p:txBody>
      </p:sp>
      <p:sp>
        <p:nvSpPr>
          <p:cNvPr id="484" name="矩形: 圆角 483"/>
          <p:cNvSpPr/>
          <p:nvPr>
            <p:custDataLst>
              <p:tags r:id="rId4"/>
            </p:custDataLst>
          </p:nvPr>
        </p:nvSpPr>
        <p:spPr>
          <a:xfrm>
            <a:off x="356235" y="6020435"/>
            <a:ext cx="11374120" cy="701675"/>
          </a:xfrm>
          <a:prstGeom prst="roundRect">
            <a:avLst>
              <a:gd name="adj" fmla="val 6596"/>
            </a:avLst>
          </a:prstGeom>
          <a:gradFill>
            <a:gsLst>
              <a:gs pos="0">
                <a:srgbClr val="3368FF"/>
              </a:gs>
              <a:gs pos="100000">
                <a:srgbClr val="0042FF"/>
              </a:gs>
            </a:gsLst>
            <a:lin ang="4800000" scaled="0"/>
          </a:gra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470" name="矩形: 圆角 469"/>
          <p:cNvSpPr/>
          <p:nvPr/>
        </p:nvSpPr>
        <p:spPr>
          <a:xfrm>
            <a:off x="1273810" y="2542540"/>
            <a:ext cx="2665730" cy="1435735"/>
          </a:xfrm>
          <a:prstGeom prst="roundRect">
            <a:avLst>
              <a:gd name="adj" fmla="val 2718"/>
            </a:avLst>
          </a:prstGeom>
          <a:solidFill>
            <a:srgbClr val="E6E6E6">
              <a:alpha val="30000"/>
            </a:srgbClr>
          </a:solidFill>
          <a:ln w="6350">
            <a:solidFill>
              <a:srgbClr val="3368FF">
                <a:alpha val="50000"/>
              </a:srgbClr>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grpSp>
        <p:nvGrpSpPr>
          <p:cNvPr id="150" name="组合 149"/>
          <p:cNvGrpSpPr/>
          <p:nvPr/>
        </p:nvGrpSpPr>
        <p:grpSpPr>
          <a:xfrm>
            <a:off x="1348740" y="2796540"/>
            <a:ext cx="2520950" cy="927735"/>
            <a:chOff x="1189619" y="2339833"/>
            <a:chExt cx="2521077" cy="927621"/>
          </a:xfrm>
        </p:grpSpPr>
        <p:sp>
          <p:nvSpPr>
            <p:cNvPr id="144" name="文本框 143"/>
            <p:cNvSpPr txBox="1"/>
            <p:nvPr/>
          </p:nvSpPr>
          <p:spPr>
            <a:xfrm>
              <a:off x="1189619" y="2339833"/>
              <a:ext cx="1107996" cy="276999"/>
            </a:xfrm>
            <a:prstGeom prst="rect">
              <a:avLst/>
            </a:prstGeom>
            <a:noFill/>
          </p:spPr>
          <p:txBody>
            <a:bodyPr wrap="none" rtlCol="0" lIns="0" rIns="0" tIns="0" bIns="0">
              <a:spAutoFit/>
            </a:bodyPr>
            <a:lstStyle/>
            <a:p>
              <a:pPr marR="0" lvl="0" fontAlgn="auto">
                <a:lnSpc>
                  <a:spcPct val="100000"/>
                </a:lnSpc>
                <a:spcBef>
                  <a:spcPts val="0"/>
                </a:spcBef>
                <a:spcAft>
                  <a:spcPts val="0"/>
                </a:spcAft>
                <a:buClrTx/>
                <a:buSzTx/>
                <a:defRPr>
                  <a:latin typeface="微软雅黑"/>
                  <a:ea typeface="微软雅黑"/>
                  <a:cs typeface="微软雅黑"/>
                </a:defRPr>
              </a:pPr>
              <a:r>
                <a:rPr lang="zh-CN" altLang="en-US" sz="1200" b="1">
                  <a:solidFill>
                    <a:srgbClr val="0042FF">
                      <a:alpha val="80000"/>
                    </a:srgbClr>
                  </a:solidFill>
                  <a:latin typeface="微软雅黑"/>
                  <a:ea typeface="微软雅黑"/>
                  <a:cs typeface="微软雅黑"/>
                </a:rPr>
                <a:t>市场推广策略</a:t>
              </a:r>
              <a:endParaRPr lang="zh-CN" altLang="en-US" sz="1200" b="1">
                <a:solidFill>
                  <a:srgbClr val="0042FF">
                    <a:alpha val="80000"/>
                  </a:srgbClr>
                </a:solidFill>
                <a:latin typeface="微软雅黑"/>
                <a:ea typeface="微软雅黑"/>
                <a:cs typeface="微软雅黑"/>
              </a:endParaRPr>
            </a:p>
          </p:txBody>
        </p:sp>
        <p:sp>
          <p:nvSpPr>
            <p:cNvPr id="145" name="文本框 144"/>
            <p:cNvSpPr txBox="1"/>
            <p:nvPr/>
          </p:nvSpPr>
          <p:spPr>
            <a:xfrm>
              <a:off x="1189620" y="2573448"/>
              <a:ext cx="2486522" cy="377026"/>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kern="0">
                  <a:solidFill>
                    <a:srgbClr val="383838">
                      <a:alpha val="85000"/>
                    </a:srgbClr>
                  </a:solidFill>
                  <a:latin typeface="微软雅黑"/>
                  <a:ea typeface="微软雅黑"/>
                  <a:cs typeface="微软雅黑"/>
                </a:rPr>
                <a:t>制定全年市场推广计划，包括线上广告、社交媒体宣传等，以吸引更多潜在客户。</a:t>
              </a:r>
              <a:endParaRPr lang="zh-CN" altLang="en-US" sz="1000" kern="0">
                <a:solidFill>
                  <a:srgbClr val="383838">
                    <a:alpha val="85000"/>
                  </a:srgbClr>
                </a:solidFill>
                <a:latin typeface="微软雅黑"/>
                <a:ea typeface="微软雅黑"/>
                <a:cs typeface="微软雅黑"/>
              </a:endParaRPr>
            </a:p>
          </p:txBody>
        </p:sp>
        <p:sp>
          <p:nvSpPr>
            <p:cNvPr id="149" name="文本框 148"/>
            <p:cNvSpPr txBox="1"/>
            <p:nvPr/>
          </p:nvSpPr>
          <p:spPr>
            <a:xfrm>
              <a:off x="1189620" y="2890428"/>
              <a:ext cx="2521076" cy="377026"/>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kern="0">
                  <a:solidFill>
                    <a:srgbClr val="383838">
                      <a:alpha val="85000"/>
                    </a:srgbClr>
                  </a:solidFill>
                  <a:latin typeface="微软雅黑"/>
                  <a:ea typeface="微软雅黑"/>
                  <a:cs typeface="微软雅黑"/>
                </a:rPr>
                <a:t>与品牌合作伙伴建立战略合作关系，增强品牌知名度和影响力。 </a:t>
              </a:r>
              <a:endParaRPr lang="zh-CN" altLang="en-US" sz="1000" kern="0">
                <a:solidFill>
                  <a:srgbClr val="383838">
                    <a:alpha val="85000"/>
                  </a:srgbClr>
                </a:solidFill>
                <a:latin typeface="微软雅黑"/>
                <a:ea typeface="微软雅黑"/>
                <a:cs typeface="微软雅黑"/>
              </a:endParaRPr>
            </a:p>
          </p:txBody>
        </p:sp>
      </p:grpSp>
      <p:sp>
        <p:nvSpPr>
          <p:cNvPr id="471" name="矩形: 圆角 470"/>
          <p:cNvSpPr/>
          <p:nvPr/>
        </p:nvSpPr>
        <p:spPr>
          <a:xfrm>
            <a:off x="4100195" y="2542540"/>
            <a:ext cx="3705225" cy="1435735"/>
          </a:xfrm>
          <a:prstGeom prst="roundRect">
            <a:avLst>
              <a:gd name="adj" fmla="val 2718"/>
            </a:avLst>
          </a:prstGeom>
          <a:solidFill>
            <a:srgbClr val="FFFFFF">
              <a:alpha val="30000"/>
            </a:srgbClr>
          </a:solidFill>
          <a:ln w="6350">
            <a:solidFill>
              <a:srgbClr val="B3D4FE">
                <a:alpha val="50000"/>
              </a:srgbClr>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dirty="0">
              <a:solidFill>
                <a:srgbClr val="0042FF"/>
              </a:solidFill>
              <a:latin typeface="微软雅黑"/>
              <a:ea typeface="微软雅黑"/>
              <a:cs typeface="微软雅黑"/>
              <a:sym typeface="微软雅黑"/>
            </a:endParaRPr>
          </a:p>
        </p:txBody>
      </p:sp>
      <p:grpSp>
        <p:nvGrpSpPr>
          <p:cNvPr id="177" name="组合 176"/>
          <p:cNvGrpSpPr/>
          <p:nvPr/>
        </p:nvGrpSpPr>
        <p:grpSpPr>
          <a:xfrm>
            <a:off x="4155440" y="2646680"/>
            <a:ext cx="3630295" cy="1222375"/>
            <a:chOff x="4015591" y="2277400"/>
            <a:chExt cx="3630157" cy="1222488"/>
          </a:xfrm>
        </p:grpSpPr>
        <p:sp>
          <p:nvSpPr>
            <p:cNvPr id="156" name="文本框 155"/>
            <p:cNvSpPr txBox="1"/>
            <p:nvPr/>
          </p:nvSpPr>
          <p:spPr>
            <a:xfrm>
              <a:off x="4015591" y="2277400"/>
              <a:ext cx="1107996" cy="276999"/>
            </a:xfrm>
            <a:prstGeom prst="rect">
              <a:avLst/>
            </a:prstGeom>
            <a:noFill/>
          </p:spPr>
          <p:txBody>
            <a:bodyPr wrap="none" rtlCol="0" lIns="0" rIns="0" tIns="0" bIns="0">
              <a:spAutoFit/>
            </a:bodyPr>
            <a:lstStyle/>
            <a:p>
              <a:pPr marR="0" lvl="0" fontAlgn="auto">
                <a:lnSpc>
                  <a:spcPct val="100000"/>
                </a:lnSpc>
                <a:spcBef>
                  <a:spcPts val="0"/>
                </a:spcBef>
                <a:spcAft>
                  <a:spcPts val="0"/>
                </a:spcAft>
                <a:buClrTx/>
                <a:buSzTx/>
                <a:defRPr>
                  <a:latin typeface="微软雅黑"/>
                  <a:ea typeface="微软雅黑"/>
                  <a:cs typeface="微软雅黑"/>
                </a:defRPr>
              </a:pPr>
              <a:r>
                <a:rPr lang="zh-CN" altLang="en-US" sz="1200" b="1">
                  <a:solidFill>
                    <a:srgbClr val="0042FF">
                      <a:alpha val="80000"/>
                    </a:srgbClr>
                  </a:solidFill>
                  <a:latin typeface="微软雅黑"/>
                  <a:ea typeface="微软雅黑"/>
                  <a:cs typeface="微软雅黑"/>
                </a:rPr>
                <a:t>社交媒体推广</a:t>
              </a:r>
              <a:endParaRPr lang="zh-CN" altLang="en-US" sz="1200" b="1">
                <a:solidFill>
                  <a:srgbClr val="0042FF">
                    <a:alpha val="80000"/>
                  </a:srgbClr>
                </a:solidFill>
                <a:latin typeface="微软雅黑"/>
                <a:ea typeface="微软雅黑"/>
                <a:cs typeface="微软雅黑"/>
              </a:endParaRPr>
            </a:p>
          </p:txBody>
        </p:sp>
        <p:sp>
          <p:nvSpPr>
            <p:cNvPr id="157" name="文本框 156"/>
            <p:cNvSpPr txBox="1"/>
            <p:nvPr/>
          </p:nvSpPr>
          <p:spPr>
            <a:xfrm>
              <a:off x="4015591" y="2506782"/>
              <a:ext cx="3630157" cy="377026"/>
            </a:xfrm>
            <a:prstGeom prst="rect">
              <a:avLst/>
            </a:prstGeom>
            <a:noFill/>
          </p:spPr>
          <p:txBody>
            <a:bodyPr wrap="square" rtlCol="0" lIns="0" rIns="0" tIns="0" bIns="0" anchor="t">
              <a:noAutofit/>
            </a:bodyPr>
            <a:lstStyle/>
            <a:p>
              <a:pPr marL="0" marR="0" lvl="0" indent="0" defTabSz="91440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383838">
                      <a:alpha val="85000"/>
                    </a:srgbClr>
                  </a:solidFill>
                  <a:effectLst/>
                  <a:uLnTx/>
                  <a:uFillTx/>
                  <a:latin typeface="微软雅黑"/>
                  <a:ea typeface="微软雅黑"/>
                  <a:cs typeface="微软雅黑"/>
                </a:rPr>
                <a:t>通过在主要社交媒体平台上创建和分享有趣、有价值的内容，吸引潜在用户的注意，并鼓励他们访问和使用产品。</a:t>
              </a:r>
              <a:endParaRPr kumimoji="0" lang="zh-CN" altLang="en-US" sz="1000" u="none" strike="noStrike" kern="0" cap="none" spc="0" normalizeH="0" baseline="0" noProof="0">
                <a:ln>
                  <a:noFill/>
                </a:ln>
                <a:solidFill>
                  <a:srgbClr val="383838">
                    <a:alpha val="85000"/>
                  </a:srgbClr>
                </a:solidFill>
                <a:effectLst/>
                <a:uLnTx/>
                <a:uFillTx/>
                <a:latin typeface="微软雅黑"/>
                <a:ea typeface="微软雅黑"/>
                <a:cs typeface="微软雅黑"/>
              </a:endParaRPr>
            </a:p>
          </p:txBody>
        </p:sp>
        <p:grpSp>
          <p:nvGrpSpPr>
            <p:cNvPr id="8" name="组合 7"/>
            <p:cNvGrpSpPr/>
            <p:nvPr/>
          </p:nvGrpSpPr>
          <p:grpSpPr>
            <a:xfrm>
              <a:off x="4015591" y="2893480"/>
              <a:ext cx="3630157" cy="606408"/>
              <a:chOff x="4015591" y="2893480"/>
              <a:chExt cx="3630157" cy="606408"/>
            </a:xfrm>
          </p:grpSpPr>
          <p:sp>
            <p:nvSpPr>
              <p:cNvPr id="174" name="文本框 173"/>
              <p:cNvSpPr txBox="1"/>
              <p:nvPr/>
            </p:nvSpPr>
            <p:spPr>
              <a:xfrm>
                <a:off x="4015591" y="2893480"/>
                <a:ext cx="792450" cy="275615"/>
              </a:xfrm>
              <a:prstGeom prst="rect">
                <a:avLst/>
              </a:prstGeom>
              <a:noFill/>
            </p:spPr>
            <p:txBody>
              <a:bodyPr wrap="none" rtlCol="0" lIns="0" rIns="0" tIns="0" bIns="0">
                <a:spAutoFit/>
              </a:bodyPr>
              <a:lstStyle/>
              <a:p>
                <a:pPr lvl="0" algn="l">
                  <a:spcBef>
                    <a:spcPts val="0"/>
                  </a:spcBef>
                  <a:spcAft>
                    <a:spcPts val="0"/>
                  </a:spcAft>
                  <a:buClrTx/>
                  <a:buSzTx/>
                  <a:buFontTx/>
                  <a:defRPr>
                    <a:latin typeface="微软雅黑"/>
                    <a:ea typeface="微软雅黑"/>
                    <a:cs typeface="微软雅黑"/>
                  </a:defRPr>
                </a:pPr>
                <a:r>
                  <a:rPr lang="zh-CN" altLang="en-US" sz="1200" b="1">
                    <a:solidFill>
                      <a:srgbClr val="0042FF">
                        <a:alpha val="80000"/>
                      </a:srgbClr>
                    </a:solidFill>
                    <a:latin typeface="微软雅黑"/>
                    <a:ea typeface="微软雅黑"/>
                    <a:cs typeface="微软雅黑"/>
                    <a:sym typeface="微软雅黑"/>
                  </a:rPr>
                  <a:t>口碑</a:t>
                </a:r>
                <a:r>
                  <a:rPr lang="zh-CN" altLang="en-US" sz="1200" b="1">
                    <a:solidFill>
                      <a:srgbClr val="0042FF">
                        <a:alpha val="80000"/>
                      </a:srgbClr>
                    </a:solidFill>
                    <a:latin typeface="微软雅黑"/>
                    <a:ea typeface="微软雅黑"/>
                    <a:cs typeface="微软雅黑"/>
                    <a:sym typeface="微软雅黑"/>
                  </a:rPr>
                  <a:t>营销</a:t>
                </a:r>
                <a:endParaRPr lang="zh-CN" altLang="en-US" sz="1200" b="1">
                  <a:solidFill>
                    <a:srgbClr val="0042FF">
                      <a:alpha val="80000"/>
                    </a:srgbClr>
                  </a:solidFill>
                  <a:latin typeface="微软雅黑"/>
                  <a:ea typeface="微软雅黑"/>
                  <a:cs typeface="微软雅黑"/>
                  <a:sym typeface="微软雅黑"/>
                </a:endParaRPr>
              </a:p>
            </p:txBody>
          </p:sp>
          <p:sp>
            <p:nvSpPr>
              <p:cNvPr id="9" name="文本框 8"/>
              <p:cNvSpPr txBox="1"/>
              <p:nvPr/>
            </p:nvSpPr>
            <p:spPr>
              <a:xfrm>
                <a:off x="4015591" y="3122862"/>
                <a:ext cx="3630157" cy="455972"/>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kern="0">
                    <a:solidFill>
                      <a:srgbClr val="383838">
                        <a:alpha val="85000"/>
                      </a:srgbClr>
                    </a:solidFill>
                    <a:latin typeface="微软雅黑"/>
                    <a:ea typeface="微软雅黑"/>
                    <a:cs typeface="微软雅黑"/>
                  </a:rPr>
                  <a:t>提供卓越的产品和服务，以激发用户口碑传播。满足用户需求并提供出色的用户体验，以使现有用户愿意向朋友、家人和同事推荐产品。</a:t>
                </a:r>
                <a:endParaRPr lang="zh-CN" altLang="en-US" sz="1000" kern="0">
                  <a:solidFill>
                    <a:srgbClr val="383838">
                      <a:alpha val="85000"/>
                    </a:srgbClr>
                  </a:solidFill>
                  <a:latin typeface="微软雅黑"/>
                  <a:ea typeface="微软雅黑"/>
                  <a:cs typeface="微软雅黑"/>
                </a:endParaRPr>
              </a:p>
            </p:txBody>
          </p:sp>
        </p:grpSp>
      </p:grpSp>
      <p:sp>
        <p:nvSpPr>
          <p:cNvPr id="190" name="矩形: 圆角 189"/>
          <p:cNvSpPr/>
          <p:nvPr/>
        </p:nvSpPr>
        <p:spPr>
          <a:xfrm>
            <a:off x="7964805" y="2542540"/>
            <a:ext cx="3764915" cy="1435735"/>
          </a:xfrm>
          <a:prstGeom prst="roundRect">
            <a:avLst>
              <a:gd name="adj" fmla="val 2718"/>
            </a:avLst>
          </a:prstGeom>
          <a:solidFill>
            <a:srgbClr val="E6E6E6">
              <a:alpha val="30000"/>
            </a:srgbClr>
          </a:solidFill>
          <a:ln w="6350">
            <a:solidFill>
              <a:srgbClr val="3368FF">
                <a:alpha val="50000"/>
              </a:srgbClr>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512" name="文本框 511"/>
          <p:cNvSpPr txBox="1"/>
          <p:nvPr/>
        </p:nvSpPr>
        <p:spPr>
          <a:xfrm>
            <a:off x="8020685" y="2646680"/>
            <a:ext cx="1416050" cy="276860"/>
          </a:xfrm>
          <a:prstGeom prst="rect">
            <a:avLst/>
          </a:prstGeom>
          <a:noFill/>
        </p:spPr>
        <p:txBody>
          <a:bodyPr wrap="none" rtlCol="0" lIns="0" rIns="0" tIns="0" bIns="0">
            <a:spAutoFit/>
          </a:bodyPr>
          <a:lstStyle/>
          <a:p>
            <a:pPr marR="0" lvl="0" fontAlgn="auto">
              <a:lnSpc>
                <a:spcPct val="100000"/>
              </a:lnSpc>
              <a:spcBef>
                <a:spcPts val="0"/>
              </a:spcBef>
              <a:spcAft>
                <a:spcPts val="0"/>
              </a:spcAft>
              <a:buClrTx/>
              <a:buSzTx/>
              <a:defRPr>
                <a:latin typeface="微软雅黑"/>
                <a:ea typeface="微软雅黑"/>
                <a:cs typeface="微软雅黑"/>
              </a:defRPr>
            </a:pPr>
            <a:r>
              <a:rPr lang="zh-CN" altLang="en-US" sz="1200" b="1">
                <a:solidFill>
                  <a:srgbClr val="0042FF">
                    <a:alpha val="80000"/>
                  </a:srgbClr>
                </a:solidFill>
                <a:latin typeface="微软雅黑"/>
                <a:ea typeface="微软雅黑"/>
                <a:cs typeface="微软雅黑"/>
              </a:rPr>
              <a:t>产品创新和差异化</a:t>
            </a:r>
            <a:endParaRPr lang="zh-CN" altLang="en-US" sz="1200" b="1">
              <a:solidFill>
                <a:srgbClr val="0042FF">
                  <a:alpha val="80000"/>
                </a:srgbClr>
              </a:solidFill>
              <a:latin typeface="微软雅黑"/>
              <a:ea typeface="微软雅黑"/>
              <a:cs typeface="微软雅黑"/>
            </a:endParaRPr>
          </a:p>
        </p:txBody>
      </p:sp>
      <p:sp>
        <p:nvSpPr>
          <p:cNvPr id="513" name="文本框 512"/>
          <p:cNvSpPr txBox="1"/>
          <p:nvPr/>
        </p:nvSpPr>
        <p:spPr>
          <a:xfrm>
            <a:off x="8020685" y="2876550"/>
            <a:ext cx="3630295" cy="3771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kern="0">
                <a:solidFill>
                  <a:srgbClr val="383838">
                    <a:alpha val="85000"/>
                  </a:srgbClr>
                </a:solidFill>
                <a:latin typeface="微软雅黑"/>
                <a:ea typeface="微软雅黑"/>
                <a:cs typeface="微软雅黑"/>
              </a:rPr>
              <a:t>进行市场调研，了解用户未满足的需求，开发符合市场需求的新产品或服务，提升市场竞争力。</a:t>
            </a:r>
            <a:endParaRPr lang="zh-CN" altLang="en-US" sz="1000" kern="0">
              <a:solidFill>
                <a:srgbClr val="383838">
                  <a:alpha val="85000"/>
                </a:srgbClr>
              </a:solidFill>
              <a:latin typeface="微软雅黑"/>
              <a:ea typeface="微软雅黑"/>
              <a:cs typeface="微软雅黑"/>
            </a:endParaRPr>
          </a:p>
        </p:txBody>
      </p:sp>
      <p:grpSp>
        <p:nvGrpSpPr>
          <p:cNvPr id="514" name="组合 513"/>
          <p:cNvGrpSpPr/>
          <p:nvPr/>
        </p:nvGrpSpPr>
        <p:grpSpPr>
          <a:xfrm>
            <a:off x="8020685" y="3263265"/>
            <a:ext cx="3630295" cy="606425"/>
            <a:chOff x="4015591" y="2893480"/>
            <a:chExt cx="3630157" cy="606408"/>
          </a:xfrm>
        </p:grpSpPr>
        <p:sp>
          <p:nvSpPr>
            <p:cNvPr id="515" name="文本框 514"/>
            <p:cNvSpPr txBox="1"/>
            <p:nvPr/>
          </p:nvSpPr>
          <p:spPr>
            <a:xfrm>
              <a:off x="4015591" y="2893480"/>
              <a:ext cx="1261884" cy="276999"/>
            </a:xfrm>
            <a:prstGeom prst="rect">
              <a:avLst/>
            </a:prstGeom>
            <a:noFill/>
          </p:spPr>
          <p:txBody>
            <a:bodyPr wrap="none" rtlCol="0" lIns="0" rIns="0" tIns="0" bIns="0">
              <a:spAutoFit/>
            </a:bodyPr>
            <a:lstStyle/>
            <a:p>
              <a:pPr marR="0" lvl="0" fontAlgn="auto">
                <a:lnSpc>
                  <a:spcPct val="100000"/>
                </a:lnSpc>
                <a:spcBef>
                  <a:spcPts val="0"/>
                </a:spcBef>
                <a:spcAft>
                  <a:spcPts val="0"/>
                </a:spcAft>
                <a:buClrTx/>
                <a:buSzTx/>
                <a:defRPr>
                  <a:latin typeface="微软雅黑"/>
                  <a:ea typeface="微软雅黑"/>
                  <a:cs typeface="微软雅黑"/>
                </a:defRPr>
              </a:pPr>
              <a:r>
                <a:rPr lang="zh-CN" altLang="en-US" sz="1200" b="1">
                  <a:solidFill>
                    <a:srgbClr val="0042FF">
                      <a:alpha val="80000"/>
                    </a:srgbClr>
                  </a:solidFill>
                  <a:latin typeface="微软雅黑"/>
                  <a:ea typeface="微软雅黑"/>
                  <a:cs typeface="微软雅黑"/>
                </a:rPr>
                <a:t>产品改进和更新</a:t>
              </a:r>
              <a:endParaRPr lang="zh-CN" altLang="en-US" sz="1200" b="1">
                <a:solidFill>
                  <a:srgbClr val="0042FF">
                    <a:alpha val="80000"/>
                  </a:srgbClr>
                </a:solidFill>
                <a:latin typeface="微软雅黑"/>
                <a:ea typeface="微软雅黑"/>
                <a:cs typeface="微软雅黑"/>
              </a:endParaRPr>
            </a:p>
          </p:txBody>
        </p:sp>
        <p:sp>
          <p:nvSpPr>
            <p:cNvPr id="516" name="文本框 515"/>
            <p:cNvSpPr txBox="1"/>
            <p:nvPr/>
          </p:nvSpPr>
          <p:spPr>
            <a:xfrm>
              <a:off x="4015591" y="3122862"/>
              <a:ext cx="3630157" cy="377026"/>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kern="0">
                  <a:solidFill>
                    <a:srgbClr val="383838">
                      <a:alpha val="85000"/>
                    </a:srgbClr>
                  </a:solidFill>
                  <a:latin typeface="微软雅黑"/>
                  <a:ea typeface="微软雅黑"/>
                  <a:cs typeface="微软雅黑"/>
                </a:rPr>
                <a:t>基于用户需求和市场趋势，持续进行产品功能的更新和升级，提供更好的用户体验和附加价值。</a:t>
              </a:r>
              <a:endParaRPr lang="zh-CN" altLang="en-US" sz="1000" kern="0">
                <a:solidFill>
                  <a:srgbClr val="383838">
                    <a:alpha val="85000"/>
                  </a:srgbClr>
                </a:solidFill>
                <a:latin typeface="微软雅黑"/>
                <a:ea typeface="微软雅黑"/>
                <a:cs typeface="微软雅黑"/>
              </a:endParaRPr>
            </a:p>
          </p:txBody>
        </p:sp>
      </p:grpSp>
      <p:sp>
        <p:nvSpPr>
          <p:cNvPr id="22" name="矩形: 圆角 21"/>
          <p:cNvSpPr/>
          <p:nvPr/>
        </p:nvSpPr>
        <p:spPr>
          <a:xfrm>
            <a:off x="7964805" y="4054475"/>
            <a:ext cx="3764915" cy="1888490"/>
          </a:xfrm>
          <a:prstGeom prst="roundRect">
            <a:avLst>
              <a:gd name="adj" fmla="val 2116"/>
            </a:avLst>
          </a:prstGeom>
          <a:solidFill>
            <a:srgbClr val="E6E6E6">
              <a:alpha val="30000"/>
            </a:srgbClr>
          </a:solidFill>
          <a:ln w="6350">
            <a:solidFill>
              <a:srgbClr val="3368FF">
                <a:alpha val="50000"/>
              </a:srgbClr>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478" name="任意多边形: 形状 477"/>
          <p:cNvSpPr/>
          <p:nvPr/>
        </p:nvSpPr>
        <p:spPr>
          <a:xfrm rot="5400000">
            <a:off x="9665335" y="4902835"/>
            <a:ext cx="356235" cy="1012825"/>
          </a:xfrm>
          <a:custGeom>
            <a:avLst/>
            <a:gdLst>
              <a:gd name="connsiteX0" fmla="*/ 0 w 1288078"/>
              <a:gd name="connsiteY0" fmla="*/ 0 h 2041172"/>
              <a:gd name="connsiteX1" fmla="*/ 1000010 w 1288078"/>
              <a:gd name="connsiteY1" fmla="*/ 802476 h 2041172"/>
              <a:gd name="connsiteX2" fmla="*/ 1000010 w 1288078"/>
              <a:gd name="connsiteY2" fmla="*/ 658442 h 2041172"/>
              <a:gd name="connsiteX3" fmla="*/ 1288078 w 1288078"/>
              <a:gd name="connsiteY3" fmla="*/ 1020587 h 2041172"/>
              <a:gd name="connsiteX4" fmla="*/ 1000010 w 1288078"/>
              <a:gd name="connsiteY4" fmla="*/ 1382730 h 2041172"/>
              <a:gd name="connsiteX5" fmla="*/ 1000010 w 1288078"/>
              <a:gd name="connsiteY5" fmla="*/ 1238696 h 2041172"/>
              <a:gd name="connsiteX6" fmla="*/ 0 w 1288078"/>
              <a:gd name="connsiteY6" fmla="*/ 2041172 h 2041172"/>
              <a:gd name="connsiteX7" fmla="*/ 0 w 1288078"/>
              <a:gd name="connsiteY7" fmla="*/ 1020587 h 204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8078" h="2041172">
                <a:moveTo>
                  <a:pt x="0" y="0"/>
                </a:moveTo>
                <a:cubicBezTo>
                  <a:pt x="267492" y="423872"/>
                  <a:pt x="502063" y="761324"/>
                  <a:pt x="1000010" y="802476"/>
                </a:cubicBezTo>
                <a:lnTo>
                  <a:pt x="1000010" y="658442"/>
                </a:lnTo>
                <a:lnTo>
                  <a:pt x="1288078" y="1020587"/>
                </a:lnTo>
                <a:lnTo>
                  <a:pt x="1000010" y="1382730"/>
                </a:lnTo>
                <a:lnTo>
                  <a:pt x="1000010" y="1238696"/>
                </a:lnTo>
                <a:cubicBezTo>
                  <a:pt x="502063" y="1279848"/>
                  <a:pt x="267492" y="1617300"/>
                  <a:pt x="0" y="2041172"/>
                </a:cubicBezTo>
                <a:lnTo>
                  <a:pt x="0" y="1020587"/>
                </a:lnTo>
                <a:close/>
              </a:path>
            </a:pathLst>
          </a:custGeom>
          <a:gradFill>
            <a:gsLst>
              <a:gs pos="0">
                <a:srgbClr val="3368FF">
                  <a:alpha val="0"/>
                </a:srgbClr>
              </a:gs>
              <a:gs pos="100000">
                <a:srgbClr val="3368FF"/>
              </a:gs>
            </a:gsLst>
            <a:lin ang="0" scaled="0"/>
          </a:gradFill>
          <a:ln w="7198" cap="flat">
            <a:gradFill>
              <a:gsLst>
                <a:gs pos="12000">
                  <a:srgbClr val="3368FF">
                    <a:alpha val="0"/>
                  </a:srgbClr>
                </a:gs>
                <a:gs pos="100000">
                  <a:srgbClr val="3368FF"/>
                </a:gs>
              </a:gsLst>
              <a:lin ang="0" scaled="1"/>
            </a:gradFill>
            <a:prstDash val="solid"/>
            <a:miter/>
          </a:ln>
          <a:effectLst/>
        </p:spPr>
        <p:txBody>
          <a:bodyPr lIns="82296" tIns="41148" rIns="82296" bIns="41148" rtlCol="0" anchor="ctr">
            <a:noAutofit/>
          </a:bodyPr>
          <a:lstStyle/>
          <a:p>
            <a:pPr lvl="0" algn="ctr">
              <a:buClrTx/>
              <a:buSzTx/>
              <a:buFontTx/>
              <a:defRPr>
                <a:solidFill>
                  <a:srgbClr val="383838"/>
                </a:solidFill>
                <a:latin typeface="微软雅黑"/>
                <a:ea typeface="微软雅黑"/>
                <a:cs typeface="微软雅黑"/>
              </a:defRPr>
            </a:pPr>
            <a:endParaRPr lang="zh-CN" altLang="en-US" sz="1170" b="1" kern="0">
              <a:solidFill>
                <a:srgbClr val="383838"/>
              </a:solidFill>
              <a:latin typeface="微软雅黑"/>
              <a:ea typeface="微软雅黑"/>
              <a:cs typeface="微软雅黑"/>
              <a:sym typeface="微软雅黑"/>
            </a:endParaRPr>
          </a:p>
        </p:txBody>
      </p:sp>
      <p:sp>
        <p:nvSpPr>
          <p:cNvPr id="480" name="矩形: 圆角 479"/>
          <p:cNvSpPr/>
          <p:nvPr>
            <p:custDataLst>
              <p:tags r:id="rId5"/>
            </p:custDataLst>
          </p:nvPr>
        </p:nvSpPr>
        <p:spPr>
          <a:xfrm>
            <a:off x="8448675" y="4318635"/>
            <a:ext cx="2797175" cy="82296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sp>
        <p:nvSpPr>
          <p:cNvPr id="481" name="矩形: 圆角 480"/>
          <p:cNvSpPr/>
          <p:nvPr>
            <p:custDataLst>
              <p:tags r:id="rId6"/>
            </p:custDataLst>
          </p:nvPr>
        </p:nvSpPr>
        <p:spPr>
          <a:xfrm>
            <a:off x="8637905" y="5606415"/>
            <a:ext cx="2419350" cy="254000"/>
          </a:xfrm>
          <a:prstGeom prst="roundRect">
            <a:avLst>
              <a:gd name="adj" fmla="val 50000"/>
            </a:avLst>
          </a:prstGeom>
          <a:solidFill>
            <a:srgbClr val="3368FF"/>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全面实施策略以扩大市场份额。</a:t>
            </a:r>
            <a:endParaRPr lang="zh-CN" altLang="en-US" sz="1000" b="1" dirty="0">
              <a:solidFill>
                <a:srgbClr val="FFFFFF"/>
              </a:solidFill>
              <a:latin typeface="微软雅黑"/>
              <a:ea typeface="微软雅黑"/>
              <a:cs typeface="微软雅黑"/>
              <a:sym typeface="微软雅黑"/>
            </a:endParaRPr>
          </a:p>
        </p:txBody>
      </p:sp>
      <p:sp>
        <p:nvSpPr>
          <p:cNvPr id="485" name="矩形: 圆角 484"/>
          <p:cNvSpPr/>
          <p:nvPr>
            <p:custDataLst>
              <p:tags r:id="rId7"/>
            </p:custDataLst>
          </p:nvPr>
        </p:nvSpPr>
        <p:spPr>
          <a:xfrm>
            <a:off x="10758170" y="4603750"/>
            <a:ext cx="80391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sym typeface="微软雅黑"/>
              </a:rPr>
              <a:t>差异化定位</a:t>
            </a:r>
            <a:endParaRPr lang="zh-CN" altLang="en-US" sz="1000">
              <a:solidFill>
                <a:srgbClr val="0042FF"/>
              </a:solidFill>
              <a:latin typeface="微软雅黑"/>
              <a:ea typeface="微软雅黑"/>
              <a:cs typeface="微软雅黑"/>
              <a:sym typeface="微软雅黑"/>
            </a:endParaRPr>
          </a:p>
        </p:txBody>
      </p:sp>
      <p:sp>
        <p:nvSpPr>
          <p:cNvPr id="488" name="矩形: 圆角 487"/>
          <p:cNvSpPr/>
          <p:nvPr>
            <p:custDataLst>
              <p:tags r:id="rId8"/>
            </p:custDataLst>
          </p:nvPr>
        </p:nvSpPr>
        <p:spPr>
          <a:xfrm>
            <a:off x="8132445" y="4603750"/>
            <a:ext cx="80391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sym typeface="微软雅黑"/>
              </a:rPr>
              <a:t>产品创新</a:t>
            </a:r>
            <a:endParaRPr lang="zh-CN" altLang="en-US" sz="1000">
              <a:solidFill>
                <a:srgbClr val="0042FF"/>
              </a:solidFill>
              <a:latin typeface="微软雅黑"/>
              <a:ea typeface="微软雅黑"/>
              <a:cs typeface="微软雅黑"/>
              <a:sym typeface="微软雅黑"/>
            </a:endParaRPr>
          </a:p>
        </p:txBody>
      </p:sp>
      <p:sp>
        <p:nvSpPr>
          <p:cNvPr id="489" name="矩形: 圆角 488"/>
          <p:cNvSpPr/>
          <p:nvPr>
            <p:custDataLst>
              <p:tags r:id="rId9"/>
            </p:custDataLst>
          </p:nvPr>
        </p:nvSpPr>
        <p:spPr>
          <a:xfrm>
            <a:off x="8919845" y="5010785"/>
            <a:ext cx="80391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sym typeface="微软雅黑"/>
              </a:rPr>
              <a:t>品牌推广</a:t>
            </a:r>
            <a:endParaRPr lang="zh-CN" altLang="en-US" sz="1000">
              <a:solidFill>
                <a:srgbClr val="0042FF"/>
              </a:solidFill>
              <a:latin typeface="微软雅黑"/>
              <a:ea typeface="微软雅黑"/>
              <a:cs typeface="微软雅黑"/>
              <a:sym typeface="微软雅黑"/>
            </a:endParaRPr>
          </a:p>
        </p:txBody>
      </p:sp>
      <p:sp>
        <p:nvSpPr>
          <p:cNvPr id="490" name="矩形: 圆角 489"/>
          <p:cNvSpPr/>
          <p:nvPr>
            <p:custDataLst>
              <p:tags r:id="rId10"/>
            </p:custDataLst>
          </p:nvPr>
        </p:nvSpPr>
        <p:spPr>
          <a:xfrm>
            <a:off x="9977755" y="5017770"/>
            <a:ext cx="80391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sym typeface="微软雅黑"/>
              </a:rPr>
              <a:t>渠道拓展</a:t>
            </a:r>
            <a:endParaRPr lang="zh-CN" altLang="en-US" sz="1000">
              <a:solidFill>
                <a:srgbClr val="0042FF"/>
              </a:solidFill>
              <a:latin typeface="微软雅黑"/>
              <a:ea typeface="微软雅黑"/>
              <a:cs typeface="微软雅黑"/>
              <a:sym typeface="微软雅黑"/>
            </a:endParaRPr>
          </a:p>
        </p:txBody>
      </p:sp>
      <p:sp>
        <p:nvSpPr>
          <p:cNvPr id="491" name="矩形: 圆角 490"/>
          <p:cNvSpPr/>
          <p:nvPr>
            <p:custDataLst>
              <p:tags r:id="rId11"/>
            </p:custDataLst>
          </p:nvPr>
        </p:nvSpPr>
        <p:spPr>
          <a:xfrm>
            <a:off x="8919845" y="4199890"/>
            <a:ext cx="80391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sym typeface="微软雅黑"/>
              </a:rPr>
              <a:t>市场调研</a:t>
            </a:r>
            <a:endParaRPr lang="zh-CN" altLang="en-US" sz="1000">
              <a:solidFill>
                <a:srgbClr val="0042FF"/>
              </a:solidFill>
              <a:latin typeface="微软雅黑"/>
              <a:ea typeface="微软雅黑"/>
              <a:cs typeface="微软雅黑"/>
              <a:sym typeface="微软雅黑"/>
            </a:endParaRPr>
          </a:p>
        </p:txBody>
      </p:sp>
      <p:sp>
        <p:nvSpPr>
          <p:cNvPr id="492" name="矩形: 圆角 491"/>
          <p:cNvSpPr/>
          <p:nvPr>
            <p:custDataLst>
              <p:tags r:id="rId12"/>
            </p:custDataLst>
          </p:nvPr>
        </p:nvSpPr>
        <p:spPr>
          <a:xfrm>
            <a:off x="9977755" y="4199890"/>
            <a:ext cx="80391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sym typeface="微软雅黑"/>
              </a:rPr>
              <a:t>竞争分析</a:t>
            </a:r>
            <a:endParaRPr lang="zh-CN" altLang="en-US" sz="1000">
              <a:solidFill>
                <a:srgbClr val="0042FF"/>
              </a:solidFill>
              <a:latin typeface="微软雅黑"/>
              <a:ea typeface="微软雅黑"/>
              <a:cs typeface="微软雅黑"/>
              <a:sym typeface="微软雅黑"/>
            </a:endParaRPr>
          </a:p>
        </p:txBody>
      </p:sp>
      <p:sp>
        <p:nvSpPr>
          <p:cNvPr id="130" name="矩形: 圆角 129"/>
          <p:cNvSpPr/>
          <p:nvPr>
            <p:custDataLst>
              <p:tags r:id="rId13"/>
            </p:custDataLst>
          </p:nvPr>
        </p:nvSpPr>
        <p:spPr>
          <a:xfrm>
            <a:off x="9237345" y="4627880"/>
            <a:ext cx="1220470" cy="253365"/>
          </a:xfrm>
          <a:prstGeom prst="roundRect">
            <a:avLst>
              <a:gd name="adj" fmla="val 50000"/>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dirty="0">
                <a:solidFill>
                  <a:srgbClr val="0042FF"/>
                </a:solidFill>
                <a:latin typeface="微软雅黑"/>
                <a:ea typeface="微软雅黑"/>
                <a:cs typeface="微软雅黑"/>
                <a:sym typeface="微软雅黑"/>
              </a:rPr>
              <a:t>实现市场份额扩大</a:t>
            </a:r>
            <a:endParaRPr lang="zh-CN" altLang="en-US" sz="1000" b="1" dirty="0">
              <a:solidFill>
                <a:srgbClr val="0042FF"/>
              </a:solidFill>
              <a:latin typeface="微软雅黑"/>
              <a:ea typeface="微软雅黑"/>
              <a:cs typeface="微软雅黑"/>
              <a:sym typeface="微软雅黑"/>
            </a:endParaRPr>
          </a:p>
        </p:txBody>
      </p:sp>
      <p:sp>
        <p:nvSpPr>
          <p:cNvPr id="21" name="矩形: 圆角 20"/>
          <p:cNvSpPr/>
          <p:nvPr/>
        </p:nvSpPr>
        <p:spPr>
          <a:xfrm>
            <a:off x="1273810" y="4055110"/>
            <a:ext cx="2665730" cy="1887220"/>
          </a:xfrm>
          <a:prstGeom prst="roundRect">
            <a:avLst>
              <a:gd name="adj" fmla="val 2116"/>
            </a:avLst>
          </a:prstGeom>
          <a:solidFill>
            <a:srgbClr val="E6E6E6">
              <a:alpha val="30000"/>
            </a:srgbClr>
          </a:solidFill>
          <a:ln w="6350">
            <a:solidFill>
              <a:srgbClr val="3368FF">
                <a:alpha val="50000"/>
              </a:srgbClr>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497" name="任意多边形: 形状 496"/>
          <p:cNvSpPr/>
          <p:nvPr/>
        </p:nvSpPr>
        <p:spPr>
          <a:xfrm rot="5400000">
            <a:off x="2421255" y="4900295"/>
            <a:ext cx="356235" cy="998220"/>
          </a:xfrm>
          <a:custGeom>
            <a:avLst/>
            <a:gdLst>
              <a:gd name="connsiteX0" fmla="*/ 0 w 1288078"/>
              <a:gd name="connsiteY0" fmla="*/ 0 h 2041172"/>
              <a:gd name="connsiteX1" fmla="*/ 1000010 w 1288078"/>
              <a:gd name="connsiteY1" fmla="*/ 802476 h 2041172"/>
              <a:gd name="connsiteX2" fmla="*/ 1000010 w 1288078"/>
              <a:gd name="connsiteY2" fmla="*/ 658442 h 2041172"/>
              <a:gd name="connsiteX3" fmla="*/ 1288078 w 1288078"/>
              <a:gd name="connsiteY3" fmla="*/ 1020587 h 2041172"/>
              <a:gd name="connsiteX4" fmla="*/ 1000010 w 1288078"/>
              <a:gd name="connsiteY4" fmla="*/ 1382730 h 2041172"/>
              <a:gd name="connsiteX5" fmla="*/ 1000010 w 1288078"/>
              <a:gd name="connsiteY5" fmla="*/ 1238696 h 2041172"/>
              <a:gd name="connsiteX6" fmla="*/ 0 w 1288078"/>
              <a:gd name="connsiteY6" fmla="*/ 2041172 h 2041172"/>
              <a:gd name="connsiteX7" fmla="*/ 0 w 1288078"/>
              <a:gd name="connsiteY7" fmla="*/ 1020587 h 204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8078" h="2041172">
                <a:moveTo>
                  <a:pt x="0" y="0"/>
                </a:moveTo>
                <a:cubicBezTo>
                  <a:pt x="267492" y="423872"/>
                  <a:pt x="502063" y="761324"/>
                  <a:pt x="1000010" y="802476"/>
                </a:cubicBezTo>
                <a:lnTo>
                  <a:pt x="1000010" y="658442"/>
                </a:lnTo>
                <a:lnTo>
                  <a:pt x="1288078" y="1020587"/>
                </a:lnTo>
                <a:lnTo>
                  <a:pt x="1000010" y="1382730"/>
                </a:lnTo>
                <a:lnTo>
                  <a:pt x="1000010" y="1238696"/>
                </a:lnTo>
                <a:cubicBezTo>
                  <a:pt x="502063" y="1279848"/>
                  <a:pt x="267492" y="1617300"/>
                  <a:pt x="0" y="2041172"/>
                </a:cubicBezTo>
                <a:lnTo>
                  <a:pt x="0" y="1020587"/>
                </a:lnTo>
                <a:close/>
              </a:path>
            </a:pathLst>
          </a:custGeom>
          <a:gradFill>
            <a:gsLst>
              <a:gs pos="0">
                <a:srgbClr val="3368FF">
                  <a:alpha val="0"/>
                </a:srgbClr>
              </a:gs>
              <a:gs pos="100000">
                <a:srgbClr val="3368FF"/>
              </a:gs>
            </a:gsLst>
            <a:lin ang="0" scaled="0"/>
          </a:gradFill>
          <a:ln w="7198" cap="flat">
            <a:gradFill>
              <a:gsLst>
                <a:gs pos="12000">
                  <a:srgbClr val="3368FF">
                    <a:alpha val="0"/>
                  </a:srgbClr>
                </a:gs>
                <a:gs pos="100000">
                  <a:srgbClr val="3368FF"/>
                </a:gs>
              </a:gsLst>
              <a:lin ang="0" scaled="1"/>
            </a:gradFill>
            <a:prstDash val="solid"/>
            <a:miter/>
          </a:ln>
          <a:effectLst/>
        </p:spPr>
        <p:txBody>
          <a:bodyPr lIns="82296" tIns="41148" rIns="82296" bIns="41148" rtlCol="0" anchor="ctr"/>
          <a:lstStyle/>
          <a:p>
            <a:pPr algn="ctr">
              <a:defRPr>
                <a:solidFill>
                  <a:srgbClr val="383838"/>
                </a:solidFill>
                <a:latin typeface="微软雅黑"/>
                <a:ea typeface="微软雅黑"/>
                <a:cs typeface="微软雅黑"/>
              </a:defRPr>
            </a:pPr>
            <a:endParaRPr lang="zh-CN" altLang="en-US" sz="1170" b="1" kern="0">
              <a:solidFill>
                <a:srgbClr val="383838"/>
              </a:solidFill>
              <a:latin typeface="微软雅黑"/>
              <a:ea typeface="微软雅黑"/>
              <a:cs typeface="微软雅黑"/>
            </a:endParaRPr>
          </a:p>
        </p:txBody>
      </p:sp>
      <p:sp>
        <p:nvSpPr>
          <p:cNvPr id="498" name="矩形: 圆角 497"/>
          <p:cNvSpPr/>
          <p:nvPr>
            <p:custDataLst>
              <p:tags r:id="rId14"/>
            </p:custDataLst>
          </p:nvPr>
        </p:nvSpPr>
        <p:spPr>
          <a:xfrm>
            <a:off x="1710690" y="5596890"/>
            <a:ext cx="1791970" cy="254000"/>
          </a:xfrm>
          <a:prstGeom prst="roundRect">
            <a:avLst>
              <a:gd name="adj" fmla="val 50000"/>
            </a:avLst>
          </a:prstGeom>
          <a:solidFill>
            <a:srgbClr val="3368FF"/>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全面提升品牌曝光和用户体验</a:t>
            </a:r>
            <a:endParaRPr lang="zh-CN" altLang="en-US" sz="1000" b="1" dirty="0">
              <a:solidFill>
                <a:srgbClr val="FFFFFF"/>
              </a:solidFill>
              <a:latin typeface="微软雅黑"/>
              <a:ea typeface="微软雅黑"/>
              <a:cs typeface="微软雅黑"/>
              <a:sym typeface="微软雅黑"/>
            </a:endParaRPr>
          </a:p>
        </p:txBody>
      </p:sp>
      <p:sp>
        <p:nvSpPr>
          <p:cNvPr id="500" name="矩形: 圆角 499"/>
          <p:cNvSpPr/>
          <p:nvPr>
            <p:custDataLst>
              <p:tags r:id="rId15"/>
            </p:custDataLst>
          </p:nvPr>
        </p:nvSpPr>
        <p:spPr>
          <a:xfrm>
            <a:off x="1474470" y="4314825"/>
            <a:ext cx="2265045" cy="82296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sp>
        <p:nvSpPr>
          <p:cNvPr id="503" name="矩形: 圆角 502"/>
          <p:cNvSpPr/>
          <p:nvPr>
            <p:custDataLst>
              <p:tags r:id="rId16"/>
            </p:custDataLst>
          </p:nvPr>
        </p:nvSpPr>
        <p:spPr>
          <a:xfrm>
            <a:off x="1645285" y="5001260"/>
            <a:ext cx="88138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用户体验</a:t>
            </a:r>
            <a:endParaRPr lang="zh-CN" altLang="en-US" sz="1000">
              <a:solidFill>
                <a:srgbClr val="0042FF"/>
              </a:solidFill>
              <a:latin typeface="微软雅黑"/>
              <a:ea typeface="微软雅黑"/>
              <a:cs typeface="微软雅黑"/>
            </a:endParaRPr>
          </a:p>
        </p:txBody>
      </p:sp>
      <p:sp>
        <p:nvSpPr>
          <p:cNvPr id="504" name="矩形: 圆角 503"/>
          <p:cNvSpPr/>
          <p:nvPr>
            <p:custDataLst>
              <p:tags r:id="rId17"/>
            </p:custDataLst>
          </p:nvPr>
        </p:nvSpPr>
        <p:spPr>
          <a:xfrm>
            <a:off x="2687320" y="5008245"/>
            <a:ext cx="88138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合作伙伴关系</a:t>
            </a:r>
            <a:endParaRPr lang="zh-CN" altLang="en-US" sz="1000">
              <a:solidFill>
                <a:srgbClr val="0042FF"/>
              </a:solidFill>
              <a:latin typeface="微软雅黑"/>
              <a:ea typeface="微软雅黑"/>
              <a:cs typeface="微软雅黑"/>
            </a:endParaRPr>
          </a:p>
        </p:txBody>
      </p:sp>
      <p:sp>
        <p:nvSpPr>
          <p:cNvPr id="505" name="矩形: 圆角 504"/>
          <p:cNvSpPr/>
          <p:nvPr>
            <p:custDataLst>
              <p:tags r:id="rId18"/>
            </p:custDataLst>
          </p:nvPr>
        </p:nvSpPr>
        <p:spPr>
          <a:xfrm>
            <a:off x="1645285" y="4190365"/>
            <a:ext cx="88138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社交媒体</a:t>
            </a:r>
            <a:endParaRPr lang="zh-CN" altLang="en-US" sz="1000">
              <a:solidFill>
                <a:srgbClr val="0042FF"/>
              </a:solidFill>
              <a:latin typeface="微软雅黑"/>
              <a:ea typeface="微软雅黑"/>
              <a:cs typeface="微软雅黑"/>
            </a:endParaRPr>
          </a:p>
        </p:txBody>
      </p:sp>
      <p:sp>
        <p:nvSpPr>
          <p:cNvPr id="506" name="矩形: 圆角 505"/>
          <p:cNvSpPr/>
          <p:nvPr>
            <p:custDataLst>
              <p:tags r:id="rId19"/>
            </p:custDataLst>
          </p:nvPr>
        </p:nvSpPr>
        <p:spPr>
          <a:xfrm>
            <a:off x="2687320" y="4190365"/>
            <a:ext cx="881380" cy="254000"/>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内容营销</a:t>
            </a:r>
            <a:endParaRPr lang="zh-CN" altLang="en-US" sz="1000">
              <a:solidFill>
                <a:srgbClr val="0042FF"/>
              </a:solidFill>
              <a:latin typeface="微软雅黑"/>
              <a:ea typeface="微软雅黑"/>
              <a:cs typeface="微软雅黑"/>
            </a:endParaRPr>
          </a:p>
        </p:txBody>
      </p:sp>
      <p:sp>
        <p:nvSpPr>
          <p:cNvPr id="132" name="矩形: 圆角 131"/>
          <p:cNvSpPr/>
          <p:nvPr>
            <p:custDataLst>
              <p:tags r:id="rId20"/>
            </p:custDataLst>
          </p:nvPr>
        </p:nvSpPr>
        <p:spPr>
          <a:xfrm>
            <a:off x="2005965" y="4599305"/>
            <a:ext cx="1201420" cy="253365"/>
          </a:xfrm>
          <a:prstGeom prst="roundRect">
            <a:avLst>
              <a:gd name="adj" fmla="val 50000"/>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0042FF"/>
                </a:solidFill>
                <a:latin typeface="微软雅黑"/>
                <a:ea typeface="微软雅黑"/>
                <a:cs typeface="微软雅黑"/>
              </a:rPr>
              <a:t>创新市场推广策略</a:t>
            </a:r>
            <a:endParaRPr lang="zh-CN" altLang="en-US" sz="1000" b="1" dirty="0">
              <a:solidFill>
                <a:srgbClr val="0042FF"/>
              </a:solidFill>
              <a:latin typeface="微软雅黑"/>
              <a:ea typeface="微软雅黑"/>
              <a:cs typeface="微软雅黑"/>
            </a:endParaRPr>
          </a:p>
        </p:txBody>
      </p:sp>
      <p:sp>
        <p:nvSpPr>
          <p:cNvPr id="23" name="矩形: 圆角 22"/>
          <p:cNvSpPr/>
          <p:nvPr/>
        </p:nvSpPr>
        <p:spPr>
          <a:xfrm>
            <a:off x="4100195" y="4054475"/>
            <a:ext cx="3705225" cy="1888490"/>
          </a:xfrm>
          <a:prstGeom prst="roundRect">
            <a:avLst>
              <a:gd name="adj" fmla="val 2116"/>
            </a:avLst>
          </a:prstGeom>
          <a:solidFill>
            <a:srgbClr val="FFFFFF">
              <a:alpha val="30000"/>
            </a:srgbClr>
          </a:solidFill>
          <a:ln w="6350">
            <a:solidFill>
              <a:srgbClr val="B3D4FE">
                <a:alpha val="50000"/>
              </a:srgbClr>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dirty="0">
              <a:solidFill>
                <a:srgbClr val="0042FF"/>
              </a:solidFill>
              <a:latin typeface="微软雅黑"/>
              <a:ea typeface="微软雅黑"/>
              <a:cs typeface="微软雅黑"/>
              <a:sym typeface="微软雅黑"/>
            </a:endParaRPr>
          </a:p>
        </p:txBody>
      </p:sp>
      <p:sp>
        <p:nvSpPr>
          <p:cNvPr id="463" name="矩形: 圆角 462"/>
          <p:cNvSpPr/>
          <p:nvPr>
            <p:custDataLst>
              <p:tags r:id="rId21"/>
            </p:custDataLst>
          </p:nvPr>
        </p:nvSpPr>
        <p:spPr>
          <a:xfrm>
            <a:off x="4550410" y="4309110"/>
            <a:ext cx="2797175" cy="82296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solidFill>
                <a:srgbClr val="0042FF"/>
              </a:solidFill>
              <a:latin typeface="微软雅黑"/>
              <a:ea typeface="微软雅黑"/>
              <a:cs typeface="微软雅黑"/>
            </a:endParaRPr>
          </a:p>
        </p:txBody>
      </p:sp>
      <p:sp>
        <p:nvSpPr>
          <p:cNvPr id="460" name="任意多边形: 形状 459"/>
          <p:cNvSpPr/>
          <p:nvPr/>
        </p:nvSpPr>
        <p:spPr>
          <a:xfrm rot="5400000">
            <a:off x="5767070" y="4893310"/>
            <a:ext cx="356235" cy="1012825"/>
          </a:xfrm>
          <a:custGeom>
            <a:avLst/>
            <a:gdLst>
              <a:gd name="connsiteX0" fmla="*/ 0 w 1288078"/>
              <a:gd name="connsiteY0" fmla="*/ 0 h 2041172"/>
              <a:gd name="connsiteX1" fmla="*/ 1000010 w 1288078"/>
              <a:gd name="connsiteY1" fmla="*/ 802476 h 2041172"/>
              <a:gd name="connsiteX2" fmla="*/ 1000010 w 1288078"/>
              <a:gd name="connsiteY2" fmla="*/ 658442 h 2041172"/>
              <a:gd name="connsiteX3" fmla="*/ 1288078 w 1288078"/>
              <a:gd name="connsiteY3" fmla="*/ 1020587 h 2041172"/>
              <a:gd name="connsiteX4" fmla="*/ 1000010 w 1288078"/>
              <a:gd name="connsiteY4" fmla="*/ 1382730 h 2041172"/>
              <a:gd name="connsiteX5" fmla="*/ 1000010 w 1288078"/>
              <a:gd name="connsiteY5" fmla="*/ 1238696 h 2041172"/>
              <a:gd name="connsiteX6" fmla="*/ 0 w 1288078"/>
              <a:gd name="connsiteY6" fmla="*/ 2041172 h 2041172"/>
              <a:gd name="connsiteX7" fmla="*/ 0 w 1288078"/>
              <a:gd name="connsiteY7" fmla="*/ 1020587 h 204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8078" h="2041172">
                <a:moveTo>
                  <a:pt x="0" y="0"/>
                </a:moveTo>
                <a:cubicBezTo>
                  <a:pt x="267492" y="423872"/>
                  <a:pt x="502063" y="761324"/>
                  <a:pt x="1000010" y="802476"/>
                </a:cubicBezTo>
                <a:lnTo>
                  <a:pt x="1000010" y="658442"/>
                </a:lnTo>
                <a:lnTo>
                  <a:pt x="1288078" y="1020587"/>
                </a:lnTo>
                <a:lnTo>
                  <a:pt x="1000010" y="1382730"/>
                </a:lnTo>
                <a:lnTo>
                  <a:pt x="1000010" y="1238696"/>
                </a:lnTo>
                <a:cubicBezTo>
                  <a:pt x="502063" y="1279848"/>
                  <a:pt x="267492" y="1617300"/>
                  <a:pt x="0" y="2041172"/>
                </a:cubicBezTo>
                <a:lnTo>
                  <a:pt x="0" y="1020587"/>
                </a:lnTo>
                <a:close/>
              </a:path>
            </a:pathLst>
          </a:custGeom>
          <a:gradFill>
            <a:gsLst>
              <a:gs pos="0">
                <a:srgbClr val="B3D4FE">
                  <a:alpha val="0"/>
                </a:srgbClr>
              </a:gs>
              <a:gs pos="100000">
                <a:srgbClr val="B3D4FE"/>
              </a:gs>
            </a:gsLst>
            <a:lin ang="0" scaled="0"/>
          </a:gradFill>
          <a:ln w="7198" cap="flat">
            <a:gradFill>
              <a:gsLst>
                <a:gs pos="0">
                  <a:srgbClr val="B3D4FE"/>
                </a:gs>
                <a:gs pos="89000">
                  <a:srgbClr val="B3D4FE">
                    <a:alpha val="0"/>
                  </a:srgbClr>
                </a:gs>
              </a:gsLst>
              <a:lin ang="10800000" scaled="1"/>
            </a:gradFill>
            <a:prstDash val="solid"/>
            <a:miter/>
          </a:ln>
          <a:effectLst/>
        </p:spPr>
        <p:txBody>
          <a:bodyPr lIns="82296" tIns="41148" rIns="82296" bIns="41148" rtlCol="0" anchor="ctr">
            <a:noAutofit/>
          </a:bodyPr>
          <a:lstStyle/>
          <a:p>
            <a:pPr lvl="0" algn="ctr">
              <a:buClrTx/>
              <a:buSzTx/>
              <a:buFontTx/>
              <a:defRPr>
                <a:latin typeface="微软雅黑"/>
                <a:ea typeface="微软雅黑"/>
                <a:cs typeface="微软雅黑"/>
              </a:defRPr>
            </a:pPr>
            <a:endParaRPr lang="zh-CN" altLang="en-US" sz="1170" b="1" kern="0">
              <a:solidFill>
                <a:srgbClr val="0042FF"/>
              </a:solidFill>
              <a:latin typeface="微软雅黑"/>
              <a:ea typeface="微软雅黑"/>
              <a:cs typeface="微软雅黑"/>
              <a:sym typeface="微软雅黑"/>
            </a:endParaRPr>
          </a:p>
        </p:txBody>
      </p:sp>
      <p:sp>
        <p:nvSpPr>
          <p:cNvPr id="465" name="矩形: 圆角 464"/>
          <p:cNvSpPr/>
          <p:nvPr>
            <p:custDataLst>
              <p:tags r:id="rId22"/>
            </p:custDataLst>
          </p:nvPr>
        </p:nvSpPr>
        <p:spPr>
          <a:xfrm>
            <a:off x="6866890" y="4749800"/>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持续优化</a:t>
            </a:r>
            <a:endParaRPr lang="zh-CN" altLang="en-US" sz="1000">
              <a:solidFill>
                <a:srgbClr val="0042FF"/>
              </a:solidFill>
              <a:latin typeface="微软雅黑"/>
              <a:ea typeface="微软雅黑"/>
              <a:cs typeface="微软雅黑"/>
            </a:endParaRPr>
          </a:p>
        </p:txBody>
      </p:sp>
      <p:sp>
        <p:nvSpPr>
          <p:cNvPr id="467" name="矩形: 圆角 466"/>
          <p:cNvSpPr/>
          <p:nvPr>
            <p:custDataLst>
              <p:tags r:id="rId23"/>
            </p:custDataLst>
          </p:nvPr>
        </p:nvSpPr>
        <p:spPr>
          <a:xfrm>
            <a:off x="4234180" y="4749800"/>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品牌建设</a:t>
            </a:r>
            <a:endParaRPr lang="zh-CN" altLang="en-US" sz="1000">
              <a:solidFill>
                <a:srgbClr val="0042FF"/>
              </a:solidFill>
              <a:latin typeface="微软雅黑"/>
              <a:ea typeface="微软雅黑"/>
              <a:cs typeface="微软雅黑"/>
            </a:endParaRPr>
          </a:p>
        </p:txBody>
      </p:sp>
      <p:sp>
        <p:nvSpPr>
          <p:cNvPr id="468" name="矩形: 圆角 467"/>
          <p:cNvSpPr/>
          <p:nvPr>
            <p:custDataLst>
              <p:tags r:id="rId24"/>
            </p:custDataLst>
          </p:nvPr>
        </p:nvSpPr>
        <p:spPr>
          <a:xfrm>
            <a:off x="6859905" y="4438015"/>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客户关系</a:t>
            </a:r>
            <a:endParaRPr lang="zh-CN" altLang="en-US" sz="1000">
              <a:solidFill>
                <a:srgbClr val="0042FF"/>
              </a:solidFill>
              <a:latin typeface="微软雅黑"/>
              <a:ea typeface="微软雅黑"/>
              <a:cs typeface="微软雅黑"/>
            </a:endParaRPr>
          </a:p>
        </p:txBody>
      </p:sp>
      <p:sp>
        <p:nvSpPr>
          <p:cNvPr id="469" name="矩形: 圆角 468"/>
          <p:cNvSpPr/>
          <p:nvPr>
            <p:custDataLst>
              <p:tags r:id="rId25"/>
            </p:custDataLst>
          </p:nvPr>
        </p:nvSpPr>
        <p:spPr>
          <a:xfrm>
            <a:off x="4234180" y="4438015"/>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用户反馈</a:t>
            </a:r>
            <a:endParaRPr lang="zh-CN" altLang="en-US" sz="1000">
              <a:solidFill>
                <a:srgbClr val="0042FF"/>
              </a:solidFill>
              <a:latin typeface="微软雅黑"/>
              <a:ea typeface="微软雅黑"/>
              <a:cs typeface="微软雅黑"/>
            </a:endParaRPr>
          </a:p>
        </p:txBody>
      </p:sp>
      <p:sp>
        <p:nvSpPr>
          <p:cNvPr id="473" name="矩形: 圆角 472"/>
          <p:cNvSpPr/>
          <p:nvPr>
            <p:custDataLst>
              <p:tags r:id="rId26"/>
            </p:custDataLst>
          </p:nvPr>
        </p:nvSpPr>
        <p:spPr>
          <a:xfrm>
            <a:off x="5021580" y="5001260"/>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内容营销</a:t>
            </a:r>
            <a:endParaRPr lang="zh-CN" altLang="en-US" sz="1000">
              <a:solidFill>
                <a:srgbClr val="0042FF"/>
              </a:solidFill>
              <a:latin typeface="微软雅黑"/>
              <a:ea typeface="微软雅黑"/>
              <a:cs typeface="微软雅黑"/>
            </a:endParaRPr>
          </a:p>
        </p:txBody>
      </p:sp>
      <p:sp>
        <p:nvSpPr>
          <p:cNvPr id="474" name="矩形: 圆角 473"/>
          <p:cNvSpPr/>
          <p:nvPr>
            <p:custDataLst>
              <p:tags r:id="rId27"/>
            </p:custDataLst>
          </p:nvPr>
        </p:nvSpPr>
        <p:spPr>
          <a:xfrm>
            <a:off x="6079490" y="5008245"/>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社交媒体</a:t>
            </a:r>
            <a:endParaRPr lang="zh-CN" altLang="en-US" sz="1000">
              <a:solidFill>
                <a:srgbClr val="0042FF"/>
              </a:solidFill>
              <a:latin typeface="微软雅黑"/>
              <a:ea typeface="微软雅黑"/>
              <a:cs typeface="微软雅黑"/>
            </a:endParaRPr>
          </a:p>
        </p:txBody>
      </p:sp>
      <p:sp>
        <p:nvSpPr>
          <p:cNvPr id="475" name="矩形: 圆角 474"/>
          <p:cNvSpPr/>
          <p:nvPr>
            <p:custDataLst>
              <p:tags r:id="rId28"/>
            </p:custDataLst>
          </p:nvPr>
        </p:nvSpPr>
        <p:spPr>
          <a:xfrm>
            <a:off x="5021580" y="4190365"/>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用户体验</a:t>
            </a:r>
            <a:endParaRPr lang="zh-CN" altLang="en-US" sz="1000">
              <a:solidFill>
                <a:srgbClr val="0042FF"/>
              </a:solidFill>
              <a:latin typeface="微软雅黑"/>
              <a:ea typeface="微软雅黑"/>
              <a:cs typeface="微软雅黑"/>
            </a:endParaRPr>
          </a:p>
        </p:txBody>
      </p:sp>
      <p:sp>
        <p:nvSpPr>
          <p:cNvPr id="476" name="矩形: 圆角 475"/>
          <p:cNvSpPr/>
          <p:nvPr>
            <p:custDataLst>
              <p:tags r:id="rId29"/>
            </p:custDataLst>
          </p:nvPr>
        </p:nvSpPr>
        <p:spPr>
          <a:xfrm>
            <a:off x="6079490" y="4190365"/>
            <a:ext cx="803910" cy="25400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数据分析</a:t>
            </a:r>
            <a:endParaRPr lang="zh-CN" altLang="en-US" sz="1000">
              <a:solidFill>
                <a:srgbClr val="0042FF"/>
              </a:solidFill>
              <a:latin typeface="微软雅黑"/>
              <a:ea typeface="微软雅黑"/>
              <a:cs typeface="微软雅黑"/>
            </a:endParaRPr>
          </a:p>
        </p:txBody>
      </p:sp>
      <p:sp>
        <p:nvSpPr>
          <p:cNvPr id="523" name="矩形: 圆角 522"/>
          <p:cNvSpPr/>
          <p:nvPr>
            <p:custDataLst>
              <p:tags r:id="rId30"/>
            </p:custDataLst>
          </p:nvPr>
        </p:nvSpPr>
        <p:spPr>
          <a:xfrm>
            <a:off x="4824730" y="5596890"/>
            <a:ext cx="2255520" cy="254000"/>
          </a:xfrm>
          <a:prstGeom prst="roundRect">
            <a:avLst>
              <a:gd name="adj" fmla="val 50000"/>
            </a:avLst>
          </a:prstGeom>
          <a:solidFill>
            <a:srgbClr val="B3D4FE"/>
          </a:solidFill>
          <a:ln w="9708" cap="flat">
            <a:solidFill>
              <a:srgbClr val="B3D4FE"/>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sym typeface="微软雅黑"/>
              </a:rPr>
              <a:t>持续优化运营策略，不断提升运营效果</a:t>
            </a:r>
            <a:endParaRPr lang="zh-CN" altLang="en-US" sz="1000" b="1" dirty="0">
              <a:solidFill>
                <a:srgbClr val="383838"/>
              </a:solidFill>
              <a:latin typeface="微软雅黑"/>
              <a:ea typeface="微软雅黑"/>
              <a:cs typeface="微软雅黑"/>
              <a:sym typeface="微软雅黑"/>
            </a:endParaRPr>
          </a:p>
        </p:txBody>
      </p:sp>
      <p:sp>
        <p:nvSpPr>
          <p:cNvPr id="2" name="矩形: 圆角 460"/>
          <p:cNvSpPr/>
          <p:nvPr>
            <p:custDataLst>
              <p:tags r:id="rId31"/>
            </p:custDataLst>
          </p:nvPr>
        </p:nvSpPr>
        <p:spPr>
          <a:xfrm>
            <a:off x="5335270" y="4618355"/>
            <a:ext cx="1228090" cy="253365"/>
          </a:xfrm>
          <a:prstGeom prst="roundRect">
            <a:avLst>
              <a:gd name="adj" fmla="val 50000"/>
            </a:avLst>
          </a:prstGeom>
          <a:solidFill>
            <a:srgbClr val="FFFFFF">
              <a:alpha val="30000"/>
            </a:srgbClr>
          </a:solidFill>
          <a:ln w="9708" cap="flat">
            <a:solidFill>
              <a:srgbClr val="B3D4FE"/>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dirty="0">
                <a:solidFill>
                  <a:srgbClr val="0042FF"/>
                </a:solidFill>
                <a:latin typeface="微软雅黑"/>
                <a:ea typeface="微软雅黑"/>
                <a:cs typeface="微软雅黑"/>
                <a:sym typeface="微软雅黑"/>
              </a:rPr>
              <a:t>持续提升运营效果</a:t>
            </a:r>
            <a:endParaRPr lang="zh-CN" altLang="en-US" sz="1000" b="1" dirty="0">
              <a:solidFill>
                <a:srgbClr val="0042FF"/>
              </a:solidFill>
              <a:latin typeface="微软雅黑"/>
              <a:ea typeface="微软雅黑"/>
              <a:cs typeface="微软雅黑"/>
              <a:sym typeface="微软雅黑"/>
            </a:endParaRPr>
          </a:p>
        </p:txBody>
      </p:sp>
      <p:sp>
        <p:nvSpPr>
          <p:cNvPr id="4" name="textbox 2040"/>
          <p:cNvSpPr txBox="1"/>
          <p:nvPr/>
        </p:nvSpPr>
        <p:spPr>
          <a:xfrm>
            <a:off x="4102735" y="1224280"/>
            <a:ext cx="4142740" cy="398780"/>
          </a:xfrm>
          <a:prstGeom prst="rect">
            <a:avLst/>
          </a:prstGeom>
          <a:noFill/>
        </p:spPr>
        <p:txBody>
          <a:bodyPr vert="horz" wrap="square" lIns="0" tIns="0" rIns="0" bIns="0" rtlCol="0">
            <a:spAutoFit/>
          </a:bodyPr>
          <a:lstStyle>
            <a:defPPr>
              <a:defRPr lang="zh-CN">
                <a:solidFill>
                  <a:srgbClr val="383838"/>
                </a:solidFill>
                <a:latin typeface="微软雅黑"/>
                <a:ea typeface="微软雅黑"/>
                <a:cs typeface="微软雅黑"/>
              </a:defRPr>
            </a:defPPr>
            <a:lvl1pPr algn="ctr">
              <a:defRPr>
                <a:solidFill>
                  <a:srgbClr val="383838"/>
                </a:solidFill>
                <a:effectLst>
                  <a:reflection blurRad="101600" stA="19000" endPos="45500" dist="38100" dir="5400000" sy="-100000" algn="bl" rotWithShape="0"/>
                </a:effectLst>
                <a:latin typeface="微软雅黑"/>
                <a:ea typeface="微软雅黑"/>
                <a:cs typeface="微软雅黑"/>
              </a:defRPr>
            </a:lvl1pPr>
          </a:lstStyle>
          <a:p>
            <a:pPr lvl="0" algn="ctr">
              <a:spcBef>
                <a:spcPts val="0"/>
              </a:spcBef>
              <a:spcAft>
                <a:spcPts val="0"/>
              </a:spcAft>
              <a:buClrTx/>
              <a:buSzTx/>
              <a:buFontTx/>
              <a:defRPr>
                <a:solidFill>
                  <a:srgbClr val="383838"/>
                </a:solidFill>
                <a:latin typeface="微软雅黑"/>
                <a:ea typeface="微软雅黑"/>
                <a:cs typeface="微软雅黑"/>
              </a:defRPr>
            </a:pPr>
            <a:r>
              <a:rPr lang="zh-CN" altLang="en-US" sz="2000" b="1" noProof="0" dirty="0">
                <a:ln>
                  <a:noFill/>
                </a:ln>
                <a:solidFill>
                  <a:srgbClr val="383838"/>
                </a:solidFill>
                <a:effectLst>
                  <a:reflection blurRad="101600" stA="33000" endPos="22000" dist="38100" dir="5400000" sy="-100000" algn="bl" rotWithShape="0"/>
                </a:effectLst>
                <a:uLnTx/>
                <a:uFillTx/>
                <a:latin typeface="微软雅黑"/>
                <a:ea typeface="微软雅黑"/>
                <a:cs typeface="微软雅黑"/>
                <a:sym typeface="微软雅黑"/>
              </a:rPr>
              <a:t>公司年度运营规划</a:t>
            </a:r>
            <a:endParaRPr lang="zh-CN" altLang="en-US" sz="2000" b="1" noProof="0" dirty="0">
              <a:ln>
                <a:noFill/>
              </a:ln>
              <a:solidFill>
                <a:srgbClr val="383838"/>
              </a:solidFill>
              <a:effectLst>
                <a:reflection blurRad="101600" stA="33000" endPos="22000" dist="38100" dir="5400000" sy="-100000" algn="bl" rotWithShape="0"/>
              </a:effectLst>
              <a:uLnTx/>
              <a:uFillTx/>
              <a:latin typeface="微软雅黑"/>
              <a:ea typeface="微软雅黑"/>
              <a:cs typeface="微软雅黑"/>
              <a:sym typeface="微软雅黑"/>
            </a:endParaRPr>
          </a:p>
        </p:txBody>
      </p:sp>
      <p:sp>
        <p:nvSpPr>
          <p:cNvPr id="12" name="矩形: 圆角 478"/>
          <p:cNvSpPr/>
          <p:nvPr>
            <p:custDataLst>
              <p:tags r:id="rId32"/>
            </p:custDataLst>
          </p:nvPr>
        </p:nvSpPr>
        <p:spPr>
          <a:xfrm>
            <a:off x="355600" y="2530475"/>
            <a:ext cx="803275" cy="1447800"/>
          </a:xfrm>
          <a:prstGeom prst="roundRect">
            <a:avLst>
              <a:gd name="adj" fmla="val 6086"/>
            </a:avLst>
          </a:prstGeom>
          <a:solidFill>
            <a:srgbClr val="E6E6E6">
              <a:alpha val="50000"/>
            </a:srgbClr>
          </a:solidFill>
          <a:ln w="12700" cap="flat" cmpd="sng" algn="ctr">
            <a:solidFill>
              <a:srgbClr val="3368FF">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策略</a:t>
            </a:r>
            <a:endParaRPr lang="zh-CN" altLang="en-US" sz="12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规划</a:t>
            </a:r>
            <a:endParaRPr lang="zh-CN" altLang="en-US" sz="1200" b="1">
              <a:solidFill>
                <a:srgbClr val="0042FF"/>
              </a:solidFill>
              <a:latin typeface="微软雅黑"/>
              <a:ea typeface="微软雅黑"/>
              <a:cs typeface="微软雅黑"/>
              <a:sym typeface="微软雅黑"/>
            </a:endParaRPr>
          </a:p>
        </p:txBody>
      </p:sp>
      <p:sp>
        <p:nvSpPr>
          <p:cNvPr id="17" name="矩形: 圆角 478"/>
          <p:cNvSpPr/>
          <p:nvPr>
            <p:custDataLst>
              <p:tags r:id="rId33"/>
            </p:custDataLst>
          </p:nvPr>
        </p:nvSpPr>
        <p:spPr>
          <a:xfrm>
            <a:off x="356235" y="4055110"/>
            <a:ext cx="803275" cy="1886585"/>
          </a:xfrm>
          <a:prstGeom prst="roundRect">
            <a:avLst>
              <a:gd name="adj" fmla="val 6086"/>
            </a:avLst>
          </a:prstGeom>
          <a:solidFill>
            <a:srgbClr val="E6E6E6">
              <a:alpha val="50000"/>
            </a:srgbClr>
          </a:solidFill>
          <a:ln w="12700" cap="flat" cmpd="sng" algn="ctr">
            <a:solidFill>
              <a:srgbClr val="3368FF">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解决</a:t>
            </a:r>
            <a:endParaRPr lang="zh-CN" altLang="en-US" sz="12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方案</a:t>
            </a:r>
            <a:endParaRPr lang="zh-CN" altLang="en-US" sz="1200" b="1">
              <a:solidFill>
                <a:srgbClr val="0042FF"/>
              </a:solidFill>
              <a:latin typeface="微软雅黑"/>
              <a:ea typeface="微软雅黑"/>
              <a:cs typeface="微软雅黑"/>
              <a:sym typeface="微软雅黑"/>
            </a:endParaRPr>
          </a:p>
        </p:txBody>
      </p:sp>
      <p:grpSp>
        <p:nvGrpSpPr>
          <p:cNvPr id="16" name="组合 15"/>
          <p:cNvGrpSpPr/>
          <p:nvPr/>
        </p:nvGrpSpPr>
        <p:grpSpPr>
          <a:xfrm>
            <a:off x="1310640" y="6114415"/>
            <a:ext cx="2558415" cy="524510"/>
            <a:chOff x="2064" y="9629"/>
            <a:chExt cx="4029" cy="826"/>
          </a:xfrm>
        </p:grpSpPr>
        <p:sp>
          <p:nvSpPr>
            <p:cNvPr id="4307" name="显眼包PPT14"/>
            <p:cNvSpPr/>
            <p:nvPr/>
          </p:nvSpPr>
          <p:spPr>
            <a:xfrm>
              <a:off x="2065" y="9629"/>
              <a:ext cx="4028" cy="827"/>
            </a:xfrm>
            <a:prstGeom prst="rect">
              <a:avLst/>
            </a:prstGeom>
            <a:solidFill>
              <a:srgbClr val="FFFFFF">
                <a:alpha val="77000"/>
              </a:srgbClr>
            </a:solidFill>
            <a:ln w="12700">
              <a:solidFill>
                <a:srgbClr val="FFFFFF"/>
              </a:solid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endParaRPr lang="en-US" altLang="zh-CN" sz="1400">
                <a:solidFill>
                  <a:srgbClr val="383838"/>
                </a:solidFill>
                <a:effectLst/>
                <a:latin typeface="微软雅黑"/>
                <a:ea typeface="微软雅黑"/>
                <a:cs typeface="微软雅黑"/>
                <a:sym typeface="微软雅黑"/>
              </a:endParaRPr>
            </a:p>
          </p:txBody>
        </p:sp>
        <p:sp>
          <p:nvSpPr>
            <p:cNvPr id="11" name="文本框 10"/>
            <p:cNvSpPr txBox="1"/>
            <p:nvPr/>
          </p:nvSpPr>
          <p:spPr>
            <a:xfrm>
              <a:off x="2064" y="9582"/>
              <a:ext cx="4029" cy="718"/>
            </a:xfrm>
            <a:prstGeom prst="rect">
              <a:avLst/>
            </a:prstGeom>
            <a:noFill/>
          </p:spPr>
          <p:txBody>
            <a:bodyPr wrap="square" rtlCol="0" lIns="0" rIns="0" tIns="0" bIns="0" anchor="t">
              <a:noAutofit/>
            </a:bodyPr>
            <a:lstStyle/>
            <a:p>
              <a:pPr marL="0" marR="0" lvl="0" indent="0" defTabSz="403225"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383838">
                      <a:alpha val="85000"/>
                    </a:srgbClr>
                  </a:solidFill>
                  <a:effectLst/>
                  <a:uLnTx/>
                  <a:uFillTx/>
                  <a:latin typeface="微软雅黑"/>
                  <a:ea typeface="微软雅黑"/>
                  <a:cs typeface="微软雅黑"/>
                </a:rPr>
                <a:t>设立定期的</a:t>
              </a:r>
              <a:r>
                <a:rPr kumimoji="0" lang="zh-CN" altLang="en-US" sz="1000" b="1" u="none" strike="noStrike" kern="0" cap="none" spc="0" normalizeH="0" baseline="0" noProof="0">
                  <a:ln>
                    <a:noFill/>
                  </a:ln>
                  <a:solidFill>
                    <a:srgbClr val="0042FF">
                      <a:alpha val="80000"/>
                    </a:srgbClr>
                  </a:solidFill>
                  <a:effectLst/>
                  <a:uLnTx/>
                  <a:uFillTx/>
                  <a:latin typeface="微软雅黑"/>
                  <a:ea typeface="微软雅黑"/>
                  <a:cs typeface="微软雅黑"/>
                </a:rPr>
                <a:t>绩效评估</a:t>
              </a:r>
              <a:r>
                <a:rPr kumimoji="0" lang="zh-CN" altLang="en-US" sz="1000" u="none" strike="noStrike" kern="0" cap="none" spc="0" normalizeH="0" baseline="0" noProof="0">
                  <a:ln>
                    <a:noFill/>
                  </a:ln>
                  <a:solidFill>
                    <a:srgbClr val="0042FF">
                      <a:alpha val="80000"/>
                    </a:srgbClr>
                  </a:solidFill>
                  <a:effectLst/>
                  <a:uLnTx/>
                  <a:uFillTx/>
                  <a:latin typeface="微软雅黑"/>
                  <a:ea typeface="微软雅黑"/>
                  <a:cs typeface="微软雅黑"/>
                </a:rPr>
                <a:t>和</a:t>
              </a:r>
              <a:r>
                <a:rPr kumimoji="0" lang="zh-CN" altLang="en-US" sz="1000" b="1" u="none" strike="noStrike" kern="0" cap="none" spc="0" normalizeH="0" baseline="0" noProof="0">
                  <a:ln>
                    <a:noFill/>
                  </a:ln>
                  <a:solidFill>
                    <a:srgbClr val="0042FF">
                      <a:alpha val="80000"/>
                    </a:srgbClr>
                  </a:solidFill>
                  <a:effectLst/>
                  <a:uLnTx/>
                  <a:uFillTx/>
                  <a:latin typeface="微软雅黑"/>
                  <a:ea typeface="微软雅黑"/>
                  <a:cs typeface="微软雅黑"/>
                </a:rPr>
                <a:t>反馈机制</a:t>
              </a:r>
              <a:r>
                <a:rPr kumimoji="0" lang="zh-CN" altLang="en-US" sz="1000" u="none" strike="noStrike" kern="0" cap="none" spc="0" normalizeH="0" baseline="0" noProof="0">
                  <a:ln>
                    <a:noFill/>
                  </a:ln>
                  <a:solidFill>
                    <a:srgbClr val="383838">
                      <a:alpha val="85000"/>
                    </a:srgbClr>
                  </a:solidFill>
                  <a:effectLst/>
                  <a:uLnTx/>
                  <a:uFillTx/>
                  <a:latin typeface="微软雅黑"/>
                  <a:ea typeface="微软雅黑"/>
                  <a:cs typeface="微软雅黑"/>
                </a:rPr>
                <a:t>，以跟踪目标的实现情况，并对团队成员的表现给予及时反馈和激励。</a:t>
              </a:r>
              <a:endParaRPr kumimoji="0" lang="zh-CN" altLang="en-US" sz="1000" u="none" strike="noStrike" kern="0" cap="none" spc="0" normalizeH="0" baseline="0" noProof="0">
                <a:ln>
                  <a:noFill/>
                </a:ln>
                <a:solidFill>
                  <a:srgbClr val="383838">
                    <a:alpha val="85000"/>
                  </a:srgbClr>
                </a:solidFill>
                <a:effectLst/>
                <a:uLnTx/>
                <a:uFillTx/>
                <a:latin typeface="微软雅黑"/>
                <a:ea typeface="微软雅黑"/>
                <a:cs typeface="微软雅黑"/>
              </a:endParaRPr>
            </a:p>
          </p:txBody>
        </p:sp>
      </p:grpSp>
      <p:grpSp>
        <p:nvGrpSpPr>
          <p:cNvPr id="18" name="组合 17"/>
          <p:cNvGrpSpPr/>
          <p:nvPr/>
        </p:nvGrpSpPr>
        <p:grpSpPr>
          <a:xfrm>
            <a:off x="4102100" y="6114415"/>
            <a:ext cx="3683635" cy="533400"/>
            <a:chOff x="2064" y="9684"/>
            <a:chExt cx="4029" cy="840"/>
          </a:xfrm>
        </p:grpSpPr>
        <p:sp>
          <p:nvSpPr>
            <p:cNvPr id="19" name="显眼包PPT14"/>
            <p:cNvSpPr/>
            <p:nvPr/>
          </p:nvSpPr>
          <p:spPr>
            <a:xfrm>
              <a:off x="2065" y="9691"/>
              <a:ext cx="4028" cy="827"/>
            </a:xfrm>
            <a:prstGeom prst="rect">
              <a:avLst/>
            </a:prstGeom>
            <a:solidFill>
              <a:srgbClr val="FFFFFF">
                <a:alpha val="77000"/>
              </a:srgbClr>
            </a:solidFill>
            <a:ln w="12700">
              <a:solidFill>
                <a:srgbClr val="FFFFFF"/>
              </a:solid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endParaRPr lang="en-US" altLang="zh-CN" sz="1400">
                <a:solidFill>
                  <a:srgbClr val="383838"/>
                </a:solidFill>
                <a:effectLst/>
                <a:latin typeface="微软雅黑"/>
                <a:ea typeface="微软雅黑"/>
                <a:cs typeface="微软雅黑"/>
                <a:sym typeface="微软雅黑"/>
              </a:endParaRPr>
            </a:p>
          </p:txBody>
        </p:sp>
        <p:sp>
          <p:nvSpPr>
            <p:cNvPr id="20" name="文本框 19"/>
            <p:cNvSpPr txBox="1"/>
            <p:nvPr/>
          </p:nvSpPr>
          <p:spPr>
            <a:xfrm>
              <a:off x="2064" y="9684"/>
              <a:ext cx="4029" cy="840"/>
            </a:xfrm>
            <a:prstGeom prst="rect">
              <a:avLst/>
            </a:prstGeom>
            <a:noFill/>
          </p:spPr>
          <p:txBody>
            <a:bodyPr wrap="square" rtlCol="0" lIns="0" rIns="0" tIns="0" bIns="0" anchor="t">
              <a:noAutofit/>
            </a:bodyPr>
            <a:lstStyle/>
            <a:p>
              <a:pPr marL="0" marR="0" lvl="0" indent="0" defTabSz="403225" eaLnBrk="1" fontAlgn="auto" latinLnBrk="0" hangingPunct="1">
                <a:lnSpc>
                  <a:spcPts val="1120"/>
                </a:lnSpc>
                <a:spcBef>
                  <a:spcPts val="0"/>
                </a:spcBef>
                <a:spcAft>
                  <a:spcPts val="0"/>
                </a:spcAft>
                <a:buClrTx/>
                <a:buSzTx/>
                <a:buFontTx/>
                <a:buNone/>
                <a:defRPr>
                  <a:latin typeface="微软雅黑"/>
                  <a:ea typeface="微软雅黑"/>
                  <a:cs typeface="微软雅黑"/>
                </a:defRPr>
              </a:pPr>
              <a:r>
                <a:rPr lang="zh-CN" altLang="en-US" sz="1000" b="1" kern="0" noProof="0">
                  <a:ln>
                    <a:noFill/>
                  </a:ln>
                  <a:solidFill>
                    <a:srgbClr val="0042FF">
                      <a:alpha val="80000"/>
                    </a:srgbClr>
                  </a:solidFill>
                  <a:effectLst/>
                  <a:uLnTx/>
                  <a:uFillTx/>
                  <a:latin typeface="微软雅黑"/>
                  <a:ea typeface="微软雅黑"/>
                  <a:cs typeface="微软雅黑"/>
                  <a:sym typeface="微软雅黑"/>
                </a:rPr>
                <a:t>定期举行团队会议</a:t>
              </a:r>
              <a:r>
                <a:rPr lang="zh-CN" altLang="en-US" sz="1000" kern="0" noProof="0">
                  <a:ln>
                    <a:noFill/>
                  </a:ln>
                  <a:solidFill>
                    <a:srgbClr val="383838">
                      <a:alpha val="85000"/>
                    </a:srgbClr>
                  </a:solidFill>
                  <a:effectLst/>
                  <a:uLnTx/>
                  <a:uFillTx/>
                  <a:latin typeface="微软雅黑"/>
                  <a:ea typeface="微软雅黑"/>
                  <a:cs typeface="微软雅黑"/>
                  <a:sym typeface="微软雅黑"/>
                </a:rPr>
                <a:t>是一个重要的管理实践，通过这种方式可以促进团队学习和交流，分享最佳实践和经验教训。会议不仅可以提高团队员工的专业能力，还可以加强团队凝聚力和协作精神。</a:t>
              </a:r>
              <a:endParaRPr kumimoji="0" lang="zh-CN" altLang="en-US" sz="1000" u="none" strike="noStrike" kern="0" cap="none" spc="0" normalizeH="0" baseline="0" noProof="0">
                <a:ln>
                  <a:noFill/>
                </a:ln>
                <a:solidFill>
                  <a:srgbClr val="383838">
                    <a:alpha val="85000"/>
                  </a:srgbClr>
                </a:solidFill>
                <a:effectLst/>
                <a:uLnTx/>
                <a:uFillTx/>
                <a:latin typeface="微软雅黑"/>
                <a:ea typeface="微软雅黑"/>
                <a:cs typeface="微软雅黑"/>
              </a:endParaRPr>
            </a:p>
          </p:txBody>
        </p:sp>
      </p:grpSp>
      <p:grpSp>
        <p:nvGrpSpPr>
          <p:cNvPr id="24" name="组合 23"/>
          <p:cNvGrpSpPr/>
          <p:nvPr/>
        </p:nvGrpSpPr>
        <p:grpSpPr>
          <a:xfrm>
            <a:off x="7964805" y="6108065"/>
            <a:ext cx="3597275" cy="533400"/>
            <a:chOff x="2064" y="9619"/>
            <a:chExt cx="4029" cy="840"/>
          </a:xfrm>
        </p:grpSpPr>
        <p:sp>
          <p:nvSpPr>
            <p:cNvPr id="25" name="显眼包PPT14"/>
            <p:cNvSpPr/>
            <p:nvPr/>
          </p:nvSpPr>
          <p:spPr>
            <a:xfrm>
              <a:off x="2065" y="9629"/>
              <a:ext cx="4028" cy="827"/>
            </a:xfrm>
            <a:prstGeom prst="rect">
              <a:avLst/>
            </a:prstGeom>
            <a:solidFill>
              <a:srgbClr val="FFFFFF">
                <a:alpha val="77000"/>
              </a:srgbClr>
            </a:solidFill>
            <a:ln w="12700">
              <a:solidFill>
                <a:srgbClr val="FFFFFF"/>
              </a:solid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endParaRPr lang="en-US" altLang="zh-CN" sz="1400">
                <a:solidFill>
                  <a:srgbClr val="383838"/>
                </a:solidFill>
                <a:effectLst/>
                <a:latin typeface="微软雅黑"/>
                <a:ea typeface="微软雅黑"/>
                <a:cs typeface="微软雅黑"/>
                <a:sym typeface="微软雅黑"/>
              </a:endParaRPr>
            </a:p>
          </p:txBody>
        </p:sp>
        <p:sp>
          <p:nvSpPr>
            <p:cNvPr id="26" name="文本框 25"/>
            <p:cNvSpPr txBox="1"/>
            <p:nvPr/>
          </p:nvSpPr>
          <p:spPr>
            <a:xfrm>
              <a:off x="2064" y="9619"/>
              <a:ext cx="4029" cy="840"/>
            </a:xfrm>
            <a:prstGeom prst="rect">
              <a:avLst/>
            </a:prstGeom>
            <a:noFill/>
          </p:spPr>
          <p:txBody>
            <a:bodyPr wrap="square" rtlCol="0" lIns="0" rIns="0" tIns="0" bIns="0" anchor="t">
              <a:noAutofit/>
            </a:bodyPr>
            <a:lstStyle/>
            <a:p>
              <a:pPr marL="0" marR="0" lvl="0" indent="0" defTabSz="403225" eaLnBrk="1" fontAlgn="auto" latinLnBrk="0" hangingPunct="1">
                <a:lnSpc>
                  <a:spcPts val="1120"/>
                </a:lnSpc>
                <a:spcBef>
                  <a:spcPts val="0"/>
                </a:spcBef>
                <a:spcAft>
                  <a:spcPts val="0"/>
                </a:spcAft>
                <a:buClrTx/>
                <a:buSzTx/>
                <a:buFontTx/>
                <a:buNone/>
                <a:defRPr>
                  <a:latin typeface="微软雅黑"/>
                  <a:ea typeface="微软雅黑"/>
                  <a:cs typeface="微软雅黑"/>
                </a:defRPr>
              </a:pPr>
              <a:r>
                <a:rPr lang="zh-CN" altLang="en-US" sz="1000" kern="0" noProof="0">
                  <a:ln>
                    <a:noFill/>
                  </a:ln>
                  <a:solidFill>
                    <a:srgbClr val="383838">
                      <a:alpha val="85000"/>
                    </a:srgbClr>
                  </a:solidFill>
                  <a:effectLst/>
                  <a:uLnTx/>
                  <a:uFillTx/>
                  <a:latin typeface="微软雅黑"/>
                  <a:ea typeface="微软雅黑"/>
                  <a:cs typeface="微软雅黑"/>
                  <a:sym typeface="微软雅黑"/>
                </a:rPr>
                <a:t>在现代商业环境下，</a:t>
              </a:r>
              <a:r>
                <a:rPr lang="zh-CN" altLang="en-US" sz="1000" b="1" kern="0" noProof="0">
                  <a:ln>
                    <a:noFill/>
                  </a:ln>
                  <a:solidFill>
                    <a:srgbClr val="0042FF">
                      <a:alpha val="80000"/>
                    </a:srgbClr>
                  </a:solidFill>
                  <a:effectLst/>
                  <a:uLnTx/>
                  <a:uFillTx/>
                  <a:latin typeface="微软雅黑"/>
                  <a:ea typeface="微软雅黑"/>
                  <a:cs typeface="微软雅黑"/>
                  <a:sym typeface="微软雅黑"/>
                </a:rPr>
                <a:t>持续改进</a:t>
              </a:r>
              <a:r>
                <a:rPr lang="zh-CN" altLang="en-US" sz="1000" kern="0" noProof="0">
                  <a:ln>
                    <a:noFill/>
                  </a:ln>
                  <a:solidFill>
                    <a:srgbClr val="383838">
                      <a:alpha val="85000"/>
                    </a:srgbClr>
                  </a:solidFill>
                  <a:effectLst/>
                  <a:uLnTx/>
                  <a:uFillTx/>
                  <a:latin typeface="微软雅黑"/>
                  <a:ea typeface="微软雅黑"/>
                  <a:cs typeface="微软雅黑"/>
                  <a:sym typeface="微软雅黑"/>
                </a:rPr>
                <a:t>已经成为企业取得成功的关键因素之一。它强调团队成员的积极性和创造性，并鼓励他们不断提出改进建议，以推动企业的发展和进步。</a:t>
              </a:r>
              <a:endParaRPr kumimoji="0" lang="zh-CN" altLang="en-US" sz="1000" u="none" strike="noStrike" kern="0" cap="none" spc="0" normalizeH="0" baseline="0" noProof="0">
                <a:ln>
                  <a:noFill/>
                </a:ln>
                <a:solidFill>
                  <a:srgbClr val="383838">
                    <a:alpha val="85000"/>
                  </a:srgbClr>
                </a:solidFill>
                <a:effectLst/>
                <a:uLnTx/>
                <a:uFillTx/>
                <a:latin typeface="微软雅黑"/>
                <a:ea typeface="微软雅黑"/>
                <a:cs typeface="微软雅黑"/>
              </a:endParaRPr>
            </a:p>
          </p:txBody>
        </p:sp>
      </p:grpSp>
      <p:sp>
        <p:nvSpPr>
          <p:cNvPr id="27" name="文本框 26"/>
          <p:cNvSpPr txBox="1"/>
          <p:nvPr/>
        </p:nvSpPr>
        <p:spPr>
          <a:xfrm>
            <a:off x="533718" y="6109018"/>
            <a:ext cx="541020" cy="524510"/>
          </a:xfrm>
          <a:prstGeom prst="rect">
            <a:avLst/>
          </a:prstGeom>
          <a:noFill/>
        </p:spPr>
        <p:txBody>
          <a:bodyPr wrap="none" rtlCol="0" lIns="0" rIns="0" tIns="0" bIns="0">
            <a:spAutoFit/>
          </a:bodyPr>
          <a:lstStyle/>
          <a:p>
            <a:pPr marL="0" marR="0" lvl="0" indent="0" algn="ctr" defTabSz="80645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10" b="1" u="none" strike="noStrike" kern="0" cap="none" spc="0" normalizeH="0" baseline="0" noProof="0">
                <a:ln>
                  <a:noFill/>
                </a:ln>
                <a:solidFill>
                  <a:srgbClr val="FFFFFF"/>
                </a:solidFill>
                <a:effectLst/>
                <a:uLnTx/>
                <a:uFillTx/>
                <a:latin typeface="微软雅黑"/>
                <a:ea typeface="微软雅黑"/>
                <a:cs typeface="微软雅黑"/>
              </a:rPr>
              <a:t>持续</a:t>
            </a:r>
            <a:endParaRPr kumimoji="0" lang="zh-CN" altLang="en-US" sz="1410" b="1" u="none" strike="noStrike" kern="0" cap="none" spc="0" normalizeH="0" baseline="0" noProof="0">
              <a:ln>
                <a:noFill/>
              </a:ln>
              <a:solidFill>
                <a:srgbClr val="FFFFFF"/>
              </a:solidFill>
              <a:effectLst/>
              <a:uLnTx/>
              <a:uFillTx/>
              <a:latin typeface="微软雅黑"/>
              <a:ea typeface="微软雅黑"/>
              <a:cs typeface="微软雅黑"/>
            </a:endParaRPr>
          </a:p>
          <a:p>
            <a:pPr marL="0" marR="0" lvl="0" indent="0" algn="ctr" defTabSz="80645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10" b="1" u="none" strike="noStrike" kern="0" cap="none" spc="0" normalizeH="0" baseline="0" noProof="0">
                <a:ln>
                  <a:noFill/>
                </a:ln>
                <a:solidFill>
                  <a:srgbClr val="FFFFFF"/>
                </a:solidFill>
                <a:effectLst/>
                <a:uLnTx/>
                <a:uFillTx/>
                <a:latin typeface="微软雅黑"/>
                <a:ea typeface="微软雅黑"/>
                <a:cs typeface="微软雅黑"/>
              </a:rPr>
              <a:t>改进</a:t>
            </a:r>
            <a:endParaRPr kumimoji="0" lang="zh-CN" altLang="en-US" sz="1410" b="1" u="none" strike="noStrike" kern="0" cap="none" spc="0" normalizeH="0" baseline="0" noProof="0">
              <a:ln>
                <a:noFill/>
              </a:ln>
              <a:solidFill>
                <a:srgbClr val="FFFFFF"/>
              </a:solidFill>
              <a:effectLst/>
              <a:uLnTx/>
              <a:uFillTx/>
              <a:latin typeface="微软雅黑"/>
              <a:ea typeface="微软雅黑"/>
              <a:cs typeface="微软雅黑"/>
            </a:endParaRPr>
          </a:p>
        </p:txBody>
      </p:sp>
      <p:grpSp>
        <p:nvGrpSpPr>
          <p:cNvPr id="3" name="组合 2"/>
          <p:cNvGrpSpPr/>
          <p:nvPr/>
        </p:nvGrpSpPr>
        <p:grpSpPr>
          <a:xfrm>
            <a:off x="7675245" y="347980"/>
            <a:ext cx="4588510" cy="367030"/>
            <a:chOff x="12087" y="-1089"/>
            <a:chExt cx="7226" cy="578"/>
          </a:xfrm>
        </p:grpSpPr>
        <p:pic>
          <p:nvPicPr>
            <p:cNvPr id="28" name="图片 27"/>
            <p:cNvPicPr>
              <a:picLocks noChangeAspect="1"/>
            </p:cNvPicPr>
            <p:nvPr userDrawn="1"/>
          </p:nvPicPr>
          <p:blipFill>
            <a:blip r:embed="rId34"/>
            <a:srcRect r="57320" b="-13333"/>
            <a:stretch>
              <a:fillRect/>
            </a:stretch>
          </p:blipFill>
          <p:spPr>
            <a:xfrm>
              <a:off x="12087" y="-1089"/>
              <a:ext cx="2548" cy="578"/>
            </a:xfrm>
            <a:prstGeom prst="rect">
              <a:avLst/>
            </a:prstGeom>
          </p:spPr>
        </p:pic>
        <p:sp>
          <p:nvSpPr>
            <p:cNvPr id="29" name="文本框 28"/>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 name="组合 96"/>
          <p:cNvGrpSpPr/>
          <p:nvPr/>
        </p:nvGrpSpPr>
        <p:grpSpPr>
          <a:xfrm rot="0">
            <a:off x="7969250" y="2388235"/>
            <a:ext cx="3591016" cy="4191000"/>
            <a:chOff x="1369" y="3776"/>
            <a:chExt cx="5147" cy="6600"/>
          </a:xfrm>
        </p:grpSpPr>
        <p:sp>
          <p:nvSpPr>
            <p:cNvPr id="98" name="显眼包PPT1"/>
            <p:cNvSpPr/>
            <p:nvPr/>
          </p:nvSpPr>
          <p:spPr>
            <a:xfrm>
              <a:off x="1369" y="3776"/>
              <a:ext cx="5147" cy="6600"/>
            </a:xfrm>
            <a:prstGeom prst="rect">
              <a:avLst/>
            </a:prstGeom>
            <a:gradFill flip="none" rotWithShape="1">
              <a:gsLst>
                <a:gs pos="18000">
                  <a:srgbClr val="FFFFFF">
                    <a:alpha val="47000"/>
                  </a:srgbClr>
                </a:gs>
                <a:gs pos="100000">
                  <a:srgbClr val="FFFFFF">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99" name="显眼包PPT13"/>
            <p:cNvSpPr/>
            <p:nvPr/>
          </p:nvSpPr>
          <p:spPr>
            <a:xfrm>
              <a:off x="1369" y="3776"/>
              <a:ext cx="5147" cy="858"/>
            </a:xfrm>
            <a:prstGeom prst="rect">
              <a:avLst/>
            </a:prstGeom>
            <a:gradFill flip="none" rotWithShape="1">
              <a:gsLst>
                <a:gs pos="18000">
                  <a:srgbClr val="B3D4FE"/>
                </a:gs>
                <a:gs pos="100000">
                  <a:srgbClr val="FFFFFF"/>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gr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rPr>
              <a:t>数字化营销及运营体系建设</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50" name="Google Shape;450;p24"/>
          <p:cNvSpPr/>
          <p:nvPr/>
        </p:nvSpPr>
        <p:spPr>
          <a:xfrm>
            <a:off x="713105" y="1125855"/>
            <a:ext cx="10847705" cy="1201420"/>
          </a:xfrm>
          <a:custGeom>
            <a:avLst/>
            <a:gdLst/>
            <a:ahLst/>
            <a:cxnLst/>
            <a:rect l="l" t="t" r="r" b="b"/>
            <a:pathLst>
              <a:path w="21588" h="21575" extrusionOk="0">
                <a:moveTo>
                  <a:pt x="109" y="19963"/>
                </a:moveTo>
                <a:cubicBezTo>
                  <a:pt x="41" y="20039"/>
                  <a:pt x="-6" y="20418"/>
                  <a:pt x="0" y="20836"/>
                </a:cubicBezTo>
                <a:cubicBezTo>
                  <a:pt x="7" y="21266"/>
                  <a:pt x="68" y="21590"/>
                  <a:pt x="139" y="21574"/>
                </a:cubicBezTo>
                <a:lnTo>
                  <a:pt x="21476" y="21515"/>
                </a:lnTo>
                <a:cubicBezTo>
                  <a:pt x="21535" y="21473"/>
                  <a:pt x="21581" y="21191"/>
                  <a:pt x="21587" y="20835"/>
                </a:cubicBezTo>
                <a:cubicBezTo>
                  <a:pt x="21594" y="20443"/>
                  <a:pt x="21552" y="20082"/>
                  <a:pt x="21489" y="19993"/>
                </a:cubicBezTo>
                <a:lnTo>
                  <a:pt x="10898" y="125"/>
                </a:lnTo>
                <a:cubicBezTo>
                  <a:pt x="10866" y="51"/>
                  <a:pt x="10833" y="10"/>
                  <a:pt x="10798" y="2"/>
                </a:cubicBezTo>
                <a:cubicBezTo>
                  <a:pt x="10748" y="-10"/>
                  <a:pt x="10699" y="50"/>
                  <a:pt x="10653" y="176"/>
                </a:cubicBezTo>
                <a:lnTo>
                  <a:pt x="109" y="19963"/>
                </a:lnTo>
                <a:close/>
              </a:path>
            </a:pathLst>
          </a:custGeom>
          <a:gradFill flip="none" rotWithShape="1">
            <a:gsLst>
              <a:gs pos="20000">
                <a:srgbClr val="3368FF"/>
              </a:gs>
              <a:gs pos="100000">
                <a:srgbClr val="0042FF"/>
              </a:gs>
            </a:gsLst>
            <a:lin ang="0" scaled="1"/>
            <a:tileRect/>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a:solidFill>
                <a:srgbClr val="FFFFFF"/>
              </a:solidFill>
              <a:latin typeface="微软雅黑"/>
              <a:ea typeface="微软雅黑"/>
              <a:cs typeface="微软雅黑"/>
              <a:sym typeface="微软雅黑"/>
            </a:endParaRPr>
          </a:p>
        </p:txBody>
      </p:sp>
      <p:sp>
        <p:nvSpPr>
          <p:cNvPr id="469" name="Google Shape;469;p24"/>
          <p:cNvSpPr txBox="1"/>
          <p:nvPr/>
        </p:nvSpPr>
        <p:spPr>
          <a:xfrm>
            <a:off x="4339273" y="1607185"/>
            <a:ext cx="3595370" cy="459740"/>
          </a:xfrm>
          <a:prstGeom prst="rect">
            <a:avLst/>
          </a:prstGeom>
          <a:noFill/>
          <a:ln>
            <a:noFill/>
          </a:ln>
        </p:spPr>
        <p:txBody>
          <a:bodyPr spcFirstLastPara="1" wrap="square" lIns="25400" tIns="25400" rIns="25400" bIns="25400" anchor="t" anchorCtr="0">
            <a:noAutofit/>
          </a:bodyPr>
          <a:lstStyle/>
          <a:p>
            <a:pPr algn="ctr">
              <a:buClr>
                <a:srgbClr val="383838"/>
              </a:buClr>
              <a:buSzPts val="1100"/>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sym typeface="微软雅黑"/>
              </a:rPr>
              <a:t>数字化营销及运营体系建设</a:t>
            </a:r>
            <a:endParaRPr lang="zh-CN" altLang="en-US" sz="2000" b="1" dirty="0">
              <a:solidFill>
                <a:srgbClr val="FFFFFF"/>
              </a:solidFill>
              <a:latin typeface="微软雅黑"/>
              <a:ea typeface="微软雅黑"/>
              <a:cs typeface="微软雅黑"/>
              <a:sym typeface="微软雅黑"/>
            </a:endParaRPr>
          </a:p>
        </p:txBody>
      </p:sp>
      <p:cxnSp>
        <p:nvCxnSpPr>
          <p:cNvPr id="449" name="Google Shape;698;p30"/>
          <p:cNvCxnSpPr>
            <a:endCxn id="500" idx="1"/>
          </p:cNvCxnSpPr>
          <p:nvPr/>
        </p:nvCxnSpPr>
        <p:spPr>
          <a:xfrm rot="10800000" flipH="1">
            <a:off x="1710706" y="5698618"/>
            <a:ext cx="5050375" cy="1015"/>
          </a:xfrm>
          <a:prstGeom prst="straightConnector1">
            <a:avLst/>
          </a:prstGeom>
          <a:noFill/>
          <a:ln w="12700" cap="flat" cmpd="sng">
            <a:solidFill>
              <a:srgbClr val="DCDCDC"/>
            </a:solidFill>
            <a:prstDash val="dash"/>
            <a:miter lim="400000"/>
            <a:headEnd type="none" w="sm" len="sm"/>
            <a:tailEnd type="triangle" w="med" len="med"/>
          </a:ln>
        </p:spPr>
      </p:cxnSp>
      <p:sp>
        <p:nvSpPr>
          <p:cNvPr id="475" name="Google Shape;700;p30"/>
          <p:cNvSpPr/>
          <p:nvPr/>
        </p:nvSpPr>
        <p:spPr>
          <a:xfrm>
            <a:off x="727063" y="4551771"/>
            <a:ext cx="2024355" cy="902014"/>
          </a:xfrm>
          <a:custGeom>
            <a:avLst/>
            <a:gdLst/>
            <a:ahLst/>
            <a:cxnLst/>
            <a:rect l="l" t="t" r="r" b="b"/>
            <a:pathLst>
              <a:path w="21591" h="21600" extrusionOk="0">
                <a:moveTo>
                  <a:pt x="1105" y="0"/>
                </a:moveTo>
                <a:cubicBezTo>
                  <a:pt x="781" y="0"/>
                  <a:pt x="586" y="1"/>
                  <a:pt x="456" y="115"/>
                </a:cubicBezTo>
                <a:cubicBezTo>
                  <a:pt x="269" y="257"/>
                  <a:pt x="121" y="563"/>
                  <a:pt x="53" y="955"/>
                </a:cubicBezTo>
                <a:cubicBezTo>
                  <a:pt x="-1" y="1227"/>
                  <a:pt x="0" y="1635"/>
                  <a:pt x="0" y="2314"/>
                </a:cubicBezTo>
                <a:lnTo>
                  <a:pt x="0" y="19286"/>
                </a:lnTo>
                <a:cubicBezTo>
                  <a:pt x="0" y="19965"/>
                  <a:pt x="-1" y="20373"/>
                  <a:pt x="53" y="20645"/>
                </a:cubicBezTo>
                <a:cubicBezTo>
                  <a:pt x="121" y="21037"/>
                  <a:pt x="269" y="21343"/>
                  <a:pt x="456" y="21485"/>
                </a:cubicBezTo>
                <a:cubicBezTo>
                  <a:pt x="586" y="21599"/>
                  <a:pt x="781" y="21600"/>
                  <a:pt x="1105" y="21600"/>
                </a:cubicBezTo>
                <a:lnTo>
                  <a:pt x="16542" y="21600"/>
                </a:lnTo>
                <a:lnTo>
                  <a:pt x="21414" y="11400"/>
                </a:lnTo>
                <a:cubicBezTo>
                  <a:pt x="21498" y="11223"/>
                  <a:pt x="21548" y="11120"/>
                  <a:pt x="21568" y="11020"/>
                </a:cubicBezTo>
                <a:cubicBezTo>
                  <a:pt x="21599" y="10881"/>
                  <a:pt x="21599" y="10719"/>
                  <a:pt x="21568" y="10580"/>
                </a:cubicBezTo>
                <a:cubicBezTo>
                  <a:pt x="21548" y="10480"/>
                  <a:pt x="21498" y="10377"/>
                  <a:pt x="21414" y="10200"/>
                </a:cubicBezTo>
                <a:lnTo>
                  <a:pt x="16542" y="0"/>
                </a:lnTo>
                <a:lnTo>
                  <a:pt x="1105" y="0"/>
                </a:lnTo>
                <a:close/>
              </a:path>
            </a:pathLst>
          </a:custGeom>
          <a:pattFill prst="wdDnDiag">
            <a:fgClr>
              <a:srgbClr val="E6E6E6"/>
            </a:fgClr>
            <a:bgClr>
              <a:srgbClr val="E6E6E6"/>
            </a:bgClr>
          </a:patt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383838"/>
              </a:buClr>
              <a:buSzPts val="1100"/>
              <a:buFont typeface="微软雅黑"/>
              <a:buNone/>
              <a:defRPr>
                <a:latin typeface="微软雅黑"/>
                <a:ea typeface="微软雅黑"/>
                <a:cs typeface="微软雅黑"/>
              </a:defRPr>
            </a:pPr>
            <a:endParaRPr sz="1100" b="0" i="0" u="none" strike="noStrike" cap="none">
              <a:solidFill>
                <a:srgbClr val="383838"/>
              </a:solidFill>
              <a:latin typeface="微软雅黑"/>
              <a:ea typeface="微软雅黑"/>
              <a:cs typeface="微软雅黑"/>
              <a:sym typeface="微软雅黑"/>
            </a:endParaRPr>
          </a:p>
        </p:txBody>
      </p:sp>
      <p:sp>
        <p:nvSpPr>
          <p:cNvPr id="476" name="Google Shape;701;p30"/>
          <p:cNvSpPr/>
          <p:nvPr/>
        </p:nvSpPr>
        <p:spPr>
          <a:xfrm>
            <a:off x="2342352" y="4551771"/>
            <a:ext cx="3993498" cy="902014"/>
          </a:xfrm>
          <a:custGeom>
            <a:avLst/>
            <a:gdLst/>
            <a:ahLst/>
            <a:cxnLst/>
            <a:rect l="l" t="t" r="r" b="b"/>
            <a:pathLst>
              <a:path w="21596" h="21600" extrusionOk="0">
                <a:moveTo>
                  <a:pt x="0" y="0"/>
                </a:moveTo>
                <a:lnTo>
                  <a:pt x="2229" y="9203"/>
                </a:lnTo>
                <a:cubicBezTo>
                  <a:pt x="2346" y="9685"/>
                  <a:pt x="2415" y="9975"/>
                  <a:pt x="2443" y="10249"/>
                </a:cubicBezTo>
                <a:cubicBezTo>
                  <a:pt x="2486" y="10628"/>
                  <a:pt x="2486" y="11066"/>
                  <a:pt x="2443" y="11445"/>
                </a:cubicBezTo>
                <a:cubicBezTo>
                  <a:pt x="2415" y="11718"/>
                  <a:pt x="2346" y="12005"/>
                  <a:pt x="2229" y="12488"/>
                </a:cubicBezTo>
                <a:lnTo>
                  <a:pt x="23" y="21600"/>
                </a:lnTo>
                <a:lnTo>
                  <a:pt x="19025" y="21600"/>
                </a:lnTo>
                <a:lnTo>
                  <a:pt x="21506" y="11354"/>
                </a:lnTo>
                <a:cubicBezTo>
                  <a:pt x="21549" y="11178"/>
                  <a:pt x="21574" y="11075"/>
                  <a:pt x="21584" y="10975"/>
                </a:cubicBezTo>
                <a:cubicBezTo>
                  <a:pt x="21600" y="10836"/>
                  <a:pt x="21600" y="10674"/>
                  <a:pt x="21584" y="10535"/>
                </a:cubicBezTo>
                <a:cubicBezTo>
                  <a:pt x="21574" y="10435"/>
                  <a:pt x="21549" y="10331"/>
                  <a:pt x="21506" y="10155"/>
                </a:cubicBezTo>
                <a:lnTo>
                  <a:pt x="19047" y="0"/>
                </a:lnTo>
                <a:lnTo>
                  <a:pt x="0" y="0"/>
                </a:lnTo>
                <a:close/>
              </a:path>
            </a:pathLst>
          </a:custGeom>
          <a:pattFill prst="wdDnDiag">
            <a:fgClr>
              <a:srgbClr val="E6E6E6"/>
            </a:fgClr>
            <a:bgClr>
              <a:srgbClr val="E6E6E6"/>
            </a:bgClr>
          </a:pattFill>
          <a:ln>
            <a:noFill/>
          </a:ln>
        </p:spPr>
        <p:txBody>
          <a:bodyPr spcFirstLastPara="1" wrap="square" lIns="0" tIns="0" rIns="0" bIns="0" anchor="ctr" anchorCtr="0">
            <a:noAutofit/>
          </a:bodyPr>
          <a:lstStyle/>
          <a:p>
            <a:pPr lvl="0" algn="ctr">
              <a:spcBef>
                <a:spcPts val="0"/>
              </a:spcBef>
              <a:spcAft>
                <a:spcPts val="0"/>
              </a:spcAft>
              <a:buClr>
                <a:srgbClr val="383838"/>
              </a:buClr>
              <a:buSzPts val="1100"/>
              <a:buFont typeface="微软雅黑"/>
              <a:defRPr>
                <a:solidFill>
                  <a:srgbClr val="383838"/>
                </a:solidFill>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477" name="Google Shape;702;p30"/>
          <p:cNvSpPr/>
          <p:nvPr/>
        </p:nvSpPr>
        <p:spPr>
          <a:xfrm>
            <a:off x="5928811" y="4551771"/>
            <a:ext cx="1952409" cy="902014"/>
          </a:xfrm>
          <a:custGeom>
            <a:avLst/>
            <a:gdLst/>
            <a:ahLst/>
            <a:cxnLst/>
            <a:rect l="l" t="t" r="r" b="b"/>
            <a:pathLst>
              <a:path w="21600" h="21600" extrusionOk="0">
                <a:moveTo>
                  <a:pt x="0" y="0"/>
                </a:moveTo>
                <a:lnTo>
                  <a:pt x="4537" y="9158"/>
                </a:lnTo>
                <a:cubicBezTo>
                  <a:pt x="4776" y="9640"/>
                  <a:pt x="4919" y="9930"/>
                  <a:pt x="4975" y="10203"/>
                </a:cubicBezTo>
                <a:cubicBezTo>
                  <a:pt x="5062" y="10583"/>
                  <a:pt x="5062" y="11020"/>
                  <a:pt x="4975" y="11400"/>
                </a:cubicBezTo>
                <a:cubicBezTo>
                  <a:pt x="4919" y="11673"/>
                  <a:pt x="4776" y="11960"/>
                  <a:pt x="4537" y="12442"/>
                </a:cubicBezTo>
                <a:lnTo>
                  <a:pt x="1" y="21600"/>
                </a:lnTo>
                <a:lnTo>
                  <a:pt x="20453" y="21600"/>
                </a:lnTo>
                <a:cubicBezTo>
                  <a:pt x="20790" y="21600"/>
                  <a:pt x="20992" y="21599"/>
                  <a:pt x="21127" y="21485"/>
                </a:cubicBezTo>
                <a:cubicBezTo>
                  <a:pt x="21321" y="21343"/>
                  <a:pt x="21473" y="21037"/>
                  <a:pt x="21543" y="20645"/>
                </a:cubicBezTo>
                <a:cubicBezTo>
                  <a:pt x="21599" y="20373"/>
                  <a:pt x="21600" y="19965"/>
                  <a:pt x="21600" y="19286"/>
                </a:cubicBezTo>
                <a:lnTo>
                  <a:pt x="21600" y="2314"/>
                </a:lnTo>
                <a:cubicBezTo>
                  <a:pt x="21600" y="1635"/>
                  <a:pt x="21599" y="1227"/>
                  <a:pt x="21543" y="955"/>
                </a:cubicBezTo>
                <a:cubicBezTo>
                  <a:pt x="21473" y="563"/>
                  <a:pt x="21321" y="257"/>
                  <a:pt x="21127" y="115"/>
                </a:cubicBezTo>
                <a:cubicBezTo>
                  <a:pt x="20992" y="1"/>
                  <a:pt x="20790" y="0"/>
                  <a:pt x="20453" y="0"/>
                </a:cubicBezTo>
                <a:lnTo>
                  <a:pt x="0" y="0"/>
                </a:lnTo>
                <a:close/>
              </a:path>
            </a:pathLst>
          </a:custGeom>
          <a:pattFill prst="wdDnDiag">
            <a:fgClr>
              <a:srgbClr val="E6E6E6"/>
            </a:fgClr>
            <a:bgClr>
              <a:srgbClr val="E6E6E6"/>
            </a:bgClr>
          </a:pattFill>
          <a:ln>
            <a:noFill/>
          </a:ln>
        </p:spPr>
        <p:txBody>
          <a:bodyPr spcFirstLastPara="1" wrap="square" lIns="0" tIns="0" rIns="0" bIns="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502" name="Google Shape;709;p30"/>
          <p:cNvSpPr/>
          <p:nvPr/>
        </p:nvSpPr>
        <p:spPr>
          <a:xfrm>
            <a:off x="859155" y="5564505"/>
            <a:ext cx="1087755" cy="269240"/>
          </a:xfrm>
          <a:prstGeom prst="roundRect">
            <a:avLst>
              <a:gd name="adj" fmla="val 50000"/>
            </a:avLst>
          </a:prstGeom>
          <a:gradFill flip="none" rotWithShape="1">
            <a:gsLst>
              <a:gs pos="23000">
                <a:srgbClr val="0042FF"/>
              </a:gs>
              <a:gs pos="100000">
                <a:srgbClr val="3368FF"/>
              </a:gs>
            </a:gsLst>
            <a:path path="circle">
              <a:fillToRect l="100000" t="100000"/>
            </a:path>
            <a:tileRect r="-100000" b="-100000"/>
          </a:gra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503" name="Google Shape;710;p30"/>
          <p:cNvSpPr/>
          <p:nvPr/>
        </p:nvSpPr>
        <p:spPr>
          <a:xfrm>
            <a:off x="953770" y="5609590"/>
            <a:ext cx="898525" cy="17907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19050" tIns="19050" rIns="19050" bIns="19050" anchor="ctr" anchorCtr="0">
            <a:noAutofit/>
          </a:bodyPr>
          <a:lstStyle/>
          <a:p>
            <a:pPr marL="0" marR="0" lvl="0" indent="0" algn="ctr" rtl="0">
              <a:lnSpc>
                <a:spcPct val="100000"/>
              </a:lnSpc>
              <a:spcBef>
                <a:spcPts val="0"/>
              </a:spcBef>
              <a:spcAft>
                <a:spcPts val="0"/>
              </a:spcAft>
              <a:buClr>
                <a:srgbClr val="FFFFFF"/>
              </a:buClr>
              <a:buSzPts val="1000"/>
              <a:buFont typeface="微软雅黑"/>
              <a:buNone/>
              <a:defRPr>
                <a:solidFill>
                  <a:srgbClr val="FFFFFF"/>
                </a:solidFill>
                <a:latin typeface="微软雅黑"/>
                <a:ea typeface="微软雅黑"/>
                <a:cs typeface="微软雅黑"/>
              </a:defRPr>
            </a:pPr>
            <a:r>
              <a:rPr lang="zh-CN" altLang="en-US" sz="1200" b="1" i="0" u="none" strike="noStrike" cap="none" dirty="0">
                <a:solidFill>
                  <a:srgbClr val="FFFFFF"/>
                </a:solidFill>
                <a:latin typeface="微软雅黑"/>
                <a:ea typeface="微软雅黑"/>
                <a:cs typeface="微软雅黑"/>
                <a:sym typeface="微软雅黑"/>
              </a:rPr>
              <a:t>识别</a:t>
            </a:r>
            <a:endParaRPr lang="zh-CN" altLang="en-US" sz="1200" b="1" i="0" u="none" strike="noStrike" cap="none" dirty="0">
              <a:solidFill>
                <a:srgbClr val="FFFFFF"/>
              </a:solidFill>
              <a:latin typeface="微软雅黑"/>
              <a:ea typeface="微软雅黑"/>
              <a:cs typeface="微软雅黑"/>
              <a:sym typeface="微软雅黑"/>
            </a:endParaRPr>
          </a:p>
        </p:txBody>
      </p:sp>
      <p:sp>
        <p:nvSpPr>
          <p:cNvPr id="501" name="Google Shape;712;p30"/>
          <p:cNvSpPr/>
          <p:nvPr/>
        </p:nvSpPr>
        <p:spPr>
          <a:xfrm>
            <a:off x="6832106" y="5634066"/>
            <a:ext cx="1049006" cy="17145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marL="0" marR="0" lvl="0" indent="0" algn="ctr" rtl="0">
              <a:lnSpc>
                <a:spcPts val="1120"/>
              </a:lnSpc>
              <a:spcBef>
                <a:spcPts val="0"/>
              </a:spcBef>
              <a:spcAft>
                <a:spcPts val="0"/>
              </a:spcAft>
              <a:buClr>
                <a:srgbClr val="FFFFFF"/>
              </a:buClr>
              <a:buSzPts val="1000"/>
              <a:buFont typeface="微软雅黑"/>
              <a:buNone/>
              <a:defRPr>
                <a:latin typeface="微软雅黑"/>
                <a:ea typeface="微软雅黑"/>
                <a:cs typeface="微软雅黑"/>
              </a:defRPr>
            </a:pPr>
            <a:r>
              <a:rPr lang="zh-CN" altLang="en-US" sz="1000" b="0" i="0" u="none" strike="noStrike" cap="none" dirty="0">
                <a:solidFill>
                  <a:srgbClr val="383838"/>
                </a:solidFill>
                <a:latin typeface="微软雅黑"/>
                <a:ea typeface="微软雅黑"/>
                <a:cs typeface="微软雅黑"/>
                <a:sym typeface="微软雅黑"/>
              </a:rPr>
              <a:t>变现</a:t>
            </a:r>
            <a:endParaRPr lang="zh-CN" altLang="en-US" sz="1000" b="0" i="0" u="none" strike="noStrike" cap="none" dirty="0">
              <a:solidFill>
                <a:srgbClr val="383838"/>
              </a:solidFill>
              <a:latin typeface="微软雅黑"/>
              <a:ea typeface="微软雅黑"/>
              <a:cs typeface="微软雅黑"/>
              <a:sym typeface="微软雅黑"/>
            </a:endParaRPr>
          </a:p>
        </p:txBody>
      </p:sp>
      <p:grpSp>
        <p:nvGrpSpPr>
          <p:cNvPr id="35" name="组合 34"/>
          <p:cNvGrpSpPr/>
          <p:nvPr/>
        </p:nvGrpSpPr>
        <p:grpSpPr>
          <a:xfrm>
            <a:off x="851535" y="4680585"/>
            <a:ext cx="750570" cy="642620"/>
            <a:chOff x="1743" y="7371"/>
            <a:chExt cx="1182" cy="1012"/>
          </a:xfrm>
        </p:grpSpPr>
        <p:sp>
          <p:nvSpPr>
            <p:cNvPr id="478" name="Google Shape;703;p30"/>
            <p:cNvSpPr/>
            <p:nvPr/>
          </p:nvSpPr>
          <p:spPr>
            <a:xfrm>
              <a:off x="1793" y="7371"/>
              <a:ext cx="1084" cy="1013"/>
            </a:xfrm>
            <a:prstGeom prst="roundRect">
              <a:avLst>
                <a:gd name="adj" fmla="val 3814"/>
              </a:avLst>
            </a:prstGeom>
            <a:gradFill flip="none" rotWithShape="1">
              <a:gsLst>
                <a:gs pos="23000">
                  <a:srgbClr val="0042FF"/>
                </a:gs>
                <a:gs pos="100000">
                  <a:srgbClr val="3368FF"/>
                </a:gs>
              </a:gsLst>
              <a:path path="circle">
                <a:fillToRect l="100000" t="100000"/>
              </a:path>
              <a:tileRect r="-100000" b="-100000"/>
            </a:gra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491" name="Google Shape;723;p30"/>
            <p:cNvSpPr txBox="1"/>
            <p:nvPr/>
          </p:nvSpPr>
          <p:spPr>
            <a:xfrm>
              <a:off x="1743" y="7509"/>
              <a:ext cx="1183" cy="738"/>
            </a:xfrm>
            <a:prstGeom prst="rect">
              <a:avLst/>
            </a:prstGeom>
            <a:noFill/>
            <a:ln>
              <a:noFill/>
            </a:ln>
          </p:spPr>
          <p:txBody>
            <a:bodyPr spcFirstLastPara="1" wrap="square" lIns="19050" tIns="19050" rIns="19050" bIns="19050" anchor="t" anchorCtr="0">
              <a:spAutoFit/>
            </a:bodyPr>
            <a:lstStyle/>
            <a:p>
              <a:pPr marL="0" marR="0" lvl="0" indent="0" algn="ctr" rtl="0">
                <a:lnSpc>
                  <a:spcPct val="100000"/>
                </a:lnSpc>
                <a:spcBef>
                  <a:spcPts val="0"/>
                </a:spcBef>
                <a:spcAft>
                  <a:spcPts val="0"/>
                </a:spcAft>
                <a:buClr>
                  <a:srgbClr val="FFFFFF"/>
                </a:buClr>
                <a:buSzPts val="1000"/>
                <a:buFont typeface="微软雅黑"/>
                <a:buNone/>
                <a:defRPr>
                  <a:solidFill>
                    <a:srgbClr val="FFFFFF"/>
                  </a:solidFill>
                  <a:latin typeface="微软雅黑"/>
                  <a:ea typeface="微软雅黑"/>
                  <a:cs typeface="微软雅黑"/>
                </a:defRPr>
              </a:pPr>
              <a:r>
                <a:rPr lang="zh-CN" sz="1400" b="1" i="0" u="none" strike="noStrike" cap="none" dirty="0">
                  <a:solidFill>
                    <a:srgbClr val="FFFFFF"/>
                  </a:solidFill>
                  <a:latin typeface="微软雅黑"/>
                  <a:ea typeface="微软雅黑"/>
                  <a:cs typeface="微软雅黑"/>
                  <a:sym typeface="微软雅黑"/>
                </a:rPr>
                <a:t>营销</a:t>
              </a:r>
              <a:endParaRPr lang="zh-CN" sz="1400" b="1" i="0" u="none" strike="noStrike" cap="none" dirty="0">
                <a:solidFill>
                  <a:srgbClr val="FFFFFF"/>
                </a:solidFill>
                <a:latin typeface="微软雅黑"/>
                <a:ea typeface="微软雅黑"/>
                <a:cs typeface="微软雅黑"/>
                <a:sym typeface="微软雅黑"/>
              </a:endParaRPr>
            </a:p>
            <a:p>
              <a:pPr marL="0" marR="0" lvl="0" indent="0" algn="ctr" rtl="0">
                <a:lnSpc>
                  <a:spcPct val="100000"/>
                </a:lnSpc>
                <a:spcBef>
                  <a:spcPts val="0"/>
                </a:spcBef>
                <a:spcAft>
                  <a:spcPts val="0"/>
                </a:spcAft>
                <a:buClr>
                  <a:srgbClr val="FFFFFF"/>
                </a:buClr>
                <a:buSzPts val="1000"/>
                <a:buFont typeface="微软雅黑"/>
                <a:buNone/>
                <a:defRPr>
                  <a:solidFill>
                    <a:srgbClr val="FFFFFF"/>
                  </a:solidFill>
                  <a:latin typeface="微软雅黑"/>
                  <a:ea typeface="微软雅黑"/>
                  <a:cs typeface="微软雅黑"/>
                </a:defRPr>
              </a:pPr>
              <a:r>
                <a:rPr lang="zh-CN" sz="1400" b="1" i="0" u="none" strike="noStrike" cap="none" dirty="0">
                  <a:solidFill>
                    <a:srgbClr val="FFFFFF"/>
                  </a:solidFill>
                  <a:latin typeface="微软雅黑"/>
                  <a:ea typeface="微软雅黑"/>
                  <a:cs typeface="微软雅黑"/>
                  <a:sym typeface="微软雅黑"/>
                </a:rPr>
                <a:t>对象</a:t>
              </a:r>
              <a:endParaRPr lang="zh-CN" sz="1400" b="1" dirty="0">
                <a:solidFill>
                  <a:srgbClr val="FFFFFF"/>
                </a:solidFill>
                <a:latin typeface="微软雅黑"/>
                <a:ea typeface="微软雅黑"/>
                <a:cs typeface="微软雅黑"/>
              </a:endParaRPr>
            </a:p>
          </p:txBody>
        </p:sp>
      </p:grpSp>
      <p:sp>
        <p:nvSpPr>
          <p:cNvPr id="23" name="Google Shape;703;p30"/>
          <p:cNvSpPr/>
          <p:nvPr/>
        </p:nvSpPr>
        <p:spPr>
          <a:xfrm>
            <a:off x="7027017" y="4686935"/>
            <a:ext cx="687600" cy="644400"/>
          </a:xfrm>
          <a:prstGeom prst="roundRect">
            <a:avLst>
              <a:gd name="adj" fmla="val 3814"/>
            </a:avLst>
          </a:prstGeom>
          <a:gradFill flip="none" rotWithShape="1">
            <a:gsLst>
              <a:gs pos="23000">
                <a:srgbClr val="3368FF"/>
              </a:gs>
              <a:gs pos="100000">
                <a:srgbClr val="B3D4FE"/>
              </a:gs>
            </a:gsLst>
            <a:path path="circle">
              <a:fillToRect l="100000" t="100000"/>
            </a:path>
            <a:tileRect r="-100000" b="-100000"/>
          </a:gra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24" name="Google Shape;723;p30"/>
          <p:cNvSpPr txBox="1"/>
          <p:nvPr/>
        </p:nvSpPr>
        <p:spPr>
          <a:xfrm>
            <a:off x="6995106" y="4774820"/>
            <a:ext cx="751421" cy="468630"/>
          </a:xfrm>
          <a:prstGeom prst="rect">
            <a:avLst/>
          </a:prstGeom>
          <a:noFill/>
          <a:ln>
            <a:noFill/>
          </a:ln>
        </p:spPr>
        <p:txBody>
          <a:bodyPr spcFirstLastPara="1" wrap="square" lIns="19050" tIns="19050" rIns="19050" bIns="19050" anchor="t" anchorCtr="0">
            <a:spAutoFit/>
          </a:bodyPr>
          <a:lstStyle/>
          <a:p>
            <a:pPr marL="0" marR="0" lvl="0" indent="0" algn="ctr" rtl="0">
              <a:lnSpc>
                <a:spcPct val="100000"/>
              </a:lnSpc>
              <a:spcBef>
                <a:spcPts val="0"/>
              </a:spcBef>
              <a:spcAft>
                <a:spcPts val="0"/>
              </a:spcAft>
              <a:buClr>
                <a:srgbClr val="FFFFFF"/>
              </a:buClr>
              <a:buSzPts val="1000"/>
              <a:buFont typeface="微软雅黑"/>
              <a:buNone/>
              <a:defRPr>
                <a:latin typeface="微软雅黑"/>
                <a:ea typeface="微软雅黑"/>
                <a:cs typeface="微软雅黑"/>
              </a:defRPr>
            </a:pPr>
            <a:r>
              <a:rPr lang="zh-CN" sz="1400" b="1" i="0" u="none" strike="noStrike" cap="none" dirty="0">
                <a:solidFill>
                  <a:srgbClr val="383838"/>
                </a:solidFill>
                <a:latin typeface="微软雅黑"/>
                <a:ea typeface="微软雅黑"/>
                <a:cs typeface="微软雅黑"/>
                <a:sym typeface="微软雅黑"/>
              </a:rPr>
              <a:t>忠诚</a:t>
            </a:r>
            <a:endParaRPr lang="zh-CN" sz="1400" b="1" i="0" u="none" strike="noStrike" cap="none" dirty="0">
              <a:solidFill>
                <a:srgbClr val="383838"/>
              </a:solidFill>
              <a:latin typeface="微软雅黑"/>
              <a:ea typeface="微软雅黑"/>
              <a:cs typeface="微软雅黑"/>
              <a:sym typeface="微软雅黑"/>
            </a:endParaRPr>
          </a:p>
          <a:p>
            <a:pPr marL="0" marR="0" lvl="0" indent="0" algn="ctr" rtl="0">
              <a:lnSpc>
                <a:spcPct val="100000"/>
              </a:lnSpc>
              <a:spcBef>
                <a:spcPts val="0"/>
              </a:spcBef>
              <a:spcAft>
                <a:spcPts val="0"/>
              </a:spcAft>
              <a:buClr>
                <a:srgbClr val="FFFFFF"/>
              </a:buClr>
              <a:buSzPts val="1000"/>
              <a:buFont typeface="微软雅黑"/>
              <a:buNone/>
              <a:defRPr>
                <a:latin typeface="微软雅黑"/>
                <a:ea typeface="微软雅黑"/>
                <a:cs typeface="微软雅黑"/>
              </a:defRPr>
            </a:pPr>
            <a:r>
              <a:rPr lang="zh-CN" sz="1400" b="1" i="0" u="none" strike="noStrike" cap="none" dirty="0">
                <a:solidFill>
                  <a:srgbClr val="383838"/>
                </a:solidFill>
                <a:latin typeface="微软雅黑"/>
                <a:ea typeface="微软雅黑"/>
                <a:cs typeface="微软雅黑"/>
                <a:sym typeface="微软雅黑"/>
              </a:rPr>
              <a:t>客户</a:t>
            </a:r>
            <a:endParaRPr lang="zh-CN" sz="1400" b="1" dirty="0">
              <a:latin typeface="微软雅黑"/>
              <a:ea typeface="微软雅黑"/>
              <a:cs typeface="微软雅黑"/>
            </a:endParaRPr>
          </a:p>
        </p:txBody>
      </p:sp>
      <p:sp>
        <p:nvSpPr>
          <p:cNvPr id="25" name="Google Shape;709;p30"/>
          <p:cNvSpPr/>
          <p:nvPr/>
        </p:nvSpPr>
        <p:spPr>
          <a:xfrm>
            <a:off x="3867150" y="5564505"/>
            <a:ext cx="1087755" cy="269240"/>
          </a:xfrm>
          <a:prstGeom prst="roundRect">
            <a:avLst>
              <a:gd name="adj" fmla="val 50000"/>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26" name="Google Shape;710;p30"/>
          <p:cNvSpPr/>
          <p:nvPr/>
        </p:nvSpPr>
        <p:spPr>
          <a:xfrm>
            <a:off x="3992880" y="5609590"/>
            <a:ext cx="898525" cy="17907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19050" tIns="19050" rIns="19050" bIns="19050" anchor="ctr" anchorCtr="0">
            <a:noAutofit/>
          </a:bodyPr>
          <a:lstStyle/>
          <a:p>
            <a:pPr marL="0" marR="0" lvl="0" indent="0" algn="ctr" rtl="0">
              <a:lnSpc>
                <a:spcPct val="100000"/>
              </a:lnSpc>
              <a:spcBef>
                <a:spcPts val="0"/>
              </a:spcBef>
              <a:spcAft>
                <a:spcPts val="0"/>
              </a:spcAft>
              <a:buClr>
                <a:srgbClr val="FFFFFF"/>
              </a:buClr>
              <a:buSzPts val="1000"/>
              <a:buFont typeface="微软雅黑"/>
              <a:buNone/>
              <a:defRPr>
                <a:solidFill>
                  <a:srgbClr val="383838"/>
                </a:solidFill>
                <a:latin typeface="微软雅黑"/>
                <a:ea typeface="微软雅黑"/>
                <a:cs typeface="微软雅黑"/>
              </a:defRPr>
            </a:pPr>
            <a:r>
              <a:rPr lang="zh-CN" altLang="en-US" sz="1200" b="1" i="0" u="none" strike="noStrike" cap="none" dirty="0">
                <a:solidFill>
                  <a:srgbClr val="383838"/>
                </a:solidFill>
                <a:latin typeface="微软雅黑"/>
                <a:ea typeface="微软雅黑"/>
                <a:cs typeface="微软雅黑"/>
                <a:sym typeface="微软雅黑"/>
              </a:rPr>
              <a:t>引流</a:t>
            </a:r>
            <a:endParaRPr lang="zh-CN" altLang="en-US" sz="1200" b="1" i="0" u="none" strike="noStrike" cap="none" dirty="0">
              <a:solidFill>
                <a:srgbClr val="383838"/>
              </a:solidFill>
              <a:latin typeface="微软雅黑"/>
              <a:ea typeface="微软雅黑"/>
              <a:cs typeface="微软雅黑"/>
              <a:sym typeface="微软雅黑"/>
            </a:endParaRPr>
          </a:p>
        </p:txBody>
      </p:sp>
      <p:sp>
        <p:nvSpPr>
          <p:cNvPr id="27" name="Google Shape;709;p30"/>
          <p:cNvSpPr/>
          <p:nvPr/>
        </p:nvSpPr>
        <p:spPr>
          <a:xfrm>
            <a:off x="6797675" y="5564505"/>
            <a:ext cx="1087755" cy="269240"/>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28" name="Google Shape;710;p30"/>
          <p:cNvSpPr/>
          <p:nvPr/>
        </p:nvSpPr>
        <p:spPr>
          <a:xfrm>
            <a:off x="6892290" y="5609590"/>
            <a:ext cx="898525" cy="17907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19050" tIns="19050" rIns="19050" bIns="19050" anchor="ctr" anchorCtr="0">
            <a:noAutofit/>
          </a:bodyPr>
          <a:lstStyle/>
          <a:p>
            <a:pPr marL="0" marR="0" lvl="0" indent="0" algn="ctr" rtl="0">
              <a:lnSpc>
                <a:spcPct val="100000"/>
              </a:lnSpc>
              <a:spcBef>
                <a:spcPts val="0"/>
              </a:spcBef>
              <a:spcAft>
                <a:spcPts val="0"/>
              </a:spcAft>
              <a:buClr>
                <a:srgbClr val="FFFFFF"/>
              </a:buClr>
              <a:buSzPts val="1000"/>
              <a:buFont typeface="微软雅黑"/>
              <a:buNone/>
              <a:defRPr>
                <a:latin typeface="微软雅黑"/>
                <a:ea typeface="微软雅黑"/>
                <a:cs typeface="微软雅黑"/>
              </a:defRPr>
            </a:pPr>
            <a:r>
              <a:rPr lang="zh-CN" altLang="en-US" sz="1200" b="1" i="0" u="none" strike="noStrike" cap="none" dirty="0">
                <a:solidFill>
                  <a:srgbClr val="383838"/>
                </a:solidFill>
                <a:latin typeface="微软雅黑"/>
                <a:ea typeface="微软雅黑"/>
                <a:cs typeface="微软雅黑"/>
                <a:sym typeface="微软雅黑"/>
              </a:rPr>
              <a:t>变现</a:t>
            </a:r>
            <a:endParaRPr lang="zh-CN" altLang="en-US" sz="1200" b="1" i="0" u="none" strike="noStrike" cap="none" dirty="0">
              <a:solidFill>
                <a:srgbClr val="383838"/>
              </a:solidFill>
              <a:latin typeface="微软雅黑"/>
              <a:ea typeface="微软雅黑"/>
              <a:cs typeface="微软雅黑"/>
              <a:sym typeface="微软雅黑"/>
            </a:endParaRPr>
          </a:p>
        </p:txBody>
      </p:sp>
      <p:sp>
        <p:nvSpPr>
          <p:cNvPr id="37" name="Google Shape;703;p30"/>
          <p:cNvSpPr/>
          <p:nvPr/>
        </p:nvSpPr>
        <p:spPr>
          <a:xfrm>
            <a:off x="3117850" y="4681220"/>
            <a:ext cx="688340" cy="643255"/>
          </a:xfrm>
          <a:prstGeom prst="roundRect">
            <a:avLst>
              <a:gd name="adj" fmla="val 3814"/>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8" name="Google Shape;723;p30"/>
          <p:cNvSpPr txBox="1"/>
          <p:nvPr/>
        </p:nvSpPr>
        <p:spPr>
          <a:xfrm>
            <a:off x="3086100" y="4768850"/>
            <a:ext cx="751205" cy="468630"/>
          </a:xfrm>
          <a:prstGeom prst="rect">
            <a:avLst/>
          </a:prstGeom>
          <a:noFill/>
          <a:ln>
            <a:noFill/>
          </a:ln>
        </p:spPr>
        <p:txBody>
          <a:bodyPr spcFirstLastPara="1" wrap="square" lIns="19050" tIns="19050" rIns="19050" bIns="19050" anchor="t" anchorCtr="0">
            <a:spAutoFit/>
          </a:bodyPr>
          <a:lstStyle/>
          <a:p>
            <a:pPr marL="0" marR="0" lvl="0" indent="0" algn="ctr" rtl="0">
              <a:lnSpc>
                <a:spcPct val="100000"/>
              </a:lnSpc>
              <a:spcBef>
                <a:spcPts val="0"/>
              </a:spcBef>
              <a:spcAft>
                <a:spcPts val="0"/>
              </a:spcAft>
              <a:buClr>
                <a:srgbClr val="FFFFFF"/>
              </a:buClr>
              <a:buSzPts val="1000"/>
              <a:buFont typeface="微软雅黑"/>
              <a:buNone/>
              <a:defRPr>
                <a:solidFill>
                  <a:srgbClr val="383838"/>
                </a:solidFill>
                <a:latin typeface="微软雅黑"/>
                <a:ea typeface="微软雅黑"/>
                <a:cs typeface="微软雅黑"/>
              </a:defRPr>
            </a:pPr>
            <a:r>
              <a:rPr lang="zh-CN" altLang="en-US" sz="1400" b="1" dirty="0">
                <a:solidFill>
                  <a:srgbClr val="383838"/>
                </a:solidFill>
                <a:latin typeface="微软雅黑"/>
                <a:ea typeface="微软雅黑"/>
                <a:cs typeface="微软雅黑"/>
              </a:rPr>
              <a:t>产品</a:t>
            </a:r>
            <a:endParaRPr lang="zh-CN" altLang="en-US" sz="1400" b="1" dirty="0">
              <a:solidFill>
                <a:srgbClr val="383838"/>
              </a:solidFill>
              <a:latin typeface="微软雅黑"/>
              <a:ea typeface="微软雅黑"/>
              <a:cs typeface="微软雅黑"/>
            </a:endParaRPr>
          </a:p>
          <a:p>
            <a:pPr marL="0" marR="0" lvl="0" indent="0" algn="ctr" rtl="0">
              <a:lnSpc>
                <a:spcPct val="100000"/>
              </a:lnSpc>
              <a:spcBef>
                <a:spcPts val="0"/>
              </a:spcBef>
              <a:spcAft>
                <a:spcPts val="0"/>
              </a:spcAft>
              <a:buClr>
                <a:srgbClr val="FFFFFF"/>
              </a:buClr>
              <a:buSzPts val="1000"/>
              <a:buFont typeface="微软雅黑"/>
              <a:buNone/>
              <a:defRPr>
                <a:solidFill>
                  <a:srgbClr val="383838"/>
                </a:solidFill>
                <a:latin typeface="微软雅黑"/>
                <a:ea typeface="微软雅黑"/>
                <a:cs typeface="微软雅黑"/>
              </a:defRPr>
            </a:pPr>
            <a:r>
              <a:rPr lang="zh-CN" altLang="en-US" sz="1400" b="1" dirty="0">
                <a:solidFill>
                  <a:srgbClr val="383838"/>
                </a:solidFill>
                <a:latin typeface="微软雅黑"/>
                <a:ea typeface="微软雅黑"/>
                <a:cs typeface="微软雅黑"/>
              </a:rPr>
              <a:t>提升</a:t>
            </a:r>
            <a:endParaRPr lang="zh-CN" altLang="en-US" sz="1400" b="1" dirty="0">
              <a:solidFill>
                <a:srgbClr val="383838"/>
              </a:solidFill>
              <a:latin typeface="微软雅黑"/>
              <a:ea typeface="微软雅黑"/>
              <a:cs typeface="微软雅黑"/>
            </a:endParaRPr>
          </a:p>
        </p:txBody>
      </p:sp>
      <p:sp>
        <p:nvSpPr>
          <p:cNvPr id="40" name="Google Shape;703;p30"/>
          <p:cNvSpPr/>
          <p:nvPr/>
        </p:nvSpPr>
        <p:spPr>
          <a:xfrm>
            <a:off x="3978910" y="4681220"/>
            <a:ext cx="688340" cy="643255"/>
          </a:xfrm>
          <a:prstGeom prst="roundRect">
            <a:avLst>
              <a:gd name="adj" fmla="val 3814"/>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41" name="Google Shape;723;p30"/>
          <p:cNvSpPr txBox="1"/>
          <p:nvPr/>
        </p:nvSpPr>
        <p:spPr>
          <a:xfrm>
            <a:off x="3947160" y="4768850"/>
            <a:ext cx="751205" cy="468630"/>
          </a:xfrm>
          <a:prstGeom prst="rect">
            <a:avLst/>
          </a:prstGeom>
          <a:noFill/>
          <a:ln>
            <a:noFill/>
          </a:ln>
        </p:spPr>
        <p:txBody>
          <a:bodyPr spcFirstLastPara="1" wrap="square" lIns="19050" tIns="19050" rIns="19050" bIns="19050" anchor="t" anchorCtr="0">
            <a:spAutoFit/>
          </a:bodyPr>
          <a:lstStyle/>
          <a:p>
            <a:pPr marL="0" marR="0" lvl="0" indent="0" algn="ctr" rtl="0">
              <a:lnSpc>
                <a:spcPct val="100000"/>
              </a:lnSpc>
              <a:spcBef>
                <a:spcPts val="0"/>
              </a:spcBef>
              <a:spcAft>
                <a:spcPts val="0"/>
              </a:spcAft>
              <a:buClr>
                <a:srgbClr val="FFFFFF"/>
              </a:buClr>
              <a:buSzPts val="1000"/>
              <a:buFont typeface="微软雅黑"/>
              <a:buNone/>
              <a:defRPr>
                <a:solidFill>
                  <a:srgbClr val="383838"/>
                </a:solidFill>
                <a:latin typeface="微软雅黑"/>
                <a:ea typeface="微软雅黑"/>
                <a:cs typeface="微软雅黑"/>
              </a:defRPr>
            </a:pPr>
            <a:r>
              <a:rPr lang="zh-CN" sz="1400" b="1" i="0" u="none" strike="noStrike" cap="none" dirty="0">
                <a:solidFill>
                  <a:srgbClr val="383838"/>
                </a:solidFill>
                <a:latin typeface="微软雅黑"/>
                <a:ea typeface="微软雅黑"/>
                <a:cs typeface="微软雅黑"/>
                <a:sym typeface="微软雅黑"/>
              </a:rPr>
              <a:t>营销</a:t>
            </a:r>
            <a:endParaRPr lang="zh-CN" sz="1400" b="1" i="0" u="none" strike="noStrike" cap="none" dirty="0">
              <a:solidFill>
                <a:srgbClr val="383838"/>
              </a:solidFill>
              <a:latin typeface="微软雅黑"/>
              <a:ea typeface="微软雅黑"/>
              <a:cs typeface="微软雅黑"/>
              <a:sym typeface="微软雅黑"/>
            </a:endParaRPr>
          </a:p>
          <a:p>
            <a:pPr marL="0" marR="0" lvl="0" indent="0" algn="ctr" rtl="0">
              <a:lnSpc>
                <a:spcPct val="100000"/>
              </a:lnSpc>
              <a:spcBef>
                <a:spcPts val="0"/>
              </a:spcBef>
              <a:spcAft>
                <a:spcPts val="0"/>
              </a:spcAft>
              <a:buClr>
                <a:srgbClr val="FFFFFF"/>
              </a:buClr>
              <a:buSzPts val="1000"/>
              <a:buFont typeface="微软雅黑"/>
              <a:buNone/>
              <a:defRPr>
                <a:solidFill>
                  <a:srgbClr val="383838"/>
                </a:solidFill>
                <a:latin typeface="微软雅黑"/>
                <a:ea typeface="微软雅黑"/>
                <a:cs typeface="微软雅黑"/>
              </a:defRPr>
            </a:pPr>
            <a:r>
              <a:rPr lang="zh-CN" sz="1400" b="1" i="0" u="none" strike="noStrike" cap="none" dirty="0">
                <a:solidFill>
                  <a:srgbClr val="383838"/>
                </a:solidFill>
                <a:latin typeface="微软雅黑"/>
                <a:ea typeface="微软雅黑"/>
                <a:cs typeface="微软雅黑"/>
                <a:sym typeface="微软雅黑"/>
              </a:rPr>
              <a:t>内容</a:t>
            </a:r>
            <a:endParaRPr lang="zh-CN" sz="1400" b="1" dirty="0">
              <a:solidFill>
                <a:srgbClr val="383838"/>
              </a:solidFill>
              <a:latin typeface="微软雅黑"/>
              <a:ea typeface="微软雅黑"/>
              <a:cs typeface="微软雅黑"/>
            </a:endParaRPr>
          </a:p>
        </p:txBody>
      </p:sp>
      <p:sp>
        <p:nvSpPr>
          <p:cNvPr id="43" name="Google Shape;703;p30"/>
          <p:cNvSpPr/>
          <p:nvPr/>
        </p:nvSpPr>
        <p:spPr>
          <a:xfrm>
            <a:off x="4839970" y="4681220"/>
            <a:ext cx="688340" cy="643255"/>
          </a:xfrm>
          <a:prstGeom prst="roundRect">
            <a:avLst>
              <a:gd name="adj" fmla="val 3814"/>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44" name="Google Shape;723;p30"/>
          <p:cNvSpPr txBox="1"/>
          <p:nvPr/>
        </p:nvSpPr>
        <p:spPr>
          <a:xfrm>
            <a:off x="4808220" y="4768850"/>
            <a:ext cx="751205" cy="468630"/>
          </a:xfrm>
          <a:prstGeom prst="rect">
            <a:avLst/>
          </a:prstGeom>
          <a:noFill/>
          <a:ln>
            <a:noFill/>
          </a:ln>
        </p:spPr>
        <p:txBody>
          <a:bodyPr spcFirstLastPara="1" wrap="square" lIns="19050" tIns="19050" rIns="19050" bIns="19050" anchor="t" anchorCtr="0">
            <a:spAutoFit/>
          </a:bodyPr>
          <a:lstStyle/>
          <a:p>
            <a:pPr marL="0" marR="0" lvl="0" indent="0" algn="ctr" rtl="0">
              <a:lnSpc>
                <a:spcPct val="100000"/>
              </a:lnSpc>
              <a:spcBef>
                <a:spcPts val="0"/>
              </a:spcBef>
              <a:spcAft>
                <a:spcPts val="0"/>
              </a:spcAft>
              <a:buClr>
                <a:srgbClr val="FFFFFF"/>
              </a:buClr>
              <a:buSzPts val="1000"/>
              <a:buFont typeface="微软雅黑"/>
              <a:buNone/>
              <a:defRPr>
                <a:solidFill>
                  <a:srgbClr val="383838"/>
                </a:solidFill>
                <a:latin typeface="微软雅黑"/>
                <a:ea typeface="微软雅黑"/>
                <a:cs typeface="微软雅黑"/>
              </a:defRPr>
            </a:pPr>
            <a:r>
              <a:rPr lang="zh-CN" sz="1400" b="1" i="0" u="none" strike="noStrike" cap="none" dirty="0">
                <a:solidFill>
                  <a:srgbClr val="383838"/>
                </a:solidFill>
                <a:latin typeface="微软雅黑"/>
                <a:ea typeface="微软雅黑"/>
                <a:cs typeface="微软雅黑"/>
                <a:sym typeface="微软雅黑"/>
              </a:rPr>
              <a:t>营销</a:t>
            </a:r>
            <a:endParaRPr lang="zh-CN" sz="1400" b="1" i="0" u="none" strike="noStrike" cap="none" dirty="0">
              <a:solidFill>
                <a:srgbClr val="383838"/>
              </a:solidFill>
              <a:latin typeface="微软雅黑"/>
              <a:ea typeface="微软雅黑"/>
              <a:cs typeface="微软雅黑"/>
              <a:sym typeface="微软雅黑"/>
            </a:endParaRPr>
          </a:p>
          <a:p>
            <a:pPr marL="0" marR="0" lvl="0" indent="0" algn="ctr" rtl="0">
              <a:lnSpc>
                <a:spcPct val="100000"/>
              </a:lnSpc>
              <a:spcBef>
                <a:spcPts val="0"/>
              </a:spcBef>
              <a:spcAft>
                <a:spcPts val="0"/>
              </a:spcAft>
              <a:buClr>
                <a:srgbClr val="FFFFFF"/>
              </a:buClr>
              <a:buSzPts val="1000"/>
              <a:buFont typeface="微软雅黑"/>
              <a:buNone/>
              <a:defRPr>
                <a:solidFill>
                  <a:srgbClr val="383838"/>
                </a:solidFill>
                <a:latin typeface="微软雅黑"/>
                <a:ea typeface="微软雅黑"/>
                <a:cs typeface="微软雅黑"/>
              </a:defRPr>
            </a:pPr>
            <a:r>
              <a:rPr lang="zh-CN" sz="1400" b="1" i="0" u="none" strike="noStrike" cap="none" dirty="0">
                <a:solidFill>
                  <a:srgbClr val="383838"/>
                </a:solidFill>
                <a:latin typeface="微软雅黑"/>
                <a:ea typeface="微软雅黑"/>
                <a:cs typeface="微软雅黑"/>
                <a:sym typeface="微软雅黑"/>
              </a:rPr>
              <a:t>机制</a:t>
            </a:r>
            <a:endParaRPr lang="zh-CN" sz="1400" b="1" dirty="0">
              <a:solidFill>
                <a:srgbClr val="383838"/>
              </a:solidFill>
              <a:latin typeface="微软雅黑"/>
              <a:ea typeface="微软雅黑"/>
              <a:cs typeface="微软雅黑"/>
            </a:endParaRPr>
          </a:p>
        </p:txBody>
      </p:sp>
      <p:sp>
        <p:nvSpPr>
          <p:cNvPr id="332" name="任意多边形: 形状 331"/>
          <p:cNvSpPr/>
          <p:nvPr>
            <p:custDataLst>
              <p:tags r:id="rId3"/>
            </p:custDataLst>
          </p:nvPr>
        </p:nvSpPr>
        <p:spPr>
          <a:xfrm>
            <a:off x="734060" y="5980430"/>
            <a:ext cx="7137400" cy="594995"/>
          </a:xfrm>
          <a:custGeom>
            <a:avLst/>
            <a:gdLst>
              <a:gd name="connsiteX0" fmla="*/ 0 w 2581486"/>
              <a:gd name="connsiteY0" fmla="*/ 0 h 374210"/>
              <a:gd name="connsiteX1" fmla="*/ 2581486 w 2581486"/>
              <a:gd name="connsiteY1" fmla="*/ 0 h 374210"/>
              <a:gd name="connsiteX2" fmla="*/ 2581486 w 2581486"/>
              <a:gd name="connsiteY2" fmla="*/ 374210 h 374210"/>
              <a:gd name="connsiteX3" fmla="*/ 0 w 2581486"/>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581486" h="374210">
                <a:moveTo>
                  <a:pt x="0" y="0"/>
                </a:moveTo>
                <a:lnTo>
                  <a:pt x="2581486" y="0"/>
                </a:lnTo>
                <a:lnTo>
                  <a:pt x="2581486" y="374210"/>
                </a:lnTo>
                <a:lnTo>
                  <a:pt x="0" y="374210"/>
                </a:lnTo>
                <a:close/>
              </a:path>
            </a:pathLst>
          </a:cu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a:solidFill>
                <a:srgbClr val="FFFFFF"/>
              </a:solidFill>
              <a:latin typeface="微软雅黑"/>
              <a:ea typeface="微软雅黑"/>
              <a:cs typeface="微软雅黑"/>
              <a:sym typeface="微软雅黑"/>
            </a:endParaRPr>
          </a:p>
        </p:txBody>
      </p:sp>
      <p:cxnSp>
        <p:nvCxnSpPr>
          <p:cNvPr id="65" name="直接连接符 64"/>
          <p:cNvCxnSpPr/>
          <p:nvPr/>
        </p:nvCxnSpPr>
        <p:spPr>
          <a:xfrm>
            <a:off x="2518410" y="5980430"/>
            <a:ext cx="0" cy="599440"/>
          </a:xfrm>
          <a:prstGeom prst="line">
            <a:avLst/>
          </a:prstGeom>
          <a:ln w="28575">
            <a:solidFill>
              <a:srgbClr val="FFFFFF"/>
            </a:solidFill>
          </a:ln>
        </p:spPr>
        <p:style>
          <a:lnRef idx="2">
            <a:srgbClr val="0042FF"/>
          </a:lnRef>
          <a:fillRef idx="0">
            <a:srgbClr val="FFFFFF"/>
          </a:fillRef>
          <a:effectRef idx="0">
            <a:srgbClr val="FFFFFF"/>
          </a:effectRef>
          <a:fontRef idx="minor">
            <a:srgbClr val="383838"/>
          </a:fontRef>
        </p:style>
      </p:cxnSp>
      <p:cxnSp>
        <p:nvCxnSpPr>
          <p:cNvPr id="66" name="直接连接符 65"/>
          <p:cNvCxnSpPr/>
          <p:nvPr/>
        </p:nvCxnSpPr>
        <p:spPr>
          <a:xfrm>
            <a:off x="4302760" y="5980430"/>
            <a:ext cx="0" cy="621665"/>
          </a:xfrm>
          <a:prstGeom prst="line">
            <a:avLst/>
          </a:prstGeom>
          <a:ln w="28575">
            <a:solidFill>
              <a:srgbClr val="FFFFFF"/>
            </a:solidFill>
          </a:ln>
        </p:spPr>
        <p:style>
          <a:lnRef idx="2">
            <a:srgbClr val="0042FF"/>
          </a:lnRef>
          <a:fillRef idx="0">
            <a:srgbClr val="FFFFFF"/>
          </a:fillRef>
          <a:effectRef idx="0">
            <a:srgbClr val="FFFFFF"/>
          </a:effectRef>
          <a:fontRef idx="minor">
            <a:srgbClr val="383838"/>
          </a:fontRef>
        </p:style>
      </p:cxnSp>
      <p:cxnSp>
        <p:nvCxnSpPr>
          <p:cNvPr id="71" name="直接连接符 70"/>
          <p:cNvCxnSpPr/>
          <p:nvPr/>
        </p:nvCxnSpPr>
        <p:spPr>
          <a:xfrm>
            <a:off x="6087110" y="5980430"/>
            <a:ext cx="0" cy="593725"/>
          </a:xfrm>
          <a:prstGeom prst="line">
            <a:avLst/>
          </a:prstGeom>
          <a:ln w="28575">
            <a:solidFill>
              <a:srgbClr val="FFFFFF"/>
            </a:solidFill>
          </a:ln>
        </p:spPr>
        <p:style>
          <a:lnRef idx="2">
            <a:srgbClr val="0042FF"/>
          </a:lnRef>
          <a:fillRef idx="0">
            <a:srgbClr val="FFFFFF"/>
          </a:fillRef>
          <a:effectRef idx="0">
            <a:srgbClr val="FFFFFF"/>
          </a:effectRef>
          <a:fontRef idx="minor">
            <a:srgbClr val="383838"/>
          </a:fontRef>
        </p:style>
      </p:cxnSp>
      <p:sp>
        <p:nvSpPr>
          <p:cNvPr id="443" name="文本框 442"/>
          <p:cNvSpPr txBox="1"/>
          <p:nvPr>
            <p:custDataLst>
              <p:tags r:id="rId4"/>
            </p:custDataLst>
          </p:nvPr>
        </p:nvSpPr>
        <p:spPr>
          <a:xfrm>
            <a:off x="1125538" y="6080125"/>
            <a:ext cx="889000" cy="368935"/>
          </a:xfrm>
          <a:prstGeom prst="rect">
            <a:avLst/>
          </a:prstGeom>
          <a:noFill/>
          <a:extLst>
            <a:ext uri="{909E8E84-426E-40DD-AFC4-6F175D3DCCD1}">
              <a14:hiddenFill xmlns:a14="http://schemas.microsoft.com/office/drawing/2010/main">
                <a:solidFill>
                  <a:srgbClr val="FF4200"/>
                </a:solid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数字基建</a:t>
            </a:r>
            <a:endParaRPr lang="zh-CN" altLang="en-US" sz="14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做好数字化支撑</a:t>
            </a:r>
            <a:endParaRPr lang="zh-CN" altLang="en-US" sz="1000" dirty="0">
              <a:solidFill>
                <a:srgbClr val="FFFFFF"/>
              </a:solidFill>
              <a:latin typeface="微软雅黑"/>
              <a:ea typeface="微软雅黑"/>
              <a:cs typeface="微软雅黑"/>
            </a:endParaRPr>
          </a:p>
        </p:txBody>
      </p:sp>
      <p:sp>
        <p:nvSpPr>
          <p:cNvPr id="74" name="文本框 73"/>
          <p:cNvSpPr txBox="1"/>
          <p:nvPr>
            <p:custDataLst>
              <p:tags r:id="rId5"/>
            </p:custDataLst>
          </p:nvPr>
        </p:nvSpPr>
        <p:spPr>
          <a:xfrm>
            <a:off x="2727008" y="6080125"/>
            <a:ext cx="1397000" cy="368935"/>
          </a:xfrm>
          <a:prstGeom prst="rect">
            <a:avLst/>
          </a:prstGeom>
          <a:noFill/>
          <a:extLst>
            <a:ext uri="{909E8E84-426E-40DD-AFC4-6F175D3DCCD1}">
              <a14:hiddenFill xmlns:a14="http://schemas.microsoft.com/office/drawing/2010/main">
                <a:solidFill>
                  <a:srgbClr val="FF4200"/>
                </a:solid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敏捷开发体系</a:t>
            </a:r>
            <a:endParaRPr lang="zh-CN" altLang="en-US" sz="14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建立用户共创的产品体系</a:t>
            </a:r>
            <a:endParaRPr lang="zh-CN" altLang="en-US" sz="1000" dirty="0">
              <a:solidFill>
                <a:srgbClr val="FFFFFF"/>
              </a:solidFill>
              <a:latin typeface="微软雅黑"/>
              <a:ea typeface="微软雅黑"/>
              <a:cs typeface="微软雅黑"/>
            </a:endParaRPr>
          </a:p>
        </p:txBody>
      </p:sp>
      <p:sp>
        <p:nvSpPr>
          <p:cNvPr id="75" name="文本框 74"/>
          <p:cNvSpPr txBox="1"/>
          <p:nvPr>
            <p:custDataLst>
              <p:tags r:id="rId6"/>
            </p:custDataLst>
          </p:nvPr>
        </p:nvSpPr>
        <p:spPr>
          <a:xfrm>
            <a:off x="4582478" y="6080125"/>
            <a:ext cx="1397000" cy="368935"/>
          </a:xfrm>
          <a:prstGeom prst="rect">
            <a:avLst/>
          </a:prstGeom>
          <a:noFill/>
          <a:extLst>
            <a:ext uri="{909E8E84-426E-40DD-AFC4-6F175D3DCCD1}">
              <a14:hiddenFill xmlns:a14="http://schemas.microsoft.com/office/drawing/2010/main">
                <a:solidFill>
                  <a:srgbClr val="FF4200"/>
                </a:solid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闭环运营能力</a:t>
            </a:r>
            <a:endParaRPr lang="zh-CN" altLang="en-US" sz="14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打造团队精细化运营能力</a:t>
            </a:r>
            <a:endParaRPr lang="zh-CN" altLang="en-US" sz="1000" dirty="0">
              <a:solidFill>
                <a:srgbClr val="FFFFFF"/>
              </a:solidFill>
              <a:latin typeface="微软雅黑"/>
              <a:ea typeface="微软雅黑"/>
              <a:cs typeface="微软雅黑"/>
            </a:endParaRPr>
          </a:p>
        </p:txBody>
      </p:sp>
      <p:sp>
        <p:nvSpPr>
          <p:cNvPr id="76" name="文本框 75"/>
          <p:cNvSpPr txBox="1"/>
          <p:nvPr>
            <p:custDataLst>
              <p:tags r:id="rId7"/>
            </p:custDataLst>
          </p:nvPr>
        </p:nvSpPr>
        <p:spPr>
          <a:xfrm>
            <a:off x="6272848" y="6080125"/>
            <a:ext cx="1524000" cy="368935"/>
          </a:xfrm>
          <a:prstGeom prst="rect">
            <a:avLst/>
          </a:prstGeom>
          <a:noFill/>
          <a:extLst>
            <a:ext uri="{909E8E84-426E-40DD-AFC4-6F175D3DCCD1}">
              <a14:hiddenFill xmlns:a14="http://schemas.microsoft.com/office/drawing/2010/main">
                <a:solidFill>
                  <a:srgbClr val="FF4200"/>
                </a:solid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全场景思维</a:t>
            </a:r>
            <a:endParaRPr lang="zh-CN" altLang="en-US" sz="14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全场景流量捕获与精准营销</a:t>
            </a:r>
            <a:endParaRPr lang="zh-CN" altLang="en-US" sz="1000" dirty="0">
              <a:solidFill>
                <a:srgbClr val="FFFFFF"/>
              </a:solidFill>
              <a:latin typeface="微软雅黑"/>
              <a:ea typeface="微软雅黑"/>
              <a:cs typeface="微软雅黑"/>
            </a:endParaRPr>
          </a:p>
        </p:txBody>
      </p:sp>
      <p:grpSp>
        <p:nvGrpSpPr>
          <p:cNvPr id="49" name="组合 48"/>
          <p:cNvGrpSpPr/>
          <p:nvPr/>
        </p:nvGrpSpPr>
        <p:grpSpPr>
          <a:xfrm>
            <a:off x="4324985" y="2397760"/>
            <a:ext cx="3505835" cy="2082800"/>
            <a:chOff x="1368" y="3776"/>
            <a:chExt cx="5521" cy="3280"/>
          </a:xfrm>
        </p:grpSpPr>
        <p:grpSp>
          <p:nvGrpSpPr>
            <p:cNvPr id="4" name="组合 3"/>
            <p:cNvGrpSpPr/>
            <p:nvPr/>
          </p:nvGrpSpPr>
          <p:grpSpPr>
            <a:xfrm>
              <a:off x="1369" y="3776"/>
              <a:ext cx="5520" cy="3280"/>
              <a:chOff x="1369" y="3776"/>
              <a:chExt cx="5024" cy="3280"/>
            </a:xfrm>
          </p:grpSpPr>
          <p:sp>
            <p:nvSpPr>
              <p:cNvPr id="33" name="显眼包PPT1"/>
              <p:cNvSpPr/>
              <p:nvPr/>
            </p:nvSpPr>
            <p:spPr>
              <a:xfrm>
                <a:off x="1369" y="3776"/>
                <a:ext cx="5024" cy="3281"/>
              </a:xfrm>
              <a:prstGeom prst="rect">
                <a:avLst/>
              </a:prstGeom>
              <a:gradFill flip="none" rotWithShape="1">
                <a:gsLst>
                  <a:gs pos="18000">
                    <a:srgbClr val="E6E6E6">
                      <a:alpha val="47000"/>
                    </a:srgbClr>
                  </a:gs>
                  <a:gs pos="100000">
                    <a:srgbClr val="E6E6E6">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202" name="显眼包PPT13"/>
              <p:cNvSpPr/>
              <p:nvPr/>
            </p:nvSpPr>
            <p:spPr>
              <a:xfrm>
                <a:off x="1369" y="3776"/>
                <a:ext cx="5024" cy="858"/>
              </a:xfrm>
              <a:prstGeom prst="rect">
                <a:avLst/>
              </a:prstGeom>
              <a:gradFill flip="none" rotWithShape="1">
                <a:gsLst>
                  <a:gs pos="18000">
                    <a:srgbClr val="3368FF">
                      <a:alpha val="100000"/>
                    </a:srgbClr>
                  </a:gs>
                  <a:gs pos="100000">
                    <a:srgbClr val="E6E6E6"/>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1400" dirty="0">
                  <a:solidFill>
                    <a:srgbClr val="FFFFFF"/>
                  </a:solidFill>
                  <a:latin typeface="微软雅黑"/>
                  <a:ea typeface="微软雅黑"/>
                  <a:cs typeface="微软雅黑"/>
                  <a:sym typeface="微软雅黑"/>
                </a:endParaRPr>
              </a:p>
            </p:txBody>
          </p:sp>
        </p:grpSp>
        <p:sp>
          <p:nvSpPr>
            <p:cNvPr id="29" name="Google Shape;454;p24"/>
            <p:cNvSpPr txBox="1"/>
            <p:nvPr/>
          </p:nvSpPr>
          <p:spPr>
            <a:xfrm>
              <a:off x="2322" y="3872"/>
              <a:ext cx="3620" cy="419"/>
            </a:xfrm>
            <a:prstGeom prst="rect">
              <a:avLst/>
            </a:prstGeom>
            <a:noFill/>
            <a:ln>
              <a:noFill/>
            </a:ln>
          </p:spPr>
          <p:txBody>
            <a:bodyPr spcFirstLastPara="1" wrap="square" lIns="25400" tIns="25400" rIns="25400" bIns="25400" anchor="t" anchorCtr="0">
              <a:spAutoFit/>
            </a:bodyPr>
            <a:lstStyle/>
            <a:p>
              <a:pPr algn="ctr">
                <a:buClr>
                  <a:srgbClr val="FFFFFF"/>
                </a:buClr>
                <a:buSzPts val="1000"/>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打造爆款</a:t>
              </a:r>
              <a:endParaRPr lang="zh-CN" altLang="en-US" sz="1400" b="1" dirty="0">
                <a:solidFill>
                  <a:srgbClr val="FFFFFF"/>
                </a:solidFill>
                <a:latin typeface="微软雅黑"/>
                <a:ea typeface="微软雅黑"/>
                <a:cs typeface="微软雅黑"/>
                <a:sym typeface="微软雅黑"/>
              </a:endParaRPr>
            </a:p>
          </p:txBody>
        </p:sp>
        <p:sp>
          <p:nvSpPr>
            <p:cNvPr id="30" name="Google Shape;455;p24"/>
            <p:cNvSpPr txBox="1"/>
            <p:nvPr/>
          </p:nvSpPr>
          <p:spPr>
            <a:xfrm>
              <a:off x="2179" y="4208"/>
              <a:ext cx="4039" cy="322"/>
            </a:xfrm>
            <a:prstGeom prst="rect">
              <a:avLst/>
            </a:prstGeom>
            <a:noFill/>
            <a:ln>
              <a:noFill/>
            </a:ln>
          </p:spPr>
          <p:txBody>
            <a:bodyPr spcFirstLastPara="1" wrap="square" lIns="0" tIns="0" rIns="0" bIns="0" anchor="t" anchorCtr="0">
              <a:spAutoFit/>
            </a:bodyPr>
            <a:lstStyle/>
            <a:p>
              <a:pPr algn="ctr">
                <a:buClr>
                  <a:srgbClr val="FFFFFF"/>
                </a:buClr>
                <a:buSzPts val="1000"/>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需求导向的产品创新机制</a:t>
              </a:r>
              <a:endParaRPr lang="zh-CN" altLang="en-US" sz="1000" dirty="0">
                <a:solidFill>
                  <a:srgbClr val="FFFFFF"/>
                </a:solidFill>
                <a:latin typeface="微软雅黑"/>
                <a:ea typeface="微软雅黑"/>
                <a:cs typeface="微软雅黑"/>
                <a:sym typeface="微软雅黑"/>
              </a:endParaRPr>
            </a:p>
          </p:txBody>
        </p:sp>
        <p:sp>
          <p:nvSpPr>
            <p:cNvPr id="262" name="显眼包PPT-38"/>
            <p:cNvSpPr/>
            <p:nvPr/>
          </p:nvSpPr>
          <p:spPr>
            <a:xfrm>
              <a:off x="1368" y="4889"/>
              <a:ext cx="5521" cy="2167"/>
            </a:xfrm>
            <a:prstGeom prst="roundRect">
              <a:avLst>
                <a:gd name="adj" fmla="val 4165"/>
              </a:avLst>
            </a:prstGeom>
            <a:noFill/>
            <a:ln w="6350">
              <a:gradFill flip="none" rotWithShape="1">
                <a:gsLst>
                  <a:gs pos="0">
                    <a:srgbClr val="668EFF">
                      <a:alpha val="0"/>
                    </a:srgbClr>
                  </a:gs>
                  <a:gs pos="100000">
                    <a:srgbClr val="668E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1" name="Google Shape;456;p24"/>
            <p:cNvSpPr txBox="1"/>
            <p:nvPr/>
          </p:nvSpPr>
          <p:spPr>
            <a:xfrm>
              <a:off x="1631" y="4889"/>
              <a:ext cx="4921" cy="661"/>
            </a:xfrm>
            <a:prstGeom prst="rect">
              <a:avLst/>
            </a:prstGeom>
            <a:noFill/>
            <a:ln>
              <a:noFill/>
            </a:ln>
          </p:spPr>
          <p:txBody>
            <a:bodyPr spcFirstLastPara="1" wrap="square" lIns="25400" tIns="25400" rIns="25400" bIns="25400" anchor="t" anchorCtr="0">
              <a:spAutoFit/>
            </a:bodyPr>
            <a:lstStyle/>
            <a:p>
              <a:pPr marL="171450" indent="-171450" algn="l">
                <a:buClr>
                  <a:srgbClr val="0042FF"/>
                </a:buClr>
                <a:buSzPts val="1000"/>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为目标市场设计产品、服务、与体验，并使其组合的特征可实现核心价值主张。</a:t>
              </a:r>
              <a:endParaRPr lang="zh-CN" altLang="en-US" sz="1200" dirty="0">
                <a:solidFill>
                  <a:srgbClr val="383838"/>
                </a:solidFill>
                <a:latin typeface="微软雅黑"/>
                <a:ea typeface="微软雅黑"/>
                <a:cs typeface="微软雅黑"/>
                <a:sym typeface="微软雅黑"/>
              </a:endParaRPr>
            </a:p>
          </p:txBody>
        </p:sp>
        <p:sp>
          <p:nvSpPr>
            <p:cNvPr id="39" name="Google Shape;456;p24"/>
            <p:cNvSpPr txBox="1"/>
            <p:nvPr/>
          </p:nvSpPr>
          <p:spPr>
            <a:xfrm>
              <a:off x="1631" y="5698"/>
              <a:ext cx="4921" cy="370"/>
            </a:xfrm>
            <a:prstGeom prst="rect">
              <a:avLst/>
            </a:prstGeom>
            <a:noFill/>
            <a:ln>
              <a:noFill/>
            </a:ln>
          </p:spPr>
          <p:txBody>
            <a:bodyPr spcFirstLastPara="1" wrap="square" lIns="25400" tIns="25400" rIns="25400" bIns="25400" anchor="t" anchorCtr="0">
              <a:spAutoFit/>
            </a:bodyPr>
            <a:lstStyle/>
            <a:p>
              <a:pPr marL="171450" lvl="0" indent="-171450" algn="l">
                <a:buClr>
                  <a:srgbClr val="0042FF"/>
                </a:buClr>
                <a:buSzPts val="1000"/>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设计竞争卖点：产品性能</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服务</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产品体验</a:t>
              </a:r>
              <a:endParaRPr lang="zh-CN" altLang="en-US" sz="1200" dirty="0">
                <a:solidFill>
                  <a:srgbClr val="383838"/>
                </a:solidFill>
                <a:latin typeface="微软雅黑"/>
                <a:ea typeface="微软雅黑"/>
                <a:cs typeface="微软雅黑"/>
                <a:sym typeface="微软雅黑"/>
              </a:endParaRPr>
            </a:p>
          </p:txBody>
        </p:sp>
        <p:sp>
          <p:nvSpPr>
            <p:cNvPr id="333" name="显眼包PPT-30"/>
            <p:cNvSpPr/>
            <p:nvPr/>
          </p:nvSpPr>
          <p:spPr>
            <a:xfrm>
              <a:off x="1680" y="6214"/>
              <a:ext cx="1461" cy="567"/>
            </a:xfrm>
            <a:prstGeom prst="roundRect">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产品特征</a:t>
              </a:r>
              <a:endParaRPr lang="zh-CN" altLang="en-US" sz="1000" dirty="0">
                <a:solidFill>
                  <a:srgbClr val="383838"/>
                </a:solidFill>
                <a:cs typeface="微软雅黑"/>
                <a:latin typeface="微软雅黑"/>
                <a:ea typeface="微软雅黑"/>
              </a:endParaRPr>
            </a:p>
          </p:txBody>
        </p:sp>
        <p:sp>
          <p:nvSpPr>
            <p:cNvPr id="42" name="显眼包PPT-30"/>
            <p:cNvSpPr/>
            <p:nvPr/>
          </p:nvSpPr>
          <p:spPr>
            <a:xfrm>
              <a:off x="3289" y="6214"/>
              <a:ext cx="1756" cy="567"/>
            </a:xfrm>
            <a:prstGeom prst="roundRect">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服务特征</a:t>
              </a:r>
              <a:endParaRPr lang="zh-CN" altLang="en-US" sz="1000" dirty="0">
                <a:solidFill>
                  <a:srgbClr val="383838"/>
                </a:solidFill>
                <a:cs typeface="微软雅黑"/>
                <a:latin typeface="微软雅黑"/>
                <a:ea typeface="微软雅黑"/>
              </a:endParaRPr>
            </a:p>
          </p:txBody>
        </p:sp>
        <p:sp>
          <p:nvSpPr>
            <p:cNvPr id="45" name="显眼包PPT-30"/>
            <p:cNvSpPr/>
            <p:nvPr/>
          </p:nvSpPr>
          <p:spPr>
            <a:xfrm>
              <a:off x="5193" y="6214"/>
              <a:ext cx="1461" cy="567"/>
            </a:xfrm>
            <a:prstGeom prst="roundRect">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体验特征</a:t>
              </a:r>
              <a:endParaRPr lang="zh-CN" altLang="en-US" sz="1000" dirty="0">
                <a:solidFill>
                  <a:srgbClr val="383838"/>
                </a:solidFill>
                <a:cs typeface="微软雅黑"/>
                <a:latin typeface="微软雅黑"/>
                <a:ea typeface="微软雅黑"/>
              </a:endParaRPr>
            </a:p>
          </p:txBody>
        </p:sp>
      </p:grpSp>
      <p:sp>
        <p:nvSpPr>
          <p:cNvPr id="100" name="Google Shape;454;p24"/>
          <p:cNvSpPr txBox="1"/>
          <p:nvPr/>
        </p:nvSpPr>
        <p:spPr>
          <a:xfrm>
            <a:off x="8574405" y="2449195"/>
            <a:ext cx="2298700" cy="266065"/>
          </a:xfrm>
          <a:prstGeom prst="rect">
            <a:avLst/>
          </a:prstGeom>
          <a:noFill/>
          <a:ln>
            <a:noFill/>
          </a:ln>
        </p:spPr>
        <p:txBody>
          <a:bodyPr spcFirstLastPara="1" wrap="square" lIns="25400" tIns="25400" rIns="25400" bIns="25400" anchor="t" anchorCtr="0">
            <a:spAutoFit/>
          </a:bodyPr>
          <a:lstStyle/>
          <a:p>
            <a:pPr algn="ctr">
              <a:buClr>
                <a:srgbClr val="FFFFFF"/>
              </a:buClr>
              <a:buSzPts val="1000"/>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全域织网</a:t>
            </a:r>
            <a:endParaRPr lang="zh-CN" altLang="en-US" sz="1400" b="1" dirty="0">
              <a:solidFill>
                <a:srgbClr val="383838"/>
              </a:solidFill>
              <a:latin typeface="微软雅黑"/>
              <a:ea typeface="微软雅黑"/>
              <a:cs typeface="微软雅黑"/>
              <a:sym typeface="微软雅黑"/>
            </a:endParaRPr>
          </a:p>
        </p:txBody>
      </p:sp>
      <p:sp>
        <p:nvSpPr>
          <p:cNvPr id="101" name="Google Shape;455;p24"/>
          <p:cNvSpPr txBox="1"/>
          <p:nvPr/>
        </p:nvSpPr>
        <p:spPr>
          <a:xfrm>
            <a:off x="8483600" y="2662555"/>
            <a:ext cx="2564765" cy="204470"/>
          </a:xfrm>
          <a:prstGeom prst="rect">
            <a:avLst/>
          </a:prstGeom>
          <a:noFill/>
          <a:ln>
            <a:noFill/>
          </a:ln>
        </p:spPr>
        <p:txBody>
          <a:bodyPr spcFirstLastPara="1" wrap="square" lIns="0" tIns="0" rIns="0" bIns="0" anchor="t" anchorCtr="0">
            <a:spAutoFit/>
          </a:bodyPr>
          <a:lstStyle/>
          <a:p>
            <a:pPr algn="ctr">
              <a:buClr>
                <a:srgbClr val="FFFFFF"/>
              </a:buClr>
              <a:buSzPts val="10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布局营销触点渠道与场景</a:t>
            </a:r>
            <a:endParaRPr lang="zh-CN" altLang="en-US" sz="1000" dirty="0">
              <a:solidFill>
                <a:srgbClr val="383838"/>
              </a:solidFill>
              <a:latin typeface="微软雅黑"/>
              <a:ea typeface="微软雅黑"/>
              <a:cs typeface="微软雅黑"/>
              <a:sym typeface="微软雅黑"/>
            </a:endParaRPr>
          </a:p>
        </p:txBody>
      </p:sp>
      <p:sp>
        <p:nvSpPr>
          <p:cNvPr id="102" name="显眼包PPT-38"/>
          <p:cNvSpPr/>
          <p:nvPr/>
        </p:nvSpPr>
        <p:spPr>
          <a:xfrm>
            <a:off x="7954010" y="2932430"/>
            <a:ext cx="3606800" cy="3641725"/>
          </a:xfrm>
          <a:prstGeom prst="roundRect">
            <a:avLst>
              <a:gd name="adj" fmla="val 4165"/>
            </a:avLst>
          </a:prstGeom>
          <a:noFill/>
          <a:ln w="6350">
            <a:gradFill flip="none" rotWithShape="1">
              <a:gsLst>
                <a:gs pos="0">
                  <a:srgbClr val="B3D4FE">
                    <a:alpha val="0"/>
                  </a:srgbClr>
                </a:gs>
                <a:gs pos="100000">
                  <a:srgbClr val="B3D4FE"/>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en-US" altLang="zh-CN">
                <a:cs typeface="微软雅黑"/>
                <a:latin typeface="微软雅黑"/>
                <a:ea typeface="微软雅黑"/>
              </a:rPr>
              <a:t>..</a:t>
            </a:r>
            <a:endParaRPr lang="en-US" altLang="zh-CN">
              <a:cs typeface="微软雅黑"/>
              <a:latin typeface="微软雅黑"/>
              <a:ea typeface="微软雅黑"/>
            </a:endParaRPr>
          </a:p>
        </p:txBody>
      </p:sp>
      <p:sp>
        <p:nvSpPr>
          <p:cNvPr id="103" name="Google Shape;456;p24"/>
          <p:cNvSpPr txBox="1"/>
          <p:nvPr/>
        </p:nvSpPr>
        <p:spPr>
          <a:xfrm>
            <a:off x="8135620" y="3094990"/>
            <a:ext cx="3124835" cy="604520"/>
          </a:xfrm>
          <a:prstGeom prst="rect">
            <a:avLst/>
          </a:prstGeom>
          <a:noFill/>
          <a:ln>
            <a:noFill/>
          </a:ln>
        </p:spPr>
        <p:txBody>
          <a:bodyPr spcFirstLastPara="1" wrap="square" lIns="25400" tIns="25400" rIns="25400" bIns="25400" anchor="t" anchorCtr="0">
            <a:spAutoFit/>
          </a:bodyPr>
          <a:lstStyle/>
          <a:p>
            <a:pPr marL="171450" indent="-171450" algn="l">
              <a:buClr>
                <a:srgbClr val="0042FF"/>
              </a:buClr>
              <a:buSzPts val="1000"/>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渠道矩阵的立体布局，线上：构建</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官网</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电商平台</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私域小程序</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黄金三角，线下：构建智能门店数字化改造。</a:t>
            </a:r>
            <a:endParaRPr lang="zh-CN" altLang="en-US" sz="1200" dirty="0">
              <a:solidFill>
                <a:srgbClr val="383838"/>
              </a:solidFill>
              <a:latin typeface="微软雅黑"/>
              <a:ea typeface="微软雅黑"/>
              <a:cs typeface="微软雅黑"/>
              <a:sym typeface="微软雅黑"/>
            </a:endParaRPr>
          </a:p>
        </p:txBody>
      </p:sp>
      <p:sp>
        <p:nvSpPr>
          <p:cNvPr id="104" name="Google Shape;456;p24"/>
          <p:cNvSpPr txBox="1"/>
          <p:nvPr/>
        </p:nvSpPr>
        <p:spPr>
          <a:xfrm>
            <a:off x="8135620" y="3715385"/>
            <a:ext cx="3253740" cy="234950"/>
          </a:xfrm>
          <a:prstGeom prst="rect">
            <a:avLst/>
          </a:prstGeom>
          <a:noFill/>
          <a:ln>
            <a:noFill/>
          </a:ln>
        </p:spPr>
        <p:txBody>
          <a:bodyPr spcFirstLastPara="1" wrap="square" lIns="25400" tIns="25400" rIns="25400" bIns="25400" anchor="t" anchorCtr="0">
            <a:spAutoFit/>
          </a:bodyPr>
          <a:lstStyle/>
          <a:p>
            <a:pPr marL="171450" lvl="0" indent="-171450" algn="l">
              <a:buClr>
                <a:srgbClr val="0042FF"/>
              </a:buClr>
              <a:buSzPts val="1000"/>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以全域触达理念，构建</a:t>
            </a:r>
            <a:r>
              <a:rPr lang="en-US" altLang="zh-CN" sz="1200" dirty="0">
                <a:solidFill>
                  <a:srgbClr val="383838"/>
                </a:solidFill>
                <a:latin typeface="微软雅黑"/>
                <a:ea typeface="微软雅黑"/>
                <a:cs typeface="微软雅黑"/>
                <a:sym typeface="微软雅黑"/>
              </a:rPr>
              <a:t>OMO</a:t>
            </a:r>
            <a:r>
              <a:rPr lang="zh-CN" altLang="en-US" sz="1200" dirty="0">
                <a:solidFill>
                  <a:srgbClr val="383838"/>
                </a:solidFill>
                <a:latin typeface="微软雅黑"/>
                <a:ea typeface="微软雅黑"/>
                <a:cs typeface="微软雅黑"/>
                <a:sym typeface="微软雅黑"/>
              </a:rPr>
              <a:t>融合的渠道网络：</a:t>
            </a:r>
            <a:endParaRPr lang="zh-CN" altLang="en-US" sz="1200" b="1" dirty="0">
              <a:solidFill>
                <a:srgbClr val="383838"/>
              </a:solidFill>
              <a:latin typeface="微软雅黑"/>
              <a:ea typeface="微软雅黑"/>
              <a:cs typeface="微软雅黑"/>
              <a:sym typeface="微软雅黑"/>
            </a:endParaRPr>
          </a:p>
        </p:txBody>
      </p:sp>
      <p:sp>
        <p:nvSpPr>
          <p:cNvPr id="123" name="显眼包PPT9"/>
          <p:cNvSpPr txBox="1"/>
          <p:nvPr/>
        </p:nvSpPr>
        <p:spPr>
          <a:xfrm>
            <a:off x="4506913" y="2051685"/>
            <a:ext cx="3260090" cy="184150"/>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200" spc="300" dirty="0">
                <a:solidFill>
                  <a:srgbClr val="FFFFFF"/>
                </a:solidFill>
                <a:latin typeface="微软雅黑"/>
                <a:cs typeface="微软雅黑"/>
                <a:sym typeface="微软雅黑"/>
                <a:ea typeface="微软雅黑"/>
              </a:rPr>
              <a:t>破圈纳新 </a:t>
            </a:r>
            <a:r>
              <a:rPr lang="en-US" altLang="zh-CN" sz="1200" spc="300" dirty="0">
                <a:solidFill>
                  <a:srgbClr val="FFFFFF"/>
                </a:solidFill>
                <a:latin typeface="微软雅黑"/>
                <a:cs typeface="微软雅黑"/>
                <a:sym typeface="微软雅黑"/>
                <a:ea typeface="微软雅黑"/>
              </a:rPr>
              <a:t>| </a:t>
            </a:r>
            <a:r>
              <a:rPr lang="zh-CN" altLang="en-US" sz="1200" spc="300" dirty="0">
                <a:solidFill>
                  <a:srgbClr val="FFFFFF"/>
                </a:solidFill>
                <a:latin typeface="微软雅黑"/>
                <a:cs typeface="微软雅黑"/>
                <a:sym typeface="微软雅黑"/>
                <a:ea typeface="微软雅黑"/>
              </a:rPr>
              <a:t>打造爆款 </a:t>
            </a:r>
            <a:r>
              <a:rPr lang="en-US" altLang="zh-CN" sz="1200" spc="300" dirty="0">
                <a:solidFill>
                  <a:srgbClr val="FFFFFF"/>
                </a:solidFill>
                <a:latin typeface="微软雅黑"/>
                <a:cs typeface="微软雅黑"/>
                <a:sym typeface="微软雅黑"/>
                <a:ea typeface="微软雅黑"/>
              </a:rPr>
              <a:t>| </a:t>
            </a:r>
            <a:r>
              <a:rPr lang="zh-CN" altLang="en-US" sz="1200" spc="300" dirty="0">
                <a:solidFill>
                  <a:srgbClr val="FFFFFF"/>
                </a:solidFill>
                <a:latin typeface="微软雅黑"/>
                <a:cs typeface="微软雅黑"/>
                <a:sym typeface="微软雅黑"/>
                <a:ea typeface="微软雅黑"/>
              </a:rPr>
              <a:t>全域织网</a:t>
            </a:r>
            <a:endParaRPr lang="zh-CN" altLang="en-US" sz="1200" spc="300" dirty="0">
              <a:solidFill>
                <a:srgbClr val="FFFFFF"/>
              </a:solidFill>
              <a:latin typeface="微软雅黑"/>
              <a:cs typeface="微软雅黑"/>
              <a:sym typeface="微软雅黑"/>
              <a:ea typeface="微软雅黑"/>
            </a:endParaRPr>
          </a:p>
        </p:txBody>
      </p:sp>
      <p:grpSp>
        <p:nvGrpSpPr>
          <p:cNvPr id="142" name="组合 141"/>
          <p:cNvGrpSpPr/>
          <p:nvPr/>
        </p:nvGrpSpPr>
        <p:grpSpPr>
          <a:xfrm>
            <a:off x="8052435" y="4349842"/>
            <a:ext cx="3436236" cy="1898558"/>
            <a:chOff x="12582" y="6985"/>
            <a:chExt cx="5411" cy="2990"/>
          </a:xfrm>
        </p:grpSpPr>
        <p:sp>
          <p:nvSpPr>
            <p:cNvPr id="124" name="显眼包PPT3"/>
            <p:cNvSpPr/>
            <p:nvPr/>
          </p:nvSpPr>
          <p:spPr>
            <a:xfrm>
              <a:off x="12582" y="7709"/>
              <a:ext cx="1751" cy="2266"/>
            </a:xfrm>
            <a:prstGeom prst="rect">
              <a:avLst/>
            </a:prstGeom>
            <a:solidFill>
              <a:srgbClr val="FFFFFF">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19" name="Google Shape;456;p24"/>
            <p:cNvSpPr txBox="1"/>
            <p:nvPr/>
          </p:nvSpPr>
          <p:spPr>
            <a:xfrm>
              <a:off x="12690" y="8740"/>
              <a:ext cx="1536" cy="1050"/>
            </a:xfrm>
            <a:prstGeom prst="rect">
              <a:avLst/>
            </a:prstGeom>
            <a:noFill/>
            <a:ln>
              <a:noFill/>
            </a:ln>
          </p:spPr>
          <p:txBody>
            <a:bodyPr spcFirstLastPara="1" wrap="square" lIns="0" tIns="0" rIns="0" bIns="0" anchor="t" anchorCtr="0">
              <a:noAutofit/>
            </a:bodyPr>
            <a:lstStyle/>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官网</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电商平台</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小红书种草</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社群私域运营</a:t>
              </a:r>
              <a:endParaRPr lang="zh-CN" altLang="en-US" sz="1000" dirty="0">
                <a:solidFill>
                  <a:srgbClr val="383838"/>
                </a:solidFill>
                <a:latin typeface="微软雅黑"/>
                <a:ea typeface="微软雅黑"/>
                <a:cs typeface="微软雅黑"/>
                <a:sym typeface="微软雅黑"/>
              </a:endParaRPr>
            </a:p>
          </p:txBody>
        </p:sp>
        <p:sp>
          <p:nvSpPr>
            <p:cNvPr id="125" name="显眼包PPT3"/>
            <p:cNvSpPr/>
            <p:nvPr/>
          </p:nvSpPr>
          <p:spPr>
            <a:xfrm>
              <a:off x="14412" y="7709"/>
              <a:ext cx="1751" cy="2266"/>
            </a:xfrm>
            <a:prstGeom prst="rect">
              <a:avLst/>
            </a:prstGeom>
            <a:solidFill>
              <a:srgbClr val="FFFFFF">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26" name="显眼包PPT3"/>
            <p:cNvSpPr/>
            <p:nvPr/>
          </p:nvSpPr>
          <p:spPr>
            <a:xfrm>
              <a:off x="16233" y="7709"/>
              <a:ext cx="1751" cy="2266"/>
            </a:xfrm>
            <a:prstGeom prst="rect">
              <a:avLst/>
            </a:prstGeom>
            <a:solidFill>
              <a:srgbClr val="FFFFFF">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127" name="组合 126"/>
            <p:cNvGrpSpPr/>
            <p:nvPr/>
          </p:nvGrpSpPr>
          <p:grpSpPr>
            <a:xfrm>
              <a:off x="12582" y="6985"/>
              <a:ext cx="5411" cy="1363"/>
              <a:chOff x="7930632" y="4771734"/>
              <a:chExt cx="3232423" cy="1082483"/>
            </a:xfrm>
          </p:grpSpPr>
          <p:sp>
            <p:nvSpPr>
              <p:cNvPr id="128" name="Google Shape;153;p19"/>
              <p:cNvSpPr/>
              <p:nvPr/>
            </p:nvSpPr>
            <p:spPr>
              <a:xfrm>
                <a:off x="7940066" y="4771734"/>
                <a:ext cx="3222989" cy="533616"/>
              </a:xfrm>
              <a:custGeom>
                <a:avLst/>
                <a:gdLst/>
                <a:ahLst/>
                <a:cxnLst/>
                <a:rect l="l" t="t" r="r" b="b"/>
                <a:pathLst>
                  <a:path w="21586" h="21593" extrusionOk="0">
                    <a:moveTo>
                      <a:pt x="94" y="20250"/>
                    </a:moveTo>
                    <a:lnTo>
                      <a:pt x="10624" y="189"/>
                    </a:lnTo>
                    <a:cubicBezTo>
                      <a:pt x="10680" y="73"/>
                      <a:pt x="10740" y="9"/>
                      <a:pt x="10801" y="1"/>
                    </a:cubicBezTo>
                    <a:cubicBezTo>
                      <a:pt x="10864" y="-7"/>
                      <a:pt x="10927" y="44"/>
                      <a:pt x="10985" y="151"/>
                    </a:cubicBezTo>
                    <a:lnTo>
                      <a:pt x="21477" y="20160"/>
                    </a:lnTo>
                    <a:cubicBezTo>
                      <a:pt x="21547" y="20260"/>
                      <a:pt x="21593" y="20590"/>
                      <a:pt x="21585" y="20943"/>
                    </a:cubicBezTo>
                    <a:cubicBezTo>
                      <a:pt x="21577" y="21295"/>
                      <a:pt x="21517" y="21570"/>
                      <a:pt x="21444" y="21593"/>
                    </a:cubicBezTo>
                    <a:lnTo>
                      <a:pt x="125" y="21592"/>
                    </a:lnTo>
                    <a:cubicBezTo>
                      <a:pt x="59" y="21549"/>
                      <a:pt x="8" y="21298"/>
                      <a:pt x="1" y="20983"/>
                    </a:cubicBezTo>
                    <a:cubicBezTo>
                      <a:pt x="-7" y="20664"/>
                      <a:pt x="31" y="20362"/>
                      <a:pt x="94" y="20250"/>
                    </a:cubicBezTo>
                    <a:close/>
                  </a:path>
                </a:pathLst>
              </a:custGeom>
              <a:gradFill>
                <a:gsLst>
                  <a:gs pos="18000">
                    <a:srgbClr val="3368FF"/>
                  </a:gs>
                  <a:gs pos="100000">
                    <a:srgbClr val="B3D4FE"/>
                  </a:gs>
                </a:gsLst>
                <a:path path="circle">
                  <a:fillToRect l="50000" t="50000" r="50000" b="50000"/>
                </a:path>
                <a:tileRect/>
              </a:gradFill>
              <a:ln w="9525" cap="flat" cmpd="sng">
                <a:noFill/>
                <a:prstDash val="solid"/>
                <a:round/>
                <a:headEnd type="none" w="sm" len="sm"/>
                <a:tailEnd type="none" w="sm" len="sm"/>
              </a:ln>
            </p:spPr>
            <p:txBody>
              <a:bodyPr spcFirstLastPara="1" wrap="square" lIns="17150" tIns="17150" rIns="17150" bIns="17150" anchor="t" anchorCtr="0">
                <a:noAutofit/>
              </a:bodyPr>
              <a:lstStyle/>
              <a:p>
                <a:pPr marL="0" marR="0" lvl="0" indent="0" algn="ctr" rtl="0">
                  <a:lnSpc>
                    <a:spcPct val="100000"/>
                  </a:lnSpc>
                  <a:spcBef>
                    <a:spcPts val="0"/>
                  </a:spcBef>
                  <a:spcAft>
                    <a:spcPts val="0"/>
                  </a:spcAft>
                  <a:buClr>
                    <a:srgbClr val="383838"/>
                  </a:buClr>
                  <a:buSzPts val="1100"/>
                  <a:buFont typeface="微软雅黑"/>
                  <a:buNone/>
                  <a:defRPr>
                    <a:solidFill>
                      <a:srgbClr val="FFFFFF"/>
                    </a:solidFill>
                    <a:latin typeface="微软雅黑"/>
                    <a:ea typeface="微软雅黑"/>
                    <a:cs typeface="微软雅黑"/>
                  </a:defRPr>
                </a:pPr>
                <a:endParaRPr sz="1100" b="0" i="0" u="none" strike="noStrike" cap="none">
                  <a:solidFill>
                    <a:srgbClr val="FFFFFF"/>
                  </a:solidFill>
                  <a:latin typeface="微软雅黑"/>
                  <a:ea typeface="微软雅黑"/>
                  <a:cs typeface="微软雅黑"/>
                  <a:sym typeface="微软雅黑"/>
                </a:endParaRPr>
              </a:p>
            </p:txBody>
          </p:sp>
          <p:sp>
            <p:nvSpPr>
              <p:cNvPr id="129" name="Google Shape;164;p19"/>
              <p:cNvSpPr txBox="1"/>
              <p:nvPr/>
            </p:nvSpPr>
            <p:spPr>
              <a:xfrm>
                <a:off x="8864272" y="5018780"/>
                <a:ext cx="1333857" cy="239897"/>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383838"/>
                  </a:buClr>
                  <a:buSzPts val="1000"/>
                  <a:buFont typeface="微软雅黑"/>
                  <a:buNone/>
                  <a:defRPr>
                    <a:solidFill>
                      <a:srgbClr val="FFFFFF"/>
                    </a:solidFill>
                    <a:latin typeface="微软雅黑"/>
                    <a:ea typeface="微软雅黑"/>
                    <a:cs typeface="微软雅黑"/>
                  </a:defRPr>
                </a:pPr>
                <a:r>
                  <a:rPr lang="en-US" altLang="zh-CN" sz="1000" b="1" i="0" u="none" strike="noStrike" cap="none" dirty="0">
                    <a:solidFill>
                      <a:srgbClr val="FFFFFF"/>
                    </a:solidFill>
                    <a:latin typeface="微软雅黑"/>
                    <a:ea typeface="微软雅黑"/>
                    <a:cs typeface="微软雅黑"/>
                    <a:sym typeface="微软雅黑"/>
                  </a:rPr>
                  <a:t>OMO</a:t>
                </a:r>
                <a:r>
                  <a:rPr lang="zh-CN" altLang="en-US" sz="1000" b="1" i="0" u="none" strike="noStrike" cap="none" dirty="0">
                    <a:solidFill>
                      <a:srgbClr val="FFFFFF"/>
                    </a:solidFill>
                    <a:latin typeface="微软雅黑"/>
                    <a:ea typeface="微软雅黑"/>
                    <a:cs typeface="微软雅黑"/>
                    <a:sym typeface="微软雅黑"/>
                  </a:rPr>
                  <a:t>融合的渠道网络</a:t>
                </a:r>
                <a:r>
                  <a:rPr lang="en-US" altLang="zh-CN" sz="1000" b="1" i="0" u="none" strike="noStrike" cap="none" dirty="0">
                    <a:solidFill>
                      <a:srgbClr val="FFFFFF"/>
                    </a:solidFill>
                    <a:latin typeface="微软雅黑"/>
                    <a:ea typeface="微软雅黑"/>
                    <a:cs typeface="微软雅黑"/>
                    <a:sym typeface="微软雅黑"/>
                  </a:rPr>
                  <a:t>​</a:t>
                </a:r>
                <a:endParaRPr lang="en-US" altLang="zh-CN" sz="1000" b="1" i="0" u="none" strike="noStrike" cap="none" dirty="0">
                  <a:solidFill>
                    <a:srgbClr val="FFFFFF"/>
                  </a:solidFill>
                  <a:latin typeface="微软雅黑"/>
                  <a:ea typeface="微软雅黑"/>
                  <a:cs typeface="微软雅黑"/>
                  <a:sym typeface="微软雅黑"/>
                </a:endParaRPr>
              </a:p>
            </p:txBody>
          </p:sp>
          <p:sp>
            <p:nvSpPr>
              <p:cNvPr id="130" name="Google Shape;155;p19"/>
              <p:cNvSpPr/>
              <p:nvPr/>
            </p:nvSpPr>
            <p:spPr>
              <a:xfrm>
                <a:off x="7930632" y="5347773"/>
                <a:ext cx="1046235" cy="506444"/>
              </a:xfrm>
              <a:prstGeom prst="roundRect">
                <a:avLst>
                  <a:gd name="adj" fmla="val 6258"/>
                </a:avLst>
              </a:prstGeom>
              <a:solidFill>
                <a:srgbClr val="B3D4FE">
                  <a:alpha val="40000"/>
                </a:srgb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383838"/>
                  </a:buClr>
                  <a:buSzPts val="1100"/>
                  <a:buFont typeface="微软雅黑"/>
                  <a:buNone/>
                  <a:defRPr>
                    <a:latin typeface="微软雅黑"/>
                    <a:ea typeface="微软雅黑"/>
                    <a:cs typeface="微软雅黑"/>
                  </a:defRPr>
                </a:pPr>
                <a:endParaRPr sz="1100" b="0" i="0" u="none" strike="noStrike" cap="none">
                  <a:solidFill>
                    <a:srgbClr val="383838"/>
                  </a:solidFill>
                  <a:latin typeface="微软雅黑"/>
                  <a:ea typeface="微软雅黑"/>
                  <a:cs typeface="微软雅黑"/>
                  <a:sym typeface="微软雅黑"/>
                </a:endParaRPr>
              </a:p>
            </p:txBody>
          </p:sp>
          <p:sp>
            <p:nvSpPr>
              <p:cNvPr id="131" name="Google Shape;158;p19"/>
              <p:cNvSpPr/>
              <p:nvPr/>
            </p:nvSpPr>
            <p:spPr>
              <a:xfrm>
                <a:off x="9023725" y="5347773"/>
                <a:ext cx="1046235" cy="506444"/>
              </a:xfrm>
              <a:prstGeom prst="roundRect">
                <a:avLst>
                  <a:gd name="adj" fmla="val 6032"/>
                </a:avLst>
              </a:prstGeom>
              <a:solidFill>
                <a:srgbClr val="B3D4FE">
                  <a:alpha val="40000"/>
                </a:srgbClr>
              </a:solidFill>
              <a:ln>
                <a:noFill/>
              </a:ln>
            </p:spPr>
            <p:txBody>
              <a:bodyPr spcFirstLastPara="1" wrap="square" lIns="0" tIns="0" rIns="0" bIns="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132" name="Google Shape;161;p19"/>
              <p:cNvSpPr/>
              <p:nvPr/>
            </p:nvSpPr>
            <p:spPr>
              <a:xfrm>
                <a:off x="10116818" y="5347773"/>
                <a:ext cx="1046235" cy="506444"/>
              </a:xfrm>
              <a:prstGeom prst="roundRect">
                <a:avLst>
                  <a:gd name="adj" fmla="val 6258"/>
                </a:avLst>
              </a:prstGeom>
              <a:solidFill>
                <a:srgbClr val="B3D4FE">
                  <a:alpha val="40000"/>
                </a:srgbClr>
              </a:solidFill>
              <a:ln>
                <a:noFill/>
              </a:ln>
            </p:spPr>
            <p:txBody>
              <a:bodyPr spcFirstLastPara="1" wrap="square" lIns="0" tIns="0" rIns="0" bIns="0" anchor="ctr" anchorCtr="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133" name="Google Shape;163;p19"/>
              <p:cNvSpPr txBox="1"/>
              <p:nvPr/>
            </p:nvSpPr>
            <p:spPr>
              <a:xfrm>
                <a:off x="7995145" y="5489834"/>
                <a:ext cx="981427" cy="239897"/>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000"/>
                  <a:buFont typeface="微软雅黑"/>
                  <a:buNone/>
                  <a:defRPr>
                    <a:latin typeface="微软雅黑"/>
                    <a:ea typeface="微软雅黑"/>
                    <a:cs typeface="微软雅黑"/>
                  </a:defRPr>
                </a:pPr>
                <a:r>
                  <a:rPr lang="zh-CN" altLang="en-US" sz="1000" b="0" i="0" u="none" strike="noStrike" cap="none" dirty="0">
                    <a:solidFill>
                      <a:srgbClr val="383838"/>
                    </a:solidFill>
                    <a:latin typeface="微软雅黑"/>
                    <a:ea typeface="微软雅黑"/>
                    <a:cs typeface="微软雅黑"/>
                    <a:sym typeface="微软雅黑"/>
                  </a:rPr>
                  <a:t>渠道矩阵布局</a:t>
                </a:r>
                <a:endParaRPr lang="zh-CN" altLang="en-US" sz="1000" b="0" i="0" u="none" strike="noStrike" cap="none" dirty="0">
                  <a:solidFill>
                    <a:srgbClr val="383838"/>
                  </a:solidFill>
                  <a:latin typeface="微软雅黑"/>
                  <a:ea typeface="微软雅黑"/>
                  <a:cs typeface="微软雅黑"/>
                  <a:sym typeface="微软雅黑"/>
                </a:endParaRPr>
              </a:p>
            </p:txBody>
          </p:sp>
          <p:sp>
            <p:nvSpPr>
              <p:cNvPr id="134" name="Google Shape;165;p19"/>
              <p:cNvSpPr txBox="1"/>
              <p:nvPr/>
            </p:nvSpPr>
            <p:spPr>
              <a:xfrm>
                <a:off x="9152189" y="5489834"/>
                <a:ext cx="811783" cy="239897"/>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FFFFFF"/>
                  </a:buClr>
                  <a:buSzPts val="1000"/>
                  <a:buFont typeface="微软雅黑"/>
                  <a:buNone/>
                  <a:defRPr>
                    <a:latin typeface="微软雅黑"/>
                    <a:ea typeface="微软雅黑"/>
                    <a:cs typeface="微软雅黑"/>
                  </a:defRPr>
                </a:pPr>
                <a:r>
                  <a:rPr lang="zh-CN" altLang="en-US" sz="1000" b="0" i="0" u="none" strike="noStrike" cap="none" dirty="0">
                    <a:solidFill>
                      <a:srgbClr val="383838"/>
                    </a:solidFill>
                    <a:latin typeface="微软雅黑"/>
                    <a:ea typeface="微软雅黑"/>
                    <a:cs typeface="微软雅黑"/>
                    <a:sym typeface="微软雅黑"/>
                  </a:rPr>
                  <a:t>数字化门店</a:t>
                </a:r>
                <a:endParaRPr lang="zh-CN" altLang="en-US" sz="1000" b="0" i="0" u="none" strike="noStrike" cap="none" dirty="0">
                  <a:solidFill>
                    <a:srgbClr val="383838"/>
                  </a:solidFill>
                  <a:latin typeface="微软雅黑"/>
                  <a:ea typeface="微软雅黑"/>
                  <a:cs typeface="微软雅黑"/>
                  <a:sym typeface="微软雅黑"/>
                </a:endParaRPr>
              </a:p>
            </p:txBody>
          </p:sp>
          <p:sp>
            <p:nvSpPr>
              <p:cNvPr id="135" name="Google Shape;166;p19"/>
              <p:cNvSpPr txBox="1"/>
              <p:nvPr/>
            </p:nvSpPr>
            <p:spPr>
              <a:xfrm>
                <a:off x="10248306" y="5489834"/>
                <a:ext cx="857181" cy="239897"/>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FFFFFF"/>
                  </a:buClr>
                  <a:buSzPts val="1000"/>
                  <a:buFont typeface="微软雅黑"/>
                  <a:buNone/>
                  <a:defRPr>
                    <a:latin typeface="微软雅黑"/>
                    <a:ea typeface="微软雅黑"/>
                    <a:cs typeface="微软雅黑"/>
                  </a:defRPr>
                </a:pPr>
                <a:r>
                  <a:rPr lang="zh-CN" altLang="en-US" sz="1000" b="0" i="0" u="none" strike="noStrike" cap="none" dirty="0">
                    <a:solidFill>
                      <a:srgbClr val="383838"/>
                    </a:solidFill>
                    <a:latin typeface="微软雅黑"/>
                    <a:ea typeface="微软雅黑"/>
                    <a:cs typeface="微软雅黑"/>
                    <a:sym typeface="微软雅黑"/>
                  </a:rPr>
                  <a:t>营销自动化</a:t>
                </a:r>
                <a:endParaRPr lang="zh-CN" altLang="en-US" sz="1000" b="0" i="0" u="none" strike="noStrike" cap="none" dirty="0">
                  <a:solidFill>
                    <a:srgbClr val="383838"/>
                  </a:solidFill>
                  <a:latin typeface="微软雅黑"/>
                  <a:ea typeface="微软雅黑"/>
                  <a:cs typeface="微软雅黑"/>
                  <a:sym typeface="微软雅黑"/>
                </a:endParaRPr>
              </a:p>
            </p:txBody>
          </p:sp>
        </p:grpSp>
        <p:sp>
          <p:nvSpPr>
            <p:cNvPr id="140" name="Google Shape;456;p24"/>
            <p:cNvSpPr txBox="1"/>
            <p:nvPr/>
          </p:nvSpPr>
          <p:spPr>
            <a:xfrm>
              <a:off x="14627" y="8740"/>
              <a:ext cx="1536" cy="1050"/>
            </a:xfrm>
            <a:prstGeom prst="rect">
              <a:avLst/>
            </a:prstGeom>
            <a:noFill/>
            <a:ln>
              <a:noFill/>
            </a:ln>
          </p:spPr>
          <p:txBody>
            <a:bodyPr spcFirstLastPara="1" wrap="square" lIns="0" tIns="0" rIns="0" bIns="0" anchor="t" anchorCtr="0">
              <a:noAutofit/>
            </a:bodyPr>
            <a:lstStyle/>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智能门店</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VR</a:t>
              </a:r>
              <a:r>
                <a:rPr lang="zh-CN" altLang="en-US" sz="1000" dirty="0">
                  <a:solidFill>
                    <a:srgbClr val="383838"/>
                  </a:solidFill>
                  <a:latin typeface="微软雅黑"/>
                  <a:ea typeface="微软雅黑"/>
                  <a:cs typeface="微软雅黑"/>
                  <a:sym typeface="微软雅黑"/>
                </a:rPr>
                <a:t>试衣间</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AI</a:t>
              </a:r>
              <a:r>
                <a:rPr lang="zh-CN" altLang="en-US" sz="1000" dirty="0">
                  <a:solidFill>
                    <a:srgbClr val="383838"/>
                  </a:solidFill>
                  <a:latin typeface="微软雅黑"/>
                  <a:ea typeface="微软雅黑"/>
                  <a:cs typeface="微软雅黑"/>
                  <a:sym typeface="微软雅黑"/>
                </a:rPr>
                <a:t>导购屏</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智能</a:t>
              </a:r>
              <a:r>
                <a:rPr lang="en-US" altLang="zh-CN" sz="1000" dirty="0">
                  <a:solidFill>
                    <a:srgbClr val="383838"/>
                  </a:solidFill>
                  <a:latin typeface="微软雅黑"/>
                  <a:ea typeface="微软雅黑"/>
                  <a:cs typeface="微软雅黑"/>
                  <a:sym typeface="微软雅黑"/>
                </a:rPr>
                <a:t>WIFI</a:t>
              </a:r>
              <a:endParaRPr lang="en-US" altLang="zh-CN" sz="1000" dirty="0">
                <a:solidFill>
                  <a:srgbClr val="383838"/>
                </a:solidFill>
                <a:latin typeface="微软雅黑"/>
                <a:ea typeface="微软雅黑"/>
                <a:cs typeface="微软雅黑"/>
                <a:sym typeface="微软雅黑"/>
              </a:endParaRPr>
            </a:p>
          </p:txBody>
        </p:sp>
        <p:sp>
          <p:nvSpPr>
            <p:cNvPr id="141" name="Google Shape;456;p24"/>
            <p:cNvSpPr txBox="1"/>
            <p:nvPr/>
          </p:nvSpPr>
          <p:spPr>
            <a:xfrm>
              <a:off x="16319" y="8631"/>
              <a:ext cx="1665" cy="1170"/>
            </a:xfrm>
            <a:prstGeom prst="rect">
              <a:avLst/>
            </a:prstGeom>
            <a:noFill/>
            <a:ln>
              <a:noFill/>
            </a:ln>
          </p:spPr>
          <p:txBody>
            <a:bodyPr spcFirstLastPara="1" wrap="square" lIns="0" tIns="0" rIns="0" bIns="0" anchor="t" anchorCtr="0">
              <a:noAutofit/>
            </a:bodyPr>
            <a:lstStyle/>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O2O</a:t>
              </a:r>
              <a:r>
                <a:rPr lang="zh-CN" altLang="en-US" sz="1000" dirty="0">
                  <a:solidFill>
                    <a:srgbClr val="383838"/>
                  </a:solidFill>
                  <a:latin typeface="微软雅黑"/>
                  <a:ea typeface="微软雅黑"/>
                  <a:cs typeface="微软雅黑"/>
                  <a:sym typeface="微软雅黑"/>
                </a:rPr>
                <a:t>优惠券派发</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线上浏览行为监测</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活动智能推荐</a:t>
              </a:r>
              <a:endParaRPr lang="zh-CN" altLang="en-US" sz="1000" dirty="0">
                <a:solidFill>
                  <a:srgbClr val="383838"/>
                </a:solidFill>
                <a:latin typeface="微软雅黑"/>
                <a:ea typeface="微软雅黑"/>
                <a:cs typeface="微软雅黑"/>
                <a:sym typeface="微软雅黑"/>
              </a:endParaRPr>
            </a:p>
            <a:p>
              <a:pPr marL="171450" indent="-171450">
                <a:buClr>
                  <a:srgbClr val="0042FF"/>
                </a:buClr>
                <a:buSzPts val="1000"/>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触发企微通知</a:t>
              </a:r>
              <a:endParaRPr lang="zh-CN" altLang="en-US" sz="1000" dirty="0">
                <a:solidFill>
                  <a:srgbClr val="383838"/>
                </a:solidFill>
                <a:latin typeface="微软雅黑"/>
                <a:ea typeface="微软雅黑"/>
                <a:cs typeface="微软雅黑"/>
                <a:sym typeface="微软雅黑"/>
              </a:endParaRPr>
            </a:p>
          </p:txBody>
        </p:sp>
      </p:grpSp>
      <p:grpSp>
        <p:nvGrpSpPr>
          <p:cNvPr id="145" name="组合 144"/>
          <p:cNvGrpSpPr/>
          <p:nvPr/>
        </p:nvGrpSpPr>
        <p:grpSpPr>
          <a:xfrm>
            <a:off x="9532620" y="3986530"/>
            <a:ext cx="485140" cy="485140"/>
            <a:chOff x="15917" y="6387"/>
            <a:chExt cx="764" cy="764"/>
          </a:xfrm>
        </p:grpSpPr>
        <p:sp>
          <p:nvSpPr>
            <p:cNvPr id="143" name="椭圆 142"/>
            <p:cNvSpPr/>
            <p:nvPr/>
          </p:nvSpPr>
          <p:spPr>
            <a:xfrm>
              <a:off x="15917" y="6387"/>
              <a:ext cx="765" cy="765"/>
            </a:xfrm>
            <a:prstGeom prst="ellipse">
              <a:avLst/>
            </a:prstGeom>
            <a:solidFill>
              <a:srgbClr val="FFFFFF"/>
            </a:solidFill>
            <a:ln w="38100">
              <a:gradFill>
                <a:gsLst>
                  <a:gs pos="0">
                    <a:srgbClr val="3368FF"/>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pic>
          <p:nvPicPr>
            <p:cNvPr id="144" name="图片 143" descr="发布渠道-线"/>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6040" y="6511"/>
              <a:ext cx="519" cy="519"/>
            </a:xfrm>
            <a:prstGeom prst="rect">
              <a:avLst/>
            </a:prstGeom>
          </p:spPr>
        </p:pic>
      </p:grpSp>
      <p:sp>
        <p:nvSpPr>
          <p:cNvPr id="146" name="Google Shape;155;p19"/>
          <p:cNvSpPr/>
          <p:nvPr/>
        </p:nvSpPr>
        <p:spPr>
          <a:xfrm>
            <a:off x="8062595" y="6277610"/>
            <a:ext cx="3420110" cy="236220"/>
          </a:xfrm>
          <a:prstGeom prst="roundRect">
            <a:avLst>
              <a:gd name="adj" fmla="val 6258"/>
            </a:avLst>
          </a:prstGeom>
          <a:solidFill>
            <a:srgbClr val="B3D4FE">
              <a:alpha val="40000"/>
            </a:srgbClr>
          </a:soli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383838"/>
              </a:buClr>
              <a:buSzPts val="1100"/>
              <a:buFont typeface="微软雅黑"/>
              <a:buNone/>
              <a:defRPr>
                <a:latin typeface="微软雅黑"/>
                <a:ea typeface="微软雅黑"/>
                <a:cs typeface="微软雅黑"/>
              </a:defRPr>
            </a:pPr>
            <a:endParaRPr sz="1100" b="0" i="0" u="none" strike="noStrike" cap="none">
              <a:solidFill>
                <a:srgbClr val="383838"/>
              </a:solidFill>
              <a:latin typeface="微软雅黑"/>
              <a:ea typeface="微软雅黑"/>
              <a:cs typeface="微软雅黑"/>
              <a:sym typeface="微软雅黑"/>
            </a:endParaRPr>
          </a:p>
        </p:txBody>
      </p:sp>
      <p:sp>
        <p:nvSpPr>
          <p:cNvPr id="147" name="Google Shape;456;p24"/>
          <p:cNvSpPr txBox="1"/>
          <p:nvPr/>
        </p:nvSpPr>
        <p:spPr>
          <a:xfrm>
            <a:off x="8182594" y="6293485"/>
            <a:ext cx="3206634" cy="204470"/>
          </a:xfrm>
          <a:prstGeom prst="rect">
            <a:avLst/>
          </a:prstGeom>
          <a:noFill/>
          <a:ln>
            <a:noFill/>
          </a:ln>
        </p:spPr>
        <p:txBody>
          <a:bodyPr spcFirstLastPara="1" wrap="square" lIns="0" tIns="0" rIns="0" bIns="0" anchor="t" anchorCtr="0">
            <a:spAutoFit/>
          </a:bodyPr>
          <a:lstStyle/>
          <a:p>
            <a:pPr algn="ctr">
              <a:buClr>
                <a:srgbClr val="0042FF"/>
              </a:buClr>
              <a:buSzPts val="10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数据驱动的全域营销触达体系，实现多场景精准营销。</a:t>
            </a:r>
            <a:endParaRPr lang="zh-CN" altLang="en-US" sz="1000" dirty="0">
              <a:solidFill>
                <a:srgbClr val="383838"/>
              </a:solidFill>
              <a:latin typeface="微软雅黑"/>
              <a:ea typeface="微软雅黑"/>
              <a:cs typeface="微软雅黑"/>
              <a:sym typeface="微软雅黑"/>
            </a:endParaRPr>
          </a:p>
        </p:txBody>
      </p:sp>
      <p:grpSp>
        <p:nvGrpSpPr>
          <p:cNvPr id="184" name="组合 183"/>
          <p:cNvGrpSpPr/>
          <p:nvPr/>
        </p:nvGrpSpPr>
        <p:grpSpPr>
          <a:xfrm>
            <a:off x="726440" y="2397760"/>
            <a:ext cx="3505835" cy="2082800"/>
            <a:chOff x="1368" y="3776"/>
            <a:chExt cx="5521" cy="3280"/>
          </a:xfrm>
        </p:grpSpPr>
        <p:grpSp>
          <p:nvGrpSpPr>
            <p:cNvPr id="185" name="组合 184"/>
            <p:cNvGrpSpPr/>
            <p:nvPr/>
          </p:nvGrpSpPr>
          <p:grpSpPr>
            <a:xfrm>
              <a:off x="1369" y="3776"/>
              <a:ext cx="5520" cy="3280"/>
              <a:chOff x="1369" y="3776"/>
              <a:chExt cx="5024" cy="3280"/>
            </a:xfrm>
          </p:grpSpPr>
          <p:sp>
            <p:nvSpPr>
              <p:cNvPr id="186" name="显眼包PPT1"/>
              <p:cNvSpPr/>
              <p:nvPr/>
            </p:nvSpPr>
            <p:spPr>
              <a:xfrm>
                <a:off x="1369" y="3776"/>
                <a:ext cx="5024" cy="3281"/>
              </a:xfrm>
              <a:prstGeom prst="rect">
                <a:avLst/>
              </a:prstGeom>
              <a:gradFill flip="none" rotWithShape="1">
                <a:gsLst>
                  <a:gs pos="18000">
                    <a:srgbClr val="E6E6E6">
                      <a:alpha val="47000"/>
                    </a:srgbClr>
                  </a:gs>
                  <a:gs pos="100000">
                    <a:srgbClr val="E6E6E6">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87" name="显眼包PPT13"/>
              <p:cNvSpPr/>
              <p:nvPr/>
            </p:nvSpPr>
            <p:spPr>
              <a:xfrm>
                <a:off x="1369" y="3776"/>
                <a:ext cx="5024" cy="858"/>
              </a:xfrm>
              <a:prstGeom prst="rect">
                <a:avLst/>
              </a:prstGeom>
              <a:gradFill flip="none" rotWithShape="1">
                <a:gsLst>
                  <a:gs pos="18000">
                    <a:srgbClr val="3368FF">
                      <a:alpha val="100000"/>
                    </a:srgbClr>
                  </a:gs>
                  <a:gs pos="100000">
                    <a:srgbClr val="E6E6E6"/>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1400" dirty="0">
                  <a:solidFill>
                    <a:srgbClr val="FFFFFF"/>
                  </a:solidFill>
                  <a:latin typeface="微软雅黑"/>
                  <a:ea typeface="微软雅黑"/>
                  <a:cs typeface="微软雅黑"/>
                  <a:sym typeface="微软雅黑"/>
                </a:endParaRPr>
              </a:p>
            </p:txBody>
          </p:sp>
        </p:grpSp>
        <p:sp>
          <p:nvSpPr>
            <p:cNvPr id="188" name="Google Shape;454;p24"/>
            <p:cNvSpPr txBox="1"/>
            <p:nvPr/>
          </p:nvSpPr>
          <p:spPr>
            <a:xfrm>
              <a:off x="2322" y="3872"/>
              <a:ext cx="3620" cy="419"/>
            </a:xfrm>
            <a:prstGeom prst="rect">
              <a:avLst/>
            </a:prstGeom>
            <a:noFill/>
            <a:ln>
              <a:noFill/>
            </a:ln>
          </p:spPr>
          <p:txBody>
            <a:bodyPr spcFirstLastPara="1" wrap="square" lIns="25400" tIns="25400" rIns="25400" bIns="25400" anchor="t" anchorCtr="0">
              <a:spAutoFit/>
            </a:bodyPr>
            <a:lstStyle/>
            <a:p>
              <a:pPr algn="ctr">
                <a:buClr>
                  <a:srgbClr val="FFFFFF"/>
                </a:buClr>
                <a:buSzPts val="1000"/>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破圈纳新</a:t>
              </a:r>
              <a:endParaRPr lang="zh-CN" altLang="en-US" sz="1400" b="1" dirty="0">
                <a:solidFill>
                  <a:srgbClr val="FFFFFF"/>
                </a:solidFill>
                <a:latin typeface="微软雅黑"/>
                <a:ea typeface="微软雅黑"/>
                <a:cs typeface="微软雅黑"/>
                <a:sym typeface="微软雅黑"/>
              </a:endParaRPr>
            </a:p>
          </p:txBody>
        </p:sp>
        <p:sp>
          <p:nvSpPr>
            <p:cNvPr id="189" name="Google Shape;455;p24"/>
            <p:cNvSpPr txBox="1"/>
            <p:nvPr/>
          </p:nvSpPr>
          <p:spPr>
            <a:xfrm>
              <a:off x="2179" y="4208"/>
              <a:ext cx="4039" cy="322"/>
            </a:xfrm>
            <a:prstGeom prst="rect">
              <a:avLst/>
            </a:prstGeom>
            <a:noFill/>
            <a:ln>
              <a:noFill/>
            </a:ln>
          </p:spPr>
          <p:txBody>
            <a:bodyPr spcFirstLastPara="1" wrap="square" lIns="0" tIns="0" rIns="0" bIns="0" anchor="t" anchorCtr="0">
              <a:spAutoFit/>
            </a:bodyPr>
            <a:lstStyle/>
            <a:p>
              <a:pPr algn="ctr">
                <a:buClr>
                  <a:srgbClr val="FFFFFF"/>
                </a:buClr>
                <a:buSzPts val="1000"/>
                <a:defRPr>
                  <a:solidFill>
                    <a:srgbClr val="FFFFFF"/>
                  </a:solidFill>
                  <a:latin typeface="微软雅黑"/>
                  <a:ea typeface="微软雅黑"/>
                  <a:cs typeface="微软雅黑"/>
                </a:defRPr>
              </a:pPr>
              <a:r>
                <a:rPr lang="en-US" altLang="zh-CN" sz="1000" dirty="0">
                  <a:solidFill>
                    <a:srgbClr val="FFFFFF"/>
                  </a:solidFill>
                  <a:latin typeface="微软雅黑"/>
                  <a:ea typeface="微软雅黑"/>
                  <a:cs typeface="微软雅黑"/>
                  <a:sym typeface="微软雅黑"/>
                </a:rPr>
                <a:t>360</a:t>
              </a:r>
              <a:r>
                <a:rPr lang="en-US" altLang="en-US"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用户画像构建</a:t>
              </a:r>
              <a:r>
                <a:rPr lang="en-US" altLang="zh-CN"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，需求精准定位</a:t>
              </a:r>
              <a:endParaRPr lang="zh-CN" altLang="en-US" sz="1000" dirty="0">
                <a:solidFill>
                  <a:srgbClr val="FFFFFF"/>
                </a:solidFill>
                <a:latin typeface="微软雅黑"/>
                <a:ea typeface="微软雅黑"/>
                <a:cs typeface="微软雅黑"/>
                <a:sym typeface="微软雅黑"/>
              </a:endParaRPr>
            </a:p>
          </p:txBody>
        </p:sp>
        <p:sp>
          <p:nvSpPr>
            <p:cNvPr id="190" name="显眼包PPT-38"/>
            <p:cNvSpPr/>
            <p:nvPr/>
          </p:nvSpPr>
          <p:spPr>
            <a:xfrm>
              <a:off x="1368" y="4889"/>
              <a:ext cx="5521" cy="2167"/>
            </a:xfrm>
            <a:prstGeom prst="roundRect">
              <a:avLst>
                <a:gd name="adj" fmla="val 4165"/>
              </a:avLst>
            </a:prstGeom>
            <a:noFill/>
            <a:ln w="6350">
              <a:gradFill flip="none" rotWithShape="1">
                <a:gsLst>
                  <a:gs pos="0">
                    <a:srgbClr val="668EFF">
                      <a:alpha val="0"/>
                    </a:srgbClr>
                  </a:gs>
                  <a:gs pos="100000">
                    <a:srgbClr val="668E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91" name="Google Shape;456;p24"/>
            <p:cNvSpPr txBox="1"/>
            <p:nvPr/>
          </p:nvSpPr>
          <p:spPr>
            <a:xfrm>
              <a:off x="1631" y="4889"/>
              <a:ext cx="4921" cy="661"/>
            </a:xfrm>
            <a:prstGeom prst="rect">
              <a:avLst/>
            </a:prstGeom>
            <a:noFill/>
            <a:ln>
              <a:noFill/>
            </a:ln>
          </p:spPr>
          <p:txBody>
            <a:bodyPr spcFirstLastPara="1" wrap="square" lIns="25400" tIns="25400" rIns="25400" bIns="25400" anchor="t" anchorCtr="0">
              <a:spAutoFit/>
            </a:bodyPr>
            <a:lstStyle/>
            <a:p>
              <a:pPr marL="171450" indent="-171450" algn="l">
                <a:buClr>
                  <a:srgbClr val="0042FF"/>
                </a:buClr>
                <a:buSzPts val="1000"/>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识别目标细分市场</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细分客群</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品类</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定义核心价值主张</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以共性需求分类客群</a:t>
              </a:r>
              <a:endParaRPr lang="zh-CN" altLang="en-US" sz="1200" dirty="0">
                <a:solidFill>
                  <a:srgbClr val="383838"/>
                </a:solidFill>
                <a:latin typeface="微软雅黑"/>
                <a:ea typeface="微软雅黑"/>
                <a:cs typeface="微软雅黑"/>
                <a:sym typeface="微软雅黑"/>
              </a:endParaRPr>
            </a:p>
          </p:txBody>
        </p:sp>
        <p:sp>
          <p:nvSpPr>
            <p:cNvPr id="192" name="Google Shape;456;p24"/>
            <p:cNvSpPr txBox="1"/>
            <p:nvPr/>
          </p:nvSpPr>
          <p:spPr>
            <a:xfrm>
              <a:off x="1631" y="5698"/>
              <a:ext cx="4921" cy="370"/>
            </a:xfrm>
            <a:prstGeom prst="rect">
              <a:avLst/>
            </a:prstGeom>
            <a:noFill/>
            <a:ln>
              <a:noFill/>
            </a:ln>
          </p:spPr>
          <p:txBody>
            <a:bodyPr spcFirstLastPara="1" wrap="square" lIns="25400" tIns="25400" rIns="25400" bIns="25400" anchor="t" anchorCtr="0">
              <a:spAutoFit/>
            </a:bodyPr>
            <a:lstStyle/>
            <a:p>
              <a:pPr marL="171450" lvl="0" indent="-171450" algn="l">
                <a:buClr>
                  <a:srgbClr val="0042FF"/>
                </a:buClr>
                <a:buSzPts val="1000"/>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挖掘用户需求：从功能-情感-到价值观</a:t>
              </a:r>
              <a:endParaRPr lang="zh-CN" altLang="en-US" sz="1200" dirty="0">
                <a:solidFill>
                  <a:srgbClr val="383838"/>
                </a:solidFill>
                <a:latin typeface="微软雅黑"/>
                <a:ea typeface="微软雅黑"/>
                <a:cs typeface="微软雅黑"/>
                <a:sym typeface="微软雅黑"/>
              </a:endParaRPr>
            </a:p>
          </p:txBody>
        </p:sp>
        <p:sp>
          <p:nvSpPr>
            <p:cNvPr id="193" name="显眼包PPT-30"/>
            <p:cNvSpPr/>
            <p:nvPr/>
          </p:nvSpPr>
          <p:spPr>
            <a:xfrm>
              <a:off x="1680" y="6214"/>
              <a:ext cx="1461" cy="567"/>
            </a:xfrm>
            <a:prstGeom prst="roundRect">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人口属性分析</a:t>
              </a:r>
              <a:endParaRPr lang="zh-CN" altLang="en-US" sz="1000" dirty="0">
                <a:solidFill>
                  <a:srgbClr val="383838"/>
                </a:solidFill>
                <a:cs typeface="微软雅黑"/>
                <a:latin typeface="微软雅黑"/>
                <a:ea typeface="微软雅黑"/>
              </a:endParaRPr>
            </a:p>
          </p:txBody>
        </p:sp>
        <p:sp>
          <p:nvSpPr>
            <p:cNvPr id="194" name="显眼包PPT-30"/>
            <p:cNvSpPr/>
            <p:nvPr/>
          </p:nvSpPr>
          <p:spPr>
            <a:xfrm>
              <a:off x="3289" y="6214"/>
              <a:ext cx="1756" cy="567"/>
            </a:xfrm>
            <a:prstGeom prst="roundRect">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差异化需求识别</a:t>
              </a:r>
              <a:endParaRPr lang="zh-CN" altLang="en-US" sz="1000" dirty="0">
                <a:solidFill>
                  <a:srgbClr val="383838"/>
                </a:solidFill>
                <a:cs typeface="微软雅黑"/>
                <a:latin typeface="微软雅黑"/>
                <a:ea typeface="微软雅黑"/>
              </a:endParaRPr>
            </a:p>
          </p:txBody>
        </p:sp>
        <p:sp>
          <p:nvSpPr>
            <p:cNvPr id="195" name="显眼包PPT-30"/>
            <p:cNvSpPr/>
            <p:nvPr/>
          </p:nvSpPr>
          <p:spPr>
            <a:xfrm>
              <a:off x="5193" y="6214"/>
              <a:ext cx="1461" cy="567"/>
            </a:xfrm>
            <a:prstGeom prst="roundRect">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用户标签画像</a:t>
              </a:r>
              <a:endParaRPr lang="zh-CN" altLang="en-US" sz="1000" dirty="0">
                <a:solidFill>
                  <a:srgbClr val="383838"/>
                </a:solidFill>
                <a:cs typeface="微软雅黑"/>
                <a:latin typeface="微软雅黑"/>
                <a:ea typeface="微软雅黑"/>
              </a:endParaRPr>
            </a:p>
          </p:txBody>
        </p:sp>
      </p:grpSp>
      <p:grpSp>
        <p:nvGrpSpPr>
          <p:cNvPr id="7" name="组合 6"/>
          <p:cNvGrpSpPr/>
          <p:nvPr/>
        </p:nvGrpSpPr>
        <p:grpSpPr>
          <a:xfrm>
            <a:off x="7675245" y="347980"/>
            <a:ext cx="4588510" cy="367030"/>
            <a:chOff x="12087" y="-1089"/>
            <a:chExt cx="7226" cy="578"/>
          </a:xfrm>
        </p:grpSpPr>
        <p:pic>
          <p:nvPicPr>
            <p:cNvPr id="2" name="图片 1"/>
            <p:cNvPicPr>
              <a:picLocks noChangeAspect="1"/>
            </p:cNvPicPr>
            <p:nvPr userDrawn="1"/>
          </p:nvPicPr>
          <p:blipFill>
            <a:blip r:embed="rId10"/>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27138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90">
                <a:solidFill>
                  <a:srgbClr val="0042FF"/>
                </a:solidFill>
                <a:effectLst/>
                <a:latin typeface="微软雅黑"/>
                <a:ea typeface="微软雅黑"/>
                <a:cs typeface="微软雅黑"/>
              </a:rPr>
              <a:t>业务框架</a:t>
            </a:r>
            <a:r>
              <a:rPr lang="en-US" altLang="zh-CN" sz="2490">
                <a:solidFill>
                  <a:srgbClr val="0042FF"/>
                </a:solidFill>
                <a:effectLst/>
                <a:latin typeface="微软雅黑"/>
                <a:ea typeface="微软雅黑"/>
                <a:cs typeface="微软雅黑"/>
              </a:rPr>
              <a:t>-</a:t>
            </a:r>
            <a:r>
              <a:rPr sz="2490">
                <a:solidFill>
                  <a:srgbClr val="0042FF"/>
                </a:solidFill>
                <a:effectLst/>
                <a:latin typeface="微软雅黑"/>
                <a:ea typeface="微软雅黑"/>
                <a:cs typeface="微软雅黑"/>
              </a:rPr>
              <a:t>屋顶架构 | </a:t>
            </a:r>
            <a:r>
              <a:rPr lang="zh-CN" altLang="en-US" sz="2490">
                <a:solidFill>
                  <a:srgbClr val="383838"/>
                </a:solidFill>
                <a:effectLst/>
                <a:latin typeface="微软雅黑"/>
                <a:ea typeface="微软雅黑"/>
                <a:cs typeface="微软雅黑"/>
              </a:rPr>
              <a:t>互联网平台广告业务分析模型</a:t>
            </a:r>
            <a:endParaRPr lang="zh-CN" altLang="en-US" sz="249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梯形 1"/>
          <p:cNvSpPr/>
          <p:nvPr/>
        </p:nvSpPr>
        <p:spPr>
          <a:xfrm>
            <a:off x="769620" y="1057274"/>
            <a:ext cx="10979468" cy="548890"/>
          </a:xfrm>
          <a:prstGeom prst="trapezoid">
            <a:avLst>
              <a:gd name="adj" fmla="val 42219"/>
            </a:avLst>
          </a:prstGeom>
          <a:gradFill>
            <a:gsLst>
              <a:gs pos="19000">
                <a:srgbClr val="0042FF"/>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sym typeface="微软雅黑"/>
            </a:endParaRPr>
          </a:p>
        </p:txBody>
      </p:sp>
      <p:sp>
        <p:nvSpPr>
          <p:cNvPr id="37" name="文本框 36"/>
          <p:cNvSpPr txBox="1"/>
          <p:nvPr/>
        </p:nvSpPr>
        <p:spPr>
          <a:xfrm>
            <a:off x="4805840" y="1142814"/>
            <a:ext cx="2907030" cy="36830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0" i="0" u="none" strike="noStrike" kern="1200" cap="none" spc="-150" normalizeH="0" baseline="0" noProof="0" dirty="0">
                <a:ln>
                  <a:noFill/>
                </a:ln>
                <a:solidFill>
                  <a:srgbClr val="FFFFFF"/>
                </a:solidFill>
                <a:effectLst/>
                <a:uLnTx/>
                <a:uFillTx/>
                <a:latin typeface="微软雅黑"/>
                <a:ea typeface="微软雅黑"/>
                <a:cs typeface="微软雅黑"/>
              </a:rPr>
              <a:t>互联网平台广告业务分析模型</a:t>
            </a:r>
            <a:endParaRPr kumimoji="0" lang="zh-CN" altLang="en-US" sz="1800" b="0" i="0" u="none" strike="noStrike" kern="1200" cap="none" spc="-150" normalizeH="0" baseline="0" noProof="0" dirty="0">
              <a:ln>
                <a:noFill/>
              </a:ln>
              <a:solidFill>
                <a:srgbClr val="FFFFFF"/>
              </a:solidFill>
              <a:effectLst/>
              <a:uLnTx/>
              <a:uFillTx/>
              <a:latin typeface="微软雅黑"/>
              <a:ea typeface="微软雅黑"/>
              <a:cs typeface="微软雅黑"/>
            </a:endParaRPr>
          </a:p>
        </p:txBody>
      </p:sp>
      <p:sp>
        <p:nvSpPr>
          <p:cNvPr id="3" name="矩形 2"/>
          <p:cNvSpPr/>
          <p:nvPr/>
        </p:nvSpPr>
        <p:spPr>
          <a:xfrm>
            <a:off x="769620" y="1715601"/>
            <a:ext cx="2665759" cy="2045079"/>
          </a:xfrm>
          <a:prstGeom prst="rect">
            <a:avLst/>
          </a:prstGeom>
          <a:gradFill>
            <a:gsLst>
              <a:gs pos="18000">
                <a:srgbClr val="3368FF"/>
              </a:gs>
              <a:gs pos="100000">
                <a:srgbClr val="668EFF"/>
              </a:gs>
            </a:gsLst>
            <a:lin ang="540000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 name="矩形 5"/>
          <p:cNvSpPr/>
          <p:nvPr/>
        </p:nvSpPr>
        <p:spPr>
          <a:xfrm>
            <a:off x="3540858" y="1715601"/>
            <a:ext cx="2665759" cy="2045079"/>
          </a:xfrm>
          <a:prstGeom prst="rect">
            <a:avLst/>
          </a:prstGeom>
          <a:gradFill>
            <a:gsLst>
              <a:gs pos="18000">
                <a:srgbClr val="B3D4FE"/>
              </a:gs>
              <a:gs pos="100000">
                <a:srgbClr val="B3D4FE"/>
              </a:gs>
            </a:gsLst>
            <a:lin ang="5400000" scaled="1"/>
          </a:gradFill>
          <a:ln>
            <a:noFill/>
          </a:ln>
          <a:effectLst>
            <a:innerShdw blurRad="2540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 name="矩形 6"/>
          <p:cNvSpPr/>
          <p:nvPr/>
        </p:nvSpPr>
        <p:spPr>
          <a:xfrm>
            <a:off x="6312093" y="1715601"/>
            <a:ext cx="2665759" cy="2045079"/>
          </a:xfrm>
          <a:prstGeom prst="rect">
            <a:avLst/>
          </a:prstGeom>
          <a:gradFill>
            <a:gsLst>
              <a:gs pos="18000">
                <a:srgbClr val="3368FF"/>
              </a:gs>
              <a:gs pos="100000">
                <a:srgbClr val="668EFF"/>
              </a:gs>
            </a:gsLst>
            <a:lin ang="540000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 name="矩形 7"/>
          <p:cNvSpPr/>
          <p:nvPr/>
        </p:nvSpPr>
        <p:spPr>
          <a:xfrm>
            <a:off x="9083330" y="1715601"/>
            <a:ext cx="2665759" cy="2045079"/>
          </a:xfrm>
          <a:prstGeom prst="rect">
            <a:avLst/>
          </a:prstGeom>
          <a:gradFill>
            <a:gsLst>
              <a:gs pos="18000">
                <a:srgbClr val="B3D4FE"/>
              </a:gs>
              <a:gs pos="100000">
                <a:srgbClr val="B3D4FE"/>
              </a:gs>
            </a:gsLst>
            <a:lin ang="5400000" scaled="1"/>
          </a:gradFill>
          <a:ln>
            <a:noFill/>
          </a:ln>
          <a:effectLst>
            <a:innerShdw blurRad="2540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9" name="椭圆 8"/>
          <p:cNvSpPr/>
          <p:nvPr/>
        </p:nvSpPr>
        <p:spPr>
          <a:xfrm>
            <a:off x="3212842" y="2462863"/>
            <a:ext cx="550552" cy="550552"/>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2" name="椭圆 11"/>
          <p:cNvSpPr/>
          <p:nvPr/>
        </p:nvSpPr>
        <p:spPr>
          <a:xfrm>
            <a:off x="5984078" y="2462863"/>
            <a:ext cx="550552" cy="550552"/>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3" name="椭圆 12"/>
          <p:cNvSpPr/>
          <p:nvPr/>
        </p:nvSpPr>
        <p:spPr>
          <a:xfrm>
            <a:off x="8755313" y="2462863"/>
            <a:ext cx="550552" cy="550552"/>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4" name="文本框 13"/>
          <p:cNvSpPr txBox="1"/>
          <p:nvPr/>
        </p:nvSpPr>
        <p:spPr>
          <a:xfrm>
            <a:off x="1594817" y="2933948"/>
            <a:ext cx="1015364" cy="37781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0" i="0" u="none" strike="noStrike" kern="1200" cap="none" spc="-150" normalizeH="0" baseline="0" noProof="0" dirty="0">
                <a:ln>
                  <a:noFill/>
                </a:ln>
                <a:solidFill>
                  <a:srgbClr val="FFFFFF"/>
                </a:solidFill>
                <a:effectLst/>
                <a:uLnTx/>
                <a:uFillTx/>
                <a:latin typeface="微软雅黑"/>
                <a:ea typeface="微软雅黑"/>
                <a:cs typeface="微软雅黑"/>
              </a:rPr>
              <a:t>广告用户</a:t>
            </a:r>
            <a:endParaRPr kumimoji="0" lang="zh-CN" altLang="en-US" sz="1800" b="0" i="0" u="none" strike="noStrike" kern="1200" cap="none" spc="-150" normalizeH="0" baseline="0" noProof="0" dirty="0">
              <a:ln>
                <a:noFill/>
              </a:ln>
              <a:solidFill>
                <a:srgbClr val="FFFFFF"/>
              </a:solidFill>
              <a:effectLst/>
              <a:uLnTx/>
              <a:uFillTx/>
              <a:latin typeface="微软雅黑"/>
              <a:ea typeface="微软雅黑"/>
              <a:cs typeface="微软雅黑"/>
            </a:endParaRPr>
          </a:p>
        </p:txBody>
      </p:sp>
      <p:sp>
        <p:nvSpPr>
          <p:cNvPr id="15" name="文本框 14"/>
          <p:cNvSpPr txBox="1"/>
          <p:nvPr/>
        </p:nvSpPr>
        <p:spPr>
          <a:xfrm>
            <a:off x="4262748" y="2933948"/>
            <a:ext cx="1221979" cy="37781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0" i="0" u="none" strike="noStrike" kern="1200" cap="none" spc="-150" normalizeH="0" baseline="0" noProof="0" dirty="0">
                <a:ln>
                  <a:noFill/>
                </a:ln>
                <a:solidFill>
                  <a:srgbClr val="383838"/>
                </a:solidFill>
                <a:effectLst/>
                <a:uLnTx/>
                <a:uFillTx/>
                <a:latin typeface="微软雅黑"/>
                <a:ea typeface="微软雅黑"/>
                <a:cs typeface="微软雅黑"/>
              </a:rPr>
              <a:t>库存利用率</a:t>
            </a:r>
            <a:endParaRPr kumimoji="0" lang="zh-CN" altLang="en-US" sz="1800" b="0" i="0" u="none" strike="noStrike" kern="1200" cap="none" spc="-150" normalizeH="0" baseline="0" noProof="0" dirty="0">
              <a:ln>
                <a:noFill/>
              </a:ln>
              <a:solidFill>
                <a:srgbClr val="383838"/>
              </a:solidFill>
              <a:effectLst/>
              <a:uLnTx/>
              <a:uFillTx/>
              <a:latin typeface="微软雅黑"/>
              <a:ea typeface="微软雅黑"/>
              <a:cs typeface="微软雅黑"/>
            </a:endParaRPr>
          </a:p>
        </p:txBody>
      </p:sp>
      <p:sp>
        <p:nvSpPr>
          <p:cNvPr id="17" name="文本框 16"/>
          <p:cNvSpPr txBox="1"/>
          <p:nvPr/>
        </p:nvSpPr>
        <p:spPr>
          <a:xfrm>
            <a:off x="7137291" y="2933948"/>
            <a:ext cx="1015364" cy="37781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0" i="0" u="none" strike="noStrike" kern="1200" cap="none" spc="-150" normalizeH="0" baseline="0" noProof="0" dirty="0">
                <a:ln>
                  <a:noFill/>
                </a:ln>
                <a:solidFill>
                  <a:srgbClr val="FFFFFF"/>
                </a:solidFill>
                <a:effectLst/>
                <a:uLnTx/>
                <a:uFillTx/>
                <a:latin typeface="微软雅黑"/>
                <a:ea typeface="微软雅黑"/>
                <a:cs typeface="微软雅黑"/>
              </a:rPr>
              <a:t>变现效率</a:t>
            </a:r>
            <a:endParaRPr kumimoji="0" lang="zh-CN" altLang="en-US" sz="1800" b="0" i="0" u="none" strike="noStrike" kern="1200" cap="none" spc="-150" normalizeH="0" baseline="0" noProof="0" dirty="0">
              <a:ln>
                <a:noFill/>
              </a:ln>
              <a:solidFill>
                <a:srgbClr val="FFFFFF"/>
              </a:solidFill>
              <a:effectLst/>
              <a:uLnTx/>
              <a:uFillTx/>
              <a:latin typeface="微软雅黑"/>
              <a:ea typeface="微软雅黑"/>
              <a:cs typeface="微软雅黑"/>
            </a:endParaRPr>
          </a:p>
        </p:txBody>
      </p:sp>
      <p:sp>
        <p:nvSpPr>
          <p:cNvPr id="18" name="文本框 17"/>
          <p:cNvSpPr txBox="1"/>
          <p:nvPr/>
        </p:nvSpPr>
        <p:spPr>
          <a:xfrm>
            <a:off x="9908528" y="2933948"/>
            <a:ext cx="1015364" cy="37781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0" i="0" u="none" strike="noStrike" kern="1200" cap="none" spc="-150" normalizeH="0" baseline="0" noProof="0" dirty="0">
                <a:ln>
                  <a:noFill/>
                </a:ln>
                <a:solidFill>
                  <a:srgbClr val="383838"/>
                </a:solidFill>
                <a:effectLst/>
                <a:uLnTx/>
                <a:uFillTx/>
                <a:latin typeface="微软雅黑"/>
                <a:ea typeface="微软雅黑"/>
                <a:cs typeface="微软雅黑"/>
              </a:rPr>
              <a:t>广告频数</a:t>
            </a:r>
            <a:endParaRPr kumimoji="0" lang="zh-CN" altLang="en-US" sz="1800" b="0" i="0" u="none" strike="noStrike" kern="1200" cap="none" spc="-150" normalizeH="0" baseline="0" noProof="0" dirty="0">
              <a:ln>
                <a:noFill/>
              </a:ln>
              <a:solidFill>
                <a:srgbClr val="383838"/>
              </a:solidFill>
              <a:effectLst/>
              <a:uLnTx/>
              <a:uFillTx/>
              <a:latin typeface="微软雅黑"/>
              <a:ea typeface="微软雅黑"/>
              <a:cs typeface="微软雅黑"/>
            </a:endParaRPr>
          </a:p>
        </p:txBody>
      </p:sp>
      <p:sp>
        <p:nvSpPr>
          <p:cNvPr id="19" name="矩形 18"/>
          <p:cNvSpPr/>
          <p:nvPr/>
        </p:nvSpPr>
        <p:spPr>
          <a:xfrm>
            <a:off x="769620" y="3861548"/>
            <a:ext cx="2665759" cy="598200"/>
          </a:xfrm>
          <a:prstGeom prst="rect">
            <a:avLst/>
          </a:prstGeom>
          <a:gradFill>
            <a:gsLst>
              <a:gs pos="19000">
                <a:srgbClr val="3368FF"/>
              </a:gs>
              <a:gs pos="100000">
                <a:srgbClr val="668EFF"/>
              </a:gs>
            </a:gsLst>
            <a:lin ang="5400000" scaled="0"/>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0" name="矩形 19"/>
          <p:cNvSpPr/>
          <p:nvPr/>
        </p:nvSpPr>
        <p:spPr>
          <a:xfrm>
            <a:off x="3540858" y="3864723"/>
            <a:ext cx="2665759" cy="598200"/>
          </a:xfrm>
          <a:prstGeom prst="rect">
            <a:avLst/>
          </a:prstGeom>
          <a:gradFill>
            <a:gsLst>
              <a:gs pos="19000">
                <a:srgbClr val="B3D4FE"/>
              </a:gs>
              <a:gs pos="100000">
                <a:srgbClr val="B3D4FE"/>
              </a:gs>
            </a:gsLst>
            <a:lin ang="5400000" scaled="0"/>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1" name="矩形 20"/>
          <p:cNvSpPr/>
          <p:nvPr/>
        </p:nvSpPr>
        <p:spPr>
          <a:xfrm>
            <a:off x="6312093" y="3864723"/>
            <a:ext cx="2665759" cy="598200"/>
          </a:xfrm>
          <a:prstGeom prst="rect">
            <a:avLst/>
          </a:prstGeom>
          <a:gradFill>
            <a:gsLst>
              <a:gs pos="19000">
                <a:srgbClr val="3368FF"/>
              </a:gs>
              <a:gs pos="100000">
                <a:srgbClr val="668EFF"/>
              </a:gs>
            </a:gsLst>
            <a:lin ang="5400000" scaled="0"/>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22" name="矩形 21"/>
          <p:cNvSpPr/>
          <p:nvPr/>
        </p:nvSpPr>
        <p:spPr>
          <a:xfrm>
            <a:off x="9083330" y="3864723"/>
            <a:ext cx="2665759" cy="598200"/>
          </a:xfrm>
          <a:prstGeom prst="rect">
            <a:avLst/>
          </a:prstGeom>
          <a:gradFill>
            <a:gsLst>
              <a:gs pos="19000">
                <a:srgbClr val="B3D4FE"/>
              </a:gs>
              <a:gs pos="100000">
                <a:srgbClr val="B3D4FE"/>
              </a:gs>
            </a:gsLst>
            <a:lin ang="5400000" scaled="0"/>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3" name="矩形 22"/>
          <p:cNvSpPr/>
          <p:nvPr/>
        </p:nvSpPr>
        <p:spPr>
          <a:xfrm>
            <a:off x="769620" y="4566966"/>
            <a:ext cx="2665759" cy="2033859"/>
          </a:xfrm>
          <a:prstGeom prst="rect">
            <a:avLst/>
          </a:prstGeom>
          <a:gradFill flip="none" rotWithShape="1">
            <a:gsLst>
              <a:gs pos="18000">
                <a:srgbClr val="E6E6E6">
                  <a:alpha val="50000"/>
                </a:srgbClr>
              </a:gs>
              <a:gs pos="100000">
                <a:srgbClr val="E6E6E6">
                  <a:alpha val="10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4" name="矩形 23"/>
          <p:cNvSpPr/>
          <p:nvPr/>
        </p:nvSpPr>
        <p:spPr>
          <a:xfrm>
            <a:off x="3540858" y="4566966"/>
            <a:ext cx="2665759" cy="2033859"/>
          </a:xfrm>
          <a:prstGeom prst="rect">
            <a:avLst/>
          </a:prstGeom>
          <a:gradFill flip="none" rotWithShape="1">
            <a:gsLst>
              <a:gs pos="18000">
                <a:srgbClr val="FFFFFF">
                  <a:alpha val="50000"/>
                </a:srgbClr>
              </a:gs>
              <a:gs pos="100000">
                <a:srgbClr val="FFFFFF">
                  <a:alpha val="10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5" name="矩形 24"/>
          <p:cNvSpPr/>
          <p:nvPr/>
        </p:nvSpPr>
        <p:spPr>
          <a:xfrm>
            <a:off x="6312093" y="4566966"/>
            <a:ext cx="2665759" cy="2033859"/>
          </a:xfrm>
          <a:prstGeom prst="rect">
            <a:avLst/>
          </a:prstGeom>
          <a:gradFill flip="none" rotWithShape="1">
            <a:gsLst>
              <a:gs pos="18000">
                <a:srgbClr val="E6E6E6">
                  <a:alpha val="50000"/>
                </a:srgbClr>
              </a:gs>
              <a:gs pos="100000">
                <a:srgbClr val="E6E6E6">
                  <a:alpha val="10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9" name="矩形 28"/>
          <p:cNvSpPr/>
          <p:nvPr/>
        </p:nvSpPr>
        <p:spPr>
          <a:xfrm>
            <a:off x="9083330" y="4566966"/>
            <a:ext cx="2665759" cy="2033859"/>
          </a:xfrm>
          <a:prstGeom prst="rect">
            <a:avLst/>
          </a:prstGeom>
          <a:gradFill flip="none" rotWithShape="1">
            <a:gsLst>
              <a:gs pos="18000">
                <a:srgbClr val="FFFFFF">
                  <a:alpha val="50000"/>
                </a:srgbClr>
              </a:gs>
              <a:gs pos="100000">
                <a:srgbClr val="FFFFFF">
                  <a:alpha val="10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2" name="文本框 31"/>
          <p:cNvSpPr txBox="1"/>
          <p:nvPr/>
        </p:nvSpPr>
        <p:spPr>
          <a:xfrm>
            <a:off x="937591" y="4018969"/>
            <a:ext cx="2329815" cy="275590"/>
          </a:xfrm>
          <a:prstGeom prst="rect">
            <a:avLst/>
          </a:prstGeom>
          <a:noFill/>
          <a:extLst>
            <a:ext uri="{909E8E84-426E-40DD-AFC4-6F175D3DCCD1}">
              <a14:hiddenFill xmlns:a14="http://schemas.microsoft.com/office/drawing/2010/main">
                <a:solidFill>
                  <a:srgbClr val="3368FF"/>
                </a:solidFill>
              </a14:hiddenFill>
            </a:ext>
          </a:extLst>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rPr>
              <a:t>平台用户规模 </a:t>
            </a:r>
            <a:r>
              <a:rPr kumimoji="0" lang="en-US" altLang="zh-CN" sz="1200" b="1" i="0" u="none" strike="noStrike" kern="1200" cap="none" spc="0" normalizeH="0" baseline="0" noProof="0" dirty="0">
                <a:ln>
                  <a:noFill/>
                </a:ln>
                <a:solidFill>
                  <a:srgbClr val="FFFFFF"/>
                </a:solidFill>
                <a:effectLst/>
                <a:uLnTx/>
                <a:uFillTx/>
                <a:latin typeface="微软雅黑"/>
                <a:ea typeface="微软雅黑"/>
                <a:cs typeface="微软雅黑"/>
              </a:rPr>
              <a:t>x </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rPr>
              <a:t>广告用户渗透率</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3" name="文本框 32"/>
          <p:cNvSpPr txBox="1"/>
          <p:nvPr/>
        </p:nvSpPr>
        <p:spPr>
          <a:xfrm>
            <a:off x="3859642" y="4018969"/>
            <a:ext cx="2028190" cy="275590"/>
          </a:xfrm>
          <a:prstGeom prst="rect">
            <a:avLst/>
          </a:prstGeom>
          <a:solidFill>
            <a:srgbClr val="383838">
              <a:alpha val="0"/>
            </a:srgbClr>
          </a:solid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a:ln>
                  <a:noFill/>
                </a:ln>
                <a:solidFill>
                  <a:srgbClr val="383838"/>
                </a:solidFill>
                <a:effectLst/>
                <a:uLnTx/>
                <a:uFillTx/>
                <a:latin typeface="微软雅黑"/>
                <a:ea typeface="微软雅黑"/>
                <a:cs typeface="微软雅黑"/>
              </a:rPr>
              <a:t>提示次数 </a:t>
            </a:r>
            <a:r>
              <a:rPr kumimoji="0" lang="en-US" altLang="zh-CN" sz="1200" b="1" i="0" u="none" strike="noStrike" kern="1200" cap="none" spc="0" normalizeH="0" baseline="0" noProof="0">
                <a:ln>
                  <a:noFill/>
                </a:ln>
                <a:solidFill>
                  <a:srgbClr val="383838"/>
                </a:solidFill>
                <a:effectLst/>
                <a:uLnTx/>
                <a:uFillTx/>
                <a:latin typeface="微软雅黑"/>
                <a:ea typeface="微软雅黑"/>
                <a:cs typeface="微软雅黑"/>
              </a:rPr>
              <a:t>x </a:t>
            </a:r>
            <a:r>
              <a:rPr kumimoji="0" lang="zh-CN" altLang="en-US" sz="1200" b="1" i="0" u="none" strike="noStrike" kern="1200" cap="none" spc="0" normalizeH="0" baseline="0" noProof="0">
                <a:ln>
                  <a:noFill/>
                </a:ln>
                <a:solidFill>
                  <a:srgbClr val="383838"/>
                </a:solidFill>
                <a:effectLst/>
                <a:uLnTx/>
                <a:uFillTx/>
                <a:latin typeface="微软雅黑"/>
                <a:ea typeface="微软雅黑"/>
                <a:cs typeface="微软雅黑"/>
              </a:rPr>
              <a:t>进入率 </a:t>
            </a:r>
            <a:r>
              <a:rPr kumimoji="0" lang="en-US" altLang="zh-CN" sz="1200" b="1" i="0" u="none" strike="noStrike" kern="1200" cap="none" spc="0" normalizeH="0" baseline="0" noProof="0">
                <a:ln>
                  <a:noFill/>
                </a:ln>
                <a:solidFill>
                  <a:srgbClr val="383838"/>
                </a:solidFill>
                <a:effectLst/>
                <a:uLnTx/>
                <a:uFillTx/>
                <a:latin typeface="微软雅黑"/>
                <a:ea typeface="微软雅黑"/>
                <a:cs typeface="微软雅黑"/>
              </a:rPr>
              <a:t>x </a:t>
            </a:r>
            <a:r>
              <a:rPr kumimoji="0" lang="zh-CN" altLang="en-US" sz="1200" b="1" i="0" u="none" strike="noStrike" kern="1200" cap="none" spc="0" normalizeH="0" baseline="0" noProof="0">
                <a:ln>
                  <a:noFill/>
                </a:ln>
                <a:solidFill>
                  <a:srgbClr val="383838"/>
                </a:solidFill>
                <a:effectLst/>
                <a:uLnTx/>
                <a:uFillTx/>
                <a:latin typeface="微软雅黑"/>
                <a:ea typeface="微软雅黑"/>
                <a:cs typeface="微软雅黑"/>
              </a:rPr>
              <a:t>填充率</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6" name="文本框 35"/>
          <p:cNvSpPr txBox="1"/>
          <p:nvPr/>
        </p:nvSpPr>
        <p:spPr>
          <a:xfrm>
            <a:off x="6392437" y="4018969"/>
            <a:ext cx="2505075" cy="275590"/>
          </a:xfrm>
          <a:prstGeom prst="rect">
            <a:avLst/>
          </a:prstGeom>
          <a:solidFill>
            <a:srgbClr val="383838">
              <a:alpha val="0"/>
            </a:srgbClr>
          </a:solid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b="1" i="0" u="none" strike="noStrike" kern="1200" cap="none" spc="0" normalizeH="0" baseline="0" noProof="0">
                <a:ln>
                  <a:noFill/>
                </a:ln>
                <a:solidFill>
                  <a:srgbClr val="FFFFFF"/>
                </a:solidFill>
                <a:effectLst/>
                <a:uLnTx/>
                <a:uFillTx/>
                <a:latin typeface="微软雅黑"/>
                <a:ea typeface="微软雅黑"/>
                <a:cs typeface="微软雅黑"/>
              </a:rPr>
              <a:t>CPA</a:t>
            </a:r>
            <a:r>
              <a:rPr kumimoji="0" lang="zh-CN" altLang="en-US" sz="1200" b="1" i="0" u="none" strike="noStrike" kern="1200" cap="none" spc="0" normalizeH="0" baseline="0" noProof="0">
                <a:ln>
                  <a:noFill/>
                </a:ln>
                <a:solidFill>
                  <a:srgbClr val="FFFFFF"/>
                </a:solidFill>
                <a:effectLst/>
                <a:uLnTx/>
                <a:uFillTx/>
                <a:latin typeface="微软雅黑"/>
                <a:ea typeface="微软雅黑"/>
                <a:cs typeface="微软雅黑"/>
              </a:rPr>
              <a:t>（各类出价） </a:t>
            </a:r>
            <a:r>
              <a:rPr kumimoji="0" lang="en-US" altLang="zh-CN" sz="1200" b="1" i="0" u="none" strike="noStrike" kern="1200" cap="none" spc="0" normalizeH="0" baseline="0" noProof="0">
                <a:ln>
                  <a:noFill/>
                </a:ln>
                <a:solidFill>
                  <a:srgbClr val="FFFFFF"/>
                </a:solidFill>
                <a:effectLst/>
                <a:uLnTx/>
                <a:uFillTx/>
                <a:latin typeface="微软雅黑"/>
                <a:ea typeface="微软雅黑"/>
                <a:cs typeface="微软雅黑"/>
              </a:rPr>
              <a:t>x pCTR x pCVR</a:t>
            </a:r>
            <a:endParaRPr kumimoji="0" lang="en-US" altLang="zh-CN"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8" name="文本框 37"/>
          <p:cNvSpPr txBox="1"/>
          <p:nvPr/>
        </p:nvSpPr>
        <p:spPr>
          <a:xfrm>
            <a:off x="9172565" y="4018969"/>
            <a:ext cx="2487295" cy="275590"/>
          </a:xfrm>
          <a:prstGeom prst="rect">
            <a:avLst/>
          </a:prstGeom>
          <a:solidFill>
            <a:srgbClr val="383838">
              <a:alpha val="0"/>
            </a:srgbClr>
          </a:solid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库存利用率 </a:t>
            </a:r>
            <a:r>
              <a:rPr kumimoji="0" lang="en-US" altLang="zh-CN" sz="1200" b="1" i="0" u="none" strike="noStrike" kern="1200" cap="none" spc="0" normalizeH="0" baseline="0" noProof="0" dirty="0">
                <a:ln>
                  <a:noFill/>
                </a:ln>
                <a:solidFill>
                  <a:srgbClr val="383838"/>
                </a:solidFill>
                <a:effectLst/>
                <a:uLnTx/>
                <a:uFillTx/>
                <a:latin typeface="微软雅黑"/>
                <a:ea typeface="微软雅黑"/>
                <a:cs typeface="微软雅黑"/>
              </a:rPr>
              <a:t>x </a:t>
            </a: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变现效率 </a:t>
            </a:r>
            <a:r>
              <a:rPr kumimoji="0" lang="en-US" altLang="zh-CN" sz="1200" b="1" i="0" u="none" strike="noStrike" kern="1200" cap="none" spc="0" normalizeH="0" baseline="0" noProof="0" dirty="0">
                <a:ln>
                  <a:noFill/>
                </a:ln>
                <a:solidFill>
                  <a:srgbClr val="383838"/>
                </a:solidFill>
                <a:effectLst/>
                <a:uLnTx/>
                <a:uFillTx/>
                <a:latin typeface="微软雅黑"/>
                <a:ea typeface="微软雅黑"/>
                <a:cs typeface="微软雅黑"/>
              </a:rPr>
              <a:t>x </a:t>
            </a: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广告频数</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2" name="文本框 41"/>
          <p:cNvSpPr txBox="1"/>
          <p:nvPr/>
        </p:nvSpPr>
        <p:spPr>
          <a:xfrm>
            <a:off x="873552" y="4733823"/>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用户增长策略：</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通过市场推广、优惠活动、内容合作等方式，吸引更多用户注册和使用平台</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3" name="文本框 42"/>
          <p:cNvSpPr txBox="1"/>
          <p:nvPr/>
        </p:nvSpPr>
        <p:spPr>
          <a:xfrm>
            <a:off x="873552" y="5379248"/>
            <a:ext cx="2377791" cy="398780"/>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用户留存优化：</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提升用户体验，增加用户粘性，减少用户流失</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4" name="文本框 43"/>
          <p:cNvSpPr txBox="1"/>
          <p:nvPr/>
        </p:nvSpPr>
        <p:spPr>
          <a:xfrm>
            <a:off x="873552" y="5867253"/>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广告渗透策略：</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在用户使用的关键路径中，合理插入广告，提升广告的曝光率</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9" name="文本框 48"/>
          <p:cNvSpPr txBox="1"/>
          <p:nvPr/>
        </p:nvSpPr>
        <p:spPr>
          <a:xfrm>
            <a:off x="3644336" y="4733823"/>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优化广告展示位置：</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分析用户行为数据，选择用户关注度高的位置</a:t>
            </a: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展示广告</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0" name="文本框 49"/>
          <p:cNvSpPr txBox="1"/>
          <p:nvPr/>
        </p:nvSpPr>
        <p:spPr>
          <a:xfrm>
            <a:off x="3644336" y="5370427"/>
            <a:ext cx="2377791" cy="398780"/>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a:ln>
                  <a:noFill/>
                </a:ln>
                <a:solidFill>
                  <a:srgbClr val="383838"/>
                </a:solidFill>
                <a:effectLst/>
                <a:uLnTx/>
                <a:uFillTx/>
                <a:latin typeface="微软雅黑"/>
                <a:ea typeface="微软雅黑"/>
                <a:cs typeface="微软雅黑"/>
              </a:rPr>
              <a:t>提高</a:t>
            </a: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进入率：</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通过设计吸引人的广告创意，提高用户点击广告</a:t>
            </a: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的意愿</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1" name="文本框 50"/>
          <p:cNvSpPr txBox="1"/>
          <p:nvPr/>
        </p:nvSpPr>
        <p:spPr>
          <a:xfrm>
            <a:off x="3644336" y="5849610"/>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提升填充率：</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与更多广告主合作，丰富广告库存，确保广告位能够及时填充</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3" name="文本框 52"/>
          <p:cNvSpPr txBox="1"/>
          <p:nvPr/>
        </p:nvSpPr>
        <p:spPr>
          <a:xfrm>
            <a:off x="6415119" y="4733823"/>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优化定价策略：</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根据市场需求和竞争情况，动态调整广告定价，确保广告主的出价合理</a:t>
            </a: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且有竞争力</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4" name="文本框 53"/>
          <p:cNvSpPr txBox="1"/>
          <p:nvPr/>
        </p:nvSpPr>
        <p:spPr>
          <a:xfrm>
            <a:off x="6415119" y="5289910"/>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a:ln>
                  <a:noFill/>
                </a:ln>
                <a:solidFill>
                  <a:srgbClr val="383838"/>
                </a:solidFill>
                <a:effectLst/>
                <a:uLnTx/>
                <a:uFillTx/>
                <a:latin typeface="微软雅黑"/>
                <a:ea typeface="微软雅黑"/>
                <a:cs typeface="微软雅黑"/>
              </a:rPr>
              <a:t>提高</a:t>
            </a: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点击率：</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 </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A/B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测试，不断优化广告创意和文案，提高广告</a:t>
            </a: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的吸引力</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5" name="文本框 54"/>
          <p:cNvSpPr txBox="1"/>
          <p:nvPr/>
        </p:nvSpPr>
        <p:spPr>
          <a:xfrm>
            <a:off x="6415119" y="5845998"/>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提升转化率：</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优化广告落地页，确保用户点击广告后能够顺利完成转化动作（如购买、注册等）</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7" name="文本框 56"/>
          <p:cNvSpPr txBox="1"/>
          <p:nvPr/>
        </p:nvSpPr>
        <p:spPr>
          <a:xfrm>
            <a:off x="9185903" y="4733823"/>
            <a:ext cx="2377791" cy="398780"/>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库存管理：</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分析广告库存情况，优化广告投放策略，避免</a:t>
            </a: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库存浪费</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8" name="文本框 57"/>
          <p:cNvSpPr txBox="1"/>
          <p:nvPr/>
        </p:nvSpPr>
        <p:spPr>
          <a:xfrm>
            <a:off x="9185903" y="5221828"/>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a:ln>
                  <a:noFill/>
                </a:ln>
                <a:solidFill>
                  <a:srgbClr val="383838"/>
                </a:solidFill>
                <a:effectLst/>
                <a:uLnTx/>
                <a:uFillTx/>
                <a:latin typeface="微软雅黑"/>
                <a:ea typeface="微软雅黑"/>
                <a:cs typeface="微软雅黑"/>
              </a:rPr>
              <a:t>变</a:t>
            </a: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现策略：</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通过精准投放，提高广告的变现效率，确保每一次展示都能带来更高</a:t>
            </a: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的收入</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9" name="文本框 58"/>
          <p:cNvSpPr txBox="1"/>
          <p:nvPr/>
        </p:nvSpPr>
        <p:spPr>
          <a:xfrm>
            <a:off x="9185903" y="5867253"/>
            <a:ext cx="2377791" cy="553085"/>
          </a:xfrm>
          <a:prstGeom prst="rect">
            <a:avLst/>
          </a:prstGeom>
          <a:noFill/>
        </p:spPr>
        <p:txBody>
          <a:bodyPr wrap="square" lIns="0" rIns="0" tIns="0" bIns="0">
            <a:spAutoFit/>
          </a:bodyPr>
          <a:lstStyle/>
          <a:p>
            <a:pPr marL="171450" marR="0" lvl="0" indent="-171450" algn="l"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合理控制广告频数：</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避免广告过度展示导致用户反感，合理设置广告频次，确保用户体验</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 name="文本框 10"/>
          <p:cNvSpPr txBox="1"/>
          <p:nvPr/>
        </p:nvSpPr>
        <p:spPr>
          <a:xfrm>
            <a:off x="3344545" y="2549525"/>
            <a:ext cx="287020" cy="368300"/>
          </a:xfrm>
          <a:prstGeom prst="rect">
            <a:avLst/>
          </a:prstGeom>
          <a:noFill/>
          <a:extLst>
            <a:ext uri="{909E8E84-426E-40DD-AFC4-6F175D3DCCD1}">
              <a14:hiddenFill xmlns:a14="http://schemas.microsoft.com/office/drawing/2010/main">
                <a:solidFill>
                  <a:srgbClr val="3368FF"/>
                </a:solidFill>
              </a14:hiddenFill>
            </a:ext>
          </a:extLst>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800" b="0" i="0" u="none" strike="noStrike" kern="1200" cap="none" spc="-150" normalizeH="0" baseline="0" noProof="0" dirty="0">
                <a:ln>
                  <a:noFill/>
                </a:ln>
                <a:solidFill>
                  <a:srgbClr val="FFFFFF"/>
                </a:solidFill>
                <a:effectLst/>
                <a:uLnTx/>
                <a:uFillTx/>
                <a:latin typeface="微软雅黑"/>
                <a:ea typeface="微软雅黑"/>
                <a:cs typeface="微软雅黑"/>
              </a:rPr>
              <a:t>×</a:t>
            </a:r>
            <a:endParaRPr kumimoji="0" lang="en-US" altLang="zh-CN" sz="1800" b="0" i="0" u="none" strike="noStrike" kern="1200" cap="none" spc="-150" normalizeH="0" baseline="0" noProof="0" dirty="0">
              <a:ln>
                <a:noFill/>
              </a:ln>
              <a:solidFill>
                <a:srgbClr val="FFFFFF"/>
              </a:solidFill>
              <a:effectLst/>
              <a:uLnTx/>
              <a:uFillTx/>
              <a:latin typeface="微软雅黑"/>
              <a:ea typeface="微软雅黑"/>
              <a:cs typeface="微软雅黑"/>
            </a:endParaRPr>
          </a:p>
        </p:txBody>
      </p:sp>
      <p:sp>
        <p:nvSpPr>
          <p:cNvPr id="16" name="文本框 15"/>
          <p:cNvSpPr txBox="1"/>
          <p:nvPr/>
        </p:nvSpPr>
        <p:spPr>
          <a:xfrm>
            <a:off x="6115665" y="2549235"/>
            <a:ext cx="287020" cy="36830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800" b="0" i="0" u="none" strike="noStrike" kern="1200" cap="none" spc="-150" normalizeH="0" baseline="0" noProof="0" dirty="0">
                <a:ln>
                  <a:noFill/>
                </a:ln>
                <a:solidFill>
                  <a:prstClr val="white"/>
                </a:solidFill>
                <a:effectLst/>
                <a:uLnTx/>
                <a:uFillTx/>
                <a:latin typeface="微软雅黑"/>
                <a:ea typeface="微软雅黑"/>
                <a:cs typeface="微软雅黑"/>
              </a:rPr>
              <a:t>×</a:t>
            </a:r>
            <a:endParaRPr kumimoji="0" lang="en-US" altLang="zh-CN" sz="1800" b="0" i="0" u="none" strike="noStrike" kern="1200" cap="none" spc="-150" normalizeH="0" baseline="0" noProof="0" dirty="0">
              <a:ln>
                <a:noFill/>
              </a:ln>
              <a:solidFill>
                <a:prstClr val="white"/>
              </a:solidFill>
              <a:effectLst/>
              <a:uLnTx/>
              <a:uFillTx/>
              <a:latin typeface="微软雅黑"/>
              <a:ea typeface="微软雅黑"/>
              <a:cs typeface="微软雅黑"/>
            </a:endParaRPr>
          </a:p>
        </p:txBody>
      </p:sp>
      <p:sp>
        <p:nvSpPr>
          <p:cNvPr id="26" name="文本框 25"/>
          <p:cNvSpPr txBox="1"/>
          <p:nvPr/>
        </p:nvSpPr>
        <p:spPr>
          <a:xfrm>
            <a:off x="8886720" y="2549235"/>
            <a:ext cx="287020" cy="36830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800" b="0" i="0" u="none" strike="noStrike" kern="1200" cap="none" spc="-150" normalizeH="0" baseline="0" noProof="0" dirty="0">
                <a:ln>
                  <a:noFill/>
                </a:ln>
                <a:solidFill>
                  <a:srgbClr val="FFFFFF"/>
                </a:solidFill>
                <a:effectLst/>
                <a:uLnTx/>
                <a:uFillTx/>
                <a:latin typeface="微软雅黑"/>
                <a:ea typeface="微软雅黑"/>
                <a:cs typeface="微软雅黑"/>
              </a:rPr>
              <a:t>×</a:t>
            </a:r>
            <a:endParaRPr kumimoji="0" lang="en-US" altLang="zh-CN" sz="1800" b="0" i="0" u="none" strike="noStrike" kern="1200" cap="none" spc="-150" normalizeH="0" baseline="0" noProof="0" dirty="0">
              <a:ln>
                <a:noFill/>
              </a:ln>
              <a:solidFill>
                <a:srgbClr val="FFFFFF"/>
              </a:solidFill>
              <a:effectLst/>
              <a:uLnTx/>
              <a:uFillTx/>
              <a:latin typeface="微软雅黑"/>
              <a:ea typeface="微软雅黑"/>
              <a:cs typeface="微软雅黑"/>
            </a:endParaRPr>
          </a:p>
        </p:txBody>
      </p:sp>
      <p:pic>
        <p:nvPicPr>
          <p:cNvPr id="92" name="图片 91" descr="变现"/>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352238" y="2122805"/>
            <a:ext cx="585470" cy="585470"/>
          </a:xfrm>
          <a:prstGeom prst="rect">
            <a:avLst/>
          </a:prstGeom>
          <a:gradFill>
            <a:gsLst>
              <a:gs pos="100000">
                <a:srgbClr val="FFFFFF">
                  <a:alpha val="31000"/>
                </a:srgbClr>
              </a:gs>
              <a:gs pos="0">
                <a:srgbClr val="FFFFFF"/>
              </a:gs>
            </a:gsLst>
            <a:lin ang="5400000" scaled="1"/>
          </a:gradFill>
        </p:spPr>
      </p:pic>
      <p:pic>
        <p:nvPicPr>
          <p:cNvPr id="93" name="图片 92" descr="重点广告位"/>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811035" y="2122805"/>
            <a:ext cx="582930" cy="571500"/>
          </a:xfrm>
          <a:prstGeom prst="rect">
            <a:avLst/>
          </a:prstGeom>
        </p:spPr>
      </p:pic>
      <p:pic>
        <p:nvPicPr>
          <p:cNvPr id="95" name="图片 94" descr="库存分析 (1)"/>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544337" y="2122805"/>
            <a:ext cx="658800" cy="658800"/>
          </a:xfrm>
          <a:prstGeom prst="rect">
            <a:avLst/>
          </a:prstGeom>
        </p:spPr>
      </p:pic>
      <p:pic>
        <p:nvPicPr>
          <p:cNvPr id="96" name="图片 95" descr="winfo-icon-雷达站"/>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086809" y="2122805"/>
            <a:ext cx="658800" cy="658800"/>
          </a:xfrm>
          <a:prstGeom prst="rect">
            <a:avLst/>
          </a:prstGeom>
        </p:spPr>
      </p:pic>
      <p:grpSp>
        <p:nvGrpSpPr>
          <p:cNvPr id="4" name="组合 3"/>
          <p:cNvGrpSpPr/>
          <p:nvPr/>
        </p:nvGrpSpPr>
        <p:grpSpPr>
          <a:xfrm>
            <a:off x="7675245" y="347980"/>
            <a:ext cx="4588510" cy="367030"/>
            <a:chOff x="12087" y="-1089"/>
            <a:chExt cx="7226" cy="578"/>
          </a:xfrm>
        </p:grpSpPr>
        <p:pic>
          <p:nvPicPr>
            <p:cNvPr id="27" name="图片 26"/>
            <p:cNvPicPr>
              <a:picLocks noChangeAspect="1"/>
            </p:cNvPicPr>
            <p:nvPr userDrawn="1"/>
          </p:nvPicPr>
          <p:blipFill>
            <a:blip r:embed="rId11"/>
            <a:srcRect r="57320" b="-13333"/>
            <a:stretch>
              <a:fillRect/>
            </a:stretch>
          </p:blipFill>
          <p:spPr>
            <a:xfrm>
              <a:off x="12087" y="-1089"/>
              <a:ext cx="2548" cy="578"/>
            </a:xfrm>
            <a:prstGeom prst="rect">
              <a:avLst/>
            </a:prstGeom>
          </p:spPr>
        </p:pic>
        <p:sp>
          <p:nvSpPr>
            <p:cNvPr id="28" name="文本框 2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a:t>
            </a:r>
            <a:r>
              <a:rPr lang="en-US" altLang="zh-CN" sz="2500">
                <a:solidFill>
                  <a:srgbClr val="0042FF"/>
                </a:solidFill>
                <a:effectLst/>
                <a:latin typeface="微软雅黑"/>
                <a:ea typeface="微软雅黑"/>
                <a:cs typeface="微软雅黑"/>
              </a:rPr>
              <a:t> </a:t>
            </a:r>
            <a:r>
              <a:rPr sz="2500">
                <a:solidFill>
                  <a:srgbClr val="383838"/>
                </a:solidFill>
                <a:effectLst/>
                <a:latin typeface="微软雅黑"/>
                <a:ea typeface="微软雅黑"/>
                <a:cs typeface="微软雅黑"/>
              </a:rPr>
              <a:t>企业五大核心竞争力分析</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56" name="矩形 155"/>
          <p:cNvSpPr/>
          <p:nvPr/>
        </p:nvSpPr>
        <p:spPr>
          <a:xfrm>
            <a:off x="239151" y="1123057"/>
            <a:ext cx="11725836" cy="605927"/>
          </a:xfrm>
          <a:prstGeom prst="rect">
            <a:avLst/>
          </a:prstGeom>
          <a:gradFill>
            <a:gsLst>
              <a:gs pos="16000">
                <a:srgbClr val="3368FF"/>
              </a:gs>
              <a:gs pos="100000">
                <a:srgbClr val="B3D4FE"/>
              </a:gs>
            </a:gsLst>
            <a:lin ang="5400000" scaled="0"/>
          </a:gradFill>
          <a:ln w="15875">
            <a:no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57" name="椭圆 156"/>
          <p:cNvSpPr/>
          <p:nvPr/>
        </p:nvSpPr>
        <p:spPr>
          <a:xfrm>
            <a:off x="4815798" y="1015365"/>
            <a:ext cx="2560404" cy="2560404"/>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2" name="椭圆 1"/>
          <p:cNvSpPr/>
          <p:nvPr/>
        </p:nvSpPr>
        <p:spPr>
          <a:xfrm>
            <a:off x="4952577" y="1121906"/>
            <a:ext cx="2286846" cy="2286846"/>
          </a:xfrm>
          <a:prstGeom prst="ellipse">
            <a:avLst/>
          </a:prstGeom>
          <a:gradFill flip="none" rotWithShape="1">
            <a:gsLst>
              <a:gs pos="3900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 name="任意多边形: 形状 42"/>
          <p:cNvSpPr/>
          <p:nvPr/>
        </p:nvSpPr>
        <p:spPr>
          <a:xfrm>
            <a:off x="4990175" y="2135235"/>
            <a:ext cx="2257373" cy="1531974"/>
          </a:xfrm>
          <a:custGeom>
            <a:avLst/>
            <a:gdLst>
              <a:gd name="connsiteX0" fmla="*/ 1123289 w 2257373"/>
              <a:gd name="connsiteY0" fmla="*/ 0 h 1531974"/>
              <a:gd name="connsiteX1" fmla="*/ 1136320 w 2257373"/>
              <a:gd name="connsiteY1" fmla="*/ 3391 h 1531974"/>
              <a:gd name="connsiteX2" fmla="*/ 2257373 w 2257373"/>
              <a:gd name="connsiteY2" fmla="*/ 1531974 h 1531974"/>
              <a:gd name="connsiteX3" fmla="*/ 0 w 2257373"/>
              <a:gd name="connsiteY3" fmla="*/ 1531974 h 1531974"/>
              <a:gd name="connsiteX4" fmla="*/ 1121066 w 2257373"/>
              <a:gd name="connsiteY4" fmla="*/ 3373 h 1531974"/>
              <a:gd name="connsiteX5" fmla="*/ 1046928 w 2257373"/>
              <a:gd name="connsiteY5" fmla="*/ 96108 h 1531974"/>
              <a:gd name="connsiteX6" fmla="*/ 1118420 w 2257373"/>
              <a:gd name="connsiteY6" fmla="*/ 1267 h 1531974"/>
              <a:gd name="connsiteX7" fmla="*/ 1123289 w 2257373"/>
              <a:gd name="connsiteY7" fmla="*/ 0 h 15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57373" h="1531974">
                <a:moveTo>
                  <a:pt x="1123289" y="0"/>
                </a:moveTo>
                <a:lnTo>
                  <a:pt x="1136320" y="3391"/>
                </a:lnTo>
                <a:lnTo>
                  <a:pt x="2257373" y="1531974"/>
                </a:lnTo>
                <a:lnTo>
                  <a:pt x="0" y="1531974"/>
                </a:lnTo>
                <a:lnTo>
                  <a:pt x="1121066" y="3373"/>
                </a:lnTo>
                <a:lnTo>
                  <a:pt x="1046928" y="96108"/>
                </a:lnTo>
                <a:lnTo>
                  <a:pt x="1118420" y="1267"/>
                </a:lnTo>
                <a:lnTo>
                  <a:pt x="1123289" y="0"/>
                </a:lnTo>
                <a:close/>
              </a:path>
            </a:pathLst>
          </a:custGeom>
          <a:gradFill>
            <a:gsLst>
              <a:gs pos="33000">
                <a:srgbClr val="3368FF">
                  <a:alpha val="62000"/>
                </a:srgbClr>
              </a:gs>
              <a:gs pos="0">
                <a:srgbClr val="3368FF">
                  <a:alpha val="0"/>
                </a:srgbClr>
              </a:gs>
              <a:gs pos="8000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 name="任意多边形: 形状 40"/>
          <p:cNvSpPr/>
          <p:nvPr/>
        </p:nvSpPr>
        <p:spPr>
          <a:xfrm>
            <a:off x="2652062" y="2136503"/>
            <a:ext cx="3456533" cy="1530707"/>
          </a:xfrm>
          <a:custGeom>
            <a:avLst/>
            <a:gdLst>
              <a:gd name="connsiteX0" fmla="*/ 3456533 w 3456533"/>
              <a:gd name="connsiteY0" fmla="*/ 0 h 1530707"/>
              <a:gd name="connsiteX1" fmla="*/ 3385041 w 3456533"/>
              <a:gd name="connsiteY1" fmla="*/ 94841 h 1530707"/>
              <a:gd name="connsiteX2" fmla="*/ 2237116 w 3456533"/>
              <a:gd name="connsiteY2" fmla="*/ 1530707 h 1530707"/>
              <a:gd name="connsiteX3" fmla="*/ 0 w 3456533"/>
              <a:gd name="connsiteY3" fmla="*/ 1530707 h 1530707"/>
              <a:gd name="connsiteX4" fmla="*/ 3394331 w 3456533"/>
              <a:gd name="connsiteY4" fmla="*/ 16189 h 1530707"/>
              <a:gd name="connsiteX5" fmla="*/ 3456533 w 3456533"/>
              <a:gd name="connsiteY5" fmla="*/ 0 h 153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6533" h="1530707">
                <a:moveTo>
                  <a:pt x="3456533" y="0"/>
                </a:moveTo>
                <a:lnTo>
                  <a:pt x="3385041" y="94841"/>
                </a:lnTo>
                <a:lnTo>
                  <a:pt x="2237116" y="1530707"/>
                </a:lnTo>
                <a:lnTo>
                  <a:pt x="0" y="1530707"/>
                </a:lnTo>
                <a:lnTo>
                  <a:pt x="3394331" y="16189"/>
                </a:lnTo>
                <a:lnTo>
                  <a:pt x="3456533" y="0"/>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7" name="矩形 6"/>
          <p:cNvSpPr/>
          <p:nvPr/>
        </p:nvSpPr>
        <p:spPr>
          <a:xfrm>
            <a:off x="227330" y="3725545"/>
            <a:ext cx="2265045" cy="2988945"/>
          </a:xfrm>
          <a:prstGeom prst="rect">
            <a:avLst/>
          </a:prstGeom>
          <a:solidFill>
            <a:srgbClr val="E6E6E6">
              <a:alpha val="30000"/>
            </a:srgbClr>
          </a:solidFill>
          <a:ln w="15875">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8" name="矩形 7"/>
          <p:cNvSpPr/>
          <p:nvPr/>
        </p:nvSpPr>
        <p:spPr>
          <a:xfrm>
            <a:off x="227013" y="3725459"/>
            <a:ext cx="2265292" cy="505514"/>
          </a:xfrm>
          <a:prstGeom prst="rect">
            <a:avLst/>
          </a:prstGeom>
          <a:gradFill flip="none" rotWithShape="1">
            <a:gsLst>
              <a:gs pos="0">
                <a:srgbClr val="3368FF"/>
              </a:gs>
              <a:gs pos="89000">
                <a:srgbClr val="0042FF"/>
              </a:gs>
            </a:gsLst>
            <a:lin ang="162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en-US" altLang="zh-CN" noProof="0" dirty="0">
                <a:ln>
                  <a:noFill/>
                </a:ln>
                <a:solidFill>
                  <a:srgbClr val="FFFFFF"/>
                </a:solidFill>
                <a:effectLst/>
                <a:uLnTx/>
                <a:uFillTx/>
                <a:latin typeface="微软雅黑"/>
                <a:ea typeface="微软雅黑"/>
                <a:cs typeface="微软雅黑"/>
                <a:sym typeface="微软雅黑"/>
              </a:rPr>
              <a:t>供应链能力</a:t>
            </a:r>
            <a:endParaRPr lang="en-US" altLang="zh-CN" noProof="0" dirty="0">
              <a:ln>
                <a:noFill/>
              </a:ln>
              <a:solidFill>
                <a:srgbClr val="FFFFFF"/>
              </a:solidFill>
              <a:effectLst/>
              <a:uLnTx/>
              <a:uFillTx/>
              <a:latin typeface="微软雅黑"/>
              <a:ea typeface="微软雅黑"/>
              <a:cs typeface="微软雅黑"/>
              <a:sym typeface="微软雅黑"/>
            </a:endParaRPr>
          </a:p>
        </p:txBody>
      </p:sp>
      <p:sp>
        <p:nvSpPr>
          <p:cNvPr id="15" name="矩形 14"/>
          <p:cNvSpPr/>
          <p:nvPr/>
        </p:nvSpPr>
        <p:spPr>
          <a:xfrm>
            <a:off x="2604135" y="3725545"/>
            <a:ext cx="2265045" cy="2988945"/>
          </a:xfrm>
          <a:prstGeom prst="rect">
            <a:avLst/>
          </a:prstGeom>
          <a:solidFill>
            <a:srgbClr val="E6E6E6">
              <a:alpha val="30000"/>
            </a:srgbClr>
          </a:solidFill>
          <a:ln w="15875">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16" name="矩形 15"/>
          <p:cNvSpPr/>
          <p:nvPr/>
        </p:nvSpPr>
        <p:spPr>
          <a:xfrm>
            <a:off x="2603914" y="3725459"/>
            <a:ext cx="2265292" cy="505514"/>
          </a:xfrm>
          <a:prstGeom prst="rect">
            <a:avLst/>
          </a:prstGeom>
          <a:gradFill flip="none" rotWithShape="1">
            <a:gsLst>
              <a:gs pos="0">
                <a:srgbClr val="3368FF"/>
              </a:gs>
              <a:gs pos="89000">
                <a:srgbClr val="0042FF"/>
              </a:gs>
            </a:gsLst>
            <a:lin ang="162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en-US" altLang="zh-CN" noProof="0" dirty="0">
                <a:ln>
                  <a:noFill/>
                </a:ln>
                <a:solidFill>
                  <a:srgbClr val="FFFFFF"/>
                </a:solidFill>
                <a:effectLst/>
                <a:uLnTx/>
                <a:uFillTx/>
                <a:latin typeface="微软雅黑"/>
                <a:ea typeface="微软雅黑"/>
                <a:cs typeface="微软雅黑"/>
                <a:sym typeface="微软雅黑"/>
              </a:rPr>
              <a:t>产品创新能力</a:t>
            </a:r>
            <a:endParaRPr lang="en-US" altLang="zh-CN" noProof="0" dirty="0">
              <a:ln>
                <a:noFill/>
              </a:ln>
              <a:solidFill>
                <a:srgbClr val="FFFFFF"/>
              </a:solidFill>
              <a:effectLst/>
              <a:uLnTx/>
              <a:uFillTx/>
              <a:latin typeface="微软雅黑"/>
              <a:ea typeface="微软雅黑"/>
              <a:cs typeface="微软雅黑"/>
              <a:sym typeface="微软雅黑"/>
            </a:endParaRPr>
          </a:p>
        </p:txBody>
      </p:sp>
      <p:sp>
        <p:nvSpPr>
          <p:cNvPr id="18" name="矩形 17"/>
          <p:cNvSpPr/>
          <p:nvPr/>
        </p:nvSpPr>
        <p:spPr>
          <a:xfrm>
            <a:off x="4980940" y="3725545"/>
            <a:ext cx="2265045" cy="2988945"/>
          </a:xfrm>
          <a:prstGeom prst="rect">
            <a:avLst/>
          </a:prstGeom>
          <a:solidFill>
            <a:srgbClr val="FFFFFF">
              <a:alpha val="30000"/>
            </a:srgbClr>
          </a:solidFill>
          <a:ln w="15875">
            <a:solidFill>
              <a:srgbClr val="B3D4FE"/>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20" name="矩形 19"/>
          <p:cNvSpPr/>
          <p:nvPr/>
        </p:nvSpPr>
        <p:spPr>
          <a:xfrm>
            <a:off x="4980817" y="3725459"/>
            <a:ext cx="2265292" cy="505514"/>
          </a:xfrm>
          <a:prstGeom prst="rect">
            <a:avLst/>
          </a:prstGeom>
          <a:gradFill flip="none" rotWithShape="1">
            <a:gsLst>
              <a:gs pos="0">
                <a:srgbClr val="B3D4FE"/>
              </a:gs>
              <a:gs pos="89000">
                <a:srgbClr val="3368FF"/>
              </a:gs>
            </a:gsLst>
            <a:lin ang="162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en-US" altLang="zh-CN" noProof="0" dirty="0">
                <a:ln>
                  <a:noFill/>
                </a:ln>
                <a:solidFill>
                  <a:srgbClr val="383838"/>
                </a:solidFill>
                <a:effectLst/>
                <a:uLnTx/>
                <a:uFillTx/>
                <a:latin typeface="微软雅黑"/>
                <a:ea typeface="微软雅黑"/>
                <a:cs typeface="微软雅黑"/>
                <a:sym typeface="微软雅黑"/>
              </a:rPr>
              <a:t>渠道渗透能力</a:t>
            </a:r>
            <a:endParaRPr lang="en-US" altLang="zh-CN" noProof="0" dirty="0">
              <a:ln>
                <a:noFill/>
              </a:ln>
              <a:solidFill>
                <a:srgbClr val="383838"/>
              </a:solidFill>
              <a:effectLst/>
              <a:uLnTx/>
              <a:uFillTx/>
              <a:latin typeface="微软雅黑"/>
              <a:ea typeface="微软雅黑"/>
              <a:cs typeface="微软雅黑"/>
              <a:sym typeface="微软雅黑"/>
            </a:endParaRPr>
          </a:p>
        </p:txBody>
      </p:sp>
      <p:sp>
        <p:nvSpPr>
          <p:cNvPr id="22" name="矩形 21"/>
          <p:cNvSpPr/>
          <p:nvPr/>
        </p:nvSpPr>
        <p:spPr>
          <a:xfrm>
            <a:off x="7357745" y="3725545"/>
            <a:ext cx="2265045" cy="2988945"/>
          </a:xfrm>
          <a:prstGeom prst="rect">
            <a:avLst/>
          </a:prstGeom>
          <a:solidFill>
            <a:srgbClr val="E6E6E6">
              <a:alpha val="30000"/>
            </a:srgbClr>
          </a:solidFill>
          <a:ln w="15875">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9" name="矩形 8"/>
          <p:cNvSpPr/>
          <p:nvPr/>
        </p:nvSpPr>
        <p:spPr>
          <a:xfrm>
            <a:off x="7357718" y="3725459"/>
            <a:ext cx="2265292" cy="505514"/>
          </a:xfrm>
          <a:prstGeom prst="rect">
            <a:avLst/>
          </a:prstGeom>
          <a:gradFill flip="none" rotWithShape="1">
            <a:gsLst>
              <a:gs pos="0">
                <a:srgbClr val="3368FF"/>
              </a:gs>
              <a:gs pos="89000">
                <a:srgbClr val="0042FF"/>
              </a:gs>
            </a:gsLst>
            <a:lin ang="162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en-US" altLang="zh-CN" noProof="0" dirty="0">
                <a:ln>
                  <a:noFill/>
                </a:ln>
                <a:solidFill>
                  <a:srgbClr val="FFFFFF"/>
                </a:solidFill>
                <a:effectLst/>
                <a:uLnTx/>
                <a:uFillTx/>
                <a:latin typeface="微软雅黑"/>
                <a:ea typeface="微软雅黑"/>
                <a:cs typeface="微软雅黑"/>
                <a:sym typeface="微软雅黑"/>
              </a:rPr>
              <a:t>合规经营能力</a:t>
            </a:r>
            <a:endParaRPr lang="en-US" altLang="zh-CN" noProof="0" dirty="0">
              <a:ln>
                <a:noFill/>
              </a:ln>
              <a:solidFill>
                <a:srgbClr val="FFFFFF"/>
              </a:solidFill>
              <a:effectLst/>
              <a:uLnTx/>
              <a:uFillTx/>
              <a:latin typeface="微软雅黑"/>
              <a:ea typeface="微软雅黑"/>
              <a:cs typeface="微软雅黑"/>
              <a:sym typeface="微软雅黑"/>
            </a:endParaRPr>
          </a:p>
        </p:txBody>
      </p:sp>
      <p:sp>
        <p:nvSpPr>
          <p:cNvPr id="11" name="矩形 10"/>
          <p:cNvSpPr/>
          <p:nvPr/>
        </p:nvSpPr>
        <p:spPr>
          <a:xfrm>
            <a:off x="9734550" y="3725545"/>
            <a:ext cx="2265045" cy="2988945"/>
          </a:xfrm>
          <a:prstGeom prst="rect">
            <a:avLst/>
          </a:prstGeom>
          <a:solidFill>
            <a:srgbClr val="E6E6E6">
              <a:alpha val="30000"/>
            </a:srgbClr>
          </a:solidFill>
          <a:ln w="15875">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12" name="矩形 11"/>
          <p:cNvSpPr/>
          <p:nvPr/>
        </p:nvSpPr>
        <p:spPr>
          <a:xfrm>
            <a:off x="9734621" y="3725459"/>
            <a:ext cx="2265292" cy="505514"/>
          </a:xfrm>
          <a:prstGeom prst="rect">
            <a:avLst/>
          </a:prstGeom>
          <a:gradFill flip="none" rotWithShape="1">
            <a:gsLst>
              <a:gs pos="0">
                <a:srgbClr val="3368FF"/>
              </a:gs>
              <a:gs pos="89000">
                <a:srgbClr val="0042FF"/>
              </a:gs>
            </a:gsLst>
            <a:lin ang="162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en-US" altLang="zh-CN" noProof="0" dirty="0">
                <a:ln>
                  <a:noFill/>
                </a:ln>
                <a:solidFill>
                  <a:srgbClr val="FFFFFF"/>
                </a:solidFill>
                <a:effectLst/>
                <a:uLnTx/>
                <a:uFillTx/>
                <a:latin typeface="微软雅黑"/>
                <a:ea typeface="微软雅黑"/>
                <a:cs typeface="微软雅黑"/>
                <a:sym typeface="微软雅黑"/>
              </a:rPr>
              <a:t>品牌建设能力</a:t>
            </a:r>
            <a:endParaRPr lang="en-US" altLang="zh-CN" noProof="0" dirty="0">
              <a:ln>
                <a:noFill/>
              </a:ln>
              <a:solidFill>
                <a:srgbClr val="FFFFFF"/>
              </a:solidFill>
              <a:effectLst/>
              <a:uLnTx/>
              <a:uFillTx/>
              <a:latin typeface="微软雅黑"/>
              <a:ea typeface="微软雅黑"/>
              <a:cs typeface="微软雅黑"/>
              <a:sym typeface="微软雅黑"/>
            </a:endParaRPr>
          </a:p>
        </p:txBody>
      </p:sp>
      <p:sp>
        <p:nvSpPr>
          <p:cNvPr id="13" name="任意多边形: 形状 26"/>
          <p:cNvSpPr/>
          <p:nvPr/>
        </p:nvSpPr>
        <p:spPr>
          <a:xfrm>
            <a:off x="6126495" y="2138627"/>
            <a:ext cx="3459164" cy="1528582"/>
          </a:xfrm>
          <a:custGeom>
            <a:avLst/>
            <a:gdLst>
              <a:gd name="connsiteX0" fmla="*/ 0 w 3459164"/>
              <a:gd name="connsiteY0" fmla="*/ 0 h 1528582"/>
              <a:gd name="connsiteX1" fmla="*/ 79941 w 3459164"/>
              <a:gd name="connsiteY1" fmla="*/ 20805 h 1528582"/>
              <a:gd name="connsiteX2" fmla="*/ 3459164 w 3459164"/>
              <a:gd name="connsiteY2" fmla="*/ 1528582 h 1528582"/>
              <a:gd name="connsiteX3" fmla="*/ 1222049 w 3459164"/>
              <a:gd name="connsiteY3" fmla="*/ 1528582 h 1528582"/>
              <a:gd name="connsiteX4" fmla="*/ 0 w 3459164"/>
              <a:gd name="connsiteY4" fmla="*/ 0 h 1528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9164" h="1528582">
                <a:moveTo>
                  <a:pt x="0" y="0"/>
                </a:moveTo>
                <a:lnTo>
                  <a:pt x="79941" y="20805"/>
                </a:lnTo>
                <a:lnTo>
                  <a:pt x="3459164" y="1528582"/>
                </a:lnTo>
                <a:lnTo>
                  <a:pt x="1222049" y="1528582"/>
                </a:lnTo>
                <a:lnTo>
                  <a:pt x="0" y="0"/>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14" name="任意多边形: 形状 25"/>
          <p:cNvSpPr/>
          <p:nvPr/>
        </p:nvSpPr>
        <p:spPr>
          <a:xfrm>
            <a:off x="227013" y="2154343"/>
            <a:ext cx="5813036" cy="1512867"/>
          </a:xfrm>
          <a:custGeom>
            <a:avLst/>
            <a:gdLst>
              <a:gd name="connsiteX0" fmla="*/ 5813036 w 5813036"/>
              <a:gd name="connsiteY0" fmla="*/ 0 h 1512867"/>
              <a:gd name="connsiteX1" fmla="*/ 2304725 w 5813036"/>
              <a:gd name="connsiteY1" fmla="*/ 1512867 h 1512867"/>
              <a:gd name="connsiteX2" fmla="*/ 0 w 5813036"/>
              <a:gd name="connsiteY2" fmla="*/ 1512867 h 1512867"/>
              <a:gd name="connsiteX3" fmla="*/ 5813036 w 5813036"/>
              <a:gd name="connsiteY3" fmla="*/ 0 h 1512867"/>
            </a:gdLst>
            <a:ahLst/>
            <a:cxnLst>
              <a:cxn ang="0">
                <a:pos x="connsiteX0" y="connsiteY0"/>
              </a:cxn>
              <a:cxn ang="0">
                <a:pos x="connsiteX1" y="connsiteY1"/>
              </a:cxn>
              <a:cxn ang="0">
                <a:pos x="connsiteX2" y="connsiteY2"/>
              </a:cxn>
              <a:cxn ang="0">
                <a:pos x="connsiteX3" y="connsiteY3"/>
              </a:cxn>
            </a:cxnLst>
            <a:rect l="l" t="t" r="r" b="b"/>
            <a:pathLst>
              <a:path w="5813036" h="1512867">
                <a:moveTo>
                  <a:pt x="5813036" y="0"/>
                </a:moveTo>
                <a:lnTo>
                  <a:pt x="2304725" y="1512867"/>
                </a:lnTo>
                <a:lnTo>
                  <a:pt x="0" y="1512867"/>
                </a:lnTo>
                <a:lnTo>
                  <a:pt x="5813036" y="0"/>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17" name="任意多边形: 形状 24"/>
          <p:cNvSpPr/>
          <p:nvPr/>
        </p:nvSpPr>
        <p:spPr>
          <a:xfrm>
            <a:off x="6214103" y="2161427"/>
            <a:ext cx="5785810" cy="1505782"/>
          </a:xfrm>
          <a:custGeom>
            <a:avLst/>
            <a:gdLst>
              <a:gd name="connsiteX0" fmla="*/ 0 w 5785810"/>
              <a:gd name="connsiteY0" fmla="*/ 0 h 1505782"/>
              <a:gd name="connsiteX1" fmla="*/ 5785810 w 5785810"/>
              <a:gd name="connsiteY1" fmla="*/ 1505782 h 1505782"/>
              <a:gd name="connsiteX2" fmla="*/ 3491879 w 5785810"/>
              <a:gd name="connsiteY2" fmla="*/ 1505782 h 1505782"/>
              <a:gd name="connsiteX3" fmla="*/ 0 w 5785810"/>
              <a:gd name="connsiteY3" fmla="*/ 0 h 1505782"/>
            </a:gdLst>
            <a:ahLst/>
            <a:cxnLst>
              <a:cxn ang="0">
                <a:pos x="connsiteX0" y="connsiteY0"/>
              </a:cxn>
              <a:cxn ang="0">
                <a:pos x="connsiteX1" y="connsiteY1"/>
              </a:cxn>
              <a:cxn ang="0">
                <a:pos x="connsiteX2" y="connsiteY2"/>
              </a:cxn>
              <a:cxn ang="0">
                <a:pos x="connsiteX3" y="connsiteY3"/>
              </a:cxn>
            </a:cxnLst>
            <a:rect l="l" t="t" r="r" b="b"/>
            <a:pathLst>
              <a:path w="5785810" h="1505782">
                <a:moveTo>
                  <a:pt x="0" y="0"/>
                </a:moveTo>
                <a:lnTo>
                  <a:pt x="5785810" y="1505782"/>
                </a:lnTo>
                <a:lnTo>
                  <a:pt x="3491879" y="1505782"/>
                </a:lnTo>
                <a:lnTo>
                  <a:pt x="0" y="0"/>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1" name="文本框 50"/>
          <p:cNvSpPr txBox="1"/>
          <p:nvPr/>
        </p:nvSpPr>
        <p:spPr>
          <a:xfrm>
            <a:off x="329184" y="4698312"/>
            <a:ext cx="2048256" cy="52072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实现基于柔性供应链的以销定产，提升全链条协同效率</a:t>
            </a:r>
            <a:endParaRPr lang="zh-CN" altLang="en-US" sz="1200">
              <a:solidFill>
                <a:srgbClr val="383838"/>
              </a:solidFill>
              <a:latin typeface="微软雅黑"/>
              <a:cs typeface="微软雅黑"/>
              <a:ea typeface="微软雅黑"/>
            </a:endParaRPr>
          </a:p>
        </p:txBody>
      </p:sp>
      <p:sp>
        <p:nvSpPr>
          <p:cNvPr id="53" name="文本框 52"/>
          <p:cNvSpPr txBox="1"/>
          <p:nvPr/>
        </p:nvSpPr>
        <p:spPr>
          <a:xfrm>
            <a:off x="216573" y="439038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数字化</a:t>
            </a:r>
            <a:endParaRPr lang="en-US" altLang="zh-CN" sz="1600" b="1">
              <a:solidFill>
                <a:srgbClr val="0042FF"/>
              </a:solidFill>
              <a:latin typeface="微软雅黑"/>
              <a:ea typeface="微软雅黑"/>
              <a:cs typeface="微软雅黑"/>
            </a:endParaRPr>
          </a:p>
        </p:txBody>
      </p:sp>
      <p:sp>
        <p:nvSpPr>
          <p:cNvPr id="54" name="任意多边形: 形状 53"/>
          <p:cNvSpPr/>
          <p:nvPr/>
        </p:nvSpPr>
        <p:spPr>
          <a:xfrm>
            <a:off x="329184"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5" name="任意多边形: 形状 54"/>
          <p:cNvSpPr/>
          <p:nvPr/>
        </p:nvSpPr>
        <p:spPr>
          <a:xfrm>
            <a:off x="1859280"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61" name="文本框 60"/>
          <p:cNvSpPr txBox="1"/>
          <p:nvPr/>
        </p:nvSpPr>
        <p:spPr>
          <a:xfrm>
            <a:off x="329184" y="5712262"/>
            <a:ext cx="2048256" cy="52072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着力构建起全球化的供应链物流运输网络</a:t>
            </a:r>
            <a:endParaRPr lang="zh-CN" altLang="en-US" sz="1200">
              <a:solidFill>
                <a:srgbClr val="383838"/>
              </a:solidFill>
              <a:latin typeface="微软雅黑"/>
              <a:cs typeface="微软雅黑"/>
              <a:ea typeface="微软雅黑"/>
            </a:endParaRPr>
          </a:p>
        </p:txBody>
      </p:sp>
      <p:sp>
        <p:nvSpPr>
          <p:cNvPr id="62" name="文本框 61"/>
          <p:cNvSpPr txBox="1"/>
          <p:nvPr/>
        </p:nvSpPr>
        <p:spPr>
          <a:xfrm>
            <a:off x="216573" y="540433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全球化</a:t>
            </a:r>
            <a:endParaRPr lang="en-US" altLang="zh-CN" sz="1600" b="1">
              <a:solidFill>
                <a:srgbClr val="0042FF"/>
              </a:solidFill>
              <a:latin typeface="微软雅黑"/>
              <a:ea typeface="微软雅黑"/>
              <a:cs typeface="微软雅黑"/>
            </a:endParaRPr>
          </a:p>
        </p:txBody>
      </p:sp>
      <p:sp>
        <p:nvSpPr>
          <p:cNvPr id="63" name="任意多边形: 形状 62"/>
          <p:cNvSpPr/>
          <p:nvPr/>
        </p:nvSpPr>
        <p:spPr>
          <a:xfrm>
            <a:off x="329184" y="558791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64" name="任意多边形: 形状 63"/>
          <p:cNvSpPr/>
          <p:nvPr/>
        </p:nvSpPr>
        <p:spPr>
          <a:xfrm>
            <a:off x="1859280" y="558791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9" name="文本框 18"/>
          <p:cNvSpPr txBox="1"/>
          <p:nvPr/>
        </p:nvSpPr>
        <p:spPr>
          <a:xfrm>
            <a:off x="2708339" y="4698312"/>
            <a:ext cx="2048256" cy="52072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新材料、新功能加持解决消费痛点</a:t>
            </a:r>
            <a:endParaRPr lang="zh-CN" altLang="en-US" sz="1200">
              <a:solidFill>
                <a:srgbClr val="383838"/>
              </a:solidFill>
              <a:latin typeface="微软雅黑"/>
              <a:cs typeface="微软雅黑"/>
              <a:ea typeface="微软雅黑"/>
            </a:endParaRPr>
          </a:p>
        </p:txBody>
      </p:sp>
      <p:sp>
        <p:nvSpPr>
          <p:cNvPr id="67" name="文本框 66"/>
          <p:cNvSpPr txBox="1"/>
          <p:nvPr/>
        </p:nvSpPr>
        <p:spPr>
          <a:xfrm>
            <a:off x="2595728" y="439038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产品研发</a:t>
            </a:r>
            <a:endParaRPr lang="en-US" altLang="zh-CN" sz="1600" b="1">
              <a:solidFill>
                <a:srgbClr val="0042FF"/>
              </a:solidFill>
              <a:latin typeface="微软雅黑"/>
              <a:ea typeface="微软雅黑"/>
              <a:cs typeface="微软雅黑"/>
            </a:endParaRPr>
          </a:p>
        </p:txBody>
      </p:sp>
      <p:sp>
        <p:nvSpPr>
          <p:cNvPr id="68" name="任意多边形: 形状 67"/>
          <p:cNvSpPr/>
          <p:nvPr/>
        </p:nvSpPr>
        <p:spPr>
          <a:xfrm>
            <a:off x="2708339"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69" name="任意多边形: 形状 68"/>
          <p:cNvSpPr/>
          <p:nvPr/>
        </p:nvSpPr>
        <p:spPr>
          <a:xfrm>
            <a:off x="4238435"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1" name="文本框 20"/>
          <p:cNvSpPr txBox="1"/>
          <p:nvPr/>
        </p:nvSpPr>
        <p:spPr>
          <a:xfrm>
            <a:off x="2708339" y="5712262"/>
            <a:ext cx="2048256" cy="52072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开拓新品类，满足空白市场需求</a:t>
            </a:r>
            <a:endParaRPr lang="zh-CN" altLang="en-US" sz="1200">
              <a:solidFill>
                <a:srgbClr val="383838"/>
              </a:solidFill>
              <a:latin typeface="微软雅黑"/>
              <a:cs typeface="微软雅黑"/>
              <a:ea typeface="微软雅黑"/>
            </a:endParaRPr>
          </a:p>
        </p:txBody>
      </p:sp>
      <p:sp>
        <p:nvSpPr>
          <p:cNvPr id="72" name="文本框 71"/>
          <p:cNvSpPr txBox="1"/>
          <p:nvPr/>
        </p:nvSpPr>
        <p:spPr>
          <a:xfrm>
            <a:off x="2595728" y="540433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品类细分</a:t>
            </a:r>
            <a:endParaRPr lang="en-US" altLang="zh-CN" sz="1600" b="1">
              <a:solidFill>
                <a:srgbClr val="0042FF"/>
              </a:solidFill>
              <a:latin typeface="微软雅黑"/>
              <a:ea typeface="微软雅黑"/>
              <a:cs typeface="微软雅黑"/>
            </a:endParaRPr>
          </a:p>
        </p:txBody>
      </p:sp>
      <p:sp>
        <p:nvSpPr>
          <p:cNvPr id="73" name="任意多边形: 形状 72"/>
          <p:cNvSpPr/>
          <p:nvPr/>
        </p:nvSpPr>
        <p:spPr>
          <a:xfrm>
            <a:off x="2708339" y="558791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2" name="任意多边形: 形状 73"/>
          <p:cNvSpPr/>
          <p:nvPr/>
        </p:nvSpPr>
        <p:spPr>
          <a:xfrm>
            <a:off x="4238435" y="558791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4" name="文本框 33"/>
          <p:cNvSpPr txBox="1"/>
          <p:nvPr/>
        </p:nvSpPr>
        <p:spPr>
          <a:xfrm>
            <a:off x="5085240" y="4698312"/>
            <a:ext cx="2048256" cy="52072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传统市场 </a:t>
            </a:r>
            <a:endParaRPr lang="en-US" altLang="zh-CN" sz="1200">
              <a:solidFill>
                <a:srgbClr val="383838"/>
              </a:solidFill>
              <a:latin typeface="微软雅黑"/>
              <a:cs typeface="微软雅黑"/>
              <a:ea typeface="微软雅黑"/>
            </a:endParaRPr>
          </a:p>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新兴市场</a:t>
            </a:r>
            <a:endParaRPr lang="zh-CN" altLang="en-US" sz="1200">
              <a:solidFill>
                <a:srgbClr val="383838"/>
              </a:solidFill>
              <a:latin typeface="微软雅黑"/>
              <a:cs typeface="微软雅黑"/>
              <a:ea typeface="微软雅黑"/>
            </a:endParaRPr>
          </a:p>
        </p:txBody>
      </p:sp>
      <p:sp>
        <p:nvSpPr>
          <p:cNvPr id="77" name="文本框 76"/>
          <p:cNvSpPr txBox="1"/>
          <p:nvPr/>
        </p:nvSpPr>
        <p:spPr>
          <a:xfrm>
            <a:off x="4972629" y="439038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市场渗透</a:t>
            </a:r>
            <a:endParaRPr lang="zh-CN" altLang="en-US" sz="1600" b="1">
              <a:solidFill>
                <a:srgbClr val="0042FF"/>
              </a:solidFill>
              <a:latin typeface="微软雅黑"/>
              <a:ea typeface="微软雅黑"/>
              <a:cs typeface="微软雅黑"/>
            </a:endParaRPr>
          </a:p>
        </p:txBody>
      </p:sp>
      <p:sp>
        <p:nvSpPr>
          <p:cNvPr id="78" name="任意多边形: 形状 77"/>
          <p:cNvSpPr/>
          <p:nvPr/>
        </p:nvSpPr>
        <p:spPr>
          <a:xfrm>
            <a:off x="5085240"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79" name="任意多边形: 形状 78"/>
          <p:cNvSpPr/>
          <p:nvPr/>
        </p:nvSpPr>
        <p:spPr>
          <a:xfrm>
            <a:off x="6615336"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86" name="文本框 85"/>
          <p:cNvSpPr txBox="1"/>
          <p:nvPr/>
        </p:nvSpPr>
        <p:spPr>
          <a:xfrm>
            <a:off x="5085240" y="5712262"/>
            <a:ext cx="2048256" cy="52072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第三方平台、直播带货、独立站</a:t>
            </a:r>
            <a:r>
              <a:rPr lang="en-US" altLang="zh-CN" sz="1200">
                <a:solidFill>
                  <a:srgbClr val="383838"/>
                </a:solidFill>
                <a:latin typeface="微软雅黑"/>
                <a:cs typeface="微软雅黑"/>
                <a:ea typeface="微软雅黑"/>
              </a:rPr>
              <a:t>&amp;</a:t>
            </a:r>
            <a:r>
              <a:rPr lang="zh-CN" altLang="en-US" sz="1200">
                <a:solidFill>
                  <a:srgbClr val="383838"/>
                </a:solidFill>
                <a:latin typeface="微软雅黑"/>
                <a:cs typeface="微软雅黑"/>
                <a:ea typeface="微软雅黑"/>
              </a:rPr>
              <a:t>实体商超供货</a:t>
            </a:r>
            <a:endParaRPr lang="zh-CN" altLang="en-US" sz="1200">
              <a:solidFill>
                <a:srgbClr val="383838"/>
              </a:solidFill>
              <a:latin typeface="微软雅黑"/>
              <a:cs typeface="微软雅黑"/>
              <a:ea typeface="微软雅黑"/>
            </a:endParaRPr>
          </a:p>
        </p:txBody>
      </p:sp>
      <p:sp>
        <p:nvSpPr>
          <p:cNvPr id="87" name="文本框 86"/>
          <p:cNvSpPr txBox="1"/>
          <p:nvPr/>
        </p:nvSpPr>
        <p:spPr>
          <a:xfrm>
            <a:off x="4972629" y="540433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线上</a:t>
            </a:r>
            <a:r>
              <a:rPr lang="en-US" altLang="zh-CN" sz="1600" b="1">
                <a:solidFill>
                  <a:srgbClr val="0042FF"/>
                </a:solidFill>
                <a:latin typeface="微软雅黑"/>
                <a:ea typeface="微软雅黑"/>
                <a:cs typeface="微软雅黑"/>
              </a:rPr>
              <a:t>&amp;</a:t>
            </a:r>
            <a:r>
              <a:rPr lang="zh-CN" altLang="en-US" sz="1600" b="1">
                <a:solidFill>
                  <a:srgbClr val="0042FF"/>
                </a:solidFill>
                <a:latin typeface="微软雅黑"/>
                <a:ea typeface="微软雅黑"/>
                <a:cs typeface="微软雅黑"/>
              </a:rPr>
              <a:t>线下</a:t>
            </a:r>
            <a:endParaRPr lang="zh-CN" altLang="en-US" sz="1600" b="1">
              <a:solidFill>
                <a:srgbClr val="0042FF"/>
              </a:solidFill>
              <a:latin typeface="微软雅黑"/>
              <a:ea typeface="微软雅黑"/>
              <a:cs typeface="微软雅黑"/>
            </a:endParaRPr>
          </a:p>
        </p:txBody>
      </p:sp>
      <p:sp>
        <p:nvSpPr>
          <p:cNvPr id="88" name="任意多边形: 形状 87"/>
          <p:cNvSpPr/>
          <p:nvPr/>
        </p:nvSpPr>
        <p:spPr>
          <a:xfrm>
            <a:off x="5085240" y="558791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89" name="任意多边形: 形状 88"/>
          <p:cNvSpPr/>
          <p:nvPr/>
        </p:nvSpPr>
        <p:spPr>
          <a:xfrm>
            <a:off x="6615336" y="558791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91" name="文本框 90"/>
          <p:cNvSpPr txBox="1"/>
          <p:nvPr/>
        </p:nvSpPr>
        <p:spPr>
          <a:xfrm>
            <a:off x="7462143" y="4698312"/>
            <a:ext cx="2048256" cy="303225"/>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产品质量、资质许可</a:t>
            </a:r>
            <a:endParaRPr lang="zh-CN" altLang="en-US" sz="1200">
              <a:solidFill>
                <a:srgbClr val="383838"/>
              </a:solidFill>
              <a:latin typeface="微软雅黑"/>
              <a:cs typeface="微软雅黑"/>
              <a:ea typeface="微软雅黑"/>
            </a:endParaRPr>
          </a:p>
        </p:txBody>
      </p:sp>
      <p:sp>
        <p:nvSpPr>
          <p:cNvPr id="92" name="文本框 91"/>
          <p:cNvSpPr txBox="1"/>
          <p:nvPr/>
        </p:nvSpPr>
        <p:spPr>
          <a:xfrm>
            <a:off x="7349532" y="439038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en-US" altLang="zh-CN" sz="1600" b="1">
                <a:solidFill>
                  <a:srgbClr val="0042FF"/>
                </a:solidFill>
                <a:latin typeface="微软雅黑"/>
                <a:ea typeface="微软雅黑"/>
                <a:cs typeface="微软雅黑"/>
              </a:rPr>
              <a:t> </a:t>
            </a:r>
            <a:r>
              <a:rPr lang="zh-CN" altLang="en-US" sz="1600" b="1">
                <a:solidFill>
                  <a:srgbClr val="0042FF"/>
                </a:solidFill>
                <a:latin typeface="微软雅黑"/>
                <a:ea typeface="微软雅黑"/>
                <a:cs typeface="微软雅黑"/>
              </a:rPr>
              <a:t>产品合规</a:t>
            </a:r>
            <a:endParaRPr lang="en-US" altLang="zh-CN" sz="1600" b="1">
              <a:solidFill>
                <a:srgbClr val="0042FF"/>
              </a:solidFill>
              <a:latin typeface="微软雅黑"/>
              <a:ea typeface="微软雅黑"/>
              <a:cs typeface="微软雅黑"/>
            </a:endParaRPr>
          </a:p>
        </p:txBody>
      </p:sp>
      <p:sp>
        <p:nvSpPr>
          <p:cNvPr id="93" name="任意多边形: 形状 92"/>
          <p:cNvSpPr/>
          <p:nvPr/>
        </p:nvSpPr>
        <p:spPr>
          <a:xfrm>
            <a:off x="7462143"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94" name="任意多边形: 形状 93"/>
          <p:cNvSpPr/>
          <p:nvPr/>
        </p:nvSpPr>
        <p:spPr>
          <a:xfrm>
            <a:off x="8992239"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96" name="文本框 95"/>
          <p:cNvSpPr txBox="1"/>
          <p:nvPr/>
        </p:nvSpPr>
        <p:spPr>
          <a:xfrm>
            <a:off x="7462143" y="5490260"/>
            <a:ext cx="2048256" cy="303225"/>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税务、履约</a:t>
            </a:r>
            <a:endParaRPr lang="zh-CN" altLang="en-US" sz="1200">
              <a:solidFill>
                <a:srgbClr val="383838"/>
              </a:solidFill>
              <a:latin typeface="微软雅黑"/>
              <a:cs typeface="微软雅黑"/>
              <a:ea typeface="微软雅黑"/>
            </a:endParaRPr>
          </a:p>
        </p:txBody>
      </p:sp>
      <p:sp>
        <p:nvSpPr>
          <p:cNvPr id="36" name="文本框 35"/>
          <p:cNvSpPr txBox="1"/>
          <p:nvPr/>
        </p:nvSpPr>
        <p:spPr>
          <a:xfrm>
            <a:off x="7349532" y="5182337"/>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经营合规</a:t>
            </a:r>
            <a:endParaRPr lang="en-US" altLang="zh-CN" sz="1600" b="1">
              <a:solidFill>
                <a:srgbClr val="0042FF"/>
              </a:solidFill>
              <a:latin typeface="微软雅黑"/>
              <a:ea typeface="微软雅黑"/>
              <a:cs typeface="微软雅黑"/>
            </a:endParaRPr>
          </a:p>
        </p:txBody>
      </p:sp>
      <p:sp>
        <p:nvSpPr>
          <p:cNvPr id="46" name="任意多边形: 形状 97"/>
          <p:cNvSpPr/>
          <p:nvPr/>
        </p:nvSpPr>
        <p:spPr>
          <a:xfrm>
            <a:off x="7462143" y="5365913"/>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7" name="任意多边形: 形状 98"/>
          <p:cNvSpPr/>
          <p:nvPr/>
        </p:nvSpPr>
        <p:spPr>
          <a:xfrm>
            <a:off x="8992239" y="5365913"/>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8" name="文本框 47"/>
          <p:cNvSpPr txBox="1"/>
          <p:nvPr/>
        </p:nvSpPr>
        <p:spPr>
          <a:xfrm>
            <a:off x="7462143" y="6282207"/>
            <a:ext cx="2048256" cy="303225"/>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隐私保护、金融支付</a:t>
            </a:r>
            <a:endParaRPr lang="zh-CN" altLang="en-US" sz="1200">
              <a:solidFill>
                <a:srgbClr val="383838"/>
              </a:solidFill>
              <a:latin typeface="微软雅黑"/>
              <a:cs typeface="微软雅黑"/>
              <a:ea typeface="微软雅黑"/>
            </a:endParaRPr>
          </a:p>
        </p:txBody>
      </p:sp>
      <p:sp>
        <p:nvSpPr>
          <p:cNvPr id="50" name="文本框 49"/>
          <p:cNvSpPr txBox="1"/>
          <p:nvPr/>
        </p:nvSpPr>
        <p:spPr>
          <a:xfrm>
            <a:off x="7349532" y="5974284"/>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市场合规</a:t>
            </a:r>
            <a:endParaRPr lang="en-US" altLang="zh-CN" sz="1600" b="1">
              <a:solidFill>
                <a:srgbClr val="0042FF"/>
              </a:solidFill>
              <a:latin typeface="微软雅黑"/>
              <a:ea typeface="微软雅黑"/>
              <a:cs typeface="微软雅黑"/>
            </a:endParaRPr>
          </a:p>
        </p:txBody>
      </p:sp>
      <p:sp>
        <p:nvSpPr>
          <p:cNvPr id="52" name="任意多边形: 形状 102"/>
          <p:cNvSpPr/>
          <p:nvPr/>
        </p:nvSpPr>
        <p:spPr>
          <a:xfrm>
            <a:off x="7462143" y="6157860"/>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56" name="任意多边形: 形状 103"/>
          <p:cNvSpPr/>
          <p:nvPr/>
        </p:nvSpPr>
        <p:spPr>
          <a:xfrm>
            <a:off x="8992239" y="6157860"/>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06" name="文本框 105"/>
          <p:cNvSpPr txBox="1"/>
          <p:nvPr/>
        </p:nvSpPr>
        <p:spPr>
          <a:xfrm>
            <a:off x="9839046" y="4698312"/>
            <a:ext cx="2048256" cy="303225"/>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品牌定位、形象</a:t>
            </a:r>
            <a:endParaRPr lang="zh-CN" altLang="en-US" sz="1200">
              <a:solidFill>
                <a:srgbClr val="383838"/>
              </a:solidFill>
              <a:latin typeface="微软雅黑"/>
              <a:cs typeface="微软雅黑"/>
              <a:ea typeface="微软雅黑"/>
            </a:endParaRPr>
          </a:p>
        </p:txBody>
      </p:sp>
      <p:sp>
        <p:nvSpPr>
          <p:cNvPr id="107" name="文本框 106"/>
          <p:cNvSpPr txBox="1"/>
          <p:nvPr/>
        </p:nvSpPr>
        <p:spPr>
          <a:xfrm>
            <a:off x="9726435" y="4390389"/>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品牌文化</a:t>
            </a:r>
            <a:endParaRPr lang="en-US" altLang="zh-CN" sz="1600" b="1">
              <a:solidFill>
                <a:srgbClr val="0042FF"/>
              </a:solidFill>
              <a:latin typeface="微软雅黑"/>
              <a:ea typeface="微软雅黑"/>
              <a:cs typeface="微软雅黑"/>
            </a:endParaRPr>
          </a:p>
        </p:txBody>
      </p:sp>
      <p:sp>
        <p:nvSpPr>
          <p:cNvPr id="108" name="任意多边形: 形状 107"/>
          <p:cNvSpPr/>
          <p:nvPr/>
        </p:nvSpPr>
        <p:spPr>
          <a:xfrm>
            <a:off x="9839046"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09" name="任意多边形: 形状 108"/>
          <p:cNvSpPr/>
          <p:nvPr/>
        </p:nvSpPr>
        <p:spPr>
          <a:xfrm>
            <a:off x="11369142" y="4573965"/>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11" name="文本框 110"/>
          <p:cNvSpPr txBox="1"/>
          <p:nvPr/>
        </p:nvSpPr>
        <p:spPr>
          <a:xfrm>
            <a:off x="9839046" y="5490260"/>
            <a:ext cx="2048256" cy="303225"/>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站内外引流获得人群关注</a:t>
            </a:r>
            <a:endParaRPr lang="zh-CN" altLang="en-US" sz="1200">
              <a:solidFill>
                <a:srgbClr val="383838"/>
              </a:solidFill>
              <a:latin typeface="微软雅黑"/>
              <a:cs typeface="微软雅黑"/>
              <a:ea typeface="微软雅黑"/>
            </a:endParaRPr>
          </a:p>
        </p:txBody>
      </p:sp>
      <p:sp>
        <p:nvSpPr>
          <p:cNvPr id="112" name="文本框 111"/>
          <p:cNvSpPr txBox="1"/>
          <p:nvPr/>
        </p:nvSpPr>
        <p:spPr>
          <a:xfrm>
            <a:off x="9726435" y="5182337"/>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品牌营销</a:t>
            </a:r>
            <a:endParaRPr lang="en-US" altLang="zh-CN" sz="1600" b="1">
              <a:solidFill>
                <a:srgbClr val="0042FF"/>
              </a:solidFill>
              <a:latin typeface="微软雅黑"/>
              <a:ea typeface="微软雅黑"/>
              <a:cs typeface="微软雅黑"/>
            </a:endParaRPr>
          </a:p>
        </p:txBody>
      </p:sp>
      <p:sp>
        <p:nvSpPr>
          <p:cNvPr id="113" name="任意多边形: 形状 112"/>
          <p:cNvSpPr/>
          <p:nvPr/>
        </p:nvSpPr>
        <p:spPr>
          <a:xfrm>
            <a:off x="9839046" y="5365913"/>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14" name="任意多边形: 形状 113"/>
          <p:cNvSpPr/>
          <p:nvPr/>
        </p:nvSpPr>
        <p:spPr>
          <a:xfrm>
            <a:off x="11369142" y="5365913"/>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16" name="文本框 115"/>
          <p:cNvSpPr txBox="1"/>
          <p:nvPr/>
        </p:nvSpPr>
        <p:spPr>
          <a:xfrm>
            <a:off x="9839046" y="6282207"/>
            <a:ext cx="2048256" cy="303225"/>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200">
                <a:solidFill>
                  <a:srgbClr val="383838"/>
                </a:solidFill>
                <a:latin typeface="微软雅黑"/>
                <a:cs typeface="微软雅黑"/>
                <a:ea typeface="微软雅黑"/>
              </a:rPr>
              <a:t>用户全生命周期管理</a:t>
            </a:r>
            <a:endParaRPr lang="zh-CN" altLang="en-US" sz="1200">
              <a:solidFill>
                <a:srgbClr val="383838"/>
              </a:solidFill>
              <a:latin typeface="微软雅黑"/>
              <a:cs typeface="微软雅黑"/>
              <a:ea typeface="微软雅黑"/>
            </a:endParaRPr>
          </a:p>
        </p:txBody>
      </p:sp>
      <p:sp>
        <p:nvSpPr>
          <p:cNvPr id="117" name="文本框 116"/>
          <p:cNvSpPr txBox="1"/>
          <p:nvPr/>
        </p:nvSpPr>
        <p:spPr>
          <a:xfrm>
            <a:off x="9726435" y="5974284"/>
            <a:ext cx="2273478" cy="373500"/>
          </a:xfrm>
          <a:prstGeom prst="rect">
            <a:avLst/>
          </a:prstGeom>
          <a:noFill/>
        </p:spPr>
        <p:txBody>
          <a:bodyPr wrap="square">
            <a:spAutoFit/>
          </a:bodyPr>
          <a:lstStyle/>
          <a:p>
            <a:pPr algn="ctr">
              <a:lnSpc>
                <a:spcPct val="120000"/>
              </a:lnSpc>
              <a:defRPr>
                <a:latin typeface="微软雅黑"/>
                <a:ea typeface="微软雅黑"/>
                <a:cs typeface="微软雅黑"/>
              </a:defRPr>
            </a:pPr>
            <a:r>
              <a:rPr lang="zh-CN" altLang="en-US" sz="1600" b="1">
                <a:solidFill>
                  <a:srgbClr val="0042FF"/>
                </a:solidFill>
                <a:latin typeface="微软雅黑"/>
                <a:ea typeface="微软雅黑"/>
                <a:cs typeface="微软雅黑"/>
              </a:rPr>
              <a:t>用户运营</a:t>
            </a:r>
            <a:endParaRPr lang="en-US" altLang="zh-CN" sz="1600" b="1">
              <a:solidFill>
                <a:srgbClr val="0042FF"/>
              </a:solidFill>
              <a:latin typeface="微软雅黑"/>
              <a:ea typeface="微软雅黑"/>
              <a:cs typeface="微软雅黑"/>
            </a:endParaRPr>
          </a:p>
        </p:txBody>
      </p:sp>
      <p:sp>
        <p:nvSpPr>
          <p:cNvPr id="118" name="任意多边形: 形状 117"/>
          <p:cNvSpPr/>
          <p:nvPr/>
        </p:nvSpPr>
        <p:spPr>
          <a:xfrm>
            <a:off x="9839046" y="6157860"/>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57" name="任意多边形: 形状 118"/>
          <p:cNvSpPr/>
          <p:nvPr/>
        </p:nvSpPr>
        <p:spPr>
          <a:xfrm>
            <a:off x="11369142" y="6157860"/>
            <a:ext cx="518160" cy="0"/>
          </a:xfrm>
          <a:custGeom>
            <a:avLst/>
            <a:gdLst>
              <a:gd name="connsiteX0" fmla="*/ 0 w 518160"/>
              <a:gd name="connsiteY0" fmla="*/ 0 h 0"/>
              <a:gd name="connsiteX1" fmla="*/ 518160 w 518160"/>
              <a:gd name="connsiteY1" fmla="*/ 0 h 0"/>
            </a:gdLst>
            <a:ahLst/>
            <a:cxnLst>
              <a:cxn ang="0">
                <a:pos x="connsiteX0" y="connsiteY0"/>
              </a:cxn>
              <a:cxn ang="0">
                <a:pos x="connsiteX1" y="connsiteY1"/>
              </a:cxn>
            </a:cxnLst>
            <a:rect l="l" t="t" r="r" b="b"/>
            <a:pathLst>
              <a:path w="518160">
                <a:moveTo>
                  <a:pt x="0" y="0"/>
                </a:moveTo>
                <a:lnTo>
                  <a:pt x="518160" y="0"/>
                </a:lnTo>
              </a:path>
            </a:pathLst>
          </a:custGeom>
          <a:noFill/>
          <a:ln cap="rnd">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58" name="文本框 57"/>
          <p:cNvSpPr txBox="1"/>
          <p:nvPr/>
        </p:nvSpPr>
        <p:spPr>
          <a:xfrm>
            <a:off x="3707574" y="2156520"/>
            <a:ext cx="4776853" cy="706755"/>
          </a:xfrm>
          <a:prstGeom prst="rect">
            <a:avLst/>
          </a:prstGeom>
          <a:noFill/>
        </p:spPr>
        <p:txBody>
          <a:bodyPr wrap="square">
            <a:spAutoFit/>
          </a:bodyPr>
          <a:lstStyle/>
          <a:p>
            <a:pPr algn="ctr">
              <a:defRPr>
                <a:solidFill>
                  <a:srgbClr val="383838"/>
                </a:solidFill>
                <a:latin typeface="微软雅黑"/>
                <a:ea typeface="微软雅黑"/>
                <a:cs typeface="微软雅黑"/>
              </a:defRPr>
            </a:pPr>
            <a:r>
              <a:rPr lang="zh-CN" altLang="en-US" sz="4000" b="1">
                <a:ln w="19050">
                  <a:gradFill>
                    <a:gsLst>
                      <a:gs pos="0">
                        <a:srgbClr val="0042FF"/>
                      </a:gs>
                      <a:gs pos="100000">
                        <a:srgbClr val="0042FF"/>
                      </a:gs>
                    </a:gsLst>
                    <a:lin ang="5400000" scaled="1"/>
                  </a:gradFill>
                </a:ln>
                <a:solidFill>
                  <a:srgbClr val="383838"/>
                </a:solidFill>
                <a:effectLst>
                  <a:reflection blurRad="6350" stA="24000" endPos="50000" dist="29997" dir="5400000" sy="-100000" algn="bl" rotWithShape="0"/>
                </a:effectLst>
                <a:latin typeface="微软雅黑"/>
                <a:ea typeface="微软雅黑"/>
                <a:cs typeface="微软雅黑"/>
              </a:rPr>
              <a:t>五大核心竞争力</a:t>
            </a:r>
            <a:endParaRPr lang="zh-CN" altLang="en-US" sz="4000" b="1">
              <a:ln w="19050">
                <a:gradFill>
                  <a:gsLst>
                    <a:gs pos="0">
                      <a:srgbClr val="0042FF"/>
                    </a:gs>
                    <a:gs pos="100000">
                      <a:srgbClr val="0042FF"/>
                    </a:gs>
                  </a:gsLst>
                  <a:lin ang="5400000" scaled="1"/>
                </a:gradFill>
              </a:ln>
              <a:solidFill>
                <a:srgbClr val="383838"/>
              </a:solidFill>
              <a:effectLst>
                <a:reflection blurRad="6350" stA="24000" endPos="50000" dist="29997" dir="5400000" sy="-100000" algn="bl" rotWithShape="0"/>
              </a:effectLst>
              <a:latin typeface="微软雅黑"/>
              <a:ea typeface="微软雅黑"/>
              <a:cs typeface="微软雅黑"/>
            </a:endParaRPr>
          </a:p>
        </p:txBody>
      </p:sp>
      <p:sp>
        <p:nvSpPr>
          <p:cNvPr id="59" name="任意多边形: 形状 134"/>
          <p:cNvSpPr/>
          <p:nvPr/>
        </p:nvSpPr>
        <p:spPr>
          <a:xfrm flipH="1">
            <a:off x="5403392" y="1300288"/>
            <a:ext cx="1385217" cy="1220726"/>
          </a:xfrm>
          <a:custGeom>
            <a:avLst/>
            <a:gdLst>
              <a:gd name="connsiteX0" fmla="*/ 5775087 w 11550173"/>
              <a:gd name="connsiteY0" fmla="*/ 0 h 8473605"/>
              <a:gd name="connsiteX1" fmla="*/ 7606805 w 11550173"/>
              <a:gd name="connsiteY1" fmla="*/ 1718520 h 8473605"/>
              <a:gd name="connsiteX2" fmla="*/ 6816079 w 11550173"/>
              <a:gd name="connsiteY2" fmla="*/ 1718520 h 8473605"/>
              <a:gd name="connsiteX3" fmla="*/ 6922742 w 11550173"/>
              <a:gd name="connsiteY3" fmla="*/ 2131905 h 8473605"/>
              <a:gd name="connsiteX4" fmla="*/ 8539568 w 11550173"/>
              <a:gd name="connsiteY4" fmla="*/ 5446657 h 8473605"/>
              <a:gd name="connsiteX5" fmla="*/ 11436485 w 11550173"/>
              <a:gd name="connsiteY5" fmla="*/ 8400691 h 8473605"/>
              <a:gd name="connsiteX6" fmla="*/ 11550173 w 11550173"/>
              <a:gd name="connsiteY6" fmla="*/ 8473605 h 8473605"/>
              <a:gd name="connsiteX7" fmla="*/ 0 w 11550173"/>
              <a:gd name="connsiteY7" fmla="*/ 8473605 h 8473605"/>
              <a:gd name="connsiteX8" fmla="*/ 113687 w 11550173"/>
              <a:gd name="connsiteY8" fmla="*/ 8400691 h 8473605"/>
              <a:gd name="connsiteX9" fmla="*/ 3010605 w 11550173"/>
              <a:gd name="connsiteY9" fmla="*/ 5446657 h 8473605"/>
              <a:gd name="connsiteX10" fmla="*/ 4627432 w 11550173"/>
              <a:gd name="connsiteY10" fmla="*/ 2131906 h 8473605"/>
              <a:gd name="connsiteX11" fmla="*/ 4734094 w 11550173"/>
              <a:gd name="connsiteY11" fmla="*/ 1718520 h 8473605"/>
              <a:gd name="connsiteX12" fmla="*/ 3943368 w 11550173"/>
              <a:gd name="connsiteY12" fmla="*/ 1718520 h 8473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50173" h="8473605">
                <a:moveTo>
                  <a:pt x="5775087" y="0"/>
                </a:moveTo>
                <a:lnTo>
                  <a:pt x="7606805" y="1718520"/>
                </a:lnTo>
                <a:lnTo>
                  <a:pt x="6816079" y="1718520"/>
                </a:lnTo>
                <a:lnTo>
                  <a:pt x="6922742" y="2131905"/>
                </a:lnTo>
                <a:cubicBezTo>
                  <a:pt x="7224533" y="3181157"/>
                  <a:pt x="7770439" y="4331222"/>
                  <a:pt x="8539568" y="5446657"/>
                </a:cubicBezTo>
                <a:cubicBezTo>
                  <a:pt x="9418572" y="6721439"/>
                  <a:pt x="10443506" y="7739793"/>
                  <a:pt x="11436485" y="8400691"/>
                </a:cubicBezTo>
                <a:lnTo>
                  <a:pt x="11550173" y="8473605"/>
                </a:lnTo>
                <a:lnTo>
                  <a:pt x="0" y="8473605"/>
                </a:lnTo>
                <a:lnTo>
                  <a:pt x="113687" y="8400691"/>
                </a:lnTo>
                <a:cubicBezTo>
                  <a:pt x="1106667" y="7739793"/>
                  <a:pt x="2131600" y="6721439"/>
                  <a:pt x="3010605" y="5446657"/>
                </a:cubicBezTo>
                <a:cubicBezTo>
                  <a:pt x="3779734" y="4331223"/>
                  <a:pt x="4325641" y="3181158"/>
                  <a:pt x="4627432" y="2131906"/>
                </a:cubicBezTo>
                <a:lnTo>
                  <a:pt x="4734094" y="1718520"/>
                </a:lnTo>
                <a:lnTo>
                  <a:pt x="3943368" y="1718520"/>
                </a:lnTo>
                <a:close/>
              </a:path>
            </a:pathLst>
          </a:custGeom>
          <a:gradFill flip="none" rotWithShape="1">
            <a:gsLst>
              <a:gs pos="60000">
                <a:srgbClr val="3368FF">
                  <a:alpha val="0"/>
                </a:srgbClr>
              </a:gs>
              <a:gs pos="16000">
                <a:srgbClr val="3368FF"/>
              </a:gs>
              <a:gs pos="100000">
                <a:srgbClr val="3368FF">
                  <a:alpha val="0"/>
                </a:srgbClr>
              </a:gs>
            </a:gsLst>
            <a:lin ang="5400000" scaled="1"/>
            <a:tileRect/>
          </a:gradFill>
          <a:ln>
            <a:gradFill>
              <a:gsLst>
                <a:gs pos="0">
                  <a:srgbClr val="FFFFFF"/>
                </a:gs>
                <a:gs pos="75000">
                  <a:srgbClr val="FFFF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159" name="文本框 158"/>
          <p:cNvSpPr txBox="1"/>
          <p:nvPr/>
        </p:nvSpPr>
        <p:spPr>
          <a:xfrm>
            <a:off x="239152" y="1204442"/>
            <a:ext cx="4713425" cy="461665"/>
          </a:xfrm>
          <a:prstGeom prst="rect">
            <a:avLst/>
          </a:prstGeom>
          <a:noFill/>
        </p:spPr>
        <p:txBody>
          <a:bodyPr wrap="square">
            <a:spAutoFit/>
          </a:bodyPr>
          <a:lstStyle/>
          <a:p>
            <a:pPr algn="ctr">
              <a:defRPr>
                <a:latin typeface="微软雅黑"/>
                <a:ea typeface="微软雅黑"/>
                <a:cs typeface="微软雅黑"/>
              </a:defRPr>
            </a:pPr>
            <a:r>
              <a:rPr lang="zh-CN" altLang="en-US" sz="2400">
                <a:solidFill>
                  <a:srgbClr val="383838"/>
                </a:solidFill>
                <a:latin typeface="微软雅黑"/>
                <a:cs typeface="微软雅黑"/>
                <a:ea typeface="微软雅黑"/>
              </a:rPr>
              <a:t>消费需求的日益多元化</a:t>
            </a:r>
            <a:endParaRPr lang="zh-CN" altLang="en-US" sz="2400">
              <a:solidFill>
                <a:srgbClr val="383838"/>
              </a:solidFill>
              <a:latin typeface="微软雅黑"/>
              <a:cs typeface="微软雅黑"/>
              <a:ea typeface="微软雅黑"/>
            </a:endParaRPr>
          </a:p>
        </p:txBody>
      </p:sp>
      <p:sp>
        <p:nvSpPr>
          <p:cNvPr id="160" name="文本框 159"/>
          <p:cNvSpPr txBox="1"/>
          <p:nvPr/>
        </p:nvSpPr>
        <p:spPr>
          <a:xfrm>
            <a:off x="7239423" y="1204442"/>
            <a:ext cx="4713425" cy="461665"/>
          </a:xfrm>
          <a:prstGeom prst="rect">
            <a:avLst/>
          </a:prstGeom>
          <a:noFill/>
        </p:spPr>
        <p:txBody>
          <a:bodyPr wrap="square">
            <a:spAutoFit/>
          </a:bodyPr>
          <a:lstStyle/>
          <a:p>
            <a:pPr algn="ctr">
              <a:defRPr>
                <a:latin typeface="微软雅黑"/>
                <a:ea typeface="微软雅黑"/>
                <a:cs typeface="微软雅黑"/>
              </a:defRPr>
            </a:pPr>
            <a:r>
              <a:rPr lang="zh-CN" altLang="en-US" sz="2400">
                <a:solidFill>
                  <a:srgbClr val="383838"/>
                </a:solidFill>
                <a:latin typeface="微软雅黑"/>
                <a:cs typeface="微软雅黑"/>
                <a:ea typeface="微软雅黑"/>
              </a:rPr>
              <a:t>出海品牌降低不确定性</a:t>
            </a:r>
            <a:endParaRPr lang="zh-CN" altLang="en-US" sz="2400">
              <a:solidFill>
                <a:srgbClr val="383838"/>
              </a:solidFill>
              <a:latin typeface="微软雅黑"/>
              <a:cs typeface="微软雅黑"/>
              <a:ea typeface="微软雅黑"/>
            </a:endParaRPr>
          </a:p>
        </p:txBody>
      </p:sp>
      <p:sp>
        <p:nvSpPr>
          <p:cNvPr id="163" name="文本框 162"/>
          <p:cNvSpPr txBox="1"/>
          <p:nvPr/>
        </p:nvSpPr>
        <p:spPr>
          <a:xfrm>
            <a:off x="319512" y="1801032"/>
            <a:ext cx="3987839" cy="742319"/>
          </a:xfrm>
          <a:prstGeom prst="rect">
            <a:avLst/>
          </a:prstGeom>
          <a:noFill/>
        </p:spPr>
        <p:txBody>
          <a:bodyPr wrap="square">
            <a:spAutoFit/>
          </a:bodyPr>
          <a:lstStyle/>
          <a:p>
            <a:pPr>
              <a:lnSpc>
                <a:spcPct val="120000"/>
              </a:lnSpc>
              <a:spcBef>
                <a:spcPts val="600"/>
              </a:spcBef>
              <a:defRPr>
                <a:solidFill>
                  <a:srgbClr val="383838"/>
                </a:solidFill>
                <a:latin typeface="微软雅黑"/>
                <a:ea typeface="微软雅黑"/>
                <a:cs typeface="微软雅黑"/>
              </a:defRPr>
            </a:pPr>
            <a:r>
              <a:rPr lang="zh-CN" altLang="en-US" sz="1200">
                <a:solidFill>
                  <a:srgbClr val="383838"/>
                </a:solidFill>
                <a:latin typeface="微软雅黑"/>
                <a:cs typeface="微软雅黑"/>
                <a:ea typeface="微软雅黑"/>
              </a:rPr>
              <a:t>随着中国出海企业数量的不断增多，其对相关配套出海服务的多元化需求持续增强，直接推动国内服务商的进一步出海，从而增强对海外市场的辐射和服务。</a:t>
            </a:r>
            <a:endParaRPr lang="zh-CN" altLang="en-US" sz="1200">
              <a:solidFill>
                <a:srgbClr val="383838"/>
              </a:solidFill>
              <a:latin typeface="微软雅黑"/>
              <a:cs typeface="微软雅黑"/>
              <a:ea typeface="微软雅黑"/>
            </a:endParaRPr>
          </a:p>
        </p:txBody>
      </p:sp>
      <p:sp>
        <p:nvSpPr>
          <p:cNvPr id="167" name="文本框 166"/>
          <p:cNvSpPr txBox="1"/>
          <p:nvPr/>
        </p:nvSpPr>
        <p:spPr>
          <a:xfrm>
            <a:off x="7981605" y="1801032"/>
            <a:ext cx="3987839" cy="742319"/>
          </a:xfrm>
          <a:prstGeom prst="rect">
            <a:avLst/>
          </a:prstGeom>
          <a:noFill/>
        </p:spPr>
        <p:txBody>
          <a:bodyPr wrap="square">
            <a:spAutoFit/>
          </a:bodyPr>
          <a:lstStyle/>
          <a:p>
            <a:pPr>
              <a:lnSpc>
                <a:spcPct val="120000"/>
              </a:lnSpc>
              <a:spcBef>
                <a:spcPts val="600"/>
              </a:spcBef>
              <a:defRPr>
                <a:solidFill>
                  <a:srgbClr val="383838"/>
                </a:solidFill>
                <a:latin typeface="微软雅黑"/>
                <a:ea typeface="微软雅黑"/>
                <a:cs typeface="微软雅黑"/>
              </a:defRPr>
            </a:pPr>
            <a:r>
              <a:rPr lang="zh-CN" altLang="en-US" sz="1200">
                <a:solidFill>
                  <a:srgbClr val="383838"/>
                </a:solidFill>
                <a:latin typeface="微软雅黑"/>
                <a:cs typeface="微软雅黑"/>
                <a:ea typeface="微软雅黑"/>
              </a:rPr>
              <a:t>企业通过出海的方式，掘金全球市场的同时，也在持续完善自身业务模式和提升创新能力，降低外部不确定性对自身发展的影响。</a:t>
            </a:r>
            <a:endParaRPr lang="zh-CN" altLang="en-US" sz="1200">
              <a:solidFill>
                <a:srgbClr val="383838"/>
              </a:solidFill>
              <a:latin typeface="微软雅黑"/>
              <a:cs typeface="微软雅黑"/>
              <a:ea typeface="微软雅黑"/>
            </a:endParaRPr>
          </a:p>
        </p:txBody>
      </p:sp>
      <p:sp>
        <p:nvSpPr>
          <p:cNvPr id="60" name="矩形 59"/>
          <p:cNvSpPr/>
          <p:nvPr/>
        </p:nvSpPr>
        <p:spPr>
          <a:xfrm>
            <a:off x="96044" y="3332828"/>
            <a:ext cx="11999913" cy="36000"/>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70" name="椭圆 69"/>
          <p:cNvSpPr/>
          <p:nvPr/>
        </p:nvSpPr>
        <p:spPr>
          <a:xfrm flipH="1">
            <a:off x="1675147" y="3497215"/>
            <a:ext cx="375059" cy="58931"/>
          </a:xfrm>
          <a:prstGeom prst="ellipse">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80" name="椭圆 79"/>
          <p:cNvSpPr>
            <a:spLocks noChangeAspect="1"/>
          </p:cNvSpPr>
          <p:nvPr/>
        </p:nvSpPr>
        <p:spPr>
          <a:xfrm flipH="1">
            <a:off x="1622978" y="2981946"/>
            <a:ext cx="472603" cy="472602"/>
          </a:xfrm>
          <a:prstGeom prst="ellipse">
            <a:avLst/>
          </a:prstGeom>
          <a:gradFill flip="none" rotWithShape="1">
            <a:gsLst>
              <a:gs pos="33000">
                <a:srgbClr val="0042FF"/>
              </a:gs>
              <a:gs pos="100000">
                <a:srgbClr val="FFFFFF"/>
              </a:gs>
            </a:gsLst>
            <a:path path="circle">
              <a:fillToRect l="100000" t="100000"/>
            </a:path>
            <a:tileRect r="-100000" b="-100000"/>
          </a:gradFill>
          <a:ln w="6350">
            <a:solidFill>
              <a:srgbClr val="E6E6E6"/>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cs typeface="微软雅黑"/>
              <a:ea typeface="微软雅黑"/>
            </a:endParaRPr>
          </a:p>
        </p:txBody>
      </p:sp>
      <p:sp>
        <p:nvSpPr>
          <p:cNvPr id="81" name="椭圆 80"/>
          <p:cNvSpPr/>
          <p:nvPr/>
        </p:nvSpPr>
        <p:spPr>
          <a:xfrm flipH="1">
            <a:off x="3938108" y="3497215"/>
            <a:ext cx="375059" cy="58931"/>
          </a:xfrm>
          <a:prstGeom prst="ellipse">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82" name="椭圆 81"/>
          <p:cNvSpPr>
            <a:spLocks noChangeAspect="1"/>
          </p:cNvSpPr>
          <p:nvPr/>
        </p:nvSpPr>
        <p:spPr>
          <a:xfrm flipH="1">
            <a:off x="3885939" y="2981946"/>
            <a:ext cx="472603" cy="472602"/>
          </a:xfrm>
          <a:prstGeom prst="ellipse">
            <a:avLst/>
          </a:prstGeom>
          <a:gradFill flip="none" rotWithShape="1">
            <a:gsLst>
              <a:gs pos="33000">
                <a:srgbClr val="0042FF"/>
              </a:gs>
              <a:gs pos="100000">
                <a:srgbClr val="FFFFFF"/>
              </a:gs>
            </a:gsLst>
            <a:path path="circle">
              <a:fillToRect l="100000" t="100000"/>
            </a:path>
            <a:tileRect r="-100000" b="-100000"/>
          </a:gradFill>
          <a:ln w="6350">
            <a:solidFill>
              <a:srgbClr val="E6E6E6"/>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cs typeface="微软雅黑"/>
              <a:ea typeface="微软雅黑"/>
            </a:endParaRPr>
          </a:p>
        </p:txBody>
      </p:sp>
      <p:sp>
        <p:nvSpPr>
          <p:cNvPr id="83" name="椭圆 82"/>
          <p:cNvSpPr/>
          <p:nvPr/>
        </p:nvSpPr>
        <p:spPr>
          <a:xfrm>
            <a:off x="5905072" y="3497215"/>
            <a:ext cx="375059" cy="58931"/>
          </a:xfrm>
          <a:prstGeom prst="ellipse">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84" name="椭圆 83"/>
          <p:cNvSpPr>
            <a:spLocks noChangeAspect="1"/>
          </p:cNvSpPr>
          <p:nvPr/>
        </p:nvSpPr>
        <p:spPr>
          <a:xfrm>
            <a:off x="5859697" y="2981946"/>
            <a:ext cx="472603" cy="472602"/>
          </a:xfrm>
          <a:prstGeom prst="ellipse">
            <a:avLst/>
          </a:prstGeom>
          <a:gradFill flip="none" rotWithShape="1">
            <a:gsLst>
              <a:gs pos="33000">
                <a:srgbClr val="3368FF"/>
              </a:gs>
              <a:gs pos="100000">
                <a:srgbClr val="FFFFFF"/>
              </a:gs>
            </a:gsLst>
            <a:path path="circle">
              <a:fillToRect l="100000" t="100000"/>
            </a:path>
            <a:tileRect r="-100000" b="-100000"/>
          </a:gradFill>
          <a:ln w="6350">
            <a:solidFill>
              <a:srgbClr val="E6E6E6"/>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cs typeface="微软雅黑"/>
              <a:ea typeface="微软雅黑"/>
            </a:endParaRPr>
          </a:p>
        </p:txBody>
      </p:sp>
      <p:sp>
        <p:nvSpPr>
          <p:cNvPr id="85" name="椭圆 84"/>
          <p:cNvSpPr/>
          <p:nvPr/>
        </p:nvSpPr>
        <p:spPr>
          <a:xfrm>
            <a:off x="7981605" y="3497215"/>
            <a:ext cx="375059" cy="58931"/>
          </a:xfrm>
          <a:prstGeom prst="ellipse">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120" name="椭圆 119"/>
          <p:cNvSpPr>
            <a:spLocks noChangeAspect="1"/>
          </p:cNvSpPr>
          <p:nvPr/>
        </p:nvSpPr>
        <p:spPr>
          <a:xfrm>
            <a:off x="7936230" y="2981946"/>
            <a:ext cx="472603" cy="472602"/>
          </a:xfrm>
          <a:prstGeom prst="ellipse">
            <a:avLst/>
          </a:prstGeom>
          <a:gradFill flip="none" rotWithShape="1">
            <a:gsLst>
              <a:gs pos="33000">
                <a:srgbClr val="0042FF"/>
              </a:gs>
              <a:gs pos="100000">
                <a:srgbClr val="FFFFFF"/>
              </a:gs>
            </a:gsLst>
            <a:path path="circle">
              <a:fillToRect l="100000" t="100000"/>
            </a:path>
            <a:tileRect r="-100000" b="-100000"/>
          </a:gradFill>
          <a:ln w="6350">
            <a:solidFill>
              <a:srgbClr val="E6E6E6"/>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cs typeface="微软雅黑"/>
              <a:ea typeface="微软雅黑"/>
            </a:endParaRPr>
          </a:p>
        </p:txBody>
      </p:sp>
      <p:sp>
        <p:nvSpPr>
          <p:cNvPr id="121" name="椭圆 120"/>
          <p:cNvSpPr/>
          <p:nvPr/>
        </p:nvSpPr>
        <p:spPr>
          <a:xfrm>
            <a:off x="10288950" y="3497215"/>
            <a:ext cx="375059" cy="58931"/>
          </a:xfrm>
          <a:prstGeom prst="ellipse">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cs typeface="微软雅黑"/>
              <a:sym typeface="微软雅黑"/>
              <a:ea typeface="微软雅黑"/>
            </a:endParaRPr>
          </a:p>
        </p:txBody>
      </p:sp>
      <p:sp>
        <p:nvSpPr>
          <p:cNvPr id="122" name="椭圆 121"/>
          <p:cNvSpPr>
            <a:spLocks noChangeAspect="1"/>
          </p:cNvSpPr>
          <p:nvPr/>
        </p:nvSpPr>
        <p:spPr>
          <a:xfrm>
            <a:off x="10243575" y="2981946"/>
            <a:ext cx="472603" cy="472602"/>
          </a:xfrm>
          <a:prstGeom prst="ellipse">
            <a:avLst/>
          </a:prstGeom>
          <a:gradFill flip="none" rotWithShape="1">
            <a:gsLst>
              <a:gs pos="33000">
                <a:srgbClr val="0042FF"/>
              </a:gs>
              <a:gs pos="100000">
                <a:srgbClr val="FFFFFF"/>
              </a:gs>
            </a:gsLst>
            <a:path path="circle">
              <a:fillToRect l="100000" t="100000"/>
            </a:path>
            <a:tileRect r="-100000" b="-100000"/>
          </a:gradFill>
          <a:ln w="6350">
            <a:solidFill>
              <a:srgbClr val="E6E6E6"/>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cs typeface="微软雅黑"/>
              <a:ea typeface="微软雅黑"/>
            </a:endParaRPr>
          </a:p>
        </p:txBody>
      </p:sp>
      <p:sp>
        <p:nvSpPr>
          <p:cNvPr id="90" name="图形 3"/>
          <p:cNvSpPr/>
          <p:nvPr/>
        </p:nvSpPr>
        <p:spPr>
          <a:xfrm>
            <a:off x="1741582" y="3100526"/>
            <a:ext cx="235393" cy="235441"/>
          </a:xfrm>
          <a:custGeom>
            <a:avLst/>
            <a:gdLst>
              <a:gd name="connsiteX0" fmla="*/ 1073470 w 1218950"/>
              <a:gd name="connsiteY0" fmla="*/ 850302 h 1219200"/>
              <a:gd name="connsiteX1" fmla="*/ 927995 w 1218950"/>
              <a:gd name="connsiteY1" fmla="*/ 704893 h 1219200"/>
              <a:gd name="connsiteX2" fmla="*/ 928119 w 1218950"/>
              <a:gd name="connsiteY2" fmla="*/ 700173 h 1219200"/>
              <a:gd name="connsiteX3" fmla="*/ 845666 w 1218950"/>
              <a:gd name="connsiteY3" fmla="*/ 681561 h 1219200"/>
              <a:gd name="connsiteX4" fmla="*/ 744439 w 1218950"/>
              <a:gd name="connsiteY4" fmla="*/ 814773 h 1219200"/>
              <a:gd name="connsiteX5" fmla="*/ 813676 w 1218950"/>
              <a:gd name="connsiteY5" fmla="*/ 934650 h 1219200"/>
              <a:gd name="connsiteX6" fmla="*/ 856015 w 1218950"/>
              <a:gd name="connsiteY6" fmla="*/ 928373 h 1219200"/>
              <a:gd name="connsiteX7" fmla="*/ 1001500 w 1218950"/>
              <a:gd name="connsiteY7" fmla="*/ 1073787 h 1219200"/>
              <a:gd name="connsiteX8" fmla="*/ 856015 w 1218950"/>
              <a:gd name="connsiteY8" fmla="*/ 1219200 h 1219200"/>
              <a:gd name="connsiteX9" fmla="*/ 710539 w 1218950"/>
              <a:gd name="connsiteY9" fmla="*/ 1073787 h 1219200"/>
              <a:gd name="connsiteX10" fmla="*/ 769809 w 1218950"/>
              <a:gd name="connsiteY10" fmla="*/ 956672 h 1219200"/>
              <a:gd name="connsiteX11" fmla="*/ 700805 w 1218950"/>
              <a:gd name="connsiteY11" fmla="*/ 837200 h 1219200"/>
              <a:gd name="connsiteX12" fmla="*/ 611003 w 1218950"/>
              <a:gd name="connsiteY12" fmla="*/ 854121 h 1219200"/>
              <a:gd name="connsiteX13" fmla="*/ 433671 w 1218950"/>
              <a:gd name="connsiteY13" fmla="*/ 778535 h 1219200"/>
              <a:gd name="connsiteX14" fmla="*/ 273034 w 1218950"/>
              <a:gd name="connsiteY14" fmla="*/ 905094 h 1219200"/>
              <a:gd name="connsiteX15" fmla="*/ 290958 w 1218950"/>
              <a:gd name="connsiteY15" fmla="*/ 975046 h 1219200"/>
              <a:gd name="connsiteX16" fmla="*/ 145475 w 1218950"/>
              <a:gd name="connsiteY16" fmla="*/ 1120454 h 1219200"/>
              <a:gd name="connsiteX17" fmla="*/ 0 w 1218950"/>
              <a:gd name="connsiteY17" fmla="*/ 975046 h 1219200"/>
              <a:gd name="connsiteX18" fmla="*/ 145475 w 1218950"/>
              <a:gd name="connsiteY18" fmla="*/ 829628 h 1219200"/>
              <a:gd name="connsiteX19" fmla="*/ 243693 w 1218950"/>
              <a:gd name="connsiteY19" fmla="*/ 867789 h 1219200"/>
              <a:gd name="connsiteX20" fmla="*/ 404236 w 1218950"/>
              <a:gd name="connsiteY20" fmla="*/ 741302 h 1219200"/>
              <a:gd name="connsiteX21" fmla="*/ 365229 w 1218950"/>
              <a:gd name="connsiteY21" fmla="*/ 608443 h 1219200"/>
              <a:gd name="connsiteX22" fmla="*/ 420617 w 1218950"/>
              <a:gd name="connsiteY22" fmla="*/ 453075 h 1219200"/>
              <a:gd name="connsiteX23" fmla="*/ 231019 w 1218950"/>
              <a:gd name="connsiteY23" fmla="*/ 263553 h 1219200"/>
              <a:gd name="connsiteX24" fmla="*/ 146250 w 1218950"/>
              <a:gd name="connsiteY24" fmla="*/ 290825 h 1219200"/>
              <a:gd name="connsiteX25" fmla="*/ 775 w 1218950"/>
              <a:gd name="connsiteY25" fmla="*/ 145415 h 1219200"/>
              <a:gd name="connsiteX26" fmla="*/ 146250 w 1218950"/>
              <a:gd name="connsiteY26" fmla="*/ 0 h 1219200"/>
              <a:gd name="connsiteX27" fmla="*/ 291726 w 1218950"/>
              <a:gd name="connsiteY27" fmla="*/ 145415 h 1219200"/>
              <a:gd name="connsiteX28" fmla="*/ 264294 w 1218950"/>
              <a:gd name="connsiteY28" fmla="*/ 230357 h 1219200"/>
              <a:gd name="connsiteX29" fmla="*/ 453694 w 1218950"/>
              <a:gd name="connsiteY29" fmla="*/ 419683 h 1219200"/>
              <a:gd name="connsiteX30" fmla="*/ 611003 w 1218950"/>
              <a:gd name="connsiteY30" fmla="*/ 362763 h 1219200"/>
              <a:gd name="connsiteX31" fmla="*/ 673263 w 1218950"/>
              <a:gd name="connsiteY31" fmla="*/ 370722 h 1219200"/>
              <a:gd name="connsiteX32" fmla="*/ 711601 w 1218950"/>
              <a:gd name="connsiteY32" fmla="*/ 273634 h 1219200"/>
              <a:gd name="connsiteX33" fmla="*/ 634758 w 1218950"/>
              <a:gd name="connsiteY33" fmla="*/ 145415 h 1219200"/>
              <a:gd name="connsiteX34" fmla="*/ 780239 w 1218950"/>
              <a:gd name="connsiteY34" fmla="*/ 0 h 1219200"/>
              <a:gd name="connsiteX35" fmla="*/ 925719 w 1218950"/>
              <a:gd name="connsiteY35" fmla="*/ 145415 h 1219200"/>
              <a:gd name="connsiteX36" fmla="*/ 780239 w 1218950"/>
              <a:gd name="connsiteY36" fmla="*/ 290825 h 1219200"/>
              <a:gd name="connsiteX37" fmla="*/ 753535 w 1218950"/>
              <a:gd name="connsiteY37" fmla="*/ 288343 h 1219200"/>
              <a:gd name="connsiteX38" fmla="*/ 715045 w 1218950"/>
              <a:gd name="connsiteY38" fmla="*/ 385819 h 1219200"/>
              <a:gd name="connsiteX39" fmla="*/ 856762 w 1218950"/>
              <a:gd name="connsiteY39" fmla="*/ 608443 h 1219200"/>
              <a:gd name="connsiteX40" fmla="*/ 855486 w 1218950"/>
              <a:gd name="connsiteY40" fmla="*/ 633565 h 1219200"/>
              <a:gd name="connsiteX41" fmla="*/ 937896 w 1218950"/>
              <a:gd name="connsiteY41" fmla="*/ 652167 h 1219200"/>
              <a:gd name="connsiteX42" fmla="*/ 1073470 w 1218950"/>
              <a:gd name="connsiteY42" fmla="*/ 559479 h 1219200"/>
              <a:gd name="connsiteX43" fmla="*/ 1218951 w 1218950"/>
              <a:gd name="connsiteY43" fmla="*/ 704893 h 1219200"/>
              <a:gd name="connsiteX44" fmla="*/ 1073470 w 1218950"/>
              <a:gd name="connsiteY44" fmla="*/ 850302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18950" h="1219200">
                <a:moveTo>
                  <a:pt x="1073470" y="850302"/>
                </a:moveTo>
                <a:cubicBezTo>
                  <a:pt x="993127" y="850302"/>
                  <a:pt x="927995" y="785203"/>
                  <a:pt x="927995" y="704893"/>
                </a:cubicBezTo>
                <a:cubicBezTo>
                  <a:pt x="927995" y="703307"/>
                  <a:pt x="928067" y="701745"/>
                  <a:pt x="928119" y="700173"/>
                </a:cubicBezTo>
                <a:lnTo>
                  <a:pt x="845666" y="681561"/>
                </a:lnTo>
                <a:cubicBezTo>
                  <a:pt x="828421" y="736925"/>
                  <a:pt x="792131" y="783893"/>
                  <a:pt x="744439" y="814773"/>
                </a:cubicBezTo>
                <a:lnTo>
                  <a:pt x="813676" y="934650"/>
                </a:lnTo>
                <a:cubicBezTo>
                  <a:pt x="827073" y="930583"/>
                  <a:pt x="841289" y="928373"/>
                  <a:pt x="856015" y="928373"/>
                </a:cubicBezTo>
                <a:cubicBezTo>
                  <a:pt x="936363" y="928373"/>
                  <a:pt x="1001500" y="993472"/>
                  <a:pt x="1001500" y="1073787"/>
                </a:cubicBezTo>
                <a:cubicBezTo>
                  <a:pt x="1001500" y="1154097"/>
                  <a:pt x="936363" y="1219200"/>
                  <a:pt x="856015" y="1219200"/>
                </a:cubicBezTo>
                <a:cubicBezTo>
                  <a:pt x="775671" y="1219200"/>
                  <a:pt x="710539" y="1154097"/>
                  <a:pt x="710539" y="1073787"/>
                </a:cubicBezTo>
                <a:cubicBezTo>
                  <a:pt x="710539" y="1025733"/>
                  <a:pt x="733866" y="983142"/>
                  <a:pt x="769809" y="956672"/>
                </a:cubicBezTo>
                <a:lnTo>
                  <a:pt x="700805" y="837200"/>
                </a:lnTo>
                <a:cubicBezTo>
                  <a:pt x="672987" y="848120"/>
                  <a:pt x="642693" y="854121"/>
                  <a:pt x="611003" y="854121"/>
                </a:cubicBezTo>
                <a:cubicBezTo>
                  <a:pt x="541309" y="854121"/>
                  <a:pt x="478401" y="825117"/>
                  <a:pt x="433671" y="778535"/>
                </a:cubicBezTo>
                <a:lnTo>
                  <a:pt x="273034" y="905094"/>
                </a:lnTo>
                <a:cubicBezTo>
                  <a:pt x="284447" y="925849"/>
                  <a:pt x="290958" y="949685"/>
                  <a:pt x="290958" y="975046"/>
                </a:cubicBezTo>
                <a:cubicBezTo>
                  <a:pt x="290958" y="1055356"/>
                  <a:pt x="225823" y="1120454"/>
                  <a:pt x="145475" y="1120454"/>
                </a:cubicBezTo>
                <a:cubicBezTo>
                  <a:pt x="65136" y="1120454"/>
                  <a:pt x="0" y="1055356"/>
                  <a:pt x="0" y="975046"/>
                </a:cubicBezTo>
                <a:cubicBezTo>
                  <a:pt x="0" y="894731"/>
                  <a:pt x="65136" y="829628"/>
                  <a:pt x="145475" y="829628"/>
                </a:cubicBezTo>
                <a:cubicBezTo>
                  <a:pt x="183342" y="829628"/>
                  <a:pt x="217815" y="844096"/>
                  <a:pt x="243693" y="867789"/>
                </a:cubicBezTo>
                <a:lnTo>
                  <a:pt x="404236" y="741302"/>
                </a:lnTo>
                <a:cubicBezTo>
                  <a:pt x="379556" y="702997"/>
                  <a:pt x="365229" y="657396"/>
                  <a:pt x="365229" y="608443"/>
                </a:cubicBezTo>
                <a:cubicBezTo>
                  <a:pt x="365229" y="549502"/>
                  <a:pt x="386004" y="495410"/>
                  <a:pt x="420617" y="453075"/>
                </a:cubicBezTo>
                <a:lnTo>
                  <a:pt x="231019" y="263553"/>
                </a:lnTo>
                <a:cubicBezTo>
                  <a:pt x="207143" y="280697"/>
                  <a:pt x="177889" y="290825"/>
                  <a:pt x="146250" y="290825"/>
                </a:cubicBezTo>
                <a:cubicBezTo>
                  <a:pt x="65903" y="290825"/>
                  <a:pt x="775" y="225725"/>
                  <a:pt x="775" y="145415"/>
                </a:cubicBezTo>
                <a:cubicBezTo>
                  <a:pt x="775" y="65106"/>
                  <a:pt x="65903" y="0"/>
                  <a:pt x="146250" y="0"/>
                </a:cubicBezTo>
                <a:cubicBezTo>
                  <a:pt x="226596" y="0"/>
                  <a:pt x="291726" y="65106"/>
                  <a:pt x="291726" y="145415"/>
                </a:cubicBezTo>
                <a:cubicBezTo>
                  <a:pt x="291726" y="177135"/>
                  <a:pt x="281536" y="206459"/>
                  <a:pt x="264294" y="230357"/>
                </a:cubicBezTo>
                <a:lnTo>
                  <a:pt x="453694" y="419683"/>
                </a:lnTo>
                <a:cubicBezTo>
                  <a:pt x="496322" y="384151"/>
                  <a:pt x="551158" y="362763"/>
                  <a:pt x="611003" y="362763"/>
                </a:cubicBezTo>
                <a:cubicBezTo>
                  <a:pt x="632511" y="362763"/>
                  <a:pt x="653375" y="365535"/>
                  <a:pt x="673263" y="370722"/>
                </a:cubicBezTo>
                <a:lnTo>
                  <a:pt x="711601" y="273634"/>
                </a:lnTo>
                <a:cubicBezTo>
                  <a:pt x="665872" y="249124"/>
                  <a:pt x="634758" y="200906"/>
                  <a:pt x="634758" y="145415"/>
                </a:cubicBezTo>
                <a:cubicBezTo>
                  <a:pt x="634758" y="65106"/>
                  <a:pt x="699900" y="0"/>
                  <a:pt x="780239" y="0"/>
                </a:cubicBezTo>
                <a:cubicBezTo>
                  <a:pt x="860582" y="0"/>
                  <a:pt x="925719" y="65106"/>
                  <a:pt x="925719" y="145415"/>
                </a:cubicBezTo>
                <a:cubicBezTo>
                  <a:pt x="925719" y="225725"/>
                  <a:pt x="860582" y="290825"/>
                  <a:pt x="780239" y="290825"/>
                </a:cubicBezTo>
                <a:cubicBezTo>
                  <a:pt x="771114" y="290825"/>
                  <a:pt x="762198" y="289947"/>
                  <a:pt x="753535" y="288343"/>
                </a:cubicBezTo>
                <a:lnTo>
                  <a:pt x="715045" y="385819"/>
                </a:lnTo>
                <a:cubicBezTo>
                  <a:pt x="798765" y="424986"/>
                  <a:pt x="856762" y="509930"/>
                  <a:pt x="856762" y="608443"/>
                </a:cubicBezTo>
                <a:cubicBezTo>
                  <a:pt x="856762" y="616925"/>
                  <a:pt x="856324" y="625307"/>
                  <a:pt x="855486" y="633565"/>
                </a:cubicBezTo>
                <a:lnTo>
                  <a:pt x="937896" y="652167"/>
                </a:lnTo>
                <a:cubicBezTo>
                  <a:pt x="959023" y="597932"/>
                  <a:pt x="1011739" y="559479"/>
                  <a:pt x="1073470" y="559479"/>
                </a:cubicBezTo>
                <a:cubicBezTo>
                  <a:pt x="1153819" y="559479"/>
                  <a:pt x="1218951" y="624578"/>
                  <a:pt x="1218951" y="704893"/>
                </a:cubicBezTo>
                <a:cubicBezTo>
                  <a:pt x="1218951" y="785203"/>
                  <a:pt x="1153819" y="850302"/>
                  <a:pt x="1073470" y="850302"/>
                </a:cubicBezTo>
                <a:close/>
              </a:path>
            </a:pathLst>
          </a:custGeom>
          <a:solidFill>
            <a:srgbClr val="FFFFFF"/>
          </a:solidFill>
          <a:ln w="4763" cap="flat">
            <a:no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grpSp>
        <p:nvGrpSpPr>
          <p:cNvPr id="95" name="图形 11"/>
          <p:cNvGrpSpPr/>
          <p:nvPr/>
        </p:nvGrpSpPr>
        <p:grpSpPr>
          <a:xfrm>
            <a:off x="4009167" y="3085930"/>
            <a:ext cx="235492" cy="227046"/>
            <a:chOff x="5486338" y="2841109"/>
            <a:chExt cx="1219465" cy="1175726"/>
          </a:xfrm>
          <a:solidFill>
            <a:srgbClr val="FFFFFF"/>
          </a:solidFill>
        </p:grpSpPr>
        <p:sp>
          <p:nvSpPr>
            <p:cNvPr id="105" name="任意多边形: 形状 126"/>
            <p:cNvSpPr/>
            <p:nvPr/>
          </p:nvSpPr>
          <p:spPr>
            <a:xfrm>
              <a:off x="5486338" y="2841109"/>
              <a:ext cx="1219465" cy="864738"/>
            </a:xfrm>
            <a:custGeom>
              <a:avLst/>
              <a:gdLst>
                <a:gd name="connsiteX0" fmla="*/ 762918 w 1219465"/>
                <a:gd name="connsiteY0" fmla="*/ 232512 h 864738"/>
                <a:gd name="connsiteX1" fmla="*/ 801923 w 1219465"/>
                <a:gd name="connsiteY1" fmla="*/ 217082 h 864738"/>
                <a:gd name="connsiteX2" fmla="*/ 878504 w 1219465"/>
                <a:gd name="connsiteY2" fmla="*/ 41727 h 864738"/>
                <a:gd name="connsiteX3" fmla="*/ 863917 w 1219465"/>
                <a:gd name="connsiteY3" fmla="*/ 4040 h 864738"/>
                <a:gd name="connsiteX4" fmla="*/ 862931 w 1219465"/>
                <a:gd name="connsiteY4" fmla="*/ 3627 h 864738"/>
                <a:gd name="connsiteX5" fmla="*/ 823974 w 1219465"/>
                <a:gd name="connsiteY5" fmla="*/ 18867 h 864738"/>
                <a:gd name="connsiteX6" fmla="*/ 747345 w 1219465"/>
                <a:gd name="connsiteY6" fmla="*/ 194365 h 864738"/>
                <a:gd name="connsiteX7" fmla="*/ 762498 w 1219465"/>
                <a:gd name="connsiteY7" fmla="*/ 232336 h 864738"/>
                <a:gd name="connsiteX8" fmla="*/ 762918 w 1219465"/>
                <a:gd name="connsiteY8" fmla="*/ 232512 h 864738"/>
                <a:gd name="connsiteX9" fmla="*/ 415875 w 1219465"/>
                <a:gd name="connsiteY9" fmla="*/ 217082 h 864738"/>
                <a:gd name="connsiteX10" fmla="*/ 443450 w 1219465"/>
                <a:gd name="connsiteY10" fmla="*/ 235465 h 864738"/>
                <a:gd name="connsiteX11" fmla="*/ 454451 w 1219465"/>
                <a:gd name="connsiteY11" fmla="*/ 233465 h 864738"/>
                <a:gd name="connsiteX12" fmla="*/ 471245 w 1219465"/>
                <a:gd name="connsiteY12" fmla="*/ 196043 h 864738"/>
                <a:gd name="connsiteX13" fmla="*/ 470977 w 1219465"/>
                <a:gd name="connsiteY13" fmla="*/ 195365 h 864738"/>
                <a:gd name="connsiteX14" fmla="*/ 398825 w 1219465"/>
                <a:gd name="connsiteY14" fmla="*/ 18343 h 864738"/>
                <a:gd name="connsiteX15" fmla="*/ 360249 w 1219465"/>
                <a:gd name="connsiteY15" fmla="*/ 2103 h 864738"/>
                <a:gd name="connsiteX16" fmla="*/ 343384 w 1219465"/>
                <a:gd name="connsiteY16" fmla="*/ 39345 h 864738"/>
                <a:gd name="connsiteX17" fmla="*/ 343723 w 1219465"/>
                <a:gd name="connsiteY17" fmla="*/ 40203 h 864738"/>
                <a:gd name="connsiteX18" fmla="*/ 19397 w 1219465"/>
                <a:gd name="connsiteY18" fmla="*/ 388103 h 864738"/>
                <a:gd name="connsiteX19" fmla="*/ 197943 w 1219465"/>
                <a:gd name="connsiteY19" fmla="*/ 463303 h 864738"/>
                <a:gd name="connsiteX20" fmla="*/ 236948 w 1219465"/>
                <a:gd name="connsiteY20" fmla="*/ 448016 h 864738"/>
                <a:gd name="connsiteX21" fmla="*/ 221473 w 1219465"/>
                <a:gd name="connsiteY21" fmla="*/ 409957 h 864738"/>
                <a:gd name="connsiteX22" fmla="*/ 221375 w 1219465"/>
                <a:gd name="connsiteY22" fmla="*/ 409916 h 864738"/>
                <a:gd name="connsiteX23" fmla="*/ 42924 w 1219465"/>
                <a:gd name="connsiteY23" fmla="*/ 334668 h 864738"/>
                <a:gd name="connsiteX24" fmla="*/ 3824 w 1219465"/>
                <a:gd name="connsiteY24" fmla="*/ 349765 h 864738"/>
                <a:gd name="connsiteX25" fmla="*/ 18655 w 1219465"/>
                <a:gd name="connsiteY25" fmla="*/ 387790 h 864738"/>
                <a:gd name="connsiteX26" fmla="*/ 19397 w 1219465"/>
                <a:gd name="connsiteY26" fmla="*/ 388103 h 864738"/>
                <a:gd name="connsiteX27" fmla="*/ 199181 w 1219465"/>
                <a:gd name="connsiteY27" fmla="*/ 734718 h 864738"/>
                <a:gd name="connsiteX28" fmla="*/ 18683 w 1219465"/>
                <a:gd name="connsiteY28" fmla="*/ 805584 h 864738"/>
                <a:gd name="connsiteX29" fmla="*/ 1924 w 1219465"/>
                <a:gd name="connsiteY29" fmla="*/ 843096 h 864738"/>
                <a:gd name="connsiteX30" fmla="*/ 2157 w 1219465"/>
                <a:gd name="connsiteY30" fmla="*/ 843684 h 864738"/>
                <a:gd name="connsiteX31" fmla="*/ 29732 w 1219465"/>
                <a:gd name="connsiteY31" fmla="*/ 861924 h 864738"/>
                <a:gd name="connsiteX32" fmla="*/ 40733 w 1219465"/>
                <a:gd name="connsiteY32" fmla="*/ 859877 h 864738"/>
                <a:gd name="connsiteX33" fmla="*/ 221089 w 1219465"/>
                <a:gd name="connsiteY33" fmla="*/ 789011 h 864738"/>
                <a:gd name="connsiteX34" fmla="*/ 237767 w 1219465"/>
                <a:gd name="connsiteY34" fmla="*/ 751537 h 864738"/>
                <a:gd name="connsiteX35" fmla="*/ 237615 w 1219465"/>
                <a:gd name="connsiteY35" fmla="*/ 751149 h 864738"/>
                <a:gd name="connsiteX36" fmla="*/ 199181 w 1219465"/>
                <a:gd name="connsiteY36" fmla="*/ 734718 h 864738"/>
                <a:gd name="connsiteX37" fmla="*/ 1199783 w 1219465"/>
                <a:gd name="connsiteY37" fmla="*/ 808965 h 864738"/>
                <a:gd name="connsiteX38" fmla="*/ 1021094 w 1219465"/>
                <a:gd name="connsiteY38" fmla="*/ 733908 h 864738"/>
                <a:gd name="connsiteX39" fmla="*/ 982279 w 1219465"/>
                <a:gd name="connsiteY39" fmla="*/ 749196 h 864738"/>
                <a:gd name="connsiteX40" fmla="*/ 997289 w 1219465"/>
                <a:gd name="connsiteY40" fmla="*/ 787079 h 864738"/>
                <a:gd name="connsiteX41" fmla="*/ 997805 w 1219465"/>
                <a:gd name="connsiteY41" fmla="*/ 787296 h 864738"/>
                <a:gd name="connsiteX42" fmla="*/ 1176399 w 1219465"/>
                <a:gd name="connsiteY42" fmla="*/ 862401 h 864738"/>
                <a:gd name="connsiteX43" fmla="*/ 1215404 w 1219465"/>
                <a:gd name="connsiteY43" fmla="*/ 847113 h 864738"/>
                <a:gd name="connsiteX44" fmla="*/ 1200139 w 1219465"/>
                <a:gd name="connsiteY44" fmla="*/ 809115 h 864738"/>
                <a:gd name="connsiteX45" fmla="*/ 1199783 w 1219465"/>
                <a:gd name="connsiteY45" fmla="*/ 808965 h 864738"/>
                <a:gd name="connsiteX46" fmla="*/ 1009283 w 1219465"/>
                <a:gd name="connsiteY46" fmla="*/ 464541 h 864738"/>
                <a:gd name="connsiteX47" fmla="*/ 1020284 w 1219465"/>
                <a:gd name="connsiteY47" fmla="*/ 462494 h 864738"/>
                <a:gd name="connsiteX48" fmla="*/ 1200783 w 1219465"/>
                <a:gd name="connsiteY48" fmla="*/ 391628 h 864738"/>
                <a:gd name="connsiteX49" fmla="*/ 1217541 w 1219465"/>
                <a:gd name="connsiteY49" fmla="*/ 354116 h 864738"/>
                <a:gd name="connsiteX50" fmla="*/ 1217309 w 1219465"/>
                <a:gd name="connsiteY50" fmla="*/ 353528 h 864738"/>
                <a:gd name="connsiteX51" fmla="*/ 1178732 w 1219465"/>
                <a:gd name="connsiteY51" fmla="*/ 337287 h 864738"/>
                <a:gd name="connsiteX52" fmla="*/ 998234 w 1219465"/>
                <a:gd name="connsiteY52" fmla="*/ 408201 h 864738"/>
                <a:gd name="connsiteX53" fmla="*/ 981440 w 1219465"/>
                <a:gd name="connsiteY53" fmla="*/ 445623 h 864738"/>
                <a:gd name="connsiteX54" fmla="*/ 981708 w 1219465"/>
                <a:gd name="connsiteY54" fmla="*/ 446301 h 864738"/>
                <a:gd name="connsiteX55" fmla="*/ 1009140 w 1219465"/>
                <a:gd name="connsiteY55" fmla="*/ 464541 h 86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19465" h="864738">
                  <a:moveTo>
                    <a:pt x="762918" y="232512"/>
                  </a:moveTo>
                  <a:cubicBezTo>
                    <a:pt x="777954" y="238713"/>
                    <a:pt x="795199" y="231891"/>
                    <a:pt x="801923" y="217082"/>
                  </a:cubicBezTo>
                  <a:lnTo>
                    <a:pt x="878504" y="41727"/>
                  </a:lnTo>
                  <a:cubicBezTo>
                    <a:pt x="884883" y="27292"/>
                    <a:pt x="878352" y="10419"/>
                    <a:pt x="863917" y="4040"/>
                  </a:cubicBezTo>
                  <a:cubicBezTo>
                    <a:pt x="863591" y="3896"/>
                    <a:pt x="863262" y="3758"/>
                    <a:pt x="862931" y="3627"/>
                  </a:cubicBezTo>
                  <a:cubicBezTo>
                    <a:pt x="847961" y="-2703"/>
                    <a:pt x="830675" y="4060"/>
                    <a:pt x="823974" y="18867"/>
                  </a:cubicBezTo>
                  <a:lnTo>
                    <a:pt x="747345" y="194365"/>
                  </a:lnTo>
                  <a:cubicBezTo>
                    <a:pt x="741044" y="209034"/>
                    <a:pt x="747828" y="226035"/>
                    <a:pt x="762498" y="232336"/>
                  </a:cubicBezTo>
                  <a:cubicBezTo>
                    <a:pt x="762638" y="232396"/>
                    <a:pt x="762778" y="232455"/>
                    <a:pt x="762918" y="232512"/>
                  </a:cubicBezTo>
                  <a:close/>
                  <a:moveTo>
                    <a:pt x="415875" y="217082"/>
                  </a:moveTo>
                  <a:cubicBezTo>
                    <a:pt x="420458" y="228259"/>
                    <a:pt x="431370" y="235533"/>
                    <a:pt x="443450" y="235465"/>
                  </a:cubicBezTo>
                  <a:cubicBezTo>
                    <a:pt x="447207" y="235461"/>
                    <a:pt x="450933" y="234784"/>
                    <a:pt x="454451" y="233465"/>
                  </a:cubicBezTo>
                  <a:cubicBezTo>
                    <a:pt x="469422" y="227769"/>
                    <a:pt x="476941" y="211014"/>
                    <a:pt x="471245" y="196043"/>
                  </a:cubicBezTo>
                  <a:cubicBezTo>
                    <a:pt x="471159" y="195816"/>
                    <a:pt x="471069" y="195590"/>
                    <a:pt x="470977" y="195365"/>
                  </a:cubicBezTo>
                  <a:lnTo>
                    <a:pt x="398825" y="18343"/>
                  </a:lnTo>
                  <a:cubicBezTo>
                    <a:pt x="392527" y="3335"/>
                    <a:pt x="375385" y="-3882"/>
                    <a:pt x="360249" y="2103"/>
                  </a:cubicBezTo>
                  <a:cubicBezTo>
                    <a:pt x="345308" y="7730"/>
                    <a:pt x="337757" y="24404"/>
                    <a:pt x="343384" y="39345"/>
                  </a:cubicBezTo>
                  <a:cubicBezTo>
                    <a:pt x="343493" y="39632"/>
                    <a:pt x="343606" y="39919"/>
                    <a:pt x="343723" y="40203"/>
                  </a:cubicBezTo>
                  <a:close/>
                  <a:moveTo>
                    <a:pt x="19397" y="388103"/>
                  </a:moveTo>
                  <a:lnTo>
                    <a:pt x="197943" y="463303"/>
                  </a:lnTo>
                  <a:cubicBezTo>
                    <a:pt x="212941" y="469496"/>
                    <a:pt x="230153" y="462750"/>
                    <a:pt x="236948" y="448016"/>
                  </a:cubicBezTo>
                  <a:cubicBezTo>
                    <a:pt x="243184" y="433233"/>
                    <a:pt x="236256" y="416193"/>
                    <a:pt x="221473" y="409957"/>
                  </a:cubicBezTo>
                  <a:cubicBezTo>
                    <a:pt x="221440" y="409943"/>
                    <a:pt x="221407" y="409929"/>
                    <a:pt x="221375" y="409916"/>
                  </a:cubicBezTo>
                  <a:lnTo>
                    <a:pt x="42924" y="334668"/>
                  </a:lnTo>
                  <a:cubicBezTo>
                    <a:pt x="27954" y="328199"/>
                    <a:pt x="10562" y="334915"/>
                    <a:pt x="3824" y="349765"/>
                  </a:cubicBezTo>
                  <a:cubicBezTo>
                    <a:pt x="-2581" y="364361"/>
                    <a:pt x="4059" y="381386"/>
                    <a:pt x="18655" y="387790"/>
                  </a:cubicBezTo>
                  <a:cubicBezTo>
                    <a:pt x="18901" y="387898"/>
                    <a:pt x="19148" y="388002"/>
                    <a:pt x="19397" y="388103"/>
                  </a:cubicBezTo>
                  <a:close/>
                  <a:moveTo>
                    <a:pt x="199181" y="734718"/>
                  </a:moveTo>
                  <a:lnTo>
                    <a:pt x="18683" y="805584"/>
                  </a:lnTo>
                  <a:cubicBezTo>
                    <a:pt x="3696" y="811315"/>
                    <a:pt x="-3807" y="828109"/>
                    <a:pt x="1924" y="843096"/>
                  </a:cubicBezTo>
                  <a:cubicBezTo>
                    <a:pt x="2000" y="843293"/>
                    <a:pt x="2077" y="843489"/>
                    <a:pt x="2157" y="843684"/>
                  </a:cubicBezTo>
                  <a:cubicBezTo>
                    <a:pt x="6806" y="854788"/>
                    <a:pt x="17694" y="861990"/>
                    <a:pt x="29732" y="861924"/>
                  </a:cubicBezTo>
                  <a:cubicBezTo>
                    <a:pt x="33494" y="861928"/>
                    <a:pt x="37224" y="861233"/>
                    <a:pt x="40733" y="859877"/>
                  </a:cubicBezTo>
                  <a:lnTo>
                    <a:pt x="221089" y="789011"/>
                  </a:lnTo>
                  <a:cubicBezTo>
                    <a:pt x="236042" y="783268"/>
                    <a:pt x="243509" y="766491"/>
                    <a:pt x="237767" y="751537"/>
                  </a:cubicBezTo>
                  <a:cubicBezTo>
                    <a:pt x="237717" y="751407"/>
                    <a:pt x="237666" y="751278"/>
                    <a:pt x="237615" y="751149"/>
                  </a:cubicBezTo>
                  <a:cubicBezTo>
                    <a:pt x="231450" y="736085"/>
                    <a:pt x="214330" y="728766"/>
                    <a:pt x="199181" y="734718"/>
                  </a:cubicBezTo>
                  <a:close/>
                  <a:moveTo>
                    <a:pt x="1199783" y="808965"/>
                  </a:moveTo>
                  <a:lnTo>
                    <a:pt x="1021094" y="733908"/>
                  </a:lnTo>
                  <a:cubicBezTo>
                    <a:pt x="1006152" y="727514"/>
                    <a:pt x="988847" y="734330"/>
                    <a:pt x="982279" y="749196"/>
                  </a:cubicBezTo>
                  <a:cubicBezTo>
                    <a:pt x="975963" y="763802"/>
                    <a:pt x="982683" y="780763"/>
                    <a:pt x="997289" y="787079"/>
                  </a:cubicBezTo>
                  <a:cubicBezTo>
                    <a:pt x="997460" y="787153"/>
                    <a:pt x="997632" y="787225"/>
                    <a:pt x="997805" y="787296"/>
                  </a:cubicBezTo>
                  <a:lnTo>
                    <a:pt x="1176399" y="862401"/>
                  </a:lnTo>
                  <a:cubicBezTo>
                    <a:pt x="1191395" y="868674"/>
                    <a:pt x="1208663" y="861906"/>
                    <a:pt x="1215404" y="847113"/>
                  </a:cubicBezTo>
                  <a:cubicBezTo>
                    <a:pt x="1221681" y="832405"/>
                    <a:pt x="1214847" y="815392"/>
                    <a:pt x="1200139" y="809115"/>
                  </a:cubicBezTo>
                  <a:cubicBezTo>
                    <a:pt x="1200020" y="809064"/>
                    <a:pt x="1199902" y="809014"/>
                    <a:pt x="1199783" y="808965"/>
                  </a:cubicBezTo>
                  <a:close/>
                  <a:moveTo>
                    <a:pt x="1009283" y="464541"/>
                  </a:moveTo>
                  <a:cubicBezTo>
                    <a:pt x="1013045" y="464545"/>
                    <a:pt x="1016775" y="463850"/>
                    <a:pt x="1020284" y="462494"/>
                  </a:cubicBezTo>
                  <a:lnTo>
                    <a:pt x="1200783" y="391628"/>
                  </a:lnTo>
                  <a:cubicBezTo>
                    <a:pt x="1215769" y="385897"/>
                    <a:pt x="1223272" y="369102"/>
                    <a:pt x="1217541" y="354116"/>
                  </a:cubicBezTo>
                  <a:cubicBezTo>
                    <a:pt x="1217466" y="353919"/>
                    <a:pt x="1217388" y="353723"/>
                    <a:pt x="1217309" y="353528"/>
                  </a:cubicBezTo>
                  <a:cubicBezTo>
                    <a:pt x="1210991" y="338539"/>
                    <a:pt x="1193868" y="331330"/>
                    <a:pt x="1178732" y="337287"/>
                  </a:cubicBezTo>
                  <a:lnTo>
                    <a:pt x="998234" y="408201"/>
                  </a:lnTo>
                  <a:cubicBezTo>
                    <a:pt x="983262" y="413897"/>
                    <a:pt x="975744" y="430652"/>
                    <a:pt x="981440" y="445623"/>
                  </a:cubicBezTo>
                  <a:cubicBezTo>
                    <a:pt x="981526" y="445850"/>
                    <a:pt x="981616" y="446076"/>
                    <a:pt x="981708" y="446301"/>
                  </a:cubicBezTo>
                  <a:cubicBezTo>
                    <a:pt x="986285" y="457400"/>
                    <a:pt x="997135" y="464614"/>
                    <a:pt x="1009140" y="464541"/>
                  </a:cubicBezTo>
                  <a:close/>
                </a:path>
              </a:pathLst>
            </a:custGeom>
            <a:grpFill/>
            <a:ln w="4763" cap="flat">
              <a:no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110" name="任意多边形: 形状 127"/>
            <p:cNvSpPr/>
            <p:nvPr/>
          </p:nvSpPr>
          <p:spPr>
            <a:xfrm>
              <a:off x="5937646" y="3409664"/>
              <a:ext cx="314659" cy="423195"/>
            </a:xfrm>
            <a:custGeom>
              <a:avLst/>
              <a:gdLst>
                <a:gd name="connsiteX0" fmla="*/ 314658 w 314659"/>
                <a:gd name="connsiteY0" fmla="*/ 24765 h 423195"/>
                <a:gd name="connsiteX1" fmla="*/ 293037 w 314659"/>
                <a:gd name="connsiteY1" fmla="*/ 1762 h 423195"/>
                <a:gd name="connsiteX2" fmla="*/ 254937 w 314659"/>
                <a:gd name="connsiteY2" fmla="*/ 44244 h 423195"/>
                <a:gd name="connsiteX3" fmla="*/ 254556 w 314659"/>
                <a:gd name="connsiteY3" fmla="*/ 49530 h 423195"/>
                <a:gd name="connsiteX4" fmla="*/ 292656 w 314659"/>
                <a:gd name="connsiteY4" fmla="*/ 49530 h 423195"/>
                <a:gd name="connsiteX5" fmla="*/ 314658 w 314659"/>
                <a:gd name="connsiteY5" fmla="*/ 24765 h 423195"/>
                <a:gd name="connsiteX6" fmla="*/ 21622 w 314659"/>
                <a:gd name="connsiteY6" fmla="*/ 0 h 423195"/>
                <a:gd name="connsiteX7" fmla="*/ 0 w 314659"/>
                <a:gd name="connsiteY7" fmla="*/ 24765 h 423195"/>
                <a:gd name="connsiteX8" fmla="*/ 21622 w 314659"/>
                <a:gd name="connsiteY8" fmla="*/ 49530 h 423195"/>
                <a:gd name="connsiteX9" fmla="*/ 60055 w 314659"/>
                <a:gd name="connsiteY9" fmla="*/ 49530 h 423195"/>
                <a:gd name="connsiteX10" fmla="*/ 59531 w 314659"/>
                <a:gd name="connsiteY10" fmla="*/ 43291 h 423195"/>
                <a:gd name="connsiteX11" fmla="*/ 21622 w 314659"/>
                <a:gd name="connsiteY11" fmla="*/ 0 h 423195"/>
                <a:gd name="connsiteX12" fmla="*/ 121206 w 314659"/>
                <a:gd name="connsiteY12" fmla="*/ 107680 h 423195"/>
                <a:gd name="connsiteX13" fmla="*/ 124825 w 314659"/>
                <a:gd name="connsiteY13" fmla="*/ 421291 h 423195"/>
                <a:gd name="connsiteX14" fmla="*/ 124825 w 314659"/>
                <a:gd name="connsiteY14" fmla="*/ 423196 h 423195"/>
                <a:gd name="connsiteX15" fmla="*/ 189976 w 314659"/>
                <a:gd name="connsiteY15" fmla="*/ 423196 h 423195"/>
                <a:gd name="connsiteX16" fmla="*/ 189976 w 314659"/>
                <a:gd name="connsiteY16" fmla="*/ 421862 h 423195"/>
                <a:gd name="connsiteX17" fmla="*/ 193548 w 314659"/>
                <a:gd name="connsiteY17" fmla="*/ 107537 h 4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4659" h="423195">
                  <a:moveTo>
                    <a:pt x="314658" y="24765"/>
                  </a:moveTo>
                  <a:cubicBezTo>
                    <a:pt x="314753" y="12553"/>
                    <a:pt x="305231" y="2423"/>
                    <a:pt x="293037" y="1762"/>
                  </a:cubicBezTo>
                  <a:cubicBezTo>
                    <a:pt x="267271" y="1762"/>
                    <a:pt x="258175" y="24908"/>
                    <a:pt x="254937" y="44244"/>
                  </a:cubicBezTo>
                  <a:cubicBezTo>
                    <a:pt x="254937" y="45339"/>
                    <a:pt x="254651" y="47101"/>
                    <a:pt x="254556" y="49530"/>
                  </a:cubicBezTo>
                  <a:lnTo>
                    <a:pt x="292656" y="49530"/>
                  </a:lnTo>
                  <a:cubicBezTo>
                    <a:pt x="303895" y="49530"/>
                    <a:pt x="314658" y="37195"/>
                    <a:pt x="314658" y="24765"/>
                  </a:cubicBezTo>
                  <a:close/>
                  <a:moveTo>
                    <a:pt x="21622" y="0"/>
                  </a:moveTo>
                  <a:cubicBezTo>
                    <a:pt x="10716" y="0"/>
                    <a:pt x="0" y="12335"/>
                    <a:pt x="0" y="24765"/>
                  </a:cubicBezTo>
                  <a:cubicBezTo>
                    <a:pt x="0" y="37195"/>
                    <a:pt x="10716" y="49530"/>
                    <a:pt x="21622" y="49530"/>
                  </a:cubicBezTo>
                  <a:lnTo>
                    <a:pt x="60055" y="49530"/>
                  </a:lnTo>
                  <a:cubicBezTo>
                    <a:pt x="60055" y="46673"/>
                    <a:pt x="59626" y="44529"/>
                    <a:pt x="59531" y="43291"/>
                  </a:cubicBezTo>
                  <a:cubicBezTo>
                    <a:pt x="56864" y="27051"/>
                    <a:pt x="48816" y="0"/>
                    <a:pt x="21622" y="0"/>
                  </a:cubicBezTo>
                  <a:close/>
                  <a:moveTo>
                    <a:pt x="121206" y="107680"/>
                  </a:moveTo>
                  <a:cubicBezTo>
                    <a:pt x="123444" y="201882"/>
                    <a:pt x="124825" y="358235"/>
                    <a:pt x="124825" y="421291"/>
                  </a:cubicBezTo>
                  <a:cubicBezTo>
                    <a:pt x="124896" y="421924"/>
                    <a:pt x="124896" y="422563"/>
                    <a:pt x="124825" y="423196"/>
                  </a:cubicBezTo>
                  <a:lnTo>
                    <a:pt x="189976" y="423196"/>
                  </a:lnTo>
                  <a:cubicBezTo>
                    <a:pt x="189976" y="422672"/>
                    <a:pt x="189976" y="422243"/>
                    <a:pt x="189976" y="421862"/>
                  </a:cubicBezTo>
                  <a:cubicBezTo>
                    <a:pt x="189976" y="358664"/>
                    <a:pt x="191357" y="201740"/>
                    <a:pt x="193548" y="107537"/>
                  </a:cubicBezTo>
                  <a:close/>
                </a:path>
              </a:pathLst>
            </a:custGeom>
            <a:grpFill/>
            <a:ln w="4763" cap="flat">
              <a:no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115" name="任意多边形: 形状 128"/>
            <p:cNvSpPr/>
            <p:nvPr/>
          </p:nvSpPr>
          <p:spPr>
            <a:xfrm>
              <a:off x="5741850" y="3092284"/>
              <a:ext cx="705830" cy="924551"/>
            </a:xfrm>
            <a:custGeom>
              <a:avLst/>
              <a:gdLst>
                <a:gd name="connsiteX0" fmla="*/ 353387 w 705830"/>
                <a:gd name="connsiteY0" fmla="*/ 7 h 924551"/>
                <a:gd name="connsiteX1" fmla="*/ 352435 w 705830"/>
                <a:gd name="connsiteY1" fmla="*/ 7 h 924551"/>
                <a:gd name="connsiteX2" fmla="*/ 103594 w 705830"/>
                <a:gd name="connsiteY2" fmla="*/ 99448 h 924551"/>
                <a:gd name="connsiteX3" fmla="*/ 94568 w 705830"/>
                <a:gd name="connsiteY3" fmla="*/ 577561 h 924551"/>
                <a:gd name="connsiteX4" fmla="*/ 124692 w 705830"/>
                <a:gd name="connsiteY4" fmla="*/ 605273 h 924551"/>
                <a:gd name="connsiteX5" fmla="*/ 157363 w 705830"/>
                <a:gd name="connsiteY5" fmla="*/ 740718 h 924551"/>
                <a:gd name="connsiteX6" fmla="*/ 261376 w 705830"/>
                <a:gd name="connsiteY6" fmla="*/ 740718 h 924551"/>
                <a:gd name="connsiteX7" fmla="*/ 261376 w 705830"/>
                <a:gd name="connsiteY7" fmla="*/ 738813 h 924551"/>
                <a:gd name="connsiteX8" fmla="*/ 257804 w 705830"/>
                <a:gd name="connsiteY8" fmla="*/ 425060 h 924551"/>
                <a:gd name="connsiteX9" fmla="*/ 217275 w 705830"/>
                <a:gd name="connsiteY9" fmla="*/ 425060 h 924551"/>
                <a:gd name="connsiteX10" fmla="*/ 136313 w 705830"/>
                <a:gd name="connsiteY10" fmla="*/ 342145 h 924551"/>
                <a:gd name="connsiteX11" fmla="*/ 217275 w 705830"/>
                <a:gd name="connsiteY11" fmla="*/ 259230 h 924551"/>
                <a:gd name="connsiteX12" fmla="*/ 313716 w 705830"/>
                <a:gd name="connsiteY12" fmla="*/ 351765 h 924551"/>
                <a:gd name="connsiteX13" fmla="*/ 314954 w 705830"/>
                <a:gd name="connsiteY13" fmla="*/ 366910 h 924551"/>
                <a:gd name="connsiteX14" fmla="*/ 391154 w 705830"/>
                <a:gd name="connsiteY14" fmla="*/ 366910 h 924551"/>
                <a:gd name="connsiteX15" fmla="*/ 392249 w 705830"/>
                <a:gd name="connsiteY15" fmla="*/ 352622 h 924551"/>
                <a:gd name="connsiteX16" fmla="*/ 488690 w 705830"/>
                <a:gd name="connsiteY16" fmla="*/ 260897 h 924551"/>
                <a:gd name="connsiteX17" fmla="*/ 569652 w 705830"/>
                <a:gd name="connsiteY17" fmla="*/ 341859 h 924551"/>
                <a:gd name="connsiteX18" fmla="*/ 488690 w 705830"/>
                <a:gd name="connsiteY18" fmla="*/ 424774 h 924551"/>
                <a:gd name="connsiteX19" fmla="*/ 448304 w 705830"/>
                <a:gd name="connsiteY19" fmla="*/ 424774 h 924551"/>
                <a:gd name="connsiteX20" fmla="*/ 444732 w 705830"/>
                <a:gd name="connsiteY20" fmla="*/ 739099 h 924551"/>
                <a:gd name="connsiteX21" fmla="*/ 444732 w 705830"/>
                <a:gd name="connsiteY21" fmla="*/ 740433 h 924551"/>
                <a:gd name="connsiteX22" fmla="*/ 548317 w 705830"/>
                <a:gd name="connsiteY22" fmla="*/ 740433 h 924551"/>
                <a:gd name="connsiteX23" fmla="*/ 581130 w 705830"/>
                <a:gd name="connsiteY23" fmla="*/ 602987 h 924551"/>
                <a:gd name="connsiteX24" fmla="*/ 705812 w 705830"/>
                <a:gd name="connsiteY24" fmla="*/ 342669 h 924551"/>
                <a:gd name="connsiteX25" fmla="*/ 602180 w 705830"/>
                <a:gd name="connsiteY25" fmla="*/ 99305 h 924551"/>
                <a:gd name="connsiteX26" fmla="*/ 353387 w 705830"/>
                <a:gd name="connsiteY26" fmla="*/ 7 h 924551"/>
                <a:gd name="connsiteX27" fmla="*/ 157363 w 705830"/>
                <a:gd name="connsiteY27" fmla="*/ 902786 h 924551"/>
                <a:gd name="connsiteX28" fmla="*/ 179507 w 705830"/>
                <a:gd name="connsiteY28" fmla="*/ 924551 h 924551"/>
                <a:gd name="connsiteX29" fmla="*/ 179508 w 705830"/>
                <a:gd name="connsiteY29" fmla="*/ 924551 h 924551"/>
                <a:gd name="connsiteX30" fmla="*/ 526171 w 705830"/>
                <a:gd name="connsiteY30" fmla="*/ 924551 h 924551"/>
                <a:gd name="connsiteX31" fmla="*/ 548316 w 705830"/>
                <a:gd name="connsiteY31" fmla="*/ 902788 h 924551"/>
                <a:gd name="connsiteX32" fmla="*/ 548316 w 705830"/>
                <a:gd name="connsiteY32" fmla="*/ 902786 h 924551"/>
                <a:gd name="connsiteX33" fmla="*/ 548317 w 705830"/>
                <a:gd name="connsiteY33" fmla="*/ 798678 h 924551"/>
                <a:gd name="connsiteX34" fmla="*/ 157363 w 705830"/>
                <a:gd name="connsiteY34" fmla="*/ 798678 h 924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05830" h="924551">
                  <a:moveTo>
                    <a:pt x="353387" y="7"/>
                  </a:moveTo>
                  <a:lnTo>
                    <a:pt x="352435" y="7"/>
                  </a:lnTo>
                  <a:cubicBezTo>
                    <a:pt x="259726" y="-396"/>
                    <a:pt x="170493" y="35263"/>
                    <a:pt x="103594" y="99448"/>
                  </a:cubicBezTo>
                  <a:cubicBezTo>
                    <a:pt x="-30926" y="228983"/>
                    <a:pt x="-34967" y="443041"/>
                    <a:pt x="94568" y="577561"/>
                  </a:cubicBezTo>
                  <a:cubicBezTo>
                    <a:pt x="104041" y="587398"/>
                    <a:pt x="114100" y="596653"/>
                    <a:pt x="124692" y="605273"/>
                  </a:cubicBezTo>
                  <a:cubicBezTo>
                    <a:pt x="136836" y="614798"/>
                    <a:pt x="156934" y="645326"/>
                    <a:pt x="157363" y="740718"/>
                  </a:cubicBezTo>
                  <a:lnTo>
                    <a:pt x="261376" y="740718"/>
                  </a:lnTo>
                  <a:cubicBezTo>
                    <a:pt x="261376" y="740052"/>
                    <a:pt x="261376" y="739480"/>
                    <a:pt x="261376" y="738813"/>
                  </a:cubicBezTo>
                  <a:cubicBezTo>
                    <a:pt x="261376" y="647897"/>
                    <a:pt x="259709" y="507356"/>
                    <a:pt x="257804" y="425060"/>
                  </a:cubicBezTo>
                  <a:lnTo>
                    <a:pt x="217275" y="425060"/>
                  </a:lnTo>
                  <a:cubicBezTo>
                    <a:pt x="173460" y="425060"/>
                    <a:pt x="136313" y="386960"/>
                    <a:pt x="136313" y="342145"/>
                  </a:cubicBezTo>
                  <a:cubicBezTo>
                    <a:pt x="136313" y="297330"/>
                    <a:pt x="173365" y="259230"/>
                    <a:pt x="217275" y="259230"/>
                  </a:cubicBezTo>
                  <a:cubicBezTo>
                    <a:pt x="267853" y="259230"/>
                    <a:pt x="304762" y="294663"/>
                    <a:pt x="313716" y="351765"/>
                  </a:cubicBezTo>
                  <a:cubicBezTo>
                    <a:pt x="314144" y="354337"/>
                    <a:pt x="314525" y="359623"/>
                    <a:pt x="314954" y="366910"/>
                  </a:cubicBezTo>
                  <a:lnTo>
                    <a:pt x="391154" y="366910"/>
                  </a:lnTo>
                  <a:cubicBezTo>
                    <a:pt x="391535" y="360147"/>
                    <a:pt x="391821" y="355289"/>
                    <a:pt x="392249" y="352622"/>
                  </a:cubicBezTo>
                  <a:cubicBezTo>
                    <a:pt x="401203" y="296044"/>
                    <a:pt x="438112" y="260897"/>
                    <a:pt x="488690" y="260897"/>
                  </a:cubicBezTo>
                  <a:cubicBezTo>
                    <a:pt x="533137" y="261536"/>
                    <a:pt x="569013" y="297412"/>
                    <a:pt x="569652" y="341859"/>
                  </a:cubicBezTo>
                  <a:cubicBezTo>
                    <a:pt x="569652" y="386769"/>
                    <a:pt x="532600" y="424774"/>
                    <a:pt x="488690" y="424774"/>
                  </a:cubicBezTo>
                  <a:lnTo>
                    <a:pt x="448304" y="424774"/>
                  </a:lnTo>
                  <a:cubicBezTo>
                    <a:pt x="446399" y="506642"/>
                    <a:pt x="444732" y="647897"/>
                    <a:pt x="444732" y="739099"/>
                  </a:cubicBezTo>
                  <a:cubicBezTo>
                    <a:pt x="444811" y="739540"/>
                    <a:pt x="444811" y="739992"/>
                    <a:pt x="444732" y="740433"/>
                  </a:cubicBezTo>
                  <a:lnTo>
                    <a:pt x="548317" y="740433"/>
                  </a:lnTo>
                  <a:cubicBezTo>
                    <a:pt x="548745" y="643278"/>
                    <a:pt x="568986" y="612607"/>
                    <a:pt x="581130" y="602987"/>
                  </a:cubicBezTo>
                  <a:cubicBezTo>
                    <a:pt x="660817" y="540250"/>
                    <a:pt x="706877" y="444083"/>
                    <a:pt x="705812" y="342669"/>
                  </a:cubicBezTo>
                  <a:cubicBezTo>
                    <a:pt x="706023" y="250785"/>
                    <a:pt x="668569" y="162829"/>
                    <a:pt x="602180" y="99305"/>
                  </a:cubicBezTo>
                  <a:cubicBezTo>
                    <a:pt x="535352" y="35059"/>
                    <a:pt x="446087" y="-568"/>
                    <a:pt x="353387" y="7"/>
                  </a:cubicBezTo>
                  <a:close/>
                  <a:moveTo>
                    <a:pt x="157363" y="902786"/>
                  </a:moveTo>
                  <a:cubicBezTo>
                    <a:pt x="157468" y="914911"/>
                    <a:pt x="167382" y="924656"/>
                    <a:pt x="179507" y="924551"/>
                  </a:cubicBezTo>
                  <a:cubicBezTo>
                    <a:pt x="179507" y="924551"/>
                    <a:pt x="179508" y="924551"/>
                    <a:pt x="179508" y="924551"/>
                  </a:cubicBezTo>
                  <a:lnTo>
                    <a:pt x="526171" y="924551"/>
                  </a:lnTo>
                  <a:cubicBezTo>
                    <a:pt x="538296" y="924657"/>
                    <a:pt x="548211" y="914913"/>
                    <a:pt x="548316" y="902788"/>
                  </a:cubicBezTo>
                  <a:cubicBezTo>
                    <a:pt x="548316" y="902787"/>
                    <a:pt x="548316" y="902787"/>
                    <a:pt x="548316" y="902786"/>
                  </a:cubicBezTo>
                  <a:lnTo>
                    <a:pt x="548317" y="798678"/>
                  </a:lnTo>
                  <a:lnTo>
                    <a:pt x="157363" y="798678"/>
                  </a:lnTo>
                  <a:close/>
                </a:path>
              </a:pathLst>
            </a:custGeom>
            <a:grpFill/>
            <a:ln w="4763" cap="flat">
              <a:no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grpSp>
      <p:sp>
        <p:nvSpPr>
          <p:cNvPr id="136" name="图形 5"/>
          <p:cNvSpPr/>
          <p:nvPr/>
        </p:nvSpPr>
        <p:spPr>
          <a:xfrm>
            <a:off x="10358758" y="3122598"/>
            <a:ext cx="235441" cy="191296"/>
          </a:xfrm>
          <a:custGeom>
            <a:avLst/>
            <a:gdLst>
              <a:gd name="connsiteX0" fmla="*/ 1025543 w 1219200"/>
              <a:gd name="connsiteY0" fmla="*/ 383948 h 990600"/>
              <a:gd name="connsiteX1" fmla="*/ 1005307 w 1219200"/>
              <a:gd name="connsiteY1" fmla="*/ 321254 h 990600"/>
              <a:gd name="connsiteX2" fmla="*/ 1112253 w 1219200"/>
              <a:gd name="connsiteY2" fmla="*/ 214170 h 990600"/>
              <a:gd name="connsiteX3" fmla="*/ 1219200 w 1219200"/>
              <a:gd name="connsiteY3" fmla="*/ 321254 h 990600"/>
              <a:gd name="connsiteX4" fmla="*/ 1112253 w 1219200"/>
              <a:gd name="connsiteY4" fmla="*/ 428339 h 990600"/>
              <a:gd name="connsiteX5" fmla="*/ 1105572 w 1219200"/>
              <a:gd name="connsiteY5" fmla="*/ 428134 h 990600"/>
              <a:gd name="connsiteX6" fmla="*/ 948138 w 1219200"/>
              <a:gd name="connsiteY6" fmla="*/ 813835 h 990600"/>
              <a:gd name="connsiteX7" fmla="*/ 226881 w 1219200"/>
              <a:gd name="connsiteY7" fmla="*/ 813835 h 990600"/>
              <a:gd name="connsiteX8" fmla="*/ 91456 w 1219200"/>
              <a:gd name="connsiteY8" fmla="*/ 427225 h 990600"/>
              <a:gd name="connsiteX9" fmla="*/ 0 w 1219200"/>
              <a:gd name="connsiteY9" fmla="*/ 321254 h 990600"/>
              <a:gd name="connsiteX10" fmla="*/ 106947 w 1219200"/>
              <a:gd name="connsiteY10" fmla="*/ 214170 h 990600"/>
              <a:gd name="connsiteX11" fmla="*/ 213895 w 1219200"/>
              <a:gd name="connsiteY11" fmla="*/ 321254 h 990600"/>
              <a:gd name="connsiteX12" fmla="*/ 180096 w 1219200"/>
              <a:gd name="connsiteY12" fmla="*/ 399374 h 990600"/>
              <a:gd name="connsiteX13" fmla="*/ 319950 w 1219200"/>
              <a:gd name="connsiteY13" fmla="*/ 446046 h 990600"/>
              <a:gd name="connsiteX14" fmla="*/ 385825 w 1219200"/>
              <a:gd name="connsiteY14" fmla="*/ 205611 h 990600"/>
              <a:gd name="connsiteX15" fmla="*/ 320842 w 1219200"/>
              <a:gd name="connsiteY15" fmla="*/ 107084 h 990600"/>
              <a:gd name="connsiteX16" fmla="*/ 427789 w 1219200"/>
              <a:gd name="connsiteY16" fmla="*/ 0 h 990600"/>
              <a:gd name="connsiteX17" fmla="*/ 534738 w 1219200"/>
              <a:gd name="connsiteY17" fmla="*/ 107084 h 990600"/>
              <a:gd name="connsiteX18" fmla="*/ 497243 w 1219200"/>
              <a:gd name="connsiteY18" fmla="*/ 188517 h 990600"/>
              <a:gd name="connsiteX19" fmla="*/ 618830 w 1219200"/>
              <a:gd name="connsiteY19" fmla="*/ 319269 h 990600"/>
              <a:gd name="connsiteX20" fmla="*/ 698540 w 1219200"/>
              <a:gd name="connsiteY20" fmla="*/ 186738 h 990600"/>
              <a:gd name="connsiteX21" fmla="*/ 663073 w 1219200"/>
              <a:gd name="connsiteY21" fmla="*/ 107084 h 990600"/>
              <a:gd name="connsiteX22" fmla="*/ 770020 w 1219200"/>
              <a:gd name="connsiteY22" fmla="*/ 0 h 990600"/>
              <a:gd name="connsiteX23" fmla="*/ 876967 w 1219200"/>
              <a:gd name="connsiteY23" fmla="*/ 107084 h 990600"/>
              <a:gd name="connsiteX24" fmla="*/ 808306 w 1219200"/>
              <a:gd name="connsiteY24" fmla="*/ 207104 h 990600"/>
              <a:gd name="connsiteX25" fmla="*/ 857102 w 1219200"/>
              <a:gd name="connsiteY25" fmla="*/ 446046 h 990600"/>
              <a:gd name="connsiteX26" fmla="*/ 923768 w 1219200"/>
              <a:gd name="connsiteY26" fmla="*/ 471173 h 990600"/>
              <a:gd name="connsiteX27" fmla="*/ 1025543 w 1219200"/>
              <a:gd name="connsiteY27" fmla="*/ 383948 h 990600"/>
              <a:gd name="connsiteX28" fmla="*/ 279465 w 1219200"/>
              <a:gd name="connsiteY28" fmla="*/ 888868 h 990600"/>
              <a:gd name="connsiteX29" fmla="*/ 939737 w 1219200"/>
              <a:gd name="connsiteY29" fmla="*/ 888868 h 990600"/>
              <a:gd name="connsiteX30" fmla="*/ 990600 w 1219200"/>
              <a:gd name="connsiteY30" fmla="*/ 939737 h 990600"/>
              <a:gd name="connsiteX31" fmla="*/ 939737 w 1219200"/>
              <a:gd name="connsiteY31" fmla="*/ 990600 h 990600"/>
              <a:gd name="connsiteX32" fmla="*/ 279465 w 1219200"/>
              <a:gd name="connsiteY32" fmla="*/ 990600 h 990600"/>
              <a:gd name="connsiteX33" fmla="*/ 228600 w 1219200"/>
              <a:gd name="connsiteY33" fmla="*/ 939737 h 990600"/>
              <a:gd name="connsiteX34" fmla="*/ 279465 w 1219200"/>
              <a:gd name="connsiteY34" fmla="*/ 888868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19200" h="990600">
                <a:moveTo>
                  <a:pt x="1025543" y="383948"/>
                </a:moveTo>
                <a:cubicBezTo>
                  <a:pt x="1012812" y="366327"/>
                  <a:pt x="1005307" y="344667"/>
                  <a:pt x="1005307" y="321254"/>
                </a:cubicBezTo>
                <a:cubicBezTo>
                  <a:pt x="1005307" y="262113"/>
                  <a:pt x="1053184" y="214170"/>
                  <a:pt x="1112253" y="214170"/>
                </a:cubicBezTo>
                <a:cubicBezTo>
                  <a:pt x="1171323" y="214170"/>
                  <a:pt x="1219200" y="262113"/>
                  <a:pt x="1219200" y="321254"/>
                </a:cubicBezTo>
                <a:cubicBezTo>
                  <a:pt x="1219200" y="380395"/>
                  <a:pt x="1171323" y="428339"/>
                  <a:pt x="1112253" y="428339"/>
                </a:cubicBezTo>
                <a:cubicBezTo>
                  <a:pt x="1110010" y="428339"/>
                  <a:pt x="1107781" y="428268"/>
                  <a:pt x="1105572" y="428134"/>
                </a:cubicBezTo>
                <a:cubicBezTo>
                  <a:pt x="1063871" y="686410"/>
                  <a:pt x="1011398" y="814978"/>
                  <a:pt x="948138" y="813835"/>
                </a:cubicBezTo>
                <a:cubicBezTo>
                  <a:pt x="530076" y="813835"/>
                  <a:pt x="289659" y="813835"/>
                  <a:pt x="226881" y="813835"/>
                </a:cubicBezTo>
                <a:cubicBezTo>
                  <a:pt x="169797" y="782460"/>
                  <a:pt x="124656" y="653591"/>
                  <a:pt x="91456" y="427225"/>
                </a:cubicBezTo>
                <a:cubicBezTo>
                  <a:pt x="39732" y="419710"/>
                  <a:pt x="0" y="375128"/>
                  <a:pt x="0" y="321254"/>
                </a:cubicBezTo>
                <a:cubicBezTo>
                  <a:pt x="0" y="262113"/>
                  <a:pt x="47882" y="214170"/>
                  <a:pt x="106947" y="214170"/>
                </a:cubicBezTo>
                <a:cubicBezTo>
                  <a:pt x="166013" y="214170"/>
                  <a:pt x="213895" y="262113"/>
                  <a:pt x="213895" y="321254"/>
                </a:cubicBezTo>
                <a:cubicBezTo>
                  <a:pt x="213895" y="352065"/>
                  <a:pt x="200899" y="379838"/>
                  <a:pt x="180096" y="399374"/>
                </a:cubicBezTo>
                <a:cubicBezTo>
                  <a:pt x="244643" y="475055"/>
                  <a:pt x="291261" y="490609"/>
                  <a:pt x="319950" y="446046"/>
                </a:cubicBezTo>
                <a:cubicBezTo>
                  <a:pt x="350671" y="362217"/>
                  <a:pt x="372629" y="282070"/>
                  <a:pt x="385825" y="205611"/>
                </a:cubicBezTo>
                <a:cubicBezTo>
                  <a:pt x="347619" y="189276"/>
                  <a:pt x="320842" y="151311"/>
                  <a:pt x="320842" y="107084"/>
                </a:cubicBezTo>
                <a:cubicBezTo>
                  <a:pt x="320842" y="47944"/>
                  <a:pt x="368724" y="0"/>
                  <a:pt x="427789" y="0"/>
                </a:cubicBezTo>
                <a:cubicBezTo>
                  <a:pt x="486856" y="0"/>
                  <a:pt x="534738" y="47944"/>
                  <a:pt x="534738" y="107084"/>
                </a:cubicBezTo>
                <a:cubicBezTo>
                  <a:pt x="534738" y="139682"/>
                  <a:pt x="520189" y="168876"/>
                  <a:pt x="497243" y="188517"/>
                </a:cubicBezTo>
                <a:cubicBezTo>
                  <a:pt x="537658" y="305446"/>
                  <a:pt x="578187" y="349030"/>
                  <a:pt x="618830" y="319269"/>
                </a:cubicBezTo>
                <a:cubicBezTo>
                  <a:pt x="643266" y="299292"/>
                  <a:pt x="669836" y="255115"/>
                  <a:pt x="698540" y="186738"/>
                </a:cubicBezTo>
                <a:cubicBezTo>
                  <a:pt x="676766" y="167135"/>
                  <a:pt x="663073" y="138711"/>
                  <a:pt x="663073" y="107084"/>
                </a:cubicBezTo>
                <a:cubicBezTo>
                  <a:pt x="663073" y="47944"/>
                  <a:pt x="710960" y="0"/>
                  <a:pt x="770020" y="0"/>
                </a:cubicBezTo>
                <a:cubicBezTo>
                  <a:pt x="829089" y="0"/>
                  <a:pt x="876967" y="47944"/>
                  <a:pt x="876967" y="107084"/>
                </a:cubicBezTo>
                <a:cubicBezTo>
                  <a:pt x="876967" y="152718"/>
                  <a:pt x="848463" y="191683"/>
                  <a:pt x="808306" y="207104"/>
                </a:cubicBezTo>
                <a:cubicBezTo>
                  <a:pt x="812940" y="369032"/>
                  <a:pt x="840967" y="403450"/>
                  <a:pt x="857102" y="446046"/>
                </a:cubicBezTo>
                <a:cubicBezTo>
                  <a:pt x="871047" y="473421"/>
                  <a:pt x="898993" y="487109"/>
                  <a:pt x="923768" y="471173"/>
                </a:cubicBezTo>
                <a:cubicBezTo>
                  <a:pt x="944704" y="456657"/>
                  <a:pt x="978632" y="427582"/>
                  <a:pt x="1025543" y="383948"/>
                </a:cubicBezTo>
                <a:close/>
                <a:moveTo>
                  <a:pt x="279465" y="888868"/>
                </a:moveTo>
                <a:lnTo>
                  <a:pt x="939737" y="888868"/>
                </a:lnTo>
                <a:cubicBezTo>
                  <a:pt x="967830" y="888868"/>
                  <a:pt x="990600" y="911643"/>
                  <a:pt x="990600" y="939737"/>
                </a:cubicBezTo>
                <a:cubicBezTo>
                  <a:pt x="990600" y="967830"/>
                  <a:pt x="967830" y="990600"/>
                  <a:pt x="939737" y="990600"/>
                </a:cubicBezTo>
                <a:lnTo>
                  <a:pt x="279465" y="990600"/>
                </a:lnTo>
                <a:cubicBezTo>
                  <a:pt x="251373" y="990600"/>
                  <a:pt x="228600" y="967830"/>
                  <a:pt x="228600" y="939737"/>
                </a:cubicBezTo>
                <a:cubicBezTo>
                  <a:pt x="228600" y="911643"/>
                  <a:pt x="251373" y="888868"/>
                  <a:pt x="279465" y="888868"/>
                </a:cubicBezTo>
                <a:close/>
              </a:path>
            </a:pathLst>
          </a:custGeom>
          <a:solidFill>
            <a:srgbClr val="FFFFFF"/>
          </a:solidFill>
          <a:ln w="4763" cap="flat">
            <a:no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137" name="图形 7"/>
          <p:cNvSpPr/>
          <p:nvPr/>
        </p:nvSpPr>
        <p:spPr>
          <a:xfrm>
            <a:off x="8058131" y="3100526"/>
            <a:ext cx="235441" cy="215820"/>
          </a:xfrm>
          <a:custGeom>
            <a:avLst/>
            <a:gdLst>
              <a:gd name="connsiteX0" fmla="*/ 503582 w 1219201"/>
              <a:gd name="connsiteY0" fmla="*/ 1117598 h 1117597"/>
              <a:gd name="connsiteX1" fmla="*/ 194781 w 1219201"/>
              <a:gd name="connsiteY1" fmla="*/ 1117598 h 1117597"/>
              <a:gd name="connsiteX2" fmla="*/ 108863 w 1219201"/>
              <a:gd name="connsiteY2" fmla="*/ 1030249 h 1117597"/>
              <a:gd name="connsiteX3" fmla="*/ 108863 w 1219201"/>
              <a:gd name="connsiteY3" fmla="*/ 663513 h 1117597"/>
              <a:gd name="connsiteX4" fmla="*/ 123519 w 1219201"/>
              <a:gd name="connsiteY4" fmla="*/ 631309 h 1117597"/>
              <a:gd name="connsiteX5" fmla="*/ 157571 w 1219201"/>
              <a:gd name="connsiteY5" fmla="*/ 620907 h 1117597"/>
              <a:gd name="connsiteX6" fmla="*/ 374090 w 1219201"/>
              <a:gd name="connsiteY6" fmla="*/ 562109 h 1117597"/>
              <a:gd name="connsiteX7" fmla="*/ 429071 w 1219201"/>
              <a:gd name="connsiteY7" fmla="*/ 562109 h 1117597"/>
              <a:gd name="connsiteX8" fmla="*/ 609600 w 1219201"/>
              <a:gd name="connsiteY8" fmla="*/ 623107 h 1117597"/>
              <a:gd name="connsiteX9" fmla="*/ 790094 w 1219201"/>
              <a:gd name="connsiteY9" fmla="*/ 562109 h 1117597"/>
              <a:gd name="connsiteX10" fmla="*/ 845110 w 1219201"/>
              <a:gd name="connsiteY10" fmla="*/ 562109 h 1117597"/>
              <a:gd name="connsiteX11" fmla="*/ 1062023 w 1219201"/>
              <a:gd name="connsiteY11" fmla="*/ 620879 h 1117597"/>
              <a:gd name="connsiteX12" fmla="*/ 1110367 w 1219201"/>
              <a:gd name="connsiteY12" fmla="*/ 663655 h 1117597"/>
              <a:gd name="connsiteX13" fmla="*/ 1110367 w 1219201"/>
              <a:gd name="connsiteY13" fmla="*/ 1030249 h 1117597"/>
              <a:gd name="connsiteX14" fmla="*/ 1024438 w 1219201"/>
              <a:gd name="connsiteY14" fmla="*/ 1117598 h 1117597"/>
              <a:gd name="connsiteX15" fmla="*/ 715618 w 1219201"/>
              <a:gd name="connsiteY15" fmla="*/ 1117598 h 1117597"/>
              <a:gd name="connsiteX16" fmla="*/ 715618 w 1219201"/>
              <a:gd name="connsiteY16" fmla="*/ 851293 h 1117597"/>
              <a:gd name="connsiteX17" fmla="*/ 662611 w 1219201"/>
              <a:gd name="connsiteY17" fmla="*/ 798282 h 1117597"/>
              <a:gd name="connsiteX18" fmla="*/ 556589 w 1219201"/>
              <a:gd name="connsiteY18" fmla="*/ 798282 h 1117597"/>
              <a:gd name="connsiteX19" fmla="*/ 503582 w 1219201"/>
              <a:gd name="connsiteY19" fmla="*/ 851293 h 1117597"/>
              <a:gd name="connsiteX20" fmla="*/ 503582 w 1219201"/>
              <a:gd name="connsiteY20" fmla="*/ 1117598 h 1117597"/>
              <a:gd name="connsiteX21" fmla="*/ 1202260 w 1219201"/>
              <a:gd name="connsiteY21" fmla="*/ 259782 h 1117597"/>
              <a:gd name="connsiteX22" fmla="*/ 1042697 w 1219201"/>
              <a:gd name="connsiteY22" fmla="*/ 536244 h 1117597"/>
              <a:gd name="connsiteX23" fmla="*/ 853578 w 1219201"/>
              <a:gd name="connsiteY23" fmla="*/ 446785 h 1117597"/>
              <a:gd name="connsiteX24" fmla="*/ 817621 w 1219201"/>
              <a:gd name="connsiteY24" fmla="*/ 427888 h 1117597"/>
              <a:gd name="connsiteX25" fmla="*/ 781645 w 1219201"/>
              <a:gd name="connsiteY25" fmla="*/ 446785 h 1117597"/>
              <a:gd name="connsiteX26" fmla="*/ 609600 w 1219201"/>
              <a:gd name="connsiteY26" fmla="*/ 536935 h 1117597"/>
              <a:gd name="connsiteX27" fmla="*/ 437540 w 1219201"/>
              <a:gd name="connsiteY27" fmla="*/ 446785 h 1117597"/>
              <a:gd name="connsiteX28" fmla="*/ 401580 w 1219201"/>
              <a:gd name="connsiteY28" fmla="*/ 427888 h 1117597"/>
              <a:gd name="connsiteX29" fmla="*/ 365616 w 1219201"/>
              <a:gd name="connsiteY29" fmla="*/ 446785 h 1117597"/>
              <a:gd name="connsiteX30" fmla="*/ 176493 w 1219201"/>
              <a:gd name="connsiteY30" fmla="*/ 536244 h 1117597"/>
              <a:gd name="connsiteX31" fmla="*/ 16940 w 1219201"/>
              <a:gd name="connsiteY31" fmla="*/ 259782 h 1117597"/>
              <a:gd name="connsiteX32" fmla="*/ 113620 w 1219201"/>
              <a:gd name="connsiteY32" fmla="*/ 72242 h 1117597"/>
              <a:gd name="connsiteX33" fmla="*/ 232728 w 1219201"/>
              <a:gd name="connsiteY33" fmla="*/ 0 h 1117597"/>
              <a:gd name="connsiteX34" fmla="*/ 986471 w 1219201"/>
              <a:gd name="connsiteY34" fmla="*/ 0 h 1117597"/>
              <a:gd name="connsiteX35" fmla="*/ 1105581 w 1219201"/>
              <a:gd name="connsiteY35" fmla="*/ 72242 h 1117597"/>
              <a:gd name="connsiteX36" fmla="*/ 1202260 w 1219201"/>
              <a:gd name="connsiteY36" fmla="*/ 259782 h 1117597"/>
              <a:gd name="connsiteX37" fmla="*/ 881315 w 1219201"/>
              <a:gd name="connsiteY37" fmla="*/ 141623 h 1117597"/>
              <a:gd name="connsiteX38" fmla="*/ 924873 w 1219201"/>
              <a:gd name="connsiteY38" fmla="*/ 115006 h 1117597"/>
              <a:gd name="connsiteX39" fmla="*/ 881315 w 1219201"/>
              <a:gd name="connsiteY39" fmla="*/ 88404 h 1117597"/>
              <a:gd name="connsiteX40" fmla="*/ 337850 w 1219201"/>
              <a:gd name="connsiteY40" fmla="*/ 88404 h 1117597"/>
              <a:gd name="connsiteX41" fmla="*/ 294295 w 1219201"/>
              <a:gd name="connsiteY41" fmla="*/ 115006 h 1117597"/>
              <a:gd name="connsiteX42" fmla="*/ 337850 w 1219201"/>
              <a:gd name="connsiteY42" fmla="*/ 141623 h 1117597"/>
              <a:gd name="connsiteX43" fmla="*/ 881315 w 1219201"/>
              <a:gd name="connsiteY43" fmla="*/ 141623 h 111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19201" h="1117597">
                <a:moveTo>
                  <a:pt x="503582" y="1117598"/>
                </a:moveTo>
                <a:lnTo>
                  <a:pt x="194781" y="1117598"/>
                </a:lnTo>
                <a:cubicBezTo>
                  <a:pt x="147327" y="1117598"/>
                  <a:pt x="108863" y="1078498"/>
                  <a:pt x="108863" y="1030249"/>
                </a:cubicBezTo>
                <a:lnTo>
                  <a:pt x="108863" y="663513"/>
                </a:lnTo>
                <a:cubicBezTo>
                  <a:pt x="108863" y="651192"/>
                  <a:pt x="114203" y="639462"/>
                  <a:pt x="123519" y="631309"/>
                </a:cubicBezTo>
                <a:cubicBezTo>
                  <a:pt x="132838" y="623155"/>
                  <a:pt x="145236" y="619364"/>
                  <a:pt x="157571" y="620907"/>
                </a:cubicBezTo>
                <a:cubicBezTo>
                  <a:pt x="234736" y="630327"/>
                  <a:pt x="312540" y="609201"/>
                  <a:pt x="374090" y="562109"/>
                </a:cubicBezTo>
                <a:cubicBezTo>
                  <a:pt x="390242" y="549594"/>
                  <a:pt x="412917" y="549594"/>
                  <a:pt x="429071" y="562109"/>
                </a:cubicBezTo>
                <a:cubicBezTo>
                  <a:pt x="480779" y="601695"/>
                  <a:pt x="544273" y="623146"/>
                  <a:pt x="609600" y="623107"/>
                </a:cubicBezTo>
                <a:cubicBezTo>
                  <a:pt x="674918" y="623117"/>
                  <a:pt x="738392" y="601667"/>
                  <a:pt x="790094" y="562109"/>
                </a:cubicBezTo>
                <a:cubicBezTo>
                  <a:pt x="806258" y="549598"/>
                  <a:pt x="828937" y="549598"/>
                  <a:pt x="845110" y="562109"/>
                </a:cubicBezTo>
                <a:cubicBezTo>
                  <a:pt x="906756" y="609315"/>
                  <a:pt x="984733" y="630432"/>
                  <a:pt x="1062023" y="620879"/>
                </a:cubicBezTo>
                <a:cubicBezTo>
                  <a:pt x="1087750" y="617583"/>
                  <a:pt x="1110334" y="637947"/>
                  <a:pt x="1110367" y="663655"/>
                </a:cubicBezTo>
                <a:lnTo>
                  <a:pt x="1110367" y="1030249"/>
                </a:lnTo>
                <a:cubicBezTo>
                  <a:pt x="1110367" y="1078498"/>
                  <a:pt x="1071901" y="1117598"/>
                  <a:pt x="1024438" y="1117598"/>
                </a:cubicBezTo>
                <a:lnTo>
                  <a:pt x="715618" y="1117598"/>
                </a:lnTo>
                <a:lnTo>
                  <a:pt x="715618" y="851293"/>
                </a:lnTo>
                <a:cubicBezTo>
                  <a:pt x="715618" y="822018"/>
                  <a:pt x="691882" y="798282"/>
                  <a:pt x="662611" y="798282"/>
                </a:cubicBezTo>
                <a:lnTo>
                  <a:pt x="556589" y="798282"/>
                </a:lnTo>
                <a:cubicBezTo>
                  <a:pt x="527318" y="798282"/>
                  <a:pt x="503582" y="822018"/>
                  <a:pt x="503582" y="851293"/>
                </a:cubicBezTo>
                <a:lnTo>
                  <a:pt x="503582" y="1117598"/>
                </a:lnTo>
                <a:close/>
                <a:moveTo>
                  <a:pt x="1202260" y="259782"/>
                </a:moveTo>
                <a:cubicBezTo>
                  <a:pt x="1255928" y="381578"/>
                  <a:pt x="1176504" y="525495"/>
                  <a:pt x="1042697" y="536244"/>
                </a:cubicBezTo>
                <a:cubicBezTo>
                  <a:pt x="968002" y="542402"/>
                  <a:pt x="895745" y="508222"/>
                  <a:pt x="853578" y="446785"/>
                </a:cubicBezTo>
                <a:cubicBezTo>
                  <a:pt x="845491" y="434960"/>
                  <a:pt x="832023" y="427888"/>
                  <a:pt x="817621" y="427888"/>
                </a:cubicBezTo>
                <a:cubicBezTo>
                  <a:pt x="803210" y="427888"/>
                  <a:pt x="789737" y="434960"/>
                  <a:pt x="781645" y="446785"/>
                </a:cubicBezTo>
                <a:cubicBezTo>
                  <a:pt x="742907" y="503231"/>
                  <a:pt x="678480" y="537001"/>
                  <a:pt x="609600" y="536935"/>
                </a:cubicBezTo>
                <a:cubicBezTo>
                  <a:pt x="540720" y="537001"/>
                  <a:pt x="476288" y="503231"/>
                  <a:pt x="437540" y="446785"/>
                </a:cubicBezTo>
                <a:cubicBezTo>
                  <a:pt x="429460" y="434960"/>
                  <a:pt x="415986" y="427888"/>
                  <a:pt x="401580" y="427888"/>
                </a:cubicBezTo>
                <a:cubicBezTo>
                  <a:pt x="387173" y="427888"/>
                  <a:pt x="373705" y="434960"/>
                  <a:pt x="365616" y="446785"/>
                </a:cubicBezTo>
                <a:cubicBezTo>
                  <a:pt x="323456" y="508222"/>
                  <a:pt x="251196" y="542402"/>
                  <a:pt x="176493" y="536244"/>
                </a:cubicBezTo>
                <a:cubicBezTo>
                  <a:pt x="42723" y="525495"/>
                  <a:pt x="-36732" y="381578"/>
                  <a:pt x="16940" y="259782"/>
                </a:cubicBezTo>
                <a:lnTo>
                  <a:pt x="113620" y="72242"/>
                </a:lnTo>
                <a:cubicBezTo>
                  <a:pt x="136475" y="27886"/>
                  <a:pt x="182486" y="-26"/>
                  <a:pt x="232728" y="0"/>
                </a:cubicBezTo>
                <a:lnTo>
                  <a:pt x="986471" y="0"/>
                </a:lnTo>
                <a:cubicBezTo>
                  <a:pt x="1036715" y="-26"/>
                  <a:pt x="1082726" y="27886"/>
                  <a:pt x="1105581" y="72242"/>
                </a:cubicBezTo>
                <a:lnTo>
                  <a:pt x="1202260" y="259782"/>
                </a:lnTo>
                <a:close/>
                <a:moveTo>
                  <a:pt x="881315" y="141623"/>
                </a:moveTo>
                <a:cubicBezTo>
                  <a:pt x="905270" y="141623"/>
                  <a:pt x="924873" y="129648"/>
                  <a:pt x="924873" y="115006"/>
                </a:cubicBezTo>
                <a:cubicBezTo>
                  <a:pt x="924873" y="100381"/>
                  <a:pt x="905270" y="88404"/>
                  <a:pt x="881315" y="88404"/>
                </a:cubicBezTo>
                <a:lnTo>
                  <a:pt x="337850" y="88404"/>
                </a:lnTo>
                <a:cubicBezTo>
                  <a:pt x="313895" y="88404"/>
                  <a:pt x="294295" y="100381"/>
                  <a:pt x="294295" y="115006"/>
                </a:cubicBezTo>
                <a:cubicBezTo>
                  <a:pt x="294379" y="129698"/>
                  <a:pt x="313838" y="141592"/>
                  <a:pt x="337850" y="141623"/>
                </a:cubicBezTo>
                <a:lnTo>
                  <a:pt x="881315" y="141623"/>
                </a:lnTo>
                <a:close/>
              </a:path>
            </a:pathLst>
          </a:custGeom>
          <a:solidFill>
            <a:srgbClr val="FFFFFF"/>
          </a:solidFill>
          <a:ln w="4763" cap="flat">
            <a:no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grpSp>
        <p:nvGrpSpPr>
          <p:cNvPr id="138" name="图形 176"/>
          <p:cNvGrpSpPr/>
          <p:nvPr/>
        </p:nvGrpSpPr>
        <p:grpSpPr>
          <a:xfrm>
            <a:off x="5972321" y="3115575"/>
            <a:ext cx="220963" cy="220962"/>
            <a:chOff x="5486417" y="2819423"/>
            <a:chExt cx="1219167" cy="1219162"/>
          </a:xfrm>
          <a:solidFill>
            <a:srgbClr val="FFFFFF"/>
          </a:solidFill>
        </p:grpSpPr>
        <p:sp>
          <p:nvSpPr>
            <p:cNvPr id="139" name="任意多边形: 形状 135"/>
            <p:cNvSpPr/>
            <p:nvPr/>
          </p:nvSpPr>
          <p:spPr>
            <a:xfrm>
              <a:off x="5486417" y="3527726"/>
              <a:ext cx="510808" cy="510859"/>
            </a:xfrm>
            <a:custGeom>
              <a:avLst/>
              <a:gdLst>
                <a:gd name="connsiteX0" fmla="*/ 421368 w 510808"/>
                <a:gd name="connsiteY0" fmla="*/ 89535 h 510859"/>
                <a:gd name="connsiteX1" fmla="*/ 351169 w 510808"/>
                <a:gd name="connsiteY1" fmla="*/ 0 h 510859"/>
                <a:gd name="connsiteX2" fmla="*/ 22033 w 510808"/>
                <a:gd name="connsiteY2" fmla="*/ 329136 h 510859"/>
                <a:gd name="connsiteX3" fmla="*/ 22033 w 510808"/>
                <a:gd name="connsiteY3" fmla="*/ 435578 h 510859"/>
                <a:gd name="connsiteX4" fmla="*/ 75277 w 510808"/>
                <a:gd name="connsiteY4" fmla="*/ 488823 h 510859"/>
                <a:gd name="connsiteX5" fmla="*/ 181767 w 510808"/>
                <a:gd name="connsiteY5" fmla="*/ 488823 h 510859"/>
                <a:gd name="connsiteX6" fmla="*/ 510808 w 510808"/>
                <a:gd name="connsiteY6" fmla="*/ 159782 h 510859"/>
                <a:gd name="connsiteX7" fmla="*/ 421368 w 510808"/>
                <a:gd name="connsiteY7" fmla="*/ 89535 h 51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808" h="510859">
                  <a:moveTo>
                    <a:pt x="421368" y="89535"/>
                  </a:moveTo>
                  <a:cubicBezTo>
                    <a:pt x="394562" y="62525"/>
                    <a:pt x="371003" y="32476"/>
                    <a:pt x="351169" y="0"/>
                  </a:cubicBezTo>
                  <a:lnTo>
                    <a:pt x="22033" y="329136"/>
                  </a:lnTo>
                  <a:cubicBezTo>
                    <a:pt x="-7344" y="358536"/>
                    <a:pt x="-7344" y="406178"/>
                    <a:pt x="22033" y="435578"/>
                  </a:cubicBezTo>
                  <a:lnTo>
                    <a:pt x="75277" y="488823"/>
                  </a:lnTo>
                  <a:cubicBezTo>
                    <a:pt x="104694" y="518205"/>
                    <a:pt x="152351" y="518205"/>
                    <a:pt x="181767" y="488823"/>
                  </a:cubicBezTo>
                  <a:lnTo>
                    <a:pt x="510808" y="159782"/>
                  </a:lnTo>
                  <a:cubicBezTo>
                    <a:pt x="478384" y="139896"/>
                    <a:pt x="448371" y="116323"/>
                    <a:pt x="421368" y="89535"/>
                  </a:cubicBezTo>
                </a:path>
              </a:pathLst>
            </a:custGeom>
            <a:grpFill/>
            <a:ln w="4763"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cs typeface="微软雅黑"/>
                <a:ea typeface="微软雅黑"/>
              </a:endParaRPr>
            </a:p>
          </p:txBody>
        </p:sp>
        <p:sp>
          <p:nvSpPr>
            <p:cNvPr id="148" name="任意多边形: 形状 136"/>
            <p:cNvSpPr/>
            <p:nvPr/>
          </p:nvSpPr>
          <p:spPr>
            <a:xfrm>
              <a:off x="5802023" y="2819423"/>
              <a:ext cx="903561" cy="903541"/>
            </a:xfrm>
            <a:custGeom>
              <a:avLst/>
              <a:gdLst>
                <a:gd name="connsiteX0" fmla="*/ 771226 w 903561"/>
                <a:gd name="connsiteY0" fmla="*/ 132326 h 903541"/>
                <a:gd name="connsiteX1" fmla="*/ 132326 w 903561"/>
                <a:gd name="connsiteY1" fmla="*/ 132315 h 903541"/>
                <a:gd name="connsiteX2" fmla="*/ 132315 w 903561"/>
                <a:gd name="connsiteY2" fmla="*/ 771215 h 903541"/>
                <a:gd name="connsiteX3" fmla="*/ 771216 w 903561"/>
                <a:gd name="connsiteY3" fmla="*/ 771226 h 903541"/>
                <a:gd name="connsiteX4" fmla="*/ 771226 w 903561"/>
                <a:gd name="connsiteY4" fmla="*/ 771215 h 903541"/>
                <a:gd name="connsiteX5" fmla="*/ 771283 w 903561"/>
                <a:gd name="connsiteY5" fmla="*/ 132382 h 903541"/>
                <a:gd name="connsiteX6" fmla="*/ 771226 w 903561"/>
                <a:gd name="connsiteY6" fmla="*/ 132326 h 903541"/>
                <a:gd name="connsiteX7" fmla="*/ 597776 w 903561"/>
                <a:gd name="connsiteY7" fmla="*/ 229100 h 903541"/>
                <a:gd name="connsiteX8" fmla="*/ 547733 w 903561"/>
                <a:gd name="connsiteY8" fmla="*/ 247177 h 903541"/>
                <a:gd name="connsiteX9" fmla="*/ 547675 w 903561"/>
                <a:gd name="connsiteY9" fmla="*/ 247150 h 903541"/>
                <a:gd name="connsiteX10" fmla="*/ 260639 w 903561"/>
                <a:gd name="connsiteY10" fmla="*/ 331494 h 903541"/>
                <a:gd name="connsiteX11" fmla="*/ 208727 w 903561"/>
                <a:gd name="connsiteY11" fmla="*/ 343257 h 903541"/>
                <a:gd name="connsiteX12" fmla="*/ 196964 w 903561"/>
                <a:gd name="connsiteY12" fmla="*/ 291346 h 903541"/>
                <a:gd name="connsiteX13" fmla="*/ 579726 w 903561"/>
                <a:gd name="connsiteY13" fmla="*/ 179046 h 903541"/>
                <a:gd name="connsiteX14" fmla="*/ 597817 w 903561"/>
                <a:gd name="connsiteY14" fmla="*/ 229013 h 903541"/>
                <a:gd name="connsiteX15" fmla="*/ 597776 w 903561"/>
                <a:gd name="connsiteY15" fmla="*/ 229100 h 9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3561" h="903541">
                  <a:moveTo>
                    <a:pt x="771226" y="132326"/>
                  </a:moveTo>
                  <a:cubicBezTo>
                    <a:pt x="594802" y="-44104"/>
                    <a:pt x="308757" y="-44109"/>
                    <a:pt x="132326" y="132315"/>
                  </a:cubicBezTo>
                  <a:cubicBezTo>
                    <a:pt x="-44104" y="308740"/>
                    <a:pt x="-44109" y="594785"/>
                    <a:pt x="132315" y="771215"/>
                  </a:cubicBezTo>
                  <a:cubicBezTo>
                    <a:pt x="308740" y="947646"/>
                    <a:pt x="594785" y="947651"/>
                    <a:pt x="771216" y="771226"/>
                  </a:cubicBezTo>
                  <a:cubicBezTo>
                    <a:pt x="771219" y="771223"/>
                    <a:pt x="771223" y="771219"/>
                    <a:pt x="771226" y="771215"/>
                  </a:cubicBezTo>
                  <a:cubicBezTo>
                    <a:pt x="947651" y="594822"/>
                    <a:pt x="947676" y="308807"/>
                    <a:pt x="771283" y="132382"/>
                  </a:cubicBezTo>
                  <a:cubicBezTo>
                    <a:pt x="771264" y="132364"/>
                    <a:pt x="771245" y="132345"/>
                    <a:pt x="771226" y="132326"/>
                  </a:cubicBezTo>
                  <a:close/>
                  <a:moveTo>
                    <a:pt x="597776" y="229100"/>
                  </a:moveTo>
                  <a:cubicBezTo>
                    <a:pt x="588949" y="247911"/>
                    <a:pt x="566544" y="256005"/>
                    <a:pt x="547733" y="247177"/>
                  </a:cubicBezTo>
                  <a:cubicBezTo>
                    <a:pt x="547714" y="247168"/>
                    <a:pt x="547694" y="247159"/>
                    <a:pt x="547675" y="247150"/>
                  </a:cubicBezTo>
                  <a:cubicBezTo>
                    <a:pt x="444413" y="198908"/>
                    <a:pt x="321388" y="235058"/>
                    <a:pt x="260639" y="331494"/>
                  </a:cubicBezTo>
                  <a:cubicBezTo>
                    <a:pt x="249552" y="349077"/>
                    <a:pt x="226311" y="354344"/>
                    <a:pt x="208727" y="343257"/>
                  </a:cubicBezTo>
                  <a:cubicBezTo>
                    <a:pt x="191144" y="332171"/>
                    <a:pt x="185878" y="308929"/>
                    <a:pt x="196964" y="291346"/>
                  </a:cubicBezTo>
                  <a:cubicBezTo>
                    <a:pt x="277980" y="162750"/>
                    <a:pt x="442075" y="114606"/>
                    <a:pt x="579726" y="179046"/>
                  </a:cubicBezTo>
                  <a:cubicBezTo>
                    <a:pt x="598520" y="187848"/>
                    <a:pt x="606619" y="210219"/>
                    <a:pt x="597817" y="229013"/>
                  </a:cubicBezTo>
                  <a:cubicBezTo>
                    <a:pt x="597803" y="229042"/>
                    <a:pt x="597790" y="229071"/>
                    <a:pt x="597776" y="229100"/>
                  </a:cubicBezTo>
                </a:path>
              </a:pathLst>
            </a:custGeom>
            <a:grpFill/>
            <a:ln w="4763"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cs typeface="微软雅黑"/>
                <a:ea typeface="微软雅黑"/>
              </a:endParaRPr>
            </a:p>
          </p:txBody>
        </p:sp>
      </p:grpSp>
      <p:grpSp>
        <p:nvGrpSpPr>
          <p:cNvPr id="4" name="组合 3"/>
          <p:cNvGrpSpPr/>
          <p:nvPr/>
        </p:nvGrpSpPr>
        <p:grpSpPr>
          <a:xfrm>
            <a:off x="7675245" y="347980"/>
            <a:ext cx="4588510" cy="367030"/>
            <a:chOff x="12087" y="-1089"/>
            <a:chExt cx="7226" cy="578"/>
          </a:xfrm>
        </p:grpSpPr>
        <p:pic>
          <p:nvPicPr>
            <p:cNvPr id="23" name="图片 22"/>
            <p:cNvPicPr>
              <a:picLocks noChangeAspect="1"/>
            </p:cNvPicPr>
            <p:nvPr userDrawn="1"/>
          </p:nvPicPr>
          <p:blipFill>
            <a:blip r:embed="rId3"/>
            <a:srcRect r="57320" b="-13333"/>
            <a:stretch>
              <a:fillRect/>
            </a:stretch>
          </p:blipFill>
          <p:spPr>
            <a:xfrm>
              <a:off x="12087" y="-1089"/>
              <a:ext cx="2548" cy="578"/>
            </a:xfrm>
            <a:prstGeom prst="rect">
              <a:avLst/>
            </a:prstGeom>
          </p:spPr>
        </p:pic>
        <p:sp>
          <p:nvSpPr>
            <p:cNvPr id="24" name="文本框 23"/>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5"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rPr>
              <a:t>销售运营分析模型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任意多边形: 形状 305"/>
          <p:cNvSpPr/>
          <p:nvPr/>
        </p:nvSpPr>
        <p:spPr bwMode="invGray">
          <a:xfrm>
            <a:off x="129540" y="5688965"/>
            <a:ext cx="2258060" cy="191770"/>
          </a:xfrm>
          <a:custGeom>
            <a:avLst/>
            <a:gdLst>
              <a:gd name="connsiteX0" fmla="*/ 395219 w 2012086"/>
              <a:gd name="connsiteY0" fmla="*/ 0 h 191574"/>
              <a:gd name="connsiteX1" fmla="*/ 2012086 w 2012086"/>
              <a:gd name="connsiteY1" fmla="*/ 0 h 191574"/>
              <a:gd name="connsiteX2" fmla="*/ 1865471 w 2012086"/>
              <a:gd name="connsiteY2" fmla="*/ 191574 h 191574"/>
              <a:gd name="connsiteX3" fmla="*/ 0 w 2012086"/>
              <a:gd name="connsiteY3" fmla="*/ 191574 h 191574"/>
            </a:gdLst>
            <a:ahLst/>
            <a:cxnLst>
              <a:cxn ang="0">
                <a:pos x="connsiteX0" y="connsiteY0"/>
              </a:cxn>
              <a:cxn ang="0">
                <a:pos x="connsiteX1" y="connsiteY1"/>
              </a:cxn>
              <a:cxn ang="0">
                <a:pos x="connsiteX2" y="connsiteY2"/>
              </a:cxn>
              <a:cxn ang="0">
                <a:pos x="connsiteX3" y="connsiteY3"/>
              </a:cxn>
            </a:cxnLst>
            <a:rect l="l" t="t" r="r" b="b"/>
            <a:pathLst>
              <a:path w="2012086" h="191574">
                <a:moveTo>
                  <a:pt x="395219" y="0"/>
                </a:moveTo>
                <a:lnTo>
                  <a:pt x="2012086" y="0"/>
                </a:lnTo>
                <a:lnTo>
                  <a:pt x="1865471" y="191574"/>
                </a:lnTo>
                <a:lnTo>
                  <a:pt x="0" y="191574"/>
                </a:lnTo>
                <a:close/>
              </a:path>
            </a:pathLst>
          </a:custGeom>
          <a:solidFill>
            <a:srgbClr val="3368FF">
              <a:alpha val="70000"/>
            </a:srgbClr>
          </a:solidFill>
          <a:ln>
            <a:noFill/>
          </a:ln>
          <a:effectLst/>
          <a:extLs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rtlCol="0" anchor="t"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 name="任意多边形: 形状 304"/>
          <p:cNvSpPr/>
          <p:nvPr/>
        </p:nvSpPr>
        <p:spPr bwMode="invGray">
          <a:xfrm>
            <a:off x="2259330" y="5690235"/>
            <a:ext cx="1978025" cy="191770"/>
          </a:xfrm>
          <a:custGeom>
            <a:avLst/>
            <a:gdLst>
              <a:gd name="connsiteX0" fmla="*/ 153770 w 1931996"/>
              <a:gd name="connsiteY0" fmla="*/ 0 h 191574"/>
              <a:gd name="connsiteX1" fmla="*/ 1931996 w 1931996"/>
              <a:gd name="connsiteY1" fmla="*/ 0 h 191574"/>
              <a:gd name="connsiteX2" fmla="*/ 1854924 w 1931996"/>
              <a:gd name="connsiteY2" fmla="*/ 191574 h 191574"/>
              <a:gd name="connsiteX3" fmla="*/ 0 w 1931996"/>
              <a:gd name="connsiteY3" fmla="*/ 191574 h 191574"/>
            </a:gdLst>
            <a:ahLst/>
            <a:cxnLst>
              <a:cxn ang="0">
                <a:pos x="connsiteX0" y="connsiteY0"/>
              </a:cxn>
              <a:cxn ang="0">
                <a:pos x="connsiteX1" y="connsiteY1"/>
              </a:cxn>
              <a:cxn ang="0">
                <a:pos x="connsiteX2" y="connsiteY2"/>
              </a:cxn>
              <a:cxn ang="0">
                <a:pos x="connsiteX3" y="connsiteY3"/>
              </a:cxn>
            </a:cxnLst>
            <a:rect l="l" t="t" r="r" b="b"/>
            <a:pathLst>
              <a:path w="1931996" h="191574">
                <a:moveTo>
                  <a:pt x="153770" y="0"/>
                </a:moveTo>
                <a:lnTo>
                  <a:pt x="1931996" y="0"/>
                </a:lnTo>
                <a:lnTo>
                  <a:pt x="1854924" y="191574"/>
                </a:lnTo>
                <a:lnTo>
                  <a:pt x="0" y="191574"/>
                </a:lnTo>
                <a:close/>
              </a:path>
            </a:pathLst>
          </a:custGeom>
          <a:solidFill>
            <a:srgbClr val="3368FF">
              <a:alpha val="70000"/>
            </a:srgbClr>
          </a:solidFill>
          <a:ln>
            <a:noFill/>
          </a:ln>
          <a:effectLst/>
          <a:extLs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rtlCol="0" anchor="t"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 name="任意多边形: 形状 300"/>
          <p:cNvSpPr/>
          <p:nvPr/>
        </p:nvSpPr>
        <p:spPr bwMode="invGray">
          <a:xfrm>
            <a:off x="6110605" y="5688965"/>
            <a:ext cx="1885315" cy="193675"/>
          </a:xfrm>
          <a:custGeom>
            <a:avLst/>
            <a:gdLst>
              <a:gd name="connsiteX0" fmla="*/ 201 w 1865797"/>
              <a:gd name="connsiteY0" fmla="*/ 0 h 193479"/>
              <a:gd name="connsiteX1" fmla="*/ 1794094 w 1865797"/>
              <a:gd name="connsiteY1" fmla="*/ 0 h 193479"/>
              <a:gd name="connsiteX2" fmla="*/ 1865797 w 1865797"/>
              <a:gd name="connsiteY2" fmla="*/ 193479 h 193479"/>
              <a:gd name="connsiteX3" fmla="*/ 0 w 1865797"/>
              <a:gd name="connsiteY3" fmla="*/ 191574 h 193479"/>
            </a:gdLst>
            <a:ahLst/>
            <a:cxnLst>
              <a:cxn ang="0">
                <a:pos x="connsiteX0" y="connsiteY0"/>
              </a:cxn>
              <a:cxn ang="0">
                <a:pos x="connsiteX1" y="connsiteY1"/>
              </a:cxn>
              <a:cxn ang="0">
                <a:pos x="connsiteX2" y="connsiteY2"/>
              </a:cxn>
              <a:cxn ang="0">
                <a:pos x="connsiteX3" y="connsiteY3"/>
              </a:cxn>
            </a:cxnLst>
            <a:rect l="l" t="t" r="r" b="b"/>
            <a:pathLst>
              <a:path w="1865797" h="193479">
                <a:moveTo>
                  <a:pt x="201" y="0"/>
                </a:moveTo>
                <a:lnTo>
                  <a:pt x="1794094" y="0"/>
                </a:lnTo>
                <a:lnTo>
                  <a:pt x="1865797" y="193479"/>
                </a:lnTo>
                <a:lnTo>
                  <a:pt x="0" y="191574"/>
                </a:lnTo>
                <a:close/>
              </a:path>
            </a:pathLst>
          </a:custGeom>
          <a:solidFill>
            <a:srgbClr val="3368FF">
              <a:alpha val="70000"/>
            </a:srgbClr>
          </a:solidFill>
          <a:ln>
            <a:noFill/>
          </a:ln>
          <a:effectLst/>
          <a:extLs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rtlCol="0" anchor="t"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 name="任意多边形: 形状 299"/>
          <p:cNvSpPr/>
          <p:nvPr/>
        </p:nvSpPr>
        <p:spPr bwMode="invGray">
          <a:xfrm>
            <a:off x="7961630" y="5688965"/>
            <a:ext cx="1974215" cy="193675"/>
          </a:xfrm>
          <a:custGeom>
            <a:avLst/>
            <a:gdLst>
              <a:gd name="connsiteX0" fmla="*/ 0 w 1934501"/>
              <a:gd name="connsiteY0" fmla="*/ 0 h 193479"/>
              <a:gd name="connsiteX1" fmla="*/ 1780689 w 1934501"/>
              <a:gd name="connsiteY1" fmla="*/ 0 h 193479"/>
              <a:gd name="connsiteX2" fmla="*/ 1934501 w 1934501"/>
              <a:gd name="connsiteY2" fmla="*/ 191574 h 193479"/>
              <a:gd name="connsiteX3" fmla="*/ 71704 w 1934501"/>
              <a:gd name="connsiteY3" fmla="*/ 193479 h 193479"/>
            </a:gdLst>
            <a:ahLst/>
            <a:cxnLst>
              <a:cxn ang="0">
                <a:pos x="connsiteX0" y="connsiteY0"/>
              </a:cxn>
              <a:cxn ang="0">
                <a:pos x="connsiteX1" y="connsiteY1"/>
              </a:cxn>
              <a:cxn ang="0">
                <a:pos x="connsiteX2" y="connsiteY2"/>
              </a:cxn>
              <a:cxn ang="0">
                <a:pos x="connsiteX3" y="connsiteY3"/>
              </a:cxn>
            </a:cxnLst>
            <a:rect l="l" t="t" r="r" b="b"/>
            <a:pathLst>
              <a:path w="1934501" h="193479">
                <a:moveTo>
                  <a:pt x="0" y="0"/>
                </a:moveTo>
                <a:lnTo>
                  <a:pt x="1780689" y="0"/>
                </a:lnTo>
                <a:lnTo>
                  <a:pt x="1934501" y="191574"/>
                </a:lnTo>
                <a:lnTo>
                  <a:pt x="71704" y="193479"/>
                </a:lnTo>
                <a:close/>
              </a:path>
            </a:pathLst>
          </a:custGeom>
          <a:solidFill>
            <a:srgbClr val="3368FF">
              <a:alpha val="70000"/>
            </a:srgbClr>
          </a:solidFill>
          <a:ln>
            <a:noFill/>
          </a:ln>
          <a:effectLst/>
          <a:extLs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rtlCol="0" anchor="t"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9" name="任意多边形: 形状 298"/>
          <p:cNvSpPr/>
          <p:nvPr/>
        </p:nvSpPr>
        <p:spPr bwMode="invGray">
          <a:xfrm>
            <a:off x="9825990" y="5688330"/>
            <a:ext cx="2230755" cy="191770"/>
          </a:xfrm>
          <a:custGeom>
            <a:avLst/>
            <a:gdLst>
              <a:gd name="connsiteX0" fmla="*/ 0 w 2007768"/>
              <a:gd name="connsiteY0" fmla="*/ 0 h 191574"/>
              <a:gd name="connsiteX1" fmla="*/ 1612549 w 2007768"/>
              <a:gd name="connsiteY1" fmla="*/ 0 h 191574"/>
              <a:gd name="connsiteX2" fmla="*/ 2007768 w 2007768"/>
              <a:gd name="connsiteY2" fmla="*/ 191574 h 191574"/>
              <a:gd name="connsiteX3" fmla="*/ 148447 w 2007768"/>
              <a:gd name="connsiteY3" fmla="*/ 191574 h 191574"/>
            </a:gdLst>
            <a:ahLst/>
            <a:cxnLst>
              <a:cxn ang="0">
                <a:pos x="connsiteX0" y="connsiteY0"/>
              </a:cxn>
              <a:cxn ang="0">
                <a:pos x="connsiteX1" y="connsiteY1"/>
              </a:cxn>
              <a:cxn ang="0">
                <a:pos x="connsiteX2" y="connsiteY2"/>
              </a:cxn>
              <a:cxn ang="0">
                <a:pos x="connsiteX3" y="connsiteY3"/>
              </a:cxn>
            </a:cxnLst>
            <a:rect l="l" t="t" r="r" b="b"/>
            <a:pathLst>
              <a:path w="2007768" h="191574">
                <a:moveTo>
                  <a:pt x="0" y="0"/>
                </a:moveTo>
                <a:lnTo>
                  <a:pt x="1612549" y="0"/>
                </a:lnTo>
                <a:lnTo>
                  <a:pt x="2007768" y="191574"/>
                </a:lnTo>
                <a:lnTo>
                  <a:pt x="148447" y="191574"/>
                </a:lnTo>
                <a:close/>
              </a:path>
            </a:pathLst>
          </a:custGeom>
          <a:solidFill>
            <a:srgbClr val="B3D4FE">
              <a:alpha val="70000"/>
            </a:srgbClr>
          </a:soli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latin typeface="微软雅黑"/>
              <a:ea typeface="微软雅黑"/>
              <a:cs typeface="微软雅黑"/>
              <a:sym typeface="微软雅黑"/>
            </a:endParaRPr>
          </a:p>
        </p:txBody>
      </p:sp>
      <p:sp>
        <p:nvSpPr>
          <p:cNvPr id="22" name="矩形 21"/>
          <p:cNvSpPr/>
          <p:nvPr/>
        </p:nvSpPr>
        <p:spPr>
          <a:xfrm>
            <a:off x="563245" y="3416300"/>
            <a:ext cx="1824990" cy="2256790"/>
          </a:xfrm>
          <a:prstGeom prst="rect">
            <a:avLst/>
          </a:prstGeom>
          <a:solidFill>
            <a:srgbClr val="E6E6E6">
              <a:alpha val="40000"/>
            </a:srgbClr>
          </a:solidFill>
          <a:ln w="12700" cap="flat" cmpd="sng" algn="ctr">
            <a:solidFill>
              <a:srgbClr val="FFFF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3" name="矩形 22"/>
          <p:cNvSpPr/>
          <p:nvPr/>
        </p:nvSpPr>
        <p:spPr>
          <a:xfrm>
            <a:off x="2413000" y="3416300"/>
            <a:ext cx="1824990" cy="2256790"/>
          </a:xfrm>
          <a:prstGeom prst="rect">
            <a:avLst/>
          </a:prstGeom>
          <a:solidFill>
            <a:srgbClr val="E6E6E6">
              <a:alpha val="40000"/>
            </a:srgbClr>
          </a:solidFill>
          <a:ln w="12700" cap="flat" cmpd="sng" algn="ctr">
            <a:solidFill>
              <a:srgbClr val="FFFF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4" name="矩形 23"/>
          <p:cNvSpPr/>
          <p:nvPr/>
        </p:nvSpPr>
        <p:spPr>
          <a:xfrm>
            <a:off x="4262755" y="3416300"/>
            <a:ext cx="1824990" cy="2256790"/>
          </a:xfrm>
          <a:prstGeom prst="rect">
            <a:avLst/>
          </a:prstGeom>
          <a:solidFill>
            <a:srgbClr val="E6E6E6">
              <a:alpha val="40000"/>
            </a:srgbClr>
          </a:solidFill>
          <a:ln w="12700" cap="flat" cmpd="sng" algn="ctr">
            <a:solidFill>
              <a:srgbClr val="FFFF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5" name="矩形 24"/>
          <p:cNvSpPr/>
          <p:nvPr/>
        </p:nvSpPr>
        <p:spPr>
          <a:xfrm>
            <a:off x="6112510" y="3416300"/>
            <a:ext cx="1824990" cy="2256790"/>
          </a:xfrm>
          <a:prstGeom prst="rect">
            <a:avLst/>
          </a:prstGeom>
          <a:solidFill>
            <a:srgbClr val="E6E6E6">
              <a:alpha val="40000"/>
            </a:srgbClr>
          </a:solidFill>
          <a:ln w="12700" cap="flat" cmpd="sng" algn="ctr">
            <a:solidFill>
              <a:srgbClr val="FFFF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6" name="矩形 25"/>
          <p:cNvSpPr/>
          <p:nvPr/>
        </p:nvSpPr>
        <p:spPr>
          <a:xfrm>
            <a:off x="7962265" y="3416300"/>
            <a:ext cx="1824990" cy="2256790"/>
          </a:xfrm>
          <a:prstGeom prst="rect">
            <a:avLst/>
          </a:prstGeom>
          <a:solidFill>
            <a:srgbClr val="E6E6E6">
              <a:alpha val="40000"/>
            </a:srgbClr>
          </a:solidFill>
          <a:ln w="12700" cap="flat" cmpd="sng" algn="ctr">
            <a:solidFill>
              <a:srgbClr val="FFFF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7" name="矩形 26"/>
          <p:cNvSpPr/>
          <p:nvPr/>
        </p:nvSpPr>
        <p:spPr>
          <a:xfrm>
            <a:off x="9811385" y="3416300"/>
            <a:ext cx="1824990" cy="2256790"/>
          </a:xfrm>
          <a:prstGeom prst="rect">
            <a:avLst/>
          </a:prstGeom>
          <a:solidFill>
            <a:srgbClr val="FFFFFF">
              <a:alpha val="40000"/>
            </a:srgbClr>
          </a:solidFill>
          <a:ln w="12700" cap="flat" cmpd="sng" algn="ctr">
            <a:solidFill>
              <a:srgbClr val="FFFF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8" name="矩形 27"/>
          <p:cNvSpPr/>
          <p:nvPr/>
        </p:nvSpPr>
        <p:spPr>
          <a:xfrm>
            <a:off x="542925" y="2479040"/>
            <a:ext cx="1953895" cy="960120"/>
          </a:xfrm>
          <a:prstGeom prst="rect">
            <a:avLst/>
          </a:prstGeom>
          <a:gradFill flip="none" rotWithShape="1">
            <a:gsLst>
              <a:gs pos="23000">
                <a:srgbClr val="0042FF"/>
              </a:gs>
              <a:gs pos="100000">
                <a:srgbClr val="3368FF"/>
              </a:gs>
            </a:gsLst>
            <a:lin ang="270000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29" name="矩形 28"/>
          <p:cNvSpPr/>
          <p:nvPr/>
        </p:nvSpPr>
        <p:spPr bwMode="invGray">
          <a:xfrm>
            <a:off x="2375535" y="2468880"/>
            <a:ext cx="1886585" cy="960120"/>
          </a:xfrm>
          <a:prstGeom prst="rect">
            <a:avLst/>
          </a:prstGeom>
          <a:gradFill flip="none" rotWithShape="1">
            <a:gsLst>
              <a:gs pos="23000">
                <a:srgbClr val="0042FF"/>
              </a:gs>
              <a:gs pos="100000">
                <a:srgbClr val="3368FF"/>
              </a:gs>
            </a:gsLst>
            <a:lin ang="270000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30" name="矩形 29"/>
          <p:cNvSpPr/>
          <p:nvPr/>
        </p:nvSpPr>
        <p:spPr bwMode="invGray">
          <a:xfrm>
            <a:off x="4225925" y="2468880"/>
            <a:ext cx="1887855" cy="960120"/>
          </a:xfrm>
          <a:prstGeom prst="rect">
            <a:avLst/>
          </a:prstGeom>
          <a:gradFill flip="none" rotWithShape="1">
            <a:gsLst>
              <a:gs pos="23000">
                <a:srgbClr val="0042FF"/>
              </a:gs>
              <a:gs pos="100000">
                <a:srgbClr val="3368FF"/>
              </a:gs>
            </a:gsLst>
            <a:lin ang="270000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31" name="矩形 30"/>
          <p:cNvSpPr/>
          <p:nvPr/>
        </p:nvSpPr>
        <p:spPr bwMode="invGray">
          <a:xfrm>
            <a:off x="6096000" y="2468880"/>
            <a:ext cx="1865630" cy="960120"/>
          </a:xfrm>
          <a:prstGeom prst="rect">
            <a:avLst/>
          </a:prstGeom>
          <a:gradFill flip="none" rotWithShape="1">
            <a:gsLst>
              <a:gs pos="23000">
                <a:srgbClr val="0042FF"/>
              </a:gs>
              <a:gs pos="100000">
                <a:srgbClr val="3368FF"/>
              </a:gs>
            </a:gsLst>
            <a:lin ang="270000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32" name="矩形 31"/>
          <p:cNvSpPr/>
          <p:nvPr/>
        </p:nvSpPr>
        <p:spPr bwMode="invGray">
          <a:xfrm>
            <a:off x="7932420" y="2468880"/>
            <a:ext cx="1878965" cy="960120"/>
          </a:xfrm>
          <a:prstGeom prst="rect">
            <a:avLst/>
          </a:prstGeom>
          <a:gradFill flip="none" rotWithShape="1">
            <a:gsLst>
              <a:gs pos="23000">
                <a:srgbClr val="0042FF"/>
              </a:gs>
              <a:gs pos="100000">
                <a:srgbClr val="3368FF"/>
              </a:gs>
            </a:gsLst>
            <a:lin ang="270000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33" name="矩形 32"/>
          <p:cNvSpPr/>
          <p:nvPr/>
        </p:nvSpPr>
        <p:spPr>
          <a:xfrm>
            <a:off x="9803765" y="2468880"/>
            <a:ext cx="1845945" cy="960120"/>
          </a:xfrm>
          <a:prstGeom prst="rect">
            <a:avLst/>
          </a:prstGeom>
          <a:gradFill flip="none" rotWithShape="1">
            <a:gsLst>
              <a:gs pos="23000">
                <a:srgbClr val="3368FF"/>
              </a:gs>
              <a:gs pos="100000">
                <a:srgbClr val="668EFF"/>
              </a:gs>
            </a:gsLst>
            <a:path path="circle">
              <a:fillToRect l="100000" t="100000"/>
            </a:path>
            <a:tileRect r="-100000" b="-10000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4" name="任意多边形: 形状 231"/>
          <p:cNvSpPr/>
          <p:nvPr/>
        </p:nvSpPr>
        <p:spPr bwMode="invGray">
          <a:xfrm>
            <a:off x="563245" y="1470025"/>
            <a:ext cx="4614545" cy="1016000"/>
          </a:xfrm>
          <a:custGeom>
            <a:avLst/>
            <a:gdLst>
              <a:gd name="connsiteX0" fmla="*/ 4366887 w 4711646"/>
              <a:gd name="connsiteY0" fmla="*/ 0 h 1015788"/>
              <a:gd name="connsiteX1" fmla="*/ 4711646 w 4711646"/>
              <a:gd name="connsiteY1" fmla="*/ 0 h 1015788"/>
              <a:gd name="connsiteX2" fmla="*/ 1851459 w 4711646"/>
              <a:gd name="connsiteY2" fmla="*/ 1001689 h 1015788"/>
              <a:gd name="connsiteX3" fmla="*/ 0 w 4711646"/>
              <a:gd name="connsiteY3" fmla="*/ 1015788 h 1015788"/>
              <a:gd name="connsiteX4" fmla="*/ 0 w 4711646"/>
              <a:gd name="connsiteY4" fmla="*/ 1001071 h 1015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1646" h="1015788">
                <a:moveTo>
                  <a:pt x="4366887" y="0"/>
                </a:moveTo>
                <a:lnTo>
                  <a:pt x="4711646" y="0"/>
                </a:lnTo>
                <a:lnTo>
                  <a:pt x="1851459" y="1001689"/>
                </a:lnTo>
                <a:lnTo>
                  <a:pt x="0" y="1015788"/>
                </a:lnTo>
                <a:lnTo>
                  <a:pt x="0" y="1001071"/>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35" name="任意多边形: 形状 175"/>
          <p:cNvSpPr/>
          <p:nvPr/>
        </p:nvSpPr>
        <p:spPr bwMode="invGray">
          <a:xfrm>
            <a:off x="2420620" y="1470025"/>
            <a:ext cx="3218180" cy="998855"/>
          </a:xfrm>
          <a:custGeom>
            <a:avLst/>
            <a:gdLst>
              <a:gd name="connsiteX0" fmla="*/ 2883053 w 3276378"/>
              <a:gd name="connsiteY0" fmla="*/ 0 h 999149"/>
              <a:gd name="connsiteX1" fmla="*/ 3276378 w 3276378"/>
              <a:gd name="connsiteY1" fmla="*/ 0 h 999149"/>
              <a:gd name="connsiteX2" fmla="*/ 1844317 w 3276378"/>
              <a:gd name="connsiteY2" fmla="*/ 999149 h 999149"/>
              <a:gd name="connsiteX3" fmla="*/ 0 w 3276378"/>
              <a:gd name="connsiteY3" fmla="*/ 999149 h 999149"/>
              <a:gd name="connsiteX4" fmla="*/ 2883053 w 3276378"/>
              <a:gd name="connsiteY4" fmla="*/ 0 h 999149"/>
              <a:gd name="connsiteX0-1" fmla="*/ 2892578 w 3285903"/>
              <a:gd name="connsiteY0-2" fmla="*/ 0 h 999149"/>
              <a:gd name="connsiteX1-3" fmla="*/ 3285903 w 3285903"/>
              <a:gd name="connsiteY1-4" fmla="*/ 0 h 999149"/>
              <a:gd name="connsiteX2-5" fmla="*/ 1853842 w 3285903"/>
              <a:gd name="connsiteY2-6" fmla="*/ 999149 h 999149"/>
              <a:gd name="connsiteX3-7" fmla="*/ 0 w 3285903"/>
              <a:gd name="connsiteY3-8" fmla="*/ 999149 h 999149"/>
              <a:gd name="connsiteX4-9" fmla="*/ 2892578 w 3285903"/>
              <a:gd name="connsiteY4-10" fmla="*/ 0 h 99914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285903" h="999149">
                <a:moveTo>
                  <a:pt x="2892578" y="0"/>
                </a:moveTo>
                <a:lnTo>
                  <a:pt x="3285903" y="0"/>
                </a:lnTo>
                <a:lnTo>
                  <a:pt x="1853842" y="999149"/>
                </a:lnTo>
                <a:lnTo>
                  <a:pt x="0" y="999149"/>
                </a:lnTo>
                <a:lnTo>
                  <a:pt x="2892578" y="0"/>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cs typeface="微软雅黑"/>
              <a:sym typeface="微软雅黑"/>
              <a:ea typeface="微软雅黑"/>
            </a:endParaRPr>
          </a:p>
        </p:txBody>
      </p:sp>
      <p:sp>
        <p:nvSpPr>
          <p:cNvPr id="36" name="任意多边形: 形状 174"/>
          <p:cNvSpPr/>
          <p:nvPr/>
        </p:nvSpPr>
        <p:spPr bwMode="invGray">
          <a:xfrm>
            <a:off x="4258310" y="1470025"/>
            <a:ext cx="1827530" cy="1001395"/>
          </a:xfrm>
          <a:custGeom>
            <a:avLst/>
            <a:gdLst>
              <a:gd name="connsiteX0" fmla="*/ 1432070 w 1848407"/>
              <a:gd name="connsiteY0" fmla="*/ 0 h 999149"/>
              <a:gd name="connsiteX1" fmla="*/ 1848407 w 1848407"/>
              <a:gd name="connsiteY1" fmla="*/ 0 h 999149"/>
              <a:gd name="connsiteX2" fmla="*/ 1847356 w 1848407"/>
              <a:gd name="connsiteY2" fmla="*/ 999149 h 999149"/>
              <a:gd name="connsiteX3" fmla="*/ 0 w 1848407"/>
              <a:gd name="connsiteY3" fmla="*/ 999149 h 999149"/>
              <a:gd name="connsiteX4" fmla="*/ 1432070 w 1848407"/>
              <a:gd name="connsiteY4" fmla="*/ 0 h 999149"/>
              <a:gd name="connsiteX0-1" fmla="*/ 1442230 w 1858567"/>
              <a:gd name="connsiteY0-2" fmla="*/ 0 h 1001689"/>
              <a:gd name="connsiteX1-3" fmla="*/ 1858567 w 1858567"/>
              <a:gd name="connsiteY1-4" fmla="*/ 0 h 1001689"/>
              <a:gd name="connsiteX2-5" fmla="*/ 1857516 w 1858567"/>
              <a:gd name="connsiteY2-6" fmla="*/ 999149 h 1001689"/>
              <a:gd name="connsiteX3-7" fmla="*/ 0 w 1858567"/>
              <a:gd name="connsiteY3-8" fmla="*/ 1001689 h 1001689"/>
              <a:gd name="connsiteX4-9" fmla="*/ 1442230 w 1858567"/>
              <a:gd name="connsiteY4-10" fmla="*/ 0 h 100168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858567" h="1001689">
                <a:moveTo>
                  <a:pt x="1442230" y="0"/>
                </a:moveTo>
                <a:lnTo>
                  <a:pt x="1858567" y="0"/>
                </a:lnTo>
                <a:cubicBezTo>
                  <a:pt x="1858217" y="333050"/>
                  <a:pt x="1857866" y="666099"/>
                  <a:pt x="1857516" y="999149"/>
                </a:cubicBezTo>
                <a:lnTo>
                  <a:pt x="0" y="1001689"/>
                </a:lnTo>
                <a:lnTo>
                  <a:pt x="1442230" y="0"/>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cs typeface="微软雅黑"/>
              <a:sym typeface="微软雅黑"/>
              <a:ea typeface="微软雅黑"/>
            </a:endParaRPr>
          </a:p>
        </p:txBody>
      </p:sp>
      <p:sp>
        <p:nvSpPr>
          <p:cNvPr id="37" name="任意多边形: 形状 173"/>
          <p:cNvSpPr/>
          <p:nvPr/>
        </p:nvSpPr>
        <p:spPr bwMode="invGray">
          <a:xfrm>
            <a:off x="6113780" y="1470025"/>
            <a:ext cx="1818640" cy="998855"/>
          </a:xfrm>
          <a:custGeom>
            <a:avLst/>
            <a:gdLst>
              <a:gd name="connsiteX0" fmla="*/ 1051 w 1849948"/>
              <a:gd name="connsiteY0" fmla="*/ 0 h 999149"/>
              <a:gd name="connsiteX1" fmla="*/ 415559 w 1849948"/>
              <a:gd name="connsiteY1" fmla="*/ 0 h 999149"/>
              <a:gd name="connsiteX2" fmla="*/ 1849948 w 1849948"/>
              <a:gd name="connsiteY2" fmla="*/ 999149 h 999149"/>
              <a:gd name="connsiteX3" fmla="*/ 0 w 1849948"/>
              <a:gd name="connsiteY3" fmla="*/ 999149 h 999149"/>
              <a:gd name="connsiteX4" fmla="*/ 1051 w 1849948"/>
              <a:gd name="connsiteY4" fmla="*/ 0 h 999149"/>
              <a:gd name="connsiteX0-1" fmla="*/ 1051 w 1862648"/>
              <a:gd name="connsiteY0-2" fmla="*/ 0 h 999149"/>
              <a:gd name="connsiteX1-3" fmla="*/ 415559 w 1862648"/>
              <a:gd name="connsiteY1-4" fmla="*/ 0 h 999149"/>
              <a:gd name="connsiteX2-5" fmla="*/ 1862648 w 1862648"/>
              <a:gd name="connsiteY2-6" fmla="*/ 999149 h 999149"/>
              <a:gd name="connsiteX3-7" fmla="*/ 0 w 1862648"/>
              <a:gd name="connsiteY3-8" fmla="*/ 999149 h 999149"/>
              <a:gd name="connsiteX4-9" fmla="*/ 1051 w 1862648"/>
              <a:gd name="connsiteY4-10" fmla="*/ 0 h 99914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862648" h="999149">
                <a:moveTo>
                  <a:pt x="1051" y="0"/>
                </a:moveTo>
                <a:lnTo>
                  <a:pt x="415559" y="0"/>
                </a:lnTo>
                <a:lnTo>
                  <a:pt x="1862648" y="999149"/>
                </a:lnTo>
                <a:lnTo>
                  <a:pt x="0" y="999149"/>
                </a:lnTo>
                <a:cubicBezTo>
                  <a:pt x="350" y="666099"/>
                  <a:pt x="701" y="333050"/>
                  <a:pt x="1051" y="0"/>
                </a:cubicBez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cs typeface="微软雅黑"/>
              <a:sym typeface="微软雅黑"/>
              <a:ea typeface="微软雅黑"/>
            </a:endParaRPr>
          </a:p>
        </p:txBody>
      </p:sp>
      <p:sp>
        <p:nvSpPr>
          <p:cNvPr id="38" name="任意多边形: 形状 233"/>
          <p:cNvSpPr/>
          <p:nvPr/>
        </p:nvSpPr>
        <p:spPr bwMode="invGray">
          <a:xfrm>
            <a:off x="6564630" y="1470025"/>
            <a:ext cx="3221990" cy="1004570"/>
          </a:xfrm>
          <a:custGeom>
            <a:avLst/>
            <a:gdLst>
              <a:gd name="connsiteX0" fmla="*/ 0 w 3289483"/>
              <a:gd name="connsiteY0" fmla="*/ 0 h 1004830"/>
              <a:gd name="connsiteX1" fmla="*/ 385153 w 3289483"/>
              <a:gd name="connsiteY1" fmla="*/ 0 h 1004830"/>
              <a:gd name="connsiteX2" fmla="*/ 3289483 w 3289483"/>
              <a:gd name="connsiteY2" fmla="*/ 1000976 h 1004830"/>
              <a:gd name="connsiteX3" fmla="*/ 3289483 w 3289483"/>
              <a:gd name="connsiteY3" fmla="*/ 1004830 h 1004830"/>
              <a:gd name="connsiteX4" fmla="*/ 1434403 w 3289483"/>
              <a:gd name="connsiteY4" fmla="*/ 999149 h 1004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9483" h="1004830">
                <a:moveTo>
                  <a:pt x="0" y="0"/>
                </a:moveTo>
                <a:lnTo>
                  <a:pt x="385153" y="0"/>
                </a:lnTo>
                <a:lnTo>
                  <a:pt x="3289483" y="1000976"/>
                </a:lnTo>
                <a:lnTo>
                  <a:pt x="3289483" y="1004830"/>
                </a:lnTo>
                <a:lnTo>
                  <a:pt x="1434403" y="999149"/>
                </a:lnTo>
                <a:close/>
              </a:path>
            </a:pathLst>
          </a:custGeom>
          <a:gradFill>
            <a:gsLst>
              <a:gs pos="33000">
                <a:srgbClr val="0042FF">
                  <a:alpha val="62000"/>
                </a:srgbClr>
              </a:gs>
              <a:gs pos="0">
                <a:srgbClr val="0042FF">
                  <a:alpha val="0"/>
                </a:srgbClr>
              </a:gs>
              <a:gs pos="80000">
                <a:srgbClr val="0042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cs typeface="微软雅黑"/>
              <a:sym typeface="微软雅黑"/>
              <a:ea typeface="微软雅黑"/>
            </a:endParaRPr>
          </a:p>
        </p:txBody>
      </p:sp>
      <p:sp>
        <p:nvSpPr>
          <p:cNvPr id="39" name="任意多边形: 形状 235"/>
          <p:cNvSpPr/>
          <p:nvPr/>
        </p:nvSpPr>
        <p:spPr bwMode="invGray">
          <a:xfrm>
            <a:off x="7017385" y="1470025"/>
            <a:ext cx="4622800" cy="1000125"/>
          </a:xfrm>
          <a:custGeom>
            <a:avLst/>
            <a:gdLst>
              <a:gd name="connsiteX0" fmla="*/ 0 w 4716450"/>
              <a:gd name="connsiteY0" fmla="*/ 0 h 1010362"/>
              <a:gd name="connsiteX1" fmla="*/ 349563 w 4716450"/>
              <a:gd name="connsiteY1" fmla="*/ 0 h 1010362"/>
              <a:gd name="connsiteX2" fmla="*/ 4716450 w 4716450"/>
              <a:gd name="connsiteY2" fmla="*/ 1002332 h 1010362"/>
              <a:gd name="connsiteX3" fmla="*/ 4716450 w 4716450"/>
              <a:gd name="connsiteY3" fmla="*/ 1010362 h 1010362"/>
              <a:gd name="connsiteX4" fmla="*/ 2858464 w 4716450"/>
              <a:gd name="connsiteY4" fmla="*/ 999149 h 1010362"/>
              <a:gd name="connsiteX0-1" fmla="*/ 0 w 4737405"/>
              <a:gd name="connsiteY0-2" fmla="*/ 0 h 1006552"/>
              <a:gd name="connsiteX1-3" fmla="*/ 349563 w 4737405"/>
              <a:gd name="connsiteY1-4" fmla="*/ 0 h 1006552"/>
              <a:gd name="connsiteX2-5" fmla="*/ 4716450 w 4737405"/>
              <a:gd name="connsiteY2-6" fmla="*/ 1002332 h 1006552"/>
              <a:gd name="connsiteX3-7" fmla="*/ 4737405 w 4737405"/>
              <a:gd name="connsiteY3-8" fmla="*/ 1006552 h 1006552"/>
              <a:gd name="connsiteX4-9" fmla="*/ 2858464 w 4737405"/>
              <a:gd name="connsiteY4-10" fmla="*/ 999149 h 1006552"/>
              <a:gd name="connsiteX5" fmla="*/ 0 w 4737405"/>
              <a:gd name="connsiteY5" fmla="*/ 0 h 1006552"/>
              <a:gd name="connsiteX0-11" fmla="*/ 0 w 4716450"/>
              <a:gd name="connsiteY0-12" fmla="*/ 0 h 1002332"/>
              <a:gd name="connsiteX1-13" fmla="*/ 349563 w 4716450"/>
              <a:gd name="connsiteY1-14" fmla="*/ 0 h 1002332"/>
              <a:gd name="connsiteX2-15" fmla="*/ 4716450 w 4716450"/>
              <a:gd name="connsiteY2-16" fmla="*/ 1002332 h 1002332"/>
              <a:gd name="connsiteX3-17" fmla="*/ 2858464 w 4716450"/>
              <a:gd name="connsiteY3-18" fmla="*/ 999149 h 1002332"/>
              <a:gd name="connsiteX4-19" fmla="*/ 0 w 4716450"/>
              <a:gd name="connsiteY4-20" fmla="*/ 0 h 1002332"/>
              <a:gd name="connsiteX0-21" fmla="*/ 0 w 4720260"/>
              <a:gd name="connsiteY0-22" fmla="*/ 0 h 1000427"/>
              <a:gd name="connsiteX1-23" fmla="*/ 349563 w 4720260"/>
              <a:gd name="connsiteY1-24" fmla="*/ 0 h 1000427"/>
              <a:gd name="connsiteX2-25" fmla="*/ 4720260 w 4720260"/>
              <a:gd name="connsiteY2-26" fmla="*/ 1000427 h 1000427"/>
              <a:gd name="connsiteX3-27" fmla="*/ 2858464 w 4720260"/>
              <a:gd name="connsiteY3-28" fmla="*/ 999149 h 1000427"/>
              <a:gd name="connsiteX4-29" fmla="*/ 0 w 4720260"/>
              <a:gd name="connsiteY4-30" fmla="*/ 0 h 100042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720260" h="1000427">
                <a:moveTo>
                  <a:pt x="0" y="0"/>
                </a:moveTo>
                <a:lnTo>
                  <a:pt x="349563" y="0"/>
                </a:lnTo>
                <a:lnTo>
                  <a:pt x="4720260" y="1000427"/>
                </a:lnTo>
                <a:lnTo>
                  <a:pt x="2858464" y="999149"/>
                </a:lnTo>
                <a:lnTo>
                  <a:pt x="0" y="0"/>
                </a:lnTo>
                <a:close/>
              </a:path>
            </a:pathLst>
          </a:custGeom>
          <a:gradFill>
            <a:gsLst>
              <a:gs pos="33000">
                <a:srgbClr val="3368FF">
                  <a:alpha val="62000"/>
                </a:srgbClr>
              </a:gs>
              <a:gs pos="0">
                <a:srgbClr val="3368FF">
                  <a:alpha val="0"/>
                </a:srgbClr>
              </a:gs>
              <a:gs pos="8000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40" name="矩形 39"/>
          <p:cNvSpPr/>
          <p:nvPr/>
        </p:nvSpPr>
        <p:spPr bwMode="invGray">
          <a:xfrm>
            <a:off x="130175" y="5880100"/>
            <a:ext cx="2096770" cy="624840"/>
          </a:xfrm>
          <a:prstGeom prst="rect">
            <a:avLst/>
          </a:prstGeom>
          <a:solidFill>
            <a:srgbClr val="3368FF"/>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41" name="矩形 40"/>
          <p:cNvSpPr/>
          <p:nvPr/>
        </p:nvSpPr>
        <p:spPr bwMode="invGray">
          <a:xfrm>
            <a:off x="2259965" y="5880100"/>
            <a:ext cx="1903730" cy="624840"/>
          </a:xfrm>
          <a:prstGeom prst="rect">
            <a:avLst/>
          </a:prstGeom>
          <a:solidFill>
            <a:srgbClr val="3368FF"/>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42" name="矩形 41"/>
          <p:cNvSpPr/>
          <p:nvPr/>
        </p:nvSpPr>
        <p:spPr bwMode="invGray">
          <a:xfrm>
            <a:off x="8030210" y="5880100"/>
            <a:ext cx="1915795" cy="624840"/>
          </a:xfrm>
          <a:prstGeom prst="rect">
            <a:avLst/>
          </a:prstGeom>
          <a:solidFill>
            <a:srgbClr val="3368FF"/>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43" name="矩形 42"/>
          <p:cNvSpPr/>
          <p:nvPr/>
        </p:nvSpPr>
        <p:spPr bwMode="invGray">
          <a:xfrm>
            <a:off x="9996805" y="5879465"/>
            <a:ext cx="2044065" cy="624840"/>
          </a:xfrm>
          <a:prstGeom prst="rect">
            <a:avLst/>
          </a:prstGeom>
          <a:solidFill>
            <a:srgbClr val="B3D4FE"/>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dirty="0">
              <a:latin typeface="微软雅黑"/>
              <a:ea typeface="微软雅黑"/>
              <a:cs typeface="微软雅黑"/>
              <a:sym typeface="微软雅黑"/>
            </a:endParaRPr>
          </a:p>
        </p:txBody>
      </p:sp>
      <p:sp>
        <p:nvSpPr>
          <p:cNvPr id="75" name="文本框 74"/>
          <p:cNvSpPr txBox="1"/>
          <p:nvPr/>
        </p:nvSpPr>
        <p:spPr>
          <a:xfrm>
            <a:off x="427355" y="5992495"/>
            <a:ext cx="1501775" cy="398780"/>
          </a:xfrm>
          <a:prstGeom prst="rect">
            <a:avLst/>
          </a:prstGeom>
          <a:noFill/>
        </p:spPr>
        <p:txBody>
          <a:bodyPr wrap="square"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提升华南市场份额</a:t>
            </a:r>
            <a:endParaRPr lang="zh-CN" altLang="en-US" sz="10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至</a:t>
            </a:r>
            <a:r>
              <a:rPr lang="en-US" altLang="zh-CN" sz="1000" dirty="0">
                <a:solidFill>
                  <a:srgbClr val="FFFFFF"/>
                </a:solidFill>
                <a:latin typeface="微软雅黑"/>
                <a:ea typeface="微软雅黑"/>
                <a:cs typeface="微软雅黑"/>
              </a:rPr>
              <a:t>25%</a:t>
            </a:r>
            <a:endParaRPr lang="en-US" altLang="zh-CN" sz="1000" dirty="0">
              <a:solidFill>
                <a:srgbClr val="FFFFFF"/>
              </a:solidFill>
              <a:latin typeface="微软雅黑"/>
              <a:ea typeface="微软雅黑"/>
              <a:cs typeface="微软雅黑"/>
            </a:endParaRPr>
          </a:p>
        </p:txBody>
      </p:sp>
      <p:sp>
        <p:nvSpPr>
          <p:cNvPr id="76" name="文本框 75"/>
          <p:cNvSpPr txBox="1"/>
          <p:nvPr/>
        </p:nvSpPr>
        <p:spPr>
          <a:xfrm>
            <a:off x="2420620" y="5992495"/>
            <a:ext cx="1668145" cy="398780"/>
          </a:xfrm>
          <a:prstGeom prst="rect">
            <a:avLst/>
          </a:prstGeom>
          <a:noFill/>
        </p:spPr>
        <p:txBody>
          <a:bodyPr wrap="square"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选择</a:t>
            </a:r>
            <a:r>
              <a:rPr lang="en-US" altLang="zh-CN" sz="1000" dirty="0">
                <a:solidFill>
                  <a:srgbClr val="FFFFFF"/>
                </a:solidFill>
                <a:latin typeface="微软雅黑"/>
                <a:ea typeface="微软雅黑"/>
                <a:cs typeface="微软雅黑"/>
              </a:rPr>
              <a:t>3-5</a:t>
            </a:r>
            <a:r>
              <a:rPr lang="zh-CN" altLang="en-US" sz="1000" dirty="0">
                <a:solidFill>
                  <a:srgbClr val="FFFFFF"/>
                </a:solidFill>
                <a:latin typeface="微软雅黑"/>
                <a:ea typeface="微软雅黑"/>
                <a:cs typeface="微软雅黑"/>
              </a:rPr>
              <a:t>个核心指标，每月进行</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指标健康度诊断</a:t>
            </a:r>
            <a:r>
              <a:rPr lang="en-US" altLang="zh-CN" sz="1000" dirty="0">
                <a:solidFill>
                  <a:srgbClr val="FFFFFF"/>
                </a:solidFill>
                <a:latin typeface="微软雅黑"/>
                <a:ea typeface="微软雅黑"/>
                <a:cs typeface="微软雅黑"/>
              </a:rPr>
              <a:t>”</a:t>
            </a:r>
            <a:endParaRPr lang="en-US" altLang="zh-CN" sz="1000" dirty="0">
              <a:solidFill>
                <a:srgbClr val="FFFFFF"/>
              </a:solidFill>
              <a:latin typeface="微软雅黑"/>
              <a:ea typeface="微软雅黑"/>
              <a:cs typeface="微软雅黑"/>
            </a:endParaRPr>
          </a:p>
        </p:txBody>
      </p:sp>
      <p:sp>
        <p:nvSpPr>
          <p:cNvPr id="77" name="文本框 76"/>
          <p:cNvSpPr txBox="1"/>
          <p:nvPr/>
        </p:nvSpPr>
        <p:spPr>
          <a:xfrm>
            <a:off x="8260080" y="5992495"/>
            <a:ext cx="1501775" cy="398780"/>
          </a:xfrm>
          <a:prstGeom prst="rect">
            <a:avLst/>
          </a:prstGeom>
          <a:noFill/>
        </p:spPr>
        <p:txBody>
          <a:bodyPr wrap="square" lIns="0" rIns="0" tIns="0" bIns="0">
            <a:spAutoFit/>
          </a:bodyPr>
          <a:lstStyle/>
          <a:p>
            <a:pPr algn="ctr">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rPr>
              <a:t>利用</a:t>
            </a:r>
            <a:r>
              <a:rPr lang="en-US" altLang="zh-CN" sz="1000" dirty="0">
                <a:solidFill>
                  <a:srgbClr val="FFFFFF"/>
                </a:solidFill>
                <a:latin typeface="微软雅黑"/>
                <a:ea typeface="微软雅黑"/>
                <a:cs typeface="微软雅黑"/>
              </a:rPr>
              <a:t>PowerBI</a:t>
            </a:r>
            <a:r>
              <a:rPr lang="zh-CN" altLang="en-US" sz="1000" dirty="0">
                <a:solidFill>
                  <a:srgbClr val="FFFFFF"/>
                </a:solidFill>
                <a:latin typeface="微软雅黑"/>
                <a:ea typeface="微软雅黑"/>
                <a:cs typeface="微软雅黑"/>
              </a:rPr>
              <a:t>等报表工具，建立敏捷管理框架</a:t>
            </a:r>
            <a:endParaRPr lang="zh-CN" altLang="en-US" sz="1000" dirty="0">
              <a:solidFill>
                <a:srgbClr val="FFFFFF"/>
              </a:solidFill>
              <a:latin typeface="微软雅黑"/>
              <a:ea typeface="微软雅黑"/>
              <a:cs typeface="微软雅黑"/>
            </a:endParaRPr>
          </a:p>
        </p:txBody>
      </p:sp>
      <p:sp>
        <p:nvSpPr>
          <p:cNvPr id="78" name="文本框 77"/>
          <p:cNvSpPr txBox="1"/>
          <p:nvPr/>
        </p:nvSpPr>
        <p:spPr>
          <a:xfrm>
            <a:off x="10113010" y="5992495"/>
            <a:ext cx="1626235" cy="398780"/>
          </a:xfrm>
          <a:prstGeom prst="rect">
            <a:avLst/>
          </a:prstGeom>
          <a:noFill/>
        </p:spPr>
        <p:txBody>
          <a:bodyPr wrap="squar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长期价值，构建持续进化的销售运营体系</a:t>
            </a:r>
            <a:endParaRPr lang="zh-CN" altLang="en-US" sz="1000" dirty="0">
              <a:solidFill>
                <a:srgbClr val="383838"/>
              </a:solidFill>
              <a:latin typeface="微软雅黑"/>
              <a:ea typeface="微软雅黑"/>
              <a:cs typeface="微软雅黑"/>
            </a:endParaRPr>
          </a:p>
        </p:txBody>
      </p:sp>
      <p:sp>
        <p:nvSpPr>
          <p:cNvPr id="79" name="Oval 13"/>
          <p:cNvSpPr>
            <a:spLocks noChangeArrowheads="1"/>
          </p:cNvSpPr>
          <p:nvPr>
            <p:custDataLst>
              <p:tags r:id="rId3"/>
            </p:custDataLst>
          </p:nvPr>
        </p:nvSpPr>
        <p:spPr bwMode="invGray">
          <a:xfrm>
            <a:off x="4682490" y="1067435"/>
            <a:ext cx="2699385" cy="798195"/>
          </a:xfrm>
          <a:prstGeom prst="ellipse">
            <a:avLst/>
          </a:prstGeom>
          <a:solidFill>
            <a:srgbClr val="FFFFFF"/>
          </a:solidFill>
          <a:ln w="12700">
            <a:gradFill>
              <a:gsLst>
                <a:gs pos="100000">
                  <a:srgbClr val="0042FF"/>
                </a:gs>
                <a:gs pos="0">
                  <a:srgbClr val="3368FF"/>
                </a:gs>
              </a:gsLst>
              <a:lin ang="5400000" scaled="1"/>
            </a:gradFill>
            <a:round/>
          </a:ln>
          <a:effectLst/>
        </p:spPr>
        <p:txBody>
          <a:bodyPr wrap="none"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80" name="Rectangle 14"/>
          <p:cNvSpPr>
            <a:spLocks noChangeArrowheads="1"/>
          </p:cNvSpPr>
          <p:nvPr>
            <p:custDataLst>
              <p:tags r:id="rId4"/>
            </p:custDataLst>
          </p:nvPr>
        </p:nvSpPr>
        <p:spPr bwMode="auto">
          <a:xfrm>
            <a:off x="4986655" y="1303020"/>
            <a:ext cx="2207895" cy="38417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lIns="0" tIns="0" rIns="0" bIns="0" anchor="ctr" anchorCtr="1">
            <a:spAutoFit/>
          </a:bodyPr>
          <a:lstStyle>
            <a:lvl1pPr defTabSz="787400">
              <a:spcAft>
                <a:spcPct val="0"/>
              </a:spcAft>
              <a:defRPr>
                <a:solidFill>
                  <a:srgbClr val="383838"/>
                </a:solidFill>
                <a:latin typeface="微软雅黑"/>
                <a:ea typeface="微软雅黑"/>
                <a:cs typeface="微软雅黑"/>
              </a:defRPr>
            </a:lvl1pPr>
            <a:lvl2pPr marL="133350" indent="-132080" defTabSz="787400">
              <a:spcAft>
                <a:spcPct val="0"/>
              </a:spcAft>
              <a:buSzPct val="120000"/>
              <a:buChar char="•"/>
              <a:defRPr>
                <a:solidFill>
                  <a:srgbClr val="383838"/>
                </a:solidFill>
                <a:latin typeface="微软雅黑"/>
                <a:ea typeface="微软雅黑"/>
                <a:cs typeface="微软雅黑"/>
              </a:defRPr>
            </a:lvl2pPr>
            <a:lvl3pPr marL="301625" indent="-151130" defTabSz="787400">
              <a:spcAft>
                <a:spcPct val="0"/>
              </a:spcAft>
              <a:buChar char="–"/>
              <a:defRPr>
                <a:solidFill>
                  <a:srgbClr val="383838"/>
                </a:solidFill>
                <a:latin typeface="微软雅黑"/>
                <a:ea typeface="微软雅黑"/>
                <a:cs typeface="微软雅黑"/>
              </a:defRPr>
            </a:lvl3pPr>
            <a:lvl4pPr marL="440055" indent="-136525" defTabSz="787400">
              <a:spcAft>
                <a:spcPct val="0"/>
              </a:spcAft>
              <a:buSzPct val="100000"/>
              <a:buChar char="•"/>
              <a:defRPr>
                <a:solidFill>
                  <a:srgbClr val="383838"/>
                </a:solidFill>
                <a:latin typeface="微软雅黑"/>
                <a:ea typeface="微软雅黑"/>
                <a:cs typeface="微软雅黑"/>
              </a:defRPr>
            </a:lvl4pPr>
            <a:lvl5pPr marL="603250" indent="-142875" defTabSz="787400">
              <a:spcAft>
                <a:spcPct val="0"/>
              </a:spcAft>
              <a:buSzPct val="100000"/>
              <a:buChar char="–"/>
              <a:defRPr>
                <a:solidFill>
                  <a:srgbClr val="383838"/>
                </a:solidFill>
                <a:latin typeface="微软雅黑"/>
                <a:ea typeface="微软雅黑"/>
                <a:cs typeface="微软雅黑"/>
              </a:defRPr>
            </a:lvl5pPr>
            <a:lvl6pPr marL="10604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6pPr>
            <a:lvl7pPr marL="15176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7pPr>
            <a:lvl8pPr marL="19748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8pPr>
            <a:lvl9pPr marL="24320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2500" b="1" dirty="0">
                <a:solidFill>
                  <a:srgbClr val="0042FF"/>
                </a:solidFill>
                <a:latin typeface="微软雅黑"/>
                <a:ea typeface="微软雅黑"/>
                <a:cs typeface="微软雅黑"/>
                <a:sym typeface="微软雅黑"/>
              </a:rPr>
              <a:t>销售运营分析</a:t>
            </a:r>
            <a:endParaRPr lang="zh-CN" altLang="en-US" sz="2500" b="1" dirty="0">
              <a:solidFill>
                <a:srgbClr val="0042FF"/>
              </a:solidFill>
              <a:latin typeface="微软雅黑"/>
              <a:ea typeface="微软雅黑"/>
              <a:cs typeface="微软雅黑"/>
              <a:sym typeface="微软雅黑"/>
            </a:endParaRPr>
          </a:p>
        </p:txBody>
      </p:sp>
      <p:sp>
        <p:nvSpPr>
          <p:cNvPr id="81" name="文本框 80"/>
          <p:cNvSpPr txBox="1"/>
          <p:nvPr>
            <p:custDataLst>
              <p:tags r:id="rId5"/>
            </p:custDataLst>
          </p:nvPr>
        </p:nvSpPr>
        <p:spPr>
          <a:xfrm>
            <a:off x="609600" y="3672840"/>
            <a:ext cx="1743710" cy="1614805"/>
          </a:xfrm>
          <a:prstGeom prst="rect">
            <a:avLst/>
          </a:prstGeom>
          <a:noFill/>
        </p:spPr>
        <p:txBody>
          <a:bodyPr wrap="square">
            <a:spAutoFit/>
          </a:bodyPr>
          <a:lstStyle/>
          <a:p>
            <a:pPr marL="171450" indent="-171450">
              <a:lnSpc>
                <a:spcPct val="15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制定一个明确而有效的战略对于企业的成功至关重要。</a:t>
            </a:r>
            <a:endParaRPr lang="en-US" altLang="zh-CN" sz="1100" dirty="0">
              <a:solidFill>
                <a:srgbClr val="383838"/>
              </a:solidFill>
              <a:latin typeface="微软雅黑"/>
              <a:ea typeface="微软雅黑"/>
              <a:cs typeface="微软雅黑"/>
            </a:endParaRPr>
          </a:p>
          <a:p>
            <a:pPr marL="171450" indent="-171450">
              <a:lnSpc>
                <a:spcPct val="15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战略不仅是一纸空谈，更是指导企业走向辉煌的行动纲领。</a:t>
            </a:r>
            <a:endParaRPr lang="zh-CN" altLang="en-US" sz="1100" dirty="0">
              <a:solidFill>
                <a:srgbClr val="383838"/>
              </a:solidFill>
              <a:latin typeface="微软雅黑"/>
              <a:ea typeface="微软雅黑"/>
              <a:cs typeface="微软雅黑"/>
              <a:sym typeface="微软雅黑"/>
            </a:endParaRPr>
          </a:p>
        </p:txBody>
      </p:sp>
      <p:pic>
        <p:nvPicPr>
          <p:cNvPr id="82" name="图片 81" descr="战略分区"/>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179320" y="2131060"/>
            <a:ext cx="266700" cy="272415"/>
          </a:xfrm>
          <a:prstGeom prst="rect">
            <a:avLst/>
          </a:prstGeom>
        </p:spPr>
      </p:pic>
      <p:pic>
        <p:nvPicPr>
          <p:cNvPr id="83" name="图片 82" descr="关键指标"/>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322310" y="2131060"/>
            <a:ext cx="286385" cy="292735"/>
          </a:xfrm>
          <a:prstGeom prst="rect">
            <a:avLst/>
          </a:prstGeom>
        </p:spPr>
      </p:pic>
      <p:sp>
        <p:nvSpPr>
          <p:cNvPr id="84" name="圆角矩形 83"/>
          <p:cNvSpPr/>
          <p:nvPr/>
        </p:nvSpPr>
        <p:spPr>
          <a:xfrm>
            <a:off x="2496820" y="4448810"/>
            <a:ext cx="786765" cy="312420"/>
          </a:xfrm>
          <a:prstGeom prst="roundRect">
            <a:avLst>
              <a:gd name="adj" fmla="val 0"/>
            </a:avLst>
          </a:prstGeom>
          <a:solidFill>
            <a:srgbClr val="FFFFFF"/>
          </a:solidFill>
          <a:ln>
            <a:solidFill>
              <a:srgbClr val="0042FF"/>
            </a:solidFill>
            <a:prstDash val="lgDash"/>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sym typeface="微软雅黑"/>
              </a:rPr>
              <a:t>线索转化率</a:t>
            </a:r>
            <a:endParaRPr lang="zh-CN" altLang="en-US" sz="1000" dirty="0">
              <a:solidFill>
                <a:srgbClr val="0042FF"/>
              </a:solidFill>
              <a:latin typeface="微软雅黑"/>
              <a:ea typeface="微软雅黑"/>
              <a:cs typeface="微软雅黑"/>
              <a:sym typeface="微软雅黑"/>
            </a:endParaRPr>
          </a:p>
        </p:txBody>
      </p:sp>
      <p:sp>
        <p:nvSpPr>
          <p:cNvPr id="85" name="圆角矩形 84"/>
          <p:cNvSpPr/>
          <p:nvPr/>
        </p:nvSpPr>
        <p:spPr>
          <a:xfrm>
            <a:off x="3377565" y="4448810"/>
            <a:ext cx="786765" cy="312420"/>
          </a:xfrm>
          <a:prstGeom prst="roundRect">
            <a:avLst>
              <a:gd name="adj" fmla="val 0"/>
            </a:avLst>
          </a:prstGeom>
          <a:solidFill>
            <a:srgbClr val="FFFFFF"/>
          </a:solidFill>
          <a:ln>
            <a:solidFill>
              <a:srgbClr val="0042FF"/>
            </a:solidFill>
            <a:prstDash val="lgDash"/>
          </a:ln>
        </p:spPr>
        <p:style>
          <a:lnRef idx="1">
            <a:srgbClr val="0042FF"/>
          </a:lnRef>
          <a:fillRef idx="0">
            <a:srgbClr val="0042FF"/>
          </a:fillRef>
          <a:effectRef idx="0">
            <a:srgbClr val="0042FF"/>
          </a:effectRef>
          <a:fontRef idx="minor">
            <a:srgbClr val="383838"/>
          </a:fontRef>
        </p:style>
        <p:txBody>
          <a:bodyPr vertOverflow="overflow" horzOverflow="overflow" vert="horz" wrap="square" lIns="0" numCol="1" spcCol="0" rtlCol="0" fromWordArt="0" anchor="ctr" anchorCtr="0" forceAA="0" compatLnSpc="1"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sym typeface="微软雅黑"/>
              </a:rPr>
              <a:t>客户留存率</a:t>
            </a:r>
            <a:endParaRPr lang="zh-CN" altLang="en-US" sz="1000" dirty="0">
              <a:solidFill>
                <a:srgbClr val="0042FF"/>
              </a:solidFill>
              <a:latin typeface="微软雅黑"/>
              <a:ea typeface="微软雅黑"/>
              <a:cs typeface="微软雅黑"/>
              <a:sym typeface="微软雅黑"/>
            </a:endParaRPr>
          </a:p>
        </p:txBody>
      </p:sp>
      <p:sp>
        <p:nvSpPr>
          <p:cNvPr id="86" name="圆角矩形 85"/>
          <p:cNvSpPr/>
          <p:nvPr/>
        </p:nvSpPr>
        <p:spPr>
          <a:xfrm>
            <a:off x="2496820" y="4806315"/>
            <a:ext cx="786765" cy="312420"/>
          </a:xfrm>
          <a:prstGeom prst="roundRect">
            <a:avLst>
              <a:gd name="adj" fmla="val 0"/>
            </a:avLst>
          </a:prstGeom>
          <a:solidFill>
            <a:srgbClr val="FFFFFF"/>
          </a:solidFill>
          <a:ln>
            <a:solidFill>
              <a:srgbClr val="0042FF"/>
            </a:solidFill>
            <a:prstDash val="lgDash"/>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sym typeface="微软雅黑"/>
              </a:rPr>
              <a:t>营收增长率</a:t>
            </a:r>
            <a:endParaRPr lang="zh-CN" altLang="en-US" sz="1000" dirty="0">
              <a:solidFill>
                <a:srgbClr val="0042FF"/>
              </a:solidFill>
              <a:latin typeface="微软雅黑"/>
              <a:ea typeface="微软雅黑"/>
              <a:cs typeface="微软雅黑"/>
              <a:sym typeface="微软雅黑"/>
            </a:endParaRPr>
          </a:p>
        </p:txBody>
      </p:sp>
      <p:sp>
        <p:nvSpPr>
          <p:cNvPr id="87" name="圆角矩形 86"/>
          <p:cNvSpPr/>
          <p:nvPr/>
        </p:nvSpPr>
        <p:spPr>
          <a:xfrm>
            <a:off x="3377565" y="4806315"/>
            <a:ext cx="786765" cy="312420"/>
          </a:xfrm>
          <a:prstGeom prst="roundRect">
            <a:avLst>
              <a:gd name="adj" fmla="val 0"/>
            </a:avLst>
          </a:prstGeom>
          <a:solidFill>
            <a:srgbClr val="FFFFFF"/>
          </a:solidFill>
          <a:ln>
            <a:solidFill>
              <a:srgbClr val="0042FF"/>
            </a:solidFill>
            <a:prstDash val="lgDash"/>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sym typeface="微软雅黑"/>
              </a:rPr>
              <a:t>销售毛利率</a:t>
            </a:r>
            <a:endParaRPr lang="zh-CN" altLang="en-US" sz="1000" dirty="0">
              <a:solidFill>
                <a:srgbClr val="0042FF"/>
              </a:solidFill>
              <a:latin typeface="微软雅黑"/>
              <a:ea typeface="微软雅黑"/>
              <a:cs typeface="微软雅黑"/>
              <a:sym typeface="微软雅黑"/>
            </a:endParaRPr>
          </a:p>
        </p:txBody>
      </p:sp>
      <p:sp>
        <p:nvSpPr>
          <p:cNvPr id="88" name="圆角矩形 87"/>
          <p:cNvSpPr/>
          <p:nvPr/>
        </p:nvSpPr>
        <p:spPr>
          <a:xfrm>
            <a:off x="2496820" y="5163820"/>
            <a:ext cx="786765" cy="312420"/>
          </a:xfrm>
          <a:prstGeom prst="roundRect">
            <a:avLst>
              <a:gd name="adj" fmla="val 0"/>
            </a:avLst>
          </a:prstGeom>
          <a:solidFill>
            <a:srgbClr val="FFFFFF"/>
          </a:solidFill>
          <a:ln>
            <a:solidFill>
              <a:srgbClr val="0042FF"/>
            </a:solidFill>
            <a:prstDash val="lgDash"/>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89" name="圆角矩形 88"/>
          <p:cNvSpPr/>
          <p:nvPr/>
        </p:nvSpPr>
        <p:spPr>
          <a:xfrm>
            <a:off x="3377565" y="5163820"/>
            <a:ext cx="786765" cy="312420"/>
          </a:xfrm>
          <a:prstGeom prst="roundRect">
            <a:avLst>
              <a:gd name="adj" fmla="val 0"/>
            </a:avLst>
          </a:prstGeom>
          <a:solidFill>
            <a:srgbClr val="FFFFFF"/>
          </a:solidFill>
          <a:ln>
            <a:solidFill>
              <a:srgbClr val="0042FF"/>
            </a:solidFill>
            <a:prstDash val="lgDash"/>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90" name="文本框 89"/>
          <p:cNvSpPr txBox="1"/>
          <p:nvPr>
            <p:custDataLst>
              <p:tags r:id="rId10"/>
            </p:custDataLst>
          </p:nvPr>
        </p:nvSpPr>
        <p:spPr>
          <a:xfrm>
            <a:off x="2446020" y="3594100"/>
            <a:ext cx="1780540" cy="852805"/>
          </a:xfrm>
          <a:prstGeom prst="rect">
            <a:avLst/>
          </a:prstGeom>
          <a:noFill/>
        </p:spPr>
        <p:txBody>
          <a:bodyPr wrap="square">
            <a:spAutoFit/>
          </a:bodyPr>
          <a:lstStyle/>
          <a:p>
            <a:pPr marL="171450" lvl="0" indent="-171450" algn="l">
              <a:lnSpc>
                <a:spcPct val="150000"/>
              </a:lnSpc>
              <a:buClrTx/>
              <a:buSzTx/>
              <a:buFont typeface="微软雅黑"/>
              <a:buChar char="●"/>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根据战略进行拆解，</a:t>
            </a:r>
            <a:r>
              <a:rPr lang="zh-CN" sz="1100" dirty="0">
                <a:solidFill>
                  <a:srgbClr val="383838"/>
                </a:solidFill>
                <a:latin typeface="微软雅黑"/>
                <a:ea typeface="微软雅黑"/>
                <a:cs typeface="微软雅黑"/>
                <a:sym typeface="微软雅黑"/>
              </a:rPr>
              <a:t>转化为可量化、可落地的关键指标。</a:t>
            </a:r>
            <a:endParaRPr lang="zh-CN" sz="1100" dirty="0">
              <a:solidFill>
                <a:srgbClr val="383838"/>
              </a:solidFill>
              <a:latin typeface="微软雅黑"/>
              <a:ea typeface="微软雅黑"/>
              <a:cs typeface="微软雅黑"/>
              <a:sym typeface="微软雅黑"/>
            </a:endParaRPr>
          </a:p>
        </p:txBody>
      </p:sp>
      <p:sp>
        <p:nvSpPr>
          <p:cNvPr id="91" name="任意多边形: 形状 301"/>
          <p:cNvSpPr/>
          <p:nvPr/>
        </p:nvSpPr>
        <p:spPr bwMode="invGray">
          <a:xfrm>
            <a:off x="4200525" y="5688965"/>
            <a:ext cx="1885315" cy="191770"/>
          </a:xfrm>
          <a:custGeom>
            <a:avLst/>
            <a:gdLst>
              <a:gd name="connsiteX0" fmla="*/ 69874 w 1858476"/>
              <a:gd name="connsiteY0" fmla="*/ 0 h 191574"/>
              <a:gd name="connsiteX1" fmla="*/ 1858476 w 1858476"/>
              <a:gd name="connsiteY1" fmla="*/ 0 h 191574"/>
              <a:gd name="connsiteX2" fmla="*/ 1858275 w 1858476"/>
              <a:gd name="connsiteY2" fmla="*/ 191574 h 191574"/>
              <a:gd name="connsiteX3" fmla="*/ 0 w 1858476"/>
              <a:gd name="connsiteY3" fmla="*/ 189669 h 191574"/>
            </a:gdLst>
            <a:ahLst/>
            <a:cxnLst>
              <a:cxn ang="0">
                <a:pos x="connsiteX0" y="connsiteY0"/>
              </a:cxn>
              <a:cxn ang="0">
                <a:pos x="connsiteX1" y="connsiteY1"/>
              </a:cxn>
              <a:cxn ang="0">
                <a:pos x="connsiteX2" y="connsiteY2"/>
              </a:cxn>
              <a:cxn ang="0">
                <a:pos x="connsiteX3" y="connsiteY3"/>
              </a:cxn>
            </a:cxnLst>
            <a:rect l="l" t="t" r="r" b="b"/>
            <a:pathLst>
              <a:path w="1858476" h="191574">
                <a:moveTo>
                  <a:pt x="69874" y="0"/>
                </a:moveTo>
                <a:lnTo>
                  <a:pt x="1858476" y="0"/>
                </a:lnTo>
                <a:lnTo>
                  <a:pt x="1858275" y="191574"/>
                </a:lnTo>
                <a:lnTo>
                  <a:pt x="0" y="189669"/>
                </a:lnTo>
                <a:close/>
              </a:path>
            </a:pathLst>
          </a:custGeom>
          <a:solidFill>
            <a:srgbClr val="3368FF">
              <a:alpha val="70000"/>
            </a:srgbClr>
          </a:solidFill>
          <a:ln>
            <a:noFill/>
          </a:ln>
          <a:effectLst/>
          <a:extLs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rtlCol="0" anchor="t"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92" name="矩形 91"/>
          <p:cNvSpPr/>
          <p:nvPr/>
        </p:nvSpPr>
        <p:spPr bwMode="invGray">
          <a:xfrm>
            <a:off x="4202430" y="5880100"/>
            <a:ext cx="1885315" cy="624840"/>
          </a:xfrm>
          <a:prstGeom prst="rect">
            <a:avLst/>
          </a:prstGeom>
          <a:solidFill>
            <a:srgbClr val="3368FF"/>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95" name="Rectangle 19"/>
          <p:cNvSpPr>
            <a:spLocks noChangeArrowheads="1"/>
          </p:cNvSpPr>
          <p:nvPr>
            <p:custDataLst>
              <p:tags r:id="rId11"/>
            </p:custDataLst>
          </p:nvPr>
        </p:nvSpPr>
        <p:spPr bwMode="auto">
          <a:xfrm>
            <a:off x="846455" y="5702300"/>
            <a:ext cx="806450" cy="184150"/>
          </a:xfrm>
          <a:prstGeom prst="rect">
            <a:avLst/>
          </a:prstGeom>
          <a:noFill/>
          <a:ln>
            <a:noFill/>
          </a:ln>
          <a:effectLst/>
          <a:scene3d>
            <a:camera prst="perspectiveRelaxed"/>
            <a:lightRig rig="threePt" dir="t"/>
          </a:scene3d>
          <a:extLst>
            <a:ext uri="{909E8E84-426E-40DD-AFC4-6F175D3DCCD1}">
              <a14:hiddenFill xmlns:a14="http://schemas.microsoft.com/office/drawing/2010/main">
                <a:solidFill>
                  <a:srgbClr val="0042FF"/>
                </a:solidFill>
              </a14:hiddenFill>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spAutoFit/>
          </a:bodyPr>
          <a:lstStyle>
            <a:lvl1pPr defTabSz="787400">
              <a:spcAft>
                <a:spcPct val="0"/>
              </a:spcAft>
              <a:defRPr>
                <a:solidFill>
                  <a:srgbClr val="383838"/>
                </a:solidFill>
                <a:latin typeface="微软雅黑"/>
                <a:ea typeface="微软雅黑"/>
                <a:cs typeface="微软雅黑"/>
              </a:defRPr>
            </a:lvl1pPr>
            <a:lvl2pPr marL="133350" indent="-132080" defTabSz="787400">
              <a:spcAft>
                <a:spcPct val="0"/>
              </a:spcAft>
              <a:buSzPct val="120000"/>
              <a:buChar char="•"/>
              <a:defRPr>
                <a:solidFill>
                  <a:srgbClr val="383838"/>
                </a:solidFill>
                <a:latin typeface="微软雅黑"/>
                <a:ea typeface="微软雅黑"/>
                <a:cs typeface="微软雅黑"/>
              </a:defRPr>
            </a:lvl2pPr>
            <a:lvl3pPr marL="301625" indent="-151130" defTabSz="787400">
              <a:spcAft>
                <a:spcPct val="0"/>
              </a:spcAft>
              <a:buChar char="–"/>
              <a:defRPr>
                <a:solidFill>
                  <a:srgbClr val="383838"/>
                </a:solidFill>
                <a:latin typeface="微软雅黑"/>
                <a:ea typeface="微软雅黑"/>
                <a:cs typeface="微软雅黑"/>
              </a:defRPr>
            </a:lvl3pPr>
            <a:lvl4pPr marL="440055" indent="-136525" defTabSz="787400">
              <a:spcAft>
                <a:spcPct val="0"/>
              </a:spcAft>
              <a:buSzPct val="100000"/>
              <a:buChar char="•"/>
              <a:defRPr>
                <a:solidFill>
                  <a:srgbClr val="383838"/>
                </a:solidFill>
                <a:latin typeface="微软雅黑"/>
                <a:ea typeface="微软雅黑"/>
                <a:cs typeface="微软雅黑"/>
              </a:defRPr>
            </a:lvl4pPr>
            <a:lvl5pPr marL="603250" indent="-142875" defTabSz="787400">
              <a:spcAft>
                <a:spcPct val="0"/>
              </a:spcAft>
              <a:buSzPct val="100000"/>
              <a:buChar char="–"/>
              <a:defRPr>
                <a:solidFill>
                  <a:srgbClr val="383838"/>
                </a:solidFill>
                <a:latin typeface="微软雅黑"/>
                <a:ea typeface="微软雅黑"/>
                <a:cs typeface="微软雅黑"/>
              </a:defRPr>
            </a:lvl5pPr>
            <a:lvl6pPr marL="10604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6pPr>
            <a:lvl7pPr marL="15176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7pPr>
            <a:lvl8pPr marL="19748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8pPr>
            <a:lvl9pPr marL="24320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r>
              <a:rPr lang="zh-CN" altLang="en-US" sz="1200" b="1" dirty="0">
                <a:solidFill>
                  <a:srgbClr val="383838"/>
                </a:solidFill>
                <a:latin typeface="微软雅黑"/>
                <a:ea typeface="微软雅黑"/>
                <a:cs typeface="微软雅黑"/>
                <a:sym typeface="微软雅黑"/>
              </a:rPr>
              <a:t>第一步</a:t>
            </a:r>
            <a:endParaRPr lang="zh-CN" altLang="en-US" sz="1200" b="1" dirty="0">
              <a:solidFill>
                <a:srgbClr val="383838"/>
              </a:solidFill>
              <a:latin typeface="微软雅黑"/>
              <a:ea typeface="微软雅黑"/>
              <a:cs typeface="微软雅黑"/>
              <a:sym typeface="微软雅黑"/>
            </a:endParaRPr>
          </a:p>
        </p:txBody>
      </p:sp>
      <p:sp>
        <p:nvSpPr>
          <p:cNvPr id="96" name="Rectangle 19"/>
          <p:cNvSpPr>
            <a:spLocks noChangeArrowheads="1"/>
          </p:cNvSpPr>
          <p:nvPr>
            <p:custDataLst>
              <p:tags r:id="rId12"/>
            </p:custDataLst>
          </p:nvPr>
        </p:nvSpPr>
        <p:spPr bwMode="auto">
          <a:xfrm>
            <a:off x="2891790" y="5702300"/>
            <a:ext cx="806450" cy="184150"/>
          </a:xfrm>
          <a:prstGeom prst="rect">
            <a:avLst/>
          </a:prstGeom>
          <a:noFill/>
          <a:ln>
            <a:noFill/>
          </a:ln>
          <a:effectLst/>
          <a:scene3d>
            <a:camera prst="perspectiveRelaxed"/>
            <a:lightRig rig="threePt" dir="t"/>
          </a:scene3d>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12700">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spAutoFit/>
          </a:bodyPr>
          <a:lstStyle>
            <a:lvl1pPr defTabSz="787400">
              <a:spcAft>
                <a:spcPct val="0"/>
              </a:spcAft>
              <a:defRPr>
                <a:solidFill>
                  <a:srgbClr val="383838"/>
                </a:solidFill>
                <a:latin typeface="微软雅黑"/>
                <a:ea typeface="微软雅黑"/>
                <a:cs typeface="微软雅黑"/>
              </a:defRPr>
            </a:lvl1pPr>
            <a:lvl2pPr marL="133350" indent="-132080" defTabSz="787400">
              <a:spcAft>
                <a:spcPct val="0"/>
              </a:spcAft>
              <a:buSzPct val="120000"/>
              <a:buChar char="•"/>
              <a:defRPr>
                <a:solidFill>
                  <a:srgbClr val="383838"/>
                </a:solidFill>
                <a:latin typeface="微软雅黑"/>
                <a:ea typeface="微软雅黑"/>
                <a:cs typeface="微软雅黑"/>
              </a:defRPr>
            </a:lvl2pPr>
            <a:lvl3pPr marL="301625" indent="-151130" defTabSz="787400">
              <a:spcAft>
                <a:spcPct val="0"/>
              </a:spcAft>
              <a:buChar char="–"/>
              <a:defRPr>
                <a:solidFill>
                  <a:srgbClr val="383838"/>
                </a:solidFill>
                <a:latin typeface="微软雅黑"/>
                <a:ea typeface="微软雅黑"/>
                <a:cs typeface="微软雅黑"/>
              </a:defRPr>
            </a:lvl3pPr>
            <a:lvl4pPr marL="440055" indent="-136525" defTabSz="787400">
              <a:spcAft>
                <a:spcPct val="0"/>
              </a:spcAft>
              <a:buSzPct val="100000"/>
              <a:buChar char="•"/>
              <a:defRPr>
                <a:solidFill>
                  <a:srgbClr val="383838"/>
                </a:solidFill>
                <a:latin typeface="微软雅黑"/>
                <a:ea typeface="微软雅黑"/>
                <a:cs typeface="微软雅黑"/>
              </a:defRPr>
            </a:lvl4pPr>
            <a:lvl5pPr marL="603250" indent="-142875" defTabSz="787400">
              <a:spcAft>
                <a:spcPct val="0"/>
              </a:spcAft>
              <a:buSzPct val="100000"/>
              <a:buChar char="–"/>
              <a:defRPr>
                <a:solidFill>
                  <a:srgbClr val="383838"/>
                </a:solidFill>
                <a:latin typeface="微软雅黑"/>
                <a:ea typeface="微软雅黑"/>
                <a:cs typeface="微软雅黑"/>
              </a:defRPr>
            </a:lvl5pPr>
            <a:lvl6pPr marL="10604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6pPr>
            <a:lvl7pPr marL="15176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7pPr>
            <a:lvl8pPr marL="19748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8pPr>
            <a:lvl9pPr marL="24320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第二步</a:t>
            </a:r>
            <a:endParaRPr lang="zh-CN" altLang="en-US" sz="1200" b="1" dirty="0">
              <a:solidFill>
                <a:srgbClr val="383838"/>
              </a:solidFill>
              <a:latin typeface="微软雅黑"/>
              <a:ea typeface="微软雅黑"/>
              <a:cs typeface="微软雅黑"/>
            </a:endParaRPr>
          </a:p>
        </p:txBody>
      </p:sp>
      <p:sp>
        <p:nvSpPr>
          <p:cNvPr id="99" name="Rectangle 19"/>
          <p:cNvSpPr>
            <a:spLocks noChangeArrowheads="1"/>
          </p:cNvSpPr>
          <p:nvPr>
            <p:custDataLst>
              <p:tags r:id="rId13"/>
            </p:custDataLst>
          </p:nvPr>
        </p:nvSpPr>
        <p:spPr bwMode="auto">
          <a:xfrm>
            <a:off x="4760595" y="5702300"/>
            <a:ext cx="913130" cy="184150"/>
          </a:xfrm>
          <a:prstGeom prst="rect">
            <a:avLst/>
          </a:prstGeom>
          <a:noFill/>
          <a:ln>
            <a:noFill/>
          </a:ln>
          <a:effectLst/>
          <a:scene3d>
            <a:camera prst="perspectiveRelaxed"/>
            <a:lightRig rig="threePt" dir="t"/>
          </a:scene3d>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12700">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spAutoFit/>
          </a:bodyPr>
          <a:lstStyle>
            <a:lvl1pPr defTabSz="787400">
              <a:spcAft>
                <a:spcPct val="0"/>
              </a:spcAft>
              <a:defRPr>
                <a:solidFill>
                  <a:srgbClr val="383838"/>
                </a:solidFill>
                <a:latin typeface="微软雅黑"/>
                <a:ea typeface="微软雅黑"/>
                <a:cs typeface="微软雅黑"/>
              </a:defRPr>
            </a:lvl1pPr>
            <a:lvl2pPr marL="133350" indent="-132080" defTabSz="787400">
              <a:spcAft>
                <a:spcPct val="0"/>
              </a:spcAft>
              <a:buSzPct val="120000"/>
              <a:buChar char="•"/>
              <a:defRPr>
                <a:solidFill>
                  <a:srgbClr val="383838"/>
                </a:solidFill>
                <a:latin typeface="微软雅黑"/>
                <a:ea typeface="微软雅黑"/>
                <a:cs typeface="微软雅黑"/>
              </a:defRPr>
            </a:lvl2pPr>
            <a:lvl3pPr marL="301625" indent="-151130" defTabSz="787400">
              <a:spcAft>
                <a:spcPct val="0"/>
              </a:spcAft>
              <a:buChar char="–"/>
              <a:defRPr>
                <a:solidFill>
                  <a:srgbClr val="383838"/>
                </a:solidFill>
                <a:latin typeface="微软雅黑"/>
                <a:ea typeface="微软雅黑"/>
                <a:cs typeface="微软雅黑"/>
              </a:defRPr>
            </a:lvl3pPr>
            <a:lvl4pPr marL="440055" indent="-136525" defTabSz="787400">
              <a:spcAft>
                <a:spcPct val="0"/>
              </a:spcAft>
              <a:buSzPct val="100000"/>
              <a:buChar char="•"/>
              <a:defRPr>
                <a:solidFill>
                  <a:srgbClr val="383838"/>
                </a:solidFill>
                <a:latin typeface="微软雅黑"/>
                <a:ea typeface="微软雅黑"/>
                <a:cs typeface="微软雅黑"/>
              </a:defRPr>
            </a:lvl4pPr>
            <a:lvl5pPr marL="603250" indent="-142875" defTabSz="787400">
              <a:spcAft>
                <a:spcPct val="0"/>
              </a:spcAft>
              <a:buSzPct val="100000"/>
              <a:buChar char="–"/>
              <a:defRPr>
                <a:solidFill>
                  <a:srgbClr val="383838"/>
                </a:solidFill>
                <a:latin typeface="微软雅黑"/>
                <a:ea typeface="微软雅黑"/>
                <a:cs typeface="微软雅黑"/>
              </a:defRPr>
            </a:lvl5pPr>
            <a:lvl6pPr marL="10604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6pPr>
            <a:lvl7pPr marL="15176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7pPr>
            <a:lvl8pPr marL="19748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8pPr>
            <a:lvl9pPr marL="24320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第三步</a:t>
            </a:r>
            <a:endParaRPr lang="zh-CN" altLang="en-US" sz="1200" b="1" dirty="0">
              <a:solidFill>
                <a:srgbClr val="383838"/>
              </a:solidFill>
              <a:latin typeface="微软雅黑"/>
              <a:ea typeface="微软雅黑"/>
              <a:cs typeface="微软雅黑"/>
            </a:endParaRPr>
          </a:p>
        </p:txBody>
      </p:sp>
      <p:sp>
        <p:nvSpPr>
          <p:cNvPr id="103" name="Rectangle 19"/>
          <p:cNvSpPr>
            <a:spLocks noChangeArrowheads="1"/>
          </p:cNvSpPr>
          <p:nvPr>
            <p:custDataLst>
              <p:tags r:id="rId14"/>
            </p:custDataLst>
          </p:nvPr>
        </p:nvSpPr>
        <p:spPr bwMode="auto">
          <a:xfrm>
            <a:off x="6649720" y="5688965"/>
            <a:ext cx="806450" cy="184150"/>
          </a:xfrm>
          <a:prstGeom prst="rect">
            <a:avLst/>
          </a:prstGeom>
          <a:noFill/>
          <a:ln>
            <a:noFill/>
          </a:ln>
          <a:effectLst/>
          <a:scene3d>
            <a:camera prst="perspectiveRelaxed"/>
            <a:lightRig rig="threePt" dir="t"/>
          </a:scene3d>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12700">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spAutoFit/>
          </a:bodyPr>
          <a:lstStyle>
            <a:lvl1pPr defTabSz="787400">
              <a:spcAft>
                <a:spcPct val="0"/>
              </a:spcAft>
              <a:defRPr>
                <a:solidFill>
                  <a:srgbClr val="383838"/>
                </a:solidFill>
                <a:latin typeface="微软雅黑"/>
                <a:ea typeface="微软雅黑"/>
                <a:cs typeface="微软雅黑"/>
              </a:defRPr>
            </a:lvl1pPr>
            <a:lvl2pPr marL="133350" indent="-132080" defTabSz="787400">
              <a:spcAft>
                <a:spcPct val="0"/>
              </a:spcAft>
              <a:buSzPct val="120000"/>
              <a:buChar char="•"/>
              <a:defRPr>
                <a:solidFill>
                  <a:srgbClr val="383838"/>
                </a:solidFill>
                <a:latin typeface="微软雅黑"/>
                <a:ea typeface="微软雅黑"/>
                <a:cs typeface="微软雅黑"/>
              </a:defRPr>
            </a:lvl2pPr>
            <a:lvl3pPr marL="301625" indent="-151130" defTabSz="787400">
              <a:spcAft>
                <a:spcPct val="0"/>
              </a:spcAft>
              <a:buChar char="–"/>
              <a:defRPr>
                <a:solidFill>
                  <a:srgbClr val="383838"/>
                </a:solidFill>
                <a:latin typeface="微软雅黑"/>
                <a:ea typeface="微软雅黑"/>
                <a:cs typeface="微软雅黑"/>
              </a:defRPr>
            </a:lvl3pPr>
            <a:lvl4pPr marL="440055" indent="-136525" defTabSz="787400">
              <a:spcAft>
                <a:spcPct val="0"/>
              </a:spcAft>
              <a:buSzPct val="100000"/>
              <a:buChar char="•"/>
              <a:defRPr>
                <a:solidFill>
                  <a:srgbClr val="383838"/>
                </a:solidFill>
                <a:latin typeface="微软雅黑"/>
                <a:ea typeface="微软雅黑"/>
                <a:cs typeface="微软雅黑"/>
              </a:defRPr>
            </a:lvl4pPr>
            <a:lvl5pPr marL="603250" indent="-142875" defTabSz="787400">
              <a:spcAft>
                <a:spcPct val="0"/>
              </a:spcAft>
              <a:buSzPct val="100000"/>
              <a:buChar char="–"/>
              <a:defRPr>
                <a:solidFill>
                  <a:srgbClr val="383838"/>
                </a:solidFill>
                <a:latin typeface="微软雅黑"/>
                <a:ea typeface="微软雅黑"/>
                <a:cs typeface="微软雅黑"/>
              </a:defRPr>
            </a:lvl5pPr>
            <a:lvl6pPr marL="10604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6pPr>
            <a:lvl7pPr marL="15176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7pPr>
            <a:lvl8pPr marL="19748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8pPr>
            <a:lvl9pPr marL="24320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第四步</a:t>
            </a:r>
            <a:endParaRPr lang="zh-CN" altLang="en-US" sz="1200" b="1" dirty="0">
              <a:solidFill>
                <a:srgbClr val="383838"/>
              </a:solidFill>
              <a:latin typeface="微软雅黑"/>
              <a:ea typeface="微软雅黑"/>
              <a:cs typeface="微软雅黑"/>
            </a:endParaRPr>
          </a:p>
        </p:txBody>
      </p:sp>
      <p:sp>
        <p:nvSpPr>
          <p:cNvPr id="104" name="文本框 103"/>
          <p:cNvSpPr txBox="1"/>
          <p:nvPr/>
        </p:nvSpPr>
        <p:spPr>
          <a:xfrm>
            <a:off x="4375785" y="5991225"/>
            <a:ext cx="1501775" cy="398780"/>
          </a:xfrm>
          <a:prstGeom prst="rect">
            <a:avLst/>
          </a:prstGeom>
          <a:noFill/>
        </p:spPr>
        <p:txBody>
          <a:bodyPr wrap="square"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建立里程碑：季度攻坚计划、百日冲刺</a:t>
            </a:r>
            <a:endParaRPr lang="zh-CN" altLang="en-US" sz="1000" dirty="0">
              <a:solidFill>
                <a:srgbClr val="FFFFFF"/>
              </a:solidFill>
              <a:latin typeface="微软雅黑"/>
              <a:ea typeface="微软雅黑"/>
              <a:cs typeface="微软雅黑"/>
            </a:endParaRPr>
          </a:p>
        </p:txBody>
      </p:sp>
      <p:sp>
        <p:nvSpPr>
          <p:cNvPr id="105" name="矩形 104"/>
          <p:cNvSpPr/>
          <p:nvPr/>
        </p:nvSpPr>
        <p:spPr bwMode="invGray">
          <a:xfrm>
            <a:off x="6112510" y="5880100"/>
            <a:ext cx="1884045" cy="624840"/>
          </a:xfrm>
          <a:prstGeom prst="rect">
            <a:avLst/>
          </a:prstGeom>
          <a:solidFill>
            <a:srgbClr val="3368FF"/>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106" name="Rectangle 19"/>
          <p:cNvSpPr>
            <a:spLocks noChangeArrowheads="1"/>
          </p:cNvSpPr>
          <p:nvPr>
            <p:custDataLst>
              <p:tags r:id="rId15"/>
            </p:custDataLst>
          </p:nvPr>
        </p:nvSpPr>
        <p:spPr bwMode="auto">
          <a:xfrm>
            <a:off x="8545195" y="5688965"/>
            <a:ext cx="806450" cy="184150"/>
          </a:xfrm>
          <a:prstGeom prst="rect">
            <a:avLst/>
          </a:prstGeom>
          <a:noFill/>
          <a:ln>
            <a:noFill/>
          </a:ln>
          <a:effectLst/>
          <a:scene3d>
            <a:camera prst="perspectiveRelaxed"/>
            <a:lightRig rig="threePt" dir="t"/>
          </a:scene3d>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12700">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spAutoFit/>
          </a:bodyPr>
          <a:lstStyle>
            <a:lvl1pPr defTabSz="787400">
              <a:spcAft>
                <a:spcPct val="0"/>
              </a:spcAft>
              <a:defRPr>
                <a:solidFill>
                  <a:srgbClr val="383838"/>
                </a:solidFill>
                <a:latin typeface="微软雅黑"/>
                <a:ea typeface="微软雅黑"/>
                <a:cs typeface="微软雅黑"/>
              </a:defRPr>
            </a:lvl1pPr>
            <a:lvl2pPr marL="133350" indent="-132080" defTabSz="787400">
              <a:spcAft>
                <a:spcPct val="0"/>
              </a:spcAft>
              <a:buSzPct val="120000"/>
              <a:buChar char="•"/>
              <a:defRPr>
                <a:solidFill>
                  <a:srgbClr val="383838"/>
                </a:solidFill>
                <a:latin typeface="微软雅黑"/>
                <a:ea typeface="微软雅黑"/>
                <a:cs typeface="微软雅黑"/>
              </a:defRPr>
            </a:lvl2pPr>
            <a:lvl3pPr marL="301625" indent="-151130" defTabSz="787400">
              <a:spcAft>
                <a:spcPct val="0"/>
              </a:spcAft>
              <a:buChar char="–"/>
              <a:defRPr>
                <a:solidFill>
                  <a:srgbClr val="383838"/>
                </a:solidFill>
                <a:latin typeface="微软雅黑"/>
                <a:ea typeface="微软雅黑"/>
                <a:cs typeface="微软雅黑"/>
              </a:defRPr>
            </a:lvl3pPr>
            <a:lvl4pPr marL="440055" indent="-136525" defTabSz="787400">
              <a:spcAft>
                <a:spcPct val="0"/>
              </a:spcAft>
              <a:buSzPct val="100000"/>
              <a:buChar char="•"/>
              <a:defRPr>
                <a:solidFill>
                  <a:srgbClr val="383838"/>
                </a:solidFill>
                <a:latin typeface="微软雅黑"/>
                <a:ea typeface="微软雅黑"/>
                <a:cs typeface="微软雅黑"/>
              </a:defRPr>
            </a:lvl4pPr>
            <a:lvl5pPr marL="603250" indent="-142875" defTabSz="787400">
              <a:spcAft>
                <a:spcPct val="0"/>
              </a:spcAft>
              <a:buSzPct val="100000"/>
              <a:buChar char="–"/>
              <a:defRPr>
                <a:solidFill>
                  <a:srgbClr val="383838"/>
                </a:solidFill>
                <a:latin typeface="微软雅黑"/>
                <a:ea typeface="微软雅黑"/>
                <a:cs typeface="微软雅黑"/>
              </a:defRPr>
            </a:lvl5pPr>
            <a:lvl6pPr marL="10604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6pPr>
            <a:lvl7pPr marL="15176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7pPr>
            <a:lvl8pPr marL="19748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8pPr>
            <a:lvl9pPr marL="24320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第五步</a:t>
            </a:r>
            <a:endParaRPr lang="zh-CN" altLang="en-US" sz="1200" b="1" dirty="0">
              <a:solidFill>
                <a:srgbClr val="383838"/>
              </a:solidFill>
              <a:latin typeface="微软雅黑"/>
              <a:ea typeface="微软雅黑"/>
              <a:cs typeface="微软雅黑"/>
            </a:endParaRPr>
          </a:p>
        </p:txBody>
      </p:sp>
      <p:pic>
        <p:nvPicPr>
          <p:cNvPr id="107" name="图片 106" descr="数据模型"/>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3584575" y="2131060"/>
            <a:ext cx="278130" cy="278130"/>
          </a:xfrm>
          <a:prstGeom prst="rect">
            <a:avLst/>
          </a:prstGeom>
        </p:spPr>
      </p:pic>
      <p:sp>
        <p:nvSpPr>
          <p:cNvPr id="108" name="文本框 107"/>
          <p:cNvSpPr txBox="1"/>
          <p:nvPr>
            <p:custDataLst>
              <p:tags r:id="rId18"/>
            </p:custDataLst>
          </p:nvPr>
        </p:nvSpPr>
        <p:spPr>
          <a:xfrm>
            <a:off x="4262755" y="3603625"/>
            <a:ext cx="1823085" cy="1868805"/>
          </a:xfrm>
          <a:prstGeom prst="rect">
            <a:avLst/>
          </a:prstGeom>
          <a:noFill/>
        </p:spPr>
        <p:txBody>
          <a:bodyPr wrap="square">
            <a:spAutoFit/>
          </a:bodyPr>
          <a:lstStyle/>
          <a:p>
            <a:pPr marL="171450" indent="-171450">
              <a:lnSpc>
                <a:spcPct val="15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将目标转化为可执行的战术动作与时间表；</a:t>
            </a:r>
            <a:endParaRPr lang="zh-CN" altLang="en-US" sz="1100" dirty="0">
              <a:solidFill>
                <a:srgbClr val="383838"/>
              </a:solidFill>
              <a:latin typeface="微软雅黑"/>
              <a:ea typeface="微软雅黑"/>
              <a:cs typeface="微软雅黑"/>
            </a:endParaRPr>
          </a:p>
          <a:p>
            <a:pPr marL="171450" indent="-171450">
              <a:lnSpc>
                <a:spcPct val="15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做好资源分配，销售团队规模与技能匹配，市场费用分配；</a:t>
            </a:r>
            <a:endParaRPr lang="zh-CN" altLang="en-US" sz="1100" dirty="0">
              <a:solidFill>
                <a:srgbClr val="383838"/>
              </a:solidFill>
              <a:latin typeface="微软雅黑"/>
              <a:ea typeface="微软雅黑"/>
              <a:cs typeface="微软雅黑"/>
            </a:endParaRPr>
          </a:p>
          <a:p>
            <a:pPr marL="171450" indent="-171450">
              <a:lnSpc>
                <a:spcPct val="15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周任务分解（每周新增</a:t>
            </a:r>
            <a:r>
              <a:rPr lang="en-US" altLang="zh-CN" sz="1100" dirty="0">
                <a:solidFill>
                  <a:srgbClr val="383838"/>
                </a:solidFill>
                <a:latin typeface="微软雅黑"/>
                <a:ea typeface="微软雅黑"/>
                <a:cs typeface="微软雅黑"/>
              </a:rPr>
              <a:t>50</a:t>
            </a:r>
            <a:r>
              <a:rPr lang="zh-CN" altLang="en-US" sz="1100" dirty="0">
                <a:solidFill>
                  <a:srgbClr val="383838"/>
                </a:solidFill>
                <a:latin typeface="微软雅黑"/>
                <a:ea typeface="微软雅黑"/>
                <a:cs typeface="微软雅黑"/>
              </a:rPr>
              <a:t>条有效线索）。</a:t>
            </a:r>
            <a:endParaRPr lang="zh-CN" altLang="en-US" sz="1100" dirty="0">
              <a:solidFill>
                <a:srgbClr val="383838"/>
              </a:solidFill>
              <a:latin typeface="微软雅黑"/>
              <a:ea typeface="微软雅黑"/>
              <a:cs typeface="微软雅黑"/>
            </a:endParaRPr>
          </a:p>
        </p:txBody>
      </p:sp>
      <p:pic>
        <p:nvPicPr>
          <p:cNvPr id="109" name="图片 108" descr="工作计划"/>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5262245" y="2131060"/>
            <a:ext cx="266700" cy="266700"/>
          </a:xfrm>
          <a:prstGeom prst="rect">
            <a:avLst/>
          </a:prstGeom>
        </p:spPr>
      </p:pic>
      <p:cxnSp>
        <p:nvCxnSpPr>
          <p:cNvPr id="111" name="直线连接符 27"/>
          <p:cNvCxnSpPr/>
          <p:nvPr/>
        </p:nvCxnSpPr>
        <p:spPr>
          <a:xfrm>
            <a:off x="6222365" y="4224655"/>
            <a:ext cx="1670050" cy="0"/>
          </a:xfrm>
          <a:prstGeom prst="line">
            <a:avLst/>
          </a:prstGeom>
          <a:ln>
            <a:solidFill>
              <a:srgbClr val="0042FF">
                <a:alpha val="26531"/>
              </a:srgbClr>
            </a:solidFill>
            <a:prstDash val="lgDash"/>
          </a:ln>
        </p:spPr>
        <p:style>
          <a:lnRef idx="1">
            <a:srgbClr val="0042FF"/>
          </a:lnRef>
          <a:fillRef idx="0">
            <a:srgbClr val="0042FF"/>
          </a:fillRef>
          <a:effectRef idx="0">
            <a:srgbClr val="0042FF"/>
          </a:effectRef>
          <a:fontRef idx="minor">
            <a:srgbClr val="383838"/>
          </a:fontRef>
        </p:style>
      </p:cxnSp>
      <p:cxnSp>
        <p:nvCxnSpPr>
          <p:cNvPr id="112" name="直线连接符 28"/>
          <p:cNvCxnSpPr/>
          <p:nvPr/>
        </p:nvCxnSpPr>
        <p:spPr>
          <a:xfrm>
            <a:off x="6973570" y="3688715"/>
            <a:ext cx="0" cy="1816100"/>
          </a:xfrm>
          <a:prstGeom prst="line">
            <a:avLst/>
          </a:prstGeom>
          <a:ln>
            <a:solidFill>
              <a:srgbClr val="0042FF">
                <a:alpha val="26531"/>
              </a:srgbClr>
            </a:solidFill>
            <a:prstDash val="lgDash"/>
          </a:ln>
        </p:spPr>
        <p:style>
          <a:lnRef idx="1">
            <a:srgbClr val="0042FF"/>
          </a:lnRef>
          <a:fillRef idx="0">
            <a:srgbClr val="0042FF"/>
          </a:fillRef>
          <a:effectRef idx="0">
            <a:srgbClr val="0042FF"/>
          </a:effectRef>
          <a:fontRef idx="minor">
            <a:srgbClr val="383838"/>
          </a:fontRef>
        </p:style>
      </p:cxnSp>
      <p:cxnSp>
        <p:nvCxnSpPr>
          <p:cNvPr id="114" name="直线连接符 83"/>
          <p:cNvCxnSpPr/>
          <p:nvPr/>
        </p:nvCxnSpPr>
        <p:spPr>
          <a:xfrm>
            <a:off x="6222365" y="4877435"/>
            <a:ext cx="1612900" cy="0"/>
          </a:xfrm>
          <a:prstGeom prst="line">
            <a:avLst/>
          </a:prstGeom>
          <a:ln>
            <a:solidFill>
              <a:srgbClr val="0042FF">
                <a:alpha val="26531"/>
              </a:srgbClr>
            </a:solidFill>
            <a:prstDash val="lgDash"/>
          </a:ln>
        </p:spPr>
        <p:style>
          <a:lnRef idx="1">
            <a:srgbClr val="0042FF"/>
          </a:lnRef>
          <a:fillRef idx="0">
            <a:srgbClr val="0042FF"/>
          </a:fillRef>
          <a:effectRef idx="0">
            <a:srgbClr val="0042FF"/>
          </a:effectRef>
          <a:fontRef idx="minor">
            <a:srgbClr val="383838"/>
          </a:fontRef>
        </p:style>
      </p:cxnSp>
      <p:sp>
        <p:nvSpPr>
          <p:cNvPr id="115" name="文本框 114"/>
          <p:cNvSpPr txBox="1"/>
          <p:nvPr/>
        </p:nvSpPr>
        <p:spPr>
          <a:xfrm>
            <a:off x="6260783" y="3646170"/>
            <a:ext cx="729615" cy="321945"/>
          </a:xfrm>
          <a:prstGeom prst="rect">
            <a:avLst/>
          </a:prstGeom>
          <a:noFill/>
        </p:spPr>
        <p:txBody>
          <a:bodyPr wrap="square" rtlCol="0">
            <a:spAutoFit/>
          </a:bodyPr>
          <a:lstStyle/>
          <a:p>
            <a:pPr algn="ctr">
              <a:defRPr>
                <a:latin typeface="微软雅黑"/>
                <a:ea typeface="微软雅黑"/>
                <a:cs typeface="微软雅黑"/>
              </a:defRPr>
            </a:pPr>
            <a:r>
              <a:rPr lang="en-US" sz="1500" dirty="0">
                <a:solidFill>
                  <a:srgbClr val="0042FF"/>
                </a:solidFill>
                <a:latin typeface="微软雅黑"/>
                <a:ea typeface="微软雅黑"/>
                <a:cs typeface="微软雅黑"/>
              </a:rPr>
              <a:t>120%</a:t>
            </a:r>
            <a:endParaRPr lang="en-US" sz="1500" dirty="0">
              <a:solidFill>
                <a:srgbClr val="0042FF"/>
              </a:solidFill>
              <a:latin typeface="微软雅黑"/>
              <a:ea typeface="微软雅黑"/>
              <a:cs typeface="微软雅黑"/>
            </a:endParaRPr>
          </a:p>
        </p:txBody>
      </p:sp>
      <p:sp>
        <p:nvSpPr>
          <p:cNvPr id="116" name="文本框 115"/>
          <p:cNvSpPr txBox="1"/>
          <p:nvPr/>
        </p:nvSpPr>
        <p:spPr>
          <a:xfrm>
            <a:off x="6250305" y="3873500"/>
            <a:ext cx="750570" cy="294005"/>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100" dirty="0">
                <a:solidFill>
                  <a:srgbClr val="383838"/>
                </a:solidFill>
                <a:latin typeface="微软雅黑"/>
                <a:ea typeface="微软雅黑"/>
                <a:cs typeface="微软雅黑"/>
              </a:rPr>
              <a:t>超额目标</a:t>
            </a:r>
            <a:endParaRPr lang="zh-CN" altLang="en-US" sz="1100" dirty="0">
              <a:solidFill>
                <a:srgbClr val="383838"/>
              </a:solidFill>
              <a:latin typeface="微软雅黑"/>
              <a:ea typeface="微软雅黑"/>
              <a:cs typeface="微软雅黑"/>
            </a:endParaRPr>
          </a:p>
        </p:txBody>
      </p:sp>
      <p:sp>
        <p:nvSpPr>
          <p:cNvPr id="117" name="文本框 116"/>
          <p:cNvSpPr txBox="1"/>
          <p:nvPr/>
        </p:nvSpPr>
        <p:spPr>
          <a:xfrm>
            <a:off x="6355080" y="4265295"/>
            <a:ext cx="635000" cy="321945"/>
          </a:xfrm>
          <a:prstGeom prst="rect">
            <a:avLst/>
          </a:prstGeom>
          <a:noFill/>
        </p:spPr>
        <p:txBody>
          <a:bodyPr wrap="square" rtlCol="0">
            <a:spAutoFit/>
          </a:bodyPr>
          <a:lstStyle/>
          <a:p>
            <a:pPr>
              <a:defRPr>
                <a:latin typeface="微软雅黑"/>
                <a:ea typeface="微软雅黑"/>
                <a:cs typeface="微软雅黑"/>
              </a:defRPr>
            </a:pPr>
            <a:r>
              <a:rPr lang="en-US" sz="1500" dirty="0">
                <a:solidFill>
                  <a:srgbClr val="0042FF"/>
                </a:solidFill>
                <a:latin typeface="微软雅黑"/>
                <a:ea typeface="微软雅黑"/>
                <a:cs typeface="微软雅黑"/>
              </a:rPr>
              <a:t>30%</a:t>
            </a:r>
            <a:endParaRPr lang="en-US" sz="1500" dirty="0">
              <a:solidFill>
                <a:srgbClr val="0042FF"/>
              </a:solidFill>
              <a:latin typeface="微软雅黑"/>
              <a:ea typeface="微软雅黑"/>
              <a:cs typeface="微软雅黑"/>
            </a:endParaRPr>
          </a:p>
        </p:txBody>
      </p:sp>
      <p:sp>
        <p:nvSpPr>
          <p:cNvPr id="118" name="文本框 117"/>
          <p:cNvSpPr txBox="1"/>
          <p:nvPr/>
        </p:nvSpPr>
        <p:spPr>
          <a:xfrm>
            <a:off x="6250305" y="4492625"/>
            <a:ext cx="750570" cy="294005"/>
          </a:xfrm>
          <a:prstGeom prst="rect">
            <a:avLst/>
          </a:prstGeom>
          <a:noFill/>
        </p:spPr>
        <p:txBody>
          <a:bodyPr wrap="square" rtlCol="0">
            <a:spAutoFit/>
          </a:bodyPr>
          <a:lstStyle/>
          <a:p>
            <a:pPr algn="ctr">
              <a:lnSpc>
                <a:spcPct val="120000"/>
              </a:lnSpc>
              <a:defRPr>
                <a:latin typeface="微软雅黑"/>
                <a:ea typeface="微软雅黑"/>
                <a:cs typeface="微软雅黑"/>
              </a:defRPr>
            </a:pPr>
            <a:r>
              <a:rPr lang="zh-CN" altLang="en-US" sz="1100" dirty="0">
                <a:solidFill>
                  <a:srgbClr val="383838"/>
                </a:solidFill>
                <a:latin typeface="微软雅黑"/>
                <a:ea typeface="微软雅黑"/>
                <a:cs typeface="微软雅黑"/>
              </a:rPr>
              <a:t>销售奖金</a:t>
            </a:r>
            <a:endParaRPr lang="zh-CN" altLang="en-US" sz="1100" dirty="0">
              <a:solidFill>
                <a:srgbClr val="383838"/>
              </a:solidFill>
              <a:latin typeface="微软雅黑"/>
              <a:ea typeface="微软雅黑"/>
              <a:cs typeface="微软雅黑"/>
            </a:endParaRPr>
          </a:p>
        </p:txBody>
      </p:sp>
      <p:sp>
        <p:nvSpPr>
          <p:cNvPr id="119" name="文本框 118"/>
          <p:cNvSpPr txBox="1"/>
          <p:nvPr/>
        </p:nvSpPr>
        <p:spPr>
          <a:xfrm>
            <a:off x="6330315" y="4954905"/>
            <a:ext cx="590550" cy="321945"/>
          </a:xfrm>
          <a:prstGeom prst="rect">
            <a:avLst/>
          </a:prstGeom>
          <a:noFill/>
        </p:spPr>
        <p:txBody>
          <a:bodyPr wrap="square" rtlCol="0">
            <a:spAutoFit/>
          </a:bodyPr>
          <a:lstStyle/>
          <a:p>
            <a:pPr algn="ctr">
              <a:defRPr>
                <a:latin typeface="微软雅黑"/>
                <a:ea typeface="微软雅黑"/>
                <a:cs typeface="微软雅黑"/>
              </a:defRPr>
            </a:pPr>
            <a:r>
              <a:rPr lang="en-US" sz="1500" dirty="0">
                <a:solidFill>
                  <a:srgbClr val="0042FF"/>
                </a:solidFill>
                <a:latin typeface="微软雅黑"/>
                <a:ea typeface="微软雅黑"/>
                <a:cs typeface="微软雅黑"/>
              </a:rPr>
              <a:t>7%</a:t>
            </a:r>
            <a:endParaRPr lang="en-US" sz="1500" dirty="0">
              <a:solidFill>
                <a:srgbClr val="0042FF"/>
              </a:solidFill>
              <a:latin typeface="微软雅黑"/>
              <a:ea typeface="微软雅黑"/>
              <a:cs typeface="微软雅黑"/>
            </a:endParaRPr>
          </a:p>
        </p:txBody>
      </p:sp>
      <p:sp>
        <p:nvSpPr>
          <p:cNvPr id="120" name="文本框 119"/>
          <p:cNvSpPr txBox="1"/>
          <p:nvPr/>
        </p:nvSpPr>
        <p:spPr>
          <a:xfrm>
            <a:off x="6250305" y="5182235"/>
            <a:ext cx="750570" cy="294005"/>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100" dirty="0">
                <a:solidFill>
                  <a:srgbClr val="383838"/>
                </a:solidFill>
                <a:latin typeface="微软雅黑"/>
                <a:ea typeface="微软雅黑"/>
                <a:cs typeface="微软雅黑"/>
              </a:rPr>
              <a:t>毛利提升</a:t>
            </a:r>
            <a:endParaRPr lang="zh-CN" altLang="en-US" sz="1100" dirty="0">
              <a:solidFill>
                <a:srgbClr val="383838"/>
              </a:solidFill>
              <a:latin typeface="微软雅黑"/>
              <a:ea typeface="微软雅黑"/>
              <a:cs typeface="微软雅黑"/>
            </a:endParaRPr>
          </a:p>
        </p:txBody>
      </p:sp>
      <p:sp>
        <p:nvSpPr>
          <p:cNvPr id="121" name="文本框 120"/>
          <p:cNvSpPr txBox="1"/>
          <p:nvPr/>
        </p:nvSpPr>
        <p:spPr>
          <a:xfrm>
            <a:off x="7057390" y="3646170"/>
            <a:ext cx="768350" cy="321945"/>
          </a:xfrm>
          <a:prstGeom prst="rect">
            <a:avLst/>
          </a:prstGeom>
          <a:noFill/>
        </p:spPr>
        <p:txBody>
          <a:bodyPr wrap="square" rtlCol="0">
            <a:spAutoFit/>
          </a:bodyPr>
          <a:lstStyle/>
          <a:p>
            <a:pPr algn="ctr">
              <a:defRPr>
                <a:latin typeface="微软雅黑"/>
                <a:ea typeface="微软雅黑"/>
                <a:cs typeface="微软雅黑"/>
              </a:defRPr>
            </a:pPr>
            <a:r>
              <a:rPr lang="en-US" sz="1500" dirty="0">
                <a:solidFill>
                  <a:srgbClr val="0042FF"/>
                </a:solidFill>
                <a:latin typeface="微软雅黑"/>
                <a:ea typeface="微软雅黑"/>
                <a:cs typeface="微软雅黑"/>
              </a:rPr>
              <a:t>15%</a:t>
            </a:r>
            <a:endParaRPr lang="en-US" sz="1500" dirty="0">
              <a:solidFill>
                <a:srgbClr val="0042FF"/>
              </a:solidFill>
              <a:latin typeface="微软雅黑"/>
              <a:ea typeface="微软雅黑"/>
              <a:cs typeface="微软雅黑"/>
            </a:endParaRPr>
          </a:p>
        </p:txBody>
      </p:sp>
      <p:sp>
        <p:nvSpPr>
          <p:cNvPr id="122" name="文本框 121"/>
          <p:cNvSpPr txBox="1"/>
          <p:nvPr/>
        </p:nvSpPr>
        <p:spPr>
          <a:xfrm>
            <a:off x="7056755" y="3873500"/>
            <a:ext cx="750570" cy="294005"/>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100" dirty="0">
                <a:solidFill>
                  <a:srgbClr val="383838"/>
                </a:solidFill>
                <a:latin typeface="微软雅黑"/>
                <a:ea typeface="微软雅黑"/>
                <a:cs typeface="微软雅黑"/>
              </a:rPr>
              <a:t>绩效提成</a:t>
            </a:r>
            <a:endParaRPr lang="zh-CN" altLang="en-US" sz="1100" dirty="0">
              <a:solidFill>
                <a:srgbClr val="383838"/>
              </a:solidFill>
              <a:latin typeface="微软雅黑"/>
              <a:ea typeface="微软雅黑"/>
              <a:cs typeface="微软雅黑"/>
            </a:endParaRPr>
          </a:p>
        </p:txBody>
      </p:sp>
      <p:sp>
        <p:nvSpPr>
          <p:cNvPr id="123" name="文本框 122"/>
          <p:cNvSpPr txBox="1"/>
          <p:nvPr/>
        </p:nvSpPr>
        <p:spPr>
          <a:xfrm>
            <a:off x="7076758" y="4265295"/>
            <a:ext cx="729615" cy="321945"/>
          </a:xfrm>
          <a:prstGeom prst="rect">
            <a:avLst/>
          </a:prstGeom>
          <a:noFill/>
        </p:spPr>
        <p:txBody>
          <a:bodyPr wrap="square" rtlCol="0">
            <a:spAutoFit/>
          </a:bodyPr>
          <a:lstStyle/>
          <a:p>
            <a:pPr algn="ctr">
              <a:defRPr>
                <a:latin typeface="微软雅黑"/>
                <a:ea typeface="微软雅黑"/>
                <a:cs typeface="微软雅黑"/>
              </a:defRPr>
            </a:pPr>
            <a:r>
              <a:rPr lang="en-US" sz="1500" dirty="0">
                <a:solidFill>
                  <a:srgbClr val="0042FF"/>
                </a:solidFill>
                <a:latin typeface="微软雅黑"/>
                <a:ea typeface="微软雅黑"/>
                <a:cs typeface="微软雅黑"/>
              </a:rPr>
              <a:t>1.2</a:t>
            </a:r>
            <a:r>
              <a:rPr lang="zh-CN" altLang="en-US" sz="1500" dirty="0">
                <a:solidFill>
                  <a:srgbClr val="0042FF"/>
                </a:solidFill>
                <a:latin typeface="微软雅黑"/>
                <a:ea typeface="微软雅黑"/>
                <a:cs typeface="微软雅黑"/>
              </a:rPr>
              <a:t>万</a:t>
            </a:r>
            <a:endParaRPr lang="zh-CN" altLang="en-US" sz="1500" dirty="0">
              <a:solidFill>
                <a:srgbClr val="0042FF"/>
              </a:solidFill>
              <a:latin typeface="微软雅黑"/>
              <a:ea typeface="微软雅黑"/>
              <a:cs typeface="微软雅黑"/>
            </a:endParaRPr>
          </a:p>
        </p:txBody>
      </p:sp>
      <p:sp>
        <p:nvSpPr>
          <p:cNvPr id="124" name="文本框 123"/>
          <p:cNvSpPr txBox="1"/>
          <p:nvPr/>
        </p:nvSpPr>
        <p:spPr>
          <a:xfrm>
            <a:off x="7070725" y="4492625"/>
            <a:ext cx="750570" cy="294005"/>
          </a:xfrm>
          <a:prstGeom prst="rect">
            <a:avLst/>
          </a:prstGeom>
          <a:noFill/>
        </p:spPr>
        <p:txBody>
          <a:bodyPr wrap="square" rtlCol="0">
            <a:spAutoFit/>
          </a:bodyPr>
          <a:lstStyle/>
          <a:p>
            <a:pPr algn="ctr">
              <a:lnSpc>
                <a:spcPct val="120000"/>
              </a:lnSpc>
              <a:defRPr>
                <a:latin typeface="微软雅黑"/>
                <a:ea typeface="微软雅黑"/>
                <a:cs typeface="微软雅黑"/>
              </a:defRPr>
            </a:pPr>
            <a:r>
              <a:rPr lang="zh-CN" altLang="en-US" sz="1100" dirty="0">
                <a:solidFill>
                  <a:srgbClr val="383838"/>
                </a:solidFill>
                <a:latin typeface="微软雅黑"/>
                <a:ea typeface="微软雅黑"/>
                <a:cs typeface="微软雅黑"/>
              </a:rPr>
              <a:t>销售拜访</a:t>
            </a:r>
            <a:endParaRPr lang="zh-CN" altLang="en-US" sz="1100" dirty="0">
              <a:solidFill>
                <a:srgbClr val="383838"/>
              </a:solidFill>
              <a:latin typeface="微软雅黑"/>
              <a:ea typeface="微软雅黑"/>
              <a:cs typeface="微软雅黑"/>
            </a:endParaRPr>
          </a:p>
        </p:txBody>
      </p:sp>
      <p:sp>
        <p:nvSpPr>
          <p:cNvPr id="125" name="文本框 124"/>
          <p:cNvSpPr txBox="1"/>
          <p:nvPr/>
        </p:nvSpPr>
        <p:spPr>
          <a:xfrm>
            <a:off x="7076758" y="4954905"/>
            <a:ext cx="729615" cy="321945"/>
          </a:xfrm>
          <a:prstGeom prst="rect">
            <a:avLst/>
          </a:prstGeom>
          <a:noFill/>
        </p:spPr>
        <p:txBody>
          <a:bodyPr wrap="square" rtlCol="0">
            <a:spAutoFit/>
          </a:bodyPr>
          <a:lstStyle/>
          <a:p>
            <a:pPr algn="ctr">
              <a:defRPr>
                <a:latin typeface="微软雅黑"/>
                <a:ea typeface="微软雅黑"/>
                <a:cs typeface="微软雅黑"/>
              </a:defRPr>
            </a:pPr>
            <a:r>
              <a:rPr lang="en-US" sz="1500" dirty="0">
                <a:solidFill>
                  <a:srgbClr val="0042FF"/>
                </a:solidFill>
                <a:latin typeface="微软雅黑"/>
                <a:ea typeface="微软雅黑"/>
                <a:cs typeface="微软雅黑"/>
              </a:rPr>
              <a:t>100%</a:t>
            </a:r>
            <a:endParaRPr lang="en-US" sz="1500" dirty="0">
              <a:solidFill>
                <a:srgbClr val="0042FF"/>
              </a:solidFill>
              <a:latin typeface="微软雅黑"/>
              <a:ea typeface="微软雅黑"/>
              <a:cs typeface="微软雅黑"/>
            </a:endParaRPr>
          </a:p>
        </p:txBody>
      </p:sp>
      <p:sp>
        <p:nvSpPr>
          <p:cNvPr id="126" name="文本框 125"/>
          <p:cNvSpPr txBox="1"/>
          <p:nvPr/>
        </p:nvSpPr>
        <p:spPr>
          <a:xfrm>
            <a:off x="7056755" y="5182235"/>
            <a:ext cx="750570" cy="294005"/>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100" dirty="0">
                <a:solidFill>
                  <a:srgbClr val="383838"/>
                </a:solidFill>
                <a:latin typeface="微软雅黑"/>
                <a:ea typeface="微软雅黑"/>
                <a:cs typeface="微软雅黑"/>
              </a:rPr>
              <a:t>任务跟进</a:t>
            </a:r>
            <a:endParaRPr lang="zh-CN" altLang="en-US" sz="1100" dirty="0">
              <a:solidFill>
                <a:srgbClr val="383838"/>
              </a:solidFill>
              <a:latin typeface="微软雅黑"/>
              <a:ea typeface="微软雅黑"/>
              <a:cs typeface="微软雅黑"/>
            </a:endParaRPr>
          </a:p>
        </p:txBody>
      </p:sp>
      <p:sp>
        <p:nvSpPr>
          <p:cNvPr id="127" name="文本框 126"/>
          <p:cNvSpPr txBox="1"/>
          <p:nvPr/>
        </p:nvSpPr>
        <p:spPr>
          <a:xfrm>
            <a:off x="6165215" y="5992495"/>
            <a:ext cx="1778635" cy="398780"/>
          </a:xfrm>
          <a:prstGeom prst="rect">
            <a:avLst/>
          </a:prstGeom>
          <a:noFill/>
        </p:spPr>
        <p:txBody>
          <a:bodyPr wrap="square"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将</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新客户占比</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纳入考核，奖金</a:t>
            </a:r>
            <a:r>
              <a:rPr lang="en-US" altLang="zh-CN" sz="1000" dirty="0">
                <a:solidFill>
                  <a:srgbClr val="FFFFFF"/>
                </a:solidFill>
                <a:latin typeface="微软雅黑"/>
                <a:ea typeface="微软雅黑"/>
                <a:cs typeface="微软雅黑"/>
              </a:rPr>
              <a:t>30%</a:t>
            </a:r>
            <a:r>
              <a:rPr lang="zh-CN" altLang="en-US" sz="1000" dirty="0">
                <a:solidFill>
                  <a:srgbClr val="FFFFFF"/>
                </a:solidFill>
                <a:latin typeface="微软雅黑"/>
                <a:ea typeface="微软雅黑"/>
                <a:cs typeface="微软雅黑"/>
              </a:rPr>
              <a:t>与新客业绩挂钩。</a:t>
            </a:r>
            <a:endParaRPr lang="zh-CN" altLang="en-US" sz="1000" dirty="0">
              <a:solidFill>
                <a:srgbClr val="FFFFFF"/>
              </a:solidFill>
              <a:latin typeface="微软雅黑"/>
              <a:ea typeface="微软雅黑"/>
              <a:cs typeface="微软雅黑"/>
            </a:endParaRPr>
          </a:p>
        </p:txBody>
      </p:sp>
      <p:pic>
        <p:nvPicPr>
          <p:cNvPr id="128" name="图片 127" descr="钱袋"/>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6744970" y="2099310"/>
            <a:ext cx="292100" cy="292100"/>
          </a:xfrm>
          <a:prstGeom prst="rect">
            <a:avLst/>
          </a:prstGeom>
        </p:spPr>
      </p:pic>
      <p:sp>
        <p:nvSpPr>
          <p:cNvPr id="129" name="文本框 128"/>
          <p:cNvSpPr txBox="1"/>
          <p:nvPr>
            <p:custDataLst>
              <p:tags r:id="rId23"/>
            </p:custDataLst>
          </p:nvPr>
        </p:nvSpPr>
        <p:spPr>
          <a:xfrm>
            <a:off x="7951470" y="3660140"/>
            <a:ext cx="1823085" cy="1614805"/>
          </a:xfrm>
          <a:prstGeom prst="rect">
            <a:avLst/>
          </a:prstGeom>
          <a:noFill/>
        </p:spPr>
        <p:txBody>
          <a:bodyPr wrap="square">
            <a:spAutoFit/>
          </a:bodyPr>
          <a:lstStyle/>
          <a:p>
            <a:pPr marL="171450" indent="-171450">
              <a:lnSpc>
                <a:spcPct val="15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双周经营会议，对比目标差距，调整策略（如清理长库龄</a:t>
            </a:r>
            <a:r>
              <a:rPr lang="zh-CN" altLang="en-US" sz="1100" dirty="0">
                <a:solidFill>
                  <a:srgbClr val="383838"/>
                </a:solidFill>
                <a:latin typeface="微软雅黑"/>
                <a:ea typeface="微软雅黑"/>
                <a:cs typeface="微软雅黑"/>
                <a:sym typeface="微软雅黑"/>
              </a:rPr>
              <a:t>）</a:t>
            </a:r>
            <a:r>
              <a:rPr lang="zh-CN" sz="1100" dirty="0">
                <a:solidFill>
                  <a:srgbClr val="383838"/>
                </a:solidFill>
                <a:latin typeface="微软雅黑"/>
                <a:ea typeface="微软雅黑"/>
                <a:cs typeface="微软雅黑"/>
              </a:rPr>
              <a:t>；</a:t>
            </a:r>
            <a:endParaRPr lang="zh-CN" sz="1100" dirty="0">
              <a:solidFill>
                <a:srgbClr val="383838"/>
              </a:solidFill>
              <a:latin typeface="微软雅黑"/>
              <a:ea typeface="微软雅黑"/>
              <a:cs typeface="微软雅黑"/>
            </a:endParaRPr>
          </a:p>
          <a:p>
            <a:pPr marL="171450" indent="-171450">
              <a:lnSpc>
                <a:spcPct val="15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实时仪表盘：监控核心指标波动（如线索转化率单日</a:t>
            </a:r>
            <a:r>
              <a:rPr lang="en-US" altLang="zh-CN" sz="1100" dirty="0">
                <a:solidFill>
                  <a:srgbClr val="383838"/>
                </a:solidFill>
                <a:latin typeface="微软雅黑"/>
                <a:ea typeface="微软雅黑"/>
                <a:cs typeface="微软雅黑"/>
              </a:rPr>
              <a:t>-5%</a:t>
            </a:r>
            <a:r>
              <a:rPr lang="zh-CN" altLang="en-US" sz="1100" dirty="0">
                <a:solidFill>
                  <a:srgbClr val="383838"/>
                </a:solidFill>
                <a:latin typeface="微软雅黑"/>
                <a:ea typeface="微软雅黑"/>
                <a:cs typeface="微软雅黑"/>
              </a:rPr>
              <a:t>触发预警）。</a:t>
            </a:r>
            <a:endParaRPr lang="zh-CN" altLang="en-US" sz="1100" dirty="0">
              <a:solidFill>
                <a:srgbClr val="383838"/>
              </a:solidFill>
              <a:latin typeface="微软雅黑"/>
              <a:ea typeface="微软雅黑"/>
              <a:cs typeface="微软雅黑"/>
            </a:endParaRPr>
          </a:p>
        </p:txBody>
      </p:sp>
      <p:pic>
        <p:nvPicPr>
          <p:cNvPr id="130" name="图片 129" descr="复盘（OKR导航专用）"/>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9977120" y="2131060"/>
            <a:ext cx="295910" cy="295910"/>
          </a:xfrm>
          <a:prstGeom prst="rect">
            <a:avLst/>
          </a:prstGeom>
        </p:spPr>
      </p:pic>
      <p:sp>
        <p:nvSpPr>
          <p:cNvPr id="132" name="Rectangle 19"/>
          <p:cNvSpPr>
            <a:spLocks noChangeArrowheads="1"/>
          </p:cNvSpPr>
          <p:nvPr>
            <p:custDataLst>
              <p:tags r:id="rId26"/>
            </p:custDataLst>
          </p:nvPr>
        </p:nvSpPr>
        <p:spPr bwMode="auto">
          <a:xfrm>
            <a:off x="10405110" y="5690235"/>
            <a:ext cx="993140" cy="184150"/>
          </a:xfrm>
          <a:prstGeom prst="rect">
            <a:avLst/>
          </a:prstGeom>
          <a:noFill/>
          <a:ln>
            <a:noFill/>
          </a:ln>
          <a:effectLst/>
          <a:scene3d>
            <a:camera prst="perspectiveRelaxed"/>
            <a:lightRig rig="threePt" dir="t"/>
          </a:scene3d>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12700">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spAutoFit/>
          </a:bodyPr>
          <a:lstStyle>
            <a:lvl1pPr defTabSz="787400">
              <a:spcAft>
                <a:spcPct val="0"/>
              </a:spcAft>
              <a:defRPr>
                <a:solidFill>
                  <a:srgbClr val="383838"/>
                </a:solidFill>
                <a:latin typeface="微软雅黑"/>
                <a:ea typeface="微软雅黑"/>
                <a:cs typeface="微软雅黑"/>
              </a:defRPr>
            </a:lvl1pPr>
            <a:lvl2pPr marL="133350" indent="-132080" defTabSz="787400">
              <a:spcAft>
                <a:spcPct val="0"/>
              </a:spcAft>
              <a:buSzPct val="120000"/>
              <a:buChar char="•"/>
              <a:defRPr>
                <a:solidFill>
                  <a:srgbClr val="383838"/>
                </a:solidFill>
                <a:latin typeface="微软雅黑"/>
                <a:ea typeface="微软雅黑"/>
                <a:cs typeface="微软雅黑"/>
              </a:defRPr>
            </a:lvl2pPr>
            <a:lvl3pPr marL="301625" indent="-151130" defTabSz="787400">
              <a:spcAft>
                <a:spcPct val="0"/>
              </a:spcAft>
              <a:buChar char="–"/>
              <a:defRPr>
                <a:solidFill>
                  <a:srgbClr val="383838"/>
                </a:solidFill>
                <a:latin typeface="微软雅黑"/>
                <a:ea typeface="微软雅黑"/>
                <a:cs typeface="微软雅黑"/>
              </a:defRPr>
            </a:lvl3pPr>
            <a:lvl4pPr marL="440055" indent="-136525" defTabSz="787400">
              <a:spcAft>
                <a:spcPct val="0"/>
              </a:spcAft>
              <a:buSzPct val="100000"/>
              <a:buChar char="•"/>
              <a:defRPr>
                <a:solidFill>
                  <a:srgbClr val="383838"/>
                </a:solidFill>
                <a:latin typeface="微软雅黑"/>
                <a:ea typeface="微软雅黑"/>
                <a:cs typeface="微软雅黑"/>
              </a:defRPr>
            </a:lvl4pPr>
            <a:lvl5pPr marL="603250" indent="-142875" defTabSz="787400">
              <a:spcAft>
                <a:spcPct val="0"/>
              </a:spcAft>
              <a:buSzPct val="100000"/>
              <a:buChar char="–"/>
              <a:defRPr>
                <a:solidFill>
                  <a:srgbClr val="383838"/>
                </a:solidFill>
                <a:latin typeface="微软雅黑"/>
                <a:ea typeface="微软雅黑"/>
                <a:cs typeface="微软雅黑"/>
              </a:defRPr>
            </a:lvl5pPr>
            <a:lvl6pPr marL="10604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6pPr>
            <a:lvl7pPr marL="15176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7pPr>
            <a:lvl8pPr marL="19748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8pPr>
            <a:lvl9pPr marL="2432050" indent="-142875" defTabSz="787400" eaLnBrk="0" fontAlgn="base" hangingPunct="0">
              <a:spcBef>
                <a:spcPct val="0"/>
              </a:spcBef>
              <a:spcAft>
                <a:spcPct val="0"/>
              </a:spcAft>
              <a:buSzPct val="100000"/>
              <a:buChar cha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第六步</a:t>
            </a:r>
            <a:endParaRPr lang="zh-CN" altLang="en-US" sz="1200" b="1" dirty="0">
              <a:solidFill>
                <a:srgbClr val="383838"/>
              </a:solidFill>
              <a:latin typeface="微软雅黑"/>
              <a:ea typeface="微软雅黑"/>
              <a:cs typeface="微软雅黑"/>
            </a:endParaRPr>
          </a:p>
        </p:txBody>
      </p:sp>
      <p:sp>
        <p:nvSpPr>
          <p:cNvPr id="133" name="文本框 132"/>
          <p:cNvSpPr txBox="1"/>
          <p:nvPr/>
        </p:nvSpPr>
        <p:spPr>
          <a:xfrm>
            <a:off x="2449830" y="5205095"/>
            <a:ext cx="880745" cy="229870"/>
          </a:xfrm>
          <a:prstGeom prst="rect">
            <a:avLst/>
          </a:prstGeom>
          <a:noFill/>
          <a:ln>
            <a:noFill/>
          </a:ln>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平均成交周期</a:t>
            </a:r>
            <a:endParaRPr lang="zh-CN" altLang="en-US" sz="1000" dirty="0">
              <a:solidFill>
                <a:srgbClr val="0042FF"/>
              </a:solidFill>
              <a:latin typeface="微软雅黑"/>
              <a:ea typeface="微软雅黑"/>
              <a:cs typeface="微软雅黑"/>
            </a:endParaRPr>
          </a:p>
        </p:txBody>
      </p:sp>
      <p:sp>
        <p:nvSpPr>
          <p:cNvPr id="134" name="文本框 133"/>
          <p:cNvSpPr txBox="1"/>
          <p:nvPr/>
        </p:nvSpPr>
        <p:spPr>
          <a:xfrm>
            <a:off x="3330575" y="5205095"/>
            <a:ext cx="880745" cy="229870"/>
          </a:xfrm>
          <a:prstGeom prst="rect">
            <a:avLst/>
          </a:prstGeom>
          <a:noFill/>
          <a:ln>
            <a:noFill/>
          </a:ln>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产品使用频率</a:t>
            </a:r>
            <a:endParaRPr lang="zh-CN" altLang="en-US" sz="1000" dirty="0">
              <a:solidFill>
                <a:srgbClr val="0042FF"/>
              </a:solidFill>
              <a:latin typeface="微软雅黑"/>
              <a:ea typeface="微软雅黑"/>
              <a:cs typeface="微软雅黑"/>
            </a:endParaRPr>
          </a:p>
        </p:txBody>
      </p:sp>
      <p:sp>
        <p:nvSpPr>
          <p:cNvPr id="8" name="文本框 7"/>
          <p:cNvSpPr txBox="1"/>
          <p:nvPr/>
        </p:nvSpPr>
        <p:spPr>
          <a:xfrm>
            <a:off x="718820" y="2689225"/>
            <a:ext cx="1461135" cy="30670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制定战略目标</a:t>
            </a:r>
            <a:endParaRPr lang="en-US" altLang="zh-CN" sz="1400" dirty="0">
              <a:solidFill>
                <a:srgbClr val="FFFFFF"/>
              </a:solidFill>
              <a:latin typeface="微软雅黑"/>
              <a:ea typeface="微软雅黑"/>
              <a:cs typeface="微软雅黑"/>
            </a:endParaRPr>
          </a:p>
        </p:txBody>
      </p:sp>
      <p:sp>
        <p:nvSpPr>
          <p:cNvPr id="9" name="文本框 8"/>
          <p:cNvSpPr txBox="1"/>
          <p:nvPr/>
        </p:nvSpPr>
        <p:spPr>
          <a:xfrm>
            <a:off x="2626995" y="2689225"/>
            <a:ext cx="1355725" cy="30670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确定关键指标</a:t>
            </a:r>
            <a:endParaRPr lang="zh-CN" altLang="en-US" sz="1400" dirty="0">
              <a:solidFill>
                <a:srgbClr val="FFFFFF"/>
              </a:solidFill>
              <a:latin typeface="微软雅黑"/>
              <a:ea typeface="微软雅黑"/>
              <a:cs typeface="微软雅黑"/>
            </a:endParaRPr>
          </a:p>
        </p:txBody>
      </p:sp>
      <p:sp>
        <p:nvSpPr>
          <p:cNvPr id="11" name="文本框 10"/>
          <p:cNvSpPr txBox="1"/>
          <p:nvPr/>
        </p:nvSpPr>
        <p:spPr>
          <a:xfrm>
            <a:off x="4490720" y="2689225"/>
            <a:ext cx="1461135" cy="30670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制定工作计划</a:t>
            </a:r>
            <a:endParaRPr lang="zh-CN" altLang="en-US" sz="1400" dirty="0">
              <a:solidFill>
                <a:srgbClr val="FFFFFF"/>
              </a:solidFill>
              <a:latin typeface="微软雅黑"/>
              <a:ea typeface="微软雅黑"/>
              <a:cs typeface="微软雅黑"/>
            </a:endParaRPr>
          </a:p>
        </p:txBody>
      </p:sp>
      <p:sp>
        <p:nvSpPr>
          <p:cNvPr id="12" name="文本框 11"/>
          <p:cNvSpPr txBox="1"/>
          <p:nvPr/>
        </p:nvSpPr>
        <p:spPr>
          <a:xfrm>
            <a:off x="6287770" y="2689225"/>
            <a:ext cx="1459230" cy="30670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设计绩效政策</a:t>
            </a:r>
            <a:endParaRPr lang="zh-CN" altLang="en-US" sz="1400" dirty="0">
              <a:solidFill>
                <a:srgbClr val="FFFFFF"/>
              </a:solidFill>
              <a:latin typeface="微软雅黑"/>
              <a:ea typeface="微软雅黑"/>
              <a:cs typeface="微软雅黑"/>
            </a:endParaRPr>
          </a:p>
        </p:txBody>
      </p:sp>
      <p:sp>
        <p:nvSpPr>
          <p:cNvPr id="13" name="文本框 12"/>
          <p:cNvSpPr txBox="1"/>
          <p:nvPr/>
        </p:nvSpPr>
        <p:spPr>
          <a:xfrm>
            <a:off x="8259445" y="2689225"/>
            <a:ext cx="1237615" cy="30670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执行与监控</a:t>
            </a:r>
            <a:endParaRPr lang="zh-CN" altLang="en-US" sz="1400" dirty="0">
              <a:solidFill>
                <a:srgbClr val="FFFFFF"/>
              </a:solidFill>
              <a:latin typeface="微软雅黑"/>
              <a:ea typeface="微软雅黑"/>
              <a:cs typeface="微软雅黑"/>
            </a:endParaRPr>
          </a:p>
        </p:txBody>
      </p:sp>
      <p:sp>
        <p:nvSpPr>
          <p:cNvPr id="15" name="文本框 14"/>
          <p:cNvSpPr txBox="1"/>
          <p:nvPr/>
        </p:nvSpPr>
        <p:spPr>
          <a:xfrm>
            <a:off x="10113645" y="2689225"/>
            <a:ext cx="1247140" cy="306705"/>
          </a:xfrm>
          <a:prstGeom prst="rect">
            <a:avLst/>
          </a:prstGeom>
          <a:noFill/>
        </p:spPr>
        <p:txBody>
          <a:bodyPr wrap="square">
            <a:spAutoFit/>
          </a:bodyPr>
          <a:lstStyle/>
          <a:p>
            <a:pPr algn="ctr">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复盘与优化</a:t>
            </a:r>
            <a:endParaRPr lang="zh-CN" altLang="en-US" sz="1400" dirty="0">
              <a:solidFill>
                <a:srgbClr val="383838"/>
              </a:solidFill>
              <a:latin typeface="微软雅黑"/>
              <a:ea typeface="微软雅黑"/>
              <a:cs typeface="微软雅黑"/>
            </a:endParaRPr>
          </a:p>
        </p:txBody>
      </p:sp>
      <p:sp>
        <p:nvSpPr>
          <p:cNvPr id="17" name="文本框 16"/>
          <p:cNvSpPr txBox="1"/>
          <p:nvPr/>
        </p:nvSpPr>
        <p:spPr>
          <a:xfrm>
            <a:off x="610235" y="2947670"/>
            <a:ext cx="1688465" cy="25273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b="1" i="0">
                <a:solidFill>
                  <a:srgbClr val="FFFFFF"/>
                </a:solidFill>
                <a:effectLst/>
                <a:latin typeface="微软雅黑"/>
                <a:ea typeface="微软雅黑"/>
                <a:cs typeface="微软雅黑"/>
              </a:defRPr>
            </a:lvl1pPr>
          </a:lstStyle>
          <a:p>
            <a:pPr algn="ctr">
              <a:defRPr>
                <a:solidFill>
                  <a:srgbClr val="FFFFFF"/>
                </a:solidFill>
                <a:latin typeface="微软雅黑"/>
                <a:ea typeface="微软雅黑"/>
                <a:cs typeface="微软雅黑"/>
              </a:defRPr>
            </a:pPr>
            <a:r>
              <a:rPr lang="en-US" altLang="zh-CN" sz="1050" b="0" dirty="0">
                <a:solidFill>
                  <a:srgbClr val="FFFFFF">
                    <a:alpha val="80000"/>
                  </a:srgbClr>
                </a:solidFill>
                <a:latin typeface="微软雅黑"/>
                <a:ea typeface="微软雅黑"/>
                <a:cs typeface="微软雅黑"/>
              </a:rPr>
              <a:t>Strategic Goal Setting</a:t>
            </a:r>
            <a:endParaRPr lang="en-US" altLang="zh-CN" sz="1050" b="0" dirty="0">
              <a:solidFill>
                <a:srgbClr val="FFFFFF">
                  <a:alpha val="80000"/>
                </a:srgbClr>
              </a:solidFill>
              <a:latin typeface="微软雅黑"/>
              <a:ea typeface="微软雅黑"/>
              <a:cs typeface="微软雅黑"/>
            </a:endParaRPr>
          </a:p>
        </p:txBody>
      </p:sp>
      <p:sp>
        <p:nvSpPr>
          <p:cNvPr id="18" name="文本框 17"/>
          <p:cNvSpPr txBox="1"/>
          <p:nvPr/>
        </p:nvSpPr>
        <p:spPr>
          <a:xfrm>
            <a:off x="2821940" y="2947670"/>
            <a:ext cx="986155" cy="25273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b="1" i="0">
                <a:solidFill>
                  <a:srgbClr val="FFFFFF"/>
                </a:solidFill>
                <a:effectLst/>
                <a:latin typeface="微软雅黑"/>
                <a:ea typeface="微软雅黑"/>
                <a:cs typeface="微软雅黑"/>
              </a:defRPr>
            </a:lvl1pPr>
          </a:lstStyle>
          <a:p>
            <a:pPr algn="ctr">
              <a:defRPr>
                <a:solidFill>
                  <a:srgbClr val="FFFFFF"/>
                </a:solidFill>
                <a:latin typeface="微软雅黑"/>
                <a:ea typeface="微软雅黑"/>
                <a:cs typeface="微软雅黑"/>
              </a:defRPr>
            </a:pPr>
            <a:r>
              <a:rPr lang="en-US" altLang="zh-CN" sz="1050" b="0" dirty="0">
                <a:solidFill>
                  <a:srgbClr val="FFFFFF">
                    <a:alpha val="80000"/>
                  </a:srgbClr>
                </a:solidFill>
                <a:latin typeface="微软雅黑"/>
                <a:ea typeface="微软雅黑"/>
                <a:cs typeface="微软雅黑"/>
              </a:rPr>
              <a:t>Define KPIs</a:t>
            </a:r>
            <a:endParaRPr lang="en-US" altLang="zh-CN" sz="1050" b="0" dirty="0">
              <a:solidFill>
                <a:srgbClr val="FFFFFF">
                  <a:alpha val="80000"/>
                </a:srgbClr>
              </a:solidFill>
              <a:latin typeface="微软雅黑"/>
              <a:ea typeface="微软雅黑"/>
              <a:cs typeface="微软雅黑"/>
            </a:endParaRPr>
          </a:p>
        </p:txBody>
      </p:sp>
      <p:sp>
        <p:nvSpPr>
          <p:cNvPr id="21" name="文本框 20"/>
          <p:cNvSpPr txBox="1"/>
          <p:nvPr/>
        </p:nvSpPr>
        <p:spPr>
          <a:xfrm>
            <a:off x="4491355" y="2947670"/>
            <a:ext cx="1386205" cy="25273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b="1" i="0">
                <a:solidFill>
                  <a:srgbClr val="FFFFFF"/>
                </a:solidFill>
                <a:effectLst/>
                <a:latin typeface="微软雅黑"/>
                <a:ea typeface="微软雅黑"/>
                <a:cs typeface="微软雅黑"/>
              </a:defRPr>
            </a:lvl1pPr>
          </a:lstStyle>
          <a:p>
            <a:pPr algn="ctr">
              <a:defRPr>
                <a:solidFill>
                  <a:srgbClr val="FFFFFF"/>
                </a:solidFill>
                <a:latin typeface="微软雅黑"/>
                <a:ea typeface="微软雅黑"/>
                <a:cs typeface="微软雅黑"/>
              </a:defRPr>
            </a:pPr>
            <a:r>
              <a:rPr lang="en-US" altLang="zh-CN" sz="1050" b="0" dirty="0">
                <a:solidFill>
                  <a:srgbClr val="FFFFFF">
                    <a:alpha val="80000"/>
                  </a:srgbClr>
                </a:solidFill>
                <a:latin typeface="微软雅黑"/>
                <a:ea typeface="微软雅黑"/>
                <a:cs typeface="微软雅黑"/>
              </a:rPr>
              <a:t>Work Planning</a:t>
            </a:r>
            <a:endParaRPr lang="en-US" altLang="zh-CN" sz="1050" b="0" dirty="0">
              <a:solidFill>
                <a:srgbClr val="FFFFFF">
                  <a:alpha val="80000"/>
                </a:srgbClr>
              </a:solidFill>
              <a:latin typeface="微软雅黑"/>
              <a:ea typeface="微软雅黑"/>
              <a:cs typeface="微软雅黑"/>
            </a:endParaRPr>
          </a:p>
        </p:txBody>
      </p:sp>
      <p:sp>
        <p:nvSpPr>
          <p:cNvPr id="47" name="文本框 46"/>
          <p:cNvSpPr txBox="1"/>
          <p:nvPr/>
        </p:nvSpPr>
        <p:spPr>
          <a:xfrm>
            <a:off x="6087745" y="2947670"/>
            <a:ext cx="1845310" cy="25273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b="1" i="0">
                <a:solidFill>
                  <a:srgbClr val="FFFFFF"/>
                </a:solidFill>
                <a:effectLst/>
                <a:latin typeface="微软雅黑"/>
                <a:ea typeface="微软雅黑"/>
                <a:cs typeface="微软雅黑"/>
              </a:defRPr>
            </a:lvl1pPr>
          </a:lstStyle>
          <a:p>
            <a:pPr algn="ctr">
              <a:defRPr>
                <a:solidFill>
                  <a:srgbClr val="FFFFFF"/>
                </a:solidFill>
                <a:latin typeface="微软雅黑"/>
                <a:ea typeface="微软雅黑"/>
                <a:cs typeface="微软雅黑"/>
              </a:defRPr>
            </a:pPr>
            <a:r>
              <a:rPr lang="en-US" altLang="zh-CN" sz="1050" b="0" dirty="0">
                <a:solidFill>
                  <a:srgbClr val="FFFFFF">
                    <a:alpha val="80000"/>
                  </a:srgbClr>
                </a:solidFill>
                <a:latin typeface="微软雅黑"/>
                <a:ea typeface="微软雅黑"/>
                <a:cs typeface="微软雅黑"/>
              </a:rPr>
              <a:t>Performance Policy Design</a:t>
            </a:r>
            <a:endParaRPr lang="en-US" altLang="zh-CN" sz="1050" b="0" dirty="0">
              <a:solidFill>
                <a:srgbClr val="FFFFFF">
                  <a:alpha val="80000"/>
                </a:srgbClr>
              </a:solidFill>
              <a:latin typeface="微软雅黑"/>
              <a:ea typeface="微软雅黑"/>
              <a:cs typeface="微软雅黑"/>
            </a:endParaRPr>
          </a:p>
        </p:txBody>
      </p:sp>
      <p:sp>
        <p:nvSpPr>
          <p:cNvPr id="49" name="文本框 48"/>
          <p:cNvSpPr txBox="1"/>
          <p:nvPr/>
        </p:nvSpPr>
        <p:spPr>
          <a:xfrm>
            <a:off x="7961630" y="2947670"/>
            <a:ext cx="1800860" cy="25273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b="1" i="0">
                <a:solidFill>
                  <a:srgbClr val="FFFFFF"/>
                </a:solidFill>
                <a:effectLst/>
                <a:latin typeface="微软雅黑"/>
                <a:ea typeface="微软雅黑"/>
                <a:cs typeface="微软雅黑"/>
              </a:defRPr>
            </a:lvl1pPr>
          </a:lstStyle>
          <a:p>
            <a:pPr algn="ctr">
              <a:defRPr>
                <a:solidFill>
                  <a:srgbClr val="FFFFFF"/>
                </a:solidFill>
                <a:latin typeface="微软雅黑"/>
                <a:ea typeface="微软雅黑"/>
                <a:cs typeface="微软雅黑"/>
              </a:defRPr>
            </a:pPr>
            <a:r>
              <a:rPr lang="en-US" altLang="zh-CN" sz="1050" b="0" dirty="0">
                <a:solidFill>
                  <a:srgbClr val="FFFFFF">
                    <a:alpha val="80000"/>
                  </a:srgbClr>
                </a:solidFill>
                <a:latin typeface="微软雅黑"/>
                <a:ea typeface="微软雅黑"/>
                <a:cs typeface="微软雅黑"/>
              </a:rPr>
              <a:t>Execution &amp; Monitoring</a:t>
            </a:r>
            <a:endParaRPr lang="en-US" altLang="zh-CN" sz="1050" b="0" dirty="0">
              <a:solidFill>
                <a:srgbClr val="FFFFFF">
                  <a:alpha val="80000"/>
                </a:srgbClr>
              </a:solidFill>
              <a:latin typeface="微软雅黑"/>
              <a:ea typeface="微软雅黑"/>
              <a:cs typeface="微软雅黑"/>
            </a:endParaRPr>
          </a:p>
        </p:txBody>
      </p:sp>
      <p:sp>
        <p:nvSpPr>
          <p:cNvPr id="50" name="文本框 49"/>
          <p:cNvSpPr txBox="1"/>
          <p:nvPr/>
        </p:nvSpPr>
        <p:spPr>
          <a:xfrm>
            <a:off x="9897745" y="2947670"/>
            <a:ext cx="1655445" cy="25273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b="1" i="0">
                <a:solidFill>
                  <a:srgbClr val="FFFFFF"/>
                </a:solidFill>
                <a:effectLst/>
                <a:latin typeface="微软雅黑"/>
                <a:ea typeface="微软雅黑"/>
                <a:cs typeface="微软雅黑"/>
              </a:defRPr>
            </a:lvl1pPr>
          </a:lstStyle>
          <a:p>
            <a:pPr algn="ctr">
              <a:defRPr>
                <a:solidFill>
                  <a:srgbClr val="383838"/>
                </a:solidFill>
                <a:latin typeface="微软雅黑"/>
                <a:ea typeface="微软雅黑"/>
                <a:cs typeface="微软雅黑"/>
              </a:defRPr>
            </a:pPr>
            <a:r>
              <a:rPr lang="en-US" altLang="zh-CN" sz="1050" b="0" dirty="0">
                <a:solidFill>
                  <a:srgbClr val="383838"/>
                </a:solidFill>
                <a:latin typeface="微软雅黑"/>
                <a:ea typeface="微软雅黑"/>
                <a:cs typeface="微软雅黑"/>
              </a:rPr>
              <a:t>Review &amp; Optimization</a:t>
            </a:r>
            <a:endParaRPr lang="en-US" altLang="zh-CN" sz="1050" b="0" dirty="0">
              <a:solidFill>
                <a:srgbClr val="383838"/>
              </a:solidFill>
              <a:latin typeface="微软雅黑"/>
              <a:ea typeface="微软雅黑"/>
              <a:cs typeface="微软雅黑"/>
            </a:endParaRPr>
          </a:p>
        </p:txBody>
      </p:sp>
      <p:sp>
        <p:nvSpPr>
          <p:cNvPr id="51" name="文本框 50"/>
          <p:cNvSpPr txBox="1"/>
          <p:nvPr>
            <p:custDataLst>
              <p:tags r:id="rId27"/>
            </p:custDataLst>
          </p:nvPr>
        </p:nvSpPr>
        <p:spPr>
          <a:xfrm>
            <a:off x="9803765" y="3551555"/>
            <a:ext cx="1823085" cy="1938020"/>
          </a:xfrm>
          <a:prstGeom prst="rect">
            <a:avLst/>
          </a:prstGeom>
          <a:noFill/>
        </p:spPr>
        <p:txBody>
          <a:bodyPr wrap="square" lIns="0" rIns="0" tIns="0" bIns="0">
            <a:spAutoFit/>
          </a:bodyPr>
          <a:lstStyle/>
          <a:p>
            <a:pPr marL="171450" indent="-171450">
              <a:lnSpc>
                <a:spcPct val="15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将经验转化为系统能力，避免重复错误并放大成功路径。</a:t>
            </a:r>
            <a:endParaRPr lang="zh-CN" altLang="en-US" sz="1000" dirty="0">
              <a:solidFill>
                <a:srgbClr val="383838"/>
              </a:solidFill>
              <a:latin typeface="微软雅黑"/>
              <a:ea typeface="微软雅黑"/>
              <a:cs typeface="微软雅黑"/>
            </a:endParaRPr>
          </a:p>
          <a:p>
            <a:pPr marL="171450" indent="-171450">
              <a:lnSpc>
                <a:spcPct val="15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从</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救火式应对</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到</a:t>
            </a:r>
            <a:r>
              <a:rPr lang="en-US" altLang="zh-CN" sz="1000" b="1" dirty="0">
                <a:solidFill>
                  <a:srgbClr val="0042FF"/>
                </a:solidFill>
                <a:latin typeface="微软雅黑"/>
                <a:ea typeface="微软雅黑"/>
                <a:cs typeface="微软雅黑"/>
              </a:rPr>
              <a:t>“</a:t>
            </a:r>
            <a:r>
              <a:rPr lang="zh-CN" altLang="en-US" sz="1000" b="1" dirty="0">
                <a:solidFill>
                  <a:srgbClr val="0042FF"/>
                </a:solidFill>
                <a:latin typeface="微软雅黑"/>
                <a:ea typeface="微软雅黑"/>
                <a:cs typeface="微软雅黑"/>
              </a:rPr>
              <a:t>体系化改进</a:t>
            </a:r>
            <a:r>
              <a:rPr lang="en-US" altLang="zh-CN" sz="1000" b="1" dirty="0">
                <a:solidFill>
                  <a:srgbClr val="0042FF"/>
                </a:solidFill>
                <a:latin typeface="微软雅黑"/>
                <a:ea typeface="微软雅黑"/>
                <a:cs typeface="微软雅黑"/>
              </a:rPr>
              <a:t>”</a:t>
            </a:r>
            <a:r>
              <a:rPr lang="zh-CN" altLang="en-US" sz="1000" dirty="0">
                <a:solidFill>
                  <a:srgbClr val="383838"/>
                </a:solidFill>
                <a:latin typeface="微软雅黑"/>
                <a:ea typeface="微软雅黑"/>
                <a:cs typeface="微软雅黑"/>
              </a:rPr>
              <a:t>：通过复盘将个人经验沉淀为组织规则。</a:t>
            </a:r>
            <a:endParaRPr lang="zh-CN" altLang="en-US" sz="1000" dirty="0">
              <a:solidFill>
                <a:srgbClr val="383838"/>
              </a:solidFill>
              <a:latin typeface="微软雅黑"/>
              <a:ea typeface="微软雅黑"/>
              <a:cs typeface="微软雅黑"/>
            </a:endParaRPr>
          </a:p>
          <a:p>
            <a:pPr marL="171450" indent="-171450">
              <a:lnSpc>
                <a:spcPct val="150000"/>
              </a:lnSpc>
              <a:buFont typeface="微软雅黑"/>
              <a:buChar char="●"/>
              <a:defRPr>
                <a:latin typeface="微软雅黑"/>
                <a:ea typeface="微软雅黑"/>
                <a:cs typeface="微软雅黑"/>
              </a:defRPr>
            </a:pPr>
            <a:r>
              <a:rPr lang="zh-CN" altLang="en-US" sz="1000" b="1" dirty="0">
                <a:solidFill>
                  <a:srgbClr val="0042FF"/>
                </a:solidFill>
                <a:latin typeface="微软雅黑"/>
                <a:ea typeface="微软雅黑"/>
                <a:cs typeface="微软雅黑"/>
              </a:rPr>
              <a:t>数据驱动决策</a:t>
            </a:r>
            <a:r>
              <a:rPr lang="zh-CN" altLang="en-US" sz="1000" dirty="0">
                <a:solidFill>
                  <a:srgbClr val="383838"/>
                </a:solidFill>
                <a:latin typeface="微软雅黑"/>
                <a:ea typeface="微软雅黑"/>
                <a:cs typeface="微软雅黑"/>
              </a:rPr>
              <a:t>：用客观分析替代主观经验判断。</a:t>
            </a:r>
            <a:endParaRPr lang="zh-CN" altLang="en-US" sz="1000" dirty="0">
              <a:solidFill>
                <a:srgbClr val="383838"/>
              </a:solidFill>
              <a:latin typeface="微软雅黑"/>
              <a:ea typeface="微软雅黑"/>
              <a:cs typeface="微软雅黑"/>
            </a:endParaRPr>
          </a:p>
        </p:txBody>
      </p:sp>
      <p:grpSp>
        <p:nvGrpSpPr>
          <p:cNvPr id="4" name="组合 3"/>
          <p:cNvGrpSpPr/>
          <p:nvPr/>
        </p:nvGrpSpPr>
        <p:grpSpPr>
          <a:xfrm>
            <a:off x="7675245" y="347980"/>
            <a:ext cx="4588510" cy="367030"/>
            <a:chOff x="12087" y="-1089"/>
            <a:chExt cx="7226" cy="578"/>
          </a:xfrm>
        </p:grpSpPr>
        <p:pic>
          <p:nvPicPr>
            <p:cNvPr id="14" name="图片 13"/>
            <p:cNvPicPr>
              <a:picLocks noChangeAspect="1"/>
            </p:cNvPicPr>
            <p:nvPr userDrawn="1"/>
          </p:nvPicPr>
          <p:blipFill>
            <a:blip r:embed="rId28"/>
            <a:srcRect r="57320" b="-13333"/>
            <a:stretch>
              <a:fillRect/>
            </a:stretch>
          </p:blipFill>
          <p:spPr>
            <a:xfrm>
              <a:off x="12087" y="-1089"/>
              <a:ext cx="2548" cy="578"/>
            </a:xfrm>
            <a:prstGeom prst="rect">
              <a:avLst/>
            </a:prstGeom>
          </p:spPr>
        </p:pic>
        <p:sp>
          <p:nvSpPr>
            <p:cNvPr id="16" name="文本框 1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屋顶架构 | </a:t>
            </a:r>
            <a:r>
              <a:rPr sz="2500">
                <a:solidFill>
                  <a:srgbClr val="383838"/>
                </a:solidFill>
                <a:latin typeface="微软雅黑"/>
                <a:ea typeface="微软雅黑"/>
                <a:cs typeface="微软雅黑"/>
              </a:rPr>
              <a:t>高科技跑鞋单品</a:t>
            </a:r>
            <a:r>
              <a:rPr lang="en-US" altLang="zh-CN" sz="2500">
                <a:solidFill>
                  <a:srgbClr val="383838"/>
                </a:solidFill>
                <a:latin typeface="微软雅黑"/>
                <a:ea typeface="微软雅黑"/>
                <a:cs typeface="微软雅黑"/>
              </a:rPr>
              <a:t>-</a:t>
            </a:r>
            <a:r>
              <a:rPr sz="2500">
                <a:solidFill>
                  <a:srgbClr val="383838"/>
                </a:solidFill>
                <a:latin typeface="微软雅黑"/>
                <a:ea typeface="微软雅黑"/>
                <a:cs typeface="微软雅黑"/>
              </a:rPr>
              <a:t>产品信息屋</a:t>
            </a:r>
            <a:endParaRPr sz="2500" b="0">
              <a:solidFill>
                <a:srgbClr val="383838"/>
              </a:solidFill>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1" name="矩形 10"/>
          <p:cNvSpPr/>
          <p:nvPr/>
        </p:nvSpPr>
        <p:spPr>
          <a:xfrm>
            <a:off x="2112010" y="2035810"/>
            <a:ext cx="9511030" cy="533400"/>
          </a:xfrm>
          <a:prstGeom prst="rect">
            <a:avLst/>
          </a:prstGeom>
          <a:solidFill>
            <a:srgbClr val="E6E6E6">
              <a:alpha val="5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4" name="文本框 43"/>
          <p:cNvSpPr txBox="1"/>
          <p:nvPr/>
        </p:nvSpPr>
        <p:spPr>
          <a:xfrm>
            <a:off x="4869815" y="2133600"/>
            <a:ext cx="2676525" cy="337185"/>
          </a:xfrm>
          <a:prstGeom prst="rect">
            <a:avLst/>
          </a:prstGeom>
          <a:noFill/>
        </p:spPr>
        <p:txBody>
          <a:bodyPr wrap="square" lIns="0" rIns="0" tIns="0" bIns="0">
            <a:spAutoFit/>
          </a:bodyPr>
          <a:lstStyle>
            <a:defPPr>
              <a:defRPr lang="zh-CN">
                <a:latin typeface="微软雅黑"/>
                <a:ea typeface="微软雅黑"/>
                <a:cs typeface="微软雅黑"/>
              </a:defRPr>
            </a:defPPr>
            <a:lvl1pPr>
              <a:defRPr sz="1000">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600" dirty="0">
                <a:solidFill>
                  <a:srgbClr val="0042FF"/>
                </a:solidFill>
                <a:latin typeface="微软雅黑"/>
                <a:ea typeface="微软雅黑"/>
                <a:cs typeface="微软雅黑"/>
              </a:rPr>
              <a:t>专业跑者与进阶运动爱好者</a:t>
            </a:r>
            <a:endParaRPr lang="zh-CN" altLang="en-US" sz="1600" dirty="0">
              <a:solidFill>
                <a:srgbClr val="0042FF"/>
              </a:solidFill>
              <a:latin typeface="微软雅黑"/>
              <a:ea typeface="微软雅黑"/>
              <a:cs typeface="微软雅黑"/>
            </a:endParaRPr>
          </a:p>
        </p:txBody>
      </p:sp>
      <p:sp>
        <p:nvSpPr>
          <p:cNvPr id="15" name="矩形 14"/>
          <p:cNvSpPr/>
          <p:nvPr/>
        </p:nvSpPr>
        <p:spPr>
          <a:xfrm>
            <a:off x="2112010" y="2638425"/>
            <a:ext cx="9511030" cy="533400"/>
          </a:xfrm>
          <a:prstGeom prst="rect">
            <a:avLst/>
          </a:prstGeom>
          <a:solidFill>
            <a:srgbClr val="E6E6E6">
              <a:alpha val="5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5" name="文本框 44"/>
          <p:cNvSpPr txBox="1"/>
          <p:nvPr/>
        </p:nvSpPr>
        <p:spPr>
          <a:xfrm>
            <a:off x="4822168" y="2735812"/>
            <a:ext cx="2620348" cy="337185"/>
          </a:xfrm>
          <a:prstGeom prst="rect">
            <a:avLst/>
          </a:prstGeom>
          <a:noFill/>
        </p:spPr>
        <p:txBody>
          <a:bodyPr wrap="square" lIns="0" rIns="0" tIns="0" bIns="0">
            <a:spAutoFit/>
          </a:bodyPr>
          <a:lstStyle>
            <a:defPPr>
              <a:defRPr lang="zh-CN">
                <a:latin typeface="微软雅黑"/>
                <a:ea typeface="微软雅黑"/>
                <a:cs typeface="微软雅黑"/>
              </a:defRPr>
            </a:defPPr>
            <a:lvl1pPr>
              <a:defRPr sz="1000">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600" dirty="0">
                <a:solidFill>
                  <a:srgbClr val="0042FF"/>
                </a:solidFill>
                <a:latin typeface="微软雅黑"/>
                <a:ea typeface="微软雅黑"/>
                <a:cs typeface="微软雅黑"/>
              </a:rPr>
              <a:t>新一代高性能竞速跑鞋</a:t>
            </a:r>
            <a:endParaRPr lang="zh-CN" altLang="en-US" sz="1600" dirty="0">
              <a:solidFill>
                <a:srgbClr val="0042FF"/>
              </a:solidFill>
              <a:latin typeface="微软雅黑"/>
              <a:ea typeface="微软雅黑"/>
              <a:cs typeface="微软雅黑"/>
            </a:endParaRPr>
          </a:p>
        </p:txBody>
      </p:sp>
      <p:sp>
        <p:nvSpPr>
          <p:cNvPr id="7" name="矩形 6"/>
          <p:cNvSpPr/>
          <p:nvPr/>
        </p:nvSpPr>
        <p:spPr>
          <a:xfrm>
            <a:off x="662305" y="2035810"/>
            <a:ext cx="1371600" cy="533400"/>
          </a:xfrm>
          <a:prstGeom prst="rect">
            <a:avLst/>
          </a:prstGeom>
          <a:solidFill>
            <a:srgbClr val="E6E6E6">
              <a:alpha val="50000"/>
            </a:srgbClr>
          </a:solidFill>
          <a:ln>
            <a:solidFill>
              <a:srgbClr val="668E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人群定位</a:t>
            </a:r>
            <a:endParaRPr lang="zh-CN" altLang="en-US" sz="1400" b="1">
              <a:solidFill>
                <a:srgbClr val="0042FF"/>
              </a:solidFill>
              <a:latin typeface="微软雅黑"/>
              <a:ea typeface="微软雅黑"/>
              <a:cs typeface="微软雅黑"/>
              <a:sym typeface="微软雅黑"/>
            </a:endParaRPr>
          </a:p>
        </p:txBody>
      </p:sp>
      <p:sp>
        <p:nvSpPr>
          <p:cNvPr id="8" name="矩形 7"/>
          <p:cNvSpPr/>
          <p:nvPr/>
        </p:nvSpPr>
        <p:spPr>
          <a:xfrm>
            <a:off x="662305" y="2641600"/>
            <a:ext cx="1371600" cy="533400"/>
          </a:xfrm>
          <a:prstGeom prst="rect">
            <a:avLst/>
          </a:prstGeom>
          <a:solidFill>
            <a:srgbClr val="E6E6E6">
              <a:alpha val="50000"/>
            </a:srgbClr>
          </a:solidFill>
          <a:ln>
            <a:solidFill>
              <a:srgbClr val="668E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产品定位</a:t>
            </a:r>
            <a:endParaRPr lang="zh-CN" altLang="en-US" sz="1400" b="1">
              <a:solidFill>
                <a:srgbClr val="0042FF"/>
              </a:solidFill>
              <a:latin typeface="微软雅黑"/>
              <a:ea typeface="微软雅黑"/>
              <a:cs typeface="微软雅黑"/>
              <a:sym typeface="微软雅黑"/>
            </a:endParaRPr>
          </a:p>
        </p:txBody>
      </p:sp>
      <p:sp>
        <p:nvSpPr>
          <p:cNvPr id="9" name="矩形 8"/>
          <p:cNvSpPr/>
          <p:nvPr/>
        </p:nvSpPr>
        <p:spPr>
          <a:xfrm>
            <a:off x="662305" y="3247390"/>
            <a:ext cx="1371600" cy="3460750"/>
          </a:xfrm>
          <a:prstGeom prst="rect">
            <a:avLst/>
          </a:prstGeom>
          <a:gradFill flip="none" rotWithShape="1">
            <a:gsLst>
              <a:gs pos="23000">
                <a:srgbClr val="3368FF"/>
              </a:gs>
              <a:gs pos="100000">
                <a:srgbClr val="B3D4FE"/>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核心</a:t>
            </a:r>
            <a:endParaRPr lang="zh-CN" altLang="en-US" sz="1500" b="1"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利益点</a:t>
            </a:r>
            <a:endParaRPr lang="zh-CN" altLang="en-US" sz="1500" b="1" dirty="0">
              <a:solidFill>
                <a:srgbClr val="383838"/>
              </a:solidFill>
              <a:latin typeface="微软雅黑"/>
              <a:ea typeface="微软雅黑"/>
              <a:cs typeface="微软雅黑"/>
              <a:sym typeface="微软雅黑"/>
            </a:endParaRPr>
          </a:p>
        </p:txBody>
      </p:sp>
      <p:sp>
        <p:nvSpPr>
          <p:cNvPr id="16" name="矩形 15"/>
          <p:cNvSpPr/>
          <p:nvPr/>
        </p:nvSpPr>
        <p:spPr>
          <a:xfrm>
            <a:off x="2112010" y="3247390"/>
            <a:ext cx="1569600" cy="999490"/>
          </a:xfrm>
          <a:prstGeom prst="rect">
            <a:avLst/>
          </a:prstGeom>
          <a:gradFill>
            <a:gsLst>
              <a:gs pos="0">
                <a:srgbClr val="3368FF"/>
              </a:gs>
              <a:gs pos="100000">
                <a:srgbClr val="0042FF"/>
              </a:gs>
            </a:gsLst>
            <a:lin ang="27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9" name="矩形 18"/>
          <p:cNvSpPr/>
          <p:nvPr/>
        </p:nvSpPr>
        <p:spPr>
          <a:xfrm>
            <a:off x="3703835" y="3247390"/>
            <a:ext cx="1569085" cy="999490"/>
          </a:xfrm>
          <a:prstGeom prst="rect">
            <a:avLst/>
          </a:prstGeom>
          <a:gradFill>
            <a:gsLst>
              <a:gs pos="0">
                <a:srgbClr val="B3D4FE"/>
              </a:gs>
              <a:gs pos="100000">
                <a:srgbClr val="3368FF"/>
              </a:gs>
            </a:gsLst>
            <a:lin ang="27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0" name="矩形 19"/>
          <p:cNvSpPr/>
          <p:nvPr/>
        </p:nvSpPr>
        <p:spPr>
          <a:xfrm>
            <a:off x="5295145" y="3247390"/>
            <a:ext cx="1569085" cy="999490"/>
          </a:xfrm>
          <a:prstGeom prst="rect">
            <a:avLst/>
          </a:prstGeom>
          <a:gradFill>
            <a:gsLst>
              <a:gs pos="0">
                <a:srgbClr val="3368FF"/>
              </a:gs>
              <a:gs pos="100000">
                <a:srgbClr val="0042FF"/>
              </a:gs>
            </a:gsLst>
            <a:lin ang="27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48" name="矩形 47"/>
          <p:cNvSpPr/>
          <p:nvPr/>
        </p:nvSpPr>
        <p:spPr>
          <a:xfrm>
            <a:off x="6886455" y="3247390"/>
            <a:ext cx="1569085" cy="999490"/>
          </a:xfrm>
          <a:prstGeom prst="rect">
            <a:avLst/>
          </a:prstGeom>
          <a:gradFill>
            <a:gsLst>
              <a:gs pos="0">
                <a:srgbClr val="B3D4FE"/>
              </a:gs>
              <a:gs pos="100000">
                <a:srgbClr val="3368FF"/>
              </a:gs>
            </a:gsLst>
            <a:lin ang="27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9" name="矩形 48"/>
          <p:cNvSpPr/>
          <p:nvPr/>
        </p:nvSpPr>
        <p:spPr>
          <a:xfrm>
            <a:off x="8477765" y="3247390"/>
            <a:ext cx="1569085" cy="999490"/>
          </a:xfrm>
          <a:prstGeom prst="rect">
            <a:avLst/>
          </a:prstGeom>
          <a:gradFill>
            <a:gsLst>
              <a:gs pos="0">
                <a:srgbClr val="3368FF"/>
              </a:gs>
              <a:gs pos="100000">
                <a:srgbClr val="0042FF"/>
              </a:gs>
            </a:gsLst>
            <a:lin ang="27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56" name="矩形 55"/>
          <p:cNvSpPr/>
          <p:nvPr/>
        </p:nvSpPr>
        <p:spPr>
          <a:xfrm>
            <a:off x="10069075" y="3247390"/>
            <a:ext cx="1569085" cy="999490"/>
          </a:xfrm>
          <a:prstGeom prst="rect">
            <a:avLst/>
          </a:prstGeom>
          <a:gradFill>
            <a:gsLst>
              <a:gs pos="0">
                <a:srgbClr val="B3D4FE"/>
              </a:gs>
              <a:gs pos="100000">
                <a:srgbClr val="3368FF"/>
              </a:gs>
            </a:gsLst>
            <a:lin ang="27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7" name="矩形 56"/>
          <p:cNvSpPr/>
          <p:nvPr/>
        </p:nvSpPr>
        <p:spPr>
          <a:xfrm>
            <a:off x="2112010" y="4246880"/>
            <a:ext cx="1569085" cy="2461260"/>
          </a:xfrm>
          <a:prstGeom prst="rect">
            <a:avLst/>
          </a:prstGeom>
          <a:solidFill>
            <a:srgbClr val="E6E6E6">
              <a:alpha val="60000"/>
            </a:srgbClr>
          </a:solidFill>
          <a:ln w="63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64" name="矩形 63"/>
          <p:cNvSpPr/>
          <p:nvPr/>
        </p:nvSpPr>
        <p:spPr>
          <a:xfrm>
            <a:off x="3708400" y="4246880"/>
            <a:ext cx="1569085" cy="2461260"/>
          </a:xfrm>
          <a:prstGeom prst="rect">
            <a:avLst/>
          </a:prstGeom>
          <a:solidFill>
            <a:srgbClr val="FFFFFF">
              <a:alpha val="60000"/>
            </a:srgbClr>
          </a:solidFill>
          <a:ln w="63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65" name="矩形 64"/>
          <p:cNvSpPr/>
          <p:nvPr/>
        </p:nvSpPr>
        <p:spPr>
          <a:xfrm>
            <a:off x="5304790" y="4246880"/>
            <a:ext cx="1569085" cy="2461260"/>
          </a:xfrm>
          <a:prstGeom prst="rect">
            <a:avLst/>
          </a:prstGeom>
          <a:solidFill>
            <a:srgbClr val="E6E6E6">
              <a:alpha val="60000"/>
            </a:srgbClr>
          </a:solidFill>
          <a:ln w="63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66" name="矩形 65"/>
          <p:cNvSpPr/>
          <p:nvPr/>
        </p:nvSpPr>
        <p:spPr>
          <a:xfrm>
            <a:off x="6901180" y="4246880"/>
            <a:ext cx="1569085" cy="2461260"/>
          </a:xfrm>
          <a:prstGeom prst="rect">
            <a:avLst/>
          </a:prstGeom>
          <a:solidFill>
            <a:srgbClr val="FFFFFF">
              <a:alpha val="60000"/>
            </a:srgbClr>
          </a:solidFill>
          <a:ln w="63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67" name="矩形 66"/>
          <p:cNvSpPr/>
          <p:nvPr/>
        </p:nvSpPr>
        <p:spPr>
          <a:xfrm>
            <a:off x="8497570" y="4246880"/>
            <a:ext cx="1569085" cy="2461260"/>
          </a:xfrm>
          <a:prstGeom prst="rect">
            <a:avLst/>
          </a:prstGeom>
          <a:solidFill>
            <a:srgbClr val="E6E6E6">
              <a:alpha val="60000"/>
            </a:srgbClr>
          </a:solidFill>
          <a:ln w="63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71" name="矩形 70"/>
          <p:cNvSpPr/>
          <p:nvPr/>
        </p:nvSpPr>
        <p:spPr>
          <a:xfrm>
            <a:off x="10093960" y="4246880"/>
            <a:ext cx="1569085" cy="2461260"/>
          </a:xfrm>
          <a:prstGeom prst="rect">
            <a:avLst/>
          </a:prstGeom>
          <a:solidFill>
            <a:srgbClr val="FFFFFF">
              <a:alpha val="60000"/>
            </a:srgbClr>
          </a:solidFill>
          <a:ln w="63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grpSp>
        <p:nvGrpSpPr>
          <p:cNvPr id="119" name="组合 118"/>
          <p:cNvGrpSpPr/>
          <p:nvPr/>
        </p:nvGrpSpPr>
        <p:grpSpPr>
          <a:xfrm>
            <a:off x="2112010" y="3881120"/>
            <a:ext cx="9550400" cy="245110"/>
            <a:chOff x="3524" y="5811"/>
            <a:chExt cx="15040" cy="386"/>
          </a:xfrm>
        </p:grpSpPr>
        <p:sp>
          <p:nvSpPr>
            <p:cNvPr id="109" name="文本框 108"/>
            <p:cNvSpPr txBox="1"/>
            <p:nvPr/>
          </p:nvSpPr>
          <p:spPr>
            <a:xfrm>
              <a:off x="3524" y="5811"/>
              <a:ext cx="2470" cy="386"/>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极速响应</a:t>
              </a:r>
              <a:r>
                <a:rPr lang="en-US" altLang="zh-CN" dirty="0">
                  <a:solidFill>
                    <a:srgbClr val="FFFFFF"/>
                  </a:solidFill>
                  <a:latin typeface="微软雅黑"/>
                  <a:ea typeface="微软雅黑"/>
                  <a:cs typeface="微软雅黑"/>
                </a:rPr>
                <a:t>  </a:t>
              </a:r>
              <a:r>
                <a:rPr lang="zh-CN" altLang="en-US" dirty="0">
                  <a:solidFill>
                    <a:srgbClr val="FFFFFF"/>
                  </a:solidFill>
                  <a:latin typeface="微软雅黑"/>
                  <a:ea typeface="微软雅黑"/>
                  <a:cs typeface="微软雅黑"/>
                </a:rPr>
                <a:t>持久支撑</a:t>
              </a:r>
              <a:endParaRPr lang="zh-CN" altLang="en-US" dirty="0">
                <a:solidFill>
                  <a:srgbClr val="FFFFFF"/>
                </a:solidFill>
                <a:latin typeface="微软雅黑"/>
                <a:ea typeface="微软雅黑"/>
                <a:cs typeface="微软雅黑"/>
              </a:endParaRPr>
            </a:p>
          </p:txBody>
        </p:sp>
        <p:sp>
          <p:nvSpPr>
            <p:cNvPr id="110" name="文本框 109"/>
            <p:cNvSpPr txBox="1"/>
            <p:nvPr/>
          </p:nvSpPr>
          <p:spPr>
            <a:xfrm>
              <a:off x="6038" y="5811"/>
              <a:ext cx="2470" cy="386"/>
            </a:xfrm>
            <a:prstGeom prst="rect">
              <a:avLst/>
            </a:prstGeom>
            <a:noFill/>
          </p:spPr>
          <p:txBody>
            <a:bodyPr wrap="square" lIns="0" rIns="0" tIns="0" bIns="0">
              <a:spAutoFit/>
            </a:bodyPr>
            <a:lstStyle>
              <a:defPPr>
                <a:defRPr lang="zh-CN">
                  <a:latin typeface="微软雅黑"/>
                  <a:ea typeface="微软雅黑"/>
                  <a:cs typeface="微软雅黑"/>
                </a:defRPr>
              </a:defPPr>
              <a:lvl1pPr>
                <a:defRPr sz="10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流线美学</a:t>
              </a:r>
              <a:r>
                <a:rPr lang="en-US" altLang="zh-CN" dirty="0">
                  <a:solidFill>
                    <a:srgbClr val="383838"/>
                  </a:solidFill>
                  <a:latin typeface="微软雅黑"/>
                  <a:ea typeface="微软雅黑"/>
                  <a:cs typeface="微软雅黑"/>
                </a:rPr>
                <a:t> </a:t>
              </a:r>
              <a:r>
                <a:rPr lang="zh-CN" altLang="en-US" dirty="0">
                  <a:solidFill>
                    <a:srgbClr val="383838"/>
                  </a:solidFill>
                  <a:latin typeface="微软雅黑"/>
                  <a:ea typeface="微软雅黑"/>
                  <a:cs typeface="微软雅黑"/>
                </a:rPr>
                <a:t>多场景适配</a:t>
              </a:r>
              <a:endParaRPr lang="zh-CN" altLang="en-US" dirty="0">
                <a:solidFill>
                  <a:srgbClr val="383838"/>
                </a:solidFill>
                <a:latin typeface="微软雅黑"/>
                <a:ea typeface="微软雅黑"/>
                <a:cs typeface="微软雅黑"/>
              </a:endParaRPr>
            </a:p>
          </p:txBody>
        </p:sp>
        <p:sp>
          <p:nvSpPr>
            <p:cNvPr id="111" name="文本框 110"/>
            <p:cNvSpPr txBox="1"/>
            <p:nvPr/>
          </p:nvSpPr>
          <p:spPr>
            <a:xfrm>
              <a:off x="8552" y="5811"/>
              <a:ext cx="2470" cy="386"/>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超临界发泡</a:t>
              </a:r>
              <a:r>
                <a:rPr lang="en-US" altLang="zh-CN" dirty="0">
                  <a:solidFill>
                    <a:srgbClr val="FFFFFF"/>
                  </a:solidFill>
                  <a:latin typeface="微软雅黑"/>
                  <a:ea typeface="微软雅黑"/>
                  <a:cs typeface="微软雅黑"/>
                </a:rPr>
                <a:t> </a:t>
              </a:r>
              <a:r>
                <a:rPr lang="zh-CN" altLang="en-US" dirty="0">
                  <a:solidFill>
                    <a:srgbClr val="FFFFFF"/>
                  </a:solidFill>
                  <a:latin typeface="微软雅黑"/>
                  <a:ea typeface="微软雅黑"/>
                  <a:cs typeface="微软雅黑"/>
                </a:rPr>
                <a:t>智能温控</a:t>
              </a:r>
              <a:endParaRPr lang="zh-CN" altLang="en-US" dirty="0">
                <a:solidFill>
                  <a:srgbClr val="FFFFFF"/>
                </a:solidFill>
                <a:latin typeface="微软雅黑"/>
                <a:ea typeface="微软雅黑"/>
                <a:cs typeface="微软雅黑"/>
              </a:endParaRPr>
            </a:p>
          </p:txBody>
        </p:sp>
        <p:sp>
          <p:nvSpPr>
            <p:cNvPr id="112" name="文本框 111"/>
            <p:cNvSpPr txBox="1"/>
            <p:nvPr/>
          </p:nvSpPr>
          <p:spPr>
            <a:xfrm>
              <a:off x="11066" y="5811"/>
              <a:ext cx="2470" cy="386"/>
            </a:xfrm>
            <a:prstGeom prst="rect">
              <a:avLst/>
            </a:prstGeom>
            <a:noFill/>
          </p:spPr>
          <p:txBody>
            <a:bodyPr wrap="square" lIns="0" rIns="0" tIns="0" bIns="0">
              <a:spAutoFit/>
            </a:bodyPr>
            <a:lstStyle>
              <a:defPPr>
                <a:defRPr lang="zh-CN">
                  <a:latin typeface="微软雅黑"/>
                  <a:ea typeface="微软雅黑"/>
                  <a:cs typeface="微软雅黑"/>
                </a:defRPr>
              </a:defPPr>
              <a:lvl1pPr>
                <a:defRPr sz="10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数据互联</a:t>
              </a:r>
              <a:r>
                <a:rPr lang="en-US" altLang="zh-CN" dirty="0">
                  <a:solidFill>
                    <a:srgbClr val="383838"/>
                  </a:solidFill>
                  <a:latin typeface="微软雅黑"/>
                  <a:ea typeface="微软雅黑"/>
                  <a:cs typeface="微软雅黑"/>
                </a:rPr>
                <a:t> </a:t>
              </a:r>
              <a:r>
                <a:rPr lang="zh-CN" altLang="en-US" dirty="0">
                  <a:solidFill>
                    <a:srgbClr val="383838"/>
                  </a:solidFill>
                  <a:latin typeface="微软雅黑"/>
                  <a:ea typeface="微软雅黑"/>
                  <a:cs typeface="微软雅黑"/>
                </a:rPr>
                <a:t>语音指导</a:t>
              </a:r>
              <a:endParaRPr lang="zh-CN" altLang="en-US" dirty="0">
                <a:solidFill>
                  <a:srgbClr val="383838"/>
                </a:solidFill>
                <a:latin typeface="微软雅黑"/>
                <a:ea typeface="微软雅黑"/>
                <a:cs typeface="微软雅黑"/>
              </a:endParaRPr>
            </a:p>
          </p:txBody>
        </p:sp>
        <p:sp>
          <p:nvSpPr>
            <p:cNvPr id="114" name="文本框 113"/>
            <p:cNvSpPr txBox="1"/>
            <p:nvPr/>
          </p:nvSpPr>
          <p:spPr>
            <a:xfrm>
              <a:off x="16094" y="5811"/>
              <a:ext cx="2470" cy="386"/>
            </a:xfrm>
            <a:prstGeom prst="rect">
              <a:avLst/>
            </a:prstGeom>
            <a:noFill/>
          </p:spPr>
          <p:txBody>
            <a:bodyPr wrap="square" lIns="0" rIns="0" tIns="0" bIns="0">
              <a:spAutoFit/>
            </a:bodyPr>
            <a:lstStyle>
              <a:defPPr>
                <a:defRPr lang="zh-CN">
                  <a:latin typeface="微软雅黑"/>
                  <a:ea typeface="微软雅黑"/>
                  <a:cs typeface="微软雅黑"/>
                </a:defRPr>
              </a:defPPr>
              <a:lvl1pPr>
                <a:defRPr sz="10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终身质保</a:t>
              </a:r>
              <a:r>
                <a:rPr lang="en-US" altLang="zh-CN" dirty="0">
                  <a:solidFill>
                    <a:srgbClr val="383838"/>
                  </a:solidFill>
                  <a:latin typeface="微软雅黑"/>
                  <a:ea typeface="微软雅黑"/>
                  <a:cs typeface="微软雅黑"/>
                </a:rPr>
                <a:t> </a:t>
              </a:r>
              <a:r>
                <a:rPr lang="zh-CN" altLang="en-US" dirty="0">
                  <a:solidFill>
                    <a:srgbClr val="383838"/>
                  </a:solidFill>
                  <a:latin typeface="微软雅黑"/>
                  <a:ea typeface="微软雅黑"/>
                  <a:cs typeface="微软雅黑"/>
                </a:rPr>
                <a:t>环保循环</a:t>
              </a:r>
              <a:endParaRPr lang="zh-CN" altLang="en-US" dirty="0">
                <a:solidFill>
                  <a:srgbClr val="383838"/>
                </a:solidFill>
                <a:latin typeface="微软雅黑"/>
                <a:ea typeface="微软雅黑"/>
                <a:cs typeface="微软雅黑"/>
              </a:endParaRPr>
            </a:p>
          </p:txBody>
        </p:sp>
      </p:grpSp>
      <p:pic>
        <p:nvPicPr>
          <p:cNvPr id="120" name="图片 119" descr="空间设计"/>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46445" y="3392495"/>
            <a:ext cx="424800" cy="424800"/>
          </a:xfrm>
          <a:prstGeom prst="rect">
            <a:avLst/>
          </a:prstGeom>
        </p:spPr>
      </p:pic>
      <p:pic>
        <p:nvPicPr>
          <p:cNvPr id="121" name="图片 120" descr="安全防护"/>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641330" y="3392495"/>
            <a:ext cx="424800" cy="424800"/>
          </a:xfrm>
          <a:prstGeom prst="rect">
            <a:avLst/>
          </a:prstGeom>
        </p:spPr>
      </p:pic>
      <p:pic>
        <p:nvPicPr>
          <p:cNvPr id="122" name="图片 121" descr="科技"/>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442200" y="3392495"/>
            <a:ext cx="424800" cy="424800"/>
          </a:xfrm>
          <a:prstGeom prst="rect">
            <a:avLst/>
          </a:prstGeom>
        </p:spPr>
      </p:pic>
      <p:sp>
        <p:nvSpPr>
          <p:cNvPr id="126" name="矩形: 圆角 57"/>
          <p:cNvSpPr/>
          <p:nvPr/>
        </p:nvSpPr>
        <p:spPr>
          <a:xfrm>
            <a:off x="2274570" y="4394200"/>
            <a:ext cx="1269365" cy="285115"/>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仿生弧度设计</a:t>
            </a:r>
            <a:endParaRPr lang="zh-CN" altLang="en-US" sz="1000" dirty="0">
              <a:solidFill>
                <a:srgbClr val="383838"/>
              </a:solidFill>
              <a:latin typeface="微软雅黑"/>
              <a:ea typeface="微软雅黑"/>
              <a:cs typeface="微软雅黑"/>
            </a:endParaRPr>
          </a:p>
        </p:txBody>
      </p:sp>
      <p:sp>
        <p:nvSpPr>
          <p:cNvPr id="127" name="矩形: 圆角 58"/>
          <p:cNvSpPr/>
          <p:nvPr/>
        </p:nvSpPr>
        <p:spPr>
          <a:xfrm>
            <a:off x="2274570" y="4768215"/>
            <a:ext cx="1269365" cy="285115"/>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超临界发泡中底</a:t>
            </a:r>
            <a:endParaRPr lang="zh-CN" altLang="en-US" sz="1000" dirty="0">
              <a:solidFill>
                <a:srgbClr val="383838"/>
              </a:solidFill>
              <a:latin typeface="微软雅黑"/>
              <a:ea typeface="微软雅黑"/>
              <a:cs typeface="微软雅黑"/>
              <a:sym typeface="微软雅黑"/>
            </a:endParaRPr>
          </a:p>
        </p:txBody>
      </p:sp>
      <p:sp>
        <p:nvSpPr>
          <p:cNvPr id="128" name="矩形: 圆角 59"/>
          <p:cNvSpPr/>
          <p:nvPr/>
        </p:nvSpPr>
        <p:spPr>
          <a:xfrm>
            <a:off x="2274570" y="5141595"/>
            <a:ext cx="1269365" cy="285115"/>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3D</a:t>
            </a:r>
            <a:r>
              <a:rPr lang="zh-CN" altLang="en-US" sz="1000" dirty="0">
                <a:solidFill>
                  <a:srgbClr val="383838"/>
                </a:solidFill>
                <a:latin typeface="微软雅黑"/>
                <a:ea typeface="微软雅黑"/>
                <a:cs typeface="微软雅黑"/>
                <a:sym typeface="微软雅黑"/>
              </a:rPr>
              <a:t>足跟稳定器</a:t>
            </a:r>
            <a:endParaRPr lang="zh-CN" altLang="en-US" sz="1000" dirty="0">
              <a:solidFill>
                <a:srgbClr val="383838"/>
              </a:solidFill>
              <a:latin typeface="微软雅黑"/>
              <a:ea typeface="微软雅黑"/>
              <a:cs typeface="微软雅黑"/>
              <a:sym typeface="微软雅黑"/>
            </a:endParaRPr>
          </a:p>
        </p:txBody>
      </p:sp>
      <p:sp>
        <p:nvSpPr>
          <p:cNvPr id="129" name="矩形: 圆角 60"/>
          <p:cNvSpPr/>
          <p:nvPr/>
        </p:nvSpPr>
        <p:spPr>
          <a:xfrm>
            <a:off x="2274570" y="5515610"/>
            <a:ext cx="1269365" cy="285115"/>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5000</a:t>
            </a:r>
            <a:r>
              <a:rPr lang="zh-CN" altLang="en-US" sz="1000" dirty="0">
                <a:solidFill>
                  <a:srgbClr val="383838"/>
                </a:solidFill>
                <a:latin typeface="微软雅黑"/>
                <a:ea typeface="微软雅黑"/>
                <a:cs typeface="微软雅黑"/>
                <a:sym typeface="微软雅黑"/>
              </a:rPr>
              <a:t>公里极限验证</a:t>
            </a:r>
            <a:endParaRPr lang="zh-CN" altLang="en-US" sz="1000" dirty="0">
              <a:solidFill>
                <a:srgbClr val="383838"/>
              </a:solidFill>
              <a:latin typeface="微软雅黑"/>
              <a:ea typeface="微软雅黑"/>
              <a:cs typeface="微软雅黑"/>
              <a:sym typeface="微软雅黑"/>
            </a:endParaRPr>
          </a:p>
        </p:txBody>
      </p:sp>
      <p:sp>
        <p:nvSpPr>
          <p:cNvPr id="130" name="矩形: 圆角 61"/>
          <p:cNvSpPr/>
          <p:nvPr/>
        </p:nvSpPr>
        <p:spPr>
          <a:xfrm>
            <a:off x="2274570" y="5888990"/>
            <a:ext cx="1269365" cy="285115"/>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动态编织鞋面</a:t>
            </a:r>
            <a:endParaRPr lang="zh-CN" altLang="en-US" sz="1000" dirty="0">
              <a:solidFill>
                <a:srgbClr val="383838"/>
              </a:solidFill>
              <a:latin typeface="微软雅黑"/>
              <a:ea typeface="微软雅黑"/>
              <a:cs typeface="微软雅黑"/>
              <a:sym typeface="微软雅黑"/>
            </a:endParaRPr>
          </a:p>
        </p:txBody>
      </p:sp>
      <p:sp>
        <p:nvSpPr>
          <p:cNvPr id="131" name="矩形: 圆角 62"/>
          <p:cNvSpPr/>
          <p:nvPr/>
        </p:nvSpPr>
        <p:spPr>
          <a:xfrm>
            <a:off x="2274570" y="6263005"/>
            <a:ext cx="1269365" cy="285115"/>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DSP</a:t>
            </a:r>
            <a:r>
              <a:rPr lang="zh-CN" altLang="en-US" sz="1000" dirty="0">
                <a:solidFill>
                  <a:srgbClr val="383838"/>
                </a:solidFill>
                <a:latin typeface="微软雅黑"/>
                <a:ea typeface="微软雅黑"/>
                <a:cs typeface="微软雅黑"/>
                <a:sym typeface="微软雅黑"/>
              </a:rPr>
              <a:t>颗粒大底</a:t>
            </a:r>
            <a:endParaRPr lang="zh-CN" altLang="en-US" sz="1000" dirty="0">
              <a:solidFill>
                <a:srgbClr val="383838"/>
              </a:solidFill>
              <a:latin typeface="微软雅黑"/>
              <a:ea typeface="微软雅黑"/>
              <a:cs typeface="微软雅黑"/>
              <a:sym typeface="微软雅黑"/>
            </a:endParaRPr>
          </a:p>
        </p:txBody>
      </p:sp>
      <p:grpSp>
        <p:nvGrpSpPr>
          <p:cNvPr id="133" name="组合 132"/>
          <p:cNvGrpSpPr/>
          <p:nvPr/>
        </p:nvGrpSpPr>
        <p:grpSpPr>
          <a:xfrm>
            <a:off x="3846830" y="4394200"/>
            <a:ext cx="1240790" cy="2153920"/>
            <a:chOff x="1120140" y="4161158"/>
            <a:chExt cx="1341184" cy="2166448"/>
          </a:xfrm>
        </p:grpSpPr>
        <p:sp>
          <p:nvSpPr>
            <p:cNvPr id="134" name="矩形: 圆角 73"/>
            <p:cNvSpPr/>
            <p:nvPr/>
          </p:nvSpPr>
          <p:spPr>
            <a:xfrm>
              <a:off x="1120140" y="416115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空气动力学剪裁</a:t>
              </a:r>
              <a:endParaRPr lang="zh-CN" altLang="en-US" sz="1000" dirty="0">
                <a:solidFill>
                  <a:srgbClr val="383838"/>
                </a:solidFill>
                <a:latin typeface="微软雅黑"/>
                <a:ea typeface="微软雅黑"/>
                <a:cs typeface="微软雅黑"/>
                <a:sym typeface="微软雅黑"/>
              </a:endParaRPr>
            </a:p>
          </p:txBody>
        </p:sp>
        <p:sp>
          <p:nvSpPr>
            <p:cNvPr id="135" name="矩形: 圆角 74"/>
            <p:cNvSpPr/>
            <p:nvPr/>
          </p:nvSpPr>
          <p:spPr>
            <a:xfrm>
              <a:off x="1120140" y="453707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136" name="矩形: 圆角 75"/>
            <p:cNvSpPr/>
            <p:nvPr/>
          </p:nvSpPr>
          <p:spPr>
            <a:xfrm>
              <a:off x="1120140" y="4912997"/>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磁吸式鞋带系统</a:t>
              </a:r>
              <a:endParaRPr lang="zh-CN" altLang="en-US" sz="1000" dirty="0">
                <a:solidFill>
                  <a:srgbClr val="383838"/>
                </a:solidFill>
                <a:latin typeface="微软雅黑"/>
                <a:ea typeface="微软雅黑"/>
                <a:cs typeface="微软雅黑"/>
                <a:sym typeface="微软雅黑"/>
              </a:endParaRPr>
            </a:p>
          </p:txBody>
        </p:sp>
        <p:sp>
          <p:nvSpPr>
            <p:cNvPr id="137" name="矩形: 圆角 76"/>
            <p:cNvSpPr/>
            <p:nvPr/>
          </p:nvSpPr>
          <p:spPr>
            <a:xfrm>
              <a:off x="1120140" y="5288917"/>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模块化鞋舌设计</a:t>
              </a:r>
              <a:endParaRPr lang="zh-CN" altLang="en-US" sz="1000" dirty="0">
                <a:solidFill>
                  <a:srgbClr val="383838"/>
                </a:solidFill>
                <a:latin typeface="微软雅黑"/>
                <a:ea typeface="微软雅黑"/>
                <a:cs typeface="微软雅黑"/>
                <a:sym typeface="微软雅黑"/>
              </a:endParaRPr>
            </a:p>
          </p:txBody>
        </p:sp>
        <p:sp>
          <p:nvSpPr>
            <p:cNvPr id="138" name="矩形: 圆角 77"/>
            <p:cNvSpPr/>
            <p:nvPr/>
          </p:nvSpPr>
          <p:spPr>
            <a:xfrm>
              <a:off x="1120140" y="566483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多地形适配大底</a:t>
              </a:r>
              <a:endParaRPr lang="zh-CN" altLang="en-US" sz="1000" dirty="0">
                <a:solidFill>
                  <a:srgbClr val="383838"/>
                </a:solidFill>
                <a:latin typeface="微软雅黑"/>
                <a:ea typeface="微软雅黑"/>
                <a:cs typeface="微软雅黑"/>
                <a:sym typeface="微软雅黑"/>
              </a:endParaRPr>
            </a:p>
          </p:txBody>
        </p:sp>
        <p:sp>
          <p:nvSpPr>
            <p:cNvPr id="139" name="矩形: 圆角 78"/>
            <p:cNvSpPr/>
            <p:nvPr/>
          </p:nvSpPr>
          <p:spPr>
            <a:xfrm>
              <a:off x="1120140" y="6040756"/>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联名限定款</a:t>
              </a:r>
              <a:endParaRPr lang="zh-CN" altLang="en-US" sz="1000" dirty="0">
                <a:solidFill>
                  <a:srgbClr val="383838"/>
                </a:solidFill>
                <a:latin typeface="微软雅黑"/>
                <a:ea typeface="微软雅黑"/>
                <a:cs typeface="微软雅黑"/>
                <a:sym typeface="微软雅黑"/>
              </a:endParaRPr>
            </a:p>
          </p:txBody>
        </p:sp>
      </p:grpSp>
      <p:sp>
        <p:nvSpPr>
          <p:cNvPr id="140" name="文本框 139"/>
          <p:cNvSpPr txBox="1"/>
          <p:nvPr/>
        </p:nvSpPr>
        <p:spPr>
          <a:xfrm>
            <a:off x="3645535" y="4808220"/>
            <a:ext cx="1633220" cy="229870"/>
          </a:xfrm>
          <a:prstGeom prst="rect">
            <a:avLst/>
          </a:prstGeom>
          <a:noFill/>
        </p:spPr>
        <p:txBody>
          <a:bodyPr wrap="square" rtlCol="0" anchor="t"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荧光夜跑配色</a:t>
            </a:r>
            <a:endParaRPr lang="zh-CN" altLang="en-US" sz="1000" dirty="0">
              <a:solidFill>
                <a:srgbClr val="383838"/>
              </a:solidFill>
              <a:latin typeface="微软雅黑"/>
              <a:ea typeface="微软雅黑"/>
              <a:cs typeface="微软雅黑"/>
              <a:sym typeface="微软雅黑"/>
            </a:endParaRPr>
          </a:p>
        </p:txBody>
      </p:sp>
      <p:grpSp>
        <p:nvGrpSpPr>
          <p:cNvPr id="141" name="组合 140"/>
          <p:cNvGrpSpPr/>
          <p:nvPr/>
        </p:nvGrpSpPr>
        <p:grpSpPr>
          <a:xfrm>
            <a:off x="5425440" y="4394200"/>
            <a:ext cx="1322705" cy="2153920"/>
            <a:chOff x="1120140" y="4161158"/>
            <a:chExt cx="1341184" cy="2166448"/>
          </a:xfrm>
        </p:grpSpPr>
        <p:sp>
          <p:nvSpPr>
            <p:cNvPr id="142" name="矩形: 圆角 80"/>
            <p:cNvSpPr/>
            <p:nvPr/>
          </p:nvSpPr>
          <p:spPr>
            <a:xfrm>
              <a:off x="1120140" y="4161158"/>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超临界氮气发泡</a:t>
              </a:r>
              <a:endParaRPr lang="zh-CN" altLang="en-US" sz="1000" dirty="0">
                <a:solidFill>
                  <a:srgbClr val="383838"/>
                </a:solidFill>
                <a:latin typeface="微软雅黑"/>
                <a:ea typeface="微软雅黑"/>
                <a:cs typeface="微软雅黑"/>
                <a:sym typeface="微软雅黑"/>
              </a:endParaRPr>
            </a:p>
          </p:txBody>
        </p:sp>
        <p:sp>
          <p:nvSpPr>
            <p:cNvPr id="143" name="矩形: 圆角 81"/>
            <p:cNvSpPr/>
            <p:nvPr/>
          </p:nvSpPr>
          <p:spPr>
            <a:xfrm>
              <a:off x="1120140" y="4537078"/>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鞋舌微型风扇</a:t>
              </a:r>
              <a:endParaRPr lang="zh-CN" altLang="en-US" sz="1000" dirty="0">
                <a:solidFill>
                  <a:srgbClr val="383838"/>
                </a:solidFill>
                <a:latin typeface="微软雅黑"/>
                <a:ea typeface="微软雅黑"/>
                <a:cs typeface="微软雅黑"/>
                <a:sym typeface="微软雅黑"/>
              </a:endParaRPr>
            </a:p>
          </p:txBody>
        </p:sp>
        <p:sp>
          <p:nvSpPr>
            <p:cNvPr id="144" name="矩形: 圆角 82"/>
            <p:cNvSpPr/>
            <p:nvPr/>
          </p:nvSpPr>
          <p:spPr>
            <a:xfrm>
              <a:off x="1120140" y="4912997"/>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自修复大底涂层</a:t>
              </a:r>
              <a:endParaRPr lang="zh-CN" altLang="en-US" sz="1000" dirty="0">
                <a:solidFill>
                  <a:srgbClr val="383838"/>
                </a:solidFill>
                <a:latin typeface="微软雅黑"/>
                <a:ea typeface="微软雅黑"/>
                <a:cs typeface="微软雅黑"/>
                <a:sym typeface="微软雅黑"/>
              </a:endParaRPr>
            </a:p>
          </p:txBody>
        </p:sp>
        <p:sp>
          <p:nvSpPr>
            <p:cNvPr id="145" name="矩形: 圆角 83"/>
            <p:cNvSpPr/>
            <p:nvPr/>
          </p:nvSpPr>
          <p:spPr>
            <a:xfrm>
              <a:off x="1120140" y="5288917"/>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银离子抗菌鞋垫</a:t>
              </a:r>
              <a:endParaRPr lang="zh-CN" altLang="en-US" sz="1000" dirty="0">
                <a:solidFill>
                  <a:srgbClr val="383838"/>
                </a:solidFill>
                <a:latin typeface="微软雅黑"/>
                <a:ea typeface="微软雅黑"/>
                <a:cs typeface="微软雅黑"/>
                <a:sym typeface="微软雅黑"/>
              </a:endParaRPr>
            </a:p>
          </p:txBody>
        </p:sp>
        <p:sp>
          <p:nvSpPr>
            <p:cNvPr id="146" name="矩形: 圆角 84"/>
            <p:cNvSpPr/>
            <p:nvPr/>
          </p:nvSpPr>
          <p:spPr>
            <a:xfrm>
              <a:off x="1120140" y="5664838"/>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冬季保暖内衬</a:t>
              </a:r>
              <a:endParaRPr lang="zh-CN" altLang="en-US" sz="1000" dirty="0">
                <a:solidFill>
                  <a:srgbClr val="383838"/>
                </a:solidFill>
                <a:latin typeface="微软雅黑"/>
                <a:ea typeface="微软雅黑"/>
                <a:cs typeface="微软雅黑"/>
                <a:sym typeface="微软雅黑"/>
              </a:endParaRPr>
            </a:p>
          </p:txBody>
        </p:sp>
        <p:sp>
          <p:nvSpPr>
            <p:cNvPr id="147" name="矩形: 圆角 85"/>
            <p:cNvSpPr/>
            <p:nvPr/>
          </p:nvSpPr>
          <p:spPr>
            <a:xfrm>
              <a:off x="1120140" y="6040756"/>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grpSp>
      <p:sp>
        <p:nvSpPr>
          <p:cNvPr id="148" name="文本框 147"/>
          <p:cNvSpPr txBox="1"/>
          <p:nvPr/>
        </p:nvSpPr>
        <p:spPr>
          <a:xfrm>
            <a:off x="5230495" y="6297930"/>
            <a:ext cx="1657350" cy="229870"/>
          </a:xfrm>
          <a:prstGeom prst="rect">
            <a:avLst/>
          </a:prstGeom>
          <a:noFill/>
        </p:spPr>
        <p:txBody>
          <a:bodyPr wrap="square" rtlCol="0" anchor="t"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环保粘合工艺</a:t>
            </a:r>
            <a:endParaRPr lang="zh-CN" altLang="en-US" sz="1000" dirty="0">
              <a:solidFill>
                <a:srgbClr val="383838"/>
              </a:solidFill>
              <a:latin typeface="微软雅黑"/>
              <a:ea typeface="微软雅黑"/>
              <a:cs typeface="微软雅黑"/>
              <a:sym typeface="微软雅黑"/>
            </a:endParaRPr>
          </a:p>
        </p:txBody>
      </p:sp>
      <p:grpSp>
        <p:nvGrpSpPr>
          <p:cNvPr id="149" name="组合 148"/>
          <p:cNvGrpSpPr/>
          <p:nvPr/>
        </p:nvGrpSpPr>
        <p:grpSpPr>
          <a:xfrm>
            <a:off x="6993255" y="4394200"/>
            <a:ext cx="1343660" cy="2153920"/>
            <a:chOff x="1120140" y="4161158"/>
            <a:chExt cx="1341184" cy="2166448"/>
          </a:xfrm>
        </p:grpSpPr>
        <p:sp>
          <p:nvSpPr>
            <p:cNvPr id="150" name="矩形: 圆角 87"/>
            <p:cNvSpPr/>
            <p:nvPr/>
          </p:nvSpPr>
          <p:spPr>
            <a:xfrm>
              <a:off x="1120140" y="416115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监测步态对称性</a:t>
              </a:r>
              <a:endParaRPr lang="zh-CN" altLang="en-US" sz="1000" dirty="0">
                <a:solidFill>
                  <a:srgbClr val="383838"/>
                </a:solidFill>
                <a:latin typeface="微软雅黑"/>
                <a:ea typeface="微软雅黑"/>
                <a:cs typeface="微软雅黑"/>
                <a:sym typeface="微软雅黑"/>
              </a:endParaRPr>
            </a:p>
          </p:txBody>
        </p:sp>
        <p:sp>
          <p:nvSpPr>
            <p:cNvPr id="151" name="矩形: 圆角 88"/>
            <p:cNvSpPr/>
            <p:nvPr/>
          </p:nvSpPr>
          <p:spPr>
            <a:xfrm>
              <a:off x="1120140" y="453707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APP</a:t>
              </a:r>
              <a:r>
                <a:rPr lang="zh-CN" altLang="en-US" sz="1000" dirty="0">
                  <a:solidFill>
                    <a:srgbClr val="383838"/>
                  </a:solidFill>
                  <a:latin typeface="微软雅黑"/>
                  <a:ea typeface="微软雅黑"/>
                  <a:cs typeface="微软雅黑"/>
                  <a:sym typeface="微软雅黑"/>
                </a:rPr>
                <a:t>跑步报告</a:t>
              </a:r>
              <a:endParaRPr lang="zh-CN" altLang="en-US" sz="1000" dirty="0">
                <a:solidFill>
                  <a:srgbClr val="383838"/>
                </a:solidFill>
                <a:latin typeface="微软雅黑"/>
                <a:ea typeface="微软雅黑"/>
                <a:cs typeface="微软雅黑"/>
                <a:sym typeface="微软雅黑"/>
              </a:endParaRPr>
            </a:p>
          </p:txBody>
        </p:sp>
        <p:sp>
          <p:nvSpPr>
            <p:cNvPr id="152" name="矩形: 圆角 89"/>
            <p:cNvSpPr/>
            <p:nvPr/>
          </p:nvSpPr>
          <p:spPr>
            <a:xfrm>
              <a:off x="1120140" y="4912997"/>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AI</a:t>
              </a:r>
              <a:r>
                <a:rPr lang="zh-CN" altLang="en-US" sz="1000" dirty="0">
                  <a:solidFill>
                    <a:srgbClr val="383838"/>
                  </a:solidFill>
                  <a:latin typeface="微软雅黑"/>
                  <a:ea typeface="微软雅黑"/>
                  <a:cs typeface="微软雅黑"/>
                  <a:sym typeface="微软雅黑"/>
                </a:rPr>
                <a:t>语音教练</a:t>
              </a:r>
              <a:endParaRPr lang="zh-CN" altLang="en-US" sz="1000" dirty="0">
                <a:solidFill>
                  <a:srgbClr val="383838"/>
                </a:solidFill>
                <a:latin typeface="微软雅黑"/>
                <a:ea typeface="微软雅黑"/>
                <a:cs typeface="微软雅黑"/>
                <a:sym typeface="微软雅黑"/>
              </a:endParaRPr>
            </a:p>
          </p:txBody>
        </p:sp>
        <p:sp>
          <p:nvSpPr>
            <p:cNvPr id="153" name="矩形: 圆角 90"/>
            <p:cNvSpPr/>
            <p:nvPr/>
          </p:nvSpPr>
          <p:spPr>
            <a:xfrm>
              <a:off x="1120140" y="5288917"/>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鞋跟隐藏式充电仓</a:t>
              </a:r>
              <a:endParaRPr lang="zh-CN" altLang="en-US" sz="1000" dirty="0">
                <a:solidFill>
                  <a:srgbClr val="383838"/>
                </a:solidFill>
                <a:latin typeface="微软雅黑"/>
                <a:ea typeface="微软雅黑"/>
                <a:cs typeface="微软雅黑"/>
                <a:sym typeface="微软雅黑"/>
              </a:endParaRPr>
            </a:p>
          </p:txBody>
        </p:sp>
        <p:sp>
          <p:nvSpPr>
            <p:cNvPr id="154" name="矩形: 圆角 91"/>
            <p:cNvSpPr/>
            <p:nvPr/>
          </p:nvSpPr>
          <p:spPr>
            <a:xfrm>
              <a:off x="1120140" y="566483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赛事导航联动</a:t>
              </a:r>
              <a:endParaRPr lang="zh-CN" altLang="en-US" sz="1000" dirty="0">
                <a:solidFill>
                  <a:srgbClr val="383838"/>
                </a:solidFill>
                <a:latin typeface="微软雅黑"/>
                <a:ea typeface="微软雅黑"/>
                <a:cs typeface="微软雅黑"/>
                <a:sym typeface="微软雅黑"/>
              </a:endParaRPr>
            </a:p>
          </p:txBody>
        </p:sp>
        <p:sp>
          <p:nvSpPr>
            <p:cNvPr id="155" name="矩形: 圆角 92"/>
            <p:cNvSpPr/>
            <p:nvPr/>
          </p:nvSpPr>
          <p:spPr>
            <a:xfrm>
              <a:off x="1120140" y="6040756"/>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全球跑者</a:t>
              </a:r>
              <a:r>
                <a:rPr lang="zh-CN" altLang="en-US" sz="1000" dirty="0">
                  <a:solidFill>
                    <a:srgbClr val="383838"/>
                  </a:solidFill>
                  <a:latin typeface="微软雅黑"/>
                  <a:ea typeface="微软雅黑"/>
                  <a:cs typeface="微软雅黑"/>
                  <a:sym typeface="微软雅黑"/>
                </a:rPr>
                <a:t>PK</a:t>
              </a:r>
              <a:endParaRPr lang="zh-CN" altLang="en-US" sz="1000" dirty="0">
                <a:solidFill>
                  <a:srgbClr val="383838"/>
                </a:solidFill>
                <a:latin typeface="微软雅黑"/>
                <a:ea typeface="微软雅黑"/>
                <a:cs typeface="微软雅黑"/>
                <a:sym typeface="微软雅黑"/>
              </a:endParaRPr>
            </a:p>
          </p:txBody>
        </p:sp>
      </p:grpSp>
      <p:grpSp>
        <p:nvGrpSpPr>
          <p:cNvPr id="156" name="组合 155"/>
          <p:cNvGrpSpPr/>
          <p:nvPr/>
        </p:nvGrpSpPr>
        <p:grpSpPr>
          <a:xfrm>
            <a:off x="8587740" y="4378960"/>
            <a:ext cx="1381760" cy="2153920"/>
            <a:chOff x="1120140" y="4161158"/>
            <a:chExt cx="1341184" cy="2166448"/>
          </a:xfrm>
        </p:grpSpPr>
        <p:sp>
          <p:nvSpPr>
            <p:cNvPr id="157" name="矩形: 圆角 94"/>
            <p:cNvSpPr/>
            <p:nvPr/>
          </p:nvSpPr>
          <p:spPr>
            <a:xfrm>
              <a:off x="1120140" y="4161158"/>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足弓减压结构</a:t>
              </a:r>
              <a:endParaRPr lang="zh-CN" altLang="en-US" sz="1000" dirty="0">
                <a:solidFill>
                  <a:srgbClr val="383838"/>
                </a:solidFill>
                <a:latin typeface="微软雅黑"/>
                <a:ea typeface="微软雅黑"/>
                <a:cs typeface="微软雅黑"/>
                <a:sym typeface="微软雅黑"/>
              </a:endParaRPr>
            </a:p>
          </p:txBody>
        </p:sp>
        <p:sp>
          <p:nvSpPr>
            <p:cNvPr id="158" name="矩形: 圆角 95"/>
            <p:cNvSpPr/>
            <p:nvPr/>
          </p:nvSpPr>
          <p:spPr>
            <a:xfrm>
              <a:off x="1120140" y="4537078"/>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跟腱缓冲槽柔性包裹</a:t>
              </a:r>
              <a:endParaRPr lang="zh-CN" altLang="en-US" sz="1000" dirty="0">
                <a:solidFill>
                  <a:srgbClr val="383838"/>
                </a:solidFill>
                <a:latin typeface="微软雅黑"/>
                <a:ea typeface="微软雅黑"/>
                <a:cs typeface="微软雅黑"/>
                <a:sym typeface="微软雅黑"/>
              </a:endParaRPr>
            </a:p>
          </p:txBody>
        </p:sp>
        <p:sp>
          <p:nvSpPr>
            <p:cNvPr id="159" name="矩形: 圆角 96"/>
            <p:cNvSpPr/>
            <p:nvPr/>
          </p:nvSpPr>
          <p:spPr>
            <a:xfrm>
              <a:off x="1120140" y="4912997"/>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中底微震技术降疲劳</a:t>
              </a:r>
              <a:endParaRPr lang="zh-CN" altLang="en-US" sz="1000" dirty="0">
                <a:solidFill>
                  <a:srgbClr val="383838"/>
                </a:solidFill>
                <a:latin typeface="微软雅黑"/>
                <a:ea typeface="微软雅黑"/>
                <a:cs typeface="微软雅黑"/>
                <a:sym typeface="微软雅黑"/>
              </a:endParaRPr>
            </a:p>
          </p:txBody>
        </p:sp>
        <p:sp>
          <p:nvSpPr>
            <p:cNvPr id="160" name="矩形: 圆角 97"/>
            <p:cNvSpPr/>
            <p:nvPr/>
          </p:nvSpPr>
          <p:spPr>
            <a:xfrm>
              <a:off x="1120140" y="5288917"/>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自适应缓震模块</a:t>
              </a:r>
              <a:endParaRPr lang="zh-CN" altLang="en-US" sz="1000" dirty="0">
                <a:solidFill>
                  <a:srgbClr val="383838"/>
                </a:solidFill>
                <a:latin typeface="微软雅黑"/>
                <a:ea typeface="微软雅黑"/>
                <a:cs typeface="微软雅黑"/>
                <a:sym typeface="微软雅黑"/>
              </a:endParaRPr>
            </a:p>
          </p:txBody>
        </p:sp>
        <p:sp>
          <p:nvSpPr>
            <p:cNvPr id="161" name="矩形: 圆角 98"/>
            <p:cNvSpPr/>
            <p:nvPr/>
          </p:nvSpPr>
          <p:spPr>
            <a:xfrm>
              <a:off x="1120140" y="5664838"/>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姿态矫正方案</a:t>
              </a:r>
              <a:endParaRPr lang="zh-CN" altLang="en-US" sz="1000" dirty="0">
                <a:solidFill>
                  <a:srgbClr val="383838"/>
                </a:solidFill>
                <a:latin typeface="微软雅黑"/>
                <a:ea typeface="微软雅黑"/>
                <a:cs typeface="微软雅黑"/>
                <a:sym typeface="微软雅黑"/>
              </a:endParaRPr>
            </a:p>
          </p:txBody>
        </p:sp>
        <p:sp>
          <p:nvSpPr>
            <p:cNvPr id="162" name="矩形: 圆角 99"/>
            <p:cNvSpPr/>
            <p:nvPr/>
          </p:nvSpPr>
          <p:spPr>
            <a:xfrm>
              <a:off x="1120140" y="6040756"/>
              <a:ext cx="1341184" cy="286850"/>
            </a:xfrm>
            <a:prstGeom prst="roundRect">
              <a:avLst>
                <a:gd name="adj" fmla="val 50000"/>
              </a:avLst>
            </a:prstGeom>
            <a:solidFill>
              <a:srgbClr val="FFFFFF"/>
            </a:solidFill>
            <a:ln w="12700" cap="flat" cmpd="sng" algn="ctr">
              <a:solidFill>
                <a:srgbClr val="668E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赛后恢复鞋垫</a:t>
              </a:r>
              <a:endParaRPr lang="zh-CN" altLang="en-US" sz="1000" dirty="0">
                <a:solidFill>
                  <a:srgbClr val="383838"/>
                </a:solidFill>
                <a:latin typeface="微软雅黑"/>
                <a:ea typeface="微软雅黑"/>
                <a:cs typeface="微软雅黑"/>
                <a:sym typeface="微软雅黑"/>
              </a:endParaRPr>
            </a:p>
          </p:txBody>
        </p:sp>
      </p:grpSp>
      <p:grpSp>
        <p:nvGrpSpPr>
          <p:cNvPr id="163" name="组合 162"/>
          <p:cNvGrpSpPr/>
          <p:nvPr/>
        </p:nvGrpSpPr>
        <p:grpSpPr>
          <a:xfrm>
            <a:off x="10198100" y="4378960"/>
            <a:ext cx="1326515" cy="2153920"/>
            <a:chOff x="1120140" y="4161158"/>
            <a:chExt cx="1341184" cy="2166448"/>
          </a:xfrm>
        </p:grpSpPr>
        <p:sp>
          <p:nvSpPr>
            <p:cNvPr id="164" name="矩形: 圆角 101"/>
            <p:cNvSpPr/>
            <p:nvPr/>
          </p:nvSpPr>
          <p:spPr>
            <a:xfrm>
              <a:off x="1120140" y="416115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大底终身换新</a:t>
              </a:r>
              <a:endParaRPr lang="zh-CN" altLang="en-US" sz="1000" dirty="0">
                <a:solidFill>
                  <a:srgbClr val="383838"/>
                </a:solidFill>
                <a:latin typeface="微软雅黑"/>
                <a:ea typeface="微软雅黑"/>
                <a:cs typeface="微软雅黑"/>
                <a:sym typeface="微软雅黑"/>
              </a:endParaRPr>
            </a:p>
          </p:txBody>
        </p:sp>
        <p:sp>
          <p:nvSpPr>
            <p:cNvPr id="165" name="矩形: 圆角 102"/>
            <p:cNvSpPr/>
            <p:nvPr/>
          </p:nvSpPr>
          <p:spPr>
            <a:xfrm>
              <a:off x="1120140" y="453707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碳足迹溯源</a:t>
              </a:r>
              <a:endParaRPr lang="zh-CN" altLang="en-US" sz="1000" dirty="0">
                <a:solidFill>
                  <a:srgbClr val="383838"/>
                </a:solidFill>
                <a:latin typeface="微软雅黑"/>
                <a:ea typeface="微软雅黑"/>
                <a:cs typeface="微软雅黑"/>
                <a:sym typeface="微软雅黑"/>
              </a:endParaRPr>
            </a:p>
          </p:txBody>
        </p:sp>
        <p:sp>
          <p:nvSpPr>
            <p:cNvPr id="166" name="矩形: 圆角 103"/>
            <p:cNvSpPr/>
            <p:nvPr/>
          </p:nvSpPr>
          <p:spPr>
            <a:xfrm>
              <a:off x="1120140" y="4912997"/>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旧鞋回收计划</a:t>
              </a:r>
              <a:endParaRPr lang="zh-CN" altLang="en-US" sz="1000" dirty="0">
                <a:solidFill>
                  <a:srgbClr val="383838"/>
                </a:solidFill>
                <a:latin typeface="微软雅黑"/>
                <a:ea typeface="微软雅黑"/>
                <a:cs typeface="微软雅黑"/>
                <a:sym typeface="微软雅黑"/>
              </a:endParaRPr>
            </a:p>
          </p:txBody>
        </p:sp>
        <p:sp>
          <p:nvSpPr>
            <p:cNvPr id="167" name="矩形: 圆角 104"/>
            <p:cNvSpPr/>
            <p:nvPr/>
          </p:nvSpPr>
          <p:spPr>
            <a:xfrm>
              <a:off x="1120140" y="5288917"/>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会员专属权益</a:t>
              </a:r>
              <a:endParaRPr lang="zh-CN" altLang="en-US" sz="1000" dirty="0">
                <a:solidFill>
                  <a:srgbClr val="383838"/>
                </a:solidFill>
                <a:latin typeface="微软雅黑"/>
                <a:ea typeface="微软雅黑"/>
                <a:cs typeface="微软雅黑"/>
                <a:sym typeface="微软雅黑"/>
              </a:endParaRPr>
            </a:p>
          </p:txBody>
        </p:sp>
        <p:sp>
          <p:nvSpPr>
            <p:cNvPr id="168" name="矩形: 圆角 105"/>
            <p:cNvSpPr/>
            <p:nvPr/>
          </p:nvSpPr>
          <p:spPr>
            <a:xfrm>
              <a:off x="1120140" y="5664838"/>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169" name="矩形: 圆角 106"/>
            <p:cNvSpPr/>
            <p:nvPr/>
          </p:nvSpPr>
          <p:spPr>
            <a:xfrm>
              <a:off x="1120140" y="6040756"/>
              <a:ext cx="1341184" cy="286850"/>
            </a:xfrm>
            <a:prstGeom prst="roundRect">
              <a:avLst>
                <a:gd name="adj" fmla="val 50000"/>
              </a:avLst>
            </a:prstGeom>
            <a:solidFill>
              <a:srgbClr val="FFFFFF"/>
            </a:solidFill>
            <a:ln w="12700" cap="flat" cmpd="sng" algn="ctr">
              <a:solidFill>
                <a:srgbClr val="B3D4FE"/>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grpSp>
      <p:sp>
        <p:nvSpPr>
          <p:cNvPr id="170" name="文本框 169"/>
          <p:cNvSpPr txBox="1"/>
          <p:nvPr/>
        </p:nvSpPr>
        <p:spPr>
          <a:xfrm>
            <a:off x="10017760" y="5902960"/>
            <a:ext cx="1722755" cy="229870"/>
          </a:xfrm>
          <a:prstGeom prst="rect">
            <a:avLst/>
          </a:prstGeom>
          <a:noFill/>
        </p:spPr>
        <p:txBody>
          <a:bodyPr wrap="square" rtlCol="0" anchor="t"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赛事直通资格</a:t>
            </a:r>
            <a:endParaRPr lang="zh-CN" altLang="en-US" sz="1000" dirty="0">
              <a:solidFill>
                <a:srgbClr val="383838"/>
              </a:solidFill>
              <a:latin typeface="微软雅黑"/>
              <a:ea typeface="微软雅黑"/>
              <a:cs typeface="微软雅黑"/>
              <a:sym typeface="微软雅黑"/>
            </a:endParaRPr>
          </a:p>
        </p:txBody>
      </p:sp>
      <p:sp>
        <p:nvSpPr>
          <p:cNvPr id="171" name="文本框 170"/>
          <p:cNvSpPr txBox="1"/>
          <p:nvPr/>
        </p:nvSpPr>
        <p:spPr>
          <a:xfrm>
            <a:off x="9963150" y="6278245"/>
            <a:ext cx="1812925" cy="229870"/>
          </a:xfrm>
          <a:prstGeom prst="rect">
            <a:avLst/>
          </a:prstGeom>
          <a:noFill/>
        </p:spPr>
        <p:txBody>
          <a:bodyPr wrap="square" rtlCol="0" anchor="t"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公益捐赠机制</a:t>
            </a:r>
            <a:endParaRPr lang="zh-CN" altLang="en-US" sz="1000" dirty="0">
              <a:solidFill>
                <a:srgbClr val="383838"/>
              </a:solidFill>
              <a:latin typeface="微软雅黑"/>
              <a:ea typeface="微软雅黑"/>
              <a:cs typeface="微软雅黑"/>
              <a:sym typeface="微软雅黑"/>
            </a:endParaRPr>
          </a:p>
        </p:txBody>
      </p:sp>
      <p:sp>
        <p:nvSpPr>
          <p:cNvPr id="3" name="文本框 2"/>
          <p:cNvSpPr txBox="1"/>
          <p:nvPr/>
        </p:nvSpPr>
        <p:spPr>
          <a:xfrm>
            <a:off x="8497570" y="3881120"/>
            <a:ext cx="1568450" cy="24511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defRPr sz="10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足部减负</a:t>
            </a:r>
            <a:r>
              <a:rPr lang="en-US" altLang="zh-CN" dirty="0">
                <a:solidFill>
                  <a:srgbClr val="FFFFFF"/>
                </a:solidFill>
                <a:latin typeface="微软雅黑"/>
                <a:ea typeface="微软雅黑"/>
                <a:cs typeface="微软雅黑"/>
              </a:rPr>
              <a:t> </a:t>
            </a:r>
            <a:r>
              <a:rPr lang="zh-CN" altLang="en-US" dirty="0">
                <a:solidFill>
                  <a:srgbClr val="FFFFFF"/>
                </a:solidFill>
                <a:latin typeface="微软雅黑"/>
                <a:ea typeface="微软雅黑"/>
                <a:cs typeface="微软雅黑"/>
              </a:rPr>
              <a:t>跟腱防护</a:t>
            </a:r>
            <a:endParaRPr lang="zh-CN" altLang="en-US" dirty="0">
              <a:solidFill>
                <a:srgbClr val="FFFFFF"/>
              </a:solidFill>
              <a:latin typeface="微软雅黑"/>
              <a:ea typeface="微软雅黑"/>
              <a:cs typeface="微软雅黑"/>
            </a:endParaRPr>
          </a:p>
        </p:txBody>
      </p:sp>
      <p:pic>
        <p:nvPicPr>
          <p:cNvPr id="6" name="图片 5" descr="821qt_kaiqi"/>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683510" y="3350895"/>
            <a:ext cx="508000" cy="508000"/>
          </a:xfrm>
          <a:prstGeom prst="rect">
            <a:avLst/>
          </a:prstGeom>
        </p:spPr>
      </p:pic>
      <p:pic>
        <p:nvPicPr>
          <p:cNvPr id="12" name="图片 11" descr="运动鞋"/>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4276090" y="3351213"/>
            <a:ext cx="507365" cy="507365"/>
          </a:xfrm>
          <a:prstGeom prst="rect">
            <a:avLst/>
          </a:prstGeom>
        </p:spPr>
      </p:pic>
      <p:pic>
        <p:nvPicPr>
          <p:cNvPr id="13" name="图片 12" descr="General-2-50"/>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113520" y="3392495"/>
            <a:ext cx="424800" cy="424800"/>
          </a:xfrm>
          <a:prstGeom prst="rect">
            <a:avLst/>
          </a:prstGeom>
        </p:spPr>
      </p:pic>
      <p:grpSp>
        <p:nvGrpSpPr>
          <p:cNvPr id="4357" name="显眼包PPT"/>
          <p:cNvGrpSpPr/>
          <p:nvPr/>
        </p:nvGrpSpPr>
        <p:grpSpPr>
          <a:xfrm>
            <a:off x="499110" y="1002030"/>
            <a:ext cx="11259820" cy="998855"/>
            <a:chOff x="355745" y="854943"/>
            <a:chExt cx="11480512" cy="1291095"/>
          </a:xfrm>
        </p:grpSpPr>
        <p:sp>
          <p:nvSpPr>
            <p:cNvPr id="22" name="显眼包PPT-1"/>
            <p:cNvSpPr/>
            <p:nvPr/>
          </p:nvSpPr>
          <p:spPr>
            <a:xfrm>
              <a:off x="474818" y="1446875"/>
              <a:ext cx="11263146" cy="668308"/>
            </a:xfrm>
            <a:prstGeom prst="trapezoid">
              <a:avLst>
                <a:gd name="adj" fmla="val 223417"/>
              </a:avLst>
            </a:prstGeom>
            <a:gradFill flip="none" rotWithShape="1">
              <a:gsLst>
                <a:gs pos="48000">
                  <a:srgbClr val="E6E6E6">
                    <a:alpha val="0"/>
                  </a:srgbClr>
                </a:gs>
                <a:gs pos="100000">
                  <a:srgbClr val="E6E6E6"/>
                </a:gs>
              </a:gsLst>
              <a:lin ang="5400000" scaled="1"/>
              <a:tileRect/>
            </a:gradFill>
            <a:ln w="9525" cap="rnd">
              <a:gradFill>
                <a:gsLst>
                  <a:gs pos="12000">
                    <a:srgbClr val="E6E6E6">
                      <a:alpha val="0"/>
                    </a:srgbClr>
                  </a:gs>
                  <a:gs pos="100000">
                    <a:srgbClr val="0042FF"/>
                  </a:gs>
                </a:gsLst>
                <a:lin ang="5400000" scaled="1"/>
              </a:gradFill>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grpSp>
          <p:nvGrpSpPr>
            <p:cNvPr id="25" name="组合 24"/>
            <p:cNvGrpSpPr/>
            <p:nvPr/>
          </p:nvGrpSpPr>
          <p:grpSpPr>
            <a:xfrm>
              <a:off x="355745" y="854943"/>
              <a:ext cx="11480512" cy="1291095"/>
              <a:chOff x="330199" y="792739"/>
              <a:chExt cx="11723255" cy="1095637"/>
            </a:xfrm>
          </p:grpSpPr>
          <p:sp>
            <p:nvSpPr>
              <p:cNvPr id="26" name="显眼包PPT-2"/>
              <p:cNvSpPr/>
              <p:nvPr/>
            </p:nvSpPr>
            <p:spPr>
              <a:xfrm>
                <a:off x="6191827" y="792739"/>
                <a:ext cx="5859846" cy="1079036"/>
              </a:xfrm>
              <a:custGeom>
                <a:avLst/>
                <a:gdLst>
                  <a:gd name="connsiteX0" fmla="*/ 4100513 w 5219700"/>
                  <a:gd name="connsiteY0" fmla="*/ 1033463 h 1857375"/>
                  <a:gd name="connsiteX1" fmla="*/ 0 w 5219700"/>
                  <a:gd name="connsiteY1" fmla="*/ 0 h 1857375"/>
                  <a:gd name="connsiteX2" fmla="*/ 5219700 w 5219700"/>
                  <a:gd name="connsiteY2" fmla="*/ 1857375 h 1857375"/>
                  <a:gd name="connsiteX3" fmla="*/ 4100513 w 5219700"/>
                  <a:gd name="connsiteY3" fmla="*/ 1033463 h 1857375"/>
                </a:gdLst>
                <a:ahLst/>
                <a:cxnLst>
                  <a:cxn ang="0">
                    <a:pos x="connsiteX0" y="connsiteY0"/>
                  </a:cxn>
                  <a:cxn ang="0">
                    <a:pos x="connsiteX1" y="connsiteY1"/>
                  </a:cxn>
                  <a:cxn ang="0">
                    <a:pos x="connsiteX2" y="connsiteY2"/>
                  </a:cxn>
                  <a:cxn ang="0">
                    <a:pos x="connsiteX3" y="connsiteY3"/>
                  </a:cxn>
                </a:cxnLst>
                <a:rect l="l" t="t" r="r" b="b"/>
                <a:pathLst>
                  <a:path w="5219700" h="1857375">
                    <a:moveTo>
                      <a:pt x="4100513" y="1033463"/>
                    </a:moveTo>
                    <a:lnTo>
                      <a:pt x="0" y="0"/>
                    </a:lnTo>
                    <a:lnTo>
                      <a:pt x="5219700" y="1857375"/>
                    </a:lnTo>
                    <a:lnTo>
                      <a:pt x="4100513" y="1033463"/>
                    </a:lnTo>
                    <a:close/>
                  </a:path>
                </a:pathLst>
              </a:custGeom>
              <a:gradFill>
                <a:gsLst>
                  <a:gs pos="0">
                    <a:srgbClr val="3368FF">
                      <a:alpha val="67000"/>
                    </a:srgbClr>
                  </a:gs>
                  <a:gs pos="73000">
                    <a:srgbClr val="E6E6E6">
                      <a:alpha val="0"/>
                    </a:srgbClr>
                  </a:gs>
                </a:gsLst>
                <a:lin ang="36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7" name="显眼包PPT-3"/>
              <p:cNvSpPr/>
              <p:nvPr/>
            </p:nvSpPr>
            <p:spPr>
              <a:xfrm>
                <a:off x="330199" y="794985"/>
                <a:ext cx="11723255" cy="1074558"/>
              </a:xfrm>
              <a:prstGeom prst="triangle">
                <a:avLst/>
              </a:prstGeom>
              <a:gradFill>
                <a:gsLst>
                  <a:gs pos="1000">
                    <a:srgbClr val="668EFF"/>
                  </a:gs>
                  <a:gs pos="84000">
                    <a:srgbClr val="FFFFFF">
                      <a:alpha val="0"/>
                    </a:srgbClr>
                  </a:gs>
                </a:gsLst>
                <a:lin ang="5400000" scaled="1"/>
              </a:gradFill>
              <a:ln>
                <a:gradFill>
                  <a:gsLst>
                    <a:gs pos="23000">
                      <a:srgbClr val="0042FF"/>
                    </a:gs>
                    <a:gs pos="100000">
                      <a:srgbClr val="0042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4482" name="显眼包PPT-6"/>
              <p:cNvCxnSpPr/>
              <p:nvPr/>
            </p:nvCxnSpPr>
            <p:spPr>
              <a:xfrm>
                <a:off x="6184849" y="793525"/>
                <a:ext cx="4637198" cy="611301"/>
              </a:xfrm>
              <a:prstGeom prst="line">
                <a:avLst/>
              </a:prstGeom>
              <a:ln w="12700">
                <a:gradFill>
                  <a:gsLst>
                    <a:gs pos="0">
                      <a:srgbClr val="0042FF"/>
                    </a:gs>
                    <a:gs pos="100000">
                      <a:srgbClr val="0042FF">
                        <a:alpha val="0"/>
                      </a:srgbClr>
                    </a:gs>
                  </a:gsLst>
                  <a:lin ang="5400000" scaled="1"/>
                </a:gradFill>
              </a:ln>
            </p:spPr>
            <p:style>
              <a:lnRef idx="1">
                <a:srgbClr val="0042FF"/>
              </a:lnRef>
              <a:fillRef idx="0">
                <a:srgbClr val="0042FF"/>
              </a:fillRef>
              <a:effectRef idx="0">
                <a:srgbClr val="0042FF"/>
              </a:effectRef>
              <a:fontRef idx="minor">
                <a:srgbClr val="383838"/>
              </a:fontRef>
            </p:style>
          </p:cxnSp>
          <p:cxnSp>
            <p:nvCxnSpPr>
              <p:cNvPr id="4483" name="显眼包PPT-7"/>
              <p:cNvCxnSpPr/>
              <p:nvPr/>
            </p:nvCxnSpPr>
            <p:spPr>
              <a:xfrm flipH="1">
                <a:off x="1561608" y="793525"/>
                <a:ext cx="4623568" cy="601530"/>
              </a:xfrm>
              <a:prstGeom prst="line">
                <a:avLst/>
              </a:prstGeom>
              <a:ln w="12700">
                <a:gradFill>
                  <a:gsLst>
                    <a:gs pos="0">
                      <a:srgbClr val="0042FF"/>
                    </a:gs>
                    <a:gs pos="100000">
                      <a:srgbClr val="0042FF">
                        <a:alpha val="0"/>
                      </a:srgbClr>
                    </a:gs>
                  </a:gsLst>
                  <a:lin ang="5400000" scaled="1"/>
                </a:gradFill>
              </a:ln>
            </p:spPr>
            <p:style>
              <a:lnRef idx="1">
                <a:srgbClr val="0042FF"/>
              </a:lnRef>
              <a:fillRef idx="0">
                <a:srgbClr val="0042FF"/>
              </a:fillRef>
              <a:effectRef idx="0">
                <a:srgbClr val="0042FF"/>
              </a:effectRef>
              <a:fontRef idx="minor">
                <a:srgbClr val="383838"/>
              </a:fontRef>
            </p:style>
          </p:cxnSp>
          <p:sp>
            <p:nvSpPr>
              <p:cNvPr id="4484" name="显眼包PPT-8"/>
              <p:cNvSpPr/>
              <p:nvPr/>
            </p:nvSpPr>
            <p:spPr>
              <a:xfrm>
                <a:off x="342674" y="792739"/>
                <a:ext cx="5870539" cy="1095637"/>
              </a:xfrm>
              <a:custGeom>
                <a:avLst/>
                <a:gdLst>
                  <a:gd name="connsiteX0" fmla="*/ 5229225 w 5229225"/>
                  <a:gd name="connsiteY0" fmla="*/ 0 h 1885950"/>
                  <a:gd name="connsiteX1" fmla="*/ 0 w 5229225"/>
                  <a:gd name="connsiteY1" fmla="*/ 1885950 h 1885950"/>
                  <a:gd name="connsiteX2" fmla="*/ 1081088 w 5229225"/>
                  <a:gd name="connsiteY2" fmla="*/ 1033463 h 1885950"/>
                  <a:gd name="connsiteX3" fmla="*/ 5229225 w 5229225"/>
                  <a:gd name="connsiteY3" fmla="*/ 0 h 1885950"/>
                </a:gdLst>
                <a:ahLst/>
                <a:cxnLst>
                  <a:cxn ang="0">
                    <a:pos x="connsiteX0" y="connsiteY0"/>
                  </a:cxn>
                  <a:cxn ang="0">
                    <a:pos x="connsiteX1" y="connsiteY1"/>
                  </a:cxn>
                  <a:cxn ang="0">
                    <a:pos x="connsiteX2" y="connsiteY2"/>
                  </a:cxn>
                  <a:cxn ang="0">
                    <a:pos x="connsiteX3" y="connsiteY3"/>
                  </a:cxn>
                </a:cxnLst>
                <a:rect l="l" t="t" r="r" b="b"/>
                <a:pathLst>
                  <a:path w="5229225" h="1885950">
                    <a:moveTo>
                      <a:pt x="5229225" y="0"/>
                    </a:moveTo>
                    <a:lnTo>
                      <a:pt x="0" y="1885950"/>
                    </a:lnTo>
                    <a:lnTo>
                      <a:pt x="1081088" y="1033463"/>
                    </a:lnTo>
                    <a:lnTo>
                      <a:pt x="5229225" y="0"/>
                    </a:lnTo>
                    <a:close/>
                  </a:path>
                </a:pathLst>
              </a:custGeom>
              <a:gradFill>
                <a:gsLst>
                  <a:gs pos="0">
                    <a:srgbClr val="3368FF">
                      <a:alpha val="67000"/>
                    </a:srgbClr>
                  </a:gs>
                  <a:gs pos="75000">
                    <a:srgbClr val="668E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sp>
        <p:nvSpPr>
          <p:cNvPr id="4" name="文本框 3"/>
          <p:cNvSpPr txBox="1"/>
          <p:nvPr/>
        </p:nvSpPr>
        <p:spPr>
          <a:xfrm>
            <a:off x="4920615" y="1257300"/>
            <a:ext cx="2280285" cy="398780"/>
          </a:xfrm>
          <a:prstGeom prst="rect">
            <a:avLst/>
          </a:prstGeom>
          <a:noFill/>
        </p:spPr>
        <p:txBody>
          <a:bodyPr wrap="square" lIns="0" rIns="0" tIns="0" bIns="0">
            <a:spAutoFit/>
          </a:bodyPr>
          <a:lstStyle>
            <a:defPPr>
              <a:defRPr lang="zh-CN">
                <a:latin typeface="微软雅黑"/>
                <a:ea typeface="微软雅黑"/>
                <a:cs typeface="微软雅黑"/>
              </a:defRPr>
            </a:defPPr>
            <a:lvl1pPr>
              <a:defRPr sz="10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sz="2000" b="1" dirty="0">
                <a:solidFill>
                  <a:srgbClr val="383838"/>
                </a:solidFill>
                <a:latin typeface="微软雅黑"/>
                <a:ea typeface="微软雅黑"/>
                <a:cs typeface="微软雅黑"/>
              </a:rPr>
              <a:t>某高科技</a:t>
            </a:r>
            <a:r>
              <a:rPr lang="zh-CN" sz="2000" b="1" dirty="0">
                <a:solidFill>
                  <a:srgbClr val="383838"/>
                </a:solidFill>
                <a:latin typeface="微软雅黑"/>
                <a:ea typeface="微软雅黑"/>
                <a:cs typeface="微软雅黑"/>
              </a:rPr>
              <a:t>跑鞋</a:t>
            </a:r>
            <a:endParaRPr lang="zh-CN" sz="2000" b="1" dirty="0">
              <a:solidFill>
                <a:srgbClr val="383838"/>
              </a:solidFill>
              <a:latin typeface="微软雅黑"/>
              <a:ea typeface="微软雅黑"/>
              <a:cs typeface="微软雅黑"/>
            </a:endParaRPr>
          </a:p>
        </p:txBody>
      </p:sp>
      <p:sp>
        <p:nvSpPr>
          <p:cNvPr id="14" name="文本框 13"/>
          <p:cNvSpPr txBox="1"/>
          <p:nvPr/>
        </p:nvSpPr>
        <p:spPr>
          <a:xfrm>
            <a:off x="4869974" y="1606050"/>
            <a:ext cx="2468880" cy="275590"/>
          </a:xfrm>
          <a:prstGeom prst="rect">
            <a:avLst/>
          </a:prstGeom>
          <a:noFill/>
        </p:spPr>
        <p:txBody>
          <a:bodyPr wrap="none" lIns="0" rIns="0" tIns="0" bIns="0">
            <a:spAutoFit/>
          </a:bodyPr>
          <a:lstStyle>
            <a:defPPr>
              <a:defRPr lang="zh-CN">
                <a:latin typeface="微软雅黑"/>
                <a:ea typeface="微软雅黑"/>
                <a:cs typeface="微软雅黑"/>
              </a:defRPr>
            </a:defPPr>
            <a:lvl1pPr algn="ctr">
              <a:defRPr sz="2000">
                <a:solidFill>
                  <a:srgbClr val="383838"/>
                </a:solidFill>
                <a:effectLst>
                  <a:outerShdw blurRad="50800" dist="38100" dir="5400000" algn="t" rotWithShape="0">
                    <a:prstClr val="black">
                      <a:alpha val="14000"/>
                    </a:prstClr>
                  </a:outerShdw>
                </a:effectLst>
                <a:latin typeface="微软雅黑"/>
                <a:ea typeface="微软雅黑"/>
                <a:cs typeface="微软雅黑"/>
              </a:defRPr>
            </a:lvl1p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沟通主张：突破极限，尽在每一步</a:t>
            </a:r>
            <a:endParaRPr lang="zh-CN" altLang="en-US" sz="1200" dirty="0">
              <a:solidFill>
                <a:srgbClr val="383838"/>
              </a:solidFill>
              <a:latin typeface="微软雅黑"/>
              <a:ea typeface="微软雅黑"/>
              <a:cs typeface="微软雅黑"/>
            </a:endParaRPr>
          </a:p>
        </p:txBody>
      </p:sp>
      <p:grpSp>
        <p:nvGrpSpPr>
          <p:cNvPr id="2" name="组合 1"/>
          <p:cNvGrpSpPr/>
          <p:nvPr/>
        </p:nvGrpSpPr>
        <p:grpSpPr>
          <a:xfrm>
            <a:off x="7675245" y="347980"/>
            <a:ext cx="4588510" cy="367030"/>
            <a:chOff x="12087" y="-1089"/>
            <a:chExt cx="7226" cy="578"/>
          </a:xfrm>
        </p:grpSpPr>
        <p:pic>
          <p:nvPicPr>
            <p:cNvPr id="17" name="图片 16"/>
            <p:cNvPicPr>
              <a:picLocks noChangeAspect="1"/>
            </p:cNvPicPr>
            <p:nvPr userDrawn="1"/>
          </p:nvPicPr>
          <p:blipFill>
            <a:blip r:embed="rId15"/>
            <a:srcRect r="57320" b="-13333"/>
            <a:stretch>
              <a:fillRect/>
            </a:stretch>
          </p:blipFill>
          <p:spPr>
            <a:xfrm>
              <a:off x="12087" y="-1089"/>
              <a:ext cx="2548" cy="578"/>
            </a:xfrm>
            <a:prstGeom prst="rect">
              <a:avLst/>
            </a:prstGeom>
          </p:spPr>
        </p:pic>
        <p:sp>
          <p:nvSpPr>
            <p:cNvPr id="18" name="文本框 1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汽车品牌战略分析框架</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4" name="梯形 13"/>
          <p:cNvSpPr/>
          <p:nvPr/>
        </p:nvSpPr>
        <p:spPr>
          <a:xfrm>
            <a:off x="1396365" y="1042035"/>
            <a:ext cx="9398635" cy="876935"/>
          </a:xfrm>
          <a:prstGeom prst="trapezoid">
            <a:avLst>
              <a:gd name="adj" fmla="val 51148"/>
            </a:avLst>
          </a:prstGeom>
          <a:gradFill flip="none" rotWithShape="1">
            <a:gsLst>
              <a:gs pos="0">
                <a:srgbClr val="668EFF">
                  <a:alpha val="40000"/>
                </a:srgbClr>
              </a:gs>
              <a:gs pos="100000">
                <a:srgbClr val="668EFF">
                  <a:alpha val="0"/>
                </a:srgbClr>
              </a:gs>
            </a:gsLst>
            <a:lin ang="5400000" scaled="0"/>
          </a:gradFill>
          <a:ln w="19050" cap="flat" cmpd="sng" algn="ctr">
            <a:gradFill flip="none" rotWithShape="1">
              <a:gsLst>
                <a:gs pos="0">
                  <a:srgbClr val="3368FF"/>
                </a:gs>
                <a:gs pos="100000">
                  <a:srgbClr val="668EFF"/>
                </a:gs>
              </a:gsLst>
              <a:lin ang="5400000" scaled="1"/>
              <a:tileRect/>
            </a:gradFill>
            <a:prstDash val="solid"/>
            <a:miter lim="800000"/>
          </a:ln>
          <a:effectLst/>
        </p:spPr>
        <p:txBody>
          <a:bodyPr vert="horz" wrap="square" lIns="0" tIns="0" rIns="0" bIns="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 name="矩形: 圆角 14"/>
          <p:cNvSpPr/>
          <p:nvPr>
            <p:custDataLst>
              <p:tags r:id="rId3"/>
            </p:custDataLst>
          </p:nvPr>
        </p:nvSpPr>
        <p:spPr>
          <a:xfrm>
            <a:off x="2327910" y="2018665"/>
            <a:ext cx="8467090" cy="821055"/>
          </a:xfrm>
          <a:prstGeom prst="roundRect">
            <a:avLst>
              <a:gd name="adj" fmla="val 0"/>
            </a:avLst>
          </a:prstGeom>
          <a:solidFill>
            <a:srgbClr val="FFFFFF">
              <a:alpha val="40000"/>
            </a:srgbClr>
          </a:solidFill>
          <a:ln w="12065">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lIns="86868" tIns="43434" rIns="86868" bIns="43434" rtlCol="0" anchor="ctr"/>
          <a:lstStyle/>
          <a:p>
            <a:pPr algn="ctr">
              <a:defRPr>
                <a:latin typeface="微软雅黑"/>
                <a:ea typeface="微软雅黑"/>
                <a:cs typeface="微软雅黑"/>
              </a:defRPr>
            </a:pPr>
            <a:endParaRPr lang="zh-CN" altLang="en-US" sz="1710">
              <a:solidFill>
                <a:srgbClr val="383838"/>
              </a:solidFill>
              <a:latin typeface="微软雅黑"/>
              <a:ea typeface="微软雅黑"/>
              <a:cs typeface="微软雅黑"/>
            </a:endParaRPr>
          </a:p>
        </p:txBody>
      </p:sp>
      <p:sp>
        <p:nvSpPr>
          <p:cNvPr id="6" name="矩形: 圆顶角 2"/>
          <p:cNvSpPr/>
          <p:nvPr>
            <p:custDataLst>
              <p:tags r:id="rId4"/>
            </p:custDataLst>
          </p:nvPr>
        </p:nvSpPr>
        <p:spPr>
          <a:xfrm>
            <a:off x="2327910" y="2927350"/>
            <a:ext cx="4206875" cy="732790"/>
          </a:xfrm>
          <a:prstGeom prst="round2SameRect">
            <a:avLst/>
          </a:prstGeom>
          <a:gradFill>
            <a:gsLst>
              <a:gs pos="0">
                <a:srgbClr val="B3D4FE"/>
              </a:gs>
              <a:gs pos="89000">
                <a:srgbClr val="B3D4FE"/>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lIns="93817" tIns="46909" rIns="93817" bIns="46909" rtlCol="0" anchor="ctr"/>
          <a:lstStyle/>
          <a:p>
            <a:pPr algn="ctr">
              <a:defRPr>
                <a:latin typeface="微软雅黑"/>
                <a:ea typeface="微软雅黑"/>
                <a:cs typeface="微软雅黑"/>
              </a:defRPr>
            </a:pPr>
            <a:endParaRPr lang="zh-CN" altLang="en-US" sz="1845">
              <a:solidFill>
                <a:srgbClr val="383838"/>
              </a:solidFill>
              <a:effectLst>
                <a:outerShdw blurRad="130302" dist="39091" dir="2699985" algn="tl">
                  <a:srgbClr val="383838">
                    <a:alpha val="40000"/>
                  </a:srgbClr>
                </a:outerShdw>
              </a:effectLst>
              <a:latin typeface="微软雅黑"/>
              <a:ea typeface="微软雅黑"/>
              <a:cs typeface="微软雅黑"/>
            </a:endParaRPr>
          </a:p>
        </p:txBody>
      </p:sp>
      <p:sp>
        <p:nvSpPr>
          <p:cNvPr id="12" name="矩形: 圆顶角 5"/>
          <p:cNvSpPr/>
          <p:nvPr>
            <p:custDataLst>
              <p:tags r:id="rId5"/>
            </p:custDataLst>
          </p:nvPr>
        </p:nvSpPr>
        <p:spPr>
          <a:xfrm>
            <a:off x="6588125" y="2927350"/>
            <a:ext cx="4206875" cy="732790"/>
          </a:xfrm>
          <a:prstGeom prst="round2SameRect">
            <a:avLst/>
          </a:prstGeom>
          <a:gradFill>
            <a:gsLst>
              <a:gs pos="0">
                <a:srgbClr val="B3D4FE"/>
              </a:gs>
              <a:gs pos="89000">
                <a:srgbClr val="B3D4FE"/>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845">
              <a:solidFill>
                <a:srgbClr val="383838"/>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13" name="矩形: 圆顶角 6"/>
          <p:cNvSpPr/>
          <p:nvPr>
            <p:custDataLst>
              <p:tags r:id="rId6"/>
            </p:custDataLst>
          </p:nvPr>
        </p:nvSpPr>
        <p:spPr>
          <a:xfrm>
            <a:off x="2327910" y="3777615"/>
            <a:ext cx="2770505" cy="732790"/>
          </a:xfrm>
          <a:prstGeom prst="round2SameRect">
            <a:avLst/>
          </a:prstGeom>
          <a:gradFill>
            <a:gsLst>
              <a:gs pos="0">
                <a:srgbClr val="3368FF"/>
              </a:gs>
              <a:gs pos="100000">
                <a:srgbClr val="668E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17" name="矩形: 圆顶角 10"/>
          <p:cNvSpPr/>
          <p:nvPr>
            <p:custDataLst>
              <p:tags r:id="rId7"/>
            </p:custDataLst>
          </p:nvPr>
        </p:nvSpPr>
        <p:spPr>
          <a:xfrm>
            <a:off x="5176520" y="3777615"/>
            <a:ext cx="2770505" cy="732790"/>
          </a:xfrm>
          <a:prstGeom prst="round2SameRect">
            <a:avLst/>
          </a:prstGeom>
          <a:gradFill>
            <a:gsLst>
              <a:gs pos="0">
                <a:srgbClr val="3368FF"/>
              </a:gs>
              <a:gs pos="100000">
                <a:srgbClr val="668E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18" name="矩形: 圆顶角 15"/>
          <p:cNvSpPr/>
          <p:nvPr>
            <p:custDataLst>
              <p:tags r:id="rId8"/>
            </p:custDataLst>
          </p:nvPr>
        </p:nvSpPr>
        <p:spPr>
          <a:xfrm>
            <a:off x="8024495" y="3777615"/>
            <a:ext cx="2770505" cy="732790"/>
          </a:xfrm>
          <a:prstGeom prst="round2SameRect">
            <a:avLst/>
          </a:prstGeom>
          <a:gradFill>
            <a:gsLst>
              <a:gs pos="0">
                <a:srgbClr val="3368FF"/>
              </a:gs>
              <a:gs pos="100000">
                <a:srgbClr val="668E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21" name="矩形 20"/>
          <p:cNvSpPr/>
          <p:nvPr/>
        </p:nvSpPr>
        <p:spPr>
          <a:xfrm>
            <a:off x="2327910" y="4636770"/>
            <a:ext cx="2770505" cy="1550035"/>
          </a:xfrm>
          <a:prstGeom prst="rect">
            <a:avLst/>
          </a:prstGeom>
          <a:solidFill>
            <a:srgbClr val="E6E6E6">
              <a:alpha val="30000"/>
            </a:srgbClr>
          </a:solidFill>
          <a:ln w="12700" cap="flat" cmpd="sng" algn="ctr">
            <a:solidFill>
              <a:srgbClr val="3368FF">
                <a:alpha val="5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2" name="矩形 21"/>
          <p:cNvSpPr/>
          <p:nvPr/>
        </p:nvSpPr>
        <p:spPr>
          <a:xfrm>
            <a:off x="5176520" y="4636770"/>
            <a:ext cx="2770505" cy="1550035"/>
          </a:xfrm>
          <a:prstGeom prst="rect">
            <a:avLst/>
          </a:prstGeom>
          <a:solidFill>
            <a:srgbClr val="E6E6E6">
              <a:alpha val="30000"/>
            </a:srgbClr>
          </a:solidFill>
          <a:ln w="12700" cap="flat" cmpd="sng" algn="ctr">
            <a:solidFill>
              <a:srgbClr val="3368FF">
                <a:alpha val="5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3" name="矩形 22"/>
          <p:cNvSpPr/>
          <p:nvPr/>
        </p:nvSpPr>
        <p:spPr>
          <a:xfrm>
            <a:off x="8024495" y="4636770"/>
            <a:ext cx="2770505" cy="1550035"/>
          </a:xfrm>
          <a:prstGeom prst="rect">
            <a:avLst/>
          </a:prstGeom>
          <a:solidFill>
            <a:srgbClr val="E6E6E6">
              <a:alpha val="30000"/>
            </a:srgbClr>
          </a:solidFill>
          <a:ln w="12700" cap="flat" cmpd="sng" algn="ctr">
            <a:solidFill>
              <a:srgbClr val="3368FF">
                <a:alpha val="5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5" name="矩形 24"/>
          <p:cNvSpPr/>
          <p:nvPr/>
        </p:nvSpPr>
        <p:spPr>
          <a:xfrm>
            <a:off x="1396365" y="3777615"/>
            <a:ext cx="844550" cy="732790"/>
          </a:xfrm>
          <a:prstGeom prst="rect">
            <a:avLst/>
          </a:prstGeom>
          <a:noFill/>
          <a:ln w="12065">
            <a:solidFill>
              <a:srgbClr val="0042FF"/>
            </a:solidFill>
            <a:prstDash val="dash"/>
          </a:ln>
          <a:effectLst/>
          <a:extLst>
            <a:ext uri="{909E8E84-426E-40DD-AFC4-6F175D3DCCD1}">
              <a14:hiddenFill xmlns:a14="http://schemas.microsoft.com/office/drawing/2010/main">
                <a:solidFill>
                  <a:srgbClr val="FFFFFF">
                    <a:alpha val="20000"/>
                  </a:srgbClr>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6868" tIns="43434" rIns="86868" bIns="43434"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500" b="1">
                <a:solidFill>
                  <a:srgbClr val="0042FF"/>
                </a:solidFill>
                <a:latin typeface="微软雅黑"/>
                <a:ea typeface="微软雅黑"/>
                <a:cs typeface="微软雅黑"/>
                <a:sym typeface="微软雅黑"/>
              </a:rPr>
              <a:t>目标</a:t>
            </a:r>
            <a:endParaRPr lang="zh-CN" altLang="en-US" sz="15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500" b="1">
                <a:solidFill>
                  <a:srgbClr val="0042FF"/>
                </a:solidFill>
                <a:latin typeface="微软雅黑"/>
                <a:ea typeface="微软雅黑"/>
                <a:cs typeface="微软雅黑"/>
                <a:sym typeface="微软雅黑"/>
              </a:rPr>
              <a:t>人群</a:t>
            </a:r>
            <a:endParaRPr lang="zh-CN" altLang="en-US" sz="1500" b="1">
              <a:solidFill>
                <a:srgbClr val="0042FF"/>
              </a:solidFill>
              <a:latin typeface="微软雅黑"/>
              <a:ea typeface="微软雅黑"/>
              <a:cs typeface="微软雅黑"/>
              <a:sym typeface="微软雅黑"/>
            </a:endParaRPr>
          </a:p>
        </p:txBody>
      </p:sp>
      <p:sp>
        <p:nvSpPr>
          <p:cNvPr id="26" name="矩形 25"/>
          <p:cNvSpPr/>
          <p:nvPr/>
        </p:nvSpPr>
        <p:spPr>
          <a:xfrm>
            <a:off x="1396365" y="4636770"/>
            <a:ext cx="844550" cy="1550035"/>
          </a:xfrm>
          <a:prstGeom prst="rect">
            <a:avLst/>
          </a:prstGeom>
          <a:noFill/>
          <a:ln w="12065">
            <a:solidFill>
              <a:srgbClr val="0042FF"/>
            </a:solidFill>
            <a:prstDash val="dash"/>
          </a:ln>
          <a:effectLst/>
          <a:extLst>
            <a:ext uri="{909E8E84-426E-40DD-AFC4-6F175D3DCCD1}">
              <a14:hiddenFill xmlns:a14="http://schemas.microsoft.com/office/drawing/2010/main">
                <a:solidFill>
                  <a:srgbClr val="FFFFFF">
                    <a:alpha val="20000"/>
                  </a:srgbClr>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6868" tIns="43434" rIns="86868" bIns="43434"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500" b="1">
                <a:solidFill>
                  <a:srgbClr val="0042FF"/>
                </a:solidFill>
                <a:latin typeface="微软雅黑"/>
                <a:ea typeface="微软雅黑"/>
                <a:cs typeface="微软雅黑"/>
                <a:sym typeface="微软雅黑"/>
              </a:rPr>
              <a:t>执行</a:t>
            </a:r>
            <a:endParaRPr lang="zh-CN" altLang="en-US" sz="15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500" b="1">
                <a:solidFill>
                  <a:srgbClr val="0042FF"/>
                </a:solidFill>
                <a:latin typeface="微软雅黑"/>
                <a:ea typeface="微软雅黑"/>
                <a:cs typeface="微软雅黑"/>
                <a:sym typeface="微软雅黑"/>
              </a:rPr>
              <a:t>策略</a:t>
            </a:r>
            <a:endParaRPr lang="zh-CN" altLang="en-US" sz="1500" b="1">
              <a:solidFill>
                <a:srgbClr val="0042FF"/>
              </a:solidFill>
              <a:latin typeface="微软雅黑"/>
              <a:ea typeface="微软雅黑"/>
              <a:cs typeface="微软雅黑"/>
              <a:sym typeface="微软雅黑"/>
            </a:endParaRPr>
          </a:p>
        </p:txBody>
      </p:sp>
      <p:sp>
        <p:nvSpPr>
          <p:cNvPr id="453" name="文本框 452"/>
          <p:cNvSpPr txBox="1"/>
          <p:nvPr/>
        </p:nvSpPr>
        <p:spPr>
          <a:xfrm>
            <a:off x="1504315" y="2541270"/>
            <a:ext cx="9162415" cy="290830"/>
          </a:xfrm>
          <a:prstGeom prst="rect">
            <a:avLst/>
          </a:prstGeom>
          <a:noFill/>
          <a:effectLst/>
        </p:spPr>
        <p:txBody>
          <a:bodyPr wrap="square" lIns="86868" tIns="43434" rIns="86868" bIns="43434">
            <a:spAutoFit/>
          </a:bodyPr>
          <a:lstStyle/>
          <a:p>
            <a:pPr algn="ctr">
              <a:defRPr>
                <a:latin typeface="微软雅黑"/>
                <a:ea typeface="微软雅黑"/>
                <a:cs typeface="微软雅黑"/>
              </a:defRPr>
            </a:pPr>
            <a:r>
              <a:rPr lang="zh-CN" altLang="en-US" sz="1330" b="0" dirty="0">
                <a:solidFill>
                  <a:srgbClr val="383838">
                    <a:alpha val="80000"/>
                  </a:srgbClr>
                </a:solidFill>
                <a:effectLst/>
                <a:latin typeface="微软雅黑"/>
                <a:ea typeface="微软雅黑"/>
                <a:cs typeface="微软雅黑"/>
              </a:rPr>
              <a:t>致力于为注重实用性与科技感的家庭用户，提供德系精工制造的全场景出行解决方案。</a:t>
            </a:r>
            <a:endParaRPr lang="zh-CN" altLang="en-US" sz="1330" b="0" dirty="0">
              <a:solidFill>
                <a:srgbClr val="383838">
                  <a:alpha val="80000"/>
                </a:srgbClr>
              </a:solidFill>
              <a:effectLst/>
              <a:latin typeface="微软雅黑"/>
              <a:ea typeface="微软雅黑"/>
              <a:cs typeface="微软雅黑"/>
            </a:endParaRPr>
          </a:p>
        </p:txBody>
      </p:sp>
      <p:sp>
        <p:nvSpPr>
          <p:cNvPr id="463" name="任意多边形: 形状 462"/>
          <p:cNvSpPr/>
          <p:nvPr>
            <p:custDataLst>
              <p:tags r:id="rId9"/>
            </p:custDataLst>
          </p:nvPr>
        </p:nvSpPr>
        <p:spPr>
          <a:xfrm>
            <a:off x="4624705" y="2124075"/>
            <a:ext cx="751840" cy="374650"/>
          </a:xfrm>
          <a:custGeom>
            <a:avLst/>
            <a:gdLst>
              <a:gd name="connsiteX0" fmla="*/ 0 w 791307"/>
              <a:gd name="connsiteY0" fmla="*/ 0 h 394564"/>
              <a:gd name="connsiteX1" fmla="*/ 131885 w 791307"/>
              <a:gd name="connsiteY1" fmla="*/ 0 h 394564"/>
              <a:gd name="connsiteX2" fmla="*/ 329711 w 791307"/>
              <a:gd name="connsiteY2" fmla="*/ 0 h 394564"/>
              <a:gd name="connsiteX3" fmla="*/ 791307 w 791307"/>
              <a:gd name="connsiteY3" fmla="*/ 0 h 394564"/>
              <a:gd name="connsiteX4" fmla="*/ 791307 w 791307"/>
              <a:gd name="connsiteY4" fmla="*/ 44672 h 394564"/>
              <a:gd name="connsiteX5" fmla="*/ 791307 w 791307"/>
              <a:gd name="connsiteY5" fmla="*/ 111680 h 394564"/>
              <a:gd name="connsiteX6" fmla="*/ 791307 w 791307"/>
              <a:gd name="connsiteY6" fmla="*/ 268033 h 394564"/>
              <a:gd name="connsiteX7" fmla="*/ 470452 w 791307"/>
              <a:gd name="connsiteY7" fmla="*/ 268033 h 394564"/>
              <a:gd name="connsiteX8" fmla="*/ 397064 w 791307"/>
              <a:gd name="connsiteY8" fmla="*/ 394564 h 394564"/>
              <a:gd name="connsiteX9" fmla="*/ 323676 w 791307"/>
              <a:gd name="connsiteY9" fmla="*/ 268033 h 394564"/>
              <a:gd name="connsiteX10" fmla="*/ 131885 w 791307"/>
              <a:gd name="connsiteY10" fmla="*/ 268033 h 394564"/>
              <a:gd name="connsiteX11" fmla="*/ 0 w 791307"/>
              <a:gd name="connsiteY11" fmla="*/ 268033 h 394564"/>
              <a:gd name="connsiteX12" fmla="*/ 0 w 791307"/>
              <a:gd name="connsiteY12" fmla="*/ 124322 h 394564"/>
              <a:gd name="connsiteX13" fmla="*/ 0 w 791307"/>
              <a:gd name="connsiteY13" fmla="*/ 111680 h 394564"/>
              <a:gd name="connsiteX14" fmla="*/ 0 w 791307"/>
              <a:gd name="connsiteY14" fmla="*/ 44672 h 39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1307" h="394564">
                <a:moveTo>
                  <a:pt x="0" y="0"/>
                </a:moveTo>
                <a:lnTo>
                  <a:pt x="131885" y="0"/>
                </a:lnTo>
                <a:lnTo>
                  <a:pt x="329711" y="0"/>
                </a:lnTo>
                <a:lnTo>
                  <a:pt x="791307" y="0"/>
                </a:lnTo>
                <a:lnTo>
                  <a:pt x="791307" y="44672"/>
                </a:lnTo>
                <a:lnTo>
                  <a:pt x="791307" y="111680"/>
                </a:lnTo>
                <a:lnTo>
                  <a:pt x="791307" y="268033"/>
                </a:lnTo>
                <a:lnTo>
                  <a:pt x="470452" y="268033"/>
                </a:lnTo>
                <a:lnTo>
                  <a:pt x="397064" y="394564"/>
                </a:lnTo>
                <a:lnTo>
                  <a:pt x="323676" y="268033"/>
                </a:lnTo>
                <a:lnTo>
                  <a:pt x="131885" y="268033"/>
                </a:lnTo>
                <a:lnTo>
                  <a:pt x="0" y="268033"/>
                </a:lnTo>
                <a:lnTo>
                  <a:pt x="0" y="124322"/>
                </a:lnTo>
                <a:lnTo>
                  <a:pt x="0" y="111680"/>
                </a:lnTo>
                <a:lnTo>
                  <a:pt x="0" y="44672"/>
                </a:lnTo>
                <a:close/>
              </a:path>
            </a:pathLst>
          </a:custGeom>
          <a:solidFill>
            <a:srgbClr val="B3D4FE"/>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wrap="square" lIns="93817" tIns="46909" rIns="93817" bIns="46909" rtlCol="0" anchor="ctr">
            <a:noAutofit/>
          </a:bodyPr>
          <a:lstStyle/>
          <a:p>
            <a:pPr algn="ctr">
              <a:defRPr>
                <a:latin typeface="微软雅黑"/>
                <a:ea typeface="微软雅黑"/>
                <a:cs typeface="微软雅黑"/>
              </a:defRPr>
            </a:pPr>
            <a:endParaRPr lang="zh-CN" altLang="en-US" sz="1845" dirty="0">
              <a:solidFill>
                <a:srgbClr val="383838"/>
              </a:solidFill>
              <a:effectLst>
                <a:outerShdw blurRad="130302" dist="39091" dir="2699985" algn="tl">
                  <a:srgbClr val="383838">
                    <a:alpha val="40000"/>
                  </a:srgbClr>
                </a:outerShdw>
              </a:effectLst>
              <a:latin typeface="微软雅黑"/>
              <a:ea typeface="微软雅黑"/>
              <a:cs typeface="微软雅黑"/>
            </a:endParaRPr>
          </a:p>
        </p:txBody>
      </p:sp>
      <p:sp>
        <p:nvSpPr>
          <p:cNvPr id="464" name="任意多边形: 形状 463"/>
          <p:cNvSpPr/>
          <p:nvPr>
            <p:custDataLst>
              <p:tags r:id="rId10"/>
            </p:custDataLst>
          </p:nvPr>
        </p:nvSpPr>
        <p:spPr>
          <a:xfrm>
            <a:off x="5701665" y="2124075"/>
            <a:ext cx="751840" cy="374650"/>
          </a:xfrm>
          <a:custGeom>
            <a:avLst/>
            <a:gdLst>
              <a:gd name="connsiteX0" fmla="*/ 0 w 791307"/>
              <a:gd name="connsiteY0" fmla="*/ 0 h 394564"/>
              <a:gd name="connsiteX1" fmla="*/ 131885 w 791307"/>
              <a:gd name="connsiteY1" fmla="*/ 0 h 394564"/>
              <a:gd name="connsiteX2" fmla="*/ 329711 w 791307"/>
              <a:gd name="connsiteY2" fmla="*/ 0 h 394564"/>
              <a:gd name="connsiteX3" fmla="*/ 791307 w 791307"/>
              <a:gd name="connsiteY3" fmla="*/ 0 h 394564"/>
              <a:gd name="connsiteX4" fmla="*/ 791307 w 791307"/>
              <a:gd name="connsiteY4" fmla="*/ 44672 h 394564"/>
              <a:gd name="connsiteX5" fmla="*/ 791307 w 791307"/>
              <a:gd name="connsiteY5" fmla="*/ 111680 h 394564"/>
              <a:gd name="connsiteX6" fmla="*/ 791307 w 791307"/>
              <a:gd name="connsiteY6" fmla="*/ 268033 h 394564"/>
              <a:gd name="connsiteX7" fmla="*/ 470452 w 791307"/>
              <a:gd name="connsiteY7" fmla="*/ 268033 h 394564"/>
              <a:gd name="connsiteX8" fmla="*/ 397064 w 791307"/>
              <a:gd name="connsiteY8" fmla="*/ 394564 h 394564"/>
              <a:gd name="connsiteX9" fmla="*/ 323676 w 791307"/>
              <a:gd name="connsiteY9" fmla="*/ 268033 h 394564"/>
              <a:gd name="connsiteX10" fmla="*/ 131885 w 791307"/>
              <a:gd name="connsiteY10" fmla="*/ 268033 h 394564"/>
              <a:gd name="connsiteX11" fmla="*/ 0 w 791307"/>
              <a:gd name="connsiteY11" fmla="*/ 268033 h 394564"/>
              <a:gd name="connsiteX12" fmla="*/ 0 w 791307"/>
              <a:gd name="connsiteY12" fmla="*/ 124322 h 394564"/>
              <a:gd name="connsiteX13" fmla="*/ 0 w 791307"/>
              <a:gd name="connsiteY13" fmla="*/ 111680 h 394564"/>
              <a:gd name="connsiteX14" fmla="*/ 0 w 791307"/>
              <a:gd name="connsiteY14" fmla="*/ 44672 h 39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1307" h="394564">
                <a:moveTo>
                  <a:pt x="0" y="0"/>
                </a:moveTo>
                <a:lnTo>
                  <a:pt x="131885" y="0"/>
                </a:lnTo>
                <a:lnTo>
                  <a:pt x="329711" y="0"/>
                </a:lnTo>
                <a:lnTo>
                  <a:pt x="791307" y="0"/>
                </a:lnTo>
                <a:lnTo>
                  <a:pt x="791307" y="44672"/>
                </a:lnTo>
                <a:lnTo>
                  <a:pt x="791307" y="111680"/>
                </a:lnTo>
                <a:lnTo>
                  <a:pt x="791307" y="268033"/>
                </a:lnTo>
                <a:lnTo>
                  <a:pt x="470452" y="268033"/>
                </a:lnTo>
                <a:lnTo>
                  <a:pt x="397064" y="394564"/>
                </a:lnTo>
                <a:lnTo>
                  <a:pt x="323676" y="268033"/>
                </a:lnTo>
                <a:lnTo>
                  <a:pt x="131885" y="268033"/>
                </a:lnTo>
                <a:lnTo>
                  <a:pt x="0" y="268033"/>
                </a:lnTo>
                <a:lnTo>
                  <a:pt x="0" y="124322"/>
                </a:lnTo>
                <a:lnTo>
                  <a:pt x="0" y="111680"/>
                </a:lnTo>
                <a:lnTo>
                  <a:pt x="0" y="44672"/>
                </a:lnTo>
                <a:close/>
              </a:path>
            </a:pathLst>
          </a:custGeom>
          <a:solidFill>
            <a:srgbClr val="B3D4FE"/>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845" dirty="0">
              <a:solidFill>
                <a:srgbClr val="383838"/>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467" name="任意多边形: 形状 466"/>
          <p:cNvSpPr/>
          <p:nvPr>
            <p:custDataLst>
              <p:tags r:id="rId11"/>
            </p:custDataLst>
          </p:nvPr>
        </p:nvSpPr>
        <p:spPr>
          <a:xfrm>
            <a:off x="6795770" y="2124075"/>
            <a:ext cx="751840" cy="374650"/>
          </a:xfrm>
          <a:custGeom>
            <a:avLst/>
            <a:gdLst>
              <a:gd name="connsiteX0" fmla="*/ 0 w 791307"/>
              <a:gd name="connsiteY0" fmla="*/ 0 h 394564"/>
              <a:gd name="connsiteX1" fmla="*/ 131885 w 791307"/>
              <a:gd name="connsiteY1" fmla="*/ 0 h 394564"/>
              <a:gd name="connsiteX2" fmla="*/ 329711 w 791307"/>
              <a:gd name="connsiteY2" fmla="*/ 0 h 394564"/>
              <a:gd name="connsiteX3" fmla="*/ 791307 w 791307"/>
              <a:gd name="connsiteY3" fmla="*/ 0 h 394564"/>
              <a:gd name="connsiteX4" fmla="*/ 791307 w 791307"/>
              <a:gd name="connsiteY4" fmla="*/ 44672 h 394564"/>
              <a:gd name="connsiteX5" fmla="*/ 791307 w 791307"/>
              <a:gd name="connsiteY5" fmla="*/ 111680 h 394564"/>
              <a:gd name="connsiteX6" fmla="*/ 791307 w 791307"/>
              <a:gd name="connsiteY6" fmla="*/ 268033 h 394564"/>
              <a:gd name="connsiteX7" fmla="*/ 470452 w 791307"/>
              <a:gd name="connsiteY7" fmla="*/ 268033 h 394564"/>
              <a:gd name="connsiteX8" fmla="*/ 397064 w 791307"/>
              <a:gd name="connsiteY8" fmla="*/ 394564 h 394564"/>
              <a:gd name="connsiteX9" fmla="*/ 323676 w 791307"/>
              <a:gd name="connsiteY9" fmla="*/ 268033 h 394564"/>
              <a:gd name="connsiteX10" fmla="*/ 131885 w 791307"/>
              <a:gd name="connsiteY10" fmla="*/ 268033 h 394564"/>
              <a:gd name="connsiteX11" fmla="*/ 0 w 791307"/>
              <a:gd name="connsiteY11" fmla="*/ 268033 h 394564"/>
              <a:gd name="connsiteX12" fmla="*/ 0 w 791307"/>
              <a:gd name="connsiteY12" fmla="*/ 124322 h 394564"/>
              <a:gd name="connsiteX13" fmla="*/ 0 w 791307"/>
              <a:gd name="connsiteY13" fmla="*/ 111680 h 394564"/>
              <a:gd name="connsiteX14" fmla="*/ 0 w 791307"/>
              <a:gd name="connsiteY14" fmla="*/ 44672 h 39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1307" h="394564">
                <a:moveTo>
                  <a:pt x="0" y="0"/>
                </a:moveTo>
                <a:lnTo>
                  <a:pt x="131885" y="0"/>
                </a:lnTo>
                <a:lnTo>
                  <a:pt x="329711" y="0"/>
                </a:lnTo>
                <a:lnTo>
                  <a:pt x="791307" y="0"/>
                </a:lnTo>
                <a:lnTo>
                  <a:pt x="791307" y="44672"/>
                </a:lnTo>
                <a:lnTo>
                  <a:pt x="791307" y="111680"/>
                </a:lnTo>
                <a:lnTo>
                  <a:pt x="791307" y="268033"/>
                </a:lnTo>
                <a:lnTo>
                  <a:pt x="470452" y="268033"/>
                </a:lnTo>
                <a:lnTo>
                  <a:pt x="397064" y="394564"/>
                </a:lnTo>
                <a:lnTo>
                  <a:pt x="323676" y="268033"/>
                </a:lnTo>
                <a:lnTo>
                  <a:pt x="131885" y="268033"/>
                </a:lnTo>
                <a:lnTo>
                  <a:pt x="0" y="268033"/>
                </a:lnTo>
                <a:lnTo>
                  <a:pt x="0" y="124322"/>
                </a:lnTo>
                <a:lnTo>
                  <a:pt x="0" y="111680"/>
                </a:lnTo>
                <a:lnTo>
                  <a:pt x="0" y="44672"/>
                </a:lnTo>
                <a:close/>
              </a:path>
            </a:pathLst>
          </a:custGeom>
          <a:solidFill>
            <a:srgbClr val="B3D4FE"/>
          </a:solidFill>
          <a:ln w="38100">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845" dirty="0">
              <a:solidFill>
                <a:srgbClr val="383838"/>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468" name="文本框 467"/>
          <p:cNvSpPr txBox="1"/>
          <p:nvPr/>
        </p:nvSpPr>
        <p:spPr>
          <a:xfrm>
            <a:off x="4769485" y="2111375"/>
            <a:ext cx="462280" cy="260985"/>
          </a:xfrm>
          <a:prstGeom prst="rect">
            <a:avLst/>
          </a:prstGeom>
          <a:noFill/>
          <a:effectLst/>
        </p:spPr>
        <p:txBody>
          <a:bodyPr wrap="none" lIns="86868" tIns="43434" rIns="86868" bIns="43434">
            <a:spAutoFit/>
          </a:bodyPr>
          <a:lstStyle/>
          <a:p>
            <a:pPr algn="ctr">
              <a:defRPr>
                <a:latin typeface="微软雅黑"/>
                <a:ea typeface="微软雅黑"/>
                <a:cs typeface="微软雅黑"/>
              </a:defRPr>
            </a:pPr>
            <a:r>
              <a:rPr kumimoji="0" lang="zh-CN" altLang="en-US" sz="1140" b="0" u="none" strike="noStrike" kern="1200" cap="none" spc="0" normalizeH="0" baseline="0" noProof="0">
                <a:ln>
                  <a:noFill/>
                </a:ln>
                <a:solidFill>
                  <a:srgbClr val="383838"/>
                </a:solidFill>
                <a:effectLst/>
                <a:uLnTx/>
                <a:uFillTx/>
                <a:latin typeface="微软雅黑"/>
                <a:ea typeface="微软雅黑"/>
                <a:cs typeface="微软雅黑"/>
              </a:rPr>
              <a:t>安全</a:t>
            </a:r>
            <a:endParaRPr kumimoji="0" lang="zh-CN" altLang="en-US" sz="114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69" name="文本框 468"/>
          <p:cNvSpPr txBox="1"/>
          <p:nvPr/>
        </p:nvSpPr>
        <p:spPr>
          <a:xfrm>
            <a:off x="5845810" y="2113280"/>
            <a:ext cx="462280" cy="260985"/>
          </a:xfrm>
          <a:prstGeom prst="rect">
            <a:avLst/>
          </a:prstGeom>
          <a:noFill/>
          <a:effectLst/>
        </p:spPr>
        <p:txBody>
          <a:bodyPr wrap="none" lIns="86868" tIns="43434" rIns="86868" bIns="43434">
            <a:spAutoFit/>
          </a:bodyPr>
          <a:lstStyle/>
          <a:p>
            <a:pPr algn="ctr">
              <a:defRPr>
                <a:latin typeface="微软雅黑"/>
                <a:ea typeface="微软雅黑"/>
                <a:cs typeface="微软雅黑"/>
              </a:defRPr>
            </a:pPr>
            <a:r>
              <a:rPr kumimoji="0" lang="zh-CN" altLang="en-US" sz="1140" b="0" u="none" strike="noStrike" kern="1200" cap="none" spc="0" normalizeH="0" baseline="0" noProof="0" dirty="0">
                <a:ln>
                  <a:noFill/>
                </a:ln>
                <a:solidFill>
                  <a:srgbClr val="383838"/>
                </a:solidFill>
                <a:effectLst/>
                <a:uLnTx/>
                <a:uFillTx/>
                <a:latin typeface="微软雅黑"/>
                <a:ea typeface="微软雅黑"/>
                <a:cs typeface="微软雅黑"/>
              </a:rPr>
              <a:t>可靠</a:t>
            </a:r>
            <a:endParaRPr kumimoji="0" lang="zh-CN" altLang="en-US" sz="114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70" name="文本框 469"/>
          <p:cNvSpPr txBox="1"/>
          <p:nvPr/>
        </p:nvSpPr>
        <p:spPr>
          <a:xfrm>
            <a:off x="6951345" y="2117090"/>
            <a:ext cx="462280" cy="260985"/>
          </a:xfrm>
          <a:prstGeom prst="rect">
            <a:avLst/>
          </a:prstGeom>
          <a:noFill/>
          <a:effectLst/>
        </p:spPr>
        <p:txBody>
          <a:bodyPr wrap="none" lIns="86868" tIns="43434" rIns="86868" bIns="43434">
            <a:spAutoFit/>
          </a:bodyPr>
          <a:lstStyle/>
          <a:p>
            <a:pPr algn="ctr">
              <a:defRPr>
                <a:latin typeface="微软雅黑"/>
                <a:ea typeface="微软雅黑"/>
                <a:cs typeface="微软雅黑"/>
              </a:defRPr>
            </a:pPr>
            <a:r>
              <a:rPr kumimoji="0" lang="zh-CN" altLang="en-US" sz="1140" b="0" u="none" strike="noStrike" kern="1200" cap="none" spc="0" normalizeH="0" baseline="0" noProof="0">
                <a:ln>
                  <a:noFill/>
                </a:ln>
                <a:solidFill>
                  <a:srgbClr val="383838"/>
                </a:solidFill>
                <a:effectLst/>
                <a:uLnTx/>
                <a:uFillTx/>
                <a:latin typeface="微软雅黑"/>
                <a:ea typeface="微软雅黑"/>
                <a:cs typeface="微软雅黑"/>
              </a:rPr>
              <a:t>创新</a:t>
            </a:r>
            <a:endParaRPr kumimoji="0" lang="zh-CN" altLang="en-US" sz="114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72" name="文本框 471"/>
          <p:cNvSpPr txBox="1"/>
          <p:nvPr/>
        </p:nvSpPr>
        <p:spPr>
          <a:xfrm>
            <a:off x="2667635" y="3014980"/>
            <a:ext cx="3527425" cy="577215"/>
          </a:xfrm>
          <a:prstGeom prst="rect">
            <a:avLst/>
          </a:prstGeom>
          <a:noFill/>
          <a:effectLst/>
        </p:spPr>
        <p:txBody>
          <a:bodyPr wrap="square" lIns="86868" tIns="43434" rIns="86868" bIns="43434">
            <a:spAutoFit/>
          </a:bodyPr>
          <a:lstStyle/>
          <a:p>
            <a:pPr algn="ctr">
              <a:lnSpc>
                <a:spcPct val="120000"/>
              </a:lnSpc>
              <a:defRPr>
                <a:latin typeface="微软雅黑"/>
                <a:ea typeface="微软雅黑"/>
                <a:cs typeface="微软雅黑"/>
              </a:defRPr>
            </a:pPr>
            <a:r>
              <a:rPr lang="zh-CN" altLang="en-US" sz="1330" dirty="0">
                <a:solidFill>
                  <a:srgbClr val="383838"/>
                </a:solidFill>
                <a:latin typeface="微软雅黑"/>
                <a:ea typeface="微软雅黑"/>
                <a:cs typeface="微软雅黑"/>
              </a:rPr>
              <a:t>以模块化平台技术重塑驾乘基准，</a:t>
            </a:r>
            <a:endParaRPr lang="zh-CN" altLang="en-US" sz="133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330" dirty="0">
                <a:solidFill>
                  <a:srgbClr val="383838"/>
                </a:solidFill>
                <a:latin typeface="微软雅黑"/>
                <a:ea typeface="微软雅黑"/>
                <a:cs typeface="微软雅黑"/>
              </a:rPr>
              <a:t>让每款车型都成为德系精工的移动安全堡垒</a:t>
            </a:r>
            <a:endParaRPr lang="zh-CN" altLang="en-US" sz="1330" dirty="0">
              <a:solidFill>
                <a:srgbClr val="383838"/>
              </a:solidFill>
              <a:latin typeface="微软雅黑"/>
              <a:ea typeface="微软雅黑"/>
              <a:cs typeface="微软雅黑"/>
            </a:endParaRPr>
          </a:p>
        </p:txBody>
      </p:sp>
      <p:sp>
        <p:nvSpPr>
          <p:cNvPr id="473" name="文本框 472"/>
          <p:cNvSpPr txBox="1"/>
          <p:nvPr/>
        </p:nvSpPr>
        <p:spPr>
          <a:xfrm>
            <a:off x="6927850" y="3014980"/>
            <a:ext cx="3635375" cy="577215"/>
          </a:xfrm>
          <a:prstGeom prst="rect">
            <a:avLst/>
          </a:prstGeom>
          <a:noFill/>
          <a:effectLst/>
        </p:spPr>
        <p:txBody>
          <a:bodyPr wrap="square" lIns="86868" tIns="43434" rIns="86868" bIns="43434">
            <a:spAutoFit/>
          </a:bodyPr>
          <a:lstStyle/>
          <a:p>
            <a:pPr algn="ctr">
              <a:lnSpc>
                <a:spcPct val="120000"/>
              </a:lnSpc>
              <a:defRPr>
                <a:latin typeface="微软雅黑"/>
                <a:ea typeface="微软雅黑"/>
                <a:cs typeface="微软雅黑"/>
              </a:defRPr>
            </a:pPr>
            <a:r>
              <a:rPr lang="zh-CN" altLang="en-US" sz="1330" b="0" dirty="0">
                <a:solidFill>
                  <a:srgbClr val="383838"/>
                </a:solidFill>
                <a:effectLst/>
                <a:latin typeface="微软雅黑"/>
                <a:ea typeface="微软雅黑"/>
                <a:cs typeface="微软雅黑"/>
              </a:rPr>
              <a:t>通过智能驾驶系统的持续进化，</a:t>
            </a:r>
            <a:endParaRPr lang="zh-CN" altLang="en-US" sz="1330" b="0" dirty="0">
              <a:solidFill>
                <a:srgbClr val="383838"/>
              </a:solidFill>
              <a:effectLst/>
              <a:latin typeface="微软雅黑"/>
              <a:ea typeface="微软雅黑"/>
              <a:cs typeface="微软雅黑"/>
            </a:endParaRPr>
          </a:p>
          <a:p>
            <a:pPr algn="ctr">
              <a:lnSpc>
                <a:spcPct val="120000"/>
              </a:lnSpc>
              <a:defRPr>
                <a:latin typeface="微软雅黑"/>
                <a:ea typeface="微软雅黑"/>
                <a:cs typeface="微软雅黑"/>
              </a:defRPr>
            </a:pPr>
            <a:r>
              <a:rPr lang="zh-CN" altLang="en-US" sz="1330" b="0" dirty="0">
                <a:solidFill>
                  <a:srgbClr val="383838"/>
                </a:solidFill>
                <a:effectLst/>
                <a:latin typeface="微软雅黑"/>
                <a:ea typeface="微软雅黑"/>
                <a:cs typeface="微软雅黑"/>
              </a:rPr>
              <a:t>构建从城市通勤到长途旅行的全场景生态</a:t>
            </a:r>
            <a:endParaRPr lang="zh-CN" altLang="en-US" sz="1330" b="0" dirty="0">
              <a:solidFill>
                <a:srgbClr val="383838"/>
              </a:solidFill>
              <a:effectLst/>
              <a:latin typeface="微软雅黑"/>
              <a:ea typeface="微软雅黑"/>
              <a:cs typeface="微软雅黑"/>
            </a:endParaRPr>
          </a:p>
        </p:txBody>
      </p:sp>
      <p:sp>
        <p:nvSpPr>
          <p:cNvPr id="475" name="文本框 474"/>
          <p:cNvSpPr txBox="1"/>
          <p:nvPr/>
        </p:nvSpPr>
        <p:spPr>
          <a:xfrm>
            <a:off x="2283460" y="3870325"/>
            <a:ext cx="2814320" cy="577215"/>
          </a:xfrm>
          <a:prstGeom prst="rect">
            <a:avLst/>
          </a:prstGeom>
          <a:noFill/>
          <a:effectLst/>
        </p:spPr>
        <p:txBody>
          <a:bodyPr wrap="square" lIns="86868" tIns="43434" rIns="86868" bIns="43434">
            <a:spAutoFit/>
          </a:bodyPr>
          <a:lstStyle/>
          <a:p>
            <a:pPr algn="ctr">
              <a:lnSpc>
                <a:spcPct val="120000"/>
              </a:lnSpc>
              <a:defRPr>
                <a:solidFill>
                  <a:srgbClr val="FFFFFF"/>
                </a:solidFill>
                <a:latin typeface="微软雅黑"/>
                <a:ea typeface="微软雅黑"/>
                <a:cs typeface="微软雅黑"/>
              </a:defRPr>
            </a:pPr>
            <a:r>
              <a:rPr lang="zh-CN" altLang="en-US" sz="1330" b="1" dirty="0">
                <a:solidFill>
                  <a:srgbClr val="FFFFFF"/>
                </a:solidFill>
                <a:effectLst/>
                <a:latin typeface="微软雅黑"/>
                <a:ea typeface="微软雅黑"/>
                <a:cs typeface="微软雅黑"/>
              </a:rPr>
              <a:t>年轻家庭（首购群体）</a:t>
            </a:r>
            <a:endParaRPr lang="zh-CN" altLang="en-US" sz="1330" b="0" dirty="0">
              <a:solidFill>
                <a:srgbClr val="FFFFFF"/>
              </a:solidFill>
              <a:effectLst/>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330" b="0" dirty="0">
                <a:solidFill>
                  <a:srgbClr val="FFFFFF"/>
                </a:solidFill>
                <a:effectLst/>
                <a:latin typeface="微软雅黑"/>
                <a:ea typeface="微软雅黑"/>
                <a:cs typeface="微软雅黑"/>
              </a:rPr>
              <a:t>注重智能科技与性价比平衡</a:t>
            </a:r>
            <a:endParaRPr lang="zh-CN" altLang="en-US" sz="1330" b="0" dirty="0">
              <a:solidFill>
                <a:srgbClr val="FFFFFF"/>
              </a:solidFill>
              <a:effectLst/>
              <a:latin typeface="微软雅黑"/>
              <a:ea typeface="微软雅黑"/>
              <a:cs typeface="微软雅黑"/>
            </a:endParaRPr>
          </a:p>
        </p:txBody>
      </p:sp>
      <p:sp>
        <p:nvSpPr>
          <p:cNvPr id="476" name="文本框 475"/>
          <p:cNvSpPr txBox="1"/>
          <p:nvPr/>
        </p:nvSpPr>
        <p:spPr>
          <a:xfrm>
            <a:off x="5156200" y="3870325"/>
            <a:ext cx="2814320" cy="577215"/>
          </a:xfrm>
          <a:prstGeom prst="rect">
            <a:avLst/>
          </a:prstGeom>
          <a:noFill/>
          <a:effectLst/>
        </p:spPr>
        <p:txBody>
          <a:bodyPr wrap="square" lIns="86868" tIns="43434" rIns="86868" bIns="43434">
            <a:spAutoFit/>
          </a:bodyPr>
          <a:lstStyle/>
          <a:p>
            <a:pPr algn="ctr">
              <a:lnSpc>
                <a:spcPct val="120000"/>
              </a:lnSpc>
              <a:defRPr>
                <a:solidFill>
                  <a:srgbClr val="FFFFFF"/>
                </a:solidFill>
                <a:latin typeface="微软雅黑"/>
                <a:ea typeface="微软雅黑"/>
                <a:cs typeface="微软雅黑"/>
              </a:defRPr>
            </a:pPr>
            <a:r>
              <a:rPr lang="zh-CN" altLang="en-US" sz="1330" b="1" dirty="0">
                <a:solidFill>
                  <a:srgbClr val="FFFFFF"/>
                </a:solidFill>
                <a:effectLst/>
                <a:latin typeface="微软雅黑"/>
                <a:ea typeface="微软雅黑"/>
                <a:cs typeface="微软雅黑"/>
              </a:rPr>
              <a:t>都市菁英（增换购群体）</a:t>
            </a:r>
            <a:endParaRPr lang="zh-CN" altLang="en-US" sz="1330" b="1" dirty="0">
              <a:solidFill>
                <a:srgbClr val="FFFFFF"/>
              </a:solidFill>
              <a:effectLst/>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330" b="0" dirty="0">
                <a:solidFill>
                  <a:srgbClr val="FFFFFF"/>
                </a:solidFill>
                <a:effectLst/>
                <a:latin typeface="微软雅黑"/>
                <a:ea typeface="微软雅黑"/>
                <a:cs typeface="微软雅黑"/>
              </a:rPr>
              <a:t>追求德系品质与空间实用性</a:t>
            </a:r>
            <a:endParaRPr lang="zh-CN" altLang="en-US" sz="1330" b="0" dirty="0">
              <a:solidFill>
                <a:srgbClr val="FFFFFF"/>
              </a:solidFill>
              <a:effectLst/>
              <a:latin typeface="微软雅黑"/>
              <a:ea typeface="微软雅黑"/>
              <a:cs typeface="微软雅黑"/>
            </a:endParaRPr>
          </a:p>
        </p:txBody>
      </p:sp>
      <p:sp>
        <p:nvSpPr>
          <p:cNvPr id="477" name="文本框 476"/>
          <p:cNvSpPr txBox="1"/>
          <p:nvPr/>
        </p:nvSpPr>
        <p:spPr>
          <a:xfrm>
            <a:off x="8024495" y="3870325"/>
            <a:ext cx="2814320" cy="577215"/>
          </a:xfrm>
          <a:prstGeom prst="rect">
            <a:avLst/>
          </a:prstGeom>
          <a:noFill/>
          <a:effectLst/>
        </p:spPr>
        <p:txBody>
          <a:bodyPr wrap="square" lIns="86868" tIns="43434" rIns="86868" bIns="43434">
            <a:spAutoFit/>
          </a:bodyPr>
          <a:lstStyle/>
          <a:p>
            <a:pPr algn="ctr">
              <a:lnSpc>
                <a:spcPct val="120000"/>
              </a:lnSpc>
              <a:defRPr>
                <a:solidFill>
                  <a:srgbClr val="FFFFFF"/>
                </a:solidFill>
                <a:latin typeface="微软雅黑"/>
                <a:ea typeface="微软雅黑"/>
                <a:cs typeface="微软雅黑"/>
              </a:defRPr>
            </a:pPr>
            <a:r>
              <a:rPr lang="zh-CN" altLang="en-US" sz="1330" b="1" dirty="0">
                <a:solidFill>
                  <a:srgbClr val="FFFFFF"/>
                </a:solidFill>
                <a:effectLst/>
                <a:latin typeface="微软雅黑"/>
                <a:ea typeface="微软雅黑"/>
                <a:cs typeface="微软雅黑"/>
              </a:rPr>
              <a:t>商务人士（高端需求群体）</a:t>
            </a:r>
            <a:endParaRPr lang="zh-CN" altLang="en-US" sz="1330" b="1" dirty="0">
              <a:solidFill>
                <a:srgbClr val="FFFFFF"/>
              </a:solidFill>
              <a:effectLst/>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330" b="0" dirty="0">
                <a:solidFill>
                  <a:srgbClr val="FFFFFF"/>
                </a:solidFill>
                <a:effectLst/>
                <a:latin typeface="微软雅黑"/>
                <a:ea typeface="微软雅黑"/>
                <a:cs typeface="微软雅黑"/>
              </a:rPr>
              <a:t>重视商务形象与舒适驾乘体验</a:t>
            </a:r>
            <a:endParaRPr lang="zh-CN" altLang="en-US" sz="1330" b="0" dirty="0">
              <a:solidFill>
                <a:srgbClr val="FFFFFF"/>
              </a:solidFill>
              <a:effectLst/>
              <a:latin typeface="微软雅黑"/>
              <a:ea typeface="微软雅黑"/>
              <a:cs typeface="微软雅黑"/>
            </a:endParaRPr>
          </a:p>
        </p:txBody>
      </p:sp>
      <p:sp>
        <p:nvSpPr>
          <p:cNvPr id="479" name="文本框 478"/>
          <p:cNvSpPr txBox="1"/>
          <p:nvPr/>
        </p:nvSpPr>
        <p:spPr>
          <a:xfrm>
            <a:off x="2667635" y="4719955"/>
            <a:ext cx="2352040" cy="1400810"/>
          </a:xfrm>
          <a:prstGeom prst="rect">
            <a:avLst/>
          </a:prstGeom>
          <a:noFill/>
          <a:effectLst/>
        </p:spPr>
        <p:txBody>
          <a:bodyPr wrap="square" lIns="86868" tIns="43434" rIns="86868" bIns="43434">
            <a:spAutoFit/>
          </a:bodyPr>
          <a:lstStyle/>
          <a:p>
            <a:pPr algn="l">
              <a:lnSpc>
                <a:spcPct val="150000"/>
              </a:lnSpc>
              <a:defRPr>
                <a:latin typeface="微软雅黑"/>
                <a:ea typeface="微软雅黑"/>
                <a:cs typeface="微软雅黑"/>
              </a:defRPr>
            </a:pPr>
            <a:r>
              <a:rPr lang="zh-CN" altLang="en-US" sz="1140" b="0" dirty="0">
                <a:solidFill>
                  <a:srgbClr val="383838">
                    <a:alpha val="80000"/>
                  </a:srgbClr>
                </a:solidFill>
                <a:effectLst/>
                <a:latin typeface="微软雅黑"/>
                <a:ea typeface="微软雅黑"/>
                <a:cs typeface="微软雅黑"/>
              </a:rPr>
              <a:t>家庭友好型产品矩阵</a:t>
            </a:r>
            <a:endParaRPr lang="zh-CN" altLang="en-US" sz="1140" b="0" dirty="0">
              <a:solidFill>
                <a:srgbClr val="383838">
                  <a:alpha val="80000"/>
                </a:srgbClr>
              </a:solidFill>
              <a:effectLst/>
              <a:latin typeface="微软雅黑"/>
              <a:ea typeface="微软雅黑"/>
              <a:cs typeface="微软雅黑"/>
            </a:endParaRPr>
          </a:p>
          <a:p>
            <a:pPr algn="l">
              <a:lnSpc>
                <a:spcPct val="150000"/>
              </a:lnSpc>
              <a:defRPr>
                <a:latin typeface="微软雅黑"/>
                <a:ea typeface="微软雅黑"/>
                <a:cs typeface="微软雅黑"/>
              </a:defRPr>
            </a:pPr>
            <a:r>
              <a:rPr lang="zh-CN" altLang="en-US" sz="1140" dirty="0">
                <a:solidFill>
                  <a:srgbClr val="383838">
                    <a:alpha val="80000"/>
                  </a:srgbClr>
                </a:solidFill>
                <a:latin typeface="微软雅黑"/>
                <a:ea typeface="微软雅黑"/>
                <a:cs typeface="微软雅黑"/>
              </a:rPr>
              <a:t>全系标配</a:t>
            </a:r>
            <a:r>
              <a:rPr lang="en-US" altLang="zh-CN" sz="1140" dirty="0">
                <a:solidFill>
                  <a:srgbClr val="383838">
                    <a:alpha val="80000"/>
                  </a:srgbClr>
                </a:solidFill>
                <a:latin typeface="微软雅黑"/>
                <a:ea typeface="微软雅黑"/>
                <a:cs typeface="微软雅黑"/>
              </a:rPr>
              <a:t>IQ.DRIVE L2+</a:t>
            </a:r>
            <a:r>
              <a:rPr lang="zh-CN" altLang="en-US" sz="1140" dirty="0">
                <a:solidFill>
                  <a:srgbClr val="383838">
                    <a:alpha val="80000"/>
                  </a:srgbClr>
                </a:solidFill>
                <a:latin typeface="微软雅黑"/>
                <a:ea typeface="微软雅黑"/>
                <a:cs typeface="微软雅黑"/>
              </a:rPr>
              <a:t>系统</a:t>
            </a:r>
            <a:endParaRPr lang="zh-CN" altLang="en-US" sz="1140" dirty="0">
              <a:solidFill>
                <a:srgbClr val="383838">
                  <a:alpha val="80000"/>
                </a:srgbClr>
              </a:solidFill>
              <a:latin typeface="微软雅黑"/>
              <a:ea typeface="微软雅黑"/>
              <a:cs typeface="微软雅黑"/>
            </a:endParaRPr>
          </a:p>
          <a:p>
            <a:pPr algn="l">
              <a:lnSpc>
                <a:spcPct val="150000"/>
              </a:lnSpc>
              <a:defRPr>
                <a:latin typeface="微软雅黑"/>
                <a:ea typeface="微软雅黑"/>
                <a:cs typeface="微软雅黑"/>
              </a:defRPr>
            </a:pPr>
            <a:r>
              <a:rPr lang="zh-CN" altLang="en-US" sz="1140" b="0" dirty="0">
                <a:solidFill>
                  <a:srgbClr val="383838">
                    <a:alpha val="80000"/>
                  </a:srgbClr>
                </a:solidFill>
                <a:effectLst/>
                <a:latin typeface="微软雅黑"/>
                <a:ea typeface="微软雅黑"/>
                <a:cs typeface="微软雅黑"/>
              </a:rPr>
              <a:t>二胎家庭享</a:t>
            </a:r>
            <a:r>
              <a:rPr lang="en-US" altLang="zh-CN" sz="1140" b="0" dirty="0">
                <a:solidFill>
                  <a:srgbClr val="383838">
                    <a:alpha val="80000"/>
                  </a:srgbClr>
                </a:solidFill>
                <a:effectLst/>
                <a:latin typeface="微软雅黑"/>
                <a:ea typeface="微软雅黑"/>
                <a:cs typeface="微软雅黑"/>
              </a:rPr>
              <a:t>0</a:t>
            </a:r>
            <a:r>
              <a:rPr lang="zh-CN" altLang="en-US" sz="1140" b="0" dirty="0">
                <a:solidFill>
                  <a:srgbClr val="383838">
                    <a:alpha val="80000"/>
                  </a:srgbClr>
                </a:solidFill>
                <a:effectLst/>
                <a:latin typeface="微软雅黑"/>
                <a:ea typeface="微软雅黑"/>
                <a:cs typeface="微软雅黑"/>
              </a:rPr>
              <a:t>利率</a:t>
            </a:r>
            <a:r>
              <a:rPr lang="en-US" altLang="zh-CN" sz="1140" b="0" dirty="0">
                <a:solidFill>
                  <a:srgbClr val="383838">
                    <a:alpha val="80000"/>
                  </a:srgbClr>
                </a:solidFill>
                <a:effectLst/>
                <a:latin typeface="微软雅黑"/>
                <a:ea typeface="微软雅黑"/>
                <a:cs typeface="微软雅黑"/>
              </a:rPr>
              <a:t>+</a:t>
            </a:r>
            <a:r>
              <a:rPr lang="zh-CN" altLang="en-US" sz="1140" b="0" dirty="0">
                <a:solidFill>
                  <a:srgbClr val="383838">
                    <a:alpha val="80000"/>
                  </a:srgbClr>
                </a:solidFill>
                <a:effectLst/>
                <a:latin typeface="微软雅黑"/>
                <a:ea typeface="微软雅黑"/>
                <a:cs typeface="微软雅黑"/>
              </a:rPr>
              <a:t>儿童安全座椅</a:t>
            </a:r>
            <a:endParaRPr lang="zh-CN" altLang="en-US" sz="1140" b="0" dirty="0">
              <a:solidFill>
                <a:srgbClr val="383838">
                  <a:alpha val="80000"/>
                </a:srgbClr>
              </a:solidFill>
              <a:effectLst/>
              <a:latin typeface="微软雅黑"/>
              <a:ea typeface="微软雅黑"/>
              <a:cs typeface="微软雅黑"/>
            </a:endParaRPr>
          </a:p>
          <a:p>
            <a:pPr algn="l">
              <a:lnSpc>
                <a:spcPct val="150000"/>
              </a:lnSpc>
              <a:defRPr>
                <a:latin typeface="微软雅黑"/>
                <a:ea typeface="微软雅黑"/>
                <a:cs typeface="微软雅黑"/>
              </a:defRPr>
            </a:pPr>
            <a:r>
              <a:rPr lang="zh-CN" altLang="en-US" sz="1140" b="0" dirty="0">
                <a:solidFill>
                  <a:srgbClr val="383838">
                    <a:alpha val="80000"/>
                  </a:srgbClr>
                </a:solidFill>
                <a:effectLst/>
                <a:latin typeface="微软雅黑"/>
                <a:ea typeface="微软雅黑"/>
                <a:cs typeface="微软雅黑"/>
              </a:rPr>
              <a:t>亲子社群运营，每月举办亲子车尾集市</a:t>
            </a:r>
            <a:r>
              <a:rPr lang="en-US" altLang="zh-CN" sz="1140" b="0" dirty="0">
                <a:solidFill>
                  <a:srgbClr val="383838">
                    <a:alpha val="80000"/>
                  </a:srgbClr>
                </a:solidFill>
                <a:effectLst/>
                <a:latin typeface="微软雅黑"/>
                <a:ea typeface="微软雅黑"/>
                <a:cs typeface="微软雅黑"/>
              </a:rPr>
              <a:t>+</a:t>
            </a:r>
            <a:r>
              <a:rPr lang="zh-CN" altLang="en-US" sz="1140" b="0" dirty="0">
                <a:solidFill>
                  <a:srgbClr val="383838">
                    <a:alpha val="80000"/>
                  </a:srgbClr>
                </a:solidFill>
                <a:effectLst/>
                <a:latin typeface="微软雅黑"/>
                <a:ea typeface="微软雅黑"/>
                <a:cs typeface="微软雅黑"/>
              </a:rPr>
              <a:t>安全课堂。</a:t>
            </a:r>
            <a:endParaRPr lang="zh-CN" altLang="en-US" sz="1140" b="0" dirty="0">
              <a:solidFill>
                <a:srgbClr val="383838">
                  <a:alpha val="80000"/>
                </a:srgbClr>
              </a:solidFill>
              <a:effectLst/>
              <a:latin typeface="微软雅黑"/>
              <a:ea typeface="微软雅黑"/>
              <a:cs typeface="微软雅黑"/>
            </a:endParaRPr>
          </a:p>
        </p:txBody>
      </p:sp>
      <p:sp>
        <p:nvSpPr>
          <p:cNvPr id="46" name="等腰三角形 45"/>
          <p:cNvSpPr/>
          <p:nvPr>
            <p:custDataLst>
              <p:tags r:id="rId12"/>
            </p:custDataLst>
          </p:nvPr>
        </p:nvSpPr>
        <p:spPr>
          <a:xfrm rot="5400000">
            <a:off x="2533015" y="4843780"/>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lIns="93817" tIns="46909" rIns="93817" bIns="46909" rtlCol="0" anchor="ctr"/>
          <a:lstStyle/>
          <a:p>
            <a:pPr algn="ctr">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endParaRPr>
          </a:p>
        </p:txBody>
      </p:sp>
      <p:sp>
        <p:nvSpPr>
          <p:cNvPr id="47" name="等腰三角形 46"/>
          <p:cNvSpPr/>
          <p:nvPr>
            <p:custDataLst>
              <p:tags r:id="rId13"/>
            </p:custDataLst>
          </p:nvPr>
        </p:nvSpPr>
        <p:spPr>
          <a:xfrm rot="5400000">
            <a:off x="2533015" y="5363210"/>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33" name="等腰三角形 32"/>
          <p:cNvSpPr/>
          <p:nvPr>
            <p:custDataLst>
              <p:tags r:id="rId14"/>
            </p:custDataLst>
          </p:nvPr>
        </p:nvSpPr>
        <p:spPr>
          <a:xfrm rot="5400000">
            <a:off x="2533015" y="5128895"/>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34" name="等腰三角形 33"/>
          <p:cNvSpPr/>
          <p:nvPr>
            <p:custDataLst>
              <p:tags r:id="rId15"/>
            </p:custDataLst>
          </p:nvPr>
        </p:nvSpPr>
        <p:spPr>
          <a:xfrm rot="5400000">
            <a:off x="2533015" y="5645785"/>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50" name="文本框 49"/>
          <p:cNvSpPr txBox="1"/>
          <p:nvPr/>
        </p:nvSpPr>
        <p:spPr>
          <a:xfrm>
            <a:off x="5494655" y="4719955"/>
            <a:ext cx="2352040" cy="1400810"/>
          </a:xfrm>
          <a:prstGeom prst="rect">
            <a:avLst/>
          </a:prstGeom>
          <a:noFill/>
          <a:effectLst/>
        </p:spPr>
        <p:txBody>
          <a:bodyPr wrap="square" lIns="86868" tIns="43434" rIns="86868" bIns="43434">
            <a:spAutoFit/>
          </a:bodyPr>
          <a:lstStyle/>
          <a:p>
            <a:pPr algn="l">
              <a:lnSpc>
                <a:spcPct val="150000"/>
              </a:lnSpc>
              <a:defRPr>
                <a:latin typeface="微软雅黑"/>
                <a:ea typeface="微软雅黑"/>
                <a:cs typeface="微软雅黑"/>
              </a:defRPr>
            </a:pPr>
            <a:r>
              <a:rPr lang="zh-CN" altLang="en-US" sz="1140" b="0" dirty="0">
                <a:solidFill>
                  <a:srgbClr val="383838">
                    <a:alpha val="80000"/>
                  </a:srgbClr>
                </a:solidFill>
                <a:effectLst/>
                <a:latin typeface="微软雅黑"/>
                <a:ea typeface="微软雅黑"/>
                <a:cs typeface="微软雅黑"/>
              </a:rPr>
              <a:t>科技体验升级，部署「</a:t>
            </a:r>
            <a:r>
              <a:rPr lang="en-US" altLang="zh-CN" sz="1140" b="0" dirty="0">
                <a:solidFill>
                  <a:srgbClr val="383838">
                    <a:alpha val="80000"/>
                  </a:srgbClr>
                </a:solidFill>
                <a:effectLst/>
                <a:latin typeface="微软雅黑"/>
                <a:ea typeface="微软雅黑"/>
                <a:cs typeface="微软雅黑"/>
              </a:rPr>
              <a:t>IQ.</a:t>
            </a:r>
            <a:r>
              <a:rPr lang="zh-CN" altLang="en-US" sz="1140" b="0" dirty="0">
                <a:solidFill>
                  <a:srgbClr val="383838">
                    <a:alpha val="80000"/>
                  </a:srgbClr>
                </a:solidFill>
                <a:effectLst/>
                <a:latin typeface="微软雅黑"/>
                <a:ea typeface="微软雅黑"/>
                <a:cs typeface="微软雅黑"/>
              </a:rPr>
              <a:t>智慧舱」订阅服务，数字钥匙共享功能</a:t>
            </a:r>
            <a:endParaRPr lang="zh-CN" altLang="en-US" sz="1140" b="0" dirty="0">
              <a:solidFill>
                <a:srgbClr val="383838">
                  <a:alpha val="80000"/>
                </a:srgbClr>
              </a:solidFill>
              <a:effectLst/>
              <a:latin typeface="微软雅黑"/>
              <a:ea typeface="微软雅黑"/>
              <a:cs typeface="微软雅黑"/>
            </a:endParaRPr>
          </a:p>
          <a:p>
            <a:pPr algn="l">
              <a:lnSpc>
                <a:spcPct val="150000"/>
              </a:lnSpc>
              <a:defRPr>
                <a:latin typeface="微软雅黑"/>
                <a:ea typeface="微软雅黑"/>
                <a:cs typeface="微软雅黑"/>
              </a:defRPr>
            </a:pPr>
            <a:r>
              <a:rPr lang="zh-CN" altLang="en-US" sz="1140" b="0" dirty="0">
                <a:solidFill>
                  <a:srgbClr val="383838">
                    <a:alpha val="80000"/>
                  </a:srgbClr>
                </a:solidFill>
                <a:effectLst/>
                <a:latin typeface="微软雅黑"/>
                <a:ea typeface="微软雅黑"/>
                <a:cs typeface="微软雅黑"/>
              </a:rPr>
              <a:t>构建数字化服务生态，推出「</a:t>
            </a:r>
            <a:r>
              <a:rPr lang="en-US" altLang="zh-CN" sz="1140" b="0" dirty="0">
                <a:solidFill>
                  <a:srgbClr val="383838">
                    <a:alpha val="80000"/>
                  </a:srgbClr>
                </a:solidFill>
                <a:effectLst/>
                <a:latin typeface="微软雅黑"/>
                <a:ea typeface="微软雅黑"/>
                <a:cs typeface="微软雅黑"/>
              </a:rPr>
              <a:t>3</a:t>
            </a:r>
            <a:r>
              <a:rPr lang="zh-CN" altLang="en-US" sz="1140" b="0" dirty="0">
                <a:solidFill>
                  <a:srgbClr val="383838">
                    <a:alpha val="80000"/>
                  </a:srgbClr>
                </a:solidFill>
                <a:effectLst/>
                <a:latin typeface="微软雅黑"/>
                <a:ea typeface="微软雅黑"/>
                <a:cs typeface="微软雅黑"/>
              </a:rPr>
              <a:t>分钟闪充」快闪店（核心商圈</a:t>
            </a:r>
            <a:r>
              <a:rPr lang="en-US" altLang="zh-CN" sz="1140" b="0" dirty="0">
                <a:solidFill>
                  <a:srgbClr val="383838">
                    <a:alpha val="80000"/>
                  </a:srgbClr>
                </a:solidFill>
                <a:effectLst/>
                <a:latin typeface="微软雅黑"/>
                <a:ea typeface="微软雅黑"/>
                <a:cs typeface="微软雅黑"/>
              </a:rPr>
              <a:t>10kW</a:t>
            </a:r>
            <a:r>
              <a:rPr lang="zh-CN" altLang="en-US" sz="1140" b="0" dirty="0">
                <a:solidFill>
                  <a:srgbClr val="383838">
                    <a:alpha val="80000"/>
                  </a:srgbClr>
                </a:solidFill>
                <a:effectLst/>
                <a:latin typeface="微软雅黑"/>
                <a:ea typeface="微软雅黑"/>
                <a:cs typeface="微软雅黑"/>
              </a:rPr>
              <a:t>超充体验站）。</a:t>
            </a:r>
            <a:endParaRPr lang="zh-CN" altLang="en-US" sz="1140" b="0" dirty="0">
              <a:solidFill>
                <a:srgbClr val="383838">
                  <a:alpha val="80000"/>
                </a:srgbClr>
              </a:solidFill>
              <a:effectLst/>
              <a:latin typeface="微软雅黑"/>
              <a:ea typeface="微软雅黑"/>
              <a:cs typeface="微软雅黑"/>
            </a:endParaRPr>
          </a:p>
        </p:txBody>
      </p:sp>
      <p:sp>
        <p:nvSpPr>
          <p:cNvPr id="51" name="等腰三角形 50"/>
          <p:cNvSpPr/>
          <p:nvPr>
            <p:custDataLst>
              <p:tags r:id="rId16"/>
            </p:custDataLst>
          </p:nvPr>
        </p:nvSpPr>
        <p:spPr>
          <a:xfrm rot="5400000">
            <a:off x="5360035" y="4843780"/>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52" name="等腰三角形 51"/>
          <p:cNvSpPr/>
          <p:nvPr>
            <p:custDataLst>
              <p:tags r:id="rId17"/>
            </p:custDataLst>
          </p:nvPr>
        </p:nvSpPr>
        <p:spPr>
          <a:xfrm rot="5400000">
            <a:off x="5360035" y="5363210"/>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55" name="文本框 54"/>
          <p:cNvSpPr txBox="1"/>
          <p:nvPr/>
        </p:nvSpPr>
        <p:spPr>
          <a:xfrm>
            <a:off x="8321675" y="4719955"/>
            <a:ext cx="2352040" cy="1400810"/>
          </a:xfrm>
          <a:prstGeom prst="rect">
            <a:avLst/>
          </a:prstGeom>
          <a:noFill/>
          <a:effectLst/>
        </p:spPr>
        <p:txBody>
          <a:bodyPr wrap="square" lIns="86868" tIns="43434" rIns="86868" bIns="43434">
            <a:spAutoFit/>
          </a:bodyPr>
          <a:lstStyle/>
          <a:p>
            <a:pPr algn="l">
              <a:lnSpc>
                <a:spcPct val="150000"/>
              </a:lnSpc>
              <a:defRPr>
                <a:latin typeface="微软雅黑"/>
                <a:ea typeface="微软雅黑"/>
                <a:cs typeface="微软雅黑"/>
              </a:defRPr>
            </a:pPr>
            <a:r>
              <a:rPr lang="zh-CN" altLang="en-US" sz="1140" b="0" dirty="0">
                <a:solidFill>
                  <a:srgbClr val="383838">
                    <a:alpha val="80000"/>
                  </a:srgbClr>
                </a:solidFill>
                <a:effectLst/>
                <a:latin typeface="微软雅黑"/>
                <a:ea typeface="微软雅黑"/>
                <a:cs typeface="微软雅黑"/>
              </a:rPr>
              <a:t>旗舰产品重塑，深度适配华为智能办公生态，带视频会议系统</a:t>
            </a:r>
            <a:endParaRPr lang="zh-CN" altLang="en-US" sz="1140" b="0" dirty="0">
              <a:solidFill>
                <a:srgbClr val="383838">
                  <a:alpha val="80000"/>
                </a:srgbClr>
              </a:solidFill>
              <a:effectLst/>
              <a:latin typeface="微软雅黑"/>
              <a:ea typeface="微软雅黑"/>
              <a:cs typeface="微软雅黑"/>
            </a:endParaRPr>
          </a:p>
          <a:p>
            <a:pPr algn="l">
              <a:lnSpc>
                <a:spcPct val="150000"/>
              </a:lnSpc>
              <a:defRPr>
                <a:latin typeface="微软雅黑"/>
                <a:ea typeface="微软雅黑"/>
                <a:cs typeface="微软雅黑"/>
              </a:defRPr>
            </a:pPr>
            <a:r>
              <a:rPr lang="zh-CN" altLang="en-US" sz="1140" b="0" dirty="0">
                <a:solidFill>
                  <a:srgbClr val="383838">
                    <a:alpha val="80000"/>
                  </a:srgbClr>
                </a:solidFill>
                <a:effectLst/>
                <a:latin typeface="微软雅黑"/>
                <a:ea typeface="微软雅黑"/>
                <a:cs typeface="微软雅黑"/>
              </a:rPr>
              <a:t>尊享服务升级，建立「移动办公室」认证体系（车内噪音控制</a:t>
            </a:r>
            <a:r>
              <a:rPr lang="en-US" altLang="zh-CN" sz="1140" b="0" dirty="0">
                <a:solidFill>
                  <a:srgbClr val="383838">
                    <a:alpha val="80000"/>
                  </a:srgbClr>
                </a:solidFill>
                <a:effectLst/>
                <a:latin typeface="微软雅黑"/>
                <a:ea typeface="微软雅黑"/>
                <a:cs typeface="微软雅黑"/>
              </a:rPr>
              <a:t>≤35</a:t>
            </a:r>
            <a:r>
              <a:rPr lang="zh-CN" altLang="en-US" sz="1140" b="0" dirty="0">
                <a:solidFill>
                  <a:srgbClr val="383838">
                    <a:alpha val="80000"/>
                  </a:srgbClr>
                </a:solidFill>
                <a:effectLst/>
                <a:latin typeface="微软雅黑"/>
                <a:ea typeface="微软雅黑"/>
                <a:cs typeface="微软雅黑"/>
              </a:rPr>
              <a:t>分贝）</a:t>
            </a:r>
            <a:r>
              <a:rPr lang="en-US" altLang="zh-CN" sz="1140" b="0" dirty="0">
                <a:solidFill>
                  <a:srgbClr val="383838">
                    <a:alpha val="80000"/>
                  </a:srgbClr>
                </a:solidFill>
                <a:effectLst/>
                <a:latin typeface="微软雅黑"/>
                <a:ea typeface="微软雅黑"/>
                <a:cs typeface="微软雅黑"/>
              </a:rPr>
              <a:t>+</a:t>
            </a:r>
            <a:r>
              <a:rPr lang="zh-CN" altLang="en-US" sz="1140" b="0" dirty="0">
                <a:solidFill>
                  <a:srgbClr val="383838">
                    <a:alpha val="80000"/>
                  </a:srgbClr>
                </a:solidFill>
                <a:effectLst/>
                <a:latin typeface="微软雅黑"/>
                <a:ea typeface="微软雅黑"/>
                <a:cs typeface="微软雅黑"/>
              </a:rPr>
              <a:t>推出「总裁出行套餐」。</a:t>
            </a:r>
            <a:endParaRPr lang="zh-CN" altLang="en-US" sz="1140" b="0" dirty="0">
              <a:solidFill>
                <a:srgbClr val="383838">
                  <a:alpha val="80000"/>
                </a:srgbClr>
              </a:solidFill>
              <a:effectLst/>
              <a:latin typeface="微软雅黑"/>
              <a:ea typeface="微软雅黑"/>
              <a:cs typeface="微软雅黑"/>
            </a:endParaRPr>
          </a:p>
        </p:txBody>
      </p:sp>
      <p:sp>
        <p:nvSpPr>
          <p:cNvPr id="35" name="等腰三角形 34"/>
          <p:cNvSpPr/>
          <p:nvPr>
            <p:custDataLst>
              <p:tags r:id="rId18"/>
            </p:custDataLst>
          </p:nvPr>
        </p:nvSpPr>
        <p:spPr>
          <a:xfrm rot="5400000">
            <a:off x="8187055" y="4843780"/>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36" name="等腰三角形 35"/>
          <p:cNvSpPr/>
          <p:nvPr>
            <p:custDataLst>
              <p:tags r:id="rId19"/>
            </p:custDataLst>
          </p:nvPr>
        </p:nvSpPr>
        <p:spPr>
          <a:xfrm rot="5400000">
            <a:off x="8187055" y="5363210"/>
            <a:ext cx="114300" cy="98425"/>
          </a:xfrm>
          <a:prstGeom prst="triangle">
            <a:avLst/>
          </a:prstGeom>
          <a:solidFill>
            <a:srgbClr val="383838"/>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192" name="梯形 191"/>
          <p:cNvSpPr/>
          <p:nvPr/>
        </p:nvSpPr>
        <p:spPr>
          <a:xfrm>
            <a:off x="643255" y="6011545"/>
            <a:ext cx="10849610" cy="524510"/>
          </a:xfrm>
          <a:prstGeom prst="trapezoid">
            <a:avLst>
              <a:gd name="adj" fmla="val 119447"/>
            </a:avLst>
          </a:prstGeom>
          <a:noFill/>
          <a:ln w="12700">
            <a:gradFill>
              <a:gsLst>
                <a:gs pos="0">
                  <a:srgbClr val="0042FF">
                    <a:alpha val="0"/>
                  </a:srgbClr>
                </a:gs>
                <a:gs pos="89000">
                  <a:srgbClr val="0042FF"/>
                </a:gs>
              </a:gsLst>
              <a:lin ang="5400000" scaled="1"/>
            </a:grad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93" name="矩形 192"/>
          <p:cNvSpPr/>
          <p:nvPr/>
        </p:nvSpPr>
        <p:spPr>
          <a:xfrm>
            <a:off x="643255" y="6535420"/>
            <a:ext cx="10849610" cy="109220"/>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7" name="TextBox 32"/>
          <p:cNvSpPr txBox="1"/>
          <p:nvPr/>
        </p:nvSpPr>
        <p:spPr>
          <a:xfrm>
            <a:off x="4219258" y="1147445"/>
            <a:ext cx="3484880" cy="398780"/>
          </a:xfrm>
          <a:prstGeom prst="rect">
            <a:avLst/>
          </a:prstGeom>
          <a:noFill/>
        </p:spPr>
        <p:txBody>
          <a:bodyPr wrap="none" lIns="0" rIns="0" tIns="0" bIns="0">
            <a:spAutoFit/>
          </a:bodyPr>
          <a:lstStyle>
            <a:defPPr>
              <a:defRPr lang="zh-CN">
                <a:latin typeface="微软雅黑"/>
                <a:ea typeface="微软雅黑"/>
                <a:cs typeface="微软雅黑"/>
              </a:defRPr>
            </a:defPPr>
            <a:lvl1pPr algn="ctr">
              <a:defRPr sz="10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000" b="0" u="none" strike="noStrike" kern="1200" cap="none" spc="0" normalizeH="0" baseline="0" noProof="0" dirty="0">
                <a:ln>
                  <a:noFill/>
                </a:ln>
                <a:solidFill>
                  <a:srgbClr val="0042FF"/>
                </a:solidFill>
                <a:effectLst/>
                <a:uLnTx/>
                <a:uFillTx/>
                <a:latin typeface="微软雅黑"/>
                <a:ea typeface="微软雅黑"/>
                <a:cs typeface="微软雅黑"/>
              </a:rPr>
              <a:t>科技与您同行，出行尽在掌握</a:t>
            </a:r>
            <a:endParaRPr kumimoji="0" lang="zh-CN" altLang="en-US" sz="2000" b="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8" name="TextBox 32"/>
          <p:cNvSpPr txBox="1"/>
          <p:nvPr/>
        </p:nvSpPr>
        <p:spPr>
          <a:xfrm>
            <a:off x="3594100" y="1525905"/>
            <a:ext cx="4805680" cy="306705"/>
          </a:xfrm>
          <a:prstGeom prst="rect">
            <a:avLst/>
          </a:prstGeom>
          <a:noFill/>
        </p:spPr>
        <p:txBody>
          <a:bodyPr wrap="none" lIns="0" rIns="0" tIns="0" bIns="0">
            <a:spAutoFit/>
          </a:bodyPr>
          <a:lstStyle>
            <a:defPPr>
              <a:defRPr lang="zh-CN">
                <a:latin typeface="微软雅黑"/>
                <a:ea typeface="微软雅黑"/>
                <a:cs typeface="微软雅黑"/>
              </a:defRPr>
            </a:defPPr>
            <a:lvl1pPr algn="ctr">
              <a:defRPr sz="10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u="none" strike="noStrike" kern="1200" cap="none" spc="0" normalizeH="0" baseline="0" noProof="0" dirty="0">
                <a:ln>
                  <a:noFill/>
                </a:ln>
                <a:solidFill>
                  <a:srgbClr val="383838">
                    <a:alpha val="80000"/>
                  </a:srgbClr>
                </a:solidFill>
                <a:effectLst/>
                <a:uLnTx/>
                <a:uFillTx/>
                <a:latin typeface="微软雅黑"/>
                <a:ea typeface="微软雅黑"/>
                <a:cs typeface="微软雅黑"/>
              </a:rPr>
              <a:t>智造是一场永不停歇的进化，而信赖是每个家庭的终极追求</a:t>
            </a:r>
            <a:endParaRPr kumimoji="0" lang="zh-CN" altLang="en-US" sz="1400" b="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sp>
        <p:nvSpPr>
          <p:cNvPr id="174" name="矩形 173"/>
          <p:cNvSpPr/>
          <p:nvPr/>
        </p:nvSpPr>
        <p:spPr>
          <a:xfrm>
            <a:off x="1396365" y="2025650"/>
            <a:ext cx="844550" cy="1634490"/>
          </a:xfrm>
          <a:prstGeom prst="rect">
            <a:avLst/>
          </a:prstGeom>
          <a:solidFill>
            <a:srgbClr val="3368FF"/>
          </a:solidFill>
          <a:ln w="12065">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6868" tIns="43434" rIns="86868" bIns="43434" rtlCol="0" anchor="ctr"/>
          <a:lstStyle/>
          <a:p>
            <a:pPr algn="ctr">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rPr>
              <a:t>品牌</a:t>
            </a:r>
            <a:endParaRPr lang="zh-CN" altLang="en-US" sz="15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rPr>
              <a:t>价值</a:t>
            </a:r>
            <a:endParaRPr lang="zh-CN" altLang="en-US" sz="1500" b="1">
              <a:solidFill>
                <a:srgbClr val="FFFFFF"/>
              </a:solidFill>
              <a:latin typeface="微软雅黑"/>
              <a:ea typeface="微软雅黑"/>
              <a:cs typeface="微软雅黑"/>
            </a:endParaRPr>
          </a:p>
        </p:txBody>
      </p:sp>
      <p:sp>
        <p:nvSpPr>
          <p:cNvPr id="2" name="椭圆 1"/>
          <p:cNvSpPr/>
          <p:nvPr/>
        </p:nvSpPr>
        <p:spPr>
          <a:xfrm>
            <a:off x="5049520" y="6245225"/>
            <a:ext cx="2037080" cy="154305"/>
          </a:xfrm>
          <a:prstGeom prst="ellipse">
            <a:avLst/>
          </a:prstGeom>
          <a:solidFill>
            <a:srgbClr val="0042FF">
              <a:alpha val="20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20"/>
            <a:srcRect r="57320" b="-13333"/>
            <a:stretch>
              <a:fillRect/>
            </a:stretch>
          </p:blipFill>
          <p:spPr>
            <a:xfrm>
              <a:off x="12087" y="-1089"/>
              <a:ext cx="2548" cy="578"/>
            </a:xfrm>
            <a:prstGeom prst="rect">
              <a:avLst/>
            </a:prstGeom>
          </p:spPr>
        </p:pic>
        <p:sp>
          <p:nvSpPr>
            <p:cNvPr id="8" name="文本框 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 name="紫荆的职场Point5"/>
          <p:cNvSpPr/>
          <p:nvPr/>
        </p:nvSpPr>
        <p:spPr>
          <a:xfrm flipH="1">
            <a:off x="848995" y="2898775"/>
            <a:ext cx="915035" cy="1985010"/>
          </a:xfrm>
          <a:prstGeom prst="rect">
            <a:avLst/>
          </a:prstGeom>
          <a:solidFill>
            <a:srgbClr val="3368FF">
              <a:alpha val="15000"/>
            </a:srgbClr>
          </a:solidFill>
          <a:ln w="12700" cap="flat" cmpd="sng" algn="ctr">
            <a:solidFill>
              <a:srgbClr val="3368FF">
                <a:alpha val="3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grpSp>
        <p:nvGrpSpPr>
          <p:cNvPr id="245" name="组合 244"/>
          <p:cNvGrpSpPr/>
          <p:nvPr/>
        </p:nvGrpSpPr>
        <p:grpSpPr>
          <a:xfrm rot="5400000">
            <a:off x="1637665" y="2898140"/>
            <a:ext cx="128905" cy="128905"/>
            <a:chOff x="1558" y="2149"/>
            <a:chExt cx="344" cy="344"/>
          </a:xfrm>
        </p:grpSpPr>
        <p:cxnSp>
          <p:nvCxnSpPr>
            <p:cNvPr id="246" name="直接连接符 245"/>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47" name="直接连接符 246"/>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48" name="组合 247"/>
          <p:cNvGrpSpPr/>
          <p:nvPr/>
        </p:nvGrpSpPr>
        <p:grpSpPr>
          <a:xfrm rot="10800000">
            <a:off x="1635125" y="4747260"/>
            <a:ext cx="128905" cy="128905"/>
            <a:chOff x="1558" y="2149"/>
            <a:chExt cx="344" cy="344"/>
          </a:xfrm>
        </p:grpSpPr>
        <p:cxnSp>
          <p:nvCxnSpPr>
            <p:cNvPr id="249" name="直接连接符 248"/>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50" name="直接连接符 249"/>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51" name="组合 250"/>
          <p:cNvGrpSpPr/>
          <p:nvPr/>
        </p:nvGrpSpPr>
        <p:grpSpPr>
          <a:xfrm rot="16200000">
            <a:off x="844415" y="4743284"/>
            <a:ext cx="134151" cy="143894"/>
            <a:chOff x="1545" y="2126"/>
            <a:chExt cx="358" cy="384"/>
          </a:xfrm>
        </p:grpSpPr>
        <p:cxnSp>
          <p:nvCxnSpPr>
            <p:cNvPr id="252" name="直接连接符 251"/>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53" name="直接连接符 252"/>
            <p:cNvCxnSpPr/>
            <p:nvPr/>
          </p:nvCxnSpPr>
          <p:spPr>
            <a:xfrm rot="5400000">
              <a:off x="1353" y="2318"/>
              <a:ext cx="38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54" name="组合 253"/>
          <p:cNvGrpSpPr/>
          <p:nvPr/>
        </p:nvGrpSpPr>
        <p:grpSpPr>
          <a:xfrm>
            <a:off x="841792" y="2898775"/>
            <a:ext cx="141646" cy="129280"/>
            <a:chOff x="1532" y="2149"/>
            <a:chExt cx="378" cy="345"/>
          </a:xfrm>
        </p:grpSpPr>
        <p:cxnSp>
          <p:nvCxnSpPr>
            <p:cNvPr id="255" name="直接连接符 254"/>
            <p:cNvCxnSpPr/>
            <p:nvPr/>
          </p:nvCxnSpPr>
          <p:spPr>
            <a:xfrm>
              <a:off x="1532" y="2151"/>
              <a:ext cx="378" cy="5"/>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56" name="直接连接符 255"/>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sp>
        <p:nvSpPr>
          <p:cNvPr id="202" name="紫荆的职场Point5"/>
          <p:cNvSpPr/>
          <p:nvPr/>
        </p:nvSpPr>
        <p:spPr>
          <a:xfrm flipV="1">
            <a:off x="2551430" y="2896235"/>
            <a:ext cx="7164705" cy="1985010"/>
          </a:xfrm>
          <a:prstGeom prst="rect">
            <a:avLst/>
          </a:prstGeom>
          <a:solidFill>
            <a:srgbClr val="E6E6E6">
              <a:alpha val="50000"/>
            </a:srgbClr>
          </a:solidFill>
          <a:ln w="12700" cap="flat" cmpd="sng" algn="ctr">
            <a:solidFill>
              <a:srgbClr val="3368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5" name="标题 2"/>
          <p:cNvSpPr>
            <a:spLocks noGrp="1"/>
          </p:cNvSpPr>
          <p:nvPr/>
        </p:nvSpPr>
        <p:spPr>
          <a:xfrm>
            <a:off x="1105535" y="347980"/>
            <a:ext cx="72637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rPr>
              <a:t>互联网公司数据架构框架</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3" name="紫荆的职场Point28"/>
          <p:cNvSpPr/>
          <p:nvPr/>
        </p:nvSpPr>
        <p:spPr>
          <a:xfrm>
            <a:off x="840740" y="1033780"/>
            <a:ext cx="10657205" cy="661670"/>
          </a:xfrm>
          <a:prstGeom prst="triangle">
            <a:avLst/>
          </a:prstGeom>
          <a:gradFill flip="none" rotWithShape="1">
            <a:gsLst>
              <a:gs pos="0">
                <a:srgbClr val="3368FF">
                  <a:alpha val="50000"/>
                </a:srgbClr>
              </a:gs>
              <a:gs pos="100000">
                <a:srgbClr val="FFFFFF"/>
              </a:gs>
            </a:gsLst>
            <a:lin ang="5400000" scaled="1"/>
            <a:tileRect/>
          </a:gradFill>
          <a:ln w="19050" cap="flat" cmpd="sng" algn="ctr">
            <a:gradFill flip="none" rotWithShape="1">
              <a:gsLst>
                <a:gs pos="0">
                  <a:srgbClr val="0042FF"/>
                </a:gs>
                <a:gs pos="100000">
                  <a:srgbClr val="0042FF">
                    <a:alpha val="0"/>
                  </a:srgbClr>
                </a:gs>
              </a:gsLst>
              <a:lin ang="5400000" scaled="1"/>
              <a:tileRect/>
            </a:gradFill>
            <a:prstDash val="solid"/>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5" name="textbox 2040"/>
          <p:cNvSpPr/>
          <p:nvPr/>
        </p:nvSpPr>
        <p:spPr>
          <a:xfrm>
            <a:off x="3893185" y="1324610"/>
            <a:ext cx="4701540" cy="30734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2000" b="1" dirty="0">
                <a:solidFill>
                  <a:srgbClr val="383838"/>
                </a:solidFill>
                <a:latin typeface="微软雅黑"/>
                <a:ea typeface="微软雅黑"/>
                <a:cs typeface="微软雅黑"/>
              </a:rPr>
              <a:t>某互联网公司数据架构规划框架</a:t>
            </a:r>
            <a:endParaRPr lang="zh-CN" altLang="en-US" sz="2000" b="1" dirty="0">
              <a:solidFill>
                <a:srgbClr val="383838"/>
              </a:solidFill>
              <a:latin typeface="微软雅黑"/>
              <a:ea typeface="微软雅黑"/>
              <a:cs typeface="微软雅黑"/>
            </a:endParaRPr>
          </a:p>
        </p:txBody>
      </p:sp>
      <p:sp>
        <p:nvSpPr>
          <p:cNvPr id="49" name="紫荆的职场Point5"/>
          <p:cNvSpPr/>
          <p:nvPr/>
        </p:nvSpPr>
        <p:spPr>
          <a:xfrm flipV="1">
            <a:off x="848995" y="1775460"/>
            <a:ext cx="10654665" cy="847090"/>
          </a:xfrm>
          <a:prstGeom prst="rect">
            <a:avLst/>
          </a:prstGeom>
          <a:solidFill>
            <a:srgbClr val="3368FF">
              <a:alpha val="10000"/>
            </a:srgbClr>
          </a:solidFill>
          <a:ln w="12700" cap="flat" cmpd="sng" algn="ctr">
            <a:solidFill>
              <a:srgbClr val="3368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grpSp>
        <p:nvGrpSpPr>
          <p:cNvPr id="184" name="组合 183"/>
          <p:cNvGrpSpPr/>
          <p:nvPr/>
        </p:nvGrpSpPr>
        <p:grpSpPr>
          <a:xfrm>
            <a:off x="11371580" y="1765300"/>
            <a:ext cx="135890" cy="130810"/>
            <a:chOff x="17908" y="2780"/>
            <a:chExt cx="214" cy="206"/>
          </a:xfrm>
        </p:grpSpPr>
        <p:cxnSp>
          <p:nvCxnSpPr>
            <p:cNvPr id="110" name="直接连接符 109"/>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111" name="直接连接符 110"/>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sp>
        <p:nvSpPr>
          <p:cNvPr id="123" name="紫荆的职场Point5"/>
          <p:cNvSpPr/>
          <p:nvPr/>
        </p:nvSpPr>
        <p:spPr>
          <a:xfrm flipV="1">
            <a:off x="854075" y="4984750"/>
            <a:ext cx="10649585" cy="446405"/>
          </a:xfrm>
          <a:prstGeom prst="rect">
            <a:avLst/>
          </a:prstGeom>
          <a:solidFill>
            <a:srgbClr val="0042FF">
              <a:alpha val="5000"/>
            </a:srgbClr>
          </a:solidFill>
          <a:ln w="12700" cap="flat" cmpd="sng" algn="ctr">
            <a:solidFill>
              <a:srgbClr val="0042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sym typeface="微软雅黑"/>
            </a:endParaRPr>
          </a:p>
        </p:txBody>
      </p:sp>
      <p:sp>
        <p:nvSpPr>
          <p:cNvPr id="124" name="紫荆的职场Point5"/>
          <p:cNvSpPr/>
          <p:nvPr/>
        </p:nvSpPr>
        <p:spPr>
          <a:xfrm flipV="1">
            <a:off x="854075" y="5516245"/>
            <a:ext cx="10649585" cy="446405"/>
          </a:xfrm>
          <a:prstGeom prst="rect">
            <a:avLst/>
          </a:prstGeom>
          <a:solidFill>
            <a:srgbClr val="0042FF">
              <a:alpha val="5000"/>
            </a:srgbClr>
          </a:solidFill>
          <a:ln w="12700" cap="flat" cmpd="sng" algn="ctr">
            <a:solidFill>
              <a:srgbClr val="0042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sym typeface="微软雅黑"/>
            </a:endParaRPr>
          </a:p>
        </p:txBody>
      </p:sp>
      <p:sp>
        <p:nvSpPr>
          <p:cNvPr id="125" name="紫荆的职场Point5"/>
          <p:cNvSpPr/>
          <p:nvPr/>
        </p:nvSpPr>
        <p:spPr>
          <a:xfrm flipV="1">
            <a:off x="854075" y="6067425"/>
            <a:ext cx="10649585" cy="446405"/>
          </a:xfrm>
          <a:prstGeom prst="rect">
            <a:avLst/>
          </a:prstGeom>
          <a:solidFill>
            <a:srgbClr val="3368FF">
              <a:alpha val="10000"/>
            </a:srgbClr>
          </a:solidFill>
          <a:ln w="12700" cap="flat" cmpd="sng" algn="ctr">
            <a:solidFill>
              <a:srgbClr val="3368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sym typeface="微软雅黑"/>
            </a:endParaRPr>
          </a:p>
        </p:txBody>
      </p:sp>
      <p:sp>
        <p:nvSpPr>
          <p:cNvPr id="126" name="五边形 125"/>
          <p:cNvSpPr/>
          <p:nvPr/>
        </p:nvSpPr>
        <p:spPr>
          <a:xfrm>
            <a:off x="2810510" y="3329305"/>
            <a:ext cx="6524625" cy="285750"/>
          </a:xfrm>
          <a:prstGeom prst="homePlat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27" name="五边形 126"/>
          <p:cNvSpPr/>
          <p:nvPr/>
        </p:nvSpPr>
        <p:spPr>
          <a:xfrm>
            <a:off x="2810510" y="3694430"/>
            <a:ext cx="6524625" cy="285750"/>
          </a:xfrm>
          <a:prstGeom prst="homePlat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28" name="五边形 127"/>
          <p:cNvSpPr/>
          <p:nvPr/>
        </p:nvSpPr>
        <p:spPr>
          <a:xfrm>
            <a:off x="2810510" y="4059555"/>
            <a:ext cx="6524625" cy="285750"/>
          </a:xfrm>
          <a:prstGeom prst="homePlat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29" name="五边形 128"/>
          <p:cNvSpPr/>
          <p:nvPr/>
        </p:nvSpPr>
        <p:spPr>
          <a:xfrm>
            <a:off x="2810510" y="4424680"/>
            <a:ext cx="6524625" cy="285750"/>
          </a:xfrm>
          <a:prstGeom prst="homePlat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30" name="五边形 129"/>
          <p:cNvSpPr/>
          <p:nvPr/>
        </p:nvSpPr>
        <p:spPr>
          <a:xfrm rot="5400000">
            <a:off x="2685415" y="3871595"/>
            <a:ext cx="1609725" cy="342900"/>
          </a:xfrm>
          <a:prstGeom prst="homePlat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31" name="五边形 130"/>
          <p:cNvSpPr/>
          <p:nvPr/>
        </p:nvSpPr>
        <p:spPr>
          <a:xfrm rot="5400000">
            <a:off x="7914640" y="3902075"/>
            <a:ext cx="1609725" cy="342900"/>
          </a:xfrm>
          <a:prstGeom prst="homePlat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32" name="矩形 131"/>
          <p:cNvSpPr/>
          <p:nvPr/>
        </p:nvSpPr>
        <p:spPr>
          <a:xfrm>
            <a:off x="5163185" y="1870075"/>
            <a:ext cx="2171700" cy="276225"/>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a:solidFill>
                  <a:srgbClr val="FFFFFF"/>
                </a:solidFill>
                <a:cs typeface="微软雅黑"/>
                <a:latin typeface="微软雅黑"/>
                <a:ea typeface="微软雅黑"/>
              </a:rPr>
              <a:t>数据安全与隐私政策</a:t>
            </a:r>
            <a:endParaRPr lang="zh-CN" altLang="en-US" sz="1400">
              <a:solidFill>
                <a:srgbClr val="FFFFFF"/>
              </a:solidFill>
              <a:cs typeface="微软雅黑"/>
              <a:latin typeface="微软雅黑"/>
              <a:ea typeface="微软雅黑"/>
            </a:endParaRPr>
          </a:p>
        </p:txBody>
      </p:sp>
      <p:sp>
        <p:nvSpPr>
          <p:cNvPr id="137" name="矩形 136"/>
          <p:cNvSpPr/>
          <p:nvPr/>
        </p:nvSpPr>
        <p:spPr>
          <a:xfrm>
            <a:off x="2733040" y="2248535"/>
            <a:ext cx="2124075" cy="276225"/>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cs typeface="微软雅黑"/>
                <a:sym typeface="微软雅黑"/>
                <a:latin typeface="微软雅黑"/>
                <a:ea typeface="微软雅黑"/>
              </a:rPr>
              <a:t>数据架构管理规范</a:t>
            </a:r>
            <a:endParaRPr lang="zh-CN" altLang="en-US" sz="1400">
              <a:solidFill>
                <a:srgbClr val="FFFFFF"/>
              </a:solidFill>
              <a:cs typeface="微软雅黑"/>
              <a:sym typeface="微软雅黑"/>
              <a:latin typeface="微软雅黑"/>
              <a:ea typeface="微软雅黑"/>
            </a:endParaRPr>
          </a:p>
        </p:txBody>
      </p:sp>
      <p:sp>
        <p:nvSpPr>
          <p:cNvPr id="145" name="矩形 144"/>
          <p:cNvSpPr/>
          <p:nvPr/>
        </p:nvSpPr>
        <p:spPr>
          <a:xfrm>
            <a:off x="5163185" y="2248535"/>
            <a:ext cx="2124075" cy="276225"/>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cs typeface="微软雅黑"/>
                <a:sym typeface="微软雅黑"/>
                <a:latin typeface="微软雅黑"/>
                <a:ea typeface="微软雅黑"/>
              </a:rPr>
              <a:t>数据质量管理标准</a:t>
            </a:r>
            <a:endParaRPr lang="zh-CN" altLang="en-US" sz="1400">
              <a:solidFill>
                <a:srgbClr val="FFFFFF"/>
              </a:solidFill>
              <a:cs typeface="微软雅黑"/>
              <a:sym typeface="微软雅黑"/>
              <a:latin typeface="微软雅黑"/>
              <a:ea typeface="微软雅黑"/>
            </a:endParaRPr>
          </a:p>
        </p:txBody>
      </p:sp>
      <p:sp>
        <p:nvSpPr>
          <p:cNvPr id="146" name="矩形 145"/>
          <p:cNvSpPr/>
          <p:nvPr/>
        </p:nvSpPr>
        <p:spPr>
          <a:xfrm>
            <a:off x="7685405" y="2223135"/>
            <a:ext cx="2124075" cy="276225"/>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cs typeface="微软雅黑"/>
                <a:sym typeface="微软雅黑"/>
                <a:latin typeface="微软雅黑"/>
                <a:ea typeface="微软雅黑"/>
              </a:rPr>
              <a:t>数据开放共享原则</a:t>
            </a:r>
            <a:endParaRPr lang="zh-CN" altLang="en-US" sz="1400">
              <a:solidFill>
                <a:srgbClr val="FFFFFF"/>
              </a:solidFill>
              <a:cs typeface="微软雅黑"/>
              <a:sym typeface="微软雅黑"/>
              <a:latin typeface="微软雅黑"/>
              <a:ea typeface="微软雅黑"/>
            </a:endParaRPr>
          </a:p>
        </p:txBody>
      </p:sp>
      <p:sp>
        <p:nvSpPr>
          <p:cNvPr id="151" name="矩形 150"/>
          <p:cNvSpPr/>
          <p:nvPr/>
        </p:nvSpPr>
        <p:spPr>
          <a:xfrm>
            <a:off x="1788795" y="5072380"/>
            <a:ext cx="2701290" cy="276225"/>
          </a:xfrm>
          <a:prstGeom prst="rect">
            <a:avLst/>
          </a:prstGeom>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a:solidFill>
                  <a:srgbClr val="FFFFFF"/>
                </a:solidFill>
                <a:cs typeface="微软雅黑"/>
                <a:latin typeface="微软雅黑"/>
                <a:ea typeface="微软雅黑"/>
              </a:rPr>
              <a:t>管理数据架构</a:t>
            </a:r>
            <a:endParaRPr lang="zh-CN" altLang="en-US" sz="1400">
              <a:solidFill>
                <a:srgbClr val="FFFFFF"/>
              </a:solidFill>
              <a:cs typeface="微软雅黑"/>
              <a:latin typeface="微软雅黑"/>
              <a:ea typeface="微软雅黑"/>
            </a:endParaRPr>
          </a:p>
        </p:txBody>
      </p:sp>
      <p:sp>
        <p:nvSpPr>
          <p:cNvPr id="152" name="矩形 151"/>
          <p:cNvSpPr/>
          <p:nvPr/>
        </p:nvSpPr>
        <p:spPr>
          <a:xfrm>
            <a:off x="1788795" y="5601335"/>
            <a:ext cx="2103755" cy="276225"/>
          </a:xfrm>
          <a:prstGeom prst="rect">
            <a:avLst/>
          </a:prstGeom>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数据治理委员会</a:t>
            </a:r>
            <a:endParaRPr lang="zh-CN" altLang="en-US" sz="1400">
              <a:solidFill>
                <a:srgbClr val="FFFFFF"/>
              </a:solidFill>
              <a:latin typeface="微软雅黑"/>
              <a:ea typeface="微软雅黑"/>
              <a:cs typeface="微软雅黑"/>
            </a:endParaRPr>
          </a:p>
        </p:txBody>
      </p:sp>
      <p:sp>
        <p:nvSpPr>
          <p:cNvPr id="153" name="矩形 152"/>
          <p:cNvSpPr/>
          <p:nvPr/>
        </p:nvSpPr>
        <p:spPr>
          <a:xfrm>
            <a:off x="5071745" y="5072380"/>
            <a:ext cx="2701290" cy="276225"/>
          </a:xfrm>
          <a:prstGeom prst="rect">
            <a:avLst/>
          </a:prstGeom>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cs typeface="微软雅黑"/>
                <a:sym typeface="微软雅黑"/>
                <a:latin typeface="微软雅黑"/>
                <a:ea typeface="微软雅黑"/>
              </a:rPr>
              <a:t>管理数据质量</a:t>
            </a:r>
            <a:endParaRPr lang="zh-CN" altLang="en-US" sz="1400">
              <a:solidFill>
                <a:srgbClr val="FFFFFF"/>
              </a:solidFill>
              <a:cs typeface="微软雅黑"/>
              <a:sym typeface="微软雅黑"/>
              <a:latin typeface="微软雅黑"/>
              <a:ea typeface="微软雅黑"/>
            </a:endParaRPr>
          </a:p>
        </p:txBody>
      </p:sp>
      <p:sp>
        <p:nvSpPr>
          <p:cNvPr id="161" name="矩形 160"/>
          <p:cNvSpPr/>
          <p:nvPr/>
        </p:nvSpPr>
        <p:spPr>
          <a:xfrm>
            <a:off x="8369935" y="5072380"/>
            <a:ext cx="2701290" cy="276225"/>
          </a:xfrm>
          <a:prstGeom prst="rect">
            <a:avLst/>
          </a:prstGeom>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cs typeface="微软雅黑"/>
                <a:sym typeface="微软雅黑"/>
                <a:latin typeface="微软雅黑"/>
                <a:ea typeface="微软雅黑"/>
              </a:rPr>
              <a:t>管理数据分析</a:t>
            </a:r>
            <a:endParaRPr lang="zh-CN" altLang="en-US" sz="1400">
              <a:solidFill>
                <a:srgbClr val="FFFFFF"/>
              </a:solidFill>
              <a:cs typeface="微软雅黑"/>
              <a:sym typeface="微软雅黑"/>
              <a:latin typeface="微软雅黑"/>
              <a:ea typeface="微软雅黑"/>
            </a:endParaRPr>
          </a:p>
        </p:txBody>
      </p:sp>
      <p:sp>
        <p:nvSpPr>
          <p:cNvPr id="167" name="矩形 166"/>
          <p:cNvSpPr/>
          <p:nvPr/>
        </p:nvSpPr>
        <p:spPr>
          <a:xfrm>
            <a:off x="6754420" y="5601335"/>
            <a:ext cx="2123440" cy="276225"/>
          </a:xfrm>
          <a:prstGeom prst="rect">
            <a:avLst/>
          </a:prstGeom>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数据工程师团队</a:t>
            </a:r>
            <a:endParaRPr lang="zh-CN" altLang="en-US" sz="1400">
              <a:solidFill>
                <a:srgbClr val="FFFFFF"/>
              </a:solidFill>
              <a:latin typeface="微软雅黑"/>
              <a:ea typeface="微软雅黑"/>
              <a:cs typeface="微软雅黑"/>
              <a:sym typeface="微软雅黑"/>
            </a:endParaRPr>
          </a:p>
        </p:txBody>
      </p:sp>
      <p:sp>
        <p:nvSpPr>
          <p:cNvPr id="171" name="圆柱体 499"/>
          <p:cNvSpPr/>
          <p:nvPr/>
        </p:nvSpPr>
        <p:spPr>
          <a:xfrm>
            <a:off x="1840230" y="6141085"/>
            <a:ext cx="1833880" cy="293370"/>
          </a:xfrm>
          <a:prstGeom prst="can">
            <a:avLst>
              <a:gd name="adj" fmla="val 26575"/>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数据湖仓一体</a:t>
            </a:r>
            <a:endParaRPr lang="zh-CN" altLang="en-US" sz="1000" dirty="0">
              <a:solidFill>
                <a:srgbClr val="FFFFFF"/>
              </a:solidFill>
              <a:latin typeface="微软雅黑"/>
              <a:ea typeface="微软雅黑"/>
              <a:cs typeface="微软雅黑"/>
            </a:endParaRPr>
          </a:p>
        </p:txBody>
      </p:sp>
      <p:sp>
        <p:nvSpPr>
          <p:cNvPr id="175" name="圆柱体 499"/>
          <p:cNvSpPr/>
          <p:nvPr/>
        </p:nvSpPr>
        <p:spPr>
          <a:xfrm>
            <a:off x="4362450" y="6141085"/>
            <a:ext cx="1833880" cy="293370"/>
          </a:xfrm>
          <a:prstGeom prst="can">
            <a:avLst>
              <a:gd name="adj" fmla="val 26575"/>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实时计算引擎</a:t>
            </a:r>
            <a:endParaRPr lang="zh-CN" altLang="en-US" sz="1000" dirty="0">
              <a:solidFill>
                <a:srgbClr val="FFFFFF"/>
              </a:solidFill>
              <a:latin typeface="微软雅黑"/>
              <a:ea typeface="微软雅黑"/>
              <a:cs typeface="微软雅黑"/>
            </a:endParaRPr>
          </a:p>
        </p:txBody>
      </p:sp>
      <p:sp>
        <p:nvSpPr>
          <p:cNvPr id="176" name="圆柱体 499"/>
          <p:cNvSpPr/>
          <p:nvPr/>
        </p:nvSpPr>
        <p:spPr>
          <a:xfrm>
            <a:off x="6720840" y="6141085"/>
            <a:ext cx="1833880" cy="293370"/>
          </a:xfrm>
          <a:prstGeom prst="can">
            <a:avLst>
              <a:gd name="adj" fmla="val 26575"/>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数据安全体系</a:t>
            </a:r>
            <a:endParaRPr lang="zh-CN" altLang="en-US" sz="1000" dirty="0">
              <a:solidFill>
                <a:srgbClr val="FFFFFF"/>
              </a:solidFill>
              <a:latin typeface="微软雅黑"/>
              <a:ea typeface="微软雅黑"/>
              <a:cs typeface="微软雅黑"/>
            </a:endParaRPr>
          </a:p>
        </p:txBody>
      </p:sp>
      <p:sp>
        <p:nvSpPr>
          <p:cNvPr id="177" name="圆柱体 499"/>
          <p:cNvSpPr/>
          <p:nvPr/>
        </p:nvSpPr>
        <p:spPr>
          <a:xfrm>
            <a:off x="9170035" y="6141085"/>
            <a:ext cx="1833880" cy="293370"/>
          </a:xfrm>
          <a:prstGeom prst="can">
            <a:avLst>
              <a:gd name="adj" fmla="val 26575"/>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数据服务中台</a:t>
            </a:r>
            <a:endParaRPr lang="zh-CN" altLang="en-US" sz="1000" dirty="0">
              <a:solidFill>
                <a:srgbClr val="FFFFFF"/>
              </a:solidFill>
              <a:latin typeface="微软雅黑"/>
              <a:ea typeface="微软雅黑"/>
              <a:cs typeface="微软雅黑"/>
            </a:endParaRPr>
          </a:p>
        </p:txBody>
      </p:sp>
      <p:grpSp>
        <p:nvGrpSpPr>
          <p:cNvPr id="188" name="组合 187"/>
          <p:cNvGrpSpPr/>
          <p:nvPr/>
        </p:nvGrpSpPr>
        <p:grpSpPr>
          <a:xfrm rot="10800000">
            <a:off x="840740" y="2499360"/>
            <a:ext cx="135890" cy="130810"/>
            <a:chOff x="17908" y="2780"/>
            <a:chExt cx="214" cy="206"/>
          </a:xfrm>
        </p:grpSpPr>
        <p:cxnSp>
          <p:nvCxnSpPr>
            <p:cNvPr id="189" name="直接连接符 188"/>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190" name="直接连接符 189"/>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191" name="组合 190"/>
          <p:cNvGrpSpPr/>
          <p:nvPr/>
        </p:nvGrpSpPr>
        <p:grpSpPr>
          <a:xfrm rot="16200000">
            <a:off x="838200" y="1778000"/>
            <a:ext cx="135890" cy="130810"/>
            <a:chOff x="17908" y="2780"/>
            <a:chExt cx="214" cy="206"/>
          </a:xfrm>
        </p:grpSpPr>
        <p:cxnSp>
          <p:nvCxnSpPr>
            <p:cNvPr id="192" name="直接连接符 191"/>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193" name="直接连接符 192"/>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15" name="组合 214"/>
          <p:cNvGrpSpPr/>
          <p:nvPr/>
        </p:nvGrpSpPr>
        <p:grpSpPr>
          <a:xfrm>
            <a:off x="2553970" y="2896235"/>
            <a:ext cx="128905" cy="128905"/>
            <a:chOff x="1558" y="2149"/>
            <a:chExt cx="344" cy="344"/>
          </a:xfrm>
        </p:grpSpPr>
        <p:cxnSp>
          <p:nvCxnSpPr>
            <p:cNvPr id="216" name="直接连接符 215"/>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17" name="直接连接符 216"/>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18" name="组合 217"/>
          <p:cNvGrpSpPr/>
          <p:nvPr/>
        </p:nvGrpSpPr>
        <p:grpSpPr>
          <a:xfrm rot="5400000">
            <a:off x="9589770" y="2896235"/>
            <a:ext cx="128905" cy="128905"/>
            <a:chOff x="1558" y="2149"/>
            <a:chExt cx="344" cy="344"/>
          </a:xfrm>
        </p:grpSpPr>
        <p:cxnSp>
          <p:nvCxnSpPr>
            <p:cNvPr id="219" name="直接连接符 218"/>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20" name="直接连接符 219"/>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24" name="组合 223"/>
          <p:cNvGrpSpPr/>
          <p:nvPr/>
        </p:nvGrpSpPr>
        <p:grpSpPr>
          <a:xfrm rot="16200000">
            <a:off x="2556510" y="4751705"/>
            <a:ext cx="128905" cy="128905"/>
            <a:chOff x="1558" y="2149"/>
            <a:chExt cx="344" cy="344"/>
          </a:xfrm>
        </p:grpSpPr>
        <p:cxnSp>
          <p:nvCxnSpPr>
            <p:cNvPr id="225" name="直接连接符 224"/>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26" name="直接连接符 225"/>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27" name="组合 226"/>
          <p:cNvGrpSpPr/>
          <p:nvPr/>
        </p:nvGrpSpPr>
        <p:grpSpPr>
          <a:xfrm rot="10800000">
            <a:off x="9592310" y="4751705"/>
            <a:ext cx="128905" cy="128905"/>
            <a:chOff x="1558" y="2149"/>
            <a:chExt cx="344" cy="344"/>
          </a:xfrm>
        </p:grpSpPr>
        <p:cxnSp>
          <p:nvCxnSpPr>
            <p:cNvPr id="228" name="直接连接符 227"/>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29" name="直接连接符 228"/>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sp>
        <p:nvSpPr>
          <p:cNvPr id="117" name="紫荆的职场Point5"/>
          <p:cNvSpPr/>
          <p:nvPr/>
        </p:nvSpPr>
        <p:spPr>
          <a:xfrm flipV="1">
            <a:off x="10588625" y="2893695"/>
            <a:ext cx="915035" cy="1985010"/>
          </a:xfrm>
          <a:prstGeom prst="rect">
            <a:avLst/>
          </a:prstGeom>
          <a:solidFill>
            <a:srgbClr val="3368FF">
              <a:alpha val="15000"/>
            </a:srgbClr>
          </a:solidFill>
          <a:ln w="12700" cap="flat" cmpd="sng" algn="ctr">
            <a:solidFill>
              <a:srgbClr val="3368FF">
                <a:alpha val="3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grpSp>
        <p:nvGrpSpPr>
          <p:cNvPr id="185" name="组合 184"/>
          <p:cNvGrpSpPr/>
          <p:nvPr/>
        </p:nvGrpSpPr>
        <p:grpSpPr>
          <a:xfrm rot="5400000">
            <a:off x="11374120" y="2501265"/>
            <a:ext cx="135890" cy="130810"/>
            <a:chOff x="17908" y="2780"/>
            <a:chExt cx="214" cy="206"/>
          </a:xfrm>
        </p:grpSpPr>
        <p:cxnSp>
          <p:nvCxnSpPr>
            <p:cNvPr id="186" name="直接连接符 185"/>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187" name="直接连接符 186"/>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21" name="组合 220"/>
          <p:cNvGrpSpPr/>
          <p:nvPr/>
        </p:nvGrpSpPr>
        <p:grpSpPr>
          <a:xfrm rot="5400000">
            <a:off x="11369040" y="2893060"/>
            <a:ext cx="128905" cy="128905"/>
            <a:chOff x="1558" y="2149"/>
            <a:chExt cx="344" cy="344"/>
          </a:xfrm>
        </p:grpSpPr>
        <p:cxnSp>
          <p:nvCxnSpPr>
            <p:cNvPr id="222" name="直接连接符 221"/>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23" name="直接连接符 222"/>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30" name="组合 229"/>
          <p:cNvGrpSpPr/>
          <p:nvPr/>
        </p:nvGrpSpPr>
        <p:grpSpPr>
          <a:xfrm rot="10800000">
            <a:off x="11366500" y="4749800"/>
            <a:ext cx="128905" cy="128905"/>
            <a:chOff x="1558" y="2149"/>
            <a:chExt cx="344" cy="344"/>
          </a:xfrm>
        </p:grpSpPr>
        <p:cxnSp>
          <p:nvCxnSpPr>
            <p:cNvPr id="231" name="直接连接符 230"/>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32" name="直接连接符 231"/>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33" name="组合 232"/>
          <p:cNvGrpSpPr/>
          <p:nvPr/>
        </p:nvGrpSpPr>
        <p:grpSpPr>
          <a:xfrm rot="16200000">
            <a:off x="10580370" y="4721860"/>
            <a:ext cx="128905" cy="128905"/>
            <a:chOff x="1558" y="2149"/>
            <a:chExt cx="344" cy="344"/>
          </a:xfrm>
        </p:grpSpPr>
        <p:cxnSp>
          <p:nvCxnSpPr>
            <p:cNvPr id="234" name="直接连接符 233"/>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35" name="直接连接符 234"/>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36" name="组合 235"/>
          <p:cNvGrpSpPr/>
          <p:nvPr/>
        </p:nvGrpSpPr>
        <p:grpSpPr>
          <a:xfrm>
            <a:off x="10582910" y="2893695"/>
            <a:ext cx="128905" cy="128905"/>
            <a:chOff x="1558" y="2149"/>
            <a:chExt cx="344" cy="344"/>
          </a:xfrm>
        </p:grpSpPr>
        <p:cxnSp>
          <p:nvCxnSpPr>
            <p:cNvPr id="237" name="直接连接符 236"/>
            <p:cNvCxnSpPr/>
            <p:nvPr/>
          </p:nvCxnSpPr>
          <p:spPr>
            <a:xfrm>
              <a:off x="1558" y="2156"/>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38" name="直接连接符 237"/>
            <p:cNvCxnSpPr/>
            <p:nvPr/>
          </p:nvCxnSpPr>
          <p:spPr>
            <a:xfrm rot="5400000">
              <a:off x="1392" y="2321"/>
              <a:ext cx="345"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sp>
        <p:nvSpPr>
          <p:cNvPr id="257" name="文本框 256"/>
          <p:cNvSpPr txBox="1"/>
          <p:nvPr/>
        </p:nvSpPr>
        <p:spPr>
          <a:xfrm>
            <a:off x="1107440" y="3248660"/>
            <a:ext cx="398145" cy="1285240"/>
          </a:xfrm>
          <a:prstGeom prst="rect">
            <a:avLst/>
          </a:prstGeom>
          <a:noFill/>
        </p:spPr>
        <p:txBody>
          <a:bodyPr vert="eaVert" wrap="square" rtlCol="0">
            <a:spAutoFit/>
          </a:bodyPr>
          <a:lstStyle/>
          <a:p>
            <a:pPr>
              <a:defRPr>
                <a:latin typeface="微软雅黑"/>
                <a:ea typeface="微软雅黑"/>
                <a:cs typeface="微软雅黑"/>
              </a:defRPr>
            </a:pPr>
            <a:r>
              <a:rPr lang="zh-CN" altLang="en-US" sz="1400" b="1">
                <a:solidFill>
                  <a:srgbClr val="0042FF"/>
                </a:solidFill>
                <a:latin typeface="微软雅黑"/>
                <a:ea typeface="微软雅黑"/>
                <a:cs typeface="微软雅黑"/>
              </a:rPr>
              <a:t>数据架构管理</a:t>
            </a:r>
            <a:endParaRPr lang="zh-CN" altLang="en-US" sz="1400" b="1">
              <a:solidFill>
                <a:srgbClr val="0042FF"/>
              </a:solidFill>
              <a:latin typeface="微软雅黑"/>
              <a:ea typeface="微软雅黑"/>
              <a:cs typeface="微软雅黑"/>
            </a:endParaRPr>
          </a:p>
        </p:txBody>
      </p:sp>
      <p:sp>
        <p:nvSpPr>
          <p:cNvPr id="258" name="文本框 257"/>
          <p:cNvSpPr txBox="1"/>
          <p:nvPr/>
        </p:nvSpPr>
        <p:spPr>
          <a:xfrm>
            <a:off x="10838815" y="3176270"/>
            <a:ext cx="398145" cy="1544320"/>
          </a:xfrm>
          <a:prstGeom prst="rect">
            <a:avLst/>
          </a:prstGeom>
          <a:noFill/>
        </p:spPr>
        <p:txBody>
          <a:bodyPr vert="eaVert" wrap="square" rtlCol="0" anchor="ctr" anchorCtr="0">
            <a:spAutoFit/>
          </a:bodyPr>
          <a:lstStyle/>
          <a:p>
            <a:pPr>
              <a:defRPr>
                <a:latin typeface="微软雅黑"/>
                <a:ea typeface="微软雅黑"/>
                <a:cs typeface="微软雅黑"/>
              </a:defRPr>
            </a:pPr>
            <a:r>
              <a:rPr lang="zh-CN" altLang="en-US" sz="1400" b="1">
                <a:solidFill>
                  <a:srgbClr val="0042FF"/>
                </a:solidFill>
                <a:latin typeface="微软雅黑"/>
                <a:ea typeface="微软雅黑"/>
                <a:cs typeface="微软雅黑"/>
              </a:rPr>
              <a:t>信息价值链治理</a:t>
            </a:r>
            <a:endParaRPr lang="zh-CN" altLang="en-US" sz="1400" b="1">
              <a:solidFill>
                <a:srgbClr val="0042FF"/>
              </a:solidFill>
              <a:latin typeface="微软雅黑"/>
              <a:ea typeface="微软雅黑"/>
              <a:cs typeface="微软雅黑"/>
            </a:endParaRPr>
          </a:p>
        </p:txBody>
      </p:sp>
      <p:grpSp>
        <p:nvGrpSpPr>
          <p:cNvPr id="261" name="组合 260"/>
          <p:cNvGrpSpPr/>
          <p:nvPr/>
        </p:nvGrpSpPr>
        <p:grpSpPr>
          <a:xfrm>
            <a:off x="1884680" y="3584575"/>
            <a:ext cx="543560" cy="459105"/>
            <a:chOff x="2968" y="5165"/>
            <a:chExt cx="856" cy="1003"/>
          </a:xfrm>
        </p:grpSpPr>
        <p:sp>
          <p:nvSpPr>
            <p:cNvPr id="259" name="右箭头 258"/>
            <p:cNvSpPr/>
            <p:nvPr/>
          </p:nvSpPr>
          <p:spPr>
            <a:xfrm>
              <a:off x="2968" y="5165"/>
              <a:ext cx="857" cy="480"/>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60" name="右箭头 259"/>
            <p:cNvSpPr/>
            <p:nvPr/>
          </p:nvSpPr>
          <p:spPr>
            <a:xfrm flipH="1">
              <a:off x="2968" y="5688"/>
              <a:ext cx="857" cy="480"/>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grpSp>
        <p:nvGrpSpPr>
          <p:cNvPr id="262" name="组合 261"/>
          <p:cNvGrpSpPr/>
          <p:nvPr/>
        </p:nvGrpSpPr>
        <p:grpSpPr>
          <a:xfrm>
            <a:off x="9866630" y="3584575"/>
            <a:ext cx="543560" cy="459105"/>
            <a:chOff x="2968" y="5165"/>
            <a:chExt cx="856" cy="1003"/>
          </a:xfrm>
        </p:grpSpPr>
        <p:sp>
          <p:nvSpPr>
            <p:cNvPr id="263" name="右箭头 262"/>
            <p:cNvSpPr/>
            <p:nvPr/>
          </p:nvSpPr>
          <p:spPr>
            <a:xfrm>
              <a:off x="2968" y="5165"/>
              <a:ext cx="857" cy="480"/>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64" name="右箭头 263"/>
            <p:cNvSpPr/>
            <p:nvPr/>
          </p:nvSpPr>
          <p:spPr>
            <a:xfrm flipH="1">
              <a:off x="2968" y="5688"/>
              <a:ext cx="857" cy="480"/>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sp>
        <p:nvSpPr>
          <p:cNvPr id="265" name="文本框 264"/>
          <p:cNvSpPr txBox="1"/>
          <p:nvPr/>
        </p:nvSpPr>
        <p:spPr>
          <a:xfrm>
            <a:off x="3319145" y="3399155"/>
            <a:ext cx="343535" cy="1309370"/>
          </a:xfrm>
          <a:prstGeom prst="rect">
            <a:avLst/>
          </a:prstGeom>
          <a:noFill/>
        </p:spPr>
        <p:txBody>
          <a:bodyPr vert="eaVert" wrap="square" rtlCol="0" anchor="ctr" anchorCtr="0">
            <a:noAutofit/>
          </a:bodyPr>
          <a:lstStyle/>
          <a:p>
            <a:pP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数据在横向贯通</a:t>
            </a:r>
            <a:endParaRPr lang="zh-CN" altLang="en-US" sz="1200">
              <a:solidFill>
                <a:srgbClr val="FFFFFF"/>
              </a:solidFill>
              <a:latin typeface="微软雅黑"/>
              <a:ea typeface="微软雅黑"/>
              <a:cs typeface="微软雅黑"/>
            </a:endParaRPr>
          </a:p>
        </p:txBody>
      </p:sp>
      <p:sp>
        <p:nvSpPr>
          <p:cNvPr id="266" name="文本框 265"/>
          <p:cNvSpPr txBox="1"/>
          <p:nvPr/>
        </p:nvSpPr>
        <p:spPr>
          <a:xfrm>
            <a:off x="8561070" y="3371215"/>
            <a:ext cx="343535" cy="1455420"/>
          </a:xfrm>
          <a:prstGeom prst="rect">
            <a:avLst/>
          </a:prstGeom>
          <a:noFill/>
        </p:spPr>
        <p:txBody>
          <a:bodyPr vert="eaVert" wrap="square" rtlCol="0" anchor="ctr" anchorCtr="0">
            <a:noAutofit/>
          </a:bodyPr>
          <a:lstStyle/>
          <a:p>
            <a:pP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管理通过纵向治理</a:t>
            </a:r>
            <a:endParaRPr lang="zh-CN" altLang="en-US" sz="1200">
              <a:solidFill>
                <a:srgbClr val="FFFFFF"/>
              </a:solidFill>
              <a:latin typeface="微软雅黑"/>
              <a:ea typeface="微软雅黑"/>
              <a:cs typeface="微软雅黑"/>
            </a:endParaRPr>
          </a:p>
        </p:txBody>
      </p:sp>
      <p:sp>
        <p:nvSpPr>
          <p:cNvPr id="268" name="textbox 2040"/>
          <p:cNvSpPr/>
          <p:nvPr/>
        </p:nvSpPr>
        <p:spPr>
          <a:xfrm>
            <a:off x="2862580" y="2961640"/>
            <a:ext cx="6729730" cy="21526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400" b="1" dirty="0">
                <a:solidFill>
                  <a:srgbClr val="0042FF"/>
                </a:solidFill>
                <a:latin typeface="微软雅黑"/>
                <a:ea typeface="微软雅黑"/>
                <a:cs typeface="微软雅黑"/>
              </a:rPr>
              <a:t>基于核心业务场景的信息价值链治理（数据</a:t>
            </a:r>
            <a:r>
              <a:rPr lang="en-US" altLang="zh-CN" sz="1400" b="1" dirty="0">
                <a:solidFill>
                  <a:srgbClr val="0042FF"/>
                </a:solidFill>
                <a:latin typeface="微软雅黑"/>
                <a:ea typeface="微软雅黑"/>
                <a:cs typeface="微软雅黑"/>
              </a:rPr>
              <a:t>&amp;</a:t>
            </a:r>
            <a:r>
              <a:rPr lang="zh-CN" altLang="en-US" sz="1400" b="1" dirty="0">
                <a:solidFill>
                  <a:srgbClr val="0042FF"/>
                </a:solidFill>
                <a:latin typeface="微软雅黑"/>
                <a:ea typeface="微软雅黑"/>
                <a:cs typeface="微软雅黑"/>
              </a:rPr>
              <a:t>系统</a:t>
            </a:r>
            <a:r>
              <a:rPr lang="en-US" altLang="zh-CN" sz="1400" b="1" dirty="0">
                <a:solidFill>
                  <a:srgbClr val="0042FF"/>
                </a:solidFill>
                <a:latin typeface="微软雅黑"/>
                <a:ea typeface="微软雅黑"/>
                <a:cs typeface="微软雅黑"/>
              </a:rPr>
              <a:t>&amp;</a:t>
            </a:r>
            <a:r>
              <a:rPr lang="zh-CN" altLang="en-US" sz="1400" b="1" dirty="0">
                <a:solidFill>
                  <a:srgbClr val="0042FF"/>
                </a:solidFill>
                <a:latin typeface="微软雅黑"/>
                <a:ea typeface="微软雅黑"/>
                <a:cs typeface="微软雅黑"/>
              </a:rPr>
              <a:t>流程）</a:t>
            </a:r>
            <a:endParaRPr lang="zh-CN" altLang="en-US" sz="1400" b="1" dirty="0">
              <a:solidFill>
                <a:srgbClr val="0042FF"/>
              </a:solidFill>
              <a:latin typeface="微软雅黑"/>
              <a:ea typeface="微软雅黑"/>
              <a:cs typeface="微软雅黑"/>
            </a:endParaRPr>
          </a:p>
        </p:txBody>
      </p:sp>
      <p:sp>
        <p:nvSpPr>
          <p:cNvPr id="270" name="右箭头 269"/>
          <p:cNvSpPr/>
          <p:nvPr/>
        </p:nvSpPr>
        <p:spPr>
          <a:xfrm rot="16200000">
            <a:off x="5520690" y="2573020"/>
            <a:ext cx="254635" cy="38671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72" name="右箭头 271"/>
          <p:cNvSpPr/>
          <p:nvPr/>
        </p:nvSpPr>
        <p:spPr>
          <a:xfrm rot="5400000" flipV="1">
            <a:off x="6531610" y="2578100"/>
            <a:ext cx="254635" cy="38671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73" name="textbox 2040"/>
          <p:cNvSpPr/>
          <p:nvPr/>
        </p:nvSpPr>
        <p:spPr>
          <a:xfrm>
            <a:off x="3785235" y="3399790"/>
            <a:ext cx="4698365" cy="18415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b="1" dirty="0">
                <a:solidFill>
                  <a:srgbClr val="383838"/>
                </a:solidFill>
                <a:latin typeface="微软雅黑"/>
                <a:ea typeface="微软雅黑"/>
                <a:cs typeface="微软雅黑"/>
              </a:rPr>
              <a:t>用户增长价值链：</a:t>
            </a:r>
            <a:r>
              <a:rPr lang="zh-CN" altLang="en-US" sz="1200" dirty="0">
                <a:solidFill>
                  <a:srgbClr val="383838"/>
                </a:solidFill>
                <a:latin typeface="微软雅黑"/>
                <a:ea typeface="微软雅黑"/>
                <a:cs typeface="微软雅黑"/>
              </a:rPr>
              <a:t>流量获取</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用户行为分析</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转化率优化</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留存运营</a:t>
            </a:r>
            <a:endParaRPr lang="zh-CN" altLang="en-US" sz="1200" dirty="0">
              <a:solidFill>
                <a:srgbClr val="383838"/>
              </a:solidFill>
              <a:latin typeface="微软雅黑"/>
              <a:ea typeface="微软雅黑"/>
              <a:cs typeface="微软雅黑"/>
            </a:endParaRPr>
          </a:p>
        </p:txBody>
      </p:sp>
      <p:sp>
        <p:nvSpPr>
          <p:cNvPr id="274" name="textbox 2040"/>
          <p:cNvSpPr/>
          <p:nvPr/>
        </p:nvSpPr>
        <p:spPr>
          <a:xfrm>
            <a:off x="3728085" y="3758565"/>
            <a:ext cx="4756150" cy="18415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b="1" dirty="0">
                <a:solidFill>
                  <a:srgbClr val="383838"/>
                </a:solidFill>
                <a:latin typeface="微软雅黑"/>
                <a:ea typeface="微软雅黑"/>
                <a:cs typeface="微软雅黑"/>
              </a:rPr>
              <a:t>产品迭代价值链：</a:t>
            </a:r>
            <a:r>
              <a:rPr lang="zh-CN" altLang="en-US" sz="1200" dirty="0">
                <a:solidFill>
                  <a:srgbClr val="383838"/>
                </a:solidFill>
                <a:latin typeface="微软雅黑"/>
                <a:ea typeface="微软雅黑"/>
                <a:cs typeface="微软雅黑"/>
              </a:rPr>
              <a:t>需求埋点</a:t>
            </a:r>
            <a:r>
              <a:rPr lang="en-US" altLang="en-US" sz="1200" dirty="0">
                <a:solidFill>
                  <a:srgbClr val="383838"/>
                </a:solidFill>
                <a:latin typeface="微软雅黑"/>
                <a:ea typeface="微软雅黑"/>
                <a:cs typeface="微软雅黑"/>
              </a:rPr>
              <a:t>→</a:t>
            </a:r>
            <a:r>
              <a:rPr lang="en-US" altLang="zh-CN" sz="1200" dirty="0">
                <a:solidFill>
                  <a:srgbClr val="383838"/>
                </a:solidFill>
                <a:latin typeface="微软雅黑"/>
                <a:ea typeface="微软雅黑"/>
                <a:cs typeface="微软雅黑"/>
              </a:rPr>
              <a:t>A/B</a:t>
            </a:r>
            <a:r>
              <a:rPr lang="zh-CN" altLang="en-US" sz="1200" dirty="0">
                <a:solidFill>
                  <a:srgbClr val="383838"/>
                </a:solidFill>
                <a:latin typeface="微软雅黑"/>
                <a:ea typeface="微软雅黑"/>
                <a:cs typeface="微软雅黑"/>
              </a:rPr>
              <a:t>测试</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效果评估</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功能迭代</a:t>
            </a:r>
            <a:endParaRPr lang="zh-CN" altLang="en-US" sz="1200" dirty="0">
              <a:solidFill>
                <a:srgbClr val="383838"/>
              </a:solidFill>
              <a:latin typeface="微软雅黑"/>
              <a:ea typeface="微软雅黑"/>
              <a:cs typeface="微软雅黑"/>
            </a:endParaRPr>
          </a:p>
        </p:txBody>
      </p:sp>
      <p:sp>
        <p:nvSpPr>
          <p:cNvPr id="275" name="textbox 2040"/>
          <p:cNvSpPr/>
          <p:nvPr/>
        </p:nvSpPr>
        <p:spPr>
          <a:xfrm>
            <a:off x="3935730" y="4117340"/>
            <a:ext cx="4548505" cy="18415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b="1" dirty="0">
                <a:solidFill>
                  <a:srgbClr val="383838"/>
                </a:solidFill>
                <a:latin typeface="微软雅黑"/>
                <a:ea typeface="微软雅黑"/>
                <a:cs typeface="微软雅黑"/>
              </a:rPr>
              <a:t>商业化价值链：</a:t>
            </a:r>
            <a:r>
              <a:rPr lang="zh-CN" altLang="en-US" sz="1200" dirty="0">
                <a:solidFill>
                  <a:srgbClr val="383838"/>
                </a:solidFill>
                <a:latin typeface="微软雅黑"/>
                <a:ea typeface="微软雅黑"/>
                <a:cs typeface="微软雅黑"/>
              </a:rPr>
              <a:t>广告投放</a:t>
            </a:r>
            <a:r>
              <a:rPr lang="en-US" altLang="en-US" sz="1200" dirty="0">
                <a:solidFill>
                  <a:srgbClr val="383838"/>
                </a:solidFill>
                <a:latin typeface="微软雅黑"/>
                <a:ea typeface="微软雅黑"/>
                <a:cs typeface="微软雅黑"/>
              </a:rPr>
              <a:t>→</a:t>
            </a:r>
            <a:r>
              <a:rPr lang="en-US" altLang="zh-CN" sz="1200" dirty="0">
                <a:solidFill>
                  <a:srgbClr val="383838"/>
                </a:solidFill>
                <a:latin typeface="微软雅黑"/>
                <a:ea typeface="微软雅黑"/>
                <a:cs typeface="微软雅黑"/>
              </a:rPr>
              <a:t>ROI</a:t>
            </a:r>
            <a:r>
              <a:rPr lang="zh-CN" altLang="en-US" sz="1200" dirty="0">
                <a:solidFill>
                  <a:srgbClr val="383838"/>
                </a:solidFill>
                <a:latin typeface="微软雅黑"/>
                <a:ea typeface="微软雅黑"/>
                <a:cs typeface="微软雅黑"/>
              </a:rPr>
              <a:t>分析</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计费对账</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策略调优</a:t>
            </a:r>
            <a:endParaRPr lang="zh-CN" altLang="en-US" sz="1200" dirty="0">
              <a:solidFill>
                <a:srgbClr val="383838"/>
              </a:solidFill>
              <a:latin typeface="微软雅黑"/>
              <a:ea typeface="微软雅黑"/>
              <a:cs typeface="微软雅黑"/>
            </a:endParaRPr>
          </a:p>
        </p:txBody>
      </p:sp>
      <p:sp>
        <p:nvSpPr>
          <p:cNvPr id="276" name="textbox 2040"/>
          <p:cNvSpPr/>
          <p:nvPr/>
        </p:nvSpPr>
        <p:spPr>
          <a:xfrm>
            <a:off x="3728085" y="4476115"/>
            <a:ext cx="4756150" cy="184150"/>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200" b="1" dirty="0">
                <a:solidFill>
                  <a:srgbClr val="383838"/>
                </a:solidFill>
                <a:latin typeface="微软雅黑"/>
                <a:ea typeface="微软雅黑"/>
                <a:cs typeface="微软雅黑"/>
              </a:rPr>
              <a:t>风控与安全价值链：</a:t>
            </a:r>
            <a:r>
              <a:rPr lang="zh-CN" altLang="en-US" sz="1200" dirty="0">
                <a:solidFill>
                  <a:srgbClr val="383838"/>
                </a:solidFill>
                <a:latin typeface="微软雅黑"/>
                <a:ea typeface="微软雅黑"/>
                <a:cs typeface="微软雅黑"/>
              </a:rPr>
              <a:t>异常检测</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实时拦截</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根因分析</a:t>
            </a:r>
            <a:r>
              <a:rPr lang="en-US" altLang="en-US"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策略更新</a:t>
            </a:r>
            <a:endParaRPr lang="zh-CN" altLang="en-US" sz="1200" dirty="0">
              <a:solidFill>
                <a:srgbClr val="383838"/>
              </a:solidFill>
              <a:latin typeface="微软雅黑"/>
              <a:ea typeface="微软雅黑"/>
              <a:cs typeface="微软雅黑"/>
            </a:endParaRPr>
          </a:p>
        </p:txBody>
      </p:sp>
      <p:grpSp>
        <p:nvGrpSpPr>
          <p:cNvPr id="277" name="组合 276"/>
          <p:cNvGrpSpPr/>
          <p:nvPr/>
        </p:nvGrpSpPr>
        <p:grpSpPr>
          <a:xfrm rot="16200000">
            <a:off x="850088" y="4987925"/>
            <a:ext cx="135890" cy="130810"/>
            <a:chOff x="17908" y="2776"/>
            <a:chExt cx="214" cy="206"/>
          </a:xfrm>
        </p:grpSpPr>
        <p:cxnSp>
          <p:nvCxnSpPr>
            <p:cNvPr id="278" name="直接连接符 277"/>
            <p:cNvCxnSpPr/>
            <p:nvPr/>
          </p:nvCxnSpPr>
          <p:spPr>
            <a:xfrm>
              <a:off x="18107" y="2776"/>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279" name="直接连接符 278"/>
            <p:cNvCxnSpPr/>
            <p:nvPr/>
          </p:nvCxnSpPr>
          <p:spPr>
            <a:xfrm flipH="1">
              <a:off x="17908" y="2786"/>
              <a:ext cx="214"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nvGrpSpPr>
          <p:cNvPr id="280" name="组合 279"/>
          <p:cNvGrpSpPr/>
          <p:nvPr/>
        </p:nvGrpSpPr>
        <p:grpSpPr>
          <a:xfrm rot="10800000">
            <a:off x="845643" y="5307965"/>
            <a:ext cx="144145" cy="130810"/>
            <a:chOff x="17895" y="2780"/>
            <a:chExt cx="227" cy="206"/>
          </a:xfrm>
        </p:grpSpPr>
        <p:cxnSp>
          <p:nvCxnSpPr>
            <p:cNvPr id="281" name="直接连接符 280"/>
            <p:cNvCxnSpPr/>
            <p:nvPr/>
          </p:nvCxnSpPr>
          <p:spPr>
            <a:xfrm>
              <a:off x="18107" y="2780"/>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282" name="直接连接符 281"/>
            <p:cNvCxnSpPr/>
            <p:nvPr/>
          </p:nvCxnSpPr>
          <p:spPr>
            <a:xfrm flipH="1">
              <a:off x="17895" y="2786"/>
              <a:ext cx="227"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nvGrpSpPr>
          <p:cNvPr id="283" name="组合 282"/>
          <p:cNvGrpSpPr/>
          <p:nvPr/>
        </p:nvGrpSpPr>
        <p:grpSpPr>
          <a:xfrm rot="16200000">
            <a:off x="850088" y="5515610"/>
            <a:ext cx="135890" cy="130810"/>
            <a:chOff x="17908" y="2780"/>
            <a:chExt cx="214" cy="206"/>
          </a:xfrm>
        </p:grpSpPr>
        <p:cxnSp>
          <p:nvCxnSpPr>
            <p:cNvPr id="284" name="直接连接符 283"/>
            <p:cNvCxnSpPr/>
            <p:nvPr/>
          </p:nvCxnSpPr>
          <p:spPr>
            <a:xfrm>
              <a:off x="18107" y="2780"/>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285" name="直接连接符 284"/>
            <p:cNvCxnSpPr/>
            <p:nvPr/>
          </p:nvCxnSpPr>
          <p:spPr>
            <a:xfrm flipH="1">
              <a:off x="17908" y="2786"/>
              <a:ext cx="214"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nvGrpSpPr>
          <p:cNvPr id="286" name="组合 285"/>
          <p:cNvGrpSpPr/>
          <p:nvPr/>
        </p:nvGrpSpPr>
        <p:grpSpPr>
          <a:xfrm rot="10800000">
            <a:off x="847548" y="5838190"/>
            <a:ext cx="135890" cy="130810"/>
            <a:chOff x="17908" y="2780"/>
            <a:chExt cx="214" cy="206"/>
          </a:xfrm>
        </p:grpSpPr>
        <p:cxnSp>
          <p:nvCxnSpPr>
            <p:cNvPr id="287" name="直接连接符 286"/>
            <p:cNvCxnSpPr/>
            <p:nvPr/>
          </p:nvCxnSpPr>
          <p:spPr>
            <a:xfrm>
              <a:off x="18107" y="2780"/>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288" name="直接连接符 287"/>
            <p:cNvCxnSpPr/>
            <p:nvPr/>
          </p:nvCxnSpPr>
          <p:spPr>
            <a:xfrm flipH="1">
              <a:off x="17908" y="2786"/>
              <a:ext cx="214"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nvGrpSpPr>
          <p:cNvPr id="289" name="组合 288"/>
          <p:cNvGrpSpPr/>
          <p:nvPr/>
        </p:nvGrpSpPr>
        <p:grpSpPr>
          <a:xfrm rot="16200000">
            <a:off x="850088" y="6059805"/>
            <a:ext cx="135890" cy="130810"/>
            <a:chOff x="17908" y="2780"/>
            <a:chExt cx="214" cy="206"/>
          </a:xfrm>
        </p:grpSpPr>
        <p:cxnSp>
          <p:nvCxnSpPr>
            <p:cNvPr id="290" name="直接连接符 289"/>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91" name="直接连接符 290"/>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92" name="组合 291"/>
          <p:cNvGrpSpPr/>
          <p:nvPr/>
        </p:nvGrpSpPr>
        <p:grpSpPr>
          <a:xfrm rot="10800000">
            <a:off x="847548" y="6394450"/>
            <a:ext cx="135890" cy="130810"/>
            <a:chOff x="17908" y="2780"/>
            <a:chExt cx="214" cy="206"/>
          </a:xfrm>
        </p:grpSpPr>
        <p:cxnSp>
          <p:nvCxnSpPr>
            <p:cNvPr id="293" name="直接连接符 292"/>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294" name="直接连接符 293"/>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95" name="组合 294"/>
          <p:cNvGrpSpPr/>
          <p:nvPr/>
        </p:nvGrpSpPr>
        <p:grpSpPr>
          <a:xfrm>
            <a:off x="11367770" y="4984750"/>
            <a:ext cx="135890" cy="130810"/>
            <a:chOff x="17908" y="2780"/>
            <a:chExt cx="214" cy="206"/>
          </a:xfrm>
        </p:grpSpPr>
        <p:cxnSp>
          <p:nvCxnSpPr>
            <p:cNvPr id="296" name="直接连接符 295"/>
            <p:cNvCxnSpPr/>
            <p:nvPr/>
          </p:nvCxnSpPr>
          <p:spPr>
            <a:xfrm>
              <a:off x="18107" y="2780"/>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297" name="直接连接符 296"/>
            <p:cNvCxnSpPr/>
            <p:nvPr/>
          </p:nvCxnSpPr>
          <p:spPr>
            <a:xfrm flipH="1">
              <a:off x="17908" y="2786"/>
              <a:ext cx="214"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nvGrpSpPr>
          <p:cNvPr id="298" name="组合 297"/>
          <p:cNvGrpSpPr/>
          <p:nvPr/>
        </p:nvGrpSpPr>
        <p:grpSpPr>
          <a:xfrm rot="5400000">
            <a:off x="11370945" y="5306695"/>
            <a:ext cx="135890" cy="130810"/>
            <a:chOff x="17908" y="2780"/>
            <a:chExt cx="214" cy="206"/>
          </a:xfrm>
        </p:grpSpPr>
        <p:cxnSp>
          <p:nvCxnSpPr>
            <p:cNvPr id="299" name="直接连接符 298"/>
            <p:cNvCxnSpPr/>
            <p:nvPr/>
          </p:nvCxnSpPr>
          <p:spPr>
            <a:xfrm>
              <a:off x="18107" y="2780"/>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300" name="直接连接符 299"/>
            <p:cNvCxnSpPr/>
            <p:nvPr/>
          </p:nvCxnSpPr>
          <p:spPr>
            <a:xfrm flipH="1">
              <a:off x="17908" y="2786"/>
              <a:ext cx="214"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nvGrpSpPr>
          <p:cNvPr id="307" name="组合 306"/>
          <p:cNvGrpSpPr/>
          <p:nvPr/>
        </p:nvGrpSpPr>
        <p:grpSpPr>
          <a:xfrm>
            <a:off x="11376025" y="5516245"/>
            <a:ext cx="136525" cy="455295"/>
            <a:chOff x="18071" y="8050"/>
            <a:chExt cx="215" cy="717"/>
          </a:xfrm>
        </p:grpSpPr>
        <p:grpSp>
          <p:nvGrpSpPr>
            <p:cNvPr id="301" name="组合 300"/>
            <p:cNvGrpSpPr/>
            <p:nvPr/>
          </p:nvGrpSpPr>
          <p:grpSpPr>
            <a:xfrm>
              <a:off x="18072" y="8050"/>
              <a:ext cx="214" cy="206"/>
              <a:chOff x="17908" y="2780"/>
              <a:chExt cx="214" cy="206"/>
            </a:xfrm>
          </p:grpSpPr>
          <p:cxnSp>
            <p:nvCxnSpPr>
              <p:cNvPr id="302" name="直接连接符 301"/>
              <p:cNvCxnSpPr/>
              <p:nvPr/>
            </p:nvCxnSpPr>
            <p:spPr>
              <a:xfrm>
                <a:off x="18107" y="2780"/>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303" name="直接连接符 302"/>
              <p:cNvCxnSpPr/>
              <p:nvPr/>
            </p:nvCxnSpPr>
            <p:spPr>
              <a:xfrm flipH="1">
                <a:off x="17908" y="2786"/>
                <a:ext cx="214"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nvGrpSpPr>
            <p:cNvPr id="304" name="组合 303"/>
            <p:cNvGrpSpPr/>
            <p:nvPr/>
          </p:nvGrpSpPr>
          <p:grpSpPr>
            <a:xfrm rot="5400000">
              <a:off x="18067" y="8557"/>
              <a:ext cx="214" cy="206"/>
              <a:chOff x="17908" y="2780"/>
              <a:chExt cx="214" cy="206"/>
            </a:xfrm>
          </p:grpSpPr>
          <p:cxnSp>
            <p:nvCxnSpPr>
              <p:cNvPr id="305" name="直接连接符 304"/>
              <p:cNvCxnSpPr/>
              <p:nvPr/>
            </p:nvCxnSpPr>
            <p:spPr>
              <a:xfrm>
                <a:off x="18107" y="2780"/>
                <a:ext cx="0" cy="206"/>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cxnSp>
            <p:nvCxnSpPr>
              <p:cNvPr id="306" name="直接连接符 305"/>
              <p:cNvCxnSpPr/>
              <p:nvPr/>
            </p:nvCxnSpPr>
            <p:spPr>
              <a:xfrm flipH="1">
                <a:off x="17908" y="2786"/>
                <a:ext cx="214"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grpSp>
      <p:grpSp>
        <p:nvGrpSpPr>
          <p:cNvPr id="308" name="组合 307"/>
          <p:cNvGrpSpPr/>
          <p:nvPr/>
        </p:nvGrpSpPr>
        <p:grpSpPr>
          <a:xfrm>
            <a:off x="11373485" y="6070600"/>
            <a:ext cx="136525" cy="455295"/>
            <a:chOff x="18071" y="8050"/>
            <a:chExt cx="215" cy="717"/>
          </a:xfrm>
        </p:grpSpPr>
        <p:grpSp>
          <p:nvGrpSpPr>
            <p:cNvPr id="309" name="组合 308"/>
            <p:cNvGrpSpPr/>
            <p:nvPr/>
          </p:nvGrpSpPr>
          <p:grpSpPr>
            <a:xfrm>
              <a:off x="18072" y="8050"/>
              <a:ext cx="214" cy="206"/>
              <a:chOff x="17908" y="2780"/>
              <a:chExt cx="214" cy="206"/>
            </a:xfrm>
          </p:grpSpPr>
          <p:cxnSp>
            <p:nvCxnSpPr>
              <p:cNvPr id="310" name="直接连接符 309"/>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311" name="直接连接符 310"/>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312" name="组合 311"/>
            <p:cNvGrpSpPr/>
            <p:nvPr/>
          </p:nvGrpSpPr>
          <p:grpSpPr>
            <a:xfrm rot="5400000">
              <a:off x="18067" y="8557"/>
              <a:ext cx="214" cy="206"/>
              <a:chOff x="17908" y="2780"/>
              <a:chExt cx="214" cy="206"/>
            </a:xfrm>
          </p:grpSpPr>
          <p:cxnSp>
            <p:nvCxnSpPr>
              <p:cNvPr id="313" name="直接连接符 312"/>
              <p:cNvCxnSpPr/>
              <p:nvPr/>
            </p:nvCxnSpPr>
            <p:spPr>
              <a:xfrm>
                <a:off x="18107" y="2780"/>
                <a:ext cx="0" cy="206"/>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cxnSp>
            <p:nvCxnSpPr>
              <p:cNvPr id="314" name="直接连接符 313"/>
              <p:cNvCxnSpPr/>
              <p:nvPr/>
            </p:nvCxnSpPr>
            <p:spPr>
              <a:xfrm flipH="1">
                <a:off x="17908" y="2786"/>
                <a:ext cx="214"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sp>
        <p:nvSpPr>
          <p:cNvPr id="315" name="textbox 2040"/>
          <p:cNvSpPr/>
          <p:nvPr/>
        </p:nvSpPr>
        <p:spPr>
          <a:xfrm>
            <a:off x="1018540" y="5090160"/>
            <a:ext cx="576580" cy="24574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600" b="1" dirty="0">
                <a:solidFill>
                  <a:srgbClr val="0042FF"/>
                </a:solidFill>
                <a:latin typeface="微软雅黑"/>
                <a:ea typeface="微软雅黑"/>
                <a:cs typeface="微软雅黑"/>
              </a:rPr>
              <a:t>流程</a:t>
            </a:r>
            <a:endParaRPr lang="zh-CN" altLang="en-US" sz="1600" b="1" dirty="0">
              <a:solidFill>
                <a:srgbClr val="0042FF"/>
              </a:solidFill>
              <a:latin typeface="微软雅黑"/>
              <a:ea typeface="微软雅黑"/>
              <a:cs typeface="微软雅黑"/>
            </a:endParaRPr>
          </a:p>
        </p:txBody>
      </p:sp>
      <p:sp>
        <p:nvSpPr>
          <p:cNvPr id="316" name="textbox 2040"/>
          <p:cNvSpPr/>
          <p:nvPr/>
        </p:nvSpPr>
        <p:spPr>
          <a:xfrm>
            <a:off x="1018540" y="5626735"/>
            <a:ext cx="576580" cy="24574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600" b="1" dirty="0">
                <a:solidFill>
                  <a:srgbClr val="0042FF"/>
                </a:solidFill>
                <a:latin typeface="微软雅黑"/>
                <a:ea typeface="微软雅黑"/>
                <a:cs typeface="微软雅黑"/>
              </a:rPr>
              <a:t>组织</a:t>
            </a:r>
            <a:endParaRPr lang="zh-CN" altLang="en-US" sz="1600" b="1" dirty="0">
              <a:solidFill>
                <a:srgbClr val="0042FF"/>
              </a:solidFill>
              <a:latin typeface="微软雅黑"/>
              <a:ea typeface="微软雅黑"/>
              <a:cs typeface="微软雅黑"/>
            </a:endParaRPr>
          </a:p>
        </p:txBody>
      </p:sp>
      <p:sp>
        <p:nvSpPr>
          <p:cNvPr id="317" name="textbox 2040"/>
          <p:cNvSpPr/>
          <p:nvPr/>
        </p:nvSpPr>
        <p:spPr>
          <a:xfrm>
            <a:off x="1018540" y="6161405"/>
            <a:ext cx="576580" cy="24574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600" b="1" dirty="0">
                <a:solidFill>
                  <a:srgbClr val="0042FF"/>
                </a:solidFill>
                <a:latin typeface="微软雅黑"/>
                <a:ea typeface="微软雅黑"/>
                <a:cs typeface="微软雅黑"/>
              </a:rPr>
              <a:t>技术</a:t>
            </a:r>
            <a:endParaRPr lang="zh-CN" altLang="en-US" sz="1600" b="1" dirty="0">
              <a:solidFill>
                <a:srgbClr val="0042FF"/>
              </a:solidFill>
              <a:latin typeface="微软雅黑"/>
              <a:ea typeface="微软雅黑"/>
              <a:cs typeface="微软雅黑"/>
            </a:endParaRPr>
          </a:p>
        </p:txBody>
      </p:sp>
      <p:sp>
        <p:nvSpPr>
          <p:cNvPr id="318" name="textbox 2040"/>
          <p:cNvSpPr/>
          <p:nvPr/>
        </p:nvSpPr>
        <p:spPr>
          <a:xfrm>
            <a:off x="1057910" y="1964690"/>
            <a:ext cx="576580" cy="492125"/>
          </a:xfrm>
          <a:prstGeom prst="rect">
            <a:avLst/>
          </a:prstGeom>
        </p:spPr>
        <p:txBody>
          <a:bodyPr vert="horz" wrap="square" lIns="0" tIns="0" rIns="0" bIns="0">
            <a:spAutoFit/>
          </a:bodyPr>
          <a:lstStyle/>
          <a:p>
            <a:pPr algn="ctr" rtl="0" eaLnBrk="0">
              <a:defRPr>
                <a:latin typeface="微软雅黑"/>
                <a:ea typeface="微软雅黑"/>
                <a:cs typeface="微软雅黑"/>
              </a:defRPr>
            </a:pPr>
            <a:r>
              <a:rPr lang="zh-CN" altLang="en-US" sz="1600" b="1" dirty="0">
                <a:solidFill>
                  <a:srgbClr val="0042FF"/>
                </a:solidFill>
                <a:latin typeface="微软雅黑"/>
                <a:ea typeface="微软雅黑"/>
                <a:cs typeface="微软雅黑"/>
              </a:rPr>
              <a:t>政策指引</a:t>
            </a:r>
            <a:endParaRPr lang="zh-CN" altLang="en-US" sz="1600" b="1" dirty="0">
              <a:solidFill>
                <a:srgbClr val="0042FF"/>
              </a:solidFill>
              <a:latin typeface="微软雅黑"/>
              <a:ea typeface="微软雅黑"/>
              <a:cs typeface="微软雅黑"/>
            </a:endParaRPr>
          </a:p>
        </p:txBody>
      </p:sp>
      <p:sp>
        <p:nvSpPr>
          <p:cNvPr id="320" name="矩形 319"/>
          <p:cNvSpPr/>
          <p:nvPr/>
        </p:nvSpPr>
        <p:spPr>
          <a:xfrm>
            <a:off x="4251250" y="5601335"/>
            <a:ext cx="2123440" cy="276225"/>
          </a:xfrm>
          <a:prstGeom prst="rect">
            <a:avLst/>
          </a:prstGeom>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数据产品经理</a:t>
            </a:r>
            <a:endParaRPr lang="zh-CN" altLang="en-US" sz="1400">
              <a:solidFill>
                <a:srgbClr val="FFFFFF"/>
              </a:solidFill>
              <a:latin typeface="微软雅黑"/>
              <a:ea typeface="微软雅黑"/>
              <a:cs typeface="微软雅黑"/>
              <a:sym typeface="微软雅黑"/>
            </a:endParaRPr>
          </a:p>
        </p:txBody>
      </p:sp>
      <p:sp>
        <p:nvSpPr>
          <p:cNvPr id="321" name="矩形 320"/>
          <p:cNvSpPr/>
          <p:nvPr/>
        </p:nvSpPr>
        <p:spPr>
          <a:xfrm>
            <a:off x="9257590" y="5601335"/>
            <a:ext cx="2123440" cy="276225"/>
          </a:xfrm>
          <a:prstGeom prst="rect">
            <a:avLst/>
          </a:prstGeom>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安全与合规组</a:t>
            </a:r>
            <a:endParaRPr lang="zh-CN" altLang="en-US" sz="1400">
              <a:solidFill>
                <a:srgbClr val="FFFFFF"/>
              </a:solidFill>
              <a:latin typeface="微软雅黑"/>
              <a:ea typeface="微软雅黑"/>
              <a:cs typeface="微软雅黑"/>
              <a:sym typeface="微软雅黑"/>
            </a:endParaRPr>
          </a:p>
        </p:txBody>
      </p:sp>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3"/>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 name="textbox 524"/>
          <p:cNvSpPr/>
          <p:nvPr/>
        </p:nvSpPr>
        <p:spPr>
          <a:xfrm>
            <a:off x="1111885" y="4984750"/>
            <a:ext cx="1922400" cy="812800"/>
          </a:xfrm>
          <a:prstGeom prst="rect">
            <a:avLst/>
          </a:prstGeom>
          <a:solidFill>
            <a:srgbClr val="3368FF">
              <a:alpha val="5000"/>
            </a:srgbClr>
          </a:solidFill>
          <a:ln>
            <a:solidFill>
              <a:srgbClr val="3368FF"/>
            </a:solidFill>
          </a:ln>
        </p:spPr>
        <p:txBody>
          <a:bodyPr vert="horz" wrap="square" lIns="0" tIns="0" rIns="0" bIns="0" anchor="b" anchorCtr="0"/>
          <a:lstStyle/>
          <a:p>
            <a:pPr algn="ctr" eaLnBrk="0">
              <a:lnSpc>
                <a:spcPct val="10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a:p>
            <a:pPr algn="ctr" eaLnBrk="0">
              <a:lnSpc>
                <a:spcPct val="10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品牌客户战略分析框架</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318" name="直线连接符 128"/>
          <p:cNvCxnSpPr/>
          <p:nvPr/>
        </p:nvCxnSpPr>
        <p:spPr>
          <a:xfrm flipV="1">
            <a:off x="1045845" y="1142365"/>
            <a:ext cx="5356860" cy="725805"/>
          </a:xfrm>
          <a:prstGeom prst="line">
            <a:avLst/>
          </a:prstGeom>
          <a:noFill/>
          <a:ln w="63500" cap="rnd" cmpd="sng" algn="ctr">
            <a:gradFill>
              <a:gsLst>
                <a:gs pos="100000">
                  <a:srgbClr val="0042FF"/>
                </a:gs>
                <a:gs pos="0">
                  <a:srgbClr val="3368FF"/>
                </a:gs>
              </a:gsLst>
              <a:lin ang="5400000" scaled="1"/>
            </a:gradFill>
            <a:prstDash val="solid"/>
            <a:round/>
          </a:ln>
          <a:effectLst/>
        </p:spPr>
      </p:cxnSp>
      <p:cxnSp>
        <p:nvCxnSpPr>
          <p:cNvPr id="319" name="直线连接符 133"/>
          <p:cNvCxnSpPr/>
          <p:nvPr/>
        </p:nvCxnSpPr>
        <p:spPr>
          <a:xfrm flipH="1" flipV="1">
            <a:off x="6376670" y="1142365"/>
            <a:ext cx="5291455" cy="722630"/>
          </a:xfrm>
          <a:prstGeom prst="line">
            <a:avLst/>
          </a:prstGeom>
          <a:noFill/>
          <a:ln w="63500" cap="rnd" cmpd="sng" algn="ctr">
            <a:gradFill>
              <a:gsLst>
                <a:gs pos="100000">
                  <a:srgbClr val="0042FF"/>
                </a:gs>
                <a:gs pos="0">
                  <a:srgbClr val="3368FF"/>
                </a:gs>
              </a:gsLst>
              <a:lin ang="5400000" scaled="1"/>
            </a:gradFill>
            <a:prstDash val="solid"/>
            <a:round/>
          </a:ln>
          <a:effectLst/>
        </p:spPr>
      </p:cxnSp>
      <p:sp>
        <p:nvSpPr>
          <p:cNvPr id="320" name="矩形 319"/>
          <p:cNvSpPr/>
          <p:nvPr/>
        </p:nvSpPr>
        <p:spPr>
          <a:xfrm>
            <a:off x="5049520" y="1430020"/>
            <a:ext cx="2491105" cy="370205"/>
          </a:xfrm>
          <a:prstGeom prst="rect">
            <a:avLst/>
          </a:prstGeom>
          <a:gradFill>
            <a:gsLst>
              <a:gs pos="0">
                <a:srgbClr val="3368FF"/>
              </a:gs>
              <a:gs pos="100000">
                <a:srgbClr val="0042FF"/>
              </a:gs>
            </a:gsLst>
            <a:lin ang="0" scaled="0"/>
          </a:gradFill>
          <a:ln w="12700" cap="flat" cmpd="sng" algn="ctr">
            <a:noFill/>
            <a:prstDash val="solid"/>
            <a:miter lim="800000"/>
          </a:ln>
          <a:effectLst/>
        </p:spPr>
        <p:txBody>
          <a:bodyPr rtlCol="0" anchor="ctr" lIns="0" rIns="0" tIns="0" bIns="0"/>
          <a:lstStyle/>
          <a:p>
            <a:pPr algn="ctr">
              <a:defRPr>
                <a:solidFill>
                  <a:srgbClr val="FFFFFF"/>
                </a:solidFill>
                <a:latin typeface="微软雅黑"/>
                <a:ea typeface="微软雅黑"/>
                <a:cs typeface="微软雅黑"/>
              </a:defRPr>
            </a:pPr>
            <a:r>
              <a:rPr kumimoji="1" lang="zh-CN" altLang="en-US" dirty="0">
                <a:solidFill>
                  <a:srgbClr val="FFFFFF"/>
                </a:solidFill>
                <a:latin typeface="微软雅黑"/>
                <a:ea typeface="微软雅黑"/>
                <a:cs typeface="微软雅黑"/>
              </a:rPr>
              <a:t>品牌客户战略分析</a:t>
            </a:r>
            <a:endParaRPr kumimoji="1" lang="zh-CN" altLang="en-US" dirty="0">
              <a:solidFill>
                <a:srgbClr val="FFFFFF"/>
              </a:solidFill>
              <a:latin typeface="微软雅黑"/>
              <a:ea typeface="微软雅黑"/>
              <a:cs typeface="微软雅黑"/>
            </a:endParaRPr>
          </a:p>
        </p:txBody>
      </p:sp>
      <p:cxnSp>
        <p:nvCxnSpPr>
          <p:cNvPr id="321" name="直线箭头连接符 135"/>
          <p:cNvCxnSpPr/>
          <p:nvPr/>
        </p:nvCxnSpPr>
        <p:spPr>
          <a:xfrm flipV="1">
            <a:off x="1087755" y="1934845"/>
            <a:ext cx="10422255" cy="0"/>
          </a:xfrm>
          <a:prstGeom prst="straightConnector1">
            <a:avLst/>
          </a:prstGeom>
          <a:noFill/>
          <a:ln w="15875" cap="flat" cmpd="sng" algn="ctr">
            <a:solidFill>
              <a:srgbClr val="0042FF"/>
            </a:solidFill>
            <a:prstDash val="solid"/>
            <a:miter lim="800000"/>
            <a:headEnd type="triangle"/>
            <a:tailEnd type="triangle"/>
          </a:ln>
          <a:effectLst/>
        </p:spPr>
      </p:cxnSp>
      <p:cxnSp>
        <p:nvCxnSpPr>
          <p:cNvPr id="357" name="Grey bottom line"/>
          <p:cNvCxnSpPr/>
          <p:nvPr/>
        </p:nvCxnSpPr>
        <p:spPr>
          <a:xfrm>
            <a:off x="1099820" y="2692400"/>
            <a:ext cx="10410190" cy="0"/>
          </a:xfrm>
          <a:prstGeom prst="line">
            <a:avLst/>
          </a:prstGeom>
          <a:noFill/>
          <a:ln w="6350" cap="flat" cmpd="sng" algn="ctr">
            <a:solidFill>
              <a:srgbClr val="DCDCDC"/>
            </a:solidFill>
            <a:prstDash val="lgDash"/>
            <a:miter lim="800000"/>
          </a:ln>
          <a:effectLst/>
        </p:spPr>
      </p:cxnSp>
      <p:cxnSp>
        <p:nvCxnSpPr>
          <p:cNvPr id="376" name="Grey bottom line"/>
          <p:cNvCxnSpPr/>
          <p:nvPr/>
        </p:nvCxnSpPr>
        <p:spPr>
          <a:xfrm>
            <a:off x="1099820" y="3763010"/>
            <a:ext cx="10410190" cy="0"/>
          </a:xfrm>
          <a:prstGeom prst="line">
            <a:avLst/>
          </a:prstGeom>
          <a:noFill/>
          <a:ln w="6350" cap="flat" cmpd="sng" algn="ctr">
            <a:solidFill>
              <a:srgbClr val="DCDCDC"/>
            </a:solidFill>
            <a:prstDash val="lgDash"/>
            <a:miter lim="800000"/>
          </a:ln>
          <a:effectLst/>
        </p:spPr>
      </p:cxnSp>
      <p:cxnSp>
        <p:nvCxnSpPr>
          <p:cNvPr id="377" name="Grey bottom line"/>
          <p:cNvCxnSpPr/>
          <p:nvPr/>
        </p:nvCxnSpPr>
        <p:spPr>
          <a:xfrm>
            <a:off x="1080135" y="4824095"/>
            <a:ext cx="10410190" cy="0"/>
          </a:xfrm>
          <a:prstGeom prst="line">
            <a:avLst/>
          </a:prstGeom>
          <a:noFill/>
          <a:ln w="6350" cap="flat" cmpd="sng" algn="ctr">
            <a:solidFill>
              <a:srgbClr val="DCDCDC"/>
            </a:solidFill>
            <a:prstDash val="lgDash"/>
            <a:miter lim="800000"/>
          </a:ln>
          <a:effectLst/>
        </p:spPr>
      </p:cxnSp>
      <p:sp>
        <p:nvSpPr>
          <p:cNvPr id="16" name="Disclaimer"/>
          <p:cNvSpPr/>
          <p:nvPr/>
        </p:nvSpPr>
        <p:spPr>
          <a:xfrm>
            <a:off x="1622552" y="4900295"/>
            <a:ext cx="901065" cy="226695"/>
          </a:xfrm>
          <a:prstGeom prst="roundRect">
            <a:avLst/>
          </a:prstGeom>
          <a:solidFill>
            <a:srgbClr val="FFFFFF"/>
          </a:solidFill>
          <a:ln>
            <a:solidFill>
              <a:srgbClr val="3368FF"/>
            </a:solidFill>
          </a:ln>
        </p:spPr>
        <p:txBody>
          <a:bodyPr vert="horz" wrap="square" lIns="0" tIns="0" rIns="0" bIns="0" rtlCol="0" anchor="b" anchorCtr="0">
            <a:noAutofit/>
          </a:bodyPr>
          <a:lstStyle/>
          <a:p>
            <a:pPr lvl="0" algn="ctr" eaLnBrk="0">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获客</a:t>
            </a:r>
            <a:endParaRPr lang="zh-CN" altLang="en-US" sz="1200" b="1" dirty="0">
              <a:solidFill>
                <a:srgbClr val="0042FF"/>
              </a:solidFill>
              <a:latin typeface="微软雅黑"/>
              <a:ea typeface="微软雅黑"/>
              <a:cs typeface="微软雅黑"/>
              <a:sym typeface="微软雅黑"/>
            </a:endParaRPr>
          </a:p>
        </p:txBody>
      </p:sp>
      <p:sp>
        <p:nvSpPr>
          <p:cNvPr id="485" name="Text Box 1030"/>
          <p:cNvSpPr txBox="1">
            <a:spLocks noChangeArrowheads="1"/>
          </p:cNvSpPr>
          <p:nvPr/>
        </p:nvSpPr>
        <p:spPr bwMode="auto">
          <a:xfrm>
            <a:off x="1143635" y="5152390"/>
            <a:ext cx="1773555" cy="64516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indent="0" algn="ctr" eaLnBrk="1" fontAlgn="auto" hangingPunct="1">
              <a:lnSpc>
                <a:spcPct val="100000"/>
              </a:lnSpc>
              <a:defRPr>
                <a:latin typeface="微软雅黑"/>
                <a:ea typeface="微软雅黑"/>
                <a:cs typeface="微软雅黑"/>
              </a:defRPr>
            </a:pPr>
            <a:r>
              <a:rPr lang="zh-CN" sz="1200" dirty="0">
                <a:solidFill>
                  <a:srgbClr val="383838"/>
                </a:solidFill>
                <a:latin typeface="微软雅黑"/>
                <a:ea typeface="微软雅黑"/>
                <a:cs typeface="微软雅黑"/>
              </a:rPr>
              <a:t>通过钩子产品，根据客户画像需求点，精准推送客户活动</a:t>
            </a:r>
            <a:endParaRPr lang="zh-CN" sz="1200" dirty="0">
              <a:solidFill>
                <a:srgbClr val="383838"/>
              </a:solidFill>
              <a:latin typeface="微软雅黑"/>
              <a:ea typeface="微软雅黑"/>
              <a:cs typeface="微软雅黑"/>
            </a:endParaRPr>
          </a:p>
        </p:txBody>
      </p:sp>
      <p:grpSp>
        <p:nvGrpSpPr>
          <p:cNvPr id="340" name="组合 339"/>
          <p:cNvGrpSpPr/>
          <p:nvPr/>
        </p:nvGrpSpPr>
        <p:grpSpPr>
          <a:xfrm>
            <a:off x="1779270" y="5799455"/>
            <a:ext cx="514350" cy="209550"/>
            <a:chOff x="2802" y="9133"/>
            <a:chExt cx="810" cy="330"/>
          </a:xfrm>
        </p:grpSpPr>
        <p:cxnSp>
          <p:nvCxnSpPr>
            <p:cNvPr id="332" name="直线箭头连接符 156"/>
            <p:cNvCxnSpPr/>
            <p:nvPr/>
          </p:nvCxnSpPr>
          <p:spPr>
            <a:xfrm>
              <a:off x="2802" y="9133"/>
              <a:ext cx="0" cy="330"/>
            </a:xfrm>
            <a:prstGeom prst="straightConnector1">
              <a:avLst/>
            </a:prstGeom>
            <a:noFill/>
            <a:ln w="6350" cap="flat" cmpd="sng" algn="ctr">
              <a:solidFill>
                <a:srgbClr val="3368FF"/>
              </a:solidFill>
              <a:prstDash val="solid"/>
              <a:miter lim="800000"/>
              <a:headEnd type="triangle"/>
              <a:tailEnd type="triangle"/>
            </a:ln>
            <a:effectLst/>
          </p:spPr>
        </p:cxnSp>
        <p:cxnSp>
          <p:nvCxnSpPr>
            <p:cNvPr id="499" name="直线箭头连接符 156"/>
            <p:cNvCxnSpPr/>
            <p:nvPr/>
          </p:nvCxnSpPr>
          <p:spPr>
            <a:xfrm>
              <a:off x="3612" y="9133"/>
              <a:ext cx="0" cy="330"/>
            </a:xfrm>
            <a:prstGeom prst="straightConnector1">
              <a:avLst/>
            </a:prstGeom>
            <a:noFill/>
            <a:ln w="6350" cap="flat" cmpd="sng" algn="ctr">
              <a:solidFill>
                <a:srgbClr val="3368FF"/>
              </a:solidFill>
              <a:prstDash val="solid"/>
              <a:miter lim="800000"/>
              <a:headEnd type="triangle"/>
              <a:tailEnd type="triangle"/>
            </a:ln>
            <a:effectLst/>
          </p:spPr>
        </p:cxnSp>
      </p:grpSp>
      <p:sp>
        <p:nvSpPr>
          <p:cNvPr id="525" name="任意多边形: 形状 25"/>
          <p:cNvSpPr/>
          <p:nvPr/>
        </p:nvSpPr>
        <p:spPr bwMode="auto">
          <a:xfrm>
            <a:off x="1153795" y="2803525"/>
            <a:ext cx="10315575" cy="856615"/>
          </a:xfrm>
          <a:custGeom>
            <a:avLst/>
            <a:gdLst>
              <a:gd name="connsiteX0" fmla="*/ 0 w 14068703"/>
              <a:gd name="connsiteY0" fmla="*/ 961747 h 1089273"/>
              <a:gd name="connsiteX1" fmla="*/ 1301858 w 14068703"/>
              <a:gd name="connsiteY1" fmla="*/ 450303 h 1089273"/>
              <a:gd name="connsiteX2" fmla="*/ 2758698 w 14068703"/>
              <a:gd name="connsiteY2" fmla="*/ 868757 h 1089273"/>
              <a:gd name="connsiteX3" fmla="*/ 5222929 w 14068703"/>
              <a:gd name="connsiteY3" fmla="*/ 852 h 1089273"/>
              <a:gd name="connsiteX4" fmla="*/ 7640664 w 14068703"/>
              <a:gd name="connsiteY4" fmla="*/ 1054737 h 1089273"/>
              <a:gd name="connsiteX5" fmla="*/ 10352868 w 14068703"/>
              <a:gd name="connsiteY5" fmla="*/ 279821 h 1089273"/>
              <a:gd name="connsiteX6" fmla="*/ 13669505 w 14068703"/>
              <a:gd name="connsiteY6" fmla="*/ 1008242 h 1089273"/>
              <a:gd name="connsiteX7" fmla="*/ 13886481 w 14068703"/>
              <a:gd name="connsiteY7" fmla="*/ 1039238 h 1089273"/>
              <a:gd name="connsiteX0-1" fmla="*/ 0 w 14208891"/>
              <a:gd name="connsiteY0-2" fmla="*/ 961747 h 1056656"/>
              <a:gd name="connsiteX1-3" fmla="*/ 1301858 w 14208891"/>
              <a:gd name="connsiteY1-4" fmla="*/ 450303 h 1056656"/>
              <a:gd name="connsiteX2-5" fmla="*/ 2758698 w 14208891"/>
              <a:gd name="connsiteY2-6" fmla="*/ 868757 h 1056656"/>
              <a:gd name="connsiteX3-7" fmla="*/ 5222929 w 14208891"/>
              <a:gd name="connsiteY3-8" fmla="*/ 852 h 1056656"/>
              <a:gd name="connsiteX4-9" fmla="*/ 7640664 w 14208891"/>
              <a:gd name="connsiteY4-10" fmla="*/ 1054737 h 1056656"/>
              <a:gd name="connsiteX5-11" fmla="*/ 10352868 w 14208891"/>
              <a:gd name="connsiteY5-12" fmla="*/ 279821 h 1056656"/>
              <a:gd name="connsiteX6-13" fmla="*/ 13669505 w 14208891"/>
              <a:gd name="connsiteY6-14" fmla="*/ 1008242 h 1056656"/>
              <a:gd name="connsiteX7-15" fmla="*/ 14097888 w 14208891"/>
              <a:gd name="connsiteY7-16" fmla="*/ 728065 h 1056656"/>
              <a:gd name="connsiteX0-17" fmla="*/ 0 w 14097888"/>
              <a:gd name="connsiteY0-18" fmla="*/ 961747 h 1056656"/>
              <a:gd name="connsiteX1-19" fmla="*/ 1301858 w 14097888"/>
              <a:gd name="connsiteY1-20" fmla="*/ 450303 h 1056656"/>
              <a:gd name="connsiteX2-21" fmla="*/ 2758698 w 14097888"/>
              <a:gd name="connsiteY2-22" fmla="*/ 868757 h 1056656"/>
              <a:gd name="connsiteX3-23" fmla="*/ 5222929 w 14097888"/>
              <a:gd name="connsiteY3-24" fmla="*/ 852 h 1056656"/>
              <a:gd name="connsiteX4-25" fmla="*/ 7640664 w 14097888"/>
              <a:gd name="connsiteY4-26" fmla="*/ 1054737 h 1056656"/>
              <a:gd name="connsiteX5-27" fmla="*/ 10352868 w 14097888"/>
              <a:gd name="connsiteY5-28" fmla="*/ 279821 h 1056656"/>
              <a:gd name="connsiteX6-29" fmla="*/ 13669505 w 14097888"/>
              <a:gd name="connsiteY6-30" fmla="*/ 1008242 h 1056656"/>
              <a:gd name="connsiteX7-31" fmla="*/ 14097888 w 14097888"/>
              <a:gd name="connsiteY7-32" fmla="*/ 728065 h 1056656"/>
              <a:gd name="connsiteX0-33" fmla="*/ 0 w 14097888"/>
              <a:gd name="connsiteY0-34" fmla="*/ 961747 h 1056662"/>
              <a:gd name="connsiteX1-35" fmla="*/ 1301858 w 14097888"/>
              <a:gd name="connsiteY1-36" fmla="*/ 450303 h 1056662"/>
              <a:gd name="connsiteX2-37" fmla="*/ 2758698 w 14097888"/>
              <a:gd name="connsiteY2-38" fmla="*/ 868757 h 1056662"/>
              <a:gd name="connsiteX3-39" fmla="*/ 5222929 w 14097888"/>
              <a:gd name="connsiteY3-40" fmla="*/ 852 h 1056662"/>
              <a:gd name="connsiteX4-41" fmla="*/ 7640664 w 14097888"/>
              <a:gd name="connsiteY4-42" fmla="*/ 1054737 h 1056662"/>
              <a:gd name="connsiteX5-43" fmla="*/ 10352868 w 14097888"/>
              <a:gd name="connsiteY5-44" fmla="*/ 279821 h 1056662"/>
              <a:gd name="connsiteX6-45" fmla="*/ 13067806 w 14097888"/>
              <a:gd name="connsiteY6-46" fmla="*/ 991865 h 1056662"/>
              <a:gd name="connsiteX7-47" fmla="*/ 14097888 w 14097888"/>
              <a:gd name="connsiteY7-48" fmla="*/ 728065 h 1056662"/>
              <a:gd name="connsiteX0-49" fmla="*/ 0 w 14097888"/>
              <a:gd name="connsiteY0-50" fmla="*/ 961747 h 1056195"/>
              <a:gd name="connsiteX1-51" fmla="*/ 1301858 w 14097888"/>
              <a:gd name="connsiteY1-52" fmla="*/ 450303 h 1056195"/>
              <a:gd name="connsiteX2-53" fmla="*/ 2758698 w 14097888"/>
              <a:gd name="connsiteY2-54" fmla="*/ 868757 h 1056195"/>
              <a:gd name="connsiteX3-55" fmla="*/ 5222929 w 14097888"/>
              <a:gd name="connsiteY3-56" fmla="*/ 852 h 1056195"/>
              <a:gd name="connsiteX4-57" fmla="*/ 7640664 w 14097888"/>
              <a:gd name="connsiteY4-58" fmla="*/ 1054737 h 1056195"/>
              <a:gd name="connsiteX5-59" fmla="*/ 10515489 w 14097888"/>
              <a:gd name="connsiteY5-60" fmla="*/ 247067 h 1056195"/>
              <a:gd name="connsiteX6-61" fmla="*/ 13067806 w 14097888"/>
              <a:gd name="connsiteY6-62" fmla="*/ 991865 h 1056195"/>
              <a:gd name="connsiteX7-63" fmla="*/ 14097888 w 14097888"/>
              <a:gd name="connsiteY7-64" fmla="*/ 728065 h 1056195"/>
              <a:gd name="connsiteX0-65" fmla="*/ 0 w 14097888"/>
              <a:gd name="connsiteY0-66" fmla="*/ 961747 h 1055945"/>
              <a:gd name="connsiteX1-67" fmla="*/ 1301858 w 14097888"/>
              <a:gd name="connsiteY1-68" fmla="*/ 450303 h 1055945"/>
              <a:gd name="connsiteX2-69" fmla="*/ 2758698 w 14097888"/>
              <a:gd name="connsiteY2-70" fmla="*/ 868757 h 1055945"/>
              <a:gd name="connsiteX3-71" fmla="*/ 5222929 w 14097888"/>
              <a:gd name="connsiteY3-72" fmla="*/ 852 h 1055945"/>
              <a:gd name="connsiteX4-73" fmla="*/ 7640664 w 14097888"/>
              <a:gd name="connsiteY4-74" fmla="*/ 1054737 h 1055945"/>
              <a:gd name="connsiteX5-75" fmla="*/ 10515489 w 14097888"/>
              <a:gd name="connsiteY5-76" fmla="*/ 247067 h 1055945"/>
              <a:gd name="connsiteX6-77" fmla="*/ 13067806 w 14097888"/>
              <a:gd name="connsiteY6-78" fmla="*/ 991865 h 1055945"/>
              <a:gd name="connsiteX7-79" fmla="*/ 14097888 w 14097888"/>
              <a:gd name="connsiteY7-80" fmla="*/ 728065 h 105594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4097888" h="1055945">
                <a:moveTo>
                  <a:pt x="0" y="961747"/>
                </a:moveTo>
                <a:cubicBezTo>
                  <a:pt x="421037" y="713774"/>
                  <a:pt x="842075" y="465801"/>
                  <a:pt x="1301858" y="450303"/>
                </a:cubicBezTo>
                <a:cubicBezTo>
                  <a:pt x="1761641" y="434805"/>
                  <a:pt x="2105186" y="943665"/>
                  <a:pt x="2758698" y="868757"/>
                </a:cubicBezTo>
                <a:cubicBezTo>
                  <a:pt x="3412210" y="793849"/>
                  <a:pt x="4409268" y="-30145"/>
                  <a:pt x="5222929" y="852"/>
                </a:cubicBezTo>
                <a:cubicBezTo>
                  <a:pt x="6036590" y="31849"/>
                  <a:pt x="6758571" y="1013701"/>
                  <a:pt x="7640664" y="1054737"/>
                </a:cubicBezTo>
                <a:cubicBezTo>
                  <a:pt x="8522757" y="1095773"/>
                  <a:pt x="9545917" y="77394"/>
                  <a:pt x="10515489" y="247067"/>
                </a:cubicBezTo>
                <a:cubicBezTo>
                  <a:pt x="11485061" y="416740"/>
                  <a:pt x="12470740" y="911699"/>
                  <a:pt x="13067806" y="991865"/>
                </a:cubicBezTo>
                <a:cubicBezTo>
                  <a:pt x="13664872" y="1072031"/>
                  <a:pt x="13991150" y="874116"/>
                  <a:pt x="14097888" y="728065"/>
                </a:cubicBezTo>
              </a:path>
            </a:pathLst>
          </a:custGeom>
          <a:noFill/>
          <a:ln w="19050">
            <a:solidFill>
              <a:srgbClr val="668EFF"/>
            </a:solidFill>
            <a:prstDash val="solid"/>
            <a:miter lim="800000"/>
          </a:ln>
        </p:spPr>
        <p:txBody>
          <a:bodyPr vert="horz" wrap="square" lIns="0" tIns="0" rIns="0" bIns="0" numCol="1" rtlCol="0" anchor="t" anchorCtr="0" compatLnSpc="1"/>
          <a:lstStyle>
            <a:defPPr>
              <a:defRPr lang="zh-CN">
                <a:latin typeface="微软雅黑"/>
                <a:ea typeface="微软雅黑"/>
                <a:cs typeface="微软雅黑"/>
              </a:defRPr>
            </a:defPPr>
            <a:lvl1pPr marL="0" algn="l" defTabSz="696595" rtl="0" eaLnBrk="1" latinLnBrk="0" hangingPunct="1">
              <a:defRPr sz="1370" kern="1200">
                <a:solidFill>
                  <a:srgbClr val="383838"/>
                </a:solidFill>
                <a:latin typeface="微软雅黑"/>
                <a:ea typeface="微软雅黑"/>
                <a:cs typeface="微软雅黑"/>
              </a:defRPr>
            </a:lvl1pPr>
            <a:lvl2pPr marL="348615" algn="l" defTabSz="696595" rtl="0" eaLnBrk="1" latinLnBrk="0" hangingPunct="1">
              <a:defRPr sz="1370" kern="1200">
                <a:solidFill>
                  <a:srgbClr val="383838"/>
                </a:solidFill>
                <a:latin typeface="微软雅黑"/>
                <a:ea typeface="微软雅黑"/>
                <a:cs typeface="微软雅黑"/>
              </a:defRPr>
            </a:lvl2pPr>
            <a:lvl3pPr marL="696595" algn="l" defTabSz="696595" rtl="0" eaLnBrk="1" latinLnBrk="0" hangingPunct="1">
              <a:defRPr sz="1370" kern="1200">
                <a:solidFill>
                  <a:srgbClr val="383838"/>
                </a:solidFill>
                <a:latin typeface="微软雅黑"/>
                <a:ea typeface="微软雅黑"/>
                <a:cs typeface="微软雅黑"/>
              </a:defRPr>
            </a:lvl3pPr>
            <a:lvl4pPr marL="1045210" algn="l" defTabSz="696595" rtl="0" eaLnBrk="1" latinLnBrk="0" hangingPunct="1">
              <a:defRPr sz="1370" kern="1200">
                <a:solidFill>
                  <a:srgbClr val="383838"/>
                </a:solidFill>
                <a:latin typeface="微软雅黑"/>
                <a:ea typeface="微软雅黑"/>
                <a:cs typeface="微软雅黑"/>
              </a:defRPr>
            </a:lvl4pPr>
            <a:lvl5pPr marL="1393190" algn="l" defTabSz="696595" rtl="0" eaLnBrk="1" latinLnBrk="0" hangingPunct="1">
              <a:defRPr sz="1370" kern="1200">
                <a:solidFill>
                  <a:srgbClr val="383838"/>
                </a:solidFill>
                <a:latin typeface="微软雅黑"/>
                <a:ea typeface="微软雅黑"/>
                <a:cs typeface="微软雅黑"/>
              </a:defRPr>
            </a:lvl5pPr>
            <a:lvl6pPr marL="1741805" algn="l" defTabSz="696595" rtl="0" eaLnBrk="1" latinLnBrk="0" hangingPunct="1">
              <a:defRPr sz="1370" kern="1200">
                <a:solidFill>
                  <a:srgbClr val="383838"/>
                </a:solidFill>
                <a:latin typeface="微软雅黑"/>
                <a:ea typeface="微软雅黑"/>
                <a:cs typeface="微软雅黑"/>
              </a:defRPr>
            </a:lvl6pPr>
            <a:lvl7pPr marL="2089785" algn="l" defTabSz="696595" rtl="0" eaLnBrk="1" latinLnBrk="0" hangingPunct="1">
              <a:defRPr sz="1370" kern="1200">
                <a:solidFill>
                  <a:srgbClr val="383838"/>
                </a:solidFill>
                <a:latin typeface="微软雅黑"/>
                <a:ea typeface="微软雅黑"/>
                <a:cs typeface="微软雅黑"/>
              </a:defRPr>
            </a:lvl7pPr>
            <a:lvl8pPr marL="2438400" algn="l" defTabSz="696595" rtl="0" eaLnBrk="1" latinLnBrk="0" hangingPunct="1">
              <a:defRPr sz="1370" kern="1200">
                <a:solidFill>
                  <a:srgbClr val="383838"/>
                </a:solidFill>
                <a:latin typeface="微软雅黑"/>
                <a:ea typeface="微软雅黑"/>
                <a:cs typeface="微软雅黑"/>
              </a:defRPr>
            </a:lvl8pPr>
            <a:lvl9pPr marL="2787015" algn="l" defTabSz="696595" rtl="0" eaLnBrk="1" latinLnBrk="0" hangingPunct="1">
              <a:defRPr sz="1370" kern="1200">
                <a:solidFill>
                  <a:srgbClr val="383838"/>
                </a:solidFill>
                <a:latin typeface="微软雅黑"/>
                <a:ea typeface="微软雅黑"/>
                <a:cs typeface="微软雅黑"/>
              </a:defRPr>
            </a:lvl9pPr>
          </a:lstStyle>
          <a:p>
            <a:pPr defTabSz="462915" eaLnBrk="0" hangingPunct="0">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681" name="文本框 680"/>
          <p:cNvSpPr txBox="1"/>
          <p:nvPr/>
        </p:nvSpPr>
        <p:spPr>
          <a:xfrm>
            <a:off x="2284095" y="3007360"/>
            <a:ext cx="906145"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首次入店</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682" name="文本框 681"/>
          <p:cNvSpPr txBox="1"/>
          <p:nvPr/>
        </p:nvSpPr>
        <p:spPr>
          <a:xfrm>
            <a:off x="4516120" y="2973705"/>
            <a:ext cx="692150"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添加企微</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683" name="文本框 682"/>
          <p:cNvSpPr txBox="1"/>
          <p:nvPr/>
        </p:nvSpPr>
        <p:spPr>
          <a:xfrm>
            <a:off x="6089650" y="3192145"/>
            <a:ext cx="789940"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活动推送</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684" name="文本框 683"/>
          <p:cNvSpPr txBox="1"/>
          <p:nvPr/>
        </p:nvSpPr>
        <p:spPr>
          <a:xfrm>
            <a:off x="8156575" y="2782570"/>
            <a:ext cx="801370"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线上商城</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685" name="文本框 684"/>
          <p:cNvSpPr txBox="1"/>
          <p:nvPr/>
        </p:nvSpPr>
        <p:spPr>
          <a:xfrm>
            <a:off x="6792595" y="3248660"/>
            <a:ext cx="804545"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二次购买</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686" name="文本框 685"/>
          <p:cNvSpPr txBox="1"/>
          <p:nvPr/>
        </p:nvSpPr>
        <p:spPr>
          <a:xfrm>
            <a:off x="9410065" y="3465830"/>
            <a:ext cx="777240"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激活卡券</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687" name="文本框 686"/>
          <p:cNvSpPr txBox="1"/>
          <p:nvPr/>
        </p:nvSpPr>
        <p:spPr>
          <a:xfrm>
            <a:off x="10750550" y="3348355"/>
            <a:ext cx="810895"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en-US" altLang="zh-CN" sz="1000" b="0" i="0" u="none" strike="noStrike" cap="none" spc="0" normalizeH="0" baseline="0" dirty="0">
                <a:ln>
                  <a:noFill/>
                </a:ln>
                <a:solidFill>
                  <a:srgbClr val="383838"/>
                </a:solidFill>
                <a:effectLst/>
                <a:uFillTx/>
                <a:latin typeface="微软雅黑"/>
                <a:ea typeface="微软雅黑"/>
                <a:cs typeface="微软雅黑"/>
                <a:sym typeface="微软雅黑"/>
              </a:rPr>
              <a:t>VIP</a:t>
            </a: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活动</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689" name="椭圆 688"/>
          <p:cNvSpPr/>
          <p:nvPr/>
        </p:nvSpPr>
        <p:spPr>
          <a:xfrm>
            <a:off x="10989310" y="3571875"/>
            <a:ext cx="80010" cy="80010"/>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690" name="椭圆 689"/>
          <p:cNvSpPr/>
          <p:nvPr/>
        </p:nvSpPr>
        <p:spPr>
          <a:xfrm>
            <a:off x="1521460" y="3309620"/>
            <a:ext cx="80010" cy="80010"/>
          </a:xfrm>
          <a:prstGeom prst="ellipse">
            <a:avLst/>
          </a:prstGeom>
          <a:solidFill>
            <a:srgbClr val="B3D4FE"/>
          </a:solidFill>
          <a:ln w="25400" cap="flat">
            <a:solidFill>
              <a:srgbClr val="FFFFFF"/>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sp>
        <p:nvSpPr>
          <p:cNvPr id="692" name="椭圆 691"/>
          <p:cNvSpPr/>
          <p:nvPr/>
        </p:nvSpPr>
        <p:spPr>
          <a:xfrm>
            <a:off x="2519680" y="3298825"/>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698" name="椭圆 697"/>
          <p:cNvSpPr/>
          <p:nvPr/>
        </p:nvSpPr>
        <p:spPr>
          <a:xfrm>
            <a:off x="8408670" y="2984500"/>
            <a:ext cx="80010" cy="80010"/>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700" name="椭圆 699"/>
          <p:cNvSpPr/>
          <p:nvPr/>
        </p:nvSpPr>
        <p:spPr>
          <a:xfrm>
            <a:off x="9816465" y="3298190"/>
            <a:ext cx="80010" cy="80010"/>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702" name="文本框 701"/>
          <p:cNvSpPr txBox="1"/>
          <p:nvPr/>
        </p:nvSpPr>
        <p:spPr>
          <a:xfrm>
            <a:off x="3006725" y="3117850"/>
            <a:ext cx="698500"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ctr"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购物订单</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703" name="文本框 702"/>
          <p:cNvSpPr txBox="1"/>
          <p:nvPr/>
        </p:nvSpPr>
        <p:spPr>
          <a:xfrm>
            <a:off x="8559800" y="3158490"/>
            <a:ext cx="795655"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会员活动</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89" name="矩形: 圆角 75"/>
          <p:cNvSpPr/>
          <p:nvPr/>
        </p:nvSpPr>
        <p:spPr>
          <a:xfrm>
            <a:off x="320499" y="1950346"/>
            <a:ext cx="348076" cy="762267"/>
          </a:xfrm>
          <a:prstGeom prst="roundRect">
            <a:avLst>
              <a:gd name="adj" fmla="val 50000"/>
            </a:avLst>
          </a:prstGeom>
          <a:gradFill>
            <a:gsLst>
              <a:gs pos="0">
                <a:srgbClr val="0042FF"/>
              </a:gs>
              <a:gs pos="100000">
                <a:srgbClr val="0042FF"/>
              </a:gs>
            </a:gsLst>
            <a:lin ang="18900000" scaled="0"/>
          </a:gra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100" b="1">
                <a:solidFill>
                  <a:srgbClr val="FFFFFF"/>
                </a:solidFill>
                <a:latin typeface="微软雅黑"/>
                <a:ea typeface="微软雅黑"/>
                <a:cs typeface="微软雅黑"/>
              </a:rPr>
              <a:t>执行层</a:t>
            </a:r>
            <a:endParaRPr lang="zh-CN" altLang="en-US" sz="1100" b="1">
              <a:solidFill>
                <a:srgbClr val="FFFFFF"/>
              </a:solidFill>
              <a:latin typeface="微软雅黑"/>
              <a:ea typeface="微软雅黑"/>
              <a:cs typeface="微软雅黑"/>
            </a:endParaRPr>
          </a:p>
        </p:txBody>
      </p:sp>
      <p:sp>
        <p:nvSpPr>
          <p:cNvPr id="90" name="矩形: 圆角 76"/>
          <p:cNvSpPr/>
          <p:nvPr/>
        </p:nvSpPr>
        <p:spPr>
          <a:xfrm>
            <a:off x="320499" y="2832100"/>
            <a:ext cx="347980" cy="878840"/>
          </a:xfrm>
          <a:prstGeom prst="roundRect">
            <a:avLst>
              <a:gd name="adj" fmla="val 50000"/>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100" b="1">
                <a:solidFill>
                  <a:srgbClr val="FFFFFF"/>
                </a:solidFill>
                <a:latin typeface="微软雅黑"/>
                <a:ea typeface="微软雅黑"/>
                <a:cs typeface="微软雅黑"/>
                <a:sym typeface="微软雅黑"/>
              </a:rPr>
              <a:t>场景层</a:t>
            </a:r>
            <a:endParaRPr lang="zh-CN" altLang="en-US" sz="1100" b="1">
              <a:solidFill>
                <a:srgbClr val="FFFFFF"/>
              </a:solidFill>
              <a:latin typeface="微软雅黑"/>
              <a:ea typeface="微软雅黑"/>
              <a:cs typeface="微软雅黑"/>
              <a:sym typeface="微软雅黑"/>
            </a:endParaRPr>
          </a:p>
        </p:txBody>
      </p:sp>
      <p:sp>
        <p:nvSpPr>
          <p:cNvPr id="92" name="等腰三角形 91"/>
          <p:cNvSpPr/>
          <p:nvPr/>
        </p:nvSpPr>
        <p:spPr>
          <a:xfrm rot="5400000">
            <a:off x="768557" y="2286983"/>
            <a:ext cx="103231" cy="88992"/>
          </a:xfrm>
          <a:prstGeom prst="triangle">
            <a:avLst/>
          </a:prstGeom>
          <a:gradFill>
            <a:gsLst>
              <a:gs pos="0">
                <a:srgbClr val="0042FF"/>
              </a:gs>
              <a:gs pos="100000">
                <a:srgbClr val="0042FF"/>
              </a:gs>
            </a:gsLst>
            <a:lin ang="18900000" scaled="0"/>
          </a:gra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a:solidFill>
                <a:srgbClr val="FFFFFF"/>
              </a:solidFill>
              <a:latin typeface="微软雅黑"/>
              <a:ea typeface="微软雅黑"/>
              <a:cs typeface="微软雅黑"/>
              <a:sym typeface="微软雅黑"/>
            </a:endParaRPr>
          </a:p>
        </p:txBody>
      </p:sp>
      <p:sp>
        <p:nvSpPr>
          <p:cNvPr id="93" name="等腰三角形 92"/>
          <p:cNvSpPr/>
          <p:nvPr/>
        </p:nvSpPr>
        <p:spPr>
          <a:xfrm rot="5400000">
            <a:off x="768557" y="3238124"/>
            <a:ext cx="103231" cy="88992"/>
          </a:xfrm>
          <a:prstGeom prst="triangle">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a:solidFill>
                <a:srgbClr val="FFFFFF"/>
              </a:solidFill>
              <a:latin typeface="微软雅黑"/>
              <a:ea typeface="微软雅黑"/>
              <a:cs typeface="微软雅黑"/>
              <a:sym typeface="微软雅黑"/>
            </a:endParaRPr>
          </a:p>
        </p:txBody>
      </p:sp>
      <p:sp>
        <p:nvSpPr>
          <p:cNvPr id="95" name="矩形: 圆角 408"/>
          <p:cNvSpPr/>
          <p:nvPr/>
        </p:nvSpPr>
        <p:spPr>
          <a:xfrm>
            <a:off x="1049655" y="2052955"/>
            <a:ext cx="2520000" cy="486410"/>
          </a:xfrm>
          <a:prstGeom prst="roundRect">
            <a:avLst>
              <a:gd name="adj" fmla="val 10790"/>
            </a:avLst>
          </a:prstGeom>
          <a:solidFill>
            <a:srgbClr val="E6E6E6">
              <a:alpha val="70000"/>
            </a:srgbClr>
          </a:solidFill>
          <a:ln w="9708" cap="flat">
            <a:solidFill>
              <a:srgbClr val="0042FF">
                <a:alpha val="50000"/>
              </a:srgbClr>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algn="ctr">
              <a:defRPr>
                <a:latin typeface="微软雅黑"/>
                <a:ea typeface="微软雅黑"/>
                <a:cs typeface="微软雅黑"/>
              </a:defRPr>
            </a:pPr>
            <a:r>
              <a:rPr lang="zh-CN" altLang="en-US" sz="1400" b="1" kern="0" dirty="0">
                <a:solidFill>
                  <a:srgbClr val="0042FF"/>
                </a:solidFill>
                <a:latin typeface="微软雅黑"/>
                <a:ea typeface="微软雅黑"/>
                <a:cs typeface="微软雅黑"/>
              </a:rPr>
              <a:t>建立会员积分体系</a:t>
            </a:r>
            <a:endParaRPr lang="zh-CN" altLang="en-US" sz="1400" b="1" kern="0" dirty="0">
              <a:solidFill>
                <a:srgbClr val="0042FF"/>
              </a:solidFill>
              <a:latin typeface="微软雅黑"/>
              <a:ea typeface="微软雅黑"/>
              <a:cs typeface="微软雅黑"/>
            </a:endParaRPr>
          </a:p>
        </p:txBody>
      </p:sp>
      <p:sp>
        <p:nvSpPr>
          <p:cNvPr id="96" name="矩形: 圆角 408"/>
          <p:cNvSpPr/>
          <p:nvPr/>
        </p:nvSpPr>
        <p:spPr>
          <a:xfrm>
            <a:off x="3704910" y="2052955"/>
            <a:ext cx="2519680" cy="486410"/>
          </a:xfrm>
          <a:prstGeom prst="roundRect">
            <a:avLst>
              <a:gd name="adj" fmla="val 10790"/>
            </a:avLst>
          </a:prstGeom>
          <a:solidFill>
            <a:srgbClr val="E6E6E6">
              <a:alpha val="70000"/>
            </a:srgbClr>
          </a:solidFill>
          <a:ln w="9708" cap="flat">
            <a:solidFill>
              <a:srgbClr val="0042FF">
                <a:alpha val="50000"/>
              </a:srgbClr>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kern="0" dirty="0">
                <a:solidFill>
                  <a:srgbClr val="0042FF"/>
                </a:solidFill>
                <a:latin typeface="微软雅黑"/>
                <a:ea typeface="微软雅黑"/>
                <a:cs typeface="微软雅黑"/>
                <a:sym typeface="微软雅黑"/>
              </a:rPr>
              <a:t>多渠道的客服支持</a:t>
            </a:r>
            <a:endParaRPr lang="zh-CN" altLang="en-US" sz="1400" b="1" kern="0" dirty="0">
              <a:solidFill>
                <a:srgbClr val="0042FF"/>
              </a:solidFill>
              <a:latin typeface="微软雅黑"/>
              <a:ea typeface="微软雅黑"/>
              <a:cs typeface="微软雅黑"/>
              <a:sym typeface="微软雅黑"/>
            </a:endParaRPr>
          </a:p>
        </p:txBody>
      </p:sp>
      <p:sp>
        <p:nvSpPr>
          <p:cNvPr id="97" name="矩形: 圆角 408"/>
          <p:cNvSpPr/>
          <p:nvPr/>
        </p:nvSpPr>
        <p:spPr>
          <a:xfrm>
            <a:off x="6359845" y="2052955"/>
            <a:ext cx="2519680" cy="486410"/>
          </a:xfrm>
          <a:prstGeom prst="roundRect">
            <a:avLst>
              <a:gd name="adj" fmla="val 10790"/>
            </a:avLst>
          </a:prstGeom>
          <a:solidFill>
            <a:srgbClr val="E6E6E6">
              <a:alpha val="70000"/>
            </a:srgbClr>
          </a:solidFill>
          <a:ln w="9708" cap="flat">
            <a:solidFill>
              <a:srgbClr val="0042FF">
                <a:alpha val="50000"/>
              </a:srgbClr>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kern="0" dirty="0">
                <a:solidFill>
                  <a:srgbClr val="0042FF"/>
                </a:solidFill>
                <a:latin typeface="微软雅黑"/>
                <a:ea typeface="微软雅黑"/>
                <a:cs typeface="微软雅黑"/>
                <a:sym typeface="微软雅黑"/>
              </a:rPr>
              <a:t>精细化的营销策略</a:t>
            </a:r>
            <a:endParaRPr lang="zh-CN" altLang="en-US" sz="1400" b="1" kern="0" dirty="0">
              <a:solidFill>
                <a:srgbClr val="0042FF"/>
              </a:solidFill>
              <a:latin typeface="微软雅黑"/>
              <a:ea typeface="微软雅黑"/>
              <a:cs typeface="微软雅黑"/>
              <a:sym typeface="微软雅黑"/>
            </a:endParaRPr>
          </a:p>
        </p:txBody>
      </p:sp>
      <p:sp>
        <p:nvSpPr>
          <p:cNvPr id="98" name="矩形: 圆角 408"/>
          <p:cNvSpPr/>
          <p:nvPr/>
        </p:nvSpPr>
        <p:spPr>
          <a:xfrm>
            <a:off x="9014780" y="2052955"/>
            <a:ext cx="2519680" cy="486410"/>
          </a:xfrm>
          <a:prstGeom prst="roundRect">
            <a:avLst>
              <a:gd name="adj" fmla="val 10790"/>
            </a:avLst>
          </a:prstGeom>
          <a:solidFill>
            <a:srgbClr val="E6E6E6">
              <a:alpha val="70000"/>
            </a:srgbClr>
          </a:solidFill>
          <a:ln w="9708" cap="flat">
            <a:solidFill>
              <a:srgbClr val="0042FF">
                <a:alpha val="50000"/>
              </a:srgbClr>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kern="0" dirty="0">
                <a:solidFill>
                  <a:srgbClr val="0042FF"/>
                </a:solidFill>
                <a:latin typeface="微软雅黑"/>
                <a:ea typeface="微软雅黑"/>
                <a:cs typeface="微软雅黑"/>
                <a:sym typeface="微软雅黑"/>
              </a:rPr>
              <a:t>拓展生态合作圈</a:t>
            </a:r>
            <a:endParaRPr lang="zh-CN" altLang="en-US" sz="1400" b="1" kern="0" dirty="0">
              <a:solidFill>
                <a:srgbClr val="0042FF"/>
              </a:solidFill>
              <a:latin typeface="微软雅黑"/>
              <a:ea typeface="微软雅黑"/>
              <a:cs typeface="微软雅黑"/>
              <a:sym typeface="微软雅黑"/>
            </a:endParaRPr>
          </a:p>
        </p:txBody>
      </p:sp>
      <p:sp>
        <p:nvSpPr>
          <p:cNvPr id="99" name="矩形: 圆角 75"/>
          <p:cNvSpPr/>
          <p:nvPr/>
        </p:nvSpPr>
        <p:spPr>
          <a:xfrm>
            <a:off x="320499" y="3878841"/>
            <a:ext cx="348076" cy="762267"/>
          </a:xfrm>
          <a:prstGeom prst="roundRect">
            <a:avLst>
              <a:gd name="adj" fmla="val 50000"/>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100" b="1">
                <a:solidFill>
                  <a:srgbClr val="FFFFFF"/>
                </a:solidFill>
                <a:latin typeface="微软雅黑"/>
                <a:ea typeface="微软雅黑"/>
                <a:cs typeface="微软雅黑"/>
                <a:sym typeface="微软雅黑"/>
              </a:rPr>
              <a:t>平台层</a:t>
            </a:r>
            <a:endParaRPr lang="zh-CN" altLang="en-US" sz="1100" b="1">
              <a:solidFill>
                <a:srgbClr val="FFFFFF"/>
              </a:solidFill>
              <a:latin typeface="微软雅黑"/>
              <a:ea typeface="微软雅黑"/>
              <a:cs typeface="微软雅黑"/>
              <a:sym typeface="微软雅黑"/>
            </a:endParaRPr>
          </a:p>
        </p:txBody>
      </p:sp>
      <p:sp>
        <p:nvSpPr>
          <p:cNvPr id="100" name="矩形: 圆角 76"/>
          <p:cNvSpPr/>
          <p:nvPr/>
        </p:nvSpPr>
        <p:spPr>
          <a:xfrm>
            <a:off x="320675" y="5160010"/>
            <a:ext cx="347980" cy="1299210"/>
          </a:xfrm>
          <a:prstGeom prst="roundRect">
            <a:avLst>
              <a:gd name="adj" fmla="val 50000"/>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100" b="1">
                <a:solidFill>
                  <a:srgbClr val="FFFFFF"/>
                </a:solidFill>
                <a:latin typeface="微软雅黑"/>
                <a:ea typeface="微软雅黑"/>
                <a:cs typeface="微软雅黑"/>
                <a:sym typeface="微软雅黑"/>
              </a:rPr>
              <a:t>运营层</a:t>
            </a:r>
            <a:endParaRPr lang="zh-CN" altLang="en-US" sz="1100" b="1">
              <a:solidFill>
                <a:srgbClr val="FFFFFF"/>
              </a:solidFill>
              <a:latin typeface="微软雅黑"/>
              <a:ea typeface="微软雅黑"/>
              <a:cs typeface="微软雅黑"/>
              <a:sym typeface="微软雅黑"/>
            </a:endParaRPr>
          </a:p>
        </p:txBody>
      </p:sp>
      <p:sp>
        <p:nvSpPr>
          <p:cNvPr id="101" name="等腰三角形 100"/>
          <p:cNvSpPr/>
          <p:nvPr/>
        </p:nvSpPr>
        <p:spPr>
          <a:xfrm rot="5400000">
            <a:off x="768557" y="4215478"/>
            <a:ext cx="103231" cy="88992"/>
          </a:xfrm>
          <a:prstGeom prst="triangle">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a:solidFill>
                <a:srgbClr val="FFFFFF"/>
              </a:solidFill>
              <a:latin typeface="微软雅黑"/>
              <a:ea typeface="微软雅黑"/>
              <a:cs typeface="微软雅黑"/>
              <a:sym typeface="微软雅黑"/>
            </a:endParaRPr>
          </a:p>
        </p:txBody>
      </p:sp>
      <p:sp>
        <p:nvSpPr>
          <p:cNvPr id="102" name="等腰三角形 101"/>
          <p:cNvSpPr/>
          <p:nvPr/>
        </p:nvSpPr>
        <p:spPr>
          <a:xfrm rot="5400000">
            <a:off x="762842" y="5804794"/>
            <a:ext cx="103231" cy="88992"/>
          </a:xfrm>
          <a:prstGeom prst="triangle">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a:solidFill>
                <a:srgbClr val="FFFFFF"/>
              </a:solidFill>
              <a:latin typeface="微软雅黑"/>
              <a:ea typeface="微软雅黑"/>
              <a:cs typeface="微软雅黑"/>
              <a:sym typeface="微软雅黑"/>
            </a:endParaRPr>
          </a:p>
        </p:txBody>
      </p:sp>
      <p:sp>
        <p:nvSpPr>
          <p:cNvPr id="105" name="文本框 104"/>
          <p:cNvSpPr txBox="1"/>
          <p:nvPr/>
        </p:nvSpPr>
        <p:spPr>
          <a:xfrm>
            <a:off x="3823970" y="3180080"/>
            <a:ext cx="692150" cy="24384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加入会员</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nvGrpSpPr>
          <p:cNvPr id="182" name="组合 181"/>
          <p:cNvGrpSpPr/>
          <p:nvPr/>
        </p:nvGrpSpPr>
        <p:grpSpPr>
          <a:xfrm>
            <a:off x="1080135" y="3871595"/>
            <a:ext cx="3397885" cy="810260"/>
            <a:chOff x="1701" y="6132"/>
            <a:chExt cx="5000" cy="1276"/>
          </a:xfrm>
        </p:grpSpPr>
        <p:sp>
          <p:nvSpPr>
            <p:cNvPr id="161" name="矩形: 圆角 546"/>
            <p:cNvSpPr/>
            <p:nvPr/>
          </p:nvSpPr>
          <p:spPr>
            <a:xfrm>
              <a:off x="1701" y="6132"/>
              <a:ext cx="5000" cy="1276"/>
            </a:xfrm>
            <a:prstGeom prst="roundRect">
              <a:avLst>
                <a:gd name="adj" fmla="val 4110"/>
              </a:avLst>
            </a:prstGeom>
            <a:solidFill>
              <a:srgbClr val="E6E6E6">
                <a:alpha val="30000"/>
              </a:srgbClr>
            </a:solidFill>
            <a:ln w="12700" cap="flat" cmpd="sng" algn="ctr">
              <a:solidFill>
                <a:srgbClr val="3368FF">
                  <a:alpha val="5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endParaRPr>
            </a:p>
          </p:txBody>
        </p:sp>
        <p:sp>
          <p:nvSpPr>
            <p:cNvPr id="162" name="矩形: 圆角 547"/>
            <p:cNvSpPr/>
            <p:nvPr/>
          </p:nvSpPr>
          <p:spPr>
            <a:xfrm>
              <a:off x="1889" y="6575"/>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b="1" kern="0" dirty="0">
                  <a:solidFill>
                    <a:srgbClr val="FFFFFF"/>
                  </a:solidFill>
                  <a:latin typeface="微软雅黑"/>
                  <a:ea typeface="微软雅黑"/>
                  <a:cs typeface="微软雅黑"/>
                </a:rPr>
                <a:t>360</a:t>
              </a:r>
              <a:r>
                <a:rPr lang="zh-CN" altLang="en-US" sz="1000" b="1" kern="0" dirty="0">
                  <a:solidFill>
                    <a:srgbClr val="FFFFFF"/>
                  </a:solidFill>
                  <a:latin typeface="微软雅黑"/>
                  <a:ea typeface="微软雅黑"/>
                  <a:cs typeface="微软雅黑"/>
                </a:rPr>
                <a:t>客户画像</a:t>
              </a:r>
              <a:endParaRPr lang="zh-CN" altLang="en-US" sz="1000" b="1" kern="0" dirty="0">
                <a:solidFill>
                  <a:srgbClr val="FFFFFF"/>
                </a:solidFill>
                <a:latin typeface="微软雅黑"/>
                <a:ea typeface="微软雅黑"/>
                <a:cs typeface="微软雅黑"/>
              </a:endParaRPr>
            </a:p>
          </p:txBody>
        </p:sp>
        <p:sp>
          <p:nvSpPr>
            <p:cNvPr id="163" name="矩形: 圆角 548"/>
            <p:cNvSpPr/>
            <p:nvPr/>
          </p:nvSpPr>
          <p:spPr>
            <a:xfrm>
              <a:off x="4258" y="6575"/>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私域运营能力</a:t>
              </a:r>
              <a:endParaRPr lang="zh-CN" altLang="en-US" sz="1000" b="1" kern="0" dirty="0">
                <a:solidFill>
                  <a:srgbClr val="FFFFFF"/>
                </a:solidFill>
                <a:latin typeface="微软雅黑"/>
                <a:ea typeface="微软雅黑"/>
                <a:cs typeface="微软雅黑"/>
                <a:sym typeface="微软雅黑"/>
              </a:endParaRPr>
            </a:p>
          </p:txBody>
        </p:sp>
        <p:sp>
          <p:nvSpPr>
            <p:cNvPr id="164" name="矩形: 圆角 551"/>
            <p:cNvSpPr/>
            <p:nvPr/>
          </p:nvSpPr>
          <p:spPr>
            <a:xfrm>
              <a:off x="1889" y="6987"/>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智能推送计划</a:t>
              </a:r>
              <a:endParaRPr lang="zh-CN" altLang="en-US" sz="1000" b="1" kern="0" dirty="0">
                <a:solidFill>
                  <a:srgbClr val="FFFFFF"/>
                </a:solidFill>
                <a:latin typeface="微软雅黑"/>
                <a:ea typeface="微软雅黑"/>
                <a:cs typeface="微软雅黑"/>
                <a:sym typeface="微软雅黑"/>
              </a:endParaRPr>
            </a:p>
          </p:txBody>
        </p:sp>
        <p:sp>
          <p:nvSpPr>
            <p:cNvPr id="165" name="矩形: 圆角 552"/>
            <p:cNvSpPr/>
            <p:nvPr/>
          </p:nvSpPr>
          <p:spPr>
            <a:xfrm>
              <a:off x="4258" y="6987"/>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客户运营场景连接</a:t>
              </a:r>
              <a:endParaRPr lang="zh-CN" altLang="en-US" sz="1000" b="1" kern="0" dirty="0">
                <a:solidFill>
                  <a:srgbClr val="FFFFFF"/>
                </a:solidFill>
                <a:latin typeface="微软雅黑"/>
                <a:ea typeface="微软雅黑"/>
                <a:cs typeface="微软雅黑"/>
                <a:sym typeface="微软雅黑"/>
              </a:endParaRPr>
            </a:p>
          </p:txBody>
        </p:sp>
        <p:sp>
          <p:nvSpPr>
            <p:cNvPr id="166" name="文本框 165"/>
            <p:cNvSpPr txBox="1"/>
            <p:nvPr/>
          </p:nvSpPr>
          <p:spPr>
            <a:xfrm>
              <a:off x="2733" y="6132"/>
              <a:ext cx="2935" cy="40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en-US" altLang="zh-CN" sz="1000" b="1" kern="0">
                  <a:solidFill>
                    <a:srgbClr val="0042FF"/>
                  </a:solidFill>
                  <a:latin typeface="微软雅黑"/>
                  <a:ea typeface="微软雅黑"/>
                  <a:cs typeface="微软雅黑"/>
                </a:rPr>
                <a:t>CRM</a:t>
              </a:r>
              <a:r>
                <a:rPr lang="zh-CN" altLang="en-US" sz="1000" b="1" kern="0">
                  <a:solidFill>
                    <a:srgbClr val="0042FF"/>
                  </a:solidFill>
                  <a:latin typeface="微软雅黑"/>
                  <a:ea typeface="微软雅黑"/>
                  <a:cs typeface="微软雅黑"/>
                </a:rPr>
                <a:t>用户运营平台</a:t>
              </a:r>
              <a:endParaRPr lang="zh-CN" altLang="en-US" sz="1000" b="1" kern="0">
                <a:solidFill>
                  <a:srgbClr val="0042FF"/>
                </a:solidFill>
                <a:latin typeface="微软雅黑"/>
                <a:ea typeface="微软雅黑"/>
                <a:cs typeface="微软雅黑"/>
              </a:endParaRPr>
            </a:p>
          </p:txBody>
        </p:sp>
      </p:grpSp>
      <p:grpSp>
        <p:nvGrpSpPr>
          <p:cNvPr id="220" name="组合 219"/>
          <p:cNvGrpSpPr/>
          <p:nvPr/>
        </p:nvGrpSpPr>
        <p:grpSpPr>
          <a:xfrm>
            <a:off x="4595495" y="3871595"/>
            <a:ext cx="3397885" cy="810260"/>
            <a:chOff x="1701" y="6132"/>
            <a:chExt cx="5000" cy="1276"/>
          </a:xfrm>
        </p:grpSpPr>
        <p:sp>
          <p:nvSpPr>
            <p:cNvPr id="221" name="矩形: 圆角 546"/>
            <p:cNvSpPr/>
            <p:nvPr/>
          </p:nvSpPr>
          <p:spPr>
            <a:xfrm>
              <a:off x="1701" y="6132"/>
              <a:ext cx="5000" cy="1276"/>
            </a:xfrm>
            <a:prstGeom prst="roundRect">
              <a:avLst>
                <a:gd name="adj" fmla="val 4110"/>
              </a:avLst>
            </a:prstGeom>
            <a:solidFill>
              <a:srgbClr val="3368FF">
                <a:alpha val="10000"/>
              </a:srgbClr>
            </a:solidFill>
            <a:ln w="12700" cap="flat" cmpd="sng" algn="ctr">
              <a:solidFill>
                <a:srgbClr val="3368FF">
                  <a:alpha val="5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endParaRPr>
            </a:p>
          </p:txBody>
        </p:sp>
        <p:sp>
          <p:nvSpPr>
            <p:cNvPr id="222" name="矩形: 圆角 547"/>
            <p:cNvSpPr/>
            <p:nvPr/>
          </p:nvSpPr>
          <p:spPr>
            <a:xfrm>
              <a:off x="1889" y="6575"/>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sym typeface="微软雅黑"/>
                </a:rPr>
                <a:t>个性化营销策略</a:t>
              </a:r>
              <a:endParaRPr lang="zh-CN" altLang="en-US" sz="1000" b="1" kern="0" dirty="0">
                <a:solidFill>
                  <a:srgbClr val="FFFFFF"/>
                </a:solidFill>
                <a:latin typeface="微软雅黑"/>
                <a:ea typeface="微软雅黑"/>
                <a:cs typeface="微软雅黑"/>
                <a:sym typeface="微软雅黑"/>
              </a:endParaRPr>
            </a:p>
          </p:txBody>
        </p:sp>
        <p:sp>
          <p:nvSpPr>
            <p:cNvPr id="223" name="矩形: 圆角 548"/>
            <p:cNvSpPr/>
            <p:nvPr/>
          </p:nvSpPr>
          <p:spPr>
            <a:xfrm>
              <a:off x="4258" y="6575"/>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营销渠道整合</a:t>
              </a:r>
              <a:endParaRPr lang="zh-CN" altLang="en-US" sz="1000" b="1" kern="0" dirty="0">
                <a:solidFill>
                  <a:srgbClr val="FFFFFF"/>
                </a:solidFill>
                <a:latin typeface="微软雅黑"/>
                <a:ea typeface="微软雅黑"/>
                <a:cs typeface="微软雅黑"/>
                <a:sym typeface="微软雅黑"/>
              </a:endParaRPr>
            </a:p>
          </p:txBody>
        </p:sp>
        <p:sp>
          <p:nvSpPr>
            <p:cNvPr id="224" name="矩形: 圆角 551"/>
            <p:cNvSpPr/>
            <p:nvPr/>
          </p:nvSpPr>
          <p:spPr>
            <a:xfrm>
              <a:off x="1889" y="6987"/>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用户参与互动</a:t>
              </a:r>
              <a:endParaRPr lang="zh-CN" altLang="en-US" sz="1000" b="1" kern="0" dirty="0">
                <a:solidFill>
                  <a:srgbClr val="FFFFFF"/>
                </a:solidFill>
                <a:latin typeface="微软雅黑"/>
                <a:ea typeface="微软雅黑"/>
                <a:cs typeface="微软雅黑"/>
                <a:sym typeface="微软雅黑"/>
              </a:endParaRPr>
            </a:p>
          </p:txBody>
        </p:sp>
        <p:sp>
          <p:nvSpPr>
            <p:cNvPr id="225" name="矩形: 圆角 552"/>
            <p:cNvSpPr/>
            <p:nvPr/>
          </p:nvSpPr>
          <p:spPr>
            <a:xfrm>
              <a:off x="4258" y="6987"/>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营销自动化工具</a:t>
              </a:r>
              <a:endParaRPr lang="zh-CN" altLang="en-US" sz="1000" b="1" kern="0" dirty="0">
                <a:solidFill>
                  <a:srgbClr val="FFFFFF"/>
                </a:solidFill>
                <a:latin typeface="微软雅黑"/>
                <a:ea typeface="微软雅黑"/>
                <a:cs typeface="微软雅黑"/>
                <a:sym typeface="微软雅黑"/>
              </a:endParaRPr>
            </a:p>
          </p:txBody>
        </p:sp>
        <p:sp>
          <p:nvSpPr>
            <p:cNvPr id="226" name="文本框 225"/>
            <p:cNvSpPr txBox="1"/>
            <p:nvPr/>
          </p:nvSpPr>
          <p:spPr>
            <a:xfrm>
              <a:off x="2733" y="6132"/>
              <a:ext cx="2935" cy="40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0042FF"/>
                  </a:solidFill>
                  <a:latin typeface="微软雅黑"/>
                  <a:ea typeface="微软雅黑"/>
                  <a:cs typeface="微软雅黑"/>
                </a:rPr>
                <a:t>精细化营销中心</a:t>
              </a:r>
              <a:endParaRPr lang="zh-CN" altLang="en-US" sz="1000" b="1" kern="0">
                <a:solidFill>
                  <a:srgbClr val="0042FF"/>
                </a:solidFill>
                <a:latin typeface="微软雅黑"/>
                <a:ea typeface="微软雅黑"/>
                <a:cs typeface="微软雅黑"/>
              </a:endParaRPr>
            </a:p>
          </p:txBody>
        </p:sp>
      </p:grpSp>
      <p:grpSp>
        <p:nvGrpSpPr>
          <p:cNvPr id="227" name="组合 226"/>
          <p:cNvGrpSpPr/>
          <p:nvPr/>
        </p:nvGrpSpPr>
        <p:grpSpPr>
          <a:xfrm>
            <a:off x="8110855" y="3871595"/>
            <a:ext cx="3397885" cy="810260"/>
            <a:chOff x="1701" y="6132"/>
            <a:chExt cx="5000" cy="1276"/>
          </a:xfrm>
        </p:grpSpPr>
        <p:sp>
          <p:nvSpPr>
            <p:cNvPr id="228" name="矩形: 圆角 546"/>
            <p:cNvSpPr/>
            <p:nvPr/>
          </p:nvSpPr>
          <p:spPr>
            <a:xfrm>
              <a:off x="1701" y="6132"/>
              <a:ext cx="5000" cy="1276"/>
            </a:xfrm>
            <a:prstGeom prst="roundRect">
              <a:avLst>
                <a:gd name="adj" fmla="val 4110"/>
              </a:avLst>
            </a:prstGeom>
            <a:solidFill>
              <a:srgbClr val="3368FF">
                <a:alpha val="10000"/>
              </a:srgbClr>
            </a:solidFill>
            <a:ln w="12700" cap="flat" cmpd="sng" algn="ctr">
              <a:solidFill>
                <a:srgbClr val="3368FF">
                  <a:alpha val="5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endParaRPr>
            </a:p>
          </p:txBody>
        </p:sp>
        <p:sp>
          <p:nvSpPr>
            <p:cNvPr id="229" name="矩形: 圆角 547"/>
            <p:cNvSpPr/>
            <p:nvPr/>
          </p:nvSpPr>
          <p:spPr>
            <a:xfrm>
              <a:off x="1889" y="6575"/>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rPr>
                <a:t>智慧驾驶舱</a:t>
              </a:r>
              <a:endParaRPr lang="zh-CN" altLang="en-US" sz="1000" b="1" kern="0" dirty="0">
                <a:solidFill>
                  <a:srgbClr val="FFFFFF"/>
                </a:solidFill>
                <a:latin typeface="微软雅黑"/>
                <a:ea typeface="微软雅黑"/>
                <a:cs typeface="微软雅黑"/>
              </a:endParaRPr>
            </a:p>
          </p:txBody>
        </p:sp>
        <p:sp>
          <p:nvSpPr>
            <p:cNvPr id="230" name="矩形: 圆角 548"/>
            <p:cNvSpPr/>
            <p:nvPr/>
          </p:nvSpPr>
          <p:spPr>
            <a:xfrm>
              <a:off x="4258" y="6575"/>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业务及客户运营报表</a:t>
              </a:r>
              <a:endParaRPr lang="zh-CN" altLang="en-US" sz="1000" b="1" kern="0" dirty="0">
                <a:solidFill>
                  <a:srgbClr val="FFFFFF"/>
                </a:solidFill>
                <a:latin typeface="微软雅黑"/>
                <a:ea typeface="微软雅黑"/>
                <a:cs typeface="微软雅黑"/>
                <a:sym typeface="微软雅黑"/>
              </a:endParaRPr>
            </a:p>
          </p:txBody>
        </p:sp>
        <p:sp>
          <p:nvSpPr>
            <p:cNvPr id="231" name="矩形: 圆角 551"/>
            <p:cNvSpPr/>
            <p:nvPr/>
          </p:nvSpPr>
          <p:spPr>
            <a:xfrm>
              <a:off x="1889" y="6987"/>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b="1" kern="0" dirty="0">
                  <a:solidFill>
                    <a:srgbClr val="FFFFFF"/>
                  </a:solidFill>
                  <a:latin typeface="微软雅黑"/>
                  <a:ea typeface="微软雅黑"/>
                  <a:cs typeface="微软雅黑"/>
                  <a:sym typeface="微软雅黑"/>
                </a:rPr>
                <a:t>SEO</a:t>
              </a:r>
              <a:r>
                <a:rPr lang="zh-CN" altLang="en-US" sz="1000" b="1" kern="0" dirty="0">
                  <a:solidFill>
                    <a:srgbClr val="FFFFFF"/>
                  </a:solidFill>
                  <a:latin typeface="微软雅黑"/>
                  <a:ea typeface="微软雅黑"/>
                  <a:cs typeface="微软雅黑"/>
                  <a:sym typeface="微软雅黑"/>
                </a:rPr>
                <a:t>优化分析</a:t>
              </a:r>
              <a:endParaRPr lang="zh-CN" altLang="en-US" sz="1000" b="1" kern="0" dirty="0">
                <a:solidFill>
                  <a:srgbClr val="FFFFFF"/>
                </a:solidFill>
                <a:latin typeface="微软雅黑"/>
                <a:ea typeface="微软雅黑"/>
                <a:cs typeface="微软雅黑"/>
                <a:sym typeface="微软雅黑"/>
              </a:endParaRPr>
            </a:p>
          </p:txBody>
        </p:sp>
        <p:sp>
          <p:nvSpPr>
            <p:cNvPr id="232" name="矩形: 圆角 552"/>
            <p:cNvSpPr/>
            <p:nvPr/>
          </p:nvSpPr>
          <p:spPr>
            <a:xfrm>
              <a:off x="4258" y="6987"/>
              <a:ext cx="2255" cy="322"/>
            </a:xfrm>
            <a:prstGeom prst="roundRect">
              <a:avLst>
                <a:gd name="adj" fmla="val 23341"/>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sym typeface="微软雅黑"/>
                </a:rPr>
                <a:t>智能客户运营决策</a:t>
              </a:r>
              <a:endParaRPr lang="zh-CN" altLang="en-US" sz="1000" b="1" kern="0" dirty="0">
                <a:solidFill>
                  <a:srgbClr val="FFFFFF"/>
                </a:solidFill>
                <a:latin typeface="微软雅黑"/>
                <a:ea typeface="微软雅黑"/>
                <a:cs typeface="微软雅黑"/>
                <a:sym typeface="微软雅黑"/>
              </a:endParaRPr>
            </a:p>
          </p:txBody>
        </p:sp>
        <p:sp>
          <p:nvSpPr>
            <p:cNvPr id="242" name="文本框 241"/>
            <p:cNvSpPr txBox="1"/>
            <p:nvPr/>
          </p:nvSpPr>
          <p:spPr>
            <a:xfrm>
              <a:off x="2733" y="6132"/>
              <a:ext cx="2935" cy="40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0042FF"/>
                  </a:solidFill>
                  <a:latin typeface="微软雅黑"/>
                  <a:ea typeface="微软雅黑"/>
                  <a:cs typeface="微软雅黑"/>
                </a:rPr>
                <a:t>数字决策分析平台</a:t>
              </a:r>
              <a:endParaRPr lang="zh-CN" altLang="en-US" sz="1000" b="1" kern="0">
                <a:solidFill>
                  <a:srgbClr val="0042FF"/>
                </a:solidFill>
                <a:latin typeface="微软雅黑"/>
                <a:ea typeface="微软雅黑"/>
                <a:cs typeface="微软雅黑"/>
              </a:endParaRPr>
            </a:p>
          </p:txBody>
        </p:sp>
      </p:grpSp>
      <p:sp>
        <p:nvSpPr>
          <p:cNvPr id="306" name="矩形: 圆角 169"/>
          <p:cNvSpPr/>
          <p:nvPr/>
        </p:nvSpPr>
        <p:spPr>
          <a:xfrm>
            <a:off x="1045210" y="6059805"/>
            <a:ext cx="10533380" cy="511810"/>
          </a:xfrm>
          <a:prstGeom prst="roundRect">
            <a:avLst>
              <a:gd name="adj" fmla="val 1258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200" b="1" dirty="0">
              <a:solidFill>
                <a:srgbClr val="FFFFFF"/>
              </a:solidFill>
              <a:latin typeface="微软雅黑"/>
              <a:ea typeface="微软雅黑"/>
              <a:cs typeface="微软雅黑"/>
            </a:endParaRPr>
          </a:p>
        </p:txBody>
      </p:sp>
      <p:sp>
        <p:nvSpPr>
          <p:cNvPr id="310" name="Text Box 1030"/>
          <p:cNvSpPr txBox="1">
            <a:spLocks noChangeArrowheads="1"/>
          </p:cNvSpPr>
          <p:nvPr/>
        </p:nvSpPr>
        <p:spPr bwMode="auto">
          <a:xfrm>
            <a:off x="1253935" y="6141085"/>
            <a:ext cx="1638300" cy="36957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FFFFFF"/>
                </a:solidFill>
                <a:latin typeface="微软雅黑"/>
                <a:ea typeface="微软雅黑"/>
                <a:cs typeface="微软雅黑"/>
              </a:defRPr>
            </a:lvl1pPr>
            <a:lvl2pPr marL="742950" indent="-285750" eaLnBrk="0" hangingPunct="0">
              <a:defRPr kumimoji="1" sz="1600">
                <a:solidFill>
                  <a:srgbClr val="FFFFFF"/>
                </a:solidFill>
                <a:latin typeface="微软雅黑"/>
                <a:ea typeface="微软雅黑"/>
                <a:cs typeface="微软雅黑"/>
              </a:defRPr>
            </a:lvl2pPr>
            <a:lvl3pPr marL="1143000" indent="-228600" eaLnBrk="0" hangingPunct="0">
              <a:defRPr kumimoji="1" sz="1600">
                <a:solidFill>
                  <a:srgbClr val="FFFFFF"/>
                </a:solidFill>
                <a:latin typeface="微软雅黑"/>
                <a:ea typeface="微软雅黑"/>
                <a:cs typeface="微软雅黑"/>
              </a:defRPr>
            </a:lvl3pPr>
            <a:lvl4pPr marL="1600200" indent="-228600" eaLnBrk="0" hangingPunct="0">
              <a:defRPr kumimoji="1" sz="1600">
                <a:solidFill>
                  <a:srgbClr val="FFFFFF"/>
                </a:solidFill>
                <a:latin typeface="微软雅黑"/>
                <a:ea typeface="微软雅黑"/>
                <a:cs typeface="微软雅黑"/>
              </a:defRPr>
            </a:lvl4pPr>
            <a:lvl5pPr marL="2057400" indent="-228600" eaLnBrk="0" hangingPunct="0">
              <a:defRPr kumimoji="1" sz="1600">
                <a:solidFill>
                  <a:srgbClr val="FFFFFF"/>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FFFFFF"/>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FFFFFF"/>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FFFFFF"/>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FFFFFF"/>
                </a:solidFill>
                <a:latin typeface="微软雅黑"/>
                <a:ea typeface="微软雅黑"/>
                <a:cs typeface="微软雅黑"/>
              </a:defRPr>
            </a:lvl9pPr>
          </a:lstStyle>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200" b="1" dirty="0">
                <a:solidFill>
                  <a:srgbClr val="FFFFFF"/>
                </a:solidFill>
                <a:latin typeface="微软雅黑"/>
                <a:ea typeface="微软雅黑"/>
                <a:cs typeface="微软雅黑"/>
              </a:rPr>
              <a:t>客户画像</a:t>
            </a:r>
            <a:endParaRPr lang="zh-CN" altLang="en-US" sz="1200" b="1" dirty="0">
              <a:solidFill>
                <a:srgbClr val="FFFFFF"/>
              </a:solidFill>
              <a:latin typeface="微软雅黑"/>
              <a:ea typeface="微软雅黑"/>
              <a:cs typeface="微软雅黑"/>
            </a:endParaRPr>
          </a:p>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000" dirty="0">
                <a:solidFill>
                  <a:srgbClr val="FFFFFF"/>
                </a:solidFill>
                <a:latin typeface="微软雅黑"/>
                <a:ea typeface="微软雅黑"/>
                <a:cs typeface="微软雅黑"/>
              </a:rPr>
              <a:t>客户分级分类</a:t>
            </a:r>
            <a:endParaRPr lang="zh-CN" altLang="en-US" sz="1000" dirty="0">
              <a:solidFill>
                <a:srgbClr val="FFFFFF"/>
              </a:solidFill>
              <a:latin typeface="微软雅黑"/>
              <a:ea typeface="微软雅黑"/>
              <a:cs typeface="微软雅黑"/>
            </a:endParaRPr>
          </a:p>
        </p:txBody>
      </p:sp>
      <p:cxnSp>
        <p:nvCxnSpPr>
          <p:cNvPr id="311" name="直接连接符 310"/>
          <p:cNvCxnSpPr/>
          <p:nvPr/>
        </p:nvCxnSpPr>
        <p:spPr>
          <a:xfrm>
            <a:off x="3132455" y="6094095"/>
            <a:ext cx="0" cy="425450"/>
          </a:xfrm>
          <a:prstGeom prst="line">
            <a:avLst/>
          </a:prstGeom>
          <a:ln>
            <a:solidFill>
              <a:srgbClr val="FFFFFF"/>
            </a:solidFill>
          </a:ln>
        </p:spPr>
        <p:style>
          <a:lnRef idx="2">
            <a:srgbClr val="0042FF"/>
          </a:lnRef>
          <a:fillRef idx="0">
            <a:srgbClr val="FFFFFF"/>
          </a:fillRef>
          <a:effectRef idx="0">
            <a:srgbClr val="FFFFFF"/>
          </a:effectRef>
          <a:fontRef idx="minor">
            <a:srgbClr val="383838"/>
          </a:fontRef>
        </p:style>
      </p:cxnSp>
      <p:sp>
        <p:nvSpPr>
          <p:cNvPr id="312" name="Text Box 1030"/>
          <p:cNvSpPr txBox="1">
            <a:spLocks noChangeArrowheads="1"/>
          </p:cNvSpPr>
          <p:nvPr/>
        </p:nvSpPr>
        <p:spPr bwMode="auto">
          <a:xfrm>
            <a:off x="3423920" y="6141085"/>
            <a:ext cx="1565910" cy="36957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FFFFFF"/>
                </a:solidFill>
                <a:latin typeface="微软雅黑"/>
                <a:ea typeface="微软雅黑"/>
                <a:cs typeface="微软雅黑"/>
              </a:defRPr>
            </a:lvl1pPr>
            <a:lvl2pPr marL="742950" indent="-285750" eaLnBrk="0" hangingPunct="0">
              <a:defRPr kumimoji="1" sz="1600">
                <a:solidFill>
                  <a:srgbClr val="FFFFFF"/>
                </a:solidFill>
                <a:latin typeface="微软雅黑"/>
                <a:ea typeface="微软雅黑"/>
                <a:cs typeface="微软雅黑"/>
              </a:defRPr>
            </a:lvl2pPr>
            <a:lvl3pPr marL="1143000" indent="-228600" eaLnBrk="0" hangingPunct="0">
              <a:defRPr kumimoji="1" sz="1600">
                <a:solidFill>
                  <a:srgbClr val="FFFFFF"/>
                </a:solidFill>
                <a:latin typeface="微软雅黑"/>
                <a:ea typeface="微软雅黑"/>
                <a:cs typeface="微软雅黑"/>
              </a:defRPr>
            </a:lvl3pPr>
            <a:lvl4pPr marL="1600200" indent="-228600" eaLnBrk="0" hangingPunct="0">
              <a:defRPr kumimoji="1" sz="1600">
                <a:solidFill>
                  <a:srgbClr val="FFFFFF"/>
                </a:solidFill>
                <a:latin typeface="微软雅黑"/>
                <a:ea typeface="微软雅黑"/>
                <a:cs typeface="微软雅黑"/>
              </a:defRPr>
            </a:lvl4pPr>
            <a:lvl5pPr marL="2057400" indent="-228600" eaLnBrk="0" hangingPunct="0">
              <a:defRPr kumimoji="1" sz="1600">
                <a:solidFill>
                  <a:srgbClr val="FFFFFF"/>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FFFFFF"/>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FFFFFF"/>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FFFFFF"/>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FFFFFF"/>
                </a:solidFill>
                <a:latin typeface="微软雅黑"/>
                <a:ea typeface="微软雅黑"/>
                <a:cs typeface="微软雅黑"/>
              </a:defRPr>
            </a:lvl9pPr>
          </a:lstStyle>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200" b="1" dirty="0">
                <a:solidFill>
                  <a:srgbClr val="FFFFFF"/>
                </a:solidFill>
                <a:latin typeface="微软雅黑"/>
                <a:ea typeface="微软雅黑"/>
                <a:cs typeface="微软雅黑"/>
              </a:rPr>
              <a:t>钩子产品</a:t>
            </a:r>
            <a:endParaRPr lang="zh-CN" altLang="en-US" sz="1200" b="1" dirty="0">
              <a:solidFill>
                <a:srgbClr val="FFFFFF"/>
              </a:solidFill>
              <a:latin typeface="微软雅黑"/>
              <a:ea typeface="微软雅黑"/>
              <a:cs typeface="微软雅黑"/>
            </a:endParaRPr>
          </a:p>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000" dirty="0">
                <a:solidFill>
                  <a:srgbClr val="FFFFFF"/>
                </a:solidFill>
                <a:latin typeface="微软雅黑"/>
                <a:ea typeface="微软雅黑"/>
                <a:cs typeface="微软雅黑"/>
              </a:rPr>
              <a:t>核心竞争力产品</a:t>
            </a:r>
            <a:endParaRPr lang="zh-CN" altLang="en-US" sz="1000" dirty="0">
              <a:solidFill>
                <a:srgbClr val="FFFFFF"/>
              </a:solidFill>
              <a:latin typeface="微软雅黑"/>
              <a:ea typeface="微软雅黑"/>
              <a:cs typeface="微软雅黑"/>
            </a:endParaRPr>
          </a:p>
        </p:txBody>
      </p:sp>
      <p:cxnSp>
        <p:nvCxnSpPr>
          <p:cNvPr id="313" name="直接连接符 312"/>
          <p:cNvCxnSpPr/>
          <p:nvPr/>
        </p:nvCxnSpPr>
        <p:spPr>
          <a:xfrm>
            <a:off x="5248910" y="6094095"/>
            <a:ext cx="0" cy="425450"/>
          </a:xfrm>
          <a:prstGeom prst="line">
            <a:avLst/>
          </a:prstGeom>
          <a:ln>
            <a:solidFill>
              <a:srgbClr val="FFFFFF"/>
            </a:solidFill>
          </a:ln>
        </p:spPr>
        <p:style>
          <a:lnRef idx="2">
            <a:srgbClr val="0042FF"/>
          </a:lnRef>
          <a:fillRef idx="0">
            <a:srgbClr val="FFFFFF"/>
          </a:fillRef>
          <a:effectRef idx="0">
            <a:srgbClr val="FFFFFF"/>
          </a:effectRef>
          <a:fontRef idx="minor">
            <a:srgbClr val="383838"/>
          </a:fontRef>
        </p:style>
      </p:cxnSp>
      <p:sp>
        <p:nvSpPr>
          <p:cNvPr id="314" name="Text Box 1030"/>
          <p:cNvSpPr txBox="1">
            <a:spLocks noChangeArrowheads="1"/>
          </p:cNvSpPr>
          <p:nvPr/>
        </p:nvSpPr>
        <p:spPr bwMode="auto">
          <a:xfrm>
            <a:off x="5533327" y="6141085"/>
            <a:ext cx="1565910" cy="36957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FFFFFF"/>
                </a:solidFill>
                <a:latin typeface="微软雅黑"/>
                <a:ea typeface="微软雅黑"/>
                <a:cs typeface="微软雅黑"/>
              </a:defRPr>
            </a:lvl1pPr>
            <a:lvl2pPr marL="742950" indent="-285750" eaLnBrk="0" hangingPunct="0">
              <a:defRPr kumimoji="1" sz="1600">
                <a:solidFill>
                  <a:srgbClr val="FFFFFF"/>
                </a:solidFill>
                <a:latin typeface="微软雅黑"/>
                <a:ea typeface="微软雅黑"/>
                <a:cs typeface="微软雅黑"/>
              </a:defRPr>
            </a:lvl2pPr>
            <a:lvl3pPr marL="1143000" indent="-228600" eaLnBrk="0" hangingPunct="0">
              <a:defRPr kumimoji="1" sz="1600">
                <a:solidFill>
                  <a:srgbClr val="FFFFFF"/>
                </a:solidFill>
                <a:latin typeface="微软雅黑"/>
                <a:ea typeface="微软雅黑"/>
                <a:cs typeface="微软雅黑"/>
              </a:defRPr>
            </a:lvl3pPr>
            <a:lvl4pPr marL="1600200" indent="-228600" eaLnBrk="0" hangingPunct="0">
              <a:defRPr kumimoji="1" sz="1600">
                <a:solidFill>
                  <a:srgbClr val="FFFFFF"/>
                </a:solidFill>
                <a:latin typeface="微软雅黑"/>
                <a:ea typeface="微软雅黑"/>
                <a:cs typeface="微软雅黑"/>
              </a:defRPr>
            </a:lvl4pPr>
            <a:lvl5pPr marL="2057400" indent="-228600" eaLnBrk="0" hangingPunct="0">
              <a:defRPr kumimoji="1" sz="1600">
                <a:solidFill>
                  <a:srgbClr val="FFFFFF"/>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FFFFFF"/>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FFFFFF"/>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FFFFFF"/>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FFFFFF"/>
                </a:solidFill>
                <a:latin typeface="微软雅黑"/>
                <a:ea typeface="微软雅黑"/>
                <a:cs typeface="微软雅黑"/>
              </a:defRPr>
            </a:lvl9pPr>
          </a:lstStyle>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200" b="1" dirty="0">
                <a:solidFill>
                  <a:srgbClr val="FFFFFF"/>
                </a:solidFill>
                <a:latin typeface="微软雅黑"/>
                <a:ea typeface="微软雅黑"/>
                <a:cs typeface="微软雅黑"/>
              </a:rPr>
              <a:t>情绪价值</a:t>
            </a:r>
            <a:endParaRPr lang="zh-CN" altLang="en-US" sz="1200" b="1" dirty="0">
              <a:solidFill>
                <a:srgbClr val="FFFFFF"/>
              </a:solidFill>
              <a:latin typeface="微软雅黑"/>
              <a:ea typeface="微软雅黑"/>
              <a:cs typeface="微软雅黑"/>
            </a:endParaRPr>
          </a:p>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000" dirty="0">
                <a:solidFill>
                  <a:srgbClr val="FFFFFF"/>
                </a:solidFill>
                <a:latin typeface="微软雅黑"/>
                <a:ea typeface="微软雅黑"/>
                <a:cs typeface="微软雅黑"/>
              </a:rPr>
              <a:t>话术</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活动</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内容</a:t>
            </a:r>
            <a:endParaRPr lang="zh-CN" altLang="en-US" sz="1000" dirty="0">
              <a:solidFill>
                <a:srgbClr val="FFFFFF"/>
              </a:solidFill>
              <a:latin typeface="微软雅黑"/>
              <a:ea typeface="微软雅黑"/>
              <a:cs typeface="微软雅黑"/>
            </a:endParaRPr>
          </a:p>
        </p:txBody>
      </p:sp>
      <p:sp>
        <p:nvSpPr>
          <p:cNvPr id="317" name="textbox 524"/>
          <p:cNvSpPr/>
          <p:nvPr/>
        </p:nvSpPr>
        <p:spPr>
          <a:xfrm>
            <a:off x="3230500" y="4986655"/>
            <a:ext cx="1922145" cy="812800"/>
          </a:xfrm>
          <a:prstGeom prst="rect">
            <a:avLst/>
          </a:prstGeom>
          <a:solidFill>
            <a:srgbClr val="3368FF">
              <a:alpha val="5000"/>
            </a:srgbClr>
          </a:solidFill>
          <a:ln>
            <a:solidFill>
              <a:srgbClr val="3368FF"/>
            </a:solidFill>
          </a:ln>
        </p:spPr>
        <p:txBody>
          <a:bodyPr vert="horz" wrap="square" lIns="0" tIns="0" rIns="0" bIns="0" anchor="b" anchorCtr="0">
            <a:noAutofit/>
          </a:bodyPr>
          <a:lstStyle/>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24" name="textbox 524"/>
          <p:cNvSpPr/>
          <p:nvPr/>
        </p:nvSpPr>
        <p:spPr>
          <a:xfrm>
            <a:off x="5355210" y="4986655"/>
            <a:ext cx="1922145" cy="812800"/>
          </a:xfrm>
          <a:prstGeom prst="rect">
            <a:avLst/>
          </a:prstGeom>
          <a:solidFill>
            <a:srgbClr val="3368FF">
              <a:alpha val="5000"/>
            </a:srgbClr>
          </a:solidFill>
          <a:ln>
            <a:solidFill>
              <a:srgbClr val="3368FF"/>
            </a:solidFill>
          </a:ln>
        </p:spPr>
        <p:txBody>
          <a:bodyPr vert="horz" wrap="square" lIns="0" tIns="0" rIns="0" bIns="0" anchor="b" anchorCtr="0">
            <a:noAutofit/>
          </a:bodyPr>
          <a:lstStyle/>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25" name="textbox 524"/>
          <p:cNvSpPr/>
          <p:nvPr/>
        </p:nvSpPr>
        <p:spPr>
          <a:xfrm>
            <a:off x="7467220" y="4986655"/>
            <a:ext cx="1922145" cy="812800"/>
          </a:xfrm>
          <a:prstGeom prst="rect">
            <a:avLst/>
          </a:prstGeom>
          <a:solidFill>
            <a:srgbClr val="3368FF">
              <a:alpha val="5000"/>
            </a:srgbClr>
          </a:solidFill>
          <a:ln>
            <a:solidFill>
              <a:srgbClr val="3368FF"/>
            </a:solidFill>
          </a:ln>
        </p:spPr>
        <p:txBody>
          <a:bodyPr vert="horz" wrap="square" lIns="0" tIns="0" rIns="0" bIns="0" anchor="b" anchorCtr="0">
            <a:noAutofit/>
          </a:bodyPr>
          <a:lstStyle/>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26" name="textbox 524"/>
          <p:cNvSpPr/>
          <p:nvPr/>
        </p:nvSpPr>
        <p:spPr>
          <a:xfrm>
            <a:off x="9585580" y="4986655"/>
            <a:ext cx="1922145" cy="812800"/>
          </a:xfrm>
          <a:prstGeom prst="rect">
            <a:avLst/>
          </a:prstGeom>
          <a:solidFill>
            <a:srgbClr val="3368FF">
              <a:alpha val="5000"/>
            </a:srgbClr>
          </a:solidFill>
          <a:ln>
            <a:solidFill>
              <a:srgbClr val="3368FF"/>
            </a:solidFill>
          </a:ln>
        </p:spPr>
        <p:txBody>
          <a:bodyPr vert="horz" wrap="square" lIns="0" tIns="0" rIns="0" bIns="0" anchor="b" anchorCtr="0">
            <a:noAutofit/>
          </a:bodyPr>
          <a:lstStyle/>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a:p>
            <a:pPr lvl="0" algn="ctr" eaLnBrk="0">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327" name="Disclaimer"/>
          <p:cNvSpPr/>
          <p:nvPr/>
        </p:nvSpPr>
        <p:spPr>
          <a:xfrm>
            <a:off x="3756025" y="4900295"/>
            <a:ext cx="901065" cy="226695"/>
          </a:xfrm>
          <a:prstGeom prst="roundRect">
            <a:avLst/>
          </a:prstGeom>
          <a:solidFill>
            <a:srgbClr val="FFFFFF"/>
          </a:solidFill>
          <a:ln>
            <a:solidFill>
              <a:srgbClr val="3368FF"/>
            </a:solidFill>
          </a:ln>
        </p:spPr>
        <p:txBody>
          <a:bodyPr vert="horz" wrap="square" lIns="0" tIns="0" rIns="0" bIns="0" rtlCol="0" anchor="b" anchorCtr="0">
            <a:noAutofit/>
          </a:bodyPr>
          <a:lstStyle/>
          <a:p>
            <a:pPr lvl="0" algn="ctr" eaLnBrk="0">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绑定</a:t>
            </a:r>
            <a:endParaRPr lang="zh-CN" altLang="en-US" sz="1200" b="1" dirty="0">
              <a:solidFill>
                <a:srgbClr val="0042FF"/>
              </a:solidFill>
              <a:latin typeface="微软雅黑"/>
              <a:ea typeface="微软雅黑"/>
              <a:cs typeface="微软雅黑"/>
              <a:sym typeface="微软雅黑"/>
            </a:endParaRPr>
          </a:p>
        </p:txBody>
      </p:sp>
      <p:sp>
        <p:nvSpPr>
          <p:cNvPr id="328" name="Disclaimer"/>
          <p:cNvSpPr/>
          <p:nvPr/>
        </p:nvSpPr>
        <p:spPr>
          <a:xfrm>
            <a:off x="5865750" y="4900295"/>
            <a:ext cx="901065" cy="226695"/>
          </a:xfrm>
          <a:prstGeom prst="roundRect">
            <a:avLst/>
          </a:prstGeom>
          <a:solidFill>
            <a:srgbClr val="FFFFFF"/>
          </a:solidFill>
          <a:ln>
            <a:solidFill>
              <a:srgbClr val="3368FF"/>
            </a:solidFill>
          </a:ln>
        </p:spPr>
        <p:txBody>
          <a:bodyPr vert="horz" wrap="square" lIns="0" tIns="0" rIns="0" bIns="0" rtlCol="0" anchor="b" anchorCtr="0">
            <a:noAutofit/>
          </a:bodyPr>
          <a:lstStyle/>
          <a:p>
            <a:pPr lvl="0" algn="ctr" eaLnBrk="0">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保持</a:t>
            </a:r>
            <a:endParaRPr lang="zh-CN" altLang="en-US" sz="1200" b="1" dirty="0">
              <a:solidFill>
                <a:srgbClr val="0042FF"/>
              </a:solidFill>
              <a:latin typeface="微软雅黑"/>
              <a:ea typeface="微软雅黑"/>
              <a:cs typeface="微软雅黑"/>
              <a:sym typeface="微软雅黑"/>
            </a:endParaRPr>
          </a:p>
        </p:txBody>
      </p:sp>
      <p:sp>
        <p:nvSpPr>
          <p:cNvPr id="331" name="Disclaimer"/>
          <p:cNvSpPr/>
          <p:nvPr/>
        </p:nvSpPr>
        <p:spPr>
          <a:xfrm>
            <a:off x="7977760" y="4900295"/>
            <a:ext cx="901065" cy="226695"/>
          </a:xfrm>
          <a:prstGeom prst="roundRect">
            <a:avLst/>
          </a:prstGeom>
          <a:solidFill>
            <a:srgbClr val="FFFFFF"/>
          </a:solidFill>
          <a:ln>
            <a:solidFill>
              <a:srgbClr val="3368FF"/>
            </a:solidFill>
          </a:ln>
        </p:spPr>
        <p:txBody>
          <a:bodyPr vert="horz" wrap="square" lIns="0" tIns="0" rIns="0" bIns="0" rtlCol="0" anchor="b" anchorCtr="0">
            <a:noAutofit/>
          </a:bodyPr>
          <a:lstStyle/>
          <a:p>
            <a:pPr lvl="0" algn="ctr" eaLnBrk="0">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唤醒</a:t>
            </a:r>
            <a:endParaRPr lang="zh-CN" altLang="en-US" sz="1200" b="1" dirty="0">
              <a:solidFill>
                <a:srgbClr val="0042FF"/>
              </a:solidFill>
              <a:latin typeface="微软雅黑"/>
              <a:ea typeface="微软雅黑"/>
              <a:cs typeface="微软雅黑"/>
              <a:sym typeface="微软雅黑"/>
            </a:endParaRPr>
          </a:p>
        </p:txBody>
      </p:sp>
      <p:sp>
        <p:nvSpPr>
          <p:cNvPr id="335" name="Disclaimer"/>
          <p:cNvSpPr/>
          <p:nvPr/>
        </p:nvSpPr>
        <p:spPr>
          <a:xfrm>
            <a:off x="10096120" y="4900295"/>
            <a:ext cx="901065" cy="226695"/>
          </a:xfrm>
          <a:prstGeom prst="roundRect">
            <a:avLst/>
          </a:prstGeom>
          <a:solidFill>
            <a:srgbClr val="FFFFFF"/>
          </a:solidFill>
          <a:ln>
            <a:solidFill>
              <a:srgbClr val="3368FF"/>
            </a:solidFill>
          </a:ln>
        </p:spPr>
        <p:txBody>
          <a:bodyPr vert="horz" wrap="square" lIns="0" tIns="0" rIns="0" bIns="0" rtlCol="0" anchor="b" anchorCtr="0">
            <a:noAutofit/>
          </a:bodyPr>
          <a:lstStyle/>
          <a:p>
            <a:pPr lvl="0" algn="ctr" eaLnBrk="0">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挖潜</a:t>
            </a:r>
            <a:endParaRPr lang="zh-CN" altLang="en-US" sz="1200" b="1" dirty="0">
              <a:solidFill>
                <a:srgbClr val="0042FF"/>
              </a:solidFill>
              <a:latin typeface="微软雅黑"/>
              <a:ea typeface="微软雅黑"/>
              <a:cs typeface="微软雅黑"/>
              <a:sym typeface="微软雅黑"/>
            </a:endParaRPr>
          </a:p>
        </p:txBody>
      </p:sp>
      <p:sp>
        <p:nvSpPr>
          <p:cNvPr id="336" name="Text Box 1030"/>
          <p:cNvSpPr txBox="1">
            <a:spLocks noChangeArrowheads="1"/>
          </p:cNvSpPr>
          <p:nvPr/>
        </p:nvSpPr>
        <p:spPr bwMode="auto">
          <a:xfrm>
            <a:off x="7645337" y="6141085"/>
            <a:ext cx="1565910" cy="36957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FFFFFF"/>
                </a:solidFill>
                <a:latin typeface="微软雅黑"/>
                <a:ea typeface="微软雅黑"/>
                <a:cs typeface="微软雅黑"/>
              </a:defRPr>
            </a:lvl1pPr>
            <a:lvl2pPr marL="742950" indent="-285750" eaLnBrk="0" hangingPunct="0">
              <a:defRPr kumimoji="1" sz="1600">
                <a:solidFill>
                  <a:srgbClr val="FFFFFF"/>
                </a:solidFill>
                <a:latin typeface="微软雅黑"/>
                <a:ea typeface="微软雅黑"/>
                <a:cs typeface="微软雅黑"/>
              </a:defRPr>
            </a:lvl2pPr>
            <a:lvl3pPr marL="1143000" indent="-228600" eaLnBrk="0" hangingPunct="0">
              <a:defRPr kumimoji="1" sz="1600">
                <a:solidFill>
                  <a:srgbClr val="FFFFFF"/>
                </a:solidFill>
                <a:latin typeface="微软雅黑"/>
                <a:ea typeface="微软雅黑"/>
                <a:cs typeface="微软雅黑"/>
              </a:defRPr>
            </a:lvl3pPr>
            <a:lvl4pPr marL="1600200" indent="-228600" eaLnBrk="0" hangingPunct="0">
              <a:defRPr kumimoji="1" sz="1600">
                <a:solidFill>
                  <a:srgbClr val="FFFFFF"/>
                </a:solidFill>
                <a:latin typeface="微软雅黑"/>
                <a:ea typeface="微软雅黑"/>
                <a:cs typeface="微软雅黑"/>
              </a:defRPr>
            </a:lvl4pPr>
            <a:lvl5pPr marL="2057400" indent="-228600" eaLnBrk="0" hangingPunct="0">
              <a:defRPr kumimoji="1" sz="1600">
                <a:solidFill>
                  <a:srgbClr val="FFFFFF"/>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FFFFFF"/>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FFFFFF"/>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FFFFFF"/>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FFFFFF"/>
                </a:solidFill>
                <a:latin typeface="微软雅黑"/>
                <a:ea typeface="微软雅黑"/>
                <a:cs typeface="微软雅黑"/>
              </a:defRPr>
            </a:lvl9pPr>
          </a:lstStyle>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200" b="1" dirty="0">
                <a:solidFill>
                  <a:srgbClr val="FFFFFF"/>
                </a:solidFill>
                <a:latin typeface="微软雅黑"/>
                <a:ea typeface="微软雅黑"/>
                <a:cs typeface="微软雅黑"/>
              </a:rPr>
              <a:t>特殊政策</a:t>
            </a:r>
            <a:endParaRPr lang="zh-CN" altLang="en-US" sz="1200" b="1" dirty="0">
              <a:solidFill>
                <a:srgbClr val="FFFFFF"/>
              </a:solidFill>
              <a:latin typeface="微软雅黑"/>
              <a:ea typeface="微软雅黑"/>
              <a:cs typeface="微软雅黑"/>
            </a:endParaRPr>
          </a:p>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sz="1000" dirty="0">
                <a:solidFill>
                  <a:srgbClr val="FFFFFF"/>
                </a:solidFill>
                <a:latin typeface="微软雅黑"/>
                <a:ea typeface="微软雅黑"/>
                <a:cs typeface="微软雅黑"/>
              </a:rPr>
              <a:t>流失预警</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流失后唤醒</a:t>
            </a:r>
            <a:endParaRPr lang="zh-CN" altLang="en-US" sz="1000" dirty="0">
              <a:solidFill>
                <a:srgbClr val="FFFFFF"/>
              </a:solidFill>
              <a:latin typeface="微软雅黑"/>
              <a:ea typeface="微软雅黑"/>
              <a:cs typeface="微软雅黑"/>
            </a:endParaRPr>
          </a:p>
        </p:txBody>
      </p:sp>
      <p:sp>
        <p:nvSpPr>
          <p:cNvPr id="337" name="Text Box 1030"/>
          <p:cNvSpPr txBox="1">
            <a:spLocks noChangeArrowheads="1"/>
          </p:cNvSpPr>
          <p:nvPr/>
        </p:nvSpPr>
        <p:spPr bwMode="auto">
          <a:xfrm>
            <a:off x="9763697" y="6141085"/>
            <a:ext cx="1565910" cy="36957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nchor="ctr" anchorCtr="0" lIns="0" rIns="0" tIns="0" bIns="0">
            <a:noAutofit/>
          </a:bodyPr>
          <a:lstStyle>
            <a:lvl1pPr eaLnBrk="0" hangingPunct="0">
              <a:defRPr kumimoji="1" sz="1600">
                <a:solidFill>
                  <a:srgbClr val="FFFFFF"/>
                </a:solidFill>
                <a:latin typeface="微软雅黑"/>
                <a:ea typeface="微软雅黑"/>
                <a:cs typeface="微软雅黑"/>
              </a:defRPr>
            </a:lvl1pPr>
            <a:lvl2pPr marL="742950" indent="-285750" eaLnBrk="0" hangingPunct="0">
              <a:defRPr kumimoji="1" sz="1600">
                <a:solidFill>
                  <a:srgbClr val="FFFFFF"/>
                </a:solidFill>
                <a:latin typeface="微软雅黑"/>
                <a:ea typeface="微软雅黑"/>
                <a:cs typeface="微软雅黑"/>
              </a:defRPr>
            </a:lvl2pPr>
            <a:lvl3pPr marL="1143000" indent="-228600" eaLnBrk="0" hangingPunct="0">
              <a:defRPr kumimoji="1" sz="1600">
                <a:solidFill>
                  <a:srgbClr val="FFFFFF"/>
                </a:solidFill>
                <a:latin typeface="微软雅黑"/>
                <a:ea typeface="微软雅黑"/>
                <a:cs typeface="微软雅黑"/>
              </a:defRPr>
            </a:lvl3pPr>
            <a:lvl4pPr marL="1600200" indent="-228600" eaLnBrk="0" hangingPunct="0">
              <a:defRPr kumimoji="1" sz="1600">
                <a:solidFill>
                  <a:srgbClr val="FFFFFF"/>
                </a:solidFill>
                <a:latin typeface="微软雅黑"/>
                <a:ea typeface="微软雅黑"/>
                <a:cs typeface="微软雅黑"/>
              </a:defRPr>
            </a:lvl4pPr>
            <a:lvl5pPr marL="2057400" indent="-228600" eaLnBrk="0" hangingPunct="0">
              <a:defRPr kumimoji="1" sz="1600">
                <a:solidFill>
                  <a:srgbClr val="FFFFFF"/>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FFFFFF"/>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FFFFFF"/>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FFFFFF"/>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FFFFFF"/>
                </a:solidFill>
                <a:latin typeface="微软雅黑"/>
                <a:ea typeface="微软雅黑"/>
                <a:cs typeface="微软雅黑"/>
              </a:defRPr>
            </a:lvl9pPr>
          </a:lstStyle>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altLang="en-US" sz="1200" b="1" dirty="0">
                <a:solidFill>
                  <a:srgbClr val="FFFFFF"/>
                </a:solidFill>
                <a:latin typeface="微软雅黑"/>
                <a:ea typeface="微软雅黑"/>
                <a:cs typeface="微软雅黑"/>
              </a:rPr>
              <a:t>价值最大化</a:t>
            </a:r>
            <a:endParaRPr lang="zh-CN" altLang="en-US" sz="1200" b="1" dirty="0">
              <a:solidFill>
                <a:srgbClr val="FFFFFF"/>
              </a:solidFill>
              <a:latin typeface="微软雅黑"/>
              <a:ea typeface="微软雅黑"/>
              <a:cs typeface="微软雅黑"/>
            </a:endParaRPr>
          </a:p>
          <a:p>
            <a:pPr indent="0" algn="ctr" eaLnBrk="1" fontAlgn="auto" hangingPunct="1">
              <a:lnSpc>
                <a:spcPts val="1344"/>
              </a:lnSpc>
              <a:defRPr>
                <a:solidFill>
                  <a:srgbClr val="FFFFFF"/>
                </a:solidFill>
                <a:latin typeface="微软雅黑"/>
                <a:ea typeface="微软雅黑"/>
                <a:cs typeface="微软雅黑"/>
              </a:defRPr>
              <a:spcBef>
                <a:spcPts val="0"/>
              </a:spcBef>
              <a:spcAft>
                <a:spcPts val="0"/>
              </a:spcAft>
            </a:pPr>
            <a:r>
              <a:rPr lang="zh-CN" sz="1000" dirty="0">
                <a:solidFill>
                  <a:srgbClr val="FFFFFF"/>
                </a:solidFill>
                <a:latin typeface="微软雅黑"/>
                <a:ea typeface="微软雅黑"/>
                <a:cs typeface="微软雅黑"/>
              </a:rPr>
              <a:t>客户衍生其他产生收益</a:t>
            </a:r>
            <a:endParaRPr lang="zh-CN" sz="1000" dirty="0">
              <a:solidFill>
                <a:srgbClr val="FFFFFF"/>
              </a:solidFill>
              <a:latin typeface="微软雅黑"/>
              <a:ea typeface="微软雅黑"/>
              <a:cs typeface="微软雅黑"/>
            </a:endParaRPr>
          </a:p>
        </p:txBody>
      </p:sp>
      <p:cxnSp>
        <p:nvCxnSpPr>
          <p:cNvPr id="338" name="直接连接符 337"/>
          <p:cNvCxnSpPr/>
          <p:nvPr/>
        </p:nvCxnSpPr>
        <p:spPr>
          <a:xfrm>
            <a:off x="7363460" y="6094095"/>
            <a:ext cx="0" cy="425450"/>
          </a:xfrm>
          <a:prstGeom prst="line">
            <a:avLst/>
          </a:prstGeom>
          <a:ln>
            <a:solidFill>
              <a:srgbClr val="FFFFFF"/>
            </a:solidFill>
          </a:ln>
        </p:spPr>
        <p:style>
          <a:lnRef idx="2">
            <a:srgbClr val="0042FF"/>
          </a:lnRef>
          <a:fillRef idx="0">
            <a:srgbClr val="FFFFFF"/>
          </a:fillRef>
          <a:effectRef idx="0">
            <a:srgbClr val="FFFFFF"/>
          </a:effectRef>
          <a:fontRef idx="minor">
            <a:srgbClr val="383838"/>
          </a:fontRef>
        </p:style>
      </p:cxnSp>
      <p:cxnSp>
        <p:nvCxnSpPr>
          <p:cNvPr id="339" name="直接连接符 338"/>
          <p:cNvCxnSpPr/>
          <p:nvPr/>
        </p:nvCxnSpPr>
        <p:spPr>
          <a:xfrm>
            <a:off x="9513570" y="6094095"/>
            <a:ext cx="0" cy="425450"/>
          </a:xfrm>
          <a:prstGeom prst="line">
            <a:avLst/>
          </a:prstGeom>
          <a:ln>
            <a:solidFill>
              <a:srgbClr val="FFFFFF"/>
            </a:solidFill>
          </a:ln>
        </p:spPr>
        <p:style>
          <a:lnRef idx="2">
            <a:srgbClr val="0042FF"/>
          </a:lnRef>
          <a:fillRef idx="0">
            <a:srgbClr val="FFFFFF"/>
          </a:fillRef>
          <a:effectRef idx="0">
            <a:srgbClr val="FFFFFF"/>
          </a:effectRef>
          <a:fontRef idx="minor">
            <a:srgbClr val="383838"/>
          </a:fontRef>
        </p:style>
      </p:cxnSp>
      <p:grpSp>
        <p:nvGrpSpPr>
          <p:cNvPr id="341" name="组合 340"/>
          <p:cNvGrpSpPr/>
          <p:nvPr/>
        </p:nvGrpSpPr>
        <p:grpSpPr>
          <a:xfrm>
            <a:off x="3928110" y="5799455"/>
            <a:ext cx="514350" cy="209550"/>
            <a:chOff x="2802" y="9133"/>
            <a:chExt cx="810" cy="330"/>
          </a:xfrm>
        </p:grpSpPr>
        <p:cxnSp>
          <p:nvCxnSpPr>
            <p:cNvPr id="342" name="直线箭头连接符 156"/>
            <p:cNvCxnSpPr/>
            <p:nvPr/>
          </p:nvCxnSpPr>
          <p:spPr>
            <a:xfrm>
              <a:off x="2802" y="9133"/>
              <a:ext cx="0" cy="330"/>
            </a:xfrm>
            <a:prstGeom prst="straightConnector1">
              <a:avLst/>
            </a:prstGeom>
            <a:noFill/>
            <a:ln w="6350" cap="flat" cmpd="sng" algn="ctr">
              <a:solidFill>
                <a:srgbClr val="3368FF"/>
              </a:solidFill>
              <a:prstDash val="solid"/>
              <a:miter lim="800000"/>
              <a:headEnd type="triangle"/>
              <a:tailEnd type="triangle"/>
            </a:ln>
            <a:effectLst/>
          </p:spPr>
        </p:cxnSp>
        <p:cxnSp>
          <p:nvCxnSpPr>
            <p:cNvPr id="343" name="直线箭头连接符 156"/>
            <p:cNvCxnSpPr/>
            <p:nvPr/>
          </p:nvCxnSpPr>
          <p:spPr>
            <a:xfrm>
              <a:off x="3612" y="9133"/>
              <a:ext cx="0" cy="330"/>
            </a:xfrm>
            <a:prstGeom prst="straightConnector1">
              <a:avLst/>
            </a:prstGeom>
            <a:noFill/>
            <a:ln w="6350" cap="flat" cmpd="sng" algn="ctr">
              <a:solidFill>
                <a:srgbClr val="3368FF"/>
              </a:solidFill>
              <a:prstDash val="solid"/>
              <a:miter lim="800000"/>
              <a:headEnd type="triangle"/>
              <a:tailEnd type="triangle"/>
            </a:ln>
            <a:effectLst/>
          </p:spPr>
        </p:cxnSp>
      </p:grpSp>
      <p:grpSp>
        <p:nvGrpSpPr>
          <p:cNvPr id="344" name="组合 343"/>
          <p:cNvGrpSpPr/>
          <p:nvPr/>
        </p:nvGrpSpPr>
        <p:grpSpPr>
          <a:xfrm>
            <a:off x="6002020" y="5799455"/>
            <a:ext cx="514350" cy="209550"/>
            <a:chOff x="2802" y="9133"/>
            <a:chExt cx="810" cy="330"/>
          </a:xfrm>
        </p:grpSpPr>
        <p:cxnSp>
          <p:nvCxnSpPr>
            <p:cNvPr id="345" name="直线箭头连接符 156"/>
            <p:cNvCxnSpPr/>
            <p:nvPr/>
          </p:nvCxnSpPr>
          <p:spPr>
            <a:xfrm>
              <a:off x="2802" y="9133"/>
              <a:ext cx="0" cy="330"/>
            </a:xfrm>
            <a:prstGeom prst="straightConnector1">
              <a:avLst/>
            </a:prstGeom>
            <a:noFill/>
            <a:ln w="6350" cap="flat" cmpd="sng" algn="ctr">
              <a:solidFill>
                <a:srgbClr val="3368FF"/>
              </a:solidFill>
              <a:prstDash val="solid"/>
              <a:miter lim="800000"/>
              <a:headEnd type="triangle"/>
              <a:tailEnd type="triangle"/>
            </a:ln>
            <a:effectLst/>
          </p:spPr>
        </p:cxnSp>
        <p:cxnSp>
          <p:nvCxnSpPr>
            <p:cNvPr id="346" name="直线箭头连接符 156"/>
            <p:cNvCxnSpPr/>
            <p:nvPr/>
          </p:nvCxnSpPr>
          <p:spPr>
            <a:xfrm>
              <a:off x="3612" y="9133"/>
              <a:ext cx="0" cy="330"/>
            </a:xfrm>
            <a:prstGeom prst="straightConnector1">
              <a:avLst/>
            </a:prstGeom>
            <a:noFill/>
            <a:ln w="6350" cap="flat" cmpd="sng" algn="ctr">
              <a:solidFill>
                <a:srgbClr val="3368FF"/>
              </a:solidFill>
              <a:prstDash val="solid"/>
              <a:miter lim="800000"/>
              <a:headEnd type="triangle"/>
              <a:tailEnd type="triangle"/>
            </a:ln>
            <a:effectLst/>
          </p:spPr>
        </p:cxnSp>
      </p:grpSp>
      <p:grpSp>
        <p:nvGrpSpPr>
          <p:cNvPr id="348" name="组合 347"/>
          <p:cNvGrpSpPr/>
          <p:nvPr/>
        </p:nvGrpSpPr>
        <p:grpSpPr>
          <a:xfrm>
            <a:off x="8169275" y="5799455"/>
            <a:ext cx="514350" cy="209550"/>
            <a:chOff x="2802" y="9133"/>
            <a:chExt cx="810" cy="330"/>
          </a:xfrm>
        </p:grpSpPr>
        <p:cxnSp>
          <p:nvCxnSpPr>
            <p:cNvPr id="349" name="直线箭头连接符 156"/>
            <p:cNvCxnSpPr/>
            <p:nvPr/>
          </p:nvCxnSpPr>
          <p:spPr>
            <a:xfrm>
              <a:off x="2802" y="9133"/>
              <a:ext cx="0" cy="330"/>
            </a:xfrm>
            <a:prstGeom prst="straightConnector1">
              <a:avLst/>
            </a:prstGeom>
            <a:noFill/>
            <a:ln w="6350" cap="flat" cmpd="sng" algn="ctr">
              <a:solidFill>
                <a:srgbClr val="3368FF"/>
              </a:solidFill>
              <a:prstDash val="solid"/>
              <a:miter lim="800000"/>
              <a:headEnd type="triangle"/>
              <a:tailEnd type="triangle"/>
            </a:ln>
            <a:effectLst/>
          </p:spPr>
        </p:cxnSp>
        <p:cxnSp>
          <p:nvCxnSpPr>
            <p:cNvPr id="350" name="直线箭头连接符 156"/>
            <p:cNvCxnSpPr/>
            <p:nvPr/>
          </p:nvCxnSpPr>
          <p:spPr>
            <a:xfrm>
              <a:off x="3612" y="9133"/>
              <a:ext cx="0" cy="330"/>
            </a:xfrm>
            <a:prstGeom prst="straightConnector1">
              <a:avLst/>
            </a:prstGeom>
            <a:noFill/>
            <a:ln w="6350" cap="flat" cmpd="sng" algn="ctr">
              <a:solidFill>
                <a:srgbClr val="3368FF"/>
              </a:solidFill>
              <a:prstDash val="solid"/>
              <a:miter lim="800000"/>
              <a:headEnd type="triangle"/>
              <a:tailEnd type="triangle"/>
            </a:ln>
            <a:effectLst/>
          </p:spPr>
        </p:cxnSp>
      </p:grpSp>
      <p:grpSp>
        <p:nvGrpSpPr>
          <p:cNvPr id="351" name="组合 350"/>
          <p:cNvGrpSpPr/>
          <p:nvPr/>
        </p:nvGrpSpPr>
        <p:grpSpPr>
          <a:xfrm>
            <a:off x="10365740" y="5799455"/>
            <a:ext cx="514350" cy="209550"/>
            <a:chOff x="2802" y="9133"/>
            <a:chExt cx="810" cy="330"/>
          </a:xfrm>
        </p:grpSpPr>
        <p:cxnSp>
          <p:nvCxnSpPr>
            <p:cNvPr id="352" name="直线箭头连接符 156"/>
            <p:cNvCxnSpPr/>
            <p:nvPr/>
          </p:nvCxnSpPr>
          <p:spPr>
            <a:xfrm>
              <a:off x="2802" y="9133"/>
              <a:ext cx="0" cy="330"/>
            </a:xfrm>
            <a:prstGeom prst="straightConnector1">
              <a:avLst/>
            </a:prstGeom>
            <a:noFill/>
            <a:ln w="6350" cap="flat" cmpd="sng" algn="ctr">
              <a:solidFill>
                <a:srgbClr val="3368FF"/>
              </a:solidFill>
              <a:prstDash val="solid"/>
              <a:miter lim="800000"/>
              <a:headEnd type="triangle"/>
              <a:tailEnd type="triangle"/>
            </a:ln>
            <a:effectLst/>
          </p:spPr>
        </p:cxnSp>
        <p:cxnSp>
          <p:nvCxnSpPr>
            <p:cNvPr id="353" name="直线箭头连接符 156"/>
            <p:cNvCxnSpPr/>
            <p:nvPr/>
          </p:nvCxnSpPr>
          <p:spPr>
            <a:xfrm>
              <a:off x="3612" y="9133"/>
              <a:ext cx="0" cy="330"/>
            </a:xfrm>
            <a:prstGeom prst="straightConnector1">
              <a:avLst/>
            </a:prstGeom>
            <a:noFill/>
            <a:ln w="6350" cap="flat" cmpd="sng" algn="ctr">
              <a:solidFill>
                <a:srgbClr val="3368FF"/>
              </a:solidFill>
              <a:prstDash val="solid"/>
              <a:miter lim="800000"/>
              <a:headEnd type="triangle"/>
              <a:tailEnd type="triangle"/>
            </a:ln>
            <a:effectLst/>
          </p:spPr>
        </p:cxnSp>
      </p:grpSp>
      <p:sp>
        <p:nvSpPr>
          <p:cNvPr id="354" name="Text Box 1030"/>
          <p:cNvSpPr txBox="1">
            <a:spLocks noChangeArrowheads="1"/>
          </p:cNvSpPr>
          <p:nvPr/>
        </p:nvSpPr>
        <p:spPr bwMode="auto">
          <a:xfrm>
            <a:off x="3308350" y="5232400"/>
            <a:ext cx="1741170" cy="460375"/>
          </a:xfrm>
          <a:prstGeom prst="rect">
            <a:avLst/>
          </a:prstGeom>
          <a:noFill/>
          <a:ln>
            <a:noFill/>
          </a:ln>
          <a:effectLst/>
          <a:extLst>
            <a:ext uri="{909E8E84-426E-40DD-AFC4-6F175D3DCCD1}">
              <a14:hiddenFill xmlns:a14="http://schemas.microsoft.com/office/drawing/2010/main">
                <a:solidFill>
                  <a:srgbClr val="0042FF"/>
                </a:solidFill>
              </a14:hiddenFill>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lvl="0" algn="ctr" eaLnBrk="1" hangingPunct="1">
              <a:buClrTx/>
              <a:buSzTx/>
              <a:buFontTx/>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通过粘性产品绑定，延长客户生命周期</a:t>
            </a:r>
            <a:endParaRPr lang="zh-CN" sz="1200" dirty="0">
              <a:solidFill>
                <a:srgbClr val="383838"/>
              </a:solidFill>
              <a:latin typeface="微软雅黑"/>
              <a:ea typeface="微软雅黑"/>
              <a:cs typeface="微软雅黑"/>
              <a:sym typeface="微软雅黑"/>
            </a:endParaRPr>
          </a:p>
        </p:txBody>
      </p:sp>
      <p:sp>
        <p:nvSpPr>
          <p:cNvPr id="355" name="Text Box 1030"/>
          <p:cNvSpPr txBox="1">
            <a:spLocks noChangeArrowheads="1"/>
          </p:cNvSpPr>
          <p:nvPr/>
        </p:nvSpPr>
        <p:spPr bwMode="auto">
          <a:xfrm>
            <a:off x="5440045" y="5126990"/>
            <a:ext cx="1638300" cy="645160"/>
          </a:xfrm>
          <a:prstGeom prst="rect">
            <a:avLst/>
          </a:prstGeom>
          <a:noFill/>
          <a:ln>
            <a:noFill/>
          </a:ln>
          <a:effectLst/>
          <a:extLst>
            <a:ext uri="{909E8E84-426E-40DD-AFC4-6F175D3DCCD1}">
              <a14:hiddenFill xmlns:a14="http://schemas.microsoft.com/office/drawing/2010/main">
                <a:solidFill>
                  <a:srgbClr val="0042FF"/>
                </a:solidFill>
              </a14:hiddenFill>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lvl="0" algn="ctr" eaLnBrk="1" hangingPunct="1">
              <a:buClrTx/>
              <a:buSzTx/>
              <a:buFontTx/>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保持客户长周期不间断接触，提升客户满意度和亲密度</a:t>
            </a:r>
            <a:endParaRPr lang="zh-CN" sz="1200" dirty="0">
              <a:solidFill>
                <a:srgbClr val="383838"/>
              </a:solidFill>
              <a:latin typeface="微软雅黑"/>
              <a:ea typeface="微软雅黑"/>
              <a:cs typeface="微软雅黑"/>
              <a:sym typeface="微软雅黑"/>
            </a:endParaRPr>
          </a:p>
        </p:txBody>
      </p:sp>
      <p:sp>
        <p:nvSpPr>
          <p:cNvPr id="356" name="Text Box 1030"/>
          <p:cNvSpPr txBox="1">
            <a:spLocks noChangeArrowheads="1"/>
          </p:cNvSpPr>
          <p:nvPr/>
        </p:nvSpPr>
        <p:spPr bwMode="auto">
          <a:xfrm>
            <a:off x="9652000" y="5126990"/>
            <a:ext cx="1729740" cy="645160"/>
          </a:xfrm>
          <a:prstGeom prst="rect">
            <a:avLst/>
          </a:prstGeom>
          <a:noFill/>
          <a:ln>
            <a:noFill/>
          </a:ln>
          <a:effectLst/>
          <a:extLst>
            <a:ext uri="{909E8E84-426E-40DD-AFC4-6F175D3DCCD1}">
              <a14:hiddenFill xmlns:a14="http://schemas.microsoft.com/office/drawing/2010/main">
                <a:solidFill>
                  <a:srgbClr val="0042FF"/>
                </a:solidFill>
              </a14:hiddenFill>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lvl="0" algn="ctr" eaLnBrk="1" hangingPunct="1">
              <a:buClrTx/>
              <a:buSzTx/>
              <a:buFontTx/>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通过VIP活动、专项产品邀约等增加营销机会，挖掘潜在价值。</a:t>
            </a:r>
            <a:endParaRPr lang="zh-CN" sz="1200" dirty="0">
              <a:solidFill>
                <a:srgbClr val="383838"/>
              </a:solidFill>
              <a:latin typeface="微软雅黑"/>
              <a:ea typeface="微软雅黑"/>
              <a:cs typeface="微软雅黑"/>
              <a:sym typeface="微软雅黑"/>
            </a:endParaRPr>
          </a:p>
        </p:txBody>
      </p:sp>
      <p:sp>
        <p:nvSpPr>
          <p:cNvPr id="358" name="Text Box 1030"/>
          <p:cNvSpPr txBox="1">
            <a:spLocks noChangeArrowheads="1"/>
          </p:cNvSpPr>
          <p:nvPr/>
        </p:nvSpPr>
        <p:spPr bwMode="auto">
          <a:xfrm>
            <a:off x="7482205" y="5102860"/>
            <a:ext cx="1820545" cy="645160"/>
          </a:xfrm>
          <a:prstGeom prst="rect">
            <a:avLst/>
          </a:prstGeom>
          <a:noFill/>
          <a:ln>
            <a:noFill/>
          </a:ln>
          <a:effectLst/>
          <a:extLst>
            <a:ext uri="{909E8E84-426E-40DD-AFC4-6F175D3DCCD1}">
              <a14:hiddenFill xmlns:a14="http://schemas.microsoft.com/office/drawing/2010/main">
                <a:solidFill>
                  <a:srgbClr val="0042FF"/>
                </a:solidFill>
              </a14:hiddenFill>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lvl="0" algn="ctr" eaLnBrk="1" hangingPunct="1">
              <a:buClrTx/>
              <a:buSzTx/>
              <a:buFontTx/>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已经流失或即将流失客户采用特殊政策进行邀约或推送唤醒。</a:t>
            </a:r>
            <a:endParaRPr lang="zh-CN" sz="1200" dirty="0">
              <a:solidFill>
                <a:srgbClr val="383838"/>
              </a:solidFill>
              <a:latin typeface="微软雅黑"/>
              <a:ea typeface="微软雅黑"/>
              <a:cs typeface="微软雅黑"/>
              <a:sym typeface="微软雅黑"/>
            </a:endParaRPr>
          </a:p>
        </p:txBody>
      </p:sp>
      <p:grpSp>
        <p:nvGrpSpPr>
          <p:cNvPr id="68" name="组合 67"/>
          <p:cNvGrpSpPr/>
          <p:nvPr/>
        </p:nvGrpSpPr>
        <p:grpSpPr>
          <a:xfrm>
            <a:off x="1256665" y="2805430"/>
            <a:ext cx="570230" cy="521335"/>
            <a:chOff x="1979" y="4418"/>
            <a:chExt cx="898" cy="821"/>
          </a:xfrm>
        </p:grpSpPr>
        <p:sp>
          <p:nvSpPr>
            <p:cNvPr id="65" name="文本框 64"/>
            <p:cNvSpPr txBox="1"/>
            <p:nvPr/>
          </p:nvSpPr>
          <p:spPr>
            <a:xfrm>
              <a:off x="1979" y="4853"/>
              <a:ext cx="89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新客户</a:t>
              </a:r>
              <a:endParaRPr lang="zh-CN" altLang="en-US" sz="1000" dirty="0">
                <a:solidFill>
                  <a:srgbClr val="0042FF"/>
                </a:solidFill>
                <a:latin typeface="微软雅黑"/>
                <a:ea typeface="微软雅黑"/>
                <a:cs typeface="微软雅黑"/>
              </a:endParaRPr>
            </a:p>
          </p:txBody>
        </p:sp>
        <p:sp>
          <p:nvSpPr>
            <p:cNvPr id="66" name="椭圆 65"/>
            <p:cNvSpPr/>
            <p:nvPr/>
          </p:nvSpPr>
          <p:spPr>
            <a:xfrm>
              <a:off x="2105" y="4418"/>
              <a:ext cx="450" cy="450"/>
            </a:xfrm>
            <a:prstGeom prst="ellipse">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pic>
          <p:nvPicPr>
            <p:cNvPr id="67" name="图片 66" descr="人像"/>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53" y="4476"/>
              <a:ext cx="315" cy="315"/>
            </a:xfrm>
            <a:prstGeom prst="rect">
              <a:avLst/>
            </a:prstGeom>
          </p:spPr>
        </p:pic>
      </p:grpSp>
      <p:sp>
        <p:nvSpPr>
          <p:cNvPr id="69" name="椭圆 68"/>
          <p:cNvSpPr/>
          <p:nvPr/>
        </p:nvSpPr>
        <p:spPr>
          <a:xfrm>
            <a:off x="3308350" y="3423285"/>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70" name="椭圆 69"/>
          <p:cNvSpPr/>
          <p:nvPr/>
        </p:nvSpPr>
        <p:spPr>
          <a:xfrm>
            <a:off x="4064000" y="3049270"/>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sp>
        <p:nvSpPr>
          <p:cNvPr id="71" name="椭圆 70"/>
          <p:cNvSpPr/>
          <p:nvPr/>
        </p:nvSpPr>
        <p:spPr>
          <a:xfrm>
            <a:off x="4676775" y="2803525"/>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sp>
        <p:nvSpPr>
          <p:cNvPr id="76" name="椭圆 75"/>
          <p:cNvSpPr/>
          <p:nvPr/>
        </p:nvSpPr>
        <p:spPr>
          <a:xfrm>
            <a:off x="5481955" y="2968625"/>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grpSp>
        <p:nvGrpSpPr>
          <p:cNvPr id="79" name="组合 78"/>
          <p:cNvGrpSpPr/>
          <p:nvPr/>
        </p:nvGrpSpPr>
        <p:grpSpPr>
          <a:xfrm>
            <a:off x="5667375" y="2767965"/>
            <a:ext cx="1068070" cy="285750"/>
            <a:chOff x="8925" y="4359"/>
            <a:chExt cx="1682" cy="450"/>
          </a:xfrm>
        </p:grpSpPr>
        <p:grpSp>
          <p:nvGrpSpPr>
            <p:cNvPr id="72" name="组合 71"/>
            <p:cNvGrpSpPr/>
            <p:nvPr/>
          </p:nvGrpSpPr>
          <p:grpSpPr>
            <a:xfrm>
              <a:off x="8925" y="4359"/>
              <a:ext cx="1682" cy="450"/>
              <a:chOff x="2105" y="4418"/>
              <a:chExt cx="1682" cy="450"/>
            </a:xfrm>
          </p:grpSpPr>
          <p:sp>
            <p:nvSpPr>
              <p:cNvPr id="73" name="文本框 72"/>
              <p:cNvSpPr txBox="1"/>
              <p:nvPr/>
            </p:nvSpPr>
            <p:spPr>
              <a:xfrm>
                <a:off x="2632" y="4473"/>
                <a:ext cx="1155"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沉默客户</a:t>
                </a:r>
                <a:endParaRPr lang="zh-CN" altLang="en-US" sz="1000" dirty="0">
                  <a:solidFill>
                    <a:srgbClr val="0042FF"/>
                  </a:solidFill>
                  <a:latin typeface="微软雅黑"/>
                  <a:ea typeface="微软雅黑"/>
                  <a:cs typeface="微软雅黑"/>
                </a:endParaRPr>
              </a:p>
            </p:txBody>
          </p:sp>
          <p:sp>
            <p:nvSpPr>
              <p:cNvPr id="74" name="椭圆 73"/>
              <p:cNvSpPr/>
              <p:nvPr/>
            </p:nvSpPr>
            <p:spPr>
              <a:xfrm>
                <a:off x="2105" y="4418"/>
                <a:ext cx="450" cy="450"/>
              </a:xfrm>
              <a:prstGeom prst="ellipse">
                <a:avLst/>
              </a:prstGeom>
              <a:solidFill>
                <a:srgbClr val="E6E6E6"/>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pic>
          <p:nvPicPr>
            <p:cNvPr id="78" name="图片 77" descr="custome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998" y="4405"/>
              <a:ext cx="300" cy="300"/>
            </a:xfrm>
            <a:prstGeom prst="rect">
              <a:avLst/>
            </a:prstGeom>
          </p:spPr>
        </p:pic>
      </p:grpSp>
      <p:sp>
        <p:nvSpPr>
          <p:cNvPr id="80" name="椭圆 79"/>
          <p:cNvSpPr/>
          <p:nvPr/>
        </p:nvSpPr>
        <p:spPr>
          <a:xfrm>
            <a:off x="6255385" y="3480435"/>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sp>
        <p:nvSpPr>
          <p:cNvPr id="81" name="椭圆 80"/>
          <p:cNvSpPr/>
          <p:nvPr/>
        </p:nvSpPr>
        <p:spPr>
          <a:xfrm>
            <a:off x="7277100" y="3465830"/>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sp>
        <p:nvSpPr>
          <p:cNvPr id="82" name="椭圆 81"/>
          <p:cNvSpPr/>
          <p:nvPr/>
        </p:nvSpPr>
        <p:spPr>
          <a:xfrm>
            <a:off x="7913370" y="3150870"/>
            <a:ext cx="80010" cy="80010"/>
          </a:xfrm>
          <a:prstGeom prst="ellipse">
            <a:avLst/>
          </a:prstGeom>
          <a:solidFill>
            <a:srgbClr val="B3D4FE"/>
          </a:solidFill>
          <a:ln w="25400" cap="flat">
            <a:solidFill>
              <a:srgbClr val="FFFFFF"/>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grpSp>
        <p:nvGrpSpPr>
          <p:cNvPr id="91" name="组合 90"/>
          <p:cNvGrpSpPr/>
          <p:nvPr/>
        </p:nvGrpSpPr>
        <p:grpSpPr>
          <a:xfrm>
            <a:off x="7291070" y="2934970"/>
            <a:ext cx="1018540" cy="585470"/>
            <a:chOff x="11482" y="4622"/>
            <a:chExt cx="1604" cy="922"/>
          </a:xfrm>
        </p:grpSpPr>
        <p:grpSp>
          <p:nvGrpSpPr>
            <p:cNvPr id="84" name="组合 83"/>
            <p:cNvGrpSpPr/>
            <p:nvPr/>
          </p:nvGrpSpPr>
          <p:grpSpPr>
            <a:xfrm rot="0">
              <a:off x="11482" y="4622"/>
              <a:ext cx="1605" cy="922"/>
              <a:chOff x="1287" y="3828"/>
              <a:chExt cx="1605" cy="922"/>
            </a:xfrm>
          </p:grpSpPr>
          <p:sp>
            <p:nvSpPr>
              <p:cNvPr id="85" name="文本框 84"/>
              <p:cNvSpPr txBox="1"/>
              <p:nvPr/>
            </p:nvSpPr>
            <p:spPr>
              <a:xfrm>
                <a:off x="1287" y="3828"/>
                <a:ext cx="1155"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活跃客户</a:t>
                </a:r>
                <a:endParaRPr lang="zh-CN" altLang="en-US" sz="1000" dirty="0">
                  <a:solidFill>
                    <a:srgbClr val="0042FF"/>
                  </a:solidFill>
                  <a:latin typeface="微软雅黑"/>
                  <a:ea typeface="微软雅黑"/>
                  <a:cs typeface="微软雅黑"/>
                </a:endParaRPr>
              </a:p>
            </p:txBody>
          </p:sp>
          <p:sp>
            <p:nvSpPr>
              <p:cNvPr id="86" name="椭圆 85"/>
              <p:cNvSpPr/>
              <p:nvPr/>
            </p:nvSpPr>
            <p:spPr>
              <a:xfrm>
                <a:off x="2442" y="4300"/>
                <a:ext cx="450" cy="450"/>
              </a:xfrm>
              <a:prstGeom prst="ellipse">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pic>
          <p:nvPicPr>
            <p:cNvPr id="88" name="图片 87" descr="汽车"/>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2735" y="5202"/>
              <a:ext cx="260" cy="212"/>
            </a:xfrm>
            <a:prstGeom prst="rect">
              <a:avLst/>
            </a:prstGeom>
          </p:spPr>
        </p:pic>
      </p:grpSp>
      <p:sp>
        <p:nvSpPr>
          <p:cNvPr id="94" name="椭圆 93"/>
          <p:cNvSpPr/>
          <p:nvPr/>
        </p:nvSpPr>
        <p:spPr>
          <a:xfrm>
            <a:off x="9172575" y="3053715"/>
            <a:ext cx="80010" cy="80010"/>
          </a:xfrm>
          <a:prstGeom prst="ellipse">
            <a:avLst/>
          </a:prstGeom>
          <a:solidFill>
            <a:srgbClr val="3368FF"/>
          </a:solidFill>
          <a:ln w="25400" cap="flat">
            <a:solidFill>
              <a:srgbClr val="E6E6E6"/>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nvGrpSpPr>
          <p:cNvPr id="104" name="组合 103"/>
          <p:cNvGrpSpPr/>
          <p:nvPr/>
        </p:nvGrpSpPr>
        <p:grpSpPr>
          <a:xfrm rot="0">
            <a:off x="9309100" y="2787015"/>
            <a:ext cx="976630" cy="285750"/>
            <a:chOff x="2105" y="4418"/>
            <a:chExt cx="1538" cy="450"/>
          </a:xfrm>
        </p:grpSpPr>
        <p:sp>
          <p:nvSpPr>
            <p:cNvPr id="109" name="文本框 108"/>
            <p:cNvSpPr txBox="1"/>
            <p:nvPr/>
          </p:nvSpPr>
          <p:spPr>
            <a:xfrm>
              <a:off x="2488" y="4446"/>
              <a:ext cx="1155"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流失客户</a:t>
              </a:r>
              <a:endParaRPr lang="zh-CN" altLang="en-US" sz="1000" dirty="0">
                <a:solidFill>
                  <a:srgbClr val="0042FF"/>
                </a:solidFill>
                <a:latin typeface="微软雅黑"/>
                <a:ea typeface="微软雅黑"/>
                <a:cs typeface="微软雅黑"/>
              </a:endParaRPr>
            </a:p>
          </p:txBody>
        </p:sp>
        <p:sp>
          <p:nvSpPr>
            <p:cNvPr id="110" name="椭圆 109"/>
            <p:cNvSpPr/>
            <p:nvPr/>
          </p:nvSpPr>
          <p:spPr>
            <a:xfrm>
              <a:off x="2105" y="4418"/>
              <a:ext cx="450" cy="450"/>
            </a:xfrm>
            <a:prstGeom prst="ellipse">
              <a:avLst/>
            </a:prstGeom>
            <a:solidFill>
              <a:srgbClr val="E6E6E6"/>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pic>
        <p:nvPicPr>
          <p:cNvPr id="112" name="图片 111" descr="陌生人,男人,男士"/>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361805" y="2837815"/>
            <a:ext cx="177165" cy="177165"/>
          </a:xfrm>
          <a:prstGeom prst="rect">
            <a:avLst/>
          </a:prstGeom>
        </p:spPr>
      </p:pic>
      <p:sp>
        <p:nvSpPr>
          <p:cNvPr id="113" name="椭圆 112"/>
          <p:cNvSpPr/>
          <p:nvPr/>
        </p:nvSpPr>
        <p:spPr>
          <a:xfrm>
            <a:off x="10365740" y="3480435"/>
            <a:ext cx="80010" cy="80010"/>
          </a:xfrm>
          <a:prstGeom prst="ellipse">
            <a:avLst/>
          </a:prstGeom>
          <a:solidFill>
            <a:srgbClr val="B3D4FE"/>
          </a:solidFill>
          <a:ln w="25400" cap="flat">
            <a:solidFill>
              <a:srgbClr val="FFFFFF"/>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grpSp>
        <p:nvGrpSpPr>
          <p:cNvPr id="114" name="组合 113"/>
          <p:cNvGrpSpPr/>
          <p:nvPr/>
        </p:nvGrpSpPr>
        <p:grpSpPr>
          <a:xfrm rot="0">
            <a:off x="10270490" y="3046730"/>
            <a:ext cx="1356360" cy="285750"/>
            <a:chOff x="2105" y="4418"/>
            <a:chExt cx="2136" cy="450"/>
          </a:xfrm>
        </p:grpSpPr>
        <p:sp>
          <p:nvSpPr>
            <p:cNvPr id="115" name="文本框 114"/>
            <p:cNvSpPr txBox="1"/>
            <p:nvPr/>
          </p:nvSpPr>
          <p:spPr>
            <a:xfrm>
              <a:off x="2488" y="4446"/>
              <a:ext cx="175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核心高价值客户</a:t>
              </a:r>
              <a:endParaRPr lang="zh-CN" altLang="en-US" sz="1000" dirty="0">
                <a:solidFill>
                  <a:srgbClr val="0042FF"/>
                </a:solidFill>
                <a:latin typeface="微软雅黑"/>
                <a:ea typeface="微软雅黑"/>
                <a:cs typeface="微软雅黑"/>
              </a:endParaRPr>
            </a:p>
          </p:txBody>
        </p:sp>
        <p:sp>
          <p:nvSpPr>
            <p:cNvPr id="116" name="椭圆 115"/>
            <p:cNvSpPr/>
            <p:nvPr/>
          </p:nvSpPr>
          <p:spPr>
            <a:xfrm>
              <a:off x="2105" y="4418"/>
              <a:ext cx="450" cy="450"/>
            </a:xfrm>
            <a:prstGeom prst="ellipse">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pic>
        <p:nvPicPr>
          <p:cNvPr id="128" name="图片 127" descr="帽子女人"/>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0329545" y="3096895"/>
            <a:ext cx="184150" cy="184150"/>
          </a:xfrm>
          <a:prstGeom prst="rect">
            <a:avLst/>
          </a:prstGeom>
        </p:spPr>
      </p:pic>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13"/>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公司数字化转型框架</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pic>
        <p:nvPicPr>
          <p:cNvPr id="6" name="图片 5" descr="区域目标"/>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589520" y="1437005"/>
            <a:ext cx="370205" cy="370205"/>
          </a:xfrm>
          <a:prstGeom prst="rect">
            <a:avLst/>
          </a:prstGeom>
        </p:spPr>
      </p:pic>
      <p:sp>
        <p:nvSpPr>
          <p:cNvPr id="15" name="等腰三角形 1164"/>
          <p:cNvSpPr/>
          <p:nvPr/>
        </p:nvSpPr>
        <p:spPr>
          <a:xfrm>
            <a:off x="1875790" y="1224915"/>
            <a:ext cx="4137025" cy="793750"/>
          </a:xfrm>
          <a:prstGeom prst="triangle">
            <a:avLst/>
          </a:prstGeom>
          <a:gradFill flip="none" rotWithShape="1">
            <a:gsLst>
              <a:gs pos="21000">
                <a:srgbClr val="0042FF"/>
              </a:gs>
              <a:gs pos="100000">
                <a:srgbClr val="3368FF"/>
              </a:gs>
            </a:gsLst>
            <a:lin ang="0" scaled="1"/>
            <a:tileRect/>
          </a:gradFill>
          <a:ln>
            <a:noFill/>
          </a:ln>
          <a:effectLst>
            <a:outerShdw blurRad="127000" dist="38100" dir="5400000" algn="t" rotWithShape="0">
              <a:srgbClr val="3368FF">
                <a:alpha val="3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500" b="1">
                <a:solidFill>
                  <a:srgbClr val="FFFFFF"/>
                </a:solidFill>
                <a:sym typeface="微软雅黑"/>
                <a:latin typeface="微软雅黑"/>
                <a:ea typeface="微软雅黑"/>
                <a:cs typeface="微软雅黑"/>
              </a:rPr>
              <a:t>可持续发展目标</a:t>
            </a:r>
            <a:endParaRPr lang="zh-CN" altLang="en-US" sz="1500" b="1">
              <a:solidFill>
                <a:srgbClr val="FFFFFF"/>
              </a:solidFill>
              <a:sym typeface="微软雅黑"/>
              <a:latin typeface="微软雅黑"/>
              <a:ea typeface="微软雅黑"/>
              <a:cs typeface="微软雅黑"/>
            </a:endParaRPr>
          </a:p>
          <a:p>
            <a:pPr lvl="0" algn="ctr">
              <a:buClrTx/>
              <a:buSzTx/>
              <a:buFontTx/>
              <a:defRPr>
                <a:solidFill>
                  <a:srgbClr val="FFFFFF"/>
                </a:solidFill>
                <a:latin typeface="微软雅黑"/>
                <a:ea typeface="微软雅黑"/>
                <a:cs typeface="微软雅黑"/>
              </a:defRPr>
            </a:pPr>
            <a:endParaRPr lang="zh-CN" altLang="en-US" sz="1500" b="1">
              <a:solidFill>
                <a:srgbClr val="FFFFFF"/>
              </a:solidFill>
              <a:sym typeface="微软雅黑"/>
              <a:latin typeface="微软雅黑"/>
              <a:ea typeface="微软雅黑"/>
              <a:cs typeface="微软雅黑"/>
            </a:endParaRPr>
          </a:p>
        </p:txBody>
      </p:sp>
      <p:sp>
        <p:nvSpPr>
          <p:cNvPr id="35" name="梯形 34"/>
          <p:cNvSpPr/>
          <p:nvPr/>
        </p:nvSpPr>
        <p:spPr>
          <a:xfrm>
            <a:off x="1170305" y="2139950"/>
            <a:ext cx="5549265" cy="4413885"/>
          </a:xfrm>
          <a:prstGeom prst="trapezoid">
            <a:avLst>
              <a:gd name="adj" fmla="val 22275"/>
            </a:avLst>
          </a:prstGeom>
          <a:noFill/>
          <a:ln>
            <a:gradFill>
              <a:gsLst>
                <a:gs pos="0">
                  <a:srgbClr val="0042FF"/>
                </a:gs>
                <a:gs pos="60000">
                  <a:srgbClr val="0042FF">
                    <a:alpha val="20000"/>
                  </a:srgbClr>
                </a:gs>
                <a:gs pos="100000">
                  <a:srgbClr val="0042FF">
                    <a:alpha val="0"/>
                  </a:srgbClr>
                </a:gs>
              </a:gsLst>
              <a:lin ang="5400000" scaled="1"/>
            </a:gradFill>
          </a:ln>
          <a:effectLst>
            <a:outerShdw blurRad="292100" dist="38100" dir="5400000" algn="t" rotWithShape="0">
              <a:prstClr val="black">
                <a:alpha val="19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400">
              <a:solidFill>
                <a:srgbClr val="383838"/>
              </a:solidFill>
              <a:latin typeface="微软雅黑"/>
              <a:ea typeface="微软雅黑"/>
              <a:cs typeface="微软雅黑"/>
            </a:endParaRPr>
          </a:p>
        </p:txBody>
      </p:sp>
      <p:grpSp>
        <p:nvGrpSpPr>
          <p:cNvPr id="37" name="组合 36"/>
          <p:cNvGrpSpPr/>
          <p:nvPr/>
        </p:nvGrpSpPr>
        <p:grpSpPr>
          <a:xfrm>
            <a:off x="1769110" y="3481070"/>
            <a:ext cx="4351655" cy="1570355"/>
            <a:chOff x="2528020" y="3528271"/>
            <a:chExt cx="4207589" cy="1396153"/>
          </a:xfrm>
        </p:grpSpPr>
        <p:sp>
          <p:nvSpPr>
            <p:cNvPr id="48" name="矩形: 圆角 48"/>
            <p:cNvSpPr/>
            <p:nvPr/>
          </p:nvSpPr>
          <p:spPr>
            <a:xfrm>
              <a:off x="2528020" y="3528271"/>
              <a:ext cx="4207589" cy="1396153"/>
            </a:xfrm>
            <a:prstGeom prst="trapezoid">
              <a:avLst/>
            </a:prstGeom>
            <a:solidFill>
              <a:srgbClr val="FFFFFF"/>
            </a:solidFill>
            <a:ln w="12700" cap="flat" cmpd="sng" algn="ctr">
              <a:solidFill>
                <a:srgbClr val="3368FF">
                  <a:alpha val="50000"/>
                </a:srgbClr>
              </a:solidFill>
              <a:prstDash val="dash"/>
              <a:miter lim="800000"/>
            </a:ln>
            <a:effectLst/>
          </p:spPr>
          <p:txBody>
            <a:bodyPr lIns="0" tIns="0" rIns="0" bIns="0" rtlCol="0" anchor="ctr"/>
            <a:lstStyle/>
            <a:p>
              <a:pPr marL="0" marR="0" lvl="0" indent="0" algn="ctr" defTabSz="914400" eaLnBrk="1" fontAlgn="auto" latinLnBrk="0" hangingPunct="1">
                <a:lnSpc>
                  <a:spcPct val="130000"/>
                </a:lnSpc>
                <a:spcBef>
                  <a:spcPts val="0"/>
                </a:spcBef>
                <a:spcAft>
                  <a:spcPts val="0"/>
                </a:spcAft>
                <a:buClrTx/>
                <a:buSzTx/>
                <a:buFontTx/>
                <a:buNone/>
                <a:defRPr>
                  <a:latin typeface="微软雅黑"/>
                  <a:ea typeface="微软雅黑"/>
                  <a:cs typeface="微软雅黑"/>
                </a:defRPr>
              </a:pPr>
              <a:endParaRPr kumimoji="0" lang="zh-CN" altLang="en-US" sz="1050" u="none" strike="noStrike" kern="0" cap="none" spc="0" normalizeH="0" baseline="0" noProof="0" dirty="0">
                <a:ln>
                  <a:noFill/>
                </a:ln>
                <a:solidFill>
                  <a:srgbClr val="383838"/>
                </a:solidFill>
                <a:effectLst/>
                <a:uLnTx/>
                <a:uFillTx/>
                <a:latin typeface="微软雅黑"/>
                <a:ea typeface="微软雅黑"/>
                <a:cs typeface="微软雅黑"/>
              </a:endParaRPr>
            </a:p>
          </p:txBody>
        </p:sp>
        <p:grpSp>
          <p:nvGrpSpPr>
            <p:cNvPr id="56" name="组合 55"/>
            <p:cNvGrpSpPr/>
            <p:nvPr/>
          </p:nvGrpSpPr>
          <p:grpSpPr>
            <a:xfrm>
              <a:off x="2659685" y="3668206"/>
              <a:ext cx="3944259" cy="1116282"/>
              <a:chOff x="2664795" y="3686077"/>
              <a:chExt cx="3944259" cy="1116282"/>
            </a:xfrm>
          </p:grpSpPr>
          <p:sp>
            <p:nvSpPr>
              <p:cNvPr id="73" name="Rectangle: Top Corners Rounded 32"/>
              <p:cNvSpPr/>
              <p:nvPr/>
            </p:nvSpPr>
            <p:spPr>
              <a:xfrm>
                <a:off x="2855411" y="3686077"/>
                <a:ext cx="3593014" cy="432000"/>
              </a:xfrm>
              <a:prstGeom prst="trapezoid">
                <a:avLst/>
              </a:prstGeom>
              <a:solidFill>
                <a:srgbClr val="3368FF"/>
              </a:solid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运营管理</a:t>
                </a:r>
                <a:endParaRPr lang="zh-CN" altLang="en-US" sz="1200" kern="0" dirty="0">
                  <a:solidFill>
                    <a:srgbClr val="FFFFFF"/>
                  </a:solidFill>
                  <a:latin typeface="微软雅黑"/>
                  <a:ea typeface="微软雅黑"/>
                  <a:cs typeface="微软雅黑"/>
                  <a:sym typeface="微软雅黑"/>
                </a:endParaRPr>
              </a:p>
            </p:txBody>
          </p:sp>
          <p:sp>
            <p:nvSpPr>
              <p:cNvPr id="84" name="Rectangle: Top Corners Rounded 32"/>
              <p:cNvSpPr/>
              <p:nvPr/>
            </p:nvSpPr>
            <p:spPr>
              <a:xfrm>
                <a:off x="3380050" y="4252860"/>
                <a:ext cx="566075" cy="549499"/>
              </a:xfrm>
              <a:prstGeom prst="rect">
                <a:avLst/>
              </a:prstGeom>
              <a:solidFill>
                <a:srgbClr val="B3D4FE"/>
              </a:solid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采购</a:t>
                </a:r>
                <a:endParaRPr lang="en-US" altLang="zh-CN" sz="1200" kern="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管理</a:t>
                </a:r>
                <a:endParaRPr lang="en-US" sz="1200" kern="0" dirty="0">
                  <a:solidFill>
                    <a:srgbClr val="383838"/>
                  </a:solidFill>
                  <a:latin typeface="微软雅黑"/>
                  <a:ea typeface="微软雅黑"/>
                  <a:cs typeface="微软雅黑"/>
                  <a:sym typeface="微软雅黑"/>
                </a:endParaRPr>
              </a:p>
            </p:txBody>
          </p:sp>
          <p:sp>
            <p:nvSpPr>
              <p:cNvPr id="85" name="Rectangle: Top Corners Rounded 32"/>
              <p:cNvSpPr/>
              <p:nvPr/>
            </p:nvSpPr>
            <p:spPr>
              <a:xfrm>
                <a:off x="4029274" y="4252860"/>
                <a:ext cx="566075" cy="549499"/>
              </a:xfrm>
              <a:prstGeom prst="rect">
                <a:avLst/>
              </a:prstGeom>
              <a:solidFill>
                <a:srgbClr val="B3D4FE"/>
              </a:solid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制造</a:t>
                </a:r>
                <a:endParaRPr lang="en-US" altLang="zh-CN" sz="1200" kern="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管理</a:t>
                </a:r>
                <a:endParaRPr lang="en-US" sz="1200" kern="0" dirty="0">
                  <a:solidFill>
                    <a:srgbClr val="383838"/>
                  </a:solidFill>
                  <a:latin typeface="微软雅黑"/>
                  <a:ea typeface="微软雅黑"/>
                  <a:cs typeface="微软雅黑"/>
                  <a:sym typeface="微软雅黑"/>
                </a:endParaRPr>
              </a:p>
            </p:txBody>
          </p:sp>
          <p:sp>
            <p:nvSpPr>
              <p:cNvPr id="86" name="Rectangle: Top Corners Rounded 32"/>
              <p:cNvSpPr/>
              <p:nvPr/>
            </p:nvSpPr>
            <p:spPr>
              <a:xfrm>
                <a:off x="4678498" y="4252860"/>
                <a:ext cx="566075" cy="549499"/>
              </a:xfrm>
              <a:prstGeom prst="rect">
                <a:avLst/>
              </a:prstGeom>
              <a:solidFill>
                <a:srgbClr val="B3D4FE"/>
              </a:solid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库存</a:t>
                </a:r>
                <a:endParaRPr lang="en-US" altLang="zh-CN" sz="1200" kern="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管理</a:t>
                </a:r>
                <a:endParaRPr lang="en-US" sz="1200" kern="0" dirty="0">
                  <a:solidFill>
                    <a:srgbClr val="383838"/>
                  </a:solidFill>
                  <a:latin typeface="微软雅黑"/>
                  <a:ea typeface="微软雅黑"/>
                  <a:cs typeface="微软雅黑"/>
                  <a:sym typeface="微软雅黑"/>
                </a:endParaRPr>
              </a:p>
            </p:txBody>
          </p:sp>
          <p:sp>
            <p:nvSpPr>
              <p:cNvPr id="87" name="Rectangle: Top Corners Rounded 32"/>
              <p:cNvSpPr/>
              <p:nvPr/>
            </p:nvSpPr>
            <p:spPr>
              <a:xfrm>
                <a:off x="5327722" y="4252860"/>
                <a:ext cx="566075" cy="549499"/>
              </a:xfrm>
              <a:prstGeom prst="rect">
                <a:avLst/>
              </a:prstGeom>
              <a:solidFill>
                <a:srgbClr val="B3D4FE"/>
              </a:solid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物流</a:t>
                </a:r>
                <a:endParaRPr lang="en-US" altLang="zh-CN" sz="1200" kern="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管理</a:t>
                </a:r>
                <a:endParaRPr lang="en-US" sz="1200" kern="0" dirty="0">
                  <a:solidFill>
                    <a:srgbClr val="383838"/>
                  </a:solidFill>
                  <a:latin typeface="微软雅黑"/>
                  <a:ea typeface="微软雅黑"/>
                  <a:cs typeface="微软雅黑"/>
                  <a:sym typeface="微软雅黑"/>
                </a:endParaRPr>
              </a:p>
            </p:txBody>
          </p:sp>
          <p:sp>
            <p:nvSpPr>
              <p:cNvPr id="88" name="任意多边形: 形状 1178"/>
              <p:cNvSpPr/>
              <p:nvPr/>
            </p:nvSpPr>
            <p:spPr>
              <a:xfrm>
                <a:off x="5976948" y="4252859"/>
                <a:ext cx="632106" cy="549500"/>
              </a:xfrm>
              <a:custGeom>
                <a:avLst/>
                <a:gdLst>
                  <a:gd name="connsiteX0" fmla="*/ 0 w 632106"/>
                  <a:gd name="connsiteY0" fmla="*/ 0 h 549500"/>
                  <a:gd name="connsiteX1" fmla="*/ 488727 w 632106"/>
                  <a:gd name="connsiteY1" fmla="*/ 0 h 549500"/>
                  <a:gd name="connsiteX2" fmla="*/ 488727 w 632106"/>
                  <a:gd name="connsiteY2" fmla="*/ 1 h 549500"/>
                  <a:gd name="connsiteX3" fmla="*/ 498754 w 632106"/>
                  <a:gd name="connsiteY3" fmla="*/ 1 h 549500"/>
                  <a:gd name="connsiteX4" fmla="*/ 632106 w 632106"/>
                  <a:gd name="connsiteY4" fmla="*/ 549500 h 549500"/>
                  <a:gd name="connsiteX5" fmla="*/ 0 w 632106"/>
                  <a:gd name="connsiteY5" fmla="*/ 549500 h 549500"/>
                  <a:gd name="connsiteX6" fmla="*/ 1 w 632106"/>
                  <a:gd name="connsiteY6" fmla="*/ 549499 h 549500"/>
                  <a:gd name="connsiteX7" fmla="*/ 0 w 632106"/>
                  <a:gd name="connsiteY7" fmla="*/ 549499 h 54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2106" h="549500">
                    <a:moveTo>
                      <a:pt x="0" y="0"/>
                    </a:moveTo>
                    <a:lnTo>
                      <a:pt x="488727" y="0"/>
                    </a:lnTo>
                    <a:lnTo>
                      <a:pt x="488727" y="1"/>
                    </a:lnTo>
                    <a:lnTo>
                      <a:pt x="498754" y="1"/>
                    </a:lnTo>
                    <a:lnTo>
                      <a:pt x="632106" y="549500"/>
                    </a:lnTo>
                    <a:lnTo>
                      <a:pt x="0" y="549500"/>
                    </a:lnTo>
                    <a:lnTo>
                      <a:pt x="1" y="549499"/>
                    </a:lnTo>
                    <a:lnTo>
                      <a:pt x="0" y="549499"/>
                    </a:lnTo>
                    <a:close/>
                  </a:path>
                </a:pathLst>
              </a:custGeom>
              <a:solidFill>
                <a:srgbClr val="B3D4FE"/>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销售</a:t>
                </a:r>
                <a:endParaRPr lang="en-US" altLang="zh-CN" sz="1200" kern="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管理</a:t>
                </a:r>
                <a:endParaRPr lang="en-US" sz="1200" kern="0" dirty="0">
                  <a:solidFill>
                    <a:srgbClr val="383838"/>
                  </a:solidFill>
                  <a:latin typeface="微软雅黑"/>
                  <a:ea typeface="微软雅黑"/>
                  <a:cs typeface="微软雅黑"/>
                  <a:sym typeface="微软雅黑"/>
                </a:endParaRPr>
              </a:p>
            </p:txBody>
          </p:sp>
          <p:sp>
            <p:nvSpPr>
              <p:cNvPr id="89" name="任意多边形: 形状 1180"/>
              <p:cNvSpPr/>
              <p:nvPr/>
            </p:nvSpPr>
            <p:spPr>
              <a:xfrm flipH="1">
                <a:off x="2664795" y="4252859"/>
                <a:ext cx="632106" cy="549500"/>
              </a:xfrm>
              <a:custGeom>
                <a:avLst/>
                <a:gdLst>
                  <a:gd name="connsiteX0" fmla="*/ 0 w 632106"/>
                  <a:gd name="connsiteY0" fmla="*/ 0 h 549500"/>
                  <a:gd name="connsiteX1" fmla="*/ 488727 w 632106"/>
                  <a:gd name="connsiteY1" fmla="*/ 0 h 549500"/>
                  <a:gd name="connsiteX2" fmla="*/ 488727 w 632106"/>
                  <a:gd name="connsiteY2" fmla="*/ 1 h 549500"/>
                  <a:gd name="connsiteX3" fmla="*/ 498754 w 632106"/>
                  <a:gd name="connsiteY3" fmla="*/ 1 h 549500"/>
                  <a:gd name="connsiteX4" fmla="*/ 632106 w 632106"/>
                  <a:gd name="connsiteY4" fmla="*/ 549500 h 549500"/>
                  <a:gd name="connsiteX5" fmla="*/ 0 w 632106"/>
                  <a:gd name="connsiteY5" fmla="*/ 549500 h 549500"/>
                  <a:gd name="connsiteX6" fmla="*/ 1 w 632106"/>
                  <a:gd name="connsiteY6" fmla="*/ 549499 h 549500"/>
                  <a:gd name="connsiteX7" fmla="*/ 0 w 632106"/>
                  <a:gd name="connsiteY7" fmla="*/ 549499 h 54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2106" h="549500">
                    <a:moveTo>
                      <a:pt x="0" y="0"/>
                    </a:moveTo>
                    <a:lnTo>
                      <a:pt x="488727" y="0"/>
                    </a:lnTo>
                    <a:lnTo>
                      <a:pt x="488727" y="1"/>
                    </a:lnTo>
                    <a:lnTo>
                      <a:pt x="498754" y="1"/>
                    </a:lnTo>
                    <a:lnTo>
                      <a:pt x="632106" y="549500"/>
                    </a:lnTo>
                    <a:lnTo>
                      <a:pt x="0" y="549500"/>
                    </a:lnTo>
                    <a:lnTo>
                      <a:pt x="1" y="549499"/>
                    </a:lnTo>
                    <a:lnTo>
                      <a:pt x="0" y="549499"/>
                    </a:lnTo>
                    <a:close/>
                  </a:path>
                </a:pathLst>
              </a:custGeom>
              <a:solidFill>
                <a:srgbClr val="B3D4FE"/>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产品</a:t>
                </a:r>
                <a:endParaRPr lang="en-US" altLang="zh-CN" sz="1200" kern="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开发</a:t>
                </a:r>
                <a:endParaRPr lang="en-US" sz="1200" kern="0" dirty="0">
                  <a:solidFill>
                    <a:srgbClr val="383838"/>
                  </a:solidFill>
                  <a:latin typeface="微软雅黑"/>
                  <a:ea typeface="微软雅黑"/>
                  <a:cs typeface="微软雅黑"/>
                  <a:sym typeface="微软雅黑"/>
                </a:endParaRPr>
              </a:p>
            </p:txBody>
          </p:sp>
        </p:grpSp>
      </p:grpSp>
      <p:sp>
        <p:nvSpPr>
          <p:cNvPr id="90" name="矩形: 圆角 48"/>
          <p:cNvSpPr/>
          <p:nvPr/>
        </p:nvSpPr>
        <p:spPr>
          <a:xfrm>
            <a:off x="2197735" y="2265680"/>
            <a:ext cx="3493135" cy="935355"/>
          </a:xfrm>
          <a:prstGeom prst="trapezoid">
            <a:avLst/>
          </a:prstGeom>
          <a:solidFill>
            <a:srgbClr val="FFFFFF"/>
          </a:solidFill>
          <a:ln w="12700" cap="flat" cmpd="sng" algn="ctr">
            <a:solidFill>
              <a:srgbClr val="668EFF">
                <a:alpha val="70000"/>
              </a:srgbClr>
            </a:solidFill>
            <a:prstDash val="dash"/>
            <a:miter lim="800000"/>
          </a:ln>
          <a:effectLst/>
        </p:spPr>
        <p:txBody>
          <a:bodyPr lIns="0" tIns="0" rIns="0" bIns="0" rtlCol="0" anchor="ctr"/>
          <a:lstStyle/>
          <a:p>
            <a:pPr marL="0" marR="0" lvl="0" indent="0" algn="ctr" defTabSz="91440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05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91" name="Rectangle: Top Corners Rounded 32"/>
          <p:cNvSpPr/>
          <p:nvPr/>
        </p:nvSpPr>
        <p:spPr>
          <a:xfrm>
            <a:off x="3200400" y="2424430"/>
            <a:ext cx="715010" cy="617855"/>
          </a:xfrm>
          <a:prstGeom prst="rect">
            <a:avLst/>
          </a:prstGeom>
          <a:solidFill>
            <a:srgbClr val="3368FF"/>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机会</a:t>
            </a:r>
            <a:endParaRPr lang="zh-CN" altLang="en-US" sz="1200" kern="0"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识别</a:t>
            </a:r>
            <a:endParaRPr lang="zh-CN" altLang="en-US" sz="1200" kern="0" dirty="0">
              <a:solidFill>
                <a:srgbClr val="FFFFFF"/>
              </a:solidFill>
              <a:latin typeface="微软雅黑"/>
              <a:ea typeface="微软雅黑"/>
              <a:cs typeface="微软雅黑"/>
              <a:sym typeface="微软雅黑"/>
            </a:endParaRPr>
          </a:p>
        </p:txBody>
      </p:sp>
      <p:sp>
        <p:nvSpPr>
          <p:cNvPr id="92" name="Rectangle: Top Corners Rounded 32"/>
          <p:cNvSpPr/>
          <p:nvPr/>
        </p:nvSpPr>
        <p:spPr>
          <a:xfrm>
            <a:off x="3971925" y="2424430"/>
            <a:ext cx="715010" cy="617855"/>
          </a:xfrm>
          <a:prstGeom prst="rect">
            <a:avLst/>
          </a:prstGeom>
          <a:solidFill>
            <a:srgbClr val="3368FF"/>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减排</a:t>
            </a:r>
            <a:endParaRPr lang="zh-CN" altLang="en-US" sz="1200" kern="0"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分析</a:t>
            </a:r>
            <a:endParaRPr lang="zh-CN" altLang="en-US" sz="1200" kern="0" dirty="0">
              <a:solidFill>
                <a:srgbClr val="FFFFFF"/>
              </a:solidFill>
              <a:latin typeface="微软雅黑"/>
              <a:ea typeface="微软雅黑"/>
              <a:cs typeface="微软雅黑"/>
              <a:sym typeface="微软雅黑"/>
            </a:endParaRPr>
          </a:p>
        </p:txBody>
      </p:sp>
      <p:sp>
        <p:nvSpPr>
          <p:cNvPr id="93" name="任意多边形: 形状 1183"/>
          <p:cNvSpPr/>
          <p:nvPr/>
        </p:nvSpPr>
        <p:spPr>
          <a:xfrm>
            <a:off x="4743450" y="2424430"/>
            <a:ext cx="798830" cy="617855"/>
          </a:xfrm>
          <a:custGeom>
            <a:avLst/>
            <a:gdLst>
              <a:gd name="connsiteX0" fmla="*/ 0 w 632106"/>
              <a:gd name="connsiteY0" fmla="*/ 0 h 549500"/>
              <a:gd name="connsiteX1" fmla="*/ 488727 w 632106"/>
              <a:gd name="connsiteY1" fmla="*/ 0 h 549500"/>
              <a:gd name="connsiteX2" fmla="*/ 488727 w 632106"/>
              <a:gd name="connsiteY2" fmla="*/ 1 h 549500"/>
              <a:gd name="connsiteX3" fmla="*/ 498754 w 632106"/>
              <a:gd name="connsiteY3" fmla="*/ 1 h 549500"/>
              <a:gd name="connsiteX4" fmla="*/ 632106 w 632106"/>
              <a:gd name="connsiteY4" fmla="*/ 549500 h 549500"/>
              <a:gd name="connsiteX5" fmla="*/ 0 w 632106"/>
              <a:gd name="connsiteY5" fmla="*/ 549500 h 549500"/>
              <a:gd name="connsiteX6" fmla="*/ 1 w 632106"/>
              <a:gd name="connsiteY6" fmla="*/ 549499 h 549500"/>
              <a:gd name="connsiteX7" fmla="*/ 0 w 632106"/>
              <a:gd name="connsiteY7" fmla="*/ 549499 h 54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2106" h="549500">
                <a:moveTo>
                  <a:pt x="0" y="0"/>
                </a:moveTo>
                <a:lnTo>
                  <a:pt x="488727" y="0"/>
                </a:lnTo>
                <a:lnTo>
                  <a:pt x="488727" y="1"/>
                </a:lnTo>
                <a:lnTo>
                  <a:pt x="498754" y="1"/>
                </a:lnTo>
                <a:lnTo>
                  <a:pt x="632106" y="549500"/>
                </a:lnTo>
                <a:lnTo>
                  <a:pt x="0" y="549500"/>
                </a:lnTo>
                <a:lnTo>
                  <a:pt x="1" y="549499"/>
                </a:lnTo>
                <a:lnTo>
                  <a:pt x="0" y="549499"/>
                </a:lnTo>
                <a:close/>
              </a:path>
            </a:pathLst>
          </a:custGeom>
          <a:solidFill>
            <a:srgbClr val="3368FF"/>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实现</a:t>
            </a:r>
            <a:endParaRPr lang="zh-CN" altLang="en-US" sz="1200" kern="0"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路径</a:t>
            </a:r>
            <a:endParaRPr lang="zh-CN" altLang="en-US" sz="1200" kern="0" dirty="0">
              <a:solidFill>
                <a:srgbClr val="FFFFFF"/>
              </a:solidFill>
              <a:latin typeface="微软雅黑"/>
              <a:ea typeface="微软雅黑"/>
              <a:cs typeface="微软雅黑"/>
              <a:sym typeface="微软雅黑"/>
            </a:endParaRPr>
          </a:p>
        </p:txBody>
      </p:sp>
      <p:sp>
        <p:nvSpPr>
          <p:cNvPr id="94" name="任意多边形: 形状 1184"/>
          <p:cNvSpPr/>
          <p:nvPr/>
        </p:nvSpPr>
        <p:spPr>
          <a:xfrm flipH="1">
            <a:off x="2345690" y="2424430"/>
            <a:ext cx="798830" cy="617855"/>
          </a:xfrm>
          <a:custGeom>
            <a:avLst/>
            <a:gdLst>
              <a:gd name="connsiteX0" fmla="*/ 0 w 632106"/>
              <a:gd name="connsiteY0" fmla="*/ 0 h 549500"/>
              <a:gd name="connsiteX1" fmla="*/ 488727 w 632106"/>
              <a:gd name="connsiteY1" fmla="*/ 0 h 549500"/>
              <a:gd name="connsiteX2" fmla="*/ 488727 w 632106"/>
              <a:gd name="connsiteY2" fmla="*/ 1 h 549500"/>
              <a:gd name="connsiteX3" fmla="*/ 498754 w 632106"/>
              <a:gd name="connsiteY3" fmla="*/ 1 h 549500"/>
              <a:gd name="connsiteX4" fmla="*/ 632106 w 632106"/>
              <a:gd name="connsiteY4" fmla="*/ 549500 h 549500"/>
              <a:gd name="connsiteX5" fmla="*/ 0 w 632106"/>
              <a:gd name="connsiteY5" fmla="*/ 549500 h 549500"/>
              <a:gd name="connsiteX6" fmla="*/ 1 w 632106"/>
              <a:gd name="connsiteY6" fmla="*/ 549499 h 549500"/>
              <a:gd name="connsiteX7" fmla="*/ 0 w 632106"/>
              <a:gd name="connsiteY7" fmla="*/ 549499 h 54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2106" h="549500">
                <a:moveTo>
                  <a:pt x="0" y="0"/>
                </a:moveTo>
                <a:lnTo>
                  <a:pt x="488727" y="0"/>
                </a:lnTo>
                <a:lnTo>
                  <a:pt x="488727" y="1"/>
                </a:lnTo>
                <a:lnTo>
                  <a:pt x="498754" y="1"/>
                </a:lnTo>
                <a:lnTo>
                  <a:pt x="632106" y="549500"/>
                </a:lnTo>
                <a:lnTo>
                  <a:pt x="0" y="549500"/>
                </a:lnTo>
                <a:lnTo>
                  <a:pt x="1" y="549499"/>
                </a:lnTo>
                <a:lnTo>
                  <a:pt x="0" y="549499"/>
                </a:lnTo>
                <a:close/>
              </a:path>
            </a:pathLst>
          </a:custGeom>
          <a:solidFill>
            <a:srgbClr val="3368FF"/>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减碳</a:t>
            </a:r>
            <a:endParaRPr lang="en-US" altLang="zh-CN" sz="1200" kern="0"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评估</a:t>
            </a:r>
            <a:endParaRPr lang="en-US" sz="1200" kern="0" dirty="0">
              <a:solidFill>
                <a:srgbClr val="FFFFFF"/>
              </a:solidFill>
              <a:latin typeface="微软雅黑"/>
              <a:ea typeface="微软雅黑"/>
              <a:cs typeface="微软雅黑"/>
              <a:sym typeface="微软雅黑"/>
            </a:endParaRPr>
          </a:p>
        </p:txBody>
      </p:sp>
      <p:grpSp>
        <p:nvGrpSpPr>
          <p:cNvPr id="95" name="组合 94"/>
          <p:cNvGrpSpPr/>
          <p:nvPr/>
        </p:nvGrpSpPr>
        <p:grpSpPr>
          <a:xfrm>
            <a:off x="1543685" y="5330825"/>
            <a:ext cx="4801235" cy="935355"/>
            <a:chOff x="2310380" y="5113514"/>
            <a:chExt cx="4642869" cy="831497"/>
          </a:xfrm>
        </p:grpSpPr>
        <p:sp>
          <p:nvSpPr>
            <p:cNvPr id="96" name="矩形: 圆角 48"/>
            <p:cNvSpPr/>
            <p:nvPr/>
          </p:nvSpPr>
          <p:spPr>
            <a:xfrm>
              <a:off x="2310380" y="5113514"/>
              <a:ext cx="4642869" cy="831497"/>
            </a:xfrm>
            <a:prstGeom prst="trapezoid">
              <a:avLst/>
            </a:prstGeom>
            <a:solidFill>
              <a:srgbClr val="FFFFFF"/>
            </a:solidFill>
            <a:ln w="12700" cap="flat" cmpd="sng" algn="ctr">
              <a:solidFill>
                <a:srgbClr val="383838">
                  <a:alpha val="50000"/>
                </a:srgbClr>
              </a:solidFill>
              <a:prstDash val="dash"/>
              <a:miter lim="800000"/>
            </a:ln>
            <a:effectLst/>
          </p:spPr>
          <p:txBody>
            <a:bodyPr lIns="0" tIns="0" rIns="0" bIns="0" rtlCol="0" anchor="ctr"/>
            <a:lstStyle/>
            <a:p>
              <a:pPr marL="0" marR="0" lvl="0" indent="0" algn="ctr" defTabSz="91440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050" u="none" strike="noStrike" kern="0" cap="none" spc="0" normalizeH="0" baseline="0" noProof="0" dirty="0">
                <a:ln>
                  <a:noFill/>
                </a:ln>
                <a:solidFill>
                  <a:srgbClr val="FFFFFF"/>
                </a:solidFill>
                <a:effectLst/>
                <a:uLnTx/>
                <a:uFillTx/>
                <a:latin typeface="微软雅黑"/>
                <a:ea typeface="微软雅黑"/>
                <a:cs typeface="微软雅黑"/>
              </a:endParaRPr>
            </a:p>
          </p:txBody>
        </p:sp>
        <p:grpSp>
          <p:nvGrpSpPr>
            <p:cNvPr id="97" name="组合 96"/>
            <p:cNvGrpSpPr/>
            <p:nvPr/>
          </p:nvGrpSpPr>
          <p:grpSpPr>
            <a:xfrm>
              <a:off x="2454672" y="5254512"/>
              <a:ext cx="4354284" cy="549500"/>
              <a:chOff x="2471278" y="5267761"/>
              <a:chExt cx="4354284" cy="549500"/>
            </a:xfrm>
          </p:grpSpPr>
          <p:sp>
            <p:nvSpPr>
              <p:cNvPr id="98" name="任意多边形: 形状 1186"/>
              <p:cNvSpPr/>
              <p:nvPr/>
            </p:nvSpPr>
            <p:spPr>
              <a:xfrm flipH="1">
                <a:off x="2471278" y="5267761"/>
                <a:ext cx="2144114" cy="549500"/>
              </a:xfrm>
              <a:custGeom>
                <a:avLst/>
                <a:gdLst>
                  <a:gd name="connsiteX0" fmla="*/ 0 w 632106"/>
                  <a:gd name="connsiteY0" fmla="*/ 0 h 549500"/>
                  <a:gd name="connsiteX1" fmla="*/ 488727 w 632106"/>
                  <a:gd name="connsiteY1" fmla="*/ 0 h 549500"/>
                  <a:gd name="connsiteX2" fmla="*/ 488727 w 632106"/>
                  <a:gd name="connsiteY2" fmla="*/ 1 h 549500"/>
                  <a:gd name="connsiteX3" fmla="*/ 498754 w 632106"/>
                  <a:gd name="connsiteY3" fmla="*/ 1 h 549500"/>
                  <a:gd name="connsiteX4" fmla="*/ 632106 w 632106"/>
                  <a:gd name="connsiteY4" fmla="*/ 549500 h 549500"/>
                  <a:gd name="connsiteX5" fmla="*/ 0 w 632106"/>
                  <a:gd name="connsiteY5" fmla="*/ 549500 h 549500"/>
                  <a:gd name="connsiteX6" fmla="*/ 1 w 632106"/>
                  <a:gd name="connsiteY6" fmla="*/ 549499 h 549500"/>
                  <a:gd name="connsiteX7" fmla="*/ 0 w 632106"/>
                  <a:gd name="connsiteY7" fmla="*/ 549499 h 549500"/>
                  <a:gd name="connsiteX0-1" fmla="*/ 0 w 632106"/>
                  <a:gd name="connsiteY0-2" fmla="*/ 0 h 549500"/>
                  <a:gd name="connsiteX1-3" fmla="*/ 488727 w 632106"/>
                  <a:gd name="connsiteY1-4" fmla="*/ 0 h 549500"/>
                  <a:gd name="connsiteX2-5" fmla="*/ 488727 w 632106"/>
                  <a:gd name="connsiteY2-6" fmla="*/ 1 h 549500"/>
                  <a:gd name="connsiteX3-7" fmla="*/ 591420 w 632106"/>
                  <a:gd name="connsiteY3-8" fmla="*/ 1 h 549500"/>
                  <a:gd name="connsiteX4-9" fmla="*/ 632106 w 632106"/>
                  <a:gd name="connsiteY4-10" fmla="*/ 549500 h 549500"/>
                  <a:gd name="connsiteX5-11" fmla="*/ 0 w 632106"/>
                  <a:gd name="connsiteY5-12" fmla="*/ 549500 h 549500"/>
                  <a:gd name="connsiteX6-13" fmla="*/ 1 w 632106"/>
                  <a:gd name="connsiteY6-14" fmla="*/ 549499 h 549500"/>
                  <a:gd name="connsiteX7-15" fmla="*/ 0 w 632106"/>
                  <a:gd name="connsiteY7-16" fmla="*/ 549499 h 549500"/>
                  <a:gd name="connsiteX8" fmla="*/ 0 w 632106"/>
                  <a:gd name="connsiteY8" fmla="*/ 0 h 5495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 y="connsiteY8"/>
                  </a:cxn>
                </a:cxnLst>
                <a:rect l="l" t="t" r="r" b="b"/>
                <a:pathLst>
                  <a:path w="632106" h="549500">
                    <a:moveTo>
                      <a:pt x="0" y="0"/>
                    </a:moveTo>
                    <a:lnTo>
                      <a:pt x="488727" y="0"/>
                    </a:lnTo>
                    <a:lnTo>
                      <a:pt x="488727" y="1"/>
                    </a:lnTo>
                    <a:lnTo>
                      <a:pt x="591420" y="1"/>
                    </a:lnTo>
                    <a:lnTo>
                      <a:pt x="632106" y="549500"/>
                    </a:lnTo>
                    <a:lnTo>
                      <a:pt x="0" y="549500"/>
                    </a:lnTo>
                    <a:lnTo>
                      <a:pt x="1" y="549499"/>
                    </a:lnTo>
                    <a:lnTo>
                      <a:pt x="0" y="549499"/>
                    </a:lnTo>
                    <a:lnTo>
                      <a:pt x="0" y="0"/>
                    </a:lnTo>
                    <a:close/>
                  </a:path>
                </a:pathLst>
              </a:custGeom>
              <a:solidFill>
                <a:srgbClr val="0042FF"/>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数字化技术</a:t>
                </a:r>
                <a:endParaRPr lang="zh-CN" altLang="en-US" sz="1200" kern="0" dirty="0">
                  <a:solidFill>
                    <a:srgbClr val="FFFFFF"/>
                  </a:solidFill>
                  <a:latin typeface="微软雅黑"/>
                  <a:ea typeface="微软雅黑"/>
                  <a:cs typeface="微软雅黑"/>
                  <a:sym typeface="微软雅黑"/>
                </a:endParaRPr>
              </a:p>
            </p:txBody>
          </p:sp>
          <p:sp>
            <p:nvSpPr>
              <p:cNvPr id="99" name="任意多边形: 形状 1187"/>
              <p:cNvSpPr/>
              <p:nvPr/>
            </p:nvSpPr>
            <p:spPr>
              <a:xfrm>
                <a:off x="4681448" y="5267761"/>
                <a:ext cx="2144114" cy="549500"/>
              </a:xfrm>
              <a:custGeom>
                <a:avLst/>
                <a:gdLst>
                  <a:gd name="connsiteX0" fmla="*/ 0 w 632106"/>
                  <a:gd name="connsiteY0" fmla="*/ 0 h 549500"/>
                  <a:gd name="connsiteX1" fmla="*/ 488727 w 632106"/>
                  <a:gd name="connsiteY1" fmla="*/ 0 h 549500"/>
                  <a:gd name="connsiteX2" fmla="*/ 488727 w 632106"/>
                  <a:gd name="connsiteY2" fmla="*/ 1 h 549500"/>
                  <a:gd name="connsiteX3" fmla="*/ 498754 w 632106"/>
                  <a:gd name="connsiteY3" fmla="*/ 1 h 549500"/>
                  <a:gd name="connsiteX4" fmla="*/ 632106 w 632106"/>
                  <a:gd name="connsiteY4" fmla="*/ 549500 h 549500"/>
                  <a:gd name="connsiteX5" fmla="*/ 0 w 632106"/>
                  <a:gd name="connsiteY5" fmla="*/ 549500 h 549500"/>
                  <a:gd name="connsiteX6" fmla="*/ 1 w 632106"/>
                  <a:gd name="connsiteY6" fmla="*/ 549499 h 549500"/>
                  <a:gd name="connsiteX7" fmla="*/ 0 w 632106"/>
                  <a:gd name="connsiteY7" fmla="*/ 549499 h 549500"/>
                  <a:gd name="connsiteX0-1" fmla="*/ 0 w 632106"/>
                  <a:gd name="connsiteY0-2" fmla="*/ 0 h 549500"/>
                  <a:gd name="connsiteX1-3" fmla="*/ 488727 w 632106"/>
                  <a:gd name="connsiteY1-4" fmla="*/ 0 h 549500"/>
                  <a:gd name="connsiteX2-5" fmla="*/ 488727 w 632106"/>
                  <a:gd name="connsiteY2-6" fmla="*/ 1 h 549500"/>
                  <a:gd name="connsiteX3-7" fmla="*/ 591420 w 632106"/>
                  <a:gd name="connsiteY3-8" fmla="*/ 1 h 549500"/>
                  <a:gd name="connsiteX4-9" fmla="*/ 632106 w 632106"/>
                  <a:gd name="connsiteY4-10" fmla="*/ 549500 h 549500"/>
                  <a:gd name="connsiteX5-11" fmla="*/ 0 w 632106"/>
                  <a:gd name="connsiteY5-12" fmla="*/ 549500 h 549500"/>
                  <a:gd name="connsiteX6-13" fmla="*/ 1 w 632106"/>
                  <a:gd name="connsiteY6-14" fmla="*/ 549499 h 549500"/>
                  <a:gd name="connsiteX7-15" fmla="*/ 0 w 632106"/>
                  <a:gd name="connsiteY7-16" fmla="*/ 549499 h 549500"/>
                  <a:gd name="connsiteX8" fmla="*/ 0 w 632106"/>
                  <a:gd name="connsiteY8" fmla="*/ 0 h 5495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 y="connsiteY8"/>
                  </a:cxn>
                </a:cxnLst>
                <a:rect l="l" t="t" r="r" b="b"/>
                <a:pathLst>
                  <a:path w="632106" h="549500">
                    <a:moveTo>
                      <a:pt x="0" y="0"/>
                    </a:moveTo>
                    <a:lnTo>
                      <a:pt x="488727" y="0"/>
                    </a:lnTo>
                    <a:lnTo>
                      <a:pt x="488727" y="1"/>
                    </a:lnTo>
                    <a:lnTo>
                      <a:pt x="591420" y="1"/>
                    </a:lnTo>
                    <a:lnTo>
                      <a:pt x="632106" y="549500"/>
                    </a:lnTo>
                    <a:lnTo>
                      <a:pt x="0" y="549500"/>
                    </a:lnTo>
                    <a:lnTo>
                      <a:pt x="1" y="549499"/>
                    </a:lnTo>
                    <a:lnTo>
                      <a:pt x="0" y="549499"/>
                    </a:lnTo>
                    <a:lnTo>
                      <a:pt x="0" y="0"/>
                    </a:lnTo>
                    <a:close/>
                  </a:path>
                </a:pathLst>
              </a:custGeom>
              <a:solidFill>
                <a:srgbClr val="0042FF"/>
              </a:solidFill>
              <a:ln w="9525" cap="flat" cmpd="sng" algn="ctr">
                <a:noFill/>
                <a:prstDash val="solid"/>
                <a:miter lim="800000"/>
              </a:ln>
              <a:effectLst>
                <a:outerShdw blurRad="368300" dist="203200" dir="5400000" sx="98000" sy="98000" algn="t" rotWithShape="0">
                  <a:srgbClr val="383838">
                    <a:alpha val="18000"/>
                  </a:srgbClr>
                </a:outerShdw>
              </a:effectLst>
            </p:spPr>
            <p:txBody>
              <a:bodyPr wrap="square" rtlCol="0" anchor="ctr" lIns="0" rIns="0" tIns="0" bIns="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组织与人才</a:t>
                </a:r>
                <a:endParaRPr lang="zh-CN" altLang="en-US" sz="1200" kern="0" dirty="0">
                  <a:solidFill>
                    <a:srgbClr val="FFFFFF"/>
                  </a:solidFill>
                  <a:latin typeface="微软雅黑"/>
                  <a:ea typeface="微软雅黑"/>
                  <a:cs typeface="微软雅黑"/>
                  <a:sym typeface="微软雅黑"/>
                </a:endParaRPr>
              </a:p>
            </p:txBody>
          </p:sp>
        </p:grpSp>
      </p:grpSp>
      <p:sp>
        <p:nvSpPr>
          <p:cNvPr id="100" name="箭头: 上下 1188"/>
          <p:cNvSpPr/>
          <p:nvPr/>
        </p:nvSpPr>
        <p:spPr>
          <a:xfrm>
            <a:off x="3490595" y="2050415"/>
            <a:ext cx="186055" cy="323850"/>
          </a:xfrm>
          <a:prstGeom prst="upDownArrow">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01" name="箭头: 上下 1195"/>
          <p:cNvSpPr/>
          <p:nvPr/>
        </p:nvSpPr>
        <p:spPr>
          <a:xfrm>
            <a:off x="4211955" y="2050415"/>
            <a:ext cx="186055" cy="323850"/>
          </a:xfrm>
          <a:prstGeom prst="upDownArrow">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nvGrpSpPr>
          <p:cNvPr id="102" name="组合 101"/>
          <p:cNvGrpSpPr/>
          <p:nvPr/>
        </p:nvGrpSpPr>
        <p:grpSpPr>
          <a:xfrm>
            <a:off x="2708910" y="3178810"/>
            <a:ext cx="2471420" cy="323850"/>
            <a:chOff x="3358766" y="3172759"/>
            <a:chExt cx="2389902" cy="288000"/>
          </a:xfrm>
          <a:solidFill>
            <a:srgbClr val="3368FF"/>
          </a:solidFill>
        </p:grpSpPr>
        <p:sp>
          <p:nvSpPr>
            <p:cNvPr id="103" name="箭头: 上下 1196"/>
            <p:cNvSpPr/>
            <p:nvPr/>
          </p:nvSpPr>
          <p:spPr>
            <a:xfrm>
              <a:off x="3358766" y="3172759"/>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04" name="箭头: 上下 1197"/>
            <p:cNvSpPr/>
            <p:nvPr/>
          </p:nvSpPr>
          <p:spPr>
            <a:xfrm>
              <a:off x="4095400" y="3172759"/>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05" name="箭头: 上下 1198"/>
            <p:cNvSpPr/>
            <p:nvPr/>
          </p:nvSpPr>
          <p:spPr>
            <a:xfrm>
              <a:off x="4832034" y="3172759"/>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06" name="箭头: 上下 1199"/>
            <p:cNvSpPr/>
            <p:nvPr/>
          </p:nvSpPr>
          <p:spPr>
            <a:xfrm>
              <a:off x="5568668" y="3172759"/>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grpSp>
        <p:nvGrpSpPr>
          <p:cNvPr id="107" name="组合 106"/>
          <p:cNvGrpSpPr/>
          <p:nvPr/>
        </p:nvGrpSpPr>
        <p:grpSpPr>
          <a:xfrm>
            <a:off x="2066925" y="5029200"/>
            <a:ext cx="3755390" cy="323850"/>
            <a:chOff x="2810353" y="4819664"/>
            <a:chExt cx="3631261" cy="288000"/>
          </a:xfrm>
          <a:gradFill>
            <a:gsLst>
              <a:gs pos="21000">
                <a:srgbClr val="3368FF"/>
              </a:gs>
              <a:gs pos="100000">
                <a:srgbClr val="B3D4FE"/>
              </a:gs>
            </a:gsLst>
            <a:lin ang="0" scaled="0"/>
          </a:gradFill>
        </p:grpSpPr>
        <p:sp>
          <p:nvSpPr>
            <p:cNvPr id="108" name="箭头: 上下 1212"/>
            <p:cNvSpPr/>
            <p:nvPr/>
          </p:nvSpPr>
          <p:spPr>
            <a:xfrm>
              <a:off x="2810353" y="4819664"/>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09" name="箭头: 上下 1213"/>
            <p:cNvSpPr/>
            <p:nvPr/>
          </p:nvSpPr>
          <p:spPr>
            <a:xfrm>
              <a:off x="3500605" y="4819664"/>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10" name="箭头: 上下 1214"/>
            <p:cNvSpPr/>
            <p:nvPr/>
          </p:nvSpPr>
          <p:spPr>
            <a:xfrm>
              <a:off x="4190857" y="4819664"/>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12" name="箭头: 上下 1215"/>
            <p:cNvSpPr/>
            <p:nvPr/>
          </p:nvSpPr>
          <p:spPr>
            <a:xfrm>
              <a:off x="4881109" y="4819664"/>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3" name="箭头: 上下 1216"/>
            <p:cNvSpPr/>
            <p:nvPr/>
          </p:nvSpPr>
          <p:spPr>
            <a:xfrm>
              <a:off x="5571361" y="4819664"/>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14" name="箭头: 上下 1217"/>
            <p:cNvSpPr/>
            <p:nvPr/>
          </p:nvSpPr>
          <p:spPr>
            <a:xfrm>
              <a:off x="6261614" y="4819664"/>
              <a:ext cx="180000" cy="288000"/>
            </a:xfrm>
            <a:prstGeom prst="upDownArrow">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115" name="Gray1"/>
          <p:cNvSpPr>
            <a:spLocks noChangeAspect="1"/>
          </p:cNvSpPr>
          <p:nvPr>
            <p:custDataLst>
              <p:tags r:id="rId5"/>
            </p:custDataLst>
          </p:nvPr>
        </p:nvSpPr>
        <p:spPr bwMode="auto">
          <a:xfrm>
            <a:off x="7832284" y="1633604"/>
            <a:ext cx="311150" cy="311150"/>
          </a:xfrm>
          <a:prstGeom prst="ellipse">
            <a:avLst/>
          </a:prstGeom>
          <a:solidFill>
            <a:srgbClr val="0042FF"/>
          </a:solidFill>
          <a:ln w="1905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r>
              <a:rPr lang="en-US" sz="1600" b="1" dirty="0">
                <a:solidFill>
                  <a:srgbClr val="FFFFFF"/>
                </a:solidFill>
                <a:latin typeface="微软雅黑"/>
                <a:ea typeface="微软雅黑"/>
                <a:cs typeface="微软雅黑"/>
              </a:rPr>
              <a:t>1</a:t>
            </a:r>
            <a:endParaRPr lang="en-US" sz="1600" b="1" dirty="0">
              <a:solidFill>
                <a:srgbClr val="FFFFFF"/>
              </a:solidFill>
              <a:latin typeface="微软雅黑"/>
              <a:ea typeface="微软雅黑"/>
              <a:cs typeface="微软雅黑"/>
            </a:endParaRPr>
          </a:p>
        </p:txBody>
      </p:sp>
      <p:grpSp>
        <p:nvGrpSpPr>
          <p:cNvPr id="116" name="组合 115"/>
          <p:cNvGrpSpPr/>
          <p:nvPr/>
        </p:nvGrpSpPr>
        <p:grpSpPr>
          <a:xfrm>
            <a:off x="5808905" y="1711441"/>
            <a:ext cx="1692136" cy="80237"/>
            <a:chOff x="4799255" y="2346441"/>
            <a:chExt cx="1692136" cy="80237"/>
          </a:xfrm>
        </p:grpSpPr>
        <p:sp>
          <p:nvSpPr>
            <p:cNvPr id="117" name="Gray1"/>
            <p:cNvSpPr>
              <a:spLocks noChangeAspect="1"/>
            </p:cNvSpPr>
            <p:nvPr/>
          </p:nvSpPr>
          <p:spPr bwMode="auto">
            <a:xfrm>
              <a:off x="4799255" y="2346441"/>
              <a:ext cx="80237" cy="80237"/>
            </a:xfrm>
            <a:prstGeom prst="ellipse">
              <a:avLst/>
            </a:prstGeom>
            <a:solidFill>
              <a:srgbClr val="0042FF"/>
            </a:solidFill>
            <a:ln w="1270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endParaRPr lang="en-US" sz="1600" b="1" dirty="0">
                <a:solidFill>
                  <a:srgbClr val="FFFFFF"/>
                </a:solidFill>
                <a:latin typeface="微软雅黑"/>
                <a:ea typeface="微软雅黑"/>
                <a:cs typeface="微软雅黑"/>
              </a:endParaRPr>
            </a:p>
          </p:txBody>
        </p:sp>
        <p:cxnSp>
          <p:nvCxnSpPr>
            <p:cNvPr id="118" name="直线箭头连接符 124"/>
            <p:cNvCxnSpPr/>
            <p:nvPr/>
          </p:nvCxnSpPr>
          <p:spPr>
            <a:xfrm>
              <a:off x="4878491" y="2386559"/>
              <a:ext cx="1612900" cy="0"/>
            </a:xfrm>
            <a:prstGeom prst="straightConnector1">
              <a:avLst/>
            </a:prstGeom>
            <a:ln>
              <a:solidFill>
                <a:srgbClr val="0042FF"/>
              </a:solidFill>
              <a:prstDash val="lgDash"/>
              <a:tailEnd type="triangle"/>
            </a:ln>
          </p:spPr>
          <p:style>
            <a:lnRef idx="1">
              <a:srgbClr val="0042FF"/>
            </a:lnRef>
            <a:fillRef idx="0">
              <a:srgbClr val="0042FF"/>
            </a:fillRef>
            <a:effectRef idx="0">
              <a:srgbClr val="0042FF"/>
            </a:effectRef>
            <a:fontRef idx="minor">
              <a:srgbClr val="383838"/>
            </a:fontRef>
          </p:style>
        </p:cxnSp>
      </p:grpSp>
      <p:cxnSp>
        <p:nvCxnSpPr>
          <p:cNvPr id="119" name="直接连接符 118"/>
          <p:cNvCxnSpPr/>
          <p:nvPr/>
        </p:nvCxnSpPr>
        <p:spPr>
          <a:xfrm>
            <a:off x="7529195" y="2270760"/>
            <a:ext cx="4126865" cy="0"/>
          </a:xfrm>
          <a:prstGeom prst="line">
            <a:avLst/>
          </a:prstGeom>
          <a:ln w="28575">
            <a:solidFill>
              <a:srgbClr val="0042FF"/>
            </a:solidFill>
          </a:ln>
        </p:spPr>
        <p:style>
          <a:lnRef idx="2">
            <a:srgbClr val="0042FF"/>
          </a:lnRef>
          <a:fillRef idx="0">
            <a:srgbClr val="FFFFFF"/>
          </a:fillRef>
          <a:effectRef idx="0">
            <a:srgbClr val="FFFFFF"/>
          </a:effectRef>
          <a:fontRef idx="minor">
            <a:srgbClr val="383838"/>
          </a:fontRef>
        </p:style>
      </p:cxnSp>
      <p:cxnSp>
        <p:nvCxnSpPr>
          <p:cNvPr id="120" name="直接连接符 1186"/>
          <p:cNvCxnSpPr/>
          <p:nvPr/>
        </p:nvCxnSpPr>
        <p:spPr>
          <a:xfrm flipV="1">
            <a:off x="338887" y="6259422"/>
            <a:ext cx="831215" cy="6985"/>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grpSp>
        <p:nvGrpSpPr>
          <p:cNvPr id="121" name="组合 120"/>
          <p:cNvGrpSpPr/>
          <p:nvPr/>
        </p:nvGrpSpPr>
        <p:grpSpPr>
          <a:xfrm>
            <a:off x="6116245" y="2840063"/>
            <a:ext cx="1372096" cy="80010"/>
            <a:chOff x="4799255" y="2346441"/>
            <a:chExt cx="1372096" cy="80237"/>
          </a:xfrm>
        </p:grpSpPr>
        <p:sp>
          <p:nvSpPr>
            <p:cNvPr id="122" name="Gray1"/>
            <p:cNvSpPr>
              <a:spLocks noChangeAspect="1"/>
            </p:cNvSpPr>
            <p:nvPr/>
          </p:nvSpPr>
          <p:spPr bwMode="auto">
            <a:xfrm>
              <a:off x="4799255" y="2346441"/>
              <a:ext cx="80237" cy="80237"/>
            </a:xfrm>
            <a:prstGeom prst="ellipse">
              <a:avLst/>
            </a:prstGeom>
            <a:solidFill>
              <a:srgbClr val="0042FF"/>
            </a:solidFill>
            <a:ln w="1270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endParaRPr lang="en-US" sz="1600" b="1" dirty="0">
                <a:solidFill>
                  <a:srgbClr val="FFFFFF"/>
                </a:solidFill>
                <a:latin typeface="微软雅黑"/>
                <a:ea typeface="微软雅黑"/>
                <a:cs typeface="微软雅黑"/>
              </a:endParaRPr>
            </a:p>
          </p:txBody>
        </p:sp>
        <p:cxnSp>
          <p:nvCxnSpPr>
            <p:cNvPr id="123" name="直线箭头连接符 124"/>
            <p:cNvCxnSpPr/>
            <p:nvPr/>
          </p:nvCxnSpPr>
          <p:spPr>
            <a:xfrm>
              <a:off x="4878491" y="2386559"/>
              <a:ext cx="1292860" cy="0"/>
            </a:xfrm>
            <a:prstGeom prst="straightConnector1">
              <a:avLst/>
            </a:prstGeom>
            <a:ln>
              <a:solidFill>
                <a:srgbClr val="0042FF"/>
              </a:solidFill>
              <a:prstDash val="lgDash"/>
              <a:tailEnd type="triangle"/>
            </a:ln>
          </p:spPr>
          <p:style>
            <a:lnRef idx="1">
              <a:srgbClr val="0042FF"/>
            </a:lnRef>
            <a:fillRef idx="0">
              <a:srgbClr val="0042FF"/>
            </a:fillRef>
            <a:effectRef idx="0">
              <a:srgbClr val="0042FF"/>
            </a:effectRef>
            <a:fontRef idx="minor">
              <a:srgbClr val="383838"/>
            </a:fontRef>
          </p:style>
        </p:cxnSp>
      </p:grpSp>
      <p:grpSp>
        <p:nvGrpSpPr>
          <p:cNvPr id="130" name="组合 129"/>
          <p:cNvGrpSpPr/>
          <p:nvPr/>
        </p:nvGrpSpPr>
        <p:grpSpPr>
          <a:xfrm>
            <a:off x="6381675" y="4364698"/>
            <a:ext cx="1138416" cy="80010"/>
            <a:chOff x="4799255" y="2346441"/>
            <a:chExt cx="1138416" cy="80237"/>
          </a:xfrm>
        </p:grpSpPr>
        <p:sp>
          <p:nvSpPr>
            <p:cNvPr id="132" name="Gray1"/>
            <p:cNvSpPr>
              <a:spLocks noChangeAspect="1"/>
            </p:cNvSpPr>
            <p:nvPr/>
          </p:nvSpPr>
          <p:spPr bwMode="auto">
            <a:xfrm>
              <a:off x="4799255" y="2346441"/>
              <a:ext cx="80237" cy="80237"/>
            </a:xfrm>
            <a:prstGeom prst="ellipse">
              <a:avLst/>
            </a:prstGeom>
            <a:solidFill>
              <a:srgbClr val="3368FF"/>
            </a:solidFill>
            <a:ln w="1270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endParaRPr lang="en-US" sz="1600" b="1" dirty="0">
                <a:solidFill>
                  <a:srgbClr val="FFFFFF"/>
                </a:solidFill>
                <a:latin typeface="微软雅黑"/>
                <a:ea typeface="微软雅黑"/>
                <a:cs typeface="微软雅黑"/>
              </a:endParaRPr>
            </a:p>
          </p:txBody>
        </p:sp>
        <p:cxnSp>
          <p:nvCxnSpPr>
            <p:cNvPr id="136" name="直线箭头连接符 124"/>
            <p:cNvCxnSpPr/>
            <p:nvPr/>
          </p:nvCxnSpPr>
          <p:spPr>
            <a:xfrm>
              <a:off x="4878491" y="2386559"/>
              <a:ext cx="1059180" cy="0"/>
            </a:xfrm>
            <a:prstGeom prst="straightConnector1">
              <a:avLst/>
            </a:prstGeom>
            <a:ln>
              <a:solidFill>
                <a:srgbClr val="3368FF"/>
              </a:solidFill>
              <a:prstDash val="lgDash"/>
              <a:tailEnd type="triangle"/>
            </a:ln>
          </p:spPr>
          <p:style>
            <a:lnRef idx="1">
              <a:srgbClr val="0042FF"/>
            </a:lnRef>
            <a:fillRef idx="0">
              <a:srgbClr val="0042FF"/>
            </a:fillRef>
            <a:effectRef idx="0">
              <a:srgbClr val="0042FF"/>
            </a:effectRef>
            <a:fontRef idx="minor">
              <a:srgbClr val="383838"/>
            </a:fontRef>
          </p:style>
        </p:cxnSp>
      </p:grpSp>
      <p:grpSp>
        <p:nvGrpSpPr>
          <p:cNvPr id="137" name="组合 136"/>
          <p:cNvGrpSpPr/>
          <p:nvPr/>
        </p:nvGrpSpPr>
        <p:grpSpPr>
          <a:xfrm>
            <a:off x="6644565" y="5793448"/>
            <a:ext cx="891401" cy="80010"/>
            <a:chOff x="4799255" y="2346441"/>
            <a:chExt cx="891401" cy="80237"/>
          </a:xfrm>
        </p:grpSpPr>
        <p:sp>
          <p:nvSpPr>
            <p:cNvPr id="142" name="Gray1"/>
            <p:cNvSpPr>
              <a:spLocks noChangeAspect="1"/>
            </p:cNvSpPr>
            <p:nvPr/>
          </p:nvSpPr>
          <p:spPr bwMode="auto">
            <a:xfrm>
              <a:off x="4799255" y="2346441"/>
              <a:ext cx="80237" cy="80237"/>
            </a:xfrm>
            <a:prstGeom prst="ellipse">
              <a:avLst/>
            </a:prstGeom>
            <a:solidFill>
              <a:srgbClr val="0042FF"/>
            </a:solidFill>
            <a:ln w="1270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endParaRPr lang="en-US" sz="1600" b="1" dirty="0">
                <a:solidFill>
                  <a:srgbClr val="FFFFFF"/>
                </a:solidFill>
                <a:latin typeface="微软雅黑"/>
                <a:ea typeface="微软雅黑"/>
                <a:cs typeface="微软雅黑"/>
              </a:endParaRPr>
            </a:p>
          </p:txBody>
        </p:sp>
        <p:cxnSp>
          <p:nvCxnSpPr>
            <p:cNvPr id="144" name="直线箭头连接符 124"/>
            <p:cNvCxnSpPr/>
            <p:nvPr/>
          </p:nvCxnSpPr>
          <p:spPr>
            <a:xfrm>
              <a:off x="4878491" y="2386559"/>
              <a:ext cx="812165" cy="0"/>
            </a:xfrm>
            <a:prstGeom prst="straightConnector1">
              <a:avLst/>
            </a:prstGeom>
            <a:ln>
              <a:solidFill>
                <a:srgbClr val="0042FF"/>
              </a:solidFill>
              <a:prstDash val="lgDash"/>
              <a:tailEnd type="triangle"/>
            </a:ln>
          </p:spPr>
          <p:style>
            <a:lnRef idx="1">
              <a:srgbClr val="0042FF"/>
            </a:lnRef>
            <a:fillRef idx="0">
              <a:srgbClr val="0042FF"/>
            </a:fillRef>
            <a:effectRef idx="0">
              <a:srgbClr val="0042FF"/>
            </a:effectRef>
            <a:fontRef idx="minor">
              <a:srgbClr val="383838"/>
            </a:fontRef>
          </p:style>
        </p:cxnSp>
      </p:grpSp>
      <p:cxnSp>
        <p:nvCxnSpPr>
          <p:cNvPr id="145" name="直接连接符 144"/>
          <p:cNvCxnSpPr/>
          <p:nvPr/>
        </p:nvCxnSpPr>
        <p:spPr>
          <a:xfrm>
            <a:off x="7529195" y="3413760"/>
            <a:ext cx="4126865" cy="0"/>
          </a:xfrm>
          <a:prstGeom prst="line">
            <a:avLst/>
          </a:prstGeom>
          <a:ln w="28575">
            <a:solidFill>
              <a:srgbClr val="0042FF"/>
            </a:solidFill>
          </a:ln>
        </p:spPr>
        <p:style>
          <a:lnRef idx="2">
            <a:srgbClr val="0042FF"/>
          </a:lnRef>
          <a:fillRef idx="0">
            <a:srgbClr val="FFFFFF"/>
          </a:fillRef>
          <a:effectRef idx="0">
            <a:srgbClr val="FFFFFF"/>
          </a:effectRef>
          <a:fontRef idx="minor">
            <a:srgbClr val="383838"/>
          </a:fontRef>
        </p:style>
      </p:cxnSp>
      <p:cxnSp>
        <p:nvCxnSpPr>
          <p:cNvPr id="146" name="直接连接符 145"/>
          <p:cNvCxnSpPr/>
          <p:nvPr/>
        </p:nvCxnSpPr>
        <p:spPr>
          <a:xfrm>
            <a:off x="7529195" y="5135880"/>
            <a:ext cx="4126865" cy="0"/>
          </a:xfrm>
          <a:prstGeom prst="line">
            <a:avLst/>
          </a:prstGeom>
          <a:ln w="28575">
            <a:solidFill>
              <a:srgbClr val="0042FF"/>
            </a:solidFill>
          </a:ln>
        </p:spPr>
        <p:style>
          <a:lnRef idx="2">
            <a:srgbClr val="0042FF"/>
          </a:lnRef>
          <a:fillRef idx="0">
            <a:srgbClr val="FFFFFF"/>
          </a:fillRef>
          <a:effectRef idx="0">
            <a:srgbClr val="FFFFFF"/>
          </a:effectRef>
          <a:fontRef idx="minor">
            <a:srgbClr val="383838"/>
          </a:fontRef>
        </p:style>
      </p:cxnSp>
      <p:cxnSp>
        <p:nvCxnSpPr>
          <p:cNvPr id="147" name="直接连接符 146"/>
          <p:cNvCxnSpPr/>
          <p:nvPr/>
        </p:nvCxnSpPr>
        <p:spPr>
          <a:xfrm>
            <a:off x="7589520" y="6438900"/>
            <a:ext cx="4126865" cy="0"/>
          </a:xfrm>
          <a:prstGeom prst="line">
            <a:avLst/>
          </a:prstGeom>
          <a:ln w="28575">
            <a:solidFill>
              <a:srgbClr val="0042FF"/>
            </a:solidFill>
          </a:ln>
        </p:spPr>
        <p:style>
          <a:lnRef idx="2">
            <a:srgbClr val="0042FF"/>
          </a:lnRef>
          <a:fillRef idx="0">
            <a:srgbClr val="FFFFFF"/>
          </a:fillRef>
          <a:effectRef idx="0">
            <a:srgbClr val="FFFFFF"/>
          </a:effectRef>
          <a:fontRef idx="minor">
            <a:srgbClr val="383838"/>
          </a:fontRef>
        </p:style>
      </p:cxnSp>
      <p:pic>
        <p:nvPicPr>
          <p:cNvPr id="148" name="图形 102" descr="条形图 纯色填充"/>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65390" y="3886835"/>
            <a:ext cx="455295" cy="494665"/>
          </a:xfrm>
          <a:prstGeom prst="rect">
            <a:avLst/>
          </a:prstGeom>
        </p:spPr>
      </p:pic>
      <p:sp>
        <p:nvSpPr>
          <p:cNvPr id="149" name="Gray1"/>
          <p:cNvSpPr>
            <a:spLocks noChangeAspect="1"/>
          </p:cNvSpPr>
          <p:nvPr>
            <p:custDataLst>
              <p:tags r:id="rId8"/>
            </p:custDataLst>
          </p:nvPr>
        </p:nvSpPr>
        <p:spPr bwMode="auto">
          <a:xfrm>
            <a:off x="7883719" y="4216784"/>
            <a:ext cx="311150" cy="311150"/>
          </a:xfrm>
          <a:prstGeom prst="ellipse">
            <a:avLst/>
          </a:prstGeom>
          <a:solidFill>
            <a:srgbClr val="3368FF"/>
          </a:solidFill>
          <a:ln w="1905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r>
              <a:rPr lang="en-US" sz="1600" b="1" dirty="0">
                <a:solidFill>
                  <a:srgbClr val="FFFFFF"/>
                </a:solidFill>
                <a:latin typeface="微软雅黑"/>
                <a:ea typeface="微软雅黑"/>
                <a:cs typeface="微软雅黑"/>
              </a:rPr>
              <a:t>3</a:t>
            </a:r>
            <a:endParaRPr lang="en-US" sz="1600" b="1" dirty="0">
              <a:solidFill>
                <a:srgbClr val="FFFFFF"/>
              </a:solidFill>
              <a:latin typeface="微软雅黑"/>
              <a:ea typeface="微软雅黑"/>
              <a:cs typeface="微软雅黑"/>
            </a:endParaRPr>
          </a:p>
        </p:txBody>
      </p:sp>
      <p:sp>
        <p:nvSpPr>
          <p:cNvPr id="150" name="Gray1"/>
          <p:cNvSpPr>
            <a:spLocks noChangeAspect="1"/>
          </p:cNvSpPr>
          <p:nvPr>
            <p:custDataLst>
              <p:tags r:id="rId9"/>
            </p:custDataLst>
          </p:nvPr>
        </p:nvSpPr>
        <p:spPr bwMode="auto">
          <a:xfrm>
            <a:off x="7883719" y="5833494"/>
            <a:ext cx="311150" cy="311150"/>
          </a:xfrm>
          <a:prstGeom prst="ellipse">
            <a:avLst/>
          </a:prstGeom>
          <a:solidFill>
            <a:srgbClr val="0042FF"/>
          </a:solidFill>
          <a:ln w="1905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r>
              <a:rPr lang="en-US" sz="1600" b="1" dirty="0">
                <a:solidFill>
                  <a:srgbClr val="FFFFFF"/>
                </a:solidFill>
                <a:latin typeface="微软雅黑"/>
                <a:ea typeface="微软雅黑"/>
                <a:cs typeface="微软雅黑"/>
              </a:rPr>
              <a:t>4</a:t>
            </a:r>
            <a:endParaRPr lang="en-US" sz="1600" b="1" dirty="0">
              <a:solidFill>
                <a:srgbClr val="FFFFFF"/>
              </a:solidFill>
              <a:latin typeface="微软雅黑"/>
              <a:ea typeface="微软雅黑"/>
              <a:cs typeface="微软雅黑"/>
            </a:endParaRPr>
          </a:p>
        </p:txBody>
      </p:sp>
      <p:sp>
        <p:nvSpPr>
          <p:cNvPr id="151" name="文本框 38"/>
          <p:cNvSpPr txBox="1"/>
          <p:nvPr/>
        </p:nvSpPr>
        <p:spPr>
          <a:xfrm>
            <a:off x="8392795" y="1631315"/>
            <a:ext cx="3162300" cy="510540"/>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just">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业层级目标实现</a:t>
            </a:r>
            <a:r>
              <a:rPr lang="en-US" altLang="zh-CN" sz="1050" dirty="0">
                <a:solidFill>
                  <a:srgbClr val="383838"/>
                </a:solidFill>
                <a:latin typeface="微软雅黑"/>
                <a:ea typeface="微软雅黑"/>
                <a:cs typeface="微软雅黑"/>
              </a:rPr>
              <a:t>(</a:t>
            </a:r>
            <a:r>
              <a:rPr lang="zh-CN" altLang="en-US" sz="1050" dirty="0">
                <a:solidFill>
                  <a:srgbClr val="383838"/>
                </a:solidFill>
                <a:latin typeface="微软雅黑"/>
                <a:ea typeface="微软雅黑"/>
                <a:cs typeface="微软雅黑"/>
              </a:rPr>
              <a:t>如运营碳中和、循环经济、价值链碳中和等</a:t>
            </a:r>
            <a:r>
              <a:rPr lang="en-US" altLang="zh-CN" sz="1050" dirty="0">
                <a:solidFill>
                  <a:srgbClr val="383838"/>
                </a:solidFill>
                <a:latin typeface="微软雅黑"/>
                <a:ea typeface="微软雅黑"/>
                <a:cs typeface="微软雅黑"/>
              </a:rPr>
              <a:t>)</a:t>
            </a:r>
            <a:r>
              <a:rPr lang="zh-CN" altLang="en-US" sz="1050" dirty="0">
                <a:solidFill>
                  <a:srgbClr val="383838"/>
                </a:solidFill>
                <a:latin typeface="微软雅黑"/>
                <a:ea typeface="微软雅黑"/>
                <a:cs typeface="微软雅黑"/>
              </a:rPr>
              <a:t>。</a:t>
            </a:r>
            <a:endParaRPr lang="zh-CN" altLang="en-US" sz="1050" dirty="0">
              <a:solidFill>
                <a:srgbClr val="383838"/>
              </a:solidFill>
              <a:latin typeface="微软雅黑"/>
              <a:ea typeface="微软雅黑"/>
              <a:cs typeface="微软雅黑"/>
            </a:endParaRPr>
          </a:p>
        </p:txBody>
      </p:sp>
      <p:sp>
        <p:nvSpPr>
          <p:cNvPr id="154" name="文本框 39"/>
          <p:cNvSpPr txBox="1"/>
          <p:nvPr/>
        </p:nvSpPr>
        <p:spPr>
          <a:xfrm>
            <a:off x="8239760" y="1367155"/>
            <a:ext cx="3315970" cy="330835"/>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171450" indent="-171450" algn="l">
              <a:lnSpc>
                <a:spcPct val="130000"/>
              </a:lnSpc>
              <a:buFont typeface="微软雅黑"/>
              <a:buChar char="➢"/>
              <a:defRPr>
                <a:latin typeface="微软雅黑"/>
                <a:ea typeface="微软雅黑"/>
                <a:cs typeface="微软雅黑"/>
              </a:defRPr>
            </a:pPr>
            <a:r>
              <a:rPr lang="zh-CN" altLang="en-US" sz="1200" b="1" dirty="0">
                <a:solidFill>
                  <a:srgbClr val="0042FF"/>
                </a:solidFill>
                <a:latin typeface="微软雅黑"/>
                <a:ea typeface="微软雅黑"/>
                <a:cs typeface="微软雅黑"/>
              </a:rPr>
              <a:t>可持续目标设定：</a:t>
            </a:r>
            <a:r>
              <a:rPr lang="zh-CN" altLang="en-US" sz="1050" dirty="0">
                <a:solidFill>
                  <a:srgbClr val="383838"/>
                </a:solidFill>
                <a:latin typeface="微软雅黑"/>
                <a:ea typeface="微软雅黑"/>
                <a:cs typeface="微软雅黑"/>
                <a:sym typeface="微软雅黑"/>
              </a:rPr>
              <a:t>设置可持续发展目标以引领企</a:t>
            </a:r>
            <a:endParaRPr lang="zh-CN" altLang="en-US" sz="1050" b="1" dirty="0">
              <a:solidFill>
                <a:srgbClr val="0042FF"/>
              </a:solidFill>
              <a:latin typeface="微软雅黑"/>
              <a:ea typeface="微软雅黑"/>
              <a:cs typeface="微软雅黑"/>
            </a:endParaRPr>
          </a:p>
        </p:txBody>
      </p:sp>
      <p:cxnSp>
        <p:nvCxnSpPr>
          <p:cNvPr id="155" name="直接连接符 154"/>
          <p:cNvCxnSpPr/>
          <p:nvPr/>
        </p:nvCxnSpPr>
        <p:spPr>
          <a:xfrm flipV="1">
            <a:off x="868680" y="5171440"/>
            <a:ext cx="236855" cy="1047115"/>
          </a:xfrm>
          <a:prstGeom prst="line">
            <a:avLst/>
          </a:prstGeom>
          <a:ln>
            <a:solidFill>
              <a:srgbClr val="383838"/>
            </a:solidFill>
            <a:headEnd type="stealth" w="lg" len="lg"/>
            <a:tailEnd type="stealth" w="lg" len="lg"/>
          </a:ln>
        </p:spPr>
        <p:style>
          <a:lnRef idx="2">
            <a:srgbClr val="0042FF"/>
          </a:lnRef>
          <a:fillRef idx="0">
            <a:srgbClr val="FFFFFF"/>
          </a:fillRef>
          <a:effectRef idx="0">
            <a:srgbClr val="FFFFFF"/>
          </a:effectRef>
          <a:fontRef idx="minor">
            <a:srgbClr val="383838"/>
          </a:fontRef>
        </p:style>
      </p:cxnSp>
      <p:cxnSp>
        <p:nvCxnSpPr>
          <p:cNvPr id="156" name="直接连接符 1186"/>
          <p:cNvCxnSpPr/>
          <p:nvPr/>
        </p:nvCxnSpPr>
        <p:spPr>
          <a:xfrm>
            <a:off x="526847" y="5164682"/>
            <a:ext cx="914400" cy="6985"/>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cxnSp>
        <p:nvCxnSpPr>
          <p:cNvPr id="157" name="直接连接符 1186"/>
          <p:cNvCxnSpPr/>
          <p:nvPr/>
        </p:nvCxnSpPr>
        <p:spPr>
          <a:xfrm>
            <a:off x="894512" y="3476217"/>
            <a:ext cx="981075" cy="5080"/>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cxnSp>
        <p:nvCxnSpPr>
          <p:cNvPr id="158" name="直接连接符 1186"/>
          <p:cNvCxnSpPr/>
          <p:nvPr/>
        </p:nvCxnSpPr>
        <p:spPr>
          <a:xfrm>
            <a:off x="1216457" y="2135097"/>
            <a:ext cx="981075" cy="5080"/>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cxnSp>
        <p:nvCxnSpPr>
          <p:cNvPr id="159" name="直接连接符 158"/>
          <p:cNvCxnSpPr/>
          <p:nvPr/>
        </p:nvCxnSpPr>
        <p:spPr>
          <a:xfrm flipV="1">
            <a:off x="1125855" y="3512185"/>
            <a:ext cx="349250" cy="1545590"/>
          </a:xfrm>
          <a:prstGeom prst="line">
            <a:avLst/>
          </a:prstGeom>
          <a:ln>
            <a:solidFill>
              <a:srgbClr val="383838"/>
            </a:solidFill>
            <a:headEnd type="stealth" w="lg" len="lg"/>
            <a:tailEnd type="stealth" w="lg" len="lg"/>
          </a:ln>
        </p:spPr>
        <p:style>
          <a:lnRef idx="2">
            <a:srgbClr val="0042FF"/>
          </a:lnRef>
          <a:fillRef idx="0">
            <a:srgbClr val="FFFFFF"/>
          </a:fillRef>
          <a:effectRef idx="0">
            <a:srgbClr val="FFFFFF"/>
          </a:effectRef>
          <a:fontRef idx="minor">
            <a:srgbClr val="383838"/>
          </a:fontRef>
        </p:style>
      </p:cxnSp>
      <p:cxnSp>
        <p:nvCxnSpPr>
          <p:cNvPr id="160" name="直接连接符 159"/>
          <p:cNvCxnSpPr/>
          <p:nvPr/>
        </p:nvCxnSpPr>
        <p:spPr>
          <a:xfrm flipV="1">
            <a:off x="1475105" y="2218690"/>
            <a:ext cx="273685" cy="1214120"/>
          </a:xfrm>
          <a:prstGeom prst="line">
            <a:avLst/>
          </a:prstGeom>
          <a:ln>
            <a:solidFill>
              <a:srgbClr val="383838"/>
            </a:solidFill>
            <a:headEnd type="stealth" w="lg" len="lg"/>
            <a:tailEnd type="stealth" w="lg" len="lg"/>
          </a:ln>
        </p:spPr>
        <p:style>
          <a:lnRef idx="2">
            <a:srgbClr val="0042FF"/>
          </a:lnRef>
          <a:fillRef idx="0">
            <a:srgbClr val="FFFFFF"/>
          </a:fillRef>
          <a:effectRef idx="0">
            <a:srgbClr val="FFFFFF"/>
          </a:effectRef>
          <a:fontRef idx="minor">
            <a:srgbClr val="383838"/>
          </a:fontRef>
        </p:style>
      </p:cxnSp>
      <p:sp>
        <p:nvSpPr>
          <p:cNvPr id="161" name="文本框 160"/>
          <p:cNvSpPr txBox="1"/>
          <p:nvPr/>
        </p:nvSpPr>
        <p:spPr>
          <a:xfrm rot="720000">
            <a:off x="549910" y="5235575"/>
            <a:ext cx="408940" cy="876300"/>
          </a:xfrm>
          <a:prstGeom prst="rect">
            <a:avLst/>
          </a:prstGeom>
          <a:noFill/>
          <a:ln>
            <a:noFill/>
          </a:ln>
        </p:spPr>
        <p:txBody>
          <a:bodyPr vert="eaVert" wrap="square" rtlCol="0">
            <a:noAutofit/>
          </a:body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体系赋能</a:t>
            </a:r>
            <a:endParaRPr lang="zh-CN" altLang="en-US" sz="1400" dirty="0">
              <a:solidFill>
                <a:srgbClr val="383838"/>
              </a:solidFill>
              <a:latin typeface="微软雅黑"/>
              <a:ea typeface="微软雅黑"/>
              <a:cs typeface="微软雅黑"/>
              <a:sym typeface="微软雅黑"/>
            </a:endParaRPr>
          </a:p>
        </p:txBody>
      </p:sp>
      <p:sp>
        <p:nvSpPr>
          <p:cNvPr id="162" name="文本框 161"/>
          <p:cNvSpPr txBox="1"/>
          <p:nvPr/>
        </p:nvSpPr>
        <p:spPr>
          <a:xfrm rot="720000">
            <a:off x="878840" y="3832860"/>
            <a:ext cx="408940" cy="876300"/>
          </a:xfrm>
          <a:prstGeom prst="rect">
            <a:avLst/>
          </a:prstGeom>
          <a:noFill/>
          <a:ln>
            <a:noFill/>
          </a:ln>
        </p:spPr>
        <p:txBody>
          <a:bodyPr vert="eaVert" wrap="square" rtlCol="0">
            <a:noAutofit/>
          </a:body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运营策略</a:t>
            </a:r>
            <a:endParaRPr lang="zh-CN" altLang="en-US" sz="1400" dirty="0">
              <a:solidFill>
                <a:srgbClr val="383838"/>
              </a:solidFill>
              <a:latin typeface="微软雅黑"/>
              <a:ea typeface="微软雅黑"/>
              <a:cs typeface="微软雅黑"/>
              <a:sym typeface="微软雅黑"/>
            </a:endParaRPr>
          </a:p>
        </p:txBody>
      </p:sp>
      <p:sp>
        <p:nvSpPr>
          <p:cNvPr id="163" name="文本框 162"/>
          <p:cNvSpPr txBox="1"/>
          <p:nvPr/>
        </p:nvSpPr>
        <p:spPr>
          <a:xfrm rot="720000">
            <a:off x="1191895" y="2346960"/>
            <a:ext cx="408940" cy="876300"/>
          </a:xfrm>
          <a:prstGeom prst="rect">
            <a:avLst/>
          </a:prstGeom>
          <a:noFill/>
          <a:ln>
            <a:noFill/>
          </a:ln>
        </p:spPr>
        <p:txBody>
          <a:bodyPr vert="eaVert" wrap="square" rtlCol="0">
            <a:noAutofit/>
          </a:body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路径规划</a:t>
            </a:r>
            <a:endParaRPr lang="zh-CN" altLang="en-US" sz="1400" dirty="0">
              <a:solidFill>
                <a:srgbClr val="383838"/>
              </a:solidFill>
              <a:latin typeface="微软雅黑"/>
              <a:ea typeface="微软雅黑"/>
              <a:cs typeface="微软雅黑"/>
              <a:sym typeface="微软雅黑"/>
            </a:endParaRPr>
          </a:p>
        </p:txBody>
      </p:sp>
      <p:cxnSp>
        <p:nvCxnSpPr>
          <p:cNvPr id="164" name="直接连接符 1186"/>
          <p:cNvCxnSpPr/>
          <p:nvPr/>
        </p:nvCxnSpPr>
        <p:spPr>
          <a:xfrm>
            <a:off x="1428547" y="1216887"/>
            <a:ext cx="2473325" cy="13335"/>
          </a:xfrm>
          <a:prstGeom prst="line">
            <a:avLst/>
          </a:prstGeom>
          <a:ln>
            <a:solidFill>
              <a:srgbClr val="383838"/>
            </a:solidFill>
            <a:prstDash val="lgDash"/>
            <a:tailEnd type="none"/>
          </a:ln>
        </p:spPr>
        <p:style>
          <a:lnRef idx="1">
            <a:srgbClr val="0042FF"/>
          </a:lnRef>
          <a:fillRef idx="0">
            <a:srgbClr val="0042FF"/>
          </a:fillRef>
          <a:effectRef idx="0">
            <a:srgbClr val="0042FF"/>
          </a:effectRef>
          <a:fontRef idx="minor">
            <a:srgbClr val="383838"/>
          </a:fontRef>
        </p:style>
      </p:cxnSp>
      <p:cxnSp>
        <p:nvCxnSpPr>
          <p:cNvPr id="165" name="直接连接符 164"/>
          <p:cNvCxnSpPr/>
          <p:nvPr/>
        </p:nvCxnSpPr>
        <p:spPr>
          <a:xfrm flipV="1">
            <a:off x="1758315" y="1282700"/>
            <a:ext cx="191135" cy="845820"/>
          </a:xfrm>
          <a:prstGeom prst="line">
            <a:avLst/>
          </a:prstGeom>
          <a:ln>
            <a:solidFill>
              <a:srgbClr val="383838"/>
            </a:solidFill>
            <a:headEnd type="stealth" w="lg" len="lg"/>
            <a:tailEnd type="stealth" w="lg" len="lg"/>
          </a:ln>
        </p:spPr>
        <p:style>
          <a:lnRef idx="2">
            <a:srgbClr val="0042FF"/>
          </a:lnRef>
          <a:fillRef idx="0">
            <a:srgbClr val="FFFFFF"/>
          </a:fillRef>
          <a:effectRef idx="0">
            <a:srgbClr val="FFFFFF"/>
          </a:effectRef>
          <a:fontRef idx="minor">
            <a:srgbClr val="383838"/>
          </a:fontRef>
        </p:style>
      </p:cxnSp>
      <p:sp>
        <p:nvSpPr>
          <p:cNvPr id="166" name="文本框 165"/>
          <p:cNvSpPr txBox="1"/>
          <p:nvPr/>
        </p:nvSpPr>
        <p:spPr>
          <a:xfrm rot="720000">
            <a:off x="1454785" y="1263015"/>
            <a:ext cx="408940" cy="876300"/>
          </a:xfrm>
          <a:prstGeom prst="rect">
            <a:avLst/>
          </a:prstGeom>
          <a:noFill/>
          <a:ln>
            <a:noFill/>
          </a:ln>
        </p:spPr>
        <p:txBody>
          <a:bodyPr vert="eaVert" wrap="square" rtlCol="0">
            <a:noAutofit/>
          </a:body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目标制定</a:t>
            </a:r>
            <a:endParaRPr lang="zh-CN" altLang="en-US" sz="1400" dirty="0">
              <a:solidFill>
                <a:srgbClr val="383838"/>
              </a:solidFill>
              <a:latin typeface="微软雅黑"/>
              <a:ea typeface="微软雅黑"/>
              <a:cs typeface="微软雅黑"/>
              <a:sym typeface="微软雅黑"/>
            </a:endParaRPr>
          </a:p>
        </p:txBody>
      </p:sp>
      <p:pic>
        <p:nvPicPr>
          <p:cNvPr id="167" name="图形 106" descr="区块链 纯色填充"/>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589520" y="2471420"/>
            <a:ext cx="557530" cy="557530"/>
          </a:xfrm>
          <a:prstGeom prst="rect">
            <a:avLst/>
          </a:prstGeom>
          <a:solidFill>
            <a:srgbClr val="0042FF"/>
          </a:solidFill>
        </p:spPr>
      </p:pic>
      <p:pic>
        <p:nvPicPr>
          <p:cNvPr id="168" name="图形 100" descr="男性宇航员 纯色填充"/>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589520" y="5582832"/>
            <a:ext cx="431012" cy="431012"/>
          </a:xfrm>
          <a:prstGeom prst="rect">
            <a:avLst/>
          </a:prstGeom>
        </p:spPr>
      </p:pic>
      <p:sp>
        <p:nvSpPr>
          <p:cNvPr id="170" name="文本框 39"/>
          <p:cNvSpPr txBox="1"/>
          <p:nvPr/>
        </p:nvSpPr>
        <p:spPr>
          <a:xfrm>
            <a:off x="8239760" y="2456180"/>
            <a:ext cx="3415665" cy="330835"/>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171450" indent="-171450" algn="l">
              <a:lnSpc>
                <a:spcPct val="130000"/>
              </a:lnSpc>
              <a:buFont typeface="微软雅黑"/>
              <a:buChar char="➢"/>
              <a:defRPr>
                <a:latin typeface="微软雅黑"/>
                <a:ea typeface="微软雅黑"/>
                <a:cs typeface="微软雅黑"/>
              </a:defRPr>
            </a:pPr>
            <a:r>
              <a:rPr lang="zh-CN" altLang="en-US" sz="1200" b="1" dirty="0">
                <a:solidFill>
                  <a:srgbClr val="0042FF"/>
                </a:solidFill>
                <a:latin typeface="微软雅黑"/>
                <a:ea typeface="微软雅黑"/>
                <a:cs typeface="微软雅黑"/>
              </a:rPr>
              <a:t>可持续转型路径图：</a:t>
            </a:r>
            <a:r>
              <a:rPr lang="zh-CN" altLang="en-US" sz="1050" dirty="0">
                <a:solidFill>
                  <a:srgbClr val="383838"/>
                </a:solidFill>
                <a:latin typeface="微软雅黑"/>
                <a:ea typeface="微软雅黑"/>
                <a:cs typeface="微软雅黑"/>
                <a:sym typeface="微软雅黑"/>
              </a:rPr>
              <a:t>碳足迹全生命周期统计、减</a:t>
            </a:r>
            <a:endParaRPr lang="zh-CN" altLang="en-US" sz="1050" b="1" dirty="0">
              <a:solidFill>
                <a:srgbClr val="383838"/>
              </a:solidFill>
              <a:latin typeface="微软雅黑"/>
              <a:ea typeface="微软雅黑"/>
              <a:cs typeface="微软雅黑"/>
              <a:sym typeface="微软雅黑"/>
            </a:endParaRPr>
          </a:p>
        </p:txBody>
      </p:sp>
      <p:sp>
        <p:nvSpPr>
          <p:cNvPr id="171" name="Gray1"/>
          <p:cNvSpPr>
            <a:spLocks noChangeAspect="1"/>
          </p:cNvSpPr>
          <p:nvPr>
            <p:custDataLst>
              <p:tags r:id="rId14"/>
            </p:custDataLst>
          </p:nvPr>
        </p:nvSpPr>
        <p:spPr bwMode="auto">
          <a:xfrm>
            <a:off x="7883719" y="2832484"/>
            <a:ext cx="311150" cy="311150"/>
          </a:xfrm>
          <a:prstGeom prst="ellipse">
            <a:avLst/>
          </a:prstGeom>
          <a:solidFill>
            <a:srgbClr val="0042FF"/>
          </a:solidFill>
          <a:ln w="1905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anchor="ctr"/>
          <a:lstStyle/>
          <a:p>
            <a:pPr algn="ctr" eaLnBrk="0" hangingPunct="0">
              <a:defRPr>
                <a:solidFill>
                  <a:srgbClr val="FFFFFF"/>
                </a:solidFill>
                <a:latin typeface="微软雅黑"/>
                <a:ea typeface="微软雅黑"/>
                <a:cs typeface="微软雅黑"/>
              </a:defRPr>
            </a:pPr>
            <a:r>
              <a:rPr lang="en-US" sz="1600" b="1" dirty="0">
                <a:solidFill>
                  <a:srgbClr val="FFFFFF"/>
                </a:solidFill>
                <a:latin typeface="微软雅黑"/>
                <a:ea typeface="微软雅黑"/>
                <a:cs typeface="微软雅黑"/>
              </a:rPr>
              <a:t>2</a:t>
            </a:r>
            <a:endParaRPr lang="en-US" sz="1600" b="1" dirty="0">
              <a:solidFill>
                <a:srgbClr val="FFFFFF"/>
              </a:solidFill>
              <a:latin typeface="微软雅黑"/>
              <a:ea typeface="微软雅黑"/>
              <a:cs typeface="微软雅黑"/>
            </a:endParaRPr>
          </a:p>
        </p:txBody>
      </p:sp>
      <p:sp>
        <p:nvSpPr>
          <p:cNvPr id="173" name="文本框 39"/>
          <p:cNvSpPr txBox="1"/>
          <p:nvPr/>
        </p:nvSpPr>
        <p:spPr>
          <a:xfrm>
            <a:off x="8239760" y="3543300"/>
            <a:ext cx="3337560" cy="540385"/>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171450" indent="-171450" algn="l">
              <a:lnSpc>
                <a:spcPct val="130000"/>
              </a:lnSpc>
              <a:buFont typeface="微软雅黑"/>
              <a:buChar char="➢"/>
              <a:defRPr>
                <a:latin typeface="微软雅黑"/>
                <a:ea typeface="微软雅黑"/>
                <a:cs typeface="微软雅黑"/>
              </a:defRPr>
            </a:pPr>
            <a:r>
              <a:rPr lang="zh-CN" altLang="en-US" sz="1200" b="1" dirty="0">
                <a:solidFill>
                  <a:srgbClr val="0042FF"/>
                </a:solidFill>
                <a:latin typeface="微软雅黑"/>
                <a:ea typeface="微软雅黑"/>
                <a:cs typeface="微软雅黑"/>
              </a:rPr>
              <a:t>运营可持续管理：</a:t>
            </a:r>
            <a:r>
              <a:rPr lang="zh-CN" altLang="en-US" sz="1050" dirty="0">
                <a:solidFill>
                  <a:srgbClr val="383838"/>
                </a:solidFill>
                <a:latin typeface="微软雅黑"/>
                <a:ea typeface="微软雅黑"/>
                <a:cs typeface="微软雅黑"/>
                <a:sym typeface="微软雅黑"/>
              </a:rPr>
              <a:t>提升企业运营管理水平，构建</a:t>
            </a:r>
            <a:endParaRPr lang="zh-CN" altLang="en-US" sz="1050" b="1" dirty="0">
              <a:solidFill>
                <a:srgbClr val="0042FF"/>
              </a:solidFill>
              <a:latin typeface="微软雅黑"/>
              <a:ea typeface="微软雅黑"/>
              <a:cs typeface="微软雅黑"/>
            </a:endParaRPr>
          </a:p>
          <a:p>
            <a:pPr marL="171450" indent="-171450" algn="l">
              <a:lnSpc>
                <a:spcPct val="130000"/>
              </a:lnSpc>
              <a:buFont typeface="微软雅黑"/>
              <a:buChar char="Ø"/>
              <a:defRPr>
                <a:latin typeface="微软雅黑"/>
                <a:ea typeface="微软雅黑"/>
                <a:cs typeface="微软雅黑"/>
              </a:defRPr>
            </a:pPr>
            <a:endParaRPr lang="zh-CN" altLang="en-US" sz="1050" b="1" dirty="0">
              <a:solidFill>
                <a:srgbClr val="0042FF"/>
              </a:solidFill>
              <a:latin typeface="微软雅黑"/>
              <a:ea typeface="微软雅黑"/>
              <a:cs typeface="微软雅黑"/>
            </a:endParaRPr>
          </a:p>
        </p:txBody>
      </p:sp>
      <p:sp>
        <p:nvSpPr>
          <p:cNvPr id="175" name="文本框 39"/>
          <p:cNvSpPr txBox="1"/>
          <p:nvPr/>
        </p:nvSpPr>
        <p:spPr>
          <a:xfrm>
            <a:off x="8239760" y="4307840"/>
            <a:ext cx="3346450" cy="434340"/>
          </a:xfrm>
          <a:prstGeom prst="rect">
            <a:avLst/>
          </a:prstGeom>
          <a:noFill/>
        </p:spPr>
        <p:txBody>
          <a:bodyPr wrap="square" rtlCol="0"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171450" indent="-171450" algn="l">
              <a:lnSpc>
                <a:spcPct val="130000"/>
              </a:lnSpc>
              <a:buFont typeface="微软雅黑"/>
              <a:buChar char="➢"/>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价值链可持续管理</a:t>
            </a:r>
            <a:r>
              <a:rPr lang="zh-CN" altLang="en-US" sz="1200" b="1" dirty="0">
                <a:solidFill>
                  <a:srgbClr val="0042FF"/>
                </a:solidFill>
                <a:latin typeface="微软雅黑"/>
                <a:ea typeface="微软雅黑"/>
                <a:cs typeface="微软雅黑"/>
              </a:rPr>
              <a:t>：</a:t>
            </a:r>
            <a:r>
              <a:rPr lang="zh-CN" altLang="en-US" sz="1050" dirty="0">
                <a:solidFill>
                  <a:srgbClr val="383838"/>
                </a:solidFill>
                <a:latin typeface="微软雅黑"/>
                <a:ea typeface="微软雅黑"/>
                <a:cs typeface="微软雅黑"/>
                <a:sym typeface="微软雅黑"/>
              </a:rPr>
              <a:t>可持续为目标管理价值链上</a:t>
            </a:r>
            <a:endParaRPr lang="zh-CN" altLang="en-US" sz="1050" b="1" dirty="0">
              <a:solidFill>
                <a:srgbClr val="0042FF"/>
              </a:solidFill>
              <a:latin typeface="微软雅黑"/>
              <a:ea typeface="微软雅黑"/>
              <a:cs typeface="微软雅黑"/>
            </a:endParaRPr>
          </a:p>
          <a:p>
            <a:pPr marL="171450" indent="-171450" algn="l">
              <a:lnSpc>
                <a:spcPct val="130000"/>
              </a:lnSpc>
              <a:buFont typeface="微软雅黑"/>
              <a:buChar char="Ø"/>
              <a:defRPr>
                <a:latin typeface="微软雅黑"/>
                <a:ea typeface="微软雅黑"/>
                <a:cs typeface="微软雅黑"/>
              </a:defRPr>
            </a:pPr>
            <a:endParaRPr lang="zh-CN" altLang="en-US" sz="1050" b="1" dirty="0">
              <a:solidFill>
                <a:srgbClr val="0042FF"/>
              </a:solidFill>
              <a:latin typeface="微软雅黑"/>
              <a:ea typeface="微软雅黑"/>
              <a:cs typeface="微软雅黑"/>
            </a:endParaRPr>
          </a:p>
        </p:txBody>
      </p:sp>
      <p:sp>
        <p:nvSpPr>
          <p:cNvPr id="2" name="文本框 38"/>
          <p:cNvSpPr txBox="1"/>
          <p:nvPr/>
        </p:nvSpPr>
        <p:spPr>
          <a:xfrm>
            <a:off x="8415655" y="2712720"/>
            <a:ext cx="3162300" cy="510540"/>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just">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排机会识别、基于减排价值及成本考量的优先级排序，并落实到短中长期的实现路径及计划等。</a:t>
            </a:r>
            <a:endParaRPr lang="zh-CN" altLang="en-US" sz="1050" dirty="0">
              <a:solidFill>
                <a:srgbClr val="383838"/>
              </a:solidFill>
              <a:latin typeface="微软雅黑"/>
              <a:ea typeface="微软雅黑"/>
              <a:cs typeface="微软雅黑"/>
            </a:endParaRPr>
          </a:p>
        </p:txBody>
      </p:sp>
      <p:sp>
        <p:nvSpPr>
          <p:cNvPr id="4" name="文本框 38"/>
          <p:cNvSpPr txBox="1"/>
          <p:nvPr/>
        </p:nvSpPr>
        <p:spPr>
          <a:xfrm>
            <a:off x="8424545" y="3792220"/>
            <a:ext cx="3162300" cy="510540"/>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just">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以提效减排为核心的卓越运营体系，推动以“能耗、排放”为主线的跨部门协同体系。</a:t>
            </a:r>
            <a:endParaRPr lang="zh-CN" altLang="en-US" sz="1050" dirty="0">
              <a:solidFill>
                <a:srgbClr val="383838"/>
              </a:solidFill>
              <a:latin typeface="微软雅黑"/>
              <a:ea typeface="微软雅黑"/>
              <a:cs typeface="微软雅黑"/>
            </a:endParaRPr>
          </a:p>
        </p:txBody>
      </p:sp>
      <p:sp>
        <p:nvSpPr>
          <p:cNvPr id="8" name="文本框 38"/>
          <p:cNvSpPr txBox="1"/>
          <p:nvPr/>
        </p:nvSpPr>
        <p:spPr>
          <a:xfrm>
            <a:off x="8417560" y="4562475"/>
            <a:ext cx="3162300" cy="510540"/>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just">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下游，通过降低原材料碳足迹、倡导循环利用、使用可再生能源等提升价值链可持续水平。</a:t>
            </a:r>
            <a:endParaRPr lang="zh-CN" altLang="en-US" sz="1050" dirty="0">
              <a:solidFill>
                <a:srgbClr val="383838"/>
              </a:solidFill>
              <a:latin typeface="微软雅黑"/>
              <a:ea typeface="微软雅黑"/>
              <a:cs typeface="微软雅黑"/>
            </a:endParaRPr>
          </a:p>
        </p:txBody>
      </p:sp>
      <p:sp>
        <p:nvSpPr>
          <p:cNvPr id="12" name="文本框 38"/>
          <p:cNvSpPr txBox="1"/>
          <p:nvPr/>
        </p:nvSpPr>
        <p:spPr>
          <a:xfrm>
            <a:off x="8431530" y="5460365"/>
            <a:ext cx="3162300" cy="300990"/>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just">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升企业可持续管理体系的科学性与有效性。</a:t>
            </a:r>
            <a:endParaRPr lang="zh-CN" altLang="en-US" sz="1050" dirty="0">
              <a:solidFill>
                <a:srgbClr val="383838"/>
              </a:solidFill>
              <a:latin typeface="微软雅黑"/>
              <a:ea typeface="微软雅黑"/>
              <a:cs typeface="微软雅黑"/>
            </a:endParaRPr>
          </a:p>
        </p:txBody>
      </p:sp>
      <p:sp>
        <p:nvSpPr>
          <p:cNvPr id="13" name="文本框 39"/>
          <p:cNvSpPr txBox="1"/>
          <p:nvPr/>
        </p:nvSpPr>
        <p:spPr>
          <a:xfrm>
            <a:off x="8278495" y="5196205"/>
            <a:ext cx="3376930" cy="330835"/>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171450" indent="-171450" algn="l">
              <a:lnSpc>
                <a:spcPct val="130000"/>
              </a:lnSpc>
              <a:buFont typeface="微软雅黑"/>
              <a:buChar char="➢"/>
              <a:defRPr>
                <a:latin typeface="微软雅黑"/>
                <a:ea typeface="微软雅黑"/>
                <a:cs typeface="微软雅黑"/>
              </a:defRPr>
            </a:pPr>
            <a:r>
              <a:rPr lang="zh-CN" altLang="en-US" sz="1200" b="1" dirty="0">
                <a:solidFill>
                  <a:srgbClr val="0042FF"/>
                </a:solidFill>
                <a:latin typeface="微软雅黑"/>
                <a:ea typeface="微软雅黑"/>
                <a:cs typeface="微软雅黑"/>
              </a:rPr>
              <a:t>数字化可持续管理：</a:t>
            </a:r>
            <a:r>
              <a:rPr lang="zh-CN" altLang="en-US" sz="1050" dirty="0">
                <a:solidFill>
                  <a:srgbClr val="383838"/>
                </a:solidFill>
                <a:latin typeface="微软雅黑"/>
                <a:ea typeface="微软雅黑"/>
                <a:cs typeface="微软雅黑"/>
                <a:sym typeface="微软雅黑"/>
              </a:rPr>
              <a:t>借助数字化资产与工具，提</a:t>
            </a:r>
            <a:endParaRPr lang="en-US" altLang="zh-CN" sz="1050" b="1" dirty="0">
              <a:solidFill>
                <a:srgbClr val="383838"/>
              </a:solidFill>
              <a:latin typeface="微软雅黑"/>
              <a:ea typeface="微软雅黑"/>
              <a:cs typeface="微软雅黑"/>
              <a:sym typeface="微软雅黑"/>
            </a:endParaRPr>
          </a:p>
        </p:txBody>
      </p:sp>
      <p:sp>
        <p:nvSpPr>
          <p:cNvPr id="14" name="文本框 38"/>
          <p:cNvSpPr txBox="1"/>
          <p:nvPr/>
        </p:nvSpPr>
        <p:spPr>
          <a:xfrm>
            <a:off x="8443595" y="6014085"/>
            <a:ext cx="3162300" cy="300990"/>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just">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新型变革；培育可持续新兴业条管理的人才体系</a:t>
            </a:r>
            <a:r>
              <a:rPr lang="zh-CN" altLang="en-US" sz="1050" dirty="0">
                <a:solidFill>
                  <a:srgbClr val="383838"/>
                </a:solidFill>
                <a:latin typeface="微软雅黑"/>
                <a:ea typeface="微软雅黑"/>
                <a:cs typeface="微软雅黑"/>
                <a:sym typeface="微软雅黑"/>
              </a:rPr>
              <a:t>。</a:t>
            </a:r>
            <a:endParaRPr lang="zh-CN" altLang="en-US" sz="1050" dirty="0">
              <a:solidFill>
                <a:srgbClr val="383838"/>
              </a:solidFill>
              <a:latin typeface="微软雅黑"/>
              <a:ea typeface="微软雅黑"/>
              <a:cs typeface="微软雅黑"/>
            </a:endParaRPr>
          </a:p>
        </p:txBody>
      </p:sp>
      <p:sp>
        <p:nvSpPr>
          <p:cNvPr id="16" name="文本框 39"/>
          <p:cNvSpPr txBox="1"/>
          <p:nvPr/>
        </p:nvSpPr>
        <p:spPr>
          <a:xfrm>
            <a:off x="8290560" y="5749925"/>
            <a:ext cx="3364230" cy="330835"/>
          </a:xfrm>
          <a:prstGeom prst="rect">
            <a:avLst/>
          </a:prstGeom>
          <a:noFill/>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171450" indent="-171450" algn="l">
              <a:lnSpc>
                <a:spcPct val="130000"/>
              </a:lnSpc>
              <a:buFont typeface="微软雅黑"/>
              <a:buChar char="➢"/>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组织可持续转型：</a:t>
            </a:r>
            <a:r>
              <a:rPr lang="zh-CN" altLang="en-US" sz="1050" dirty="0">
                <a:solidFill>
                  <a:srgbClr val="383838"/>
                </a:solidFill>
                <a:latin typeface="微软雅黑"/>
                <a:ea typeface="微软雅黑"/>
                <a:cs typeface="微软雅黑"/>
                <a:sym typeface="微软雅黑"/>
              </a:rPr>
              <a:t>推动节能减排组织及流程的创</a:t>
            </a:r>
            <a:endParaRPr lang="zh-CN" altLang="en-US" sz="1050" b="1" dirty="0">
              <a:solidFill>
                <a:srgbClr val="0042FF"/>
              </a:solidFill>
              <a:latin typeface="微软雅黑"/>
              <a:ea typeface="微软雅黑"/>
              <a:cs typeface="微软雅黑"/>
            </a:endParaRPr>
          </a:p>
        </p:txBody>
      </p:sp>
      <p:grpSp>
        <p:nvGrpSpPr>
          <p:cNvPr id="7" name="组合 6"/>
          <p:cNvGrpSpPr/>
          <p:nvPr/>
        </p:nvGrpSpPr>
        <p:grpSpPr>
          <a:xfrm>
            <a:off x="7675245" y="347980"/>
            <a:ext cx="4588510" cy="367030"/>
            <a:chOff x="12087" y="-1089"/>
            <a:chExt cx="7226" cy="578"/>
          </a:xfrm>
        </p:grpSpPr>
        <p:pic>
          <p:nvPicPr>
            <p:cNvPr id="3" name="图片 2"/>
            <p:cNvPicPr>
              <a:picLocks noChangeAspect="1"/>
            </p:cNvPicPr>
            <p:nvPr userDrawn="1"/>
          </p:nvPicPr>
          <p:blipFill>
            <a:blip r:embed="rId15"/>
            <a:srcRect r="57320" b="-13333"/>
            <a:stretch>
              <a:fillRect/>
            </a:stretch>
          </p:blipFill>
          <p:spPr>
            <a:xfrm>
              <a:off x="12087" y="-1089"/>
              <a:ext cx="2548" cy="578"/>
            </a:xfrm>
            <a:prstGeom prst="rect">
              <a:avLst/>
            </a:prstGeom>
          </p:spPr>
        </p:pic>
        <p:sp>
          <p:nvSpPr>
            <p:cNvPr id="9" name="文本框 8"/>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lang="zh-CN" altLang="en-US" sz="2500">
                <a:solidFill>
                  <a:srgbClr val="383838"/>
                </a:solidFill>
                <a:effectLst/>
                <a:latin typeface="微软雅黑"/>
                <a:ea typeface="微软雅黑"/>
                <a:cs typeface="微软雅黑"/>
              </a:rPr>
              <a:t>基于新零售的运营战略框架</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0" name="任意多边形: 形状 39"/>
          <p:cNvSpPr/>
          <p:nvPr/>
        </p:nvSpPr>
        <p:spPr>
          <a:xfrm>
            <a:off x="-902335" y="-601980"/>
            <a:ext cx="21590" cy="43815"/>
          </a:xfrm>
          <a:custGeom>
            <a:avLst/>
            <a:gdLst>
              <a:gd name="connsiteX0" fmla="*/ 0 w 21855"/>
              <a:gd name="connsiteY0" fmla="*/ 0 h 43711"/>
              <a:gd name="connsiteX1" fmla="*/ 0 w 21855"/>
              <a:gd name="connsiteY1" fmla="*/ 43712 h 43711"/>
              <a:gd name="connsiteX2" fmla="*/ 21856 w 21855"/>
              <a:gd name="connsiteY2" fmla="*/ 21856 h 43711"/>
              <a:gd name="connsiteX3" fmla="*/ 0 w 21855"/>
              <a:gd name="connsiteY3" fmla="*/ 0 h 43711"/>
            </a:gdLst>
            <a:ahLst/>
            <a:cxnLst>
              <a:cxn ang="0">
                <a:pos x="connsiteX0" y="connsiteY0"/>
              </a:cxn>
              <a:cxn ang="0">
                <a:pos x="connsiteX1" y="connsiteY1"/>
              </a:cxn>
              <a:cxn ang="0">
                <a:pos x="connsiteX2" y="connsiteY2"/>
              </a:cxn>
              <a:cxn ang="0">
                <a:pos x="connsiteX3" y="connsiteY3"/>
              </a:cxn>
            </a:cxnLst>
            <a:rect l="l" t="t" r="r" b="b"/>
            <a:pathLst>
              <a:path w="21855" h="43711">
                <a:moveTo>
                  <a:pt x="0" y="0"/>
                </a:moveTo>
                <a:lnTo>
                  <a:pt x="0" y="43712"/>
                </a:lnTo>
                <a:cubicBezTo>
                  <a:pt x="12071" y="43712"/>
                  <a:pt x="21856" y="33927"/>
                  <a:pt x="21856" y="21856"/>
                </a:cubicBezTo>
                <a:cubicBezTo>
                  <a:pt x="21856" y="9785"/>
                  <a:pt x="12071" y="0"/>
                  <a:pt x="0" y="0"/>
                </a:cubicBezTo>
                <a:close/>
              </a:path>
            </a:pathLst>
          </a:custGeom>
          <a:gradFill>
            <a:gsLst>
              <a:gs pos="100000">
                <a:srgbClr val="FFFFFF">
                  <a:alpha val="31000"/>
                </a:srgbClr>
              </a:gs>
              <a:gs pos="0">
                <a:srgbClr val="FFFFFF"/>
              </a:gs>
            </a:gsLst>
            <a:lin ang="5400000" scaled="1"/>
          </a:gradFill>
          <a:ln w="21717"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41" name="任意多边形: 形状 40"/>
          <p:cNvSpPr/>
          <p:nvPr/>
        </p:nvSpPr>
        <p:spPr>
          <a:xfrm>
            <a:off x="-946150" y="-668020"/>
            <a:ext cx="21590" cy="43815"/>
          </a:xfrm>
          <a:custGeom>
            <a:avLst/>
            <a:gdLst>
              <a:gd name="connsiteX0" fmla="*/ 0 w 21855"/>
              <a:gd name="connsiteY0" fmla="*/ 21856 h 43711"/>
              <a:gd name="connsiteX1" fmla="*/ 21856 w 21855"/>
              <a:gd name="connsiteY1" fmla="*/ 43712 h 43711"/>
              <a:gd name="connsiteX2" fmla="*/ 21856 w 21855"/>
              <a:gd name="connsiteY2" fmla="*/ 0 h 43711"/>
              <a:gd name="connsiteX3" fmla="*/ 0 w 21855"/>
              <a:gd name="connsiteY3" fmla="*/ 21856 h 43711"/>
            </a:gdLst>
            <a:ahLst/>
            <a:cxnLst>
              <a:cxn ang="0">
                <a:pos x="connsiteX0" y="connsiteY0"/>
              </a:cxn>
              <a:cxn ang="0">
                <a:pos x="connsiteX1" y="connsiteY1"/>
              </a:cxn>
              <a:cxn ang="0">
                <a:pos x="connsiteX2" y="connsiteY2"/>
              </a:cxn>
              <a:cxn ang="0">
                <a:pos x="connsiteX3" y="connsiteY3"/>
              </a:cxn>
            </a:cxnLst>
            <a:rect l="l" t="t" r="r" b="b"/>
            <a:pathLst>
              <a:path w="21855" h="43711">
                <a:moveTo>
                  <a:pt x="0" y="21856"/>
                </a:moveTo>
                <a:cubicBezTo>
                  <a:pt x="0" y="33927"/>
                  <a:pt x="9785" y="43712"/>
                  <a:pt x="21856" y="43712"/>
                </a:cubicBezTo>
                <a:lnTo>
                  <a:pt x="21856" y="0"/>
                </a:lnTo>
                <a:cubicBezTo>
                  <a:pt x="9785" y="0"/>
                  <a:pt x="0" y="9785"/>
                  <a:pt x="0" y="21856"/>
                </a:cubicBezTo>
                <a:close/>
              </a:path>
            </a:pathLst>
          </a:custGeom>
          <a:gradFill>
            <a:gsLst>
              <a:gs pos="100000">
                <a:srgbClr val="FFFFFF">
                  <a:alpha val="31000"/>
                </a:srgbClr>
              </a:gs>
              <a:gs pos="0">
                <a:srgbClr val="FFFFFF"/>
              </a:gs>
            </a:gsLst>
            <a:lin ang="5400000" scaled="1"/>
          </a:gradFill>
          <a:ln w="21717"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16" name="矩形 15"/>
          <p:cNvSpPr/>
          <p:nvPr/>
        </p:nvSpPr>
        <p:spPr>
          <a:xfrm>
            <a:off x="1852295" y="1936115"/>
            <a:ext cx="3281045" cy="3201035"/>
          </a:xfrm>
          <a:prstGeom prst="rect">
            <a:avLst/>
          </a:prstGeom>
          <a:gradFill flip="none" rotWithShape="1">
            <a:gsLst>
              <a:gs pos="18000">
                <a:srgbClr val="E6E6E6">
                  <a:alpha val="50000"/>
                </a:srgbClr>
              </a:gs>
              <a:gs pos="100000">
                <a:srgbClr val="E6E6E6">
                  <a:alpha val="20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0" name="矩形 29"/>
          <p:cNvSpPr/>
          <p:nvPr/>
        </p:nvSpPr>
        <p:spPr>
          <a:xfrm>
            <a:off x="5266690" y="1936115"/>
            <a:ext cx="5311140" cy="3201035"/>
          </a:xfrm>
          <a:prstGeom prst="rect">
            <a:avLst/>
          </a:prstGeom>
          <a:gradFill flip="none" rotWithShape="1">
            <a:gsLst>
              <a:gs pos="18000">
                <a:srgbClr val="FFFFFF">
                  <a:alpha val="50000"/>
                </a:srgbClr>
              </a:gs>
              <a:gs pos="100000">
                <a:srgbClr val="FFFFFF">
                  <a:alpha val="20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cxnSp>
        <p:nvCxnSpPr>
          <p:cNvPr id="2" name="直接连接符 1"/>
          <p:cNvCxnSpPr/>
          <p:nvPr/>
        </p:nvCxnSpPr>
        <p:spPr>
          <a:xfrm flipV="1">
            <a:off x="1319530" y="1060450"/>
            <a:ext cx="4885690" cy="804545"/>
          </a:xfrm>
          <a:prstGeom prst="line">
            <a:avLst/>
          </a:prstGeom>
          <a:ln w="69850" cap="rnd">
            <a:gradFill>
              <a:gsLst>
                <a:gs pos="0">
                  <a:srgbClr val="3368FF"/>
                </a:gs>
                <a:gs pos="100000">
                  <a:srgbClr val="0042FF"/>
                </a:gs>
              </a:gsLst>
              <a:lin ang="5400000" scaled="1"/>
            </a:gradFill>
            <a:round/>
          </a:ln>
        </p:spPr>
        <p:style>
          <a:lnRef idx="1">
            <a:srgbClr val="0042FF"/>
          </a:lnRef>
          <a:fillRef idx="0">
            <a:srgbClr val="0042FF"/>
          </a:fillRef>
          <a:effectRef idx="0">
            <a:srgbClr val="0042FF"/>
          </a:effectRef>
          <a:fontRef idx="minor">
            <a:srgbClr val="383838"/>
          </a:fontRef>
        </p:style>
      </p:cxnSp>
      <p:cxnSp>
        <p:nvCxnSpPr>
          <p:cNvPr id="7" name="直接连接符 6"/>
          <p:cNvCxnSpPr/>
          <p:nvPr/>
        </p:nvCxnSpPr>
        <p:spPr>
          <a:xfrm flipH="1" flipV="1">
            <a:off x="6205220" y="1060450"/>
            <a:ext cx="4959350" cy="810895"/>
          </a:xfrm>
          <a:prstGeom prst="line">
            <a:avLst/>
          </a:prstGeom>
          <a:ln w="69850" cap="rnd">
            <a:gradFill>
              <a:gsLst>
                <a:gs pos="0">
                  <a:srgbClr val="3368FF"/>
                </a:gs>
                <a:gs pos="100000">
                  <a:srgbClr val="0042FF"/>
                </a:gs>
              </a:gsLst>
              <a:lin ang="5400000" scaled="1"/>
            </a:gradFill>
            <a:round/>
          </a:ln>
        </p:spPr>
        <p:style>
          <a:lnRef idx="1">
            <a:srgbClr val="0042FF"/>
          </a:lnRef>
          <a:fillRef idx="0">
            <a:srgbClr val="0042FF"/>
          </a:fillRef>
          <a:effectRef idx="0">
            <a:srgbClr val="0042FF"/>
          </a:effectRef>
          <a:fontRef idx="minor">
            <a:srgbClr val="383838"/>
          </a:fontRef>
        </p:style>
      </p:cxnSp>
      <p:sp>
        <p:nvSpPr>
          <p:cNvPr id="12" name="等腰三角形 11"/>
          <p:cNvSpPr/>
          <p:nvPr/>
        </p:nvSpPr>
        <p:spPr>
          <a:xfrm>
            <a:off x="1852930" y="1149985"/>
            <a:ext cx="8702675" cy="718820"/>
          </a:xfrm>
          <a:prstGeom prst="triangle">
            <a:avLst/>
          </a:prstGeom>
          <a:gradFill>
            <a:gsLst>
              <a:gs pos="19000">
                <a:srgbClr val="0042FF"/>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sym typeface="微软雅黑"/>
            </a:endParaRPr>
          </a:p>
        </p:txBody>
      </p:sp>
      <p:sp>
        <p:nvSpPr>
          <p:cNvPr id="15" name="文本框 14"/>
          <p:cNvSpPr txBox="1"/>
          <p:nvPr/>
        </p:nvSpPr>
        <p:spPr>
          <a:xfrm>
            <a:off x="4801870" y="1322070"/>
            <a:ext cx="2750185" cy="30670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①</a:t>
            </a:r>
            <a:r>
              <a:rPr lang="en-US" altLang="zh-CN" sz="1400" b="1" dirty="0">
                <a:solidFill>
                  <a:srgbClr val="FFFFFF"/>
                </a:solidFill>
                <a:latin typeface="微软雅黑"/>
                <a:ea typeface="微软雅黑"/>
                <a:cs typeface="微软雅黑"/>
              </a:rPr>
              <a:t> </a:t>
            </a:r>
            <a:r>
              <a:rPr lang="zh-CN" altLang="en-US" sz="1400" b="1" dirty="0">
                <a:solidFill>
                  <a:srgbClr val="FFFFFF"/>
                </a:solidFill>
                <a:latin typeface="微软雅黑"/>
                <a:ea typeface="微软雅黑"/>
                <a:cs typeface="微软雅黑"/>
              </a:rPr>
              <a:t>新零售运营核心立足点</a:t>
            </a:r>
            <a:endParaRPr lang="zh-CN" altLang="en-US" sz="1400" b="1" dirty="0">
              <a:solidFill>
                <a:srgbClr val="FFFFFF"/>
              </a:solidFill>
              <a:latin typeface="微软雅黑"/>
              <a:ea typeface="微软雅黑"/>
              <a:cs typeface="微软雅黑"/>
            </a:endParaRPr>
          </a:p>
        </p:txBody>
      </p:sp>
      <p:sp>
        <p:nvSpPr>
          <p:cNvPr id="22" name="矩形 21"/>
          <p:cNvSpPr/>
          <p:nvPr/>
        </p:nvSpPr>
        <p:spPr>
          <a:xfrm>
            <a:off x="1852930" y="1941830"/>
            <a:ext cx="3280410" cy="451485"/>
          </a:xfrm>
          <a:prstGeom prst="rect">
            <a:avLst/>
          </a:prstGeom>
          <a:gradFill flip="none" rotWithShape="1">
            <a:gsLst>
              <a:gs pos="18000">
                <a:srgbClr val="3368FF">
                  <a:alpha val="100000"/>
                </a:srgbClr>
              </a:gs>
              <a:gs pos="100000">
                <a:srgbClr val="E6E6E6"/>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en-US" altLang="zh-CN" sz="1400" dirty="0">
              <a:solidFill>
                <a:srgbClr val="FFFFFF"/>
              </a:solidFill>
              <a:latin typeface="微软雅黑"/>
              <a:ea typeface="微软雅黑"/>
              <a:cs typeface="微软雅黑"/>
              <a:sym typeface="微软雅黑"/>
            </a:endParaRPr>
          </a:p>
        </p:txBody>
      </p:sp>
      <p:sp>
        <p:nvSpPr>
          <p:cNvPr id="26" name="矩形 25"/>
          <p:cNvSpPr/>
          <p:nvPr/>
        </p:nvSpPr>
        <p:spPr>
          <a:xfrm>
            <a:off x="2059940" y="2891155"/>
            <a:ext cx="2920365" cy="979170"/>
          </a:xfrm>
          <a:prstGeom prst="rect">
            <a:avLst/>
          </a:prstGeom>
          <a:solidFill>
            <a:srgbClr val="FFFFFF"/>
          </a:solidFill>
          <a:ln w="12700">
            <a:solidFill>
              <a:srgbClr val="668EFF"/>
            </a:solidFill>
          </a:ln>
          <a:effectLst>
            <a:outerShdw blurRad="63500" sx="102000" sy="102000" algn="ctr" rotWithShape="0">
              <a:srgbClr val="668E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200" dirty="0">
                <a:solidFill>
                  <a:srgbClr val="383838"/>
                </a:solidFill>
                <a:latin typeface="微软雅黑"/>
                <a:ea typeface="微软雅黑"/>
                <a:cs typeface="微软雅黑"/>
                <a:sym typeface="微软雅黑"/>
              </a:rPr>
              <a:t>品类边界重塑下的核心战场</a:t>
            </a:r>
            <a:endParaRPr lang="en-US" altLang="zh-CN" sz="12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en-US" altLang="zh-CN" sz="1200" b="1" dirty="0">
                <a:solidFill>
                  <a:srgbClr val="0042FF"/>
                </a:solidFill>
                <a:latin typeface="微软雅黑"/>
                <a:ea typeface="微软雅黑"/>
                <a:cs typeface="微软雅黑"/>
                <a:sym typeface="微软雅黑"/>
              </a:rPr>
              <a:t>（三维视角：人/货/场）</a:t>
            </a:r>
            <a:endParaRPr lang="en-US" altLang="zh-CN" sz="1200" b="1" dirty="0">
              <a:solidFill>
                <a:srgbClr val="0042FF"/>
              </a:solidFill>
              <a:latin typeface="微软雅黑"/>
              <a:ea typeface="微软雅黑"/>
              <a:cs typeface="微软雅黑"/>
              <a:sym typeface="微软雅黑"/>
            </a:endParaRPr>
          </a:p>
        </p:txBody>
      </p:sp>
      <p:sp>
        <p:nvSpPr>
          <p:cNvPr id="27" name="矩形 26"/>
          <p:cNvSpPr/>
          <p:nvPr/>
        </p:nvSpPr>
        <p:spPr>
          <a:xfrm>
            <a:off x="5267325" y="1936750"/>
            <a:ext cx="5309235" cy="451485"/>
          </a:xfrm>
          <a:prstGeom prst="rect">
            <a:avLst/>
          </a:prstGeom>
          <a:gradFill flip="none" rotWithShape="1">
            <a:gsLst>
              <a:gs pos="18000">
                <a:srgbClr val="B3D4FE"/>
              </a:gs>
              <a:gs pos="100000">
                <a:srgbClr val="FFFFFF"/>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31" name="矩形 30"/>
          <p:cNvSpPr/>
          <p:nvPr/>
        </p:nvSpPr>
        <p:spPr>
          <a:xfrm>
            <a:off x="5497195" y="2009140"/>
            <a:ext cx="4932680" cy="306705"/>
          </a:xfrm>
          <a:prstGeom prst="rect">
            <a:avLst/>
          </a:prstGeom>
          <a:noFill/>
          <a:ln>
            <a:noFill/>
          </a:ln>
          <a:effectLst/>
          <a:extLst>
            <a:ext uri="{909E8E84-426E-40DD-AFC4-6F175D3DCCD1}">
              <a14:hiddenFill xmlns:a14="http://schemas.microsoft.com/office/drawing/2010/main">
                <a:gradFill flip="none" rotWithShape="1">
                  <a:gsLst>
                    <a:gs pos="18000">
                      <a:srgbClr val="B3D4FE"/>
                    </a:gs>
                    <a:gs pos="100000">
                      <a:srgbClr val="FFFFFF"/>
                    </a:gs>
                  </a:gsLst>
                  <a:path path="circle">
                    <a:fillToRect l="50000" t="50000" r="50000" b="50000"/>
                  </a:path>
                  <a:tileRect/>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③ 围绕人、货、场架设增长引擎，加速数字化重构</a:t>
            </a:r>
            <a:endParaRPr lang="zh-CN" altLang="en-US" sz="1400" dirty="0">
              <a:solidFill>
                <a:srgbClr val="383838"/>
              </a:solidFill>
              <a:latin typeface="微软雅黑"/>
              <a:ea typeface="微软雅黑"/>
              <a:cs typeface="微软雅黑"/>
              <a:sym typeface="微软雅黑"/>
            </a:endParaRPr>
          </a:p>
        </p:txBody>
      </p:sp>
      <p:sp>
        <p:nvSpPr>
          <p:cNvPr id="46" name="弧形 45"/>
          <p:cNvSpPr/>
          <p:nvPr/>
        </p:nvSpPr>
        <p:spPr>
          <a:xfrm>
            <a:off x="7287895" y="2980690"/>
            <a:ext cx="1127760" cy="1127760"/>
          </a:xfrm>
          <a:prstGeom prst="arc">
            <a:avLst>
              <a:gd name="adj1" fmla="val 8394483"/>
              <a:gd name="adj2" fmla="val 15956304"/>
            </a:avLst>
          </a:prstGeom>
          <a:ln w="63500">
            <a:solidFill>
              <a:srgbClr val="B3D4FE"/>
            </a:solidFill>
            <a:tailEnd type="stealth" w="sm" len="sm"/>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7" name="弧形 46"/>
          <p:cNvSpPr/>
          <p:nvPr/>
        </p:nvSpPr>
        <p:spPr>
          <a:xfrm>
            <a:off x="7291070" y="2971800"/>
            <a:ext cx="1127760" cy="1127760"/>
          </a:xfrm>
          <a:prstGeom prst="arc">
            <a:avLst>
              <a:gd name="adj1" fmla="val 16567286"/>
              <a:gd name="adj2" fmla="val 2170924"/>
            </a:avLst>
          </a:prstGeom>
          <a:ln w="63500">
            <a:solidFill>
              <a:srgbClr val="B3D4FE"/>
            </a:solidFill>
            <a:tailEnd type="stealth" w="sm" len="sm"/>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8" name="弧形 47"/>
          <p:cNvSpPr/>
          <p:nvPr/>
        </p:nvSpPr>
        <p:spPr>
          <a:xfrm>
            <a:off x="7287895" y="2987040"/>
            <a:ext cx="1127760" cy="1127760"/>
          </a:xfrm>
          <a:prstGeom prst="arc">
            <a:avLst>
              <a:gd name="adj1" fmla="val 2446106"/>
              <a:gd name="adj2" fmla="val 7923707"/>
            </a:avLst>
          </a:prstGeom>
          <a:ln w="63500">
            <a:solidFill>
              <a:srgbClr val="3368FF"/>
            </a:solidFill>
            <a:tailEnd type="stealth" w="sm" len="sm"/>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9" name="椭圆 48"/>
          <p:cNvSpPr/>
          <p:nvPr/>
        </p:nvSpPr>
        <p:spPr>
          <a:xfrm>
            <a:off x="7203440" y="3205480"/>
            <a:ext cx="255270" cy="255270"/>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latin typeface="微软雅黑"/>
                <a:ea typeface="微软雅黑"/>
                <a:cs typeface="微软雅黑"/>
              </a:rPr>
              <a:t>人</a:t>
            </a:r>
            <a:endParaRPr lang="zh-CN" altLang="en-US" sz="1200" dirty="0">
              <a:latin typeface="微软雅黑"/>
              <a:ea typeface="微软雅黑"/>
              <a:cs typeface="微软雅黑"/>
            </a:endParaRPr>
          </a:p>
        </p:txBody>
      </p:sp>
      <p:sp>
        <p:nvSpPr>
          <p:cNvPr id="52" name="椭圆 51"/>
          <p:cNvSpPr/>
          <p:nvPr/>
        </p:nvSpPr>
        <p:spPr>
          <a:xfrm>
            <a:off x="7451725" y="3116580"/>
            <a:ext cx="843280" cy="843280"/>
          </a:xfrm>
          <a:prstGeom prst="ellipse">
            <a:avLst/>
          </a:prstGeom>
          <a:gradFill>
            <a:gsLst>
              <a:gs pos="18000">
                <a:srgbClr val="3368FF"/>
              </a:gs>
              <a:gs pos="100000">
                <a:srgbClr val="B3D4FE"/>
              </a:gs>
            </a:gsLst>
            <a:lin ang="5400000" scaled="0"/>
          </a:gradFill>
          <a:ln>
            <a:noFill/>
          </a:ln>
        </p:spPr>
        <p:style>
          <a:lnRef idx="2">
            <a:srgbClr val="0042FF"/>
          </a:lnRef>
          <a:fillRef idx="1">
            <a:srgbClr val="0042FF"/>
          </a:fillRef>
          <a:effectRef idx="0">
            <a:srgbClr val="0042FF"/>
          </a:effectRef>
          <a:fontRef idx="minor">
            <a:srgbClr val="FFFFFF"/>
          </a:fontRef>
        </p:style>
        <p:txBody>
          <a:bodyPr lIns="0" rIns="0" rtlCol="0" anchor="ctr"/>
          <a:lstStyle/>
          <a:p>
            <a:pPr algn="ctr">
              <a:defRPr>
                <a:latin typeface="微软雅黑"/>
                <a:ea typeface="微软雅黑"/>
                <a:cs typeface="微软雅黑"/>
              </a:defRPr>
            </a:pPr>
            <a:endParaRPr lang="zh-CN" altLang="en-US" sz="1100" dirty="0">
              <a:latin typeface="微软雅黑"/>
              <a:ea typeface="微软雅黑"/>
              <a:cs typeface="微软雅黑"/>
            </a:endParaRPr>
          </a:p>
        </p:txBody>
      </p:sp>
      <p:sp>
        <p:nvSpPr>
          <p:cNvPr id="51" name="椭圆 50"/>
          <p:cNvSpPr/>
          <p:nvPr/>
        </p:nvSpPr>
        <p:spPr>
          <a:xfrm>
            <a:off x="7724140" y="4010025"/>
            <a:ext cx="255270" cy="255270"/>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场</a:t>
            </a:r>
            <a:endParaRPr lang="zh-CN" altLang="en-US" sz="1200" dirty="0">
              <a:solidFill>
                <a:srgbClr val="FFFFFF"/>
              </a:solidFill>
              <a:latin typeface="微软雅黑"/>
              <a:ea typeface="微软雅黑"/>
              <a:cs typeface="微软雅黑"/>
            </a:endParaRPr>
          </a:p>
        </p:txBody>
      </p:sp>
      <p:sp>
        <p:nvSpPr>
          <p:cNvPr id="50" name="椭圆 49"/>
          <p:cNvSpPr/>
          <p:nvPr/>
        </p:nvSpPr>
        <p:spPr>
          <a:xfrm>
            <a:off x="8275955" y="3205480"/>
            <a:ext cx="255270" cy="255270"/>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货</a:t>
            </a:r>
            <a:endParaRPr lang="zh-CN" altLang="en-US" sz="1200" dirty="0">
              <a:solidFill>
                <a:srgbClr val="383838"/>
              </a:solidFill>
              <a:latin typeface="微软雅黑"/>
              <a:ea typeface="微软雅黑"/>
              <a:cs typeface="微软雅黑"/>
            </a:endParaRPr>
          </a:p>
        </p:txBody>
      </p:sp>
      <p:sp>
        <p:nvSpPr>
          <p:cNvPr id="54" name="文本框 53"/>
          <p:cNvSpPr txBox="1"/>
          <p:nvPr/>
        </p:nvSpPr>
        <p:spPr>
          <a:xfrm>
            <a:off x="7351395" y="3355975"/>
            <a:ext cx="1064260" cy="398780"/>
          </a:xfrm>
          <a:prstGeom prst="rect">
            <a:avLst/>
          </a:prstGeom>
          <a:noFill/>
        </p:spPr>
        <p:txBody>
          <a:bodyPr wrap="square" lIns="0" rIns="0" tIns="0" bIns="0">
            <a:spAutoFit/>
          </a:bodyPr>
          <a:lstStyle/>
          <a:p>
            <a:pPr algn="ctr">
              <a:defRPr>
                <a:latin typeface="微软雅黑"/>
                <a:ea typeface="微软雅黑"/>
                <a:cs typeface="微软雅黑"/>
              </a:defRPr>
            </a:pPr>
            <a:r>
              <a:rPr lang="zh-CN" altLang="en-US" sz="1000" b="1" dirty="0">
                <a:solidFill>
                  <a:srgbClr val="383838"/>
                </a:solidFill>
                <a:latin typeface="微软雅黑"/>
                <a:ea typeface="微软雅黑"/>
                <a:cs typeface="微软雅黑"/>
              </a:rPr>
              <a:t>人、货、场</a:t>
            </a:r>
            <a:endParaRPr lang="en-US" altLang="zh-CN" sz="10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b="1" dirty="0">
                <a:solidFill>
                  <a:srgbClr val="383838"/>
                </a:solidFill>
                <a:latin typeface="微软雅黑"/>
                <a:ea typeface="微软雅黑"/>
                <a:cs typeface="微软雅黑"/>
              </a:rPr>
              <a:t>精准匹配</a:t>
            </a:r>
            <a:endParaRPr lang="zh-CN" altLang="en-US" sz="1000" b="1" dirty="0">
              <a:solidFill>
                <a:srgbClr val="383838"/>
              </a:solidFill>
              <a:latin typeface="微软雅黑"/>
              <a:ea typeface="微软雅黑"/>
              <a:cs typeface="微软雅黑"/>
            </a:endParaRPr>
          </a:p>
        </p:txBody>
      </p:sp>
      <p:grpSp>
        <p:nvGrpSpPr>
          <p:cNvPr id="65" name="组合 64"/>
          <p:cNvGrpSpPr/>
          <p:nvPr/>
        </p:nvGrpSpPr>
        <p:grpSpPr>
          <a:xfrm rot="0" flipH="1">
            <a:off x="8288655" y="3889375"/>
            <a:ext cx="2065655" cy="438785"/>
            <a:chOff x="5144739" y="3330151"/>
            <a:chExt cx="2333600" cy="476047"/>
          </a:xfrm>
        </p:grpSpPr>
        <p:cxnSp>
          <p:nvCxnSpPr>
            <p:cNvPr id="66" name="直接连接符 65"/>
            <p:cNvCxnSpPr/>
            <p:nvPr/>
          </p:nvCxnSpPr>
          <p:spPr>
            <a:xfrm flipH="1">
              <a:off x="6972234" y="3330151"/>
              <a:ext cx="506105" cy="476047"/>
            </a:xfrm>
            <a:prstGeom prst="line">
              <a:avLst/>
            </a:prstGeom>
            <a:ln>
              <a:solidFill>
                <a:srgbClr val="DCDCDC"/>
              </a:solidFill>
            </a:ln>
          </p:spPr>
          <p:style>
            <a:lnRef idx="1">
              <a:srgbClr val="0042FF"/>
            </a:lnRef>
            <a:fillRef idx="0">
              <a:srgbClr val="0042FF"/>
            </a:fillRef>
            <a:effectRef idx="0">
              <a:srgbClr val="0042FF"/>
            </a:effectRef>
            <a:fontRef idx="minor">
              <a:srgbClr val="383838"/>
            </a:fontRef>
          </p:style>
        </p:cxnSp>
        <p:cxnSp>
          <p:nvCxnSpPr>
            <p:cNvPr id="67" name="直接连接符 66"/>
            <p:cNvCxnSpPr/>
            <p:nvPr/>
          </p:nvCxnSpPr>
          <p:spPr>
            <a:xfrm flipH="1">
              <a:off x="5144739" y="3803922"/>
              <a:ext cx="1827495" cy="0"/>
            </a:xfrm>
            <a:prstGeom prst="line">
              <a:avLst/>
            </a:prstGeom>
            <a:ln>
              <a:solidFill>
                <a:srgbClr val="DCDCDC"/>
              </a:solidFill>
            </a:ln>
          </p:spPr>
          <p:style>
            <a:lnRef idx="1">
              <a:srgbClr val="0042FF"/>
            </a:lnRef>
            <a:fillRef idx="0">
              <a:srgbClr val="0042FF"/>
            </a:fillRef>
            <a:effectRef idx="0">
              <a:srgbClr val="0042FF"/>
            </a:effectRef>
            <a:fontRef idx="minor">
              <a:srgbClr val="383838"/>
            </a:fontRef>
          </p:style>
        </p:cxnSp>
      </p:grpSp>
      <p:grpSp>
        <p:nvGrpSpPr>
          <p:cNvPr id="76" name="组合 75"/>
          <p:cNvGrpSpPr/>
          <p:nvPr/>
        </p:nvGrpSpPr>
        <p:grpSpPr>
          <a:xfrm rot="0">
            <a:off x="5440045" y="3889375"/>
            <a:ext cx="2065655" cy="438785"/>
            <a:chOff x="5144739" y="3330151"/>
            <a:chExt cx="2333600" cy="476047"/>
          </a:xfrm>
        </p:grpSpPr>
        <p:cxnSp>
          <p:nvCxnSpPr>
            <p:cNvPr id="77" name="直接连接符 76"/>
            <p:cNvCxnSpPr/>
            <p:nvPr/>
          </p:nvCxnSpPr>
          <p:spPr>
            <a:xfrm flipH="1">
              <a:off x="6972234" y="3330151"/>
              <a:ext cx="506105" cy="476047"/>
            </a:xfrm>
            <a:prstGeom prst="line">
              <a:avLst/>
            </a:prstGeom>
            <a:ln>
              <a:solidFill>
                <a:srgbClr val="DCDCDC"/>
              </a:solidFill>
            </a:ln>
          </p:spPr>
          <p:style>
            <a:lnRef idx="1">
              <a:srgbClr val="0042FF"/>
            </a:lnRef>
            <a:fillRef idx="0">
              <a:srgbClr val="0042FF"/>
            </a:fillRef>
            <a:effectRef idx="0">
              <a:srgbClr val="0042FF"/>
            </a:effectRef>
            <a:fontRef idx="minor">
              <a:srgbClr val="383838"/>
            </a:fontRef>
          </p:style>
        </p:cxnSp>
        <p:cxnSp>
          <p:nvCxnSpPr>
            <p:cNvPr id="78" name="直接连接符 77"/>
            <p:cNvCxnSpPr/>
            <p:nvPr/>
          </p:nvCxnSpPr>
          <p:spPr>
            <a:xfrm flipH="1">
              <a:off x="5144739" y="3803922"/>
              <a:ext cx="1827495" cy="0"/>
            </a:xfrm>
            <a:prstGeom prst="line">
              <a:avLst/>
            </a:prstGeom>
            <a:ln>
              <a:solidFill>
                <a:srgbClr val="DCDCDC"/>
              </a:solidFill>
            </a:ln>
          </p:spPr>
          <p:style>
            <a:lnRef idx="1">
              <a:srgbClr val="0042FF"/>
            </a:lnRef>
            <a:fillRef idx="0">
              <a:srgbClr val="0042FF"/>
            </a:fillRef>
            <a:effectRef idx="0">
              <a:srgbClr val="0042FF"/>
            </a:effectRef>
            <a:fontRef idx="minor">
              <a:srgbClr val="383838"/>
            </a:fontRef>
          </p:style>
        </p:cxnSp>
      </p:grpSp>
      <p:cxnSp>
        <p:nvCxnSpPr>
          <p:cNvPr id="82" name="直接连接符 81"/>
          <p:cNvCxnSpPr/>
          <p:nvPr/>
        </p:nvCxnSpPr>
        <p:spPr>
          <a:xfrm>
            <a:off x="7856220" y="2797175"/>
            <a:ext cx="0" cy="248285"/>
          </a:xfrm>
          <a:prstGeom prst="line">
            <a:avLst/>
          </a:prstGeom>
          <a:ln>
            <a:solidFill>
              <a:srgbClr val="DCDCDC"/>
            </a:solidFill>
          </a:ln>
        </p:spPr>
        <p:style>
          <a:lnRef idx="1">
            <a:srgbClr val="0042FF"/>
          </a:lnRef>
          <a:fillRef idx="0">
            <a:srgbClr val="0042FF"/>
          </a:fillRef>
          <a:effectRef idx="0">
            <a:srgbClr val="0042FF"/>
          </a:effectRef>
          <a:fontRef idx="minor">
            <a:srgbClr val="383838"/>
          </a:fontRef>
        </p:style>
      </p:cxnSp>
      <p:sp>
        <p:nvSpPr>
          <p:cNvPr id="14" name="矩形 13"/>
          <p:cNvSpPr/>
          <p:nvPr/>
        </p:nvSpPr>
        <p:spPr>
          <a:xfrm>
            <a:off x="3611245" y="1249045"/>
            <a:ext cx="800735" cy="32385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en-US" altLang="zh-CN" sz="1400" b="1">
                <a:solidFill>
                  <a:srgbClr val="FFFFFF"/>
                </a:solidFill>
                <a:cs typeface="微软雅黑"/>
                <a:latin typeface="微软雅黑"/>
                <a:ea typeface="微软雅黑"/>
              </a:rPr>
              <a:t>“</a:t>
            </a:r>
            <a:r>
              <a:rPr lang="zh-CN" altLang="en-US" sz="1400" b="1">
                <a:solidFill>
                  <a:srgbClr val="FFFFFF"/>
                </a:solidFill>
                <a:cs typeface="微软雅黑"/>
                <a:latin typeface="微软雅黑"/>
                <a:ea typeface="微软雅黑"/>
              </a:rPr>
              <a:t>定调</a:t>
            </a:r>
            <a:r>
              <a:rPr lang="en-US" altLang="zh-CN" sz="1400" b="1">
                <a:solidFill>
                  <a:srgbClr val="FFFFFF"/>
                </a:solidFill>
                <a:cs typeface="微软雅黑"/>
                <a:latin typeface="微软雅黑"/>
                <a:ea typeface="微软雅黑"/>
              </a:rPr>
              <a:t>”</a:t>
            </a:r>
            <a:endParaRPr lang="en-US" altLang="zh-CN" sz="1400" b="1">
              <a:solidFill>
                <a:srgbClr val="FFFFFF"/>
              </a:solidFill>
              <a:cs typeface="微软雅黑"/>
              <a:latin typeface="微软雅黑"/>
              <a:ea typeface="微软雅黑"/>
            </a:endParaRPr>
          </a:p>
        </p:txBody>
      </p:sp>
      <p:sp>
        <p:nvSpPr>
          <p:cNvPr id="18" name="矩形 17"/>
          <p:cNvSpPr/>
          <p:nvPr/>
        </p:nvSpPr>
        <p:spPr>
          <a:xfrm>
            <a:off x="1854200" y="2473960"/>
            <a:ext cx="800735" cy="32385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en-US" altLang="zh-CN" sz="1400" b="1">
                <a:solidFill>
                  <a:srgbClr val="FFFFFF"/>
                </a:solidFill>
                <a:cs typeface="微软雅黑"/>
                <a:latin typeface="微软雅黑"/>
                <a:ea typeface="微软雅黑"/>
              </a:rPr>
              <a:t>“</a:t>
            </a:r>
            <a:r>
              <a:rPr lang="zh-CN" altLang="en-US" sz="1400" b="1">
                <a:solidFill>
                  <a:srgbClr val="FFFFFF"/>
                </a:solidFill>
                <a:cs typeface="微软雅黑"/>
                <a:latin typeface="微软雅黑"/>
                <a:ea typeface="微软雅黑"/>
              </a:rPr>
              <a:t>明道</a:t>
            </a:r>
            <a:r>
              <a:rPr lang="en-US" altLang="zh-CN" sz="1400" b="1">
                <a:solidFill>
                  <a:srgbClr val="FFFFFF"/>
                </a:solidFill>
                <a:cs typeface="微软雅黑"/>
                <a:latin typeface="微软雅黑"/>
                <a:ea typeface="微软雅黑"/>
              </a:rPr>
              <a:t>”</a:t>
            </a:r>
            <a:endParaRPr lang="en-US" altLang="zh-CN" sz="1400" b="1">
              <a:solidFill>
                <a:srgbClr val="FFFFFF"/>
              </a:solidFill>
              <a:cs typeface="微软雅黑"/>
              <a:latin typeface="微软雅黑"/>
              <a:ea typeface="微软雅黑"/>
            </a:endParaRPr>
          </a:p>
        </p:txBody>
      </p:sp>
      <p:sp>
        <p:nvSpPr>
          <p:cNvPr id="28" name="矩形 27"/>
          <p:cNvSpPr/>
          <p:nvPr/>
        </p:nvSpPr>
        <p:spPr>
          <a:xfrm>
            <a:off x="5267325" y="2473960"/>
            <a:ext cx="800735" cy="323850"/>
          </a:xfrm>
          <a:prstGeom prst="rect">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en-US" altLang="zh-CN" sz="1400" b="1">
                <a:cs typeface="微软雅黑"/>
                <a:latin typeface="微软雅黑"/>
                <a:ea typeface="微软雅黑"/>
              </a:rPr>
              <a:t>“</a:t>
            </a:r>
            <a:r>
              <a:rPr lang="zh-CN" altLang="en-US" sz="1400" b="1">
                <a:cs typeface="微软雅黑"/>
                <a:latin typeface="微软雅黑"/>
                <a:ea typeface="微软雅黑"/>
              </a:rPr>
              <a:t>优术</a:t>
            </a:r>
            <a:r>
              <a:rPr lang="en-US" altLang="zh-CN" sz="1400" b="1">
                <a:cs typeface="微软雅黑"/>
                <a:latin typeface="微软雅黑"/>
                <a:ea typeface="微软雅黑"/>
              </a:rPr>
              <a:t>”</a:t>
            </a:r>
            <a:endParaRPr lang="en-US" altLang="zh-CN" sz="1400" b="1">
              <a:cs typeface="微软雅黑"/>
              <a:latin typeface="微软雅黑"/>
              <a:ea typeface="微软雅黑"/>
            </a:endParaRPr>
          </a:p>
        </p:txBody>
      </p:sp>
      <p:grpSp>
        <p:nvGrpSpPr>
          <p:cNvPr id="137" name="组合 136"/>
          <p:cNvGrpSpPr/>
          <p:nvPr/>
        </p:nvGrpSpPr>
        <p:grpSpPr>
          <a:xfrm>
            <a:off x="1417955" y="5226685"/>
            <a:ext cx="9593580" cy="1564640"/>
            <a:chOff x="2653" y="8268"/>
            <a:chExt cx="13984" cy="2464"/>
          </a:xfrm>
        </p:grpSpPr>
        <p:sp>
          <p:nvSpPr>
            <p:cNvPr id="21" name="梯形 20"/>
            <p:cNvSpPr/>
            <p:nvPr/>
          </p:nvSpPr>
          <p:spPr>
            <a:xfrm>
              <a:off x="2653" y="8802"/>
              <a:ext cx="13983" cy="896"/>
            </a:xfrm>
            <a:prstGeom prst="trapezoid">
              <a:avLst>
                <a:gd name="adj" fmla="val 64886"/>
              </a:avLst>
            </a:prstGeom>
            <a:gradFill>
              <a:gsLst>
                <a:gs pos="100000">
                  <a:srgbClr val="0042FF"/>
                </a:gs>
                <a:gs pos="0">
                  <a:srgbClr val="0042FF">
                    <a:alpha val="0"/>
                  </a:srgbClr>
                </a:gs>
              </a:gsLst>
              <a:lin ang="5400000" scaled="0"/>
            </a:gra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r>
                <a:rPr lang="en-US" altLang="zh-CN" dirty="0">
                  <a:solidFill>
                    <a:srgbClr val="383838"/>
                  </a:solidFill>
                  <a:latin typeface="微软雅黑"/>
                  <a:ea typeface="微软雅黑"/>
                  <a:cs typeface="微软雅黑"/>
                </a:rPr>
                <a:t>.</a:t>
              </a:r>
              <a:endParaRPr lang="en-US" altLang="zh-CN" dirty="0">
                <a:solidFill>
                  <a:srgbClr val="383838"/>
                </a:solidFill>
                <a:latin typeface="微软雅黑"/>
                <a:ea typeface="微软雅黑"/>
                <a:cs typeface="微软雅黑"/>
              </a:endParaRPr>
            </a:p>
          </p:txBody>
        </p:sp>
        <p:sp>
          <p:nvSpPr>
            <p:cNvPr id="17" name="矩形 16"/>
            <p:cNvSpPr/>
            <p:nvPr/>
          </p:nvSpPr>
          <p:spPr>
            <a:xfrm>
              <a:off x="3109" y="8461"/>
              <a:ext cx="13071" cy="890"/>
            </a:xfrm>
            <a:prstGeom prst="rect">
              <a:avLst/>
            </a:prstGeom>
            <a:solidFill>
              <a:srgbClr val="0042FF"/>
            </a:solidFill>
            <a:ln w="635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19" name="直接连接符 18"/>
            <p:cNvCxnSpPr/>
            <p:nvPr/>
          </p:nvCxnSpPr>
          <p:spPr>
            <a:xfrm>
              <a:off x="2791" y="8268"/>
              <a:ext cx="13706" cy="0"/>
            </a:xfrm>
            <a:prstGeom prst="line">
              <a:avLst/>
            </a:prstGeom>
            <a:noFill/>
            <a:ln w="6350">
              <a:solidFill>
                <a:srgbClr val="DCDCDC"/>
              </a:solidFill>
            </a:ln>
          </p:spPr>
          <p:style>
            <a:lnRef idx="2">
              <a:srgbClr val="0042FF"/>
            </a:lnRef>
            <a:fillRef idx="1">
              <a:srgbClr val="0042FF"/>
            </a:fillRef>
            <a:effectRef idx="0">
              <a:srgbClr val="0042FF"/>
            </a:effectRef>
            <a:fontRef idx="minor">
              <a:srgbClr val="FFFFFF"/>
            </a:fontRef>
          </p:style>
        </p:cxnSp>
        <p:sp>
          <p:nvSpPr>
            <p:cNvPr id="20" name="矩形 19"/>
            <p:cNvSpPr/>
            <p:nvPr/>
          </p:nvSpPr>
          <p:spPr>
            <a:xfrm>
              <a:off x="2653" y="9720"/>
              <a:ext cx="13984" cy="1012"/>
            </a:xfrm>
            <a:prstGeom prst="rect">
              <a:avLst/>
            </a:prstGeom>
            <a:solidFill>
              <a:srgbClr val="0042FF"/>
            </a:solidFill>
            <a:ln w="6350">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4" name="矩形 83"/>
            <p:cNvSpPr/>
            <p:nvPr/>
          </p:nvSpPr>
          <p:spPr>
            <a:xfrm>
              <a:off x="4181" y="8596"/>
              <a:ext cx="2844" cy="619"/>
            </a:xfrm>
            <a:prstGeom prst="rect">
              <a:avLst/>
            </a:prstGeom>
            <a:solidFill>
              <a:srgbClr val="FFFFFF">
                <a:alpha val="90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跨部协同，扁平管理</a:t>
              </a:r>
              <a:endParaRPr lang="zh-CN" altLang="en-US" sz="1200" dirty="0">
                <a:solidFill>
                  <a:srgbClr val="383838"/>
                </a:solidFill>
                <a:latin typeface="微软雅黑"/>
                <a:ea typeface="微软雅黑"/>
                <a:cs typeface="微软雅黑"/>
              </a:endParaRPr>
            </a:p>
          </p:txBody>
        </p:sp>
        <p:sp>
          <p:nvSpPr>
            <p:cNvPr id="85" name="矩形 84"/>
            <p:cNvSpPr/>
            <p:nvPr/>
          </p:nvSpPr>
          <p:spPr>
            <a:xfrm>
              <a:off x="7184" y="8596"/>
              <a:ext cx="2844" cy="619"/>
            </a:xfrm>
            <a:prstGeom prst="rect">
              <a:avLst/>
            </a:prstGeom>
            <a:solidFill>
              <a:srgbClr val="FFFFFF">
                <a:alpha val="90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精益投入，高效运营</a:t>
              </a:r>
              <a:endParaRPr lang="zh-CN" altLang="en-US" sz="1200" dirty="0">
                <a:solidFill>
                  <a:srgbClr val="383838"/>
                </a:solidFill>
                <a:latin typeface="微软雅黑"/>
                <a:ea typeface="微软雅黑"/>
                <a:cs typeface="微软雅黑"/>
                <a:sym typeface="微软雅黑"/>
              </a:endParaRPr>
            </a:p>
          </p:txBody>
        </p:sp>
        <p:sp>
          <p:nvSpPr>
            <p:cNvPr id="86" name="矩形 85"/>
            <p:cNvSpPr/>
            <p:nvPr/>
          </p:nvSpPr>
          <p:spPr>
            <a:xfrm>
              <a:off x="10186" y="8596"/>
              <a:ext cx="2844" cy="619"/>
            </a:xfrm>
            <a:prstGeom prst="rect">
              <a:avLst/>
            </a:prstGeom>
            <a:solidFill>
              <a:srgbClr val="FFFFFF">
                <a:alpha val="90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保持专注，复盘迭代</a:t>
              </a:r>
              <a:endParaRPr lang="zh-CN" altLang="en-US" sz="1200" dirty="0">
                <a:solidFill>
                  <a:srgbClr val="383838"/>
                </a:solidFill>
                <a:latin typeface="微软雅黑"/>
                <a:ea typeface="微软雅黑"/>
                <a:cs typeface="微软雅黑"/>
                <a:sym typeface="微软雅黑"/>
              </a:endParaRPr>
            </a:p>
          </p:txBody>
        </p:sp>
        <p:sp>
          <p:nvSpPr>
            <p:cNvPr id="87" name="矩形 86"/>
            <p:cNvSpPr/>
            <p:nvPr/>
          </p:nvSpPr>
          <p:spPr>
            <a:xfrm>
              <a:off x="13190" y="8596"/>
              <a:ext cx="2844" cy="619"/>
            </a:xfrm>
            <a:prstGeom prst="rect">
              <a:avLst/>
            </a:prstGeom>
            <a:solidFill>
              <a:srgbClr val="FFFFFF">
                <a:alpha val="90000"/>
              </a:srgbClr>
            </a:solidFill>
            <a:ln w="635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目标一致，全面协同</a:t>
              </a:r>
              <a:endParaRPr lang="zh-CN" altLang="en-US" sz="1200" dirty="0">
                <a:solidFill>
                  <a:srgbClr val="383838"/>
                </a:solidFill>
                <a:latin typeface="微软雅黑"/>
                <a:ea typeface="微软雅黑"/>
                <a:cs typeface="微软雅黑"/>
                <a:sym typeface="微软雅黑"/>
              </a:endParaRPr>
            </a:p>
          </p:txBody>
        </p:sp>
        <p:sp>
          <p:nvSpPr>
            <p:cNvPr id="89" name="文本框 88"/>
            <p:cNvSpPr txBox="1"/>
            <p:nvPr/>
          </p:nvSpPr>
          <p:spPr>
            <a:xfrm>
              <a:off x="3287" y="8498"/>
              <a:ext cx="829" cy="725"/>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gn="ctr">
                <a:defRPr sz="1600" b="1">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关键支撑</a:t>
              </a:r>
              <a:endParaRPr lang="zh-CN" sz="1200" dirty="0">
                <a:solidFill>
                  <a:srgbClr val="FFFFFF"/>
                </a:solidFill>
                <a:latin typeface="微软雅黑"/>
                <a:ea typeface="微软雅黑"/>
                <a:cs typeface="微软雅黑"/>
              </a:endParaRPr>
            </a:p>
          </p:txBody>
        </p:sp>
        <p:sp>
          <p:nvSpPr>
            <p:cNvPr id="95" name="文本框 94"/>
            <p:cNvSpPr txBox="1"/>
            <p:nvPr/>
          </p:nvSpPr>
          <p:spPr>
            <a:xfrm>
              <a:off x="3914" y="9768"/>
              <a:ext cx="5489" cy="774"/>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④</a:t>
              </a:r>
              <a:r>
                <a:rPr lang="en-US" altLang="zh-CN" sz="1400" b="1" dirty="0">
                  <a:solidFill>
                    <a:srgbClr val="FFFFFF"/>
                  </a:solidFill>
                  <a:latin typeface="微软雅黑"/>
                  <a:ea typeface="微软雅黑"/>
                  <a:cs typeface="微软雅黑"/>
                </a:rPr>
                <a:t> </a:t>
              </a:r>
              <a:r>
                <a:rPr lang="zh-CN" altLang="en-US" sz="1400" b="1" dirty="0">
                  <a:solidFill>
                    <a:srgbClr val="FFFFFF"/>
                  </a:solidFill>
                  <a:latin typeface="微软雅黑"/>
                  <a:ea typeface="微软雅黑"/>
                  <a:cs typeface="微软雅黑"/>
                </a:rPr>
                <a:t>组织与运营模式</a:t>
              </a:r>
              <a:endParaRPr lang="en-US" altLang="zh-CN" sz="14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中心统筹</a:t>
              </a:r>
              <a:r>
                <a:rPr lang="en-US" altLang="zh-CN" sz="1200" dirty="0">
                  <a:solidFill>
                    <a:srgbClr val="FFFFFF"/>
                  </a:solidFill>
                  <a:latin typeface="微软雅黑"/>
                  <a:ea typeface="微软雅黑"/>
                  <a:cs typeface="微软雅黑"/>
                </a:rPr>
                <a:t>+</a:t>
              </a:r>
              <a:r>
                <a:rPr lang="zh-CN" altLang="en-US" sz="1200" dirty="0">
                  <a:solidFill>
                    <a:srgbClr val="FFFFFF"/>
                  </a:solidFill>
                  <a:latin typeface="微软雅黑"/>
                  <a:ea typeface="微软雅黑"/>
                  <a:cs typeface="微软雅黑"/>
                </a:rPr>
                <a:t>职能内嵌的协同作战</a:t>
              </a:r>
              <a:endParaRPr lang="zh-CN" altLang="en-US" sz="1200" dirty="0">
                <a:solidFill>
                  <a:srgbClr val="FFFFFF"/>
                </a:solidFill>
                <a:latin typeface="微软雅黑"/>
                <a:ea typeface="微软雅黑"/>
                <a:cs typeface="微软雅黑"/>
              </a:endParaRPr>
            </a:p>
          </p:txBody>
        </p:sp>
        <p:cxnSp>
          <p:nvCxnSpPr>
            <p:cNvPr id="98" name="直接连接符 97"/>
            <p:cNvCxnSpPr/>
            <p:nvPr/>
          </p:nvCxnSpPr>
          <p:spPr>
            <a:xfrm>
              <a:off x="9630" y="9880"/>
              <a:ext cx="0" cy="731"/>
            </a:xfrm>
            <a:prstGeom prst="line">
              <a:avLst/>
            </a:prstGeom>
            <a:ln w="6350">
              <a:solidFill>
                <a:srgbClr val="FFFFFF"/>
              </a:solidFill>
            </a:ln>
          </p:spPr>
          <p:style>
            <a:lnRef idx="1">
              <a:srgbClr val="0042FF"/>
            </a:lnRef>
            <a:fillRef idx="0">
              <a:srgbClr val="0042FF"/>
            </a:fillRef>
            <a:effectRef idx="0">
              <a:srgbClr val="0042FF"/>
            </a:effectRef>
            <a:fontRef idx="minor">
              <a:srgbClr val="383838"/>
            </a:fontRef>
          </p:style>
        </p:cxnSp>
        <p:sp>
          <p:nvSpPr>
            <p:cNvPr id="100" name="文本框 99"/>
            <p:cNvSpPr txBox="1"/>
            <p:nvPr/>
          </p:nvSpPr>
          <p:spPr>
            <a:xfrm>
              <a:off x="9894" y="9745"/>
              <a:ext cx="6729" cy="774"/>
            </a:xfrm>
            <a:prstGeom prst="rect">
              <a:avLst/>
            </a:prstGeom>
            <a:noFill/>
          </p:spPr>
          <p:txBody>
            <a:bodyPr wrap="square">
              <a:sp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⑤ 数据与技术</a:t>
              </a:r>
              <a:endParaRPr lang="zh-CN" altLang="en-US" sz="14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sym typeface="微软雅黑"/>
                </a:rPr>
                <a:t>大数据+小数据合力，技术升级</a:t>
              </a:r>
              <a:endParaRPr lang="zh-CN" altLang="en-US" sz="1200" dirty="0">
                <a:solidFill>
                  <a:srgbClr val="FFFFFF"/>
                </a:solidFill>
                <a:latin typeface="微软雅黑"/>
                <a:ea typeface="微软雅黑"/>
                <a:cs typeface="微软雅黑"/>
                <a:sym typeface="微软雅黑"/>
              </a:endParaRPr>
            </a:p>
          </p:txBody>
        </p:sp>
        <p:sp>
          <p:nvSpPr>
            <p:cNvPr id="58" name="矩形 57"/>
            <p:cNvSpPr/>
            <p:nvPr/>
          </p:nvSpPr>
          <p:spPr>
            <a:xfrm>
              <a:off x="2653" y="9864"/>
              <a:ext cx="1261" cy="51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en-US" altLang="zh-CN" sz="1400" b="1">
                  <a:solidFill>
                    <a:srgbClr val="FFFFFF"/>
                  </a:solidFill>
                  <a:cs typeface="微软雅黑"/>
                  <a:latin typeface="微软雅黑"/>
                  <a:ea typeface="微软雅黑"/>
                </a:rPr>
                <a:t>“</a:t>
              </a:r>
              <a:r>
                <a:rPr lang="zh-CN" altLang="en-US" sz="1400" b="1">
                  <a:solidFill>
                    <a:srgbClr val="FFFFFF"/>
                  </a:solidFill>
                  <a:cs typeface="微软雅黑"/>
                  <a:latin typeface="微软雅黑"/>
                  <a:ea typeface="微软雅黑"/>
                </a:rPr>
                <a:t>立本</a:t>
              </a:r>
              <a:r>
                <a:rPr lang="en-US" altLang="zh-CN" sz="1400" b="1">
                  <a:solidFill>
                    <a:srgbClr val="FFFFFF"/>
                  </a:solidFill>
                  <a:cs typeface="微软雅黑"/>
                  <a:latin typeface="微软雅黑"/>
                  <a:ea typeface="微软雅黑"/>
                </a:rPr>
                <a:t>”</a:t>
              </a:r>
              <a:endParaRPr lang="en-US" altLang="zh-CN" sz="1400" b="1">
                <a:solidFill>
                  <a:srgbClr val="FFFFFF"/>
                </a:solidFill>
                <a:cs typeface="微软雅黑"/>
                <a:latin typeface="微软雅黑"/>
                <a:ea typeface="微软雅黑"/>
              </a:endParaRPr>
            </a:p>
          </p:txBody>
        </p:sp>
      </p:grpSp>
      <p:sp>
        <p:nvSpPr>
          <p:cNvPr id="88" name="文本框 87"/>
          <p:cNvSpPr txBox="1"/>
          <p:nvPr/>
        </p:nvSpPr>
        <p:spPr>
          <a:xfrm>
            <a:off x="3270885" y="1584960"/>
            <a:ext cx="5688330" cy="245110"/>
          </a:xfrm>
          <a:prstGeom prst="rect">
            <a:avLst/>
          </a:prstGeom>
          <a:noFill/>
        </p:spPr>
        <p:txBody>
          <a:bodyPr wrap="square"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全面深化数字化运营，重构</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人</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货</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场</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协同效率，以数据驱动全渠道价值创造</a:t>
            </a:r>
            <a:endParaRPr lang="zh-CN" altLang="en-US" sz="1000" dirty="0">
              <a:solidFill>
                <a:srgbClr val="FFFFFF"/>
              </a:solidFill>
              <a:latin typeface="微软雅黑"/>
              <a:ea typeface="微软雅黑"/>
              <a:cs typeface="微软雅黑"/>
            </a:endParaRPr>
          </a:p>
        </p:txBody>
      </p:sp>
      <p:sp>
        <p:nvSpPr>
          <p:cNvPr id="90" name="矩形 89"/>
          <p:cNvSpPr/>
          <p:nvPr/>
        </p:nvSpPr>
        <p:spPr>
          <a:xfrm>
            <a:off x="2059940" y="4004945"/>
            <a:ext cx="2920365" cy="979170"/>
          </a:xfrm>
          <a:prstGeom prst="rect">
            <a:avLst/>
          </a:prstGeom>
          <a:solidFill>
            <a:srgbClr val="FFFFFF"/>
          </a:solidFill>
          <a:ln w="12700">
            <a:solidFill>
              <a:srgbClr val="668EFF"/>
            </a:solidFill>
          </a:ln>
          <a:effectLst>
            <a:outerShdw blurRad="63500" sx="102000" sy="102000" algn="ctr" rotWithShape="0">
              <a:srgbClr val="668E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200" dirty="0">
                <a:solidFill>
                  <a:srgbClr val="383838"/>
                </a:solidFill>
                <a:latin typeface="微软雅黑"/>
                <a:ea typeface="微软雅黑"/>
                <a:cs typeface="微软雅黑"/>
                <a:sym typeface="微软雅黑"/>
              </a:rPr>
              <a:t>全链路消费者渗透</a:t>
            </a:r>
            <a:endParaRPr lang="en-US" altLang="zh-CN" sz="12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en-US" altLang="zh-CN" sz="1200" b="1" dirty="0">
                <a:solidFill>
                  <a:srgbClr val="0042FF"/>
                </a:solidFill>
                <a:latin typeface="微软雅黑"/>
                <a:ea typeface="微软雅黑"/>
                <a:cs typeface="微软雅黑"/>
                <a:sym typeface="微软雅黑"/>
              </a:rPr>
              <a:t>（FAST体系）</a:t>
            </a:r>
            <a:endParaRPr lang="en-US" altLang="zh-CN" sz="1200" b="1" dirty="0">
              <a:solidFill>
                <a:srgbClr val="0042FF"/>
              </a:solidFill>
              <a:latin typeface="微软雅黑"/>
              <a:ea typeface="微软雅黑"/>
              <a:cs typeface="微软雅黑"/>
              <a:sym typeface="微软雅黑"/>
            </a:endParaRPr>
          </a:p>
        </p:txBody>
      </p:sp>
      <p:grpSp>
        <p:nvGrpSpPr>
          <p:cNvPr id="103" name="组合 102"/>
          <p:cNvGrpSpPr/>
          <p:nvPr/>
        </p:nvGrpSpPr>
        <p:grpSpPr>
          <a:xfrm rot="0">
            <a:off x="5433695" y="2980690"/>
            <a:ext cx="1600835" cy="1254125"/>
            <a:chOff x="8440" y="4627"/>
            <a:chExt cx="2380" cy="1864"/>
          </a:xfrm>
        </p:grpSpPr>
        <p:sp>
          <p:nvSpPr>
            <p:cNvPr id="36" name="矩形 35"/>
            <p:cNvSpPr/>
            <p:nvPr/>
          </p:nvSpPr>
          <p:spPr>
            <a:xfrm>
              <a:off x="8667" y="5061"/>
              <a:ext cx="1842" cy="408"/>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品牌洞察升维</a:t>
              </a:r>
              <a:endParaRPr lang="zh-CN" altLang="en-US" sz="1000" dirty="0">
                <a:solidFill>
                  <a:srgbClr val="383838"/>
                </a:solidFill>
                <a:latin typeface="微软雅黑"/>
                <a:ea typeface="微软雅黑"/>
                <a:cs typeface="微软雅黑"/>
              </a:endParaRPr>
            </a:p>
          </p:txBody>
        </p:sp>
        <p:sp>
          <p:nvSpPr>
            <p:cNvPr id="39" name="文本框 38"/>
            <p:cNvSpPr txBox="1"/>
            <p:nvPr/>
          </p:nvSpPr>
          <p:spPr>
            <a:xfrm>
              <a:off x="8440" y="4627"/>
              <a:ext cx="2380" cy="410"/>
            </a:xfrm>
            <a:prstGeom prst="rect">
              <a:avLst/>
            </a:prstGeom>
            <a:noFill/>
          </p:spPr>
          <p:txBody>
            <a:bodyPr wrap="square">
              <a:spAutoFit/>
            </a:bodyPr>
            <a:lstStyle/>
            <a:p>
              <a:pPr algn="ctr">
                <a:defRPr>
                  <a:latin typeface="微软雅黑"/>
                  <a:ea typeface="微软雅黑"/>
                  <a:cs typeface="微软雅黑"/>
                </a:defRPr>
              </a:pPr>
              <a:r>
                <a:rPr lang="zh-CN" sz="1200" b="1" dirty="0">
                  <a:solidFill>
                    <a:srgbClr val="383838"/>
                  </a:solidFill>
                  <a:latin typeface="微软雅黑"/>
                  <a:ea typeface="微软雅黑"/>
                  <a:cs typeface="微软雅黑"/>
                </a:rPr>
                <a:t>新交互、新洞察</a:t>
              </a:r>
              <a:endParaRPr lang="zh-CN" sz="1200" b="1" dirty="0">
                <a:solidFill>
                  <a:srgbClr val="383838"/>
                </a:solidFill>
                <a:latin typeface="微软雅黑"/>
                <a:ea typeface="微软雅黑"/>
                <a:cs typeface="微软雅黑"/>
              </a:endParaRPr>
            </a:p>
          </p:txBody>
        </p:sp>
        <p:sp>
          <p:nvSpPr>
            <p:cNvPr id="92" name="矩形 91"/>
            <p:cNvSpPr/>
            <p:nvPr/>
          </p:nvSpPr>
          <p:spPr>
            <a:xfrm>
              <a:off x="8667" y="5570"/>
              <a:ext cx="1842" cy="408"/>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品牌沟通延展</a:t>
              </a:r>
              <a:endParaRPr lang="zh-CN" altLang="en-US" sz="1000" dirty="0">
                <a:solidFill>
                  <a:srgbClr val="383838"/>
                </a:solidFill>
                <a:latin typeface="微软雅黑"/>
                <a:ea typeface="微软雅黑"/>
                <a:cs typeface="微软雅黑"/>
              </a:endParaRPr>
            </a:p>
          </p:txBody>
        </p:sp>
        <p:sp>
          <p:nvSpPr>
            <p:cNvPr id="93" name="矩形 92"/>
            <p:cNvSpPr/>
            <p:nvPr/>
          </p:nvSpPr>
          <p:spPr>
            <a:xfrm>
              <a:off x="8667" y="6083"/>
              <a:ext cx="1842" cy="408"/>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品牌资产升级</a:t>
              </a:r>
              <a:endParaRPr lang="zh-CN" altLang="en-US" sz="1000" dirty="0">
                <a:solidFill>
                  <a:srgbClr val="383838"/>
                </a:solidFill>
                <a:latin typeface="微软雅黑"/>
                <a:ea typeface="微软雅黑"/>
                <a:cs typeface="微软雅黑"/>
              </a:endParaRPr>
            </a:p>
          </p:txBody>
        </p:sp>
      </p:grpSp>
      <p:grpSp>
        <p:nvGrpSpPr>
          <p:cNvPr id="101" name="组合 100"/>
          <p:cNvGrpSpPr/>
          <p:nvPr/>
        </p:nvGrpSpPr>
        <p:grpSpPr>
          <a:xfrm rot="0">
            <a:off x="8772525" y="2980690"/>
            <a:ext cx="1600835" cy="1254125"/>
            <a:chOff x="13352" y="4673"/>
            <a:chExt cx="2380" cy="1864"/>
          </a:xfrm>
        </p:grpSpPr>
        <p:sp>
          <p:nvSpPr>
            <p:cNvPr id="94" name="矩形 93"/>
            <p:cNvSpPr/>
            <p:nvPr/>
          </p:nvSpPr>
          <p:spPr>
            <a:xfrm>
              <a:off x="13430" y="5107"/>
              <a:ext cx="2192" cy="408"/>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商品升级，品消共创</a:t>
              </a:r>
              <a:endParaRPr lang="zh-CN" altLang="en-US" sz="1000" dirty="0">
                <a:solidFill>
                  <a:srgbClr val="383838"/>
                </a:solidFill>
                <a:latin typeface="微软雅黑"/>
                <a:ea typeface="微软雅黑"/>
                <a:cs typeface="微软雅黑"/>
              </a:endParaRPr>
            </a:p>
          </p:txBody>
        </p:sp>
        <p:sp>
          <p:nvSpPr>
            <p:cNvPr id="96" name="文本框 95"/>
            <p:cNvSpPr txBox="1"/>
            <p:nvPr/>
          </p:nvSpPr>
          <p:spPr>
            <a:xfrm>
              <a:off x="13352" y="4673"/>
              <a:ext cx="2380" cy="410"/>
            </a:xfrm>
            <a:prstGeom prst="rect">
              <a:avLst/>
            </a:prstGeom>
            <a:noFill/>
          </p:spPr>
          <p:txBody>
            <a:bodyPr wrap="square">
              <a:spAutoFit/>
            </a:bodyPr>
            <a:lstStyle/>
            <a:p>
              <a:pPr algn="ctr">
                <a:defRPr>
                  <a:latin typeface="微软雅黑"/>
                  <a:ea typeface="微软雅黑"/>
                  <a:cs typeface="微软雅黑"/>
                </a:defRPr>
              </a:pPr>
              <a:r>
                <a:rPr lang="zh-CN" sz="1200" b="1" dirty="0">
                  <a:solidFill>
                    <a:srgbClr val="383838"/>
                  </a:solidFill>
                  <a:latin typeface="微软雅黑"/>
                  <a:ea typeface="微软雅黑"/>
                  <a:cs typeface="微软雅黑"/>
                </a:rPr>
                <a:t>新形态、新模式</a:t>
              </a:r>
              <a:endParaRPr lang="zh-CN" sz="1200" b="1" dirty="0">
                <a:solidFill>
                  <a:srgbClr val="383838"/>
                </a:solidFill>
                <a:latin typeface="微软雅黑"/>
                <a:ea typeface="微软雅黑"/>
                <a:cs typeface="微软雅黑"/>
              </a:endParaRPr>
            </a:p>
          </p:txBody>
        </p:sp>
        <p:sp>
          <p:nvSpPr>
            <p:cNvPr id="97" name="矩形 96"/>
            <p:cNvSpPr/>
            <p:nvPr/>
          </p:nvSpPr>
          <p:spPr>
            <a:xfrm>
              <a:off x="13431" y="5616"/>
              <a:ext cx="2191" cy="408"/>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服务关怀，多元体验</a:t>
              </a:r>
              <a:endParaRPr lang="zh-CN" altLang="en-US" sz="1000" dirty="0">
                <a:solidFill>
                  <a:srgbClr val="383838"/>
                </a:solidFill>
                <a:latin typeface="微软雅黑"/>
                <a:ea typeface="微软雅黑"/>
                <a:cs typeface="微软雅黑"/>
              </a:endParaRPr>
            </a:p>
          </p:txBody>
        </p:sp>
        <p:sp>
          <p:nvSpPr>
            <p:cNvPr id="99" name="矩形 98"/>
            <p:cNvSpPr/>
            <p:nvPr/>
          </p:nvSpPr>
          <p:spPr>
            <a:xfrm>
              <a:off x="13431" y="6129"/>
              <a:ext cx="2191" cy="408"/>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内容先行，丰富感知</a:t>
              </a:r>
              <a:endParaRPr lang="zh-CN" altLang="en-US" sz="1000" dirty="0">
                <a:solidFill>
                  <a:srgbClr val="383838"/>
                </a:solidFill>
                <a:latin typeface="微软雅黑"/>
                <a:ea typeface="微软雅黑"/>
                <a:cs typeface="微软雅黑"/>
              </a:endParaRPr>
            </a:p>
          </p:txBody>
        </p:sp>
      </p:grpSp>
      <p:sp>
        <p:nvSpPr>
          <p:cNvPr id="104" name="文本框 103"/>
          <p:cNvSpPr txBox="1"/>
          <p:nvPr/>
        </p:nvSpPr>
        <p:spPr>
          <a:xfrm>
            <a:off x="7098030" y="4274185"/>
            <a:ext cx="1600835" cy="275590"/>
          </a:xfrm>
          <a:prstGeom prst="rect">
            <a:avLst/>
          </a:prstGeom>
          <a:noFill/>
        </p:spPr>
        <p:txBody>
          <a:bodyPr wrap="square">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新场景、新联结</a:t>
            </a:r>
            <a:endParaRPr lang="zh-CN" altLang="en-US" sz="1200" b="1" dirty="0">
              <a:solidFill>
                <a:srgbClr val="383838"/>
              </a:solidFill>
              <a:latin typeface="微软雅黑"/>
              <a:ea typeface="微软雅黑"/>
              <a:cs typeface="微软雅黑"/>
            </a:endParaRPr>
          </a:p>
        </p:txBody>
      </p:sp>
      <p:sp>
        <p:nvSpPr>
          <p:cNvPr id="105" name="矩形 104"/>
          <p:cNvSpPr/>
          <p:nvPr/>
        </p:nvSpPr>
        <p:spPr>
          <a:xfrm>
            <a:off x="5547360" y="4647565"/>
            <a:ext cx="1718945" cy="274320"/>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时间：消费链路快速击穿</a:t>
            </a:r>
            <a:endParaRPr lang="zh-CN" altLang="en-US" sz="1000" dirty="0">
              <a:solidFill>
                <a:srgbClr val="383838"/>
              </a:solidFill>
              <a:latin typeface="微软雅黑"/>
              <a:ea typeface="微软雅黑"/>
              <a:cs typeface="微软雅黑"/>
            </a:endParaRPr>
          </a:p>
        </p:txBody>
      </p:sp>
      <p:sp>
        <p:nvSpPr>
          <p:cNvPr id="106" name="矩形 105"/>
          <p:cNvSpPr/>
          <p:nvPr/>
        </p:nvSpPr>
        <p:spPr>
          <a:xfrm>
            <a:off x="7334250" y="4647565"/>
            <a:ext cx="1212850" cy="274320"/>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空间：多场互融</a:t>
            </a:r>
            <a:endParaRPr lang="zh-CN" altLang="en-US" sz="1000" dirty="0">
              <a:solidFill>
                <a:srgbClr val="383838"/>
              </a:solidFill>
              <a:latin typeface="微软雅黑"/>
              <a:ea typeface="微软雅黑"/>
              <a:cs typeface="微软雅黑"/>
            </a:endParaRPr>
          </a:p>
        </p:txBody>
      </p:sp>
      <p:sp>
        <p:nvSpPr>
          <p:cNvPr id="107" name="矩形 106"/>
          <p:cNvSpPr/>
          <p:nvPr/>
        </p:nvSpPr>
        <p:spPr>
          <a:xfrm>
            <a:off x="8615045" y="4647565"/>
            <a:ext cx="1718945" cy="274320"/>
          </a:xfrm>
          <a:prstGeom prst="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机制：通路运营因地制宜</a:t>
            </a:r>
            <a:endParaRPr lang="zh-CN" altLang="en-US" sz="1000" dirty="0">
              <a:solidFill>
                <a:srgbClr val="383838"/>
              </a:solidFill>
              <a:latin typeface="微软雅黑"/>
              <a:ea typeface="微软雅黑"/>
              <a:cs typeface="微软雅黑"/>
            </a:endParaRPr>
          </a:p>
        </p:txBody>
      </p:sp>
      <p:sp>
        <p:nvSpPr>
          <p:cNvPr id="23" name="矩形 22"/>
          <p:cNvSpPr/>
          <p:nvPr/>
        </p:nvSpPr>
        <p:spPr>
          <a:xfrm>
            <a:off x="1852930" y="1999615"/>
            <a:ext cx="3280410" cy="350520"/>
          </a:xfrm>
          <a:prstGeom prst="rect">
            <a:avLst/>
          </a:prstGeom>
          <a:noFill/>
          <a:ln>
            <a:noFill/>
          </a:ln>
          <a:effectLst/>
          <a:extLst>
            <a:ext uri="{909E8E84-426E-40DD-AFC4-6F175D3DCCD1}">
              <a14:hiddenFill xmlns:a14="http://schemas.microsoft.com/office/drawing/2010/main">
                <a:gradFill flip="none" rotWithShape="1">
                  <a:gsLst>
                    <a:gs pos="18000">
                      <a:srgbClr val="B3D4FE"/>
                    </a:gs>
                    <a:gs pos="100000">
                      <a:srgbClr val="FFFFFF"/>
                    </a:gs>
                  </a:gsLst>
                  <a:path path="circle">
                    <a:fillToRect l="50000" t="50000" r="50000" b="50000"/>
                  </a:path>
                  <a:tileRect/>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② 核心战场和核心人群</a:t>
            </a:r>
            <a:endParaRPr lang="zh-CN" altLang="en-US" sz="1400" b="1" dirty="0">
              <a:solidFill>
                <a:srgbClr val="FFFFFF"/>
              </a:solidFill>
              <a:latin typeface="微软雅黑"/>
              <a:ea typeface="微软雅黑"/>
              <a:cs typeface="微软雅黑"/>
              <a:sym typeface="微软雅黑"/>
            </a:endParaRPr>
          </a:p>
        </p:txBody>
      </p:sp>
      <p:sp>
        <p:nvSpPr>
          <p:cNvPr id="53" name="显眼包PPT-38"/>
          <p:cNvSpPr/>
          <p:nvPr/>
        </p:nvSpPr>
        <p:spPr>
          <a:xfrm>
            <a:off x="1852930" y="2392680"/>
            <a:ext cx="3281045" cy="2744470"/>
          </a:xfrm>
          <a:prstGeom prst="roundRect">
            <a:avLst>
              <a:gd name="adj" fmla="val 4165"/>
            </a:avLst>
          </a:prstGeom>
          <a:noFill/>
          <a:ln w="6350">
            <a:gradFill flip="none" rotWithShape="1">
              <a:gsLst>
                <a:gs pos="0">
                  <a:srgbClr val="668EFF">
                    <a:alpha val="0"/>
                  </a:srgbClr>
                </a:gs>
                <a:gs pos="100000">
                  <a:srgbClr val="668E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57" name="显眼包PPT-38"/>
          <p:cNvSpPr/>
          <p:nvPr/>
        </p:nvSpPr>
        <p:spPr>
          <a:xfrm>
            <a:off x="5260975" y="2388235"/>
            <a:ext cx="5317490" cy="2744470"/>
          </a:xfrm>
          <a:prstGeom prst="roundRect">
            <a:avLst>
              <a:gd name="adj" fmla="val 4165"/>
            </a:avLst>
          </a:prstGeom>
          <a:noFill/>
          <a:ln w="6350">
            <a:gradFill flip="none" rotWithShape="1">
              <a:gsLst>
                <a:gs pos="0">
                  <a:srgbClr val="B3D4FE">
                    <a:alpha val="0"/>
                  </a:srgbClr>
                </a:gs>
                <a:gs pos="100000">
                  <a:srgbClr val="B3D4FE"/>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59" name="箭头: 上下 54"/>
          <p:cNvSpPr/>
          <p:nvPr/>
        </p:nvSpPr>
        <p:spPr>
          <a:xfrm>
            <a:off x="3763010" y="5018405"/>
            <a:ext cx="210185" cy="323850"/>
          </a:xfrm>
          <a:prstGeom prst="upDownArrow">
            <a:avLst/>
          </a:prstGeom>
          <a:solidFill>
            <a:srgbClr val="FFFFFF"/>
          </a:solidFill>
          <a:ln w="15875">
            <a:solidFill>
              <a:srgbClr val="0042FF">
                <a:alpha val="8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60" name="箭头: 上下 55"/>
          <p:cNvSpPr/>
          <p:nvPr/>
        </p:nvSpPr>
        <p:spPr>
          <a:xfrm>
            <a:off x="7621905" y="5051425"/>
            <a:ext cx="210185" cy="324485"/>
          </a:xfrm>
          <a:prstGeom prst="upDownArrow">
            <a:avLst/>
          </a:prstGeom>
          <a:solidFill>
            <a:srgbClr val="FFFFFF"/>
          </a:solidFill>
          <a:ln w="15875">
            <a:solidFill>
              <a:srgbClr val="3368FF">
                <a:alpha val="8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2" name="文本框 61"/>
          <p:cNvSpPr txBox="1"/>
          <p:nvPr/>
        </p:nvSpPr>
        <p:spPr>
          <a:xfrm>
            <a:off x="133985" y="3174365"/>
            <a:ext cx="1739900" cy="958850"/>
          </a:xfrm>
          <a:prstGeom prst="rect">
            <a:avLst/>
          </a:prstGeom>
          <a:noFill/>
        </p:spPr>
        <p:txBody>
          <a:bodyPr wrap="square" anchor="ctr" anchorCtr="0">
            <a:noAutofit/>
          </a:bodyPr>
          <a:lstStyle/>
          <a:p>
            <a:pPr marL="171450" indent="-171450" algn="l">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rPr>
              <a:t>从指标到场景到解决方案的端到端管理体系。</a:t>
            </a:r>
            <a:endParaRPr lang="zh-CN" altLang="en-US" sz="12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dirty="0">
                <a:solidFill>
                  <a:srgbClr val="383838"/>
                </a:solidFill>
                <a:latin typeface="微软雅黑"/>
                <a:ea typeface="微软雅黑"/>
                <a:cs typeface="微软雅黑"/>
              </a:rPr>
              <a:t>全面提升消费者运行效率。</a:t>
            </a:r>
            <a:endParaRPr lang="zh-CN" altLang="en-US" sz="1200" dirty="0">
              <a:solidFill>
                <a:srgbClr val="383838"/>
              </a:solidFill>
              <a:latin typeface="微软雅黑"/>
              <a:ea typeface="微软雅黑"/>
              <a:cs typeface="微软雅黑"/>
            </a:endParaRPr>
          </a:p>
        </p:txBody>
      </p:sp>
      <p:sp>
        <p:nvSpPr>
          <p:cNvPr id="63" name="文本框 62"/>
          <p:cNvSpPr txBox="1"/>
          <p:nvPr/>
        </p:nvSpPr>
        <p:spPr>
          <a:xfrm>
            <a:off x="217170" y="4226560"/>
            <a:ext cx="1898015" cy="397510"/>
          </a:xfrm>
          <a:prstGeom prst="rect">
            <a:avLst/>
          </a:prstGeom>
          <a:noFill/>
        </p:spPr>
        <p:txBody>
          <a:bodyPr wrap="square" anchor="ctr" anchorCtr="0">
            <a:noAutofit/>
          </a:bodyPr>
          <a:lstStyle/>
          <a:p>
            <a:pPr algn="l">
              <a:defRPr>
                <a:latin typeface="微软雅黑"/>
                <a:ea typeface="微软雅黑"/>
                <a:cs typeface="微软雅黑"/>
              </a:defRPr>
            </a:pPr>
            <a:r>
              <a:rPr lang="zh-CN" altLang="en-US" sz="1200" b="1" dirty="0">
                <a:solidFill>
                  <a:srgbClr val="0042FF"/>
                </a:solidFill>
                <a:latin typeface="微软雅黑"/>
                <a:ea typeface="微软雅黑"/>
                <a:cs typeface="微软雅黑"/>
              </a:rPr>
              <a:t>主题</a:t>
            </a:r>
            <a:r>
              <a:rPr lang="en-US" altLang="zh-CN" sz="1200" b="1" dirty="0">
                <a:solidFill>
                  <a:srgbClr val="0042FF"/>
                </a:solidFill>
                <a:latin typeface="微软雅黑"/>
                <a:ea typeface="微软雅黑"/>
                <a:cs typeface="微软雅黑"/>
              </a:rPr>
              <a:t>1</a:t>
            </a:r>
            <a:r>
              <a:rPr lang="zh-CN" altLang="en-US" sz="1200" b="1" dirty="0">
                <a:solidFill>
                  <a:srgbClr val="0042FF"/>
                </a:solidFill>
                <a:latin typeface="微软雅黑"/>
                <a:ea typeface="微软雅黑"/>
                <a:cs typeface="微软雅黑"/>
              </a:rPr>
              <a:t>：渠道效率革命</a:t>
            </a:r>
            <a:endParaRPr lang="zh-CN" altLang="en-US" sz="1200" b="1" dirty="0">
              <a:solidFill>
                <a:srgbClr val="0042FF"/>
              </a:solidFill>
              <a:latin typeface="微软雅黑"/>
              <a:ea typeface="微软雅黑"/>
              <a:cs typeface="微软雅黑"/>
            </a:endParaRPr>
          </a:p>
        </p:txBody>
      </p:sp>
      <p:cxnSp>
        <p:nvCxnSpPr>
          <p:cNvPr id="68" name="直接连接符 67"/>
          <p:cNvCxnSpPr/>
          <p:nvPr/>
        </p:nvCxnSpPr>
        <p:spPr>
          <a:xfrm>
            <a:off x="217170" y="4205605"/>
            <a:ext cx="2012950" cy="0"/>
          </a:xfrm>
          <a:prstGeom prst="line">
            <a:avLst/>
          </a:prstGeom>
          <a:ln>
            <a:solidFill>
              <a:srgbClr val="3368FF"/>
            </a:solidFill>
            <a:tailEnd type="oval"/>
          </a:ln>
        </p:spPr>
        <p:style>
          <a:lnRef idx="2">
            <a:srgbClr val="0042FF"/>
          </a:lnRef>
          <a:fillRef idx="0">
            <a:srgbClr val="FFFFFF"/>
          </a:fillRef>
          <a:effectRef idx="0">
            <a:srgbClr val="FFFFFF"/>
          </a:effectRef>
          <a:fontRef idx="minor">
            <a:srgbClr val="383838"/>
          </a:fontRef>
        </p:style>
      </p:cxnSp>
      <p:sp>
        <p:nvSpPr>
          <p:cNvPr id="69" name="文本框 68"/>
          <p:cNvSpPr txBox="1"/>
          <p:nvPr/>
        </p:nvSpPr>
        <p:spPr>
          <a:xfrm>
            <a:off x="10639425" y="2494915"/>
            <a:ext cx="1631315" cy="852805"/>
          </a:xfrm>
          <a:prstGeom prst="rect">
            <a:avLst/>
          </a:prstGeom>
          <a:noFill/>
        </p:spPr>
        <p:txBody>
          <a:bodyPr wrap="square" anchor="ctr" anchorCtr="0" lIns="0" rIns="0" tIns="0" bIns="0">
            <a:noAutofit/>
          </a:bodyPr>
          <a:lstStyle/>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融合会员场景，</a:t>
            </a:r>
            <a:endParaRPr lang="zh-CN" altLang="en-US"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整合平台工具，</a:t>
            </a:r>
            <a:endParaRPr lang="zh-CN" altLang="en-US"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充分发挥会员价值</a:t>
            </a:r>
            <a:endParaRPr lang="zh-CN" altLang="en-US" sz="1000" dirty="0">
              <a:solidFill>
                <a:srgbClr val="383838"/>
              </a:solidFill>
              <a:latin typeface="微软雅黑"/>
              <a:ea typeface="微软雅黑"/>
              <a:cs typeface="微软雅黑"/>
            </a:endParaRPr>
          </a:p>
        </p:txBody>
      </p:sp>
      <p:grpSp>
        <p:nvGrpSpPr>
          <p:cNvPr id="70" name="组合 69"/>
          <p:cNvGrpSpPr/>
          <p:nvPr/>
        </p:nvGrpSpPr>
        <p:grpSpPr>
          <a:xfrm>
            <a:off x="10328275" y="2254885"/>
            <a:ext cx="1742440" cy="397510"/>
            <a:chOff x="15746" y="3705"/>
            <a:chExt cx="2744" cy="626"/>
          </a:xfrm>
        </p:grpSpPr>
        <p:sp>
          <p:nvSpPr>
            <p:cNvPr id="75" name="文本框 74"/>
            <p:cNvSpPr txBox="1"/>
            <p:nvPr/>
          </p:nvSpPr>
          <p:spPr>
            <a:xfrm>
              <a:off x="16197" y="3705"/>
              <a:ext cx="2293" cy="626"/>
            </a:xfrm>
            <a:prstGeom prst="rect">
              <a:avLst/>
            </a:prstGeom>
            <a:noFill/>
          </p:spPr>
          <p:txBody>
            <a:bodyPr wrap="square" anchor="ctr" anchorCtr="0">
              <a:noAutofit/>
            </a:bodyPr>
            <a:lstStyle/>
            <a:p>
              <a:pPr algn="l">
                <a:defRPr>
                  <a:latin typeface="微软雅黑"/>
                  <a:ea typeface="微软雅黑"/>
                  <a:cs typeface="微软雅黑"/>
                </a:defRPr>
              </a:pPr>
              <a:r>
                <a:rPr lang="zh-CN" altLang="en-US" sz="1200" b="1" dirty="0">
                  <a:solidFill>
                    <a:srgbClr val="0042FF"/>
                  </a:solidFill>
                  <a:latin typeface="微软雅黑"/>
                  <a:ea typeface="微软雅黑"/>
                  <a:cs typeface="微软雅黑"/>
                </a:rPr>
                <a:t>主题</a:t>
              </a:r>
              <a:r>
                <a:rPr lang="en-US" altLang="zh-CN" sz="1200" b="1" dirty="0">
                  <a:solidFill>
                    <a:srgbClr val="0042FF"/>
                  </a:solidFill>
                  <a:latin typeface="微软雅黑"/>
                  <a:ea typeface="微软雅黑"/>
                  <a:cs typeface="微软雅黑"/>
                </a:rPr>
                <a:t>2</a:t>
              </a:r>
              <a:r>
                <a:rPr lang="zh-CN" altLang="en-US" sz="1200" b="1" dirty="0">
                  <a:solidFill>
                    <a:srgbClr val="0042FF"/>
                  </a:solidFill>
                  <a:latin typeface="微软雅黑"/>
                  <a:ea typeface="微软雅黑"/>
                  <a:cs typeface="微软雅黑"/>
                </a:rPr>
                <a:t>：会员运营</a:t>
              </a:r>
              <a:endParaRPr lang="zh-CN" altLang="en-US" sz="1200" b="1" dirty="0">
                <a:solidFill>
                  <a:srgbClr val="0042FF"/>
                </a:solidFill>
                <a:latin typeface="微软雅黑"/>
                <a:ea typeface="微软雅黑"/>
                <a:cs typeface="微软雅黑"/>
              </a:endParaRPr>
            </a:p>
          </p:txBody>
        </p:sp>
        <p:cxnSp>
          <p:nvCxnSpPr>
            <p:cNvPr id="79" name="直接连接符 78"/>
            <p:cNvCxnSpPr/>
            <p:nvPr/>
          </p:nvCxnSpPr>
          <p:spPr>
            <a:xfrm flipH="1">
              <a:off x="15746" y="4267"/>
              <a:ext cx="2661" cy="0"/>
            </a:xfrm>
            <a:prstGeom prst="line">
              <a:avLst/>
            </a:prstGeom>
            <a:ln>
              <a:solidFill>
                <a:srgbClr val="3368FF"/>
              </a:solidFill>
              <a:tailEnd type="oval"/>
            </a:ln>
          </p:spPr>
          <p:style>
            <a:lnRef idx="2">
              <a:srgbClr val="0042FF"/>
            </a:lnRef>
            <a:fillRef idx="0">
              <a:srgbClr val="FFFFFF"/>
            </a:fillRef>
            <a:effectRef idx="0">
              <a:srgbClr val="FFFFFF"/>
            </a:effectRef>
            <a:fontRef idx="minor">
              <a:srgbClr val="383838"/>
            </a:fontRef>
          </p:style>
        </p:cxnSp>
      </p:grpSp>
      <p:sp>
        <p:nvSpPr>
          <p:cNvPr id="121" name="文本框 120"/>
          <p:cNvSpPr txBox="1"/>
          <p:nvPr/>
        </p:nvSpPr>
        <p:spPr>
          <a:xfrm>
            <a:off x="10690860" y="3508375"/>
            <a:ext cx="1377950" cy="852805"/>
          </a:xfrm>
          <a:prstGeom prst="rect">
            <a:avLst/>
          </a:prstGeom>
          <a:noFill/>
        </p:spPr>
        <p:txBody>
          <a:bodyPr wrap="square" anchor="ctr" anchorCtr="0" lIns="0" rIns="0" tIns="0" bIns="0">
            <a:noAutofit/>
          </a:bodyPr>
          <a:lstStyle/>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品类策略规划，</a:t>
            </a:r>
            <a:endParaRPr lang="zh-CN" altLang="en-US"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从战略制定到落地，复盘反馈闭环</a:t>
            </a:r>
            <a:endParaRPr lang="zh-CN" altLang="en-US" sz="1000" dirty="0">
              <a:solidFill>
                <a:srgbClr val="383838"/>
              </a:solidFill>
              <a:latin typeface="微软雅黑"/>
              <a:ea typeface="微软雅黑"/>
              <a:cs typeface="微软雅黑"/>
            </a:endParaRPr>
          </a:p>
        </p:txBody>
      </p:sp>
      <p:grpSp>
        <p:nvGrpSpPr>
          <p:cNvPr id="122" name="组合 121"/>
          <p:cNvGrpSpPr/>
          <p:nvPr/>
        </p:nvGrpSpPr>
        <p:grpSpPr>
          <a:xfrm>
            <a:off x="10379710" y="3268345"/>
            <a:ext cx="1742440" cy="397510"/>
            <a:chOff x="15746" y="3705"/>
            <a:chExt cx="2744" cy="626"/>
          </a:xfrm>
        </p:grpSpPr>
        <p:sp>
          <p:nvSpPr>
            <p:cNvPr id="128" name="文本框 127"/>
            <p:cNvSpPr txBox="1"/>
            <p:nvPr/>
          </p:nvSpPr>
          <p:spPr>
            <a:xfrm>
              <a:off x="16197" y="3705"/>
              <a:ext cx="2293" cy="626"/>
            </a:xfrm>
            <a:prstGeom prst="rect">
              <a:avLst/>
            </a:prstGeom>
            <a:noFill/>
          </p:spPr>
          <p:txBody>
            <a:bodyPr wrap="square" anchor="ctr" anchorCtr="0">
              <a:noAutofit/>
            </a:bodyPr>
            <a:lstStyle/>
            <a:p>
              <a:pPr algn="l">
                <a:defRPr>
                  <a:latin typeface="微软雅黑"/>
                  <a:ea typeface="微软雅黑"/>
                  <a:cs typeface="微软雅黑"/>
                </a:defRPr>
              </a:pPr>
              <a:r>
                <a:rPr lang="zh-CN" altLang="en-US" sz="1200" b="1" dirty="0">
                  <a:solidFill>
                    <a:srgbClr val="0042FF"/>
                  </a:solidFill>
                  <a:latin typeface="微软雅黑"/>
                  <a:ea typeface="微软雅黑"/>
                  <a:cs typeface="微软雅黑"/>
                </a:rPr>
                <a:t>主题</a:t>
              </a:r>
              <a:r>
                <a:rPr lang="en-US" altLang="zh-CN" sz="1200" b="1" dirty="0">
                  <a:solidFill>
                    <a:srgbClr val="0042FF"/>
                  </a:solidFill>
                  <a:latin typeface="微软雅黑"/>
                  <a:ea typeface="微软雅黑"/>
                  <a:cs typeface="微软雅黑"/>
                </a:rPr>
                <a:t>3</a:t>
              </a:r>
              <a:r>
                <a:rPr lang="zh-CN" altLang="en-US" sz="1200" b="1" dirty="0">
                  <a:solidFill>
                    <a:srgbClr val="0042FF"/>
                  </a:solidFill>
                  <a:latin typeface="微软雅黑"/>
                  <a:ea typeface="微软雅黑"/>
                  <a:cs typeface="微软雅黑"/>
                </a:rPr>
                <a:t>：品类创新</a:t>
              </a:r>
              <a:endParaRPr lang="en-US" altLang="zh-CN" sz="1200" b="1" dirty="0">
                <a:solidFill>
                  <a:srgbClr val="0042FF"/>
                </a:solidFill>
                <a:latin typeface="微软雅黑"/>
                <a:ea typeface="微软雅黑"/>
                <a:cs typeface="微软雅黑"/>
              </a:endParaRPr>
            </a:p>
          </p:txBody>
        </p:sp>
        <p:cxnSp>
          <p:nvCxnSpPr>
            <p:cNvPr id="129" name="直接连接符 128"/>
            <p:cNvCxnSpPr/>
            <p:nvPr/>
          </p:nvCxnSpPr>
          <p:spPr>
            <a:xfrm flipH="1">
              <a:off x="15746" y="4267"/>
              <a:ext cx="2661" cy="0"/>
            </a:xfrm>
            <a:prstGeom prst="line">
              <a:avLst/>
            </a:prstGeom>
            <a:ln>
              <a:solidFill>
                <a:srgbClr val="3368FF"/>
              </a:solidFill>
              <a:tailEnd type="oval"/>
            </a:ln>
          </p:spPr>
          <p:style>
            <a:lnRef idx="2">
              <a:srgbClr val="0042FF"/>
            </a:lnRef>
            <a:fillRef idx="0">
              <a:srgbClr val="FFFFFF"/>
            </a:fillRef>
            <a:effectRef idx="0">
              <a:srgbClr val="FFFFFF"/>
            </a:effectRef>
            <a:fontRef idx="minor">
              <a:srgbClr val="383838"/>
            </a:fontRef>
          </p:style>
        </p:cxnSp>
      </p:grpSp>
      <p:sp>
        <p:nvSpPr>
          <p:cNvPr id="133" name="文本框 132"/>
          <p:cNvSpPr txBox="1"/>
          <p:nvPr/>
        </p:nvSpPr>
        <p:spPr>
          <a:xfrm>
            <a:off x="10666095" y="4413885"/>
            <a:ext cx="1631315" cy="852805"/>
          </a:xfrm>
          <a:prstGeom prst="rect">
            <a:avLst/>
          </a:prstGeom>
          <a:noFill/>
        </p:spPr>
        <p:txBody>
          <a:bodyPr wrap="square" anchor="ctr" anchorCtr="0" lIns="0" rIns="0" tIns="0" bIns="0">
            <a:noAutofit/>
          </a:bodyPr>
          <a:lstStyle/>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多点触达，</a:t>
            </a:r>
            <a:endParaRPr lang="zh-CN" altLang="en-US"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精细化精准运营</a:t>
            </a:r>
            <a:endParaRPr lang="zh-CN" altLang="en-US" sz="1000" dirty="0">
              <a:solidFill>
                <a:srgbClr val="383838"/>
              </a:solidFill>
              <a:latin typeface="微软雅黑"/>
              <a:ea typeface="微软雅黑"/>
              <a:cs typeface="微软雅黑"/>
            </a:endParaRPr>
          </a:p>
        </p:txBody>
      </p:sp>
      <p:grpSp>
        <p:nvGrpSpPr>
          <p:cNvPr id="134" name="组合 133"/>
          <p:cNvGrpSpPr/>
          <p:nvPr/>
        </p:nvGrpSpPr>
        <p:grpSpPr>
          <a:xfrm>
            <a:off x="10354945" y="4219575"/>
            <a:ext cx="1742440" cy="397510"/>
            <a:chOff x="15746" y="3705"/>
            <a:chExt cx="2744" cy="626"/>
          </a:xfrm>
        </p:grpSpPr>
        <p:sp>
          <p:nvSpPr>
            <p:cNvPr id="135" name="文本框 134"/>
            <p:cNvSpPr txBox="1"/>
            <p:nvPr/>
          </p:nvSpPr>
          <p:spPr>
            <a:xfrm>
              <a:off x="16197" y="3705"/>
              <a:ext cx="2293" cy="626"/>
            </a:xfrm>
            <a:prstGeom prst="rect">
              <a:avLst/>
            </a:prstGeom>
            <a:noFill/>
          </p:spPr>
          <p:txBody>
            <a:bodyPr wrap="square" anchor="ctr" anchorCtr="0">
              <a:noAutofit/>
            </a:bodyPr>
            <a:lstStyle/>
            <a:p>
              <a:pPr algn="l">
                <a:defRPr>
                  <a:latin typeface="微软雅黑"/>
                  <a:ea typeface="微软雅黑"/>
                  <a:cs typeface="微软雅黑"/>
                </a:defRPr>
              </a:pPr>
              <a:r>
                <a:rPr lang="zh-CN" altLang="en-US" sz="1200" b="1" dirty="0">
                  <a:solidFill>
                    <a:srgbClr val="0042FF"/>
                  </a:solidFill>
                  <a:latin typeface="微软雅黑"/>
                  <a:ea typeface="微软雅黑"/>
                  <a:cs typeface="微软雅黑"/>
                </a:rPr>
                <a:t>主题</a:t>
              </a:r>
              <a:r>
                <a:rPr lang="en-US" altLang="zh-CN" sz="1200" b="1" dirty="0">
                  <a:solidFill>
                    <a:srgbClr val="0042FF"/>
                  </a:solidFill>
                  <a:latin typeface="微软雅黑"/>
                  <a:ea typeface="微软雅黑"/>
                  <a:cs typeface="微软雅黑"/>
                </a:rPr>
                <a:t>3</a:t>
              </a:r>
              <a:r>
                <a:rPr lang="zh-CN" altLang="en-US" sz="1200" b="1" dirty="0">
                  <a:solidFill>
                    <a:srgbClr val="0042FF"/>
                  </a:solidFill>
                  <a:latin typeface="微软雅黑"/>
                  <a:ea typeface="微软雅黑"/>
                  <a:cs typeface="微软雅黑"/>
                </a:rPr>
                <a:t>：内容运营</a:t>
              </a:r>
              <a:endParaRPr lang="zh-CN" altLang="en-US" sz="1200" b="1" dirty="0">
                <a:solidFill>
                  <a:srgbClr val="0042FF"/>
                </a:solidFill>
                <a:latin typeface="微软雅黑"/>
                <a:ea typeface="微软雅黑"/>
                <a:cs typeface="微软雅黑"/>
              </a:endParaRPr>
            </a:p>
          </p:txBody>
        </p:sp>
        <p:cxnSp>
          <p:nvCxnSpPr>
            <p:cNvPr id="136" name="直接连接符 135"/>
            <p:cNvCxnSpPr/>
            <p:nvPr/>
          </p:nvCxnSpPr>
          <p:spPr>
            <a:xfrm flipH="1">
              <a:off x="15746" y="4267"/>
              <a:ext cx="2661" cy="0"/>
            </a:xfrm>
            <a:prstGeom prst="line">
              <a:avLst/>
            </a:prstGeom>
            <a:ln>
              <a:solidFill>
                <a:srgbClr val="3368FF"/>
              </a:solidFill>
              <a:tailEnd type="oval"/>
            </a:ln>
          </p:spPr>
          <p:style>
            <a:lnRef idx="2">
              <a:srgbClr val="0042FF"/>
            </a:lnRef>
            <a:fillRef idx="0">
              <a:srgbClr val="FFFFFF"/>
            </a:fillRef>
            <a:effectRef idx="0">
              <a:srgbClr val="FFFFFF"/>
            </a:effectRef>
            <a:fontRef idx="minor">
              <a:srgbClr val="383838"/>
            </a:fontRef>
          </p:style>
        </p:cxnSp>
      </p:grpSp>
      <p:grpSp>
        <p:nvGrpSpPr>
          <p:cNvPr id="3" name="组合 2"/>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3"/>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矩形 98"/>
          <p:cNvSpPr/>
          <p:nvPr>
            <p:custDataLst>
              <p:tags r:id="rId1"/>
            </p:custDataLst>
          </p:nvPr>
        </p:nvSpPr>
        <p:spPr>
          <a:xfrm>
            <a:off x="4208145" y="2983865"/>
            <a:ext cx="4464050" cy="2390140"/>
          </a:xfrm>
          <a:prstGeom prst="rect">
            <a:avLst/>
          </a:prstGeom>
          <a:gradFill flip="none" rotWithShape="1">
            <a:gsLst>
              <a:gs pos="18000">
                <a:srgbClr val="FFFFFF">
                  <a:alpha val="40000"/>
                </a:srgbClr>
              </a:gs>
              <a:gs pos="100000">
                <a:srgbClr val="FFFFFF">
                  <a:alpha val="0"/>
                </a:srgbClr>
              </a:gs>
            </a:gsLst>
            <a:lin ang="5400000" scaled="1"/>
            <a:tileRect/>
          </a:gra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9" name="矩形 18"/>
          <p:cNvSpPr/>
          <p:nvPr>
            <p:custDataLst>
              <p:tags r:id="rId2"/>
            </p:custDataLst>
          </p:nvPr>
        </p:nvSpPr>
        <p:spPr>
          <a:xfrm>
            <a:off x="1250950" y="2983865"/>
            <a:ext cx="2903220" cy="2390140"/>
          </a:xfrm>
          <a:prstGeom prst="rect">
            <a:avLst/>
          </a:prstGeom>
          <a:gradFill flip="none" rotWithShape="1">
            <a:gsLst>
              <a:gs pos="18000">
                <a:srgbClr val="E6E6E6">
                  <a:alpha val="40000"/>
                </a:srgbClr>
              </a:gs>
              <a:gs pos="100000">
                <a:srgbClr val="E6E6E6">
                  <a:alpha val="10000"/>
                </a:srgbClr>
              </a:gs>
            </a:gsLst>
            <a:lin ang="5400000" scaled="1"/>
            <a:tileRect/>
          </a:gra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rPr>
              <a:t>全域可持续的客户运营模型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55600" y="186055"/>
            <a:ext cx="549910" cy="549910"/>
          </a:xfrm>
          <a:prstGeom prst="rect">
            <a:avLst/>
          </a:prstGeom>
        </p:spPr>
      </p:pic>
      <p:sp>
        <p:nvSpPr>
          <p:cNvPr id="9" name="矩形 8"/>
          <p:cNvSpPr/>
          <p:nvPr>
            <p:custDataLst>
              <p:tags r:id="rId5"/>
            </p:custDataLst>
          </p:nvPr>
        </p:nvSpPr>
        <p:spPr>
          <a:xfrm>
            <a:off x="1250950" y="2459355"/>
            <a:ext cx="2896870" cy="443865"/>
          </a:xfrm>
          <a:prstGeom prst="rect">
            <a:avLst/>
          </a:prstGeom>
          <a:gradFill flip="none" rotWithShape="1">
            <a:gsLst>
              <a:gs pos="18000">
                <a:srgbClr val="0042FF"/>
              </a:gs>
              <a:gs pos="100000">
                <a:srgbClr val="3368FF"/>
              </a:gs>
            </a:gsLst>
            <a:path path="circle">
              <a:fillToRect l="50000" t="50000" r="50000" b="50000"/>
            </a:path>
            <a:tileRect/>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Capital</a:t>
            </a:r>
            <a:endParaRPr lang="en-US" altLang="zh-CN" sz="12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可持续运营关系数</a:t>
            </a:r>
            <a:endParaRPr lang="en-US" altLang="zh-CN" sz="1200" b="1" dirty="0">
              <a:solidFill>
                <a:srgbClr val="FFFFFF"/>
              </a:solidFill>
              <a:latin typeface="微软雅黑"/>
              <a:ea typeface="微软雅黑"/>
              <a:cs typeface="微软雅黑"/>
              <a:sym typeface="微软雅黑"/>
            </a:endParaRPr>
          </a:p>
        </p:txBody>
      </p:sp>
      <p:sp>
        <p:nvSpPr>
          <p:cNvPr id="11" name="矩形 10"/>
          <p:cNvSpPr/>
          <p:nvPr>
            <p:custDataLst>
              <p:tags r:id="rId6"/>
            </p:custDataLst>
          </p:nvPr>
        </p:nvSpPr>
        <p:spPr>
          <a:xfrm>
            <a:off x="4208780" y="2459355"/>
            <a:ext cx="2195830" cy="443865"/>
          </a:xfrm>
          <a:prstGeom prst="rect">
            <a:avLst/>
          </a:prstGeom>
          <a:gradFill flip="none" rotWithShape="1">
            <a:gsLst>
              <a:gs pos="18000">
                <a:srgbClr val="3368FF"/>
              </a:gs>
              <a:gs pos="100000">
                <a:srgbClr val="B3D4FE"/>
              </a:gs>
            </a:gsLst>
            <a:path path="circle">
              <a:fillToRect l="50000" t="50000" r="50000" b="50000"/>
            </a:path>
            <a:tileRect/>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Conversion</a:t>
            </a:r>
            <a:endParaRPr lang="en-US" altLang="zh-CN" sz="12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角色关系加深效率</a:t>
            </a:r>
            <a:endParaRPr lang="en-US" altLang="zh-CN" sz="1200" b="1" dirty="0">
              <a:solidFill>
                <a:srgbClr val="FFFFFF"/>
              </a:solidFill>
              <a:latin typeface="微软雅黑"/>
              <a:ea typeface="微软雅黑"/>
              <a:cs typeface="微软雅黑"/>
              <a:sym typeface="微软雅黑"/>
            </a:endParaRPr>
          </a:p>
        </p:txBody>
      </p:sp>
      <p:sp>
        <p:nvSpPr>
          <p:cNvPr id="12" name="矩形 11"/>
          <p:cNvSpPr/>
          <p:nvPr>
            <p:custDataLst>
              <p:tags r:id="rId7"/>
            </p:custDataLst>
          </p:nvPr>
        </p:nvSpPr>
        <p:spPr>
          <a:xfrm>
            <a:off x="6478905" y="2459355"/>
            <a:ext cx="2195195" cy="443865"/>
          </a:xfrm>
          <a:prstGeom prst="rect">
            <a:avLst/>
          </a:prstGeom>
          <a:gradFill flip="none" rotWithShape="1">
            <a:gsLst>
              <a:gs pos="18000">
                <a:srgbClr val="3368FF"/>
              </a:gs>
              <a:gs pos="100000">
                <a:srgbClr val="B3D4FE"/>
              </a:gs>
            </a:gsLst>
            <a:path path="circle">
              <a:fillToRect l="50000" t="50000" r="50000" b="50000"/>
            </a:path>
            <a:tileRect/>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Connection</a:t>
            </a:r>
            <a:endParaRPr lang="en-US" altLang="zh-CN" sz="12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场域引力</a:t>
            </a:r>
            <a:endParaRPr lang="en-US" altLang="zh-CN" sz="1200" b="1" dirty="0">
              <a:solidFill>
                <a:srgbClr val="FFFFFF"/>
              </a:solidFill>
              <a:latin typeface="微软雅黑"/>
              <a:ea typeface="微软雅黑"/>
              <a:cs typeface="微软雅黑"/>
              <a:sym typeface="微软雅黑"/>
            </a:endParaRPr>
          </a:p>
        </p:txBody>
      </p:sp>
      <p:sp>
        <p:nvSpPr>
          <p:cNvPr id="13" name="矩形 12"/>
          <p:cNvSpPr/>
          <p:nvPr>
            <p:custDataLst>
              <p:tags r:id="rId8"/>
            </p:custDataLst>
          </p:nvPr>
        </p:nvSpPr>
        <p:spPr>
          <a:xfrm>
            <a:off x="8722360" y="2459355"/>
            <a:ext cx="3165475" cy="443865"/>
          </a:xfrm>
          <a:prstGeom prst="rect">
            <a:avLst/>
          </a:prstGeom>
          <a:gradFill flip="none" rotWithShape="1">
            <a:gsLst>
              <a:gs pos="18000">
                <a:srgbClr val="0042FF"/>
              </a:gs>
              <a:gs pos="100000">
                <a:srgbClr val="3368FF"/>
              </a:gs>
            </a:gsLst>
            <a:path path="circle">
              <a:fillToRect l="50000" t="50000" r="50000" b="50000"/>
            </a:path>
            <a:tileRect/>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CLV</a:t>
            </a:r>
            <a:endParaRPr lang="en-US" altLang="zh-CN" sz="12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角色关系价值</a:t>
            </a:r>
            <a:endParaRPr lang="en-US" altLang="zh-CN" sz="1200" b="1" dirty="0">
              <a:solidFill>
                <a:srgbClr val="FFFFFF"/>
              </a:solidFill>
              <a:latin typeface="微软雅黑"/>
              <a:ea typeface="微软雅黑"/>
              <a:cs typeface="微软雅黑"/>
              <a:sym typeface="微软雅黑"/>
            </a:endParaRPr>
          </a:p>
        </p:txBody>
      </p:sp>
      <p:sp>
        <p:nvSpPr>
          <p:cNvPr id="14" name="文本框 13"/>
          <p:cNvSpPr txBox="1"/>
          <p:nvPr>
            <p:custDataLst>
              <p:tags r:id="rId9"/>
            </p:custDataLst>
          </p:nvPr>
        </p:nvSpPr>
        <p:spPr>
          <a:xfrm>
            <a:off x="182880" y="3910965"/>
            <a:ext cx="845820" cy="645795"/>
          </a:xfrm>
          <a:prstGeom prst="rect">
            <a:avLst/>
          </a:prstGeom>
          <a:noFill/>
          <a:ln>
            <a:noFill/>
          </a:ln>
        </p:spPr>
        <p:txBody>
          <a:bodyPr wrap="square" lIns="0" tIns="0" rIns="0" bIns="0">
            <a:spAutoFit/>
          </a:bodyPr>
          <a:lstStyle/>
          <a:p>
            <a:pPr algn="ctr">
              <a:defRPr>
                <a:latin typeface="微软雅黑"/>
                <a:ea typeface="微软雅黑"/>
                <a:cs typeface="微软雅黑"/>
              </a:defRPr>
            </a:pPr>
            <a:r>
              <a:rPr lang="en-US" altLang="zh-CN" sz="1200" b="1" dirty="0">
                <a:solidFill>
                  <a:srgbClr val="383838"/>
                </a:solidFill>
                <a:latin typeface="微软雅黑"/>
                <a:ea typeface="微软雅黑"/>
                <a:cs typeface="微软雅黑"/>
              </a:rPr>
              <a:t>‘FAST+’</a:t>
            </a:r>
            <a:endParaRPr lang="en-US" altLang="zh-CN" sz="12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以私域为核心的全域消费者运营模型</a:t>
            </a:r>
            <a:endParaRPr lang="zh-CN" altLang="en-US" sz="1000" dirty="0">
              <a:solidFill>
                <a:srgbClr val="383838"/>
              </a:solidFill>
              <a:latin typeface="微软雅黑"/>
              <a:ea typeface="微软雅黑"/>
              <a:cs typeface="微软雅黑"/>
            </a:endParaRPr>
          </a:p>
        </p:txBody>
      </p:sp>
      <p:sp>
        <p:nvSpPr>
          <p:cNvPr id="15" name="左大括号 14"/>
          <p:cNvSpPr/>
          <p:nvPr>
            <p:custDataLst>
              <p:tags r:id="rId10"/>
            </p:custDataLst>
          </p:nvPr>
        </p:nvSpPr>
        <p:spPr>
          <a:xfrm>
            <a:off x="1044575" y="3104515"/>
            <a:ext cx="136525" cy="2201545"/>
          </a:xfrm>
          <a:prstGeom prst="leftBrace">
            <a:avLst>
              <a:gd name="adj1" fmla="val 420232"/>
              <a:gd name="adj2" fmla="val 51370"/>
            </a:avLst>
          </a:prstGeom>
          <a:ln w="12700">
            <a:solidFill>
              <a:srgbClr val="383838"/>
            </a:solidFill>
            <a:prstDash val="sysDash"/>
          </a:ln>
        </p:spPr>
        <p:style>
          <a:lnRef idx="1">
            <a:srgbClr val="FF4200"/>
          </a:lnRef>
          <a:fillRef idx="0">
            <a:srgbClr val="FF4200"/>
          </a:fillRef>
          <a:effectRef idx="0">
            <a:srgbClr val="FF4200"/>
          </a:effectRef>
          <a:fontRef idx="minor">
            <a:srgbClr val="FFFFFF"/>
          </a:fontRef>
        </p:style>
        <p:txBody>
          <a:bodyPr rtlCol="0" anchor="ctr" lIns="0" rIns="0" tIns="0" bIns="0"/>
          <a:lstStyle/>
          <a:p>
            <a:pPr algn="ctr">
              <a:defRPr>
                <a:latin typeface="微软雅黑"/>
                <a:ea typeface="微软雅黑"/>
                <a:cs typeface="微软雅黑"/>
              </a:defRPr>
            </a:pPr>
            <a:r>
              <a:rPr lang="en-US" altLang="en-US" dirty="0">
                <a:solidFill>
                  <a:srgbClr val="383838"/>
                </a:solidFill>
                <a:latin typeface="微软雅黑"/>
                <a:ea typeface="微软雅黑"/>
                <a:cs typeface="微软雅黑"/>
              </a:rPr>
              <a:t>          </a:t>
            </a:r>
            <a:endParaRPr lang="en-US" altLang="en-US" dirty="0">
              <a:solidFill>
                <a:srgbClr val="383838"/>
              </a:solidFill>
              <a:latin typeface="微软雅黑"/>
              <a:ea typeface="微软雅黑"/>
              <a:cs typeface="微软雅黑"/>
            </a:endParaRPr>
          </a:p>
        </p:txBody>
      </p:sp>
      <p:sp>
        <p:nvSpPr>
          <p:cNvPr id="16" name="紫荆的职场Point28"/>
          <p:cNvSpPr/>
          <p:nvPr/>
        </p:nvSpPr>
        <p:spPr>
          <a:xfrm>
            <a:off x="1383665" y="1746250"/>
            <a:ext cx="10504170" cy="661670"/>
          </a:xfrm>
          <a:prstGeom prst="triangle">
            <a:avLst/>
          </a:prstGeom>
          <a:gradFill flip="none" rotWithShape="1">
            <a:gsLst>
              <a:gs pos="0">
                <a:srgbClr val="3368FF"/>
              </a:gs>
              <a:gs pos="100000">
                <a:srgbClr val="E6E6E6">
                  <a:alpha val="0"/>
                </a:srgbClr>
              </a:gs>
            </a:gsLst>
            <a:lin ang="5400000" scaled="1"/>
            <a:tileRect/>
          </a:gradFill>
          <a:ln w="19050" cap="flat" cmpd="sng" algn="ctr">
            <a:gradFill flip="none" rotWithShape="1">
              <a:gsLst>
                <a:gs pos="0">
                  <a:srgbClr val="0042FF"/>
                </a:gs>
                <a:gs pos="100000">
                  <a:srgbClr val="0042FF">
                    <a:alpha val="0"/>
                  </a:srgbClr>
                </a:gs>
              </a:gsLst>
              <a:lin ang="5400000" scaled="1"/>
              <a:tileRect/>
            </a:grad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7" name="textbox 2040"/>
          <p:cNvSpPr/>
          <p:nvPr/>
        </p:nvSpPr>
        <p:spPr>
          <a:xfrm>
            <a:off x="4361180" y="2037080"/>
            <a:ext cx="4142740" cy="307340"/>
          </a:xfrm>
          <a:prstGeom prst="rect">
            <a:avLst/>
          </a:prstGeom>
        </p:spPr>
        <p:txBody>
          <a:bodyPr vert="horz" wrap="square" lIns="0" tIns="0" rIns="0" bIns="0">
            <a:spAutoFit/>
          </a:bodyPr>
          <a:lstStyle/>
          <a:p>
            <a:pPr algn="ctr" rtl="0" eaLnBrk="0">
              <a:defRPr>
                <a:solidFill>
                  <a:srgbClr val="383838"/>
                </a:solidFill>
                <a:latin typeface="微软雅黑"/>
                <a:ea typeface="微软雅黑"/>
                <a:cs typeface="微软雅黑"/>
              </a:defRPr>
            </a:pPr>
            <a:r>
              <a:rPr lang="zh-CN" altLang="en-US" sz="2000" b="1" dirty="0">
                <a:solidFill>
                  <a:srgbClr val="383838"/>
                </a:solidFill>
                <a:latin typeface="微软雅黑"/>
                <a:ea typeface="微软雅黑"/>
                <a:cs typeface="微软雅黑"/>
              </a:rPr>
              <a:t>可持续运营的高价值用户资产</a:t>
            </a:r>
            <a:endParaRPr lang="zh-CN" altLang="en-US" sz="2000" b="1" dirty="0">
              <a:solidFill>
                <a:srgbClr val="383838"/>
              </a:solidFill>
              <a:latin typeface="微软雅黑"/>
              <a:ea typeface="微软雅黑"/>
              <a:cs typeface="微软雅黑"/>
            </a:endParaRPr>
          </a:p>
        </p:txBody>
      </p:sp>
      <p:sp>
        <p:nvSpPr>
          <p:cNvPr id="20" name="文本框 19"/>
          <p:cNvSpPr txBox="1"/>
          <p:nvPr>
            <p:custDataLst>
              <p:tags r:id="rId11"/>
            </p:custDataLst>
          </p:nvPr>
        </p:nvSpPr>
        <p:spPr>
          <a:xfrm>
            <a:off x="1995170" y="3055620"/>
            <a:ext cx="1605915" cy="215265"/>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私域用户角色关系图</a:t>
            </a:r>
            <a:endParaRPr lang="zh-CN" altLang="en-US" sz="1400" b="1" dirty="0">
              <a:solidFill>
                <a:srgbClr val="0042FF"/>
              </a:solidFill>
              <a:latin typeface="微软雅黑"/>
              <a:ea typeface="微软雅黑"/>
              <a:cs typeface="微软雅黑"/>
            </a:endParaRPr>
          </a:p>
        </p:txBody>
      </p:sp>
      <p:sp>
        <p:nvSpPr>
          <p:cNvPr id="21" name="文本框 20"/>
          <p:cNvSpPr txBox="1"/>
          <p:nvPr>
            <p:custDataLst>
              <p:tags r:id="rId12"/>
            </p:custDataLst>
          </p:nvPr>
        </p:nvSpPr>
        <p:spPr>
          <a:xfrm>
            <a:off x="1574800" y="3408680"/>
            <a:ext cx="561340" cy="16891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rPr>
              <a:t>连接关系</a:t>
            </a:r>
            <a:endParaRPr lang="zh-CN" altLang="en-US" sz="1100" b="1" dirty="0">
              <a:solidFill>
                <a:srgbClr val="383838"/>
              </a:solidFill>
              <a:latin typeface="微软雅黑"/>
              <a:ea typeface="微软雅黑"/>
              <a:cs typeface="微软雅黑"/>
            </a:endParaRPr>
          </a:p>
        </p:txBody>
      </p:sp>
      <p:sp>
        <p:nvSpPr>
          <p:cNvPr id="47" name="文本框 46"/>
          <p:cNvSpPr txBox="1"/>
          <p:nvPr>
            <p:custDataLst>
              <p:tags r:id="rId13"/>
            </p:custDataLst>
          </p:nvPr>
        </p:nvSpPr>
        <p:spPr>
          <a:xfrm>
            <a:off x="3143250" y="3408680"/>
            <a:ext cx="561340" cy="168910"/>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rPr>
              <a:t>触达通道</a:t>
            </a:r>
            <a:endParaRPr lang="zh-CN" altLang="en-US" sz="1100" b="1" dirty="0">
              <a:solidFill>
                <a:srgbClr val="383838"/>
              </a:solidFill>
              <a:latin typeface="微软雅黑"/>
              <a:ea typeface="微软雅黑"/>
              <a:cs typeface="微软雅黑"/>
            </a:endParaRPr>
          </a:p>
        </p:txBody>
      </p:sp>
      <p:sp>
        <p:nvSpPr>
          <p:cNvPr id="49" name="箭头: 五边形 32"/>
          <p:cNvSpPr/>
          <p:nvPr>
            <p:custDataLst>
              <p:tags r:id="rId14"/>
            </p:custDataLst>
          </p:nvPr>
        </p:nvSpPr>
        <p:spPr>
          <a:xfrm>
            <a:off x="1567815" y="4977765"/>
            <a:ext cx="1385570" cy="284480"/>
          </a:xfrm>
          <a:prstGeom prst="homePlate">
            <a:avLst/>
          </a:prstGeom>
          <a:gradFill>
            <a:gsLst>
              <a:gs pos="0">
                <a:srgbClr val="3368FF">
                  <a:alpha val="15000"/>
                </a:srgbClr>
              </a:gs>
              <a:gs pos="100000">
                <a:srgbClr val="3368FF">
                  <a:alpha val="0"/>
                </a:srgbClr>
              </a:gs>
            </a:gsLst>
            <a:lin ang="10800000" scaled="1"/>
          </a:gradFill>
          <a:ln w="15875" cap="flat" cmpd="sng" algn="ctr">
            <a:gradFill flip="none" rotWithShape="1">
              <a:gsLst>
                <a:gs pos="0">
                  <a:srgbClr val="0042FF"/>
                </a:gs>
                <a:gs pos="100000">
                  <a:srgbClr val="0042FF">
                    <a:alpha val="0"/>
                  </a:srgbClr>
                </a:gs>
              </a:gsLst>
              <a:lin ang="10800000" scaled="1"/>
              <a:tileRect/>
            </a:gradFill>
            <a:prstDash val="solid"/>
            <a:miter lim="800000"/>
          </a:ln>
          <a:effectLst/>
        </p:spPr>
        <p:txBody>
          <a:bodyPr rtlCol="0" anchor="ctr">
            <a:noAutofit/>
          </a:bodyPr>
          <a:lstStyle/>
          <a:p>
            <a:pPr lvl="0" algn="l">
              <a:buClrTx/>
              <a:buSzTx/>
              <a:buFontTx/>
              <a:defRPr>
                <a:latin typeface="微软雅黑"/>
                <a:ea typeface="微软雅黑"/>
                <a:cs typeface="微软雅黑"/>
              </a:defRPr>
            </a:pPr>
            <a:r>
              <a:rPr lang="zh-CN" altLang="en-US" sz="1100">
                <a:solidFill>
                  <a:srgbClr val="0042FF"/>
                </a:solidFill>
                <a:latin typeface="微软雅黑"/>
                <a:ea typeface="微软雅黑"/>
                <a:cs typeface="微软雅黑"/>
                <a:sym typeface="微软雅黑"/>
              </a:rPr>
              <a:t>基础私域用户</a:t>
            </a:r>
            <a:endParaRPr lang="zh-CN" altLang="en-US" sz="1100">
              <a:solidFill>
                <a:srgbClr val="0042FF"/>
              </a:solidFill>
              <a:latin typeface="微软雅黑"/>
              <a:ea typeface="微软雅黑"/>
              <a:cs typeface="微软雅黑"/>
              <a:sym typeface="微软雅黑"/>
            </a:endParaRPr>
          </a:p>
        </p:txBody>
      </p:sp>
      <p:sp>
        <p:nvSpPr>
          <p:cNvPr id="50" name="箭头: 五边形 33"/>
          <p:cNvSpPr/>
          <p:nvPr>
            <p:custDataLst>
              <p:tags r:id="rId15"/>
            </p:custDataLst>
          </p:nvPr>
        </p:nvSpPr>
        <p:spPr>
          <a:xfrm>
            <a:off x="1567815" y="4642485"/>
            <a:ext cx="1209040" cy="284480"/>
          </a:xfrm>
          <a:prstGeom prst="homePlate">
            <a:avLst/>
          </a:prstGeom>
          <a:gradFill>
            <a:gsLst>
              <a:gs pos="0">
                <a:srgbClr val="3368FF">
                  <a:alpha val="15000"/>
                </a:srgbClr>
              </a:gs>
              <a:gs pos="100000">
                <a:srgbClr val="3368FF">
                  <a:alpha val="0"/>
                </a:srgbClr>
              </a:gs>
            </a:gsLst>
            <a:lin ang="10800000" scaled="1"/>
          </a:gradFill>
          <a:ln w="15875" cap="flat" cmpd="sng" algn="ctr">
            <a:gradFill flip="none" rotWithShape="1">
              <a:gsLst>
                <a:gs pos="0">
                  <a:srgbClr val="0042FF"/>
                </a:gs>
                <a:gs pos="100000">
                  <a:srgbClr val="0042FF">
                    <a:alpha val="0"/>
                  </a:srgbClr>
                </a:gs>
              </a:gsLst>
              <a:lin ang="10800000" scaled="1"/>
              <a:tileRect/>
            </a:gradFill>
            <a:prstDash val="solid"/>
            <a:miter lim="800000"/>
          </a:ln>
          <a:effectLst/>
        </p:spPr>
        <p:txBody>
          <a:bodyPr rtlCol="0" anchor="ctr">
            <a:noAutofit/>
          </a:bodyPr>
          <a:lstStyle/>
          <a:p>
            <a:pPr lvl="0" algn="l">
              <a:buClrTx/>
              <a:buSzTx/>
              <a:buFontTx/>
              <a:defRPr>
                <a:latin typeface="微软雅黑"/>
                <a:ea typeface="微软雅黑"/>
                <a:cs typeface="微软雅黑"/>
              </a:defRPr>
            </a:pPr>
            <a:r>
              <a:rPr lang="zh-CN" altLang="en-US" sz="1100">
                <a:solidFill>
                  <a:srgbClr val="0042FF"/>
                </a:solidFill>
                <a:latin typeface="微软雅黑"/>
                <a:ea typeface="微软雅黑"/>
                <a:cs typeface="微软雅黑"/>
                <a:sym typeface="微软雅黑"/>
              </a:rPr>
              <a:t>未购会员</a:t>
            </a:r>
            <a:endParaRPr lang="zh-CN" altLang="en-US" sz="1100">
              <a:solidFill>
                <a:srgbClr val="0042FF"/>
              </a:solidFill>
              <a:latin typeface="微软雅黑"/>
              <a:ea typeface="微软雅黑"/>
              <a:cs typeface="微软雅黑"/>
              <a:sym typeface="微软雅黑"/>
            </a:endParaRPr>
          </a:p>
        </p:txBody>
      </p:sp>
      <p:sp>
        <p:nvSpPr>
          <p:cNvPr id="51" name="箭头: 五边形 34"/>
          <p:cNvSpPr/>
          <p:nvPr>
            <p:custDataLst>
              <p:tags r:id="rId16"/>
            </p:custDataLst>
          </p:nvPr>
        </p:nvSpPr>
        <p:spPr>
          <a:xfrm>
            <a:off x="1567815" y="4306570"/>
            <a:ext cx="1066800" cy="284480"/>
          </a:xfrm>
          <a:prstGeom prst="homePlate">
            <a:avLst/>
          </a:prstGeom>
          <a:gradFill>
            <a:gsLst>
              <a:gs pos="0">
                <a:srgbClr val="3368FF">
                  <a:alpha val="15000"/>
                </a:srgbClr>
              </a:gs>
              <a:gs pos="100000">
                <a:srgbClr val="3368FF">
                  <a:alpha val="0"/>
                </a:srgbClr>
              </a:gs>
            </a:gsLst>
            <a:lin ang="10800000" scaled="1"/>
          </a:gradFill>
          <a:ln w="15875" cap="flat" cmpd="sng" algn="ctr">
            <a:gradFill flip="none" rotWithShape="1">
              <a:gsLst>
                <a:gs pos="0">
                  <a:srgbClr val="0042FF"/>
                </a:gs>
                <a:gs pos="100000">
                  <a:srgbClr val="0042FF">
                    <a:alpha val="0"/>
                  </a:srgbClr>
                </a:gs>
              </a:gsLst>
              <a:lin ang="10800000" scaled="1"/>
              <a:tileRect/>
            </a:gradFill>
            <a:prstDash val="solid"/>
            <a:miter lim="800000"/>
          </a:ln>
          <a:effectLst/>
        </p:spPr>
        <p:txBody>
          <a:bodyPr rtlCol="0" anchor="ctr">
            <a:noAutofit/>
          </a:bodyPr>
          <a:lstStyle/>
          <a:p>
            <a:pPr lvl="0" algn="l">
              <a:buClrTx/>
              <a:buSzTx/>
              <a:buFontTx/>
              <a:defRPr>
                <a:latin typeface="微软雅黑"/>
                <a:ea typeface="微软雅黑"/>
                <a:cs typeface="微软雅黑"/>
              </a:defRPr>
            </a:pPr>
            <a:r>
              <a:rPr lang="zh-CN" altLang="en-US" sz="1100">
                <a:solidFill>
                  <a:srgbClr val="0042FF"/>
                </a:solidFill>
                <a:latin typeface="微软雅黑"/>
                <a:ea typeface="微软雅黑"/>
                <a:cs typeface="微软雅黑"/>
                <a:sym typeface="微软雅黑"/>
              </a:rPr>
              <a:t>已购会员</a:t>
            </a:r>
            <a:endParaRPr lang="zh-CN" altLang="en-US" sz="1100">
              <a:solidFill>
                <a:srgbClr val="0042FF"/>
              </a:solidFill>
              <a:latin typeface="微软雅黑"/>
              <a:ea typeface="微软雅黑"/>
              <a:cs typeface="微软雅黑"/>
              <a:sym typeface="微软雅黑"/>
            </a:endParaRPr>
          </a:p>
        </p:txBody>
      </p:sp>
      <p:sp>
        <p:nvSpPr>
          <p:cNvPr id="52" name="箭头: 五边形 35"/>
          <p:cNvSpPr/>
          <p:nvPr>
            <p:custDataLst>
              <p:tags r:id="rId17"/>
            </p:custDataLst>
          </p:nvPr>
        </p:nvSpPr>
        <p:spPr>
          <a:xfrm>
            <a:off x="1567815" y="3971290"/>
            <a:ext cx="924560" cy="284480"/>
          </a:xfrm>
          <a:prstGeom prst="homePlate">
            <a:avLst/>
          </a:prstGeom>
          <a:gradFill>
            <a:gsLst>
              <a:gs pos="0">
                <a:srgbClr val="3368FF">
                  <a:alpha val="15000"/>
                </a:srgbClr>
              </a:gs>
              <a:gs pos="100000">
                <a:srgbClr val="3368FF">
                  <a:alpha val="0"/>
                </a:srgbClr>
              </a:gs>
            </a:gsLst>
            <a:lin ang="10800000" scaled="1"/>
          </a:gradFill>
          <a:ln w="15875" cap="flat" cmpd="sng" algn="ctr">
            <a:gradFill flip="none" rotWithShape="1">
              <a:gsLst>
                <a:gs pos="0">
                  <a:srgbClr val="0042FF"/>
                </a:gs>
                <a:gs pos="100000">
                  <a:srgbClr val="0042FF">
                    <a:alpha val="0"/>
                  </a:srgbClr>
                </a:gs>
              </a:gsLst>
              <a:lin ang="10800000" scaled="1"/>
              <a:tileRect/>
            </a:gradFill>
            <a:prstDash val="solid"/>
            <a:miter lim="800000"/>
          </a:ln>
          <a:effectLst/>
        </p:spPr>
        <p:txBody>
          <a:bodyPr rtlCol="0" anchor="ctr">
            <a:noAutofit/>
          </a:bodyPr>
          <a:lstStyle/>
          <a:p>
            <a:pPr lvl="0" algn="l">
              <a:buClrTx/>
              <a:buSzTx/>
              <a:buFontTx/>
              <a:defRPr>
                <a:latin typeface="微软雅黑"/>
                <a:ea typeface="微软雅黑"/>
                <a:cs typeface="微软雅黑"/>
              </a:defRPr>
            </a:pPr>
            <a:r>
              <a:rPr lang="zh-CN" altLang="en-US" sz="1100">
                <a:solidFill>
                  <a:srgbClr val="0042FF"/>
                </a:solidFill>
                <a:latin typeface="微软雅黑"/>
                <a:ea typeface="微软雅黑"/>
                <a:cs typeface="微软雅黑"/>
                <a:sym typeface="微软雅黑"/>
              </a:rPr>
              <a:t>复购会员</a:t>
            </a:r>
            <a:endParaRPr lang="zh-CN" altLang="en-US" sz="1100">
              <a:solidFill>
                <a:srgbClr val="0042FF"/>
              </a:solidFill>
              <a:latin typeface="微软雅黑"/>
              <a:ea typeface="微软雅黑"/>
              <a:cs typeface="微软雅黑"/>
              <a:sym typeface="微软雅黑"/>
            </a:endParaRPr>
          </a:p>
        </p:txBody>
      </p:sp>
      <p:sp>
        <p:nvSpPr>
          <p:cNvPr id="53" name="箭头: 五边形 36"/>
          <p:cNvSpPr/>
          <p:nvPr>
            <p:custDataLst>
              <p:tags r:id="rId18"/>
            </p:custDataLst>
          </p:nvPr>
        </p:nvSpPr>
        <p:spPr>
          <a:xfrm>
            <a:off x="1567815" y="3635375"/>
            <a:ext cx="853440" cy="284480"/>
          </a:xfrm>
          <a:prstGeom prst="homePlate">
            <a:avLst/>
          </a:prstGeom>
          <a:gradFill>
            <a:gsLst>
              <a:gs pos="0">
                <a:srgbClr val="3368FF"/>
              </a:gs>
              <a:gs pos="100000">
                <a:srgbClr val="0042FF"/>
              </a:gs>
            </a:gsLst>
            <a:lin ang="0" scaled="0"/>
          </a:gradFill>
          <a:ln>
            <a:noFill/>
          </a:ln>
        </p:spPr>
        <p:style>
          <a:lnRef idx="2">
            <a:srgbClr val="FF4200"/>
          </a:lnRef>
          <a:fillRef idx="1">
            <a:srgbClr val="FF4200"/>
          </a:fillRef>
          <a:effectRef idx="0">
            <a:srgbClr val="FF4200"/>
          </a:effectRef>
          <a:fontRef idx="minor">
            <a:srgbClr val="FFFFFF"/>
          </a:fontRef>
        </p:style>
        <p:txBody>
          <a:bodyPr rtlCol="0" anchor="ctr"/>
          <a:lstStyle/>
          <a:p>
            <a:pPr algn="l">
              <a:defRPr>
                <a:solidFill>
                  <a:srgbClr val="FFFFFF"/>
                </a:solidFill>
                <a:latin typeface="微软雅黑"/>
                <a:ea typeface="微软雅黑"/>
                <a:cs typeface="微软雅黑"/>
              </a:defRPr>
            </a:pPr>
            <a:r>
              <a:rPr lang="zh-CN" altLang="en-US" sz="1100" dirty="0">
                <a:solidFill>
                  <a:srgbClr val="FFFFFF"/>
                </a:solidFill>
                <a:latin typeface="微软雅黑"/>
                <a:ea typeface="微软雅黑"/>
                <a:cs typeface="微软雅黑"/>
              </a:rPr>
              <a:t>品牌</a:t>
            </a:r>
            <a:r>
              <a:rPr lang="en-US" altLang="zh-CN" sz="1100" dirty="0">
                <a:solidFill>
                  <a:srgbClr val="FFFFFF"/>
                </a:solidFill>
                <a:latin typeface="微软雅黑"/>
                <a:ea typeface="微软雅黑"/>
                <a:cs typeface="微软雅黑"/>
              </a:rPr>
              <a:t>KOC</a:t>
            </a:r>
            <a:endParaRPr lang="en-US" altLang="zh-CN" sz="1100" dirty="0">
              <a:solidFill>
                <a:srgbClr val="FFFFFF"/>
              </a:solidFill>
              <a:latin typeface="微软雅黑"/>
              <a:ea typeface="微软雅黑"/>
              <a:cs typeface="微软雅黑"/>
            </a:endParaRPr>
          </a:p>
        </p:txBody>
      </p:sp>
      <p:sp>
        <p:nvSpPr>
          <p:cNvPr id="54" name="文本框 53"/>
          <p:cNvSpPr txBox="1"/>
          <p:nvPr>
            <p:custDataLst>
              <p:tags r:id="rId19"/>
            </p:custDataLst>
          </p:nvPr>
        </p:nvSpPr>
        <p:spPr>
          <a:xfrm>
            <a:off x="3074670" y="3675380"/>
            <a:ext cx="1079500" cy="1291590"/>
          </a:xfrm>
          <a:prstGeom prst="rect">
            <a:avLst/>
          </a:prstGeom>
          <a:noFill/>
        </p:spPr>
        <p:txBody>
          <a:bodyPr wrap="square" lIns="0" rIns="0" tIns="0" bIns="0">
            <a:spAutoFit/>
          </a:bodyPr>
          <a:lstStyle/>
          <a:p>
            <a:pPr marL="171450" indent="-171450">
              <a:lnSpc>
                <a:spcPct val="13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会员中心</a:t>
            </a:r>
            <a:endParaRPr lang="en-US" altLang="zh-CN" sz="1000" dirty="0">
              <a:solidFill>
                <a:srgbClr val="383838"/>
              </a:solidFill>
              <a:latin typeface="微软雅黑"/>
              <a:ea typeface="微软雅黑"/>
              <a:cs typeface="微软雅黑"/>
            </a:endParaRPr>
          </a:p>
          <a:p>
            <a:pPr marL="171450" indent="-171450">
              <a:lnSpc>
                <a:spcPct val="13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短信</a:t>
            </a:r>
            <a:endParaRPr lang="en-US" altLang="zh-CN" sz="1000" dirty="0">
              <a:solidFill>
                <a:srgbClr val="383838"/>
              </a:solidFill>
              <a:latin typeface="微软雅黑"/>
              <a:ea typeface="微软雅黑"/>
              <a:cs typeface="微软雅黑"/>
            </a:endParaRPr>
          </a:p>
          <a:p>
            <a:pPr marL="171450" indent="-171450">
              <a:lnSpc>
                <a:spcPct val="13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订阅</a:t>
            </a:r>
            <a:endParaRPr lang="en-US" altLang="zh-CN" sz="1000" dirty="0">
              <a:solidFill>
                <a:srgbClr val="383838"/>
              </a:solidFill>
              <a:latin typeface="微软雅黑"/>
              <a:ea typeface="微软雅黑"/>
              <a:cs typeface="微软雅黑"/>
            </a:endParaRPr>
          </a:p>
          <a:p>
            <a:pPr marL="171450" indent="-171450">
              <a:lnSpc>
                <a:spcPct val="13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群聊</a:t>
            </a:r>
            <a:endParaRPr lang="en-US" altLang="zh-CN" sz="1000" dirty="0">
              <a:solidFill>
                <a:srgbClr val="383838"/>
              </a:solidFill>
              <a:latin typeface="微软雅黑"/>
              <a:ea typeface="微软雅黑"/>
              <a:cs typeface="微软雅黑"/>
            </a:endParaRPr>
          </a:p>
          <a:p>
            <a:pPr marL="171450" indent="-171450">
              <a:lnSpc>
                <a:spcPct val="13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专属客服</a:t>
            </a:r>
            <a:endParaRPr lang="en-US" altLang="zh-CN" sz="1000" dirty="0">
              <a:solidFill>
                <a:srgbClr val="383838"/>
              </a:solidFill>
              <a:latin typeface="微软雅黑"/>
              <a:ea typeface="微软雅黑"/>
              <a:cs typeface="微软雅黑"/>
            </a:endParaRPr>
          </a:p>
          <a:p>
            <a:pPr marL="171450" indent="-171450">
              <a:lnSpc>
                <a:spcPct val="1300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直播等</a:t>
            </a:r>
            <a:endParaRPr lang="zh-CN" altLang="en-US" sz="1000" dirty="0">
              <a:solidFill>
                <a:srgbClr val="383838"/>
              </a:solidFill>
              <a:latin typeface="微软雅黑"/>
              <a:ea typeface="微软雅黑"/>
              <a:cs typeface="微软雅黑"/>
            </a:endParaRPr>
          </a:p>
        </p:txBody>
      </p:sp>
      <p:sp>
        <p:nvSpPr>
          <p:cNvPr id="55" name="文本框 54"/>
          <p:cNvSpPr txBox="1"/>
          <p:nvPr>
            <p:custDataLst>
              <p:tags r:id="rId20"/>
            </p:custDataLst>
          </p:nvPr>
        </p:nvSpPr>
        <p:spPr>
          <a:xfrm>
            <a:off x="3112770" y="4961890"/>
            <a:ext cx="1151890" cy="337185"/>
          </a:xfrm>
          <a:prstGeom prst="rect">
            <a:avLst/>
          </a:prstGeom>
          <a:noFill/>
        </p:spPr>
        <p:txBody>
          <a:bodyPr wrap="square"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订阅、群聊、</a:t>
            </a:r>
            <a:endParaRPr lang="en-US" altLang="zh-CN" sz="1000" dirty="0">
              <a:solidFill>
                <a:srgbClr val="383838"/>
              </a:solidFill>
              <a:latin typeface="微软雅黑"/>
              <a:ea typeface="微软雅黑"/>
              <a:cs typeface="微软雅黑"/>
            </a:endParaRPr>
          </a:p>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专属客服、直播等</a:t>
            </a:r>
            <a:endParaRPr lang="zh-CN" altLang="en-US" sz="1000" dirty="0">
              <a:solidFill>
                <a:srgbClr val="383838"/>
              </a:solidFill>
              <a:latin typeface="微软雅黑"/>
              <a:ea typeface="微软雅黑"/>
              <a:cs typeface="微软雅黑"/>
            </a:endParaRPr>
          </a:p>
        </p:txBody>
      </p:sp>
      <p:cxnSp>
        <p:nvCxnSpPr>
          <p:cNvPr id="56" name="直接连接符 55"/>
          <p:cNvCxnSpPr/>
          <p:nvPr>
            <p:custDataLst>
              <p:tags r:id="rId21"/>
            </p:custDataLst>
          </p:nvPr>
        </p:nvCxnSpPr>
        <p:spPr>
          <a:xfrm>
            <a:off x="2634615" y="4923155"/>
            <a:ext cx="1513205" cy="0"/>
          </a:xfrm>
          <a:prstGeom prst="line">
            <a:avLst/>
          </a:prstGeom>
          <a:ln>
            <a:solidFill>
              <a:srgbClr val="0042FF"/>
            </a:solidFill>
            <a:prstDash val="dash"/>
          </a:ln>
        </p:spPr>
        <p:style>
          <a:lnRef idx="1">
            <a:srgbClr val="FF4200"/>
          </a:lnRef>
          <a:fillRef idx="0">
            <a:srgbClr val="FF4200"/>
          </a:fillRef>
          <a:effectRef idx="0">
            <a:srgbClr val="FF4200"/>
          </a:effectRef>
          <a:fontRef idx="minor">
            <a:srgbClr val="FFFFFF"/>
          </a:fontRef>
        </p:style>
      </p:cxnSp>
      <p:cxnSp>
        <p:nvCxnSpPr>
          <p:cNvPr id="57" name="直接连接符 56"/>
          <p:cNvCxnSpPr/>
          <p:nvPr>
            <p:custDataLst>
              <p:tags r:id="rId22"/>
            </p:custDataLst>
          </p:nvPr>
        </p:nvCxnSpPr>
        <p:spPr>
          <a:xfrm>
            <a:off x="2266315" y="3632835"/>
            <a:ext cx="1881505" cy="0"/>
          </a:xfrm>
          <a:prstGeom prst="line">
            <a:avLst/>
          </a:prstGeom>
          <a:ln>
            <a:solidFill>
              <a:srgbClr val="383838"/>
            </a:solidFill>
            <a:prstDash val="dash"/>
          </a:ln>
        </p:spPr>
        <p:style>
          <a:lnRef idx="1">
            <a:srgbClr val="FF4200"/>
          </a:lnRef>
          <a:fillRef idx="0">
            <a:srgbClr val="FF4200"/>
          </a:fillRef>
          <a:effectRef idx="0">
            <a:srgbClr val="FF4200"/>
          </a:effectRef>
          <a:fontRef idx="minor">
            <a:srgbClr val="FFFFFF"/>
          </a:fontRef>
        </p:style>
      </p:cxnSp>
      <p:sp>
        <p:nvSpPr>
          <p:cNvPr id="58" name="紫荆的职场Point57"/>
          <p:cNvSpPr/>
          <p:nvPr/>
        </p:nvSpPr>
        <p:spPr>
          <a:xfrm>
            <a:off x="1306830" y="3459480"/>
            <a:ext cx="179705" cy="1840865"/>
          </a:xfrm>
          <a:prstGeom prst="upArrow">
            <a:avLst/>
          </a:prstGeom>
          <a:gradFill flip="none" rotWithShape="1">
            <a:gsLst>
              <a:gs pos="0">
                <a:srgbClr val="3368FF">
                  <a:alpha val="0"/>
                </a:srgbClr>
              </a:gs>
              <a:gs pos="37000">
                <a:srgbClr val="3368FF"/>
              </a:gs>
              <a:gs pos="100000">
                <a:srgbClr val="0042FF"/>
              </a:gs>
            </a:gsLst>
            <a:lin ang="16200000" scaled="1"/>
          </a:gradFill>
          <a:ln w="8944"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61" name="矩形 60"/>
          <p:cNvSpPr/>
          <p:nvPr>
            <p:custDataLst>
              <p:tags r:id="rId23"/>
            </p:custDataLst>
          </p:nvPr>
        </p:nvSpPr>
        <p:spPr>
          <a:xfrm>
            <a:off x="8721725" y="2983865"/>
            <a:ext cx="3166110" cy="2390140"/>
          </a:xfrm>
          <a:prstGeom prst="rect">
            <a:avLst/>
          </a:prstGeom>
          <a:gradFill flip="none" rotWithShape="1">
            <a:gsLst>
              <a:gs pos="18000">
                <a:srgbClr val="E6E6E6">
                  <a:alpha val="40000"/>
                </a:srgbClr>
              </a:gs>
              <a:gs pos="100000">
                <a:srgbClr val="E6E6E6">
                  <a:alpha val="10000"/>
                </a:srgbClr>
              </a:gs>
            </a:gsLst>
            <a:lin ang="5400000" scaled="1"/>
            <a:tileRect/>
          </a:gra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2" name="文本框 61"/>
          <p:cNvSpPr txBox="1"/>
          <p:nvPr>
            <p:custDataLst>
              <p:tags r:id="rId24"/>
            </p:custDataLst>
          </p:nvPr>
        </p:nvSpPr>
        <p:spPr>
          <a:xfrm>
            <a:off x="9769475" y="3055620"/>
            <a:ext cx="1070610" cy="215265"/>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四大微型战役</a:t>
            </a:r>
            <a:endParaRPr lang="zh-CN" altLang="en-US" sz="1400" b="1" dirty="0">
              <a:solidFill>
                <a:srgbClr val="0042FF"/>
              </a:solidFill>
              <a:latin typeface="微软雅黑"/>
              <a:ea typeface="微软雅黑"/>
              <a:cs typeface="微软雅黑"/>
            </a:endParaRPr>
          </a:p>
        </p:txBody>
      </p:sp>
      <p:sp>
        <p:nvSpPr>
          <p:cNvPr id="64" name="文本框 63"/>
          <p:cNvSpPr txBox="1"/>
          <p:nvPr>
            <p:custDataLst>
              <p:tags r:id="rId25"/>
            </p:custDataLst>
          </p:nvPr>
        </p:nvSpPr>
        <p:spPr>
          <a:xfrm>
            <a:off x="8891270" y="3835400"/>
            <a:ext cx="1262380" cy="429895"/>
          </a:xfrm>
          <a:prstGeom prst="rect">
            <a:avLst/>
          </a:prstGeom>
          <a:noFill/>
        </p:spPr>
        <p:txBody>
          <a:bodyPr wrap="square">
            <a:spAutoFit/>
          </a:bodyPr>
          <a:lstStyle/>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全域招募拉新</a:t>
            </a:r>
            <a:endParaRPr lang="en-US" altLang="zh-CN" sz="1100" dirty="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全域融合</a:t>
            </a:r>
            <a:endParaRPr lang="zh-CN" altLang="en-US" sz="1100" dirty="0">
              <a:solidFill>
                <a:srgbClr val="383838"/>
              </a:solidFill>
              <a:latin typeface="微软雅黑"/>
              <a:ea typeface="微软雅黑"/>
              <a:cs typeface="微软雅黑"/>
            </a:endParaRPr>
          </a:p>
        </p:txBody>
      </p:sp>
      <p:sp>
        <p:nvSpPr>
          <p:cNvPr id="65" name="文本框 64"/>
          <p:cNvSpPr txBox="1"/>
          <p:nvPr>
            <p:custDataLst>
              <p:tags r:id="rId26"/>
            </p:custDataLst>
          </p:nvPr>
        </p:nvSpPr>
        <p:spPr>
          <a:xfrm>
            <a:off x="10520680" y="3835400"/>
            <a:ext cx="1262380" cy="429895"/>
          </a:xfrm>
          <a:prstGeom prst="rect">
            <a:avLst/>
          </a:prstGeom>
          <a:noFill/>
        </p:spPr>
        <p:txBody>
          <a:bodyPr wrap="square">
            <a:spAutoFit/>
          </a:bodyPr>
          <a:lstStyle/>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生命周期管理</a:t>
            </a:r>
            <a:endParaRPr lang="en-US" altLang="zh-CN" sz="1100" dirty="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品牌</a:t>
            </a:r>
            <a:r>
              <a:rPr lang="en-US" altLang="zh-CN" sz="1100" dirty="0">
                <a:solidFill>
                  <a:srgbClr val="383838"/>
                </a:solidFill>
                <a:latin typeface="微软雅黑"/>
                <a:ea typeface="微软雅黑"/>
                <a:cs typeface="微软雅黑"/>
              </a:rPr>
              <a:t>KOC</a:t>
            </a:r>
            <a:r>
              <a:rPr lang="zh-CN" altLang="en-US" sz="1100" dirty="0">
                <a:solidFill>
                  <a:srgbClr val="383838"/>
                </a:solidFill>
                <a:latin typeface="微软雅黑"/>
                <a:ea typeface="微软雅黑"/>
                <a:cs typeface="微软雅黑"/>
              </a:rPr>
              <a:t>培育</a:t>
            </a:r>
            <a:endParaRPr lang="zh-CN" altLang="en-US" sz="1100" dirty="0">
              <a:solidFill>
                <a:srgbClr val="383838"/>
              </a:solidFill>
              <a:latin typeface="微软雅黑"/>
              <a:ea typeface="微软雅黑"/>
              <a:cs typeface="微软雅黑"/>
            </a:endParaRPr>
          </a:p>
        </p:txBody>
      </p:sp>
      <p:sp>
        <p:nvSpPr>
          <p:cNvPr id="66" name="文本框 65"/>
          <p:cNvSpPr txBox="1"/>
          <p:nvPr>
            <p:custDataLst>
              <p:tags r:id="rId27"/>
            </p:custDataLst>
          </p:nvPr>
        </p:nvSpPr>
        <p:spPr>
          <a:xfrm>
            <a:off x="8891270" y="4800600"/>
            <a:ext cx="1262380" cy="429895"/>
          </a:xfrm>
          <a:prstGeom prst="rect">
            <a:avLst/>
          </a:prstGeom>
          <a:noFill/>
        </p:spPr>
        <p:txBody>
          <a:bodyPr wrap="square">
            <a:spAutoFit/>
          </a:bodyPr>
          <a:lstStyle/>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场域提效</a:t>
            </a:r>
            <a:endParaRPr lang="en-US" altLang="zh-CN" sz="1100" dirty="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体验优化</a:t>
            </a:r>
            <a:endParaRPr lang="zh-CN" altLang="en-US" sz="1100" dirty="0">
              <a:solidFill>
                <a:srgbClr val="383838"/>
              </a:solidFill>
              <a:latin typeface="微软雅黑"/>
              <a:ea typeface="微软雅黑"/>
              <a:cs typeface="微软雅黑"/>
            </a:endParaRPr>
          </a:p>
        </p:txBody>
      </p:sp>
      <p:sp>
        <p:nvSpPr>
          <p:cNvPr id="67" name="文本框 66"/>
          <p:cNvSpPr txBox="1"/>
          <p:nvPr>
            <p:custDataLst>
              <p:tags r:id="rId28"/>
            </p:custDataLst>
          </p:nvPr>
        </p:nvSpPr>
        <p:spPr>
          <a:xfrm>
            <a:off x="10520680" y="4800600"/>
            <a:ext cx="1262380" cy="429895"/>
          </a:xfrm>
          <a:prstGeom prst="rect">
            <a:avLst/>
          </a:prstGeom>
          <a:noFill/>
        </p:spPr>
        <p:txBody>
          <a:bodyPr wrap="square">
            <a:spAutoFit/>
          </a:bodyPr>
          <a:lstStyle/>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用户传播裂变</a:t>
            </a:r>
            <a:endParaRPr lang="en-US" altLang="zh-CN" sz="1100" dirty="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分层</a:t>
            </a:r>
            <a:r>
              <a:rPr lang="en-US" altLang="zh-CN" sz="1100" dirty="0">
                <a:solidFill>
                  <a:srgbClr val="383838"/>
                </a:solidFill>
                <a:latin typeface="微软雅黑"/>
                <a:ea typeface="微软雅黑"/>
                <a:cs typeface="微软雅黑"/>
              </a:rPr>
              <a:t>CLV</a:t>
            </a:r>
            <a:r>
              <a:rPr lang="zh-CN" altLang="en-US" sz="1100" dirty="0">
                <a:solidFill>
                  <a:srgbClr val="383838"/>
                </a:solidFill>
                <a:latin typeface="微软雅黑"/>
                <a:ea typeface="微软雅黑"/>
                <a:cs typeface="微软雅黑"/>
              </a:rPr>
              <a:t>提升</a:t>
            </a:r>
            <a:endParaRPr lang="zh-CN" altLang="en-US" sz="1100" dirty="0">
              <a:solidFill>
                <a:srgbClr val="383838"/>
              </a:solidFill>
              <a:latin typeface="微软雅黑"/>
              <a:ea typeface="微软雅黑"/>
              <a:cs typeface="微软雅黑"/>
            </a:endParaRPr>
          </a:p>
        </p:txBody>
      </p:sp>
      <p:grpSp>
        <p:nvGrpSpPr>
          <p:cNvPr id="71" name="组合 70"/>
          <p:cNvGrpSpPr/>
          <p:nvPr/>
        </p:nvGrpSpPr>
        <p:grpSpPr>
          <a:xfrm>
            <a:off x="8803005" y="3426460"/>
            <a:ext cx="1406525" cy="367665"/>
            <a:chOff x="13676" y="5141"/>
            <a:chExt cx="2215" cy="579"/>
          </a:xfrm>
        </p:grpSpPr>
        <p:sp>
          <p:nvSpPr>
            <p:cNvPr id="72" name="矩形: 圆角 5"/>
            <p:cNvSpPr/>
            <p:nvPr/>
          </p:nvSpPr>
          <p:spPr>
            <a:xfrm>
              <a:off x="13815" y="5272"/>
              <a:ext cx="2077" cy="448"/>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3" name="椭圆 72"/>
            <p:cNvSpPr/>
            <p:nvPr/>
          </p:nvSpPr>
          <p:spPr>
            <a:xfrm>
              <a:off x="13676" y="5141"/>
              <a:ext cx="385" cy="385"/>
            </a:xfrm>
            <a:prstGeom prst="ellipse">
              <a:avLst/>
            </a:prstGeom>
            <a:solidFill>
              <a:srgbClr val="FFFFFF"/>
            </a:solidFill>
            <a:ln w="254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rPr>
                <a:t>1</a:t>
              </a:r>
              <a:endPar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74" name="文本框 73"/>
            <p:cNvSpPr txBox="1"/>
            <p:nvPr>
              <p:custDataLst>
                <p:tags r:id="rId29"/>
              </p:custDataLst>
            </p:nvPr>
          </p:nvSpPr>
          <p:spPr>
            <a:xfrm>
              <a:off x="14187" y="5345"/>
              <a:ext cx="1440" cy="290"/>
            </a:xfrm>
            <a:prstGeom prst="rect">
              <a:avLst/>
            </a:prstGeom>
            <a:noFill/>
          </p:spPr>
          <p:txBody>
            <a:bodyPr wrap="none" lIns="0" tIns="0" rIns="0" bIns="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扩大关系数量</a:t>
              </a:r>
              <a:endParaRPr lang="zh-CN" altLang="en-US" sz="1200" dirty="0">
                <a:solidFill>
                  <a:srgbClr val="FFFFFF"/>
                </a:solidFill>
                <a:latin typeface="微软雅黑"/>
                <a:ea typeface="微软雅黑"/>
                <a:cs typeface="微软雅黑"/>
              </a:endParaRPr>
            </a:p>
          </p:txBody>
        </p:sp>
      </p:grpSp>
      <p:sp>
        <p:nvSpPr>
          <p:cNvPr id="87" name="文本框 86"/>
          <p:cNvSpPr txBox="1"/>
          <p:nvPr>
            <p:custDataLst>
              <p:tags r:id="rId30"/>
            </p:custDataLst>
          </p:nvPr>
        </p:nvSpPr>
        <p:spPr>
          <a:xfrm>
            <a:off x="279400" y="5554980"/>
            <a:ext cx="894080" cy="184150"/>
          </a:xfrm>
          <a:prstGeom prst="rect">
            <a:avLst/>
          </a:prstGeom>
          <a:noFill/>
          <a:ln>
            <a:noFill/>
          </a:ln>
        </p:spPr>
        <p:txBody>
          <a:bodyPr wrap="square" lIns="0" tIns="0" rIns="0" bIns="0">
            <a:spAutoFit/>
          </a:bodyPr>
          <a:lstStyle/>
          <a:p>
            <a:pPr algn="l">
              <a:defRPr>
                <a:latin typeface="微软雅黑"/>
                <a:ea typeface="微软雅黑"/>
                <a:cs typeface="微软雅黑"/>
              </a:defRPr>
            </a:pPr>
            <a:r>
              <a:rPr lang="zh-CN" altLang="en-US" sz="1000" b="1" dirty="0">
                <a:solidFill>
                  <a:srgbClr val="383838"/>
                </a:solidFill>
                <a:latin typeface="微软雅黑"/>
                <a:ea typeface="微软雅黑"/>
                <a:cs typeface="微软雅黑"/>
              </a:rPr>
              <a:t>商家</a:t>
            </a:r>
            <a:r>
              <a:rPr lang="zh-CN" altLang="en-US" sz="1200" b="1" dirty="0">
                <a:solidFill>
                  <a:srgbClr val="383838"/>
                </a:solidFill>
                <a:latin typeface="微软雅黑"/>
                <a:ea typeface="微软雅黑"/>
                <a:cs typeface="微软雅黑"/>
              </a:rPr>
              <a:t>驱动力</a:t>
            </a:r>
            <a:endParaRPr lang="zh-CN" altLang="en-US" sz="1200" b="1" dirty="0">
              <a:solidFill>
                <a:srgbClr val="383838"/>
              </a:solidFill>
              <a:latin typeface="微软雅黑"/>
              <a:ea typeface="微软雅黑"/>
              <a:cs typeface="微软雅黑"/>
            </a:endParaRPr>
          </a:p>
        </p:txBody>
      </p:sp>
      <p:sp>
        <p:nvSpPr>
          <p:cNvPr id="88" name="文本框 87"/>
          <p:cNvSpPr txBox="1"/>
          <p:nvPr>
            <p:custDataLst>
              <p:tags r:id="rId31"/>
            </p:custDataLst>
          </p:nvPr>
        </p:nvSpPr>
        <p:spPr>
          <a:xfrm>
            <a:off x="393700" y="5981700"/>
            <a:ext cx="612140" cy="184150"/>
          </a:xfrm>
          <a:prstGeom prst="rect">
            <a:avLst/>
          </a:prstGeom>
          <a:noFill/>
          <a:ln>
            <a:noFill/>
          </a:ln>
        </p:spPr>
        <p:txBody>
          <a:bodyPr wrap="none" lIns="0" tIns="0" rIns="0" bIns="0">
            <a:spAutoFit/>
          </a:bodyPr>
          <a:lstStyle/>
          <a:p>
            <a:pPr algn="l">
              <a:defRPr>
                <a:latin typeface="微软雅黑"/>
                <a:ea typeface="微软雅黑"/>
                <a:cs typeface="微软雅黑"/>
              </a:defRPr>
            </a:pPr>
            <a:r>
              <a:rPr lang="zh-CN" altLang="en-US" sz="1200" b="1" dirty="0">
                <a:solidFill>
                  <a:srgbClr val="383838"/>
                </a:solidFill>
                <a:latin typeface="微软雅黑"/>
                <a:ea typeface="微软雅黑"/>
                <a:cs typeface="微软雅黑"/>
              </a:rPr>
              <a:t>生态升级</a:t>
            </a:r>
            <a:endParaRPr lang="zh-CN" altLang="en-US" sz="1200" b="1" dirty="0">
              <a:solidFill>
                <a:srgbClr val="383838"/>
              </a:solidFill>
              <a:latin typeface="微软雅黑"/>
              <a:ea typeface="微软雅黑"/>
              <a:cs typeface="微软雅黑"/>
            </a:endParaRPr>
          </a:p>
        </p:txBody>
      </p:sp>
      <p:sp>
        <p:nvSpPr>
          <p:cNvPr id="89" name="文本框 88"/>
          <p:cNvSpPr txBox="1"/>
          <p:nvPr>
            <p:custDataLst>
              <p:tags r:id="rId32"/>
            </p:custDataLst>
          </p:nvPr>
        </p:nvSpPr>
        <p:spPr>
          <a:xfrm>
            <a:off x="393700" y="6388100"/>
            <a:ext cx="612140" cy="184150"/>
          </a:xfrm>
          <a:prstGeom prst="rect">
            <a:avLst/>
          </a:prstGeom>
          <a:noFill/>
          <a:ln>
            <a:noFill/>
          </a:ln>
        </p:spPr>
        <p:txBody>
          <a:bodyPr wrap="none" lIns="0" tIns="0" rIns="0" bIns="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平台赋能</a:t>
            </a:r>
            <a:endParaRPr lang="zh-CN" altLang="en-US" sz="1200" b="1" dirty="0">
              <a:solidFill>
                <a:srgbClr val="383838"/>
              </a:solidFill>
              <a:latin typeface="微软雅黑"/>
              <a:ea typeface="微软雅黑"/>
              <a:cs typeface="微软雅黑"/>
            </a:endParaRPr>
          </a:p>
        </p:txBody>
      </p:sp>
      <p:grpSp>
        <p:nvGrpSpPr>
          <p:cNvPr id="90" name="组合 89"/>
          <p:cNvGrpSpPr/>
          <p:nvPr/>
        </p:nvGrpSpPr>
        <p:grpSpPr>
          <a:xfrm>
            <a:off x="1250950" y="5871210"/>
            <a:ext cx="10645775" cy="374015"/>
            <a:chOff x="1782" y="8990"/>
            <a:chExt cx="16765" cy="589"/>
          </a:xfrm>
          <a:solidFill>
            <a:srgbClr val="3368FF"/>
          </a:solidFill>
        </p:grpSpPr>
        <p:sp>
          <p:nvSpPr>
            <p:cNvPr id="92" name="任意多边形: 形状 331"/>
            <p:cNvSpPr/>
            <p:nvPr>
              <p:custDataLst>
                <p:tags r:id="rId33"/>
              </p:custDataLst>
            </p:nvPr>
          </p:nvSpPr>
          <p:spPr>
            <a:xfrm>
              <a:off x="1782" y="8990"/>
              <a:ext cx="16765" cy="589"/>
            </a:xfrm>
            <a:custGeom>
              <a:avLst/>
              <a:gdLst>
                <a:gd name="connsiteX0" fmla="*/ 0 w 2581486"/>
                <a:gd name="connsiteY0" fmla="*/ 0 h 374210"/>
                <a:gd name="connsiteX1" fmla="*/ 2581486 w 2581486"/>
                <a:gd name="connsiteY1" fmla="*/ 0 h 374210"/>
                <a:gd name="connsiteX2" fmla="*/ 2581486 w 2581486"/>
                <a:gd name="connsiteY2" fmla="*/ 374210 h 374210"/>
                <a:gd name="connsiteX3" fmla="*/ 0 w 2581486"/>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581486" h="374210">
                  <a:moveTo>
                    <a:pt x="0" y="0"/>
                  </a:moveTo>
                  <a:lnTo>
                    <a:pt x="2581486" y="0"/>
                  </a:lnTo>
                  <a:lnTo>
                    <a:pt x="2581486" y="374210"/>
                  </a:lnTo>
                  <a:lnTo>
                    <a:pt x="0" y="374210"/>
                  </a:lnTo>
                  <a:close/>
                </a:path>
              </a:pathLst>
            </a:custGeom>
            <a:grpFill/>
            <a:ln w="9525">
              <a:solidFill>
                <a:srgbClr val="668EFF"/>
              </a:solidFill>
            </a:ln>
          </p:spPr>
          <p:style>
            <a:lnRef idx="1">
              <a:srgbClr val="FF4200"/>
            </a:lnRef>
            <a:fillRef idx="0">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93" name="文本框 92"/>
            <p:cNvSpPr txBox="1"/>
            <p:nvPr>
              <p:custDataLst>
                <p:tags r:id="rId34"/>
              </p:custDataLst>
            </p:nvPr>
          </p:nvSpPr>
          <p:spPr>
            <a:xfrm>
              <a:off x="7612" y="9120"/>
              <a:ext cx="5460" cy="340"/>
            </a:xfrm>
            <a:prstGeom prst="rect">
              <a:avLst/>
            </a:prstGeom>
            <a:grpFill/>
          </p:spPr>
          <p:txBody>
            <a:bodyPr wrap="none" anchor="ctr" lIns="0" rIns="0" tIns="0" bIns="0">
              <a:noAutofit/>
            </a:bodyPr>
            <a:lstStyle/>
            <a:p>
              <a:pPr algn="ctr" marL="0" marR="0" indent="0">
                <a:lnSpc>
                  <a:spcPts val="1320"/>
                </a:lnSpc>
                <a:spcBef>
                  <a:spcPts val="0"/>
                </a:spcBef>
                <a:spcAft>
                  <a:spcPts val="0"/>
                </a:spcAft>
                <a:buNone/>
                <a:defRPr lang="zh-CN" altLang="en-US" sz="1100" b="1" dirty="0">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rPr>
                <a:t>天猫私域生态:新需求、新技术、新组织</a:t>
              </a:r>
            </a:p>
          </p:txBody>
        </p:sp>
      </p:grpSp>
      <p:sp>
        <p:nvSpPr>
          <p:cNvPr id="94" name="左大括号 93"/>
          <p:cNvSpPr/>
          <p:nvPr>
            <p:custDataLst>
              <p:tags r:id="rId35"/>
            </p:custDataLst>
          </p:nvPr>
        </p:nvSpPr>
        <p:spPr>
          <a:xfrm>
            <a:off x="1044575" y="5474970"/>
            <a:ext cx="136525" cy="351155"/>
          </a:xfrm>
          <a:prstGeom prst="leftBrace">
            <a:avLst>
              <a:gd name="adj1" fmla="val 41395"/>
              <a:gd name="adj2" fmla="val 51717"/>
            </a:avLst>
          </a:prstGeom>
          <a:ln w="12700">
            <a:solidFill>
              <a:srgbClr val="383838"/>
            </a:solidFill>
            <a:prstDash val="sysDash"/>
          </a:ln>
        </p:spPr>
        <p:style>
          <a:lnRef idx="1">
            <a:srgbClr val="FF4200"/>
          </a:lnRef>
          <a:fillRef idx="0">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en-US" altLang="en-US" dirty="0">
                <a:solidFill>
                  <a:srgbClr val="383838"/>
                </a:solidFill>
                <a:latin typeface="微软雅黑"/>
                <a:ea typeface="微软雅黑"/>
                <a:cs typeface="微软雅黑"/>
                <a:sym typeface="微软雅黑"/>
              </a:rPr>
              <a:t>          </a:t>
            </a:r>
            <a:endParaRPr lang="en-US" altLang="en-US" dirty="0">
              <a:solidFill>
                <a:srgbClr val="383838"/>
              </a:solidFill>
              <a:latin typeface="微软雅黑"/>
              <a:ea typeface="微软雅黑"/>
              <a:cs typeface="微软雅黑"/>
              <a:sym typeface="微软雅黑"/>
            </a:endParaRPr>
          </a:p>
        </p:txBody>
      </p:sp>
      <p:sp>
        <p:nvSpPr>
          <p:cNvPr id="95" name="左大括号 94"/>
          <p:cNvSpPr/>
          <p:nvPr>
            <p:custDataLst>
              <p:tags r:id="rId36"/>
            </p:custDataLst>
          </p:nvPr>
        </p:nvSpPr>
        <p:spPr>
          <a:xfrm>
            <a:off x="1044575" y="5894070"/>
            <a:ext cx="136525" cy="351155"/>
          </a:xfrm>
          <a:prstGeom prst="leftBrace">
            <a:avLst>
              <a:gd name="adj1" fmla="val 41395"/>
              <a:gd name="adj2" fmla="val 51717"/>
            </a:avLst>
          </a:prstGeom>
          <a:ln w="12700">
            <a:solidFill>
              <a:srgbClr val="383838"/>
            </a:solidFill>
            <a:prstDash val="sysDash"/>
          </a:ln>
        </p:spPr>
        <p:style>
          <a:lnRef idx="1">
            <a:srgbClr val="FF4200"/>
          </a:lnRef>
          <a:fillRef idx="0">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en-US" altLang="en-US" dirty="0">
                <a:solidFill>
                  <a:srgbClr val="383838"/>
                </a:solidFill>
                <a:latin typeface="微软雅黑"/>
                <a:ea typeface="微软雅黑"/>
                <a:cs typeface="微软雅黑"/>
                <a:sym typeface="微软雅黑"/>
              </a:rPr>
              <a:t>          </a:t>
            </a:r>
            <a:endParaRPr lang="en-US" altLang="en-US" dirty="0">
              <a:solidFill>
                <a:srgbClr val="383838"/>
              </a:solidFill>
              <a:latin typeface="微软雅黑"/>
              <a:ea typeface="微软雅黑"/>
              <a:cs typeface="微软雅黑"/>
              <a:sym typeface="微软雅黑"/>
            </a:endParaRPr>
          </a:p>
        </p:txBody>
      </p:sp>
      <p:sp>
        <p:nvSpPr>
          <p:cNvPr id="96" name="左大括号 95"/>
          <p:cNvSpPr/>
          <p:nvPr>
            <p:custDataLst>
              <p:tags r:id="rId37"/>
            </p:custDataLst>
          </p:nvPr>
        </p:nvSpPr>
        <p:spPr>
          <a:xfrm>
            <a:off x="1044575" y="6313170"/>
            <a:ext cx="136525" cy="351155"/>
          </a:xfrm>
          <a:prstGeom prst="leftBrace">
            <a:avLst>
              <a:gd name="adj1" fmla="val 41395"/>
              <a:gd name="adj2" fmla="val 51717"/>
            </a:avLst>
          </a:prstGeom>
          <a:ln w="12700">
            <a:solidFill>
              <a:srgbClr val="383838"/>
            </a:solidFill>
            <a:prstDash val="sysDash"/>
          </a:ln>
        </p:spPr>
        <p:style>
          <a:lnRef idx="1">
            <a:srgbClr val="FF4200"/>
          </a:lnRef>
          <a:fillRef idx="0">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r>
              <a:rPr lang="en-US" altLang="en-US" dirty="0">
                <a:solidFill>
                  <a:srgbClr val="383838"/>
                </a:solidFill>
                <a:latin typeface="微软雅黑"/>
                <a:ea typeface="微软雅黑"/>
                <a:cs typeface="微软雅黑"/>
                <a:sym typeface="微软雅黑"/>
              </a:rPr>
              <a:t>          </a:t>
            </a:r>
            <a:endParaRPr lang="en-US" altLang="en-US" dirty="0">
              <a:solidFill>
                <a:srgbClr val="383838"/>
              </a:solidFill>
              <a:latin typeface="微软雅黑"/>
              <a:ea typeface="微软雅黑"/>
              <a:cs typeface="微软雅黑"/>
              <a:sym typeface="微软雅黑"/>
            </a:endParaRPr>
          </a:p>
        </p:txBody>
      </p:sp>
      <p:sp>
        <p:nvSpPr>
          <p:cNvPr id="98" name="紫荆的职场Point99-1"/>
          <p:cNvSpPr/>
          <p:nvPr/>
        </p:nvSpPr>
        <p:spPr>
          <a:xfrm>
            <a:off x="5715000" y="3556000"/>
            <a:ext cx="1377950" cy="1187450"/>
          </a:xfrm>
          <a:prstGeom prst="roundRect">
            <a:avLst/>
          </a:prstGeom>
          <a:custGeom>
            <a:avLst/>
            <a:gdLst>
              <a:gd name="connsiteX0" fmla="*/ 1209284 w 1284238"/>
              <a:gd name="connsiteY0" fmla="*/ 524400 h 1284305"/>
              <a:gd name="connsiteX1" fmla="*/ 1100416 w 1284238"/>
              <a:gd name="connsiteY1" fmla="*/ 452317 h 1284305"/>
              <a:gd name="connsiteX2" fmla="*/ 1100070 w 1284238"/>
              <a:gd name="connsiteY2" fmla="*/ 451487 h 1284305"/>
              <a:gd name="connsiteX3" fmla="*/ 1125866 w 1284238"/>
              <a:gd name="connsiteY3" fmla="*/ 323498 h 1284305"/>
              <a:gd name="connsiteX4" fmla="*/ 1129796 w 1284238"/>
              <a:gd name="connsiteY4" fmla="*/ 224442 h 1284305"/>
              <a:gd name="connsiteX5" fmla="*/ 1058033 w 1284238"/>
              <a:gd name="connsiteY5" fmla="*/ 152989 h 1284305"/>
              <a:gd name="connsiteX6" fmla="*/ 958895 w 1284238"/>
              <a:gd name="connsiteY6" fmla="*/ 157548 h 1284305"/>
              <a:gd name="connsiteX7" fmla="*/ 793770 w 1284238"/>
              <a:gd name="connsiteY7" fmla="*/ 158714 h 1284305"/>
              <a:gd name="connsiteX8" fmla="*/ 758987 w 1284238"/>
              <a:gd name="connsiteY8" fmla="*/ 74787 h 1284305"/>
              <a:gd name="connsiteX9" fmla="*/ 691828 w 1284238"/>
              <a:gd name="connsiteY9" fmla="*/ 1947 h 1284305"/>
              <a:gd name="connsiteX10" fmla="*/ 590611 w 1284238"/>
              <a:gd name="connsiteY10" fmla="*/ 2057 h 1284305"/>
              <a:gd name="connsiteX11" fmla="*/ 523571 w 1284238"/>
              <a:gd name="connsiteY11" fmla="*/ 75097 h 1284305"/>
              <a:gd name="connsiteX12" fmla="*/ 451680 w 1284238"/>
              <a:gd name="connsiteY12" fmla="*/ 184046 h 1284305"/>
              <a:gd name="connsiteX13" fmla="*/ 451507 w 1284238"/>
              <a:gd name="connsiteY13" fmla="*/ 184120 h 1284305"/>
              <a:gd name="connsiteX14" fmla="*/ 323637 w 1284238"/>
              <a:gd name="connsiteY14" fmla="*/ 158195 h 1284305"/>
              <a:gd name="connsiteX15" fmla="*/ 224636 w 1284238"/>
              <a:gd name="connsiteY15" fmla="*/ 154210 h 1284305"/>
              <a:gd name="connsiteX16" fmla="*/ 153173 w 1284238"/>
              <a:gd name="connsiteY16" fmla="*/ 225910 h 1284305"/>
              <a:gd name="connsiteX17" fmla="*/ 157450 w 1284238"/>
              <a:gd name="connsiteY17" fmla="*/ 324893 h 1284305"/>
              <a:gd name="connsiteX18" fmla="*/ 159139 w 1284238"/>
              <a:gd name="connsiteY18" fmla="*/ 489949 h 1284305"/>
              <a:gd name="connsiteX19" fmla="*/ 120428 w 1284238"/>
              <a:gd name="connsiteY19" fmla="*/ 516101 h 1284305"/>
              <a:gd name="connsiteX20" fmla="*/ 75236 w 1284238"/>
              <a:gd name="connsiteY20" fmla="*/ 525019 h 1284305"/>
              <a:gd name="connsiteX21" fmla="*/ 25557 w 1284238"/>
              <a:gd name="connsiteY21" fmla="*/ 544096 h 1284305"/>
              <a:gd name="connsiteX22" fmla="*/ 1977 w 1284238"/>
              <a:gd name="connsiteY22" fmla="*/ 592078 h 1284305"/>
              <a:gd name="connsiteX23" fmla="*/ 2031 w 1284238"/>
              <a:gd name="connsiteY23" fmla="*/ 693340 h 1284305"/>
              <a:gd name="connsiteX24" fmla="*/ 75044 w 1284238"/>
              <a:gd name="connsiteY24" fmla="*/ 760407 h 1284305"/>
              <a:gd name="connsiteX25" fmla="*/ 192899 w 1284238"/>
              <a:gd name="connsiteY25" fmla="*/ 876072 h 1284305"/>
              <a:gd name="connsiteX26" fmla="*/ 158069 w 1284238"/>
              <a:gd name="connsiteY26" fmla="*/ 960361 h 1284305"/>
              <a:gd name="connsiteX27" fmla="*/ 154048 w 1284238"/>
              <a:gd name="connsiteY27" fmla="*/ 1059417 h 1284305"/>
              <a:gd name="connsiteX28" fmla="*/ 225684 w 1284238"/>
              <a:gd name="connsiteY28" fmla="*/ 1130880 h 1284305"/>
              <a:gd name="connsiteX29" fmla="*/ 300949 w 1284238"/>
              <a:gd name="connsiteY29" fmla="*/ 1142651 h 1284305"/>
              <a:gd name="connsiteX30" fmla="*/ 324657 w 1284238"/>
              <a:gd name="connsiteY30" fmla="*/ 1126648 h 1284305"/>
              <a:gd name="connsiteX31" fmla="*/ 489780 w 1284238"/>
              <a:gd name="connsiteY31" fmla="*/ 1125167 h 1284305"/>
              <a:gd name="connsiteX32" fmla="*/ 524720 w 1284238"/>
              <a:gd name="connsiteY32" fmla="*/ 1209355 h 1284305"/>
              <a:gd name="connsiteX33" fmla="*/ 591815 w 1284238"/>
              <a:gd name="connsiteY33" fmla="*/ 1282303 h 1284305"/>
              <a:gd name="connsiteX34" fmla="*/ 693032 w 1284238"/>
              <a:gd name="connsiteY34" fmla="*/ 1282303 h 1284305"/>
              <a:gd name="connsiteX35" fmla="*/ 715053 w 1284238"/>
              <a:gd name="connsiteY35" fmla="*/ 1277015 h 1284305"/>
              <a:gd name="connsiteX36" fmla="*/ 760136 w 1284238"/>
              <a:gd name="connsiteY36" fmla="*/ 1209318 h 1284305"/>
              <a:gd name="connsiteX37" fmla="*/ 832173 w 1284238"/>
              <a:gd name="connsiteY37" fmla="*/ 1100423 h 1284305"/>
              <a:gd name="connsiteX38" fmla="*/ 832228 w 1284238"/>
              <a:gd name="connsiteY38" fmla="*/ 1100423 h 1284305"/>
              <a:gd name="connsiteX39" fmla="*/ 960135 w 1284238"/>
              <a:gd name="connsiteY39" fmla="*/ 1126402 h 1284305"/>
              <a:gd name="connsiteX40" fmla="*/ 1059190 w 1284238"/>
              <a:gd name="connsiteY40" fmla="*/ 1130470 h 1284305"/>
              <a:gd name="connsiteX41" fmla="*/ 1130681 w 1284238"/>
              <a:gd name="connsiteY41" fmla="*/ 1058860 h 1284305"/>
              <a:gd name="connsiteX42" fmla="*/ 1126496 w 1284238"/>
              <a:gd name="connsiteY42" fmla="*/ 959878 h 1284305"/>
              <a:gd name="connsiteX43" fmla="*/ 1100462 w 1284238"/>
              <a:gd name="connsiteY43" fmla="*/ 831853 h 1284305"/>
              <a:gd name="connsiteX44" fmla="*/ 1100672 w 1284238"/>
              <a:gd name="connsiteY44" fmla="*/ 831351 h 1284305"/>
              <a:gd name="connsiteX45" fmla="*/ 1209284 w 1284238"/>
              <a:gd name="connsiteY45" fmla="*/ 759815 h 1284305"/>
              <a:gd name="connsiteX46" fmla="*/ 1282233 w 1284238"/>
              <a:gd name="connsiteY46" fmla="*/ 692756 h 1284305"/>
              <a:gd name="connsiteX47" fmla="*/ 1282233 w 1284238"/>
              <a:gd name="connsiteY47" fmla="*/ 591539 h 1284305"/>
              <a:gd name="connsiteX48" fmla="*/ 1209284 w 1284238"/>
              <a:gd name="connsiteY48" fmla="*/ 524400 h 1284305"/>
              <a:gd name="connsiteX49" fmla="*/ 803870 w 1284238"/>
              <a:gd name="connsiteY49" fmla="*/ 575153 h 1284305"/>
              <a:gd name="connsiteX50" fmla="*/ 709117 w 1284238"/>
              <a:gd name="connsiteY50" fmla="*/ 803903 h 1284305"/>
              <a:gd name="connsiteX51" fmla="*/ 480367 w 1284238"/>
              <a:gd name="connsiteY51" fmla="*/ 709152 h 1284305"/>
              <a:gd name="connsiteX52" fmla="*/ 575120 w 1284238"/>
              <a:gd name="connsiteY52" fmla="*/ 480402 h 1284305"/>
              <a:gd name="connsiteX53" fmla="*/ 803878 w 1284238"/>
              <a:gd name="connsiteY53" fmla="*/ 575153 h 128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84238" h="1284305">
                <a:moveTo>
                  <a:pt x="1209284" y="524400"/>
                </a:moveTo>
                <a:cubicBezTo>
                  <a:pt x="1161656" y="524939"/>
                  <a:pt x="1118516" y="496375"/>
                  <a:pt x="1100416" y="452317"/>
                </a:cubicBezTo>
                <a:lnTo>
                  <a:pt x="1100070" y="451487"/>
                </a:lnTo>
                <a:cubicBezTo>
                  <a:pt x="1081640" y="407567"/>
                  <a:pt x="1091863" y="356849"/>
                  <a:pt x="1125866" y="323498"/>
                </a:cubicBezTo>
                <a:cubicBezTo>
                  <a:pt x="1152849" y="296881"/>
                  <a:pt x="1154572" y="253366"/>
                  <a:pt x="1129796" y="224442"/>
                </a:cubicBezTo>
                <a:cubicBezTo>
                  <a:pt x="1107799" y="198767"/>
                  <a:pt x="1083803" y="174875"/>
                  <a:pt x="1058033" y="152989"/>
                </a:cubicBezTo>
                <a:cubicBezTo>
                  <a:pt x="1028886" y="128333"/>
                  <a:pt x="985656" y="130320"/>
                  <a:pt x="958895" y="157548"/>
                </a:cubicBezTo>
                <a:cubicBezTo>
                  <a:pt x="913619" y="203469"/>
                  <a:pt x="839691" y="203991"/>
                  <a:pt x="793770" y="158714"/>
                </a:cubicBezTo>
                <a:cubicBezTo>
                  <a:pt x="771322" y="136582"/>
                  <a:pt x="758776" y="106311"/>
                  <a:pt x="758987" y="74787"/>
                </a:cubicBezTo>
                <a:cubicBezTo>
                  <a:pt x="759243" y="36917"/>
                  <a:pt x="729743" y="4920"/>
                  <a:pt x="691828" y="1947"/>
                </a:cubicBezTo>
                <a:cubicBezTo>
                  <a:pt x="658139" y="-685"/>
                  <a:pt x="624295" y="-648"/>
                  <a:pt x="590611" y="2057"/>
                </a:cubicBezTo>
                <a:cubicBezTo>
                  <a:pt x="552651" y="5120"/>
                  <a:pt x="523206" y="37209"/>
                  <a:pt x="523571" y="75097"/>
                </a:cubicBezTo>
                <a:cubicBezTo>
                  <a:pt x="524179" y="122708"/>
                  <a:pt x="495693" y="165877"/>
                  <a:pt x="451680" y="184046"/>
                </a:cubicBezTo>
                <a:lnTo>
                  <a:pt x="451507" y="184120"/>
                </a:lnTo>
                <a:cubicBezTo>
                  <a:pt x="407593" y="202450"/>
                  <a:pt x="356943" y="192181"/>
                  <a:pt x="323637" y="158195"/>
                </a:cubicBezTo>
                <a:cubicBezTo>
                  <a:pt x="297055" y="131213"/>
                  <a:pt x="253569" y="129463"/>
                  <a:pt x="224636" y="154210"/>
                </a:cubicBezTo>
                <a:cubicBezTo>
                  <a:pt x="198958" y="176187"/>
                  <a:pt x="175063" y="200161"/>
                  <a:pt x="153173" y="225910"/>
                </a:cubicBezTo>
                <a:cubicBezTo>
                  <a:pt x="128552" y="254889"/>
                  <a:pt x="130430" y="298366"/>
                  <a:pt x="157450" y="324893"/>
                </a:cubicBezTo>
                <a:cubicBezTo>
                  <a:pt x="203495" y="370006"/>
                  <a:pt x="204252" y="443904"/>
                  <a:pt x="159139" y="489949"/>
                </a:cubicBezTo>
                <a:cubicBezTo>
                  <a:pt x="148130" y="501186"/>
                  <a:pt x="134962" y="510082"/>
                  <a:pt x="120428" y="516101"/>
                </a:cubicBezTo>
                <a:cubicBezTo>
                  <a:pt x="106110" y="522058"/>
                  <a:pt x="90744" y="525090"/>
                  <a:pt x="75236" y="525019"/>
                </a:cubicBezTo>
                <a:cubicBezTo>
                  <a:pt x="56869" y="524920"/>
                  <a:pt x="39137" y="531730"/>
                  <a:pt x="25557" y="544096"/>
                </a:cubicBezTo>
                <a:cubicBezTo>
                  <a:pt x="11861" y="556494"/>
                  <a:pt x="3425" y="573661"/>
                  <a:pt x="1977" y="592078"/>
                </a:cubicBezTo>
                <a:cubicBezTo>
                  <a:pt x="-677" y="625781"/>
                  <a:pt x="-659" y="659641"/>
                  <a:pt x="2031" y="693340"/>
                </a:cubicBezTo>
                <a:cubicBezTo>
                  <a:pt x="5077" y="731310"/>
                  <a:pt x="37156" y="760763"/>
                  <a:pt x="75044" y="760407"/>
                </a:cubicBezTo>
                <a:cubicBezTo>
                  <a:pt x="139529" y="759803"/>
                  <a:pt x="192293" y="811587"/>
                  <a:pt x="192899" y="876072"/>
                </a:cubicBezTo>
                <a:cubicBezTo>
                  <a:pt x="193196" y="907728"/>
                  <a:pt x="180626" y="938148"/>
                  <a:pt x="158069" y="960361"/>
                </a:cubicBezTo>
                <a:cubicBezTo>
                  <a:pt x="131069" y="986961"/>
                  <a:pt x="129301" y="1030465"/>
                  <a:pt x="154048" y="1059417"/>
                </a:cubicBezTo>
                <a:cubicBezTo>
                  <a:pt x="176004" y="1085090"/>
                  <a:pt x="199958" y="1108986"/>
                  <a:pt x="225684" y="1130880"/>
                </a:cubicBezTo>
                <a:cubicBezTo>
                  <a:pt x="246589" y="1148586"/>
                  <a:pt x="275635" y="1153130"/>
                  <a:pt x="300949" y="1142651"/>
                </a:cubicBezTo>
                <a:cubicBezTo>
                  <a:pt x="309848" y="1138966"/>
                  <a:pt x="317911" y="1133523"/>
                  <a:pt x="324657" y="1126648"/>
                </a:cubicBezTo>
                <a:cubicBezTo>
                  <a:pt x="369846" y="1080642"/>
                  <a:pt x="443774" y="1079979"/>
                  <a:pt x="489780" y="1125167"/>
                </a:cubicBezTo>
                <a:cubicBezTo>
                  <a:pt x="512351" y="1147337"/>
                  <a:pt x="524960" y="1177717"/>
                  <a:pt x="524720" y="1209355"/>
                </a:cubicBezTo>
                <a:cubicBezTo>
                  <a:pt x="524429" y="1247233"/>
                  <a:pt x="553900" y="1279249"/>
                  <a:pt x="591815" y="1282303"/>
                </a:cubicBezTo>
                <a:cubicBezTo>
                  <a:pt x="625501" y="1284973"/>
                  <a:pt x="659346" y="1284973"/>
                  <a:pt x="693032" y="1282303"/>
                </a:cubicBezTo>
                <a:cubicBezTo>
                  <a:pt x="700604" y="1281705"/>
                  <a:pt x="708035" y="1279920"/>
                  <a:pt x="715053" y="1277015"/>
                </a:cubicBezTo>
                <a:cubicBezTo>
                  <a:pt x="741799" y="1265936"/>
                  <a:pt x="760409" y="1239473"/>
                  <a:pt x="760136" y="1209318"/>
                </a:cubicBezTo>
                <a:cubicBezTo>
                  <a:pt x="759572" y="1161690"/>
                  <a:pt x="788121" y="1118537"/>
                  <a:pt x="832173" y="1100423"/>
                </a:cubicBezTo>
                <a:lnTo>
                  <a:pt x="832228" y="1100423"/>
                </a:lnTo>
                <a:cubicBezTo>
                  <a:pt x="876162" y="1082074"/>
                  <a:pt x="926841" y="1092368"/>
                  <a:pt x="960135" y="1126402"/>
                </a:cubicBezTo>
                <a:cubicBezTo>
                  <a:pt x="986716" y="1153412"/>
                  <a:pt x="1030230" y="1155208"/>
                  <a:pt x="1059190" y="1130470"/>
                </a:cubicBezTo>
                <a:cubicBezTo>
                  <a:pt x="1084875" y="1108525"/>
                  <a:pt x="1108780" y="1084582"/>
                  <a:pt x="1130681" y="1058860"/>
                </a:cubicBezTo>
                <a:cubicBezTo>
                  <a:pt x="1155301" y="1029909"/>
                  <a:pt x="1153478" y="986431"/>
                  <a:pt x="1126496" y="959878"/>
                </a:cubicBezTo>
                <a:cubicBezTo>
                  <a:pt x="1092391" y="926575"/>
                  <a:pt x="1082072" y="875829"/>
                  <a:pt x="1100462" y="831853"/>
                </a:cubicBezTo>
                <a:cubicBezTo>
                  <a:pt x="1100535" y="831689"/>
                  <a:pt x="1100599" y="831515"/>
                  <a:pt x="1100672" y="831351"/>
                </a:cubicBezTo>
                <a:cubicBezTo>
                  <a:pt x="1118908" y="787594"/>
                  <a:pt x="1161882" y="759290"/>
                  <a:pt x="1209284" y="759815"/>
                </a:cubicBezTo>
                <a:cubicBezTo>
                  <a:pt x="1247153" y="760126"/>
                  <a:pt x="1279187" y="730636"/>
                  <a:pt x="1282233" y="692756"/>
                </a:cubicBezTo>
                <a:cubicBezTo>
                  <a:pt x="1284907" y="659070"/>
                  <a:pt x="1284907" y="625225"/>
                  <a:pt x="1282233" y="591539"/>
                </a:cubicBezTo>
                <a:cubicBezTo>
                  <a:pt x="1279233" y="553561"/>
                  <a:pt x="1247190" y="524071"/>
                  <a:pt x="1209284" y="524400"/>
                </a:cubicBezTo>
                <a:close/>
                <a:moveTo>
                  <a:pt x="803870" y="575153"/>
                </a:moveTo>
                <a:cubicBezTo>
                  <a:pt x="840818" y="664343"/>
                  <a:pt x="798307" y="766955"/>
                  <a:pt x="709117" y="803903"/>
                </a:cubicBezTo>
                <a:cubicBezTo>
                  <a:pt x="619929" y="840853"/>
                  <a:pt x="517317" y="798342"/>
                  <a:pt x="480367" y="709152"/>
                </a:cubicBezTo>
                <a:cubicBezTo>
                  <a:pt x="443419" y="619962"/>
                  <a:pt x="485930" y="517342"/>
                  <a:pt x="575120" y="480402"/>
                </a:cubicBezTo>
                <a:cubicBezTo>
                  <a:pt x="664308" y="443462"/>
                  <a:pt x="766939" y="485965"/>
                  <a:pt x="803878" y="575153"/>
                </a:cubicBezTo>
                <a:close/>
              </a:path>
            </a:pathLst>
          </a:custGeom>
          <a:solidFill>
            <a:srgbClr val="3368FF"/>
          </a:solidFill>
          <a:ln w="1367"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100" name="紫荆的职场Point17"/>
          <p:cNvCxnSpPr/>
          <p:nvPr/>
        </p:nvCxnSpPr>
        <p:spPr>
          <a:xfrm>
            <a:off x="6388735" y="3369945"/>
            <a:ext cx="5715" cy="213995"/>
          </a:xfrm>
          <a:prstGeom prst="line">
            <a:avLst/>
          </a:prstGeom>
          <a:ln>
            <a:solidFill>
              <a:srgbClr val="3368FF"/>
            </a:solidFill>
            <a:headEnd type="none"/>
            <a:tailEnd type="none"/>
          </a:ln>
        </p:spPr>
        <p:style>
          <a:lnRef idx="2">
            <a:srgbClr val="0042FF"/>
          </a:lnRef>
          <a:fillRef idx="0">
            <a:srgbClr val="0042FF"/>
          </a:fillRef>
          <a:effectRef idx="1">
            <a:srgbClr val="0042FF"/>
          </a:effectRef>
          <a:fontRef idx="minor">
            <a:srgbClr val="383838"/>
          </a:fontRef>
        </p:style>
      </p:cxnSp>
      <p:cxnSp>
        <p:nvCxnSpPr>
          <p:cNvPr id="101" name="紫荆的职场Point19"/>
          <p:cNvCxnSpPr/>
          <p:nvPr/>
        </p:nvCxnSpPr>
        <p:spPr>
          <a:xfrm>
            <a:off x="6386195" y="4738370"/>
            <a:ext cx="0" cy="261620"/>
          </a:xfrm>
          <a:prstGeom prst="straightConnector1">
            <a:avLst/>
          </a:prstGeom>
          <a:ln>
            <a:solidFill>
              <a:srgbClr val="3368FF"/>
            </a:solidFill>
            <a:tailEnd type="triangle"/>
          </a:ln>
        </p:spPr>
        <p:style>
          <a:lnRef idx="2">
            <a:srgbClr val="0042FF"/>
          </a:lnRef>
          <a:fillRef idx="0">
            <a:srgbClr val="0042FF"/>
          </a:fillRef>
          <a:effectRef idx="1">
            <a:srgbClr val="0042FF"/>
          </a:effectRef>
          <a:fontRef idx="minor">
            <a:srgbClr val="383838"/>
          </a:fontRef>
        </p:style>
      </p:cxnSp>
      <p:sp>
        <p:nvSpPr>
          <p:cNvPr id="102" name="紫荆的职场Point59"/>
          <p:cNvSpPr txBox="1"/>
          <p:nvPr/>
        </p:nvSpPr>
        <p:spPr>
          <a:xfrm>
            <a:off x="4712335" y="3326765"/>
            <a:ext cx="365125"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社交</a:t>
            </a:r>
            <a:endParaRPr lang="zh-CN" altLang="en-US" sz="1000" dirty="0">
              <a:solidFill>
                <a:srgbClr val="0042FF"/>
              </a:solidFill>
              <a:latin typeface="微软雅黑"/>
              <a:ea typeface="微软雅黑"/>
              <a:cs typeface="微软雅黑"/>
            </a:endParaRPr>
          </a:p>
        </p:txBody>
      </p:sp>
      <p:sp>
        <p:nvSpPr>
          <p:cNvPr id="107" name="紫荆的职场Point60"/>
          <p:cNvSpPr txBox="1"/>
          <p:nvPr/>
        </p:nvSpPr>
        <p:spPr>
          <a:xfrm>
            <a:off x="4264660" y="3427095"/>
            <a:ext cx="401320" cy="313690"/>
          </a:xfrm>
          <a:prstGeom prst="rect">
            <a:avLst/>
          </a:prstGeom>
          <a:noFill/>
        </p:spPr>
        <p:txBody>
          <a:bodyPr wrap="square"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数字媒体</a:t>
            </a:r>
            <a:endParaRPr lang="zh-CN" altLang="en-US" sz="1000" dirty="0">
              <a:solidFill>
                <a:srgbClr val="0042FF"/>
              </a:solidFill>
              <a:latin typeface="微软雅黑"/>
              <a:ea typeface="微软雅黑"/>
              <a:cs typeface="微软雅黑"/>
            </a:endParaRPr>
          </a:p>
        </p:txBody>
      </p:sp>
      <p:sp>
        <p:nvSpPr>
          <p:cNvPr id="108" name="紫荆的职场Point61"/>
          <p:cNvSpPr txBox="1"/>
          <p:nvPr/>
        </p:nvSpPr>
        <p:spPr>
          <a:xfrm>
            <a:off x="4264660" y="4568190"/>
            <a:ext cx="393065" cy="313690"/>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内容平台</a:t>
            </a:r>
            <a:endParaRPr lang="zh-CN" altLang="en-US" sz="1000" dirty="0">
              <a:solidFill>
                <a:srgbClr val="0042FF"/>
              </a:solidFill>
              <a:latin typeface="微软雅黑"/>
              <a:ea typeface="微软雅黑"/>
              <a:cs typeface="微软雅黑"/>
            </a:endParaRPr>
          </a:p>
        </p:txBody>
      </p:sp>
      <p:sp>
        <p:nvSpPr>
          <p:cNvPr id="109" name="紫荆的职场Point62"/>
          <p:cNvSpPr txBox="1"/>
          <p:nvPr/>
        </p:nvSpPr>
        <p:spPr>
          <a:xfrm>
            <a:off x="4625975" y="4737735"/>
            <a:ext cx="496570" cy="336550"/>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新零售</a:t>
            </a:r>
            <a:endParaRPr lang="zh-CN" altLang="en-US" sz="1000" dirty="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场景</a:t>
            </a:r>
            <a:endParaRPr lang="zh-CN" altLang="en-US" sz="1000" dirty="0">
              <a:solidFill>
                <a:srgbClr val="0042FF"/>
              </a:solidFill>
              <a:latin typeface="微软雅黑"/>
              <a:ea typeface="微软雅黑"/>
              <a:cs typeface="微软雅黑"/>
            </a:endParaRPr>
          </a:p>
        </p:txBody>
      </p:sp>
      <p:sp>
        <p:nvSpPr>
          <p:cNvPr id="110" name="紫荆的职场Point63"/>
          <p:cNvSpPr txBox="1"/>
          <p:nvPr/>
        </p:nvSpPr>
        <p:spPr>
          <a:xfrm>
            <a:off x="5033010" y="4574540"/>
            <a:ext cx="429260" cy="336550"/>
          </a:xfrm>
          <a:prstGeom prst="rect">
            <a:avLst/>
          </a:prstGeom>
          <a:noFill/>
        </p:spPr>
        <p:txBody>
          <a:bodyPr wrap="square" lIns="0" rIns="0" tIns="0" bIns="0" anchor="t">
            <a:noAutofit/>
          </a:bodyPr>
          <a:lstStyle/>
          <a:p>
            <a:pPr algn="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其他</a:t>
            </a:r>
            <a:endParaRPr lang="en-US" altLang="zh-CN" sz="1000" dirty="0">
              <a:solidFill>
                <a:srgbClr val="0042FF"/>
              </a:solidFill>
              <a:latin typeface="微软雅黑"/>
              <a:ea typeface="微软雅黑"/>
              <a:cs typeface="微软雅黑"/>
            </a:endParaRPr>
          </a:p>
          <a:p>
            <a:pPr algn="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平台</a:t>
            </a:r>
            <a:endParaRPr lang="zh-CN" altLang="en-US" sz="1000" dirty="0">
              <a:solidFill>
                <a:srgbClr val="0042FF"/>
              </a:solidFill>
              <a:latin typeface="微软雅黑"/>
              <a:ea typeface="微软雅黑"/>
              <a:cs typeface="微软雅黑"/>
            </a:endParaRPr>
          </a:p>
        </p:txBody>
      </p:sp>
      <p:sp>
        <p:nvSpPr>
          <p:cNvPr id="111" name="紫荆的职场Point64"/>
          <p:cNvSpPr txBox="1"/>
          <p:nvPr/>
        </p:nvSpPr>
        <p:spPr>
          <a:xfrm>
            <a:off x="5264150" y="3655695"/>
            <a:ext cx="378460" cy="313690"/>
          </a:xfrm>
          <a:prstGeom prst="rect">
            <a:avLst/>
          </a:prstGeom>
          <a:noFill/>
        </p:spPr>
        <p:txBody>
          <a:bodyPr wrap="square" lIns="0" rIns="0" tIns="0" bIns="0" anchor="t">
            <a:noAutofit/>
          </a:bodyPr>
          <a:lstStyle/>
          <a:p>
            <a:pPr algn="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自有渠道</a:t>
            </a:r>
            <a:endParaRPr lang="zh-CN" altLang="en-US" sz="1000" dirty="0">
              <a:solidFill>
                <a:srgbClr val="0042FF"/>
              </a:solidFill>
              <a:latin typeface="微软雅黑"/>
              <a:ea typeface="微软雅黑"/>
              <a:cs typeface="微软雅黑"/>
            </a:endParaRPr>
          </a:p>
        </p:txBody>
      </p:sp>
      <p:sp>
        <p:nvSpPr>
          <p:cNvPr id="113" name="紫荆的职场Point65"/>
          <p:cNvSpPr txBox="1"/>
          <p:nvPr/>
        </p:nvSpPr>
        <p:spPr>
          <a:xfrm>
            <a:off x="4650105" y="3968750"/>
            <a:ext cx="451485" cy="252730"/>
          </a:xfrm>
          <a:prstGeom prst="rect">
            <a:avLst/>
          </a:prstGeom>
          <a:noFill/>
        </p:spPr>
        <p:txBody>
          <a:bodyPr wrap="square">
            <a:spAutoFit/>
          </a:bodyPr>
          <a:lstStyle/>
          <a:p>
            <a:pPr algn="ctr">
              <a:defRPr>
                <a:latin typeface="微软雅黑"/>
                <a:ea typeface="微软雅黑"/>
                <a:cs typeface="微软雅黑"/>
              </a:defRPr>
            </a:pPr>
            <a:r>
              <a:rPr lang="zh-CN" altLang="en-US" sz="1050" b="1" dirty="0">
                <a:solidFill>
                  <a:srgbClr val="0042FF"/>
                </a:solidFill>
                <a:latin typeface="微软雅黑"/>
                <a:ea typeface="微软雅黑"/>
                <a:cs typeface="微软雅黑"/>
              </a:rPr>
              <a:t>全域</a:t>
            </a:r>
            <a:endParaRPr lang="zh-CN" altLang="en-US" sz="1050" b="1" dirty="0">
              <a:solidFill>
                <a:srgbClr val="0042FF"/>
              </a:solidFill>
              <a:latin typeface="微软雅黑"/>
              <a:ea typeface="微软雅黑"/>
              <a:cs typeface="微软雅黑"/>
            </a:endParaRPr>
          </a:p>
        </p:txBody>
      </p:sp>
      <p:sp>
        <p:nvSpPr>
          <p:cNvPr id="115" name="紫荆的职场Point66"/>
          <p:cNvSpPr txBox="1"/>
          <p:nvPr/>
        </p:nvSpPr>
        <p:spPr>
          <a:xfrm>
            <a:off x="4618990" y="4149725"/>
            <a:ext cx="513715"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全域连接</a:t>
            </a:r>
            <a:endParaRPr lang="zh-CN" altLang="en-US" sz="1000" dirty="0">
              <a:solidFill>
                <a:srgbClr val="0042FF"/>
              </a:solidFill>
              <a:latin typeface="微软雅黑"/>
              <a:ea typeface="微软雅黑"/>
              <a:cs typeface="微软雅黑"/>
            </a:endParaRPr>
          </a:p>
        </p:txBody>
      </p:sp>
      <p:sp>
        <p:nvSpPr>
          <p:cNvPr id="117" name="紫荆的职场Point67"/>
          <p:cNvSpPr/>
          <p:nvPr/>
        </p:nvSpPr>
        <p:spPr>
          <a:xfrm>
            <a:off x="4363085" y="3641725"/>
            <a:ext cx="1021715" cy="1022350"/>
          </a:xfrm>
          <a:prstGeom prst="donut">
            <a:avLst>
              <a:gd name="adj" fmla="val 25184"/>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18" name="紫荆的职场Point69"/>
          <p:cNvSpPr/>
          <p:nvPr/>
        </p:nvSpPr>
        <p:spPr>
          <a:xfrm>
            <a:off x="5138420" y="3688715"/>
            <a:ext cx="227965" cy="227965"/>
          </a:xfrm>
          <a:prstGeom prst="ellipse">
            <a:avLst/>
          </a:prstGeom>
          <a:solidFill>
            <a:srgbClr val="FFFFFF">
              <a:alpha val="80000"/>
            </a:srgbClr>
          </a:solidFill>
          <a:ln w="12700">
            <a:solidFill>
              <a:srgbClr val="0042FF">
                <a:alpha val="64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19" name="紫荆的职场Point70"/>
          <p:cNvSpPr/>
          <p:nvPr/>
        </p:nvSpPr>
        <p:spPr>
          <a:xfrm>
            <a:off x="4381500" y="3688715"/>
            <a:ext cx="227965" cy="227965"/>
          </a:xfrm>
          <a:prstGeom prst="ellipse">
            <a:avLst/>
          </a:prstGeom>
          <a:solidFill>
            <a:srgbClr val="FFFFFF">
              <a:alpha val="80000"/>
            </a:srgbClr>
          </a:solidFill>
          <a:ln w="12700">
            <a:solidFill>
              <a:srgbClr val="0042FF">
                <a:alpha val="64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21" name="紫荆的职场Point71"/>
          <p:cNvSpPr/>
          <p:nvPr/>
        </p:nvSpPr>
        <p:spPr>
          <a:xfrm flipV="1">
            <a:off x="4759960" y="4525010"/>
            <a:ext cx="227965" cy="227965"/>
          </a:xfrm>
          <a:prstGeom prst="ellipse">
            <a:avLst/>
          </a:prstGeom>
          <a:solidFill>
            <a:srgbClr val="FFFFFF">
              <a:alpha val="80000"/>
            </a:srgbClr>
          </a:solidFill>
          <a:ln w="12700">
            <a:solidFill>
              <a:srgbClr val="0042FF">
                <a:alpha val="64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200">
                <a:latin typeface="微软雅黑"/>
                <a:ea typeface="微软雅黑"/>
                <a:cs typeface="微软雅黑"/>
                <a:sym typeface="微软雅黑"/>
              </a:rPr>
              <a:t>.</a:t>
            </a:r>
            <a:endParaRPr lang="en-US" altLang="zh-CN" sz="1200">
              <a:latin typeface="微软雅黑"/>
              <a:ea typeface="微软雅黑"/>
              <a:cs typeface="微软雅黑"/>
              <a:sym typeface="微软雅黑"/>
            </a:endParaRPr>
          </a:p>
        </p:txBody>
      </p:sp>
      <p:sp>
        <p:nvSpPr>
          <p:cNvPr id="123" name="紫荆的职场Point72"/>
          <p:cNvSpPr/>
          <p:nvPr/>
        </p:nvSpPr>
        <p:spPr>
          <a:xfrm flipV="1">
            <a:off x="5138420" y="4346575"/>
            <a:ext cx="227965" cy="227965"/>
          </a:xfrm>
          <a:prstGeom prst="ellipse">
            <a:avLst/>
          </a:prstGeom>
          <a:solidFill>
            <a:srgbClr val="FFFFFF">
              <a:alpha val="80000"/>
            </a:srgbClr>
          </a:solidFill>
          <a:ln w="12700">
            <a:solidFill>
              <a:srgbClr val="0042FF">
                <a:alpha val="64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24" name="紫荆的职场Point73"/>
          <p:cNvSpPr/>
          <p:nvPr/>
        </p:nvSpPr>
        <p:spPr>
          <a:xfrm flipV="1">
            <a:off x="4381500" y="4346575"/>
            <a:ext cx="227965" cy="227965"/>
          </a:xfrm>
          <a:prstGeom prst="ellipse">
            <a:avLst/>
          </a:prstGeom>
          <a:solidFill>
            <a:srgbClr val="FFFFFF">
              <a:alpha val="80000"/>
            </a:srgbClr>
          </a:solidFill>
          <a:ln w="12700">
            <a:solidFill>
              <a:srgbClr val="0042FF">
                <a:alpha val="64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28" name="紫荆的职场Point68"/>
          <p:cNvSpPr/>
          <p:nvPr/>
        </p:nvSpPr>
        <p:spPr>
          <a:xfrm>
            <a:off x="4759960" y="3509645"/>
            <a:ext cx="227965" cy="227965"/>
          </a:xfrm>
          <a:prstGeom prst="ellipse">
            <a:avLst/>
          </a:prstGeom>
          <a:solidFill>
            <a:srgbClr val="FFFFFF">
              <a:alpha val="80000"/>
            </a:srgbClr>
          </a:solidFill>
          <a:ln w="12700">
            <a:solidFill>
              <a:srgbClr val="0042FF">
                <a:alpha val="64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grpSp>
        <p:nvGrpSpPr>
          <p:cNvPr id="130" name="紫荆的职场Point74"/>
          <p:cNvGrpSpPr/>
          <p:nvPr/>
        </p:nvGrpSpPr>
        <p:grpSpPr>
          <a:xfrm>
            <a:off x="4811395" y="3572510"/>
            <a:ext cx="124460" cy="104140"/>
            <a:chOff x="4290202" y="2776747"/>
            <a:chExt cx="142873" cy="119087"/>
          </a:xfrm>
          <a:solidFill>
            <a:srgbClr val="0042FF"/>
          </a:solidFill>
        </p:grpSpPr>
        <p:sp>
          <p:nvSpPr>
            <p:cNvPr id="133" name="紫荆的职场Point74-1"/>
            <p:cNvSpPr/>
            <p:nvPr/>
          </p:nvSpPr>
          <p:spPr>
            <a:xfrm>
              <a:off x="4290202" y="2776747"/>
              <a:ext cx="103759" cy="95123"/>
            </a:xfrm>
            <a:custGeom>
              <a:avLst/>
              <a:gdLst>
                <a:gd name="connsiteX0" fmla="*/ 81005 w 103759"/>
                <a:gd name="connsiteY0" fmla="*/ 7513 h 95123"/>
                <a:gd name="connsiteX1" fmla="*/ 1199 w 103759"/>
                <a:gd name="connsiteY1" fmla="*/ 53572 h 95123"/>
                <a:gd name="connsiteX2" fmla="*/ 20546 w 103759"/>
                <a:gd name="connsiteY2" fmla="*/ 79954 h 95123"/>
                <a:gd name="connsiteX3" fmla="*/ 15490 w 103759"/>
                <a:gd name="connsiteY3" fmla="*/ 95124 h 95123"/>
                <a:gd name="connsiteX4" fmla="*/ 32858 w 103759"/>
                <a:gd name="connsiteY4" fmla="*/ 85780 h 95123"/>
                <a:gd name="connsiteX5" fmla="*/ 54733 w 103759"/>
                <a:gd name="connsiteY5" fmla="*/ 88858 h 95123"/>
                <a:gd name="connsiteX6" fmla="*/ 103760 w 103759"/>
                <a:gd name="connsiteY6" fmla="*/ 37303 h 95123"/>
                <a:gd name="connsiteX7" fmla="*/ 81005 w 103759"/>
                <a:gd name="connsiteY7" fmla="*/ 7513 h 95123"/>
                <a:gd name="connsiteX8" fmla="*/ 33957 w 103759"/>
                <a:gd name="connsiteY8" fmla="*/ 36423 h 95123"/>
                <a:gd name="connsiteX9" fmla="*/ 26372 w 103759"/>
                <a:gd name="connsiteY9" fmla="*/ 28838 h 95123"/>
                <a:gd name="connsiteX10" fmla="*/ 33957 w 103759"/>
                <a:gd name="connsiteY10" fmla="*/ 21254 h 95123"/>
                <a:gd name="connsiteX11" fmla="*/ 41542 w 103759"/>
                <a:gd name="connsiteY11" fmla="*/ 28838 h 95123"/>
                <a:gd name="connsiteX12" fmla="*/ 33957 w 103759"/>
                <a:gd name="connsiteY12" fmla="*/ 36423 h 95123"/>
                <a:gd name="connsiteX13" fmla="*/ 69793 w 103759"/>
                <a:gd name="connsiteY13" fmla="*/ 36423 h 95123"/>
                <a:gd name="connsiteX14" fmla="*/ 62208 w 103759"/>
                <a:gd name="connsiteY14" fmla="*/ 28838 h 95123"/>
                <a:gd name="connsiteX15" fmla="*/ 69793 w 103759"/>
                <a:gd name="connsiteY15" fmla="*/ 21254 h 95123"/>
                <a:gd name="connsiteX16" fmla="*/ 77378 w 103759"/>
                <a:gd name="connsiteY16" fmla="*/ 28838 h 95123"/>
                <a:gd name="connsiteX17" fmla="*/ 69793 w 103759"/>
                <a:gd name="connsiteY17" fmla="*/ 36423 h 95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3759" h="95123">
                  <a:moveTo>
                    <a:pt x="81005" y="7513"/>
                  </a:moveTo>
                  <a:cubicBezTo>
                    <a:pt x="41212" y="-14912"/>
                    <a:pt x="-8364" y="16527"/>
                    <a:pt x="1199" y="53572"/>
                  </a:cubicBezTo>
                  <a:cubicBezTo>
                    <a:pt x="3727" y="64564"/>
                    <a:pt x="11312" y="73798"/>
                    <a:pt x="20546" y="79954"/>
                  </a:cubicBezTo>
                  <a:cubicBezTo>
                    <a:pt x="18787" y="85010"/>
                    <a:pt x="17138" y="90067"/>
                    <a:pt x="15490" y="95124"/>
                  </a:cubicBezTo>
                  <a:cubicBezTo>
                    <a:pt x="21316" y="92156"/>
                    <a:pt x="27142" y="88858"/>
                    <a:pt x="32858" y="85780"/>
                  </a:cubicBezTo>
                  <a:cubicBezTo>
                    <a:pt x="39893" y="87978"/>
                    <a:pt x="47258" y="89078"/>
                    <a:pt x="54733" y="88858"/>
                  </a:cubicBezTo>
                  <a:cubicBezTo>
                    <a:pt x="45499" y="62696"/>
                    <a:pt x="69023" y="34774"/>
                    <a:pt x="103760" y="37303"/>
                  </a:cubicBezTo>
                  <a:cubicBezTo>
                    <a:pt x="101122" y="24551"/>
                    <a:pt x="92108" y="13779"/>
                    <a:pt x="81005" y="7513"/>
                  </a:cubicBezTo>
                  <a:close/>
                  <a:moveTo>
                    <a:pt x="33957" y="36423"/>
                  </a:moveTo>
                  <a:cubicBezTo>
                    <a:pt x="29780" y="36423"/>
                    <a:pt x="26372" y="33016"/>
                    <a:pt x="26372" y="28838"/>
                  </a:cubicBezTo>
                  <a:cubicBezTo>
                    <a:pt x="26372" y="24661"/>
                    <a:pt x="29780" y="21254"/>
                    <a:pt x="33957" y="21254"/>
                  </a:cubicBezTo>
                  <a:cubicBezTo>
                    <a:pt x="38134" y="21254"/>
                    <a:pt x="41542" y="24661"/>
                    <a:pt x="41542" y="28838"/>
                  </a:cubicBezTo>
                  <a:cubicBezTo>
                    <a:pt x="41542" y="33016"/>
                    <a:pt x="38134" y="36423"/>
                    <a:pt x="33957" y="36423"/>
                  </a:cubicBezTo>
                  <a:close/>
                  <a:moveTo>
                    <a:pt x="69793" y="36423"/>
                  </a:moveTo>
                  <a:cubicBezTo>
                    <a:pt x="65616" y="36423"/>
                    <a:pt x="62208" y="33016"/>
                    <a:pt x="62208" y="28838"/>
                  </a:cubicBezTo>
                  <a:cubicBezTo>
                    <a:pt x="62208" y="24661"/>
                    <a:pt x="65616" y="21254"/>
                    <a:pt x="69793" y="21254"/>
                  </a:cubicBezTo>
                  <a:cubicBezTo>
                    <a:pt x="73970" y="21254"/>
                    <a:pt x="77378" y="24661"/>
                    <a:pt x="77378" y="28838"/>
                  </a:cubicBezTo>
                  <a:cubicBezTo>
                    <a:pt x="77268" y="33016"/>
                    <a:pt x="73970" y="36423"/>
                    <a:pt x="69793" y="36423"/>
                  </a:cubicBezTo>
                  <a:close/>
                </a:path>
              </a:pathLst>
            </a:custGeom>
            <a:solidFill>
              <a:srgbClr val="0042FF"/>
            </a:solidFill>
            <a:ln w="106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35" name="紫荆的职场Point74-2"/>
            <p:cNvSpPr/>
            <p:nvPr/>
          </p:nvSpPr>
          <p:spPr>
            <a:xfrm>
              <a:off x="4345552" y="2816465"/>
              <a:ext cx="87524" cy="79370"/>
            </a:xfrm>
            <a:custGeom>
              <a:avLst/>
              <a:gdLst>
                <a:gd name="connsiteX0" fmla="*/ 66438 w 87524"/>
                <a:gd name="connsiteY0" fmla="*/ 5500 h 79370"/>
                <a:gd name="connsiteX1" fmla="*/ 4880 w 87524"/>
                <a:gd name="connsiteY1" fmla="*/ 54197 h 79370"/>
                <a:gd name="connsiteX2" fmla="*/ 60283 w 87524"/>
                <a:gd name="connsiteY2" fmla="*/ 71895 h 79370"/>
                <a:gd name="connsiteX3" fmla="*/ 74573 w 87524"/>
                <a:gd name="connsiteY3" fmla="*/ 79370 h 79370"/>
                <a:gd name="connsiteX4" fmla="*/ 70506 w 87524"/>
                <a:gd name="connsiteY4" fmla="*/ 66839 h 79370"/>
                <a:gd name="connsiteX5" fmla="*/ 66438 w 87524"/>
                <a:gd name="connsiteY5" fmla="*/ 5500 h 79370"/>
                <a:gd name="connsiteX6" fmla="*/ 29503 w 87524"/>
                <a:gd name="connsiteY6" fmla="*/ 31223 h 79370"/>
                <a:gd name="connsiteX7" fmla="*/ 23677 w 87524"/>
                <a:gd name="connsiteY7" fmla="*/ 25397 h 79370"/>
                <a:gd name="connsiteX8" fmla="*/ 29503 w 87524"/>
                <a:gd name="connsiteY8" fmla="*/ 19570 h 79370"/>
                <a:gd name="connsiteX9" fmla="*/ 35329 w 87524"/>
                <a:gd name="connsiteY9" fmla="*/ 25397 h 79370"/>
                <a:gd name="connsiteX10" fmla="*/ 29503 w 87524"/>
                <a:gd name="connsiteY10" fmla="*/ 31223 h 79370"/>
                <a:gd name="connsiteX11" fmla="*/ 58084 w 87524"/>
                <a:gd name="connsiteY11" fmla="*/ 31223 h 79370"/>
                <a:gd name="connsiteX12" fmla="*/ 52258 w 87524"/>
                <a:gd name="connsiteY12" fmla="*/ 25397 h 79370"/>
                <a:gd name="connsiteX13" fmla="*/ 58084 w 87524"/>
                <a:gd name="connsiteY13" fmla="*/ 19570 h 79370"/>
                <a:gd name="connsiteX14" fmla="*/ 63910 w 87524"/>
                <a:gd name="connsiteY14" fmla="*/ 25397 h 79370"/>
                <a:gd name="connsiteX15" fmla="*/ 58084 w 87524"/>
                <a:gd name="connsiteY15" fmla="*/ 31223 h 7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524" h="79370">
                  <a:moveTo>
                    <a:pt x="66438" y="5500"/>
                  </a:moveTo>
                  <a:cubicBezTo>
                    <a:pt x="28404" y="-13847"/>
                    <a:pt x="-14687" y="21549"/>
                    <a:pt x="4880" y="54197"/>
                  </a:cubicBezTo>
                  <a:cubicBezTo>
                    <a:pt x="14114" y="69477"/>
                    <a:pt x="35220" y="79260"/>
                    <a:pt x="60283" y="71895"/>
                  </a:cubicBezTo>
                  <a:cubicBezTo>
                    <a:pt x="65339" y="73874"/>
                    <a:pt x="69846" y="76952"/>
                    <a:pt x="74573" y="79370"/>
                  </a:cubicBezTo>
                  <a:cubicBezTo>
                    <a:pt x="73364" y="75193"/>
                    <a:pt x="71935" y="71016"/>
                    <a:pt x="70506" y="66839"/>
                  </a:cubicBezTo>
                  <a:cubicBezTo>
                    <a:pt x="96448" y="48371"/>
                    <a:pt x="90842" y="18032"/>
                    <a:pt x="66438" y="5500"/>
                  </a:cubicBezTo>
                  <a:close/>
                  <a:moveTo>
                    <a:pt x="29503" y="31223"/>
                  </a:moveTo>
                  <a:cubicBezTo>
                    <a:pt x="26206" y="31223"/>
                    <a:pt x="23677" y="28584"/>
                    <a:pt x="23677" y="25397"/>
                  </a:cubicBezTo>
                  <a:cubicBezTo>
                    <a:pt x="23677" y="22209"/>
                    <a:pt x="26316" y="19570"/>
                    <a:pt x="29503" y="19570"/>
                  </a:cubicBezTo>
                  <a:cubicBezTo>
                    <a:pt x="32691" y="19570"/>
                    <a:pt x="35329" y="22209"/>
                    <a:pt x="35329" y="25397"/>
                  </a:cubicBezTo>
                  <a:cubicBezTo>
                    <a:pt x="35329" y="28584"/>
                    <a:pt x="32801" y="31223"/>
                    <a:pt x="29503" y="31223"/>
                  </a:cubicBezTo>
                  <a:close/>
                  <a:moveTo>
                    <a:pt x="58084" y="31223"/>
                  </a:moveTo>
                  <a:cubicBezTo>
                    <a:pt x="54786" y="31223"/>
                    <a:pt x="52258" y="28584"/>
                    <a:pt x="52258" y="25397"/>
                  </a:cubicBezTo>
                  <a:cubicBezTo>
                    <a:pt x="52258" y="22209"/>
                    <a:pt x="54896" y="19570"/>
                    <a:pt x="58084" y="19570"/>
                  </a:cubicBezTo>
                  <a:cubicBezTo>
                    <a:pt x="61272" y="19570"/>
                    <a:pt x="63910" y="22209"/>
                    <a:pt x="63910" y="25397"/>
                  </a:cubicBezTo>
                  <a:cubicBezTo>
                    <a:pt x="63910" y="28584"/>
                    <a:pt x="61162" y="31223"/>
                    <a:pt x="58084" y="31223"/>
                  </a:cubicBezTo>
                  <a:close/>
                </a:path>
              </a:pathLst>
            </a:custGeom>
            <a:solidFill>
              <a:srgbClr val="0042FF"/>
            </a:solidFill>
            <a:ln w="106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139" name="紫荆的职场Point75"/>
          <p:cNvSpPr/>
          <p:nvPr/>
        </p:nvSpPr>
        <p:spPr>
          <a:xfrm>
            <a:off x="5186045" y="3742690"/>
            <a:ext cx="132080" cy="120015"/>
          </a:xfrm>
          <a:custGeom>
            <a:avLst/>
            <a:gdLst>
              <a:gd name="connsiteX0" fmla="*/ 172210 w 197939"/>
              <a:gd name="connsiteY0" fmla="*/ 42158 h 179438"/>
              <a:gd name="connsiteX1" fmla="*/ 172352 w 197939"/>
              <a:gd name="connsiteY1" fmla="*/ 46059 h 179438"/>
              <a:gd name="connsiteX2" fmla="*/ 117954 w 197939"/>
              <a:gd name="connsiteY2" fmla="*/ 99918 h 179438"/>
              <a:gd name="connsiteX3" fmla="*/ 63557 w 197939"/>
              <a:gd name="connsiteY3" fmla="*/ 46059 h 179438"/>
              <a:gd name="connsiteX4" fmla="*/ 63696 w 197939"/>
              <a:gd name="connsiteY4" fmla="*/ 42158 h 179438"/>
              <a:gd name="connsiteX5" fmla="*/ 51568 w 197939"/>
              <a:gd name="connsiteY5" fmla="*/ 42158 h 179438"/>
              <a:gd name="connsiteX6" fmla="*/ 51568 w 197939"/>
              <a:gd name="connsiteY6" fmla="*/ 35233 h 179438"/>
              <a:gd name="connsiteX7" fmla="*/ 45615 w 197939"/>
              <a:gd name="connsiteY7" fmla="*/ 21002 h 179438"/>
              <a:gd name="connsiteX8" fmla="*/ 31242 w 197939"/>
              <a:gd name="connsiteY8" fmla="*/ 15109 h 179438"/>
              <a:gd name="connsiteX9" fmla="*/ 28192 w 197939"/>
              <a:gd name="connsiteY9" fmla="*/ 15109 h 179438"/>
              <a:gd name="connsiteX10" fmla="*/ 14373 w 197939"/>
              <a:gd name="connsiteY10" fmla="*/ 4798 h 179438"/>
              <a:gd name="connsiteX11" fmla="*/ 0 w 197939"/>
              <a:gd name="connsiteY11" fmla="*/ 19028 h 179438"/>
              <a:gd name="connsiteX12" fmla="*/ 14373 w 197939"/>
              <a:gd name="connsiteY12" fmla="*/ 33259 h 179438"/>
              <a:gd name="connsiteX13" fmla="*/ 28192 w 197939"/>
              <a:gd name="connsiteY13" fmla="*/ 22948 h 179438"/>
              <a:gd name="connsiteX14" fmla="*/ 31242 w 197939"/>
              <a:gd name="connsiteY14" fmla="*/ 22948 h 179438"/>
              <a:gd name="connsiteX15" fmla="*/ 40016 w 197939"/>
              <a:gd name="connsiteY15" fmla="*/ 26545 h 179438"/>
              <a:gd name="connsiteX16" fmla="*/ 43650 w 197939"/>
              <a:gd name="connsiteY16" fmla="*/ 35233 h 179438"/>
              <a:gd name="connsiteX17" fmla="*/ 43650 w 197939"/>
              <a:gd name="connsiteY17" fmla="*/ 42158 h 179438"/>
              <a:gd name="connsiteX18" fmla="*/ 42287 w 197939"/>
              <a:gd name="connsiteY18" fmla="*/ 42158 h 179438"/>
              <a:gd name="connsiteX19" fmla="*/ 31228 w 197939"/>
              <a:gd name="connsiteY19" fmla="*/ 46693 h 179438"/>
              <a:gd name="connsiteX20" fmla="*/ 26647 w 197939"/>
              <a:gd name="connsiteY20" fmla="*/ 57642 h 179438"/>
              <a:gd name="connsiteX21" fmla="*/ 26647 w 197939"/>
              <a:gd name="connsiteY21" fmla="*/ 115753 h 179438"/>
              <a:gd name="connsiteX22" fmla="*/ 31139 w 197939"/>
              <a:gd name="connsiteY22" fmla="*/ 126611 h 179438"/>
              <a:gd name="connsiteX23" fmla="*/ 31139 w 197939"/>
              <a:gd name="connsiteY23" fmla="*/ 146969 h 179438"/>
              <a:gd name="connsiteX24" fmla="*/ 46078 w 197939"/>
              <a:gd name="connsiteY24" fmla="*/ 164266 h 179438"/>
              <a:gd name="connsiteX25" fmla="*/ 64783 w 197939"/>
              <a:gd name="connsiteY25" fmla="*/ 179438 h 179438"/>
              <a:gd name="connsiteX26" fmla="*/ 83442 w 197939"/>
              <a:gd name="connsiteY26" fmla="*/ 164474 h 179438"/>
              <a:gd name="connsiteX27" fmla="*/ 133705 w 197939"/>
              <a:gd name="connsiteY27" fmla="*/ 164474 h 179438"/>
              <a:gd name="connsiteX28" fmla="*/ 152366 w 197939"/>
              <a:gd name="connsiteY28" fmla="*/ 179438 h 179438"/>
              <a:gd name="connsiteX29" fmla="*/ 171439 w 197939"/>
              <a:gd name="connsiteY29" fmla="*/ 160554 h 179438"/>
              <a:gd name="connsiteX30" fmla="*/ 152366 w 197939"/>
              <a:gd name="connsiteY30" fmla="*/ 141672 h 179438"/>
              <a:gd name="connsiteX31" fmla="*/ 133705 w 197939"/>
              <a:gd name="connsiteY31" fmla="*/ 156634 h 179438"/>
              <a:gd name="connsiteX32" fmla="*/ 83442 w 197939"/>
              <a:gd name="connsiteY32" fmla="*/ 156634 h 179438"/>
              <a:gd name="connsiteX33" fmla="*/ 64783 w 197939"/>
              <a:gd name="connsiteY33" fmla="*/ 141672 h 179438"/>
              <a:gd name="connsiteX34" fmla="*/ 46201 w 197939"/>
              <a:gd name="connsiteY34" fmla="*/ 156285 h 179438"/>
              <a:gd name="connsiteX35" fmla="*/ 39057 w 197939"/>
              <a:gd name="connsiteY35" fmla="*/ 146969 h 179438"/>
              <a:gd name="connsiteX36" fmla="*/ 39057 w 197939"/>
              <a:gd name="connsiteY36" fmla="*/ 130903 h 179438"/>
              <a:gd name="connsiteX37" fmla="*/ 42287 w 197939"/>
              <a:gd name="connsiteY37" fmla="*/ 131237 h 179438"/>
              <a:gd name="connsiteX38" fmla="*/ 159189 w 197939"/>
              <a:gd name="connsiteY38" fmla="*/ 131237 h 179438"/>
              <a:gd name="connsiteX39" fmla="*/ 173739 w 197939"/>
              <a:gd name="connsiteY39" fmla="*/ 121426 h 179438"/>
              <a:gd name="connsiteX40" fmla="*/ 196852 w 197939"/>
              <a:gd name="connsiteY40" fmla="*/ 63316 h 179438"/>
              <a:gd name="connsiteX41" fmla="*/ 195228 w 197939"/>
              <a:gd name="connsiteY41" fmla="*/ 48927 h 179438"/>
              <a:gd name="connsiteX42" fmla="*/ 182301 w 197939"/>
              <a:gd name="connsiteY42" fmla="*/ 42158 h 179438"/>
              <a:gd name="connsiteX43" fmla="*/ 152366 w 197939"/>
              <a:gd name="connsiteY43" fmla="*/ 153781 h 179438"/>
              <a:gd name="connsiteX44" fmla="*/ 159207 w 197939"/>
              <a:gd name="connsiteY44" fmla="*/ 160554 h 179438"/>
              <a:gd name="connsiteX45" fmla="*/ 152366 w 197939"/>
              <a:gd name="connsiteY45" fmla="*/ 167329 h 179438"/>
              <a:gd name="connsiteX46" fmla="*/ 145525 w 197939"/>
              <a:gd name="connsiteY46" fmla="*/ 160554 h 179438"/>
              <a:gd name="connsiteX47" fmla="*/ 152366 w 197939"/>
              <a:gd name="connsiteY47" fmla="*/ 153781 h 179438"/>
              <a:gd name="connsiteX48" fmla="*/ 64783 w 197939"/>
              <a:gd name="connsiteY48" fmla="*/ 153781 h 179438"/>
              <a:gd name="connsiteX49" fmla="*/ 71624 w 197939"/>
              <a:gd name="connsiteY49" fmla="*/ 160554 h 179438"/>
              <a:gd name="connsiteX50" fmla="*/ 64783 w 197939"/>
              <a:gd name="connsiteY50" fmla="*/ 167329 h 179438"/>
              <a:gd name="connsiteX51" fmla="*/ 57940 w 197939"/>
              <a:gd name="connsiteY51" fmla="*/ 160554 h 179438"/>
              <a:gd name="connsiteX52" fmla="*/ 64783 w 197939"/>
              <a:gd name="connsiteY52" fmla="*/ 153781 h 179438"/>
              <a:gd name="connsiteX53" fmla="*/ 104761 w 197939"/>
              <a:gd name="connsiteY53" fmla="*/ 62562 h 179438"/>
              <a:gd name="connsiteX54" fmla="*/ 131148 w 197939"/>
              <a:gd name="connsiteY54" fmla="*/ 62562 h 179438"/>
              <a:gd name="connsiteX55" fmla="*/ 122250 w 197939"/>
              <a:gd name="connsiteY55" fmla="*/ 91923 h 179438"/>
              <a:gd name="connsiteX56" fmla="*/ 117954 w 197939"/>
              <a:gd name="connsiteY56" fmla="*/ 92119 h 179438"/>
              <a:gd name="connsiteX57" fmla="*/ 113656 w 197939"/>
              <a:gd name="connsiteY57" fmla="*/ 91923 h 179438"/>
              <a:gd name="connsiteX58" fmla="*/ 104761 w 197939"/>
              <a:gd name="connsiteY58" fmla="*/ 62562 h 179438"/>
              <a:gd name="connsiteX59" fmla="*/ 97027 w 197939"/>
              <a:gd name="connsiteY59" fmla="*/ 63870 h 179438"/>
              <a:gd name="connsiteX60" fmla="*/ 104240 w 197939"/>
              <a:gd name="connsiteY60" fmla="*/ 90081 h 179438"/>
              <a:gd name="connsiteX61" fmla="*/ 78156 w 197939"/>
              <a:gd name="connsiteY61" fmla="*/ 69909 h 179438"/>
              <a:gd name="connsiteX62" fmla="*/ 97027 w 197939"/>
              <a:gd name="connsiteY62" fmla="*/ 63870 h 179438"/>
              <a:gd name="connsiteX63" fmla="*/ 138879 w 197939"/>
              <a:gd name="connsiteY63" fmla="*/ 63870 h 179438"/>
              <a:gd name="connsiteX64" fmla="*/ 157750 w 197939"/>
              <a:gd name="connsiteY64" fmla="*/ 69909 h 179438"/>
              <a:gd name="connsiteX65" fmla="*/ 131669 w 197939"/>
              <a:gd name="connsiteY65" fmla="*/ 90081 h 179438"/>
              <a:gd name="connsiteX66" fmla="*/ 138879 w 197939"/>
              <a:gd name="connsiteY66" fmla="*/ 63870 h 179438"/>
              <a:gd name="connsiteX67" fmla="*/ 74656 w 197939"/>
              <a:gd name="connsiteY67" fmla="*/ 29195 h 179438"/>
              <a:gd name="connsiteX68" fmla="*/ 96118 w 197939"/>
              <a:gd name="connsiteY68" fmla="*/ 35998 h 179438"/>
              <a:gd name="connsiteX69" fmla="*/ 96118 w 197939"/>
              <a:gd name="connsiteY69" fmla="*/ 56120 h 179438"/>
              <a:gd name="connsiteX70" fmla="*/ 74656 w 197939"/>
              <a:gd name="connsiteY70" fmla="*/ 62922 h 179438"/>
              <a:gd name="connsiteX71" fmla="*/ 71434 w 197939"/>
              <a:gd name="connsiteY71" fmla="*/ 46059 h 179438"/>
              <a:gd name="connsiteX72" fmla="*/ 74656 w 197939"/>
              <a:gd name="connsiteY72" fmla="*/ 29195 h 179438"/>
              <a:gd name="connsiteX73" fmla="*/ 161253 w 197939"/>
              <a:gd name="connsiteY73" fmla="*/ 29195 h 179438"/>
              <a:gd name="connsiteX74" fmla="*/ 164474 w 197939"/>
              <a:gd name="connsiteY74" fmla="*/ 46059 h 179438"/>
              <a:gd name="connsiteX75" fmla="*/ 161253 w 197939"/>
              <a:gd name="connsiteY75" fmla="*/ 62922 h 179438"/>
              <a:gd name="connsiteX76" fmla="*/ 139788 w 197939"/>
              <a:gd name="connsiteY76" fmla="*/ 56120 h 179438"/>
              <a:gd name="connsiteX77" fmla="*/ 139788 w 197939"/>
              <a:gd name="connsiteY77" fmla="*/ 35998 h 179438"/>
              <a:gd name="connsiteX78" fmla="*/ 161253 w 197939"/>
              <a:gd name="connsiteY78" fmla="*/ 29195 h 179438"/>
              <a:gd name="connsiteX79" fmla="*/ 103878 w 197939"/>
              <a:gd name="connsiteY79" fmla="*/ 37272 h 179438"/>
              <a:gd name="connsiteX80" fmla="*/ 132028 w 197939"/>
              <a:gd name="connsiteY80" fmla="*/ 37272 h 179438"/>
              <a:gd name="connsiteX81" fmla="*/ 132028 w 197939"/>
              <a:gd name="connsiteY81" fmla="*/ 54847 h 179438"/>
              <a:gd name="connsiteX82" fmla="*/ 103878 w 197939"/>
              <a:gd name="connsiteY82" fmla="*/ 54847 h 179438"/>
              <a:gd name="connsiteX83" fmla="*/ 103878 w 197939"/>
              <a:gd name="connsiteY83" fmla="*/ 37272 h 179438"/>
              <a:gd name="connsiteX84" fmla="*/ 104761 w 197939"/>
              <a:gd name="connsiteY84" fmla="*/ 29557 h 179438"/>
              <a:gd name="connsiteX85" fmla="*/ 113656 w 197939"/>
              <a:gd name="connsiteY85" fmla="*/ 194 h 179438"/>
              <a:gd name="connsiteX86" fmla="*/ 117954 w 197939"/>
              <a:gd name="connsiteY86" fmla="*/ 0 h 179438"/>
              <a:gd name="connsiteX87" fmla="*/ 122248 w 197939"/>
              <a:gd name="connsiteY87" fmla="*/ 194 h 179438"/>
              <a:gd name="connsiteX88" fmla="*/ 131146 w 197939"/>
              <a:gd name="connsiteY88" fmla="*/ 29557 h 179438"/>
              <a:gd name="connsiteX89" fmla="*/ 104761 w 197939"/>
              <a:gd name="connsiteY89" fmla="*/ 29557 h 179438"/>
              <a:gd name="connsiteX90" fmla="*/ 78156 w 197939"/>
              <a:gd name="connsiteY90" fmla="*/ 22208 h 179438"/>
              <a:gd name="connsiteX91" fmla="*/ 104240 w 197939"/>
              <a:gd name="connsiteY91" fmla="*/ 2038 h 179438"/>
              <a:gd name="connsiteX92" fmla="*/ 97027 w 197939"/>
              <a:gd name="connsiteY92" fmla="*/ 28249 h 179438"/>
              <a:gd name="connsiteX93" fmla="*/ 78156 w 197939"/>
              <a:gd name="connsiteY93" fmla="*/ 22208 h 179438"/>
              <a:gd name="connsiteX94" fmla="*/ 138879 w 197939"/>
              <a:gd name="connsiteY94" fmla="*/ 28249 h 179438"/>
              <a:gd name="connsiteX95" fmla="*/ 131669 w 197939"/>
              <a:gd name="connsiteY95" fmla="*/ 2038 h 179438"/>
              <a:gd name="connsiteX96" fmla="*/ 157750 w 197939"/>
              <a:gd name="connsiteY96" fmla="*/ 22208 h 179438"/>
              <a:gd name="connsiteX97" fmla="*/ 138879 w 197939"/>
              <a:gd name="connsiteY97" fmla="*/ 28249 h 179438"/>
              <a:gd name="connsiteX98" fmla="*/ 14373 w 197939"/>
              <a:gd name="connsiteY98" fmla="*/ 14187 h 179438"/>
              <a:gd name="connsiteX99" fmla="*/ 19265 w 197939"/>
              <a:gd name="connsiteY99" fmla="*/ 19028 h 179438"/>
              <a:gd name="connsiteX100" fmla="*/ 14373 w 197939"/>
              <a:gd name="connsiteY100" fmla="*/ 23872 h 179438"/>
              <a:gd name="connsiteX101" fmla="*/ 9481 w 197939"/>
              <a:gd name="connsiteY101" fmla="*/ 19028 h 179438"/>
              <a:gd name="connsiteX102" fmla="*/ 14373 w 197939"/>
              <a:gd name="connsiteY102" fmla="*/ 14187 h 17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7939" h="179438">
                <a:moveTo>
                  <a:pt x="172210" y="42158"/>
                </a:moveTo>
                <a:cubicBezTo>
                  <a:pt x="172303" y="43448"/>
                  <a:pt x="172352" y="44748"/>
                  <a:pt x="172352" y="46059"/>
                </a:cubicBezTo>
                <a:cubicBezTo>
                  <a:pt x="172352" y="75785"/>
                  <a:pt x="147977" y="99918"/>
                  <a:pt x="117954" y="99918"/>
                </a:cubicBezTo>
                <a:cubicBezTo>
                  <a:pt x="87930" y="99918"/>
                  <a:pt x="63557" y="75785"/>
                  <a:pt x="63557" y="46059"/>
                </a:cubicBezTo>
                <a:cubicBezTo>
                  <a:pt x="63557" y="44748"/>
                  <a:pt x="63604" y="43448"/>
                  <a:pt x="63696" y="42158"/>
                </a:cubicBezTo>
                <a:lnTo>
                  <a:pt x="51568" y="42158"/>
                </a:lnTo>
                <a:lnTo>
                  <a:pt x="51568" y="35233"/>
                </a:lnTo>
                <a:cubicBezTo>
                  <a:pt x="51568" y="29895"/>
                  <a:pt x="49427" y="24778"/>
                  <a:pt x="45615" y="21002"/>
                </a:cubicBezTo>
                <a:cubicBezTo>
                  <a:pt x="41802" y="17228"/>
                  <a:pt x="36633" y="15109"/>
                  <a:pt x="31242" y="15109"/>
                </a:cubicBezTo>
                <a:lnTo>
                  <a:pt x="28192" y="15109"/>
                </a:lnTo>
                <a:cubicBezTo>
                  <a:pt x="26471" y="9157"/>
                  <a:pt x="20933" y="4798"/>
                  <a:pt x="14373" y="4798"/>
                </a:cubicBezTo>
                <a:cubicBezTo>
                  <a:pt x="6441" y="4798"/>
                  <a:pt x="0" y="11173"/>
                  <a:pt x="0" y="19028"/>
                </a:cubicBezTo>
                <a:cubicBezTo>
                  <a:pt x="0" y="26881"/>
                  <a:pt x="6441" y="33259"/>
                  <a:pt x="14373" y="33259"/>
                </a:cubicBezTo>
                <a:cubicBezTo>
                  <a:pt x="20933" y="33259"/>
                  <a:pt x="26471" y="28899"/>
                  <a:pt x="28192" y="22948"/>
                </a:cubicBezTo>
                <a:lnTo>
                  <a:pt x="31242" y="22948"/>
                </a:lnTo>
                <a:cubicBezTo>
                  <a:pt x="34533" y="22948"/>
                  <a:pt x="37689" y="24242"/>
                  <a:pt x="40016" y="26545"/>
                </a:cubicBezTo>
                <a:cubicBezTo>
                  <a:pt x="42343" y="28849"/>
                  <a:pt x="43650" y="31975"/>
                  <a:pt x="43650" y="35233"/>
                </a:cubicBezTo>
                <a:lnTo>
                  <a:pt x="43650" y="42158"/>
                </a:lnTo>
                <a:lnTo>
                  <a:pt x="42287" y="42158"/>
                </a:lnTo>
                <a:cubicBezTo>
                  <a:pt x="38138" y="42158"/>
                  <a:pt x="34161" y="43790"/>
                  <a:pt x="31228" y="46693"/>
                </a:cubicBezTo>
                <a:cubicBezTo>
                  <a:pt x="28295" y="49597"/>
                  <a:pt x="26647" y="53535"/>
                  <a:pt x="26647" y="57642"/>
                </a:cubicBezTo>
                <a:lnTo>
                  <a:pt x="26647" y="115753"/>
                </a:lnTo>
                <a:cubicBezTo>
                  <a:pt x="26647" y="119816"/>
                  <a:pt x="28261" y="123716"/>
                  <a:pt x="31139" y="126611"/>
                </a:cubicBezTo>
                <a:lnTo>
                  <a:pt x="31139" y="146969"/>
                </a:lnTo>
                <a:cubicBezTo>
                  <a:pt x="31139" y="155715"/>
                  <a:pt x="37615" y="162962"/>
                  <a:pt x="46078" y="164266"/>
                </a:cubicBezTo>
                <a:cubicBezTo>
                  <a:pt x="47821" y="172913"/>
                  <a:pt x="55538" y="179438"/>
                  <a:pt x="64783" y="179438"/>
                </a:cubicBezTo>
                <a:cubicBezTo>
                  <a:pt x="73951" y="179438"/>
                  <a:pt x="81618" y="173019"/>
                  <a:pt x="83442" y="164474"/>
                </a:cubicBezTo>
                <a:lnTo>
                  <a:pt x="133705" y="164474"/>
                </a:lnTo>
                <a:cubicBezTo>
                  <a:pt x="135529" y="173019"/>
                  <a:pt x="143196" y="179438"/>
                  <a:pt x="152366" y="179438"/>
                </a:cubicBezTo>
                <a:cubicBezTo>
                  <a:pt x="162891" y="179438"/>
                  <a:pt x="171439" y="170977"/>
                  <a:pt x="171439" y="160554"/>
                </a:cubicBezTo>
                <a:cubicBezTo>
                  <a:pt x="171439" y="150133"/>
                  <a:pt x="162891" y="141672"/>
                  <a:pt x="152366" y="141672"/>
                </a:cubicBezTo>
                <a:cubicBezTo>
                  <a:pt x="143196" y="141672"/>
                  <a:pt x="135529" y="148091"/>
                  <a:pt x="133705" y="156634"/>
                </a:cubicBezTo>
                <a:lnTo>
                  <a:pt x="83442" y="156634"/>
                </a:lnTo>
                <a:cubicBezTo>
                  <a:pt x="81618" y="148091"/>
                  <a:pt x="73951" y="141672"/>
                  <a:pt x="64783" y="141672"/>
                </a:cubicBezTo>
                <a:cubicBezTo>
                  <a:pt x="55738" y="141672"/>
                  <a:pt x="48158" y="147917"/>
                  <a:pt x="46201" y="156285"/>
                </a:cubicBezTo>
                <a:cubicBezTo>
                  <a:pt x="42081" y="155151"/>
                  <a:pt x="39057" y="151409"/>
                  <a:pt x="39057" y="146969"/>
                </a:cubicBezTo>
                <a:lnTo>
                  <a:pt x="39057" y="130903"/>
                </a:lnTo>
                <a:cubicBezTo>
                  <a:pt x="40111" y="131123"/>
                  <a:pt x="41192" y="131237"/>
                  <a:pt x="42287" y="131237"/>
                </a:cubicBezTo>
                <a:lnTo>
                  <a:pt x="159189" y="131237"/>
                </a:lnTo>
                <a:cubicBezTo>
                  <a:pt x="165614" y="131235"/>
                  <a:pt x="171384" y="127345"/>
                  <a:pt x="173739" y="121426"/>
                </a:cubicBezTo>
                <a:lnTo>
                  <a:pt x="196852" y="63316"/>
                </a:lnTo>
                <a:cubicBezTo>
                  <a:pt x="198748" y="58548"/>
                  <a:pt x="198140" y="53163"/>
                  <a:pt x="195228" y="48927"/>
                </a:cubicBezTo>
                <a:cubicBezTo>
                  <a:pt x="192315" y="44694"/>
                  <a:pt x="187476" y="42158"/>
                  <a:pt x="182301" y="42158"/>
                </a:cubicBezTo>
                <a:close/>
                <a:moveTo>
                  <a:pt x="152366" y="153781"/>
                </a:moveTo>
                <a:cubicBezTo>
                  <a:pt x="156143" y="153781"/>
                  <a:pt x="159207" y="156816"/>
                  <a:pt x="159207" y="160554"/>
                </a:cubicBezTo>
                <a:cubicBezTo>
                  <a:pt x="159207" y="164296"/>
                  <a:pt x="156143" y="167329"/>
                  <a:pt x="152366" y="167329"/>
                </a:cubicBezTo>
                <a:cubicBezTo>
                  <a:pt x="148591" y="167329"/>
                  <a:pt x="145525" y="164296"/>
                  <a:pt x="145525" y="160554"/>
                </a:cubicBezTo>
                <a:cubicBezTo>
                  <a:pt x="145525" y="156816"/>
                  <a:pt x="148591" y="153781"/>
                  <a:pt x="152366" y="153781"/>
                </a:cubicBezTo>
                <a:close/>
                <a:moveTo>
                  <a:pt x="64783" y="153781"/>
                </a:moveTo>
                <a:cubicBezTo>
                  <a:pt x="68558" y="153781"/>
                  <a:pt x="71624" y="156816"/>
                  <a:pt x="71624" y="160554"/>
                </a:cubicBezTo>
                <a:cubicBezTo>
                  <a:pt x="71624" y="164296"/>
                  <a:pt x="68558" y="167329"/>
                  <a:pt x="64783" y="167329"/>
                </a:cubicBezTo>
                <a:cubicBezTo>
                  <a:pt x="61006" y="167329"/>
                  <a:pt x="57940" y="164296"/>
                  <a:pt x="57940" y="160554"/>
                </a:cubicBezTo>
                <a:cubicBezTo>
                  <a:pt x="57940" y="156816"/>
                  <a:pt x="61006" y="153781"/>
                  <a:pt x="64783" y="153781"/>
                </a:cubicBezTo>
                <a:close/>
                <a:moveTo>
                  <a:pt x="104761" y="62562"/>
                </a:moveTo>
                <a:cubicBezTo>
                  <a:pt x="113495" y="61432"/>
                  <a:pt x="122412" y="61432"/>
                  <a:pt x="131148" y="62562"/>
                </a:cubicBezTo>
                <a:cubicBezTo>
                  <a:pt x="129615" y="72769"/>
                  <a:pt x="126650" y="82718"/>
                  <a:pt x="122250" y="91923"/>
                </a:cubicBezTo>
                <a:cubicBezTo>
                  <a:pt x="120835" y="92053"/>
                  <a:pt x="119403" y="92119"/>
                  <a:pt x="117954" y="92119"/>
                </a:cubicBezTo>
                <a:cubicBezTo>
                  <a:pt x="116506" y="92119"/>
                  <a:pt x="115072" y="92053"/>
                  <a:pt x="113656" y="91923"/>
                </a:cubicBezTo>
                <a:cubicBezTo>
                  <a:pt x="109257" y="82716"/>
                  <a:pt x="106292" y="72767"/>
                  <a:pt x="104761" y="62562"/>
                </a:cubicBezTo>
                <a:close/>
                <a:moveTo>
                  <a:pt x="97027" y="63870"/>
                </a:moveTo>
                <a:cubicBezTo>
                  <a:pt x="98389" y="72893"/>
                  <a:pt x="100792" y="81726"/>
                  <a:pt x="104240" y="90081"/>
                </a:cubicBezTo>
                <a:cubicBezTo>
                  <a:pt x="93256" y="86725"/>
                  <a:pt x="84006" y="79450"/>
                  <a:pt x="78156" y="69909"/>
                </a:cubicBezTo>
                <a:cubicBezTo>
                  <a:pt x="84173" y="67247"/>
                  <a:pt x="90515" y="65236"/>
                  <a:pt x="97027" y="63870"/>
                </a:cubicBezTo>
                <a:close/>
                <a:moveTo>
                  <a:pt x="138879" y="63870"/>
                </a:moveTo>
                <a:cubicBezTo>
                  <a:pt x="145389" y="65234"/>
                  <a:pt x="151731" y="67247"/>
                  <a:pt x="157750" y="69909"/>
                </a:cubicBezTo>
                <a:cubicBezTo>
                  <a:pt x="151901" y="79450"/>
                  <a:pt x="142650" y="86725"/>
                  <a:pt x="131669" y="90081"/>
                </a:cubicBezTo>
                <a:cubicBezTo>
                  <a:pt x="135115" y="81726"/>
                  <a:pt x="137518" y="72893"/>
                  <a:pt x="138879" y="63870"/>
                </a:cubicBezTo>
                <a:close/>
                <a:moveTo>
                  <a:pt x="74656" y="29195"/>
                </a:moveTo>
                <a:cubicBezTo>
                  <a:pt x="81485" y="32237"/>
                  <a:pt x="88706" y="34505"/>
                  <a:pt x="96118" y="35998"/>
                </a:cubicBezTo>
                <a:cubicBezTo>
                  <a:pt x="95557" y="42688"/>
                  <a:pt x="95557" y="49433"/>
                  <a:pt x="96118" y="56120"/>
                </a:cubicBezTo>
                <a:cubicBezTo>
                  <a:pt x="88706" y="57614"/>
                  <a:pt x="81485" y="59882"/>
                  <a:pt x="74656" y="62922"/>
                </a:cubicBezTo>
                <a:cubicBezTo>
                  <a:pt x="72575" y="57700"/>
                  <a:pt x="71434" y="52011"/>
                  <a:pt x="71434" y="46059"/>
                </a:cubicBezTo>
                <a:cubicBezTo>
                  <a:pt x="71434" y="40106"/>
                  <a:pt x="72575" y="34417"/>
                  <a:pt x="74656" y="29195"/>
                </a:cubicBezTo>
                <a:close/>
                <a:moveTo>
                  <a:pt x="161253" y="29195"/>
                </a:moveTo>
                <a:cubicBezTo>
                  <a:pt x="163331" y="34417"/>
                  <a:pt x="164474" y="40106"/>
                  <a:pt x="164474" y="46059"/>
                </a:cubicBezTo>
                <a:cubicBezTo>
                  <a:pt x="164474" y="52011"/>
                  <a:pt x="163331" y="57700"/>
                  <a:pt x="161253" y="62922"/>
                </a:cubicBezTo>
                <a:cubicBezTo>
                  <a:pt x="154422" y="59880"/>
                  <a:pt x="147201" y="57612"/>
                  <a:pt x="139788" y="56120"/>
                </a:cubicBezTo>
                <a:cubicBezTo>
                  <a:pt x="140350" y="49431"/>
                  <a:pt x="140350" y="42686"/>
                  <a:pt x="139788" y="35998"/>
                </a:cubicBezTo>
                <a:cubicBezTo>
                  <a:pt x="147203" y="34505"/>
                  <a:pt x="154422" y="32237"/>
                  <a:pt x="161253" y="29195"/>
                </a:cubicBezTo>
                <a:close/>
                <a:moveTo>
                  <a:pt x="103878" y="37272"/>
                </a:moveTo>
                <a:cubicBezTo>
                  <a:pt x="113200" y="38458"/>
                  <a:pt x="122707" y="38458"/>
                  <a:pt x="132028" y="37272"/>
                </a:cubicBezTo>
                <a:cubicBezTo>
                  <a:pt x="132489" y="43114"/>
                  <a:pt x="132489" y="49001"/>
                  <a:pt x="132028" y="54847"/>
                </a:cubicBezTo>
                <a:cubicBezTo>
                  <a:pt x="122709" y="53659"/>
                  <a:pt x="113200" y="53659"/>
                  <a:pt x="103878" y="54847"/>
                </a:cubicBezTo>
                <a:cubicBezTo>
                  <a:pt x="103418" y="49003"/>
                  <a:pt x="103418" y="43118"/>
                  <a:pt x="103878" y="37272"/>
                </a:cubicBezTo>
                <a:close/>
                <a:moveTo>
                  <a:pt x="104761" y="29557"/>
                </a:moveTo>
                <a:cubicBezTo>
                  <a:pt x="106292" y="19348"/>
                  <a:pt x="109257" y="9401"/>
                  <a:pt x="113656" y="194"/>
                </a:cubicBezTo>
                <a:cubicBezTo>
                  <a:pt x="115072" y="66"/>
                  <a:pt x="116506" y="0"/>
                  <a:pt x="117954" y="0"/>
                </a:cubicBezTo>
                <a:cubicBezTo>
                  <a:pt x="119403" y="0"/>
                  <a:pt x="120835" y="66"/>
                  <a:pt x="122248" y="194"/>
                </a:cubicBezTo>
                <a:cubicBezTo>
                  <a:pt x="126650" y="9401"/>
                  <a:pt x="129615" y="19350"/>
                  <a:pt x="131146" y="29557"/>
                </a:cubicBezTo>
                <a:cubicBezTo>
                  <a:pt x="122412" y="30685"/>
                  <a:pt x="113497" y="30685"/>
                  <a:pt x="104761" y="29557"/>
                </a:cubicBezTo>
                <a:close/>
                <a:moveTo>
                  <a:pt x="78156" y="22208"/>
                </a:moveTo>
                <a:cubicBezTo>
                  <a:pt x="84006" y="12667"/>
                  <a:pt x="93256" y="5391"/>
                  <a:pt x="104240" y="2038"/>
                </a:cubicBezTo>
                <a:cubicBezTo>
                  <a:pt x="100792" y="10393"/>
                  <a:pt x="98389" y="19224"/>
                  <a:pt x="97027" y="28249"/>
                </a:cubicBezTo>
                <a:cubicBezTo>
                  <a:pt x="90517" y="26885"/>
                  <a:pt x="84175" y="24872"/>
                  <a:pt x="78156" y="22208"/>
                </a:cubicBezTo>
                <a:close/>
                <a:moveTo>
                  <a:pt x="138879" y="28249"/>
                </a:moveTo>
                <a:cubicBezTo>
                  <a:pt x="137518" y="19224"/>
                  <a:pt x="135115" y="10393"/>
                  <a:pt x="131669" y="2038"/>
                </a:cubicBezTo>
                <a:cubicBezTo>
                  <a:pt x="142650" y="5391"/>
                  <a:pt x="151901" y="12667"/>
                  <a:pt x="157750" y="22208"/>
                </a:cubicBezTo>
                <a:cubicBezTo>
                  <a:pt x="151733" y="24870"/>
                  <a:pt x="145393" y="26883"/>
                  <a:pt x="138879" y="28249"/>
                </a:cubicBezTo>
                <a:close/>
                <a:moveTo>
                  <a:pt x="14373" y="14187"/>
                </a:moveTo>
                <a:cubicBezTo>
                  <a:pt x="17073" y="14187"/>
                  <a:pt x="19265" y="16356"/>
                  <a:pt x="19265" y="19028"/>
                </a:cubicBezTo>
                <a:cubicBezTo>
                  <a:pt x="19265" y="21702"/>
                  <a:pt x="17073" y="23872"/>
                  <a:pt x="14373" y="23872"/>
                </a:cubicBezTo>
                <a:cubicBezTo>
                  <a:pt x="11674" y="23872"/>
                  <a:pt x="9481" y="21702"/>
                  <a:pt x="9481" y="19028"/>
                </a:cubicBezTo>
                <a:cubicBezTo>
                  <a:pt x="9481" y="16356"/>
                  <a:pt x="11674" y="14187"/>
                  <a:pt x="14373" y="14187"/>
                </a:cubicBezTo>
                <a:close/>
              </a:path>
            </a:pathLst>
          </a:custGeom>
          <a:solidFill>
            <a:srgbClr val="0042FF"/>
          </a:solidFill>
          <a:ln w="1065"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40" name="紫荆的职场Point77"/>
          <p:cNvSpPr/>
          <p:nvPr/>
        </p:nvSpPr>
        <p:spPr>
          <a:xfrm>
            <a:off x="4439285" y="4411980"/>
            <a:ext cx="112395" cy="97155"/>
          </a:xfrm>
          <a:custGeom>
            <a:avLst/>
            <a:gdLst>
              <a:gd name="connsiteX0" fmla="*/ 123595 w 129155"/>
              <a:gd name="connsiteY0" fmla="*/ 0 h 110891"/>
              <a:gd name="connsiteX1" fmla="*/ 5277 w 129155"/>
              <a:gd name="connsiteY1" fmla="*/ 0 h 110891"/>
              <a:gd name="connsiteX2" fmla="*/ 0 w 129155"/>
              <a:gd name="connsiteY2" fmla="*/ 5258 h 110891"/>
              <a:gd name="connsiteX3" fmla="*/ 0 w 129155"/>
              <a:gd name="connsiteY3" fmla="*/ 5572 h 110891"/>
              <a:gd name="connsiteX4" fmla="*/ 9 w 129155"/>
              <a:gd name="connsiteY4" fmla="*/ 5969 h 110891"/>
              <a:gd name="connsiteX5" fmla="*/ 609 w 129155"/>
              <a:gd name="connsiteY5" fmla="*/ 8187 h 110891"/>
              <a:gd name="connsiteX6" fmla="*/ 793 w 129155"/>
              <a:gd name="connsiteY6" fmla="*/ 8529 h 110891"/>
              <a:gd name="connsiteX7" fmla="*/ 11310 w 129155"/>
              <a:gd name="connsiteY7" fmla="*/ 26271 h 110891"/>
              <a:gd name="connsiteX8" fmla="*/ 11457 w 129155"/>
              <a:gd name="connsiteY8" fmla="*/ 26271 h 110891"/>
              <a:gd name="connsiteX9" fmla="*/ 49537 w 129155"/>
              <a:gd name="connsiteY9" fmla="*/ 90650 h 110891"/>
              <a:gd name="connsiteX10" fmla="*/ 49482 w 129155"/>
              <a:gd name="connsiteY10" fmla="*/ 90733 h 110891"/>
              <a:gd name="connsiteX11" fmla="*/ 59786 w 129155"/>
              <a:gd name="connsiteY11" fmla="*/ 108115 h 110891"/>
              <a:gd name="connsiteX12" fmla="*/ 59970 w 129155"/>
              <a:gd name="connsiteY12" fmla="*/ 108410 h 110891"/>
              <a:gd name="connsiteX13" fmla="*/ 67074 w 129155"/>
              <a:gd name="connsiteY13" fmla="*/ 110287 h 110891"/>
              <a:gd name="connsiteX14" fmla="*/ 67378 w 129155"/>
              <a:gd name="connsiteY14" fmla="*/ 110111 h 110891"/>
              <a:gd name="connsiteX15" fmla="*/ 67710 w 129155"/>
              <a:gd name="connsiteY15" fmla="*/ 109898 h 110891"/>
              <a:gd name="connsiteX16" fmla="*/ 69103 w 129155"/>
              <a:gd name="connsiteY16" fmla="*/ 108493 h 110891"/>
              <a:gd name="connsiteX17" fmla="*/ 69324 w 129155"/>
              <a:gd name="connsiteY17" fmla="*/ 108161 h 110891"/>
              <a:gd name="connsiteX18" fmla="*/ 104471 w 129155"/>
              <a:gd name="connsiteY18" fmla="*/ 48818 h 110891"/>
              <a:gd name="connsiteX19" fmla="*/ 75321 w 129155"/>
              <a:gd name="connsiteY19" fmla="*/ 48818 h 110891"/>
              <a:gd name="connsiteX20" fmla="*/ 73872 w 129155"/>
              <a:gd name="connsiteY20" fmla="*/ 49530 h 110891"/>
              <a:gd name="connsiteX21" fmla="*/ 73734 w 129155"/>
              <a:gd name="connsiteY21" fmla="*/ 49724 h 110891"/>
              <a:gd name="connsiteX22" fmla="*/ 67784 w 129155"/>
              <a:gd name="connsiteY22" fmla="*/ 59777 h 110891"/>
              <a:gd name="connsiteX23" fmla="*/ 62790 w 129155"/>
              <a:gd name="connsiteY23" fmla="*/ 61104 h 110891"/>
              <a:gd name="connsiteX24" fmla="*/ 61631 w 129155"/>
              <a:gd name="connsiteY24" fmla="*/ 60036 h 110891"/>
              <a:gd name="connsiteX25" fmla="*/ 61465 w 129155"/>
              <a:gd name="connsiteY25" fmla="*/ 59777 h 110891"/>
              <a:gd name="connsiteX26" fmla="*/ 45026 w 129155"/>
              <a:gd name="connsiteY26" fmla="*/ 31972 h 110891"/>
              <a:gd name="connsiteX27" fmla="*/ 44500 w 129155"/>
              <a:gd name="connsiteY27" fmla="*/ 30032 h 110891"/>
              <a:gd name="connsiteX28" fmla="*/ 47914 w 129155"/>
              <a:gd name="connsiteY28" fmla="*/ 26290 h 110891"/>
              <a:gd name="connsiteX29" fmla="*/ 48190 w 129155"/>
              <a:gd name="connsiteY29" fmla="*/ 26280 h 110891"/>
              <a:gd name="connsiteX30" fmla="*/ 116796 w 129155"/>
              <a:gd name="connsiteY30" fmla="*/ 26280 h 110891"/>
              <a:gd name="connsiteX31" fmla="*/ 118235 w 129155"/>
              <a:gd name="connsiteY31" fmla="*/ 25569 h 110891"/>
              <a:gd name="connsiteX32" fmla="*/ 118373 w 129155"/>
              <a:gd name="connsiteY32" fmla="*/ 25365 h 110891"/>
              <a:gd name="connsiteX33" fmla="*/ 128335 w 129155"/>
              <a:gd name="connsiteY33" fmla="*/ 8575 h 110891"/>
              <a:gd name="connsiteX34" fmla="*/ 128502 w 129155"/>
              <a:gd name="connsiteY34" fmla="*/ 8270 h 110891"/>
              <a:gd name="connsiteX35" fmla="*/ 126463 w 129155"/>
              <a:gd name="connsiteY35" fmla="*/ 804 h 110891"/>
              <a:gd name="connsiteX36" fmla="*/ 123972 w 129155"/>
              <a:gd name="connsiteY36" fmla="*/ 9 h 110891"/>
              <a:gd name="connsiteX37" fmla="*/ 123613 w 129155"/>
              <a:gd name="connsiteY37" fmla="*/ 0 h 1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155" h="110891">
                <a:moveTo>
                  <a:pt x="123595" y="0"/>
                </a:moveTo>
                <a:lnTo>
                  <a:pt x="5277" y="0"/>
                </a:lnTo>
                <a:cubicBezTo>
                  <a:pt x="2438" y="151"/>
                  <a:pt x="165" y="2415"/>
                  <a:pt x="0" y="5258"/>
                </a:cubicBezTo>
                <a:lnTo>
                  <a:pt x="0" y="5572"/>
                </a:lnTo>
                <a:lnTo>
                  <a:pt x="9" y="5969"/>
                </a:lnTo>
                <a:cubicBezTo>
                  <a:pt x="56" y="6742"/>
                  <a:pt x="260" y="7497"/>
                  <a:pt x="609" y="8187"/>
                </a:cubicBezTo>
                <a:lnTo>
                  <a:pt x="793" y="8529"/>
                </a:lnTo>
                <a:lnTo>
                  <a:pt x="11310" y="26271"/>
                </a:lnTo>
                <a:lnTo>
                  <a:pt x="11457" y="26271"/>
                </a:lnTo>
                <a:lnTo>
                  <a:pt x="49537" y="90650"/>
                </a:lnTo>
                <a:lnTo>
                  <a:pt x="49482" y="90733"/>
                </a:lnTo>
                <a:lnTo>
                  <a:pt x="59786" y="108115"/>
                </a:lnTo>
                <a:lnTo>
                  <a:pt x="59970" y="108410"/>
                </a:lnTo>
                <a:cubicBezTo>
                  <a:pt x="61515" y="110758"/>
                  <a:pt x="64575" y="111566"/>
                  <a:pt x="67074" y="110287"/>
                </a:cubicBezTo>
                <a:lnTo>
                  <a:pt x="67378" y="110111"/>
                </a:lnTo>
                <a:lnTo>
                  <a:pt x="67710" y="109898"/>
                </a:lnTo>
                <a:cubicBezTo>
                  <a:pt x="68254" y="109517"/>
                  <a:pt x="68726" y="109041"/>
                  <a:pt x="69103" y="108493"/>
                </a:cubicBezTo>
                <a:lnTo>
                  <a:pt x="69324" y="108161"/>
                </a:lnTo>
                <a:lnTo>
                  <a:pt x="104471" y="48818"/>
                </a:lnTo>
                <a:lnTo>
                  <a:pt x="75321" y="48818"/>
                </a:lnTo>
                <a:cubicBezTo>
                  <a:pt x="74754" y="48819"/>
                  <a:pt x="74220" y="49081"/>
                  <a:pt x="73872" y="49530"/>
                </a:cubicBezTo>
                <a:lnTo>
                  <a:pt x="73734" y="49724"/>
                </a:lnTo>
                <a:lnTo>
                  <a:pt x="67784" y="59777"/>
                </a:lnTo>
                <a:cubicBezTo>
                  <a:pt x="66771" y="61525"/>
                  <a:pt x="64535" y="62119"/>
                  <a:pt x="62790" y="61104"/>
                </a:cubicBezTo>
                <a:cubicBezTo>
                  <a:pt x="62331" y="60837"/>
                  <a:pt x="61935" y="60472"/>
                  <a:pt x="61631" y="60036"/>
                </a:cubicBezTo>
                <a:lnTo>
                  <a:pt x="61465" y="59777"/>
                </a:lnTo>
                <a:lnTo>
                  <a:pt x="45026" y="31972"/>
                </a:lnTo>
                <a:cubicBezTo>
                  <a:pt x="44681" y="31384"/>
                  <a:pt x="44499" y="30714"/>
                  <a:pt x="44500" y="30032"/>
                </a:cubicBezTo>
                <a:cubicBezTo>
                  <a:pt x="44500" y="28054"/>
                  <a:pt x="46004" y="26428"/>
                  <a:pt x="47914" y="26290"/>
                </a:cubicBezTo>
                <a:lnTo>
                  <a:pt x="48190" y="26280"/>
                </a:lnTo>
                <a:lnTo>
                  <a:pt x="116796" y="26280"/>
                </a:lnTo>
                <a:cubicBezTo>
                  <a:pt x="117359" y="26277"/>
                  <a:pt x="117889" y="26014"/>
                  <a:pt x="118235" y="25569"/>
                </a:cubicBezTo>
                <a:lnTo>
                  <a:pt x="118373" y="25365"/>
                </a:lnTo>
                <a:lnTo>
                  <a:pt x="128335" y="8575"/>
                </a:lnTo>
                <a:lnTo>
                  <a:pt x="128502" y="8270"/>
                </a:lnTo>
                <a:cubicBezTo>
                  <a:pt x="129891" y="5632"/>
                  <a:pt x="128999" y="2367"/>
                  <a:pt x="126463" y="804"/>
                </a:cubicBezTo>
                <a:cubicBezTo>
                  <a:pt x="125708" y="342"/>
                  <a:pt x="124854" y="70"/>
                  <a:pt x="123972" y="9"/>
                </a:cubicBezTo>
                <a:lnTo>
                  <a:pt x="123613" y="0"/>
                </a:lnTo>
                <a:close/>
              </a:path>
            </a:pathLst>
          </a:custGeom>
          <a:solidFill>
            <a:srgbClr val="0042FF"/>
          </a:solidFill>
          <a:ln w="106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41" name="紫荆的职场Point78"/>
          <p:cNvSpPr/>
          <p:nvPr/>
        </p:nvSpPr>
        <p:spPr>
          <a:xfrm>
            <a:off x="4829810" y="4578350"/>
            <a:ext cx="88900" cy="121285"/>
          </a:xfrm>
          <a:custGeom>
            <a:avLst/>
            <a:gdLst>
              <a:gd name="connsiteX0" fmla="*/ 32461 w 101955"/>
              <a:gd name="connsiteY0" fmla="*/ 81549 h 139337"/>
              <a:gd name="connsiteX1" fmla="*/ 5103 w 101955"/>
              <a:gd name="connsiteY1" fmla="*/ 81549 h 139337"/>
              <a:gd name="connsiteX2" fmla="*/ 339 w 101955"/>
              <a:gd name="connsiteY2" fmla="*/ 74638 h 139337"/>
              <a:gd name="connsiteX3" fmla="*/ 27523 w 101955"/>
              <a:gd name="connsiteY3" fmla="*/ 3283 h 139337"/>
              <a:gd name="connsiteX4" fmla="*/ 32286 w 101955"/>
              <a:gd name="connsiteY4" fmla="*/ 0 h 139337"/>
              <a:gd name="connsiteX5" fmla="*/ 78159 w 101955"/>
              <a:gd name="connsiteY5" fmla="*/ 0 h 139337"/>
              <a:gd name="connsiteX6" fmla="*/ 82880 w 101955"/>
              <a:gd name="connsiteY6" fmla="*/ 7020 h 139337"/>
              <a:gd name="connsiteX7" fmla="*/ 67051 w 101955"/>
              <a:gd name="connsiteY7" fmla="*/ 45871 h 139337"/>
              <a:gd name="connsiteX8" fmla="*/ 96849 w 101955"/>
              <a:gd name="connsiteY8" fmla="*/ 45871 h 139337"/>
              <a:gd name="connsiteX9" fmla="*/ 100679 w 101955"/>
              <a:gd name="connsiteY9" fmla="*/ 54330 h 139337"/>
              <a:gd name="connsiteX10" fmla="*/ 27622 w 101955"/>
              <a:gd name="connsiteY10" fmla="*/ 137576 h 139337"/>
              <a:gd name="connsiteX11" fmla="*/ 18864 w 101955"/>
              <a:gd name="connsiteY11" fmla="*/ 132912 h 139337"/>
              <a:gd name="connsiteX12" fmla="*/ 32461 w 101955"/>
              <a:gd name="connsiteY12" fmla="*/ 81549 h 13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955" h="139337">
                <a:moveTo>
                  <a:pt x="32461" y="81549"/>
                </a:moveTo>
                <a:lnTo>
                  <a:pt x="5103" y="81549"/>
                </a:lnTo>
                <a:cubicBezTo>
                  <a:pt x="1532" y="81549"/>
                  <a:pt x="-932" y="77973"/>
                  <a:pt x="339" y="74638"/>
                </a:cubicBezTo>
                <a:lnTo>
                  <a:pt x="27523" y="3283"/>
                </a:lnTo>
                <a:cubicBezTo>
                  <a:pt x="28276" y="1307"/>
                  <a:pt x="30171" y="0"/>
                  <a:pt x="32286" y="0"/>
                </a:cubicBezTo>
                <a:lnTo>
                  <a:pt x="78159" y="0"/>
                </a:lnTo>
                <a:cubicBezTo>
                  <a:pt x="81779" y="0"/>
                  <a:pt x="84246" y="3667"/>
                  <a:pt x="82880" y="7020"/>
                </a:cubicBezTo>
                <a:lnTo>
                  <a:pt x="67051" y="45871"/>
                </a:lnTo>
                <a:lnTo>
                  <a:pt x="96849" y="45871"/>
                </a:lnTo>
                <a:cubicBezTo>
                  <a:pt x="101232" y="45871"/>
                  <a:pt x="103570" y="51037"/>
                  <a:pt x="100679" y="54330"/>
                </a:cubicBezTo>
                <a:lnTo>
                  <a:pt x="27622" y="137576"/>
                </a:lnTo>
                <a:cubicBezTo>
                  <a:pt x="24070" y="141624"/>
                  <a:pt x="17486" y="138117"/>
                  <a:pt x="18864" y="132912"/>
                </a:cubicBezTo>
                <a:lnTo>
                  <a:pt x="32461" y="81549"/>
                </a:lnTo>
                <a:close/>
              </a:path>
            </a:pathLst>
          </a:custGeom>
          <a:solidFill>
            <a:srgbClr val="0042FF"/>
          </a:solidFill>
          <a:ln w="158"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42" name="紫荆的职场Point79"/>
          <p:cNvSpPr/>
          <p:nvPr/>
        </p:nvSpPr>
        <p:spPr>
          <a:xfrm>
            <a:off x="5201920" y="4413250"/>
            <a:ext cx="101600" cy="94615"/>
          </a:xfrm>
          <a:custGeom>
            <a:avLst/>
            <a:gdLst>
              <a:gd name="connsiteX0" fmla="*/ 25590 w 146590"/>
              <a:gd name="connsiteY0" fmla="*/ 12 h 136147"/>
              <a:gd name="connsiteX1" fmla="*/ 120999 w 146590"/>
              <a:gd name="connsiteY1" fmla="*/ 12 h 136147"/>
              <a:gd name="connsiteX2" fmla="*/ 134536 w 146590"/>
              <a:gd name="connsiteY2" fmla="*/ 12136 h 136147"/>
              <a:gd name="connsiteX3" fmla="*/ 146509 w 146590"/>
              <a:gd name="connsiteY3" fmla="*/ 121047 h 136147"/>
              <a:gd name="connsiteX4" fmla="*/ 134454 w 146590"/>
              <a:gd name="connsiteY4" fmla="*/ 136066 h 136147"/>
              <a:gd name="connsiteX5" fmla="*/ 132972 w 146590"/>
              <a:gd name="connsiteY5" fmla="*/ 136147 h 136147"/>
              <a:gd name="connsiteX6" fmla="*/ 13617 w 146590"/>
              <a:gd name="connsiteY6" fmla="*/ 136147 h 136147"/>
              <a:gd name="connsiteX7" fmla="*/ 0 w 146590"/>
              <a:gd name="connsiteY7" fmla="*/ 122528 h 136147"/>
              <a:gd name="connsiteX8" fmla="*/ 81 w 146590"/>
              <a:gd name="connsiteY8" fmla="*/ 121047 h 136147"/>
              <a:gd name="connsiteX9" fmla="*/ 12065 w 146590"/>
              <a:gd name="connsiteY9" fmla="*/ 12136 h 136147"/>
              <a:gd name="connsiteX10" fmla="*/ 25602 w 146590"/>
              <a:gd name="connsiteY10" fmla="*/ 0 h 136147"/>
              <a:gd name="connsiteX11" fmla="*/ 39255 w 146590"/>
              <a:gd name="connsiteY11" fmla="*/ 40855 h 136147"/>
              <a:gd name="connsiteX12" fmla="*/ 73295 w 146590"/>
              <a:gd name="connsiteY12" fmla="*/ 74894 h 136147"/>
              <a:gd name="connsiteX13" fmla="*/ 107335 w 146590"/>
              <a:gd name="connsiteY13" fmla="*/ 40855 h 136147"/>
              <a:gd name="connsiteX14" fmla="*/ 100526 w 146590"/>
              <a:gd name="connsiteY14" fmla="*/ 34046 h 136147"/>
              <a:gd name="connsiteX15" fmla="*/ 93716 w 146590"/>
              <a:gd name="connsiteY15" fmla="*/ 40855 h 136147"/>
              <a:gd name="connsiteX16" fmla="*/ 73295 w 146590"/>
              <a:gd name="connsiteY16" fmla="*/ 61276 h 136147"/>
              <a:gd name="connsiteX17" fmla="*/ 52873 w 146590"/>
              <a:gd name="connsiteY17" fmla="*/ 40855 h 136147"/>
              <a:gd name="connsiteX18" fmla="*/ 46064 w 146590"/>
              <a:gd name="connsiteY18" fmla="*/ 34046 h 136147"/>
              <a:gd name="connsiteX19" fmla="*/ 39255 w 146590"/>
              <a:gd name="connsiteY19" fmla="*/ 40855 h 13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590" h="136147">
                <a:moveTo>
                  <a:pt x="25590" y="12"/>
                </a:moveTo>
                <a:lnTo>
                  <a:pt x="120999" y="12"/>
                </a:lnTo>
                <a:cubicBezTo>
                  <a:pt x="127943" y="12"/>
                  <a:pt x="133777" y="5228"/>
                  <a:pt x="134536" y="12136"/>
                </a:cubicBezTo>
                <a:lnTo>
                  <a:pt x="146509" y="121047"/>
                </a:lnTo>
                <a:cubicBezTo>
                  <a:pt x="147327" y="128523"/>
                  <a:pt x="141930" y="135248"/>
                  <a:pt x="134454" y="136066"/>
                </a:cubicBezTo>
                <a:cubicBezTo>
                  <a:pt x="133962" y="136120"/>
                  <a:pt x="133467" y="136147"/>
                  <a:pt x="132972" y="136147"/>
                </a:cubicBezTo>
                <a:lnTo>
                  <a:pt x="13617" y="136147"/>
                </a:lnTo>
                <a:cubicBezTo>
                  <a:pt x="6096" y="136147"/>
                  <a:pt x="0" y="130049"/>
                  <a:pt x="0" y="122528"/>
                </a:cubicBezTo>
                <a:cubicBezTo>
                  <a:pt x="0" y="122033"/>
                  <a:pt x="27" y="121539"/>
                  <a:pt x="81" y="121047"/>
                </a:cubicBezTo>
                <a:lnTo>
                  <a:pt x="12065" y="12136"/>
                </a:lnTo>
                <a:cubicBezTo>
                  <a:pt x="12821" y="5230"/>
                  <a:pt x="18655" y="0"/>
                  <a:pt x="25602" y="0"/>
                </a:cubicBezTo>
                <a:close/>
                <a:moveTo>
                  <a:pt x="39255" y="40855"/>
                </a:moveTo>
                <a:cubicBezTo>
                  <a:pt x="39255" y="59654"/>
                  <a:pt x="54495" y="74894"/>
                  <a:pt x="73295" y="74894"/>
                </a:cubicBezTo>
                <a:cubicBezTo>
                  <a:pt x="92094" y="74894"/>
                  <a:pt x="107335" y="59654"/>
                  <a:pt x="107335" y="40855"/>
                </a:cubicBezTo>
                <a:cubicBezTo>
                  <a:pt x="107335" y="37094"/>
                  <a:pt x="104286" y="34046"/>
                  <a:pt x="100526" y="34046"/>
                </a:cubicBezTo>
                <a:cubicBezTo>
                  <a:pt x="96765" y="34046"/>
                  <a:pt x="93716" y="37094"/>
                  <a:pt x="93716" y="40855"/>
                </a:cubicBezTo>
                <a:cubicBezTo>
                  <a:pt x="93716" y="52133"/>
                  <a:pt x="84573" y="61276"/>
                  <a:pt x="73295" y="61276"/>
                </a:cubicBezTo>
                <a:cubicBezTo>
                  <a:pt x="62016" y="61276"/>
                  <a:pt x="52873" y="52133"/>
                  <a:pt x="52873" y="40855"/>
                </a:cubicBezTo>
                <a:cubicBezTo>
                  <a:pt x="52873" y="37094"/>
                  <a:pt x="49825" y="34046"/>
                  <a:pt x="46064" y="34046"/>
                </a:cubicBezTo>
                <a:cubicBezTo>
                  <a:pt x="42304" y="34046"/>
                  <a:pt x="39255" y="37094"/>
                  <a:pt x="39255" y="40855"/>
                </a:cubicBezTo>
                <a:close/>
              </a:path>
            </a:pathLst>
          </a:custGeom>
          <a:solidFill>
            <a:srgbClr val="0042FF"/>
          </a:solidFill>
          <a:ln w="158"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43" name="紫荆的职场Point80"/>
          <p:cNvSpPr txBox="1"/>
          <p:nvPr/>
        </p:nvSpPr>
        <p:spPr>
          <a:xfrm>
            <a:off x="7823835" y="3358515"/>
            <a:ext cx="346710"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搜索</a:t>
            </a:r>
            <a:endParaRPr lang="zh-CN" altLang="en-US" sz="1000" dirty="0">
              <a:solidFill>
                <a:srgbClr val="0042FF"/>
              </a:solidFill>
              <a:latin typeface="微软雅黑"/>
              <a:ea typeface="微软雅黑"/>
              <a:cs typeface="微软雅黑"/>
            </a:endParaRPr>
          </a:p>
        </p:txBody>
      </p:sp>
      <p:sp>
        <p:nvSpPr>
          <p:cNvPr id="144" name="紫荆的职场Point81-1"/>
          <p:cNvSpPr txBox="1"/>
          <p:nvPr/>
        </p:nvSpPr>
        <p:spPr>
          <a:xfrm>
            <a:off x="8169275" y="3526790"/>
            <a:ext cx="437515"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推荐</a:t>
            </a:r>
            <a:endParaRPr lang="zh-CN" altLang="en-US" sz="1000" dirty="0">
              <a:solidFill>
                <a:srgbClr val="0042FF"/>
              </a:solidFill>
              <a:latin typeface="微软雅黑"/>
              <a:ea typeface="微软雅黑"/>
              <a:cs typeface="微软雅黑"/>
            </a:endParaRPr>
          </a:p>
        </p:txBody>
      </p:sp>
      <p:sp>
        <p:nvSpPr>
          <p:cNvPr id="145" name="紫荆的职场Point81-2"/>
          <p:cNvSpPr txBox="1"/>
          <p:nvPr/>
        </p:nvSpPr>
        <p:spPr>
          <a:xfrm>
            <a:off x="7385685" y="3526790"/>
            <a:ext cx="410210"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广告</a:t>
            </a:r>
            <a:endParaRPr lang="zh-CN" altLang="en-US" sz="1000" dirty="0">
              <a:solidFill>
                <a:srgbClr val="0042FF"/>
              </a:solidFill>
              <a:latin typeface="微软雅黑"/>
              <a:ea typeface="微软雅黑"/>
              <a:cs typeface="微软雅黑"/>
            </a:endParaRPr>
          </a:p>
        </p:txBody>
      </p:sp>
      <p:sp>
        <p:nvSpPr>
          <p:cNvPr id="146" name="紫荆的职场Point82"/>
          <p:cNvSpPr txBox="1"/>
          <p:nvPr/>
        </p:nvSpPr>
        <p:spPr>
          <a:xfrm>
            <a:off x="7823835" y="4737100"/>
            <a:ext cx="345440"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会场</a:t>
            </a:r>
            <a:endParaRPr lang="zh-CN" altLang="en-US" sz="1000" dirty="0">
              <a:solidFill>
                <a:srgbClr val="0042FF"/>
              </a:solidFill>
              <a:latin typeface="微软雅黑"/>
              <a:ea typeface="微软雅黑"/>
              <a:cs typeface="微软雅黑"/>
            </a:endParaRPr>
          </a:p>
        </p:txBody>
      </p:sp>
      <p:sp>
        <p:nvSpPr>
          <p:cNvPr id="147" name="紫荆的职场Point83-1"/>
          <p:cNvSpPr txBox="1"/>
          <p:nvPr/>
        </p:nvSpPr>
        <p:spPr>
          <a:xfrm>
            <a:off x="8191500" y="4568190"/>
            <a:ext cx="393065"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频道</a:t>
            </a:r>
            <a:endParaRPr lang="zh-CN" altLang="en-US" sz="1000" dirty="0">
              <a:solidFill>
                <a:srgbClr val="0042FF"/>
              </a:solidFill>
              <a:latin typeface="微软雅黑"/>
              <a:ea typeface="微软雅黑"/>
              <a:cs typeface="微软雅黑"/>
            </a:endParaRPr>
          </a:p>
        </p:txBody>
      </p:sp>
      <p:sp>
        <p:nvSpPr>
          <p:cNvPr id="148" name="紫荆的职场Point83-2"/>
          <p:cNvSpPr txBox="1"/>
          <p:nvPr/>
        </p:nvSpPr>
        <p:spPr>
          <a:xfrm>
            <a:off x="7404100" y="4577715"/>
            <a:ext cx="412750" cy="18351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购物车</a:t>
            </a:r>
            <a:endParaRPr lang="zh-CN" altLang="en-US" sz="1000" dirty="0">
              <a:solidFill>
                <a:srgbClr val="0042FF"/>
              </a:solidFill>
              <a:latin typeface="微软雅黑"/>
              <a:ea typeface="微软雅黑"/>
              <a:cs typeface="微软雅黑"/>
            </a:endParaRPr>
          </a:p>
        </p:txBody>
      </p:sp>
      <p:sp>
        <p:nvSpPr>
          <p:cNvPr id="149" name="紫荆的职场Point84"/>
          <p:cNvSpPr txBox="1"/>
          <p:nvPr/>
        </p:nvSpPr>
        <p:spPr>
          <a:xfrm>
            <a:off x="7736840" y="3979545"/>
            <a:ext cx="504825" cy="252730"/>
          </a:xfrm>
          <a:prstGeom prst="rect">
            <a:avLst/>
          </a:prstGeom>
          <a:noFill/>
        </p:spPr>
        <p:txBody>
          <a:bodyPr wrap="square">
            <a:spAutoFit/>
          </a:bodyPr>
          <a:lstStyle/>
          <a:p>
            <a:pPr algn="ctr">
              <a:defRPr>
                <a:latin typeface="微软雅黑"/>
                <a:ea typeface="微软雅黑"/>
                <a:cs typeface="微软雅黑"/>
              </a:defRPr>
            </a:pPr>
            <a:r>
              <a:rPr lang="zh-CN" altLang="en-US" sz="1050" b="1" dirty="0">
                <a:solidFill>
                  <a:srgbClr val="0042FF"/>
                </a:solidFill>
                <a:latin typeface="微软雅黑"/>
                <a:ea typeface="微软雅黑"/>
                <a:cs typeface="微软雅黑"/>
              </a:rPr>
              <a:t>公域</a:t>
            </a:r>
            <a:endParaRPr lang="zh-CN" altLang="en-US" sz="1050" b="1" dirty="0">
              <a:solidFill>
                <a:srgbClr val="0042FF"/>
              </a:solidFill>
              <a:latin typeface="微软雅黑"/>
              <a:ea typeface="微软雅黑"/>
              <a:cs typeface="微软雅黑"/>
            </a:endParaRPr>
          </a:p>
        </p:txBody>
      </p:sp>
      <p:sp>
        <p:nvSpPr>
          <p:cNvPr id="150" name="紫荆的职场Point85"/>
          <p:cNvSpPr/>
          <p:nvPr/>
        </p:nvSpPr>
        <p:spPr>
          <a:xfrm>
            <a:off x="7482840" y="3641725"/>
            <a:ext cx="1021715" cy="1022350"/>
          </a:xfrm>
          <a:prstGeom prst="donut">
            <a:avLst>
              <a:gd name="adj" fmla="val 23987"/>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1" name="紫荆的职场Point86"/>
          <p:cNvSpPr/>
          <p:nvPr/>
        </p:nvSpPr>
        <p:spPr>
          <a:xfrm>
            <a:off x="7879715" y="3509645"/>
            <a:ext cx="227965" cy="227965"/>
          </a:xfrm>
          <a:prstGeom prst="ellipse">
            <a:avLst/>
          </a:prstGeom>
          <a:solidFill>
            <a:srgbClr val="FFFFFF">
              <a:alpha val="80000"/>
            </a:srgbClr>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52" name="紫荆的职场Point87"/>
          <p:cNvSpPr/>
          <p:nvPr/>
        </p:nvSpPr>
        <p:spPr>
          <a:xfrm>
            <a:off x="8258810" y="3688715"/>
            <a:ext cx="227965" cy="227965"/>
          </a:xfrm>
          <a:prstGeom prst="ellipse">
            <a:avLst/>
          </a:prstGeom>
          <a:solidFill>
            <a:srgbClr val="FFFFFF">
              <a:alpha val="80000"/>
            </a:srgbClr>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53" name="紫荆的职场Point88"/>
          <p:cNvSpPr/>
          <p:nvPr/>
        </p:nvSpPr>
        <p:spPr>
          <a:xfrm>
            <a:off x="7501255" y="3688715"/>
            <a:ext cx="227965" cy="227965"/>
          </a:xfrm>
          <a:prstGeom prst="ellipse">
            <a:avLst/>
          </a:prstGeom>
          <a:solidFill>
            <a:srgbClr val="FFFFFF">
              <a:alpha val="80000"/>
            </a:srgbClr>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54" name="紫荆的职场Point89"/>
          <p:cNvSpPr/>
          <p:nvPr/>
        </p:nvSpPr>
        <p:spPr>
          <a:xfrm flipV="1">
            <a:off x="7879715" y="4525010"/>
            <a:ext cx="227965" cy="227965"/>
          </a:xfrm>
          <a:prstGeom prst="ellipse">
            <a:avLst/>
          </a:prstGeom>
          <a:solidFill>
            <a:srgbClr val="FFFFFF">
              <a:alpha val="80000"/>
            </a:srgbClr>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55" name="紫荆的职场Point90"/>
          <p:cNvSpPr/>
          <p:nvPr/>
        </p:nvSpPr>
        <p:spPr>
          <a:xfrm flipV="1">
            <a:off x="8258810" y="4346575"/>
            <a:ext cx="227965" cy="227965"/>
          </a:xfrm>
          <a:prstGeom prst="ellipse">
            <a:avLst/>
          </a:prstGeom>
          <a:solidFill>
            <a:srgbClr val="FFFFFF">
              <a:alpha val="80000"/>
            </a:srgbClr>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56" name="紫荆的职场Point91"/>
          <p:cNvSpPr/>
          <p:nvPr/>
        </p:nvSpPr>
        <p:spPr>
          <a:xfrm flipV="1">
            <a:off x="7501255" y="4346575"/>
            <a:ext cx="227965" cy="227965"/>
          </a:xfrm>
          <a:prstGeom prst="ellipse">
            <a:avLst/>
          </a:prstGeom>
          <a:solidFill>
            <a:srgbClr val="FFFFFF">
              <a:alpha val="80000"/>
            </a:srgbClr>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200">
              <a:latin typeface="微软雅黑"/>
              <a:ea typeface="微软雅黑"/>
              <a:cs typeface="微软雅黑"/>
              <a:sym typeface="微软雅黑"/>
            </a:endParaRPr>
          </a:p>
        </p:txBody>
      </p:sp>
      <p:sp>
        <p:nvSpPr>
          <p:cNvPr id="157" name="紫荆的职场Point92"/>
          <p:cNvSpPr txBox="1"/>
          <p:nvPr/>
        </p:nvSpPr>
        <p:spPr>
          <a:xfrm>
            <a:off x="7700010" y="4152265"/>
            <a:ext cx="592455" cy="313690"/>
          </a:xfrm>
          <a:prstGeom prst="rect">
            <a:avLst/>
          </a:prstGeom>
          <a:noFill/>
        </p:spPr>
        <p:txBody>
          <a:bodyPr wrap="square" lIns="0" rIns="0" tIns="0" bIns="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公私域合营</a:t>
            </a:r>
            <a:endParaRPr lang="zh-CN" altLang="en-US" sz="1000" dirty="0">
              <a:solidFill>
                <a:srgbClr val="383838"/>
              </a:solidFill>
              <a:latin typeface="微软雅黑"/>
              <a:ea typeface="微软雅黑"/>
              <a:cs typeface="微软雅黑"/>
            </a:endParaRPr>
          </a:p>
        </p:txBody>
      </p:sp>
      <p:sp>
        <p:nvSpPr>
          <p:cNvPr id="158" name="紫荆的职场Point99-2"/>
          <p:cNvSpPr/>
          <p:nvPr/>
        </p:nvSpPr>
        <p:spPr>
          <a:xfrm>
            <a:off x="5736590" y="3577590"/>
            <a:ext cx="1334770" cy="1144270"/>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9" name="紫荆的职场Point99-3"/>
          <p:cNvSpPr txBox="1"/>
          <p:nvPr/>
        </p:nvSpPr>
        <p:spPr>
          <a:xfrm>
            <a:off x="5765800" y="3587750"/>
            <a:ext cx="12700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b="1" dirty="0">
                <a:solidFill>
                  <a:srgbClr val="0042FF"/>
                </a:solidFill>
                <a:latin typeface="微软雅黑"/>
                <a:ea typeface="微软雅黑"/>
                <a:cs typeface="微软雅黑"/>
              </a:defRPr>
            </a:pPr>
            <a:r>
              <a:rPr lang="zh-CN" altLang="en-US" sz="1000" b="1" dirty="0">
                <a:solidFill>
                  <a:srgbClr val="0042FF"/>
                </a:solidFill>
                <a:latin typeface="微软雅黑"/>
                <a:ea typeface="微软雅黑"/>
                <a:cs typeface="微软雅黑"/>
              </a:rPr>
              <a:t>品牌私域</a:t>
            </a:r>
          </a:p>
        </p:txBody>
      </p:sp>
      <p:sp>
        <p:nvSpPr>
          <p:cNvPr id="160" name="紫荆的职场Point99-4"/>
          <p:cNvSpPr txBox="1"/>
          <p:nvPr/>
        </p:nvSpPr>
        <p:spPr>
          <a:xfrm>
            <a:off x="5765800" y="3771900"/>
            <a:ext cx="12700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关系、场景、转化</a:t>
            </a:r>
          </a:p>
        </p:txBody>
      </p:sp>
      <p:sp>
        <p:nvSpPr>
          <p:cNvPr id="161" name="紫荆的职场Point99-5"/>
          <p:cNvSpPr/>
          <p:nvPr/>
        </p:nvSpPr>
        <p:spPr>
          <a:xfrm>
            <a:off x="6419850" y="3975100"/>
            <a:ext cx="622300" cy="177800"/>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2" name="紫荆的职场Point99-6"/>
          <p:cNvSpPr/>
          <p:nvPr/>
        </p:nvSpPr>
        <p:spPr>
          <a:xfrm>
            <a:off x="5753100" y="3975100"/>
            <a:ext cx="622300" cy="177800"/>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3" name="紫荆的职场Point99-7"/>
          <p:cNvSpPr/>
          <p:nvPr/>
        </p:nvSpPr>
        <p:spPr>
          <a:xfrm>
            <a:off x="6419850" y="4165600"/>
            <a:ext cx="622300" cy="177800"/>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5" name="紫荆的职场Point99-9"/>
          <p:cNvSpPr/>
          <p:nvPr/>
        </p:nvSpPr>
        <p:spPr>
          <a:xfrm>
            <a:off x="6419850" y="4356100"/>
            <a:ext cx="622300" cy="177800"/>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6" name="紫荆的职场Point99-10"/>
          <p:cNvSpPr/>
          <p:nvPr/>
        </p:nvSpPr>
        <p:spPr>
          <a:xfrm>
            <a:off x="5753100" y="4165600"/>
            <a:ext cx="622300" cy="177800"/>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7" name="紫荆的职场Point99-11"/>
          <p:cNvSpPr/>
          <p:nvPr/>
        </p:nvSpPr>
        <p:spPr>
          <a:xfrm>
            <a:off x="5753100" y="4356100"/>
            <a:ext cx="622300" cy="177800"/>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8" name="紫荆的职场Point99-12"/>
          <p:cNvSpPr txBox="1"/>
          <p:nvPr/>
        </p:nvSpPr>
        <p:spPr>
          <a:xfrm>
            <a:off x="5753100" y="3975100"/>
            <a:ext cx="6223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旗舰店</a:t>
            </a:r>
          </a:p>
        </p:txBody>
      </p:sp>
      <p:sp>
        <p:nvSpPr>
          <p:cNvPr id="169" name="紫荆的职场Point99-13"/>
          <p:cNvSpPr txBox="1"/>
          <p:nvPr/>
        </p:nvSpPr>
        <p:spPr>
          <a:xfrm>
            <a:off x="6419850" y="3975100"/>
            <a:ext cx="6223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订阅</a:t>
            </a:r>
          </a:p>
        </p:txBody>
      </p:sp>
      <p:sp>
        <p:nvSpPr>
          <p:cNvPr id="170" name="紫荆的职场Point99-14"/>
          <p:cNvSpPr txBox="1"/>
          <p:nvPr/>
        </p:nvSpPr>
        <p:spPr>
          <a:xfrm>
            <a:off x="5753100" y="4165600"/>
            <a:ext cx="6223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小程序</a:t>
            </a:r>
          </a:p>
        </p:txBody>
      </p:sp>
      <p:sp>
        <p:nvSpPr>
          <p:cNvPr id="173" name="紫荆的职场Point99-17"/>
          <p:cNvSpPr txBox="1"/>
          <p:nvPr/>
        </p:nvSpPr>
        <p:spPr>
          <a:xfrm>
            <a:off x="5753100" y="4356100"/>
            <a:ext cx="6223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商详</a:t>
            </a:r>
          </a:p>
        </p:txBody>
      </p:sp>
      <p:sp>
        <p:nvSpPr>
          <p:cNvPr id="174" name="紫荆的职场Point99-18"/>
          <p:cNvSpPr txBox="1"/>
          <p:nvPr/>
        </p:nvSpPr>
        <p:spPr>
          <a:xfrm>
            <a:off x="6419850" y="4165600"/>
            <a:ext cx="6223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kumimoji="0" lang="zh-CN" altLang="en-US" sz="1000" b="0" i="0" u="none" strike="noStrike" kern="1200" cap="none" spc="0" normalizeH="0" baseline="0" noProof="0" dirty="0">
                <a:solidFill>
                  <a:srgbClr val="383838"/>
                </a:solidFill>
                <a:ln>
                  <a:noFill/>
                </a:ln>
                <a:effectLst/>
                <a:uLnTx/>
                <a:uFillTx/>
                <a:latin typeface="微软雅黑"/>
                <a:ea typeface="微软雅黑"/>
                <a:cs typeface="微软雅黑"/>
              </a:defRPr>
            </a:pPr>
            <a:r>
              <a:rPr kumimoji="0" lang="zh-CN" altLang="en-US" sz="1000" b="0" i="0" u="none" strike="noStrike" kern="1200" cap="none" spc="0" normalizeH="0" baseline="0" noProof="0" dirty="0">
                <a:solidFill>
                  <a:srgbClr val="383838"/>
                </a:solidFill>
                <a:ln>
                  <a:noFill/>
                </a:ln>
                <a:effectLst/>
                <a:uLnTx/>
                <a:uFillTx/>
                <a:latin typeface="微软雅黑"/>
                <a:ea typeface="微软雅黑"/>
                <a:cs typeface="微软雅黑"/>
              </a:rPr>
              <a:t>直播</a:t>
            </a:r>
          </a:p>
        </p:txBody>
      </p:sp>
      <p:sp>
        <p:nvSpPr>
          <p:cNvPr id="175" name="紫荆的职场Point102"/>
          <p:cNvSpPr/>
          <p:nvPr/>
        </p:nvSpPr>
        <p:spPr>
          <a:xfrm>
            <a:off x="5384800" y="4762500"/>
            <a:ext cx="2108200" cy="317500"/>
          </a:xfrm>
          <a:prstGeom prst="roundRect">
            <a:avLst/>
          </a:prstGeom>
          <a:solidFill>
            <a:srgbClr val="FFFFFF"/>
          </a:solidFill>
          <a:ln w="952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76" name="紫荆的职场Point104"/>
          <p:cNvSpPr txBox="1"/>
          <p:nvPr/>
        </p:nvSpPr>
        <p:spPr>
          <a:xfrm>
            <a:off x="5391150" y="4762500"/>
            <a:ext cx="2095500" cy="317500"/>
          </a:xfrm>
          <a:prstGeom prst="rect">
            <a:avLst/>
          </a:prstGeom>
          <a:noFill/>
        </p:spPr>
        <p:txBody>
          <a:bodyPr wrap="square" anchor="ctr" lIns="0" rIns="0" tIns="0" bIns="0">
            <a:noAutofit/>
          </a:bodyPr>
          <a:lstStyle/>
          <a:p>
            <a:pPr algn="ctr" marL="0" marR="0" indent="0">
              <a:lnSpc>
                <a:spcPts val="1200"/>
              </a:lnSpc>
              <a:spcBef>
                <a:spcPts val="0"/>
              </a:spcBef>
              <a:spcAft>
                <a:spcPts val="0"/>
              </a:spcAft>
              <a:buNone/>
              <a:defRPr lang="zh-CN" altLang="en-US" sz="1000" b="1" dirty="0">
                <a:solidFill>
                  <a:srgbClr val="0042FF"/>
                </a:solidFill>
                <a:latin typeface="微软雅黑"/>
                <a:ea typeface="微软雅黑"/>
                <a:cs typeface="微软雅黑"/>
              </a:defRPr>
            </a:pPr>
            <a:r>
              <a:rPr lang="zh-CN" altLang="en-US" sz="1000" b="1" dirty="0">
                <a:solidFill>
                  <a:srgbClr val="0042FF"/>
                </a:solidFill>
                <a:latin typeface="微软雅黑"/>
                <a:ea typeface="微软雅黑"/>
                <a:cs typeface="微软雅黑"/>
              </a:rPr>
              <a:t>域内外共振（IP输出、流量投放）</a:t>
            </a:r>
          </a:p>
        </p:txBody>
      </p:sp>
      <p:sp>
        <p:nvSpPr>
          <p:cNvPr id="177" name="紫荆的职场Point105-1"/>
          <p:cNvSpPr/>
          <p:nvPr/>
        </p:nvSpPr>
        <p:spPr>
          <a:xfrm flipH="1">
            <a:off x="7118350" y="4070350"/>
            <a:ext cx="215900" cy="49530"/>
          </a:xfrm>
          <a:custGeom>
            <a:avLst/>
            <a:gdLst>
              <a:gd name="connsiteX0" fmla="*/ 607079 w 734037"/>
              <a:gd name="connsiteY0" fmla="*/ 0 h 126958"/>
              <a:gd name="connsiteX1" fmla="*/ 734037 w 734037"/>
              <a:gd name="connsiteY1" fmla="*/ 126958 h 126958"/>
              <a:gd name="connsiteX2" fmla="*/ 0 w 734037"/>
              <a:gd name="connsiteY2" fmla="*/ 126958 h 126958"/>
              <a:gd name="connsiteX3" fmla="*/ 0 w 734037"/>
              <a:gd name="connsiteY3" fmla="*/ 63479 h 126958"/>
              <a:gd name="connsiteX4" fmla="*/ 607079 w 734037"/>
              <a:gd name="connsiteY4" fmla="*/ 63479 h 1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037" h="126958">
                <a:moveTo>
                  <a:pt x="607079" y="0"/>
                </a:moveTo>
                <a:lnTo>
                  <a:pt x="734037" y="126958"/>
                </a:lnTo>
                <a:lnTo>
                  <a:pt x="0" y="126958"/>
                </a:lnTo>
                <a:lnTo>
                  <a:pt x="0" y="63479"/>
                </a:lnTo>
                <a:lnTo>
                  <a:pt x="607079" y="63479"/>
                </a:lnTo>
                <a:close/>
              </a:path>
            </a:pathLst>
          </a:custGeom>
          <a:gradFill flip="none" rotWithShape="1">
            <a:gsLst>
              <a:gs pos="0">
                <a:srgbClr val="3368FF">
                  <a:alpha val="0"/>
                </a:srgbClr>
              </a:gs>
              <a:gs pos="100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78" name="紫荆的职场Point105-2"/>
          <p:cNvSpPr/>
          <p:nvPr/>
        </p:nvSpPr>
        <p:spPr>
          <a:xfrm>
            <a:off x="7118350" y="4135755"/>
            <a:ext cx="215900" cy="49530"/>
          </a:xfrm>
          <a:custGeom>
            <a:avLst/>
            <a:gdLst>
              <a:gd name="connsiteX0" fmla="*/ 607079 w 734037"/>
              <a:gd name="connsiteY0" fmla="*/ 0 h 126958"/>
              <a:gd name="connsiteX1" fmla="*/ 734037 w 734037"/>
              <a:gd name="connsiteY1" fmla="*/ 126958 h 126958"/>
              <a:gd name="connsiteX2" fmla="*/ 0 w 734037"/>
              <a:gd name="connsiteY2" fmla="*/ 126958 h 126958"/>
              <a:gd name="connsiteX3" fmla="*/ 0 w 734037"/>
              <a:gd name="connsiteY3" fmla="*/ 63479 h 126958"/>
              <a:gd name="connsiteX4" fmla="*/ 607079 w 734037"/>
              <a:gd name="connsiteY4" fmla="*/ 63479 h 1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037" h="126958">
                <a:moveTo>
                  <a:pt x="607079" y="0"/>
                </a:moveTo>
                <a:lnTo>
                  <a:pt x="734037" y="126958"/>
                </a:lnTo>
                <a:lnTo>
                  <a:pt x="0" y="126958"/>
                </a:lnTo>
                <a:lnTo>
                  <a:pt x="0" y="63479"/>
                </a:lnTo>
                <a:lnTo>
                  <a:pt x="607079" y="63479"/>
                </a:lnTo>
                <a:close/>
              </a:path>
            </a:pathLst>
          </a:custGeom>
          <a:gradFill flip="none" rotWithShape="1">
            <a:gsLst>
              <a:gs pos="0">
                <a:srgbClr val="3368FF">
                  <a:alpha val="0"/>
                </a:srgbClr>
              </a:gs>
              <a:gs pos="100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79" name="紫荆的职场Point106-1"/>
          <p:cNvSpPr/>
          <p:nvPr/>
        </p:nvSpPr>
        <p:spPr>
          <a:xfrm flipH="1">
            <a:off x="5499100" y="4070350"/>
            <a:ext cx="190500" cy="49530"/>
          </a:xfrm>
          <a:custGeom>
            <a:avLst/>
            <a:gdLst>
              <a:gd name="connsiteX0" fmla="*/ 607079 w 734037"/>
              <a:gd name="connsiteY0" fmla="*/ 0 h 126958"/>
              <a:gd name="connsiteX1" fmla="*/ 734037 w 734037"/>
              <a:gd name="connsiteY1" fmla="*/ 126958 h 126958"/>
              <a:gd name="connsiteX2" fmla="*/ 0 w 734037"/>
              <a:gd name="connsiteY2" fmla="*/ 126958 h 126958"/>
              <a:gd name="connsiteX3" fmla="*/ 0 w 734037"/>
              <a:gd name="connsiteY3" fmla="*/ 63479 h 126958"/>
              <a:gd name="connsiteX4" fmla="*/ 607079 w 734037"/>
              <a:gd name="connsiteY4" fmla="*/ 63479 h 1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037" h="126958">
                <a:moveTo>
                  <a:pt x="607079" y="0"/>
                </a:moveTo>
                <a:lnTo>
                  <a:pt x="734037" y="126958"/>
                </a:lnTo>
                <a:lnTo>
                  <a:pt x="0" y="126958"/>
                </a:lnTo>
                <a:lnTo>
                  <a:pt x="0" y="63479"/>
                </a:lnTo>
                <a:lnTo>
                  <a:pt x="607079" y="63479"/>
                </a:lnTo>
                <a:close/>
              </a:path>
            </a:pathLst>
          </a:custGeom>
          <a:gradFill flip="none" rotWithShape="1">
            <a:gsLst>
              <a:gs pos="0">
                <a:srgbClr val="0042FF">
                  <a:alpha val="0"/>
                </a:srgbClr>
              </a:gs>
              <a:gs pos="100000">
                <a:srgbClr val="0042FF"/>
              </a:gs>
            </a:gsLst>
            <a:lin ang="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0" name="紫荆的职场Point106-2"/>
          <p:cNvSpPr/>
          <p:nvPr/>
        </p:nvSpPr>
        <p:spPr>
          <a:xfrm>
            <a:off x="5499100" y="4135755"/>
            <a:ext cx="190500" cy="49530"/>
          </a:xfrm>
          <a:custGeom>
            <a:avLst/>
            <a:gdLst>
              <a:gd name="connsiteX0" fmla="*/ 607079 w 734037"/>
              <a:gd name="connsiteY0" fmla="*/ 0 h 126958"/>
              <a:gd name="connsiteX1" fmla="*/ 734037 w 734037"/>
              <a:gd name="connsiteY1" fmla="*/ 126958 h 126958"/>
              <a:gd name="connsiteX2" fmla="*/ 0 w 734037"/>
              <a:gd name="connsiteY2" fmla="*/ 126958 h 126958"/>
              <a:gd name="connsiteX3" fmla="*/ 0 w 734037"/>
              <a:gd name="connsiteY3" fmla="*/ 63479 h 126958"/>
              <a:gd name="connsiteX4" fmla="*/ 607079 w 734037"/>
              <a:gd name="connsiteY4" fmla="*/ 63479 h 1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037" h="126958">
                <a:moveTo>
                  <a:pt x="607079" y="0"/>
                </a:moveTo>
                <a:lnTo>
                  <a:pt x="734037" y="126958"/>
                </a:lnTo>
                <a:lnTo>
                  <a:pt x="0" y="126958"/>
                </a:lnTo>
                <a:lnTo>
                  <a:pt x="0" y="63479"/>
                </a:lnTo>
                <a:lnTo>
                  <a:pt x="607079" y="63479"/>
                </a:lnTo>
                <a:close/>
              </a:path>
            </a:pathLst>
          </a:custGeom>
          <a:gradFill flip="none" rotWithShape="1">
            <a:gsLst>
              <a:gs pos="0">
                <a:srgbClr val="0042FF">
                  <a:alpha val="0"/>
                </a:srgbClr>
              </a:gs>
              <a:gs pos="100000">
                <a:srgbClr val="0042FF"/>
              </a:gs>
            </a:gsLst>
            <a:lin ang="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cxnSp>
        <p:nvCxnSpPr>
          <p:cNvPr id="181" name="紫荆的职场Point111"/>
          <p:cNvCxnSpPr/>
          <p:nvPr/>
        </p:nvCxnSpPr>
        <p:spPr>
          <a:xfrm rot="5400000" flipH="1" flipV="1">
            <a:off x="6389370" y="3406140"/>
            <a:ext cx="92710" cy="3122295"/>
          </a:xfrm>
          <a:prstGeom prst="bentConnector3">
            <a:avLst>
              <a:gd name="adj1" fmla="val -168150"/>
            </a:avLst>
          </a:prstGeom>
          <a:ln>
            <a:solidFill>
              <a:srgbClr val="3368FF"/>
            </a:solidFill>
            <a:headEnd type="triangle"/>
            <a:tailEnd type="triangle"/>
          </a:ln>
        </p:spPr>
        <p:style>
          <a:lnRef idx="2">
            <a:srgbClr val="0042FF"/>
          </a:lnRef>
          <a:fillRef idx="0">
            <a:srgbClr val="0042FF"/>
          </a:fillRef>
          <a:effectRef idx="1">
            <a:srgbClr val="0042FF"/>
          </a:effectRef>
          <a:fontRef idx="minor">
            <a:srgbClr val="383838"/>
          </a:fontRef>
        </p:style>
      </p:cxnSp>
      <p:sp>
        <p:nvSpPr>
          <p:cNvPr id="182" name="紫荆的职场Point112"/>
          <p:cNvSpPr/>
          <p:nvPr/>
        </p:nvSpPr>
        <p:spPr>
          <a:xfrm>
            <a:off x="5488305" y="5097145"/>
            <a:ext cx="1974850" cy="259080"/>
          </a:xfrm>
          <a:prstGeom prst="roundRect">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83" name="紫荆的职场Point113"/>
          <p:cNvSpPr txBox="1"/>
          <p:nvPr/>
        </p:nvSpPr>
        <p:spPr>
          <a:xfrm>
            <a:off x="5467350" y="5118100"/>
            <a:ext cx="2082800" cy="2032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品牌全私域可持续的高价值用户</a:t>
            </a:r>
          </a:p>
        </p:txBody>
      </p:sp>
      <p:sp>
        <p:nvSpPr>
          <p:cNvPr id="184" name="文本框 183"/>
          <p:cNvSpPr txBox="1"/>
          <p:nvPr>
            <p:custDataLst>
              <p:tags r:id="rId38"/>
            </p:custDataLst>
          </p:nvPr>
        </p:nvSpPr>
        <p:spPr>
          <a:xfrm>
            <a:off x="5802630" y="3055620"/>
            <a:ext cx="1070610" cy="215265"/>
          </a:xfrm>
          <a:prstGeom prst="rect">
            <a:avLst/>
          </a:prstGeom>
          <a:noFill/>
        </p:spPr>
        <p:txBody>
          <a:bodyPr wrap="none" lIns="0" tIns="0" rIns="0" bIns="0">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全渠道联动图</a:t>
            </a:r>
            <a:endParaRPr lang="zh-CN" altLang="en-US" sz="1400" b="1" dirty="0">
              <a:solidFill>
                <a:srgbClr val="0042FF"/>
              </a:solidFill>
              <a:latin typeface="微软雅黑"/>
              <a:ea typeface="微软雅黑"/>
              <a:cs typeface="微软雅黑"/>
              <a:sym typeface="微软雅黑"/>
            </a:endParaRPr>
          </a:p>
        </p:txBody>
      </p:sp>
      <p:sp>
        <p:nvSpPr>
          <p:cNvPr id="185" name="左中括号 184"/>
          <p:cNvSpPr/>
          <p:nvPr>
            <p:custDataLst>
              <p:tags r:id="rId39"/>
            </p:custDataLst>
          </p:nvPr>
        </p:nvSpPr>
        <p:spPr>
          <a:xfrm rot="5400000">
            <a:off x="6297930" y="2183765"/>
            <a:ext cx="250825" cy="2647315"/>
          </a:xfrm>
          <a:prstGeom prst="leftBracket">
            <a:avLst>
              <a:gd name="adj" fmla="val 0"/>
            </a:avLst>
          </a:prstGeom>
          <a:ln w="9525">
            <a:solidFill>
              <a:srgbClr val="3368FF"/>
            </a:solidFill>
            <a:headEnd type="triangle" w="sm" len="sm"/>
            <a:tailEnd type="triangle" w="sm" len="sm"/>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6" name="紫荆的职场Point107"/>
          <p:cNvSpPr/>
          <p:nvPr/>
        </p:nvSpPr>
        <p:spPr>
          <a:xfrm>
            <a:off x="5802630" y="3271520"/>
            <a:ext cx="1095375" cy="187960"/>
          </a:xfrm>
          <a:prstGeom prst="roundRect">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187" name="紫荆的职场Point113"/>
          <p:cNvSpPr txBox="1"/>
          <p:nvPr/>
        </p:nvSpPr>
        <p:spPr>
          <a:xfrm>
            <a:off x="5846445" y="3281045"/>
            <a:ext cx="1100455" cy="188595"/>
          </a:xfrm>
          <a:prstGeom prst="rect">
            <a:avLst/>
          </a:prstGeom>
          <a:noFill/>
        </p:spPr>
        <p:txBody>
          <a:bodyPr wrap="square" anchor="ctr" anchorCtr="0" lIns="0" rIns="0" tIns="0" bIns="0">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品牌稳定性增长</a:t>
            </a:r>
            <a:endParaRPr lang="zh-CN" altLang="en-US" sz="1000" dirty="0">
              <a:solidFill>
                <a:srgbClr val="383838"/>
              </a:solidFill>
              <a:latin typeface="微软雅黑"/>
              <a:ea typeface="微软雅黑"/>
              <a:cs typeface="微软雅黑"/>
            </a:endParaRPr>
          </a:p>
        </p:txBody>
      </p:sp>
      <p:pic>
        <p:nvPicPr>
          <p:cNvPr id="194" name="图片 193" descr="媒体合作"/>
          <p:cNvPicPr>
            <a:picLocks noChangeAspect="1"/>
          </p:cNvPicPr>
          <p:nvPr/>
        </p:nvPicPr>
        <p:blipFill>
          <a:blip r:embed="rId40">
            <a:extLst>
              <a:ext uri="{96DAC541-7B7A-43D3-8B79-37D633B846F1}">
                <asvg:svgBlip xmlns:asvg="http://schemas.microsoft.com/office/drawing/2016/SVG/main" r:embed="rId41"/>
              </a:ext>
            </a:extLst>
          </a:blip>
          <a:stretch>
            <a:fillRect/>
          </a:stretch>
        </p:blipFill>
        <p:spPr>
          <a:xfrm>
            <a:off x="4411980" y="3719195"/>
            <a:ext cx="167640" cy="167640"/>
          </a:xfrm>
          <a:prstGeom prst="rect">
            <a:avLst/>
          </a:prstGeom>
        </p:spPr>
      </p:pic>
      <p:grpSp>
        <p:nvGrpSpPr>
          <p:cNvPr id="195" name="组合 194"/>
          <p:cNvGrpSpPr/>
          <p:nvPr/>
        </p:nvGrpSpPr>
        <p:grpSpPr>
          <a:xfrm>
            <a:off x="1250950" y="6313170"/>
            <a:ext cx="10645140" cy="374015"/>
            <a:chOff x="1970" y="9686"/>
            <a:chExt cx="16764" cy="589"/>
          </a:xfrm>
        </p:grpSpPr>
        <p:grpSp>
          <p:nvGrpSpPr>
            <p:cNvPr id="196" name="组合 195"/>
            <p:cNvGrpSpPr/>
            <p:nvPr/>
          </p:nvGrpSpPr>
          <p:grpSpPr>
            <a:xfrm>
              <a:off x="1970" y="9686"/>
              <a:ext cx="3336" cy="589"/>
              <a:chOff x="1783" y="9686"/>
              <a:chExt cx="3336" cy="589"/>
            </a:xfrm>
          </p:grpSpPr>
          <p:sp>
            <p:nvSpPr>
              <p:cNvPr id="197" name="任意多边形: 形状 429"/>
              <p:cNvSpPr/>
              <p:nvPr>
                <p:custDataLst>
                  <p:tags r:id="rId42"/>
                </p:custDataLst>
              </p:nvPr>
            </p:nvSpPr>
            <p:spPr>
              <a:xfrm>
                <a:off x="1783" y="9686"/>
                <a:ext cx="3336" cy="589"/>
              </a:xfrm>
              <a:custGeom>
                <a:avLst/>
                <a:gdLst>
                  <a:gd name="connsiteX0" fmla="*/ 0 w 2057103"/>
                  <a:gd name="connsiteY0" fmla="*/ 0 h 374210"/>
                  <a:gd name="connsiteX1" fmla="*/ 2057103 w 2057103"/>
                  <a:gd name="connsiteY1" fmla="*/ 0 h 374210"/>
                  <a:gd name="connsiteX2" fmla="*/ 2057103 w 2057103"/>
                  <a:gd name="connsiteY2" fmla="*/ 374210 h 374210"/>
                  <a:gd name="connsiteX3" fmla="*/ 0 w 2057103"/>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057103" h="374210">
                    <a:moveTo>
                      <a:pt x="0" y="0"/>
                    </a:moveTo>
                    <a:lnTo>
                      <a:pt x="2057103" y="0"/>
                    </a:lnTo>
                    <a:lnTo>
                      <a:pt x="2057103" y="374210"/>
                    </a:lnTo>
                    <a:lnTo>
                      <a:pt x="0" y="374210"/>
                    </a:lnTo>
                    <a:close/>
                  </a:path>
                </a:pathLst>
              </a:custGeom>
              <a:solidFill>
                <a:srgbClr val="0042FF"/>
              </a:solidFill>
              <a:ln w="19050" cap="flat" cmpd="sng" algn="ctr">
                <a:noFill/>
                <a:prstDash val="solid"/>
                <a:miter lim="800000"/>
              </a:ln>
              <a:effectLst/>
            </p:spPr>
            <p:txBody>
              <a:bodyPr wrap="square" rtlCol="0" anchor="ctr" anchorCtr="0"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98" name="文本框 197"/>
              <p:cNvSpPr txBox="1"/>
              <p:nvPr>
                <p:custDataLst>
                  <p:tags r:id="rId43"/>
                </p:custDataLst>
              </p:nvPr>
            </p:nvSpPr>
            <p:spPr>
              <a:xfrm>
                <a:off x="2851" y="9849"/>
                <a:ext cx="1105" cy="266"/>
              </a:xfrm>
              <a:prstGeom prst="rect">
                <a:avLst/>
              </a:prstGeom>
              <a:noFill/>
              <a:extLst>
                <a:ext uri="{909E8E84-426E-40DD-AFC4-6F175D3DCCD1}">
                  <a14:hiddenFill xmlns:a14="http://schemas.microsoft.com/office/drawing/2010/main">
                    <a:solidFill>
                      <a:srgbClr val="FF4200"/>
                    </a:solid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rPr>
                  <a:t>数字化能力</a:t>
                </a:r>
                <a:endParaRPr lang="zh-CN" altLang="en-US" sz="1100" b="1" dirty="0">
                  <a:solidFill>
                    <a:srgbClr val="FFFFFF"/>
                  </a:solidFill>
                  <a:latin typeface="微软雅黑"/>
                  <a:ea typeface="微软雅黑"/>
                  <a:cs typeface="微软雅黑"/>
                </a:endParaRPr>
              </a:p>
            </p:txBody>
          </p:sp>
        </p:grpSp>
        <p:grpSp>
          <p:nvGrpSpPr>
            <p:cNvPr id="199" name="组合 198"/>
            <p:cNvGrpSpPr/>
            <p:nvPr/>
          </p:nvGrpSpPr>
          <p:grpSpPr>
            <a:xfrm>
              <a:off x="5327" y="9686"/>
              <a:ext cx="3336" cy="589"/>
              <a:chOff x="1783" y="9686"/>
              <a:chExt cx="3336" cy="589"/>
            </a:xfrm>
            <a:solidFill>
              <a:srgbClr val="0042FF"/>
            </a:solidFill>
          </p:grpSpPr>
          <p:sp>
            <p:nvSpPr>
              <p:cNvPr id="200" name="任意多边形: 形状 429"/>
              <p:cNvSpPr/>
              <p:nvPr>
                <p:custDataLst>
                  <p:tags r:id="rId44"/>
                </p:custDataLst>
              </p:nvPr>
            </p:nvSpPr>
            <p:spPr>
              <a:xfrm>
                <a:off x="1783" y="9686"/>
                <a:ext cx="3336" cy="589"/>
              </a:xfrm>
              <a:custGeom>
                <a:avLst/>
                <a:gdLst>
                  <a:gd name="connsiteX0" fmla="*/ 0 w 2057103"/>
                  <a:gd name="connsiteY0" fmla="*/ 0 h 374210"/>
                  <a:gd name="connsiteX1" fmla="*/ 2057103 w 2057103"/>
                  <a:gd name="connsiteY1" fmla="*/ 0 h 374210"/>
                  <a:gd name="connsiteX2" fmla="*/ 2057103 w 2057103"/>
                  <a:gd name="connsiteY2" fmla="*/ 374210 h 374210"/>
                  <a:gd name="connsiteX3" fmla="*/ 0 w 2057103"/>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057103" h="374210">
                    <a:moveTo>
                      <a:pt x="0" y="0"/>
                    </a:moveTo>
                    <a:lnTo>
                      <a:pt x="2057103" y="0"/>
                    </a:lnTo>
                    <a:lnTo>
                      <a:pt x="2057103" y="374210"/>
                    </a:lnTo>
                    <a:lnTo>
                      <a:pt x="0" y="374210"/>
                    </a:lnTo>
                    <a:close/>
                  </a:path>
                </a:pathLst>
              </a:custGeom>
              <a:solidFill>
                <a:srgbClr val="0042FF"/>
              </a:solidFill>
              <a:ln w="19050" cap="flat" cmpd="sng" algn="ctr">
                <a:noFill/>
                <a:prstDash val="solid"/>
                <a:miter lim="800000"/>
              </a:ln>
              <a:effectLst/>
            </p:spPr>
            <p:txBody>
              <a:bodyPr wrap="square" rtlCol="0" anchor="ctr" anchorCtr="0"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01" name="文本框 200"/>
              <p:cNvSpPr txBox="1"/>
              <p:nvPr>
                <p:custDataLst>
                  <p:tags r:id="rId45"/>
                </p:custDataLst>
              </p:nvPr>
            </p:nvSpPr>
            <p:spPr>
              <a:xfrm>
                <a:off x="2961" y="9850"/>
                <a:ext cx="884" cy="266"/>
              </a:xfrm>
              <a:prstGeom prst="rect">
                <a:avLst/>
              </a:prstGeom>
              <a:noFill/>
              <a:extLst>
                <a:ext uri="{909E8E84-426E-40DD-AFC4-6F175D3DCCD1}">
                  <a14:hiddenFill xmlns:a14="http://schemas.microsoft.com/office/drawing/2010/main">
                    <a:grp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交付体系</a:t>
                </a:r>
                <a:endParaRPr lang="zh-CN" altLang="en-US" sz="1100" b="1" dirty="0">
                  <a:solidFill>
                    <a:srgbClr val="FFFFFF"/>
                  </a:solidFill>
                  <a:latin typeface="微软雅黑"/>
                  <a:ea typeface="微软雅黑"/>
                  <a:cs typeface="微软雅黑"/>
                  <a:sym typeface="微软雅黑"/>
                </a:endParaRPr>
              </a:p>
            </p:txBody>
          </p:sp>
        </p:grpSp>
        <p:grpSp>
          <p:nvGrpSpPr>
            <p:cNvPr id="202" name="组合 201"/>
            <p:cNvGrpSpPr/>
            <p:nvPr/>
          </p:nvGrpSpPr>
          <p:grpSpPr>
            <a:xfrm>
              <a:off x="8684" y="9686"/>
              <a:ext cx="3336" cy="589"/>
              <a:chOff x="1783" y="9686"/>
              <a:chExt cx="3336" cy="589"/>
            </a:xfrm>
            <a:solidFill>
              <a:srgbClr val="0042FF"/>
            </a:solidFill>
          </p:grpSpPr>
          <p:sp>
            <p:nvSpPr>
              <p:cNvPr id="203" name="任意多边形: 形状 429"/>
              <p:cNvSpPr/>
              <p:nvPr>
                <p:custDataLst>
                  <p:tags r:id="rId46"/>
                </p:custDataLst>
              </p:nvPr>
            </p:nvSpPr>
            <p:spPr>
              <a:xfrm>
                <a:off x="1783" y="9686"/>
                <a:ext cx="3336" cy="589"/>
              </a:xfrm>
              <a:custGeom>
                <a:avLst/>
                <a:gdLst>
                  <a:gd name="connsiteX0" fmla="*/ 0 w 2057103"/>
                  <a:gd name="connsiteY0" fmla="*/ 0 h 374210"/>
                  <a:gd name="connsiteX1" fmla="*/ 2057103 w 2057103"/>
                  <a:gd name="connsiteY1" fmla="*/ 0 h 374210"/>
                  <a:gd name="connsiteX2" fmla="*/ 2057103 w 2057103"/>
                  <a:gd name="connsiteY2" fmla="*/ 374210 h 374210"/>
                  <a:gd name="connsiteX3" fmla="*/ 0 w 2057103"/>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057103" h="374210">
                    <a:moveTo>
                      <a:pt x="0" y="0"/>
                    </a:moveTo>
                    <a:lnTo>
                      <a:pt x="2057103" y="0"/>
                    </a:lnTo>
                    <a:lnTo>
                      <a:pt x="2057103" y="374210"/>
                    </a:lnTo>
                    <a:lnTo>
                      <a:pt x="0" y="374210"/>
                    </a:lnTo>
                    <a:close/>
                  </a:path>
                </a:pathLst>
              </a:custGeom>
              <a:solidFill>
                <a:srgbClr val="0042FF"/>
              </a:solidFill>
              <a:ln w="19050" cap="flat" cmpd="sng" algn="ctr">
                <a:noFill/>
                <a:prstDash val="solid"/>
                <a:miter lim="800000"/>
              </a:ln>
              <a:effectLst/>
            </p:spPr>
            <p:txBody>
              <a:bodyPr wrap="square" rtlCol="0" anchor="ctr" anchorCtr="0"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04" name="文本框 203"/>
              <p:cNvSpPr txBox="1"/>
              <p:nvPr>
                <p:custDataLst>
                  <p:tags r:id="rId47"/>
                </p:custDataLst>
              </p:nvPr>
            </p:nvSpPr>
            <p:spPr>
              <a:xfrm>
                <a:off x="2851" y="9849"/>
                <a:ext cx="1105" cy="266"/>
              </a:xfrm>
              <a:prstGeom prst="rect">
                <a:avLst/>
              </a:prstGeom>
              <a:noFill/>
              <a:extLst>
                <a:ext uri="{909E8E84-426E-40DD-AFC4-6F175D3DCCD1}">
                  <a14:hiddenFill xmlns:a14="http://schemas.microsoft.com/office/drawing/2010/main">
                    <a:grp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公私域机制</a:t>
                </a:r>
                <a:endParaRPr lang="zh-CN" altLang="en-US" sz="1100" b="1" dirty="0">
                  <a:solidFill>
                    <a:srgbClr val="FFFFFF"/>
                  </a:solidFill>
                  <a:latin typeface="微软雅黑"/>
                  <a:ea typeface="微软雅黑"/>
                  <a:cs typeface="微软雅黑"/>
                  <a:sym typeface="微软雅黑"/>
                </a:endParaRPr>
              </a:p>
            </p:txBody>
          </p:sp>
        </p:grpSp>
        <p:grpSp>
          <p:nvGrpSpPr>
            <p:cNvPr id="205" name="组合 204"/>
            <p:cNvGrpSpPr/>
            <p:nvPr/>
          </p:nvGrpSpPr>
          <p:grpSpPr>
            <a:xfrm>
              <a:off x="12041" y="9686"/>
              <a:ext cx="3336" cy="589"/>
              <a:chOff x="1783" y="9686"/>
              <a:chExt cx="3336" cy="589"/>
            </a:xfrm>
            <a:solidFill>
              <a:srgbClr val="0042FF"/>
            </a:solidFill>
          </p:grpSpPr>
          <p:sp>
            <p:nvSpPr>
              <p:cNvPr id="206" name="任意多边形: 形状 429"/>
              <p:cNvSpPr/>
              <p:nvPr>
                <p:custDataLst>
                  <p:tags r:id="rId48"/>
                </p:custDataLst>
              </p:nvPr>
            </p:nvSpPr>
            <p:spPr>
              <a:xfrm>
                <a:off x="1783" y="9686"/>
                <a:ext cx="3336" cy="589"/>
              </a:xfrm>
              <a:custGeom>
                <a:avLst/>
                <a:gdLst>
                  <a:gd name="connsiteX0" fmla="*/ 0 w 2057103"/>
                  <a:gd name="connsiteY0" fmla="*/ 0 h 374210"/>
                  <a:gd name="connsiteX1" fmla="*/ 2057103 w 2057103"/>
                  <a:gd name="connsiteY1" fmla="*/ 0 h 374210"/>
                  <a:gd name="connsiteX2" fmla="*/ 2057103 w 2057103"/>
                  <a:gd name="connsiteY2" fmla="*/ 374210 h 374210"/>
                  <a:gd name="connsiteX3" fmla="*/ 0 w 2057103"/>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057103" h="374210">
                    <a:moveTo>
                      <a:pt x="0" y="0"/>
                    </a:moveTo>
                    <a:lnTo>
                      <a:pt x="2057103" y="0"/>
                    </a:lnTo>
                    <a:lnTo>
                      <a:pt x="2057103" y="374210"/>
                    </a:lnTo>
                    <a:lnTo>
                      <a:pt x="0" y="374210"/>
                    </a:lnTo>
                    <a:close/>
                  </a:path>
                </a:pathLst>
              </a:custGeom>
              <a:solidFill>
                <a:srgbClr val="0042FF"/>
              </a:solidFill>
              <a:ln w="19050" cap="flat" cmpd="sng" algn="ctr">
                <a:noFill/>
                <a:prstDash val="solid"/>
                <a:miter lim="800000"/>
              </a:ln>
              <a:effectLst/>
            </p:spPr>
            <p:txBody>
              <a:bodyPr wrap="square" rtlCol="0" anchor="ctr" anchorCtr="0"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07" name="文本框 206"/>
              <p:cNvSpPr txBox="1"/>
              <p:nvPr>
                <p:custDataLst>
                  <p:tags r:id="rId49"/>
                </p:custDataLst>
              </p:nvPr>
            </p:nvSpPr>
            <p:spPr>
              <a:xfrm>
                <a:off x="2961" y="9850"/>
                <a:ext cx="884" cy="266"/>
              </a:xfrm>
              <a:prstGeom prst="rect">
                <a:avLst/>
              </a:prstGeom>
              <a:noFill/>
              <a:extLst>
                <a:ext uri="{909E8E84-426E-40DD-AFC4-6F175D3DCCD1}">
                  <a14:hiddenFill xmlns:a14="http://schemas.microsoft.com/office/drawing/2010/main">
                    <a:grp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策略人群</a:t>
                </a:r>
                <a:endParaRPr lang="zh-CN" altLang="en-US" sz="1100" b="1" dirty="0">
                  <a:solidFill>
                    <a:srgbClr val="FFFFFF"/>
                  </a:solidFill>
                  <a:latin typeface="微软雅黑"/>
                  <a:ea typeface="微软雅黑"/>
                  <a:cs typeface="微软雅黑"/>
                  <a:sym typeface="微软雅黑"/>
                </a:endParaRPr>
              </a:p>
            </p:txBody>
          </p:sp>
        </p:grpSp>
        <p:grpSp>
          <p:nvGrpSpPr>
            <p:cNvPr id="208" name="组合 207"/>
            <p:cNvGrpSpPr/>
            <p:nvPr/>
          </p:nvGrpSpPr>
          <p:grpSpPr>
            <a:xfrm>
              <a:off x="15398" y="9686"/>
              <a:ext cx="3336" cy="589"/>
              <a:chOff x="1783" y="9686"/>
              <a:chExt cx="3336" cy="589"/>
            </a:xfrm>
            <a:solidFill>
              <a:srgbClr val="0042FF"/>
            </a:solidFill>
          </p:grpSpPr>
          <p:sp>
            <p:nvSpPr>
              <p:cNvPr id="209" name="任意多边形: 形状 429"/>
              <p:cNvSpPr/>
              <p:nvPr>
                <p:custDataLst>
                  <p:tags r:id="rId50"/>
                </p:custDataLst>
              </p:nvPr>
            </p:nvSpPr>
            <p:spPr>
              <a:xfrm>
                <a:off x="1783" y="9686"/>
                <a:ext cx="3336" cy="589"/>
              </a:xfrm>
              <a:custGeom>
                <a:avLst/>
                <a:gdLst>
                  <a:gd name="connsiteX0" fmla="*/ 0 w 2057103"/>
                  <a:gd name="connsiteY0" fmla="*/ 0 h 374210"/>
                  <a:gd name="connsiteX1" fmla="*/ 2057103 w 2057103"/>
                  <a:gd name="connsiteY1" fmla="*/ 0 h 374210"/>
                  <a:gd name="connsiteX2" fmla="*/ 2057103 w 2057103"/>
                  <a:gd name="connsiteY2" fmla="*/ 374210 h 374210"/>
                  <a:gd name="connsiteX3" fmla="*/ 0 w 2057103"/>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057103" h="374210">
                    <a:moveTo>
                      <a:pt x="0" y="0"/>
                    </a:moveTo>
                    <a:lnTo>
                      <a:pt x="2057103" y="0"/>
                    </a:lnTo>
                    <a:lnTo>
                      <a:pt x="2057103" y="374210"/>
                    </a:lnTo>
                    <a:lnTo>
                      <a:pt x="0" y="374210"/>
                    </a:lnTo>
                    <a:close/>
                  </a:path>
                </a:pathLst>
              </a:custGeom>
              <a:solidFill>
                <a:srgbClr val="0042FF"/>
              </a:solidFill>
              <a:ln w="19050" cap="flat" cmpd="sng" algn="ctr">
                <a:noFill/>
                <a:prstDash val="solid"/>
                <a:miter lim="800000"/>
              </a:ln>
              <a:effectLst/>
            </p:spPr>
            <p:txBody>
              <a:bodyPr wrap="square" rtlCol="0" anchor="ctr" anchorCtr="0"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10" name="文本框 209"/>
              <p:cNvSpPr txBox="1"/>
              <p:nvPr>
                <p:custDataLst>
                  <p:tags r:id="rId51"/>
                </p:custDataLst>
              </p:nvPr>
            </p:nvSpPr>
            <p:spPr>
              <a:xfrm>
                <a:off x="2961" y="9850"/>
                <a:ext cx="884" cy="266"/>
              </a:xfrm>
              <a:prstGeom prst="rect">
                <a:avLst/>
              </a:prstGeom>
              <a:noFill/>
              <a:extLst>
                <a:ext uri="{909E8E84-426E-40DD-AFC4-6F175D3DCCD1}">
                  <a14:hiddenFill xmlns:a14="http://schemas.microsoft.com/office/drawing/2010/main">
                    <a:grpFill/>
                  </a14:hiddenFill>
                </a:ext>
              </a:extLst>
            </p:spPr>
            <p:txBody>
              <a:bodyPr wrap="none" lIns="0" tIns="0" rIns="0" bIns="0" anchor="ctr" anchorCtr="0">
                <a:spAutoFit/>
              </a:body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产品工具</a:t>
                </a:r>
                <a:endParaRPr lang="zh-CN" altLang="en-US" sz="1100" b="1" dirty="0">
                  <a:solidFill>
                    <a:srgbClr val="FFFFFF"/>
                  </a:solidFill>
                  <a:latin typeface="微软雅黑"/>
                  <a:ea typeface="微软雅黑"/>
                  <a:cs typeface="微软雅黑"/>
                  <a:sym typeface="微软雅黑"/>
                </a:endParaRPr>
              </a:p>
            </p:txBody>
          </p:sp>
        </p:grpSp>
      </p:grpSp>
      <p:sp>
        <p:nvSpPr>
          <p:cNvPr id="164" name="紫荆的职场Point99-8"/>
          <p:cNvSpPr/>
          <p:nvPr/>
        </p:nvSpPr>
        <p:spPr>
          <a:xfrm>
            <a:off x="6085840" y="4546600"/>
            <a:ext cx="635000" cy="177800"/>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2" name="紫荆的职场Point99-15"/>
          <p:cNvSpPr txBox="1"/>
          <p:nvPr/>
        </p:nvSpPr>
        <p:spPr>
          <a:xfrm>
            <a:off x="6085840" y="4546600"/>
            <a:ext cx="6350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专属客服</a:t>
            </a:r>
          </a:p>
        </p:txBody>
      </p:sp>
      <p:sp>
        <p:nvSpPr>
          <p:cNvPr id="3" name="紫荆的职场Point99-16"/>
          <p:cNvSpPr txBox="1"/>
          <p:nvPr/>
        </p:nvSpPr>
        <p:spPr>
          <a:xfrm>
            <a:off x="6419850" y="4356100"/>
            <a:ext cx="622300" cy="177800"/>
          </a:xfrm>
          <a:prstGeom prst="rect">
            <a:avLst/>
          </a:prstGeom>
          <a:noFill/>
        </p:spPr>
        <p:txBody>
          <a:bodyPr wrap="none" anchor="ctr" lIns="0" rIns="0" tIns="0" bIns="0">
            <a:noAutofit/>
          </a:bodyPr>
          <a:lstStyle/>
          <a:p>
            <a:pPr algn="ctr" marL="0" marR="0" indent="0">
              <a:lnSpc>
                <a:spcPts val="1200"/>
              </a:lnSpc>
              <a:spcBef>
                <a:spcPts val="0"/>
              </a:spcBef>
              <a:spcAft>
                <a:spcPts val="0"/>
              </a:spcAft>
              <a:buNone/>
              <a:defRPr lang="zh-CN" altLang="en-US" sz="1000" dirty="0">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群聊</a:t>
            </a:r>
          </a:p>
        </p:txBody>
      </p:sp>
      <p:grpSp>
        <p:nvGrpSpPr>
          <p:cNvPr id="29" name="组合 28"/>
          <p:cNvGrpSpPr/>
          <p:nvPr/>
        </p:nvGrpSpPr>
        <p:grpSpPr>
          <a:xfrm>
            <a:off x="10375900" y="3426460"/>
            <a:ext cx="1407160" cy="367665"/>
            <a:chOff x="13676" y="5141"/>
            <a:chExt cx="2216" cy="579"/>
          </a:xfrm>
        </p:grpSpPr>
        <p:sp>
          <p:nvSpPr>
            <p:cNvPr id="30" name="矩形: 圆角 5"/>
            <p:cNvSpPr/>
            <p:nvPr/>
          </p:nvSpPr>
          <p:spPr>
            <a:xfrm>
              <a:off x="13815" y="5272"/>
              <a:ext cx="2077" cy="448"/>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2" name="椭圆 31"/>
            <p:cNvSpPr/>
            <p:nvPr/>
          </p:nvSpPr>
          <p:spPr>
            <a:xfrm>
              <a:off x="13676" y="5141"/>
              <a:ext cx="385" cy="385"/>
            </a:xfrm>
            <a:prstGeom prst="ellipse">
              <a:avLst/>
            </a:prstGeom>
            <a:solidFill>
              <a:srgbClr val="FFFFFF"/>
            </a:solidFill>
            <a:ln w="254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rPr>
                <a:t>2</a:t>
              </a:r>
              <a:endPar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3" name="文本框 32"/>
            <p:cNvSpPr txBox="1"/>
            <p:nvPr>
              <p:custDataLst>
                <p:tags r:id="rId52"/>
              </p:custDataLst>
            </p:nvPr>
          </p:nvSpPr>
          <p:spPr>
            <a:xfrm>
              <a:off x="14187" y="5345"/>
              <a:ext cx="1440" cy="290"/>
            </a:xfrm>
            <a:prstGeom prst="rect">
              <a:avLst/>
            </a:prstGeom>
            <a:noFill/>
          </p:spPr>
          <p:txBody>
            <a:bodyPr wrap="none" lIns="0" tIns="0" rIns="0" bIns="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sym typeface="微软雅黑"/>
                </a:rPr>
                <a:t>推进关系深度</a:t>
              </a:r>
              <a:endParaRPr lang="zh-CN" altLang="en-US" sz="1200" dirty="0">
                <a:solidFill>
                  <a:srgbClr val="FFFFFF"/>
                </a:solidFill>
                <a:latin typeface="微软雅黑"/>
                <a:ea typeface="微软雅黑"/>
                <a:cs typeface="微软雅黑"/>
              </a:endParaRPr>
            </a:p>
          </p:txBody>
        </p:sp>
      </p:grpSp>
      <p:grpSp>
        <p:nvGrpSpPr>
          <p:cNvPr id="42" name="组合 41"/>
          <p:cNvGrpSpPr/>
          <p:nvPr/>
        </p:nvGrpSpPr>
        <p:grpSpPr>
          <a:xfrm>
            <a:off x="8818880" y="4355465"/>
            <a:ext cx="1407160" cy="367665"/>
            <a:chOff x="13676" y="5141"/>
            <a:chExt cx="2216" cy="579"/>
          </a:xfrm>
        </p:grpSpPr>
        <p:sp>
          <p:nvSpPr>
            <p:cNvPr id="43" name="矩形: 圆角 5"/>
            <p:cNvSpPr/>
            <p:nvPr/>
          </p:nvSpPr>
          <p:spPr>
            <a:xfrm>
              <a:off x="13815" y="5272"/>
              <a:ext cx="2077" cy="448"/>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4" name="椭圆 43"/>
            <p:cNvSpPr/>
            <p:nvPr/>
          </p:nvSpPr>
          <p:spPr>
            <a:xfrm>
              <a:off x="13676" y="5141"/>
              <a:ext cx="385" cy="385"/>
            </a:xfrm>
            <a:prstGeom prst="ellipse">
              <a:avLst/>
            </a:prstGeom>
            <a:solidFill>
              <a:srgbClr val="FFFFFF"/>
            </a:solidFill>
            <a:ln w="254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rPr>
                <a:t>3</a:t>
              </a:r>
              <a:endPar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45" name="文本框 44"/>
            <p:cNvSpPr txBox="1"/>
            <p:nvPr>
              <p:custDataLst>
                <p:tags r:id="rId53"/>
              </p:custDataLst>
            </p:nvPr>
          </p:nvSpPr>
          <p:spPr>
            <a:xfrm>
              <a:off x="14187" y="5345"/>
              <a:ext cx="1440" cy="290"/>
            </a:xfrm>
            <a:prstGeom prst="rect">
              <a:avLst/>
            </a:prstGeom>
            <a:noFill/>
          </p:spPr>
          <p:txBody>
            <a:bodyPr wrap="none" lIns="0" tIns="0" rIns="0" bIns="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sym typeface="微软雅黑"/>
                </a:rPr>
                <a:t>增强场域引力</a:t>
              </a:r>
              <a:endParaRPr lang="zh-CN" altLang="en-US" sz="1200" dirty="0">
                <a:solidFill>
                  <a:srgbClr val="FFFFFF"/>
                </a:solidFill>
                <a:latin typeface="微软雅黑"/>
                <a:ea typeface="微软雅黑"/>
                <a:cs typeface="微软雅黑"/>
              </a:endParaRPr>
            </a:p>
          </p:txBody>
        </p:sp>
      </p:grpSp>
      <p:grpSp>
        <p:nvGrpSpPr>
          <p:cNvPr id="46" name="组合 45"/>
          <p:cNvGrpSpPr/>
          <p:nvPr/>
        </p:nvGrpSpPr>
        <p:grpSpPr>
          <a:xfrm>
            <a:off x="10391775" y="4355465"/>
            <a:ext cx="1407160" cy="367665"/>
            <a:chOff x="13676" y="5141"/>
            <a:chExt cx="2216" cy="579"/>
          </a:xfrm>
        </p:grpSpPr>
        <p:sp>
          <p:nvSpPr>
            <p:cNvPr id="48" name="矩形: 圆角 5"/>
            <p:cNvSpPr/>
            <p:nvPr/>
          </p:nvSpPr>
          <p:spPr>
            <a:xfrm>
              <a:off x="13815" y="5272"/>
              <a:ext cx="2077" cy="448"/>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59" name="椭圆 58"/>
            <p:cNvSpPr/>
            <p:nvPr/>
          </p:nvSpPr>
          <p:spPr>
            <a:xfrm>
              <a:off x="13676" y="5141"/>
              <a:ext cx="385" cy="385"/>
            </a:xfrm>
            <a:prstGeom prst="ellipse">
              <a:avLst/>
            </a:prstGeom>
            <a:solidFill>
              <a:srgbClr val="FFFFFF"/>
            </a:solidFill>
            <a:ln w="254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rPr>
                <a:t>4</a:t>
              </a:r>
              <a:endPar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60" name="文本框 59"/>
            <p:cNvSpPr txBox="1"/>
            <p:nvPr>
              <p:custDataLst>
                <p:tags r:id="rId54"/>
              </p:custDataLst>
            </p:nvPr>
          </p:nvSpPr>
          <p:spPr>
            <a:xfrm>
              <a:off x="14187" y="5345"/>
              <a:ext cx="1440" cy="290"/>
            </a:xfrm>
            <a:prstGeom prst="rect">
              <a:avLst/>
            </a:prstGeom>
            <a:noFill/>
          </p:spPr>
          <p:txBody>
            <a:bodyPr wrap="none" lIns="0" tIns="0" rIns="0" bIns="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sym typeface="微软雅黑"/>
                </a:rPr>
                <a:t>提升关系价值</a:t>
              </a:r>
              <a:endParaRPr lang="zh-CN" altLang="en-US" sz="1200" dirty="0">
                <a:solidFill>
                  <a:srgbClr val="FFFFFF"/>
                </a:solidFill>
                <a:latin typeface="微软雅黑"/>
                <a:ea typeface="微软雅黑"/>
                <a:cs typeface="微软雅黑"/>
              </a:endParaRPr>
            </a:p>
          </p:txBody>
        </p:sp>
      </p:grpSp>
      <p:pic>
        <p:nvPicPr>
          <p:cNvPr id="63" name="图片 62" descr="广告埋点管理"/>
          <p:cNvPicPr>
            <a:picLocks noChangeAspect="1"/>
          </p:cNvPicPr>
          <p:nvPr/>
        </p:nvPicPr>
        <p:blipFill>
          <a:blip r:embed="rId55">
            <a:extLst>
              <a:ext uri="{96DAC541-7B7A-43D3-8B79-37D633B846F1}">
                <asvg:svgBlip xmlns:asvg="http://schemas.microsoft.com/office/drawing/2016/SVG/main" r:embed="rId56"/>
              </a:ext>
            </a:extLst>
          </a:blip>
          <a:stretch>
            <a:fillRect/>
          </a:stretch>
        </p:blipFill>
        <p:spPr>
          <a:xfrm>
            <a:off x="7545705" y="3733165"/>
            <a:ext cx="139065" cy="139065"/>
          </a:xfrm>
          <a:prstGeom prst="rect">
            <a:avLst/>
          </a:prstGeom>
          <a:solidFill>
            <a:srgbClr val="FFFFFF"/>
          </a:solidFill>
          <a:effectLst/>
        </p:spPr>
      </p:pic>
      <p:pic>
        <p:nvPicPr>
          <p:cNvPr id="68" name="图片 67" descr="购物车"/>
          <p:cNvPicPr>
            <a:picLocks noChangeAspect="1"/>
          </p:cNvPicPr>
          <p:nvPr/>
        </p:nvPicPr>
        <p:blipFill>
          <a:blip r:embed="rId57">
            <a:extLst>
              <a:ext uri="{96DAC541-7B7A-43D3-8B79-37D633B846F1}">
                <asvg:svgBlip xmlns:asvg="http://schemas.microsoft.com/office/drawing/2016/SVG/main" r:embed="rId58"/>
              </a:ext>
            </a:extLst>
          </a:blip>
          <a:stretch>
            <a:fillRect/>
          </a:stretch>
        </p:blipFill>
        <p:spPr>
          <a:xfrm>
            <a:off x="7545705" y="4391025"/>
            <a:ext cx="139700" cy="139700"/>
          </a:xfrm>
          <a:prstGeom prst="rect">
            <a:avLst/>
          </a:prstGeom>
          <a:gradFill>
            <a:gsLst>
              <a:gs pos="0">
                <a:srgbClr val="FFFFFF"/>
              </a:gs>
              <a:gs pos="100000">
                <a:srgbClr val="FFFFFF"/>
              </a:gs>
            </a:gsLst>
            <a:lin ang="0" scaled="0"/>
          </a:gradFill>
          <a:effectLst/>
        </p:spPr>
      </p:pic>
      <p:pic>
        <p:nvPicPr>
          <p:cNvPr id="69" name="图片 68" descr="agora_-百万人大频道"/>
          <p:cNvPicPr>
            <a:picLocks noChangeAspect="1"/>
          </p:cNvPicPr>
          <p:nvPr/>
        </p:nvPicPr>
        <p:blipFill>
          <a:blip r:embed="rId59">
            <a:extLst>
              <a:ext uri="{96DAC541-7B7A-43D3-8B79-37D633B846F1}">
                <asvg:svgBlip xmlns:asvg="http://schemas.microsoft.com/office/drawing/2016/SVG/main" r:embed="rId60"/>
              </a:ext>
            </a:extLst>
          </a:blip>
          <a:stretch>
            <a:fillRect/>
          </a:stretch>
        </p:blipFill>
        <p:spPr>
          <a:xfrm>
            <a:off x="8275955" y="4363720"/>
            <a:ext cx="193675" cy="193675"/>
          </a:xfrm>
          <a:prstGeom prst="rect">
            <a:avLst/>
          </a:prstGeom>
          <a:solidFill>
            <a:srgbClr val="FFFFFF"/>
          </a:solidFill>
          <a:effectLst/>
        </p:spPr>
      </p:pic>
      <p:pic>
        <p:nvPicPr>
          <p:cNvPr id="70" name="图片 69" descr="搜索"/>
          <p:cNvPicPr>
            <a:picLocks noChangeAspect="1"/>
          </p:cNvPicPr>
          <p:nvPr/>
        </p:nvPicPr>
        <p:blipFill>
          <a:blip r:embed="rId61">
            <a:extLst>
              <a:ext uri="{96DAC541-7B7A-43D3-8B79-37D633B846F1}">
                <asvg:svgBlip xmlns:asvg="http://schemas.microsoft.com/office/drawing/2016/SVG/main" r:embed="rId62"/>
              </a:ext>
            </a:extLst>
          </a:blip>
          <a:stretch>
            <a:fillRect/>
          </a:stretch>
        </p:blipFill>
        <p:spPr>
          <a:xfrm>
            <a:off x="7908290" y="3538220"/>
            <a:ext cx="170815" cy="170815"/>
          </a:xfrm>
          <a:prstGeom prst="rect">
            <a:avLst/>
          </a:prstGeom>
        </p:spPr>
      </p:pic>
      <p:pic>
        <p:nvPicPr>
          <p:cNvPr id="91" name="图片 90" descr="推荐"/>
          <p:cNvPicPr>
            <a:picLocks noChangeAspect="1"/>
          </p:cNvPicPr>
          <p:nvPr/>
        </p:nvPicPr>
        <p:blipFill>
          <a:blip r:embed="rId63">
            <a:extLst>
              <a:ext uri="{96DAC541-7B7A-43D3-8B79-37D633B846F1}">
                <asvg:svgBlip xmlns:asvg="http://schemas.microsoft.com/office/drawing/2016/SVG/main" r:embed="rId64"/>
              </a:ext>
            </a:extLst>
          </a:blip>
          <a:stretch>
            <a:fillRect/>
          </a:stretch>
        </p:blipFill>
        <p:spPr>
          <a:xfrm>
            <a:off x="8300720" y="3718560"/>
            <a:ext cx="179070" cy="165735"/>
          </a:xfrm>
          <a:prstGeom prst="rect">
            <a:avLst/>
          </a:prstGeom>
          <a:gradFill>
            <a:gsLst>
              <a:gs pos="0">
                <a:srgbClr val="FFFFFF"/>
              </a:gs>
              <a:gs pos="100000">
                <a:srgbClr val="FFFFFF"/>
              </a:gs>
            </a:gsLst>
            <a:lin ang="0" scaled="0"/>
          </a:gradFill>
          <a:effectLst/>
        </p:spPr>
      </p:pic>
      <p:pic>
        <p:nvPicPr>
          <p:cNvPr id="97" name="图片 96" descr="会场"/>
          <p:cNvPicPr>
            <a:picLocks noChangeAspect="1"/>
          </p:cNvPicPr>
          <p:nvPr/>
        </p:nvPicPr>
        <p:blipFill>
          <a:blip r:embed="rId65">
            <a:extLst>
              <a:ext uri="{96DAC541-7B7A-43D3-8B79-37D633B846F1}">
                <asvg:svgBlip xmlns:asvg="http://schemas.microsoft.com/office/drawing/2016/SVG/main" r:embed="rId66"/>
              </a:ext>
            </a:extLst>
          </a:blip>
          <a:stretch>
            <a:fillRect/>
          </a:stretch>
        </p:blipFill>
        <p:spPr>
          <a:xfrm>
            <a:off x="7922895" y="4568190"/>
            <a:ext cx="141605" cy="141605"/>
          </a:xfrm>
          <a:prstGeom prst="rect">
            <a:avLst/>
          </a:prstGeom>
        </p:spPr>
      </p:pic>
      <p:grpSp>
        <p:nvGrpSpPr>
          <p:cNvPr id="103" name="组合 102"/>
          <p:cNvGrpSpPr/>
          <p:nvPr/>
        </p:nvGrpSpPr>
        <p:grpSpPr>
          <a:xfrm>
            <a:off x="1250950" y="5435600"/>
            <a:ext cx="10640695" cy="373380"/>
            <a:chOff x="1970" y="8304"/>
            <a:chExt cx="16757" cy="588"/>
          </a:xfrm>
          <a:solidFill>
            <a:srgbClr val="E6E6E6">
              <a:alpha val="70000"/>
            </a:srgbClr>
          </a:solidFill>
        </p:grpSpPr>
        <p:grpSp>
          <p:nvGrpSpPr>
            <p:cNvPr id="104" name="组合 103"/>
            <p:cNvGrpSpPr/>
            <p:nvPr/>
          </p:nvGrpSpPr>
          <p:grpSpPr>
            <a:xfrm>
              <a:off x="1970" y="8304"/>
              <a:ext cx="4088" cy="588"/>
              <a:chOff x="1783" y="8274"/>
              <a:chExt cx="4088" cy="588"/>
            </a:xfrm>
            <a:grpFill/>
          </p:grpSpPr>
          <p:sp>
            <p:nvSpPr>
              <p:cNvPr id="105" name="任意多边形: 形状 319"/>
              <p:cNvSpPr/>
              <p:nvPr>
                <p:custDataLst>
                  <p:tags r:id="rId67"/>
                </p:custDataLst>
              </p:nvPr>
            </p:nvSpPr>
            <p:spPr>
              <a:xfrm>
                <a:off x="1783" y="8274"/>
                <a:ext cx="4088" cy="589"/>
              </a:xfrm>
              <a:custGeom>
                <a:avLst/>
                <a:gdLst>
                  <a:gd name="connsiteX0" fmla="*/ 0 w 2581486"/>
                  <a:gd name="connsiteY0" fmla="*/ 0 h 374210"/>
                  <a:gd name="connsiteX1" fmla="*/ 2581486 w 2581486"/>
                  <a:gd name="connsiteY1" fmla="*/ 0 h 374210"/>
                  <a:gd name="connsiteX2" fmla="*/ 2581486 w 2581486"/>
                  <a:gd name="connsiteY2" fmla="*/ 374210 h 374210"/>
                  <a:gd name="connsiteX3" fmla="*/ 0 w 2581486"/>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581486" h="374210">
                    <a:moveTo>
                      <a:pt x="0" y="0"/>
                    </a:moveTo>
                    <a:lnTo>
                      <a:pt x="2581486" y="0"/>
                    </a:lnTo>
                    <a:lnTo>
                      <a:pt x="2581486" y="374210"/>
                    </a:lnTo>
                    <a:lnTo>
                      <a:pt x="0" y="374210"/>
                    </a:lnTo>
                    <a:close/>
                  </a:path>
                </a:pathLst>
              </a:custGeom>
              <a:grpFill/>
              <a:ln w="12700" cap="flat" cmpd="sng" algn="ctr">
                <a:solidFill>
                  <a:srgbClr val="0042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06" name="文本框 105"/>
              <p:cNvSpPr txBox="1"/>
              <p:nvPr>
                <p:custDataLst>
                  <p:tags r:id="rId68"/>
                </p:custDataLst>
              </p:nvPr>
            </p:nvSpPr>
            <p:spPr>
              <a:xfrm>
                <a:off x="2081" y="8436"/>
                <a:ext cx="3492" cy="266"/>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rPr>
                  <a:t>品牌组织保障     </a:t>
                </a:r>
                <a:r>
                  <a:rPr lang="en-US" altLang="zh-CN" sz="1100" dirty="0">
                    <a:solidFill>
                      <a:srgbClr val="383838"/>
                    </a:solidFill>
                    <a:latin typeface="微软雅黑"/>
                    <a:ea typeface="微软雅黑"/>
                    <a:cs typeface="微软雅黑"/>
                  </a:rPr>
                  <a:t>Organization</a:t>
                </a:r>
                <a:endParaRPr lang="en-US" altLang="zh-CN" sz="1100" dirty="0">
                  <a:solidFill>
                    <a:srgbClr val="383838"/>
                  </a:solidFill>
                  <a:latin typeface="微软雅黑"/>
                  <a:ea typeface="微软雅黑"/>
                  <a:cs typeface="微软雅黑"/>
                </a:endParaRPr>
              </a:p>
            </p:txBody>
          </p:sp>
        </p:grpSp>
        <p:grpSp>
          <p:nvGrpSpPr>
            <p:cNvPr id="112" name="组合 111"/>
            <p:cNvGrpSpPr/>
            <p:nvPr/>
          </p:nvGrpSpPr>
          <p:grpSpPr>
            <a:xfrm>
              <a:off x="6193" y="8304"/>
              <a:ext cx="4088" cy="589"/>
              <a:chOff x="1783" y="8274"/>
              <a:chExt cx="4088" cy="589"/>
            </a:xfrm>
            <a:grpFill/>
          </p:grpSpPr>
          <p:sp>
            <p:nvSpPr>
              <p:cNvPr id="114" name="任意多边形: 形状 319"/>
              <p:cNvSpPr/>
              <p:nvPr>
                <p:custDataLst>
                  <p:tags r:id="rId69"/>
                </p:custDataLst>
              </p:nvPr>
            </p:nvSpPr>
            <p:spPr>
              <a:xfrm>
                <a:off x="1783" y="8274"/>
                <a:ext cx="4088" cy="589"/>
              </a:xfrm>
              <a:custGeom>
                <a:avLst/>
                <a:gdLst>
                  <a:gd name="connsiteX0" fmla="*/ 0 w 2581486"/>
                  <a:gd name="connsiteY0" fmla="*/ 0 h 374210"/>
                  <a:gd name="connsiteX1" fmla="*/ 2581486 w 2581486"/>
                  <a:gd name="connsiteY1" fmla="*/ 0 h 374210"/>
                  <a:gd name="connsiteX2" fmla="*/ 2581486 w 2581486"/>
                  <a:gd name="connsiteY2" fmla="*/ 374210 h 374210"/>
                  <a:gd name="connsiteX3" fmla="*/ 0 w 2581486"/>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581486" h="374210">
                    <a:moveTo>
                      <a:pt x="0" y="0"/>
                    </a:moveTo>
                    <a:lnTo>
                      <a:pt x="2581486" y="0"/>
                    </a:lnTo>
                    <a:lnTo>
                      <a:pt x="2581486" y="374210"/>
                    </a:lnTo>
                    <a:lnTo>
                      <a:pt x="0" y="374210"/>
                    </a:lnTo>
                    <a:close/>
                  </a:path>
                </a:pathLst>
              </a:custGeom>
              <a:grpFill/>
              <a:ln w="12700" cap="flat" cmpd="sng" algn="ctr">
                <a:solidFill>
                  <a:srgbClr val="0042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16" name="文本框 115"/>
              <p:cNvSpPr txBox="1"/>
              <p:nvPr>
                <p:custDataLst>
                  <p:tags r:id="rId70"/>
                </p:custDataLst>
              </p:nvPr>
            </p:nvSpPr>
            <p:spPr>
              <a:xfrm>
                <a:off x="2081" y="8436"/>
                <a:ext cx="3492" cy="266"/>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品牌优质供给     </a:t>
                </a:r>
                <a:r>
                  <a:rPr lang="en-US" altLang="zh-CN" sz="1100" dirty="0">
                    <a:solidFill>
                      <a:srgbClr val="383838"/>
                    </a:solidFill>
                    <a:latin typeface="微软雅黑"/>
                    <a:ea typeface="微软雅黑"/>
                    <a:cs typeface="微软雅黑"/>
                    <a:sym typeface="微软雅黑"/>
                  </a:rPr>
                  <a:t>Supply</a:t>
                </a:r>
                <a:endParaRPr lang="en-US" altLang="zh-CN" sz="1100" dirty="0">
                  <a:solidFill>
                    <a:srgbClr val="383838"/>
                  </a:solidFill>
                  <a:latin typeface="微软雅黑"/>
                  <a:ea typeface="微软雅黑"/>
                  <a:cs typeface="微软雅黑"/>
                  <a:sym typeface="微软雅黑"/>
                </a:endParaRPr>
              </a:p>
            </p:txBody>
          </p:sp>
        </p:grpSp>
        <p:grpSp>
          <p:nvGrpSpPr>
            <p:cNvPr id="120" name="组合 119"/>
            <p:cNvGrpSpPr/>
            <p:nvPr/>
          </p:nvGrpSpPr>
          <p:grpSpPr>
            <a:xfrm>
              <a:off x="10416" y="8304"/>
              <a:ext cx="4088" cy="589"/>
              <a:chOff x="1783" y="8274"/>
              <a:chExt cx="4088" cy="589"/>
            </a:xfrm>
            <a:grpFill/>
          </p:grpSpPr>
          <p:sp>
            <p:nvSpPr>
              <p:cNvPr id="122" name="任意多边形: 形状 319"/>
              <p:cNvSpPr/>
              <p:nvPr>
                <p:custDataLst>
                  <p:tags r:id="rId71"/>
                </p:custDataLst>
              </p:nvPr>
            </p:nvSpPr>
            <p:spPr>
              <a:xfrm>
                <a:off x="1783" y="8274"/>
                <a:ext cx="4088" cy="589"/>
              </a:xfrm>
              <a:custGeom>
                <a:avLst/>
                <a:gdLst>
                  <a:gd name="connsiteX0" fmla="*/ 0 w 2581486"/>
                  <a:gd name="connsiteY0" fmla="*/ 0 h 374210"/>
                  <a:gd name="connsiteX1" fmla="*/ 2581486 w 2581486"/>
                  <a:gd name="connsiteY1" fmla="*/ 0 h 374210"/>
                  <a:gd name="connsiteX2" fmla="*/ 2581486 w 2581486"/>
                  <a:gd name="connsiteY2" fmla="*/ 374210 h 374210"/>
                  <a:gd name="connsiteX3" fmla="*/ 0 w 2581486"/>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581486" h="374210">
                    <a:moveTo>
                      <a:pt x="0" y="0"/>
                    </a:moveTo>
                    <a:lnTo>
                      <a:pt x="2581486" y="0"/>
                    </a:lnTo>
                    <a:lnTo>
                      <a:pt x="2581486" y="374210"/>
                    </a:lnTo>
                    <a:lnTo>
                      <a:pt x="0" y="374210"/>
                    </a:lnTo>
                    <a:close/>
                  </a:path>
                </a:pathLst>
              </a:custGeom>
              <a:grpFill/>
              <a:ln w="12700" cap="flat" cmpd="sng" algn="ctr">
                <a:solidFill>
                  <a:srgbClr val="0042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5" name="文本框 124"/>
              <p:cNvSpPr txBox="1"/>
              <p:nvPr>
                <p:custDataLst>
                  <p:tags r:id="rId72"/>
                </p:custDataLst>
              </p:nvPr>
            </p:nvSpPr>
            <p:spPr>
              <a:xfrm>
                <a:off x="2081" y="8436"/>
                <a:ext cx="3492" cy="266"/>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会员体系管理     </a:t>
                </a:r>
                <a:r>
                  <a:rPr lang="en-US" altLang="zh-CN" sz="1100" dirty="0">
                    <a:solidFill>
                      <a:srgbClr val="383838"/>
                    </a:solidFill>
                    <a:latin typeface="微软雅黑"/>
                    <a:ea typeface="微软雅黑"/>
                    <a:cs typeface="微软雅黑"/>
                    <a:sym typeface="微软雅黑"/>
                  </a:rPr>
                  <a:t>Loyalty</a:t>
                </a:r>
                <a:endParaRPr lang="en-US" altLang="zh-CN" sz="1100" dirty="0">
                  <a:solidFill>
                    <a:srgbClr val="383838"/>
                  </a:solidFill>
                  <a:latin typeface="微软雅黑"/>
                  <a:ea typeface="微软雅黑"/>
                  <a:cs typeface="微软雅黑"/>
                  <a:sym typeface="微软雅黑"/>
                </a:endParaRPr>
              </a:p>
            </p:txBody>
          </p:sp>
        </p:grpSp>
        <p:grpSp>
          <p:nvGrpSpPr>
            <p:cNvPr id="126" name="组合 125"/>
            <p:cNvGrpSpPr/>
            <p:nvPr/>
          </p:nvGrpSpPr>
          <p:grpSpPr>
            <a:xfrm>
              <a:off x="14639" y="8304"/>
              <a:ext cx="4088" cy="589"/>
              <a:chOff x="1783" y="8274"/>
              <a:chExt cx="4088" cy="589"/>
            </a:xfrm>
            <a:grpFill/>
          </p:grpSpPr>
          <p:sp>
            <p:nvSpPr>
              <p:cNvPr id="127" name="任意多边形: 形状 319"/>
              <p:cNvSpPr/>
              <p:nvPr>
                <p:custDataLst>
                  <p:tags r:id="rId73"/>
                </p:custDataLst>
              </p:nvPr>
            </p:nvSpPr>
            <p:spPr>
              <a:xfrm>
                <a:off x="1783" y="8274"/>
                <a:ext cx="4088" cy="589"/>
              </a:xfrm>
              <a:custGeom>
                <a:avLst/>
                <a:gdLst>
                  <a:gd name="connsiteX0" fmla="*/ 0 w 2581486"/>
                  <a:gd name="connsiteY0" fmla="*/ 0 h 374210"/>
                  <a:gd name="connsiteX1" fmla="*/ 2581486 w 2581486"/>
                  <a:gd name="connsiteY1" fmla="*/ 0 h 374210"/>
                  <a:gd name="connsiteX2" fmla="*/ 2581486 w 2581486"/>
                  <a:gd name="connsiteY2" fmla="*/ 374210 h 374210"/>
                  <a:gd name="connsiteX3" fmla="*/ 0 w 2581486"/>
                  <a:gd name="connsiteY3" fmla="*/ 374210 h 374210"/>
                </a:gdLst>
                <a:ahLst/>
                <a:cxnLst>
                  <a:cxn ang="0">
                    <a:pos x="connsiteX0" y="connsiteY0"/>
                  </a:cxn>
                  <a:cxn ang="0">
                    <a:pos x="connsiteX1" y="connsiteY1"/>
                  </a:cxn>
                  <a:cxn ang="0">
                    <a:pos x="connsiteX2" y="connsiteY2"/>
                  </a:cxn>
                  <a:cxn ang="0">
                    <a:pos x="connsiteX3" y="connsiteY3"/>
                  </a:cxn>
                </a:cxnLst>
                <a:rect l="l" t="t" r="r" b="b"/>
                <a:pathLst>
                  <a:path w="2581486" h="374210">
                    <a:moveTo>
                      <a:pt x="0" y="0"/>
                    </a:moveTo>
                    <a:lnTo>
                      <a:pt x="2581486" y="0"/>
                    </a:lnTo>
                    <a:lnTo>
                      <a:pt x="2581486" y="374210"/>
                    </a:lnTo>
                    <a:lnTo>
                      <a:pt x="0" y="374210"/>
                    </a:lnTo>
                    <a:close/>
                  </a:path>
                </a:pathLst>
              </a:custGeom>
              <a:grpFill/>
              <a:ln w="12700" cap="flat" cmpd="sng" algn="ctr">
                <a:solidFill>
                  <a:srgbClr val="0042FF">
                    <a:alpha val="70000"/>
                  </a:srgbClr>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9" name="文本框 128"/>
              <p:cNvSpPr txBox="1"/>
              <p:nvPr>
                <p:custDataLst>
                  <p:tags r:id="rId74"/>
                </p:custDataLst>
              </p:nvPr>
            </p:nvSpPr>
            <p:spPr>
              <a:xfrm>
                <a:off x="2081" y="8436"/>
                <a:ext cx="3492" cy="266"/>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用户体验提升     </a:t>
                </a:r>
                <a:r>
                  <a:rPr lang="en-US" altLang="zh-CN" sz="1100" dirty="0">
                    <a:solidFill>
                      <a:srgbClr val="383838"/>
                    </a:solidFill>
                    <a:latin typeface="微软雅黑"/>
                    <a:ea typeface="微软雅黑"/>
                    <a:cs typeface="微软雅黑"/>
                    <a:sym typeface="微软雅黑"/>
                  </a:rPr>
                  <a:t>Experience</a:t>
                </a:r>
                <a:endParaRPr lang="en-US" altLang="zh-CN" sz="1100" dirty="0">
                  <a:solidFill>
                    <a:srgbClr val="383838"/>
                  </a:solidFill>
                  <a:latin typeface="微软雅黑"/>
                  <a:ea typeface="微软雅黑"/>
                  <a:cs typeface="微软雅黑"/>
                  <a:sym typeface="微软雅黑"/>
                </a:endParaRPr>
              </a:p>
            </p:txBody>
          </p:sp>
        </p:grpSp>
      </p:grpSp>
      <p:sp>
        <p:nvSpPr>
          <p:cNvPr id="437" name="矩形 436"/>
          <p:cNvSpPr/>
          <p:nvPr/>
        </p:nvSpPr>
        <p:spPr>
          <a:xfrm>
            <a:off x="539115" y="979170"/>
            <a:ext cx="11269980" cy="666115"/>
          </a:xfrm>
          <a:prstGeom prst="rect">
            <a:avLst/>
          </a:prstGeom>
          <a:solidFill>
            <a:srgbClr val="E6E6E6">
              <a:alpha val="20000"/>
            </a:srgbClr>
          </a:solidFill>
          <a:ln>
            <a:solidFill>
              <a:srgbClr val="E6E6E6"/>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31" name="文本占位符 30"/>
          <p:cNvSpPr>
            <a:spLocks noGrp="1"/>
          </p:cNvSpPr>
          <p:nvPr/>
        </p:nvSpPr>
        <p:spPr>
          <a:xfrm>
            <a:off x="650875" y="1071245"/>
            <a:ext cx="10923270" cy="5746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indent="0">
              <a:buNone/>
              <a:defRPr>
                <a:latin typeface="微软雅黑"/>
                <a:ea typeface="微软雅黑"/>
                <a:cs typeface="微软雅黑"/>
              </a:defRPr>
            </a:pPr>
            <a:r>
              <a:rPr lang="zh-CN" altLang="en-US" sz="1500" b="1">
                <a:solidFill>
                  <a:srgbClr val="0042FF"/>
                </a:solidFill>
                <a:latin typeface="微软雅黑"/>
                <a:ea typeface="微软雅黑"/>
                <a:cs typeface="微软雅黑"/>
              </a:rPr>
              <a:t>全域运营模型：</a:t>
            </a:r>
            <a:r>
              <a:rPr lang="zh-CN" altLang="en-US" sz="1500">
                <a:solidFill>
                  <a:srgbClr val="383838"/>
                </a:solidFill>
                <a:latin typeface="微软雅黑"/>
                <a:ea typeface="微软雅黑"/>
                <a:cs typeface="微软雅黑"/>
              </a:rPr>
              <a:t>整合了线上线下、公域私域等多种资源和渠道，使得企业可以形成更全面、更具竞争力的营销策略。</a:t>
            </a:r>
            <a:r>
              <a:rPr lang="zh-CN" altLang="en-US" sz="1500" b="1">
                <a:solidFill>
                  <a:srgbClr val="0042FF"/>
                </a:solidFill>
                <a:latin typeface="微软雅黑"/>
                <a:ea typeface="微软雅黑"/>
                <a:cs typeface="微软雅黑"/>
              </a:rPr>
              <a:t>跨渠道整合和数据驱动的分析</a:t>
            </a:r>
            <a:r>
              <a:rPr lang="zh-CN" altLang="en-US" sz="1500">
                <a:solidFill>
                  <a:srgbClr val="383838"/>
                </a:solidFill>
                <a:latin typeface="微软雅黑"/>
                <a:ea typeface="微软雅黑"/>
                <a:cs typeface="微软雅黑"/>
              </a:rPr>
              <a:t>让企业能更准确地洞察市场需求和竞争态势，从而形成差异化竞争优势。</a:t>
            </a:r>
            <a:endParaRPr lang="zh-CN" altLang="en-US" sz="1500">
              <a:solidFill>
                <a:srgbClr val="383838"/>
              </a:solidFill>
              <a:latin typeface="微软雅黑"/>
              <a:ea typeface="微软雅黑"/>
              <a:cs typeface="微软雅黑"/>
            </a:endParaRPr>
          </a:p>
        </p:txBody>
      </p:sp>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75"/>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lang="zh-CN" altLang="en-US" sz="2500">
                <a:solidFill>
                  <a:srgbClr val="383838"/>
                </a:solidFill>
                <a:effectLst/>
                <a:latin typeface="微软雅黑"/>
                <a:ea typeface="微软雅黑"/>
                <a:cs typeface="微软雅黑"/>
              </a:rPr>
              <a:t>集团公司报表管理体系</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1" name="任意多边形: 形状 40"/>
          <p:cNvSpPr/>
          <p:nvPr/>
        </p:nvSpPr>
        <p:spPr>
          <a:xfrm>
            <a:off x="-946150" y="-668020"/>
            <a:ext cx="21590" cy="43815"/>
          </a:xfrm>
          <a:custGeom>
            <a:avLst/>
            <a:gdLst>
              <a:gd name="connsiteX0" fmla="*/ 0 w 21855"/>
              <a:gd name="connsiteY0" fmla="*/ 21856 h 43711"/>
              <a:gd name="connsiteX1" fmla="*/ 21856 w 21855"/>
              <a:gd name="connsiteY1" fmla="*/ 43712 h 43711"/>
              <a:gd name="connsiteX2" fmla="*/ 21856 w 21855"/>
              <a:gd name="connsiteY2" fmla="*/ 0 h 43711"/>
              <a:gd name="connsiteX3" fmla="*/ 0 w 21855"/>
              <a:gd name="connsiteY3" fmla="*/ 21856 h 43711"/>
            </a:gdLst>
            <a:ahLst/>
            <a:cxnLst>
              <a:cxn ang="0">
                <a:pos x="connsiteX0" y="connsiteY0"/>
              </a:cxn>
              <a:cxn ang="0">
                <a:pos x="connsiteX1" y="connsiteY1"/>
              </a:cxn>
              <a:cxn ang="0">
                <a:pos x="connsiteX2" y="connsiteY2"/>
              </a:cxn>
              <a:cxn ang="0">
                <a:pos x="connsiteX3" y="connsiteY3"/>
              </a:cxn>
            </a:cxnLst>
            <a:rect l="l" t="t" r="r" b="b"/>
            <a:pathLst>
              <a:path w="21855" h="43711">
                <a:moveTo>
                  <a:pt x="0" y="21856"/>
                </a:moveTo>
                <a:cubicBezTo>
                  <a:pt x="0" y="33927"/>
                  <a:pt x="9785" y="43712"/>
                  <a:pt x="21856" y="43712"/>
                </a:cubicBezTo>
                <a:lnTo>
                  <a:pt x="21856" y="0"/>
                </a:lnTo>
                <a:cubicBezTo>
                  <a:pt x="9785" y="0"/>
                  <a:pt x="0" y="9785"/>
                  <a:pt x="0" y="21856"/>
                </a:cubicBezTo>
                <a:close/>
              </a:path>
            </a:pathLst>
          </a:custGeom>
          <a:gradFill>
            <a:gsLst>
              <a:gs pos="100000">
                <a:srgbClr val="FFFFFF">
                  <a:alpha val="31000"/>
                </a:srgbClr>
              </a:gs>
              <a:gs pos="0">
                <a:srgbClr val="FFFFFF"/>
              </a:gs>
            </a:gsLst>
            <a:lin ang="5400000" scaled="1"/>
          </a:gradFill>
          <a:ln w="21717"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25" name="矩形 24"/>
          <p:cNvSpPr/>
          <p:nvPr/>
        </p:nvSpPr>
        <p:spPr>
          <a:xfrm>
            <a:off x="1037590" y="2872105"/>
            <a:ext cx="3484245" cy="2453640"/>
          </a:xfrm>
          <a:prstGeom prst="rect">
            <a:avLst/>
          </a:prstGeom>
          <a:solidFill>
            <a:srgbClr val="E6E6E6">
              <a:alpha val="20000"/>
            </a:srgbClr>
          </a:solidFill>
          <a:ln w="12700" cap="flat" cmpd="sng" algn="ctr">
            <a:solidFill>
              <a:srgbClr val="3368FF">
                <a:alpha val="70000"/>
              </a:srgbClr>
            </a:solidFill>
            <a:prstDash val="dash"/>
            <a:miter lim="800000"/>
          </a:ln>
          <a:effectLst/>
        </p:spPr>
        <p:txBody>
          <a:bodyPr vert="horz" wrap="square" lIns="91440" tIns="45720" rIns="91440" bIns="45720" rtlCol="0" anchor="ctr" anchorCtr="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grpSp>
        <p:nvGrpSpPr>
          <p:cNvPr id="120" name="组合 119"/>
          <p:cNvGrpSpPr/>
          <p:nvPr/>
        </p:nvGrpSpPr>
        <p:grpSpPr>
          <a:xfrm>
            <a:off x="905510" y="1292225"/>
            <a:ext cx="11059795" cy="762000"/>
            <a:chOff x="2456" y="2057"/>
            <a:chExt cx="14515" cy="1200"/>
          </a:xfrm>
        </p:grpSpPr>
        <p:sp>
          <p:nvSpPr>
            <p:cNvPr id="24" name="紫荆的职场Point28"/>
            <p:cNvSpPr/>
            <p:nvPr/>
          </p:nvSpPr>
          <p:spPr>
            <a:xfrm>
              <a:off x="2456" y="2057"/>
              <a:ext cx="14515" cy="1158"/>
            </a:xfrm>
            <a:prstGeom prst="triangle">
              <a:avLst>
                <a:gd name="adj" fmla="val 50311"/>
              </a:avLst>
            </a:prstGeom>
            <a:gradFill flip="none" rotWithShape="1">
              <a:gsLst>
                <a:gs pos="0">
                  <a:srgbClr val="668EFF"/>
                </a:gs>
                <a:gs pos="100000">
                  <a:srgbClr val="668EFF">
                    <a:alpha val="0"/>
                  </a:srgbClr>
                </a:gs>
              </a:gsLst>
              <a:lin ang="5400000" scaled="1"/>
              <a:tileRect/>
            </a:gradFill>
            <a:ln w="19050" cap="flat" cmpd="sng" algn="ctr">
              <a:gradFill flip="none" rotWithShape="1">
                <a:gsLst>
                  <a:gs pos="0">
                    <a:srgbClr val="0042FF"/>
                  </a:gs>
                  <a:gs pos="100000">
                    <a:srgbClr val="0042FF">
                      <a:alpha val="0"/>
                    </a:srgbClr>
                  </a:gs>
                </a:gsLst>
                <a:lin ang="5400000" scaled="1"/>
                <a:tileRect/>
              </a:grad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35" name="直接连接符 34"/>
            <p:cNvCxnSpPr>
              <a:stCxn id="24" idx="0"/>
            </p:cNvCxnSpPr>
            <p:nvPr/>
          </p:nvCxnSpPr>
          <p:spPr>
            <a:xfrm flipH="1">
              <a:off x="7635" y="2057"/>
              <a:ext cx="2124" cy="1200"/>
            </a:xfrm>
            <a:prstGeom prst="line">
              <a:avLst/>
            </a:prstGeom>
            <a:gradFill flip="none" rotWithShape="1">
              <a:gsLst>
                <a:gs pos="0">
                  <a:srgbClr val="C6D4FE"/>
                </a:gs>
                <a:gs pos="100000">
                  <a:srgbClr val="C6D4FE">
                    <a:alpha val="0"/>
                  </a:srgbClr>
                </a:gs>
              </a:gsLst>
              <a:lin ang="5400000" scaled="1"/>
              <a:tileRect/>
            </a:gradFill>
            <a:ln w="19050" cap="flat" cmpd="sng" algn="ctr">
              <a:gradFill flip="none" rotWithShape="1">
                <a:gsLst>
                  <a:gs pos="0">
                    <a:srgbClr val="0042FF"/>
                  </a:gs>
                  <a:gs pos="100000">
                    <a:srgbClr val="0042FF">
                      <a:alpha val="0"/>
                    </a:srgbClr>
                  </a:gs>
                </a:gsLst>
                <a:lin ang="5400000" scaled="1"/>
                <a:tileRect/>
              </a:gradFill>
              <a:prstDash val="solid"/>
              <a:miter lim="800000"/>
            </a:ln>
            <a:effectLst/>
          </p:spPr>
        </p:cxnSp>
        <p:cxnSp>
          <p:nvCxnSpPr>
            <p:cNvPr id="36" name="直接连接符 35"/>
            <p:cNvCxnSpPr/>
            <p:nvPr/>
          </p:nvCxnSpPr>
          <p:spPr>
            <a:xfrm>
              <a:off x="9759" y="2057"/>
              <a:ext cx="1876" cy="1041"/>
            </a:xfrm>
            <a:prstGeom prst="line">
              <a:avLst/>
            </a:prstGeom>
            <a:gradFill flip="none" rotWithShape="1">
              <a:gsLst>
                <a:gs pos="0">
                  <a:srgbClr val="C6D4FE"/>
                </a:gs>
                <a:gs pos="100000">
                  <a:srgbClr val="C6D4FE">
                    <a:alpha val="0"/>
                  </a:srgbClr>
                </a:gs>
              </a:gsLst>
              <a:lin ang="5400000" scaled="1"/>
              <a:tileRect/>
            </a:gradFill>
            <a:ln w="19050" cap="flat" cmpd="sng" algn="ctr">
              <a:gradFill flip="none" rotWithShape="1">
                <a:gsLst>
                  <a:gs pos="0">
                    <a:srgbClr val="0042FF"/>
                  </a:gs>
                  <a:gs pos="100000">
                    <a:srgbClr val="0042FF">
                      <a:alpha val="0"/>
                    </a:srgbClr>
                  </a:gs>
                </a:gsLst>
                <a:lin ang="5400000" scaled="1"/>
                <a:tileRect/>
              </a:gradFill>
              <a:prstDash val="solid"/>
              <a:miter lim="800000"/>
            </a:ln>
            <a:effectLst/>
          </p:spPr>
        </p:cxnSp>
        <p:sp>
          <p:nvSpPr>
            <p:cNvPr id="38" name="文本框 37"/>
            <p:cNvSpPr txBox="1"/>
            <p:nvPr/>
          </p:nvSpPr>
          <p:spPr>
            <a:xfrm>
              <a:off x="5600" y="2606"/>
              <a:ext cx="2557" cy="483"/>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lang="zh-CN" altLang="en-US" sz="1400">
                  <a:solidFill>
                    <a:srgbClr val="383838"/>
                  </a:solidFill>
                  <a:latin typeface="微软雅黑"/>
                  <a:ea typeface="微软雅黑"/>
                  <a:cs typeface="微软雅黑"/>
                </a:rPr>
                <a:t>高层看什么</a:t>
              </a:r>
              <a:endParaRPr lang="zh-CN" altLang="en-US" sz="1400">
                <a:solidFill>
                  <a:srgbClr val="383838"/>
                </a:solidFill>
                <a:latin typeface="微软雅黑"/>
                <a:ea typeface="微软雅黑"/>
                <a:cs typeface="微软雅黑"/>
              </a:endParaRPr>
            </a:p>
          </p:txBody>
        </p:sp>
        <p:sp>
          <p:nvSpPr>
            <p:cNvPr id="42" name="文本框 41"/>
            <p:cNvSpPr txBox="1"/>
            <p:nvPr/>
          </p:nvSpPr>
          <p:spPr>
            <a:xfrm>
              <a:off x="8540" y="2606"/>
              <a:ext cx="2557" cy="483"/>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lang="zh-CN" altLang="en-US" sz="1400">
                  <a:solidFill>
                    <a:srgbClr val="383838"/>
                  </a:solidFill>
                  <a:latin typeface="微软雅黑"/>
                  <a:ea typeface="微软雅黑"/>
                  <a:cs typeface="微软雅黑"/>
                </a:rPr>
                <a:t>中层管什么</a:t>
              </a:r>
              <a:endParaRPr lang="zh-CN" altLang="en-US" sz="1400">
                <a:solidFill>
                  <a:srgbClr val="383838"/>
                </a:solidFill>
                <a:latin typeface="微软雅黑"/>
                <a:ea typeface="微软雅黑"/>
                <a:cs typeface="微软雅黑"/>
              </a:endParaRPr>
            </a:p>
          </p:txBody>
        </p:sp>
        <p:sp>
          <p:nvSpPr>
            <p:cNvPr id="43" name="文本框 42"/>
            <p:cNvSpPr txBox="1"/>
            <p:nvPr/>
          </p:nvSpPr>
          <p:spPr>
            <a:xfrm>
              <a:off x="11480" y="2606"/>
              <a:ext cx="2557" cy="483"/>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lang="zh-CN" altLang="en-US" sz="1400">
                  <a:solidFill>
                    <a:srgbClr val="383838"/>
                  </a:solidFill>
                  <a:latin typeface="微软雅黑"/>
                  <a:ea typeface="微软雅黑"/>
                  <a:cs typeface="微软雅黑"/>
                </a:rPr>
                <a:t>基层干什么</a:t>
              </a:r>
              <a:endParaRPr lang="zh-CN" altLang="en-US" sz="1400">
                <a:solidFill>
                  <a:srgbClr val="383838"/>
                </a:solidFill>
                <a:latin typeface="微软雅黑"/>
                <a:ea typeface="微软雅黑"/>
                <a:cs typeface="微软雅黑"/>
              </a:endParaRPr>
            </a:p>
          </p:txBody>
        </p:sp>
      </p:grpSp>
      <p:sp>
        <p:nvSpPr>
          <p:cNvPr id="105" name="textbox 524"/>
          <p:cNvSpPr/>
          <p:nvPr>
            <p:custDataLst>
              <p:tags r:id="rId3"/>
            </p:custDataLst>
          </p:nvPr>
        </p:nvSpPr>
        <p:spPr>
          <a:xfrm>
            <a:off x="4688205" y="2872105"/>
            <a:ext cx="7134860" cy="2453640"/>
          </a:xfrm>
          <a:prstGeom prst="rect">
            <a:avLst/>
          </a:prstGeom>
          <a:solidFill>
            <a:srgbClr val="FFFFFF">
              <a:alpha val="20000"/>
            </a:srgbClr>
          </a:solidFill>
          <a:ln w="12700" cap="flat" cmpd="sng" algn="ctr">
            <a:solidFill>
              <a:srgbClr val="B3D4FE">
                <a:alpha val="70000"/>
              </a:srgbClr>
            </a:solidFill>
            <a:prstDash val="dash"/>
            <a:miter lim="800000"/>
          </a:ln>
          <a:effectLst/>
        </p:spPr>
        <p:txBody>
          <a:bodyPr vert="horz" wrap="square" lIns="91440" tIns="45720" rIns="91440" bIns="45720" rtlCol="0" anchor="ctr" anchorCtr="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0" name="矩形 19"/>
          <p:cNvSpPr/>
          <p:nvPr/>
        </p:nvSpPr>
        <p:spPr>
          <a:xfrm>
            <a:off x="1037590" y="2058670"/>
            <a:ext cx="3484880" cy="738505"/>
          </a:xfrm>
          <a:prstGeom prst="rect">
            <a:avLst/>
          </a:prstGeom>
          <a:gradFill>
            <a:gsLst>
              <a:gs pos="18000">
                <a:srgbClr val="E6E6E6">
                  <a:alpha val="58000"/>
                </a:srgbClr>
              </a:gs>
              <a:gs pos="100000">
                <a:srgbClr val="E6E6E6">
                  <a:alpha val="22000"/>
                </a:srgbClr>
              </a:gs>
            </a:gsLst>
            <a:lin ang="108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6" name="文本框 45"/>
          <p:cNvSpPr txBox="1"/>
          <p:nvPr/>
        </p:nvSpPr>
        <p:spPr>
          <a:xfrm>
            <a:off x="2258378" y="2121535"/>
            <a:ext cx="1016000" cy="245745"/>
          </a:xfrm>
          <a:prstGeom prst="rect">
            <a:avLst/>
          </a:prstGeom>
          <a:noFill/>
          <a:effectLst/>
        </p:spPr>
        <p:txBody>
          <a:bodyPr wrap="none" lIns="0" tIns="0" rIns="0" bIns="0" rtlCol="0">
            <a:spAutoFit/>
          </a:bodyPr>
          <a:lstStyle/>
          <a:p>
            <a:pPr lvl="0" algn="ctr">
              <a:buClrTx/>
              <a:buSzTx/>
              <a:buFontTx/>
              <a:defRPr>
                <a:latin typeface="微软雅黑"/>
                <a:ea typeface="微软雅黑"/>
                <a:cs typeface="微软雅黑"/>
              </a:defRPr>
            </a:pPr>
            <a:r>
              <a:rPr lang="zh-CN" altLang="en-US" sz="1600" b="1" dirty="0">
                <a:gradFill flip="none" rotWithShape="1">
                  <a:gsLst>
                    <a:gs pos="0">
                      <a:srgbClr val="0042FF"/>
                    </a:gs>
                    <a:gs pos="70000">
                      <a:srgbClr val="0042FF"/>
                    </a:gs>
                  </a:gsLst>
                  <a:lin ang="2700000" scaled="1"/>
                  <a:tileRect/>
                </a:gradFill>
                <a:latin typeface="微软雅黑"/>
                <a:ea typeface="微软雅黑"/>
                <a:cs typeface="微软雅黑"/>
                <a:sym typeface="微软雅黑"/>
              </a:rPr>
              <a:t>集团驾驶舱</a:t>
            </a:r>
            <a:endParaRPr lang="zh-CN" altLang="en-US" sz="1600" b="1" dirty="0">
              <a:gradFill flip="none" rotWithShape="1">
                <a:gsLst>
                  <a:gs pos="0">
                    <a:srgbClr val="0042FF"/>
                  </a:gs>
                  <a:gs pos="70000">
                    <a:srgbClr val="0042FF"/>
                  </a:gs>
                </a:gsLst>
                <a:lin ang="2700000" scaled="1"/>
                <a:tileRect/>
              </a:gradFill>
              <a:latin typeface="微软雅黑"/>
              <a:ea typeface="微软雅黑"/>
              <a:cs typeface="微软雅黑"/>
              <a:sym typeface="微软雅黑"/>
            </a:endParaRPr>
          </a:p>
        </p:txBody>
      </p:sp>
      <p:sp>
        <p:nvSpPr>
          <p:cNvPr id="49" name="矩形 48"/>
          <p:cNvSpPr/>
          <p:nvPr/>
        </p:nvSpPr>
        <p:spPr>
          <a:xfrm>
            <a:off x="1365885" y="2404110"/>
            <a:ext cx="2860040" cy="337820"/>
          </a:xfrm>
          <a:prstGeom prst="rect">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集团核心战略指标实时监控</a:t>
            </a:r>
            <a:endParaRPr lang="zh-CN" altLang="en-US" sz="1400">
              <a:solidFill>
                <a:srgbClr val="383838"/>
              </a:solidFill>
              <a:cs typeface="微软雅黑"/>
              <a:sym typeface="微软雅黑"/>
              <a:latin typeface="微软雅黑"/>
              <a:ea typeface="微软雅黑"/>
            </a:endParaRPr>
          </a:p>
        </p:txBody>
      </p:sp>
      <p:sp>
        <p:nvSpPr>
          <p:cNvPr id="52" name="矩形 51"/>
          <p:cNvSpPr/>
          <p:nvPr/>
        </p:nvSpPr>
        <p:spPr>
          <a:xfrm>
            <a:off x="4688205" y="2058670"/>
            <a:ext cx="3484880" cy="738505"/>
          </a:xfrm>
          <a:prstGeom prst="rect">
            <a:avLst/>
          </a:prstGeom>
          <a:gradFill>
            <a:gsLst>
              <a:gs pos="18000">
                <a:srgbClr val="E6E6E6">
                  <a:alpha val="58000"/>
                </a:srgbClr>
              </a:gs>
              <a:gs pos="100000">
                <a:srgbClr val="E6E6E6">
                  <a:alpha val="22000"/>
                </a:srgbClr>
              </a:gs>
            </a:gsLst>
            <a:lin ang="108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53" name="文本框 52"/>
          <p:cNvSpPr txBox="1"/>
          <p:nvPr/>
        </p:nvSpPr>
        <p:spPr>
          <a:xfrm>
            <a:off x="5618163" y="2085975"/>
            <a:ext cx="1625600" cy="245745"/>
          </a:xfrm>
          <a:prstGeom prst="rect">
            <a:avLst/>
          </a:prstGeom>
          <a:noFill/>
          <a:effectLst/>
        </p:spPr>
        <p:txBody>
          <a:bodyPr wrap="none" lIns="0" tIns="0" rIns="0" bIns="0" rtlCol="0">
            <a:spAutoFit/>
          </a:bodyPr>
          <a:lstStyle/>
          <a:p>
            <a:pPr lvl="0" algn="ctr">
              <a:buClrTx/>
              <a:buSzTx/>
              <a:buFontTx/>
              <a:defRPr>
                <a:latin typeface="微软雅黑"/>
                <a:ea typeface="微软雅黑"/>
                <a:cs typeface="微软雅黑"/>
              </a:defRPr>
            </a:pPr>
            <a:r>
              <a:rPr lang="zh-CN" altLang="en-US" sz="1600" b="1" dirty="0">
                <a:gradFill flip="none" rotWithShape="1">
                  <a:gsLst>
                    <a:gs pos="0">
                      <a:srgbClr val="0042FF"/>
                    </a:gs>
                    <a:gs pos="70000">
                      <a:srgbClr val="0042FF"/>
                    </a:gs>
                  </a:gsLst>
                  <a:lin ang="2700000" scaled="1"/>
                  <a:tileRect/>
                </a:gradFill>
                <a:latin typeface="微软雅黑"/>
                <a:ea typeface="微软雅黑"/>
                <a:cs typeface="微软雅黑"/>
                <a:sym typeface="微软雅黑"/>
              </a:rPr>
              <a:t>业务单元报表中心</a:t>
            </a:r>
            <a:endParaRPr lang="zh-CN" altLang="en-US" sz="1600" b="1" dirty="0">
              <a:gradFill flip="none" rotWithShape="1">
                <a:gsLst>
                  <a:gs pos="0">
                    <a:srgbClr val="0042FF"/>
                  </a:gs>
                  <a:gs pos="70000">
                    <a:srgbClr val="0042FF"/>
                  </a:gs>
                </a:gsLst>
                <a:lin ang="2700000" scaled="1"/>
                <a:tileRect/>
              </a:gradFill>
              <a:latin typeface="微软雅黑"/>
              <a:ea typeface="微软雅黑"/>
              <a:cs typeface="微软雅黑"/>
              <a:sym typeface="微软雅黑"/>
            </a:endParaRPr>
          </a:p>
        </p:txBody>
      </p:sp>
      <p:sp>
        <p:nvSpPr>
          <p:cNvPr id="54" name="矩形 53"/>
          <p:cNvSpPr/>
          <p:nvPr/>
        </p:nvSpPr>
        <p:spPr>
          <a:xfrm>
            <a:off x="5016500" y="2404110"/>
            <a:ext cx="2860040" cy="337820"/>
          </a:xfrm>
          <a:prstGeom prst="rect">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事业部/区域经营分析</a:t>
            </a:r>
            <a:endParaRPr lang="zh-CN" altLang="en-US" sz="1400">
              <a:solidFill>
                <a:srgbClr val="383838"/>
              </a:solidFill>
              <a:cs typeface="微软雅黑"/>
              <a:sym typeface="微软雅黑"/>
              <a:latin typeface="微软雅黑"/>
              <a:ea typeface="微软雅黑"/>
            </a:endParaRPr>
          </a:p>
        </p:txBody>
      </p:sp>
      <p:sp>
        <p:nvSpPr>
          <p:cNvPr id="57" name="矩形 56"/>
          <p:cNvSpPr/>
          <p:nvPr/>
        </p:nvSpPr>
        <p:spPr>
          <a:xfrm>
            <a:off x="8338820" y="2058670"/>
            <a:ext cx="3484880" cy="738505"/>
          </a:xfrm>
          <a:prstGeom prst="rect">
            <a:avLst/>
          </a:prstGeom>
          <a:gradFill>
            <a:gsLst>
              <a:gs pos="18000">
                <a:srgbClr val="E6E6E6">
                  <a:alpha val="58000"/>
                </a:srgbClr>
              </a:gs>
              <a:gs pos="100000">
                <a:srgbClr val="E6E6E6">
                  <a:alpha val="22000"/>
                </a:srgbClr>
              </a:gs>
            </a:gsLst>
            <a:lin ang="108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58" name="文本框 57"/>
          <p:cNvSpPr txBox="1"/>
          <p:nvPr/>
        </p:nvSpPr>
        <p:spPr>
          <a:xfrm>
            <a:off x="9305290" y="2085975"/>
            <a:ext cx="1625600" cy="245745"/>
          </a:xfrm>
          <a:prstGeom prst="rect">
            <a:avLst/>
          </a:prstGeom>
          <a:noFill/>
          <a:effectLst/>
        </p:spPr>
        <p:txBody>
          <a:bodyPr wrap="none" lIns="0" tIns="0" rIns="0" bIns="0" rtlCol="0">
            <a:spAutoFit/>
          </a:bodyPr>
          <a:lstStyle/>
          <a:p>
            <a:pPr lvl="0" algn="ctr">
              <a:buClrTx/>
              <a:buSzTx/>
              <a:buFontTx/>
              <a:defRPr>
                <a:latin typeface="微软雅黑"/>
                <a:ea typeface="微软雅黑"/>
                <a:cs typeface="微软雅黑"/>
              </a:defRPr>
            </a:pPr>
            <a:r>
              <a:rPr lang="zh-CN" altLang="en-US" sz="1600" b="1" dirty="0">
                <a:gradFill flip="none" rotWithShape="1">
                  <a:gsLst>
                    <a:gs pos="0">
                      <a:srgbClr val="0042FF"/>
                    </a:gs>
                    <a:gs pos="70000">
                      <a:srgbClr val="0042FF"/>
                    </a:gs>
                  </a:gsLst>
                  <a:lin ang="2700000" scaled="1"/>
                  <a:tileRect/>
                </a:gradFill>
                <a:latin typeface="微软雅黑"/>
                <a:ea typeface="微软雅黑"/>
                <a:cs typeface="微软雅黑"/>
                <a:sym typeface="微软雅黑"/>
              </a:rPr>
              <a:t>数据资产管理体系</a:t>
            </a:r>
            <a:endParaRPr lang="zh-CN" altLang="en-US" sz="1600" b="1" dirty="0">
              <a:gradFill flip="none" rotWithShape="1">
                <a:gsLst>
                  <a:gs pos="0">
                    <a:srgbClr val="0042FF"/>
                  </a:gs>
                  <a:gs pos="70000">
                    <a:srgbClr val="0042FF"/>
                  </a:gs>
                </a:gsLst>
                <a:lin ang="2700000" scaled="1"/>
                <a:tileRect/>
              </a:gradFill>
              <a:latin typeface="微软雅黑"/>
              <a:ea typeface="微软雅黑"/>
              <a:cs typeface="微软雅黑"/>
              <a:sym typeface="微软雅黑"/>
            </a:endParaRPr>
          </a:p>
        </p:txBody>
      </p:sp>
      <p:sp>
        <p:nvSpPr>
          <p:cNvPr id="59" name="矩形 58"/>
          <p:cNvSpPr/>
          <p:nvPr/>
        </p:nvSpPr>
        <p:spPr>
          <a:xfrm>
            <a:off x="8667115" y="2404110"/>
            <a:ext cx="2860040" cy="337820"/>
          </a:xfrm>
          <a:prstGeom prst="rect">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业务数字化+赋能基层人员执行</a:t>
            </a:r>
            <a:endParaRPr lang="zh-CN" altLang="en-US" sz="1400">
              <a:solidFill>
                <a:srgbClr val="383838"/>
              </a:solidFill>
              <a:cs typeface="微软雅黑"/>
              <a:sym typeface="微软雅黑"/>
              <a:latin typeface="微软雅黑"/>
              <a:ea typeface="微软雅黑"/>
            </a:endParaRPr>
          </a:p>
        </p:txBody>
      </p:sp>
      <p:sp>
        <p:nvSpPr>
          <p:cNvPr id="67" name="文本框 66"/>
          <p:cNvSpPr txBox="1"/>
          <p:nvPr/>
        </p:nvSpPr>
        <p:spPr>
          <a:xfrm>
            <a:off x="1955165" y="2969260"/>
            <a:ext cx="1444625" cy="337185"/>
          </a:xfrm>
          <a:prstGeom prst="rect">
            <a:avLst/>
          </a:prstGeom>
          <a:noFill/>
        </p:spPr>
        <p:txBody>
          <a:bodyPr wrap="square" rtlCol="0">
            <a:sp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权限管理</a:t>
            </a:r>
            <a:endParaRPr lang="zh-CN" altLang="en-US" sz="1600" b="1">
              <a:solidFill>
                <a:srgbClr val="0042FF"/>
              </a:solidFill>
              <a:latin typeface="微软雅黑"/>
              <a:ea typeface="微软雅黑"/>
              <a:cs typeface="微软雅黑"/>
            </a:endParaRPr>
          </a:p>
        </p:txBody>
      </p:sp>
      <p:grpSp>
        <p:nvGrpSpPr>
          <p:cNvPr id="168" name="组合 167"/>
          <p:cNvGrpSpPr/>
          <p:nvPr/>
        </p:nvGrpSpPr>
        <p:grpSpPr>
          <a:xfrm>
            <a:off x="1207770" y="3394075"/>
            <a:ext cx="966470" cy="1751330"/>
            <a:chOff x="2172" y="5345"/>
            <a:chExt cx="1522" cy="2758"/>
          </a:xfrm>
        </p:grpSpPr>
        <p:sp>
          <p:nvSpPr>
            <p:cNvPr id="71" name="矩形 70"/>
            <p:cNvSpPr/>
            <p:nvPr/>
          </p:nvSpPr>
          <p:spPr>
            <a:xfrm>
              <a:off x="2172" y="5345"/>
              <a:ext cx="1522" cy="568"/>
            </a:xfrm>
            <a:prstGeom prst="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400" dirty="0">
                  <a:solidFill>
                    <a:srgbClr val="0042FF"/>
                  </a:solidFill>
                  <a:latin typeface="微软雅黑"/>
                  <a:ea typeface="微软雅黑"/>
                  <a:cs typeface="微软雅黑"/>
                  <a:sym typeface="微软雅黑"/>
                </a:rPr>
                <a:t>集团本体</a:t>
              </a:r>
              <a:endParaRPr lang="en-US" altLang="zh-CN" sz="1400" dirty="0">
                <a:solidFill>
                  <a:srgbClr val="0042FF"/>
                </a:solidFill>
                <a:latin typeface="微软雅黑"/>
                <a:ea typeface="微软雅黑"/>
                <a:cs typeface="微软雅黑"/>
                <a:sym typeface="微软雅黑"/>
              </a:endParaRPr>
            </a:p>
          </p:txBody>
        </p:sp>
        <p:sp>
          <p:nvSpPr>
            <p:cNvPr id="72" name="矩形 71"/>
            <p:cNvSpPr/>
            <p:nvPr/>
          </p:nvSpPr>
          <p:spPr>
            <a:xfrm>
              <a:off x="2172" y="6440"/>
              <a:ext cx="1522" cy="568"/>
            </a:xfrm>
            <a:prstGeom prst="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400" dirty="0">
                  <a:solidFill>
                    <a:srgbClr val="0042FF"/>
                  </a:solidFill>
                  <a:latin typeface="微软雅黑"/>
                  <a:ea typeface="微软雅黑"/>
                  <a:cs typeface="微软雅黑"/>
                  <a:sym typeface="微软雅黑"/>
                </a:rPr>
                <a:t>子公司</a:t>
              </a:r>
              <a:endParaRPr lang="en-US" altLang="zh-CN" sz="1400" dirty="0">
                <a:solidFill>
                  <a:srgbClr val="0042FF"/>
                </a:solidFill>
                <a:latin typeface="微软雅黑"/>
                <a:ea typeface="微软雅黑"/>
                <a:cs typeface="微软雅黑"/>
                <a:sym typeface="微软雅黑"/>
              </a:endParaRPr>
            </a:p>
          </p:txBody>
        </p:sp>
        <p:sp>
          <p:nvSpPr>
            <p:cNvPr id="73" name="矩形 72"/>
            <p:cNvSpPr/>
            <p:nvPr/>
          </p:nvSpPr>
          <p:spPr>
            <a:xfrm>
              <a:off x="2172" y="7535"/>
              <a:ext cx="1522" cy="568"/>
            </a:xfrm>
            <a:prstGeom prst="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400" dirty="0">
                  <a:solidFill>
                    <a:srgbClr val="0042FF"/>
                  </a:solidFill>
                  <a:latin typeface="微软雅黑"/>
                  <a:ea typeface="微软雅黑"/>
                  <a:cs typeface="微软雅黑"/>
                  <a:sym typeface="微软雅黑"/>
                </a:rPr>
                <a:t>职能部门</a:t>
              </a:r>
              <a:endParaRPr lang="en-US" altLang="zh-CN" sz="1400" dirty="0">
                <a:solidFill>
                  <a:srgbClr val="0042FF"/>
                </a:solidFill>
                <a:latin typeface="微软雅黑"/>
                <a:ea typeface="微软雅黑"/>
                <a:cs typeface="微软雅黑"/>
                <a:sym typeface="微软雅黑"/>
              </a:endParaRPr>
            </a:p>
          </p:txBody>
        </p:sp>
        <p:sp>
          <p:nvSpPr>
            <p:cNvPr id="74" name="下箭头 73"/>
            <p:cNvSpPr/>
            <p:nvPr/>
          </p:nvSpPr>
          <p:spPr>
            <a:xfrm>
              <a:off x="2717" y="5983"/>
              <a:ext cx="432" cy="386"/>
            </a:xfrm>
            <a:prstGeom prst="downArrow">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tLang="zh-CN" sz="1400" b="1" dirty="0">
                <a:gradFill flip="none" rotWithShape="1">
                  <a:gsLst>
                    <a:gs pos="18000">
                      <a:srgbClr val="0042FF"/>
                    </a:gs>
                    <a:gs pos="100000">
                      <a:srgbClr val="0042FF"/>
                    </a:gs>
                  </a:gsLst>
                  <a:lin ang="0" scaled="1"/>
                  <a:tileRect/>
                </a:gradFill>
                <a:latin typeface="微软雅黑"/>
                <a:ea typeface="微软雅黑"/>
                <a:cs typeface="微软雅黑"/>
                <a:sym typeface="微软雅黑"/>
              </a:endParaRPr>
            </a:p>
          </p:txBody>
        </p:sp>
        <p:sp>
          <p:nvSpPr>
            <p:cNvPr id="92" name="下箭头 91"/>
            <p:cNvSpPr/>
            <p:nvPr/>
          </p:nvSpPr>
          <p:spPr>
            <a:xfrm>
              <a:off x="2717" y="7079"/>
              <a:ext cx="432" cy="386"/>
            </a:xfrm>
            <a:prstGeom prst="downArrow">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tLang="zh-CN" sz="1400" b="1" dirty="0">
                <a:gradFill flip="none" rotWithShape="1">
                  <a:gsLst>
                    <a:gs pos="18000">
                      <a:srgbClr val="0042FF"/>
                    </a:gs>
                    <a:gs pos="100000">
                      <a:srgbClr val="0042FF"/>
                    </a:gs>
                  </a:gsLst>
                  <a:lin ang="0" scaled="1"/>
                  <a:tileRect/>
                </a:gradFill>
                <a:latin typeface="微软雅黑"/>
                <a:ea typeface="微软雅黑"/>
                <a:cs typeface="微软雅黑"/>
                <a:sym typeface="微软雅黑"/>
              </a:endParaRPr>
            </a:p>
          </p:txBody>
        </p:sp>
      </p:grpSp>
      <p:grpSp>
        <p:nvGrpSpPr>
          <p:cNvPr id="169" name="组合 168"/>
          <p:cNvGrpSpPr/>
          <p:nvPr/>
        </p:nvGrpSpPr>
        <p:grpSpPr>
          <a:xfrm>
            <a:off x="2446655" y="3375025"/>
            <a:ext cx="966470" cy="1751330"/>
            <a:chOff x="4383" y="5345"/>
            <a:chExt cx="1522" cy="2758"/>
          </a:xfrm>
        </p:grpSpPr>
        <p:sp>
          <p:nvSpPr>
            <p:cNvPr id="93" name="矩形 92"/>
            <p:cNvSpPr/>
            <p:nvPr/>
          </p:nvSpPr>
          <p:spPr>
            <a:xfrm>
              <a:off x="4383" y="5345"/>
              <a:ext cx="1522" cy="568"/>
            </a:xfrm>
            <a:prstGeom prst="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400" dirty="0">
                  <a:solidFill>
                    <a:srgbClr val="0042FF"/>
                  </a:solidFill>
                  <a:latin typeface="微软雅黑"/>
                  <a:ea typeface="微软雅黑"/>
                  <a:cs typeface="微软雅黑"/>
                  <a:sym typeface="微软雅黑"/>
                </a:rPr>
                <a:t>总部职能</a:t>
              </a:r>
              <a:endParaRPr lang="en-US" altLang="zh-CN" sz="1400" dirty="0">
                <a:solidFill>
                  <a:srgbClr val="0042FF"/>
                </a:solidFill>
                <a:latin typeface="微软雅黑"/>
                <a:ea typeface="微软雅黑"/>
                <a:cs typeface="微软雅黑"/>
                <a:sym typeface="微软雅黑"/>
              </a:endParaRPr>
            </a:p>
          </p:txBody>
        </p:sp>
        <p:sp>
          <p:nvSpPr>
            <p:cNvPr id="95" name="矩形 94"/>
            <p:cNvSpPr/>
            <p:nvPr/>
          </p:nvSpPr>
          <p:spPr>
            <a:xfrm>
              <a:off x="4383" y="6440"/>
              <a:ext cx="1522" cy="568"/>
            </a:xfrm>
            <a:prstGeom prst="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400" dirty="0">
                  <a:solidFill>
                    <a:srgbClr val="0042FF"/>
                  </a:solidFill>
                  <a:latin typeface="微软雅黑"/>
                  <a:ea typeface="微软雅黑"/>
                  <a:cs typeface="微软雅黑"/>
                  <a:sym typeface="微软雅黑"/>
                </a:rPr>
                <a:t>事业部</a:t>
              </a:r>
              <a:endParaRPr lang="en-US" altLang="zh-CN" sz="1400" dirty="0">
                <a:solidFill>
                  <a:srgbClr val="0042FF"/>
                </a:solidFill>
                <a:latin typeface="微软雅黑"/>
                <a:ea typeface="微软雅黑"/>
                <a:cs typeface="微软雅黑"/>
                <a:sym typeface="微软雅黑"/>
              </a:endParaRPr>
            </a:p>
          </p:txBody>
        </p:sp>
        <p:sp>
          <p:nvSpPr>
            <p:cNvPr id="96" name="矩形 95"/>
            <p:cNvSpPr/>
            <p:nvPr/>
          </p:nvSpPr>
          <p:spPr>
            <a:xfrm>
              <a:off x="4383" y="7535"/>
              <a:ext cx="1522" cy="568"/>
            </a:xfrm>
            <a:prstGeom prst="rect">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400" dirty="0">
                  <a:solidFill>
                    <a:srgbClr val="0042FF"/>
                  </a:solidFill>
                  <a:latin typeface="微软雅黑"/>
                  <a:ea typeface="微软雅黑"/>
                  <a:cs typeface="微软雅黑"/>
                  <a:sym typeface="微软雅黑"/>
                </a:rPr>
                <a:t>基层员工</a:t>
              </a:r>
              <a:endParaRPr lang="en-US" altLang="zh-CN" sz="1400" dirty="0">
                <a:solidFill>
                  <a:srgbClr val="0042FF"/>
                </a:solidFill>
                <a:latin typeface="微软雅黑"/>
                <a:ea typeface="微软雅黑"/>
                <a:cs typeface="微软雅黑"/>
                <a:sym typeface="微软雅黑"/>
              </a:endParaRPr>
            </a:p>
          </p:txBody>
        </p:sp>
        <p:sp>
          <p:nvSpPr>
            <p:cNvPr id="117" name="下箭头 116"/>
            <p:cNvSpPr/>
            <p:nvPr/>
          </p:nvSpPr>
          <p:spPr>
            <a:xfrm>
              <a:off x="4928" y="5983"/>
              <a:ext cx="432" cy="386"/>
            </a:xfrm>
            <a:prstGeom prst="downArrow">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tLang="zh-CN" sz="1400" b="1" dirty="0">
                <a:gradFill flip="none" rotWithShape="1">
                  <a:gsLst>
                    <a:gs pos="18000">
                      <a:srgbClr val="0042FF"/>
                    </a:gs>
                    <a:gs pos="100000">
                      <a:srgbClr val="0042FF"/>
                    </a:gs>
                  </a:gsLst>
                  <a:lin ang="0" scaled="1"/>
                  <a:tileRect/>
                </a:gradFill>
                <a:latin typeface="微软雅黑"/>
                <a:ea typeface="微软雅黑"/>
                <a:cs typeface="微软雅黑"/>
                <a:sym typeface="微软雅黑"/>
              </a:endParaRPr>
            </a:p>
          </p:txBody>
        </p:sp>
        <p:sp>
          <p:nvSpPr>
            <p:cNvPr id="119" name="下箭头 118"/>
            <p:cNvSpPr/>
            <p:nvPr/>
          </p:nvSpPr>
          <p:spPr>
            <a:xfrm>
              <a:off x="4928" y="7079"/>
              <a:ext cx="432" cy="386"/>
            </a:xfrm>
            <a:prstGeom prst="downArrow">
              <a:avLst/>
            </a:prstGeom>
            <a:solidFill>
              <a:srgbClr val="FFFFFF"/>
            </a:solidFill>
            <a:ln w="6350">
              <a:solidFill>
                <a:srgbClr val="3368FF"/>
              </a:solidFill>
            </a:ln>
            <a:effectLst>
              <a:outerShdw blurRad="63500" sx="102000" sy="102000" algn="ctr" rotWithShape="0">
                <a:srgbClr val="3368FF">
                  <a:alpha val="2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14400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tLang="zh-CN" sz="1400" b="1" dirty="0">
                <a:gradFill flip="none" rotWithShape="1">
                  <a:gsLst>
                    <a:gs pos="18000">
                      <a:srgbClr val="0042FF"/>
                    </a:gs>
                    <a:gs pos="100000">
                      <a:srgbClr val="0042FF"/>
                    </a:gs>
                  </a:gsLst>
                  <a:lin ang="0" scaled="1"/>
                  <a:tileRect/>
                </a:gradFill>
                <a:latin typeface="微软雅黑"/>
                <a:ea typeface="微软雅黑"/>
                <a:cs typeface="微软雅黑"/>
                <a:sym typeface="微软雅黑"/>
              </a:endParaRPr>
            </a:p>
          </p:txBody>
        </p:sp>
      </p:grpSp>
      <p:sp>
        <p:nvSpPr>
          <p:cNvPr id="121" name="矩形 120"/>
          <p:cNvSpPr/>
          <p:nvPr/>
        </p:nvSpPr>
        <p:spPr>
          <a:xfrm>
            <a:off x="5678170" y="1001395"/>
            <a:ext cx="1724025" cy="483870"/>
          </a:xfrm>
          <a:prstGeom prst="rect">
            <a:avLst/>
          </a:prstGeom>
          <a:solidFill>
            <a:srgbClr val="0042FF"/>
          </a:solidFill>
          <a:ln>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r>
              <a:rPr lang="zh-CN" altLang="en-US">
                <a:solidFill>
                  <a:srgbClr val="FFFFFF"/>
                </a:solidFill>
                <a:cs typeface="微软雅黑"/>
                <a:latin typeface="微软雅黑"/>
                <a:ea typeface="微软雅黑"/>
              </a:rPr>
              <a:t>集团管理报表</a:t>
            </a:r>
            <a:endParaRPr lang="zh-CN" altLang="en-US">
              <a:solidFill>
                <a:srgbClr val="FFFFFF"/>
              </a:solidFill>
              <a:cs typeface="微软雅黑"/>
              <a:latin typeface="微软雅黑"/>
              <a:ea typeface="微软雅黑"/>
            </a:endParaRPr>
          </a:p>
        </p:txBody>
      </p:sp>
      <p:sp>
        <p:nvSpPr>
          <p:cNvPr id="122" name="矩形 121"/>
          <p:cNvSpPr/>
          <p:nvPr/>
        </p:nvSpPr>
        <p:spPr>
          <a:xfrm>
            <a:off x="7272020" y="2952750"/>
            <a:ext cx="1967230" cy="337820"/>
          </a:xfrm>
          <a:prstGeom prst="rect">
            <a:avLst/>
          </a:prstGeom>
          <a:gradFill flip="none" rotWithShape="1">
            <a:gsLst>
              <a:gs pos="18000">
                <a:srgbClr val="B3D4FE"/>
              </a:gs>
              <a:gs pos="100000">
                <a:srgbClr val="FFFFFF"/>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数据仓库架构</a:t>
            </a:r>
            <a:endParaRPr lang="zh-CN" altLang="en-US" sz="1400" dirty="0">
              <a:solidFill>
                <a:srgbClr val="383838"/>
              </a:solidFill>
              <a:latin typeface="微软雅黑"/>
              <a:ea typeface="微软雅黑"/>
              <a:cs typeface="微软雅黑"/>
              <a:sym typeface="微软雅黑"/>
            </a:endParaRPr>
          </a:p>
        </p:txBody>
      </p:sp>
      <p:sp>
        <p:nvSpPr>
          <p:cNvPr id="123" name="矩形 122"/>
          <p:cNvSpPr/>
          <p:nvPr/>
        </p:nvSpPr>
        <p:spPr>
          <a:xfrm>
            <a:off x="4892675" y="3393440"/>
            <a:ext cx="1628140" cy="1861820"/>
          </a:xfrm>
          <a:prstGeom prst="rect">
            <a:avLst/>
          </a:prstGeom>
          <a:solidFill>
            <a:srgbClr val="B3D4FE">
              <a:alpha val="10000"/>
            </a:srgbClr>
          </a:solidFill>
          <a:ln w="12700" cap="flat" cmpd="sng" algn="ctr">
            <a:solidFill>
              <a:srgbClr val="B3D4FE">
                <a:alpha val="50000"/>
              </a:srgbClr>
            </a:solidFill>
            <a:prstDash val="solid"/>
            <a:miter lim="800000"/>
          </a:ln>
          <a:effectLst/>
        </p:spPr>
        <p:txBody>
          <a:bodyPr vert="horz" wrap="square" lIns="91440" tIns="45720" rIns="91440" bIns="45720" rtlCol="0" anchor="ctr" anchorCtr="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5" name="矩形 124"/>
          <p:cNvSpPr/>
          <p:nvPr/>
        </p:nvSpPr>
        <p:spPr>
          <a:xfrm>
            <a:off x="5016500" y="3811905"/>
            <a:ext cx="1358900"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latin typeface="微软雅黑"/>
                <a:ea typeface="微软雅黑"/>
                <a:cs typeface="微软雅黑"/>
              </a:rPr>
              <a:t>云数仓</a:t>
            </a:r>
            <a:r>
              <a:rPr lang="en-US" altLang="zh-CN" sz="1000">
                <a:solidFill>
                  <a:srgbClr val="383838"/>
                </a:solidFill>
                <a:latin typeface="微软雅黑"/>
                <a:ea typeface="微软雅黑"/>
                <a:cs typeface="微软雅黑"/>
              </a:rPr>
              <a:t>(Snowflake)</a:t>
            </a:r>
            <a:endParaRPr lang="en-US" altLang="zh-CN" sz="1000">
              <a:solidFill>
                <a:srgbClr val="383838"/>
              </a:solidFill>
              <a:latin typeface="微软雅黑"/>
              <a:ea typeface="微软雅黑"/>
              <a:cs typeface="微软雅黑"/>
            </a:endParaRPr>
          </a:p>
        </p:txBody>
      </p:sp>
      <p:sp>
        <p:nvSpPr>
          <p:cNvPr id="126" name="文本框 125"/>
          <p:cNvSpPr txBox="1"/>
          <p:nvPr/>
        </p:nvSpPr>
        <p:spPr>
          <a:xfrm>
            <a:off x="4984433" y="3462020"/>
            <a:ext cx="1444625" cy="337185"/>
          </a:xfrm>
          <a:prstGeom prst="rect">
            <a:avLst/>
          </a:prstGeom>
          <a:noFill/>
        </p:spPr>
        <p:txBody>
          <a:bodyPr wrap="square" rtlCol="0">
            <a:sp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数据仓库</a:t>
            </a:r>
            <a:endParaRPr lang="zh-CN" altLang="en-US" sz="1600" b="1">
              <a:solidFill>
                <a:srgbClr val="0042FF"/>
              </a:solidFill>
              <a:latin typeface="微软雅黑"/>
              <a:ea typeface="微软雅黑"/>
              <a:cs typeface="微软雅黑"/>
            </a:endParaRPr>
          </a:p>
        </p:txBody>
      </p:sp>
      <p:sp>
        <p:nvSpPr>
          <p:cNvPr id="128" name="矩形 127"/>
          <p:cNvSpPr/>
          <p:nvPr/>
        </p:nvSpPr>
        <p:spPr>
          <a:xfrm>
            <a:off x="5016500" y="4164330"/>
            <a:ext cx="135953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zh-CN" altLang="en-US" sz="1200">
                <a:solidFill>
                  <a:srgbClr val="383838"/>
                </a:solidFill>
                <a:cs typeface="微软雅黑"/>
                <a:latin typeface="微软雅黑"/>
                <a:ea typeface="微软雅黑"/>
              </a:rPr>
              <a:t>数据清洗标准化</a:t>
            </a:r>
            <a:endParaRPr lang="zh-CN" altLang="en-US" sz="1200">
              <a:solidFill>
                <a:srgbClr val="383838"/>
              </a:solidFill>
              <a:cs typeface="微软雅黑"/>
              <a:latin typeface="微软雅黑"/>
              <a:ea typeface="微软雅黑"/>
            </a:endParaRPr>
          </a:p>
        </p:txBody>
      </p:sp>
      <p:sp>
        <p:nvSpPr>
          <p:cNvPr id="129" name="矩形 128"/>
          <p:cNvSpPr/>
          <p:nvPr/>
        </p:nvSpPr>
        <p:spPr>
          <a:xfrm>
            <a:off x="5016500" y="4516755"/>
            <a:ext cx="135953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zh-CN" altLang="en-US" sz="1100">
                <a:solidFill>
                  <a:srgbClr val="383838"/>
                </a:solidFill>
                <a:cs typeface="微软雅黑"/>
                <a:latin typeface="微软雅黑"/>
                <a:ea typeface="微软雅黑"/>
              </a:rPr>
              <a:t>构建星型模型</a:t>
            </a:r>
            <a:endParaRPr lang="zh-CN" altLang="en-US" sz="1100">
              <a:solidFill>
                <a:srgbClr val="383838"/>
              </a:solidFill>
              <a:cs typeface="微软雅黑"/>
              <a:latin typeface="微软雅黑"/>
              <a:ea typeface="微软雅黑"/>
            </a:endParaRPr>
          </a:p>
        </p:txBody>
      </p:sp>
      <p:sp>
        <p:nvSpPr>
          <p:cNvPr id="130" name="矩形 129"/>
          <p:cNvSpPr/>
          <p:nvPr/>
        </p:nvSpPr>
        <p:spPr>
          <a:xfrm>
            <a:off x="5016500" y="4869180"/>
            <a:ext cx="135953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zh-CN" altLang="en-US" sz="1200">
                <a:solidFill>
                  <a:srgbClr val="383838"/>
                </a:solidFill>
                <a:cs typeface="微软雅黑"/>
                <a:latin typeface="微软雅黑"/>
                <a:ea typeface="微软雅黑"/>
              </a:rPr>
              <a:t>历史拉链表存储</a:t>
            </a:r>
            <a:endParaRPr lang="zh-CN" altLang="en-US" sz="1200">
              <a:solidFill>
                <a:srgbClr val="383838"/>
              </a:solidFill>
              <a:cs typeface="微软雅黑"/>
              <a:latin typeface="微软雅黑"/>
              <a:ea typeface="微软雅黑"/>
            </a:endParaRPr>
          </a:p>
        </p:txBody>
      </p:sp>
      <p:sp>
        <p:nvSpPr>
          <p:cNvPr id="131" name="矩形 130"/>
          <p:cNvSpPr/>
          <p:nvPr/>
        </p:nvSpPr>
        <p:spPr>
          <a:xfrm>
            <a:off x="6656070" y="3393440"/>
            <a:ext cx="2472055" cy="1861820"/>
          </a:xfrm>
          <a:prstGeom prst="rect">
            <a:avLst/>
          </a:prstGeom>
          <a:solidFill>
            <a:srgbClr val="B3D4FE">
              <a:alpha val="10000"/>
            </a:srgbClr>
          </a:solidFill>
          <a:ln w="12700" cap="flat" cmpd="sng" algn="ctr">
            <a:solidFill>
              <a:srgbClr val="B3D4FE">
                <a:alpha val="50000"/>
              </a:srgbClr>
            </a:solidFill>
            <a:prstDash val="solid"/>
            <a:miter lim="800000"/>
          </a:ln>
          <a:effectLst/>
        </p:spPr>
        <p:txBody>
          <a:bodyPr vert="horz" wrap="square" lIns="91440" tIns="45720" rIns="91440" bIns="45720" rtlCol="0" anchor="ctr" anchorCtr="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32" name="文本框 131"/>
          <p:cNvSpPr txBox="1"/>
          <p:nvPr/>
        </p:nvSpPr>
        <p:spPr>
          <a:xfrm>
            <a:off x="7137718" y="3462020"/>
            <a:ext cx="1444625" cy="337185"/>
          </a:xfrm>
          <a:prstGeom prst="rect">
            <a:avLst/>
          </a:prstGeom>
          <a:noFill/>
        </p:spPr>
        <p:txBody>
          <a:bodyPr wrap="square" rtlCol="0">
            <a:sp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大数据平台</a:t>
            </a:r>
            <a:endParaRPr lang="zh-CN" altLang="en-US" sz="1600" b="1">
              <a:solidFill>
                <a:srgbClr val="0042FF"/>
              </a:solidFill>
              <a:latin typeface="微软雅黑"/>
              <a:ea typeface="微软雅黑"/>
              <a:cs typeface="微软雅黑"/>
            </a:endParaRPr>
          </a:p>
        </p:txBody>
      </p:sp>
      <p:sp>
        <p:nvSpPr>
          <p:cNvPr id="133" name="矩形 132"/>
          <p:cNvSpPr/>
          <p:nvPr/>
        </p:nvSpPr>
        <p:spPr>
          <a:xfrm>
            <a:off x="6932295" y="3811905"/>
            <a:ext cx="1882140"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en-US" altLang="zh-CN" sz="1200">
                <a:solidFill>
                  <a:srgbClr val="383838"/>
                </a:solidFill>
                <a:latin typeface="微软雅黑"/>
                <a:ea typeface="微软雅黑"/>
                <a:cs typeface="微软雅黑"/>
              </a:rPr>
              <a:t>Spark 3.0 </a:t>
            </a:r>
            <a:r>
              <a:rPr lang="zh-CN" altLang="en-US" sz="1200">
                <a:solidFill>
                  <a:srgbClr val="383838"/>
                </a:solidFill>
                <a:latin typeface="微软雅黑"/>
                <a:ea typeface="微软雅黑"/>
                <a:cs typeface="微软雅黑"/>
              </a:rPr>
              <a:t>批流一体处理</a:t>
            </a:r>
            <a:endParaRPr lang="zh-CN" altLang="en-US" sz="1200">
              <a:solidFill>
                <a:srgbClr val="383838"/>
              </a:solidFill>
              <a:latin typeface="微软雅黑"/>
              <a:ea typeface="微软雅黑"/>
              <a:cs typeface="微软雅黑"/>
            </a:endParaRPr>
          </a:p>
        </p:txBody>
      </p:sp>
      <p:sp>
        <p:nvSpPr>
          <p:cNvPr id="134" name="矩形 133"/>
          <p:cNvSpPr/>
          <p:nvPr/>
        </p:nvSpPr>
        <p:spPr>
          <a:xfrm>
            <a:off x="6932295" y="4164330"/>
            <a:ext cx="1882140"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zh-CN" altLang="en-US" sz="1200">
                <a:solidFill>
                  <a:srgbClr val="383838"/>
                </a:solidFill>
                <a:latin typeface="微软雅黑"/>
                <a:ea typeface="微软雅黑"/>
                <a:cs typeface="微软雅黑"/>
              </a:rPr>
              <a:t>湖仓一体（</a:t>
            </a:r>
            <a:r>
              <a:rPr lang="en-US" altLang="zh-CN" sz="1200">
                <a:solidFill>
                  <a:srgbClr val="383838"/>
                </a:solidFill>
                <a:latin typeface="微软雅黑"/>
                <a:ea typeface="微软雅黑"/>
                <a:cs typeface="微软雅黑"/>
              </a:rPr>
              <a:t>Delta Lake</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sp>
        <p:nvSpPr>
          <p:cNvPr id="135" name="矩形 134"/>
          <p:cNvSpPr/>
          <p:nvPr/>
        </p:nvSpPr>
        <p:spPr>
          <a:xfrm>
            <a:off x="6932295" y="4516755"/>
            <a:ext cx="1882140"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en-US" altLang="zh-CN" sz="1200">
                <a:solidFill>
                  <a:srgbClr val="383838"/>
                </a:solidFill>
                <a:latin typeface="微软雅黑"/>
                <a:ea typeface="微软雅黑"/>
                <a:cs typeface="微软雅黑"/>
              </a:rPr>
              <a:t>ClickHous</a:t>
            </a:r>
            <a:r>
              <a:rPr lang="zh-CN" altLang="en-US" sz="1200">
                <a:solidFill>
                  <a:srgbClr val="383838"/>
                </a:solidFill>
                <a:latin typeface="微软雅黑"/>
                <a:ea typeface="微软雅黑"/>
                <a:cs typeface="微软雅黑"/>
              </a:rPr>
              <a:t>数据聚合分析</a:t>
            </a:r>
            <a:endParaRPr lang="zh-CN" altLang="en-US" sz="1200">
              <a:solidFill>
                <a:srgbClr val="383838"/>
              </a:solidFill>
              <a:latin typeface="微软雅黑"/>
              <a:ea typeface="微软雅黑"/>
              <a:cs typeface="微软雅黑"/>
            </a:endParaRPr>
          </a:p>
        </p:txBody>
      </p:sp>
      <p:sp>
        <p:nvSpPr>
          <p:cNvPr id="136" name="矩形 135"/>
          <p:cNvSpPr/>
          <p:nvPr/>
        </p:nvSpPr>
        <p:spPr>
          <a:xfrm>
            <a:off x="6932295" y="4869180"/>
            <a:ext cx="93154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en-US" altLang="zh-CN" sz="1200">
                <a:solidFill>
                  <a:srgbClr val="383838"/>
                </a:solidFill>
                <a:latin typeface="微软雅黑"/>
                <a:ea typeface="微软雅黑"/>
                <a:cs typeface="微软雅黑"/>
              </a:rPr>
              <a:t>DataX </a:t>
            </a:r>
            <a:endParaRPr lang="en-US" altLang="zh-CN" sz="1200">
              <a:solidFill>
                <a:srgbClr val="383838"/>
              </a:solidFill>
              <a:latin typeface="微软雅黑"/>
              <a:ea typeface="微软雅黑"/>
              <a:cs typeface="微软雅黑"/>
            </a:endParaRPr>
          </a:p>
        </p:txBody>
      </p:sp>
      <p:sp>
        <p:nvSpPr>
          <p:cNvPr id="137" name="矩形 136"/>
          <p:cNvSpPr/>
          <p:nvPr/>
        </p:nvSpPr>
        <p:spPr>
          <a:xfrm>
            <a:off x="7935595" y="4869180"/>
            <a:ext cx="885190"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lstStyle/>
          <a:p>
            <a:pPr algn="ctr">
              <a:defRPr>
                <a:latin typeface="微软雅黑"/>
                <a:ea typeface="微软雅黑"/>
                <a:cs typeface="微软雅黑"/>
              </a:defRPr>
            </a:pPr>
            <a:r>
              <a:rPr lang="en-US" altLang="zh-CN" sz="1100">
                <a:solidFill>
                  <a:srgbClr val="383838"/>
                </a:solidFill>
                <a:latin typeface="微软雅黑"/>
                <a:ea typeface="微软雅黑"/>
                <a:cs typeface="微软雅黑"/>
              </a:rPr>
              <a:t>SeaTunnel</a:t>
            </a:r>
            <a:endParaRPr lang="en-US" altLang="zh-CN" sz="1100">
              <a:solidFill>
                <a:srgbClr val="383838"/>
              </a:solidFill>
              <a:latin typeface="微软雅黑"/>
              <a:ea typeface="微软雅黑"/>
              <a:cs typeface="微软雅黑"/>
            </a:endParaRPr>
          </a:p>
        </p:txBody>
      </p:sp>
      <p:sp>
        <p:nvSpPr>
          <p:cNvPr id="138" name="矩形 137"/>
          <p:cNvSpPr/>
          <p:nvPr/>
        </p:nvSpPr>
        <p:spPr>
          <a:xfrm>
            <a:off x="9229725" y="3394075"/>
            <a:ext cx="2472055" cy="1861820"/>
          </a:xfrm>
          <a:prstGeom prst="rect">
            <a:avLst/>
          </a:prstGeom>
          <a:solidFill>
            <a:srgbClr val="B3D4FE">
              <a:alpha val="10000"/>
            </a:srgbClr>
          </a:solidFill>
          <a:ln w="12700" cap="flat" cmpd="sng" algn="ctr">
            <a:solidFill>
              <a:srgbClr val="B3D4FE">
                <a:alpha val="50000"/>
              </a:srgbClr>
            </a:solidFill>
            <a:prstDash val="solid"/>
            <a:miter lim="800000"/>
          </a:ln>
          <a:effectLst/>
        </p:spPr>
        <p:txBody>
          <a:bodyPr vert="horz" wrap="square" lIns="91440" tIns="45720" rIns="91440" bIns="45720" rtlCol="0" anchor="ctr" anchorCtr="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39" name="文本框 138"/>
          <p:cNvSpPr txBox="1"/>
          <p:nvPr/>
        </p:nvSpPr>
        <p:spPr>
          <a:xfrm>
            <a:off x="9711373" y="3462655"/>
            <a:ext cx="1444625" cy="337185"/>
          </a:xfrm>
          <a:prstGeom prst="rect">
            <a:avLst/>
          </a:prstGeom>
          <a:noFill/>
        </p:spPr>
        <p:txBody>
          <a:bodyPr wrap="square" rtlCol="0">
            <a:sp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数据管理平台</a:t>
            </a:r>
            <a:endParaRPr lang="zh-CN" altLang="en-US" sz="1600" b="1">
              <a:solidFill>
                <a:srgbClr val="0042FF"/>
              </a:solidFill>
              <a:latin typeface="微软雅黑"/>
              <a:ea typeface="微软雅黑"/>
              <a:cs typeface="微软雅黑"/>
            </a:endParaRPr>
          </a:p>
        </p:txBody>
      </p:sp>
      <p:sp>
        <p:nvSpPr>
          <p:cNvPr id="140" name="矩形 139"/>
          <p:cNvSpPr/>
          <p:nvPr/>
        </p:nvSpPr>
        <p:spPr>
          <a:xfrm>
            <a:off x="9438005" y="3811905"/>
            <a:ext cx="2021840"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cs typeface="微软雅黑"/>
                <a:latin typeface="微软雅黑"/>
                <a:ea typeface="微软雅黑"/>
              </a:rPr>
              <a:t>数据标准化与统一指标库</a:t>
            </a:r>
            <a:endParaRPr lang="zh-CN" altLang="en-US" sz="1000">
              <a:solidFill>
                <a:srgbClr val="383838"/>
              </a:solidFill>
              <a:cs typeface="微软雅黑"/>
              <a:latin typeface="微软雅黑"/>
              <a:ea typeface="微软雅黑"/>
            </a:endParaRPr>
          </a:p>
        </p:txBody>
      </p:sp>
      <p:sp>
        <p:nvSpPr>
          <p:cNvPr id="143" name="矩形 142"/>
          <p:cNvSpPr/>
          <p:nvPr/>
        </p:nvSpPr>
        <p:spPr>
          <a:xfrm>
            <a:off x="9438005" y="4869180"/>
            <a:ext cx="100012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cs typeface="微软雅黑"/>
                <a:latin typeface="微软雅黑"/>
                <a:ea typeface="微软雅黑"/>
              </a:rPr>
              <a:t>自动化治理</a:t>
            </a:r>
            <a:endParaRPr lang="zh-CN" altLang="en-US" sz="1000">
              <a:solidFill>
                <a:srgbClr val="383838"/>
              </a:solidFill>
              <a:cs typeface="微软雅黑"/>
              <a:latin typeface="微软雅黑"/>
              <a:ea typeface="微软雅黑"/>
            </a:endParaRPr>
          </a:p>
        </p:txBody>
      </p:sp>
      <p:sp>
        <p:nvSpPr>
          <p:cNvPr id="144" name="矩形 143"/>
          <p:cNvSpPr/>
          <p:nvPr/>
        </p:nvSpPr>
        <p:spPr>
          <a:xfrm>
            <a:off x="10497185" y="4869180"/>
            <a:ext cx="95059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cs typeface="微软雅黑"/>
                <a:latin typeface="微软雅黑"/>
                <a:ea typeface="微软雅黑"/>
              </a:rPr>
              <a:t>数据服务化</a:t>
            </a:r>
            <a:endParaRPr lang="zh-CN" altLang="en-US" sz="1000">
              <a:solidFill>
                <a:srgbClr val="383838"/>
              </a:solidFill>
              <a:cs typeface="微软雅黑"/>
              <a:latin typeface="微软雅黑"/>
              <a:ea typeface="微软雅黑"/>
            </a:endParaRPr>
          </a:p>
        </p:txBody>
      </p:sp>
      <p:sp>
        <p:nvSpPr>
          <p:cNvPr id="145" name="矩形 144"/>
          <p:cNvSpPr/>
          <p:nvPr/>
        </p:nvSpPr>
        <p:spPr>
          <a:xfrm>
            <a:off x="9438005" y="4516120"/>
            <a:ext cx="100012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cs typeface="微软雅黑"/>
                <a:latin typeface="微软雅黑"/>
                <a:ea typeface="微软雅黑"/>
              </a:rPr>
              <a:t>数据血缘追踪</a:t>
            </a:r>
            <a:endParaRPr lang="zh-CN" altLang="en-US" sz="1000">
              <a:solidFill>
                <a:srgbClr val="383838"/>
              </a:solidFill>
              <a:cs typeface="微软雅黑"/>
              <a:latin typeface="微软雅黑"/>
              <a:ea typeface="微软雅黑"/>
            </a:endParaRPr>
          </a:p>
        </p:txBody>
      </p:sp>
      <p:sp>
        <p:nvSpPr>
          <p:cNvPr id="146" name="矩形 145"/>
          <p:cNvSpPr/>
          <p:nvPr/>
        </p:nvSpPr>
        <p:spPr>
          <a:xfrm>
            <a:off x="10497185" y="4516120"/>
            <a:ext cx="95059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cs typeface="微软雅黑"/>
                <a:latin typeface="微软雅黑"/>
                <a:ea typeface="微软雅黑"/>
              </a:rPr>
              <a:t>权限精细管控</a:t>
            </a:r>
            <a:endParaRPr lang="zh-CN" altLang="en-US" sz="1000">
              <a:solidFill>
                <a:srgbClr val="383838"/>
              </a:solidFill>
              <a:cs typeface="微软雅黑"/>
              <a:latin typeface="微软雅黑"/>
              <a:ea typeface="微软雅黑"/>
            </a:endParaRPr>
          </a:p>
        </p:txBody>
      </p:sp>
      <p:sp>
        <p:nvSpPr>
          <p:cNvPr id="154" name="矩形 153"/>
          <p:cNvSpPr/>
          <p:nvPr/>
        </p:nvSpPr>
        <p:spPr>
          <a:xfrm>
            <a:off x="9438005" y="4159885"/>
            <a:ext cx="100012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cs typeface="微软雅黑"/>
                <a:latin typeface="微软雅黑"/>
                <a:ea typeface="微软雅黑"/>
              </a:rPr>
              <a:t>数据质量管理</a:t>
            </a:r>
            <a:endParaRPr lang="zh-CN" altLang="en-US" sz="1000">
              <a:solidFill>
                <a:srgbClr val="383838"/>
              </a:solidFill>
              <a:cs typeface="微软雅黑"/>
              <a:latin typeface="微软雅黑"/>
              <a:ea typeface="微软雅黑"/>
            </a:endParaRPr>
          </a:p>
        </p:txBody>
      </p:sp>
      <p:sp>
        <p:nvSpPr>
          <p:cNvPr id="155" name="矩形 154"/>
          <p:cNvSpPr/>
          <p:nvPr/>
        </p:nvSpPr>
        <p:spPr>
          <a:xfrm>
            <a:off x="10497185" y="4159885"/>
            <a:ext cx="950595" cy="289560"/>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cs typeface="微软雅黑"/>
                <a:latin typeface="微软雅黑"/>
                <a:ea typeface="微软雅黑"/>
              </a:rPr>
              <a:t>元数据管理</a:t>
            </a:r>
            <a:endParaRPr lang="zh-CN" altLang="en-US" sz="1000">
              <a:solidFill>
                <a:srgbClr val="383838"/>
              </a:solidFill>
              <a:cs typeface="微软雅黑"/>
              <a:latin typeface="微软雅黑"/>
              <a:ea typeface="微软雅黑"/>
            </a:endParaRPr>
          </a:p>
        </p:txBody>
      </p:sp>
      <p:sp>
        <p:nvSpPr>
          <p:cNvPr id="240" name="右箭头 239"/>
          <p:cNvSpPr/>
          <p:nvPr/>
        </p:nvSpPr>
        <p:spPr>
          <a:xfrm rot="16200000" flipV="1">
            <a:off x="2522220" y="5231130"/>
            <a:ext cx="435610" cy="483870"/>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nvGrpSpPr>
          <p:cNvPr id="174" name="组合 173"/>
          <p:cNvGrpSpPr/>
          <p:nvPr/>
        </p:nvGrpSpPr>
        <p:grpSpPr>
          <a:xfrm>
            <a:off x="3419475" y="3422015"/>
            <a:ext cx="1123315" cy="1663700"/>
            <a:chOff x="5315" y="5389"/>
            <a:chExt cx="1769" cy="2620"/>
          </a:xfrm>
        </p:grpSpPr>
        <p:sp>
          <p:nvSpPr>
            <p:cNvPr id="170" name="文本框 169"/>
            <p:cNvSpPr txBox="1"/>
            <p:nvPr/>
          </p:nvSpPr>
          <p:spPr>
            <a:xfrm>
              <a:off x="5315" y="7575"/>
              <a:ext cx="1521" cy="434"/>
            </a:xfrm>
            <a:prstGeom prst="rect">
              <a:avLst/>
            </a:prstGeom>
            <a:noFill/>
          </p:spPr>
          <p:txBody>
            <a:bodyPr wrap="square" rtlCol="0">
              <a:spAutoFit/>
            </a:bodyPr>
            <a:lstStyle/>
            <a:p>
              <a:pPr algn="ctr">
                <a:defRPr>
                  <a:latin typeface="微软雅黑"/>
                  <a:ea typeface="微软雅黑"/>
                  <a:cs typeface="微软雅黑"/>
                </a:defRPr>
              </a:pPr>
              <a:r>
                <a:rPr lang="zh-CN" altLang="en-US" sz="1200">
                  <a:solidFill>
                    <a:srgbClr val="383838"/>
                  </a:solidFill>
                  <a:latin typeface="微软雅黑"/>
                  <a:ea typeface="微软雅黑"/>
                  <a:cs typeface="微软雅黑"/>
                </a:rPr>
                <a:t>操作层数据</a:t>
              </a:r>
              <a:endParaRPr lang="zh-CN" altLang="en-US" sz="1200">
                <a:solidFill>
                  <a:srgbClr val="383838"/>
                </a:solidFill>
                <a:latin typeface="微软雅黑"/>
                <a:ea typeface="微软雅黑"/>
                <a:cs typeface="微软雅黑"/>
              </a:endParaRPr>
            </a:p>
          </p:txBody>
        </p:sp>
        <p:sp>
          <p:nvSpPr>
            <p:cNvPr id="171" name="文本框 170"/>
            <p:cNvSpPr txBox="1"/>
            <p:nvPr/>
          </p:nvSpPr>
          <p:spPr>
            <a:xfrm>
              <a:off x="5315" y="6510"/>
              <a:ext cx="1769" cy="434"/>
            </a:xfrm>
            <a:prstGeom prst="rect">
              <a:avLst/>
            </a:prstGeom>
            <a:noFill/>
          </p:spPr>
          <p:txBody>
            <a:bodyPr wrap="square" rtlCol="0">
              <a:spAutoFit/>
            </a:bodyPr>
            <a:lstStyle/>
            <a:p>
              <a:pPr>
                <a:defRPr>
                  <a:latin typeface="微软雅黑"/>
                  <a:ea typeface="微软雅黑"/>
                  <a:cs typeface="微软雅黑"/>
                </a:defRPr>
              </a:pPr>
              <a:r>
                <a:rPr lang="zh-CN" altLang="en-US" sz="1200">
                  <a:solidFill>
                    <a:srgbClr val="383838"/>
                  </a:solidFill>
                  <a:latin typeface="微软雅黑"/>
                  <a:ea typeface="微软雅黑"/>
                  <a:cs typeface="微软雅黑"/>
                </a:rPr>
                <a:t>经营板块数据</a:t>
              </a:r>
              <a:endParaRPr lang="zh-CN" altLang="en-US" sz="1200">
                <a:solidFill>
                  <a:srgbClr val="383838"/>
                </a:solidFill>
                <a:latin typeface="微软雅黑"/>
                <a:ea typeface="微软雅黑"/>
                <a:cs typeface="微软雅黑"/>
              </a:endParaRPr>
            </a:p>
          </p:txBody>
        </p:sp>
        <p:sp>
          <p:nvSpPr>
            <p:cNvPr id="173" name="文本框 172"/>
            <p:cNvSpPr txBox="1"/>
            <p:nvPr/>
          </p:nvSpPr>
          <p:spPr>
            <a:xfrm>
              <a:off x="5315" y="5389"/>
              <a:ext cx="1759" cy="434"/>
            </a:xfrm>
            <a:prstGeom prst="rect">
              <a:avLst/>
            </a:prstGeom>
            <a:noFill/>
          </p:spPr>
          <p:txBody>
            <a:bodyPr wrap="square" rtlCol="0">
              <a:spAutoFit/>
            </a:bodyPr>
            <a:lstStyle/>
            <a:p>
              <a:pPr>
                <a:defRPr>
                  <a:latin typeface="微软雅黑"/>
                  <a:ea typeface="微软雅黑"/>
                  <a:cs typeface="微软雅黑"/>
                </a:defRPr>
              </a:pPr>
              <a:r>
                <a:rPr lang="zh-CN" altLang="en-US" sz="1200">
                  <a:solidFill>
                    <a:srgbClr val="383838"/>
                  </a:solidFill>
                  <a:latin typeface="微软雅黑"/>
                  <a:ea typeface="微软雅黑"/>
                  <a:cs typeface="微软雅黑"/>
                </a:rPr>
                <a:t>合并统筹数据</a:t>
              </a:r>
              <a:endParaRPr lang="zh-CN" altLang="en-US" sz="1200">
                <a:solidFill>
                  <a:srgbClr val="383838"/>
                </a:solidFill>
                <a:latin typeface="微软雅黑"/>
                <a:ea typeface="微软雅黑"/>
                <a:cs typeface="微软雅黑"/>
              </a:endParaRPr>
            </a:p>
          </p:txBody>
        </p:sp>
      </p:grpSp>
      <p:sp>
        <p:nvSpPr>
          <p:cNvPr id="192" name="右箭头 191"/>
          <p:cNvSpPr/>
          <p:nvPr/>
        </p:nvSpPr>
        <p:spPr>
          <a:xfrm rot="16200000" flipV="1">
            <a:off x="6398895" y="5231130"/>
            <a:ext cx="435610" cy="483870"/>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93" name="右箭头 192"/>
          <p:cNvSpPr/>
          <p:nvPr/>
        </p:nvSpPr>
        <p:spPr>
          <a:xfrm rot="16200000" flipV="1">
            <a:off x="10132695" y="5231130"/>
            <a:ext cx="435610" cy="483870"/>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cxnSp>
        <p:nvCxnSpPr>
          <p:cNvPr id="400" name="显眼包PPT13"/>
          <p:cNvCxnSpPr/>
          <p:nvPr/>
        </p:nvCxnSpPr>
        <p:spPr>
          <a:xfrm flipH="1">
            <a:off x="288417" y="5692297"/>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408" name="显眼包PPT19"/>
          <p:cNvCxnSpPr/>
          <p:nvPr/>
        </p:nvCxnSpPr>
        <p:spPr>
          <a:xfrm flipV="1">
            <a:off x="589781" y="5805867"/>
            <a:ext cx="0" cy="688535"/>
          </a:xfrm>
          <a:prstGeom prst="line">
            <a:avLst/>
          </a:prstGeom>
          <a:ln w="15875" cap="rnd">
            <a:gradFill flip="none" rotWithShape="1">
              <a:gsLst>
                <a:gs pos="0">
                  <a:srgbClr val="0042FF">
                    <a:alpha val="0"/>
                  </a:srgbClr>
                </a:gs>
                <a:gs pos="100000">
                  <a:srgbClr val="0042FF"/>
                </a:gs>
              </a:gsLst>
              <a:path path="circle">
                <a:fillToRect l="50000" t="50000" r="50000" b="50000"/>
              </a:path>
              <a:tileRect/>
            </a:gradFill>
            <a:prstDash val="sysDot"/>
            <a:round/>
          </a:ln>
        </p:spPr>
        <p:style>
          <a:lnRef idx="1">
            <a:srgbClr val="0042FF"/>
          </a:lnRef>
          <a:fillRef idx="0">
            <a:srgbClr val="0042FF"/>
          </a:fillRef>
          <a:effectRef idx="0">
            <a:srgbClr val="0042FF"/>
          </a:effectRef>
          <a:fontRef idx="minor">
            <a:srgbClr val="383838"/>
          </a:fontRef>
        </p:style>
      </p:cxnSp>
      <p:sp>
        <p:nvSpPr>
          <p:cNvPr id="11" name="显眼包PPT20"/>
          <p:cNvSpPr txBox="1"/>
          <p:nvPr/>
        </p:nvSpPr>
        <p:spPr>
          <a:xfrm>
            <a:off x="307653" y="6073861"/>
            <a:ext cx="564257" cy="168910"/>
          </a:xfrm>
          <a:prstGeom prst="rect">
            <a:avLst/>
          </a:prstGeom>
          <a:solidFill>
            <a:srgbClr val="FFFFFF"/>
          </a:solidFill>
          <a:effectLst/>
        </p:spPr>
        <p:txBody>
          <a:bodyPr wrap="square" lIns="0" tIns="0" rIns="0" bIns="0" rtlCol="0">
            <a:sp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sym typeface="微软雅黑"/>
              </a:rPr>
              <a:t>数据处理</a:t>
            </a:r>
            <a:endParaRPr lang="zh-CN" altLang="en-US" sz="1100" dirty="0">
              <a:solidFill>
                <a:srgbClr val="0042FF"/>
              </a:solidFill>
              <a:latin typeface="微软雅黑"/>
              <a:ea typeface="微软雅黑"/>
              <a:cs typeface="微软雅黑"/>
              <a:sym typeface="微软雅黑"/>
            </a:endParaRPr>
          </a:p>
        </p:txBody>
      </p:sp>
      <p:sp>
        <p:nvSpPr>
          <p:cNvPr id="14" name="显眼包PPT21"/>
          <p:cNvSpPr/>
          <p:nvPr/>
        </p:nvSpPr>
        <p:spPr>
          <a:xfrm>
            <a:off x="944245" y="5692140"/>
            <a:ext cx="10879455" cy="932180"/>
          </a:xfrm>
          <a:prstGeom prst="rect">
            <a:avLst/>
          </a:prstGeom>
          <a:gradFill>
            <a:gsLst>
              <a:gs pos="0">
                <a:srgbClr val="3368FF"/>
              </a:gs>
              <a:gs pos="100000">
                <a:srgbClr val="0042FF"/>
              </a:gs>
            </a:gsLst>
            <a:lin ang="4800000" scaled="0"/>
          </a:gradFill>
          <a:ln>
            <a:solidFill>
              <a:srgbClr val="0042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 name="显眼包PPT22"/>
          <p:cNvSpPr/>
          <p:nvPr/>
        </p:nvSpPr>
        <p:spPr>
          <a:xfrm>
            <a:off x="943610" y="5476240"/>
            <a:ext cx="10879455" cy="215900"/>
          </a:xfrm>
          <a:prstGeom prst="trapezoid">
            <a:avLst>
              <a:gd name="adj" fmla="val 123909"/>
            </a:avLst>
          </a:prstGeom>
          <a:gradFill flip="none" rotWithShape="1">
            <a:gsLst>
              <a:gs pos="17000">
                <a:srgbClr val="E6E6E6">
                  <a:alpha val="0"/>
                </a:srgbClr>
              </a:gs>
              <a:gs pos="100000">
                <a:srgbClr val="E6E6E6">
                  <a:alpha val="71000"/>
                </a:srgbClr>
              </a:gs>
            </a:gsLst>
            <a:lin ang="5400000" scaled="1"/>
            <a:tileRect/>
          </a:gradFill>
          <a:ln w="9525" cap="rnd">
            <a:gradFill>
              <a:gsLst>
                <a:gs pos="0">
                  <a:srgbClr val="3368FF">
                    <a:alpha val="0"/>
                  </a:srgbClr>
                </a:gs>
                <a:gs pos="100000">
                  <a:srgbClr val="3368FF"/>
                </a:gs>
              </a:gsLst>
              <a:lin ang="5400000" scaled="1"/>
            </a:gradFill>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grpSp>
        <p:nvGrpSpPr>
          <p:cNvPr id="29" name="组合 28"/>
          <p:cNvGrpSpPr/>
          <p:nvPr/>
        </p:nvGrpSpPr>
        <p:grpSpPr>
          <a:xfrm>
            <a:off x="1252220" y="5810250"/>
            <a:ext cx="2084313" cy="668655"/>
            <a:chOff x="1719" y="9156"/>
            <a:chExt cx="2373" cy="1053"/>
          </a:xfrm>
        </p:grpSpPr>
        <p:sp>
          <p:nvSpPr>
            <p:cNvPr id="4" name="显眼包PPT-1"/>
            <p:cNvSpPr/>
            <p:nvPr/>
          </p:nvSpPr>
          <p:spPr>
            <a:xfrm>
              <a:off x="1719" y="9156"/>
              <a:ext cx="2372" cy="496"/>
            </a:xfrm>
            <a:prstGeom prst="rect">
              <a:avLst/>
            </a:prstGeom>
            <a:gradFill>
              <a:gsLst>
                <a:gs pos="62000">
                  <a:srgbClr val="FFFFFF">
                    <a:alpha val="70000"/>
                  </a:srgbClr>
                </a:gs>
                <a:gs pos="20000">
                  <a:srgbClr val="FFFFFF"/>
                </a:gs>
                <a:gs pos="89000">
                  <a:srgbClr val="FFFFFF"/>
                </a:gs>
              </a:gsLst>
              <a:lin ang="2700000" scaled="1"/>
            </a:gra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r>
                <a:rPr lang="en-US" altLang="zh-CN" sz="1400" b="1" dirty="0">
                  <a:solidFill>
                    <a:srgbClr val="0042FF"/>
                  </a:solidFill>
                  <a:latin typeface="微软雅黑"/>
                  <a:ea typeface="微软雅黑"/>
                  <a:cs typeface="微软雅黑"/>
                </a:rPr>
                <a:t>   </a:t>
              </a:r>
              <a:r>
                <a:rPr lang="zh-CN" altLang="en-US" sz="1400" b="1" dirty="0">
                  <a:solidFill>
                    <a:srgbClr val="0042FF"/>
                  </a:solidFill>
                  <a:latin typeface="微软雅黑"/>
                  <a:ea typeface="微软雅黑"/>
                  <a:cs typeface="微软雅黑"/>
                </a:rPr>
                <a:t>销售系统</a:t>
              </a:r>
              <a:endParaRPr lang="zh-CN" altLang="en-US" sz="1400" b="1" dirty="0">
                <a:solidFill>
                  <a:srgbClr val="0042FF"/>
                </a:solidFill>
                <a:latin typeface="微软雅黑"/>
                <a:ea typeface="微软雅黑"/>
                <a:cs typeface="微软雅黑"/>
              </a:endParaRPr>
            </a:p>
          </p:txBody>
        </p:sp>
        <p:sp>
          <p:nvSpPr>
            <p:cNvPr id="333" name="显眼包PPT-30"/>
            <p:cNvSpPr/>
            <p:nvPr/>
          </p:nvSpPr>
          <p:spPr>
            <a:xfrm>
              <a:off x="1719" y="9760"/>
              <a:ext cx="1157" cy="430"/>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Salesforce</a:t>
              </a:r>
              <a:endParaRPr lang="en-US" altLang="zh-CN" sz="1000" dirty="0">
                <a:solidFill>
                  <a:srgbClr val="383838"/>
                </a:solidFill>
                <a:latin typeface="微软雅黑"/>
                <a:ea typeface="微软雅黑"/>
                <a:cs typeface="微软雅黑"/>
              </a:endParaRPr>
            </a:p>
          </p:txBody>
        </p:sp>
        <p:sp>
          <p:nvSpPr>
            <p:cNvPr id="27" name="显眼包PPT-30"/>
            <p:cNvSpPr/>
            <p:nvPr/>
          </p:nvSpPr>
          <p:spPr>
            <a:xfrm>
              <a:off x="2935" y="9760"/>
              <a:ext cx="1157" cy="449"/>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Shopify</a:t>
              </a:r>
              <a:endParaRPr lang="en-US" altLang="zh-CN" sz="1000" dirty="0">
                <a:solidFill>
                  <a:srgbClr val="383838"/>
                </a:solidFill>
                <a:latin typeface="微软雅黑"/>
                <a:ea typeface="微软雅黑"/>
                <a:cs typeface="微软雅黑"/>
              </a:endParaRPr>
            </a:p>
          </p:txBody>
        </p:sp>
      </p:grpSp>
      <p:grpSp>
        <p:nvGrpSpPr>
          <p:cNvPr id="69" name="组合 68"/>
          <p:cNvGrpSpPr/>
          <p:nvPr/>
        </p:nvGrpSpPr>
        <p:grpSpPr>
          <a:xfrm>
            <a:off x="3953753" y="5810250"/>
            <a:ext cx="2084070" cy="668655"/>
            <a:chOff x="1719" y="9156"/>
            <a:chExt cx="2373" cy="1053"/>
          </a:xfrm>
        </p:grpSpPr>
        <p:sp>
          <p:nvSpPr>
            <p:cNvPr id="70" name="显眼包PPT-1"/>
            <p:cNvSpPr/>
            <p:nvPr/>
          </p:nvSpPr>
          <p:spPr>
            <a:xfrm>
              <a:off x="1719" y="9156"/>
              <a:ext cx="2372" cy="496"/>
            </a:xfrm>
            <a:prstGeom prst="rect">
              <a:avLst/>
            </a:prstGeom>
            <a:gradFill>
              <a:gsLst>
                <a:gs pos="62000">
                  <a:srgbClr val="FFFFFF">
                    <a:alpha val="70000"/>
                  </a:srgbClr>
                </a:gs>
                <a:gs pos="20000">
                  <a:srgbClr val="FFFFFF"/>
                </a:gs>
                <a:gs pos="89000">
                  <a:srgbClr val="FFFFFF"/>
                </a:gs>
              </a:gsLst>
              <a:lin ang="2700000" scaled="1"/>
            </a:gra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r>
                <a:rPr lang="zh-CN" sz="1400" b="1" dirty="0">
                  <a:solidFill>
                    <a:srgbClr val="0042FF"/>
                  </a:solidFill>
                  <a:latin typeface="微软雅黑"/>
                  <a:ea typeface="微软雅黑"/>
                  <a:cs typeface="微软雅黑"/>
                </a:rPr>
                <a:t>人力管理系统</a:t>
              </a:r>
              <a:endParaRPr lang="zh-CN" sz="1400" b="1" dirty="0">
                <a:solidFill>
                  <a:srgbClr val="0042FF"/>
                </a:solidFill>
                <a:latin typeface="微软雅黑"/>
                <a:ea typeface="微软雅黑"/>
                <a:cs typeface="微软雅黑"/>
              </a:endParaRPr>
            </a:p>
          </p:txBody>
        </p:sp>
        <p:sp>
          <p:nvSpPr>
            <p:cNvPr id="75" name="显眼包PPT-30"/>
            <p:cNvSpPr/>
            <p:nvPr/>
          </p:nvSpPr>
          <p:spPr>
            <a:xfrm>
              <a:off x="1719" y="9760"/>
              <a:ext cx="1157" cy="430"/>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Workday</a:t>
              </a:r>
              <a:endParaRPr lang="en-US" altLang="zh-CN" sz="1000" dirty="0">
                <a:solidFill>
                  <a:srgbClr val="383838"/>
                </a:solidFill>
                <a:latin typeface="微软雅黑"/>
                <a:ea typeface="微软雅黑"/>
                <a:cs typeface="微软雅黑"/>
              </a:endParaRPr>
            </a:p>
          </p:txBody>
        </p:sp>
        <p:sp>
          <p:nvSpPr>
            <p:cNvPr id="76" name="显眼包PPT-30"/>
            <p:cNvSpPr/>
            <p:nvPr/>
          </p:nvSpPr>
          <p:spPr>
            <a:xfrm>
              <a:off x="2935" y="9760"/>
              <a:ext cx="1157" cy="449"/>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钉钉系统</a:t>
              </a:r>
              <a:endParaRPr lang="zh-CN" altLang="en-US" sz="1000" dirty="0">
                <a:solidFill>
                  <a:srgbClr val="383838"/>
                </a:solidFill>
                <a:latin typeface="微软雅黑"/>
                <a:ea typeface="微软雅黑"/>
                <a:cs typeface="微软雅黑"/>
              </a:endParaRPr>
            </a:p>
          </p:txBody>
        </p:sp>
      </p:grpSp>
      <p:grpSp>
        <p:nvGrpSpPr>
          <p:cNvPr id="81" name="组合 80"/>
          <p:cNvGrpSpPr/>
          <p:nvPr/>
        </p:nvGrpSpPr>
        <p:grpSpPr>
          <a:xfrm>
            <a:off x="6655043" y="5810250"/>
            <a:ext cx="2084070" cy="668655"/>
            <a:chOff x="1719" y="9156"/>
            <a:chExt cx="2373" cy="1053"/>
          </a:xfrm>
        </p:grpSpPr>
        <p:sp>
          <p:nvSpPr>
            <p:cNvPr id="82" name="显眼包PPT-1"/>
            <p:cNvSpPr/>
            <p:nvPr/>
          </p:nvSpPr>
          <p:spPr>
            <a:xfrm>
              <a:off x="1719" y="9156"/>
              <a:ext cx="2372" cy="496"/>
            </a:xfrm>
            <a:prstGeom prst="rect">
              <a:avLst/>
            </a:prstGeom>
            <a:gradFill>
              <a:gsLst>
                <a:gs pos="62000">
                  <a:srgbClr val="FFFFFF">
                    <a:alpha val="70000"/>
                  </a:srgbClr>
                </a:gs>
                <a:gs pos="20000">
                  <a:srgbClr val="FFFFFF"/>
                </a:gs>
                <a:gs pos="89000">
                  <a:srgbClr val="FFFFFF"/>
                </a:gs>
              </a:gsLst>
              <a:lin ang="2700000" scaled="1"/>
            </a:gra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r>
                <a:rPr lang="zh-CN" sz="1400" b="1" dirty="0">
                  <a:solidFill>
                    <a:srgbClr val="0042FF"/>
                  </a:solidFill>
                  <a:latin typeface="微软雅黑"/>
                  <a:ea typeface="微软雅黑"/>
                  <a:cs typeface="微软雅黑"/>
                </a:rPr>
                <a:t>供应链系统</a:t>
              </a:r>
              <a:endParaRPr lang="zh-CN" sz="1400" b="1" dirty="0">
                <a:solidFill>
                  <a:srgbClr val="0042FF"/>
                </a:solidFill>
                <a:latin typeface="微软雅黑"/>
                <a:ea typeface="微软雅黑"/>
                <a:cs typeface="微软雅黑"/>
              </a:endParaRPr>
            </a:p>
          </p:txBody>
        </p:sp>
        <p:sp>
          <p:nvSpPr>
            <p:cNvPr id="83" name="显眼包PPT-30"/>
            <p:cNvSpPr/>
            <p:nvPr/>
          </p:nvSpPr>
          <p:spPr>
            <a:xfrm>
              <a:off x="1719" y="9760"/>
              <a:ext cx="1157" cy="430"/>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JDA</a:t>
              </a:r>
              <a:r>
                <a:rPr lang="zh-CN" altLang="en-US" sz="1000" dirty="0">
                  <a:solidFill>
                    <a:srgbClr val="383838"/>
                  </a:solidFill>
                  <a:latin typeface="微软雅黑"/>
                  <a:ea typeface="微软雅黑"/>
                  <a:cs typeface="微软雅黑"/>
                </a:rPr>
                <a:t>系统</a:t>
              </a:r>
              <a:endParaRPr lang="zh-CN" altLang="en-US" sz="1000" dirty="0">
                <a:solidFill>
                  <a:srgbClr val="383838"/>
                </a:solidFill>
                <a:latin typeface="微软雅黑"/>
                <a:ea typeface="微软雅黑"/>
                <a:cs typeface="微软雅黑"/>
              </a:endParaRPr>
            </a:p>
          </p:txBody>
        </p:sp>
        <p:sp>
          <p:nvSpPr>
            <p:cNvPr id="84" name="显眼包PPT-30"/>
            <p:cNvSpPr/>
            <p:nvPr/>
          </p:nvSpPr>
          <p:spPr>
            <a:xfrm>
              <a:off x="2935" y="9760"/>
              <a:ext cx="1157" cy="449"/>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WMS</a:t>
              </a:r>
              <a:r>
                <a:rPr lang="zh-CN" altLang="en-US" sz="1000" dirty="0">
                  <a:solidFill>
                    <a:srgbClr val="383838"/>
                  </a:solidFill>
                  <a:latin typeface="微软雅黑"/>
                  <a:ea typeface="微软雅黑"/>
                  <a:cs typeface="微软雅黑"/>
                </a:rPr>
                <a:t>系统</a:t>
              </a:r>
              <a:endParaRPr lang="zh-CN" altLang="en-US" sz="1000" dirty="0">
                <a:solidFill>
                  <a:srgbClr val="383838"/>
                </a:solidFill>
                <a:latin typeface="微软雅黑"/>
                <a:ea typeface="微软雅黑"/>
                <a:cs typeface="微软雅黑"/>
              </a:endParaRPr>
            </a:p>
          </p:txBody>
        </p:sp>
      </p:grpSp>
      <p:grpSp>
        <p:nvGrpSpPr>
          <p:cNvPr id="85" name="组合 84"/>
          <p:cNvGrpSpPr/>
          <p:nvPr/>
        </p:nvGrpSpPr>
        <p:grpSpPr>
          <a:xfrm>
            <a:off x="9356333" y="5810250"/>
            <a:ext cx="2084070" cy="668655"/>
            <a:chOff x="1719" y="9156"/>
            <a:chExt cx="2373" cy="1053"/>
          </a:xfrm>
        </p:grpSpPr>
        <p:sp>
          <p:nvSpPr>
            <p:cNvPr id="86" name="显眼包PPT-1"/>
            <p:cNvSpPr/>
            <p:nvPr/>
          </p:nvSpPr>
          <p:spPr>
            <a:xfrm>
              <a:off x="1719" y="9156"/>
              <a:ext cx="2372" cy="496"/>
            </a:xfrm>
            <a:prstGeom prst="rect">
              <a:avLst/>
            </a:prstGeom>
            <a:gradFill>
              <a:gsLst>
                <a:gs pos="62000">
                  <a:srgbClr val="FFFFFF">
                    <a:alpha val="70000"/>
                  </a:srgbClr>
                </a:gs>
                <a:gs pos="20000">
                  <a:srgbClr val="FFFFFF"/>
                </a:gs>
                <a:gs pos="89000">
                  <a:srgbClr val="FFFFFF"/>
                </a:gs>
              </a:gsLst>
              <a:lin ang="2700000" scaled="1"/>
            </a:gra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r>
                <a:rPr lang="zh-CN" sz="1400" b="1" dirty="0">
                  <a:solidFill>
                    <a:srgbClr val="0042FF"/>
                  </a:solidFill>
                  <a:latin typeface="微软雅黑"/>
                  <a:ea typeface="微软雅黑"/>
                  <a:cs typeface="微软雅黑"/>
                </a:rPr>
                <a:t>财务管理系统</a:t>
              </a:r>
              <a:endParaRPr lang="zh-CN" sz="1400" b="1" dirty="0">
                <a:solidFill>
                  <a:srgbClr val="0042FF"/>
                </a:solidFill>
                <a:latin typeface="微软雅黑"/>
                <a:ea typeface="微软雅黑"/>
                <a:cs typeface="微软雅黑"/>
              </a:endParaRPr>
            </a:p>
          </p:txBody>
        </p:sp>
        <p:sp>
          <p:nvSpPr>
            <p:cNvPr id="87" name="显眼包PPT-30"/>
            <p:cNvSpPr/>
            <p:nvPr/>
          </p:nvSpPr>
          <p:spPr>
            <a:xfrm>
              <a:off x="1719" y="9760"/>
              <a:ext cx="1157" cy="430"/>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NC</a:t>
              </a:r>
              <a:r>
                <a:rPr lang="zh-CN" altLang="en-US" sz="1000" dirty="0">
                  <a:solidFill>
                    <a:srgbClr val="383838"/>
                  </a:solidFill>
                  <a:latin typeface="微软雅黑"/>
                  <a:ea typeface="微软雅黑"/>
                  <a:cs typeface="微软雅黑"/>
                </a:rPr>
                <a:t>系统</a:t>
              </a:r>
              <a:endParaRPr lang="zh-CN" altLang="en-US" sz="1000" dirty="0">
                <a:solidFill>
                  <a:srgbClr val="383838"/>
                </a:solidFill>
                <a:latin typeface="微软雅黑"/>
                <a:ea typeface="微软雅黑"/>
                <a:cs typeface="微软雅黑"/>
              </a:endParaRPr>
            </a:p>
          </p:txBody>
        </p:sp>
        <p:sp>
          <p:nvSpPr>
            <p:cNvPr id="88" name="显眼包PPT-30"/>
            <p:cNvSpPr/>
            <p:nvPr/>
          </p:nvSpPr>
          <p:spPr>
            <a:xfrm>
              <a:off x="2935" y="9760"/>
              <a:ext cx="1157" cy="449"/>
            </a:xfrm>
            <a:prstGeom prst="roundRect">
              <a:avLst>
                <a:gd name="adj" fmla="val 0"/>
              </a:avLst>
            </a:prstGeom>
            <a:solidFill>
              <a:srgbClr val="FFFFFF">
                <a:alpha val="80000"/>
              </a:srgbClr>
            </a:solidFill>
            <a:ln w="6350">
              <a:solidFill>
                <a:srgbClr val="3368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SAP</a:t>
              </a:r>
              <a:r>
                <a:rPr lang="zh-CN" altLang="en-US" sz="1000" dirty="0">
                  <a:solidFill>
                    <a:srgbClr val="383838"/>
                  </a:solidFill>
                  <a:latin typeface="微软雅黑"/>
                  <a:ea typeface="微软雅黑"/>
                  <a:cs typeface="微软雅黑"/>
                </a:rPr>
                <a:t>系统</a:t>
              </a:r>
              <a:endParaRPr lang="zh-CN" altLang="en-US" sz="1000" dirty="0">
                <a:solidFill>
                  <a:srgbClr val="383838"/>
                </a:solidFill>
                <a:latin typeface="微软雅黑"/>
                <a:ea typeface="微软雅黑"/>
                <a:cs typeface="微软雅黑"/>
              </a:endParaRPr>
            </a:p>
          </p:txBody>
        </p:sp>
      </p:grpSp>
      <p:cxnSp>
        <p:nvCxnSpPr>
          <p:cNvPr id="94" name="显眼包PPT13"/>
          <p:cNvCxnSpPr/>
          <p:nvPr/>
        </p:nvCxnSpPr>
        <p:spPr>
          <a:xfrm flipH="1">
            <a:off x="269367" y="6624477"/>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97" name="显眼包PPT13"/>
          <p:cNvCxnSpPr/>
          <p:nvPr/>
        </p:nvCxnSpPr>
        <p:spPr>
          <a:xfrm flipH="1">
            <a:off x="269367" y="2797332"/>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98" name="显眼包PPT19"/>
          <p:cNvCxnSpPr/>
          <p:nvPr/>
        </p:nvCxnSpPr>
        <p:spPr>
          <a:xfrm flipV="1">
            <a:off x="589781" y="2879347"/>
            <a:ext cx="0" cy="2676525"/>
          </a:xfrm>
          <a:prstGeom prst="line">
            <a:avLst/>
          </a:prstGeom>
          <a:ln w="15875" cap="rnd">
            <a:gradFill flip="none" rotWithShape="1">
              <a:gsLst>
                <a:gs pos="0">
                  <a:srgbClr val="0042FF">
                    <a:alpha val="0"/>
                  </a:srgbClr>
                </a:gs>
                <a:gs pos="100000">
                  <a:srgbClr val="0042FF"/>
                </a:gs>
              </a:gsLst>
              <a:path path="circle">
                <a:fillToRect l="50000" t="50000" r="50000" b="50000"/>
              </a:path>
              <a:tileRect/>
            </a:gradFill>
            <a:prstDash val="sysDot"/>
            <a:round/>
          </a:ln>
        </p:spPr>
        <p:style>
          <a:lnRef idx="1">
            <a:srgbClr val="0042FF"/>
          </a:lnRef>
          <a:fillRef idx="0">
            <a:srgbClr val="0042FF"/>
          </a:fillRef>
          <a:effectRef idx="0">
            <a:srgbClr val="0042FF"/>
          </a:effectRef>
          <a:fontRef idx="minor">
            <a:srgbClr val="383838"/>
          </a:fontRef>
        </p:style>
      </p:cxnSp>
      <p:sp>
        <p:nvSpPr>
          <p:cNvPr id="99" name="显眼包PPT20"/>
          <p:cNvSpPr txBox="1"/>
          <p:nvPr/>
        </p:nvSpPr>
        <p:spPr>
          <a:xfrm>
            <a:off x="307653" y="4070436"/>
            <a:ext cx="564257" cy="168910"/>
          </a:xfrm>
          <a:prstGeom prst="rect">
            <a:avLst/>
          </a:prstGeom>
          <a:solidFill>
            <a:srgbClr val="FFFFFF"/>
          </a:solidFill>
          <a:effectLst/>
        </p:spPr>
        <p:txBody>
          <a:bodyPr wrap="square" lIns="0" tIns="0" rIns="0" bIns="0" rtlCol="0">
            <a:sp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sym typeface="微软雅黑"/>
              </a:rPr>
              <a:t>功能模块</a:t>
            </a:r>
            <a:endParaRPr lang="zh-CN" altLang="en-US" sz="1100" dirty="0">
              <a:solidFill>
                <a:srgbClr val="0042FF"/>
              </a:solidFill>
              <a:latin typeface="微软雅黑"/>
              <a:ea typeface="微软雅黑"/>
              <a:cs typeface="微软雅黑"/>
              <a:sym typeface="微软雅黑"/>
            </a:endParaRPr>
          </a:p>
        </p:txBody>
      </p:sp>
      <p:cxnSp>
        <p:nvCxnSpPr>
          <p:cNvPr id="100" name="显眼包PPT13"/>
          <p:cNvCxnSpPr/>
          <p:nvPr/>
        </p:nvCxnSpPr>
        <p:spPr>
          <a:xfrm flipH="1">
            <a:off x="303022" y="1485422"/>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101" name="显眼包PPT19"/>
          <p:cNvCxnSpPr/>
          <p:nvPr/>
        </p:nvCxnSpPr>
        <p:spPr>
          <a:xfrm flipV="1">
            <a:off x="589781" y="1530607"/>
            <a:ext cx="0" cy="1111250"/>
          </a:xfrm>
          <a:prstGeom prst="line">
            <a:avLst/>
          </a:prstGeom>
          <a:ln w="15875" cap="rnd">
            <a:gradFill flip="none" rotWithShape="1">
              <a:gsLst>
                <a:gs pos="0">
                  <a:srgbClr val="0042FF">
                    <a:alpha val="0"/>
                  </a:srgbClr>
                </a:gs>
                <a:gs pos="100000">
                  <a:srgbClr val="0042FF"/>
                </a:gs>
              </a:gsLst>
              <a:path path="circle">
                <a:fillToRect l="50000" t="50000" r="50000" b="50000"/>
              </a:path>
              <a:tileRect/>
            </a:gradFill>
            <a:prstDash val="sysDot"/>
            <a:round/>
          </a:ln>
        </p:spPr>
        <p:style>
          <a:lnRef idx="1">
            <a:srgbClr val="0042FF"/>
          </a:lnRef>
          <a:fillRef idx="0">
            <a:srgbClr val="0042FF"/>
          </a:fillRef>
          <a:effectRef idx="0">
            <a:srgbClr val="0042FF"/>
          </a:effectRef>
          <a:fontRef idx="minor">
            <a:srgbClr val="383838"/>
          </a:fontRef>
        </p:style>
      </p:cxnSp>
      <p:sp>
        <p:nvSpPr>
          <p:cNvPr id="102" name="显眼包PPT20"/>
          <p:cNvSpPr txBox="1"/>
          <p:nvPr/>
        </p:nvSpPr>
        <p:spPr>
          <a:xfrm>
            <a:off x="307653" y="1953346"/>
            <a:ext cx="564257" cy="168910"/>
          </a:xfrm>
          <a:prstGeom prst="rect">
            <a:avLst/>
          </a:prstGeom>
          <a:solidFill>
            <a:srgbClr val="FFFFFF"/>
          </a:solidFill>
          <a:effectLst/>
        </p:spPr>
        <p:txBody>
          <a:bodyPr wrap="square" lIns="0" tIns="0" rIns="0" bIns="0" rtlCol="0">
            <a:sp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sym typeface="微软雅黑"/>
              </a:rPr>
              <a:t>报表构成</a:t>
            </a:r>
            <a:endParaRPr lang="zh-CN" altLang="en-US" sz="1100" dirty="0">
              <a:solidFill>
                <a:srgbClr val="0042FF"/>
              </a:solidFill>
              <a:latin typeface="微软雅黑"/>
              <a:ea typeface="微软雅黑"/>
              <a:cs typeface="微软雅黑"/>
              <a:sym typeface="微软雅黑"/>
            </a:endParaRPr>
          </a:p>
        </p:txBody>
      </p:sp>
      <p:grpSp>
        <p:nvGrpSpPr>
          <p:cNvPr id="7" name="组合 6"/>
          <p:cNvGrpSpPr/>
          <p:nvPr/>
        </p:nvGrpSpPr>
        <p:grpSpPr>
          <a:xfrm>
            <a:off x="7675245" y="347980"/>
            <a:ext cx="4588510" cy="367030"/>
            <a:chOff x="12087" y="-1089"/>
            <a:chExt cx="7226" cy="578"/>
          </a:xfrm>
        </p:grpSpPr>
        <p:pic>
          <p:nvPicPr>
            <p:cNvPr id="2" name="图片 1"/>
            <p:cNvPicPr>
              <a:picLocks noChangeAspect="1"/>
            </p:cNvPicPr>
            <p:nvPr userDrawn="1"/>
          </p:nvPicPr>
          <p:blipFill>
            <a:blip r:embed="rId4"/>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数智运营体系框架模型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50" name="Google Shape;450;p24"/>
          <p:cNvSpPr/>
          <p:nvPr/>
        </p:nvSpPr>
        <p:spPr>
          <a:xfrm>
            <a:off x="878205" y="1024890"/>
            <a:ext cx="10761345" cy="635635"/>
          </a:xfrm>
          <a:custGeom>
            <a:avLst/>
            <a:gdLst/>
            <a:ahLst/>
            <a:cxnLst/>
            <a:rect l="l" t="t" r="r" b="b"/>
            <a:pathLst>
              <a:path w="21588" h="21575" extrusionOk="0">
                <a:moveTo>
                  <a:pt x="109" y="19963"/>
                </a:moveTo>
                <a:cubicBezTo>
                  <a:pt x="41" y="20039"/>
                  <a:pt x="-6" y="20418"/>
                  <a:pt x="0" y="20836"/>
                </a:cubicBezTo>
                <a:cubicBezTo>
                  <a:pt x="7" y="21266"/>
                  <a:pt x="68" y="21590"/>
                  <a:pt x="139" y="21574"/>
                </a:cubicBezTo>
                <a:lnTo>
                  <a:pt x="21476" y="21515"/>
                </a:lnTo>
                <a:cubicBezTo>
                  <a:pt x="21535" y="21473"/>
                  <a:pt x="21581" y="21191"/>
                  <a:pt x="21587" y="20835"/>
                </a:cubicBezTo>
                <a:cubicBezTo>
                  <a:pt x="21594" y="20443"/>
                  <a:pt x="21552" y="20082"/>
                  <a:pt x="21489" y="19993"/>
                </a:cubicBezTo>
                <a:lnTo>
                  <a:pt x="10898" y="125"/>
                </a:lnTo>
                <a:cubicBezTo>
                  <a:pt x="10866" y="51"/>
                  <a:pt x="10833" y="10"/>
                  <a:pt x="10798" y="2"/>
                </a:cubicBezTo>
                <a:cubicBezTo>
                  <a:pt x="10748" y="-10"/>
                  <a:pt x="10699" y="50"/>
                  <a:pt x="10653" y="176"/>
                </a:cubicBezTo>
                <a:lnTo>
                  <a:pt x="109" y="19963"/>
                </a:lnTo>
                <a:close/>
              </a:path>
            </a:pathLst>
          </a:custGeom>
          <a:gradFill flip="none" rotWithShape="1">
            <a:gsLst>
              <a:gs pos="20000">
                <a:srgbClr val="3368FF"/>
              </a:gs>
              <a:gs pos="100000">
                <a:srgbClr val="0042FF"/>
              </a:gs>
            </a:gsLst>
            <a:lin ang="0" scaled="1"/>
            <a:tileRect/>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a:solidFill>
                <a:srgbClr val="FFFFFF"/>
              </a:solidFill>
              <a:latin typeface="微软雅黑"/>
              <a:ea typeface="微软雅黑"/>
              <a:cs typeface="微软雅黑"/>
              <a:sym typeface="微软雅黑"/>
            </a:endParaRPr>
          </a:p>
        </p:txBody>
      </p:sp>
      <p:sp>
        <p:nvSpPr>
          <p:cNvPr id="469" name="Google Shape;469;p24"/>
          <p:cNvSpPr txBox="1"/>
          <p:nvPr/>
        </p:nvSpPr>
        <p:spPr>
          <a:xfrm>
            <a:off x="4502150" y="1282065"/>
            <a:ext cx="3595370" cy="459740"/>
          </a:xfrm>
          <a:prstGeom prst="rect">
            <a:avLst/>
          </a:prstGeom>
          <a:noFill/>
          <a:ln>
            <a:noFill/>
          </a:ln>
        </p:spPr>
        <p:txBody>
          <a:bodyPr spcFirstLastPara="1" wrap="square" lIns="0" tIns="0" rIns="0" bIns="0" anchor="t" anchorCtr="0">
            <a:noAutofit/>
          </a:bodyPr>
          <a:lstStyle/>
          <a:p>
            <a:pPr algn="ctr">
              <a:buClr>
                <a:srgbClr val="383838"/>
              </a:buClr>
              <a:buSzPts val="1100"/>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数智运营体系框架</a:t>
            </a:r>
            <a:endParaRPr lang="zh-CN" altLang="en-US" b="1" dirty="0">
              <a:solidFill>
                <a:srgbClr val="FFFFFF"/>
              </a:solidFill>
              <a:latin typeface="微软雅黑"/>
              <a:ea typeface="微软雅黑"/>
              <a:cs typeface="微软雅黑"/>
              <a:sym typeface="微软雅黑"/>
            </a:endParaRPr>
          </a:p>
        </p:txBody>
      </p:sp>
      <p:sp>
        <p:nvSpPr>
          <p:cNvPr id="453" name="Google Shape;453;p24"/>
          <p:cNvSpPr/>
          <p:nvPr/>
        </p:nvSpPr>
        <p:spPr>
          <a:xfrm>
            <a:off x="1066483" y="1708150"/>
            <a:ext cx="10384790" cy="358775"/>
          </a:xfrm>
          <a:prstGeom prst="rect">
            <a:avLst/>
          </a:prstGeom>
          <a:solidFill>
            <a:srgbClr val="E6E6E6"/>
          </a:solidFill>
          <a:ln>
            <a:solidFill>
              <a:srgbClr val="3368FF"/>
            </a:solidFill>
          </a:ln>
        </p:spPr>
        <p:txBody>
          <a:bodyPr spcFirstLastPara="1" wrap="square" lIns="22867" tIns="22867" rIns="22867" bIns="22867" anchor="ctr" anchorCtr="0">
            <a:noAutofit/>
          </a:bodyPr>
          <a:lstStyle/>
          <a:p>
            <a:pPr lvl="0" algn="ctr">
              <a:buClr>
                <a:srgbClr val="383838"/>
              </a:buClr>
              <a:buSzPts val="1100"/>
              <a:buFontTx/>
              <a:defRPr>
                <a:latin typeface="微软雅黑"/>
                <a:ea typeface="微软雅黑"/>
                <a:cs typeface="微软雅黑"/>
              </a:defRPr>
            </a:pPr>
            <a:r>
              <a:rPr lang="zh-CN" altLang="en-US" sz="1465">
                <a:solidFill>
                  <a:srgbClr val="383838"/>
                </a:solidFill>
                <a:latin typeface="微软雅黑"/>
                <a:ea typeface="微软雅黑"/>
                <a:cs typeface="微软雅黑"/>
                <a:sym typeface="微软雅黑"/>
              </a:rPr>
              <a:t>数据智能驱动、运营模式重构、商业价值创新</a:t>
            </a:r>
            <a:endParaRPr lang="zh-CN" altLang="en-US" sz="1465">
              <a:solidFill>
                <a:srgbClr val="383838"/>
              </a:solidFill>
              <a:latin typeface="微软雅黑"/>
              <a:ea typeface="微软雅黑"/>
              <a:cs typeface="微软雅黑"/>
              <a:sym typeface="微软雅黑"/>
            </a:endParaRPr>
          </a:p>
        </p:txBody>
      </p:sp>
      <p:sp>
        <p:nvSpPr>
          <p:cNvPr id="12" name="矩形 11"/>
          <p:cNvSpPr/>
          <p:nvPr/>
        </p:nvSpPr>
        <p:spPr>
          <a:xfrm>
            <a:off x="2534285" y="2169795"/>
            <a:ext cx="7363460" cy="2083435"/>
          </a:xfrm>
          <a:prstGeom prst="rect">
            <a:avLst/>
          </a:prstGeom>
          <a:solidFill>
            <a:srgbClr val="FFFFFF">
              <a:alpha val="50000"/>
            </a:srgbClr>
          </a:solidFill>
          <a:ln w="12700" cap="flat" cmpd="sng" algn="ctr">
            <a:solidFill>
              <a:srgbClr val="B3D4FE">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6" name="文本框 5"/>
          <p:cNvSpPr txBox="1"/>
          <p:nvPr/>
        </p:nvSpPr>
        <p:spPr>
          <a:xfrm>
            <a:off x="5088255" y="2217420"/>
            <a:ext cx="4064000" cy="306705"/>
          </a:xfrm>
          <a:prstGeom prst="rect">
            <a:avLst/>
          </a:prstGeom>
          <a:noFill/>
        </p:spPr>
        <p:txBody>
          <a:bodyPr wrap="square" rtlCol="0">
            <a:spAutoFit/>
          </a:bodyPr>
          <a:lstStyle/>
          <a:p>
            <a:pPr>
              <a:defRPr>
                <a:latin typeface="微软雅黑"/>
                <a:ea typeface="微软雅黑"/>
                <a:cs typeface="微软雅黑"/>
              </a:defRPr>
            </a:pPr>
            <a:r>
              <a:rPr lang="en-US" altLang="zh-CN" sz="1400" b="1">
                <a:gradFill>
                  <a:gsLst>
                    <a:gs pos="18000">
                      <a:srgbClr val="0042FF"/>
                    </a:gs>
                    <a:gs pos="100000">
                      <a:srgbClr val="0042FF"/>
                    </a:gs>
                  </a:gsLst>
                  <a:lin ang="0" scaled="0"/>
                </a:gradFill>
                <a:latin typeface="微软雅黑"/>
                <a:ea typeface="微软雅黑"/>
                <a:cs typeface="微软雅黑"/>
              </a:rPr>
              <a:t>DIOE</a:t>
            </a:r>
            <a:r>
              <a:rPr lang="zh-CN" altLang="en-US" sz="1400" b="1">
                <a:gradFill>
                  <a:gsLst>
                    <a:gs pos="18000">
                      <a:srgbClr val="0042FF"/>
                    </a:gs>
                    <a:gs pos="100000">
                      <a:srgbClr val="0042FF"/>
                    </a:gs>
                  </a:gsLst>
                  <a:lin ang="0" scaled="0"/>
                </a:gradFill>
                <a:latin typeface="微软雅黑"/>
                <a:ea typeface="微软雅黑"/>
                <a:cs typeface="微软雅黑"/>
              </a:rPr>
              <a:t>（数据智能运营闭环）</a:t>
            </a:r>
            <a:endParaRPr lang="zh-CN" altLang="en-US" sz="1400" b="1">
              <a:gradFill>
                <a:gsLst>
                  <a:gs pos="18000">
                    <a:srgbClr val="0042FF"/>
                  </a:gs>
                  <a:gs pos="100000">
                    <a:srgbClr val="0042FF"/>
                  </a:gs>
                </a:gsLst>
                <a:lin ang="0" scaled="0"/>
              </a:gradFill>
              <a:latin typeface="微软雅黑"/>
              <a:ea typeface="微软雅黑"/>
              <a:cs typeface="微软雅黑"/>
            </a:endParaRPr>
          </a:p>
        </p:txBody>
      </p:sp>
      <p:sp>
        <p:nvSpPr>
          <p:cNvPr id="13" name="矩形 12"/>
          <p:cNvSpPr/>
          <p:nvPr/>
        </p:nvSpPr>
        <p:spPr>
          <a:xfrm>
            <a:off x="2534285" y="4355465"/>
            <a:ext cx="7363460" cy="600075"/>
          </a:xfrm>
          <a:prstGeom prst="rect">
            <a:avLst/>
          </a:prstGeom>
          <a:solidFill>
            <a:srgbClr val="E6E6E6">
              <a:alpha val="50000"/>
            </a:srgbClr>
          </a:solidFill>
          <a:ln w="12700" cap="flat" cmpd="sng" algn="ctr">
            <a:solidFill>
              <a:srgbClr val="3368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r>
              <a:rPr lang="en-US" altLang="zh-CN" sz="1200">
                <a:solidFill>
                  <a:srgbClr val="383838"/>
                </a:solidFill>
                <a:latin typeface="微软雅黑"/>
                <a:ea typeface="微软雅黑"/>
                <a:cs typeface="微软雅黑"/>
                <a:sym typeface="微软雅黑"/>
              </a:rPr>
              <a:t>.</a:t>
            </a:r>
            <a:endParaRPr lang="en-US" altLang="zh-CN" sz="1200">
              <a:solidFill>
                <a:srgbClr val="383838"/>
              </a:solidFill>
              <a:latin typeface="微软雅黑"/>
              <a:ea typeface="微软雅黑"/>
              <a:cs typeface="微软雅黑"/>
              <a:sym typeface="微软雅黑"/>
            </a:endParaRPr>
          </a:p>
        </p:txBody>
      </p:sp>
      <p:sp>
        <p:nvSpPr>
          <p:cNvPr id="14" name="文本框 13"/>
          <p:cNvSpPr txBox="1"/>
          <p:nvPr/>
        </p:nvSpPr>
        <p:spPr>
          <a:xfrm>
            <a:off x="2606040" y="4391660"/>
            <a:ext cx="4064000" cy="521970"/>
          </a:xfrm>
          <a:prstGeom prst="rect">
            <a:avLst/>
          </a:prstGeom>
          <a:noFill/>
        </p:spPr>
        <p:txBody>
          <a:bodyPr wrap="square" rtlCol="0">
            <a:spAutoFit/>
          </a:bodyPr>
          <a:lstStyle/>
          <a:p>
            <a:pPr>
              <a:defRPr>
                <a:latin typeface="微软雅黑"/>
                <a:ea typeface="微软雅黑"/>
                <a:cs typeface="微软雅黑"/>
              </a:defRPr>
            </a:pPr>
            <a:r>
              <a:rPr lang="zh-CN" sz="1400" b="1">
                <a:gradFill>
                  <a:gsLst>
                    <a:gs pos="18000">
                      <a:srgbClr val="0042FF"/>
                    </a:gs>
                    <a:gs pos="100000">
                      <a:srgbClr val="0042FF"/>
                    </a:gs>
                  </a:gsLst>
                  <a:lin ang="0" scaled="0"/>
                </a:gradFill>
                <a:latin typeface="微软雅黑"/>
                <a:ea typeface="微软雅黑"/>
                <a:cs typeface="微软雅黑"/>
              </a:rPr>
              <a:t>数据</a:t>
            </a:r>
            <a:endParaRPr lang="zh-CN" sz="1400" b="1">
              <a:gradFill>
                <a:gsLst>
                  <a:gs pos="18000">
                    <a:srgbClr val="0042FF"/>
                  </a:gs>
                  <a:gs pos="100000">
                    <a:srgbClr val="0042FF"/>
                  </a:gs>
                </a:gsLst>
                <a:lin ang="0" scaled="0"/>
              </a:gradFill>
              <a:latin typeface="微软雅黑"/>
              <a:ea typeface="微软雅黑"/>
              <a:cs typeface="微软雅黑"/>
            </a:endParaRPr>
          </a:p>
          <a:p>
            <a:pPr>
              <a:defRPr>
                <a:latin typeface="微软雅黑"/>
                <a:ea typeface="微软雅黑"/>
                <a:cs typeface="微软雅黑"/>
              </a:defRPr>
            </a:pPr>
            <a:r>
              <a:rPr lang="zh-CN" sz="1400" b="1">
                <a:gradFill>
                  <a:gsLst>
                    <a:gs pos="18000">
                      <a:srgbClr val="0042FF"/>
                    </a:gs>
                    <a:gs pos="100000">
                      <a:srgbClr val="0042FF"/>
                    </a:gs>
                  </a:gsLst>
                  <a:lin ang="0" scaled="0"/>
                </a:gradFill>
                <a:latin typeface="微软雅黑"/>
                <a:ea typeface="微软雅黑"/>
                <a:cs typeface="微软雅黑"/>
              </a:rPr>
              <a:t>平台</a:t>
            </a:r>
            <a:endParaRPr lang="zh-CN" sz="1400" b="1">
              <a:gradFill>
                <a:gsLst>
                  <a:gs pos="18000">
                    <a:srgbClr val="0042FF"/>
                  </a:gs>
                  <a:gs pos="100000">
                    <a:srgbClr val="0042FF"/>
                  </a:gs>
                </a:gsLst>
                <a:lin ang="0" scaled="0"/>
              </a:gradFill>
              <a:latin typeface="微软雅黑"/>
              <a:ea typeface="微软雅黑"/>
              <a:cs typeface="微软雅黑"/>
            </a:endParaRPr>
          </a:p>
        </p:txBody>
      </p:sp>
      <p:sp>
        <p:nvSpPr>
          <p:cNvPr id="15" name="矩形 14"/>
          <p:cNvSpPr/>
          <p:nvPr/>
        </p:nvSpPr>
        <p:spPr>
          <a:xfrm>
            <a:off x="3134360" y="4522470"/>
            <a:ext cx="1007745" cy="289560"/>
          </a:xfrm>
          <a:prstGeom prst="rect">
            <a:avLst/>
          </a:prstGeom>
          <a:solidFill>
            <a:srgbClr val="FFFFFF"/>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数据集中</a:t>
            </a:r>
            <a:endParaRPr lang="zh-CN" altLang="en-US" sz="1400">
              <a:solidFill>
                <a:srgbClr val="383838"/>
              </a:solidFill>
              <a:cs typeface="微软雅黑"/>
              <a:sym typeface="微软雅黑"/>
              <a:latin typeface="微软雅黑"/>
              <a:ea typeface="微软雅黑"/>
            </a:endParaRPr>
          </a:p>
        </p:txBody>
      </p:sp>
      <p:sp>
        <p:nvSpPr>
          <p:cNvPr id="16" name="矩形 15"/>
          <p:cNvSpPr/>
          <p:nvPr/>
        </p:nvSpPr>
        <p:spPr>
          <a:xfrm>
            <a:off x="4262120" y="4522470"/>
            <a:ext cx="1007745" cy="289560"/>
          </a:xfrm>
          <a:prstGeom prst="rect">
            <a:avLst/>
          </a:prstGeom>
          <a:solidFill>
            <a:srgbClr val="FFFFFF"/>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数据开发</a:t>
            </a:r>
            <a:endParaRPr lang="zh-CN" altLang="en-US" sz="1400">
              <a:solidFill>
                <a:srgbClr val="383838"/>
              </a:solidFill>
              <a:cs typeface="微软雅黑"/>
              <a:sym typeface="微软雅黑"/>
              <a:latin typeface="微软雅黑"/>
              <a:ea typeface="微软雅黑"/>
            </a:endParaRPr>
          </a:p>
        </p:txBody>
      </p:sp>
      <p:sp>
        <p:nvSpPr>
          <p:cNvPr id="17" name="矩形 16"/>
          <p:cNvSpPr/>
          <p:nvPr/>
        </p:nvSpPr>
        <p:spPr>
          <a:xfrm>
            <a:off x="5389880" y="4522470"/>
            <a:ext cx="1007745" cy="289560"/>
          </a:xfrm>
          <a:prstGeom prst="rect">
            <a:avLst/>
          </a:prstGeom>
          <a:solidFill>
            <a:srgbClr val="FFFFFF"/>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数据治理</a:t>
            </a:r>
            <a:endParaRPr lang="zh-CN" altLang="en-US" sz="1400">
              <a:solidFill>
                <a:srgbClr val="383838"/>
              </a:solidFill>
              <a:cs typeface="微软雅黑"/>
              <a:sym typeface="微软雅黑"/>
              <a:latin typeface="微软雅黑"/>
              <a:ea typeface="微软雅黑"/>
            </a:endParaRPr>
          </a:p>
        </p:txBody>
      </p:sp>
      <p:sp>
        <p:nvSpPr>
          <p:cNvPr id="18" name="矩形 17"/>
          <p:cNvSpPr/>
          <p:nvPr/>
        </p:nvSpPr>
        <p:spPr>
          <a:xfrm>
            <a:off x="6517640" y="4522470"/>
            <a:ext cx="1007745" cy="289560"/>
          </a:xfrm>
          <a:prstGeom prst="rect">
            <a:avLst/>
          </a:prstGeom>
          <a:solidFill>
            <a:srgbClr val="FFFFFF"/>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数据资产</a:t>
            </a:r>
            <a:endParaRPr lang="zh-CN" altLang="en-US" sz="1400">
              <a:solidFill>
                <a:srgbClr val="383838"/>
              </a:solidFill>
              <a:cs typeface="微软雅黑"/>
              <a:sym typeface="微软雅黑"/>
              <a:latin typeface="微软雅黑"/>
              <a:ea typeface="微软雅黑"/>
            </a:endParaRPr>
          </a:p>
        </p:txBody>
      </p:sp>
      <p:sp>
        <p:nvSpPr>
          <p:cNvPr id="19" name="矩形 18"/>
          <p:cNvSpPr/>
          <p:nvPr/>
        </p:nvSpPr>
        <p:spPr>
          <a:xfrm>
            <a:off x="7645400" y="4522470"/>
            <a:ext cx="1007745" cy="289560"/>
          </a:xfrm>
          <a:prstGeom prst="rect">
            <a:avLst/>
          </a:prstGeom>
          <a:solidFill>
            <a:srgbClr val="FFFFFF"/>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数据存储</a:t>
            </a:r>
            <a:endParaRPr lang="zh-CN" altLang="en-US" sz="1400">
              <a:solidFill>
                <a:srgbClr val="383838"/>
              </a:solidFill>
              <a:cs typeface="微软雅黑"/>
              <a:sym typeface="微软雅黑"/>
              <a:latin typeface="微软雅黑"/>
              <a:ea typeface="微软雅黑"/>
            </a:endParaRPr>
          </a:p>
        </p:txBody>
      </p:sp>
      <p:sp>
        <p:nvSpPr>
          <p:cNvPr id="20" name="矩形 19"/>
          <p:cNvSpPr/>
          <p:nvPr/>
        </p:nvSpPr>
        <p:spPr>
          <a:xfrm>
            <a:off x="8773160" y="4522470"/>
            <a:ext cx="1007745" cy="289560"/>
          </a:xfrm>
          <a:prstGeom prst="rect">
            <a:avLst/>
          </a:prstGeom>
          <a:solidFill>
            <a:srgbClr val="FFFFFF"/>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数据服务</a:t>
            </a:r>
            <a:endParaRPr lang="zh-CN" altLang="en-US" sz="1400">
              <a:solidFill>
                <a:srgbClr val="383838"/>
              </a:solidFill>
              <a:cs typeface="微软雅黑"/>
              <a:sym typeface="微软雅黑"/>
              <a:latin typeface="微软雅黑"/>
              <a:ea typeface="微软雅黑"/>
            </a:endParaRPr>
          </a:p>
        </p:txBody>
      </p:sp>
      <p:sp>
        <p:nvSpPr>
          <p:cNvPr id="22" name="圆角右箭头 21"/>
          <p:cNvSpPr/>
          <p:nvPr/>
        </p:nvSpPr>
        <p:spPr>
          <a:xfrm>
            <a:off x="1632585" y="2933700"/>
            <a:ext cx="901700" cy="2343150"/>
          </a:xfrm>
          <a:prstGeom prst="bentArrow">
            <a:avLst>
              <a:gd name="adj1" fmla="val 25633"/>
              <a:gd name="adj2" fmla="val 25000"/>
              <a:gd name="adj3" fmla="val 25000"/>
              <a:gd name="adj4" fmla="val 43750"/>
            </a:avLst>
          </a:prstGeom>
          <a:gradFill>
            <a:gsLst>
              <a:gs pos="0">
                <a:srgbClr val="FFFFFF"/>
              </a:gs>
              <a:gs pos="100000">
                <a:srgbClr val="B3D4FE"/>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4" name="圆角右箭头 23"/>
          <p:cNvSpPr/>
          <p:nvPr/>
        </p:nvSpPr>
        <p:spPr>
          <a:xfrm rot="5400000">
            <a:off x="9284970" y="3643630"/>
            <a:ext cx="2247265" cy="1020445"/>
          </a:xfrm>
          <a:prstGeom prst="bentArrow">
            <a:avLst/>
          </a:prstGeom>
          <a:gradFill>
            <a:gsLst>
              <a:gs pos="0">
                <a:srgbClr val="FFFFFF"/>
              </a:gs>
              <a:gs pos="100000">
                <a:srgbClr val="B3D4FE"/>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en-US" altLang="zh-CN">
                <a:solidFill>
                  <a:srgbClr val="383838"/>
                </a:solidFill>
                <a:cs typeface="微软雅黑"/>
                <a:sym typeface="微软雅黑"/>
                <a:latin typeface="微软雅黑"/>
                <a:ea typeface="微软雅黑"/>
              </a:rPr>
              <a:t> </a:t>
            </a:r>
            <a:endParaRPr lang="en-US" altLang="zh-CN">
              <a:solidFill>
                <a:srgbClr val="383838"/>
              </a:solidFill>
              <a:cs typeface="微软雅黑"/>
              <a:sym typeface="微软雅黑"/>
              <a:latin typeface="微软雅黑"/>
              <a:ea typeface="微软雅黑"/>
            </a:endParaRPr>
          </a:p>
        </p:txBody>
      </p:sp>
      <p:sp>
        <p:nvSpPr>
          <p:cNvPr id="25" name="圆角右箭头 24"/>
          <p:cNvSpPr/>
          <p:nvPr/>
        </p:nvSpPr>
        <p:spPr>
          <a:xfrm rot="5400000">
            <a:off x="9791065" y="4713605"/>
            <a:ext cx="669290" cy="455930"/>
          </a:xfrm>
          <a:prstGeom prst="bentArrow">
            <a:avLst>
              <a:gd name="adj1" fmla="val 37325"/>
              <a:gd name="adj2" fmla="val 25000"/>
              <a:gd name="adj3" fmla="val 25000"/>
              <a:gd name="adj4" fmla="val 43750"/>
            </a:avLst>
          </a:prstGeom>
          <a:gradFill>
            <a:gsLst>
              <a:gs pos="0">
                <a:srgbClr val="E6E6E6"/>
              </a:gs>
              <a:gs pos="10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6" name="圆角右箭头 25"/>
          <p:cNvSpPr/>
          <p:nvPr/>
        </p:nvSpPr>
        <p:spPr>
          <a:xfrm rot="16200000" flipH="1">
            <a:off x="1918335" y="4721225"/>
            <a:ext cx="683895" cy="455930"/>
          </a:xfrm>
          <a:prstGeom prst="bentArrow">
            <a:avLst>
              <a:gd name="adj1" fmla="val 34052"/>
              <a:gd name="adj2" fmla="val 28342"/>
              <a:gd name="adj3" fmla="val 25000"/>
              <a:gd name="adj4" fmla="val 43750"/>
            </a:avLst>
          </a:prstGeom>
          <a:gradFill>
            <a:gsLst>
              <a:gs pos="0">
                <a:srgbClr val="E6E6E6"/>
              </a:gs>
              <a:gs pos="10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cxnSp>
        <p:nvCxnSpPr>
          <p:cNvPr id="38" name="直接连接符 37"/>
          <p:cNvCxnSpPr/>
          <p:nvPr/>
        </p:nvCxnSpPr>
        <p:spPr>
          <a:xfrm>
            <a:off x="1293495" y="2064385"/>
            <a:ext cx="0" cy="3298190"/>
          </a:xfrm>
          <a:prstGeom prst="line">
            <a:avLst/>
          </a:prstGeom>
          <a:ln w="19050">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39" name="直接连接符 38"/>
          <p:cNvCxnSpPr/>
          <p:nvPr/>
        </p:nvCxnSpPr>
        <p:spPr>
          <a:xfrm>
            <a:off x="11182350" y="2064385"/>
            <a:ext cx="0" cy="3227070"/>
          </a:xfrm>
          <a:prstGeom prst="line">
            <a:avLst/>
          </a:prstGeom>
          <a:ln w="19050">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40" name="菱形 39"/>
          <p:cNvSpPr/>
          <p:nvPr/>
        </p:nvSpPr>
        <p:spPr>
          <a:xfrm>
            <a:off x="5772150" y="2907665"/>
            <a:ext cx="864235" cy="839470"/>
          </a:xfrm>
          <a:prstGeom prst="diamond">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200">
              <a:solidFill>
                <a:srgbClr val="FFFFFF"/>
              </a:solidFill>
              <a:cs typeface="微软雅黑"/>
              <a:latin typeface="微软雅黑"/>
              <a:ea typeface="微软雅黑"/>
            </a:endParaRPr>
          </a:p>
        </p:txBody>
      </p:sp>
      <p:sp>
        <p:nvSpPr>
          <p:cNvPr id="41" name="文本框 40"/>
          <p:cNvSpPr txBox="1"/>
          <p:nvPr/>
        </p:nvSpPr>
        <p:spPr>
          <a:xfrm>
            <a:off x="5871845" y="3074035"/>
            <a:ext cx="665480" cy="52197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经营中枢</a:t>
            </a:r>
            <a:endParaRPr lang="zh-CN" altLang="en-US" sz="1400" b="1">
              <a:solidFill>
                <a:srgbClr val="FFFFFF"/>
              </a:solidFill>
              <a:latin typeface="微软雅黑"/>
              <a:ea typeface="微软雅黑"/>
              <a:cs typeface="微软雅黑"/>
            </a:endParaRPr>
          </a:p>
        </p:txBody>
      </p:sp>
      <p:sp>
        <p:nvSpPr>
          <p:cNvPr id="43" name="椭圆 42"/>
          <p:cNvSpPr/>
          <p:nvPr/>
        </p:nvSpPr>
        <p:spPr>
          <a:xfrm>
            <a:off x="6026785" y="2599690"/>
            <a:ext cx="388620" cy="38862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44" name="椭圆 43"/>
          <p:cNvSpPr/>
          <p:nvPr/>
        </p:nvSpPr>
        <p:spPr>
          <a:xfrm>
            <a:off x="5440680" y="3109595"/>
            <a:ext cx="388620" cy="38862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45" name="椭圆 44"/>
          <p:cNvSpPr/>
          <p:nvPr/>
        </p:nvSpPr>
        <p:spPr>
          <a:xfrm>
            <a:off x="6570345" y="3109595"/>
            <a:ext cx="388620" cy="38862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49" name="组合 48"/>
          <p:cNvGrpSpPr/>
          <p:nvPr/>
        </p:nvGrpSpPr>
        <p:grpSpPr>
          <a:xfrm rot="0">
            <a:off x="2722880" y="2576830"/>
            <a:ext cx="2132965" cy="666750"/>
            <a:chOff x="4502" y="4058"/>
            <a:chExt cx="3359" cy="1050"/>
          </a:xfrm>
        </p:grpSpPr>
        <p:sp>
          <p:nvSpPr>
            <p:cNvPr id="7" name="矩形 6"/>
            <p:cNvSpPr/>
            <p:nvPr/>
          </p:nvSpPr>
          <p:spPr>
            <a:xfrm>
              <a:off x="4502" y="4058"/>
              <a:ext cx="3359" cy="1050"/>
            </a:xfrm>
            <a:prstGeom prst="rect">
              <a:avLst/>
            </a:prstGeom>
            <a:solidFill>
              <a:srgbClr val="FFFFFF"/>
            </a:solidFill>
            <a:ln>
              <a:solidFill>
                <a:srgbClr val="B3D4FE"/>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47" name="文本框 46"/>
            <p:cNvSpPr txBox="1"/>
            <p:nvPr/>
          </p:nvSpPr>
          <p:spPr>
            <a:xfrm>
              <a:off x="4527" y="4094"/>
              <a:ext cx="1454" cy="483"/>
            </a:xfrm>
            <a:prstGeom prst="rect">
              <a:avLst/>
            </a:prstGeom>
            <a:noFill/>
          </p:spPr>
          <p:txBody>
            <a:bodyPr wrap="square" rtlCol="0">
              <a:spAutoFit/>
            </a:bodyPr>
            <a:lstStyle/>
            <a:p>
              <a:pPr>
                <a:defRPr>
                  <a:latin typeface="微软雅黑"/>
                  <a:ea typeface="微软雅黑"/>
                  <a:cs typeface="微软雅黑"/>
                </a:defRPr>
              </a:pPr>
              <a:r>
                <a:rPr lang="zh-CN" sz="1400" b="1">
                  <a:solidFill>
                    <a:srgbClr val="0042FF"/>
                  </a:solidFill>
                  <a:latin typeface="微软雅黑"/>
                  <a:ea typeface="微软雅黑"/>
                  <a:cs typeface="微软雅黑"/>
                </a:rPr>
                <a:t>感知层</a:t>
              </a:r>
              <a:endParaRPr lang="zh-CN" sz="1400" b="1">
                <a:solidFill>
                  <a:srgbClr val="0042FF"/>
                </a:solidFill>
                <a:latin typeface="微软雅黑"/>
                <a:ea typeface="微软雅黑"/>
                <a:cs typeface="微软雅黑"/>
              </a:endParaRPr>
            </a:p>
          </p:txBody>
        </p:sp>
        <p:sp>
          <p:nvSpPr>
            <p:cNvPr id="48" name="文本框 47"/>
            <p:cNvSpPr txBox="1"/>
            <p:nvPr/>
          </p:nvSpPr>
          <p:spPr>
            <a:xfrm>
              <a:off x="4527" y="4480"/>
              <a:ext cx="3217" cy="628"/>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solidFill>
                    <a:srgbClr val="383838"/>
                  </a:solidFill>
                  <a:latin typeface="微软雅黑"/>
                  <a:ea typeface="微软雅黑"/>
                  <a:cs typeface="微软雅黑"/>
                </a:rPr>
                <a:t>实时采集多源数据</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用户行为、动态等</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，构建全域数据感知网络。</a:t>
              </a:r>
              <a:endParaRPr lang="zh-CN" altLang="en-US" sz="1000">
                <a:solidFill>
                  <a:srgbClr val="383838"/>
                </a:solidFill>
                <a:latin typeface="微软雅黑"/>
                <a:ea typeface="微软雅黑"/>
                <a:cs typeface="微软雅黑"/>
              </a:endParaRPr>
            </a:p>
          </p:txBody>
        </p:sp>
      </p:grpSp>
      <p:grpSp>
        <p:nvGrpSpPr>
          <p:cNvPr id="50" name="组合 49"/>
          <p:cNvGrpSpPr/>
          <p:nvPr/>
        </p:nvGrpSpPr>
        <p:grpSpPr>
          <a:xfrm rot="0">
            <a:off x="2722880" y="3350260"/>
            <a:ext cx="2132965" cy="666750"/>
            <a:chOff x="4502" y="4058"/>
            <a:chExt cx="3359" cy="1050"/>
          </a:xfrm>
        </p:grpSpPr>
        <p:sp>
          <p:nvSpPr>
            <p:cNvPr id="51" name="矩形 50"/>
            <p:cNvSpPr/>
            <p:nvPr/>
          </p:nvSpPr>
          <p:spPr>
            <a:xfrm>
              <a:off x="4502" y="4058"/>
              <a:ext cx="3359" cy="1050"/>
            </a:xfrm>
            <a:prstGeom prst="rect">
              <a:avLst/>
            </a:prstGeom>
            <a:solidFill>
              <a:srgbClr val="FFFFFF"/>
            </a:solidFill>
            <a:ln>
              <a:solidFill>
                <a:srgbClr val="B3D4FE"/>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52" name="文本框 51"/>
            <p:cNvSpPr txBox="1"/>
            <p:nvPr/>
          </p:nvSpPr>
          <p:spPr>
            <a:xfrm>
              <a:off x="4527" y="4094"/>
              <a:ext cx="1454" cy="483"/>
            </a:xfrm>
            <a:prstGeom prst="rect">
              <a:avLst/>
            </a:prstGeom>
            <a:noFill/>
          </p:spPr>
          <p:txBody>
            <a:bodyPr wrap="square" rtlCol="0">
              <a:spAutoFit/>
            </a:bodyPr>
            <a:lstStyle/>
            <a:p>
              <a:pPr>
                <a:defRPr>
                  <a:latin typeface="微软雅黑"/>
                  <a:ea typeface="微软雅黑"/>
                  <a:cs typeface="微软雅黑"/>
                </a:defRPr>
              </a:pPr>
              <a:r>
                <a:rPr lang="zh-CN" sz="1400" b="1">
                  <a:solidFill>
                    <a:srgbClr val="0042FF"/>
                  </a:solidFill>
                  <a:latin typeface="微软雅黑"/>
                  <a:ea typeface="微软雅黑"/>
                  <a:cs typeface="微软雅黑"/>
                </a:rPr>
                <a:t>策略层</a:t>
              </a:r>
              <a:endParaRPr lang="zh-CN" sz="1400" b="1">
                <a:solidFill>
                  <a:srgbClr val="0042FF"/>
                </a:solidFill>
                <a:latin typeface="微软雅黑"/>
                <a:ea typeface="微软雅黑"/>
                <a:cs typeface="微软雅黑"/>
              </a:endParaRPr>
            </a:p>
          </p:txBody>
        </p:sp>
        <p:sp>
          <p:nvSpPr>
            <p:cNvPr id="53" name="文本框 52"/>
            <p:cNvSpPr txBox="1"/>
            <p:nvPr/>
          </p:nvSpPr>
          <p:spPr>
            <a:xfrm>
              <a:off x="4527" y="4480"/>
              <a:ext cx="3218" cy="628"/>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solidFill>
                    <a:srgbClr val="383838"/>
                  </a:solidFill>
                  <a:latin typeface="微软雅黑"/>
                  <a:ea typeface="微软雅黑"/>
                  <a:cs typeface="微软雅黑"/>
                </a:rPr>
                <a:t>基于历史数据与</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模型，生成动态运营策略（如价格弹性模型）。</a:t>
              </a:r>
              <a:endParaRPr lang="zh-CN" altLang="en-US" sz="1000">
                <a:solidFill>
                  <a:srgbClr val="383838"/>
                </a:solidFill>
                <a:latin typeface="微软雅黑"/>
                <a:ea typeface="微软雅黑"/>
                <a:cs typeface="微软雅黑"/>
              </a:endParaRPr>
            </a:p>
          </p:txBody>
        </p:sp>
      </p:grpSp>
      <p:grpSp>
        <p:nvGrpSpPr>
          <p:cNvPr id="54" name="组合 53"/>
          <p:cNvGrpSpPr/>
          <p:nvPr/>
        </p:nvGrpSpPr>
        <p:grpSpPr>
          <a:xfrm rot="0">
            <a:off x="7562215" y="2576830"/>
            <a:ext cx="2132965" cy="666750"/>
            <a:chOff x="4502" y="4058"/>
            <a:chExt cx="3359" cy="1050"/>
          </a:xfrm>
        </p:grpSpPr>
        <p:sp>
          <p:nvSpPr>
            <p:cNvPr id="55" name="矩形 54"/>
            <p:cNvSpPr/>
            <p:nvPr/>
          </p:nvSpPr>
          <p:spPr>
            <a:xfrm>
              <a:off x="4502" y="4058"/>
              <a:ext cx="3359" cy="1050"/>
            </a:xfrm>
            <a:prstGeom prst="rect">
              <a:avLst/>
            </a:prstGeom>
            <a:solidFill>
              <a:srgbClr val="FFFFFF"/>
            </a:solidFill>
            <a:ln>
              <a:solidFill>
                <a:srgbClr val="B3D4FE"/>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56" name="文本框 55"/>
            <p:cNvSpPr txBox="1"/>
            <p:nvPr/>
          </p:nvSpPr>
          <p:spPr>
            <a:xfrm>
              <a:off x="4527" y="4094"/>
              <a:ext cx="1454" cy="483"/>
            </a:xfrm>
            <a:prstGeom prst="rect">
              <a:avLst/>
            </a:prstGeom>
            <a:noFill/>
          </p:spPr>
          <p:txBody>
            <a:bodyPr wrap="square" rtlCol="0">
              <a:spAutoFit/>
            </a:bodyPr>
            <a:lstStyle/>
            <a:p>
              <a:pPr>
                <a:defRPr>
                  <a:latin typeface="微软雅黑"/>
                  <a:ea typeface="微软雅黑"/>
                  <a:cs typeface="微软雅黑"/>
                </a:defRPr>
              </a:pPr>
              <a:r>
                <a:rPr lang="zh-CN" sz="1400" b="1">
                  <a:solidFill>
                    <a:srgbClr val="0042FF"/>
                  </a:solidFill>
                  <a:latin typeface="微软雅黑"/>
                  <a:ea typeface="微软雅黑"/>
                  <a:cs typeface="微软雅黑"/>
                </a:rPr>
                <a:t>决策层</a:t>
              </a:r>
              <a:endParaRPr lang="zh-CN" sz="1400" b="1">
                <a:solidFill>
                  <a:srgbClr val="0042FF"/>
                </a:solidFill>
                <a:latin typeface="微软雅黑"/>
                <a:ea typeface="微软雅黑"/>
                <a:cs typeface="微软雅黑"/>
              </a:endParaRPr>
            </a:p>
          </p:txBody>
        </p:sp>
        <p:sp>
          <p:nvSpPr>
            <p:cNvPr id="57" name="文本框 56"/>
            <p:cNvSpPr txBox="1"/>
            <p:nvPr/>
          </p:nvSpPr>
          <p:spPr>
            <a:xfrm>
              <a:off x="4527" y="4480"/>
              <a:ext cx="3232" cy="628"/>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solidFill>
                    <a:srgbClr val="383838"/>
                  </a:solidFill>
                  <a:latin typeface="微软雅黑"/>
                  <a:ea typeface="微软雅黑"/>
                  <a:cs typeface="微软雅黑"/>
                </a:rPr>
                <a:t>利用机器学习（如</a:t>
              </a:r>
              <a:r>
                <a:rPr lang="en-US" altLang="zh-CN" sz="1000">
                  <a:solidFill>
                    <a:srgbClr val="383838"/>
                  </a:solidFill>
                  <a:latin typeface="微软雅黑"/>
                  <a:ea typeface="微软雅黑"/>
                  <a:cs typeface="微软雅黑"/>
                </a:rPr>
                <a:t>XGBoost</a:t>
              </a:r>
              <a:r>
                <a:rPr lang="zh-CN" altLang="en-US" sz="1000">
                  <a:solidFill>
                    <a:srgbClr val="383838"/>
                  </a:solidFill>
                  <a:latin typeface="微软雅黑"/>
                  <a:ea typeface="微软雅黑"/>
                  <a:cs typeface="微软雅黑"/>
                </a:rPr>
                <a:t>）、仿真推演（压力测试）辅助决策。</a:t>
              </a:r>
              <a:endParaRPr lang="zh-CN" altLang="en-US" sz="1000">
                <a:solidFill>
                  <a:srgbClr val="383838"/>
                </a:solidFill>
                <a:latin typeface="微软雅黑"/>
                <a:ea typeface="微软雅黑"/>
                <a:cs typeface="微软雅黑"/>
              </a:endParaRPr>
            </a:p>
          </p:txBody>
        </p:sp>
      </p:grpSp>
      <p:grpSp>
        <p:nvGrpSpPr>
          <p:cNvPr id="58" name="组合 57"/>
          <p:cNvGrpSpPr/>
          <p:nvPr/>
        </p:nvGrpSpPr>
        <p:grpSpPr>
          <a:xfrm rot="0">
            <a:off x="7562215" y="3350260"/>
            <a:ext cx="2132965" cy="666750"/>
            <a:chOff x="4502" y="4058"/>
            <a:chExt cx="3359" cy="1050"/>
          </a:xfrm>
        </p:grpSpPr>
        <p:sp>
          <p:nvSpPr>
            <p:cNvPr id="59" name="矩形 58"/>
            <p:cNvSpPr/>
            <p:nvPr/>
          </p:nvSpPr>
          <p:spPr>
            <a:xfrm>
              <a:off x="4502" y="4058"/>
              <a:ext cx="3359" cy="1050"/>
            </a:xfrm>
            <a:prstGeom prst="rect">
              <a:avLst/>
            </a:prstGeom>
            <a:solidFill>
              <a:srgbClr val="FFFFFF"/>
            </a:solidFill>
            <a:ln>
              <a:solidFill>
                <a:srgbClr val="B3D4FE"/>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61" name="文本框 60"/>
            <p:cNvSpPr txBox="1"/>
            <p:nvPr/>
          </p:nvSpPr>
          <p:spPr>
            <a:xfrm>
              <a:off x="4527" y="4094"/>
              <a:ext cx="1454" cy="483"/>
            </a:xfrm>
            <a:prstGeom prst="rect">
              <a:avLst/>
            </a:prstGeom>
            <a:noFill/>
          </p:spPr>
          <p:txBody>
            <a:bodyPr wrap="square" rtlCol="0">
              <a:spAutoFit/>
            </a:bodyPr>
            <a:lstStyle/>
            <a:p>
              <a:pPr>
                <a:defRPr>
                  <a:latin typeface="微软雅黑"/>
                  <a:ea typeface="微软雅黑"/>
                  <a:cs typeface="微软雅黑"/>
                </a:defRPr>
              </a:pPr>
              <a:r>
                <a:rPr lang="zh-CN" sz="1400" b="1">
                  <a:solidFill>
                    <a:srgbClr val="0042FF"/>
                  </a:solidFill>
                  <a:latin typeface="微软雅黑"/>
                  <a:ea typeface="微软雅黑"/>
                  <a:cs typeface="微软雅黑"/>
                </a:rPr>
                <a:t>执行层</a:t>
              </a:r>
              <a:endParaRPr lang="zh-CN" sz="1400" b="1">
                <a:solidFill>
                  <a:srgbClr val="0042FF"/>
                </a:solidFill>
                <a:latin typeface="微软雅黑"/>
                <a:ea typeface="微软雅黑"/>
                <a:cs typeface="微软雅黑"/>
              </a:endParaRPr>
            </a:p>
          </p:txBody>
        </p:sp>
        <p:sp>
          <p:nvSpPr>
            <p:cNvPr id="62" name="文本框 61"/>
            <p:cNvSpPr txBox="1"/>
            <p:nvPr/>
          </p:nvSpPr>
          <p:spPr>
            <a:xfrm>
              <a:off x="4541" y="4466"/>
              <a:ext cx="3218" cy="628"/>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solidFill>
                    <a:srgbClr val="383838"/>
                  </a:solidFill>
                  <a:latin typeface="微软雅黑"/>
                  <a:ea typeface="微软雅黑"/>
                  <a:cs typeface="微软雅黑"/>
                </a:rPr>
                <a:t>自动化下发指令至业务系统（如精准营销触达），形成闭环反馈。</a:t>
              </a:r>
              <a:endParaRPr lang="zh-CN" altLang="en-US" sz="1000">
                <a:solidFill>
                  <a:srgbClr val="383838"/>
                </a:solidFill>
                <a:latin typeface="微软雅黑"/>
                <a:ea typeface="微软雅黑"/>
                <a:cs typeface="微软雅黑"/>
              </a:endParaRPr>
            </a:p>
          </p:txBody>
        </p:sp>
      </p:grpSp>
      <p:sp>
        <p:nvSpPr>
          <p:cNvPr id="64" name="椭圆 63"/>
          <p:cNvSpPr/>
          <p:nvPr/>
        </p:nvSpPr>
        <p:spPr>
          <a:xfrm>
            <a:off x="6026785" y="3679825"/>
            <a:ext cx="388620" cy="38862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65" name="圆角右箭头 64"/>
          <p:cNvSpPr/>
          <p:nvPr/>
        </p:nvSpPr>
        <p:spPr>
          <a:xfrm>
            <a:off x="5647055" y="2724785"/>
            <a:ext cx="345440" cy="349250"/>
          </a:xfrm>
          <a:prstGeom prst="bentArrow">
            <a:avLst>
              <a:gd name="adj1" fmla="val 4459"/>
              <a:gd name="adj2" fmla="val 7718"/>
              <a:gd name="adj3" fmla="val 12692"/>
              <a:gd name="adj4" fmla="val 43750"/>
            </a:avLst>
          </a:prstGeom>
          <a:noFill/>
          <a:ln>
            <a:solidFill>
              <a:srgbClr val="3368FF"/>
            </a:solidFill>
          </a:ln>
          <a:extLst>
            <a:ext uri="{909E8E84-426E-40DD-AFC4-6F175D3DCCD1}">
              <a14:hiddenFill xmlns:a14="http://schemas.microsoft.com/office/drawing/2010/main">
                <a:solidFill>
                  <a:srgbClr val="DCDCDC"/>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66" name="圆角右箭头 65"/>
          <p:cNvSpPr/>
          <p:nvPr/>
        </p:nvSpPr>
        <p:spPr>
          <a:xfrm rot="5400000">
            <a:off x="6443345" y="2726690"/>
            <a:ext cx="345440" cy="349250"/>
          </a:xfrm>
          <a:prstGeom prst="bentArrow">
            <a:avLst>
              <a:gd name="adj1" fmla="val 4459"/>
              <a:gd name="adj2" fmla="val 7718"/>
              <a:gd name="adj3" fmla="val 12692"/>
              <a:gd name="adj4" fmla="val 43750"/>
            </a:avLst>
          </a:prstGeom>
          <a:noFill/>
          <a:ln>
            <a:solidFill>
              <a:srgbClr val="3368FF"/>
            </a:solidFill>
          </a:ln>
          <a:extLst>
            <a:ext uri="{909E8E84-426E-40DD-AFC4-6F175D3DCCD1}">
              <a14:hiddenFill xmlns:a14="http://schemas.microsoft.com/office/drawing/2010/main">
                <a:solidFill>
                  <a:srgbClr val="DCDCDC"/>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67" name="圆角右箭头 66"/>
          <p:cNvSpPr/>
          <p:nvPr/>
        </p:nvSpPr>
        <p:spPr>
          <a:xfrm rot="10800000">
            <a:off x="6445250" y="3545840"/>
            <a:ext cx="345440" cy="349250"/>
          </a:xfrm>
          <a:prstGeom prst="bentArrow">
            <a:avLst>
              <a:gd name="adj1" fmla="val 4459"/>
              <a:gd name="adj2" fmla="val 7718"/>
              <a:gd name="adj3" fmla="val 12692"/>
              <a:gd name="adj4" fmla="val 43750"/>
            </a:avLst>
          </a:prstGeom>
          <a:noFill/>
          <a:ln>
            <a:solidFill>
              <a:srgbClr val="3368FF"/>
            </a:solidFill>
          </a:ln>
          <a:extLst>
            <a:ext uri="{909E8E84-426E-40DD-AFC4-6F175D3DCCD1}">
              <a14:hiddenFill xmlns:a14="http://schemas.microsoft.com/office/drawing/2010/main">
                <a:solidFill>
                  <a:srgbClr val="DCDCDC"/>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71" name="圆角右箭头 70"/>
          <p:cNvSpPr/>
          <p:nvPr/>
        </p:nvSpPr>
        <p:spPr>
          <a:xfrm rot="16200000">
            <a:off x="5622925" y="3547745"/>
            <a:ext cx="345440" cy="349250"/>
          </a:xfrm>
          <a:prstGeom prst="bentArrow">
            <a:avLst>
              <a:gd name="adj1" fmla="val 4459"/>
              <a:gd name="adj2" fmla="val 7718"/>
              <a:gd name="adj3" fmla="val 12692"/>
              <a:gd name="adj4" fmla="val 43750"/>
            </a:avLst>
          </a:prstGeom>
          <a:noFill/>
          <a:ln>
            <a:solidFill>
              <a:srgbClr val="3368FF"/>
            </a:solidFill>
          </a:ln>
          <a:extLst>
            <a:ext uri="{909E8E84-426E-40DD-AFC4-6F175D3DCCD1}">
              <a14:hiddenFill xmlns:a14="http://schemas.microsoft.com/office/drawing/2010/main">
                <a:solidFill>
                  <a:srgbClr val="DCDCDC"/>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72" name="文本框 71"/>
          <p:cNvSpPr txBox="1"/>
          <p:nvPr/>
        </p:nvSpPr>
        <p:spPr>
          <a:xfrm>
            <a:off x="6576695" y="3138805"/>
            <a:ext cx="475615" cy="337185"/>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业务</a:t>
            </a:r>
            <a:endParaRPr lang="zh-CN" sz="1000">
              <a:solidFill>
                <a:srgbClr val="0042FF"/>
              </a:solidFill>
              <a:latin typeface="微软雅黑"/>
              <a:ea typeface="微软雅黑"/>
              <a:cs typeface="微软雅黑"/>
            </a:endParaRPr>
          </a:p>
          <a:p>
            <a:pP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执行</a:t>
            </a:r>
            <a:endParaRPr lang="zh-CN" sz="1000">
              <a:solidFill>
                <a:srgbClr val="0042FF"/>
              </a:solidFill>
              <a:latin typeface="微软雅黑"/>
              <a:ea typeface="微软雅黑"/>
              <a:cs typeface="微软雅黑"/>
            </a:endParaRPr>
          </a:p>
        </p:txBody>
      </p:sp>
      <p:sp>
        <p:nvSpPr>
          <p:cNvPr id="73" name="文本框 72"/>
          <p:cNvSpPr txBox="1"/>
          <p:nvPr/>
        </p:nvSpPr>
        <p:spPr>
          <a:xfrm>
            <a:off x="6024245" y="3705860"/>
            <a:ext cx="475615" cy="337185"/>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业务</a:t>
            </a:r>
            <a:endParaRPr lang="zh-CN" sz="1000">
              <a:solidFill>
                <a:srgbClr val="0042FF"/>
              </a:solidFill>
              <a:latin typeface="微软雅黑"/>
              <a:ea typeface="微软雅黑"/>
              <a:cs typeface="微软雅黑"/>
            </a:endParaRPr>
          </a:p>
          <a:p>
            <a:pP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监控</a:t>
            </a:r>
            <a:endParaRPr lang="zh-CN" sz="1000">
              <a:solidFill>
                <a:srgbClr val="0042FF"/>
              </a:solidFill>
              <a:latin typeface="微软雅黑"/>
              <a:ea typeface="微软雅黑"/>
              <a:cs typeface="微软雅黑"/>
            </a:endParaRPr>
          </a:p>
        </p:txBody>
      </p:sp>
      <p:sp>
        <p:nvSpPr>
          <p:cNvPr id="74" name="文本框 73"/>
          <p:cNvSpPr txBox="1"/>
          <p:nvPr/>
        </p:nvSpPr>
        <p:spPr>
          <a:xfrm>
            <a:off x="5437505" y="3132455"/>
            <a:ext cx="475615" cy="337185"/>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业务考核</a:t>
            </a:r>
            <a:endParaRPr lang="zh-CN" sz="1000">
              <a:solidFill>
                <a:srgbClr val="0042FF"/>
              </a:solidFill>
              <a:latin typeface="微软雅黑"/>
              <a:ea typeface="微软雅黑"/>
              <a:cs typeface="微软雅黑"/>
            </a:endParaRPr>
          </a:p>
        </p:txBody>
      </p:sp>
      <p:sp>
        <p:nvSpPr>
          <p:cNvPr id="75" name="文本框 74"/>
          <p:cNvSpPr txBox="1"/>
          <p:nvPr/>
        </p:nvSpPr>
        <p:spPr>
          <a:xfrm>
            <a:off x="6024245" y="2618740"/>
            <a:ext cx="475615" cy="337185"/>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战略目标</a:t>
            </a:r>
            <a:endParaRPr lang="zh-CN" sz="1000">
              <a:solidFill>
                <a:srgbClr val="0042FF"/>
              </a:solidFill>
              <a:latin typeface="微软雅黑"/>
              <a:ea typeface="微软雅黑"/>
              <a:cs typeface="微软雅黑"/>
            </a:endParaRPr>
          </a:p>
        </p:txBody>
      </p:sp>
      <p:sp>
        <p:nvSpPr>
          <p:cNvPr id="82" name="文本框 81"/>
          <p:cNvSpPr txBox="1"/>
          <p:nvPr/>
        </p:nvSpPr>
        <p:spPr>
          <a:xfrm>
            <a:off x="1578610" y="3452495"/>
            <a:ext cx="367030" cy="1236345"/>
          </a:xfrm>
          <a:prstGeom prst="rect">
            <a:avLst/>
          </a:prstGeom>
          <a:noFill/>
        </p:spPr>
        <p:txBody>
          <a:bodyPr vert="eaVert" wrap="square" rtlCol="0">
            <a:spAutoFit/>
          </a:bodyPr>
          <a:lstStyle/>
          <a:p>
            <a:pPr>
              <a:defRPr>
                <a:latin typeface="微软雅黑"/>
                <a:ea typeface="微软雅黑"/>
                <a:cs typeface="微软雅黑"/>
              </a:defRPr>
            </a:pPr>
            <a:r>
              <a:rPr lang="zh-CN" altLang="en-US" sz="1200">
                <a:solidFill>
                  <a:srgbClr val="383838"/>
                </a:solidFill>
                <a:latin typeface="微软雅黑"/>
                <a:ea typeface="微软雅黑"/>
                <a:cs typeface="微软雅黑"/>
              </a:rPr>
              <a:t>数据智能驱动</a:t>
            </a:r>
            <a:endParaRPr lang="zh-CN" altLang="en-US" sz="1200">
              <a:solidFill>
                <a:srgbClr val="383838"/>
              </a:solidFill>
              <a:latin typeface="微软雅黑"/>
              <a:ea typeface="微软雅黑"/>
              <a:cs typeface="微软雅黑"/>
            </a:endParaRPr>
          </a:p>
        </p:txBody>
      </p:sp>
      <p:sp>
        <p:nvSpPr>
          <p:cNvPr id="84" name="文本框 83"/>
          <p:cNvSpPr txBox="1"/>
          <p:nvPr/>
        </p:nvSpPr>
        <p:spPr>
          <a:xfrm>
            <a:off x="10481310" y="3475990"/>
            <a:ext cx="367030" cy="1236345"/>
          </a:xfrm>
          <a:prstGeom prst="rect">
            <a:avLst/>
          </a:prstGeom>
          <a:noFill/>
        </p:spPr>
        <p:txBody>
          <a:bodyPr vert="eaVert" wrap="square" rtlCol="0">
            <a:spAutoFit/>
          </a:bodyPr>
          <a:lstStyle/>
          <a:p>
            <a:pPr>
              <a:defRPr>
                <a:latin typeface="微软雅黑"/>
                <a:ea typeface="微软雅黑"/>
                <a:cs typeface="微软雅黑"/>
              </a:defRPr>
            </a:pPr>
            <a:r>
              <a:rPr lang="zh-CN" altLang="en-US" sz="1200">
                <a:solidFill>
                  <a:srgbClr val="383838"/>
                </a:solidFill>
                <a:latin typeface="微软雅黑"/>
                <a:ea typeface="微软雅黑"/>
                <a:cs typeface="微软雅黑"/>
              </a:rPr>
              <a:t>运营模式重构</a:t>
            </a:r>
            <a:endParaRPr lang="zh-CN" altLang="en-US" sz="1200">
              <a:solidFill>
                <a:srgbClr val="383838"/>
              </a:solidFill>
              <a:latin typeface="微软雅黑"/>
              <a:ea typeface="微软雅黑"/>
              <a:cs typeface="微软雅黑"/>
            </a:endParaRPr>
          </a:p>
        </p:txBody>
      </p:sp>
      <p:sp>
        <p:nvSpPr>
          <p:cNvPr id="85" name="右箭头 84"/>
          <p:cNvSpPr/>
          <p:nvPr/>
        </p:nvSpPr>
        <p:spPr>
          <a:xfrm rot="16200000" flipV="1">
            <a:off x="4993640" y="3844290"/>
            <a:ext cx="401320" cy="746125"/>
          </a:xfrm>
          <a:prstGeom prst="rightArrow">
            <a:avLst/>
          </a:prstGeom>
          <a:gradFill>
            <a:gsLst>
              <a:gs pos="0">
                <a:srgbClr val="E6E6E6"/>
              </a:gs>
              <a:gs pos="82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7" name="文本框 86"/>
          <p:cNvSpPr txBox="1"/>
          <p:nvPr/>
        </p:nvSpPr>
        <p:spPr>
          <a:xfrm>
            <a:off x="4996815" y="4081145"/>
            <a:ext cx="443865" cy="337185"/>
          </a:xfrm>
          <a:prstGeom prst="rect">
            <a:avLst/>
          </a:prstGeom>
          <a:noFill/>
          <a:extLst>
            <a:ext uri="{909E8E84-426E-40DD-AFC4-6F175D3DCCD1}">
              <a14:hiddenFill xmlns:a14="http://schemas.microsoft.com/office/drawing/2010/main">
                <a:solidFill>
                  <a:srgbClr val="FFFFFF">
                    <a:alpha val="50000"/>
                  </a:srgbClr>
                </a:solidFill>
              </a14:hiddenFill>
            </a:ext>
          </a:extLst>
        </p:spPr>
        <p:txBody>
          <a:bodyPr wrap="square" rtlCol="0" lIns="0" rIns="0" tIns="0" bIns="0" anchor="t">
            <a:noAutofit/>
          </a:body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a:t>
            </a:r>
            <a:endParaRPr lang="zh-CN" altLang="en-US" sz="1000">
              <a:solidFill>
                <a:srgbClr val="383838"/>
              </a:solidFill>
              <a:latin typeface="微软雅黑"/>
              <a:ea typeface="微软雅黑"/>
              <a:cs typeface="微软雅黑"/>
            </a:endParaRPr>
          </a:p>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服务</a:t>
            </a:r>
            <a:endParaRPr lang="zh-CN" altLang="en-US" sz="1000">
              <a:solidFill>
                <a:srgbClr val="383838"/>
              </a:solidFill>
              <a:latin typeface="微软雅黑"/>
              <a:ea typeface="微软雅黑"/>
              <a:cs typeface="微软雅黑"/>
            </a:endParaRPr>
          </a:p>
        </p:txBody>
      </p:sp>
      <p:sp>
        <p:nvSpPr>
          <p:cNvPr id="88" name="右箭头 87"/>
          <p:cNvSpPr/>
          <p:nvPr/>
        </p:nvSpPr>
        <p:spPr>
          <a:xfrm rot="16200000" flipV="1">
            <a:off x="7042150" y="3860165"/>
            <a:ext cx="401320" cy="746125"/>
          </a:xfrm>
          <a:prstGeom prst="rightArrow">
            <a:avLst/>
          </a:prstGeom>
          <a:gradFill>
            <a:gsLst>
              <a:gs pos="0">
                <a:srgbClr val="E6E6E6"/>
              </a:gs>
              <a:gs pos="73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0" name="文本框 89"/>
          <p:cNvSpPr txBox="1"/>
          <p:nvPr/>
        </p:nvSpPr>
        <p:spPr>
          <a:xfrm>
            <a:off x="3752850" y="4958715"/>
            <a:ext cx="622300" cy="213995"/>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数据采集</a:t>
            </a:r>
            <a:endParaRPr lang="zh-CN" altLang="en-US" sz="1000">
              <a:solidFill>
                <a:srgbClr val="383838"/>
              </a:solidFill>
              <a:latin typeface="微软雅黑"/>
              <a:ea typeface="微软雅黑"/>
              <a:cs typeface="微软雅黑"/>
            </a:endParaRPr>
          </a:p>
        </p:txBody>
      </p:sp>
      <p:sp>
        <p:nvSpPr>
          <p:cNvPr id="93" name="文本框 92"/>
          <p:cNvSpPr txBox="1"/>
          <p:nvPr/>
        </p:nvSpPr>
        <p:spPr>
          <a:xfrm>
            <a:off x="10093325" y="4712335"/>
            <a:ext cx="184150" cy="337185"/>
          </a:xfrm>
          <a:prstGeom prst="rect">
            <a:avLst/>
          </a:prstGeom>
          <a:noFill/>
        </p:spPr>
        <p:txBody>
          <a:bodyPr wrap="square" rtlCol="0" lIns="0" rIns="0" tIns="0" bIns="0" anchor="t">
            <a:noAutofit/>
          </a:body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调用</a:t>
            </a:r>
            <a:endParaRPr lang="zh-CN" altLang="en-US" sz="1000">
              <a:solidFill>
                <a:srgbClr val="383838"/>
              </a:solidFill>
              <a:latin typeface="微软雅黑"/>
              <a:ea typeface="微软雅黑"/>
              <a:cs typeface="微软雅黑"/>
            </a:endParaRPr>
          </a:p>
        </p:txBody>
      </p:sp>
      <p:sp>
        <p:nvSpPr>
          <p:cNvPr id="94" name="文本框 93"/>
          <p:cNvSpPr txBox="1"/>
          <p:nvPr/>
        </p:nvSpPr>
        <p:spPr>
          <a:xfrm>
            <a:off x="2020570" y="4726940"/>
            <a:ext cx="184150" cy="337185"/>
          </a:xfrm>
          <a:prstGeom prst="rect">
            <a:avLst/>
          </a:prstGeom>
          <a:noFill/>
        </p:spPr>
        <p:txBody>
          <a:bodyPr wrap="square" rtlCol="0" lIns="0" rIns="0" tIns="0" bIns="0" anchor="t">
            <a:noAutofit/>
          </a:body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调用</a:t>
            </a:r>
            <a:endParaRPr lang="zh-CN" altLang="en-US" sz="1000">
              <a:solidFill>
                <a:srgbClr val="383838"/>
              </a:solidFill>
              <a:latin typeface="微软雅黑"/>
              <a:ea typeface="微软雅黑"/>
              <a:cs typeface="微软雅黑"/>
            </a:endParaRPr>
          </a:p>
        </p:txBody>
      </p:sp>
      <p:sp>
        <p:nvSpPr>
          <p:cNvPr id="2" name="文本框 1"/>
          <p:cNvSpPr txBox="1"/>
          <p:nvPr/>
        </p:nvSpPr>
        <p:spPr>
          <a:xfrm>
            <a:off x="7055485" y="4097020"/>
            <a:ext cx="443865" cy="337185"/>
          </a:xfrm>
          <a:prstGeom prst="rect">
            <a:avLst/>
          </a:prstGeom>
          <a:noFill/>
          <a:extLst>
            <a:ext uri="{909E8E84-426E-40DD-AFC4-6F175D3DCCD1}">
              <a14:hiddenFill xmlns:a14="http://schemas.microsoft.com/office/drawing/2010/main">
                <a:solidFill>
                  <a:srgbClr val="FFFFFF">
                    <a:alpha val="50000"/>
                  </a:srgbClr>
                </a:solidFill>
              </a14:hiddenFill>
            </a:ext>
          </a:extLst>
        </p:spPr>
        <p:txBody>
          <a:bodyPr wrap="square" rtlCol="0" lIns="0" rIns="0" tIns="0" bIns="0" anchor="t">
            <a:noAutofit/>
          </a:body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a:t>
            </a:r>
            <a:endParaRPr lang="zh-CN" altLang="en-US" sz="1000">
              <a:solidFill>
                <a:srgbClr val="383838"/>
              </a:solidFill>
              <a:latin typeface="微软雅黑"/>
              <a:ea typeface="微软雅黑"/>
              <a:cs typeface="微软雅黑"/>
            </a:endParaRPr>
          </a:p>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服务</a:t>
            </a:r>
            <a:endParaRPr lang="zh-CN" altLang="en-US" sz="1000">
              <a:solidFill>
                <a:srgbClr val="383838"/>
              </a:solidFill>
              <a:latin typeface="微软雅黑"/>
              <a:ea typeface="微软雅黑"/>
              <a:cs typeface="微软雅黑"/>
            </a:endParaRPr>
          </a:p>
        </p:txBody>
      </p:sp>
      <p:sp>
        <p:nvSpPr>
          <p:cNvPr id="3" name="右箭头 2"/>
          <p:cNvSpPr/>
          <p:nvPr/>
        </p:nvSpPr>
        <p:spPr>
          <a:xfrm rot="16200000" flipV="1">
            <a:off x="3937635" y="4853940"/>
            <a:ext cx="532130" cy="746125"/>
          </a:xfrm>
          <a:prstGeom prst="rightArrow">
            <a:avLst/>
          </a:prstGeom>
          <a:gradFill>
            <a:gsLst>
              <a:gs pos="0">
                <a:srgbClr val="0042FF">
                  <a:alpha val="0"/>
                </a:srgbClr>
              </a:gs>
              <a:gs pos="82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 name="文本框 3"/>
          <p:cNvSpPr txBox="1"/>
          <p:nvPr/>
        </p:nvSpPr>
        <p:spPr>
          <a:xfrm>
            <a:off x="4006215" y="5076825"/>
            <a:ext cx="443865" cy="337185"/>
          </a:xfrm>
          <a:prstGeom prst="rect">
            <a:avLst/>
          </a:prstGeom>
          <a:noFill/>
          <a:extLst>
            <a:ext uri="{909E8E84-426E-40DD-AFC4-6F175D3DCCD1}">
              <a14:hiddenFill xmlns:a14="http://schemas.microsoft.com/office/drawing/2010/main">
                <a:solidFill>
                  <a:srgbClr val="FFFFFF">
                    <a:alpha val="50000"/>
                  </a:srgbClr>
                </a:solidFill>
              </a14:hiddenFill>
            </a:ext>
          </a:extLst>
        </p:spPr>
        <p:txBody>
          <a:bodyPr wrap="square" rtlCol="0" lIns="0" rIns="0" tIns="0" bIns="0" anchor="t">
            <a:noAutofit/>
          </a:body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a:t>
            </a:r>
            <a:endParaRPr lang="zh-CN" altLang="en-US" sz="1000">
              <a:solidFill>
                <a:srgbClr val="383838"/>
              </a:solidFill>
              <a:latin typeface="微软雅黑"/>
              <a:ea typeface="微软雅黑"/>
              <a:cs typeface="微软雅黑"/>
            </a:endParaRPr>
          </a:p>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采集</a:t>
            </a:r>
            <a:endParaRPr lang="zh-CN" altLang="en-US" sz="1000">
              <a:solidFill>
                <a:srgbClr val="383838"/>
              </a:solidFill>
              <a:latin typeface="微软雅黑"/>
              <a:ea typeface="微软雅黑"/>
              <a:cs typeface="微软雅黑"/>
            </a:endParaRPr>
          </a:p>
        </p:txBody>
      </p:sp>
      <p:grpSp>
        <p:nvGrpSpPr>
          <p:cNvPr id="103" name="组合 102"/>
          <p:cNvGrpSpPr/>
          <p:nvPr/>
        </p:nvGrpSpPr>
        <p:grpSpPr>
          <a:xfrm>
            <a:off x="876935" y="5277485"/>
            <a:ext cx="10762615" cy="1147445"/>
            <a:chOff x="1341" y="8311"/>
            <a:chExt cx="16894" cy="1807"/>
          </a:xfrm>
        </p:grpSpPr>
        <p:sp>
          <p:nvSpPr>
            <p:cNvPr id="21" name="显眼包PPT21"/>
            <p:cNvSpPr/>
            <p:nvPr/>
          </p:nvSpPr>
          <p:spPr>
            <a:xfrm>
              <a:off x="1341" y="8651"/>
              <a:ext cx="16894" cy="1468"/>
            </a:xfrm>
            <a:prstGeom prst="rect">
              <a:avLst/>
            </a:prstGeom>
            <a:gradFill>
              <a:gsLst>
                <a:gs pos="0">
                  <a:srgbClr val="3368FF"/>
                </a:gs>
                <a:gs pos="100000">
                  <a:srgbClr val="0042FF"/>
                </a:gs>
              </a:gsLst>
              <a:lin ang="4800000" scaled="0"/>
            </a:gradFill>
            <a:ln>
              <a:noFill/>
            </a:ln>
            <a:effectLst>
              <a:innerShdw blurRad="114300">
                <a:srgbClr val="3368FF"/>
              </a:innerShdw>
              <a:reflection blurRad="50800" stA="32000" endPos="38000" dir="5400000" sy="-100000" algn="bl" rotWithShape="0"/>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 name="显眼包PPT22"/>
            <p:cNvSpPr/>
            <p:nvPr/>
          </p:nvSpPr>
          <p:spPr>
            <a:xfrm>
              <a:off x="1341" y="8311"/>
              <a:ext cx="16894" cy="340"/>
            </a:xfrm>
            <a:prstGeom prst="trapezoid">
              <a:avLst>
                <a:gd name="adj" fmla="val 123909"/>
              </a:avLst>
            </a:prstGeom>
            <a:gradFill flip="none" rotWithShape="1">
              <a:gsLst>
                <a:gs pos="17000">
                  <a:srgbClr val="E6E6E6">
                    <a:alpha val="0"/>
                  </a:srgbClr>
                </a:gs>
                <a:gs pos="100000">
                  <a:srgbClr val="E6E6E6">
                    <a:alpha val="71000"/>
                  </a:srgbClr>
                </a:gs>
              </a:gsLst>
              <a:lin ang="5400000" scaled="1"/>
              <a:tileRect/>
            </a:gradFill>
            <a:ln w="9525" cap="rnd">
              <a:gradFill>
                <a:gsLst>
                  <a:gs pos="0">
                    <a:srgbClr val="E6E6E6">
                      <a:alpha val="0"/>
                    </a:srgbClr>
                  </a:gs>
                  <a:gs pos="100000">
                    <a:srgbClr val="0042FF"/>
                  </a:gs>
                </a:gsLst>
                <a:lin ang="5400000" scaled="1"/>
              </a:gradFill>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7" name="显眼包PPT23"/>
            <p:cNvSpPr/>
            <p:nvPr/>
          </p:nvSpPr>
          <p:spPr>
            <a:xfrm>
              <a:off x="1341" y="8651"/>
              <a:ext cx="16894" cy="1468"/>
            </a:xfrm>
            <a:prstGeom prst="rect">
              <a:avLst/>
            </a:prstGeom>
            <a:gradFill>
              <a:gsLst>
                <a:gs pos="18000">
                  <a:srgbClr val="3368FF"/>
                </a:gs>
                <a:gs pos="100000">
                  <a:srgbClr val="0042FF"/>
                </a:gs>
              </a:gsLst>
              <a:lin ang="0" scaled="1"/>
            </a:gradFill>
            <a:ln>
              <a:noFill/>
            </a:ln>
            <a:effectLst>
              <a:innerShdw blurRad="254000">
                <a:srgbClr val="3368FF"/>
              </a:innerShdw>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383838"/>
                  </a:solidFill>
                  <a:latin typeface="微软雅黑"/>
                  <a:ea typeface="微软雅黑"/>
                  <a:cs typeface="微软雅黑"/>
                </a:defRPr>
              </a:pPr>
              <a:endParaRPr lang="zh-CN" altLang="en-US" sz="1600">
                <a:solidFill>
                  <a:srgbClr val="383838"/>
                </a:solidFill>
                <a:latin typeface="微软雅黑"/>
                <a:ea typeface="微软雅黑"/>
                <a:cs typeface="微软雅黑"/>
              </a:endParaRPr>
            </a:p>
          </p:txBody>
        </p:sp>
        <p:grpSp>
          <p:nvGrpSpPr>
            <p:cNvPr id="42" name="显眼包PPT"/>
            <p:cNvGrpSpPr/>
            <p:nvPr/>
          </p:nvGrpSpPr>
          <p:grpSpPr>
            <a:xfrm>
              <a:off x="1569" y="8843"/>
              <a:ext cx="16438" cy="1084"/>
              <a:chOff x="1474664" y="5681844"/>
              <a:chExt cx="10121146" cy="688468"/>
            </a:xfrm>
          </p:grpSpPr>
          <p:sp>
            <p:nvSpPr>
              <p:cNvPr id="46" name="显眼包PPT-1"/>
              <p:cNvSpPr/>
              <p:nvPr/>
            </p:nvSpPr>
            <p:spPr>
              <a:xfrm>
                <a:off x="1474664" y="5681844"/>
                <a:ext cx="1150375" cy="314851"/>
              </a:xfrm>
              <a:prstGeom prst="rect">
                <a:avLst/>
              </a:prstGeom>
              <a:gradFill>
                <a:gsLst>
                  <a:gs pos="62000">
                    <a:srgbClr val="FFFFFF">
                      <a:alpha val="70000"/>
                    </a:srgbClr>
                  </a:gs>
                  <a:gs pos="20000">
                    <a:srgbClr val="FFFFFF"/>
                  </a:gs>
                  <a:gs pos="89000">
                    <a:srgbClr val="FFFFFF"/>
                  </a:gs>
                </a:gsLst>
                <a:lin ang="2700000" scaled="1"/>
              </a:gra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r">
                  <a:defRPr>
                    <a:latin typeface="微软雅黑"/>
                    <a:ea typeface="微软雅黑"/>
                    <a:cs typeface="微软雅黑"/>
                  </a:defRPr>
                </a:pPr>
                <a:r>
                  <a:rPr lang="zh-CN" altLang="en-US" sz="1400" dirty="0">
                    <a:gradFill>
                      <a:gsLst>
                        <a:gs pos="0">
                          <a:srgbClr val="0042FF"/>
                        </a:gs>
                        <a:gs pos="55000">
                          <a:srgbClr val="0042FF"/>
                        </a:gs>
                      </a:gsLst>
                      <a:lin ang="2700000" scaled="1"/>
                    </a:gradFill>
                    <a:latin typeface="微软雅黑"/>
                    <a:ea typeface="微软雅黑"/>
                    <a:cs typeface="微软雅黑"/>
                  </a:rPr>
                  <a:t>应用场景</a:t>
                </a:r>
                <a:endParaRPr lang="zh-CN" altLang="en-US" sz="1400" dirty="0">
                  <a:gradFill>
                    <a:gsLst>
                      <a:gs pos="0">
                        <a:srgbClr val="0042FF"/>
                      </a:gs>
                      <a:gs pos="55000">
                        <a:srgbClr val="0042FF"/>
                      </a:gs>
                    </a:gsLst>
                    <a:lin ang="2700000" scaled="1"/>
                  </a:gradFill>
                  <a:latin typeface="微软雅黑"/>
                  <a:ea typeface="微软雅黑"/>
                  <a:cs typeface="微软雅黑"/>
                </a:endParaRPr>
              </a:p>
            </p:txBody>
          </p:sp>
          <p:sp>
            <p:nvSpPr>
              <p:cNvPr id="60" name="显眼包PPT-2"/>
              <p:cNvSpPr/>
              <p:nvPr/>
            </p:nvSpPr>
            <p:spPr>
              <a:xfrm>
                <a:off x="2674019" y="5681844"/>
                <a:ext cx="8921791" cy="314851"/>
              </a:xfrm>
              <a:prstGeom prst="rect">
                <a:avLst/>
              </a:prstGeom>
              <a:solidFill>
                <a:srgbClr val="FFFFFF">
                  <a:alpha val="92000"/>
                </a:srgbClr>
              </a:soli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grpSp>
            <p:nvGrpSpPr>
              <p:cNvPr id="63" name="组合 62"/>
              <p:cNvGrpSpPr/>
              <p:nvPr/>
            </p:nvGrpSpPr>
            <p:grpSpPr>
              <a:xfrm>
                <a:off x="2976029" y="5735875"/>
                <a:ext cx="8400940" cy="396345"/>
                <a:chOff x="2996018" y="5659929"/>
                <a:chExt cx="8400940" cy="396345"/>
              </a:xfrm>
            </p:grpSpPr>
            <p:sp>
              <p:nvSpPr>
                <p:cNvPr id="68" name="显眼包PPT-3"/>
                <p:cNvSpPr txBox="1"/>
                <p:nvPr/>
              </p:nvSpPr>
              <p:spPr>
                <a:xfrm>
                  <a:off x="2996018" y="5659929"/>
                  <a:ext cx="682466" cy="110520"/>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sz="1200" dirty="0">
                      <a:solidFill>
                        <a:srgbClr val="0042FF"/>
                      </a:solidFill>
                      <a:latin typeface="微软雅黑"/>
                      <a:ea typeface="微软雅黑"/>
                      <a:cs typeface="微软雅黑"/>
                    </a:rPr>
                    <a:t>精准营销</a:t>
                  </a:r>
                  <a:endParaRPr lang="zh-CN" sz="1200" dirty="0">
                    <a:solidFill>
                      <a:srgbClr val="0042FF"/>
                    </a:solidFill>
                    <a:latin typeface="微软雅黑"/>
                    <a:ea typeface="微软雅黑"/>
                    <a:cs typeface="微软雅黑"/>
                  </a:endParaRPr>
                </a:p>
              </p:txBody>
            </p:sp>
            <p:sp>
              <p:nvSpPr>
                <p:cNvPr id="69" name="显眼包PPT-4"/>
                <p:cNvSpPr txBox="1"/>
                <p:nvPr/>
              </p:nvSpPr>
              <p:spPr>
                <a:xfrm>
                  <a:off x="4110223" y="5659929"/>
                  <a:ext cx="895292"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智能化运营</a:t>
                  </a:r>
                  <a:endParaRPr lang="zh-CN" altLang="en-US" sz="1200" dirty="0">
                    <a:solidFill>
                      <a:srgbClr val="0042FF"/>
                    </a:solidFill>
                    <a:latin typeface="微软雅黑"/>
                    <a:ea typeface="微软雅黑"/>
                    <a:cs typeface="微软雅黑"/>
                  </a:endParaRPr>
                </a:p>
              </p:txBody>
            </p:sp>
            <p:sp>
              <p:nvSpPr>
                <p:cNvPr id="70" name="显眼包PPT-5"/>
                <p:cNvSpPr txBox="1"/>
                <p:nvPr/>
              </p:nvSpPr>
              <p:spPr>
                <a:xfrm>
                  <a:off x="5529084" y="5659929"/>
                  <a:ext cx="596862"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用户运营</a:t>
                  </a:r>
                  <a:endParaRPr lang="zh-CN" altLang="en-US" sz="1200" dirty="0">
                    <a:solidFill>
                      <a:srgbClr val="0042FF"/>
                    </a:solidFill>
                    <a:latin typeface="微软雅黑"/>
                    <a:ea typeface="微软雅黑"/>
                    <a:cs typeface="微软雅黑"/>
                  </a:endParaRPr>
                </a:p>
              </p:txBody>
            </p:sp>
            <p:sp>
              <p:nvSpPr>
                <p:cNvPr id="81" name="显眼包PPT-6"/>
                <p:cNvSpPr txBox="1"/>
                <p:nvPr/>
              </p:nvSpPr>
              <p:spPr>
                <a:xfrm>
                  <a:off x="6635495" y="5659929"/>
                  <a:ext cx="615554"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产品运营</a:t>
                  </a:r>
                  <a:endParaRPr lang="zh-CN" altLang="en-US" sz="1200" dirty="0">
                    <a:solidFill>
                      <a:srgbClr val="0042FF"/>
                    </a:solidFill>
                    <a:latin typeface="微软雅黑"/>
                    <a:ea typeface="微软雅黑"/>
                    <a:cs typeface="微软雅黑"/>
                  </a:endParaRPr>
                </a:p>
              </p:txBody>
            </p:sp>
            <p:sp>
              <p:nvSpPr>
                <p:cNvPr id="83" name="显眼包PPT-7"/>
                <p:cNvSpPr txBox="1"/>
                <p:nvPr/>
              </p:nvSpPr>
              <p:spPr>
                <a:xfrm>
                  <a:off x="7605117" y="5659929"/>
                  <a:ext cx="792937" cy="396345"/>
                </a:xfrm>
                <a:prstGeom prst="rect">
                  <a:avLst/>
                </a:prstGeom>
                <a:noFill/>
              </p:spPr>
              <p:txBody>
                <a:bodyPr wrap="square" lIns="0" tIns="0" rIns="0" bIns="0" rtlCol="0">
                  <a:no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智能供应链</a:t>
                  </a:r>
                  <a:endParaRPr lang="zh-CN" altLang="en-US" sz="1200" dirty="0">
                    <a:solidFill>
                      <a:srgbClr val="0042FF"/>
                    </a:solidFill>
                    <a:latin typeface="微软雅黑"/>
                    <a:ea typeface="微软雅黑"/>
                    <a:cs typeface="微软雅黑"/>
                  </a:endParaRPr>
                </a:p>
              </p:txBody>
            </p:sp>
            <p:sp>
              <p:nvSpPr>
                <p:cNvPr id="86" name="显眼包PPT-8"/>
                <p:cNvSpPr txBox="1"/>
                <p:nvPr/>
              </p:nvSpPr>
              <p:spPr>
                <a:xfrm>
                  <a:off x="8713123" y="5659929"/>
                  <a:ext cx="615554"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智能服务</a:t>
                  </a:r>
                  <a:endParaRPr lang="zh-CN" altLang="en-US" sz="1200" dirty="0">
                    <a:solidFill>
                      <a:srgbClr val="0042FF"/>
                    </a:solidFill>
                    <a:latin typeface="微软雅黑"/>
                    <a:ea typeface="微软雅黑"/>
                    <a:cs typeface="微软雅黑"/>
                  </a:endParaRPr>
                </a:p>
              </p:txBody>
            </p:sp>
            <p:sp>
              <p:nvSpPr>
                <p:cNvPr id="92" name="显眼包PPT-9"/>
                <p:cNvSpPr txBox="1"/>
                <p:nvPr/>
              </p:nvSpPr>
              <p:spPr>
                <a:xfrm>
                  <a:off x="9751937" y="5659929"/>
                  <a:ext cx="615554"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en-US" altLang="zh-CN" sz="1200" dirty="0">
                      <a:solidFill>
                        <a:srgbClr val="0042FF"/>
                      </a:solidFill>
                      <a:latin typeface="微软雅黑"/>
                      <a:ea typeface="微软雅黑"/>
                      <a:cs typeface="微软雅黑"/>
                    </a:rPr>
                    <a:t>AI</a:t>
                  </a:r>
                  <a:r>
                    <a:rPr lang="zh-CN" altLang="en-US" sz="1200" dirty="0">
                      <a:solidFill>
                        <a:srgbClr val="0042FF"/>
                      </a:solidFill>
                      <a:latin typeface="微软雅黑"/>
                      <a:ea typeface="微软雅黑"/>
                      <a:cs typeface="微软雅黑"/>
                    </a:rPr>
                    <a:t>客服</a:t>
                  </a:r>
                  <a:endParaRPr lang="zh-CN" altLang="en-US" sz="1200" dirty="0">
                    <a:solidFill>
                      <a:srgbClr val="0042FF"/>
                    </a:solidFill>
                    <a:latin typeface="微软雅黑"/>
                    <a:ea typeface="微软雅黑"/>
                    <a:cs typeface="微软雅黑"/>
                  </a:endParaRPr>
                </a:p>
              </p:txBody>
            </p:sp>
            <p:sp>
              <p:nvSpPr>
                <p:cNvPr id="258" name="显眼包PPT-10"/>
                <p:cNvSpPr txBox="1"/>
                <p:nvPr/>
              </p:nvSpPr>
              <p:spPr>
                <a:xfrm>
                  <a:off x="10800096" y="5659929"/>
                  <a:ext cx="596862"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智能风控</a:t>
                  </a:r>
                  <a:endParaRPr lang="zh-CN" altLang="en-US" sz="1200" dirty="0">
                    <a:solidFill>
                      <a:srgbClr val="0042FF"/>
                    </a:solidFill>
                    <a:latin typeface="微软雅黑"/>
                    <a:ea typeface="微软雅黑"/>
                    <a:cs typeface="微软雅黑"/>
                  </a:endParaRPr>
                </a:p>
              </p:txBody>
            </p:sp>
            <p:cxnSp>
              <p:nvCxnSpPr>
                <p:cNvPr id="259" name="显眼包PPT-11"/>
                <p:cNvCxnSpPr/>
                <p:nvPr/>
              </p:nvCxnSpPr>
              <p:spPr>
                <a:xfrm>
                  <a:off x="3884574"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63" name="显眼包PPT-12"/>
                <p:cNvCxnSpPr/>
                <p:nvPr/>
              </p:nvCxnSpPr>
              <p:spPr>
                <a:xfrm>
                  <a:off x="5231164"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64" name="显眼包PPT-13"/>
                <p:cNvCxnSpPr/>
                <p:nvPr/>
              </p:nvCxnSpPr>
              <p:spPr>
                <a:xfrm>
                  <a:off x="6423865"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65" name="显眼包PPT-14"/>
                <p:cNvCxnSpPr/>
                <p:nvPr/>
              </p:nvCxnSpPr>
              <p:spPr>
                <a:xfrm>
                  <a:off x="7462679"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66" name="显眼包PPT-15"/>
                <p:cNvCxnSpPr/>
                <p:nvPr/>
              </p:nvCxnSpPr>
              <p:spPr>
                <a:xfrm>
                  <a:off x="8501493"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67" name="显眼包PPT-16"/>
                <p:cNvCxnSpPr/>
                <p:nvPr/>
              </p:nvCxnSpPr>
              <p:spPr>
                <a:xfrm>
                  <a:off x="9540307"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68" name="显眼包PPT-17"/>
                <p:cNvCxnSpPr/>
                <p:nvPr/>
              </p:nvCxnSpPr>
              <p:spPr>
                <a:xfrm>
                  <a:off x="10579121"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grpSp>
          <p:sp>
            <p:nvSpPr>
              <p:cNvPr id="97" name="显眼包PPT-19"/>
              <p:cNvSpPr/>
              <p:nvPr/>
            </p:nvSpPr>
            <p:spPr>
              <a:xfrm>
                <a:off x="1474664" y="6055461"/>
                <a:ext cx="1150375" cy="314851"/>
              </a:xfrm>
              <a:prstGeom prst="rect">
                <a:avLst/>
              </a:prstGeom>
              <a:gradFill>
                <a:gsLst>
                  <a:gs pos="62000">
                    <a:srgbClr val="FFFFFF">
                      <a:alpha val="70000"/>
                    </a:srgbClr>
                  </a:gs>
                  <a:gs pos="20000">
                    <a:srgbClr val="FFFFFF"/>
                  </a:gs>
                  <a:gs pos="89000">
                    <a:srgbClr val="FFFFFF"/>
                  </a:gs>
                </a:gsLst>
                <a:lin ang="2700000" scaled="1"/>
              </a:gra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r">
                  <a:defRPr>
                    <a:latin typeface="微软雅黑"/>
                    <a:ea typeface="微软雅黑"/>
                    <a:cs typeface="微软雅黑"/>
                  </a:defRPr>
                </a:pPr>
                <a:r>
                  <a:rPr lang="zh-CN" altLang="en-US" sz="1400" dirty="0">
                    <a:gradFill>
                      <a:gsLst>
                        <a:gs pos="0">
                          <a:srgbClr val="0042FF"/>
                        </a:gs>
                        <a:gs pos="55000">
                          <a:srgbClr val="0042FF"/>
                        </a:gs>
                      </a:gsLst>
                      <a:lin ang="2700000" scaled="1"/>
                    </a:gradFill>
                    <a:latin typeface="微软雅黑"/>
                    <a:ea typeface="微软雅黑"/>
                    <a:cs typeface="微软雅黑"/>
                  </a:rPr>
                  <a:t>基础工具</a:t>
                </a:r>
                <a:endParaRPr lang="zh-CN" altLang="en-US" sz="1400" dirty="0">
                  <a:gradFill>
                    <a:gsLst>
                      <a:gs pos="0">
                        <a:srgbClr val="0042FF"/>
                      </a:gs>
                      <a:gs pos="55000">
                        <a:srgbClr val="0042FF"/>
                      </a:gs>
                    </a:gsLst>
                    <a:lin ang="2700000" scaled="1"/>
                  </a:gradFill>
                  <a:latin typeface="微软雅黑"/>
                  <a:ea typeface="微软雅黑"/>
                  <a:cs typeface="微软雅黑"/>
                </a:endParaRPr>
              </a:p>
            </p:txBody>
          </p:sp>
          <p:sp>
            <p:nvSpPr>
              <p:cNvPr id="224" name="显眼包PPT-20"/>
              <p:cNvSpPr/>
              <p:nvPr/>
            </p:nvSpPr>
            <p:spPr>
              <a:xfrm>
                <a:off x="2674019" y="6055461"/>
                <a:ext cx="8921791" cy="314851"/>
              </a:xfrm>
              <a:prstGeom prst="rect">
                <a:avLst/>
              </a:prstGeom>
              <a:solidFill>
                <a:srgbClr val="FFFFFF">
                  <a:alpha val="92000"/>
                </a:srgbClr>
              </a:solidFill>
              <a:ln w="12700">
                <a:noFill/>
              </a:ln>
              <a:effectLst/>
            </p:spPr>
            <p:style>
              <a:lnRef idx="2">
                <a:srgbClr val="0042FF"/>
              </a:lnRef>
              <a:fillRef idx="1">
                <a:srgbClr val="0042FF"/>
              </a:fillRef>
              <a:effectRef idx="0">
                <a:srgbClr val="0042FF"/>
              </a:effectRef>
              <a:fontRef idx="minor">
                <a:srgbClr val="FFFFFF"/>
              </a:fontRef>
            </p:style>
            <p:txBody>
              <a:bodyPr wrap="none" lIns="97841" tIns="48920" rIns="97841" bIns="48920" rtlCol="0" anchor="ctr"/>
              <a:lstStyle/>
              <a:p>
                <a:pPr algn="ctr">
                  <a:defRPr>
                    <a:latin typeface="微软雅黑"/>
                    <a:ea typeface="微软雅黑"/>
                    <a:cs typeface="微软雅黑"/>
                  </a:defRPr>
                </a:pPr>
                <a:endParaRPr lang="zh-CN" altLang="en-US" sz="1200">
                  <a:solidFill>
                    <a:srgbClr val="383838"/>
                  </a:solidFill>
                  <a:latin typeface="微软雅黑"/>
                  <a:ea typeface="微软雅黑"/>
                  <a:cs typeface="微软雅黑"/>
                </a:endParaRPr>
              </a:p>
            </p:txBody>
          </p:sp>
          <p:grpSp>
            <p:nvGrpSpPr>
              <p:cNvPr id="225" name="组合 224"/>
              <p:cNvGrpSpPr/>
              <p:nvPr/>
            </p:nvGrpSpPr>
            <p:grpSpPr>
              <a:xfrm>
                <a:off x="2890752" y="6109492"/>
                <a:ext cx="8486218" cy="221039"/>
                <a:chOff x="2910741" y="5659929"/>
                <a:chExt cx="8486218" cy="221039"/>
              </a:xfrm>
            </p:grpSpPr>
            <p:sp>
              <p:nvSpPr>
                <p:cNvPr id="236" name="显眼包PPT-21"/>
                <p:cNvSpPr txBox="1"/>
                <p:nvPr/>
              </p:nvSpPr>
              <p:spPr>
                <a:xfrm>
                  <a:off x="2910741" y="5659929"/>
                  <a:ext cx="833443" cy="206430"/>
                </a:xfrm>
                <a:prstGeom prst="rect">
                  <a:avLst/>
                </a:prstGeom>
                <a:noFill/>
              </p:spPr>
              <p:txBody>
                <a:bodyPr wrap="square" lIns="0" tIns="0" rIns="0" bIns="0" rtlCol="0">
                  <a:noAutofit/>
                </a:bodyPr>
                <a:lstStyle/>
                <a:p>
                  <a:pPr algn="ctr">
                    <a:lnSpc>
                      <a:spcPct val="120000"/>
                    </a:lnSpc>
                    <a:spcAft>
                      <a:spcPts val="1200"/>
                    </a:spcAft>
                    <a:defRPr>
                      <a:latin typeface="微软雅黑"/>
                      <a:ea typeface="微软雅黑"/>
                      <a:cs typeface="微软雅黑"/>
                    </a:defRPr>
                  </a:pPr>
                  <a:r>
                    <a:rPr lang="en-US" sz="1200" dirty="0">
                      <a:solidFill>
                        <a:srgbClr val="0042FF"/>
                      </a:solidFill>
                      <a:latin typeface="微软雅黑"/>
                      <a:ea typeface="微软雅黑"/>
                      <a:cs typeface="微软雅黑"/>
                    </a:rPr>
                    <a:t>APP</a:t>
                  </a:r>
                  <a:r>
                    <a:rPr lang="zh-CN" altLang="en-US" sz="1200" dirty="0">
                      <a:solidFill>
                        <a:srgbClr val="0042FF"/>
                      </a:solidFill>
                      <a:latin typeface="微软雅黑"/>
                      <a:ea typeface="微软雅黑"/>
                      <a:cs typeface="微软雅黑"/>
                    </a:rPr>
                    <a:t>埋点</a:t>
                  </a:r>
                  <a:endParaRPr lang="zh-CN" altLang="en-US" sz="1200" dirty="0">
                    <a:solidFill>
                      <a:srgbClr val="0042FF"/>
                    </a:solidFill>
                    <a:latin typeface="微软雅黑"/>
                    <a:ea typeface="微软雅黑"/>
                    <a:cs typeface="微软雅黑"/>
                  </a:endParaRPr>
                </a:p>
              </p:txBody>
            </p:sp>
            <p:sp>
              <p:nvSpPr>
                <p:cNvPr id="237" name="显眼包PPT-22"/>
                <p:cNvSpPr txBox="1"/>
                <p:nvPr/>
              </p:nvSpPr>
              <p:spPr>
                <a:xfrm>
                  <a:off x="4046752" y="5659929"/>
                  <a:ext cx="1080775"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小程序行为日志</a:t>
                  </a:r>
                  <a:endParaRPr lang="zh-CN" altLang="en-US" sz="1200" dirty="0">
                    <a:solidFill>
                      <a:srgbClr val="0042FF"/>
                    </a:solidFill>
                    <a:latin typeface="微软雅黑"/>
                    <a:ea typeface="微软雅黑"/>
                    <a:cs typeface="微软雅黑"/>
                  </a:endParaRPr>
                </a:p>
              </p:txBody>
            </p:sp>
            <p:sp>
              <p:nvSpPr>
                <p:cNvPr id="238" name="显眼包PPT-23"/>
                <p:cNvSpPr txBox="1"/>
                <p:nvPr/>
              </p:nvSpPr>
              <p:spPr>
                <a:xfrm>
                  <a:off x="5529519" y="5659929"/>
                  <a:ext cx="652393"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智能硬件</a:t>
                  </a:r>
                  <a:endParaRPr lang="zh-CN" altLang="en-US" sz="1200" dirty="0">
                    <a:solidFill>
                      <a:srgbClr val="0042FF"/>
                    </a:solidFill>
                    <a:latin typeface="微软雅黑"/>
                    <a:ea typeface="微软雅黑"/>
                    <a:cs typeface="微软雅黑"/>
                  </a:endParaRPr>
                </a:p>
              </p:txBody>
            </p:sp>
            <p:sp>
              <p:nvSpPr>
                <p:cNvPr id="239" name="显眼包PPT-24"/>
                <p:cNvSpPr txBox="1"/>
                <p:nvPr/>
              </p:nvSpPr>
              <p:spPr>
                <a:xfrm>
                  <a:off x="6571016" y="5659929"/>
                  <a:ext cx="751203"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第三方工具</a:t>
                  </a:r>
                  <a:endParaRPr lang="zh-CN" altLang="en-US" sz="1200" dirty="0">
                    <a:solidFill>
                      <a:srgbClr val="0042FF"/>
                    </a:solidFill>
                    <a:latin typeface="微软雅黑"/>
                    <a:ea typeface="微软雅黑"/>
                    <a:cs typeface="微软雅黑"/>
                  </a:endParaRPr>
                </a:p>
              </p:txBody>
            </p:sp>
            <p:sp>
              <p:nvSpPr>
                <p:cNvPr id="241" name="显眼包PPT-25"/>
                <p:cNvSpPr txBox="1"/>
                <p:nvPr/>
              </p:nvSpPr>
              <p:spPr>
                <a:xfrm>
                  <a:off x="7683655" y="5659929"/>
                  <a:ext cx="596862"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开发平台</a:t>
                  </a:r>
                  <a:endParaRPr lang="zh-CN" altLang="en-US" sz="1200" dirty="0">
                    <a:solidFill>
                      <a:srgbClr val="0042FF"/>
                    </a:solidFill>
                    <a:latin typeface="微软雅黑"/>
                    <a:ea typeface="微软雅黑"/>
                    <a:cs typeface="微软雅黑"/>
                  </a:endParaRPr>
                </a:p>
              </p:txBody>
            </p:sp>
            <p:sp>
              <p:nvSpPr>
                <p:cNvPr id="245" name="显眼包PPT-26"/>
                <p:cNvSpPr txBox="1"/>
                <p:nvPr/>
              </p:nvSpPr>
              <p:spPr>
                <a:xfrm>
                  <a:off x="8647862" y="5659929"/>
                  <a:ext cx="746077"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en-US" altLang="zh-CN" sz="1200" dirty="0">
                      <a:solidFill>
                        <a:srgbClr val="0042FF"/>
                      </a:solidFill>
                      <a:latin typeface="微软雅黑"/>
                      <a:ea typeface="微软雅黑"/>
                      <a:cs typeface="微软雅黑"/>
                    </a:rPr>
                    <a:t>AI</a:t>
                  </a:r>
                  <a:r>
                    <a:rPr lang="zh-CN" altLang="en-US" sz="1200" dirty="0">
                      <a:solidFill>
                        <a:srgbClr val="0042FF"/>
                      </a:solidFill>
                      <a:latin typeface="微软雅黑"/>
                      <a:ea typeface="微软雅黑"/>
                      <a:cs typeface="微软雅黑"/>
                    </a:rPr>
                    <a:t>应用</a:t>
                  </a:r>
                  <a:endParaRPr lang="zh-CN" altLang="en-US" sz="1200" dirty="0">
                    <a:solidFill>
                      <a:srgbClr val="0042FF"/>
                    </a:solidFill>
                    <a:latin typeface="微软雅黑"/>
                    <a:ea typeface="微软雅黑"/>
                    <a:cs typeface="微软雅黑"/>
                  </a:endParaRPr>
                </a:p>
              </p:txBody>
            </p:sp>
            <p:sp>
              <p:nvSpPr>
                <p:cNvPr id="251" name="显眼包PPT-27"/>
                <p:cNvSpPr txBox="1"/>
                <p:nvPr/>
              </p:nvSpPr>
              <p:spPr>
                <a:xfrm>
                  <a:off x="9698575" y="5659929"/>
                  <a:ext cx="702105"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sz="1200" dirty="0">
                      <a:solidFill>
                        <a:srgbClr val="0042FF"/>
                      </a:solidFill>
                      <a:latin typeface="微软雅黑"/>
                      <a:ea typeface="微软雅黑"/>
                      <a:cs typeface="微软雅黑"/>
                    </a:rPr>
                    <a:t>核心算法</a:t>
                  </a:r>
                  <a:endParaRPr lang="zh-CN" sz="1200" dirty="0">
                    <a:solidFill>
                      <a:srgbClr val="0042FF"/>
                    </a:solidFill>
                    <a:latin typeface="微软雅黑"/>
                    <a:ea typeface="微软雅黑"/>
                    <a:cs typeface="微软雅黑"/>
                  </a:endParaRPr>
                </a:p>
              </p:txBody>
            </p:sp>
            <p:sp>
              <p:nvSpPr>
                <p:cNvPr id="252" name="显眼包PPT-28"/>
                <p:cNvSpPr txBox="1"/>
                <p:nvPr/>
              </p:nvSpPr>
              <p:spPr>
                <a:xfrm>
                  <a:off x="10800097" y="5659929"/>
                  <a:ext cx="596862" cy="221039"/>
                </a:xfrm>
                <a:prstGeom prst="rect">
                  <a:avLst/>
                </a:prstGeom>
                <a:noFill/>
              </p:spPr>
              <p:txBody>
                <a:bodyPr wrap="square" lIns="0" tIns="0" rIns="0" bIns="0" rtlCol="0">
                  <a:spAutoFit/>
                </a:bodyPr>
                <a:lstStyle/>
                <a:p>
                  <a:pPr algn="ctr">
                    <a:lnSpc>
                      <a:spcPct val="120000"/>
                    </a:lnSpc>
                    <a:spcAft>
                      <a:spcPts val="1200"/>
                    </a:spcAft>
                    <a:defRPr>
                      <a:latin typeface="微软雅黑"/>
                      <a:ea typeface="微软雅黑"/>
                      <a:cs typeface="微软雅黑"/>
                    </a:defRPr>
                  </a:pPr>
                  <a:r>
                    <a:rPr lang="zh-CN" altLang="en-US" sz="1200" dirty="0">
                      <a:solidFill>
                        <a:srgbClr val="0042FF"/>
                      </a:solidFill>
                      <a:latin typeface="微软雅黑"/>
                      <a:ea typeface="微软雅黑"/>
                      <a:cs typeface="微软雅黑"/>
                    </a:rPr>
                    <a:t>云服务</a:t>
                  </a:r>
                  <a:endParaRPr lang="zh-CN" altLang="en-US" sz="1200" dirty="0">
                    <a:solidFill>
                      <a:srgbClr val="0042FF"/>
                    </a:solidFill>
                    <a:latin typeface="微软雅黑"/>
                    <a:ea typeface="微软雅黑"/>
                    <a:cs typeface="微软雅黑"/>
                  </a:endParaRPr>
                </a:p>
              </p:txBody>
            </p:sp>
            <p:cxnSp>
              <p:nvCxnSpPr>
                <p:cNvPr id="253" name="显眼包PPT-29"/>
                <p:cNvCxnSpPr/>
                <p:nvPr/>
              </p:nvCxnSpPr>
              <p:spPr>
                <a:xfrm>
                  <a:off x="3884574"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54" name="显眼包PPT-30"/>
                <p:cNvCxnSpPr/>
                <p:nvPr/>
              </p:nvCxnSpPr>
              <p:spPr>
                <a:xfrm>
                  <a:off x="5231164"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98" name="显眼包PPT-31"/>
                <p:cNvCxnSpPr/>
                <p:nvPr/>
              </p:nvCxnSpPr>
              <p:spPr>
                <a:xfrm>
                  <a:off x="6423865"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99" name="显眼包PPT-32"/>
                <p:cNvCxnSpPr/>
                <p:nvPr/>
              </p:nvCxnSpPr>
              <p:spPr>
                <a:xfrm>
                  <a:off x="7462679"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100" name="显眼包PPT-33"/>
                <p:cNvCxnSpPr/>
                <p:nvPr/>
              </p:nvCxnSpPr>
              <p:spPr>
                <a:xfrm>
                  <a:off x="8501493"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101" name="显眼包PPT-34"/>
                <p:cNvCxnSpPr/>
                <p:nvPr/>
              </p:nvCxnSpPr>
              <p:spPr>
                <a:xfrm>
                  <a:off x="9540307"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102" name="显眼包PPT-35"/>
                <p:cNvCxnSpPr/>
                <p:nvPr/>
              </p:nvCxnSpPr>
              <p:spPr>
                <a:xfrm>
                  <a:off x="10579121" y="5682414"/>
                  <a:ext cx="0" cy="161819"/>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grpSp>
        </p:grpSp>
      </p:grpSp>
      <p:pic>
        <p:nvPicPr>
          <p:cNvPr id="106" name="图片 105" descr="模型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05535" y="5653405"/>
            <a:ext cx="222885" cy="222885"/>
          </a:xfrm>
          <a:prstGeom prst="rect">
            <a:avLst/>
          </a:prstGeom>
        </p:spPr>
      </p:pic>
      <p:pic>
        <p:nvPicPr>
          <p:cNvPr id="107" name="图片 106" descr="应用场景"/>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105535" y="6042660"/>
            <a:ext cx="199390" cy="199390"/>
          </a:xfrm>
          <a:prstGeom prst="rect">
            <a:avLst/>
          </a:prstGeom>
          <a:gradFill>
            <a:gsLst>
              <a:gs pos="18000">
                <a:srgbClr val="3368FF"/>
              </a:gs>
              <a:gs pos="100000">
                <a:srgbClr val="0042FF"/>
              </a:gs>
            </a:gsLst>
            <a:lin ang="0" scaled="1"/>
          </a:gradFill>
          <a:effectLst/>
        </p:spPr>
      </p:pic>
      <p:sp>
        <p:nvSpPr>
          <p:cNvPr id="108" name="右箭头 107"/>
          <p:cNvSpPr/>
          <p:nvPr/>
        </p:nvSpPr>
        <p:spPr>
          <a:xfrm rot="16200000" flipV="1">
            <a:off x="8488680" y="4853940"/>
            <a:ext cx="532130" cy="746125"/>
          </a:xfrm>
          <a:prstGeom prst="rightArrow">
            <a:avLst/>
          </a:prstGeom>
          <a:gradFill>
            <a:gsLst>
              <a:gs pos="0">
                <a:srgbClr val="0042FF">
                  <a:alpha val="0"/>
                </a:srgbClr>
              </a:gs>
              <a:gs pos="82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09" name="文本框 108"/>
          <p:cNvSpPr txBox="1"/>
          <p:nvPr/>
        </p:nvSpPr>
        <p:spPr>
          <a:xfrm>
            <a:off x="8557260" y="5076825"/>
            <a:ext cx="443865" cy="337185"/>
          </a:xfrm>
          <a:prstGeom prst="rect">
            <a:avLst/>
          </a:prstGeom>
          <a:noFill/>
          <a:extLst>
            <a:ext uri="{909E8E84-426E-40DD-AFC4-6F175D3DCCD1}">
              <a14:hiddenFill xmlns:a14="http://schemas.microsoft.com/office/drawing/2010/main">
                <a:solidFill>
                  <a:srgbClr val="FFFFFF">
                    <a:alpha val="50000"/>
                  </a:srgbClr>
                </a:solidFill>
              </a14:hiddenFill>
            </a:ext>
          </a:extLst>
        </p:spPr>
        <p:txBody>
          <a:bodyPr wrap="square" rtlCol="0" lIns="0" rIns="0" tIns="0" bIns="0" anchor="t">
            <a:noAutofit/>
          </a:body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a:t>
            </a:r>
            <a:endParaRPr lang="zh-CN" altLang="en-US" sz="1000">
              <a:solidFill>
                <a:srgbClr val="383838"/>
              </a:solidFill>
              <a:latin typeface="微软雅黑"/>
              <a:ea typeface="微软雅黑"/>
              <a:cs typeface="微软雅黑"/>
            </a:endParaRPr>
          </a:p>
          <a:p>
            <a:pP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采集</a:t>
            </a:r>
            <a:endParaRPr lang="zh-CN" altLang="en-US" sz="1000">
              <a:solidFill>
                <a:srgbClr val="383838"/>
              </a:solidFill>
              <a:latin typeface="微软雅黑"/>
              <a:ea typeface="微软雅黑"/>
              <a:cs typeface="微软雅黑"/>
            </a:endParaRPr>
          </a:p>
        </p:txBody>
      </p:sp>
      <p:grpSp>
        <p:nvGrpSpPr>
          <p:cNvPr id="8" name="组合 7"/>
          <p:cNvGrpSpPr/>
          <p:nvPr/>
        </p:nvGrpSpPr>
        <p:grpSpPr>
          <a:xfrm>
            <a:off x="7675245" y="347980"/>
            <a:ext cx="4588510" cy="367030"/>
            <a:chOff x="12087" y="-1089"/>
            <a:chExt cx="7226" cy="578"/>
          </a:xfrm>
        </p:grpSpPr>
        <p:pic>
          <p:nvPicPr>
            <p:cNvPr id="9" name="图片 8"/>
            <p:cNvPicPr>
              <a:picLocks noChangeAspect="1"/>
            </p:cNvPicPr>
            <p:nvPr userDrawn="1"/>
          </p:nvPicPr>
          <p:blipFill>
            <a:blip r:embed="rId7"/>
            <a:srcRect r="57320" b="-13333"/>
            <a:stretch>
              <a:fillRect/>
            </a:stretch>
          </p:blipFill>
          <p:spPr>
            <a:xfrm>
              <a:off x="12087" y="-1089"/>
              <a:ext cx="2548" cy="578"/>
            </a:xfrm>
            <a:prstGeom prst="rect">
              <a:avLst/>
            </a:prstGeom>
          </p:spPr>
        </p:pic>
        <p:sp>
          <p:nvSpPr>
            <p:cNvPr id="11" name="文本框 10"/>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rPr>
              <a:t>数字化转型框架</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7" name="梯形 6"/>
          <p:cNvSpPr/>
          <p:nvPr/>
        </p:nvSpPr>
        <p:spPr>
          <a:xfrm>
            <a:off x="782320" y="1239520"/>
            <a:ext cx="10566400" cy="843915"/>
          </a:xfrm>
          <a:prstGeom prst="trapezoid">
            <a:avLst>
              <a:gd name="adj" fmla="val 40718"/>
            </a:avLst>
          </a:prstGeom>
          <a:gradFill>
            <a:gsLst>
              <a:gs pos="0">
                <a:srgbClr val="E6E6E6"/>
              </a:gs>
              <a:gs pos="100000">
                <a:srgbClr val="668EFF">
                  <a:alpha val="0"/>
                </a:srgbClr>
              </a:gs>
            </a:gsLst>
            <a:lin ang="5400000"/>
          </a:gradFill>
          <a:ln w="11430">
            <a:solidFill>
              <a:srgbClr val="0042FF"/>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400" b="1" dirty="0">
              <a:solidFill>
                <a:srgbClr val="383838"/>
              </a:solidFill>
              <a:latin typeface="微软雅黑"/>
              <a:ea typeface="微软雅黑"/>
              <a:cs typeface="微软雅黑"/>
              <a:sym typeface="微软雅黑"/>
            </a:endParaRPr>
          </a:p>
        </p:txBody>
      </p:sp>
      <p:sp>
        <p:nvSpPr>
          <p:cNvPr id="2" name="文本框 1"/>
          <p:cNvSpPr txBox="1"/>
          <p:nvPr/>
        </p:nvSpPr>
        <p:spPr>
          <a:xfrm>
            <a:off x="1662430" y="1300480"/>
            <a:ext cx="8980805" cy="368300"/>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b="1" dirty="0">
                <a:solidFill>
                  <a:srgbClr val="383838"/>
                </a:solidFill>
                <a:latin typeface="微软雅黑"/>
                <a:ea typeface="微软雅黑"/>
                <a:cs typeface="微软雅黑"/>
              </a:rPr>
              <a:t>公司数字化转型框架</a:t>
            </a:r>
            <a:endParaRPr lang="zh-CN" altLang="en-US" b="1" dirty="0">
              <a:solidFill>
                <a:srgbClr val="383838"/>
              </a:solidFill>
              <a:latin typeface="微软雅黑"/>
              <a:ea typeface="微软雅黑"/>
              <a:cs typeface="微软雅黑"/>
            </a:endParaRPr>
          </a:p>
        </p:txBody>
      </p:sp>
      <p:sp>
        <p:nvSpPr>
          <p:cNvPr id="8" name="文本框 7"/>
          <p:cNvSpPr txBox="1"/>
          <p:nvPr/>
        </p:nvSpPr>
        <p:spPr>
          <a:xfrm>
            <a:off x="3612515" y="1681480"/>
            <a:ext cx="1583690" cy="332105"/>
          </a:xfrm>
          <a:prstGeom prst="rect">
            <a:avLst/>
          </a:prstGeom>
          <a:noFill/>
          <a:effectLst/>
        </p:spPr>
        <p:txBody>
          <a:bodyPr wrap="square" lIns="0" tIns="0" rIns="0" bIns="0">
            <a:spAutoFit/>
          </a:bodyPr>
          <a:lstStyle>
            <a:defPPr>
              <a:defRPr lang="zh-CN">
                <a:latin typeface="微软雅黑"/>
                <a:ea typeface="微软雅黑"/>
                <a:cs typeface="微软雅黑"/>
              </a:defRPr>
            </a:defPPr>
            <a:lvl1pPr marR="0" lvl="0" indent="0" algn="ctr" fontAlgn="auto">
              <a:lnSpc>
                <a:spcPct val="100000"/>
              </a:lnSpc>
              <a:spcBef>
                <a:spcPts val="0"/>
              </a:spcBef>
              <a:buClrTx/>
              <a:buSzTx/>
              <a:buFontTx/>
              <a:buNone/>
              <a:defRPr kumimoji="0" sz="2660" b="0" i="1" u="none" strike="noStrike" cap="none" spc="300" normalizeH="0" baseline="0">
                <a:ln>
                  <a:noFill/>
                </a:ln>
                <a:gradFill>
                  <a:gsLst>
                    <a:gs pos="0">
                      <a:srgbClr val="0042FF"/>
                    </a:gs>
                    <a:gs pos="100000">
                      <a:srgbClr val="0042FF"/>
                    </a:gs>
                  </a:gsLst>
                  <a:lin ang="5400000" scaled="1"/>
                </a:gradFill>
                <a:effectLst>
                  <a:outerShdw blurRad="180975" dist="36195" dir="2700000" algn="tl">
                    <a:srgbClr val="0042FF">
                      <a:alpha val="43000"/>
                    </a:srgbClr>
                  </a:outerShdw>
                </a:effectLst>
                <a:uLnTx/>
                <a:uFillTx/>
                <a:latin typeface="微软雅黑"/>
                <a:ea typeface="微软雅黑"/>
                <a:cs typeface="微软雅黑"/>
              </a:defRPr>
            </a:lvl1pPr>
          </a:lstStyle>
          <a:p>
            <a:pPr>
              <a:defRPr>
                <a:latin typeface="微软雅黑"/>
                <a:ea typeface="微软雅黑"/>
                <a:cs typeface="微软雅黑"/>
              </a:defRPr>
            </a:pPr>
            <a:r>
              <a:rPr lang="zh-CN" altLang="en-US" sz="1600" i="0" dirty="0">
                <a:solidFill>
                  <a:srgbClr val="383838"/>
                </a:solidFill>
                <a:effectLst/>
                <a:latin typeface="微软雅黑"/>
                <a:ea typeface="微软雅黑"/>
                <a:cs typeface="微软雅黑"/>
              </a:rPr>
              <a:t>业务导向</a:t>
            </a:r>
            <a:endParaRPr lang="zh-CN" altLang="en-US" sz="1600" i="0" dirty="0">
              <a:solidFill>
                <a:srgbClr val="383838"/>
              </a:solidFill>
              <a:effectLst/>
              <a:latin typeface="微软雅黑"/>
              <a:ea typeface="微软雅黑"/>
              <a:cs typeface="微软雅黑"/>
            </a:endParaRPr>
          </a:p>
        </p:txBody>
      </p:sp>
      <p:sp>
        <p:nvSpPr>
          <p:cNvPr id="9" name="文本框 8"/>
          <p:cNvSpPr txBox="1"/>
          <p:nvPr/>
        </p:nvSpPr>
        <p:spPr>
          <a:xfrm>
            <a:off x="5360670" y="1681480"/>
            <a:ext cx="1583690" cy="332105"/>
          </a:xfrm>
          <a:prstGeom prst="rect">
            <a:avLst/>
          </a:prstGeom>
          <a:noFill/>
          <a:effectLst/>
        </p:spPr>
        <p:txBody>
          <a:bodyPr wrap="square" lIns="0" tIns="0" rIns="0" bIns="0">
            <a:spAutoFit/>
          </a:bodyPr>
          <a:lstStyle>
            <a:defPPr>
              <a:defRPr lang="zh-CN">
                <a:latin typeface="微软雅黑"/>
                <a:ea typeface="微软雅黑"/>
                <a:cs typeface="微软雅黑"/>
              </a:defRPr>
            </a:defPPr>
            <a:lvl1pPr marR="0" lvl="0" indent="0" algn="ctr" fontAlgn="auto">
              <a:lnSpc>
                <a:spcPct val="100000"/>
              </a:lnSpc>
              <a:spcBef>
                <a:spcPts val="0"/>
              </a:spcBef>
              <a:buClrTx/>
              <a:buSzTx/>
              <a:buFontTx/>
              <a:buNone/>
              <a:defRPr kumimoji="0" sz="2660" b="0" i="1" u="none" strike="noStrike" cap="none" spc="300" normalizeH="0" baseline="0">
                <a:ln>
                  <a:noFill/>
                </a:ln>
                <a:gradFill>
                  <a:gsLst>
                    <a:gs pos="0">
                      <a:srgbClr val="0042FF"/>
                    </a:gs>
                    <a:gs pos="100000">
                      <a:srgbClr val="0042FF"/>
                    </a:gs>
                  </a:gsLst>
                  <a:lin ang="5400000" scaled="1"/>
                </a:gradFill>
                <a:effectLst>
                  <a:outerShdw blurRad="180975" dist="36195" dir="2700000" algn="tl">
                    <a:srgbClr val="0042FF">
                      <a:alpha val="43000"/>
                    </a:srgbClr>
                  </a:outerShdw>
                </a:effectLst>
                <a:uLnTx/>
                <a:uFillTx/>
                <a:latin typeface="微软雅黑"/>
                <a:ea typeface="微软雅黑"/>
                <a:cs typeface="微软雅黑"/>
              </a:defRPr>
            </a:lvl1pPr>
          </a:lstStyle>
          <a:p>
            <a:pPr>
              <a:defRPr>
                <a:latin typeface="微软雅黑"/>
                <a:ea typeface="微软雅黑"/>
                <a:cs typeface="微软雅黑"/>
              </a:defRPr>
            </a:pPr>
            <a:r>
              <a:rPr lang="zh-CN" altLang="en-US" sz="1600" i="0" dirty="0">
                <a:solidFill>
                  <a:srgbClr val="383838"/>
                </a:solidFill>
                <a:effectLst/>
                <a:latin typeface="微软雅黑"/>
                <a:ea typeface="微软雅黑"/>
                <a:cs typeface="微软雅黑"/>
              </a:rPr>
              <a:t>全力转型</a:t>
            </a:r>
            <a:endParaRPr lang="zh-CN" altLang="en-US" sz="1600" i="0" dirty="0">
              <a:solidFill>
                <a:srgbClr val="383838"/>
              </a:solidFill>
              <a:effectLst/>
              <a:latin typeface="微软雅黑"/>
              <a:ea typeface="微软雅黑"/>
              <a:cs typeface="微软雅黑"/>
            </a:endParaRPr>
          </a:p>
        </p:txBody>
      </p:sp>
      <p:sp>
        <p:nvSpPr>
          <p:cNvPr id="11" name="文本框 10"/>
          <p:cNvSpPr txBox="1"/>
          <p:nvPr/>
        </p:nvSpPr>
        <p:spPr>
          <a:xfrm>
            <a:off x="7233920" y="1681480"/>
            <a:ext cx="1583690" cy="332105"/>
          </a:xfrm>
          <a:prstGeom prst="rect">
            <a:avLst/>
          </a:prstGeom>
          <a:noFill/>
          <a:effectLst/>
        </p:spPr>
        <p:txBody>
          <a:bodyPr wrap="square" lIns="0" tIns="0" rIns="0" bIns="0">
            <a:spAutoFit/>
          </a:bodyPr>
          <a:lstStyle>
            <a:defPPr>
              <a:defRPr lang="zh-CN">
                <a:latin typeface="微软雅黑"/>
                <a:ea typeface="微软雅黑"/>
                <a:cs typeface="微软雅黑"/>
              </a:defRPr>
            </a:defPPr>
            <a:lvl1pPr marR="0" lvl="0" indent="0" algn="ctr" fontAlgn="auto">
              <a:lnSpc>
                <a:spcPct val="100000"/>
              </a:lnSpc>
              <a:spcBef>
                <a:spcPts val="0"/>
              </a:spcBef>
              <a:buClrTx/>
              <a:buSzTx/>
              <a:buFontTx/>
              <a:buNone/>
              <a:defRPr kumimoji="0" sz="2660" b="0" i="1" u="none" strike="noStrike" cap="none" spc="300" normalizeH="0" baseline="0">
                <a:ln>
                  <a:noFill/>
                </a:ln>
                <a:gradFill>
                  <a:gsLst>
                    <a:gs pos="0">
                      <a:srgbClr val="0042FF"/>
                    </a:gs>
                    <a:gs pos="100000">
                      <a:srgbClr val="0042FF"/>
                    </a:gs>
                  </a:gsLst>
                  <a:lin ang="5400000" scaled="1"/>
                </a:gradFill>
                <a:effectLst>
                  <a:outerShdw blurRad="180975" dist="36195" dir="2700000" algn="tl">
                    <a:srgbClr val="0042FF">
                      <a:alpha val="43000"/>
                    </a:srgbClr>
                  </a:outerShdw>
                </a:effectLst>
                <a:uLnTx/>
                <a:uFillTx/>
                <a:latin typeface="微软雅黑"/>
                <a:ea typeface="微软雅黑"/>
                <a:cs typeface="微软雅黑"/>
              </a:defRPr>
            </a:lvl1pPr>
          </a:lstStyle>
          <a:p>
            <a:pPr>
              <a:defRPr>
                <a:latin typeface="微软雅黑"/>
                <a:ea typeface="微软雅黑"/>
                <a:cs typeface="微软雅黑"/>
              </a:defRPr>
            </a:pPr>
            <a:r>
              <a:rPr lang="zh-CN" altLang="en-US" sz="1600" i="0" dirty="0">
                <a:solidFill>
                  <a:srgbClr val="383838"/>
                </a:solidFill>
                <a:effectLst/>
                <a:latin typeface="微软雅黑"/>
                <a:ea typeface="微软雅黑"/>
                <a:cs typeface="微软雅黑"/>
              </a:rPr>
              <a:t>智能辅助</a:t>
            </a:r>
            <a:endParaRPr lang="zh-CN" altLang="en-US" sz="1600" i="0" dirty="0">
              <a:solidFill>
                <a:srgbClr val="383838"/>
              </a:solidFill>
              <a:effectLst/>
              <a:latin typeface="微软雅黑"/>
              <a:ea typeface="微软雅黑"/>
              <a:cs typeface="微软雅黑"/>
            </a:endParaRPr>
          </a:p>
        </p:txBody>
      </p:sp>
      <p:cxnSp>
        <p:nvCxnSpPr>
          <p:cNvPr id="28" name="直接连接符 27"/>
          <p:cNvCxnSpPr/>
          <p:nvPr/>
        </p:nvCxnSpPr>
        <p:spPr>
          <a:xfrm>
            <a:off x="5251450" y="1737995"/>
            <a:ext cx="0" cy="200660"/>
          </a:xfrm>
          <a:prstGeom prst="line">
            <a:avLst/>
          </a:prstGeom>
          <a:ln>
            <a:solidFill>
              <a:srgbClr val="383838"/>
            </a:solidFill>
            <a:prstDash val="dash"/>
          </a:ln>
        </p:spPr>
        <p:style>
          <a:lnRef idx="1">
            <a:srgbClr val="0042FF"/>
          </a:lnRef>
          <a:fillRef idx="0">
            <a:srgbClr val="0042FF"/>
          </a:fillRef>
          <a:effectRef idx="0">
            <a:srgbClr val="0042FF"/>
          </a:effectRef>
          <a:fontRef idx="minor">
            <a:srgbClr val="383838"/>
          </a:fontRef>
        </p:style>
      </p:cxnSp>
      <p:cxnSp>
        <p:nvCxnSpPr>
          <p:cNvPr id="32" name="直接连接符 31"/>
          <p:cNvCxnSpPr/>
          <p:nvPr/>
        </p:nvCxnSpPr>
        <p:spPr>
          <a:xfrm>
            <a:off x="7127240" y="1737995"/>
            <a:ext cx="0" cy="200660"/>
          </a:xfrm>
          <a:prstGeom prst="line">
            <a:avLst/>
          </a:prstGeom>
          <a:ln>
            <a:solidFill>
              <a:srgbClr val="383838"/>
            </a:solidFill>
            <a:prstDash val="dash"/>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547370" y="4825365"/>
            <a:ext cx="11087735" cy="266700"/>
            <a:chOff x="1146486" y="4584771"/>
            <a:chExt cx="9845364" cy="633404"/>
          </a:xfrm>
        </p:grpSpPr>
        <p:sp>
          <p:nvSpPr>
            <p:cNvPr id="6" name="梯形 5"/>
            <p:cNvSpPr/>
            <p:nvPr/>
          </p:nvSpPr>
          <p:spPr>
            <a:xfrm>
              <a:off x="1146486" y="4584771"/>
              <a:ext cx="9845364" cy="524422"/>
            </a:xfrm>
            <a:prstGeom prst="trapezoid">
              <a:avLst>
                <a:gd name="adj" fmla="val 119447"/>
              </a:avLst>
            </a:prstGeom>
            <a:noFill/>
            <a:ln w="12700">
              <a:gradFill>
                <a:gsLst>
                  <a:gs pos="0">
                    <a:srgbClr val="0042FF">
                      <a:alpha val="0"/>
                    </a:srgbClr>
                  </a:gs>
                  <a:gs pos="89000">
                    <a:srgbClr val="0042FF"/>
                  </a:gs>
                </a:gsLst>
                <a:lin ang="5400000" scaled="1"/>
              </a:grad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2" name="矩形 11"/>
            <p:cNvSpPr/>
            <p:nvPr/>
          </p:nvSpPr>
          <p:spPr>
            <a:xfrm>
              <a:off x="1146486" y="5109193"/>
              <a:ext cx="9845364" cy="108982"/>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13" name="组合 12"/>
          <p:cNvGrpSpPr/>
          <p:nvPr/>
        </p:nvGrpSpPr>
        <p:grpSpPr>
          <a:xfrm>
            <a:off x="547370" y="6189345"/>
            <a:ext cx="11087735" cy="266700"/>
            <a:chOff x="1146486" y="4584771"/>
            <a:chExt cx="9845364" cy="633404"/>
          </a:xfrm>
        </p:grpSpPr>
        <p:sp>
          <p:nvSpPr>
            <p:cNvPr id="14" name="梯形 13"/>
            <p:cNvSpPr/>
            <p:nvPr/>
          </p:nvSpPr>
          <p:spPr>
            <a:xfrm>
              <a:off x="1146486" y="4584771"/>
              <a:ext cx="9845364" cy="524422"/>
            </a:xfrm>
            <a:prstGeom prst="trapezoid">
              <a:avLst>
                <a:gd name="adj" fmla="val 119447"/>
              </a:avLst>
            </a:prstGeom>
            <a:noFill/>
            <a:ln w="12700">
              <a:gradFill>
                <a:gsLst>
                  <a:gs pos="0">
                    <a:srgbClr val="FFFFFF"/>
                  </a:gs>
                  <a:gs pos="89000">
                    <a:srgbClr val="3368FF"/>
                  </a:gs>
                </a:gsLst>
                <a:lin ang="5400000" scaled="1"/>
              </a:grad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7" name="矩形 16"/>
            <p:cNvSpPr/>
            <p:nvPr/>
          </p:nvSpPr>
          <p:spPr>
            <a:xfrm>
              <a:off x="1146486" y="5109193"/>
              <a:ext cx="9845364" cy="108982"/>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18" name="矩形 17"/>
          <p:cNvSpPr/>
          <p:nvPr/>
        </p:nvSpPr>
        <p:spPr>
          <a:xfrm>
            <a:off x="1683385" y="2159000"/>
            <a:ext cx="3877310" cy="1569085"/>
          </a:xfrm>
          <a:prstGeom prst="rect">
            <a:avLst/>
          </a:prstGeom>
          <a:noFill/>
          <a:ln w="1143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21" name="矩形 20"/>
          <p:cNvSpPr/>
          <p:nvPr/>
        </p:nvSpPr>
        <p:spPr>
          <a:xfrm>
            <a:off x="5636260" y="2159000"/>
            <a:ext cx="3726180" cy="1569085"/>
          </a:xfrm>
          <a:prstGeom prst="rect">
            <a:avLst/>
          </a:prstGeom>
          <a:noFill/>
          <a:ln w="1143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2" name="矩形 21"/>
          <p:cNvSpPr/>
          <p:nvPr/>
        </p:nvSpPr>
        <p:spPr>
          <a:xfrm>
            <a:off x="9438005" y="2159000"/>
            <a:ext cx="1910715" cy="1569085"/>
          </a:xfrm>
          <a:prstGeom prst="rect">
            <a:avLst/>
          </a:prstGeom>
          <a:noFill/>
          <a:ln w="1143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3" name="矩形 22"/>
          <p:cNvSpPr/>
          <p:nvPr/>
        </p:nvSpPr>
        <p:spPr>
          <a:xfrm>
            <a:off x="782320" y="2174875"/>
            <a:ext cx="750570" cy="1552575"/>
          </a:xfrm>
          <a:prstGeom prst="rect">
            <a:avLst/>
          </a:prstGeom>
          <a:solidFill>
            <a:srgbClr val="E6E6E6">
              <a:alpha val="50000"/>
            </a:srgbClr>
          </a:solidFill>
          <a:ln w="1143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应用</a:t>
            </a:r>
            <a:endParaRPr lang="zh-CN" altLang="en-US" sz="1400" b="1"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endParaRPr lang="zh-CN" altLang="en-US" sz="1400" b="1" dirty="0">
              <a:solidFill>
                <a:srgbClr val="383838"/>
              </a:solidFill>
              <a:latin typeface="微软雅黑"/>
              <a:ea typeface="微软雅黑"/>
              <a:cs typeface="微软雅黑"/>
              <a:sym typeface="微软雅黑"/>
            </a:endParaRPr>
          </a:p>
        </p:txBody>
      </p:sp>
      <p:sp>
        <p:nvSpPr>
          <p:cNvPr id="24" name="文本框 23"/>
          <p:cNvSpPr txBox="1"/>
          <p:nvPr/>
        </p:nvSpPr>
        <p:spPr>
          <a:xfrm>
            <a:off x="782320" y="2972435"/>
            <a:ext cx="749935" cy="229870"/>
          </a:xfrm>
          <a:prstGeom prst="rect">
            <a:avLst/>
          </a:prstGeom>
          <a:noFill/>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Enter your</a:t>
            </a:r>
            <a:endPar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5" name="矩形 24"/>
          <p:cNvSpPr/>
          <p:nvPr/>
        </p:nvSpPr>
        <p:spPr>
          <a:xfrm>
            <a:off x="1683385" y="3808095"/>
            <a:ext cx="9665335" cy="479425"/>
          </a:xfrm>
          <a:prstGeom prst="rect">
            <a:avLst/>
          </a:prstGeom>
          <a:noFill/>
          <a:ln w="11430">
            <a:solidFill>
              <a:srgbClr val="0042FF"/>
            </a:solidFill>
            <a:prstDash val="dash"/>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6" name="矩形 25"/>
          <p:cNvSpPr/>
          <p:nvPr/>
        </p:nvSpPr>
        <p:spPr>
          <a:xfrm>
            <a:off x="782320" y="3808095"/>
            <a:ext cx="750570" cy="1040765"/>
          </a:xfrm>
          <a:prstGeom prst="rect">
            <a:avLst/>
          </a:prstGeom>
          <a:solidFill>
            <a:srgbClr val="E6E6E6"/>
          </a:solidFill>
          <a:ln w="11430">
            <a:solidFill>
              <a:srgbClr val="0042FF"/>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技术</a:t>
            </a:r>
            <a:endParaRPr lang="zh-CN" altLang="en-US" sz="1400" b="1" dirty="0">
              <a:solidFill>
                <a:srgbClr val="383838"/>
              </a:solidFill>
              <a:latin typeface="微软雅黑"/>
              <a:ea typeface="微软雅黑"/>
              <a:cs typeface="微软雅黑"/>
              <a:sym typeface="微软雅黑"/>
            </a:endParaRPr>
          </a:p>
        </p:txBody>
      </p:sp>
      <p:sp>
        <p:nvSpPr>
          <p:cNvPr id="33" name="文本框 32"/>
          <p:cNvSpPr txBox="1"/>
          <p:nvPr/>
        </p:nvSpPr>
        <p:spPr>
          <a:xfrm>
            <a:off x="782320" y="4403725"/>
            <a:ext cx="749935" cy="229870"/>
          </a:xfrm>
          <a:prstGeom prst="rect">
            <a:avLst/>
          </a:prstGeom>
          <a:noFill/>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Enter your</a:t>
            </a:r>
            <a:endPar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4" name="矩形 33"/>
          <p:cNvSpPr/>
          <p:nvPr/>
        </p:nvSpPr>
        <p:spPr>
          <a:xfrm>
            <a:off x="782320" y="5200015"/>
            <a:ext cx="750570" cy="1089660"/>
          </a:xfrm>
          <a:prstGeom prst="rect">
            <a:avLst/>
          </a:prstGeom>
          <a:solidFill>
            <a:srgbClr val="FFFFFF"/>
          </a:solidFill>
          <a:ln w="1143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支撑</a:t>
            </a:r>
            <a:endParaRPr lang="en-US" altLang="zh-CN" sz="1400" b="1" dirty="0">
              <a:solidFill>
                <a:srgbClr val="0042FF"/>
              </a:solidFill>
              <a:latin typeface="微软雅黑"/>
              <a:ea typeface="微软雅黑"/>
              <a:cs typeface="微软雅黑"/>
            </a:endParaRPr>
          </a:p>
          <a:p>
            <a:pPr algn="ctr">
              <a:defRPr>
                <a:latin typeface="微软雅黑"/>
                <a:ea typeface="微软雅黑"/>
                <a:cs typeface="微软雅黑"/>
              </a:defRPr>
            </a:pPr>
            <a:endParaRPr lang="en-US" altLang="zh-CN" sz="1400" b="1" dirty="0">
              <a:solidFill>
                <a:srgbClr val="0042FF"/>
              </a:solidFill>
              <a:latin typeface="微软雅黑"/>
              <a:ea typeface="微软雅黑"/>
              <a:cs typeface="微软雅黑"/>
            </a:endParaRPr>
          </a:p>
        </p:txBody>
      </p:sp>
      <p:sp>
        <p:nvSpPr>
          <p:cNvPr id="35" name="文本框 34"/>
          <p:cNvSpPr txBox="1"/>
          <p:nvPr/>
        </p:nvSpPr>
        <p:spPr>
          <a:xfrm>
            <a:off x="782320" y="5738495"/>
            <a:ext cx="749935" cy="229870"/>
          </a:xfrm>
          <a:prstGeom prst="rect">
            <a:avLst/>
          </a:prstGeom>
          <a:noFill/>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0042FF"/>
                </a:solidFill>
                <a:effectLst/>
                <a:uLnTx/>
                <a:uFillTx/>
                <a:latin typeface="微软雅黑"/>
                <a:ea typeface="微软雅黑"/>
                <a:cs typeface="微软雅黑"/>
              </a:rPr>
              <a:t>Enter your</a:t>
            </a:r>
            <a:endParaRPr kumimoji="0" lang="en-US" altLang="zh-CN" sz="100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6" name="文本框 35"/>
          <p:cNvSpPr txBox="1"/>
          <p:nvPr/>
        </p:nvSpPr>
        <p:spPr>
          <a:xfrm>
            <a:off x="3374390" y="2232660"/>
            <a:ext cx="474345"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销售</a:t>
            </a:r>
            <a:endParaRPr lang="zh-CN" altLang="en-US" sz="1000" b="1" dirty="0">
              <a:solidFill>
                <a:srgbClr val="0042FF"/>
              </a:solidFill>
              <a:latin typeface="微软雅黑"/>
              <a:ea typeface="微软雅黑"/>
              <a:cs typeface="微软雅黑"/>
            </a:endParaRPr>
          </a:p>
        </p:txBody>
      </p:sp>
      <p:sp>
        <p:nvSpPr>
          <p:cNvPr id="37" name="矩形: 圆角 451"/>
          <p:cNvSpPr/>
          <p:nvPr/>
        </p:nvSpPr>
        <p:spPr>
          <a:xfrm>
            <a:off x="1972310" y="258254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智慧营销</a:t>
            </a:r>
            <a:endParaRPr lang="zh-CN" altLang="en-US" sz="1000" b="1" dirty="0">
              <a:solidFill>
                <a:srgbClr val="FFFFFF"/>
              </a:solidFill>
              <a:latin typeface="微软雅黑"/>
              <a:ea typeface="微软雅黑"/>
              <a:cs typeface="微软雅黑"/>
            </a:endParaRPr>
          </a:p>
        </p:txBody>
      </p:sp>
      <p:sp>
        <p:nvSpPr>
          <p:cNvPr id="38" name="矩形: 圆角 452"/>
          <p:cNvSpPr/>
          <p:nvPr/>
        </p:nvSpPr>
        <p:spPr>
          <a:xfrm>
            <a:off x="3126105" y="258254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智能电商</a:t>
            </a:r>
            <a:endParaRPr lang="zh-CN" altLang="en-US" sz="1000" b="1" dirty="0">
              <a:solidFill>
                <a:srgbClr val="FFFFFF"/>
              </a:solidFill>
              <a:latin typeface="微软雅黑"/>
              <a:ea typeface="微软雅黑"/>
              <a:cs typeface="微软雅黑"/>
              <a:sym typeface="微软雅黑"/>
            </a:endParaRPr>
          </a:p>
        </p:txBody>
      </p:sp>
      <p:sp>
        <p:nvSpPr>
          <p:cNvPr id="46" name="矩形: 圆角 453"/>
          <p:cNvSpPr/>
          <p:nvPr/>
        </p:nvSpPr>
        <p:spPr>
          <a:xfrm>
            <a:off x="4280535" y="258254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智慧CRM</a:t>
            </a:r>
            <a:endParaRPr lang="zh-CN" altLang="en-US" sz="1000" b="1" dirty="0">
              <a:solidFill>
                <a:srgbClr val="FFFFFF"/>
              </a:solidFill>
              <a:latin typeface="微软雅黑"/>
              <a:ea typeface="微软雅黑"/>
              <a:cs typeface="微软雅黑"/>
              <a:sym typeface="微软雅黑"/>
            </a:endParaRPr>
          </a:p>
        </p:txBody>
      </p:sp>
      <p:sp>
        <p:nvSpPr>
          <p:cNvPr id="47" name="矩形: 圆角 454"/>
          <p:cNvSpPr/>
          <p:nvPr/>
        </p:nvSpPr>
        <p:spPr>
          <a:xfrm>
            <a:off x="1972310" y="294576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统一支付</a:t>
            </a:r>
            <a:endParaRPr lang="zh-CN" altLang="en-US" sz="1000" b="1" dirty="0">
              <a:solidFill>
                <a:srgbClr val="FFFFFF"/>
              </a:solidFill>
              <a:latin typeface="微软雅黑"/>
              <a:ea typeface="微软雅黑"/>
              <a:cs typeface="微软雅黑"/>
              <a:sym typeface="微软雅黑"/>
            </a:endParaRPr>
          </a:p>
        </p:txBody>
      </p:sp>
      <p:sp>
        <p:nvSpPr>
          <p:cNvPr id="50" name="矩形: 圆角 455"/>
          <p:cNvSpPr/>
          <p:nvPr/>
        </p:nvSpPr>
        <p:spPr>
          <a:xfrm>
            <a:off x="3126105" y="294576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全渠道系统</a:t>
            </a:r>
            <a:endParaRPr lang="zh-CN" altLang="en-US" sz="1000" b="1" dirty="0">
              <a:solidFill>
                <a:srgbClr val="FFFFFF"/>
              </a:solidFill>
              <a:latin typeface="微软雅黑"/>
              <a:ea typeface="微软雅黑"/>
              <a:cs typeface="微软雅黑"/>
              <a:sym typeface="微软雅黑"/>
            </a:endParaRPr>
          </a:p>
        </p:txBody>
      </p:sp>
      <p:sp>
        <p:nvSpPr>
          <p:cNvPr id="51" name="矩形: 圆角 456"/>
          <p:cNvSpPr/>
          <p:nvPr/>
        </p:nvSpPr>
        <p:spPr>
          <a:xfrm>
            <a:off x="4280535" y="294576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数字货币</a:t>
            </a:r>
            <a:endParaRPr lang="zh-CN" altLang="en-US" sz="1000" b="1" dirty="0">
              <a:solidFill>
                <a:srgbClr val="FFFFFF"/>
              </a:solidFill>
              <a:latin typeface="微软雅黑"/>
              <a:ea typeface="微软雅黑"/>
              <a:cs typeface="微软雅黑"/>
              <a:sym typeface="微软雅黑"/>
            </a:endParaRPr>
          </a:p>
        </p:txBody>
      </p:sp>
      <p:sp>
        <p:nvSpPr>
          <p:cNvPr id="52" name="矩形: 圆角 458"/>
          <p:cNvSpPr/>
          <p:nvPr/>
        </p:nvSpPr>
        <p:spPr>
          <a:xfrm>
            <a:off x="1972310" y="330898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智慧码管理</a:t>
            </a:r>
            <a:endParaRPr lang="zh-CN" altLang="en-US" sz="1000" b="1" dirty="0">
              <a:solidFill>
                <a:srgbClr val="FFFFFF"/>
              </a:solidFill>
              <a:latin typeface="微软雅黑"/>
              <a:ea typeface="微软雅黑"/>
              <a:cs typeface="微软雅黑"/>
              <a:sym typeface="微软雅黑"/>
            </a:endParaRPr>
          </a:p>
        </p:txBody>
      </p:sp>
      <p:sp>
        <p:nvSpPr>
          <p:cNvPr id="54" name="矩形: 圆角 459"/>
          <p:cNvSpPr/>
          <p:nvPr/>
        </p:nvSpPr>
        <p:spPr>
          <a:xfrm>
            <a:off x="3126105" y="330898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物联网系统</a:t>
            </a:r>
            <a:endParaRPr lang="zh-CN" altLang="en-US" sz="1000" b="1" dirty="0">
              <a:solidFill>
                <a:srgbClr val="FFFFFF"/>
              </a:solidFill>
              <a:latin typeface="微软雅黑"/>
              <a:ea typeface="微软雅黑"/>
              <a:cs typeface="微软雅黑"/>
              <a:sym typeface="微软雅黑"/>
            </a:endParaRPr>
          </a:p>
        </p:txBody>
      </p:sp>
      <p:sp>
        <p:nvSpPr>
          <p:cNvPr id="55" name="矩形: 圆角 469"/>
          <p:cNvSpPr/>
          <p:nvPr/>
        </p:nvSpPr>
        <p:spPr>
          <a:xfrm>
            <a:off x="4280535" y="330898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智慧会员</a:t>
            </a:r>
            <a:endParaRPr lang="zh-CN" altLang="en-US" sz="1000" b="1" dirty="0">
              <a:solidFill>
                <a:srgbClr val="FFFFFF"/>
              </a:solidFill>
              <a:latin typeface="微软雅黑"/>
              <a:ea typeface="微软雅黑"/>
              <a:cs typeface="微软雅黑"/>
              <a:sym typeface="微软雅黑"/>
            </a:endParaRPr>
          </a:p>
        </p:txBody>
      </p:sp>
      <p:cxnSp>
        <p:nvCxnSpPr>
          <p:cNvPr id="61" name="直接连接符 60"/>
          <p:cNvCxnSpPr/>
          <p:nvPr/>
        </p:nvCxnSpPr>
        <p:spPr>
          <a:xfrm>
            <a:off x="1997710" y="2317115"/>
            <a:ext cx="1245870" cy="0"/>
          </a:xfrm>
          <a:prstGeom prst="line">
            <a:avLst/>
          </a:prstGeom>
          <a:ln>
            <a:gradFill flip="none" rotWithShape="1">
              <a:gsLst>
                <a:gs pos="0">
                  <a:srgbClr val="3368FF">
                    <a:alpha val="0"/>
                  </a:srgbClr>
                </a:gs>
                <a:gs pos="100000">
                  <a:srgbClr val="3368FF"/>
                </a:gs>
              </a:gsLst>
              <a:lin ang="0" scaled="1"/>
              <a:tileRect/>
            </a:gradFill>
            <a:prstDash val="solid"/>
          </a:ln>
        </p:spPr>
        <p:style>
          <a:lnRef idx="1">
            <a:srgbClr val="0042FF"/>
          </a:lnRef>
          <a:fillRef idx="0">
            <a:srgbClr val="0042FF"/>
          </a:fillRef>
          <a:effectRef idx="0">
            <a:srgbClr val="0042FF"/>
          </a:effectRef>
          <a:fontRef idx="minor">
            <a:srgbClr val="383838"/>
          </a:fontRef>
        </p:style>
      </p:cxnSp>
      <p:cxnSp>
        <p:nvCxnSpPr>
          <p:cNvPr id="62" name="直接连接符 61"/>
          <p:cNvCxnSpPr/>
          <p:nvPr/>
        </p:nvCxnSpPr>
        <p:spPr>
          <a:xfrm flipH="1">
            <a:off x="3945255" y="2317115"/>
            <a:ext cx="1245870" cy="0"/>
          </a:xfrm>
          <a:prstGeom prst="line">
            <a:avLst/>
          </a:prstGeom>
          <a:ln>
            <a:gradFill flip="none" rotWithShape="1">
              <a:gsLst>
                <a:gs pos="0">
                  <a:srgbClr val="3368FF">
                    <a:alpha val="0"/>
                  </a:srgbClr>
                </a:gs>
                <a:gs pos="100000">
                  <a:srgbClr val="3368FF"/>
                </a:gs>
              </a:gsLst>
              <a:lin ang="0" scaled="1"/>
              <a:tileRect/>
            </a:gradFill>
            <a:prstDash val="solid"/>
          </a:ln>
        </p:spPr>
        <p:style>
          <a:lnRef idx="1">
            <a:srgbClr val="0042FF"/>
          </a:lnRef>
          <a:fillRef idx="0">
            <a:srgbClr val="0042FF"/>
          </a:fillRef>
          <a:effectRef idx="0">
            <a:srgbClr val="0042FF"/>
          </a:effectRef>
          <a:fontRef idx="minor">
            <a:srgbClr val="383838"/>
          </a:fontRef>
        </p:style>
      </p:cxnSp>
      <p:sp>
        <p:nvSpPr>
          <p:cNvPr id="71" name="文本框 70"/>
          <p:cNvSpPr txBox="1"/>
          <p:nvPr/>
        </p:nvSpPr>
        <p:spPr>
          <a:xfrm>
            <a:off x="7251700" y="2232660"/>
            <a:ext cx="474345"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生产</a:t>
            </a:r>
            <a:endParaRPr lang="zh-CN" altLang="en-US" sz="1000" b="1" dirty="0">
              <a:solidFill>
                <a:srgbClr val="0042FF"/>
              </a:solidFill>
              <a:latin typeface="微软雅黑"/>
              <a:ea typeface="微软雅黑"/>
              <a:cs typeface="微软雅黑"/>
            </a:endParaRPr>
          </a:p>
        </p:txBody>
      </p:sp>
      <p:sp>
        <p:nvSpPr>
          <p:cNvPr id="76" name="矩形: 圆角 474"/>
          <p:cNvSpPr/>
          <p:nvPr/>
        </p:nvSpPr>
        <p:spPr>
          <a:xfrm>
            <a:off x="5848985" y="258254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智慧物流</a:t>
            </a:r>
            <a:endParaRPr lang="zh-CN" altLang="en-US" sz="1000" b="1" dirty="0">
              <a:solidFill>
                <a:srgbClr val="FFFFFF"/>
              </a:solidFill>
              <a:latin typeface="微软雅黑"/>
              <a:ea typeface="微软雅黑"/>
              <a:cs typeface="微软雅黑"/>
              <a:sym typeface="微软雅黑"/>
            </a:endParaRPr>
          </a:p>
        </p:txBody>
      </p:sp>
      <p:sp>
        <p:nvSpPr>
          <p:cNvPr id="81" name="矩形: 圆角 475"/>
          <p:cNvSpPr/>
          <p:nvPr/>
        </p:nvSpPr>
        <p:spPr>
          <a:xfrm>
            <a:off x="7003415" y="258254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智慧仓储</a:t>
            </a:r>
            <a:endParaRPr lang="zh-CN" altLang="en-US" sz="1000" b="1" dirty="0">
              <a:solidFill>
                <a:srgbClr val="FFFFFF"/>
              </a:solidFill>
              <a:latin typeface="微软雅黑"/>
              <a:ea typeface="微软雅黑"/>
              <a:cs typeface="微软雅黑"/>
              <a:sym typeface="微软雅黑"/>
            </a:endParaRPr>
          </a:p>
        </p:txBody>
      </p:sp>
      <p:sp>
        <p:nvSpPr>
          <p:cNvPr id="89" name="矩形: 圆角 476"/>
          <p:cNvSpPr/>
          <p:nvPr/>
        </p:nvSpPr>
        <p:spPr>
          <a:xfrm>
            <a:off x="8157845" y="258254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智慧WMS</a:t>
            </a:r>
            <a:endParaRPr lang="zh-CN" altLang="en-US" sz="1000" b="1" dirty="0">
              <a:solidFill>
                <a:srgbClr val="FFFFFF"/>
              </a:solidFill>
              <a:latin typeface="微软雅黑"/>
              <a:ea typeface="微软雅黑"/>
              <a:cs typeface="微软雅黑"/>
              <a:sym typeface="微软雅黑"/>
            </a:endParaRPr>
          </a:p>
        </p:txBody>
      </p:sp>
      <p:sp>
        <p:nvSpPr>
          <p:cNvPr id="90" name="矩形: 圆角 477"/>
          <p:cNvSpPr/>
          <p:nvPr/>
        </p:nvSpPr>
        <p:spPr>
          <a:xfrm>
            <a:off x="5848985" y="294576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智慧排产</a:t>
            </a:r>
            <a:endParaRPr lang="zh-CN" altLang="en-US" sz="1000" b="1" dirty="0">
              <a:solidFill>
                <a:srgbClr val="FFFFFF"/>
              </a:solidFill>
              <a:latin typeface="微软雅黑"/>
              <a:ea typeface="微软雅黑"/>
              <a:cs typeface="微软雅黑"/>
              <a:sym typeface="微软雅黑"/>
            </a:endParaRPr>
          </a:p>
        </p:txBody>
      </p:sp>
      <p:sp>
        <p:nvSpPr>
          <p:cNvPr id="91" name="矩形: 圆角 478"/>
          <p:cNvSpPr/>
          <p:nvPr/>
        </p:nvSpPr>
        <p:spPr>
          <a:xfrm>
            <a:off x="7003415" y="294576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智慧物料</a:t>
            </a:r>
            <a:endParaRPr lang="zh-CN" altLang="en-US" sz="1000" b="1" dirty="0">
              <a:solidFill>
                <a:srgbClr val="FFFFFF"/>
              </a:solidFill>
              <a:latin typeface="微软雅黑"/>
              <a:ea typeface="微软雅黑"/>
              <a:cs typeface="微软雅黑"/>
              <a:sym typeface="微软雅黑"/>
            </a:endParaRPr>
          </a:p>
        </p:txBody>
      </p:sp>
      <p:sp>
        <p:nvSpPr>
          <p:cNvPr id="92" name="矩形: 圆角 479"/>
          <p:cNvSpPr/>
          <p:nvPr/>
        </p:nvSpPr>
        <p:spPr>
          <a:xfrm>
            <a:off x="8157845" y="294576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智慧供应链</a:t>
            </a:r>
            <a:endParaRPr lang="zh-CN" altLang="en-US" sz="1000" b="1" dirty="0">
              <a:solidFill>
                <a:srgbClr val="FFFFFF"/>
              </a:solidFill>
              <a:latin typeface="微软雅黑"/>
              <a:ea typeface="微软雅黑"/>
              <a:cs typeface="微软雅黑"/>
              <a:sym typeface="微软雅黑"/>
            </a:endParaRPr>
          </a:p>
        </p:txBody>
      </p:sp>
      <p:sp>
        <p:nvSpPr>
          <p:cNvPr id="93" name="矩形: 圆角 480"/>
          <p:cNvSpPr/>
          <p:nvPr/>
        </p:nvSpPr>
        <p:spPr>
          <a:xfrm>
            <a:off x="5848985" y="330898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智慧DMC</a:t>
            </a:r>
            <a:endParaRPr lang="zh-CN" altLang="en-US" sz="1000" b="1" dirty="0">
              <a:solidFill>
                <a:srgbClr val="FFFFFF"/>
              </a:solidFill>
              <a:latin typeface="微软雅黑"/>
              <a:ea typeface="微软雅黑"/>
              <a:cs typeface="微软雅黑"/>
              <a:sym typeface="微软雅黑"/>
            </a:endParaRPr>
          </a:p>
        </p:txBody>
      </p:sp>
      <p:sp>
        <p:nvSpPr>
          <p:cNvPr id="94" name="矩形: 圆角 481"/>
          <p:cNvSpPr/>
          <p:nvPr/>
        </p:nvSpPr>
        <p:spPr>
          <a:xfrm>
            <a:off x="7003415" y="330898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智慧货架</a:t>
            </a:r>
            <a:endParaRPr lang="zh-CN" altLang="en-US" sz="1000" b="1" dirty="0">
              <a:solidFill>
                <a:srgbClr val="FFFFFF"/>
              </a:solidFill>
              <a:latin typeface="微软雅黑"/>
              <a:ea typeface="微软雅黑"/>
              <a:cs typeface="微软雅黑"/>
              <a:sym typeface="微软雅黑"/>
            </a:endParaRPr>
          </a:p>
        </p:txBody>
      </p:sp>
      <p:cxnSp>
        <p:nvCxnSpPr>
          <p:cNvPr id="97" name="直接连接符 96"/>
          <p:cNvCxnSpPr/>
          <p:nvPr/>
        </p:nvCxnSpPr>
        <p:spPr>
          <a:xfrm>
            <a:off x="5875020" y="2317115"/>
            <a:ext cx="1245870" cy="0"/>
          </a:xfrm>
          <a:prstGeom prst="line">
            <a:avLst/>
          </a:prstGeom>
          <a:ln>
            <a:gradFill flip="none" rotWithShape="1">
              <a:gsLst>
                <a:gs pos="0">
                  <a:srgbClr val="3368FF">
                    <a:alpha val="0"/>
                  </a:srgbClr>
                </a:gs>
                <a:gs pos="100000">
                  <a:srgbClr val="3368FF"/>
                </a:gs>
              </a:gsLst>
              <a:lin ang="0" scaled="1"/>
              <a:tileRect/>
            </a:gradFill>
            <a:prstDash val="solid"/>
          </a:ln>
        </p:spPr>
        <p:style>
          <a:lnRef idx="1">
            <a:srgbClr val="0042FF"/>
          </a:lnRef>
          <a:fillRef idx="0">
            <a:srgbClr val="0042FF"/>
          </a:fillRef>
          <a:effectRef idx="0">
            <a:srgbClr val="0042FF"/>
          </a:effectRef>
          <a:fontRef idx="minor">
            <a:srgbClr val="383838"/>
          </a:fontRef>
        </p:style>
      </p:cxnSp>
      <p:cxnSp>
        <p:nvCxnSpPr>
          <p:cNvPr id="98" name="直接连接符 97"/>
          <p:cNvCxnSpPr/>
          <p:nvPr/>
        </p:nvCxnSpPr>
        <p:spPr>
          <a:xfrm flipH="1">
            <a:off x="7822565" y="2317115"/>
            <a:ext cx="1245870" cy="0"/>
          </a:xfrm>
          <a:prstGeom prst="line">
            <a:avLst/>
          </a:prstGeom>
          <a:ln>
            <a:gradFill flip="none" rotWithShape="1">
              <a:gsLst>
                <a:gs pos="0">
                  <a:srgbClr val="3368FF">
                    <a:alpha val="0"/>
                  </a:srgbClr>
                </a:gs>
                <a:gs pos="100000">
                  <a:srgbClr val="3368FF"/>
                </a:gs>
              </a:gsLst>
              <a:lin ang="0" scaled="1"/>
              <a:tileRect/>
            </a:gradFill>
            <a:prstDash val="solid"/>
          </a:ln>
        </p:spPr>
        <p:style>
          <a:lnRef idx="1">
            <a:srgbClr val="0042FF"/>
          </a:lnRef>
          <a:fillRef idx="0">
            <a:srgbClr val="0042FF"/>
          </a:fillRef>
          <a:effectRef idx="0">
            <a:srgbClr val="0042FF"/>
          </a:effectRef>
          <a:fontRef idx="minor">
            <a:srgbClr val="383838"/>
          </a:fontRef>
        </p:style>
      </p:cxnSp>
      <p:sp>
        <p:nvSpPr>
          <p:cNvPr id="99" name="矩形: 圆角 485"/>
          <p:cNvSpPr/>
          <p:nvPr/>
        </p:nvSpPr>
        <p:spPr>
          <a:xfrm>
            <a:off x="9943465" y="258254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智慧人力</a:t>
            </a:r>
            <a:endParaRPr lang="zh-CN" altLang="en-US" sz="1000" b="1" dirty="0">
              <a:solidFill>
                <a:srgbClr val="FFFFFF"/>
              </a:solidFill>
              <a:latin typeface="微软雅黑"/>
              <a:ea typeface="微软雅黑"/>
              <a:cs typeface="微软雅黑"/>
              <a:sym typeface="微软雅黑"/>
            </a:endParaRPr>
          </a:p>
        </p:txBody>
      </p:sp>
      <p:sp>
        <p:nvSpPr>
          <p:cNvPr id="100" name="矩形: 圆角 488"/>
          <p:cNvSpPr/>
          <p:nvPr/>
        </p:nvSpPr>
        <p:spPr>
          <a:xfrm>
            <a:off x="9943465" y="294576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智慧OA</a:t>
            </a:r>
            <a:endParaRPr lang="zh-CN" altLang="en-US" sz="1000" b="1" dirty="0">
              <a:solidFill>
                <a:srgbClr val="FFFFFF"/>
              </a:solidFill>
              <a:latin typeface="微软雅黑"/>
              <a:ea typeface="微软雅黑"/>
              <a:cs typeface="微软雅黑"/>
              <a:sym typeface="微软雅黑"/>
            </a:endParaRPr>
          </a:p>
        </p:txBody>
      </p:sp>
      <p:sp>
        <p:nvSpPr>
          <p:cNvPr id="101" name="矩形: 圆角 491"/>
          <p:cNvSpPr/>
          <p:nvPr/>
        </p:nvSpPr>
        <p:spPr>
          <a:xfrm>
            <a:off x="9943465" y="3308985"/>
            <a:ext cx="970915" cy="255270"/>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智慧门户</a:t>
            </a:r>
            <a:endParaRPr lang="zh-CN" altLang="en-US" sz="1000" b="1" dirty="0">
              <a:solidFill>
                <a:srgbClr val="FFFFFF"/>
              </a:solidFill>
              <a:latin typeface="微软雅黑"/>
              <a:ea typeface="微软雅黑"/>
              <a:cs typeface="微软雅黑"/>
              <a:sym typeface="微软雅黑"/>
            </a:endParaRPr>
          </a:p>
        </p:txBody>
      </p:sp>
      <p:sp>
        <p:nvSpPr>
          <p:cNvPr id="102" name="文本框 101"/>
          <p:cNvSpPr txBox="1"/>
          <p:nvPr/>
        </p:nvSpPr>
        <p:spPr>
          <a:xfrm>
            <a:off x="10142220" y="2232660"/>
            <a:ext cx="523875"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综合</a:t>
            </a:r>
            <a:endParaRPr lang="zh-CN" altLang="en-US" sz="1000" b="1" dirty="0">
              <a:solidFill>
                <a:srgbClr val="0042FF"/>
              </a:solidFill>
              <a:latin typeface="微软雅黑"/>
              <a:ea typeface="微软雅黑"/>
              <a:cs typeface="微软雅黑"/>
            </a:endParaRPr>
          </a:p>
        </p:txBody>
      </p:sp>
      <p:sp>
        <p:nvSpPr>
          <p:cNvPr id="103" name="文本框 102"/>
          <p:cNvSpPr txBox="1"/>
          <p:nvPr/>
        </p:nvSpPr>
        <p:spPr>
          <a:xfrm>
            <a:off x="1884680" y="3923030"/>
            <a:ext cx="795655" cy="275590"/>
          </a:xfrm>
          <a:prstGeom prst="rect">
            <a:avLst/>
          </a:prstGeom>
          <a:noFill/>
        </p:spPr>
        <p:txBody>
          <a:bodyPr wrap="square" rtlCol="0">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关键技术</a:t>
            </a:r>
            <a:endParaRPr lang="zh-CN" altLang="en-US" sz="1200" b="1" dirty="0">
              <a:solidFill>
                <a:srgbClr val="0042FF"/>
              </a:solidFill>
              <a:latin typeface="微软雅黑"/>
              <a:ea typeface="微软雅黑"/>
              <a:cs typeface="微软雅黑"/>
            </a:endParaRPr>
          </a:p>
        </p:txBody>
      </p:sp>
      <p:sp>
        <p:nvSpPr>
          <p:cNvPr id="104" name="文本框 103"/>
          <p:cNvSpPr txBox="1"/>
          <p:nvPr/>
        </p:nvSpPr>
        <p:spPr>
          <a:xfrm>
            <a:off x="1884680" y="4509135"/>
            <a:ext cx="1256665" cy="275590"/>
          </a:xfrm>
          <a:prstGeom prst="rect">
            <a:avLst/>
          </a:prstGeom>
          <a:noFill/>
        </p:spPr>
        <p:txBody>
          <a:bodyPr wrap="square" rtlCol="0">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基础设施和平台</a:t>
            </a:r>
            <a:endParaRPr lang="zh-CN" altLang="en-US" sz="1200" b="1" dirty="0">
              <a:solidFill>
                <a:srgbClr val="0042FF"/>
              </a:solidFill>
              <a:latin typeface="微软雅黑"/>
              <a:ea typeface="微软雅黑"/>
              <a:cs typeface="微软雅黑"/>
            </a:endParaRPr>
          </a:p>
        </p:txBody>
      </p:sp>
      <p:sp>
        <p:nvSpPr>
          <p:cNvPr id="105" name="圆柱体 499"/>
          <p:cNvSpPr/>
          <p:nvPr/>
        </p:nvSpPr>
        <p:spPr>
          <a:xfrm>
            <a:off x="3375025" y="4437380"/>
            <a:ext cx="1833880" cy="372745"/>
          </a:xfrm>
          <a:prstGeom prst="can">
            <a:avLst>
              <a:gd name="adj" fmla="val 26575"/>
            </a:avLst>
          </a:prstGeom>
          <a:solidFill>
            <a:srgbClr val="0042FF"/>
          </a:soli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06" name="圆柱体 500"/>
          <p:cNvSpPr/>
          <p:nvPr/>
        </p:nvSpPr>
        <p:spPr>
          <a:xfrm>
            <a:off x="5417820" y="4437380"/>
            <a:ext cx="1833880" cy="372745"/>
          </a:xfrm>
          <a:prstGeom prst="can">
            <a:avLst>
              <a:gd name="adj" fmla="val 26575"/>
            </a:avLst>
          </a:prstGeom>
          <a:solidFill>
            <a:srgbClr val="0042FF"/>
          </a:soli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07" name="圆柱体 501"/>
          <p:cNvSpPr/>
          <p:nvPr/>
        </p:nvSpPr>
        <p:spPr>
          <a:xfrm>
            <a:off x="7460615" y="4437380"/>
            <a:ext cx="1833880" cy="372745"/>
          </a:xfrm>
          <a:prstGeom prst="can">
            <a:avLst>
              <a:gd name="adj" fmla="val 26575"/>
            </a:avLst>
          </a:prstGeom>
          <a:solidFill>
            <a:srgbClr val="0042FF"/>
          </a:soli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08" name="圆柱体 502"/>
          <p:cNvSpPr/>
          <p:nvPr/>
        </p:nvSpPr>
        <p:spPr>
          <a:xfrm>
            <a:off x="9503410" y="4437380"/>
            <a:ext cx="1833880" cy="372745"/>
          </a:xfrm>
          <a:prstGeom prst="can">
            <a:avLst>
              <a:gd name="adj" fmla="val 26575"/>
            </a:avLst>
          </a:prstGeom>
          <a:solidFill>
            <a:srgbClr val="0042FF"/>
          </a:soli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09" name="文本框 108"/>
          <p:cNvSpPr txBox="1"/>
          <p:nvPr/>
        </p:nvSpPr>
        <p:spPr>
          <a:xfrm>
            <a:off x="3848735" y="4552950"/>
            <a:ext cx="856615" cy="25273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rPr>
              <a:t>网络设备</a:t>
            </a:r>
            <a:endParaRPr lang="zh-CN" altLang="en-US" sz="1050" b="1" dirty="0">
              <a:solidFill>
                <a:srgbClr val="FFFFFF"/>
              </a:solidFill>
              <a:latin typeface="微软雅黑"/>
              <a:ea typeface="微软雅黑"/>
              <a:cs typeface="微软雅黑"/>
            </a:endParaRPr>
          </a:p>
        </p:txBody>
      </p:sp>
      <p:sp>
        <p:nvSpPr>
          <p:cNvPr id="110" name="文本框 109"/>
          <p:cNvSpPr txBox="1"/>
          <p:nvPr/>
        </p:nvSpPr>
        <p:spPr>
          <a:xfrm>
            <a:off x="5745480" y="4552950"/>
            <a:ext cx="1237615" cy="25273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rPr>
              <a:t>大数据云平台</a:t>
            </a:r>
            <a:endParaRPr lang="zh-CN" altLang="en-US" sz="1050" b="1" dirty="0">
              <a:solidFill>
                <a:srgbClr val="FFFFFF"/>
              </a:solidFill>
              <a:latin typeface="微软雅黑"/>
              <a:ea typeface="微软雅黑"/>
              <a:cs typeface="微软雅黑"/>
            </a:endParaRPr>
          </a:p>
        </p:txBody>
      </p:sp>
      <p:sp>
        <p:nvSpPr>
          <p:cNvPr id="111" name="文本框 110"/>
          <p:cNvSpPr txBox="1"/>
          <p:nvPr/>
        </p:nvSpPr>
        <p:spPr>
          <a:xfrm>
            <a:off x="7726680" y="4552950"/>
            <a:ext cx="1341120" cy="25273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en-US" altLang="zh-CN" sz="1050" b="1" dirty="0">
                <a:solidFill>
                  <a:srgbClr val="FFFFFF"/>
                </a:solidFill>
                <a:latin typeface="微软雅黑"/>
                <a:ea typeface="微软雅黑"/>
                <a:cs typeface="微软雅黑"/>
              </a:rPr>
              <a:t>AI</a:t>
            </a:r>
            <a:r>
              <a:rPr lang="zh-CN" altLang="en-US" sz="1050" b="1" dirty="0">
                <a:solidFill>
                  <a:srgbClr val="FFFFFF"/>
                </a:solidFill>
                <a:latin typeface="微软雅黑"/>
                <a:ea typeface="微软雅黑"/>
                <a:cs typeface="微软雅黑"/>
              </a:rPr>
              <a:t>大模型基础平台</a:t>
            </a:r>
            <a:endParaRPr lang="zh-CN" altLang="en-US" sz="1050" b="1" dirty="0">
              <a:solidFill>
                <a:srgbClr val="FFFFFF"/>
              </a:solidFill>
              <a:latin typeface="微软雅黑"/>
              <a:ea typeface="微软雅黑"/>
              <a:cs typeface="微软雅黑"/>
            </a:endParaRPr>
          </a:p>
        </p:txBody>
      </p:sp>
      <p:sp>
        <p:nvSpPr>
          <p:cNvPr id="112" name="文本框 111"/>
          <p:cNvSpPr txBox="1"/>
          <p:nvPr/>
        </p:nvSpPr>
        <p:spPr>
          <a:xfrm>
            <a:off x="9820910" y="4552950"/>
            <a:ext cx="1271270" cy="25273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rPr>
              <a:t>容器化部署平台</a:t>
            </a:r>
            <a:r>
              <a:rPr lang="en-US" altLang="zh-CN" sz="1050" b="1" dirty="0">
                <a:solidFill>
                  <a:srgbClr val="FFFFFF"/>
                </a:solidFill>
                <a:latin typeface="微软雅黑"/>
                <a:ea typeface="微软雅黑"/>
                <a:cs typeface="微软雅黑"/>
              </a:rPr>
              <a:t>​</a:t>
            </a:r>
            <a:endParaRPr lang="en-US" altLang="zh-CN" sz="1050" b="1" dirty="0">
              <a:solidFill>
                <a:srgbClr val="FFFFFF"/>
              </a:solidFill>
              <a:latin typeface="微软雅黑"/>
              <a:ea typeface="微软雅黑"/>
              <a:cs typeface="微软雅黑"/>
            </a:endParaRPr>
          </a:p>
        </p:txBody>
      </p:sp>
      <p:sp>
        <p:nvSpPr>
          <p:cNvPr id="113" name="箭头: 上 26"/>
          <p:cNvSpPr/>
          <p:nvPr/>
        </p:nvSpPr>
        <p:spPr>
          <a:xfrm rot="1195465">
            <a:off x="1781810" y="5097780"/>
            <a:ext cx="521970" cy="1294130"/>
          </a:xfrm>
          <a:custGeom>
            <a:avLst/>
            <a:gdLst>
              <a:gd name="connsiteX0" fmla="*/ 0 w 846384"/>
              <a:gd name="connsiteY0" fmla="*/ 423192 h 1696315"/>
              <a:gd name="connsiteX1" fmla="*/ 423192 w 846384"/>
              <a:gd name="connsiteY1" fmla="*/ 0 h 1696315"/>
              <a:gd name="connsiteX2" fmla="*/ 846384 w 846384"/>
              <a:gd name="connsiteY2" fmla="*/ 423192 h 1696315"/>
              <a:gd name="connsiteX3" fmla="*/ 634788 w 846384"/>
              <a:gd name="connsiteY3" fmla="*/ 423192 h 1696315"/>
              <a:gd name="connsiteX4" fmla="*/ 634788 w 846384"/>
              <a:gd name="connsiteY4" fmla="*/ 1696315 h 1696315"/>
              <a:gd name="connsiteX5" fmla="*/ 211596 w 846384"/>
              <a:gd name="connsiteY5" fmla="*/ 1696315 h 1696315"/>
              <a:gd name="connsiteX6" fmla="*/ 211596 w 846384"/>
              <a:gd name="connsiteY6" fmla="*/ 423192 h 1696315"/>
              <a:gd name="connsiteX7" fmla="*/ 0 w 846384"/>
              <a:gd name="connsiteY7" fmla="*/ 423192 h 1696315"/>
              <a:gd name="connsiteX0-1" fmla="*/ 0 w 846384"/>
              <a:gd name="connsiteY0-2" fmla="*/ 435957 h 1709080"/>
              <a:gd name="connsiteX1-3" fmla="*/ 415201 w 846384"/>
              <a:gd name="connsiteY1-4" fmla="*/ 0 h 1709080"/>
              <a:gd name="connsiteX2-5" fmla="*/ 846384 w 846384"/>
              <a:gd name="connsiteY2-6" fmla="*/ 435957 h 1709080"/>
              <a:gd name="connsiteX3-7" fmla="*/ 634788 w 846384"/>
              <a:gd name="connsiteY3-8" fmla="*/ 435957 h 1709080"/>
              <a:gd name="connsiteX4-9" fmla="*/ 634788 w 846384"/>
              <a:gd name="connsiteY4-10" fmla="*/ 1709080 h 1709080"/>
              <a:gd name="connsiteX5-11" fmla="*/ 211596 w 846384"/>
              <a:gd name="connsiteY5-12" fmla="*/ 1709080 h 1709080"/>
              <a:gd name="connsiteX6-13" fmla="*/ 211596 w 846384"/>
              <a:gd name="connsiteY6-14" fmla="*/ 435957 h 1709080"/>
              <a:gd name="connsiteX7-15" fmla="*/ 0 w 846384"/>
              <a:gd name="connsiteY7-16" fmla="*/ 435957 h 1709080"/>
              <a:gd name="connsiteX0-17" fmla="*/ 0 w 765454"/>
              <a:gd name="connsiteY0-18" fmla="*/ 435957 h 1709080"/>
              <a:gd name="connsiteX1-19" fmla="*/ 415201 w 765454"/>
              <a:gd name="connsiteY1-20" fmla="*/ 0 h 1709080"/>
              <a:gd name="connsiteX2-21" fmla="*/ 765454 w 765454"/>
              <a:gd name="connsiteY2-22" fmla="*/ 445754 h 1709080"/>
              <a:gd name="connsiteX3-23" fmla="*/ 634788 w 765454"/>
              <a:gd name="connsiteY3-24" fmla="*/ 435957 h 1709080"/>
              <a:gd name="connsiteX4-25" fmla="*/ 634788 w 765454"/>
              <a:gd name="connsiteY4-26" fmla="*/ 1709080 h 1709080"/>
              <a:gd name="connsiteX5-27" fmla="*/ 211596 w 765454"/>
              <a:gd name="connsiteY5-28" fmla="*/ 1709080 h 1709080"/>
              <a:gd name="connsiteX6-29" fmla="*/ 211596 w 765454"/>
              <a:gd name="connsiteY6-30" fmla="*/ 435957 h 1709080"/>
              <a:gd name="connsiteX7-31" fmla="*/ 0 w 765454"/>
              <a:gd name="connsiteY7-32" fmla="*/ 435957 h 1709080"/>
              <a:gd name="connsiteX0-33" fmla="*/ 0 w 765454"/>
              <a:gd name="connsiteY0-34" fmla="*/ 435957 h 1709080"/>
              <a:gd name="connsiteX1-35" fmla="*/ 415201 w 765454"/>
              <a:gd name="connsiteY1-36" fmla="*/ 0 h 1709080"/>
              <a:gd name="connsiteX2-37" fmla="*/ 765454 w 765454"/>
              <a:gd name="connsiteY2-38" fmla="*/ 445754 h 1709080"/>
              <a:gd name="connsiteX3-39" fmla="*/ 619148 w 765454"/>
              <a:gd name="connsiteY3-40" fmla="*/ 442194 h 1709080"/>
              <a:gd name="connsiteX4-41" fmla="*/ 634788 w 765454"/>
              <a:gd name="connsiteY4-42" fmla="*/ 1709080 h 1709080"/>
              <a:gd name="connsiteX5-43" fmla="*/ 211596 w 765454"/>
              <a:gd name="connsiteY5-44" fmla="*/ 1709080 h 1709080"/>
              <a:gd name="connsiteX6-45" fmla="*/ 211596 w 765454"/>
              <a:gd name="connsiteY6-46" fmla="*/ 435957 h 1709080"/>
              <a:gd name="connsiteX7-47" fmla="*/ 0 w 765454"/>
              <a:gd name="connsiteY7-48" fmla="*/ 435957 h 1709080"/>
              <a:gd name="connsiteX0-49" fmla="*/ 0 w 763067"/>
              <a:gd name="connsiteY0-50" fmla="*/ 435957 h 1709080"/>
              <a:gd name="connsiteX1-51" fmla="*/ 415201 w 763067"/>
              <a:gd name="connsiteY1-52" fmla="*/ 0 h 1709080"/>
              <a:gd name="connsiteX2-53" fmla="*/ 763067 w 763067"/>
              <a:gd name="connsiteY2-54" fmla="*/ 456132 h 1709080"/>
              <a:gd name="connsiteX3-55" fmla="*/ 619148 w 763067"/>
              <a:gd name="connsiteY3-56" fmla="*/ 442194 h 1709080"/>
              <a:gd name="connsiteX4-57" fmla="*/ 634788 w 763067"/>
              <a:gd name="connsiteY4-58" fmla="*/ 1709080 h 1709080"/>
              <a:gd name="connsiteX5-59" fmla="*/ 211596 w 763067"/>
              <a:gd name="connsiteY5-60" fmla="*/ 1709080 h 1709080"/>
              <a:gd name="connsiteX6-61" fmla="*/ 211596 w 763067"/>
              <a:gd name="connsiteY6-62" fmla="*/ 435957 h 1709080"/>
              <a:gd name="connsiteX7-63" fmla="*/ 0 w 763067"/>
              <a:gd name="connsiteY7-64" fmla="*/ 435957 h 1709080"/>
              <a:gd name="connsiteX0-65" fmla="*/ 0 w 761386"/>
              <a:gd name="connsiteY0-66" fmla="*/ 435957 h 1709080"/>
              <a:gd name="connsiteX1-67" fmla="*/ 415201 w 761386"/>
              <a:gd name="connsiteY1-68" fmla="*/ 0 h 1709080"/>
              <a:gd name="connsiteX2-69" fmla="*/ 761386 w 761386"/>
              <a:gd name="connsiteY2-70" fmla="*/ 449188 h 1709080"/>
              <a:gd name="connsiteX3-71" fmla="*/ 619148 w 761386"/>
              <a:gd name="connsiteY3-72" fmla="*/ 442194 h 1709080"/>
              <a:gd name="connsiteX4-73" fmla="*/ 634788 w 761386"/>
              <a:gd name="connsiteY4-74" fmla="*/ 1709080 h 1709080"/>
              <a:gd name="connsiteX5-75" fmla="*/ 211596 w 761386"/>
              <a:gd name="connsiteY5-76" fmla="*/ 1709080 h 1709080"/>
              <a:gd name="connsiteX6-77" fmla="*/ 211596 w 761386"/>
              <a:gd name="connsiteY6-78" fmla="*/ 435957 h 1709080"/>
              <a:gd name="connsiteX7-79" fmla="*/ 0 w 761386"/>
              <a:gd name="connsiteY7-80" fmla="*/ 435957 h 1709080"/>
              <a:gd name="connsiteX0-81" fmla="*/ 0 w 761386"/>
              <a:gd name="connsiteY0-82" fmla="*/ 435957 h 1709080"/>
              <a:gd name="connsiteX1-83" fmla="*/ 415201 w 761386"/>
              <a:gd name="connsiteY1-84" fmla="*/ 0 h 1709080"/>
              <a:gd name="connsiteX2-85" fmla="*/ 761386 w 761386"/>
              <a:gd name="connsiteY2-86" fmla="*/ 449188 h 1709080"/>
              <a:gd name="connsiteX3-87" fmla="*/ 618514 w 761386"/>
              <a:gd name="connsiteY3-88" fmla="*/ 449698 h 1709080"/>
              <a:gd name="connsiteX4-89" fmla="*/ 634788 w 761386"/>
              <a:gd name="connsiteY4-90" fmla="*/ 1709080 h 1709080"/>
              <a:gd name="connsiteX5-91" fmla="*/ 211596 w 761386"/>
              <a:gd name="connsiteY5-92" fmla="*/ 1709080 h 1709080"/>
              <a:gd name="connsiteX6-93" fmla="*/ 211596 w 761386"/>
              <a:gd name="connsiteY6-94" fmla="*/ 435957 h 1709080"/>
              <a:gd name="connsiteX7-95" fmla="*/ 0 w 761386"/>
              <a:gd name="connsiteY7-96" fmla="*/ 435957 h 1709080"/>
              <a:gd name="connsiteX0-97" fmla="*/ 0 w 740557"/>
              <a:gd name="connsiteY0-98" fmla="*/ 430912 h 1709080"/>
              <a:gd name="connsiteX1-99" fmla="*/ 394372 w 740557"/>
              <a:gd name="connsiteY1-100" fmla="*/ 0 h 1709080"/>
              <a:gd name="connsiteX2-101" fmla="*/ 740557 w 740557"/>
              <a:gd name="connsiteY2-102" fmla="*/ 449188 h 1709080"/>
              <a:gd name="connsiteX3-103" fmla="*/ 597685 w 740557"/>
              <a:gd name="connsiteY3-104" fmla="*/ 449698 h 1709080"/>
              <a:gd name="connsiteX4-105" fmla="*/ 613959 w 740557"/>
              <a:gd name="connsiteY4-106" fmla="*/ 1709080 h 1709080"/>
              <a:gd name="connsiteX5-107" fmla="*/ 190767 w 740557"/>
              <a:gd name="connsiteY5-108" fmla="*/ 1709080 h 1709080"/>
              <a:gd name="connsiteX6-109" fmla="*/ 190767 w 740557"/>
              <a:gd name="connsiteY6-110" fmla="*/ 435957 h 1709080"/>
              <a:gd name="connsiteX7-111" fmla="*/ 0 w 740557"/>
              <a:gd name="connsiteY7-112" fmla="*/ 430912 h 1709080"/>
              <a:gd name="connsiteX0-113" fmla="*/ 0 w 698899"/>
              <a:gd name="connsiteY0-114" fmla="*/ 420825 h 1709080"/>
              <a:gd name="connsiteX1-115" fmla="*/ 352714 w 698899"/>
              <a:gd name="connsiteY1-116" fmla="*/ 0 h 1709080"/>
              <a:gd name="connsiteX2-117" fmla="*/ 698899 w 698899"/>
              <a:gd name="connsiteY2-118" fmla="*/ 449188 h 1709080"/>
              <a:gd name="connsiteX3-119" fmla="*/ 556027 w 698899"/>
              <a:gd name="connsiteY3-120" fmla="*/ 449698 h 1709080"/>
              <a:gd name="connsiteX4-121" fmla="*/ 572301 w 698899"/>
              <a:gd name="connsiteY4-122" fmla="*/ 1709080 h 1709080"/>
              <a:gd name="connsiteX5-123" fmla="*/ 149109 w 698899"/>
              <a:gd name="connsiteY5-124" fmla="*/ 1709080 h 1709080"/>
              <a:gd name="connsiteX6-125" fmla="*/ 149109 w 698899"/>
              <a:gd name="connsiteY6-126" fmla="*/ 435957 h 1709080"/>
              <a:gd name="connsiteX7-127" fmla="*/ 0 w 698899"/>
              <a:gd name="connsiteY7-128" fmla="*/ 420825 h 1709080"/>
              <a:gd name="connsiteX0-129" fmla="*/ 0 w 742872"/>
              <a:gd name="connsiteY0-130" fmla="*/ 431473 h 1709080"/>
              <a:gd name="connsiteX1-131" fmla="*/ 396687 w 742872"/>
              <a:gd name="connsiteY1-132" fmla="*/ 0 h 1709080"/>
              <a:gd name="connsiteX2-133" fmla="*/ 742872 w 742872"/>
              <a:gd name="connsiteY2-134" fmla="*/ 449188 h 1709080"/>
              <a:gd name="connsiteX3-135" fmla="*/ 600000 w 742872"/>
              <a:gd name="connsiteY3-136" fmla="*/ 449698 h 1709080"/>
              <a:gd name="connsiteX4-137" fmla="*/ 616274 w 742872"/>
              <a:gd name="connsiteY4-138" fmla="*/ 1709080 h 1709080"/>
              <a:gd name="connsiteX5-139" fmla="*/ 193082 w 742872"/>
              <a:gd name="connsiteY5-140" fmla="*/ 1709080 h 1709080"/>
              <a:gd name="connsiteX6-141" fmla="*/ 193082 w 742872"/>
              <a:gd name="connsiteY6-142" fmla="*/ 435957 h 1709080"/>
              <a:gd name="connsiteX7-143" fmla="*/ 0 w 742872"/>
              <a:gd name="connsiteY7-144" fmla="*/ 431473 h 1709080"/>
              <a:gd name="connsiteX0-145" fmla="*/ 0 w 742872"/>
              <a:gd name="connsiteY0-146" fmla="*/ 431473 h 1709080"/>
              <a:gd name="connsiteX1-147" fmla="*/ 396687 w 742872"/>
              <a:gd name="connsiteY1-148" fmla="*/ 0 h 1709080"/>
              <a:gd name="connsiteX2-149" fmla="*/ 742872 w 742872"/>
              <a:gd name="connsiteY2-150" fmla="*/ 449188 h 1709080"/>
              <a:gd name="connsiteX3-151" fmla="*/ 600000 w 742872"/>
              <a:gd name="connsiteY3-152" fmla="*/ 449698 h 1709080"/>
              <a:gd name="connsiteX4-153" fmla="*/ 616274 w 742872"/>
              <a:gd name="connsiteY4-154" fmla="*/ 1709080 h 1709080"/>
              <a:gd name="connsiteX5-155" fmla="*/ 193082 w 742872"/>
              <a:gd name="connsiteY5-156" fmla="*/ 1709080 h 1709080"/>
              <a:gd name="connsiteX6-157" fmla="*/ 154371 w 742872"/>
              <a:gd name="connsiteY6-158" fmla="*/ 437980 h 1709080"/>
              <a:gd name="connsiteX7-159" fmla="*/ 0 w 742872"/>
              <a:gd name="connsiteY7-160" fmla="*/ 431473 h 1709080"/>
              <a:gd name="connsiteX0-161" fmla="*/ 0 w 1101086"/>
              <a:gd name="connsiteY0-162" fmla="*/ 431473 h 1709080"/>
              <a:gd name="connsiteX1-163" fmla="*/ 396687 w 1101086"/>
              <a:gd name="connsiteY1-164" fmla="*/ 0 h 1709080"/>
              <a:gd name="connsiteX2-165" fmla="*/ 742872 w 1101086"/>
              <a:gd name="connsiteY2-166" fmla="*/ 449188 h 1709080"/>
              <a:gd name="connsiteX3-167" fmla="*/ 600000 w 1101086"/>
              <a:gd name="connsiteY3-168" fmla="*/ 449698 h 1709080"/>
              <a:gd name="connsiteX4-169" fmla="*/ 1101086 w 1101086"/>
              <a:gd name="connsiteY4-170" fmla="*/ 1363824 h 1709080"/>
              <a:gd name="connsiteX5-171" fmla="*/ 193082 w 1101086"/>
              <a:gd name="connsiteY5-172" fmla="*/ 1709080 h 1709080"/>
              <a:gd name="connsiteX6-173" fmla="*/ 154371 w 1101086"/>
              <a:gd name="connsiteY6-174" fmla="*/ 437980 h 1709080"/>
              <a:gd name="connsiteX7-175" fmla="*/ 0 w 1101086"/>
              <a:gd name="connsiteY7-176" fmla="*/ 431473 h 1709080"/>
              <a:gd name="connsiteX0-177" fmla="*/ 0 w 1101086"/>
              <a:gd name="connsiteY0-178" fmla="*/ 431473 h 1630579"/>
              <a:gd name="connsiteX1-179" fmla="*/ 396687 w 1101086"/>
              <a:gd name="connsiteY1-180" fmla="*/ 0 h 1630579"/>
              <a:gd name="connsiteX2-181" fmla="*/ 742872 w 1101086"/>
              <a:gd name="connsiteY2-182" fmla="*/ 449188 h 1630579"/>
              <a:gd name="connsiteX3-183" fmla="*/ 600000 w 1101086"/>
              <a:gd name="connsiteY3-184" fmla="*/ 449698 h 1630579"/>
              <a:gd name="connsiteX4-185" fmla="*/ 1101086 w 1101086"/>
              <a:gd name="connsiteY4-186" fmla="*/ 1363824 h 1630579"/>
              <a:gd name="connsiteX5-187" fmla="*/ 355380 w 1101086"/>
              <a:gd name="connsiteY5-188" fmla="*/ 1630579 h 1630579"/>
              <a:gd name="connsiteX6-189" fmla="*/ 154371 w 1101086"/>
              <a:gd name="connsiteY6-190" fmla="*/ 437980 h 1630579"/>
              <a:gd name="connsiteX7-191" fmla="*/ 0 w 1101086"/>
              <a:gd name="connsiteY7-192" fmla="*/ 431473 h 1630579"/>
              <a:gd name="connsiteX0-193" fmla="*/ 0 w 1101086"/>
              <a:gd name="connsiteY0-194" fmla="*/ 431473 h 1682647"/>
              <a:gd name="connsiteX1-195" fmla="*/ 396687 w 1101086"/>
              <a:gd name="connsiteY1-196" fmla="*/ 0 h 1682647"/>
              <a:gd name="connsiteX2-197" fmla="*/ 742872 w 1101086"/>
              <a:gd name="connsiteY2-198" fmla="*/ 449188 h 1682647"/>
              <a:gd name="connsiteX3-199" fmla="*/ 600000 w 1101086"/>
              <a:gd name="connsiteY3-200" fmla="*/ 449698 h 1682647"/>
              <a:gd name="connsiteX4-201" fmla="*/ 1101086 w 1101086"/>
              <a:gd name="connsiteY4-202" fmla="*/ 1363824 h 1682647"/>
              <a:gd name="connsiteX5-203" fmla="*/ 211183 w 1101086"/>
              <a:gd name="connsiteY5-204" fmla="*/ 1682647 h 1682647"/>
              <a:gd name="connsiteX6-205" fmla="*/ 154371 w 1101086"/>
              <a:gd name="connsiteY6-206" fmla="*/ 437980 h 1682647"/>
              <a:gd name="connsiteX7-207" fmla="*/ 0 w 1101086"/>
              <a:gd name="connsiteY7-208" fmla="*/ 431473 h 1682647"/>
              <a:gd name="connsiteX0-209" fmla="*/ 0 w 1101086"/>
              <a:gd name="connsiteY0-210" fmla="*/ 431473 h 1682647"/>
              <a:gd name="connsiteX1-211" fmla="*/ 396687 w 1101086"/>
              <a:gd name="connsiteY1-212" fmla="*/ 0 h 1682647"/>
              <a:gd name="connsiteX2-213" fmla="*/ 742872 w 1101086"/>
              <a:gd name="connsiteY2-214" fmla="*/ 449188 h 1682647"/>
              <a:gd name="connsiteX3-215" fmla="*/ 600000 w 1101086"/>
              <a:gd name="connsiteY3-216" fmla="*/ 449698 h 1682647"/>
              <a:gd name="connsiteX4-217" fmla="*/ 1101086 w 1101086"/>
              <a:gd name="connsiteY4-218" fmla="*/ 1363824 h 1682647"/>
              <a:gd name="connsiteX5-219" fmla="*/ 211183 w 1101086"/>
              <a:gd name="connsiteY5-220" fmla="*/ 1682647 h 1682647"/>
              <a:gd name="connsiteX6-221" fmla="*/ 154371 w 1101086"/>
              <a:gd name="connsiteY6-222" fmla="*/ 437980 h 1682647"/>
              <a:gd name="connsiteX7-223" fmla="*/ 0 w 1101086"/>
              <a:gd name="connsiteY7-224" fmla="*/ 431473 h 1682647"/>
              <a:gd name="connsiteX0-225" fmla="*/ 0 w 1101086"/>
              <a:gd name="connsiteY0-226" fmla="*/ 431473 h 1682647"/>
              <a:gd name="connsiteX1-227" fmla="*/ 396687 w 1101086"/>
              <a:gd name="connsiteY1-228" fmla="*/ 0 h 1682647"/>
              <a:gd name="connsiteX2-229" fmla="*/ 742872 w 1101086"/>
              <a:gd name="connsiteY2-230" fmla="*/ 449188 h 1682647"/>
              <a:gd name="connsiteX3-231" fmla="*/ 600000 w 1101086"/>
              <a:gd name="connsiteY3-232" fmla="*/ 449698 h 1682647"/>
              <a:gd name="connsiteX4-233" fmla="*/ 1101086 w 1101086"/>
              <a:gd name="connsiteY4-234" fmla="*/ 1363824 h 1682647"/>
              <a:gd name="connsiteX5-235" fmla="*/ 211183 w 1101086"/>
              <a:gd name="connsiteY5-236" fmla="*/ 1682647 h 1682647"/>
              <a:gd name="connsiteX6-237" fmla="*/ 154371 w 1101086"/>
              <a:gd name="connsiteY6-238" fmla="*/ 437980 h 1682647"/>
              <a:gd name="connsiteX7-239" fmla="*/ 0 w 1101086"/>
              <a:gd name="connsiteY7-240" fmla="*/ 431473 h 1682647"/>
              <a:gd name="connsiteX0-241" fmla="*/ 0 w 1101086"/>
              <a:gd name="connsiteY0-242" fmla="*/ 431473 h 1682647"/>
              <a:gd name="connsiteX1-243" fmla="*/ 396687 w 1101086"/>
              <a:gd name="connsiteY1-244" fmla="*/ 0 h 1682647"/>
              <a:gd name="connsiteX2-245" fmla="*/ 742872 w 1101086"/>
              <a:gd name="connsiteY2-246" fmla="*/ 449188 h 1682647"/>
              <a:gd name="connsiteX3-247" fmla="*/ 600000 w 1101086"/>
              <a:gd name="connsiteY3-248" fmla="*/ 449698 h 1682647"/>
              <a:gd name="connsiteX4-249" fmla="*/ 1101086 w 1101086"/>
              <a:gd name="connsiteY4-250" fmla="*/ 1363824 h 1682647"/>
              <a:gd name="connsiteX5-251" fmla="*/ 211183 w 1101086"/>
              <a:gd name="connsiteY5-252" fmla="*/ 1682647 h 1682647"/>
              <a:gd name="connsiteX6-253" fmla="*/ 154371 w 1101086"/>
              <a:gd name="connsiteY6-254" fmla="*/ 437980 h 1682647"/>
              <a:gd name="connsiteX7-255" fmla="*/ 0 w 1101086"/>
              <a:gd name="connsiteY7-256" fmla="*/ 431473 h 1682647"/>
              <a:gd name="connsiteX0-257" fmla="*/ 0 w 1101086"/>
              <a:gd name="connsiteY0-258" fmla="*/ 431473 h 1682647"/>
              <a:gd name="connsiteX1-259" fmla="*/ 396687 w 1101086"/>
              <a:gd name="connsiteY1-260" fmla="*/ 0 h 1682647"/>
              <a:gd name="connsiteX2-261" fmla="*/ 742872 w 1101086"/>
              <a:gd name="connsiteY2-262" fmla="*/ 449188 h 1682647"/>
              <a:gd name="connsiteX3-263" fmla="*/ 600000 w 1101086"/>
              <a:gd name="connsiteY3-264" fmla="*/ 449698 h 1682647"/>
              <a:gd name="connsiteX4-265" fmla="*/ 1101086 w 1101086"/>
              <a:gd name="connsiteY4-266" fmla="*/ 1363824 h 1682647"/>
              <a:gd name="connsiteX5-267" fmla="*/ 211183 w 1101086"/>
              <a:gd name="connsiteY5-268" fmla="*/ 1682647 h 1682647"/>
              <a:gd name="connsiteX6-269" fmla="*/ 154371 w 1101086"/>
              <a:gd name="connsiteY6-270" fmla="*/ 437980 h 1682647"/>
              <a:gd name="connsiteX7-271" fmla="*/ 0 w 1101086"/>
              <a:gd name="connsiteY7-272" fmla="*/ 431473 h 1682647"/>
              <a:gd name="connsiteX0-273" fmla="*/ 0 w 1101086"/>
              <a:gd name="connsiteY0-274" fmla="*/ 431473 h 1682647"/>
              <a:gd name="connsiteX1-275" fmla="*/ 396687 w 1101086"/>
              <a:gd name="connsiteY1-276" fmla="*/ 0 h 1682647"/>
              <a:gd name="connsiteX2-277" fmla="*/ 742872 w 1101086"/>
              <a:gd name="connsiteY2-278" fmla="*/ 449188 h 1682647"/>
              <a:gd name="connsiteX3-279" fmla="*/ 600000 w 1101086"/>
              <a:gd name="connsiteY3-280" fmla="*/ 449698 h 1682647"/>
              <a:gd name="connsiteX4-281" fmla="*/ 1101086 w 1101086"/>
              <a:gd name="connsiteY4-282" fmla="*/ 1363824 h 1682647"/>
              <a:gd name="connsiteX5-283" fmla="*/ 211183 w 1101086"/>
              <a:gd name="connsiteY5-284" fmla="*/ 1682647 h 1682647"/>
              <a:gd name="connsiteX6-285" fmla="*/ 154371 w 1101086"/>
              <a:gd name="connsiteY6-286" fmla="*/ 437980 h 1682647"/>
              <a:gd name="connsiteX7-287" fmla="*/ 0 w 1101086"/>
              <a:gd name="connsiteY7-288" fmla="*/ 431473 h 1682647"/>
              <a:gd name="connsiteX0-289" fmla="*/ 0 w 1101086"/>
              <a:gd name="connsiteY0-290" fmla="*/ 431473 h 1682647"/>
              <a:gd name="connsiteX1-291" fmla="*/ 396687 w 1101086"/>
              <a:gd name="connsiteY1-292" fmla="*/ 0 h 1682647"/>
              <a:gd name="connsiteX2-293" fmla="*/ 742872 w 1101086"/>
              <a:gd name="connsiteY2-294" fmla="*/ 449188 h 1682647"/>
              <a:gd name="connsiteX3-295" fmla="*/ 600000 w 1101086"/>
              <a:gd name="connsiteY3-296" fmla="*/ 449698 h 1682647"/>
              <a:gd name="connsiteX4-297" fmla="*/ 1101086 w 1101086"/>
              <a:gd name="connsiteY4-298" fmla="*/ 1363824 h 1682647"/>
              <a:gd name="connsiteX5-299" fmla="*/ 211183 w 1101086"/>
              <a:gd name="connsiteY5-300" fmla="*/ 1682647 h 1682647"/>
              <a:gd name="connsiteX6-301" fmla="*/ 154371 w 1101086"/>
              <a:gd name="connsiteY6-302" fmla="*/ 437980 h 1682647"/>
              <a:gd name="connsiteX7-303" fmla="*/ 0 w 1101086"/>
              <a:gd name="connsiteY7-304" fmla="*/ 431473 h 1682647"/>
              <a:gd name="connsiteX0-305" fmla="*/ 0 w 877005"/>
              <a:gd name="connsiteY0-306" fmla="*/ 431473 h 1682647"/>
              <a:gd name="connsiteX1-307" fmla="*/ 396687 w 877005"/>
              <a:gd name="connsiteY1-308" fmla="*/ 0 h 1682647"/>
              <a:gd name="connsiteX2-309" fmla="*/ 742872 w 877005"/>
              <a:gd name="connsiteY2-310" fmla="*/ 449188 h 1682647"/>
              <a:gd name="connsiteX3-311" fmla="*/ 600000 w 877005"/>
              <a:gd name="connsiteY3-312" fmla="*/ 449698 h 1682647"/>
              <a:gd name="connsiteX4-313" fmla="*/ 877005 w 877005"/>
              <a:gd name="connsiteY4-314" fmla="*/ 1445049 h 1682647"/>
              <a:gd name="connsiteX5-315" fmla="*/ 211183 w 877005"/>
              <a:gd name="connsiteY5-316" fmla="*/ 1682647 h 1682647"/>
              <a:gd name="connsiteX6-317" fmla="*/ 154371 w 877005"/>
              <a:gd name="connsiteY6-318" fmla="*/ 437980 h 1682647"/>
              <a:gd name="connsiteX7-319" fmla="*/ 0 w 877005"/>
              <a:gd name="connsiteY7-320" fmla="*/ 431473 h 1682647"/>
              <a:gd name="connsiteX0-321" fmla="*/ 0 w 917020"/>
              <a:gd name="connsiteY0-322" fmla="*/ 431473 h 1682647"/>
              <a:gd name="connsiteX1-323" fmla="*/ 396687 w 917020"/>
              <a:gd name="connsiteY1-324" fmla="*/ 0 h 1682647"/>
              <a:gd name="connsiteX2-325" fmla="*/ 742872 w 917020"/>
              <a:gd name="connsiteY2-326" fmla="*/ 449188 h 1682647"/>
              <a:gd name="connsiteX3-327" fmla="*/ 600000 w 917020"/>
              <a:gd name="connsiteY3-328" fmla="*/ 449698 h 1682647"/>
              <a:gd name="connsiteX4-329" fmla="*/ 917020 w 917020"/>
              <a:gd name="connsiteY4-330" fmla="*/ 1430545 h 1682647"/>
              <a:gd name="connsiteX5-331" fmla="*/ 211183 w 917020"/>
              <a:gd name="connsiteY5-332" fmla="*/ 1682647 h 1682647"/>
              <a:gd name="connsiteX6-333" fmla="*/ 154371 w 917020"/>
              <a:gd name="connsiteY6-334" fmla="*/ 437980 h 1682647"/>
              <a:gd name="connsiteX7-335" fmla="*/ 0 w 917020"/>
              <a:gd name="connsiteY7-336" fmla="*/ 431473 h 1682647"/>
              <a:gd name="connsiteX0-337" fmla="*/ 0 w 917020"/>
              <a:gd name="connsiteY0-338" fmla="*/ 431473 h 1682647"/>
              <a:gd name="connsiteX1-339" fmla="*/ 396687 w 917020"/>
              <a:gd name="connsiteY1-340" fmla="*/ 0 h 1682647"/>
              <a:gd name="connsiteX2-341" fmla="*/ 742872 w 917020"/>
              <a:gd name="connsiteY2-342" fmla="*/ 449188 h 1682647"/>
              <a:gd name="connsiteX3-343" fmla="*/ 600000 w 917020"/>
              <a:gd name="connsiteY3-344" fmla="*/ 449698 h 1682647"/>
              <a:gd name="connsiteX4-345" fmla="*/ 917020 w 917020"/>
              <a:gd name="connsiteY4-346" fmla="*/ 1430545 h 1682647"/>
              <a:gd name="connsiteX5-347" fmla="*/ 211183 w 917020"/>
              <a:gd name="connsiteY5-348" fmla="*/ 1682647 h 1682647"/>
              <a:gd name="connsiteX6-349" fmla="*/ 154371 w 917020"/>
              <a:gd name="connsiteY6-350" fmla="*/ 437980 h 1682647"/>
              <a:gd name="connsiteX7-351" fmla="*/ 0 w 917020"/>
              <a:gd name="connsiteY7-352" fmla="*/ 431473 h 1682647"/>
              <a:gd name="connsiteX0-353" fmla="*/ 0 w 1001946"/>
              <a:gd name="connsiteY0-354" fmla="*/ 431473 h 1682647"/>
              <a:gd name="connsiteX1-355" fmla="*/ 396687 w 1001946"/>
              <a:gd name="connsiteY1-356" fmla="*/ 0 h 1682647"/>
              <a:gd name="connsiteX2-357" fmla="*/ 742872 w 1001946"/>
              <a:gd name="connsiteY2-358" fmla="*/ 449188 h 1682647"/>
              <a:gd name="connsiteX3-359" fmla="*/ 600000 w 1001946"/>
              <a:gd name="connsiteY3-360" fmla="*/ 449698 h 1682647"/>
              <a:gd name="connsiteX4-361" fmla="*/ 1001946 w 1001946"/>
              <a:gd name="connsiteY4-362" fmla="*/ 1554234 h 1682647"/>
              <a:gd name="connsiteX5-363" fmla="*/ 211183 w 1001946"/>
              <a:gd name="connsiteY5-364" fmla="*/ 1682647 h 1682647"/>
              <a:gd name="connsiteX6-365" fmla="*/ 154371 w 1001946"/>
              <a:gd name="connsiteY6-366" fmla="*/ 437980 h 1682647"/>
              <a:gd name="connsiteX7-367" fmla="*/ 0 w 1001946"/>
              <a:gd name="connsiteY7-368" fmla="*/ 431473 h 1682647"/>
              <a:gd name="connsiteX0-369" fmla="*/ 0 w 1001946"/>
              <a:gd name="connsiteY0-370" fmla="*/ 431473 h 1854320"/>
              <a:gd name="connsiteX1-371" fmla="*/ 396687 w 1001946"/>
              <a:gd name="connsiteY1-372" fmla="*/ 0 h 1854320"/>
              <a:gd name="connsiteX2-373" fmla="*/ 742872 w 1001946"/>
              <a:gd name="connsiteY2-374" fmla="*/ 449188 h 1854320"/>
              <a:gd name="connsiteX3-375" fmla="*/ 600000 w 1001946"/>
              <a:gd name="connsiteY3-376" fmla="*/ 449698 h 1854320"/>
              <a:gd name="connsiteX4-377" fmla="*/ 1001946 w 1001946"/>
              <a:gd name="connsiteY4-378" fmla="*/ 1554234 h 1854320"/>
              <a:gd name="connsiteX5-379" fmla="*/ 300410 w 1001946"/>
              <a:gd name="connsiteY5-380" fmla="*/ 1854320 h 1854320"/>
              <a:gd name="connsiteX6-381" fmla="*/ 154371 w 1001946"/>
              <a:gd name="connsiteY6-382" fmla="*/ 437980 h 1854320"/>
              <a:gd name="connsiteX7-383" fmla="*/ 0 w 1001946"/>
              <a:gd name="connsiteY7-384" fmla="*/ 431473 h 1854320"/>
              <a:gd name="connsiteX0-385" fmla="*/ 0 w 1001946"/>
              <a:gd name="connsiteY0-386" fmla="*/ 431473 h 1891590"/>
              <a:gd name="connsiteX1-387" fmla="*/ 396687 w 1001946"/>
              <a:gd name="connsiteY1-388" fmla="*/ 0 h 1891590"/>
              <a:gd name="connsiteX2-389" fmla="*/ 742872 w 1001946"/>
              <a:gd name="connsiteY2-390" fmla="*/ 449188 h 1891590"/>
              <a:gd name="connsiteX3-391" fmla="*/ 600000 w 1001946"/>
              <a:gd name="connsiteY3-392" fmla="*/ 449698 h 1891590"/>
              <a:gd name="connsiteX4-393" fmla="*/ 1001946 w 1001946"/>
              <a:gd name="connsiteY4-394" fmla="*/ 1554234 h 1891590"/>
              <a:gd name="connsiteX5-395" fmla="*/ 317815 w 1001946"/>
              <a:gd name="connsiteY5-396" fmla="*/ 1891590 h 1891590"/>
              <a:gd name="connsiteX6-397" fmla="*/ 154371 w 1001946"/>
              <a:gd name="connsiteY6-398" fmla="*/ 437980 h 1891590"/>
              <a:gd name="connsiteX7-399" fmla="*/ 0 w 1001946"/>
              <a:gd name="connsiteY7-400" fmla="*/ 431473 h 1891590"/>
              <a:gd name="connsiteX0-401" fmla="*/ 0 w 1001946"/>
              <a:gd name="connsiteY0-402" fmla="*/ 431473 h 1928860"/>
              <a:gd name="connsiteX1-403" fmla="*/ 396687 w 1001946"/>
              <a:gd name="connsiteY1-404" fmla="*/ 0 h 1928860"/>
              <a:gd name="connsiteX2-405" fmla="*/ 742872 w 1001946"/>
              <a:gd name="connsiteY2-406" fmla="*/ 449188 h 1928860"/>
              <a:gd name="connsiteX3-407" fmla="*/ 600000 w 1001946"/>
              <a:gd name="connsiteY3-408" fmla="*/ 449698 h 1928860"/>
              <a:gd name="connsiteX4-409" fmla="*/ 1001946 w 1001946"/>
              <a:gd name="connsiteY4-410" fmla="*/ 1554234 h 1928860"/>
              <a:gd name="connsiteX5-411" fmla="*/ 335220 w 1001946"/>
              <a:gd name="connsiteY5-412" fmla="*/ 1928860 h 1928860"/>
              <a:gd name="connsiteX6-413" fmla="*/ 154371 w 1001946"/>
              <a:gd name="connsiteY6-414" fmla="*/ 437980 h 1928860"/>
              <a:gd name="connsiteX7-415" fmla="*/ 0 w 1001946"/>
              <a:gd name="connsiteY7-416" fmla="*/ 431473 h 19288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001946" h="1928860">
                <a:moveTo>
                  <a:pt x="0" y="431473"/>
                </a:moveTo>
                <a:lnTo>
                  <a:pt x="396687" y="0"/>
                </a:lnTo>
                <a:lnTo>
                  <a:pt x="742872" y="449188"/>
                </a:lnTo>
                <a:lnTo>
                  <a:pt x="600000" y="449698"/>
                </a:lnTo>
                <a:cubicBezTo>
                  <a:pt x="574978" y="639207"/>
                  <a:pt x="789572" y="1346868"/>
                  <a:pt x="1001946" y="1554234"/>
                </a:cubicBezTo>
                <a:lnTo>
                  <a:pt x="335220" y="1928860"/>
                </a:lnTo>
                <a:cubicBezTo>
                  <a:pt x="265523" y="1739419"/>
                  <a:pt x="-1847" y="1030036"/>
                  <a:pt x="154371" y="437980"/>
                </a:cubicBezTo>
                <a:lnTo>
                  <a:pt x="0" y="431473"/>
                </a:lnTo>
                <a:close/>
              </a:path>
            </a:pathLst>
          </a:custGeom>
          <a:gradFill flip="none" rotWithShape="1">
            <a:gsLst>
              <a:gs pos="0">
                <a:srgbClr val="3368FF">
                  <a:alpha val="0"/>
                </a:srgbClr>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2000" b="1"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4" name="椭圆 113"/>
          <p:cNvSpPr/>
          <p:nvPr/>
        </p:nvSpPr>
        <p:spPr>
          <a:xfrm>
            <a:off x="3062605" y="5518150"/>
            <a:ext cx="570865" cy="570865"/>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b="1"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5" name="Oval 6+"/>
          <p:cNvSpPr/>
          <p:nvPr/>
        </p:nvSpPr>
        <p:spPr>
          <a:xfrm>
            <a:off x="2977515" y="5433060"/>
            <a:ext cx="741045" cy="741045"/>
          </a:xfrm>
          <a:prstGeom prst="ellipse">
            <a:avLst/>
          </a:prstGeom>
          <a:noFill/>
          <a:ln w="6350">
            <a:solidFill>
              <a:srgbClr val="3368FF"/>
            </a:solidFill>
            <a:prstDash val="dash"/>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6" name="椭圆 115"/>
          <p:cNvSpPr/>
          <p:nvPr>
            <p:custDataLst>
              <p:tags r:id="rId3"/>
            </p:custDataLst>
          </p:nvPr>
        </p:nvSpPr>
        <p:spPr>
          <a:xfrm flipH="1">
            <a:off x="3561715"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17" name="椭圆 116"/>
          <p:cNvSpPr/>
          <p:nvPr/>
        </p:nvSpPr>
        <p:spPr>
          <a:xfrm flipH="1">
            <a:off x="3583940" y="549719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latin typeface="微软雅黑"/>
              <a:ea typeface="微软雅黑"/>
              <a:cs typeface="微软雅黑"/>
              <a:sym typeface="微软雅黑"/>
            </a:endParaRPr>
          </a:p>
        </p:txBody>
      </p:sp>
      <p:sp>
        <p:nvSpPr>
          <p:cNvPr id="118" name="椭圆 117"/>
          <p:cNvSpPr/>
          <p:nvPr>
            <p:custDataLst>
              <p:tags r:id="rId4"/>
            </p:custDataLst>
          </p:nvPr>
        </p:nvSpPr>
        <p:spPr>
          <a:xfrm flipH="1">
            <a:off x="3312160" y="538988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19" name="椭圆 118"/>
          <p:cNvSpPr/>
          <p:nvPr/>
        </p:nvSpPr>
        <p:spPr>
          <a:xfrm flipH="1">
            <a:off x="3334385" y="541210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2000" b="1" dirty="0">
              <a:solidFill>
                <a:srgbClr val="383838"/>
              </a:solidFill>
              <a:latin typeface="微软雅黑"/>
              <a:ea typeface="微软雅黑"/>
              <a:cs typeface="微软雅黑"/>
              <a:sym typeface="微软雅黑"/>
            </a:endParaRPr>
          </a:p>
        </p:txBody>
      </p:sp>
      <p:sp>
        <p:nvSpPr>
          <p:cNvPr id="120" name="椭圆 119"/>
          <p:cNvSpPr/>
          <p:nvPr>
            <p:custDataLst>
              <p:tags r:id="rId5"/>
            </p:custDataLst>
          </p:nvPr>
        </p:nvSpPr>
        <p:spPr>
          <a:xfrm flipH="1">
            <a:off x="3074035"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21" name="椭圆 120"/>
          <p:cNvSpPr/>
          <p:nvPr/>
        </p:nvSpPr>
        <p:spPr>
          <a:xfrm flipH="1">
            <a:off x="3096260" y="549719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latin typeface="微软雅黑"/>
              <a:ea typeface="微软雅黑"/>
              <a:cs typeface="微软雅黑"/>
              <a:sym typeface="微软雅黑"/>
            </a:endParaRPr>
          </a:p>
        </p:txBody>
      </p:sp>
      <p:sp>
        <p:nvSpPr>
          <p:cNvPr id="122" name="文本框 121"/>
          <p:cNvSpPr txBox="1"/>
          <p:nvPr/>
        </p:nvSpPr>
        <p:spPr>
          <a:xfrm>
            <a:off x="3037205" y="513842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协调机制</a:t>
            </a:r>
            <a:endParaRPr lang="zh-CN" altLang="en-US" sz="1000" b="1" dirty="0">
              <a:solidFill>
                <a:srgbClr val="383838"/>
              </a:solidFill>
              <a:latin typeface="微软雅黑"/>
              <a:ea typeface="微软雅黑"/>
              <a:cs typeface="微软雅黑"/>
              <a:sym typeface="微软雅黑"/>
            </a:endParaRPr>
          </a:p>
        </p:txBody>
      </p:sp>
      <p:sp>
        <p:nvSpPr>
          <p:cNvPr id="123" name="文本框 122"/>
          <p:cNvSpPr txBox="1"/>
          <p:nvPr/>
        </p:nvSpPr>
        <p:spPr>
          <a:xfrm>
            <a:off x="2502535" y="527812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独立部门</a:t>
            </a:r>
            <a:endParaRPr lang="zh-CN" altLang="en-US" sz="1000" b="1" dirty="0">
              <a:solidFill>
                <a:srgbClr val="383838"/>
              </a:solidFill>
              <a:latin typeface="微软雅黑"/>
              <a:ea typeface="微软雅黑"/>
              <a:cs typeface="微软雅黑"/>
              <a:sym typeface="微软雅黑"/>
            </a:endParaRPr>
          </a:p>
        </p:txBody>
      </p:sp>
      <p:sp>
        <p:nvSpPr>
          <p:cNvPr id="124" name="文本框 123"/>
          <p:cNvSpPr txBox="1"/>
          <p:nvPr/>
        </p:nvSpPr>
        <p:spPr>
          <a:xfrm>
            <a:off x="3037205" y="5618798"/>
            <a:ext cx="635000" cy="368300"/>
          </a:xfrm>
          <a:prstGeom prst="rect">
            <a:avLst/>
          </a:prstGeom>
          <a:noFill/>
        </p:spPr>
        <p:txBody>
          <a:bodyPr wrap="square" lIns="0" rIns="0" tIns="0" bIns="0" anchor="t">
            <a:noAutofit/>
          </a:bodyPr>
          <a:lstStyle>
            <a:defPPr>
              <a:defRPr lang="zh-CN">
                <a:solidFill>
                  <a:srgbClr val="FFFFFF"/>
                </a:solidFill>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组织</a:t>
            </a:r>
            <a:endParaRPr lang="zh-CN" altLang="en-US" sz="10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架构</a:t>
            </a:r>
            <a:endParaRPr lang="zh-CN" altLang="en-US" sz="1000" b="1" dirty="0">
              <a:solidFill>
                <a:srgbClr val="FFFFFF"/>
              </a:solidFill>
              <a:latin typeface="微软雅黑"/>
              <a:ea typeface="微软雅黑"/>
              <a:cs typeface="微软雅黑"/>
              <a:sym typeface="微软雅黑"/>
            </a:endParaRPr>
          </a:p>
        </p:txBody>
      </p:sp>
      <p:sp>
        <p:nvSpPr>
          <p:cNvPr id="126" name="文本框 125"/>
          <p:cNvSpPr txBox="1"/>
          <p:nvPr/>
        </p:nvSpPr>
        <p:spPr>
          <a:xfrm>
            <a:off x="3474720" y="5278120"/>
            <a:ext cx="88011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部门责任制</a:t>
            </a:r>
            <a:endParaRPr lang="zh-CN" altLang="en-US" sz="1000" b="1" dirty="0">
              <a:solidFill>
                <a:srgbClr val="383838"/>
              </a:solidFill>
              <a:latin typeface="微软雅黑"/>
              <a:ea typeface="微软雅黑"/>
              <a:cs typeface="微软雅黑"/>
              <a:sym typeface="微软雅黑"/>
            </a:endParaRPr>
          </a:p>
        </p:txBody>
      </p:sp>
      <p:sp>
        <p:nvSpPr>
          <p:cNvPr id="127" name="箭头: 上 26"/>
          <p:cNvSpPr/>
          <p:nvPr/>
        </p:nvSpPr>
        <p:spPr>
          <a:xfrm rot="20404535" flipH="1">
            <a:off x="10695305" y="5097780"/>
            <a:ext cx="521970" cy="1294130"/>
          </a:xfrm>
          <a:custGeom>
            <a:avLst/>
            <a:gdLst>
              <a:gd name="connsiteX0" fmla="*/ 0 w 846384"/>
              <a:gd name="connsiteY0" fmla="*/ 423192 h 1696315"/>
              <a:gd name="connsiteX1" fmla="*/ 423192 w 846384"/>
              <a:gd name="connsiteY1" fmla="*/ 0 h 1696315"/>
              <a:gd name="connsiteX2" fmla="*/ 846384 w 846384"/>
              <a:gd name="connsiteY2" fmla="*/ 423192 h 1696315"/>
              <a:gd name="connsiteX3" fmla="*/ 634788 w 846384"/>
              <a:gd name="connsiteY3" fmla="*/ 423192 h 1696315"/>
              <a:gd name="connsiteX4" fmla="*/ 634788 w 846384"/>
              <a:gd name="connsiteY4" fmla="*/ 1696315 h 1696315"/>
              <a:gd name="connsiteX5" fmla="*/ 211596 w 846384"/>
              <a:gd name="connsiteY5" fmla="*/ 1696315 h 1696315"/>
              <a:gd name="connsiteX6" fmla="*/ 211596 w 846384"/>
              <a:gd name="connsiteY6" fmla="*/ 423192 h 1696315"/>
              <a:gd name="connsiteX7" fmla="*/ 0 w 846384"/>
              <a:gd name="connsiteY7" fmla="*/ 423192 h 1696315"/>
              <a:gd name="connsiteX0-1" fmla="*/ 0 w 846384"/>
              <a:gd name="connsiteY0-2" fmla="*/ 435957 h 1709080"/>
              <a:gd name="connsiteX1-3" fmla="*/ 415201 w 846384"/>
              <a:gd name="connsiteY1-4" fmla="*/ 0 h 1709080"/>
              <a:gd name="connsiteX2-5" fmla="*/ 846384 w 846384"/>
              <a:gd name="connsiteY2-6" fmla="*/ 435957 h 1709080"/>
              <a:gd name="connsiteX3-7" fmla="*/ 634788 w 846384"/>
              <a:gd name="connsiteY3-8" fmla="*/ 435957 h 1709080"/>
              <a:gd name="connsiteX4-9" fmla="*/ 634788 w 846384"/>
              <a:gd name="connsiteY4-10" fmla="*/ 1709080 h 1709080"/>
              <a:gd name="connsiteX5-11" fmla="*/ 211596 w 846384"/>
              <a:gd name="connsiteY5-12" fmla="*/ 1709080 h 1709080"/>
              <a:gd name="connsiteX6-13" fmla="*/ 211596 w 846384"/>
              <a:gd name="connsiteY6-14" fmla="*/ 435957 h 1709080"/>
              <a:gd name="connsiteX7-15" fmla="*/ 0 w 846384"/>
              <a:gd name="connsiteY7-16" fmla="*/ 435957 h 1709080"/>
              <a:gd name="connsiteX0-17" fmla="*/ 0 w 765454"/>
              <a:gd name="connsiteY0-18" fmla="*/ 435957 h 1709080"/>
              <a:gd name="connsiteX1-19" fmla="*/ 415201 w 765454"/>
              <a:gd name="connsiteY1-20" fmla="*/ 0 h 1709080"/>
              <a:gd name="connsiteX2-21" fmla="*/ 765454 w 765454"/>
              <a:gd name="connsiteY2-22" fmla="*/ 445754 h 1709080"/>
              <a:gd name="connsiteX3-23" fmla="*/ 634788 w 765454"/>
              <a:gd name="connsiteY3-24" fmla="*/ 435957 h 1709080"/>
              <a:gd name="connsiteX4-25" fmla="*/ 634788 w 765454"/>
              <a:gd name="connsiteY4-26" fmla="*/ 1709080 h 1709080"/>
              <a:gd name="connsiteX5-27" fmla="*/ 211596 w 765454"/>
              <a:gd name="connsiteY5-28" fmla="*/ 1709080 h 1709080"/>
              <a:gd name="connsiteX6-29" fmla="*/ 211596 w 765454"/>
              <a:gd name="connsiteY6-30" fmla="*/ 435957 h 1709080"/>
              <a:gd name="connsiteX7-31" fmla="*/ 0 w 765454"/>
              <a:gd name="connsiteY7-32" fmla="*/ 435957 h 1709080"/>
              <a:gd name="connsiteX0-33" fmla="*/ 0 w 765454"/>
              <a:gd name="connsiteY0-34" fmla="*/ 435957 h 1709080"/>
              <a:gd name="connsiteX1-35" fmla="*/ 415201 w 765454"/>
              <a:gd name="connsiteY1-36" fmla="*/ 0 h 1709080"/>
              <a:gd name="connsiteX2-37" fmla="*/ 765454 w 765454"/>
              <a:gd name="connsiteY2-38" fmla="*/ 445754 h 1709080"/>
              <a:gd name="connsiteX3-39" fmla="*/ 619148 w 765454"/>
              <a:gd name="connsiteY3-40" fmla="*/ 442194 h 1709080"/>
              <a:gd name="connsiteX4-41" fmla="*/ 634788 w 765454"/>
              <a:gd name="connsiteY4-42" fmla="*/ 1709080 h 1709080"/>
              <a:gd name="connsiteX5-43" fmla="*/ 211596 w 765454"/>
              <a:gd name="connsiteY5-44" fmla="*/ 1709080 h 1709080"/>
              <a:gd name="connsiteX6-45" fmla="*/ 211596 w 765454"/>
              <a:gd name="connsiteY6-46" fmla="*/ 435957 h 1709080"/>
              <a:gd name="connsiteX7-47" fmla="*/ 0 w 765454"/>
              <a:gd name="connsiteY7-48" fmla="*/ 435957 h 1709080"/>
              <a:gd name="connsiteX0-49" fmla="*/ 0 w 763067"/>
              <a:gd name="connsiteY0-50" fmla="*/ 435957 h 1709080"/>
              <a:gd name="connsiteX1-51" fmla="*/ 415201 w 763067"/>
              <a:gd name="connsiteY1-52" fmla="*/ 0 h 1709080"/>
              <a:gd name="connsiteX2-53" fmla="*/ 763067 w 763067"/>
              <a:gd name="connsiteY2-54" fmla="*/ 456132 h 1709080"/>
              <a:gd name="connsiteX3-55" fmla="*/ 619148 w 763067"/>
              <a:gd name="connsiteY3-56" fmla="*/ 442194 h 1709080"/>
              <a:gd name="connsiteX4-57" fmla="*/ 634788 w 763067"/>
              <a:gd name="connsiteY4-58" fmla="*/ 1709080 h 1709080"/>
              <a:gd name="connsiteX5-59" fmla="*/ 211596 w 763067"/>
              <a:gd name="connsiteY5-60" fmla="*/ 1709080 h 1709080"/>
              <a:gd name="connsiteX6-61" fmla="*/ 211596 w 763067"/>
              <a:gd name="connsiteY6-62" fmla="*/ 435957 h 1709080"/>
              <a:gd name="connsiteX7-63" fmla="*/ 0 w 763067"/>
              <a:gd name="connsiteY7-64" fmla="*/ 435957 h 1709080"/>
              <a:gd name="connsiteX0-65" fmla="*/ 0 w 761386"/>
              <a:gd name="connsiteY0-66" fmla="*/ 435957 h 1709080"/>
              <a:gd name="connsiteX1-67" fmla="*/ 415201 w 761386"/>
              <a:gd name="connsiteY1-68" fmla="*/ 0 h 1709080"/>
              <a:gd name="connsiteX2-69" fmla="*/ 761386 w 761386"/>
              <a:gd name="connsiteY2-70" fmla="*/ 449188 h 1709080"/>
              <a:gd name="connsiteX3-71" fmla="*/ 619148 w 761386"/>
              <a:gd name="connsiteY3-72" fmla="*/ 442194 h 1709080"/>
              <a:gd name="connsiteX4-73" fmla="*/ 634788 w 761386"/>
              <a:gd name="connsiteY4-74" fmla="*/ 1709080 h 1709080"/>
              <a:gd name="connsiteX5-75" fmla="*/ 211596 w 761386"/>
              <a:gd name="connsiteY5-76" fmla="*/ 1709080 h 1709080"/>
              <a:gd name="connsiteX6-77" fmla="*/ 211596 w 761386"/>
              <a:gd name="connsiteY6-78" fmla="*/ 435957 h 1709080"/>
              <a:gd name="connsiteX7-79" fmla="*/ 0 w 761386"/>
              <a:gd name="connsiteY7-80" fmla="*/ 435957 h 1709080"/>
              <a:gd name="connsiteX0-81" fmla="*/ 0 w 761386"/>
              <a:gd name="connsiteY0-82" fmla="*/ 435957 h 1709080"/>
              <a:gd name="connsiteX1-83" fmla="*/ 415201 w 761386"/>
              <a:gd name="connsiteY1-84" fmla="*/ 0 h 1709080"/>
              <a:gd name="connsiteX2-85" fmla="*/ 761386 w 761386"/>
              <a:gd name="connsiteY2-86" fmla="*/ 449188 h 1709080"/>
              <a:gd name="connsiteX3-87" fmla="*/ 618514 w 761386"/>
              <a:gd name="connsiteY3-88" fmla="*/ 449698 h 1709080"/>
              <a:gd name="connsiteX4-89" fmla="*/ 634788 w 761386"/>
              <a:gd name="connsiteY4-90" fmla="*/ 1709080 h 1709080"/>
              <a:gd name="connsiteX5-91" fmla="*/ 211596 w 761386"/>
              <a:gd name="connsiteY5-92" fmla="*/ 1709080 h 1709080"/>
              <a:gd name="connsiteX6-93" fmla="*/ 211596 w 761386"/>
              <a:gd name="connsiteY6-94" fmla="*/ 435957 h 1709080"/>
              <a:gd name="connsiteX7-95" fmla="*/ 0 w 761386"/>
              <a:gd name="connsiteY7-96" fmla="*/ 435957 h 1709080"/>
              <a:gd name="connsiteX0-97" fmla="*/ 0 w 740557"/>
              <a:gd name="connsiteY0-98" fmla="*/ 430912 h 1709080"/>
              <a:gd name="connsiteX1-99" fmla="*/ 394372 w 740557"/>
              <a:gd name="connsiteY1-100" fmla="*/ 0 h 1709080"/>
              <a:gd name="connsiteX2-101" fmla="*/ 740557 w 740557"/>
              <a:gd name="connsiteY2-102" fmla="*/ 449188 h 1709080"/>
              <a:gd name="connsiteX3-103" fmla="*/ 597685 w 740557"/>
              <a:gd name="connsiteY3-104" fmla="*/ 449698 h 1709080"/>
              <a:gd name="connsiteX4-105" fmla="*/ 613959 w 740557"/>
              <a:gd name="connsiteY4-106" fmla="*/ 1709080 h 1709080"/>
              <a:gd name="connsiteX5-107" fmla="*/ 190767 w 740557"/>
              <a:gd name="connsiteY5-108" fmla="*/ 1709080 h 1709080"/>
              <a:gd name="connsiteX6-109" fmla="*/ 190767 w 740557"/>
              <a:gd name="connsiteY6-110" fmla="*/ 435957 h 1709080"/>
              <a:gd name="connsiteX7-111" fmla="*/ 0 w 740557"/>
              <a:gd name="connsiteY7-112" fmla="*/ 430912 h 1709080"/>
              <a:gd name="connsiteX0-113" fmla="*/ 0 w 698899"/>
              <a:gd name="connsiteY0-114" fmla="*/ 420825 h 1709080"/>
              <a:gd name="connsiteX1-115" fmla="*/ 352714 w 698899"/>
              <a:gd name="connsiteY1-116" fmla="*/ 0 h 1709080"/>
              <a:gd name="connsiteX2-117" fmla="*/ 698899 w 698899"/>
              <a:gd name="connsiteY2-118" fmla="*/ 449188 h 1709080"/>
              <a:gd name="connsiteX3-119" fmla="*/ 556027 w 698899"/>
              <a:gd name="connsiteY3-120" fmla="*/ 449698 h 1709080"/>
              <a:gd name="connsiteX4-121" fmla="*/ 572301 w 698899"/>
              <a:gd name="connsiteY4-122" fmla="*/ 1709080 h 1709080"/>
              <a:gd name="connsiteX5-123" fmla="*/ 149109 w 698899"/>
              <a:gd name="connsiteY5-124" fmla="*/ 1709080 h 1709080"/>
              <a:gd name="connsiteX6-125" fmla="*/ 149109 w 698899"/>
              <a:gd name="connsiteY6-126" fmla="*/ 435957 h 1709080"/>
              <a:gd name="connsiteX7-127" fmla="*/ 0 w 698899"/>
              <a:gd name="connsiteY7-128" fmla="*/ 420825 h 1709080"/>
              <a:gd name="connsiteX0-129" fmla="*/ 0 w 742872"/>
              <a:gd name="connsiteY0-130" fmla="*/ 431473 h 1709080"/>
              <a:gd name="connsiteX1-131" fmla="*/ 396687 w 742872"/>
              <a:gd name="connsiteY1-132" fmla="*/ 0 h 1709080"/>
              <a:gd name="connsiteX2-133" fmla="*/ 742872 w 742872"/>
              <a:gd name="connsiteY2-134" fmla="*/ 449188 h 1709080"/>
              <a:gd name="connsiteX3-135" fmla="*/ 600000 w 742872"/>
              <a:gd name="connsiteY3-136" fmla="*/ 449698 h 1709080"/>
              <a:gd name="connsiteX4-137" fmla="*/ 616274 w 742872"/>
              <a:gd name="connsiteY4-138" fmla="*/ 1709080 h 1709080"/>
              <a:gd name="connsiteX5-139" fmla="*/ 193082 w 742872"/>
              <a:gd name="connsiteY5-140" fmla="*/ 1709080 h 1709080"/>
              <a:gd name="connsiteX6-141" fmla="*/ 193082 w 742872"/>
              <a:gd name="connsiteY6-142" fmla="*/ 435957 h 1709080"/>
              <a:gd name="connsiteX7-143" fmla="*/ 0 w 742872"/>
              <a:gd name="connsiteY7-144" fmla="*/ 431473 h 1709080"/>
              <a:gd name="connsiteX0-145" fmla="*/ 0 w 742872"/>
              <a:gd name="connsiteY0-146" fmla="*/ 431473 h 1709080"/>
              <a:gd name="connsiteX1-147" fmla="*/ 396687 w 742872"/>
              <a:gd name="connsiteY1-148" fmla="*/ 0 h 1709080"/>
              <a:gd name="connsiteX2-149" fmla="*/ 742872 w 742872"/>
              <a:gd name="connsiteY2-150" fmla="*/ 449188 h 1709080"/>
              <a:gd name="connsiteX3-151" fmla="*/ 600000 w 742872"/>
              <a:gd name="connsiteY3-152" fmla="*/ 449698 h 1709080"/>
              <a:gd name="connsiteX4-153" fmla="*/ 616274 w 742872"/>
              <a:gd name="connsiteY4-154" fmla="*/ 1709080 h 1709080"/>
              <a:gd name="connsiteX5-155" fmla="*/ 193082 w 742872"/>
              <a:gd name="connsiteY5-156" fmla="*/ 1709080 h 1709080"/>
              <a:gd name="connsiteX6-157" fmla="*/ 154371 w 742872"/>
              <a:gd name="connsiteY6-158" fmla="*/ 437980 h 1709080"/>
              <a:gd name="connsiteX7-159" fmla="*/ 0 w 742872"/>
              <a:gd name="connsiteY7-160" fmla="*/ 431473 h 1709080"/>
              <a:gd name="connsiteX0-161" fmla="*/ 0 w 1101086"/>
              <a:gd name="connsiteY0-162" fmla="*/ 431473 h 1709080"/>
              <a:gd name="connsiteX1-163" fmla="*/ 396687 w 1101086"/>
              <a:gd name="connsiteY1-164" fmla="*/ 0 h 1709080"/>
              <a:gd name="connsiteX2-165" fmla="*/ 742872 w 1101086"/>
              <a:gd name="connsiteY2-166" fmla="*/ 449188 h 1709080"/>
              <a:gd name="connsiteX3-167" fmla="*/ 600000 w 1101086"/>
              <a:gd name="connsiteY3-168" fmla="*/ 449698 h 1709080"/>
              <a:gd name="connsiteX4-169" fmla="*/ 1101086 w 1101086"/>
              <a:gd name="connsiteY4-170" fmla="*/ 1363824 h 1709080"/>
              <a:gd name="connsiteX5-171" fmla="*/ 193082 w 1101086"/>
              <a:gd name="connsiteY5-172" fmla="*/ 1709080 h 1709080"/>
              <a:gd name="connsiteX6-173" fmla="*/ 154371 w 1101086"/>
              <a:gd name="connsiteY6-174" fmla="*/ 437980 h 1709080"/>
              <a:gd name="connsiteX7-175" fmla="*/ 0 w 1101086"/>
              <a:gd name="connsiteY7-176" fmla="*/ 431473 h 1709080"/>
              <a:gd name="connsiteX0-177" fmla="*/ 0 w 1101086"/>
              <a:gd name="connsiteY0-178" fmla="*/ 431473 h 1630579"/>
              <a:gd name="connsiteX1-179" fmla="*/ 396687 w 1101086"/>
              <a:gd name="connsiteY1-180" fmla="*/ 0 h 1630579"/>
              <a:gd name="connsiteX2-181" fmla="*/ 742872 w 1101086"/>
              <a:gd name="connsiteY2-182" fmla="*/ 449188 h 1630579"/>
              <a:gd name="connsiteX3-183" fmla="*/ 600000 w 1101086"/>
              <a:gd name="connsiteY3-184" fmla="*/ 449698 h 1630579"/>
              <a:gd name="connsiteX4-185" fmla="*/ 1101086 w 1101086"/>
              <a:gd name="connsiteY4-186" fmla="*/ 1363824 h 1630579"/>
              <a:gd name="connsiteX5-187" fmla="*/ 355380 w 1101086"/>
              <a:gd name="connsiteY5-188" fmla="*/ 1630579 h 1630579"/>
              <a:gd name="connsiteX6-189" fmla="*/ 154371 w 1101086"/>
              <a:gd name="connsiteY6-190" fmla="*/ 437980 h 1630579"/>
              <a:gd name="connsiteX7-191" fmla="*/ 0 w 1101086"/>
              <a:gd name="connsiteY7-192" fmla="*/ 431473 h 1630579"/>
              <a:gd name="connsiteX0-193" fmla="*/ 0 w 1101086"/>
              <a:gd name="connsiteY0-194" fmla="*/ 431473 h 1682647"/>
              <a:gd name="connsiteX1-195" fmla="*/ 396687 w 1101086"/>
              <a:gd name="connsiteY1-196" fmla="*/ 0 h 1682647"/>
              <a:gd name="connsiteX2-197" fmla="*/ 742872 w 1101086"/>
              <a:gd name="connsiteY2-198" fmla="*/ 449188 h 1682647"/>
              <a:gd name="connsiteX3-199" fmla="*/ 600000 w 1101086"/>
              <a:gd name="connsiteY3-200" fmla="*/ 449698 h 1682647"/>
              <a:gd name="connsiteX4-201" fmla="*/ 1101086 w 1101086"/>
              <a:gd name="connsiteY4-202" fmla="*/ 1363824 h 1682647"/>
              <a:gd name="connsiteX5-203" fmla="*/ 211183 w 1101086"/>
              <a:gd name="connsiteY5-204" fmla="*/ 1682647 h 1682647"/>
              <a:gd name="connsiteX6-205" fmla="*/ 154371 w 1101086"/>
              <a:gd name="connsiteY6-206" fmla="*/ 437980 h 1682647"/>
              <a:gd name="connsiteX7-207" fmla="*/ 0 w 1101086"/>
              <a:gd name="connsiteY7-208" fmla="*/ 431473 h 1682647"/>
              <a:gd name="connsiteX0-209" fmla="*/ 0 w 1101086"/>
              <a:gd name="connsiteY0-210" fmla="*/ 431473 h 1682647"/>
              <a:gd name="connsiteX1-211" fmla="*/ 396687 w 1101086"/>
              <a:gd name="connsiteY1-212" fmla="*/ 0 h 1682647"/>
              <a:gd name="connsiteX2-213" fmla="*/ 742872 w 1101086"/>
              <a:gd name="connsiteY2-214" fmla="*/ 449188 h 1682647"/>
              <a:gd name="connsiteX3-215" fmla="*/ 600000 w 1101086"/>
              <a:gd name="connsiteY3-216" fmla="*/ 449698 h 1682647"/>
              <a:gd name="connsiteX4-217" fmla="*/ 1101086 w 1101086"/>
              <a:gd name="connsiteY4-218" fmla="*/ 1363824 h 1682647"/>
              <a:gd name="connsiteX5-219" fmla="*/ 211183 w 1101086"/>
              <a:gd name="connsiteY5-220" fmla="*/ 1682647 h 1682647"/>
              <a:gd name="connsiteX6-221" fmla="*/ 154371 w 1101086"/>
              <a:gd name="connsiteY6-222" fmla="*/ 437980 h 1682647"/>
              <a:gd name="connsiteX7-223" fmla="*/ 0 w 1101086"/>
              <a:gd name="connsiteY7-224" fmla="*/ 431473 h 1682647"/>
              <a:gd name="connsiteX0-225" fmla="*/ 0 w 1101086"/>
              <a:gd name="connsiteY0-226" fmla="*/ 431473 h 1682647"/>
              <a:gd name="connsiteX1-227" fmla="*/ 396687 w 1101086"/>
              <a:gd name="connsiteY1-228" fmla="*/ 0 h 1682647"/>
              <a:gd name="connsiteX2-229" fmla="*/ 742872 w 1101086"/>
              <a:gd name="connsiteY2-230" fmla="*/ 449188 h 1682647"/>
              <a:gd name="connsiteX3-231" fmla="*/ 600000 w 1101086"/>
              <a:gd name="connsiteY3-232" fmla="*/ 449698 h 1682647"/>
              <a:gd name="connsiteX4-233" fmla="*/ 1101086 w 1101086"/>
              <a:gd name="connsiteY4-234" fmla="*/ 1363824 h 1682647"/>
              <a:gd name="connsiteX5-235" fmla="*/ 211183 w 1101086"/>
              <a:gd name="connsiteY5-236" fmla="*/ 1682647 h 1682647"/>
              <a:gd name="connsiteX6-237" fmla="*/ 154371 w 1101086"/>
              <a:gd name="connsiteY6-238" fmla="*/ 437980 h 1682647"/>
              <a:gd name="connsiteX7-239" fmla="*/ 0 w 1101086"/>
              <a:gd name="connsiteY7-240" fmla="*/ 431473 h 1682647"/>
              <a:gd name="connsiteX0-241" fmla="*/ 0 w 1101086"/>
              <a:gd name="connsiteY0-242" fmla="*/ 431473 h 1682647"/>
              <a:gd name="connsiteX1-243" fmla="*/ 396687 w 1101086"/>
              <a:gd name="connsiteY1-244" fmla="*/ 0 h 1682647"/>
              <a:gd name="connsiteX2-245" fmla="*/ 742872 w 1101086"/>
              <a:gd name="connsiteY2-246" fmla="*/ 449188 h 1682647"/>
              <a:gd name="connsiteX3-247" fmla="*/ 600000 w 1101086"/>
              <a:gd name="connsiteY3-248" fmla="*/ 449698 h 1682647"/>
              <a:gd name="connsiteX4-249" fmla="*/ 1101086 w 1101086"/>
              <a:gd name="connsiteY4-250" fmla="*/ 1363824 h 1682647"/>
              <a:gd name="connsiteX5-251" fmla="*/ 211183 w 1101086"/>
              <a:gd name="connsiteY5-252" fmla="*/ 1682647 h 1682647"/>
              <a:gd name="connsiteX6-253" fmla="*/ 154371 w 1101086"/>
              <a:gd name="connsiteY6-254" fmla="*/ 437980 h 1682647"/>
              <a:gd name="connsiteX7-255" fmla="*/ 0 w 1101086"/>
              <a:gd name="connsiteY7-256" fmla="*/ 431473 h 1682647"/>
              <a:gd name="connsiteX0-257" fmla="*/ 0 w 1101086"/>
              <a:gd name="connsiteY0-258" fmla="*/ 431473 h 1682647"/>
              <a:gd name="connsiteX1-259" fmla="*/ 396687 w 1101086"/>
              <a:gd name="connsiteY1-260" fmla="*/ 0 h 1682647"/>
              <a:gd name="connsiteX2-261" fmla="*/ 742872 w 1101086"/>
              <a:gd name="connsiteY2-262" fmla="*/ 449188 h 1682647"/>
              <a:gd name="connsiteX3-263" fmla="*/ 600000 w 1101086"/>
              <a:gd name="connsiteY3-264" fmla="*/ 449698 h 1682647"/>
              <a:gd name="connsiteX4-265" fmla="*/ 1101086 w 1101086"/>
              <a:gd name="connsiteY4-266" fmla="*/ 1363824 h 1682647"/>
              <a:gd name="connsiteX5-267" fmla="*/ 211183 w 1101086"/>
              <a:gd name="connsiteY5-268" fmla="*/ 1682647 h 1682647"/>
              <a:gd name="connsiteX6-269" fmla="*/ 154371 w 1101086"/>
              <a:gd name="connsiteY6-270" fmla="*/ 437980 h 1682647"/>
              <a:gd name="connsiteX7-271" fmla="*/ 0 w 1101086"/>
              <a:gd name="connsiteY7-272" fmla="*/ 431473 h 1682647"/>
              <a:gd name="connsiteX0-273" fmla="*/ 0 w 1101086"/>
              <a:gd name="connsiteY0-274" fmla="*/ 431473 h 1682647"/>
              <a:gd name="connsiteX1-275" fmla="*/ 396687 w 1101086"/>
              <a:gd name="connsiteY1-276" fmla="*/ 0 h 1682647"/>
              <a:gd name="connsiteX2-277" fmla="*/ 742872 w 1101086"/>
              <a:gd name="connsiteY2-278" fmla="*/ 449188 h 1682647"/>
              <a:gd name="connsiteX3-279" fmla="*/ 600000 w 1101086"/>
              <a:gd name="connsiteY3-280" fmla="*/ 449698 h 1682647"/>
              <a:gd name="connsiteX4-281" fmla="*/ 1101086 w 1101086"/>
              <a:gd name="connsiteY4-282" fmla="*/ 1363824 h 1682647"/>
              <a:gd name="connsiteX5-283" fmla="*/ 211183 w 1101086"/>
              <a:gd name="connsiteY5-284" fmla="*/ 1682647 h 1682647"/>
              <a:gd name="connsiteX6-285" fmla="*/ 154371 w 1101086"/>
              <a:gd name="connsiteY6-286" fmla="*/ 437980 h 1682647"/>
              <a:gd name="connsiteX7-287" fmla="*/ 0 w 1101086"/>
              <a:gd name="connsiteY7-288" fmla="*/ 431473 h 1682647"/>
              <a:gd name="connsiteX0-289" fmla="*/ 0 w 1101086"/>
              <a:gd name="connsiteY0-290" fmla="*/ 431473 h 1682647"/>
              <a:gd name="connsiteX1-291" fmla="*/ 396687 w 1101086"/>
              <a:gd name="connsiteY1-292" fmla="*/ 0 h 1682647"/>
              <a:gd name="connsiteX2-293" fmla="*/ 742872 w 1101086"/>
              <a:gd name="connsiteY2-294" fmla="*/ 449188 h 1682647"/>
              <a:gd name="connsiteX3-295" fmla="*/ 600000 w 1101086"/>
              <a:gd name="connsiteY3-296" fmla="*/ 449698 h 1682647"/>
              <a:gd name="connsiteX4-297" fmla="*/ 1101086 w 1101086"/>
              <a:gd name="connsiteY4-298" fmla="*/ 1363824 h 1682647"/>
              <a:gd name="connsiteX5-299" fmla="*/ 211183 w 1101086"/>
              <a:gd name="connsiteY5-300" fmla="*/ 1682647 h 1682647"/>
              <a:gd name="connsiteX6-301" fmla="*/ 154371 w 1101086"/>
              <a:gd name="connsiteY6-302" fmla="*/ 437980 h 1682647"/>
              <a:gd name="connsiteX7-303" fmla="*/ 0 w 1101086"/>
              <a:gd name="connsiteY7-304" fmla="*/ 431473 h 1682647"/>
              <a:gd name="connsiteX0-305" fmla="*/ 0 w 877005"/>
              <a:gd name="connsiteY0-306" fmla="*/ 431473 h 1682647"/>
              <a:gd name="connsiteX1-307" fmla="*/ 396687 w 877005"/>
              <a:gd name="connsiteY1-308" fmla="*/ 0 h 1682647"/>
              <a:gd name="connsiteX2-309" fmla="*/ 742872 w 877005"/>
              <a:gd name="connsiteY2-310" fmla="*/ 449188 h 1682647"/>
              <a:gd name="connsiteX3-311" fmla="*/ 600000 w 877005"/>
              <a:gd name="connsiteY3-312" fmla="*/ 449698 h 1682647"/>
              <a:gd name="connsiteX4-313" fmla="*/ 877005 w 877005"/>
              <a:gd name="connsiteY4-314" fmla="*/ 1445049 h 1682647"/>
              <a:gd name="connsiteX5-315" fmla="*/ 211183 w 877005"/>
              <a:gd name="connsiteY5-316" fmla="*/ 1682647 h 1682647"/>
              <a:gd name="connsiteX6-317" fmla="*/ 154371 w 877005"/>
              <a:gd name="connsiteY6-318" fmla="*/ 437980 h 1682647"/>
              <a:gd name="connsiteX7-319" fmla="*/ 0 w 877005"/>
              <a:gd name="connsiteY7-320" fmla="*/ 431473 h 1682647"/>
              <a:gd name="connsiteX0-321" fmla="*/ 0 w 917020"/>
              <a:gd name="connsiteY0-322" fmla="*/ 431473 h 1682647"/>
              <a:gd name="connsiteX1-323" fmla="*/ 396687 w 917020"/>
              <a:gd name="connsiteY1-324" fmla="*/ 0 h 1682647"/>
              <a:gd name="connsiteX2-325" fmla="*/ 742872 w 917020"/>
              <a:gd name="connsiteY2-326" fmla="*/ 449188 h 1682647"/>
              <a:gd name="connsiteX3-327" fmla="*/ 600000 w 917020"/>
              <a:gd name="connsiteY3-328" fmla="*/ 449698 h 1682647"/>
              <a:gd name="connsiteX4-329" fmla="*/ 917020 w 917020"/>
              <a:gd name="connsiteY4-330" fmla="*/ 1430545 h 1682647"/>
              <a:gd name="connsiteX5-331" fmla="*/ 211183 w 917020"/>
              <a:gd name="connsiteY5-332" fmla="*/ 1682647 h 1682647"/>
              <a:gd name="connsiteX6-333" fmla="*/ 154371 w 917020"/>
              <a:gd name="connsiteY6-334" fmla="*/ 437980 h 1682647"/>
              <a:gd name="connsiteX7-335" fmla="*/ 0 w 917020"/>
              <a:gd name="connsiteY7-336" fmla="*/ 431473 h 1682647"/>
              <a:gd name="connsiteX0-337" fmla="*/ 0 w 917020"/>
              <a:gd name="connsiteY0-338" fmla="*/ 431473 h 1682647"/>
              <a:gd name="connsiteX1-339" fmla="*/ 396687 w 917020"/>
              <a:gd name="connsiteY1-340" fmla="*/ 0 h 1682647"/>
              <a:gd name="connsiteX2-341" fmla="*/ 742872 w 917020"/>
              <a:gd name="connsiteY2-342" fmla="*/ 449188 h 1682647"/>
              <a:gd name="connsiteX3-343" fmla="*/ 600000 w 917020"/>
              <a:gd name="connsiteY3-344" fmla="*/ 449698 h 1682647"/>
              <a:gd name="connsiteX4-345" fmla="*/ 917020 w 917020"/>
              <a:gd name="connsiteY4-346" fmla="*/ 1430545 h 1682647"/>
              <a:gd name="connsiteX5-347" fmla="*/ 211183 w 917020"/>
              <a:gd name="connsiteY5-348" fmla="*/ 1682647 h 1682647"/>
              <a:gd name="connsiteX6-349" fmla="*/ 154371 w 917020"/>
              <a:gd name="connsiteY6-350" fmla="*/ 437980 h 1682647"/>
              <a:gd name="connsiteX7-351" fmla="*/ 0 w 917020"/>
              <a:gd name="connsiteY7-352" fmla="*/ 431473 h 1682647"/>
              <a:gd name="connsiteX0-353" fmla="*/ 0 w 1001946"/>
              <a:gd name="connsiteY0-354" fmla="*/ 431473 h 1682647"/>
              <a:gd name="connsiteX1-355" fmla="*/ 396687 w 1001946"/>
              <a:gd name="connsiteY1-356" fmla="*/ 0 h 1682647"/>
              <a:gd name="connsiteX2-357" fmla="*/ 742872 w 1001946"/>
              <a:gd name="connsiteY2-358" fmla="*/ 449188 h 1682647"/>
              <a:gd name="connsiteX3-359" fmla="*/ 600000 w 1001946"/>
              <a:gd name="connsiteY3-360" fmla="*/ 449698 h 1682647"/>
              <a:gd name="connsiteX4-361" fmla="*/ 1001946 w 1001946"/>
              <a:gd name="connsiteY4-362" fmla="*/ 1554234 h 1682647"/>
              <a:gd name="connsiteX5-363" fmla="*/ 211183 w 1001946"/>
              <a:gd name="connsiteY5-364" fmla="*/ 1682647 h 1682647"/>
              <a:gd name="connsiteX6-365" fmla="*/ 154371 w 1001946"/>
              <a:gd name="connsiteY6-366" fmla="*/ 437980 h 1682647"/>
              <a:gd name="connsiteX7-367" fmla="*/ 0 w 1001946"/>
              <a:gd name="connsiteY7-368" fmla="*/ 431473 h 1682647"/>
              <a:gd name="connsiteX0-369" fmla="*/ 0 w 1001946"/>
              <a:gd name="connsiteY0-370" fmla="*/ 431473 h 1854320"/>
              <a:gd name="connsiteX1-371" fmla="*/ 396687 w 1001946"/>
              <a:gd name="connsiteY1-372" fmla="*/ 0 h 1854320"/>
              <a:gd name="connsiteX2-373" fmla="*/ 742872 w 1001946"/>
              <a:gd name="connsiteY2-374" fmla="*/ 449188 h 1854320"/>
              <a:gd name="connsiteX3-375" fmla="*/ 600000 w 1001946"/>
              <a:gd name="connsiteY3-376" fmla="*/ 449698 h 1854320"/>
              <a:gd name="connsiteX4-377" fmla="*/ 1001946 w 1001946"/>
              <a:gd name="connsiteY4-378" fmla="*/ 1554234 h 1854320"/>
              <a:gd name="connsiteX5-379" fmla="*/ 300410 w 1001946"/>
              <a:gd name="connsiteY5-380" fmla="*/ 1854320 h 1854320"/>
              <a:gd name="connsiteX6-381" fmla="*/ 154371 w 1001946"/>
              <a:gd name="connsiteY6-382" fmla="*/ 437980 h 1854320"/>
              <a:gd name="connsiteX7-383" fmla="*/ 0 w 1001946"/>
              <a:gd name="connsiteY7-384" fmla="*/ 431473 h 1854320"/>
              <a:gd name="connsiteX0-385" fmla="*/ 0 w 1001946"/>
              <a:gd name="connsiteY0-386" fmla="*/ 431473 h 1891590"/>
              <a:gd name="connsiteX1-387" fmla="*/ 396687 w 1001946"/>
              <a:gd name="connsiteY1-388" fmla="*/ 0 h 1891590"/>
              <a:gd name="connsiteX2-389" fmla="*/ 742872 w 1001946"/>
              <a:gd name="connsiteY2-390" fmla="*/ 449188 h 1891590"/>
              <a:gd name="connsiteX3-391" fmla="*/ 600000 w 1001946"/>
              <a:gd name="connsiteY3-392" fmla="*/ 449698 h 1891590"/>
              <a:gd name="connsiteX4-393" fmla="*/ 1001946 w 1001946"/>
              <a:gd name="connsiteY4-394" fmla="*/ 1554234 h 1891590"/>
              <a:gd name="connsiteX5-395" fmla="*/ 317815 w 1001946"/>
              <a:gd name="connsiteY5-396" fmla="*/ 1891590 h 1891590"/>
              <a:gd name="connsiteX6-397" fmla="*/ 154371 w 1001946"/>
              <a:gd name="connsiteY6-398" fmla="*/ 437980 h 1891590"/>
              <a:gd name="connsiteX7-399" fmla="*/ 0 w 1001946"/>
              <a:gd name="connsiteY7-400" fmla="*/ 431473 h 1891590"/>
              <a:gd name="connsiteX0-401" fmla="*/ 0 w 1001946"/>
              <a:gd name="connsiteY0-402" fmla="*/ 431473 h 1928860"/>
              <a:gd name="connsiteX1-403" fmla="*/ 396687 w 1001946"/>
              <a:gd name="connsiteY1-404" fmla="*/ 0 h 1928860"/>
              <a:gd name="connsiteX2-405" fmla="*/ 742872 w 1001946"/>
              <a:gd name="connsiteY2-406" fmla="*/ 449188 h 1928860"/>
              <a:gd name="connsiteX3-407" fmla="*/ 600000 w 1001946"/>
              <a:gd name="connsiteY3-408" fmla="*/ 449698 h 1928860"/>
              <a:gd name="connsiteX4-409" fmla="*/ 1001946 w 1001946"/>
              <a:gd name="connsiteY4-410" fmla="*/ 1554234 h 1928860"/>
              <a:gd name="connsiteX5-411" fmla="*/ 335220 w 1001946"/>
              <a:gd name="connsiteY5-412" fmla="*/ 1928860 h 1928860"/>
              <a:gd name="connsiteX6-413" fmla="*/ 154371 w 1001946"/>
              <a:gd name="connsiteY6-414" fmla="*/ 437980 h 1928860"/>
              <a:gd name="connsiteX7-415" fmla="*/ 0 w 1001946"/>
              <a:gd name="connsiteY7-416" fmla="*/ 431473 h 19288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001946" h="1928860">
                <a:moveTo>
                  <a:pt x="0" y="431473"/>
                </a:moveTo>
                <a:lnTo>
                  <a:pt x="396687" y="0"/>
                </a:lnTo>
                <a:lnTo>
                  <a:pt x="742872" y="449188"/>
                </a:lnTo>
                <a:lnTo>
                  <a:pt x="600000" y="449698"/>
                </a:lnTo>
                <a:cubicBezTo>
                  <a:pt x="574978" y="639207"/>
                  <a:pt x="789572" y="1346868"/>
                  <a:pt x="1001946" y="1554234"/>
                </a:cubicBezTo>
                <a:lnTo>
                  <a:pt x="335220" y="1928860"/>
                </a:lnTo>
                <a:cubicBezTo>
                  <a:pt x="265523" y="1739419"/>
                  <a:pt x="-1847" y="1030036"/>
                  <a:pt x="154371" y="437980"/>
                </a:cubicBezTo>
                <a:lnTo>
                  <a:pt x="0" y="431473"/>
                </a:lnTo>
                <a:close/>
              </a:path>
            </a:pathLst>
          </a:custGeom>
          <a:gradFill flip="none" rotWithShape="1">
            <a:gsLst>
              <a:gs pos="0">
                <a:srgbClr val="3368FF">
                  <a:alpha val="0"/>
                </a:srgbClr>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8" name="椭圆 127"/>
          <p:cNvSpPr/>
          <p:nvPr/>
        </p:nvSpPr>
        <p:spPr>
          <a:xfrm>
            <a:off x="5005705" y="5518150"/>
            <a:ext cx="570865" cy="570865"/>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b="1"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9" name="Oval 6+"/>
          <p:cNvSpPr/>
          <p:nvPr/>
        </p:nvSpPr>
        <p:spPr>
          <a:xfrm>
            <a:off x="4920615" y="5433060"/>
            <a:ext cx="741045" cy="741045"/>
          </a:xfrm>
          <a:prstGeom prst="ellipse">
            <a:avLst/>
          </a:prstGeom>
          <a:noFill/>
          <a:ln w="6350">
            <a:solidFill>
              <a:srgbClr val="3368FF"/>
            </a:solidFill>
            <a:prstDash val="dash"/>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30" name="椭圆 129"/>
          <p:cNvSpPr/>
          <p:nvPr>
            <p:custDataLst>
              <p:tags r:id="rId6"/>
            </p:custDataLst>
          </p:nvPr>
        </p:nvSpPr>
        <p:spPr>
          <a:xfrm flipH="1">
            <a:off x="5504815"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31" name="椭圆 130"/>
          <p:cNvSpPr/>
          <p:nvPr/>
        </p:nvSpPr>
        <p:spPr>
          <a:xfrm flipH="1">
            <a:off x="5527040" y="5497195"/>
            <a:ext cx="36830" cy="36830"/>
          </a:xfrm>
          <a:prstGeom prst="ellipse">
            <a:avLst/>
          </a:prstGeom>
          <a:solidFill>
            <a:srgbClr val="668E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32" name="椭圆 131"/>
          <p:cNvSpPr/>
          <p:nvPr>
            <p:custDataLst>
              <p:tags r:id="rId7"/>
            </p:custDataLst>
          </p:nvPr>
        </p:nvSpPr>
        <p:spPr>
          <a:xfrm flipH="1">
            <a:off x="5255260" y="538988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33" name="椭圆 132"/>
          <p:cNvSpPr/>
          <p:nvPr/>
        </p:nvSpPr>
        <p:spPr>
          <a:xfrm flipH="1">
            <a:off x="5277485" y="5412105"/>
            <a:ext cx="36830" cy="36830"/>
          </a:xfrm>
          <a:prstGeom prst="ellipse">
            <a:avLst/>
          </a:prstGeom>
          <a:solidFill>
            <a:srgbClr val="668E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2000" b="1" dirty="0">
              <a:solidFill>
                <a:srgbClr val="383838"/>
              </a:solidFill>
              <a:latin typeface="微软雅黑"/>
              <a:ea typeface="微软雅黑"/>
              <a:cs typeface="微软雅黑"/>
              <a:sym typeface="微软雅黑"/>
            </a:endParaRPr>
          </a:p>
        </p:txBody>
      </p:sp>
      <p:sp>
        <p:nvSpPr>
          <p:cNvPr id="134" name="椭圆 133"/>
          <p:cNvSpPr/>
          <p:nvPr>
            <p:custDataLst>
              <p:tags r:id="rId8"/>
            </p:custDataLst>
          </p:nvPr>
        </p:nvSpPr>
        <p:spPr>
          <a:xfrm flipH="1">
            <a:off x="5017770"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35" name="椭圆 134"/>
          <p:cNvSpPr/>
          <p:nvPr/>
        </p:nvSpPr>
        <p:spPr>
          <a:xfrm flipH="1">
            <a:off x="5039995" y="5497195"/>
            <a:ext cx="36830" cy="36830"/>
          </a:xfrm>
          <a:prstGeom prst="ellipse">
            <a:avLst/>
          </a:prstGeom>
          <a:solidFill>
            <a:srgbClr val="668E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36" name="文本框 135"/>
          <p:cNvSpPr txBox="1"/>
          <p:nvPr/>
        </p:nvSpPr>
        <p:spPr>
          <a:xfrm>
            <a:off x="4989830" y="517779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激励奖金</a:t>
            </a:r>
            <a:endParaRPr lang="zh-CN" altLang="en-US" sz="1000" b="1" dirty="0">
              <a:solidFill>
                <a:srgbClr val="383838"/>
              </a:solidFill>
              <a:latin typeface="微软雅黑"/>
              <a:ea typeface="微软雅黑"/>
              <a:cs typeface="微软雅黑"/>
              <a:sym typeface="微软雅黑"/>
            </a:endParaRPr>
          </a:p>
        </p:txBody>
      </p:sp>
      <p:sp>
        <p:nvSpPr>
          <p:cNvPr id="137" name="文本框 136"/>
          <p:cNvSpPr txBox="1"/>
          <p:nvPr/>
        </p:nvSpPr>
        <p:spPr>
          <a:xfrm>
            <a:off x="4455160" y="531749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专享资金</a:t>
            </a:r>
            <a:endParaRPr lang="zh-CN" altLang="en-US" sz="1000" b="1" dirty="0">
              <a:solidFill>
                <a:srgbClr val="383838"/>
              </a:solidFill>
              <a:latin typeface="微软雅黑"/>
              <a:ea typeface="微软雅黑"/>
              <a:cs typeface="微软雅黑"/>
              <a:sym typeface="微软雅黑"/>
            </a:endParaRPr>
          </a:p>
        </p:txBody>
      </p:sp>
      <p:sp>
        <p:nvSpPr>
          <p:cNvPr id="138" name="文本框 137"/>
          <p:cNvSpPr txBox="1"/>
          <p:nvPr/>
        </p:nvSpPr>
        <p:spPr>
          <a:xfrm>
            <a:off x="4975860" y="5618798"/>
            <a:ext cx="635000" cy="368300"/>
          </a:xfrm>
          <a:prstGeom prst="rect">
            <a:avLst/>
          </a:prstGeom>
          <a:noFill/>
        </p:spPr>
        <p:txBody>
          <a:bodyPr wrap="square" lIns="0" rIns="0" tIns="0" bIns="0" anchor="t">
            <a:noAutofit/>
          </a:bodyPr>
          <a:lstStyle>
            <a:defPPr>
              <a:defRPr lang="zh-CN">
                <a:solidFill>
                  <a:srgbClr val="FFFFFF"/>
                </a:solidFill>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预算</a:t>
            </a:r>
            <a:endParaRPr lang="zh-CN" altLang="en-US" sz="10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支出</a:t>
            </a:r>
            <a:endParaRPr lang="zh-CN" altLang="en-US" sz="1000" b="1" dirty="0">
              <a:solidFill>
                <a:srgbClr val="FFFFFF"/>
              </a:solidFill>
              <a:latin typeface="微软雅黑"/>
              <a:ea typeface="微软雅黑"/>
              <a:cs typeface="微软雅黑"/>
              <a:sym typeface="微软雅黑"/>
            </a:endParaRPr>
          </a:p>
        </p:txBody>
      </p:sp>
      <p:sp>
        <p:nvSpPr>
          <p:cNvPr id="140" name="文本框 139"/>
          <p:cNvSpPr txBox="1"/>
          <p:nvPr/>
        </p:nvSpPr>
        <p:spPr>
          <a:xfrm>
            <a:off x="5549900" y="531749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专用通道</a:t>
            </a:r>
            <a:endParaRPr lang="zh-CN" altLang="en-US" sz="1000" b="1" dirty="0">
              <a:solidFill>
                <a:srgbClr val="383838"/>
              </a:solidFill>
              <a:latin typeface="微软雅黑"/>
              <a:ea typeface="微软雅黑"/>
              <a:cs typeface="微软雅黑"/>
              <a:sym typeface="微软雅黑"/>
            </a:endParaRPr>
          </a:p>
        </p:txBody>
      </p:sp>
      <p:sp>
        <p:nvSpPr>
          <p:cNvPr id="141" name="椭圆 140"/>
          <p:cNvSpPr/>
          <p:nvPr/>
        </p:nvSpPr>
        <p:spPr>
          <a:xfrm>
            <a:off x="6948805" y="5518150"/>
            <a:ext cx="570865" cy="570865"/>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b="1"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42" name="Oval 6+"/>
          <p:cNvSpPr/>
          <p:nvPr/>
        </p:nvSpPr>
        <p:spPr>
          <a:xfrm>
            <a:off x="6863715" y="5433060"/>
            <a:ext cx="741045" cy="741045"/>
          </a:xfrm>
          <a:prstGeom prst="ellipse">
            <a:avLst/>
          </a:prstGeom>
          <a:noFill/>
          <a:ln w="6350">
            <a:solidFill>
              <a:srgbClr val="3368FF"/>
            </a:solidFill>
            <a:prstDash val="dash"/>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43" name="椭圆 142"/>
          <p:cNvSpPr/>
          <p:nvPr>
            <p:custDataLst>
              <p:tags r:id="rId9"/>
            </p:custDataLst>
          </p:nvPr>
        </p:nvSpPr>
        <p:spPr>
          <a:xfrm flipH="1">
            <a:off x="7448550"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44" name="椭圆 143"/>
          <p:cNvSpPr/>
          <p:nvPr/>
        </p:nvSpPr>
        <p:spPr>
          <a:xfrm flipH="1">
            <a:off x="7470775" y="549719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latin typeface="微软雅黑"/>
              <a:ea typeface="微软雅黑"/>
              <a:cs typeface="微软雅黑"/>
              <a:sym typeface="微软雅黑"/>
            </a:endParaRPr>
          </a:p>
        </p:txBody>
      </p:sp>
      <p:sp>
        <p:nvSpPr>
          <p:cNvPr id="145" name="椭圆 144"/>
          <p:cNvSpPr/>
          <p:nvPr>
            <p:custDataLst>
              <p:tags r:id="rId10"/>
            </p:custDataLst>
          </p:nvPr>
        </p:nvSpPr>
        <p:spPr>
          <a:xfrm flipH="1">
            <a:off x="7198995" y="538988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46" name="椭圆 145"/>
          <p:cNvSpPr/>
          <p:nvPr/>
        </p:nvSpPr>
        <p:spPr>
          <a:xfrm flipH="1">
            <a:off x="7221220" y="541210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2000" b="1" dirty="0">
              <a:solidFill>
                <a:srgbClr val="383838"/>
              </a:solidFill>
              <a:latin typeface="微软雅黑"/>
              <a:ea typeface="微软雅黑"/>
              <a:cs typeface="微软雅黑"/>
              <a:sym typeface="微软雅黑"/>
            </a:endParaRPr>
          </a:p>
        </p:txBody>
      </p:sp>
      <p:sp>
        <p:nvSpPr>
          <p:cNvPr id="147" name="椭圆 146"/>
          <p:cNvSpPr/>
          <p:nvPr>
            <p:custDataLst>
              <p:tags r:id="rId11"/>
            </p:custDataLst>
          </p:nvPr>
        </p:nvSpPr>
        <p:spPr>
          <a:xfrm flipH="1">
            <a:off x="6960870"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48" name="椭圆 147"/>
          <p:cNvSpPr/>
          <p:nvPr/>
        </p:nvSpPr>
        <p:spPr>
          <a:xfrm flipH="1">
            <a:off x="6983095" y="549719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latin typeface="微软雅黑"/>
              <a:ea typeface="微软雅黑"/>
              <a:cs typeface="微软雅黑"/>
              <a:sym typeface="微软雅黑"/>
            </a:endParaRPr>
          </a:p>
        </p:txBody>
      </p:sp>
      <p:sp>
        <p:nvSpPr>
          <p:cNvPr id="149" name="文本框 148"/>
          <p:cNvSpPr txBox="1"/>
          <p:nvPr/>
        </p:nvSpPr>
        <p:spPr>
          <a:xfrm>
            <a:off x="6923405" y="513842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培训计划</a:t>
            </a:r>
            <a:endParaRPr lang="zh-CN" altLang="en-US" sz="1000" b="1" dirty="0">
              <a:solidFill>
                <a:srgbClr val="383838"/>
              </a:solidFill>
              <a:latin typeface="微软雅黑"/>
              <a:ea typeface="微软雅黑"/>
              <a:cs typeface="微软雅黑"/>
              <a:sym typeface="微软雅黑"/>
            </a:endParaRPr>
          </a:p>
        </p:txBody>
      </p:sp>
      <p:sp>
        <p:nvSpPr>
          <p:cNvPr id="150" name="文本框 149"/>
          <p:cNvSpPr txBox="1"/>
          <p:nvPr/>
        </p:nvSpPr>
        <p:spPr>
          <a:xfrm>
            <a:off x="6389370" y="527812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人才储备</a:t>
            </a:r>
            <a:endParaRPr lang="zh-CN" altLang="en-US" sz="1000" b="1" dirty="0">
              <a:solidFill>
                <a:srgbClr val="383838"/>
              </a:solidFill>
              <a:latin typeface="微软雅黑"/>
              <a:ea typeface="微软雅黑"/>
              <a:cs typeface="微软雅黑"/>
              <a:sym typeface="微软雅黑"/>
            </a:endParaRPr>
          </a:p>
        </p:txBody>
      </p:sp>
      <p:sp>
        <p:nvSpPr>
          <p:cNvPr id="151" name="文本框 150"/>
          <p:cNvSpPr txBox="1"/>
          <p:nvPr/>
        </p:nvSpPr>
        <p:spPr>
          <a:xfrm>
            <a:off x="6918960" y="5618798"/>
            <a:ext cx="635000" cy="368300"/>
          </a:xfrm>
          <a:prstGeom prst="rect">
            <a:avLst/>
          </a:prstGeom>
          <a:noFill/>
        </p:spPr>
        <p:txBody>
          <a:bodyPr wrap="square" lIns="0" rIns="0" tIns="0" bIns="0" anchor="t">
            <a:noAutofit/>
          </a:bodyPr>
          <a:lstStyle>
            <a:defPPr>
              <a:defRPr lang="zh-CN">
                <a:solidFill>
                  <a:srgbClr val="FFFFFF"/>
                </a:solidFill>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人才</a:t>
            </a:r>
            <a:endParaRPr lang="zh-CN" altLang="en-US" sz="10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培养</a:t>
            </a:r>
            <a:endParaRPr lang="zh-CN" altLang="en-US" sz="1000" b="1" dirty="0">
              <a:solidFill>
                <a:srgbClr val="FFFFFF"/>
              </a:solidFill>
              <a:latin typeface="微软雅黑"/>
              <a:ea typeface="微软雅黑"/>
              <a:cs typeface="微软雅黑"/>
              <a:sym typeface="微软雅黑"/>
            </a:endParaRPr>
          </a:p>
        </p:txBody>
      </p:sp>
      <p:sp>
        <p:nvSpPr>
          <p:cNvPr id="153" name="文本框 152"/>
          <p:cNvSpPr txBox="1"/>
          <p:nvPr/>
        </p:nvSpPr>
        <p:spPr>
          <a:xfrm>
            <a:off x="7484110" y="527812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轮岗机制</a:t>
            </a:r>
            <a:endParaRPr lang="zh-CN" altLang="en-US" sz="1000" b="1" dirty="0">
              <a:solidFill>
                <a:srgbClr val="383838"/>
              </a:solidFill>
              <a:latin typeface="微软雅黑"/>
              <a:ea typeface="微软雅黑"/>
              <a:cs typeface="微软雅黑"/>
              <a:sym typeface="微软雅黑"/>
            </a:endParaRPr>
          </a:p>
        </p:txBody>
      </p:sp>
      <p:sp>
        <p:nvSpPr>
          <p:cNvPr id="154" name="椭圆 153"/>
          <p:cNvSpPr/>
          <p:nvPr/>
        </p:nvSpPr>
        <p:spPr>
          <a:xfrm>
            <a:off x="8892540" y="5518150"/>
            <a:ext cx="570865" cy="570865"/>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b="1"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55" name="Oval 6+"/>
          <p:cNvSpPr/>
          <p:nvPr/>
        </p:nvSpPr>
        <p:spPr>
          <a:xfrm>
            <a:off x="8807450" y="5433060"/>
            <a:ext cx="741045" cy="741045"/>
          </a:xfrm>
          <a:prstGeom prst="ellipse">
            <a:avLst/>
          </a:prstGeom>
          <a:noFill/>
          <a:ln w="6350">
            <a:solidFill>
              <a:srgbClr val="3368FF"/>
            </a:solidFill>
            <a:prstDash val="dash"/>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56" name="椭圆 155"/>
          <p:cNvSpPr/>
          <p:nvPr>
            <p:custDataLst>
              <p:tags r:id="rId12"/>
            </p:custDataLst>
          </p:nvPr>
        </p:nvSpPr>
        <p:spPr>
          <a:xfrm flipH="1">
            <a:off x="9391650"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57" name="椭圆 156"/>
          <p:cNvSpPr/>
          <p:nvPr/>
        </p:nvSpPr>
        <p:spPr>
          <a:xfrm flipH="1">
            <a:off x="9413875" y="549719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latin typeface="微软雅黑"/>
              <a:ea typeface="微软雅黑"/>
              <a:cs typeface="微软雅黑"/>
              <a:sym typeface="微软雅黑"/>
            </a:endParaRPr>
          </a:p>
        </p:txBody>
      </p:sp>
      <p:sp>
        <p:nvSpPr>
          <p:cNvPr id="158" name="椭圆 157"/>
          <p:cNvSpPr/>
          <p:nvPr>
            <p:custDataLst>
              <p:tags r:id="rId13"/>
            </p:custDataLst>
          </p:nvPr>
        </p:nvSpPr>
        <p:spPr>
          <a:xfrm flipH="1">
            <a:off x="9142095" y="538988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59" name="椭圆 158"/>
          <p:cNvSpPr/>
          <p:nvPr/>
        </p:nvSpPr>
        <p:spPr>
          <a:xfrm flipH="1">
            <a:off x="9164320" y="541210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2000" b="1" dirty="0">
              <a:solidFill>
                <a:srgbClr val="383838"/>
              </a:solidFill>
              <a:latin typeface="微软雅黑"/>
              <a:ea typeface="微软雅黑"/>
              <a:cs typeface="微软雅黑"/>
              <a:sym typeface="微软雅黑"/>
            </a:endParaRPr>
          </a:p>
        </p:txBody>
      </p:sp>
      <p:sp>
        <p:nvSpPr>
          <p:cNvPr id="160" name="椭圆 159"/>
          <p:cNvSpPr/>
          <p:nvPr>
            <p:custDataLst>
              <p:tags r:id="rId14"/>
            </p:custDataLst>
          </p:nvPr>
        </p:nvSpPr>
        <p:spPr>
          <a:xfrm flipH="1">
            <a:off x="8903970" y="5474970"/>
            <a:ext cx="81280" cy="81280"/>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2000" b="1">
              <a:solidFill>
                <a:srgbClr val="383838"/>
              </a:solidFill>
              <a:latin typeface="微软雅黑"/>
              <a:ea typeface="微软雅黑"/>
              <a:cs typeface="微软雅黑"/>
              <a:sym typeface="微软雅黑"/>
            </a:endParaRPr>
          </a:p>
        </p:txBody>
      </p:sp>
      <p:sp>
        <p:nvSpPr>
          <p:cNvPr id="161" name="椭圆 160"/>
          <p:cNvSpPr/>
          <p:nvPr/>
        </p:nvSpPr>
        <p:spPr>
          <a:xfrm flipH="1">
            <a:off x="8926195" y="5497195"/>
            <a:ext cx="36830" cy="3683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2000" b="1">
              <a:solidFill>
                <a:srgbClr val="FFFFFF"/>
              </a:solidFill>
              <a:latin typeface="微软雅黑"/>
              <a:ea typeface="微软雅黑"/>
              <a:cs typeface="微软雅黑"/>
              <a:sym typeface="微软雅黑"/>
            </a:endParaRPr>
          </a:p>
        </p:txBody>
      </p:sp>
      <p:sp>
        <p:nvSpPr>
          <p:cNvPr id="162" name="文本框 161"/>
          <p:cNvSpPr txBox="1"/>
          <p:nvPr/>
        </p:nvSpPr>
        <p:spPr>
          <a:xfrm>
            <a:off x="8694420" y="5138420"/>
            <a:ext cx="979805"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先进企业体验</a:t>
            </a:r>
            <a:endParaRPr lang="zh-CN" altLang="en-US" sz="1000" b="1" dirty="0">
              <a:solidFill>
                <a:srgbClr val="383838"/>
              </a:solidFill>
              <a:latin typeface="微软雅黑"/>
              <a:ea typeface="微软雅黑"/>
              <a:cs typeface="微软雅黑"/>
              <a:sym typeface="微软雅黑"/>
            </a:endParaRPr>
          </a:p>
        </p:txBody>
      </p:sp>
      <p:sp>
        <p:nvSpPr>
          <p:cNvPr id="163" name="文本框 162"/>
          <p:cNvSpPr txBox="1"/>
          <p:nvPr/>
        </p:nvSpPr>
        <p:spPr>
          <a:xfrm>
            <a:off x="8321675" y="528447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培训演讲</a:t>
            </a:r>
            <a:endParaRPr lang="zh-CN" altLang="en-US" sz="1000" b="1" dirty="0">
              <a:solidFill>
                <a:srgbClr val="383838"/>
              </a:solidFill>
              <a:latin typeface="微软雅黑"/>
              <a:ea typeface="微软雅黑"/>
              <a:cs typeface="微软雅黑"/>
              <a:sym typeface="微软雅黑"/>
            </a:endParaRPr>
          </a:p>
        </p:txBody>
      </p:sp>
      <p:sp>
        <p:nvSpPr>
          <p:cNvPr id="164" name="文本框 163"/>
          <p:cNvSpPr txBox="1"/>
          <p:nvPr/>
        </p:nvSpPr>
        <p:spPr>
          <a:xfrm>
            <a:off x="8868410" y="5618798"/>
            <a:ext cx="635000" cy="368300"/>
          </a:xfrm>
          <a:prstGeom prst="rect">
            <a:avLst/>
          </a:prstGeom>
          <a:noFill/>
        </p:spPr>
        <p:txBody>
          <a:bodyPr wrap="square" lIns="0" rIns="0" tIns="0" bIns="0" anchor="t">
            <a:noAutofit/>
          </a:bodyPr>
          <a:lstStyle>
            <a:defPPr>
              <a:defRPr lang="zh-CN">
                <a:solidFill>
                  <a:srgbClr val="FFFFFF"/>
                </a:solidFill>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转型</a:t>
            </a:r>
            <a:endParaRPr lang="zh-CN" altLang="en-US" sz="10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思想</a:t>
            </a:r>
            <a:endParaRPr lang="zh-CN" altLang="en-US" sz="1000" b="1" dirty="0">
              <a:solidFill>
                <a:srgbClr val="FFFFFF"/>
              </a:solidFill>
              <a:latin typeface="微软雅黑"/>
              <a:ea typeface="微软雅黑"/>
              <a:cs typeface="微软雅黑"/>
              <a:sym typeface="微软雅黑"/>
            </a:endParaRPr>
          </a:p>
        </p:txBody>
      </p:sp>
      <p:sp>
        <p:nvSpPr>
          <p:cNvPr id="166" name="文本框 165"/>
          <p:cNvSpPr txBox="1"/>
          <p:nvPr/>
        </p:nvSpPr>
        <p:spPr>
          <a:xfrm>
            <a:off x="9427210" y="5278120"/>
            <a:ext cx="635000" cy="238760"/>
          </a:xfrm>
          <a:prstGeom prst="rect">
            <a:avLst/>
          </a:prstGeom>
          <a:noFill/>
        </p:spPr>
        <p:txBody>
          <a:bodyPr wrap="square"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ts val="1120"/>
              </a:lnSpc>
              <a:defRPr>
                <a:latin typeface="微软雅黑"/>
                <a:ea typeface="微软雅黑"/>
                <a:cs typeface="微软雅黑"/>
              </a:defRPr>
              <a:spcBef>
                <a:spcPts val="0"/>
              </a:spcBef>
              <a:spcAft>
                <a:spcPts val="0"/>
              </a:spcAft>
            </a:pPr>
            <a:r>
              <a:rPr lang="zh-CN" altLang="en-US" sz="1000" b="1" dirty="0">
                <a:solidFill>
                  <a:srgbClr val="383838"/>
                </a:solidFill>
                <a:latin typeface="微软雅黑"/>
                <a:ea typeface="微软雅黑"/>
                <a:cs typeface="微软雅黑"/>
                <a:sym typeface="微软雅黑"/>
              </a:rPr>
              <a:t>书籍阅读</a:t>
            </a:r>
            <a:endParaRPr lang="zh-CN" altLang="en-US" sz="1000" b="1" dirty="0">
              <a:solidFill>
                <a:srgbClr val="383838"/>
              </a:solidFill>
              <a:latin typeface="微软雅黑"/>
              <a:ea typeface="微软雅黑"/>
              <a:cs typeface="微软雅黑"/>
              <a:sym typeface="微软雅黑"/>
            </a:endParaRPr>
          </a:p>
        </p:txBody>
      </p:sp>
      <p:sp>
        <p:nvSpPr>
          <p:cNvPr id="167" name="菱形 166"/>
          <p:cNvSpPr/>
          <p:nvPr/>
        </p:nvSpPr>
        <p:spPr>
          <a:xfrm>
            <a:off x="3471545" y="4049395"/>
            <a:ext cx="317500" cy="132715"/>
          </a:xfrm>
          <a:prstGeom prst="diamond">
            <a:avLst/>
          </a:prstGeom>
          <a:solidFill>
            <a:srgbClr val="0042FF"/>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68" name="任意多边形: 形状 729"/>
          <p:cNvSpPr/>
          <p:nvPr/>
        </p:nvSpPr>
        <p:spPr>
          <a:xfrm>
            <a:off x="3471545"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69" name="任意多边形: 形状 730"/>
          <p:cNvSpPr/>
          <p:nvPr/>
        </p:nvSpPr>
        <p:spPr>
          <a:xfrm flipH="1">
            <a:off x="3628390"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70" name="文本框 169"/>
          <p:cNvSpPr txBox="1"/>
          <p:nvPr/>
        </p:nvSpPr>
        <p:spPr>
          <a:xfrm>
            <a:off x="3451860" y="3839210"/>
            <a:ext cx="335280" cy="213995"/>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0042FF"/>
                </a:solidFill>
                <a:latin typeface="微软雅黑"/>
                <a:ea typeface="微软雅黑"/>
                <a:cs typeface="微软雅黑"/>
              </a:rPr>
              <a:t>5G</a:t>
            </a:r>
            <a:endParaRPr lang="en-US" altLang="zh-CN" sz="1000" dirty="0">
              <a:solidFill>
                <a:srgbClr val="0042FF"/>
              </a:solidFill>
              <a:latin typeface="微软雅黑"/>
              <a:ea typeface="微软雅黑"/>
              <a:cs typeface="微软雅黑"/>
            </a:endParaRPr>
          </a:p>
        </p:txBody>
      </p:sp>
      <p:sp>
        <p:nvSpPr>
          <p:cNvPr id="171" name="菱形 170"/>
          <p:cNvSpPr/>
          <p:nvPr/>
        </p:nvSpPr>
        <p:spPr>
          <a:xfrm>
            <a:off x="4608195" y="4049395"/>
            <a:ext cx="317500" cy="132715"/>
          </a:xfrm>
          <a:prstGeom prst="diamond">
            <a:avLst/>
          </a:prstGeom>
          <a:solidFill>
            <a:srgbClr val="0042FF"/>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72" name="任意多边形: 形状 14"/>
          <p:cNvSpPr/>
          <p:nvPr/>
        </p:nvSpPr>
        <p:spPr>
          <a:xfrm>
            <a:off x="4608195"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73" name="任意多边形: 形状 15"/>
          <p:cNvSpPr/>
          <p:nvPr/>
        </p:nvSpPr>
        <p:spPr>
          <a:xfrm flipH="1">
            <a:off x="4765040"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74" name="文本框 173"/>
          <p:cNvSpPr txBox="1"/>
          <p:nvPr/>
        </p:nvSpPr>
        <p:spPr>
          <a:xfrm>
            <a:off x="4366260" y="3839210"/>
            <a:ext cx="781050" cy="213995"/>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0042FF"/>
                </a:solidFill>
                <a:latin typeface="微软雅黑"/>
                <a:ea typeface="微软雅黑"/>
                <a:cs typeface="微软雅黑"/>
              </a:rPr>
              <a:t>AI</a:t>
            </a:r>
            <a:r>
              <a:rPr lang="zh-CN" altLang="en-US" sz="1000" dirty="0">
                <a:solidFill>
                  <a:srgbClr val="0042FF"/>
                </a:solidFill>
                <a:latin typeface="微软雅黑"/>
                <a:ea typeface="微软雅黑"/>
                <a:cs typeface="微软雅黑"/>
              </a:rPr>
              <a:t>人工智能</a:t>
            </a:r>
            <a:endParaRPr lang="zh-CN" altLang="en-US" sz="1000" dirty="0">
              <a:solidFill>
                <a:srgbClr val="0042FF"/>
              </a:solidFill>
              <a:latin typeface="微软雅黑"/>
              <a:ea typeface="微软雅黑"/>
              <a:cs typeface="微软雅黑"/>
            </a:endParaRPr>
          </a:p>
        </p:txBody>
      </p:sp>
      <p:sp>
        <p:nvSpPr>
          <p:cNvPr id="175" name="菱形 174"/>
          <p:cNvSpPr/>
          <p:nvPr/>
        </p:nvSpPr>
        <p:spPr>
          <a:xfrm>
            <a:off x="5745480" y="4049395"/>
            <a:ext cx="317500" cy="132715"/>
          </a:xfrm>
          <a:prstGeom prst="diamond">
            <a:avLst/>
          </a:prstGeom>
          <a:solidFill>
            <a:srgbClr val="0042FF"/>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76" name="任意多边形: 形状 20"/>
          <p:cNvSpPr/>
          <p:nvPr/>
        </p:nvSpPr>
        <p:spPr>
          <a:xfrm>
            <a:off x="5745480"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77" name="任意多边形: 形状 26"/>
          <p:cNvSpPr/>
          <p:nvPr/>
        </p:nvSpPr>
        <p:spPr>
          <a:xfrm flipH="1">
            <a:off x="5902325"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78" name="文本框 177"/>
          <p:cNvSpPr txBox="1"/>
          <p:nvPr/>
        </p:nvSpPr>
        <p:spPr>
          <a:xfrm>
            <a:off x="5620385" y="3839210"/>
            <a:ext cx="548640" cy="213995"/>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物联网</a:t>
            </a:r>
            <a:endParaRPr lang="zh-CN" altLang="en-US" sz="1000" dirty="0">
              <a:solidFill>
                <a:srgbClr val="0042FF"/>
              </a:solidFill>
              <a:latin typeface="微软雅黑"/>
              <a:ea typeface="微软雅黑"/>
              <a:cs typeface="微软雅黑"/>
            </a:endParaRPr>
          </a:p>
        </p:txBody>
      </p:sp>
      <p:sp>
        <p:nvSpPr>
          <p:cNvPr id="179" name="菱形 178"/>
          <p:cNvSpPr/>
          <p:nvPr/>
        </p:nvSpPr>
        <p:spPr>
          <a:xfrm>
            <a:off x="6882765" y="4049395"/>
            <a:ext cx="317500" cy="132715"/>
          </a:xfrm>
          <a:prstGeom prst="diamond">
            <a:avLst/>
          </a:prstGeom>
          <a:solidFill>
            <a:srgbClr val="0042FF"/>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80" name="任意多边形: 形状 37"/>
          <p:cNvSpPr/>
          <p:nvPr/>
        </p:nvSpPr>
        <p:spPr>
          <a:xfrm>
            <a:off x="6882765"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81" name="任意多边形: 形状 38"/>
          <p:cNvSpPr/>
          <p:nvPr/>
        </p:nvSpPr>
        <p:spPr>
          <a:xfrm flipH="1">
            <a:off x="7039610"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82" name="文本框 181"/>
          <p:cNvSpPr txBox="1"/>
          <p:nvPr/>
        </p:nvSpPr>
        <p:spPr>
          <a:xfrm>
            <a:off x="6757035" y="3839210"/>
            <a:ext cx="548640" cy="213995"/>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区块链</a:t>
            </a:r>
            <a:endParaRPr lang="zh-CN" altLang="en-US" sz="1000" dirty="0">
              <a:solidFill>
                <a:srgbClr val="0042FF"/>
              </a:solidFill>
              <a:latin typeface="微软雅黑"/>
              <a:ea typeface="微软雅黑"/>
              <a:cs typeface="微软雅黑"/>
            </a:endParaRPr>
          </a:p>
        </p:txBody>
      </p:sp>
      <p:sp>
        <p:nvSpPr>
          <p:cNvPr id="183" name="菱形 182"/>
          <p:cNvSpPr/>
          <p:nvPr/>
        </p:nvSpPr>
        <p:spPr>
          <a:xfrm>
            <a:off x="8020050" y="4049395"/>
            <a:ext cx="317500" cy="132715"/>
          </a:xfrm>
          <a:prstGeom prst="diamond">
            <a:avLst/>
          </a:prstGeom>
          <a:solidFill>
            <a:srgbClr val="0042FF"/>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84" name="任意多边形: 形状 50"/>
          <p:cNvSpPr/>
          <p:nvPr/>
        </p:nvSpPr>
        <p:spPr>
          <a:xfrm>
            <a:off x="8020050"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85" name="任意多边形: 形状 51"/>
          <p:cNvSpPr/>
          <p:nvPr/>
        </p:nvSpPr>
        <p:spPr>
          <a:xfrm flipH="1">
            <a:off x="8176895"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86" name="文本框 185"/>
          <p:cNvSpPr txBox="1"/>
          <p:nvPr/>
        </p:nvSpPr>
        <p:spPr>
          <a:xfrm>
            <a:off x="7894955" y="3839210"/>
            <a:ext cx="546735" cy="213995"/>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0042FF"/>
                </a:solidFill>
                <a:latin typeface="微软雅黑"/>
                <a:ea typeface="微软雅黑"/>
                <a:cs typeface="微软雅黑"/>
              </a:rPr>
              <a:t>AR/VR</a:t>
            </a:r>
            <a:endParaRPr lang="en-US" altLang="zh-CN" sz="1000" dirty="0">
              <a:solidFill>
                <a:srgbClr val="0042FF"/>
              </a:solidFill>
              <a:latin typeface="微软雅黑"/>
              <a:ea typeface="微软雅黑"/>
              <a:cs typeface="微软雅黑"/>
            </a:endParaRPr>
          </a:p>
        </p:txBody>
      </p:sp>
      <p:sp>
        <p:nvSpPr>
          <p:cNvPr id="187" name="菱形 186"/>
          <p:cNvSpPr/>
          <p:nvPr/>
        </p:nvSpPr>
        <p:spPr>
          <a:xfrm>
            <a:off x="9157335" y="4049395"/>
            <a:ext cx="317500" cy="132715"/>
          </a:xfrm>
          <a:prstGeom prst="diamond">
            <a:avLst/>
          </a:prstGeom>
          <a:solidFill>
            <a:srgbClr val="0042FF"/>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88" name="任意多边形: 形状 56"/>
          <p:cNvSpPr/>
          <p:nvPr/>
        </p:nvSpPr>
        <p:spPr>
          <a:xfrm>
            <a:off x="9157335"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89" name="任意多边形: 形状 57"/>
          <p:cNvSpPr/>
          <p:nvPr/>
        </p:nvSpPr>
        <p:spPr>
          <a:xfrm flipH="1">
            <a:off x="9314180"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90" name="文本框 189"/>
          <p:cNvSpPr txBox="1"/>
          <p:nvPr/>
        </p:nvSpPr>
        <p:spPr>
          <a:xfrm>
            <a:off x="8999855" y="3839210"/>
            <a:ext cx="548640" cy="213995"/>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机器人</a:t>
            </a:r>
            <a:endParaRPr lang="zh-CN" altLang="en-US" sz="1000" dirty="0">
              <a:solidFill>
                <a:srgbClr val="0042FF"/>
              </a:solidFill>
              <a:latin typeface="微软雅黑"/>
              <a:ea typeface="微软雅黑"/>
              <a:cs typeface="微软雅黑"/>
            </a:endParaRPr>
          </a:p>
        </p:txBody>
      </p:sp>
      <p:sp>
        <p:nvSpPr>
          <p:cNvPr id="191" name="菱形 190"/>
          <p:cNvSpPr/>
          <p:nvPr/>
        </p:nvSpPr>
        <p:spPr>
          <a:xfrm>
            <a:off x="10294620" y="4049395"/>
            <a:ext cx="317500" cy="132715"/>
          </a:xfrm>
          <a:prstGeom prst="diamond">
            <a:avLst/>
          </a:prstGeom>
          <a:solidFill>
            <a:srgbClr val="0042FF"/>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92" name="任意多边形: 形状 62"/>
          <p:cNvSpPr/>
          <p:nvPr/>
        </p:nvSpPr>
        <p:spPr>
          <a:xfrm>
            <a:off x="10294620"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93" name="任意多边形: 形状 448"/>
          <p:cNvSpPr/>
          <p:nvPr/>
        </p:nvSpPr>
        <p:spPr>
          <a:xfrm flipH="1">
            <a:off x="10451465" y="4116070"/>
            <a:ext cx="157480" cy="114935"/>
          </a:xfrm>
          <a:custGeom>
            <a:avLst/>
            <a:gdLst>
              <a:gd name="connsiteX0" fmla="*/ 0 w 274320"/>
              <a:gd name="connsiteY0" fmla="*/ 0 h 304800"/>
              <a:gd name="connsiteX1" fmla="*/ 0 w 274320"/>
              <a:gd name="connsiteY1" fmla="*/ 135255 h 304800"/>
              <a:gd name="connsiteX2" fmla="*/ 274320 w 274320"/>
              <a:gd name="connsiteY2" fmla="*/ 304800 h 304800"/>
              <a:gd name="connsiteX3" fmla="*/ 274320 w 274320"/>
              <a:gd name="connsiteY3" fmla="*/ 175260 h 304800"/>
              <a:gd name="connsiteX4" fmla="*/ 0 w 274320"/>
              <a:gd name="connsiteY4" fmla="*/ 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304800">
                <a:moveTo>
                  <a:pt x="0" y="0"/>
                </a:moveTo>
                <a:lnTo>
                  <a:pt x="0" y="135255"/>
                </a:lnTo>
                <a:lnTo>
                  <a:pt x="274320" y="304800"/>
                </a:lnTo>
                <a:lnTo>
                  <a:pt x="274320" y="175260"/>
                </a:lnTo>
                <a:lnTo>
                  <a:pt x="0" y="0"/>
                </a:lnTo>
                <a:close/>
              </a:path>
            </a:pathLst>
          </a:custGeom>
          <a:solidFill>
            <a:srgbClr val="E6E6E6"/>
          </a:solidFill>
          <a:ln w="3175" cmpd="sng">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94" name="文本框 193"/>
          <p:cNvSpPr txBox="1"/>
          <p:nvPr/>
        </p:nvSpPr>
        <p:spPr>
          <a:xfrm>
            <a:off x="10107295" y="3839210"/>
            <a:ext cx="671830" cy="213995"/>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量子计算</a:t>
            </a:r>
            <a:endParaRPr lang="zh-CN" altLang="en-US" sz="1000" dirty="0">
              <a:solidFill>
                <a:srgbClr val="0042FF"/>
              </a:solidFill>
              <a:latin typeface="微软雅黑"/>
              <a:ea typeface="微软雅黑"/>
              <a:cs typeface="微软雅黑"/>
            </a:endParaRPr>
          </a:p>
        </p:txBody>
      </p:sp>
      <p:sp>
        <p:nvSpPr>
          <p:cNvPr id="195" name="矩形 194"/>
          <p:cNvSpPr/>
          <p:nvPr/>
        </p:nvSpPr>
        <p:spPr>
          <a:xfrm>
            <a:off x="1683385" y="4370070"/>
            <a:ext cx="1558925" cy="479425"/>
          </a:xfrm>
          <a:prstGeom prst="rect">
            <a:avLst/>
          </a:prstGeom>
          <a:noFill/>
          <a:ln w="11430">
            <a:solidFill>
              <a:srgbClr val="0042FF"/>
            </a:solidFill>
            <a:prstDash val="dash"/>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dirty="0">
              <a:latin typeface="微软雅黑"/>
              <a:ea typeface="微软雅黑"/>
              <a:cs typeface="微软雅黑"/>
            </a:endParaRPr>
          </a:p>
        </p:txBody>
      </p:sp>
      <p:cxnSp>
        <p:nvCxnSpPr>
          <p:cNvPr id="196" name="直接连接符 195"/>
          <p:cNvCxnSpPr/>
          <p:nvPr/>
        </p:nvCxnSpPr>
        <p:spPr>
          <a:xfrm flipH="1">
            <a:off x="10643235" y="2355215"/>
            <a:ext cx="656590" cy="0"/>
          </a:xfrm>
          <a:prstGeom prst="line">
            <a:avLst/>
          </a:prstGeom>
          <a:ln>
            <a:gradFill flip="none" rotWithShape="1">
              <a:gsLst>
                <a:gs pos="0">
                  <a:srgbClr val="3368FF">
                    <a:alpha val="0"/>
                  </a:srgbClr>
                </a:gs>
                <a:gs pos="100000">
                  <a:srgbClr val="3368FF"/>
                </a:gs>
              </a:gsLst>
              <a:lin ang="0" scaled="1"/>
              <a:tileRect/>
            </a:gradFill>
            <a:prstDash val="solid"/>
          </a:ln>
        </p:spPr>
        <p:style>
          <a:lnRef idx="1">
            <a:srgbClr val="0042FF"/>
          </a:lnRef>
          <a:fillRef idx="0">
            <a:srgbClr val="0042FF"/>
          </a:fillRef>
          <a:effectRef idx="0">
            <a:srgbClr val="0042FF"/>
          </a:effectRef>
          <a:fontRef idx="minor">
            <a:srgbClr val="383838"/>
          </a:fontRef>
        </p:style>
      </p:cxnSp>
      <p:cxnSp>
        <p:nvCxnSpPr>
          <p:cNvPr id="197" name="直接连接符 196"/>
          <p:cNvCxnSpPr/>
          <p:nvPr/>
        </p:nvCxnSpPr>
        <p:spPr>
          <a:xfrm>
            <a:off x="9503410" y="2355215"/>
            <a:ext cx="656590" cy="0"/>
          </a:xfrm>
          <a:prstGeom prst="line">
            <a:avLst/>
          </a:prstGeom>
          <a:ln>
            <a:gradFill flip="none" rotWithShape="1">
              <a:gsLst>
                <a:gs pos="0">
                  <a:srgbClr val="3368FF">
                    <a:alpha val="0"/>
                  </a:srgbClr>
                </a:gs>
                <a:gs pos="100000">
                  <a:srgbClr val="3368FF"/>
                </a:gs>
              </a:gsLst>
              <a:lin ang="0" scaled="1"/>
              <a:tileRect/>
            </a:gradFill>
            <a:prstDash val="solid"/>
          </a:ln>
        </p:spPr>
        <p:style>
          <a:lnRef idx="1">
            <a:srgbClr val="0042FF"/>
          </a:lnRef>
          <a:fillRef idx="0">
            <a:srgbClr val="0042FF"/>
          </a:fillRef>
          <a:effectRef idx="0">
            <a:srgbClr val="0042FF"/>
          </a:effectRef>
          <a:fontRef idx="minor">
            <a:srgbClr val="383838"/>
          </a:fontRef>
        </p:style>
      </p:cxnSp>
      <p:sp>
        <p:nvSpPr>
          <p:cNvPr id="15" name="椭圆 14"/>
          <p:cNvSpPr/>
          <p:nvPr/>
        </p:nvSpPr>
        <p:spPr>
          <a:xfrm>
            <a:off x="2886710" y="6196330"/>
            <a:ext cx="936625" cy="154305"/>
          </a:xfrm>
          <a:prstGeom prst="ellipse">
            <a:avLst/>
          </a:prstGeom>
          <a:solidFill>
            <a:srgbClr val="3368FF">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6" name="椭圆 15"/>
          <p:cNvSpPr/>
          <p:nvPr/>
        </p:nvSpPr>
        <p:spPr>
          <a:xfrm>
            <a:off x="4832350" y="6196330"/>
            <a:ext cx="936625" cy="154305"/>
          </a:xfrm>
          <a:prstGeom prst="ellipse">
            <a:avLst/>
          </a:prstGeom>
          <a:solidFill>
            <a:srgbClr val="3368FF">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9" name="椭圆 18"/>
          <p:cNvSpPr/>
          <p:nvPr/>
        </p:nvSpPr>
        <p:spPr>
          <a:xfrm>
            <a:off x="6777990" y="6196330"/>
            <a:ext cx="936625" cy="154305"/>
          </a:xfrm>
          <a:prstGeom prst="ellipse">
            <a:avLst/>
          </a:prstGeom>
          <a:solidFill>
            <a:srgbClr val="3368FF">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20" name="椭圆 19"/>
          <p:cNvSpPr/>
          <p:nvPr/>
        </p:nvSpPr>
        <p:spPr>
          <a:xfrm>
            <a:off x="8723630" y="6196330"/>
            <a:ext cx="936625" cy="154305"/>
          </a:xfrm>
          <a:prstGeom prst="ellipse">
            <a:avLst/>
          </a:prstGeom>
          <a:solidFill>
            <a:srgbClr val="3368FF">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4" name="组合 3"/>
          <p:cNvGrpSpPr/>
          <p:nvPr/>
        </p:nvGrpSpPr>
        <p:grpSpPr>
          <a:xfrm>
            <a:off x="7675245" y="347980"/>
            <a:ext cx="4588510" cy="367030"/>
            <a:chOff x="12087" y="-1089"/>
            <a:chExt cx="7226" cy="578"/>
          </a:xfrm>
        </p:grpSpPr>
        <p:pic>
          <p:nvPicPr>
            <p:cNvPr id="27" name="图片 26"/>
            <p:cNvPicPr>
              <a:picLocks noChangeAspect="1"/>
            </p:cNvPicPr>
            <p:nvPr userDrawn="1"/>
          </p:nvPicPr>
          <p:blipFill>
            <a:blip r:embed="rId15"/>
            <a:srcRect r="57320" b="-13333"/>
            <a:stretch>
              <a:fillRect/>
            </a:stretch>
          </p:blipFill>
          <p:spPr>
            <a:xfrm>
              <a:off x="12087" y="-1089"/>
              <a:ext cx="2548" cy="578"/>
            </a:xfrm>
            <a:prstGeom prst="rect">
              <a:avLst/>
            </a:prstGeom>
          </p:spPr>
        </p:pic>
        <p:sp>
          <p:nvSpPr>
            <p:cNvPr id="29" name="文本框 28"/>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数字化价值效益模型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129" name="直线连接符 128"/>
          <p:cNvCxnSpPr/>
          <p:nvPr>
            <p:custDataLst>
              <p:tags r:id="rId3"/>
            </p:custDataLst>
          </p:nvPr>
        </p:nvCxnSpPr>
        <p:spPr>
          <a:xfrm flipV="1">
            <a:off x="304165" y="1097915"/>
            <a:ext cx="5782945" cy="789940"/>
          </a:xfrm>
          <a:prstGeom prst="line">
            <a:avLst/>
          </a:prstGeom>
          <a:noFill/>
          <a:ln w="63500" cap="rnd" cmpd="sng" algn="ctr">
            <a:gradFill>
              <a:gsLst>
                <a:gs pos="100000">
                  <a:srgbClr val="0042FF"/>
                </a:gs>
                <a:gs pos="0">
                  <a:srgbClr val="3368FF"/>
                </a:gs>
              </a:gsLst>
              <a:lin ang="5400000" scaled="1"/>
            </a:gradFill>
            <a:prstDash val="solid"/>
            <a:round/>
          </a:ln>
          <a:effectLst/>
        </p:spPr>
      </p:cxnSp>
      <p:cxnSp>
        <p:nvCxnSpPr>
          <p:cNvPr id="74" name="直线连接符 133"/>
          <p:cNvCxnSpPr/>
          <p:nvPr>
            <p:custDataLst>
              <p:tags r:id="rId4"/>
            </p:custDataLst>
          </p:nvPr>
        </p:nvCxnSpPr>
        <p:spPr>
          <a:xfrm flipH="1" flipV="1">
            <a:off x="6096635" y="1095375"/>
            <a:ext cx="5715000" cy="788670"/>
          </a:xfrm>
          <a:prstGeom prst="line">
            <a:avLst/>
          </a:prstGeom>
          <a:noFill/>
          <a:ln w="63500" cap="rnd" cmpd="sng" algn="ctr">
            <a:gradFill>
              <a:gsLst>
                <a:gs pos="100000">
                  <a:srgbClr val="0042FF"/>
                </a:gs>
                <a:gs pos="0">
                  <a:srgbClr val="3368FF"/>
                </a:gs>
              </a:gsLst>
              <a:lin ang="5400000" scaled="1"/>
            </a:gradFill>
            <a:prstDash val="solid"/>
            <a:round/>
          </a:ln>
          <a:effectLst/>
        </p:spPr>
      </p:cxnSp>
      <p:sp>
        <p:nvSpPr>
          <p:cNvPr id="75" name="矩形 74"/>
          <p:cNvSpPr/>
          <p:nvPr>
            <p:custDataLst>
              <p:tags r:id="rId5"/>
            </p:custDataLst>
          </p:nvPr>
        </p:nvSpPr>
        <p:spPr>
          <a:xfrm>
            <a:off x="4869180" y="1448435"/>
            <a:ext cx="2348230" cy="439420"/>
          </a:xfrm>
          <a:prstGeom prst="rect">
            <a:avLst/>
          </a:prstGeom>
          <a:gradFill flip="none" rotWithShape="1">
            <a:gsLst>
              <a:gs pos="23000">
                <a:srgbClr val="0042FF"/>
              </a:gs>
              <a:gs pos="100000">
                <a:srgbClr val="3368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数字化价值效益模型</a:t>
            </a:r>
            <a:endParaRPr lang="zh-CN" altLang="en-US" sz="1400" b="1" dirty="0">
              <a:solidFill>
                <a:srgbClr val="FFFFFF"/>
              </a:solidFill>
              <a:latin typeface="微软雅黑"/>
              <a:ea typeface="微软雅黑"/>
              <a:cs typeface="微软雅黑"/>
              <a:sym typeface="微软雅黑"/>
            </a:endParaRPr>
          </a:p>
        </p:txBody>
      </p:sp>
      <p:cxnSp>
        <p:nvCxnSpPr>
          <p:cNvPr id="78" name="直线箭头连接符 135"/>
          <p:cNvCxnSpPr/>
          <p:nvPr>
            <p:custDataLst>
              <p:tags r:id="rId6"/>
            </p:custDataLst>
          </p:nvPr>
        </p:nvCxnSpPr>
        <p:spPr>
          <a:xfrm>
            <a:off x="304165" y="1979930"/>
            <a:ext cx="11452225" cy="0"/>
          </a:xfrm>
          <a:prstGeom prst="straightConnector1">
            <a:avLst/>
          </a:prstGeom>
          <a:ln w="15875">
            <a:solidFill>
              <a:srgbClr val="0042FF"/>
            </a:solidFill>
            <a:headEnd type="triangle"/>
            <a:tailEnd type="triangle"/>
          </a:ln>
        </p:spPr>
        <p:style>
          <a:lnRef idx="1">
            <a:srgbClr val="0042FF"/>
          </a:lnRef>
          <a:fillRef idx="0">
            <a:srgbClr val="0042FF"/>
          </a:fillRef>
          <a:effectRef idx="0">
            <a:srgbClr val="0042FF"/>
          </a:effectRef>
          <a:fontRef idx="minor">
            <a:srgbClr val="383838"/>
          </a:fontRef>
        </p:style>
      </p:cxnSp>
      <p:sp>
        <p:nvSpPr>
          <p:cNvPr id="85" name="textbox 524"/>
          <p:cNvSpPr/>
          <p:nvPr>
            <p:custDataLst>
              <p:tags r:id="rId7"/>
            </p:custDataLst>
          </p:nvPr>
        </p:nvSpPr>
        <p:spPr>
          <a:xfrm>
            <a:off x="304165" y="2103120"/>
            <a:ext cx="11506835" cy="614680"/>
          </a:xfrm>
          <a:prstGeom prst="rect">
            <a:avLst/>
          </a:prstGeom>
          <a:solidFill>
            <a:srgbClr val="E6E6E6">
              <a:alpha val="70000"/>
            </a:srgbClr>
          </a:solidFill>
          <a:ln w="12700" cap="flat" cmpd="sng" algn="ctr">
            <a:solidFill>
              <a:srgbClr val="3368FF">
                <a:alpha val="70000"/>
              </a:srgbClr>
            </a:solidFill>
            <a:prstDash val="solid"/>
            <a:miter lim="800000"/>
          </a:ln>
          <a:effectLst/>
        </p:spPr>
        <p:txBody>
          <a:bodyPr vert="horz" wrap="square" lIns="91440" tIns="45720" rIns="91440" bIns="45720" rtlCol="0" anchor="ctr" anchorCtr="0">
            <a:noAutofit/>
          </a:bodyPr>
          <a:lstStyle/>
          <a:p>
            <a:pPr lvl="0" algn="ctr">
              <a:buClrTx/>
              <a:buSzTx/>
              <a:buFontTx/>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sym typeface="微软雅黑"/>
            </a:endParaRPr>
          </a:p>
        </p:txBody>
      </p:sp>
      <p:sp>
        <p:nvSpPr>
          <p:cNvPr id="86" name="圆角矩形 85"/>
          <p:cNvSpPr/>
          <p:nvPr/>
        </p:nvSpPr>
        <p:spPr>
          <a:xfrm>
            <a:off x="482600" y="2239010"/>
            <a:ext cx="1125220" cy="342900"/>
          </a:xfrm>
          <a:prstGeom prst="roundRect">
            <a:avLst/>
          </a:prstGeom>
          <a:solidFill>
            <a:srgbClr val="3368FF"/>
          </a:solidFill>
          <a:ln w="12700"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收集</a:t>
            </a:r>
            <a:endParaRPr lang="zh-CN" altLang="en-US" sz="1400">
              <a:solidFill>
                <a:srgbClr val="FFFFFF"/>
              </a:solidFill>
              <a:latin typeface="微软雅黑"/>
              <a:ea typeface="微软雅黑"/>
              <a:cs typeface="微软雅黑"/>
            </a:endParaRPr>
          </a:p>
        </p:txBody>
      </p:sp>
      <p:sp>
        <p:nvSpPr>
          <p:cNvPr id="90" name="圆角矩形 89"/>
          <p:cNvSpPr/>
          <p:nvPr>
            <p:custDataLst>
              <p:tags r:id="rId8"/>
            </p:custDataLst>
          </p:nvPr>
        </p:nvSpPr>
        <p:spPr>
          <a:xfrm>
            <a:off x="1894205" y="2239010"/>
            <a:ext cx="1135380" cy="342900"/>
          </a:xfrm>
          <a:prstGeom prst="roundRect">
            <a:avLst/>
          </a:prstGeom>
          <a:solidFill>
            <a:srgbClr val="3368FF"/>
          </a:solidFill>
          <a:ln w="12700" cap="flat" cmpd="sng" algn="ctr">
            <a:noFill/>
            <a:prstDash val="solid"/>
            <a:miter lim="800000"/>
          </a:ln>
          <a:effectLst/>
        </p:spPr>
        <p:txBody>
          <a:bodyPr vert="horz" wrap="square"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存储</a:t>
            </a:r>
            <a:endParaRPr lang="zh-CN" altLang="en-US" sz="1400">
              <a:solidFill>
                <a:srgbClr val="FFFFFF"/>
              </a:solidFill>
              <a:latin typeface="微软雅黑"/>
              <a:ea typeface="微软雅黑"/>
              <a:cs typeface="微软雅黑"/>
              <a:sym typeface="微软雅黑"/>
            </a:endParaRPr>
          </a:p>
        </p:txBody>
      </p:sp>
      <p:sp>
        <p:nvSpPr>
          <p:cNvPr id="91" name="圆角矩形 90"/>
          <p:cNvSpPr/>
          <p:nvPr>
            <p:custDataLst>
              <p:tags r:id="rId9"/>
            </p:custDataLst>
          </p:nvPr>
        </p:nvSpPr>
        <p:spPr>
          <a:xfrm>
            <a:off x="3315970" y="2239010"/>
            <a:ext cx="1136015" cy="342900"/>
          </a:xfrm>
          <a:prstGeom prst="roundRect">
            <a:avLst/>
          </a:prstGeom>
          <a:solidFill>
            <a:srgbClr val="3368FF"/>
          </a:solidFill>
          <a:ln w="12700" cap="flat" cmpd="sng" algn="ctr">
            <a:noFill/>
            <a:prstDash val="solid"/>
            <a:miter lim="800000"/>
          </a:ln>
          <a:effectLst/>
        </p:spPr>
        <p:txBody>
          <a:bodyPr vert="horz" wrap="square"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使用</a:t>
            </a:r>
            <a:endParaRPr lang="zh-CN" altLang="en-US" sz="1400">
              <a:solidFill>
                <a:srgbClr val="FFFFFF"/>
              </a:solidFill>
              <a:latin typeface="微软雅黑"/>
              <a:ea typeface="微软雅黑"/>
              <a:cs typeface="微软雅黑"/>
              <a:sym typeface="微软雅黑"/>
            </a:endParaRPr>
          </a:p>
        </p:txBody>
      </p:sp>
      <p:sp>
        <p:nvSpPr>
          <p:cNvPr id="95" name="圆角矩形 94"/>
          <p:cNvSpPr/>
          <p:nvPr>
            <p:custDataLst>
              <p:tags r:id="rId10"/>
            </p:custDataLst>
          </p:nvPr>
        </p:nvSpPr>
        <p:spPr>
          <a:xfrm>
            <a:off x="4738370" y="2239010"/>
            <a:ext cx="1136015" cy="342900"/>
          </a:xfrm>
          <a:prstGeom prst="roundRect">
            <a:avLst/>
          </a:prstGeom>
          <a:solidFill>
            <a:srgbClr val="3368FF"/>
          </a:solidFill>
          <a:ln w="12700" cap="flat" cmpd="sng" algn="ctr">
            <a:noFill/>
            <a:prstDash val="solid"/>
            <a:miter lim="800000"/>
          </a:ln>
          <a:effectLst/>
        </p:spPr>
        <p:txBody>
          <a:bodyPr vert="horz" wrap="square"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加工</a:t>
            </a:r>
            <a:endParaRPr lang="zh-CN" altLang="en-US" sz="1400">
              <a:solidFill>
                <a:srgbClr val="FFFFFF"/>
              </a:solidFill>
              <a:latin typeface="微软雅黑"/>
              <a:ea typeface="微软雅黑"/>
              <a:cs typeface="微软雅黑"/>
              <a:sym typeface="微软雅黑"/>
            </a:endParaRPr>
          </a:p>
        </p:txBody>
      </p:sp>
      <p:sp>
        <p:nvSpPr>
          <p:cNvPr id="2" name="圆角矩形 1"/>
          <p:cNvSpPr/>
          <p:nvPr>
            <p:custDataLst>
              <p:tags r:id="rId11"/>
            </p:custDataLst>
          </p:nvPr>
        </p:nvSpPr>
        <p:spPr>
          <a:xfrm>
            <a:off x="6160770" y="2239010"/>
            <a:ext cx="1136015" cy="342900"/>
          </a:xfrm>
          <a:prstGeom prst="roundRect">
            <a:avLst/>
          </a:prstGeom>
          <a:solidFill>
            <a:srgbClr val="3368FF"/>
          </a:solidFill>
          <a:ln w="12700" cap="flat" cmpd="sng" algn="ctr">
            <a:noFill/>
            <a:prstDash val="solid"/>
            <a:miter lim="800000"/>
          </a:ln>
          <a:effectLst/>
        </p:spPr>
        <p:txBody>
          <a:bodyPr vert="horz" wrap="square"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传输</a:t>
            </a:r>
            <a:endParaRPr lang="zh-CN" altLang="en-US" sz="1400">
              <a:solidFill>
                <a:srgbClr val="FFFFFF"/>
              </a:solidFill>
              <a:latin typeface="微软雅黑"/>
              <a:ea typeface="微软雅黑"/>
              <a:cs typeface="微软雅黑"/>
              <a:sym typeface="微软雅黑"/>
            </a:endParaRPr>
          </a:p>
        </p:txBody>
      </p:sp>
      <p:sp>
        <p:nvSpPr>
          <p:cNvPr id="3" name="圆角矩形 2"/>
          <p:cNvSpPr/>
          <p:nvPr>
            <p:custDataLst>
              <p:tags r:id="rId12"/>
            </p:custDataLst>
          </p:nvPr>
        </p:nvSpPr>
        <p:spPr>
          <a:xfrm>
            <a:off x="7583170" y="2239010"/>
            <a:ext cx="1140460" cy="342900"/>
          </a:xfrm>
          <a:prstGeom prst="roundRect">
            <a:avLst/>
          </a:prstGeom>
          <a:solidFill>
            <a:srgbClr val="3368FF"/>
          </a:solidFill>
          <a:ln w="12700" cap="flat" cmpd="sng" algn="ctr">
            <a:noFill/>
            <a:prstDash val="solid"/>
            <a:miter lim="800000"/>
          </a:ln>
          <a:effectLst/>
        </p:spPr>
        <p:txBody>
          <a:bodyPr vert="horz" wrap="square"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提供</a:t>
            </a:r>
            <a:endParaRPr lang="zh-CN" altLang="en-US" sz="1400">
              <a:solidFill>
                <a:srgbClr val="FFFFFF"/>
              </a:solidFill>
              <a:latin typeface="微软雅黑"/>
              <a:ea typeface="微软雅黑"/>
              <a:cs typeface="微软雅黑"/>
              <a:sym typeface="微软雅黑"/>
            </a:endParaRPr>
          </a:p>
        </p:txBody>
      </p:sp>
      <p:sp>
        <p:nvSpPr>
          <p:cNvPr id="6" name="圆角矩形 5"/>
          <p:cNvSpPr/>
          <p:nvPr>
            <p:custDataLst>
              <p:tags r:id="rId13"/>
            </p:custDataLst>
          </p:nvPr>
        </p:nvSpPr>
        <p:spPr>
          <a:xfrm>
            <a:off x="9010015" y="2239010"/>
            <a:ext cx="1134110" cy="342900"/>
          </a:xfrm>
          <a:prstGeom prst="roundRect">
            <a:avLst/>
          </a:prstGeom>
          <a:solidFill>
            <a:srgbClr val="3368FF"/>
          </a:solidFill>
          <a:ln w="12700" cap="flat" cmpd="sng" algn="ctr">
            <a:noFill/>
            <a:prstDash val="solid"/>
            <a:miter lim="800000"/>
          </a:ln>
          <a:effectLst/>
        </p:spPr>
        <p:txBody>
          <a:bodyPr vert="horz" wrap="square"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公开</a:t>
            </a:r>
            <a:endParaRPr lang="zh-CN" altLang="en-US" sz="1400">
              <a:solidFill>
                <a:srgbClr val="FFFFFF"/>
              </a:solidFill>
              <a:latin typeface="微软雅黑"/>
              <a:ea typeface="微软雅黑"/>
              <a:cs typeface="微软雅黑"/>
              <a:sym typeface="微软雅黑"/>
            </a:endParaRPr>
          </a:p>
        </p:txBody>
      </p:sp>
      <p:sp>
        <p:nvSpPr>
          <p:cNvPr id="103" name="圆角矩形 102"/>
          <p:cNvSpPr/>
          <p:nvPr>
            <p:custDataLst>
              <p:tags r:id="rId14"/>
            </p:custDataLst>
          </p:nvPr>
        </p:nvSpPr>
        <p:spPr>
          <a:xfrm>
            <a:off x="10430510" y="2239010"/>
            <a:ext cx="1134110" cy="342900"/>
          </a:xfrm>
          <a:prstGeom prst="roundRect">
            <a:avLst/>
          </a:prstGeom>
          <a:solidFill>
            <a:srgbClr val="3368FF"/>
          </a:solidFill>
          <a:ln w="12700" cap="flat" cmpd="sng" algn="ctr">
            <a:noFill/>
            <a:prstDash val="solid"/>
            <a:miter lim="800000"/>
          </a:ln>
          <a:effectLst/>
        </p:spPr>
        <p:txBody>
          <a:bodyPr vert="horz" wrap="square"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删除</a:t>
            </a:r>
            <a:endParaRPr lang="zh-CN" altLang="en-US" sz="1400">
              <a:solidFill>
                <a:srgbClr val="FFFFFF"/>
              </a:solidFill>
              <a:latin typeface="微软雅黑"/>
              <a:ea typeface="微软雅黑"/>
              <a:cs typeface="微软雅黑"/>
              <a:sym typeface="微软雅黑"/>
            </a:endParaRPr>
          </a:p>
        </p:txBody>
      </p:sp>
      <p:sp>
        <p:nvSpPr>
          <p:cNvPr id="33" name="textbox 524"/>
          <p:cNvSpPr/>
          <p:nvPr>
            <p:custDataLst>
              <p:tags r:id="rId15"/>
            </p:custDataLst>
          </p:nvPr>
        </p:nvSpPr>
        <p:spPr>
          <a:xfrm>
            <a:off x="297815" y="5078730"/>
            <a:ext cx="11513185" cy="1557020"/>
          </a:xfrm>
          <a:prstGeom prst="rect">
            <a:avLst/>
          </a:prstGeom>
          <a:solidFill>
            <a:srgbClr val="E6E6E6">
              <a:alpha val="20000"/>
            </a:srgbClr>
          </a:solidFill>
          <a:ln w="12700" cmpd="sng">
            <a:solidFill>
              <a:srgbClr val="3368FF"/>
            </a:solidFill>
            <a:prstDash val="solid"/>
          </a:ln>
        </p:spPr>
        <p:txBody>
          <a:bodyPr vert="horz" wrap="square" lIns="0" tIns="0" rIns="0" bIns="0" anchor="ctr" anchorCtr="0"/>
          <a:lstStyle/>
          <a:p>
            <a:pPr algn="ctr" rtl="0" eaLnBrk="0">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sp>
        <p:nvSpPr>
          <p:cNvPr id="35" name="textbox 524"/>
          <p:cNvSpPr/>
          <p:nvPr>
            <p:custDataLst>
              <p:tags r:id="rId16"/>
            </p:custDataLst>
          </p:nvPr>
        </p:nvSpPr>
        <p:spPr>
          <a:xfrm>
            <a:off x="482600" y="5450840"/>
            <a:ext cx="2546350" cy="1003935"/>
          </a:xfrm>
          <a:prstGeom prst="rect">
            <a:avLst/>
          </a:prstGeom>
          <a:solidFill>
            <a:srgbClr val="E6E6E6">
              <a:alpha val="50000"/>
            </a:srgbClr>
          </a:solidFill>
          <a:ln>
            <a:solidFill>
              <a:srgbClr val="3368FF"/>
            </a:solidFill>
          </a:ln>
        </p:spPr>
        <p:txBody>
          <a:bodyPr vert="horz" wrap="square" lIns="0" tIns="0" rIns="0" bIns="0" anchor="ctr" anchorCtr="0"/>
          <a:lstStyle/>
          <a:p>
            <a:pPr algn="ctr" eaLnBrk="0">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sp>
        <p:nvSpPr>
          <p:cNvPr id="208" name="Text Box 1030"/>
          <p:cNvSpPr txBox="1">
            <a:spLocks noChangeArrowheads="1"/>
          </p:cNvSpPr>
          <p:nvPr>
            <p:custDataLst>
              <p:tags r:id="rId17"/>
            </p:custDataLst>
          </p:nvPr>
        </p:nvSpPr>
        <p:spPr bwMode="auto">
          <a:xfrm>
            <a:off x="817880" y="5644515"/>
            <a:ext cx="1875790" cy="81026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algn="ctr" eaLnBrk="1" hangingPunct="1">
              <a:lnSpc>
                <a:spcPct val="130000"/>
              </a:lnSpc>
              <a:defRPr>
                <a:latin typeface="微软雅黑"/>
                <a:ea typeface="微软雅黑"/>
                <a:cs typeface="微软雅黑"/>
              </a:defRPr>
            </a:pPr>
            <a:r>
              <a:rPr lang="zh-CN" altLang="en-US" sz="1200" dirty="0">
                <a:solidFill>
                  <a:srgbClr val="0042FF"/>
                </a:solidFill>
                <a:latin typeface="微软雅黑"/>
                <a:ea typeface="微软雅黑"/>
                <a:cs typeface="微软雅黑"/>
              </a:rPr>
              <a:t>多维度地圈定人群，</a:t>
            </a:r>
            <a:endParaRPr lang="en-US" altLang="zh-CN" sz="1200" dirty="0">
              <a:solidFill>
                <a:srgbClr val="0042FF"/>
              </a:solidFill>
              <a:latin typeface="微软雅黑"/>
              <a:ea typeface="微软雅黑"/>
              <a:cs typeface="微软雅黑"/>
            </a:endParaRPr>
          </a:p>
          <a:p>
            <a:pPr algn="ctr" eaLnBrk="1" hangingPunct="1">
              <a:lnSpc>
                <a:spcPct val="13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进行精准营销；        </a:t>
            </a:r>
            <a:endParaRPr lang="zh-CN" altLang="en-US" sz="1200" dirty="0">
              <a:solidFill>
                <a:srgbClr val="383838"/>
              </a:solidFill>
              <a:latin typeface="微软雅黑"/>
              <a:ea typeface="微软雅黑"/>
              <a:cs typeface="微软雅黑"/>
            </a:endParaRPr>
          </a:p>
          <a:p>
            <a:pPr algn="ctr" eaLnBrk="1" hangingPunct="1">
              <a:lnSpc>
                <a:spcPct val="13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送代测试优化放效果</a:t>
            </a:r>
            <a:endParaRPr lang="zh-CN" altLang="en-US" sz="1200" dirty="0">
              <a:solidFill>
                <a:srgbClr val="383838"/>
              </a:solidFill>
              <a:latin typeface="微软雅黑"/>
              <a:ea typeface="微软雅黑"/>
              <a:cs typeface="微软雅黑"/>
            </a:endParaRPr>
          </a:p>
        </p:txBody>
      </p:sp>
      <p:sp>
        <p:nvSpPr>
          <p:cNvPr id="210" name="圆角矩形 209"/>
          <p:cNvSpPr/>
          <p:nvPr>
            <p:custDataLst>
              <p:tags r:id="rId18"/>
            </p:custDataLst>
          </p:nvPr>
        </p:nvSpPr>
        <p:spPr>
          <a:xfrm>
            <a:off x="1098868" y="5247640"/>
            <a:ext cx="1313815" cy="342900"/>
          </a:xfrm>
          <a:prstGeom prst="roundRect">
            <a:avLst/>
          </a:prstGeom>
          <a:gradFill>
            <a:gsLst>
              <a:gs pos="23000">
                <a:srgbClr val="0042FF"/>
              </a:gs>
              <a:gs pos="100000">
                <a:srgbClr val="3368FF"/>
              </a:gs>
            </a:gsLst>
            <a:lin ang="2700000" scaled="0"/>
          </a:gradFill>
          <a:ln w="12700"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生产运营优化</a:t>
            </a:r>
            <a:endParaRPr lang="zh-CN" altLang="en-US" sz="1400">
              <a:solidFill>
                <a:srgbClr val="FFFFFF"/>
              </a:solidFill>
              <a:latin typeface="微软雅黑"/>
              <a:ea typeface="微软雅黑"/>
              <a:cs typeface="微软雅黑"/>
            </a:endParaRPr>
          </a:p>
        </p:txBody>
      </p:sp>
      <p:sp>
        <p:nvSpPr>
          <p:cNvPr id="37" name="textbox 524"/>
          <p:cNvSpPr/>
          <p:nvPr>
            <p:custDataLst>
              <p:tags r:id="rId19"/>
            </p:custDataLst>
          </p:nvPr>
        </p:nvSpPr>
        <p:spPr>
          <a:xfrm>
            <a:off x="3328035" y="5450840"/>
            <a:ext cx="2546350" cy="1003935"/>
          </a:xfrm>
          <a:prstGeom prst="rect">
            <a:avLst/>
          </a:prstGeom>
          <a:solidFill>
            <a:srgbClr val="E6E6E6">
              <a:alpha val="50000"/>
            </a:srgbClr>
          </a:solidFill>
          <a:ln>
            <a:solidFill>
              <a:srgbClr val="3368FF"/>
            </a:solidFill>
          </a:ln>
        </p:spPr>
        <p:txBody>
          <a:bodyPr vert="horz" wrap="square" lIns="0" tIns="0" rIns="0" bIns="0" anchor="ctr" anchorCtr="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38" name="Text Box 1030"/>
          <p:cNvSpPr txBox="1">
            <a:spLocks noChangeArrowheads="1"/>
          </p:cNvSpPr>
          <p:nvPr>
            <p:custDataLst>
              <p:tags r:id="rId20"/>
            </p:custDataLst>
          </p:nvPr>
        </p:nvSpPr>
        <p:spPr bwMode="auto">
          <a:xfrm>
            <a:off x="3663315" y="5644515"/>
            <a:ext cx="1875790" cy="810260"/>
          </a:xfrm>
          <a:prstGeom prst="rect">
            <a:avLst/>
          </a:prstGeom>
          <a:noFill/>
          <a:ln>
            <a:noFill/>
          </a:ln>
          <a:effectLst/>
          <a:extLst>
            <a:ext uri="{909E8E84-426E-40DD-AFC4-6F175D3DCCD1}">
              <a14:hiddenFill xmlns:a14="http://schemas.microsoft.com/office/drawing/2010/main">
                <a:solidFill>
                  <a:srgbClr val="0042FF"/>
                </a:solidFill>
              </a14:hiddenFill>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lvl="0" algn="ctr" eaLnBrk="1" hangingPunct="1">
              <a:lnSpc>
                <a:spcPct val="130000"/>
              </a:lnSpc>
              <a:buClrTx/>
              <a:buSzTx/>
              <a:buFontTx/>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结合先锋程度，</a:t>
            </a:r>
            <a:endParaRPr lang="zh-CN" altLang="en-US" sz="1200" dirty="0">
              <a:solidFill>
                <a:srgbClr val="0042FF"/>
              </a:solidFill>
              <a:latin typeface="微软雅黑"/>
              <a:ea typeface="微软雅黑"/>
              <a:cs typeface="微软雅黑"/>
              <a:sym typeface="微软雅黑"/>
            </a:endParaRPr>
          </a:p>
          <a:p>
            <a:pPr lvl="0" algn="ctr" eaLnBrk="1" hangingPunct="1">
              <a:lnSpc>
                <a:spcPct val="130000"/>
              </a:lnSpc>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进行针对性新品趋势洞察和推广</a:t>
            </a:r>
            <a:endParaRPr lang="zh-CN" altLang="en-US" sz="1200" dirty="0">
              <a:solidFill>
                <a:srgbClr val="383838"/>
              </a:solidFill>
              <a:latin typeface="微软雅黑"/>
              <a:ea typeface="微软雅黑"/>
              <a:cs typeface="微软雅黑"/>
              <a:sym typeface="微软雅黑"/>
            </a:endParaRPr>
          </a:p>
        </p:txBody>
      </p:sp>
      <p:sp>
        <p:nvSpPr>
          <p:cNvPr id="39" name="圆角矩形 38"/>
          <p:cNvSpPr/>
          <p:nvPr>
            <p:custDataLst>
              <p:tags r:id="rId21"/>
            </p:custDataLst>
          </p:nvPr>
        </p:nvSpPr>
        <p:spPr>
          <a:xfrm>
            <a:off x="3944303" y="5247640"/>
            <a:ext cx="1313815" cy="342900"/>
          </a:xfrm>
          <a:prstGeom prst="roundRect">
            <a:avLst/>
          </a:prstGeom>
          <a:gradFill>
            <a:gsLst>
              <a:gs pos="23000">
                <a:srgbClr val="0042FF"/>
              </a:gs>
              <a:gs pos="100000">
                <a:srgbClr val="3368FF"/>
              </a:gs>
            </a:gsLst>
            <a:lin ang="2700000" scaled="0"/>
          </a:gradFill>
          <a:ln w="12700"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产品服务创新</a:t>
            </a:r>
            <a:endParaRPr lang="zh-CN" altLang="en-US" sz="1400">
              <a:solidFill>
                <a:srgbClr val="FFFFFF"/>
              </a:solidFill>
              <a:latin typeface="微软雅黑"/>
              <a:ea typeface="微软雅黑"/>
              <a:cs typeface="微软雅黑"/>
              <a:sym typeface="微软雅黑"/>
            </a:endParaRPr>
          </a:p>
        </p:txBody>
      </p:sp>
      <p:sp>
        <p:nvSpPr>
          <p:cNvPr id="40" name="textbox 524"/>
          <p:cNvSpPr/>
          <p:nvPr>
            <p:custDataLst>
              <p:tags r:id="rId22"/>
            </p:custDataLst>
          </p:nvPr>
        </p:nvSpPr>
        <p:spPr>
          <a:xfrm>
            <a:off x="6173470" y="5450840"/>
            <a:ext cx="2546350" cy="1003935"/>
          </a:xfrm>
          <a:prstGeom prst="rect">
            <a:avLst/>
          </a:prstGeom>
          <a:solidFill>
            <a:srgbClr val="E6E6E6">
              <a:alpha val="50000"/>
            </a:srgbClr>
          </a:solidFill>
          <a:ln>
            <a:solidFill>
              <a:srgbClr val="3368FF"/>
            </a:solidFill>
          </a:ln>
        </p:spPr>
        <p:txBody>
          <a:bodyPr vert="horz" wrap="square" lIns="0" tIns="0" rIns="0" bIns="0" anchor="ctr" anchorCtr="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41" name="Text Box 1030"/>
          <p:cNvSpPr txBox="1">
            <a:spLocks noChangeArrowheads="1"/>
          </p:cNvSpPr>
          <p:nvPr>
            <p:custDataLst>
              <p:tags r:id="rId23"/>
            </p:custDataLst>
          </p:nvPr>
        </p:nvSpPr>
        <p:spPr bwMode="auto">
          <a:xfrm>
            <a:off x="6508750" y="5644515"/>
            <a:ext cx="1875790" cy="81026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algn="ctr" eaLnBrk="1" hangingPunct="1">
              <a:lnSpc>
                <a:spcPct val="130000"/>
              </a:lnSpc>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结合货物价值偏好，</a:t>
            </a:r>
            <a:endParaRPr lang="en-US" altLang="zh-CN" sz="1200" dirty="0">
              <a:solidFill>
                <a:srgbClr val="0042FF"/>
              </a:solidFill>
              <a:latin typeface="微软雅黑"/>
              <a:ea typeface="微软雅黑"/>
              <a:cs typeface="微软雅黑"/>
            </a:endParaRPr>
          </a:p>
          <a:p>
            <a:pPr algn="ctr" eaLnBrk="1" hangingPunct="1">
              <a:lnSpc>
                <a:spcPct val="130000"/>
              </a:lnSpc>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优化已有产品的人货匹配策略</a:t>
            </a:r>
            <a:endParaRPr lang="zh-CN" altLang="en-US" sz="1200" dirty="0">
              <a:solidFill>
                <a:srgbClr val="383838"/>
              </a:solidFill>
              <a:latin typeface="微软雅黑"/>
              <a:ea typeface="微软雅黑"/>
              <a:cs typeface="微软雅黑"/>
              <a:sym typeface="微软雅黑"/>
            </a:endParaRPr>
          </a:p>
        </p:txBody>
      </p:sp>
      <p:sp>
        <p:nvSpPr>
          <p:cNvPr id="42" name="圆角矩形 41"/>
          <p:cNvSpPr/>
          <p:nvPr>
            <p:custDataLst>
              <p:tags r:id="rId24"/>
            </p:custDataLst>
          </p:nvPr>
        </p:nvSpPr>
        <p:spPr>
          <a:xfrm>
            <a:off x="6789738" y="5247640"/>
            <a:ext cx="1313815" cy="342900"/>
          </a:xfrm>
          <a:prstGeom prst="roundRect">
            <a:avLst/>
          </a:prstGeom>
          <a:gradFill>
            <a:gsLst>
              <a:gs pos="23000">
                <a:srgbClr val="0042FF"/>
              </a:gs>
              <a:gs pos="100000">
                <a:srgbClr val="3368FF"/>
              </a:gs>
            </a:gsLst>
            <a:lin ang="2700000" scaled="0"/>
          </a:gradFill>
          <a:ln w="12700"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品牌提升</a:t>
            </a:r>
            <a:endParaRPr lang="zh-CN" altLang="en-US" sz="1400">
              <a:solidFill>
                <a:srgbClr val="FFFFFF"/>
              </a:solidFill>
              <a:latin typeface="微软雅黑"/>
              <a:ea typeface="微软雅黑"/>
              <a:cs typeface="微软雅黑"/>
              <a:sym typeface="微软雅黑"/>
            </a:endParaRPr>
          </a:p>
        </p:txBody>
      </p:sp>
      <p:sp>
        <p:nvSpPr>
          <p:cNvPr id="44" name="textbox 524"/>
          <p:cNvSpPr/>
          <p:nvPr>
            <p:custDataLst>
              <p:tags r:id="rId25"/>
            </p:custDataLst>
          </p:nvPr>
        </p:nvSpPr>
        <p:spPr>
          <a:xfrm>
            <a:off x="9018905" y="5450840"/>
            <a:ext cx="2546350" cy="1003935"/>
          </a:xfrm>
          <a:prstGeom prst="rect">
            <a:avLst/>
          </a:prstGeom>
          <a:solidFill>
            <a:srgbClr val="E6E6E6">
              <a:alpha val="50000"/>
            </a:srgbClr>
          </a:solidFill>
          <a:ln>
            <a:solidFill>
              <a:srgbClr val="3368FF"/>
            </a:solidFill>
          </a:ln>
        </p:spPr>
        <p:txBody>
          <a:bodyPr vert="horz" wrap="square" lIns="0" tIns="0" rIns="0" bIns="0" anchor="ctr" anchorCtr="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sp>
        <p:nvSpPr>
          <p:cNvPr id="45" name="Text Box 1030"/>
          <p:cNvSpPr txBox="1">
            <a:spLocks noChangeArrowheads="1"/>
          </p:cNvSpPr>
          <p:nvPr>
            <p:custDataLst>
              <p:tags r:id="rId26"/>
            </p:custDataLst>
          </p:nvPr>
        </p:nvSpPr>
        <p:spPr bwMode="auto">
          <a:xfrm>
            <a:off x="9354185" y="5644515"/>
            <a:ext cx="1875790" cy="81026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algn="ctr" eaLnBrk="1" hangingPunct="1">
              <a:lnSpc>
                <a:spcPct val="130000"/>
              </a:lnSpc>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优化洞察用户的能力，</a:t>
            </a:r>
            <a:endParaRPr lang="en-US" altLang="zh-CN" sz="1200" dirty="0">
              <a:solidFill>
                <a:srgbClr val="0042FF"/>
              </a:solidFill>
              <a:latin typeface="微软雅黑"/>
              <a:ea typeface="微软雅黑"/>
              <a:cs typeface="微软雅黑"/>
            </a:endParaRPr>
          </a:p>
          <a:p>
            <a:pPr algn="ctr" eaLnBrk="1" hangingPunct="1">
              <a:lnSpc>
                <a:spcPct val="130000"/>
              </a:lnSpc>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进行精准运营，提升用户终身价值</a:t>
            </a:r>
            <a:endParaRPr lang="zh-CN" altLang="en-US" sz="1200" dirty="0">
              <a:solidFill>
                <a:srgbClr val="383838"/>
              </a:solidFill>
              <a:latin typeface="微软雅黑"/>
              <a:ea typeface="微软雅黑"/>
              <a:cs typeface="微软雅黑"/>
              <a:sym typeface="微软雅黑"/>
            </a:endParaRPr>
          </a:p>
        </p:txBody>
      </p:sp>
      <p:sp>
        <p:nvSpPr>
          <p:cNvPr id="46" name="圆角矩形 45"/>
          <p:cNvSpPr/>
          <p:nvPr>
            <p:custDataLst>
              <p:tags r:id="rId27"/>
            </p:custDataLst>
          </p:nvPr>
        </p:nvSpPr>
        <p:spPr>
          <a:xfrm>
            <a:off x="9635173" y="5247640"/>
            <a:ext cx="1313815" cy="342900"/>
          </a:xfrm>
          <a:prstGeom prst="roundRect">
            <a:avLst/>
          </a:prstGeom>
          <a:gradFill>
            <a:gsLst>
              <a:gs pos="23000">
                <a:srgbClr val="0042FF"/>
              </a:gs>
              <a:gs pos="100000">
                <a:srgbClr val="3368FF"/>
              </a:gs>
            </a:gsLst>
            <a:lin ang="2700000" scaled="0"/>
          </a:gradFill>
          <a:ln w="12700"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业态转变</a:t>
            </a:r>
            <a:endParaRPr lang="zh-CN" altLang="en-US" sz="1400">
              <a:solidFill>
                <a:srgbClr val="FFFFFF"/>
              </a:solidFill>
              <a:latin typeface="微软雅黑"/>
              <a:ea typeface="微软雅黑"/>
              <a:cs typeface="微软雅黑"/>
              <a:sym typeface="微软雅黑"/>
            </a:endParaRPr>
          </a:p>
        </p:txBody>
      </p:sp>
      <p:sp>
        <p:nvSpPr>
          <p:cNvPr id="105" name="textbox 524"/>
          <p:cNvSpPr/>
          <p:nvPr>
            <p:custDataLst>
              <p:tags r:id="rId28"/>
            </p:custDataLst>
          </p:nvPr>
        </p:nvSpPr>
        <p:spPr>
          <a:xfrm>
            <a:off x="297815" y="2823210"/>
            <a:ext cx="11513185" cy="2128520"/>
          </a:xfrm>
          <a:prstGeom prst="rect">
            <a:avLst/>
          </a:prstGeom>
          <a:gradFill>
            <a:gsLst>
              <a:gs pos="0">
                <a:srgbClr val="FFFFFF">
                  <a:alpha val="10000"/>
                </a:srgbClr>
              </a:gs>
              <a:gs pos="97000">
                <a:srgbClr val="FFFFFF">
                  <a:alpha val="10000"/>
                </a:srgbClr>
              </a:gs>
              <a:gs pos="50000">
                <a:srgbClr val="FFFFFF">
                  <a:alpha val="50000"/>
                </a:srgbClr>
              </a:gs>
            </a:gsLst>
            <a:lin ang="0" scaled="0"/>
          </a:gradFill>
          <a:ln w="12700" cap="flat" cmpd="sng" algn="ctr">
            <a:solidFill>
              <a:srgbClr val="B3D4FE">
                <a:alpha val="70000"/>
              </a:srgbClr>
            </a:solidFill>
            <a:prstDash val="solid"/>
            <a:miter lim="800000"/>
          </a:ln>
          <a:effectLst/>
        </p:spPr>
        <p:txBody>
          <a:bodyPr vert="horz" wrap="square" lIns="91440" tIns="45720" rIns="91440" bIns="45720" rtlCol="0" anchor="ctr" anchorCtr="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60" name="Disclaimer"/>
          <p:cNvSpPr/>
          <p:nvPr>
            <p:custDataLst>
              <p:tags r:id="rId29"/>
            </p:custDataLst>
          </p:nvPr>
        </p:nvSpPr>
        <p:spPr>
          <a:xfrm>
            <a:off x="10825480" y="3410585"/>
            <a:ext cx="877570" cy="879475"/>
          </a:xfrm>
          <a:prstGeom prst="roundRect">
            <a:avLst>
              <a:gd name="adj" fmla="val 0"/>
            </a:avLst>
          </a:prstGeom>
          <a:noFill/>
          <a:ln w="19050" cap="flat" cmpd="sng" algn="ctr">
            <a:noFill/>
            <a:prstDash val="solid"/>
            <a:miter lim="800000"/>
          </a:ln>
          <a:effectLst/>
          <a:extLst>
            <a:ext uri="{909E8E84-426E-40DD-AFC4-6F175D3DCCD1}">
              <a14:hiddenFill xmlns:a14="http://schemas.microsoft.com/office/drawing/2010/main">
                <a:solidFill>
                  <a:srgbClr val="E6E6E6"/>
                </a:solidFill>
              </a14:hiddenFill>
            </a:ext>
          </a:extLst>
        </p:spPr>
        <p:txBody>
          <a:bodyPr wrap="square" lIns="0" tIns="0" rIns="0" bIns="0" rtlCol="0" anchor="ctr" anchorCtr="0">
            <a:spAutoFit/>
          </a:bodyPr>
          <a:lstStyle/>
          <a:p>
            <a:pPr marL="0" marR="0" lvl="0" indent="0" algn="ctr" defTabSz="914400" rtl="0" eaLnBrk="1" fontAlgn="auto" latinLnBrk="0" hangingPunct="1">
              <a:lnSpc>
                <a:spcPct val="130000"/>
              </a:lnSpc>
              <a:spcBef>
                <a:spcPts val="0"/>
              </a:spcBef>
              <a:spcAft>
                <a:spcPts val="0"/>
              </a:spcAft>
              <a:buClrTx/>
              <a:buSzTx/>
              <a:buFontTx/>
              <a:buNone/>
              <a:defRPr>
                <a:latin typeface="微软雅黑"/>
                <a:ea typeface="微软雅黑"/>
                <a:cs typeface="微软雅黑"/>
              </a:defRPr>
            </a:pPr>
            <a:r>
              <a:rPr kumimoji="0" lang="zh-CN" altLang="en-US" sz="1100" b="1" u="none" strike="noStrike" kern="1200" cap="none" spc="0" normalizeH="0" baseline="0" noProof="1">
                <a:ln>
                  <a:noFill/>
                </a:ln>
                <a:solidFill>
                  <a:srgbClr val="383838"/>
                </a:solidFill>
                <a:effectLst/>
                <a:uLnTx/>
                <a:uFillTx/>
                <a:latin typeface="微软雅黑"/>
                <a:ea typeface="微软雅黑"/>
                <a:cs typeface="微软雅黑"/>
              </a:rPr>
              <a:t>组织意义</a:t>
            </a:r>
            <a:endParaRPr kumimoji="0" lang="en-US" altLang="zh-CN" sz="1100" b="1" u="none" strike="noStrike" kern="1200" cap="none" spc="0" normalizeH="0" baseline="0" noProof="1">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3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1">
                <a:ln>
                  <a:noFill/>
                </a:ln>
                <a:solidFill>
                  <a:srgbClr val="383838"/>
                </a:solidFill>
                <a:effectLst/>
                <a:uLnTx/>
                <a:uFillTx/>
                <a:latin typeface="微软雅黑"/>
                <a:ea typeface="微软雅黑"/>
                <a:cs typeface="微软雅黑"/>
              </a:rPr>
              <a:t>从电商运营向全链路人群运营延展</a:t>
            </a:r>
            <a:endParaRPr kumimoji="0" lang="zh-CN" altLang="en-US" sz="11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37" name="Text Box 1030"/>
          <p:cNvSpPr txBox="1">
            <a:spLocks noChangeArrowheads="1"/>
          </p:cNvSpPr>
          <p:nvPr>
            <p:custDataLst>
              <p:tags r:id="rId30"/>
            </p:custDataLst>
          </p:nvPr>
        </p:nvSpPr>
        <p:spPr bwMode="auto">
          <a:xfrm>
            <a:off x="3105785" y="3000375"/>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私域生态优势</a:t>
            </a:r>
            <a:endParaRPr lang="zh-CN" altLang="en-US" sz="1200" dirty="0">
              <a:solidFill>
                <a:srgbClr val="383838"/>
              </a:solidFill>
              <a:latin typeface="微软雅黑"/>
              <a:ea typeface="微软雅黑"/>
              <a:cs typeface="微软雅黑"/>
            </a:endParaRPr>
          </a:p>
        </p:txBody>
      </p:sp>
      <p:sp>
        <p:nvSpPr>
          <p:cNvPr id="138" name="Text Box 1030"/>
          <p:cNvSpPr txBox="1">
            <a:spLocks noChangeArrowheads="1"/>
          </p:cNvSpPr>
          <p:nvPr>
            <p:custDataLst>
              <p:tags r:id="rId31"/>
            </p:custDataLst>
          </p:nvPr>
        </p:nvSpPr>
        <p:spPr bwMode="auto">
          <a:xfrm>
            <a:off x="3074035" y="3411855"/>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配送模式</a:t>
            </a:r>
            <a:endParaRPr lang="zh-CN" altLang="en-US" sz="1200" dirty="0">
              <a:solidFill>
                <a:srgbClr val="383838"/>
              </a:solidFill>
              <a:latin typeface="微软雅黑"/>
              <a:ea typeface="微软雅黑"/>
              <a:cs typeface="微软雅黑"/>
            </a:endParaRPr>
          </a:p>
        </p:txBody>
      </p:sp>
      <p:sp>
        <p:nvSpPr>
          <p:cNvPr id="139" name="Text Box 1030"/>
          <p:cNvSpPr txBox="1">
            <a:spLocks noChangeArrowheads="1"/>
          </p:cNvSpPr>
          <p:nvPr>
            <p:custDataLst>
              <p:tags r:id="rId32"/>
            </p:custDataLst>
          </p:nvPr>
        </p:nvSpPr>
        <p:spPr bwMode="auto">
          <a:xfrm>
            <a:off x="2909570" y="3863975"/>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所见非实物</a:t>
            </a:r>
            <a:endParaRPr lang="zh-CN" altLang="en-US" sz="1200" dirty="0">
              <a:solidFill>
                <a:srgbClr val="383838"/>
              </a:solidFill>
              <a:latin typeface="微软雅黑"/>
              <a:ea typeface="微软雅黑"/>
              <a:cs typeface="微软雅黑"/>
            </a:endParaRPr>
          </a:p>
        </p:txBody>
      </p:sp>
      <p:sp>
        <p:nvSpPr>
          <p:cNvPr id="140" name="Text Box 1030"/>
          <p:cNvSpPr txBox="1">
            <a:spLocks noChangeArrowheads="1"/>
          </p:cNvSpPr>
          <p:nvPr>
            <p:custDataLst>
              <p:tags r:id="rId33"/>
            </p:custDataLst>
          </p:nvPr>
        </p:nvSpPr>
        <p:spPr bwMode="auto">
          <a:xfrm>
            <a:off x="3254375" y="4362450"/>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时间成本低</a:t>
            </a:r>
            <a:endParaRPr lang="zh-CN" altLang="en-US" sz="1200" dirty="0">
              <a:solidFill>
                <a:srgbClr val="383838"/>
              </a:solidFill>
              <a:latin typeface="微软雅黑"/>
              <a:ea typeface="微软雅黑"/>
              <a:cs typeface="微软雅黑"/>
            </a:endParaRPr>
          </a:p>
        </p:txBody>
      </p:sp>
      <p:grpSp>
        <p:nvGrpSpPr>
          <p:cNvPr id="7" name="组合 6"/>
          <p:cNvGrpSpPr/>
          <p:nvPr/>
        </p:nvGrpSpPr>
        <p:grpSpPr>
          <a:xfrm>
            <a:off x="4206240" y="3168015"/>
            <a:ext cx="2195195" cy="1438910"/>
            <a:chOff x="6354" y="4949"/>
            <a:chExt cx="3457" cy="2266"/>
          </a:xfrm>
        </p:grpSpPr>
        <p:sp>
          <p:nvSpPr>
            <p:cNvPr id="19" name="不完整圆 100"/>
            <p:cNvSpPr/>
            <p:nvPr>
              <p:custDataLst>
                <p:tags r:id="rId34"/>
              </p:custDataLst>
            </p:nvPr>
          </p:nvSpPr>
          <p:spPr>
            <a:xfrm>
              <a:off x="6354" y="5024"/>
              <a:ext cx="2118" cy="2116"/>
            </a:xfrm>
            <a:prstGeom prst="pie">
              <a:avLst>
                <a:gd name="adj1" fmla="val 5449339"/>
                <a:gd name="adj2" fmla="val 16200000"/>
              </a:avLst>
            </a:prstGeom>
            <a:noFill/>
            <a:ln w="13716" cap="flat" cmpd="sng" algn="ctr">
              <a:gradFill flip="none" rotWithShape="1">
                <a:gsLst>
                  <a:gs pos="3000">
                    <a:srgbClr val="B3D4FE">
                      <a:alpha val="0"/>
                    </a:srgbClr>
                  </a:gs>
                  <a:gs pos="11000">
                    <a:srgbClr val="B3D4FE"/>
                  </a:gs>
                </a:gsLst>
                <a:lin ang="10800000" scaled="1"/>
                <a:tileRect/>
              </a:gradFill>
              <a:prstDash val="dash"/>
              <a:miter lim="800000"/>
            </a:ln>
            <a:effectLst/>
          </p:spPr>
          <p:txBody>
            <a:bodyPr lIns="98755" tIns="49378" rIns="98755" bIns="49378" rtlCol="0" anchor="ctr"/>
            <a:lstStyle/>
            <a:p>
              <a:pPr algn="ctr">
                <a:defRPr>
                  <a:latin typeface="微软雅黑"/>
                  <a:ea typeface="微软雅黑"/>
                  <a:cs typeface="微软雅黑"/>
                </a:defRPr>
              </a:pPr>
              <a:endParaRPr lang="zh-CN" altLang="en-US" sz="1945" dirty="0">
                <a:solidFill>
                  <a:srgbClr val="0042FF"/>
                </a:solidFill>
                <a:effectLst>
                  <a:outerShdw blurRad="137160" dist="41148" dir="2699997" algn="tl">
                    <a:srgbClr val="383838">
                      <a:alpha val="40000"/>
                    </a:srgbClr>
                  </a:outerShdw>
                </a:effectLst>
                <a:latin typeface="微软雅黑"/>
                <a:ea typeface="微软雅黑"/>
                <a:cs typeface="微软雅黑"/>
              </a:endParaRPr>
            </a:p>
          </p:txBody>
        </p:sp>
        <p:grpSp>
          <p:nvGrpSpPr>
            <p:cNvPr id="22" name="组合 21"/>
            <p:cNvGrpSpPr/>
            <p:nvPr/>
          </p:nvGrpSpPr>
          <p:grpSpPr>
            <a:xfrm>
              <a:off x="6875" y="4949"/>
              <a:ext cx="2936" cy="2266"/>
              <a:chOff x="6875" y="4949"/>
              <a:chExt cx="2936" cy="2266"/>
            </a:xfrm>
          </p:grpSpPr>
          <p:grpSp>
            <p:nvGrpSpPr>
              <p:cNvPr id="152" name="组合 151"/>
              <p:cNvGrpSpPr/>
              <p:nvPr/>
            </p:nvGrpSpPr>
            <p:grpSpPr>
              <a:xfrm>
                <a:off x="7248" y="4949"/>
                <a:ext cx="150" cy="2266"/>
                <a:chOff x="7248" y="4949"/>
                <a:chExt cx="150" cy="2266"/>
              </a:xfrm>
            </p:grpSpPr>
            <p:sp>
              <p:nvSpPr>
                <p:cNvPr id="121" name="椭圆 120"/>
                <p:cNvSpPr/>
                <p:nvPr>
                  <p:custDataLst>
                    <p:tags r:id="rId35"/>
                  </p:custDataLst>
                </p:nvPr>
              </p:nvSpPr>
              <p:spPr>
                <a:xfrm>
                  <a:off x="7248" y="4949"/>
                  <a:ext cx="135" cy="13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126" name="椭圆 125"/>
                <p:cNvSpPr/>
                <p:nvPr>
                  <p:custDataLst>
                    <p:tags r:id="rId36"/>
                  </p:custDataLst>
                </p:nvPr>
              </p:nvSpPr>
              <p:spPr>
                <a:xfrm>
                  <a:off x="7263" y="7080"/>
                  <a:ext cx="135" cy="13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grpSp>
          <p:sp>
            <p:nvSpPr>
              <p:cNvPr id="141" name="Text Box 1030"/>
              <p:cNvSpPr txBox="1">
                <a:spLocks noChangeArrowheads="1"/>
              </p:cNvSpPr>
              <p:nvPr>
                <p:custDataLst>
                  <p:tags r:id="rId37"/>
                </p:custDataLst>
              </p:nvPr>
            </p:nvSpPr>
            <p:spPr bwMode="auto">
              <a:xfrm>
                <a:off x="6875" y="5333"/>
                <a:ext cx="2936" cy="1307"/>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rIns="0" tIns="0" bIns="0">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b="1" dirty="0">
                    <a:solidFill>
                      <a:srgbClr val="0042FF"/>
                    </a:solidFill>
                    <a:latin typeface="微软雅黑"/>
                    <a:ea typeface="微软雅黑"/>
                    <a:cs typeface="微软雅黑"/>
                  </a:rPr>
                  <a:t>线上</a:t>
                </a:r>
                <a:endParaRPr lang="zh-CN" altLang="en-US" b="1" dirty="0">
                  <a:solidFill>
                    <a:srgbClr val="0042FF"/>
                  </a:solidFill>
                  <a:latin typeface="微软雅黑"/>
                  <a:ea typeface="微软雅黑"/>
                  <a:cs typeface="微软雅黑"/>
                </a:endParaRPr>
              </a:p>
              <a:p>
                <a:pPr eaLnBrk="1" hangingPunct="1">
                  <a:lnSpc>
                    <a:spcPct val="150000"/>
                  </a:lnSpc>
                  <a:defRPr>
                    <a:latin typeface="微软雅黑"/>
                    <a:ea typeface="微软雅黑"/>
                    <a:cs typeface="微软雅黑"/>
                  </a:defRPr>
                </a:pPr>
                <a:r>
                  <a:rPr lang="zh-CN" altLang="en-US" b="1" dirty="0">
                    <a:solidFill>
                      <a:srgbClr val="0042FF"/>
                    </a:solidFill>
                    <a:latin typeface="微软雅黑"/>
                    <a:ea typeface="微软雅黑"/>
                    <a:cs typeface="微软雅黑"/>
                  </a:rPr>
                  <a:t>触点</a:t>
                </a:r>
                <a:endParaRPr lang="zh-CN" altLang="en-US" b="1" dirty="0">
                  <a:solidFill>
                    <a:srgbClr val="0042FF"/>
                  </a:solidFill>
                  <a:latin typeface="微软雅黑"/>
                  <a:ea typeface="微软雅黑"/>
                  <a:cs typeface="微软雅黑"/>
                </a:endParaRPr>
              </a:p>
            </p:txBody>
          </p:sp>
        </p:grpSp>
      </p:grpSp>
      <p:sp>
        <p:nvSpPr>
          <p:cNvPr id="24" name="不完整圆 100"/>
          <p:cNvSpPr/>
          <p:nvPr>
            <p:custDataLst>
              <p:tags r:id="rId38"/>
            </p:custDataLst>
          </p:nvPr>
        </p:nvSpPr>
        <p:spPr>
          <a:xfrm rot="10800000">
            <a:off x="6525895" y="3215640"/>
            <a:ext cx="1344930" cy="1343660"/>
          </a:xfrm>
          <a:prstGeom prst="pie">
            <a:avLst>
              <a:gd name="adj1" fmla="val 5449339"/>
              <a:gd name="adj2" fmla="val 16200000"/>
            </a:avLst>
          </a:prstGeom>
          <a:noFill/>
          <a:ln w="13716" cap="flat" cmpd="sng" algn="ctr">
            <a:gradFill flip="none" rotWithShape="1">
              <a:gsLst>
                <a:gs pos="3000">
                  <a:srgbClr val="B3D4FE">
                    <a:alpha val="0"/>
                  </a:srgbClr>
                </a:gs>
                <a:gs pos="11000">
                  <a:srgbClr val="B3D4FE"/>
                </a:gs>
              </a:gsLst>
              <a:lin ang="10800000" scaled="1"/>
              <a:tileRect/>
            </a:gradFill>
            <a:prstDash val="dash"/>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dirty="0">
              <a:solidFill>
                <a:srgbClr val="0042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49" name="Text Box 1030"/>
          <p:cNvSpPr txBox="1">
            <a:spLocks noChangeArrowheads="1"/>
          </p:cNvSpPr>
          <p:nvPr>
            <p:custDataLst>
              <p:tags r:id="rId39"/>
            </p:custDataLst>
          </p:nvPr>
        </p:nvSpPr>
        <p:spPr bwMode="auto">
          <a:xfrm>
            <a:off x="6909435" y="3459480"/>
            <a:ext cx="774700" cy="82994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rIns="0" tIns="0" bIns="0">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b="1" dirty="0">
                <a:solidFill>
                  <a:srgbClr val="0042FF"/>
                </a:solidFill>
                <a:latin typeface="微软雅黑"/>
                <a:ea typeface="微软雅黑"/>
                <a:cs typeface="微软雅黑"/>
              </a:rPr>
              <a:t>线下</a:t>
            </a:r>
            <a:endParaRPr lang="zh-CN" altLang="en-US" b="1" dirty="0">
              <a:solidFill>
                <a:srgbClr val="0042FF"/>
              </a:solidFill>
              <a:latin typeface="微软雅黑"/>
              <a:ea typeface="微软雅黑"/>
              <a:cs typeface="微软雅黑"/>
            </a:endParaRPr>
          </a:p>
          <a:p>
            <a:pPr eaLnBrk="1" hangingPunct="1">
              <a:lnSpc>
                <a:spcPct val="150000"/>
              </a:lnSpc>
              <a:defRPr>
                <a:latin typeface="微软雅黑"/>
                <a:ea typeface="微软雅黑"/>
                <a:cs typeface="微软雅黑"/>
              </a:defRPr>
            </a:pPr>
            <a:r>
              <a:rPr lang="zh-CN" altLang="en-US" b="1" dirty="0">
                <a:solidFill>
                  <a:srgbClr val="0042FF"/>
                </a:solidFill>
                <a:latin typeface="微软雅黑"/>
                <a:ea typeface="微软雅黑"/>
                <a:cs typeface="微软雅黑"/>
              </a:rPr>
              <a:t>渠道</a:t>
            </a:r>
            <a:endParaRPr lang="zh-CN" altLang="en-US" b="1" dirty="0">
              <a:solidFill>
                <a:srgbClr val="0042FF"/>
              </a:solidFill>
              <a:latin typeface="微软雅黑"/>
              <a:ea typeface="微软雅黑"/>
              <a:cs typeface="微软雅黑"/>
            </a:endParaRPr>
          </a:p>
        </p:txBody>
      </p:sp>
      <p:sp>
        <p:nvSpPr>
          <p:cNvPr id="150" name="Text Box 1030"/>
          <p:cNvSpPr txBox="1">
            <a:spLocks noChangeArrowheads="1"/>
          </p:cNvSpPr>
          <p:nvPr>
            <p:custDataLst>
              <p:tags r:id="rId40"/>
            </p:custDataLst>
          </p:nvPr>
        </p:nvSpPr>
        <p:spPr bwMode="auto">
          <a:xfrm>
            <a:off x="5353050" y="4258945"/>
            <a:ext cx="1508125" cy="46037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rIns="0" tIns="0" bIns="0">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b="1" dirty="0">
                <a:solidFill>
                  <a:srgbClr val="0042FF"/>
                </a:solidFill>
                <a:latin typeface="微软雅黑"/>
                <a:ea typeface="微软雅黑"/>
                <a:cs typeface="微软雅黑"/>
              </a:rPr>
              <a:t>合规数据资产</a:t>
            </a:r>
            <a:endParaRPr lang="zh-CN" altLang="en-US" b="1" dirty="0">
              <a:solidFill>
                <a:srgbClr val="0042FF"/>
              </a:solidFill>
              <a:latin typeface="微软雅黑"/>
              <a:ea typeface="微软雅黑"/>
              <a:cs typeface="微软雅黑"/>
            </a:endParaRPr>
          </a:p>
        </p:txBody>
      </p:sp>
      <p:sp>
        <p:nvSpPr>
          <p:cNvPr id="362" name="上箭头 24"/>
          <p:cNvSpPr/>
          <p:nvPr>
            <p:custDataLst>
              <p:tags r:id="rId41"/>
            </p:custDataLst>
          </p:nvPr>
        </p:nvSpPr>
        <p:spPr>
          <a:xfrm rot="16200000">
            <a:off x="5910580" y="3406140"/>
            <a:ext cx="219710" cy="845820"/>
          </a:xfrm>
          <a:prstGeom prst="upArrow">
            <a:avLst/>
          </a:prstGeom>
          <a:gradFill flip="none" rotWithShape="1">
            <a:gsLst>
              <a:gs pos="0">
                <a:srgbClr val="3368FF"/>
              </a:gs>
              <a:gs pos="100000">
                <a:srgbClr val="3368FF">
                  <a:alpha val="0"/>
                </a:srgbClr>
              </a:gs>
            </a:gsLst>
            <a:lin ang="5400000" scaled="1"/>
            <a:tileRect/>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 name="上箭头 24"/>
          <p:cNvSpPr/>
          <p:nvPr>
            <p:custDataLst>
              <p:tags r:id="rId42"/>
            </p:custDataLst>
          </p:nvPr>
        </p:nvSpPr>
        <p:spPr>
          <a:xfrm rot="16200000" flipV="1">
            <a:off x="5909945" y="3185795"/>
            <a:ext cx="219710" cy="845820"/>
          </a:xfrm>
          <a:prstGeom prst="upArrow">
            <a:avLst/>
          </a:prstGeom>
          <a:gradFill flip="none" rotWithShape="1">
            <a:gsLst>
              <a:gs pos="0">
                <a:srgbClr val="3368FF"/>
              </a:gs>
              <a:gs pos="100000">
                <a:srgbClr val="3368FF">
                  <a:alpha val="0"/>
                </a:srgbClr>
              </a:gs>
            </a:gsLst>
            <a:lin ang="5400000" scaled="1"/>
            <a:tileRect/>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6" name="Text Box 1030"/>
          <p:cNvSpPr txBox="1">
            <a:spLocks noChangeArrowheads="1"/>
          </p:cNvSpPr>
          <p:nvPr>
            <p:custDataLst>
              <p:tags r:id="rId43"/>
            </p:custDataLst>
          </p:nvPr>
        </p:nvSpPr>
        <p:spPr bwMode="auto">
          <a:xfrm>
            <a:off x="5549265" y="3067685"/>
            <a:ext cx="998220" cy="41402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引流线下</a:t>
            </a:r>
            <a:endParaRPr lang="zh-CN" altLang="en-US" sz="1400" dirty="0">
              <a:solidFill>
                <a:srgbClr val="383838"/>
              </a:solidFill>
              <a:latin typeface="微软雅黑"/>
              <a:ea typeface="微软雅黑"/>
              <a:cs typeface="微软雅黑"/>
            </a:endParaRPr>
          </a:p>
        </p:txBody>
      </p:sp>
      <p:sp>
        <p:nvSpPr>
          <p:cNvPr id="27" name="Text Box 1030"/>
          <p:cNvSpPr txBox="1">
            <a:spLocks noChangeArrowheads="1"/>
          </p:cNvSpPr>
          <p:nvPr>
            <p:custDataLst>
              <p:tags r:id="rId44"/>
            </p:custDataLst>
          </p:nvPr>
        </p:nvSpPr>
        <p:spPr bwMode="auto">
          <a:xfrm>
            <a:off x="5551170" y="3898900"/>
            <a:ext cx="1864360" cy="41402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沉淀到私域</a:t>
            </a:r>
            <a:endParaRPr lang="zh-CN" altLang="en-US" sz="1400" dirty="0">
              <a:solidFill>
                <a:srgbClr val="383838"/>
              </a:solidFill>
              <a:latin typeface="微软雅黑"/>
              <a:ea typeface="微软雅黑"/>
              <a:cs typeface="微软雅黑"/>
            </a:endParaRPr>
          </a:p>
        </p:txBody>
      </p:sp>
      <p:sp>
        <p:nvSpPr>
          <p:cNvPr id="28" name="Text Box 1030"/>
          <p:cNvSpPr txBox="1">
            <a:spLocks noChangeArrowheads="1"/>
          </p:cNvSpPr>
          <p:nvPr>
            <p:custDataLst>
              <p:tags r:id="rId45"/>
            </p:custDataLst>
          </p:nvPr>
        </p:nvSpPr>
        <p:spPr bwMode="auto">
          <a:xfrm>
            <a:off x="7942580" y="2990850"/>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实物购物体验</a:t>
            </a:r>
            <a:endParaRPr lang="zh-CN" altLang="en-US" sz="1200" dirty="0">
              <a:solidFill>
                <a:srgbClr val="383838"/>
              </a:solidFill>
              <a:latin typeface="微软雅黑"/>
              <a:ea typeface="微软雅黑"/>
              <a:cs typeface="微软雅黑"/>
            </a:endParaRPr>
          </a:p>
        </p:txBody>
      </p:sp>
      <p:sp>
        <p:nvSpPr>
          <p:cNvPr id="29" name="Text Box 1030"/>
          <p:cNvSpPr txBox="1">
            <a:spLocks noChangeArrowheads="1"/>
          </p:cNvSpPr>
          <p:nvPr>
            <p:custDataLst>
              <p:tags r:id="rId46"/>
            </p:custDataLst>
          </p:nvPr>
        </p:nvSpPr>
        <p:spPr bwMode="auto">
          <a:xfrm>
            <a:off x="8107680" y="3416935"/>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自提</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到店模式</a:t>
            </a:r>
            <a:endParaRPr lang="zh-CN" altLang="en-US" sz="1200" dirty="0">
              <a:solidFill>
                <a:srgbClr val="383838"/>
              </a:solidFill>
              <a:latin typeface="微软雅黑"/>
              <a:ea typeface="微软雅黑"/>
              <a:cs typeface="微软雅黑"/>
            </a:endParaRPr>
          </a:p>
        </p:txBody>
      </p:sp>
      <p:sp>
        <p:nvSpPr>
          <p:cNvPr id="30" name="Text Box 1030"/>
          <p:cNvSpPr txBox="1">
            <a:spLocks noChangeArrowheads="1"/>
          </p:cNvSpPr>
          <p:nvPr>
            <p:custDataLst>
              <p:tags r:id="rId47"/>
            </p:custDataLst>
          </p:nvPr>
        </p:nvSpPr>
        <p:spPr bwMode="auto">
          <a:xfrm>
            <a:off x="8154670" y="3872230"/>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所见即实物</a:t>
            </a:r>
            <a:endParaRPr lang="zh-CN" altLang="en-US" sz="1200" dirty="0">
              <a:solidFill>
                <a:srgbClr val="383838"/>
              </a:solidFill>
              <a:latin typeface="微软雅黑"/>
              <a:ea typeface="微软雅黑"/>
              <a:cs typeface="微软雅黑"/>
            </a:endParaRPr>
          </a:p>
        </p:txBody>
      </p:sp>
      <p:sp>
        <p:nvSpPr>
          <p:cNvPr id="31" name="Text Box 1030"/>
          <p:cNvSpPr txBox="1">
            <a:spLocks noChangeArrowheads="1"/>
          </p:cNvSpPr>
          <p:nvPr>
            <p:custDataLst>
              <p:tags r:id="rId48"/>
            </p:custDataLst>
          </p:nvPr>
        </p:nvSpPr>
        <p:spPr bwMode="auto">
          <a:xfrm>
            <a:off x="8019415" y="4371975"/>
            <a:ext cx="1864360" cy="36830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a:spAutoFit/>
          </a:bodyPr>
          <a:lstStyle>
            <a:lvl1pPr eaLnBrk="0" hangingPunct="0">
              <a:defRPr kumimoji="1" sz="1600">
                <a:solidFill>
                  <a:srgbClr val="383838"/>
                </a:solidFill>
                <a:latin typeface="微软雅黑"/>
                <a:ea typeface="微软雅黑"/>
                <a:cs typeface="微软雅黑"/>
              </a:defRPr>
            </a:lvl1pPr>
            <a:lvl2pPr marL="742950" indent="-285750" eaLnBrk="0" hangingPunct="0">
              <a:defRPr kumimoji="1" sz="1600">
                <a:solidFill>
                  <a:srgbClr val="383838"/>
                </a:solidFill>
                <a:latin typeface="微软雅黑"/>
                <a:ea typeface="微软雅黑"/>
                <a:cs typeface="微软雅黑"/>
              </a:defRPr>
            </a:lvl2pPr>
            <a:lvl3pPr marL="1143000" indent="-228600" eaLnBrk="0" hangingPunct="0">
              <a:defRPr kumimoji="1" sz="1600">
                <a:solidFill>
                  <a:srgbClr val="383838"/>
                </a:solidFill>
                <a:latin typeface="微软雅黑"/>
                <a:ea typeface="微软雅黑"/>
                <a:cs typeface="微软雅黑"/>
              </a:defRPr>
            </a:lvl3pPr>
            <a:lvl4pPr marL="1600200" indent="-228600" eaLnBrk="0" hangingPunct="0">
              <a:defRPr kumimoji="1" sz="1600">
                <a:solidFill>
                  <a:srgbClr val="383838"/>
                </a:solidFill>
                <a:latin typeface="微软雅黑"/>
                <a:ea typeface="微软雅黑"/>
                <a:cs typeface="微软雅黑"/>
              </a:defRPr>
            </a:lvl4pPr>
            <a:lvl5pPr marL="2057400" indent="-228600" eaLnBrk="0" hangingPunct="0">
              <a:defRPr kumimoji="1" sz="1600">
                <a:solidFill>
                  <a:srgbClr val="383838"/>
                </a:solidFill>
                <a:latin typeface="微软雅黑"/>
                <a:ea typeface="微软雅黑"/>
                <a:cs typeface="微软雅黑"/>
              </a:defRPr>
            </a:lvl5pPr>
            <a:lvl6pPr marL="2514600" indent="-228600" eaLnBrk="0" fontAlgn="base" hangingPunct="0">
              <a:spcBef>
                <a:spcPct val="0"/>
              </a:spcBef>
              <a:spcAft>
                <a:spcPct val="0"/>
              </a:spcAft>
              <a:defRPr kumimoji="1" sz="1600">
                <a:solidFill>
                  <a:srgbClr val="383838"/>
                </a:solidFill>
                <a:latin typeface="微软雅黑"/>
                <a:ea typeface="微软雅黑"/>
                <a:cs typeface="微软雅黑"/>
              </a:defRPr>
            </a:lvl6pPr>
            <a:lvl7pPr marL="2971800" indent="-228600" eaLnBrk="0" fontAlgn="base" hangingPunct="0">
              <a:spcBef>
                <a:spcPct val="0"/>
              </a:spcBef>
              <a:spcAft>
                <a:spcPct val="0"/>
              </a:spcAft>
              <a:defRPr kumimoji="1" sz="1600">
                <a:solidFill>
                  <a:srgbClr val="383838"/>
                </a:solidFill>
                <a:latin typeface="微软雅黑"/>
                <a:ea typeface="微软雅黑"/>
                <a:cs typeface="微软雅黑"/>
              </a:defRPr>
            </a:lvl7pPr>
            <a:lvl8pPr marL="3429000" indent="-228600" eaLnBrk="0" fontAlgn="base" hangingPunct="0">
              <a:spcBef>
                <a:spcPct val="0"/>
              </a:spcBef>
              <a:spcAft>
                <a:spcPct val="0"/>
              </a:spcAft>
              <a:defRPr kumimoji="1" sz="1600">
                <a:solidFill>
                  <a:srgbClr val="383838"/>
                </a:solidFill>
                <a:latin typeface="微软雅黑"/>
                <a:ea typeface="微软雅黑"/>
                <a:cs typeface="微软雅黑"/>
              </a:defRPr>
            </a:lvl8pPr>
            <a:lvl9pPr marL="3886200" indent="-228600" eaLnBrk="0" fontAlgn="base" hangingPunct="0">
              <a:spcBef>
                <a:spcPct val="0"/>
              </a:spcBef>
              <a:spcAft>
                <a:spcPct val="0"/>
              </a:spcAft>
              <a:defRPr kumimoji="1" sz="1600">
                <a:solidFill>
                  <a:srgbClr val="383838"/>
                </a:solidFill>
                <a:latin typeface="微软雅黑"/>
                <a:ea typeface="微软雅黑"/>
                <a:cs typeface="微软雅黑"/>
              </a:defRPr>
            </a:lvl9pPr>
          </a:lstStyle>
          <a:p>
            <a:pPr eaLnBrk="1" hangingPunct="1">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时间成本高</a:t>
            </a:r>
            <a:endParaRPr lang="zh-CN" altLang="en-US" sz="1200" dirty="0">
              <a:solidFill>
                <a:srgbClr val="383838"/>
              </a:solidFill>
              <a:latin typeface="微软雅黑"/>
              <a:ea typeface="微软雅黑"/>
              <a:cs typeface="微软雅黑"/>
            </a:endParaRPr>
          </a:p>
        </p:txBody>
      </p:sp>
      <p:sp>
        <p:nvSpPr>
          <p:cNvPr id="32" name="上箭头 24"/>
          <p:cNvSpPr/>
          <p:nvPr>
            <p:custDataLst>
              <p:tags r:id="rId49"/>
            </p:custDataLst>
          </p:nvPr>
        </p:nvSpPr>
        <p:spPr>
          <a:xfrm flipV="1">
            <a:off x="5883910" y="4719320"/>
            <a:ext cx="323215" cy="359410"/>
          </a:xfrm>
          <a:prstGeom prst="upArrow">
            <a:avLst/>
          </a:prstGeom>
          <a:gradFill flip="none" rotWithShape="1">
            <a:gsLst>
              <a:gs pos="0">
                <a:srgbClr val="3368FF"/>
              </a:gs>
              <a:gs pos="100000">
                <a:srgbClr val="3368FF">
                  <a:alpha val="0"/>
                </a:srgbClr>
              </a:gs>
            </a:gsLst>
            <a:lin ang="5400000" scaled="1"/>
            <a:tileRect/>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cxnSp>
        <p:nvCxnSpPr>
          <p:cNvPr id="252" name="直线连接符 50"/>
          <p:cNvCxnSpPr/>
          <p:nvPr>
            <p:custDataLst>
              <p:tags r:id="rId50"/>
            </p:custDataLst>
          </p:nvPr>
        </p:nvCxnSpPr>
        <p:spPr>
          <a:xfrm flipH="1">
            <a:off x="7252335" y="3194050"/>
            <a:ext cx="690245" cy="3810"/>
          </a:xfrm>
          <a:prstGeom prst="line">
            <a:avLst/>
          </a:prstGeom>
          <a:noFill/>
          <a:ln w="12700" cap="flat" cmpd="sng" algn="ctr">
            <a:solidFill>
              <a:srgbClr val="B3D4FE"/>
            </a:solidFill>
            <a:prstDash val="dash"/>
            <a:headEnd type="triangle"/>
          </a:ln>
          <a:effectLst/>
        </p:spPr>
      </p:cxnSp>
      <p:sp>
        <p:nvSpPr>
          <p:cNvPr id="280" name="三角形 19"/>
          <p:cNvSpPr/>
          <p:nvPr>
            <p:custDataLst>
              <p:tags r:id="rId51"/>
            </p:custDataLst>
          </p:nvPr>
        </p:nvSpPr>
        <p:spPr>
          <a:xfrm rot="10800000">
            <a:off x="10144125" y="3797300"/>
            <a:ext cx="127635" cy="144145"/>
          </a:xfrm>
          <a:prstGeom prst="triangle">
            <a:avLst/>
          </a:prstGeom>
          <a:solidFill>
            <a:srgbClr val="B3D4FE"/>
          </a:solidFill>
          <a:ln w="25400" cap="flat" cmpd="sng" algn="ctr">
            <a:noFill/>
            <a:prstDash val="solid"/>
          </a:ln>
          <a:effectLst/>
        </p:spPr>
        <p:txBody>
          <a:bodyPr rtlCol="0" anchor="ctr" lIns="0" rIns="0" tIns="0" bIns="0"/>
          <a:lstStyle/>
          <a:p>
            <a:pPr algn="ctr">
              <a:defRPr>
                <a:latin typeface="微软雅黑"/>
                <a:ea typeface="微软雅黑"/>
                <a:cs typeface="微软雅黑"/>
              </a:defRPr>
            </a:pPr>
            <a:endParaRPr kumimoji="1" lang="zh-CN" altLang="en-US" dirty="0">
              <a:solidFill>
                <a:srgbClr val="0042FF"/>
              </a:solidFill>
              <a:latin typeface="微软雅黑"/>
              <a:ea typeface="微软雅黑"/>
              <a:cs typeface="微软雅黑"/>
            </a:endParaRPr>
          </a:p>
        </p:txBody>
      </p:sp>
      <p:sp>
        <p:nvSpPr>
          <p:cNvPr id="281" name="三角形 20"/>
          <p:cNvSpPr/>
          <p:nvPr>
            <p:custDataLst>
              <p:tags r:id="rId52"/>
            </p:custDataLst>
          </p:nvPr>
        </p:nvSpPr>
        <p:spPr>
          <a:xfrm rot="13074567">
            <a:off x="9924415" y="4472940"/>
            <a:ext cx="127635" cy="144145"/>
          </a:xfrm>
          <a:prstGeom prst="triangle">
            <a:avLst/>
          </a:prstGeom>
          <a:solidFill>
            <a:srgbClr val="B3D4FE"/>
          </a:solidFill>
          <a:ln w="25400" cap="flat" cmpd="sng" algn="ctr">
            <a:noFill/>
            <a:prstDash val="solid"/>
          </a:ln>
          <a:effectLst/>
        </p:spPr>
        <p:txBody>
          <a:bodyPr rtlCol="0" anchor="ctr" lIns="0" rIns="0" tIns="0" bIns="0"/>
          <a:lstStyle/>
          <a:p>
            <a:pPr algn="ctr">
              <a:defRPr>
                <a:latin typeface="微软雅黑"/>
                <a:ea typeface="微软雅黑"/>
                <a:cs typeface="微软雅黑"/>
              </a:defRPr>
            </a:pPr>
            <a:endParaRPr kumimoji="1" lang="zh-CN" altLang="en-US" dirty="0">
              <a:solidFill>
                <a:srgbClr val="0042FF"/>
              </a:solidFill>
              <a:latin typeface="微软雅黑"/>
              <a:ea typeface="微软雅黑"/>
              <a:cs typeface="微软雅黑"/>
            </a:endParaRPr>
          </a:p>
        </p:txBody>
      </p:sp>
      <p:sp>
        <p:nvSpPr>
          <p:cNvPr id="308" name="弧 61"/>
          <p:cNvSpPr/>
          <p:nvPr>
            <p:custDataLst>
              <p:tags r:id="rId53"/>
            </p:custDataLst>
          </p:nvPr>
        </p:nvSpPr>
        <p:spPr>
          <a:xfrm flipH="1">
            <a:off x="1896745" y="2962275"/>
            <a:ext cx="1788795" cy="1989455"/>
          </a:xfrm>
          <a:prstGeom prst="arc">
            <a:avLst>
              <a:gd name="adj1" fmla="val 16870261"/>
              <a:gd name="adj2" fmla="val 4621400"/>
            </a:avLst>
          </a:prstGeom>
          <a:noFill/>
          <a:ln w="13716" cap="flat" cmpd="sng" algn="ctr">
            <a:gradFill flip="none" rotWithShape="1">
              <a:gsLst>
                <a:gs pos="8000">
                  <a:srgbClr val="B3D4FE"/>
                </a:gs>
                <a:gs pos="0">
                  <a:srgbClr val="B3D4FE"/>
                </a:gs>
              </a:gsLst>
              <a:lin ang="10800000" scaled="1"/>
              <a:tileRect/>
            </a:gradFill>
            <a:prstDash val="dash"/>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18" name="三角形 68"/>
          <p:cNvSpPr/>
          <p:nvPr>
            <p:custDataLst>
              <p:tags r:id="rId54"/>
            </p:custDataLst>
          </p:nvPr>
        </p:nvSpPr>
        <p:spPr>
          <a:xfrm rot="8379606" flipH="1">
            <a:off x="2148205" y="4631055"/>
            <a:ext cx="127635" cy="144145"/>
          </a:xfrm>
          <a:prstGeom prst="triangle">
            <a:avLst/>
          </a:prstGeom>
          <a:solidFill>
            <a:srgbClr val="B3D4FE"/>
          </a:solidFill>
          <a:ln w="25400" cap="flat" cmpd="sng" algn="ctr">
            <a:noFill/>
            <a:prstDash val="solid"/>
          </a:ln>
          <a:effectLst/>
        </p:spPr>
        <p:txBody>
          <a:bodyPr rtlCol="0" anchor="ctr" lIns="0" rIns="0" tIns="0" bIns="0"/>
          <a:lstStyle/>
          <a:p>
            <a:pPr algn="ctr">
              <a:defRPr>
                <a:latin typeface="微软雅黑"/>
                <a:ea typeface="微软雅黑"/>
                <a:cs typeface="微软雅黑"/>
              </a:defRPr>
            </a:pPr>
            <a:endParaRPr kumimoji="1" lang="zh-CN" altLang="en-US" dirty="0">
              <a:solidFill>
                <a:srgbClr val="0042FF"/>
              </a:solidFill>
              <a:latin typeface="微软雅黑"/>
              <a:ea typeface="微软雅黑"/>
              <a:cs typeface="微软雅黑"/>
            </a:endParaRPr>
          </a:p>
        </p:txBody>
      </p:sp>
      <p:cxnSp>
        <p:nvCxnSpPr>
          <p:cNvPr id="350" name="直线连接符 97"/>
          <p:cNvCxnSpPr/>
          <p:nvPr>
            <p:custDataLst>
              <p:tags r:id="rId55"/>
            </p:custDataLst>
          </p:nvPr>
        </p:nvCxnSpPr>
        <p:spPr>
          <a:xfrm flipV="1">
            <a:off x="4133850" y="3211195"/>
            <a:ext cx="640080" cy="4445"/>
          </a:xfrm>
          <a:prstGeom prst="line">
            <a:avLst/>
          </a:prstGeom>
          <a:noFill/>
          <a:ln w="12700" cap="flat" cmpd="sng" algn="ctr">
            <a:solidFill>
              <a:srgbClr val="B3D4FE"/>
            </a:solidFill>
            <a:prstDash val="dash"/>
            <a:headEnd type="triangle"/>
          </a:ln>
          <a:effectLst/>
        </p:spPr>
      </p:cxnSp>
      <p:cxnSp>
        <p:nvCxnSpPr>
          <p:cNvPr id="351" name="直线连接符 97"/>
          <p:cNvCxnSpPr/>
          <p:nvPr>
            <p:custDataLst>
              <p:tags r:id="rId56"/>
            </p:custDataLst>
          </p:nvPr>
        </p:nvCxnSpPr>
        <p:spPr>
          <a:xfrm flipV="1">
            <a:off x="3828415" y="3637915"/>
            <a:ext cx="448945" cy="2540"/>
          </a:xfrm>
          <a:prstGeom prst="line">
            <a:avLst/>
          </a:prstGeom>
          <a:noFill/>
          <a:ln w="12700" cap="flat" cmpd="sng" algn="ctr">
            <a:solidFill>
              <a:srgbClr val="B3D4FE"/>
            </a:solidFill>
            <a:prstDash val="dash"/>
            <a:headEnd type="triangle"/>
          </a:ln>
          <a:effectLst/>
        </p:spPr>
      </p:cxnSp>
      <p:cxnSp>
        <p:nvCxnSpPr>
          <p:cNvPr id="352" name="直线连接符 97"/>
          <p:cNvCxnSpPr/>
          <p:nvPr>
            <p:custDataLst>
              <p:tags r:id="rId57"/>
            </p:custDataLst>
          </p:nvPr>
        </p:nvCxnSpPr>
        <p:spPr>
          <a:xfrm flipV="1">
            <a:off x="3809365" y="4088130"/>
            <a:ext cx="448945" cy="2540"/>
          </a:xfrm>
          <a:prstGeom prst="line">
            <a:avLst/>
          </a:prstGeom>
          <a:noFill/>
          <a:ln w="12700" cap="flat" cmpd="sng" algn="ctr">
            <a:solidFill>
              <a:srgbClr val="B3D4FE"/>
            </a:solidFill>
            <a:prstDash val="dash"/>
            <a:headEnd type="triangle"/>
          </a:ln>
          <a:effectLst/>
        </p:spPr>
      </p:cxnSp>
      <p:cxnSp>
        <p:nvCxnSpPr>
          <p:cNvPr id="353" name="直线连接符 97"/>
          <p:cNvCxnSpPr/>
          <p:nvPr>
            <p:custDataLst>
              <p:tags r:id="rId58"/>
            </p:custDataLst>
          </p:nvPr>
        </p:nvCxnSpPr>
        <p:spPr>
          <a:xfrm flipV="1">
            <a:off x="4191635" y="4559300"/>
            <a:ext cx="640080" cy="4445"/>
          </a:xfrm>
          <a:prstGeom prst="line">
            <a:avLst/>
          </a:prstGeom>
          <a:noFill/>
          <a:ln w="12700" cap="flat" cmpd="sng" algn="ctr">
            <a:solidFill>
              <a:srgbClr val="B3D4FE"/>
            </a:solidFill>
            <a:prstDash val="dash"/>
            <a:headEnd type="triangle"/>
          </a:ln>
          <a:effectLst/>
        </p:spPr>
      </p:cxnSp>
      <p:sp>
        <p:nvSpPr>
          <p:cNvPr id="354" name="三角形 65"/>
          <p:cNvSpPr/>
          <p:nvPr>
            <p:custDataLst>
              <p:tags r:id="rId59"/>
            </p:custDataLst>
          </p:nvPr>
        </p:nvSpPr>
        <p:spPr>
          <a:xfrm rot="13978339" flipH="1">
            <a:off x="2271395" y="3021965"/>
            <a:ext cx="127635" cy="144145"/>
          </a:xfrm>
          <a:prstGeom prst="triangle">
            <a:avLst/>
          </a:prstGeom>
          <a:solidFill>
            <a:srgbClr val="B3D4FE"/>
          </a:solidFill>
          <a:ln w="25400" cap="flat" cmpd="sng" algn="ctr">
            <a:noFill/>
            <a:prstDash val="solid"/>
          </a:ln>
          <a:effectLst/>
        </p:spPr>
        <p:txBody>
          <a:bodyPr rtlCol="0" anchor="ctr" lIns="0" rIns="0" tIns="0" bIns="0"/>
          <a:lstStyle/>
          <a:p>
            <a:pPr algn="ctr">
              <a:defRPr>
                <a:latin typeface="微软雅黑"/>
                <a:ea typeface="微软雅黑"/>
                <a:cs typeface="微软雅黑"/>
              </a:defRPr>
            </a:pPr>
            <a:endParaRPr kumimoji="1" lang="zh-CN" altLang="en-US" dirty="0">
              <a:solidFill>
                <a:srgbClr val="0042FF"/>
              </a:solidFill>
              <a:latin typeface="微软雅黑"/>
              <a:ea typeface="微软雅黑"/>
              <a:cs typeface="微软雅黑"/>
            </a:endParaRPr>
          </a:p>
        </p:txBody>
      </p:sp>
      <p:sp>
        <p:nvSpPr>
          <p:cNvPr id="355" name="三角形 66"/>
          <p:cNvSpPr/>
          <p:nvPr>
            <p:custDataLst>
              <p:tags r:id="rId60"/>
            </p:custDataLst>
          </p:nvPr>
        </p:nvSpPr>
        <p:spPr>
          <a:xfrm rot="11459271" flipH="1">
            <a:off x="1847850" y="3729990"/>
            <a:ext cx="127635" cy="144145"/>
          </a:xfrm>
          <a:prstGeom prst="triangle">
            <a:avLst/>
          </a:prstGeom>
          <a:solidFill>
            <a:srgbClr val="B3D4FE"/>
          </a:solidFill>
          <a:ln w="25400" cap="flat" cmpd="sng" algn="ctr">
            <a:noFill/>
            <a:prstDash val="solid"/>
          </a:ln>
          <a:effectLst/>
        </p:spPr>
        <p:txBody>
          <a:bodyPr rtlCol="0" anchor="ctr" lIns="0" rIns="0" tIns="0" bIns="0"/>
          <a:lstStyle/>
          <a:p>
            <a:pPr algn="ctr">
              <a:defRPr>
                <a:latin typeface="微软雅黑"/>
                <a:ea typeface="微软雅黑"/>
                <a:cs typeface="微软雅黑"/>
              </a:defRPr>
            </a:pPr>
            <a:endParaRPr kumimoji="1" lang="zh-CN" altLang="en-US" dirty="0">
              <a:solidFill>
                <a:srgbClr val="0042FF"/>
              </a:solidFill>
              <a:latin typeface="微软雅黑"/>
              <a:ea typeface="微软雅黑"/>
              <a:cs typeface="微软雅黑"/>
            </a:endParaRPr>
          </a:p>
        </p:txBody>
      </p:sp>
      <p:sp>
        <p:nvSpPr>
          <p:cNvPr id="356" name="矩形: 圆角 114"/>
          <p:cNvSpPr/>
          <p:nvPr>
            <p:custDataLst>
              <p:tags r:id="rId61"/>
            </p:custDataLst>
          </p:nvPr>
        </p:nvSpPr>
        <p:spPr>
          <a:xfrm flipH="1">
            <a:off x="1394460" y="3307080"/>
            <a:ext cx="1021715" cy="289560"/>
          </a:xfrm>
          <a:prstGeom prst="roundRect">
            <a:avLst>
              <a:gd name="adj" fmla="val 0"/>
            </a:avLst>
          </a:prstGeom>
          <a:solidFill>
            <a:srgbClr val="FFFFFF"/>
          </a:solidFill>
          <a:ln w="6350" cap="flat">
            <a:solidFill>
              <a:srgbClr val="B3D4FE">
                <a:alpha val="50000"/>
              </a:srgbClr>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dirty="0">
              <a:solidFill>
                <a:srgbClr val="0042FF">
                  <a:alpha val="80000"/>
                </a:srgbClr>
              </a:solidFill>
              <a:latin typeface="微软雅黑"/>
              <a:ea typeface="微软雅黑"/>
              <a:cs typeface="微软雅黑"/>
              <a:sym typeface="微软雅黑"/>
            </a:endParaRPr>
          </a:p>
        </p:txBody>
      </p:sp>
      <p:sp>
        <p:nvSpPr>
          <p:cNvPr id="357" name="Object60"/>
          <p:cNvSpPr/>
          <p:nvPr>
            <p:custDataLst>
              <p:tags r:id="rId62"/>
            </p:custDataLst>
          </p:nvPr>
        </p:nvSpPr>
        <p:spPr>
          <a:xfrm flipH="1">
            <a:off x="1500505" y="3369310"/>
            <a:ext cx="785495" cy="161290"/>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err="1">
                <a:solidFill>
                  <a:srgbClr val="383838"/>
                </a:solidFill>
                <a:latin typeface="微软雅黑"/>
                <a:ea typeface="微软雅黑"/>
                <a:cs typeface="微软雅黑"/>
              </a:rPr>
              <a:t>消费转化</a:t>
            </a:r>
            <a:endParaRPr lang="zh-CN" altLang="en-US" sz="1050" dirty="0" err="1">
              <a:solidFill>
                <a:srgbClr val="383838"/>
              </a:solidFill>
              <a:latin typeface="微软雅黑"/>
              <a:ea typeface="微软雅黑"/>
              <a:cs typeface="微软雅黑"/>
            </a:endParaRPr>
          </a:p>
        </p:txBody>
      </p:sp>
      <p:sp>
        <p:nvSpPr>
          <p:cNvPr id="358" name="矩形: 圆角 114"/>
          <p:cNvSpPr/>
          <p:nvPr>
            <p:custDataLst>
              <p:tags r:id="rId63"/>
            </p:custDataLst>
          </p:nvPr>
        </p:nvSpPr>
        <p:spPr>
          <a:xfrm flipH="1">
            <a:off x="1409065" y="4077970"/>
            <a:ext cx="1021715" cy="289560"/>
          </a:xfrm>
          <a:prstGeom prst="roundRect">
            <a:avLst>
              <a:gd name="adj" fmla="val 0"/>
            </a:avLst>
          </a:prstGeom>
          <a:solidFill>
            <a:srgbClr val="FFFFFF"/>
          </a:solidFill>
          <a:ln w="6350" cap="flat">
            <a:solidFill>
              <a:srgbClr val="B3D4FE">
                <a:alpha val="50000"/>
              </a:srgbClr>
            </a:solidFill>
            <a:prstDash val="solid"/>
            <a:miter lim="800000"/>
          </a:ln>
          <a:effectLst/>
          <a:sp3d/>
        </p:spPr>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dirty="0">
              <a:solidFill>
                <a:srgbClr val="0042FF">
                  <a:alpha val="80000"/>
                </a:srgbClr>
              </a:solidFill>
              <a:latin typeface="微软雅黑"/>
              <a:ea typeface="微软雅黑"/>
              <a:cs typeface="微软雅黑"/>
            </a:endParaRPr>
          </a:p>
        </p:txBody>
      </p:sp>
      <p:sp>
        <p:nvSpPr>
          <p:cNvPr id="359" name="Object60"/>
          <p:cNvSpPr/>
          <p:nvPr>
            <p:custDataLst>
              <p:tags r:id="rId64"/>
            </p:custDataLst>
          </p:nvPr>
        </p:nvSpPr>
        <p:spPr>
          <a:xfrm flipH="1">
            <a:off x="1517015" y="4158615"/>
            <a:ext cx="785495" cy="161290"/>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a:solidFill>
                  <a:srgbClr val="383838"/>
                </a:solidFill>
                <a:latin typeface="微软雅黑"/>
                <a:ea typeface="微软雅黑"/>
                <a:cs typeface="微软雅黑"/>
              </a:rPr>
              <a:t>精细运营</a:t>
            </a:r>
            <a:endParaRPr lang="zh-CN" altLang="en-US" sz="1050" dirty="0">
              <a:solidFill>
                <a:srgbClr val="383838"/>
              </a:solidFill>
              <a:latin typeface="微软雅黑"/>
              <a:ea typeface="微软雅黑"/>
              <a:cs typeface="微软雅黑"/>
            </a:endParaRPr>
          </a:p>
        </p:txBody>
      </p:sp>
      <p:sp>
        <p:nvSpPr>
          <p:cNvPr id="360" name="弧 61"/>
          <p:cNvSpPr/>
          <p:nvPr>
            <p:custDataLst>
              <p:tags r:id="rId65"/>
            </p:custDataLst>
          </p:nvPr>
        </p:nvSpPr>
        <p:spPr>
          <a:xfrm>
            <a:off x="8159115" y="2919730"/>
            <a:ext cx="2061210" cy="1989455"/>
          </a:xfrm>
          <a:prstGeom prst="arc">
            <a:avLst>
              <a:gd name="adj1" fmla="val 16870261"/>
              <a:gd name="adj2" fmla="val 4621400"/>
            </a:avLst>
          </a:prstGeom>
          <a:noFill/>
          <a:ln w="13716" cap="flat" cmpd="sng" algn="ctr">
            <a:gradFill flip="none" rotWithShape="1">
              <a:gsLst>
                <a:gs pos="0">
                  <a:srgbClr val="B3D4FE"/>
                </a:gs>
                <a:gs pos="4000">
                  <a:srgbClr val="B3D4FE"/>
                </a:gs>
              </a:gsLst>
              <a:lin ang="10800000" scaled="1"/>
              <a:tileRect/>
            </a:gradFill>
            <a:prstDash val="dash"/>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61" name="三角形 18"/>
          <p:cNvSpPr/>
          <p:nvPr>
            <p:custDataLst>
              <p:tags r:id="rId66"/>
            </p:custDataLst>
          </p:nvPr>
        </p:nvSpPr>
        <p:spPr>
          <a:xfrm rot="8701660">
            <a:off x="9857740" y="3139440"/>
            <a:ext cx="127635" cy="144145"/>
          </a:xfrm>
          <a:prstGeom prst="triangle">
            <a:avLst/>
          </a:prstGeom>
          <a:solidFill>
            <a:srgbClr val="B3D4FE"/>
          </a:solidFill>
          <a:ln w="25400" cap="flat" cmpd="sng" algn="ctr">
            <a:noFill/>
            <a:prstDash val="solid"/>
          </a:ln>
          <a:effectLst/>
        </p:spPr>
        <p:txBody>
          <a:bodyPr rtlCol="0" anchor="ctr" lIns="0" rIns="0" tIns="0" bIns="0"/>
          <a:lstStyle/>
          <a:p>
            <a:pPr algn="ctr">
              <a:defRPr>
                <a:latin typeface="微软雅黑"/>
                <a:ea typeface="微软雅黑"/>
                <a:cs typeface="微软雅黑"/>
              </a:defRPr>
            </a:pPr>
            <a:endParaRPr kumimoji="1" lang="zh-CN" altLang="en-US" dirty="0">
              <a:solidFill>
                <a:srgbClr val="0042FF"/>
              </a:solidFill>
              <a:latin typeface="微软雅黑"/>
              <a:ea typeface="微软雅黑"/>
              <a:cs typeface="微软雅黑"/>
            </a:endParaRPr>
          </a:p>
        </p:txBody>
      </p:sp>
      <p:cxnSp>
        <p:nvCxnSpPr>
          <p:cNvPr id="363" name="直线连接符 97"/>
          <p:cNvCxnSpPr/>
          <p:nvPr>
            <p:custDataLst>
              <p:tags r:id="rId67"/>
            </p:custDataLst>
          </p:nvPr>
        </p:nvCxnSpPr>
        <p:spPr>
          <a:xfrm flipH="1">
            <a:off x="7818120" y="3638550"/>
            <a:ext cx="344170" cy="1905"/>
          </a:xfrm>
          <a:prstGeom prst="line">
            <a:avLst/>
          </a:prstGeom>
          <a:noFill/>
          <a:ln w="12700" cap="flat" cmpd="sng" algn="ctr">
            <a:solidFill>
              <a:srgbClr val="B3D4FE"/>
            </a:solidFill>
            <a:prstDash val="dash"/>
            <a:headEnd type="triangle"/>
          </a:ln>
          <a:effectLst/>
        </p:spPr>
      </p:cxnSp>
      <p:cxnSp>
        <p:nvCxnSpPr>
          <p:cNvPr id="364" name="直线连接符 97"/>
          <p:cNvCxnSpPr/>
          <p:nvPr>
            <p:custDataLst>
              <p:tags r:id="rId68"/>
            </p:custDataLst>
          </p:nvPr>
        </p:nvCxnSpPr>
        <p:spPr>
          <a:xfrm flipH="1">
            <a:off x="7833995" y="4109085"/>
            <a:ext cx="344170" cy="1905"/>
          </a:xfrm>
          <a:prstGeom prst="line">
            <a:avLst/>
          </a:prstGeom>
          <a:noFill/>
          <a:ln w="12700" cap="flat" cmpd="sng" algn="ctr">
            <a:solidFill>
              <a:srgbClr val="B3D4FE"/>
            </a:solidFill>
            <a:prstDash val="dash"/>
            <a:headEnd type="triangle"/>
          </a:ln>
          <a:effectLst/>
        </p:spPr>
      </p:cxnSp>
      <p:cxnSp>
        <p:nvCxnSpPr>
          <p:cNvPr id="365" name="直线连接符 50"/>
          <p:cNvCxnSpPr>
            <a:stCxn id="31" idx="1"/>
            <a:endCxn id="143" idx="6"/>
          </p:cNvCxnSpPr>
          <p:nvPr>
            <p:custDataLst>
              <p:tags r:id="rId69"/>
            </p:custDataLst>
          </p:nvPr>
        </p:nvCxnSpPr>
        <p:spPr>
          <a:xfrm flipH="1">
            <a:off x="7303135" y="4556125"/>
            <a:ext cx="716280" cy="8255"/>
          </a:xfrm>
          <a:prstGeom prst="line">
            <a:avLst/>
          </a:prstGeom>
          <a:noFill/>
          <a:ln w="12700" cap="flat" cmpd="sng" algn="ctr">
            <a:solidFill>
              <a:srgbClr val="B3D4FE"/>
            </a:solidFill>
            <a:prstDash val="dash"/>
            <a:headEnd type="triangle"/>
          </a:ln>
          <a:effectLst/>
        </p:spPr>
      </p:cxnSp>
      <p:cxnSp>
        <p:nvCxnSpPr>
          <p:cNvPr id="366" name="直线箭头连接符 156"/>
          <p:cNvCxnSpPr/>
          <p:nvPr>
            <p:custDataLst>
              <p:tags r:id="rId70"/>
            </p:custDataLst>
          </p:nvPr>
        </p:nvCxnSpPr>
        <p:spPr>
          <a:xfrm>
            <a:off x="793750" y="2929890"/>
            <a:ext cx="0" cy="475615"/>
          </a:xfrm>
          <a:prstGeom prst="straightConnector1">
            <a:avLst/>
          </a:prstGeom>
          <a:noFill/>
          <a:ln w="6350" cap="flat" cmpd="sng" algn="ctr">
            <a:solidFill>
              <a:srgbClr val="B3D4FE"/>
            </a:solidFill>
            <a:prstDash val="solid"/>
            <a:miter lim="800000"/>
            <a:headEnd type="triangle"/>
            <a:tailEnd type="none"/>
          </a:ln>
          <a:effectLst/>
        </p:spPr>
      </p:cxnSp>
      <p:sp>
        <p:nvSpPr>
          <p:cNvPr id="367" name="Disclaimer"/>
          <p:cNvSpPr/>
          <p:nvPr>
            <p:custDataLst>
              <p:tags r:id="rId71"/>
            </p:custDataLst>
          </p:nvPr>
        </p:nvSpPr>
        <p:spPr>
          <a:xfrm>
            <a:off x="398145" y="3391535"/>
            <a:ext cx="877570" cy="879475"/>
          </a:xfrm>
          <a:prstGeom prst="roundRect">
            <a:avLst>
              <a:gd name="adj" fmla="val 0"/>
            </a:avLst>
          </a:prstGeom>
          <a:noFill/>
          <a:ln w="19050" cap="flat" cmpd="sng" algn="ctr">
            <a:noFill/>
            <a:prstDash val="solid"/>
            <a:miter lim="800000"/>
          </a:ln>
          <a:effectLst/>
          <a:extLst>
            <a:ext uri="{909E8E84-426E-40DD-AFC4-6F175D3DCCD1}">
              <a14:hiddenFill xmlns:a14="http://schemas.microsoft.com/office/drawing/2010/main">
                <a:solidFill>
                  <a:srgbClr val="0042FF">
                    <a:alpha val="5000"/>
                  </a:srgbClr>
                </a:solidFill>
              </a14:hiddenFill>
            </a:ext>
          </a:extLst>
        </p:spPr>
        <p:txBody>
          <a:bodyPr wrap="square" lIns="0" tIns="0" rIns="0" bIns="0" rtlCol="0" anchor="ctr" anchorCtr="0">
            <a:sp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100" b="1">
                <a:ln>
                  <a:noFill/>
                </a:ln>
                <a:solidFill>
                  <a:srgbClr val="383838"/>
                </a:solidFill>
                <a:effectLst/>
                <a:uLnTx/>
                <a:uFillTx/>
                <a:latin typeface="微软雅黑"/>
                <a:ea typeface="微软雅黑"/>
                <a:cs typeface="微软雅黑"/>
                <a:sym typeface="微软雅黑"/>
              </a:rPr>
              <a:t>组织意义</a:t>
            </a:r>
            <a:endParaRPr lang="zh-CN" altLang="en-US" sz="110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100">
                <a:ln>
                  <a:noFill/>
                </a:ln>
                <a:solidFill>
                  <a:srgbClr val="383838"/>
                </a:solidFill>
                <a:effectLst/>
                <a:uLnTx/>
                <a:uFillTx/>
                <a:latin typeface="微软雅黑"/>
                <a:ea typeface="微软雅黑"/>
                <a:cs typeface="微软雅黑"/>
                <a:sym typeface="微软雅黑"/>
              </a:rPr>
              <a:t>从电商运营向全链路人群运营延展</a:t>
            </a:r>
            <a:endParaRPr lang="zh-CN" altLang="en-US" sz="1100">
              <a:ln>
                <a:noFill/>
              </a:ln>
              <a:solidFill>
                <a:srgbClr val="383838"/>
              </a:solidFill>
              <a:effectLst/>
              <a:uLnTx/>
              <a:uFillTx/>
              <a:latin typeface="微软雅黑"/>
              <a:ea typeface="微软雅黑"/>
              <a:cs typeface="微软雅黑"/>
              <a:sym typeface="微软雅黑"/>
            </a:endParaRPr>
          </a:p>
        </p:txBody>
      </p:sp>
      <p:sp>
        <p:nvSpPr>
          <p:cNvPr id="368" name="矩形: 圆角 114"/>
          <p:cNvSpPr/>
          <p:nvPr>
            <p:custDataLst>
              <p:tags r:id="rId72"/>
            </p:custDataLst>
          </p:nvPr>
        </p:nvSpPr>
        <p:spPr>
          <a:xfrm flipH="1">
            <a:off x="9650730" y="4046855"/>
            <a:ext cx="1021715" cy="289560"/>
          </a:xfrm>
          <a:prstGeom prst="roundRect">
            <a:avLst>
              <a:gd name="adj" fmla="val 0"/>
            </a:avLst>
          </a:prstGeom>
          <a:solidFill>
            <a:srgbClr val="FFFFFF"/>
          </a:solidFill>
          <a:ln w="6350" cap="flat">
            <a:solidFill>
              <a:srgbClr val="B3D4FE">
                <a:alpha val="50000"/>
              </a:srgbClr>
            </a:solidFill>
            <a:prstDash val="solid"/>
            <a:miter lim="800000"/>
          </a:ln>
          <a:effectLst/>
          <a:sp3d/>
        </p:spPr>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dirty="0">
              <a:solidFill>
                <a:srgbClr val="0042FF">
                  <a:alpha val="80000"/>
                </a:srgbClr>
              </a:solidFill>
              <a:latin typeface="微软雅黑"/>
              <a:ea typeface="微软雅黑"/>
              <a:cs typeface="微软雅黑"/>
            </a:endParaRPr>
          </a:p>
        </p:txBody>
      </p:sp>
      <p:sp>
        <p:nvSpPr>
          <p:cNvPr id="369" name="Object60"/>
          <p:cNvSpPr/>
          <p:nvPr>
            <p:custDataLst>
              <p:tags r:id="rId73"/>
            </p:custDataLst>
          </p:nvPr>
        </p:nvSpPr>
        <p:spPr>
          <a:xfrm flipH="1">
            <a:off x="9736455" y="4097655"/>
            <a:ext cx="890905" cy="161290"/>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a:solidFill>
                  <a:srgbClr val="383838"/>
                </a:solidFill>
                <a:latin typeface="微软雅黑"/>
                <a:ea typeface="微软雅黑"/>
                <a:cs typeface="微软雅黑"/>
              </a:rPr>
              <a:t>私域触达</a:t>
            </a:r>
            <a:endParaRPr lang="zh-CN" altLang="en-US" sz="1050" dirty="0">
              <a:solidFill>
                <a:srgbClr val="383838"/>
              </a:solidFill>
              <a:latin typeface="微软雅黑"/>
              <a:ea typeface="微软雅黑"/>
              <a:cs typeface="微软雅黑"/>
            </a:endParaRPr>
          </a:p>
        </p:txBody>
      </p:sp>
      <p:sp>
        <p:nvSpPr>
          <p:cNvPr id="370" name="矩形: 圆角 114"/>
          <p:cNvSpPr/>
          <p:nvPr>
            <p:custDataLst>
              <p:tags r:id="rId74"/>
            </p:custDataLst>
          </p:nvPr>
        </p:nvSpPr>
        <p:spPr>
          <a:xfrm flipH="1">
            <a:off x="9676130" y="3416935"/>
            <a:ext cx="1021715" cy="289560"/>
          </a:xfrm>
          <a:prstGeom prst="roundRect">
            <a:avLst>
              <a:gd name="adj" fmla="val 0"/>
            </a:avLst>
          </a:prstGeom>
          <a:solidFill>
            <a:srgbClr val="FFFFFF"/>
          </a:solidFill>
          <a:ln w="6350" cap="flat">
            <a:solidFill>
              <a:srgbClr val="B3D4FE">
                <a:alpha val="50000"/>
              </a:srgbClr>
            </a:solidFill>
            <a:prstDash val="solid"/>
            <a:miter lim="800000"/>
          </a:ln>
          <a:effectLst/>
          <a:sp3d/>
        </p:spPr>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dirty="0">
              <a:solidFill>
                <a:srgbClr val="0042FF">
                  <a:alpha val="80000"/>
                </a:srgbClr>
              </a:solidFill>
              <a:latin typeface="微软雅黑"/>
              <a:ea typeface="微软雅黑"/>
              <a:cs typeface="微软雅黑"/>
            </a:endParaRPr>
          </a:p>
        </p:txBody>
      </p:sp>
      <p:sp>
        <p:nvSpPr>
          <p:cNvPr id="371" name="Object60"/>
          <p:cNvSpPr/>
          <p:nvPr>
            <p:custDataLst>
              <p:tags r:id="rId75"/>
            </p:custDataLst>
          </p:nvPr>
        </p:nvSpPr>
        <p:spPr>
          <a:xfrm flipH="1">
            <a:off x="9761855" y="3467735"/>
            <a:ext cx="890905" cy="161290"/>
          </a:xfrm>
          <a:prstGeom prst="rect">
            <a:avLst/>
          </a:prstGeom>
          <a:noFill/>
        </p:spPr>
        <p:txBody>
          <a:bodyPr wrap="square" lIns="0" tIns="0" rIns="0" bIns="0" rtlCol="0" anchor="t">
            <a:spAutoFit/>
          </a:bodyPr>
          <a:lstStyle/>
          <a:p>
            <a:pPr algn="ctr" defTabSz="731520">
              <a:defRPr>
                <a:latin typeface="微软雅黑"/>
                <a:ea typeface="微软雅黑"/>
                <a:cs typeface="微软雅黑"/>
              </a:defRPr>
            </a:pPr>
            <a:r>
              <a:rPr lang="zh-CN" altLang="en-US" sz="1050" dirty="0">
                <a:solidFill>
                  <a:srgbClr val="383838"/>
                </a:solidFill>
                <a:latin typeface="微软雅黑"/>
                <a:ea typeface="微软雅黑"/>
                <a:cs typeface="微软雅黑"/>
              </a:rPr>
              <a:t>公域引流</a:t>
            </a:r>
            <a:endParaRPr lang="zh-CN" altLang="en-US" sz="1050" dirty="0">
              <a:solidFill>
                <a:srgbClr val="383838"/>
              </a:solidFill>
              <a:latin typeface="微软雅黑"/>
              <a:ea typeface="微软雅黑"/>
              <a:cs typeface="微软雅黑"/>
            </a:endParaRPr>
          </a:p>
        </p:txBody>
      </p:sp>
      <p:sp>
        <p:nvSpPr>
          <p:cNvPr id="48" name="textbox 2040"/>
          <p:cNvSpPr/>
          <p:nvPr>
            <p:custDataLst>
              <p:tags r:id="rId76"/>
            </p:custDataLst>
          </p:nvPr>
        </p:nvSpPr>
        <p:spPr>
          <a:xfrm>
            <a:off x="1989455" y="1741170"/>
            <a:ext cx="1005840" cy="174625"/>
          </a:xfrm>
          <a:prstGeom prst="rect">
            <a:avLst/>
          </a:prstGeom>
        </p:spPr>
        <p:txBody>
          <a:bodyPr vert="horz" wrap="square" lIns="0" tIns="0" rIns="0" bIns="0"/>
          <a:lstStyle/>
          <a:p>
            <a:pPr algn="ctr" rtl="0" eaLnBrk="0">
              <a:lnSpc>
                <a:spcPct val="85000"/>
              </a:lnSpc>
              <a:defRPr>
                <a:latin typeface="微软雅黑"/>
                <a:ea typeface="微软雅黑"/>
                <a:cs typeface="微软雅黑"/>
              </a:defRPr>
            </a:pPr>
            <a:r>
              <a:rPr lang="zh-CN" altLang="en-US" sz="1400" dirty="0">
                <a:solidFill>
                  <a:srgbClr val="383838"/>
                </a:solidFill>
                <a:latin typeface="微软雅黑"/>
                <a:ea typeface="微软雅黑"/>
                <a:cs typeface="微软雅黑"/>
              </a:rPr>
              <a:t>网络安全</a:t>
            </a:r>
            <a:endParaRPr lang="zh-CN" altLang="en-US" sz="1400" dirty="0">
              <a:solidFill>
                <a:srgbClr val="383838"/>
              </a:solidFill>
              <a:latin typeface="微软雅黑"/>
              <a:ea typeface="微软雅黑"/>
              <a:cs typeface="微软雅黑"/>
            </a:endParaRPr>
          </a:p>
        </p:txBody>
      </p:sp>
      <p:sp>
        <p:nvSpPr>
          <p:cNvPr id="56" name="textbox 2040"/>
          <p:cNvSpPr/>
          <p:nvPr>
            <p:custDataLst>
              <p:tags r:id="rId77"/>
            </p:custDataLst>
          </p:nvPr>
        </p:nvSpPr>
        <p:spPr>
          <a:xfrm>
            <a:off x="3253740" y="1741170"/>
            <a:ext cx="1198880" cy="174625"/>
          </a:xfrm>
          <a:prstGeom prst="rect">
            <a:avLst/>
          </a:prstGeom>
        </p:spPr>
        <p:txBody>
          <a:bodyPr vert="horz" wrap="square" lIns="0" tIns="0" rIns="0" bIns="0"/>
          <a:lstStyle/>
          <a:p>
            <a:pPr algn="ctr" rtl="0" eaLnBrk="0">
              <a:lnSpc>
                <a:spcPct val="85000"/>
              </a:lnSpc>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数据资产安全</a:t>
            </a:r>
            <a:endParaRPr lang="zh-CN" altLang="en-US" sz="1400" dirty="0">
              <a:solidFill>
                <a:srgbClr val="383838"/>
              </a:solidFill>
              <a:latin typeface="微软雅黑"/>
              <a:ea typeface="微软雅黑"/>
              <a:cs typeface="微软雅黑"/>
              <a:sym typeface="微软雅黑"/>
            </a:endParaRPr>
          </a:p>
        </p:txBody>
      </p:sp>
      <p:sp>
        <p:nvSpPr>
          <p:cNvPr id="65" name="textbox 2040"/>
          <p:cNvSpPr/>
          <p:nvPr>
            <p:custDataLst>
              <p:tags r:id="rId78"/>
            </p:custDataLst>
          </p:nvPr>
        </p:nvSpPr>
        <p:spPr>
          <a:xfrm>
            <a:off x="7461250" y="1741170"/>
            <a:ext cx="1202055" cy="174625"/>
          </a:xfrm>
          <a:prstGeom prst="rect">
            <a:avLst/>
          </a:prstGeom>
        </p:spPr>
        <p:txBody>
          <a:bodyPr vert="horz" wrap="square" lIns="0" tIns="0" rIns="0" bIns="0"/>
          <a:lstStyle/>
          <a:p>
            <a:pPr algn="ctr" rtl="0" eaLnBrk="0">
              <a:lnSpc>
                <a:spcPct val="85000"/>
              </a:lnSpc>
              <a:defRPr>
                <a:latin typeface="微软雅黑"/>
                <a:ea typeface="微软雅黑"/>
                <a:cs typeface="微软雅黑"/>
              </a:defRPr>
            </a:pPr>
            <a:r>
              <a:rPr lang="zh-CN" altLang="en-US" sz="1400" dirty="0">
                <a:solidFill>
                  <a:srgbClr val="383838"/>
                </a:solidFill>
                <a:latin typeface="微软雅黑"/>
                <a:ea typeface="微软雅黑"/>
                <a:cs typeface="微软雅黑"/>
              </a:rPr>
              <a:t>个人信息安全</a:t>
            </a:r>
            <a:endParaRPr lang="zh-CN" altLang="en-US" sz="1400" dirty="0">
              <a:solidFill>
                <a:srgbClr val="383838"/>
              </a:solidFill>
              <a:latin typeface="微软雅黑"/>
              <a:ea typeface="微软雅黑"/>
              <a:cs typeface="微软雅黑"/>
            </a:endParaRPr>
          </a:p>
        </p:txBody>
      </p:sp>
      <p:sp>
        <p:nvSpPr>
          <p:cNvPr id="66" name="textbox 2040"/>
          <p:cNvSpPr/>
          <p:nvPr>
            <p:custDataLst>
              <p:tags r:id="rId79"/>
            </p:custDataLst>
          </p:nvPr>
        </p:nvSpPr>
        <p:spPr>
          <a:xfrm>
            <a:off x="8822055" y="1741170"/>
            <a:ext cx="1005840" cy="174625"/>
          </a:xfrm>
          <a:prstGeom prst="rect">
            <a:avLst/>
          </a:prstGeom>
        </p:spPr>
        <p:txBody>
          <a:bodyPr vert="horz" wrap="square" lIns="0" tIns="0" rIns="0" bIns="0"/>
          <a:lstStyle/>
          <a:p>
            <a:pPr algn="ctr" rtl="0" eaLnBrk="0">
              <a:lnSpc>
                <a:spcPct val="85000"/>
              </a:lnSpc>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安全监管</a:t>
            </a:r>
            <a:endParaRPr lang="zh-CN" altLang="en-US" sz="1400" dirty="0">
              <a:solidFill>
                <a:srgbClr val="383838"/>
              </a:solidFill>
              <a:latin typeface="微软雅黑"/>
              <a:ea typeface="微软雅黑"/>
              <a:cs typeface="微软雅黑"/>
              <a:sym typeface="微软雅黑"/>
            </a:endParaRPr>
          </a:p>
        </p:txBody>
      </p:sp>
      <p:cxnSp>
        <p:nvCxnSpPr>
          <p:cNvPr id="8" name="直线箭头连接符 156"/>
          <p:cNvCxnSpPr/>
          <p:nvPr>
            <p:custDataLst>
              <p:tags r:id="rId80"/>
            </p:custDataLst>
          </p:nvPr>
        </p:nvCxnSpPr>
        <p:spPr>
          <a:xfrm flipV="1">
            <a:off x="793750" y="4255135"/>
            <a:ext cx="0" cy="475615"/>
          </a:xfrm>
          <a:prstGeom prst="straightConnector1">
            <a:avLst/>
          </a:prstGeom>
          <a:noFill/>
          <a:ln w="6350" cap="flat" cmpd="sng" algn="ctr">
            <a:solidFill>
              <a:srgbClr val="B3D4FE"/>
            </a:solidFill>
            <a:prstDash val="solid"/>
            <a:miter lim="800000"/>
            <a:headEnd type="triangle"/>
            <a:tailEnd type="none"/>
          </a:ln>
          <a:effectLst/>
        </p:spPr>
      </p:cxnSp>
      <p:cxnSp>
        <p:nvCxnSpPr>
          <p:cNvPr id="9" name="直线箭头连接符 156"/>
          <p:cNvCxnSpPr/>
          <p:nvPr>
            <p:custDataLst>
              <p:tags r:id="rId81"/>
            </p:custDataLst>
          </p:nvPr>
        </p:nvCxnSpPr>
        <p:spPr>
          <a:xfrm>
            <a:off x="11221085" y="2961640"/>
            <a:ext cx="0" cy="475615"/>
          </a:xfrm>
          <a:prstGeom prst="straightConnector1">
            <a:avLst/>
          </a:prstGeom>
          <a:noFill/>
          <a:ln w="6350" cap="flat" cmpd="sng" algn="ctr">
            <a:solidFill>
              <a:srgbClr val="B3D4FE"/>
            </a:solidFill>
            <a:prstDash val="solid"/>
            <a:miter lim="800000"/>
            <a:headEnd type="triangle"/>
            <a:tailEnd type="none"/>
          </a:ln>
          <a:effectLst/>
        </p:spPr>
      </p:cxnSp>
      <p:cxnSp>
        <p:nvCxnSpPr>
          <p:cNvPr id="11" name="直线箭头连接符 156"/>
          <p:cNvCxnSpPr/>
          <p:nvPr>
            <p:custDataLst>
              <p:tags r:id="rId82"/>
            </p:custDataLst>
          </p:nvPr>
        </p:nvCxnSpPr>
        <p:spPr>
          <a:xfrm flipV="1">
            <a:off x="11221085" y="4286885"/>
            <a:ext cx="0" cy="475615"/>
          </a:xfrm>
          <a:prstGeom prst="straightConnector1">
            <a:avLst/>
          </a:prstGeom>
          <a:noFill/>
          <a:ln w="6350" cap="flat" cmpd="sng" algn="ctr">
            <a:solidFill>
              <a:srgbClr val="B3D4FE"/>
            </a:solidFill>
            <a:prstDash val="solid"/>
            <a:miter lim="800000"/>
            <a:headEnd type="triangle"/>
            <a:tailEnd type="none"/>
          </a:ln>
          <a:effectLst/>
        </p:spPr>
      </p:cxnSp>
      <p:sp>
        <p:nvSpPr>
          <p:cNvPr id="4" name="椭圆 3"/>
          <p:cNvSpPr/>
          <p:nvPr>
            <p:custDataLst>
              <p:tags r:id="rId83"/>
            </p:custDataLst>
          </p:nvPr>
        </p:nvSpPr>
        <p:spPr>
          <a:xfrm>
            <a:off x="4203700" y="3596640"/>
            <a:ext cx="85725" cy="8572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a:solidFill>
                <a:srgbClr val="0042FF"/>
              </a:solidFill>
              <a:latin typeface="微软雅黑"/>
              <a:ea typeface="微软雅黑"/>
              <a:cs typeface="微软雅黑"/>
              <a:sym typeface="微软雅黑"/>
            </a:endParaRPr>
          </a:p>
        </p:txBody>
      </p:sp>
      <p:sp>
        <p:nvSpPr>
          <p:cNvPr id="12" name="椭圆 11"/>
          <p:cNvSpPr/>
          <p:nvPr>
            <p:custDataLst>
              <p:tags r:id="rId84"/>
            </p:custDataLst>
          </p:nvPr>
        </p:nvSpPr>
        <p:spPr>
          <a:xfrm>
            <a:off x="4191635" y="4046855"/>
            <a:ext cx="85725" cy="8572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a:solidFill>
                <a:srgbClr val="0042FF"/>
              </a:solidFill>
              <a:latin typeface="微软雅黑"/>
              <a:ea typeface="微软雅黑"/>
              <a:cs typeface="微软雅黑"/>
              <a:sym typeface="微软雅黑"/>
            </a:endParaRPr>
          </a:p>
        </p:txBody>
      </p:sp>
      <p:sp>
        <p:nvSpPr>
          <p:cNvPr id="13" name="椭圆 12"/>
          <p:cNvSpPr/>
          <p:nvPr>
            <p:custDataLst>
              <p:tags r:id="rId85"/>
            </p:custDataLst>
          </p:nvPr>
        </p:nvSpPr>
        <p:spPr>
          <a:xfrm>
            <a:off x="7217410" y="3168015"/>
            <a:ext cx="85725" cy="8572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14" name="椭圆 13"/>
          <p:cNvSpPr/>
          <p:nvPr>
            <p:custDataLst>
              <p:tags r:id="rId86"/>
            </p:custDataLst>
          </p:nvPr>
        </p:nvSpPr>
        <p:spPr>
          <a:xfrm>
            <a:off x="7217410" y="4521200"/>
            <a:ext cx="85725" cy="8572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15" name="椭圆 14"/>
          <p:cNvSpPr/>
          <p:nvPr>
            <p:custDataLst>
              <p:tags r:id="rId87"/>
            </p:custDataLst>
          </p:nvPr>
        </p:nvSpPr>
        <p:spPr>
          <a:xfrm>
            <a:off x="7785100" y="3596640"/>
            <a:ext cx="85725" cy="8572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16" name="椭圆 15"/>
          <p:cNvSpPr/>
          <p:nvPr>
            <p:custDataLst>
              <p:tags r:id="rId88"/>
            </p:custDataLst>
          </p:nvPr>
        </p:nvSpPr>
        <p:spPr>
          <a:xfrm>
            <a:off x="7785100" y="4077970"/>
            <a:ext cx="85725" cy="85725"/>
          </a:xfrm>
          <a:prstGeom prst="ellipse">
            <a:avLst/>
          </a:prstGeom>
          <a:solidFill>
            <a:srgbClr val="B3D4FE"/>
          </a:solidFill>
          <a:ln w="19050" cap="flat" cmpd="sng" algn="ctr">
            <a:solidFill>
              <a:srgbClr val="FFFFFF"/>
            </a:solidFill>
            <a:prstDash val="solid"/>
            <a:miter lim="800000"/>
          </a:ln>
          <a:effectLst/>
        </p:spPr>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17" name="上箭头 24"/>
          <p:cNvSpPr/>
          <p:nvPr>
            <p:custDataLst>
              <p:tags r:id="rId89"/>
            </p:custDataLst>
          </p:nvPr>
        </p:nvSpPr>
        <p:spPr>
          <a:xfrm flipV="1">
            <a:off x="5837555" y="2717800"/>
            <a:ext cx="323215" cy="359410"/>
          </a:xfrm>
          <a:prstGeom prst="upArrow">
            <a:avLst/>
          </a:prstGeom>
          <a:gradFill flip="none" rotWithShape="1">
            <a:gsLst>
              <a:gs pos="0">
                <a:srgbClr val="3368FF"/>
              </a:gs>
              <a:gs pos="100000">
                <a:srgbClr val="3368FF">
                  <a:alpha val="0"/>
                </a:srgbClr>
              </a:gs>
            </a:gsLst>
            <a:lin ang="5400000" scaled="1"/>
            <a:tileRect/>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nvGrpSpPr>
          <p:cNvPr id="18" name="组合 17"/>
          <p:cNvGrpSpPr/>
          <p:nvPr/>
        </p:nvGrpSpPr>
        <p:grpSpPr>
          <a:xfrm>
            <a:off x="7675245" y="347980"/>
            <a:ext cx="4588510" cy="367030"/>
            <a:chOff x="12087" y="-1089"/>
            <a:chExt cx="7226" cy="578"/>
          </a:xfrm>
        </p:grpSpPr>
        <p:pic>
          <p:nvPicPr>
            <p:cNvPr id="20" name="图片 19"/>
            <p:cNvPicPr>
              <a:picLocks noChangeAspect="1"/>
            </p:cNvPicPr>
            <p:nvPr userDrawn="1"/>
          </p:nvPicPr>
          <p:blipFill>
            <a:blip r:embed="rId90"/>
            <a:srcRect r="57320" b="-13333"/>
            <a:stretch>
              <a:fillRect/>
            </a:stretch>
          </p:blipFill>
          <p:spPr>
            <a:xfrm>
              <a:off x="12087" y="-1089"/>
              <a:ext cx="2548" cy="578"/>
            </a:xfrm>
            <a:prstGeom prst="rect">
              <a:avLst/>
            </a:prstGeom>
          </p:spPr>
        </p:pic>
        <p:sp>
          <p:nvSpPr>
            <p:cNvPr id="21" name="文本框 20"/>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公司年度业绩汇报</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55600" y="186055"/>
            <a:ext cx="549910" cy="549910"/>
          </a:xfrm>
          <a:prstGeom prst="rect">
            <a:avLst/>
          </a:prstGeom>
        </p:spPr>
      </p:pic>
      <p:sp>
        <p:nvSpPr>
          <p:cNvPr id="137" name="object 14"/>
          <p:cNvSpPr/>
          <p:nvPr/>
        </p:nvSpPr>
        <p:spPr>
          <a:xfrm>
            <a:off x="450430" y="6092088"/>
            <a:ext cx="11233363" cy="561985"/>
          </a:xfrm>
          <a:custGeom>
            <a:avLst/>
            <a:gdLst/>
            <a:ahLst/>
            <a:cxnLst/>
            <a:rect l="l" t="t" r="r" b="b"/>
            <a:pathLst>
              <a:path w="3560445" h="579120">
                <a:moveTo>
                  <a:pt x="3560127" y="578840"/>
                </a:moveTo>
                <a:lnTo>
                  <a:pt x="0" y="578840"/>
                </a:lnTo>
                <a:lnTo>
                  <a:pt x="0" y="0"/>
                </a:lnTo>
                <a:lnTo>
                  <a:pt x="3560127" y="0"/>
                </a:lnTo>
                <a:lnTo>
                  <a:pt x="3560127" y="578840"/>
                </a:lnTo>
                <a:close/>
              </a:path>
            </a:pathLst>
          </a:custGeom>
          <a:gradFill flip="none" rotWithShape="1">
            <a:gsLst>
              <a:gs pos="0">
                <a:srgbClr val="3368FF"/>
              </a:gs>
              <a:gs pos="97273">
                <a:srgbClr val="3368FF"/>
              </a:gs>
              <a:gs pos="50000">
                <a:srgbClr val="0042FF"/>
              </a:gs>
            </a:gsLst>
            <a:lin ang="0" scaled="1"/>
            <a:tileRect/>
          </a:gradFill>
          <a:ln>
            <a:noFill/>
          </a:ln>
          <a:effectLst>
            <a:reflection blurRad="50800" stA="41000" endPos="38000" dir="5400000" sy="-100000" algn="bl" rotWithShape="0"/>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45" name="object 8"/>
          <p:cNvSpPr/>
          <p:nvPr/>
        </p:nvSpPr>
        <p:spPr>
          <a:xfrm>
            <a:off x="450431" y="2238543"/>
            <a:ext cx="2715386" cy="497208"/>
          </a:xfrm>
          <a:custGeom>
            <a:avLst/>
            <a:gdLst/>
            <a:ahLst/>
            <a:cxnLst/>
            <a:rect l="l" t="t" r="r" b="b"/>
            <a:pathLst>
              <a:path w="3560445" h="680085">
                <a:moveTo>
                  <a:pt x="3560127" y="0"/>
                </a:moveTo>
                <a:lnTo>
                  <a:pt x="0" y="0"/>
                </a:lnTo>
                <a:lnTo>
                  <a:pt x="0" y="679500"/>
                </a:lnTo>
                <a:lnTo>
                  <a:pt x="3560127" y="679500"/>
                </a:lnTo>
                <a:lnTo>
                  <a:pt x="3560127" y="0"/>
                </a:lnTo>
                <a:close/>
              </a:path>
            </a:pathLst>
          </a:custGeom>
          <a:gradFill>
            <a:gsLst>
              <a:gs pos="0">
                <a:srgbClr val="3368FF"/>
              </a:gs>
              <a:gs pos="55000">
                <a:srgbClr val="0042FF"/>
              </a:gs>
            </a:gsLst>
            <a:path path="circle">
              <a:fillToRect r="100000" b="100000"/>
            </a:path>
            <a:tileRect l="-100000" t="-10000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500">
              <a:solidFill>
                <a:srgbClr val="FFFFFF"/>
              </a:solidFill>
              <a:latin typeface="微软雅黑"/>
              <a:ea typeface="微软雅黑"/>
              <a:cs typeface="微软雅黑"/>
              <a:sym typeface="微软雅黑"/>
            </a:endParaRPr>
          </a:p>
        </p:txBody>
      </p:sp>
      <p:sp>
        <p:nvSpPr>
          <p:cNvPr id="146" name="object 8"/>
          <p:cNvSpPr/>
          <p:nvPr/>
        </p:nvSpPr>
        <p:spPr>
          <a:xfrm>
            <a:off x="3292551" y="2238543"/>
            <a:ext cx="2715386" cy="497208"/>
          </a:xfrm>
          <a:custGeom>
            <a:avLst/>
            <a:gdLst/>
            <a:ahLst/>
            <a:cxnLst/>
            <a:rect l="l" t="t" r="r" b="b"/>
            <a:pathLst>
              <a:path w="3560445" h="680085">
                <a:moveTo>
                  <a:pt x="3560127" y="0"/>
                </a:moveTo>
                <a:lnTo>
                  <a:pt x="0" y="0"/>
                </a:lnTo>
                <a:lnTo>
                  <a:pt x="0" y="679500"/>
                </a:lnTo>
                <a:lnTo>
                  <a:pt x="3560127" y="679500"/>
                </a:lnTo>
                <a:lnTo>
                  <a:pt x="3560127" y="0"/>
                </a:lnTo>
                <a:close/>
              </a:path>
            </a:pathLst>
          </a:custGeom>
          <a:gradFill>
            <a:gsLst>
              <a:gs pos="0">
                <a:srgbClr val="B3D4FE"/>
              </a:gs>
              <a:gs pos="55000">
                <a:srgbClr val="3368FF"/>
              </a:gs>
            </a:gsLst>
            <a:path path="circle">
              <a:fillToRect r="100000" b="100000"/>
            </a:path>
            <a:tileRect l="-100000" t="-10000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500">
              <a:solidFill>
                <a:srgbClr val="FFFFFF"/>
              </a:solidFill>
              <a:latin typeface="微软雅黑"/>
              <a:ea typeface="微软雅黑"/>
              <a:cs typeface="微软雅黑"/>
              <a:sym typeface="微软雅黑"/>
            </a:endParaRPr>
          </a:p>
        </p:txBody>
      </p:sp>
      <p:sp>
        <p:nvSpPr>
          <p:cNvPr id="147" name="object 8"/>
          <p:cNvSpPr/>
          <p:nvPr/>
        </p:nvSpPr>
        <p:spPr>
          <a:xfrm>
            <a:off x="450431" y="2825840"/>
            <a:ext cx="2715386" cy="3161599"/>
          </a:xfrm>
          <a:custGeom>
            <a:avLst/>
            <a:gdLst/>
            <a:ahLst/>
            <a:cxnLst/>
            <a:rect l="l" t="t" r="r" b="b"/>
            <a:pathLst>
              <a:path w="3560445" h="680085">
                <a:moveTo>
                  <a:pt x="3560127" y="0"/>
                </a:moveTo>
                <a:lnTo>
                  <a:pt x="0" y="0"/>
                </a:lnTo>
                <a:lnTo>
                  <a:pt x="0" y="679500"/>
                </a:lnTo>
                <a:lnTo>
                  <a:pt x="3560127" y="679500"/>
                </a:lnTo>
                <a:lnTo>
                  <a:pt x="3560127" y="0"/>
                </a:lnTo>
                <a:close/>
              </a:path>
            </a:pathLst>
          </a:custGeom>
          <a:solidFill>
            <a:srgbClr val="E6E6E6">
              <a:alpha val="10000"/>
            </a:srgbClr>
          </a:solidFill>
          <a:ln w="19050" cap="flat" cmpd="sng" algn="ctr">
            <a:solidFill>
              <a:srgbClr val="E6E6E6"/>
            </a:solidFill>
            <a:prstDash val="solid"/>
            <a:miter lim="800000"/>
          </a:ln>
          <a:effectLst/>
        </p:spPr>
        <p:style>
          <a:lnRef idx="2">
            <a:srgbClr val="E6E6E6"/>
          </a:lnRef>
          <a:fillRef idx="1">
            <a:srgbClr val="FFFFFF"/>
          </a:fillRef>
          <a:effectRef idx="0">
            <a:srgbClr val="E6E6E6"/>
          </a:effectRef>
          <a:fontRef idx="minor">
            <a:srgbClr val="383838"/>
          </a:fontRef>
        </p:style>
        <p:txBody>
          <a:bodyPr wrap="square" lIns="0" tIns="0" rIns="0" bIns="0" rtlCol="0"/>
          <a:lstStyle/>
          <a:p>
            <a:pPr>
              <a:defRPr>
                <a:latin typeface="微软雅黑"/>
                <a:ea typeface="微软雅黑"/>
                <a:cs typeface="微软雅黑"/>
              </a:defRPr>
            </a:pPr>
            <a:endParaRPr dirty="0">
              <a:latin typeface="微软雅黑"/>
              <a:ea typeface="微软雅黑"/>
              <a:cs typeface="微软雅黑"/>
            </a:endParaRPr>
          </a:p>
        </p:txBody>
      </p:sp>
      <p:sp>
        <p:nvSpPr>
          <p:cNvPr id="148" name="object 8"/>
          <p:cNvSpPr/>
          <p:nvPr/>
        </p:nvSpPr>
        <p:spPr>
          <a:xfrm>
            <a:off x="3292551" y="2825840"/>
            <a:ext cx="2715386" cy="3161599"/>
          </a:xfrm>
          <a:custGeom>
            <a:avLst/>
            <a:gdLst/>
            <a:ahLst/>
            <a:cxnLst/>
            <a:rect l="l" t="t" r="r" b="b"/>
            <a:pathLst>
              <a:path w="3560445" h="680085">
                <a:moveTo>
                  <a:pt x="3560127" y="0"/>
                </a:moveTo>
                <a:lnTo>
                  <a:pt x="0" y="0"/>
                </a:lnTo>
                <a:lnTo>
                  <a:pt x="0" y="679500"/>
                </a:lnTo>
                <a:lnTo>
                  <a:pt x="3560127" y="679500"/>
                </a:lnTo>
                <a:lnTo>
                  <a:pt x="3560127" y="0"/>
                </a:lnTo>
                <a:close/>
              </a:path>
            </a:pathLst>
          </a:custGeom>
          <a:solidFill>
            <a:srgbClr val="FFFFFF">
              <a:alpha val="10000"/>
            </a:srgbClr>
          </a:solidFill>
          <a:ln w="19050" cap="flat" cmpd="sng" algn="ctr">
            <a:solidFill>
              <a:srgbClr val="FFFFFF"/>
            </a:solidFill>
            <a:prstDash val="solid"/>
            <a:miter lim="800000"/>
          </a:ln>
          <a:effectLst/>
        </p:spPr>
        <p:style>
          <a:lnRef idx="2">
            <a:srgbClr val="E6E6E6"/>
          </a:lnRef>
          <a:fillRef idx="1">
            <a:srgbClr val="FFFFFF"/>
          </a:fillRef>
          <a:effectRef idx="0">
            <a:srgbClr val="E6E6E6"/>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dirty="0">
              <a:latin typeface="微软雅黑"/>
              <a:ea typeface="微软雅黑"/>
              <a:cs typeface="微软雅黑"/>
              <a:sym typeface="微软雅黑"/>
            </a:endParaRPr>
          </a:p>
        </p:txBody>
      </p:sp>
      <p:sp>
        <p:nvSpPr>
          <p:cNvPr id="149" name="object 8"/>
          <p:cNvSpPr/>
          <p:nvPr/>
        </p:nvSpPr>
        <p:spPr>
          <a:xfrm>
            <a:off x="6126287" y="2238543"/>
            <a:ext cx="2715386" cy="497208"/>
          </a:xfrm>
          <a:custGeom>
            <a:avLst/>
            <a:gdLst/>
            <a:ahLst/>
            <a:cxnLst/>
            <a:rect l="l" t="t" r="r" b="b"/>
            <a:pathLst>
              <a:path w="3560445" h="680085">
                <a:moveTo>
                  <a:pt x="3560127" y="0"/>
                </a:moveTo>
                <a:lnTo>
                  <a:pt x="0" y="0"/>
                </a:lnTo>
                <a:lnTo>
                  <a:pt x="0" y="679500"/>
                </a:lnTo>
                <a:lnTo>
                  <a:pt x="3560127" y="679500"/>
                </a:lnTo>
                <a:lnTo>
                  <a:pt x="3560127" y="0"/>
                </a:lnTo>
                <a:close/>
              </a:path>
            </a:pathLst>
          </a:custGeom>
          <a:gradFill>
            <a:gsLst>
              <a:gs pos="0">
                <a:srgbClr val="3368FF"/>
              </a:gs>
              <a:gs pos="55000">
                <a:srgbClr val="0042FF"/>
              </a:gs>
            </a:gsLst>
            <a:path path="circle">
              <a:fillToRect r="100000" b="100000"/>
            </a:path>
            <a:tileRect l="-100000" t="-10000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500">
              <a:solidFill>
                <a:srgbClr val="FFFFFF"/>
              </a:solidFill>
              <a:latin typeface="微软雅黑"/>
              <a:ea typeface="微软雅黑"/>
              <a:cs typeface="微软雅黑"/>
              <a:sym typeface="微软雅黑"/>
            </a:endParaRPr>
          </a:p>
        </p:txBody>
      </p:sp>
      <p:sp>
        <p:nvSpPr>
          <p:cNvPr id="150" name="object 8"/>
          <p:cNvSpPr/>
          <p:nvPr/>
        </p:nvSpPr>
        <p:spPr>
          <a:xfrm>
            <a:off x="8968407" y="2238543"/>
            <a:ext cx="2715386" cy="497208"/>
          </a:xfrm>
          <a:custGeom>
            <a:avLst/>
            <a:gdLst/>
            <a:ahLst/>
            <a:cxnLst/>
            <a:rect l="l" t="t" r="r" b="b"/>
            <a:pathLst>
              <a:path w="3560445" h="680085">
                <a:moveTo>
                  <a:pt x="3560127" y="0"/>
                </a:moveTo>
                <a:lnTo>
                  <a:pt x="0" y="0"/>
                </a:lnTo>
                <a:lnTo>
                  <a:pt x="0" y="679500"/>
                </a:lnTo>
                <a:lnTo>
                  <a:pt x="3560127" y="679500"/>
                </a:lnTo>
                <a:lnTo>
                  <a:pt x="3560127" y="0"/>
                </a:lnTo>
                <a:close/>
              </a:path>
            </a:pathLst>
          </a:custGeom>
          <a:gradFill>
            <a:gsLst>
              <a:gs pos="0">
                <a:srgbClr val="B3D4FE"/>
              </a:gs>
              <a:gs pos="55000">
                <a:srgbClr val="3368FF"/>
              </a:gs>
            </a:gsLst>
            <a:path path="circle">
              <a:fillToRect r="100000" b="100000"/>
            </a:path>
            <a:tileRect l="-100000" t="-10000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500">
              <a:solidFill>
                <a:srgbClr val="FFFFFF"/>
              </a:solidFill>
              <a:latin typeface="微软雅黑"/>
              <a:ea typeface="微软雅黑"/>
              <a:cs typeface="微软雅黑"/>
              <a:sym typeface="微软雅黑"/>
            </a:endParaRPr>
          </a:p>
        </p:txBody>
      </p:sp>
      <p:sp>
        <p:nvSpPr>
          <p:cNvPr id="151" name="object 8"/>
          <p:cNvSpPr/>
          <p:nvPr/>
        </p:nvSpPr>
        <p:spPr>
          <a:xfrm>
            <a:off x="6126287" y="2825840"/>
            <a:ext cx="2715386" cy="3161599"/>
          </a:xfrm>
          <a:custGeom>
            <a:avLst/>
            <a:gdLst/>
            <a:ahLst/>
            <a:cxnLst/>
            <a:rect l="l" t="t" r="r" b="b"/>
            <a:pathLst>
              <a:path w="3560445" h="680085">
                <a:moveTo>
                  <a:pt x="3560127" y="0"/>
                </a:moveTo>
                <a:lnTo>
                  <a:pt x="0" y="0"/>
                </a:lnTo>
                <a:lnTo>
                  <a:pt x="0" y="679500"/>
                </a:lnTo>
                <a:lnTo>
                  <a:pt x="3560127" y="679500"/>
                </a:lnTo>
                <a:lnTo>
                  <a:pt x="3560127" y="0"/>
                </a:lnTo>
                <a:close/>
              </a:path>
            </a:pathLst>
          </a:custGeom>
          <a:solidFill>
            <a:srgbClr val="E6E6E6">
              <a:alpha val="10000"/>
            </a:srgbClr>
          </a:solidFill>
          <a:ln w="19050" cap="flat" cmpd="sng" algn="ctr">
            <a:solidFill>
              <a:srgbClr val="E6E6E6"/>
            </a:solidFill>
            <a:prstDash val="solid"/>
            <a:miter lim="800000"/>
          </a:ln>
          <a:effectLst/>
        </p:spPr>
        <p:style>
          <a:lnRef idx="2">
            <a:srgbClr val="E6E6E6"/>
          </a:lnRef>
          <a:fillRef idx="1">
            <a:srgbClr val="FFFFFF"/>
          </a:fillRef>
          <a:effectRef idx="0">
            <a:srgbClr val="E6E6E6"/>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dirty="0">
              <a:latin typeface="微软雅黑"/>
              <a:ea typeface="微软雅黑"/>
              <a:cs typeface="微软雅黑"/>
              <a:sym typeface="微软雅黑"/>
            </a:endParaRPr>
          </a:p>
        </p:txBody>
      </p:sp>
      <p:sp>
        <p:nvSpPr>
          <p:cNvPr id="154" name="object 8"/>
          <p:cNvSpPr/>
          <p:nvPr/>
        </p:nvSpPr>
        <p:spPr>
          <a:xfrm>
            <a:off x="8968407" y="2825840"/>
            <a:ext cx="2715386" cy="3161599"/>
          </a:xfrm>
          <a:custGeom>
            <a:avLst/>
            <a:gdLst/>
            <a:ahLst/>
            <a:cxnLst/>
            <a:rect l="l" t="t" r="r" b="b"/>
            <a:pathLst>
              <a:path w="3560445" h="680085">
                <a:moveTo>
                  <a:pt x="3560127" y="0"/>
                </a:moveTo>
                <a:lnTo>
                  <a:pt x="0" y="0"/>
                </a:lnTo>
                <a:lnTo>
                  <a:pt x="0" y="679500"/>
                </a:lnTo>
                <a:lnTo>
                  <a:pt x="3560127" y="679500"/>
                </a:lnTo>
                <a:lnTo>
                  <a:pt x="3560127" y="0"/>
                </a:lnTo>
                <a:close/>
              </a:path>
            </a:pathLst>
          </a:custGeom>
          <a:solidFill>
            <a:srgbClr val="FFFFFF">
              <a:alpha val="10000"/>
            </a:srgbClr>
          </a:solidFill>
          <a:ln w="19050" cap="flat" cmpd="sng" algn="ctr">
            <a:solidFill>
              <a:srgbClr val="FFFFFF"/>
            </a:solidFill>
            <a:prstDash val="solid"/>
            <a:miter lim="800000"/>
          </a:ln>
          <a:effectLst/>
        </p:spPr>
        <p:style>
          <a:lnRef idx="2">
            <a:srgbClr val="E6E6E6"/>
          </a:lnRef>
          <a:fillRef idx="1">
            <a:srgbClr val="FFFFFF"/>
          </a:fillRef>
          <a:effectRef idx="0">
            <a:srgbClr val="E6E6E6"/>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dirty="0">
              <a:latin typeface="微软雅黑"/>
              <a:ea typeface="微软雅黑"/>
              <a:cs typeface="微软雅黑"/>
              <a:sym typeface="微软雅黑"/>
            </a:endParaRPr>
          </a:p>
        </p:txBody>
      </p:sp>
      <p:sp>
        <p:nvSpPr>
          <p:cNvPr id="155" name="矩形 154"/>
          <p:cNvSpPr/>
          <p:nvPr/>
        </p:nvSpPr>
        <p:spPr>
          <a:xfrm flipH="1">
            <a:off x="2592070" y="6092190"/>
            <a:ext cx="7746365" cy="533400"/>
          </a:xfrm>
          <a:prstGeom prst="rect">
            <a:avLst/>
          </a:prstGeom>
          <a:ln>
            <a:noFill/>
          </a:ln>
        </p:spPr>
        <p:txBody>
          <a:bodyPr wrap="square" lIns="91440" tIns="45720" rIns="91440" bIns="45720" anchor="t">
            <a:noAutofit/>
          </a:bodyPr>
          <a:lstStyle/>
          <a:p>
            <a:pPr algn="ctr">
              <a:lnSpc>
                <a:spcPct val="150000"/>
              </a:lnSpc>
              <a:defRPr>
                <a:solidFill>
                  <a:srgbClr val="FFFFFF"/>
                </a:solidFill>
                <a:latin typeface="微软雅黑"/>
                <a:ea typeface="微软雅黑"/>
                <a:cs typeface="微软雅黑"/>
              </a:defRPr>
            </a:pPr>
            <a:r>
              <a:rPr lang="zh-CN" altLang="en-US" sz="1600" b="1" dirty="0">
                <a:solidFill>
                  <a:srgbClr val="FFFFFF"/>
                </a:solidFill>
                <a:effectLst/>
                <a:latin typeface="微软雅黑"/>
                <a:ea typeface="微软雅黑"/>
                <a:cs typeface="微软雅黑"/>
              </a:rPr>
              <a:t>全年业绩总达成预算的</a:t>
            </a:r>
            <a:r>
              <a:rPr lang="en-US" altLang="zh-CN" sz="1600" b="1" dirty="0">
                <a:solidFill>
                  <a:srgbClr val="FFFFFF"/>
                </a:solidFill>
                <a:effectLst/>
                <a:latin typeface="微软雅黑"/>
                <a:ea typeface="微软雅黑"/>
                <a:cs typeface="微软雅黑"/>
              </a:rPr>
              <a:t>110%</a:t>
            </a:r>
            <a:r>
              <a:rPr lang="zh-CN" altLang="en-US" sz="1600" b="1" dirty="0">
                <a:solidFill>
                  <a:srgbClr val="FFFFFF"/>
                </a:solidFill>
                <a:effectLst/>
                <a:latin typeface="微软雅黑"/>
                <a:ea typeface="微软雅黑"/>
                <a:cs typeface="微软雅黑"/>
              </a:rPr>
              <a:t>，降本增效取得阶段性突破，利润结构稳定提升！</a:t>
            </a:r>
            <a:endParaRPr lang="zh-CN" altLang="en-US" sz="1600" b="1" dirty="0">
              <a:solidFill>
                <a:srgbClr val="FFFFFF"/>
              </a:solidFill>
              <a:effectLst/>
              <a:latin typeface="微软雅黑"/>
              <a:ea typeface="微软雅黑"/>
              <a:cs typeface="微软雅黑"/>
            </a:endParaRPr>
          </a:p>
        </p:txBody>
      </p:sp>
      <p:sp>
        <p:nvSpPr>
          <p:cNvPr id="156" name="文本框 155"/>
          <p:cNvSpPr txBox="1"/>
          <p:nvPr/>
        </p:nvSpPr>
        <p:spPr>
          <a:xfrm>
            <a:off x="649339" y="2289247"/>
            <a:ext cx="1692093" cy="377190"/>
          </a:xfrm>
          <a:prstGeom prst="rect">
            <a:avLst/>
          </a:prstGeom>
          <a:noFill/>
        </p:spPr>
        <p:txBody>
          <a:bodyPr wrap="square" lIns="0" rIns="0" tIns="0" bIns="0">
            <a:spAutoFit/>
          </a:bodyPr>
          <a:lstStyle/>
          <a:p>
            <a:pPr rtl="0">
              <a:defRPr sz="1860" b="0" i="0" u="none" strike="noStrike" kern="1200" spc="0" baseline="0">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第一季度</a:t>
            </a:r>
            <a:endParaRPr lang="zh-CN" altLang="en-US" b="1" dirty="0">
              <a:solidFill>
                <a:srgbClr val="FFFFFF"/>
              </a:solidFill>
              <a:latin typeface="微软雅黑"/>
              <a:ea typeface="微软雅黑"/>
              <a:cs typeface="微软雅黑"/>
            </a:endParaRPr>
          </a:p>
        </p:txBody>
      </p:sp>
      <p:sp>
        <p:nvSpPr>
          <p:cNvPr id="157" name="文本框 156"/>
          <p:cNvSpPr txBox="1"/>
          <p:nvPr/>
        </p:nvSpPr>
        <p:spPr>
          <a:xfrm>
            <a:off x="2519048" y="2252607"/>
            <a:ext cx="655153" cy="460375"/>
          </a:xfrm>
          <a:prstGeom prst="rect">
            <a:avLst/>
          </a:prstGeom>
          <a:noFill/>
        </p:spPr>
        <p:txBody>
          <a:bodyPr wrap="square">
            <a:spAutoFit/>
          </a:bodyPr>
          <a:lstStyle/>
          <a:p>
            <a:pPr rtl="0">
              <a:defRPr sz="1860" b="0" i="0" u="none" strike="noStrike" kern="1200" spc="0" baseline="0">
                <a:solidFill>
                  <a:srgbClr val="FFFFFF"/>
                </a:solidFill>
                <a:latin typeface="微软雅黑"/>
                <a:ea typeface="微软雅黑"/>
                <a:cs typeface="微软雅黑"/>
              </a:defRPr>
            </a:pPr>
            <a:r>
              <a:rPr lang="en-US" altLang="zh-CN" sz="2400" dirty="0">
                <a:ln>
                  <a:solidFill>
                    <a:srgbClr val="FFFFFF"/>
                  </a:solidFill>
                </a:ln>
                <a:noFill/>
                <a:solidFill>
                  <a:srgbClr val="FFFFFF"/>
                </a:solidFill>
                <a:latin typeface="微软雅黑"/>
                <a:ea typeface="微软雅黑"/>
                <a:cs typeface="微软雅黑"/>
              </a:rPr>
              <a:t>Q1</a:t>
            </a:r>
            <a:endParaRPr lang="en-US" altLang="zh-CN" sz="2400" dirty="0">
              <a:ln>
                <a:solidFill>
                  <a:srgbClr val="FFFFFF"/>
                </a:solidFill>
              </a:ln>
              <a:noFill/>
              <a:solidFill>
                <a:srgbClr val="FFFFFF"/>
              </a:solidFill>
              <a:latin typeface="微软雅黑"/>
              <a:ea typeface="微软雅黑"/>
              <a:cs typeface="微软雅黑"/>
            </a:endParaRPr>
          </a:p>
        </p:txBody>
      </p:sp>
      <p:sp>
        <p:nvSpPr>
          <p:cNvPr id="158" name="文本框 157"/>
          <p:cNvSpPr txBox="1"/>
          <p:nvPr/>
        </p:nvSpPr>
        <p:spPr>
          <a:xfrm>
            <a:off x="3474315" y="2289247"/>
            <a:ext cx="1692093" cy="377190"/>
          </a:xfrm>
          <a:prstGeom prst="rect">
            <a:avLst/>
          </a:prstGeom>
          <a:noFill/>
        </p:spPr>
        <p:txBody>
          <a:bodyPr wrap="square" lIns="0" rIns="0" tIns="0" bIns="0">
            <a:spAutoFit/>
          </a:bodyPr>
          <a:lstStyle/>
          <a:p>
            <a:pPr rtl="0">
              <a:defRPr sz="1860" b="0" i="0" u="none" strike="noStrike" kern="1200" spc="0" baseline="0">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第二季度</a:t>
            </a:r>
            <a:endParaRPr lang="zh-CN" altLang="en-US" b="1" dirty="0">
              <a:solidFill>
                <a:srgbClr val="FFFFFF"/>
              </a:solidFill>
              <a:latin typeface="微软雅黑"/>
              <a:ea typeface="微软雅黑"/>
              <a:cs typeface="微软雅黑"/>
            </a:endParaRPr>
          </a:p>
        </p:txBody>
      </p:sp>
      <p:sp>
        <p:nvSpPr>
          <p:cNvPr id="159" name="文本框 158"/>
          <p:cNvSpPr txBox="1"/>
          <p:nvPr/>
        </p:nvSpPr>
        <p:spPr>
          <a:xfrm>
            <a:off x="5344024" y="2252607"/>
            <a:ext cx="655153" cy="460375"/>
          </a:xfrm>
          <a:prstGeom prst="rect">
            <a:avLst/>
          </a:prstGeom>
          <a:noFill/>
        </p:spPr>
        <p:txBody>
          <a:bodyPr wrap="square">
            <a:spAutoFit/>
          </a:bodyPr>
          <a:lstStyle/>
          <a:p>
            <a:pPr rtl="0">
              <a:defRPr sz="1860" b="0" i="0" u="none" strike="noStrike" kern="1200" spc="0" baseline="0">
                <a:solidFill>
                  <a:srgbClr val="FFFFFF"/>
                </a:solidFill>
                <a:latin typeface="微软雅黑"/>
                <a:ea typeface="微软雅黑"/>
                <a:cs typeface="微软雅黑"/>
              </a:defRPr>
            </a:pPr>
            <a:r>
              <a:rPr lang="en-US" altLang="zh-CN" sz="2400" dirty="0">
                <a:solidFill>
                  <a:srgbClr val="FFFFFF"/>
                </a:solidFill>
                <a:ln>
                  <a:solidFill>
                    <a:srgbClr val="FFFFFF"/>
                  </a:solidFill>
                </a:ln>
                <a:noFill/>
                <a:latin typeface="微软雅黑"/>
                <a:ea typeface="微软雅黑"/>
                <a:cs typeface="微软雅黑"/>
              </a:rPr>
              <a:t>Q2</a:t>
            </a:r>
            <a:endParaRPr lang="en-US" altLang="zh-CN" sz="2400" dirty="0">
              <a:solidFill>
                <a:srgbClr val="FFFFFF"/>
              </a:solidFill>
              <a:ln>
                <a:solidFill>
                  <a:srgbClr val="FFFFFF"/>
                </a:solidFill>
              </a:ln>
              <a:noFill/>
              <a:latin typeface="微软雅黑"/>
              <a:ea typeface="微软雅黑"/>
              <a:cs typeface="微软雅黑"/>
            </a:endParaRPr>
          </a:p>
        </p:txBody>
      </p:sp>
      <p:sp>
        <p:nvSpPr>
          <p:cNvPr id="160" name="文本框 159"/>
          <p:cNvSpPr txBox="1"/>
          <p:nvPr/>
        </p:nvSpPr>
        <p:spPr>
          <a:xfrm>
            <a:off x="6306725" y="2289247"/>
            <a:ext cx="1692093" cy="377190"/>
          </a:xfrm>
          <a:prstGeom prst="rect">
            <a:avLst/>
          </a:prstGeom>
          <a:noFill/>
        </p:spPr>
        <p:txBody>
          <a:bodyPr wrap="square" lIns="0" rIns="0" tIns="0" bIns="0">
            <a:spAutoFit/>
          </a:bodyPr>
          <a:lstStyle/>
          <a:p>
            <a:pPr rtl="0">
              <a:defRPr sz="1860" b="0" i="0" u="none" strike="noStrike" kern="1200" spc="0" baseline="0">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第三季度</a:t>
            </a:r>
            <a:endParaRPr lang="zh-CN" altLang="en-US" b="1" dirty="0">
              <a:solidFill>
                <a:srgbClr val="FFFFFF"/>
              </a:solidFill>
              <a:latin typeface="微软雅黑"/>
              <a:ea typeface="微软雅黑"/>
              <a:cs typeface="微软雅黑"/>
            </a:endParaRPr>
          </a:p>
        </p:txBody>
      </p:sp>
      <p:sp>
        <p:nvSpPr>
          <p:cNvPr id="161" name="文本框 160"/>
          <p:cNvSpPr txBox="1"/>
          <p:nvPr/>
        </p:nvSpPr>
        <p:spPr>
          <a:xfrm>
            <a:off x="8176434" y="2252607"/>
            <a:ext cx="655153" cy="460375"/>
          </a:xfrm>
          <a:prstGeom prst="rect">
            <a:avLst/>
          </a:prstGeom>
          <a:noFill/>
        </p:spPr>
        <p:txBody>
          <a:bodyPr wrap="square">
            <a:spAutoFit/>
          </a:bodyPr>
          <a:lstStyle/>
          <a:p>
            <a:pPr rtl="0">
              <a:defRPr sz="1860" b="0" i="0" u="none" strike="noStrike" kern="1200" spc="0" baseline="0">
                <a:solidFill>
                  <a:srgbClr val="FFFFFF"/>
                </a:solidFill>
                <a:latin typeface="微软雅黑"/>
                <a:ea typeface="微软雅黑"/>
                <a:cs typeface="微软雅黑"/>
              </a:defRPr>
            </a:pPr>
            <a:r>
              <a:rPr lang="en-US" altLang="zh-CN" sz="2400" dirty="0">
                <a:ln>
                  <a:solidFill>
                    <a:srgbClr val="FFFFFF"/>
                  </a:solidFill>
                </a:ln>
                <a:noFill/>
                <a:solidFill>
                  <a:srgbClr val="FFFFFF"/>
                </a:solidFill>
                <a:latin typeface="微软雅黑"/>
                <a:ea typeface="微软雅黑"/>
                <a:cs typeface="微软雅黑"/>
              </a:rPr>
              <a:t>Q3</a:t>
            </a:r>
            <a:endParaRPr lang="en-US" altLang="zh-CN" sz="2400" dirty="0">
              <a:ln>
                <a:solidFill>
                  <a:srgbClr val="FFFFFF"/>
                </a:solidFill>
              </a:ln>
              <a:noFill/>
              <a:solidFill>
                <a:srgbClr val="FFFFFF"/>
              </a:solidFill>
              <a:latin typeface="微软雅黑"/>
              <a:ea typeface="微软雅黑"/>
              <a:cs typeface="微软雅黑"/>
            </a:endParaRPr>
          </a:p>
        </p:txBody>
      </p:sp>
      <p:sp>
        <p:nvSpPr>
          <p:cNvPr id="162" name="文本框 161"/>
          <p:cNvSpPr txBox="1"/>
          <p:nvPr/>
        </p:nvSpPr>
        <p:spPr>
          <a:xfrm>
            <a:off x="9206708" y="2296232"/>
            <a:ext cx="1692093" cy="377190"/>
          </a:xfrm>
          <a:prstGeom prst="rect">
            <a:avLst/>
          </a:prstGeom>
          <a:noFill/>
        </p:spPr>
        <p:txBody>
          <a:bodyPr wrap="square" lIns="0" rIns="0" tIns="0" bIns="0">
            <a:spAutoFit/>
          </a:bodyPr>
          <a:lstStyle/>
          <a:p>
            <a:pPr rtl="0">
              <a:defRPr sz="1860" b="0" i="0" u="none" strike="noStrike" kern="1200" spc="0" baseline="0">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第四季度</a:t>
            </a:r>
            <a:endParaRPr lang="zh-CN" altLang="en-US" b="1" dirty="0">
              <a:solidFill>
                <a:srgbClr val="FFFFFF"/>
              </a:solidFill>
              <a:latin typeface="微软雅黑"/>
              <a:ea typeface="微软雅黑"/>
              <a:cs typeface="微软雅黑"/>
            </a:endParaRPr>
          </a:p>
        </p:txBody>
      </p:sp>
      <p:sp>
        <p:nvSpPr>
          <p:cNvPr id="163" name="文本框 162"/>
          <p:cNvSpPr txBox="1"/>
          <p:nvPr/>
        </p:nvSpPr>
        <p:spPr>
          <a:xfrm>
            <a:off x="11023712" y="2252607"/>
            <a:ext cx="655153" cy="460375"/>
          </a:xfrm>
          <a:prstGeom prst="rect">
            <a:avLst/>
          </a:prstGeom>
          <a:noFill/>
        </p:spPr>
        <p:txBody>
          <a:bodyPr wrap="square">
            <a:spAutoFit/>
          </a:bodyPr>
          <a:lstStyle/>
          <a:p>
            <a:pPr rtl="0">
              <a:defRPr sz="1860" b="0" i="0" u="none" strike="noStrike" kern="1200" spc="0" baseline="0">
                <a:solidFill>
                  <a:srgbClr val="FFFFFF"/>
                </a:solidFill>
                <a:latin typeface="微软雅黑"/>
                <a:ea typeface="微软雅黑"/>
                <a:cs typeface="微软雅黑"/>
              </a:defRPr>
            </a:pPr>
            <a:r>
              <a:rPr lang="en-US" altLang="zh-CN" sz="2400" dirty="0">
                <a:solidFill>
                  <a:srgbClr val="FFFFFF"/>
                </a:solidFill>
                <a:ln>
                  <a:solidFill>
                    <a:srgbClr val="FFFFFF"/>
                  </a:solidFill>
                </a:ln>
                <a:noFill/>
                <a:latin typeface="微软雅黑"/>
                <a:ea typeface="微软雅黑"/>
                <a:cs typeface="微软雅黑"/>
              </a:rPr>
              <a:t>Q4</a:t>
            </a:r>
            <a:endParaRPr lang="en-US" altLang="zh-CN" sz="2400" dirty="0">
              <a:solidFill>
                <a:srgbClr val="FFFFFF"/>
              </a:solidFill>
              <a:ln>
                <a:solidFill>
                  <a:srgbClr val="FFFFFF"/>
                </a:solidFill>
              </a:ln>
              <a:noFill/>
              <a:latin typeface="微软雅黑"/>
              <a:ea typeface="微软雅黑"/>
              <a:cs typeface="微软雅黑"/>
            </a:endParaRPr>
          </a:p>
        </p:txBody>
      </p:sp>
      <p:sp>
        <p:nvSpPr>
          <p:cNvPr id="164" name="文本框 163"/>
          <p:cNvSpPr txBox="1"/>
          <p:nvPr/>
        </p:nvSpPr>
        <p:spPr>
          <a:xfrm>
            <a:off x="716247"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目标业绩</a:t>
            </a:r>
            <a:endParaRPr kumimoji="1" lang="zh-CN" altLang="en-US" sz="1200" dirty="0">
              <a:solidFill>
                <a:srgbClr val="383838"/>
              </a:solidFill>
              <a:latin typeface="微软雅黑"/>
              <a:ea typeface="微软雅黑"/>
              <a:cs typeface="微软雅黑"/>
            </a:endParaRPr>
          </a:p>
        </p:txBody>
      </p:sp>
      <p:sp>
        <p:nvSpPr>
          <p:cNvPr id="165" name="文本框 164"/>
          <p:cNvSpPr txBox="1"/>
          <p:nvPr/>
        </p:nvSpPr>
        <p:spPr>
          <a:xfrm>
            <a:off x="584287" y="323170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3600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sp>
        <p:nvSpPr>
          <p:cNvPr id="166" name="文本框 165"/>
          <p:cNvSpPr txBox="1"/>
          <p:nvPr/>
        </p:nvSpPr>
        <p:spPr>
          <a:xfrm>
            <a:off x="1950316"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实际达成</a:t>
            </a:r>
            <a:endParaRPr kumimoji="1" lang="zh-CN" altLang="en-US" sz="1200" dirty="0">
              <a:solidFill>
                <a:srgbClr val="383838"/>
              </a:solidFill>
              <a:latin typeface="微软雅黑"/>
              <a:ea typeface="微软雅黑"/>
              <a:cs typeface="微软雅黑"/>
            </a:endParaRPr>
          </a:p>
        </p:txBody>
      </p:sp>
      <p:cxnSp>
        <p:nvCxnSpPr>
          <p:cNvPr id="168" name="直线连接符 65"/>
          <p:cNvCxnSpPr/>
          <p:nvPr/>
        </p:nvCxnSpPr>
        <p:spPr>
          <a:xfrm>
            <a:off x="599155" y="3724492"/>
            <a:ext cx="2413349" cy="0"/>
          </a:xfrm>
          <a:prstGeom prst="line">
            <a:avLst/>
          </a:prstGeom>
          <a:noFill/>
          <a:ln w="19050" cap="flat" cmpd="sng" algn="ctr">
            <a:solidFill>
              <a:srgbClr val="DCDCDC"/>
            </a:solidFill>
            <a:prstDash val="sysDash"/>
            <a:miter lim="800000"/>
          </a:ln>
          <a:effectLst/>
        </p:spPr>
        <p:style>
          <a:lnRef idx="1">
            <a:srgbClr val="0042FF"/>
          </a:lnRef>
          <a:fillRef idx="0">
            <a:srgbClr val="0042FF"/>
          </a:fillRef>
          <a:effectRef idx="0">
            <a:srgbClr val="0042FF"/>
          </a:effectRef>
          <a:fontRef idx="minor">
            <a:srgbClr val="383838"/>
          </a:fontRef>
        </p:style>
      </p:cxnSp>
      <p:sp>
        <p:nvSpPr>
          <p:cNvPr id="169" name="文本框 168"/>
          <p:cNvSpPr txBox="1"/>
          <p:nvPr/>
        </p:nvSpPr>
        <p:spPr>
          <a:xfrm>
            <a:off x="3556091"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目标业绩</a:t>
            </a:r>
            <a:endParaRPr kumimoji="1" lang="zh-CN" altLang="en-US" sz="1200" dirty="0">
              <a:solidFill>
                <a:srgbClr val="383838"/>
              </a:solidFill>
              <a:latin typeface="微软雅黑"/>
              <a:ea typeface="微软雅黑"/>
              <a:cs typeface="微软雅黑"/>
            </a:endParaRPr>
          </a:p>
        </p:txBody>
      </p:sp>
      <p:sp>
        <p:nvSpPr>
          <p:cNvPr id="171" name="文本框 170"/>
          <p:cNvSpPr txBox="1"/>
          <p:nvPr/>
        </p:nvSpPr>
        <p:spPr>
          <a:xfrm>
            <a:off x="4790160"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实际完成</a:t>
            </a:r>
            <a:endParaRPr kumimoji="1" lang="zh-CN" altLang="en-US" sz="1200" dirty="0">
              <a:solidFill>
                <a:srgbClr val="383838"/>
              </a:solidFill>
              <a:latin typeface="微软雅黑"/>
              <a:ea typeface="微软雅黑"/>
              <a:cs typeface="微软雅黑"/>
            </a:endParaRPr>
          </a:p>
        </p:txBody>
      </p:sp>
      <p:cxnSp>
        <p:nvCxnSpPr>
          <p:cNvPr id="173" name="直线连接符 70"/>
          <p:cNvCxnSpPr/>
          <p:nvPr/>
        </p:nvCxnSpPr>
        <p:spPr>
          <a:xfrm>
            <a:off x="3438999" y="3724492"/>
            <a:ext cx="2413349" cy="0"/>
          </a:xfrm>
          <a:prstGeom prst="line">
            <a:avLst/>
          </a:prstGeom>
          <a:noFill/>
          <a:ln w="19050" cap="flat" cmpd="sng" algn="ctr">
            <a:solidFill>
              <a:srgbClr val="DCDCDC"/>
            </a:solidFill>
            <a:prstDash val="sysDash"/>
            <a:miter lim="800000"/>
          </a:ln>
          <a:effectLst/>
        </p:spPr>
        <p:style>
          <a:lnRef idx="1">
            <a:srgbClr val="0042FF"/>
          </a:lnRef>
          <a:fillRef idx="0">
            <a:srgbClr val="0042FF"/>
          </a:fillRef>
          <a:effectRef idx="0">
            <a:srgbClr val="0042FF"/>
          </a:effectRef>
          <a:fontRef idx="minor">
            <a:srgbClr val="383838"/>
          </a:fontRef>
        </p:style>
      </p:cxnSp>
      <p:sp>
        <p:nvSpPr>
          <p:cNvPr id="174" name="文本框 173"/>
          <p:cNvSpPr txBox="1"/>
          <p:nvPr/>
        </p:nvSpPr>
        <p:spPr>
          <a:xfrm>
            <a:off x="6373632"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目标业绩</a:t>
            </a:r>
            <a:endParaRPr kumimoji="1" lang="zh-CN" altLang="en-US" sz="1200" dirty="0">
              <a:solidFill>
                <a:srgbClr val="383838"/>
              </a:solidFill>
              <a:latin typeface="微软雅黑"/>
              <a:ea typeface="微软雅黑"/>
              <a:cs typeface="微软雅黑"/>
            </a:endParaRPr>
          </a:p>
        </p:txBody>
      </p:sp>
      <p:sp>
        <p:nvSpPr>
          <p:cNvPr id="176" name="文本框 175"/>
          <p:cNvSpPr txBox="1"/>
          <p:nvPr/>
        </p:nvSpPr>
        <p:spPr>
          <a:xfrm>
            <a:off x="7607701"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实际完成</a:t>
            </a:r>
            <a:endParaRPr kumimoji="1" lang="zh-CN" altLang="en-US" sz="1200" dirty="0">
              <a:solidFill>
                <a:srgbClr val="383838"/>
              </a:solidFill>
              <a:latin typeface="微软雅黑"/>
              <a:ea typeface="微软雅黑"/>
              <a:cs typeface="微软雅黑"/>
            </a:endParaRPr>
          </a:p>
        </p:txBody>
      </p:sp>
      <p:cxnSp>
        <p:nvCxnSpPr>
          <p:cNvPr id="178" name="直线连接符 75"/>
          <p:cNvCxnSpPr/>
          <p:nvPr/>
        </p:nvCxnSpPr>
        <p:spPr>
          <a:xfrm>
            <a:off x="6256540" y="3724492"/>
            <a:ext cx="2413349" cy="0"/>
          </a:xfrm>
          <a:prstGeom prst="line">
            <a:avLst/>
          </a:prstGeom>
          <a:noFill/>
          <a:ln w="19050" cap="flat" cmpd="sng" algn="ctr">
            <a:solidFill>
              <a:srgbClr val="DCDCDC"/>
            </a:solidFill>
            <a:prstDash val="sysDash"/>
            <a:miter lim="800000"/>
          </a:ln>
          <a:effectLst/>
        </p:spPr>
        <p:style>
          <a:lnRef idx="1">
            <a:srgbClr val="0042FF"/>
          </a:lnRef>
          <a:fillRef idx="0">
            <a:srgbClr val="0042FF"/>
          </a:fillRef>
          <a:effectRef idx="0">
            <a:srgbClr val="0042FF"/>
          </a:effectRef>
          <a:fontRef idx="minor">
            <a:srgbClr val="383838"/>
          </a:fontRef>
        </p:style>
      </p:cxnSp>
      <p:sp>
        <p:nvSpPr>
          <p:cNvPr id="179" name="文本框 178"/>
          <p:cNvSpPr txBox="1"/>
          <p:nvPr/>
        </p:nvSpPr>
        <p:spPr>
          <a:xfrm>
            <a:off x="9250646"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目标业绩</a:t>
            </a:r>
            <a:endParaRPr kumimoji="1" lang="zh-CN" altLang="en-US" sz="1200" dirty="0">
              <a:solidFill>
                <a:srgbClr val="383838"/>
              </a:solidFill>
              <a:latin typeface="微软雅黑"/>
              <a:ea typeface="微软雅黑"/>
              <a:cs typeface="微软雅黑"/>
            </a:endParaRPr>
          </a:p>
        </p:txBody>
      </p:sp>
      <p:sp>
        <p:nvSpPr>
          <p:cNvPr id="181" name="文本框 180"/>
          <p:cNvSpPr txBox="1"/>
          <p:nvPr/>
        </p:nvSpPr>
        <p:spPr>
          <a:xfrm>
            <a:off x="10484715" y="2973728"/>
            <a:ext cx="90049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实际完成</a:t>
            </a:r>
            <a:endParaRPr kumimoji="1" lang="zh-CN" altLang="en-US" sz="1200" dirty="0">
              <a:solidFill>
                <a:srgbClr val="383838"/>
              </a:solidFill>
              <a:latin typeface="微软雅黑"/>
              <a:ea typeface="微软雅黑"/>
              <a:cs typeface="微软雅黑"/>
            </a:endParaRPr>
          </a:p>
        </p:txBody>
      </p:sp>
      <p:cxnSp>
        <p:nvCxnSpPr>
          <p:cNvPr id="183" name="直线连接符 80"/>
          <p:cNvCxnSpPr/>
          <p:nvPr/>
        </p:nvCxnSpPr>
        <p:spPr>
          <a:xfrm>
            <a:off x="9133554" y="3724492"/>
            <a:ext cx="2413349" cy="0"/>
          </a:xfrm>
          <a:prstGeom prst="line">
            <a:avLst/>
          </a:prstGeom>
          <a:noFill/>
          <a:ln w="19050" cap="flat" cmpd="sng" algn="ctr">
            <a:solidFill>
              <a:srgbClr val="DCDCDC"/>
            </a:solidFill>
            <a:prstDash val="sysDash"/>
            <a:miter lim="800000"/>
          </a:ln>
          <a:effectLst/>
        </p:spPr>
        <p:style>
          <a:lnRef idx="1">
            <a:srgbClr val="0042FF"/>
          </a:lnRef>
          <a:fillRef idx="0">
            <a:srgbClr val="0042FF"/>
          </a:fillRef>
          <a:effectRef idx="0">
            <a:srgbClr val="0042FF"/>
          </a:effectRef>
          <a:fontRef idx="minor">
            <a:srgbClr val="383838"/>
          </a:fontRef>
        </p:style>
      </p:cxnSp>
      <p:sp>
        <p:nvSpPr>
          <p:cNvPr id="184" name="矩形 183"/>
          <p:cNvSpPr/>
          <p:nvPr/>
        </p:nvSpPr>
        <p:spPr>
          <a:xfrm flipH="1">
            <a:off x="544386" y="3839197"/>
            <a:ext cx="2482986" cy="553085"/>
          </a:xfrm>
          <a:prstGeom prst="rect">
            <a:avLst/>
          </a:prstGeom>
          <a:ln>
            <a:noFill/>
          </a:ln>
        </p:spPr>
        <p:txBody>
          <a:bodyPr wrap="square" lIns="0" tIns="0" rIns="0" bIns="0" anchor="t">
            <a:spAutoFit/>
          </a:bodyPr>
          <a:lstStyle/>
          <a:p>
            <a:pPr>
              <a:lnSpc>
                <a:spcPct val="15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一季度总达成</a:t>
            </a:r>
            <a:r>
              <a:rPr lang="en-US" altLang="zh-CN" sz="1000" dirty="0">
                <a:solidFill>
                  <a:srgbClr val="383838"/>
                </a:solidFill>
                <a:effectLst/>
                <a:latin typeface="微软雅黑"/>
                <a:ea typeface="微软雅黑"/>
                <a:cs typeface="微软雅黑"/>
              </a:rPr>
              <a:t>110%</a:t>
            </a:r>
            <a:r>
              <a:rPr lang="zh-CN" altLang="en-US" sz="1000" dirty="0">
                <a:solidFill>
                  <a:srgbClr val="383838"/>
                </a:solidFill>
                <a:effectLst/>
                <a:latin typeface="微软雅黑"/>
                <a:ea typeface="微软雅黑"/>
                <a:cs typeface="微软雅黑"/>
              </a:rPr>
              <a:t>，其中按销售结构来分析，</a:t>
            </a:r>
            <a:r>
              <a:rPr lang="en-US" altLang="zh-CN" sz="1000" dirty="0">
                <a:solidFill>
                  <a:srgbClr val="383838"/>
                </a:solidFill>
                <a:effectLst/>
                <a:latin typeface="微软雅黑"/>
                <a:ea typeface="微软雅黑"/>
                <a:cs typeface="微软雅黑"/>
              </a:rPr>
              <a:t>A</a:t>
            </a:r>
            <a:r>
              <a:rPr lang="zh-CN" altLang="en-US" sz="1000" dirty="0">
                <a:solidFill>
                  <a:srgbClr val="383838"/>
                </a:solidFill>
                <a:effectLst/>
                <a:latin typeface="微软雅黑"/>
                <a:ea typeface="微软雅黑"/>
                <a:cs typeface="微软雅黑"/>
              </a:rPr>
              <a:t>模块占比</a:t>
            </a:r>
            <a:r>
              <a:rPr lang="en-US" altLang="zh-CN" sz="1000" dirty="0">
                <a:solidFill>
                  <a:srgbClr val="383838"/>
                </a:solidFill>
                <a:effectLst/>
                <a:latin typeface="微软雅黑"/>
                <a:ea typeface="微软雅黑"/>
                <a:cs typeface="微软雅黑"/>
              </a:rPr>
              <a:t>70%</a:t>
            </a:r>
            <a:r>
              <a:rPr lang="zh-CN" altLang="en-US" sz="1000" dirty="0">
                <a:solidFill>
                  <a:srgbClr val="383838"/>
                </a:solidFill>
                <a:effectLst/>
                <a:latin typeface="微软雅黑"/>
                <a:ea typeface="微软雅黑"/>
                <a:cs typeface="微软雅黑"/>
              </a:rPr>
              <a:t>，</a:t>
            </a:r>
            <a:r>
              <a:rPr lang="en-US" altLang="zh-CN" sz="1000" dirty="0">
                <a:solidFill>
                  <a:srgbClr val="383838"/>
                </a:solidFill>
                <a:effectLst/>
                <a:latin typeface="微软雅黑"/>
                <a:ea typeface="微软雅黑"/>
                <a:cs typeface="微软雅黑"/>
              </a:rPr>
              <a:t>B</a:t>
            </a:r>
            <a:r>
              <a:rPr lang="zh-CN" altLang="en-US" sz="1000" dirty="0">
                <a:solidFill>
                  <a:srgbClr val="383838"/>
                </a:solidFill>
                <a:effectLst/>
                <a:latin typeface="微软雅黑"/>
                <a:ea typeface="微软雅黑"/>
                <a:cs typeface="微软雅黑"/>
              </a:rPr>
              <a:t>模块占比</a:t>
            </a:r>
            <a:r>
              <a:rPr lang="en-US" altLang="zh-CN" sz="1000" dirty="0">
                <a:solidFill>
                  <a:srgbClr val="383838"/>
                </a:solidFill>
                <a:effectLst/>
                <a:latin typeface="微软雅黑"/>
                <a:ea typeface="微软雅黑"/>
                <a:cs typeface="微软雅黑"/>
              </a:rPr>
              <a:t>30%</a:t>
            </a:r>
            <a:r>
              <a:rPr lang="zh-CN" altLang="en-US" sz="1000" dirty="0">
                <a:solidFill>
                  <a:srgbClr val="383838"/>
                </a:solidFill>
                <a:effectLst/>
                <a:latin typeface="微软雅黑"/>
                <a:ea typeface="微软雅黑"/>
                <a:cs typeface="微软雅黑"/>
              </a:rPr>
              <a:t>。</a:t>
            </a:r>
            <a:endParaRPr lang="zh-CN" altLang="en-US" sz="1000" dirty="0">
              <a:solidFill>
                <a:srgbClr val="383838"/>
              </a:solidFill>
              <a:effectLst/>
              <a:latin typeface="微软雅黑"/>
              <a:ea typeface="微软雅黑"/>
              <a:cs typeface="微软雅黑"/>
            </a:endParaRPr>
          </a:p>
        </p:txBody>
      </p:sp>
      <p:sp>
        <p:nvSpPr>
          <p:cNvPr id="185" name="矩形 184"/>
          <p:cNvSpPr/>
          <p:nvPr/>
        </p:nvSpPr>
        <p:spPr>
          <a:xfrm flipH="1">
            <a:off x="3406533" y="3839197"/>
            <a:ext cx="2482986" cy="553085"/>
          </a:xfrm>
          <a:prstGeom prst="rect">
            <a:avLst/>
          </a:prstGeom>
          <a:ln>
            <a:noFill/>
          </a:ln>
        </p:spPr>
        <p:txBody>
          <a:bodyPr wrap="square" lIns="0" tIns="0" rIns="0" bIns="0" anchor="t">
            <a:spAutoFit/>
          </a:bodyPr>
          <a:lstStyle/>
          <a:p>
            <a:pPr>
              <a:lnSpc>
                <a:spcPct val="15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二季度同比去年同期增长</a:t>
            </a:r>
            <a:r>
              <a:rPr lang="en-US" altLang="zh-CN" sz="1000" dirty="0">
                <a:solidFill>
                  <a:srgbClr val="383838"/>
                </a:solidFill>
                <a:effectLst/>
                <a:latin typeface="微软雅黑"/>
                <a:ea typeface="微软雅黑"/>
                <a:cs typeface="微软雅黑"/>
              </a:rPr>
              <a:t>+10%</a:t>
            </a:r>
            <a:r>
              <a:rPr lang="zh-CN" altLang="en-US" sz="1000" dirty="0">
                <a:solidFill>
                  <a:srgbClr val="383838"/>
                </a:solidFill>
                <a:effectLst/>
                <a:latin typeface="微软雅黑"/>
                <a:ea typeface="微软雅黑"/>
                <a:cs typeface="微软雅黑"/>
              </a:rPr>
              <a:t>，另外从分月数据来看，</a:t>
            </a:r>
            <a:r>
              <a:rPr lang="en-US" altLang="zh-CN" sz="1000" dirty="0">
                <a:solidFill>
                  <a:srgbClr val="383838"/>
                </a:solidFill>
                <a:effectLst/>
                <a:latin typeface="微软雅黑"/>
                <a:ea typeface="微软雅黑"/>
                <a:cs typeface="微软雅黑"/>
              </a:rPr>
              <a:t>5</a:t>
            </a:r>
            <a:r>
              <a:rPr lang="zh-CN" altLang="en-US" sz="1000" dirty="0">
                <a:solidFill>
                  <a:srgbClr val="383838"/>
                </a:solidFill>
                <a:effectLst/>
                <a:latin typeface="微软雅黑"/>
                <a:ea typeface="微软雅黑"/>
                <a:cs typeface="微软雅黑"/>
              </a:rPr>
              <a:t>月份增幅最大达</a:t>
            </a:r>
            <a:r>
              <a:rPr lang="en-US" altLang="zh-CN" sz="1000" dirty="0">
                <a:solidFill>
                  <a:srgbClr val="383838"/>
                </a:solidFill>
                <a:effectLst/>
                <a:latin typeface="微软雅黑"/>
                <a:ea typeface="微软雅黑"/>
                <a:cs typeface="微软雅黑"/>
              </a:rPr>
              <a:t>20%</a:t>
            </a:r>
            <a:r>
              <a:rPr lang="zh-CN" altLang="en-US" sz="1000" dirty="0">
                <a:solidFill>
                  <a:srgbClr val="383838"/>
                </a:solidFill>
                <a:effectLst/>
                <a:latin typeface="微软雅黑"/>
                <a:ea typeface="微软雅黑"/>
                <a:cs typeface="微软雅黑"/>
              </a:rPr>
              <a:t>。</a:t>
            </a:r>
            <a:endParaRPr lang="zh-CN" altLang="en-US" sz="1000" dirty="0">
              <a:solidFill>
                <a:srgbClr val="383838"/>
              </a:solidFill>
              <a:effectLst/>
              <a:latin typeface="微软雅黑"/>
              <a:ea typeface="微软雅黑"/>
              <a:cs typeface="微软雅黑"/>
            </a:endParaRPr>
          </a:p>
        </p:txBody>
      </p:sp>
      <p:sp>
        <p:nvSpPr>
          <p:cNvPr id="186" name="矩形 185"/>
          <p:cNvSpPr/>
          <p:nvPr/>
        </p:nvSpPr>
        <p:spPr>
          <a:xfrm flipH="1">
            <a:off x="6238943" y="3839197"/>
            <a:ext cx="2482986" cy="783590"/>
          </a:xfrm>
          <a:prstGeom prst="rect">
            <a:avLst/>
          </a:prstGeom>
          <a:ln>
            <a:noFill/>
          </a:ln>
        </p:spPr>
        <p:txBody>
          <a:bodyPr wrap="square" lIns="0" tIns="0" rIns="0" bIns="0" anchor="t">
            <a:spAutoFit/>
          </a:bodyPr>
          <a:lstStyle/>
          <a:p>
            <a:pPr>
              <a:lnSpc>
                <a:spcPct val="15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三季度重点在降本增效取得显著成果，其中人力成本降低</a:t>
            </a:r>
            <a:r>
              <a:rPr lang="en-US" altLang="zh-CN" sz="1000" dirty="0">
                <a:solidFill>
                  <a:srgbClr val="383838"/>
                </a:solidFill>
                <a:effectLst/>
                <a:latin typeface="微软雅黑"/>
                <a:ea typeface="微软雅黑"/>
                <a:cs typeface="微软雅黑"/>
              </a:rPr>
              <a:t>-20%</a:t>
            </a:r>
            <a:r>
              <a:rPr lang="zh-CN" altLang="en-US" sz="1000" dirty="0">
                <a:solidFill>
                  <a:srgbClr val="383838"/>
                </a:solidFill>
                <a:effectLst/>
                <a:latin typeface="微软雅黑"/>
                <a:ea typeface="微软雅黑"/>
                <a:cs typeface="微软雅黑"/>
              </a:rPr>
              <a:t>，运输成本降低</a:t>
            </a:r>
            <a:r>
              <a:rPr lang="en-US" altLang="zh-CN" sz="1000" dirty="0">
                <a:solidFill>
                  <a:srgbClr val="383838"/>
                </a:solidFill>
                <a:effectLst/>
                <a:latin typeface="微软雅黑"/>
                <a:ea typeface="微软雅黑"/>
                <a:cs typeface="微软雅黑"/>
              </a:rPr>
              <a:t>-15%</a:t>
            </a:r>
            <a:r>
              <a:rPr lang="zh-CN" altLang="en-US" sz="1000" dirty="0">
                <a:solidFill>
                  <a:srgbClr val="383838"/>
                </a:solidFill>
                <a:effectLst/>
                <a:latin typeface="微软雅黑"/>
                <a:ea typeface="微软雅黑"/>
                <a:cs typeface="微软雅黑"/>
              </a:rPr>
              <a:t>，制作费用基本持平。</a:t>
            </a:r>
            <a:endParaRPr lang="zh-CN" altLang="en-US" sz="1000" dirty="0">
              <a:solidFill>
                <a:srgbClr val="383838"/>
              </a:solidFill>
              <a:effectLst/>
              <a:latin typeface="微软雅黑"/>
              <a:ea typeface="微软雅黑"/>
              <a:cs typeface="微软雅黑"/>
            </a:endParaRPr>
          </a:p>
        </p:txBody>
      </p:sp>
      <p:sp>
        <p:nvSpPr>
          <p:cNvPr id="187" name="矩形 186"/>
          <p:cNvSpPr/>
          <p:nvPr/>
        </p:nvSpPr>
        <p:spPr>
          <a:xfrm flipH="1">
            <a:off x="9130826" y="3839197"/>
            <a:ext cx="2482986" cy="553085"/>
          </a:xfrm>
          <a:prstGeom prst="rect">
            <a:avLst/>
          </a:prstGeom>
          <a:ln>
            <a:noFill/>
          </a:ln>
        </p:spPr>
        <p:txBody>
          <a:bodyPr wrap="square" lIns="0" tIns="0" rIns="0" bIns="0" anchor="t">
            <a:spAutoFit/>
          </a:bodyPr>
          <a:lstStyle/>
          <a:p>
            <a:pPr>
              <a:lnSpc>
                <a:spcPct val="15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四季度对利润构成进行拆解，其中</a:t>
            </a:r>
            <a:r>
              <a:rPr lang="en-US" altLang="zh-CN" sz="1000" dirty="0">
                <a:solidFill>
                  <a:srgbClr val="383838"/>
                </a:solidFill>
                <a:effectLst/>
                <a:latin typeface="微软雅黑"/>
                <a:ea typeface="微软雅黑"/>
                <a:cs typeface="微软雅黑"/>
              </a:rPr>
              <a:t>B</a:t>
            </a:r>
            <a:r>
              <a:rPr lang="zh-CN" altLang="en-US" sz="1000" dirty="0">
                <a:solidFill>
                  <a:srgbClr val="383838"/>
                </a:solidFill>
                <a:effectLst/>
                <a:latin typeface="微软雅黑"/>
                <a:ea typeface="微软雅黑"/>
                <a:cs typeface="微软雅黑"/>
              </a:rPr>
              <a:t>和</a:t>
            </a:r>
            <a:r>
              <a:rPr lang="en-US" altLang="zh-CN" sz="1000" dirty="0">
                <a:solidFill>
                  <a:srgbClr val="383838"/>
                </a:solidFill>
                <a:effectLst/>
                <a:latin typeface="微软雅黑"/>
                <a:ea typeface="微软雅黑"/>
                <a:cs typeface="微软雅黑"/>
              </a:rPr>
              <a:t>C</a:t>
            </a:r>
            <a:r>
              <a:rPr lang="zh-CN" altLang="en-US" sz="1000" dirty="0">
                <a:solidFill>
                  <a:srgbClr val="383838"/>
                </a:solidFill>
                <a:effectLst/>
                <a:latin typeface="微软雅黑"/>
                <a:ea typeface="微软雅黑"/>
                <a:cs typeface="微软雅黑"/>
              </a:rPr>
              <a:t>占比最大，为核心利润来源。</a:t>
            </a:r>
            <a:endParaRPr lang="zh-CN" altLang="en-US" sz="1000" dirty="0">
              <a:solidFill>
                <a:srgbClr val="383838"/>
              </a:solidFill>
              <a:effectLst/>
              <a:latin typeface="微软雅黑"/>
              <a:ea typeface="微软雅黑"/>
              <a:cs typeface="微软雅黑"/>
            </a:endParaRPr>
          </a:p>
        </p:txBody>
      </p:sp>
      <p:sp>
        <p:nvSpPr>
          <p:cNvPr id="247" name="文本框 246"/>
          <p:cNvSpPr txBox="1"/>
          <p:nvPr/>
        </p:nvSpPr>
        <p:spPr>
          <a:xfrm>
            <a:off x="1848572" y="323170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4100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sp>
        <p:nvSpPr>
          <p:cNvPr id="248" name="文本框 247"/>
          <p:cNvSpPr txBox="1"/>
          <p:nvPr/>
        </p:nvSpPr>
        <p:spPr>
          <a:xfrm>
            <a:off x="3460837" y="323170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3600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sp>
        <p:nvSpPr>
          <p:cNvPr id="249" name="文本框 248"/>
          <p:cNvSpPr txBox="1"/>
          <p:nvPr/>
        </p:nvSpPr>
        <p:spPr>
          <a:xfrm>
            <a:off x="4725122" y="323170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4100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sp>
        <p:nvSpPr>
          <p:cNvPr id="250" name="文本框 249"/>
          <p:cNvSpPr txBox="1"/>
          <p:nvPr/>
        </p:nvSpPr>
        <p:spPr>
          <a:xfrm>
            <a:off x="6278332" y="318725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3600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sp>
        <p:nvSpPr>
          <p:cNvPr id="251" name="文本框 250"/>
          <p:cNvSpPr txBox="1"/>
          <p:nvPr/>
        </p:nvSpPr>
        <p:spPr>
          <a:xfrm>
            <a:off x="7542617" y="318725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4100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sp>
        <p:nvSpPr>
          <p:cNvPr id="252" name="文本框 251"/>
          <p:cNvSpPr txBox="1"/>
          <p:nvPr/>
        </p:nvSpPr>
        <p:spPr>
          <a:xfrm>
            <a:off x="9159327" y="323170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3600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sp>
        <p:nvSpPr>
          <p:cNvPr id="253" name="文本框 252"/>
          <p:cNvSpPr txBox="1"/>
          <p:nvPr/>
        </p:nvSpPr>
        <p:spPr>
          <a:xfrm>
            <a:off x="10423612" y="3231701"/>
            <a:ext cx="1179280"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2400" b="1" dirty="0">
                <a:solidFill>
                  <a:srgbClr val="0042FF"/>
                </a:solidFill>
                <a:latin typeface="微软雅黑"/>
                <a:ea typeface="微软雅黑"/>
                <a:cs typeface="微软雅黑"/>
              </a:rPr>
              <a:t>4100</a:t>
            </a:r>
            <a:r>
              <a:rPr kumimoji="1" lang="zh-CN" altLang="en-US" sz="1500" dirty="0">
                <a:solidFill>
                  <a:srgbClr val="383838"/>
                </a:solidFill>
                <a:latin typeface="微软雅黑"/>
                <a:ea typeface="微软雅黑"/>
                <a:cs typeface="微软雅黑"/>
              </a:rPr>
              <a:t>万</a:t>
            </a:r>
            <a:endParaRPr kumimoji="1" lang="zh-CN" altLang="en-US" sz="1500" dirty="0">
              <a:solidFill>
                <a:srgbClr val="383838"/>
              </a:solidFill>
              <a:latin typeface="微软雅黑"/>
              <a:ea typeface="微软雅黑"/>
              <a:cs typeface="微软雅黑"/>
            </a:endParaRPr>
          </a:p>
        </p:txBody>
      </p:sp>
      <p:graphicFrame>
        <p:nvGraphicFramePr>
          <p:cNvPr id="254" name="图表 253"/>
          <p:cNvGraphicFramePr/>
          <p:nvPr/>
        </p:nvGraphicFramePr>
        <p:xfrm>
          <a:off x="3292551" y="4580869"/>
          <a:ext cx="2715386" cy="1373265"/>
        </p:xfrm>
        <a:graphic>
          <a:graphicData uri="http://schemas.openxmlformats.org/drawingml/2006/chart">
            <c:chart xmlns:c="http://schemas.openxmlformats.org/drawingml/2006/chart" xmlns:r="http://schemas.openxmlformats.org/officeDocument/2006/relationships" r:id="rId1"/>
          </a:graphicData>
        </a:graphic>
      </p:graphicFrame>
      <p:graphicFrame>
        <p:nvGraphicFramePr>
          <p:cNvPr id="255" name="图表 254"/>
          <p:cNvGraphicFramePr/>
          <p:nvPr/>
        </p:nvGraphicFramePr>
        <p:xfrm>
          <a:off x="6116755" y="4486291"/>
          <a:ext cx="2714832" cy="150114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6" name="图表 255"/>
          <p:cNvGraphicFramePr/>
          <p:nvPr/>
        </p:nvGraphicFramePr>
        <p:xfrm>
          <a:off x="450430" y="4293073"/>
          <a:ext cx="2718208" cy="1738796"/>
        </p:xfrm>
        <a:graphic>
          <a:graphicData uri="http://schemas.openxmlformats.org/drawingml/2006/chart">
            <c:chart xmlns:c="http://schemas.openxmlformats.org/drawingml/2006/chart" xmlns:r="http://schemas.openxmlformats.org/officeDocument/2006/relationships" r:id="rId3"/>
          </a:graphicData>
        </a:graphic>
      </p:graphicFrame>
      <p:sp>
        <p:nvSpPr>
          <p:cNvPr id="257" name="文本框 256"/>
          <p:cNvSpPr txBox="1"/>
          <p:nvPr/>
        </p:nvSpPr>
        <p:spPr>
          <a:xfrm>
            <a:off x="1221282" y="4882671"/>
            <a:ext cx="1179280" cy="521970"/>
          </a:xfrm>
          <a:prstGeom prst="rect">
            <a:avLst/>
          </a:prstGeom>
          <a:noFill/>
        </p:spPr>
        <p:txBody>
          <a:bodyPr wrap="square" rtlCol="0">
            <a:spAutoFit/>
          </a:bodyPr>
          <a:lstStyle/>
          <a:p>
            <a:pPr algn="ctr">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销售</a:t>
            </a:r>
            <a:endParaRPr kumimoji="1" lang="en-US" altLang="zh-CN" sz="1400" b="1" dirty="0">
              <a:solidFill>
                <a:srgbClr val="0042FF"/>
              </a:solidFill>
              <a:latin typeface="微软雅黑"/>
              <a:ea typeface="微软雅黑"/>
              <a:cs typeface="微软雅黑"/>
            </a:endParaRPr>
          </a:p>
          <a:p>
            <a:pPr algn="ctr">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占比</a:t>
            </a:r>
            <a:endParaRPr kumimoji="1" lang="zh-CN" altLang="en-US" sz="1400" b="1" dirty="0">
              <a:solidFill>
                <a:srgbClr val="0042FF"/>
              </a:solidFill>
              <a:latin typeface="微软雅黑"/>
              <a:ea typeface="微软雅黑"/>
              <a:cs typeface="微软雅黑"/>
            </a:endParaRPr>
          </a:p>
        </p:txBody>
      </p:sp>
      <p:graphicFrame>
        <p:nvGraphicFramePr>
          <p:cNvPr id="258" name="图表 257"/>
          <p:cNvGraphicFramePr/>
          <p:nvPr/>
        </p:nvGraphicFramePr>
        <p:xfrm>
          <a:off x="8962527" y="4293073"/>
          <a:ext cx="2718208" cy="1738796"/>
        </p:xfrm>
        <a:graphic>
          <a:graphicData uri="http://schemas.openxmlformats.org/drawingml/2006/chart">
            <c:chart xmlns:c="http://schemas.openxmlformats.org/drawingml/2006/chart" xmlns:r="http://schemas.openxmlformats.org/officeDocument/2006/relationships" r:id="rId4"/>
          </a:graphicData>
        </a:graphic>
      </p:graphicFrame>
      <p:grpSp>
        <p:nvGrpSpPr>
          <p:cNvPr id="4" name="组合 3"/>
          <p:cNvGrpSpPr/>
          <p:nvPr/>
        </p:nvGrpSpPr>
        <p:grpSpPr>
          <a:xfrm>
            <a:off x="481330" y="1099820"/>
            <a:ext cx="11202670" cy="903605"/>
            <a:chOff x="961" y="1586"/>
            <a:chExt cx="17732" cy="1846"/>
          </a:xfrm>
        </p:grpSpPr>
        <p:sp>
          <p:nvSpPr>
            <p:cNvPr id="142" name="object 17"/>
            <p:cNvSpPr/>
            <p:nvPr/>
          </p:nvSpPr>
          <p:spPr>
            <a:xfrm>
              <a:off x="961" y="1586"/>
              <a:ext cx="17732" cy="1768"/>
            </a:xfrm>
            <a:custGeom>
              <a:avLst/>
              <a:gdLst/>
              <a:ahLst/>
              <a:cxnLst/>
              <a:rect l="l" t="t" r="r" b="b"/>
              <a:pathLst>
                <a:path w="11259820" h="793114">
                  <a:moveTo>
                    <a:pt x="5629719" y="0"/>
                  </a:moveTo>
                  <a:lnTo>
                    <a:pt x="0" y="792759"/>
                  </a:lnTo>
                  <a:lnTo>
                    <a:pt x="11259451" y="792759"/>
                  </a:lnTo>
                  <a:lnTo>
                    <a:pt x="5629719" y="0"/>
                  </a:lnTo>
                  <a:close/>
                </a:path>
              </a:pathLst>
            </a:custGeom>
            <a:gradFill flip="none" rotWithShape="1">
              <a:gsLst>
                <a:gs pos="917">
                  <a:srgbClr val="3368FF"/>
                </a:gs>
                <a:gs pos="60000">
                  <a:srgbClr val="E6E6E6">
                    <a:alpha val="60000"/>
                  </a:srgbClr>
                </a:gs>
                <a:gs pos="98165">
                  <a:srgbClr val="668EFF"/>
                </a:gs>
                <a:gs pos="90000">
                  <a:srgbClr val="E6E6E6">
                    <a:alpha val="100000"/>
                  </a:srgbClr>
                </a:gs>
              </a:gsLst>
              <a:lin ang="5400000" scaled="0"/>
              <a:tileRect/>
            </a:gradFill>
            <a:ln>
              <a:gradFill>
                <a:gsLst>
                  <a:gs pos="0">
                    <a:srgbClr val="FFFFFF"/>
                  </a:gs>
                  <a:gs pos="74000">
                    <a:srgbClr val="668EFF"/>
                  </a:gs>
                  <a:gs pos="83000">
                    <a:srgbClr val="668EFF"/>
                  </a:gs>
                  <a:gs pos="100000">
                    <a:srgbClr val="DCDCDC"/>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 name="object 17"/>
            <p:cNvSpPr/>
            <p:nvPr/>
          </p:nvSpPr>
          <p:spPr>
            <a:xfrm>
              <a:off x="3346" y="1587"/>
              <a:ext cx="12962" cy="1845"/>
            </a:xfrm>
            <a:custGeom>
              <a:avLst/>
              <a:gdLst/>
              <a:ahLst/>
              <a:cxnLst/>
              <a:rect l="l" t="t" r="r" b="b"/>
              <a:pathLst>
                <a:path w="11259820" h="793114">
                  <a:moveTo>
                    <a:pt x="5629719" y="0"/>
                  </a:moveTo>
                  <a:lnTo>
                    <a:pt x="0" y="792759"/>
                  </a:lnTo>
                  <a:lnTo>
                    <a:pt x="11259451" y="792759"/>
                  </a:lnTo>
                  <a:lnTo>
                    <a:pt x="5629719" y="0"/>
                  </a:lnTo>
                  <a:close/>
                </a:path>
              </a:pathLst>
            </a:custGeom>
            <a:gradFill>
              <a:gsLst>
                <a:gs pos="1000">
                  <a:srgbClr val="FFFFFF">
                    <a:alpha val="50000"/>
                  </a:srgbClr>
                </a:gs>
                <a:gs pos="99000">
                  <a:srgbClr val="FFFFFF">
                    <a:alpha val="0"/>
                  </a:srgbClr>
                </a:gs>
              </a:gsLst>
              <a:lin ang="5400000" scaled="1"/>
            </a:gradFill>
            <a:ln w="9525">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sp>
        <p:nvSpPr>
          <p:cNvPr id="6" name="矩形 5"/>
          <p:cNvSpPr/>
          <p:nvPr/>
        </p:nvSpPr>
        <p:spPr>
          <a:xfrm>
            <a:off x="435610" y="1958340"/>
            <a:ext cx="11305540" cy="199390"/>
          </a:xfrm>
          <a:prstGeom prst="rect">
            <a:avLst/>
          </a:prstGeom>
          <a:gradFill flip="none" rotWithShape="1">
            <a:gsLst>
              <a:gs pos="99083">
                <a:srgbClr val="3368FF"/>
              </a:gs>
              <a:gs pos="0">
                <a:srgbClr val="3368FF"/>
              </a:gs>
              <a:gs pos="54000">
                <a:srgbClr val="0042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400">
              <a:solidFill>
                <a:srgbClr val="FFFFFF"/>
              </a:solidFill>
              <a:latin typeface="微软雅黑"/>
              <a:ea typeface="微软雅黑"/>
              <a:cs typeface="微软雅黑"/>
              <a:sym typeface="微软雅黑"/>
            </a:endParaRPr>
          </a:p>
        </p:txBody>
      </p:sp>
      <p:sp>
        <p:nvSpPr>
          <p:cNvPr id="7" name="文本框 6"/>
          <p:cNvSpPr txBox="1"/>
          <p:nvPr/>
        </p:nvSpPr>
        <p:spPr>
          <a:xfrm>
            <a:off x="4534040" y="1344637"/>
            <a:ext cx="3280584" cy="429895"/>
          </a:xfrm>
          <a:prstGeom prst="rect">
            <a:avLst/>
          </a:prstGeom>
          <a:noFill/>
          <a:ln w="19050" cap="flat" cmpd="sng" algn="ctr">
            <a:noFill/>
            <a:prstDash val="solid"/>
            <a:miter lim="800000"/>
          </a:ln>
          <a:effectLst/>
        </p:spPr>
        <p:style>
          <a:lnRef idx="2">
            <a:srgbClr val="DCDCDC"/>
          </a:lnRef>
          <a:fillRef idx="1">
            <a:srgbClr val="FFFFFF"/>
          </a:fillRef>
          <a:effectRef idx="0">
            <a:srgbClr val="DCDCDC"/>
          </a:effectRef>
          <a:fontRef idx="minor">
            <a:srgbClr val="383838"/>
          </a:fontRef>
        </p:style>
        <p:txBody>
          <a:bodyPr wrap="square" rtlCol="0">
            <a:spAutoFit/>
          </a:bodyPr>
          <a:lstStyle/>
          <a:p>
            <a:pPr algn="ctr">
              <a:defRPr>
                <a:latin typeface="微软雅黑"/>
                <a:ea typeface="微软雅黑"/>
                <a:cs typeface="微软雅黑"/>
              </a:defRPr>
            </a:pPr>
            <a:r>
              <a:rPr kumimoji="1" lang="zh-CN" altLang="en-US" sz="2200" b="1" dirty="0">
                <a:solidFill>
                  <a:srgbClr val="383838"/>
                </a:solidFill>
                <a:latin typeface="微软雅黑"/>
                <a:ea typeface="微软雅黑"/>
                <a:cs typeface="微软雅黑"/>
              </a:rPr>
              <a:t>年度业绩达成情况</a:t>
            </a:r>
            <a:endParaRPr kumimoji="1" lang="zh-CN" altLang="en-US" sz="2200" b="1" dirty="0">
              <a:solidFill>
                <a:srgbClr val="383838"/>
              </a:solidFill>
              <a:latin typeface="微软雅黑"/>
              <a:ea typeface="微软雅黑"/>
              <a:cs typeface="微软雅黑"/>
            </a:endParaRPr>
          </a:p>
        </p:txBody>
      </p:sp>
      <p:grpSp>
        <p:nvGrpSpPr>
          <p:cNvPr id="11" name="组合 10"/>
          <p:cNvGrpSpPr/>
          <p:nvPr/>
        </p:nvGrpSpPr>
        <p:grpSpPr>
          <a:xfrm>
            <a:off x="7675245" y="347980"/>
            <a:ext cx="4588510" cy="367030"/>
            <a:chOff x="12087" y="-1089"/>
            <a:chExt cx="7226" cy="578"/>
          </a:xfrm>
        </p:grpSpPr>
        <p:pic>
          <p:nvPicPr>
            <p:cNvPr id="13" name="图片 12"/>
            <p:cNvPicPr>
              <a:picLocks noChangeAspect="1"/>
            </p:cNvPicPr>
            <p:nvPr userDrawn="1"/>
          </p:nvPicPr>
          <p:blipFill>
            <a:blip r:embed="rId7"/>
            <a:srcRect r="57320" b="-13333"/>
            <a:stretch>
              <a:fillRect/>
            </a:stretch>
          </p:blipFill>
          <p:spPr>
            <a:xfrm>
              <a:off x="12087" y="-1089"/>
              <a:ext cx="2548" cy="578"/>
            </a:xfrm>
            <a:prstGeom prst="rect">
              <a:avLst/>
            </a:prstGeom>
          </p:spPr>
        </p:pic>
        <p:sp>
          <p:nvSpPr>
            <p:cNvPr id="15" name="文本框 14"/>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 name="矩形: 圆角 412"/>
          <p:cNvSpPr/>
          <p:nvPr/>
        </p:nvSpPr>
        <p:spPr>
          <a:xfrm>
            <a:off x="1045431" y="3741514"/>
            <a:ext cx="3497769" cy="991023"/>
          </a:xfrm>
          <a:prstGeom prst="roundRect">
            <a:avLst>
              <a:gd name="adj" fmla="val 4396"/>
            </a:avLst>
          </a:prstGeom>
          <a:solidFill>
            <a:srgbClr val="E6E6E6">
              <a:alpha val="20000"/>
            </a:srgbClr>
          </a:solid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lang="zh-CN" altLang="en-US" sz="2500">
                <a:solidFill>
                  <a:srgbClr val="383838"/>
                </a:solidFill>
                <a:effectLst/>
                <a:latin typeface="微软雅黑"/>
                <a:ea typeface="微软雅黑"/>
                <a:cs typeface="微软雅黑"/>
              </a:rPr>
              <a:t>私域流量运营方法</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8" name="等腰三角形 7"/>
          <p:cNvSpPr/>
          <p:nvPr/>
        </p:nvSpPr>
        <p:spPr>
          <a:xfrm>
            <a:off x="1045431" y="1041985"/>
            <a:ext cx="10671130" cy="573855"/>
          </a:xfrm>
          <a:prstGeom prst="triangle">
            <a:avLst/>
          </a:prstGeom>
          <a:gradFill>
            <a:gsLst>
              <a:gs pos="0">
                <a:srgbClr val="3368FF"/>
              </a:gs>
              <a:gs pos="62000">
                <a:srgbClr val="0042FF"/>
              </a:gs>
            </a:gsLst>
            <a:lin ang="1620000" scaled="0"/>
          </a:gradFill>
          <a:ln w="9708" cap="flat">
            <a:solidFill>
              <a:srgbClr val="0042FF"/>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b="1" kern="0" dirty="0">
              <a:solidFill>
                <a:srgbClr val="FFFFFF"/>
              </a:solidFill>
              <a:latin typeface="微软雅黑"/>
              <a:ea typeface="微软雅黑"/>
              <a:cs typeface="微软雅黑"/>
              <a:sym typeface="微软雅黑"/>
            </a:endParaRPr>
          </a:p>
        </p:txBody>
      </p:sp>
      <p:sp>
        <p:nvSpPr>
          <p:cNvPr id="44" name="文本框 43"/>
          <p:cNvSpPr txBox="1"/>
          <p:nvPr/>
        </p:nvSpPr>
        <p:spPr>
          <a:xfrm>
            <a:off x="5404028" y="1205624"/>
            <a:ext cx="1826141" cy="338554"/>
          </a:xfrm>
          <a:prstGeom prst="rect">
            <a:avLst/>
          </a:prstGeom>
          <a:noFill/>
        </p:spPr>
        <p:txBody>
          <a:bodyPr wrap="none" rtlCol="0">
            <a:spAutoFit/>
          </a:bodyPr>
          <a:lstStyle/>
          <a:p>
            <a:pP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私域流量运营方法</a:t>
            </a:r>
            <a:endParaRPr lang="zh-CN" altLang="en-US" sz="1600" b="1">
              <a:solidFill>
                <a:srgbClr val="FFFFFF"/>
              </a:solidFill>
              <a:latin typeface="微软雅黑"/>
              <a:ea typeface="微软雅黑"/>
              <a:cs typeface="微软雅黑"/>
            </a:endParaRPr>
          </a:p>
        </p:txBody>
      </p:sp>
      <p:sp>
        <p:nvSpPr>
          <p:cNvPr id="2" name="矩形: 圆角 169"/>
          <p:cNvSpPr/>
          <p:nvPr/>
        </p:nvSpPr>
        <p:spPr>
          <a:xfrm>
            <a:off x="1045431" y="6131387"/>
            <a:ext cx="10671130" cy="346289"/>
          </a:xfrm>
          <a:prstGeom prst="roundRect">
            <a:avLst>
              <a:gd name="adj" fmla="val 12581"/>
            </a:avLst>
          </a:prstGeom>
          <a:gradFill>
            <a:gsLst>
              <a:gs pos="2000">
                <a:srgbClr val="3368FF"/>
              </a:gs>
              <a:gs pos="100000">
                <a:srgbClr val="0042FF"/>
              </a:gs>
            </a:gsLst>
            <a:lin ang="1620000" scaled="0"/>
          </a:gradFill>
          <a:ln w="9708" cap="flat">
            <a:no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kern="0" dirty="0">
                <a:solidFill>
                  <a:srgbClr val="FFFFFF"/>
                </a:solidFill>
                <a:latin typeface="微软雅黑"/>
                <a:ea typeface="微软雅黑"/>
                <a:cs typeface="微软雅黑"/>
                <a:sym typeface="微软雅黑"/>
              </a:rPr>
              <a:t>私域流量是通过精准的用户关系管理和优质内容运营，吸引、留住并转化目标用户，实现可持续增长的流量来源。</a:t>
            </a:r>
            <a:endParaRPr lang="zh-CN" altLang="en-US" sz="1200" b="1" kern="0" dirty="0">
              <a:solidFill>
                <a:srgbClr val="FFFFFF"/>
              </a:solidFill>
              <a:latin typeface="微软雅黑"/>
              <a:ea typeface="微软雅黑"/>
              <a:cs typeface="微软雅黑"/>
              <a:sym typeface="微软雅黑"/>
            </a:endParaRPr>
          </a:p>
        </p:txBody>
      </p:sp>
      <p:sp>
        <p:nvSpPr>
          <p:cNvPr id="3" name="矩形: 圆角 56"/>
          <p:cNvSpPr/>
          <p:nvPr/>
        </p:nvSpPr>
        <p:spPr>
          <a:xfrm>
            <a:off x="1045431" y="2110985"/>
            <a:ext cx="3497769" cy="707830"/>
          </a:xfrm>
          <a:prstGeom prst="roundRect">
            <a:avLst>
              <a:gd name="adj" fmla="val 6155"/>
            </a:avLst>
          </a:prstGeom>
          <a:solidFill>
            <a:srgbClr val="FFFFFF"/>
          </a:solidFill>
          <a:ln w="12700" cap="flat" cmpd="sng" algn="ctr">
            <a:solidFill>
              <a:srgbClr val="3368FF">
                <a:alpha val="8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alpha val="80000"/>
                    </a:srgbClr>
                  </a:gs>
                  <a:gs pos="100000">
                    <a:srgbClr val="0042FF">
                      <a:alpha val="80000"/>
                    </a:srgbClr>
                  </a:gs>
                </a:gsLst>
                <a:lin ang="2700000" scaled="0"/>
              </a:gradFill>
              <a:latin typeface="微软雅黑"/>
              <a:ea typeface="微软雅黑"/>
              <a:cs typeface="微软雅黑"/>
            </a:endParaRPr>
          </a:p>
        </p:txBody>
      </p:sp>
      <p:sp>
        <p:nvSpPr>
          <p:cNvPr id="76" name="矩形: 圆角 75"/>
          <p:cNvSpPr/>
          <p:nvPr/>
        </p:nvSpPr>
        <p:spPr>
          <a:xfrm>
            <a:off x="475439" y="2904751"/>
            <a:ext cx="348076" cy="762267"/>
          </a:xfrm>
          <a:prstGeom prst="roundRect">
            <a:avLst>
              <a:gd name="adj" fmla="val 50000"/>
            </a:avLst>
          </a:prstGeom>
          <a:solidFill>
            <a:srgbClr val="B3D4FE"/>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algn="ctr">
              <a:defRPr>
                <a:latin typeface="微软雅黑"/>
                <a:ea typeface="微软雅黑"/>
                <a:cs typeface="微软雅黑"/>
              </a:defRPr>
            </a:pPr>
            <a:r>
              <a:rPr lang="zh-CN" altLang="en-US" sz="1100" b="1">
                <a:solidFill>
                  <a:srgbClr val="383838"/>
                </a:solidFill>
                <a:latin typeface="微软雅黑"/>
                <a:ea typeface="微软雅黑"/>
                <a:cs typeface="微软雅黑"/>
              </a:rPr>
              <a:t>问题</a:t>
            </a:r>
            <a:endParaRPr lang="zh-CN" altLang="en-US" sz="1100" b="1">
              <a:solidFill>
                <a:srgbClr val="383838"/>
              </a:solidFill>
              <a:latin typeface="微软雅黑"/>
              <a:ea typeface="微软雅黑"/>
              <a:cs typeface="微软雅黑"/>
            </a:endParaRPr>
          </a:p>
        </p:txBody>
      </p:sp>
      <p:sp>
        <p:nvSpPr>
          <p:cNvPr id="77" name="矩形: 圆角 76"/>
          <p:cNvSpPr/>
          <p:nvPr/>
        </p:nvSpPr>
        <p:spPr>
          <a:xfrm>
            <a:off x="475439" y="3738243"/>
            <a:ext cx="348076" cy="997564"/>
          </a:xfrm>
          <a:prstGeom prst="roundRect">
            <a:avLst>
              <a:gd name="adj" fmla="val 50000"/>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100" b="1">
                <a:solidFill>
                  <a:srgbClr val="FFFFFF"/>
                </a:solidFill>
                <a:latin typeface="微软雅黑"/>
                <a:ea typeface="微软雅黑"/>
                <a:cs typeface="微软雅黑"/>
              </a:rPr>
              <a:t>解法</a:t>
            </a:r>
            <a:endParaRPr lang="zh-CN" altLang="en-US" sz="1100" b="1">
              <a:solidFill>
                <a:srgbClr val="FFFFFF"/>
              </a:solidFill>
              <a:latin typeface="微软雅黑"/>
              <a:ea typeface="微软雅黑"/>
              <a:cs typeface="微软雅黑"/>
            </a:endParaRPr>
          </a:p>
        </p:txBody>
      </p:sp>
      <p:sp>
        <p:nvSpPr>
          <p:cNvPr id="78" name="矩形: 圆角 77"/>
          <p:cNvSpPr/>
          <p:nvPr/>
        </p:nvSpPr>
        <p:spPr>
          <a:xfrm>
            <a:off x="475439" y="4828647"/>
            <a:ext cx="348076" cy="1224490"/>
          </a:xfrm>
          <a:prstGeom prst="roundRect">
            <a:avLst>
              <a:gd name="adj" fmla="val 50000"/>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100" b="1">
                <a:solidFill>
                  <a:srgbClr val="FFFFFF"/>
                </a:solidFill>
                <a:latin typeface="微软雅黑"/>
                <a:ea typeface="微软雅黑"/>
                <a:cs typeface="微软雅黑"/>
              </a:rPr>
              <a:t>工具</a:t>
            </a:r>
            <a:endParaRPr lang="zh-CN" altLang="en-US" sz="1100" b="1">
              <a:solidFill>
                <a:srgbClr val="FFFFFF"/>
              </a:solidFill>
              <a:latin typeface="微软雅黑"/>
              <a:ea typeface="微软雅黑"/>
              <a:cs typeface="微软雅黑"/>
            </a:endParaRPr>
          </a:p>
        </p:txBody>
      </p:sp>
      <p:sp>
        <p:nvSpPr>
          <p:cNvPr id="112" name="矩形: 圆角 111"/>
          <p:cNvSpPr/>
          <p:nvPr/>
        </p:nvSpPr>
        <p:spPr>
          <a:xfrm>
            <a:off x="4632111" y="2904751"/>
            <a:ext cx="3497769" cy="762267"/>
          </a:xfrm>
          <a:prstGeom prst="roundRect">
            <a:avLst>
              <a:gd name="adj" fmla="val 5716"/>
            </a:avLst>
          </a:prstGeom>
          <a:solidFill>
            <a:srgbClr val="B3D4FE">
              <a:alpha val="10000"/>
            </a:srgbClr>
          </a:solidFill>
          <a:ln w="12700" cap="flat" cmpd="sng" algn="ctr">
            <a:solidFill>
              <a:srgbClr val="B3D4FE">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113" name="文本框 112"/>
          <p:cNvSpPr txBox="1"/>
          <p:nvPr/>
        </p:nvSpPr>
        <p:spPr>
          <a:xfrm>
            <a:off x="5251720" y="3035468"/>
            <a:ext cx="902811" cy="307777"/>
          </a:xfrm>
          <a:prstGeom prst="rect">
            <a:avLst/>
          </a:prstGeom>
          <a:noFill/>
        </p:spPr>
        <p:txBody>
          <a:bodyPr wrap="none" rtlCol="0" lIns="0" rIns="0" tIns="0" bIns="0">
            <a:spAutoFit/>
          </a:bodyPr>
          <a:lstStyle/>
          <a:p>
            <a:pPr marR="0" lvl="0" indent="0" fontAlgn="auto">
              <a:lnSpc>
                <a:spcPct val="100000"/>
              </a:lnSpc>
              <a:spcBef>
                <a:spcPts val="0"/>
              </a:spcBef>
              <a:spcAft>
                <a:spcPts val="0"/>
              </a:spcAft>
              <a:buClrTx/>
              <a:buSzTx/>
              <a:buFontTx/>
              <a:buNone/>
              <a:defRPr>
                <a:latin typeface="微软雅黑"/>
                <a:ea typeface="微软雅黑"/>
                <a:cs typeface="微软雅黑"/>
              </a:defRPr>
            </a:pPr>
            <a:r>
              <a:rPr lang="zh-CN" altLang="en-US" sz="1400" b="1">
                <a:solidFill>
                  <a:srgbClr val="0042FF"/>
                </a:solidFill>
                <a:latin typeface="微软雅黑"/>
                <a:ea typeface="微软雅黑"/>
                <a:cs typeface="微软雅黑"/>
              </a:rPr>
              <a:t>流量转化</a:t>
            </a:r>
            <a:endParaRPr lang="zh-CN" altLang="en-US" sz="1400" b="1">
              <a:solidFill>
                <a:srgbClr val="0042FF"/>
              </a:solidFill>
              <a:latin typeface="微软雅黑"/>
              <a:ea typeface="微软雅黑"/>
              <a:cs typeface="微软雅黑"/>
            </a:endParaRPr>
          </a:p>
        </p:txBody>
      </p:sp>
      <p:sp>
        <p:nvSpPr>
          <p:cNvPr id="114" name="文本框 113"/>
          <p:cNvSpPr txBox="1"/>
          <p:nvPr/>
        </p:nvSpPr>
        <p:spPr>
          <a:xfrm>
            <a:off x="5251722" y="3268797"/>
            <a:ext cx="2934630" cy="272126"/>
          </a:xfrm>
          <a:prstGeom prst="rect">
            <a:avLst/>
          </a:prstGeom>
          <a:noFill/>
        </p:spPr>
        <p:txBody>
          <a:bodyPr wrap="square" rtlCol="0" lIns="0" rIns="0" tIns="0" bIns="0">
            <a:spAutoFit/>
          </a:bodyPr>
          <a:lstStyle/>
          <a:p>
            <a:pPr>
              <a:lnSpc>
                <a:spcPct val="120000"/>
              </a:lnSpc>
              <a:defRPr>
                <a:latin typeface="微软雅黑"/>
                <a:ea typeface="微软雅黑"/>
                <a:cs typeface="微软雅黑"/>
              </a:defRPr>
            </a:pPr>
            <a:r>
              <a:rPr lang="zh-CN" altLang="en-US" sz="1050" kern="0">
                <a:solidFill>
                  <a:srgbClr val="383838"/>
                </a:solidFill>
                <a:latin typeface="微软雅黑"/>
                <a:ea typeface="微软雅黑"/>
                <a:cs typeface="微软雅黑"/>
              </a:rPr>
              <a:t>如何将其转化为实际的商业价值是关键问题。</a:t>
            </a:r>
            <a:endParaRPr lang="zh-CN" altLang="en-US" sz="1050" kern="0">
              <a:solidFill>
                <a:srgbClr val="383838"/>
              </a:solidFill>
              <a:latin typeface="微软雅黑"/>
              <a:ea typeface="微软雅黑"/>
              <a:cs typeface="微软雅黑"/>
            </a:endParaRPr>
          </a:p>
        </p:txBody>
      </p:sp>
      <p:sp>
        <p:nvSpPr>
          <p:cNvPr id="115" name="矩形: 圆角 114"/>
          <p:cNvSpPr/>
          <p:nvPr/>
        </p:nvSpPr>
        <p:spPr>
          <a:xfrm>
            <a:off x="4834692" y="3091991"/>
            <a:ext cx="384590" cy="395698"/>
          </a:xfrm>
          <a:prstGeom prst="roundRect">
            <a:avLst>
              <a:gd name="adj" fmla="val 12126"/>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383838"/>
              </a:solidFill>
              <a:latin typeface="微软雅黑"/>
              <a:ea typeface="微软雅黑"/>
              <a:cs typeface="微软雅黑"/>
            </a:endParaRPr>
          </a:p>
        </p:txBody>
      </p:sp>
      <p:sp>
        <p:nvSpPr>
          <p:cNvPr id="7" name="矩形: 圆角 69"/>
          <p:cNvSpPr/>
          <p:nvPr/>
        </p:nvSpPr>
        <p:spPr>
          <a:xfrm>
            <a:off x="4632111" y="3738243"/>
            <a:ext cx="3497769" cy="991023"/>
          </a:xfrm>
          <a:prstGeom prst="roundRect">
            <a:avLst>
              <a:gd name="adj" fmla="val 4396"/>
            </a:avLst>
          </a:prstGeom>
          <a:solidFill>
            <a:srgbClr val="E6E6E6">
              <a:alpha val="20000"/>
            </a:srgbClr>
          </a:solid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9" name="矩形: 圆角 122"/>
          <p:cNvSpPr/>
          <p:nvPr/>
        </p:nvSpPr>
        <p:spPr>
          <a:xfrm>
            <a:off x="5837767" y="3799690"/>
            <a:ext cx="2089531" cy="313690"/>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用户画像+个性化营销=提高转化率。</a:t>
            </a:r>
            <a:endParaRPr lang="en-US" altLang="zh-CN" sz="1000" kern="0" dirty="0">
              <a:solidFill>
                <a:srgbClr val="383838"/>
              </a:solidFill>
              <a:latin typeface="微软雅黑"/>
              <a:ea typeface="微软雅黑"/>
              <a:cs typeface="微软雅黑"/>
              <a:sym typeface="微软雅黑"/>
            </a:endParaRPr>
          </a:p>
        </p:txBody>
      </p:sp>
      <p:sp>
        <p:nvSpPr>
          <p:cNvPr id="11" name="矩形: 圆角 128"/>
          <p:cNvSpPr/>
          <p:nvPr/>
        </p:nvSpPr>
        <p:spPr>
          <a:xfrm>
            <a:off x="5837767" y="4126080"/>
            <a:ext cx="208953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优化用户体验，促进流量转化。</a:t>
            </a:r>
            <a:endParaRPr lang="en-US" altLang="zh-CN" sz="1000" kern="0" dirty="0">
              <a:solidFill>
                <a:srgbClr val="383838"/>
              </a:solidFill>
              <a:latin typeface="微软雅黑"/>
              <a:ea typeface="微软雅黑"/>
              <a:cs typeface="微软雅黑"/>
              <a:sym typeface="微软雅黑"/>
            </a:endParaRPr>
          </a:p>
        </p:txBody>
      </p:sp>
      <p:grpSp>
        <p:nvGrpSpPr>
          <p:cNvPr id="432" name="组合 431"/>
          <p:cNvGrpSpPr/>
          <p:nvPr/>
        </p:nvGrpSpPr>
        <p:grpSpPr>
          <a:xfrm>
            <a:off x="4834692" y="3848103"/>
            <a:ext cx="948041" cy="771304"/>
            <a:chOff x="4834692" y="3848103"/>
            <a:chExt cx="814173" cy="771304"/>
          </a:xfrm>
          <a:solidFill>
            <a:srgbClr val="3368FF"/>
          </a:solidFill>
        </p:grpSpPr>
        <p:sp>
          <p:nvSpPr>
            <p:cNvPr id="12" name="矩形: 圆角 119"/>
            <p:cNvSpPr/>
            <p:nvPr/>
          </p:nvSpPr>
          <p:spPr>
            <a:xfrm>
              <a:off x="4834692" y="3848103"/>
              <a:ext cx="814173" cy="215349"/>
            </a:xfrm>
            <a:prstGeom prst="roundRect">
              <a:avLst/>
            </a:prstGeom>
            <a:grp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dirty="0">
                  <a:solidFill>
                    <a:srgbClr val="FFFFFF"/>
                  </a:solidFill>
                  <a:latin typeface="微软雅黑"/>
                  <a:ea typeface="微软雅黑"/>
                  <a:cs typeface="微软雅黑"/>
                </a:rPr>
                <a:t>个性化营销策略</a:t>
              </a:r>
              <a:endParaRPr lang="zh-CN" altLang="en-US" sz="1000" b="1" kern="0" dirty="0">
                <a:solidFill>
                  <a:srgbClr val="FFFFFF"/>
                </a:solidFill>
                <a:latin typeface="微软雅黑"/>
                <a:ea typeface="微软雅黑"/>
                <a:cs typeface="微软雅黑"/>
              </a:endParaRPr>
            </a:p>
          </p:txBody>
        </p:sp>
        <p:sp>
          <p:nvSpPr>
            <p:cNvPr id="13" name="矩形: 圆角 127"/>
            <p:cNvSpPr/>
            <p:nvPr/>
          </p:nvSpPr>
          <p:spPr>
            <a:xfrm>
              <a:off x="4834692" y="4126080"/>
              <a:ext cx="814173" cy="215349"/>
            </a:xfrm>
            <a:prstGeom prst="roundRect">
              <a:avLst/>
            </a:prstGeom>
            <a:grp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rPr>
                <a:t>强化用户体验</a:t>
              </a:r>
              <a:endParaRPr lang="zh-CN" altLang="en-US" sz="1000" b="1" kern="0">
                <a:solidFill>
                  <a:srgbClr val="FFFFFF"/>
                </a:solidFill>
                <a:latin typeface="微软雅黑"/>
                <a:ea typeface="微软雅黑"/>
                <a:cs typeface="微软雅黑"/>
              </a:endParaRPr>
            </a:p>
          </p:txBody>
        </p:sp>
        <p:sp>
          <p:nvSpPr>
            <p:cNvPr id="14" name="矩形: 圆角 130"/>
            <p:cNvSpPr/>
            <p:nvPr/>
          </p:nvSpPr>
          <p:spPr>
            <a:xfrm>
              <a:off x="4834692" y="4404058"/>
              <a:ext cx="814173" cy="215349"/>
            </a:xfrm>
            <a:prstGeom prst="roundRect">
              <a:avLst/>
            </a:prstGeom>
            <a:grp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rPr>
                <a:t>营销渠道整合</a:t>
              </a:r>
              <a:endParaRPr lang="zh-CN" altLang="en-US" sz="1000" b="1" kern="0">
                <a:solidFill>
                  <a:srgbClr val="FFFFFF"/>
                </a:solidFill>
                <a:latin typeface="微软雅黑"/>
                <a:ea typeface="微软雅黑"/>
                <a:cs typeface="微软雅黑"/>
              </a:endParaRPr>
            </a:p>
          </p:txBody>
        </p:sp>
      </p:grpSp>
      <p:sp>
        <p:nvSpPr>
          <p:cNvPr id="15" name="矩形: 圆角 131"/>
          <p:cNvSpPr/>
          <p:nvPr/>
        </p:nvSpPr>
        <p:spPr>
          <a:xfrm>
            <a:off x="5837767" y="4404058"/>
            <a:ext cx="208953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多渠道整合，提高转化率。</a:t>
            </a:r>
            <a:endParaRPr lang="en-US" altLang="zh-CN" sz="1000" kern="0" dirty="0">
              <a:solidFill>
                <a:srgbClr val="383838"/>
              </a:solidFill>
              <a:latin typeface="微软雅黑"/>
              <a:ea typeface="微软雅黑"/>
              <a:cs typeface="微软雅黑"/>
              <a:sym typeface="微软雅黑"/>
            </a:endParaRPr>
          </a:p>
        </p:txBody>
      </p:sp>
      <p:sp>
        <p:nvSpPr>
          <p:cNvPr id="239" name="矩形: 圆角 238"/>
          <p:cNvSpPr/>
          <p:nvPr/>
        </p:nvSpPr>
        <p:spPr>
          <a:xfrm>
            <a:off x="1248012" y="3848103"/>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rPr>
              <a:t>SEO</a:t>
            </a:r>
            <a:r>
              <a:rPr lang="zh-CN" altLang="en-US" sz="1000" kern="0" dirty="0">
                <a:solidFill>
                  <a:srgbClr val="383838"/>
                </a:solidFill>
                <a:latin typeface="微软雅黑"/>
                <a:ea typeface="微软雅黑"/>
                <a:cs typeface="微软雅黑"/>
              </a:rPr>
              <a:t>优化</a:t>
            </a:r>
            <a:endParaRPr lang="zh-CN" altLang="en-US" sz="1000" kern="0" dirty="0">
              <a:solidFill>
                <a:srgbClr val="383838"/>
              </a:solidFill>
              <a:latin typeface="微软雅黑"/>
              <a:ea typeface="微软雅黑"/>
              <a:cs typeface="微软雅黑"/>
            </a:endParaRPr>
          </a:p>
        </p:txBody>
      </p:sp>
      <p:sp>
        <p:nvSpPr>
          <p:cNvPr id="16" name="矩形: 圆角 239"/>
          <p:cNvSpPr/>
          <p:nvPr/>
        </p:nvSpPr>
        <p:spPr>
          <a:xfrm>
            <a:off x="1248012" y="4126081"/>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dirty="0">
                <a:solidFill>
                  <a:srgbClr val="383838"/>
                </a:solidFill>
                <a:latin typeface="微软雅黑"/>
                <a:ea typeface="微软雅黑"/>
                <a:cs typeface="微软雅黑"/>
              </a:rPr>
              <a:t>用户注册激励</a:t>
            </a:r>
            <a:endParaRPr lang="zh-CN" altLang="en-US" sz="1000" kern="0" dirty="0">
              <a:solidFill>
                <a:srgbClr val="383838"/>
              </a:solidFill>
              <a:latin typeface="微软雅黑"/>
              <a:ea typeface="微软雅黑"/>
              <a:cs typeface="微软雅黑"/>
            </a:endParaRPr>
          </a:p>
        </p:txBody>
      </p:sp>
      <p:sp>
        <p:nvSpPr>
          <p:cNvPr id="241" name="矩形: 圆角 240"/>
          <p:cNvSpPr/>
          <p:nvPr/>
        </p:nvSpPr>
        <p:spPr>
          <a:xfrm>
            <a:off x="1248012" y="4404059"/>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a:solidFill>
                  <a:srgbClr val="383838"/>
                </a:solidFill>
                <a:latin typeface="微软雅黑"/>
                <a:ea typeface="微软雅黑"/>
                <a:cs typeface="微软雅黑"/>
              </a:rPr>
              <a:t>搜索引擎营销</a:t>
            </a:r>
            <a:endParaRPr lang="zh-CN" altLang="en-US" sz="1000" kern="0">
              <a:solidFill>
                <a:srgbClr val="383838"/>
              </a:solidFill>
              <a:latin typeface="微软雅黑"/>
              <a:ea typeface="微软雅黑"/>
              <a:cs typeface="微软雅黑"/>
            </a:endParaRPr>
          </a:p>
        </p:txBody>
      </p:sp>
      <p:sp>
        <p:nvSpPr>
          <p:cNvPr id="236" name="矩形: 圆角 235"/>
          <p:cNvSpPr/>
          <p:nvPr/>
        </p:nvSpPr>
        <p:spPr>
          <a:xfrm>
            <a:off x="2296265" y="3848103"/>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a:solidFill>
                  <a:srgbClr val="383838"/>
                </a:solidFill>
                <a:latin typeface="微软雅黑"/>
                <a:ea typeface="微软雅黑"/>
                <a:cs typeface="微软雅黑"/>
              </a:rPr>
              <a:t>社交媒体推广</a:t>
            </a:r>
            <a:endParaRPr lang="zh-CN" altLang="en-US" sz="1000" kern="0">
              <a:solidFill>
                <a:srgbClr val="383838"/>
              </a:solidFill>
              <a:latin typeface="微软雅黑"/>
              <a:ea typeface="微软雅黑"/>
              <a:cs typeface="微软雅黑"/>
            </a:endParaRPr>
          </a:p>
        </p:txBody>
      </p:sp>
      <p:sp>
        <p:nvSpPr>
          <p:cNvPr id="237" name="矩形: 圆角 236"/>
          <p:cNvSpPr/>
          <p:nvPr/>
        </p:nvSpPr>
        <p:spPr>
          <a:xfrm>
            <a:off x="2296265" y="4126081"/>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dirty="0">
                <a:solidFill>
                  <a:srgbClr val="383838"/>
                </a:solidFill>
                <a:latin typeface="微软雅黑"/>
                <a:ea typeface="微软雅黑"/>
                <a:cs typeface="微软雅黑"/>
              </a:rPr>
              <a:t>个性化推荐</a:t>
            </a:r>
            <a:endParaRPr lang="zh-CN" altLang="en-US" sz="1000" kern="0" dirty="0">
              <a:solidFill>
                <a:srgbClr val="383838"/>
              </a:solidFill>
              <a:latin typeface="微软雅黑"/>
              <a:ea typeface="微软雅黑"/>
              <a:cs typeface="微软雅黑"/>
            </a:endParaRPr>
          </a:p>
        </p:txBody>
      </p:sp>
      <p:sp>
        <p:nvSpPr>
          <p:cNvPr id="238" name="矩形: 圆角 237"/>
          <p:cNvSpPr/>
          <p:nvPr/>
        </p:nvSpPr>
        <p:spPr>
          <a:xfrm>
            <a:off x="2296265" y="4404059"/>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a:solidFill>
                  <a:srgbClr val="383838"/>
                </a:solidFill>
                <a:latin typeface="微软雅黑"/>
                <a:ea typeface="微软雅黑"/>
                <a:cs typeface="微软雅黑"/>
              </a:rPr>
              <a:t>社群运营</a:t>
            </a:r>
            <a:endParaRPr lang="zh-CN" altLang="en-US" sz="1000" kern="0">
              <a:solidFill>
                <a:srgbClr val="383838"/>
              </a:solidFill>
              <a:latin typeface="微软雅黑"/>
              <a:ea typeface="微软雅黑"/>
              <a:cs typeface="微软雅黑"/>
            </a:endParaRPr>
          </a:p>
        </p:txBody>
      </p:sp>
      <p:sp>
        <p:nvSpPr>
          <p:cNvPr id="233" name="矩形: 圆角 232"/>
          <p:cNvSpPr/>
          <p:nvPr/>
        </p:nvSpPr>
        <p:spPr>
          <a:xfrm>
            <a:off x="3344517" y="3848103"/>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dirty="0">
                <a:solidFill>
                  <a:srgbClr val="383838"/>
                </a:solidFill>
                <a:latin typeface="微软雅黑"/>
                <a:ea typeface="微软雅黑"/>
                <a:cs typeface="微软雅黑"/>
              </a:rPr>
              <a:t>内容营销</a:t>
            </a:r>
            <a:endParaRPr lang="zh-CN" altLang="en-US" sz="1000" kern="0" dirty="0">
              <a:solidFill>
                <a:srgbClr val="383838"/>
              </a:solidFill>
              <a:latin typeface="微软雅黑"/>
              <a:ea typeface="微软雅黑"/>
              <a:cs typeface="微软雅黑"/>
            </a:endParaRPr>
          </a:p>
        </p:txBody>
      </p:sp>
      <p:sp>
        <p:nvSpPr>
          <p:cNvPr id="234" name="矩形: 圆角 233"/>
          <p:cNvSpPr/>
          <p:nvPr/>
        </p:nvSpPr>
        <p:spPr>
          <a:xfrm>
            <a:off x="3344517" y="4126081"/>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a:solidFill>
                  <a:srgbClr val="383838"/>
                </a:solidFill>
                <a:latin typeface="微软雅黑"/>
                <a:ea typeface="微软雅黑"/>
                <a:cs typeface="微软雅黑"/>
              </a:rPr>
              <a:t>精准广告投放</a:t>
            </a:r>
            <a:endParaRPr lang="zh-CN" altLang="en-US" sz="1000" kern="0">
              <a:solidFill>
                <a:srgbClr val="383838"/>
              </a:solidFill>
              <a:latin typeface="微软雅黑"/>
              <a:ea typeface="微软雅黑"/>
              <a:cs typeface="微软雅黑"/>
            </a:endParaRPr>
          </a:p>
        </p:txBody>
      </p:sp>
      <p:sp>
        <p:nvSpPr>
          <p:cNvPr id="235" name="矩形: 圆角 234"/>
          <p:cNvSpPr/>
          <p:nvPr/>
        </p:nvSpPr>
        <p:spPr>
          <a:xfrm>
            <a:off x="3344517" y="4404059"/>
            <a:ext cx="991171" cy="21534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kern="0">
                <a:solidFill>
                  <a:srgbClr val="383838"/>
                </a:solidFill>
                <a:latin typeface="微软雅黑"/>
                <a:ea typeface="微软雅黑"/>
                <a:cs typeface="微软雅黑"/>
              </a:rPr>
              <a:t>电子邮件营销</a:t>
            </a:r>
            <a:endParaRPr lang="zh-CN" altLang="en-US" sz="1000" kern="0">
              <a:solidFill>
                <a:srgbClr val="383838"/>
              </a:solidFill>
              <a:latin typeface="微软雅黑"/>
              <a:ea typeface="微软雅黑"/>
              <a:cs typeface="微软雅黑"/>
            </a:endParaRPr>
          </a:p>
        </p:txBody>
      </p:sp>
      <p:sp>
        <p:nvSpPr>
          <p:cNvPr id="151" name="矩形: 圆角 150"/>
          <p:cNvSpPr/>
          <p:nvPr/>
        </p:nvSpPr>
        <p:spPr>
          <a:xfrm>
            <a:off x="8218792" y="3738243"/>
            <a:ext cx="3497769" cy="991023"/>
          </a:xfrm>
          <a:prstGeom prst="roundRect">
            <a:avLst>
              <a:gd name="adj" fmla="val 4396"/>
            </a:avLst>
          </a:prstGeom>
          <a:solidFill>
            <a:srgbClr val="E6E6E6">
              <a:alpha val="20000"/>
            </a:srgbClr>
          </a:solid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grpSp>
        <p:nvGrpSpPr>
          <p:cNvPr id="263" name="组合 262"/>
          <p:cNvGrpSpPr/>
          <p:nvPr/>
        </p:nvGrpSpPr>
        <p:grpSpPr>
          <a:xfrm>
            <a:off x="8423838" y="3848103"/>
            <a:ext cx="3087676" cy="771305"/>
            <a:chOff x="8399555" y="5182729"/>
            <a:chExt cx="2039424" cy="825601"/>
          </a:xfrm>
          <a:solidFill>
            <a:srgbClr val="E6E6E6"/>
          </a:solidFill>
        </p:grpSpPr>
        <p:grpSp>
          <p:nvGrpSpPr>
            <p:cNvPr id="264" name="组合 263"/>
            <p:cNvGrpSpPr/>
            <p:nvPr/>
          </p:nvGrpSpPr>
          <p:grpSpPr>
            <a:xfrm>
              <a:off x="8399555" y="5182729"/>
              <a:ext cx="991171" cy="825601"/>
              <a:chOff x="1221264" y="4129440"/>
              <a:chExt cx="3092606" cy="825601"/>
            </a:xfrm>
            <a:grpFill/>
          </p:grpSpPr>
          <p:sp>
            <p:nvSpPr>
              <p:cNvPr id="275" name="矩形: 圆角 274"/>
              <p:cNvSpPr/>
              <p:nvPr/>
            </p:nvSpPr>
            <p:spPr>
              <a:xfrm>
                <a:off x="1221264" y="4129440"/>
                <a:ext cx="3092606" cy="23050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内容营销</a:t>
                </a:r>
                <a:endParaRPr lang="en-US" altLang="zh-CN" sz="1000" kern="0" dirty="0">
                  <a:solidFill>
                    <a:srgbClr val="383838"/>
                  </a:solidFill>
                  <a:latin typeface="微软雅黑"/>
                  <a:ea typeface="微软雅黑"/>
                  <a:cs typeface="微软雅黑"/>
                  <a:sym typeface="微软雅黑"/>
                </a:endParaRPr>
              </a:p>
            </p:txBody>
          </p:sp>
          <p:sp>
            <p:nvSpPr>
              <p:cNvPr id="276" name="矩形: 圆角 275"/>
              <p:cNvSpPr/>
              <p:nvPr/>
            </p:nvSpPr>
            <p:spPr>
              <a:xfrm>
                <a:off x="1221264" y="4426986"/>
                <a:ext cx="3092606" cy="23050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会员福利</a:t>
                </a:r>
                <a:endParaRPr lang="en-US" altLang="zh-CN" sz="1000" kern="0" dirty="0">
                  <a:solidFill>
                    <a:srgbClr val="383838"/>
                  </a:solidFill>
                  <a:latin typeface="微软雅黑"/>
                  <a:ea typeface="微软雅黑"/>
                  <a:cs typeface="微软雅黑"/>
                  <a:sym typeface="微软雅黑"/>
                </a:endParaRPr>
              </a:p>
            </p:txBody>
          </p:sp>
          <p:sp>
            <p:nvSpPr>
              <p:cNvPr id="281" name="矩形: 圆角 280"/>
              <p:cNvSpPr/>
              <p:nvPr/>
            </p:nvSpPr>
            <p:spPr>
              <a:xfrm>
                <a:off x="1221264" y="4724532"/>
                <a:ext cx="3092606" cy="23050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数据分析</a:t>
                </a:r>
                <a:endParaRPr lang="en-US" altLang="zh-CN" sz="1000" kern="0" dirty="0">
                  <a:solidFill>
                    <a:srgbClr val="383838"/>
                  </a:solidFill>
                  <a:latin typeface="微软雅黑"/>
                  <a:ea typeface="微软雅黑"/>
                  <a:cs typeface="微软雅黑"/>
                  <a:sym typeface="微软雅黑"/>
                </a:endParaRPr>
              </a:p>
            </p:txBody>
          </p:sp>
        </p:grpSp>
        <p:grpSp>
          <p:nvGrpSpPr>
            <p:cNvPr id="265" name="组合 264"/>
            <p:cNvGrpSpPr/>
            <p:nvPr/>
          </p:nvGrpSpPr>
          <p:grpSpPr>
            <a:xfrm>
              <a:off x="9447808" y="5182729"/>
              <a:ext cx="991171" cy="825601"/>
              <a:chOff x="1221264" y="4129440"/>
              <a:chExt cx="3092606" cy="825601"/>
            </a:xfrm>
            <a:grpFill/>
          </p:grpSpPr>
          <p:sp>
            <p:nvSpPr>
              <p:cNvPr id="266" name="矩形: 圆角 265"/>
              <p:cNvSpPr/>
              <p:nvPr/>
            </p:nvSpPr>
            <p:spPr>
              <a:xfrm>
                <a:off x="1221264" y="4129440"/>
                <a:ext cx="3092606" cy="23050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社交互动</a:t>
                </a:r>
                <a:endParaRPr lang="en-US" altLang="zh-CN" sz="1000" kern="0" dirty="0">
                  <a:solidFill>
                    <a:srgbClr val="383838"/>
                  </a:solidFill>
                  <a:latin typeface="微软雅黑"/>
                  <a:ea typeface="微软雅黑"/>
                  <a:cs typeface="微软雅黑"/>
                  <a:sym typeface="微软雅黑"/>
                </a:endParaRPr>
              </a:p>
            </p:txBody>
          </p:sp>
          <p:sp>
            <p:nvSpPr>
              <p:cNvPr id="267" name="矩形: 圆角 266"/>
              <p:cNvSpPr/>
              <p:nvPr/>
            </p:nvSpPr>
            <p:spPr>
              <a:xfrm>
                <a:off x="1221264" y="4426986"/>
                <a:ext cx="3092606" cy="23050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用户反馈</a:t>
                </a:r>
                <a:endParaRPr lang="en-US" altLang="zh-CN" sz="1000" kern="0" dirty="0">
                  <a:solidFill>
                    <a:srgbClr val="383838"/>
                  </a:solidFill>
                  <a:latin typeface="微软雅黑"/>
                  <a:ea typeface="微软雅黑"/>
                  <a:cs typeface="微软雅黑"/>
                  <a:sym typeface="微软雅黑"/>
                </a:endParaRPr>
              </a:p>
            </p:txBody>
          </p:sp>
          <p:sp>
            <p:nvSpPr>
              <p:cNvPr id="274" name="矩形: 圆角 273"/>
              <p:cNvSpPr/>
              <p:nvPr/>
            </p:nvSpPr>
            <p:spPr>
              <a:xfrm>
                <a:off x="1221264" y="4724532"/>
                <a:ext cx="3092606" cy="230509"/>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持续更新</a:t>
                </a:r>
                <a:endParaRPr lang="en-US" altLang="zh-CN" sz="1000" kern="0" dirty="0">
                  <a:solidFill>
                    <a:srgbClr val="383838"/>
                  </a:solidFill>
                  <a:latin typeface="微软雅黑"/>
                  <a:ea typeface="微软雅黑"/>
                  <a:cs typeface="微软雅黑"/>
                  <a:sym typeface="微软雅黑"/>
                </a:endParaRPr>
              </a:p>
            </p:txBody>
          </p:sp>
        </p:grpSp>
      </p:grpSp>
      <p:sp>
        <p:nvSpPr>
          <p:cNvPr id="293" name="矩形: 圆角 292"/>
          <p:cNvSpPr/>
          <p:nvPr/>
        </p:nvSpPr>
        <p:spPr>
          <a:xfrm>
            <a:off x="1045431" y="2904751"/>
            <a:ext cx="3497769" cy="762267"/>
          </a:xfrm>
          <a:prstGeom prst="roundRect">
            <a:avLst>
              <a:gd name="adj" fmla="val 5716"/>
            </a:avLst>
          </a:prstGeom>
          <a:solidFill>
            <a:srgbClr val="B3D4FE">
              <a:alpha val="10000"/>
            </a:srgbClr>
          </a:solidFill>
          <a:ln w="12700" cap="flat" cmpd="sng" algn="ctr">
            <a:solidFill>
              <a:srgbClr val="B3D4FE">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296" name="文本框 295"/>
          <p:cNvSpPr txBox="1"/>
          <p:nvPr/>
        </p:nvSpPr>
        <p:spPr>
          <a:xfrm>
            <a:off x="1665040" y="3035468"/>
            <a:ext cx="902811" cy="307777"/>
          </a:xfrm>
          <a:prstGeom prst="rect">
            <a:avLst/>
          </a:prstGeom>
          <a:noFill/>
        </p:spPr>
        <p:txBody>
          <a:bodyPr wrap="none" rtlCol="0" lIns="0" rIns="0" tIns="0" bIns="0">
            <a:spAutoFit/>
          </a:bodyPr>
          <a:lstStyle/>
          <a:p>
            <a:pPr marR="0" lvl="0" indent="0" fontAlgn="auto">
              <a:lnSpc>
                <a:spcPct val="100000"/>
              </a:lnSpc>
              <a:spcBef>
                <a:spcPts val="0"/>
              </a:spcBef>
              <a:spcAft>
                <a:spcPts val="0"/>
              </a:spcAft>
              <a:buClrTx/>
              <a:buSzTx/>
              <a:buFontTx/>
              <a:buNone/>
              <a:defRPr>
                <a:latin typeface="微软雅黑"/>
                <a:ea typeface="微软雅黑"/>
                <a:cs typeface="微软雅黑"/>
              </a:defRPr>
            </a:pPr>
            <a:r>
              <a:rPr lang="zh-CN" altLang="en-US" sz="1400" b="1">
                <a:solidFill>
                  <a:srgbClr val="0042FF"/>
                </a:solidFill>
                <a:latin typeface="微软雅黑"/>
                <a:ea typeface="微软雅黑"/>
                <a:cs typeface="微软雅黑"/>
              </a:rPr>
              <a:t>流量获取</a:t>
            </a:r>
            <a:endParaRPr lang="zh-CN" altLang="en-US" sz="1400" b="1">
              <a:solidFill>
                <a:srgbClr val="0042FF"/>
              </a:solidFill>
              <a:latin typeface="微软雅黑"/>
              <a:ea typeface="微软雅黑"/>
              <a:cs typeface="微软雅黑"/>
            </a:endParaRPr>
          </a:p>
        </p:txBody>
      </p:sp>
      <p:sp>
        <p:nvSpPr>
          <p:cNvPr id="298" name="文本框 297"/>
          <p:cNvSpPr txBox="1"/>
          <p:nvPr/>
        </p:nvSpPr>
        <p:spPr>
          <a:xfrm>
            <a:off x="1665042" y="3268797"/>
            <a:ext cx="2967068" cy="284480"/>
          </a:xfrm>
          <a:prstGeom prst="rect">
            <a:avLst/>
          </a:prstGeom>
          <a:noFill/>
        </p:spPr>
        <p:txBody>
          <a:bodyPr wrap="square" rtlCol="0" lIns="0" rIns="0" tIns="0" bIns="0">
            <a:spAutoFit/>
          </a:bodyPr>
          <a:lstStyle/>
          <a:p>
            <a:pPr>
              <a:lnSpc>
                <a:spcPct val="120000"/>
              </a:lnSpc>
              <a:defRPr>
                <a:latin typeface="微软雅黑"/>
                <a:ea typeface="微软雅黑"/>
                <a:cs typeface="微软雅黑"/>
              </a:defRPr>
            </a:pPr>
            <a:r>
              <a:rPr lang="zh-CN" altLang="en-US" sz="1050" kern="0">
                <a:solidFill>
                  <a:srgbClr val="383838"/>
                </a:solidFill>
                <a:latin typeface="微软雅黑"/>
                <a:ea typeface="微软雅黑"/>
                <a:cs typeface="微软雅黑"/>
              </a:rPr>
              <a:t>私域流量运营需要解决如何获取流量的问题</a:t>
            </a:r>
            <a:endParaRPr lang="zh-CN" altLang="en-US" sz="1050" kern="0">
              <a:solidFill>
                <a:srgbClr val="383838"/>
              </a:solidFill>
              <a:latin typeface="微软雅黑"/>
              <a:ea typeface="微软雅黑"/>
              <a:cs typeface="微软雅黑"/>
            </a:endParaRPr>
          </a:p>
        </p:txBody>
      </p:sp>
      <p:sp>
        <p:nvSpPr>
          <p:cNvPr id="299" name="矩形: 圆角 298"/>
          <p:cNvSpPr/>
          <p:nvPr/>
        </p:nvSpPr>
        <p:spPr>
          <a:xfrm>
            <a:off x="1248012" y="3091991"/>
            <a:ext cx="384590" cy="395698"/>
          </a:xfrm>
          <a:prstGeom prst="roundRect">
            <a:avLst>
              <a:gd name="adj" fmla="val 12126"/>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383838"/>
              </a:solidFill>
              <a:latin typeface="微软雅黑"/>
              <a:ea typeface="微软雅黑"/>
              <a:cs typeface="微软雅黑"/>
            </a:endParaRPr>
          </a:p>
        </p:txBody>
      </p:sp>
      <p:sp>
        <p:nvSpPr>
          <p:cNvPr id="305" name="矩形: 圆角 304"/>
          <p:cNvSpPr/>
          <p:nvPr/>
        </p:nvSpPr>
        <p:spPr>
          <a:xfrm>
            <a:off x="8218792" y="2904751"/>
            <a:ext cx="3497769" cy="762267"/>
          </a:xfrm>
          <a:prstGeom prst="roundRect">
            <a:avLst>
              <a:gd name="adj" fmla="val 5716"/>
            </a:avLst>
          </a:prstGeom>
          <a:solidFill>
            <a:srgbClr val="B3D4FE">
              <a:alpha val="10000"/>
            </a:srgbClr>
          </a:solidFill>
          <a:ln w="12700" cap="flat" cmpd="sng" algn="ctr">
            <a:solidFill>
              <a:srgbClr val="B3D4FE">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307" name="文本框 306"/>
          <p:cNvSpPr txBox="1"/>
          <p:nvPr/>
        </p:nvSpPr>
        <p:spPr>
          <a:xfrm>
            <a:off x="8838401" y="3035468"/>
            <a:ext cx="902811" cy="307777"/>
          </a:xfrm>
          <a:prstGeom prst="rect">
            <a:avLst/>
          </a:prstGeom>
          <a:noFill/>
        </p:spPr>
        <p:txBody>
          <a:bodyPr wrap="none" rtlCol="0" lIns="0" rIns="0" tIns="0" bIns="0">
            <a:spAutoFit/>
          </a:bodyPr>
          <a:lstStyle/>
          <a:p>
            <a:pPr marR="0" lvl="0" indent="0" fontAlgn="auto">
              <a:lnSpc>
                <a:spcPct val="100000"/>
              </a:lnSpc>
              <a:spcBef>
                <a:spcPts val="0"/>
              </a:spcBef>
              <a:spcAft>
                <a:spcPts val="0"/>
              </a:spcAft>
              <a:buClrTx/>
              <a:buSzTx/>
              <a:buFontTx/>
              <a:buNone/>
              <a:defRPr>
                <a:latin typeface="微软雅黑"/>
                <a:ea typeface="微软雅黑"/>
                <a:cs typeface="微软雅黑"/>
              </a:defRPr>
            </a:pPr>
            <a:r>
              <a:rPr lang="zh-CN" altLang="en-US" sz="1400" b="1" dirty="0">
                <a:solidFill>
                  <a:srgbClr val="0042FF"/>
                </a:solidFill>
                <a:latin typeface="微软雅黑"/>
                <a:ea typeface="微软雅黑"/>
                <a:cs typeface="微软雅黑"/>
              </a:rPr>
              <a:t>流量运营</a:t>
            </a:r>
            <a:endParaRPr lang="zh-CN" altLang="en-US" sz="1400" b="1" dirty="0">
              <a:solidFill>
                <a:srgbClr val="0042FF"/>
              </a:solidFill>
              <a:latin typeface="微软雅黑"/>
              <a:ea typeface="微软雅黑"/>
              <a:cs typeface="微软雅黑"/>
            </a:endParaRPr>
          </a:p>
        </p:txBody>
      </p:sp>
      <p:sp>
        <p:nvSpPr>
          <p:cNvPr id="308" name="文本框 307"/>
          <p:cNvSpPr txBox="1"/>
          <p:nvPr/>
        </p:nvSpPr>
        <p:spPr>
          <a:xfrm>
            <a:off x="8838403" y="3268797"/>
            <a:ext cx="3053368" cy="272126"/>
          </a:xfrm>
          <a:prstGeom prst="rect">
            <a:avLst/>
          </a:prstGeom>
          <a:noFill/>
        </p:spPr>
        <p:txBody>
          <a:bodyPr wrap="square" rtlCol="0" lIns="0" rIns="0" tIns="0" bIns="0">
            <a:spAutoFit/>
          </a:bodyPr>
          <a:lstStyle/>
          <a:p>
            <a:pPr>
              <a:lnSpc>
                <a:spcPct val="120000"/>
              </a:lnSpc>
              <a:defRPr>
                <a:latin typeface="微软雅黑"/>
                <a:ea typeface="微软雅黑"/>
                <a:cs typeface="微软雅黑"/>
              </a:defRPr>
            </a:pPr>
            <a:r>
              <a:rPr lang="zh-CN" altLang="en-US" sz="1050" kern="0">
                <a:solidFill>
                  <a:srgbClr val="383838"/>
                </a:solidFill>
                <a:latin typeface="微软雅黑"/>
                <a:ea typeface="微软雅黑"/>
                <a:cs typeface="微软雅黑"/>
              </a:rPr>
              <a:t>保持用户活跃度和忠诚度，是的长期挑战</a:t>
            </a:r>
            <a:endParaRPr lang="zh-CN" altLang="en-US" sz="1050" kern="0">
              <a:solidFill>
                <a:srgbClr val="383838"/>
              </a:solidFill>
              <a:latin typeface="微软雅黑"/>
              <a:ea typeface="微软雅黑"/>
              <a:cs typeface="微软雅黑"/>
            </a:endParaRPr>
          </a:p>
        </p:txBody>
      </p:sp>
      <p:sp>
        <p:nvSpPr>
          <p:cNvPr id="309" name="矩形: 圆角 308"/>
          <p:cNvSpPr/>
          <p:nvPr/>
        </p:nvSpPr>
        <p:spPr>
          <a:xfrm>
            <a:off x="8421373" y="3091991"/>
            <a:ext cx="384590" cy="395698"/>
          </a:xfrm>
          <a:prstGeom prst="roundRect">
            <a:avLst>
              <a:gd name="adj" fmla="val 12126"/>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383838"/>
              </a:solidFill>
              <a:latin typeface="微软雅黑"/>
              <a:ea typeface="微软雅黑"/>
              <a:cs typeface="微软雅黑"/>
            </a:endParaRPr>
          </a:p>
        </p:txBody>
      </p:sp>
      <p:sp>
        <p:nvSpPr>
          <p:cNvPr id="17" name="矩形: 圆角 71"/>
          <p:cNvSpPr/>
          <p:nvPr/>
        </p:nvSpPr>
        <p:spPr>
          <a:xfrm>
            <a:off x="1045431" y="4828647"/>
            <a:ext cx="3497769" cy="1224490"/>
          </a:xfrm>
          <a:prstGeom prst="roundRect">
            <a:avLst>
              <a:gd name="adj" fmla="val 3558"/>
            </a:avLst>
          </a:prstGeom>
          <a:solidFill>
            <a:srgbClr val="E6E6E6">
              <a:alpha val="20000"/>
            </a:srgbClr>
          </a:solid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18" name="矩形: 圆角 72"/>
          <p:cNvSpPr/>
          <p:nvPr/>
        </p:nvSpPr>
        <p:spPr>
          <a:xfrm>
            <a:off x="4632111" y="4828648"/>
            <a:ext cx="3497769" cy="1224490"/>
          </a:xfrm>
          <a:prstGeom prst="roundRect">
            <a:avLst>
              <a:gd name="adj" fmla="val 3558"/>
            </a:avLst>
          </a:prstGeom>
          <a:solidFill>
            <a:srgbClr val="E6E6E6">
              <a:alpha val="20000"/>
            </a:srgbClr>
          </a:solid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21" name="矩形: 圆角 73"/>
          <p:cNvSpPr/>
          <p:nvPr/>
        </p:nvSpPr>
        <p:spPr>
          <a:xfrm>
            <a:off x="8218792" y="4828648"/>
            <a:ext cx="3497769" cy="1224490"/>
          </a:xfrm>
          <a:prstGeom prst="roundRect">
            <a:avLst>
              <a:gd name="adj" fmla="val 3558"/>
            </a:avLst>
          </a:prstGeom>
          <a:solidFill>
            <a:srgbClr val="E6E6E6">
              <a:alpha val="20000"/>
            </a:srgbClr>
          </a:solid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332" name="矩形: 圆角 331"/>
          <p:cNvSpPr/>
          <p:nvPr/>
        </p:nvSpPr>
        <p:spPr>
          <a:xfrm>
            <a:off x="4834692" y="4952139"/>
            <a:ext cx="1503022" cy="272922"/>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CRO工具</a:t>
            </a:r>
            <a:endParaRPr lang="en-US" altLang="zh-CN" sz="1000" kern="0" dirty="0">
              <a:solidFill>
                <a:srgbClr val="383838"/>
              </a:solidFill>
              <a:latin typeface="微软雅黑"/>
              <a:ea typeface="微软雅黑"/>
              <a:cs typeface="微软雅黑"/>
              <a:sym typeface="微软雅黑"/>
            </a:endParaRPr>
          </a:p>
        </p:txBody>
      </p:sp>
      <p:sp>
        <p:nvSpPr>
          <p:cNvPr id="329" name="矩形: 圆角 328"/>
          <p:cNvSpPr/>
          <p:nvPr/>
        </p:nvSpPr>
        <p:spPr>
          <a:xfrm>
            <a:off x="6395653" y="4952139"/>
            <a:ext cx="1503022" cy="272922"/>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营销自动化工具</a:t>
            </a:r>
            <a:endParaRPr lang="en-US" altLang="zh-CN" sz="1000" kern="0" dirty="0">
              <a:solidFill>
                <a:srgbClr val="383838"/>
              </a:solidFill>
              <a:latin typeface="微软雅黑"/>
              <a:ea typeface="微软雅黑"/>
              <a:cs typeface="微软雅黑"/>
              <a:sym typeface="微软雅黑"/>
            </a:endParaRPr>
          </a:p>
        </p:txBody>
      </p:sp>
      <p:sp>
        <p:nvSpPr>
          <p:cNvPr id="333" name="矩形: 圆角 332"/>
          <p:cNvSpPr/>
          <p:nvPr/>
        </p:nvSpPr>
        <p:spPr>
          <a:xfrm>
            <a:off x="4834692" y="5304433"/>
            <a:ext cx="1503022" cy="272922"/>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售后服务工具</a:t>
            </a:r>
            <a:endParaRPr lang="en-US" altLang="zh-CN" sz="1000" kern="0" dirty="0">
              <a:solidFill>
                <a:srgbClr val="383838"/>
              </a:solidFill>
              <a:latin typeface="微软雅黑"/>
              <a:ea typeface="微软雅黑"/>
              <a:cs typeface="微软雅黑"/>
              <a:sym typeface="微软雅黑"/>
            </a:endParaRPr>
          </a:p>
        </p:txBody>
      </p:sp>
      <p:sp>
        <p:nvSpPr>
          <p:cNvPr id="330" name="矩形: 圆角 329"/>
          <p:cNvSpPr/>
          <p:nvPr/>
        </p:nvSpPr>
        <p:spPr>
          <a:xfrm>
            <a:off x="6395653" y="5304433"/>
            <a:ext cx="1503022" cy="272922"/>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数据分析工具</a:t>
            </a:r>
            <a:endParaRPr lang="en-US" altLang="zh-CN" sz="1000" kern="0" dirty="0">
              <a:solidFill>
                <a:srgbClr val="383838"/>
              </a:solidFill>
              <a:latin typeface="微软雅黑"/>
              <a:ea typeface="微软雅黑"/>
              <a:cs typeface="微软雅黑"/>
              <a:sym typeface="微软雅黑"/>
            </a:endParaRPr>
          </a:p>
        </p:txBody>
      </p:sp>
      <p:sp>
        <p:nvSpPr>
          <p:cNvPr id="364" name="矩形: 圆角 363"/>
          <p:cNvSpPr/>
          <p:nvPr/>
        </p:nvSpPr>
        <p:spPr>
          <a:xfrm flipH="1">
            <a:off x="9536333" y="4952139"/>
            <a:ext cx="1949024" cy="313690"/>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数据分析优化，提高转化和满意度。</a:t>
            </a:r>
            <a:endParaRPr lang="en-US" altLang="zh-CN" sz="1000" kern="0" dirty="0">
              <a:solidFill>
                <a:srgbClr val="383838"/>
              </a:solidFill>
              <a:latin typeface="微软雅黑"/>
              <a:ea typeface="微软雅黑"/>
              <a:cs typeface="微软雅黑"/>
              <a:sym typeface="微软雅黑"/>
            </a:endParaRPr>
          </a:p>
        </p:txBody>
      </p:sp>
      <p:sp>
        <p:nvSpPr>
          <p:cNvPr id="365" name="矩形: 圆角 364"/>
          <p:cNvSpPr/>
          <p:nvPr/>
        </p:nvSpPr>
        <p:spPr>
          <a:xfrm flipH="1">
            <a:off x="8421374" y="4952139"/>
            <a:ext cx="1026047" cy="272922"/>
          </a:xfrm>
          <a:prstGeom prst="roundRect">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sym typeface="微软雅黑"/>
              </a:rPr>
              <a:t>数据分析与优化</a:t>
            </a:r>
            <a:endParaRPr lang="zh-CN" altLang="en-US" sz="1000" b="1" kern="0">
              <a:solidFill>
                <a:srgbClr val="FFFFFF"/>
              </a:solidFill>
              <a:latin typeface="微软雅黑"/>
              <a:ea typeface="微软雅黑"/>
              <a:cs typeface="微软雅黑"/>
              <a:sym typeface="微软雅黑"/>
            </a:endParaRPr>
          </a:p>
        </p:txBody>
      </p:sp>
      <p:sp>
        <p:nvSpPr>
          <p:cNvPr id="362" name="矩形: 圆角 361"/>
          <p:cNvSpPr/>
          <p:nvPr/>
        </p:nvSpPr>
        <p:spPr>
          <a:xfrm flipH="1">
            <a:off x="9536333" y="5304433"/>
            <a:ext cx="1949024" cy="272922"/>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多渠道覆盖，提升品牌曝光。</a:t>
            </a:r>
            <a:endParaRPr lang="en-US" altLang="zh-CN" sz="1000" kern="0" dirty="0">
              <a:solidFill>
                <a:srgbClr val="383838"/>
              </a:solidFill>
              <a:latin typeface="微软雅黑"/>
              <a:ea typeface="微软雅黑"/>
              <a:cs typeface="微软雅黑"/>
              <a:sym typeface="微软雅黑"/>
            </a:endParaRPr>
          </a:p>
        </p:txBody>
      </p:sp>
      <p:sp>
        <p:nvSpPr>
          <p:cNvPr id="363" name="矩形: 圆角 362"/>
          <p:cNvSpPr/>
          <p:nvPr/>
        </p:nvSpPr>
        <p:spPr>
          <a:xfrm flipH="1">
            <a:off x="8421374" y="5304433"/>
            <a:ext cx="1026047" cy="272922"/>
          </a:xfrm>
          <a:prstGeom prst="roundRect">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sym typeface="微软雅黑"/>
              </a:rPr>
              <a:t>多渠道推广策略</a:t>
            </a:r>
            <a:endParaRPr lang="zh-CN" altLang="en-US" sz="1000" b="1" kern="0">
              <a:solidFill>
                <a:srgbClr val="FFFFFF"/>
              </a:solidFill>
              <a:latin typeface="微软雅黑"/>
              <a:ea typeface="微软雅黑"/>
              <a:cs typeface="微软雅黑"/>
              <a:sym typeface="微软雅黑"/>
            </a:endParaRPr>
          </a:p>
        </p:txBody>
      </p:sp>
      <p:sp>
        <p:nvSpPr>
          <p:cNvPr id="369" name="矩形: 圆角 368"/>
          <p:cNvSpPr/>
          <p:nvPr/>
        </p:nvSpPr>
        <p:spPr>
          <a:xfrm flipH="1">
            <a:off x="9536333" y="5656725"/>
            <a:ext cx="1949024" cy="313690"/>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积极互动，增强用户参与感和忠诚度</a:t>
            </a:r>
            <a:endParaRPr lang="en-US" altLang="zh-CN" sz="1000" kern="0" dirty="0">
              <a:solidFill>
                <a:srgbClr val="383838"/>
              </a:solidFill>
              <a:latin typeface="微软雅黑"/>
              <a:ea typeface="微软雅黑"/>
              <a:cs typeface="微软雅黑"/>
              <a:sym typeface="微软雅黑"/>
            </a:endParaRPr>
          </a:p>
        </p:txBody>
      </p:sp>
      <p:sp>
        <p:nvSpPr>
          <p:cNvPr id="370" name="矩形: 圆角 369"/>
          <p:cNvSpPr/>
          <p:nvPr/>
        </p:nvSpPr>
        <p:spPr>
          <a:xfrm flipH="1">
            <a:off x="8421374" y="5656725"/>
            <a:ext cx="1026047" cy="272922"/>
          </a:xfrm>
          <a:prstGeom prst="roundRect">
            <a:avLst/>
          </a:prstGeom>
          <a:solidFill>
            <a:srgbClr val="3368FF"/>
          </a:solid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sym typeface="微软雅黑"/>
              </a:rPr>
              <a:t>用户参与与互动</a:t>
            </a:r>
            <a:endParaRPr lang="zh-CN" altLang="en-US" sz="1000" b="1" kern="0">
              <a:solidFill>
                <a:srgbClr val="FFFFFF"/>
              </a:solidFill>
              <a:latin typeface="微软雅黑"/>
              <a:ea typeface="微软雅黑"/>
              <a:cs typeface="微软雅黑"/>
              <a:sym typeface="微软雅黑"/>
            </a:endParaRPr>
          </a:p>
        </p:txBody>
      </p:sp>
      <p:sp>
        <p:nvSpPr>
          <p:cNvPr id="378" name="矩形: 圆角 377"/>
          <p:cNvSpPr/>
          <p:nvPr/>
        </p:nvSpPr>
        <p:spPr>
          <a:xfrm flipH="1">
            <a:off x="1262322" y="4952139"/>
            <a:ext cx="1492089" cy="272922"/>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Google Analytics</a:t>
            </a:r>
            <a:endParaRPr lang="en-US" altLang="zh-CN" sz="1000" kern="0" dirty="0">
              <a:solidFill>
                <a:srgbClr val="383838"/>
              </a:solidFill>
              <a:latin typeface="微软雅黑"/>
              <a:ea typeface="微软雅黑"/>
              <a:cs typeface="微软雅黑"/>
              <a:sym typeface="微软雅黑"/>
            </a:endParaRPr>
          </a:p>
        </p:txBody>
      </p:sp>
      <p:sp>
        <p:nvSpPr>
          <p:cNvPr id="386" name="矩形: 圆角 385"/>
          <p:cNvSpPr/>
          <p:nvPr/>
        </p:nvSpPr>
        <p:spPr>
          <a:xfrm flipH="1">
            <a:off x="2843598" y="4952139"/>
            <a:ext cx="1492089" cy="272922"/>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微信公众号</a:t>
            </a:r>
            <a:endParaRPr lang="en-US" altLang="zh-CN" sz="1000" kern="0" dirty="0">
              <a:solidFill>
                <a:srgbClr val="383838"/>
              </a:solidFill>
              <a:latin typeface="微软雅黑"/>
              <a:ea typeface="微软雅黑"/>
              <a:cs typeface="微软雅黑"/>
              <a:sym typeface="微软雅黑"/>
            </a:endParaRPr>
          </a:p>
        </p:txBody>
      </p:sp>
      <p:grpSp>
        <p:nvGrpSpPr>
          <p:cNvPr id="388" name="组合 387"/>
          <p:cNvGrpSpPr/>
          <p:nvPr/>
        </p:nvGrpSpPr>
        <p:grpSpPr>
          <a:xfrm>
            <a:off x="1262322" y="5304433"/>
            <a:ext cx="3073365" cy="272922"/>
            <a:chOff x="1235575" y="5311196"/>
            <a:chExt cx="2519400" cy="292134"/>
          </a:xfrm>
          <a:solidFill>
            <a:srgbClr val="E6E6E6"/>
          </a:solidFill>
        </p:grpSpPr>
        <p:sp>
          <p:nvSpPr>
            <p:cNvPr id="389" name="矩形: 圆角 388"/>
            <p:cNvSpPr/>
            <p:nvPr/>
          </p:nvSpPr>
          <p:spPr>
            <a:xfrm flipH="1">
              <a:off x="1235575" y="5311196"/>
              <a:ext cx="1223144" cy="292134"/>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社交媒体管理工具</a:t>
              </a:r>
              <a:endParaRPr lang="en-US" altLang="zh-CN" sz="1000" kern="0" dirty="0">
                <a:solidFill>
                  <a:srgbClr val="383838"/>
                </a:solidFill>
                <a:latin typeface="微软雅黑"/>
                <a:ea typeface="微软雅黑"/>
                <a:cs typeface="微软雅黑"/>
                <a:sym typeface="微软雅黑"/>
              </a:endParaRPr>
            </a:p>
          </p:txBody>
        </p:sp>
        <p:sp>
          <p:nvSpPr>
            <p:cNvPr id="390" name="矩形: 圆角 389"/>
            <p:cNvSpPr/>
            <p:nvPr/>
          </p:nvSpPr>
          <p:spPr>
            <a:xfrm flipH="1">
              <a:off x="2531831" y="5311196"/>
              <a:ext cx="1223144" cy="292134"/>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SEO优化工具</a:t>
              </a:r>
              <a:endParaRPr lang="en-US" altLang="zh-CN" sz="1000" kern="0" dirty="0">
                <a:solidFill>
                  <a:srgbClr val="383838"/>
                </a:solidFill>
                <a:latin typeface="微软雅黑"/>
                <a:ea typeface="微软雅黑"/>
                <a:cs typeface="微软雅黑"/>
                <a:sym typeface="微软雅黑"/>
              </a:endParaRPr>
            </a:p>
          </p:txBody>
        </p:sp>
      </p:grpSp>
      <p:grpSp>
        <p:nvGrpSpPr>
          <p:cNvPr id="391" name="组合 390"/>
          <p:cNvGrpSpPr/>
          <p:nvPr/>
        </p:nvGrpSpPr>
        <p:grpSpPr>
          <a:xfrm>
            <a:off x="1262322" y="5656725"/>
            <a:ext cx="3073365" cy="272922"/>
            <a:chOff x="1235575" y="5311196"/>
            <a:chExt cx="2519400" cy="292134"/>
          </a:xfrm>
          <a:solidFill>
            <a:srgbClr val="E6E6E6"/>
          </a:solidFill>
        </p:grpSpPr>
        <p:sp>
          <p:nvSpPr>
            <p:cNvPr id="392" name="矩形: 圆角 391"/>
            <p:cNvSpPr/>
            <p:nvPr/>
          </p:nvSpPr>
          <p:spPr>
            <a:xfrm flipH="1">
              <a:off x="1235575" y="5311196"/>
              <a:ext cx="1223144" cy="292134"/>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广告投放平台</a:t>
              </a:r>
              <a:endParaRPr lang="en-US" altLang="zh-CN" sz="1000" kern="0" dirty="0">
                <a:solidFill>
                  <a:srgbClr val="383838"/>
                </a:solidFill>
                <a:latin typeface="微软雅黑"/>
                <a:ea typeface="微软雅黑"/>
                <a:cs typeface="微软雅黑"/>
                <a:sym typeface="微软雅黑"/>
              </a:endParaRPr>
            </a:p>
          </p:txBody>
        </p:sp>
        <p:sp>
          <p:nvSpPr>
            <p:cNvPr id="393" name="矩形: 圆角 392"/>
            <p:cNvSpPr/>
            <p:nvPr/>
          </p:nvSpPr>
          <p:spPr>
            <a:xfrm flipH="1">
              <a:off x="2531831" y="5311196"/>
              <a:ext cx="1223144" cy="292134"/>
            </a:xfrm>
            <a:prstGeom prst="roundRect">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kern="0" dirty="0">
                  <a:solidFill>
                    <a:srgbClr val="383838"/>
                  </a:solidFill>
                  <a:latin typeface="微软雅黑"/>
                  <a:ea typeface="微软雅黑"/>
                  <a:cs typeface="微软雅黑"/>
                  <a:sym typeface="微软雅黑"/>
                </a:rPr>
                <a:t>电子邮件营销工具</a:t>
              </a:r>
              <a:endParaRPr lang="en-US" altLang="zh-CN" sz="1000" kern="0" dirty="0">
                <a:solidFill>
                  <a:srgbClr val="383838"/>
                </a:solidFill>
                <a:latin typeface="微软雅黑"/>
                <a:ea typeface="微软雅黑"/>
                <a:cs typeface="微软雅黑"/>
                <a:sym typeface="微软雅黑"/>
              </a:endParaRPr>
            </a:p>
          </p:txBody>
        </p:sp>
      </p:grpSp>
      <p:sp>
        <p:nvSpPr>
          <p:cNvPr id="402" name="矩形: 圆角 401"/>
          <p:cNvSpPr/>
          <p:nvPr/>
        </p:nvSpPr>
        <p:spPr>
          <a:xfrm>
            <a:off x="4632111" y="2110985"/>
            <a:ext cx="3497769" cy="707830"/>
          </a:xfrm>
          <a:prstGeom prst="roundRect">
            <a:avLst>
              <a:gd name="adj" fmla="val 6155"/>
            </a:avLst>
          </a:prstGeom>
          <a:no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405" name="矩形: 圆角 404"/>
          <p:cNvSpPr/>
          <p:nvPr/>
        </p:nvSpPr>
        <p:spPr>
          <a:xfrm>
            <a:off x="8218792" y="2110985"/>
            <a:ext cx="3497769" cy="707830"/>
          </a:xfrm>
          <a:prstGeom prst="roundRect">
            <a:avLst>
              <a:gd name="adj" fmla="val 6155"/>
            </a:avLst>
          </a:prstGeom>
          <a:noFill/>
          <a:ln w="12700" cap="flat" cmpd="sng" algn="ctr">
            <a:solidFill>
              <a:srgbClr val="3368FF">
                <a:alpha val="7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409" name="矩形: 圆角 408"/>
          <p:cNvSpPr/>
          <p:nvPr/>
        </p:nvSpPr>
        <p:spPr>
          <a:xfrm>
            <a:off x="1045431" y="1695130"/>
            <a:ext cx="3497769" cy="329917"/>
          </a:xfrm>
          <a:prstGeom prst="roundRect">
            <a:avLst>
              <a:gd name="adj" fmla="val 10790"/>
            </a:avLst>
          </a:prstGeom>
          <a:gradFill>
            <a:gsLst>
              <a:gs pos="2000">
                <a:srgbClr val="3368FF"/>
              </a:gs>
              <a:gs pos="100000">
                <a:srgbClr val="0042FF"/>
              </a:gs>
            </a:gsLst>
            <a:lin ang="1620000" scaled="0"/>
          </a:gradFill>
          <a:ln w="9708" cap="flat">
            <a:no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200" b="1" kern="0" dirty="0">
                <a:solidFill>
                  <a:srgbClr val="FFFFFF"/>
                </a:solidFill>
                <a:latin typeface="微软雅黑"/>
                <a:ea typeface="微软雅黑"/>
                <a:cs typeface="微软雅黑"/>
              </a:rPr>
              <a:t>数据分析洞察</a:t>
            </a:r>
            <a:endParaRPr lang="zh-CN" altLang="en-US" sz="1200" b="1" kern="0" dirty="0">
              <a:solidFill>
                <a:srgbClr val="FFFFFF"/>
              </a:solidFill>
              <a:latin typeface="微软雅黑"/>
              <a:ea typeface="微软雅黑"/>
              <a:cs typeface="微软雅黑"/>
            </a:endParaRPr>
          </a:p>
        </p:txBody>
      </p:sp>
      <p:sp>
        <p:nvSpPr>
          <p:cNvPr id="410" name="矩形: 圆角 409"/>
          <p:cNvSpPr/>
          <p:nvPr/>
        </p:nvSpPr>
        <p:spPr>
          <a:xfrm>
            <a:off x="4632111" y="1695130"/>
            <a:ext cx="3497769" cy="329917"/>
          </a:xfrm>
          <a:prstGeom prst="roundRect">
            <a:avLst>
              <a:gd name="adj" fmla="val 10790"/>
            </a:avLst>
          </a:prstGeom>
          <a:gradFill>
            <a:gsLst>
              <a:gs pos="2000">
                <a:srgbClr val="3368FF"/>
              </a:gs>
              <a:gs pos="100000">
                <a:srgbClr val="0042FF"/>
              </a:gs>
            </a:gsLst>
            <a:lin ang="1620000" scaled="0"/>
          </a:gradFill>
          <a:ln w="9708" cap="flat">
            <a:no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kern="0" dirty="0">
                <a:solidFill>
                  <a:srgbClr val="FFFFFF"/>
                </a:solidFill>
                <a:latin typeface="微软雅黑"/>
                <a:ea typeface="微软雅黑"/>
                <a:cs typeface="微软雅黑"/>
                <a:sym typeface="微软雅黑"/>
              </a:rPr>
              <a:t>用户画像构建</a:t>
            </a:r>
            <a:endParaRPr lang="zh-CN" altLang="en-US" sz="1200" b="1" kern="0" dirty="0">
              <a:solidFill>
                <a:srgbClr val="FFFFFF"/>
              </a:solidFill>
              <a:latin typeface="微软雅黑"/>
              <a:ea typeface="微软雅黑"/>
              <a:cs typeface="微软雅黑"/>
              <a:sym typeface="微软雅黑"/>
            </a:endParaRPr>
          </a:p>
        </p:txBody>
      </p:sp>
      <p:sp>
        <p:nvSpPr>
          <p:cNvPr id="411" name="矩形: 圆角 410"/>
          <p:cNvSpPr/>
          <p:nvPr/>
        </p:nvSpPr>
        <p:spPr>
          <a:xfrm>
            <a:off x="8218792" y="1695130"/>
            <a:ext cx="3497769" cy="329917"/>
          </a:xfrm>
          <a:prstGeom prst="roundRect">
            <a:avLst>
              <a:gd name="adj" fmla="val 10790"/>
            </a:avLst>
          </a:prstGeom>
          <a:gradFill>
            <a:gsLst>
              <a:gs pos="2000">
                <a:srgbClr val="3368FF"/>
              </a:gs>
              <a:gs pos="100000">
                <a:srgbClr val="0042FF"/>
              </a:gs>
            </a:gsLst>
            <a:lin ang="1620000" scaled="0"/>
          </a:gradFill>
          <a:ln w="9708" cap="flat">
            <a:no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kern="0" dirty="0">
                <a:solidFill>
                  <a:srgbClr val="FFFFFF"/>
                </a:solidFill>
                <a:latin typeface="微软雅黑"/>
                <a:ea typeface="微软雅黑"/>
                <a:cs typeface="微软雅黑"/>
                <a:sym typeface="微软雅黑"/>
              </a:rPr>
              <a:t>精细化营销策略</a:t>
            </a:r>
            <a:endParaRPr lang="zh-CN" altLang="en-US" sz="1200" b="1" kern="0" dirty="0">
              <a:solidFill>
                <a:srgbClr val="FFFFFF"/>
              </a:solidFill>
              <a:latin typeface="微软雅黑"/>
              <a:ea typeface="微软雅黑"/>
              <a:cs typeface="微软雅黑"/>
              <a:sym typeface="微软雅黑"/>
            </a:endParaRPr>
          </a:p>
        </p:txBody>
      </p:sp>
      <p:sp>
        <p:nvSpPr>
          <p:cNvPr id="418" name="等腰三角形 417"/>
          <p:cNvSpPr/>
          <p:nvPr/>
        </p:nvSpPr>
        <p:spPr>
          <a:xfrm rot="5400000">
            <a:off x="882857" y="3241388"/>
            <a:ext cx="103231" cy="88992"/>
          </a:xfrm>
          <a:prstGeom prst="triangle">
            <a:avLst/>
          </a:prstGeom>
          <a:solidFill>
            <a:srgbClr val="B3D4FE"/>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algn="ctr">
              <a:defRPr>
                <a:latin typeface="微软雅黑"/>
                <a:ea typeface="微软雅黑"/>
                <a:cs typeface="微软雅黑"/>
              </a:defRPr>
            </a:pPr>
            <a:endParaRPr lang="zh-CN" altLang="en-US" sz="1100" b="1">
              <a:latin typeface="微软雅黑"/>
              <a:ea typeface="微软雅黑"/>
              <a:cs typeface="微软雅黑"/>
            </a:endParaRPr>
          </a:p>
        </p:txBody>
      </p:sp>
      <p:sp>
        <p:nvSpPr>
          <p:cNvPr id="419" name="等腰三角形 418"/>
          <p:cNvSpPr/>
          <p:nvPr/>
        </p:nvSpPr>
        <p:spPr>
          <a:xfrm rot="5400000">
            <a:off x="882857" y="4192529"/>
            <a:ext cx="103231" cy="88992"/>
          </a:xfrm>
          <a:prstGeom prst="triangle">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100" b="1">
              <a:solidFill>
                <a:srgbClr val="FFFFFF"/>
              </a:solidFill>
              <a:latin typeface="微软雅黑"/>
              <a:ea typeface="微软雅黑"/>
              <a:cs typeface="微软雅黑"/>
            </a:endParaRPr>
          </a:p>
        </p:txBody>
      </p:sp>
      <p:sp>
        <p:nvSpPr>
          <p:cNvPr id="420" name="等腰三角形 419"/>
          <p:cNvSpPr/>
          <p:nvPr/>
        </p:nvSpPr>
        <p:spPr>
          <a:xfrm rot="5400000">
            <a:off x="882857" y="5396396"/>
            <a:ext cx="103231" cy="88992"/>
          </a:xfrm>
          <a:prstGeom prst="triangle">
            <a:avLst/>
          </a:prstGeom>
          <a:solidFill>
            <a:srgbClr val="3368FF"/>
          </a:solidFill>
          <a:ln w="9708" cap="flat">
            <a:noFill/>
            <a:prstDash val="solid"/>
            <a:miter/>
          </a:ln>
          <a:effectLst/>
        </p:spPr>
        <p:txBody>
          <a:bodyPr rot="0" spcFirstLastPara="0" vertOverflow="overflow" horzOverflow="overflow" vert="horz" wrap="square" lIns="83876" tIns="41938" rIns="83876" bIns="41938"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100" b="1">
              <a:solidFill>
                <a:srgbClr val="FFFFFF"/>
              </a:solidFill>
              <a:latin typeface="微软雅黑"/>
              <a:ea typeface="微软雅黑"/>
              <a:cs typeface="微软雅黑"/>
            </a:endParaRPr>
          </a:p>
        </p:txBody>
      </p:sp>
      <p:sp>
        <p:nvSpPr>
          <p:cNvPr id="423" name="文本框 422"/>
          <p:cNvSpPr txBox="1"/>
          <p:nvPr/>
        </p:nvSpPr>
        <p:spPr>
          <a:xfrm>
            <a:off x="1818640" y="2232025"/>
            <a:ext cx="2660015" cy="441325"/>
          </a:xfrm>
          <a:prstGeom prst="rect">
            <a:avLst/>
          </a:prstGeom>
          <a:noFill/>
        </p:spPr>
        <p:txBody>
          <a:bodyPr wrap="square" rtlCol="0" lIns="0" rIns="0" tIns="0" bIns="0" anchor="t">
            <a:noAutofit/>
          </a:bodyPr>
          <a:lstStyle/>
          <a:p>
            <a:pPr marR="0" lvl="0" indent="0" fontAlgn="auto">
              <a:lnSpc>
                <a:spcPts val="1120"/>
              </a:lnSpc>
              <a:spcBef>
                <a:spcPts val="0"/>
              </a:spcBef>
              <a:spcAft>
                <a:spcPts val="0"/>
              </a:spcAft>
              <a:buClrTx/>
              <a:buSzTx/>
              <a:buFontTx/>
              <a:buNone/>
              <a:defRPr>
                <a:latin typeface="微软雅黑"/>
                <a:ea typeface="微软雅黑"/>
                <a:cs typeface="微软雅黑"/>
              </a:defRPr>
            </a:pPr>
            <a:r>
              <a:rPr lang="zh-CN" altLang="en-US" sz="1000" kern="0">
                <a:solidFill>
                  <a:srgbClr val="383838">
                    <a:alpha val="70000"/>
                  </a:srgbClr>
                </a:solidFill>
                <a:latin typeface="微软雅黑"/>
                <a:ea typeface="微软雅黑"/>
                <a:cs typeface="微软雅黑"/>
              </a:rPr>
              <a:t>深入领会企业的商业模式、产品特点、市场需求等，确保对业务运作的全面理解。</a:t>
            </a:r>
            <a:endParaRPr lang="zh-CN" altLang="en-US" sz="1000" kern="0">
              <a:solidFill>
                <a:srgbClr val="383838">
                  <a:alpha val="70000"/>
                </a:srgbClr>
              </a:solidFill>
              <a:latin typeface="微软雅黑"/>
              <a:ea typeface="微软雅黑"/>
              <a:cs typeface="微软雅黑"/>
            </a:endParaRPr>
          </a:p>
        </p:txBody>
      </p:sp>
      <p:sp>
        <p:nvSpPr>
          <p:cNvPr id="427" name="文本框 426"/>
          <p:cNvSpPr txBox="1"/>
          <p:nvPr/>
        </p:nvSpPr>
        <p:spPr>
          <a:xfrm>
            <a:off x="5434330" y="2187575"/>
            <a:ext cx="2695575" cy="600075"/>
          </a:xfrm>
          <a:prstGeom prst="rect">
            <a:avLst/>
          </a:prstGeom>
          <a:noFill/>
        </p:spPr>
        <p:txBody>
          <a:bodyPr rot="0" spcFirstLastPara="0" vert="horz" wrap="square" lIns="0" tIns="0" rIns="0" bIns="0" numCol="1" spcCol="0" rtlCol="0" fromWordArt="0" anchor="ctr" anchorCtr="0" forceAA="0" compatLnSpc="0">
            <a:noAutofit/>
          </a:bodyPr>
          <a:lstStyle/>
          <a:p>
            <a:pPr lvl="0" algn="l">
              <a:lnSpc>
                <a:spcPts val="1120"/>
              </a:lnSpc>
              <a:spcBef>
                <a:spcPts val="0"/>
              </a:spcBef>
              <a:spcAft>
                <a:spcPts val="0"/>
              </a:spcAft>
              <a:buClrTx/>
              <a:buSzTx/>
              <a:buFontTx/>
              <a:defRPr>
                <a:latin typeface="微软雅黑"/>
                <a:ea typeface="微软雅黑"/>
                <a:cs typeface="微软雅黑"/>
              </a:defRPr>
            </a:pPr>
            <a:r>
              <a:rPr lang="zh-CN" altLang="en-US" sz="1000" kern="0">
                <a:solidFill>
                  <a:srgbClr val="383838">
                    <a:alpha val="70000"/>
                  </a:srgbClr>
                </a:solidFill>
                <a:latin typeface="微软雅黑"/>
                <a:ea typeface="微软雅黑"/>
                <a:cs typeface="微软雅黑"/>
                <a:sym typeface="微软雅黑"/>
              </a:rPr>
              <a:t>通过对行业市场、竞争态势、趋势变化等方面的观察和研究，获得对行业发展的深入了解和敏锐洞察。</a:t>
            </a:r>
            <a:endParaRPr lang="zh-CN" altLang="en-US" sz="1000" kern="0">
              <a:solidFill>
                <a:srgbClr val="383838">
                  <a:alpha val="70000"/>
                </a:srgbClr>
              </a:solidFill>
              <a:latin typeface="微软雅黑"/>
              <a:ea typeface="微软雅黑"/>
              <a:cs typeface="微软雅黑"/>
              <a:sym typeface="微软雅黑"/>
            </a:endParaRPr>
          </a:p>
        </p:txBody>
      </p:sp>
      <p:sp>
        <p:nvSpPr>
          <p:cNvPr id="430" name="文本框 429"/>
          <p:cNvSpPr txBox="1"/>
          <p:nvPr/>
        </p:nvSpPr>
        <p:spPr>
          <a:xfrm>
            <a:off x="9050020" y="2160905"/>
            <a:ext cx="2648585" cy="557530"/>
          </a:xfrm>
          <a:prstGeom prst="rect">
            <a:avLst/>
          </a:prstGeom>
          <a:noFill/>
        </p:spPr>
        <p:txBody>
          <a:bodyPr rot="0" spcFirstLastPara="0" vert="horz" wrap="square" lIns="0" tIns="0" rIns="0" bIns="0" numCol="1" spcCol="0" rtlCol="0" fromWordArt="0" anchor="t" anchorCtr="0" forceAA="0" compatLnSpc="0">
            <a:noAutofit/>
          </a:bodyPr>
          <a:lstStyle/>
          <a:p>
            <a:pPr lvl="0" algn="l">
              <a:lnSpc>
                <a:spcPts val="1120"/>
              </a:lnSpc>
              <a:spcBef>
                <a:spcPts val="0"/>
              </a:spcBef>
              <a:spcAft>
                <a:spcPts val="0"/>
              </a:spcAft>
              <a:buClrTx/>
              <a:buSzTx/>
              <a:buFontTx/>
              <a:defRPr>
                <a:latin typeface="微软雅黑"/>
                <a:ea typeface="微软雅黑"/>
                <a:cs typeface="微软雅黑"/>
              </a:defRPr>
            </a:pPr>
            <a:r>
              <a:rPr lang="zh-CN" altLang="en-US" sz="1000" kern="0">
                <a:solidFill>
                  <a:srgbClr val="383838">
                    <a:alpha val="70000"/>
                  </a:srgbClr>
                </a:solidFill>
                <a:latin typeface="微软雅黑"/>
                <a:ea typeface="微软雅黑"/>
                <a:cs typeface="微软雅黑"/>
                <a:sym typeface="微软雅黑"/>
              </a:rPr>
              <a:t>通过分析数据、听取用户反馈、进行市场调研等手段，准确发现企业在增长、运营、用户体验等方面存在的问题和难题。</a:t>
            </a:r>
            <a:endParaRPr lang="zh-CN" altLang="en-US" sz="1000" kern="0">
              <a:solidFill>
                <a:srgbClr val="383838">
                  <a:alpha val="70000"/>
                </a:srgbClr>
              </a:solidFill>
              <a:latin typeface="微软雅黑"/>
              <a:ea typeface="微软雅黑"/>
              <a:cs typeface="微软雅黑"/>
              <a:sym typeface="微软雅黑"/>
            </a:endParaRPr>
          </a:p>
        </p:txBody>
      </p:sp>
      <p:grpSp>
        <p:nvGrpSpPr>
          <p:cNvPr id="444" name="组合 443"/>
          <p:cNvGrpSpPr/>
          <p:nvPr/>
        </p:nvGrpSpPr>
        <p:grpSpPr>
          <a:xfrm>
            <a:off x="4834693" y="5656725"/>
            <a:ext cx="3063982" cy="272922"/>
            <a:chOff x="4834693" y="5656725"/>
            <a:chExt cx="2540888" cy="272922"/>
          </a:xfrm>
          <a:solidFill>
            <a:srgbClr val="3368FF"/>
          </a:solidFill>
        </p:grpSpPr>
        <p:sp>
          <p:nvSpPr>
            <p:cNvPr id="334" name="矩形: 圆角 333"/>
            <p:cNvSpPr/>
            <p:nvPr/>
          </p:nvSpPr>
          <p:spPr>
            <a:xfrm>
              <a:off x="4834693" y="5656725"/>
              <a:ext cx="812574" cy="272922"/>
            </a:xfrm>
            <a:prstGeom prst="roundRect">
              <a:avLst/>
            </a:prstGeom>
            <a:grp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rPr>
                <a:t>用户体验</a:t>
              </a:r>
              <a:endParaRPr lang="zh-CN" altLang="en-US" sz="1000" b="1" kern="0">
                <a:solidFill>
                  <a:srgbClr val="FFFFFF"/>
                </a:solidFill>
                <a:latin typeface="微软雅黑"/>
                <a:ea typeface="微软雅黑"/>
                <a:cs typeface="微软雅黑"/>
              </a:endParaRPr>
            </a:p>
          </p:txBody>
        </p:sp>
        <p:sp>
          <p:nvSpPr>
            <p:cNvPr id="442" name="矩形: 圆角 441"/>
            <p:cNvSpPr/>
            <p:nvPr/>
          </p:nvSpPr>
          <p:spPr>
            <a:xfrm>
              <a:off x="5698850" y="5656725"/>
              <a:ext cx="812574" cy="272922"/>
            </a:xfrm>
            <a:prstGeom prst="roundRect">
              <a:avLst/>
            </a:prstGeom>
            <a:grp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rPr>
                <a:t>个性化推荐</a:t>
              </a:r>
              <a:endParaRPr lang="zh-CN" altLang="en-US" sz="1000" b="1" kern="0">
                <a:solidFill>
                  <a:srgbClr val="FFFFFF"/>
                </a:solidFill>
                <a:latin typeface="微软雅黑"/>
                <a:ea typeface="微软雅黑"/>
                <a:cs typeface="微软雅黑"/>
              </a:endParaRPr>
            </a:p>
          </p:txBody>
        </p:sp>
        <p:sp>
          <p:nvSpPr>
            <p:cNvPr id="443" name="矩形: 圆角 442"/>
            <p:cNvSpPr/>
            <p:nvPr/>
          </p:nvSpPr>
          <p:spPr>
            <a:xfrm>
              <a:off x="6563007" y="5656725"/>
              <a:ext cx="812574" cy="272922"/>
            </a:xfrm>
            <a:prstGeom prst="roundRect">
              <a:avLst/>
            </a:prstGeom>
            <a:grpFill/>
            <a:ln w="9708"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kern="0">
                  <a:solidFill>
                    <a:srgbClr val="FFFFFF"/>
                  </a:solidFill>
                  <a:latin typeface="微软雅黑"/>
                  <a:ea typeface="微软雅黑"/>
                  <a:cs typeface="微软雅黑"/>
                </a:rPr>
                <a:t>社交化分享</a:t>
              </a:r>
              <a:endParaRPr lang="zh-CN" altLang="en-US" sz="1000" b="1" kern="0">
                <a:solidFill>
                  <a:srgbClr val="FFFFFF"/>
                </a:solidFill>
                <a:latin typeface="微软雅黑"/>
                <a:ea typeface="微软雅黑"/>
                <a:cs typeface="微软雅黑"/>
              </a:endParaRPr>
            </a:p>
          </p:txBody>
        </p:sp>
      </p:grpSp>
      <p:grpSp>
        <p:nvGrpSpPr>
          <p:cNvPr id="452" name="组合 451"/>
          <p:cNvGrpSpPr/>
          <p:nvPr/>
        </p:nvGrpSpPr>
        <p:grpSpPr>
          <a:xfrm>
            <a:off x="1354582" y="3201734"/>
            <a:ext cx="171450" cy="176213"/>
            <a:chOff x="249238" y="1801812"/>
            <a:chExt cx="171450" cy="176213"/>
          </a:xfrm>
        </p:grpSpPr>
        <p:sp>
          <p:nvSpPr>
            <p:cNvPr id="449" name="任意多边形: 形状 448"/>
            <p:cNvSpPr/>
            <p:nvPr/>
          </p:nvSpPr>
          <p:spPr>
            <a:xfrm>
              <a:off x="249238" y="1835150"/>
              <a:ext cx="171450" cy="142875"/>
            </a:xfrm>
            <a:custGeom>
              <a:avLst/>
              <a:gdLst>
                <a:gd name="connsiteX0" fmla="*/ 161925 w 171450"/>
                <a:gd name="connsiteY0" fmla="*/ 0 h 142875"/>
                <a:gd name="connsiteX1" fmla="*/ 171450 w 171450"/>
                <a:gd name="connsiteY1" fmla="*/ 0 h 142875"/>
                <a:gd name="connsiteX2" fmla="*/ 171450 w 171450"/>
                <a:gd name="connsiteY2" fmla="*/ 142875 h 142875"/>
                <a:gd name="connsiteX3" fmla="*/ 161925 w 171450"/>
                <a:gd name="connsiteY3" fmla="*/ 142875 h 142875"/>
                <a:gd name="connsiteX4" fmla="*/ 9525 w 171450"/>
                <a:gd name="connsiteY4" fmla="*/ 142875 h 142875"/>
                <a:gd name="connsiteX5" fmla="*/ 0 w 171450"/>
                <a:gd name="connsiteY5" fmla="*/ 142875 h 142875"/>
                <a:gd name="connsiteX6" fmla="*/ 0 w 171450"/>
                <a:gd name="connsiteY6" fmla="*/ 0 h 142875"/>
                <a:gd name="connsiteX7" fmla="*/ 9525 w 171450"/>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50" h="142875">
                  <a:moveTo>
                    <a:pt x="161925" y="0"/>
                  </a:moveTo>
                  <a:cubicBezTo>
                    <a:pt x="167186" y="0"/>
                    <a:pt x="171450" y="0"/>
                    <a:pt x="171450" y="0"/>
                  </a:cubicBezTo>
                  <a:lnTo>
                    <a:pt x="171450" y="142875"/>
                  </a:lnTo>
                  <a:cubicBezTo>
                    <a:pt x="171450" y="142875"/>
                    <a:pt x="167186" y="142875"/>
                    <a:pt x="161925" y="142875"/>
                  </a:cubicBezTo>
                  <a:lnTo>
                    <a:pt x="9525" y="142875"/>
                  </a:lnTo>
                  <a:cubicBezTo>
                    <a:pt x="4264" y="142875"/>
                    <a:pt x="0" y="142875"/>
                    <a:pt x="0" y="142875"/>
                  </a:cubicBezTo>
                  <a:lnTo>
                    <a:pt x="0" y="0"/>
                  </a:lnTo>
                  <a:cubicBezTo>
                    <a:pt x="0" y="0"/>
                    <a:pt x="4264" y="0"/>
                    <a:pt x="9525" y="0"/>
                  </a:cubicBezTo>
                  <a:close/>
                </a:path>
              </a:pathLst>
            </a:custGeom>
            <a:noFill/>
            <a:ln w="15875" cap="flat">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50" name="任意多边形: 形状 449"/>
            <p:cNvSpPr/>
            <p:nvPr/>
          </p:nvSpPr>
          <p:spPr>
            <a:xfrm>
              <a:off x="306148" y="1892339"/>
              <a:ext cx="57150" cy="4762"/>
            </a:xfrm>
            <a:custGeom>
              <a:avLst/>
              <a:gdLst>
                <a:gd name="connsiteX0" fmla="*/ 0 w 57150"/>
                <a:gd name="connsiteY0" fmla="*/ 0 h 4762"/>
                <a:gd name="connsiteX1" fmla="*/ 57150 w 57150"/>
                <a:gd name="connsiteY1" fmla="*/ 0 h 4762"/>
              </a:gdLst>
              <a:ahLst/>
              <a:cxnLst>
                <a:cxn ang="0">
                  <a:pos x="connsiteX0" y="connsiteY0"/>
                </a:cxn>
                <a:cxn ang="0">
                  <a:pos x="connsiteX1" y="connsiteY1"/>
                </a:cxn>
              </a:cxnLst>
              <a:rect l="l" t="t" r="r" b="b"/>
              <a:pathLst>
                <a:path w="57150" h="4762">
                  <a:moveTo>
                    <a:pt x="0" y="0"/>
                  </a:moveTo>
                  <a:lnTo>
                    <a:pt x="57150" y="0"/>
                  </a:lnTo>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51" name="任意多边形: 形状 450"/>
            <p:cNvSpPr/>
            <p:nvPr/>
          </p:nvSpPr>
          <p:spPr>
            <a:xfrm>
              <a:off x="249238" y="1801812"/>
              <a:ext cx="171450" cy="38100"/>
            </a:xfrm>
            <a:custGeom>
              <a:avLst/>
              <a:gdLst>
                <a:gd name="connsiteX0" fmla="*/ 0 w 171450"/>
                <a:gd name="connsiteY0" fmla="*/ 38100 h 38100"/>
                <a:gd name="connsiteX1" fmla="*/ 33338 w 171450"/>
                <a:gd name="connsiteY1" fmla="*/ 0 h 38100"/>
                <a:gd name="connsiteX2" fmla="*/ 138113 w 171450"/>
                <a:gd name="connsiteY2" fmla="*/ 0 h 38100"/>
                <a:gd name="connsiteX3" fmla="*/ 171450 w 1714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38100"/>
                  </a:moveTo>
                  <a:lnTo>
                    <a:pt x="33338" y="0"/>
                  </a:lnTo>
                  <a:lnTo>
                    <a:pt x="138113" y="0"/>
                  </a:lnTo>
                  <a:lnTo>
                    <a:pt x="171450" y="38100"/>
                  </a:lnTo>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460" name="组合 459"/>
          <p:cNvGrpSpPr/>
          <p:nvPr/>
        </p:nvGrpSpPr>
        <p:grpSpPr>
          <a:xfrm>
            <a:off x="4931737" y="3194590"/>
            <a:ext cx="190500" cy="190500"/>
            <a:chOff x="19054" y="19050"/>
            <a:chExt cx="190500" cy="190500"/>
          </a:xfrm>
        </p:grpSpPr>
        <p:sp>
          <p:nvSpPr>
            <p:cNvPr id="456" name="任意多边形: 形状 455"/>
            <p:cNvSpPr/>
            <p:nvPr/>
          </p:nvSpPr>
          <p:spPr>
            <a:xfrm>
              <a:off x="32658" y="32656"/>
              <a:ext cx="65314" cy="65314"/>
            </a:xfrm>
            <a:custGeom>
              <a:avLst/>
              <a:gdLst>
                <a:gd name="connsiteX0" fmla="*/ 65314 w 65314"/>
                <a:gd name="connsiteY0" fmla="*/ 32657 h 65314"/>
                <a:gd name="connsiteX1" fmla="*/ 32657 w 65314"/>
                <a:gd name="connsiteY1" fmla="*/ 65314 h 65314"/>
                <a:gd name="connsiteX2" fmla="*/ 0 w 65314"/>
                <a:gd name="connsiteY2" fmla="*/ 32657 h 65314"/>
                <a:gd name="connsiteX3" fmla="*/ 32657 w 65314"/>
                <a:gd name="connsiteY3" fmla="*/ 0 h 65314"/>
                <a:gd name="connsiteX4" fmla="*/ 65314 w 65314"/>
                <a:gd name="connsiteY4" fmla="*/ 32657 h 65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14" h="65314">
                  <a:moveTo>
                    <a:pt x="65314" y="32657"/>
                  </a:moveTo>
                  <a:cubicBezTo>
                    <a:pt x="65314" y="50693"/>
                    <a:pt x="50693" y="65314"/>
                    <a:pt x="32657" y="65314"/>
                  </a:cubicBezTo>
                  <a:cubicBezTo>
                    <a:pt x="14621" y="65314"/>
                    <a:pt x="0" y="50693"/>
                    <a:pt x="0" y="32657"/>
                  </a:cubicBezTo>
                  <a:cubicBezTo>
                    <a:pt x="0" y="14621"/>
                    <a:pt x="14621" y="0"/>
                    <a:pt x="32657" y="0"/>
                  </a:cubicBezTo>
                  <a:cubicBezTo>
                    <a:pt x="50693" y="0"/>
                    <a:pt x="65314" y="14621"/>
                    <a:pt x="65314" y="32657"/>
                  </a:cubicBezTo>
                  <a:close/>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57" name="任意多边形: 形状 456"/>
            <p:cNvSpPr/>
            <p:nvPr/>
          </p:nvSpPr>
          <p:spPr>
            <a:xfrm>
              <a:off x="130629" y="130627"/>
              <a:ext cx="65314" cy="65314"/>
            </a:xfrm>
            <a:custGeom>
              <a:avLst/>
              <a:gdLst>
                <a:gd name="connsiteX0" fmla="*/ 65314 w 65314"/>
                <a:gd name="connsiteY0" fmla="*/ 32657 h 65314"/>
                <a:gd name="connsiteX1" fmla="*/ 32657 w 65314"/>
                <a:gd name="connsiteY1" fmla="*/ 65314 h 65314"/>
                <a:gd name="connsiteX2" fmla="*/ 0 w 65314"/>
                <a:gd name="connsiteY2" fmla="*/ 32657 h 65314"/>
                <a:gd name="connsiteX3" fmla="*/ 32657 w 65314"/>
                <a:gd name="connsiteY3" fmla="*/ 0 h 65314"/>
                <a:gd name="connsiteX4" fmla="*/ 65314 w 65314"/>
                <a:gd name="connsiteY4" fmla="*/ 32657 h 65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14" h="65314">
                  <a:moveTo>
                    <a:pt x="65314" y="32657"/>
                  </a:moveTo>
                  <a:cubicBezTo>
                    <a:pt x="65314" y="50693"/>
                    <a:pt x="50693" y="65314"/>
                    <a:pt x="32657" y="65314"/>
                  </a:cubicBezTo>
                  <a:cubicBezTo>
                    <a:pt x="14621" y="65314"/>
                    <a:pt x="0" y="50693"/>
                    <a:pt x="0" y="32657"/>
                  </a:cubicBezTo>
                  <a:cubicBezTo>
                    <a:pt x="0" y="14621"/>
                    <a:pt x="14621" y="0"/>
                    <a:pt x="32657" y="0"/>
                  </a:cubicBezTo>
                  <a:cubicBezTo>
                    <a:pt x="50693" y="0"/>
                    <a:pt x="65314" y="14621"/>
                    <a:pt x="65314" y="32657"/>
                  </a:cubicBezTo>
                  <a:close/>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58" name="任意多边形: 形状 457"/>
            <p:cNvSpPr/>
            <p:nvPr/>
          </p:nvSpPr>
          <p:spPr>
            <a:xfrm>
              <a:off x="19054" y="114300"/>
              <a:ext cx="95250" cy="95250"/>
            </a:xfrm>
            <a:custGeom>
              <a:avLst/>
              <a:gdLst>
                <a:gd name="connsiteX0" fmla="*/ 95250 w 95250"/>
                <a:gd name="connsiteY0" fmla="*/ 95250 h 95250"/>
                <a:gd name="connsiteX1" fmla="*/ 0 w 95250"/>
                <a:gd name="connsiteY1" fmla="*/ 0 h 95250"/>
                <a:gd name="connsiteX2" fmla="*/ 31750 w 95250"/>
                <a:gd name="connsiteY2" fmla="*/ 15875 h 95250"/>
              </a:gdLst>
              <a:ahLst/>
              <a:cxnLst>
                <a:cxn ang="0">
                  <a:pos x="connsiteX0" y="connsiteY0"/>
                </a:cxn>
                <a:cxn ang="0">
                  <a:pos x="connsiteX1" y="connsiteY1"/>
                </a:cxn>
                <a:cxn ang="0">
                  <a:pos x="connsiteX2" y="connsiteY2"/>
                </a:cxn>
              </a:cxnLst>
              <a:rect l="l" t="t" r="r" b="b"/>
              <a:pathLst>
                <a:path w="95250" h="95250">
                  <a:moveTo>
                    <a:pt x="95250" y="95250"/>
                  </a:moveTo>
                  <a:cubicBezTo>
                    <a:pt x="42645" y="95250"/>
                    <a:pt x="0" y="52605"/>
                    <a:pt x="0" y="0"/>
                  </a:cubicBezTo>
                  <a:lnTo>
                    <a:pt x="31750" y="15875"/>
                  </a:lnTo>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59" name="任意多边形: 形状 458"/>
            <p:cNvSpPr/>
            <p:nvPr/>
          </p:nvSpPr>
          <p:spPr>
            <a:xfrm>
              <a:off x="114304" y="19050"/>
              <a:ext cx="95250" cy="95250"/>
            </a:xfrm>
            <a:custGeom>
              <a:avLst/>
              <a:gdLst>
                <a:gd name="connsiteX0" fmla="*/ 0 w 95250"/>
                <a:gd name="connsiteY0" fmla="*/ 0 h 95250"/>
                <a:gd name="connsiteX1" fmla="*/ 95250 w 95250"/>
                <a:gd name="connsiteY1" fmla="*/ 95250 h 95250"/>
                <a:gd name="connsiteX2" fmla="*/ 63500 w 95250"/>
                <a:gd name="connsiteY2" fmla="*/ 79375 h 95250"/>
              </a:gdLst>
              <a:ahLst/>
              <a:cxnLst>
                <a:cxn ang="0">
                  <a:pos x="connsiteX0" y="connsiteY0"/>
                </a:cxn>
                <a:cxn ang="0">
                  <a:pos x="connsiteX1" y="connsiteY1"/>
                </a:cxn>
                <a:cxn ang="0">
                  <a:pos x="connsiteX2" y="connsiteY2"/>
                </a:cxn>
              </a:cxnLst>
              <a:rect l="l" t="t" r="r" b="b"/>
              <a:pathLst>
                <a:path w="95250" h="95250">
                  <a:moveTo>
                    <a:pt x="0" y="0"/>
                  </a:moveTo>
                  <a:cubicBezTo>
                    <a:pt x="52605" y="0"/>
                    <a:pt x="95250" y="42645"/>
                    <a:pt x="95250" y="95250"/>
                  </a:cubicBezTo>
                  <a:lnTo>
                    <a:pt x="63500" y="79375"/>
                  </a:lnTo>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466" name="组合 465"/>
          <p:cNvGrpSpPr/>
          <p:nvPr/>
        </p:nvGrpSpPr>
        <p:grpSpPr>
          <a:xfrm>
            <a:off x="8512254" y="3202913"/>
            <a:ext cx="202829" cy="173854"/>
            <a:chOff x="4933420" y="3045295"/>
            <a:chExt cx="166687" cy="142875"/>
          </a:xfrm>
        </p:grpSpPr>
        <p:sp>
          <p:nvSpPr>
            <p:cNvPr id="464" name="任意多边形: 形状 463"/>
            <p:cNvSpPr/>
            <p:nvPr/>
          </p:nvSpPr>
          <p:spPr>
            <a:xfrm>
              <a:off x="4933420" y="3045295"/>
              <a:ext cx="166687" cy="142875"/>
            </a:xfrm>
            <a:custGeom>
              <a:avLst/>
              <a:gdLst>
                <a:gd name="connsiteX0" fmla="*/ 123031 w 166687"/>
                <a:gd name="connsiteY0" fmla="*/ 0 h 142875"/>
                <a:gd name="connsiteX1" fmla="*/ 43656 w 166687"/>
                <a:gd name="connsiteY1" fmla="*/ 0 h 142875"/>
                <a:gd name="connsiteX2" fmla="*/ 0 w 166687"/>
                <a:gd name="connsiteY2" fmla="*/ 71438 h 142875"/>
                <a:gd name="connsiteX3" fmla="*/ 43656 w 166687"/>
                <a:gd name="connsiteY3" fmla="*/ 142875 h 142875"/>
                <a:gd name="connsiteX4" fmla="*/ 123031 w 166687"/>
                <a:gd name="connsiteY4" fmla="*/ 142875 h 142875"/>
                <a:gd name="connsiteX5" fmla="*/ 166688 w 166687"/>
                <a:gd name="connsiteY5" fmla="*/ 71438 h 142875"/>
                <a:gd name="connsiteX6" fmla="*/ 123031 w 166687"/>
                <a:gd name="connsiteY6"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7" h="142875">
                  <a:moveTo>
                    <a:pt x="123031" y="0"/>
                  </a:moveTo>
                  <a:lnTo>
                    <a:pt x="43656" y="0"/>
                  </a:lnTo>
                  <a:lnTo>
                    <a:pt x="0" y="71438"/>
                  </a:lnTo>
                  <a:lnTo>
                    <a:pt x="43656" y="142875"/>
                  </a:lnTo>
                  <a:lnTo>
                    <a:pt x="123031" y="142875"/>
                  </a:lnTo>
                  <a:lnTo>
                    <a:pt x="166688" y="71438"/>
                  </a:lnTo>
                  <a:lnTo>
                    <a:pt x="123031" y="0"/>
                  </a:lnTo>
                  <a:close/>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65" name="任意多边形: 形状 464"/>
            <p:cNvSpPr/>
            <p:nvPr/>
          </p:nvSpPr>
          <p:spPr>
            <a:xfrm>
              <a:off x="4981045" y="3081014"/>
              <a:ext cx="71437" cy="55562"/>
            </a:xfrm>
            <a:custGeom>
              <a:avLst/>
              <a:gdLst>
                <a:gd name="connsiteX0" fmla="*/ 0 w 71437"/>
                <a:gd name="connsiteY0" fmla="*/ 55563 h 55562"/>
                <a:gd name="connsiteX1" fmla="*/ 35719 w 71437"/>
                <a:gd name="connsiteY1" fmla="*/ 0 h 55562"/>
                <a:gd name="connsiteX2" fmla="*/ 71438 w 71437"/>
                <a:gd name="connsiteY2" fmla="*/ 55563 h 55562"/>
                <a:gd name="connsiteX3" fmla="*/ 0 w 71437"/>
                <a:gd name="connsiteY3" fmla="*/ 55563 h 55562"/>
              </a:gdLst>
              <a:ahLst/>
              <a:cxnLst>
                <a:cxn ang="0">
                  <a:pos x="connsiteX0" y="connsiteY0"/>
                </a:cxn>
                <a:cxn ang="0">
                  <a:pos x="connsiteX1" y="connsiteY1"/>
                </a:cxn>
                <a:cxn ang="0">
                  <a:pos x="connsiteX2" y="connsiteY2"/>
                </a:cxn>
                <a:cxn ang="0">
                  <a:pos x="connsiteX3" y="connsiteY3"/>
                </a:cxn>
              </a:cxnLst>
              <a:rect l="l" t="t" r="r" b="b"/>
              <a:pathLst>
                <a:path w="71437" h="55562">
                  <a:moveTo>
                    <a:pt x="0" y="55563"/>
                  </a:moveTo>
                  <a:lnTo>
                    <a:pt x="35719" y="0"/>
                  </a:lnTo>
                  <a:lnTo>
                    <a:pt x="71438" y="55563"/>
                  </a:lnTo>
                  <a:lnTo>
                    <a:pt x="0" y="55563"/>
                  </a:lnTo>
                  <a:close/>
                </a:path>
              </a:pathLst>
            </a:custGeom>
            <a:noFill/>
            <a:ln w="15875" cap="rnd">
              <a:solidFill>
                <a:srgbClr val="FFFFFF"/>
              </a:soli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sp>
        <p:nvSpPr>
          <p:cNvPr id="29" name="矩形: 圆角 62"/>
          <p:cNvSpPr/>
          <p:nvPr/>
        </p:nvSpPr>
        <p:spPr>
          <a:xfrm>
            <a:off x="1123315" y="2201545"/>
            <a:ext cx="564515" cy="543560"/>
          </a:xfrm>
          <a:prstGeom prst="roundRect">
            <a:avLst>
              <a:gd name="adj" fmla="val 7343"/>
            </a:avLst>
          </a:prstGeom>
          <a:solidFill>
            <a:srgbClr val="3368FF"/>
          </a:solidFill>
          <a:ln w="9708" cap="flat">
            <a:no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kern="0" dirty="0">
                <a:solidFill>
                  <a:srgbClr val="FFFFFF"/>
                </a:solidFill>
                <a:latin typeface="微软雅黑"/>
                <a:ea typeface="微软雅黑"/>
                <a:cs typeface="微软雅黑"/>
                <a:sym typeface="微软雅黑"/>
              </a:rPr>
              <a:t>业务把握</a:t>
            </a:r>
            <a:endParaRPr lang="zh-CN" altLang="en-US" sz="1200" b="1" kern="0" dirty="0">
              <a:solidFill>
                <a:srgbClr val="FFFFFF"/>
              </a:solidFill>
              <a:latin typeface="微软雅黑"/>
              <a:ea typeface="微软雅黑"/>
              <a:cs typeface="微软雅黑"/>
              <a:sym typeface="微软雅黑"/>
            </a:endParaRPr>
          </a:p>
        </p:txBody>
      </p:sp>
      <p:sp>
        <p:nvSpPr>
          <p:cNvPr id="30" name="矩形: 圆角 62"/>
          <p:cNvSpPr/>
          <p:nvPr/>
        </p:nvSpPr>
        <p:spPr>
          <a:xfrm>
            <a:off x="4744720" y="2201545"/>
            <a:ext cx="564515" cy="543560"/>
          </a:xfrm>
          <a:prstGeom prst="roundRect">
            <a:avLst>
              <a:gd name="adj" fmla="val 7343"/>
            </a:avLst>
          </a:prstGeom>
          <a:solidFill>
            <a:srgbClr val="3368FF"/>
          </a:solidFill>
          <a:ln w="9708" cap="flat">
            <a:no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kern="0" dirty="0">
                <a:solidFill>
                  <a:srgbClr val="FFFFFF"/>
                </a:solidFill>
                <a:latin typeface="微软雅黑"/>
                <a:ea typeface="微软雅黑"/>
                <a:cs typeface="微软雅黑"/>
                <a:sym typeface="微软雅黑"/>
              </a:rPr>
              <a:t>行业分析</a:t>
            </a:r>
            <a:endParaRPr lang="zh-CN" altLang="en-US" sz="1200" b="1" kern="0" dirty="0">
              <a:solidFill>
                <a:srgbClr val="FFFFFF"/>
              </a:solidFill>
              <a:latin typeface="微软雅黑"/>
              <a:ea typeface="微软雅黑"/>
              <a:cs typeface="微软雅黑"/>
              <a:sym typeface="微软雅黑"/>
            </a:endParaRPr>
          </a:p>
        </p:txBody>
      </p:sp>
      <p:sp>
        <p:nvSpPr>
          <p:cNvPr id="31" name="矩形: 圆角 62"/>
          <p:cNvSpPr/>
          <p:nvPr/>
        </p:nvSpPr>
        <p:spPr>
          <a:xfrm>
            <a:off x="8346440" y="2187575"/>
            <a:ext cx="564515" cy="543560"/>
          </a:xfrm>
          <a:prstGeom prst="roundRect">
            <a:avLst>
              <a:gd name="adj" fmla="val 7343"/>
            </a:avLst>
          </a:prstGeom>
          <a:solidFill>
            <a:srgbClr val="3368FF"/>
          </a:solidFill>
          <a:ln w="9708" cap="flat">
            <a:no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kern="0" dirty="0">
                <a:solidFill>
                  <a:srgbClr val="FFFFFF"/>
                </a:solidFill>
                <a:latin typeface="微软雅黑"/>
                <a:ea typeface="微软雅黑"/>
                <a:cs typeface="微软雅黑"/>
                <a:sym typeface="微软雅黑"/>
              </a:rPr>
              <a:t>问题辨识</a:t>
            </a:r>
            <a:endParaRPr lang="zh-CN" altLang="en-US" sz="1200" b="1" kern="0" dirty="0">
              <a:solidFill>
                <a:srgbClr val="FFFFFF"/>
              </a:solidFill>
              <a:latin typeface="微软雅黑"/>
              <a:ea typeface="微软雅黑"/>
              <a:cs typeface="微软雅黑"/>
              <a:sym typeface="微软雅黑"/>
            </a:endParaRPr>
          </a:p>
        </p:txBody>
      </p:sp>
      <p:grpSp>
        <p:nvGrpSpPr>
          <p:cNvPr id="4" name="组合 3"/>
          <p:cNvGrpSpPr/>
          <p:nvPr/>
        </p:nvGrpSpPr>
        <p:grpSpPr>
          <a:xfrm>
            <a:off x="7675245" y="347980"/>
            <a:ext cx="4588510" cy="367030"/>
            <a:chOff x="12087" y="-1089"/>
            <a:chExt cx="7226" cy="578"/>
          </a:xfrm>
        </p:grpSpPr>
        <p:pic>
          <p:nvPicPr>
            <p:cNvPr id="6" name="图片 5"/>
            <p:cNvPicPr>
              <a:picLocks noChangeAspect="1"/>
            </p:cNvPicPr>
            <p:nvPr userDrawn="1"/>
          </p:nvPicPr>
          <p:blipFill>
            <a:blip r:embed="rId3"/>
            <a:srcRect r="57320" b="-13333"/>
            <a:stretch>
              <a:fillRect/>
            </a:stretch>
          </p:blipFill>
          <p:spPr>
            <a:xfrm>
              <a:off x="12087" y="-1089"/>
              <a:ext cx="2548" cy="578"/>
            </a:xfrm>
            <a:prstGeom prst="rect">
              <a:avLst/>
            </a:prstGeom>
          </p:spPr>
        </p:pic>
        <p:sp>
          <p:nvSpPr>
            <p:cNvPr id="19" name="文本框 18"/>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rPr>
              <a:t>运动品牌年度品牌战略规划</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05" name="矩形 104"/>
          <p:cNvSpPr/>
          <p:nvPr/>
        </p:nvSpPr>
        <p:spPr>
          <a:xfrm>
            <a:off x="1139825" y="4335780"/>
            <a:ext cx="10609580" cy="2381885"/>
          </a:xfrm>
          <a:prstGeom prst="rect">
            <a:avLst/>
          </a:prstGeom>
          <a:solidFill>
            <a:srgbClr val="3368FF">
              <a:alpha val="5000"/>
            </a:srgbClr>
          </a:solidFill>
          <a:ln>
            <a:solidFill>
              <a:srgbClr val="3368FF">
                <a:alpha val="50000"/>
              </a:srgbClr>
            </a:solidFill>
          </a:ln>
        </p:spPr>
        <p:txBody>
          <a:bodyPr vert="horz" wrap="square" lIns="0" tIns="0" rIns="0" bIns="0" rtlCol="0" anchor="ctr" anchorCtr="0">
            <a:noAutofit/>
          </a:bodyPr>
          <a:lstStyle/>
          <a:p>
            <a:pPr lvl="0" algn="ctr" eaLnBrk="0">
              <a:buClrTx/>
              <a:buSzTx/>
              <a:buFontTx/>
              <a:defRPr>
                <a:latin typeface="微软雅黑"/>
                <a:ea typeface="微软雅黑"/>
                <a:cs typeface="微软雅黑"/>
              </a:defRPr>
            </a:pPr>
            <a:endParaRPr lang="zh-CN" altLang="en-US" sz="1400" dirty="0">
              <a:solidFill>
                <a:srgbClr val="383838"/>
              </a:solidFill>
              <a:latin typeface="微软雅黑"/>
              <a:ea typeface="微软雅黑"/>
              <a:cs typeface="微软雅黑"/>
              <a:sym typeface="微软雅黑"/>
            </a:endParaRPr>
          </a:p>
        </p:txBody>
      </p:sp>
      <p:cxnSp>
        <p:nvCxnSpPr>
          <p:cNvPr id="131" name="直接连接符 130"/>
          <p:cNvCxnSpPr/>
          <p:nvPr/>
        </p:nvCxnSpPr>
        <p:spPr>
          <a:xfrm>
            <a:off x="1141095" y="6186805"/>
            <a:ext cx="10604500" cy="0"/>
          </a:xfrm>
          <a:prstGeom prst="line">
            <a:avLst/>
          </a:prstGeom>
          <a:noFill/>
          <a:ln w="12700" cap="flat" cmpd="sng" algn="ctr">
            <a:solidFill>
              <a:srgbClr val="3368FF"/>
            </a:solidFill>
            <a:prstDash val="sysDot"/>
            <a:miter lim="800000"/>
          </a:ln>
          <a:effectLst/>
        </p:spPr>
        <p:style>
          <a:lnRef idx="2">
            <a:srgbClr val="FF4200"/>
          </a:lnRef>
          <a:fillRef idx="0">
            <a:srgbClr val="FF4200"/>
          </a:fillRef>
          <a:effectRef idx="1">
            <a:srgbClr val="FF4200"/>
          </a:effectRef>
          <a:fontRef idx="minor">
            <a:srgbClr val="383838"/>
          </a:fontRef>
        </p:style>
      </p:cxnSp>
      <p:cxnSp>
        <p:nvCxnSpPr>
          <p:cNvPr id="193" name="直接连接符 192"/>
          <p:cNvCxnSpPr/>
          <p:nvPr/>
        </p:nvCxnSpPr>
        <p:spPr>
          <a:xfrm>
            <a:off x="1148080" y="5177155"/>
            <a:ext cx="10601325" cy="0"/>
          </a:xfrm>
          <a:prstGeom prst="line">
            <a:avLst/>
          </a:prstGeom>
          <a:noFill/>
          <a:ln w="12700" cap="flat" cmpd="sng" algn="ctr">
            <a:solidFill>
              <a:srgbClr val="B3D4FE"/>
            </a:solidFill>
            <a:prstDash val="sysDot"/>
            <a:miter lim="800000"/>
          </a:ln>
          <a:effectLst/>
        </p:spPr>
        <p:style>
          <a:lnRef idx="2">
            <a:srgbClr val="FF4200"/>
          </a:lnRef>
          <a:fillRef idx="0">
            <a:srgbClr val="FF4200"/>
          </a:fillRef>
          <a:effectRef idx="1">
            <a:srgbClr val="FF4200"/>
          </a:effectRef>
          <a:fontRef idx="minor">
            <a:srgbClr val="383838"/>
          </a:fontRef>
        </p:style>
      </p:cxnSp>
      <p:sp>
        <p:nvSpPr>
          <p:cNvPr id="128" name="矩形 127"/>
          <p:cNvSpPr/>
          <p:nvPr/>
        </p:nvSpPr>
        <p:spPr>
          <a:xfrm>
            <a:off x="443230" y="4336415"/>
            <a:ext cx="654050" cy="2381885"/>
          </a:xfrm>
          <a:prstGeom prst="rect">
            <a:avLst/>
          </a:prstGeom>
          <a:gradFill>
            <a:gsLst>
              <a:gs pos="100000">
                <a:srgbClr val="3368FF"/>
              </a:gs>
              <a:gs pos="0">
                <a:srgbClr val="B3D4FE"/>
              </a:gs>
            </a:gsLst>
            <a:lin ang="540000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SG" altLang="en-US" sz="1000">
              <a:solidFill>
                <a:srgbClr val="383838"/>
              </a:solidFill>
              <a:latin typeface="微软雅黑"/>
              <a:ea typeface="微软雅黑"/>
              <a:cs typeface="微软雅黑"/>
              <a:sym typeface="微软雅黑"/>
            </a:endParaRPr>
          </a:p>
        </p:txBody>
      </p:sp>
      <p:cxnSp>
        <p:nvCxnSpPr>
          <p:cNvPr id="130" name="直接连接符 129"/>
          <p:cNvCxnSpPr>
            <a:stCxn id="128" idx="0"/>
          </p:cNvCxnSpPr>
          <p:nvPr/>
        </p:nvCxnSpPr>
        <p:spPr>
          <a:xfrm>
            <a:off x="770255" y="4336415"/>
            <a:ext cx="0" cy="2432050"/>
          </a:xfrm>
          <a:prstGeom prst="line">
            <a:avLst/>
          </a:prstGeom>
          <a:noFill/>
          <a:ln w="12700" cap="flat" cmpd="sng" algn="ctr">
            <a:solidFill>
              <a:srgbClr val="FFFFFF"/>
            </a:solidFill>
            <a:prstDash val="solid"/>
            <a:miter lim="800000"/>
          </a:ln>
          <a:effectLst/>
        </p:spPr>
        <p:style>
          <a:lnRef idx="2">
            <a:srgbClr val="FF4200"/>
          </a:lnRef>
          <a:fillRef idx="0">
            <a:srgbClr val="FF4200"/>
          </a:fillRef>
          <a:effectRef idx="1">
            <a:srgbClr val="FF4200"/>
          </a:effectRef>
          <a:fontRef idx="minor">
            <a:srgbClr val="383838"/>
          </a:fontRef>
        </p:style>
      </p:cxnSp>
      <p:cxnSp>
        <p:nvCxnSpPr>
          <p:cNvPr id="134" name="直接连接符 133"/>
          <p:cNvCxnSpPr/>
          <p:nvPr/>
        </p:nvCxnSpPr>
        <p:spPr>
          <a:xfrm>
            <a:off x="772160" y="5177155"/>
            <a:ext cx="333375" cy="0"/>
          </a:xfrm>
          <a:prstGeom prst="line">
            <a:avLst/>
          </a:prstGeom>
          <a:noFill/>
          <a:ln w="12700" cap="flat" cmpd="sng" algn="ctr">
            <a:solidFill>
              <a:srgbClr val="FFFFFF"/>
            </a:solidFill>
            <a:prstDash val="solid"/>
            <a:miter lim="800000"/>
          </a:ln>
          <a:effectLst/>
        </p:spPr>
        <p:style>
          <a:lnRef idx="2">
            <a:srgbClr val="FF4200"/>
          </a:lnRef>
          <a:fillRef idx="0">
            <a:srgbClr val="FF4200"/>
          </a:fillRef>
          <a:effectRef idx="1">
            <a:srgbClr val="FF4200"/>
          </a:effectRef>
          <a:fontRef idx="minor">
            <a:srgbClr val="383838"/>
          </a:fontRef>
        </p:style>
      </p:cxnSp>
      <p:sp>
        <p:nvSpPr>
          <p:cNvPr id="139" name="文本框 138"/>
          <p:cNvSpPr txBox="1"/>
          <p:nvPr/>
        </p:nvSpPr>
        <p:spPr>
          <a:xfrm>
            <a:off x="441960" y="5121275"/>
            <a:ext cx="346075" cy="631190"/>
          </a:xfrm>
          <a:prstGeom prst="rect">
            <a:avLst/>
          </a:prstGeom>
          <a:noFill/>
        </p:spPr>
        <p:txBody>
          <a:bodyPr vert="eaVert" wrap="none">
            <a:spAutoFit/>
          </a:bodyPr>
          <a:lstStyle/>
          <a:p>
            <a:pPr>
              <a:defRPr>
                <a:latin typeface="微软雅黑"/>
                <a:ea typeface="微软雅黑"/>
                <a:cs typeface="微软雅黑"/>
              </a:defRPr>
            </a:pPr>
            <a:r>
              <a:rPr lang="zh-SG" altLang="en-US" sz="1050" dirty="0">
                <a:solidFill>
                  <a:srgbClr val="383838"/>
                </a:solidFill>
                <a:latin typeface="微软雅黑"/>
                <a:ea typeface="微软雅黑"/>
                <a:cs typeface="微软雅黑"/>
              </a:rPr>
              <a:t>传播行动</a:t>
            </a:r>
            <a:endParaRPr lang="zh-SG" altLang="en-US" sz="1050" dirty="0">
              <a:solidFill>
                <a:srgbClr val="383838"/>
              </a:solidFill>
              <a:latin typeface="微软雅黑"/>
              <a:ea typeface="微软雅黑"/>
              <a:cs typeface="微软雅黑"/>
            </a:endParaRPr>
          </a:p>
        </p:txBody>
      </p:sp>
      <p:sp>
        <p:nvSpPr>
          <p:cNvPr id="140" name="文本框 139"/>
          <p:cNvSpPr txBox="1"/>
          <p:nvPr/>
        </p:nvSpPr>
        <p:spPr>
          <a:xfrm>
            <a:off x="772160" y="4544695"/>
            <a:ext cx="346075" cy="361950"/>
          </a:xfrm>
          <a:prstGeom prst="rect">
            <a:avLst/>
          </a:prstGeom>
          <a:noFill/>
        </p:spPr>
        <p:txBody>
          <a:bodyPr vert="eaVert" wrap="none">
            <a:spAutoFit/>
          </a:bodyPr>
          <a:lstStyle/>
          <a:p>
            <a:pPr>
              <a:defRPr>
                <a:latin typeface="微软雅黑"/>
                <a:ea typeface="微软雅黑"/>
                <a:cs typeface="微软雅黑"/>
              </a:defRPr>
            </a:pPr>
            <a:r>
              <a:rPr lang="zh-SG" altLang="en-US" sz="1050" dirty="0">
                <a:solidFill>
                  <a:srgbClr val="383838"/>
                </a:solidFill>
                <a:latin typeface="微软雅黑"/>
                <a:ea typeface="微软雅黑"/>
                <a:cs typeface="微软雅黑"/>
              </a:rPr>
              <a:t>线上</a:t>
            </a:r>
            <a:endParaRPr lang="zh-SG" altLang="en-US" sz="1050" dirty="0">
              <a:solidFill>
                <a:srgbClr val="383838"/>
              </a:solidFill>
              <a:latin typeface="微软雅黑"/>
              <a:ea typeface="微软雅黑"/>
              <a:cs typeface="微软雅黑"/>
            </a:endParaRPr>
          </a:p>
        </p:txBody>
      </p:sp>
      <p:sp>
        <p:nvSpPr>
          <p:cNvPr id="141" name="文本框 140"/>
          <p:cNvSpPr txBox="1"/>
          <p:nvPr/>
        </p:nvSpPr>
        <p:spPr>
          <a:xfrm>
            <a:off x="772160" y="5489575"/>
            <a:ext cx="346075" cy="361950"/>
          </a:xfrm>
          <a:prstGeom prst="rect">
            <a:avLst/>
          </a:prstGeom>
          <a:noFill/>
        </p:spPr>
        <p:txBody>
          <a:bodyPr vert="eaVert" wrap="none">
            <a:spAutoFit/>
          </a:bodyPr>
          <a:lstStyle/>
          <a:p>
            <a:pPr>
              <a:defRPr>
                <a:latin typeface="微软雅黑"/>
                <a:ea typeface="微软雅黑"/>
                <a:cs typeface="微软雅黑"/>
              </a:defRPr>
            </a:pPr>
            <a:r>
              <a:rPr lang="zh-SG" altLang="en-US" sz="1050" dirty="0">
                <a:solidFill>
                  <a:srgbClr val="383838"/>
                </a:solidFill>
                <a:latin typeface="微软雅黑"/>
                <a:ea typeface="微软雅黑"/>
                <a:cs typeface="微软雅黑"/>
              </a:rPr>
              <a:t>线下</a:t>
            </a:r>
            <a:endParaRPr lang="zh-SG" altLang="en-US" sz="1050" dirty="0">
              <a:solidFill>
                <a:srgbClr val="383838"/>
              </a:solidFill>
              <a:latin typeface="微软雅黑"/>
              <a:ea typeface="微软雅黑"/>
              <a:cs typeface="微软雅黑"/>
            </a:endParaRPr>
          </a:p>
        </p:txBody>
      </p:sp>
      <p:sp>
        <p:nvSpPr>
          <p:cNvPr id="143" name="文本框 142"/>
          <p:cNvSpPr txBox="1"/>
          <p:nvPr/>
        </p:nvSpPr>
        <p:spPr>
          <a:xfrm>
            <a:off x="772160" y="6273800"/>
            <a:ext cx="346075" cy="361950"/>
          </a:xfrm>
          <a:prstGeom prst="rect">
            <a:avLst/>
          </a:prstGeom>
          <a:noFill/>
        </p:spPr>
        <p:txBody>
          <a:bodyPr vert="eaVert" wrap="none">
            <a:spAutoFit/>
          </a:bodyPr>
          <a:lstStyle/>
          <a:p>
            <a:pPr>
              <a:defRPr>
                <a:solidFill>
                  <a:srgbClr val="FFFFFF"/>
                </a:solidFill>
                <a:latin typeface="微软雅黑"/>
                <a:ea typeface="微软雅黑"/>
                <a:cs typeface="微软雅黑"/>
              </a:defRPr>
            </a:pPr>
            <a:r>
              <a:rPr lang="zh-SG" altLang="en-US" sz="1050" dirty="0">
                <a:solidFill>
                  <a:srgbClr val="FFFFFF"/>
                </a:solidFill>
                <a:latin typeface="微软雅黑"/>
                <a:ea typeface="微软雅黑"/>
                <a:cs typeface="微软雅黑"/>
              </a:rPr>
              <a:t>日常</a:t>
            </a:r>
            <a:endParaRPr lang="zh-SG" altLang="en-US" sz="1050" dirty="0">
              <a:solidFill>
                <a:srgbClr val="FFFFFF"/>
              </a:solidFill>
              <a:latin typeface="微软雅黑"/>
              <a:ea typeface="微软雅黑"/>
              <a:cs typeface="微软雅黑"/>
            </a:endParaRPr>
          </a:p>
        </p:txBody>
      </p:sp>
      <p:cxnSp>
        <p:nvCxnSpPr>
          <p:cNvPr id="200" name="直接连接符 199"/>
          <p:cNvCxnSpPr/>
          <p:nvPr/>
        </p:nvCxnSpPr>
        <p:spPr>
          <a:xfrm>
            <a:off x="772160" y="6186805"/>
            <a:ext cx="333375" cy="0"/>
          </a:xfrm>
          <a:prstGeom prst="line">
            <a:avLst/>
          </a:prstGeom>
          <a:noFill/>
          <a:ln w="12700" cap="flat" cmpd="sng" algn="ctr">
            <a:solidFill>
              <a:srgbClr val="FFFFFF"/>
            </a:solidFill>
            <a:prstDash val="solid"/>
            <a:miter lim="800000"/>
          </a:ln>
          <a:effectLst/>
        </p:spPr>
        <p:style>
          <a:lnRef idx="2">
            <a:srgbClr val="FF4200"/>
          </a:lnRef>
          <a:fillRef idx="0">
            <a:srgbClr val="FF4200"/>
          </a:fillRef>
          <a:effectRef idx="1">
            <a:srgbClr val="FF4200"/>
          </a:effectRef>
          <a:fontRef idx="minor">
            <a:srgbClr val="383838"/>
          </a:fontRef>
        </p:style>
      </p:cxnSp>
      <p:sp>
        <p:nvSpPr>
          <p:cNvPr id="83" name="矩形 82"/>
          <p:cNvSpPr/>
          <p:nvPr/>
        </p:nvSpPr>
        <p:spPr>
          <a:xfrm>
            <a:off x="443230" y="1849755"/>
            <a:ext cx="11306175" cy="367665"/>
          </a:xfrm>
          <a:prstGeom prst="rect">
            <a:avLst/>
          </a:prstGeom>
          <a:solidFill>
            <a:srgbClr val="668EFF"/>
          </a:solidFill>
          <a:ln w="12700" cap="flat" cmpd="sng" algn="ctr">
            <a:solidFill>
              <a:srgbClr val="3368FF">
                <a:alpha val="70000"/>
              </a:srgbClr>
            </a:solidFill>
            <a:prstDash val="solid"/>
            <a:miter lim="800000"/>
          </a:ln>
          <a:effectLst/>
        </p:spPr>
        <p:txBody>
          <a:bodyPr wrap="square" rtlCol="0" anchor="ctr">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85" name="文本框 84"/>
          <p:cNvSpPr txBox="1"/>
          <p:nvPr/>
        </p:nvSpPr>
        <p:spPr>
          <a:xfrm>
            <a:off x="496570" y="1910715"/>
            <a:ext cx="554990" cy="246380"/>
          </a:xfrm>
          <a:prstGeom prst="rect">
            <a:avLst/>
          </a:prstGeom>
          <a:noFill/>
        </p:spPr>
        <p:txBody>
          <a:bodyPr wrap="none" lIns="0" rIns="0" tIns="0" bIns="0">
            <a:spAutoFit/>
          </a:bodyPr>
          <a:lstStyle/>
          <a:p>
            <a:pPr>
              <a:defRPr>
                <a:solidFill>
                  <a:srgbClr val="383838"/>
                </a:solidFill>
                <a:latin typeface="微软雅黑"/>
                <a:ea typeface="微软雅黑"/>
                <a:cs typeface="微软雅黑"/>
              </a:defRPr>
            </a:pPr>
            <a:r>
              <a:rPr lang="zh-SG" altLang="en-US" sz="1000" dirty="0">
                <a:solidFill>
                  <a:srgbClr val="383838"/>
                </a:solidFill>
                <a:latin typeface="微软雅黑"/>
                <a:ea typeface="微软雅黑"/>
                <a:cs typeface="微软雅黑"/>
              </a:rPr>
              <a:t>时间点</a:t>
            </a:r>
            <a:endParaRPr lang="zh-SG" altLang="en-US" sz="1000" dirty="0">
              <a:solidFill>
                <a:srgbClr val="383838"/>
              </a:solidFill>
              <a:latin typeface="微软雅黑"/>
              <a:ea typeface="微软雅黑"/>
              <a:cs typeface="微软雅黑"/>
            </a:endParaRPr>
          </a:p>
        </p:txBody>
      </p:sp>
      <p:sp>
        <p:nvSpPr>
          <p:cNvPr id="86" name="矩形: 圆角 85"/>
          <p:cNvSpPr/>
          <p:nvPr/>
        </p:nvSpPr>
        <p:spPr>
          <a:xfrm>
            <a:off x="1337945"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rPr>
              <a:t>Jan</a:t>
            </a:r>
            <a:endParaRPr lang="en-US" sz="1000">
              <a:solidFill>
                <a:srgbClr val="383838"/>
              </a:solidFill>
              <a:latin typeface="微软雅黑"/>
              <a:ea typeface="微软雅黑"/>
              <a:cs typeface="微软雅黑"/>
            </a:endParaRPr>
          </a:p>
        </p:txBody>
      </p:sp>
      <p:sp>
        <p:nvSpPr>
          <p:cNvPr id="87" name="矩形: 圆角 86"/>
          <p:cNvSpPr/>
          <p:nvPr/>
        </p:nvSpPr>
        <p:spPr>
          <a:xfrm>
            <a:off x="2212340"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Feb</a:t>
            </a:r>
            <a:endParaRPr lang="en-US" sz="1000">
              <a:solidFill>
                <a:srgbClr val="383838"/>
              </a:solidFill>
              <a:latin typeface="微软雅黑"/>
              <a:ea typeface="微软雅黑"/>
              <a:cs typeface="微软雅黑"/>
              <a:sym typeface="微软雅黑"/>
            </a:endParaRPr>
          </a:p>
        </p:txBody>
      </p:sp>
      <p:sp>
        <p:nvSpPr>
          <p:cNvPr id="88" name="矩形: 圆角 87"/>
          <p:cNvSpPr/>
          <p:nvPr/>
        </p:nvSpPr>
        <p:spPr>
          <a:xfrm>
            <a:off x="3086100"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Mar</a:t>
            </a:r>
            <a:endParaRPr lang="en-US" sz="1000">
              <a:solidFill>
                <a:srgbClr val="383838"/>
              </a:solidFill>
              <a:latin typeface="微软雅黑"/>
              <a:ea typeface="微软雅黑"/>
              <a:cs typeface="微软雅黑"/>
              <a:sym typeface="微软雅黑"/>
            </a:endParaRPr>
          </a:p>
        </p:txBody>
      </p:sp>
      <p:sp>
        <p:nvSpPr>
          <p:cNvPr id="89" name="矩形: 圆角 88"/>
          <p:cNvSpPr/>
          <p:nvPr/>
        </p:nvSpPr>
        <p:spPr>
          <a:xfrm>
            <a:off x="3960495"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Apr</a:t>
            </a:r>
            <a:endParaRPr lang="en-US" sz="1000">
              <a:solidFill>
                <a:srgbClr val="383838"/>
              </a:solidFill>
              <a:latin typeface="微软雅黑"/>
              <a:ea typeface="微软雅黑"/>
              <a:cs typeface="微软雅黑"/>
              <a:sym typeface="微软雅黑"/>
            </a:endParaRPr>
          </a:p>
        </p:txBody>
      </p:sp>
      <p:sp>
        <p:nvSpPr>
          <p:cNvPr id="90" name="矩形: 圆角 89"/>
          <p:cNvSpPr/>
          <p:nvPr/>
        </p:nvSpPr>
        <p:spPr>
          <a:xfrm>
            <a:off x="4834890"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May</a:t>
            </a:r>
            <a:endParaRPr lang="en-US" sz="1000">
              <a:solidFill>
                <a:srgbClr val="383838"/>
              </a:solidFill>
              <a:latin typeface="微软雅黑"/>
              <a:ea typeface="微软雅黑"/>
              <a:cs typeface="微软雅黑"/>
              <a:sym typeface="微软雅黑"/>
            </a:endParaRPr>
          </a:p>
        </p:txBody>
      </p:sp>
      <p:sp>
        <p:nvSpPr>
          <p:cNvPr id="91" name="矩形: 圆角 90"/>
          <p:cNvSpPr/>
          <p:nvPr/>
        </p:nvSpPr>
        <p:spPr>
          <a:xfrm>
            <a:off x="5709285"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Jun</a:t>
            </a:r>
            <a:endParaRPr lang="en-US" sz="1000">
              <a:solidFill>
                <a:srgbClr val="383838"/>
              </a:solidFill>
              <a:latin typeface="微软雅黑"/>
              <a:ea typeface="微软雅黑"/>
              <a:cs typeface="微软雅黑"/>
              <a:sym typeface="微软雅黑"/>
            </a:endParaRPr>
          </a:p>
        </p:txBody>
      </p:sp>
      <p:sp>
        <p:nvSpPr>
          <p:cNvPr id="92" name="矩形: 圆角 91"/>
          <p:cNvSpPr/>
          <p:nvPr/>
        </p:nvSpPr>
        <p:spPr>
          <a:xfrm>
            <a:off x="6583045"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Jul</a:t>
            </a:r>
            <a:endParaRPr lang="en-US" sz="1000">
              <a:solidFill>
                <a:srgbClr val="383838"/>
              </a:solidFill>
              <a:latin typeface="微软雅黑"/>
              <a:ea typeface="微软雅黑"/>
              <a:cs typeface="微软雅黑"/>
              <a:sym typeface="微软雅黑"/>
            </a:endParaRPr>
          </a:p>
        </p:txBody>
      </p:sp>
      <p:sp>
        <p:nvSpPr>
          <p:cNvPr id="93" name="矩形: 圆角 92"/>
          <p:cNvSpPr/>
          <p:nvPr/>
        </p:nvSpPr>
        <p:spPr>
          <a:xfrm>
            <a:off x="7457440"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Aug</a:t>
            </a:r>
            <a:endParaRPr lang="en-US" sz="1000">
              <a:solidFill>
                <a:srgbClr val="383838"/>
              </a:solidFill>
              <a:latin typeface="微软雅黑"/>
              <a:ea typeface="微软雅黑"/>
              <a:cs typeface="微软雅黑"/>
              <a:sym typeface="微软雅黑"/>
            </a:endParaRPr>
          </a:p>
        </p:txBody>
      </p:sp>
      <p:sp>
        <p:nvSpPr>
          <p:cNvPr id="94" name="矩形: 圆角 93"/>
          <p:cNvSpPr/>
          <p:nvPr/>
        </p:nvSpPr>
        <p:spPr>
          <a:xfrm>
            <a:off x="8331835"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Sep</a:t>
            </a:r>
            <a:endParaRPr lang="en-US" sz="1000">
              <a:solidFill>
                <a:srgbClr val="383838"/>
              </a:solidFill>
              <a:latin typeface="微软雅黑"/>
              <a:ea typeface="微软雅黑"/>
              <a:cs typeface="微软雅黑"/>
              <a:sym typeface="微软雅黑"/>
            </a:endParaRPr>
          </a:p>
        </p:txBody>
      </p:sp>
      <p:sp>
        <p:nvSpPr>
          <p:cNvPr id="95" name="矩形: 圆角 94"/>
          <p:cNvSpPr/>
          <p:nvPr/>
        </p:nvSpPr>
        <p:spPr>
          <a:xfrm>
            <a:off x="9206230"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Oct</a:t>
            </a:r>
            <a:endParaRPr lang="en-US" sz="1000">
              <a:solidFill>
                <a:srgbClr val="383838"/>
              </a:solidFill>
              <a:latin typeface="微软雅黑"/>
              <a:ea typeface="微软雅黑"/>
              <a:cs typeface="微软雅黑"/>
              <a:sym typeface="微软雅黑"/>
            </a:endParaRPr>
          </a:p>
        </p:txBody>
      </p:sp>
      <p:sp>
        <p:nvSpPr>
          <p:cNvPr id="96" name="矩形: 圆角 95"/>
          <p:cNvSpPr/>
          <p:nvPr/>
        </p:nvSpPr>
        <p:spPr>
          <a:xfrm>
            <a:off x="10079990"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Nov</a:t>
            </a:r>
            <a:endParaRPr lang="en-US" sz="1000">
              <a:solidFill>
                <a:srgbClr val="383838"/>
              </a:solidFill>
              <a:latin typeface="微软雅黑"/>
              <a:ea typeface="微软雅黑"/>
              <a:cs typeface="微软雅黑"/>
              <a:sym typeface="微软雅黑"/>
            </a:endParaRPr>
          </a:p>
        </p:txBody>
      </p:sp>
      <p:sp>
        <p:nvSpPr>
          <p:cNvPr id="97" name="矩形: 圆角 96"/>
          <p:cNvSpPr/>
          <p:nvPr/>
        </p:nvSpPr>
        <p:spPr>
          <a:xfrm>
            <a:off x="10954385" y="1929765"/>
            <a:ext cx="600075" cy="208280"/>
          </a:xfrm>
          <a:prstGeom prst="roundRect">
            <a:avLst>
              <a:gd name="adj" fmla="val 50000"/>
            </a:avLst>
          </a:prstGeom>
          <a:solidFill>
            <a:srgbClr val="FFFFFF"/>
          </a:solidFill>
          <a:ln w="63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sym typeface="微软雅黑"/>
              </a:rPr>
              <a:t>Dec</a:t>
            </a:r>
            <a:endParaRPr lang="en-US" sz="1000">
              <a:solidFill>
                <a:srgbClr val="383838"/>
              </a:solidFill>
              <a:latin typeface="微软雅黑"/>
              <a:ea typeface="微软雅黑"/>
              <a:cs typeface="微软雅黑"/>
              <a:sym typeface="微软雅黑"/>
            </a:endParaRPr>
          </a:p>
        </p:txBody>
      </p:sp>
      <p:sp>
        <p:nvSpPr>
          <p:cNvPr id="100" name="矩形 99"/>
          <p:cNvSpPr/>
          <p:nvPr/>
        </p:nvSpPr>
        <p:spPr>
          <a:xfrm>
            <a:off x="1143000" y="2264410"/>
            <a:ext cx="10606405" cy="367665"/>
          </a:xfrm>
          <a:prstGeom prst="rect">
            <a:avLst/>
          </a:prstGeom>
          <a:gradFill>
            <a:gsLst>
              <a:gs pos="0">
                <a:srgbClr val="3368FF"/>
              </a:gs>
              <a:gs pos="100000">
                <a:srgbClr val="0042FF"/>
              </a:gs>
            </a:gsLst>
            <a:lin ang="27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sym typeface="微软雅黑"/>
              </a:rPr>
              <a:t>构建</a:t>
            </a:r>
            <a:r>
              <a:rPr lang="en-US" altLang="zh-CN" sz="1200" dirty="0">
                <a:solidFill>
                  <a:srgbClr val="FFFFFF"/>
                </a:solidFill>
                <a:latin typeface="微软雅黑"/>
                <a:ea typeface="微软雅黑"/>
                <a:cs typeface="微软雅黑"/>
                <a:sym typeface="微软雅黑"/>
              </a:rPr>
              <a:t>"</a:t>
            </a:r>
            <a:r>
              <a:rPr lang="zh-CN" altLang="en-US" sz="1200" dirty="0">
                <a:solidFill>
                  <a:srgbClr val="FFFFFF"/>
                </a:solidFill>
                <a:latin typeface="微软雅黑"/>
                <a:ea typeface="微软雅黑"/>
                <a:cs typeface="微软雅黑"/>
                <a:sym typeface="微软雅黑"/>
              </a:rPr>
              <a:t>智能缓震跑鞋</a:t>
            </a:r>
            <a:r>
              <a:rPr lang="en-US" altLang="zh-CN" sz="1200" dirty="0">
                <a:solidFill>
                  <a:srgbClr val="FFFFFF"/>
                </a:solidFill>
                <a:latin typeface="微软雅黑"/>
                <a:ea typeface="微软雅黑"/>
                <a:cs typeface="微软雅黑"/>
                <a:sym typeface="微软雅黑"/>
              </a:rPr>
              <a:t>8600"</a:t>
            </a:r>
            <a:r>
              <a:rPr lang="zh-CN" altLang="en-US" sz="1200" dirty="0">
                <a:solidFill>
                  <a:srgbClr val="FFFFFF"/>
                </a:solidFill>
                <a:latin typeface="微软雅黑"/>
                <a:ea typeface="微软雅黑"/>
                <a:cs typeface="微软雅黑"/>
                <a:sym typeface="微软雅黑"/>
              </a:rPr>
              <a:t>系列市场认知，建立专业运动装备技术标杆，巩固运动之星科技运动品牌定位，强化用户社群口碑体系</a:t>
            </a:r>
            <a:endParaRPr lang="zh-CN" altLang="en-US" sz="1200" dirty="0">
              <a:solidFill>
                <a:srgbClr val="FFFFFF"/>
              </a:solidFill>
              <a:latin typeface="微软雅黑"/>
              <a:ea typeface="微软雅黑"/>
              <a:cs typeface="微软雅黑"/>
              <a:sym typeface="微软雅黑"/>
            </a:endParaRPr>
          </a:p>
        </p:txBody>
      </p:sp>
      <p:sp>
        <p:nvSpPr>
          <p:cNvPr id="106" name="矩形 105"/>
          <p:cNvSpPr/>
          <p:nvPr/>
        </p:nvSpPr>
        <p:spPr>
          <a:xfrm>
            <a:off x="443230" y="2264410"/>
            <a:ext cx="661670" cy="367665"/>
          </a:xfrm>
          <a:prstGeom prst="rect">
            <a:avLst/>
          </a:prstGeom>
          <a:gradFill>
            <a:gsLst>
              <a:gs pos="0">
                <a:srgbClr val="3368FF"/>
              </a:gs>
              <a:gs pos="100000">
                <a:srgbClr val="0042FF"/>
              </a:gs>
            </a:gsLst>
            <a:lin ang="2700000" scaled="0"/>
          </a:gradFill>
          <a:ln w="12700" cap="flat" cmpd="sng" algn="ctr">
            <a:solidFill>
              <a:srgbClr val="668EFF">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wrap="none" rtlCol="0" anchor="ctr" lIns="0" rIns="0" tIns="0" bIns="0"/>
          <a:lstStyle/>
          <a:p>
            <a:pPr algn="ctr">
              <a:defRPr>
                <a:solidFill>
                  <a:srgbClr val="FFFFFF"/>
                </a:solidFill>
                <a:latin typeface="微软雅黑"/>
                <a:ea typeface="微软雅黑"/>
                <a:cs typeface="微软雅黑"/>
              </a:defRPr>
            </a:pPr>
            <a:r>
              <a:rPr lang="zh-SG" altLang="en-US" sz="1000">
                <a:solidFill>
                  <a:srgbClr val="FFFFFF"/>
                </a:solidFill>
                <a:latin typeface="微软雅黑"/>
                <a:ea typeface="微软雅黑"/>
                <a:cs typeface="微软雅黑"/>
              </a:rPr>
              <a:t>传播目标</a:t>
            </a:r>
            <a:endParaRPr lang="zh-SG" altLang="en-US" sz="1000">
              <a:solidFill>
                <a:srgbClr val="FFFFFF"/>
              </a:solidFill>
              <a:latin typeface="微软雅黑"/>
              <a:ea typeface="微软雅黑"/>
              <a:cs typeface="微软雅黑"/>
            </a:endParaRPr>
          </a:p>
        </p:txBody>
      </p:sp>
      <p:sp>
        <p:nvSpPr>
          <p:cNvPr id="107" name="矩形 106"/>
          <p:cNvSpPr/>
          <p:nvPr/>
        </p:nvSpPr>
        <p:spPr>
          <a:xfrm>
            <a:off x="443230" y="2671445"/>
            <a:ext cx="661670" cy="367665"/>
          </a:xfrm>
          <a:prstGeom prst="rect">
            <a:avLst/>
          </a:prstGeom>
          <a:solidFill>
            <a:srgbClr val="E6E6E6">
              <a:alpha val="28000"/>
            </a:srgbClr>
          </a:solidFill>
          <a:ln w="12700" cap="flat" cmpd="sng" algn="ctr">
            <a:solidFill>
              <a:srgbClr val="668EFF">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zh-SG" altLang="en-US" sz="1000">
                <a:solidFill>
                  <a:srgbClr val="0042FF"/>
                </a:solidFill>
                <a:latin typeface="微软雅黑"/>
                <a:ea typeface="微软雅黑"/>
                <a:cs typeface="微软雅黑"/>
                <a:sym typeface="微软雅黑"/>
              </a:rPr>
              <a:t>传播节奏</a:t>
            </a:r>
            <a:endParaRPr lang="zh-SG" altLang="en-US" sz="1000">
              <a:solidFill>
                <a:srgbClr val="0042FF"/>
              </a:solidFill>
              <a:latin typeface="微软雅黑"/>
              <a:ea typeface="微软雅黑"/>
              <a:cs typeface="微软雅黑"/>
              <a:sym typeface="微软雅黑"/>
            </a:endParaRPr>
          </a:p>
        </p:txBody>
      </p:sp>
      <p:sp>
        <p:nvSpPr>
          <p:cNvPr id="102" name="矩形 101"/>
          <p:cNvSpPr/>
          <p:nvPr/>
        </p:nvSpPr>
        <p:spPr>
          <a:xfrm>
            <a:off x="1143000" y="3086735"/>
            <a:ext cx="3499485" cy="548005"/>
          </a:xfrm>
          <a:prstGeom prst="rect">
            <a:avLst/>
          </a:prstGeom>
          <a:solidFill>
            <a:srgbClr val="E6E6E6">
              <a:alpha val="30000"/>
            </a:srgbClr>
          </a:solidFill>
          <a:ln w="12700" cap="flat" cmpd="sng" algn="ctr">
            <a:solidFill>
              <a:srgbClr val="E6E6E6"/>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08" name="矩形 107"/>
          <p:cNvSpPr/>
          <p:nvPr/>
        </p:nvSpPr>
        <p:spPr>
          <a:xfrm>
            <a:off x="443230" y="3086735"/>
            <a:ext cx="661670" cy="548005"/>
          </a:xfrm>
          <a:prstGeom prst="rect">
            <a:avLst/>
          </a:prstGeom>
          <a:solidFill>
            <a:srgbClr val="E6E6E6">
              <a:alpha val="28000"/>
            </a:srgbClr>
          </a:solidFill>
          <a:ln w="12700" cap="flat" cmpd="sng" algn="ctr">
            <a:solidFill>
              <a:srgbClr val="668EFF">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zh-SG" altLang="en-US" sz="1000">
                <a:solidFill>
                  <a:srgbClr val="0042FF"/>
                </a:solidFill>
                <a:latin typeface="微软雅黑"/>
                <a:ea typeface="微软雅黑"/>
                <a:cs typeface="微软雅黑"/>
                <a:sym typeface="微软雅黑"/>
              </a:rPr>
              <a:t>阶段任务</a:t>
            </a:r>
            <a:endParaRPr lang="zh-SG" altLang="en-US" sz="1000">
              <a:solidFill>
                <a:srgbClr val="0042FF"/>
              </a:solidFill>
              <a:latin typeface="微软雅黑"/>
              <a:ea typeface="微软雅黑"/>
              <a:cs typeface="微软雅黑"/>
              <a:sym typeface="微软雅黑"/>
            </a:endParaRPr>
          </a:p>
        </p:txBody>
      </p:sp>
      <p:sp>
        <p:nvSpPr>
          <p:cNvPr id="103" name="矩形 102"/>
          <p:cNvSpPr/>
          <p:nvPr/>
        </p:nvSpPr>
        <p:spPr>
          <a:xfrm>
            <a:off x="1143000" y="3674110"/>
            <a:ext cx="3499485" cy="603250"/>
          </a:xfrm>
          <a:prstGeom prst="rect">
            <a:avLst/>
          </a:prstGeom>
          <a:solidFill>
            <a:srgbClr val="E6E6E6">
              <a:alpha val="30000"/>
            </a:srgbClr>
          </a:solidFill>
          <a:ln w="12700" cap="flat" cmpd="sng" algn="ctr">
            <a:solidFill>
              <a:srgbClr val="E6E6E6"/>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09" name="矩形 108"/>
          <p:cNvSpPr/>
          <p:nvPr/>
        </p:nvSpPr>
        <p:spPr>
          <a:xfrm>
            <a:off x="443230" y="3674110"/>
            <a:ext cx="661670" cy="603250"/>
          </a:xfrm>
          <a:prstGeom prst="rect">
            <a:avLst/>
          </a:prstGeom>
          <a:solidFill>
            <a:srgbClr val="E6E6E6">
              <a:alpha val="28000"/>
            </a:srgbClr>
          </a:solidFill>
          <a:ln w="12700" cap="flat" cmpd="sng" algn="ctr">
            <a:solidFill>
              <a:srgbClr val="668EFF">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lang="zh-SG" altLang="en-US" sz="1000">
                <a:solidFill>
                  <a:srgbClr val="0042FF"/>
                </a:solidFill>
                <a:latin typeface="微软雅黑"/>
                <a:ea typeface="微软雅黑"/>
                <a:cs typeface="微软雅黑"/>
                <a:sym typeface="微软雅黑"/>
              </a:rPr>
              <a:t>传播信息</a:t>
            </a:r>
            <a:endParaRPr lang="zh-SG" altLang="en-US" sz="1000">
              <a:solidFill>
                <a:srgbClr val="0042FF"/>
              </a:solidFill>
              <a:latin typeface="微软雅黑"/>
              <a:ea typeface="微软雅黑"/>
              <a:cs typeface="微软雅黑"/>
              <a:sym typeface="微软雅黑"/>
            </a:endParaRPr>
          </a:p>
        </p:txBody>
      </p:sp>
      <p:sp>
        <p:nvSpPr>
          <p:cNvPr id="101" name="矩形 100"/>
          <p:cNvSpPr/>
          <p:nvPr/>
        </p:nvSpPr>
        <p:spPr>
          <a:xfrm>
            <a:off x="1143000" y="2671445"/>
            <a:ext cx="3499485" cy="367665"/>
          </a:xfrm>
          <a:prstGeom prst="rect">
            <a:avLst/>
          </a:prstGeom>
          <a:solidFill>
            <a:srgbClr val="E6E6E6">
              <a:alpha val="30000"/>
            </a:srgbClr>
          </a:solidFill>
          <a:ln w="12700">
            <a:solidFill>
              <a:srgbClr val="E6E6E6"/>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社交媒体话题酝酿</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运动员代言预热</a:t>
            </a:r>
            <a:endParaRPr lang="zh-CN" altLang="en-US" sz="1200" dirty="0">
              <a:solidFill>
                <a:srgbClr val="383838"/>
              </a:solidFill>
              <a:latin typeface="微软雅黑"/>
              <a:ea typeface="微软雅黑"/>
              <a:cs typeface="微软雅黑"/>
              <a:sym typeface="微软雅黑"/>
            </a:endParaRPr>
          </a:p>
        </p:txBody>
      </p:sp>
      <p:sp>
        <p:nvSpPr>
          <p:cNvPr id="110" name="矩形 109"/>
          <p:cNvSpPr/>
          <p:nvPr/>
        </p:nvSpPr>
        <p:spPr>
          <a:xfrm>
            <a:off x="4696460" y="2671445"/>
            <a:ext cx="3499485" cy="367665"/>
          </a:xfrm>
          <a:prstGeom prst="rect">
            <a:avLst/>
          </a:prstGeom>
          <a:solidFill>
            <a:srgbClr val="E6E6E6">
              <a:alpha val="30000"/>
            </a:srgbClr>
          </a:solidFill>
          <a:ln w="12700">
            <a:solidFill>
              <a:srgbClr val="E6E6E6"/>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春夏新品发布会</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明星运动员矩阵传播</a:t>
            </a:r>
            <a:endParaRPr lang="zh-CN" altLang="en-US" sz="1200" dirty="0">
              <a:solidFill>
                <a:srgbClr val="383838"/>
              </a:solidFill>
              <a:latin typeface="微软雅黑"/>
              <a:ea typeface="微软雅黑"/>
              <a:cs typeface="微软雅黑"/>
              <a:sym typeface="微软雅黑"/>
            </a:endParaRPr>
          </a:p>
        </p:txBody>
      </p:sp>
      <p:sp>
        <p:nvSpPr>
          <p:cNvPr id="111" name="矩形 110"/>
          <p:cNvSpPr/>
          <p:nvPr/>
        </p:nvSpPr>
        <p:spPr>
          <a:xfrm>
            <a:off x="8249285" y="2671445"/>
            <a:ext cx="3499485" cy="367665"/>
          </a:xfrm>
          <a:prstGeom prst="rect">
            <a:avLst/>
          </a:prstGeom>
          <a:solidFill>
            <a:srgbClr val="E6E6E6">
              <a:alpha val="30000"/>
            </a:srgbClr>
          </a:solidFill>
          <a:ln w="12700">
            <a:solidFill>
              <a:srgbClr val="E6E6E6"/>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马拉松赛事嵌入</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全民健身场景渗透</a:t>
            </a:r>
            <a:endParaRPr lang="zh-CN" altLang="en-US" sz="1200" dirty="0">
              <a:solidFill>
                <a:srgbClr val="383838"/>
              </a:solidFill>
              <a:latin typeface="微软雅黑"/>
              <a:ea typeface="微软雅黑"/>
              <a:cs typeface="微软雅黑"/>
              <a:sym typeface="微软雅黑"/>
            </a:endParaRPr>
          </a:p>
        </p:txBody>
      </p:sp>
      <p:sp>
        <p:nvSpPr>
          <p:cNvPr id="116" name="文本框 115"/>
          <p:cNvSpPr txBox="1"/>
          <p:nvPr/>
        </p:nvSpPr>
        <p:spPr>
          <a:xfrm>
            <a:off x="1658303" y="3161348"/>
            <a:ext cx="2468880" cy="398780"/>
          </a:xfrm>
          <a:prstGeom prst="rect">
            <a:avLst/>
          </a:prstGeom>
          <a:noFill/>
          <a:extLst>
            <a:ext uri="{909E8E84-426E-40DD-AFC4-6F175D3DCCD1}">
              <a14:hiddenFill xmlns:a14="http://schemas.microsoft.com/office/drawing/2010/main">
                <a:solidFill>
                  <a:srgbClr val="E6E6E6">
                    <a:alpha val="70000"/>
                  </a:srgbClr>
                </a:solidFill>
              </a14:hiddenFill>
            </a:ext>
          </a:extLst>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借势奥运会通过签约运动员强化专业形象</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开展</a:t>
            </a:r>
            <a:r>
              <a:rPr lang="en-US" altLang="zh-CN" sz="1000" dirty="0">
                <a:solidFill>
                  <a:srgbClr val="383838"/>
                </a:solidFill>
                <a:latin typeface="微软雅黑"/>
                <a:ea typeface="微软雅黑"/>
                <a:cs typeface="微软雅黑"/>
              </a:rPr>
              <a:t>"21</a:t>
            </a:r>
            <a:r>
              <a:rPr lang="zh-CN" altLang="en-US" sz="1000" dirty="0">
                <a:solidFill>
                  <a:srgbClr val="383838"/>
                </a:solidFill>
                <a:latin typeface="微软雅黑"/>
                <a:ea typeface="微软雅黑"/>
                <a:cs typeface="微软雅黑"/>
              </a:rPr>
              <a:t>天运动挑战赛</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打造社群互动</a:t>
            </a:r>
            <a:endParaRPr lang="zh-CN" altLang="en-US" sz="1000" dirty="0">
              <a:solidFill>
                <a:srgbClr val="383838"/>
              </a:solidFill>
              <a:latin typeface="微软雅黑"/>
              <a:ea typeface="微软雅黑"/>
              <a:cs typeface="微软雅黑"/>
            </a:endParaRPr>
          </a:p>
        </p:txBody>
      </p:sp>
      <p:sp>
        <p:nvSpPr>
          <p:cNvPr id="119" name="文本框 118"/>
          <p:cNvSpPr txBox="1"/>
          <p:nvPr/>
        </p:nvSpPr>
        <p:spPr>
          <a:xfrm>
            <a:off x="1912620" y="3699193"/>
            <a:ext cx="1960880" cy="553085"/>
          </a:xfrm>
          <a:prstGeom prst="rect">
            <a:avLst/>
          </a:prstGeom>
          <a:noFill/>
          <a:extLst>
            <a:ext uri="{909E8E84-426E-40DD-AFC4-6F175D3DCCD1}">
              <a14:hiddenFill xmlns:a14="http://schemas.microsoft.com/office/drawing/2010/main">
                <a:solidFill>
                  <a:srgbClr val="E6E6E6">
                    <a:alpha val="70000"/>
                  </a:srgbClr>
                </a:solidFill>
              </a14:hiddenFill>
            </a:ext>
          </a:extLst>
        </p:spPr>
        <p:txBody>
          <a:bodyPr wrap="none"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核心运动科技解密</a:t>
            </a:r>
            <a:endParaRPr lang="zh-CN" altLang="en-US" sz="1000"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超临界发泡中底材料实验室首曝</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能量反馈系统</a:t>
            </a:r>
            <a:r>
              <a:rPr lang="en-US" altLang="zh-CN" sz="1000" dirty="0">
                <a:solidFill>
                  <a:srgbClr val="383838"/>
                </a:solidFill>
                <a:latin typeface="微软雅黑"/>
                <a:ea typeface="微软雅黑"/>
                <a:cs typeface="微软雅黑"/>
              </a:rPr>
              <a:t>3.0</a:t>
            </a:r>
            <a:r>
              <a:rPr lang="zh-CN" altLang="en-US" sz="1000" dirty="0">
                <a:solidFill>
                  <a:srgbClr val="383838"/>
                </a:solidFill>
                <a:latin typeface="微软雅黑"/>
                <a:ea typeface="微软雅黑"/>
                <a:cs typeface="微软雅黑"/>
              </a:rPr>
              <a:t>代际技术对比</a:t>
            </a:r>
            <a:endParaRPr lang="zh-CN" altLang="en-US" sz="1000" dirty="0">
              <a:solidFill>
                <a:srgbClr val="383838"/>
              </a:solidFill>
              <a:latin typeface="微软雅黑"/>
              <a:ea typeface="微软雅黑"/>
              <a:cs typeface="微软雅黑"/>
            </a:endParaRPr>
          </a:p>
        </p:txBody>
      </p:sp>
      <p:sp>
        <p:nvSpPr>
          <p:cNvPr id="120" name="矩形 119"/>
          <p:cNvSpPr/>
          <p:nvPr/>
        </p:nvSpPr>
        <p:spPr>
          <a:xfrm>
            <a:off x="4693285" y="3086735"/>
            <a:ext cx="3499485" cy="548005"/>
          </a:xfrm>
          <a:prstGeom prst="rect">
            <a:avLst/>
          </a:prstGeom>
          <a:solidFill>
            <a:srgbClr val="E6E6E6">
              <a:alpha val="30000"/>
            </a:srgbClr>
          </a:solidFill>
          <a:ln w="12700" cap="flat" cmpd="sng" algn="ctr">
            <a:solidFill>
              <a:srgbClr val="E6E6E6"/>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1" name="矩形 120"/>
          <p:cNvSpPr/>
          <p:nvPr/>
        </p:nvSpPr>
        <p:spPr>
          <a:xfrm>
            <a:off x="4693285" y="3674110"/>
            <a:ext cx="3499485" cy="603250"/>
          </a:xfrm>
          <a:prstGeom prst="rect">
            <a:avLst/>
          </a:prstGeom>
          <a:solidFill>
            <a:srgbClr val="E6E6E6">
              <a:alpha val="30000"/>
            </a:srgbClr>
          </a:solidFill>
          <a:ln w="12700" cap="flat" cmpd="sng" algn="ctr">
            <a:solidFill>
              <a:srgbClr val="E6E6E6"/>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2" name="文本框 121"/>
          <p:cNvSpPr txBox="1"/>
          <p:nvPr/>
        </p:nvSpPr>
        <p:spPr>
          <a:xfrm>
            <a:off x="5383848" y="3161348"/>
            <a:ext cx="2118360" cy="398780"/>
          </a:xfrm>
          <a:prstGeom prst="rect">
            <a:avLst/>
          </a:prstGeom>
          <a:noFill/>
          <a:extLst>
            <a:ext uri="{909E8E84-426E-40DD-AFC4-6F175D3DCCD1}">
              <a14:hiddenFill xmlns:a14="http://schemas.microsoft.com/office/drawing/2010/main">
                <a:solidFill>
                  <a:srgbClr val="E6E6E6">
                    <a:alpha val="70000"/>
                  </a:srgbClr>
                </a:solidFill>
              </a14:hiddenFill>
            </a:ext>
          </a:extLst>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发起</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我的运动星球</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用户故事征集</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联动健身</a:t>
            </a:r>
            <a:r>
              <a:rPr lang="en-US" altLang="zh-CN" sz="1000" dirty="0">
                <a:solidFill>
                  <a:srgbClr val="383838"/>
                </a:solidFill>
                <a:latin typeface="微软雅黑"/>
                <a:ea typeface="微软雅黑"/>
                <a:cs typeface="微软雅黑"/>
              </a:rPr>
              <a:t>KOL</a:t>
            </a:r>
            <a:r>
              <a:rPr lang="zh-CN" altLang="en-US" sz="1000" dirty="0">
                <a:solidFill>
                  <a:srgbClr val="383838"/>
                </a:solidFill>
                <a:latin typeface="微软雅黑"/>
                <a:ea typeface="微软雅黑"/>
                <a:cs typeface="微软雅黑"/>
              </a:rPr>
              <a:t>建立场景化种草体系</a:t>
            </a:r>
            <a:endParaRPr lang="zh-CN" altLang="en-US" sz="1000" dirty="0">
              <a:solidFill>
                <a:srgbClr val="383838"/>
              </a:solidFill>
              <a:latin typeface="微软雅黑"/>
              <a:ea typeface="微软雅黑"/>
              <a:cs typeface="微软雅黑"/>
            </a:endParaRPr>
          </a:p>
        </p:txBody>
      </p:sp>
      <p:sp>
        <p:nvSpPr>
          <p:cNvPr id="123" name="文本框 122"/>
          <p:cNvSpPr txBox="1"/>
          <p:nvPr/>
        </p:nvSpPr>
        <p:spPr>
          <a:xfrm>
            <a:off x="5334635" y="3699193"/>
            <a:ext cx="2216150" cy="553085"/>
          </a:xfrm>
          <a:prstGeom prst="rect">
            <a:avLst/>
          </a:prstGeom>
          <a:noFill/>
          <a:extLst>
            <a:ext uri="{909E8E84-426E-40DD-AFC4-6F175D3DCCD1}">
              <a14:hiddenFill xmlns:a14="http://schemas.microsoft.com/office/drawing/2010/main">
                <a:solidFill>
                  <a:srgbClr val="E6E6E6">
                    <a:alpha val="70000"/>
                  </a:srgbClr>
                </a:solidFill>
              </a14:hiddenFill>
            </a:ext>
          </a:extLst>
        </p:spPr>
        <p:txBody>
          <a:bodyPr wrap="none"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产品力深度拆解</a:t>
            </a:r>
            <a:endParaRPr lang="zh-CN" altLang="en-US" sz="10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动态缓震系数对比传统跑鞋提升</a:t>
            </a:r>
            <a:r>
              <a:rPr lang="en-US" altLang="zh-CN" sz="1000" dirty="0">
                <a:solidFill>
                  <a:srgbClr val="383838"/>
                </a:solidFill>
                <a:latin typeface="微软雅黑"/>
                <a:ea typeface="微软雅黑"/>
                <a:cs typeface="微软雅黑"/>
              </a:rPr>
              <a:t>87%</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10</a:t>
            </a:r>
            <a:r>
              <a:rPr lang="zh-CN" altLang="en-US" sz="1000" dirty="0">
                <a:solidFill>
                  <a:srgbClr val="383838"/>
                </a:solidFill>
                <a:latin typeface="微软雅黑"/>
                <a:ea typeface="微软雅黑"/>
                <a:cs typeface="微软雅黑"/>
              </a:rPr>
              <a:t>种运动场景自适应系统实测</a:t>
            </a:r>
            <a:endParaRPr lang="zh-CN" altLang="en-US" sz="1000" dirty="0">
              <a:solidFill>
                <a:srgbClr val="383838"/>
              </a:solidFill>
              <a:latin typeface="微软雅黑"/>
              <a:ea typeface="微软雅黑"/>
              <a:cs typeface="微软雅黑"/>
            </a:endParaRPr>
          </a:p>
        </p:txBody>
      </p:sp>
      <p:sp>
        <p:nvSpPr>
          <p:cNvPr id="124" name="矩形 123"/>
          <p:cNvSpPr/>
          <p:nvPr/>
        </p:nvSpPr>
        <p:spPr>
          <a:xfrm>
            <a:off x="8246110" y="3086735"/>
            <a:ext cx="3499485" cy="548005"/>
          </a:xfrm>
          <a:prstGeom prst="rect">
            <a:avLst/>
          </a:prstGeom>
          <a:solidFill>
            <a:srgbClr val="E6E6E6">
              <a:alpha val="30000"/>
            </a:srgbClr>
          </a:solidFill>
          <a:ln w="12700" cap="flat" cmpd="sng" algn="ctr">
            <a:solidFill>
              <a:srgbClr val="E6E6E6"/>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5" name="矩形 124"/>
          <p:cNvSpPr/>
          <p:nvPr/>
        </p:nvSpPr>
        <p:spPr>
          <a:xfrm>
            <a:off x="8246110" y="3674110"/>
            <a:ext cx="3499485" cy="603250"/>
          </a:xfrm>
          <a:prstGeom prst="rect">
            <a:avLst/>
          </a:prstGeom>
          <a:solidFill>
            <a:srgbClr val="E6E6E6">
              <a:alpha val="30000"/>
            </a:srgbClr>
          </a:solidFill>
          <a:ln w="12700" cap="flat" cmpd="sng" algn="ctr">
            <a:solidFill>
              <a:srgbClr val="E6E6E6"/>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6" name="文本框 125"/>
          <p:cNvSpPr txBox="1"/>
          <p:nvPr/>
        </p:nvSpPr>
        <p:spPr>
          <a:xfrm>
            <a:off x="8951595" y="3161348"/>
            <a:ext cx="2087880" cy="398780"/>
          </a:xfrm>
          <a:prstGeom prst="rect">
            <a:avLst/>
          </a:prstGeom>
          <a:noFill/>
          <a:extLst>
            <a:ext uri="{909E8E84-426E-40DD-AFC4-6F175D3DCCD1}">
              <a14:hiddenFill xmlns:a14="http://schemas.microsoft.com/office/drawing/2010/main">
                <a:solidFill>
                  <a:srgbClr val="E6E6E6">
                    <a:alpha val="70000"/>
                  </a:srgbClr>
                </a:solidFill>
              </a14:hiddenFill>
            </a:ext>
          </a:extLst>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输出运动科学实验数据佐证产品力</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构建会员积分与赛事荣誉双体系</a:t>
            </a:r>
            <a:endParaRPr lang="zh-CN" altLang="en-US" sz="1000" dirty="0">
              <a:solidFill>
                <a:srgbClr val="383838"/>
              </a:solidFill>
              <a:latin typeface="微软雅黑"/>
              <a:ea typeface="微软雅黑"/>
              <a:cs typeface="微软雅黑"/>
            </a:endParaRPr>
          </a:p>
        </p:txBody>
      </p:sp>
      <p:sp>
        <p:nvSpPr>
          <p:cNvPr id="127" name="文本框 126"/>
          <p:cNvSpPr txBox="1"/>
          <p:nvPr/>
        </p:nvSpPr>
        <p:spPr>
          <a:xfrm>
            <a:off x="9001760" y="3699193"/>
            <a:ext cx="1988185" cy="553085"/>
          </a:xfrm>
          <a:prstGeom prst="rect">
            <a:avLst/>
          </a:prstGeom>
          <a:noFill/>
          <a:extLst>
            <a:ext uri="{909E8E84-426E-40DD-AFC4-6F175D3DCCD1}">
              <a14:hiddenFill xmlns:a14="http://schemas.microsoft.com/office/drawing/2010/main">
                <a:solidFill>
                  <a:srgbClr val="E6E6E6">
                    <a:alpha val="70000"/>
                  </a:srgbClr>
                </a:solidFill>
              </a14:hiddenFill>
            </a:ext>
          </a:extLst>
        </p:spPr>
        <p:txBody>
          <a:bodyPr wrap="none"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用户证言体系化输出</a:t>
            </a:r>
            <a:endParaRPr lang="zh-CN" altLang="en-US" sz="10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百位全马破</a:t>
            </a:r>
            <a:r>
              <a:rPr lang="en-US" altLang="zh-CN" sz="1000" dirty="0">
                <a:solidFill>
                  <a:srgbClr val="383838"/>
                </a:solidFill>
                <a:latin typeface="微软雅黑"/>
                <a:ea typeface="微软雅黑"/>
                <a:cs typeface="微软雅黑"/>
              </a:rPr>
              <a:t>3</a:t>
            </a:r>
            <a:r>
              <a:rPr lang="zh-CN" altLang="en-US" sz="1000" dirty="0">
                <a:solidFill>
                  <a:srgbClr val="383838"/>
                </a:solidFill>
                <a:latin typeface="微软雅黑"/>
                <a:ea typeface="微软雅黑"/>
                <a:cs typeface="微软雅黑"/>
              </a:rPr>
              <a:t>跑者装备使用报告</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I</a:t>
            </a:r>
            <a:r>
              <a:rPr lang="zh-CN" altLang="en-US" sz="1000" dirty="0">
                <a:solidFill>
                  <a:srgbClr val="383838"/>
                </a:solidFill>
                <a:latin typeface="微软雅黑"/>
                <a:ea typeface="微软雅黑"/>
                <a:cs typeface="微软雅黑"/>
              </a:rPr>
              <a:t>健身教练年度课程装备迭代记录</a:t>
            </a:r>
            <a:endParaRPr lang="zh-CN" altLang="en-US" sz="1000" dirty="0">
              <a:solidFill>
                <a:srgbClr val="383838"/>
              </a:solidFill>
              <a:latin typeface="微软雅黑"/>
              <a:ea typeface="微软雅黑"/>
              <a:cs typeface="微软雅黑"/>
            </a:endParaRPr>
          </a:p>
        </p:txBody>
      </p:sp>
      <p:sp>
        <p:nvSpPr>
          <p:cNvPr id="163" name="矩形 162"/>
          <p:cNvSpPr/>
          <p:nvPr/>
        </p:nvSpPr>
        <p:spPr>
          <a:xfrm>
            <a:off x="3478530" y="4397375"/>
            <a:ext cx="1930400" cy="186055"/>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alpha val="90000"/>
                  </a:srgbClr>
                </a:solidFill>
                <a:latin typeface="微软雅黑"/>
                <a:ea typeface="微软雅黑"/>
                <a:cs typeface="微软雅黑"/>
                <a:sym typeface="微软雅黑"/>
              </a:rPr>
              <a:t>虚拟试鞋</a:t>
            </a:r>
            <a:r>
              <a:rPr lang="en-US" altLang="zh-CN" sz="1000" dirty="0">
                <a:solidFill>
                  <a:srgbClr val="383838">
                    <a:alpha val="90000"/>
                  </a:srgbClr>
                </a:solidFill>
                <a:latin typeface="微软雅黑"/>
                <a:ea typeface="微软雅黑"/>
                <a:cs typeface="微软雅黑"/>
                <a:sym typeface="微软雅黑"/>
              </a:rPr>
              <a:t>3D</a:t>
            </a:r>
            <a:r>
              <a:rPr lang="zh-CN" altLang="en-US" sz="1000" dirty="0">
                <a:solidFill>
                  <a:srgbClr val="383838">
                    <a:alpha val="90000"/>
                  </a:srgbClr>
                </a:solidFill>
                <a:latin typeface="微软雅黑"/>
                <a:ea typeface="微软雅黑"/>
                <a:cs typeface="微软雅黑"/>
                <a:sym typeface="微软雅黑"/>
              </a:rPr>
              <a:t>系统上线</a:t>
            </a:r>
            <a:endParaRPr lang="zh-CN" altLang="en-US" sz="1000" dirty="0">
              <a:solidFill>
                <a:srgbClr val="383838">
                  <a:alpha val="90000"/>
                </a:srgbClr>
              </a:solidFill>
              <a:latin typeface="微软雅黑"/>
              <a:ea typeface="微软雅黑"/>
              <a:cs typeface="微软雅黑"/>
              <a:sym typeface="微软雅黑"/>
            </a:endParaRPr>
          </a:p>
        </p:txBody>
      </p:sp>
      <p:sp>
        <p:nvSpPr>
          <p:cNvPr id="164" name="矩形 163"/>
          <p:cNvSpPr/>
          <p:nvPr/>
        </p:nvSpPr>
        <p:spPr>
          <a:xfrm>
            <a:off x="5617845" y="4397375"/>
            <a:ext cx="1930400" cy="186055"/>
          </a:xfrm>
          <a:prstGeom prst="rect">
            <a:avLst/>
          </a:prstGeom>
          <a:solidFill>
            <a:srgbClr val="FFFFFF"/>
          </a:soli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alpha val="90000"/>
                  </a:srgbClr>
                </a:solidFill>
                <a:latin typeface="微软雅黑"/>
                <a:ea typeface="微软雅黑"/>
                <a:cs typeface="微软雅黑"/>
              </a:rPr>
              <a:t>AI</a:t>
            </a:r>
            <a:r>
              <a:rPr lang="zh-CN" altLang="en-US" sz="1000">
                <a:solidFill>
                  <a:srgbClr val="383838">
                    <a:alpha val="90000"/>
                  </a:srgbClr>
                </a:solidFill>
                <a:latin typeface="微软雅黑"/>
                <a:ea typeface="微软雅黑"/>
                <a:cs typeface="微软雅黑"/>
              </a:rPr>
              <a:t>跑步姿态分析个性化推荐</a:t>
            </a:r>
            <a:endParaRPr lang="zh-CN" altLang="en-US" sz="1000">
              <a:solidFill>
                <a:srgbClr val="383838">
                  <a:alpha val="90000"/>
                </a:srgbClr>
              </a:solidFill>
              <a:latin typeface="微软雅黑"/>
              <a:ea typeface="微软雅黑"/>
              <a:cs typeface="微软雅黑"/>
            </a:endParaRPr>
          </a:p>
        </p:txBody>
      </p:sp>
      <p:sp>
        <p:nvSpPr>
          <p:cNvPr id="165" name="矩形 164"/>
          <p:cNvSpPr/>
          <p:nvPr/>
        </p:nvSpPr>
        <p:spPr>
          <a:xfrm>
            <a:off x="9285605" y="4397375"/>
            <a:ext cx="1930400" cy="186055"/>
          </a:xfrm>
          <a:prstGeom prst="rect">
            <a:avLst/>
          </a:prstGeom>
          <a:solidFill>
            <a:srgbClr val="FFFFFF"/>
          </a:soli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383838">
                    <a:alpha val="90000"/>
                  </a:srgbClr>
                </a:solidFill>
                <a:latin typeface="微软雅黑"/>
                <a:ea typeface="微软雅黑"/>
                <a:cs typeface="微软雅黑"/>
              </a:rPr>
              <a:t>跑者纪录片计划</a:t>
            </a:r>
            <a:endParaRPr lang="zh-CN" altLang="en-US" sz="1000">
              <a:solidFill>
                <a:srgbClr val="383838">
                  <a:alpha val="90000"/>
                </a:srgbClr>
              </a:solidFill>
              <a:latin typeface="微软雅黑"/>
              <a:ea typeface="微软雅黑"/>
              <a:cs typeface="微软雅黑"/>
            </a:endParaRPr>
          </a:p>
        </p:txBody>
      </p:sp>
      <p:grpSp>
        <p:nvGrpSpPr>
          <p:cNvPr id="186" name="组合 185"/>
          <p:cNvGrpSpPr/>
          <p:nvPr/>
        </p:nvGrpSpPr>
        <p:grpSpPr>
          <a:xfrm>
            <a:off x="3013075" y="4523740"/>
            <a:ext cx="7450455" cy="567055"/>
            <a:chOff x="3012957" y="4490464"/>
            <a:chExt cx="7450192" cy="566930"/>
          </a:xfrm>
          <a:solidFill>
            <a:srgbClr val="FFFFFF"/>
          </a:solidFill>
        </p:grpSpPr>
        <p:sp>
          <p:nvSpPr>
            <p:cNvPr id="161" name="矩形 160"/>
            <p:cNvSpPr/>
            <p:nvPr/>
          </p:nvSpPr>
          <p:spPr>
            <a:xfrm>
              <a:off x="7772672" y="4490464"/>
              <a:ext cx="1346369" cy="187200"/>
            </a:xfrm>
            <a:prstGeom prst="rect">
              <a:avLst/>
            </a:prstGeom>
            <a:grp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alpha val="90000"/>
                    </a:srgbClr>
                  </a:solidFill>
                  <a:latin typeface="微软雅黑"/>
                  <a:ea typeface="微软雅黑"/>
                  <a:cs typeface="微软雅黑"/>
                </a:rPr>
                <a:t>运动科学直播课</a:t>
              </a:r>
              <a:endParaRPr lang="zh-CN" altLang="en-US" sz="1000" dirty="0">
                <a:solidFill>
                  <a:srgbClr val="383838">
                    <a:alpha val="90000"/>
                  </a:srgbClr>
                </a:solidFill>
                <a:latin typeface="微软雅黑"/>
                <a:ea typeface="微软雅黑"/>
                <a:cs typeface="微软雅黑"/>
              </a:endParaRPr>
            </a:p>
          </p:txBody>
        </p:sp>
        <p:sp>
          <p:nvSpPr>
            <p:cNvPr id="166" name="矩形 165"/>
            <p:cNvSpPr/>
            <p:nvPr/>
          </p:nvSpPr>
          <p:spPr>
            <a:xfrm>
              <a:off x="3012957" y="4870194"/>
              <a:ext cx="1346369" cy="187200"/>
            </a:xfrm>
            <a:prstGeom prst="rect">
              <a:avLst/>
            </a:prstGeom>
            <a:grp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alpha val="90000"/>
                    </a:srgbClr>
                  </a:solidFill>
                  <a:latin typeface="微软雅黑"/>
                  <a:ea typeface="微软雅黑"/>
                  <a:cs typeface="微软雅黑"/>
                </a:rPr>
                <a:t>线上发起</a:t>
              </a:r>
              <a:r>
                <a:rPr lang="en-US" altLang="zh-CN" sz="1000" dirty="0">
                  <a:solidFill>
                    <a:srgbClr val="383838">
                      <a:alpha val="90000"/>
                    </a:srgbClr>
                  </a:solidFill>
                  <a:latin typeface="微软雅黑"/>
                  <a:ea typeface="微软雅黑"/>
                  <a:cs typeface="微软雅黑"/>
                </a:rPr>
                <a:t>UGC</a:t>
              </a:r>
              <a:r>
                <a:rPr lang="zh-CN" altLang="en-US" sz="1000" dirty="0">
                  <a:solidFill>
                    <a:srgbClr val="383838">
                      <a:alpha val="90000"/>
                    </a:srgbClr>
                  </a:solidFill>
                  <a:latin typeface="微软雅黑"/>
                  <a:ea typeface="微软雅黑"/>
                  <a:cs typeface="微软雅黑"/>
                </a:rPr>
                <a:t>设计大赛</a:t>
              </a:r>
              <a:endParaRPr lang="zh-CN" altLang="en-US" sz="1000" dirty="0">
                <a:solidFill>
                  <a:srgbClr val="383838">
                    <a:alpha val="90000"/>
                  </a:srgbClr>
                </a:solidFill>
                <a:latin typeface="微软雅黑"/>
                <a:ea typeface="微软雅黑"/>
                <a:cs typeface="微软雅黑"/>
              </a:endParaRPr>
            </a:p>
          </p:txBody>
        </p:sp>
        <p:sp>
          <p:nvSpPr>
            <p:cNvPr id="167" name="矩形 166"/>
            <p:cNvSpPr/>
            <p:nvPr/>
          </p:nvSpPr>
          <p:spPr>
            <a:xfrm>
              <a:off x="4563166" y="4870194"/>
              <a:ext cx="1346369" cy="187200"/>
            </a:xfrm>
            <a:prstGeom prst="rect">
              <a:avLst/>
            </a:prstGeom>
            <a:grp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alpha val="90000"/>
                    </a:srgbClr>
                  </a:solidFill>
                  <a:latin typeface="微软雅黑"/>
                  <a:ea typeface="微软雅黑"/>
                  <a:cs typeface="微软雅黑"/>
                </a:rPr>
                <a:t>每月直播装备拆解评测</a:t>
              </a:r>
              <a:endParaRPr lang="zh-CN" altLang="en-US" sz="1000" dirty="0">
                <a:solidFill>
                  <a:srgbClr val="383838">
                    <a:alpha val="90000"/>
                  </a:srgbClr>
                </a:solidFill>
                <a:latin typeface="微软雅黑"/>
                <a:ea typeface="微软雅黑"/>
                <a:cs typeface="微软雅黑"/>
              </a:endParaRPr>
            </a:p>
          </p:txBody>
        </p:sp>
        <p:sp>
          <p:nvSpPr>
            <p:cNvPr id="168" name="矩形 167"/>
            <p:cNvSpPr/>
            <p:nvPr/>
          </p:nvSpPr>
          <p:spPr>
            <a:xfrm>
              <a:off x="6271432" y="4870194"/>
              <a:ext cx="1346369" cy="187200"/>
            </a:xfrm>
            <a:prstGeom prst="rect">
              <a:avLst/>
            </a:prstGeom>
            <a:grp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alpha val="90000"/>
                    </a:srgbClr>
                  </a:solidFill>
                  <a:latin typeface="微软雅黑"/>
                  <a:ea typeface="微软雅黑"/>
                  <a:cs typeface="微软雅黑"/>
                </a:rPr>
                <a:t>奥运选手定制专属课程</a:t>
              </a:r>
              <a:endParaRPr lang="zh-CN" altLang="en-US" sz="1000" dirty="0">
                <a:solidFill>
                  <a:srgbClr val="383838">
                    <a:alpha val="90000"/>
                  </a:srgbClr>
                </a:solidFill>
                <a:latin typeface="微软雅黑"/>
                <a:ea typeface="微软雅黑"/>
                <a:cs typeface="微软雅黑"/>
              </a:endParaRPr>
            </a:p>
          </p:txBody>
        </p:sp>
        <p:sp>
          <p:nvSpPr>
            <p:cNvPr id="169" name="矩形 168"/>
            <p:cNvSpPr/>
            <p:nvPr/>
          </p:nvSpPr>
          <p:spPr>
            <a:xfrm>
              <a:off x="8532757" y="4870194"/>
              <a:ext cx="1930392" cy="187200"/>
            </a:xfrm>
            <a:prstGeom prst="rect">
              <a:avLst/>
            </a:prstGeom>
            <a:grp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alpha val="90000"/>
                    </a:srgbClr>
                  </a:solidFill>
                  <a:latin typeface="微软雅黑"/>
                  <a:ea typeface="微软雅黑"/>
                  <a:cs typeface="微软雅黑"/>
                </a:rPr>
                <a:t>赛事报名平台搭建</a:t>
              </a:r>
              <a:endParaRPr lang="zh-CN" altLang="en-US" sz="1000" dirty="0">
                <a:solidFill>
                  <a:srgbClr val="383838">
                    <a:alpha val="90000"/>
                  </a:srgbClr>
                </a:solidFill>
                <a:latin typeface="微软雅黑"/>
                <a:ea typeface="微软雅黑"/>
                <a:cs typeface="微软雅黑"/>
              </a:endParaRPr>
            </a:p>
          </p:txBody>
        </p:sp>
      </p:grpSp>
      <p:sp>
        <p:nvSpPr>
          <p:cNvPr id="170" name="矩形 169"/>
          <p:cNvSpPr/>
          <p:nvPr/>
        </p:nvSpPr>
        <p:spPr>
          <a:xfrm>
            <a:off x="2640965" y="4650740"/>
            <a:ext cx="946150" cy="186055"/>
          </a:xfrm>
          <a:prstGeom prst="rect">
            <a:avLst/>
          </a:prstGeom>
          <a:solidFill>
            <a:srgbClr val="FFFFFF"/>
          </a:soli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alpha val="90000"/>
                  </a:srgbClr>
                </a:solidFill>
                <a:latin typeface="微软雅黑"/>
                <a:ea typeface="微软雅黑"/>
                <a:cs typeface="微软雅黑"/>
              </a:rPr>
              <a:t>21</a:t>
            </a:r>
            <a:r>
              <a:rPr lang="zh-CN" altLang="en-US" sz="1000" dirty="0">
                <a:solidFill>
                  <a:srgbClr val="383838">
                    <a:alpha val="90000"/>
                  </a:srgbClr>
                </a:solidFill>
                <a:latin typeface="微软雅黑"/>
                <a:ea typeface="微软雅黑"/>
                <a:cs typeface="微软雅黑"/>
              </a:rPr>
              <a:t>天</a:t>
            </a:r>
            <a:r>
              <a:rPr lang="en-US" altLang="zh-CN" sz="1000" dirty="0">
                <a:solidFill>
                  <a:srgbClr val="383838">
                    <a:alpha val="90000"/>
                  </a:srgbClr>
                </a:solidFill>
                <a:latin typeface="微软雅黑"/>
                <a:ea typeface="微软雅黑"/>
                <a:cs typeface="微软雅黑"/>
                <a:sym typeface="微软雅黑"/>
              </a:rPr>
              <a:t>PK</a:t>
            </a:r>
            <a:r>
              <a:rPr lang="zh-CN" altLang="en-US" sz="1000" dirty="0">
                <a:solidFill>
                  <a:srgbClr val="383838">
                    <a:alpha val="90000"/>
                  </a:srgbClr>
                </a:solidFill>
                <a:latin typeface="微软雅黑"/>
                <a:ea typeface="微软雅黑"/>
                <a:cs typeface="微软雅黑"/>
              </a:rPr>
              <a:t>挑战赛</a:t>
            </a:r>
            <a:endParaRPr lang="zh-CN" altLang="en-US" sz="1000" dirty="0">
              <a:solidFill>
                <a:srgbClr val="383838">
                  <a:alpha val="90000"/>
                </a:srgbClr>
              </a:solidFill>
              <a:latin typeface="微软雅黑"/>
              <a:ea typeface="微软雅黑"/>
              <a:cs typeface="微软雅黑"/>
            </a:endParaRPr>
          </a:p>
        </p:txBody>
      </p:sp>
      <p:sp>
        <p:nvSpPr>
          <p:cNvPr id="171" name="矩形 170"/>
          <p:cNvSpPr/>
          <p:nvPr/>
        </p:nvSpPr>
        <p:spPr>
          <a:xfrm>
            <a:off x="3832225" y="4650740"/>
            <a:ext cx="1602105" cy="186055"/>
          </a:xfrm>
          <a:prstGeom prst="rect">
            <a:avLst/>
          </a:prstGeom>
          <a:solidFill>
            <a:srgbClr val="FFFFFF"/>
          </a:soli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alpha val="90000"/>
                  </a:srgbClr>
                </a:solidFill>
                <a:latin typeface="微软雅黑"/>
                <a:ea typeface="微软雅黑"/>
                <a:cs typeface="微软雅黑"/>
              </a:rPr>
              <a:t>运动数据银行云端存储</a:t>
            </a:r>
            <a:endParaRPr lang="zh-CN" altLang="en-US" sz="1000" dirty="0">
              <a:solidFill>
                <a:srgbClr val="383838">
                  <a:alpha val="90000"/>
                </a:srgbClr>
              </a:solidFill>
              <a:latin typeface="微软雅黑"/>
              <a:ea typeface="微软雅黑"/>
              <a:cs typeface="微软雅黑"/>
            </a:endParaRPr>
          </a:p>
        </p:txBody>
      </p:sp>
      <p:sp>
        <p:nvSpPr>
          <p:cNvPr id="172" name="矩形 171"/>
          <p:cNvSpPr/>
          <p:nvPr/>
        </p:nvSpPr>
        <p:spPr>
          <a:xfrm>
            <a:off x="5855335" y="4650740"/>
            <a:ext cx="1602105" cy="186055"/>
          </a:xfrm>
          <a:prstGeom prst="rect">
            <a:avLst/>
          </a:prstGeom>
          <a:solidFill>
            <a:srgbClr val="FFFFFF"/>
          </a:soli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383838">
                    <a:alpha val="90000"/>
                  </a:srgbClr>
                </a:solidFill>
                <a:latin typeface="微软雅黑"/>
                <a:ea typeface="微软雅黑"/>
                <a:cs typeface="微软雅黑"/>
              </a:rPr>
              <a:t>跑步积分荣誉体系</a:t>
            </a:r>
            <a:endParaRPr lang="zh-CN" altLang="en-US" sz="1000">
              <a:solidFill>
                <a:srgbClr val="383838">
                  <a:alpha val="90000"/>
                </a:srgbClr>
              </a:solidFill>
              <a:latin typeface="微软雅黑"/>
              <a:ea typeface="微软雅黑"/>
              <a:cs typeface="微软雅黑"/>
            </a:endParaRPr>
          </a:p>
        </p:txBody>
      </p:sp>
      <p:sp>
        <p:nvSpPr>
          <p:cNvPr id="173" name="矩形 172"/>
          <p:cNvSpPr/>
          <p:nvPr/>
        </p:nvSpPr>
        <p:spPr>
          <a:xfrm>
            <a:off x="9613900" y="4650740"/>
            <a:ext cx="1602105" cy="186055"/>
          </a:xfrm>
          <a:prstGeom prst="rect">
            <a:avLst/>
          </a:prstGeom>
          <a:solidFill>
            <a:srgbClr val="FFFFFF"/>
          </a:soli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alpha val="90000"/>
                  </a:srgbClr>
                </a:solidFill>
                <a:latin typeface="微软雅黑"/>
                <a:ea typeface="微软雅黑"/>
                <a:cs typeface="微软雅黑"/>
              </a:rPr>
              <a:t>鞋履生命周期管理</a:t>
            </a:r>
            <a:endParaRPr lang="zh-CN" altLang="en-US" sz="1000" dirty="0">
              <a:solidFill>
                <a:srgbClr val="383838">
                  <a:alpha val="90000"/>
                </a:srgbClr>
              </a:solidFill>
              <a:latin typeface="微软雅黑"/>
              <a:ea typeface="微软雅黑"/>
              <a:cs typeface="微软雅黑"/>
            </a:endParaRPr>
          </a:p>
        </p:txBody>
      </p:sp>
      <p:sp>
        <p:nvSpPr>
          <p:cNvPr id="174" name="矩形 173"/>
          <p:cNvSpPr/>
          <p:nvPr/>
        </p:nvSpPr>
        <p:spPr>
          <a:xfrm>
            <a:off x="1344930" y="6216650"/>
            <a:ext cx="2706370" cy="482600"/>
          </a:xfrm>
          <a:prstGeom prst="rect">
            <a:avLst/>
          </a:prstGeom>
          <a:solidFill>
            <a:srgbClr val="3368FF"/>
          </a:solidFill>
          <a:ln w="12700" cap="flat" cmpd="sng" algn="ctr">
            <a:noFill/>
            <a:prstDash val="solid"/>
            <a:miter lim="800000"/>
          </a:ln>
          <a:effectLst/>
        </p:spPr>
        <p:txBody>
          <a:bodyPr rtlCol="0" anchor="ctr" lIns="0" rIns="0" tIns="0" bIns="0" wrap="square">
            <a:noAutofit/>
          </a:bodyPr>
          <a:lstStyle/>
          <a:p>
            <a:pPr lvl="0" algn="ctr">
              <a:lnSpc>
                <a:spcPts val="1120"/>
              </a:lnSpc>
              <a:buClrTx/>
              <a:buSzTx/>
              <a:buFontTx/>
              <a:defRPr>
                <a:solidFill>
                  <a:srgbClr val="FFFFFF"/>
                </a:solidFill>
                <a:latin typeface="微软雅黑"/>
                <a:ea typeface="微软雅黑"/>
                <a:cs typeface="微软雅黑"/>
              </a:defRPr>
              <a:spcBef>
                <a:spcPts val="0"/>
              </a:spcBef>
              <a:spcAft>
                <a:spcPts val="0"/>
              </a:spcAft>
            </a:pPr>
            <a:r>
              <a:rPr lang="zh-CN" altLang="en-US" sz="1000" b="1" dirty="0">
                <a:solidFill>
                  <a:srgbClr val="FFFFFF"/>
                </a:solidFill>
                <a:latin typeface="微软雅黑"/>
                <a:ea typeface="微软雅黑"/>
                <a:cs typeface="微软雅黑"/>
                <a:sym typeface="微软雅黑"/>
              </a:rPr>
              <a:t>产品线运营体系</a:t>
            </a:r>
            <a:r>
              <a:rPr lang="en-US" altLang="zh-CN" sz="1000" b="1" dirty="0">
                <a:solidFill>
                  <a:srgbClr val="FFFFFF"/>
                </a:solidFill>
                <a:latin typeface="微软雅黑"/>
                <a:ea typeface="微软雅黑"/>
                <a:cs typeface="微软雅黑"/>
                <a:sym typeface="微软雅黑"/>
              </a:rPr>
              <a:t>​</a:t>
            </a:r>
            <a:r>
              <a:rPr lang="zh-CN" altLang="en-US" sz="1000" b="1"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建立「专业跑鞋</a:t>
            </a:r>
            <a:r>
              <a:rPr lang="en-US" altLang="zh-CN"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训练装备</a:t>
            </a:r>
            <a:r>
              <a:rPr lang="en-US" altLang="zh-CN"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运动生活」三条产品线独立运营机制，每月输出专项竞品分析报告</a:t>
            </a:r>
            <a:endParaRPr lang="zh-CN" altLang="en-US" sz="1000" dirty="0">
              <a:solidFill>
                <a:srgbClr val="FFFFFF"/>
              </a:solidFill>
              <a:latin typeface="微软雅黑"/>
              <a:ea typeface="微软雅黑"/>
              <a:cs typeface="微软雅黑"/>
              <a:sym typeface="微软雅黑"/>
            </a:endParaRPr>
          </a:p>
        </p:txBody>
      </p:sp>
      <p:sp>
        <p:nvSpPr>
          <p:cNvPr id="175" name="矩形 174"/>
          <p:cNvSpPr/>
          <p:nvPr/>
        </p:nvSpPr>
        <p:spPr>
          <a:xfrm>
            <a:off x="4230370" y="6256655"/>
            <a:ext cx="4441190" cy="374650"/>
          </a:xfrm>
          <a:prstGeom prst="rect">
            <a:avLst/>
          </a:prstGeom>
          <a:solidFill>
            <a:srgbClr val="3368FF"/>
          </a:solidFill>
          <a:ln w="12700" cap="flat" cmpd="sng" algn="ctr">
            <a:noFill/>
            <a:prstDash val="solid"/>
            <a:miter lim="800000"/>
          </a:ln>
          <a:effectLst/>
        </p:spPr>
        <p:txBody>
          <a:bodyPr rtlCol="0" anchor="ctr" lIns="0" rIns="0" tIns="0" bIns="0" wrap="square">
            <a:noAutofit/>
          </a:bodyPr>
          <a:lstStyle/>
          <a:p>
            <a:pPr lvl="0" algn="ctr">
              <a:lnSpc>
                <a:spcPts val="1120"/>
              </a:lnSpc>
              <a:buClrTx/>
              <a:buSzTx/>
              <a:buFontTx/>
              <a:defRPr>
                <a:solidFill>
                  <a:srgbClr val="FFFFFF"/>
                </a:solidFill>
                <a:latin typeface="微软雅黑"/>
                <a:ea typeface="微软雅黑"/>
                <a:cs typeface="微软雅黑"/>
              </a:defRPr>
              <a:spcBef>
                <a:spcPts val="0"/>
              </a:spcBef>
              <a:spcAft>
                <a:spcPts val="0"/>
              </a:spcAft>
            </a:pPr>
            <a:r>
              <a:rPr lang="zh-CN" altLang="en-US" sz="1000" b="1" dirty="0">
                <a:solidFill>
                  <a:srgbClr val="FFFFFF"/>
                </a:solidFill>
                <a:latin typeface="微软雅黑"/>
                <a:ea typeface="微软雅黑"/>
                <a:cs typeface="微软雅黑"/>
                <a:sym typeface="微软雅黑"/>
              </a:rPr>
              <a:t>场景化用户运营</a:t>
            </a:r>
            <a:r>
              <a:rPr lang="zh-CN" altLang="en-US" sz="1000" b="1" dirty="0">
                <a:solidFill>
                  <a:srgbClr val="FFFFFF"/>
                </a:solidFill>
                <a:latin typeface="微软雅黑"/>
                <a:ea typeface="微软雅黑"/>
                <a:cs typeface="微软雅黑"/>
                <a:sym typeface="微软雅黑"/>
              </a:rPr>
              <a:t>​</a:t>
            </a:r>
            <a:r>
              <a:rPr lang="zh-CN" altLang="en-US" sz="1000" b="1"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按「健身场馆</a:t>
            </a:r>
            <a:r>
              <a:rPr lang="zh-CN" altLang="en-US"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城市街道</a:t>
            </a:r>
            <a:r>
              <a:rPr lang="zh-CN" altLang="en-US"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户外山野」三大场景</a:t>
            </a:r>
            <a:endParaRPr lang="zh-CN" altLang="en-US" sz="1000" dirty="0">
              <a:solidFill>
                <a:srgbClr val="FFFFFF"/>
              </a:solidFill>
              <a:latin typeface="微软雅黑"/>
              <a:ea typeface="微软雅黑"/>
              <a:cs typeface="微软雅黑"/>
              <a:sym typeface="微软雅黑"/>
            </a:endParaRPr>
          </a:p>
          <a:p>
            <a:pPr lvl="0" algn="ctr">
              <a:lnSpc>
                <a:spcPts val="1120"/>
              </a:lnSpc>
              <a:buClrTx/>
              <a:buSzTx/>
              <a:buFontTx/>
              <a:defRPr>
                <a:solidFill>
                  <a:srgbClr val="FFFFFF"/>
                </a:solidFill>
                <a:latin typeface="微软雅黑"/>
                <a:ea typeface="微软雅黑"/>
                <a:cs typeface="微软雅黑"/>
              </a:defRPr>
              <a:spcBef>
                <a:spcPts val="0"/>
              </a:spcBef>
              <a:spcAft>
                <a:spcPts val="0"/>
              </a:spcAft>
            </a:pPr>
            <a:r>
              <a:rPr lang="zh-CN" altLang="en-US" sz="1000" dirty="0">
                <a:solidFill>
                  <a:srgbClr val="FFFFFF"/>
                </a:solidFill>
                <a:latin typeface="微软雅黑"/>
                <a:ea typeface="微软雅黑"/>
                <a:cs typeface="微软雅黑"/>
                <a:sym typeface="微软雅黑"/>
              </a:rPr>
              <a:t>构建装备组合包，每周推送场景化穿搭指南</a:t>
            </a:r>
            <a:endParaRPr lang="zh-CN" altLang="en-US" sz="1000" dirty="0">
              <a:solidFill>
                <a:srgbClr val="FFFFFF"/>
              </a:solidFill>
              <a:latin typeface="微软雅黑"/>
              <a:ea typeface="微软雅黑"/>
              <a:cs typeface="微软雅黑"/>
              <a:sym typeface="微软雅黑"/>
            </a:endParaRPr>
          </a:p>
        </p:txBody>
      </p:sp>
      <p:sp>
        <p:nvSpPr>
          <p:cNvPr id="176" name="矩形 175"/>
          <p:cNvSpPr/>
          <p:nvPr/>
        </p:nvSpPr>
        <p:spPr>
          <a:xfrm>
            <a:off x="8796655" y="6216650"/>
            <a:ext cx="2706370" cy="482600"/>
          </a:xfrm>
          <a:prstGeom prst="rect">
            <a:avLst/>
          </a:prstGeom>
          <a:solidFill>
            <a:srgbClr val="3368FF"/>
          </a:solidFill>
          <a:ln w="12700" cap="flat" cmpd="sng" algn="ctr">
            <a:noFill/>
            <a:prstDash val="solid"/>
            <a:miter lim="800000"/>
          </a:ln>
          <a:effectLst/>
        </p:spPr>
        <p:txBody>
          <a:bodyPr rtlCol="0" anchor="ctr" lIns="0" rIns="0" tIns="0" bIns="0" wrap="square">
            <a:noAutofit/>
          </a:bodyPr>
          <a:lstStyle/>
          <a:p>
            <a:pPr lvl="0" algn="ctr">
              <a:lnSpc>
                <a:spcPts val="1120"/>
              </a:lnSpc>
              <a:buClrTx/>
              <a:buSzTx/>
              <a:buFontTx/>
              <a:defRPr>
                <a:solidFill>
                  <a:srgbClr val="FFFFFF"/>
                </a:solidFill>
                <a:latin typeface="微软雅黑"/>
                <a:ea typeface="微软雅黑"/>
                <a:cs typeface="微软雅黑"/>
              </a:defRPr>
              <a:spcBef>
                <a:spcPts val="0"/>
              </a:spcBef>
              <a:spcAft>
                <a:spcPts val="0"/>
              </a:spcAft>
            </a:pPr>
            <a:r>
              <a:rPr lang="zh-CN" altLang="en-US" sz="1000" b="1" dirty="0">
                <a:solidFill>
                  <a:srgbClr val="FFFFFF"/>
                </a:solidFill>
                <a:latin typeface="微软雅黑"/>
                <a:ea typeface="微软雅黑"/>
                <a:cs typeface="微软雅黑"/>
                <a:sym typeface="微软雅黑"/>
              </a:rPr>
              <a:t>数据中台建设</a:t>
            </a:r>
            <a:r>
              <a:rPr lang="zh-CN" altLang="en-US" sz="1000" b="1" dirty="0">
                <a:solidFill>
                  <a:srgbClr val="FFFFFF"/>
                </a:solidFill>
                <a:latin typeface="微软雅黑"/>
                <a:ea typeface="微软雅黑"/>
                <a:cs typeface="微软雅黑"/>
                <a:sym typeface="微软雅黑"/>
              </a:rPr>
              <a:t>​</a:t>
            </a:r>
            <a:r>
              <a:rPr lang="zh-CN" altLang="en-US" sz="1000" b="1"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搭建运动数据银行，实时追踪</a:t>
            </a:r>
            <a:r>
              <a:rPr lang="zh-CN" altLang="en-US" sz="1000" dirty="0">
                <a:solidFill>
                  <a:srgbClr val="FFFFFF"/>
                </a:solidFill>
                <a:latin typeface="微软雅黑"/>
                <a:ea typeface="微软雅黑"/>
                <a:cs typeface="微软雅黑"/>
                <a:sym typeface="微软雅黑"/>
              </a:rPr>
              <a:t>200</a:t>
            </a:r>
            <a:r>
              <a:rPr lang="zh-CN" altLang="en-US" sz="1000" dirty="0">
                <a:solidFill>
                  <a:srgbClr val="FFFFFF"/>
                </a:solidFill>
                <a:latin typeface="微软雅黑"/>
                <a:ea typeface="微软雅黑"/>
                <a:cs typeface="微软雅黑"/>
                <a:sym typeface="微软雅黑"/>
              </a:rPr>
              <a:t>万</a:t>
            </a:r>
            <a:r>
              <a:rPr lang="zh-CN" altLang="en-US"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用户足压分布、步态特征等生物力学数据反哺研发</a:t>
            </a:r>
            <a:endParaRPr lang="zh-CN" altLang="en-US" sz="1000" dirty="0">
              <a:solidFill>
                <a:srgbClr val="FFFFFF"/>
              </a:solidFill>
              <a:latin typeface="微软雅黑"/>
              <a:ea typeface="微软雅黑"/>
              <a:cs typeface="微软雅黑"/>
              <a:sym typeface="微软雅黑"/>
            </a:endParaRPr>
          </a:p>
        </p:txBody>
      </p:sp>
      <p:sp>
        <p:nvSpPr>
          <p:cNvPr id="220" name="矩形 219"/>
          <p:cNvSpPr/>
          <p:nvPr>
            <p:custDataLst>
              <p:tags r:id="rId3"/>
            </p:custDataLst>
          </p:nvPr>
        </p:nvSpPr>
        <p:spPr>
          <a:xfrm>
            <a:off x="8350885" y="5238750"/>
            <a:ext cx="2557780" cy="396240"/>
          </a:xfrm>
          <a:prstGeom prst="rect">
            <a:avLst/>
          </a:prstGeom>
          <a:solidFill>
            <a:srgbClr val="FFFFFF">
              <a:alpha val="5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运动恢复体验中心</a:t>
            </a:r>
            <a:r>
              <a:rPr lang="zh-CN" altLang="en-US" sz="1000" b="1" dirty="0">
                <a:solidFill>
                  <a:srgbClr val="0042FF">
                    <a:alpha val="90000"/>
                  </a:srgbClr>
                </a:solidFill>
                <a:latin typeface="微软雅黑"/>
                <a:ea typeface="微软雅黑"/>
                <a:cs typeface="微软雅黑"/>
                <a:sym typeface="微软雅黑"/>
              </a:rPr>
              <a:t>​</a:t>
            </a:r>
            <a:endParaRPr lang="zh-CN" altLang="en-US" sz="1000" b="1" dirty="0">
              <a:solidFill>
                <a:srgbClr val="0042FF">
                  <a:alpha val="90000"/>
                </a:srgbClr>
              </a:solidFill>
              <a:latin typeface="微软雅黑"/>
              <a:ea typeface="微软雅黑"/>
              <a:cs typeface="微软雅黑"/>
              <a:sym typeface="微软雅黑"/>
            </a:endParaRPr>
          </a:p>
          <a:p>
            <a:pPr lvl="0" algn="ctr">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alpha val="90000"/>
                  </a:srgbClr>
                </a:solidFill>
                <a:latin typeface="微软雅黑"/>
                <a:ea typeface="微软雅黑"/>
                <a:cs typeface="微软雅黑"/>
                <a:sym typeface="微软雅黑"/>
              </a:rPr>
              <a:t>在重点城市</a:t>
            </a:r>
            <a:r>
              <a:rPr lang="zh-CN" altLang="en-US" sz="1000" dirty="0">
                <a:solidFill>
                  <a:srgbClr val="383838">
                    <a:alpha val="90000"/>
                  </a:srgbClr>
                </a:solidFill>
                <a:latin typeface="微软雅黑"/>
                <a:ea typeface="微软雅黑"/>
                <a:cs typeface="微软雅黑"/>
                <a:sym typeface="微软雅黑"/>
              </a:rPr>
              <a:t>CBD</a:t>
            </a:r>
            <a:r>
              <a:rPr lang="zh-CN" altLang="en-US" sz="1000" dirty="0">
                <a:solidFill>
                  <a:srgbClr val="383838">
                    <a:alpha val="90000"/>
                  </a:srgbClr>
                </a:solidFill>
                <a:latin typeface="微软雅黑"/>
                <a:ea typeface="微软雅黑"/>
                <a:cs typeface="微软雅黑"/>
                <a:sym typeface="微软雅黑"/>
              </a:rPr>
              <a:t>建设智能装备体验中心</a:t>
            </a:r>
            <a:endParaRPr lang="zh-CN" altLang="en-US" sz="1000" dirty="0">
              <a:solidFill>
                <a:srgbClr val="383838">
                  <a:alpha val="90000"/>
                </a:srgbClr>
              </a:solidFill>
              <a:latin typeface="微软雅黑"/>
              <a:ea typeface="微软雅黑"/>
              <a:cs typeface="微软雅黑"/>
              <a:sym typeface="微软雅黑"/>
            </a:endParaRPr>
          </a:p>
        </p:txBody>
      </p:sp>
      <p:sp>
        <p:nvSpPr>
          <p:cNvPr id="221" name="矩形 220"/>
          <p:cNvSpPr/>
          <p:nvPr>
            <p:custDataLst>
              <p:tags r:id="rId4"/>
            </p:custDataLst>
          </p:nvPr>
        </p:nvSpPr>
        <p:spPr>
          <a:xfrm>
            <a:off x="2851150" y="5238750"/>
            <a:ext cx="2557780" cy="396240"/>
          </a:xfrm>
          <a:prstGeom prst="rect">
            <a:avLst/>
          </a:prstGeom>
          <a:solidFill>
            <a:srgbClr val="FFFFFF">
              <a:alpha val="5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头部赛事战略合作</a:t>
            </a:r>
            <a:endParaRPr lang="zh-CN" altLang="en-US" sz="1000" dirty="0">
              <a:solidFill>
                <a:srgbClr val="0042FF">
                  <a:alpha val="90000"/>
                </a:srgbClr>
              </a:solidFill>
              <a:latin typeface="微软雅黑"/>
              <a:ea typeface="微软雅黑"/>
              <a:cs typeface="微软雅黑"/>
              <a:sym typeface="微软雅黑"/>
            </a:endParaRPr>
          </a:p>
          <a:p>
            <a:pPr lvl="0" algn="ctr">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alpha val="90000"/>
                  </a:srgbClr>
                </a:solidFill>
                <a:latin typeface="微软雅黑"/>
                <a:ea typeface="微软雅黑"/>
                <a:cs typeface="微软雅黑"/>
                <a:sym typeface="微软雅黑"/>
              </a:rPr>
              <a:t>签约十大城市马拉松赛事官方装备合作</a:t>
            </a:r>
            <a:endParaRPr lang="zh-CN" altLang="en-US" sz="1000" dirty="0">
              <a:solidFill>
                <a:srgbClr val="383838">
                  <a:alpha val="90000"/>
                </a:srgbClr>
              </a:solidFill>
              <a:latin typeface="微软雅黑"/>
              <a:ea typeface="微软雅黑"/>
              <a:cs typeface="微软雅黑"/>
              <a:sym typeface="微软雅黑"/>
            </a:endParaRPr>
          </a:p>
        </p:txBody>
      </p:sp>
      <p:sp>
        <p:nvSpPr>
          <p:cNvPr id="222" name="矩形 221"/>
          <p:cNvSpPr/>
          <p:nvPr>
            <p:custDataLst>
              <p:tags r:id="rId5"/>
            </p:custDataLst>
          </p:nvPr>
        </p:nvSpPr>
        <p:spPr>
          <a:xfrm>
            <a:off x="5601335" y="5238750"/>
            <a:ext cx="2557780" cy="396240"/>
          </a:xfrm>
          <a:prstGeom prst="rect">
            <a:avLst/>
          </a:prstGeom>
          <a:solidFill>
            <a:srgbClr val="FFFFFF">
              <a:alpha val="5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专业训练营体系</a:t>
            </a:r>
            <a:r>
              <a:rPr lang="zh-CN" altLang="en-US" sz="1000" b="1" dirty="0">
                <a:solidFill>
                  <a:srgbClr val="0042FF">
                    <a:alpha val="90000"/>
                  </a:srgbClr>
                </a:solidFill>
                <a:latin typeface="微软雅黑"/>
                <a:ea typeface="微软雅黑"/>
                <a:cs typeface="微软雅黑"/>
                <a:sym typeface="微软雅黑"/>
              </a:rPr>
              <a:t>​</a:t>
            </a:r>
            <a:endParaRPr lang="zh-CN" altLang="en-US" sz="1000" b="1" dirty="0">
              <a:solidFill>
                <a:srgbClr val="0042FF">
                  <a:alpha val="90000"/>
                </a:srgbClr>
              </a:solidFill>
              <a:latin typeface="微软雅黑"/>
              <a:ea typeface="微软雅黑"/>
              <a:cs typeface="微软雅黑"/>
              <a:sym typeface="微软雅黑"/>
            </a:endParaRPr>
          </a:p>
          <a:p>
            <a:pPr lvl="0" algn="ctr">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alpha val="90000"/>
                  </a:srgbClr>
                </a:solidFill>
                <a:latin typeface="微软雅黑"/>
                <a:ea typeface="微软雅黑"/>
                <a:cs typeface="微软雅黑"/>
                <a:sym typeface="微软雅黑"/>
              </a:rPr>
              <a:t>联合奥运冠军建立</a:t>
            </a:r>
            <a:r>
              <a:rPr lang="zh-CN" altLang="en-US" sz="1000" dirty="0">
                <a:solidFill>
                  <a:srgbClr val="383838">
                    <a:alpha val="90000"/>
                  </a:srgbClr>
                </a:solidFill>
                <a:latin typeface="微软雅黑"/>
                <a:ea typeface="微软雅黑"/>
                <a:cs typeface="微软雅黑"/>
                <a:sym typeface="微软雅黑"/>
              </a:rPr>
              <a:t>"</a:t>
            </a:r>
            <a:r>
              <a:rPr lang="zh-CN" altLang="en-US" sz="1000" dirty="0">
                <a:solidFill>
                  <a:srgbClr val="383838">
                    <a:alpha val="90000"/>
                  </a:srgbClr>
                </a:solidFill>
                <a:latin typeface="微软雅黑"/>
                <a:ea typeface="微软雅黑"/>
                <a:cs typeface="微软雅黑"/>
                <a:sym typeface="微软雅黑"/>
              </a:rPr>
              <a:t>星动训练营</a:t>
            </a:r>
            <a:r>
              <a:rPr lang="zh-CN" altLang="en-US" sz="1000" dirty="0">
                <a:solidFill>
                  <a:srgbClr val="383838">
                    <a:alpha val="90000"/>
                  </a:srgbClr>
                </a:solidFill>
                <a:latin typeface="微软雅黑"/>
                <a:ea typeface="微软雅黑"/>
                <a:cs typeface="微软雅黑"/>
                <a:sym typeface="微软雅黑"/>
              </a:rPr>
              <a:t>"</a:t>
            </a:r>
            <a:r>
              <a:rPr lang="zh-CN" altLang="en-US" sz="1000" dirty="0">
                <a:solidFill>
                  <a:srgbClr val="383838">
                    <a:alpha val="90000"/>
                  </a:srgbClr>
                </a:solidFill>
                <a:latin typeface="微软雅黑"/>
                <a:ea typeface="微软雅黑"/>
                <a:cs typeface="微软雅黑"/>
                <a:sym typeface="微软雅黑"/>
              </a:rPr>
              <a:t>会员制课程</a:t>
            </a:r>
            <a:endParaRPr lang="zh-CN" altLang="en-US" sz="1000" dirty="0">
              <a:solidFill>
                <a:srgbClr val="383838">
                  <a:alpha val="90000"/>
                </a:srgbClr>
              </a:solidFill>
              <a:latin typeface="微软雅黑"/>
              <a:ea typeface="微软雅黑"/>
              <a:cs typeface="微软雅黑"/>
              <a:sym typeface="微软雅黑"/>
            </a:endParaRPr>
          </a:p>
        </p:txBody>
      </p:sp>
      <p:sp>
        <p:nvSpPr>
          <p:cNvPr id="223" name="矩形 222"/>
          <p:cNvSpPr/>
          <p:nvPr>
            <p:custDataLst>
              <p:tags r:id="rId6"/>
            </p:custDataLst>
          </p:nvPr>
        </p:nvSpPr>
        <p:spPr>
          <a:xfrm>
            <a:off x="8350885" y="5706110"/>
            <a:ext cx="2557780" cy="478790"/>
          </a:xfrm>
          <a:prstGeom prst="rect">
            <a:avLst/>
          </a:prstGeom>
          <a:solidFill>
            <a:srgbClr val="FFFFFF">
              <a:alpha val="5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会员专属探秘日</a:t>
            </a:r>
            <a:r>
              <a:rPr lang="zh-CN" altLang="en-US" sz="1000" b="1" dirty="0">
                <a:solidFill>
                  <a:srgbClr val="0042FF">
                    <a:alpha val="90000"/>
                  </a:srgbClr>
                </a:solidFill>
                <a:latin typeface="微软雅黑"/>
                <a:ea typeface="微软雅黑"/>
                <a:cs typeface="微软雅黑"/>
                <a:sym typeface="微软雅黑"/>
              </a:rPr>
              <a:t>​</a:t>
            </a:r>
            <a:endParaRPr lang="zh-CN" altLang="en-US" sz="1000" b="1" dirty="0">
              <a:solidFill>
                <a:srgbClr val="0042FF">
                  <a:alpha val="90000"/>
                </a:srgbClr>
              </a:solidFill>
              <a:latin typeface="微软雅黑"/>
              <a:ea typeface="微软雅黑"/>
              <a:cs typeface="微软雅黑"/>
              <a:sym typeface="微软雅黑"/>
            </a:endParaRPr>
          </a:p>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 </a:t>
            </a:r>
            <a:r>
              <a:rPr lang="zh-CN" altLang="en-US" sz="1000" dirty="0">
                <a:solidFill>
                  <a:srgbClr val="383838">
                    <a:alpha val="90000"/>
                  </a:srgbClr>
                </a:solidFill>
                <a:latin typeface="微软雅黑"/>
                <a:ea typeface="微软雅黑"/>
                <a:cs typeface="微软雅黑"/>
                <a:sym typeface="微软雅黑"/>
              </a:rPr>
              <a:t>每月开放研发中心参观，</a:t>
            </a:r>
            <a:r>
              <a:rPr lang="zh-CN" altLang="en-US" sz="1000" dirty="0">
                <a:solidFill>
                  <a:srgbClr val="383838">
                    <a:alpha val="90000"/>
                  </a:srgbClr>
                </a:solidFill>
                <a:latin typeface="微软雅黑"/>
                <a:ea typeface="微软雅黑"/>
                <a:cs typeface="微软雅黑"/>
                <a:sym typeface="微软雅黑"/>
              </a:rPr>
              <a:t>"</a:t>
            </a:r>
            <a:r>
              <a:rPr lang="zh-CN" altLang="en-US" sz="1000" dirty="0">
                <a:solidFill>
                  <a:srgbClr val="383838">
                    <a:alpha val="90000"/>
                  </a:srgbClr>
                </a:solidFill>
                <a:latin typeface="微软雅黑"/>
                <a:ea typeface="微软雅黑"/>
                <a:cs typeface="微软雅黑"/>
                <a:sym typeface="微软雅黑"/>
              </a:rPr>
              <a:t>跑鞋拆解工坊</a:t>
            </a:r>
            <a:r>
              <a:rPr lang="zh-CN" altLang="en-US" sz="1000" dirty="0">
                <a:solidFill>
                  <a:srgbClr val="383838">
                    <a:alpha val="90000"/>
                  </a:srgbClr>
                </a:solidFill>
                <a:latin typeface="微软雅黑"/>
                <a:ea typeface="微软雅黑"/>
                <a:cs typeface="微软雅黑"/>
                <a:sym typeface="微软雅黑"/>
              </a:rPr>
              <a:t>"</a:t>
            </a:r>
            <a:r>
              <a:rPr lang="zh-CN" altLang="en-US" sz="1000" dirty="0">
                <a:solidFill>
                  <a:srgbClr val="383838">
                    <a:alpha val="90000"/>
                  </a:srgbClr>
                </a:solidFill>
                <a:latin typeface="微软雅黑"/>
                <a:ea typeface="微软雅黑"/>
                <a:cs typeface="微软雅黑"/>
                <a:sym typeface="微软雅黑"/>
              </a:rPr>
              <a:t>深度体验</a:t>
            </a:r>
            <a:endParaRPr lang="zh-CN" altLang="en-US" sz="1000" dirty="0">
              <a:solidFill>
                <a:srgbClr val="383838">
                  <a:alpha val="90000"/>
                </a:srgbClr>
              </a:solidFill>
              <a:latin typeface="微软雅黑"/>
              <a:ea typeface="微软雅黑"/>
              <a:cs typeface="微软雅黑"/>
              <a:sym typeface="微软雅黑"/>
            </a:endParaRPr>
          </a:p>
        </p:txBody>
      </p:sp>
      <p:sp>
        <p:nvSpPr>
          <p:cNvPr id="224" name="矩形 223"/>
          <p:cNvSpPr/>
          <p:nvPr>
            <p:custDataLst>
              <p:tags r:id="rId7"/>
            </p:custDataLst>
          </p:nvPr>
        </p:nvSpPr>
        <p:spPr>
          <a:xfrm>
            <a:off x="2851150" y="5706110"/>
            <a:ext cx="2557780" cy="478790"/>
          </a:xfrm>
          <a:prstGeom prst="rect">
            <a:avLst/>
          </a:prstGeom>
          <a:solidFill>
            <a:srgbClr val="FFFFFF">
              <a:alpha val="5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主题快闪店集群</a:t>
            </a:r>
            <a:r>
              <a:rPr lang="zh-CN" altLang="en-US" sz="1000" b="1" dirty="0">
                <a:solidFill>
                  <a:srgbClr val="0042FF">
                    <a:alpha val="90000"/>
                  </a:srgbClr>
                </a:solidFill>
                <a:latin typeface="微软雅黑"/>
                <a:ea typeface="微软雅黑"/>
                <a:cs typeface="微软雅黑"/>
                <a:sym typeface="微软雅黑"/>
              </a:rPr>
              <a:t>​</a:t>
            </a:r>
            <a:endParaRPr lang="zh-CN" altLang="en-US" sz="1000" b="1" dirty="0">
              <a:solidFill>
                <a:srgbClr val="0042FF">
                  <a:alpha val="90000"/>
                </a:srgbClr>
              </a:solidFill>
              <a:latin typeface="微软雅黑"/>
              <a:ea typeface="微软雅黑"/>
              <a:cs typeface="微软雅黑"/>
              <a:sym typeface="微软雅黑"/>
            </a:endParaRPr>
          </a:p>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 </a:t>
            </a:r>
            <a:r>
              <a:rPr lang="zh-CN" altLang="en-US" sz="1000" dirty="0">
                <a:solidFill>
                  <a:srgbClr val="383838">
                    <a:alpha val="90000"/>
                  </a:srgbClr>
                </a:solidFill>
                <a:latin typeface="微软雅黑"/>
                <a:ea typeface="微软雅黑"/>
                <a:cs typeface="微软雅黑"/>
                <a:sym typeface="微软雅黑"/>
              </a:rPr>
              <a:t>在</a:t>
            </a:r>
            <a:r>
              <a:rPr lang="zh-CN" altLang="en-US" sz="1000" dirty="0">
                <a:solidFill>
                  <a:srgbClr val="383838">
                    <a:alpha val="90000"/>
                  </a:srgbClr>
                </a:solidFill>
                <a:latin typeface="微软雅黑"/>
                <a:ea typeface="微软雅黑"/>
                <a:cs typeface="微软雅黑"/>
                <a:sym typeface="微软雅黑"/>
              </a:rPr>
              <a:t>20</a:t>
            </a:r>
            <a:r>
              <a:rPr lang="zh-CN" altLang="en-US" sz="1000" dirty="0">
                <a:solidFill>
                  <a:srgbClr val="383838">
                    <a:alpha val="90000"/>
                  </a:srgbClr>
                </a:solidFill>
                <a:latin typeface="微软雅黑"/>
                <a:ea typeface="微软雅黑"/>
                <a:cs typeface="微软雅黑"/>
                <a:sym typeface="微软雅黑"/>
              </a:rPr>
              <a:t>个核心商圈打造</a:t>
            </a:r>
            <a:r>
              <a:rPr lang="zh-CN" altLang="en-US" sz="1000" dirty="0">
                <a:solidFill>
                  <a:srgbClr val="383838">
                    <a:alpha val="90000"/>
                  </a:srgbClr>
                </a:solidFill>
                <a:latin typeface="微软雅黑"/>
                <a:ea typeface="微软雅黑"/>
                <a:cs typeface="微软雅黑"/>
                <a:sym typeface="微软雅黑"/>
              </a:rPr>
              <a:t>"</a:t>
            </a:r>
            <a:r>
              <a:rPr lang="zh-CN" altLang="en-US" sz="1000" dirty="0">
                <a:solidFill>
                  <a:srgbClr val="383838">
                    <a:alpha val="90000"/>
                  </a:srgbClr>
                </a:solidFill>
                <a:latin typeface="微软雅黑"/>
                <a:ea typeface="微软雅黑"/>
                <a:cs typeface="微软雅黑"/>
                <a:sym typeface="微软雅黑"/>
              </a:rPr>
              <a:t>运动科技实验室</a:t>
            </a:r>
            <a:r>
              <a:rPr lang="zh-CN" altLang="en-US" sz="1000" dirty="0">
                <a:solidFill>
                  <a:srgbClr val="383838">
                    <a:alpha val="90000"/>
                  </a:srgbClr>
                </a:solidFill>
                <a:latin typeface="微软雅黑"/>
                <a:ea typeface="微软雅黑"/>
                <a:cs typeface="微软雅黑"/>
                <a:sym typeface="微软雅黑"/>
              </a:rPr>
              <a:t>"</a:t>
            </a:r>
            <a:r>
              <a:rPr lang="zh-CN" altLang="en-US" sz="1000" dirty="0">
                <a:solidFill>
                  <a:srgbClr val="383838">
                    <a:alpha val="90000"/>
                  </a:srgbClr>
                </a:solidFill>
                <a:latin typeface="微软雅黑"/>
                <a:ea typeface="微软雅黑"/>
                <a:cs typeface="微软雅黑"/>
                <a:sym typeface="微软雅黑"/>
              </a:rPr>
              <a:t>主题快闪店</a:t>
            </a:r>
            <a:endParaRPr lang="zh-CN" altLang="en-US" sz="1000" dirty="0">
              <a:solidFill>
                <a:srgbClr val="383838">
                  <a:alpha val="90000"/>
                </a:srgbClr>
              </a:solidFill>
              <a:latin typeface="微软雅黑"/>
              <a:ea typeface="微软雅黑"/>
              <a:cs typeface="微软雅黑"/>
              <a:sym typeface="微软雅黑"/>
            </a:endParaRPr>
          </a:p>
        </p:txBody>
      </p:sp>
      <p:sp>
        <p:nvSpPr>
          <p:cNvPr id="225" name="矩形 224"/>
          <p:cNvSpPr/>
          <p:nvPr>
            <p:custDataLst>
              <p:tags r:id="rId8"/>
            </p:custDataLst>
          </p:nvPr>
        </p:nvSpPr>
        <p:spPr>
          <a:xfrm>
            <a:off x="5601335" y="5706110"/>
            <a:ext cx="2557780" cy="478790"/>
          </a:xfrm>
          <a:prstGeom prst="rect">
            <a:avLst/>
          </a:prstGeom>
          <a:solidFill>
            <a:srgbClr val="FFFFFF">
              <a:alpha val="5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dirty="0">
                <a:solidFill>
                  <a:srgbClr val="0042FF">
                    <a:alpha val="90000"/>
                  </a:srgbClr>
                </a:solidFill>
                <a:latin typeface="微软雅黑"/>
                <a:ea typeface="微软雅黑"/>
                <a:cs typeface="微软雅黑"/>
                <a:sym typeface="微软雅黑"/>
              </a:rPr>
              <a:t>城市运动挑战赛</a:t>
            </a:r>
            <a:r>
              <a:rPr lang="zh-CN" altLang="en-US" sz="1000" b="1" dirty="0">
                <a:solidFill>
                  <a:srgbClr val="0042FF">
                    <a:alpha val="90000"/>
                  </a:srgbClr>
                </a:solidFill>
                <a:latin typeface="微软雅黑"/>
                <a:ea typeface="微软雅黑"/>
                <a:cs typeface="微软雅黑"/>
                <a:sym typeface="微软雅黑"/>
              </a:rPr>
              <a:t>​</a:t>
            </a:r>
            <a:endParaRPr lang="zh-CN" altLang="en-US" sz="1000" b="1" dirty="0">
              <a:solidFill>
                <a:srgbClr val="0042FF">
                  <a:alpha val="90000"/>
                </a:srgbClr>
              </a:solidFill>
              <a:latin typeface="微软雅黑"/>
              <a:ea typeface="微软雅黑"/>
              <a:cs typeface="微软雅黑"/>
              <a:sym typeface="微软雅黑"/>
            </a:endParaRPr>
          </a:p>
          <a:p>
            <a:pPr lvl="0" algn="ctr">
              <a:lnSpc>
                <a:spcPts val="1120"/>
              </a:lnSpc>
              <a:buClrTx/>
              <a:buSzTx/>
              <a:buFontTx/>
              <a:defRPr>
                <a:latin typeface="微软雅黑"/>
                <a:ea typeface="微软雅黑"/>
                <a:cs typeface="微软雅黑"/>
              </a:defRPr>
              <a:spcBef>
                <a:spcPts val="0"/>
              </a:spcBef>
              <a:spcAft>
                <a:spcPts val="0"/>
              </a:spcAft>
            </a:pPr>
            <a:r>
              <a:rPr lang="zh-CN" altLang="en-US" sz="1000" dirty="0">
                <a:solidFill>
                  <a:srgbClr val="383838">
                    <a:alpha val="90000"/>
                  </a:srgbClr>
                </a:solidFill>
                <a:latin typeface="微软雅黑"/>
                <a:ea typeface="微软雅黑"/>
                <a:cs typeface="微软雅黑"/>
                <a:sym typeface="微软雅黑"/>
              </a:rPr>
              <a:t>发起</a:t>
            </a:r>
            <a:r>
              <a:rPr lang="zh-CN" altLang="en-US" sz="1000" dirty="0">
                <a:solidFill>
                  <a:srgbClr val="383838">
                    <a:alpha val="90000"/>
                  </a:srgbClr>
                </a:solidFill>
                <a:latin typeface="微软雅黑"/>
                <a:ea typeface="微软雅黑"/>
                <a:cs typeface="微软雅黑"/>
                <a:sym typeface="微软雅黑"/>
              </a:rPr>
              <a:t>"24</a:t>
            </a:r>
            <a:r>
              <a:rPr lang="zh-CN" altLang="en-US" sz="1000" dirty="0">
                <a:solidFill>
                  <a:srgbClr val="383838">
                    <a:alpha val="90000"/>
                  </a:srgbClr>
                </a:solidFill>
                <a:latin typeface="微软雅黑"/>
                <a:ea typeface="微软雅黑"/>
                <a:cs typeface="微软雅黑"/>
                <a:sym typeface="微软雅黑"/>
              </a:rPr>
              <a:t>小时城市接力赛</a:t>
            </a:r>
            <a:r>
              <a:rPr lang="zh-CN" altLang="en-US" sz="1000" dirty="0">
                <a:solidFill>
                  <a:srgbClr val="383838">
                    <a:alpha val="90000"/>
                  </a:srgbClr>
                </a:solidFill>
                <a:latin typeface="微软雅黑"/>
                <a:ea typeface="微软雅黑"/>
                <a:cs typeface="微软雅黑"/>
                <a:sym typeface="微软雅黑"/>
              </a:rPr>
              <a:t>"</a:t>
            </a:r>
            <a:r>
              <a:rPr lang="zh-CN" altLang="en-US" sz="1000" dirty="0">
                <a:solidFill>
                  <a:srgbClr val="383838">
                    <a:alpha val="90000"/>
                  </a:srgbClr>
                </a:solidFill>
                <a:latin typeface="微软雅黑"/>
                <a:ea typeface="微软雅黑"/>
                <a:cs typeface="微软雅黑"/>
                <a:sym typeface="微软雅黑"/>
              </a:rPr>
              <a:t>，植入装备压力测试追踪</a:t>
            </a:r>
            <a:endParaRPr lang="zh-CN" altLang="en-US" sz="1000" dirty="0">
              <a:solidFill>
                <a:srgbClr val="383838">
                  <a:alpha val="90000"/>
                </a:srgbClr>
              </a:solidFill>
              <a:latin typeface="微软雅黑"/>
              <a:ea typeface="微软雅黑"/>
              <a:cs typeface="微软雅黑"/>
              <a:sym typeface="微软雅黑"/>
            </a:endParaRPr>
          </a:p>
        </p:txBody>
      </p:sp>
      <p:grpSp>
        <p:nvGrpSpPr>
          <p:cNvPr id="2" name="组合 1"/>
          <p:cNvGrpSpPr/>
          <p:nvPr/>
        </p:nvGrpSpPr>
        <p:grpSpPr>
          <a:xfrm>
            <a:off x="514350" y="960755"/>
            <a:ext cx="11197590" cy="821055"/>
            <a:chOff x="1021" y="1681"/>
            <a:chExt cx="16932" cy="1293"/>
          </a:xfrm>
        </p:grpSpPr>
        <p:sp>
          <p:nvSpPr>
            <p:cNvPr id="6" name="梯形 5"/>
            <p:cNvSpPr/>
            <p:nvPr/>
          </p:nvSpPr>
          <p:spPr>
            <a:xfrm>
              <a:off x="1021" y="2178"/>
              <a:ext cx="16933" cy="796"/>
            </a:xfrm>
            <a:prstGeom prst="trapezoid">
              <a:avLst>
                <a:gd name="adj" fmla="val 355209"/>
              </a:avLst>
            </a:prstGeom>
            <a:gradFill flip="none" rotWithShape="1">
              <a:gsLst>
                <a:gs pos="0">
                  <a:srgbClr val="3368FF">
                    <a:alpha val="41000"/>
                  </a:srgbClr>
                </a:gs>
                <a:gs pos="100000">
                  <a:srgbClr val="3368FF">
                    <a:alpha val="15000"/>
                  </a:srgbClr>
                </a:gs>
              </a:gsLst>
              <a:lin ang="5400000" scaled="1"/>
              <a:tileRect/>
            </a:gradFill>
            <a:ln w="6350">
              <a:gradFill>
                <a:gsLst>
                  <a:gs pos="0">
                    <a:srgbClr val="3368FF"/>
                  </a:gs>
                  <a:gs pos="100000">
                    <a:srgbClr val="3368FF"/>
                  </a:gs>
                  <a:gs pos="41000">
                    <a:srgbClr val="3368FF">
                      <a:alpha val="0"/>
                    </a:srgbClr>
                  </a:gs>
                  <a:gs pos="70000">
                    <a:srgbClr val="3368FF">
                      <a:alpha val="0"/>
                    </a:srgbClr>
                  </a:gs>
                </a:gsLst>
                <a:lin ang="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32" name="紫荆的职场Point28"/>
            <p:cNvSpPr/>
            <p:nvPr/>
          </p:nvSpPr>
          <p:spPr>
            <a:xfrm>
              <a:off x="3689" y="1681"/>
              <a:ext cx="11316" cy="498"/>
            </a:xfrm>
            <a:prstGeom prst="triangle">
              <a:avLst>
                <a:gd name="adj" fmla="val 50434"/>
              </a:avLst>
            </a:prstGeom>
            <a:gradFill flip="none" rotWithShape="1">
              <a:gsLst>
                <a:gs pos="0">
                  <a:srgbClr val="E6E6E6">
                    <a:alpha val="41000"/>
                  </a:srgbClr>
                </a:gs>
                <a:gs pos="100000">
                  <a:srgbClr val="3368FF">
                    <a:alpha val="15000"/>
                  </a:srgbClr>
                </a:gs>
              </a:gsLst>
              <a:lin ang="5400000" scaled="1"/>
              <a:tileRect/>
            </a:gradFill>
            <a:ln w="6350">
              <a:gradFill>
                <a:gsLst>
                  <a:gs pos="0">
                    <a:srgbClr val="3368FF">
                      <a:alpha val="81000"/>
                    </a:srgbClr>
                  </a:gs>
                  <a:gs pos="100000">
                    <a:srgbClr val="3368FF">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33" name="紫荆的职场Point28"/>
            <p:cNvSpPr/>
            <p:nvPr/>
          </p:nvSpPr>
          <p:spPr>
            <a:xfrm>
              <a:off x="2881" y="1681"/>
              <a:ext cx="12916" cy="1125"/>
            </a:xfrm>
            <a:prstGeom prst="triangle">
              <a:avLst/>
            </a:prstGeom>
            <a:gradFill flip="none" rotWithShape="1">
              <a:gsLst>
                <a:gs pos="0">
                  <a:srgbClr val="E6E6E6">
                    <a:alpha val="41000"/>
                  </a:srgbClr>
                </a:gs>
                <a:gs pos="100000">
                  <a:srgbClr val="3368FF">
                    <a:alpha val="15000"/>
                  </a:srgbClr>
                </a:gs>
              </a:gsLst>
              <a:lin ang="5400000" scaled="1"/>
              <a:tileRect/>
            </a:gradFill>
            <a:ln w="6350">
              <a:gradFill>
                <a:gsLst>
                  <a:gs pos="0">
                    <a:srgbClr val="3368FF">
                      <a:alpha val="81000"/>
                    </a:srgbClr>
                  </a:gs>
                  <a:gs pos="100000">
                    <a:srgbClr val="3368FF">
                      <a:alpha val="0"/>
                    </a:srgbClr>
                  </a:gs>
                </a:gsLst>
                <a:lin ang="5400000" scaled="1"/>
              </a:gradFill>
            </a:ln>
            <a:effectLst>
              <a:innerShdw blurRad="114300">
                <a:srgbClr val="FFFF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34" name="矩形 233"/>
            <p:cNvSpPr/>
            <p:nvPr/>
          </p:nvSpPr>
          <p:spPr>
            <a:xfrm>
              <a:off x="5259" y="2227"/>
              <a:ext cx="8277" cy="580"/>
            </a:xfrm>
            <a:prstGeom prst="rect">
              <a:avLst/>
            </a:prstGeom>
            <a:noFill/>
            <a:ln w="6350">
              <a:noFill/>
            </a:ln>
            <a:effectLst/>
            <a:extLst>
              <a:ext uri="{909E8E84-426E-40DD-AFC4-6F175D3DCCD1}">
                <a14:hiddenFill xmlns:a14="http://schemas.microsoft.com/office/drawing/2010/main">
                  <a:gradFill flip="none" rotWithShape="1">
                    <a:gsLst>
                      <a:gs pos="0">
                        <a:srgbClr val="B3D4FE">
                          <a:alpha val="41000"/>
                        </a:srgbClr>
                      </a:gs>
                      <a:gs pos="100000">
                        <a:srgbClr val="B3D4FE">
                          <a:alpha val="15000"/>
                        </a:srgbClr>
                      </a:gs>
                    </a:gsLst>
                    <a:lin ang="5400000" scaled="1"/>
                    <a:tileRect/>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r>
                <a:rPr lang="zh-CN" altLang="en-US" b="1" noProof="0">
                  <a:ln>
                    <a:noFill/>
                  </a:ln>
                  <a:solidFill>
                    <a:srgbClr val="383838"/>
                  </a:solidFill>
                  <a:effectLst/>
                  <a:uLnTx/>
                  <a:uFillTx/>
                  <a:latin typeface="微软雅黑"/>
                  <a:ea typeface="微软雅黑"/>
                  <a:cs typeface="微软雅黑"/>
                  <a:sym typeface="微软雅黑"/>
                </a:rPr>
                <a:t>运动之星</a:t>
              </a:r>
              <a:r>
                <a:rPr lang="en-US" altLang="zh-CN" b="1" noProof="0">
                  <a:ln>
                    <a:noFill/>
                  </a:ln>
                  <a:solidFill>
                    <a:srgbClr val="383838"/>
                  </a:solidFill>
                  <a:effectLst/>
                  <a:uLnTx/>
                  <a:uFillTx/>
                  <a:latin typeface="微软雅黑"/>
                  <a:ea typeface="微软雅黑"/>
                  <a:cs typeface="微软雅黑"/>
                  <a:sym typeface="微软雅黑"/>
                </a:rPr>
                <a:t>2025</a:t>
              </a:r>
              <a:r>
                <a:rPr lang="zh-CN" altLang="en-US" b="1" noProof="0">
                  <a:ln>
                    <a:noFill/>
                  </a:ln>
                  <a:solidFill>
                    <a:srgbClr val="383838"/>
                  </a:solidFill>
                  <a:effectLst/>
                  <a:uLnTx/>
                  <a:uFillTx/>
                  <a:latin typeface="微软雅黑"/>
                  <a:ea typeface="微软雅黑"/>
                  <a:cs typeface="微软雅黑"/>
                  <a:sym typeface="微软雅黑"/>
                </a:rPr>
                <a:t>年度品牌战略规划</a:t>
              </a:r>
              <a:endParaRPr lang="zh-CN" altLang="en-US" b="1" noProof="0">
                <a:ln>
                  <a:noFill/>
                </a:ln>
                <a:solidFill>
                  <a:srgbClr val="383838"/>
                </a:solidFill>
                <a:effectLst/>
                <a:uLnTx/>
                <a:uFillTx/>
                <a:latin typeface="微软雅黑"/>
                <a:ea typeface="微软雅黑"/>
                <a:cs typeface="微软雅黑"/>
                <a:sym typeface="微软雅黑"/>
              </a:endParaRPr>
            </a:p>
          </p:txBody>
        </p:sp>
      </p:grpSp>
      <p:sp>
        <p:nvSpPr>
          <p:cNvPr id="4525" name="显眼包PPT7"/>
          <p:cNvSpPr/>
          <p:nvPr/>
        </p:nvSpPr>
        <p:spPr>
          <a:xfrm>
            <a:off x="3873536" y="-570097"/>
            <a:ext cx="2529207" cy="756122"/>
          </a:xfrm>
          <a:prstGeom prst="rect">
            <a:avLst/>
          </a:prstGeom>
          <a:solidFill>
            <a:srgbClr val="FFFFFF">
              <a:alpha val="30000"/>
            </a:srgbClr>
          </a:solid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spc="300">
              <a:solidFill>
                <a:srgbClr val="383838"/>
              </a:solidFill>
              <a:latin typeface="微软雅黑"/>
              <a:ea typeface="微软雅黑"/>
              <a:cs typeface="微软雅黑"/>
            </a:endParaRPr>
          </a:p>
        </p:txBody>
      </p:sp>
      <p:sp>
        <p:nvSpPr>
          <p:cNvPr id="4553" name="显眼包PPT9"/>
          <p:cNvSpPr/>
          <p:nvPr/>
        </p:nvSpPr>
        <p:spPr>
          <a:xfrm>
            <a:off x="1224280" y="4451350"/>
            <a:ext cx="1355725" cy="608965"/>
          </a:xfrm>
          <a:prstGeom prst="rect">
            <a:avLst/>
          </a:prstGeom>
          <a:no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en-US" altLang="zh-CN" sz="1400" b="1">
                <a:gradFill flip="none" rotWithShape="1">
                  <a:gsLst>
                    <a:gs pos="0">
                      <a:srgbClr val="0042FF"/>
                    </a:gs>
                    <a:gs pos="76000">
                      <a:srgbClr val="0042FF"/>
                    </a:gs>
                  </a:gsLst>
                  <a:lin ang="5400000" scaled="1"/>
                  <a:tileRect/>
                </a:gradFill>
                <a:latin typeface="微软雅黑"/>
                <a:ea typeface="微软雅黑"/>
                <a:cs typeface="微软雅黑"/>
              </a:rPr>
              <a:t>#</a:t>
            </a:r>
            <a:r>
              <a:rPr lang="zh-CN" altLang="en-US" sz="1400" b="1" dirty="0">
                <a:solidFill>
                  <a:srgbClr val="0042FF">
                    <a:alpha val="90000"/>
                  </a:srgbClr>
                </a:solidFill>
                <a:latin typeface="微软雅黑"/>
                <a:ea typeface="微软雅黑"/>
                <a:cs typeface="微软雅黑"/>
                <a:sym typeface="微软雅黑"/>
              </a:rPr>
              <a:t>数字化运</a:t>
            </a:r>
            <a:endParaRPr lang="zh-CN" altLang="en-US" sz="1400" b="1" dirty="0">
              <a:solidFill>
                <a:srgbClr val="0042FF">
                  <a:alpha val="90000"/>
                </a:srgbClr>
              </a:solidFill>
              <a:latin typeface="微软雅黑"/>
              <a:ea typeface="微软雅黑"/>
              <a:cs typeface="微软雅黑"/>
              <a:sym typeface="微软雅黑"/>
            </a:endParaRPr>
          </a:p>
          <a:p>
            <a:pPr algn="ctr">
              <a:defRPr>
                <a:latin typeface="微软雅黑"/>
                <a:ea typeface="微软雅黑"/>
                <a:cs typeface="微软雅黑"/>
              </a:defRPr>
            </a:pPr>
            <a:r>
              <a:rPr lang="zh-CN" altLang="en-US" sz="1400" b="1" dirty="0">
                <a:solidFill>
                  <a:srgbClr val="0042FF">
                    <a:alpha val="90000"/>
                  </a:srgbClr>
                </a:solidFill>
                <a:latin typeface="微软雅黑"/>
                <a:ea typeface="微软雅黑"/>
                <a:cs typeface="微软雅黑"/>
                <a:sym typeface="微软雅黑"/>
              </a:rPr>
              <a:t>动生态构建</a:t>
            </a:r>
            <a:endParaRPr lang="zh-CN" altLang="en-US" sz="1400" b="1">
              <a:gradFill flip="none" rotWithShape="1">
                <a:gsLst>
                  <a:gs pos="0">
                    <a:srgbClr val="0042FF"/>
                  </a:gs>
                  <a:gs pos="76000">
                    <a:srgbClr val="0042FF"/>
                  </a:gs>
                </a:gsLst>
                <a:lin ang="5400000" scaled="1"/>
                <a:tileRect/>
              </a:gradFill>
              <a:latin typeface="微软雅黑"/>
              <a:ea typeface="微软雅黑"/>
              <a:cs typeface="微软雅黑"/>
            </a:endParaRPr>
          </a:p>
        </p:txBody>
      </p:sp>
      <p:sp>
        <p:nvSpPr>
          <p:cNvPr id="3" name="显眼包PPT9"/>
          <p:cNvSpPr/>
          <p:nvPr/>
        </p:nvSpPr>
        <p:spPr>
          <a:xfrm>
            <a:off x="1224280" y="5365750"/>
            <a:ext cx="1355725" cy="608965"/>
          </a:xfrm>
          <a:prstGeom prst="rect">
            <a:avLst/>
          </a:prstGeom>
          <a:noFill/>
          <a:ln>
            <a:no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en-US" altLang="zh-CN" sz="1400" b="1">
                <a:gradFill flip="none" rotWithShape="1">
                  <a:gsLst>
                    <a:gs pos="0">
                      <a:srgbClr val="0042FF"/>
                    </a:gs>
                    <a:gs pos="76000">
                      <a:srgbClr val="0042FF"/>
                    </a:gs>
                  </a:gsLst>
                  <a:lin ang="5400000" scaled="1"/>
                  <a:tileRect/>
                </a:gradFill>
                <a:latin typeface="微软雅黑"/>
                <a:ea typeface="微软雅黑"/>
                <a:cs typeface="微软雅黑"/>
              </a:rPr>
              <a:t>#</a:t>
            </a:r>
            <a:r>
              <a:rPr lang="zh-CN" altLang="en-US" sz="1400" b="1">
                <a:gradFill flip="none" rotWithShape="1">
                  <a:gsLst>
                    <a:gs pos="0">
                      <a:srgbClr val="0042FF"/>
                    </a:gs>
                    <a:gs pos="76000">
                      <a:srgbClr val="0042FF"/>
                    </a:gs>
                  </a:gsLst>
                  <a:lin ang="5400000" scaled="1"/>
                  <a:tileRect/>
                </a:gradFill>
                <a:latin typeface="微软雅黑"/>
                <a:ea typeface="微软雅黑"/>
                <a:cs typeface="微软雅黑"/>
              </a:rPr>
              <a:t>场景化体</a:t>
            </a:r>
            <a:endParaRPr lang="zh-CN" altLang="en-US" sz="1400" b="1">
              <a:gradFill flip="none" rotWithShape="1">
                <a:gsLst>
                  <a:gs pos="0">
                    <a:srgbClr val="0042FF"/>
                  </a:gs>
                  <a:gs pos="76000">
                    <a:srgbClr val="0042FF"/>
                  </a:gs>
                </a:gsLst>
                <a:lin ang="5400000" scaled="1"/>
                <a:tileRect/>
              </a:gradFill>
              <a:latin typeface="微软雅黑"/>
              <a:ea typeface="微软雅黑"/>
              <a:cs typeface="微软雅黑"/>
            </a:endParaRPr>
          </a:p>
          <a:p>
            <a:pPr algn="ctr">
              <a:defRPr>
                <a:latin typeface="微软雅黑"/>
                <a:ea typeface="微软雅黑"/>
                <a:cs typeface="微软雅黑"/>
              </a:defRPr>
            </a:pPr>
            <a:r>
              <a:rPr lang="zh-CN" altLang="en-US" sz="1400" b="1">
                <a:gradFill flip="none" rotWithShape="1">
                  <a:gsLst>
                    <a:gs pos="0">
                      <a:srgbClr val="0042FF"/>
                    </a:gs>
                    <a:gs pos="76000">
                      <a:srgbClr val="0042FF"/>
                    </a:gs>
                  </a:gsLst>
                  <a:lin ang="5400000" scaled="1"/>
                  <a:tileRect/>
                </a:gradFill>
                <a:latin typeface="微软雅黑"/>
                <a:ea typeface="微软雅黑"/>
                <a:cs typeface="微软雅黑"/>
              </a:rPr>
              <a:t>验矩阵建设</a:t>
            </a:r>
            <a:r>
              <a:rPr lang="en-US" altLang="zh-CN" sz="1400" b="1">
                <a:gradFill flip="none" rotWithShape="1">
                  <a:gsLst>
                    <a:gs pos="0">
                      <a:srgbClr val="0042FF"/>
                    </a:gs>
                    <a:gs pos="76000">
                      <a:srgbClr val="0042FF"/>
                    </a:gs>
                  </a:gsLst>
                  <a:lin ang="5400000" scaled="1"/>
                  <a:tileRect/>
                </a:gradFill>
                <a:latin typeface="微软雅黑"/>
                <a:ea typeface="微软雅黑"/>
                <a:cs typeface="微软雅黑"/>
              </a:rPr>
              <a:t>​</a:t>
            </a:r>
            <a:endParaRPr lang="en-US" altLang="zh-CN" sz="1400" b="1">
              <a:gradFill flip="none" rotWithShape="1">
                <a:gsLst>
                  <a:gs pos="0">
                    <a:srgbClr val="0042FF"/>
                  </a:gs>
                  <a:gs pos="76000">
                    <a:srgbClr val="0042FF"/>
                  </a:gs>
                </a:gsLst>
                <a:lin ang="5400000" scaled="1"/>
                <a:tileRect/>
              </a:gradFill>
              <a:latin typeface="微软雅黑"/>
              <a:ea typeface="微软雅黑"/>
              <a:cs typeface="微软雅黑"/>
            </a:endParaRPr>
          </a:p>
        </p:txBody>
      </p:sp>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9"/>
            <a:srcRect r="57320" b="-13333"/>
            <a:stretch>
              <a:fillRect/>
            </a:stretch>
          </p:blipFill>
          <p:spPr>
            <a:xfrm>
              <a:off x="12087" y="-1089"/>
              <a:ext cx="2548" cy="578"/>
            </a:xfrm>
            <a:prstGeom prst="rect">
              <a:avLst/>
            </a:prstGeom>
          </p:spPr>
        </p:pic>
        <p:sp>
          <p:nvSpPr>
            <p:cNvPr id="8" name="文本框 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任意多边形: 形状 37"/>
          <p:cNvSpPr/>
          <p:nvPr>
            <p:custDataLst>
              <p:tags r:id="rId1"/>
            </p:custDataLst>
          </p:nvPr>
        </p:nvSpPr>
        <p:spPr>
          <a:xfrm flipH="1">
            <a:off x="518795" y="2205990"/>
            <a:ext cx="751205" cy="3600450"/>
          </a:xfrm>
          <a:custGeom>
            <a:avLst/>
            <a:gdLst>
              <a:gd name="connsiteX0" fmla="*/ 1183 w 1183"/>
              <a:gd name="connsiteY0" fmla="*/ 5670 h 5670"/>
              <a:gd name="connsiteX1" fmla="*/ 0 w 1183"/>
              <a:gd name="connsiteY1" fmla="*/ 4111 h 5670"/>
              <a:gd name="connsiteX2" fmla="*/ 3 w 1183"/>
              <a:gd name="connsiteY2" fmla="*/ 0 h 5670"/>
              <a:gd name="connsiteX3" fmla="*/ 1183 w 1183"/>
              <a:gd name="connsiteY3" fmla="*/ 953 h 5670"/>
              <a:gd name="connsiteX4" fmla="*/ 1180 w 1183"/>
              <a:gd name="connsiteY4" fmla="*/ 2415 h 5670"/>
              <a:gd name="connsiteX5" fmla="*/ 1183 w 1183"/>
              <a:gd name="connsiteY5" fmla="*/ 2417 h 5670"/>
              <a:gd name="connsiteX6" fmla="*/ 1180 w 1183"/>
              <a:gd name="connsiteY6" fmla="*/ 3513 h 5670"/>
              <a:gd name="connsiteX7" fmla="*/ 1183 w 1183"/>
              <a:gd name="connsiteY7" fmla="*/ 4206 h 5670"/>
              <a:gd name="connsiteX8" fmla="*/ 1180 w 1183"/>
              <a:gd name="connsiteY8" fmla="*/ 4202 h 5670"/>
              <a:gd name="connsiteX9" fmla="*/ 1180 w 1183"/>
              <a:gd name="connsiteY9" fmla="*/ 4221 h 5670"/>
              <a:gd name="connsiteX10" fmla="*/ 1180 w 1183"/>
              <a:gd name="connsiteY10" fmla="*/ 4273 h 5670"/>
              <a:gd name="connsiteX11" fmla="*/ 1183 w 1183"/>
              <a:gd name="connsiteY11" fmla="*/ 5670 h 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3" h="5670">
                <a:moveTo>
                  <a:pt x="1183" y="5670"/>
                </a:moveTo>
                <a:lnTo>
                  <a:pt x="0" y="4111"/>
                </a:lnTo>
                <a:lnTo>
                  <a:pt x="3" y="0"/>
                </a:lnTo>
                <a:lnTo>
                  <a:pt x="1183" y="953"/>
                </a:lnTo>
                <a:cubicBezTo>
                  <a:pt x="1182" y="1417"/>
                  <a:pt x="1180" y="2090"/>
                  <a:pt x="1180" y="2415"/>
                </a:cubicBezTo>
                <a:lnTo>
                  <a:pt x="1183" y="2417"/>
                </a:lnTo>
                <a:cubicBezTo>
                  <a:pt x="1182" y="2760"/>
                  <a:pt x="1181" y="3317"/>
                  <a:pt x="1180" y="3513"/>
                </a:cubicBezTo>
                <a:cubicBezTo>
                  <a:pt x="1181" y="3671"/>
                  <a:pt x="1182" y="4078"/>
                  <a:pt x="1183" y="4206"/>
                </a:cubicBezTo>
                <a:lnTo>
                  <a:pt x="1180" y="4202"/>
                </a:lnTo>
                <a:lnTo>
                  <a:pt x="1180" y="4221"/>
                </a:lnTo>
                <a:lnTo>
                  <a:pt x="1180" y="4273"/>
                </a:lnTo>
                <a:cubicBezTo>
                  <a:pt x="1180" y="4723"/>
                  <a:pt x="1181" y="5303"/>
                  <a:pt x="1183" y="5670"/>
                </a:cubicBezTo>
                <a:close/>
              </a:path>
            </a:pathLst>
          </a:custGeom>
          <a:gradFill flip="none" rotWithShape="1">
            <a:gsLst>
              <a:gs pos="0">
                <a:srgbClr val="FFFFFF">
                  <a:alpha val="0"/>
                </a:srgbClr>
              </a:gs>
              <a:gs pos="100000">
                <a:srgbClr val="668EFF"/>
              </a:gs>
            </a:gsLst>
            <a:lin ang="2400000" scaled="0"/>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lang="zh-CN" altLang="en-US" sz="2500">
                <a:solidFill>
                  <a:srgbClr val="383838"/>
                </a:solidFill>
                <a:effectLst/>
                <a:latin typeface="微软雅黑"/>
                <a:ea typeface="微软雅黑"/>
                <a:cs typeface="微软雅黑"/>
              </a:rPr>
              <a:t>企业</a:t>
            </a:r>
            <a:r>
              <a:rPr lang="en-US" altLang="zh-CN" sz="2500">
                <a:solidFill>
                  <a:srgbClr val="383838"/>
                </a:solidFill>
                <a:effectLst/>
                <a:latin typeface="微软雅黑"/>
                <a:ea typeface="微软雅黑"/>
                <a:cs typeface="微软雅黑"/>
              </a:rPr>
              <a:t>AI</a:t>
            </a:r>
            <a:r>
              <a:rPr lang="zh-CN" altLang="en-US" sz="2500">
                <a:solidFill>
                  <a:srgbClr val="383838"/>
                </a:solidFill>
                <a:effectLst/>
                <a:latin typeface="微软雅黑"/>
                <a:ea typeface="微软雅黑"/>
                <a:cs typeface="微软雅黑"/>
              </a:rPr>
              <a:t>营销实战场景解析</a:t>
            </a:r>
            <a:endParaRPr lang="en-US" altLang="zh-CN"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
        <p:nvSpPr>
          <p:cNvPr id="6" name="梯形 5"/>
          <p:cNvSpPr/>
          <p:nvPr>
            <p:custDataLst>
              <p:tags r:id="rId4"/>
            </p:custDataLst>
          </p:nvPr>
        </p:nvSpPr>
        <p:spPr>
          <a:xfrm>
            <a:off x="518795" y="4811395"/>
            <a:ext cx="11160760" cy="983615"/>
          </a:xfrm>
          <a:prstGeom prst="trapezoid">
            <a:avLst>
              <a:gd name="adj" fmla="val 75306"/>
            </a:avLst>
          </a:prstGeom>
          <a:gradFill flip="none" rotWithShape="1">
            <a:gsLst>
              <a:gs pos="0">
                <a:srgbClr val="B3D4FE">
                  <a:alpha val="0"/>
                </a:srgbClr>
              </a:gs>
              <a:gs pos="80000">
                <a:srgbClr val="B3D4FE"/>
              </a:gs>
            </a:gsLst>
            <a:lin ang="5280000" scaled="0"/>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9" name="组合 18"/>
          <p:cNvGrpSpPr/>
          <p:nvPr/>
        </p:nvGrpSpPr>
        <p:grpSpPr>
          <a:xfrm>
            <a:off x="512445" y="1051560"/>
            <a:ext cx="11167110" cy="1345565"/>
            <a:chOff x="807" y="1656"/>
            <a:chExt cx="17586" cy="3174"/>
          </a:xfrm>
        </p:grpSpPr>
        <p:sp>
          <p:nvSpPr>
            <p:cNvPr id="2" name="等腰三角形 1"/>
            <p:cNvSpPr/>
            <p:nvPr/>
          </p:nvSpPr>
          <p:spPr>
            <a:xfrm>
              <a:off x="817" y="1662"/>
              <a:ext cx="17576" cy="3113"/>
            </a:xfrm>
            <a:prstGeom prst="triangle">
              <a:avLst/>
            </a:prstGeom>
            <a:gradFill>
              <a:gsLst>
                <a:gs pos="1000">
                  <a:srgbClr val="3368FF">
                    <a:alpha val="78000"/>
                  </a:srgbClr>
                </a:gs>
                <a:gs pos="84000">
                  <a:srgbClr val="FFFFFF">
                    <a:alpha val="0"/>
                  </a:srgbClr>
                </a:gs>
              </a:gsLst>
              <a:lin ang="5400000" scaled="1"/>
            </a:gradFill>
            <a:ln>
              <a:gradFill>
                <a:gsLst>
                  <a:gs pos="23000">
                    <a:srgbClr val="0042FF"/>
                  </a:gs>
                  <a:gs pos="100000">
                    <a:srgbClr val="0042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 name="梯形 17"/>
            <p:cNvSpPr/>
            <p:nvPr/>
          </p:nvSpPr>
          <p:spPr>
            <a:xfrm>
              <a:off x="807" y="3403"/>
              <a:ext cx="17576" cy="1287"/>
            </a:xfrm>
            <a:prstGeom prst="trapezoid">
              <a:avLst>
                <a:gd name="adj" fmla="val 146311"/>
              </a:avLst>
            </a:prstGeom>
            <a:gradFill flip="none" rotWithShape="1">
              <a:gsLst>
                <a:gs pos="48000">
                  <a:srgbClr val="E6E6E6">
                    <a:alpha val="0"/>
                  </a:srgbClr>
                </a:gs>
                <a:gs pos="100000">
                  <a:srgbClr val="E6E6E6"/>
                </a:gs>
              </a:gsLst>
              <a:lin ang="5400000" scaled="1"/>
              <a:tileRect/>
            </a:gradFill>
            <a:ln w="9525" cap="rnd">
              <a:gradFill>
                <a:gsLst>
                  <a:gs pos="0">
                    <a:srgbClr val="E6E6E6">
                      <a:alpha val="0"/>
                    </a:srgbClr>
                  </a:gs>
                  <a:gs pos="100000">
                    <a:srgbClr val="0042FF"/>
                  </a:gs>
                </a:gsLst>
                <a:lin ang="5400000" scaled="1"/>
              </a:gradFill>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52" name="直接连接符 51"/>
            <p:cNvCxnSpPr/>
            <p:nvPr/>
          </p:nvCxnSpPr>
          <p:spPr>
            <a:xfrm>
              <a:off x="9595" y="1658"/>
              <a:ext cx="6952" cy="1771"/>
            </a:xfrm>
            <a:prstGeom prst="line">
              <a:avLst/>
            </a:prstGeom>
            <a:ln w="12700">
              <a:gradFill>
                <a:gsLst>
                  <a:gs pos="0">
                    <a:srgbClr val="0042FF"/>
                  </a:gs>
                  <a:gs pos="100000">
                    <a:srgbClr val="0042FF">
                      <a:alpha val="0"/>
                    </a:srgbClr>
                  </a:gs>
                </a:gsLst>
                <a:lin ang="5400000" scaled="1"/>
              </a:gradFill>
            </a:ln>
          </p:spPr>
          <p:style>
            <a:lnRef idx="1">
              <a:srgbClr val="0042FF"/>
            </a:lnRef>
            <a:fillRef idx="0">
              <a:srgbClr val="0042FF"/>
            </a:fillRef>
            <a:effectRef idx="0">
              <a:srgbClr val="0042FF"/>
            </a:effectRef>
            <a:fontRef idx="minor">
              <a:srgbClr val="383838"/>
            </a:fontRef>
          </p:style>
        </p:cxnSp>
        <p:cxnSp>
          <p:nvCxnSpPr>
            <p:cNvPr id="53" name="直接连接符 52"/>
            <p:cNvCxnSpPr/>
            <p:nvPr/>
          </p:nvCxnSpPr>
          <p:spPr>
            <a:xfrm flipH="1">
              <a:off x="2663" y="1658"/>
              <a:ext cx="6932" cy="1743"/>
            </a:xfrm>
            <a:prstGeom prst="line">
              <a:avLst/>
            </a:prstGeom>
            <a:ln w="12700">
              <a:gradFill>
                <a:gsLst>
                  <a:gs pos="0">
                    <a:srgbClr val="0042FF"/>
                  </a:gs>
                  <a:gs pos="100000">
                    <a:srgbClr val="0042FF">
                      <a:alpha val="0"/>
                    </a:srgbClr>
                  </a:gs>
                </a:gsLst>
                <a:lin ang="5400000" scaled="1"/>
              </a:gradFill>
            </a:ln>
          </p:spPr>
          <p:style>
            <a:lnRef idx="1">
              <a:srgbClr val="0042FF"/>
            </a:lnRef>
            <a:fillRef idx="0">
              <a:srgbClr val="0042FF"/>
            </a:fillRef>
            <a:effectRef idx="0">
              <a:srgbClr val="0042FF"/>
            </a:effectRef>
            <a:fontRef idx="minor">
              <a:srgbClr val="383838"/>
            </a:fontRef>
          </p:style>
        </p:cxnSp>
        <p:sp>
          <p:nvSpPr>
            <p:cNvPr id="55" name="任意多边形: 形状 54"/>
            <p:cNvSpPr/>
            <p:nvPr/>
          </p:nvSpPr>
          <p:spPr>
            <a:xfrm>
              <a:off x="9605" y="1656"/>
              <a:ext cx="8785" cy="3126"/>
            </a:xfrm>
            <a:custGeom>
              <a:avLst/>
              <a:gdLst>
                <a:gd name="connsiteX0" fmla="*/ 4100513 w 5219700"/>
                <a:gd name="connsiteY0" fmla="*/ 1033463 h 1857375"/>
                <a:gd name="connsiteX1" fmla="*/ 0 w 5219700"/>
                <a:gd name="connsiteY1" fmla="*/ 0 h 1857375"/>
                <a:gd name="connsiteX2" fmla="*/ 5219700 w 5219700"/>
                <a:gd name="connsiteY2" fmla="*/ 1857375 h 1857375"/>
                <a:gd name="connsiteX3" fmla="*/ 4100513 w 5219700"/>
                <a:gd name="connsiteY3" fmla="*/ 1033463 h 1857375"/>
              </a:gdLst>
              <a:ahLst/>
              <a:cxnLst>
                <a:cxn ang="0">
                  <a:pos x="connsiteX0" y="connsiteY0"/>
                </a:cxn>
                <a:cxn ang="0">
                  <a:pos x="connsiteX1" y="connsiteY1"/>
                </a:cxn>
                <a:cxn ang="0">
                  <a:pos x="connsiteX2" y="connsiteY2"/>
                </a:cxn>
                <a:cxn ang="0">
                  <a:pos x="connsiteX3" y="connsiteY3"/>
                </a:cxn>
              </a:cxnLst>
              <a:rect l="l" t="t" r="r" b="b"/>
              <a:pathLst>
                <a:path w="5219700" h="1857375">
                  <a:moveTo>
                    <a:pt x="4100513" y="1033463"/>
                  </a:moveTo>
                  <a:lnTo>
                    <a:pt x="0" y="0"/>
                  </a:lnTo>
                  <a:lnTo>
                    <a:pt x="5219700" y="1857375"/>
                  </a:lnTo>
                  <a:lnTo>
                    <a:pt x="4100513" y="1033463"/>
                  </a:lnTo>
                  <a:close/>
                </a:path>
              </a:pathLst>
            </a:custGeom>
            <a:gradFill>
              <a:gsLst>
                <a:gs pos="0">
                  <a:srgbClr val="3368FF">
                    <a:alpha val="67000"/>
                  </a:srgbClr>
                </a:gs>
                <a:gs pos="73000">
                  <a:srgbClr val="3368FF">
                    <a:alpha val="0"/>
                  </a:srgbClr>
                </a:gs>
              </a:gsLst>
              <a:lin ang="36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6" name="任意多边形: 形状 55"/>
            <p:cNvSpPr/>
            <p:nvPr/>
          </p:nvSpPr>
          <p:spPr>
            <a:xfrm>
              <a:off x="836" y="1656"/>
              <a:ext cx="8801" cy="3174"/>
            </a:xfrm>
            <a:custGeom>
              <a:avLst/>
              <a:gdLst>
                <a:gd name="connsiteX0" fmla="*/ 5229225 w 5229225"/>
                <a:gd name="connsiteY0" fmla="*/ 0 h 1885950"/>
                <a:gd name="connsiteX1" fmla="*/ 0 w 5229225"/>
                <a:gd name="connsiteY1" fmla="*/ 1885950 h 1885950"/>
                <a:gd name="connsiteX2" fmla="*/ 1081088 w 5229225"/>
                <a:gd name="connsiteY2" fmla="*/ 1033463 h 1885950"/>
                <a:gd name="connsiteX3" fmla="*/ 5229225 w 5229225"/>
                <a:gd name="connsiteY3" fmla="*/ 0 h 1885950"/>
              </a:gdLst>
              <a:ahLst/>
              <a:cxnLst>
                <a:cxn ang="0">
                  <a:pos x="connsiteX0" y="connsiteY0"/>
                </a:cxn>
                <a:cxn ang="0">
                  <a:pos x="connsiteX1" y="connsiteY1"/>
                </a:cxn>
                <a:cxn ang="0">
                  <a:pos x="connsiteX2" y="connsiteY2"/>
                </a:cxn>
                <a:cxn ang="0">
                  <a:pos x="connsiteX3" y="connsiteY3"/>
                </a:cxn>
              </a:cxnLst>
              <a:rect l="l" t="t" r="r" b="b"/>
              <a:pathLst>
                <a:path w="5229225" h="1885950">
                  <a:moveTo>
                    <a:pt x="5229225" y="0"/>
                  </a:moveTo>
                  <a:lnTo>
                    <a:pt x="0" y="1885950"/>
                  </a:lnTo>
                  <a:lnTo>
                    <a:pt x="1081088" y="1033463"/>
                  </a:lnTo>
                  <a:lnTo>
                    <a:pt x="5229225" y="0"/>
                  </a:lnTo>
                  <a:close/>
                </a:path>
              </a:pathLst>
            </a:custGeom>
            <a:gradFill>
              <a:gsLst>
                <a:gs pos="0">
                  <a:srgbClr val="3368FF">
                    <a:alpha val="67000"/>
                  </a:srgbClr>
                </a:gs>
                <a:gs pos="75000">
                  <a:srgbClr val="3368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sp>
        <p:nvSpPr>
          <p:cNvPr id="4" name="文本框 3"/>
          <p:cNvSpPr txBox="1"/>
          <p:nvPr>
            <p:custDataLst>
              <p:tags r:id="rId5"/>
            </p:custDataLst>
          </p:nvPr>
        </p:nvSpPr>
        <p:spPr>
          <a:xfrm>
            <a:off x="4210050" y="1686801"/>
            <a:ext cx="3606165" cy="460375"/>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reflection blurRad="101600" stA="19000" endPos="45500" dist="38100" dir="5400000" sy="-100000" algn="bl" rotWithShape="0"/>
                </a:effectLst>
                <a:latin typeface="微软雅黑"/>
                <a:ea typeface="微软雅黑"/>
                <a:cs typeface="微软雅黑"/>
              </a:defRPr>
            </a:lvl1pPr>
          </a:lstStyle>
          <a:p>
            <a:pPr>
              <a:defRPr>
                <a:latin typeface="微软雅黑"/>
                <a:ea typeface="微软雅黑"/>
                <a:cs typeface="微软雅黑"/>
              </a:defRPr>
            </a:pPr>
            <a:r>
              <a:rPr lang="en-US" altLang="zh-CN" sz="2400" b="1">
                <a:solidFill>
                  <a:srgbClr val="383838"/>
                </a:solidFill>
                <a:latin typeface="微软雅黑"/>
                <a:ea typeface="微软雅黑"/>
                <a:cs typeface="微软雅黑"/>
              </a:rPr>
              <a:t>AI</a:t>
            </a:r>
            <a:r>
              <a:rPr lang="zh-CN" altLang="en-US" sz="2400" b="1">
                <a:solidFill>
                  <a:srgbClr val="383838"/>
                </a:solidFill>
                <a:latin typeface="微软雅黑"/>
                <a:ea typeface="微软雅黑"/>
                <a:cs typeface="微软雅黑"/>
              </a:rPr>
              <a:t>营销实战场景</a:t>
            </a:r>
            <a:endParaRPr lang="zh-CN" altLang="en-US" sz="2400" b="1" dirty="0">
              <a:solidFill>
                <a:srgbClr val="383838"/>
              </a:solidFill>
              <a:latin typeface="微软雅黑"/>
              <a:ea typeface="微软雅黑"/>
              <a:cs typeface="微软雅黑"/>
            </a:endParaRPr>
          </a:p>
        </p:txBody>
      </p:sp>
      <p:grpSp>
        <p:nvGrpSpPr>
          <p:cNvPr id="40" name="组合 39"/>
          <p:cNvGrpSpPr/>
          <p:nvPr/>
        </p:nvGrpSpPr>
        <p:grpSpPr>
          <a:xfrm>
            <a:off x="1278255" y="5043805"/>
            <a:ext cx="1499870" cy="339090"/>
            <a:chOff x="1829" y="4755"/>
            <a:chExt cx="2362" cy="534"/>
          </a:xfrm>
        </p:grpSpPr>
        <p:sp>
          <p:nvSpPr>
            <p:cNvPr id="41" name="熊大的PPT宝库6"/>
            <p:cNvSpPr/>
            <p:nvPr/>
          </p:nvSpPr>
          <p:spPr>
            <a:xfrm>
              <a:off x="1829" y="4755"/>
              <a:ext cx="2362" cy="534"/>
            </a:xfrm>
            <a:prstGeom prst="roundRect">
              <a:avLst>
                <a:gd name="adj" fmla="val 50000"/>
              </a:avLst>
            </a:prstGeom>
            <a:solidFill>
              <a:srgbClr val="E6E6E6">
                <a:alpha val="15079"/>
              </a:srgbClr>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defTabSz="457200">
                <a:defRPr>
                  <a:latin typeface="微软雅黑"/>
                  <a:ea typeface="微软雅黑"/>
                  <a:cs typeface="微软雅黑"/>
                </a:defRPr>
              </a:pPr>
              <a:endParaRPr lang="zh-CN" altLang="en-US" sz="1600" dirty="0">
                <a:latin typeface="微软雅黑"/>
                <a:cs typeface="微软雅黑"/>
                <a:sym typeface="微软雅黑"/>
                <a:ea typeface="微软雅黑"/>
              </a:endParaRPr>
            </a:p>
          </p:txBody>
        </p:sp>
        <p:sp>
          <p:nvSpPr>
            <p:cNvPr id="42" name="熊大的PPT宝库11"/>
            <p:cNvSpPr txBox="1"/>
            <p:nvPr/>
          </p:nvSpPr>
          <p:spPr>
            <a:xfrm>
              <a:off x="2170" y="4853"/>
              <a:ext cx="1680" cy="339"/>
            </a:xfrm>
            <a:prstGeom prst="rect">
              <a:avLst/>
            </a:prstGeom>
            <a:noFill/>
            <a:ln>
              <a:noFill/>
            </a:ln>
            <a:extLst>
              <a:ext uri="{909E8E84-426E-40DD-AFC4-6F175D3DCCD1}">
                <a14:hiddenFill xmlns:a14="http://schemas.microsoft.com/office/drawing/2010/main">
                  <a:solidFill>
                    <a:srgbClr val="E6E6E6"/>
                  </a:solidFill>
                </a14:hiddenFill>
              </a:ext>
            </a:extLst>
          </p:spPr>
          <p:txBody>
            <a:bodyPr wrap="none" lIns="0" tIns="0" rIns="0" bIns="0" rtlCol="0">
              <a:spAutoFit/>
            </a:bodyPr>
            <a:lstStyle/>
            <a:p>
              <a:pPr algn="ctr" defTabSz="457200">
                <a:defRPr>
                  <a:latin typeface="微软雅黑"/>
                  <a:ea typeface="微软雅黑"/>
                  <a:cs typeface="微软雅黑"/>
                </a:defRPr>
              </a:pPr>
              <a:r>
                <a:rPr lang="zh-CN" altLang="en-US" sz="1400" dirty="0">
                  <a:solidFill>
                    <a:srgbClr val="383838"/>
                  </a:solidFill>
                  <a:latin typeface="微软雅黑"/>
                  <a:sym typeface="微软雅黑"/>
                  <a:ea typeface="微软雅黑"/>
                  <a:cs typeface="微软雅黑"/>
                </a:rPr>
                <a:t>社交媒体数据</a:t>
              </a:r>
              <a:endParaRPr lang="zh-CN" altLang="en-US" sz="1400" dirty="0">
                <a:solidFill>
                  <a:srgbClr val="383838"/>
                </a:solidFill>
                <a:latin typeface="微软雅黑"/>
                <a:sym typeface="微软雅黑"/>
                <a:ea typeface="微软雅黑"/>
                <a:cs typeface="微软雅黑"/>
              </a:endParaRPr>
            </a:p>
          </p:txBody>
        </p:sp>
      </p:grpSp>
      <p:sp>
        <p:nvSpPr>
          <p:cNvPr id="83" name="熊大的PPT宝库18"/>
          <p:cNvSpPr/>
          <p:nvPr/>
        </p:nvSpPr>
        <p:spPr>
          <a:xfrm>
            <a:off x="3920490" y="2985770"/>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84" name="熊大的PPT宝库19"/>
          <p:cNvSpPr txBox="1"/>
          <p:nvPr/>
        </p:nvSpPr>
        <p:spPr>
          <a:xfrm>
            <a:off x="4079875" y="3011170"/>
            <a:ext cx="1330960"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人群画像数据</a:t>
            </a:r>
            <a:endParaRPr lang="zh-CN" altLang="en-US" sz="1600" dirty="0">
              <a:solidFill>
                <a:srgbClr val="383838"/>
              </a:solidFill>
              <a:latin typeface="微软雅黑"/>
              <a:sym typeface="微软雅黑"/>
              <a:ea typeface="微软雅黑"/>
              <a:cs typeface="微软雅黑"/>
            </a:endParaRPr>
          </a:p>
        </p:txBody>
      </p:sp>
      <p:sp>
        <p:nvSpPr>
          <p:cNvPr id="85" name="熊大的PPT宝库20"/>
          <p:cNvSpPr/>
          <p:nvPr/>
        </p:nvSpPr>
        <p:spPr>
          <a:xfrm>
            <a:off x="5761355" y="2985770"/>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86" name="熊大的PPT宝库21"/>
          <p:cNvSpPr txBox="1"/>
          <p:nvPr/>
        </p:nvSpPr>
        <p:spPr>
          <a:xfrm>
            <a:off x="6142355" y="3011170"/>
            <a:ext cx="887730"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跳转分析</a:t>
            </a:r>
            <a:endParaRPr lang="zh-CN" altLang="en-US" sz="1600" dirty="0">
              <a:solidFill>
                <a:srgbClr val="383838"/>
              </a:solidFill>
              <a:latin typeface="微软雅黑"/>
              <a:sym typeface="微软雅黑"/>
              <a:ea typeface="微软雅黑"/>
              <a:cs typeface="微软雅黑"/>
            </a:endParaRPr>
          </a:p>
        </p:txBody>
      </p:sp>
      <p:sp>
        <p:nvSpPr>
          <p:cNvPr id="96" name="熊大的PPT宝库22"/>
          <p:cNvSpPr/>
          <p:nvPr/>
        </p:nvSpPr>
        <p:spPr>
          <a:xfrm>
            <a:off x="3920490" y="3448050"/>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97" name="熊大的PPT宝库23"/>
          <p:cNvSpPr txBox="1"/>
          <p:nvPr/>
        </p:nvSpPr>
        <p:spPr>
          <a:xfrm>
            <a:off x="4079875" y="3473450"/>
            <a:ext cx="1330960"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营销理论模型</a:t>
            </a:r>
            <a:endParaRPr lang="zh-CN" altLang="en-US" sz="1600" dirty="0">
              <a:solidFill>
                <a:srgbClr val="383838"/>
              </a:solidFill>
              <a:latin typeface="微软雅黑"/>
              <a:sym typeface="微软雅黑"/>
              <a:ea typeface="微软雅黑"/>
              <a:cs typeface="微软雅黑"/>
            </a:endParaRPr>
          </a:p>
        </p:txBody>
      </p:sp>
      <p:sp>
        <p:nvSpPr>
          <p:cNvPr id="98" name="熊大的PPT宝库24"/>
          <p:cNvSpPr/>
          <p:nvPr/>
        </p:nvSpPr>
        <p:spPr>
          <a:xfrm>
            <a:off x="5761355" y="3448050"/>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99" name="熊大的PPT宝库25"/>
          <p:cNvSpPr txBox="1"/>
          <p:nvPr/>
        </p:nvSpPr>
        <p:spPr>
          <a:xfrm>
            <a:off x="5920740" y="3473450"/>
            <a:ext cx="1330960"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标签体系构建</a:t>
            </a:r>
            <a:endParaRPr lang="zh-CN" altLang="en-US" sz="1600" dirty="0">
              <a:solidFill>
                <a:srgbClr val="383838"/>
              </a:solidFill>
              <a:latin typeface="微软雅黑"/>
              <a:sym typeface="微软雅黑"/>
              <a:ea typeface="微软雅黑"/>
              <a:cs typeface="微软雅黑"/>
            </a:endParaRPr>
          </a:p>
        </p:txBody>
      </p:sp>
      <p:sp>
        <p:nvSpPr>
          <p:cNvPr id="101" name="熊大的PPT宝库26"/>
          <p:cNvSpPr/>
          <p:nvPr/>
        </p:nvSpPr>
        <p:spPr>
          <a:xfrm>
            <a:off x="3920490" y="3910965"/>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102" name="熊大的PPT宝库27"/>
          <p:cNvSpPr txBox="1"/>
          <p:nvPr/>
        </p:nvSpPr>
        <p:spPr>
          <a:xfrm>
            <a:off x="4079875" y="3936365"/>
            <a:ext cx="1330960"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消费决策链路</a:t>
            </a:r>
            <a:endParaRPr lang="zh-CN" altLang="en-US" sz="1600" dirty="0">
              <a:solidFill>
                <a:srgbClr val="383838"/>
              </a:solidFill>
              <a:latin typeface="微软雅黑"/>
              <a:sym typeface="微软雅黑"/>
              <a:ea typeface="微软雅黑"/>
              <a:cs typeface="微软雅黑"/>
            </a:endParaRPr>
          </a:p>
        </p:txBody>
      </p:sp>
      <p:sp>
        <p:nvSpPr>
          <p:cNvPr id="103" name="熊大的PPT宝库28"/>
          <p:cNvSpPr/>
          <p:nvPr/>
        </p:nvSpPr>
        <p:spPr>
          <a:xfrm>
            <a:off x="5761355" y="3910965"/>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104" name="熊大的PPT宝库29"/>
          <p:cNvSpPr txBox="1"/>
          <p:nvPr/>
        </p:nvSpPr>
        <p:spPr>
          <a:xfrm>
            <a:off x="6142355" y="3936365"/>
            <a:ext cx="887730"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语义归类</a:t>
            </a:r>
            <a:endParaRPr lang="zh-CN" altLang="en-US" sz="1600" dirty="0">
              <a:solidFill>
                <a:srgbClr val="383838"/>
              </a:solidFill>
              <a:latin typeface="微软雅黑"/>
              <a:sym typeface="微软雅黑"/>
              <a:ea typeface="微软雅黑"/>
              <a:cs typeface="微软雅黑"/>
            </a:endParaRPr>
          </a:p>
        </p:txBody>
      </p:sp>
      <p:sp>
        <p:nvSpPr>
          <p:cNvPr id="106" name="熊大的PPT宝库30"/>
          <p:cNvSpPr/>
          <p:nvPr/>
        </p:nvSpPr>
        <p:spPr>
          <a:xfrm>
            <a:off x="3920490" y="4373245"/>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107" name="熊大的PPT宝库31"/>
          <p:cNvSpPr txBox="1"/>
          <p:nvPr/>
        </p:nvSpPr>
        <p:spPr>
          <a:xfrm>
            <a:off x="4079875" y="4398645"/>
            <a:ext cx="1330960"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决策漏洞模型</a:t>
            </a:r>
            <a:endParaRPr lang="zh-CN" altLang="en-US" sz="1600" dirty="0">
              <a:solidFill>
                <a:srgbClr val="383838"/>
              </a:solidFill>
              <a:latin typeface="微软雅黑"/>
              <a:sym typeface="微软雅黑"/>
              <a:ea typeface="微软雅黑"/>
              <a:cs typeface="微软雅黑"/>
            </a:endParaRPr>
          </a:p>
        </p:txBody>
      </p:sp>
      <p:sp>
        <p:nvSpPr>
          <p:cNvPr id="108" name="熊大的PPT宝库32"/>
          <p:cNvSpPr/>
          <p:nvPr/>
        </p:nvSpPr>
        <p:spPr>
          <a:xfrm>
            <a:off x="5761355" y="4373245"/>
            <a:ext cx="1649730" cy="296545"/>
          </a:xfrm>
          <a:prstGeom prst="roundRect">
            <a:avLst>
              <a:gd name="adj" fmla="val 22552"/>
            </a:avLst>
          </a:prstGeom>
          <a:solidFill>
            <a:srgbClr val="FFFFFF">
              <a:alpha val="15000"/>
            </a:srgbClr>
          </a:solidFill>
          <a:ln w="12700">
            <a:solidFill>
              <a:srgbClr val="B3D4FE"/>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dirty="0">
              <a:latin typeface="微软雅黑"/>
              <a:cs typeface="微软雅黑"/>
              <a:sym typeface="微软雅黑"/>
              <a:ea typeface="微软雅黑"/>
            </a:endParaRPr>
          </a:p>
        </p:txBody>
      </p:sp>
      <p:sp>
        <p:nvSpPr>
          <p:cNvPr id="109" name="熊大的PPT宝库33"/>
          <p:cNvSpPr txBox="1"/>
          <p:nvPr/>
        </p:nvSpPr>
        <p:spPr>
          <a:xfrm>
            <a:off x="6145213" y="4398645"/>
            <a:ext cx="882015" cy="245745"/>
          </a:xfrm>
          <a:prstGeom prst="rect">
            <a:avLst/>
          </a:prstGeom>
          <a:noFill/>
        </p:spPr>
        <p:txBody>
          <a:bodyPr wrap="square" lIns="0" tIns="0" rIns="0" bIns="0" rtlCol="0">
            <a:spAutoFit/>
          </a:bodyPr>
          <a:lstStyle/>
          <a:p>
            <a:pPr defTabSz="457200">
              <a:defRPr>
                <a:latin typeface="微软雅黑"/>
                <a:ea typeface="微软雅黑"/>
                <a:cs typeface="微软雅黑"/>
              </a:defRPr>
            </a:pPr>
            <a:r>
              <a:rPr lang="zh-CN" altLang="en-US" sz="1600" dirty="0">
                <a:solidFill>
                  <a:srgbClr val="383838"/>
                </a:solidFill>
                <a:latin typeface="微软雅黑"/>
                <a:sym typeface="微软雅黑"/>
                <a:ea typeface="微软雅黑"/>
                <a:cs typeface="微软雅黑"/>
              </a:rPr>
              <a:t>知识挖掘</a:t>
            </a:r>
            <a:endParaRPr lang="zh-CN" altLang="en-US" sz="1600" dirty="0">
              <a:solidFill>
                <a:srgbClr val="383838"/>
              </a:solidFill>
              <a:latin typeface="微软雅黑"/>
              <a:sym typeface="微软雅黑"/>
              <a:ea typeface="微软雅黑"/>
              <a:cs typeface="微软雅黑"/>
            </a:endParaRPr>
          </a:p>
        </p:txBody>
      </p:sp>
      <p:grpSp>
        <p:nvGrpSpPr>
          <p:cNvPr id="45" name="组合 44"/>
          <p:cNvGrpSpPr/>
          <p:nvPr/>
        </p:nvGrpSpPr>
        <p:grpSpPr>
          <a:xfrm>
            <a:off x="8437880" y="2972435"/>
            <a:ext cx="2758690" cy="571330"/>
            <a:chOff x="12342" y="4804"/>
            <a:chExt cx="5640" cy="1168"/>
          </a:xfrm>
        </p:grpSpPr>
        <p:sp>
          <p:nvSpPr>
            <p:cNvPr id="113" name="熊大的PPT宝库36"/>
            <p:cNvSpPr/>
            <p:nvPr/>
          </p:nvSpPr>
          <p:spPr>
            <a:xfrm>
              <a:off x="13129" y="4826"/>
              <a:ext cx="4854" cy="1126"/>
            </a:xfrm>
            <a:prstGeom prst="roundRect">
              <a:avLst>
                <a:gd name="adj" fmla="val 8759"/>
              </a:avLst>
            </a:prstGeom>
            <a:solidFill>
              <a:srgbClr val="FFFFFF"/>
            </a:solidFill>
            <a:ln w="12700">
              <a:solidFill>
                <a:srgbClr val="668EFF"/>
              </a:solidFill>
              <a:prstDash val="sys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132" name="熊大的PPT宝库37"/>
            <p:cNvSpPr/>
            <p:nvPr/>
          </p:nvSpPr>
          <p:spPr>
            <a:xfrm>
              <a:off x="12342" y="4804"/>
              <a:ext cx="1322" cy="1168"/>
            </a:xfrm>
            <a:prstGeom prst="roundRect">
              <a:avLst/>
            </a:prstGeom>
            <a:gradFill>
              <a:gsLst>
                <a:gs pos="0">
                  <a:srgbClr val="668EFF"/>
                </a:gs>
                <a:gs pos="100000">
                  <a:srgbClr val="3368FF"/>
                </a:gs>
              </a:gsLst>
              <a:lin ang="4800000" scaled="0"/>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sym typeface="微软雅黑"/>
                <a:cs typeface="微软雅黑"/>
              </a:endParaRPr>
            </a:p>
          </p:txBody>
        </p:sp>
        <p:sp>
          <p:nvSpPr>
            <p:cNvPr id="133" name="熊大的PPT宝库38"/>
            <p:cNvSpPr txBox="1"/>
            <p:nvPr/>
          </p:nvSpPr>
          <p:spPr>
            <a:xfrm>
              <a:off x="12537" y="5011"/>
              <a:ext cx="932" cy="754"/>
            </a:xfrm>
            <a:prstGeom prst="rect">
              <a:avLst/>
            </a:prstGeom>
            <a:noFill/>
          </p:spPr>
          <p:txBody>
            <a:bodyPr wrap="square" lIns="0" tIns="0" rIns="0" bIns="0" rtlCol="0">
              <a:spAutoFit/>
            </a:bodyPr>
            <a:lstStyle/>
            <a:p>
              <a:pPr algn="ctr" defTabSz="457200">
                <a:defRPr>
                  <a:solidFill>
                    <a:srgbClr val="FFFFFF"/>
                  </a:solidFill>
                  <a:latin typeface="微软雅黑"/>
                  <a:ea typeface="微软雅黑"/>
                  <a:cs typeface="微软雅黑"/>
                </a:defRPr>
              </a:pPr>
              <a:r>
                <a:rPr kumimoji="1" lang="zh-CN" altLang="en-US" sz="1200" b="1" dirty="0">
                  <a:solidFill>
                    <a:srgbClr val="FFFFFF"/>
                  </a:solidFill>
                  <a:latin typeface="微软雅黑"/>
                  <a:ea typeface="微软雅黑"/>
                  <a:cs typeface="微软雅黑"/>
                  <a:sym typeface="微软雅黑"/>
                </a:rPr>
                <a:t>行业</a:t>
              </a:r>
              <a:endParaRPr kumimoji="1" lang="en-US" altLang="zh-CN" sz="1200" b="1" dirty="0">
                <a:solidFill>
                  <a:srgbClr val="FFFFFF"/>
                </a:solidFill>
                <a:latin typeface="微软雅黑"/>
                <a:ea typeface="微软雅黑"/>
                <a:cs typeface="微软雅黑"/>
                <a:sym typeface="微软雅黑"/>
              </a:endParaRPr>
            </a:p>
            <a:p>
              <a:pPr algn="ctr" defTabSz="457200">
                <a:defRPr>
                  <a:solidFill>
                    <a:srgbClr val="FFFFFF"/>
                  </a:solidFill>
                  <a:latin typeface="微软雅黑"/>
                  <a:ea typeface="微软雅黑"/>
                  <a:cs typeface="微软雅黑"/>
                </a:defRPr>
              </a:pPr>
              <a:r>
                <a:rPr kumimoji="1" lang="zh-CN" altLang="en-US" sz="1200" b="1" dirty="0">
                  <a:solidFill>
                    <a:srgbClr val="FFFFFF"/>
                  </a:solidFill>
                  <a:latin typeface="微软雅黑"/>
                  <a:ea typeface="微软雅黑"/>
                  <a:cs typeface="微软雅黑"/>
                  <a:sym typeface="微软雅黑"/>
                </a:rPr>
                <a:t>洞察</a:t>
              </a:r>
              <a:endParaRPr kumimoji="1" lang="zh-CN" altLang="en-US" sz="1200" b="1" dirty="0">
                <a:solidFill>
                  <a:srgbClr val="FFFFFF"/>
                </a:solidFill>
                <a:latin typeface="微软雅黑"/>
                <a:ea typeface="微软雅黑"/>
                <a:cs typeface="微软雅黑"/>
                <a:sym typeface="微软雅黑"/>
              </a:endParaRPr>
            </a:p>
          </p:txBody>
        </p:sp>
        <p:sp>
          <p:nvSpPr>
            <p:cNvPr id="141" name="熊大的PPT宝库58"/>
            <p:cNvSpPr/>
            <p:nvPr/>
          </p:nvSpPr>
          <p:spPr>
            <a:xfrm>
              <a:off x="13873" y="4921"/>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行业趋势</a:t>
              </a:r>
              <a:endParaRPr lang="zh-CN" altLang="en-US" sz="1000" dirty="0">
                <a:solidFill>
                  <a:srgbClr val="383838"/>
                </a:solidFill>
                <a:latin typeface="微软雅黑"/>
                <a:ea typeface="微软雅黑"/>
                <a:cs typeface="微软雅黑"/>
                <a:sym typeface="微软雅黑"/>
              </a:endParaRPr>
            </a:p>
          </p:txBody>
        </p:sp>
        <p:sp>
          <p:nvSpPr>
            <p:cNvPr id="143" name="熊大的PPT宝库59"/>
            <p:cNvSpPr/>
            <p:nvPr/>
          </p:nvSpPr>
          <p:spPr>
            <a:xfrm>
              <a:off x="15936" y="4921"/>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行业机会</a:t>
              </a:r>
              <a:endParaRPr lang="zh-CN" altLang="en-US" sz="1000" dirty="0">
                <a:solidFill>
                  <a:srgbClr val="383838"/>
                </a:solidFill>
                <a:latin typeface="微软雅黑"/>
                <a:ea typeface="微软雅黑"/>
                <a:cs typeface="微软雅黑"/>
                <a:sym typeface="微软雅黑"/>
              </a:endParaRPr>
            </a:p>
          </p:txBody>
        </p:sp>
        <p:sp>
          <p:nvSpPr>
            <p:cNvPr id="144" name="熊大的PPT宝库60"/>
            <p:cNvSpPr/>
            <p:nvPr/>
          </p:nvSpPr>
          <p:spPr>
            <a:xfrm>
              <a:off x="13873" y="5413"/>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行业热点</a:t>
              </a:r>
              <a:endParaRPr lang="zh-CN" altLang="en-US" sz="1000" dirty="0">
                <a:solidFill>
                  <a:srgbClr val="383838"/>
                </a:solidFill>
                <a:latin typeface="微软雅黑"/>
                <a:ea typeface="微软雅黑"/>
                <a:cs typeface="微软雅黑"/>
                <a:sym typeface="微软雅黑"/>
              </a:endParaRPr>
            </a:p>
          </p:txBody>
        </p:sp>
        <p:sp>
          <p:nvSpPr>
            <p:cNvPr id="145" name="熊大的PPT宝库61"/>
            <p:cNvSpPr/>
            <p:nvPr/>
          </p:nvSpPr>
          <p:spPr>
            <a:xfrm>
              <a:off x="15928" y="5413"/>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行业竞争</a:t>
              </a:r>
              <a:endParaRPr lang="zh-CN" altLang="en-US" sz="1000" dirty="0">
                <a:solidFill>
                  <a:srgbClr val="383838"/>
                </a:solidFill>
                <a:latin typeface="微软雅黑"/>
                <a:ea typeface="微软雅黑"/>
                <a:cs typeface="微软雅黑"/>
                <a:sym typeface="微软雅黑"/>
              </a:endParaRPr>
            </a:p>
          </p:txBody>
        </p:sp>
      </p:grpSp>
      <p:sp>
        <p:nvSpPr>
          <p:cNvPr id="458" name="显眼包PPT38"/>
          <p:cNvSpPr txBox="1"/>
          <p:nvPr/>
        </p:nvSpPr>
        <p:spPr>
          <a:xfrm>
            <a:off x="3743325" y="5140325"/>
            <a:ext cx="3767455" cy="525780"/>
          </a:xfrm>
          <a:prstGeom prst="rect">
            <a:avLst/>
          </a:prstGeom>
          <a:no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algn="ctr">
              <a:defRPr sz="1200">
                <a:solidFill>
                  <a:srgbClr val="0042FF"/>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defTabSz="457200">
              <a:defRPr>
                <a:latin typeface="微软雅黑"/>
                <a:ea typeface="微软雅黑"/>
                <a:cs typeface="微软雅黑"/>
              </a:defRPr>
            </a:pPr>
            <a:endParaRPr kumimoji="0" lang="zh-CN" altLang="en-US" sz="1000" b="0" i="0" u="none" strike="noStrike" kern="1200" cap="none" spc="0" normalizeH="0" baseline="0" noProof="0" dirty="0">
              <a:ln>
                <a:noFill/>
              </a:ln>
              <a:solidFill>
                <a:srgbClr val="0042FF"/>
              </a:solidFill>
              <a:effectLst/>
              <a:uLnTx/>
              <a:uFillTx/>
              <a:latin typeface="微软雅黑"/>
              <a:cs typeface="微软雅黑"/>
              <a:ea typeface="微软雅黑"/>
            </a:endParaRPr>
          </a:p>
        </p:txBody>
      </p:sp>
      <p:sp>
        <p:nvSpPr>
          <p:cNvPr id="328" name="显眼包PPT35"/>
          <p:cNvSpPr txBox="1"/>
          <p:nvPr/>
        </p:nvSpPr>
        <p:spPr>
          <a:xfrm>
            <a:off x="4026617" y="4985381"/>
            <a:ext cx="3200400" cy="257810"/>
          </a:xfrm>
          <a:prstGeom prst="rect">
            <a:avLst/>
          </a:prstGeom>
          <a:noFill/>
        </p:spPr>
        <p:txBody>
          <a:bodyPr wrap="none" lIns="0" tIns="0" rIns="0" bIns="0" rtlCol="0">
            <a:spAutoFit/>
          </a:bodyPr>
          <a:lstStyle/>
          <a:p>
            <a:pPr marL="0" marR="0" lvl="0" indent="0" algn="ctr" defTabSz="914400" rtl="0" eaLnBrk="1" fontAlgn="auto" latinLnBrk="0" hangingPunct="1">
              <a:lnSpc>
                <a:spcPct val="120000"/>
              </a:lnSpc>
              <a:spcBef>
                <a:spcPts val="0"/>
              </a:spcBef>
              <a:spcAft>
                <a:spcPts val="1200"/>
              </a:spcAft>
              <a:buClrTx/>
              <a:buSzTx/>
              <a:buFontTx/>
              <a:buNone/>
              <a:defRPr>
                <a:latin typeface="微软雅黑"/>
                <a:ea typeface="微软雅黑"/>
                <a:cs typeface="微软雅黑"/>
              </a:defRPr>
            </a:pPr>
            <a:r>
              <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rPr>
              <a:t>高效收集和整理大量市场信息与用户反馈</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58" name="文本框 157"/>
          <p:cNvSpPr txBox="1"/>
          <p:nvPr/>
        </p:nvSpPr>
        <p:spPr>
          <a:xfrm>
            <a:off x="4343400" y="5241925"/>
            <a:ext cx="2570480" cy="398780"/>
          </a:xfrm>
          <a:prstGeom prst="rect">
            <a:avLst/>
          </a:prstGeom>
        </p:spPr>
        <p:txBody>
          <a:bodyPr wrap="square" lIns="0" rIns="0" tIns="0" bIns="0">
            <a:spAutoFit/>
            <a:extLst>
              <a:ext uri="{4A0BC546-FE56-4ADE-93B0-CB8AF2F6F144}">
                <wpsdc:textFrameExt xmlns:wpsdc="http://www.wps.cn/officeDocument/2022/drawingmlCustomData" type="text"/>
              </a:ext>
            </a:extLst>
          </a:bodyPr>
          <a:p>
            <a:pPr algn="ctr" defTabSz="457200">
              <a:defRPr>
                <a:latin typeface="微软雅黑"/>
                <a:ea typeface="微软雅黑"/>
                <a:cs typeface="微软雅黑"/>
              </a:defRPr>
            </a:pPr>
            <a:r>
              <a:rPr lang="zh-CN" altLang="en-US" sz="1000" dirty="0">
                <a:solidFill>
                  <a:srgbClr val="383838"/>
                </a:solidFill>
                <a:latin typeface="微软雅黑"/>
                <a:sym typeface="微软雅黑"/>
                <a:ea typeface="微软雅黑"/>
                <a:cs typeface="微软雅黑"/>
              </a:rPr>
              <a:t>帮助营销人员理解消费者的需求以及市场流行趋势，从而指导广告策略的制定</a:t>
            </a:r>
            <a:endParaRPr lang="en-US" altLang="zh-CN" sz="1000">
              <a:latin typeface="微软雅黑"/>
              <a:ea typeface="微软雅黑"/>
              <a:cs typeface="微软雅黑"/>
            </a:endParaRPr>
          </a:p>
        </p:txBody>
      </p:sp>
      <p:grpSp>
        <p:nvGrpSpPr>
          <p:cNvPr id="166" name="组合 165"/>
          <p:cNvGrpSpPr/>
          <p:nvPr/>
        </p:nvGrpSpPr>
        <p:grpSpPr>
          <a:xfrm>
            <a:off x="502285" y="4810125"/>
            <a:ext cx="3089910" cy="984250"/>
            <a:chOff x="1688" y="11047"/>
            <a:chExt cx="4866" cy="1550"/>
          </a:xfrm>
        </p:grpSpPr>
        <p:sp>
          <p:nvSpPr>
            <p:cNvPr id="162" name="任意多边形 161"/>
            <p:cNvSpPr/>
            <p:nvPr>
              <p:custDataLst>
                <p:tags r:id="rId6"/>
              </p:custDataLst>
            </p:nvPr>
          </p:nvSpPr>
          <p:spPr>
            <a:xfrm>
              <a:off x="1688" y="11047"/>
              <a:ext cx="4866" cy="1551"/>
            </a:xfrm>
            <a:custGeom>
              <a:avLst/>
              <a:gdLst>
                <a:gd name="connsiteX0" fmla="*/ 0 w 4866"/>
                <a:gd name="connsiteY0" fmla="*/ 1551 h 1551"/>
                <a:gd name="connsiteX1" fmla="*/ 1166 w 4866"/>
                <a:gd name="connsiteY1" fmla="*/ 2 h 1551"/>
                <a:gd name="connsiteX2" fmla="*/ 4866 w 4866"/>
                <a:gd name="connsiteY2" fmla="*/ 0 h 1551"/>
                <a:gd name="connsiteX3" fmla="*/ 4482 w 4866"/>
                <a:gd name="connsiteY3" fmla="*/ 1536 h 1551"/>
                <a:gd name="connsiteX4" fmla="*/ 0 w 4866"/>
                <a:gd name="connsiteY4" fmla="*/ 1551 h 1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6" h="1551">
                  <a:moveTo>
                    <a:pt x="0" y="1551"/>
                  </a:moveTo>
                  <a:lnTo>
                    <a:pt x="1166" y="2"/>
                  </a:lnTo>
                  <a:lnTo>
                    <a:pt x="4866" y="0"/>
                  </a:lnTo>
                  <a:lnTo>
                    <a:pt x="4482" y="1536"/>
                  </a:lnTo>
                  <a:lnTo>
                    <a:pt x="0" y="1551"/>
                  </a:ln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63" name="任意多边形 162"/>
            <p:cNvSpPr/>
            <p:nvPr>
              <p:custDataLst>
                <p:tags r:id="rId7"/>
              </p:custDataLst>
            </p:nvPr>
          </p:nvSpPr>
          <p:spPr>
            <a:xfrm>
              <a:off x="1688" y="11047"/>
              <a:ext cx="4866" cy="1551"/>
            </a:xfrm>
            <a:custGeom>
              <a:avLst/>
              <a:gdLst>
                <a:gd name="connsiteX0" fmla="*/ 0 w 4866"/>
                <a:gd name="connsiteY0" fmla="*/ 1551 h 1551"/>
                <a:gd name="connsiteX1" fmla="*/ 1166 w 4866"/>
                <a:gd name="connsiteY1" fmla="*/ 2 h 1551"/>
                <a:gd name="connsiteX2" fmla="*/ 4866 w 4866"/>
                <a:gd name="connsiteY2" fmla="*/ 0 h 1551"/>
                <a:gd name="connsiteX3" fmla="*/ 4482 w 4866"/>
                <a:gd name="connsiteY3" fmla="*/ 1536 h 1551"/>
                <a:gd name="connsiteX4" fmla="*/ 0 w 4866"/>
                <a:gd name="connsiteY4" fmla="*/ 1551 h 1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6" h="1551">
                  <a:moveTo>
                    <a:pt x="0" y="1551"/>
                  </a:moveTo>
                  <a:lnTo>
                    <a:pt x="1166" y="2"/>
                  </a:lnTo>
                  <a:lnTo>
                    <a:pt x="4866" y="0"/>
                  </a:lnTo>
                  <a:lnTo>
                    <a:pt x="4482" y="1536"/>
                  </a:lnTo>
                  <a:lnTo>
                    <a:pt x="0" y="1551"/>
                  </a:lnTo>
                  <a:close/>
                </a:path>
              </a:pathLst>
            </a:custGeom>
            <a:gradFill flip="none" rotWithShape="1">
              <a:gsLst>
                <a:gs pos="0">
                  <a:srgbClr val="E6E6E6">
                    <a:alpha val="0"/>
                  </a:srgbClr>
                </a:gs>
                <a:gs pos="100000">
                  <a:srgbClr val="3368FF"/>
                </a:gs>
              </a:gsLst>
              <a:lin ang="5280000" scaled="0"/>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167" name="组合 166"/>
          <p:cNvGrpSpPr/>
          <p:nvPr/>
        </p:nvGrpSpPr>
        <p:grpSpPr>
          <a:xfrm>
            <a:off x="1278255" y="3019425"/>
            <a:ext cx="1499870" cy="339090"/>
            <a:chOff x="1829" y="4755"/>
            <a:chExt cx="2362" cy="534"/>
          </a:xfrm>
        </p:grpSpPr>
        <p:sp>
          <p:nvSpPr>
            <p:cNvPr id="168" name="熊大的PPT宝库6"/>
            <p:cNvSpPr/>
            <p:nvPr/>
          </p:nvSpPr>
          <p:spPr>
            <a:xfrm>
              <a:off x="1829" y="4755"/>
              <a:ext cx="2362" cy="534"/>
            </a:xfrm>
            <a:prstGeom prst="roundRect">
              <a:avLst>
                <a:gd name="adj" fmla="val 50000"/>
              </a:avLst>
            </a:prstGeom>
            <a:solidFill>
              <a:srgbClr val="E6E6E6">
                <a:alpha val="15079"/>
              </a:srgbClr>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defTabSz="457200">
                <a:defRPr>
                  <a:latin typeface="微软雅黑"/>
                  <a:ea typeface="微软雅黑"/>
                  <a:cs typeface="微软雅黑"/>
                </a:defRPr>
              </a:pPr>
              <a:endParaRPr lang="zh-CN" altLang="en-US" sz="1600" dirty="0">
                <a:latin typeface="微软雅黑"/>
                <a:cs typeface="微软雅黑"/>
                <a:sym typeface="微软雅黑"/>
                <a:ea typeface="微软雅黑"/>
              </a:endParaRPr>
            </a:p>
          </p:txBody>
        </p:sp>
        <p:sp>
          <p:nvSpPr>
            <p:cNvPr id="169" name="熊大的PPT宝库11"/>
            <p:cNvSpPr txBox="1"/>
            <p:nvPr/>
          </p:nvSpPr>
          <p:spPr>
            <a:xfrm>
              <a:off x="2170" y="4853"/>
              <a:ext cx="1680" cy="339"/>
            </a:xfrm>
            <a:prstGeom prst="rect">
              <a:avLst/>
            </a:prstGeom>
            <a:noFill/>
            <a:ln>
              <a:noFill/>
            </a:ln>
            <a:extLst>
              <a:ext uri="{909E8E84-426E-40DD-AFC4-6F175D3DCCD1}">
                <a14:hiddenFill xmlns:a14="http://schemas.microsoft.com/office/drawing/2010/main">
                  <a:solidFill>
                    <a:srgbClr val="E6E6E6"/>
                  </a:solidFill>
                </a14:hiddenFill>
              </a:ext>
            </a:extLst>
          </p:spPr>
          <p:txBody>
            <a:bodyPr wrap="none" lIns="0" tIns="0" rIns="0" bIns="0" rtlCol="0">
              <a:spAutoFit/>
            </a:bodyPr>
            <a:lstStyle/>
            <a:p>
              <a:pPr algn="ctr" defTabSz="457200">
                <a:defRPr>
                  <a:latin typeface="微软雅黑"/>
                  <a:ea typeface="微软雅黑"/>
                  <a:cs typeface="微软雅黑"/>
                </a:defRPr>
              </a:pPr>
              <a:r>
                <a:rPr lang="zh-CN" altLang="en-US" sz="1400" dirty="0">
                  <a:solidFill>
                    <a:srgbClr val="383838"/>
                  </a:solidFill>
                  <a:latin typeface="微软雅黑"/>
                  <a:sym typeface="微软雅黑"/>
                  <a:ea typeface="微软雅黑"/>
                  <a:cs typeface="微软雅黑"/>
                </a:rPr>
                <a:t>用户画像数据</a:t>
              </a:r>
              <a:endParaRPr lang="zh-CN" altLang="en-US" sz="1400" dirty="0">
                <a:solidFill>
                  <a:srgbClr val="383838"/>
                </a:solidFill>
                <a:latin typeface="微软雅黑"/>
                <a:sym typeface="微软雅黑"/>
                <a:ea typeface="微软雅黑"/>
                <a:cs typeface="微软雅黑"/>
              </a:endParaRPr>
            </a:p>
          </p:txBody>
        </p:sp>
      </p:grpSp>
      <p:grpSp>
        <p:nvGrpSpPr>
          <p:cNvPr id="170" name="组合 169"/>
          <p:cNvGrpSpPr/>
          <p:nvPr/>
        </p:nvGrpSpPr>
        <p:grpSpPr>
          <a:xfrm>
            <a:off x="1278255" y="3525520"/>
            <a:ext cx="1499870" cy="339090"/>
            <a:chOff x="1829" y="4755"/>
            <a:chExt cx="2362" cy="534"/>
          </a:xfrm>
        </p:grpSpPr>
        <p:sp>
          <p:nvSpPr>
            <p:cNvPr id="171" name="熊大的PPT宝库6"/>
            <p:cNvSpPr/>
            <p:nvPr/>
          </p:nvSpPr>
          <p:spPr>
            <a:xfrm>
              <a:off x="1829" y="4755"/>
              <a:ext cx="2362" cy="534"/>
            </a:xfrm>
            <a:prstGeom prst="roundRect">
              <a:avLst>
                <a:gd name="adj" fmla="val 50000"/>
              </a:avLst>
            </a:prstGeom>
            <a:solidFill>
              <a:srgbClr val="E6E6E6">
                <a:alpha val="15079"/>
              </a:srgbClr>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defTabSz="457200">
                <a:defRPr>
                  <a:latin typeface="微软雅黑"/>
                  <a:ea typeface="微软雅黑"/>
                  <a:cs typeface="微软雅黑"/>
                </a:defRPr>
              </a:pPr>
              <a:endParaRPr lang="zh-CN" altLang="en-US" sz="1600" dirty="0">
                <a:latin typeface="微软雅黑"/>
                <a:cs typeface="微软雅黑"/>
                <a:sym typeface="微软雅黑"/>
                <a:ea typeface="微软雅黑"/>
              </a:endParaRPr>
            </a:p>
          </p:txBody>
        </p:sp>
        <p:sp>
          <p:nvSpPr>
            <p:cNvPr id="172" name="熊大的PPT宝库11"/>
            <p:cNvSpPr txBox="1"/>
            <p:nvPr/>
          </p:nvSpPr>
          <p:spPr>
            <a:xfrm>
              <a:off x="2450" y="4853"/>
              <a:ext cx="1120" cy="339"/>
            </a:xfrm>
            <a:prstGeom prst="rect">
              <a:avLst/>
            </a:prstGeom>
            <a:noFill/>
            <a:ln>
              <a:noFill/>
            </a:ln>
            <a:extLst>
              <a:ext uri="{909E8E84-426E-40DD-AFC4-6F175D3DCCD1}">
                <a14:hiddenFill xmlns:a14="http://schemas.microsoft.com/office/drawing/2010/main">
                  <a:solidFill>
                    <a:srgbClr val="E6E6E6"/>
                  </a:solidFill>
                </a14:hiddenFill>
              </a:ext>
            </a:extLst>
          </p:spPr>
          <p:txBody>
            <a:bodyPr wrap="none" lIns="0" tIns="0" rIns="0" bIns="0" rtlCol="0">
              <a:spAutoFit/>
            </a:bodyPr>
            <a:lstStyle/>
            <a:p>
              <a:pPr algn="ctr" defTabSz="457200">
                <a:defRPr>
                  <a:latin typeface="微软雅黑"/>
                  <a:ea typeface="微软雅黑"/>
                  <a:cs typeface="微软雅黑"/>
                </a:defRPr>
              </a:pPr>
              <a:r>
                <a:rPr lang="zh-CN" altLang="en-US" sz="1400" dirty="0">
                  <a:solidFill>
                    <a:srgbClr val="383838"/>
                  </a:solidFill>
                  <a:latin typeface="微软雅黑"/>
                  <a:sym typeface="微软雅黑"/>
                  <a:ea typeface="微软雅黑"/>
                  <a:cs typeface="微软雅黑"/>
                </a:rPr>
                <a:t>浏览数据</a:t>
              </a:r>
              <a:endParaRPr lang="zh-CN" altLang="en-US" sz="1400" dirty="0">
                <a:solidFill>
                  <a:srgbClr val="383838"/>
                </a:solidFill>
                <a:latin typeface="微软雅黑"/>
                <a:sym typeface="微软雅黑"/>
                <a:ea typeface="微软雅黑"/>
                <a:cs typeface="微软雅黑"/>
              </a:endParaRPr>
            </a:p>
          </p:txBody>
        </p:sp>
      </p:grpSp>
      <p:grpSp>
        <p:nvGrpSpPr>
          <p:cNvPr id="173" name="组合 172"/>
          <p:cNvGrpSpPr/>
          <p:nvPr/>
        </p:nvGrpSpPr>
        <p:grpSpPr>
          <a:xfrm>
            <a:off x="1278255" y="4031615"/>
            <a:ext cx="1499870" cy="339090"/>
            <a:chOff x="1829" y="4755"/>
            <a:chExt cx="2362" cy="534"/>
          </a:xfrm>
        </p:grpSpPr>
        <p:sp>
          <p:nvSpPr>
            <p:cNvPr id="174" name="熊大的PPT宝库6"/>
            <p:cNvSpPr/>
            <p:nvPr/>
          </p:nvSpPr>
          <p:spPr>
            <a:xfrm>
              <a:off x="1829" y="4755"/>
              <a:ext cx="2362" cy="534"/>
            </a:xfrm>
            <a:prstGeom prst="roundRect">
              <a:avLst>
                <a:gd name="adj" fmla="val 50000"/>
              </a:avLst>
            </a:prstGeom>
            <a:solidFill>
              <a:srgbClr val="E6E6E6">
                <a:alpha val="15079"/>
              </a:srgbClr>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defTabSz="457200">
                <a:defRPr>
                  <a:latin typeface="微软雅黑"/>
                  <a:ea typeface="微软雅黑"/>
                  <a:cs typeface="微软雅黑"/>
                </a:defRPr>
              </a:pPr>
              <a:endParaRPr lang="zh-CN" altLang="en-US" sz="1600" dirty="0">
                <a:latin typeface="微软雅黑"/>
                <a:cs typeface="微软雅黑"/>
                <a:sym typeface="微软雅黑"/>
                <a:ea typeface="微软雅黑"/>
              </a:endParaRPr>
            </a:p>
          </p:txBody>
        </p:sp>
        <p:sp>
          <p:nvSpPr>
            <p:cNvPr id="175" name="熊大的PPT宝库11"/>
            <p:cNvSpPr txBox="1"/>
            <p:nvPr/>
          </p:nvSpPr>
          <p:spPr>
            <a:xfrm>
              <a:off x="2450" y="4853"/>
              <a:ext cx="1120" cy="339"/>
            </a:xfrm>
            <a:prstGeom prst="rect">
              <a:avLst/>
            </a:prstGeom>
            <a:noFill/>
            <a:ln>
              <a:noFill/>
            </a:ln>
            <a:extLst>
              <a:ext uri="{909E8E84-426E-40DD-AFC4-6F175D3DCCD1}">
                <a14:hiddenFill xmlns:a14="http://schemas.microsoft.com/office/drawing/2010/main">
                  <a:solidFill>
                    <a:srgbClr val="E6E6E6"/>
                  </a:solidFill>
                </a14:hiddenFill>
              </a:ext>
            </a:extLst>
          </p:spPr>
          <p:txBody>
            <a:bodyPr wrap="none" lIns="0" tIns="0" rIns="0" bIns="0" rtlCol="0">
              <a:spAutoFit/>
            </a:bodyPr>
            <a:lstStyle/>
            <a:p>
              <a:pPr algn="ctr" defTabSz="457200">
                <a:defRPr>
                  <a:latin typeface="微软雅黑"/>
                  <a:ea typeface="微软雅黑"/>
                  <a:cs typeface="微软雅黑"/>
                </a:defRPr>
              </a:pPr>
              <a:r>
                <a:rPr lang="zh-CN" altLang="en-US" sz="1400" dirty="0">
                  <a:solidFill>
                    <a:srgbClr val="383838"/>
                  </a:solidFill>
                  <a:latin typeface="微软雅黑"/>
                  <a:sym typeface="微软雅黑"/>
                  <a:ea typeface="微软雅黑"/>
                  <a:cs typeface="微软雅黑"/>
                </a:rPr>
                <a:t>查询数据</a:t>
              </a:r>
              <a:endParaRPr lang="zh-CN" altLang="en-US" sz="1400" dirty="0">
                <a:solidFill>
                  <a:srgbClr val="383838"/>
                </a:solidFill>
                <a:latin typeface="微软雅黑"/>
                <a:sym typeface="微软雅黑"/>
                <a:ea typeface="微软雅黑"/>
                <a:cs typeface="微软雅黑"/>
              </a:endParaRPr>
            </a:p>
          </p:txBody>
        </p:sp>
      </p:grpSp>
      <p:grpSp>
        <p:nvGrpSpPr>
          <p:cNvPr id="176" name="组合 175"/>
          <p:cNvGrpSpPr/>
          <p:nvPr/>
        </p:nvGrpSpPr>
        <p:grpSpPr>
          <a:xfrm>
            <a:off x="1278255" y="4537710"/>
            <a:ext cx="1499870" cy="339090"/>
            <a:chOff x="1829" y="4755"/>
            <a:chExt cx="2362" cy="534"/>
          </a:xfrm>
        </p:grpSpPr>
        <p:sp>
          <p:nvSpPr>
            <p:cNvPr id="177" name="熊大的PPT宝库6"/>
            <p:cNvSpPr/>
            <p:nvPr/>
          </p:nvSpPr>
          <p:spPr>
            <a:xfrm>
              <a:off x="1829" y="4755"/>
              <a:ext cx="2362" cy="534"/>
            </a:xfrm>
            <a:prstGeom prst="roundRect">
              <a:avLst>
                <a:gd name="adj" fmla="val 50000"/>
              </a:avLst>
            </a:prstGeom>
            <a:solidFill>
              <a:srgbClr val="E6E6E6">
                <a:alpha val="15079"/>
              </a:srgbClr>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defTabSz="457200">
                <a:defRPr>
                  <a:latin typeface="微软雅黑"/>
                  <a:ea typeface="微软雅黑"/>
                  <a:cs typeface="微软雅黑"/>
                </a:defRPr>
              </a:pPr>
              <a:endParaRPr lang="zh-CN" altLang="en-US" sz="1600" dirty="0">
                <a:latin typeface="微软雅黑"/>
                <a:cs typeface="微软雅黑"/>
                <a:sym typeface="微软雅黑"/>
                <a:ea typeface="微软雅黑"/>
              </a:endParaRPr>
            </a:p>
          </p:txBody>
        </p:sp>
        <p:sp>
          <p:nvSpPr>
            <p:cNvPr id="178" name="熊大的PPT宝库11"/>
            <p:cNvSpPr txBox="1"/>
            <p:nvPr/>
          </p:nvSpPr>
          <p:spPr>
            <a:xfrm>
              <a:off x="2450" y="4853"/>
              <a:ext cx="1120" cy="339"/>
            </a:xfrm>
            <a:prstGeom prst="rect">
              <a:avLst/>
            </a:prstGeom>
            <a:noFill/>
            <a:ln>
              <a:noFill/>
            </a:ln>
            <a:extLst>
              <a:ext uri="{909E8E84-426E-40DD-AFC4-6F175D3DCCD1}">
                <a14:hiddenFill xmlns:a14="http://schemas.microsoft.com/office/drawing/2010/main">
                  <a:solidFill>
                    <a:srgbClr val="E6E6E6"/>
                  </a:solidFill>
                </a14:hiddenFill>
              </a:ext>
            </a:extLst>
          </p:spPr>
          <p:txBody>
            <a:bodyPr wrap="none" lIns="0" tIns="0" rIns="0" bIns="0" rtlCol="0">
              <a:spAutoFit/>
            </a:bodyPr>
            <a:lstStyle/>
            <a:p>
              <a:pPr algn="ctr" defTabSz="457200">
                <a:defRPr>
                  <a:latin typeface="微软雅黑"/>
                  <a:ea typeface="微软雅黑"/>
                  <a:cs typeface="微软雅黑"/>
                </a:defRPr>
              </a:pPr>
              <a:r>
                <a:rPr lang="zh-CN" altLang="en-US" sz="1400" dirty="0">
                  <a:solidFill>
                    <a:srgbClr val="383838"/>
                  </a:solidFill>
                  <a:latin typeface="微软雅黑"/>
                  <a:sym typeface="微软雅黑"/>
                  <a:ea typeface="微软雅黑"/>
                  <a:cs typeface="微软雅黑"/>
                </a:rPr>
                <a:t>交易数据</a:t>
              </a:r>
              <a:endParaRPr lang="zh-CN" altLang="en-US" sz="1400" dirty="0">
                <a:solidFill>
                  <a:srgbClr val="383838"/>
                </a:solidFill>
                <a:latin typeface="微软雅黑"/>
                <a:sym typeface="微软雅黑"/>
                <a:ea typeface="微软雅黑"/>
                <a:cs typeface="微软雅黑"/>
              </a:endParaRPr>
            </a:p>
          </p:txBody>
        </p:sp>
      </p:grpSp>
      <p:sp>
        <p:nvSpPr>
          <p:cNvPr id="179" name="熊大的PPT宝库62"/>
          <p:cNvSpPr/>
          <p:nvPr/>
        </p:nvSpPr>
        <p:spPr>
          <a:xfrm>
            <a:off x="3025912" y="3901678"/>
            <a:ext cx="203795" cy="284110"/>
          </a:xfrm>
          <a:prstGeom prst="chevron">
            <a:avLst/>
          </a:prstGeom>
          <a:gradFill>
            <a:gsLst>
              <a:gs pos="0">
                <a:srgbClr val="E6E6E6"/>
              </a:gs>
              <a:gs pos="100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solidFill>
                <a:srgbClr val="383838"/>
              </a:solidFill>
              <a:latin typeface="微软雅黑"/>
              <a:ea typeface="微软雅黑"/>
              <a:sym typeface="微软雅黑"/>
              <a:cs typeface="微软雅黑"/>
            </a:endParaRPr>
          </a:p>
        </p:txBody>
      </p:sp>
      <p:sp>
        <p:nvSpPr>
          <p:cNvPr id="180" name="任意多边形: 形状 39"/>
          <p:cNvSpPr/>
          <p:nvPr>
            <p:custDataLst>
              <p:tags r:id="rId8"/>
            </p:custDataLst>
          </p:nvPr>
        </p:nvSpPr>
        <p:spPr>
          <a:xfrm flipH="1">
            <a:off x="3339465" y="2194560"/>
            <a:ext cx="252730" cy="3600450"/>
          </a:xfrm>
          <a:custGeom>
            <a:avLst/>
            <a:gdLst>
              <a:gd name="connsiteX0" fmla="*/ 701040 w 701040"/>
              <a:gd name="connsiteY0" fmla="*/ 2778760 h 2778760"/>
              <a:gd name="connsiteX1" fmla="*/ 0 w 701040"/>
              <a:gd name="connsiteY1" fmla="*/ 1844040 h 2778760"/>
              <a:gd name="connsiteX2" fmla="*/ 0 w 701040"/>
              <a:gd name="connsiteY2" fmla="*/ 0 h 2778760"/>
              <a:gd name="connsiteX3" fmla="*/ 701040 w 701040"/>
              <a:gd name="connsiteY3" fmla="*/ 629920 h 2778760"/>
              <a:gd name="connsiteX4" fmla="*/ 701040 w 701040"/>
              <a:gd name="connsiteY4" fmla="*/ 2778760 h 2778760"/>
              <a:gd name="connsiteX0-1" fmla="*/ 701040 w 701040"/>
              <a:gd name="connsiteY0-2" fmla="*/ 2778760 h 2778760"/>
              <a:gd name="connsiteX1-3" fmla="*/ 469900 w 701040"/>
              <a:gd name="connsiteY1-4" fmla="*/ 1833880 h 2778760"/>
              <a:gd name="connsiteX2-5" fmla="*/ 0 w 701040"/>
              <a:gd name="connsiteY2-6" fmla="*/ 0 h 2778760"/>
              <a:gd name="connsiteX3-7" fmla="*/ 701040 w 701040"/>
              <a:gd name="connsiteY3-8" fmla="*/ 629920 h 2778760"/>
              <a:gd name="connsiteX4-9" fmla="*/ 701040 w 701040"/>
              <a:gd name="connsiteY4-10" fmla="*/ 2778760 h 2778760"/>
              <a:gd name="connsiteX0-11" fmla="*/ 236220 w 236220"/>
              <a:gd name="connsiteY0-12" fmla="*/ 2805430 h 2805430"/>
              <a:gd name="connsiteX1-13" fmla="*/ 5080 w 236220"/>
              <a:gd name="connsiteY1-14" fmla="*/ 1860550 h 2805430"/>
              <a:gd name="connsiteX2-15" fmla="*/ 0 w 236220"/>
              <a:gd name="connsiteY2-16" fmla="*/ 0 h 2805430"/>
              <a:gd name="connsiteX3-17" fmla="*/ 236220 w 236220"/>
              <a:gd name="connsiteY3-18" fmla="*/ 656590 h 2805430"/>
              <a:gd name="connsiteX4-19" fmla="*/ 236220 w 236220"/>
              <a:gd name="connsiteY4-20" fmla="*/ 2805430 h 280543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98" h="5670">
                <a:moveTo>
                  <a:pt x="2" y="1282"/>
                </a:moveTo>
                <a:cubicBezTo>
                  <a:pt x="1" y="1199"/>
                  <a:pt x="1" y="1117"/>
                  <a:pt x="1" y="1063"/>
                </a:cubicBezTo>
                <a:cubicBezTo>
                  <a:pt x="0" y="922"/>
                  <a:pt x="0" y="765"/>
                  <a:pt x="0" y="712"/>
                </a:cubicBezTo>
                <a:lnTo>
                  <a:pt x="2" y="717"/>
                </a:lnTo>
                <a:cubicBezTo>
                  <a:pt x="2" y="650"/>
                  <a:pt x="1" y="470"/>
                  <a:pt x="1" y="351"/>
                </a:cubicBezTo>
                <a:cubicBezTo>
                  <a:pt x="0" y="210"/>
                  <a:pt x="0" y="53"/>
                  <a:pt x="0" y="0"/>
                </a:cubicBezTo>
                <a:lnTo>
                  <a:pt x="398" y="994"/>
                </a:lnTo>
                <a:cubicBezTo>
                  <a:pt x="397" y="1218"/>
                  <a:pt x="396" y="1601"/>
                  <a:pt x="396" y="1701"/>
                </a:cubicBezTo>
                <a:lnTo>
                  <a:pt x="398" y="1706"/>
                </a:lnTo>
                <a:cubicBezTo>
                  <a:pt x="398" y="1842"/>
                  <a:pt x="397" y="2063"/>
                  <a:pt x="397" y="2182"/>
                </a:cubicBezTo>
                <a:cubicBezTo>
                  <a:pt x="397" y="2257"/>
                  <a:pt x="396" y="2395"/>
                  <a:pt x="396" y="2414"/>
                </a:cubicBezTo>
                <a:lnTo>
                  <a:pt x="398" y="2418"/>
                </a:lnTo>
                <a:cubicBezTo>
                  <a:pt x="398" y="2554"/>
                  <a:pt x="397" y="2775"/>
                  <a:pt x="397" y="2894"/>
                </a:cubicBezTo>
                <a:cubicBezTo>
                  <a:pt x="396" y="3108"/>
                  <a:pt x="396" y="3397"/>
                  <a:pt x="395" y="3538"/>
                </a:cubicBezTo>
                <a:cubicBezTo>
                  <a:pt x="396" y="3761"/>
                  <a:pt x="397" y="4042"/>
                  <a:pt x="398" y="4183"/>
                </a:cubicBezTo>
                <a:lnTo>
                  <a:pt x="398" y="4196"/>
                </a:lnTo>
                <a:lnTo>
                  <a:pt x="398" y="4209"/>
                </a:lnTo>
                <a:lnTo>
                  <a:pt x="398" y="4222"/>
                </a:lnTo>
                <a:lnTo>
                  <a:pt x="398" y="4234"/>
                </a:lnTo>
                <a:lnTo>
                  <a:pt x="398" y="4246"/>
                </a:lnTo>
                <a:lnTo>
                  <a:pt x="395" y="4237"/>
                </a:lnTo>
                <a:cubicBezTo>
                  <a:pt x="396" y="4454"/>
                  <a:pt x="397" y="4753"/>
                  <a:pt x="398" y="4895"/>
                </a:cubicBezTo>
                <a:lnTo>
                  <a:pt x="398" y="4908"/>
                </a:lnTo>
                <a:lnTo>
                  <a:pt x="398" y="4921"/>
                </a:lnTo>
                <a:lnTo>
                  <a:pt x="398" y="4934"/>
                </a:lnTo>
                <a:lnTo>
                  <a:pt x="398" y="4946"/>
                </a:lnTo>
                <a:lnTo>
                  <a:pt x="398" y="4958"/>
                </a:lnTo>
                <a:lnTo>
                  <a:pt x="395" y="4948"/>
                </a:lnTo>
                <a:cubicBezTo>
                  <a:pt x="395" y="5033"/>
                  <a:pt x="396" y="5171"/>
                  <a:pt x="396" y="5254"/>
                </a:cubicBezTo>
                <a:cubicBezTo>
                  <a:pt x="397" y="5418"/>
                  <a:pt x="397" y="5599"/>
                  <a:pt x="398" y="5670"/>
                </a:cubicBezTo>
                <a:lnTo>
                  <a:pt x="9" y="4240"/>
                </a:lnTo>
                <a:cubicBezTo>
                  <a:pt x="7" y="3771"/>
                  <a:pt x="5" y="3143"/>
                  <a:pt x="4" y="2789"/>
                </a:cubicBezTo>
                <a:cubicBezTo>
                  <a:pt x="3" y="2523"/>
                  <a:pt x="2" y="2158"/>
                  <a:pt x="1" y="1917"/>
                </a:cubicBezTo>
                <a:cubicBezTo>
                  <a:pt x="1" y="1740"/>
                  <a:pt x="0" y="1531"/>
                  <a:pt x="0" y="1424"/>
                </a:cubicBezTo>
                <a:lnTo>
                  <a:pt x="2" y="1429"/>
                </a:lnTo>
                <a:cubicBezTo>
                  <a:pt x="2" y="1401"/>
                  <a:pt x="2" y="1305"/>
                  <a:pt x="2" y="1282"/>
                </a:cubicBezTo>
                <a:close/>
              </a:path>
            </a:pathLst>
          </a:custGeom>
          <a:gradFill flip="none" rotWithShape="1">
            <a:gsLst>
              <a:gs pos="0">
                <a:srgbClr val="FFFFFF">
                  <a:alpha val="0"/>
                </a:srgbClr>
              </a:gs>
              <a:gs pos="100000">
                <a:srgbClr val="B3D4FE"/>
              </a:gs>
            </a:gsLst>
            <a:lin ang="2400000" scaled="0"/>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81" name="矩形 180"/>
          <p:cNvSpPr/>
          <p:nvPr/>
        </p:nvSpPr>
        <p:spPr>
          <a:xfrm>
            <a:off x="518795" y="2338388"/>
            <a:ext cx="2952750" cy="488950"/>
          </a:xfrm>
          <a:prstGeom prst="rect">
            <a:avLst/>
          </a:prstGeom>
          <a:gradFill>
            <a:gsLst>
              <a:gs pos="0">
                <a:srgbClr val="3368FF"/>
              </a:gs>
              <a:gs pos="100000">
                <a:srgbClr val="0042FF"/>
              </a:gs>
            </a:gsLst>
            <a:lin ang="4800000" scaled="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2" name="文本框 181"/>
          <p:cNvSpPr txBox="1"/>
          <p:nvPr/>
        </p:nvSpPr>
        <p:spPr>
          <a:xfrm>
            <a:off x="793750" y="2383473"/>
            <a:ext cx="2402840" cy="398780"/>
          </a:xfrm>
          <a:prstGeom prst="rect">
            <a:avLst/>
          </a:prstGeom>
          <a:noFill/>
        </p:spPr>
        <p:txBody>
          <a:bodyPr wrap="square" rtlCol="0" anchor="ctr" anchorCtr="0">
            <a:spAutoFit/>
          </a:bodyPr>
          <a:lstStyle/>
          <a:p>
            <a:pPr algn="ctr">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数据抓取</a:t>
            </a:r>
            <a:endParaRPr lang="zh-CN" altLang="en-US" sz="2000" b="1" dirty="0">
              <a:solidFill>
                <a:srgbClr val="FFFFFF"/>
              </a:solidFill>
              <a:latin typeface="微软雅黑"/>
              <a:ea typeface="微软雅黑"/>
              <a:cs typeface="微软雅黑"/>
            </a:endParaRPr>
          </a:p>
        </p:txBody>
      </p:sp>
      <p:sp>
        <p:nvSpPr>
          <p:cNvPr id="183" name="文本框 182"/>
          <p:cNvSpPr txBox="1"/>
          <p:nvPr/>
        </p:nvSpPr>
        <p:spPr>
          <a:xfrm>
            <a:off x="4733290" y="2428875"/>
            <a:ext cx="2402840" cy="398780"/>
          </a:xfrm>
          <a:prstGeom prst="rect">
            <a:avLst/>
          </a:prstGeom>
          <a:noFill/>
        </p:spPr>
        <p:txBody>
          <a:bodyPr wrap="square" rtlCol="0" anchor="ctr" anchorCtr="0">
            <a:spAutoFit/>
          </a:bodyPr>
          <a:lstStyle/>
          <a:p>
            <a:pPr algn="ctr">
              <a:defRPr>
                <a:latin typeface="微软雅黑"/>
                <a:ea typeface="微软雅黑"/>
                <a:cs typeface="微软雅黑"/>
              </a:defRPr>
            </a:pPr>
            <a:r>
              <a:rPr lang="zh-CN" altLang="en-US" sz="2000" b="1" dirty="0">
                <a:solidFill>
                  <a:srgbClr val="383838"/>
                </a:solidFill>
                <a:latin typeface="微软雅黑"/>
                <a:ea typeface="微软雅黑"/>
                <a:cs typeface="微软雅黑"/>
              </a:rPr>
              <a:t>模型训练</a:t>
            </a:r>
            <a:endParaRPr lang="zh-CN" altLang="en-US" sz="2000" b="1" dirty="0">
              <a:solidFill>
                <a:srgbClr val="383838"/>
              </a:solidFill>
              <a:latin typeface="微软雅黑"/>
              <a:ea typeface="微软雅黑"/>
              <a:cs typeface="微软雅黑"/>
            </a:endParaRPr>
          </a:p>
        </p:txBody>
      </p:sp>
      <p:grpSp>
        <p:nvGrpSpPr>
          <p:cNvPr id="189" name="组合 188"/>
          <p:cNvGrpSpPr/>
          <p:nvPr/>
        </p:nvGrpSpPr>
        <p:grpSpPr>
          <a:xfrm>
            <a:off x="7888605" y="4810125"/>
            <a:ext cx="3788410" cy="996950"/>
            <a:chOff x="12688" y="9795"/>
            <a:chExt cx="5970" cy="1548"/>
          </a:xfrm>
        </p:grpSpPr>
        <p:sp>
          <p:nvSpPr>
            <p:cNvPr id="187" name="任意多边形 186"/>
            <p:cNvSpPr/>
            <p:nvPr>
              <p:custDataLst>
                <p:tags r:id="rId9"/>
              </p:custDataLst>
            </p:nvPr>
          </p:nvSpPr>
          <p:spPr>
            <a:xfrm>
              <a:off x="12688" y="9795"/>
              <a:ext cx="5970" cy="1549"/>
            </a:xfrm>
            <a:custGeom>
              <a:avLst/>
              <a:gdLst>
                <a:gd name="connsiteX0" fmla="*/ 352 w 5970"/>
                <a:gd name="connsiteY0" fmla="*/ 1517 h 1549"/>
                <a:gd name="connsiteX1" fmla="*/ 0 w 5970"/>
                <a:gd name="connsiteY1" fmla="*/ 13 h 1549"/>
                <a:gd name="connsiteX2" fmla="*/ 4804 w 5970"/>
                <a:gd name="connsiteY2" fmla="*/ 0 h 1549"/>
                <a:gd name="connsiteX3" fmla="*/ 5970 w 5970"/>
                <a:gd name="connsiteY3" fmla="*/ 1549 h 1549"/>
                <a:gd name="connsiteX4" fmla="*/ 352 w 5970"/>
                <a:gd name="connsiteY4" fmla="*/ 1517 h 1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0" h="1549">
                  <a:moveTo>
                    <a:pt x="352" y="1517"/>
                  </a:moveTo>
                  <a:lnTo>
                    <a:pt x="0" y="13"/>
                  </a:lnTo>
                  <a:lnTo>
                    <a:pt x="4804" y="0"/>
                  </a:lnTo>
                  <a:lnTo>
                    <a:pt x="5970" y="1549"/>
                  </a:lnTo>
                  <a:lnTo>
                    <a:pt x="352" y="1517"/>
                  </a:ln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88" name="任意多边形 187"/>
            <p:cNvSpPr/>
            <p:nvPr>
              <p:custDataLst>
                <p:tags r:id="rId10"/>
              </p:custDataLst>
            </p:nvPr>
          </p:nvSpPr>
          <p:spPr>
            <a:xfrm>
              <a:off x="12688" y="9795"/>
              <a:ext cx="5970" cy="1549"/>
            </a:xfrm>
            <a:custGeom>
              <a:avLst/>
              <a:gdLst>
                <a:gd name="connsiteX0" fmla="*/ 352 w 5970"/>
                <a:gd name="connsiteY0" fmla="*/ 1517 h 1549"/>
                <a:gd name="connsiteX1" fmla="*/ 0 w 5970"/>
                <a:gd name="connsiteY1" fmla="*/ 13 h 1549"/>
                <a:gd name="connsiteX2" fmla="*/ 4804 w 5970"/>
                <a:gd name="connsiteY2" fmla="*/ 0 h 1549"/>
                <a:gd name="connsiteX3" fmla="*/ 5970 w 5970"/>
                <a:gd name="connsiteY3" fmla="*/ 1549 h 1549"/>
                <a:gd name="connsiteX4" fmla="*/ 352 w 5970"/>
                <a:gd name="connsiteY4" fmla="*/ 1517 h 1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0" h="1549">
                  <a:moveTo>
                    <a:pt x="352" y="1517"/>
                  </a:moveTo>
                  <a:lnTo>
                    <a:pt x="0" y="13"/>
                  </a:lnTo>
                  <a:lnTo>
                    <a:pt x="4804" y="0"/>
                  </a:lnTo>
                  <a:lnTo>
                    <a:pt x="5970" y="1549"/>
                  </a:lnTo>
                  <a:lnTo>
                    <a:pt x="352" y="1517"/>
                  </a:lnTo>
                  <a:close/>
                </a:path>
              </a:pathLst>
            </a:custGeom>
            <a:gradFill flip="none" rotWithShape="1">
              <a:gsLst>
                <a:gs pos="0">
                  <a:srgbClr val="668EFF">
                    <a:alpha val="0"/>
                  </a:srgbClr>
                </a:gs>
                <a:gs pos="100000">
                  <a:srgbClr val="3368FF"/>
                </a:gs>
              </a:gsLst>
              <a:lin ang="5280000" scaled="0"/>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190" name="任意多边形: 形状 40"/>
          <p:cNvSpPr/>
          <p:nvPr>
            <p:custDataLst>
              <p:tags r:id="rId11"/>
            </p:custDataLst>
          </p:nvPr>
        </p:nvSpPr>
        <p:spPr>
          <a:xfrm>
            <a:off x="7867015" y="2092960"/>
            <a:ext cx="259080" cy="3712210"/>
          </a:xfrm>
          <a:custGeom>
            <a:avLst/>
            <a:gdLst>
              <a:gd name="connsiteX0" fmla="*/ 701040 w 701040"/>
              <a:gd name="connsiteY0" fmla="*/ 2778760 h 2778760"/>
              <a:gd name="connsiteX1" fmla="*/ 0 w 701040"/>
              <a:gd name="connsiteY1" fmla="*/ 1844040 h 2778760"/>
              <a:gd name="connsiteX2" fmla="*/ 0 w 701040"/>
              <a:gd name="connsiteY2" fmla="*/ 0 h 2778760"/>
              <a:gd name="connsiteX3" fmla="*/ 701040 w 701040"/>
              <a:gd name="connsiteY3" fmla="*/ 629920 h 2778760"/>
              <a:gd name="connsiteX4" fmla="*/ 701040 w 701040"/>
              <a:gd name="connsiteY4" fmla="*/ 2778760 h 2778760"/>
              <a:gd name="connsiteX0-1" fmla="*/ 701040 w 701040"/>
              <a:gd name="connsiteY0-2" fmla="*/ 2778760 h 2778760"/>
              <a:gd name="connsiteX1-3" fmla="*/ 469900 w 701040"/>
              <a:gd name="connsiteY1-4" fmla="*/ 1833880 h 2778760"/>
              <a:gd name="connsiteX2-5" fmla="*/ 0 w 701040"/>
              <a:gd name="connsiteY2-6" fmla="*/ 0 h 2778760"/>
              <a:gd name="connsiteX3-7" fmla="*/ 701040 w 701040"/>
              <a:gd name="connsiteY3-8" fmla="*/ 629920 h 2778760"/>
              <a:gd name="connsiteX4-9" fmla="*/ 701040 w 701040"/>
              <a:gd name="connsiteY4-10" fmla="*/ 2778760 h 2778760"/>
              <a:gd name="connsiteX0-11" fmla="*/ 236220 w 236220"/>
              <a:gd name="connsiteY0-12" fmla="*/ 2805430 h 2805430"/>
              <a:gd name="connsiteX1-13" fmla="*/ 5080 w 236220"/>
              <a:gd name="connsiteY1-14" fmla="*/ 1860550 h 2805430"/>
              <a:gd name="connsiteX2-15" fmla="*/ 0 w 236220"/>
              <a:gd name="connsiteY2-16" fmla="*/ 0 h 2805430"/>
              <a:gd name="connsiteX3-17" fmla="*/ 236220 w 236220"/>
              <a:gd name="connsiteY3-18" fmla="*/ 656590 h 2805430"/>
              <a:gd name="connsiteX4-19" fmla="*/ 236220 w 236220"/>
              <a:gd name="connsiteY4-20" fmla="*/ 2805430 h 280543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08" h="5956">
                <a:moveTo>
                  <a:pt x="13" y="2834"/>
                </a:moveTo>
                <a:lnTo>
                  <a:pt x="9" y="2816"/>
                </a:lnTo>
                <a:lnTo>
                  <a:pt x="8" y="2771"/>
                </a:lnTo>
                <a:cubicBezTo>
                  <a:pt x="7" y="2322"/>
                  <a:pt x="5" y="1761"/>
                  <a:pt x="4" y="1386"/>
                </a:cubicBezTo>
                <a:cubicBezTo>
                  <a:pt x="3" y="937"/>
                  <a:pt x="1" y="375"/>
                  <a:pt x="0" y="0"/>
                </a:cubicBezTo>
                <a:lnTo>
                  <a:pt x="398" y="994"/>
                </a:lnTo>
                <a:cubicBezTo>
                  <a:pt x="396" y="1530"/>
                  <a:pt x="395" y="2257"/>
                  <a:pt x="395" y="2671"/>
                </a:cubicBezTo>
                <a:lnTo>
                  <a:pt x="408" y="2704"/>
                </a:lnTo>
                <a:cubicBezTo>
                  <a:pt x="406" y="3306"/>
                  <a:pt x="405" y="4040"/>
                  <a:pt x="405" y="4559"/>
                </a:cubicBezTo>
                <a:cubicBezTo>
                  <a:pt x="405" y="5009"/>
                  <a:pt x="406" y="5589"/>
                  <a:pt x="408" y="5956"/>
                </a:cubicBezTo>
                <a:lnTo>
                  <a:pt x="19" y="4526"/>
                </a:lnTo>
                <a:cubicBezTo>
                  <a:pt x="17" y="4062"/>
                  <a:pt x="15" y="3486"/>
                  <a:pt x="14" y="3096"/>
                </a:cubicBezTo>
                <a:cubicBezTo>
                  <a:pt x="14" y="3006"/>
                  <a:pt x="13" y="2847"/>
                  <a:pt x="13" y="2834"/>
                </a:cubicBezTo>
                <a:close/>
              </a:path>
            </a:pathLst>
          </a:custGeom>
          <a:gradFill flip="none" rotWithShape="1">
            <a:gsLst>
              <a:gs pos="0">
                <a:srgbClr val="FFFFFF">
                  <a:alpha val="0"/>
                </a:srgbClr>
              </a:gs>
              <a:gs pos="100000">
                <a:srgbClr val="B3D4FE"/>
              </a:gs>
            </a:gsLst>
            <a:lin ang="2400000" scaled="0"/>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91" name="任意多边形: 形状 38"/>
          <p:cNvSpPr/>
          <p:nvPr>
            <p:custDataLst>
              <p:tags r:id="rId12"/>
            </p:custDataLst>
          </p:nvPr>
        </p:nvSpPr>
        <p:spPr>
          <a:xfrm>
            <a:off x="10908665" y="2093595"/>
            <a:ext cx="762000" cy="3714750"/>
          </a:xfrm>
          <a:custGeom>
            <a:avLst/>
            <a:gdLst>
              <a:gd name="connsiteX0" fmla="*/ 1200 w 1200"/>
              <a:gd name="connsiteY0" fmla="*/ 4206 h 5829"/>
              <a:gd name="connsiteX1" fmla="*/ 1192 w 1200"/>
              <a:gd name="connsiteY1" fmla="*/ 4196 h 5829"/>
              <a:gd name="connsiteX2" fmla="*/ 1192 w 1200"/>
              <a:gd name="connsiteY2" fmla="*/ 4226 h 5829"/>
              <a:gd name="connsiteX3" fmla="*/ 1192 w 1200"/>
              <a:gd name="connsiteY3" fmla="*/ 4277 h 5829"/>
              <a:gd name="connsiteX4" fmla="*/ 1192 w 1200"/>
              <a:gd name="connsiteY4" fmla="*/ 4329 h 5829"/>
              <a:gd name="connsiteX5" fmla="*/ 1192 w 1200"/>
              <a:gd name="connsiteY5" fmla="*/ 4380 h 5829"/>
              <a:gd name="connsiteX6" fmla="*/ 1192 w 1200"/>
              <a:gd name="connsiteY6" fmla="*/ 4432 h 5829"/>
              <a:gd name="connsiteX7" fmla="*/ 1195 w 1200"/>
              <a:gd name="connsiteY7" fmla="*/ 5829 h 5829"/>
              <a:gd name="connsiteX8" fmla="*/ 59 w 1200"/>
              <a:gd name="connsiteY8" fmla="*/ 4311 h 5829"/>
              <a:gd name="connsiteX9" fmla="*/ 0 w 1200"/>
              <a:gd name="connsiteY9" fmla="*/ 1623 h 5829"/>
              <a:gd name="connsiteX10" fmla="*/ 5 w 1200"/>
              <a:gd name="connsiteY10" fmla="*/ 1627 h 5829"/>
              <a:gd name="connsiteX11" fmla="*/ 5 w 1200"/>
              <a:gd name="connsiteY11" fmla="*/ 0 h 5829"/>
              <a:gd name="connsiteX12" fmla="*/ 1200 w 1200"/>
              <a:gd name="connsiteY12" fmla="*/ 953 h 5829"/>
              <a:gd name="connsiteX13" fmla="*/ 1197 w 1200"/>
              <a:gd name="connsiteY13" fmla="*/ 2809 h 5829"/>
              <a:gd name="connsiteX14" fmla="*/ 1200 w 1200"/>
              <a:gd name="connsiteY14" fmla="*/ 4206 h 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00" h="5829">
                <a:moveTo>
                  <a:pt x="1200" y="4206"/>
                </a:moveTo>
                <a:lnTo>
                  <a:pt x="1192" y="4196"/>
                </a:lnTo>
                <a:lnTo>
                  <a:pt x="1192" y="4226"/>
                </a:lnTo>
                <a:lnTo>
                  <a:pt x="1192" y="4277"/>
                </a:lnTo>
                <a:lnTo>
                  <a:pt x="1192" y="4329"/>
                </a:lnTo>
                <a:lnTo>
                  <a:pt x="1192" y="4380"/>
                </a:lnTo>
                <a:lnTo>
                  <a:pt x="1192" y="4432"/>
                </a:lnTo>
                <a:cubicBezTo>
                  <a:pt x="1191" y="4882"/>
                  <a:pt x="1193" y="5462"/>
                  <a:pt x="1195" y="5829"/>
                </a:cubicBezTo>
                <a:lnTo>
                  <a:pt x="59" y="4311"/>
                </a:lnTo>
                <a:lnTo>
                  <a:pt x="0" y="1623"/>
                </a:lnTo>
                <a:lnTo>
                  <a:pt x="5" y="1627"/>
                </a:lnTo>
                <a:lnTo>
                  <a:pt x="5" y="0"/>
                </a:lnTo>
                <a:lnTo>
                  <a:pt x="1200" y="953"/>
                </a:lnTo>
                <a:cubicBezTo>
                  <a:pt x="1198" y="1556"/>
                  <a:pt x="1197" y="2290"/>
                  <a:pt x="1197" y="2809"/>
                </a:cubicBezTo>
                <a:cubicBezTo>
                  <a:pt x="1196" y="3259"/>
                  <a:pt x="1198" y="3839"/>
                  <a:pt x="1200" y="4206"/>
                </a:cubicBezTo>
                <a:close/>
              </a:path>
            </a:pathLst>
          </a:custGeom>
          <a:gradFill flip="none" rotWithShape="1">
            <a:gsLst>
              <a:gs pos="0">
                <a:srgbClr val="FFFFFF">
                  <a:alpha val="0"/>
                </a:srgbClr>
              </a:gs>
              <a:gs pos="100000">
                <a:srgbClr val="668EFF"/>
              </a:gs>
            </a:gsLst>
            <a:lin ang="2400000" scaled="0"/>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2" name="矩形 191"/>
          <p:cNvSpPr/>
          <p:nvPr/>
        </p:nvSpPr>
        <p:spPr>
          <a:xfrm>
            <a:off x="512445" y="5795645"/>
            <a:ext cx="11155680" cy="796925"/>
          </a:xfrm>
          <a:prstGeom prst="rect">
            <a:avLst/>
          </a:prstGeom>
          <a:gradFill>
            <a:gsLst>
              <a:gs pos="0">
                <a:srgbClr val="3368FF"/>
              </a:gs>
              <a:gs pos="100000">
                <a:srgbClr val="0042FF"/>
              </a:gs>
            </a:gsLst>
            <a:lin ang="4800000" scaled="0"/>
          </a:gradFill>
          <a:ln w="25400">
            <a:solidFill>
              <a:srgbClr val="FFFFFF"/>
            </a:solidFill>
          </a:ln>
          <a:effectLst>
            <a:reflection blurRad="50800" stA="41000" endPos="38000" dist="12700" dir="5400000" sy="-100000" algn="bl" rotWithShape="0"/>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93" name="AutoShape 71"/>
          <p:cNvSpPr/>
          <p:nvPr>
            <p:custDataLst>
              <p:tags r:id="rId13"/>
            </p:custDataLst>
          </p:nvPr>
        </p:nvSpPr>
        <p:spPr>
          <a:xfrm>
            <a:off x="1127125" y="5979160"/>
            <a:ext cx="9926320" cy="429895"/>
          </a:xfrm>
          <a:prstGeom prst="roundRect">
            <a:avLst>
              <a:gd name="adj" fmla="val 0"/>
            </a:avLst>
          </a:prstGeom>
          <a:noFill/>
          <a:ln w="3175">
            <a:noFill/>
          </a:ln>
        </p:spPr>
        <p:txBody>
          <a:bodyPr wrap="none" anchor="ctr" lIns="0" rIns="0" tIns="0" bIns="0"/>
          <a:lstStyle>
            <a:defPPr>
              <a:defRPr lang="zh-CN">
                <a:solidFill>
                  <a:srgbClr val="FFFFFF"/>
                </a:solidFill>
                <a:latin typeface="微软雅黑"/>
                <a:ea typeface="微软雅黑"/>
                <a:cs typeface="微软雅黑"/>
              </a:defRPr>
            </a:defPPr>
            <a:lvl1pPr algn="l" rtl="0" eaLnBrk="0" fontAlgn="base" hangingPunct="0">
              <a:spcBef>
                <a:spcPct val="0"/>
              </a:spcBef>
              <a:spcAft>
                <a:spcPct val="0"/>
              </a:spcAft>
              <a:defRPr kern="1200">
                <a:solidFill>
                  <a:srgbClr val="FFFFFF"/>
                </a:solidFill>
                <a:latin typeface="微软雅黑"/>
                <a:ea typeface="微软雅黑"/>
                <a:cs typeface="微软雅黑"/>
              </a:defRPr>
            </a:lvl1pPr>
            <a:lvl2pPr marL="457200" algn="l" rtl="0" eaLnBrk="0" fontAlgn="base" hangingPunct="0">
              <a:spcBef>
                <a:spcPct val="0"/>
              </a:spcBef>
              <a:spcAft>
                <a:spcPct val="0"/>
              </a:spcAft>
              <a:defRPr kern="1200">
                <a:solidFill>
                  <a:srgbClr val="FFFFFF"/>
                </a:solidFill>
                <a:latin typeface="微软雅黑"/>
                <a:ea typeface="微软雅黑"/>
                <a:cs typeface="微软雅黑"/>
              </a:defRPr>
            </a:lvl2pPr>
            <a:lvl3pPr marL="914400" algn="l" rtl="0" eaLnBrk="0" fontAlgn="base" hangingPunct="0">
              <a:spcBef>
                <a:spcPct val="0"/>
              </a:spcBef>
              <a:spcAft>
                <a:spcPct val="0"/>
              </a:spcAft>
              <a:defRPr kern="1200">
                <a:solidFill>
                  <a:srgbClr val="FFFFFF"/>
                </a:solidFill>
                <a:latin typeface="微软雅黑"/>
                <a:ea typeface="微软雅黑"/>
                <a:cs typeface="微软雅黑"/>
              </a:defRPr>
            </a:lvl3pPr>
            <a:lvl4pPr marL="1371600" algn="l" rtl="0" eaLnBrk="0" fontAlgn="base" hangingPunct="0">
              <a:spcBef>
                <a:spcPct val="0"/>
              </a:spcBef>
              <a:spcAft>
                <a:spcPct val="0"/>
              </a:spcAft>
              <a:defRPr kern="1200">
                <a:solidFill>
                  <a:srgbClr val="FFFFFF"/>
                </a:solidFill>
                <a:latin typeface="微软雅黑"/>
                <a:ea typeface="微软雅黑"/>
                <a:cs typeface="微软雅黑"/>
              </a:defRPr>
            </a:lvl4pPr>
            <a:lvl5pPr marL="1828800" algn="l" rtl="0" eaLnBrk="0" fontAlgn="base" hangingPunct="0">
              <a:spcBef>
                <a:spcPct val="0"/>
              </a:spcBef>
              <a:spcAft>
                <a:spcPct val="0"/>
              </a:spcAft>
              <a:defRPr kern="1200">
                <a:solidFill>
                  <a:srgbClr val="FFFFFF"/>
                </a:solidFill>
                <a:latin typeface="微软雅黑"/>
                <a:ea typeface="微软雅黑"/>
                <a:cs typeface="微软雅黑"/>
              </a:defRPr>
            </a:lvl5pPr>
            <a:lvl6pPr marL="2286000" algn="l" defTabSz="914400" rtl="0" eaLnBrk="1" latinLnBrk="0" hangingPunct="1">
              <a:defRPr kern="1200">
                <a:solidFill>
                  <a:srgbClr val="FFFFFF"/>
                </a:solidFill>
                <a:latin typeface="微软雅黑"/>
                <a:ea typeface="微软雅黑"/>
                <a:cs typeface="微软雅黑"/>
              </a:defRPr>
            </a:lvl6pPr>
            <a:lvl7pPr marL="2743200" algn="l" defTabSz="914400" rtl="0" eaLnBrk="1" latinLnBrk="0" hangingPunct="1">
              <a:defRPr kern="1200">
                <a:solidFill>
                  <a:srgbClr val="FFFFFF"/>
                </a:solidFill>
                <a:latin typeface="微软雅黑"/>
                <a:ea typeface="微软雅黑"/>
                <a:cs typeface="微软雅黑"/>
              </a:defRPr>
            </a:lvl7pPr>
            <a:lvl8pPr marL="3200400" algn="l" defTabSz="914400" rtl="0" eaLnBrk="1" latinLnBrk="0" hangingPunct="1">
              <a:defRPr kern="1200">
                <a:solidFill>
                  <a:srgbClr val="FFFFFF"/>
                </a:solidFill>
                <a:latin typeface="微软雅黑"/>
                <a:ea typeface="微软雅黑"/>
                <a:cs typeface="微软雅黑"/>
              </a:defRPr>
            </a:lvl8pPr>
            <a:lvl9pPr marL="3657600" algn="l" defTabSz="914400" rtl="0" eaLnBrk="1" latinLnBrk="0" hangingPunct="1">
              <a:defRPr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r>
              <a:rPr lang="en-US" altLang="zh-CN" sz="2665" b="1" dirty="0">
                <a:solidFill>
                  <a:srgbClr val="FFFFFF"/>
                </a:solidFill>
                <a:latin typeface="微软雅黑"/>
                <a:ea typeface="微软雅黑"/>
                <a:sym typeface="微软雅黑"/>
                <a:cs typeface="微软雅黑"/>
              </a:rPr>
              <a:t>AI</a:t>
            </a:r>
            <a:r>
              <a:rPr lang="zh-CN" altLang="en-US" sz="2665" b="1" dirty="0">
                <a:solidFill>
                  <a:srgbClr val="FFFFFF"/>
                </a:solidFill>
                <a:latin typeface="微软雅黑"/>
                <a:ea typeface="微软雅黑"/>
                <a:sym typeface="微软雅黑"/>
                <a:cs typeface="微软雅黑"/>
              </a:rPr>
              <a:t>驱动营销全流程，整合多维度数据实现精准洞察与决策！</a:t>
            </a:r>
            <a:endParaRPr lang="zh-CN" altLang="en-US" sz="2665" b="1" dirty="0">
              <a:solidFill>
                <a:srgbClr val="FFFFFF"/>
              </a:solidFill>
              <a:latin typeface="微软雅黑"/>
              <a:ea typeface="微软雅黑"/>
              <a:sym typeface="微软雅黑"/>
              <a:cs typeface="微软雅黑"/>
            </a:endParaRPr>
          </a:p>
        </p:txBody>
      </p:sp>
      <p:sp>
        <p:nvSpPr>
          <p:cNvPr id="194" name="矩形 193"/>
          <p:cNvSpPr/>
          <p:nvPr/>
        </p:nvSpPr>
        <p:spPr>
          <a:xfrm>
            <a:off x="3471545" y="2338388"/>
            <a:ext cx="4558030" cy="488950"/>
          </a:xfrm>
          <a:prstGeom prst="rect">
            <a:avLst/>
          </a:prstGeom>
          <a:gradFill>
            <a:gsLst>
              <a:gs pos="0">
                <a:srgbClr val="B3D4FE"/>
              </a:gs>
              <a:gs pos="100000">
                <a:srgbClr val="3368FF"/>
              </a:gs>
            </a:gsLst>
            <a:lin ang="4800000" scaled="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5" name="矩形 194"/>
          <p:cNvSpPr/>
          <p:nvPr/>
        </p:nvSpPr>
        <p:spPr>
          <a:xfrm>
            <a:off x="8030210" y="2338388"/>
            <a:ext cx="3646805" cy="488950"/>
          </a:xfrm>
          <a:prstGeom prst="rect">
            <a:avLst/>
          </a:prstGeom>
          <a:gradFill>
            <a:gsLst>
              <a:gs pos="0">
                <a:srgbClr val="3368FF"/>
              </a:gs>
              <a:gs pos="100000">
                <a:srgbClr val="0042FF"/>
              </a:gs>
            </a:gsLst>
            <a:lin ang="4800000" scaled="0"/>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96" name="文本框 195"/>
          <p:cNvSpPr txBox="1"/>
          <p:nvPr/>
        </p:nvSpPr>
        <p:spPr>
          <a:xfrm>
            <a:off x="4549140" y="2396808"/>
            <a:ext cx="2402840" cy="398780"/>
          </a:xfrm>
          <a:prstGeom prst="rect">
            <a:avLst/>
          </a:prstGeom>
          <a:noFill/>
        </p:spPr>
        <p:txBody>
          <a:bodyPr wrap="square" rtlCol="0" anchor="ctr" anchorCtr="0">
            <a:spAutoFit/>
          </a:bodyPr>
          <a:lstStyle/>
          <a:p>
            <a:pPr algn="ctr">
              <a:defRPr>
                <a:latin typeface="微软雅黑"/>
                <a:ea typeface="微软雅黑"/>
                <a:cs typeface="微软雅黑"/>
              </a:defRPr>
            </a:pPr>
            <a:r>
              <a:rPr lang="zh-CN" altLang="en-US" sz="2000" b="1" dirty="0">
                <a:solidFill>
                  <a:srgbClr val="383838"/>
                </a:solidFill>
                <a:latin typeface="微软雅黑"/>
                <a:ea typeface="微软雅黑"/>
                <a:cs typeface="微软雅黑"/>
              </a:rPr>
              <a:t>模型训练</a:t>
            </a:r>
            <a:endParaRPr lang="zh-CN" altLang="en-US" sz="2000" b="1" dirty="0">
              <a:solidFill>
                <a:srgbClr val="383838"/>
              </a:solidFill>
              <a:latin typeface="微软雅黑"/>
              <a:ea typeface="微软雅黑"/>
              <a:cs typeface="微软雅黑"/>
            </a:endParaRPr>
          </a:p>
        </p:txBody>
      </p:sp>
      <p:sp>
        <p:nvSpPr>
          <p:cNvPr id="197" name="文本框 196"/>
          <p:cNvSpPr txBox="1"/>
          <p:nvPr/>
        </p:nvSpPr>
        <p:spPr>
          <a:xfrm>
            <a:off x="8652193" y="2383473"/>
            <a:ext cx="2402840" cy="398780"/>
          </a:xfrm>
          <a:prstGeom prst="rect">
            <a:avLst/>
          </a:prstGeom>
          <a:noFill/>
        </p:spPr>
        <p:txBody>
          <a:bodyPr wrap="square" rtlCol="0" anchor="ctr" anchorCtr="0">
            <a:spAutoFit/>
          </a:bodyPr>
          <a:lstStyle/>
          <a:p>
            <a:pPr algn="ctr">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调研应用</a:t>
            </a:r>
            <a:endParaRPr lang="zh-CN" altLang="en-US" sz="2000" b="1" dirty="0">
              <a:solidFill>
                <a:srgbClr val="FFFFFF"/>
              </a:solidFill>
              <a:latin typeface="微软雅黑"/>
              <a:ea typeface="微软雅黑"/>
              <a:cs typeface="微软雅黑"/>
            </a:endParaRPr>
          </a:p>
        </p:txBody>
      </p:sp>
      <p:grpSp>
        <p:nvGrpSpPr>
          <p:cNvPr id="198" name="组合 197"/>
          <p:cNvGrpSpPr/>
          <p:nvPr/>
        </p:nvGrpSpPr>
        <p:grpSpPr>
          <a:xfrm>
            <a:off x="8437880" y="3605360"/>
            <a:ext cx="2759179" cy="570865"/>
            <a:chOff x="12342" y="4804"/>
            <a:chExt cx="5641" cy="1168"/>
          </a:xfrm>
        </p:grpSpPr>
        <p:sp>
          <p:nvSpPr>
            <p:cNvPr id="199" name="熊大的PPT宝库36"/>
            <p:cNvSpPr/>
            <p:nvPr/>
          </p:nvSpPr>
          <p:spPr>
            <a:xfrm>
              <a:off x="13129" y="4826"/>
              <a:ext cx="4854" cy="1126"/>
            </a:xfrm>
            <a:prstGeom prst="roundRect">
              <a:avLst>
                <a:gd name="adj" fmla="val 8759"/>
              </a:avLst>
            </a:prstGeom>
            <a:solidFill>
              <a:srgbClr val="FFFFFF"/>
            </a:solidFill>
            <a:ln w="12700">
              <a:solidFill>
                <a:srgbClr val="668EFF"/>
              </a:solidFill>
              <a:prstDash val="sys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00" name="熊大的PPT宝库37"/>
            <p:cNvSpPr/>
            <p:nvPr/>
          </p:nvSpPr>
          <p:spPr>
            <a:xfrm>
              <a:off x="12342" y="4804"/>
              <a:ext cx="1322" cy="1168"/>
            </a:xfrm>
            <a:prstGeom prst="roundRect">
              <a:avLst/>
            </a:prstGeom>
            <a:gradFill>
              <a:gsLst>
                <a:gs pos="0">
                  <a:srgbClr val="668EFF"/>
                </a:gs>
                <a:gs pos="100000">
                  <a:srgbClr val="3368FF"/>
                </a:gs>
              </a:gsLst>
              <a:lin ang="4800000" scaled="0"/>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sym typeface="微软雅黑"/>
                <a:cs typeface="微软雅黑"/>
              </a:endParaRPr>
            </a:p>
          </p:txBody>
        </p:sp>
        <p:sp>
          <p:nvSpPr>
            <p:cNvPr id="201" name="熊大的PPT宝库38"/>
            <p:cNvSpPr txBox="1"/>
            <p:nvPr/>
          </p:nvSpPr>
          <p:spPr>
            <a:xfrm>
              <a:off x="12537" y="5011"/>
              <a:ext cx="932" cy="755"/>
            </a:xfrm>
            <a:prstGeom prst="rect">
              <a:avLst/>
            </a:prstGeom>
            <a:noFill/>
          </p:spPr>
          <p:txBody>
            <a:bodyPr wrap="square" lIns="0" tIns="0" rIns="0" bIns="0" rtlCol="0">
              <a:spAutoFit/>
            </a:bodyPr>
            <a:lstStyle/>
            <a:p>
              <a:pPr algn="ctr" defTabSz="457200">
                <a:defRPr>
                  <a:solidFill>
                    <a:srgbClr val="FFFFFF"/>
                  </a:solidFill>
                  <a:latin typeface="微软雅黑"/>
                  <a:ea typeface="微软雅黑"/>
                  <a:cs typeface="微软雅黑"/>
                </a:defRPr>
              </a:pPr>
              <a:r>
                <a:rPr kumimoji="1" lang="zh-CN" sz="1200" b="1" dirty="0">
                  <a:solidFill>
                    <a:srgbClr val="FFFFFF"/>
                  </a:solidFill>
                  <a:latin typeface="微软雅黑"/>
                  <a:ea typeface="微软雅黑"/>
                  <a:cs typeface="微软雅黑"/>
                  <a:sym typeface="微软雅黑"/>
                </a:rPr>
                <a:t>品牌洞察</a:t>
              </a:r>
              <a:endParaRPr kumimoji="1" lang="zh-CN" sz="1200" b="1" dirty="0">
                <a:solidFill>
                  <a:srgbClr val="FFFFFF"/>
                </a:solidFill>
                <a:latin typeface="微软雅黑"/>
                <a:ea typeface="微软雅黑"/>
                <a:cs typeface="微软雅黑"/>
                <a:sym typeface="微软雅黑"/>
              </a:endParaRPr>
            </a:p>
          </p:txBody>
        </p:sp>
        <p:sp>
          <p:nvSpPr>
            <p:cNvPr id="202" name="熊大的PPT宝库58"/>
            <p:cNvSpPr/>
            <p:nvPr/>
          </p:nvSpPr>
          <p:spPr>
            <a:xfrm>
              <a:off x="13873" y="4921"/>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品牌定位</a:t>
              </a:r>
              <a:endParaRPr lang="zh-CN" altLang="en-US" sz="1000" dirty="0">
                <a:solidFill>
                  <a:srgbClr val="383838"/>
                </a:solidFill>
                <a:latin typeface="微软雅黑"/>
                <a:ea typeface="微软雅黑"/>
                <a:cs typeface="微软雅黑"/>
                <a:sym typeface="微软雅黑"/>
              </a:endParaRPr>
            </a:p>
          </p:txBody>
        </p:sp>
        <p:sp>
          <p:nvSpPr>
            <p:cNvPr id="203" name="熊大的PPT宝库59"/>
            <p:cNvSpPr/>
            <p:nvPr/>
          </p:nvSpPr>
          <p:spPr>
            <a:xfrm>
              <a:off x="15936" y="4921"/>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品牌优势</a:t>
              </a:r>
              <a:endParaRPr lang="zh-CN" altLang="en-US" sz="1000" dirty="0">
                <a:solidFill>
                  <a:srgbClr val="383838"/>
                </a:solidFill>
                <a:latin typeface="微软雅黑"/>
                <a:ea typeface="微软雅黑"/>
                <a:cs typeface="微软雅黑"/>
                <a:sym typeface="微软雅黑"/>
              </a:endParaRPr>
            </a:p>
          </p:txBody>
        </p:sp>
        <p:sp>
          <p:nvSpPr>
            <p:cNvPr id="204" name="熊大的PPT宝库60"/>
            <p:cNvSpPr/>
            <p:nvPr/>
          </p:nvSpPr>
          <p:spPr>
            <a:xfrm>
              <a:off x="13873" y="5413"/>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品牌现状</a:t>
              </a:r>
              <a:endParaRPr lang="zh-CN" altLang="en-US" sz="1000" dirty="0">
                <a:solidFill>
                  <a:srgbClr val="383838"/>
                </a:solidFill>
                <a:latin typeface="微软雅黑"/>
                <a:ea typeface="微软雅黑"/>
                <a:cs typeface="微软雅黑"/>
                <a:sym typeface="微软雅黑"/>
              </a:endParaRPr>
            </a:p>
          </p:txBody>
        </p:sp>
        <p:sp>
          <p:nvSpPr>
            <p:cNvPr id="205" name="熊大的PPT宝库61"/>
            <p:cNvSpPr/>
            <p:nvPr/>
          </p:nvSpPr>
          <p:spPr>
            <a:xfrm>
              <a:off x="15928" y="5413"/>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品牌发展阶段</a:t>
              </a:r>
              <a:endParaRPr lang="zh-CN" altLang="en-US" sz="1000" dirty="0">
                <a:solidFill>
                  <a:srgbClr val="383838"/>
                </a:solidFill>
                <a:latin typeface="微软雅黑"/>
                <a:ea typeface="微软雅黑"/>
                <a:cs typeface="微软雅黑"/>
                <a:sym typeface="微软雅黑"/>
              </a:endParaRPr>
            </a:p>
          </p:txBody>
        </p:sp>
      </p:grpSp>
      <p:grpSp>
        <p:nvGrpSpPr>
          <p:cNvPr id="206" name="组合 205"/>
          <p:cNvGrpSpPr/>
          <p:nvPr/>
        </p:nvGrpSpPr>
        <p:grpSpPr>
          <a:xfrm>
            <a:off x="8437880" y="4237820"/>
            <a:ext cx="2759179" cy="570865"/>
            <a:chOff x="12342" y="4804"/>
            <a:chExt cx="5641" cy="1168"/>
          </a:xfrm>
        </p:grpSpPr>
        <p:sp>
          <p:nvSpPr>
            <p:cNvPr id="207" name="熊大的PPT宝库36"/>
            <p:cNvSpPr/>
            <p:nvPr/>
          </p:nvSpPr>
          <p:spPr>
            <a:xfrm>
              <a:off x="13129" y="4826"/>
              <a:ext cx="4854" cy="1126"/>
            </a:xfrm>
            <a:prstGeom prst="roundRect">
              <a:avLst>
                <a:gd name="adj" fmla="val 8759"/>
              </a:avLst>
            </a:prstGeom>
            <a:solidFill>
              <a:srgbClr val="FFFFFF"/>
            </a:solidFill>
            <a:ln w="12700">
              <a:solidFill>
                <a:srgbClr val="668EFF"/>
              </a:solidFill>
              <a:prstDash val="sys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08" name="熊大的PPT宝库37"/>
            <p:cNvSpPr/>
            <p:nvPr/>
          </p:nvSpPr>
          <p:spPr>
            <a:xfrm>
              <a:off x="12342" y="4804"/>
              <a:ext cx="1322" cy="1168"/>
            </a:xfrm>
            <a:prstGeom prst="roundRect">
              <a:avLst/>
            </a:prstGeom>
            <a:gradFill>
              <a:gsLst>
                <a:gs pos="0">
                  <a:srgbClr val="668EFF"/>
                </a:gs>
                <a:gs pos="100000">
                  <a:srgbClr val="3368FF"/>
                </a:gs>
              </a:gsLst>
              <a:lin ang="4800000" scaled="0"/>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sym typeface="微软雅黑"/>
                <a:cs typeface="微软雅黑"/>
              </a:endParaRPr>
            </a:p>
          </p:txBody>
        </p:sp>
        <p:sp>
          <p:nvSpPr>
            <p:cNvPr id="209" name="熊大的PPT宝库38"/>
            <p:cNvSpPr txBox="1"/>
            <p:nvPr/>
          </p:nvSpPr>
          <p:spPr>
            <a:xfrm>
              <a:off x="12537" y="5011"/>
              <a:ext cx="932" cy="755"/>
            </a:xfrm>
            <a:prstGeom prst="rect">
              <a:avLst/>
            </a:prstGeom>
            <a:noFill/>
          </p:spPr>
          <p:txBody>
            <a:bodyPr wrap="square" lIns="0" tIns="0" rIns="0" bIns="0" rtlCol="0">
              <a:spAutoFit/>
            </a:bodyPr>
            <a:lstStyle/>
            <a:p>
              <a:pPr algn="ctr" defTabSz="457200">
                <a:defRPr>
                  <a:solidFill>
                    <a:srgbClr val="FFFFFF"/>
                  </a:solidFill>
                  <a:latin typeface="微软雅黑"/>
                  <a:ea typeface="微软雅黑"/>
                  <a:cs typeface="微软雅黑"/>
                </a:defRPr>
              </a:pPr>
              <a:r>
                <a:rPr kumimoji="1" lang="zh-CN" altLang="en-US" sz="1200" b="1" dirty="0">
                  <a:solidFill>
                    <a:srgbClr val="FFFFFF"/>
                  </a:solidFill>
                  <a:latin typeface="微软雅黑"/>
                  <a:ea typeface="微软雅黑"/>
                  <a:cs typeface="微软雅黑"/>
                  <a:sym typeface="微软雅黑"/>
                </a:rPr>
                <a:t>人群</a:t>
              </a:r>
              <a:endParaRPr kumimoji="1" lang="en-US" altLang="zh-CN" sz="1200" b="1" dirty="0">
                <a:solidFill>
                  <a:srgbClr val="FFFFFF"/>
                </a:solidFill>
                <a:latin typeface="微软雅黑"/>
                <a:ea typeface="微软雅黑"/>
                <a:cs typeface="微软雅黑"/>
                <a:sym typeface="微软雅黑"/>
              </a:endParaRPr>
            </a:p>
            <a:p>
              <a:pPr algn="ctr" defTabSz="457200">
                <a:defRPr>
                  <a:solidFill>
                    <a:srgbClr val="FFFFFF"/>
                  </a:solidFill>
                  <a:latin typeface="微软雅黑"/>
                  <a:ea typeface="微软雅黑"/>
                  <a:cs typeface="微软雅黑"/>
                </a:defRPr>
              </a:pPr>
              <a:r>
                <a:rPr kumimoji="1" lang="zh-CN" altLang="en-US" sz="1200" b="1" dirty="0">
                  <a:solidFill>
                    <a:srgbClr val="FFFFFF"/>
                  </a:solidFill>
                  <a:latin typeface="微软雅黑"/>
                  <a:ea typeface="微软雅黑"/>
                  <a:cs typeface="微软雅黑"/>
                  <a:sym typeface="微软雅黑"/>
                </a:rPr>
                <a:t>洞察</a:t>
              </a:r>
              <a:endParaRPr kumimoji="1" lang="zh-CN" altLang="en-US" sz="1200" b="1" dirty="0">
                <a:solidFill>
                  <a:srgbClr val="FFFFFF"/>
                </a:solidFill>
                <a:latin typeface="微软雅黑"/>
                <a:ea typeface="微软雅黑"/>
                <a:cs typeface="微软雅黑"/>
                <a:sym typeface="微软雅黑"/>
              </a:endParaRPr>
            </a:p>
          </p:txBody>
        </p:sp>
        <p:sp>
          <p:nvSpPr>
            <p:cNvPr id="210" name="熊大的PPT宝库58"/>
            <p:cNvSpPr/>
            <p:nvPr/>
          </p:nvSpPr>
          <p:spPr>
            <a:xfrm>
              <a:off x="13873" y="4921"/>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基础属性</a:t>
              </a:r>
              <a:endParaRPr lang="zh-CN" altLang="en-US" sz="1000" dirty="0">
                <a:solidFill>
                  <a:srgbClr val="383838"/>
                </a:solidFill>
                <a:latin typeface="微软雅黑"/>
                <a:ea typeface="微软雅黑"/>
                <a:cs typeface="微软雅黑"/>
                <a:sym typeface="微软雅黑"/>
              </a:endParaRPr>
            </a:p>
          </p:txBody>
        </p:sp>
        <p:sp>
          <p:nvSpPr>
            <p:cNvPr id="211" name="熊大的PPT宝库59"/>
            <p:cNvSpPr/>
            <p:nvPr/>
          </p:nvSpPr>
          <p:spPr>
            <a:xfrm>
              <a:off x="15936" y="4921"/>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媒体偏好</a:t>
              </a:r>
              <a:endParaRPr lang="zh-CN" altLang="en-US" sz="1000" dirty="0">
                <a:solidFill>
                  <a:srgbClr val="383838"/>
                </a:solidFill>
                <a:latin typeface="微软雅黑"/>
                <a:ea typeface="微软雅黑"/>
                <a:cs typeface="微软雅黑"/>
                <a:sym typeface="微软雅黑"/>
              </a:endParaRPr>
            </a:p>
          </p:txBody>
        </p:sp>
        <p:sp>
          <p:nvSpPr>
            <p:cNvPr id="212" name="熊大的PPT宝库60"/>
            <p:cNvSpPr/>
            <p:nvPr/>
          </p:nvSpPr>
          <p:spPr>
            <a:xfrm>
              <a:off x="13873" y="5413"/>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消费偏好</a:t>
              </a:r>
              <a:endParaRPr lang="zh-CN" altLang="en-US" sz="1000" dirty="0">
                <a:solidFill>
                  <a:srgbClr val="383838"/>
                </a:solidFill>
                <a:latin typeface="微软雅黑"/>
                <a:ea typeface="微软雅黑"/>
                <a:cs typeface="微软雅黑"/>
                <a:sym typeface="微软雅黑"/>
              </a:endParaRPr>
            </a:p>
          </p:txBody>
        </p:sp>
        <p:sp>
          <p:nvSpPr>
            <p:cNvPr id="213" name="熊大的PPT宝库61"/>
            <p:cNvSpPr/>
            <p:nvPr/>
          </p:nvSpPr>
          <p:spPr>
            <a:xfrm>
              <a:off x="15928" y="5413"/>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决策行为</a:t>
              </a:r>
              <a:endParaRPr lang="zh-CN" altLang="en-US" sz="1000" dirty="0">
                <a:solidFill>
                  <a:srgbClr val="383838"/>
                </a:solidFill>
                <a:latin typeface="微软雅黑"/>
                <a:ea typeface="微软雅黑"/>
                <a:cs typeface="微软雅黑"/>
                <a:sym typeface="微软雅黑"/>
              </a:endParaRPr>
            </a:p>
          </p:txBody>
        </p:sp>
      </p:grpSp>
      <p:grpSp>
        <p:nvGrpSpPr>
          <p:cNvPr id="214" name="组合 213"/>
          <p:cNvGrpSpPr/>
          <p:nvPr/>
        </p:nvGrpSpPr>
        <p:grpSpPr>
          <a:xfrm>
            <a:off x="8437880" y="4870280"/>
            <a:ext cx="2759179" cy="570865"/>
            <a:chOff x="12342" y="4804"/>
            <a:chExt cx="5641" cy="1168"/>
          </a:xfrm>
        </p:grpSpPr>
        <p:sp>
          <p:nvSpPr>
            <p:cNvPr id="215" name="熊大的PPT宝库36"/>
            <p:cNvSpPr/>
            <p:nvPr/>
          </p:nvSpPr>
          <p:spPr>
            <a:xfrm>
              <a:off x="13129" y="4826"/>
              <a:ext cx="4854" cy="1126"/>
            </a:xfrm>
            <a:prstGeom prst="roundRect">
              <a:avLst>
                <a:gd name="adj" fmla="val 8759"/>
              </a:avLst>
            </a:prstGeom>
            <a:solidFill>
              <a:srgbClr val="FFFFFF"/>
            </a:solidFill>
            <a:ln w="12700">
              <a:solidFill>
                <a:srgbClr val="668EFF"/>
              </a:solidFill>
              <a:prstDash val="sys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16" name="熊大的PPT宝库37"/>
            <p:cNvSpPr/>
            <p:nvPr/>
          </p:nvSpPr>
          <p:spPr>
            <a:xfrm>
              <a:off x="12342" y="4804"/>
              <a:ext cx="1322" cy="1168"/>
            </a:xfrm>
            <a:prstGeom prst="roundRect">
              <a:avLst/>
            </a:prstGeom>
            <a:gradFill>
              <a:gsLst>
                <a:gs pos="0">
                  <a:srgbClr val="668EFF"/>
                </a:gs>
                <a:gs pos="100000">
                  <a:srgbClr val="3368FF"/>
                </a:gs>
              </a:gsLst>
              <a:lin ang="4800000" scaled="0"/>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sym typeface="微软雅黑"/>
                <a:cs typeface="微软雅黑"/>
              </a:endParaRPr>
            </a:p>
          </p:txBody>
        </p:sp>
        <p:sp>
          <p:nvSpPr>
            <p:cNvPr id="217" name="熊大的PPT宝库38"/>
            <p:cNvSpPr txBox="1"/>
            <p:nvPr/>
          </p:nvSpPr>
          <p:spPr>
            <a:xfrm>
              <a:off x="12537" y="5011"/>
              <a:ext cx="932" cy="755"/>
            </a:xfrm>
            <a:prstGeom prst="rect">
              <a:avLst/>
            </a:prstGeom>
            <a:noFill/>
          </p:spPr>
          <p:txBody>
            <a:bodyPr wrap="square" lIns="0" tIns="0" rIns="0" bIns="0" rtlCol="0">
              <a:spAutoFit/>
            </a:bodyPr>
            <a:lstStyle/>
            <a:p>
              <a:pPr algn="ctr" defTabSz="457200">
                <a:defRPr>
                  <a:solidFill>
                    <a:srgbClr val="FFFFFF"/>
                  </a:solidFill>
                  <a:latin typeface="微软雅黑"/>
                  <a:ea typeface="微软雅黑"/>
                  <a:cs typeface="微软雅黑"/>
                </a:defRPr>
              </a:pPr>
              <a:r>
                <a:rPr kumimoji="1" lang="zh-CN" altLang="en-US" sz="1200" b="1" dirty="0">
                  <a:solidFill>
                    <a:srgbClr val="FFFFFF"/>
                  </a:solidFill>
                  <a:latin typeface="微软雅黑"/>
                  <a:ea typeface="微软雅黑"/>
                  <a:cs typeface="微软雅黑"/>
                  <a:sym typeface="微软雅黑"/>
                </a:rPr>
                <a:t>产品</a:t>
              </a:r>
              <a:endParaRPr kumimoji="1" lang="en-US" altLang="zh-CN" sz="1200" b="1" dirty="0">
                <a:solidFill>
                  <a:srgbClr val="FFFFFF"/>
                </a:solidFill>
                <a:latin typeface="微软雅黑"/>
                <a:ea typeface="微软雅黑"/>
                <a:cs typeface="微软雅黑"/>
                <a:sym typeface="微软雅黑"/>
              </a:endParaRPr>
            </a:p>
            <a:p>
              <a:pPr algn="ctr" defTabSz="457200">
                <a:defRPr>
                  <a:solidFill>
                    <a:srgbClr val="FFFFFF"/>
                  </a:solidFill>
                  <a:latin typeface="微软雅黑"/>
                  <a:ea typeface="微软雅黑"/>
                  <a:cs typeface="微软雅黑"/>
                </a:defRPr>
              </a:pPr>
              <a:r>
                <a:rPr kumimoji="1" lang="zh-CN" altLang="en-US" sz="1200" b="1" dirty="0">
                  <a:solidFill>
                    <a:srgbClr val="FFFFFF"/>
                  </a:solidFill>
                  <a:latin typeface="微软雅黑"/>
                  <a:ea typeface="微软雅黑"/>
                  <a:cs typeface="微软雅黑"/>
                  <a:sym typeface="微软雅黑"/>
                </a:rPr>
                <a:t>洞察</a:t>
              </a:r>
              <a:endParaRPr kumimoji="1" lang="zh-CN" altLang="en-US" sz="1200" b="1" dirty="0">
                <a:solidFill>
                  <a:srgbClr val="FFFFFF"/>
                </a:solidFill>
                <a:latin typeface="微软雅黑"/>
                <a:ea typeface="微软雅黑"/>
                <a:cs typeface="微软雅黑"/>
                <a:sym typeface="微软雅黑"/>
              </a:endParaRPr>
            </a:p>
          </p:txBody>
        </p:sp>
        <p:sp>
          <p:nvSpPr>
            <p:cNvPr id="218" name="熊大的PPT宝库58"/>
            <p:cNvSpPr/>
            <p:nvPr/>
          </p:nvSpPr>
          <p:spPr>
            <a:xfrm>
              <a:off x="13873" y="5145"/>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产品卖点</a:t>
              </a:r>
              <a:endParaRPr lang="zh-CN" altLang="en-US" sz="1000" dirty="0">
                <a:solidFill>
                  <a:srgbClr val="383838"/>
                </a:solidFill>
                <a:latin typeface="微软雅黑"/>
                <a:ea typeface="微软雅黑"/>
                <a:cs typeface="微软雅黑"/>
                <a:sym typeface="微软雅黑"/>
              </a:endParaRPr>
            </a:p>
          </p:txBody>
        </p:sp>
        <p:sp>
          <p:nvSpPr>
            <p:cNvPr id="219" name="熊大的PPT宝库59"/>
            <p:cNvSpPr/>
            <p:nvPr/>
          </p:nvSpPr>
          <p:spPr>
            <a:xfrm>
              <a:off x="15936" y="5145"/>
              <a:ext cx="1871" cy="415"/>
            </a:xfrm>
            <a:prstGeom prst="roundRect">
              <a:avLst>
                <a:gd name="adj" fmla="val 50000"/>
              </a:avLst>
            </a:prstGeom>
            <a:solidFill>
              <a:srgbClr val="FFFFFF"/>
            </a:solidFill>
            <a:ln w="12700">
              <a:solidFill>
                <a:srgbClr val="668EFF">
                  <a:alpha val="8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defTabSz="457200">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沟通要点</a:t>
              </a:r>
              <a:endParaRPr lang="zh-CN" altLang="en-US" sz="1000" dirty="0">
                <a:solidFill>
                  <a:srgbClr val="383838"/>
                </a:solidFill>
                <a:latin typeface="微软雅黑"/>
                <a:ea typeface="微软雅黑"/>
                <a:cs typeface="微软雅黑"/>
                <a:sym typeface="微软雅黑"/>
              </a:endParaRPr>
            </a:p>
          </p:txBody>
        </p:sp>
      </p:grpSp>
      <p:grpSp>
        <p:nvGrpSpPr>
          <p:cNvPr id="222" name="组合 221"/>
          <p:cNvGrpSpPr/>
          <p:nvPr/>
        </p:nvGrpSpPr>
        <p:grpSpPr>
          <a:xfrm>
            <a:off x="1245235" y="5043805"/>
            <a:ext cx="1499870" cy="339090"/>
            <a:chOff x="1829" y="4755"/>
            <a:chExt cx="2362" cy="534"/>
          </a:xfrm>
        </p:grpSpPr>
        <p:sp>
          <p:nvSpPr>
            <p:cNvPr id="223" name="熊大的PPT宝库6"/>
            <p:cNvSpPr/>
            <p:nvPr/>
          </p:nvSpPr>
          <p:spPr>
            <a:xfrm>
              <a:off x="1829" y="4755"/>
              <a:ext cx="2362" cy="534"/>
            </a:xfrm>
            <a:prstGeom prst="roundRect">
              <a:avLst>
                <a:gd name="adj" fmla="val 50000"/>
              </a:avLst>
            </a:prstGeom>
            <a:solidFill>
              <a:srgbClr val="E6E6E6">
                <a:alpha val="15079"/>
              </a:srgbClr>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a:lstStyle/>
            <a:p>
              <a:pPr algn="ctr" defTabSz="457200">
                <a:defRPr>
                  <a:latin typeface="微软雅黑"/>
                  <a:ea typeface="微软雅黑"/>
                  <a:cs typeface="微软雅黑"/>
                </a:defRPr>
              </a:pPr>
              <a:endParaRPr lang="zh-CN" altLang="en-US" sz="1600" dirty="0">
                <a:latin typeface="微软雅黑"/>
                <a:cs typeface="微软雅黑"/>
                <a:sym typeface="微软雅黑"/>
                <a:ea typeface="微软雅黑"/>
              </a:endParaRPr>
            </a:p>
          </p:txBody>
        </p:sp>
        <p:sp>
          <p:nvSpPr>
            <p:cNvPr id="224" name="熊大的PPT宝库11"/>
            <p:cNvSpPr txBox="1"/>
            <p:nvPr/>
          </p:nvSpPr>
          <p:spPr>
            <a:xfrm>
              <a:off x="2170" y="4853"/>
              <a:ext cx="1680" cy="339"/>
            </a:xfrm>
            <a:prstGeom prst="rect">
              <a:avLst/>
            </a:prstGeom>
            <a:noFill/>
            <a:ln>
              <a:noFill/>
            </a:ln>
            <a:extLst>
              <a:ext uri="{909E8E84-426E-40DD-AFC4-6F175D3DCCD1}">
                <a14:hiddenFill xmlns:a14="http://schemas.microsoft.com/office/drawing/2010/main">
                  <a:solidFill>
                    <a:srgbClr val="E6E6E6"/>
                  </a:solidFill>
                </a14:hiddenFill>
              </a:ext>
            </a:extLst>
          </p:spPr>
          <p:txBody>
            <a:bodyPr wrap="none" lIns="0" tIns="0" rIns="0" bIns="0" rtlCol="0">
              <a:spAutoFit/>
            </a:bodyPr>
            <a:lstStyle/>
            <a:p>
              <a:pPr algn="ctr" defTabSz="457200">
                <a:defRPr>
                  <a:latin typeface="微软雅黑"/>
                  <a:ea typeface="微软雅黑"/>
                  <a:cs typeface="微软雅黑"/>
                </a:defRPr>
              </a:pPr>
              <a:r>
                <a:rPr lang="zh-CN" altLang="en-US" sz="1400" dirty="0">
                  <a:solidFill>
                    <a:srgbClr val="383838"/>
                  </a:solidFill>
                  <a:latin typeface="微软雅黑"/>
                  <a:sym typeface="微软雅黑"/>
                  <a:ea typeface="微软雅黑"/>
                  <a:cs typeface="微软雅黑"/>
                </a:rPr>
                <a:t>社交媒体数据</a:t>
              </a:r>
              <a:endParaRPr lang="zh-CN" altLang="en-US" sz="1400" dirty="0">
                <a:solidFill>
                  <a:srgbClr val="383838"/>
                </a:solidFill>
                <a:latin typeface="微软雅黑"/>
                <a:sym typeface="微软雅黑"/>
                <a:ea typeface="微软雅黑"/>
                <a:cs typeface="微软雅黑"/>
              </a:endParaRPr>
            </a:p>
          </p:txBody>
        </p:sp>
      </p:grpSp>
      <p:sp>
        <p:nvSpPr>
          <p:cNvPr id="225" name="熊大的PPT宝库62"/>
          <p:cNvSpPr/>
          <p:nvPr/>
        </p:nvSpPr>
        <p:spPr>
          <a:xfrm>
            <a:off x="7560447" y="3901678"/>
            <a:ext cx="203795" cy="284110"/>
          </a:xfrm>
          <a:prstGeom prst="chevron">
            <a:avLst/>
          </a:prstGeom>
          <a:gradFill>
            <a:gsLst>
              <a:gs pos="0">
                <a:srgbClr val="FFFFFF"/>
              </a:gs>
              <a:gs pos="100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solidFill>
                <a:srgbClr val="383838"/>
              </a:solidFill>
              <a:latin typeface="微软雅黑"/>
              <a:ea typeface="微软雅黑"/>
              <a:sym typeface="微软雅黑"/>
              <a:cs typeface="微软雅黑"/>
            </a:endParaRPr>
          </a:p>
        </p:txBody>
      </p:sp>
      <p:grpSp>
        <p:nvGrpSpPr>
          <p:cNvPr id="227" name="组合 226"/>
          <p:cNvGrpSpPr/>
          <p:nvPr/>
        </p:nvGrpSpPr>
        <p:grpSpPr>
          <a:xfrm>
            <a:off x="7675245" y="347980"/>
            <a:ext cx="4588510" cy="367030"/>
            <a:chOff x="12087" y="-1089"/>
            <a:chExt cx="7226" cy="578"/>
          </a:xfrm>
        </p:grpSpPr>
        <p:pic>
          <p:nvPicPr>
            <p:cNvPr id="228" name="图片 227"/>
            <p:cNvPicPr>
              <a:picLocks noChangeAspect="1"/>
            </p:cNvPicPr>
            <p:nvPr userDrawn="1"/>
          </p:nvPicPr>
          <p:blipFill>
            <a:blip r:embed="rId14"/>
            <a:srcRect r="57320" b="-13333"/>
            <a:stretch>
              <a:fillRect/>
            </a:stretch>
          </p:blipFill>
          <p:spPr>
            <a:xfrm>
              <a:off x="12087" y="-1089"/>
              <a:ext cx="2548" cy="578"/>
            </a:xfrm>
            <a:prstGeom prst="rect">
              <a:avLst/>
            </a:prstGeom>
          </p:spPr>
        </p:pic>
        <p:sp>
          <p:nvSpPr>
            <p:cNvPr id="229" name="文本框 228"/>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lang="zh-CN" altLang="en-US" sz="2500">
                <a:solidFill>
                  <a:srgbClr val="383838"/>
                </a:solidFill>
                <a:effectLst/>
                <a:latin typeface="微软雅黑"/>
                <a:ea typeface="微软雅黑"/>
                <a:cs typeface="微软雅黑"/>
                <a:sym typeface="微软雅黑"/>
              </a:rPr>
              <a:t>行政高效协同务实战略屋</a:t>
            </a:r>
            <a:endParaRPr lang="zh-CN" altLang="en-US" sz="2500">
              <a:solidFill>
                <a:srgbClr val="383838"/>
              </a:solidFill>
              <a:effectLst/>
              <a:latin typeface="微软雅黑"/>
              <a:ea typeface="微软雅黑"/>
              <a:cs typeface="微软雅黑"/>
              <a:sym typeface="微软雅黑"/>
            </a:endParaRPr>
          </a:p>
        </p:txBody>
      </p:sp>
      <p:sp>
        <p:nvSpPr>
          <p:cNvPr id="289" name="文本框 288"/>
          <p:cNvSpPr txBox="1"/>
          <p:nvPr/>
        </p:nvSpPr>
        <p:spPr>
          <a:xfrm>
            <a:off x="3803015" y="892175"/>
            <a:ext cx="475234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数字化平台获客，实现端到端提升代理人效率</a:t>
            </a:r>
            <a:endParaRPr lang="zh-CN" altLang="en-US" sz="1600" b="1">
              <a:solidFill>
                <a:srgbClr val="383838"/>
              </a:solidFill>
              <a:latin typeface="微软雅黑"/>
              <a:ea typeface="微软雅黑"/>
              <a:cs typeface="微软雅黑"/>
            </a:endParaRPr>
          </a:p>
        </p:txBody>
      </p:sp>
      <p:pic>
        <p:nvPicPr>
          <p:cNvPr id="2" name="图片 1"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等腰三角形 2"/>
          <p:cNvSpPr/>
          <p:nvPr/>
        </p:nvSpPr>
        <p:spPr>
          <a:xfrm>
            <a:off x="1892935" y="989965"/>
            <a:ext cx="8669655" cy="1113155"/>
          </a:xfrm>
          <a:prstGeom prst="triangle">
            <a:avLst>
              <a:gd name="adj" fmla="val 50102"/>
            </a:avLst>
          </a:prstGeom>
          <a:gradFill flip="none" rotWithShape="1">
            <a:gsLst>
              <a:gs pos="20000">
                <a:srgbClr val="3368FF"/>
              </a:gs>
              <a:gs pos="100000">
                <a:srgbClr val="0042FF"/>
              </a:gs>
            </a:gsLst>
            <a:lin ang="0" scaled="1"/>
            <a:tileRect/>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a:solidFill>
                <a:srgbClr val="FFFFFF"/>
              </a:solidFill>
              <a:latin typeface="微软雅黑"/>
              <a:ea typeface="微软雅黑"/>
              <a:cs typeface="微软雅黑"/>
              <a:sym typeface="微软雅黑"/>
            </a:endParaRPr>
          </a:p>
        </p:txBody>
      </p:sp>
      <p:sp>
        <p:nvSpPr>
          <p:cNvPr id="7" name="文本框 6"/>
          <p:cNvSpPr txBox="1"/>
          <p:nvPr/>
        </p:nvSpPr>
        <p:spPr>
          <a:xfrm>
            <a:off x="4409440" y="1258570"/>
            <a:ext cx="3636645" cy="76835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行政拥抱创新</a:t>
            </a:r>
            <a:endParaRPr lang="en-US" altLang="zh-CN" sz="14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加速数字化新基建</a:t>
            </a:r>
            <a:endParaRPr lang="en-US" altLang="zh-CN" sz="16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打造高效、协同、务实的敏捷组织</a:t>
            </a:r>
            <a:endParaRPr lang="zh-CN" altLang="en-US" sz="1400" dirty="0">
              <a:solidFill>
                <a:srgbClr val="FFFFFF"/>
              </a:solidFill>
              <a:latin typeface="微软雅黑"/>
              <a:ea typeface="微软雅黑"/>
              <a:cs typeface="微软雅黑"/>
            </a:endParaRPr>
          </a:p>
        </p:txBody>
      </p:sp>
      <p:sp>
        <p:nvSpPr>
          <p:cNvPr id="8" name="弦形 7"/>
          <p:cNvSpPr/>
          <p:nvPr/>
        </p:nvSpPr>
        <p:spPr>
          <a:xfrm rot="5400000">
            <a:off x="2187575" y="2012315"/>
            <a:ext cx="1368425" cy="1771015"/>
          </a:xfrm>
          <a:prstGeom prst="chord">
            <a:avLst>
              <a:gd name="adj1" fmla="val 5460645"/>
              <a:gd name="adj2" fmla="val 16200000"/>
            </a:avLst>
          </a:prstGeom>
          <a:gradFill>
            <a:gsLst>
              <a:gs pos="18000">
                <a:srgbClr val="E6E6E6">
                  <a:alpha val="58000"/>
                </a:srgbClr>
              </a:gs>
              <a:gs pos="100000">
                <a:srgbClr val="E6E6E6">
                  <a:alpha val="22000"/>
                </a:srgbClr>
              </a:gs>
            </a:gsLst>
            <a:lin ang="10800000" scaled="1"/>
          </a:gradFill>
          <a:ln>
            <a:gradFill>
              <a:gsLst>
                <a:gs pos="0">
                  <a:srgbClr val="3368FF">
                    <a:alpha val="0"/>
                  </a:srgbClr>
                </a:gs>
                <a:gs pos="100000">
                  <a:srgbClr val="3368FF"/>
                </a:gs>
              </a:gsLst>
              <a:lin ang="135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 name="弦形 8"/>
          <p:cNvSpPr/>
          <p:nvPr/>
        </p:nvSpPr>
        <p:spPr>
          <a:xfrm rot="5400000">
            <a:off x="4455795" y="2012315"/>
            <a:ext cx="1368425" cy="1771015"/>
          </a:xfrm>
          <a:prstGeom prst="chord">
            <a:avLst>
              <a:gd name="adj1" fmla="val 5460645"/>
              <a:gd name="adj2" fmla="val 16200000"/>
            </a:avLst>
          </a:prstGeom>
          <a:gradFill>
            <a:gsLst>
              <a:gs pos="18000">
                <a:srgbClr val="FFFFFF">
                  <a:alpha val="58000"/>
                </a:srgbClr>
              </a:gs>
              <a:gs pos="100000">
                <a:srgbClr val="FFFFFF">
                  <a:alpha val="22000"/>
                </a:srgbClr>
              </a:gs>
            </a:gsLst>
            <a:lin ang="10800000" scaled="1"/>
          </a:gradFill>
          <a:ln>
            <a:gradFill>
              <a:gsLst>
                <a:gs pos="0">
                  <a:srgbClr val="B3D4FE">
                    <a:alpha val="0"/>
                  </a:srgbClr>
                </a:gs>
                <a:gs pos="100000">
                  <a:srgbClr val="B3D4FE"/>
                </a:gs>
              </a:gsLst>
              <a:lin ang="135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 name="弦形 9"/>
          <p:cNvSpPr/>
          <p:nvPr/>
        </p:nvSpPr>
        <p:spPr>
          <a:xfrm rot="5400000">
            <a:off x="6724015" y="2012315"/>
            <a:ext cx="1368425" cy="1771015"/>
          </a:xfrm>
          <a:prstGeom prst="chord">
            <a:avLst>
              <a:gd name="adj1" fmla="val 5460645"/>
              <a:gd name="adj2" fmla="val 16200000"/>
            </a:avLst>
          </a:prstGeom>
          <a:gradFill>
            <a:gsLst>
              <a:gs pos="18000">
                <a:srgbClr val="E6E6E6">
                  <a:alpha val="58000"/>
                </a:srgbClr>
              </a:gs>
              <a:gs pos="100000">
                <a:srgbClr val="E6E6E6">
                  <a:alpha val="22000"/>
                </a:srgbClr>
              </a:gs>
            </a:gsLst>
            <a:lin ang="10800000" scaled="1"/>
          </a:gradFill>
          <a:ln>
            <a:gradFill>
              <a:gsLst>
                <a:gs pos="0">
                  <a:srgbClr val="3368FF">
                    <a:alpha val="0"/>
                  </a:srgbClr>
                </a:gs>
                <a:gs pos="100000">
                  <a:srgbClr val="3368FF"/>
                </a:gs>
              </a:gsLst>
              <a:lin ang="135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 name="弦形 10"/>
          <p:cNvSpPr/>
          <p:nvPr/>
        </p:nvSpPr>
        <p:spPr>
          <a:xfrm rot="5400000">
            <a:off x="8992235" y="2012315"/>
            <a:ext cx="1368425" cy="1771015"/>
          </a:xfrm>
          <a:prstGeom prst="chord">
            <a:avLst>
              <a:gd name="adj1" fmla="val 5460645"/>
              <a:gd name="adj2" fmla="val 16200000"/>
            </a:avLst>
          </a:prstGeom>
          <a:gradFill>
            <a:gsLst>
              <a:gs pos="18000">
                <a:srgbClr val="FFFFFF">
                  <a:alpha val="58000"/>
                </a:srgbClr>
              </a:gs>
              <a:gs pos="100000">
                <a:srgbClr val="FFFFFF">
                  <a:alpha val="22000"/>
                </a:srgbClr>
              </a:gs>
            </a:gsLst>
            <a:lin ang="10800000" scaled="1"/>
          </a:gradFill>
          <a:ln>
            <a:gradFill>
              <a:gsLst>
                <a:gs pos="0">
                  <a:srgbClr val="B3D4FE">
                    <a:alpha val="0"/>
                  </a:srgbClr>
                </a:gs>
                <a:gs pos="100000">
                  <a:srgbClr val="B3D4FE"/>
                </a:gs>
              </a:gsLst>
              <a:lin ang="135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3" name="文本框 12"/>
          <p:cNvSpPr txBox="1"/>
          <p:nvPr/>
        </p:nvSpPr>
        <p:spPr>
          <a:xfrm>
            <a:off x="2340610" y="2335848"/>
            <a:ext cx="1120775" cy="521970"/>
          </a:xfrm>
          <a:prstGeom prst="rect">
            <a:avLst/>
          </a:prstGeom>
          <a:noFill/>
        </p:spPr>
        <p:txBody>
          <a:bodyPr wrap="square" rtlCol="0">
            <a:spAutoFit/>
          </a:bodyPr>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行政创新</a:t>
            </a:r>
            <a:endParaRPr lang="en-US" altLang="zh-CN" sz="14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推动力</a:t>
            </a:r>
            <a:endParaRPr lang="zh-CN" altLang="en-US" sz="1400" b="1" dirty="0">
              <a:solidFill>
                <a:srgbClr val="0042FF"/>
              </a:solidFill>
              <a:latin typeface="微软雅黑"/>
              <a:ea typeface="微软雅黑"/>
              <a:cs typeface="微软雅黑"/>
            </a:endParaRPr>
          </a:p>
        </p:txBody>
      </p:sp>
      <p:sp>
        <p:nvSpPr>
          <p:cNvPr id="14" name="文本框 13"/>
          <p:cNvSpPr txBox="1"/>
          <p:nvPr/>
        </p:nvSpPr>
        <p:spPr>
          <a:xfrm>
            <a:off x="4579620" y="2313305"/>
            <a:ext cx="1120775" cy="521970"/>
          </a:xfrm>
          <a:prstGeom prst="rect">
            <a:avLst/>
          </a:prstGeom>
          <a:noFill/>
        </p:spPr>
        <p:txBody>
          <a:bodyPr wrap="square" rtlCol="0">
            <a:spAutoFit/>
          </a:bodyPr>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行政流程</a:t>
            </a:r>
            <a:endParaRPr lang="en-US" altLang="zh-CN" sz="14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再造力</a:t>
            </a:r>
            <a:endParaRPr lang="zh-CN" altLang="en-US" sz="1400" b="1" dirty="0">
              <a:solidFill>
                <a:srgbClr val="0042FF"/>
              </a:solidFill>
              <a:latin typeface="微软雅黑"/>
              <a:ea typeface="微软雅黑"/>
              <a:cs typeface="微软雅黑"/>
            </a:endParaRPr>
          </a:p>
        </p:txBody>
      </p:sp>
      <p:sp>
        <p:nvSpPr>
          <p:cNvPr id="15" name="文本框 14"/>
          <p:cNvSpPr txBox="1"/>
          <p:nvPr/>
        </p:nvSpPr>
        <p:spPr>
          <a:xfrm>
            <a:off x="6847840" y="2313305"/>
            <a:ext cx="1120775" cy="521970"/>
          </a:xfrm>
          <a:prstGeom prst="rect">
            <a:avLst/>
          </a:prstGeom>
          <a:noFill/>
        </p:spPr>
        <p:txBody>
          <a:bodyPr wrap="square" rtlCol="0">
            <a:spAutoFit/>
          </a:bodyPr>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行政业务</a:t>
            </a:r>
            <a:endParaRPr lang="en-US" altLang="zh-CN" sz="14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协同力</a:t>
            </a:r>
            <a:endParaRPr lang="zh-CN" altLang="en-US" sz="1400" b="1" dirty="0">
              <a:solidFill>
                <a:srgbClr val="0042FF"/>
              </a:solidFill>
              <a:latin typeface="微软雅黑"/>
              <a:ea typeface="微软雅黑"/>
              <a:cs typeface="微软雅黑"/>
            </a:endParaRPr>
          </a:p>
        </p:txBody>
      </p:sp>
      <p:sp>
        <p:nvSpPr>
          <p:cNvPr id="16" name="文本框 15"/>
          <p:cNvSpPr txBox="1"/>
          <p:nvPr/>
        </p:nvSpPr>
        <p:spPr>
          <a:xfrm>
            <a:off x="9116695" y="2313305"/>
            <a:ext cx="1120775" cy="521970"/>
          </a:xfrm>
          <a:prstGeom prst="rect">
            <a:avLst/>
          </a:prstGeom>
          <a:noFill/>
        </p:spPr>
        <p:txBody>
          <a:bodyPr wrap="square" rtlCol="0">
            <a:spAutoFit/>
          </a:bodyPr>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行政职能</a:t>
            </a:r>
            <a:endParaRPr lang="en-US" altLang="zh-CN" sz="14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专业力</a:t>
            </a:r>
            <a:endParaRPr lang="zh-CN" altLang="en-US" sz="1400" b="1" dirty="0">
              <a:solidFill>
                <a:srgbClr val="0042FF"/>
              </a:solidFill>
              <a:latin typeface="微软雅黑"/>
              <a:ea typeface="微软雅黑"/>
              <a:cs typeface="微软雅黑"/>
            </a:endParaRPr>
          </a:p>
        </p:txBody>
      </p:sp>
      <p:sp>
        <p:nvSpPr>
          <p:cNvPr id="20" name="矩形 19"/>
          <p:cNvSpPr/>
          <p:nvPr/>
        </p:nvSpPr>
        <p:spPr>
          <a:xfrm>
            <a:off x="3231515" y="2992120"/>
            <a:ext cx="2044065" cy="323850"/>
          </a:xfrm>
          <a:prstGeom prst="rect">
            <a:avLst/>
          </a:prstGeom>
          <a:gradFill flip="none" rotWithShape="1">
            <a:gsLst>
              <a:gs pos="0">
                <a:srgbClr val="3368FF"/>
              </a:gs>
              <a:gs pos="100000">
                <a:srgbClr val="0042FF"/>
              </a:gs>
            </a:gsLst>
            <a:lin ang="2700000" scaled="1"/>
            <a:tileRect/>
          </a:gradFill>
          <a:ln>
            <a:noFill/>
            <a:prstDash val="solid"/>
          </a:ln>
          <a:effectLst>
            <a:innerShdw blurRad="2794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600" spc="300">
                <a:solidFill>
                  <a:srgbClr val="FFFFFF"/>
                </a:solidFill>
                <a:latin typeface="微软雅黑"/>
                <a:ea typeface="微软雅黑"/>
                <a:cs typeface="微软雅黑"/>
                <a:sym typeface="微软雅黑"/>
              </a:rPr>
              <a:t>组织</a:t>
            </a:r>
            <a:endParaRPr lang="zh-CN" altLang="en-US" sz="1600" spc="300">
              <a:solidFill>
                <a:srgbClr val="FFFFFF"/>
              </a:solidFill>
              <a:latin typeface="微软雅黑"/>
              <a:ea typeface="微软雅黑"/>
              <a:cs typeface="微软雅黑"/>
              <a:sym typeface="微软雅黑"/>
            </a:endParaRPr>
          </a:p>
        </p:txBody>
      </p:sp>
      <p:sp>
        <p:nvSpPr>
          <p:cNvPr id="21" name="矩形 20"/>
          <p:cNvSpPr/>
          <p:nvPr/>
        </p:nvSpPr>
        <p:spPr>
          <a:xfrm>
            <a:off x="5384165" y="2992120"/>
            <a:ext cx="2265045" cy="323850"/>
          </a:xfrm>
          <a:prstGeom prst="rect">
            <a:avLst/>
          </a:prstGeom>
          <a:gradFill>
            <a:gsLst>
              <a:gs pos="0">
                <a:srgbClr val="B3D4FE"/>
              </a:gs>
              <a:gs pos="10000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a:p>
            <a:pPr algn="ctr">
              <a:defRPr>
                <a:latin typeface="微软雅黑"/>
                <a:ea typeface="微软雅黑"/>
                <a:cs typeface="微软雅黑"/>
              </a:defRPr>
            </a:pPr>
            <a:r>
              <a:rPr lang="zh-CN" altLang="en-US" sz="1600" dirty="0">
                <a:latin typeface="微软雅黑"/>
                <a:ea typeface="微软雅黑"/>
                <a:cs typeface="微软雅黑"/>
              </a:rPr>
              <a:t>指挥</a:t>
            </a:r>
            <a:r>
              <a:rPr lang="en-US" altLang="zh-CN" sz="1600" spc="300">
                <a:solidFill>
                  <a:srgbClr val="383838"/>
                </a:solidFill>
                <a:latin typeface="微软雅黑"/>
                <a:ea typeface="微软雅黑"/>
                <a:cs typeface="微软雅黑"/>
                <a:sym typeface="微软雅黑"/>
              </a:rPr>
              <a:t>  |   </a:t>
            </a:r>
            <a:r>
              <a:rPr lang="zh-CN" altLang="en-US" sz="1600" spc="300">
                <a:solidFill>
                  <a:srgbClr val="383838"/>
                </a:solidFill>
                <a:latin typeface="微软雅黑"/>
                <a:ea typeface="微软雅黑"/>
                <a:cs typeface="微软雅黑"/>
                <a:sym typeface="微软雅黑"/>
              </a:rPr>
              <a:t>协调</a:t>
            </a:r>
            <a:endParaRPr lang="zh-CN" altLang="en-US" sz="1600" spc="300" dirty="0">
              <a:solidFill>
                <a:srgbClr val="383838"/>
              </a:solidFill>
              <a:latin typeface="微软雅黑"/>
              <a:ea typeface="微软雅黑"/>
              <a:cs typeface="微软雅黑"/>
              <a:sym typeface="微软雅黑"/>
            </a:endParaRPr>
          </a:p>
        </p:txBody>
      </p:sp>
      <p:sp>
        <p:nvSpPr>
          <p:cNvPr id="23" name="矩形 22"/>
          <p:cNvSpPr/>
          <p:nvPr/>
        </p:nvSpPr>
        <p:spPr>
          <a:xfrm>
            <a:off x="7777480" y="2992120"/>
            <a:ext cx="2785745" cy="323850"/>
          </a:xfrm>
          <a:prstGeom prst="rect">
            <a:avLst/>
          </a:prstGeom>
          <a:gradFill flip="none" rotWithShape="1">
            <a:gsLst>
              <a:gs pos="0">
                <a:srgbClr val="3368FF"/>
              </a:gs>
              <a:gs pos="100000">
                <a:srgbClr val="0042FF"/>
              </a:gs>
            </a:gsLst>
            <a:lin ang="2700000" scaled="1"/>
            <a:tileRect/>
          </a:gradFill>
          <a:ln>
            <a:noFill/>
            <a:prstDash val="solid"/>
          </a:ln>
          <a:effectLst>
            <a:innerShdw blurRad="2794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600" spc="300">
                <a:solidFill>
                  <a:srgbClr val="FFFFFF"/>
                </a:solidFill>
                <a:latin typeface="微软雅黑"/>
                <a:ea typeface="微软雅黑"/>
                <a:cs typeface="微软雅黑"/>
                <a:sym typeface="微软雅黑"/>
              </a:rPr>
              <a:t>控制</a:t>
            </a:r>
            <a:r>
              <a:rPr lang="en-US" altLang="zh-CN" sz="1600" spc="300">
                <a:solidFill>
                  <a:srgbClr val="FFFFFF"/>
                </a:solidFill>
                <a:latin typeface="微软雅黑"/>
                <a:ea typeface="微软雅黑"/>
                <a:cs typeface="微软雅黑"/>
                <a:sym typeface="微软雅黑"/>
              </a:rPr>
              <a:t>     |    </a:t>
            </a:r>
            <a:r>
              <a:rPr lang="zh-CN" altLang="en-US" sz="1600" spc="300">
                <a:solidFill>
                  <a:srgbClr val="FFFFFF"/>
                </a:solidFill>
                <a:latin typeface="微软雅黑"/>
                <a:ea typeface="微软雅黑"/>
                <a:cs typeface="微软雅黑"/>
                <a:sym typeface="微软雅黑"/>
              </a:rPr>
              <a:t>服务</a:t>
            </a:r>
            <a:endParaRPr lang="zh-CN" altLang="en-US" sz="1600" spc="300">
              <a:solidFill>
                <a:srgbClr val="FFFFFF"/>
              </a:solidFill>
              <a:latin typeface="微软雅黑"/>
              <a:ea typeface="微软雅黑"/>
              <a:cs typeface="微软雅黑"/>
              <a:sym typeface="微软雅黑"/>
            </a:endParaRPr>
          </a:p>
        </p:txBody>
      </p:sp>
      <p:sp>
        <p:nvSpPr>
          <p:cNvPr id="29" name="矩形 28"/>
          <p:cNvSpPr/>
          <p:nvPr/>
        </p:nvSpPr>
        <p:spPr>
          <a:xfrm>
            <a:off x="3235960" y="3427730"/>
            <a:ext cx="46799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制度文书</a:t>
            </a:r>
            <a:endParaRPr lang="zh-CN" altLang="en-US" sz="1200" dirty="0">
              <a:solidFill>
                <a:srgbClr val="FFFFFF"/>
              </a:solidFill>
              <a:latin typeface="微软雅黑"/>
              <a:ea typeface="微软雅黑"/>
              <a:cs typeface="微软雅黑"/>
            </a:endParaRPr>
          </a:p>
        </p:txBody>
      </p:sp>
      <p:sp>
        <p:nvSpPr>
          <p:cNvPr id="30" name="矩形 29"/>
          <p:cNvSpPr/>
          <p:nvPr/>
        </p:nvSpPr>
        <p:spPr>
          <a:xfrm>
            <a:off x="3759835" y="3427730"/>
            <a:ext cx="46799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文化落地</a:t>
            </a:r>
            <a:endParaRPr lang="zh-CN" altLang="en-US" sz="1200" dirty="0">
              <a:solidFill>
                <a:srgbClr val="FFFFFF"/>
              </a:solidFill>
              <a:latin typeface="微软雅黑"/>
              <a:ea typeface="微软雅黑"/>
              <a:cs typeface="微软雅黑"/>
            </a:endParaRPr>
          </a:p>
        </p:txBody>
      </p:sp>
      <p:sp>
        <p:nvSpPr>
          <p:cNvPr id="31" name="矩形 30"/>
          <p:cNvSpPr/>
          <p:nvPr/>
        </p:nvSpPr>
        <p:spPr>
          <a:xfrm>
            <a:off x="4283710" y="3427730"/>
            <a:ext cx="46799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创新管理</a:t>
            </a:r>
            <a:endParaRPr lang="zh-CN" altLang="en-US" sz="1200" dirty="0">
              <a:solidFill>
                <a:srgbClr val="FFFFFF"/>
              </a:solidFill>
              <a:latin typeface="微软雅黑"/>
              <a:ea typeface="微软雅黑"/>
              <a:cs typeface="微软雅黑"/>
            </a:endParaRPr>
          </a:p>
        </p:txBody>
      </p:sp>
      <p:sp>
        <p:nvSpPr>
          <p:cNvPr id="32" name="矩形 31"/>
          <p:cNvSpPr/>
          <p:nvPr/>
        </p:nvSpPr>
        <p:spPr>
          <a:xfrm>
            <a:off x="4808220" y="3427730"/>
            <a:ext cx="46799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环境安全</a:t>
            </a:r>
            <a:endParaRPr lang="zh-CN" altLang="en-US" sz="1200" dirty="0">
              <a:solidFill>
                <a:srgbClr val="FFFFFF"/>
              </a:solidFill>
              <a:latin typeface="微软雅黑"/>
              <a:ea typeface="微软雅黑"/>
              <a:cs typeface="微软雅黑"/>
            </a:endParaRPr>
          </a:p>
        </p:txBody>
      </p:sp>
      <p:sp>
        <p:nvSpPr>
          <p:cNvPr id="34" name="矩形 33"/>
          <p:cNvSpPr/>
          <p:nvPr/>
        </p:nvSpPr>
        <p:spPr>
          <a:xfrm>
            <a:off x="3231515" y="4287520"/>
            <a:ext cx="467995" cy="21844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制度</a:t>
            </a:r>
            <a:endParaRPr lang="zh-CN" altLang="en-US" sz="1050" dirty="0">
              <a:solidFill>
                <a:srgbClr val="383838"/>
              </a:solidFill>
              <a:latin typeface="微软雅黑"/>
              <a:ea typeface="微软雅黑"/>
              <a:cs typeface="微软雅黑"/>
            </a:endParaRPr>
          </a:p>
        </p:txBody>
      </p:sp>
      <p:sp>
        <p:nvSpPr>
          <p:cNvPr id="35" name="矩形 34"/>
          <p:cNvSpPr/>
          <p:nvPr/>
        </p:nvSpPr>
        <p:spPr>
          <a:xfrm>
            <a:off x="3231515" y="4572000"/>
            <a:ext cx="467995" cy="21844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流程</a:t>
            </a:r>
            <a:endParaRPr lang="zh-CN" altLang="en-US" sz="1050" dirty="0">
              <a:solidFill>
                <a:srgbClr val="383838"/>
              </a:solidFill>
              <a:latin typeface="微软雅黑"/>
              <a:ea typeface="微软雅黑"/>
              <a:cs typeface="微软雅黑"/>
            </a:endParaRPr>
          </a:p>
        </p:txBody>
      </p:sp>
      <p:sp>
        <p:nvSpPr>
          <p:cNvPr id="36" name="矩形 35"/>
          <p:cNvSpPr/>
          <p:nvPr/>
        </p:nvSpPr>
        <p:spPr>
          <a:xfrm>
            <a:off x="3231515" y="4856480"/>
            <a:ext cx="467995" cy="21844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公文</a:t>
            </a:r>
            <a:endParaRPr lang="zh-CN" altLang="en-US" sz="1050" dirty="0">
              <a:solidFill>
                <a:srgbClr val="383838"/>
              </a:solidFill>
              <a:latin typeface="微软雅黑"/>
              <a:ea typeface="微软雅黑"/>
              <a:cs typeface="微软雅黑"/>
            </a:endParaRPr>
          </a:p>
        </p:txBody>
      </p:sp>
      <p:sp>
        <p:nvSpPr>
          <p:cNvPr id="37" name="矩形 36"/>
          <p:cNvSpPr/>
          <p:nvPr/>
        </p:nvSpPr>
        <p:spPr>
          <a:xfrm>
            <a:off x="3231515" y="5141595"/>
            <a:ext cx="467995" cy="21844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印章</a:t>
            </a:r>
            <a:endParaRPr lang="zh-CN" altLang="en-US" sz="1050" dirty="0">
              <a:solidFill>
                <a:srgbClr val="383838"/>
              </a:solidFill>
              <a:latin typeface="微软雅黑"/>
              <a:ea typeface="微软雅黑"/>
              <a:cs typeface="微软雅黑"/>
            </a:endParaRPr>
          </a:p>
        </p:txBody>
      </p:sp>
      <p:sp>
        <p:nvSpPr>
          <p:cNvPr id="38" name="矩形 37"/>
          <p:cNvSpPr/>
          <p:nvPr/>
        </p:nvSpPr>
        <p:spPr>
          <a:xfrm>
            <a:off x="3231515" y="5426075"/>
            <a:ext cx="467995" cy="21844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档案</a:t>
            </a:r>
            <a:endParaRPr lang="zh-CN" altLang="en-US" sz="1050" dirty="0">
              <a:solidFill>
                <a:srgbClr val="383838"/>
              </a:solidFill>
              <a:latin typeface="微软雅黑"/>
              <a:ea typeface="微软雅黑"/>
              <a:cs typeface="微软雅黑"/>
            </a:endParaRPr>
          </a:p>
        </p:txBody>
      </p:sp>
      <p:sp>
        <p:nvSpPr>
          <p:cNvPr id="39" name="矩形 38"/>
          <p:cNvSpPr/>
          <p:nvPr/>
        </p:nvSpPr>
        <p:spPr>
          <a:xfrm>
            <a:off x="3231515" y="5710555"/>
            <a:ext cx="467995" cy="21844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信息</a:t>
            </a:r>
            <a:endParaRPr lang="zh-CN" altLang="en-US" sz="1050" dirty="0">
              <a:solidFill>
                <a:srgbClr val="383838"/>
              </a:solidFill>
              <a:latin typeface="微软雅黑"/>
              <a:ea typeface="微软雅黑"/>
              <a:cs typeface="微软雅黑"/>
            </a:endParaRPr>
          </a:p>
        </p:txBody>
      </p:sp>
      <p:sp>
        <p:nvSpPr>
          <p:cNvPr id="41" name="矩形 40"/>
          <p:cNvSpPr/>
          <p:nvPr/>
        </p:nvSpPr>
        <p:spPr>
          <a:xfrm>
            <a:off x="3758565" y="4287520"/>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行政</a:t>
            </a:r>
            <a:endParaRPr lang="zh-CN" altLang="en-US" sz="105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交流</a:t>
            </a:r>
            <a:endParaRPr lang="zh-CN" altLang="en-US" sz="1050" dirty="0">
              <a:solidFill>
                <a:srgbClr val="383838"/>
              </a:solidFill>
              <a:latin typeface="微软雅黑"/>
              <a:ea typeface="微软雅黑"/>
              <a:cs typeface="微软雅黑"/>
              <a:sym typeface="微软雅黑"/>
            </a:endParaRPr>
          </a:p>
        </p:txBody>
      </p:sp>
      <p:sp>
        <p:nvSpPr>
          <p:cNvPr id="42" name="矩形 41"/>
          <p:cNvSpPr/>
          <p:nvPr/>
        </p:nvSpPr>
        <p:spPr>
          <a:xfrm>
            <a:off x="3758565" y="4867275"/>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团建</a:t>
            </a:r>
            <a:endParaRPr lang="zh-CN" altLang="en-US" sz="105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活动</a:t>
            </a:r>
            <a:endParaRPr lang="zh-CN" altLang="en-US" sz="1050" dirty="0">
              <a:solidFill>
                <a:srgbClr val="383838"/>
              </a:solidFill>
              <a:latin typeface="微软雅黑"/>
              <a:ea typeface="微软雅黑"/>
              <a:cs typeface="微软雅黑"/>
              <a:sym typeface="微软雅黑"/>
            </a:endParaRPr>
          </a:p>
        </p:txBody>
      </p:sp>
      <p:sp>
        <p:nvSpPr>
          <p:cNvPr id="43" name="矩形 42"/>
          <p:cNvSpPr/>
          <p:nvPr/>
        </p:nvSpPr>
        <p:spPr>
          <a:xfrm>
            <a:off x="3758565" y="5446395"/>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文化</a:t>
            </a:r>
            <a:endParaRPr lang="zh-CN" altLang="en-US" sz="105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培训</a:t>
            </a:r>
            <a:endParaRPr lang="zh-CN" altLang="en-US" sz="1050" dirty="0">
              <a:solidFill>
                <a:srgbClr val="383838"/>
              </a:solidFill>
              <a:latin typeface="微软雅黑"/>
              <a:ea typeface="微软雅黑"/>
              <a:cs typeface="微软雅黑"/>
              <a:sym typeface="微软雅黑"/>
            </a:endParaRPr>
          </a:p>
        </p:txBody>
      </p:sp>
      <p:sp>
        <p:nvSpPr>
          <p:cNvPr id="44" name="矩形 43"/>
          <p:cNvSpPr/>
          <p:nvPr/>
        </p:nvSpPr>
        <p:spPr>
          <a:xfrm>
            <a:off x="4289425" y="4287520"/>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体系</a:t>
            </a:r>
            <a:endParaRPr lang="zh-CN" altLang="en-US" sz="105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氛围</a:t>
            </a:r>
            <a:endParaRPr lang="zh-CN" altLang="en-US" sz="1050" dirty="0">
              <a:solidFill>
                <a:srgbClr val="383838"/>
              </a:solidFill>
              <a:latin typeface="微软雅黑"/>
              <a:ea typeface="微软雅黑"/>
              <a:cs typeface="微软雅黑"/>
              <a:sym typeface="微软雅黑"/>
            </a:endParaRPr>
          </a:p>
        </p:txBody>
      </p:sp>
      <p:sp>
        <p:nvSpPr>
          <p:cNvPr id="45" name="矩形 44"/>
          <p:cNvSpPr/>
          <p:nvPr/>
        </p:nvSpPr>
        <p:spPr>
          <a:xfrm>
            <a:off x="4289425" y="4867275"/>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项目</a:t>
            </a:r>
            <a:endParaRPr lang="zh-CN" altLang="en-US" sz="105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管理</a:t>
            </a:r>
            <a:endParaRPr lang="zh-CN" altLang="en-US" sz="1050" dirty="0">
              <a:solidFill>
                <a:srgbClr val="383838"/>
              </a:solidFill>
              <a:latin typeface="微软雅黑"/>
              <a:ea typeface="微软雅黑"/>
              <a:cs typeface="微软雅黑"/>
              <a:sym typeface="微软雅黑"/>
            </a:endParaRPr>
          </a:p>
        </p:txBody>
      </p:sp>
      <p:sp>
        <p:nvSpPr>
          <p:cNvPr id="46" name="矩形 45"/>
          <p:cNvSpPr/>
          <p:nvPr/>
        </p:nvSpPr>
        <p:spPr>
          <a:xfrm>
            <a:off x="4289425" y="5446395"/>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IP</a:t>
            </a:r>
            <a:endParaRPr lang="zh-CN" altLang="en-US" sz="105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打造</a:t>
            </a:r>
            <a:endParaRPr lang="zh-CN" altLang="en-US" sz="1050" dirty="0">
              <a:solidFill>
                <a:srgbClr val="383838"/>
              </a:solidFill>
              <a:latin typeface="微软雅黑"/>
              <a:ea typeface="微软雅黑"/>
              <a:cs typeface="微软雅黑"/>
              <a:sym typeface="微软雅黑"/>
            </a:endParaRPr>
          </a:p>
        </p:txBody>
      </p:sp>
      <p:sp>
        <p:nvSpPr>
          <p:cNvPr id="47" name="矩形 46"/>
          <p:cNvSpPr/>
          <p:nvPr/>
        </p:nvSpPr>
        <p:spPr>
          <a:xfrm>
            <a:off x="4824730" y="4285615"/>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办公</a:t>
            </a:r>
            <a:endParaRPr lang="zh-CN" altLang="en-US" sz="1050" dirty="0">
              <a:solidFill>
                <a:srgbClr val="383838"/>
              </a:solidFill>
              <a:latin typeface="微软雅黑"/>
              <a:ea typeface="微软雅黑"/>
              <a:cs typeface="微软雅黑"/>
              <a:sym typeface="微软雅黑"/>
            </a:endParaRPr>
          </a:p>
        </p:txBody>
      </p:sp>
      <p:sp>
        <p:nvSpPr>
          <p:cNvPr id="48" name="矩形 47"/>
          <p:cNvSpPr/>
          <p:nvPr/>
        </p:nvSpPr>
        <p:spPr>
          <a:xfrm>
            <a:off x="4824730" y="4865370"/>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安保</a:t>
            </a:r>
            <a:endParaRPr lang="zh-CN" altLang="en-US" sz="1050" dirty="0">
              <a:solidFill>
                <a:srgbClr val="383838"/>
              </a:solidFill>
              <a:latin typeface="微软雅黑"/>
              <a:ea typeface="微软雅黑"/>
              <a:cs typeface="微软雅黑"/>
              <a:sym typeface="微软雅黑"/>
            </a:endParaRPr>
          </a:p>
        </p:txBody>
      </p:sp>
      <p:sp>
        <p:nvSpPr>
          <p:cNvPr id="49" name="矩形 48"/>
          <p:cNvSpPr/>
          <p:nvPr/>
        </p:nvSpPr>
        <p:spPr>
          <a:xfrm>
            <a:off x="4824730" y="5444490"/>
            <a:ext cx="467995" cy="48196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消防</a:t>
            </a:r>
            <a:endParaRPr lang="zh-CN" altLang="en-US" sz="1050" dirty="0">
              <a:solidFill>
                <a:srgbClr val="383838"/>
              </a:solidFill>
              <a:latin typeface="微软雅黑"/>
              <a:ea typeface="微软雅黑"/>
              <a:cs typeface="微软雅黑"/>
              <a:sym typeface="微软雅黑"/>
            </a:endParaRPr>
          </a:p>
        </p:txBody>
      </p:sp>
      <p:sp>
        <p:nvSpPr>
          <p:cNvPr id="50" name="矩形 49"/>
          <p:cNvSpPr/>
          <p:nvPr/>
        </p:nvSpPr>
        <p:spPr>
          <a:xfrm>
            <a:off x="5405120" y="3427730"/>
            <a:ext cx="925195" cy="811530"/>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效率</a:t>
            </a:r>
            <a:endParaRPr lang="en-US" altLang="zh-CN" sz="12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提升</a:t>
            </a:r>
            <a:endParaRPr lang="zh-CN" altLang="en-US" sz="1200" dirty="0">
              <a:solidFill>
                <a:srgbClr val="383838"/>
              </a:solidFill>
              <a:latin typeface="微软雅黑"/>
              <a:ea typeface="微软雅黑"/>
              <a:cs typeface="微软雅黑"/>
            </a:endParaRPr>
          </a:p>
        </p:txBody>
      </p:sp>
      <p:sp>
        <p:nvSpPr>
          <p:cNvPr id="51" name="矩形 50"/>
          <p:cNvSpPr/>
          <p:nvPr/>
        </p:nvSpPr>
        <p:spPr>
          <a:xfrm>
            <a:off x="5396865" y="4287520"/>
            <a:ext cx="925195" cy="21844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专项</a:t>
            </a:r>
            <a:endParaRPr lang="zh-CN" altLang="en-US" sz="1050" dirty="0">
              <a:solidFill>
                <a:srgbClr val="383838"/>
              </a:solidFill>
              <a:latin typeface="微软雅黑"/>
              <a:ea typeface="微软雅黑"/>
              <a:cs typeface="微软雅黑"/>
            </a:endParaRPr>
          </a:p>
        </p:txBody>
      </p:sp>
      <p:sp>
        <p:nvSpPr>
          <p:cNvPr id="52" name="矩形 51"/>
          <p:cNvSpPr/>
          <p:nvPr/>
        </p:nvSpPr>
        <p:spPr>
          <a:xfrm>
            <a:off x="5396865" y="4572000"/>
            <a:ext cx="925195" cy="21844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追踪</a:t>
            </a:r>
            <a:endParaRPr lang="zh-CN" altLang="en-US" sz="1050" dirty="0">
              <a:solidFill>
                <a:srgbClr val="383838"/>
              </a:solidFill>
              <a:latin typeface="微软雅黑"/>
              <a:ea typeface="微软雅黑"/>
              <a:cs typeface="微软雅黑"/>
              <a:sym typeface="微软雅黑"/>
            </a:endParaRPr>
          </a:p>
        </p:txBody>
      </p:sp>
      <p:sp>
        <p:nvSpPr>
          <p:cNvPr id="53" name="矩形 52"/>
          <p:cNvSpPr/>
          <p:nvPr/>
        </p:nvSpPr>
        <p:spPr>
          <a:xfrm>
            <a:off x="5396865" y="4856480"/>
            <a:ext cx="925195" cy="21844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会议</a:t>
            </a:r>
            <a:endParaRPr lang="zh-CN" altLang="en-US" sz="1050" dirty="0">
              <a:solidFill>
                <a:srgbClr val="383838"/>
              </a:solidFill>
              <a:latin typeface="微软雅黑"/>
              <a:ea typeface="微软雅黑"/>
              <a:cs typeface="微软雅黑"/>
              <a:sym typeface="微软雅黑"/>
            </a:endParaRPr>
          </a:p>
        </p:txBody>
      </p:sp>
      <p:sp>
        <p:nvSpPr>
          <p:cNvPr id="54" name="矩形 53"/>
          <p:cNvSpPr/>
          <p:nvPr/>
        </p:nvSpPr>
        <p:spPr>
          <a:xfrm>
            <a:off x="5396865" y="5141595"/>
            <a:ext cx="925195" cy="21844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赋能</a:t>
            </a:r>
            <a:endParaRPr lang="zh-CN" altLang="en-US" sz="1050" dirty="0">
              <a:solidFill>
                <a:srgbClr val="383838"/>
              </a:solidFill>
              <a:latin typeface="微软雅黑"/>
              <a:ea typeface="微软雅黑"/>
              <a:cs typeface="微软雅黑"/>
              <a:sym typeface="微软雅黑"/>
            </a:endParaRPr>
          </a:p>
        </p:txBody>
      </p:sp>
      <p:sp>
        <p:nvSpPr>
          <p:cNvPr id="55" name="矩形 54"/>
          <p:cNvSpPr/>
          <p:nvPr/>
        </p:nvSpPr>
        <p:spPr>
          <a:xfrm>
            <a:off x="5396865" y="5426075"/>
            <a:ext cx="925195" cy="21844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沟通</a:t>
            </a:r>
            <a:endParaRPr lang="zh-CN" altLang="en-US" sz="1050" dirty="0">
              <a:solidFill>
                <a:srgbClr val="383838"/>
              </a:solidFill>
              <a:latin typeface="微软雅黑"/>
              <a:ea typeface="微软雅黑"/>
              <a:cs typeface="微软雅黑"/>
              <a:sym typeface="微软雅黑"/>
            </a:endParaRPr>
          </a:p>
        </p:txBody>
      </p:sp>
      <p:sp>
        <p:nvSpPr>
          <p:cNvPr id="56" name="矩形 55"/>
          <p:cNvSpPr/>
          <p:nvPr/>
        </p:nvSpPr>
        <p:spPr>
          <a:xfrm>
            <a:off x="5396865" y="5710555"/>
            <a:ext cx="925195" cy="21844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评比</a:t>
            </a:r>
            <a:endParaRPr lang="zh-CN" altLang="en-US" sz="1050" dirty="0">
              <a:solidFill>
                <a:srgbClr val="383838"/>
              </a:solidFill>
              <a:latin typeface="微软雅黑"/>
              <a:ea typeface="微软雅黑"/>
              <a:cs typeface="微软雅黑"/>
              <a:sym typeface="微软雅黑"/>
            </a:endParaRPr>
          </a:p>
        </p:txBody>
      </p:sp>
      <p:sp>
        <p:nvSpPr>
          <p:cNvPr id="58" name="矩形 57"/>
          <p:cNvSpPr/>
          <p:nvPr/>
        </p:nvSpPr>
        <p:spPr>
          <a:xfrm>
            <a:off x="6443980" y="3427730"/>
            <a:ext cx="568325" cy="811530"/>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协同</a:t>
            </a:r>
            <a:endParaRPr lang="en-US" altLang="zh-CN" sz="12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支持</a:t>
            </a:r>
            <a:endParaRPr lang="zh-CN" altLang="en-US" sz="1200" dirty="0">
              <a:solidFill>
                <a:srgbClr val="383838"/>
              </a:solidFill>
              <a:latin typeface="微软雅黑"/>
              <a:ea typeface="微软雅黑"/>
              <a:cs typeface="微软雅黑"/>
            </a:endParaRPr>
          </a:p>
        </p:txBody>
      </p:sp>
      <p:sp>
        <p:nvSpPr>
          <p:cNvPr id="59" name="矩形 58"/>
          <p:cNvSpPr/>
          <p:nvPr/>
        </p:nvSpPr>
        <p:spPr>
          <a:xfrm>
            <a:off x="7080250" y="3427730"/>
            <a:ext cx="568325" cy="811530"/>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a:p>
            <a:pPr algn="ctr">
              <a:defRPr>
                <a:latin typeface="微软雅黑"/>
                <a:ea typeface="微软雅黑"/>
                <a:cs typeface="微软雅黑"/>
              </a:defRPr>
            </a:pPr>
            <a:r>
              <a:rPr lang="en-US" altLang="zh-CN" sz="1200" dirty="0">
                <a:solidFill>
                  <a:srgbClr val="383838"/>
                </a:solidFill>
                <a:latin typeface="微软雅黑"/>
                <a:ea typeface="微软雅黑"/>
                <a:cs typeface="微软雅黑"/>
              </a:rPr>
              <a:t>IT</a:t>
            </a:r>
            <a:endParaRPr lang="en-US" altLang="zh-CN" sz="12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统筹</a:t>
            </a:r>
            <a:endParaRPr lang="zh-CN" altLang="en-US" sz="1200" dirty="0">
              <a:solidFill>
                <a:srgbClr val="383838"/>
              </a:solidFill>
              <a:latin typeface="微软雅黑"/>
              <a:ea typeface="微软雅黑"/>
              <a:cs typeface="微软雅黑"/>
            </a:endParaRPr>
          </a:p>
        </p:txBody>
      </p:sp>
      <p:sp>
        <p:nvSpPr>
          <p:cNvPr id="60" name="矩形 59"/>
          <p:cNvSpPr/>
          <p:nvPr/>
        </p:nvSpPr>
        <p:spPr>
          <a:xfrm>
            <a:off x="6450330" y="4287520"/>
            <a:ext cx="568325" cy="481965"/>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运营</a:t>
            </a:r>
            <a:endParaRPr lang="zh-CN" altLang="en-US" sz="1050" dirty="0">
              <a:solidFill>
                <a:srgbClr val="383838"/>
              </a:solidFill>
              <a:latin typeface="微软雅黑"/>
              <a:ea typeface="微软雅黑"/>
              <a:cs typeface="微软雅黑"/>
              <a:sym typeface="微软雅黑"/>
            </a:endParaRPr>
          </a:p>
        </p:txBody>
      </p:sp>
      <p:sp>
        <p:nvSpPr>
          <p:cNvPr id="61" name="矩形 60"/>
          <p:cNvSpPr/>
          <p:nvPr/>
        </p:nvSpPr>
        <p:spPr>
          <a:xfrm>
            <a:off x="6450330" y="4867275"/>
            <a:ext cx="568325" cy="481965"/>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接待</a:t>
            </a:r>
            <a:endParaRPr lang="zh-CN" altLang="en-US" sz="1050" dirty="0">
              <a:solidFill>
                <a:srgbClr val="383838"/>
              </a:solidFill>
              <a:latin typeface="微软雅黑"/>
              <a:ea typeface="微软雅黑"/>
              <a:cs typeface="微软雅黑"/>
              <a:sym typeface="微软雅黑"/>
            </a:endParaRPr>
          </a:p>
        </p:txBody>
      </p:sp>
      <p:sp>
        <p:nvSpPr>
          <p:cNvPr id="62" name="矩形 61"/>
          <p:cNvSpPr/>
          <p:nvPr/>
        </p:nvSpPr>
        <p:spPr>
          <a:xfrm>
            <a:off x="6450330" y="5446395"/>
            <a:ext cx="568325" cy="481965"/>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IP</a:t>
            </a:r>
            <a:endParaRPr lang="zh-CN" altLang="en-US" sz="1050" dirty="0">
              <a:solidFill>
                <a:srgbClr val="383838"/>
              </a:solidFill>
              <a:latin typeface="微软雅黑"/>
              <a:ea typeface="微软雅黑"/>
              <a:cs typeface="微软雅黑"/>
              <a:sym typeface="微软雅黑"/>
            </a:endParaRPr>
          </a:p>
        </p:txBody>
      </p:sp>
      <p:sp>
        <p:nvSpPr>
          <p:cNvPr id="63" name="矩形 62"/>
          <p:cNvSpPr/>
          <p:nvPr/>
        </p:nvSpPr>
        <p:spPr>
          <a:xfrm>
            <a:off x="7101205" y="4285615"/>
            <a:ext cx="568325" cy="37592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预算</a:t>
            </a:r>
            <a:endParaRPr lang="zh-CN" altLang="en-US" sz="1050" dirty="0">
              <a:solidFill>
                <a:srgbClr val="383838"/>
              </a:solidFill>
              <a:latin typeface="微软雅黑"/>
              <a:ea typeface="微软雅黑"/>
              <a:cs typeface="微软雅黑"/>
              <a:sym typeface="微软雅黑"/>
            </a:endParaRPr>
          </a:p>
        </p:txBody>
      </p:sp>
      <p:sp>
        <p:nvSpPr>
          <p:cNvPr id="64" name="矩形 63"/>
          <p:cNvSpPr/>
          <p:nvPr/>
        </p:nvSpPr>
        <p:spPr>
          <a:xfrm>
            <a:off x="7101205" y="4707890"/>
            <a:ext cx="568325" cy="37592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项目</a:t>
            </a:r>
            <a:endParaRPr lang="zh-CN" altLang="en-US" sz="1050" dirty="0">
              <a:solidFill>
                <a:srgbClr val="383838"/>
              </a:solidFill>
              <a:latin typeface="微软雅黑"/>
              <a:ea typeface="微软雅黑"/>
              <a:cs typeface="微软雅黑"/>
              <a:sym typeface="微软雅黑"/>
            </a:endParaRPr>
          </a:p>
        </p:txBody>
      </p:sp>
      <p:sp>
        <p:nvSpPr>
          <p:cNvPr id="65" name="矩形 64"/>
          <p:cNvSpPr/>
          <p:nvPr/>
        </p:nvSpPr>
        <p:spPr>
          <a:xfrm>
            <a:off x="7101205" y="5130800"/>
            <a:ext cx="568325" cy="375920"/>
          </a:xfrm>
          <a:prstGeom prst="rect">
            <a:avLst/>
          </a:prstGeom>
          <a:solidFill>
            <a:srgbClr val="FFFFFF">
              <a:alpha val="7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运维</a:t>
            </a:r>
            <a:endParaRPr lang="zh-CN" altLang="en-US" sz="1050" dirty="0">
              <a:solidFill>
                <a:srgbClr val="383838"/>
              </a:solidFill>
              <a:latin typeface="微软雅黑"/>
              <a:ea typeface="微软雅黑"/>
              <a:cs typeface="微软雅黑"/>
              <a:sym typeface="微软雅黑"/>
            </a:endParaRPr>
          </a:p>
        </p:txBody>
      </p:sp>
      <p:sp>
        <p:nvSpPr>
          <p:cNvPr id="68" name="矩形 67"/>
          <p:cNvSpPr/>
          <p:nvPr/>
        </p:nvSpPr>
        <p:spPr>
          <a:xfrm>
            <a:off x="7101205" y="5553075"/>
            <a:ext cx="568325" cy="375920"/>
          </a:xfrm>
          <a:prstGeom prst="rect">
            <a:avLst/>
          </a:prstGeom>
          <a:solidFill>
            <a:srgbClr val="FFFFFF">
              <a:alpha val="70000"/>
            </a:srgbClr>
          </a:solidFill>
          <a:ln>
            <a:noFill/>
          </a:ln>
        </p:spPr>
        <p:style>
          <a:lnRef idx="2">
            <a:srgbClr val="0042FF"/>
          </a:lnRef>
          <a:fillRef idx="1">
            <a:srgbClr val="0042FF"/>
          </a:fillRef>
          <a:effectRef idx="0">
            <a:srgbClr val="0042FF"/>
          </a:effectRef>
          <a:fontRef idx="minor">
            <a:srgbClr val="FFFFFF"/>
          </a:fontRef>
        </p:style>
        <p:txBody>
          <a:bodyPr lIns="0" rIns="0" rtlCol="0" anchor="ctr"/>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办公</a:t>
            </a:r>
            <a:endParaRPr lang="zh-CN" altLang="en-US" sz="1050" dirty="0">
              <a:solidFill>
                <a:srgbClr val="383838"/>
              </a:solidFill>
              <a:latin typeface="微软雅黑"/>
              <a:ea typeface="微软雅黑"/>
              <a:cs typeface="微软雅黑"/>
            </a:endParaRPr>
          </a:p>
        </p:txBody>
      </p:sp>
      <p:sp>
        <p:nvSpPr>
          <p:cNvPr id="69" name="矩形 68"/>
          <p:cNvSpPr/>
          <p:nvPr/>
        </p:nvSpPr>
        <p:spPr>
          <a:xfrm>
            <a:off x="7785100" y="3432810"/>
            <a:ext cx="56832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费用</a:t>
            </a:r>
            <a:endParaRPr lang="en-US" alt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采购</a:t>
            </a:r>
            <a:endParaRPr lang="zh-CN" altLang="en-US" sz="1200" dirty="0">
              <a:solidFill>
                <a:srgbClr val="FFFFFF"/>
              </a:solidFill>
              <a:latin typeface="微软雅黑"/>
              <a:ea typeface="微软雅黑"/>
              <a:cs typeface="微软雅黑"/>
            </a:endParaRPr>
          </a:p>
        </p:txBody>
      </p:sp>
      <p:sp>
        <p:nvSpPr>
          <p:cNvPr id="73" name="矩形 72"/>
          <p:cNvSpPr/>
          <p:nvPr/>
        </p:nvSpPr>
        <p:spPr>
          <a:xfrm>
            <a:off x="8425180" y="3427730"/>
            <a:ext cx="582930"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风险</a:t>
            </a:r>
            <a:endParaRPr lang="en-US" alt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管理</a:t>
            </a:r>
            <a:endParaRPr lang="zh-CN" altLang="en-US" sz="1200" dirty="0">
              <a:solidFill>
                <a:srgbClr val="FFFFFF"/>
              </a:solidFill>
              <a:latin typeface="微软雅黑"/>
              <a:ea typeface="微软雅黑"/>
              <a:cs typeface="微软雅黑"/>
            </a:endParaRPr>
          </a:p>
        </p:txBody>
      </p:sp>
      <p:sp>
        <p:nvSpPr>
          <p:cNvPr id="97" name="矩形 96"/>
          <p:cNvSpPr/>
          <p:nvPr/>
        </p:nvSpPr>
        <p:spPr>
          <a:xfrm>
            <a:off x="9140190" y="3427730"/>
            <a:ext cx="42735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空间管理</a:t>
            </a:r>
            <a:endParaRPr lang="zh-CN" altLang="en-US" sz="1200" dirty="0">
              <a:solidFill>
                <a:srgbClr val="FFFFFF"/>
              </a:solidFill>
              <a:latin typeface="微软雅黑"/>
              <a:ea typeface="微软雅黑"/>
              <a:cs typeface="微软雅黑"/>
            </a:endParaRPr>
          </a:p>
        </p:txBody>
      </p:sp>
      <p:sp>
        <p:nvSpPr>
          <p:cNvPr id="101" name="矩形 100"/>
          <p:cNvSpPr/>
          <p:nvPr/>
        </p:nvSpPr>
        <p:spPr>
          <a:xfrm>
            <a:off x="9639300" y="3428365"/>
            <a:ext cx="42735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综合服务</a:t>
            </a:r>
            <a:endParaRPr lang="zh-CN" altLang="en-US" sz="1200" dirty="0">
              <a:solidFill>
                <a:srgbClr val="FFFFFF"/>
              </a:solidFill>
              <a:latin typeface="微软雅黑"/>
              <a:ea typeface="微软雅黑"/>
              <a:cs typeface="微软雅黑"/>
            </a:endParaRPr>
          </a:p>
        </p:txBody>
      </p:sp>
      <p:sp>
        <p:nvSpPr>
          <p:cNvPr id="108" name="矩形 107"/>
          <p:cNvSpPr/>
          <p:nvPr/>
        </p:nvSpPr>
        <p:spPr>
          <a:xfrm>
            <a:off x="10135235" y="3427730"/>
            <a:ext cx="427355" cy="81153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资产管理</a:t>
            </a:r>
            <a:endParaRPr lang="zh-CN" altLang="en-US" sz="1200" dirty="0">
              <a:solidFill>
                <a:srgbClr val="FFFFFF"/>
              </a:solidFill>
              <a:latin typeface="微软雅黑"/>
              <a:ea typeface="微软雅黑"/>
              <a:cs typeface="微软雅黑"/>
            </a:endParaRPr>
          </a:p>
        </p:txBody>
      </p:sp>
      <p:grpSp>
        <p:nvGrpSpPr>
          <p:cNvPr id="40" name="组合 39"/>
          <p:cNvGrpSpPr/>
          <p:nvPr/>
        </p:nvGrpSpPr>
        <p:grpSpPr>
          <a:xfrm>
            <a:off x="7791450" y="4285615"/>
            <a:ext cx="2766695" cy="1647190"/>
            <a:chOff x="13228" y="6741"/>
            <a:chExt cx="4357" cy="2594"/>
          </a:xfrm>
        </p:grpSpPr>
        <p:sp>
          <p:nvSpPr>
            <p:cNvPr id="70" name="矩形 69"/>
            <p:cNvSpPr/>
            <p:nvPr/>
          </p:nvSpPr>
          <p:spPr>
            <a:xfrm>
              <a:off x="13228" y="6753"/>
              <a:ext cx="895" cy="759"/>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费用</a:t>
              </a:r>
              <a:endParaRPr lang="zh-CN" altLang="en-US" sz="1050" dirty="0">
                <a:solidFill>
                  <a:srgbClr val="383838"/>
                </a:solidFill>
                <a:latin typeface="微软雅黑"/>
                <a:ea typeface="微软雅黑"/>
                <a:cs typeface="微软雅黑"/>
                <a:sym typeface="微软雅黑"/>
              </a:endParaRPr>
            </a:p>
          </p:txBody>
        </p:sp>
        <p:sp>
          <p:nvSpPr>
            <p:cNvPr id="71" name="矩形 70"/>
            <p:cNvSpPr/>
            <p:nvPr/>
          </p:nvSpPr>
          <p:spPr>
            <a:xfrm>
              <a:off x="13228" y="7665"/>
              <a:ext cx="895" cy="759"/>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采购</a:t>
              </a:r>
              <a:endParaRPr lang="zh-CN" altLang="en-US" sz="1050" dirty="0">
                <a:solidFill>
                  <a:srgbClr val="383838"/>
                </a:solidFill>
                <a:latin typeface="微软雅黑"/>
                <a:ea typeface="微软雅黑"/>
                <a:cs typeface="微软雅黑"/>
                <a:sym typeface="微软雅黑"/>
              </a:endParaRPr>
            </a:p>
          </p:txBody>
        </p:sp>
        <p:sp>
          <p:nvSpPr>
            <p:cNvPr id="72" name="矩形 71"/>
            <p:cNvSpPr/>
            <p:nvPr/>
          </p:nvSpPr>
          <p:spPr>
            <a:xfrm>
              <a:off x="13228" y="8577"/>
              <a:ext cx="895" cy="759"/>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采招</a:t>
              </a:r>
              <a:endParaRPr lang="zh-CN" altLang="en-US" sz="1050" dirty="0">
                <a:solidFill>
                  <a:srgbClr val="383838"/>
                </a:solidFill>
                <a:latin typeface="微软雅黑"/>
                <a:ea typeface="微软雅黑"/>
                <a:cs typeface="微软雅黑"/>
                <a:sym typeface="微软雅黑"/>
              </a:endParaRPr>
            </a:p>
          </p:txBody>
        </p:sp>
        <p:sp>
          <p:nvSpPr>
            <p:cNvPr id="4" name="矩形 3"/>
            <p:cNvSpPr/>
            <p:nvPr/>
          </p:nvSpPr>
          <p:spPr>
            <a:xfrm>
              <a:off x="14249" y="6741"/>
              <a:ext cx="895" cy="592"/>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保密</a:t>
              </a:r>
              <a:endParaRPr lang="zh-CN" altLang="en-US" sz="1050" dirty="0">
                <a:solidFill>
                  <a:srgbClr val="383838"/>
                </a:solidFill>
                <a:latin typeface="微软雅黑"/>
                <a:ea typeface="微软雅黑"/>
                <a:cs typeface="微软雅黑"/>
                <a:sym typeface="微软雅黑"/>
              </a:endParaRPr>
            </a:p>
          </p:txBody>
        </p:sp>
        <p:sp>
          <p:nvSpPr>
            <p:cNvPr id="12" name="矩形 11"/>
            <p:cNvSpPr/>
            <p:nvPr/>
          </p:nvSpPr>
          <p:spPr>
            <a:xfrm>
              <a:off x="14249" y="7406"/>
              <a:ext cx="895" cy="592"/>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风险</a:t>
              </a:r>
              <a:endParaRPr lang="zh-CN" altLang="en-US" sz="1050" dirty="0">
                <a:solidFill>
                  <a:srgbClr val="383838"/>
                </a:solidFill>
                <a:latin typeface="微软雅黑"/>
                <a:ea typeface="微软雅黑"/>
                <a:cs typeface="微软雅黑"/>
                <a:sym typeface="微软雅黑"/>
              </a:endParaRPr>
            </a:p>
          </p:txBody>
        </p:sp>
        <p:sp>
          <p:nvSpPr>
            <p:cNvPr id="33" name="矩形 32"/>
            <p:cNvSpPr/>
            <p:nvPr/>
          </p:nvSpPr>
          <p:spPr>
            <a:xfrm>
              <a:off x="14249" y="8072"/>
              <a:ext cx="895" cy="592"/>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审计</a:t>
              </a:r>
              <a:endParaRPr lang="zh-CN" altLang="en-US" sz="1050" dirty="0">
                <a:solidFill>
                  <a:srgbClr val="383838"/>
                </a:solidFill>
                <a:latin typeface="微软雅黑"/>
                <a:ea typeface="微软雅黑"/>
                <a:cs typeface="微软雅黑"/>
                <a:sym typeface="微软雅黑"/>
              </a:endParaRPr>
            </a:p>
          </p:txBody>
        </p:sp>
        <p:sp>
          <p:nvSpPr>
            <p:cNvPr id="80" name="矩形 79"/>
            <p:cNvSpPr/>
            <p:nvPr/>
          </p:nvSpPr>
          <p:spPr>
            <a:xfrm>
              <a:off x="14249" y="8737"/>
              <a:ext cx="895" cy="592"/>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分配</a:t>
              </a:r>
              <a:endParaRPr lang="zh-CN" altLang="en-US" sz="1050" dirty="0">
                <a:solidFill>
                  <a:srgbClr val="383838"/>
                </a:solidFill>
                <a:latin typeface="微软雅黑"/>
                <a:ea typeface="微软雅黑"/>
                <a:cs typeface="微软雅黑"/>
                <a:sym typeface="微软雅黑"/>
              </a:endParaRPr>
            </a:p>
          </p:txBody>
        </p:sp>
        <p:sp>
          <p:nvSpPr>
            <p:cNvPr id="98" name="矩形 97"/>
            <p:cNvSpPr/>
            <p:nvPr/>
          </p:nvSpPr>
          <p:spPr>
            <a:xfrm>
              <a:off x="15359" y="6744"/>
              <a:ext cx="673" cy="58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VI</a:t>
              </a:r>
              <a:endParaRPr lang="zh-CN" altLang="en-US" sz="1050" dirty="0">
                <a:solidFill>
                  <a:srgbClr val="383838"/>
                </a:solidFill>
                <a:latin typeface="微软雅黑"/>
                <a:ea typeface="微软雅黑"/>
                <a:cs typeface="微软雅黑"/>
                <a:sym typeface="微软雅黑"/>
              </a:endParaRPr>
            </a:p>
          </p:txBody>
        </p:sp>
        <p:sp>
          <p:nvSpPr>
            <p:cNvPr id="99" name="矩形 98"/>
            <p:cNvSpPr/>
            <p:nvPr/>
          </p:nvSpPr>
          <p:spPr>
            <a:xfrm>
              <a:off x="15359" y="7406"/>
              <a:ext cx="673" cy="58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装修</a:t>
              </a:r>
              <a:endParaRPr lang="zh-CN" altLang="en-US" sz="1050" dirty="0">
                <a:solidFill>
                  <a:srgbClr val="383838"/>
                </a:solidFill>
                <a:latin typeface="微软雅黑"/>
                <a:ea typeface="微软雅黑"/>
                <a:cs typeface="微软雅黑"/>
                <a:sym typeface="微软雅黑"/>
              </a:endParaRPr>
            </a:p>
          </p:txBody>
        </p:sp>
        <p:sp>
          <p:nvSpPr>
            <p:cNvPr id="100" name="矩形 99"/>
            <p:cNvSpPr/>
            <p:nvPr/>
          </p:nvSpPr>
          <p:spPr>
            <a:xfrm>
              <a:off x="15359" y="8067"/>
              <a:ext cx="673" cy="58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装饰</a:t>
              </a:r>
              <a:endParaRPr lang="zh-CN" altLang="en-US" sz="1050" dirty="0">
                <a:solidFill>
                  <a:srgbClr val="383838"/>
                </a:solidFill>
                <a:latin typeface="微软雅黑"/>
                <a:ea typeface="微软雅黑"/>
                <a:cs typeface="微软雅黑"/>
                <a:sym typeface="微软雅黑"/>
              </a:endParaRPr>
            </a:p>
          </p:txBody>
        </p:sp>
        <p:sp>
          <p:nvSpPr>
            <p:cNvPr id="102" name="矩形 101"/>
            <p:cNvSpPr/>
            <p:nvPr/>
          </p:nvSpPr>
          <p:spPr>
            <a:xfrm>
              <a:off x="16132" y="6746"/>
              <a:ext cx="673" cy="344"/>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物业</a:t>
              </a:r>
              <a:endParaRPr lang="zh-CN" altLang="en-US" sz="1050" dirty="0">
                <a:solidFill>
                  <a:srgbClr val="383838"/>
                </a:solidFill>
                <a:latin typeface="微软雅黑"/>
                <a:ea typeface="微软雅黑"/>
                <a:cs typeface="微软雅黑"/>
                <a:sym typeface="微软雅黑"/>
              </a:endParaRPr>
            </a:p>
          </p:txBody>
        </p:sp>
        <p:sp>
          <p:nvSpPr>
            <p:cNvPr id="103" name="矩形 102"/>
            <p:cNvSpPr/>
            <p:nvPr/>
          </p:nvSpPr>
          <p:spPr>
            <a:xfrm>
              <a:off x="16132" y="7194"/>
              <a:ext cx="673" cy="344"/>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运维</a:t>
              </a:r>
              <a:endParaRPr lang="zh-CN" altLang="en-US" sz="1050" dirty="0">
                <a:solidFill>
                  <a:srgbClr val="383838"/>
                </a:solidFill>
                <a:latin typeface="微软雅黑"/>
                <a:ea typeface="微软雅黑"/>
                <a:cs typeface="微软雅黑"/>
                <a:sym typeface="微软雅黑"/>
              </a:endParaRPr>
            </a:p>
          </p:txBody>
        </p:sp>
        <p:sp>
          <p:nvSpPr>
            <p:cNvPr id="104" name="矩形 103"/>
            <p:cNvSpPr/>
            <p:nvPr/>
          </p:nvSpPr>
          <p:spPr>
            <a:xfrm>
              <a:off x="16132" y="7642"/>
              <a:ext cx="673" cy="344"/>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绿化</a:t>
              </a:r>
              <a:endParaRPr lang="zh-CN" altLang="en-US" sz="1050" dirty="0">
                <a:solidFill>
                  <a:srgbClr val="383838"/>
                </a:solidFill>
                <a:latin typeface="微软雅黑"/>
                <a:ea typeface="微软雅黑"/>
                <a:cs typeface="微软雅黑"/>
                <a:sym typeface="微软雅黑"/>
              </a:endParaRPr>
            </a:p>
          </p:txBody>
        </p:sp>
        <p:sp>
          <p:nvSpPr>
            <p:cNvPr id="105" name="矩形 104"/>
            <p:cNvSpPr/>
            <p:nvPr/>
          </p:nvSpPr>
          <p:spPr>
            <a:xfrm>
              <a:off x="16132" y="8090"/>
              <a:ext cx="673" cy="344"/>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食宿</a:t>
              </a:r>
              <a:endParaRPr lang="zh-CN" altLang="en-US" sz="1050" dirty="0">
                <a:solidFill>
                  <a:srgbClr val="383838"/>
                </a:solidFill>
                <a:latin typeface="微软雅黑"/>
                <a:ea typeface="微软雅黑"/>
                <a:cs typeface="微软雅黑"/>
                <a:sym typeface="微软雅黑"/>
              </a:endParaRPr>
            </a:p>
          </p:txBody>
        </p:sp>
        <p:sp>
          <p:nvSpPr>
            <p:cNvPr id="106" name="矩形 105"/>
            <p:cNvSpPr/>
            <p:nvPr/>
          </p:nvSpPr>
          <p:spPr>
            <a:xfrm>
              <a:off x="16132" y="8538"/>
              <a:ext cx="673" cy="344"/>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能源</a:t>
              </a:r>
              <a:endParaRPr lang="zh-CN" altLang="en-US" sz="1050" dirty="0">
                <a:solidFill>
                  <a:srgbClr val="383838"/>
                </a:solidFill>
                <a:latin typeface="微软雅黑"/>
                <a:ea typeface="微软雅黑"/>
                <a:cs typeface="微软雅黑"/>
                <a:sym typeface="微软雅黑"/>
              </a:endParaRPr>
            </a:p>
          </p:txBody>
        </p:sp>
        <p:sp>
          <p:nvSpPr>
            <p:cNvPr id="107" name="矩形 106"/>
            <p:cNvSpPr/>
            <p:nvPr/>
          </p:nvSpPr>
          <p:spPr>
            <a:xfrm>
              <a:off x="16132" y="8986"/>
              <a:ext cx="673" cy="344"/>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行为</a:t>
              </a:r>
              <a:endParaRPr lang="zh-CN" altLang="en-US" sz="1050" dirty="0">
                <a:solidFill>
                  <a:srgbClr val="383838"/>
                </a:solidFill>
                <a:latin typeface="微软雅黑"/>
                <a:ea typeface="微软雅黑"/>
                <a:cs typeface="微软雅黑"/>
                <a:sym typeface="微软雅黑"/>
              </a:endParaRPr>
            </a:p>
          </p:txBody>
        </p:sp>
        <p:grpSp>
          <p:nvGrpSpPr>
            <p:cNvPr id="121" name="组合 120"/>
            <p:cNvGrpSpPr/>
            <p:nvPr/>
          </p:nvGrpSpPr>
          <p:grpSpPr>
            <a:xfrm rot="0">
              <a:off x="16913" y="6744"/>
              <a:ext cx="673" cy="2570"/>
              <a:chOff x="9860422" y="4400551"/>
              <a:chExt cx="383251" cy="787332"/>
            </a:xfrm>
            <a:solidFill>
              <a:srgbClr val="FFFFFF">
                <a:alpha val="70000"/>
              </a:srgbClr>
            </a:solidFill>
          </p:grpSpPr>
          <p:sp>
            <p:nvSpPr>
              <p:cNvPr id="109" name="矩形 108"/>
              <p:cNvSpPr/>
              <p:nvPr/>
            </p:nvSpPr>
            <p:spPr>
              <a:xfrm>
                <a:off x="9860422" y="4400551"/>
                <a:ext cx="383251" cy="218319"/>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盘点</a:t>
                </a:r>
                <a:endParaRPr lang="zh-CN" altLang="en-US" sz="1050" dirty="0">
                  <a:solidFill>
                    <a:srgbClr val="383838"/>
                  </a:solidFill>
                  <a:latin typeface="微软雅黑"/>
                  <a:ea typeface="微软雅黑"/>
                  <a:cs typeface="微软雅黑"/>
                  <a:sym typeface="微软雅黑"/>
                </a:endParaRPr>
              </a:p>
            </p:txBody>
          </p:sp>
          <p:sp>
            <p:nvSpPr>
              <p:cNvPr id="110" name="矩形 109"/>
              <p:cNvSpPr/>
              <p:nvPr/>
            </p:nvSpPr>
            <p:spPr>
              <a:xfrm>
                <a:off x="9860422" y="4685058"/>
                <a:ext cx="383251" cy="218319"/>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车辆</a:t>
                </a:r>
                <a:endParaRPr lang="zh-CN" altLang="en-US" sz="1050" dirty="0">
                  <a:solidFill>
                    <a:srgbClr val="383838"/>
                  </a:solidFill>
                  <a:latin typeface="微软雅黑"/>
                  <a:ea typeface="微软雅黑"/>
                  <a:cs typeface="微软雅黑"/>
                  <a:sym typeface="微软雅黑"/>
                </a:endParaRPr>
              </a:p>
            </p:txBody>
          </p:sp>
          <p:sp>
            <p:nvSpPr>
              <p:cNvPr id="111" name="矩形 110"/>
              <p:cNvSpPr/>
              <p:nvPr/>
            </p:nvSpPr>
            <p:spPr>
              <a:xfrm>
                <a:off x="9860422" y="4969564"/>
                <a:ext cx="383251" cy="218319"/>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a:t>
                </a:r>
                <a:endParaRPr lang="zh-CN" altLang="en-US" sz="1050" dirty="0">
                  <a:solidFill>
                    <a:srgbClr val="383838"/>
                  </a:solidFill>
                  <a:latin typeface="微软雅黑"/>
                  <a:ea typeface="微软雅黑"/>
                  <a:cs typeface="微软雅黑"/>
                  <a:sym typeface="微软雅黑"/>
                </a:endParaRPr>
              </a:p>
            </p:txBody>
          </p:sp>
        </p:grpSp>
        <p:sp>
          <p:nvSpPr>
            <p:cNvPr id="120" name="矩形 119"/>
            <p:cNvSpPr/>
            <p:nvPr/>
          </p:nvSpPr>
          <p:spPr>
            <a:xfrm>
              <a:off x="15352" y="8729"/>
              <a:ext cx="673" cy="585"/>
            </a:xfrm>
            <a:prstGeom prst="rect">
              <a:avLst/>
            </a:prstGeom>
            <a:solidFill>
              <a:srgbClr val="E6E6E6">
                <a:alpha val="2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r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分配</a:t>
              </a:r>
              <a:endParaRPr lang="zh-CN" altLang="en-US" sz="1050" dirty="0">
                <a:solidFill>
                  <a:srgbClr val="383838"/>
                </a:solidFill>
                <a:latin typeface="微软雅黑"/>
                <a:ea typeface="微软雅黑"/>
                <a:cs typeface="微软雅黑"/>
                <a:sym typeface="微软雅黑"/>
              </a:endParaRPr>
            </a:p>
          </p:txBody>
        </p:sp>
      </p:grpSp>
      <p:sp>
        <p:nvSpPr>
          <p:cNvPr id="122" name="矩形 121"/>
          <p:cNvSpPr/>
          <p:nvPr/>
        </p:nvSpPr>
        <p:spPr>
          <a:xfrm>
            <a:off x="1892935" y="6022975"/>
            <a:ext cx="8665845" cy="633095"/>
          </a:xfrm>
          <a:prstGeom prst="rect">
            <a:avLst/>
          </a:prstGeom>
          <a:gradFill>
            <a:gsLst>
              <a:gs pos="0">
                <a:srgbClr val="0042FF"/>
              </a:gs>
              <a:gs pos="100000">
                <a:srgbClr val="3368FF"/>
              </a:gs>
            </a:gsLst>
            <a:lin ang="6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126" name="组合 125"/>
          <p:cNvGrpSpPr/>
          <p:nvPr/>
        </p:nvGrpSpPr>
        <p:grpSpPr>
          <a:xfrm rot="0">
            <a:off x="2914015" y="6085840"/>
            <a:ext cx="6623050" cy="499110"/>
            <a:chOff x="3161854" y="6017641"/>
            <a:chExt cx="5941344" cy="499147"/>
          </a:xfrm>
        </p:grpSpPr>
        <p:sp>
          <p:nvSpPr>
            <p:cNvPr id="123" name="文本框 122"/>
            <p:cNvSpPr txBox="1"/>
            <p:nvPr/>
          </p:nvSpPr>
          <p:spPr>
            <a:xfrm>
              <a:off x="3161854" y="6017641"/>
              <a:ext cx="1415772" cy="49911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统一服务中心</a:t>
              </a:r>
              <a:endParaRPr lang="en-US" altLang="zh-CN" sz="16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智能客服：钉钉</a:t>
              </a:r>
              <a:endParaRPr lang="zh-CN" altLang="en-US" sz="1050" dirty="0">
                <a:solidFill>
                  <a:srgbClr val="FFFFFF"/>
                </a:solidFill>
                <a:latin typeface="微软雅黑"/>
                <a:ea typeface="微软雅黑"/>
                <a:cs typeface="微软雅黑"/>
              </a:endParaRPr>
            </a:p>
          </p:txBody>
        </p:sp>
        <p:sp>
          <p:nvSpPr>
            <p:cNvPr id="124" name="文本框 123"/>
            <p:cNvSpPr txBox="1"/>
            <p:nvPr/>
          </p:nvSpPr>
          <p:spPr>
            <a:xfrm>
              <a:off x="5426643" y="6021459"/>
              <a:ext cx="1415772" cy="495329"/>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统一运营中心</a:t>
              </a:r>
              <a:endParaRPr lang="en-US" altLang="zh-CN" sz="16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线上</a:t>
              </a:r>
              <a:r>
                <a:rPr lang="en-US" altLang="zh-CN" sz="1050" dirty="0">
                  <a:solidFill>
                    <a:srgbClr val="FFFFFF"/>
                  </a:solidFill>
                  <a:latin typeface="微软雅黑"/>
                  <a:ea typeface="微软雅黑"/>
                  <a:cs typeface="微软雅黑"/>
                </a:rPr>
                <a:t>OA</a:t>
              </a:r>
              <a:r>
                <a:rPr lang="zh-CN" altLang="en-US" sz="1050" dirty="0">
                  <a:solidFill>
                    <a:srgbClr val="FFFFFF"/>
                  </a:solidFill>
                  <a:latin typeface="微软雅黑"/>
                  <a:ea typeface="微软雅黑"/>
                  <a:cs typeface="微软雅黑"/>
                </a:rPr>
                <a:t>系统</a:t>
              </a:r>
              <a:endParaRPr lang="zh-CN" altLang="en-US" sz="1050" dirty="0">
                <a:solidFill>
                  <a:srgbClr val="FFFFFF"/>
                </a:solidFill>
                <a:latin typeface="微软雅黑"/>
                <a:ea typeface="微软雅黑"/>
                <a:cs typeface="微软雅黑"/>
              </a:endParaRPr>
            </a:p>
          </p:txBody>
        </p:sp>
        <p:sp>
          <p:nvSpPr>
            <p:cNvPr id="125" name="文本框 124"/>
            <p:cNvSpPr txBox="1"/>
            <p:nvPr/>
          </p:nvSpPr>
          <p:spPr>
            <a:xfrm>
              <a:off x="7695440" y="6021459"/>
              <a:ext cx="1407758" cy="495329"/>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统一数据支持</a:t>
              </a:r>
              <a:endParaRPr lang="en-US" altLang="zh-CN" sz="16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全局仪表盘</a:t>
              </a:r>
              <a:endParaRPr lang="zh-CN" altLang="en-US" sz="1050" dirty="0">
                <a:solidFill>
                  <a:srgbClr val="FFFFFF"/>
                </a:solidFill>
                <a:latin typeface="微软雅黑"/>
                <a:ea typeface="微软雅黑"/>
                <a:cs typeface="微软雅黑"/>
              </a:endParaRPr>
            </a:p>
          </p:txBody>
        </p:sp>
      </p:grpSp>
      <p:cxnSp>
        <p:nvCxnSpPr>
          <p:cNvPr id="128" name="直接连接符 127"/>
          <p:cNvCxnSpPr/>
          <p:nvPr/>
        </p:nvCxnSpPr>
        <p:spPr>
          <a:xfrm>
            <a:off x="4942205" y="6158865"/>
            <a:ext cx="0" cy="361950"/>
          </a:xfrm>
          <a:prstGeom prst="line">
            <a:avLst/>
          </a:prstGeom>
          <a:ln w="12700">
            <a:solidFill>
              <a:srgbClr val="FFFFFF"/>
            </a:solidFill>
          </a:ln>
        </p:spPr>
        <p:style>
          <a:lnRef idx="1">
            <a:srgbClr val="0042FF"/>
          </a:lnRef>
          <a:fillRef idx="0">
            <a:srgbClr val="0042FF"/>
          </a:fillRef>
          <a:effectRef idx="0">
            <a:srgbClr val="0042FF"/>
          </a:effectRef>
          <a:fontRef idx="minor">
            <a:srgbClr val="383838"/>
          </a:fontRef>
        </p:style>
      </p:cxnSp>
      <p:cxnSp>
        <p:nvCxnSpPr>
          <p:cNvPr id="129" name="直接连接符 128"/>
          <p:cNvCxnSpPr/>
          <p:nvPr/>
        </p:nvCxnSpPr>
        <p:spPr>
          <a:xfrm>
            <a:off x="7527290" y="6158865"/>
            <a:ext cx="0" cy="361950"/>
          </a:xfrm>
          <a:prstGeom prst="line">
            <a:avLst/>
          </a:prstGeom>
          <a:ln w="12700">
            <a:solidFill>
              <a:srgbClr val="FFFFFF"/>
            </a:solidFill>
          </a:ln>
        </p:spPr>
        <p:style>
          <a:lnRef idx="1">
            <a:srgbClr val="0042FF"/>
          </a:lnRef>
          <a:fillRef idx="0">
            <a:srgbClr val="0042FF"/>
          </a:fillRef>
          <a:effectRef idx="0">
            <a:srgbClr val="0042FF"/>
          </a:effectRef>
          <a:fontRef idx="minor">
            <a:srgbClr val="383838"/>
          </a:fontRef>
        </p:style>
      </p:cxnSp>
      <p:grpSp>
        <p:nvGrpSpPr>
          <p:cNvPr id="1195" name="显眼包PPT"/>
          <p:cNvGrpSpPr/>
          <p:nvPr/>
        </p:nvGrpSpPr>
        <p:grpSpPr>
          <a:xfrm>
            <a:off x="1892300" y="3410585"/>
            <a:ext cx="1231900" cy="2491740"/>
            <a:chOff x="659218" y="891110"/>
            <a:chExt cx="2555877" cy="1038105"/>
          </a:xfrm>
        </p:grpSpPr>
        <p:sp>
          <p:nvSpPr>
            <p:cNvPr id="1039" name="显眼包PPT-1"/>
            <p:cNvSpPr/>
            <p:nvPr/>
          </p:nvSpPr>
          <p:spPr>
            <a:xfrm flipH="1" flipV="1">
              <a:off x="659218" y="891110"/>
              <a:ext cx="2554560" cy="1038105"/>
            </a:xfrm>
            <a:prstGeom prst="rect">
              <a:avLst/>
            </a:prstGeom>
            <a:solidFill>
              <a:srgbClr val="E6E6E6">
                <a:alpha val="20000"/>
              </a:srgbClr>
            </a:solidFill>
            <a:ln w="12700">
              <a:solidFill>
                <a:srgbClr val="E6E6E6"/>
              </a:solidFill>
            </a:ln>
            <a:effectLst>
              <a:innerShdw blurRad="114300">
                <a:srgbClr val="E6E6E6"/>
              </a:inn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383838"/>
                </a:solidFill>
                <a:cs typeface="微软雅黑"/>
                <a:latin typeface="微软雅黑"/>
                <a:ea typeface="微软雅黑"/>
              </a:endParaRPr>
            </a:p>
          </p:txBody>
        </p:sp>
        <p:grpSp>
          <p:nvGrpSpPr>
            <p:cNvPr id="1051" name="组合 1050"/>
            <p:cNvGrpSpPr/>
            <p:nvPr/>
          </p:nvGrpSpPr>
          <p:grpSpPr>
            <a:xfrm>
              <a:off x="659218" y="891110"/>
              <a:ext cx="135590" cy="1038105"/>
              <a:chOff x="659218" y="891110"/>
              <a:chExt cx="135590" cy="1038105"/>
            </a:xfrm>
          </p:grpSpPr>
          <p:grpSp>
            <p:nvGrpSpPr>
              <p:cNvPr id="1043" name="组合 1042"/>
              <p:cNvGrpSpPr/>
              <p:nvPr/>
            </p:nvGrpSpPr>
            <p:grpSpPr>
              <a:xfrm>
                <a:off x="659218" y="891110"/>
                <a:ext cx="135590" cy="26997"/>
                <a:chOff x="4469092" y="1413803"/>
                <a:chExt cx="168812" cy="33612"/>
              </a:xfrm>
            </p:grpSpPr>
            <p:cxnSp>
              <p:nvCxnSpPr>
                <p:cNvPr id="1041" name="显眼包PPT-2"/>
                <p:cNvCxnSpPr/>
                <p:nvPr/>
              </p:nvCxnSpPr>
              <p:spPr>
                <a:xfrm>
                  <a:off x="4469092" y="1413803"/>
                  <a:ext cx="0" cy="336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cxnSp>
              <p:nvCxnSpPr>
                <p:cNvPr id="1042" name="显眼包PPT-3"/>
                <p:cNvCxnSpPr/>
                <p:nvPr/>
              </p:nvCxnSpPr>
              <p:spPr>
                <a:xfrm rot="5400000">
                  <a:off x="4553498" y="1329397"/>
                  <a:ext cx="0" cy="1688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grpSp>
            <p:nvGrpSpPr>
              <p:cNvPr id="1048" name="组合 1047"/>
              <p:cNvGrpSpPr/>
              <p:nvPr/>
            </p:nvGrpSpPr>
            <p:grpSpPr>
              <a:xfrm flipV="1">
                <a:off x="659218" y="1898799"/>
                <a:ext cx="135590" cy="30416"/>
                <a:chOff x="4469092" y="1413803"/>
                <a:chExt cx="168812" cy="37868"/>
              </a:xfrm>
            </p:grpSpPr>
            <p:cxnSp>
              <p:nvCxnSpPr>
                <p:cNvPr id="1049" name="显眼包PPT-4"/>
                <p:cNvCxnSpPr/>
                <p:nvPr/>
              </p:nvCxnSpPr>
              <p:spPr>
                <a:xfrm>
                  <a:off x="4470732" y="1418059"/>
                  <a:ext cx="0" cy="336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cxnSp>
              <p:nvCxnSpPr>
                <p:cNvPr id="1050" name="显眼包PPT-5"/>
                <p:cNvCxnSpPr/>
                <p:nvPr/>
              </p:nvCxnSpPr>
              <p:spPr>
                <a:xfrm rot="5400000">
                  <a:off x="4553498" y="1329397"/>
                  <a:ext cx="0" cy="1688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grpSp>
        <p:grpSp>
          <p:nvGrpSpPr>
            <p:cNvPr id="1052" name="组合 1051"/>
            <p:cNvGrpSpPr/>
            <p:nvPr/>
          </p:nvGrpSpPr>
          <p:grpSpPr>
            <a:xfrm flipH="1">
              <a:off x="3078188" y="891110"/>
              <a:ext cx="136907" cy="1038105"/>
              <a:chOff x="657901" y="891110"/>
              <a:chExt cx="136907" cy="1038105"/>
            </a:xfrm>
          </p:grpSpPr>
          <p:grpSp>
            <p:nvGrpSpPr>
              <p:cNvPr id="1053" name="组合 1052"/>
              <p:cNvGrpSpPr/>
              <p:nvPr/>
            </p:nvGrpSpPr>
            <p:grpSpPr>
              <a:xfrm>
                <a:off x="659218" y="891110"/>
                <a:ext cx="135590" cy="26997"/>
                <a:chOff x="4469092" y="1413803"/>
                <a:chExt cx="168812" cy="33612"/>
              </a:xfrm>
            </p:grpSpPr>
            <p:cxnSp>
              <p:nvCxnSpPr>
                <p:cNvPr id="1057" name="显眼包PPT-6"/>
                <p:cNvCxnSpPr/>
                <p:nvPr/>
              </p:nvCxnSpPr>
              <p:spPr>
                <a:xfrm>
                  <a:off x="4469092" y="1413803"/>
                  <a:ext cx="0" cy="336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cxnSp>
              <p:nvCxnSpPr>
                <p:cNvPr id="1058" name="显眼包PPT-7"/>
                <p:cNvCxnSpPr/>
                <p:nvPr/>
              </p:nvCxnSpPr>
              <p:spPr>
                <a:xfrm rot="5400000">
                  <a:off x="4553498" y="1329397"/>
                  <a:ext cx="0" cy="1688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grpSp>
            <p:nvGrpSpPr>
              <p:cNvPr id="1054" name="组合 1053"/>
              <p:cNvGrpSpPr/>
              <p:nvPr/>
            </p:nvGrpSpPr>
            <p:grpSpPr>
              <a:xfrm flipV="1">
                <a:off x="657901" y="1898766"/>
                <a:ext cx="136907" cy="30449"/>
                <a:chOff x="4467452" y="1413803"/>
                <a:chExt cx="170452" cy="37910"/>
              </a:xfrm>
            </p:grpSpPr>
            <p:cxnSp>
              <p:nvCxnSpPr>
                <p:cNvPr id="1055" name="显眼包PPT-8"/>
                <p:cNvCxnSpPr/>
                <p:nvPr/>
              </p:nvCxnSpPr>
              <p:spPr>
                <a:xfrm>
                  <a:off x="4467452" y="1418101"/>
                  <a:ext cx="0" cy="336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cxnSp>
              <p:nvCxnSpPr>
                <p:cNvPr id="1056" name="显眼包PPT-9"/>
                <p:cNvCxnSpPr/>
                <p:nvPr/>
              </p:nvCxnSpPr>
              <p:spPr>
                <a:xfrm rot="5400000">
                  <a:off x="4553498" y="1329397"/>
                  <a:ext cx="0" cy="1688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grpSp>
      </p:grpSp>
      <p:sp>
        <p:nvSpPr>
          <p:cNvPr id="57" name="文本框 56"/>
          <p:cNvSpPr txBox="1"/>
          <p:nvPr/>
        </p:nvSpPr>
        <p:spPr>
          <a:xfrm>
            <a:off x="2024380" y="3946525"/>
            <a:ext cx="1028065" cy="607695"/>
          </a:xfrm>
          <a:prstGeom prst="rect">
            <a:avLst/>
          </a:prstGeom>
          <a:noFill/>
        </p:spPr>
        <p:txBody>
          <a:bodyPr wrap="square" rtlCol="0">
            <a:spAutoFit/>
          </a:bodyPr>
          <a:p>
            <a:pPr algn="ctr">
              <a:lnSpc>
                <a:spcPct val="120000"/>
              </a:lnSpc>
              <a:defRPr>
                <a:latin typeface="微软雅黑"/>
                <a:ea typeface="微软雅黑"/>
                <a:cs typeface="微软雅黑"/>
              </a:defRPr>
            </a:pPr>
            <a:r>
              <a:rPr lang="en-US" altLang="zh-CN" sz="1400" dirty="0">
                <a:solidFill>
                  <a:srgbClr val="0042FF"/>
                </a:solidFill>
                <a:latin typeface="微软雅黑"/>
                <a:ea typeface="微软雅黑"/>
                <a:cs typeface="微软雅黑"/>
              </a:rPr>
              <a:t>12</a:t>
            </a:r>
            <a:r>
              <a:rPr lang="zh-CN" altLang="en-US" sz="1400" dirty="0">
                <a:solidFill>
                  <a:srgbClr val="0042FF"/>
                </a:solidFill>
                <a:latin typeface="微软雅黑"/>
                <a:ea typeface="微软雅黑"/>
                <a:cs typeface="微软雅黑"/>
              </a:rPr>
              <a:t>大模版</a:t>
            </a:r>
            <a:endParaRPr lang="en-US" altLang="zh-CN" sz="1400" dirty="0">
              <a:solidFill>
                <a:srgbClr val="0042FF"/>
              </a:solidFill>
              <a:latin typeface="微软雅黑"/>
              <a:ea typeface="微软雅黑"/>
              <a:cs typeface="微软雅黑"/>
            </a:endParaRPr>
          </a:p>
          <a:p>
            <a:pPr algn="ctr">
              <a:lnSpc>
                <a:spcPct val="120000"/>
              </a:lnSpc>
              <a:defRPr>
                <a:latin typeface="微软雅黑"/>
                <a:ea typeface="微软雅黑"/>
                <a:cs typeface="微软雅黑"/>
              </a:defRPr>
            </a:pPr>
            <a:r>
              <a:rPr lang="en-US" altLang="zh-CN" sz="1400" dirty="0">
                <a:solidFill>
                  <a:srgbClr val="0042FF"/>
                </a:solidFill>
                <a:latin typeface="微软雅黑"/>
                <a:ea typeface="微软雅黑"/>
                <a:cs typeface="微软雅黑"/>
              </a:rPr>
              <a:t>50</a:t>
            </a:r>
            <a:r>
              <a:rPr lang="zh-CN" altLang="en-US" sz="1400" dirty="0">
                <a:solidFill>
                  <a:srgbClr val="0042FF"/>
                </a:solidFill>
                <a:latin typeface="微软雅黑"/>
                <a:ea typeface="微软雅黑"/>
                <a:cs typeface="微软雅黑"/>
              </a:rPr>
              <a:t>项内容</a:t>
            </a:r>
            <a:endParaRPr lang="zh-CN" altLang="en-US" sz="1400" dirty="0">
              <a:solidFill>
                <a:srgbClr val="0042FF"/>
              </a:solidFill>
              <a:latin typeface="微软雅黑"/>
              <a:ea typeface="微软雅黑"/>
              <a:cs typeface="微软雅黑"/>
            </a:endParaRPr>
          </a:p>
        </p:txBody>
      </p:sp>
      <p:sp>
        <p:nvSpPr>
          <p:cNvPr id="66" name="文本框 65"/>
          <p:cNvSpPr txBox="1"/>
          <p:nvPr/>
        </p:nvSpPr>
        <p:spPr>
          <a:xfrm>
            <a:off x="2024380" y="4877435"/>
            <a:ext cx="1006475" cy="386080"/>
          </a:xfrm>
          <a:prstGeom prst="rect">
            <a:avLst/>
          </a:prstGeom>
          <a:noFill/>
        </p:spPr>
        <p:txBody>
          <a:bodyPr wrap="square" rtlCol="0">
            <a:spAutoFit/>
          </a:bodyPr>
          <a:p>
            <a:pPr algn="ctr">
              <a:lnSpc>
                <a:spcPct val="120000"/>
              </a:lnSpc>
              <a:defRPr>
                <a:latin typeface="微软雅黑"/>
                <a:ea typeface="微软雅黑"/>
                <a:cs typeface="微软雅黑"/>
              </a:defRPr>
            </a:pPr>
            <a:r>
              <a:rPr lang="zh-CN" altLang="en-US" sz="1600" b="1" dirty="0">
                <a:solidFill>
                  <a:srgbClr val="0042FF"/>
                </a:solidFill>
                <a:latin typeface="微软雅黑"/>
                <a:ea typeface="微软雅黑"/>
                <a:cs typeface="微软雅黑"/>
              </a:rPr>
              <a:t>战略协同</a:t>
            </a:r>
            <a:endParaRPr lang="zh-CN" altLang="en-US" sz="1600" b="1" dirty="0">
              <a:solidFill>
                <a:srgbClr val="0042FF"/>
              </a:solidFill>
              <a:latin typeface="微软雅黑"/>
              <a:ea typeface="微软雅黑"/>
              <a:cs typeface="微软雅黑"/>
            </a:endParaRPr>
          </a:p>
        </p:txBody>
      </p:sp>
      <p:grpSp>
        <p:nvGrpSpPr>
          <p:cNvPr id="130" name="组合 129"/>
          <p:cNvGrpSpPr/>
          <p:nvPr/>
        </p:nvGrpSpPr>
        <p:grpSpPr>
          <a:xfrm>
            <a:off x="1892300" y="2992120"/>
            <a:ext cx="1231265" cy="323850"/>
            <a:chOff x="1514" y="5782"/>
            <a:chExt cx="1939" cy="510"/>
          </a:xfrm>
        </p:grpSpPr>
        <p:sp>
          <p:nvSpPr>
            <p:cNvPr id="76" name="显眼包PPT-1"/>
            <p:cNvSpPr/>
            <p:nvPr/>
          </p:nvSpPr>
          <p:spPr>
            <a:xfrm flipH="1" flipV="1">
              <a:off x="1514" y="5782"/>
              <a:ext cx="1939" cy="510"/>
            </a:xfrm>
            <a:prstGeom prst="rect">
              <a:avLst/>
            </a:prstGeom>
            <a:solidFill>
              <a:srgbClr val="E6E6E6">
                <a:alpha val="20000"/>
              </a:srgbClr>
            </a:solidFill>
            <a:ln w="12700">
              <a:solidFill>
                <a:srgbClr val="E6E6E6"/>
              </a:solidFill>
            </a:ln>
            <a:effectLst>
              <a:innerShdw blurRad="114300">
                <a:srgbClr val="E6E6E6"/>
              </a:inn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solidFill>
                  <a:srgbClr val="383838"/>
                </a:solidFill>
                <a:cs typeface="微软雅黑"/>
                <a:latin typeface="微软雅黑"/>
                <a:ea typeface="微软雅黑"/>
              </a:endParaRPr>
            </a:p>
          </p:txBody>
        </p:sp>
        <p:grpSp>
          <p:nvGrpSpPr>
            <p:cNvPr id="113" name="组合 112"/>
            <p:cNvGrpSpPr/>
            <p:nvPr/>
          </p:nvGrpSpPr>
          <p:grpSpPr>
            <a:xfrm>
              <a:off x="1514" y="5782"/>
              <a:ext cx="104" cy="510"/>
              <a:chOff x="1514" y="5782"/>
              <a:chExt cx="104" cy="510"/>
            </a:xfrm>
          </p:grpSpPr>
          <p:grpSp>
            <p:nvGrpSpPr>
              <p:cNvPr id="77" name="组合 76"/>
              <p:cNvGrpSpPr/>
              <p:nvPr/>
            </p:nvGrpSpPr>
            <p:grpSpPr>
              <a:xfrm rot="0">
                <a:off x="1514" y="5782"/>
                <a:ext cx="104" cy="510"/>
                <a:chOff x="659218" y="891110"/>
                <a:chExt cx="136906" cy="1038321"/>
              </a:xfrm>
            </p:grpSpPr>
            <p:grpSp>
              <p:nvGrpSpPr>
                <p:cNvPr id="78" name="组合 77"/>
                <p:cNvGrpSpPr/>
                <p:nvPr/>
              </p:nvGrpSpPr>
              <p:grpSpPr>
                <a:xfrm>
                  <a:off x="659218" y="891110"/>
                  <a:ext cx="136906" cy="207718"/>
                  <a:chOff x="4469092" y="1413803"/>
                  <a:chExt cx="170451" cy="258614"/>
                </a:xfrm>
              </p:grpSpPr>
              <p:cxnSp>
                <p:nvCxnSpPr>
                  <p:cNvPr id="79" name="显眼包PPT-2"/>
                  <p:cNvCxnSpPr/>
                  <p:nvPr/>
                </p:nvCxnSpPr>
                <p:spPr>
                  <a:xfrm>
                    <a:off x="4469092" y="1413803"/>
                    <a:ext cx="0" cy="258614"/>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cxnSp>
                <p:nvCxnSpPr>
                  <p:cNvPr id="81" name="显眼包PPT-3"/>
                  <p:cNvCxnSpPr/>
                  <p:nvPr/>
                </p:nvCxnSpPr>
                <p:spPr>
                  <a:xfrm rot="5400000">
                    <a:off x="4555137" y="1331930"/>
                    <a:ext cx="0" cy="1688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cxnSp>
              <p:nvCxnSpPr>
                <p:cNvPr id="83" name="显眼包PPT-4"/>
                <p:cNvCxnSpPr/>
                <p:nvPr/>
              </p:nvCxnSpPr>
              <p:spPr>
                <a:xfrm flipV="1">
                  <a:off x="660535" y="1721714"/>
                  <a:ext cx="0" cy="207717"/>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cxnSp>
            <p:nvCxnSpPr>
              <p:cNvPr id="92" name="显眼包PPT-5"/>
              <p:cNvCxnSpPr/>
              <p:nvPr/>
            </p:nvCxnSpPr>
            <p:spPr>
              <a:xfrm rot="-5400000" flipV="1">
                <a:off x="1566" y="6241"/>
                <a:ext cx="0" cy="103"/>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grpSp>
          <p:nvGrpSpPr>
            <p:cNvPr id="114" name="组合 113"/>
            <p:cNvGrpSpPr/>
            <p:nvPr/>
          </p:nvGrpSpPr>
          <p:grpSpPr>
            <a:xfrm flipH="1">
              <a:off x="3349" y="5782"/>
              <a:ext cx="104" cy="510"/>
              <a:chOff x="1514" y="5782"/>
              <a:chExt cx="104" cy="510"/>
            </a:xfrm>
          </p:grpSpPr>
          <p:grpSp>
            <p:nvGrpSpPr>
              <p:cNvPr id="115" name="组合 114"/>
              <p:cNvGrpSpPr/>
              <p:nvPr/>
            </p:nvGrpSpPr>
            <p:grpSpPr>
              <a:xfrm rot="0">
                <a:off x="1514" y="5782"/>
                <a:ext cx="104" cy="510"/>
                <a:chOff x="659218" y="891110"/>
                <a:chExt cx="136906" cy="1038321"/>
              </a:xfrm>
            </p:grpSpPr>
            <p:grpSp>
              <p:nvGrpSpPr>
                <p:cNvPr id="116" name="组合 115"/>
                <p:cNvGrpSpPr/>
                <p:nvPr/>
              </p:nvGrpSpPr>
              <p:grpSpPr>
                <a:xfrm>
                  <a:off x="659218" y="891110"/>
                  <a:ext cx="136906" cy="207718"/>
                  <a:chOff x="4469092" y="1413803"/>
                  <a:chExt cx="170451" cy="258614"/>
                </a:xfrm>
              </p:grpSpPr>
              <p:cxnSp>
                <p:nvCxnSpPr>
                  <p:cNvPr id="117" name="显眼包PPT-2"/>
                  <p:cNvCxnSpPr/>
                  <p:nvPr/>
                </p:nvCxnSpPr>
                <p:spPr>
                  <a:xfrm>
                    <a:off x="4469092" y="1413803"/>
                    <a:ext cx="0" cy="258614"/>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cxnSp>
                <p:nvCxnSpPr>
                  <p:cNvPr id="118" name="显眼包PPT-3"/>
                  <p:cNvCxnSpPr/>
                  <p:nvPr/>
                </p:nvCxnSpPr>
                <p:spPr>
                  <a:xfrm rot="5400000">
                    <a:off x="4555137" y="1331930"/>
                    <a:ext cx="0" cy="168812"/>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cxnSp>
              <p:nvCxnSpPr>
                <p:cNvPr id="119" name="显眼包PPT-4"/>
                <p:cNvCxnSpPr/>
                <p:nvPr/>
              </p:nvCxnSpPr>
              <p:spPr>
                <a:xfrm flipV="1">
                  <a:off x="660535" y="1721714"/>
                  <a:ext cx="0" cy="207717"/>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cxnSp>
            <p:nvCxnSpPr>
              <p:cNvPr id="127" name="显眼包PPT-5"/>
              <p:cNvCxnSpPr/>
              <p:nvPr/>
            </p:nvCxnSpPr>
            <p:spPr>
              <a:xfrm rot="-5400000" flipV="1">
                <a:off x="1566" y="6241"/>
                <a:ext cx="0" cy="103"/>
              </a:xfrm>
              <a:prstGeom prst="line">
                <a:avLst/>
              </a:prstGeom>
              <a:ln w="15875" cap="rnd">
                <a:solidFill>
                  <a:srgbClr val="3368FF"/>
                </a:solidFill>
                <a:round/>
              </a:ln>
            </p:spPr>
            <p:style>
              <a:lnRef idx="1">
                <a:srgbClr val="0042FF"/>
              </a:lnRef>
              <a:fillRef idx="0">
                <a:srgbClr val="0042FF"/>
              </a:fillRef>
              <a:effectRef idx="0">
                <a:srgbClr val="0042FF"/>
              </a:effectRef>
              <a:fontRef idx="minor">
                <a:srgbClr val="383838"/>
              </a:fontRef>
            </p:style>
          </p:cxnSp>
        </p:grpSp>
      </p:grpSp>
      <p:sp>
        <p:nvSpPr>
          <p:cNvPr id="131" name="文本框 130"/>
          <p:cNvSpPr txBox="1"/>
          <p:nvPr/>
        </p:nvSpPr>
        <p:spPr>
          <a:xfrm>
            <a:off x="1986280" y="2956560"/>
            <a:ext cx="1006475" cy="349250"/>
          </a:xfrm>
          <a:prstGeom prst="rect">
            <a:avLst/>
          </a:prstGeom>
          <a:noFill/>
        </p:spPr>
        <p:txBody>
          <a:bodyPr wrap="square" rtlCol="0">
            <a:spAutoFit/>
          </a:bodyPr>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计划</a:t>
            </a:r>
            <a:endParaRPr lang="zh-CN" altLang="en-US" sz="1400" b="1" dirty="0">
              <a:solidFill>
                <a:srgbClr val="0042FF"/>
              </a:solidFill>
              <a:latin typeface="微软雅黑"/>
              <a:ea typeface="微软雅黑"/>
              <a:cs typeface="微软雅黑"/>
            </a:endParaRPr>
          </a:p>
        </p:txBody>
      </p:sp>
      <p:cxnSp>
        <p:nvCxnSpPr>
          <p:cNvPr id="397" name="显眼包PPT11"/>
          <p:cNvCxnSpPr/>
          <p:nvPr/>
        </p:nvCxnSpPr>
        <p:spPr>
          <a:xfrm flipH="1">
            <a:off x="938339" y="3075231"/>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398" name="显眼包PPT12"/>
          <p:cNvCxnSpPr/>
          <p:nvPr/>
        </p:nvCxnSpPr>
        <p:spPr>
          <a:xfrm flipH="1">
            <a:off x="938339" y="2179055"/>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400" name="显眼包PPT13"/>
          <p:cNvCxnSpPr/>
          <p:nvPr/>
        </p:nvCxnSpPr>
        <p:spPr>
          <a:xfrm flipH="1">
            <a:off x="938339" y="5798977"/>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401" name="显眼包PPT14"/>
          <p:cNvCxnSpPr/>
          <p:nvPr/>
        </p:nvCxnSpPr>
        <p:spPr>
          <a:xfrm flipH="1">
            <a:off x="938339" y="6714653"/>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403" name="显眼包PPT15"/>
          <p:cNvCxnSpPr/>
          <p:nvPr/>
        </p:nvCxnSpPr>
        <p:spPr>
          <a:xfrm flipV="1">
            <a:off x="1236211" y="3169737"/>
            <a:ext cx="6985" cy="2454275"/>
          </a:xfrm>
          <a:prstGeom prst="line">
            <a:avLst/>
          </a:prstGeom>
          <a:ln w="15875" cap="rnd">
            <a:gradFill flip="none" rotWithShape="1">
              <a:gsLst>
                <a:gs pos="0">
                  <a:srgbClr val="0042FF">
                    <a:alpha val="0"/>
                  </a:srgbClr>
                </a:gs>
                <a:gs pos="100000">
                  <a:srgbClr val="0042FF"/>
                </a:gs>
              </a:gsLst>
              <a:path path="circle">
                <a:fillToRect l="50000" t="50000" r="50000" b="50000"/>
              </a:path>
              <a:tileRect/>
            </a:gradFill>
            <a:prstDash val="sysDot"/>
            <a:round/>
          </a:ln>
        </p:spPr>
        <p:style>
          <a:lnRef idx="1">
            <a:srgbClr val="0042FF"/>
          </a:lnRef>
          <a:fillRef idx="0">
            <a:srgbClr val="0042FF"/>
          </a:fillRef>
          <a:effectRef idx="0">
            <a:srgbClr val="0042FF"/>
          </a:effectRef>
          <a:fontRef idx="minor">
            <a:srgbClr val="383838"/>
          </a:fontRef>
        </p:style>
      </p:cxnSp>
      <p:cxnSp>
        <p:nvCxnSpPr>
          <p:cNvPr id="405" name="显眼包PPT16"/>
          <p:cNvCxnSpPr/>
          <p:nvPr/>
        </p:nvCxnSpPr>
        <p:spPr>
          <a:xfrm flipV="1">
            <a:off x="1239704" y="2273762"/>
            <a:ext cx="0" cy="668663"/>
          </a:xfrm>
          <a:prstGeom prst="line">
            <a:avLst/>
          </a:prstGeom>
          <a:ln w="15875" cap="rnd">
            <a:gradFill flip="none" rotWithShape="1">
              <a:gsLst>
                <a:gs pos="0">
                  <a:srgbClr val="0042FF">
                    <a:alpha val="0"/>
                  </a:srgbClr>
                </a:gs>
                <a:gs pos="100000">
                  <a:srgbClr val="0042FF"/>
                </a:gs>
              </a:gsLst>
              <a:path path="circle">
                <a:fillToRect l="50000" t="50000" r="50000" b="50000"/>
              </a:path>
              <a:tileRect/>
            </a:gradFill>
            <a:prstDash val="sysDot"/>
            <a:round/>
          </a:ln>
        </p:spPr>
        <p:style>
          <a:lnRef idx="1">
            <a:srgbClr val="0042FF"/>
          </a:lnRef>
          <a:fillRef idx="0">
            <a:srgbClr val="0042FF"/>
          </a:fillRef>
          <a:effectRef idx="0">
            <a:srgbClr val="0042FF"/>
          </a:effectRef>
          <a:fontRef idx="minor">
            <a:srgbClr val="383838"/>
          </a:fontRef>
        </p:style>
      </p:cxnSp>
      <p:sp>
        <p:nvSpPr>
          <p:cNvPr id="132" name="显眼包PPT17"/>
          <p:cNvSpPr txBox="1"/>
          <p:nvPr/>
        </p:nvSpPr>
        <p:spPr>
          <a:xfrm>
            <a:off x="960303" y="2523455"/>
            <a:ext cx="558800" cy="168910"/>
          </a:xfrm>
          <a:prstGeom prst="rect">
            <a:avLst/>
          </a:prstGeom>
          <a:solidFill>
            <a:srgbClr val="FFFFFF"/>
          </a:solidFill>
          <a:effectLst/>
        </p:spPr>
        <p:txBody>
          <a:bodyPr wrap="none" lIns="0" tIns="0" rIns="0" bIns="0" rtlCol="0">
            <a:spAutoFit/>
          </a:bodyPr>
          <a:lstStyle/>
          <a:p>
            <a:pPr algn="ctr">
              <a:defRPr>
                <a:latin typeface="微软雅黑"/>
                <a:ea typeface="微软雅黑"/>
                <a:cs typeface="微软雅黑"/>
              </a:defRPr>
            </a:pPr>
            <a:r>
              <a:rPr lang="zh-CN" altLang="en-US" sz="1100">
                <a:solidFill>
                  <a:srgbClr val="0042FF"/>
                </a:solidFill>
                <a:latin typeface="微软雅黑"/>
                <a:ea typeface="微软雅黑"/>
                <a:cs typeface="微软雅黑"/>
                <a:sym typeface="微软雅黑"/>
              </a:rPr>
              <a:t>四项提升</a:t>
            </a:r>
            <a:endParaRPr lang="zh-CN" altLang="en-US" sz="1100">
              <a:solidFill>
                <a:srgbClr val="0042FF"/>
              </a:solidFill>
              <a:latin typeface="微软雅黑"/>
              <a:ea typeface="微软雅黑"/>
              <a:cs typeface="微软雅黑"/>
              <a:sym typeface="微软雅黑"/>
            </a:endParaRPr>
          </a:p>
        </p:txBody>
      </p:sp>
      <p:sp>
        <p:nvSpPr>
          <p:cNvPr id="133" name="显眼包PPT18"/>
          <p:cNvSpPr txBox="1"/>
          <p:nvPr/>
        </p:nvSpPr>
        <p:spPr>
          <a:xfrm>
            <a:off x="960303" y="4369623"/>
            <a:ext cx="558800" cy="168910"/>
          </a:xfrm>
          <a:prstGeom prst="rect">
            <a:avLst/>
          </a:prstGeom>
          <a:solidFill>
            <a:srgbClr val="FFFFFF"/>
          </a:solidFill>
          <a:effectLst/>
        </p:spPr>
        <p:txBody>
          <a:bodyPr wrap="none" lIns="0" tIns="0" rIns="0" bIns="0" rtlCol="0">
            <a:sp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sym typeface="微软雅黑"/>
              </a:rPr>
              <a:t>六大职能</a:t>
            </a:r>
            <a:endParaRPr lang="zh-CN" altLang="en-US" sz="1100" dirty="0">
              <a:solidFill>
                <a:srgbClr val="0042FF"/>
              </a:solidFill>
              <a:latin typeface="微软雅黑"/>
              <a:ea typeface="微软雅黑"/>
              <a:cs typeface="微软雅黑"/>
              <a:sym typeface="微软雅黑"/>
            </a:endParaRPr>
          </a:p>
        </p:txBody>
      </p:sp>
      <p:cxnSp>
        <p:nvCxnSpPr>
          <p:cNvPr id="408" name="显眼包PPT19"/>
          <p:cNvCxnSpPr/>
          <p:nvPr/>
        </p:nvCxnSpPr>
        <p:spPr>
          <a:xfrm flipV="1">
            <a:off x="1239704" y="5912547"/>
            <a:ext cx="0" cy="688535"/>
          </a:xfrm>
          <a:prstGeom prst="line">
            <a:avLst/>
          </a:prstGeom>
          <a:ln w="15875" cap="rnd">
            <a:gradFill flip="none" rotWithShape="1">
              <a:gsLst>
                <a:gs pos="0">
                  <a:srgbClr val="0042FF">
                    <a:alpha val="0"/>
                  </a:srgbClr>
                </a:gs>
                <a:gs pos="100000">
                  <a:srgbClr val="0042FF"/>
                </a:gs>
              </a:gsLst>
              <a:path path="circle">
                <a:fillToRect l="50000" t="50000" r="50000" b="50000"/>
              </a:path>
              <a:tileRect/>
            </a:gradFill>
            <a:prstDash val="sysDot"/>
            <a:round/>
          </a:ln>
        </p:spPr>
        <p:style>
          <a:lnRef idx="1">
            <a:srgbClr val="0042FF"/>
          </a:lnRef>
          <a:fillRef idx="0">
            <a:srgbClr val="0042FF"/>
          </a:fillRef>
          <a:effectRef idx="0">
            <a:srgbClr val="0042FF"/>
          </a:effectRef>
          <a:fontRef idx="minor">
            <a:srgbClr val="383838"/>
          </a:fontRef>
        </p:style>
      </p:cxnSp>
      <p:sp>
        <p:nvSpPr>
          <p:cNvPr id="134" name="显眼包PPT20"/>
          <p:cNvSpPr txBox="1"/>
          <p:nvPr/>
        </p:nvSpPr>
        <p:spPr>
          <a:xfrm>
            <a:off x="957575" y="6180541"/>
            <a:ext cx="564257" cy="168910"/>
          </a:xfrm>
          <a:prstGeom prst="rect">
            <a:avLst/>
          </a:prstGeom>
          <a:solidFill>
            <a:srgbClr val="FFFFFF"/>
          </a:solidFill>
          <a:effectLst/>
        </p:spPr>
        <p:txBody>
          <a:bodyPr wrap="square" lIns="0" tIns="0" rIns="0" bIns="0" rtlCol="0">
            <a:sp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sym typeface="微软雅黑"/>
              </a:rPr>
              <a:t>三维一体</a:t>
            </a:r>
            <a:endParaRPr lang="zh-CN" altLang="en-US" sz="1100" dirty="0">
              <a:solidFill>
                <a:srgbClr val="0042FF"/>
              </a:solidFill>
              <a:latin typeface="微软雅黑"/>
              <a:ea typeface="微软雅黑"/>
              <a:cs typeface="微软雅黑"/>
              <a:sym typeface="微软雅黑"/>
            </a:endParaRPr>
          </a:p>
        </p:txBody>
      </p:sp>
      <p:cxnSp>
        <p:nvCxnSpPr>
          <p:cNvPr id="136" name="显眼包PPT12"/>
          <p:cNvCxnSpPr/>
          <p:nvPr/>
        </p:nvCxnSpPr>
        <p:spPr>
          <a:xfrm flipH="1">
            <a:off x="938339" y="1140830"/>
            <a:ext cx="602728" cy="0"/>
          </a:xfrm>
          <a:prstGeom prst="line">
            <a:avLst/>
          </a:prstGeom>
          <a:ln>
            <a:gradFill flip="none" rotWithShape="1">
              <a:gsLst>
                <a:gs pos="0">
                  <a:srgbClr val="0042FF"/>
                </a:gs>
                <a:gs pos="100000">
                  <a:srgbClr val="0042FF">
                    <a:alpha val="0"/>
                  </a:srgbClr>
                </a:gs>
              </a:gsLst>
              <a:path path="circle">
                <a:fillToRect l="50000" t="50000" r="50000" b="50000"/>
              </a:path>
              <a:tileRect/>
            </a:gradFill>
          </a:ln>
        </p:spPr>
        <p:style>
          <a:lnRef idx="1">
            <a:srgbClr val="0042FF"/>
          </a:lnRef>
          <a:fillRef idx="0">
            <a:srgbClr val="0042FF"/>
          </a:fillRef>
          <a:effectRef idx="0">
            <a:srgbClr val="0042FF"/>
          </a:effectRef>
          <a:fontRef idx="minor">
            <a:srgbClr val="383838"/>
          </a:fontRef>
        </p:style>
      </p:cxnSp>
      <p:cxnSp>
        <p:nvCxnSpPr>
          <p:cNvPr id="137" name="显眼包PPT16"/>
          <p:cNvCxnSpPr/>
          <p:nvPr/>
        </p:nvCxnSpPr>
        <p:spPr>
          <a:xfrm flipV="1">
            <a:off x="1239704" y="1179665"/>
            <a:ext cx="0" cy="866775"/>
          </a:xfrm>
          <a:prstGeom prst="line">
            <a:avLst/>
          </a:prstGeom>
          <a:ln w="15875" cap="rnd">
            <a:gradFill flip="none" rotWithShape="1">
              <a:gsLst>
                <a:gs pos="0">
                  <a:srgbClr val="0042FF">
                    <a:alpha val="0"/>
                  </a:srgbClr>
                </a:gs>
                <a:gs pos="100000">
                  <a:srgbClr val="0042FF"/>
                </a:gs>
              </a:gsLst>
              <a:path path="circle">
                <a:fillToRect l="50000" t="50000" r="50000" b="50000"/>
              </a:path>
              <a:tileRect/>
            </a:gradFill>
            <a:prstDash val="sysDot"/>
            <a:round/>
          </a:ln>
        </p:spPr>
        <p:style>
          <a:lnRef idx="1">
            <a:srgbClr val="0042FF"/>
          </a:lnRef>
          <a:fillRef idx="0">
            <a:srgbClr val="0042FF"/>
          </a:fillRef>
          <a:effectRef idx="0">
            <a:srgbClr val="0042FF"/>
          </a:effectRef>
          <a:fontRef idx="minor">
            <a:srgbClr val="383838"/>
          </a:fontRef>
        </p:style>
      </p:cxnSp>
      <p:sp>
        <p:nvSpPr>
          <p:cNvPr id="138" name="显眼包PPT17"/>
          <p:cNvSpPr txBox="1"/>
          <p:nvPr/>
        </p:nvSpPr>
        <p:spPr>
          <a:xfrm>
            <a:off x="960303" y="1627470"/>
            <a:ext cx="558800" cy="168910"/>
          </a:xfrm>
          <a:prstGeom prst="rect">
            <a:avLst/>
          </a:prstGeom>
          <a:solidFill>
            <a:srgbClr val="FFFFFF"/>
          </a:solidFill>
          <a:effectLst/>
        </p:spPr>
        <p:txBody>
          <a:bodyPr wrap="none" lIns="0" tIns="0" rIns="0" bIns="0" rtlCol="0">
            <a:spAutoFit/>
          </a:bodyPr>
          <a:lstStyle/>
          <a:p>
            <a:pPr algn="ctr">
              <a:defRPr>
                <a:latin typeface="微软雅黑"/>
                <a:ea typeface="微软雅黑"/>
                <a:cs typeface="微软雅黑"/>
              </a:defRPr>
            </a:pPr>
            <a:r>
              <a:rPr lang="zh-CN" altLang="en-US" sz="1100">
                <a:solidFill>
                  <a:srgbClr val="0042FF"/>
                </a:solidFill>
                <a:latin typeface="微软雅黑"/>
                <a:ea typeface="微软雅黑"/>
                <a:cs typeface="微软雅黑"/>
                <a:sym typeface="微软雅黑"/>
              </a:rPr>
              <a:t>一个目标</a:t>
            </a:r>
            <a:endParaRPr lang="zh-CN" altLang="en-US" sz="1100">
              <a:solidFill>
                <a:srgbClr val="0042FF"/>
              </a:solidFill>
              <a:latin typeface="微软雅黑"/>
              <a:ea typeface="微软雅黑"/>
              <a:cs typeface="微软雅黑"/>
              <a:sym typeface="微软雅黑"/>
            </a:endParaRPr>
          </a:p>
        </p:txBody>
      </p:sp>
      <p:grpSp>
        <p:nvGrpSpPr>
          <p:cNvPr id="139" name="组合 138"/>
          <p:cNvGrpSpPr/>
          <p:nvPr/>
        </p:nvGrpSpPr>
        <p:grpSpPr>
          <a:xfrm>
            <a:off x="7675245" y="347980"/>
            <a:ext cx="4588510" cy="367030"/>
            <a:chOff x="12087" y="-1089"/>
            <a:chExt cx="7226" cy="578"/>
          </a:xfrm>
        </p:grpSpPr>
        <p:pic>
          <p:nvPicPr>
            <p:cNvPr id="140" name="图片 139"/>
            <p:cNvPicPr>
              <a:picLocks noChangeAspect="1"/>
            </p:cNvPicPr>
            <p:nvPr userDrawn="1"/>
          </p:nvPicPr>
          <p:blipFill>
            <a:blip r:embed="rId3"/>
            <a:srcRect r="57320" b="-13333"/>
            <a:stretch>
              <a:fillRect/>
            </a:stretch>
          </p:blipFill>
          <p:spPr>
            <a:xfrm>
              <a:off x="12087" y="-1089"/>
              <a:ext cx="2548" cy="578"/>
            </a:xfrm>
            <a:prstGeom prst="rect">
              <a:avLst/>
            </a:prstGeom>
          </p:spPr>
        </p:pic>
        <p:sp>
          <p:nvSpPr>
            <p:cNvPr id="141" name="文本框 140"/>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a:t>
            </a:r>
            <a:r>
              <a:rPr lang="en-US" altLang="zh-CN" sz="2500">
                <a:solidFill>
                  <a:srgbClr val="0042FF"/>
                </a:solidFill>
                <a:effectLst/>
                <a:latin typeface="微软雅黑"/>
                <a:ea typeface="微软雅黑"/>
                <a:cs typeface="微软雅黑"/>
              </a:rPr>
              <a:t> </a:t>
            </a:r>
            <a:r>
              <a:rPr lang="zh-CN" altLang="en-US" sz="2500">
                <a:solidFill>
                  <a:srgbClr val="383838"/>
                </a:solidFill>
                <a:effectLst/>
                <a:latin typeface="微软雅黑"/>
                <a:ea typeface="微软雅黑"/>
                <a:cs typeface="微软雅黑"/>
              </a:rPr>
              <a:t>企业经营管理战略屋</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0" name="任意多边形: 形状 39"/>
          <p:cNvSpPr/>
          <p:nvPr/>
        </p:nvSpPr>
        <p:spPr>
          <a:xfrm>
            <a:off x="-902335" y="-601980"/>
            <a:ext cx="21590" cy="43815"/>
          </a:xfrm>
          <a:custGeom>
            <a:avLst/>
            <a:gdLst>
              <a:gd name="connsiteX0" fmla="*/ 0 w 21855"/>
              <a:gd name="connsiteY0" fmla="*/ 0 h 43711"/>
              <a:gd name="connsiteX1" fmla="*/ 0 w 21855"/>
              <a:gd name="connsiteY1" fmla="*/ 43712 h 43711"/>
              <a:gd name="connsiteX2" fmla="*/ 21856 w 21855"/>
              <a:gd name="connsiteY2" fmla="*/ 21856 h 43711"/>
              <a:gd name="connsiteX3" fmla="*/ 0 w 21855"/>
              <a:gd name="connsiteY3" fmla="*/ 0 h 43711"/>
            </a:gdLst>
            <a:ahLst/>
            <a:cxnLst>
              <a:cxn ang="0">
                <a:pos x="connsiteX0" y="connsiteY0"/>
              </a:cxn>
              <a:cxn ang="0">
                <a:pos x="connsiteX1" y="connsiteY1"/>
              </a:cxn>
              <a:cxn ang="0">
                <a:pos x="connsiteX2" y="connsiteY2"/>
              </a:cxn>
              <a:cxn ang="0">
                <a:pos x="connsiteX3" y="connsiteY3"/>
              </a:cxn>
            </a:cxnLst>
            <a:rect l="l" t="t" r="r" b="b"/>
            <a:pathLst>
              <a:path w="21855" h="43711">
                <a:moveTo>
                  <a:pt x="0" y="0"/>
                </a:moveTo>
                <a:lnTo>
                  <a:pt x="0" y="43712"/>
                </a:lnTo>
                <a:cubicBezTo>
                  <a:pt x="12071" y="43712"/>
                  <a:pt x="21856" y="33927"/>
                  <a:pt x="21856" y="21856"/>
                </a:cubicBezTo>
                <a:cubicBezTo>
                  <a:pt x="21856" y="9785"/>
                  <a:pt x="12071" y="0"/>
                  <a:pt x="0" y="0"/>
                </a:cubicBezTo>
                <a:close/>
              </a:path>
            </a:pathLst>
          </a:custGeom>
          <a:gradFill>
            <a:gsLst>
              <a:gs pos="100000">
                <a:srgbClr val="FFFFFF">
                  <a:alpha val="31000"/>
                </a:srgbClr>
              </a:gs>
              <a:gs pos="0">
                <a:srgbClr val="FFFFFF"/>
              </a:gs>
            </a:gsLst>
            <a:lin ang="5400000" scaled="1"/>
          </a:gradFill>
          <a:ln w="21717"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41" name="任意多边形: 形状 40"/>
          <p:cNvSpPr/>
          <p:nvPr/>
        </p:nvSpPr>
        <p:spPr>
          <a:xfrm>
            <a:off x="-946150" y="-668020"/>
            <a:ext cx="21590" cy="43815"/>
          </a:xfrm>
          <a:custGeom>
            <a:avLst/>
            <a:gdLst>
              <a:gd name="connsiteX0" fmla="*/ 0 w 21855"/>
              <a:gd name="connsiteY0" fmla="*/ 21856 h 43711"/>
              <a:gd name="connsiteX1" fmla="*/ 21856 w 21855"/>
              <a:gd name="connsiteY1" fmla="*/ 43712 h 43711"/>
              <a:gd name="connsiteX2" fmla="*/ 21856 w 21855"/>
              <a:gd name="connsiteY2" fmla="*/ 0 h 43711"/>
              <a:gd name="connsiteX3" fmla="*/ 0 w 21855"/>
              <a:gd name="connsiteY3" fmla="*/ 21856 h 43711"/>
            </a:gdLst>
            <a:ahLst/>
            <a:cxnLst>
              <a:cxn ang="0">
                <a:pos x="connsiteX0" y="connsiteY0"/>
              </a:cxn>
              <a:cxn ang="0">
                <a:pos x="connsiteX1" y="connsiteY1"/>
              </a:cxn>
              <a:cxn ang="0">
                <a:pos x="connsiteX2" y="connsiteY2"/>
              </a:cxn>
              <a:cxn ang="0">
                <a:pos x="connsiteX3" y="connsiteY3"/>
              </a:cxn>
            </a:cxnLst>
            <a:rect l="l" t="t" r="r" b="b"/>
            <a:pathLst>
              <a:path w="21855" h="43711">
                <a:moveTo>
                  <a:pt x="0" y="21856"/>
                </a:moveTo>
                <a:cubicBezTo>
                  <a:pt x="0" y="33927"/>
                  <a:pt x="9785" y="43712"/>
                  <a:pt x="21856" y="43712"/>
                </a:cubicBezTo>
                <a:lnTo>
                  <a:pt x="21856" y="0"/>
                </a:lnTo>
                <a:cubicBezTo>
                  <a:pt x="9785" y="0"/>
                  <a:pt x="0" y="9785"/>
                  <a:pt x="0" y="21856"/>
                </a:cubicBezTo>
                <a:close/>
              </a:path>
            </a:pathLst>
          </a:custGeom>
          <a:gradFill>
            <a:gsLst>
              <a:gs pos="100000">
                <a:srgbClr val="FFFFFF">
                  <a:alpha val="31000"/>
                </a:srgbClr>
              </a:gs>
              <a:gs pos="0">
                <a:srgbClr val="FFFFFF"/>
              </a:gs>
            </a:gsLst>
            <a:lin ang="5400000" scaled="1"/>
          </a:gradFill>
          <a:ln w="21717"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194" name="等腰三角形 193"/>
          <p:cNvSpPr/>
          <p:nvPr/>
        </p:nvSpPr>
        <p:spPr>
          <a:xfrm>
            <a:off x="446405" y="984885"/>
            <a:ext cx="11403965" cy="601345"/>
          </a:xfrm>
          <a:prstGeom prst="triangle">
            <a:avLst/>
          </a:prstGeom>
          <a:gradFill>
            <a:gsLst>
              <a:gs pos="0">
                <a:srgbClr val="3368FF"/>
              </a:gs>
              <a:gs pos="62000">
                <a:srgbClr val="0042FF"/>
              </a:gs>
            </a:gsLst>
            <a:lin ang="1620000" scaled="0"/>
          </a:gradFill>
          <a:ln w="9708" cap="flat">
            <a:solidFill>
              <a:srgbClr val="0042FF"/>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b="1" kern="0" dirty="0">
              <a:solidFill>
                <a:srgbClr val="FFFFFF"/>
              </a:solidFill>
              <a:latin typeface="微软雅黑"/>
              <a:ea typeface="微软雅黑"/>
              <a:cs typeface="微软雅黑"/>
              <a:sym typeface="微软雅黑"/>
            </a:endParaRPr>
          </a:p>
        </p:txBody>
      </p:sp>
      <p:sp>
        <p:nvSpPr>
          <p:cNvPr id="195" name="文本框 194"/>
          <p:cNvSpPr txBox="1"/>
          <p:nvPr/>
        </p:nvSpPr>
        <p:spPr>
          <a:xfrm>
            <a:off x="4609220" y="1167484"/>
            <a:ext cx="2852063" cy="338554"/>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企业直达项目，项目直达客户</a:t>
            </a:r>
            <a:endParaRPr lang="zh-CN" altLang="en-US" sz="1600" b="1">
              <a:solidFill>
                <a:srgbClr val="FFFFFF"/>
              </a:solidFill>
              <a:latin typeface="微软雅黑"/>
              <a:ea typeface="微软雅黑"/>
              <a:cs typeface="微软雅黑"/>
            </a:endParaRPr>
          </a:p>
        </p:txBody>
      </p:sp>
      <p:sp>
        <p:nvSpPr>
          <p:cNvPr id="196" name="矩形: 圆角 49"/>
          <p:cNvSpPr/>
          <p:nvPr/>
        </p:nvSpPr>
        <p:spPr>
          <a:xfrm>
            <a:off x="444783" y="1685757"/>
            <a:ext cx="825935" cy="1180119"/>
          </a:xfrm>
          <a:prstGeom prst="roundRect">
            <a:avLst>
              <a:gd name="adj" fmla="val 5778"/>
            </a:avLst>
          </a:prstGeom>
          <a:solidFill>
            <a:srgbClr val="E6E6E6">
              <a:alpha val="5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568"/>
              </a:lnSpc>
              <a:spcBef>
                <a:spcPts val="0"/>
              </a:spcBef>
              <a:spcAft>
                <a:spcPts val="0"/>
              </a:spcAft>
            </a:pPr>
            <a:r>
              <a:rPr lang="zh-CN" altLang="en-US" sz="1400" b="1">
                <a:solidFill>
                  <a:srgbClr val="0042FF"/>
                </a:solidFill>
                <a:latin typeface="微软雅黑"/>
                <a:ea typeface="微软雅黑"/>
                <a:cs typeface="微软雅黑"/>
              </a:rPr>
              <a:t>企业层</a:t>
            </a:r>
            <a:endParaRPr lang="en-US" altLang="zh-CN" sz="1400" b="1">
              <a:solidFill>
                <a:srgbClr val="0042FF"/>
              </a:solidFill>
              <a:latin typeface="微软雅黑"/>
              <a:ea typeface="微软雅黑"/>
              <a:cs typeface="微软雅黑"/>
            </a:endParaRPr>
          </a:p>
          <a:p>
            <a:pPr algn="ctr">
              <a:defRPr>
                <a:latin typeface="微软雅黑"/>
                <a:ea typeface="微软雅黑"/>
                <a:cs typeface="微软雅黑"/>
              </a:defRPr>
              <a:lnSpc>
                <a:spcPts val="1568"/>
              </a:lnSpc>
              <a:spcBef>
                <a:spcPts val="0"/>
              </a:spcBef>
              <a:spcAft>
                <a:spcPts val="0"/>
              </a:spcAft>
            </a:pPr>
            <a:r>
              <a:rPr lang="zh-CN" altLang="en-US" sz="1000" b="1">
                <a:solidFill>
                  <a:srgbClr val="0042FF"/>
                </a:solidFill>
                <a:latin typeface="微软雅黑"/>
                <a:ea typeface="微软雅黑"/>
                <a:cs typeface="微软雅黑"/>
              </a:rPr>
              <a:t>平台化经营</a:t>
            </a:r>
            <a:endParaRPr lang="zh-CN" altLang="en-US" sz="1000" b="1">
              <a:solidFill>
                <a:srgbClr val="0042FF"/>
              </a:solidFill>
              <a:latin typeface="微软雅黑"/>
              <a:ea typeface="微软雅黑"/>
              <a:cs typeface="微软雅黑"/>
            </a:endParaRPr>
          </a:p>
        </p:txBody>
      </p:sp>
      <p:sp>
        <p:nvSpPr>
          <p:cNvPr id="492" name="矩形: 圆角 491"/>
          <p:cNvSpPr/>
          <p:nvPr/>
        </p:nvSpPr>
        <p:spPr>
          <a:xfrm>
            <a:off x="1353167" y="1685758"/>
            <a:ext cx="3175200" cy="308565"/>
          </a:xfrm>
          <a:prstGeom prst="roundRect">
            <a:avLst>
              <a:gd name="adj" fmla="val 10792"/>
            </a:avLst>
          </a:prstGeom>
          <a:solidFill>
            <a:srgbClr val="E6E6E6">
              <a:alpha val="50000"/>
            </a:srgbClr>
          </a:solidFill>
          <a:ln w="12700" cap="flat" cmpd="sng" algn="ctr">
            <a:solidFill>
              <a:srgbClr val="668EFF">
                <a:alpha val="25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494" name="矩形: 圆角 493"/>
          <p:cNvSpPr/>
          <p:nvPr/>
        </p:nvSpPr>
        <p:spPr>
          <a:xfrm>
            <a:off x="3899300" y="1735410"/>
            <a:ext cx="533327"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供应链</a:t>
            </a:r>
            <a:endParaRPr lang="zh-CN" altLang="en-US" sz="1000" b="1" dirty="0">
              <a:solidFill>
                <a:srgbClr val="FFFFFF"/>
              </a:solidFill>
              <a:latin typeface="微软雅黑"/>
              <a:ea typeface="微软雅黑"/>
              <a:cs typeface="微软雅黑"/>
              <a:sym typeface="微软雅黑"/>
            </a:endParaRPr>
          </a:p>
        </p:txBody>
      </p:sp>
      <p:sp>
        <p:nvSpPr>
          <p:cNvPr id="495" name="矩形: 圆角 494"/>
          <p:cNvSpPr/>
          <p:nvPr/>
        </p:nvSpPr>
        <p:spPr>
          <a:xfrm>
            <a:off x="3410898"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组织</a:t>
            </a:r>
            <a:endParaRPr lang="zh-CN" altLang="en-US" sz="1000" b="1" dirty="0">
              <a:solidFill>
                <a:srgbClr val="FFFFFF"/>
              </a:solidFill>
              <a:latin typeface="微软雅黑"/>
              <a:ea typeface="微软雅黑"/>
              <a:cs typeface="微软雅黑"/>
              <a:sym typeface="微软雅黑"/>
            </a:endParaRPr>
          </a:p>
        </p:txBody>
      </p:sp>
      <p:sp>
        <p:nvSpPr>
          <p:cNvPr id="496" name="矩形: 圆角 495"/>
          <p:cNvSpPr/>
          <p:nvPr/>
        </p:nvSpPr>
        <p:spPr>
          <a:xfrm>
            <a:off x="2922497"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产品</a:t>
            </a:r>
            <a:endParaRPr lang="zh-CN" altLang="en-US" sz="1000" b="1" dirty="0">
              <a:solidFill>
                <a:srgbClr val="FFFFFF"/>
              </a:solidFill>
              <a:latin typeface="微软雅黑"/>
              <a:ea typeface="微软雅黑"/>
              <a:cs typeface="微软雅黑"/>
              <a:sym typeface="微软雅黑"/>
            </a:endParaRPr>
          </a:p>
        </p:txBody>
      </p:sp>
      <p:sp>
        <p:nvSpPr>
          <p:cNvPr id="497" name="矩形: 圆角 496"/>
          <p:cNvSpPr/>
          <p:nvPr/>
        </p:nvSpPr>
        <p:spPr>
          <a:xfrm>
            <a:off x="2434097"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财务</a:t>
            </a:r>
            <a:endParaRPr lang="zh-CN" altLang="en-US" sz="1000" b="1" dirty="0">
              <a:solidFill>
                <a:srgbClr val="FFFFFF"/>
              </a:solidFill>
              <a:latin typeface="微软雅黑"/>
              <a:ea typeface="微软雅黑"/>
              <a:cs typeface="微软雅黑"/>
              <a:sym typeface="微软雅黑"/>
            </a:endParaRPr>
          </a:p>
        </p:txBody>
      </p:sp>
      <p:sp>
        <p:nvSpPr>
          <p:cNvPr id="498" name="矩形: 圆角 497"/>
          <p:cNvSpPr/>
          <p:nvPr/>
        </p:nvSpPr>
        <p:spPr>
          <a:xfrm>
            <a:off x="1945696"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战略</a:t>
            </a:r>
            <a:endParaRPr lang="zh-CN" altLang="en-US" sz="1000" b="1" dirty="0">
              <a:solidFill>
                <a:srgbClr val="FFFFFF"/>
              </a:solidFill>
              <a:latin typeface="微软雅黑"/>
              <a:ea typeface="微软雅黑"/>
              <a:cs typeface="微软雅黑"/>
              <a:sym typeface="微软雅黑"/>
            </a:endParaRPr>
          </a:p>
        </p:txBody>
      </p:sp>
      <p:sp>
        <p:nvSpPr>
          <p:cNvPr id="197" name="文本框 196"/>
          <p:cNvSpPr txBox="1"/>
          <p:nvPr/>
        </p:nvSpPr>
        <p:spPr>
          <a:xfrm>
            <a:off x="1307447" y="1716801"/>
            <a:ext cx="706537" cy="25717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383838"/>
                </a:solidFill>
                <a:latin typeface="微软雅黑"/>
                <a:ea typeface="微软雅黑"/>
                <a:cs typeface="微软雅黑"/>
              </a:rPr>
              <a:t>创新视角</a:t>
            </a:r>
            <a:endParaRPr lang="zh-CN" altLang="en-US" sz="1000" b="1" kern="0">
              <a:solidFill>
                <a:srgbClr val="383838"/>
              </a:solidFill>
              <a:latin typeface="微软雅黑"/>
              <a:ea typeface="微软雅黑"/>
              <a:cs typeface="微软雅黑"/>
            </a:endParaRPr>
          </a:p>
        </p:txBody>
      </p:sp>
      <p:sp>
        <p:nvSpPr>
          <p:cNvPr id="520" name="矩形: 圆角 519"/>
          <p:cNvSpPr/>
          <p:nvPr/>
        </p:nvSpPr>
        <p:spPr>
          <a:xfrm>
            <a:off x="4609250" y="1685758"/>
            <a:ext cx="3175200" cy="308565"/>
          </a:xfrm>
          <a:prstGeom prst="roundRect">
            <a:avLst>
              <a:gd name="adj" fmla="val 10793"/>
            </a:avLst>
          </a:prstGeom>
          <a:solidFill>
            <a:srgbClr val="668EFF">
              <a:alpha val="10000"/>
            </a:srgbClr>
          </a:solidFill>
          <a:ln w="12700" cap="flat" cmpd="sng" algn="ctr">
            <a:solidFill>
              <a:srgbClr val="668EFF">
                <a:alpha val="25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524" name="矩形: 圆角 523"/>
          <p:cNvSpPr/>
          <p:nvPr/>
        </p:nvSpPr>
        <p:spPr>
          <a:xfrm>
            <a:off x="7155382" y="1735410"/>
            <a:ext cx="533327"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客户</a:t>
            </a:r>
            <a:endParaRPr lang="zh-CN" altLang="en-US" sz="1000" b="1" dirty="0">
              <a:solidFill>
                <a:srgbClr val="FFFFFF"/>
              </a:solidFill>
              <a:latin typeface="微软雅黑"/>
              <a:ea typeface="微软雅黑"/>
              <a:cs typeface="微软雅黑"/>
              <a:sym typeface="微软雅黑"/>
            </a:endParaRPr>
          </a:p>
        </p:txBody>
      </p:sp>
      <p:sp>
        <p:nvSpPr>
          <p:cNvPr id="528" name="矩形: 圆角 527"/>
          <p:cNvSpPr/>
          <p:nvPr/>
        </p:nvSpPr>
        <p:spPr>
          <a:xfrm>
            <a:off x="6666980"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技术</a:t>
            </a:r>
            <a:endParaRPr lang="zh-CN" altLang="en-US" sz="1000" b="1" dirty="0">
              <a:solidFill>
                <a:srgbClr val="FFFFFF"/>
              </a:solidFill>
              <a:latin typeface="微软雅黑"/>
              <a:ea typeface="微软雅黑"/>
              <a:cs typeface="微软雅黑"/>
              <a:sym typeface="微软雅黑"/>
            </a:endParaRPr>
          </a:p>
        </p:txBody>
      </p:sp>
      <p:sp>
        <p:nvSpPr>
          <p:cNvPr id="535" name="矩形: 圆角 534"/>
          <p:cNvSpPr/>
          <p:nvPr/>
        </p:nvSpPr>
        <p:spPr>
          <a:xfrm>
            <a:off x="6178580"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人才</a:t>
            </a:r>
            <a:endParaRPr lang="zh-CN" altLang="en-US" sz="1000" b="1" dirty="0">
              <a:solidFill>
                <a:srgbClr val="FFFFFF"/>
              </a:solidFill>
              <a:latin typeface="微软雅黑"/>
              <a:ea typeface="微软雅黑"/>
              <a:cs typeface="微软雅黑"/>
              <a:sym typeface="微软雅黑"/>
            </a:endParaRPr>
          </a:p>
        </p:txBody>
      </p:sp>
      <p:sp>
        <p:nvSpPr>
          <p:cNvPr id="536" name="矩形: 圆角 535"/>
          <p:cNvSpPr/>
          <p:nvPr/>
        </p:nvSpPr>
        <p:spPr>
          <a:xfrm>
            <a:off x="5690179"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资金</a:t>
            </a:r>
            <a:endParaRPr lang="zh-CN" altLang="en-US" sz="1000" b="1" dirty="0">
              <a:solidFill>
                <a:srgbClr val="FFFFFF"/>
              </a:solidFill>
              <a:latin typeface="微软雅黑"/>
              <a:ea typeface="微软雅黑"/>
              <a:cs typeface="微软雅黑"/>
              <a:sym typeface="微软雅黑"/>
            </a:endParaRPr>
          </a:p>
        </p:txBody>
      </p:sp>
      <p:sp>
        <p:nvSpPr>
          <p:cNvPr id="537" name="矩形: 圆角 536"/>
          <p:cNvSpPr/>
          <p:nvPr/>
        </p:nvSpPr>
        <p:spPr>
          <a:xfrm>
            <a:off x="5201779" y="1735410"/>
            <a:ext cx="429506" cy="209260"/>
          </a:xfrm>
          <a:prstGeom prst="roundRect">
            <a:avLst>
              <a:gd name="adj" fmla="val 22804"/>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土地</a:t>
            </a:r>
            <a:endParaRPr lang="zh-CN" altLang="en-US" sz="1000" b="1" dirty="0">
              <a:solidFill>
                <a:srgbClr val="FFFFFF"/>
              </a:solidFill>
              <a:latin typeface="微软雅黑"/>
              <a:ea typeface="微软雅黑"/>
              <a:cs typeface="微软雅黑"/>
              <a:sym typeface="微软雅黑"/>
            </a:endParaRPr>
          </a:p>
        </p:txBody>
      </p:sp>
      <p:sp>
        <p:nvSpPr>
          <p:cNvPr id="523" name="文本框 522"/>
          <p:cNvSpPr txBox="1"/>
          <p:nvPr/>
        </p:nvSpPr>
        <p:spPr>
          <a:xfrm>
            <a:off x="4563530" y="1716801"/>
            <a:ext cx="706537" cy="25717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383838"/>
                </a:solidFill>
                <a:latin typeface="微软雅黑"/>
                <a:ea typeface="微软雅黑"/>
                <a:cs typeface="微软雅黑"/>
              </a:rPr>
              <a:t>创新视角</a:t>
            </a:r>
            <a:endParaRPr lang="zh-CN" altLang="en-US" sz="1000" b="1" kern="0">
              <a:solidFill>
                <a:srgbClr val="383838"/>
              </a:solidFill>
              <a:latin typeface="微软雅黑"/>
              <a:ea typeface="微软雅黑"/>
              <a:cs typeface="微软雅黑"/>
            </a:endParaRPr>
          </a:p>
        </p:txBody>
      </p:sp>
      <p:sp>
        <p:nvSpPr>
          <p:cNvPr id="539" name="矩形: 圆角 538"/>
          <p:cNvSpPr/>
          <p:nvPr/>
        </p:nvSpPr>
        <p:spPr>
          <a:xfrm>
            <a:off x="7865333" y="1685758"/>
            <a:ext cx="3175200" cy="308565"/>
          </a:xfrm>
          <a:prstGeom prst="roundRect">
            <a:avLst>
              <a:gd name="adj" fmla="val 10792"/>
            </a:avLst>
          </a:prstGeom>
          <a:solidFill>
            <a:srgbClr val="668EFF">
              <a:alpha val="10000"/>
            </a:srgbClr>
          </a:solidFill>
          <a:ln w="12700" cap="flat" cmpd="sng" algn="ctr">
            <a:solidFill>
              <a:srgbClr val="668EFF">
                <a:alpha val="25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541" name="文本框 540"/>
          <p:cNvSpPr txBox="1"/>
          <p:nvPr/>
        </p:nvSpPr>
        <p:spPr>
          <a:xfrm>
            <a:off x="7819613" y="1716801"/>
            <a:ext cx="706537" cy="25717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383838"/>
                </a:solidFill>
                <a:latin typeface="微软雅黑"/>
                <a:ea typeface="微软雅黑"/>
                <a:cs typeface="微软雅黑"/>
              </a:rPr>
              <a:t>生产要素</a:t>
            </a:r>
            <a:endParaRPr lang="zh-CN" altLang="en-US" sz="1000" b="1" kern="0">
              <a:solidFill>
                <a:srgbClr val="383838"/>
              </a:solidFill>
              <a:latin typeface="微软雅黑"/>
              <a:ea typeface="微软雅黑"/>
              <a:cs typeface="微软雅黑"/>
            </a:endParaRPr>
          </a:p>
        </p:txBody>
      </p:sp>
      <p:sp>
        <p:nvSpPr>
          <p:cNvPr id="547" name="矩形: 圆角 546"/>
          <p:cNvSpPr/>
          <p:nvPr/>
        </p:nvSpPr>
        <p:spPr>
          <a:xfrm>
            <a:off x="1353167" y="2055591"/>
            <a:ext cx="3175200" cy="810285"/>
          </a:xfrm>
          <a:prstGeom prst="roundRect">
            <a:avLst>
              <a:gd name="adj" fmla="val 4110"/>
            </a:avLst>
          </a:prstGeom>
          <a:solidFill>
            <a:srgbClr val="E6E6E6">
              <a:alpha val="50000"/>
            </a:srgbClr>
          </a:solidFill>
          <a:ln w="12700" cap="flat" cmpd="sng" algn="ctr">
            <a:solidFill>
              <a:srgbClr val="668EFF">
                <a:alpha val="25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endParaRPr>
          </a:p>
        </p:txBody>
      </p:sp>
      <p:sp>
        <p:nvSpPr>
          <p:cNvPr id="548" name="矩形: 圆角 547"/>
          <p:cNvSpPr/>
          <p:nvPr/>
        </p:nvSpPr>
        <p:spPr>
          <a:xfrm>
            <a:off x="1472281" y="2336709"/>
            <a:ext cx="1432088"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智能企业经营决策</a:t>
            </a:r>
            <a:endParaRPr lang="zh-CN" altLang="en-US" sz="1000" b="1" dirty="0">
              <a:solidFill>
                <a:srgbClr val="FFFFFF"/>
              </a:solidFill>
              <a:latin typeface="微软雅黑"/>
              <a:ea typeface="微软雅黑"/>
              <a:cs typeface="微软雅黑"/>
              <a:sym typeface="微软雅黑"/>
            </a:endParaRPr>
          </a:p>
        </p:txBody>
      </p:sp>
      <p:sp>
        <p:nvSpPr>
          <p:cNvPr id="549" name="矩形: 圆角 548"/>
          <p:cNvSpPr/>
          <p:nvPr/>
        </p:nvSpPr>
        <p:spPr>
          <a:xfrm>
            <a:off x="2977165" y="2336709"/>
            <a:ext cx="1432088"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智能资源交易决策</a:t>
            </a:r>
            <a:endParaRPr lang="zh-CN" altLang="en-US" sz="1000" b="1" dirty="0">
              <a:solidFill>
                <a:srgbClr val="FFFFFF"/>
              </a:solidFill>
              <a:latin typeface="微软雅黑"/>
              <a:ea typeface="微软雅黑"/>
              <a:cs typeface="微软雅黑"/>
              <a:sym typeface="微软雅黑"/>
            </a:endParaRPr>
          </a:p>
        </p:txBody>
      </p:sp>
      <p:sp>
        <p:nvSpPr>
          <p:cNvPr id="552" name="矩形: 圆角 551"/>
          <p:cNvSpPr/>
          <p:nvPr/>
        </p:nvSpPr>
        <p:spPr>
          <a:xfrm>
            <a:off x="1472281" y="2598655"/>
            <a:ext cx="1432088"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智能生产智慧决策</a:t>
            </a:r>
            <a:endParaRPr lang="zh-CN" altLang="en-US" sz="1000" b="1" dirty="0">
              <a:solidFill>
                <a:srgbClr val="FFFFFF"/>
              </a:solidFill>
              <a:latin typeface="微软雅黑"/>
              <a:ea typeface="微软雅黑"/>
              <a:cs typeface="微软雅黑"/>
              <a:sym typeface="微软雅黑"/>
            </a:endParaRPr>
          </a:p>
        </p:txBody>
      </p:sp>
      <p:sp>
        <p:nvSpPr>
          <p:cNvPr id="553" name="矩形: 圆角 552"/>
          <p:cNvSpPr/>
          <p:nvPr/>
        </p:nvSpPr>
        <p:spPr>
          <a:xfrm>
            <a:off x="2977165" y="2598655"/>
            <a:ext cx="1432088"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智能客户运营决策</a:t>
            </a:r>
            <a:endParaRPr lang="zh-CN" altLang="en-US" sz="1000" b="1" dirty="0">
              <a:solidFill>
                <a:srgbClr val="FFFFFF"/>
              </a:solidFill>
              <a:latin typeface="微软雅黑"/>
              <a:ea typeface="微软雅黑"/>
              <a:cs typeface="微软雅黑"/>
              <a:sym typeface="微软雅黑"/>
            </a:endParaRPr>
          </a:p>
        </p:txBody>
      </p:sp>
      <p:sp>
        <p:nvSpPr>
          <p:cNvPr id="555" name="文本框 554"/>
          <p:cNvSpPr txBox="1"/>
          <p:nvPr/>
        </p:nvSpPr>
        <p:spPr>
          <a:xfrm>
            <a:off x="2008760" y="2055591"/>
            <a:ext cx="1864014" cy="25717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383838"/>
                </a:solidFill>
                <a:latin typeface="微软雅黑"/>
                <a:ea typeface="微软雅黑"/>
                <a:cs typeface="微软雅黑"/>
              </a:rPr>
              <a:t>数字决策中心</a:t>
            </a:r>
            <a:endParaRPr lang="zh-CN" altLang="en-US" sz="1000" b="1" kern="0">
              <a:solidFill>
                <a:srgbClr val="383838"/>
              </a:solidFill>
              <a:latin typeface="微软雅黑"/>
              <a:ea typeface="微软雅黑"/>
              <a:cs typeface="微软雅黑"/>
            </a:endParaRPr>
          </a:p>
        </p:txBody>
      </p:sp>
      <p:sp>
        <p:nvSpPr>
          <p:cNvPr id="560" name="矩形: 圆角 559"/>
          <p:cNvSpPr/>
          <p:nvPr/>
        </p:nvSpPr>
        <p:spPr>
          <a:xfrm>
            <a:off x="4609250" y="2055591"/>
            <a:ext cx="3175200" cy="810285"/>
          </a:xfrm>
          <a:prstGeom prst="roundRect">
            <a:avLst>
              <a:gd name="adj" fmla="val 4110"/>
            </a:avLst>
          </a:prstGeom>
          <a:solidFill>
            <a:srgbClr val="E6E6E6">
              <a:alpha val="50000"/>
            </a:srgbClr>
          </a:solidFill>
          <a:ln w="12700" cap="flat" cmpd="sng" algn="ctr">
            <a:solidFill>
              <a:srgbClr val="668EFF">
                <a:alpha val="25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569" name="矩形: 圆角 568"/>
          <p:cNvSpPr/>
          <p:nvPr/>
        </p:nvSpPr>
        <p:spPr>
          <a:xfrm>
            <a:off x="4728364" y="2336709"/>
            <a:ext cx="1432087"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智能资源整合与统筹</a:t>
            </a:r>
            <a:endParaRPr lang="zh-CN" altLang="en-US" sz="1000" b="1" dirty="0">
              <a:solidFill>
                <a:srgbClr val="FFFFFF"/>
              </a:solidFill>
              <a:latin typeface="微软雅黑"/>
              <a:ea typeface="微软雅黑"/>
              <a:cs typeface="微软雅黑"/>
              <a:sym typeface="微软雅黑"/>
            </a:endParaRPr>
          </a:p>
        </p:txBody>
      </p:sp>
      <p:sp>
        <p:nvSpPr>
          <p:cNvPr id="570" name="矩形: 圆角 569"/>
          <p:cNvSpPr/>
          <p:nvPr/>
        </p:nvSpPr>
        <p:spPr>
          <a:xfrm>
            <a:off x="6233248" y="2336709"/>
            <a:ext cx="1432087"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智能专家支持与指引</a:t>
            </a:r>
            <a:endParaRPr lang="zh-CN" altLang="en-US" sz="1000" b="1" dirty="0">
              <a:solidFill>
                <a:srgbClr val="FFFFFF"/>
              </a:solidFill>
              <a:latin typeface="微软雅黑"/>
              <a:ea typeface="微软雅黑"/>
              <a:cs typeface="微软雅黑"/>
              <a:sym typeface="微软雅黑"/>
            </a:endParaRPr>
          </a:p>
        </p:txBody>
      </p:sp>
      <p:sp>
        <p:nvSpPr>
          <p:cNvPr id="565" name="矩形: 圆角 564"/>
          <p:cNvSpPr/>
          <p:nvPr/>
        </p:nvSpPr>
        <p:spPr>
          <a:xfrm>
            <a:off x="4728364" y="2598655"/>
            <a:ext cx="2936972"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数字知识沉淀与传递</a:t>
            </a:r>
            <a:endParaRPr lang="zh-CN" altLang="en-US" sz="1000" b="1" dirty="0">
              <a:solidFill>
                <a:srgbClr val="FFFFFF"/>
              </a:solidFill>
              <a:latin typeface="微软雅黑"/>
              <a:ea typeface="微软雅黑"/>
              <a:cs typeface="微软雅黑"/>
              <a:sym typeface="微软雅黑"/>
            </a:endParaRPr>
          </a:p>
        </p:txBody>
      </p:sp>
      <p:sp>
        <p:nvSpPr>
          <p:cNvPr id="562" name="文本框 561"/>
          <p:cNvSpPr txBox="1"/>
          <p:nvPr/>
        </p:nvSpPr>
        <p:spPr>
          <a:xfrm>
            <a:off x="5264844" y="2055591"/>
            <a:ext cx="1864014" cy="257175"/>
          </a:xfrm>
          <a:prstGeom prst="rect">
            <a:avLst/>
          </a:prstGeom>
          <a:noFill/>
        </p:spPr>
        <p:txBody>
          <a:bodyPr wrap="square" rtlCol="0" lIns="0" rIns="0" tIns="0" bIns="0" anchor="t">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kern="0">
                <a:solidFill>
                  <a:srgbClr val="383838"/>
                </a:solidFill>
                <a:latin typeface="微软雅黑"/>
                <a:ea typeface="微软雅黑"/>
                <a:cs typeface="微软雅黑"/>
                <a:sym typeface="微软雅黑"/>
              </a:rPr>
              <a:t>数字赋能中心</a:t>
            </a:r>
            <a:endParaRPr lang="zh-CN" altLang="en-US" sz="1000" b="1" kern="0">
              <a:solidFill>
                <a:srgbClr val="383838"/>
              </a:solidFill>
              <a:latin typeface="微软雅黑"/>
              <a:ea typeface="微软雅黑"/>
              <a:cs typeface="微软雅黑"/>
              <a:sym typeface="微软雅黑"/>
            </a:endParaRPr>
          </a:p>
        </p:txBody>
      </p:sp>
      <p:sp>
        <p:nvSpPr>
          <p:cNvPr id="572" name="矩形: 圆角 571"/>
          <p:cNvSpPr/>
          <p:nvPr/>
        </p:nvSpPr>
        <p:spPr>
          <a:xfrm>
            <a:off x="7865333" y="2055591"/>
            <a:ext cx="3175200" cy="810285"/>
          </a:xfrm>
          <a:prstGeom prst="roundRect">
            <a:avLst>
              <a:gd name="adj" fmla="val 4110"/>
            </a:avLst>
          </a:prstGeom>
          <a:solidFill>
            <a:srgbClr val="668EFF">
              <a:alpha val="10000"/>
            </a:srgbClr>
          </a:solidFill>
          <a:ln w="12700" cap="flat" cmpd="sng" algn="ctr">
            <a:solidFill>
              <a:srgbClr val="668EFF">
                <a:alpha val="25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b="1" kern="0">
              <a:solidFill>
                <a:srgbClr val="FFFFFF"/>
              </a:solidFill>
              <a:gradFill>
                <a:gsLst>
                  <a:gs pos="0">
                    <a:srgbClr val="0042FF"/>
                  </a:gs>
                  <a:gs pos="100000">
                    <a:srgbClr val="0042FF"/>
                  </a:gs>
                </a:gsLst>
                <a:lin ang="2700000" scaled="0"/>
              </a:gradFill>
              <a:latin typeface="微软雅黑"/>
              <a:ea typeface="微软雅黑"/>
              <a:cs typeface="微软雅黑"/>
              <a:sym typeface="微软雅黑"/>
            </a:endParaRPr>
          </a:p>
        </p:txBody>
      </p:sp>
      <p:sp>
        <p:nvSpPr>
          <p:cNvPr id="198" name="矩形: 圆角 130"/>
          <p:cNvSpPr/>
          <p:nvPr/>
        </p:nvSpPr>
        <p:spPr>
          <a:xfrm>
            <a:off x="7984446" y="2336709"/>
            <a:ext cx="1432088"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智能经营监管与审计</a:t>
            </a:r>
            <a:endParaRPr lang="zh-CN" altLang="en-US" sz="1000" b="1" dirty="0">
              <a:solidFill>
                <a:srgbClr val="FFFFFF"/>
              </a:solidFill>
              <a:latin typeface="微软雅黑"/>
              <a:ea typeface="微软雅黑"/>
              <a:cs typeface="微软雅黑"/>
              <a:sym typeface="微软雅黑"/>
            </a:endParaRPr>
          </a:p>
        </p:txBody>
      </p:sp>
      <p:sp>
        <p:nvSpPr>
          <p:cNvPr id="199" name="矩形: 圆角 131"/>
          <p:cNvSpPr/>
          <p:nvPr/>
        </p:nvSpPr>
        <p:spPr>
          <a:xfrm>
            <a:off x="9489330" y="2336709"/>
            <a:ext cx="1432088"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智能财务监控与审计</a:t>
            </a:r>
            <a:endParaRPr lang="zh-CN" altLang="en-US" sz="1000" b="1" dirty="0">
              <a:solidFill>
                <a:srgbClr val="FFFFFF"/>
              </a:solidFill>
              <a:latin typeface="微软雅黑"/>
              <a:ea typeface="微软雅黑"/>
              <a:cs typeface="微软雅黑"/>
              <a:sym typeface="微软雅黑"/>
            </a:endParaRPr>
          </a:p>
        </p:txBody>
      </p:sp>
      <p:sp>
        <p:nvSpPr>
          <p:cNvPr id="200" name="矩形: 圆角 128"/>
          <p:cNvSpPr/>
          <p:nvPr/>
        </p:nvSpPr>
        <p:spPr>
          <a:xfrm>
            <a:off x="7984446" y="2598655"/>
            <a:ext cx="2936972" cy="204449"/>
          </a:xfrm>
          <a:prstGeom prst="roundRect">
            <a:avLst>
              <a:gd name="adj" fmla="val 23341"/>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智能舆情监管与审计</a:t>
            </a:r>
            <a:endParaRPr lang="zh-CN" altLang="en-US" sz="1000" b="1" dirty="0">
              <a:solidFill>
                <a:srgbClr val="FFFFFF"/>
              </a:solidFill>
              <a:latin typeface="微软雅黑"/>
              <a:ea typeface="微软雅黑"/>
              <a:cs typeface="微软雅黑"/>
              <a:sym typeface="微软雅黑"/>
            </a:endParaRPr>
          </a:p>
        </p:txBody>
      </p:sp>
      <p:sp>
        <p:nvSpPr>
          <p:cNvPr id="574" name="文本框 573"/>
          <p:cNvSpPr txBox="1"/>
          <p:nvPr/>
        </p:nvSpPr>
        <p:spPr>
          <a:xfrm>
            <a:off x="8520926" y="2055591"/>
            <a:ext cx="1864014" cy="257175"/>
          </a:xfrm>
          <a:prstGeom prst="rect">
            <a:avLst/>
          </a:prstGeom>
          <a:noFill/>
          <a:extLst>
            <a:ext uri="{909E8E84-426E-40DD-AFC4-6F175D3DCCD1}">
              <a14:hiddenFill xmlns:a14="http://schemas.microsoft.com/office/drawing/2010/main">
                <a:solidFill>
                  <a:srgbClr val="3368FF"/>
                </a:solidFill>
              </a14:hiddenFill>
            </a:ext>
          </a:extLst>
        </p:spPr>
        <p:txBody>
          <a:bodyPr wrap="square" rtlCol="0" lIns="0" rIns="0" tIns="0" bIns="0" anchor="t">
            <a:noAutofit/>
          </a:bodyPr>
          <a:lstStyle/>
          <a:p>
            <a:pPr lvl="0" algn="ctr">
              <a:lnSpc>
                <a:spcPts val="1120"/>
              </a:lnSpc>
              <a:buClrTx/>
              <a:buSzTx/>
              <a:buFontTx/>
              <a:defRPr>
                <a:latin typeface="微软雅黑"/>
                <a:ea typeface="微软雅黑"/>
                <a:cs typeface="微软雅黑"/>
              </a:defRPr>
              <a:spcBef>
                <a:spcPts val="0"/>
              </a:spcBef>
              <a:spcAft>
                <a:spcPts val="0"/>
              </a:spcAft>
            </a:pPr>
            <a:r>
              <a:rPr lang="zh-CN" altLang="en-US" sz="1000" b="1" kern="0">
                <a:solidFill>
                  <a:srgbClr val="383838"/>
                </a:solidFill>
                <a:latin typeface="微软雅黑"/>
                <a:ea typeface="微软雅黑"/>
                <a:cs typeface="微软雅黑"/>
                <a:sym typeface="微软雅黑"/>
              </a:rPr>
              <a:t>数字风控中心</a:t>
            </a:r>
            <a:endParaRPr lang="zh-CN" altLang="en-US" sz="1000" b="1" kern="0">
              <a:solidFill>
                <a:srgbClr val="383838"/>
              </a:solidFill>
              <a:latin typeface="微软雅黑"/>
              <a:ea typeface="微软雅黑"/>
              <a:cs typeface="微软雅黑"/>
              <a:sym typeface="微软雅黑"/>
            </a:endParaRPr>
          </a:p>
        </p:txBody>
      </p:sp>
      <p:sp>
        <p:nvSpPr>
          <p:cNvPr id="675" name="矩形: 圆角 674"/>
          <p:cNvSpPr/>
          <p:nvPr/>
        </p:nvSpPr>
        <p:spPr>
          <a:xfrm>
            <a:off x="11424312" y="1685757"/>
            <a:ext cx="425815" cy="1180119"/>
          </a:xfrm>
          <a:prstGeom prst="roundRect">
            <a:avLst>
              <a:gd name="adj" fmla="val 11207"/>
            </a:avLst>
          </a:prstGeom>
          <a:solidFill>
            <a:srgbClr val="FFFFFF"/>
          </a:solidFill>
          <a:ln w="9708" cap="flat">
            <a:solidFill>
              <a:srgbClr val="383838"/>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经营</a:t>
            </a:r>
            <a:endParaRPr lang="en-US" altLang="zh-CN" sz="14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数据</a:t>
            </a:r>
            <a:endParaRPr lang="zh-CN" altLang="en-US" sz="1400" b="1">
              <a:solidFill>
                <a:srgbClr val="383838"/>
              </a:solidFill>
              <a:latin typeface="微软雅黑"/>
              <a:ea typeface="微软雅黑"/>
              <a:cs typeface="微软雅黑"/>
            </a:endParaRPr>
          </a:p>
        </p:txBody>
      </p:sp>
      <p:sp>
        <p:nvSpPr>
          <p:cNvPr id="201" name="矩形: 圆角 57"/>
          <p:cNvSpPr/>
          <p:nvPr/>
        </p:nvSpPr>
        <p:spPr>
          <a:xfrm>
            <a:off x="444783" y="3188956"/>
            <a:ext cx="825935" cy="1731289"/>
          </a:xfrm>
          <a:prstGeom prst="roundRect">
            <a:avLst>
              <a:gd name="adj" fmla="val 5778"/>
            </a:avLst>
          </a:prstGeom>
          <a:solidFill>
            <a:srgbClr val="E6E6E6">
              <a:alpha val="7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568"/>
              </a:lnSpc>
              <a:spcBef>
                <a:spcPts val="0"/>
              </a:spcBef>
              <a:spcAft>
                <a:spcPts val="0"/>
              </a:spcAft>
            </a:pPr>
            <a:r>
              <a:rPr lang="zh-CN" altLang="en-US" sz="1400" b="1">
                <a:solidFill>
                  <a:srgbClr val="0042FF"/>
                </a:solidFill>
                <a:latin typeface="微软雅黑"/>
                <a:ea typeface="微软雅黑"/>
                <a:cs typeface="微软雅黑"/>
              </a:rPr>
              <a:t>项目层</a:t>
            </a:r>
            <a:endParaRPr lang="zh-CN" altLang="en-US" sz="1400" b="1">
              <a:solidFill>
                <a:srgbClr val="0042FF"/>
              </a:solidFill>
              <a:latin typeface="微软雅黑"/>
              <a:ea typeface="微软雅黑"/>
              <a:cs typeface="微软雅黑"/>
            </a:endParaRPr>
          </a:p>
          <a:p>
            <a:pPr algn="ctr">
              <a:defRPr>
                <a:latin typeface="微软雅黑"/>
                <a:ea typeface="微软雅黑"/>
                <a:cs typeface="微软雅黑"/>
              </a:defRPr>
              <a:lnSpc>
                <a:spcPts val="1568"/>
              </a:lnSpc>
              <a:spcBef>
                <a:spcPts val="0"/>
              </a:spcBef>
              <a:spcAft>
                <a:spcPts val="0"/>
              </a:spcAft>
            </a:pPr>
            <a:r>
              <a:rPr lang="zh-CN" altLang="en-US" sz="1000" b="1">
                <a:solidFill>
                  <a:srgbClr val="0042FF"/>
                </a:solidFill>
                <a:latin typeface="微软雅黑"/>
                <a:ea typeface="微软雅黑"/>
                <a:cs typeface="微软雅黑"/>
              </a:rPr>
              <a:t>精细化管理</a:t>
            </a:r>
            <a:endParaRPr lang="zh-CN" altLang="en-US" sz="1000" b="1">
              <a:solidFill>
                <a:srgbClr val="0042FF"/>
              </a:solidFill>
              <a:latin typeface="微软雅黑"/>
              <a:ea typeface="微软雅黑"/>
              <a:cs typeface="微软雅黑"/>
            </a:endParaRPr>
          </a:p>
        </p:txBody>
      </p:sp>
      <p:sp>
        <p:nvSpPr>
          <p:cNvPr id="676" name="矩形: 圆角 675"/>
          <p:cNvSpPr/>
          <p:nvPr/>
        </p:nvSpPr>
        <p:spPr>
          <a:xfrm>
            <a:off x="11424312" y="3188956"/>
            <a:ext cx="425815" cy="1731288"/>
          </a:xfrm>
          <a:prstGeom prst="roundRect">
            <a:avLst>
              <a:gd name="adj" fmla="val 11207"/>
            </a:avLst>
          </a:prstGeom>
          <a:solidFill>
            <a:srgbClr val="FFFFFF"/>
          </a:solidFill>
          <a:ln w="9708" cap="flat">
            <a:solidFill>
              <a:srgbClr val="383838"/>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产品数据</a:t>
            </a:r>
            <a:endParaRPr lang="zh-CN" altLang="en-US" sz="1400" b="1">
              <a:solidFill>
                <a:srgbClr val="383838"/>
              </a:solidFill>
              <a:latin typeface="微软雅黑"/>
              <a:ea typeface="微软雅黑"/>
              <a:cs typeface="微软雅黑"/>
            </a:endParaRPr>
          </a:p>
        </p:txBody>
      </p:sp>
      <p:sp>
        <p:nvSpPr>
          <p:cNvPr id="452" name="矩形: 圆角 451"/>
          <p:cNvSpPr/>
          <p:nvPr/>
        </p:nvSpPr>
        <p:spPr>
          <a:xfrm>
            <a:off x="444783" y="5243326"/>
            <a:ext cx="825935" cy="1385289"/>
          </a:xfrm>
          <a:prstGeom prst="roundRect">
            <a:avLst>
              <a:gd name="adj" fmla="val 5778"/>
            </a:avLst>
          </a:prstGeom>
          <a:solidFill>
            <a:srgbClr val="3368FF">
              <a:alpha val="20000"/>
            </a:srgbClr>
          </a:solid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568"/>
              </a:lnSpc>
              <a:spcBef>
                <a:spcPts val="0"/>
              </a:spcBef>
              <a:spcAft>
                <a:spcPts val="0"/>
              </a:spcAft>
            </a:pPr>
            <a:r>
              <a:rPr lang="zh-CN" altLang="en-US" sz="1400" b="1">
                <a:solidFill>
                  <a:srgbClr val="0042FF"/>
                </a:solidFill>
                <a:latin typeface="微软雅黑"/>
                <a:ea typeface="微软雅黑"/>
                <a:cs typeface="微软雅黑"/>
              </a:rPr>
              <a:t>客户层</a:t>
            </a:r>
            <a:endParaRPr lang="en-US" altLang="zh-CN" sz="1400" b="1">
              <a:solidFill>
                <a:srgbClr val="0042FF"/>
              </a:solidFill>
              <a:latin typeface="微软雅黑"/>
              <a:ea typeface="微软雅黑"/>
              <a:cs typeface="微软雅黑"/>
            </a:endParaRPr>
          </a:p>
          <a:p>
            <a:pPr algn="ctr">
              <a:defRPr>
                <a:latin typeface="微软雅黑"/>
                <a:ea typeface="微软雅黑"/>
                <a:cs typeface="微软雅黑"/>
              </a:defRPr>
              <a:lnSpc>
                <a:spcPts val="1568"/>
              </a:lnSpc>
              <a:spcBef>
                <a:spcPts val="0"/>
              </a:spcBef>
              <a:spcAft>
                <a:spcPts val="0"/>
              </a:spcAft>
            </a:pPr>
            <a:r>
              <a:rPr lang="zh-CN" altLang="en-US" sz="1000" b="1">
                <a:solidFill>
                  <a:srgbClr val="0042FF"/>
                </a:solidFill>
                <a:latin typeface="微软雅黑"/>
                <a:ea typeface="微软雅黑"/>
                <a:cs typeface="微软雅黑"/>
              </a:rPr>
              <a:t>精细化运营</a:t>
            </a:r>
            <a:endParaRPr lang="zh-CN" altLang="en-US" sz="1000" b="1">
              <a:solidFill>
                <a:srgbClr val="0042FF"/>
              </a:solidFill>
              <a:latin typeface="微软雅黑"/>
              <a:ea typeface="微软雅黑"/>
              <a:cs typeface="微软雅黑"/>
            </a:endParaRPr>
          </a:p>
        </p:txBody>
      </p:sp>
      <p:sp>
        <p:nvSpPr>
          <p:cNvPr id="453" name="矩形: 圆角 452"/>
          <p:cNvSpPr/>
          <p:nvPr/>
        </p:nvSpPr>
        <p:spPr>
          <a:xfrm>
            <a:off x="1353166" y="5243326"/>
            <a:ext cx="9687364" cy="1385289"/>
          </a:xfrm>
          <a:prstGeom prst="roundRect">
            <a:avLst>
              <a:gd name="adj" fmla="val 3445"/>
            </a:avLst>
          </a:prstGeom>
          <a:solidFill>
            <a:srgbClr val="3368FF">
              <a:alpha val="10000"/>
            </a:srgbClr>
          </a:solidFill>
          <a:ln w="12700" cap="flat" cmpd="sng" algn="ctr">
            <a:solidFill>
              <a:srgbClr val="3368FF">
                <a:alpha val="5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grpSp>
        <p:nvGrpSpPr>
          <p:cNvPr id="646" name="组合 645"/>
          <p:cNvGrpSpPr/>
          <p:nvPr/>
        </p:nvGrpSpPr>
        <p:grpSpPr>
          <a:xfrm>
            <a:off x="2506662" y="5604873"/>
            <a:ext cx="7248869" cy="174785"/>
            <a:chOff x="2328974" y="5117729"/>
            <a:chExt cx="7940310" cy="191109"/>
          </a:xfrm>
          <a:noFill/>
        </p:grpSpPr>
        <p:sp>
          <p:nvSpPr>
            <p:cNvPr id="637" name="任意多边形: 形状 636"/>
            <p:cNvSpPr/>
            <p:nvPr>
              <p:custDataLst>
                <p:tags r:id="rId3"/>
              </p:custDataLst>
            </p:nvPr>
          </p:nvSpPr>
          <p:spPr>
            <a:xfrm>
              <a:off x="2328974" y="5117729"/>
              <a:ext cx="4042178" cy="191109"/>
            </a:xfrm>
            <a:custGeom>
              <a:avLst/>
              <a:gdLst>
                <a:gd name="connsiteX0" fmla="*/ 4042178 w 4042178"/>
                <a:gd name="connsiteY0" fmla="*/ 0 h 191109"/>
                <a:gd name="connsiteX1" fmla="*/ 4042178 w 4042178"/>
                <a:gd name="connsiteY1" fmla="*/ 95555 h 191109"/>
                <a:gd name="connsiteX2" fmla="*/ 0 w 4042178"/>
                <a:gd name="connsiteY2" fmla="*/ 95555 h 191109"/>
                <a:gd name="connsiteX3" fmla="*/ 0 w 4042178"/>
                <a:gd name="connsiteY3" fmla="*/ 191109 h 191109"/>
                <a:gd name="connsiteX0-1" fmla="*/ 4042178 w 4042178"/>
                <a:gd name="connsiteY0-2" fmla="*/ 0 h 191109"/>
                <a:gd name="connsiteX1-3" fmla="*/ 4042178 w 4042178"/>
                <a:gd name="connsiteY1-4" fmla="*/ 95556 h 191109"/>
                <a:gd name="connsiteX2-5" fmla="*/ 0 w 4042178"/>
                <a:gd name="connsiteY2-6" fmla="*/ 95555 h 191109"/>
                <a:gd name="connsiteX3-7" fmla="*/ 0 w 4042178"/>
                <a:gd name="connsiteY3-8" fmla="*/ 191109 h 191109"/>
                <a:gd name="connsiteX0-9" fmla="*/ 4042178 w 4042178"/>
                <a:gd name="connsiteY0-10" fmla="*/ 0 h 191109"/>
                <a:gd name="connsiteX1-11" fmla="*/ 4042178 w 4042178"/>
                <a:gd name="connsiteY1-12" fmla="*/ 95556 h 191109"/>
                <a:gd name="connsiteX2-13" fmla="*/ 0 w 4042178"/>
                <a:gd name="connsiteY2-14" fmla="*/ 95556 h 191109"/>
                <a:gd name="connsiteX3-15" fmla="*/ 0 w 4042178"/>
                <a:gd name="connsiteY3-16" fmla="*/ 191109 h 191109"/>
                <a:gd name="connsiteX0-17" fmla="*/ 4042178 w 4042178"/>
                <a:gd name="connsiteY0-18" fmla="*/ 0 h 191110"/>
                <a:gd name="connsiteX1-19" fmla="*/ 4042178 w 4042178"/>
                <a:gd name="connsiteY1-20" fmla="*/ 95556 h 191110"/>
                <a:gd name="connsiteX2-21" fmla="*/ 0 w 4042178"/>
                <a:gd name="connsiteY2-22" fmla="*/ 95556 h 191110"/>
                <a:gd name="connsiteX3-23" fmla="*/ 0 w 4042178"/>
                <a:gd name="connsiteY3-24" fmla="*/ 191110 h 191110"/>
                <a:gd name="connsiteX0-25" fmla="*/ 4042178 w 4042178"/>
                <a:gd name="connsiteY0-26" fmla="*/ 0 h 191110"/>
                <a:gd name="connsiteX1-27" fmla="*/ 4042178 w 4042178"/>
                <a:gd name="connsiteY1-28" fmla="*/ 95556 h 191110"/>
                <a:gd name="connsiteX2-29" fmla="*/ 0 w 4042178"/>
                <a:gd name="connsiteY2-30" fmla="*/ 95556 h 191110"/>
                <a:gd name="connsiteX3-31" fmla="*/ 0 w 4042178"/>
                <a:gd name="connsiteY3-32" fmla="*/ 191110 h 191110"/>
                <a:gd name="connsiteX0-33" fmla="*/ 4042178 w 4042178"/>
                <a:gd name="connsiteY0-34" fmla="*/ 0 h 191110"/>
                <a:gd name="connsiteX1-35" fmla="*/ 4042178 w 4042178"/>
                <a:gd name="connsiteY1-36" fmla="*/ 95555 h 191110"/>
                <a:gd name="connsiteX2-37" fmla="*/ 0 w 4042178"/>
                <a:gd name="connsiteY2-38" fmla="*/ 95556 h 191110"/>
                <a:gd name="connsiteX3-39" fmla="*/ 0 w 4042178"/>
                <a:gd name="connsiteY3-40" fmla="*/ 191110 h 191110"/>
                <a:gd name="connsiteX0-41" fmla="*/ 4042178 w 4042178"/>
                <a:gd name="connsiteY0-42" fmla="*/ 0 h 191110"/>
                <a:gd name="connsiteX1-43" fmla="*/ 4042178 w 4042178"/>
                <a:gd name="connsiteY1-44" fmla="*/ 95555 h 191110"/>
                <a:gd name="connsiteX2-45" fmla="*/ 0 w 4042178"/>
                <a:gd name="connsiteY2-46" fmla="*/ 95555 h 191110"/>
                <a:gd name="connsiteX3-47" fmla="*/ 0 w 4042178"/>
                <a:gd name="connsiteY3-48" fmla="*/ 191110 h 191110"/>
                <a:gd name="connsiteX0-49" fmla="*/ 4042178 w 4042178"/>
                <a:gd name="connsiteY0-50" fmla="*/ 0 h 191109"/>
                <a:gd name="connsiteX1-51" fmla="*/ 4042178 w 4042178"/>
                <a:gd name="connsiteY1-52" fmla="*/ 95555 h 191109"/>
                <a:gd name="connsiteX2-53" fmla="*/ 0 w 4042178"/>
                <a:gd name="connsiteY2-54" fmla="*/ 95555 h 191109"/>
                <a:gd name="connsiteX3-55" fmla="*/ 0 w 4042178"/>
                <a:gd name="connsiteY3-56" fmla="*/ 191109 h 191109"/>
              </a:gdLst>
              <a:ahLst/>
              <a:cxnLst>
                <a:cxn ang="0">
                  <a:pos x="connsiteX0-1" y="connsiteY0-2"/>
                </a:cxn>
                <a:cxn ang="0">
                  <a:pos x="connsiteX1-3" y="connsiteY1-4"/>
                </a:cxn>
                <a:cxn ang="0">
                  <a:pos x="connsiteX2-5" y="connsiteY2-6"/>
                </a:cxn>
                <a:cxn ang="0">
                  <a:pos x="connsiteX3-7" y="connsiteY3-8"/>
                </a:cxn>
              </a:cxnLst>
              <a:rect l="l" t="t" r="r" b="b"/>
              <a:pathLst>
                <a:path w="4042178" h="191109">
                  <a:moveTo>
                    <a:pt x="4042178" y="0"/>
                  </a:moveTo>
                  <a:lnTo>
                    <a:pt x="4042178" y="95555"/>
                  </a:lnTo>
                  <a:lnTo>
                    <a:pt x="0" y="95555"/>
                  </a:lnTo>
                  <a:lnTo>
                    <a:pt x="0" y="191109"/>
                  </a:lnTo>
                </a:path>
              </a:pathLst>
            </a:cu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638" name="任意多边形: 形状 637"/>
            <p:cNvSpPr/>
            <p:nvPr>
              <p:custDataLst>
                <p:tags r:id="rId4"/>
              </p:custDataLst>
            </p:nvPr>
          </p:nvSpPr>
          <p:spPr>
            <a:xfrm>
              <a:off x="3917038" y="5117729"/>
              <a:ext cx="2454114" cy="191109"/>
            </a:xfrm>
            <a:custGeom>
              <a:avLst/>
              <a:gdLst>
                <a:gd name="connsiteX0" fmla="*/ 2454115 w 2454115"/>
                <a:gd name="connsiteY0" fmla="*/ 0 h 191109"/>
                <a:gd name="connsiteX1" fmla="*/ 2454115 w 2454115"/>
                <a:gd name="connsiteY1" fmla="*/ 95555 h 191109"/>
                <a:gd name="connsiteX2" fmla="*/ 0 w 2454115"/>
                <a:gd name="connsiteY2" fmla="*/ 95555 h 191109"/>
                <a:gd name="connsiteX3" fmla="*/ 0 w 2454115"/>
                <a:gd name="connsiteY3" fmla="*/ 191109 h 191109"/>
                <a:gd name="connsiteX0-1" fmla="*/ 2454115 w 2454116"/>
                <a:gd name="connsiteY0-2" fmla="*/ 0 h 191109"/>
                <a:gd name="connsiteX1-3" fmla="*/ 2454116 w 2454116"/>
                <a:gd name="connsiteY1-4" fmla="*/ 95556 h 191109"/>
                <a:gd name="connsiteX2-5" fmla="*/ 0 w 2454116"/>
                <a:gd name="connsiteY2-6" fmla="*/ 95555 h 191109"/>
                <a:gd name="connsiteX3-7" fmla="*/ 0 w 2454116"/>
                <a:gd name="connsiteY3-8" fmla="*/ 191109 h 191109"/>
                <a:gd name="connsiteX0-9" fmla="*/ 2454115 w 2454116"/>
                <a:gd name="connsiteY0-10" fmla="*/ 0 h 191109"/>
                <a:gd name="connsiteX1-11" fmla="*/ 2454116 w 2454116"/>
                <a:gd name="connsiteY1-12" fmla="*/ 95556 h 191109"/>
                <a:gd name="connsiteX2-13" fmla="*/ 0 w 2454116"/>
                <a:gd name="connsiteY2-14" fmla="*/ 95556 h 191109"/>
                <a:gd name="connsiteX3-15" fmla="*/ 0 w 2454116"/>
                <a:gd name="connsiteY3-16" fmla="*/ 191109 h 191109"/>
                <a:gd name="connsiteX0-17" fmla="*/ 2454115 w 2454116"/>
                <a:gd name="connsiteY0-18" fmla="*/ 0 h 191110"/>
                <a:gd name="connsiteX1-19" fmla="*/ 2454116 w 2454116"/>
                <a:gd name="connsiteY1-20" fmla="*/ 95556 h 191110"/>
                <a:gd name="connsiteX2-21" fmla="*/ 0 w 2454116"/>
                <a:gd name="connsiteY2-22" fmla="*/ 95556 h 191110"/>
                <a:gd name="connsiteX3-23" fmla="*/ 0 w 2454116"/>
                <a:gd name="connsiteY3-24" fmla="*/ 191110 h 191110"/>
                <a:gd name="connsiteX0-25" fmla="*/ 2454115 w 2454116"/>
                <a:gd name="connsiteY0-26" fmla="*/ 0 h 191110"/>
                <a:gd name="connsiteX1-27" fmla="*/ 2454116 w 2454116"/>
                <a:gd name="connsiteY1-28" fmla="*/ 95556 h 191110"/>
                <a:gd name="connsiteX2-29" fmla="*/ 0 w 2454116"/>
                <a:gd name="connsiteY2-30" fmla="*/ 95556 h 191110"/>
                <a:gd name="connsiteX3-31" fmla="*/ 0 w 2454116"/>
                <a:gd name="connsiteY3-32" fmla="*/ 191110 h 191110"/>
                <a:gd name="connsiteX0-33" fmla="*/ 2454115 w 2454115"/>
                <a:gd name="connsiteY0-34" fmla="*/ 0 h 191110"/>
                <a:gd name="connsiteX1-35" fmla="*/ 2454115 w 2454115"/>
                <a:gd name="connsiteY1-36" fmla="*/ 95555 h 191110"/>
                <a:gd name="connsiteX2-37" fmla="*/ 0 w 2454115"/>
                <a:gd name="connsiteY2-38" fmla="*/ 95556 h 191110"/>
                <a:gd name="connsiteX3-39" fmla="*/ 0 w 2454115"/>
                <a:gd name="connsiteY3-40" fmla="*/ 191110 h 191110"/>
                <a:gd name="connsiteX0-41" fmla="*/ 2454115 w 2454115"/>
                <a:gd name="connsiteY0-42" fmla="*/ 0 h 191110"/>
                <a:gd name="connsiteX1-43" fmla="*/ 2454115 w 2454115"/>
                <a:gd name="connsiteY1-44" fmla="*/ 95555 h 191110"/>
                <a:gd name="connsiteX2-45" fmla="*/ 1 w 2454115"/>
                <a:gd name="connsiteY2-46" fmla="*/ 95555 h 191110"/>
                <a:gd name="connsiteX3-47" fmla="*/ 0 w 2454115"/>
                <a:gd name="connsiteY3-48" fmla="*/ 191110 h 191110"/>
                <a:gd name="connsiteX0-49" fmla="*/ 2454114 w 2454114"/>
                <a:gd name="connsiteY0-50" fmla="*/ 0 h 191109"/>
                <a:gd name="connsiteX1-51" fmla="*/ 2454114 w 2454114"/>
                <a:gd name="connsiteY1-52" fmla="*/ 95555 h 191109"/>
                <a:gd name="connsiteX2-53" fmla="*/ 0 w 2454114"/>
                <a:gd name="connsiteY2-54" fmla="*/ 95555 h 191109"/>
                <a:gd name="connsiteX3-55" fmla="*/ 0 w 2454114"/>
                <a:gd name="connsiteY3-56" fmla="*/ 191109 h 191109"/>
              </a:gdLst>
              <a:ahLst/>
              <a:cxnLst>
                <a:cxn ang="0">
                  <a:pos x="connsiteX0-1" y="connsiteY0-2"/>
                </a:cxn>
                <a:cxn ang="0">
                  <a:pos x="connsiteX1-3" y="connsiteY1-4"/>
                </a:cxn>
                <a:cxn ang="0">
                  <a:pos x="connsiteX2-5" y="connsiteY2-6"/>
                </a:cxn>
                <a:cxn ang="0">
                  <a:pos x="connsiteX3-7" y="connsiteY3-8"/>
                </a:cxn>
              </a:cxnLst>
              <a:rect l="l" t="t" r="r" b="b"/>
              <a:pathLst>
                <a:path w="2454114" h="191109">
                  <a:moveTo>
                    <a:pt x="2454114" y="0"/>
                  </a:moveTo>
                  <a:lnTo>
                    <a:pt x="2454114" y="95555"/>
                  </a:lnTo>
                  <a:lnTo>
                    <a:pt x="0" y="95555"/>
                  </a:lnTo>
                  <a:lnTo>
                    <a:pt x="0" y="191109"/>
                  </a:lnTo>
                </a:path>
              </a:pathLst>
            </a:cu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639" name="任意多边形: 形状 638"/>
            <p:cNvSpPr/>
            <p:nvPr>
              <p:custDataLst>
                <p:tags r:id="rId5"/>
              </p:custDataLst>
            </p:nvPr>
          </p:nvSpPr>
          <p:spPr>
            <a:xfrm>
              <a:off x="5505100" y="5117729"/>
              <a:ext cx="866052" cy="191109"/>
            </a:xfrm>
            <a:custGeom>
              <a:avLst/>
              <a:gdLst>
                <a:gd name="connsiteX0" fmla="*/ 866052 w 866052"/>
                <a:gd name="connsiteY0" fmla="*/ 0 h 191109"/>
                <a:gd name="connsiteX1" fmla="*/ 866052 w 866052"/>
                <a:gd name="connsiteY1" fmla="*/ 95555 h 191109"/>
                <a:gd name="connsiteX2" fmla="*/ 0 w 866052"/>
                <a:gd name="connsiteY2" fmla="*/ 95555 h 191109"/>
                <a:gd name="connsiteX3" fmla="*/ 0 w 866052"/>
                <a:gd name="connsiteY3" fmla="*/ 191109 h 191109"/>
                <a:gd name="connsiteX0-1" fmla="*/ 866052 w 866052"/>
                <a:gd name="connsiteY0-2" fmla="*/ 0 h 191109"/>
                <a:gd name="connsiteX1-3" fmla="*/ 866052 w 866052"/>
                <a:gd name="connsiteY1-4" fmla="*/ 95556 h 191109"/>
                <a:gd name="connsiteX2-5" fmla="*/ 0 w 866052"/>
                <a:gd name="connsiteY2-6" fmla="*/ 95555 h 191109"/>
                <a:gd name="connsiteX3-7" fmla="*/ 0 w 866052"/>
                <a:gd name="connsiteY3-8" fmla="*/ 191109 h 191109"/>
                <a:gd name="connsiteX0-9" fmla="*/ 866052 w 866052"/>
                <a:gd name="connsiteY0-10" fmla="*/ 0 h 191109"/>
                <a:gd name="connsiteX1-11" fmla="*/ 866052 w 866052"/>
                <a:gd name="connsiteY1-12" fmla="*/ 95556 h 191109"/>
                <a:gd name="connsiteX2-13" fmla="*/ 0 w 866052"/>
                <a:gd name="connsiteY2-14" fmla="*/ 95556 h 191109"/>
                <a:gd name="connsiteX3-15" fmla="*/ 0 w 866052"/>
                <a:gd name="connsiteY3-16" fmla="*/ 191109 h 191109"/>
                <a:gd name="connsiteX0-17" fmla="*/ 866052 w 866052"/>
                <a:gd name="connsiteY0-18" fmla="*/ 0 h 191110"/>
                <a:gd name="connsiteX1-19" fmla="*/ 866052 w 866052"/>
                <a:gd name="connsiteY1-20" fmla="*/ 95556 h 191110"/>
                <a:gd name="connsiteX2-21" fmla="*/ 0 w 866052"/>
                <a:gd name="connsiteY2-22" fmla="*/ 95556 h 191110"/>
                <a:gd name="connsiteX3-23" fmla="*/ 0 w 866052"/>
                <a:gd name="connsiteY3-24" fmla="*/ 191110 h 191110"/>
                <a:gd name="connsiteX0-25" fmla="*/ 866052 w 866052"/>
                <a:gd name="connsiteY0-26" fmla="*/ 0 h 191110"/>
                <a:gd name="connsiteX1-27" fmla="*/ 866052 w 866052"/>
                <a:gd name="connsiteY1-28" fmla="*/ 95556 h 191110"/>
                <a:gd name="connsiteX2-29" fmla="*/ 0 w 866052"/>
                <a:gd name="connsiteY2-30" fmla="*/ 95556 h 191110"/>
                <a:gd name="connsiteX3-31" fmla="*/ 0 w 866052"/>
                <a:gd name="connsiteY3-32" fmla="*/ 191110 h 191110"/>
                <a:gd name="connsiteX0-33" fmla="*/ 866052 w 866052"/>
                <a:gd name="connsiteY0-34" fmla="*/ 0 h 191110"/>
                <a:gd name="connsiteX1-35" fmla="*/ 866052 w 866052"/>
                <a:gd name="connsiteY1-36" fmla="*/ 95555 h 191110"/>
                <a:gd name="connsiteX2-37" fmla="*/ 0 w 866052"/>
                <a:gd name="connsiteY2-38" fmla="*/ 95556 h 191110"/>
                <a:gd name="connsiteX3-39" fmla="*/ 0 w 866052"/>
                <a:gd name="connsiteY3-40" fmla="*/ 191110 h 191110"/>
                <a:gd name="connsiteX0-41" fmla="*/ 866052 w 866052"/>
                <a:gd name="connsiteY0-42" fmla="*/ 0 h 191110"/>
                <a:gd name="connsiteX1-43" fmla="*/ 866052 w 866052"/>
                <a:gd name="connsiteY1-44" fmla="*/ 95555 h 191110"/>
                <a:gd name="connsiteX2-45" fmla="*/ 0 w 866052"/>
                <a:gd name="connsiteY2-46" fmla="*/ 95555 h 191110"/>
                <a:gd name="connsiteX3-47" fmla="*/ 0 w 866052"/>
                <a:gd name="connsiteY3-48" fmla="*/ 191110 h 191110"/>
                <a:gd name="connsiteX0-49" fmla="*/ 866052 w 866052"/>
                <a:gd name="connsiteY0-50" fmla="*/ 0 h 191109"/>
                <a:gd name="connsiteX1-51" fmla="*/ 866052 w 866052"/>
                <a:gd name="connsiteY1-52" fmla="*/ 95555 h 191109"/>
                <a:gd name="connsiteX2-53" fmla="*/ 0 w 866052"/>
                <a:gd name="connsiteY2-54" fmla="*/ 95555 h 191109"/>
                <a:gd name="connsiteX3-55" fmla="*/ 0 w 866052"/>
                <a:gd name="connsiteY3-56" fmla="*/ 191109 h 191109"/>
              </a:gdLst>
              <a:ahLst/>
              <a:cxnLst>
                <a:cxn ang="0">
                  <a:pos x="connsiteX0-1" y="connsiteY0-2"/>
                </a:cxn>
                <a:cxn ang="0">
                  <a:pos x="connsiteX1-3" y="connsiteY1-4"/>
                </a:cxn>
                <a:cxn ang="0">
                  <a:pos x="connsiteX2-5" y="connsiteY2-6"/>
                </a:cxn>
                <a:cxn ang="0">
                  <a:pos x="connsiteX3-7" y="connsiteY3-8"/>
                </a:cxn>
              </a:cxnLst>
              <a:rect l="l" t="t" r="r" b="b"/>
              <a:pathLst>
                <a:path w="866052" h="191109">
                  <a:moveTo>
                    <a:pt x="866052" y="0"/>
                  </a:moveTo>
                  <a:lnTo>
                    <a:pt x="866052" y="95555"/>
                  </a:lnTo>
                  <a:lnTo>
                    <a:pt x="0" y="95555"/>
                  </a:lnTo>
                  <a:lnTo>
                    <a:pt x="0" y="191109"/>
                  </a:lnTo>
                </a:path>
              </a:pathLst>
            </a:cu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640" name="任意多边形: 形状 639"/>
            <p:cNvSpPr/>
            <p:nvPr>
              <p:custDataLst>
                <p:tags r:id="rId6"/>
              </p:custDataLst>
            </p:nvPr>
          </p:nvSpPr>
          <p:spPr>
            <a:xfrm>
              <a:off x="6371152" y="5117729"/>
              <a:ext cx="722014" cy="191109"/>
            </a:xfrm>
            <a:custGeom>
              <a:avLst/>
              <a:gdLst>
                <a:gd name="connsiteX0" fmla="*/ 0 w 722013"/>
                <a:gd name="connsiteY0" fmla="*/ 0 h 191109"/>
                <a:gd name="connsiteX1" fmla="*/ 0 w 722013"/>
                <a:gd name="connsiteY1" fmla="*/ 95555 h 191109"/>
                <a:gd name="connsiteX2" fmla="*/ 722013 w 722013"/>
                <a:gd name="connsiteY2" fmla="*/ 95555 h 191109"/>
                <a:gd name="connsiteX3" fmla="*/ 722013 w 722013"/>
                <a:gd name="connsiteY3" fmla="*/ 191109 h 191109"/>
                <a:gd name="connsiteX0-1" fmla="*/ 0 w 722013"/>
                <a:gd name="connsiteY0-2" fmla="*/ 0 h 191109"/>
                <a:gd name="connsiteX1-3" fmla="*/ 1 w 722013"/>
                <a:gd name="connsiteY1-4" fmla="*/ 95556 h 191109"/>
                <a:gd name="connsiteX2-5" fmla="*/ 722013 w 722013"/>
                <a:gd name="connsiteY2-6" fmla="*/ 95555 h 191109"/>
                <a:gd name="connsiteX3-7" fmla="*/ 722013 w 722013"/>
                <a:gd name="connsiteY3-8" fmla="*/ 191109 h 191109"/>
                <a:gd name="connsiteX0-9" fmla="*/ 0 w 722014"/>
                <a:gd name="connsiteY0-10" fmla="*/ 0 h 191109"/>
                <a:gd name="connsiteX1-11" fmla="*/ 1 w 722014"/>
                <a:gd name="connsiteY1-12" fmla="*/ 95556 h 191109"/>
                <a:gd name="connsiteX2-13" fmla="*/ 722014 w 722014"/>
                <a:gd name="connsiteY2-14" fmla="*/ 95556 h 191109"/>
                <a:gd name="connsiteX3-15" fmla="*/ 722013 w 722014"/>
                <a:gd name="connsiteY3-16" fmla="*/ 191109 h 191109"/>
                <a:gd name="connsiteX0-17" fmla="*/ 0 w 722014"/>
                <a:gd name="connsiteY0-18" fmla="*/ 0 h 191110"/>
                <a:gd name="connsiteX1-19" fmla="*/ 1 w 722014"/>
                <a:gd name="connsiteY1-20" fmla="*/ 95556 h 191110"/>
                <a:gd name="connsiteX2-21" fmla="*/ 722014 w 722014"/>
                <a:gd name="connsiteY2-22" fmla="*/ 95556 h 191110"/>
                <a:gd name="connsiteX3-23" fmla="*/ 722013 w 722014"/>
                <a:gd name="connsiteY3-24" fmla="*/ 191110 h 191110"/>
                <a:gd name="connsiteX0-25" fmla="*/ 0 w 722014"/>
                <a:gd name="connsiteY0-26" fmla="*/ 0 h 191110"/>
                <a:gd name="connsiteX1-27" fmla="*/ 1 w 722014"/>
                <a:gd name="connsiteY1-28" fmla="*/ 95556 h 191110"/>
                <a:gd name="connsiteX2-29" fmla="*/ 722014 w 722014"/>
                <a:gd name="connsiteY2-30" fmla="*/ 95556 h 191110"/>
                <a:gd name="connsiteX3-31" fmla="*/ 722013 w 722014"/>
                <a:gd name="connsiteY3-32" fmla="*/ 191110 h 191110"/>
                <a:gd name="connsiteX0-33" fmla="*/ 0 w 722014"/>
                <a:gd name="connsiteY0-34" fmla="*/ 0 h 191110"/>
                <a:gd name="connsiteX1-35" fmla="*/ 0 w 722014"/>
                <a:gd name="connsiteY1-36" fmla="*/ 95555 h 191110"/>
                <a:gd name="connsiteX2-37" fmla="*/ 722014 w 722014"/>
                <a:gd name="connsiteY2-38" fmla="*/ 95556 h 191110"/>
                <a:gd name="connsiteX3-39" fmla="*/ 722013 w 722014"/>
                <a:gd name="connsiteY3-40" fmla="*/ 191110 h 191110"/>
                <a:gd name="connsiteX0-41" fmla="*/ 0 w 722013"/>
                <a:gd name="connsiteY0-42" fmla="*/ 0 h 191110"/>
                <a:gd name="connsiteX1-43" fmla="*/ 0 w 722013"/>
                <a:gd name="connsiteY1-44" fmla="*/ 95555 h 191110"/>
                <a:gd name="connsiteX2-45" fmla="*/ 722013 w 722013"/>
                <a:gd name="connsiteY2-46" fmla="*/ 95555 h 191110"/>
                <a:gd name="connsiteX3-47" fmla="*/ 722013 w 722013"/>
                <a:gd name="connsiteY3-48" fmla="*/ 191110 h 191110"/>
                <a:gd name="connsiteX0-49" fmla="*/ 0 w 722014"/>
                <a:gd name="connsiteY0-50" fmla="*/ 0 h 191109"/>
                <a:gd name="connsiteX1-51" fmla="*/ 0 w 722014"/>
                <a:gd name="connsiteY1-52" fmla="*/ 95555 h 191109"/>
                <a:gd name="connsiteX2-53" fmla="*/ 722013 w 722014"/>
                <a:gd name="connsiteY2-54" fmla="*/ 95555 h 191109"/>
                <a:gd name="connsiteX3-55" fmla="*/ 722014 w 722014"/>
                <a:gd name="connsiteY3-56" fmla="*/ 191109 h 191109"/>
              </a:gdLst>
              <a:ahLst/>
              <a:cxnLst>
                <a:cxn ang="0">
                  <a:pos x="connsiteX0-1" y="connsiteY0-2"/>
                </a:cxn>
                <a:cxn ang="0">
                  <a:pos x="connsiteX1-3" y="connsiteY1-4"/>
                </a:cxn>
                <a:cxn ang="0">
                  <a:pos x="connsiteX2-5" y="connsiteY2-6"/>
                </a:cxn>
                <a:cxn ang="0">
                  <a:pos x="connsiteX3-7" y="connsiteY3-8"/>
                </a:cxn>
              </a:cxnLst>
              <a:rect l="l" t="t" r="r" b="b"/>
              <a:pathLst>
                <a:path w="722014" h="191109">
                  <a:moveTo>
                    <a:pt x="0" y="0"/>
                  </a:moveTo>
                  <a:lnTo>
                    <a:pt x="0" y="95555"/>
                  </a:lnTo>
                  <a:lnTo>
                    <a:pt x="722013" y="95555"/>
                  </a:lnTo>
                  <a:lnTo>
                    <a:pt x="722014" y="191109"/>
                  </a:lnTo>
                </a:path>
              </a:pathLst>
            </a:cu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642" name="任意多边形: 形状 641"/>
            <p:cNvSpPr/>
            <p:nvPr>
              <p:custDataLst>
                <p:tags r:id="rId7"/>
              </p:custDataLst>
            </p:nvPr>
          </p:nvSpPr>
          <p:spPr>
            <a:xfrm>
              <a:off x="6371152" y="5117729"/>
              <a:ext cx="2310076" cy="191109"/>
            </a:xfrm>
            <a:custGeom>
              <a:avLst/>
              <a:gdLst>
                <a:gd name="connsiteX0" fmla="*/ 0 w 2310075"/>
                <a:gd name="connsiteY0" fmla="*/ 0 h 191109"/>
                <a:gd name="connsiteX1" fmla="*/ 0 w 2310075"/>
                <a:gd name="connsiteY1" fmla="*/ 95555 h 191109"/>
                <a:gd name="connsiteX2" fmla="*/ 2310075 w 2310075"/>
                <a:gd name="connsiteY2" fmla="*/ 95555 h 191109"/>
                <a:gd name="connsiteX3" fmla="*/ 2310075 w 2310075"/>
                <a:gd name="connsiteY3" fmla="*/ 191109 h 191109"/>
                <a:gd name="connsiteX0-1" fmla="*/ 0 w 2310075"/>
                <a:gd name="connsiteY0-2" fmla="*/ 0 h 191109"/>
                <a:gd name="connsiteX1-3" fmla="*/ 1 w 2310075"/>
                <a:gd name="connsiteY1-4" fmla="*/ 95556 h 191109"/>
                <a:gd name="connsiteX2-5" fmla="*/ 2310075 w 2310075"/>
                <a:gd name="connsiteY2-6" fmla="*/ 95555 h 191109"/>
                <a:gd name="connsiteX3-7" fmla="*/ 2310075 w 2310075"/>
                <a:gd name="connsiteY3-8" fmla="*/ 191109 h 191109"/>
                <a:gd name="connsiteX0-9" fmla="*/ 0 w 2310076"/>
                <a:gd name="connsiteY0-10" fmla="*/ 0 h 191109"/>
                <a:gd name="connsiteX1-11" fmla="*/ 1 w 2310076"/>
                <a:gd name="connsiteY1-12" fmla="*/ 95556 h 191109"/>
                <a:gd name="connsiteX2-13" fmla="*/ 2310076 w 2310076"/>
                <a:gd name="connsiteY2-14" fmla="*/ 95556 h 191109"/>
                <a:gd name="connsiteX3-15" fmla="*/ 2310075 w 2310076"/>
                <a:gd name="connsiteY3-16" fmla="*/ 191109 h 191109"/>
                <a:gd name="connsiteX0-17" fmla="*/ 0 w 2310076"/>
                <a:gd name="connsiteY0-18" fmla="*/ 0 h 191110"/>
                <a:gd name="connsiteX1-19" fmla="*/ 1 w 2310076"/>
                <a:gd name="connsiteY1-20" fmla="*/ 95556 h 191110"/>
                <a:gd name="connsiteX2-21" fmla="*/ 2310076 w 2310076"/>
                <a:gd name="connsiteY2-22" fmla="*/ 95556 h 191110"/>
                <a:gd name="connsiteX3-23" fmla="*/ 2310075 w 2310076"/>
                <a:gd name="connsiteY3-24" fmla="*/ 191110 h 191110"/>
                <a:gd name="connsiteX0-25" fmla="*/ 0 w 2310076"/>
                <a:gd name="connsiteY0-26" fmla="*/ 0 h 191110"/>
                <a:gd name="connsiteX1-27" fmla="*/ 1 w 2310076"/>
                <a:gd name="connsiteY1-28" fmla="*/ 95556 h 191110"/>
                <a:gd name="connsiteX2-29" fmla="*/ 2310076 w 2310076"/>
                <a:gd name="connsiteY2-30" fmla="*/ 95556 h 191110"/>
                <a:gd name="connsiteX3-31" fmla="*/ 2310075 w 2310076"/>
                <a:gd name="connsiteY3-32" fmla="*/ 191110 h 191110"/>
                <a:gd name="connsiteX0-33" fmla="*/ 0 w 2310076"/>
                <a:gd name="connsiteY0-34" fmla="*/ 0 h 191110"/>
                <a:gd name="connsiteX1-35" fmla="*/ 0 w 2310076"/>
                <a:gd name="connsiteY1-36" fmla="*/ 95555 h 191110"/>
                <a:gd name="connsiteX2-37" fmla="*/ 2310076 w 2310076"/>
                <a:gd name="connsiteY2-38" fmla="*/ 95556 h 191110"/>
                <a:gd name="connsiteX3-39" fmla="*/ 2310075 w 2310076"/>
                <a:gd name="connsiteY3-40" fmla="*/ 191110 h 191110"/>
                <a:gd name="connsiteX0-41" fmla="*/ 0 w 2310075"/>
                <a:gd name="connsiteY0-42" fmla="*/ 0 h 191110"/>
                <a:gd name="connsiteX1-43" fmla="*/ 0 w 2310075"/>
                <a:gd name="connsiteY1-44" fmla="*/ 95555 h 191110"/>
                <a:gd name="connsiteX2-45" fmla="*/ 2310075 w 2310075"/>
                <a:gd name="connsiteY2-46" fmla="*/ 95555 h 191110"/>
                <a:gd name="connsiteX3-47" fmla="*/ 2310075 w 2310075"/>
                <a:gd name="connsiteY3-48" fmla="*/ 191110 h 191110"/>
                <a:gd name="connsiteX0-49" fmla="*/ 0 w 2310076"/>
                <a:gd name="connsiteY0-50" fmla="*/ 0 h 191109"/>
                <a:gd name="connsiteX1-51" fmla="*/ 0 w 2310076"/>
                <a:gd name="connsiteY1-52" fmla="*/ 95555 h 191109"/>
                <a:gd name="connsiteX2-53" fmla="*/ 2310075 w 2310076"/>
                <a:gd name="connsiteY2-54" fmla="*/ 95555 h 191109"/>
                <a:gd name="connsiteX3-55" fmla="*/ 2310076 w 2310076"/>
                <a:gd name="connsiteY3-56" fmla="*/ 191109 h 191109"/>
              </a:gdLst>
              <a:ahLst/>
              <a:cxnLst>
                <a:cxn ang="0">
                  <a:pos x="connsiteX0-1" y="connsiteY0-2"/>
                </a:cxn>
                <a:cxn ang="0">
                  <a:pos x="connsiteX1-3" y="connsiteY1-4"/>
                </a:cxn>
                <a:cxn ang="0">
                  <a:pos x="connsiteX2-5" y="connsiteY2-6"/>
                </a:cxn>
                <a:cxn ang="0">
                  <a:pos x="connsiteX3-7" y="connsiteY3-8"/>
                </a:cxn>
              </a:cxnLst>
              <a:rect l="l" t="t" r="r" b="b"/>
              <a:pathLst>
                <a:path w="2310076" h="191109">
                  <a:moveTo>
                    <a:pt x="0" y="0"/>
                  </a:moveTo>
                  <a:lnTo>
                    <a:pt x="0" y="95555"/>
                  </a:lnTo>
                  <a:lnTo>
                    <a:pt x="2310075" y="95555"/>
                  </a:lnTo>
                  <a:lnTo>
                    <a:pt x="2310076" y="191109"/>
                  </a:lnTo>
                </a:path>
              </a:pathLst>
            </a:cu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643" name="任意多边形: 形状 642"/>
            <p:cNvSpPr/>
            <p:nvPr>
              <p:custDataLst>
                <p:tags r:id="rId8"/>
              </p:custDataLst>
            </p:nvPr>
          </p:nvSpPr>
          <p:spPr>
            <a:xfrm>
              <a:off x="6371152" y="5117729"/>
              <a:ext cx="3898132" cy="191109"/>
            </a:xfrm>
            <a:custGeom>
              <a:avLst/>
              <a:gdLst>
                <a:gd name="connsiteX0" fmla="*/ 0 w 3898132"/>
                <a:gd name="connsiteY0" fmla="*/ 0 h 191109"/>
                <a:gd name="connsiteX1" fmla="*/ 0 w 3898132"/>
                <a:gd name="connsiteY1" fmla="*/ 95555 h 191109"/>
                <a:gd name="connsiteX2" fmla="*/ 3898132 w 3898132"/>
                <a:gd name="connsiteY2" fmla="*/ 95555 h 191109"/>
                <a:gd name="connsiteX3" fmla="*/ 3898132 w 3898132"/>
                <a:gd name="connsiteY3" fmla="*/ 191109 h 191109"/>
                <a:gd name="connsiteX0-1" fmla="*/ 0 w 3898132"/>
                <a:gd name="connsiteY0-2" fmla="*/ 0 h 191109"/>
                <a:gd name="connsiteX1-3" fmla="*/ 0 w 3898132"/>
                <a:gd name="connsiteY1-4" fmla="*/ 95556 h 191109"/>
                <a:gd name="connsiteX2-5" fmla="*/ 3898132 w 3898132"/>
                <a:gd name="connsiteY2-6" fmla="*/ 95555 h 191109"/>
                <a:gd name="connsiteX3-7" fmla="*/ 3898132 w 3898132"/>
                <a:gd name="connsiteY3-8" fmla="*/ 191109 h 191109"/>
                <a:gd name="connsiteX0-9" fmla="*/ 0 w 3898132"/>
                <a:gd name="connsiteY0-10" fmla="*/ 0 h 191109"/>
                <a:gd name="connsiteX1-11" fmla="*/ 0 w 3898132"/>
                <a:gd name="connsiteY1-12" fmla="*/ 95556 h 191109"/>
                <a:gd name="connsiteX2-13" fmla="*/ 3898132 w 3898132"/>
                <a:gd name="connsiteY2-14" fmla="*/ 95556 h 191109"/>
                <a:gd name="connsiteX3-15" fmla="*/ 3898132 w 3898132"/>
                <a:gd name="connsiteY3-16" fmla="*/ 191109 h 191109"/>
                <a:gd name="connsiteX0-17" fmla="*/ 0 w 3898132"/>
                <a:gd name="connsiteY0-18" fmla="*/ 0 h 191110"/>
                <a:gd name="connsiteX1-19" fmla="*/ 0 w 3898132"/>
                <a:gd name="connsiteY1-20" fmla="*/ 95556 h 191110"/>
                <a:gd name="connsiteX2-21" fmla="*/ 3898132 w 3898132"/>
                <a:gd name="connsiteY2-22" fmla="*/ 95556 h 191110"/>
                <a:gd name="connsiteX3-23" fmla="*/ 3898132 w 3898132"/>
                <a:gd name="connsiteY3-24" fmla="*/ 191110 h 191110"/>
                <a:gd name="connsiteX0-25" fmla="*/ 0 w 3898132"/>
                <a:gd name="connsiteY0-26" fmla="*/ 0 h 191110"/>
                <a:gd name="connsiteX1-27" fmla="*/ 0 w 3898132"/>
                <a:gd name="connsiteY1-28" fmla="*/ 95556 h 191110"/>
                <a:gd name="connsiteX2-29" fmla="*/ 3898132 w 3898132"/>
                <a:gd name="connsiteY2-30" fmla="*/ 95556 h 191110"/>
                <a:gd name="connsiteX3-31" fmla="*/ 3898132 w 3898132"/>
                <a:gd name="connsiteY3-32" fmla="*/ 191110 h 191110"/>
                <a:gd name="connsiteX0-33" fmla="*/ 0 w 3898132"/>
                <a:gd name="connsiteY0-34" fmla="*/ 0 h 191110"/>
                <a:gd name="connsiteX1-35" fmla="*/ 0 w 3898132"/>
                <a:gd name="connsiteY1-36" fmla="*/ 95555 h 191110"/>
                <a:gd name="connsiteX2-37" fmla="*/ 3898132 w 3898132"/>
                <a:gd name="connsiteY2-38" fmla="*/ 95556 h 191110"/>
                <a:gd name="connsiteX3-39" fmla="*/ 3898132 w 3898132"/>
                <a:gd name="connsiteY3-40" fmla="*/ 191110 h 191110"/>
                <a:gd name="connsiteX0-41" fmla="*/ 0 w 3898132"/>
                <a:gd name="connsiteY0-42" fmla="*/ 0 h 191110"/>
                <a:gd name="connsiteX1-43" fmla="*/ 0 w 3898132"/>
                <a:gd name="connsiteY1-44" fmla="*/ 95555 h 191110"/>
                <a:gd name="connsiteX2-45" fmla="*/ 3898132 w 3898132"/>
                <a:gd name="connsiteY2-46" fmla="*/ 95555 h 191110"/>
                <a:gd name="connsiteX3-47" fmla="*/ 3898132 w 3898132"/>
                <a:gd name="connsiteY3-48" fmla="*/ 191110 h 191110"/>
                <a:gd name="connsiteX0-49" fmla="*/ 0 w 3898132"/>
                <a:gd name="connsiteY0-50" fmla="*/ 0 h 191109"/>
                <a:gd name="connsiteX1-51" fmla="*/ 0 w 3898132"/>
                <a:gd name="connsiteY1-52" fmla="*/ 95555 h 191109"/>
                <a:gd name="connsiteX2-53" fmla="*/ 3898132 w 3898132"/>
                <a:gd name="connsiteY2-54" fmla="*/ 95555 h 191109"/>
                <a:gd name="connsiteX3-55" fmla="*/ 3898132 w 3898132"/>
                <a:gd name="connsiteY3-56" fmla="*/ 191109 h 191109"/>
              </a:gdLst>
              <a:ahLst/>
              <a:cxnLst>
                <a:cxn ang="0">
                  <a:pos x="connsiteX0-1" y="connsiteY0-2"/>
                </a:cxn>
                <a:cxn ang="0">
                  <a:pos x="connsiteX1-3" y="connsiteY1-4"/>
                </a:cxn>
                <a:cxn ang="0">
                  <a:pos x="connsiteX2-5" y="connsiteY2-6"/>
                </a:cxn>
                <a:cxn ang="0">
                  <a:pos x="connsiteX3-7" y="connsiteY3-8"/>
                </a:cxn>
              </a:cxnLst>
              <a:rect l="l" t="t" r="r" b="b"/>
              <a:pathLst>
                <a:path w="3898132" h="191109">
                  <a:moveTo>
                    <a:pt x="0" y="0"/>
                  </a:moveTo>
                  <a:lnTo>
                    <a:pt x="0" y="95555"/>
                  </a:lnTo>
                  <a:lnTo>
                    <a:pt x="3898132" y="95555"/>
                  </a:lnTo>
                  <a:lnTo>
                    <a:pt x="3898132" y="191109"/>
                  </a:lnTo>
                </a:path>
              </a:pathLst>
            </a:cu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grpSp>
      <p:sp>
        <p:nvSpPr>
          <p:cNvPr id="652" name="矩形: 圆角 651"/>
          <p:cNvSpPr/>
          <p:nvPr>
            <p:custDataLst>
              <p:tags r:id="rId9"/>
            </p:custDataLst>
          </p:nvPr>
        </p:nvSpPr>
        <p:spPr>
          <a:xfrm>
            <a:off x="5697714" y="5367769"/>
            <a:ext cx="1140908" cy="237105"/>
          </a:xfrm>
          <a:prstGeom prst="roundRect">
            <a:avLst>
              <a:gd name="adj" fmla="val 20126"/>
            </a:avLst>
          </a:prstGeom>
          <a:gradFill>
            <a:gsLst>
              <a:gs pos="0">
                <a:srgbClr val="3368FF"/>
              </a:gs>
              <a:gs pos="87000">
                <a:srgbClr val="668E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成功客户体验</a:t>
            </a:r>
            <a:endParaRPr lang="zh-CN" altLang="en-US" sz="1000" b="1" dirty="0">
              <a:solidFill>
                <a:srgbClr val="FFFFFF"/>
              </a:solidFill>
              <a:latin typeface="微软雅黑"/>
              <a:ea typeface="微软雅黑"/>
              <a:cs typeface="微软雅黑"/>
            </a:endParaRPr>
          </a:p>
        </p:txBody>
      </p:sp>
      <p:sp>
        <p:nvSpPr>
          <p:cNvPr id="653" name="矩形: 圆角 652"/>
          <p:cNvSpPr/>
          <p:nvPr>
            <p:custDataLst>
              <p:tags r:id="rId10"/>
            </p:custDataLst>
          </p:nvPr>
        </p:nvSpPr>
        <p:spPr>
          <a:xfrm>
            <a:off x="1540373" y="5779660"/>
            <a:ext cx="1450125" cy="237105"/>
          </a:xfrm>
          <a:prstGeom prst="roundRect">
            <a:avLst>
              <a:gd name="adj" fmla="val 20126"/>
            </a:avLst>
          </a:prstGeom>
          <a:gradFill>
            <a:gsLst>
              <a:gs pos="0">
                <a:srgbClr val="3368FF"/>
              </a:gs>
              <a:gs pos="87000">
                <a:srgbClr val="668E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数字洞见管理</a:t>
            </a:r>
            <a:endParaRPr lang="zh-CN" altLang="en-US" sz="1000" b="1" dirty="0">
              <a:solidFill>
                <a:srgbClr val="FFFFFF"/>
              </a:solidFill>
              <a:latin typeface="微软雅黑"/>
              <a:ea typeface="微软雅黑"/>
              <a:cs typeface="微软雅黑"/>
              <a:sym typeface="微软雅黑"/>
            </a:endParaRPr>
          </a:p>
        </p:txBody>
      </p:sp>
      <p:sp>
        <p:nvSpPr>
          <p:cNvPr id="654" name="矩形: 圆角 653"/>
          <p:cNvSpPr/>
          <p:nvPr>
            <p:custDataLst>
              <p:tags r:id="rId11"/>
            </p:custDataLst>
          </p:nvPr>
        </p:nvSpPr>
        <p:spPr>
          <a:xfrm>
            <a:off x="3112939" y="5779660"/>
            <a:ext cx="1450125" cy="237105"/>
          </a:xfrm>
          <a:prstGeom prst="roundRect">
            <a:avLst>
              <a:gd name="adj" fmla="val 20126"/>
            </a:avLst>
          </a:prstGeom>
          <a:gradFill>
            <a:gsLst>
              <a:gs pos="0">
                <a:srgbClr val="3368FF"/>
              </a:gs>
              <a:gs pos="87000">
                <a:srgbClr val="668E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柔性定制管理</a:t>
            </a:r>
            <a:endParaRPr lang="zh-CN" altLang="en-US" sz="1000" b="1" dirty="0">
              <a:solidFill>
                <a:srgbClr val="FFFFFF"/>
              </a:solidFill>
              <a:latin typeface="微软雅黑"/>
              <a:ea typeface="微软雅黑"/>
              <a:cs typeface="微软雅黑"/>
              <a:sym typeface="微软雅黑"/>
            </a:endParaRPr>
          </a:p>
        </p:txBody>
      </p:sp>
      <p:sp>
        <p:nvSpPr>
          <p:cNvPr id="655" name="矩形: 圆角 654"/>
          <p:cNvSpPr/>
          <p:nvPr>
            <p:custDataLst>
              <p:tags r:id="rId12"/>
            </p:custDataLst>
          </p:nvPr>
        </p:nvSpPr>
        <p:spPr>
          <a:xfrm>
            <a:off x="4685505" y="5779660"/>
            <a:ext cx="1450125" cy="237105"/>
          </a:xfrm>
          <a:prstGeom prst="roundRect">
            <a:avLst>
              <a:gd name="adj" fmla="val 20126"/>
            </a:avLst>
          </a:prstGeom>
          <a:gradFill>
            <a:gsLst>
              <a:gs pos="0">
                <a:srgbClr val="3368FF"/>
              </a:gs>
              <a:gs pos="87000">
                <a:srgbClr val="668E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透明建造管理</a:t>
            </a:r>
            <a:endParaRPr lang="zh-CN" altLang="en-US" sz="1000" b="1" dirty="0">
              <a:solidFill>
                <a:srgbClr val="FFFFFF"/>
              </a:solidFill>
              <a:latin typeface="微软雅黑"/>
              <a:ea typeface="微软雅黑"/>
              <a:cs typeface="微软雅黑"/>
              <a:sym typeface="微软雅黑"/>
            </a:endParaRPr>
          </a:p>
        </p:txBody>
      </p:sp>
      <p:sp>
        <p:nvSpPr>
          <p:cNvPr id="656" name="矩形: 圆角 655"/>
          <p:cNvSpPr/>
          <p:nvPr>
            <p:custDataLst>
              <p:tags r:id="rId13"/>
            </p:custDataLst>
          </p:nvPr>
        </p:nvSpPr>
        <p:spPr>
          <a:xfrm>
            <a:off x="6258073" y="5779660"/>
            <a:ext cx="1450125" cy="237105"/>
          </a:xfrm>
          <a:prstGeom prst="roundRect">
            <a:avLst>
              <a:gd name="adj" fmla="val 20126"/>
            </a:avLst>
          </a:prstGeom>
          <a:gradFill>
            <a:gsLst>
              <a:gs pos="0">
                <a:srgbClr val="3368FF"/>
              </a:gs>
              <a:gs pos="87000">
                <a:srgbClr val="668E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个性营销管理</a:t>
            </a:r>
            <a:endParaRPr lang="zh-CN" altLang="en-US" sz="1000" b="1" dirty="0">
              <a:solidFill>
                <a:srgbClr val="FFFFFF"/>
              </a:solidFill>
              <a:latin typeface="微软雅黑"/>
              <a:ea typeface="微软雅黑"/>
              <a:cs typeface="微软雅黑"/>
              <a:sym typeface="微软雅黑"/>
            </a:endParaRPr>
          </a:p>
        </p:txBody>
      </p:sp>
      <p:sp>
        <p:nvSpPr>
          <p:cNvPr id="657" name="矩形: 圆角 656"/>
          <p:cNvSpPr/>
          <p:nvPr>
            <p:custDataLst>
              <p:tags r:id="rId14"/>
            </p:custDataLst>
          </p:nvPr>
        </p:nvSpPr>
        <p:spPr>
          <a:xfrm>
            <a:off x="7830638" y="5779660"/>
            <a:ext cx="1450125" cy="237105"/>
          </a:xfrm>
          <a:prstGeom prst="roundRect">
            <a:avLst>
              <a:gd name="adj" fmla="val 20126"/>
            </a:avLst>
          </a:prstGeom>
          <a:gradFill>
            <a:gsLst>
              <a:gs pos="0">
                <a:srgbClr val="3368FF"/>
              </a:gs>
              <a:gs pos="87000">
                <a:srgbClr val="668E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智能营运管理</a:t>
            </a:r>
            <a:endParaRPr lang="zh-CN" altLang="en-US" sz="1000" b="1" dirty="0">
              <a:solidFill>
                <a:srgbClr val="FFFFFF"/>
              </a:solidFill>
              <a:latin typeface="微软雅黑"/>
              <a:ea typeface="微软雅黑"/>
              <a:cs typeface="微软雅黑"/>
              <a:sym typeface="微软雅黑"/>
            </a:endParaRPr>
          </a:p>
        </p:txBody>
      </p:sp>
      <p:sp>
        <p:nvSpPr>
          <p:cNvPr id="658" name="矩形: 圆角 657"/>
          <p:cNvSpPr/>
          <p:nvPr>
            <p:custDataLst>
              <p:tags r:id="rId15"/>
            </p:custDataLst>
          </p:nvPr>
        </p:nvSpPr>
        <p:spPr>
          <a:xfrm>
            <a:off x="9403198" y="5779660"/>
            <a:ext cx="1450125" cy="237105"/>
          </a:xfrm>
          <a:prstGeom prst="roundRect">
            <a:avLst>
              <a:gd name="adj" fmla="val 20126"/>
            </a:avLst>
          </a:prstGeom>
          <a:gradFill>
            <a:gsLst>
              <a:gs pos="0">
                <a:srgbClr val="3368FF"/>
              </a:gs>
              <a:gs pos="87000">
                <a:srgbClr val="668E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智慧人居管理</a:t>
            </a:r>
            <a:endParaRPr lang="zh-CN" altLang="en-US" sz="1000" b="1" dirty="0">
              <a:solidFill>
                <a:srgbClr val="FFFFFF"/>
              </a:solidFill>
              <a:latin typeface="微软雅黑"/>
              <a:ea typeface="微软雅黑"/>
              <a:cs typeface="微软雅黑"/>
              <a:sym typeface="微软雅黑"/>
            </a:endParaRPr>
          </a:p>
        </p:txBody>
      </p:sp>
      <p:sp>
        <p:nvSpPr>
          <p:cNvPr id="659" name="矩形: 圆角 658"/>
          <p:cNvSpPr/>
          <p:nvPr/>
        </p:nvSpPr>
        <p:spPr>
          <a:xfrm>
            <a:off x="1540373" y="6105528"/>
            <a:ext cx="9312950" cy="398644"/>
          </a:xfrm>
          <a:prstGeom prst="roundRect">
            <a:avLst>
              <a:gd name="adj" fmla="val 11971"/>
            </a:avLst>
          </a:prstGeom>
          <a:noFill/>
          <a:ln w="12700" cap="flat" cmpd="sng" algn="ctr">
            <a:solidFill>
              <a:srgbClr val="3368FF"/>
            </a:solidFill>
            <a:prstDash val="solid"/>
            <a:miter lim="800000"/>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algn="ctr">
              <a:defRPr>
                <a:latin typeface="微软雅黑"/>
                <a:ea typeface="微软雅黑"/>
                <a:cs typeface="微软雅黑"/>
              </a:defRPr>
            </a:pPr>
            <a:endParaRPr lang="zh-CN" altLang="en-US" sz="1400" b="1">
              <a:gradFill>
                <a:gsLst>
                  <a:gs pos="0">
                    <a:srgbClr val="0042FF"/>
                  </a:gs>
                  <a:gs pos="100000">
                    <a:srgbClr val="0042FF"/>
                  </a:gs>
                </a:gsLst>
                <a:lin ang="2700000" scaled="0"/>
              </a:gradFill>
              <a:latin typeface="微软雅黑"/>
              <a:ea typeface="微软雅黑"/>
              <a:cs typeface="微软雅黑"/>
            </a:endParaRPr>
          </a:p>
        </p:txBody>
      </p:sp>
      <p:grpSp>
        <p:nvGrpSpPr>
          <p:cNvPr id="202" name="组合 201"/>
          <p:cNvGrpSpPr/>
          <p:nvPr/>
        </p:nvGrpSpPr>
        <p:grpSpPr>
          <a:xfrm>
            <a:off x="2467732" y="6175226"/>
            <a:ext cx="8241142" cy="259249"/>
            <a:chOff x="2467732" y="6007586"/>
            <a:chExt cx="7437235" cy="259249"/>
          </a:xfrm>
          <a:solidFill>
            <a:srgbClr val="FFFFFF">
              <a:alpha val="40000"/>
            </a:srgbClr>
          </a:solidFill>
        </p:grpSpPr>
        <p:sp>
          <p:nvSpPr>
            <p:cNvPr id="628" name="箭头: 五边形 627"/>
            <p:cNvSpPr/>
            <p:nvPr/>
          </p:nvSpPr>
          <p:spPr>
            <a:xfrm>
              <a:off x="2467732" y="6007586"/>
              <a:ext cx="1283234" cy="259249"/>
            </a:xfrm>
            <a:prstGeom prst="homePlate">
              <a:avLst/>
            </a:pr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b="1" kern="0">
                  <a:solidFill>
                    <a:srgbClr val="0042FF"/>
                  </a:solidFill>
                  <a:latin typeface="微软雅黑"/>
                  <a:ea typeface="微软雅黑"/>
                  <a:cs typeface="微软雅黑"/>
                </a:rPr>
                <a:t>需求</a:t>
              </a:r>
              <a:endParaRPr lang="zh-CN" altLang="en-US" sz="1000" b="1" kern="0">
                <a:solidFill>
                  <a:srgbClr val="0042FF"/>
                </a:solidFill>
                <a:latin typeface="微软雅黑"/>
                <a:ea typeface="微软雅黑"/>
                <a:cs typeface="微软雅黑"/>
              </a:endParaRPr>
            </a:p>
          </p:txBody>
        </p:sp>
        <p:sp>
          <p:nvSpPr>
            <p:cNvPr id="632" name="箭头: V 形 631"/>
            <p:cNvSpPr/>
            <p:nvPr/>
          </p:nvSpPr>
          <p:spPr>
            <a:xfrm>
              <a:off x="3698532" y="6007586"/>
              <a:ext cx="1283234" cy="259249"/>
            </a:xfrm>
            <a:prstGeom prst="chevron">
              <a:avLst/>
            </a:pr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b="1" kern="0">
                  <a:solidFill>
                    <a:srgbClr val="0042FF"/>
                  </a:solidFill>
                  <a:latin typeface="微软雅黑"/>
                  <a:ea typeface="微软雅黑"/>
                  <a:cs typeface="微软雅黑"/>
                </a:rPr>
                <a:t>推荐</a:t>
              </a:r>
              <a:endParaRPr lang="zh-CN" altLang="en-US" sz="1000" b="1" kern="0">
                <a:solidFill>
                  <a:srgbClr val="0042FF"/>
                </a:solidFill>
                <a:latin typeface="微软雅黑"/>
                <a:ea typeface="微软雅黑"/>
                <a:cs typeface="微软雅黑"/>
              </a:endParaRPr>
            </a:p>
          </p:txBody>
        </p:sp>
        <p:sp>
          <p:nvSpPr>
            <p:cNvPr id="633" name="箭头: V 形 632"/>
            <p:cNvSpPr/>
            <p:nvPr/>
          </p:nvSpPr>
          <p:spPr>
            <a:xfrm>
              <a:off x="4929332" y="6007586"/>
              <a:ext cx="1283234" cy="259249"/>
            </a:xfrm>
            <a:prstGeom prst="chevron">
              <a:avLst/>
            </a:pr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b="1" kern="0" dirty="0">
                  <a:solidFill>
                    <a:srgbClr val="0042FF"/>
                  </a:solidFill>
                  <a:latin typeface="微软雅黑"/>
                  <a:ea typeface="微软雅黑"/>
                  <a:cs typeface="微软雅黑"/>
                </a:rPr>
                <a:t>配置</a:t>
              </a:r>
              <a:endParaRPr lang="zh-CN" altLang="en-US" sz="1000" b="1" kern="0" dirty="0">
                <a:solidFill>
                  <a:srgbClr val="0042FF"/>
                </a:solidFill>
                <a:latin typeface="微软雅黑"/>
                <a:ea typeface="微软雅黑"/>
                <a:cs typeface="微软雅黑"/>
              </a:endParaRPr>
            </a:p>
          </p:txBody>
        </p:sp>
        <p:sp>
          <p:nvSpPr>
            <p:cNvPr id="634" name="箭头: V 形 633"/>
            <p:cNvSpPr/>
            <p:nvPr/>
          </p:nvSpPr>
          <p:spPr>
            <a:xfrm>
              <a:off x="6160132" y="6007586"/>
              <a:ext cx="1283234" cy="259249"/>
            </a:xfrm>
            <a:prstGeom prst="chevron">
              <a:avLst/>
            </a:pr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b="1" kern="0" dirty="0">
                  <a:solidFill>
                    <a:srgbClr val="0042FF"/>
                  </a:solidFill>
                  <a:latin typeface="微软雅黑"/>
                  <a:ea typeface="微软雅黑"/>
                  <a:cs typeface="微软雅黑"/>
                </a:rPr>
                <a:t>体验</a:t>
              </a:r>
              <a:endParaRPr lang="zh-CN" altLang="en-US" sz="1000" b="1" kern="0" dirty="0">
                <a:solidFill>
                  <a:srgbClr val="0042FF"/>
                </a:solidFill>
                <a:latin typeface="微软雅黑"/>
                <a:ea typeface="微软雅黑"/>
                <a:cs typeface="微软雅黑"/>
              </a:endParaRPr>
            </a:p>
          </p:txBody>
        </p:sp>
        <p:sp>
          <p:nvSpPr>
            <p:cNvPr id="635" name="箭头: V 形 634"/>
            <p:cNvSpPr/>
            <p:nvPr/>
          </p:nvSpPr>
          <p:spPr>
            <a:xfrm>
              <a:off x="7390932" y="6007586"/>
              <a:ext cx="1283234" cy="259249"/>
            </a:xfrm>
            <a:prstGeom prst="chevron">
              <a:avLst/>
            </a:pr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b="1" kern="0" dirty="0">
                  <a:solidFill>
                    <a:srgbClr val="0042FF"/>
                  </a:solidFill>
                  <a:latin typeface="微软雅黑"/>
                  <a:ea typeface="微软雅黑"/>
                  <a:cs typeface="微软雅黑"/>
                </a:rPr>
                <a:t>购买</a:t>
              </a:r>
              <a:endParaRPr lang="zh-CN" altLang="en-US" sz="1000" b="1" kern="0" dirty="0">
                <a:solidFill>
                  <a:srgbClr val="0042FF"/>
                </a:solidFill>
                <a:latin typeface="微软雅黑"/>
                <a:ea typeface="微软雅黑"/>
                <a:cs typeface="微软雅黑"/>
              </a:endParaRPr>
            </a:p>
          </p:txBody>
        </p:sp>
        <p:sp>
          <p:nvSpPr>
            <p:cNvPr id="636" name="箭头: V 形 635"/>
            <p:cNvSpPr/>
            <p:nvPr/>
          </p:nvSpPr>
          <p:spPr>
            <a:xfrm>
              <a:off x="8621733" y="6007586"/>
              <a:ext cx="1283234" cy="259249"/>
            </a:xfrm>
            <a:prstGeom prst="chevron">
              <a:avLst/>
            </a:prstGeom>
            <a:grpFill/>
            <a:ln w="9708" cap="flat">
              <a:solidFill>
                <a:srgbClr val="3368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b="1" kern="0">
                  <a:solidFill>
                    <a:srgbClr val="0042FF"/>
                  </a:solidFill>
                  <a:latin typeface="微软雅黑"/>
                  <a:ea typeface="微软雅黑"/>
                  <a:cs typeface="微软雅黑"/>
                </a:rPr>
                <a:t>使用</a:t>
              </a:r>
              <a:endParaRPr lang="zh-CN" altLang="en-US" sz="1000" b="1" kern="0">
                <a:solidFill>
                  <a:srgbClr val="0042FF"/>
                </a:solidFill>
                <a:latin typeface="微软雅黑"/>
                <a:ea typeface="微软雅黑"/>
                <a:cs typeface="微软雅黑"/>
              </a:endParaRPr>
            </a:p>
          </p:txBody>
        </p:sp>
      </p:grpSp>
      <p:sp>
        <p:nvSpPr>
          <p:cNvPr id="662" name="文本框 661"/>
          <p:cNvSpPr txBox="1"/>
          <p:nvPr/>
        </p:nvSpPr>
        <p:spPr>
          <a:xfrm>
            <a:off x="1540373" y="6181611"/>
            <a:ext cx="927359" cy="25717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383838"/>
                </a:solidFill>
                <a:latin typeface="微软雅黑"/>
                <a:ea typeface="微软雅黑"/>
                <a:cs typeface="微软雅黑"/>
              </a:rPr>
              <a:t>全链路触点</a:t>
            </a:r>
            <a:endParaRPr lang="zh-CN" altLang="en-US" sz="1000" b="1" kern="0">
              <a:solidFill>
                <a:srgbClr val="383838"/>
              </a:solidFill>
              <a:latin typeface="微软雅黑"/>
              <a:ea typeface="微软雅黑"/>
              <a:cs typeface="微软雅黑"/>
            </a:endParaRPr>
          </a:p>
        </p:txBody>
      </p:sp>
      <p:sp>
        <p:nvSpPr>
          <p:cNvPr id="677" name="矩形: 圆角 676"/>
          <p:cNvSpPr/>
          <p:nvPr/>
        </p:nvSpPr>
        <p:spPr>
          <a:xfrm>
            <a:off x="11424312" y="5243325"/>
            <a:ext cx="425815" cy="1385289"/>
          </a:xfrm>
          <a:prstGeom prst="roundRect">
            <a:avLst>
              <a:gd name="adj" fmla="val 11207"/>
            </a:avLst>
          </a:prstGeom>
          <a:solidFill>
            <a:srgbClr val="FFFFFF"/>
          </a:solidFill>
          <a:ln w="9708" cap="flat">
            <a:solidFill>
              <a:srgbClr val="383838"/>
            </a:solidFill>
            <a:prstDash val="solid"/>
            <a:miter/>
          </a:ln>
          <a:effectLst/>
        </p:spPr>
        <p:txBody>
          <a:bodyPr rot="0" spcFirstLastPara="0" vertOverflow="overflow" horzOverflow="overflow" vert="horz" wrap="square" lIns="93196" tIns="46598" rIns="93196" bIns="46598" numCol="1" spcCol="0" rtlCol="0" fromWordArt="0" anchor="ctr" anchorCtr="0" forceAA="0" compatLnSpc="1">
            <a:noAutofit/>
          </a:bodyPr>
          <a:lstStyle/>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客户数据</a:t>
            </a:r>
            <a:endParaRPr lang="zh-CN" altLang="en-US" sz="1400" b="1">
              <a:solidFill>
                <a:srgbClr val="383838"/>
              </a:solidFill>
              <a:latin typeface="微软雅黑"/>
              <a:ea typeface="微软雅黑"/>
              <a:cs typeface="微软雅黑"/>
            </a:endParaRPr>
          </a:p>
        </p:txBody>
      </p:sp>
      <p:sp>
        <p:nvSpPr>
          <p:cNvPr id="203" name="矩形: 圆角 58"/>
          <p:cNvSpPr/>
          <p:nvPr/>
        </p:nvSpPr>
        <p:spPr>
          <a:xfrm>
            <a:off x="1353167" y="3188956"/>
            <a:ext cx="9687365" cy="1731288"/>
          </a:xfrm>
          <a:prstGeom prst="roundRect">
            <a:avLst>
              <a:gd name="adj" fmla="val 2756"/>
            </a:avLst>
          </a:prstGeom>
          <a:solidFill>
            <a:srgbClr val="0042FF">
              <a:alpha val="10000"/>
            </a:srgbClr>
          </a:solidFill>
          <a:ln w="9525" cap="flat" cmpd="sng" algn="ctr">
            <a:solidFill>
              <a:srgbClr val="0042FF">
                <a:alpha val="50000"/>
              </a:srgbClr>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b="1" kern="0">
              <a:gradFill>
                <a:gsLst>
                  <a:gs pos="0">
                    <a:srgbClr val="0042FF"/>
                  </a:gs>
                  <a:gs pos="100000">
                    <a:srgbClr val="0042FF"/>
                  </a:gs>
                </a:gsLst>
                <a:lin ang="2700000" scaled="0"/>
              </a:gradFill>
              <a:latin typeface="微软雅黑"/>
              <a:ea typeface="微软雅黑"/>
              <a:cs typeface="微软雅黑"/>
            </a:endParaRPr>
          </a:p>
        </p:txBody>
      </p:sp>
      <p:sp>
        <p:nvSpPr>
          <p:cNvPr id="204" name="箭头: 五边形 147"/>
          <p:cNvSpPr/>
          <p:nvPr/>
        </p:nvSpPr>
        <p:spPr>
          <a:xfrm>
            <a:off x="1838216" y="4086569"/>
            <a:ext cx="1109821" cy="259249"/>
          </a:xfrm>
          <a:prstGeom prst="homePlate">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rPr>
              <a:t>数字投拓</a:t>
            </a:r>
            <a:endParaRPr lang="zh-CN" altLang="en-US" sz="1000" b="1">
              <a:solidFill>
                <a:srgbClr val="0042FF"/>
              </a:solidFill>
              <a:latin typeface="微软雅黑"/>
              <a:ea typeface="微软雅黑"/>
              <a:cs typeface="微软雅黑"/>
            </a:endParaRPr>
          </a:p>
        </p:txBody>
      </p:sp>
      <p:sp>
        <p:nvSpPr>
          <p:cNvPr id="205" name="箭头: V 形 157"/>
          <p:cNvSpPr/>
          <p:nvPr/>
        </p:nvSpPr>
        <p:spPr>
          <a:xfrm>
            <a:off x="2866733" y="4086569"/>
            <a:ext cx="1168082" cy="259249"/>
          </a:xfrm>
          <a:prstGeom prst="chevron">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sym typeface="微软雅黑"/>
              </a:rPr>
              <a:t>规划设计</a:t>
            </a:r>
            <a:endParaRPr lang="zh-CN" altLang="en-US" sz="1000" b="1">
              <a:solidFill>
                <a:srgbClr val="0042FF"/>
              </a:solidFill>
              <a:latin typeface="微软雅黑"/>
              <a:ea typeface="微软雅黑"/>
              <a:cs typeface="微软雅黑"/>
              <a:sym typeface="微软雅黑"/>
            </a:endParaRPr>
          </a:p>
        </p:txBody>
      </p:sp>
      <p:sp>
        <p:nvSpPr>
          <p:cNvPr id="206" name="箭头: V 形 158"/>
          <p:cNvSpPr/>
          <p:nvPr/>
        </p:nvSpPr>
        <p:spPr>
          <a:xfrm>
            <a:off x="3953511" y="4086569"/>
            <a:ext cx="1168082" cy="259249"/>
          </a:xfrm>
          <a:prstGeom prst="chevron">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sym typeface="微软雅黑"/>
              </a:rPr>
              <a:t>招标采购</a:t>
            </a:r>
            <a:endParaRPr lang="zh-CN" altLang="en-US" sz="1000" b="1">
              <a:solidFill>
                <a:srgbClr val="0042FF"/>
              </a:solidFill>
              <a:latin typeface="微软雅黑"/>
              <a:ea typeface="微软雅黑"/>
              <a:cs typeface="微软雅黑"/>
              <a:sym typeface="微软雅黑"/>
            </a:endParaRPr>
          </a:p>
        </p:txBody>
      </p:sp>
      <p:sp>
        <p:nvSpPr>
          <p:cNvPr id="207" name="箭头: V 形 159"/>
          <p:cNvSpPr/>
          <p:nvPr/>
        </p:nvSpPr>
        <p:spPr>
          <a:xfrm>
            <a:off x="5040289" y="4086569"/>
            <a:ext cx="1168082" cy="259249"/>
          </a:xfrm>
          <a:prstGeom prst="chevron">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sym typeface="微软雅黑"/>
              </a:rPr>
              <a:t>施工建造</a:t>
            </a:r>
            <a:endParaRPr lang="zh-CN" altLang="en-US" sz="1000" b="1">
              <a:solidFill>
                <a:srgbClr val="0042FF"/>
              </a:solidFill>
              <a:latin typeface="微软雅黑"/>
              <a:ea typeface="微软雅黑"/>
              <a:cs typeface="微软雅黑"/>
              <a:sym typeface="微软雅黑"/>
            </a:endParaRPr>
          </a:p>
        </p:txBody>
      </p:sp>
      <p:sp>
        <p:nvSpPr>
          <p:cNvPr id="208" name="箭头: V 形 160"/>
          <p:cNvSpPr/>
          <p:nvPr/>
        </p:nvSpPr>
        <p:spPr>
          <a:xfrm>
            <a:off x="6127067" y="4086569"/>
            <a:ext cx="1168082" cy="259249"/>
          </a:xfrm>
          <a:prstGeom prst="chevron">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sym typeface="微软雅黑"/>
              </a:rPr>
              <a:t>竣工交付</a:t>
            </a:r>
            <a:endParaRPr lang="zh-CN" altLang="en-US" sz="1000" b="1">
              <a:solidFill>
                <a:srgbClr val="0042FF"/>
              </a:solidFill>
              <a:latin typeface="微软雅黑"/>
              <a:ea typeface="微软雅黑"/>
              <a:cs typeface="微软雅黑"/>
              <a:sym typeface="微软雅黑"/>
            </a:endParaRPr>
          </a:p>
        </p:txBody>
      </p:sp>
      <p:sp>
        <p:nvSpPr>
          <p:cNvPr id="210" name="箭头: V 形 161"/>
          <p:cNvSpPr/>
          <p:nvPr/>
        </p:nvSpPr>
        <p:spPr>
          <a:xfrm>
            <a:off x="7213845" y="4086569"/>
            <a:ext cx="1168082" cy="259249"/>
          </a:xfrm>
          <a:prstGeom prst="chevron">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sym typeface="微软雅黑"/>
              </a:rPr>
              <a:t>市场销售</a:t>
            </a:r>
            <a:endParaRPr lang="zh-CN" altLang="en-US" sz="1000" b="1">
              <a:solidFill>
                <a:srgbClr val="0042FF"/>
              </a:solidFill>
              <a:latin typeface="微软雅黑"/>
              <a:ea typeface="微软雅黑"/>
              <a:cs typeface="微软雅黑"/>
              <a:sym typeface="微软雅黑"/>
            </a:endParaRPr>
          </a:p>
        </p:txBody>
      </p:sp>
      <p:sp>
        <p:nvSpPr>
          <p:cNvPr id="211" name="箭头: V 形 162"/>
          <p:cNvSpPr/>
          <p:nvPr/>
        </p:nvSpPr>
        <p:spPr>
          <a:xfrm>
            <a:off x="8300623" y="4086569"/>
            <a:ext cx="1168082" cy="259249"/>
          </a:xfrm>
          <a:prstGeom prst="chevron">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sym typeface="微软雅黑"/>
              </a:rPr>
              <a:t>商业管理</a:t>
            </a:r>
            <a:endParaRPr lang="zh-CN" altLang="en-US" sz="1000" b="1">
              <a:solidFill>
                <a:srgbClr val="0042FF"/>
              </a:solidFill>
              <a:latin typeface="微软雅黑"/>
              <a:ea typeface="微软雅黑"/>
              <a:cs typeface="微软雅黑"/>
              <a:sym typeface="微软雅黑"/>
            </a:endParaRPr>
          </a:p>
        </p:txBody>
      </p:sp>
      <p:sp>
        <p:nvSpPr>
          <p:cNvPr id="212" name="箭头: V 形 163"/>
          <p:cNvSpPr/>
          <p:nvPr/>
        </p:nvSpPr>
        <p:spPr>
          <a:xfrm>
            <a:off x="9387403" y="4086569"/>
            <a:ext cx="1168082" cy="259249"/>
          </a:xfrm>
          <a:prstGeom prst="chevron">
            <a:avLst/>
          </a:prstGeom>
          <a:solidFill>
            <a:srgbClr val="E6E6E6">
              <a:alpha val="40000"/>
            </a:srgbClr>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sym typeface="微软雅黑"/>
              </a:rPr>
              <a:t>物业运营</a:t>
            </a:r>
            <a:endParaRPr lang="zh-CN" altLang="en-US" sz="1000" b="1">
              <a:solidFill>
                <a:srgbClr val="0042FF"/>
              </a:solidFill>
              <a:latin typeface="微软雅黑"/>
              <a:ea typeface="微软雅黑"/>
              <a:cs typeface="微软雅黑"/>
              <a:sym typeface="微软雅黑"/>
            </a:endParaRPr>
          </a:p>
        </p:txBody>
      </p:sp>
      <p:sp>
        <p:nvSpPr>
          <p:cNvPr id="213" name="文本框 212"/>
          <p:cNvSpPr txBox="1"/>
          <p:nvPr/>
        </p:nvSpPr>
        <p:spPr>
          <a:xfrm>
            <a:off x="2127669"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投资方</a:t>
            </a:r>
            <a:endParaRPr lang="zh-CN" altLang="en-US" sz="1000" kern="0">
              <a:solidFill>
                <a:srgbClr val="0042FF"/>
              </a:solidFill>
              <a:latin typeface="微软雅黑"/>
              <a:ea typeface="微软雅黑"/>
              <a:cs typeface="微软雅黑"/>
            </a:endParaRPr>
          </a:p>
        </p:txBody>
      </p:sp>
      <p:sp>
        <p:nvSpPr>
          <p:cNvPr id="214" name="文本框 213"/>
          <p:cNvSpPr txBox="1"/>
          <p:nvPr/>
        </p:nvSpPr>
        <p:spPr>
          <a:xfrm>
            <a:off x="3200453"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设计方</a:t>
            </a:r>
            <a:endParaRPr lang="zh-CN" altLang="en-US" sz="1000" kern="0">
              <a:solidFill>
                <a:srgbClr val="0042FF"/>
              </a:solidFill>
              <a:latin typeface="微软雅黑"/>
              <a:ea typeface="微软雅黑"/>
              <a:cs typeface="微软雅黑"/>
            </a:endParaRPr>
          </a:p>
        </p:txBody>
      </p:sp>
      <p:sp>
        <p:nvSpPr>
          <p:cNvPr id="215" name="文本框 214"/>
          <p:cNvSpPr txBox="1"/>
          <p:nvPr/>
        </p:nvSpPr>
        <p:spPr>
          <a:xfrm>
            <a:off x="4284709"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咨询方</a:t>
            </a:r>
            <a:endParaRPr lang="zh-CN" altLang="en-US" sz="1000" kern="0">
              <a:solidFill>
                <a:srgbClr val="0042FF"/>
              </a:solidFill>
              <a:latin typeface="微软雅黑"/>
              <a:ea typeface="微软雅黑"/>
              <a:cs typeface="微软雅黑"/>
            </a:endParaRPr>
          </a:p>
        </p:txBody>
      </p:sp>
      <p:sp>
        <p:nvSpPr>
          <p:cNvPr id="216" name="文本框 215"/>
          <p:cNvSpPr txBox="1"/>
          <p:nvPr/>
        </p:nvSpPr>
        <p:spPr>
          <a:xfrm>
            <a:off x="5368965"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监理方</a:t>
            </a:r>
            <a:endParaRPr lang="zh-CN" altLang="en-US" sz="1000" kern="0">
              <a:solidFill>
                <a:srgbClr val="0042FF"/>
              </a:solidFill>
              <a:latin typeface="微软雅黑"/>
              <a:ea typeface="微软雅黑"/>
              <a:cs typeface="微软雅黑"/>
            </a:endParaRPr>
          </a:p>
        </p:txBody>
      </p:sp>
      <p:sp>
        <p:nvSpPr>
          <p:cNvPr id="217" name="文本框 216"/>
          <p:cNvSpPr txBox="1"/>
          <p:nvPr/>
        </p:nvSpPr>
        <p:spPr>
          <a:xfrm>
            <a:off x="6453221"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施工方</a:t>
            </a:r>
            <a:endParaRPr lang="zh-CN" altLang="en-US" sz="1000" kern="0">
              <a:solidFill>
                <a:srgbClr val="0042FF"/>
              </a:solidFill>
              <a:latin typeface="微软雅黑"/>
              <a:ea typeface="微软雅黑"/>
              <a:cs typeface="微软雅黑"/>
            </a:endParaRPr>
          </a:p>
        </p:txBody>
      </p:sp>
      <p:sp>
        <p:nvSpPr>
          <p:cNvPr id="218" name="文本框 217"/>
          <p:cNvSpPr txBox="1"/>
          <p:nvPr/>
        </p:nvSpPr>
        <p:spPr>
          <a:xfrm>
            <a:off x="7537477"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供应方</a:t>
            </a:r>
            <a:endParaRPr lang="zh-CN" altLang="en-US" sz="1000" kern="0">
              <a:solidFill>
                <a:srgbClr val="0042FF"/>
              </a:solidFill>
              <a:latin typeface="微软雅黑"/>
              <a:ea typeface="微软雅黑"/>
              <a:cs typeface="微软雅黑"/>
            </a:endParaRPr>
          </a:p>
        </p:txBody>
      </p:sp>
      <p:sp>
        <p:nvSpPr>
          <p:cNvPr id="219" name="文本框 218"/>
          <p:cNvSpPr txBox="1"/>
          <p:nvPr/>
        </p:nvSpPr>
        <p:spPr>
          <a:xfrm>
            <a:off x="8621733"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销代方</a:t>
            </a:r>
            <a:endParaRPr lang="zh-CN" altLang="en-US" sz="1000" kern="0">
              <a:solidFill>
                <a:srgbClr val="0042FF"/>
              </a:solidFill>
              <a:latin typeface="微软雅黑"/>
              <a:ea typeface="微软雅黑"/>
              <a:cs typeface="微软雅黑"/>
            </a:endParaRPr>
          </a:p>
        </p:txBody>
      </p:sp>
      <p:sp>
        <p:nvSpPr>
          <p:cNvPr id="220" name="文本框 219"/>
          <p:cNvSpPr txBox="1"/>
          <p:nvPr/>
        </p:nvSpPr>
        <p:spPr>
          <a:xfrm>
            <a:off x="9705987" y="4372148"/>
            <a:ext cx="530915" cy="246478"/>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运营方</a:t>
            </a:r>
            <a:endParaRPr lang="zh-CN" altLang="en-US" sz="1000" kern="0">
              <a:solidFill>
                <a:srgbClr val="0042FF"/>
              </a:solidFill>
              <a:latin typeface="微软雅黑"/>
              <a:ea typeface="微软雅黑"/>
              <a:cs typeface="微软雅黑"/>
            </a:endParaRPr>
          </a:p>
        </p:txBody>
      </p:sp>
      <p:cxnSp>
        <p:nvCxnSpPr>
          <p:cNvPr id="221" name="直接连接符 220"/>
          <p:cNvCxnSpPr/>
          <p:nvPr/>
        </p:nvCxnSpPr>
        <p:spPr>
          <a:xfrm>
            <a:off x="3445747" y="3923881"/>
            <a:ext cx="0" cy="105321"/>
          </a:xfrm>
          <a:prstGeom prst="line">
            <a:avLst/>
          </a:prstGeom>
          <a:ln w="12700">
            <a:solidFill>
              <a:srgbClr val="0042FF"/>
            </a:solidFill>
          </a:ln>
        </p:spPr>
        <p:style>
          <a:lnRef idx="1">
            <a:srgbClr val="0042FF"/>
          </a:lnRef>
          <a:fillRef idx="0">
            <a:srgbClr val="0042FF"/>
          </a:fillRef>
          <a:effectRef idx="0">
            <a:srgbClr val="0042FF"/>
          </a:effectRef>
          <a:fontRef idx="minor">
            <a:srgbClr val="383838"/>
          </a:fontRef>
        </p:style>
      </p:cxnSp>
      <p:cxnSp>
        <p:nvCxnSpPr>
          <p:cNvPr id="222" name="直接连接符 221"/>
          <p:cNvCxnSpPr/>
          <p:nvPr/>
        </p:nvCxnSpPr>
        <p:spPr>
          <a:xfrm>
            <a:off x="1838215" y="3923881"/>
            <a:ext cx="0" cy="105321"/>
          </a:xfrm>
          <a:prstGeom prst="line">
            <a:avLst/>
          </a:prstGeom>
          <a:ln w="12700">
            <a:solidFill>
              <a:srgbClr val="0042FF"/>
            </a:solidFill>
          </a:ln>
        </p:spPr>
        <p:style>
          <a:lnRef idx="1">
            <a:srgbClr val="0042FF"/>
          </a:lnRef>
          <a:fillRef idx="0">
            <a:srgbClr val="0042FF"/>
          </a:fillRef>
          <a:effectRef idx="0">
            <a:srgbClr val="0042FF"/>
          </a:effectRef>
          <a:fontRef idx="minor">
            <a:srgbClr val="383838"/>
          </a:fontRef>
        </p:style>
      </p:cxnSp>
      <p:cxnSp>
        <p:nvCxnSpPr>
          <p:cNvPr id="223" name="直接连接符 222"/>
          <p:cNvCxnSpPr/>
          <p:nvPr/>
        </p:nvCxnSpPr>
        <p:spPr>
          <a:xfrm>
            <a:off x="7916285" y="3923881"/>
            <a:ext cx="0" cy="105321"/>
          </a:xfrm>
          <a:prstGeom prst="line">
            <a:avLst/>
          </a:prstGeom>
          <a:ln w="12700">
            <a:solidFill>
              <a:srgbClr val="0042FF"/>
            </a:solidFill>
          </a:ln>
        </p:spPr>
        <p:style>
          <a:lnRef idx="1">
            <a:srgbClr val="0042FF"/>
          </a:lnRef>
          <a:fillRef idx="0">
            <a:srgbClr val="0042FF"/>
          </a:fillRef>
          <a:effectRef idx="0">
            <a:srgbClr val="0042FF"/>
          </a:effectRef>
          <a:fontRef idx="minor">
            <a:srgbClr val="383838"/>
          </a:fontRef>
        </p:style>
      </p:cxnSp>
      <p:sp>
        <p:nvSpPr>
          <p:cNvPr id="1045" name="矩形: 圆角 1044"/>
          <p:cNvSpPr/>
          <p:nvPr/>
        </p:nvSpPr>
        <p:spPr>
          <a:xfrm>
            <a:off x="1838214"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数字投拓</a:t>
            </a:r>
            <a:endParaRPr lang="zh-CN" altLang="en-US" sz="1000" b="1" dirty="0">
              <a:solidFill>
                <a:srgbClr val="FFFFFF"/>
              </a:solidFill>
              <a:latin typeface="微软雅黑"/>
              <a:ea typeface="微软雅黑"/>
              <a:cs typeface="微软雅黑"/>
            </a:endParaRPr>
          </a:p>
        </p:txBody>
      </p:sp>
      <p:sp>
        <p:nvSpPr>
          <p:cNvPr id="1046" name="矩形: 圆角 1045"/>
          <p:cNvSpPr/>
          <p:nvPr/>
        </p:nvSpPr>
        <p:spPr>
          <a:xfrm>
            <a:off x="2721245"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64" name="矩形: 圆角 1063"/>
          <p:cNvSpPr/>
          <p:nvPr/>
        </p:nvSpPr>
        <p:spPr>
          <a:xfrm>
            <a:off x="3604277"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65" name="矩形: 圆角 1064"/>
          <p:cNvSpPr/>
          <p:nvPr/>
        </p:nvSpPr>
        <p:spPr>
          <a:xfrm>
            <a:off x="4487307"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67" name="矩形: 圆角 1066"/>
          <p:cNvSpPr/>
          <p:nvPr/>
        </p:nvSpPr>
        <p:spPr>
          <a:xfrm>
            <a:off x="5370340"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68" name="矩形: 圆角 1067"/>
          <p:cNvSpPr/>
          <p:nvPr/>
        </p:nvSpPr>
        <p:spPr>
          <a:xfrm>
            <a:off x="6253371"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70" name="矩形: 圆角 1069"/>
          <p:cNvSpPr/>
          <p:nvPr/>
        </p:nvSpPr>
        <p:spPr>
          <a:xfrm>
            <a:off x="7136402"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71" name="矩形: 圆角 1070"/>
          <p:cNvSpPr/>
          <p:nvPr/>
        </p:nvSpPr>
        <p:spPr>
          <a:xfrm>
            <a:off x="8019433"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73" name="矩形: 圆角 1072"/>
          <p:cNvSpPr/>
          <p:nvPr/>
        </p:nvSpPr>
        <p:spPr>
          <a:xfrm>
            <a:off x="8902464"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sp>
        <p:nvSpPr>
          <p:cNvPr id="1074" name="矩形: 圆角 1073"/>
          <p:cNvSpPr/>
          <p:nvPr/>
        </p:nvSpPr>
        <p:spPr>
          <a:xfrm>
            <a:off x="9785497" y="3564417"/>
            <a:ext cx="769988" cy="259249"/>
          </a:xfrm>
          <a:prstGeom prst="roundRect">
            <a:avLst>
              <a:gd name="adj" fmla="val 18407"/>
            </a:avLst>
          </a:prstGeom>
          <a:gradFill>
            <a:gsLst>
              <a:gs pos="0">
                <a:srgbClr val="3368FF"/>
              </a:gs>
              <a:gs pos="87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数字投拓</a:t>
            </a:r>
            <a:endParaRPr lang="zh-CN" altLang="en-US" sz="1000" b="1" dirty="0">
              <a:solidFill>
                <a:srgbClr val="FFFFFF"/>
              </a:solidFill>
              <a:latin typeface="微软雅黑"/>
              <a:ea typeface="微软雅黑"/>
              <a:cs typeface="微软雅黑"/>
              <a:sym typeface="微软雅黑"/>
            </a:endParaRPr>
          </a:p>
        </p:txBody>
      </p:sp>
      <p:cxnSp>
        <p:nvCxnSpPr>
          <p:cNvPr id="1077" name="直接连接符 1076"/>
          <p:cNvCxnSpPr/>
          <p:nvPr/>
        </p:nvCxnSpPr>
        <p:spPr>
          <a:xfrm>
            <a:off x="6705353" y="3380919"/>
            <a:ext cx="4115800" cy="0"/>
          </a:xfrm>
          <a:prstGeom prst="line">
            <a:avLst/>
          </a:prstGeom>
          <a:ln w="12700">
            <a:solidFill>
              <a:srgbClr val="0042FF"/>
            </a:solidFill>
            <a:headEnd type="triangle"/>
          </a:ln>
        </p:spPr>
        <p:style>
          <a:lnRef idx="1">
            <a:srgbClr val="0042FF"/>
          </a:lnRef>
          <a:fillRef idx="0">
            <a:srgbClr val="0042FF"/>
          </a:fillRef>
          <a:effectRef idx="0">
            <a:srgbClr val="0042FF"/>
          </a:effectRef>
          <a:fontRef idx="minor">
            <a:srgbClr val="383838"/>
          </a:fontRef>
        </p:style>
      </p:cxnSp>
      <p:sp>
        <p:nvSpPr>
          <p:cNvPr id="1085" name="矩形: 圆角 1084"/>
          <p:cNvSpPr/>
          <p:nvPr/>
        </p:nvSpPr>
        <p:spPr>
          <a:xfrm>
            <a:off x="1460267" y="3616095"/>
            <a:ext cx="224559" cy="877010"/>
          </a:xfrm>
          <a:prstGeom prst="roundRect">
            <a:avLst>
              <a:gd name="adj" fmla="val 21251"/>
            </a:avLst>
          </a:prstGeom>
          <a:solidFill>
            <a:srgbClr val="FFFFFF"/>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企项联动</a:t>
            </a:r>
            <a:endParaRPr lang="zh-CN" altLang="en-US" sz="1000" dirty="0">
              <a:solidFill>
                <a:srgbClr val="0042FF"/>
              </a:solidFill>
              <a:latin typeface="微软雅黑"/>
              <a:ea typeface="微软雅黑"/>
              <a:cs typeface="微软雅黑"/>
            </a:endParaRPr>
          </a:p>
        </p:txBody>
      </p:sp>
      <p:sp>
        <p:nvSpPr>
          <p:cNvPr id="576" name="矩形: 圆角 575"/>
          <p:cNvSpPr/>
          <p:nvPr/>
        </p:nvSpPr>
        <p:spPr>
          <a:xfrm>
            <a:off x="10708874" y="3616095"/>
            <a:ext cx="224559" cy="877010"/>
          </a:xfrm>
          <a:prstGeom prst="roundRect">
            <a:avLst>
              <a:gd name="adj" fmla="val 21251"/>
            </a:avLst>
          </a:prstGeom>
          <a:solidFill>
            <a:srgbClr val="FFFFFF"/>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数据驱动</a:t>
            </a:r>
            <a:endParaRPr lang="zh-CN" altLang="en-US" sz="1000" dirty="0">
              <a:solidFill>
                <a:srgbClr val="0042FF"/>
              </a:solidFill>
              <a:latin typeface="微软雅黑"/>
              <a:ea typeface="微软雅黑"/>
              <a:cs typeface="微软雅黑"/>
            </a:endParaRPr>
          </a:p>
        </p:txBody>
      </p:sp>
      <p:sp>
        <p:nvSpPr>
          <p:cNvPr id="579" name="矩形: 圆角 578"/>
          <p:cNvSpPr/>
          <p:nvPr/>
        </p:nvSpPr>
        <p:spPr>
          <a:xfrm>
            <a:off x="5786481" y="3292697"/>
            <a:ext cx="820736" cy="179902"/>
          </a:xfrm>
          <a:prstGeom prst="roundRect">
            <a:avLst>
              <a:gd name="adj" fmla="val 26526"/>
            </a:avLst>
          </a:prstGeom>
          <a:solidFill>
            <a:srgbClr val="FFFFFF"/>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业务前置</a:t>
            </a:r>
            <a:endParaRPr lang="zh-CN" altLang="en-US" sz="1000" dirty="0">
              <a:solidFill>
                <a:srgbClr val="0042FF"/>
              </a:solidFill>
              <a:latin typeface="微软雅黑"/>
              <a:ea typeface="微软雅黑"/>
              <a:cs typeface="微软雅黑"/>
            </a:endParaRPr>
          </a:p>
        </p:txBody>
      </p:sp>
      <p:cxnSp>
        <p:nvCxnSpPr>
          <p:cNvPr id="1078" name="直接连接符 1077"/>
          <p:cNvCxnSpPr/>
          <p:nvPr/>
        </p:nvCxnSpPr>
        <p:spPr>
          <a:xfrm flipH="1">
            <a:off x="1572546" y="4740916"/>
            <a:ext cx="4213936" cy="0"/>
          </a:xfrm>
          <a:prstGeom prst="line">
            <a:avLst/>
          </a:prstGeom>
          <a:ln w="12700">
            <a:solidFill>
              <a:srgbClr val="0042FF"/>
            </a:solidFill>
            <a:headEnd type="triangle"/>
          </a:ln>
        </p:spPr>
        <p:style>
          <a:lnRef idx="1">
            <a:srgbClr val="0042FF"/>
          </a:lnRef>
          <a:fillRef idx="0">
            <a:srgbClr val="0042FF"/>
          </a:fillRef>
          <a:effectRef idx="0">
            <a:srgbClr val="0042FF"/>
          </a:effectRef>
          <a:fontRef idx="minor">
            <a:srgbClr val="383838"/>
          </a:fontRef>
        </p:style>
      </p:cxnSp>
      <p:sp>
        <p:nvSpPr>
          <p:cNvPr id="580" name="矩形: 圆角 579"/>
          <p:cNvSpPr/>
          <p:nvPr/>
        </p:nvSpPr>
        <p:spPr>
          <a:xfrm>
            <a:off x="5786481" y="4650543"/>
            <a:ext cx="820736" cy="179902"/>
          </a:xfrm>
          <a:prstGeom prst="roundRect">
            <a:avLst>
              <a:gd name="adj" fmla="val 26526"/>
            </a:avLst>
          </a:prstGeom>
          <a:solidFill>
            <a:srgbClr val="FFFFFF"/>
          </a:solidFill>
          <a:ln w="9708" cap="flat">
            <a:solidFill>
              <a:srgbClr val="0042FF"/>
            </a:solid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甲乙联动</a:t>
            </a:r>
            <a:endParaRPr lang="zh-CN" altLang="en-US" sz="1000" dirty="0">
              <a:solidFill>
                <a:srgbClr val="0042FF"/>
              </a:solidFill>
              <a:latin typeface="微软雅黑"/>
              <a:ea typeface="微软雅黑"/>
              <a:cs typeface="微软雅黑"/>
            </a:endParaRPr>
          </a:p>
        </p:txBody>
      </p:sp>
      <p:sp>
        <p:nvSpPr>
          <p:cNvPr id="686" name="文本框 685"/>
          <p:cNvSpPr txBox="1"/>
          <p:nvPr/>
        </p:nvSpPr>
        <p:spPr>
          <a:xfrm>
            <a:off x="5469410" y="2904177"/>
            <a:ext cx="1332230" cy="257175"/>
          </a:xfrm>
          <a:prstGeom prst="rect">
            <a:avLst/>
          </a:prstGeom>
          <a:noFill/>
        </p:spPr>
        <p:txBody>
          <a:bodyPr wrap="none" rtlCol="0" lIns="0" rIns="0" tIns="0" bIns="0">
            <a:spAutoFit/>
          </a:bodyPr>
          <a:lstStyle>
            <a:defPPr>
              <a:defRPr lang="zh-CN">
                <a:latin typeface="微软雅黑"/>
                <a:ea typeface="微软雅黑"/>
                <a:cs typeface="微软雅黑"/>
              </a:defRPr>
            </a:defPPr>
            <a:lvl1pPr algn="ctr">
              <a:lnSpc>
                <a:spcPct val="120000"/>
              </a:lnSpc>
              <a:defRPr sz="1000" kern="0">
                <a:solidFill>
                  <a:srgbClr val="383838">
                    <a:alpha val="70000"/>
                  </a:srgbClr>
                </a:solidFill>
                <a:latin typeface="微软雅黑"/>
                <a:ea typeface="微软雅黑"/>
                <a:cs typeface="微软雅黑"/>
              </a:defRPr>
            </a:lvl1pPr>
          </a:lstStyle>
          <a:p>
            <a:pPr>
              <a:defRPr>
                <a:latin typeface="微软雅黑"/>
                <a:ea typeface="微软雅黑"/>
                <a:cs typeface="微软雅黑"/>
              </a:defRPr>
            </a:pPr>
            <a:r>
              <a:rPr lang="zh-CN" altLang="en-US" b="1">
                <a:solidFill>
                  <a:srgbClr val="0042FF"/>
                </a:solidFill>
                <a:latin typeface="微软雅黑"/>
                <a:ea typeface="微软雅黑"/>
                <a:cs typeface="微软雅黑"/>
              </a:rPr>
              <a:t>企项联动（企项一体）</a:t>
            </a:r>
            <a:endParaRPr lang="zh-CN" altLang="en-US" b="1">
              <a:solidFill>
                <a:srgbClr val="0042FF"/>
              </a:solidFill>
              <a:latin typeface="微软雅黑"/>
              <a:ea typeface="微软雅黑"/>
              <a:cs typeface="微软雅黑"/>
            </a:endParaRPr>
          </a:p>
        </p:txBody>
      </p:sp>
      <p:sp>
        <p:nvSpPr>
          <p:cNvPr id="688" name="文本框 687"/>
          <p:cNvSpPr txBox="1"/>
          <p:nvPr/>
        </p:nvSpPr>
        <p:spPr>
          <a:xfrm>
            <a:off x="5438299" y="4958546"/>
            <a:ext cx="1394460" cy="257175"/>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b="1" kern="0">
                <a:solidFill>
                  <a:srgbClr val="0042FF"/>
                </a:solidFill>
                <a:latin typeface="微软雅黑"/>
                <a:ea typeface="微软雅黑"/>
                <a:cs typeface="微软雅黑"/>
              </a:rPr>
              <a:t>客企互</a:t>
            </a:r>
            <a:r>
              <a:rPr lang="en-US" altLang="zh-CN" sz="1000" b="1" kern="0">
                <a:solidFill>
                  <a:srgbClr val="0042FF"/>
                </a:solidFill>
                <a:latin typeface="微软雅黑"/>
                <a:ea typeface="微软雅黑"/>
                <a:cs typeface="微软雅黑"/>
              </a:rPr>
              <a:t>a</a:t>
            </a:r>
            <a:r>
              <a:rPr lang="zh-CN" altLang="en-US" sz="1000" b="1" kern="0">
                <a:solidFill>
                  <a:srgbClr val="0042FF"/>
                </a:solidFill>
                <a:latin typeface="微软雅黑"/>
                <a:ea typeface="微软雅黑"/>
                <a:cs typeface="微软雅黑"/>
              </a:rPr>
              <a:t>动（甲乙联动）</a:t>
            </a:r>
            <a:endParaRPr lang="zh-CN" altLang="en-US" sz="1000" b="1" kern="0">
              <a:solidFill>
                <a:srgbClr val="0042FF"/>
              </a:solidFill>
              <a:latin typeface="微软雅黑"/>
              <a:ea typeface="微软雅黑"/>
              <a:cs typeface="微软雅黑"/>
            </a:endParaRPr>
          </a:p>
        </p:txBody>
      </p:sp>
      <p:sp>
        <p:nvSpPr>
          <p:cNvPr id="692" name="文本框 691"/>
          <p:cNvSpPr txBox="1"/>
          <p:nvPr/>
        </p:nvSpPr>
        <p:spPr>
          <a:xfrm>
            <a:off x="11006709" y="2069478"/>
            <a:ext cx="451427" cy="412677"/>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383838"/>
                </a:solidFill>
                <a:latin typeface="微软雅黑"/>
                <a:ea typeface="微软雅黑"/>
                <a:cs typeface="微软雅黑"/>
              </a:rPr>
              <a:t>数据赋能</a:t>
            </a:r>
            <a:endParaRPr lang="zh-CN" altLang="en-US" sz="1000" kern="0">
              <a:solidFill>
                <a:srgbClr val="383838"/>
              </a:solidFill>
              <a:latin typeface="微软雅黑"/>
              <a:ea typeface="微软雅黑"/>
              <a:cs typeface="微软雅黑"/>
            </a:endParaRPr>
          </a:p>
        </p:txBody>
      </p:sp>
      <p:sp>
        <p:nvSpPr>
          <p:cNvPr id="693" name="文本框 692"/>
          <p:cNvSpPr txBox="1"/>
          <p:nvPr/>
        </p:nvSpPr>
        <p:spPr>
          <a:xfrm>
            <a:off x="11006709" y="3848262"/>
            <a:ext cx="451427" cy="412677"/>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383838"/>
                </a:solidFill>
                <a:latin typeface="微软雅黑"/>
                <a:ea typeface="微软雅黑"/>
                <a:cs typeface="微软雅黑"/>
              </a:rPr>
              <a:t>数据赋能</a:t>
            </a:r>
            <a:endParaRPr lang="zh-CN" altLang="en-US" sz="1000" kern="0">
              <a:solidFill>
                <a:srgbClr val="383838"/>
              </a:solidFill>
              <a:latin typeface="微软雅黑"/>
              <a:ea typeface="微软雅黑"/>
              <a:cs typeface="微软雅黑"/>
            </a:endParaRPr>
          </a:p>
        </p:txBody>
      </p:sp>
      <p:sp>
        <p:nvSpPr>
          <p:cNvPr id="694" name="文本框 693"/>
          <p:cNvSpPr txBox="1"/>
          <p:nvPr/>
        </p:nvSpPr>
        <p:spPr>
          <a:xfrm>
            <a:off x="11006709" y="5729632"/>
            <a:ext cx="451427" cy="412677"/>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383838"/>
                </a:solidFill>
                <a:latin typeface="微软雅黑"/>
                <a:ea typeface="微软雅黑"/>
                <a:cs typeface="微软雅黑"/>
              </a:rPr>
              <a:t>数据赋能</a:t>
            </a:r>
            <a:endParaRPr lang="zh-CN" altLang="en-US" sz="1000" kern="0">
              <a:solidFill>
                <a:srgbClr val="383838"/>
              </a:solidFill>
              <a:latin typeface="微软雅黑"/>
              <a:ea typeface="微软雅黑"/>
              <a:cs typeface="微软雅黑"/>
            </a:endParaRPr>
          </a:p>
        </p:txBody>
      </p:sp>
      <p:cxnSp>
        <p:nvCxnSpPr>
          <p:cNvPr id="224" name="直接连接符 223"/>
          <p:cNvCxnSpPr/>
          <p:nvPr/>
        </p:nvCxnSpPr>
        <p:spPr>
          <a:xfrm>
            <a:off x="1841422" y="3972138"/>
            <a:ext cx="1601118" cy="0"/>
          </a:xfrm>
          <a:prstGeom prst="line">
            <a:avLst/>
          </a:prstGeom>
          <a:ln w="12700">
            <a:solidFill>
              <a:srgbClr val="0042FF"/>
            </a:solidFill>
          </a:ln>
        </p:spPr>
        <p:style>
          <a:lnRef idx="1">
            <a:srgbClr val="0042FF"/>
          </a:lnRef>
          <a:fillRef idx="0">
            <a:srgbClr val="0042FF"/>
          </a:fillRef>
          <a:effectRef idx="0">
            <a:srgbClr val="0042FF"/>
          </a:effectRef>
          <a:fontRef idx="minor">
            <a:srgbClr val="383838"/>
          </a:fontRef>
        </p:style>
      </p:cxnSp>
      <p:cxnSp>
        <p:nvCxnSpPr>
          <p:cNvPr id="225" name="直接连接符 224"/>
          <p:cNvCxnSpPr/>
          <p:nvPr/>
        </p:nvCxnSpPr>
        <p:spPr>
          <a:xfrm>
            <a:off x="3445747" y="3972138"/>
            <a:ext cx="4470538" cy="0"/>
          </a:xfrm>
          <a:prstGeom prst="line">
            <a:avLst/>
          </a:prstGeom>
          <a:ln w="12700">
            <a:solidFill>
              <a:srgbClr val="0042FF"/>
            </a:solidFill>
          </a:ln>
        </p:spPr>
        <p:style>
          <a:lnRef idx="1">
            <a:srgbClr val="0042FF"/>
          </a:lnRef>
          <a:fillRef idx="0">
            <a:srgbClr val="0042FF"/>
          </a:fillRef>
          <a:effectRef idx="0">
            <a:srgbClr val="0042FF"/>
          </a:effectRef>
          <a:fontRef idx="minor">
            <a:srgbClr val="383838"/>
          </a:fontRef>
        </p:style>
      </p:cxnSp>
      <p:cxnSp>
        <p:nvCxnSpPr>
          <p:cNvPr id="226" name="直接连接符 225"/>
          <p:cNvCxnSpPr/>
          <p:nvPr/>
        </p:nvCxnSpPr>
        <p:spPr>
          <a:xfrm>
            <a:off x="7921477" y="3972138"/>
            <a:ext cx="2634009" cy="0"/>
          </a:xfrm>
          <a:prstGeom prst="line">
            <a:avLst/>
          </a:prstGeom>
          <a:ln w="12700">
            <a:solidFill>
              <a:srgbClr val="0042FF"/>
            </a:solidFill>
          </a:ln>
        </p:spPr>
        <p:style>
          <a:lnRef idx="1">
            <a:srgbClr val="0042FF"/>
          </a:lnRef>
          <a:fillRef idx="0">
            <a:srgbClr val="0042FF"/>
          </a:fillRef>
          <a:effectRef idx="0">
            <a:srgbClr val="0042FF"/>
          </a:effectRef>
          <a:fontRef idx="minor">
            <a:srgbClr val="383838"/>
          </a:fontRef>
        </p:style>
      </p:cxnSp>
      <p:cxnSp>
        <p:nvCxnSpPr>
          <p:cNvPr id="227" name="直接连接符 226"/>
          <p:cNvCxnSpPr/>
          <p:nvPr/>
        </p:nvCxnSpPr>
        <p:spPr>
          <a:xfrm>
            <a:off x="10555486" y="3923881"/>
            <a:ext cx="0" cy="105321"/>
          </a:xfrm>
          <a:prstGeom prst="line">
            <a:avLst/>
          </a:prstGeom>
          <a:ln w="12700">
            <a:solidFill>
              <a:srgbClr val="0042FF"/>
            </a:solidFill>
          </a:ln>
        </p:spPr>
        <p:style>
          <a:lnRef idx="1">
            <a:srgbClr val="0042FF"/>
          </a:lnRef>
          <a:fillRef idx="0">
            <a:srgbClr val="0042FF"/>
          </a:fillRef>
          <a:effectRef idx="0">
            <a:srgbClr val="0042FF"/>
          </a:effectRef>
          <a:fontRef idx="minor">
            <a:srgbClr val="383838"/>
          </a:fontRef>
        </p:style>
      </p:cxnSp>
      <p:grpSp>
        <p:nvGrpSpPr>
          <p:cNvPr id="228" name="组合 227"/>
          <p:cNvGrpSpPr/>
          <p:nvPr/>
        </p:nvGrpSpPr>
        <p:grpSpPr>
          <a:xfrm>
            <a:off x="8457862" y="1735410"/>
            <a:ext cx="2486930" cy="209260"/>
            <a:chOff x="8457862" y="1567770"/>
            <a:chExt cx="1406307" cy="209260"/>
          </a:xfrm>
          <a:solidFill>
            <a:srgbClr val="3368FF"/>
          </a:solidFill>
        </p:grpSpPr>
        <p:sp>
          <p:nvSpPr>
            <p:cNvPr id="229" name="矩形: 圆角 30"/>
            <p:cNvSpPr/>
            <p:nvPr/>
          </p:nvSpPr>
          <p:spPr>
            <a:xfrm>
              <a:off x="9434663" y="1567770"/>
              <a:ext cx="429506" cy="209260"/>
            </a:xfrm>
            <a:prstGeom prst="roundRect">
              <a:avLst>
                <a:gd name="adj" fmla="val 22804"/>
              </a:avLst>
            </a:prstGeom>
            <a:grp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合作方</a:t>
              </a:r>
              <a:endParaRPr lang="zh-CN" altLang="en-US" sz="1000" b="1" dirty="0">
                <a:solidFill>
                  <a:srgbClr val="FFFFFF"/>
                </a:solidFill>
                <a:latin typeface="微软雅黑"/>
                <a:ea typeface="微软雅黑"/>
                <a:cs typeface="微软雅黑"/>
                <a:sym typeface="微软雅黑"/>
              </a:endParaRPr>
            </a:p>
          </p:txBody>
        </p:sp>
        <p:sp>
          <p:nvSpPr>
            <p:cNvPr id="230" name="矩形: 圆角 31"/>
            <p:cNvSpPr/>
            <p:nvPr/>
          </p:nvSpPr>
          <p:spPr>
            <a:xfrm>
              <a:off x="8946262" y="1567770"/>
              <a:ext cx="429506" cy="209260"/>
            </a:xfrm>
            <a:prstGeom prst="roundRect">
              <a:avLst>
                <a:gd name="adj" fmla="val 22804"/>
              </a:avLst>
            </a:prstGeom>
            <a:grp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设备</a:t>
              </a:r>
              <a:endParaRPr lang="zh-CN" altLang="en-US" sz="1000" b="1" dirty="0">
                <a:solidFill>
                  <a:srgbClr val="FFFFFF"/>
                </a:solidFill>
                <a:latin typeface="微软雅黑"/>
                <a:ea typeface="微软雅黑"/>
                <a:cs typeface="微软雅黑"/>
                <a:sym typeface="微软雅黑"/>
              </a:endParaRPr>
            </a:p>
          </p:txBody>
        </p:sp>
        <p:sp>
          <p:nvSpPr>
            <p:cNvPr id="231" name="矩形: 圆角 32"/>
            <p:cNvSpPr/>
            <p:nvPr/>
          </p:nvSpPr>
          <p:spPr>
            <a:xfrm>
              <a:off x="8457862" y="1567770"/>
              <a:ext cx="429506" cy="209260"/>
            </a:xfrm>
            <a:prstGeom prst="roundRect">
              <a:avLst>
                <a:gd name="adj" fmla="val 22804"/>
              </a:avLst>
            </a:prstGeom>
            <a:grp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sym typeface="微软雅黑"/>
                </a:rPr>
                <a:t>物料</a:t>
              </a:r>
              <a:endParaRPr lang="zh-CN" altLang="en-US" sz="1000" b="1" dirty="0">
                <a:solidFill>
                  <a:srgbClr val="FFFFFF"/>
                </a:solidFill>
                <a:latin typeface="微软雅黑"/>
                <a:ea typeface="微软雅黑"/>
                <a:cs typeface="微软雅黑"/>
                <a:sym typeface="微软雅黑"/>
              </a:endParaRPr>
            </a:p>
          </p:txBody>
        </p:sp>
      </p:grpSp>
      <p:cxnSp>
        <p:nvCxnSpPr>
          <p:cNvPr id="232" name="直接连接符 231"/>
          <p:cNvCxnSpPr/>
          <p:nvPr/>
        </p:nvCxnSpPr>
        <p:spPr>
          <a:xfrm>
            <a:off x="1572546" y="3380919"/>
            <a:ext cx="4176971" cy="0"/>
          </a:xfrm>
          <a:prstGeom prst="line">
            <a:avLst/>
          </a:prstGeom>
          <a:ln w="12700">
            <a:solidFill>
              <a:srgbClr val="0042FF"/>
            </a:solidFill>
            <a:headEnd type="none"/>
          </a:ln>
        </p:spPr>
        <p:style>
          <a:lnRef idx="1">
            <a:srgbClr val="0042FF"/>
          </a:lnRef>
          <a:fillRef idx="0">
            <a:srgbClr val="0042FF"/>
          </a:fillRef>
          <a:effectRef idx="0">
            <a:srgbClr val="0042FF"/>
          </a:effectRef>
          <a:fontRef idx="minor">
            <a:srgbClr val="383838"/>
          </a:fontRef>
        </p:style>
      </p:cxnSp>
      <p:cxnSp>
        <p:nvCxnSpPr>
          <p:cNvPr id="233" name="直接连接符 232"/>
          <p:cNvCxnSpPr/>
          <p:nvPr/>
        </p:nvCxnSpPr>
        <p:spPr>
          <a:xfrm flipV="1">
            <a:off x="1572546" y="3380919"/>
            <a:ext cx="0" cy="240739"/>
          </a:xfrm>
          <a:prstGeom prst="line">
            <a:avLst/>
          </a:prstGeom>
          <a:ln w="12700">
            <a:solidFill>
              <a:srgbClr val="0042FF"/>
            </a:solidFill>
            <a:headEnd type="triangle"/>
          </a:ln>
        </p:spPr>
        <p:style>
          <a:lnRef idx="1">
            <a:srgbClr val="0042FF"/>
          </a:lnRef>
          <a:fillRef idx="0">
            <a:srgbClr val="0042FF"/>
          </a:fillRef>
          <a:effectRef idx="0">
            <a:srgbClr val="0042FF"/>
          </a:effectRef>
          <a:fontRef idx="minor">
            <a:srgbClr val="383838"/>
          </a:fontRef>
        </p:style>
      </p:cxnSp>
      <p:cxnSp>
        <p:nvCxnSpPr>
          <p:cNvPr id="234" name="直接连接符 233"/>
          <p:cNvCxnSpPr/>
          <p:nvPr/>
        </p:nvCxnSpPr>
        <p:spPr>
          <a:xfrm flipV="1">
            <a:off x="1572546" y="4500177"/>
            <a:ext cx="0" cy="240739"/>
          </a:xfrm>
          <a:prstGeom prst="line">
            <a:avLst/>
          </a:prstGeom>
          <a:ln w="12700">
            <a:solidFill>
              <a:srgbClr val="0042FF"/>
            </a:solidFill>
            <a:headEnd type="none"/>
          </a:ln>
        </p:spPr>
        <p:style>
          <a:lnRef idx="1">
            <a:srgbClr val="0042FF"/>
          </a:lnRef>
          <a:fillRef idx="0">
            <a:srgbClr val="0042FF"/>
          </a:fillRef>
          <a:effectRef idx="0">
            <a:srgbClr val="0042FF"/>
          </a:effectRef>
          <a:fontRef idx="minor">
            <a:srgbClr val="383838"/>
          </a:fontRef>
        </p:style>
      </p:cxnSp>
      <p:cxnSp>
        <p:nvCxnSpPr>
          <p:cNvPr id="235" name="直接连接符 234"/>
          <p:cNvCxnSpPr/>
          <p:nvPr/>
        </p:nvCxnSpPr>
        <p:spPr>
          <a:xfrm flipH="1">
            <a:off x="6642477" y="4740916"/>
            <a:ext cx="4195892" cy="0"/>
          </a:xfrm>
          <a:prstGeom prst="line">
            <a:avLst/>
          </a:prstGeom>
          <a:ln w="12700">
            <a:solidFill>
              <a:srgbClr val="0042FF"/>
            </a:solidFill>
            <a:headEnd type="none"/>
          </a:ln>
        </p:spPr>
        <p:style>
          <a:lnRef idx="1">
            <a:srgbClr val="0042FF"/>
          </a:lnRef>
          <a:fillRef idx="0">
            <a:srgbClr val="0042FF"/>
          </a:fillRef>
          <a:effectRef idx="0">
            <a:srgbClr val="0042FF"/>
          </a:effectRef>
          <a:fontRef idx="minor">
            <a:srgbClr val="383838"/>
          </a:fontRef>
        </p:style>
      </p:cxnSp>
      <p:cxnSp>
        <p:nvCxnSpPr>
          <p:cNvPr id="236" name="直接连接符 235"/>
          <p:cNvCxnSpPr/>
          <p:nvPr/>
        </p:nvCxnSpPr>
        <p:spPr>
          <a:xfrm>
            <a:off x="10821153" y="4500177"/>
            <a:ext cx="0" cy="240739"/>
          </a:xfrm>
          <a:prstGeom prst="line">
            <a:avLst/>
          </a:prstGeom>
          <a:ln w="12700">
            <a:solidFill>
              <a:srgbClr val="0042FF"/>
            </a:solidFill>
            <a:headEnd type="triangle"/>
          </a:ln>
        </p:spPr>
        <p:style>
          <a:lnRef idx="1">
            <a:srgbClr val="0042FF"/>
          </a:lnRef>
          <a:fillRef idx="0">
            <a:srgbClr val="0042FF"/>
          </a:fillRef>
          <a:effectRef idx="0">
            <a:srgbClr val="0042FF"/>
          </a:effectRef>
          <a:fontRef idx="minor">
            <a:srgbClr val="383838"/>
          </a:fontRef>
        </p:style>
      </p:cxnSp>
      <p:cxnSp>
        <p:nvCxnSpPr>
          <p:cNvPr id="237" name="直接连接符 236"/>
          <p:cNvCxnSpPr/>
          <p:nvPr/>
        </p:nvCxnSpPr>
        <p:spPr>
          <a:xfrm>
            <a:off x="10821153" y="3380919"/>
            <a:ext cx="0" cy="240739"/>
          </a:xfrm>
          <a:prstGeom prst="line">
            <a:avLst/>
          </a:prstGeom>
          <a:ln w="12700">
            <a:solidFill>
              <a:srgbClr val="0042FF"/>
            </a:solidFill>
            <a:headEnd type="none"/>
          </a:ln>
        </p:spPr>
        <p:style>
          <a:lnRef idx="1">
            <a:srgbClr val="0042FF"/>
          </a:lnRef>
          <a:fillRef idx="0">
            <a:srgbClr val="0042FF"/>
          </a:fillRef>
          <a:effectRef idx="0">
            <a:srgbClr val="0042FF"/>
          </a:effectRef>
          <a:fontRef idx="minor">
            <a:srgbClr val="383838"/>
          </a:fontRef>
        </p:style>
      </p:cxnSp>
      <p:sp>
        <p:nvSpPr>
          <p:cNvPr id="238" name="文本框 237"/>
          <p:cNvSpPr txBox="1"/>
          <p:nvPr/>
        </p:nvSpPr>
        <p:spPr>
          <a:xfrm>
            <a:off x="2319020" y="3876040"/>
            <a:ext cx="646430" cy="171450"/>
          </a:xfrm>
          <a:prstGeom prst="rect">
            <a:avLst/>
          </a:prstGeom>
          <a:solidFill>
            <a:srgbClr val="FFFFFF"/>
          </a:solidFill>
        </p:spPr>
        <p:txBody>
          <a:bodyPr wrap="square" rtlCol="0" anchor="ctr" anchorCtr="0" lIns="0" rIns="0" tIns="0" bIns="0">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数字前策</a:t>
            </a:r>
            <a:endParaRPr lang="zh-CN" altLang="en-US" sz="1000" kern="0">
              <a:solidFill>
                <a:srgbClr val="0042FF"/>
              </a:solidFill>
              <a:latin typeface="微软雅黑"/>
              <a:ea typeface="微软雅黑"/>
              <a:cs typeface="微软雅黑"/>
            </a:endParaRPr>
          </a:p>
        </p:txBody>
      </p:sp>
      <p:sp>
        <p:nvSpPr>
          <p:cNvPr id="2" name="文本框 1"/>
          <p:cNvSpPr txBox="1"/>
          <p:nvPr/>
        </p:nvSpPr>
        <p:spPr>
          <a:xfrm>
            <a:off x="4822825" y="3887470"/>
            <a:ext cx="646430" cy="171450"/>
          </a:xfrm>
          <a:prstGeom prst="rect">
            <a:avLst/>
          </a:prstGeom>
          <a:solidFill>
            <a:srgbClr val="FFFFFF"/>
          </a:solidFill>
        </p:spPr>
        <p:txBody>
          <a:bodyPr wrap="square" rtlCol="0" anchor="ctr" anchorCtr="0" lIns="0" rIns="0" tIns="0" bIns="0">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数字前策</a:t>
            </a:r>
            <a:endParaRPr lang="zh-CN" altLang="en-US" sz="1000" kern="0">
              <a:solidFill>
                <a:srgbClr val="0042FF"/>
              </a:solidFill>
              <a:latin typeface="微软雅黑"/>
              <a:ea typeface="微软雅黑"/>
              <a:cs typeface="微软雅黑"/>
            </a:endParaRPr>
          </a:p>
        </p:txBody>
      </p:sp>
      <p:sp>
        <p:nvSpPr>
          <p:cNvPr id="3" name="文本框 2"/>
          <p:cNvSpPr txBox="1"/>
          <p:nvPr/>
        </p:nvSpPr>
        <p:spPr>
          <a:xfrm>
            <a:off x="9468485" y="3887470"/>
            <a:ext cx="646430" cy="171450"/>
          </a:xfrm>
          <a:prstGeom prst="rect">
            <a:avLst/>
          </a:prstGeom>
          <a:solidFill>
            <a:srgbClr val="FFFFFF"/>
          </a:solidFill>
        </p:spPr>
        <p:txBody>
          <a:bodyPr wrap="square" rtlCol="0" anchor="ctr" anchorCtr="0" lIns="0" rIns="0" tIns="0" bIns="0">
            <a:noAutofit/>
          </a:bodyPr>
          <a:lstStyle/>
          <a:p>
            <a:pPr algn="ctr">
              <a:lnSpc>
                <a:spcPts val="1120"/>
              </a:lnSpc>
              <a:defRPr>
                <a:latin typeface="微软雅黑"/>
                <a:ea typeface="微软雅黑"/>
                <a:cs typeface="微软雅黑"/>
              </a:defRPr>
              <a:spcBef>
                <a:spcPts val="0"/>
              </a:spcBef>
              <a:spcAft>
                <a:spcPts val="0"/>
              </a:spcAft>
            </a:pPr>
            <a:r>
              <a:rPr lang="zh-CN" altLang="en-US" sz="1000" kern="0">
                <a:solidFill>
                  <a:srgbClr val="0042FF"/>
                </a:solidFill>
                <a:latin typeface="微软雅黑"/>
                <a:ea typeface="微软雅黑"/>
                <a:cs typeface="微软雅黑"/>
              </a:rPr>
              <a:t>数字前策</a:t>
            </a:r>
            <a:endParaRPr lang="zh-CN" altLang="en-US" sz="1000" kern="0">
              <a:solidFill>
                <a:srgbClr val="0042FF"/>
              </a:solidFill>
              <a:latin typeface="微软雅黑"/>
              <a:ea typeface="微软雅黑"/>
              <a:cs typeface="微软雅黑"/>
            </a:endParaRPr>
          </a:p>
        </p:txBody>
      </p:sp>
      <p:grpSp>
        <p:nvGrpSpPr>
          <p:cNvPr id="7" name="组合 6"/>
          <p:cNvGrpSpPr/>
          <p:nvPr/>
        </p:nvGrpSpPr>
        <p:grpSpPr>
          <a:xfrm>
            <a:off x="7675245" y="347980"/>
            <a:ext cx="4588510" cy="367030"/>
            <a:chOff x="12087" y="-1089"/>
            <a:chExt cx="7226" cy="578"/>
          </a:xfrm>
        </p:grpSpPr>
        <p:pic>
          <p:nvPicPr>
            <p:cNvPr id="4" name="图片 3"/>
            <p:cNvPicPr>
              <a:picLocks noChangeAspect="1"/>
            </p:cNvPicPr>
            <p:nvPr userDrawn="1"/>
          </p:nvPicPr>
          <p:blipFill>
            <a:blip r:embed="rId16"/>
            <a:srcRect r="57320" b="-13333"/>
            <a:stretch>
              <a:fillRect/>
            </a:stretch>
          </p:blipFill>
          <p:spPr>
            <a:xfrm>
              <a:off x="12087" y="-1089"/>
              <a:ext cx="2548" cy="578"/>
            </a:xfrm>
            <a:prstGeom prst="rect">
              <a:avLst/>
            </a:prstGeom>
          </p:spPr>
        </p:pic>
        <p:sp>
          <p:nvSpPr>
            <p:cNvPr id="6" name="文本框 5"/>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显眼包PPT15"/>
          <p:cNvSpPr/>
          <p:nvPr/>
        </p:nvSpPr>
        <p:spPr>
          <a:xfrm>
            <a:off x="2985135" y="1966595"/>
            <a:ext cx="6299835" cy="570865"/>
          </a:xfrm>
          <a:prstGeom prst="rect">
            <a:avLst/>
          </a:prstGeom>
          <a:gradFill>
            <a:gsLst>
              <a:gs pos="100000">
                <a:srgbClr val="B3D4FE"/>
              </a:gs>
              <a:gs pos="0">
                <a:srgbClr val="3368FF"/>
              </a:gs>
            </a:gsLst>
            <a:lin ang="108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 name="显眼包PPT15"/>
          <p:cNvSpPr/>
          <p:nvPr/>
        </p:nvSpPr>
        <p:spPr>
          <a:xfrm>
            <a:off x="9484995" y="1966595"/>
            <a:ext cx="2407920" cy="570865"/>
          </a:xfrm>
          <a:prstGeom prst="rect">
            <a:avLst/>
          </a:prstGeom>
          <a:gradFill>
            <a:gsLst>
              <a:gs pos="100000">
                <a:srgbClr val="3368FF"/>
              </a:gs>
              <a:gs pos="0">
                <a:srgbClr val="0042FF"/>
              </a:gs>
            </a:gsLst>
            <a:lin ang="108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2" name="显眼包PPT15"/>
          <p:cNvSpPr/>
          <p:nvPr/>
        </p:nvSpPr>
        <p:spPr>
          <a:xfrm>
            <a:off x="387985" y="1966595"/>
            <a:ext cx="2486660" cy="570865"/>
          </a:xfrm>
          <a:prstGeom prst="rect">
            <a:avLst/>
          </a:prstGeom>
          <a:gradFill>
            <a:gsLst>
              <a:gs pos="100000">
                <a:srgbClr val="3368FF"/>
              </a:gs>
              <a:gs pos="0">
                <a:srgbClr val="0042FF"/>
              </a:gs>
            </a:gsLst>
            <a:lin ang="108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sym typeface="微软雅黑"/>
              </a:rPr>
              <a:t>数智化运营平台架构屋</a:t>
            </a:r>
            <a:endParaRPr lang="zh-CN" altLang="en-US" sz="2500">
              <a:solidFill>
                <a:srgbClr val="383838"/>
              </a:solidFill>
              <a:effectLst/>
              <a:latin typeface="微软雅黑"/>
              <a:ea typeface="微软雅黑"/>
              <a:cs typeface="微软雅黑"/>
              <a:sym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0" name="任意多边形: 形状 39"/>
          <p:cNvSpPr/>
          <p:nvPr/>
        </p:nvSpPr>
        <p:spPr>
          <a:xfrm>
            <a:off x="-902335" y="-601980"/>
            <a:ext cx="21590" cy="43815"/>
          </a:xfrm>
          <a:custGeom>
            <a:avLst/>
            <a:gdLst>
              <a:gd name="connsiteX0" fmla="*/ 0 w 21855"/>
              <a:gd name="connsiteY0" fmla="*/ 0 h 43711"/>
              <a:gd name="connsiteX1" fmla="*/ 0 w 21855"/>
              <a:gd name="connsiteY1" fmla="*/ 43712 h 43711"/>
              <a:gd name="connsiteX2" fmla="*/ 21856 w 21855"/>
              <a:gd name="connsiteY2" fmla="*/ 21856 h 43711"/>
              <a:gd name="connsiteX3" fmla="*/ 0 w 21855"/>
              <a:gd name="connsiteY3" fmla="*/ 0 h 43711"/>
            </a:gdLst>
            <a:ahLst/>
            <a:cxnLst>
              <a:cxn ang="0">
                <a:pos x="connsiteX0" y="connsiteY0"/>
              </a:cxn>
              <a:cxn ang="0">
                <a:pos x="connsiteX1" y="connsiteY1"/>
              </a:cxn>
              <a:cxn ang="0">
                <a:pos x="connsiteX2" y="connsiteY2"/>
              </a:cxn>
              <a:cxn ang="0">
                <a:pos x="connsiteX3" y="connsiteY3"/>
              </a:cxn>
            </a:cxnLst>
            <a:rect l="l" t="t" r="r" b="b"/>
            <a:pathLst>
              <a:path w="21855" h="43711">
                <a:moveTo>
                  <a:pt x="0" y="0"/>
                </a:moveTo>
                <a:lnTo>
                  <a:pt x="0" y="43712"/>
                </a:lnTo>
                <a:cubicBezTo>
                  <a:pt x="12071" y="43712"/>
                  <a:pt x="21856" y="33927"/>
                  <a:pt x="21856" y="21856"/>
                </a:cubicBezTo>
                <a:cubicBezTo>
                  <a:pt x="21856" y="9785"/>
                  <a:pt x="12071" y="0"/>
                  <a:pt x="0" y="0"/>
                </a:cubicBezTo>
                <a:close/>
              </a:path>
            </a:pathLst>
          </a:custGeom>
          <a:gradFill>
            <a:gsLst>
              <a:gs pos="100000">
                <a:srgbClr val="FFFFFF">
                  <a:alpha val="31000"/>
                </a:srgbClr>
              </a:gs>
              <a:gs pos="0">
                <a:srgbClr val="FFFFFF"/>
              </a:gs>
            </a:gsLst>
            <a:lin ang="5400000" scaled="1"/>
          </a:gradFill>
          <a:ln w="21717"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110" name="矩形: 圆角 78"/>
          <p:cNvSpPr/>
          <p:nvPr/>
        </p:nvSpPr>
        <p:spPr>
          <a:xfrm>
            <a:off x="9485189" y="2584272"/>
            <a:ext cx="2407445" cy="4105327"/>
          </a:xfrm>
          <a:prstGeom prst="roundRect">
            <a:avLst>
              <a:gd name="adj" fmla="val 0"/>
            </a:avLst>
          </a:prstGeom>
          <a:solidFill>
            <a:srgbClr val="E6E6E6">
              <a:alpha val="10000"/>
            </a:srgbClr>
          </a:solidFill>
          <a:ln w="12700">
            <a:solidFill>
              <a:srgbClr val="0042FF">
                <a:alpha val="70000"/>
              </a:srgbClr>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latin typeface="微软雅黑"/>
              <a:ea typeface="微软雅黑"/>
              <a:cs typeface="微软雅黑"/>
              <a:sym typeface="微软雅黑"/>
            </a:endParaRPr>
          </a:p>
        </p:txBody>
      </p:sp>
      <p:sp>
        <p:nvSpPr>
          <p:cNvPr id="111" name="矩形: 圆角 78"/>
          <p:cNvSpPr/>
          <p:nvPr/>
        </p:nvSpPr>
        <p:spPr>
          <a:xfrm>
            <a:off x="2994626" y="2578167"/>
            <a:ext cx="6260506" cy="4105327"/>
          </a:xfrm>
          <a:prstGeom prst="roundRect">
            <a:avLst>
              <a:gd name="adj" fmla="val 0"/>
            </a:avLst>
          </a:prstGeom>
          <a:solidFill>
            <a:srgbClr val="FFFFFF">
              <a:alpha val="10000"/>
            </a:srgbClr>
          </a:solidFill>
          <a:ln w="15875">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b="1" dirty="0">
              <a:latin typeface="微软雅黑"/>
              <a:ea typeface="微软雅黑"/>
              <a:cs typeface="微软雅黑"/>
            </a:endParaRPr>
          </a:p>
        </p:txBody>
      </p:sp>
      <p:sp>
        <p:nvSpPr>
          <p:cNvPr id="112" name="椭圆 111"/>
          <p:cNvSpPr/>
          <p:nvPr/>
        </p:nvSpPr>
        <p:spPr>
          <a:xfrm>
            <a:off x="5149613" y="3857045"/>
            <a:ext cx="1949533" cy="1949533"/>
          </a:xfrm>
          <a:prstGeom prst="ellipse">
            <a:avLst/>
          </a:prstGeom>
          <a:noFill/>
          <a:ln w="15875">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b="1" dirty="0">
              <a:latin typeface="微软雅黑"/>
              <a:ea typeface="微软雅黑"/>
              <a:cs typeface="微软雅黑"/>
            </a:endParaRPr>
          </a:p>
        </p:txBody>
      </p:sp>
      <p:sp>
        <p:nvSpPr>
          <p:cNvPr id="113" name="矩形: 圆角 78"/>
          <p:cNvSpPr/>
          <p:nvPr/>
        </p:nvSpPr>
        <p:spPr>
          <a:xfrm>
            <a:off x="387960" y="2584272"/>
            <a:ext cx="2407445" cy="4105327"/>
          </a:xfrm>
          <a:prstGeom prst="roundRect">
            <a:avLst>
              <a:gd name="adj" fmla="val 0"/>
            </a:avLst>
          </a:prstGeom>
          <a:solidFill>
            <a:srgbClr val="E6E6E6">
              <a:alpha val="10000"/>
            </a:srgbClr>
          </a:solidFill>
          <a:ln w="12700">
            <a:solidFill>
              <a:srgbClr val="0042FF">
                <a:alpha val="70000"/>
              </a:srgbClr>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b="1" dirty="0">
              <a:latin typeface="微软雅黑"/>
              <a:ea typeface="微软雅黑"/>
              <a:cs typeface="微软雅黑"/>
            </a:endParaRPr>
          </a:p>
        </p:txBody>
      </p:sp>
      <p:sp>
        <p:nvSpPr>
          <p:cNvPr id="114" name="三角形 2"/>
          <p:cNvSpPr/>
          <p:nvPr/>
        </p:nvSpPr>
        <p:spPr>
          <a:xfrm>
            <a:off x="387959" y="1010409"/>
            <a:ext cx="11491105" cy="909007"/>
          </a:xfrm>
          <a:prstGeom prst="triangle">
            <a:avLst/>
          </a:prstGeom>
          <a:gradFill flip="none" rotWithShape="1">
            <a:gsLst>
              <a:gs pos="20000">
                <a:srgbClr val="3368FF"/>
              </a:gs>
              <a:gs pos="100000">
                <a:srgbClr val="0042FF"/>
              </a:gs>
            </a:gsLst>
            <a:lin ang="0" scaled="1"/>
            <a:tileRect/>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00">
              <a:solidFill>
                <a:srgbClr val="383838"/>
              </a:solidFill>
              <a:latin typeface="微软雅黑"/>
              <a:ea typeface="微软雅黑"/>
              <a:cs typeface="微软雅黑"/>
              <a:sym typeface="微软雅黑"/>
            </a:endParaRPr>
          </a:p>
        </p:txBody>
      </p:sp>
      <p:sp>
        <p:nvSpPr>
          <p:cNvPr id="115" name="textbox 2040"/>
          <p:cNvSpPr/>
          <p:nvPr/>
        </p:nvSpPr>
        <p:spPr>
          <a:xfrm>
            <a:off x="3948822" y="1527808"/>
            <a:ext cx="4142837" cy="307340"/>
          </a:xfrm>
          <a:prstGeom prst="rect">
            <a:avLst/>
          </a:prstGeom>
        </p:spPr>
        <p:txBody>
          <a:bodyPr vert="horz" wrap="square" lIns="0" tIns="0" rIns="0" bIns="0">
            <a:spAutoFit/>
          </a:bodyPr>
          <a:lstStyle/>
          <a:p>
            <a:pPr algn="ctr" rtl="0" eaLnBrk="0">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数智化运营平台架构屋</a:t>
            </a:r>
            <a:endParaRPr lang="zh-CN" altLang="en-US" sz="2000" b="1" dirty="0">
              <a:solidFill>
                <a:srgbClr val="FFFFFF"/>
              </a:solidFill>
              <a:latin typeface="微软雅黑"/>
              <a:ea typeface="微软雅黑"/>
              <a:cs typeface="微软雅黑"/>
            </a:endParaRPr>
          </a:p>
        </p:txBody>
      </p:sp>
      <p:pic>
        <p:nvPicPr>
          <p:cNvPr id="116" name="图形 12" descr="盒子 纯色填充"/>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844401" y="1113954"/>
            <a:ext cx="351678" cy="351678"/>
          </a:xfrm>
          <a:prstGeom prst="rect">
            <a:avLst/>
          </a:prstGeom>
        </p:spPr>
      </p:pic>
      <p:cxnSp>
        <p:nvCxnSpPr>
          <p:cNvPr id="117" name="直接连接符 116"/>
          <p:cNvCxnSpPr/>
          <p:nvPr/>
        </p:nvCxnSpPr>
        <p:spPr>
          <a:xfrm>
            <a:off x="703743" y="2260590"/>
            <a:ext cx="1900518" cy="0"/>
          </a:xfrm>
          <a:prstGeom prst="line">
            <a:avLst/>
          </a:prstGeom>
          <a:ln w="12700">
            <a:solidFill>
              <a:srgbClr val="FFFFFF"/>
            </a:solidFill>
            <a:headEnd type="triangle" w="lg" len="lg"/>
            <a:tailEnd type="diamond" w="lg" len="lg"/>
          </a:ln>
        </p:spPr>
        <p:style>
          <a:lnRef idx="1">
            <a:srgbClr val="0042FF"/>
          </a:lnRef>
          <a:fillRef idx="0">
            <a:srgbClr val="0042FF"/>
          </a:fillRef>
          <a:effectRef idx="0">
            <a:srgbClr val="0042FF"/>
          </a:effectRef>
          <a:fontRef idx="minor">
            <a:srgbClr val="383838"/>
          </a:fontRef>
        </p:style>
      </p:cxnSp>
      <p:cxnSp>
        <p:nvCxnSpPr>
          <p:cNvPr id="118" name="直接连接符 117"/>
          <p:cNvCxnSpPr/>
          <p:nvPr/>
        </p:nvCxnSpPr>
        <p:spPr>
          <a:xfrm>
            <a:off x="3074894" y="2260590"/>
            <a:ext cx="1900518" cy="0"/>
          </a:xfrm>
          <a:prstGeom prst="line">
            <a:avLst/>
          </a:prstGeom>
          <a:ln w="12700">
            <a:solidFill>
              <a:srgbClr val="FFFFFF"/>
            </a:solidFill>
            <a:headEnd type="triangle" w="lg" len="lg"/>
            <a:tailEnd type="diamond" w="lg" len="lg"/>
          </a:ln>
        </p:spPr>
        <p:style>
          <a:lnRef idx="1">
            <a:srgbClr val="0042FF"/>
          </a:lnRef>
          <a:fillRef idx="0">
            <a:srgbClr val="0042FF"/>
          </a:fillRef>
          <a:effectRef idx="0">
            <a:srgbClr val="0042FF"/>
          </a:effectRef>
          <a:fontRef idx="minor">
            <a:srgbClr val="383838"/>
          </a:fontRef>
        </p:style>
      </p:cxnSp>
      <p:cxnSp>
        <p:nvCxnSpPr>
          <p:cNvPr id="119" name="直接连接符 118"/>
          <p:cNvCxnSpPr/>
          <p:nvPr/>
        </p:nvCxnSpPr>
        <p:spPr>
          <a:xfrm>
            <a:off x="5145741" y="2260590"/>
            <a:ext cx="1900518" cy="0"/>
          </a:xfrm>
          <a:prstGeom prst="line">
            <a:avLst/>
          </a:prstGeom>
          <a:ln w="12700">
            <a:solidFill>
              <a:srgbClr val="FFFFFF"/>
            </a:solidFill>
            <a:headEnd type="triangle" w="lg" len="lg"/>
            <a:tailEnd type="diamond" w="lg" len="lg"/>
          </a:ln>
        </p:spPr>
        <p:style>
          <a:lnRef idx="1">
            <a:srgbClr val="0042FF"/>
          </a:lnRef>
          <a:fillRef idx="0">
            <a:srgbClr val="0042FF"/>
          </a:fillRef>
          <a:effectRef idx="0">
            <a:srgbClr val="0042FF"/>
          </a:effectRef>
          <a:fontRef idx="minor">
            <a:srgbClr val="383838"/>
          </a:fontRef>
        </p:style>
      </p:cxnSp>
      <p:cxnSp>
        <p:nvCxnSpPr>
          <p:cNvPr id="120" name="直接连接符 119"/>
          <p:cNvCxnSpPr/>
          <p:nvPr/>
        </p:nvCxnSpPr>
        <p:spPr>
          <a:xfrm>
            <a:off x="7306235" y="2260590"/>
            <a:ext cx="1900518" cy="0"/>
          </a:xfrm>
          <a:prstGeom prst="line">
            <a:avLst/>
          </a:prstGeom>
          <a:ln w="12700">
            <a:solidFill>
              <a:srgbClr val="FFFFFF"/>
            </a:solidFill>
            <a:headEnd type="triangle" w="lg" len="lg"/>
            <a:tailEnd type="diamond" w="lg" len="lg"/>
          </a:ln>
        </p:spPr>
        <p:style>
          <a:lnRef idx="1">
            <a:srgbClr val="0042FF"/>
          </a:lnRef>
          <a:fillRef idx="0">
            <a:srgbClr val="0042FF"/>
          </a:fillRef>
          <a:effectRef idx="0">
            <a:srgbClr val="0042FF"/>
          </a:effectRef>
          <a:fontRef idx="minor">
            <a:srgbClr val="383838"/>
          </a:fontRef>
        </p:style>
      </p:cxnSp>
      <p:cxnSp>
        <p:nvCxnSpPr>
          <p:cNvPr id="121" name="直接连接符 120"/>
          <p:cNvCxnSpPr/>
          <p:nvPr/>
        </p:nvCxnSpPr>
        <p:spPr>
          <a:xfrm>
            <a:off x="9724555" y="2260590"/>
            <a:ext cx="1900518" cy="0"/>
          </a:xfrm>
          <a:prstGeom prst="line">
            <a:avLst/>
          </a:prstGeom>
          <a:ln w="12700">
            <a:solidFill>
              <a:srgbClr val="FFFFFF"/>
            </a:solidFill>
            <a:headEnd type="triangle" w="lg" len="lg"/>
            <a:tailEnd type="diamond" w="lg" len="lg"/>
          </a:ln>
        </p:spPr>
        <p:style>
          <a:lnRef idx="1">
            <a:srgbClr val="0042FF"/>
          </a:lnRef>
          <a:fillRef idx="0">
            <a:srgbClr val="0042FF"/>
          </a:fillRef>
          <a:effectRef idx="0">
            <a:srgbClr val="0042FF"/>
          </a:effectRef>
          <a:fontRef idx="minor">
            <a:srgbClr val="383838"/>
          </a:fontRef>
        </p:style>
      </p:cxnSp>
      <p:sp>
        <p:nvSpPr>
          <p:cNvPr id="122" name="箭头: 上 19"/>
          <p:cNvSpPr/>
          <p:nvPr/>
        </p:nvSpPr>
        <p:spPr>
          <a:xfrm>
            <a:off x="1573319" y="2708825"/>
            <a:ext cx="188259" cy="627528"/>
          </a:xfrm>
          <a:prstGeom prst="upArrow">
            <a:avLst/>
          </a:prstGeom>
          <a:gradFill flip="none" rotWithShape="1">
            <a:gsLst>
              <a:gs pos="0">
                <a:srgbClr val="0042FF"/>
              </a:gs>
              <a:gs pos="85000">
                <a:srgbClr val="383838">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123" name="箭头: 上 20"/>
          <p:cNvSpPr/>
          <p:nvPr/>
        </p:nvSpPr>
        <p:spPr>
          <a:xfrm>
            <a:off x="5916213" y="2708825"/>
            <a:ext cx="188259" cy="627528"/>
          </a:xfrm>
          <a:prstGeom prst="upArrow">
            <a:avLst/>
          </a:prstGeom>
          <a:gradFill flip="none" rotWithShape="1">
            <a:gsLst>
              <a:gs pos="0">
                <a:srgbClr val="3368FF"/>
              </a:gs>
              <a:gs pos="85000">
                <a:srgbClr val="3368FF">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endParaRPr>
          </a:p>
        </p:txBody>
      </p:sp>
      <p:sp>
        <p:nvSpPr>
          <p:cNvPr id="125" name="箭头: 上 21"/>
          <p:cNvSpPr/>
          <p:nvPr/>
        </p:nvSpPr>
        <p:spPr>
          <a:xfrm>
            <a:off x="10580684" y="2708825"/>
            <a:ext cx="188259" cy="627528"/>
          </a:xfrm>
          <a:prstGeom prst="upArrow">
            <a:avLst/>
          </a:prstGeom>
          <a:gradFill flip="none" rotWithShape="1">
            <a:gsLst>
              <a:gs pos="0">
                <a:srgbClr val="0042FF"/>
              </a:gs>
              <a:gs pos="85000">
                <a:srgbClr val="383838">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6" name="箭头: 上 22"/>
          <p:cNvSpPr/>
          <p:nvPr/>
        </p:nvSpPr>
        <p:spPr>
          <a:xfrm rot="10800000">
            <a:off x="6131859" y="2708825"/>
            <a:ext cx="188259" cy="627528"/>
          </a:xfrm>
          <a:prstGeom prst="upArrow">
            <a:avLst/>
          </a:prstGeom>
          <a:gradFill flip="none" rotWithShape="1">
            <a:gsLst>
              <a:gs pos="0">
                <a:srgbClr val="3368FF"/>
              </a:gs>
              <a:gs pos="85000">
                <a:srgbClr val="3368FF">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127" name="矩形: 圆角 23"/>
          <p:cNvSpPr/>
          <p:nvPr/>
        </p:nvSpPr>
        <p:spPr>
          <a:xfrm>
            <a:off x="3355311" y="2742836"/>
            <a:ext cx="1299883" cy="506729"/>
          </a:xfrm>
          <a:prstGeom prst="roundRect">
            <a:avLst>
              <a:gd name="adj" fmla="val 6893"/>
            </a:avLst>
          </a:prstGeom>
          <a:noFill/>
          <a:ln w="9525">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消费者</a:t>
            </a:r>
            <a:r>
              <a:rPr lang="en-US" altLang="zh-CN" sz="1200" b="1" dirty="0">
                <a:solidFill>
                  <a:srgbClr val="0042FF"/>
                </a:solidFill>
                <a:latin typeface="微软雅黑"/>
                <a:ea typeface="微软雅黑"/>
                <a:cs typeface="微软雅黑"/>
              </a:rPr>
              <a:t>/</a:t>
            </a:r>
            <a:r>
              <a:rPr lang="zh-CN" altLang="en-US" sz="1200" b="1" dirty="0">
                <a:solidFill>
                  <a:srgbClr val="0042FF"/>
                </a:solidFill>
                <a:latin typeface="微软雅黑"/>
                <a:ea typeface="微软雅黑"/>
                <a:cs typeface="微软雅黑"/>
              </a:rPr>
              <a:t>用户</a:t>
            </a:r>
            <a:endParaRPr lang="en-US" altLang="zh-CN" sz="12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为中心</a:t>
            </a:r>
            <a:endParaRPr lang="zh-CN" altLang="en-US" sz="1200" b="1" dirty="0">
              <a:solidFill>
                <a:srgbClr val="0042FF"/>
              </a:solidFill>
              <a:latin typeface="微软雅黑"/>
              <a:ea typeface="微软雅黑"/>
              <a:cs typeface="微软雅黑"/>
            </a:endParaRPr>
          </a:p>
        </p:txBody>
      </p:sp>
      <p:sp>
        <p:nvSpPr>
          <p:cNvPr id="128" name="矩形: 圆角 24"/>
          <p:cNvSpPr/>
          <p:nvPr/>
        </p:nvSpPr>
        <p:spPr>
          <a:xfrm>
            <a:off x="7606552" y="2748941"/>
            <a:ext cx="1299883" cy="506729"/>
          </a:xfrm>
          <a:prstGeom prst="roundRect">
            <a:avLst>
              <a:gd name="adj" fmla="val 6893"/>
            </a:avLst>
          </a:prstGeom>
          <a:noFill/>
          <a:ln w="9525">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贯穿品牌</a:t>
            </a:r>
            <a:endParaRPr lang="en-US" altLang="zh-CN" sz="12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全生命周期</a:t>
            </a:r>
            <a:endParaRPr lang="zh-CN" altLang="en-US" sz="1200" b="1" dirty="0">
              <a:solidFill>
                <a:srgbClr val="0042FF"/>
              </a:solidFill>
              <a:latin typeface="微软雅黑"/>
              <a:ea typeface="微软雅黑"/>
              <a:cs typeface="微软雅黑"/>
            </a:endParaRPr>
          </a:p>
        </p:txBody>
      </p:sp>
      <p:sp>
        <p:nvSpPr>
          <p:cNvPr id="129" name="文本框 128"/>
          <p:cNvSpPr txBox="1"/>
          <p:nvPr/>
        </p:nvSpPr>
        <p:spPr>
          <a:xfrm>
            <a:off x="1377614" y="1972161"/>
            <a:ext cx="646331"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孵化期</a:t>
            </a:r>
            <a:endParaRPr lang="zh-CN" altLang="en-US" sz="1200" b="1" dirty="0">
              <a:solidFill>
                <a:srgbClr val="FFFFFF"/>
              </a:solidFill>
              <a:latin typeface="微软雅黑"/>
              <a:ea typeface="微软雅黑"/>
              <a:cs typeface="微软雅黑"/>
            </a:endParaRPr>
          </a:p>
        </p:txBody>
      </p:sp>
      <p:sp>
        <p:nvSpPr>
          <p:cNvPr id="130" name="文本框 129"/>
          <p:cNvSpPr txBox="1"/>
          <p:nvPr/>
        </p:nvSpPr>
        <p:spPr>
          <a:xfrm>
            <a:off x="1300670" y="2260590"/>
            <a:ext cx="800219"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用户获取</a:t>
            </a:r>
            <a:endParaRPr lang="zh-CN" altLang="en-US" sz="1200" b="1" dirty="0">
              <a:solidFill>
                <a:srgbClr val="FFFFFF"/>
              </a:solidFill>
              <a:latin typeface="微软雅黑"/>
              <a:ea typeface="微软雅黑"/>
              <a:cs typeface="微软雅黑"/>
            </a:endParaRPr>
          </a:p>
        </p:txBody>
      </p:sp>
      <p:sp>
        <p:nvSpPr>
          <p:cNvPr id="131" name="文本框 130"/>
          <p:cNvSpPr txBox="1"/>
          <p:nvPr/>
        </p:nvSpPr>
        <p:spPr>
          <a:xfrm>
            <a:off x="3679914" y="1972161"/>
            <a:ext cx="646332"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初创期</a:t>
            </a:r>
            <a:endParaRPr lang="zh-CN" altLang="en-US" sz="1200" b="1" dirty="0">
              <a:solidFill>
                <a:srgbClr val="383838"/>
              </a:solidFill>
              <a:latin typeface="微软雅黑"/>
              <a:ea typeface="微软雅黑"/>
              <a:cs typeface="微软雅黑"/>
            </a:endParaRPr>
          </a:p>
        </p:txBody>
      </p:sp>
      <p:sp>
        <p:nvSpPr>
          <p:cNvPr id="132" name="文本框 131"/>
          <p:cNvSpPr txBox="1"/>
          <p:nvPr/>
        </p:nvSpPr>
        <p:spPr>
          <a:xfrm>
            <a:off x="3602971" y="2260590"/>
            <a:ext cx="800219"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用户激活</a:t>
            </a:r>
            <a:endParaRPr lang="zh-CN" altLang="en-US" sz="1200" b="1" dirty="0">
              <a:solidFill>
                <a:srgbClr val="383838"/>
              </a:solidFill>
              <a:latin typeface="微软雅黑"/>
              <a:ea typeface="微软雅黑"/>
              <a:cs typeface="微软雅黑"/>
            </a:endParaRPr>
          </a:p>
        </p:txBody>
      </p:sp>
      <p:sp>
        <p:nvSpPr>
          <p:cNvPr id="133" name="文本框 132"/>
          <p:cNvSpPr txBox="1"/>
          <p:nvPr/>
        </p:nvSpPr>
        <p:spPr>
          <a:xfrm>
            <a:off x="5795081" y="1972161"/>
            <a:ext cx="646332"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成长期</a:t>
            </a:r>
            <a:endParaRPr lang="zh-CN" altLang="en-US" sz="1200" b="1" dirty="0">
              <a:solidFill>
                <a:srgbClr val="383838"/>
              </a:solidFill>
              <a:latin typeface="微软雅黑"/>
              <a:ea typeface="微软雅黑"/>
              <a:cs typeface="微软雅黑"/>
            </a:endParaRPr>
          </a:p>
        </p:txBody>
      </p:sp>
      <p:sp>
        <p:nvSpPr>
          <p:cNvPr id="134" name="文本框 133"/>
          <p:cNvSpPr txBox="1"/>
          <p:nvPr/>
        </p:nvSpPr>
        <p:spPr>
          <a:xfrm>
            <a:off x="5718138" y="2260590"/>
            <a:ext cx="800219"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用户留存</a:t>
            </a:r>
            <a:endParaRPr lang="zh-CN" altLang="en-US" sz="1200" b="1" dirty="0">
              <a:solidFill>
                <a:srgbClr val="383838"/>
              </a:solidFill>
              <a:latin typeface="微软雅黑"/>
              <a:ea typeface="微软雅黑"/>
              <a:cs typeface="微软雅黑"/>
            </a:endParaRPr>
          </a:p>
        </p:txBody>
      </p:sp>
      <p:sp>
        <p:nvSpPr>
          <p:cNvPr id="135" name="文本框 134"/>
          <p:cNvSpPr txBox="1"/>
          <p:nvPr/>
        </p:nvSpPr>
        <p:spPr>
          <a:xfrm>
            <a:off x="7959785" y="1972161"/>
            <a:ext cx="646332"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成熟期</a:t>
            </a:r>
            <a:endParaRPr lang="zh-CN" altLang="en-US" sz="1200" b="1" dirty="0">
              <a:solidFill>
                <a:srgbClr val="FFFFFF"/>
              </a:solidFill>
              <a:latin typeface="微软雅黑"/>
              <a:ea typeface="微软雅黑"/>
              <a:cs typeface="微软雅黑"/>
            </a:endParaRPr>
          </a:p>
        </p:txBody>
      </p:sp>
      <p:sp>
        <p:nvSpPr>
          <p:cNvPr id="136" name="文本框 135"/>
          <p:cNvSpPr txBox="1"/>
          <p:nvPr/>
        </p:nvSpPr>
        <p:spPr>
          <a:xfrm>
            <a:off x="7882842" y="2260590"/>
            <a:ext cx="800219"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收益获取</a:t>
            </a:r>
            <a:endParaRPr lang="zh-CN" altLang="en-US" sz="1200" b="1" dirty="0">
              <a:solidFill>
                <a:srgbClr val="FFFFFF"/>
              </a:solidFill>
              <a:latin typeface="微软雅黑"/>
              <a:ea typeface="微软雅黑"/>
              <a:cs typeface="微软雅黑"/>
            </a:endParaRPr>
          </a:p>
        </p:txBody>
      </p:sp>
      <p:sp>
        <p:nvSpPr>
          <p:cNvPr id="137" name="文本框 136"/>
          <p:cNvSpPr txBox="1"/>
          <p:nvPr/>
        </p:nvSpPr>
        <p:spPr>
          <a:xfrm>
            <a:off x="10313175" y="1972161"/>
            <a:ext cx="646332"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衰退期</a:t>
            </a:r>
            <a:endParaRPr lang="zh-CN" altLang="en-US" sz="1200" b="1" dirty="0">
              <a:solidFill>
                <a:srgbClr val="FFFFFF"/>
              </a:solidFill>
              <a:latin typeface="微软雅黑"/>
              <a:ea typeface="微软雅黑"/>
              <a:cs typeface="微软雅黑"/>
            </a:endParaRPr>
          </a:p>
        </p:txBody>
      </p:sp>
      <p:sp>
        <p:nvSpPr>
          <p:cNvPr id="138" name="文本框 137"/>
          <p:cNvSpPr txBox="1"/>
          <p:nvPr/>
        </p:nvSpPr>
        <p:spPr>
          <a:xfrm>
            <a:off x="10236234" y="2260590"/>
            <a:ext cx="800219"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推荐传播</a:t>
            </a:r>
            <a:endParaRPr lang="zh-CN" altLang="en-US" sz="1200" b="1" dirty="0">
              <a:solidFill>
                <a:srgbClr val="FFFFFF"/>
              </a:solidFill>
              <a:latin typeface="微软雅黑"/>
              <a:ea typeface="微软雅黑"/>
              <a:cs typeface="微软雅黑"/>
            </a:endParaRPr>
          </a:p>
        </p:txBody>
      </p:sp>
      <p:sp>
        <p:nvSpPr>
          <p:cNvPr id="139" name="文本框 138"/>
          <p:cNvSpPr txBox="1"/>
          <p:nvPr/>
        </p:nvSpPr>
        <p:spPr>
          <a:xfrm>
            <a:off x="10735208" y="2902473"/>
            <a:ext cx="800219"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形象打造</a:t>
            </a:r>
            <a:endParaRPr lang="zh-CN" altLang="en-US" sz="1200" b="1" dirty="0">
              <a:solidFill>
                <a:srgbClr val="0042FF"/>
              </a:solidFill>
              <a:latin typeface="微软雅黑"/>
              <a:ea typeface="微软雅黑"/>
              <a:cs typeface="微软雅黑"/>
            </a:endParaRPr>
          </a:p>
        </p:txBody>
      </p:sp>
      <p:sp>
        <p:nvSpPr>
          <p:cNvPr id="140" name="文本框 139"/>
          <p:cNvSpPr txBox="1"/>
          <p:nvPr/>
        </p:nvSpPr>
        <p:spPr>
          <a:xfrm>
            <a:off x="9802879" y="2902473"/>
            <a:ext cx="800219"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品牌认知</a:t>
            </a:r>
            <a:endParaRPr lang="zh-CN" altLang="en-US" sz="1200" b="1" dirty="0">
              <a:solidFill>
                <a:srgbClr val="0042FF"/>
              </a:solidFill>
              <a:latin typeface="微软雅黑"/>
              <a:ea typeface="微软雅黑"/>
              <a:cs typeface="微软雅黑"/>
            </a:endParaRPr>
          </a:p>
        </p:txBody>
      </p:sp>
      <p:sp>
        <p:nvSpPr>
          <p:cNvPr id="141" name="文本框 140"/>
          <p:cNvSpPr txBox="1"/>
          <p:nvPr/>
        </p:nvSpPr>
        <p:spPr>
          <a:xfrm>
            <a:off x="10132585" y="3427286"/>
            <a:ext cx="646331"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品牌力</a:t>
            </a:r>
            <a:endParaRPr lang="zh-CN" altLang="en-US" sz="1200" b="1" dirty="0">
              <a:solidFill>
                <a:srgbClr val="0042FF"/>
              </a:solidFill>
              <a:latin typeface="微软雅黑"/>
              <a:ea typeface="微软雅黑"/>
              <a:cs typeface="微软雅黑"/>
            </a:endParaRPr>
          </a:p>
        </p:txBody>
      </p:sp>
      <p:sp>
        <p:nvSpPr>
          <p:cNvPr id="142" name="文本框 141"/>
          <p:cNvSpPr txBox="1"/>
          <p:nvPr/>
        </p:nvSpPr>
        <p:spPr>
          <a:xfrm>
            <a:off x="9846274" y="3596359"/>
            <a:ext cx="1717137" cy="691087"/>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品牌定位：定义品牌价值占位</a:t>
            </a:r>
            <a:endParaRPr lang="en-US" altLang="zh-CN"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人群洞察：挖掘目标</a:t>
            </a:r>
            <a:r>
              <a:rPr lang="en-US" altLang="zh-CN" sz="1000" dirty="0">
                <a:solidFill>
                  <a:srgbClr val="383838"/>
                </a:solidFill>
                <a:latin typeface="微软雅黑"/>
                <a:ea typeface="微软雅黑"/>
                <a:cs typeface="微软雅黑"/>
              </a:rPr>
              <a:t>TA</a:t>
            </a:r>
            <a:r>
              <a:rPr lang="zh-CN" altLang="en-US" sz="1000" dirty="0">
                <a:solidFill>
                  <a:srgbClr val="383838"/>
                </a:solidFill>
                <a:latin typeface="微软雅黑"/>
                <a:ea typeface="微软雅黑"/>
                <a:cs typeface="微软雅黑"/>
              </a:rPr>
              <a:t>的属性</a:t>
            </a:r>
            <a:endParaRPr lang="en-US" altLang="zh-CN"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营销策略：制定品牌推广策略</a:t>
            </a:r>
            <a:endParaRPr lang="zh-CN" altLang="en-US" sz="1000" dirty="0">
              <a:solidFill>
                <a:srgbClr val="383838"/>
              </a:solidFill>
              <a:latin typeface="微软雅黑"/>
              <a:ea typeface="微软雅黑"/>
              <a:cs typeface="微软雅黑"/>
            </a:endParaRPr>
          </a:p>
        </p:txBody>
      </p:sp>
      <p:sp>
        <p:nvSpPr>
          <p:cNvPr id="143" name="文本框 142"/>
          <p:cNvSpPr txBox="1"/>
          <p:nvPr/>
        </p:nvSpPr>
        <p:spPr>
          <a:xfrm>
            <a:off x="10132584" y="4521429"/>
            <a:ext cx="646332"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内容力</a:t>
            </a:r>
            <a:endParaRPr lang="zh-CN" altLang="en-US" sz="1200" b="1" dirty="0">
              <a:solidFill>
                <a:srgbClr val="0042FF"/>
              </a:solidFill>
              <a:latin typeface="微软雅黑"/>
              <a:ea typeface="微软雅黑"/>
              <a:cs typeface="微软雅黑"/>
            </a:endParaRPr>
          </a:p>
        </p:txBody>
      </p:sp>
      <p:sp>
        <p:nvSpPr>
          <p:cNvPr id="144" name="文本框 143"/>
          <p:cNvSpPr txBox="1"/>
          <p:nvPr/>
        </p:nvSpPr>
        <p:spPr>
          <a:xfrm>
            <a:off x="9846274" y="4704333"/>
            <a:ext cx="1734770" cy="691087"/>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内容孵化：原创</a:t>
            </a:r>
            <a:r>
              <a:rPr lang="en-US" altLang="zh-CN" sz="1000" dirty="0">
                <a:solidFill>
                  <a:srgbClr val="383838"/>
                </a:solidFill>
                <a:latin typeface="微软雅黑"/>
                <a:ea typeface="微软雅黑"/>
                <a:cs typeface="微软雅黑"/>
              </a:rPr>
              <a:t>IP</a:t>
            </a:r>
            <a:r>
              <a:rPr lang="zh-CN" altLang="en-US" sz="1000" dirty="0">
                <a:solidFill>
                  <a:srgbClr val="383838"/>
                </a:solidFill>
                <a:latin typeface="微软雅黑"/>
                <a:ea typeface="微软雅黑"/>
                <a:cs typeface="微软雅黑"/>
              </a:rPr>
              <a:t>孵化</a:t>
            </a:r>
            <a:endParaRPr lang="en-US" altLang="zh-CN"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内容共创：图文种草</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视频带货</a:t>
            </a:r>
            <a:endParaRPr lang="en-US" altLang="zh-CN"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媒介采买：媒介策略</a:t>
            </a:r>
            <a:r>
              <a:rPr lang="en-US" altLang="zh-CN" sz="1000" dirty="0">
                <a:solidFill>
                  <a:srgbClr val="383838"/>
                </a:solidFill>
                <a:latin typeface="微软雅黑"/>
                <a:ea typeface="微软雅黑"/>
                <a:cs typeface="微软雅黑"/>
              </a:rPr>
              <a:t>/KOL</a:t>
            </a:r>
            <a:r>
              <a:rPr lang="zh-CN" altLang="en-US" sz="1000" dirty="0">
                <a:solidFill>
                  <a:srgbClr val="383838"/>
                </a:solidFill>
                <a:latin typeface="微软雅黑"/>
                <a:ea typeface="微软雅黑"/>
                <a:cs typeface="微软雅黑"/>
              </a:rPr>
              <a:t>采买</a:t>
            </a:r>
            <a:endParaRPr lang="zh-CN" altLang="en-US" sz="1000" dirty="0">
              <a:solidFill>
                <a:srgbClr val="383838"/>
              </a:solidFill>
              <a:latin typeface="微软雅黑"/>
              <a:ea typeface="微软雅黑"/>
              <a:cs typeface="微软雅黑"/>
            </a:endParaRPr>
          </a:p>
        </p:txBody>
      </p:sp>
      <p:sp>
        <p:nvSpPr>
          <p:cNvPr id="145" name="文本框 144"/>
          <p:cNvSpPr txBox="1"/>
          <p:nvPr/>
        </p:nvSpPr>
        <p:spPr>
          <a:xfrm>
            <a:off x="10132584" y="5528850"/>
            <a:ext cx="646332"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运营力</a:t>
            </a:r>
            <a:endParaRPr lang="zh-CN" altLang="en-US" sz="1200" b="1" dirty="0">
              <a:solidFill>
                <a:srgbClr val="0042FF"/>
              </a:solidFill>
              <a:latin typeface="微软雅黑"/>
              <a:ea typeface="微软雅黑"/>
              <a:cs typeface="微软雅黑"/>
            </a:endParaRPr>
          </a:p>
        </p:txBody>
      </p:sp>
      <p:sp>
        <p:nvSpPr>
          <p:cNvPr id="146" name="文本框 145"/>
          <p:cNvSpPr txBox="1"/>
          <p:nvPr/>
        </p:nvSpPr>
        <p:spPr>
          <a:xfrm>
            <a:off x="9846274" y="5738331"/>
            <a:ext cx="1734770" cy="483337"/>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运营：自媒体代运营</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直播运营</a:t>
            </a:r>
            <a:endParaRPr lang="en-US" altLang="zh-CN"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数据：数据分析</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数据运维</a:t>
            </a:r>
            <a:endParaRPr lang="zh-CN" altLang="en-US" sz="1000" dirty="0">
              <a:solidFill>
                <a:srgbClr val="383838"/>
              </a:solidFill>
              <a:latin typeface="微软雅黑"/>
              <a:ea typeface="微软雅黑"/>
              <a:cs typeface="微软雅黑"/>
            </a:endParaRPr>
          </a:p>
        </p:txBody>
      </p:sp>
      <p:sp>
        <p:nvSpPr>
          <p:cNvPr id="147" name="文本框 146"/>
          <p:cNvSpPr txBox="1"/>
          <p:nvPr/>
        </p:nvSpPr>
        <p:spPr>
          <a:xfrm>
            <a:off x="9981025" y="6261361"/>
            <a:ext cx="1415773"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内容运营解决方案</a:t>
            </a:r>
            <a:endParaRPr lang="zh-CN" altLang="en-US" sz="1200" b="1" dirty="0">
              <a:solidFill>
                <a:srgbClr val="0042FF"/>
              </a:solidFill>
              <a:latin typeface="微软雅黑"/>
              <a:ea typeface="微软雅黑"/>
              <a:cs typeface="微软雅黑"/>
            </a:endParaRPr>
          </a:p>
        </p:txBody>
      </p:sp>
      <p:sp>
        <p:nvSpPr>
          <p:cNvPr id="149" name="文本框 148"/>
          <p:cNvSpPr txBox="1"/>
          <p:nvPr/>
        </p:nvSpPr>
        <p:spPr>
          <a:xfrm>
            <a:off x="1731545" y="2902473"/>
            <a:ext cx="800219"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转化成交</a:t>
            </a:r>
            <a:endParaRPr lang="zh-CN" altLang="en-US" sz="1200" b="1" dirty="0">
              <a:solidFill>
                <a:srgbClr val="0042FF"/>
              </a:solidFill>
              <a:latin typeface="微软雅黑"/>
              <a:ea typeface="微软雅黑"/>
              <a:cs typeface="微软雅黑"/>
            </a:endParaRPr>
          </a:p>
        </p:txBody>
      </p:sp>
      <p:sp>
        <p:nvSpPr>
          <p:cNvPr id="150" name="文本框 149"/>
          <p:cNvSpPr txBox="1"/>
          <p:nvPr/>
        </p:nvSpPr>
        <p:spPr>
          <a:xfrm>
            <a:off x="799216" y="2902473"/>
            <a:ext cx="800219"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引流获客</a:t>
            </a:r>
            <a:endParaRPr lang="zh-CN" altLang="en-US" sz="1200" b="1" dirty="0">
              <a:solidFill>
                <a:srgbClr val="0042FF"/>
              </a:solidFill>
              <a:latin typeface="微软雅黑"/>
              <a:ea typeface="微软雅黑"/>
              <a:cs typeface="微软雅黑"/>
            </a:endParaRPr>
          </a:p>
        </p:txBody>
      </p:sp>
      <p:sp>
        <p:nvSpPr>
          <p:cNvPr id="151" name="文本框 150"/>
          <p:cNvSpPr txBox="1"/>
          <p:nvPr/>
        </p:nvSpPr>
        <p:spPr>
          <a:xfrm>
            <a:off x="1483798" y="3682854"/>
            <a:ext cx="800219" cy="276999"/>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腾讯广告</a:t>
            </a:r>
            <a:endParaRPr lang="zh-CN" altLang="en-US" sz="1200" dirty="0">
              <a:solidFill>
                <a:srgbClr val="383838"/>
              </a:solidFill>
              <a:latin typeface="微软雅黑"/>
              <a:ea typeface="微软雅黑"/>
              <a:cs typeface="微软雅黑"/>
            </a:endParaRPr>
          </a:p>
        </p:txBody>
      </p:sp>
      <p:sp>
        <p:nvSpPr>
          <p:cNvPr id="152" name="文本框 151"/>
          <p:cNvSpPr txBox="1"/>
          <p:nvPr/>
        </p:nvSpPr>
        <p:spPr>
          <a:xfrm>
            <a:off x="1490142" y="4209732"/>
            <a:ext cx="492444" cy="276999"/>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微博</a:t>
            </a:r>
            <a:endParaRPr lang="zh-CN" altLang="en-US" sz="1200" dirty="0">
              <a:solidFill>
                <a:srgbClr val="383838"/>
              </a:solidFill>
              <a:latin typeface="微软雅黑"/>
              <a:ea typeface="微软雅黑"/>
              <a:cs typeface="微软雅黑"/>
            </a:endParaRPr>
          </a:p>
        </p:txBody>
      </p:sp>
      <p:sp>
        <p:nvSpPr>
          <p:cNvPr id="153" name="文本框 152"/>
          <p:cNvSpPr txBox="1"/>
          <p:nvPr/>
        </p:nvSpPr>
        <p:spPr>
          <a:xfrm>
            <a:off x="1490142" y="4752136"/>
            <a:ext cx="492443" cy="276999"/>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抖音</a:t>
            </a:r>
            <a:endParaRPr lang="zh-CN" altLang="en-US" sz="1200" dirty="0">
              <a:solidFill>
                <a:srgbClr val="383838"/>
              </a:solidFill>
              <a:latin typeface="微软雅黑"/>
              <a:ea typeface="微软雅黑"/>
              <a:cs typeface="微软雅黑"/>
            </a:endParaRPr>
          </a:p>
        </p:txBody>
      </p:sp>
      <p:sp>
        <p:nvSpPr>
          <p:cNvPr id="154" name="文本框 153"/>
          <p:cNvSpPr txBox="1"/>
          <p:nvPr/>
        </p:nvSpPr>
        <p:spPr>
          <a:xfrm>
            <a:off x="1490142" y="5294944"/>
            <a:ext cx="800219" cy="276999"/>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巨量引擎</a:t>
            </a:r>
            <a:endParaRPr lang="zh-CN" altLang="en-US" sz="1200" dirty="0">
              <a:solidFill>
                <a:srgbClr val="383838"/>
              </a:solidFill>
              <a:latin typeface="微软雅黑"/>
              <a:ea typeface="微软雅黑"/>
              <a:cs typeface="微软雅黑"/>
            </a:endParaRPr>
          </a:p>
        </p:txBody>
      </p:sp>
      <p:sp>
        <p:nvSpPr>
          <p:cNvPr id="155" name="文本框 154"/>
          <p:cNvSpPr txBox="1"/>
          <p:nvPr/>
        </p:nvSpPr>
        <p:spPr>
          <a:xfrm>
            <a:off x="1490142" y="5798326"/>
            <a:ext cx="452368" cy="276999"/>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知</a:t>
            </a:r>
            <a:r>
              <a:rPr lang="en-US" altLang="zh-CN" sz="1200" dirty="0">
                <a:solidFill>
                  <a:srgbClr val="383838"/>
                </a:solidFill>
                <a:latin typeface="微软雅黑"/>
                <a:ea typeface="微软雅黑"/>
                <a:cs typeface="微软雅黑"/>
              </a:rPr>
              <a:t>+</a:t>
            </a:r>
            <a:endParaRPr lang="en-US" altLang="zh-CN" sz="1200" dirty="0">
              <a:solidFill>
                <a:srgbClr val="383838"/>
              </a:solidFill>
              <a:latin typeface="微软雅黑"/>
              <a:ea typeface="微软雅黑"/>
              <a:cs typeface="微软雅黑"/>
            </a:endParaRPr>
          </a:p>
        </p:txBody>
      </p:sp>
      <p:sp>
        <p:nvSpPr>
          <p:cNvPr id="156" name="文本框 155"/>
          <p:cNvSpPr txBox="1"/>
          <p:nvPr/>
        </p:nvSpPr>
        <p:spPr>
          <a:xfrm>
            <a:off x="883796" y="6261361"/>
            <a:ext cx="1415773"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精准营销解决方案</a:t>
            </a:r>
            <a:endParaRPr lang="zh-CN" altLang="en-US" sz="1200" b="1" dirty="0">
              <a:solidFill>
                <a:srgbClr val="0042FF"/>
              </a:solidFill>
              <a:latin typeface="微软雅黑"/>
              <a:ea typeface="微软雅黑"/>
              <a:cs typeface="微软雅黑"/>
            </a:endParaRPr>
          </a:p>
        </p:txBody>
      </p:sp>
      <p:sp>
        <p:nvSpPr>
          <p:cNvPr id="157" name="文本框 156"/>
          <p:cNvSpPr txBox="1"/>
          <p:nvPr/>
        </p:nvSpPr>
        <p:spPr>
          <a:xfrm>
            <a:off x="5091713" y="2746883"/>
            <a:ext cx="723275" cy="738664"/>
          </a:xfrm>
          <a:prstGeom prst="rect">
            <a:avLst/>
          </a:prstGeom>
          <a:noFill/>
        </p:spPr>
        <p:txBody>
          <a:bodyPr wrap="none" rtlCol="0">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触达互动</a:t>
            </a:r>
            <a:endParaRPr lang="en-US" altLang="zh-CN" sz="105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精细运营</a:t>
            </a:r>
            <a:endParaRPr lang="en-US" altLang="zh-CN" sz="105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体验改善</a:t>
            </a:r>
            <a:endParaRPr lang="en-US" altLang="zh-CN" sz="105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价值提升</a:t>
            </a:r>
            <a:endParaRPr lang="zh-CN" altLang="en-US" sz="1050" dirty="0">
              <a:solidFill>
                <a:srgbClr val="383838"/>
              </a:solidFill>
              <a:latin typeface="微软雅黑"/>
              <a:ea typeface="微软雅黑"/>
              <a:cs typeface="微软雅黑"/>
            </a:endParaRPr>
          </a:p>
        </p:txBody>
      </p:sp>
      <p:sp>
        <p:nvSpPr>
          <p:cNvPr id="158" name="文本框 157"/>
          <p:cNvSpPr txBox="1"/>
          <p:nvPr/>
        </p:nvSpPr>
        <p:spPr>
          <a:xfrm>
            <a:off x="6422029" y="2746883"/>
            <a:ext cx="723275" cy="738664"/>
          </a:xfrm>
          <a:prstGeom prst="rect">
            <a:avLst/>
          </a:prstGeom>
          <a:noFill/>
        </p:spPr>
        <p:txBody>
          <a:bodyPr wrap="none" rtlCol="0">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业务数据</a:t>
            </a:r>
            <a:endParaRPr lang="en-US" altLang="zh-CN" sz="105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投放数据</a:t>
            </a:r>
            <a:endParaRPr lang="en-US" altLang="zh-CN" sz="105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用户行为</a:t>
            </a:r>
            <a:endParaRPr lang="en-US" altLang="zh-CN" sz="105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用户属性</a:t>
            </a:r>
            <a:endParaRPr lang="zh-CN" altLang="en-US" sz="1050" dirty="0">
              <a:solidFill>
                <a:srgbClr val="383838"/>
              </a:solidFill>
              <a:latin typeface="微软雅黑"/>
              <a:ea typeface="微软雅黑"/>
              <a:cs typeface="微软雅黑"/>
            </a:endParaRPr>
          </a:p>
        </p:txBody>
      </p:sp>
      <p:sp>
        <p:nvSpPr>
          <p:cNvPr id="159" name="箭头: 右 25"/>
          <p:cNvSpPr/>
          <p:nvPr/>
        </p:nvSpPr>
        <p:spPr>
          <a:xfrm>
            <a:off x="7573304" y="3998402"/>
            <a:ext cx="1286505" cy="670557"/>
          </a:xfrm>
          <a:prstGeom prst="rightArrow">
            <a:avLst>
              <a:gd name="adj1" fmla="val 54159"/>
              <a:gd name="adj2" fmla="val 48440"/>
            </a:avLst>
          </a:prstGeom>
          <a:gradFill>
            <a:gsLst>
              <a:gs pos="0">
                <a:srgbClr val="3368FF">
                  <a:alpha val="50000"/>
                </a:srgbClr>
              </a:gs>
              <a:gs pos="100000">
                <a:srgbClr val="3368FF"/>
              </a:gs>
            </a:gsLst>
            <a:lin ang="0" scaled="0"/>
          </a:gra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60" name="箭头: 右 26"/>
          <p:cNvSpPr/>
          <p:nvPr/>
        </p:nvSpPr>
        <p:spPr>
          <a:xfrm rot="10800000">
            <a:off x="7573304" y="4861447"/>
            <a:ext cx="1286505" cy="670557"/>
          </a:xfrm>
          <a:prstGeom prst="rightArrow">
            <a:avLst>
              <a:gd name="adj1" fmla="val 54159"/>
              <a:gd name="adj2" fmla="val 48440"/>
            </a:avLst>
          </a:prstGeom>
          <a:gradFill>
            <a:gsLst>
              <a:gs pos="0">
                <a:srgbClr val="3368FF">
                  <a:alpha val="50000"/>
                </a:srgbClr>
              </a:gs>
              <a:gs pos="100000">
                <a:srgbClr val="3368FF"/>
              </a:gs>
            </a:gsLst>
            <a:lin ang="0" scaled="0"/>
          </a:gra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61" name="箭头: 右 27"/>
          <p:cNvSpPr/>
          <p:nvPr/>
        </p:nvSpPr>
        <p:spPr>
          <a:xfrm rot="10800000">
            <a:off x="3329257" y="3998402"/>
            <a:ext cx="1286505" cy="670557"/>
          </a:xfrm>
          <a:prstGeom prst="rightArrow">
            <a:avLst>
              <a:gd name="adj1" fmla="val 54159"/>
              <a:gd name="adj2" fmla="val 48440"/>
            </a:avLst>
          </a:prstGeom>
          <a:gradFill>
            <a:gsLst>
              <a:gs pos="0">
                <a:srgbClr val="3368FF">
                  <a:alpha val="50000"/>
                </a:srgbClr>
              </a:gs>
              <a:gs pos="100000">
                <a:srgbClr val="3368FF"/>
              </a:gs>
            </a:gsLst>
            <a:lin ang="0" scaled="0"/>
          </a:gra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62" name="箭头: 右 28"/>
          <p:cNvSpPr/>
          <p:nvPr/>
        </p:nvSpPr>
        <p:spPr>
          <a:xfrm>
            <a:off x="3329257" y="4861448"/>
            <a:ext cx="1286505" cy="670557"/>
          </a:xfrm>
          <a:prstGeom prst="rightArrow">
            <a:avLst>
              <a:gd name="adj1" fmla="val 54159"/>
              <a:gd name="adj2" fmla="val 48440"/>
            </a:avLst>
          </a:prstGeom>
          <a:gradFill>
            <a:gsLst>
              <a:gs pos="0">
                <a:srgbClr val="3368FF">
                  <a:alpha val="50000"/>
                </a:srgbClr>
              </a:gs>
              <a:gs pos="100000">
                <a:srgbClr val="3368FF"/>
              </a:gs>
            </a:gsLst>
            <a:lin ang="0" scaled="0"/>
          </a:gra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63" name="椭圆 162"/>
          <p:cNvSpPr/>
          <p:nvPr/>
        </p:nvSpPr>
        <p:spPr>
          <a:xfrm>
            <a:off x="5707434" y="4418359"/>
            <a:ext cx="826906" cy="826906"/>
          </a:xfrm>
          <a:prstGeom prst="ellipse">
            <a:avLst/>
          </a:prstGeom>
          <a:solidFill>
            <a:srgbClr val="3368FF"/>
          </a:soli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4" name="椭圆 163"/>
          <p:cNvSpPr/>
          <p:nvPr/>
        </p:nvSpPr>
        <p:spPr>
          <a:xfrm>
            <a:off x="5799034" y="3560851"/>
            <a:ext cx="643705" cy="643705"/>
          </a:xfrm>
          <a:prstGeom prst="ellipse">
            <a:avLst/>
          </a:prstGeom>
          <a:solidFill>
            <a:srgbClr val="3368FF"/>
          </a:soli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5" name="椭圆 164"/>
          <p:cNvSpPr/>
          <p:nvPr/>
        </p:nvSpPr>
        <p:spPr>
          <a:xfrm>
            <a:off x="4827272" y="4211529"/>
            <a:ext cx="643705" cy="643705"/>
          </a:xfrm>
          <a:prstGeom prst="ellipse">
            <a:avLst/>
          </a:prstGeom>
          <a:solidFill>
            <a:srgbClr val="3368FF"/>
          </a:soli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6" name="椭圆 165"/>
          <p:cNvSpPr/>
          <p:nvPr/>
        </p:nvSpPr>
        <p:spPr>
          <a:xfrm>
            <a:off x="6731969" y="4252250"/>
            <a:ext cx="643705" cy="643705"/>
          </a:xfrm>
          <a:prstGeom prst="ellipse">
            <a:avLst/>
          </a:prstGeom>
          <a:solidFill>
            <a:srgbClr val="3368FF"/>
          </a:soli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7" name="椭圆 166"/>
          <p:cNvSpPr/>
          <p:nvPr/>
        </p:nvSpPr>
        <p:spPr>
          <a:xfrm>
            <a:off x="6344972" y="5323650"/>
            <a:ext cx="643705" cy="643705"/>
          </a:xfrm>
          <a:prstGeom prst="ellipse">
            <a:avLst/>
          </a:prstGeom>
          <a:solidFill>
            <a:srgbClr val="3368FF"/>
          </a:soli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8" name="椭圆 167"/>
          <p:cNvSpPr/>
          <p:nvPr/>
        </p:nvSpPr>
        <p:spPr>
          <a:xfrm>
            <a:off x="5149124" y="5323650"/>
            <a:ext cx="643705" cy="643705"/>
          </a:xfrm>
          <a:prstGeom prst="ellipse">
            <a:avLst/>
          </a:prstGeom>
          <a:solidFill>
            <a:srgbClr val="3368FF"/>
          </a:solidFill>
          <a:ln>
            <a:noFill/>
          </a:ln>
          <a:effectLst>
            <a:outerShdw blurRad="292100" dist="38100" dir="5400000" algn="t" rotWithShape="0">
              <a:srgbClr val="0042FF">
                <a:alpha val="19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9" name="文本框 168"/>
          <p:cNvSpPr txBox="1"/>
          <p:nvPr/>
        </p:nvSpPr>
        <p:spPr>
          <a:xfrm>
            <a:off x="3630727" y="4137219"/>
            <a:ext cx="690880" cy="398780"/>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目标人群</a:t>
            </a:r>
            <a:endParaRPr lang="en-US" altLang="zh-CN" sz="1000" dirty="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投放模型</a:t>
            </a:r>
            <a:endParaRPr lang="zh-CN" altLang="en-US" sz="1000" dirty="0">
              <a:solidFill>
                <a:srgbClr val="383838"/>
              </a:solidFill>
              <a:latin typeface="微软雅黑"/>
              <a:ea typeface="微软雅黑"/>
              <a:cs typeface="微软雅黑"/>
            </a:endParaRPr>
          </a:p>
        </p:txBody>
      </p:sp>
      <p:sp>
        <p:nvSpPr>
          <p:cNvPr id="170" name="文本框 169"/>
          <p:cNvSpPr txBox="1"/>
          <p:nvPr/>
        </p:nvSpPr>
        <p:spPr>
          <a:xfrm>
            <a:off x="3610471" y="5016369"/>
            <a:ext cx="792480" cy="460375"/>
          </a:xfrm>
          <a:prstGeom prst="rect">
            <a:avLst/>
          </a:prstGeom>
          <a:noFill/>
        </p:spPr>
        <p:txBody>
          <a:bodyPr wrap="none" rtlCol="0" lIns="0" rIns="0" tIns="0" bIns="0">
            <a:spAutoFit/>
          </a:bodyPr>
          <a:lstStyle/>
          <a:p>
            <a:pPr lvl="0" algn="ctr">
              <a:buClrTx/>
              <a:buSzTx/>
              <a:buFontTx/>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数据沉淀</a:t>
            </a:r>
            <a:endParaRPr lang="zh-CN" altLang="en-US" sz="1000" dirty="0">
              <a:solidFill>
                <a:srgbClr val="383838"/>
              </a:solidFill>
              <a:latin typeface="微软雅黑"/>
              <a:ea typeface="微软雅黑"/>
              <a:cs typeface="微软雅黑"/>
              <a:sym typeface="微软雅黑"/>
            </a:endParaRPr>
          </a:p>
          <a:p>
            <a:pPr lvl="0" algn="ctr">
              <a:buClrTx/>
              <a:buSzTx/>
              <a:buFontTx/>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效果评估</a:t>
            </a:r>
            <a:endParaRPr lang="zh-CN" altLang="en-US" sz="1000" dirty="0">
              <a:solidFill>
                <a:srgbClr val="383838"/>
              </a:solidFill>
              <a:latin typeface="微软雅黑"/>
              <a:ea typeface="微软雅黑"/>
              <a:cs typeface="微软雅黑"/>
              <a:sym typeface="微软雅黑"/>
            </a:endParaRPr>
          </a:p>
        </p:txBody>
      </p:sp>
      <p:sp>
        <p:nvSpPr>
          <p:cNvPr id="171" name="文本框 170"/>
          <p:cNvSpPr txBox="1"/>
          <p:nvPr/>
        </p:nvSpPr>
        <p:spPr>
          <a:xfrm>
            <a:off x="7826384" y="4148014"/>
            <a:ext cx="690880" cy="398780"/>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素材表现</a:t>
            </a:r>
            <a:endParaRPr lang="en-US" altLang="zh-CN" sz="1000" dirty="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优化策略</a:t>
            </a:r>
            <a:endParaRPr lang="zh-CN" altLang="en-US" sz="1000" dirty="0">
              <a:solidFill>
                <a:srgbClr val="383838"/>
              </a:solidFill>
              <a:latin typeface="微软雅黑"/>
              <a:ea typeface="微软雅黑"/>
              <a:cs typeface="微软雅黑"/>
            </a:endParaRPr>
          </a:p>
        </p:txBody>
      </p:sp>
      <p:sp>
        <p:nvSpPr>
          <p:cNvPr id="172" name="文本框 171"/>
          <p:cNvSpPr txBox="1"/>
          <p:nvPr/>
        </p:nvSpPr>
        <p:spPr>
          <a:xfrm>
            <a:off x="7868172" y="4997954"/>
            <a:ext cx="690880" cy="398780"/>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数据沉淀</a:t>
            </a:r>
            <a:endParaRPr lang="en-US" altLang="zh-CN" sz="1000" dirty="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效果评估</a:t>
            </a:r>
            <a:endParaRPr lang="zh-CN" altLang="en-US" sz="1000" dirty="0">
              <a:solidFill>
                <a:srgbClr val="383838"/>
              </a:solidFill>
              <a:latin typeface="微软雅黑"/>
              <a:ea typeface="微软雅黑"/>
              <a:cs typeface="微软雅黑"/>
            </a:endParaRPr>
          </a:p>
        </p:txBody>
      </p:sp>
      <p:sp>
        <p:nvSpPr>
          <p:cNvPr id="173" name="文本框 172"/>
          <p:cNvSpPr txBox="1"/>
          <p:nvPr/>
        </p:nvSpPr>
        <p:spPr>
          <a:xfrm>
            <a:off x="5895508" y="3671472"/>
            <a:ext cx="492443" cy="46166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智能</a:t>
            </a:r>
            <a:endParaRPr lang="en-US" alt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分析</a:t>
            </a:r>
            <a:endParaRPr lang="zh-CN" altLang="en-US" sz="1200" dirty="0">
              <a:solidFill>
                <a:srgbClr val="FFFFFF"/>
              </a:solidFill>
              <a:latin typeface="微软雅黑"/>
              <a:ea typeface="微软雅黑"/>
              <a:cs typeface="微软雅黑"/>
            </a:endParaRPr>
          </a:p>
        </p:txBody>
      </p:sp>
      <p:sp>
        <p:nvSpPr>
          <p:cNvPr id="174" name="文本框 173"/>
          <p:cNvSpPr txBox="1"/>
          <p:nvPr/>
        </p:nvSpPr>
        <p:spPr>
          <a:xfrm>
            <a:off x="4900387" y="4312012"/>
            <a:ext cx="492443" cy="46166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智能</a:t>
            </a:r>
            <a:endParaRPr lang="en-US" altLang="zh-CN" sz="12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营销</a:t>
            </a:r>
            <a:endParaRPr lang="zh-CN" altLang="en-US" sz="1200" dirty="0">
              <a:solidFill>
                <a:srgbClr val="FFFFFF"/>
              </a:solidFill>
              <a:latin typeface="微软雅黑"/>
              <a:ea typeface="微软雅黑"/>
              <a:cs typeface="微软雅黑"/>
            </a:endParaRPr>
          </a:p>
        </p:txBody>
      </p:sp>
      <p:sp>
        <p:nvSpPr>
          <p:cNvPr id="175" name="文本框 174"/>
          <p:cNvSpPr txBox="1"/>
          <p:nvPr/>
        </p:nvSpPr>
        <p:spPr>
          <a:xfrm>
            <a:off x="6818383" y="4369679"/>
            <a:ext cx="492443" cy="46166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智能</a:t>
            </a:r>
            <a:endParaRPr lang="en-US" alt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推荐</a:t>
            </a:r>
            <a:endParaRPr lang="zh-CN" altLang="en-US" sz="1200" dirty="0">
              <a:solidFill>
                <a:srgbClr val="FFFFFF"/>
              </a:solidFill>
              <a:latin typeface="微软雅黑"/>
              <a:ea typeface="微软雅黑"/>
              <a:cs typeface="微软雅黑"/>
            </a:endParaRPr>
          </a:p>
        </p:txBody>
      </p:sp>
      <p:sp>
        <p:nvSpPr>
          <p:cNvPr id="176" name="文本框 175"/>
          <p:cNvSpPr txBox="1"/>
          <p:nvPr/>
        </p:nvSpPr>
        <p:spPr>
          <a:xfrm>
            <a:off x="6443294" y="5445114"/>
            <a:ext cx="492443" cy="46166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体验</a:t>
            </a:r>
            <a:endParaRPr lang="en-US" altLang="zh-CN" sz="12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运营</a:t>
            </a:r>
            <a:endParaRPr lang="zh-CN" altLang="en-US" sz="1200" dirty="0">
              <a:solidFill>
                <a:srgbClr val="FFFFFF"/>
              </a:solidFill>
              <a:latin typeface="微软雅黑"/>
              <a:ea typeface="微软雅黑"/>
              <a:cs typeface="微软雅黑"/>
            </a:endParaRPr>
          </a:p>
        </p:txBody>
      </p:sp>
      <p:sp>
        <p:nvSpPr>
          <p:cNvPr id="177" name="文本框 176"/>
          <p:cNvSpPr txBox="1"/>
          <p:nvPr/>
        </p:nvSpPr>
        <p:spPr>
          <a:xfrm>
            <a:off x="5224756" y="5445114"/>
            <a:ext cx="492443" cy="46166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智效</a:t>
            </a:r>
            <a:endParaRPr lang="en-US" alt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投放</a:t>
            </a:r>
            <a:endParaRPr lang="zh-CN" altLang="en-US" sz="1200" dirty="0">
              <a:solidFill>
                <a:srgbClr val="FFFFFF"/>
              </a:solidFill>
              <a:latin typeface="微软雅黑"/>
              <a:ea typeface="微软雅黑"/>
              <a:cs typeface="微软雅黑"/>
            </a:endParaRPr>
          </a:p>
        </p:txBody>
      </p:sp>
      <p:sp>
        <p:nvSpPr>
          <p:cNvPr id="178" name="文本框 177"/>
          <p:cNvSpPr txBox="1"/>
          <p:nvPr/>
        </p:nvSpPr>
        <p:spPr>
          <a:xfrm>
            <a:off x="5224247" y="6267704"/>
            <a:ext cx="1723550" cy="276999"/>
          </a:xfrm>
          <a:prstGeom prst="rect">
            <a:avLst/>
          </a:prstGeom>
          <a:noFill/>
        </p:spPr>
        <p:txBody>
          <a:bodyPr wrap="none" rtlCol="0">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数智化消费者运营平台</a:t>
            </a:r>
            <a:endParaRPr lang="zh-CN" altLang="en-US" sz="1200" b="1" dirty="0">
              <a:solidFill>
                <a:srgbClr val="0042FF"/>
              </a:solidFill>
              <a:latin typeface="微软雅黑"/>
              <a:ea typeface="微软雅黑"/>
              <a:cs typeface="微软雅黑"/>
            </a:endParaRPr>
          </a:p>
        </p:txBody>
      </p:sp>
      <p:sp>
        <p:nvSpPr>
          <p:cNvPr id="179" name="文本框 178"/>
          <p:cNvSpPr txBox="1"/>
          <p:nvPr/>
        </p:nvSpPr>
        <p:spPr>
          <a:xfrm>
            <a:off x="5859036" y="5411516"/>
            <a:ext cx="453971" cy="253916"/>
          </a:xfrm>
          <a:prstGeom prst="rect">
            <a:avLst/>
          </a:prstGeom>
          <a:noFill/>
        </p:spPr>
        <p:txBody>
          <a:bodyPr wrap="none" rtlCol="0">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安全</a:t>
            </a:r>
            <a:endParaRPr lang="zh-CN" altLang="en-US" sz="1050" dirty="0">
              <a:solidFill>
                <a:srgbClr val="383838"/>
              </a:solidFill>
              <a:latin typeface="微软雅黑"/>
              <a:ea typeface="微软雅黑"/>
              <a:cs typeface="微软雅黑"/>
            </a:endParaRPr>
          </a:p>
        </p:txBody>
      </p:sp>
      <p:sp>
        <p:nvSpPr>
          <p:cNvPr id="180" name="文本框 179"/>
          <p:cNvSpPr txBox="1"/>
          <p:nvPr/>
        </p:nvSpPr>
        <p:spPr>
          <a:xfrm>
            <a:off x="5264383" y="4990619"/>
            <a:ext cx="490840" cy="253916"/>
          </a:xfrm>
          <a:prstGeom prst="rect">
            <a:avLst/>
          </a:prstGeom>
          <a:noFill/>
        </p:spPr>
        <p:txBody>
          <a:bodyPr wrap="none" rtlCol="0">
            <a:spAutoFit/>
          </a:bodyPr>
          <a:lstStyle/>
          <a:p>
            <a:pPr algn="ctr">
              <a:defRPr>
                <a:latin typeface="微软雅黑"/>
                <a:ea typeface="微软雅黑"/>
                <a:cs typeface="微软雅黑"/>
              </a:defRPr>
            </a:pPr>
            <a:r>
              <a:rPr lang="en-US" altLang="zh-CN" sz="1050" dirty="0">
                <a:solidFill>
                  <a:srgbClr val="383838"/>
                </a:solidFill>
                <a:latin typeface="微软雅黑"/>
                <a:ea typeface="微软雅黑"/>
                <a:cs typeface="微软雅黑"/>
              </a:rPr>
              <a:t>PaaS</a:t>
            </a:r>
            <a:endParaRPr lang="en-US" altLang="zh-CN" sz="1050" dirty="0">
              <a:solidFill>
                <a:srgbClr val="383838"/>
              </a:solidFill>
              <a:latin typeface="微软雅黑"/>
              <a:ea typeface="微软雅黑"/>
              <a:cs typeface="微软雅黑"/>
            </a:endParaRPr>
          </a:p>
        </p:txBody>
      </p:sp>
      <p:sp>
        <p:nvSpPr>
          <p:cNvPr id="181" name="文本框 180"/>
          <p:cNvSpPr txBox="1"/>
          <p:nvPr/>
        </p:nvSpPr>
        <p:spPr>
          <a:xfrm>
            <a:off x="6380586" y="4990619"/>
            <a:ext cx="723275" cy="253916"/>
          </a:xfrm>
          <a:prstGeom prst="rect">
            <a:avLst/>
          </a:prstGeom>
          <a:noFill/>
        </p:spPr>
        <p:txBody>
          <a:bodyPr wrap="none" rtlCol="0">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全域接入</a:t>
            </a:r>
            <a:endParaRPr lang="zh-CN" altLang="en-US" sz="1050" dirty="0">
              <a:solidFill>
                <a:srgbClr val="383838"/>
              </a:solidFill>
              <a:latin typeface="微软雅黑"/>
              <a:ea typeface="微软雅黑"/>
              <a:cs typeface="微软雅黑"/>
            </a:endParaRPr>
          </a:p>
        </p:txBody>
      </p:sp>
      <p:sp>
        <p:nvSpPr>
          <p:cNvPr id="182" name="文本框 181"/>
          <p:cNvSpPr txBox="1"/>
          <p:nvPr/>
        </p:nvSpPr>
        <p:spPr>
          <a:xfrm>
            <a:off x="6235207" y="4272206"/>
            <a:ext cx="588623" cy="253916"/>
          </a:xfrm>
          <a:prstGeom prst="rect">
            <a:avLst/>
          </a:prstGeom>
          <a:noFill/>
        </p:spPr>
        <p:txBody>
          <a:bodyPr wrap="none" rtlCol="0">
            <a:spAutoFit/>
          </a:bodyPr>
          <a:lstStyle/>
          <a:p>
            <a:pPr algn="ctr">
              <a:defRPr>
                <a:latin typeface="微软雅黑"/>
                <a:ea typeface="微软雅黑"/>
                <a:cs typeface="微软雅黑"/>
              </a:defRPr>
            </a:pPr>
            <a:r>
              <a:rPr lang="en-US" altLang="zh-CN" sz="1050">
                <a:solidFill>
                  <a:srgbClr val="383838"/>
                </a:solidFill>
                <a:latin typeface="微软雅黑"/>
                <a:ea typeface="微软雅黑"/>
                <a:cs typeface="微软雅黑"/>
              </a:rPr>
              <a:t>AI</a:t>
            </a:r>
            <a:r>
              <a:rPr lang="zh-CN" altLang="en-US" sz="1050">
                <a:solidFill>
                  <a:srgbClr val="383838"/>
                </a:solidFill>
                <a:latin typeface="微软雅黑"/>
                <a:ea typeface="微软雅黑"/>
                <a:cs typeface="微软雅黑"/>
              </a:rPr>
              <a:t>智能</a:t>
            </a:r>
            <a:endParaRPr lang="zh-CN" altLang="en-US" sz="1050" dirty="0">
              <a:solidFill>
                <a:srgbClr val="383838"/>
              </a:solidFill>
              <a:latin typeface="微软雅黑"/>
              <a:ea typeface="微软雅黑"/>
              <a:cs typeface="微软雅黑"/>
            </a:endParaRPr>
          </a:p>
        </p:txBody>
      </p:sp>
      <p:sp>
        <p:nvSpPr>
          <p:cNvPr id="183" name="文本框 182"/>
          <p:cNvSpPr txBox="1"/>
          <p:nvPr/>
        </p:nvSpPr>
        <p:spPr>
          <a:xfrm>
            <a:off x="5412877" y="4272206"/>
            <a:ext cx="588623" cy="253916"/>
          </a:xfrm>
          <a:prstGeom prst="rect">
            <a:avLst/>
          </a:prstGeom>
          <a:noFill/>
        </p:spPr>
        <p:txBody>
          <a:bodyPr wrap="none" rtlCol="0">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大数据</a:t>
            </a:r>
            <a:endParaRPr lang="zh-CN" altLang="en-US" sz="1050" dirty="0">
              <a:solidFill>
                <a:srgbClr val="383838"/>
              </a:solidFill>
              <a:latin typeface="微软雅黑"/>
              <a:ea typeface="微软雅黑"/>
              <a:cs typeface="微软雅黑"/>
            </a:endParaRPr>
          </a:p>
        </p:txBody>
      </p:sp>
      <p:sp>
        <p:nvSpPr>
          <p:cNvPr id="184" name="文本框 183"/>
          <p:cNvSpPr txBox="1"/>
          <p:nvPr/>
        </p:nvSpPr>
        <p:spPr>
          <a:xfrm>
            <a:off x="5724270" y="4840011"/>
            <a:ext cx="800220"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用户洞察</a:t>
            </a:r>
            <a:endParaRPr lang="zh-CN" altLang="en-US" sz="1200" b="1" dirty="0">
              <a:solidFill>
                <a:srgbClr val="FFFFFF"/>
              </a:solidFill>
              <a:latin typeface="微软雅黑"/>
              <a:ea typeface="微软雅黑"/>
              <a:cs typeface="微软雅黑"/>
            </a:endParaRPr>
          </a:p>
        </p:txBody>
      </p:sp>
      <p:grpSp>
        <p:nvGrpSpPr>
          <p:cNvPr id="185" name="阿符PPT出品"/>
          <p:cNvGrpSpPr/>
          <p:nvPr/>
        </p:nvGrpSpPr>
        <p:grpSpPr>
          <a:xfrm>
            <a:off x="959196" y="3666437"/>
            <a:ext cx="246520" cy="246520"/>
            <a:chOff x="5710237" y="2314346"/>
            <a:chExt cx="771525" cy="771525"/>
          </a:xfrm>
        </p:grpSpPr>
        <p:sp>
          <p:nvSpPr>
            <p:cNvPr id="186" name="任意多边形: 形状 82"/>
            <p:cNvSpPr/>
            <p:nvPr/>
          </p:nvSpPr>
          <p:spPr>
            <a:xfrm>
              <a:off x="5710237" y="2314346"/>
              <a:ext cx="771525" cy="771525"/>
            </a:xfrm>
            <a:custGeom>
              <a:avLst/>
              <a:gdLst>
                <a:gd name="connsiteX0" fmla="*/ 771525 w 771525"/>
                <a:gd name="connsiteY0" fmla="*/ 385762 h 771525"/>
                <a:gd name="connsiteX1" fmla="*/ 385763 w 771525"/>
                <a:gd name="connsiteY1" fmla="*/ 771525 h 771525"/>
                <a:gd name="connsiteX2" fmla="*/ 0 w 771525"/>
                <a:gd name="connsiteY2" fmla="*/ 385762 h 771525"/>
                <a:gd name="connsiteX3" fmla="*/ 385763 w 771525"/>
                <a:gd name="connsiteY3" fmla="*/ 0 h 771525"/>
                <a:gd name="connsiteX4" fmla="*/ 771525 w 771525"/>
                <a:gd name="connsiteY4" fmla="*/ 385762 h 771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525" h="771525">
                  <a:moveTo>
                    <a:pt x="771525" y="385762"/>
                  </a:moveTo>
                  <a:cubicBezTo>
                    <a:pt x="771525" y="598813"/>
                    <a:pt x="598813" y="771525"/>
                    <a:pt x="385763" y="771525"/>
                  </a:cubicBezTo>
                  <a:cubicBezTo>
                    <a:pt x="172712" y="771525"/>
                    <a:pt x="0" y="598813"/>
                    <a:pt x="0" y="385762"/>
                  </a:cubicBezTo>
                  <a:cubicBezTo>
                    <a:pt x="0" y="172711"/>
                    <a:pt x="172712" y="0"/>
                    <a:pt x="385763" y="0"/>
                  </a:cubicBezTo>
                  <a:cubicBezTo>
                    <a:pt x="598813" y="0"/>
                    <a:pt x="771525" y="172711"/>
                    <a:pt x="771525" y="385762"/>
                  </a:cubicBezTo>
                  <a:close/>
                </a:path>
              </a:pathLst>
            </a:custGeom>
            <a:solidFill>
              <a:srgbClr val="0042FF"/>
            </a:solidFill>
            <a:ln w="571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87" name="任意多边形: 形状 83"/>
            <p:cNvSpPr/>
            <p:nvPr/>
          </p:nvSpPr>
          <p:spPr>
            <a:xfrm>
              <a:off x="5838825" y="2520086"/>
              <a:ext cx="514350" cy="360045"/>
            </a:xfrm>
            <a:custGeom>
              <a:avLst/>
              <a:gdLst>
                <a:gd name="connsiteX0" fmla="*/ 503606 w 514350"/>
                <a:gd name="connsiteY0" fmla="*/ 56236 h 360045"/>
                <a:gd name="connsiteX1" fmla="*/ 458114 w 514350"/>
                <a:gd name="connsiteY1" fmla="*/ 10744 h 360045"/>
                <a:gd name="connsiteX2" fmla="*/ 257175 w 514350"/>
                <a:gd name="connsiteY2" fmla="*/ 0 h 360045"/>
                <a:gd name="connsiteX3" fmla="*/ 56236 w 514350"/>
                <a:gd name="connsiteY3" fmla="*/ 10744 h 360045"/>
                <a:gd name="connsiteX4" fmla="*/ 10744 w 514350"/>
                <a:gd name="connsiteY4" fmla="*/ 56236 h 360045"/>
                <a:gd name="connsiteX5" fmla="*/ 0 w 514350"/>
                <a:gd name="connsiteY5" fmla="*/ 180023 h 360045"/>
                <a:gd name="connsiteX6" fmla="*/ 10744 w 514350"/>
                <a:gd name="connsiteY6" fmla="*/ 303809 h 360045"/>
                <a:gd name="connsiteX7" fmla="*/ 56236 w 514350"/>
                <a:gd name="connsiteY7" fmla="*/ 349301 h 360045"/>
                <a:gd name="connsiteX8" fmla="*/ 257175 w 514350"/>
                <a:gd name="connsiteY8" fmla="*/ 360045 h 360045"/>
                <a:gd name="connsiteX9" fmla="*/ 458114 w 514350"/>
                <a:gd name="connsiteY9" fmla="*/ 349301 h 360045"/>
                <a:gd name="connsiteX10" fmla="*/ 503606 w 514350"/>
                <a:gd name="connsiteY10" fmla="*/ 303809 h 360045"/>
                <a:gd name="connsiteX11" fmla="*/ 514350 w 514350"/>
                <a:gd name="connsiteY11" fmla="*/ 180023 h 360045"/>
                <a:gd name="connsiteX12" fmla="*/ 503606 w 514350"/>
                <a:gd name="connsiteY12" fmla="*/ 56236 h 360045"/>
                <a:gd name="connsiteX13" fmla="*/ 205740 w 514350"/>
                <a:gd name="connsiteY13" fmla="*/ 257175 h 360045"/>
                <a:gd name="connsiteX14" fmla="*/ 205740 w 514350"/>
                <a:gd name="connsiteY14" fmla="*/ 102870 h 360045"/>
                <a:gd name="connsiteX15" fmla="*/ 339357 w 514350"/>
                <a:gd name="connsiteY15" fmla="*/ 180023 h 360045"/>
                <a:gd name="connsiteX16" fmla="*/ 205740 w 514350"/>
                <a:gd name="connsiteY16" fmla="*/ 257175 h 3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4350" h="360045">
                  <a:moveTo>
                    <a:pt x="503606" y="56236"/>
                  </a:moveTo>
                  <a:cubicBezTo>
                    <a:pt x="497720" y="34119"/>
                    <a:pt x="480288" y="16688"/>
                    <a:pt x="458114" y="10744"/>
                  </a:cubicBezTo>
                  <a:cubicBezTo>
                    <a:pt x="417995" y="0"/>
                    <a:pt x="257175" y="0"/>
                    <a:pt x="257175" y="0"/>
                  </a:cubicBezTo>
                  <a:cubicBezTo>
                    <a:pt x="257175" y="0"/>
                    <a:pt x="96355" y="0"/>
                    <a:pt x="56236" y="10744"/>
                  </a:cubicBezTo>
                  <a:cubicBezTo>
                    <a:pt x="34118" y="16688"/>
                    <a:pt x="16688" y="34062"/>
                    <a:pt x="10744" y="56236"/>
                  </a:cubicBezTo>
                  <a:cubicBezTo>
                    <a:pt x="0" y="96355"/>
                    <a:pt x="0" y="180023"/>
                    <a:pt x="0" y="180023"/>
                  </a:cubicBezTo>
                  <a:cubicBezTo>
                    <a:pt x="0" y="180023"/>
                    <a:pt x="0" y="263690"/>
                    <a:pt x="10744" y="303809"/>
                  </a:cubicBezTo>
                  <a:cubicBezTo>
                    <a:pt x="16630" y="325926"/>
                    <a:pt x="34062" y="343357"/>
                    <a:pt x="56236" y="349301"/>
                  </a:cubicBezTo>
                  <a:cubicBezTo>
                    <a:pt x="96355" y="360045"/>
                    <a:pt x="257175" y="360045"/>
                    <a:pt x="257175" y="360045"/>
                  </a:cubicBezTo>
                  <a:cubicBezTo>
                    <a:pt x="257175" y="360045"/>
                    <a:pt x="417995" y="360045"/>
                    <a:pt x="458114" y="349301"/>
                  </a:cubicBezTo>
                  <a:cubicBezTo>
                    <a:pt x="480232" y="343357"/>
                    <a:pt x="497662" y="325984"/>
                    <a:pt x="503606" y="303809"/>
                  </a:cubicBezTo>
                  <a:cubicBezTo>
                    <a:pt x="514350" y="263690"/>
                    <a:pt x="514350" y="180023"/>
                    <a:pt x="514350" y="180023"/>
                  </a:cubicBezTo>
                  <a:cubicBezTo>
                    <a:pt x="514350" y="180023"/>
                    <a:pt x="514350" y="96355"/>
                    <a:pt x="503606" y="56236"/>
                  </a:cubicBezTo>
                  <a:close/>
                  <a:moveTo>
                    <a:pt x="205740" y="257175"/>
                  </a:moveTo>
                  <a:lnTo>
                    <a:pt x="205740" y="102870"/>
                  </a:lnTo>
                  <a:lnTo>
                    <a:pt x="339357" y="180023"/>
                  </a:lnTo>
                  <a:lnTo>
                    <a:pt x="205740" y="257175"/>
                  </a:lnTo>
                  <a:close/>
                </a:path>
              </a:pathLst>
            </a:custGeom>
            <a:solidFill>
              <a:srgbClr val="FFFFFF"/>
            </a:solidFill>
            <a:ln w="571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188" name="阿符PPT出品"/>
          <p:cNvGrpSpPr/>
          <p:nvPr/>
        </p:nvGrpSpPr>
        <p:grpSpPr>
          <a:xfrm>
            <a:off x="960705" y="5818040"/>
            <a:ext cx="243502" cy="243502"/>
            <a:chOff x="4429163" y="5681624"/>
            <a:chExt cx="771525" cy="771525"/>
          </a:xfrm>
        </p:grpSpPr>
        <p:sp>
          <p:nvSpPr>
            <p:cNvPr id="189" name="任意多边形: 形状 85"/>
            <p:cNvSpPr/>
            <p:nvPr/>
          </p:nvSpPr>
          <p:spPr>
            <a:xfrm>
              <a:off x="4429163" y="5681624"/>
              <a:ext cx="771525" cy="771525"/>
            </a:xfrm>
            <a:custGeom>
              <a:avLst/>
              <a:gdLst>
                <a:gd name="connsiteX0" fmla="*/ 771525 w 771525"/>
                <a:gd name="connsiteY0" fmla="*/ 385763 h 771525"/>
                <a:gd name="connsiteX1" fmla="*/ 385762 w 771525"/>
                <a:gd name="connsiteY1" fmla="*/ 771525 h 771525"/>
                <a:gd name="connsiteX2" fmla="*/ 0 w 771525"/>
                <a:gd name="connsiteY2" fmla="*/ 385763 h 771525"/>
                <a:gd name="connsiteX3" fmla="*/ 385762 w 771525"/>
                <a:gd name="connsiteY3" fmla="*/ 0 h 771525"/>
                <a:gd name="connsiteX4" fmla="*/ 771525 w 771525"/>
                <a:gd name="connsiteY4" fmla="*/ 385763 h 771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525" h="771525">
                  <a:moveTo>
                    <a:pt x="771525" y="385763"/>
                  </a:moveTo>
                  <a:cubicBezTo>
                    <a:pt x="771525" y="598813"/>
                    <a:pt x="598813" y="771525"/>
                    <a:pt x="385762" y="771525"/>
                  </a:cubicBezTo>
                  <a:cubicBezTo>
                    <a:pt x="172712" y="771525"/>
                    <a:pt x="0" y="598813"/>
                    <a:pt x="0" y="385763"/>
                  </a:cubicBezTo>
                  <a:cubicBezTo>
                    <a:pt x="0" y="172712"/>
                    <a:pt x="172712" y="0"/>
                    <a:pt x="385762" y="0"/>
                  </a:cubicBezTo>
                  <a:cubicBezTo>
                    <a:pt x="598813" y="0"/>
                    <a:pt x="771525" y="172712"/>
                    <a:pt x="771525" y="385763"/>
                  </a:cubicBezTo>
                  <a:close/>
                </a:path>
              </a:pathLst>
            </a:custGeom>
            <a:gradFill>
              <a:gsLst>
                <a:gs pos="0">
                  <a:srgbClr val="3368FF"/>
                </a:gs>
                <a:gs pos="50000">
                  <a:srgbClr val="668EFF"/>
                </a:gs>
                <a:gs pos="100000">
                  <a:srgbClr val="668EFF"/>
                </a:gs>
              </a:gsLst>
              <a:lin ang="16200000" scaled="1"/>
            </a:gradFill>
            <a:ln w="5715"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0" name="任意多边形: 形状 86"/>
            <p:cNvSpPr/>
            <p:nvPr/>
          </p:nvSpPr>
          <p:spPr>
            <a:xfrm>
              <a:off x="4690224" y="5943542"/>
              <a:ext cx="256260" cy="290550"/>
            </a:xfrm>
            <a:custGeom>
              <a:avLst/>
              <a:gdLst>
                <a:gd name="connsiteX0" fmla="*/ 57 w 256260"/>
                <a:gd name="connsiteY0" fmla="*/ 152019 h 290550"/>
                <a:gd name="connsiteX1" fmla="*/ 45834 w 256260"/>
                <a:gd name="connsiteY1" fmla="*/ 278721 h 290550"/>
                <a:gd name="connsiteX2" fmla="*/ 57664 w 256260"/>
                <a:gd name="connsiteY2" fmla="*/ 290550 h 290550"/>
                <a:gd name="connsiteX3" fmla="*/ 154934 w 256260"/>
                <a:gd name="connsiteY3" fmla="*/ 195739 h 290550"/>
                <a:gd name="connsiteX4" fmla="*/ 256261 w 256260"/>
                <a:gd name="connsiteY4" fmla="*/ 0 h 290550"/>
                <a:gd name="connsiteX5" fmla="*/ 1657 w 256260"/>
                <a:gd name="connsiteY5" fmla="*/ 119329 h 290550"/>
                <a:gd name="connsiteX6" fmla="*/ 0 w 256260"/>
                <a:gd name="connsiteY6" fmla="*/ 152019 h 2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260" h="290550">
                  <a:moveTo>
                    <a:pt x="57" y="152019"/>
                  </a:moveTo>
                  <a:lnTo>
                    <a:pt x="45834" y="278721"/>
                  </a:lnTo>
                  <a:cubicBezTo>
                    <a:pt x="45834" y="278721"/>
                    <a:pt x="51549" y="290550"/>
                    <a:pt x="57664" y="290550"/>
                  </a:cubicBezTo>
                  <a:cubicBezTo>
                    <a:pt x="63779" y="290550"/>
                    <a:pt x="154934" y="195739"/>
                    <a:pt x="154934" y="195739"/>
                  </a:cubicBezTo>
                  <a:lnTo>
                    <a:pt x="256261" y="0"/>
                  </a:lnTo>
                  <a:lnTo>
                    <a:pt x="1657" y="119329"/>
                  </a:lnTo>
                  <a:lnTo>
                    <a:pt x="0" y="152019"/>
                  </a:lnTo>
                  <a:close/>
                </a:path>
              </a:pathLst>
            </a:custGeom>
            <a:solidFill>
              <a:srgbClr val="C6D4FE"/>
            </a:solidFill>
            <a:ln w="571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91" name="任意多边形: 形状 87"/>
            <p:cNvSpPr/>
            <p:nvPr/>
          </p:nvSpPr>
          <p:spPr>
            <a:xfrm>
              <a:off x="4741964" y="6128023"/>
              <a:ext cx="81076" cy="106108"/>
            </a:xfrm>
            <a:custGeom>
              <a:avLst/>
              <a:gdLst>
                <a:gd name="connsiteX0" fmla="*/ 8953 w 81076"/>
                <a:gd name="connsiteY0" fmla="*/ 0 h 106108"/>
                <a:gd name="connsiteX1" fmla="*/ 152 w 81076"/>
                <a:gd name="connsiteY1" fmla="*/ 93383 h 106108"/>
                <a:gd name="connsiteX2" fmla="*/ 25069 w 81076"/>
                <a:gd name="connsiteY2" fmla="*/ 93383 h 106108"/>
                <a:gd name="connsiteX3" fmla="*/ 81076 w 81076"/>
                <a:gd name="connsiteY3" fmla="*/ 42691 h 106108"/>
                <a:gd name="connsiteX4" fmla="*/ 8953 w 81076"/>
                <a:gd name="connsiteY4" fmla="*/ 0 h 10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76" h="106108">
                  <a:moveTo>
                    <a:pt x="8953" y="0"/>
                  </a:moveTo>
                  <a:lnTo>
                    <a:pt x="152" y="93383"/>
                  </a:lnTo>
                  <a:cubicBezTo>
                    <a:pt x="152" y="93383"/>
                    <a:pt x="-3506" y="122015"/>
                    <a:pt x="25069" y="93383"/>
                  </a:cubicBezTo>
                  <a:cubicBezTo>
                    <a:pt x="53701" y="64751"/>
                    <a:pt x="81076" y="42691"/>
                    <a:pt x="81076" y="42691"/>
                  </a:cubicBezTo>
                  <a:lnTo>
                    <a:pt x="8953" y="0"/>
                  </a:lnTo>
                  <a:close/>
                </a:path>
              </a:pathLst>
            </a:custGeom>
            <a:solidFill>
              <a:srgbClr val="B3D4FE"/>
            </a:solidFill>
            <a:ln w="571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92" name="任意多边形: 形状 88"/>
            <p:cNvSpPr/>
            <p:nvPr/>
          </p:nvSpPr>
          <p:spPr>
            <a:xfrm>
              <a:off x="4588623" y="5899584"/>
              <a:ext cx="416847" cy="343898"/>
            </a:xfrm>
            <a:custGeom>
              <a:avLst/>
              <a:gdLst>
                <a:gd name="connsiteX0" fmla="*/ 102458 w 416847"/>
                <a:gd name="connsiteY0" fmla="*/ 200492 h 343898"/>
                <a:gd name="connsiteX1" fmla="*/ 8332 w 416847"/>
                <a:gd name="connsiteY1" fmla="*/ 169803 h 343898"/>
                <a:gd name="connsiteX2" fmla="*/ 731 w 416847"/>
                <a:gd name="connsiteY2" fmla="*/ 154887 h 343898"/>
                <a:gd name="connsiteX3" fmla="*/ 7475 w 416847"/>
                <a:gd name="connsiteY3" fmla="*/ 147800 h 343898"/>
                <a:gd name="connsiteX4" fmla="*/ 393580 w 416847"/>
                <a:gd name="connsiteY4" fmla="*/ 1953 h 343898"/>
                <a:gd name="connsiteX5" fmla="*/ 409982 w 416847"/>
                <a:gd name="connsiteY5" fmla="*/ 810 h 343898"/>
                <a:gd name="connsiteX6" fmla="*/ 416040 w 416847"/>
                <a:gd name="connsiteY6" fmla="*/ 7439 h 343898"/>
                <a:gd name="connsiteX7" fmla="*/ 416840 w 416847"/>
                <a:gd name="connsiteY7" fmla="*/ 15726 h 343898"/>
                <a:gd name="connsiteX8" fmla="*/ 416269 w 416847"/>
                <a:gd name="connsiteY8" fmla="*/ 23898 h 343898"/>
                <a:gd name="connsiteX9" fmla="*/ 347460 w 416847"/>
                <a:gd name="connsiteY9" fmla="*/ 327651 h 343898"/>
                <a:gd name="connsiteX10" fmla="*/ 329229 w 416847"/>
                <a:gd name="connsiteY10" fmla="*/ 343881 h 343898"/>
                <a:gd name="connsiteX11" fmla="*/ 310141 w 416847"/>
                <a:gd name="connsiteY11" fmla="*/ 336509 h 343898"/>
                <a:gd name="connsiteX12" fmla="*/ 163951 w 416847"/>
                <a:gd name="connsiteY12" fmla="*/ 233067 h 343898"/>
                <a:gd name="connsiteX13" fmla="*/ 162180 w 416847"/>
                <a:gd name="connsiteY13" fmla="*/ 230210 h 343898"/>
                <a:gd name="connsiteX14" fmla="*/ 163494 w 416847"/>
                <a:gd name="connsiteY14" fmla="*/ 226838 h 343898"/>
                <a:gd name="connsiteX15" fmla="*/ 336487 w 416847"/>
                <a:gd name="connsiteY15" fmla="*/ 61332 h 343898"/>
                <a:gd name="connsiteX16" fmla="*/ 333744 w 416847"/>
                <a:gd name="connsiteY16" fmla="*/ 60018 h 343898"/>
                <a:gd name="connsiteX17" fmla="*/ 107087 w 416847"/>
                <a:gd name="connsiteY17" fmla="*/ 200206 h 343898"/>
                <a:gd name="connsiteX18" fmla="*/ 102344 w 416847"/>
                <a:gd name="connsiteY18" fmla="*/ 200492 h 3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6847" h="343898">
                  <a:moveTo>
                    <a:pt x="102458" y="200492"/>
                  </a:moveTo>
                  <a:lnTo>
                    <a:pt x="8332" y="169803"/>
                  </a:lnTo>
                  <a:cubicBezTo>
                    <a:pt x="8332" y="169803"/>
                    <a:pt x="-2927" y="165230"/>
                    <a:pt x="731" y="154887"/>
                  </a:cubicBezTo>
                  <a:cubicBezTo>
                    <a:pt x="1474" y="152772"/>
                    <a:pt x="2960" y="150943"/>
                    <a:pt x="7475" y="147800"/>
                  </a:cubicBezTo>
                  <a:cubicBezTo>
                    <a:pt x="28334" y="133284"/>
                    <a:pt x="393580" y="1953"/>
                    <a:pt x="393580" y="1953"/>
                  </a:cubicBezTo>
                  <a:cubicBezTo>
                    <a:pt x="393580" y="1953"/>
                    <a:pt x="403867" y="-1533"/>
                    <a:pt x="409982" y="810"/>
                  </a:cubicBezTo>
                  <a:cubicBezTo>
                    <a:pt x="412782" y="1839"/>
                    <a:pt x="414554" y="3039"/>
                    <a:pt x="416040" y="7439"/>
                  </a:cubicBezTo>
                  <a:cubicBezTo>
                    <a:pt x="416612" y="9040"/>
                    <a:pt x="416897" y="12411"/>
                    <a:pt x="416840" y="15726"/>
                  </a:cubicBezTo>
                  <a:cubicBezTo>
                    <a:pt x="416840" y="18126"/>
                    <a:pt x="416497" y="20412"/>
                    <a:pt x="416269" y="23898"/>
                  </a:cubicBezTo>
                  <a:cubicBezTo>
                    <a:pt x="414040" y="59789"/>
                    <a:pt x="347460" y="327651"/>
                    <a:pt x="347460" y="327651"/>
                  </a:cubicBezTo>
                  <a:cubicBezTo>
                    <a:pt x="347460" y="327651"/>
                    <a:pt x="343459" y="343310"/>
                    <a:pt x="329229" y="343881"/>
                  </a:cubicBezTo>
                  <a:cubicBezTo>
                    <a:pt x="324029" y="344053"/>
                    <a:pt x="317685" y="343024"/>
                    <a:pt x="310141" y="336509"/>
                  </a:cubicBezTo>
                  <a:cubicBezTo>
                    <a:pt x="282137" y="312392"/>
                    <a:pt x="185326" y="247355"/>
                    <a:pt x="163951" y="233067"/>
                  </a:cubicBezTo>
                  <a:cubicBezTo>
                    <a:pt x="162751" y="232267"/>
                    <a:pt x="162408" y="231239"/>
                    <a:pt x="162180" y="230210"/>
                  </a:cubicBezTo>
                  <a:cubicBezTo>
                    <a:pt x="161894" y="228724"/>
                    <a:pt x="163494" y="226838"/>
                    <a:pt x="163494" y="226838"/>
                  </a:cubicBezTo>
                  <a:cubicBezTo>
                    <a:pt x="163494" y="226838"/>
                    <a:pt x="332029" y="77048"/>
                    <a:pt x="336487" y="61332"/>
                  </a:cubicBezTo>
                  <a:cubicBezTo>
                    <a:pt x="336830" y="60131"/>
                    <a:pt x="335516" y="59503"/>
                    <a:pt x="333744" y="60018"/>
                  </a:cubicBezTo>
                  <a:cubicBezTo>
                    <a:pt x="322543" y="64132"/>
                    <a:pt x="128518" y="186662"/>
                    <a:pt x="107087" y="200206"/>
                  </a:cubicBezTo>
                  <a:cubicBezTo>
                    <a:pt x="105830" y="201006"/>
                    <a:pt x="102344" y="200492"/>
                    <a:pt x="102344" y="200492"/>
                  </a:cubicBezTo>
                  <a:close/>
                </a:path>
              </a:pathLst>
            </a:custGeom>
            <a:solidFill>
              <a:srgbClr val="FFFFFF"/>
            </a:solidFill>
            <a:ln w="571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193" name="阿符PPT出品"/>
          <p:cNvGrpSpPr/>
          <p:nvPr/>
        </p:nvGrpSpPr>
        <p:grpSpPr>
          <a:xfrm>
            <a:off x="963722" y="5278782"/>
            <a:ext cx="237469" cy="237469"/>
            <a:chOff x="5710237" y="4555655"/>
            <a:chExt cx="771525" cy="771525"/>
          </a:xfrm>
        </p:grpSpPr>
        <p:sp>
          <p:nvSpPr>
            <p:cNvPr id="194" name="任意多边形: 形状 90"/>
            <p:cNvSpPr/>
            <p:nvPr/>
          </p:nvSpPr>
          <p:spPr>
            <a:xfrm>
              <a:off x="5710237" y="4555655"/>
              <a:ext cx="771525" cy="771525"/>
            </a:xfrm>
            <a:custGeom>
              <a:avLst/>
              <a:gdLst>
                <a:gd name="connsiteX0" fmla="*/ 771525 w 771525"/>
                <a:gd name="connsiteY0" fmla="*/ 385763 h 771525"/>
                <a:gd name="connsiteX1" fmla="*/ 385763 w 771525"/>
                <a:gd name="connsiteY1" fmla="*/ 771525 h 771525"/>
                <a:gd name="connsiteX2" fmla="*/ 0 w 771525"/>
                <a:gd name="connsiteY2" fmla="*/ 385763 h 771525"/>
                <a:gd name="connsiteX3" fmla="*/ 385763 w 771525"/>
                <a:gd name="connsiteY3" fmla="*/ 0 h 771525"/>
                <a:gd name="connsiteX4" fmla="*/ 771525 w 771525"/>
                <a:gd name="connsiteY4" fmla="*/ 385763 h 771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525" h="771525">
                  <a:moveTo>
                    <a:pt x="771525" y="385763"/>
                  </a:moveTo>
                  <a:cubicBezTo>
                    <a:pt x="771525" y="598813"/>
                    <a:pt x="598813" y="771525"/>
                    <a:pt x="385763" y="771525"/>
                  </a:cubicBezTo>
                  <a:cubicBezTo>
                    <a:pt x="172712" y="771525"/>
                    <a:pt x="0" y="598813"/>
                    <a:pt x="0" y="385763"/>
                  </a:cubicBezTo>
                  <a:cubicBezTo>
                    <a:pt x="0" y="172712"/>
                    <a:pt x="172712" y="0"/>
                    <a:pt x="385763" y="0"/>
                  </a:cubicBezTo>
                  <a:cubicBezTo>
                    <a:pt x="598813" y="0"/>
                    <a:pt x="771525" y="172712"/>
                    <a:pt x="771525" y="385763"/>
                  </a:cubicBezTo>
                  <a:close/>
                </a:path>
              </a:pathLst>
            </a:custGeom>
            <a:solidFill>
              <a:srgbClr val="FFFFFF"/>
            </a:solidFill>
            <a:ln w="571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nvGrpSpPr>
            <p:cNvPr id="195" name="图形 2"/>
            <p:cNvGrpSpPr/>
            <p:nvPr/>
          </p:nvGrpSpPr>
          <p:grpSpPr>
            <a:xfrm>
              <a:off x="5836024" y="4678927"/>
              <a:ext cx="520007" cy="524922"/>
              <a:chOff x="5836024" y="4678927"/>
              <a:chExt cx="520007" cy="524922"/>
            </a:xfrm>
          </p:grpSpPr>
          <p:sp>
            <p:nvSpPr>
              <p:cNvPr id="196" name="任意多边形: 形状 92"/>
              <p:cNvSpPr/>
              <p:nvPr/>
            </p:nvSpPr>
            <p:spPr>
              <a:xfrm>
                <a:off x="5836024" y="4678927"/>
                <a:ext cx="306438" cy="305523"/>
              </a:xfrm>
              <a:custGeom>
                <a:avLst/>
                <a:gdLst>
                  <a:gd name="connsiteX0" fmla="*/ 306438 w 306438"/>
                  <a:gd name="connsiteY0" fmla="*/ 152762 h 305523"/>
                  <a:gd name="connsiteX1" fmla="*/ 153219 w 306438"/>
                  <a:gd name="connsiteY1" fmla="*/ 305524 h 305523"/>
                  <a:gd name="connsiteX2" fmla="*/ 153219 w 306438"/>
                  <a:gd name="connsiteY2" fmla="*/ 305524 h 305523"/>
                  <a:gd name="connsiteX3" fmla="*/ 0 w 306438"/>
                  <a:gd name="connsiteY3" fmla="*/ 152762 h 305523"/>
                  <a:gd name="connsiteX4" fmla="*/ 0 w 306438"/>
                  <a:gd name="connsiteY4" fmla="*/ 152762 h 305523"/>
                  <a:gd name="connsiteX5" fmla="*/ 153219 w 306438"/>
                  <a:gd name="connsiteY5" fmla="*/ 0 h 305523"/>
                  <a:gd name="connsiteX6" fmla="*/ 153219 w 306438"/>
                  <a:gd name="connsiteY6" fmla="*/ 0 h 305523"/>
                  <a:gd name="connsiteX7" fmla="*/ 306438 w 306438"/>
                  <a:gd name="connsiteY7" fmla="*/ 152762 h 305523"/>
                  <a:gd name="connsiteX8" fmla="*/ 306438 w 306438"/>
                  <a:gd name="connsiteY8" fmla="*/ 152762 h 30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438" h="305523">
                    <a:moveTo>
                      <a:pt x="306438" y="152762"/>
                    </a:moveTo>
                    <a:cubicBezTo>
                      <a:pt x="306438" y="237115"/>
                      <a:pt x="237801" y="305524"/>
                      <a:pt x="153219" y="305524"/>
                    </a:cubicBezTo>
                    <a:lnTo>
                      <a:pt x="153219" y="305524"/>
                    </a:lnTo>
                    <a:cubicBezTo>
                      <a:pt x="68580" y="305524"/>
                      <a:pt x="0" y="237115"/>
                      <a:pt x="0" y="152762"/>
                    </a:cubicBezTo>
                    <a:lnTo>
                      <a:pt x="0" y="152762"/>
                    </a:lnTo>
                    <a:cubicBezTo>
                      <a:pt x="0" y="68408"/>
                      <a:pt x="68637" y="0"/>
                      <a:pt x="153219" y="0"/>
                    </a:cubicBezTo>
                    <a:lnTo>
                      <a:pt x="153219" y="0"/>
                    </a:lnTo>
                    <a:cubicBezTo>
                      <a:pt x="237858" y="0"/>
                      <a:pt x="306438" y="68408"/>
                      <a:pt x="306438" y="152762"/>
                    </a:cubicBezTo>
                    <a:lnTo>
                      <a:pt x="306438" y="152762"/>
                    </a:lnTo>
                  </a:path>
                </a:pathLst>
              </a:custGeom>
              <a:gradFill>
                <a:gsLst>
                  <a:gs pos="1000">
                    <a:srgbClr val="668EFF"/>
                  </a:gs>
                  <a:gs pos="34000">
                    <a:srgbClr val="668EFF"/>
                  </a:gs>
                  <a:gs pos="76000">
                    <a:srgbClr val="3368FF"/>
                  </a:gs>
                  <a:gs pos="100000">
                    <a:srgbClr val="3368FF"/>
                  </a:gs>
                </a:gsLst>
                <a:lin ang="4863863" scaled="1"/>
              </a:gradFill>
              <a:ln w="5715"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7" name="任意多边形: 形状 93"/>
              <p:cNvSpPr/>
              <p:nvPr/>
            </p:nvSpPr>
            <p:spPr>
              <a:xfrm>
                <a:off x="6049479" y="4898212"/>
                <a:ext cx="306552" cy="305638"/>
              </a:xfrm>
              <a:custGeom>
                <a:avLst/>
                <a:gdLst>
                  <a:gd name="connsiteX0" fmla="*/ 306553 w 306552"/>
                  <a:gd name="connsiteY0" fmla="*/ 152819 h 305638"/>
                  <a:gd name="connsiteX1" fmla="*/ 153276 w 306552"/>
                  <a:gd name="connsiteY1" fmla="*/ 305638 h 305638"/>
                  <a:gd name="connsiteX2" fmla="*/ 0 w 306552"/>
                  <a:gd name="connsiteY2" fmla="*/ 152819 h 305638"/>
                  <a:gd name="connsiteX3" fmla="*/ 153276 w 306552"/>
                  <a:gd name="connsiteY3" fmla="*/ 0 h 305638"/>
                  <a:gd name="connsiteX4" fmla="*/ 306553 w 306552"/>
                  <a:gd name="connsiteY4" fmla="*/ 152819 h 305638"/>
                  <a:gd name="connsiteX5" fmla="*/ 306553 w 306552"/>
                  <a:gd name="connsiteY5" fmla="*/ 152819 h 30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552" h="305638">
                    <a:moveTo>
                      <a:pt x="306553" y="152819"/>
                    </a:moveTo>
                    <a:cubicBezTo>
                      <a:pt x="306553" y="237230"/>
                      <a:pt x="237915" y="305638"/>
                      <a:pt x="153276" y="305638"/>
                    </a:cubicBezTo>
                    <a:cubicBezTo>
                      <a:pt x="68637" y="305638"/>
                      <a:pt x="0" y="237230"/>
                      <a:pt x="0" y="152819"/>
                    </a:cubicBezTo>
                    <a:cubicBezTo>
                      <a:pt x="0" y="68408"/>
                      <a:pt x="68637" y="0"/>
                      <a:pt x="153276" y="0"/>
                    </a:cubicBezTo>
                    <a:cubicBezTo>
                      <a:pt x="237915" y="0"/>
                      <a:pt x="306553" y="68408"/>
                      <a:pt x="306553" y="152819"/>
                    </a:cubicBezTo>
                    <a:lnTo>
                      <a:pt x="306553" y="152819"/>
                    </a:lnTo>
                  </a:path>
                </a:pathLst>
              </a:custGeom>
              <a:gradFill>
                <a:gsLst>
                  <a:gs pos="0">
                    <a:srgbClr val="3368FF"/>
                  </a:gs>
                  <a:gs pos="37000">
                    <a:srgbClr val="3368FF"/>
                  </a:gs>
                  <a:gs pos="57000">
                    <a:srgbClr val="3368FF"/>
                  </a:gs>
                  <a:gs pos="73000">
                    <a:srgbClr val="3368FF"/>
                  </a:gs>
                  <a:gs pos="88000">
                    <a:srgbClr val="668EFF"/>
                  </a:gs>
                  <a:gs pos="100000">
                    <a:srgbClr val="668EFF"/>
                  </a:gs>
                </a:gsLst>
                <a:lin ang="19786152" scaled="1"/>
              </a:gradFill>
              <a:ln w="571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98" name="任意多边形: 形状 94"/>
              <p:cNvSpPr/>
              <p:nvPr/>
            </p:nvSpPr>
            <p:spPr>
              <a:xfrm>
                <a:off x="5836538" y="4680184"/>
                <a:ext cx="305930" cy="305245"/>
              </a:xfrm>
              <a:custGeom>
                <a:avLst/>
                <a:gdLst>
                  <a:gd name="connsiteX0" fmla="*/ 0 w 305930"/>
                  <a:gd name="connsiteY0" fmla="*/ 164592 h 305245"/>
                  <a:gd name="connsiteX1" fmla="*/ 165278 w 305930"/>
                  <a:gd name="connsiteY1" fmla="*/ 304724 h 305245"/>
                  <a:gd name="connsiteX2" fmla="*/ 305410 w 305930"/>
                  <a:gd name="connsiteY2" fmla="*/ 139446 h 305245"/>
                  <a:gd name="connsiteX3" fmla="*/ 171736 w 305930"/>
                  <a:gd name="connsiteY3" fmla="*/ 0 h 305245"/>
                  <a:gd name="connsiteX4" fmla="*/ 0 w 305930"/>
                  <a:gd name="connsiteY4" fmla="*/ 164649 h 305245"/>
                  <a:gd name="connsiteX5" fmla="*/ 0 w 305930"/>
                  <a:gd name="connsiteY5" fmla="*/ 164649 h 30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30" h="305245">
                    <a:moveTo>
                      <a:pt x="0" y="164592"/>
                    </a:moveTo>
                    <a:cubicBezTo>
                      <a:pt x="6972" y="248945"/>
                      <a:pt x="80982" y="311639"/>
                      <a:pt x="165278" y="304724"/>
                    </a:cubicBezTo>
                    <a:cubicBezTo>
                      <a:pt x="249632" y="297752"/>
                      <a:pt x="312325" y="223742"/>
                      <a:pt x="305410" y="139446"/>
                    </a:cubicBezTo>
                    <a:cubicBezTo>
                      <a:pt x="299466" y="67208"/>
                      <a:pt x="243688" y="9030"/>
                      <a:pt x="171736" y="0"/>
                    </a:cubicBezTo>
                    <a:cubicBezTo>
                      <a:pt x="92755" y="26403"/>
                      <a:pt x="29718" y="86811"/>
                      <a:pt x="0" y="164649"/>
                    </a:cubicBezTo>
                    <a:lnTo>
                      <a:pt x="0" y="164649"/>
                    </a:lnTo>
                    <a:close/>
                  </a:path>
                </a:pathLst>
              </a:custGeom>
              <a:solidFill>
                <a:srgbClr val="383838">
                  <a:alpha val="5000"/>
                </a:srgbClr>
              </a:solidFill>
              <a:ln w="5715"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9" name="任意多边形: 形状 95"/>
              <p:cNvSpPr/>
              <p:nvPr/>
            </p:nvSpPr>
            <p:spPr>
              <a:xfrm>
                <a:off x="6049452" y="4897270"/>
                <a:ext cx="306179" cy="305951"/>
              </a:xfrm>
              <a:custGeom>
                <a:avLst/>
                <a:gdLst>
                  <a:gd name="connsiteX0" fmla="*/ 306179 w 306179"/>
                  <a:gd name="connsiteY0" fmla="*/ 142788 h 305951"/>
                  <a:gd name="connsiteX1" fmla="*/ 142788 w 306179"/>
                  <a:gd name="connsiteY1" fmla="*/ 370 h 305951"/>
                  <a:gd name="connsiteX2" fmla="*/ 370 w 306179"/>
                  <a:gd name="connsiteY2" fmla="*/ 163762 h 305951"/>
                  <a:gd name="connsiteX3" fmla="*/ 139416 w 306179"/>
                  <a:gd name="connsiteY3" fmla="*/ 305951 h 305951"/>
                  <a:gd name="connsiteX4" fmla="*/ 306179 w 306179"/>
                  <a:gd name="connsiteY4" fmla="*/ 142788 h 305951"/>
                  <a:gd name="connsiteX5" fmla="*/ 306179 w 306179"/>
                  <a:gd name="connsiteY5" fmla="*/ 142788 h 30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179" h="305951">
                    <a:moveTo>
                      <a:pt x="306179" y="142788"/>
                    </a:moveTo>
                    <a:cubicBezTo>
                      <a:pt x="300407" y="58320"/>
                      <a:pt x="227255" y="-5459"/>
                      <a:pt x="142788" y="370"/>
                    </a:cubicBezTo>
                    <a:cubicBezTo>
                      <a:pt x="58320" y="6142"/>
                      <a:pt x="-5459" y="79294"/>
                      <a:pt x="370" y="163762"/>
                    </a:cubicBezTo>
                    <a:cubicBezTo>
                      <a:pt x="5513" y="238857"/>
                      <a:pt x="64435" y="299150"/>
                      <a:pt x="139416" y="305951"/>
                    </a:cubicBezTo>
                    <a:cubicBezTo>
                      <a:pt x="216225" y="278633"/>
                      <a:pt x="277147" y="218969"/>
                      <a:pt x="306179" y="142788"/>
                    </a:cubicBezTo>
                    <a:lnTo>
                      <a:pt x="306179" y="142788"/>
                    </a:lnTo>
                    <a:close/>
                  </a:path>
                </a:pathLst>
              </a:custGeom>
              <a:solidFill>
                <a:srgbClr val="383838">
                  <a:alpha val="5000"/>
                </a:srgbClr>
              </a:solidFill>
              <a:ln w="571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0" name="任意多边形: 形状 96"/>
              <p:cNvSpPr/>
              <p:nvPr/>
            </p:nvSpPr>
            <p:spPr>
              <a:xfrm>
                <a:off x="5843682" y="4688700"/>
                <a:ext cx="298802" cy="296630"/>
              </a:xfrm>
              <a:custGeom>
                <a:avLst/>
                <a:gdLst>
                  <a:gd name="connsiteX0" fmla="*/ 0 w 298802"/>
                  <a:gd name="connsiteY0" fmla="*/ 190996 h 296630"/>
                  <a:gd name="connsiteX1" fmla="*/ 193167 w 298802"/>
                  <a:gd name="connsiteY1" fmla="*/ 289008 h 296630"/>
                  <a:gd name="connsiteX2" fmla="*/ 291179 w 298802"/>
                  <a:gd name="connsiteY2" fmla="*/ 95841 h 296630"/>
                  <a:gd name="connsiteX3" fmla="*/ 199396 w 298802"/>
                  <a:gd name="connsiteY3" fmla="*/ 0 h 296630"/>
                  <a:gd name="connsiteX4" fmla="*/ 0 w 298802"/>
                  <a:gd name="connsiteY4" fmla="*/ 190996 h 296630"/>
                  <a:gd name="connsiteX5" fmla="*/ 0 w 298802"/>
                  <a:gd name="connsiteY5" fmla="*/ 190996 h 2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802" h="296630">
                    <a:moveTo>
                      <a:pt x="0" y="190996"/>
                    </a:moveTo>
                    <a:cubicBezTo>
                      <a:pt x="26289" y="271405"/>
                      <a:pt x="112757" y="315297"/>
                      <a:pt x="193167" y="289008"/>
                    </a:cubicBezTo>
                    <a:cubicBezTo>
                      <a:pt x="273577" y="262719"/>
                      <a:pt x="317469" y="176251"/>
                      <a:pt x="291179" y="95841"/>
                    </a:cubicBezTo>
                    <a:cubicBezTo>
                      <a:pt x="276721" y="51607"/>
                      <a:pt x="242945" y="16345"/>
                      <a:pt x="199396" y="0"/>
                    </a:cubicBezTo>
                    <a:cubicBezTo>
                      <a:pt x="101899" y="20288"/>
                      <a:pt x="24460" y="94469"/>
                      <a:pt x="0" y="190996"/>
                    </a:cubicBezTo>
                    <a:lnTo>
                      <a:pt x="0" y="190996"/>
                    </a:lnTo>
                    <a:close/>
                  </a:path>
                </a:pathLst>
              </a:custGeom>
              <a:solidFill>
                <a:srgbClr val="383838">
                  <a:alpha val="10000"/>
                </a:srgbClr>
              </a:solidFill>
              <a:ln w="5715"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01" name="任意多边形: 形状 97"/>
              <p:cNvSpPr/>
              <p:nvPr/>
            </p:nvSpPr>
            <p:spPr>
              <a:xfrm>
                <a:off x="6049368" y="4897358"/>
                <a:ext cx="299291" cy="298147"/>
              </a:xfrm>
              <a:custGeom>
                <a:avLst/>
                <a:gdLst>
                  <a:gd name="connsiteX0" fmla="*/ 299291 w 299291"/>
                  <a:gd name="connsiteY0" fmla="*/ 106810 h 298147"/>
                  <a:gd name="connsiteX1" fmla="*/ 106810 w 299291"/>
                  <a:gd name="connsiteY1" fmla="*/ 7255 h 298147"/>
                  <a:gd name="connsiteX2" fmla="*/ 7255 w 299291"/>
                  <a:gd name="connsiteY2" fmla="*/ 199736 h 298147"/>
                  <a:gd name="connsiteX3" fmla="*/ 103438 w 299291"/>
                  <a:gd name="connsiteY3" fmla="*/ 298148 h 298147"/>
                  <a:gd name="connsiteX4" fmla="*/ 299234 w 299291"/>
                  <a:gd name="connsiteY4" fmla="*/ 106753 h 298147"/>
                  <a:gd name="connsiteX5" fmla="*/ 299234 w 299291"/>
                  <a:gd name="connsiteY5" fmla="*/ 106753 h 29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9291" h="298147">
                    <a:moveTo>
                      <a:pt x="299291" y="106810"/>
                    </a:moveTo>
                    <a:cubicBezTo>
                      <a:pt x="273631" y="26171"/>
                      <a:pt x="187449" y="-18406"/>
                      <a:pt x="106810" y="7255"/>
                    </a:cubicBezTo>
                    <a:cubicBezTo>
                      <a:pt x="26171" y="32915"/>
                      <a:pt x="-18406" y="119097"/>
                      <a:pt x="7255" y="199736"/>
                    </a:cubicBezTo>
                    <a:cubicBezTo>
                      <a:pt x="21942" y="245913"/>
                      <a:pt x="57604" y="282432"/>
                      <a:pt x="103438" y="298148"/>
                    </a:cubicBezTo>
                    <a:cubicBezTo>
                      <a:pt x="199679" y="276545"/>
                      <a:pt x="275459" y="202479"/>
                      <a:pt x="299234" y="106753"/>
                    </a:cubicBezTo>
                    <a:lnTo>
                      <a:pt x="299234" y="106753"/>
                    </a:lnTo>
                    <a:close/>
                  </a:path>
                </a:pathLst>
              </a:custGeom>
              <a:solidFill>
                <a:srgbClr val="383838">
                  <a:alpha val="10000"/>
                </a:srgbClr>
              </a:solidFill>
              <a:ln w="571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2" name="任意多边形: 形状 98"/>
              <p:cNvSpPr/>
              <p:nvPr/>
            </p:nvSpPr>
            <p:spPr>
              <a:xfrm>
                <a:off x="5849340" y="4694872"/>
                <a:ext cx="293137" cy="290346"/>
              </a:xfrm>
              <a:custGeom>
                <a:avLst/>
                <a:gdLst>
                  <a:gd name="connsiteX0" fmla="*/ 0 w 293137"/>
                  <a:gd name="connsiteY0" fmla="*/ 199282 h 290346"/>
                  <a:gd name="connsiteX1" fmla="*/ 202082 w 293137"/>
                  <a:gd name="connsiteY1" fmla="*/ 277120 h 290346"/>
                  <a:gd name="connsiteX2" fmla="*/ 279921 w 293137"/>
                  <a:gd name="connsiteY2" fmla="*/ 75038 h 290346"/>
                  <a:gd name="connsiteX3" fmla="*/ 208083 w 293137"/>
                  <a:gd name="connsiteY3" fmla="*/ 0 h 290346"/>
                  <a:gd name="connsiteX4" fmla="*/ 0 w 293137"/>
                  <a:gd name="connsiteY4" fmla="*/ 199282 h 290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137" h="290346">
                    <a:moveTo>
                      <a:pt x="0" y="199282"/>
                    </a:moveTo>
                    <a:cubicBezTo>
                      <a:pt x="34290" y="276606"/>
                      <a:pt x="124815" y="311468"/>
                      <a:pt x="202082" y="277120"/>
                    </a:cubicBezTo>
                    <a:cubicBezTo>
                      <a:pt x="279349" y="242773"/>
                      <a:pt x="314268" y="152305"/>
                      <a:pt x="279921" y="75038"/>
                    </a:cubicBezTo>
                    <a:cubicBezTo>
                      <a:pt x="265461" y="42405"/>
                      <a:pt x="240030" y="15888"/>
                      <a:pt x="208083" y="0"/>
                    </a:cubicBezTo>
                    <a:cubicBezTo>
                      <a:pt x="103784" y="16231"/>
                      <a:pt x="20745" y="95783"/>
                      <a:pt x="0" y="199282"/>
                    </a:cubicBezTo>
                    <a:close/>
                  </a:path>
                </a:pathLst>
              </a:custGeom>
              <a:solidFill>
                <a:srgbClr val="383838">
                  <a:alpha val="10000"/>
                </a:srgbClr>
              </a:solidFill>
              <a:ln w="5715"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03" name="任意多边形: 形状 99"/>
              <p:cNvSpPr/>
              <p:nvPr/>
            </p:nvSpPr>
            <p:spPr>
              <a:xfrm>
                <a:off x="6049369" y="4897416"/>
                <a:ext cx="293689" cy="292204"/>
              </a:xfrm>
              <a:custGeom>
                <a:avLst/>
                <a:gdLst>
                  <a:gd name="connsiteX0" fmla="*/ 293633 w 293689"/>
                  <a:gd name="connsiteY0" fmla="*/ 91951 h 292204"/>
                  <a:gd name="connsiteX1" fmla="*/ 91950 w 293689"/>
                  <a:gd name="connsiteY1" fmla="*/ 12855 h 292204"/>
                  <a:gd name="connsiteX2" fmla="*/ 12855 w 293689"/>
                  <a:gd name="connsiteY2" fmla="*/ 214537 h 292204"/>
                  <a:gd name="connsiteX3" fmla="*/ 88750 w 293689"/>
                  <a:gd name="connsiteY3" fmla="*/ 292204 h 292204"/>
                  <a:gd name="connsiteX4" fmla="*/ 293690 w 293689"/>
                  <a:gd name="connsiteY4" fmla="*/ 92007 h 292204"/>
                  <a:gd name="connsiteX5" fmla="*/ 293690 w 293689"/>
                  <a:gd name="connsiteY5" fmla="*/ 92007 h 292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689" h="292204">
                    <a:moveTo>
                      <a:pt x="293633" y="91951"/>
                    </a:moveTo>
                    <a:cubicBezTo>
                      <a:pt x="259800" y="14398"/>
                      <a:pt x="169503" y="-21035"/>
                      <a:pt x="91950" y="12855"/>
                    </a:cubicBezTo>
                    <a:cubicBezTo>
                      <a:pt x="14398" y="46687"/>
                      <a:pt x="-21035" y="136984"/>
                      <a:pt x="12855" y="214537"/>
                    </a:cubicBezTo>
                    <a:cubicBezTo>
                      <a:pt x="27828" y="248827"/>
                      <a:pt x="54803" y="276431"/>
                      <a:pt x="88750" y="292204"/>
                    </a:cubicBezTo>
                    <a:cubicBezTo>
                      <a:pt x="192077" y="274659"/>
                      <a:pt x="273745" y="194877"/>
                      <a:pt x="293690" y="92007"/>
                    </a:cubicBezTo>
                    <a:lnTo>
                      <a:pt x="293690" y="92007"/>
                    </a:lnTo>
                    <a:close/>
                  </a:path>
                </a:pathLst>
              </a:custGeom>
              <a:solidFill>
                <a:srgbClr val="383838">
                  <a:alpha val="10000"/>
                </a:srgbClr>
              </a:solidFill>
              <a:ln w="571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4" name="任意多边形: 形状 100"/>
              <p:cNvSpPr/>
              <p:nvPr/>
            </p:nvSpPr>
            <p:spPr>
              <a:xfrm>
                <a:off x="5853340" y="4700644"/>
                <a:ext cx="485432" cy="483831"/>
              </a:xfrm>
              <a:custGeom>
                <a:avLst/>
                <a:gdLst>
                  <a:gd name="connsiteX0" fmla="*/ 485432 w 485432"/>
                  <a:gd name="connsiteY0" fmla="*/ 241916 h 483831"/>
                  <a:gd name="connsiteX1" fmla="*/ 242716 w 485432"/>
                  <a:gd name="connsiteY1" fmla="*/ 483832 h 483831"/>
                  <a:gd name="connsiteX2" fmla="*/ 242716 w 485432"/>
                  <a:gd name="connsiteY2" fmla="*/ 483832 h 483831"/>
                  <a:gd name="connsiteX3" fmla="*/ 0 w 485432"/>
                  <a:gd name="connsiteY3" fmla="*/ 241916 h 483831"/>
                  <a:gd name="connsiteX4" fmla="*/ 0 w 485432"/>
                  <a:gd name="connsiteY4" fmla="*/ 241916 h 483831"/>
                  <a:gd name="connsiteX5" fmla="*/ 242716 w 485432"/>
                  <a:gd name="connsiteY5" fmla="*/ 0 h 483831"/>
                  <a:gd name="connsiteX6" fmla="*/ 242716 w 485432"/>
                  <a:gd name="connsiteY6" fmla="*/ 0 h 483831"/>
                  <a:gd name="connsiteX7" fmla="*/ 485432 w 485432"/>
                  <a:gd name="connsiteY7" fmla="*/ 241916 h 483831"/>
                  <a:gd name="connsiteX8" fmla="*/ 485432 w 485432"/>
                  <a:gd name="connsiteY8" fmla="*/ 241916 h 48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432" h="483831">
                    <a:moveTo>
                      <a:pt x="485432" y="241916"/>
                    </a:moveTo>
                    <a:cubicBezTo>
                      <a:pt x="485432" y="375532"/>
                      <a:pt x="376790" y="483832"/>
                      <a:pt x="242716" y="483832"/>
                    </a:cubicBezTo>
                    <a:lnTo>
                      <a:pt x="242716" y="483832"/>
                    </a:lnTo>
                    <a:cubicBezTo>
                      <a:pt x="108642" y="483832"/>
                      <a:pt x="0" y="375532"/>
                      <a:pt x="0" y="241916"/>
                    </a:cubicBezTo>
                    <a:lnTo>
                      <a:pt x="0" y="241916"/>
                    </a:lnTo>
                    <a:cubicBezTo>
                      <a:pt x="0" y="108299"/>
                      <a:pt x="108642" y="0"/>
                      <a:pt x="242716" y="0"/>
                    </a:cubicBezTo>
                    <a:lnTo>
                      <a:pt x="242716" y="0"/>
                    </a:lnTo>
                    <a:cubicBezTo>
                      <a:pt x="376790" y="0"/>
                      <a:pt x="485432" y="108299"/>
                      <a:pt x="485432" y="241916"/>
                    </a:cubicBezTo>
                    <a:lnTo>
                      <a:pt x="485432" y="241916"/>
                    </a:lnTo>
                  </a:path>
                </a:pathLst>
              </a:custGeom>
              <a:gradFill>
                <a:gsLst>
                  <a:gs pos="0">
                    <a:srgbClr val="668EFF"/>
                  </a:gs>
                  <a:gs pos="50000">
                    <a:srgbClr val="668EFF"/>
                  </a:gs>
                  <a:gs pos="100000">
                    <a:srgbClr val="3368FF"/>
                  </a:gs>
                </a:gsLst>
                <a:lin ang="3600200" scaled="1"/>
              </a:gradFill>
              <a:ln w="5715"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05" name="任意多边形: 形状 101"/>
              <p:cNvSpPr/>
              <p:nvPr/>
            </p:nvSpPr>
            <p:spPr>
              <a:xfrm>
                <a:off x="5995673" y="4797732"/>
                <a:ext cx="194435" cy="282716"/>
              </a:xfrm>
              <a:custGeom>
                <a:avLst/>
                <a:gdLst>
                  <a:gd name="connsiteX0" fmla="*/ 32089 w 194435"/>
                  <a:gd name="connsiteY0" fmla="*/ 136427 h 282716"/>
                  <a:gd name="connsiteX1" fmla="*/ 8200 w 194435"/>
                  <a:gd name="connsiteY1" fmla="*/ 111224 h 282716"/>
                  <a:gd name="connsiteX2" fmla="*/ 28 w 194435"/>
                  <a:gd name="connsiteY2" fmla="*/ 76362 h 282716"/>
                  <a:gd name="connsiteX3" fmla="*/ 14773 w 194435"/>
                  <a:gd name="connsiteY3" fmla="*/ 34186 h 282716"/>
                  <a:gd name="connsiteX4" fmla="*/ 53292 w 194435"/>
                  <a:gd name="connsiteY4" fmla="*/ 8468 h 282716"/>
                  <a:gd name="connsiteX5" fmla="*/ 103698 w 194435"/>
                  <a:gd name="connsiteY5" fmla="*/ 10 h 282716"/>
                  <a:gd name="connsiteX6" fmla="*/ 137245 w 194435"/>
                  <a:gd name="connsiteY6" fmla="*/ 2582 h 282716"/>
                  <a:gd name="connsiteX7" fmla="*/ 160505 w 194435"/>
                  <a:gd name="connsiteY7" fmla="*/ 8583 h 282716"/>
                  <a:gd name="connsiteX8" fmla="*/ 178679 w 194435"/>
                  <a:gd name="connsiteY8" fmla="*/ 20184 h 282716"/>
                  <a:gd name="connsiteX9" fmla="*/ 184280 w 194435"/>
                  <a:gd name="connsiteY9" fmla="*/ 35786 h 282716"/>
                  <a:gd name="connsiteX10" fmla="*/ 178393 w 194435"/>
                  <a:gd name="connsiteY10" fmla="*/ 52074 h 282716"/>
                  <a:gd name="connsiteX11" fmla="*/ 163534 w 194435"/>
                  <a:gd name="connsiteY11" fmla="*/ 58246 h 282716"/>
                  <a:gd name="connsiteX12" fmla="*/ 152504 w 194435"/>
                  <a:gd name="connsiteY12" fmla="*/ 55789 h 282716"/>
                  <a:gd name="connsiteX13" fmla="*/ 126215 w 194435"/>
                  <a:gd name="connsiteY13" fmla="*/ 46187 h 282716"/>
                  <a:gd name="connsiteX14" fmla="*/ 100898 w 194435"/>
                  <a:gd name="connsiteY14" fmla="*/ 43044 h 282716"/>
                  <a:gd name="connsiteX15" fmla="*/ 69179 w 194435"/>
                  <a:gd name="connsiteY15" fmla="*/ 51159 h 282716"/>
                  <a:gd name="connsiteX16" fmla="*/ 56492 w 194435"/>
                  <a:gd name="connsiteY16" fmla="*/ 74876 h 282716"/>
                  <a:gd name="connsiteX17" fmla="*/ 63064 w 194435"/>
                  <a:gd name="connsiteY17" fmla="*/ 91565 h 282716"/>
                  <a:gd name="connsiteX18" fmla="*/ 80781 w 194435"/>
                  <a:gd name="connsiteY18" fmla="*/ 104252 h 282716"/>
                  <a:gd name="connsiteX19" fmla="*/ 114042 w 194435"/>
                  <a:gd name="connsiteY19" fmla="*/ 118939 h 282716"/>
                  <a:gd name="connsiteX20" fmla="*/ 118786 w 194435"/>
                  <a:gd name="connsiteY20" fmla="*/ 120825 h 282716"/>
                  <a:gd name="connsiteX21" fmla="*/ 159934 w 194435"/>
                  <a:gd name="connsiteY21" fmla="*/ 141971 h 282716"/>
                  <a:gd name="connsiteX22" fmla="*/ 185251 w 194435"/>
                  <a:gd name="connsiteY22" fmla="*/ 167974 h 282716"/>
                  <a:gd name="connsiteX23" fmla="*/ 194395 w 194435"/>
                  <a:gd name="connsiteY23" fmla="*/ 204093 h 282716"/>
                  <a:gd name="connsiteX24" fmla="*/ 181708 w 194435"/>
                  <a:gd name="connsiteY24" fmla="*/ 247641 h 282716"/>
                  <a:gd name="connsiteX25" fmla="*/ 146275 w 194435"/>
                  <a:gd name="connsiteY25" fmla="*/ 273930 h 282716"/>
                  <a:gd name="connsiteX26" fmla="*/ 93011 w 194435"/>
                  <a:gd name="connsiteY26" fmla="*/ 282617 h 282716"/>
                  <a:gd name="connsiteX27" fmla="*/ 20431 w 194435"/>
                  <a:gd name="connsiteY27" fmla="*/ 268901 h 282716"/>
                  <a:gd name="connsiteX28" fmla="*/ 5514 w 194435"/>
                  <a:gd name="connsiteY28" fmla="*/ 257300 h 282716"/>
                  <a:gd name="connsiteX29" fmla="*/ 657 w 194435"/>
                  <a:gd name="connsiteY29" fmla="*/ 241469 h 282716"/>
                  <a:gd name="connsiteX30" fmla="*/ 7057 w 194435"/>
                  <a:gd name="connsiteY30" fmla="*/ 225353 h 282716"/>
                  <a:gd name="connsiteX31" fmla="*/ 23517 w 194435"/>
                  <a:gd name="connsiteY31" fmla="*/ 219523 h 282716"/>
                  <a:gd name="connsiteX32" fmla="*/ 42776 w 194435"/>
                  <a:gd name="connsiteY32" fmla="*/ 224495 h 282716"/>
                  <a:gd name="connsiteX33" fmla="*/ 60207 w 194435"/>
                  <a:gd name="connsiteY33" fmla="*/ 232782 h 282716"/>
                  <a:gd name="connsiteX34" fmla="*/ 75237 w 194435"/>
                  <a:gd name="connsiteY34" fmla="*/ 237525 h 282716"/>
                  <a:gd name="connsiteX35" fmla="*/ 94554 w 194435"/>
                  <a:gd name="connsiteY35" fmla="*/ 239526 h 282716"/>
                  <a:gd name="connsiteX36" fmla="*/ 127072 w 194435"/>
                  <a:gd name="connsiteY36" fmla="*/ 230839 h 282716"/>
                  <a:gd name="connsiteX37" fmla="*/ 138045 w 194435"/>
                  <a:gd name="connsiteY37" fmla="*/ 207122 h 282716"/>
                  <a:gd name="connsiteX38" fmla="*/ 131187 w 194435"/>
                  <a:gd name="connsiteY38" fmla="*/ 189805 h 282716"/>
                  <a:gd name="connsiteX39" fmla="*/ 111013 w 194435"/>
                  <a:gd name="connsiteY39" fmla="*/ 175118 h 282716"/>
                  <a:gd name="connsiteX40" fmla="*/ 73466 w 194435"/>
                  <a:gd name="connsiteY40" fmla="*/ 157973 h 282716"/>
                  <a:gd name="connsiteX41" fmla="*/ 32204 w 194435"/>
                  <a:gd name="connsiteY41" fmla="*/ 136542 h 28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4435" h="282716">
                    <a:moveTo>
                      <a:pt x="32089" y="136427"/>
                    </a:moveTo>
                    <a:cubicBezTo>
                      <a:pt x="22260" y="129969"/>
                      <a:pt x="14087" y="121339"/>
                      <a:pt x="8200" y="111224"/>
                    </a:cubicBezTo>
                    <a:cubicBezTo>
                      <a:pt x="2485" y="100537"/>
                      <a:pt x="-315" y="88478"/>
                      <a:pt x="28" y="76362"/>
                    </a:cubicBezTo>
                    <a:cubicBezTo>
                      <a:pt x="-429" y="60932"/>
                      <a:pt x="4828" y="45959"/>
                      <a:pt x="14773" y="34186"/>
                    </a:cubicBezTo>
                    <a:cubicBezTo>
                      <a:pt x="25117" y="22356"/>
                      <a:pt x="38376" y="13497"/>
                      <a:pt x="53292" y="8468"/>
                    </a:cubicBezTo>
                    <a:cubicBezTo>
                      <a:pt x="69465" y="2753"/>
                      <a:pt x="86496" y="-104"/>
                      <a:pt x="103698" y="10"/>
                    </a:cubicBezTo>
                    <a:cubicBezTo>
                      <a:pt x="114899" y="-104"/>
                      <a:pt x="126158" y="753"/>
                      <a:pt x="137245" y="2582"/>
                    </a:cubicBezTo>
                    <a:cubicBezTo>
                      <a:pt x="145189" y="3782"/>
                      <a:pt x="152962" y="5840"/>
                      <a:pt x="160505" y="8583"/>
                    </a:cubicBezTo>
                    <a:cubicBezTo>
                      <a:pt x="167420" y="10926"/>
                      <a:pt x="173650" y="14926"/>
                      <a:pt x="178679" y="20184"/>
                    </a:cubicBezTo>
                    <a:cubicBezTo>
                      <a:pt x="182394" y="24527"/>
                      <a:pt x="184394" y="30071"/>
                      <a:pt x="184280" y="35786"/>
                    </a:cubicBezTo>
                    <a:cubicBezTo>
                      <a:pt x="184565" y="41787"/>
                      <a:pt x="182394" y="47616"/>
                      <a:pt x="178393" y="52074"/>
                    </a:cubicBezTo>
                    <a:cubicBezTo>
                      <a:pt x="174564" y="56189"/>
                      <a:pt x="169135" y="58417"/>
                      <a:pt x="163534" y="58246"/>
                    </a:cubicBezTo>
                    <a:cubicBezTo>
                      <a:pt x="159705" y="58246"/>
                      <a:pt x="155933" y="57389"/>
                      <a:pt x="152504" y="55789"/>
                    </a:cubicBezTo>
                    <a:cubicBezTo>
                      <a:pt x="143989" y="51960"/>
                      <a:pt x="135188" y="48759"/>
                      <a:pt x="126215" y="46187"/>
                    </a:cubicBezTo>
                    <a:cubicBezTo>
                      <a:pt x="117929" y="44016"/>
                      <a:pt x="109413" y="42930"/>
                      <a:pt x="100898" y="43044"/>
                    </a:cubicBezTo>
                    <a:cubicBezTo>
                      <a:pt x="89754" y="42644"/>
                      <a:pt x="78723" y="45444"/>
                      <a:pt x="69179" y="51159"/>
                    </a:cubicBezTo>
                    <a:cubicBezTo>
                      <a:pt x="60950" y="56189"/>
                      <a:pt x="56092" y="65218"/>
                      <a:pt x="56492" y="74876"/>
                    </a:cubicBezTo>
                    <a:cubicBezTo>
                      <a:pt x="56435" y="81106"/>
                      <a:pt x="58778" y="87049"/>
                      <a:pt x="63064" y="91565"/>
                    </a:cubicBezTo>
                    <a:cubicBezTo>
                      <a:pt x="68151" y="96822"/>
                      <a:pt x="74151" y="101166"/>
                      <a:pt x="80781" y="104252"/>
                    </a:cubicBezTo>
                    <a:cubicBezTo>
                      <a:pt x="88211" y="107967"/>
                      <a:pt x="99298" y="112824"/>
                      <a:pt x="114042" y="118939"/>
                    </a:cubicBezTo>
                    <a:cubicBezTo>
                      <a:pt x="115700" y="119454"/>
                      <a:pt x="117243" y="120082"/>
                      <a:pt x="118786" y="120825"/>
                    </a:cubicBezTo>
                    <a:cubicBezTo>
                      <a:pt x="133188" y="126540"/>
                      <a:pt x="146961" y="133570"/>
                      <a:pt x="159934" y="141971"/>
                    </a:cubicBezTo>
                    <a:cubicBezTo>
                      <a:pt x="170221" y="148657"/>
                      <a:pt x="178850" y="157515"/>
                      <a:pt x="185251" y="167974"/>
                    </a:cubicBezTo>
                    <a:cubicBezTo>
                      <a:pt x="191595" y="178947"/>
                      <a:pt x="194738" y="191463"/>
                      <a:pt x="194395" y="204093"/>
                    </a:cubicBezTo>
                    <a:cubicBezTo>
                      <a:pt x="194909" y="219580"/>
                      <a:pt x="190509" y="234840"/>
                      <a:pt x="181708" y="247641"/>
                    </a:cubicBezTo>
                    <a:cubicBezTo>
                      <a:pt x="172792" y="259757"/>
                      <a:pt x="160448" y="268901"/>
                      <a:pt x="146275" y="273930"/>
                    </a:cubicBezTo>
                    <a:cubicBezTo>
                      <a:pt x="129187" y="280045"/>
                      <a:pt x="111128" y="282960"/>
                      <a:pt x="93011" y="282617"/>
                    </a:cubicBezTo>
                    <a:cubicBezTo>
                      <a:pt x="68094" y="283474"/>
                      <a:pt x="43291" y="278788"/>
                      <a:pt x="20431" y="268901"/>
                    </a:cubicBezTo>
                    <a:cubicBezTo>
                      <a:pt x="14601" y="266272"/>
                      <a:pt x="9458" y="262329"/>
                      <a:pt x="5514" y="257300"/>
                    </a:cubicBezTo>
                    <a:cubicBezTo>
                      <a:pt x="2200" y="252670"/>
                      <a:pt x="542" y="247127"/>
                      <a:pt x="657" y="241469"/>
                    </a:cubicBezTo>
                    <a:cubicBezTo>
                      <a:pt x="314" y="235411"/>
                      <a:pt x="2657" y="229524"/>
                      <a:pt x="7057" y="225353"/>
                    </a:cubicBezTo>
                    <a:cubicBezTo>
                      <a:pt x="11572" y="221352"/>
                      <a:pt x="17516" y="219295"/>
                      <a:pt x="23517" y="219523"/>
                    </a:cubicBezTo>
                    <a:cubicBezTo>
                      <a:pt x="30260" y="219638"/>
                      <a:pt x="36833" y="221295"/>
                      <a:pt x="42776" y="224495"/>
                    </a:cubicBezTo>
                    <a:cubicBezTo>
                      <a:pt x="50148" y="228153"/>
                      <a:pt x="55978" y="230953"/>
                      <a:pt x="60207" y="232782"/>
                    </a:cubicBezTo>
                    <a:cubicBezTo>
                      <a:pt x="65065" y="234840"/>
                      <a:pt x="70094" y="236382"/>
                      <a:pt x="75237" y="237525"/>
                    </a:cubicBezTo>
                    <a:cubicBezTo>
                      <a:pt x="81581" y="238897"/>
                      <a:pt x="88096" y="239583"/>
                      <a:pt x="94554" y="239526"/>
                    </a:cubicBezTo>
                    <a:cubicBezTo>
                      <a:pt x="106041" y="240326"/>
                      <a:pt x="117471" y="237297"/>
                      <a:pt x="127072" y="230839"/>
                    </a:cubicBezTo>
                    <a:cubicBezTo>
                      <a:pt x="134331" y="225181"/>
                      <a:pt x="138388" y="216323"/>
                      <a:pt x="138045" y="207122"/>
                    </a:cubicBezTo>
                    <a:cubicBezTo>
                      <a:pt x="138045" y="200664"/>
                      <a:pt x="135588" y="194492"/>
                      <a:pt x="131187" y="189805"/>
                    </a:cubicBezTo>
                    <a:cubicBezTo>
                      <a:pt x="125358" y="183804"/>
                      <a:pt x="118500" y="178832"/>
                      <a:pt x="111013" y="175118"/>
                    </a:cubicBezTo>
                    <a:cubicBezTo>
                      <a:pt x="102098" y="170431"/>
                      <a:pt x="89582" y="164716"/>
                      <a:pt x="73466" y="157973"/>
                    </a:cubicBezTo>
                    <a:cubicBezTo>
                      <a:pt x="59064" y="152201"/>
                      <a:pt x="45234" y="145057"/>
                      <a:pt x="32204" y="136542"/>
                    </a:cubicBezTo>
                  </a:path>
                </a:pathLst>
              </a:custGeom>
              <a:solidFill>
                <a:srgbClr val="FFFFFF"/>
              </a:solidFill>
              <a:ln w="571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grpSp>
      <p:sp>
        <p:nvSpPr>
          <p:cNvPr id="206" name="Freeform 41"/>
          <p:cNvSpPr>
            <a:spLocks noEditPoints="1"/>
          </p:cNvSpPr>
          <p:nvPr/>
        </p:nvSpPr>
        <p:spPr bwMode="auto">
          <a:xfrm>
            <a:off x="9946619" y="3457657"/>
            <a:ext cx="146706" cy="180000"/>
          </a:xfrm>
          <a:custGeom>
            <a:avLst/>
            <a:gdLst>
              <a:gd name="T0" fmla="*/ 48 w 96"/>
              <a:gd name="T1" fmla="*/ 0 h 160"/>
              <a:gd name="T2" fmla="*/ 0 w 96"/>
              <a:gd name="T3" fmla="*/ 49 h 160"/>
              <a:gd name="T4" fmla="*/ 13 w 96"/>
              <a:gd name="T5" fmla="*/ 88 h 160"/>
              <a:gd name="T6" fmla="*/ 25 w 96"/>
              <a:gd name="T7" fmla="*/ 118 h 160"/>
              <a:gd name="T8" fmla="*/ 29 w 96"/>
              <a:gd name="T9" fmla="*/ 124 h 160"/>
              <a:gd name="T10" fmla="*/ 25 w 96"/>
              <a:gd name="T11" fmla="*/ 129 h 160"/>
              <a:gd name="T12" fmla="*/ 29 w 96"/>
              <a:gd name="T13" fmla="*/ 135 h 160"/>
              <a:gd name="T14" fmla="*/ 25 w 96"/>
              <a:gd name="T15" fmla="*/ 141 h 160"/>
              <a:gd name="T16" fmla="*/ 32 w 96"/>
              <a:gd name="T17" fmla="*/ 148 h 160"/>
              <a:gd name="T18" fmla="*/ 35 w 96"/>
              <a:gd name="T19" fmla="*/ 148 h 160"/>
              <a:gd name="T20" fmla="*/ 48 w 96"/>
              <a:gd name="T21" fmla="*/ 160 h 160"/>
              <a:gd name="T22" fmla="*/ 61 w 96"/>
              <a:gd name="T23" fmla="*/ 148 h 160"/>
              <a:gd name="T24" fmla="*/ 64 w 96"/>
              <a:gd name="T25" fmla="*/ 148 h 160"/>
              <a:gd name="T26" fmla="*/ 71 w 96"/>
              <a:gd name="T27" fmla="*/ 141 h 160"/>
              <a:gd name="T28" fmla="*/ 67 w 96"/>
              <a:gd name="T29" fmla="*/ 135 h 160"/>
              <a:gd name="T30" fmla="*/ 71 w 96"/>
              <a:gd name="T31" fmla="*/ 129 h 160"/>
              <a:gd name="T32" fmla="*/ 67 w 96"/>
              <a:gd name="T33" fmla="*/ 124 h 160"/>
              <a:gd name="T34" fmla="*/ 71 w 96"/>
              <a:gd name="T35" fmla="*/ 118 h 160"/>
              <a:gd name="T36" fmla="*/ 83 w 96"/>
              <a:gd name="T37" fmla="*/ 88 h 160"/>
              <a:gd name="T38" fmla="*/ 96 w 96"/>
              <a:gd name="T39" fmla="*/ 49 h 160"/>
              <a:gd name="T40" fmla="*/ 48 w 96"/>
              <a:gd name="T41" fmla="*/ 0 h 160"/>
              <a:gd name="T42" fmla="*/ 72 w 96"/>
              <a:gd name="T43" fmla="*/ 80 h 160"/>
              <a:gd name="T44" fmla="*/ 60 w 96"/>
              <a:gd name="T45" fmla="*/ 111 h 160"/>
              <a:gd name="T46" fmla="*/ 53 w 96"/>
              <a:gd name="T47" fmla="*/ 111 h 160"/>
              <a:gd name="T48" fmla="*/ 63 w 96"/>
              <a:gd name="T49" fmla="*/ 57 h 160"/>
              <a:gd name="T50" fmla="*/ 63 w 96"/>
              <a:gd name="T51" fmla="*/ 57 h 160"/>
              <a:gd name="T52" fmla="*/ 60 w 96"/>
              <a:gd name="T53" fmla="*/ 49 h 160"/>
              <a:gd name="T54" fmla="*/ 52 w 96"/>
              <a:gd name="T55" fmla="*/ 44 h 160"/>
              <a:gd name="T56" fmla="*/ 48 w 96"/>
              <a:gd name="T57" fmla="*/ 46 h 160"/>
              <a:gd name="T58" fmla="*/ 44 w 96"/>
              <a:gd name="T59" fmla="*/ 44 h 160"/>
              <a:gd name="T60" fmla="*/ 36 w 96"/>
              <a:gd name="T61" fmla="*/ 49 h 160"/>
              <a:gd name="T62" fmla="*/ 33 w 96"/>
              <a:gd name="T63" fmla="*/ 57 h 160"/>
              <a:gd name="T64" fmla="*/ 33 w 96"/>
              <a:gd name="T65" fmla="*/ 57 h 160"/>
              <a:gd name="T66" fmla="*/ 43 w 96"/>
              <a:gd name="T67" fmla="*/ 111 h 160"/>
              <a:gd name="T68" fmla="*/ 36 w 96"/>
              <a:gd name="T69" fmla="*/ 111 h 160"/>
              <a:gd name="T70" fmla="*/ 24 w 96"/>
              <a:gd name="T71" fmla="*/ 80 h 160"/>
              <a:gd name="T72" fmla="*/ 12 w 96"/>
              <a:gd name="T73" fmla="*/ 49 h 160"/>
              <a:gd name="T74" fmla="*/ 48 w 96"/>
              <a:gd name="T75" fmla="*/ 13 h 160"/>
              <a:gd name="T76" fmla="*/ 84 w 96"/>
              <a:gd name="T77" fmla="*/ 49 h 160"/>
              <a:gd name="T78" fmla="*/ 72 w 96"/>
              <a:gd name="T79" fmla="*/ 80 h 160"/>
              <a:gd name="T80" fmla="*/ 48 w 96"/>
              <a:gd name="T81" fmla="*/ 102 h 160"/>
              <a:gd name="T82" fmla="*/ 41 w 96"/>
              <a:gd name="T83" fmla="*/ 57 h 160"/>
              <a:gd name="T84" fmla="*/ 41 w 96"/>
              <a:gd name="T85" fmla="*/ 54 h 160"/>
              <a:gd name="T86" fmla="*/ 44 w 96"/>
              <a:gd name="T87" fmla="*/ 53 h 160"/>
              <a:gd name="T88" fmla="*/ 45 w 96"/>
              <a:gd name="T89" fmla="*/ 53 h 160"/>
              <a:gd name="T90" fmla="*/ 48 w 96"/>
              <a:gd name="T91" fmla="*/ 54 h 160"/>
              <a:gd name="T92" fmla="*/ 51 w 96"/>
              <a:gd name="T93" fmla="*/ 53 h 160"/>
              <a:gd name="T94" fmla="*/ 52 w 96"/>
              <a:gd name="T95" fmla="*/ 53 h 160"/>
              <a:gd name="T96" fmla="*/ 55 w 96"/>
              <a:gd name="T97" fmla="*/ 54 h 160"/>
              <a:gd name="T98" fmla="*/ 55 w 96"/>
              <a:gd name="T99" fmla="*/ 57 h 160"/>
              <a:gd name="T100" fmla="*/ 48 w 96"/>
              <a:gd name="T101" fmla="*/ 102 h 160"/>
              <a:gd name="T102" fmla="*/ 48 w 96"/>
              <a:gd name="T103" fmla="*/ 102 h 160"/>
              <a:gd name="T104" fmla="*/ 48 w 96"/>
              <a:gd name="T105" fmla="*/ 102 h 160"/>
              <a:gd name="T106" fmla="*/ 48 w 96"/>
              <a:gd name="T107" fmla="*/ 10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6" h="160">
                <a:moveTo>
                  <a:pt x="48" y="0"/>
                </a:moveTo>
                <a:cubicBezTo>
                  <a:pt x="21" y="0"/>
                  <a:pt x="0" y="21"/>
                  <a:pt x="0" y="49"/>
                </a:cubicBezTo>
                <a:cubicBezTo>
                  <a:pt x="0" y="67"/>
                  <a:pt x="6" y="78"/>
                  <a:pt x="13" y="88"/>
                </a:cubicBezTo>
                <a:cubicBezTo>
                  <a:pt x="18" y="96"/>
                  <a:pt x="25" y="106"/>
                  <a:pt x="25" y="118"/>
                </a:cubicBezTo>
                <a:cubicBezTo>
                  <a:pt x="25" y="121"/>
                  <a:pt x="26" y="124"/>
                  <a:pt x="29" y="124"/>
                </a:cubicBezTo>
                <a:cubicBezTo>
                  <a:pt x="26" y="125"/>
                  <a:pt x="25" y="127"/>
                  <a:pt x="25" y="129"/>
                </a:cubicBezTo>
                <a:cubicBezTo>
                  <a:pt x="25" y="132"/>
                  <a:pt x="26" y="134"/>
                  <a:pt x="29" y="135"/>
                </a:cubicBezTo>
                <a:cubicBezTo>
                  <a:pt x="26" y="137"/>
                  <a:pt x="25" y="138"/>
                  <a:pt x="25" y="141"/>
                </a:cubicBezTo>
                <a:cubicBezTo>
                  <a:pt x="25" y="145"/>
                  <a:pt x="28" y="148"/>
                  <a:pt x="32" y="148"/>
                </a:cubicBezTo>
                <a:cubicBezTo>
                  <a:pt x="35" y="148"/>
                  <a:pt x="35" y="148"/>
                  <a:pt x="35" y="148"/>
                </a:cubicBezTo>
                <a:cubicBezTo>
                  <a:pt x="36" y="154"/>
                  <a:pt x="41" y="160"/>
                  <a:pt x="48" y="160"/>
                </a:cubicBezTo>
                <a:cubicBezTo>
                  <a:pt x="55" y="160"/>
                  <a:pt x="60" y="154"/>
                  <a:pt x="61" y="148"/>
                </a:cubicBezTo>
                <a:cubicBezTo>
                  <a:pt x="64" y="148"/>
                  <a:pt x="64" y="148"/>
                  <a:pt x="64" y="148"/>
                </a:cubicBezTo>
                <a:cubicBezTo>
                  <a:pt x="68" y="148"/>
                  <a:pt x="71" y="145"/>
                  <a:pt x="71" y="141"/>
                </a:cubicBezTo>
                <a:cubicBezTo>
                  <a:pt x="71" y="138"/>
                  <a:pt x="69" y="137"/>
                  <a:pt x="67" y="135"/>
                </a:cubicBezTo>
                <a:cubicBezTo>
                  <a:pt x="69" y="134"/>
                  <a:pt x="71" y="132"/>
                  <a:pt x="71" y="129"/>
                </a:cubicBezTo>
                <a:cubicBezTo>
                  <a:pt x="71" y="127"/>
                  <a:pt x="69" y="125"/>
                  <a:pt x="67" y="124"/>
                </a:cubicBezTo>
                <a:cubicBezTo>
                  <a:pt x="69" y="124"/>
                  <a:pt x="71" y="121"/>
                  <a:pt x="71" y="118"/>
                </a:cubicBezTo>
                <a:cubicBezTo>
                  <a:pt x="71" y="106"/>
                  <a:pt x="77" y="96"/>
                  <a:pt x="83" y="88"/>
                </a:cubicBezTo>
                <a:cubicBezTo>
                  <a:pt x="90" y="78"/>
                  <a:pt x="96" y="67"/>
                  <a:pt x="96" y="49"/>
                </a:cubicBezTo>
                <a:cubicBezTo>
                  <a:pt x="96" y="21"/>
                  <a:pt x="75" y="0"/>
                  <a:pt x="48" y="0"/>
                </a:cubicBezTo>
                <a:close/>
                <a:moveTo>
                  <a:pt x="72" y="80"/>
                </a:moveTo>
                <a:cubicBezTo>
                  <a:pt x="68" y="89"/>
                  <a:pt x="61" y="99"/>
                  <a:pt x="60" y="111"/>
                </a:cubicBezTo>
                <a:cubicBezTo>
                  <a:pt x="53" y="111"/>
                  <a:pt x="53" y="111"/>
                  <a:pt x="53" y="111"/>
                </a:cubicBezTo>
                <a:cubicBezTo>
                  <a:pt x="63" y="57"/>
                  <a:pt x="63" y="57"/>
                  <a:pt x="63" y="57"/>
                </a:cubicBezTo>
                <a:cubicBezTo>
                  <a:pt x="63" y="57"/>
                  <a:pt x="63" y="57"/>
                  <a:pt x="63" y="57"/>
                </a:cubicBezTo>
                <a:cubicBezTo>
                  <a:pt x="63" y="54"/>
                  <a:pt x="61" y="52"/>
                  <a:pt x="60" y="49"/>
                </a:cubicBezTo>
                <a:cubicBezTo>
                  <a:pt x="59" y="46"/>
                  <a:pt x="55" y="44"/>
                  <a:pt x="52" y="44"/>
                </a:cubicBezTo>
                <a:cubicBezTo>
                  <a:pt x="51" y="44"/>
                  <a:pt x="49" y="46"/>
                  <a:pt x="48" y="46"/>
                </a:cubicBezTo>
                <a:cubicBezTo>
                  <a:pt x="47" y="46"/>
                  <a:pt x="45" y="44"/>
                  <a:pt x="44" y="44"/>
                </a:cubicBezTo>
                <a:cubicBezTo>
                  <a:pt x="41" y="44"/>
                  <a:pt x="39" y="46"/>
                  <a:pt x="36" y="49"/>
                </a:cubicBezTo>
                <a:cubicBezTo>
                  <a:pt x="35" y="52"/>
                  <a:pt x="33" y="54"/>
                  <a:pt x="33" y="57"/>
                </a:cubicBezTo>
                <a:cubicBezTo>
                  <a:pt x="33" y="57"/>
                  <a:pt x="33" y="57"/>
                  <a:pt x="33" y="57"/>
                </a:cubicBezTo>
                <a:cubicBezTo>
                  <a:pt x="43" y="111"/>
                  <a:pt x="43" y="111"/>
                  <a:pt x="43" y="111"/>
                </a:cubicBezTo>
                <a:cubicBezTo>
                  <a:pt x="36" y="111"/>
                  <a:pt x="36" y="111"/>
                  <a:pt x="36" y="111"/>
                </a:cubicBezTo>
                <a:cubicBezTo>
                  <a:pt x="35" y="99"/>
                  <a:pt x="28" y="89"/>
                  <a:pt x="24" y="80"/>
                </a:cubicBezTo>
                <a:cubicBezTo>
                  <a:pt x="17" y="72"/>
                  <a:pt x="12" y="63"/>
                  <a:pt x="12" y="49"/>
                </a:cubicBezTo>
                <a:cubicBezTo>
                  <a:pt x="12" y="29"/>
                  <a:pt x="28" y="13"/>
                  <a:pt x="48" y="13"/>
                </a:cubicBezTo>
                <a:cubicBezTo>
                  <a:pt x="68" y="13"/>
                  <a:pt x="84" y="29"/>
                  <a:pt x="84" y="49"/>
                </a:cubicBezTo>
                <a:cubicBezTo>
                  <a:pt x="84" y="63"/>
                  <a:pt x="79" y="72"/>
                  <a:pt x="72" y="80"/>
                </a:cubicBezTo>
                <a:close/>
                <a:moveTo>
                  <a:pt x="48" y="102"/>
                </a:moveTo>
                <a:cubicBezTo>
                  <a:pt x="41" y="57"/>
                  <a:pt x="41" y="57"/>
                  <a:pt x="41" y="57"/>
                </a:cubicBezTo>
                <a:cubicBezTo>
                  <a:pt x="40" y="56"/>
                  <a:pt x="41" y="54"/>
                  <a:pt x="41" y="54"/>
                </a:cubicBezTo>
                <a:cubicBezTo>
                  <a:pt x="43" y="53"/>
                  <a:pt x="43" y="53"/>
                  <a:pt x="44" y="53"/>
                </a:cubicBezTo>
                <a:cubicBezTo>
                  <a:pt x="45" y="53"/>
                  <a:pt x="45" y="53"/>
                  <a:pt x="45" y="53"/>
                </a:cubicBezTo>
                <a:cubicBezTo>
                  <a:pt x="45" y="54"/>
                  <a:pt x="47" y="54"/>
                  <a:pt x="48" y="54"/>
                </a:cubicBezTo>
                <a:cubicBezTo>
                  <a:pt x="49" y="54"/>
                  <a:pt x="51" y="54"/>
                  <a:pt x="51" y="53"/>
                </a:cubicBezTo>
                <a:cubicBezTo>
                  <a:pt x="52" y="53"/>
                  <a:pt x="52" y="53"/>
                  <a:pt x="52" y="53"/>
                </a:cubicBezTo>
                <a:cubicBezTo>
                  <a:pt x="53" y="53"/>
                  <a:pt x="53" y="53"/>
                  <a:pt x="55" y="54"/>
                </a:cubicBezTo>
                <a:cubicBezTo>
                  <a:pt x="55" y="54"/>
                  <a:pt x="56" y="56"/>
                  <a:pt x="55" y="57"/>
                </a:cubicBezTo>
                <a:cubicBezTo>
                  <a:pt x="48" y="102"/>
                  <a:pt x="48" y="102"/>
                  <a:pt x="48" y="102"/>
                </a:cubicBezTo>
                <a:cubicBezTo>
                  <a:pt x="48" y="102"/>
                  <a:pt x="48" y="102"/>
                  <a:pt x="48" y="102"/>
                </a:cubicBezTo>
                <a:close/>
                <a:moveTo>
                  <a:pt x="48" y="102"/>
                </a:moveTo>
                <a:cubicBezTo>
                  <a:pt x="48" y="102"/>
                  <a:pt x="48" y="102"/>
                  <a:pt x="48" y="102"/>
                </a:cubicBezTo>
              </a:path>
            </a:pathLst>
          </a:custGeom>
          <a:solidFill>
            <a:srgbClr val="0042FF"/>
          </a:solidFill>
          <a:ln>
            <a:noFill/>
          </a:ln>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207" name="Freeform 56"/>
          <p:cNvSpPr>
            <a:spLocks noEditPoints="1"/>
          </p:cNvSpPr>
          <p:nvPr/>
        </p:nvSpPr>
        <p:spPr bwMode="auto">
          <a:xfrm>
            <a:off x="9946619" y="4570217"/>
            <a:ext cx="180000" cy="180000"/>
          </a:xfrm>
          <a:custGeom>
            <a:avLst/>
            <a:gdLst>
              <a:gd name="T0" fmla="*/ 120 w 160"/>
              <a:gd name="T1" fmla="*/ 133 h 155"/>
              <a:gd name="T2" fmla="*/ 21 w 160"/>
              <a:gd name="T3" fmla="*/ 133 h 155"/>
              <a:gd name="T4" fmla="*/ 21 w 160"/>
              <a:gd name="T5" fmla="*/ 29 h 155"/>
              <a:gd name="T6" fmla="*/ 96 w 160"/>
              <a:gd name="T7" fmla="*/ 29 h 155"/>
              <a:gd name="T8" fmla="*/ 120 w 160"/>
              <a:gd name="T9" fmla="*/ 3 h 155"/>
              <a:gd name="T10" fmla="*/ 0 w 160"/>
              <a:gd name="T11" fmla="*/ 3 h 155"/>
              <a:gd name="T12" fmla="*/ 0 w 160"/>
              <a:gd name="T13" fmla="*/ 155 h 155"/>
              <a:gd name="T14" fmla="*/ 142 w 160"/>
              <a:gd name="T15" fmla="*/ 155 h 155"/>
              <a:gd name="T16" fmla="*/ 142 w 160"/>
              <a:gd name="T17" fmla="*/ 58 h 155"/>
              <a:gd name="T18" fmla="*/ 120 w 160"/>
              <a:gd name="T19" fmla="*/ 83 h 155"/>
              <a:gd name="T20" fmla="*/ 120 w 160"/>
              <a:gd name="T21" fmla="*/ 133 h 155"/>
              <a:gd name="T22" fmla="*/ 43 w 160"/>
              <a:gd name="T23" fmla="*/ 58 h 155"/>
              <a:gd name="T24" fmla="*/ 31 w 160"/>
              <a:gd name="T25" fmla="*/ 75 h 155"/>
              <a:gd name="T26" fmla="*/ 67 w 160"/>
              <a:gd name="T27" fmla="*/ 117 h 155"/>
              <a:gd name="T28" fmla="*/ 160 w 160"/>
              <a:gd name="T29" fmla="*/ 17 h 155"/>
              <a:gd name="T30" fmla="*/ 145 w 160"/>
              <a:gd name="T31" fmla="*/ 0 h 155"/>
              <a:gd name="T32" fmla="*/ 67 w 160"/>
              <a:gd name="T33" fmla="*/ 83 h 155"/>
              <a:gd name="T34" fmla="*/ 43 w 160"/>
              <a:gd name="T35" fmla="*/ 5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0" h="155">
                <a:moveTo>
                  <a:pt x="120" y="133"/>
                </a:moveTo>
                <a:lnTo>
                  <a:pt x="21" y="133"/>
                </a:lnTo>
                <a:lnTo>
                  <a:pt x="21" y="29"/>
                </a:lnTo>
                <a:lnTo>
                  <a:pt x="96" y="29"/>
                </a:lnTo>
                <a:lnTo>
                  <a:pt x="120" y="3"/>
                </a:lnTo>
                <a:lnTo>
                  <a:pt x="0" y="3"/>
                </a:lnTo>
                <a:lnTo>
                  <a:pt x="0" y="155"/>
                </a:lnTo>
                <a:lnTo>
                  <a:pt x="142" y="155"/>
                </a:lnTo>
                <a:lnTo>
                  <a:pt x="142" y="58"/>
                </a:lnTo>
                <a:lnTo>
                  <a:pt x="120" y="83"/>
                </a:lnTo>
                <a:lnTo>
                  <a:pt x="120" y="133"/>
                </a:lnTo>
                <a:close/>
                <a:moveTo>
                  <a:pt x="43" y="58"/>
                </a:moveTo>
                <a:lnTo>
                  <a:pt x="31" y="75"/>
                </a:lnTo>
                <a:lnTo>
                  <a:pt x="67" y="117"/>
                </a:lnTo>
                <a:lnTo>
                  <a:pt x="160" y="17"/>
                </a:lnTo>
                <a:lnTo>
                  <a:pt x="145" y="0"/>
                </a:lnTo>
                <a:lnTo>
                  <a:pt x="67" y="83"/>
                </a:lnTo>
                <a:lnTo>
                  <a:pt x="43" y="58"/>
                </a:lnTo>
                <a:close/>
              </a:path>
            </a:pathLst>
          </a:custGeom>
          <a:solidFill>
            <a:srgbClr val="0042FF"/>
          </a:solidFill>
          <a:ln>
            <a:noFill/>
          </a:ln>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208" name="Freeform 129"/>
          <p:cNvSpPr>
            <a:spLocks noEditPoints="1"/>
          </p:cNvSpPr>
          <p:nvPr/>
        </p:nvSpPr>
        <p:spPr bwMode="auto">
          <a:xfrm>
            <a:off x="9946619" y="5557673"/>
            <a:ext cx="180000" cy="180000"/>
          </a:xfrm>
          <a:custGeom>
            <a:avLst/>
            <a:gdLst>
              <a:gd name="T0" fmla="*/ 54 w 160"/>
              <a:gd name="T1" fmla="*/ 134 h 149"/>
              <a:gd name="T2" fmla="*/ 108 w 160"/>
              <a:gd name="T3" fmla="*/ 134 h 149"/>
              <a:gd name="T4" fmla="*/ 108 w 160"/>
              <a:gd name="T5" fmla="*/ 149 h 149"/>
              <a:gd name="T6" fmla="*/ 54 w 160"/>
              <a:gd name="T7" fmla="*/ 149 h 149"/>
              <a:gd name="T8" fmla="*/ 54 w 160"/>
              <a:gd name="T9" fmla="*/ 134 h 149"/>
              <a:gd name="T10" fmla="*/ 54 w 160"/>
              <a:gd name="T11" fmla="*/ 134 h 149"/>
              <a:gd name="T12" fmla="*/ 160 w 160"/>
              <a:gd name="T13" fmla="*/ 0 h 149"/>
              <a:gd name="T14" fmla="*/ 160 w 160"/>
              <a:gd name="T15" fmla="*/ 128 h 149"/>
              <a:gd name="T16" fmla="*/ 0 w 160"/>
              <a:gd name="T17" fmla="*/ 128 h 149"/>
              <a:gd name="T18" fmla="*/ 0 w 160"/>
              <a:gd name="T19" fmla="*/ 0 h 149"/>
              <a:gd name="T20" fmla="*/ 160 w 160"/>
              <a:gd name="T21" fmla="*/ 0 h 149"/>
              <a:gd name="T22" fmla="*/ 160 w 160"/>
              <a:gd name="T23" fmla="*/ 0 h 149"/>
              <a:gd name="T24" fmla="*/ 143 w 160"/>
              <a:gd name="T25" fmla="*/ 115 h 149"/>
              <a:gd name="T26" fmla="*/ 140 w 160"/>
              <a:gd name="T27" fmla="*/ 109 h 149"/>
              <a:gd name="T28" fmla="*/ 134 w 160"/>
              <a:gd name="T29" fmla="*/ 115 h 149"/>
              <a:gd name="T30" fmla="*/ 140 w 160"/>
              <a:gd name="T31" fmla="*/ 118 h 149"/>
              <a:gd name="T32" fmla="*/ 143 w 160"/>
              <a:gd name="T33" fmla="*/ 115 h 149"/>
              <a:gd name="T34" fmla="*/ 148 w 160"/>
              <a:gd name="T35" fmla="*/ 9 h 149"/>
              <a:gd name="T36" fmla="*/ 14 w 160"/>
              <a:gd name="T37" fmla="*/ 9 h 149"/>
              <a:gd name="T38" fmla="*/ 14 w 160"/>
              <a:gd name="T39" fmla="*/ 100 h 149"/>
              <a:gd name="T40" fmla="*/ 148 w 160"/>
              <a:gd name="T41" fmla="*/ 100 h 149"/>
              <a:gd name="T42" fmla="*/ 148 w 160"/>
              <a:gd name="T43" fmla="*/ 9 h 149"/>
              <a:gd name="T44" fmla="*/ 148 w 160"/>
              <a:gd name="T45" fmla="*/ 9 h 149"/>
              <a:gd name="T46" fmla="*/ 45 w 160"/>
              <a:gd name="T47" fmla="*/ 79 h 149"/>
              <a:gd name="T48" fmla="*/ 45 w 160"/>
              <a:gd name="T49" fmla="*/ 33 h 149"/>
              <a:gd name="T50" fmla="*/ 85 w 160"/>
              <a:gd name="T51" fmla="*/ 33 h 149"/>
              <a:gd name="T52" fmla="*/ 65 w 160"/>
              <a:gd name="T53" fmla="*/ 58 h 149"/>
              <a:gd name="T54" fmla="*/ 85 w 160"/>
              <a:gd name="T55" fmla="*/ 79 h 149"/>
              <a:gd name="T56" fmla="*/ 45 w 160"/>
              <a:gd name="T57" fmla="*/ 79 h 149"/>
              <a:gd name="T58" fmla="*/ 57 w 160"/>
              <a:gd name="T59" fmla="*/ 39 h 149"/>
              <a:gd name="T60" fmla="*/ 63 w 160"/>
              <a:gd name="T61" fmla="*/ 42 h 149"/>
              <a:gd name="T62" fmla="*/ 65 w 160"/>
              <a:gd name="T63" fmla="*/ 39 h 149"/>
              <a:gd name="T64" fmla="*/ 63 w 160"/>
              <a:gd name="T65" fmla="*/ 33 h 149"/>
              <a:gd name="T66" fmla="*/ 57 w 160"/>
              <a:gd name="T67" fmla="*/ 39 h 149"/>
              <a:gd name="T68" fmla="*/ 91 w 160"/>
              <a:gd name="T69" fmla="*/ 64 h 149"/>
              <a:gd name="T70" fmla="*/ 97 w 160"/>
              <a:gd name="T71" fmla="*/ 58 h 149"/>
              <a:gd name="T72" fmla="*/ 91 w 160"/>
              <a:gd name="T73" fmla="*/ 52 h 149"/>
              <a:gd name="T74" fmla="*/ 85 w 160"/>
              <a:gd name="T75" fmla="*/ 58 h 149"/>
              <a:gd name="T76" fmla="*/ 91 w 160"/>
              <a:gd name="T77" fmla="*/ 64 h 149"/>
              <a:gd name="T78" fmla="*/ 117 w 160"/>
              <a:gd name="T79" fmla="*/ 64 h 149"/>
              <a:gd name="T80" fmla="*/ 123 w 160"/>
              <a:gd name="T81" fmla="*/ 58 h 149"/>
              <a:gd name="T82" fmla="*/ 117 w 160"/>
              <a:gd name="T83" fmla="*/ 52 h 149"/>
              <a:gd name="T84" fmla="*/ 111 w 160"/>
              <a:gd name="T85" fmla="*/ 58 h 149"/>
              <a:gd name="T86" fmla="*/ 117 w 160"/>
              <a:gd name="T87" fmla="*/ 64 h 149"/>
              <a:gd name="T88" fmla="*/ 117 w 160"/>
              <a:gd name="T89" fmla="*/ 64 h 149"/>
              <a:gd name="T90" fmla="*/ 117 w 160"/>
              <a:gd name="T91" fmla="*/ 6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0" h="149">
                <a:moveTo>
                  <a:pt x="54" y="134"/>
                </a:moveTo>
                <a:cubicBezTo>
                  <a:pt x="108" y="134"/>
                  <a:pt x="108" y="134"/>
                  <a:pt x="108" y="134"/>
                </a:cubicBezTo>
                <a:cubicBezTo>
                  <a:pt x="108" y="149"/>
                  <a:pt x="108" y="149"/>
                  <a:pt x="108" y="149"/>
                </a:cubicBezTo>
                <a:cubicBezTo>
                  <a:pt x="54" y="149"/>
                  <a:pt x="54" y="149"/>
                  <a:pt x="54" y="149"/>
                </a:cubicBezTo>
                <a:cubicBezTo>
                  <a:pt x="54" y="134"/>
                  <a:pt x="54" y="134"/>
                  <a:pt x="54" y="134"/>
                </a:cubicBezTo>
                <a:cubicBezTo>
                  <a:pt x="54" y="134"/>
                  <a:pt x="54" y="134"/>
                  <a:pt x="54" y="134"/>
                </a:cubicBezTo>
                <a:close/>
                <a:moveTo>
                  <a:pt x="160" y="0"/>
                </a:moveTo>
                <a:cubicBezTo>
                  <a:pt x="160" y="128"/>
                  <a:pt x="160" y="128"/>
                  <a:pt x="160" y="128"/>
                </a:cubicBezTo>
                <a:cubicBezTo>
                  <a:pt x="0" y="128"/>
                  <a:pt x="0" y="128"/>
                  <a:pt x="0" y="128"/>
                </a:cubicBezTo>
                <a:cubicBezTo>
                  <a:pt x="0" y="0"/>
                  <a:pt x="0" y="0"/>
                  <a:pt x="0" y="0"/>
                </a:cubicBezTo>
                <a:cubicBezTo>
                  <a:pt x="160" y="0"/>
                  <a:pt x="160" y="0"/>
                  <a:pt x="160" y="0"/>
                </a:cubicBezTo>
                <a:cubicBezTo>
                  <a:pt x="160" y="0"/>
                  <a:pt x="160" y="0"/>
                  <a:pt x="160" y="0"/>
                </a:cubicBezTo>
                <a:close/>
                <a:moveTo>
                  <a:pt x="143" y="115"/>
                </a:moveTo>
                <a:cubicBezTo>
                  <a:pt x="143" y="112"/>
                  <a:pt x="143" y="109"/>
                  <a:pt x="140" y="109"/>
                </a:cubicBezTo>
                <a:cubicBezTo>
                  <a:pt x="137" y="109"/>
                  <a:pt x="134" y="112"/>
                  <a:pt x="134" y="115"/>
                </a:cubicBezTo>
                <a:cubicBezTo>
                  <a:pt x="134" y="118"/>
                  <a:pt x="137" y="118"/>
                  <a:pt x="140" y="118"/>
                </a:cubicBezTo>
                <a:cubicBezTo>
                  <a:pt x="143" y="118"/>
                  <a:pt x="143" y="118"/>
                  <a:pt x="143" y="115"/>
                </a:cubicBezTo>
                <a:close/>
                <a:moveTo>
                  <a:pt x="148" y="9"/>
                </a:moveTo>
                <a:cubicBezTo>
                  <a:pt x="14" y="9"/>
                  <a:pt x="14" y="9"/>
                  <a:pt x="14" y="9"/>
                </a:cubicBezTo>
                <a:cubicBezTo>
                  <a:pt x="14" y="100"/>
                  <a:pt x="14" y="100"/>
                  <a:pt x="14" y="100"/>
                </a:cubicBezTo>
                <a:cubicBezTo>
                  <a:pt x="148" y="100"/>
                  <a:pt x="148" y="100"/>
                  <a:pt x="148" y="100"/>
                </a:cubicBezTo>
                <a:cubicBezTo>
                  <a:pt x="148" y="9"/>
                  <a:pt x="148" y="9"/>
                  <a:pt x="148" y="9"/>
                </a:cubicBezTo>
                <a:cubicBezTo>
                  <a:pt x="148" y="9"/>
                  <a:pt x="148" y="9"/>
                  <a:pt x="148" y="9"/>
                </a:cubicBezTo>
                <a:close/>
                <a:moveTo>
                  <a:pt x="45" y="79"/>
                </a:moveTo>
                <a:cubicBezTo>
                  <a:pt x="31" y="67"/>
                  <a:pt x="31" y="45"/>
                  <a:pt x="45" y="33"/>
                </a:cubicBezTo>
                <a:cubicBezTo>
                  <a:pt x="57" y="21"/>
                  <a:pt x="74" y="21"/>
                  <a:pt x="85" y="33"/>
                </a:cubicBezTo>
                <a:cubicBezTo>
                  <a:pt x="65" y="58"/>
                  <a:pt x="65" y="58"/>
                  <a:pt x="65" y="58"/>
                </a:cubicBezTo>
                <a:cubicBezTo>
                  <a:pt x="85" y="79"/>
                  <a:pt x="85" y="79"/>
                  <a:pt x="85" y="79"/>
                </a:cubicBezTo>
                <a:cubicBezTo>
                  <a:pt x="74" y="91"/>
                  <a:pt x="57" y="91"/>
                  <a:pt x="45" y="79"/>
                </a:cubicBezTo>
                <a:close/>
                <a:moveTo>
                  <a:pt x="57" y="39"/>
                </a:moveTo>
                <a:cubicBezTo>
                  <a:pt x="57" y="42"/>
                  <a:pt x="60" y="42"/>
                  <a:pt x="63" y="42"/>
                </a:cubicBezTo>
                <a:cubicBezTo>
                  <a:pt x="65" y="42"/>
                  <a:pt x="65" y="42"/>
                  <a:pt x="65" y="39"/>
                </a:cubicBezTo>
                <a:cubicBezTo>
                  <a:pt x="65" y="36"/>
                  <a:pt x="65" y="33"/>
                  <a:pt x="63" y="33"/>
                </a:cubicBezTo>
                <a:cubicBezTo>
                  <a:pt x="60" y="33"/>
                  <a:pt x="57" y="36"/>
                  <a:pt x="57" y="39"/>
                </a:cubicBezTo>
                <a:close/>
                <a:moveTo>
                  <a:pt x="91" y="64"/>
                </a:moveTo>
                <a:cubicBezTo>
                  <a:pt x="97" y="64"/>
                  <a:pt x="97" y="61"/>
                  <a:pt x="97" y="58"/>
                </a:cubicBezTo>
                <a:cubicBezTo>
                  <a:pt x="97" y="55"/>
                  <a:pt x="97" y="52"/>
                  <a:pt x="91" y="52"/>
                </a:cubicBezTo>
                <a:cubicBezTo>
                  <a:pt x="88" y="52"/>
                  <a:pt x="85" y="55"/>
                  <a:pt x="85" y="58"/>
                </a:cubicBezTo>
                <a:cubicBezTo>
                  <a:pt x="85" y="61"/>
                  <a:pt x="88" y="64"/>
                  <a:pt x="91" y="64"/>
                </a:cubicBezTo>
                <a:close/>
                <a:moveTo>
                  <a:pt x="117" y="64"/>
                </a:moveTo>
                <a:cubicBezTo>
                  <a:pt x="123" y="64"/>
                  <a:pt x="123" y="61"/>
                  <a:pt x="123" y="58"/>
                </a:cubicBezTo>
                <a:cubicBezTo>
                  <a:pt x="123" y="55"/>
                  <a:pt x="123" y="52"/>
                  <a:pt x="117" y="52"/>
                </a:cubicBezTo>
                <a:cubicBezTo>
                  <a:pt x="114" y="52"/>
                  <a:pt x="111" y="55"/>
                  <a:pt x="111" y="58"/>
                </a:cubicBezTo>
                <a:cubicBezTo>
                  <a:pt x="111" y="61"/>
                  <a:pt x="114" y="64"/>
                  <a:pt x="117" y="64"/>
                </a:cubicBezTo>
                <a:close/>
                <a:moveTo>
                  <a:pt x="117" y="64"/>
                </a:moveTo>
                <a:cubicBezTo>
                  <a:pt x="117" y="64"/>
                  <a:pt x="117" y="64"/>
                  <a:pt x="117" y="64"/>
                </a:cubicBezTo>
              </a:path>
            </a:pathLst>
          </a:custGeom>
          <a:solidFill>
            <a:srgbClr val="0042FF"/>
          </a:solidFill>
          <a:ln>
            <a:noFill/>
          </a:ln>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pic>
        <p:nvPicPr>
          <p:cNvPr id="209" name="图片 20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58845" y="4183123"/>
            <a:ext cx="247222" cy="247222"/>
          </a:xfrm>
          <a:prstGeom prst="rect">
            <a:avLst/>
          </a:prstGeom>
        </p:spPr>
      </p:pic>
      <p:pic>
        <p:nvPicPr>
          <p:cNvPr id="210" name="图片 209"/>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970904" y="4761394"/>
            <a:ext cx="223104" cy="223104"/>
          </a:xfrm>
          <a:prstGeom prst="rect">
            <a:avLst/>
          </a:prstGeom>
        </p:spPr>
      </p:pic>
      <p:sp>
        <p:nvSpPr>
          <p:cNvPr id="211" name="Freeform 120"/>
          <p:cNvSpPr>
            <a:spLocks noEditPoints="1"/>
          </p:cNvSpPr>
          <p:nvPr/>
        </p:nvSpPr>
        <p:spPr bwMode="auto">
          <a:xfrm>
            <a:off x="5982190" y="4546654"/>
            <a:ext cx="272830" cy="289090"/>
          </a:xfrm>
          <a:custGeom>
            <a:avLst/>
            <a:gdLst>
              <a:gd name="T0" fmla="*/ 16 w 151"/>
              <a:gd name="T1" fmla="*/ 0 h 160"/>
              <a:gd name="T2" fmla="*/ 0 w 151"/>
              <a:gd name="T3" fmla="*/ 60 h 160"/>
              <a:gd name="T4" fmla="*/ 57 w 151"/>
              <a:gd name="T5" fmla="*/ 76 h 160"/>
              <a:gd name="T6" fmla="*/ 73 w 151"/>
              <a:gd name="T7" fmla="*/ 17 h 160"/>
              <a:gd name="T8" fmla="*/ 64 w 151"/>
              <a:gd name="T9" fmla="*/ 60 h 160"/>
              <a:gd name="T10" fmla="*/ 16 w 151"/>
              <a:gd name="T11" fmla="*/ 65 h 160"/>
              <a:gd name="T12" fmla="*/ 9 w 151"/>
              <a:gd name="T13" fmla="*/ 17 h 160"/>
              <a:gd name="T14" fmla="*/ 57 w 151"/>
              <a:gd name="T15" fmla="*/ 10 h 160"/>
              <a:gd name="T16" fmla="*/ 64 w 151"/>
              <a:gd name="T17" fmla="*/ 60 h 160"/>
              <a:gd name="T18" fmla="*/ 26 w 151"/>
              <a:gd name="T19" fmla="*/ 19 h 160"/>
              <a:gd name="T20" fmla="*/ 16 w 151"/>
              <a:gd name="T21" fmla="*/ 36 h 160"/>
              <a:gd name="T22" fmla="*/ 20 w 151"/>
              <a:gd name="T23" fmla="*/ 36 h 160"/>
              <a:gd name="T24" fmla="*/ 26 w 151"/>
              <a:gd name="T25" fmla="*/ 25 h 160"/>
              <a:gd name="T26" fmla="*/ 44 w 151"/>
              <a:gd name="T27" fmla="*/ 22 h 160"/>
              <a:gd name="T28" fmla="*/ 19 w 151"/>
              <a:gd name="T29" fmla="*/ 44 h 160"/>
              <a:gd name="T30" fmla="*/ 15 w 151"/>
              <a:gd name="T31" fmla="*/ 45 h 160"/>
              <a:gd name="T32" fmla="*/ 18 w 151"/>
              <a:gd name="T33" fmla="*/ 48 h 160"/>
              <a:gd name="T34" fmla="*/ 20 w 151"/>
              <a:gd name="T35" fmla="*/ 45 h 160"/>
              <a:gd name="T36" fmla="*/ 135 w 151"/>
              <a:gd name="T37" fmla="*/ 0 h 160"/>
              <a:gd name="T38" fmla="*/ 80 w 151"/>
              <a:gd name="T39" fmla="*/ 17 h 160"/>
              <a:gd name="T40" fmla="*/ 95 w 151"/>
              <a:gd name="T41" fmla="*/ 76 h 160"/>
              <a:gd name="T42" fmla="*/ 151 w 151"/>
              <a:gd name="T43" fmla="*/ 60 h 160"/>
              <a:gd name="T44" fmla="*/ 135 w 151"/>
              <a:gd name="T45" fmla="*/ 0 h 160"/>
              <a:gd name="T46" fmla="*/ 135 w 151"/>
              <a:gd name="T47" fmla="*/ 65 h 160"/>
              <a:gd name="T48" fmla="*/ 88 w 151"/>
              <a:gd name="T49" fmla="*/ 60 h 160"/>
              <a:gd name="T50" fmla="*/ 95 w 151"/>
              <a:gd name="T51" fmla="*/ 10 h 160"/>
              <a:gd name="T52" fmla="*/ 142 w 151"/>
              <a:gd name="T53" fmla="*/ 17 h 160"/>
              <a:gd name="T54" fmla="*/ 57 w 151"/>
              <a:gd name="T55" fmla="*/ 84 h 160"/>
              <a:gd name="T56" fmla="*/ 0 w 151"/>
              <a:gd name="T57" fmla="*/ 101 h 160"/>
              <a:gd name="T58" fmla="*/ 16 w 151"/>
              <a:gd name="T59" fmla="*/ 160 h 160"/>
              <a:gd name="T60" fmla="*/ 73 w 151"/>
              <a:gd name="T61" fmla="*/ 144 h 160"/>
              <a:gd name="T62" fmla="*/ 57 w 151"/>
              <a:gd name="T63" fmla="*/ 84 h 160"/>
              <a:gd name="T64" fmla="*/ 57 w 151"/>
              <a:gd name="T65" fmla="*/ 151 h 160"/>
              <a:gd name="T66" fmla="*/ 9 w 151"/>
              <a:gd name="T67" fmla="*/ 144 h 160"/>
              <a:gd name="T68" fmla="*/ 16 w 151"/>
              <a:gd name="T69" fmla="*/ 94 h 160"/>
              <a:gd name="T70" fmla="*/ 64 w 151"/>
              <a:gd name="T71" fmla="*/ 101 h 160"/>
              <a:gd name="T72" fmla="*/ 135 w 151"/>
              <a:gd name="T73" fmla="*/ 84 h 160"/>
              <a:gd name="T74" fmla="*/ 80 w 151"/>
              <a:gd name="T75" fmla="*/ 101 h 160"/>
              <a:gd name="T76" fmla="*/ 95 w 151"/>
              <a:gd name="T77" fmla="*/ 160 h 160"/>
              <a:gd name="T78" fmla="*/ 151 w 151"/>
              <a:gd name="T79" fmla="*/ 144 h 160"/>
              <a:gd name="T80" fmla="*/ 135 w 151"/>
              <a:gd name="T81" fmla="*/ 84 h 160"/>
              <a:gd name="T82" fmla="*/ 135 w 151"/>
              <a:gd name="T83" fmla="*/ 151 h 160"/>
              <a:gd name="T84" fmla="*/ 88 w 151"/>
              <a:gd name="T85" fmla="*/ 144 h 160"/>
              <a:gd name="T86" fmla="*/ 95 w 151"/>
              <a:gd name="T87" fmla="*/ 94 h 160"/>
              <a:gd name="T88" fmla="*/ 142 w 151"/>
              <a:gd name="T89" fmla="*/ 10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160">
                <a:moveTo>
                  <a:pt x="57" y="0"/>
                </a:moveTo>
                <a:cubicBezTo>
                  <a:pt x="57" y="0"/>
                  <a:pt x="57" y="0"/>
                  <a:pt x="16" y="0"/>
                </a:cubicBezTo>
                <a:cubicBezTo>
                  <a:pt x="7" y="0"/>
                  <a:pt x="0" y="7"/>
                  <a:pt x="0" y="17"/>
                </a:cubicBezTo>
                <a:cubicBezTo>
                  <a:pt x="0" y="17"/>
                  <a:pt x="0" y="17"/>
                  <a:pt x="0" y="60"/>
                </a:cubicBezTo>
                <a:cubicBezTo>
                  <a:pt x="0" y="68"/>
                  <a:pt x="7" y="76"/>
                  <a:pt x="16" y="76"/>
                </a:cubicBezTo>
                <a:cubicBezTo>
                  <a:pt x="16" y="76"/>
                  <a:pt x="16" y="76"/>
                  <a:pt x="57" y="76"/>
                </a:cubicBezTo>
                <a:cubicBezTo>
                  <a:pt x="65" y="76"/>
                  <a:pt x="73" y="68"/>
                  <a:pt x="73" y="60"/>
                </a:cubicBezTo>
                <a:cubicBezTo>
                  <a:pt x="73" y="17"/>
                  <a:pt x="73" y="17"/>
                  <a:pt x="73" y="17"/>
                </a:cubicBezTo>
                <a:cubicBezTo>
                  <a:pt x="73" y="7"/>
                  <a:pt x="65" y="0"/>
                  <a:pt x="57" y="0"/>
                </a:cubicBezTo>
                <a:close/>
                <a:moveTo>
                  <a:pt x="64" y="60"/>
                </a:moveTo>
                <a:cubicBezTo>
                  <a:pt x="64" y="63"/>
                  <a:pt x="61" y="65"/>
                  <a:pt x="57" y="65"/>
                </a:cubicBezTo>
                <a:cubicBezTo>
                  <a:pt x="57" y="65"/>
                  <a:pt x="57" y="65"/>
                  <a:pt x="16" y="65"/>
                </a:cubicBezTo>
                <a:cubicBezTo>
                  <a:pt x="12" y="65"/>
                  <a:pt x="9" y="63"/>
                  <a:pt x="9" y="60"/>
                </a:cubicBezTo>
                <a:cubicBezTo>
                  <a:pt x="9" y="60"/>
                  <a:pt x="9" y="60"/>
                  <a:pt x="9" y="17"/>
                </a:cubicBezTo>
                <a:cubicBezTo>
                  <a:pt x="9" y="13"/>
                  <a:pt x="12" y="10"/>
                  <a:pt x="16" y="10"/>
                </a:cubicBezTo>
                <a:cubicBezTo>
                  <a:pt x="16" y="10"/>
                  <a:pt x="16" y="10"/>
                  <a:pt x="57" y="10"/>
                </a:cubicBezTo>
                <a:cubicBezTo>
                  <a:pt x="61" y="10"/>
                  <a:pt x="64" y="13"/>
                  <a:pt x="64" y="17"/>
                </a:cubicBezTo>
                <a:lnTo>
                  <a:pt x="64" y="60"/>
                </a:lnTo>
                <a:close/>
                <a:moveTo>
                  <a:pt x="41" y="19"/>
                </a:moveTo>
                <a:cubicBezTo>
                  <a:pt x="41" y="19"/>
                  <a:pt x="41" y="19"/>
                  <a:pt x="26" y="19"/>
                </a:cubicBezTo>
                <a:cubicBezTo>
                  <a:pt x="20" y="19"/>
                  <a:pt x="16" y="26"/>
                  <a:pt x="16" y="32"/>
                </a:cubicBezTo>
                <a:cubicBezTo>
                  <a:pt x="16" y="32"/>
                  <a:pt x="16" y="32"/>
                  <a:pt x="16" y="36"/>
                </a:cubicBezTo>
                <a:cubicBezTo>
                  <a:pt x="16" y="38"/>
                  <a:pt x="18" y="39"/>
                  <a:pt x="19" y="39"/>
                </a:cubicBezTo>
                <a:cubicBezTo>
                  <a:pt x="20" y="39"/>
                  <a:pt x="20" y="38"/>
                  <a:pt x="20" y="36"/>
                </a:cubicBezTo>
                <a:cubicBezTo>
                  <a:pt x="20" y="36"/>
                  <a:pt x="20" y="36"/>
                  <a:pt x="20" y="32"/>
                </a:cubicBezTo>
                <a:cubicBezTo>
                  <a:pt x="20" y="29"/>
                  <a:pt x="23" y="25"/>
                  <a:pt x="26" y="25"/>
                </a:cubicBezTo>
                <a:cubicBezTo>
                  <a:pt x="26" y="25"/>
                  <a:pt x="26" y="25"/>
                  <a:pt x="41" y="25"/>
                </a:cubicBezTo>
                <a:cubicBezTo>
                  <a:pt x="42" y="25"/>
                  <a:pt x="44" y="23"/>
                  <a:pt x="44" y="22"/>
                </a:cubicBezTo>
                <a:cubicBezTo>
                  <a:pt x="44" y="20"/>
                  <a:pt x="42" y="19"/>
                  <a:pt x="41" y="19"/>
                </a:cubicBezTo>
                <a:close/>
                <a:moveTo>
                  <a:pt x="19" y="44"/>
                </a:moveTo>
                <a:cubicBezTo>
                  <a:pt x="19" y="43"/>
                  <a:pt x="18" y="43"/>
                  <a:pt x="17" y="44"/>
                </a:cubicBezTo>
                <a:cubicBezTo>
                  <a:pt x="15" y="45"/>
                  <a:pt x="15" y="45"/>
                  <a:pt x="15" y="45"/>
                </a:cubicBezTo>
                <a:cubicBezTo>
                  <a:pt x="17" y="47"/>
                  <a:pt x="17" y="47"/>
                  <a:pt x="17" y="47"/>
                </a:cubicBezTo>
                <a:cubicBezTo>
                  <a:pt x="17" y="48"/>
                  <a:pt x="18" y="48"/>
                  <a:pt x="18" y="48"/>
                </a:cubicBezTo>
                <a:cubicBezTo>
                  <a:pt x="19" y="48"/>
                  <a:pt x="19" y="48"/>
                  <a:pt x="19" y="47"/>
                </a:cubicBezTo>
                <a:cubicBezTo>
                  <a:pt x="20" y="47"/>
                  <a:pt x="20" y="45"/>
                  <a:pt x="20" y="45"/>
                </a:cubicBezTo>
                <a:cubicBezTo>
                  <a:pt x="20" y="45"/>
                  <a:pt x="20" y="44"/>
                  <a:pt x="19" y="44"/>
                </a:cubicBezTo>
                <a:close/>
                <a:moveTo>
                  <a:pt x="135" y="0"/>
                </a:moveTo>
                <a:cubicBezTo>
                  <a:pt x="135" y="0"/>
                  <a:pt x="135" y="0"/>
                  <a:pt x="95" y="0"/>
                </a:cubicBezTo>
                <a:cubicBezTo>
                  <a:pt x="87" y="0"/>
                  <a:pt x="80" y="7"/>
                  <a:pt x="80" y="17"/>
                </a:cubicBezTo>
                <a:cubicBezTo>
                  <a:pt x="80" y="17"/>
                  <a:pt x="80" y="17"/>
                  <a:pt x="80" y="60"/>
                </a:cubicBezTo>
                <a:cubicBezTo>
                  <a:pt x="80" y="68"/>
                  <a:pt x="87" y="76"/>
                  <a:pt x="95" y="76"/>
                </a:cubicBezTo>
                <a:cubicBezTo>
                  <a:pt x="95" y="76"/>
                  <a:pt x="95" y="76"/>
                  <a:pt x="135" y="76"/>
                </a:cubicBezTo>
                <a:cubicBezTo>
                  <a:pt x="144" y="76"/>
                  <a:pt x="151" y="68"/>
                  <a:pt x="151" y="60"/>
                </a:cubicBezTo>
                <a:cubicBezTo>
                  <a:pt x="151" y="17"/>
                  <a:pt x="151" y="17"/>
                  <a:pt x="151" y="17"/>
                </a:cubicBezTo>
                <a:cubicBezTo>
                  <a:pt x="151" y="7"/>
                  <a:pt x="144" y="0"/>
                  <a:pt x="135" y="0"/>
                </a:cubicBezTo>
                <a:close/>
                <a:moveTo>
                  <a:pt x="142" y="60"/>
                </a:moveTo>
                <a:cubicBezTo>
                  <a:pt x="142" y="63"/>
                  <a:pt x="139" y="65"/>
                  <a:pt x="135" y="65"/>
                </a:cubicBezTo>
                <a:cubicBezTo>
                  <a:pt x="135" y="65"/>
                  <a:pt x="135" y="65"/>
                  <a:pt x="95" y="65"/>
                </a:cubicBezTo>
                <a:cubicBezTo>
                  <a:pt x="91" y="65"/>
                  <a:pt x="88" y="63"/>
                  <a:pt x="88" y="60"/>
                </a:cubicBezTo>
                <a:cubicBezTo>
                  <a:pt x="88" y="60"/>
                  <a:pt x="88" y="60"/>
                  <a:pt x="88" y="17"/>
                </a:cubicBezTo>
                <a:cubicBezTo>
                  <a:pt x="88" y="13"/>
                  <a:pt x="91" y="10"/>
                  <a:pt x="95" y="10"/>
                </a:cubicBezTo>
                <a:cubicBezTo>
                  <a:pt x="95" y="10"/>
                  <a:pt x="95" y="10"/>
                  <a:pt x="135" y="10"/>
                </a:cubicBezTo>
                <a:cubicBezTo>
                  <a:pt x="139" y="10"/>
                  <a:pt x="142" y="13"/>
                  <a:pt x="142" y="17"/>
                </a:cubicBezTo>
                <a:lnTo>
                  <a:pt x="142" y="60"/>
                </a:lnTo>
                <a:close/>
                <a:moveTo>
                  <a:pt x="57" y="84"/>
                </a:moveTo>
                <a:cubicBezTo>
                  <a:pt x="57" y="84"/>
                  <a:pt x="57" y="84"/>
                  <a:pt x="16" y="84"/>
                </a:cubicBezTo>
                <a:cubicBezTo>
                  <a:pt x="7" y="84"/>
                  <a:pt x="0" y="91"/>
                  <a:pt x="0" y="101"/>
                </a:cubicBezTo>
                <a:cubicBezTo>
                  <a:pt x="0" y="101"/>
                  <a:pt x="0" y="101"/>
                  <a:pt x="0" y="144"/>
                </a:cubicBezTo>
                <a:cubicBezTo>
                  <a:pt x="0" y="152"/>
                  <a:pt x="7" y="160"/>
                  <a:pt x="16" y="160"/>
                </a:cubicBezTo>
                <a:cubicBezTo>
                  <a:pt x="16" y="160"/>
                  <a:pt x="16" y="160"/>
                  <a:pt x="57" y="160"/>
                </a:cubicBezTo>
                <a:cubicBezTo>
                  <a:pt x="65" y="160"/>
                  <a:pt x="73" y="152"/>
                  <a:pt x="73" y="144"/>
                </a:cubicBezTo>
                <a:cubicBezTo>
                  <a:pt x="73" y="101"/>
                  <a:pt x="73" y="101"/>
                  <a:pt x="73" y="101"/>
                </a:cubicBezTo>
                <a:cubicBezTo>
                  <a:pt x="73" y="91"/>
                  <a:pt x="65" y="84"/>
                  <a:pt x="57" y="84"/>
                </a:cubicBezTo>
                <a:close/>
                <a:moveTo>
                  <a:pt x="64" y="144"/>
                </a:moveTo>
                <a:cubicBezTo>
                  <a:pt x="64" y="148"/>
                  <a:pt x="61" y="151"/>
                  <a:pt x="57" y="151"/>
                </a:cubicBezTo>
                <a:cubicBezTo>
                  <a:pt x="57" y="151"/>
                  <a:pt x="57" y="151"/>
                  <a:pt x="16" y="151"/>
                </a:cubicBezTo>
                <a:cubicBezTo>
                  <a:pt x="12" y="151"/>
                  <a:pt x="9" y="148"/>
                  <a:pt x="9" y="144"/>
                </a:cubicBezTo>
                <a:cubicBezTo>
                  <a:pt x="9" y="144"/>
                  <a:pt x="9" y="144"/>
                  <a:pt x="9" y="101"/>
                </a:cubicBezTo>
                <a:cubicBezTo>
                  <a:pt x="9" y="97"/>
                  <a:pt x="12" y="94"/>
                  <a:pt x="16" y="94"/>
                </a:cubicBezTo>
                <a:cubicBezTo>
                  <a:pt x="16" y="94"/>
                  <a:pt x="16" y="94"/>
                  <a:pt x="57" y="94"/>
                </a:cubicBezTo>
                <a:cubicBezTo>
                  <a:pt x="61" y="94"/>
                  <a:pt x="64" y="97"/>
                  <a:pt x="64" y="101"/>
                </a:cubicBezTo>
                <a:lnTo>
                  <a:pt x="64" y="144"/>
                </a:lnTo>
                <a:close/>
                <a:moveTo>
                  <a:pt x="135" y="84"/>
                </a:moveTo>
                <a:cubicBezTo>
                  <a:pt x="135" y="84"/>
                  <a:pt x="135" y="84"/>
                  <a:pt x="95" y="84"/>
                </a:cubicBezTo>
                <a:cubicBezTo>
                  <a:pt x="87" y="84"/>
                  <a:pt x="80" y="91"/>
                  <a:pt x="80" y="101"/>
                </a:cubicBezTo>
                <a:cubicBezTo>
                  <a:pt x="80" y="101"/>
                  <a:pt x="80" y="101"/>
                  <a:pt x="80" y="144"/>
                </a:cubicBezTo>
                <a:cubicBezTo>
                  <a:pt x="80" y="152"/>
                  <a:pt x="87" y="160"/>
                  <a:pt x="95" y="160"/>
                </a:cubicBezTo>
                <a:cubicBezTo>
                  <a:pt x="95" y="160"/>
                  <a:pt x="95" y="160"/>
                  <a:pt x="135" y="160"/>
                </a:cubicBezTo>
                <a:cubicBezTo>
                  <a:pt x="144" y="160"/>
                  <a:pt x="151" y="152"/>
                  <a:pt x="151" y="144"/>
                </a:cubicBezTo>
                <a:cubicBezTo>
                  <a:pt x="151" y="101"/>
                  <a:pt x="151" y="101"/>
                  <a:pt x="151" y="101"/>
                </a:cubicBezTo>
                <a:cubicBezTo>
                  <a:pt x="151" y="91"/>
                  <a:pt x="144" y="84"/>
                  <a:pt x="135" y="84"/>
                </a:cubicBezTo>
                <a:close/>
                <a:moveTo>
                  <a:pt x="142" y="144"/>
                </a:moveTo>
                <a:cubicBezTo>
                  <a:pt x="142" y="148"/>
                  <a:pt x="139" y="151"/>
                  <a:pt x="135" y="151"/>
                </a:cubicBezTo>
                <a:cubicBezTo>
                  <a:pt x="135" y="151"/>
                  <a:pt x="135" y="151"/>
                  <a:pt x="95" y="151"/>
                </a:cubicBezTo>
                <a:cubicBezTo>
                  <a:pt x="91" y="151"/>
                  <a:pt x="88" y="148"/>
                  <a:pt x="88" y="144"/>
                </a:cubicBezTo>
                <a:cubicBezTo>
                  <a:pt x="88" y="144"/>
                  <a:pt x="88" y="144"/>
                  <a:pt x="88" y="101"/>
                </a:cubicBezTo>
                <a:cubicBezTo>
                  <a:pt x="88" y="97"/>
                  <a:pt x="91" y="94"/>
                  <a:pt x="95" y="94"/>
                </a:cubicBezTo>
                <a:cubicBezTo>
                  <a:pt x="95" y="94"/>
                  <a:pt x="95" y="94"/>
                  <a:pt x="135" y="94"/>
                </a:cubicBezTo>
                <a:cubicBezTo>
                  <a:pt x="139" y="94"/>
                  <a:pt x="142" y="97"/>
                  <a:pt x="142" y="101"/>
                </a:cubicBezTo>
                <a:lnTo>
                  <a:pt x="142" y="144"/>
                </a:lnTo>
                <a:close/>
              </a:path>
            </a:pathLst>
          </a:custGeom>
          <a:solidFill>
            <a:srgbClr val="FFFFFF"/>
          </a:solidFill>
          <a:ln>
            <a:noFill/>
          </a:ln>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grpSp>
        <p:nvGrpSpPr>
          <p:cNvPr id="4" name="组合 3"/>
          <p:cNvGrpSpPr/>
          <p:nvPr/>
        </p:nvGrpSpPr>
        <p:grpSpPr>
          <a:xfrm>
            <a:off x="7675245" y="347980"/>
            <a:ext cx="4588510" cy="367030"/>
            <a:chOff x="12087" y="-1089"/>
            <a:chExt cx="7226" cy="578"/>
          </a:xfrm>
        </p:grpSpPr>
        <p:pic>
          <p:nvPicPr>
            <p:cNvPr id="6" name="图片 5"/>
            <p:cNvPicPr>
              <a:picLocks noChangeAspect="1"/>
            </p:cNvPicPr>
            <p:nvPr userDrawn="1"/>
          </p:nvPicPr>
          <p:blipFill>
            <a:blip r:embed="rId7"/>
            <a:srcRect r="57320" b="-13333"/>
            <a:stretch>
              <a:fillRect/>
            </a:stretch>
          </p:blipFill>
          <p:spPr>
            <a:xfrm>
              <a:off x="12087" y="-1089"/>
              <a:ext cx="2548" cy="578"/>
            </a:xfrm>
            <a:prstGeom prst="rect">
              <a:avLst/>
            </a:prstGeom>
          </p:spPr>
        </p:pic>
        <p:sp>
          <p:nvSpPr>
            <p:cNvPr id="8" name="文本框 7"/>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 name="textbox 524"/>
          <p:cNvSpPr/>
          <p:nvPr>
            <p:custDataLst>
              <p:tags r:id="rId1"/>
            </p:custDataLst>
          </p:nvPr>
        </p:nvSpPr>
        <p:spPr>
          <a:xfrm>
            <a:off x="319405" y="5673725"/>
            <a:ext cx="11513185" cy="967105"/>
          </a:xfrm>
          <a:prstGeom prst="rect">
            <a:avLst/>
          </a:prstGeom>
          <a:gradFill flip="none" rotWithShape="1">
            <a:gsLst>
              <a:gs pos="0">
                <a:srgbClr val="3368FF">
                  <a:alpha val="5000"/>
                </a:srgbClr>
              </a:gs>
              <a:gs pos="100000">
                <a:srgbClr val="3368FF">
                  <a:alpha val="5000"/>
                </a:srgbClr>
              </a:gs>
            </a:gsLst>
            <a:lin ang="2700000" scaled="1"/>
          </a:gradFill>
          <a:ln w="12700" cap="flat" cmpd="sng" algn="ctr">
            <a:solidFill>
              <a:srgbClr val="0042FF">
                <a:alpha val="70000"/>
              </a:srgbClr>
            </a:solidFill>
            <a:prstDash val="solid"/>
            <a:miter lim="800000"/>
          </a:ln>
          <a:effectLst/>
        </p:spPr>
        <p:txBody>
          <a:bodyPr vert="horz" wrap="square" lIns="91440" tIns="45720" rIns="91440" bIns="45720" rtlCol="0" anchor="ctr" anchorCtr="0">
            <a:noAutofit/>
          </a:bodyPr>
          <a:lstStyle/>
          <a:p>
            <a:pPr lvl="0" algn="ctr">
              <a:buClrTx/>
              <a:buSzTx/>
              <a:buFontTx/>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 | </a:t>
            </a:r>
            <a:r>
              <a:rPr sz="2500">
                <a:solidFill>
                  <a:srgbClr val="383838"/>
                </a:solidFill>
                <a:effectLst/>
                <a:latin typeface="微软雅黑"/>
                <a:ea typeface="微软雅黑"/>
                <a:cs typeface="微软雅黑"/>
              </a:rPr>
              <a:t>消费者全域运营体系模型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
        <p:nvSpPr>
          <p:cNvPr id="17" name="Isosceles Triangle 13"/>
          <p:cNvSpPr/>
          <p:nvPr>
            <p:custDataLst>
              <p:tags r:id="rId4"/>
            </p:custDataLst>
          </p:nvPr>
        </p:nvSpPr>
        <p:spPr>
          <a:xfrm>
            <a:off x="368935" y="1034415"/>
            <a:ext cx="11451590" cy="599440"/>
          </a:xfrm>
          <a:prstGeom prst="triangle">
            <a:avLst/>
          </a:prstGeom>
          <a:gradFill>
            <a:gsLst>
              <a:gs pos="0">
                <a:srgbClr val="0042FF"/>
              </a:gs>
              <a:gs pos="100000">
                <a:srgbClr val="0042FF"/>
              </a:gs>
            </a:gsLst>
            <a:path path="circle">
              <a:fillToRect r="100000" b="100000"/>
            </a:path>
            <a:tileRect l="-100000" t="-100000"/>
          </a:gradFill>
          <a:ln w="9525">
            <a:noFill/>
          </a:ln>
        </p:spPr>
        <p:style>
          <a:lnRef idx="2">
            <a:srgbClr val="383838"/>
          </a:lnRef>
          <a:fillRef idx="1">
            <a:srgbClr val="383838"/>
          </a:fillRef>
          <a:effectRef idx="0">
            <a:srgbClr val="383838"/>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en-US" sz="2800" dirty="0">
              <a:solidFill>
                <a:srgbClr val="FFFFFF"/>
              </a:solidFill>
              <a:latin typeface="微软雅黑"/>
              <a:ea typeface="微软雅黑"/>
              <a:cs typeface="微软雅黑"/>
            </a:endParaRPr>
          </a:p>
        </p:txBody>
      </p:sp>
      <p:sp>
        <p:nvSpPr>
          <p:cNvPr id="203" name="Rectangle: Rounded Corners 15"/>
          <p:cNvSpPr/>
          <p:nvPr>
            <p:custDataLst>
              <p:tags r:id="rId5"/>
            </p:custDataLst>
          </p:nvPr>
        </p:nvSpPr>
        <p:spPr>
          <a:xfrm>
            <a:off x="9157335" y="2411095"/>
            <a:ext cx="2494915" cy="2835910"/>
          </a:xfrm>
          <a:prstGeom prst="roundRect">
            <a:avLst>
              <a:gd name="adj" fmla="val 0"/>
            </a:avLst>
          </a:prstGeom>
          <a:solidFill>
            <a:srgbClr val="E6E6E6">
              <a:alpha val="50000"/>
            </a:srgbClr>
          </a:solidFill>
          <a:ln w="19050" cap="flat" cmpd="sng" algn="ctr">
            <a:solidFill>
              <a:srgbClr val="3368FF">
                <a:alpha val="50000"/>
              </a:srgbClr>
            </a:solidFill>
            <a:prstDash val="solid"/>
            <a:miter lim="800000"/>
          </a:ln>
          <a:effectLst/>
        </p:spPr>
        <p:txBody>
          <a:bodyPr vert="horz" wrap="square" lIns="0" tIns="0" rIns="0" bIns="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88" name="矩形 107"/>
          <p:cNvSpPr/>
          <p:nvPr>
            <p:custDataLst>
              <p:tags r:id="rId6"/>
            </p:custDataLst>
          </p:nvPr>
        </p:nvSpPr>
        <p:spPr>
          <a:xfrm>
            <a:off x="9835198" y="1752600"/>
            <a:ext cx="1201420" cy="398780"/>
          </a:xfrm>
          <a:prstGeom prst="rect">
            <a:avLst/>
          </a:prstGeom>
        </p:spPr>
        <p:txBody>
          <a:bodyPr wrap="square" lIns="0" rIns="0" tIns="0" bIns="0">
            <a:spAutoFit/>
          </a:bodyPr>
          <a:lstStyle/>
          <a:p>
            <a:pPr lvl="0" algn="ctr">
              <a:spcBef>
                <a:spcPts val="0"/>
              </a:spcBef>
              <a:spcAft>
                <a:spcPts val="0"/>
              </a:spcAft>
              <a:buClrTx/>
              <a:buSzTx/>
              <a:buFontTx/>
              <a:defRPr>
                <a:latin typeface="微软雅黑"/>
                <a:ea typeface="微软雅黑"/>
                <a:cs typeface="微软雅黑"/>
              </a:defRPr>
            </a:pPr>
            <a:r>
              <a:rPr lang="zh-CN" altLang="en-US" sz="2000" b="1" dirty="0">
                <a:solidFill>
                  <a:srgbClr val="0042FF"/>
                </a:solidFill>
                <a:latin typeface="微软雅黑"/>
                <a:ea typeface="微软雅黑"/>
                <a:cs typeface="微软雅黑"/>
                <a:sym typeface="微软雅黑"/>
              </a:rPr>
              <a:t>转化复购</a:t>
            </a:r>
            <a:endParaRPr lang="zh-CN" altLang="en-US" sz="2000" b="1" dirty="0">
              <a:solidFill>
                <a:srgbClr val="0042FF"/>
              </a:solidFill>
              <a:latin typeface="微软雅黑"/>
              <a:ea typeface="微软雅黑"/>
              <a:cs typeface="微软雅黑"/>
              <a:sym typeface="微软雅黑"/>
            </a:endParaRPr>
          </a:p>
        </p:txBody>
      </p:sp>
      <p:sp>
        <p:nvSpPr>
          <p:cNvPr id="9" name="矩形 107"/>
          <p:cNvSpPr/>
          <p:nvPr>
            <p:custDataLst>
              <p:tags r:id="rId7"/>
            </p:custDataLst>
          </p:nvPr>
        </p:nvSpPr>
        <p:spPr>
          <a:xfrm>
            <a:off x="946150" y="1752600"/>
            <a:ext cx="1299210" cy="398780"/>
          </a:xfrm>
          <a:prstGeom prst="rect">
            <a:avLst/>
          </a:prstGeom>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2000" b="1" dirty="0">
                <a:solidFill>
                  <a:srgbClr val="0042FF"/>
                </a:solidFill>
                <a:latin typeface="微软雅黑"/>
                <a:ea typeface="微软雅黑"/>
                <a:cs typeface="微软雅黑"/>
              </a:rPr>
              <a:t>会员招募</a:t>
            </a:r>
            <a:endParaRPr lang="zh-CN" altLang="en-US" sz="2000" b="1" dirty="0">
              <a:solidFill>
                <a:srgbClr val="0042FF"/>
              </a:solidFill>
              <a:latin typeface="微软雅黑"/>
              <a:ea typeface="微软雅黑"/>
              <a:cs typeface="微软雅黑"/>
            </a:endParaRPr>
          </a:p>
        </p:txBody>
      </p:sp>
      <p:cxnSp>
        <p:nvCxnSpPr>
          <p:cNvPr id="197" name="直线连接符 181"/>
          <p:cNvCxnSpPr/>
          <p:nvPr>
            <p:custDataLst>
              <p:tags r:id="rId8"/>
            </p:custDataLst>
          </p:nvPr>
        </p:nvCxnSpPr>
        <p:spPr>
          <a:xfrm>
            <a:off x="2727325" y="3681095"/>
            <a:ext cx="985520" cy="0"/>
          </a:xfrm>
          <a:prstGeom prst="line">
            <a:avLst/>
          </a:prstGeom>
          <a:ln w="34925">
            <a:gradFill>
              <a:gsLst>
                <a:gs pos="0">
                  <a:srgbClr val="3368FF">
                    <a:alpha val="0"/>
                  </a:srgbClr>
                </a:gs>
                <a:gs pos="100000">
                  <a:srgbClr val="3368FF"/>
                </a:gs>
              </a:gsLst>
              <a:lin ang="0" scaled="0"/>
            </a:gradFill>
            <a:tailEnd type="triangle"/>
          </a:ln>
        </p:spPr>
        <p:style>
          <a:lnRef idx="1">
            <a:srgbClr val="0042FF"/>
          </a:lnRef>
          <a:fillRef idx="0">
            <a:srgbClr val="0042FF"/>
          </a:fillRef>
          <a:effectRef idx="0">
            <a:srgbClr val="0042FF"/>
          </a:effectRef>
          <a:fontRef idx="minor">
            <a:srgbClr val="383838"/>
          </a:fontRef>
        </p:style>
      </p:cxnSp>
      <p:cxnSp>
        <p:nvCxnSpPr>
          <p:cNvPr id="198" name="直线连接符 182"/>
          <p:cNvCxnSpPr/>
          <p:nvPr>
            <p:custDataLst>
              <p:tags r:id="rId9"/>
            </p:custDataLst>
          </p:nvPr>
        </p:nvCxnSpPr>
        <p:spPr>
          <a:xfrm flipH="1">
            <a:off x="2765425" y="3802380"/>
            <a:ext cx="947420" cy="0"/>
          </a:xfrm>
          <a:prstGeom prst="line">
            <a:avLst/>
          </a:prstGeom>
          <a:ln w="34925">
            <a:gradFill>
              <a:gsLst>
                <a:gs pos="0">
                  <a:srgbClr val="3368FF">
                    <a:alpha val="0"/>
                  </a:srgbClr>
                </a:gs>
                <a:gs pos="100000">
                  <a:srgbClr val="3368FF"/>
                </a:gs>
              </a:gsLst>
              <a:lin ang="0" scaled="0"/>
            </a:gradFill>
            <a:tailEnd type="triangle"/>
          </a:ln>
        </p:spPr>
        <p:style>
          <a:lnRef idx="1">
            <a:srgbClr val="0042FF"/>
          </a:lnRef>
          <a:fillRef idx="0">
            <a:srgbClr val="0042FF"/>
          </a:fillRef>
          <a:effectRef idx="0">
            <a:srgbClr val="0042FF"/>
          </a:effectRef>
          <a:fontRef idx="minor">
            <a:srgbClr val="383838"/>
          </a:fontRef>
        </p:style>
      </p:cxnSp>
      <p:sp>
        <p:nvSpPr>
          <p:cNvPr id="200" name="文本框 199"/>
          <p:cNvSpPr txBox="1"/>
          <p:nvPr>
            <p:custDataLst>
              <p:tags r:id="rId10"/>
            </p:custDataLst>
          </p:nvPr>
        </p:nvSpPr>
        <p:spPr>
          <a:xfrm>
            <a:off x="2991168" y="3401060"/>
            <a:ext cx="457200" cy="184150"/>
          </a:xfrm>
          <a:prstGeom prst="rect">
            <a:avLst/>
          </a:prstGeom>
          <a:noFill/>
        </p:spPr>
        <p:txBody>
          <a:bodyPr wrap="none" lIns="0" tIns="0" rIns="0" bIns="0"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消费者</a:t>
            </a:r>
            <a:endParaRPr lang="zh-CN" altLang="en-US" sz="1200" dirty="0">
              <a:solidFill>
                <a:srgbClr val="383838"/>
              </a:solidFill>
              <a:latin typeface="微软雅黑"/>
              <a:ea typeface="微软雅黑"/>
              <a:cs typeface="微软雅黑"/>
            </a:endParaRPr>
          </a:p>
        </p:txBody>
      </p:sp>
      <p:sp>
        <p:nvSpPr>
          <p:cNvPr id="201" name="文本框 200"/>
          <p:cNvSpPr txBox="1"/>
          <p:nvPr>
            <p:custDataLst>
              <p:tags r:id="rId11"/>
            </p:custDataLst>
          </p:nvPr>
        </p:nvSpPr>
        <p:spPr>
          <a:xfrm>
            <a:off x="2991168" y="3942715"/>
            <a:ext cx="457200" cy="184150"/>
          </a:xfrm>
          <a:prstGeom prst="rect">
            <a:avLst/>
          </a:prstGeom>
          <a:noFill/>
        </p:spPr>
        <p:txBody>
          <a:bodyPr wrap="none" lIns="0" tIns="0" rIns="0" bIns="0"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消费者</a:t>
            </a:r>
            <a:endParaRPr lang="zh-CN" altLang="en-US" sz="1200" dirty="0">
              <a:solidFill>
                <a:srgbClr val="383838"/>
              </a:solidFill>
              <a:latin typeface="微软雅黑"/>
              <a:ea typeface="微软雅黑"/>
              <a:cs typeface="微软雅黑"/>
            </a:endParaRPr>
          </a:p>
        </p:txBody>
      </p:sp>
      <p:grpSp>
        <p:nvGrpSpPr>
          <p:cNvPr id="413" name="组合 412"/>
          <p:cNvGrpSpPr/>
          <p:nvPr/>
        </p:nvGrpSpPr>
        <p:grpSpPr>
          <a:xfrm>
            <a:off x="9146540" y="2163445"/>
            <a:ext cx="2508250" cy="615950"/>
            <a:chOff x="14404" y="3883"/>
            <a:chExt cx="3950" cy="970"/>
          </a:xfrm>
        </p:grpSpPr>
        <p:sp>
          <p:nvSpPr>
            <p:cNvPr id="34" name="矩形 33"/>
            <p:cNvSpPr/>
            <p:nvPr>
              <p:custDataLst>
                <p:tags r:id="rId12"/>
              </p:custDataLst>
            </p:nvPr>
          </p:nvSpPr>
          <p:spPr>
            <a:xfrm>
              <a:off x="14404" y="3883"/>
              <a:ext cx="3951" cy="971"/>
            </a:xfrm>
            <a:prstGeom prst="rect">
              <a:avLst/>
            </a:prstGeom>
            <a:solidFill>
              <a:srgbClr val="3368FF"/>
            </a:soli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sym typeface="微软雅黑"/>
              </a:endParaRPr>
            </a:p>
          </p:txBody>
        </p:sp>
        <p:sp>
          <p:nvSpPr>
            <p:cNvPr id="36" name="Graphic 142" descr="Store"/>
            <p:cNvSpPr/>
            <p:nvPr>
              <p:custDataLst>
                <p:tags r:id="rId13"/>
              </p:custDataLst>
            </p:nvPr>
          </p:nvSpPr>
          <p:spPr>
            <a:xfrm flipH="1">
              <a:off x="14744" y="4125"/>
              <a:ext cx="347" cy="324"/>
            </a:xfrm>
            <a:custGeom>
              <a:avLst/>
              <a:gdLst>
                <a:gd name="connsiteX0" fmla="*/ 354289 w 398575"/>
                <a:gd name="connsiteY0" fmla="*/ 164382 h 372598"/>
                <a:gd name="connsiteX1" fmla="*/ 332146 w 398575"/>
                <a:gd name="connsiteY1" fmla="*/ 186299 h 372598"/>
                <a:gd name="connsiteX2" fmla="*/ 310003 w 398575"/>
                <a:gd name="connsiteY2" fmla="*/ 164382 h 372598"/>
                <a:gd name="connsiteX3" fmla="*/ 310003 w 398575"/>
                <a:gd name="connsiteY3" fmla="*/ 142464 h 372598"/>
                <a:gd name="connsiteX4" fmla="*/ 298932 w 398575"/>
                <a:gd name="connsiteY4" fmla="*/ 32876 h 372598"/>
                <a:gd name="connsiteX5" fmla="*/ 343218 w 398575"/>
                <a:gd name="connsiteY5" fmla="*/ 32876 h 372598"/>
                <a:gd name="connsiteX6" fmla="*/ 354289 w 398575"/>
                <a:gd name="connsiteY6" fmla="*/ 142464 h 372598"/>
                <a:gd name="connsiteX7" fmla="*/ 354289 w 398575"/>
                <a:gd name="connsiteY7" fmla="*/ 164382 h 372598"/>
                <a:gd name="connsiteX8" fmla="*/ 265717 w 398575"/>
                <a:gd name="connsiteY8" fmla="*/ 164382 h 372598"/>
                <a:gd name="connsiteX9" fmla="*/ 243574 w 398575"/>
                <a:gd name="connsiteY9" fmla="*/ 186299 h 372598"/>
                <a:gd name="connsiteX10" fmla="*/ 221431 w 398575"/>
                <a:gd name="connsiteY10" fmla="*/ 164382 h 372598"/>
                <a:gd name="connsiteX11" fmla="*/ 221431 w 398575"/>
                <a:gd name="connsiteY11" fmla="*/ 142464 h 372598"/>
                <a:gd name="connsiteX12" fmla="*/ 215895 w 398575"/>
                <a:gd name="connsiteY12" fmla="*/ 32876 h 372598"/>
                <a:gd name="connsiteX13" fmla="*/ 260181 w 398575"/>
                <a:gd name="connsiteY13" fmla="*/ 32876 h 372598"/>
                <a:gd name="connsiteX14" fmla="*/ 265717 w 398575"/>
                <a:gd name="connsiteY14" fmla="*/ 142464 h 372598"/>
                <a:gd name="connsiteX15" fmla="*/ 265717 w 398575"/>
                <a:gd name="connsiteY15" fmla="*/ 164382 h 372598"/>
                <a:gd name="connsiteX16" fmla="*/ 177145 w 398575"/>
                <a:gd name="connsiteY16" fmla="*/ 142464 h 372598"/>
                <a:gd name="connsiteX17" fmla="*/ 177145 w 398575"/>
                <a:gd name="connsiteY17" fmla="*/ 164382 h 372598"/>
                <a:gd name="connsiteX18" fmla="*/ 155002 w 398575"/>
                <a:gd name="connsiteY18" fmla="*/ 186299 h 372598"/>
                <a:gd name="connsiteX19" fmla="*/ 132859 w 398575"/>
                <a:gd name="connsiteY19" fmla="*/ 164382 h 372598"/>
                <a:gd name="connsiteX20" fmla="*/ 132859 w 398575"/>
                <a:gd name="connsiteY20" fmla="*/ 142464 h 372598"/>
                <a:gd name="connsiteX21" fmla="*/ 138394 w 398575"/>
                <a:gd name="connsiteY21" fmla="*/ 32876 h 372598"/>
                <a:gd name="connsiteX22" fmla="*/ 182680 w 398575"/>
                <a:gd name="connsiteY22" fmla="*/ 32876 h 372598"/>
                <a:gd name="connsiteX23" fmla="*/ 177145 w 398575"/>
                <a:gd name="connsiteY23" fmla="*/ 142464 h 372598"/>
                <a:gd name="connsiteX24" fmla="*/ 155002 w 398575"/>
                <a:gd name="connsiteY24" fmla="*/ 317805 h 372598"/>
                <a:gd name="connsiteX25" fmla="*/ 66429 w 398575"/>
                <a:gd name="connsiteY25" fmla="*/ 317805 h 372598"/>
                <a:gd name="connsiteX26" fmla="*/ 66429 w 398575"/>
                <a:gd name="connsiteY26" fmla="*/ 230135 h 372598"/>
                <a:gd name="connsiteX27" fmla="*/ 155002 w 398575"/>
                <a:gd name="connsiteY27" fmla="*/ 230135 h 372598"/>
                <a:gd name="connsiteX28" fmla="*/ 155002 w 398575"/>
                <a:gd name="connsiteY28" fmla="*/ 317805 h 372598"/>
                <a:gd name="connsiteX29" fmla="*/ 44286 w 398575"/>
                <a:gd name="connsiteY29" fmla="*/ 164382 h 372598"/>
                <a:gd name="connsiteX30" fmla="*/ 44286 w 398575"/>
                <a:gd name="connsiteY30" fmla="*/ 142464 h 372598"/>
                <a:gd name="connsiteX31" fmla="*/ 55358 w 398575"/>
                <a:gd name="connsiteY31" fmla="*/ 32876 h 372598"/>
                <a:gd name="connsiteX32" fmla="*/ 99644 w 398575"/>
                <a:gd name="connsiteY32" fmla="*/ 32876 h 372598"/>
                <a:gd name="connsiteX33" fmla="*/ 88572 w 398575"/>
                <a:gd name="connsiteY33" fmla="*/ 142464 h 372598"/>
                <a:gd name="connsiteX34" fmla="*/ 88572 w 398575"/>
                <a:gd name="connsiteY34" fmla="*/ 164382 h 372598"/>
                <a:gd name="connsiteX35" fmla="*/ 66429 w 398575"/>
                <a:gd name="connsiteY35" fmla="*/ 186299 h 372598"/>
                <a:gd name="connsiteX36" fmla="*/ 44286 w 398575"/>
                <a:gd name="connsiteY36" fmla="*/ 164382 h 372598"/>
                <a:gd name="connsiteX37" fmla="*/ 376432 w 398575"/>
                <a:gd name="connsiteY37" fmla="*/ 0 h 372598"/>
                <a:gd name="connsiteX38" fmla="*/ 22143 w 398575"/>
                <a:gd name="connsiteY38" fmla="*/ 0 h 372598"/>
                <a:gd name="connsiteX39" fmla="*/ 0 w 398575"/>
                <a:gd name="connsiteY39" fmla="*/ 142464 h 372598"/>
                <a:gd name="connsiteX40" fmla="*/ 0 w 398575"/>
                <a:gd name="connsiteY40" fmla="*/ 164382 h 372598"/>
                <a:gd name="connsiteX41" fmla="*/ 22143 w 398575"/>
                <a:gd name="connsiteY41" fmla="*/ 186299 h 372598"/>
                <a:gd name="connsiteX42" fmla="*/ 22143 w 398575"/>
                <a:gd name="connsiteY42" fmla="*/ 372599 h 372598"/>
                <a:gd name="connsiteX43" fmla="*/ 210359 w 398575"/>
                <a:gd name="connsiteY43" fmla="*/ 372599 h 372598"/>
                <a:gd name="connsiteX44" fmla="*/ 210359 w 398575"/>
                <a:gd name="connsiteY44" fmla="*/ 230135 h 372598"/>
                <a:gd name="connsiteX45" fmla="*/ 332146 w 398575"/>
                <a:gd name="connsiteY45" fmla="*/ 230135 h 372598"/>
                <a:gd name="connsiteX46" fmla="*/ 332146 w 398575"/>
                <a:gd name="connsiteY46" fmla="*/ 372599 h 372598"/>
                <a:gd name="connsiteX47" fmla="*/ 376432 w 398575"/>
                <a:gd name="connsiteY47" fmla="*/ 372599 h 372598"/>
                <a:gd name="connsiteX48" fmla="*/ 376432 w 398575"/>
                <a:gd name="connsiteY48" fmla="*/ 186299 h 372598"/>
                <a:gd name="connsiteX49" fmla="*/ 398576 w 398575"/>
                <a:gd name="connsiteY49" fmla="*/ 164382 h 372598"/>
                <a:gd name="connsiteX50" fmla="*/ 398576 w 398575"/>
                <a:gd name="connsiteY50" fmla="*/ 142464 h 372598"/>
                <a:gd name="connsiteX51" fmla="*/ 376432 w 398575"/>
                <a:gd name="connsiteY51" fmla="*/ 0 h 372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98575" h="372598">
                  <a:moveTo>
                    <a:pt x="354289" y="164382"/>
                  </a:moveTo>
                  <a:cubicBezTo>
                    <a:pt x="354289" y="176437"/>
                    <a:pt x="344325" y="186299"/>
                    <a:pt x="332146" y="186299"/>
                  </a:cubicBezTo>
                  <a:cubicBezTo>
                    <a:pt x="319968" y="186299"/>
                    <a:pt x="310003" y="176437"/>
                    <a:pt x="310003" y="164382"/>
                  </a:cubicBezTo>
                  <a:lnTo>
                    <a:pt x="310003" y="142464"/>
                  </a:lnTo>
                  <a:lnTo>
                    <a:pt x="298932" y="32876"/>
                  </a:lnTo>
                  <a:lnTo>
                    <a:pt x="343218" y="32876"/>
                  </a:lnTo>
                  <a:lnTo>
                    <a:pt x="354289" y="142464"/>
                  </a:lnTo>
                  <a:lnTo>
                    <a:pt x="354289" y="164382"/>
                  </a:lnTo>
                  <a:close/>
                  <a:moveTo>
                    <a:pt x="265717" y="164382"/>
                  </a:moveTo>
                  <a:cubicBezTo>
                    <a:pt x="265717" y="176437"/>
                    <a:pt x="255753" y="186299"/>
                    <a:pt x="243574" y="186299"/>
                  </a:cubicBezTo>
                  <a:cubicBezTo>
                    <a:pt x="231395" y="186299"/>
                    <a:pt x="221431" y="176437"/>
                    <a:pt x="221431" y="164382"/>
                  </a:cubicBezTo>
                  <a:lnTo>
                    <a:pt x="221431" y="142464"/>
                  </a:lnTo>
                  <a:lnTo>
                    <a:pt x="215895" y="32876"/>
                  </a:lnTo>
                  <a:lnTo>
                    <a:pt x="260181" y="32876"/>
                  </a:lnTo>
                  <a:lnTo>
                    <a:pt x="265717" y="142464"/>
                  </a:lnTo>
                  <a:lnTo>
                    <a:pt x="265717" y="164382"/>
                  </a:lnTo>
                  <a:close/>
                  <a:moveTo>
                    <a:pt x="177145" y="142464"/>
                  </a:moveTo>
                  <a:lnTo>
                    <a:pt x="177145" y="164382"/>
                  </a:lnTo>
                  <a:cubicBezTo>
                    <a:pt x="177145" y="176437"/>
                    <a:pt x="167180" y="186299"/>
                    <a:pt x="155002" y="186299"/>
                  </a:cubicBezTo>
                  <a:cubicBezTo>
                    <a:pt x="142823" y="186299"/>
                    <a:pt x="132859" y="176437"/>
                    <a:pt x="132859" y="164382"/>
                  </a:cubicBezTo>
                  <a:lnTo>
                    <a:pt x="132859" y="142464"/>
                  </a:lnTo>
                  <a:lnTo>
                    <a:pt x="138394" y="32876"/>
                  </a:lnTo>
                  <a:lnTo>
                    <a:pt x="182680" y="32876"/>
                  </a:lnTo>
                  <a:lnTo>
                    <a:pt x="177145" y="142464"/>
                  </a:lnTo>
                  <a:close/>
                  <a:moveTo>
                    <a:pt x="155002" y="317805"/>
                  </a:moveTo>
                  <a:lnTo>
                    <a:pt x="66429" y="317805"/>
                  </a:lnTo>
                  <a:lnTo>
                    <a:pt x="66429" y="230135"/>
                  </a:lnTo>
                  <a:lnTo>
                    <a:pt x="155002" y="230135"/>
                  </a:lnTo>
                  <a:lnTo>
                    <a:pt x="155002" y="317805"/>
                  </a:lnTo>
                  <a:close/>
                  <a:moveTo>
                    <a:pt x="44286" y="164382"/>
                  </a:moveTo>
                  <a:lnTo>
                    <a:pt x="44286" y="142464"/>
                  </a:lnTo>
                  <a:lnTo>
                    <a:pt x="55358" y="32876"/>
                  </a:lnTo>
                  <a:lnTo>
                    <a:pt x="99644" y="32876"/>
                  </a:lnTo>
                  <a:lnTo>
                    <a:pt x="88572" y="142464"/>
                  </a:lnTo>
                  <a:lnTo>
                    <a:pt x="88572" y="164382"/>
                  </a:lnTo>
                  <a:cubicBezTo>
                    <a:pt x="88572" y="176437"/>
                    <a:pt x="78608" y="186299"/>
                    <a:pt x="66429" y="186299"/>
                  </a:cubicBezTo>
                  <a:cubicBezTo>
                    <a:pt x="54251" y="186299"/>
                    <a:pt x="44286" y="176437"/>
                    <a:pt x="44286" y="164382"/>
                  </a:cubicBezTo>
                  <a:close/>
                  <a:moveTo>
                    <a:pt x="376432" y="0"/>
                  </a:moveTo>
                  <a:lnTo>
                    <a:pt x="22143" y="0"/>
                  </a:lnTo>
                  <a:lnTo>
                    <a:pt x="0" y="142464"/>
                  </a:lnTo>
                  <a:lnTo>
                    <a:pt x="0" y="164382"/>
                  </a:lnTo>
                  <a:cubicBezTo>
                    <a:pt x="0" y="176437"/>
                    <a:pt x="9964" y="186299"/>
                    <a:pt x="22143" y="186299"/>
                  </a:cubicBezTo>
                  <a:lnTo>
                    <a:pt x="22143" y="372599"/>
                  </a:lnTo>
                  <a:lnTo>
                    <a:pt x="210359" y="372599"/>
                  </a:lnTo>
                  <a:lnTo>
                    <a:pt x="210359" y="230135"/>
                  </a:lnTo>
                  <a:lnTo>
                    <a:pt x="332146" y="230135"/>
                  </a:lnTo>
                  <a:lnTo>
                    <a:pt x="332146" y="372599"/>
                  </a:lnTo>
                  <a:lnTo>
                    <a:pt x="376432" y="372599"/>
                  </a:lnTo>
                  <a:lnTo>
                    <a:pt x="376432" y="186299"/>
                  </a:lnTo>
                  <a:cubicBezTo>
                    <a:pt x="388611" y="186299"/>
                    <a:pt x="398576" y="176437"/>
                    <a:pt x="398576" y="164382"/>
                  </a:cubicBezTo>
                  <a:lnTo>
                    <a:pt x="398576" y="142464"/>
                  </a:lnTo>
                  <a:lnTo>
                    <a:pt x="376432" y="0"/>
                  </a:lnTo>
                  <a:close/>
                </a:path>
              </a:pathLst>
            </a:custGeom>
            <a:solidFill>
              <a:srgbClr val="FFFFFF"/>
            </a:solidFill>
            <a:ln w="5457" cap="flat">
              <a:no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0" name="Graphic 143" descr="Social network"/>
            <p:cNvSpPr/>
            <p:nvPr>
              <p:custDataLst>
                <p:tags r:id="rId14"/>
              </p:custDataLst>
            </p:nvPr>
          </p:nvSpPr>
          <p:spPr>
            <a:xfrm flipH="1">
              <a:off x="15702" y="4076"/>
              <a:ext cx="425" cy="398"/>
            </a:xfrm>
            <a:custGeom>
              <a:avLst/>
              <a:gdLst>
                <a:gd name="connsiteX0" fmla="*/ 363060 w 410405"/>
                <a:gd name="connsiteY0" fmla="*/ 200036 h 384053"/>
                <a:gd name="connsiteX1" fmla="*/ 410405 w 410405"/>
                <a:gd name="connsiteY1" fmla="*/ 153173 h 384053"/>
                <a:gd name="connsiteX2" fmla="*/ 363060 w 410405"/>
                <a:gd name="connsiteY2" fmla="*/ 106310 h 384053"/>
                <a:gd name="connsiteX3" fmla="*/ 315715 w 410405"/>
                <a:gd name="connsiteY3" fmla="*/ 153173 h 384053"/>
                <a:gd name="connsiteX4" fmla="*/ 316294 w 410405"/>
                <a:gd name="connsiteY4" fmla="*/ 160203 h 384053"/>
                <a:gd name="connsiteX5" fmla="*/ 261532 w 410405"/>
                <a:gd name="connsiteY5" fmla="*/ 182853 h 384053"/>
                <a:gd name="connsiteX6" fmla="*/ 214870 w 410405"/>
                <a:gd name="connsiteY6" fmla="*/ 150778 h 384053"/>
                <a:gd name="connsiteX7" fmla="*/ 214870 w 410405"/>
                <a:gd name="connsiteY7" fmla="*/ 92564 h 384053"/>
                <a:gd name="connsiteX8" fmla="*/ 250511 w 410405"/>
                <a:gd name="connsiteY8" fmla="*/ 36459 h 384053"/>
                <a:gd name="connsiteX9" fmla="*/ 193828 w 410405"/>
                <a:gd name="connsiteY9" fmla="*/ 1182 h 384053"/>
                <a:gd name="connsiteX10" fmla="*/ 158188 w 410405"/>
                <a:gd name="connsiteY10" fmla="*/ 57287 h 384053"/>
                <a:gd name="connsiteX11" fmla="*/ 193828 w 410405"/>
                <a:gd name="connsiteY11" fmla="*/ 92564 h 384053"/>
                <a:gd name="connsiteX12" fmla="*/ 193828 w 410405"/>
                <a:gd name="connsiteY12" fmla="*/ 150726 h 384053"/>
                <a:gd name="connsiteX13" fmla="*/ 147430 w 410405"/>
                <a:gd name="connsiteY13" fmla="*/ 182384 h 384053"/>
                <a:gd name="connsiteX14" fmla="*/ 94141 w 410405"/>
                <a:gd name="connsiteY14" fmla="*/ 160359 h 384053"/>
                <a:gd name="connsiteX15" fmla="*/ 54585 w 410405"/>
                <a:gd name="connsiteY15" fmla="*/ 106886 h 384053"/>
                <a:gd name="connsiteX16" fmla="*/ 563 w 410405"/>
                <a:gd name="connsiteY16" fmla="*/ 146039 h 384053"/>
                <a:gd name="connsiteX17" fmla="*/ 40118 w 410405"/>
                <a:gd name="connsiteY17" fmla="*/ 199512 h 384053"/>
                <a:gd name="connsiteX18" fmla="*/ 86197 w 410405"/>
                <a:gd name="connsiteY18" fmla="*/ 179989 h 384053"/>
                <a:gd name="connsiteX19" fmla="*/ 139960 w 410405"/>
                <a:gd name="connsiteY19" fmla="*/ 201754 h 384053"/>
                <a:gd name="connsiteX20" fmla="*/ 151744 w 410405"/>
                <a:gd name="connsiteY20" fmla="*/ 253824 h 384053"/>
                <a:gd name="connsiteX21" fmla="*/ 108239 w 410405"/>
                <a:gd name="connsiteY21" fmla="*/ 297302 h 384053"/>
                <a:gd name="connsiteX22" fmla="*/ 43085 w 410405"/>
                <a:gd name="connsiteY22" fmla="*/ 312575 h 384053"/>
                <a:gd name="connsiteX23" fmla="*/ 58515 w 410405"/>
                <a:gd name="connsiteY23" fmla="*/ 377065 h 384053"/>
                <a:gd name="connsiteX24" fmla="*/ 123668 w 410405"/>
                <a:gd name="connsiteY24" fmla="*/ 361793 h 384053"/>
                <a:gd name="connsiteX25" fmla="*/ 123126 w 410405"/>
                <a:gd name="connsiteY25" fmla="*/ 311726 h 384053"/>
                <a:gd name="connsiteX26" fmla="*/ 166947 w 410405"/>
                <a:gd name="connsiteY26" fmla="*/ 268352 h 384053"/>
                <a:gd name="connsiteX27" fmla="*/ 241804 w 410405"/>
                <a:gd name="connsiteY27" fmla="*/ 268352 h 384053"/>
                <a:gd name="connsiteX28" fmla="*/ 285625 w 410405"/>
                <a:gd name="connsiteY28" fmla="*/ 311674 h 384053"/>
                <a:gd name="connsiteX29" fmla="*/ 299616 w 410405"/>
                <a:gd name="connsiteY29" fmla="*/ 376484 h 384053"/>
                <a:gd name="connsiteX30" fmla="*/ 365094 w 410405"/>
                <a:gd name="connsiteY30" fmla="*/ 362636 h 384053"/>
                <a:gd name="connsiteX31" fmla="*/ 351102 w 410405"/>
                <a:gd name="connsiteY31" fmla="*/ 297825 h 384053"/>
                <a:gd name="connsiteX32" fmla="*/ 300197 w 410405"/>
                <a:gd name="connsiteY32" fmla="*/ 297459 h 384053"/>
                <a:gd name="connsiteX33" fmla="*/ 256955 w 410405"/>
                <a:gd name="connsiteY33" fmla="*/ 254085 h 384053"/>
                <a:gd name="connsiteX34" fmla="*/ 270317 w 410405"/>
                <a:gd name="connsiteY34" fmla="*/ 214928 h 384053"/>
                <a:gd name="connsiteX35" fmla="*/ 269054 w 410405"/>
                <a:gd name="connsiteY35" fmla="*/ 202275 h 384053"/>
                <a:gd name="connsiteX36" fmla="*/ 324343 w 410405"/>
                <a:gd name="connsiteY36" fmla="*/ 179885 h 384053"/>
                <a:gd name="connsiteX37" fmla="*/ 363060 w 410405"/>
                <a:gd name="connsiteY37" fmla="*/ 200036 h 384053"/>
                <a:gd name="connsiteX38" fmla="*/ 363060 w 410405"/>
                <a:gd name="connsiteY38" fmla="*/ 124483 h 384053"/>
                <a:gd name="connsiteX39" fmla="*/ 376369 w 410405"/>
                <a:gd name="connsiteY39" fmla="*/ 137656 h 384053"/>
                <a:gd name="connsiteX40" fmla="*/ 363060 w 410405"/>
                <a:gd name="connsiteY40" fmla="*/ 150830 h 384053"/>
                <a:gd name="connsiteX41" fmla="*/ 349751 w 410405"/>
                <a:gd name="connsiteY41" fmla="*/ 137656 h 384053"/>
                <a:gd name="connsiteX42" fmla="*/ 349751 w 410405"/>
                <a:gd name="connsiteY42" fmla="*/ 137604 h 384053"/>
                <a:gd name="connsiteX43" fmla="*/ 363060 w 410405"/>
                <a:gd name="connsiteY43" fmla="*/ 124483 h 384053"/>
                <a:gd name="connsiteX44" fmla="*/ 336757 w 410405"/>
                <a:gd name="connsiteY44" fmla="*/ 167180 h 384053"/>
                <a:gd name="connsiteX45" fmla="*/ 339440 w 410405"/>
                <a:gd name="connsiteY45" fmla="*/ 161973 h 384053"/>
                <a:gd name="connsiteX46" fmla="*/ 352381 w 410405"/>
                <a:gd name="connsiteY46" fmla="*/ 155725 h 384053"/>
                <a:gd name="connsiteX47" fmla="*/ 363323 w 410405"/>
                <a:gd name="connsiteY47" fmla="*/ 154111 h 384053"/>
                <a:gd name="connsiteX48" fmla="*/ 374265 w 410405"/>
                <a:gd name="connsiteY48" fmla="*/ 155725 h 384053"/>
                <a:gd name="connsiteX49" fmla="*/ 387206 w 410405"/>
                <a:gd name="connsiteY49" fmla="*/ 161973 h 384053"/>
                <a:gd name="connsiteX50" fmla="*/ 389836 w 410405"/>
                <a:gd name="connsiteY50" fmla="*/ 167180 h 384053"/>
                <a:gd name="connsiteX51" fmla="*/ 389836 w 410405"/>
                <a:gd name="connsiteY51" fmla="*/ 177177 h 384053"/>
                <a:gd name="connsiteX52" fmla="*/ 336494 w 410405"/>
                <a:gd name="connsiteY52" fmla="*/ 177177 h 384053"/>
                <a:gd name="connsiteX53" fmla="*/ 47690 w 410405"/>
                <a:gd name="connsiteY53" fmla="*/ 124483 h 384053"/>
                <a:gd name="connsiteX54" fmla="*/ 60999 w 410405"/>
                <a:gd name="connsiteY54" fmla="*/ 137656 h 384053"/>
                <a:gd name="connsiteX55" fmla="*/ 47690 w 410405"/>
                <a:gd name="connsiteY55" fmla="*/ 150830 h 384053"/>
                <a:gd name="connsiteX56" fmla="*/ 34381 w 410405"/>
                <a:gd name="connsiteY56" fmla="*/ 137656 h 384053"/>
                <a:gd name="connsiteX57" fmla="*/ 34381 w 410405"/>
                <a:gd name="connsiteY57" fmla="*/ 137604 h 384053"/>
                <a:gd name="connsiteX58" fmla="*/ 47427 w 410405"/>
                <a:gd name="connsiteY58" fmla="*/ 124483 h 384053"/>
                <a:gd name="connsiteX59" fmla="*/ 73993 w 410405"/>
                <a:gd name="connsiteY59" fmla="*/ 177230 h 384053"/>
                <a:gd name="connsiteX60" fmla="*/ 20861 w 410405"/>
                <a:gd name="connsiteY60" fmla="*/ 177230 h 384053"/>
                <a:gd name="connsiteX61" fmla="*/ 20861 w 410405"/>
                <a:gd name="connsiteY61" fmla="*/ 167180 h 384053"/>
                <a:gd name="connsiteX62" fmla="*/ 23544 w 410405"/>
                <a:gd name="connsiteY62" fmla="*/ 161973 h 384053"/>
                <a:gd name="connsiteX63" fmla="*/ 36485 w 410405"/>
                <a:gd name="connsiteY63" fmla="*/ 155725 h 384053"/>
                <a:gd name="connsiteX64" fmla="*/ 47427 w 410405"/>
                <a:gd name="connsiteY64" fmla="*/ 154111 h 384053"/>
                <a:gd name="connsiteX65" fmla="*/ 58369 w 410405"/>
                <a:gd name="connsiteY65" fmla="*/ 155725 h 384053"/>
                <a:gd name="connsiteX66" fmla="*/ 71310 w 410405"/>
                <a:gd name="connsiteY66" fmla="*/ 161973 h 384053"/>
                <a:gd name="connsiteX67" fmla="*/ 73940 w 410405"/>
                <a:gd name="connsiteY67" fmla="*/ 167180 h 384053"/>
                <a:gd name="connsiteX68" fmla="*/ 83357 w 410405"/>
                <a:gd name="connsiteY68" fmla="*/ 308497 h 384053"/>
                <a:gd name="connsiteX69" fmla="*/ 96613 w 410405"/>
                <a:gd name="connsiteY69" fmla="*/ 321619 h 384053"/>
                <a:gd name="connsiteX70" fmla="*/ 83357 w 410405"/>
                <a:gd name="connsiteY70" fmla="*/ 334741 h 384053"/>
                <a:gd name="connsiteX71" fmla="*/ 70100 w 410405"/>
                <a:gd name="connsiteY71" fmla="*/ 321619 h 384053"/>
                <a:gd name="connsiteX72" fmla="*/ 83357 w 410405"/>
                <a:gd name="connsiteY72" fmla="*/ 308497 h 384053"/>
                <a:gd name="connsiteX73" fmla="*/ 109659 w 410405"/>
                <a:gd name="connsiteY73" fmla="*/ 361192 h 384053"/>
                <a:gd name="connsiteX74" fmla="*/ 57054 w 410405"/>
                <a:gd name="connsiteY74" fmla="*/ 361192 h 384053"/>
                <a:gd name="connsiteX75" fmla="*/ 57054 w 410405"/>
                <a:gd name="connsiteY75" fmla="*/ 351143 h 384053"/>
                <a:gd name="connsiteX76" fmla="*/ 59684 w 410405"/>
                <a:gd name="connsiteY76" fmla="*/ 345936 h 384053"/>
                <a:gd name="connsiteX77" fmla="*/ 72625 w 410405"/>
                <a:gd name="connsiteY77" fmla="*/ 339739 h 384053"/>
                <a:gd name="connsiteX78" fmla="*/ 83357 w 410405"/>
                <a:gd name="connsiteY78" fmla="*/ 338021 h 384053"/>
                <a:gd name="connsiteX79" fmla="*/ 94299 w 410405"/>
                <a:gd name="connsiteY79" fmla="*/ 339687 h 384053"/>
                <a:gd name="connsiteX80" fmla="*/ 107240 w 410405"/>
                <a:gd name="connsiteY80" fmla="*/ 345884 h 384053"/>
                <a:gd name="connsiteX81" fmla="*/ 109870 w 410405"/>
                <a:gd name="connsiteY81" fmla="*/ 351091 h 384053"/>
                <a:gd name="connsiteX82" fmla="*/ 204349 w 410405"/>
                <a:gd name="connsiteY82" fmla="*/ 18208 h 384053"/>
                <a:gd name="connsiteX83" fmla="*/ 217606 w 410405"/>
                <a:gd name="connsiteY83" fmla="*/ 31330 h 384053"/>
                <a:gd name="connsiteX84" fmla="*/ 204349 w 410405"/>
                <a:gd name="connsiteY84" fmla="*/ 44452 h 384053"/>
                <a:gd name="connsiteX85" fmla="*/ 191093 w 410405"/>
                <a:gd name="connsiteY85" fmla="*/ 31382 h 384053"/>
                <a:gd name="connsiteX86" fmla="*/ 204297 w 410405"/>
                <a:gd name="connsiteY86" fmla="*/ 18208 h 384053"/>
                <a:gd name="connsiteX87" fmla="*/ 204349 w 410405"/>
                <a:gd name="connsiteY87" fmla="*/ 18208 h 384053"/>
                <a:gd name="connsiteX88" fmla="*/ 178047 w 410405"/>
                <a:gd name="connsiteY88" fmla="*/ 70903 h 384053"/>
                <a:gd name="connsiteX89" fmla="*/ 178047 w 410405"/>
                <a:gd name="connsiteY89" fmla="*/ 60854 h 384053"/>
                <a:gd name="connsiteX90" fmla="*/ 180677 w 410405"/>
                <a:gd name="connsiteY90" fmla="*/ 55647 h 384053"/>
                <a:gd name="connsiteX91" fmla="*/ 193618 w 410405"/>
                <a:gd name="connsiteY91" fmla="*/ 49450 h 384053"/>
                <a:gd name="connsiteX92" fmla="*/ 204349 w 410405"/>
                <a:gd name="connsiteY92" fmla="*/ 47732 h 384053"/>
                <a:gd name="connsiteX93" fmla="*/ 215291 w 410405"/>
                <a:gd name="connsiteY93" fmla="*/ 49398 h 384053"/>
                <a:gd name="connsiteX94" fmla="*/ 228232 w 410405"/>
                <a:gd name="connsiteY94" fmla="*/ 55594 h 384053"/>
                <a:gd name="connsiteX95" fmla="*/ 230863 w 410405"/>
                <a:gd name="connsiteY95" fmla="*/ 60801 h 384053"/>
                <a:gd name="connsiteX96" fmla="*/ 230863 w 410405"/>
                <a:gd name="connsiteY96" fmla="*/ 70851 h 384053"/>
                <a:gd name="connsiteX97" fmla="*/ 204349 w 410405"/>
                <a:gd name="connsiteY97" fmla="*/ 175043 h 384053"/>
                <a:gd name="connsiteX98" fmla="*/ 222867 w 410405"/>
                <a:gd name="connsiteY98" fmla="*/ 193267 h 384053"/>
                <a:gd name="connsiteX99" fmla="*/ 204455 w 410405"/>
                <a:gd name="connsiteY99" fmla="*/ 211596 h 384053"/>
                <a:gd name="connsiteX100" fmla="*/ 185937 w 410405"/>
                <a:gd name="connsiteY100" fmla="*/ 193371 h 384053"/>
                <a:gd name="connsiteX101" fmla="*/ 185937 w 410405"/>
                <a:gd name="connsiteY101" fmla="*/ 193319 h 384053"/>
                <a:gd name="connsiteX102" fmla="*/ 204349 w 410405"/>
                <a:gd name="connsiteY102" fmla="*/ 175043 h 384053"/>
                <a:gd name="connsiteX103" fmla="*/ 241173 w 410405"/>
                <a:gd name="connsiteY103" fmla="*/ 248305 h 384053"/>
                <a:gd name="connsiteX104" fmla="*/ 167526 w 410405"/>
                <a:gd name="connsiteY104" fmla="*/ 248305 h 384053"/>
                <a:gd name="connsiteX105" fmla="*/ 167526 w 410405"/>
                <a:gd name="connsiteY105" fmla="*/ 234454 h 384053"/>
                <a:gd name="connsiteX106" fmla="*/ 171208 w 410405"/>
                <a:gd name="connsiteY106" fmla="*/ 227164 h 384053"/>
                <a:gd name="connsiteX107" fmla="*/ 189199 w 410405"/>
                <a:gd name="connsiteY107" fmla="*/ 218469 h 384053"/>
                <a:gd name="connsiteX108" fmla="*/ 204349 w 410405"/>
                <a:gd name="connsiteY108" fmla="*/ 216126 h 384053"/>
                <a:gd name="connsiteX109" fmla="*/ 219552 w 410405"/>
                <a:gd name="connsiteY109" fmla="*/ 218365 h 384053"/>
                <a:gd name="connsiteX110" fmla="*/ 237543 w 410405"/>
                <a:gd name="connsiteY110" fmla="*/ 227060 h 384053"/>
                <a:gd name="connsiteX111" fmla="*/ 241173 w 410405"/>
                <a:gd name="connsiteY111" fmla="*/ 234454 h 384053"/>
                <a:gd name="connsiteX112" fmla="*/ 325342 w 410405"/>
                <a:gd name="connsiteY112" fmla="*/ 308497 h 384053"/>
                <a:gd name="connsiteX113" fmla="*/ 338599 w 410405"/>
                <a:gd name="connsiteY113" fmla="*/ 321619 h 384053"/>
                <a:gd name="connsiteX114" fmla="*/ 325342 w 410405"/>
                <a:gd name="connsiteY114" fmla="*/ 334741 h 384053"/>
                <a:gd name="connsiteX115" fmla="*/ 312085 w 410405"/>
                <a:gd name="connsiteY115" fmla="*/ 321619 h 384053"/>
                <a:gd name="connsiteX116" fmla="*/ 325342 w 410405"/>
                <a:gd name="connsiteY116" fmla="*/ 308497 h 384053"/>
                <a:gd name="connsiteX117" fmla="*/ 299039 w 410405"/>
                <a:gd name="connsiteY117" fmla="*/ 351143 h 384053"/>
                <a:gd name="connsiteX118" fmla="*/ 301670 w 410405"/>
                <a:gd name="connsiteY118" fmla="*/ 345936 h 384053"/>
                <a:gd name="connsiteX119" fmla="*/ 314611 w 410405"/>
                <a:gd name="connsiteY119" fmla="*/ 339739 h 384053"/>
                <a:gd name="connsiteX120" fmla="*/ 325342 w 410405"/>
                <a:gd name="connsiteY120" fmla="*/ 338021 h 384053"/>
                <a:gd name="connsiteX121" fmla="*/ 336284 w 410405"/>
                <a:gd name="connsiteY121" fmla="*/ 339687 h 384053"/>
                <a:gd name="connsiteX122" fmla="*/ 349225 w 410405"/>
                <a:gd name="connsiteY122" fmla="*/ 345884 h 384053"/>
                <a:gd name="connsiteX123" fmla="*/ 351855 w 410405"/>
                <a:gd name="connsiteY123" fmla="*/ 351091 h 384053"/>
                <a:gd name="connsiteX124" fmla="*/ 351855 w 410405"/>
                <a:gd name="connsiteY124" fmla="*/ 361140 h 384053"/>
                <a:gd name="connsiteX125" fmla="*/ 299039 w 410405"/>
                <a:gd name="connsiteY125" fmla="*/ 361140 h 3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410405" h="384053">
                  <a:moveTo>
                    <a:pt x="363060" y="200036"/>
                  </a:moveTo>
                  <a:cubicBezTo>
                    <a:pt x="389208" y="200036"/>
                    <a:pt x="410405" y="179055"/>
                    <a:pt x="410405" y="153173"/>
                  </a:cubicBezTo>
                  <a:cubicBezTo>
                    <a:pt x="410405" y="127291"/>
                    <a:pt x="389208" y="106310"/>
                    <a:pt x="363060" y="106310"/>
                  </a:cubicBezTo>
                  <a:cubicBezTo>
                    <a:pt x="336912" y="106310"/>
                    <a:pt x="315715" y="127291"/>
                    <a:pt x="315715" y="153173"/>
                  </a:cubicBezTo>
                  <a:cubicBezTo>
                    <a:pt x="315721" y="155528"/>
                    <a:pt x="315914" y="157878"/>
                    <a:pt x="316294" y="160203"/>
                  </a:cubicBezTo>
                  <a:lnTo>
                    <a:pt x="261532" y="182853"/>
                  </a:lnTo>
                  <a:cubicBezTo>
                    <a:pt x="251710" y="165699"/>
                    <a:pt x="234540" y="153896"/>
                    <a:pt x="214870" y="150778"/>
                  </a:cubicBezTo>
                  <a:lnTo>
                    <a:pt x="214870" y="92564"/>
                  </a:lnTo>
                  <a:cubicBezTo>
                    <a:pt x="240365" y="86812"/>
                    <a:pt x="256321" y="61693"/>
                    <a:pt x="250511" y="36459"/>
                  </a:cubicBezTo>
                  <a:cubicBezTo>
                    <a:pt x="244700" y="11225"/>
                    <a:pt x="219322" y="-4570"/>
                    <a:pt x="193828" y="1182"/>
                  </a:cubicBezTo>
                  <a:cubicBezTo>
                    <a:pt x="168334" y="6933"/>
                    <a:pt x="152378" y="32053"/>
                    <a:pt x="158188" y="57287"/>
                  </a:cubicBezTo>
                  <a:cubicBezTo>
                    <a:pt x="162232" y="74848"/>
                    <a:pt x="176087" y="88561"/>
                    <a:pt x="193828" y="92564"/>
                  </a:cubicBezTo>
                  <a:lnTo>
                    <a:pt x="193828" y="150726"/>
                  </a:lnTo>
                  <a:cubicBezTo>
                    <a:pt x="174343" y="153845"/>
                    <a:pt x="157307" y="165469"/>
                    <a:pt x="147430" y="182384"/>
                  </a:cubicBezTo>
                  <a:lnTo>
                    <a:pt x="94141" y="160359"/>
                  </a:lnTo>
                  <a:cubicBezTo>
                    <a:pt x="98136" y="134781"/>
                    <a:pt x="80426" y="110841"/>
                    <a:pt x="54585" y="106886"/>
                  </a:cubicBezTo>
                  <a:cubicBezTo>
                    <a:pt x="28744" y="102932"/>
                    <a:pt x="4558" y="120461"/>
                    <a:pt x="563" y="146039"/>
                  </a:cubicBezTo>
                  <a:cubicBezTo>
                    <a:pt x="-3432" y="171617"/>
                    <a:pt x="14277" y="195558"/>
                    <a:pt x="40118" y="199512"/>
                  </a:cubicBezTo>
                  <a:cubicBezTo>
                    <a:pt x="57984" y="202245"/>
                    <a:pt x="75863" y="194671"/>
                    <a:pt x="86197" y="179989"/>
                  </a:cubicBezTo>
                  <a:lnTo>
                    <a:pt x="139960" y="201754"/>
                  </a:lnTo>
                  <a:cubicBezTo>
                    <a:pt x="136148" y="219980"/>
                    <a:pt x="140440" y="238949"/>
                    <a:pt x="151744" y="253824"/>
                  </a:cubicBezTo>
                  <a:lnTo>
                    <a:pt x="108239" y="297302"/>
                  </a:lnTo>
                  <a:cubicBezTo>
                    <a:pt x="85986" y="283711"/>
                    <a:pt x="56816" y="290549"/>
                    <a:pt x="43085" y="312575"/>
                  </a:cubicBezTo>
                  <a:cubicBezTo>
                    <a:pt x="29354" y="334601"/>
                    <a:pt x="36262" y="363474"/>
                    <a:pt x="58515" y="377065"/>
                  </a:cubicBezTo>
                  <a:cubicBezTo>
                    <a:pt x="80767" y="390656"/>
                    <a:pt x="109937" y="383819"/>
                    <a:pt x="123668" y="361793"/>
                  </a:cubicBezTo>
                  <a:cubicBezTo>
                    <a:pt x="133265" y="346399"/>
                    <a:pt x="133054" y="326912"/>
                    <a:pt x="123126" y="311726"/>
                  </a:cubicBezTo>
                  <a:lnTo>
                    <a:pt x="166947" y="268352"/>
                  </a:lnTo>
                  <a:cubicBezTo>
                    <a:pt x="189450" y="283827"/>
                    <a:pt x="219301" y="283827"/>
                    <a:pt x="241804" y="268352"/>
                  </a:cubicBezTo>
                  <a:lnTo>
                    <a:pt x="285625" y="311674"/>
                  </a:lnTo>
                  <a:cubicBezTo>
                    <a:pt x="271407" y="333395"/>
                    <a:pt x="277671" y="362412"/>
                    <a:pt x="299616" y="376484"/>
                  </a:cubicBezTo>
                  <a:cubicBezTo>
                    <a:pt x="321561" y="390557"/>
                    <a:pt x="350876" y="384357"/>
                    <a:pt x="365094" y="362636"/>
                  </a:cubicBezTo>
                  <a:cubicBezTo>
                    <a:pt x="379312" y="340915"/>
                    <a:pt x="373047" y="311898"/>
                    <a:pt x="351102" y="297825"/>
                  </a:cubicBezTo>
                  <a:cubicBezTo>
                    <a:pt x="335650" y="287915"/>
                    <a:pt x="315794" y="287772"/>
                    <a:pt x="300197" y="297459"/>
                  </a:cubicBezTo>
                  <a:lnTo>
                    <a:pt x="256955" y="254085"/>
                  </a:lnTo>
                  <a:cubicBezTo>
                    <a:pt x="265633" y="242840"/>
                    <a:pt x="270329" y="229079"/>
                    <a:pt x="270317" y="214928"/>
                  </a:cubicBezTo>
                  <a:cubicBezTo>
                    <a:pt x="270298" y="210681"/>
                    <a:pt x="269875" y="206444"/>
                    <a:pt x="269054" y="202275"/>
                  </a:cubicBezTo>
                  <a:lnTo>
                    <a:pt x="324343" y="179885"/>
                  </a:lnTo>
                  <a:cubicBezTo>
                    <a:pt x="333152" y="192455"/>
                    <a:pt x="347605" y="199977"/>
                    <a:pt x="363060" y="200036"/>
                  </a:cubicBezTo>
                  <a:close/>
                  <a:moveTo>
                    <a:pt x="363060" y="124483"/>
                  </a:moveTo>
                  <a:cubicBezTo>
                    <a:pt x="370411" y="124483"/>
                    <a:pt x="376369" y="130381"/>
                    <a:pt x="376369" y="137656"/>
                  </a:cubicBezTo>
                  <a:cubicBezTo>
                    <a:pt x="376369" y="144932"/>
                    <a:pt x="370410" y="150830"/>
                    <a:pt x="363060" y="150830"/>
                  </a:cubicBezTo>
                  <a:cubicBezTo>
                    <a:pt x="355710" y="150830"/>
                    <a:pt x="349751" y="144932"/>
                    <a:pt x="349751" y="137656"/>
                  </a:cubicBezTo>
                  <a:cubicBezTo>
                    <a:pt x="349751" y="137639"/>
                    <a:pt x="349751" y="137622"/>
                    <a:pt x="349751" y="137604"/>
                  </a:cubicBezTo>
                  <a:cubicBezTo>
                    <a:pt x="349808" y="130361"/>
                    <a:pt x="355742" y="124511"/>
                    <a:pt x="363060" y="124483"/>
                  </a:cubicBezTo>
                  <a:close/>
                  <a:moveTo>
                    <a:pt x="336757" y="167180"/>
                  </a:moveTo>
                  <a:cubicBezTo>
                    <a:pt x="336810" y="165132"/>
                    <a:pt x="337796" y="163218"/>
                    <a:pt x="339440" y="161973"/>
                  </a:cubicBezTo>
                  <a:cubicBezTo>
                    <a:pt x="343374" y="159194"/>
                    <a:pt x="347747" y="157083"/>
                    <a:pt x="352381" y="155725"/>
                  </a:cubicBezTo>
                  <a:cubicBezTo>
                    <a:pt x="355938" y="154702"/>
                    <a:pt x="359619" y="154158"/>
                    <a:pt x="363323" y="154111"/>
                  </a:cubicBezTo>
                  <a:cubicBezTo>
                    <a:pt x="367031" y="154116"/>
                    <a:pt x="370718" y="154659"/>
                    <a:pt x="374265" y="155725"/>
                  </a:cubicBezTo>
                  <a:cubicBezTo>
                    <a:pt x="378950" y="156951"/>
                    <a:pt x="383346" y="159073"/>
                    <a:pt x="387206" y="161973"/>
                  </a:cubicBezTo>
                  <a:cubicBezTo>
                    <a:pt x="388819" y="163237"/>
                    <a:pt x="389782" y="165145"/>
                    <a:pt x="389836" y="167180"/>
                  </a:cubicBezTo>
                  <a:lnTo>
                    <a:pt x="389836" y="177177"/>
                  </a:lnTo>
                  <a:lnTo>
                    <a:pt x="336494" y="177177"/>
                  </a:lnTo>
                  <a:close/>
                  <a:moveTo>
                    <a:pt x="47690" y="124483"/>
                  </a:moveTo>
                  <a:cubicBezTo>
                    <a:pt x="55041" y="124483"/>
                    <a:pt x="60999" y="130381"/>
                    <a:pt x="60999" y="137656"/>
                  </a:cubicBezTo>
                  <a:cubicBezTo>
                    <a:pt x="60999" y="144932"/>
                    <a:pt x="55040" y="150830"/>
                    <a:pt x="47690" y="150830"/>
                  </a:cubicBezTo>
                  <a:cubicBezTo>
                    <a:pt x="40340" y="150830"/>
                    <a:pt x="34381" y="144932"/>
                    <a:pt x="34381" y="137656"/>
                  </a:cubicBezTo>
                  <a:cubicBezTo>
                    <a:pt x="34381" y="137639"/>
                    <a:pt x="34381" y="137622"/>
                    <a:pt x="34381" y="137604"/>
                  </a:cubicBezTo>
                  <a:cubicBezTo>
                    <a:pt x="34436" y="130461"/>
                    <a:pt x="40212" y="124652"/>
                    <a:pt x="47427" y="124483"/>
                  </a:cubicBezTo>
                  <a:close/>
                  <a:moveTo>
                    <a:pt x="73993" y="177230"/>
                  </a:moveTo>
                  <a:lnTo>
                    <a:pt x="20861" y="177230"/>
                  </a:lnTo>
                  <a:lnTo>
                    <a:pt x="20861" y="167180"/>
                  </a:lnTo>
                  <a:cubicBezTo>
                    <a:pt x="20913" y="165132"/>
                    <a:pt x="21900" y="163218"/>
                    <a:pt x="23544" y="161973"/>
                  </a:cubicBezTo>
                  <a:cubicBezTo>
                    <a:pt x="27478" y="159194"/>
                    <a:pt x="31851" y="157083"/>
                    <a:pt x="36485" y="155725"/>
                  </a:cubicBezTo>
                  <a:cubicBezTo>
                    <a:pt x="40042" y="154702"/>
                    <a:pt x="43723" y="154158"/>
                    <a:pt x="47427" y="154111"/>
                  </a:cubicBezTo>
                  <a:cubicBezTo>
                    <a:pt x="51135" y="154116"/>
                    <a:pt x="54821" y="154659"/>
                    <a:pt x="58369" y="155725"/>
                  </a:cubicBezTo>
                  <a:cubicBezTo>
                    <a:pt x="63054" y="156951"/>
                    <a:pt x="67450" y="159073"/>
                    <a:pt x="71310" y="161973"/>
                  </a:cubicBezTo>
                  <a:cubicBezTo>
                    <a:pt x="72923" y="163237"/>
                    <a:pt x="73886" y="165145"/>
                    <a:pt x="73940" y="167180"/>
                  </a:cubicBezTo>
                  <a:close/>
                  <a:moveTo>
                    <a:pt x="83357" y="308497"/>
                  </a:moveTo>
                  <a:cubicBezTo>
                    <a:pt x="90678" y="308497"/>
                    <a:pt x="96613" y="314372"/>
                    <a:pt x="96613" y="321619"/>
                  </a:cubicBezTo>
                  <a:cubicBezTo>
                    <a:pt x="96613" y="328866"/>
                    <a:pt x="90678" y="334741"/>
                    <a:pt x="83357" y="334741"/>
                  </a:cubicBezTo>
                  <a:cubicBezTo>
                    <a:pt x="76035" y="334741"/>
                    <a:pt x="70100" y="328866"/>
                    <a:pt x="70100" y="321619"/>
                  </a:cubicBezTo>
                  <a:cubicBezTo>
                    <a:pt x="70100" y="314372"/>
                    <a:pt x="76035" y="308497"/>
                    <a:pt x="83357" y="308497"/>
                  </a:cubicBezTo>
                  <a:close/>
                  <a:moveTo>
                    <a:pt x="109659" y="361192"/>
                  </a:moveTo>
                  <a:lnTo>
                    <a:pt x="57054" y="361192"/>
                  </a:lnTo>
                  <a:lnTo>
                    <a:pt x="57054" y="351143"/>
                  </a:lnTo>
                  <a:cubicBezTo>
                    <a:pt x="57101" y="349105"/>
                    <a:pt x="58066" y="347195"/>
                    <a:pt x="59684" y="345936"/>
                  </a:cubicBezTo>
                  <a:cubicBezTo>
                    <a:pt x="63614" y="343163"/>
                    <a:pt x="67990" y="341068"/>
                    <a:pt x="72625" y="339739"/>
                  </a:cubicBezTo>
                  <a:cubicBezTo>
                    <a:pt x="76111" y="338704"/>
                    <a:pt x="79719" y="338126"/>
                    <a:pt x="83357" y="338021"/>
                  </a:cubicBezTo>
                  <a:cubicBezTo>
                    <a:pt x="87067" y="338038"/>
                    <a:pt x="90755" y="338600"/>
                    <a:pt x="94299" y="339687"/>
                  </a:cubicBezTo>
                  <a:cubicBezTo>
                    <a:pt x="98982" y="340891"/>
                    <a:pt x="103379" y="342997"/>
                    <a:pt x="107240" y="345884"/>
                  </a:cubicBezTo>
                  <a:cubicBezTo>
                    <a:pt x="108858" y="347143"/>
                    <a:pt x="109823" y="349053"/>
                    <a:pt x="109870" y="351091"/>
                  </a:cubicBezTo>
                  <a:close/>
                  <a:moveTo>
                    <a:pt x="204349" y="18208"/>
                  </a:moveTo>
                  <a:cubicBezTo>
                    <a:pt x="211671" y="18208"/>
                    <a:pt x="217606" y="24083"/>
                    <a:pt x="217606" y="31330"/>
                  </a:cubicBezTo>
                  <a:cubicBezTo>
                    <a:pt x="217606" y="38577"/>
                    <a:pt x="211670" y="44452"/>
                    <a:pt x="204349" y="44452"/>
                  </a:cubicBezTo>
                  <a:cubicBezTo>
                    <a:pt x="197048" y="44452"/>
                    <a:pt x="191122" y="38608"/>
                    <a:pt x="191093" y="31382"/>
                  </a:cubicBezTo>
                  <a:cubicBezTo>
                    <a:pt x="191064" y="24135"/>
                    <a:pt x="196975" y="18237"/>
                    <a:pt x="204297" y="18208"/>
                  </a:cubicBezTo>
                  <a:cubicBezTo>
                    <a:pt x="204314" y="18208"/>
                    <a:pt x="204332" y="18208"/>
                    <a:pt x="204349" y="18208"/>
                  </a:cubicBezTo>
                  <a:close/>
                  <a:moveTo>
                    <a:pt x="178047" y="70903"/>
                  </a:moveTo>
                  <a:lnTo>
                    <a:pt x="178047" y="60854"/>
                  </a:lnTo>
                  <a:cubicBezTo>
                    <a:pt x="178093" y="58816"/>
                    <a:pt x="179058" y="56906"/>
                    <a:pt x="180677" y="55647"/>
                  </a:cubicBezTo>
                  <a:cubicBezTo>
                    <a:pt x="184607" y="52874"/>
                    <a:pt x="188982" y="50779"/>
                    <a:pt x="193618" y="49450"/>
                  </a:cubicBezTo>
                  <a:cubicBezTo>
                    <a:pt x="197103" y="48415"/>
                    <a:pt x="200712" y="47837"/>
                    <a:pt x="204349" y="47732"/>
                  </a:cubicBezTo>
                  <a:cubicBezTo>
                    <a:pt x="208060" y="47749"/>
                    <a:pt x="211747" y="48311"/>
                    <a:pt x="215291" y="49398"/>
                  </a:cubicBezTo>
                  <a:cubicBezTo>
                    <a:pt x="219974" y="50602"/>
                    <a:pt x="224372" y="52708"/>
                    <a:pt x="228232" y="55594"/>
                  </a:cubicBezTo>
                  <a:cubicBezTo>
                    <a:pt x="229851" y="56854"/>
                    <a:pt x="230816" y="58764"/>
                    <a:pt x="230863" y="60801"/>
                  </a:cubicBezTo>
                  <a:lnTo>
                    <a:pt x="230863" y="70851"/>
                  </a:lnTo>
                  <a:close/>
                  <a:moveTo>
                    <a:pt x="204349" y="175043"/>
                  </a:moveTo>
                  <a:cubicBezTo>
                    <a:pt x="214547" y="175014"/>
                    <a:pt x="222838" y="183173"/>
                    <a:pt x="222867" y="193267"/>
                  </a:cubicBezTo>
                  <a:cubicBezTo>
                    <a:pt x="222895" y="203361"/>
                    <a:pt x="214652" y="211566"/>
                    <a:pt x="204455" y="211596"/>
                  </a:cubicBezTo>
                  <a:cubicBezTo>
                    <a:pt x="194257" y="211624"/>
                    <a:pt x="185966" y="203465"/>
                    <a:pt x="185937" y="193371"/>
                  </a:cubicBezTo>
                  <a:cubicBezTo>
                    <a:pt x="185937" y="193354"/>
                    <a:pt x="185937" y="193336"/>
                    <a:pt x="185937" y="193319"/>
                  </a:cubicBezTo>
                  <a:cubicBezTo>
                    <a:pt x="185937" y="183246"/>
                    <a:pt x="194172" y="175071"/>
                    <a:pt x="204349" y="175043"/>
                  </a:cubicBezTo>
                  <a:close/>
                  <a:moveTo>
                    <a:pt x="241173" y="248305"/>
                  </a:moveTo>
                  <a:lnTo>
                    <a:pt x="167526" y="248305"/>
                  </a:lnTo>
                  <a:lnTo>
                    <a:pt x="167526" y="234454"/>
                  </a:lnTo>
                  <a:cubicBezTo>
                    <a:pt x="167595" y="231603"/>
                    <a:pt x="168945" y="228931"/>
                    <a:pt x="171208" y="227164"/>
                  </a:cubicBezTo>
                  <a:cubicBezTo>
                    <a:pt x="176667" y="223283"/>
                    <a:pt x="182750" y="220343"/>
                    <a:pt x="189199" y="218469"/>
                  </a:cubicBezTo>
                  <a:cubicBezTo>
                    <a:pt x="194123" y="217033"/>
                    <a:pt x="199217" y="216245"/>
                    <a:pt x="204349" y="216126"/>
                  </a:cubicBezTo>
                  <a:cubicBezTo>
                    <a:pt x="209499" y="216141"/>
                    <a:pt x="214621" y="216895"/>
                    <a:pt x="219552" y="218365"/>
                  </a:cubicBezTo>
                  <a:cubicBezTo>
                    <a:pt x="226077" y="220042"/>
                    <a:pt x="232195" y="222999"/>
                    <a:pt x="237543" y="227060"/>
                  </a:cubicBezTo>
                  <a:cubicBezTo>
                    <a:pt x="239814" y="228860"/>
                    <a:pt x="241147" y="231575"/>
                    <a:pt x="241173" y="234454"/>
                  </a:cubicBezTo>
                  <a:close/>
                  <a:moveTo>
                    <a:pt x="325342" y="308497"/>
                  </a:moveTo>
                  <a:cubicBezTo>
                    <a:pt x="332664" y="308497"/>
                    <a:pt x="338599" y="314372"/>
                    <a:pt x="338599" y="321619"/>
                  </a:cubicBezTo>
                  <a:cubicBezTo>
                    <a:pt x="338599" y="328866"/>
                    <a:pt x="332664" y="334741"/>
                    <a:pt x="325342" y="334741"/>
                  </a:cubicBezTo>
                  <a:cubicBezTo>
                    <a:pt x="318020" y="334741"/>
                    <a:pt x="312085" y="328866"/>
                    <a:pt x="312085" y="321619"/>
                  </a:cubicBezTo>
                  <a:cubicBezTo>
                    <a:pt x="312085" y="314372"/>
                    <a:pt x="318020" y="308497"/>
                    <a:pt x="325342" y="308497"/>
                  </a:cubicBezTo>
                  <a:close/>
                  <a:moveTo>
                    <a:pt x="299039" y="351143"/>
                  </a:moveTo>
                  <a:cubicBezTo>
                    <a:pt x="299086" y="349105"/>
                    <a:pt x="300051" y="347195"/>
                    <a:pt x="301670" y="345936"/>
                  </a:cubicBezTo>
                  <a:cubicBezTo>
                    <a:pt x="305600" y="343163"/>
                    <a:pt x="309975" y="341068"/>
                    <a:pt x="314611" y="339739"/>
                  </a:cubicBezTo>
                  <a:cubicBezTo>
                    <a:pt x="318096" y="338704"/>
                    <a:pt x="321704" y="338126"/>
                    <a:pt x="325342" y="338021"/>
                  </a:cubicBezTo>
                  <a:cubicBezTo>
                    <a:pt x="329052" y="338038"/>
                    <a:pt x="332740" y="338600"/>
                    <a:pt x="336284" y="339687"/>
                  </a:cubicBezTo>
                  <a:cubicBezTo>
                    <a:pt x="340967" y="340891"/>
                    <a:pt x="345364" y="342997"/>
                    <a:pt x="349225" y="345884"/>
                  </a:cubicBezTo>
                  <a:cubicBezTo>
                    <a:pt x="350844" y="347143"/>
                    <a:pt x="351808" y="349053"/>
                    <a:pt x="351855" y="351091"/>
                  </a:cubicBezTo>
                  <a:lnTo>
                    <a:pt x="351855" y="361140"/>
                  </a:lnTo>
                  <a:lnTo>
                    <a:pt x="299039" y="361140"/>
                  </a:lnTo>
                  <a:close/>
                </a:path>
              </a:pathLst>
            </a:custGeom>
            <a:solidFill>
              <a:srgbClr val="FFFFFF"/>
            </a:solidFill>
            <a:ln w="5259"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8" name="矩形 107"/>
            <p:cNvSpPr/>
            <p:nvPr>
              <p:custDataLst>
                <p:tags r:id="rId15"/>
              </p:custDataLst>
            </p:nvPr>
          </p:nvSpPr>
          <p:spPr>
            <a:xfrm>
              <a:off x="14713" y="4573"/>
              <a:ext cx="400" cy="242"/>
            </a:xfrm>
            <a:prstGeom prst="rect">
              <a:avLst/>
            </a:prstGeom>
          </p:spPr>
          <p:txBody>
            <a:bodyPr wrap="non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门店</a:t>
              </a:r>
              <a:endParaRPr lang="zh-CN" altLang="en-US" sz="1000" dirty="0">
                <a:solidFill>
                  <a:srgbClr val="FFFFFF"/>
                </a:solidFill>
                <a:latin typeface="微软雅黑"/>
                <a:ea typeface="微软雅黑"/>
                <a:cs typeface="微软雅黑"/>
              </a:endParaRPr>
            </a:p>
          </p:txBody>
        </p:sp>
        <p:sp>
          <p:nvSpPr>
            <p:cNvPr id="229" name="矩形 107"/>
            <p:cNvSpPr/>
            <p:nvPr>
              <p:custDataLst>
                <p:tags r:id="rId16"/>
              </p:custDataLst>
            </p:nvPr>
          </p:nvSpPr>
          <p:spPr>
            <a:xfrm>
              <a:off x="15491" y="4573"/>
              <a:ext cx="800" cy="242"/>
            </a:xfrm>
            <a:prstGeom prst="rect">
              <a:avLst/>
            </a:prstGeom>
          </p:spPr>
          <p:txBody>
            <a:bodyPr wrap="non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社交电商</a:t>
              </a:r>
              <a:endParaRPr lang="zh-CN" altLang="en-US" sz="1000" dirty="0">
                <a:solidFill>
                  <a:srgbClr val="FFFFFF"/>
                </a:solidFill>
                <a:latin typeface="微软雅黑"/>
                <a:ea typeface="微软雅黑"/>
                <a:cs typeface="微软雅黑"/>
              </a:endParaRPr>
            </a:p>
          </p:txBody>
        </p:sp>
        <p:sp>
          <p:nvSpPr>
            <p:cNvPr id="230" name="矩形 107"/>
            <p:cNvSpPr/>
            <p:nvPr>
              <p:custDataLst>
                <p:tags r:id="rId17"/>
              </p:custDataLst>
            </p:nvPr>
          </p:nvSpPr>
          <p:spPr>
            <a:xfrm>
              <a:off x="17443" y="4573"/>
              <a:ext cx="808" cy="242"/>
            </a:xfrm>
            <a:prstGeom prst="rect">
              <a:avLst/>
            </a:prstGeom>
          </p:spPr>
          <p:txBody>
            <a:bodyPr wrap="non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电商平台</a:t>
              </a:r>
              <a:endParaRPr lang="zh-CN" altLang="en-US" sz="1000" dirty="0">
                <a:solidFill>
                  <a:srgbClr val="FFFFFF"/>
                </a:solidFill>
                <a:latin typeface="微软雅黑"/>
                <a:ea typeface="微软雅黑"/>
                <a:cs typeface="微软雅黑"/>
              </a:endParaRPr>
            </a:p>
          </p:txBody>
        </p:sp>
        <p:sp>
          <p:nvSpPr>
            <p:cNvPr id="231" name="矩形 107"/>
            <p:cNvSpPr/>
            <p:nvPr>
              <p:custDataLst>
                <p:tags r:id="rId18"/>
              </p:custDataLst>
            </p:nvPr>
          </p:nvSpPr>
          <p:spPr>
            <a:xfrm>
              <a:off x="16569" y="4573"/>
              <a:ext cx="600" cy="242"/>
            </a:xfrm>
            <a:prstGeom prst="rect">
              <a:avLst/>
            </a:prstGeom>
          </p:spPr>
          <p:txBody>
            <a:bodyPr wrap="non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微商城</a:t>
              </a:r>
              <a:endParaRPr lang="zh-CN" altLang="en-US" sz="1000" dirty="0">
                <a:solidFill>
                  <a:srgbClr val="FFFFFF"/>
                </a:solidFill>
                <a:latin typeface="微软雅黑"/>
                <a:ea typeface="微软雅黑"/>
                <a:cs typeface="微软雅黑"/>
              </a:endParaRPr>
            </a:p>
          </p:txBody>
        </p:sp>
        <p:pic>
          <p:nvPicPr>
            <p:cNvPr id="236" name="图形 235"/>
            <p:cNvPicPr>
              <a:picLocks noChangeAspect="1"/>
            </p:cNvPicPr>
            <p:nvPr>
              <p:custDataLst>
                <p:tags r:id="rId19"/>
              </p:custDataLst>
            </p:nvPr>
          </p:nvPicPr>
          <p:blipFill>
            <a:blip r:embed="rId20">
              <a:extLst>
                <a:ext uri="{96DAC541-7B7A-43D3-8B79-37D633B846F1}">
                  <asvg:svgBlip xmlns:asvg="http://schemas.microsoft.com/office/drawing/2016/SVG/main" r:embed="rId21"/>
                </a:ext>
              </a:extLst>
            </a:blip>
            <a:stretch>
              <a:fillRect/>
            </a:stretch>
          </p:blipFill>
          <p:spPr>
            <a:xfrm>
              <a:off x="17645" y="4076"/>
              <a:ext cx="398" cy="398"/>
            </a:xfrm>
            <a:prstGeom prst="rect">
              <a:avLst/>
            </a:prstGeom>
          </p:spPr>
        </p:pic>
        <p:pic>
          <p:nvPicPr>
            <p:cNvPr id="238" name="图形 237"/>
            <p:cNvPicPr>
              <a:picLocks noChangeAspect="1"/>
            </p:cNvPicPr>
            <p:nvPr>
              <p:custDataLst>
                <p:tags r:id="rId22"/>
              </p:custDataLst>
            </p:nvPr>
          </p:nvPicPr>
          <p:blipFill>
            <a:blip r:embed="rId23">
              <a:extLst>
                <a:ext uri="{96DAC541-7B7A-43D3-8B79-37D633B846F1}">
                  <asvg:svgBlip xmlns:asvg="http://schemas.microsoft.com/office/drawing/2016/SVG/main" r:embed="rId24"/>
                </a:ext>
              </a:extLst>
            </a:blip>
            <a:stretch>
              <a:fillRect/>
            </a:stretch>
          </p:blipFill>
          <p:spPr>
            <a:xfrm>
              <a:off x="16663" y="4076"/>
              <a:ext cx="417" cy="417"/>
            </a:xfrm>
            <a:prstGeom prst="rect">
              <a:avLst/>
            </a:prstGeom>
          </p:spPr>
        </p:pic>
      </p:grpSp>
      <p:grpSp>
        <p:nvGrpSpPr>
          <p:cNvPr id="436" name="组合 435"/>
          <p:cNvGrpSpPr/>
          <p:nvPr/>
        </p:nvGrpSpPr>
        <p:grpSpPr>
          <a:xfrm>
            <a:off x="9459595" y="2920365"/>
            <a:ext cx="1884680" cy="379730"/>
            <a:chOff x="14892" y="4835"/>
            <a:chExt cx="2968" cy="598"/>
          </a:xfrm>
        </p:grpSpPr>
        <p:sp>
          <p:nvSpPr>
            <p:cNvPr id="44" name="Rectangle: Rounded Corners 140"/>
            <p:cNvSpPr/>
            <p:nvPr>
              <p:custDataLst>
                <p:tags r:id="rId25"/>
              </p:custDataLst>
            </p:nvPr>
          </p:nvSpPr>
          <p:spPr>
            <a:xfrm>
              <a:off x="14901" y="4835"/>
              <a:ext cx="2959" cy="590"/>
            </a:xfrm>
            <a:prstGeom prst="roundRect">
              <a:avLst>
                <a:gd name="adj" fmla="val 0"/>
              </a:avLst>
            </a:prstGeom>
            <a:solidFill>
              <a:srgbClr val="FFFFFF">
                <a:alpha val="90000"/>
              </a:srgbClr>
            </a:solidFill>
            <a:ln w="12700" cap="flat" cmpd="sng" algn="ctr">
              <a:solidFill>
                <a:srgbClr val="668EFF"/>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0042FF"/>
                </a:solidFill>
                <a:latin typeface="微软雅黑"/>
                <a:ea typeface="微软雅黑"/>
                <a:cs typeface="微软雅黑"/>
                <a:sym typeface="微软雅黑"/>
              </a:endParaRPr>
            </a:p>
          </p:txBody>
        </p:sp>
        <p:sp>
          <p:nvSpPr>
            <p:cNvPr id="46" name="TextBox 138"/>
            <p:cNvSpPr txBox="1"/>
            <p:nvPr>
              <p:custDataLst>
                <p:tags r:id="rId26"/>
              </p:custDataLst>
            </p:nvPr>
          </p:nvSpPr>
          <p:spPr>
            <a:xfrm>
              <a:off x="14892" y="4849"/>
              <a:ext cx="2968" cy="584"/>
            </a:xfrm>
            <a:prstGeom prst="rect">
              <a:avLst/>
            </a:prstGeom>
            <a:noFill/>
            <a:ln>
              <a:solidFill>
                <a:srgbClr val="3368FF"/>
              </a:solidFill>
            </a:ln>
          </p:spPr>
          <p:txBody>
            <a:bodyPr wrap="square" rtlCol="0" anchor="ctr" anchorCtr="0" lIns="0" rIns="0" tIns="0" bIns="0">
              <a:noAutofit/>
            </a:bodyPr>
            <a:lstStyle/>
            <a:p>
              <a:pPr marL="0" marR="0" lvl="0" indent="0" algn="ctr" defTabSz="50228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500" b="1" dirty="0">
                  <a:solidFill>
                    <a:srgbClr val="0042FF"/>
                  </a:solidFill>
                  <a:latin typeface="微软雅黑"/>
                  <a:ea typeface="微软雅黑"/>
                  <a:cs typeface="微软雅黑"/>
                </a:rPr>
                <a:t>新客转化</a:t>
              </a:r>
              <a:endParaRPr lang="zh-CN" altLang="en-US" sz="1500" b="1" dirty="0">
                <a:solidFill>
                  <a:srgbClr val="0042FF"/>
                </a:solidFill>
                <a:latin typeface="微软雅黑"/>
                <a:ea typeface="微软雅黑"/>
                <a:cs typeface="微软雅黑"/>
              </a:endParaRPr>
            </a:p>
          </p:txBody>
        </p:sp>
      </p:grpSp>
      <p:sp>
        <p:nvSpPr>
          <p:cNvPr id="246" name="圆角矩形 98"/>
          <p:cNvSpPr/>
          <p:nvPr>
            <p:custDataLst>
              <p:tags r:id="rId27"/>
            </p:custDataLst>
          </p:nvPr>
        </p:nvSpPr>
        <p:spPr>
          <a:xfrm>
            <a:off x="9497060" y="3402965"/>
            <a:ext cx="772160" cy="150495"/>
          </a:xfrm>
          <a:prstGeom prst="roundRect">
            <a:avLst>
              <a:gd name="adj" fmla="val 50000"/>
            </a:avLst>
          </a:prstGeom>
          <a:noFill/>
          <a:ln>
            <a:solidFill>
              <a:srgbClr val="3368FF"/>
            </a:solidFill>
          </a:ln>
          <a:extLst>
            <a:ext uri="{909E8E84-426E-40DD-AFC4-6F175D3DCCD1}">
              <a14:hiddenFill xmlns:a14="http://schemas.microsoft.com/office/drawing/2010/main">
                <a:solidFill>
                  <a:srgbClr val="383838"/>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247" name="文本框 246"/>
          <p:cNvSpPr txBox="1"/>
          <p:nvPr>
            <p:custDataLst>
              <p:tags r:id="rId28"/>
            </p:custDataLst>
          </p:nvPr>
        </p:nvSpPr>
        <p:spPr>
          <a:xfrm>
            <a:off x="9622472" y="3423920"/>
            <a:ext cx="546100" cy="177800"/>
          </a:xfrm>
          <a:prstGeom prst="rect">
            <a:avLst/>
          </a:prstGeom>
          <a:noFill/>
          <a:ln>
            <a:noFill/>
          </a:ln>
        </p:spPr>
        <p:txBody>
          <a:bodyPr wrap="square" lIns="0" tIns="0" rIns="0" bIns="0" rtlCol="0" anchor="ctr">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小样招新</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8" name="椭圆 247"/>
          <p:cNvSpPr/>
          <p:nvPr>
            <p:custDataLst>
              <p:tags r:id="rId29"/>
            </p:custDataLst>
          </p:nvPr>
        </p:nvSpPr>
        <p:spPr>
          <a:xfrm>
            <a:off x="9518650" y="3420745"/>
            <a:ext cx="114935" cy="115570"/>
          </a:xfrm>
          <a:prstGeom prst="ellipse">
            <a:avLst/>
          </a:prstGeom>
          <a:noFill/>
          <a:ln>
            <a:solidFill>
              <a:srgbClr val="3368FF"/>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249" name="矩形 2"/>
          <p:cNvSpPr/>
          <p:nvPr>
            <p:custDataLst>
              <p:tags r:id="rId30"/>
            </p:custDataLst>
          </p:nvPr>
        </p:nvSpPr>
        <p:spPr>
          <a:xfrm rot="2700000">
            <a:off x="9563100" y="3444240"/>
            <a:ext cx="30480" cy="51435"/>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19050" cap="rnd">
            <a:solidFill>
              <a:srgbClr val="3368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178" name="矩形: 圆角 6"/>
          <p:cNvSpPr/>
          <p:nvPr/>
        </p:nvSpPr>
        <p:spPr>
          <a:xfrm>
            <a:off x="1025525" y="2169160"/>
            <a:ext cx="156210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779" h="688">
                <a:moveTo>
                  <a:pt x="0" y="0"/>
                </a:moveTo>
                <a:lnTo>
                  <a:pt x="2664" y="0"/>
                </a:lnTo>
                <a:cubicBezTo>
                  <a:pt x="2728" y="0"/>
                  <a:pt x="2779" y="51"/>
                  <a:pt x="2779" y="115"/>
                </a:cubicBezTo>
                <a:lnTo>
                  <a:pt x="2779" y="573"/>
                </a:lnTo>
                <a:cubicBezTo>
                  <a:pt x="2779" y="637"/>
                  <a:pt x="2728" y="688"/>
                  <a:pt x="2664" y="688"/>
                </a:cubicBezTo>
                <a:lnTo>
                  <a:pt x="0" y="688"/>
                </a:lnTo>
                <a:lnTo>
                  <a:pt x="0" y="0"/>
                </a:lnTo>
                <a:close/>
              </a:path>
            </a:pathLst>
          </a:custGeom>
          <a:solidFill>
            <a:srgbClr val="FFFF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12" name="矩形: 圆角 6"/>
          <p:cNvSpPr/>
          <p:nvPr/>
        </p:nvSpPr>
        <p:spPr>
          <a:xfrm>
            <a:off x="495300" y="2169160"/>
            <a:ext cx="53086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35" h="688">
                <a:moveTo>
                  <a:pt x="115" y="0"/>
                </a:moveTo>
                <a:lnTo>
                  <a:pt x="835" y="0"/>
                </a:lnTo>
                <a:lnTo>
                  <a:pt x="835" y="688"/>
                </a:lnTo>
                <a:lnTo>
                  <a:pt x="115" y="688"/>
                </a:lnTo>
                <a:cubicBezTo>
                  <a:pt x="51" y="688"/>
                  <a:pt x="0" y="637"/>
                  <a:pt x="0" y="573"/>
                </a:cubicBezTo>
                <a:lnTo>
                  <a:pt x="0" y="115"/>
                </a:lnTo>
                <a:cubicBezTo>
                  <a:pt x="0" y="51"/>
                  <a:pt x="51" y="0"/>
                  <a:pt x="115" y="0"/>
                </a:cubicBezTo>
                <a:close/>
              </a:path>
            </a:pathLst>
          </a:custGeom>
          <a:solidFill>
            <a:srgbClr val="0042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15" name="文本框 214"/>
          <p:cNvSpPr txBox="1"/>
          <p:nvPr>
            <p:custDataLst>
              <p:tags r:id="rId31"/>
            </p:custDataLst>
          </p:nvPr>
        </p:nvSpPr>
        <p:spPr>
          <a:xfrm>
            <a:off x="1037590" y="2232025"/>
            <a:ext cx="944880" cy="306705"/>
          </a:xfrm>
          <a:prstGeom prst="rect">
            <a:avLst/>
          </a:prstGeom>
          <a:noFill/>
        </p:spPr>
        <p:txBody>
          <a:bodyPr wrap="square" rtlCol="0" lIns="0" rIns="0" tIns="0" bIns="0">
            <a:spAutoFit/>
          </a:bodyPr>
          <a:lstStyle/>
          <a:p>
            <a:pPr lvl="0">
              <a:defRPr>
                <a:latin typeface="微软雅黑"/>
                <a:ea typeface="微软雅黑"/>
                <a:cs typeface="微软雅黑"/>
              </a:defRPr>
            </a:pPr>
            <a:r>
              <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rPr>
              <a:t>门店店主</a:t>
            </a:r>
            <a:endPar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33" name="矩形: 圆角 6"/>
          <p:cNvSpPr/>
          <p:nvPr/>
        </p:nvSpPr>
        <p:spPr>
          <a:xfrm>
            <a:off x="1025525" y="4404360"/>
            <a:ext cx="156210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779" h="688">
                <a:moveTo>
                  <a:pt x="0" y="0"/>
                </a:moveTo>
                <a:lnTo>
                  <a:pt x="2664" y="0"/>
                </a:lnTo>
                <a:cubicBezTo>
                  <a:pt x="2728" y="0"/>
                  <a:pt x="2779" y="51"/>
                  <a:pt x="2779" y="115"/>
                </a:cubicBezTo>
                <a:lnTo>
                  <a:pt x="2779" y="573"/>
                </a:lnTo>
                <a:cubicBezTo>
                  <a:pt x="2779" y="637"/>
                  <a:pt x="2728" y="688"/>
                  <a:pt x="2664" y="688"/>
                </a:cubicBezTo>
                <a:lnTo>
                  <a:pt x="0" y="688"/>
                </a:lnTo>
                <a:lnTo>
                  <a:pt x="0" y="0"/>
                </a:lnTo>
                <a:close/>
              </a:path>
            </a:pathLst>
          </a:custGeom>
          <a:solidFill>
            <a:srgbClr val="FFFF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34" name="矩形: 圆角 6"/>
          <p:cNvSpPr/>
          <p:nvPr/>
        </p:nvSpPr>
        <p:spPr>
          <a:xfrm>
            <a:off x="495300" y="4403725"/>
            <a:ext cx="530225" cy="437515"/>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35" h="688">
                <a:moveTo>
                  <a:pt x="115" y="0"/>
                </a:moveTo>
                <a:lnTo>
                  <a:pt x="835" y="0"/>
                </a:lnTo>
                <a:lnTo>
                  <a:pt x="835" y="688"/>
                </a:lnTo>
                <a:lnTo>
                  <a:pt x="115" y="688"/>
                </a:lnTo>
                <a:cubicBezTo>
                  <a:pt x="51" y="688"/>
                  <a:pt x="0" y="637"/>
                  <a:pt x="0" y="573"/>
                </a:cubicBezTo>
                <a:lnTo>
                  <a:pt x="0" y="115"/>
                </a:lnTo>
                <a:cubicBezTo>
                  <a:pt x="0" y="51"/>
                  <a:pt x="51" y="0"/>
                  <a:pt x="115" y="0"/>
                </a:cubicBezTo>
                <a:close/>
              </a:path>
            </a:pathLst>
          </a:custGeom>
          <a:solidFill>
            <a:srgbClr val="0042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35" name="文本框 234"/>
          <p:cNvSpPr txBox="1"/>
          <p:nvPr>
            <p:custDataLst>
              <p:tags r:id="rId32"/>
            </p:custDataLst>
          </p:nvPr>
        </p:nvSpPr>
        <p:spPr>
          <a:xfrm>
            <a:off x="1037590" y="4467225"/>
            <a:ext cx="1608455" cy="521970"/>
          </a:xfrm>
          <a:prstGeom prst="rect">
            <a:avLst/>
          </a:prstGeom>
          <a:noFill/>
        </p:spPr>
        <p:txBody>
          <a:bodyPr wrap="square" rtlCol="0" lIns="0" rIns="0" tIns="0" bIns="0">
            <a:spAutoFit/>
          </a:bodyPr>
          <a:lstStyle/>
          <a:p>
            <a:pPr lvl="0">
              <a:defRPr>
                <a:latin typeface="微软雅黑"/>
                <a:ea typeface="微软雅黑"/>
                <a:cs typeface="微软雅黑"/>
              </a:defRPr>
            </a:pPr>
            <a:r>
              <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rPr>
              <a:t>数字化社交媒体</a:t>
            </a:r>
            <a:endPar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endParaRPr>
          </a:p>
          <a:p>
            <a:pPr lvl="0">
              <a:defRPr>
                <a:latin typeface="微软雅黑"/>
                <a:ea typeface="微软雅黑"/>
                <a:cs typeface="微软雅黑"/>
              </a:defRPr>
            </a:pPr>
            <a:endPar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39" name="矩形: 圆角 6"/>
          <p:cNvSpPr/>
          <p:nvPr/>
        </p:nvSpPr>
        <p:spPr>
          <a:xfrm>
            <a:off x="1025525" y="2727960"/>
            <a:ext cx="156210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779" h="688">
                <a:moveTo>
                  <a:pt x="0" y="0"/>
                </a:moveTo>
                <a:lnTo>
                  <a:pt x="2664" y="0"/>
                </a:lnTo>
                <a:cubicBezTo>
                  <a:pt x="2728" y="0"/>
                  <a:pt x="2779" y="51"/>
                  <a:pt x="2779" y="115"/>
                </a:cubicBezTo>
                <a:lnTo>
                  <a:pt x="2779" y="573"/>
                </a:lnTo>
                <a:cubicBezTo>
                  <a:pt x="2779" y="637"/>
                  <a:pt x="2728" y="688"/>
                  <a:pt x="2664" y="688"/>
                </a:cubicBezTo>
                <a:lnTo>
                  <a:pt x="0" y="688"/>
                </a:lnTo>
                <a:lnTo>
                  <a:pt x="0" y="0"/>
                </a:lnTo>
                <a:close/>
              </a:path>
            </a:pathLst>
          </a:custGeom>
          <a:solidFill>
            <a:srgbClr val="FFFF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43" name="矩形: 圆角 6"/>
          <p:cNvSpPr/>
          <p:nvPr/>
        </p:nvSpPr>
        <p:spPr>
          <a:xfrm>
            <a:off x="495300" y="2727960"/>
            <a:ext cx="53086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35" h="688">
                <a:moveTo>
                  <a:pt x="115" y="0"/>
                </a:moveTo>
                <a:lnTo>
                  <a:pt x="835" y="0"/>
                </a:lnTo>
                <a:lnTo>
                  <a:pt x="835" y="688"/>
                </a:lnTo>
                <a:lnTo>
                  <a:pt x="115" y="688"/>
                </a:lnTo>
                <a:cubicBezTo>
                  <a:pt x="51" y="688"/>
                  <a:pt x="0" y="637"/>
                  <a:pt x="0" y="573"/>
                </a:cubicBezTo>
                <a:lnTo>
                  <a:pt x="0" y="115"/>
                </a:lnTo>
                <a:cubicBezTo>
                  <a:pt x="0" y="51"/>
                  <a:pt x="51" y="0"/>
                  <a:pt x="115" y="0"/>
                </a:cubicBezTo>
                <a:close/>
              </a:path>
            </a:pathLst>
          </a:custGeom>
          <a:solidFill>
            <a:srgbClr val="0042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44" name="文本框 243"/>
          <p:cNvSpPr txBox="1"/>
          <p:nvPr>
            <p:custDataLst>
              <p:tags r:id="rId33"/>
            </p:custDataLst>
          </p:nvPr>
        </p:nvSpPr>
        <p:spPr>
          <a:xfrm>
            <a:off x="1037590" y="2790825"/>
            <a:ext cx="1417320" cy="306705"/>
          </a:xfrm>
          <a:prstGeom prst="rect">
            <a:avLst/>
          </a:prstGeom>
          <a:noFill/>
        </p:spPr>
        <p:txBody>
          <a:bodyPr wrap="square" rtlCol="0" lIns="0" rIns="0" tIns="0" bIns="0">
            <a:spAutoFit/>
          </a:bodyPr>
          <a:lstStyle/>
          <a:p>
            <a:pPr lvl="0">
              <a:defRPr>
                <a:latin typeface="微软雅黑"/>
                <a:ea typeface="微软雅黑"/>
                <a:cs typeface="微软雅黑"/>
              </a:defRPr>
            </a:pPr>
            <a:r>
              <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rPr>
              <a:t>店员</a:t>
            </a:r>
            <a:r>
              <a:rPr kumimoji="0" lang="en-US" altLang="zh-CN" sz="140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rPr>
              <a:t>导购员</a:t>
            </a:r>
            <a:endPar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50" name="矩形: 圆角 6"/>
          <p:cNvSpPr/>
          <p:nvPr/>
        </p:nvSpPr>
        <p:spPr>
          <a:xfrm>
            <a:off x="1025525" y="3286760"/>
            <a:ext cx="156210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779" h="688">
                <a:moveTo>
                  <a:pt x="0" y="0"/>
                </a:moveTo>
                <a:lnTo>
                  <a:pt x="2664" y="0"/>
                </a:lnTo>
                <a:cubicBezTo>
                  <a:pt x="2728" y="0"/>
                  <a:pt x="2779" y="51"/>
                  <a:pt x="2779" y="115"/>
                </a:cubicBezTo>
                <a:lnTo>
                  <a:pt x="2779" y="573"/>
                </a:lnTo>
                <a:cubicBezTo>
                  <a:pt x="2779" y="637"/>
                  <a:pt x="2728" y="688"/>
                  <a:pt x="2664" y="688"/>
                </a:cubicBezTo>
                <a:lnTo>
                  <a:pt x="0" y="688"/>
                </a:lnTo>
                <a:lnTo>
                  <a:pt x="0" y="0"/>
                </a:lnTo>
                <a:close/>
              </a:path>
            </a:pathLst>
          </a:custGeom>
          <a:solidFill>
            <a:srgbClr val="FFFF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51" name="矩形: 圆角 6"/>
          <p:cNvSpPr/>
          <p:nvPr/>
        </p:nvSpPr>
        <p:spPr>
          <a:xfrm>
            <a:off x="495300" y="3286760"/>
            <a:ext cx="53086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35" h="688">
                <a:moveTo>
                  <a:pt x="115" y="0"/>
                </a:moveTo>
                <a:lnTo>
                  <a:pt x="835" y="0"/>
                </a:lnTo>
                <a:lnTo>
                  <a:pt x="835" y="688"/>
                </a:lnTo>
                <a:lnTo>
                  <a:pt x="115" y="688"/>
                </a:lnTo>
                <a:cubicBezTo>
                  <a:pt x="51" y="688"/>
                  <a:pt x="0" y="637"/>
                  <a:pt x="0" y="573"/>
                </a:cubicBezTo>
                <a:lnTo>
                  <a:pt x="0" y="115"/>
                </a:lnTo>
                <a:cubicBezTo>
                  <a:pt x="0" y="51"/>
                  <a:pt x="51" y="0"/>
                  <a:pt x="115" y="0"/>
                </a:cubicBezTo>
                <a:close/>
              </a:path>
            </a:pathLst>
          </a:custGeom>
          <a:solidFill>
            <a:srgbClr val="0042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52" name="文本框 251"/>
          <p:cNvSpPr txBox="1"/>
          <p:nvPr>
            <p:custDataLst>
              <p:tags r:id="rId34"/>
            </p:custDataLst>
          </p:nvPr>
        </p:nvSpPr>
        <p:spPr>
          <a:xfrm>
            <a:off x="1037590" y="3349625"/>
            <a:ext cx="1499870" cy="306705"/>
          </a:xfrm>
          <a:prstGeom prst="rect">
            <a:avLst/>
          </a:prstGeom>
          <a:noFill/>
        </p:spPr>
        <p:txBody>
          <a:bodyPr wrap="square" rtlCol="0" lIns="0" rIns="0" tIns="0" bIns="0">
            <a:spAutoFit/>
          </a:bodyPr>
          <a:lstStyle/>
          <a:p>
            <a:pPr lvl="0">
              <a:defRPr>
                <a:latin typeface="微软雅黑"/>
                <a:ea typeface="微软雅黑"/>
                <a:cs typeface="微软雅黑"/>
              </a:defRPr>
            </a:pPr>
            <a:r>
              <a:rPr lang="zh-CN" sz="1400" noProof="0" dirty="0">
                <a:ln>
                  <a:noFill/>
                </a:ln>
                <a:solidFill>
                  <a:srgbClr val="0042FF"/>
                </a:solidFill>
                <a:effectLst/>
                <a:uLnTx/>
                <a:uFillTx/>
                <a:latin typeface="微软雅黑"/>
                <a:ea typeface="微软雅黑"/>
                <a:cs typeface="微软雅黑"/>
                <a:sym typeface="微软雅黑"/>
              </a:rPr>
              <a:t>体验馆</a:t>
            </a:r>
            <a:r>
              <a:rPr lang="en-US" altLang="zh-CN" sz="1400" noProof="0" dirty="0">
                <a:ln>
                  <a:noFill/>
                </a:ln>
                <a:solidFill>
                  <a:srgbClr val="0042FF"/>
                </a:solidFill>
                <a:effectLst/>
                <a:uLnTx/>
                <a:uFillTx/>
                <a:latin typeface="微软雅黑"/>
                <a:ea typeface="微软雅黑"/>
                <a:cs typeface="微软雅黑"/>
                <a:sym typeface="微软雅黑"/>
              </a:rPr>
              <a:t>/</a:t>
            </a:r>
            <a:r>
              <a:rPr lang="zh-CN" altLang="en-US" sz="1400" noProof="0" dirty="0">
                <a:ln>
                  <a:noFill/>
                </a:ln>
                <a:solidFill>
                  <a:srgbClr val="0042FF"/>
                </a:solidFill>
                <a:effectLst/>
                <a:uLnTx/>
                <a:uFillTx/>
                <a:latin typeface="微软雅黑"/>
                <a:ea typeface="微软雅黑"/>
                <a:cs typeface="微软雅黑"/>
                <a:sym typeface="微软雅黑"/>
              </a:rPr>
              <a:t>妈妈班</a:t>
            </a:r>
            <a:endPar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62" name="矩形: 圆角 6"/>
          <p:cNvSpPr/>
          <p:nvPr/>
        </p:nvSpPr>
        <p:spPr>
          <a:xfrm>
            <a:off x="1025525" y="3845560"/>
            <a:ext cx="156210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779" h="688">
                <a:moveTo>
                  <a:pt x="0" y="0"/>
                </a:moveTo>
                <a:lnTo>
                  <a:pt x="2664" y="0"/>
                </a:lnTo>
                <a:cubicBezTo>
                  <a:pt x="2728" y="0"/>
                  <a:pt x="2779" y="51"/>
                  <a:pt x="2779" y="115"/>
                </a:cubicBezTo>
                <a:lnTo>
                  <a:pt x="2779" y="573"/>
                </a:lnTo>
                <a:cubicBezTo>
                  <a:pt x="2779" y="637"/>
                  <a:pt x="2728" y="688"/>
                  <a:pt x="2664" y="688"/>
                </a:cubicBezTo>
                <a:lnTo>
                  <a:pt x="0" y="688"/>
                </a:lnTo>
                <a:lnTo>
                  <a:pt x="0" y="0"/>
                </a:lnTo>
                <a:close/>
              </a:path>
            </a:pathLst>
          </a:custGeom>
          <a:solidFill>
            <a:srgbClr val="FFFF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63" name="矩形: 圆角 6"/>
          <p:cNvSpPr/>
          <p:nvPr/>
        </p:nvSpPr>
        <p:spPr>
          <a:xfrm>
            <a:off x="495300" y="3845560"/>
            <a:ext cx="53086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35" h="688">
                <a:moveTo>
                  <a:pt x="115" y="0"/>
                </a:moveTo>
                <a:lnTo>
                  <a:pt x="835" y="0"/>
                </a:lnTo>
                <a:lnTo>
                  <a:pt x="835" y="688"/>
                </a:lnTo>
                <a:lnTo>
                  <a:pt x="115" y="688"/>
                </a:lnTo>
                <a:cubicBezTo>
                  <a:pt x="51" y="688"/>
                  <a:pt x="0" y="637"/>
                  <a:pt x="0" y="573"/>
                </a:cubicBezTo>
                <a:lnTo>
                  <a:pt x="0" y="115"/>
                </a:lnTo>
                <a:cubicBezTo>
                  <a:pt x="0" y="51"/>
                  <a:pt x="51" y="0"/>
                  <a:pt x="115" y="0"/>
                </a:cubicBezTo>
                <a:close/>
              </a:path>
            </a:pathLst>
          </a:custGeom>
          <a:solidFill>
            <a:srgbClr val="0042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64" name="文本框 263"/>
          <p:cNvSpPr txBox="1"/>
          <p:nvPr>
            <p:custDataLst>
              <p:tags r:id="rId35"/>
            </p:custDataLst>
          </p:nvPr>
        </p:nvSpPr>
        <p:spPr>
          <a:xfrm>
            <a:off x="1037590" y="3908425"/>
            <a:ext cx="1626235" cy="306705"/>
          </a:xfrm>
          <a:prstGeom prst="rect">
            <a:avLst/>
          </a:prstGeom>
          <a:noFill/>
        </p:spPr>
        <p:txBody>
          <a:bodyPr wrap="square" rtlCol="0" lIns="0" rIns="0" tIns="0" bIns="0">
            <a:spAutoFit/>
          </a:bodyPr>
          <a:lstStyle/>
          <a:p>
            <a:pPr lvl="0">
              <a:defRPr>
                <a:latin typeface="微软雅黑"/>
                <a:ea typeface="微软雅黑"/>
                <a:cs typeface="微软雅黑"/>
              </a:defRPr>
            </a:pPr>
            <a:r>
              <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rPr>
              <a:t>展会</a:t>
            </a:r>
            <a:r>
              <a:rPr kumimoji="0" lang="en-US" altLang="zh-CN" sz="140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rPr>
              <a:t>路演</a:t>
            </a:r>
            <a:r>
              <a:rPr kumimoji="0" lang="en-US" altLang="zh-CN" sz="140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rPr>
              <a:t>跨品类</a:t>
            </a:r>
            <a:endPar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66" name="矩形: 圆角 6"/>
          <p:cNvSpPr/>
          <p:nvPr/>
        </p:nvSpPr>
        <p:spPr>
          <a:xfrm>
            <a:off x="1025525" y="4963160"/>
            <a:ext cx="1562100" cy="43688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779" h="688">
                <a:moveTo>
                  <a:pt x="0" y="0"/>
                </a:moveTo>
                <a:lnTo>
                  <a:pt x="2664" y="0"/>
                </a:lnTo>
                <a:cubicBezTo>
                  <a:pt x="2728" y="0"/>
                  <a:pt x="2779" y="51"/>
                  <a:pt x="2779" y="115"/>
                </a:cubicBezTo>
                <a:lnTo>
                  <a:pt x="2779" y="573"/>
                </a:lnTo>
                <a:cubicBezTo>
                  <a:pt x="2779" y="637"/>
                  <a:pt x="2728" y="688"/>
                  <a:pt x="2664" y="688"/>
                </a:cubicBezTo>
                <a:lnTo>
                  <a:pt x="0" y="688"/>
                </a:lnTo>
                <a:lnTo>
                  <a:pt x="0" y="0"/>
                </a:lnTo>
                <a:close/>
              </a:path>
            </a:pathLst>
          </a:custGeom>
          <a:solidFill>
            <a:srgbClr val="FFFF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67" name="矩形: 圆角 6"/>
          <p:cNvSpPr/>
          <p:nvPr/>
        </p:nvSpPr>
        <p:spPr>
          <a:xfrm>
            <a:off x="495300" y="4962525"/>
            <a:ext cx="530225" cy="437515"/>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35" h="688">
                <a:moveTo>
                  <a:pt x="115" y="0"/>
                </a:moveTo>
                <a:lnTo>
                  <a:pt x="835" y="0"/>
                </a:lnTo>
                <a:lnTo>
                  <a:pt x="835" y="688"/>
                </a:lnTo>
                <a:lnTo>
                  <a:pt x="115" y="688"/>
                </a:lnTo>
                <a:cubicBezTo>
                  <a:pt x="51" y="688"/>
                  <a:pt x="0" y="637"/>
                  <a:pt x="0" y="573"/>
                </a:cubicBezTo>
                <a:lnTo>
                  <a:pt x="0" y="115"/>
                </a:lnTo>
                <a:cubicBezTo>
                  <a:pt x="0" y="51"/>
                  <a:pt x="51" y="0"/>
                  <a:pt x="115" y="0"/>
                </a:cubicBezTo>
                <a:close/>
              </a:path>
            </a:pathLst>
          </a:custGeom>
          <a:solidFill>
            <a:srgbClr val="0042FF"/>
          </a:solidFill>
          <a:ln w="9525">
            <a:solidFill>
              <a:srgbClr val="0042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68" name="文本框 267"/>
          <p:cNvSpPr txBox="1"/>
          <p:nvPr>
            <p:custDataLst>
              <p:tags r:id="rId36"/>
            </p:custDataLst>
          </p:nvPr>
        </p:nvSpPr>
        <p:spPr>
          <a:xfrm>
            <a:off x="1037590" y="5026025"/>
            <a:ext cx="944880" cy="306705"/>
          </a:xfrm>
          <a:prstGeom prst="rect">
            <a:avLst/>
          </a:prstGeom>
          <a:noFill/>
        </p:spPr>
        <p:txBody>
          <a:bodyPr wrap="square" rtlCol="0" lIns="0" rIns="0" tIns="0" bIns="0">
            <a:spAutoFit/>
          </a:bodyPr>
          <a:lstStyle/>
          <a:p>
            <a:pPr lvl="0">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电商平台</a:t>
            </a:r>
            <a:endParaRPr kumimoji="0" lang="zh-CN" altLang="en-US" sz="140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pic>
        <p:nvPicPr>
          <p:cNvPr id="269" name="图片 268" descr="门店店长"/>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622935" y="2245360"/>
            <a:ext cx="270510" cy="270510"/>
          </a:xfrm>
          <a:prstGeom prst="rect">
            <a:avLst/>
          </a:prstGeom>
        </p:spPr>
      </p:pic>
      <p:pic>
        <p:nvPicPr>
          <p:cNvPr id="270" name="图片 269" descr="店员"/>
          <p:cNvPicPr>
            <a:picLocks noChangeAspect="1"/>
          </p:cNvPicPr>
          <p:nvPr/>
        </p:nvPicPr>
        <p:blipFill>
          <a:blip r:embed="rId39">
            <a:extLst>
              <a:ext uri="{96DAC541-7B7A-43D3-8B79-37D633B846F1}">
                <asvg:svgBlip xmlns:asvg="http://schemas.microsoft.com/office/drawing/2016/SVG/main" r:embed="rId40"/>
              </a:ext>
            </a:extLst>
          </a:blip>
          <a:stretch>
            <a:fillRect/>
          </a:stretch>
        </p:blipFill>
        <p:spPr>
          <a:xfrm>
            <a:off x="622935" y="2790190"/>
            <a:ext cx="307340" cy="307340"/>
          </a:xfrm>
          <a:prstGeom prst="rect">
            <a:avLst/>
          </a:prstGeom>
        </p:spPr>
      </p:pic>
      <p:pic>
        <p:nvPicPr>
          <p:cNvPr id="271" name="图片 270" descr="培训班级"/>
          <p:cNvPicPr>
            <a:picLocks noChangeAspect="1"/>
          </p:cNvPicPr>
          <p:nvPr/>
        </p:nvPicPr>
        <p:blipFill>
          <a:blip r:embed="rId41">
            <a:extLst>
              <a:ext uri="{96DAC541-7B7A-43D3-8B79-37D633B846F1}">
                <asvg:svgBlip xmlns:asvg="http://schemas.microsoft.com/office/drawing/2016/SVG/main" r:embed="rId42"/>
              </a:ext>
            </a:extLst>
          </a:blip>
          <a:stretch>
            <a:fillRect/>
          </a:stretch>
        </p:blipFill>
        <p:spPr>
          <a:xfrm>
            <a:off x="622935" y="3345180"/>
            <a:ext cx="322580" cy="322580"/>
          </a:xfrm>
          <a:prstGeom prst="rect">
            <a:avLst/>
          </a:prstGeom>
        </p:spPr>
      </p:pic>
      <p:pic>
        <p:nvPicPr>
          <p:cNvPr id="272" name="图片 271" descr="在线展会"/>
          <p:cNvPicPr>
            <a:picLocks noChangeAspect="1"/>
          </p:cNvPicPr>
          <p:nvPr/>
        </p:nvPicPr>
        <p:blipFill>
          <a:blip r:embed="rId43">
            <a:extLst>
              <a:ext uri="{96DAC541-7B7A-43D3-8B79-37D633B846F1}">
                <asvg:svgBlip xmlns:asvg="http://schemas.microsoft.com/office/drawing/2016/SVG/main" r:embed="rId44"/>
              </a:ext>
            </a:extLst>
          </a:blip>
          <a:stretch>
            <a:fillRect/>
          </a:stretch>
        </p:blipFill>
        <p:spPr>
          <a:xfrm>
            <a:off x="622935" y="3908425"/>
            <a:ext cx="279400" cy="279400"/>
          </a:xfrm>
          <a:prstGeom prst="rect">
            <a:avLst/>
          </a:prstGeom>
        </p:spPr>
      </p:pic>
      <p:pic>
        <p:nvPicPr>
          <p:cNvPr id="277" name="图片 276" descr="媒体"/>
          <p:cNvPicPr>
            <a:picLocks noChangeAspect="1"/>
          </p:cNvPicPr>
          <p:nvPr/>
        </p:nvPicPr>
        <p:blipFill>
          <a:blip r:embed="rId45">
            <a:extLst>
              <a:ext uri="{96DAC541-7B7A-43D3-8B79-37D633B846F1}">
                <asvg:svgBlip xmlns:asvg="http://schemas.microsoft.com/office/drawing/2016/SVG/main" r:embed="rId46"/>
              </a:ext>
            </a:extLst>
          </a:blip>
          <a:stretch>
            <a:fillRect/>
          </a:stretch>
        </p:blipFill>
        <p:spPr>
          <a:xfrm>
            <a:off x="622935" y="4441825"/>
            <a:ext cx="318770" cy="318770"/>
          </a:xfrm>
          <a:prstGeom prst="rect">
            <a:avLst/>
          </a:prstGeom>
        </p:spPr>
      </p:pic>
      <p:pic>
        <p:nvPicPr>
          <p:cNvPr id="282" name="图片 281" descr="电商平台"/>
          <p:cNvPicPr>
            <a:picLocks noChangeAspect="1"/>
          </p:cNvPicPr>
          <p:nvPr/>
        </p:nvPicPr>
        <p:blipFill>
          <a:blip r:embed="rId47">
            <a:extLst>
              <a:ext uri="{96DAC541-7B7A-43D3-8B79-37D633B846F1}">
                <asvg:svgBlip xmlns:asvg="http://schemas.microsoft.com/office/drawing/2016/SVG/main" r:embed="rId48"/>
              </a:ext>
            </a:extLst>
          </a:blip>
          <a:stretch>
            <a:fillRect/>
          </a:stretch>
        </p:blipFill>
        <p:spPr>
          <a:xfrm>
            <a:off x="622935" y="5060950"/>
            <a:ext cx="271780" cy="271780"/>
          </a:xfrm>
          <a:prstGeom prst="rect">
            <a:avLst/>
          </a:prstGeom>
        </p:spPr>
      </p:pic>
      <p:cxnSp>
        <p:nvCxnSpPr>
          <p:cNvPr id="408" name="直线连接符 181"/>
          <p:cNvCxnSpPr/>
          <p:nvPr>
            <p:custDataLst>
              <p:tags r:id="rId49"/>
            </p:custDataLst>
          </p:nvPr>
        </p:nvCxnSpPr>
        <p:spPr>
          <a:xfrm>
            <a:off x="8117840" y="3582670"/>
            <a:ext cx="985520" cy="0"/>
          </a:xfrm>
          <a:prstGeom prst="line">
            <a:avLst/>
          </a:prstGeom>
          <a:ln w="34925">
            <a:gradFill>
              <a:gsLst>
                <a:gs pos="0">
                  <a:srgbClr val="3368FF">
                    <a:alpha val="0"/>
                  </a:srgbClr>
                </a:gs>
                <a:gs pos="100000">
                  <a:srgbClr val="3368FF"/>
                </a:gs>
              </a:gsLst>
              <a:lin ang="0" scaled="0"/>
            </a:gradFill>
            <a:tailEnd type="triangle"/>
          </a:ln>
        </p:spPr>
        <p:style>
          <a:lnRef idx="1">
            <a:srgbClr val="0042FF"/>
          </a:lnRef>
          <a:fillRef idx="0">
            <a:srgbClr val="0042FF"/>
          </a:fillRef>
          <a:effectRef idx="0">
            <a:srgbClr val="0042FF"/>
          </a:effectRef>
          <a:fontRef idx="minor">
            <a:srgbClr val="383838"/>
          </a:fontRef>
        </p:style>
      </p:cxnSp>
      <p:cxnSp>
        <p:nvCxnSpPr>
          <p:cNvPr id="409" name="直线连接符 182"/>
          <p:cNvCxnSpPr/>
          <p:nvPr>
            <p:custDataLst>
              <p:tags r:id="rId50"/>
            </p:custDataLst>
          </p:nvPr>
        </p:nvCxnSpPr>
        <p:spPr>
          <a:xfrm flipH="1">
            <a:off x="8155940" y="3703955"/>
            <a:ext cx="947420" cy="0"/>
          </a:xfrm>
          <a:prstGeom prst="line">
            <a:avLst/>
          </a:prstGeom>
          <a:ln w="34925">
            <a:gradFill>
              <a:gsLst>
                <a:gs pos="0">
                  <a:srgbClr val="3368FF">
                    <a:alpha val="0"/>
                  </a:srgbClr>
                </a:gs>
                <a:gs pos="100000">
                  <a:srgbClr val="3368FF"/>
                </a:gs>
              </a:gsLst>
              <a:lin ang="0" scaled="0"/>
            </a:gradFill>
            <a:tailEnd type="triangle"/>
          </a:ln>
        </p:spPr>
        <p:style>
          <a:lnRef idx="1">
            <a:srgbClr val="0042FF"/>
          </a:lnRef>
          <a:fillRef idx="0">
            <a:srgbClr val="0042FF"/>
          </a:fillRef>
          <a:effectRef idx="0">
            <a:srgbClr val="0042FF"/>
          </a:effectRef>
          <a:fontRef idx="minor">
            <a:srgbClr val="383838"/>
          </a:fontRef>
        </p:style>
      </p:cxnSp>
      <p:sp>
        <p:nvSpPr>
          <p:cNvPr id="410" name="文本框 409"/>
          <p:cNvSpPr txBox="1"/>
          <p:nvPr>
            <p:custDataLst>
              <p:tags r:id="rId51"/>
            </p:custDataLst>
          </p:nvPr>
        </p:nvSpPr>
        <p:spPr>
          <a:xfrm>
            <a:off x="8381683" y="3302635"/>
            <a:ext cx="457200" cy="184150"/>
          </a:xfrm>
          <a:prstGeom prst="rect">
            <a:avLst/>
          </a:prstGeom>
          <a:noFill/>
        </p:spPr>
        <p:txBody>
          <a:bodyPr wrap="none" lIns="0" tIns="0" rIns="0" bIns="0" rtlCol="0">
            <a:sp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消费者</a:t>
            </a:r>
            <a:endParaRPr lang="zh-CN" altLang="en-US" sz="1200" dirty="0">
              <a:solidFill>
                <a:srgbClr val="383838"/>
              </a:solidFill>
              <a:latin typeface="微软雅黑"/>
              <a:ea typeface="微软雅黑"/>
              <a:cs typeface="微软雅黑"/>
              <a:sym typeface="微软雅黑"/>
            </a:endParaRPr>
          </a:p>
        </p:txBody>
      </p:sp>
      <p:sp>
        <p:nvSpPr>
          <p:cNvPr id="411" name="文本框 410"/>
          <p:cNvSpPr txBox="1"/>
          <p:nvPr>
            <p:custDataLst>
              <p:tags r:id="rId52"/>
            </p:custDataLst>
          </p:nvPr>
        </p:nvSpPr>
        <p:spPr>
          <a:xfrm>
            <a:off x="8381683" y="3844290"/>
            <a:ext cx="457200" cy="184150"/>
          </a:xfrm>
          <a:prstGeom prst="rect">
            <a:avLst/>
          </a:prstGeom>
          <a:noFill/>
        </p:spPr>
        <p:txBody>
          <a:bodyPr wrap="none" lIns="0" tIns="0" rIns="0" bIns="0"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消费者</a:t>
            </a:r>
            <a:endParaRPr lang="zh-CN" altLang="en-US" sz="1200" dirty="0">
              <a:solidFill>
                <a:srgbClr val="383838"/>
              </a:solidFill>
              <a:latin typeface="微软雅黑"/>
              <a:ea typeface="微软雅黑"/>
              <a:cs typeface="微软雅黑"/>
            </a:endParaRPr>
          </a:p>
        </p:txBody>
      </p:sp>
      <p:grpSp>
        <p:nvGrpSpPr>
          <p:cNvPr id="438" name="组合 437"/>
          <p:cNvGrpSpPr/>
          <p:nvPr/>
        </p:nvGrpSpPr>
        <p:grpSpPr>
          <a:xfrm>
            <a:off x="10514965" y="3393440"/>
            <a:ext cx="772160" cy="150495"/>
            <a:chOff x="14583" y="5435"/>
            <a:chExt cx="1216" cy="237"/>
          </a:xfrm>
        </p:grpSpPr>
        <p:sp>
          <p:nvSpPr>
            <p:cNvPr id="439" name="圆角矩形 98"/>
            <p:cNvSpPr/>
            <p:nvPr>
              <p:custDataLst>
                <p:tags r:id="rId53"/>
              </p:custDataLst>
            </p:nvPr>
          </p:nvSpPr>
          <p:spPr>
            <a:xfrm>
              <a:off x="14583" y="5435"/>
              <a:ext cx="1216" cy="237"/>
            </a:xfrm>
            <a:prstGeom prst="roundRect">
              <a:avLst>
                <a:gd name="adj" fmla="val 50000"/>
              </a:avLst>
            </a:prstGeom>
            <a:noFill/>
            <a:ln>
              <a:solidFill>
                <a:srgbClr val="3368FF"/>
              </a:solidFill>
            </a:ln>
            <a:extLst>
              <a:ext uri="{909E8E84-426E-40DD-AFC4-6F175D3DCCD1}">
                <a14:hiddenFill xmlns:a14="http://schemas.microsoft.com/office/drawing/2010/main">
                  <a:solidFill>
                    <a:srgbClr val="383838"/>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40" name="文本框 439"/>
            <p:cNvSpPr txBox="1"/>
            <p:nvPr>
              <p:custDataLst>
                <p:tags r:id="rId54"/>
              </p:custDataLst>
            </p:nvPr>
          </p:nvSpPr>
          <p:spPr>
            <a:xfrm>
              <a:off x="14780" y="5468"/>
              <a:ext cx="860" cy="280"/>
            </a:xfrm>
            <a:prstGeom prst="rect">
              <a:avLst/>
            </a:prstGeom>
            <a:noFill/>
            <a:ln>
              <a:noFill/>
            </a:ln>
          </p:spPr>
          <p:txBody>
            <a:bodyPr wrap="square" lIns="0" tIns="0" rIns="0" bIns="0" rtlCol="0" anchor="ctr">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新客礼包</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41" name="椭圆 440"/>
            <p:cNvSpPr/>
            <p:nvPr>
              <p:custDataLst>
                <p:tags r:id="rId55"/>
              </p:custDataLst>
            </p:nvPr>
          </p:nvSpPr>
          <p:spPr>
            <a:xfrm>
              <a:off x="14617" y="5463"/>
              <a:ext cx="181" cy="182"/>
            </a:xfrm>
            <a:prstGeom prst="ellipse">
              <a:avLst/>
            </a:prstGeom>
            <a:noFill/>
            <a:ln>
              <a:solidFill>
                <a:srgbClr val="3368FF"/>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42" name="矩形 2"/>
            <p:cNvSpPr/>
            <p:nvPr>
              <p:custDataLst>
                <p:tags r:id="rId56"/>
              </p:custDataLst>
            </p:nvPr>
          </p:nvSpPr>
          <p:spPr>
            <a:xfrm rot="2700000">
              <a:off x="14687" y="5500"/>
              <a:ext cx="48" cy="81"/>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19050" cap="rnd">
              <a:solidFill>
                <a:srgbClr val="3368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446" name="组合 445"/>
          <p:cNvGrpSpPr/>
          <p:nvPr/>
        </p:nvGrpSpPr>
        <p:grpSpPr>
          <a:xfrm>
            <a:off x="9254490" y="4136390"/>
            <a:ext cx="690880" cy="150495"/>
            <a:chOff x="14583" y="5435"/>
            <a:chExt cx="1088" cy="237"/>
          </a:xfrm>
        </p:grpSpPr>
        <p:sp>
          <p:nvSpPr>
            <p:cNvPr id="447" name="圆角矩形 98"/>
            <p:cNvSpPr/>
            <p:nvPr>
              <p:custDataLst>
                <p:tags r:id="rId57"/>
              </p:custDataLst>
            </p:nvPr>
          </p:nvSpPr>
          <p:spPr>
            <a:xfrm>
              <a:off x="14583" y="5435"/>
              <a:ext cx="1088" cy="237"/>
            </a:xfrm>
            <a:prstGeom prst="roundRect">
              <a:avLst>
                <a:gd name="adj" fmla="val 50000"/>
              </a:avLst>
            </a:prstGeom>
            <a:noFill/>
            <a:ln>
              <a:solidFill>
                <a:srgbClr val="3368FF"/>
              </a:solidFill>
            </a:ln>
            <a:extLst>
              <a:ext uri="{909E8E84-426E-40DD-AFC4-6F175D3DCCD1}">
                <a14:hiddenFill xmlns:a14="http://schemas.microsoft.com/office/drawing/2010/main">
                  <a:solidFill>
                    <a:srgbClr val="383838"/>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48" name="文本框 447"/>
            <p:cNvSpPr txBox="1"/>
            <p:nvPr>
              <p:custDataLst>
                <p:tags r:id="rId58"/>
              </p:custDataLst>
            </p:nvPr>
          </p:nvSpPr>
          <p:spPr>
            <a:xfrm>
              <a:off x="14824" y="5468"/>
              <a:ext cx="773" cy="270"/>
            </a:xfrm>
            <a:prstGeom prst="rect">
              <a:avLst/>
            </a:prstGeom>
            <a:noFill/>
            <a:ln>
              <a:noFill/>
            </a:ln>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复购券</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49" name="椭圆 448"/>
            <p:cNvSpPr/>
            <p:nvPr>
              <p:custDataLst>
                <p:tags r:id="rId59"/>
              </p:custDataLst>
            </p:nvPr>
          </p:nvSpPr>
          <p:spPr>
            <a:xfrm>
              <a:off x="14617" y="5463"/>
              <a:ext cx="181" cy="182"/>
            </a:xfrm>
            <a:prstGeom prst="ellipse">
              <a:avLst/>
            </a:prstGeom>
            <a:noFill/>
            <a:ln>
              <a:solidFill>
                <a:srgbClr val="3368FF"/>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50" name="矩形 2"/>
            <p:cNvSpPr/>
            <p:nvPr>
              <p:custDataLst>
                <p:tags r:id="rId60"/>
              </p:custDataLst>
            </p:nvPr>
          </p:nvSpPr>
          <p:spPr>
            <a:xfrm rot="2700000">
              <a:off x="14687" y="5500"/>
              <a:ext cx="48" cy="81"/>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19050" cap="rnd">
              <a:solidFill>
                <a:srgbClr val="3368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451" name="组合 450"/>
          <p:cNvGrpSpPr/>
          <p:nvPr/>
        </p:nvGrpSpPr>
        <p:grpSpPr>
          <a:xfrm>
            <a:off x="10024745" y="4143375"/>
            <a:ext cx="772160" cy="150495"/>
            <a:chOff x="14583" y="5435"/>
            <a:chExt cx="1216" cy="237"/>
          </a:xfrm>
        </p:grpSpPr>
        <p:sp>
          <p:nvSpPr>
            <p:cNvPr id="452" name="圆角矩形 98"/>
            <p:cNvSpPr/>
            <p:nvPr>
              <p:custDataLst>
                <p:tags r:id="rId61"/>
              </p:custDataLst>
            </p:nvPr>
          </p:nvSpPr>
          <p:spPr>
            <a:xfrm>
              <a:off x="14583" y="5435"/>
              <a:ext cx="1216" cy="237"/>
            </a:xfrm>
            <a:prstGeom prst="roundRect">
              <a:avLst>
                <a:gd name="adj" fmla="val 50000"/>
              </a:avLst>
            </a:prstGeom>
            <a:noFill/>
            <a:ln>
              <a:solidFill>
                <a:srgbClr val="3368FF"/>
              </a:solidFill>
            </a:ln>
            <a:extLst>
              <a:ext uri="{909E8E84-426E-40DD-AFC4-6F175D3DCCD1}">
                <a14:hiddenFill xmlns:a14="http://schemas.microsoft.com/office/drawing/2010/main">
                  <a:solidFill>
                    <a:srgbClr val="383838"/>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53" name="文本框 452"/>
            <p:cNvSpPr txBox="1"/>
            <p:nvPr>
              <p:custDataLst>
                <p:tags r:id="rId62"/>
              </p:custDataLst>
            </p:nvPr>
          </p:nvSpPr>
          <p:spPr>
            <a:xfrm>
              <a:off x="14780" y="5468"/>
              <a:ext cx="860" cy="280"/>
            </a:xfrm>
            <a:prstGeom prst="rect">
              <a:avLst/>
            </a:prstGeom>
            <a:noFill/>
            <a:ln>
              <a:noFill/>
            </a:ln>
          </p:spPr>
          <p:txBody>
            <a:bodyPr wrap="square" lIns="0" tIns="0" rIns="0" bIns="0" rtlCol="0" anchor="ctr">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促销套餐</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54" name="椭圆 453"/>
            <p:cNvSpPr/>
            <p:nvPr>
              <p:custDataLst>
                <p:tags r:id="rId63"/>
              </p:custDataLst>
            </p:nvPr>
          </p:nvSpPr>
          <p:spPr>
            <a:xfrm>
              <a:off x="14617" y="5463"/>
              <a:ext cx="181" cy="182"/>
            </a:xfrm>
            <a:prstGeom prst="ellipse">
              <a:avLst/>
            </a:prstGeom>
            <a:noFill/>
            <a:ln>
              <a:solidFill>
                <a:srgbClr val="3368FF"/>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55" name="矩形 2"/>
            <p:cNvSpPr/>
            <p:nvPr>
              <p:custDataLst>
                <p:tags r:id="rId64"/>
              </p:custDataLst>
            </p:nvPr>
          </p:nvSpPr>
          <p:spPr>
            <a:xfrm rot="2700000">
              <a:off x="14687" y="5500"/>
              <a:ext cx="48" cy="81"/>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19050" cap="rnd">
              <a:solidFill>
                <a:srgbClr val="3368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456" name="组合 455"/>
          <p:cNvGrpSpPr/>
          <p:nvPr/>
        </p:nvGrpSpPr>
        <p:grpSpPr>
          <a:xfrm>
            <a:off x="10876280" y="4143375"/>
            <a:ext cx="675005" cy="150495"/>
            <a:chOff x="14583" y="5435"/>
            <a:chExt cx="1063" cy="237"/>
          </a:xfrm>
        </p:grpSpPr>
        <p:sp>
          <p:nvSpPr>
            <p:cNvPr id="457" name="圆角矩形 98"/>
            <p:cNvSpPr/>
            <p:nvPr>
              <p:custDataLst>
                <p:tags r:id="rId65"/>
              </p:custDataLst>
            </p:nvPr>
          </p:nvSpPr>
          <p:spPr>
            <a:xfrm>
              <a:off x="14583" y="5435"/>
              <a:ext cx="1063" cy="237"/>
            </a:xfrm>
            <a:prstGeom prst="roundRect">
              <a:avLst>
                <a:gd name="adj" fmla="val 50000"/>
              </a:avLst>
            </a:prstGeom>
            <a:noFill/>
            <a:ln>
              <a:solidFill>
                <a:srgbClr val="3368FF"/>
              </a:solidFill>
            </a:ln>
            <a:extLst>
              <a:ext uri="{909E8E84-426E-40DD-AFC4-6F175D3DCCD1}">
                <a14:hiddenFill xmlns:a14="http://schemas.microsoft.com/office/drawing/2010/main">
                  <a:solidFill>
                    <a:srgbClr val="383838"/>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58" name="文本框 457"/>
            <p:cNvSpPr txBox="1"/>
            <p:nvPr>
              <p:custDataLst>
                <p:tags r:id="rId66"/>
              </p:custDataLst>
            </p:nvPr>
          </p:nvSpPr>
          <p:spPr>
            <a:xfrm>
              <a:off x="14780" y="5468"/>
              <a:ext cx="860" cy="280"/>
            </a:xfrm>
            <a:prstGeom prst="rect">
              <a:avLst/>
            </a:prstGeom>
            <a:noFill/>
            <a:ln>
              <a:noFill/>
            </a:ln>
          </p:spPr>
          <p:txBody>
            <a:bodyPr wrap="square" lIns="0" tIns="0" rIns="0" bIns="0" rtlCol="0" anchor="ctr">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会员积分</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59" name="椭圆 458"/>
            <p:cNvSpPr/>
            <p:nvPr>
              <p:custDataLst>
                <p:tags r:id="rId67"/>
              </p:custDataLst>
            </p:nvPr>
          </p:nvSpPr>
          <p:spPr>
            <a:xfrm>
              <a:off x="14617" y="5463"/>
              <a:ext cx="181" cy="182"/>
            </a:xfrm>
            <a:prstGeom prst="ellipse">
              <a:avLst/>
            </a:prstGeom>
            <a:noFill/>
            <a:ln>
              <a:solidFill>
                <a:srgbClr val="3368FF"/>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60" name="矩形 2"/>
            <p:cNvSpPr/>
            <p:nvPr>
              <p:custDataLst>
                <p:tags r:id="rId68"/>
              </p:custDataLst>
            </p:nvPr>
          </p:nvSpPr>
          <p:spPr>
            <a:xfrm rot="2700000">
              <a:off x="14687" y="5500"/>
              <a:ext cx="48" cy="81"/>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19050" cap="rnd">
              <a:solidFill>
                <a:srgbClr val="3368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465" name="圆角矩形 98"/>
          <p:cNvSpPr/>
          <p:nvPr>
            <p:custDataLst>
              <p:tags r:id="rId69"/>
            </p:custDataLst>
          </p:nvPr>
        </p:nvSpPr>
        <p:spPr>
          <a:xfrm>
            <a:off x="9791700" y="4935855"/>
            <a:ext cx="1136015" cy="150495"/>
          </a:xfrm>
          <a:prstGeom prst="roundRect">
            <a:avLst>
              <a:gd name="adj" fmla="val 50000"/>
            </a:avLst>
          </a:prstGeom>
          <a:noFill/>
          <a:ln>
            <a:solidFill>
              <a:srgbClr val="3368FF"/>
            </a:solidFill>
          </a:ln>
          <a:extLst>
            <a:ext uri="{909E8E84-426E-40DD-AFC4-6F175D3DCCD1}">
              <a14:hiddenFill xmlns:a14="http://schemas.microsoft.com/office/drawing/2010/main">
                <a:solidFill>
                  <a:srgbClr val="383838"/>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466" name="文本框 465"/>
          <p:cNvSpPr txBox="1"/>
          <p:nvPr>
            <p:custDataLst>
              <p:tags r:id="rId70"/>
            </p:custDataLst>
          </p:nvPr>
        </p:nvSpPr>
        <p:spPr>
          <a:xfrm>
            <a:off x="9944735" y="4956810"/>
            <a:ext cx="982980" cy="171450"/>
          </a:xfrm>
          <a:prstGeom prst="rect">
            <a:avLst/>
          </a:prstGeom>
          <a:noFill/>
          <a:ln>
            <a:noFill/>
          </a:ln>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lang="en-US" altLang="zh-CN" sz="1000" noProof="0" dirty="0">
                <a:ln>
                  <a:noFill/>
                </a:ln>
                <a:solidFill>
                  <a:srgbClr val="383838"/>
                </a:solidFill>
                <a:effectLst/>
                <a:uLnTx/>
                <a:uFillTx/>
                <a:latin typeface="微软雅黑"/>
                <a:ea typeface="微软雅黑"/>
                <a:cs typeface="微软雅黑"/>
                <a:sym typeface="微软雅黑"/>
              </a:rPr>
              <a:t>MGM</a:t>
            </a:r>
            <a:r>
              <a:rPr lang="zh-CN" altLang="en-US" sz="1000" noProof="0" dirty="0">
                <a:ln>
                  <a:noFill/>
                </a:ln>
                <a:solidFill>
                  <a:srgbClr val="383838"/>
                </a:solidFill>
                <a:effectLst/>
                <a:uLnTx/>
                <a:uFillTx/>
                <a:latin typeface="微软雅黑"/>
                <a:ea typeface="微软雅黑"/>
                <a:cs typeface="微软雅黑"/>
                <a:sym typeface="微软雅黑"/>
              </a:rPr>
              <a:t>老带新机制</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467" name="椭圆 466"/>
          <p:cNvSpPr/>
          <p:nvPr>
            <p:custDataLst>
              <p:tags r:id="rId71"/>
            </p:custDataLst>
          </p:nvPr>
        </p:nvSpPr>
        <p:spPr>
          <a:xfrm>
            <a:off x="9813290" y="4953635"/>
            <a:ext cx="114935" cy="115570"/>
          </a:xfrm>
          <a:prstGeom prst="ellipse">
            <a:avLst/>
          </a:prstGeom>
          <a:noFill/>
          <a:ln>
            <a:solidFill>
              <a:srgbClr val="3368FF"/>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468" name="矩形 2"/>
          <p:cNvSpPr/>
          <p:nvPr>
            <p:custDataLst>
              <p:tags r:id="rId72"/>
            </p:custDataLst>
          </p:nvPr>
        </p:nvSpPr>
        <p:spPr>
          <a:xfrm rot="2700000">
            <a:off x="9857740" y="4977130"/>
            <a:ext cx="30480" cy="51435"/>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19050" cap="rnd">
            <a:solidFill>
              <a:srgbClr val="3368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470" name="矩形: 圆角 103"/>
          <p:cNvSpPr/>
          <p:nvPr>
            <p:custDataLst>
              <p:tags r:id="rId73"/>
            </p:custDataLst>
          </p:nvPr>
        </p:nvSpPr>
        <p:spPr>
          <a:xfrm>
            <a:off x="374015" y="6142990"/>
            <a:ext cx="11338560" cy="450850"/>
          </a:xfrm>
          <a:prstGeom prst="roundRect">
            <a:avLst>
              <a:gd name="adj" fmla="val 0"/>
            </a:avLst>
          </a:prstGeom>
          <a:solidFill>
            <a:srgbClr val="0042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471" name="文本框 470"/>
          <p:cNvSpPr txBox="1"/>
          <p:nvPr>
            <p:custDataLst>
              <p:tags r:id="rId74"/>
            </p:custDataLst>
          </p:nvPr>
        </p:nvSpPr>
        <p:spPr>
          <a:xfrm>
            <a:off x="820420" y="6161088"/>
            <a:ext cx="10561320" cy="414020"/>
          </a:xfrm>
          <a:prstGeom prst="rect">
            <a:avLst/>
          </a:prstGeom>
          <a:noFill/>
        </p:spPr>
        <p:txBody>
          <a:bodyPr wrap="square" rtlCol="0" lIns="0" rIns="0" tIns="0" bIns="0">
            <a:spAutoFit/>
          </a:bodyPr>
          <a:lstStyle/>
          <a:p>
            <a:pPr lvl="0" algn="ctr">
              <a:lnSpc>
                <a:spcPct val="150000"/>
              </a:lnSpc>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消费者大数据库（</a:t>
            </a:r>
            <a:r>
              <a:rPr lang="en-US" altLang="zh-CN" sz="1400" b="1" dirty="0">
                <a:solidFill>
                  <a:srgbClr val="FFFFFF"/>
                </a:solidFill>
                <a:latin typeface="微软雅黑"/>
                <a:ea typeface="微软雅黑"/>
                <a:cs typeface="微软雅黑"/>
              </a:rPr>
              <a:t>CDP) </a:t>
            </a:r>
            <a:r>
              <a:rPr lang="zh-CN" altLang="en-US" sz="1400" b="1" dirty="0">
                <a:solidFill>
                  <a:srgbClr val="FFFFFF"/>
                </a:solidFill>
                <a:latin typeface="微软雅黑"/>
                <a:ea typeface="微软雅黑"/>
                <a:cs typeface="微软雅黑"/>
              </a:rPr>
              <a:t>： 数据收集</a:t>
            </a:r>
            <a:r>
              <a:rPr lang="en-US" altLang="zh-CN" sz="1400" b="1" dirty="0">
                <a:solidFill>
                  <a:srgbClr val="FFFFFF"/>
                </a:solidFill>
                <a:latin typeface="微软雅黑"/>
                <a:ea typeface="微软雅黑"/>
                <a:cs typeface="微软雅黑"/>
              </a:rPr>
              <a:t>/</a:t>
            </a:r>
            <a:r>
              <a:rPr lang="zh-CN" altLang="en-US" sz="1400" b="1" dirty="0">
                <a:solidFill>
                  <a:srgbClr val="FFFFFF"/>
                </a:solidFill>
                <a:latin typeface="微软雅黑"/>
                <a:ea typeface="微软雅黑"/>
                <a:cs typeface="微软雅黑"/>
              </a:rPr>
              <a:t>打标</a:t>
            </a:r>
            <a:r>
              <a:rPr lang="en-US" altLang="zh-CN" sz="1400" b="1" dirty="0">
                <a:solidFill>
                  <a:srgbClr val="FFFFFF"/>
                </a:solidFill>
                <a:latin typeface="微软雅黑"/>
                <a:ea typeface="微软雅黑"/>
                <a:cs typeface="微软雅黑"/>
              </a:rPr>
              <a:t>/</a:t>
            </a:r>
            <a:r>
              <a:rPr lang="zh-CN" altLang="en-US" sz="1400" b="1" dirty="0">
                <a:solidFill>
                  <a:srgbClr val="FFFFFF"/>
                </a:solidFill>
                <a:latin typeface="微软雅黑"/>
                <a:ea typeface="微软雅黑"/>
                <a:cs typeface="微软雅黑"/>
              </a:rPr>
              <a:t>追踪</a:t>
            </a:r>
            <a:r>
              <a:rPr lang="en-US" altLang="zh-CN" sz="1400" b="1" dirty="0">
                <a:solidFill>
                  <a:srgbClr val="FFFFFF"/>
                </a:solidFill>
                <a:latin typeface="微软雅黑"/>
                <a:ea typeface="微软雅黑"/>
                <a:cs typeface="微软雅黑"/>
              </a:rPr>
              <a:t>/</a:t>
            </a:r>
            <a:r>
              <a:rPr lang="zh-CN" altLang="en-US" sz="1400" b="1" dirty="0">
                <a:solidFill>
                  <a:srgbClr val="FFFFFF"/>
                </a:solidFill>
                <a:latin typeface="微软雅黑"/>
                <a:ea typeface="微软雅黑"/>
                <a:cs typeface="微软雅黑"/>
              </a:rPr>
              <a:t>分析</a:t>
            </a:r>
            <a:endParaRPr lang="zh-CN" altLang="en-US" sz="1400" b="1" dirty="0">
              <a:solidFill>
                <a:srgbClr val="FFFFFF"/>
              </a:solidFill>
              <a:latin typeface="微软雅黑"/>
              <a:ea typeface="微软雅黑"/>
              <a:cs typeface="微软雅黑"/>
            </a:endParaRPr>
          </a:p>
        </p:txBody>
      </p:sp>
      <p:sp>
        <p:nvSpPr>
          <p:cNvPr id="472" name="矩形 471"/>
          <p:cNvSpPr/>
          <p:nvPr>
            <p:custDataLst>
              <p:tags r:id="rId75"/>
            </p:custDataLst>
          </p:nvPr>
        </p:nvSpPr>
        <p:spPr>
          <a:xfrm>
            <a:off x="374650" y="5748020"/>
            <a:ext cx="11457305" cy="401955"/>
          </a:xfrm>
          <a:prstGeom prst="rect">
            <a:avLst/>
          </a:prstGeom>
          <a:noFill/>
          <a:ln w="12700" cap="flat" cmpd="sng" algn="ctr">
            <a:noFill/>
            <a:prstDash val="solid"/>
            <a:miter lim="800000"/>
          </a:ln>
          <a:effectLst/>
        </p:spPr>
        <p:txBody>
          <a:bodyPr rtlCol="0" anchor="ctr" lIns="0" rIns="0" tIns="0" bIns="0"/>
          <a:lstStyle/>
          <a:p>
            <a:pPr algn="ctr">
              <a:defRPr>
                <a:latin typeface="微软雅黑"/>
                <a:ea typeface="微软雅黑"/>
                <a:cs typeface="微软雅黑"/>
              </a:defRPr>
            </a:pPr>
            <a:endParaRPr lang="zh-CN" altLang="en-US" kern="0">
              <a:solidFill>
                <a:prstClr val="white"/>
              </a:solidFill>
              <a:latin typeface="微软雅黑"/>
              <a:ea typeface="微软雅黑"/>
              <a:cs typeface="微软雅黑"/>
            </a:endParaRPr>
          </a:p>
        </p:txBody>
      </p:sp>
      <p:sp>
        <p:nvSpPr>
          <p:cNvPr id="473" name="Flowchart: Terminator 16"/>
          <p:cNvSpPr/>
          <p:nvPr>
            <p:custDataLst>
              <p:tags r:id="rId76"/>
            </p:custDataLst>
          </p:nvPr>
        </p:nvSpPr>
        <p:spPr>
          <a:xfrm>
            <a:off x="10036810" y="5838825"/>
            <a:ext cx="1619250" cy="231775"/>
          </a:xfrm>
          <a:prstGeom prst="roundRect">
            <a:avLst>
              <a:gd name="adj" fmla="val 50000"/>
            </a:avLst>
          </a:prstGeom>
          <a:solidFill>
            <a:srgbClr val="FFFFFF"/>
          </a:solidFill>
          <a:ln w="6350" cap="flat" cmpd="sng" algn="ctr">
            <a:solidFill>
              <a:srgbClr val="0042FF"/>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non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sz="1200">
                <a:solidFill>
                  <a:srgbClr val="0042FF"/>
                </a:solidFill>
                <a:latin typeface="微软雅黑"/>
                <a:ea typeface="微软雅黑"/>
                <a:cs typeface="微软雅黑"/>
                <a:sym typeface="微软雅黑"/>
              </a:rPr>
              <a:t>正品溯源查询体系</a:t>
            </a:r>
            <a:endParaRPr lang="en-US" sz="1200">
              <a:solidFill>
                <a:srgbClr val="0042FF"/>
              </a:solidFill>
              <a:latin typeface="微软雅黑"/>
              <a:ea typeface="微软雅黑"/>
              <a:cs typeface="微软雅黑"/>
              <a:sym typeface="微软雅黑"/>
            </a:endParaRPr>
          </a:p>
        </p:txBody>
      </p:sp>
      <p:sp>
        <p:nvSpPr>
          <p:cNvPr id="474" name="Flowchart: Terminator 18"/>
          <p:cNvSpPr/>
          <p:nvPr>
            <p:custDataLst>
              <p:tags r:id="rId77"/>
            </p:custDataLst>
          </p:nvPr>
        </p:nvSpPr>
        <p:spPr>
          <a:xfrm>
            <a:off x="8269605" y="5835650"/>
            <a:ext cx="1562100" cy="247015"/>
          </a:xfrm>
          <a:prstGeom prst="roundRect">
            <a:avLst>
              <a:gd name="adj" fmla="val 50000"/>
            </a:avLst>
          </a:prstGeom>
          <a:solidFill>
            <a:srgbClr val="FFFFFF"/>
          </a:solidFill>
          <a:ln w="6350" cap="flat" cmpd="sng" algn="ctr">
            <a:solidFill>
              <a:srgbClr val="0042FF"/>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non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sz="1200">
                <a:solidFill>
                  <a:srgbClr val="0042FF"/>
                </a:solidFill>
                <a:latin typeface="微软雅黑"/>
                <a:ea typeface="微软雅黑"/>
                <a:cs typeface="微软雅黑"/>
                <a:sym typeface="微软雅黑"/>
              </a:rPr>
              <a:t>品牌素材库</a:t>
            </a:r>
            <a:endParaRPr lang="en-US" sz="1200">
              <a:solidFill>
                <a:srgbClr val="0042FF"/>
              </a:solidFill>
              <a:latin typeface="微软雅黑"/>
              <a:ea typeface="微软雅黑"/>
              <a:cs typeface="微软雅黑"/>
              <a:sym typeface="微软雅黑"/>
            </a:endParaRPr>
          </a:p>
        </p:txBody>
      </p:sp>
      <p:sp>
        <p:nvSpPr>
          <p:cNvPr id="475" name="Flowchart: Terminator 19"/>
          <p:cNvSpPr/>
          <p:nvPr>
            <p:custDataLst>
              <p:tags r:id="rId78"/>
            </p:custDataLst>
          </p:nvPr>
        </p:nvSpPr>
        <p:spPr>
          <a:xfrm>
            <a:off x="3582035" y="5843270"/>
            <a:ext cx="1352550" cy="213360"/>
          </a:xfrm>
          <a:prstGeom prst="roundRect">
            <a:avLst>
              <a:gd name="adj" fmla="val 50000"/>
            </a:avLst>
          </a:prstGeom>
          <a:solidFill>
            <a:srgbClr val="FFFFFF"/>
          </a:solidFill>
          <a:ln w="6350" cap="flat" cmpd="sng" algn="ctr">
            <a:solidFill>
              <a:srgbClr val="0042FF"/>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non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sz="1200">
                <a:solidFill>
                  <a:srgbClr val="0042FF"/>
                </a:solidFill>
                <a:latin typeface="微软雅黑"/>
                <a:ea typeface="微软雅黑"/>
                <a:cs typeface="微软雅黑"/>
                <a:sym typeface="微软雅黑"/>
              </a:rPr>
              <a:t>会员小程序</a:t>
            </a:r>
            <a:endParaRPr lang="en-US" sz="1200">
              <a:solidFill>
                <a:srgbClr val="0042FF"/>
              </a:solidFill>
              <a:latin typeface="微软雅黑"/>
              <a:ea typeface="微软雅黑"/>
              <a:cs typeface="微软雅黑"/>
              <a:sym typeface="微软雅黑"/>
            </a:endParaRPr>
          </a:p>
        </p:txBody>
      </p:sp>
      <p:sp>
        <p:nvSpPr>
          <p:cNvPr id="476" name="Flowchart: Terminator 18"/>
          <p:cNvSpPr/>
          <p:nvPr>
            <p:custDataLst>
              <p:tags r:id="rId79"/>
            </p:custDataLst>
          </p:nvPr>
        </p:nvSpPr>
        <p:spPr>
          <a:xfrm>
            <a:off x="2165985" y="5841365"/>
            <a:ext cx="1210310" cy="221615"/>
          </a:xfrm>
          <a:prstGeom prst="roundRect">
            <a:avLst>
              <a:gd name="adj" fmla="val 50000"/>
            </a:avLst>
          </a:prstGeom>
          <a:solidFill>
            <a:srgbClr val="FFFFFF"/>
          </a:solidFill>
          <a:ln w="6350" cap="flat" cmpd="sng" algn="ctr">
            <a:solidFill>
              <a:srgbClr val="0042FF"/>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non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sz="1200">
                <a:solidFill>
                  <a:srgbClr val="0042FF"/>
                </a:solidFill>
                <a:latin typeface="微软雅黑"/>
                <a:ea typeface="微软雅黑"/>
                <a:cs typeface="微软雅黑"/>
                <a:sym typeface="微软雅黑"/>
              </a:rPr>
              <a:t>企业微信</a:t>
            </a:r>
            <a:endParaRPr lang="en-US" sz="1200">
              <a:solidFill>
                <a:srgbClr val="0042FF"/>
              </a:solidFill>
              <a:latin typeface="微软雅黑"/>
              <a:ea typeface="微软雅黑"/>
              <a:cs typeface="微软雅黑"/>
              <a:sym typeface="微软雅黑"/>
            </a:endParaRPr>
          </a:p>
        </p:txBody>
      </p:sp>
      <p:sp>
        <p:nvSpPr>
          <p:cNvPr id="477" name="Flowchart: Terminator 20"/>
          <p:cNvSpPr/>
          <p:nvPr>
            <p:custDataLst>
              <p:tags r:id="rId80"/>
            </p:custDataLst>
          </p:nvPr>
        </p:nvSpPr>
        <p:spPr>
          <a:xfrm>
            <a:off x="5139690" y="5838825"/>
            <a:ext cx="1156970" cy="231775"/>
          </a:xfrm>
          <a:prstGeom prst="roundRect">
            <a:avLst>
              <a:gd name="adj" fmla="val 50000"/>
            </a:avLst>
          </a:prstGeom>
          <a:solidFill>
            <a:srgbClr val="FFFFFF"/>
          </a:solidFill>
          <a:ln w="6350" cap="flat" cmpd="sng" algn="ctr">
            <a:solidFill>
              <a:srgbClr val="0042FF"/>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non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sz="1200">
                <a:solidFill>
                  <a:srgbClr val="0042FF"/>
                </a:solidFill>
                <a:latin typeface="微软雅黑"/>
                <a:ea typeface="微软雅黑"/>
                <a:cs typeface="微软雅黑"/>
                <a:sym typeface="微软雅黑"/>
              </a:rPr>
              <a:t>微商城</a:t>
            </a:r>
            <a:endParaRPr lang="en-US" sz="1200">
              <a:solidFill>
                <a:srgbClr val="0042FF"/>
              </a:solidFill>
              <a:latin typeface="微软雅黑"/>
              <a:ea typeface="微软雅黑"/>
              <a:cs typeface="微软雅黑"/>
              <a:sym typeface="微软雅黑"/>
            </a:endParaRPr>
          </a:p>
        </p:txBody>
      </p:sp>
      <p:sp>
        <p:nvSpPr>
          <p:cNvPr id="478" name="Flowchart: Terminator 21"/>
          <p:cNvSpPr/>
          <p:nvPr>
            <p:custDataLst>
              <p:tags r:id="rId81"/>
            </p:custDataLst>
          </p:nvPr>
        </p:nvSpPr>
        <p:spPr>
          <a:xfrm>
            <a:off x="542925" y="5840730"/>
            <a:ext cx="1417955" cy="225425"/>
          </a:xfrm>
          <a:prstGeom prst="roundRect">
            <a:avLst>
              <a:gd name="adj" fmla="val 50000"/>
            </a:avLst>
          </a:prstGeom>
          <a:solidFill>
            <a:srgbClr val="FFFFFF"/>
          </a:solidFill>
          <a:ln w="6350" cap="flat" cmpd="sng" algn="ctr">
            <a:solidFill>
              <a:srgbClr val="0042FF"/>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non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sz="1200">
                <a:solidFill>
                  <a:srgbClr val="0042FF"/>
                </a:solidFill>
                <a:latin typeface="微软雅黑"/>
                <a:ea typeface="微软雅黑"/>
                <a:cs typeface="微软雅黑"/>
                <a:sym typeface="微软雅黑"/>
              </a:rPr>
              <a:t>微信公众号</a:t>
            </a:r>
            <a:endParaRPr lang="en-US" sz="1200">
              <a:solidFill>
                <a:srgbClr val="0042FF"/>
              </a:solidFill>
              <a:latin typeface="微软雅黑"/>
              <a:ea typeface="微软雅黑"/>
              <a:cs typeface="微软雅黑"/>
              <a:sym typeface="微软雅黑"/>
            </a:endParaRPr>
          </a:p>
        </p:txBody>
      </p:sp>
      <p:sp>
        <p:nvSpPr>
          <p:cNvPr id="479" name="Flowchart: Terminator 20"/>
          <p:cNvSpPr/>
          <p:nvPr>
            <p:custDataLst>
              <p:tags r:id="rId82"/>
            </p:custDataLst>
          </p:nvPr>
        </p:nvSpPr>
        <p:spPr>
          <a:xfrm>
            <a:off x="6502400" y="5840730"/>
            <a:ext cx="1562100" cy="223520"/>
          </a:xfrm>
          <a:prstGeom prst="roundRect">
            <a:avLst>
              <a:gd name="adj" fmla="val 50000"/>
            </a:avLst>
          </a:prstGeom>
          <a:solidFill>
            <a:srgbClr val="FFFFFF"/>
          </a:solidFill>
          <a:ln w="6350" cap="flat" cmpd="sng" algn="ctr">
            <a:solidFill>
              <a:srgbClr val="0042FF"/>
            </a:solidFill>
            <a:prstDash val="solid"/>
            <a:miter lim="800000"/>
          </a:ln>
          <a:effectLst/>
        </p:spPr>
        <p:style>
          <a:lnRef idx="2">
            <a:srgbClr val="FF4200"/>
          </a:lnRef>
          <a:fillRef idx="1">
            <a:srgbClr val="FF4200"/>
          </a:fillRef>
          <a:effectRef idx="0">
            <a:srgbClr val="FF4200"/>
          </a:effectRef>
          <a:fontRef idx="minor">
            <a:srgbClr val="FFFFFF"/>
          </a:fontRef>
        </p:style>
        <p:txBody>
          <a:bodyPr rot="0" spcFirstLastPara="0" vertOverflow="overflow" horzOverflow="overflow" vert="horz" wrap="non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en-US" sz="1200">
                <a:solidFill>
                  <a:srgbClr val="0042FF"/>
                </a:solidFill>
                <a:latin typeface="微软雅黑"/>
                <a:ea typeface="微软雅黑"/>
                <a:cs typeface="微软雅黑"/>
                <a:sym typeface="微软雅黑"/>
              </a:rPr>
              <a:t>微社群工具</a:t>
            </a:r>
            <a:endParaRPr lang="en-US" sz="1200">
              <a:solidFill>
                <a:srgbClr val="0042FF"/>
              </a:solidFill>
              <a:latin typeface="微软雅黑"/>
              <a:ea typeface="微软雅黑"/>
              <a:cs typeface="微软雅黑"/>
              <a:sym typeface="微软雅黑"/>
            </a:endParaRPr>
          </a:p>
        </p:txBody>
      </p:sp>
      <p:sp>
        <p:nvSpPr>
          <p:cNvPr id="4" name="矩形 3"/>
          <p:cNvSpPr/>
          <p:nvPr/>
        </p:nvSpPr>
        <p:spPr>
          <a:xfrm>
            <a:off x="3776345" y="1677035"/>
            <a:ext cx="4371975" cy="3895090"/>
          </a:xfrm>
          <a:prstGeom prst="rect">
            <a:avLst/>
          </a:prstGeom>
          <a:solidFill>
            <a:srgbClr val="FFFFFF">
              <a:alpha val="20000"/>
            </a:srgbClr>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9" name="TextBox 14"/>
          <p:cNvSpPr txBox="1"/>
          <p:nvPr>
            <p:custDataLst>
              <p:tags r:id="rId83"/>
            </p:custDataLst>
          </p:nvPr>
        </p:nvSpPr>
        <p:spPr>
          <a:xfrm>
            <a:off x="4940300" y="1255395"/>
            <a:ext cx="2291715" cy="30734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消费者</a:t>
            </a:r>
            <a:r>
              <a:rPr lang="zh-CN" altLang="en-US" sz="2000" b="1" dirty="0">
                <a:solidFill>
                  <a:srgbClr val="FFFFFF"/>
                </a:solidFill>
                <a:latin typeface="微软雅黑"/>
                <a:ea typeface="微软雅黑"/>
                <a:cs typeface="微软雅黑"/>
                <a:sym typeface="微软雅黑"/>
              </a:rPr>
              <a:t>全域</a:t>
            </a:r>
            <a:r>
              <a:rPr lang="zh-CN" altLang="en-US" sz="2000" b="1" dirty="0">
                <a:solidFill>
                  <a:srgbClr val="FFFFFF"/>
                </a:solidFill>
                <a:latin typeface="微软雅黑"/>
                <a:ea typeface="微软雅黑"/>
                <a:cs typeface="微软雅黑"/>
              </a:rPr>
              <a:t>运营体系</a:t>
            </a:r>
            <a:endParaRPr lang="zh-CN" altLang="en-US" sz="2000" b="1" dirty="0">
              <a:solidFill>
                <a:srgbClr val="FFFFFF"/>
              </a:solidFill>
              <a:latin typeface="微软雅黑"/>
              <a:ea typeface="微软雅黑"/>
              <a:cs typeface="微软雅黑"/>
            </a:endParaRPr>
          </a:p>
        </p:txBody>
      </p:sp>
      <p:grpSp>
        <p:nvGrpSpPr>
          <p:cNvPr id="41" name="组合 40"/>
          <p:cNvGrpSpPr/>
          <p:nvPr/>
        </p:nvGrpSpPr>
        <p:grpSpPr>
          <a:xfrm>
            <a:off x="3992245" y="2360930"/>
            <a:ext cx="3756025" cy="2484755"/>
            <a:chOff x="6210" y="3916"/>
            <a:chExt cx="5915" cy="3913"/>
          </a:xfrm>
        </p:grpSpPr>
        <p:sp>
          <p:nvSpPr>
            <p:cNvPr id="42" name="椭圆 99"/>
            <p:cNvSpPr/>
            <p:nvPr>
              <p:custDataLst>
                <p:tags r:id="rId84"/>
              </p:custDataLst>
            </p:nvPr>
          </p:nvSpPr>
          <p:spPr>
            <a:xfrm>
              <a:off x="8301" y="6128"/>
              <a:ext cx="1701" cy="1701"/>
            </a:xfrm>
            <a:prstGeom prst="ellipse">
              <a:avLst/>
            </a:prstGeom>
            <a:solidFill>
              <a:srgbClr val="3368FF"/>
            </a:solidFill>
            <a:ln w="76200">
              <a:solidFill>
                <a:srgbClr val="3368FF"/>
              </a:solidFill>
            </a:ln>
          </p:spPr>
          <p:style>
            <a:lnRef idx="2">
              <a:srgbClr val="383838"/>
            </a:lnRef>
            <a:fillRef idx="1">
              <a:srgbClr val="383838"/>
            </a:fillRef>
            <a:effectRef idx="0">
              <a:srgbClr val="383838"/>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050" i="0" u="none" strike="noStrike" kern="1200" cap="none" spc="0" normalizeH="0" baseline="0" noProof="0" dirty="0">
                <a:ln>
                  <a:noFill/>
                </a:ln>
                <a:solidFill>
                  <a:srgbClr val="FFFFFF"/>
                </a:solidFill>
                <a:uLnTx/>
                <a:uFillTx/>
                <a:latin typeface="微软雅黑"/>
                <a:ea typeface="微软雅黑"/>
                <a:cs typeface="微软雅黑"/>
              </a:endParaRPr>
            </a:p>
          </p:txBody>
        </p:sp>
        <p:cxnSp>
          <p:nvCxnSpPr>
            <p:cNvPr id="43" name="Straight Connector 118"/>
            <p:cNvCxnSpPr/>
            <p:nvPr>
              <p:custDataLst>
                <p:tags r:id="rId85"/>
              </p:custDataLst>
            </p:nvPr>
          </p:nvCxnSpPr>
          <p:spPr>
            <a:xfrm>
              <a:off x="9126" y="5126"/>
              <a:ext cx="0" cy="228"/>
            </a:xfrm>
            <a:prstGeom prst="line">
              <a:avLst/>
            </a:prstGeom>
            <a:ln w="9525">
              <a:solidFill>
                <a:srgbClr val="B3D4FE"/>
              </a:solidFill>
            </a:ln>
          </p:spPr>
          <p:style>
            <a:lnRef idx="1">
              <a:srgbClr val="0042FF"/>
            </a:lnRef>
            <a:fillRef idx="0">
              <a:srgbClr val="0042FF"/>
            </a:fillRef>
            <a:effectRef idx="0">
              <a:srgbClr val="0042FF"/>
            </a:effectRef>
            <a:fontRef idx="minor">
              <a:srgbClr val="383838"/>
            </a:fontRef>
          </p:style>
        </p:cxnSp>
        <p:cxnSp>
          <p:nvCxnSpPr>
            <p:cNvPr id="45" name="Straight Connector 119"/>
            <p:cNvCxnSpPr/>
            <p:nvPr>
              <p:custDataLst>
                <p:tags r:id="rId86"/>
              </p:custDataLst>
            </p:nvPr>
          </p:nvCxnSpPr>
          <p:spPr>
            <a:xfrm flipV="1">
              <a:off x="9452" y="4709"/>
              <a:ext cx="258" cy="49"/>
            </a:xfrm>
            <a:prstGeom prst="line">
              <a:avLst/>
            </a:prstGeom>
            <a:ln w="9525">
              <a:solidFill>
                <a:srgbClr val="B3D4FE"/>
              </a:solidFill>
            </a:ln>
          </p:spPr>
          <p:style>
            <a:lnRef idx="1">
              <a:srgbClr val="0042FF"/>
            </a:lnRef>
            <a:fillRef idx="0">
              <a:srgbClr val="0042FF"/>
            </a:fillRef>
            <a:effectRef idx="0">
              <a:srgbClr val="0042FF"/>
            </a:effectRef>
            <a:fontRef idx="minor">
              <a:srgbClr val="383838"/>
            </a:fontRef>
          </p:style>
        </p:cxnSp>
        <p:cxnSp>
          <p:nvCxnSpPr>
            <p:cNvPr id="47" name="Straight Connector 120"/>
            <p:cNvCxnSpPr/>
            <p:nvPr>
              <p:custDataLst>
                <p:tags r:id="rId87"/>
              </p:custDataLst>
            </p:nvPr>
          </p:nvCxnSpPr>
          <p:spPr>
            <a:xfrm>
              <a:off x="8583" y="4599"/>
              <a:ext cx="219" cy="83"/>
            </a:xfrm>
            <a:prstGeom prst="line">
              <a:avLst/>
            </a:prstGeom>
            <a:ln w="9525">
              <a:solidFill>
                <a:srgbClr val="B3D4FE"/>
              </a:solidFill>
            </a:ln>
          </p:spPr>
          <p:style>
            <a:lnRef idx="1">
              <a:srgbClr val="0042FF"/>
            </a:lnRef>
            <a:fillRef idx="0">
              <a:srgbClr val="0042FF"/>
            </a:fillRef>
            <a:effectRef idx="0">
              <a:srgbClr val="0042FF"/>
            </a:effectRef>
            <a:fontRef idx="minor">
              <a:srgbClr val="383838"/>
            </a:fontRef>
          </p:style>
        </p:cxnSp>
        <p:sp>
          <p:nvSpPr>
            <p:cNvPr id="48" name="椭圆 106"/>
            <p:cNvSpPr/>
            <p:nvPr>
              <p:custDataLst>
                <p:tags r:id="rId88"/>
              </p:custDataLst>
            </p:nvPr>
          </p:nvSpPr>
          <p:spPr>
            <a:xfrm>
              <a:off x="8791" y="4489"/>
              <a:ext cx="686" cy="649"/>
            </a:xfrm>
            <a:prstGeom prst="ellipse">
              <a:avLst/>
            </a:prstGeom>
            <a:solidFill>
              <a:srgbClr val="FFFFFF">
                <a:alpha val="80000"/>
              </a:srgbClr>
            </a:solidFill>
            <a:ln w="12700" cap="flat" cmpd="sng" algn="ctr">
              <a:solidFill>
                <a:srgbClr val="B3D4FE"/>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sz="1050" kern="0" noProof="0" dirty="0">
                <a:ln>
                  <a:noFill/>
                </a:ln>
                <a:solidFill>
                  <a:srgbClr val="383838"/>
                </a:solidFill>
                <a:uLnTx/>
                <a:uFillTx/>
                <a:latin typeface="微软雅黑"/>
                <a:ea typeface="微软雅黑"/>
                <a:cs typeface="微软雅黑"/>
                <a:sym typeface="微软雅黑"/>
              </a:endParaRPr>
            </a:p>
          </p:txBody>
        </p:sp>
        <p:sp>
          <p:nvSpPr>
            <p:cNvPr id="49" name="矩形 107"/>
            <p:cNvSpPr/>
            <p:nvPr>
              <p:custDataLst>
                <p:tags r:id="rId89"/>
              </p:custDataLst>
            </p:nvPr>
          </p:nvSpPr>
          <p:spPr>
            <a:xfrm>
              <a:off x="8529" y="3916"/>
              <a:ext cx="1252" cy="434"/>
            </a:xfrm>
            <a:prstGeom prst="rect">
              <a:avLst/>
            </a:prstGeom>
            <a:ln>
              <a:noFill/>
            </a:ln>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美颜顾问</a:t>
              </a:r>
              <a:endParaRPr lang="zh-CN" altLang="en-US" sz="1200" b="1" dirty="0">
                <a:solidFill>
                  <a:srgbClr val="383838">
                    <a:alpha val="80000"/>
                  </a:srgbClr>
                </a:solidFill>
                <a:latin typeface="微软雅黑"/>
                <a:ea typeface="微软雅黑"/>
                <a:cs typeface="微软雅黑"/>
              </a:endParaRPr>
            </a:p>
          </p:txBody>
        </p:sp>
        <p:sp>
          <p:nvSpPr>
            <p:cNvPr id="50" name="空心弧 108"/>
            <p:cNvSpPr/>
            <p:nvPr>
              <p:custDataLst>
                <p:tags r:id="rId90"/>
              </p:custDataLst>
            </p:nvPr>
          </p:nvSpPr>
          <p:spPr>
            <a:xfrm rot="5400000">
              <a:off x="8550" y="4228"/>
              <a:ext cx="1167" cy="1203"/>
            </a:xfrm>
            <a:prstGeom prst="blockArc">
              <a:avLst>
                <a:gd name="adj1" fmla="val 12894987"/>
                <a:gd name="adj2" fmla="val 8853212"/>
                <a:gd name="adj3" fmla="val 4839"/>
              </a:avLst>
            </a:prstGeom>
            <a:solidFill>
              <a:srgbClr val="FFFFFF"/>
            </a:solidFill>
            <a:ln w="1270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50" i="0" u="none" strike="noStrike" kern="0" cap="none" spc="0" normalizeH="0" baseline="0" noProof="0" dirty="0">
                <a:ln>
                  <a:noFill/>
                </a:ln>
                <a:solidFill>
                  <a:srgbClr val="383838"/>
                </a:solidFill>
                <a:uLnTx/>
                <a:uFillTx/>
                <a:latin typeface="微软雅黑"/>
                <a:ea typeface="微软雅黑"/>
                <a:cs typeface="微软雅黑"/>
              </a:endParaRPr>
            </a:p>
          </p:txBody>
        </p:sp>
        <p:sp>
          <p:nvSpPr>
            <p:cNvPr id="51" name="矩形 114"/>
            <p:cNvSpPr/>
            <p:nvPr>
              <p:custDataLst>
                <p:tags r:id="rId91"/>
              </p:custDataLst>
            </p:nvPr>
          </p:nvSpPr>
          <p:spPr>
            <a:xfrm>
              <a:off x="8859" y="4200"/>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rPr>
                <a:t>关怀</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52" name="矩形 115"/>
            <p:cNvSpPr/>
            <p:nvPr>
              <p:custDataLst>
                <p:tags r:id="rId92"/>
              </p:custDataLst>
            </p:nvPr>
          </p:nvSpPr>
          <p:spPr>
            <a:xfrm rot="2456136">
              <a:off x="8536" y="4952"/>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咨询</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53" name="矩形 116"/>
            <p:cNvSpPr/>
            <p:nvPr>
              <p:custDataLst>
                <p:tags r:id="rId93"/>
              </p:custDataLst>
            </p:nvPr>
          </p:nvSpPr>
          <p:spPr>
            <a:xfrm rot="19148798">
              <a:off x="9137" y="4956"/>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跟进</a:t>
              </a:r>
              <a:endParaRPr kumimoji="1" lang="zh-CN" altLang="en-US" sz="1000" dirty="0">
                <a:solidFill>
                  <a:srgbClr val="383838">
                    <a:alpha val="80000"/>
                  </a:srgbClr>
                </a:solidFill>
                <a:latin typeface="微软雅黑"/>
                <a:ea typeface="微软雅黑"/>
                <a:cs typeface="微软雅黑"/>
              </a:endParaRPr>
            </a:p>
          </p:txBody>
        </p:sp>
        <p:sp>
          <p:nvSpPr>
            <p:cNvPr id="54" name="TextBox 123"/>
            <p:cNvSpPr txBox="1"/>
            <p:nvPr>
              <p:custDataLst>
                <p:tags r:id="rId94"/>
              </p:custDataLst>
            </p:nvPr>
          </p:nvSpPr>
          <p:spPr>
            <a:xfrm>
              <a:off x="8935" y="4668"/>
              <a:ext cx="400" cy="242"/>
            </a:xfrm>
            <a:prstGeom prst="rect">
              <a:avLst/>
            </a:prstGeom>
            <a:noFill/>
            <a:ln>
              <a:noFill/>
            </a:ln>
          </p:spPr>
          <p:txBody>
            <a:bodyPr wrap="none" lIns="0" tIns="0" rIns="0" bIns="0" rtlCol="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服务</a:t>
              </a:r>
              <a:endParaRPr lang="zh-CN" altLang="en-US" sz="1000" b="1" dirty="0">
                <a:solidFill>
                  <a:srgbClr val="0042FF"/>
                </a:solidFill>
                <a:latin typeface="微软雅黑"/>
                <a:ea typeface="微软雅黑"/>
                <a:cs typeface="微软雅黑"/>
              </a:endParaRPr>
            </a:p>
          </p:txBody>
        </p:sp>
        <p:cxnSp>
          <p:nvCxnSpPr>
            <p:cNvPr id="55" name="Straight Connector 92"/>
            <p:cNvCxnSpPr/>
            <p:nvPr>
              <p:custDataLst>
                <p:tags r:id="rId95"/>
              </p:custDataLst>
            </p:nvPr>
          </p:nvCxnSpPr>
          <p:spPr>
            <a:xfrm>
              <a:off x="7087" y="5563"/>
              <a:ext cx="0" cy="228"/>
            </a:xfrm>
            <a:prstGeom prst="line">
              <a:avLst/>
            </a:prstGeom>
            <a:ln w="9525">
              <a:solidFill>
                <a:srgbClr val="B3D4FE">
                  <a:alpha val="80000"/>
                </a:srgbClr>
              </a:solidFill>
            </a:ln>
          </p:spPr>
          <p:style>
            <a:lnRef idx="1">
              <a:srgbClr val="0042FF"/>
            </a:lnRef>
            <a:fillRef idx="0">
              <a:srgbClr val="0042FF"/>
            </a:fillRef>
            <a:effectRef idx="0">
              <a:srgbClr val="0042FF"/>
            </a:effectRef>
            <a:fontRef idx="minor">
              <a:srgbClr val="383838"/>
            </a:fontRef>
          </p:style>
        </p:cxnSp>
        <p:cxnSp>
          <p:nvCxnSpPr>
            <p:cNvPr id="56" name="Straight Connector 93"/>
            <p:cNvCxnSpPr/>
            <p:nvPr>
              <p:custDataLst>
                <p:tags r:id="rId96"/>
              </p:custDataLst>
            </p:nvPr>
          </p:nvCxnSpPr>
          <p:spPr>
            <a:xfrm flipV="1">
              <a:off x="7413" y="5154"/>
              <a:ext cx="213" cy="41"/>
            </a:xfrm>
            <a:prstGeom prst="line">
              <a:avLst/>
            </a:prstGeom>
            <a:ln w="9525">
              <a:solidFill>
                <a:srgbClr val="B3D4FE">
                  <a:alpha val="80000"/>
                </a:srgbClr>
              </a:solidFill>
            </a:ln>
          </p:spPr>
          <p:style>
            <a:lnRef idx="1">
              <a:srgbClr val="0042FF"/>
            </a:lnRef>
            <a:fillRef idx="0">
              <a:srgbClr val="0042FF"/>
            </a:fillRef>
            <a:effectRef idx="0">
              <a:srgbClr val="0042FF"/>
            </a:effectRef>
            <a:fontRef idx="minor">
              <a:srgbClr val="383838"/>
            </a:fontRef>
          </p:style>
        </p:cxnSp>
        <p:cxnSp>
          <p:nvCxnSpPr>
            <p:cNvPr id="57" name="Straight Connector 94"/>
            <p:cNvCxnSpPr/>
            <p:nvPr>
              <p:custDataLst>
                <p:tags r:id="rId97"/>
              </p:custDataLst>
            </p:nvPr>
          </p:nvCxnSpPr>
          <p:spPr>
            <a:xfrm>
              <a:off x="6587" y="5053"/>
              <a:ext cx="195" cy="74"/>
            </a:xfrm>
            <a:prstGeom prst="line">
              <a:avLst/>
            </a:prstGeom>
            <a:ln w="9525">
              <a:solidFill>
                <a:srgbClr val="B3D4FE">
                  <a:alpha val="80000"/>
                </a:srgbClr>
              </a:solidFill>
            </a:ln>
          </p:spPr>
          <p:style>
            <a:lnRef idx="1">
              <a:srgbClr val="0042FF"/>
            </a:lnRef>
            <a:fillRef idx="0">
              <a:srgbClr val="0042FF"/>
            </a:fillRef>
            <a:effectRef idx="0">
              <a:srgbClr val="0042FF"/>
            </a:effectRef>
            <a:fontRef idx="minor">
              <a:srgbClr val="383838"/>
            </a:fontRef>
          </p:style>
        </p:cxnSp>
        <p:sp>
          <p:nvSpPr>
            <p:cNvPr id="58" name="椭圆 106"/>
            <p:cNvSpPr/>
            <p:nvPr>
              <p:custDataLst>
                <p:tags r:id="rId98"/>
              </p:custDataLst>
            </p:nvPr>
          </p:nvSpPr>
          <p:spPr>
            <a:xfrm>
              <a:off x="6752" y="4926"/>
              <a:ext cx="686" cy="649"/>
            </a:xfrm>
            <a:prstGeom prst="ellipse">
              <a:avLst/>
            </a:prstGeom>
            <a:solidFill>
              <a:srgbClr val="FFFFFF">
                <a:alpha val="80000"/>
              </a:srgbClr>
            </a:solidFill>
            <a:ln w="1270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50" i="0" u="none" strike="noStrike" kern="0" cap="none" spc="0" normalizeH="0" baseline="0" noProof="0" dirty="0">
                <a:ln>
                  <a:noFill/>
                </a:ln>
                <a:solidFill>
                  <a:srgbClr val="383838"/>
                </a:solidFill>
                <a:uLnTx/>
                <a:uFillTx/>
                <a:latin typeface="微软雅黑"/>
                <a:ea typeface="微软雅黑"/>
                <a:cs typeface="微软雅黑"/>
              </a:endParaRPr>
            </a:p>
          </p:txBody>
        </p:sp>
        <p:sp>
          <p:nvSpPr>
            <p:cNvPr id="60" name="矩形 107"/>
            <p:cNvSpPr/>
            <p:nvPr>
              <p:custDataLst>
                <p:tags r:id="rId99"/>
              </p:custDataLst>
            </p:nvPr>
          </p:nvSpPr>
          <p:spPr>
            <a:xfrm>
              <a:off x="6352" y="4244"/>
              <a:ext cx="1493" cy="434"/>
            </a:xfrm>
            <a:prstGeom prst="rect">
              <a:avLst/>
            </a:prstGeom>
            <a:ln>
              <a:noFill/>
            </a:ln>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1" dirty="0">
                  <a:solidFill>
                    <a:srgbClr val="383838">
                      <a:alpha val="80000"/>
                    </a:srgbClr>
                  </a:solidFill>
                  <a:latin typeface="微软雅黑"/>
                  <a:ea typeface="微软雅黑"/>
                  <a:cs typeface="微软雅黑"/>
                </a:rPr>
                <a:t>护肤研究院</a:t>
              </a:r>
              <a:endParaRPr kumimoji="1" lang="zh-CN" altLang="en-US" sz="1200" b="1" dirty="0">
                <a:solidFill>
                  <a:srgbClr val="383838">
                    <a:alpha val="80000"/>
                  </a:srgbClr>
                </a:solidFill>
                <a:latin typeface="微软雅黑"/>
                <a:ea typeface="微软雅黑"/>
                <a:cs typeface="微软雅黑"/>
              </a:endParaRPr>
            </a:p>
          </p:txBody>
        </p:sp>
        <p:sp>
          <p:nvSpPr>
            <p:cNvPr id="61" name="空心弧 108"/>
            <p:cNvSpPr/>
            <p:nvPr>
              <p:custDataLst>
                <p:tags r:id="rId100"/>
              </p:custDataLst>
            </p:nvPr>
          </p:nvSpPr>
          <p:spPr>
            <a:xfrm rot="5400000">
              <a:off x="6511" y="4666"/>
              <a:ext cx="1167" cy="1203"/>
            </a:xfrm>
            <a:prstGeom prst="blockArc">
              <a:avLst>
                <a:gd name="adj1" fmla="val 12894987"/>
                <a:gd name="adj2" fmla="val 8853212"/>
                <a:gd name="adj3" fmla="val 4839"/>
              </a:avLst>
            </a:prstGeom>
            <a:solidFill>
              <a:srgbClr val="FFFFFF"/>
            </a:solidFill>
            <a:ln w="1270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50" i="0" u="none" strike="noStrike" kern="0" cap="none" spc="0" normalizeH="0" baseline="0" noProof="0" dirty="0">
                <a:ln>
                  <a:noFill/>
                </a:ln>
                <a:solidFill>
                  <a:srgbClr val="383838"/>
                </a:solidFill>
                <a:uLnTx/>
                <a:uFillTx/>
                <a:latin typeface="微软雅黑"/>
                <a:ea typeface="微软雅黑"/>
                <a:cs typeface="微软雅黑"/>
              </a:endParaRPr>
            </a:p>
          </p:txBody>
        </p:sp>
        <p:sp>
          <p:nvSpPr>
            <p:cNvPr id="62" name="矩形 114"/>
            <p:cNvSpPr/>
            <p:nvPr>
              <p:custDataLst>
                <p:tags r:id="rId101"/>
              </p:custDataLst>
            </p:nvPr>
          </p:nvSpPr>
          <p:spPr>
            <a:xfrm>
              <a:off x="6772" y="4620"/>
              <a:ext cx="70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专家说</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63" name="矩形 115"/>
            <p:cNvSpPr/>
            <p:nvPr>
              <p:custDataLst>
                <p:tags r:id="rId102"/>
              </p:custDataLst>
            </p:nvPr>
          </p:nvSpPr>
          <p:spPr>
            <a:xfrm rot="2803302">
              <a:off x="6637" y="5453"/>
              <a:ext cx="280" cy="494"/>
            </a:xfrm>
            <a:prstGeom prst="rect">
              <a:avLst/>
            </a:prstGeom>
            <a:solidFill>
              <a:srgbClr val="3368FF">
                <a:alpha val="7000"/>
              </a:srgbClr>
            </a:solidFill>
            <a:ln>
              <a:noFill/>
            </a:ln>
          </p:spPr>
          <p:txBody>
            <a:bodyPr wrap="square" lIns="0" tIns="0" r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课程</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64" name="矩形 116"/>
            <p:cNvSpPr/>
            <p:nvPr>
              <p:custDataLst>
                <p:tags r:id="rId103"/>
              </p:custDataLst>
            </p:nvPr>
          </p:nvSpPr>
          <p:spPr>
            <a:xfrm rot="19103477">
              <a:off x="7136" y="5397"/>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直播</a:t>
              </a:r>
              <a:endParaRPr kumimoji="1" lang="zh-CN" altLang="en-US" sz="1000" dirty="0">
                <a:solidFill>
                  <a:srgbClr val="383838">
                    <a:alpha val="80000"/>
                  </a:srgbClr>
                </a:solidFill>
                <a:latin typeface="微软雅黑"/>
                <a:ea typeface="微软雅黑"/>
                <a:cs typeface="微软雅黑"/>
              </a:endParaRPr>
            </a:p>
          </p:txBody>
        </p:sp>
        <p:sp>
          <p:nvSpPr>
            <p:cNvPr id="65" name="TextBox 97"/>
            <p:cNvSpPr txBox="1"/>
            <p:nvPr>
              <p:custDataLst>
                <p:tags r:id="rId104"/>
              </p:custDataLst>
            </p:nvPr>
          </p:nvSpPr>
          <p:spPr>
            <a:xfrm>
              <a:off x="6895" y="5124"/>
              <a:ext cx="400" cy="242"/>
            </a:xfrm>
            <a:prstGeom prst="rect">
              <a:avLst/>
            </a:prstGeom>
            <a:noFill/>
            <a:ln>
              <a:noFill/>
            </a:ln>
          </p:spPr>
          <p:txBody>
            <a:bodyPr wrap="none" lIns="0" tIns="0" rIns="0" bIns="0" rtlCol="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教育</a:t>
              </a:r>
              <a:endParaRPr lang="zh-CN" altLang="en-US" sz="1000" b="1" dirty="0">
                <a:solidFill>
                  <a:srgbClr val="0042FF"/>
                </a:solidFill>
                <a:latin typeface="微软雅黑"/>
                <a:ea typeface="微软雅黑"/>
                <a:cs typeface="微软雅黑"/>
              </a:endParaRPr>
            </a:p>
          </p:txBody>
        </p:sp>
        <p:cxnSp>
          <p:nvCxnSpPr>
            <p:cNvPr id="66" name="Straight Connector 80"/>
            <p:cNvCxnSpPr>
              <a:endCxn id="73" idx="3"/>
            </p:cNvCxnSpPr>
            <p:nvPr>
              <p:custDataLst>
                <p:tags r:id="rId105"/>
              </p:custDataLst>
            </p:nvPr>
          </p:nvCxnSpPr>
          <p:spPr>
            <a:xfrm>
              <a:off x="6916" y="7466"/>
              <a:ext cx="1" cy="254"/>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cxnSp>
          <p:nvCxnSpPr>
            <p:cNvPr id="67" name="Straight Connector 81"/>
            <p:cNvCxnSpPr/>
            <p:nvPr>
              <p:custDataLst>
                <p:tags r:id="rId106"/>
              </p:custDataLst>
            </p:nvPr>
          </p:nvCxnSpPr>
          <p:spPr>
            <a:xfrm flipV="1">
              <a:off x="7242" y="7051"/>
              <a:ext cx="206" cy="40"/>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cxnSp>
          <p:nvCxnSpPr>
            <p:cNvPr id="68" name="Straight Connector 82"/>
            <p:cNvCxnSpPr/>
            <p:nvPr>
              <p:custDataLst>
                <p:tags r:id="rId107"/>
              </p:custDataLst>
            </p:nvPr>
          </p:nvCxnSpPr>
          <p:spPr>
            <a:xfrm>
              <a:off x="6413" y="6948"/>
              <a:ext cx="194" cy="75"/>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sp>
          <p:nvSpPr>
            <p:cNvPr id="69" name="椭圆 68"/>
            <p:cNvSpPr/>
            <p:nvPr>
              <p:custDataLst>
                <p:tags r:id="rId108"/>
              </p:custDataLst>
            </p:nvPr>
          </p:nvSpPr>
          <p:spPr>
            <a:xfrm>
              <a:off x="6581" y="6822"/>
              <a:ext cx="686" cy="649"/>
            </a:xfrm>
            <a:prstGeom prst="ellipse">
              <a:avLst/>
            </a:prstGeom>
            <a:solidFill>
              <a:srgbClr val="FFFFFF">
                <a:alpha val="80000"/>
              </a:srgbClr>
            </a:solidFill>
            <a:ln w="1270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50" i="0" u="none" strike="noStrike" kern="0" cap="none" spc="0" normalizeH="0" baseline="0" noProof="0" dirty="0">
                <a:ln>
                  <a:noFill/>
                </a:ln>
                <a:solidFill>
                  <a:srgbClr val="383838"/>
                </a:solidFill>
                <a:uLnTx/>
                <a:uFillTx/>
                <a:latin typeface="微软雅黑"/>
                <a:ea typeface="微软雅黑"/>
                <a:cs typeface="微软雅黑"/>
              </a:endParaRPr>
            </a:p>
          </p:txBody>
        </p:sp>
        <p:sp>
          <p:nvSpPr>
            <p:cNvPr id="70" name="矩形 69"/>
            <p:cNvSpPr/>
            <p:nvPr>
              <p:custDataLst>
                <p:tags r:id="rId109"/>
              </p:custDataLst>
            </p:nvPr>
          </p:nvSpPr>
          <p:spPr>
            <a:xfrm>
              <a:off x="6419" y="6254"/>
              <a:ext cx="1011" cy="434"/>
            </a:xfrm>
            <a:prstGeom prst="rect">
              <a:avLst/>
            </a:prstGeom>
            <a:ln>
              <a:noFill/>
            </a:ln>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品牌馆</a:t>
              </a:r>
              <a:endParaRPr lang="zh-CN" altLang="en-US" sz="1200" b="1" dirty="0">
                <a:solidFill>
                  <a:srgbClr val="383838">
                    <a:alpha val="80000"/>
                  </a:srgbClr>
                </a:solidFill>
                <a:latin typeface="微软雅黑"/>
                <a:ea typeface="微软雅黑"/>
                <a:cs typeface="微软雅黑"/>
              </a:endParaRPr>
            </a:p>
          </p:txBody>
        </p:sp>
        <p:sp>
          <p:nvSpPr>
            <p:cNvPr id="71" name="空心弧 70"/>
            <p:cNvSpPr/>
            <p:nvPr>
              <p:custDataLst>
                <p:tags r:id="rId110"/>
              </p:custDataLst>
            </p:nvPr>
          </p:nvSpPr>
          <p:spPr>
            <a:xfrm rot="5400000">
              <a:off x="6340" y="6561"/>
              <a:ext cx="1167" cy="1203"/>
            </a:xfrm>
            <a:prstGeom prst="blockArc">
              <a:avLst>
                <a:gd name="adj1" fmla="val 12894987"/>
                <a:gd name="adj2" fmla="val 8853212"/>
                <a:gd name="adj3" fmla="val 4839"/>
              </a:avLst>
            </a:prstGeom>
            <a:solidFill>
              <a:srgbClr val="FFFFFF"/>
            </a:solidFill>
            <a:ln w="12700" cap="flat" cmpd="sng" algn="ctr">
              <a:solidFill>
                <a:srgbClr val="B3D4FE"/>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sz="1050" kern="0" noProof="0" dirty="0">
                <a:ln>
                  <a:noFill/>
                </a:ln>
                <a:solidFill>
                  <a:srgbClr val="383838"/>
                </a:solidFill>
                <a:uLnTx/>
                <a:uFillTx/>
                <a:latin typeface="微软雅黑"/>
                <a:ea typeface="微软雅黑"/>
                <a:cs typeface="微软雅黑"/>
                <a:sym typeface="微软雅黑"/>
              </a:endParaRPr>
            </a:p>
          </p:txBody>
        </p:sp>
        <p:sp>
          <p:nvSpPr>
            <p:cNvPr id="72" name="矩形 114"/>
            <p:cNvSpPr/>
            <p:nvPr>
              <p:custDataLst>
                <p:tags r:id="rId111"/>
              </p:custDataLst>
            </p:nvPr>
          </p:nvSpPr>
          <p:spPr>
            <a:xfrm>
              <a:off x="6645" y="6533"/>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品牌</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73" name="矩形 115"/>
            <p:cNvSpPr/>
            <p:nvPr>
              <p:custDataLst>
                <p:tags r:id="rId112"/>
              </p:custDataLst>
            </p:nvPr>
          </p:nvSpPr>
          <p:spPr>
            <a:xfrm rot="2456136">
              <a:off x="6210" y="7300"/>
              <a:ext cx="805"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rPr>
                <a:t>产品</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74" name="矩形 116"/>
            <p:cNvSpPr/>
            <p:nvPr>
              <p:custDataLst>
                <p:tags r:id="rId113"/>
              </p:custDataLst>
            </p:nvPr>
          </p:nvSpPr>
          <p:spPr>
            <a:xfrm rot="19431348">
              <a:off x="6975" y="7291"/>
              <a:ext cx="542"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en-US" altLang="zh-CN" sz="1000" dirty="0">
                  <a:solidFill>
                    <a:srgbClr val="383838">
                      <a:alpha val="80000"/>
                    </a:srgbClr>
                  </a:solidFill>
                  <a:latin typeface="微软雅黑"/>
                  <a:ea typeface="微软雅黑"/>
                  <a:cs typeface="微软雅黑"/>
                </a:rPr>
                <a:t>CSR</a:t>
              </a:r>
              <a:endParaRPr kumimoji="1" lang="en-US" altLang="zh-CN" sz="1000" dirty="0">
                <a:solidFill>
                  <a:srgbClr val="383838">
                    <a:alpha val="80000"/>
                  </a:srgbClr>
                </a:solidFill>
                <a:latin typeface="微软雅黑"/>
                <a:ea typeface="微软雅黑"/>
                <a:cs typeface="微软雅黑"/>
              </a:endParaRPr>
            </a:p>
          </p:txBody>
        </p:sp>
        <p:sp>
          <p:nvSpPr>
            <p:cNvPr id="75" name="TextBox 85"/>
            <p:cNvSpPr txBox="1"/>
            <p:nvPr>
              <p:custDataLst>
                <p:tags r:id="rId114"/>
              </p:custDataLst>
            </p:nvPr>
          </p:nvSpPr>
          <p:spPr>
            <a:xfrm>
              <a:off x="6725" y="7001"/>
              <a:ext cx="400" cy="242"/>
            </a:xfrm>
            <a:prstGeom prst="rect">
              <a:avLst/>
            </a:prstGeom>
            <a:noFill/>
            <a:ln>
              <a:noFill/>
            </a:ln>
          </p:spPr>
          <p:txBody>
            <a:bodyPr wrap="none" lIns="0" tIns="0" rIns="0" bIns="0" rtlCol="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品宣</a:t>
              </a:r>
              <a:endParaRPr lang="zh-CN" altLang="en-US" sz="1000" b="1" dirty="0">
                <a:solidFill>
                  <a:srgbClr val="0042FF"/>
                </a:solidFill>
                <a:latin typeface="微软雅黑"/>
                <a:ea typeface="微软雅黑"/>
                <a:cs typeface="微软雅黑"/>
              </a:endParaRPr>
            </a:p>
          </p:txBody>
        </p:sp>
        <p:cxnSp>
          <p:nvCxnSpPr>
            <p:cNvPr id="76" name="Straight Connector 60"/>
            <p:cNvCxnSpPr/>
            <p:nvPr>
              <p:custDataLst>
                <p:tags r:id="rId115"/>
              </p:custDataLst>
            </p:nvPr>
          </p:nvCxnSpPr>
          <p:spPr>
            <a:xfrm>
              <a:off x="9770" y="4972"/>
              <a:ext cx="663" cy="293"/>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77" name="Straight Connector 61"/>
            <p:cNvCxnSpPr/>
            <p:nvPr>
              <p:custDataLst>
                <p:tags r:id="rId116"/>
              </p:custDataLst>
            </p:nvPr>
          </p:nvCxnSpPr>
          <p:spPr>
            <a:xfrm flipH="1">
              <a:off x="7802" y="4991"/>
              <a:ext cx="629" cy="381"/>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78" name="Straight Connector 62"/>
            <p:cNvCxnSpPr/>
            <p:nvPr>
              <p:custDataLst>
                <p:tags r:id="rId117"/>
              </p:custDataLst>
            </p:nvPr>
          </p:nvCxnSpPr>
          <p:spPr>
            <a:xfrm flipH="1">
              <a:off x="9979" y="5683"/>
              <a:ext cx="674" cy="700"/>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81" name="Straight Connector 63"/>
            <p:cNvCxnSpPr/>
            <p:nvPr>
              <p:custDataLst>
                <p:tags r:id="rId118"/>
              </p:custDataLst>
            </p:nvPr>
          </p:nvCxnSpPr>
          <p:spPr>
            <a:xfrm>
              <a:off x="7555" y="5760"/>
              <a:ext cx="766" cy="584"/>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82" name="Straight Connector 64"/>
            <p:cNvCxnSpPr/>
            <p:nvPr>
              <p:custDataLst>
                <p:tags r:id="rId119"/>
              </p:custDataLst>
            </p:nvPr>
          </p:nvCxnSpPr>
          <p:spPr>
            <a:xfrm flipH="1" flipV="1">
              <a:off x="10159" y="7172"/>
              <a:ext cx="612" cy="6"/>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83" name="Straight Connector 65"/>
            <p:cNvCxnSpPr/>
            <p:nvPr>
              <p:custDataLst>
                <p:tags r:id="rId120"/>
              </p:custDataLst>
            </p:nvPr>
          </p:nvCxnSpPr>
          <p:spPr>
            <a:xfrm>
              <a:off x="7627" y="7162"/>
              <a:ext cx="520" cy="9"/>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84" name="Straight Connector 66"/>
            <p:cNvCxnSpPr/>
            <p:nvPr>
              <p:custDataLst>
                <p:tags r:id="rId121"/>
              </p:custDataLst>
            </p:nvPr>
          </p:nvCxnSpPr>
          <p:spPr>
            <a:xfrm>
              <a:off x="11269" y="5862"/>
              <a:ext cx="173" cy="445"/>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85" name="Straight Connector 67"/>
            <p:cNvCxnSpPr/>
            <p:nvPr>
              <p:custDataLst>
                <p:tags r:id="rId122"/>
              </p:custDataLst>
            </p:nvPr>
          </p:nvCxnSpPr>
          <p:spPr>
            <a:xfrm flipH="1">
              <a:off x="6762" y="5889"/>
              <a:ext cx="141" cy="383"/>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cxnSp>
          <p:nvCxnSpPr>
            <p:cNvPr id="86" name="Straight Connector 130"/>
            <p:cNvCxnSpPr/>
            <p:nvPr>
              <p:custDataLst>
                <p:tags r:id="rId123"/>
              </p:custDataLst>
            </p:nvPr>
          </p:nvCxnSpPr>
          <p:spPr>
            <a:xfrm flipH="1">
              <a:off x="9153" y="5466"/>
              <a:ext cx="11" cy="567"/>
            </a:xfrm>
            <a:prstGeom prst="line">
              <a:avLst/>
            </a:prstGeom>
            <a:gradFill>
              <a:gsLst>
                <a:gs pos="73000">
                  <a:srgbClr val="FFFFFF"/>
                </a:gs>
                <a:gs pos="30000">
                  <a:srgbClr val="FFFFFF"/>
                </a:gs>
                <a:gs pos="100000">
                  <a:srgbClr val="B3D4FE"/>
                </a:gs>
              </a:gsLst>
              <a:lin ang="5400000" scaled="0"/>
            </a:gradFill>
            <a:ln w="3175">
              <a:solidFill>
                <a:srgbClr val="383838"/>
              </a:solidFill>
            </a:ln>
          </p:spPr>
          <p:style>
            <a:lnRef idx="2">
              <a:srgbClr val="0042FF"/>
            </a:lnRef>
            <a:fillRef idx="1">
              <a:srgbClr val="0042FF"/>
            </a:fillRef>
            <a:effectRef idx="0">
              <a:srgbClr val="0042FF"/>
            </a:effectRef>
            <a:fontRef idx="minor">
              <a:srgbClr val="FFFFFF"/>
            </a:fontRef>
          </p:style>
        </p:cxnSp>
        <p:sp>
          <p:nvSpPr>
            <p:cNvPr id="89" name="文本框 88"/>
            <p:cNvSpPr txBox="1"/>
            <p:nvPr>
              <p:custDataLst>
                <p:tags r:id="rId124"/>
              </p:custDataLst>
            </p:nvPr>
          </p:nvSpPr>
          <p:spPr>
            <a:xfrm>
              <a:off x="8671" y="6534"/>
              <a:ext cx="960" cy="775"/>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会员</a:t>
              </a:r>
              <a:endParaRPr lang="en-US" altLang="zh-CN" sz="16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俱乐部</a:t>
              </a:r>
              <a:endParaRPr lang="zh-CN" altLang="en-US" sz="1600" dirty="0">
                <a:solidFill>
                  <a:srgbClr val="FFFFFF"/>
                </a:solidFill>
                <a:latin typeface="微软雅黑"/>
                <a:ea typeface="微软雅黑"/>
                <a:cs typeface="微软雅黑"/>
              </a:endParaRPr>
            </a:p>
          </p:txBody>
        </p:sp>
        <p:pic>
          <p:nvPicPr>
            <p:cNvPr id="90" name="图形 212"/>
            <p:cNvPicPr>
              <a:picLocks noChangeAspect="1"/>
            </p:cNvPicPr>
            <p:nvPr>
              <p:custDataLst>
                <p:tags r:id="rId125"/>
              </p:custDataLst>
            </p:nvPr>
          </p:nvPicPr>
          <p:blipFill>
            <a:blip r:embed="rId126">
              <a:extLst>
                <a:ext uri="{96DAC541-7B7A-43D3-8B79-37D633B846F1}">
                  <asvg:svgBlip xmlns:asvg="http://schemas.microsoft.com/office/drawing/2016/SVG/main" r:embed="rId127"/>
                </a:ext>
              </a:extLst>
            </a:blip>
            <a:stretch>
              <a:fillRect/>
            </a:stretch>
          </p:blipFill>
          <p:spPr>
            <a:xfrm>
              <a:off x="9998" y="4775"/>
              <a:ext cx="236" cy="236"/>
            </a:xfrm>
            <a:prstGeom prst="rect">
              <a:avLst/>
            </a:prstGeom>
          </p:spPr>
        </p:pic>
        <p:pic>
          <p:nvPicPr>
            <p:cNvPr id="93" name="图形 220"/>
            <p:cNvPicPr>
              <a:picLocks noChangeAspect="1"/>
            </p:cNvPicPr>
            <p:nvPr>
              <p:custDataLst>
                <p:tags r:id="rId128"/>
              </p:custDataLst>
            </p:nvPr>
          </p:nvPicPr>
          <p:blipFill>
            <a:blip r:embed="rId126">
              <a:extLst>
                <a:ext uri="{96DAC541-7B7A-43D3-8B79-37D633B846F1}">
                  <asvg:svgBlip xmlns:asvg="http://schemas.microsoft.com/office/drawing/2016/SVG/main" r:embed="rId129"/>
                </a:ext>
              </a:extLst>
            </a:blip>
            <a:stretch>
              <a:fillRect/>
            </a:stretch>
          </p:blipFill>
          <p:spPr>
            <a:xfrm>
              <a:off x="10360" y="6862"/>
              <a:ext cx="236" cy="236"/>
            </a:xfrm>
            <a:prstGeom prst="rect">
              <a:avLst/>
            </a:prstGeom>
          </p:spPr>
        </p:pic>
        <p:pic>
          <p:nvPicPr>
            <p:cNvPr id="96" name="图形 213"/>
            <p:cNvPicPr>
              <a:picLocks noChangeAspect="1"/>
            </p:cNvPicPr>
            <p:nvPr>
              <p:custDataLst>
                <p:tags r:id="rId130"/>
              </p:custDataLst>
            </p:nvPr>
          </p:nvPicPr>
          <p:blipFill>
            <a:blip r:embed="rId126">
              <a:extLst>
                <a:ext uri="{96DAC541-7B7A-43D3-8B79-37D633B846F1}">
                  <asvg:svgBlip xmlns:asvg="http://schemas.microsoft.com/office/drawing/2016/SVG/main" r:embed="rId131"/>
                </a:ext>
              </a:extLst>
            </a:blip>
            <a:stretch>
              <a:fillRect/>
            </a:stretch>
          </p:blipFill>
          <p:spPr>
            <a:xfrm>
              <a:off x="7974" y="4775"/>
              <a:ext cx="236" cy="236"/>
            </a:xfrm>
            <a:prstGeom prst="rect">
              <a:avLst/>
            </a:prstGeom>
          </p:spPr>
        </p:pic>
        <p:pic>
          <p:nvPicPr>
            <p:cNvPr id="100" name="图形 219"/>
            <p:cNvPicPr>
              <a:picLocks noChangeAspect="1"/>
            </p:cNvPicPr>
            <p:nvPr>
              <p:custDataLst>
                <p:tags r:id="rId132"/>
              </p:custDataLst>
            </p:nvPr>
          </p:nvPicPr>
          <p:blipFill>
            <a:blip r:embed="rId126">
              <a:extLst>
                <a:ext uri="{96DAC541-7B7A-43D3-8B79-37D633B846F1}">
                  <asvg:svgBlip xmlns:asvg="http://schemas.microsoft.com/office/drawing/2016/SVG/main" r:embed="rId133"/>
                </a:ext>
              </a:extLst>
            </a:blip>
            <a:stretch>
              <a:fillRect/>
            </a:stretch>
          </p:blipFill>
          <p:spPr>
            <a:xfrm>
              <a:off x="7743" y="6864"/>
              <a:ext cx="236" cy="236"/>
            </a:xfrm>
            <a:prstGeom prst="rect">
              <a:avLst/>
            </a:prstGeom>
          </p:spPr>
        </p:pic>
        <p:pic>
          <p:nvPicPr>
            <p:cNvPr id="101" name="图形 215"/>
            <p:cNvPicPr>
              <a:picLocks noChangeAspect="1"/>
            </p:cNvPicPr>
            <p:nvPr>
              <p:custDataLst>
                <p:tags r:id="rId134"/>
              </p:custDataLst>
            </p:nvPr>
          </p:nvPicPr>
          <p:blipFill>
            <a:blip r:embed="rId126">
              <a:extLst>
                <a:ext uri="{96DAC541-7B7A-43D3-8B79-37D633B846F1}">
                  <asvg:svgBlip xmlns:asvg="http://schemas.microsoft.com/office/drawing/2016/SVG/main" r:embed="rId135"/>
                </a:ext>
              </a:extLst>
            </a:blip>
            <a:stretch>
              <a:fillRect/>
            </a:stretch>
          </p:blipFill>
          <p:spPr>
            <a:xfrm>
              <a:off x="8528" y="5894"/>
              <a:ext cx="236" cy="236"/>
            </a:xfrm>
            <a:prstGeom prst="rect">
              <a:avLst/>
            </a:prstGeom>
          </p:spPr>
        </p:pic>
        <p:pic>
          <p:nvPicPr>
            <p:cNvPr id="103" name="图形 217"/>
            <p:cNvPicPr>
              <a:picLocks noChangeAspect="1"/>
            </p:cNvPicPr>
            <p:nvPr>
              <p:custDataLst>
                <p:tags r:id="rId136"/>
              </p:custDataLst>
            </p:nvPr>
          </p:nvPicPr>
          <p:blipFill>
            <a:blip r:embed="rId126">
              <a:extLst>
                <a:ext uri="{96DAC541-7B7A-43D3-8B79-37D633B846F1}">
                  <asvg:svgBlip xmlns:asvg="http://schemas.microsoft.com/office/drawing/2016/SVG/main" r:embed="rId137"/>
                </a:ext>
              </a:extLst>
            </a:blip>
            <a:stretch>
              <a:fillRect/>
            </a:stretch>
          </p:blipFill>
          <p:spPr>
            <a:xfrm>
              <a:off x="7177" y="5962"/>
              <a:ext cx="236" cy="236"/>
            </a:xfrm>
            <a:prstGeom prst="rect">
              <a:avLst/>
            </a:prstGeom>
          </p:spPr>
        </p:pic>
        <p:pic>
          <p:nvPicPr>
            <p:cNvPr id="104" name="图形 218"/>
            <p:cNvPicPr>
              <a:picLocks noChangeAspect="1"/>
            </p:cNvPicPr>
            <p:nvPr>
              <p:custDataLst>
                <p:tags r:id="rId138"/>
              </p:custDataLst>
            </p:nvPr>
          </p:nvPicPr>
          <p:blipFill>
            <a:blip r:embed="rId126">
              <a:extLst>
                <a:ext uri="{96DAC541-7B7A-43D3-8B79-37D633B846F1}">
                  <asvg:svgBlip xmlns:asvg="http://schemas.microsoft.com/office/drawing/2016/SVG/main" r:embed="rId139"/>
                </a:ext>
              </a:extLst>
            </a:blip>
            <a:stretch>
              <a:fillRect/>
            </a:stretch>
          </p:blipFill>
          <p:spPr>
            <a:xfrm>
              <a:off x="10803" y="5962"/>
              <a:ext cx="236" cy="236"/>
            </a:xfrm>
            <a:prstGeom prst="rect">
              <a:avLst/>
            </a:prstGeom>
          </p:spPr>
        </p:pic>
        <p:pic>
          <p:nvPicPr>
            <p:cNvPr id="105" name="图形 216"/>
            <p:cNvPicPr>
              <a:picLocks noChangeAspect="1"/>
            </p:cNvPicPr>
            <p:nvPr>
              <p:custDataLst>
                <p:tags r:id="rId140"/>
              </p:custDataLst>
            </p:nvPr>
          </p:nvPicPr>
          <p:blipFill>
            <a:blip r:embed="rId126">
              <a:extLst>
                <a:ext uri="{96DAC541-7B7A-43D3-8B79-37D633B846F1}">
                  <asvg:svgBlip xmlns:asvg="http://schemas.microsoft.com/office/drawing/2016/SVG/main" r:embed="rId141"/>
                </a:ext>
              </a:extLst>
            </a:blip>
            <a:stretch>
              <a:fillRect/>
            </a:stretch>
          </p:blipFill>
          <p:spPr>
            <a:xfrm>
              <a:off x="9510" y="5894"/>
              <a:ext cx="236" cy="236"/>
            </a:xfrm>
            <a:prstGeom prst="rect">
              <a:avLst/>
            </a:prstGeom>
          </p:spPr>
        </p:pic>
        <p:cxnSp>
          <p:nvCxnSpPr>
            <p:cNvPr id="106" name="Straight Connector 80"/>
            <p:cNvCxnSpPr>
              <a:endCxn id="118" idx="3"/>
            </p:cNvCxnSpPr>
            <p:nvPr>
              <p:custDataLst>
                <p:tags r:id="rId142"/>
              </p:custDataLst>
            </p:nvPr>
          </p:nvCxnSpPr>
          <p:spPr>
            <a:xfrm>
              <a:off x="11490" y="7467"/>
              <a:ext cx="1" cy="254"/>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cxnSp>
          <p:nvCxnSpPr>
            <p:cNvPr id="107" name="Straight Connector 81"/>
            <p:cNvCxnSpPr/>
            <p:nvPr>
              <p:custDataLst>
                <p:tags r:id="rId143"/>
              </p:custDataLst>
            </p:nvPr>
          </p:nvCxnSpPr>
          <p:spPr>
            <a:xfrm flipV="1">
              <a:off x="11817" y="7051"/>
              <a:ext cx="206" cy="40"/>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cxnSp>
          <p:nvCxnSpPr>
            <p:cNvPr id="110" name="Straight Connector 82"/>
            <p:cNvCxnSpPr/>
            <p:nvPr>
              <p:custDataLst>
                <p:tags r:id="rId144"/>
              </p:custDataLst>
            </p:nvPr>
          </p:nvCxnSpPr>
          <p:spPr>
            <a:xfrm>
              <a:off x="10988" y="6948"/>
              <a:ext cx="194" cy="75"/>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sp>
          <p:nvSpPr>
            <p:cNvPr id="111" name="椭圆 110"/>
            <p:cNvSpPr/>
            <p:nvPr>
              <p:custDataLst>
                <p:tags r:id="rId145"/>
              </p:custDataLst>
            </p:nvPr>
          </p:nvSpPr>
          <p:spPr>
            <a:xfrm>
              <a:off x="11156" y="6822"/>
              <a:ext cx="686" cy="649"/>
            </a:xfrm>
            <a:prstGeom prst="ellipse">
              <a:avLst/>
            </a:prstGeom>
            <a:solidFill>
              <a:srgbClr val="FFFFFF">
                <a:alpha val="80000"/>
              </a:srgbClr>
            </a:solidFill>
            <a:ln w="1270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50" i="0" u="none" strike="noStrike" kern="0" cap="none" spc="0" normalizeH="0" baseline="0" noProof="0" dirty="0">
                <a:ln>
                  <a:noFill/>
                </a:ln>
                <a:solidFill>
                  <a:srgbClr val="383838"/>
                </a:solidFill>
                <a:uLnTx/>
                <a:uFillTx/>
                <a:latin typeface="微软雅黑"/>
                <a:ea typeface="微软雅黑"/>
                <a:cs typeface="微软雅黑"/>
              </a:endParaRPr>
            </a:p>
          </p:txBody>
        </p:sp>
        <p:sp>
          <p:nvSpPr>
            <p:cNvPr id="115" name="矩形 114"/>
            <p:cNvSpPr/>
            <p:nvPr>
              <p:custDataLst>
                <p:tags r:id="rId146"/>
              </p:custDataLst>
            </p:nvPr>
          </p:nvSpPr>
          <p:spPr>
            <a:xfrm>
              <a:off x="10873" y="6254"/>
              <a:ext cx="1252" cy="434"/>
            </a:xfrm>
            <a:prstGeom prst="rect">
              <a:avLst/>
            </a:prstGeom>
            <a:ln>
              <a:noFill/>
            </a:ln>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b="1" dirty="0">
                  <a:solidFill>
                    <a:srgbClr val="383838">
                      <a:alpha val="80000"/>
                    </a:srgbClr>
                  </a:solidFill>
                  <a:latin typeface="微软雅黑"/>
                  <a:ea typeface="微软雅黑"/>
                  <a:cs typeface="微软雅黑"/>
                </a:rPr>
                <a:t>会员体系</a:t>
              </a:r>
              <a:endParaRPr lang="zh-CN" altLang="en-US" sz="1200" b="1" dirty="0">
                <a:solidFill>
                  <a:srgbClr val="383838">
                    <a:alpha val="80000"/>
                  </a:srgbClr>
                </a:solidFill>
                <a:latin typeface="微软雅黑"/>
                <a:ea typeface="微软雅黑"/>
                <a:cs typeface="微软雅黑"/>
              </a:endParaRPr>
            </a:p>
          </p:txBody>
        </p:sp>
        <p:sp>
          <p:nvSpPr>
            <p:cNvPr id="116" name="空心弧 115"/>
            <p:cNvSpPr/>
            <p:nvPr>
              <p:custDataLst>
                <p:tags r:id="rId147"/>
              </p:custDataLst>
            </p:nvPr>
          </p:nvSpPr>
          <p:spPr>
            <a:xfrm rot="5400000">
              <a:off x="10915" y="6561"/>
              <a:ext cx="1167" cy="1203"/>
            </a:xfrm>
            <a:prstGeom prst="blockArc">
              <a:avLst>
                <a:gd name="adj1" fmla="val 12894987"/>
                <a:gd name="adj2" fmla="val 8853212"/>
                <a:gd name="adj3" fmla="val 4839"/>
              </a:avLst>
            </a:prstGeom>
            <a:solidFill>
              <a:srgbClr val="FFFFFF"/>
            </a:solidFill>
            <a:ln w="12700" cap="flat" cmpd="sng" algn="ctr">
              <a:solidFill>
                <a:srgbClr val="B3D4FE"/>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sz="1050" kern="0" noProof="0" dirty="0">
                <a:ln>
                  <a:noFill/>
                </a:ln>
                <a:solidFill>
                  <a:srgbClr val="383838"/>
                </a:solidFill>
                <a:uLnTx/>
                <a:uFillTx/>
                <a:latin typeface="微软雅黑"/>
                <a:ea typeface="微软雅黑"/>
                <a:cs typeface="微软雅黑"/>
                <a:sym typeface="微软雅黑"/>
              </a:endParaRPr>
            </a:p>
          </p:txBody>
        </p:sp>
        <p:sp>
          <p:nvSpPr>
            <p:cNvPr id="117" name="矩形 114"/>
            <p:cNvSpPr/>
            <p:nvPr>
              <p:custDataLst>
                <p:tags r:id="rId148"/>
              </p:custDataLst>
            </p:nvPr>
          </p:nvSpPr>
          <p:spPr>
            <a:xfrm>
              <a:off x="11220" y="6533"/>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积分</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118" name="矩形 115"/>
            <p:cNvSpPr/>
            <p:nvPr>
              <p:custDataLst>
                <p:tags r:id="rId149"/>
              </p:custDataLst>
            </p:nvPr>
          </p:nvSpPr>
          <p:spPr>
            <a:xfrm rot="2456136">
              <a:off x="10785" y="7300"/>
              <a:ext cx="805"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en-US" altLang="zh-CN" sz="1000" noProof="0" dirty="0">
                  <a:ln>
                    <a:noFill/>
                  </a:ln>
                  <a:solidFill>
                    <a:srgbClr val="383838">
                      <a:alpha val="80000"/>
                    </a:srgbClr>
                  </a:solidFill>
                  <a:uLnTx/>
                  <a:uFillTx/>
                  <a:latin typeface="微软雅黑"/>
                  <a:ea typeface="微软雅黑"/>
                  <a:cs typeface="微软雅黑"/>
                  <a:sym typeface="微软雅黑"/>
                </a:rPr>
                <a:t>MGM</a:t>
              </a:r>
              <a:endParaRPr kumimoji="1" lang="en-US" altLang="zh-CN" sz="1000" i="0" u="none" strike="noStrike" kern="1200" cap="none" spc="0" normalizeH="0" baseline="0" noProof="0" dirty="0">
                <a:ln>
                  <a:noFill/>
                </a:ln>
                <a:solidFill>
                  <a:srgbClr val="383838">
                    <a:alpha val="80000"/>
                  </a:srgbClr>
                </a:solidFill>
                <a:uLnTx/>
                <a:uFillTx/>
                <a:latin typeface="微软雅黑"/>
                <a:ea typeface="微软雅黑"/>
                <a:cs typeface="微软雅黑"/>
                <a:sym typeface="微软雅黑"/>
              </a:endParaRPr>
            </a:p>
          </p:txBody>
        </p:sp>
        <p:sp>
          <p:nvSpPr>
            <p:cNvPr id="119" name="矩形 116"/>
            <p:cNvSpPr/>
            <p:nvPr>
              <p:custDataLst>
                <p:tags r:id="rId150"/>
              </p:custDataLst>
            </p:nvPr>
          </p:nvSpPr>
          <p:spPr>
            <a:xfrm rot="19431348">
              <a:off x="11531" y="7291"/>
              <a:ext cx="581"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en-US" altLang="zh-CN" sz="1000" dirty="0">
                  <a:solidFill>
                    <a:srgbClr val="383838">
                      <a:alpha val="80000"/>
                    </a:srgbClr>
                  </a:solidFill>
                  <a:latin typeface="微软雅黑"/>
                  <a:ea typeface="微软雅黑"/>
                  <a:cs typeface="微软雅黑"/>
                  <a:sym typeface="微软雅黑"/>
                </a:rPr>
                <a:t>KOC</a:t>
              </a:r>
              <a:endParaRPr kumimoji="1" lang="en-US" altLang="zh-CN" sz="1000" dirty="0">
                <a:solidFill>
                  <a:srgbClr val="383838">
                    <a:alpha val="80000"/>
                  </a:srgbClr>
                </a:solidFill>
                <a:latin typeface="微软雅黑"/>
                <a:ea typeface="微软雅黑"/>
                <a:cs typeface="微软雅黑"/>
                <a:sym typeface="微软雅黑"/>
              </a:endParaRPr>
            </a:p>
          </p:txBody>
        </p:sp>
        <p:sp>
          <p:nvSpPr>
            <p:cNvPr id="120" name="TextBox 85"/>
            <p:cNvSpPr txBox="1"/>
            <p:nvPr>
              <p:custDataLst>
                <p:tags r:id="rId151"/>
              </p:custDataLst>
            </p:nvPr>
          </p:nvSpPr>
          <p:spPr>
            <a:xfrm>
              <a:off x="11300" y="7001"/>
              <a:ext cx="400" cy="242"/>
            </a:xfrm>
            <a:prstGeom prst="rect">
              <a:avLst/>
            </a:prstGeom>
            <a:noFill/>
            <a:ln>
              <a:noFill/>
            </a:ln>
          </p:spPr>
          <p:txBody>
            <a:bodyPr wrap="none" lIns="0" tIns="0" rIns="0" bIns="0" rtlCol="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福利</a:t>
              </a:r>
              <a:endParaRPr lang="zh-CN" altLang="en-US" sz="1000" b="1" dirty="0">
                <a:solidFill>
                  <a:srgbClr val="0042FF"/>
                </a:solidFill>
                <a:latin typeface="微软雅黑"/>
                <a:ea typeface="微软雅黑"/>
                <a:cs typeface="微软雅黑"/>
              </a:endParaRPr>
            </a:p>
          </p:txBody>
        </p:sp>
        <p:cxnSp>
          <p:nvCxnSpPr>
            <p:cNvPr id="121" name="Straight Connector 94"/>
            <p:cNvCxnSpPr/>
            <p:nvPr>
              <p:custDataLst>
                <p:tags r:id="rId152"/>
              </p:custDataLst>
            </p:nvPr>
          </p:nvCxnSpPr>
          <p:spPr>
            <a:xfrm>
              <a:off x="10712" y="5039"/>
              <a:ext cx="195" cy="74"/>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sp>
          <p:nvSpPr>
            <p:cNvPr id="122" name="椭圆 106"/>
            <p:cNvSpPr/>
            <p:nvPr>
              <p:custDataLst>
                <p:tags r:id="rId153"/>
              </p:custDataLst>
            </p:nvPr>
          </p:nvSpPr>
          <p:spPr>
            <a:xfrm>
              <a:off x="10877" y="4912"/>
              <a:ext cx="686" cy="649"/>
            </a:xfrm>
            <a:prstGeom prst="ellipse">
              <a:avLst/>
            </a:prstGeom>
            <a:solidFill>
              <a:srgbClr val="FFFFFF">
                <a:alpha val="80000"/>
              </a:srgbClr>
            </a:solidFill>
            <a:ln w="1270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50" i="0" u="none" strike="noStrike" kern="0" cap="none" spc="0" normalizeH="0" baseline="0" noProof="0" dirty="0">
                <a:ln>
                  <a:noFill/>
                </a:ln>
                <a:solidFill>
                  <a:srgbClr val="383838"/>
                </a:solidFill>
                <a:uLnTx/>
                <a:uFillTx/>
                <a:latin typeface="微软雅黑"/>
                <a:ea typeface="微软雅黑"/>
                <a:cs typeface="微软雅黑"/>
              </a:endParaRPr>
            </a:p>
          </p:txBody>
        </p:sp>
        <p:sp>
          <p:nvSpPr>
            <p:cNvPr id="123" name="矩形 107"/>
            <p:cNvSpPr/>
            <p:nvPr>
              <p:custDataLst>
                <p:tags r:id="rId154"/>
              </p:custDataLst>
            </p:nvPr>
          </p:nvSpPr>
          <p:spPr>
            <a:xfrm>
              <a:off x="10718" y="4230"/>
              <a:ext cx="1011" cy="434"/>
            </a:xfrm>
            <a:prstGeom prst="rect">
              <a:avLst/>
            </a:prstGeom>
            <a:ln>
              <a:noFill/>
            </a:ln>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1" dirty="0">
                  <a:solidFill>
                    <a:srgbClr val="383838">
                      <a:alpha val="80000"/>
                    </a:srgbClr>
                  </a:solidFill>
                  <a:latin typeface="微软雅黑"/>
                  <a:ea typeface="微软雅黑"/>
                  <a:cs typeface="微软雅黑"/>
                </a:rPr>
                <a:t>生活馆</a:t>
              </a:r>
              <a:endParaRPr kumimoji="1" lang="zh-CN" altLang="en-US" sz="1200" b="1" dirty="0">
                <a:solidFill>
                  <a:srgbClr val="383838">
                    <a:alpha val="80000"/>
                  </a:srgbClr>
                </a:solidFill>
                <a:latin typeface="微软雅黑"/>
                <a:ea typeface="微软雅黑"/>
                <a:cs typeface="微软雅黑"/>
              </a:endParaRPr>
            </a:p>
          </p:txBody>
        </p:sp>
        <p:sp>
          <p:nvSpPr>
            <p:cNvPr id="127" name="空心弧 108"/>
            <p:cNvSpPr/>
            <p:nvPr>
              <p:custDataLst>
                <p:tags r:id="rId155"/>
              </p:custDataLst>
            </p:nvPr>
          </p:nvSpPr>
          <p:spPr>
            <a:xfrm rot="5400000">
              <a:off x="10636" y="4652"/>
              <a:ext cx="1167" cy="1203"/>
            </a:xfrm>
            <a:prstGeom prst="blockArc">
              <a:avLst>
                <a:gd name="adj1" fmla="val 12894987"/>
                <a:gd name="adj2" fmla="val 8853212"/>
                <a:gd name="adj3" fmla="val 4839"/>
              </a:avLst>
            </a:prstGeom>
            <a:solidFill>
              <a:srgbClr val="FFFFFF"/>
            </a:solidFill>
            <a:ln w="12700" cap="flat" cmpd="sng" algn="ctr">
              <a:solidFill>
                <a:srgbClr val="B3D4FE"/>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sz="1050" kern="0" noProof="0" dirty="0">
                <a:ln>
                  <a:noFill/>
                </a:ln>
                <a:solidFill>
                  <a:srgbClr val="383838"/>
                </a:solidFill>
                <a:uLnTx/>
                <a:uFillTx/>
                <a:latin typeface="微软雅黑"/>
                <a:ea typeface="微软雅黑"/>
                <a:cs typeface="微软雅黑"/>
                <a:sym typeface="微软雅黑"/>
              </a:endParaRPr>
            </a:p>
          </p:txBody>
        </p:sp>
        <p:sp>
          <p:nvSpPr>
            <p:cNvPr id="130" name="矩形 114"/>
            <p:cNvSpPr/>
            <p:nvPr>
              <p:custDataLst>
                <p:tags r:id="rId156"/>
              </p:custDataLst>
            </p:nvPr>
          </p:nvSpPr>
          <p:spPr>
            <a:xfrm>
              <a:off x="10967" y="4606"/>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旅游</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131" name="矩形 115"/>
            <p:cNvSpPr/>
            <p:nvPr>
              <p:custDataLst>
                <p:tags r:id="rId157"/>
              </p:custDataLst>
            </p:nvPr>
          </p:nvSpPr>
          <p:spPr>
            <a:xfrm rot="2803302">
              <a:off x="10762" y="5439"/>
              <a:ext cx="280" cy="494"/>
            </a:xfrm>
            <a:prstGeom prst="rect">
              <a:avLst/>
            </a:prstGeom>
            <a:solidFill>
              <a:srgbClr val="3368FF">
                <a:alpha val="7000"/>
              </a:srgbClr>
            </a:solidFill>
            <a:ln>
              <a:noFill/>
            </a:ln>
          </p:spPr>
          <p:txBody>
            <a:bodyPr wrap="square" lIns="0" tIns="0" r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运动</a:t>
              </a:r>
              <a:endParaRPr kumimoji="1" lang="zh-CN" altLang="en-US" sz="1000" i="0" u="none" strike="noStrike" kern="1200" cap="none" spc="0" normalizeH="0" baseline="0" noProof="0" dirty="0">
                <a:ln>
                  <a:noFill/>
                </a:ln>
                <a:solidFill>
                  <a:srgbClr val="383838">
                    <a:alpha val="80000"/>
                  </a:srgbClr>
                </a:solidFill>
                <a:uLnTx/>
                <a:uFillTx/>
                <a:latin typeface="微软雅黑"/>
                <a:ea typeface="微软雅黑"/>
                <a:cs typeface="微软雅黑"/>
              </a:endParaRPr>
            </a:p>
          </p:txBody>
        </p:sp>
        <p:sp>
          <p:nvSpPr>
            <p:cNvPr id="132" name="矩形 116"/>
            <p:cNvSpPr/>
            <p:nvPr>
              <p:custDataLst>
                <p:tags r:id="rId158"/>
              </p:custDataLst>
            </p:nvPr>
          </p:nvSpPr>
          <p:spPr>
            <a:xfrm rot="19103477">
              <a:off x="11261" y="5383"/>
              <a:ext cx="568" cy="313"/>
            </a:xfrm>
            <a:prstGeom prst="rect">
              <a:avLst/>
            </a:prstGeom>
            <a:ln>
              <a:noFill/>
            </a:ln>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1" lang="zh-CN" altLang="en-US" sz="1000" dirty="0">
                  <a:solidFill>
                    <a:srgbClr val="383838">
                      <a:alpha val="80000"/>
                    </a:srgbClr>
                  </a:solidFill>
                  <a:latin typeface="微软雅黑"/>
                  <a:ea typeface="微软雅黑"/>
                  <a:cs typeface="微软雅黑"/>
                </a:rPr>
                <a:t>室内</a:t>
              </a:r>
              <a:endParaRPr kumimoji="1" lang="zh-CN" altLang="en-US" sz="1000" dirty="0">
                <a:solidFill>
                  <a:srgbClr val="383838">
                    <a:alpha val="80000"/>
                  </a:srgbClr>
                </a:solidFill>
                <a:latin typeface="微软雅黑"/>
                <a:ea typeface="微软雅黑"/>
                <a:cs typeface="微软雅黑"/>
              </a:endParaRPr>
            </a:p>
          </p:txBody>
        </p:sp>
        <p:sp>
          <p:nvSpPr>
            <p:cNvPr id="133" name="TextBox 97"/>
            <p:cNvSpPr txBox="1"/>
            <p:nvPr>
              <p:custDataLst>
                <p:tags r:id="rId159"/>
              </p:custDataLst>
            </p:nvPr>
          </p:nvSpPr>
          <p:spPr>
            <a:xfrm>
              <a:off x="11020" y="5110"/>
              <a:ext cx="400" cy="242"/>
            </a:xfrm>
            <a:prstGeom prst="rect">
              <a:avLst/>
            </a:prstGeom>
            <a:noFill/>
            <a:ln>
              <a:noFill/>
            </a:ln>
          </p:spPr>
          <p:txBody>
            <a:bodyPr wrap="none" lIns="0" tIns="0" rIns="0" bIns="0" rtlCol="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体验</a:t>
              </a:r>
              <a:endParaRPr lang="zh-CN" altLang="en-US" sz="1000" b="1" dirty="0">
                <a:solidFill>
                  <a:srgbClr val="0042FF"/>
                </a:solidFill>
                <a:latin typeface="微软雅黑"/>
                <a:ea typeface="微软雅黑"/>
                <a:cs typeface="微软雅黑"/>
              </a:endParaRPr>
            </a:p>
          </p:txBody>
        </p:sp>
        <p:cxnSp>
          <p:nvCxnSpPr>
            <p:cNvPr id="134" name="Straight Connector 93"/>
            <p:cNvCxnSpPr/>
            <p:nvPr>
              <p:custDataLst>
                <p:tags r:id="rId160"/>
              </p:custDataLst>
            </p:nvPr>
          </p:nvCxnSpPr>
          <p:spPr>
            <a:xfrm flipV="1">
              <a:off x="11541" y="5097"/>
              <a:ext cx="213" cy="41"/>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cxnSp>
          <p:nvCxnSpPr>
            <p:cNvPr id="135" name="Straight Connector 92"/>
            <p:cNvCxnSpPr/>
            <p:nvPr>
              <p:custDataLst>
                <p:tags r:id="rId161"/>
              </p:custDataLst>
            </p:nvPr>
          </p:nvCxnSpPr>
          <p:spPr>
            <a:xfrm>
              <a:off x="11229" y="5548"/>
              <a:ext cx="0" cy="228"/>
            </a:xfrm>
            <a:prstGeom prst="line">
              <a:avLst/>
            </a:prstGeom>
            <a:ln w="9525">
              <a:solidFill>
                <a:srgbClr val="383838">
                  <a:alpha val="80000"/>
                </a:srgbClr>
              </a:solidFill>
            </a:ln>
          </p:spPr>
          <p:style>
            <a:lnRef idx="1">
              <a:srgbClr val="0042FF"/>
            </a:lnRef>
            <a:fillRef idx="0">
              <a:srgbClr val="0042FF"/>
            </a:fillRef>
            <a:effectRef idx="0">
              <a:srgbClr val="0042FF"/>
            </a:effectRef>
            <a:fontRef idx="minor">
              <a:srgbClr val="383838"/>
            </a:fontRef>
          </p:style>
        </p:cxnSp>
      </p:grpSp>
      <p:sp>
        <p:nvSpPr>
          <p:cNvPr id="136" name="矩形 107"/>
          <p:cNvSpPr/>
          <p:nvPr>
            <p:custDataLst>
              <p:tags r:id="rId162"/>
            </p:custDataLst>
          </p:nvPr>
        </p:nvSpPr>
        <p:spPr>
          <a:xfrm>
            <a:off x="4927918" y="1752600"/>
            <a:ext cx="1762125" cy="398780"/>
          </a:xfrm>
          <a:prstGeom prst="rect">
            <a:avLst/>
          </a:prstGeom>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en-US" altLang="zh-CN" sz="2000" b="1" dirty="0">
                <a:solidFill>
                  <a:srgbClr val="0042FF"/>
                </a:solidFill>
                <a:latin typeface="微软雅黑"/>
                <a:ea typeface="微软雅黑"/>
                <a:cs typeface="微软雅黑"/>
              </a:rPr>
              <a:t>CRM</a:t>
            </a:r>
            <a:r>
              <a:rPr lang="zh-CN" altLang="en-US" sz="2000" b="1" dirty="0">
                <a:solidFill>
                  <a:srgbClr val="0042FF"/>
                </a:solidFill>
                <a:latin typeface="微软雅黑"/>
                <a:ea typeface="微软雅黑"/>
                <a:cs typeface="微软雅黑"/>
              </a:rPr>
              <a:t>中央引擎</a:t>
            </a:r>
            <a:endParaRPr lang="zh-CN" altLang="en-US" sz="2000" b="1" dirty="0">
              <a:solidFill>
                <a:srgbClr val="0042FF"/>
              </a:solidFill>
              <a:latin typeface="微软雅黑"/>
              <a:ea typeface="微软雅黑"/>
              <a:cs typeface="微软雅黑"/>
            </a:endParaRPr>
          </a:p>
        </p:txBody>
      </p:sp>
      <p:sp>
        <p:nvSpPr>
          <p:cNvPr id="137" name="矩形 136"/>
          <p:cNvSpPr/>
          <p:nvPr>
            <p:custDataLst>
              <p:tags r:id="rId163"/>
            </p:custDataLst>
          </p:nvPr>
        </p:nvSpPr>
        <p:spPr>
          <a:xfrm>
            <a:off x="4768215" y="5102860"/>
            <a:ext cx="2195830" cy="285115"/>
          </a:xfrm>
          <a:prstGeom prst="rect">
            <a:avLst/>
          </a:prstGeom>
          <a:gradFill flip="none" rotWithShape="1">
            <a:gsLst>
              <a:gs pos="23000">
                <a:srgbClr val="3368FF"/>
              </a:gs>
              <a:gs pos="100000">
                <a:srgbClr val="668E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数据中台</a:t>
            </a:r>
            <a:endParaRPr lang="zh-CN" altLang="en-US" sz="1200" b="1" dirty="0">
              <a:solidFill>
                <a:srgbClr val="383838"/>
              </a:solidFill>
              <a:latin typeface="微软雅黑"/>
              <a:ea typeface="微软雅黑"/>
              <a:cs typeface="微软雅黑"/>
              <a:sym typeface="微软雅黑"/>
            </a:endParaRPr>
          </a:p>
        </p:txBody>
      </p:sp>
      <p:grpSp>
        <p:nvGrpSpPr>
          <p:cNvPr id="145" name="组合 144"/>
          <p:cNvGrpSpPr/>
          <p:nvPr/>
        </p:nvGrpSpPr>
        <p:grpSpPr>
          <a:xfrm>
            <a:off x="4922520" y="5530850"/>
            <a:ext cx="429895" cy="229870"/>
            <a:chOff x="6179" y="8628"/>
            <a:chExt cx="951" cy="447"/>
          </a:xfrm>
        </p:grpSpPr>
        <p:sp>
          <p:nvSpPr>
            <p:cNvPr id="146" name="箭头: 下 47"/>
            <p:cNvSpPr/>
            <p:nvPr>
              <p:custDataLst>
                <p:tags r:id="rId164"/>
              </p:custDataLst>
            </p:nvPr>
          </p:nvSpPr>
          <p:spPr>
            <a:xfrm rot="10800000" flipH="1" flipV="1">
              <a:off x="6179" y="86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47" name="箭头: 下 47"/>
            <p:cNvSpPr/>
            <p:nvPr>
              <p:custDataLst>
                <p:tags r:id="rId165"/>
              </p:custDataLst>
            </p:nvPr>
          </p:nvSpPr>
          <p:spPr>
            <a:xfrm rot="10800000" flipH="1" flipV="1">
              <a:off x="6206" y="8775"/>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148" name="组合 147"/>
          <p:cNvGrpSpPr/>
          <p:nvPr/>
        </p:nvGrpSpPr>
        <p:grpSpPr>
          <a:xfrm>
            <a:off x="5613400" y="5530850"/>
            <a:ext cx="429895" cy="229870"/>
            <a:chOff x="6179" y="8628"/>
            <a:chExt cx="951" cy="447"/>
          </a:xfrm>
        </p:grpSpPr>
        <p:sp>
          <p:nvSpPr>
            <p:cNvPr id="149" name="箭头: 下 47"/>
            <p:cNvSpPr/>
            <p:nvPr>
              <p:custDataLst>
                <p:tags r:id="rId166"/>
              </p:custDataLst>
            </p:nvPr>
          </p:nvSpPr>
          <p:spPr>
            <a:xfrm rot="10800000" flipH="1" flipV="1">
              <a:off x="6179" y="86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0" name="箭头: 下 47"/>
            <p:cNvSpPr/>
            <p:nvPr>
              <p:custDataLst>
                <p:tags r:id="rId167"/>
              </p:custDataLst>
            </p:nvPr>
          </p:nvSpPr>
          <p:spPr>
            <a:xfrm rot="10800000" flipH="1" flipV="1">
              <a:off x="6206" y="8775"/>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151" name="组合 150"/>
          <p:cNvGrpSpPr/>
          <p:nvPr/>
        </p:nvGrpSpPr>
        <p:grpSpPr>
          <a:xfrm>
            <a:off x="6339205" y="5530850"/>
            <a:ext cx="429895" cy="229870"/>
            <a:chOff x="6179" y="8628"/>
            <a:chExt cx="951" cy="447"/>
          </a:xfrm>
        </p:grpSpPr>
        <p:sp>
          <p:nvSpPr>
            <p:cNvPr id="152" name="箭头: 下 47"/>
            <p:cNvSpPr/>
            <p:nvPr>
              <p:custDataLst>
                <p:tags r:id="rId168"/>
              </p:custDataLst>
            </p:nvPr>
          </p:nvSpPr>
          <p:spPr>
            <a:xfrm rot="10800000" flipH="1" flipV="1">
              <a:off x="6179" y="8628"/>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3" name="箭头: 下 47"/>
            <p:cNvSpPr/>
            <p:nvPr>
              <p:custDataLst>
                <p:tags r:id="rId169"/>
              </p:custDataLst>
            </p:nvPr>
          </p:nvSpPr>
          <p:spPr>
            <a:xfrm rot="10800000" flipH="1" flipV="1">
              <a:off x="6206" y="8775"/>
              <a:ext cx="925"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154" name="组合 153"/>
          <p:cNvGrpSpPr/>
          <p:nvPr/>
        </p:nvGrpSpPr>
        <p:grpSpPr>
          <a:xfrm>
            <a:off x="9471025" y="3653155"/>
            <a:ext cx="1878965" cy="379730"/>
            <a:chOff x="14901" y="4835"/>
            <a:chExt cx="2959" cy="598"/>
          </a:xfrm>
        </p:grpSpPr>
        <p:sp>
          <p:nvSpPr>
            <p:cNvPr id="155" name="Rectangle: Rounded Corners 140"/>
            <p:cNvSpPr/>
            <p:nvPr>
              <p:custDataLst>
                <p:tags r:id="rId170"/>
              </p:custDataLst>
            </p:nvPr>
          </p:nvSpPr>
          <p:spPr>
            <a:xfrm>
              <a:off x="14901" y="4835"/>
              <a:ext cx="2959" cy="590"/>
            </a:xfrm>
            <a:prstGeom prst="roundRect">
              <a:avLst>
                <a:gd name="adj" fmla="val 0"/>
              </a:avLst>
            </a:prstGeom>
            <a:solidFill>
              <a:srgbClr val="FFFFFF">
                <a:alpha val="90000"/>
              </a:srgbClr>
            </a:solidFill>
            <a:ln w="12700" cap="flat" cmpd="sng" algn="ctr">
              <a:solidFill>
                <a:srgbClr val="3368FF"/>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0042FF"/>
                </a:solidFill>
                <a:latin typeface="微软雅黑"/>
                <a:ea typeface="微软雅黑"/>
                <a:cs typeface="微软雅黑"/>
                <a:sym typeface="微软雅黑"/>
              </a:endParaRPr>
            </a:p>
          </p:txBody>
        </p:sp>
        <p:sp>
          <p:nvSpPr>
            <p:cNvPr id="156" name="TextBox 138"/>
            <p:cNvSpPr txBox="1"/>
            <p:nvPr>
              <p:custDataLst>
                <p:tags r:id="rId171"/>
              </p:custDataLst>
            </p:nvPr>
          </p:nvSpPr>
          <p:spPr>
            <a:xfrm>
              <a:off x="15024" y="4849"/>
              <a:ext cx="2606" cy="584"/>
            </a:xfrm>
            <a:prstGeom prst="rect">
              <a:avLst/>
            </a:prstGeom>
            <a:noFill/>
            <a:ln>
              <a:noFill/>
            </a:ln>
            <a:effectLst/>
          </p:spPr>
          <p:txBody>
            <a:bodyPr wrap="square" rtlCol="0" anchor="ctr" anchorCtr="0" lIns="0" rIns="0" tIns="0" bIns="0">
              <a:noAutofit/>
            </a:bodyPr>
            <a:lstStyle/>
            <a:p>
              <a:pPr marL="0" marR="0" lvl="0" indent="0" algn="ctr" defTabSz="50228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500" b="1" dirty="0">
                  <a:solidFill>
                    <a:srgbClr val="0042FF"/>
                  </a:solidFill>
                  <a:latin typeface="微软雅黑"/>
                  <a:ea typeface="微软雅黑"/>
                  <a:cs typeface="微软雅黑"/>
                </a:rPr>
                <a:t>老客复购</a:t>
              </a:r>
              <a:endParaRPr lang="zh-CN" altLang="en-US" sz="1500" b="1" dirty="0">
                <a:solidFill>
                  <a:srgbClr val="0042FF"/>
                </a:solidFill>
                <a:latin typeface="微软雅黑"/>
                <a:ea typeface="微软雅黑"/>
                <a:cs typeface="微软雅黑"/>
              </a:endParaRPr>
            </a:p>
          </p:txBody>
        </p:sp>
      </p:grpSp>
      <p:grpSp>
        <p:nvGrpSpPr>
          <p:cNvPr id="157" name="组合 156"/>
          <p:cNvGrpSpPr/>
          <p:nvPr/>
        </p:nvGrpSpPr>
        <p:grpSpPr>
          <a:xfrm>
            <a:off x="9476740" y="4448175"/>
            <a:ext cx="1878965" cy="379730"/>
            <a:chOff x="14901" y="4835"/>
            <a:chExt cx="2959" cy="598"/>
          </a:xfrm>
        </p:grpSpPr>
        <p:sp>
          <p:nvSpPr>
            <p:cNvPr id="158" name="Rectangle: Rounded Corners 140"/>
            <p:cNvSpPr/>
            <p:nvPr>
              <p:custDataLst>
                <p:tags r:id="rId172"/>
              </p:custDataLst>
            </p:nvPr>
          </p:nvSpPr>
          <p:spPr>
            <a:xfrm>
              <a:off x="14901" y="4835"/>
              <a:ext cx="2959" cy="590"/>
            </a:xfrm>
            <a:prstGeom prst="roundRect">
              <a:avLst>
                <a:gd name="adj" fmla="val 0"/>
              </a:avLst>
            </a:prstGeom>
            <a:solidFill>
              <a:srgbClr val="FFFFFF">
                <a:alpha val="90000"/>
              </a:srgbClr>
            </a:solidFill>
            <a:ln w="12700" cap="flat" cmpd="sng" algn="ctr">
              <a:solidFill>
                <a:srgbClr val="3368FF"/>
              </a:solidFill>
              <a:prstDash val="solid"/>
              <a:miter lim="800000"/>
            </a:ln>
            <a:effectLst/>
          </p:spPr>
          <p:txBody>
            <a:bodyPr wrap="square" rtlCol="0" anchor="ctr">
              <a:noAutofit/>
            </a:bodyPr>
            <a:lstStyle/>
            <a:p>
              <a:pPr lvl="0" algn="ctr">
                <a:buClrTx/>
                <a:buSzTx/>
                <a:buFontTx/>
                <a:defRPr>
                  <a:latin typeface="微软雅黑"/>
                  <a:ea typeface="微软雅黑"/>
                  <a:cs typeface="微软雅黑"/>
                </a:defRPr>
              </a:pPr>
              <a:endParaRPr lang="zh-CN" altLang="en-US" sz="1200">
                <a:solidFill>
                  <a:srgbClr val="0042FF"/>
                </a:solidFill>
                <a:latin typeface="微软雅黑"/>
                <a:ea typeface="微软雅黑"/>
                <a:cs typeface="微软雅黑"/>
                <a:sym typeface="微软雅黑"/>
              </a:endParaRPr>
            </a:p>
          </p:txBody>
        </p:sp>
        <p:sp>
          <p:nvSpPr>
            <p:cNvPr id="159" name="TextBox 138"/>
            <p:cNvSpPr txBox="1"/>
            <p:nvPr>
              <p:custDataLst>
                <p:tags r:id="rId173"/>
              </p:custDataLst>
            </p:nvPr>
          </p:nvSpPr>
          <p:spPr>
            <a:xfrm>
              <a:off x="15106" y="4849"/>
              <a:ext cx="2565" cy="584"/>
            </a:xfrm>
            <a:prstGeom prst="rect">
              <a:avLst/>
            </a:prstGeom>
            <a:noFill/>
            <a:ln>
              <a:noFill/>
            </a:ln>
          </p:spPr>
          <p:txBody>
            <a:bodyPr wrap="square" rtlCol="0" anchor="ctr" anchorCtr="0" lIns="0" rIns="0" tIns="0" bIns="0">
              <a:noAutofit/>
            </a:bodyPr>
            <a:lstStyle/>
            <a:p>
              <a:pPr marL="0" marR="0" lvl="0" indent="0" algn="ctr" defTabSz="50228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en-US" altLang="zh-CN" sz="1500" b="1" dirty="0">
                  <a:solidFill>
                    <a:srgbClr val="0042FF"/>
                  </a:solidFill>
                  <a:latin typeface="微软雅黑"/>
                  <a:ea typeface="微软雅黑"/>
                  <a:cs typeface="微软雅黑"/>
                </a:rPr>
                <a:t>KOC</a:t>
              </a:r>
              <a:r>
                <a:rPr lang="zh-CN" altLang="en-US" sz="1500" b="1" dirty="0">
                  <a:solidFill>
                    <a:srgbClr val="0042FF"/>
                  </a:solidFill>
                  <a:latin typeface="微软雅黑"/>
                  <a:ea typeface="微软雅黑"/>
                  <a:cs typeface="微软雅黑"/>
                </a:rPr>
                <a:t>分销</a:t>
              </a:r>
              <a:endParaRPr lang="zh-CN" altLang="en-US" sz="1500" b="1" dirty="0">
                <a:solidFill>
                  <a:srgbClr val="0042FF"/>
                </a:solidFill>
                <a:latin typeface="微软雅黑"/>
                <a:ea typeface="微软雅黑"/>
                <a:cs typeface="微软雅黑"/>
              </a:endParaRPr>
            </a:p>
          </p:txBody>
        </p:sp>
      </p:grpSp>
      <p:sp>
        <p:nvSpPr>
          <p:cNvPr id="162" name="textbox 524"/>
          <p:cNvSpPr/>
          <p:nvPr>
            <p:custDataLst>
              <p:tags r:id="rId174"/>
            </p:custDataLst>
          </p:nvPr>
        </p:nvSpPr>
        <p:spPr>
          <a:xfrm>
            <a:off x="307340" y="1677035"/>
            <a:ext cx="11513185" cy="3895725"/>
          </a:xfrm>
          <a:prstGeom prst="rect">
            <a:avLst/>
          </a:prstGeom>
          <a:noFill/>
          <a:ln w="12700" cap="flat" cmpd="sng" algn="ctr">
            <a:solidFill>
              <a:srgbClr val="3368FF"/>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grpSp>
        <p:nvGrpSpPr>
          <p:cNvPr id="163" name="组合 162"/>
          <p:cNvGrpSpPr/>
          <p:nvPr/>
        </p:nvGrpSpPr>
        <p:grpSpPr>
          <a:xfrm>
            <a:off x="7675245" y="347980"/>
            <a:ext cx="4588510" cy="367030"/>
            <a:chOff x="12087" y="-1089"/>
            <a:chExt cx="7226" cy="578"/>
          </a:xfrm>
        </p:grpSpPr>
        <p:pic>
          <p:nvPicPr>
            <p:cNvPr id="164" name="图片 163"/>
            <p:cNvPicPr>
              <a:picLocks noChangeAspect="1"/>
            </p:cNvPicPr>
            <p:nvPr userDrawn="1"/>
          </p:nvPicPr>
          <p:blipFill>
            <a:blip r:embed="rId175"/>
            <a:srcRect r="57320" b="-13333"/>
            <a:stretch>
              <a:fillRect/>
            </a:stretch>
          </p:blipFill>
          <p:spPr>
            <a:xfrm>
              <a:off x="12087" y="-1089"/>
              <a:ext cx="2548" cy="578"/>
            </a:xfrm>
            <a:prstGeom prst="rect">
              <a:avLst/>
            </a:prstGeom>
          </p:spPr>
        </p:pic>
        <p:sp>
          <p:nvSpPr>
            <p:cNvPr id="165" name="文本框 164"/>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屋顶架构</a:t>
            </a:r>
            <a:r>
              <a:rPr sz="2500">
                <a:solidFill>
                  <a:srgbClr val="0042FF"/>
                </a:solidFill>
                <a:latin typeface="微软雅黑"/>
                <a:ea typeface="微软雅黑"/>
                <a:cs typeface="微软雅黑"/>
              </a:rPr>
              <a:t> | </a:t>
            </a:r>
            <a:r>
              <a:rPr sz="2500">
                <a:solidFill>
                  <a:srgbClr val="383838"/>
                </a:solidFill>
                <a:effectLst/>
                <a:latin typeface="微软雅黑"/>
                <a:ea typeface="微软雅黑"/>
                <a:cs typeface="微软雅黑"/>
              </a:rPr>
              <a:t>会员全生命周期管理体系</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235" name="组合 234"/>
          <p:cNvGrpSpPr/>
          <p:nvPr/>
        </p:nvGrpSpPr>
        <p:grpSpPr>
          <a:xfrm>
            <a:off x="343535" y="1054100"/>
            <a:ext cx="11306175" cy="821055"/>
            <a:chOff x="698" y="2182"/>
            <a:chExt cx="17805" cy="1293"/>
          </a:xfrm>
        </p:grpSpPr>
        <p:sp>
          <p:nvSpPr>
            <p:cNvPr id="2" name="梯形 1"/>
            <p:cNvSpPr/>
            <p:nvPr/>
          </p:nvSpPr>
          <p:spPr>
            <a:xfrm>
              <a:off x="698" y="2679"/>
              <a:ext cx="17805" cy="796"/>
            </a:xfrm>
            <a:prstGeom prst="trapezoid">
              <a:avLst>
                <a:gd name="adj" fmla="val 355209"/>
              </a:avLst>
            </a:prstGeom>
            <a:gradFill flip="none" rotWithShape="1">
              <a:gsLst>
                <a:gs pos="0">
                  <a:srgbClr val="668EFF"/>
                </a:gs>
                <a:gs pos="100000">
                  <a:srgbClr val="E6E6E6"/>
                </a:gs>
              </a:gsLst>
              <a:lin ang="5400000" scaled="1"/>
              <a:tileRect/>
            </a:gradFill>
            <a:ln w="19050" cap="flat" cmpd="sng" algn="ctr">
              <a:gradFill flip="none" rotWithShape="1">
                <a:gsLst>
                  <a:gs pos="0">
                    <a:srgbClr val="0042FF"/>
                  </a:gs>
                  <a:gs pos="100000">
                    <a:srgbClr val="0042FF">
                      <a:alpha val="0"/>
                    </a:srgbClr>
                  </a:gs>
                </a:gsLst>
                <a:lin ang="16200000" scaled="1"/>
                <a:tileRect/>
              </a:gradFill>
              <a:prstDash val="solid"/>
              <a:miter lim="800000"/>
            </a:ln>
            <a:effectLst/>
          </p:spPr>
          <p:txBody>
            <a:bodyPr vert="horz" wrap="square" lIns="0" tIns="0" rIns="0" bIns="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2" name="紫荆的职场Point28"/>
            <p:cNvSpPr/>
            <p:nvPr/>
          </p:nvSpPr>
          <p:spPr>
            <a:xfrm>
              <a:off x="3331" y="2182"/>
              <a:ext cx="12411" cy="498"/>
            </a:xfrm>
            <a:prstGeom prst="triangle">
              <a:avLst>
                <a:gd name="adj" fmla="val 50434"/>
              </a:avLst>
            </a:prstGeom>
            <a:gradFill flip="none" rotWithShape="1">
              <a:gsLst>
                <a:gs pos="0">
                  <a:srgbClr val="668EFF"/>
                </a:gs>
                <a:gs pos="100000">
                  <a:srgbClr val="E6E6E6"/>
                </a:gs>
              </a:gsLst>
              <a:lin ang="5400000" scaled="1"/>
              <a:tileRect/>
            </a:gradFill>
            <a:ln w="19050" cap="flat" cmpd="sng" algn="ctr">
              <a:gradFill flip="none" rotWithShape="1">
                <a:gsLst>
                  <a:gs pos="0">
                    <a:srgbClr val="0042FF"/>
                  </a:gs>
                  <a:gs pos="100000">
                    <a:srgbClr val="0042FF">
                      <a:alpha val="0"/>
                    </a:srgbClr>
                  </a:gs>
                </a:gsLst>
                <a:lin ang="5400000" scaled="1"/>
                <a:tileRect/>
              </a:gradFill>
              <a:prstDash val="solid"/>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3" name="紫荆的职场Point28"/>
            <p:cNvSpPr/>
            <p:nvPr/>
          </p:nvSpPr>
          <p:spPr>
            <a:xfrm>
              <a:off x="2675" y="2182"/>
              <a:ext cx="13727" cy="1125"/>
            </a:xfrm>
            <a:prstGeom prst="triangle">
              <a:avLst/>
            </a:prstGeom>
            <a:gradFill flip="none" rotWithShape="1">
              <a:gsLst>
                <a:gs pos="0">
                  <a:srgbClr val="668EFF"/>
                </a:gs>
                <a:gs pos="100000">
                  <a:srgbClr val="E6E6E6"/>
                </a:gs>
              </a:gsLst>
              <a:lin ang="5400000" scaled="1"/>
              <a:tileRect/>
            </a:gradFill>
            <a:ln w="19050" cap="flat" cmpd="sng" algn="ctr">
              <a:gradFill flip="none" rotWithShape="1">
                <a:gsLst>
                  <a:gs pos="0">
                    <a:srgbClr val="0042FF"/>
                  </a:gs>
                  <a:gs pos="100000">
                    <a:srgbClr val="0042FF">
                      <a:alpha val="0"/>
                    </a:srgbClr>
                  </a:gs>
                </a:gsLst>
                <a:lin ang="5400000" scaled="1"/>
                <a:tileRect/>
              </a:gradFill>
              <a:prstDash val="solid"/>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4" name="文本框 233"/>
            <p:cNvSpPr txBox="1"/>
            <p:nvPr/>
          </p:nvSpPr>
          <p:spPr>
            <a:xfrm>
              <a:off x="6603" y="2679"/>
              <a:ext cx="5501" cy="628"/>
            </a:xfrm>
            <a:prstGeom prst="rect">
              <a:avLst/>
            </a:prstGeom>
            <a:noFill/>
          </p:spPr>
          <p:txBody>
            <a:bodyPr wrap="none">
              <a:spAutoFit/>
            </a:bodyPr>
            <a:lstStyle/>
            <a:p>
              <a:pPr algn="ctr">
                <a:defRPr>
                  <a:latin typeface="微软雅黑"/>
                  <a:ea typeface="微软雅黑"/>
                  <a:cs typeface="微软雅黑"/>
                </a:defRPr>
              </a:pPr>
              <a:r>
                <a:rPr lang="zh-CN" altLang="en-US" sz="2000" b="1" dirty="0">
                  <a:solidFill>
                    <a:srgbClr val="383838"/>
                  </a:solidFill>
                  <a:latin typeface="微软雅黑"/>
                  <a:ea typeface="微软雅黑"/>
                  <a:cs typeface="微软雅黑"/>
                </a:rPr>
                <a:t>会员全生命周期管理体系框架</a:t>
              </a:r>
              <a:endParaRPr lang="zh-CN" altLang="en-US" sz="2000" b="1" dirty="0">
                <a:solidFill>
                  <a:srgbClr val="383838"/>
                </a:solidFill>
                <a:latin typeface="微软雅黑"/>
                <a:ea typeface="微软雅黑"/>
                <a:cs typeface="微软雅黑"/>
              </a:endParaRPr>
            </a:p>
          </p:txBody>
        </p:sp>
      </p:grpSp>
      <p:sp>
        <p:nvSpPr>
          <p:cNvPr id="6" name="矩形 5"/>
          <p:cNvSpPr/>
          <p:nvPr/>
        </p:nvSpPr>
        <p:spPr>
          <a:xfrm>
            <a:off x="298450" y="1982470"/>
            <a:ext cx="1301115" cy="455295"/>
          </a:xfrm>
          <a:prstGeom prst="rect">
            <a:avLst/>
          </a:prstGeom>
          <a:gradFill>
            <a:gsLst>
              <a:gs pos="30000">
                <a:srgbClr val="E6E6E6">
                  <a:alpha val="58000"/>
                </a:srgbClr>
              </a:gs>
              <a:gs pos="100000">
                <a:srgbClr val="668EFF"/>
              </a:gs>
            </a:gsLst>
            <a:lin ang="162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a:solidFill>
                  <a:srgbClr val="383838"/>
                </a:solidFill>
                <a:sym typeface="微软雅黑"/>
                <a:latin typeface="微软雅黑"/>
                <a:ea typeface="微软雅黑"/>
                <a:cs typeface="微软雅黑"/>
              </a:rPr>
              <a:t>生命周期</a:t>
            </a:r>
            <a:endParaRPr lang="zh-CN" altLang="en-US" sz="1400" b="1">
              <a:solidFill>
                <a:srgbClr val="383838"/>
              </a:solidFill>
              <a:sym typeface="微软雅黑"/>
              <a:latin typeface="微软雅黑"/>
              <a:ea typeface="微软雅黑"/>
              <a:cs typeface="微软雅黑"/>
            </a:endParaRPr>
          </a:p>
        </p:txBody>
      </p:sp>
      <p:sp>
        <p:nvSpPr>
          <p:cNvPr id="7" name="矩形 6"/>
          <p:cNvSpPr/>
          <p:nvPr/>
        </p:nvSpPr>
        <p:spPr>
          <a:xfrm>
            <a:off x="298450" y="2510155"/>
            <a:ext cx="1310005" cy="1320165"/>
          </a:xfrm>
          <a:prstGeom prst="rect">
            <a:avLst/>
          </a:prstGeom>
          <a:gradFill flip="none" rotWithShape="1">
            <a:gsLst>
              <a:gs pos="23000">
                <a:srgbClr val="B3D4FE"/>
              </a:gs>
              <a:gs pos="100000">
                <a:srgbClr val="B3D4FE"/>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全链路会</a:t>
            </a:r>
            <a:endParaRPr lang="zh-CN" altLang="en-US" sz="1400" b="1"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员场景库</a:t>
            </a:r>
            <a:endParaRPr lang="zh-CN" altLang="en-US" sz="1400" b="1" dirty="0">
              <a:solidFill>
                <a:srgbClr val="383838"/>
              </a:solidFill>
              <a:latin typeface="微软雅黑"/>
              <a:ea typeface="微软雅黑"/>
              <a:cs typeface="微软雅黑"/>
              <a:sym typeface="微软雅黑"/>
            </a:endParaRPr>
          </a:p>
        </p:txBody>
      </p:sp>
      <p:grpSp>
        <p:nvGrpSpPr>
          <p:cNvPr id="18" name="组合 17"/>
          <p:cNvGrpSpPr/>
          <p:nvPr/>
        </p:nvGrpSpPr>
        <p:grpSpPr>
          <a:xfrm>
            <a:off x="1763395" y="1982470"/>
            <a:ext cx="9956165" cy="454660"/>
            <a:chOff x="2065" y="1928"/>
            <a:chExt cx="15679" cy="716"/>
          </a:xfrm>
          <a:solidFill>
            <a:srgbClr val="668EFF"/>
          </a:solidFill>
        </p:grpSpPr>
        <p:sp>
          <p:nvSpPr>
            <p:cNvPr id="12" name="箭头: 五边形 5"/>
            <p:cNvSpPr/>
            <p:nvPr/>
          </p:nvSpPr>
          <p:spPr>
            <a:xfrm>
              <a:off x="2065" y="1928"/>
              <a:ext cx="2670" cy="717"/>
            </a:xfrm>
            <a:prstGeom prst="homePlate">
              <a:avLst/>
            </a:prstGeom>
            <a:gradFill>
              <a:gsLst>
                <a:gs pos="30000">
                  <a:srgbClr val="E6E6E6">
                    <a:alpha val="58000"/>
                  </a:srgbClr>
                </a:gs>
                <a:gs pos="100000">
                  <a:srgbClr val="668EFF"/>
                </a:gs>
              </a:gsLst>
              <a:lin ang="162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a:solidFill>
                    <a:srgbClr val="383838"/>
                  </a:solidFill>
                  <a:sym typeface="微软雅黑"/>
                  <a:latin typeface="微软雅黑"/>
                  <a:ea typeface="微软雅黑"/>
                  <a:cs typeface="微软雅黑"/>
                </a:rPr>
                <a:t>①</a:t>
              </a:r>
              <a:r>
                <a:rPr lang="zh-CN" altLang="en-US" sz="1400" b="1">
                  <a:solidFill>
                    <a:srgbClr val="383838"/>
                  </a:solidFill>
                  <a:sym typeface="微软雅黑"/>
                  <a:latin typeface="微软雅黑"/>
                  <a:ea typeface="微软雅黑"/>
                  <a:cs typeface="微软雅黑"/>
                </a:rPr>
                <a:t> </a:t>
              </a:r>
              <a:r>
                <a:rPr lang="zh-CN" altLang="en-US" sz="1400" b="1">
                  <a:solidFill>
                    <a:srgbClr val="383838"/>
                  </a:solidFill>
                  <a:sym typeface="微软雅黑"/>
                  <a:latin typeface="微软雅黑"/>
                  <a:ea typeface="微软雅黑"/>
                  <a:cs typeface="微软雅黑"/>
                </a:rPr>
                <a:t>会员招募</a:t>
              </a:r>
              <a:endParaRPr lang="zh-CN" altLang="en-US" sz="1400" b="1">
                <a:solidFill>
                  <a:srgbClr val="383838"/>
                </a:solidFill>
                <a:sym typeface="微软雅黑"/>
                <a:latin typeface="微软雅黑"/>
                <a:ea typeface="微软雅黑"/>
                <a:cs typeface="微软雅黑"/>
              </a:endParaRPr>
            </a:p>
          </p:txBody>
        </p:sp>
        <p:sp>
          <p:nvSpPr>
            <p:cNvPr id="13" name="箭头: V 形 6"/>
            <p:cNvSpPr/>
            <p:nvPr/>
          </p:nvSpPr>
          <p:spPr>
            <a:xfrm>
              <a:off x="4555" y="1928"/>
              <a:ext cx="2781" cy="717"/>
            </a:xfrm>
            <a:prstGeom prst="chevron">
              <a:avLst/>
            </a:prstGeom>
            <a:gradFill>
              <a:gsLst>
                <a:gs pos="30000">
                  <a:srgbClr val="E6E6E6">
                    <a:alpha val="58000"/>
                  </a:srgbClr>
                </a:gs>
                <a:gs pos="100000">
                  <a:srgbClr val="668EFF"/>
                </a:gs>
              </a:gsLst>
              <a:lin ang="162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a:solidFill>
                    <a:srgbClr val="383838"/>
                  </a:solidFill>
                  <a:sym typeface="微软雅黑"/>
                  <a:latin typeface="微软雅黑"/>
                  <a:ea typeface="微软雅黑"/>
                  <a:cs typeface="微软雅黑"/>
                </a:rPr>
                <a:t>②</a:t>
              </a:r>
              <a:r>
                <a:rPr lang="zh-CN" altLang="en-US" sz="1400" b="1">
                  <a:solidFill>
                    <a:srgbClr val="383838"/>
                  </a:solidFill>
                  <a:sym typeface="微软雅黑"/>
                  <a:latin typeface="微软雅黑"/>
                  <a:ea typeface="微软雅黑"/>
                  <a:cs typeface="微软雅黑"/>
                </a:rPr>
                <a:t> </a:t>
              </a:r>
              <a:r>
                <a:rPr lang="zh-CN" altLang="en-US" sz="1400" b="1">
                  <a:solidFill>
                    <a:srgbClr val="383838"/>
                  </a:solidFill>
                  <a:sym typeface="微软雅黑"/>
                  <a:latin typeface="微软雅黑"/>
                  <a:ea typeface="微软雅黑"/>
                  <a:cs typeface="微软雅黑"/>
                </a:rPr>
                <a:t>会员激活</a:t>
              </a:r>
              <a:endParaRPr lang="zh-CN" altLang="en-US" sz="1400" b="1">
                <a:solidFill>
                  <a:srgbClr val="383838"/>
                </a:solidFill>
                <a:sym typeface="微软雅黑"/>
                <a:latin typeface="微软雅黑"/>
                <a:ea typeface="微软雅黑"/>
                <a:cs typeface="微软雅黑"/>
              </a:endParaRPr>
            </a:p>
          </p:txBody>
        </p:sp>
        <p:sp>
          <p:nvSpPr>
            <p:cNvPr id="14" name="箭头: V 形 7"/>
            <p:cNvSpPr/>
            <p:nvPr/>
          </p:nvSpPr>
          <p:spPr>
            <a:xfrm>
              <a:off x="7157" y="1928"/>
              <a:ext cx="2781" cy="717"/>
            </a:xfrm>
            <a:prstGeom prst="chevron">
              <a:avLst/>
            </a:prstGeom>
            <a:gradFill>
              <a:gsLst>
                <a:gs pos="30000">
                  <a:srgbClr val="E6E6E6">
                    <a:alpha val="58000"/>
                  </a:srgbClr>
                </a:gs>
                <a:gs pos="100000">
                  <a:srgbClr val="668EFF"/>
                </a:gs>
              </a:gsLst>
              <a:lin ang="162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a:solidFill>
                    <a:srgbClr val="383838"/>
                  </a:solidFill>
                  <a:sym typeface="微软雅黑"/>
                  <a:latin typeface="微软雅黑"/>
                  <a:ea typeface="微软雅黑"/>
                  <a:cs typeface="微软雅黑"/>
                </a:rPr>
                <a:t>③</a:t>
              </a:r>
              <a:r>
                <a:rPr lang="zh-CN" altLang="en-US" sz="1400" b="1">
                  <a:solidFill>
                    <a:srgbClr val="383838"/>
                  </a:solidFill>
                  <a:sym typeface="微软雅黑"/>
                  <a:latin typeface="微软雅黑"/>
                  <a:ea typeface="微软雅黑"/>
                  <a:cs typeface="微软雅黑"/>
                </a:rPr>
                <a:t> </a:t>
              </a:r>
              <a:r>
                <a:rPr lang="zh-CN" altLang="en-US" sz="1400" b="1">
                  <a:solidFill>
                    <a:srgbClr val="383838"/>
                  </a:solidFill>
                  <a:sym typeface="微软雅黑"/>
                  <a:latin typeface="微软雅黑"/>
                  <a:ea typeface="微软雅黑"/>
                  <a:cs typeface="微软雅黑"/>
                </a:rPr>
                <a:t>会员活跃</a:t>
              </a:r>
              <a:endParaRPr lang="zh-CN" altLang="en-US" sz="1400" b="1">
                <a:solidFill>
                  <a:srgbClr val="383838"/>
                </a:solidFill>
                <a:sym typeface="微软雅黑"/>
                <a:latin typeface="微软雅黑"/>
                <a:ea typeface="微软雅黑"/>
                <a:cs typeface="微软雅黑"/>
              </a:endParaRPr>
            </a:p>
          </p:txBody>
        </p:sp>
        <p:sp>
          <p:nvSpPr>
            <p:cNvPr id="15" name="箭头: V 形 8"/>
            <p:cNvSpPr/>
            <p:nvPr/>
          </p:nvSpPr>
          <p:spPr>
            <a:xfrm>
              <a:off x="9759" y="1928"/>
              <a:ext cx="2781" cy="717"/>
            </a:xfrm>
            <a:prstGeom prst="chevron">
              <a:avLst/>
            </a:prstGeom>
            <a:gradFill>
              <a:gsLst>
                <a:gs pos="30000">
                  <a:srgbClr val="E6E6E6">
                    <a:alpha val="58000"/>
                  </a:srgbClr>
                </a:gs>
                <a:gs pos="100000">
                  <a:srgbClr val="668EFF"/>
                </a:gs>
              </a:gsLst>
              <a:lin ang="162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a:solidFill>
                    <a:srgbClr val="383838"/>
                  </a:solidFill>
                  <a:sym typeface="微软雅黑"/>
                  <a:latin typeface="微软雅黑"/>
                  <a:ea typeface="微软雅黑"/>
                  <a:cs typeface="微软雅黑"/>
                </a:rPr>
                <a:t>④</a:t>
              </a:r>
              <a:r>
                <a:rPr lang="zh-CN" altLang="en-US" sz="1400" b="1">
                  <a:solidFill>
                    <a:srgbClr val="383838"/>
                  </a:solidFill>
                  <a:sym typeface="微软雅黑"/>
                  <a:latin typeface="微软雅黑"/>
                  <a:ea typeface="微软雅黑"/>
                  <a:cs typeface="微软雅黑"/>
                </a:rPr>
                <a:t> </a:t>
              </a:r>
              <a:r>
                <a:rPr lang="zh-CN" altLang="en-US" sz="1400" b="1">
                  <a:solidFill>
                    <a:srgbClr val="383838"/>
                  </a:solidFill>
                  <a:sym typeface="微软雅黑"/>
                  <a:latin typeface="微软雅黑"/>
                  <a:ea typeface="微软雅黑"/>
                  <a:cs typeface="微软雅黑"/>
                </a:rPr>
                <a:t>会员升级</a:t>
              </a:r>
              <a:endParaRPr lang="zh-CN" altLang="en-US" sz="1400" b="1">
                <a:solidFill>
                  <a:srgbClr val="383838"/>
                </a:solidFill>
                <a:sym typeface="微软雅黑"/>
                <a:latin typeface="微软雅黑"/>
                <a:ea typeface="微软雅黑"/>
                <a:cs typeface="微软雅黑"/>
              </a:endParaRPr>
            </a:p>
          </p:txBody>
        </p:sp>
        <p:sp>
          <p:nvSpPr>
            <p:cNvPr id="16" name="箭头: V 形 9"/>
            <p:cNvSpPr/>
            <p:nvPr/>
          </p:nvSpPr>
          <p:spPr>
            <a:xfrm>
              <a:off x="12362" y="1928"/>
              <a:ext cx="2781" cy="717"/>
            </a:xfrm>
            <a:prstGeom prst="chevron">
              <a:avLst/>
            </a:prstGeom>
            <a:gradFill>
              <a:gsLst>
                <a:gs pos="30000">
                  <a:srgbClr val="E6E6E6">
                    <a:alpha val="58000"/>
                  </a:srgbClr>
                </a:gs>
                <a:gs pos="100000">
                  <a:srgbClr val="668EFF"/>
                </a:gs>
              </a:gsLst>
              <a:lin ang="162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a:solidFill>
                    <a:srgbClr val="383838"/>
                  </a:solidFill>
                  <a:sym typeface="微软雅黑"/>
                  <a:latin typeface="微软雅黑"/>
                  <a:ea typeface="微软雅黑"/>
                  <a:cs typeface="微软雅黑"/>
                </a:rPr>
                <a:t>⑤</a:t>
              </a:r>
              <a:r>
                <a:rPr lang="zh-CN" altLang="en-US" sz="1400" b="1">
                  <a:solidFill>
                    <a:srgbClr val="383838"/>
                  </a:solidFill>
                  <a:sym typeface="微软雅黑"/>
                  <a:latin typeface="微软雅黑"/>
                  <a:ea typeface="微软雅黑"/>
                  <a:cs typeface="微软雅黑"/>
                </a:rPr>
                <a:t> </a:t>
              </a:r>
              <a:r>
                <a:rPr lang="zh-CN" altLang="en-US" sz="1400" b="1">
                  <a:solidFill>
                    <a:srgbClr val="383838"/>
                  </a:solidFill>
                  <a:sym typeface="微软雅黑"/>
                  <a:latin typeface="微软雅黑"/>
                  <a:ea typeface="微软雅黑"/>
                  <a:cs typeface="微软雅黑"/>
                </a:rPr>
                <a:t>会员续费</a:t>
              </a:r>
              <a:endParaRPr lang="zh-CN" altLang="en-US" sz="1400" b="1">
                <a:solidFill>
                  <a:srgbClr val="383838"/>
                </a:solidFill>
                <a:sym typeface="微软雅黑"/>
                <a:latin typeface="微软雅黑"/>
                <a:ea typeface="微软雅黑"/>
                <a:cs typeface="微软雅黑"/>
              </a:endParaRPr>
            </a:p>
          </p:txBody>
        </p:sp>
        <p:sp>
          <p:nvSpPr>
            <p:cNvPr id="17" name="箭头: V 形 10"/>
            <p:cNvSpPr/>
            <p:nvPr/>
          </p:nvSpPr>
          <p:spPr>
            <a:xfrm>
              <a:off x="14964" y="1928"/>
              <a:ext cx="2781" cy="717"/>
            </a:xfrm>
            <a:prstGeom prst="chevron">
              <a:avLst/>
            </a:prstGeom>
            <a:gradFill>
              <a:gsLst>
                <a:gs pos="30000">
                  <a:srgbClr val="E6E6E6">
                    <a:alpha val="58000"/>
                  </a:srgbClr>
                </a:gs>
                <a:gs pos="100000">
                  <a:srgbClr val="668EFF"/>
                </a:gs>
              </a:gsLst>
              <a:lin ang="16200000" scaled="1"/>
            </a:gradFill>
            <a:ln>
              <a:solidFill>
                <a:srgbClr val="668E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a:solidFill>
                    <a:srgbClr val="383838"/>
                  </a:solidFill>
                  <a:sym typeface="微软雅黑"/>
                  <a:latin typeface="微软雅黑"/>
                  <a:ea typeface="微软雅黑"/>
                  <a:cs typeface="微软雅黑"/>
                </a:rPr>
                <a:t>⑥</a:t>
              </a:r>
              <a:r>
                <a:rPr lang="zh-CN" altLang="en-US" sz="1400" b="1">
                  <a:solidFill>
                    <a:srgbClr val="383838"/>
                  </a:solidFill>
                  <a:sym typeface="微软雅黑"/>
                  <a:latin typeface="微软雅黑"/>
                  <a:ea typeface="微软雅黑"/>
                  <a:cs typeface="微软雅黑"/>
                </a:rPr>
                <a:t> </a:t>
              </a:r>
              <a:r>
                <a:rPr lang="zh-CN" altLang="en-US" sz="1400" b="1">
                  <a:solidFill>
                    <a:srgbClr val="383838"/>
                  </a:solidFill>
                  <a:sym typeface="微软雅黑"/>
                  <a:latin typeface="微软雅黑"/>
                  <a:ea typeface="微软雅黑"/>
                  <a:cs typeface="微软雅黑"/>
                </a:rPr>
                <a:t>会员召回</a:t>
              </a:r>
              <a:endParaRPr lang="zh-CN" altLang="en-US" sz="1400" b="1">
                <a:solidFill>
                  <a:srgbClr val="383838"/>
                </a:solidFill>
                <a:sym typeface="微软雅黑"/>
                <a:latin typeface="微软雅黑"/>
                <a:ea typeface="微软雅黑"/>
                <a:cs typeface="微软雅黑"/>
              </a:endParaRPr>
            </a:p>
          </p:txBody>
        </p:sp>
      </p:grpSp>
      <p:sp>
        <p:nvSpPr>
          <p:cNvPr id="19" name="矩形 18"/>
          <p:cNvSpPr/>
          <p:nvPr/>
        </p:nvSpPr>
        <p:spPr>
          <a:xfrm>
            <a:off x="1763395" y="2510155"/>
            <a:ext cx="9956800" cy="1318895"/>
          </a:xfrm>
          <a:prstGeom prst="rect">
            <a:avLst/>
          </a:prstGeom>
          <a:solidFill>
            <a:srgbClr val="FFFFFF">
              <a:alpha val="20000"/>
            </a:srgbClr>
          </a:solidFill>
          <a:ln w="12700" cap="flat" cmpd="sng" algn="ctr">
            <a:solidFill>
              <a:srgbClr val="B3D4FE">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3" name="文本框 22"/>
          <p:cNvSpPr txBox="1"/>
          <p:nvPr/>
        </p:nvSpPr>
        <p:spPr>
          <a:xfrm>
            <a:off x="5650865" y="2546985"/>
            <a:ext cx="1813560" cy="337185"/>
          </a:xfrm>
          <a:prstGeom prst="rect">
            <a:avLst/>
          </a:prstGeom>
          <a:noFill/>
        </p:spPr>
        <p:txBody>
          <a:bodyPr wrap="none">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全链路会员场景库</a:t>
            </a:r>
            <a:endParaRPr lang="zh-CN" altLang="en-US" sz="1600" b="1" dirty="0">
              <a:solidFill>
                <a:srgbClr val="0042FF"/>
              </a:solidFill>
              <a:latin typeface="微软雅黑"/>
              <a:ea typeface="微软雅黑"/>
              <a:cs typeface="微软雅黑"/>
            </a:endParaRPr>
          </a:p>
        </p:txBody>
      </p:sp>
      <p:grpSp>
        <p:nvGrpSpPr>
          <p:cNvPr id="38" name="组合 37"/>
          <p:cNvGrpSpPr/>
          <p:nvPr/>
        </p:nvGrpSpPr>
        <p:grpSpPr>
          <a:xfrm>
            <a:off x="7391400" y="2631758"/>
            <a:ext cx="266700" cy="167640"/>
            <a:chOff x="11640" y="4125"/>
            <a:chExt cx="420" cy="264"/>
          </a:xfrm>
        </p:grpSpPr>
        <p:sp>
          <p:nvSpPr>
            <p:cNvPr id="318" name="菱形 317"/>
            <p:cNvSpPr/>
            <p:nvPr/>
          </p:nvSpPr>
          <p:spPr>
            <a:xfrm flipH="1" flipV="1">
              <a:off x="11640" y="4125"/>
              <a:ext cx="321" cy="264"/>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19" name="菱形 318"/>
            <p:cNvSpPr/>
            <p:nvPr/>
          </p:nvSpPr>
          <p:spPr>
            <a:xfrm flipH="1" flipV="1">
              <a:off x="11740" y="4125"/>
              <a:ext cx="321" cy="264"/>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32" name="矩形 31"/>
          <p:cNvSpPr/>
          <p:nvPr/>
        </p:nvSpPr>
        <p:spPr>
          <a:xfrm>
            <a:off x="6649085" y="2935605"/>
            <a:ext cx="4862195" cy="361950"/>
          </a:xfrm>
          <a:prstGeom prst="rect">
            <a:avLst/>
          </a:prstGeom>
          <a:solidFill>
            <a:srgbClr val="FFFFFF">
              <a:alpha val="20000"/>
            </a:srgbClr>
          </a:solidFill>
          <a:ln w="15875" cap="flat" cmpd="sng" algn="ctr">
            <a:solidFill>
              <a:srgbClr val="B3D4FE"/>
            </a:solidFill>
            <a:prstDash val="solid"/>
            <a:miter lim="800000"/>
          </a:ln>
          <a:effectLst/>
        </p:spPr>
        <p:txBody>
          <a:bodyPr rtlCol="0" anchor="ctr">
            <a:noAutofit/>
          </a:bodyPr>
          <a:lstStyle/>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会员端-专属体验升级</a:t>
            </a:r>
            <a:endParaRPr lang="zh-CN" altLang="en-US" sz="1400" b="1">
              <a:solidFill>
                <a:srgbClr val="0042FF"/>
              </a:solidFill>
              <a:latin typeface="微软雅黑"/>
              <a:ea typeface="微软雅黑"/>
              <a:cs typeface="微软雅黑"/>
              <a:sym typeface="微软雅黑"/>
            </a:endParaRPr>
          </a:p>
        </p:txBody>
      </p:sp>
      <p:sp>
        <p:nvSpPr>
          <p:cNvPr id="33" name="矩形 32"/>
          <p:cNvSpPr/>
          <p:nvPr/>
        </p:nvSpPr>
        <p:spPr>
          <a:xfrm>
            <a:off x="1987550" y="2920048"/>
            <a:ext cx="4269105" cy="393065"/>
          </a:xfrm>
          <a:prstGeom prst="rect">
            <a:avLst/>
          </a:prstGeom>
          <a:solidFill>
            <a:srgbClr val="FFFFFF">
              <a:alpha val="20000"/>
            </a:srgbClr>
          </a:solidFill>
          <a:ln w="15875" cap="flat" cmpd="sng" algn="ctr">
            <a:solidFill>
              <a:srgbClr val="B3D4FE"/>
            </a:solidFill>
            <a:prstDash val="solid"/>
            <a:miter lim="800000"/>
          </a:ln>
          <a:effectLst/>
        </p:spPr>
        <p:txBody>
          <a:bodyPr rtlCol="0" anchor="ctr">
            <a:noAutofit/>
          </a:bodyPr>
          <a:lstStyle/>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企业端-智能会员增长</a:t>
            </a:r>
            <a:endParaRPr lang="zh-CN" altLang="en-US" sz="1400" b="1">
              <a:solidFill>
                <a:srgbClr val="0042FF"/>
              </a:solidFill>
              <a:latin typeface="微软雅黑"/>
              <a:ea typeface="微软雅黑"/>
              <a:cs typeface="微软雅黑"/>
              <a:sym typeface="微软雅黑"/>
            </a:endParaRPr>
          </a:p>
        </p:txBody>
      </p:sp>
      <p:sp>
        <p:nvSpPr>
          <p:cNvPr id="34" name="矩形 33"/>
          <p:cNvSpPr/>
          <p:nvPr/>
        </p:nvSpPr>
        <p:spPr>
          <a:xfrm>
            <a:off x="298450" y="3905885"/>
            <a:ext cx="1310005" cy="1004570"/>
          </a:xfrm>
          <a:prstGeom prst="rect">
            <a:avLst/>
          </a:prstGeom>
          <a:gradFill flip="none" rotWithShape="1">
            <a:gsLst>
              <a:gs pos="23000">
                <a:srgbClr val="B3D4FE"/>
              </a:gs>
              <a:gs pos="100000">
                <a:srgbClr val="B3D4FE"/>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数据驱动</a:t>
            </a:r>
            <a:endParaRPr lang="zh-CN" altLang="en-US" sz="1400" b="1"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会员运营</a:t>
            </a:r>
            <a:endParaRPr lang="zh-CN" altLang="en-US" sz="1400" b="1" dirty="0">
              <a:solidFill>
                <a:srgbClr val="383838"/>
              </a:solidFill>
              <a:latin typeface="微软雅黑"/>
              <a:ea typeface="微软雅黑"/>
              <a:cs typeface="微软雅黑"/>
              <a:sym typeface="微软雅黑"/>
            </a:endParaRPr>
          </a:p>
        </p:txBody>
      </p:sp>
      <p:sp>
        <p:nvSpPr>
          <p:cNvPr id="57" name="矩形 56"/>
          <p:cNvSpPr/>
          <p:nvPr/>
        </p:nvSpPr>
        <p:spPr>
          <a:xfrm>
            <a:off x="298450" y="5045710"/>
            <a:ext cx="1310005" cy="1584325"/>
          </a:xfrm>
          <a:prstGeom prst="rect">
            <a:avLst/>
          </a:prstGeom>
          <a:gradFill flip="none" rotWithShape="1">
            <a:gsLst>
              <a:gs pos="23000">
                <a:srgbClr val="0042FF"/>
              </a:gs>
              <a:gs pos="100000">
                <a:srgbClr val="3368FF"/>
              </a:gs>
            </a:gsLst>
            <a:path path="circle">
              <a:fillToRect l="100000" t="100000"/>
            </a:path>
            <a:tileRect r="-100000" b="-100000"/>
          </a:gradFill>
          <a:ln w="38100">
            <a:no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技术支撑</a:t>
            </a:r>
            <a:endParaRPr lang="zh-CN" altLang="en-US" sz="1400" b="1" dirty="0">
              <a:solidFill>
                <a:srgbClr val="FFFFFF"/>
              </a:solidFill>
              <a:latin typeface="微软雅黑"/>
              <a:ea typeface="微软雅黑"/>
              <a:cs typeface="微软雅黑"/>
              <a:sym typeface="微软雅黑"/>
            </a:endParaRPr>
          </a:p>
        </p:txBody>
      </p:sp>
      <p:sp>
        <p:nvSpPr>
          <p:cNvPr id="98" name="矩形 97"/>
          <p:cNvSpPr/>
          <p:nvPr/>
        </p:nvSpPr>
        <p:spPr>
          <a:xfrm>
            <a:off x="1763395" y="3905885"/>
            <a:ext cx="2393950" cy="1004570"/>
          </a:xfrm>
          <a:prstGeom prst="rect">
            <a:avLst/>
          </a:prstGeom>
          <a:solidFill>
            <a:srgbClr val="FFFFFF">
              <a:alpha val="20000"/>
            </a:srgbClr>
          </a:solidFill>
          <a:ln w="12700" cap="flat" cmpd="sng" algn="ctr">
            <a:solidFill>
              <a:srgbClr val="B3D4FE">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1" name="矩形 20"/>
          <p:cNvSpPr/>
          <p:nvPr/>
        </p:nvSpPr>
        <p:spPr>
          <a:xfrm>
            <a:off x="4284345" y="3905885"/>
            <a:ext cx="2393950" cy="1004570"/>
          </a:xfrm>
          <a:prstGeom prst="rect">
            <a:avLst/>
          </a:prstGeom>
          <a:solidFill>
            <a:srgbClr val="FFFFFF">
              <a:alpha val="20000"/>
            </a:srgbClr>
          </a:solidFill>
          <a:ln w="12700" cap="flat" cmpd="sng" algn="ctr">
            <a:solidFill>
              <a:srgbClr val="B3D4FE">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2" name="矩形 21"/>
          <p:cNvSpPr/>
          <p:nvPr/>
        </p:nvSpPr>
        <p:spPr>
          <a:xfrm>
            <a:off x="6805295" y="3905885"/>
            <a:ext cx="2393950" cy="1004570"/>
          </a:xfrm>
          <a:prstGeom prst="rect">
            <a:avLst/>
          </a:prstGeom>
          <a:solidFill>
            <a:srgbClr val="FFFFFF">
              <a:alpha val="20000"/>
            </a:srgbClr>
          </a:solidFill>
          <a:ln w="12700" cap="flat" cmpd="sng" algn="ctr">
            <a:solidFill>
              <a:srgbClr val="B3D4FE">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49" name="矩形 48"/>
          <p:cNvSpPr/>
          <p:nvPr/>
        </p:nvSpPr>
        <p:spPr>
          <a:xfrm>
            <a:off x="9326245" y="3905885"/>
            <a:ext cx="2393950" cy="1004570"/>
          </a:xfrm>
          <a:prstGeom prst="rect">
            <a:avLst/>
          </a:prstGeom>
          <a:solidFill>
            <a:srgbClr val="FFFFFF">
              <a:alpha val="20000"/>
            </a:srgbClr>
          </a:solidFill>
          <a:ln w="12700" cap="flat" cmpd="sng" algn="ctr">
            <a:solidFill>
              <a:srgbClr val="B3D4FE">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64" name="文本框 63"/>
          <p:cNvSpPr txBox="1"/>
          <p:nvPr/>
        </p:nvSpPr>
        <p:spPr>
          <a:xfrm>
            <a:off x="2657475" y="4295140"/>
            <a:ext cx="1391285" cy="553085"/>
          </a:xfrm>
          <a:prstGeom prst="rect">
            <a:avLst/>
          </a:prstGeom>
          <a:noFill/>
        </p:spPr>
        <p:txBody>
          <a:bodyPr wrap="squar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基础属性（性别、地域）、消费偏好、行为标签。</a:t>
            </a:r>
            <a:endParaRPr lang="en-US" altLang="zh-CN" sz="1000" dirty="0">
              <a:solidFill>
                <a:srgbClr val="383838"/>
              </a:solidFill>
              <a:latin typeface="微软雅黑"/>
              <a:ea typeface="微软雅黑"/>
              <a:cs typeface="微软雅黑"/>
            </a:endParaRPr>
          </a:p>
        </p:txBody>
      </p:sp>
      <p:sp>
        <p:nvSpPr>
          <p:cNvPr id="66" name="文本框 65"/>
          <p:cNvSpPr txBox="1"/>
          <p:nvPr/>
        </p:nvSpPr>
        <p:spPr>
          <a:xfrm>
            <a:off x="2697480" y="3961765"/>
            <a:ext cx="1311275" cy="306705"/>
          </a:xfrm>
          <a:prstGeom prst="rect">
            <a:avLst/>
          </a:prstGeom>
          <a:noFill/>
        </p:spPr>
        <p:txBody>
          <a:bodyPr wrap="square">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会员画像洞察</a:t>
            </a:r>
            <a:endParaRPr lang="zh-CN" altLang="en-US" sz="1400" b="1" dirty="0">
              <a:solidFill>
                <a:srgbClr val="0042FF"/>
              </a:solidFill>
              <a:latin typeface="微软雅黑"/>
              <a:ea typeface="微软雅黑"/>
              <a:cs typeface="微软雅黑"/>
            </a:endParaRPr>
          </a:p>
        </p:txBody>
      </p:sp>
      <p:pic>
        <p:nvPicPr>
          <p:cNvPr id="67" name="图片 66" descr="客户画像 (1)"/>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15185" y="4171315"/>
            <a:ext cx="421640" cy="421640"/>
          </a:xfrm>
          <a:prstGeom prst="rect">
            <a:avLst/>
          </a:prstGeom>
        </p:spPr>
      </p:pic>
      <p:sp>
        <p:nvSpPr>
          <p:cNvPr id="71" name="文本框 70"/>
          <p:cNvSpPr txBox="1"/>
          <p:nvPr/>
        </p:nvSpPr>
        <p:spPr>
          <a:xfrm>
            <a:off x="5240020" y="3961765"/>
            <a:ext cx="1311275" cy="306705"/>
          </a:xfrm>
          <a:prstGeom prst="rect">
            <a:avLst/>
          </a:prstGeom>
          <a:noFill/>
        </p:spPr>
        <p:txBody>
          <a:bodyPr wrap="square">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行为深度分析</a:t>
            </a:r>
            <a:endParaRPr lang="zh-CN" altLang="en-US" sz="1400" b="1" dirty="0">
              <a:solidFill>
                <a:srgbClr val="0042FF"/>
              </a:solidFill>
              <a:latin typeface="微软雅黑"/>
              <a:ea typeface="微软雅黑"/>
              <a:cs typeface="微软雅黑"/>
            </a:endParaRPr>
          </a:p>
        </p:txBody>
      </p:sp>
      <p:pic>
        <p:nvPicPr>
          <p:cNvPr id="73" name="图片 72" descr="行为轨迹"/>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622800" y="4171315"/>
            <a:ext cx="487680" cy="385445"/>
          </a:xfrm>
          <a:prstGeom prst="rect">
            <a:avLst/>
          </a:prstGeom>
        </p:spPr>
      </p:pic>
      <p:sp>
        <p:nvSpPr>
          <p:cNvPr id="74" name="文本框 73"/>
          <p:cNvSpPr txBox="1"/>
          <p:nvPr/>
        </p:nvSpPr>
        <p:spPr>
          <a:xfrm>
            <a:off x="5193665" y="4295140"/>
            <a:ext cx="1455420" cy="553085"/>
          </a:xfrm>
          <a:prstGeom prst="rect">
            <a:avLst/>
          </a:prstGeom>
          <a:noFill/>
        </p:spPr>
        <p:txBody>
          <a:bodyPr wrap="square" lIns="0" rIns="0" tIns="0" bIns="0">
            <a:spAutoFit/>
          </a:bodyPr>
          <a:lstStyle/>
          <a:p>
            <a:pPr algn="l">
              <a:defRPr>
                <a:latin typeface="微软雅黑"/>
                <a:ea typeface="微软雅黑"/>
                <a:cs typeface="微软雅黑"/>
              </a:defRPr>
            </a:pPr>
            <a:r>
              <a:rPr lang="zh-CN" altLang="en-US" sz="1000" dirty="0">
                <a:solidFill>
                  <a:srgbClr val="383838"/>
                </a:solidFill>
                <a:latin typeface="微软雅黑"/>
                <a:ea typeface="微软雅黑"/>
                <a:cs typeface="微软雅黑"/>
              </a:rPr>
              <a:t>生命周期阶段识别（消费过程跟踪）、价值分层（</a:t>
            </a:r>
            <a:r>
              <a:rPr lang="en-US" altLang="zh-CN" sz="1000" dirty="0">
                <a:solidFill>
                  <a:srgbClr val="383838"/>
                </a:solidFill>
                <a:latin typeface="微软雅黑"/>
                <a:ea typeface="微软雅黑"/>
                <a:cs typeface="微软雅黑"/>
              </a:rPr>
              <a:t>RFM</a:t>
            </a:r>
            <a:r>
              <a:rPr lang="zh-CN" altLang="en-US" sz="1000" dirty="0">
                <a:solidFill>
                  <a:srgbClr val="383838"/>
                </a:solidFill>
                <a:latin typeface="微软雅黑"/>
                <a:ea typeface="微软雅黑"/>
                <a:cs typeface="微软雅黑"/>
              </a:rPr>
              <a:t>模型）</a:t>
            </a:r>
            <a:endParaRPr lang="zh-CN" altLang="en-US" sz="1000" dirty="0">
              <a:solidFill>
                <a:srgbClr val="383838"/>
              </a:solidFill>
              <a:latin typeface="微软雅黑"/>
              <a:ea typeface="微软雅黑"/>
              <a:cs typeface="微软雅黑"/>
            </a:endParaRPr>
          </a:p>
        </p:txBody>
      </p:sp>
      <p:sp>
        <p:nvSpPr>
          <p:cNvPr id="75" name="文本框 74"/>
          <p:cNvSpPr txBox="1"/>
          <p:nvPr/>
        </p:nvSpPr>
        <p:spPr>
          <a:xfrm>
            <a:off x="7806055" y="3974465"/>
            <a:ext cx="1311275" cy="306705"/>
          </a:xfrm>
          <a:prstGeom prst="rect">
            <a:avLst/>
          </a:prstGeom>
          <a:noFill/>
        </p:spPr>
        <p:txBody>
          <a:bodyPr wrap="square">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智能决策工具</a:t>
            </a:r>
            <a:endParaRPr lang="zh-CN" altLang="en-US" sz="1400" b="1" dirty="0">
              <a:solidFill>
                <a:srgbClr val="0042FF"/>
              </a:solidFill>
              <a:latin typeface="微软雅黑"/>
              <a:ea typeface="微软雅黑"/>
              <a:cs typeface="微软雅黑"/>
            </a:endParaRPr>
          </a:p>
        </p:txBody>
      </p:sp>
      <p:sp>
        <p:nvSpPr>
          <p:cNvPr id="76" name="文本框 75"/>
          <p:cNvSpPr txBox="1"/>
          <p:nvPr/>
        </p:nvSpPr>
        <p:spPr>
          <a:xfrm>
            <a:off x="7759700" y="4307840"/>
            <a:ext cx="1455420" cy="553085"/>
          </a:xfrm>
          <a:prstGeom prst="rect">
            <a:avLst/>
          </a:prstGeom>
          <a:noFill/>
        </p:spPr>
        <p:txBody>
          <a:bodyPr wrap="squar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续费率预测模型、流失风险评分、个性化权益匹配算法</a:t>
            </a:r>
            <a:endParaRPr lang="zh-CN" altLang="en-US" sz="1000" dirty="0">
              <a:solidFill>
                <a:srgbClr val="383838"/>
              </a:solidFill>
              <a:latin typeface="微软雅黑"/>
              <a:ea typeface="微软雅黑"/>
              <a:cs typeface="微软雅黑"/>
            </a:endParaRPr>
          </a:p>
        </p:txBody>
      </p:sp>
      <p:sp>
        <p:nvSpPr>
          <p:cNvPr id="77" name="文本框 76"/>
          <p:cNvSpPr txBox="1"/>
          <p:nvPr/>
        </p:nvSpPr>
        <p:spPr>
          <a:xfrm>
            <a:off x="10255885" y="3935095"/>
            <a:ext cx="1311275" cy="306705"/>
          </a:xfrm>
          <a:prstGeom prst="rect">
            <a:avLst/>
          </a:prstGeom>
          <a:noFill/>
        </p:spPr>
        <p:txBody>
          <a:bodyPr wrap="square">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实践驱动优化</a:t>
            </a:r>
            <a:endParaRPr lang="zh-CN" altLang="en-US" sz="1400" b="1" dirty="0">
              <a:solidFill>
                <a:srgbClr val="0042FF"/>
              </a:solidFill>
              <a:latin typeface="微软雅黑"/>
              <a:ea typeface="微软雅黑"/>
              <a:cs typeface="微软雅黑"/>
            </a:endParaRPr>
          </a:p>
        </p:txBody>
      </p:sp>
      <p:sp>
        <p:nvSpPr>
          <p:cNvPr id="79" name="文本框 78"/>
          <p:cNvSpPr txBox="1"/>
          <p:nvPr/>
        </p:nvSpPr>
        <p:spPr>
          <a:xfrm>
            <a:off x="10209530" y="4268470"/>
            <a:ext cx="1455420" cy="553085"/>
          </a:xfrm>
          <a:prstGeom prst="rect">
            <a:avLst/>
          </a:prstGeom>
          <a:noFill/>
        </p:spPr>
        <p:txBody>
          <a:bodyPr wrap="square" lIns="0" rIns="0" tIns="0" bIns="0">
            <a:spAutoFit/>
          </a:bodyPr>
          <a:lstStyle/>
          <a:p>
            <a:pPr algn="l">
              <a:defRPr>
                <a:latin typeface="微软雅黑"/>
                <a:ea typeface="微软雅黑"/>
                <a:cs typeface="微软雅黑"/>
              </a:defRPr>
            </a:pPr>
            <a:r>
              <a:rPr lang="en-US" altLang="zh-CN" sz="1000" dirty="0">
                <a:solidFill>
                  <a:srgbClr val="383838"/>
                </a:solidFill>
                <a:latin typeface="微软雅黑"/>
                <a:ea typeface="微软雅黑"/>
                <a:cs typeface="微软雅黑"/>
              </a:rPr>
              <a:t>A/B</a:t>
            </a:r>
            <a:r>
              <a:rPr lang="zh-CN" altLang="en-US" sz="1000" dirty="0">
                <a:solidFill>
                  <a:srgbClr val="383838"/>
                </a:solidFill>
                <a:latin typeface="微软雅黑"/>
                <a:ea typeface="微软雅黑"/>
                <a:cs typeface="微软雅黑"/>
              </a:rPr>
              <a:t>测试会员权益包、灰度发布新等级体系、线上创新活动发布</a:t>
            </a:r>
            <a:endParaRPr lang="zh-CN" altLang="en-US" sz="1000" dirty="0">
              <a:solidFill>
                <a:srgbClr val="383838"/>
              </a:solidFill>
              <a:latin typeface="微软雅黑"/>
              <a:ea typeface="微软雅黑"/>
              <a:cs typeface="微软雅黑"/>
            </a:endParaRPr>
          </a:p>
        </p:txBody>
      </p:sp>
      <p:pic>
        <p:nvPicPr>
          <p:cNvPr id="80" name="图片 79" descr="icon_ 一体化分析表 Integrated"/>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9554210" y="4171315"/>
            <a:ext cx="513715" cy="513715"/>
          </a:xfrm>
          <a:prstGeom prst="rect">
            <a:avLst/>
          </a:prstGeom>
        </p:spPr>
      </p:pic>
      <p:pic>
        <p:nvPicPr>
          <p:cNvPr id="81" name="图片 80" descr="flowDone"/>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056120" y="4171315"/>
            <a:ext cx="506730" cy="506730"/>
          </a:xfrm>
          <a:prstGeom prst="rect">
            <a:avLst/>
          </a:prstGeom>
        </p:spPr>
      </p:pic>
      <p:sp>
        <p:nvSpPr>
          <p:cNvPr id="83" name="圆角矩形 11"/>
          <p:cNvSpPr/>
          <p:nvPr/>
        </p:nvSpPr>
        <p:spPr>
          <a:xfrm>
            <a:off x="1763395" y="5923915"/>
            <a:ext cx="9956165" cy="706755"/>
          </a:xfrm>
          <a:prstGeom prst="roundRect">
            <a:avLst>
              <a:gd name="adj" fmla="val 0"/>
            </a:avLst>
          </a:prstGeom>
          <a:solidFill>
            <a:srgbClr val="0042FF">
              <a:alpha val="5000"/>
            </a:srgbClr>
          </a:solidFill>
          <a:ln w="12700" cap="flat" cmpd="sng" algn="ctr">
            <a:solidFill>
              <a:srgbClr val="0042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sym typeface="微软雅黑"/>
            </a:endParaRPr>
          </a:p>
        </p:txBody>
      </p:sp>
      <p:grpSp>
        <p:nvGrpSpPr>
          <p:cNvPr id="150" name="组合 149"/>
          <p:cNvGrpSpPr/>
          <p:nvPr/>
        </p:nvGrpSpPr>
        <p:grpSpPr>
          <a:xfrm>
            <a:off x="2015490" y="6101715"/>
            <a:ext cx="1706880" cy="372745"/>
            <a:chOff x="3174" y="9609"/>
            <a:chExt cx="2688" cy="587"/>
          </a:xfrm>
          <a:solidFill>
            <a:srgbClr val="0042FF"/>
          </a:solidFill>
        </p:grpSpPr>
        <p:sp>
          <p:nvSpPr>
            <p:cNvPr id="141" name="圆柱体 499"/>
            <p:cNvSpPr/>
            <p:nvPr/>
          </p:nvSpPr>
          <p:spPr>
            <a:xfrm>
              <a:off x="3174" y="9609"/>
              <a:ext cx="2688" cy="587"/>
            </a:xfrm>
            <a:prstGeom prst="can">
              <a:avLst>
                <a:gd name="adj" fmla="val 26575"/>
              </a:avLst>
            </a:prstGeom>
            <a:grp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45" name="文本框 144"/>
            <p:cNvSpPr txBox="1"/>
            <p:nvPr/>
          </p:nvSpPr>
          <p:spPr>
            <a:xfrm>
              <a:off x="3523" y="9791"/>
              <a:ext cx="1985" cy="386"/>
            </a:xfrm>
            <a:prstGeom prst="rect">
              <a:avLst/>
            </a:prstGeom>
            <a:grpFill/>
          </p:spPr>
          <p:txBody>
            <a:bodyPr wrap="square" rtlCol="0" lIns="0" rIns="0" tIns="0" bIns="0">
              <a:spAutoFit/>
            </a:bodyPr>
            <a:lstStyle/>
            <a:p>
              <a:pPr algn="ctr">
                <a:defRPr>
                  <a:solidFill>
                    <a:srgbClr val="FFFFFF"/>
                  </a:solidFill>
                  <a:latin typeface="微软雅黑"/>
                  <a:ea typeface="微软雅黑"/>
                  <a:cs typeface="微软雅黑"/>
                </a:defRPr>
              </a:pPr>
              <a:r>
                <a:rPr lang="en-US" altLang="zh-CN" sz="1000" dirty="0">
                  <a:solidFill>
                    <a:srgbClr val="FFFFFF"/>
                  </a:solidFill>
                  <a:latin typeface="微软雅黑"/>
                  <a:ea typeface="微软雅黑"/>
                  <a:cs typeface="微软雅黑"/>
                </a:rPr>
                <a:t>CRM</a:t>
              </a:r>
              <a:r>
                <a:rPr lang="zh-CN" altLang="en-US" sz="1000" dirty="0">
                  <a:solidFill>
                    <a:srgbClr val="FFFFFF"/>
                  </a:solidFill>
                  <a:latin typeface="微软雅黑"/>
                  <a:ea typeface="微软雅黑"/>
                  <a:cs typeface="微软雅黑"/>
                </a:rPr>
                <a:t>会员管理系统</a:t>
              </a:r>
              <a:endParaRPr lang="zh-CN" altLang="en-US" sz="1000" dirty="0">
                <a:solidFill>
                  <a:srgbClr val="FFFFFF"/>
                </a:solidFill>
                <a:latin typeface="微软雅黑"/>
                <a:ea typeface="微软雅黑"/>
                <a:cs typeface="微软雅黑"/>
              </a:endParaRPr>
            </a:p>
          </p:txBody>
        </p:sp>
      </p:grpSp>
      <p:grpSp>
        <p:nvGrpSpPr>
          <p:cNvPr id="151" name="组合 150"/>
          <p:cNvGrpSpPr/>
          <p:nvPr/>
        </p:nvGrpSpPr>
        <p:grpSpPr>
          <a:xfrm>
            <a:off x="3969385" y="6101715"/>
            <a:ext cx="1706880" cy="372745"/>
            <a:chOff x="3174" y="9609"/>
            <a:chExt cx="2688" cy="587"/>
          </a:xfrm>
          <a:solidFill>
            <a:srgbClr val="0042FF"/>
          </a:solidFill>
        </p:grpSpPr>
        <p:sp>
          <p:nvSpPr>
            <p:cNvPr id="152" name="圆柱体 499"/>
            <p:cNvSpPr/>
            <p:nvPr/>
          </p:nvSpPr>
          <p:spPr>
            <a:xfrm>
              <a:off x="3174" y="9609"/>
              <a:ext cx="2688" cy="587"/>
            </a:xfrm>
            <a:prstGeom prst="can">
              <a:avLst>
                <a:gd name="adj" fmla="val 26575"/>
              </a:avLst>
            </a:prstGeom>
            <a:grp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53" name="文本框 152"/>
            <p:cNvSpPr txBox="1"/>
            <p:nvPr/>
          </p:nvSpPr>
          <p:spPr>
            <a:xfrm>
              <a:off x="3552" y="9791"/>
              <a:ext cx="2061" cy="386"/>
            </a:xfrm>
            <a:prstGeom prst="rect">
              <a:avLst/>
            </a:prstGeom>
            <a:grpFill/>
          </p:spPr>
          <p:txBody>
            <a:bodyPr wrap="square" rtlCol="0" lIns="0" rIns="0" tIns="0" bIns="0">
              <a:spAutoFit/>
            </a:bodyPr>
            <a:lstStyle/>
            <a:p>
              <a:pPr lvl="0" algn="ctr">
                <a:buClrTx/>
                <a:buSzTx/>
                <a:buFontTx/>
                <a:defRPr>
                  <a:solidFill>
                    <a:srgbClr val="FFFFFF"/>
                  </a:solidFill>
                  <a:latin typeface="微软雅黑"/>
                  <a:ea typeface="微软雅黑"/>
                  <a:cs typeface="微软雅黑"/>
                </a:defRPr>
              </a:pPr>
              <a:r>
                <a:rPr lang="en-US" altLang="zh-CN" sz="1000" dirty="0">
                  <a:solidFill>
                    <a:srgbClr val="FFFFFF"/>
                  </a:solidFill>
                  <a:latin typeface="微软雅黑"/>
                  <a:ea typeface="微软雅黑"/>
                  <a:cs typeface="微软雅黑"/>
                  <a:sym typeface="微软雅黑"/>
                </a:rPr>
                <a:t>ERP业务生产系统</a:t>
              </a:r>
              <a:endParaRPr lang="en-US" altLang="zh-CN" sz="1000" dirty="0">
                <a:solidFill>
                  <a:srgbClr val="FFFFFF"/>
                </a:solidFill>
                <a:latin typeface="微软雅黑"/>
                <a:ea typeface="微软雅黑"/>
                <a:cs typeface="微软雅黑"/>
                <a:sym typeface="微软雅黑"/>
              </a:endParaRPr>
            </a:p>
          </p:txBody>
        </p:sp>
      </p:grpSp>
      <p:sp>
        <p:nvSpPr>
          <p:cNvPr id="155" name="圆柱体 499"/>
          <p:cNvSpPr/>
          <p:nvPr/>
        </p:nvSpPr>
        <p:spPr>
          <a:xfrm>
            <a:off x="5923280" y="6101715"/>
            <a:ext cx="1706880" cy="372745"/>
          </a:xfrm>
          <a:prstGeom prst="can">
            <a:avLst>
              <a:gd name="adj" fmla="val 26575"/>
            </a:avLst>
          </a:prstGeom>
          <a:solidFill>
            <a:srgbClr val="0042FF"/>
          </a:soli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58" name="圆柱体 499"/>
          <p:cNvSpPr/>
          <p:nvPr/>
        </p:nvSpPr>
        <p:spPr>
          <a:xfrm>
            <a:off x="7877175" y="6101715"/>
            <a:ext cx="1706880" cy="372745"/>
          </a:xfrm>
          <a:prstGeom prst="can">
            <a:avLst>
              <a:gd name="adj" fmla="val 26575"/>
            </a:avLst>
          </a:prstGeom>
          <a:solidFill>
            <a:srgbClr val="0042FF"/>
          </a:soli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61" name="圆柱体 499"/>
          <p:cNvSpPr/>
          <p:nvPr/>
        </p:nvSpPr>
        <p:spPr>
          <a:xfrm>
            <a:off x="9831070" y="6101715"/>
            <a:ext cx="1706880" cy="372745"/>
          </a:xfrm>
          <a:prstGeom prst="can">
            <a:avLst>
              <a:gd name="adj" fmla="val 26575"/>
            </a:avLst>
          </a:prstGeom>
          <a:solidFill>
            <a:srgbClr val="0042FF"/>
          </a:soli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solidFill>
                  <a:srgbClr val="FFFFFF"/>
                </a:solidFill>
                <a:latin typeface="微软雅黑"/>
                <a:ea typeface="微软雅黑"/>
                <a:cs typeface="微软雅黑"/>
              </a:defRPr>
            </a:pPr>
            <a:endParaRPr lang="zh-CN" altLang="en-US" sz="1000" b="1" dirty="0">
              <a:solidFill>
                <a:srgbClr val="FFFFFF"/>
              </a:solidFill>
              <a:latin typeface="微软雅黑"/>
              <a:ea typeface="微软雅黑"/>
              <a:cs typeface="微软雅黑"/>
            </a:endParaRPr>
          </a:p>
        </p:txBody>
      </p:sp>
      <p:sp>
        <p:nvSpPr>
          <p:cNvPr id="163" name="圆角矩形 11"/>
          <p:cNvSpPr/>
          <p:nvPr/>
        </p:nvSpPr>
        <p:spPr>
          <a:xfrm>
            <a:off x="1764030" y="5045710"/>
            <a:ext cx="9956165" cy="805180"/>
          </a:xfrm>
          <a:prstGeom prst="roundRect">
            <a:avLst>
              <a:gd name="adj" fmla="val 0"/>
            </a:avLst>
          </a:prstGeom>
          <a:solidFill>
            <a:srgbClr val="0042FF">
              <a:alpha val="5000"/>
            </a:srgbClr>
          </a:solidFill>
          <a:ln w="12700" cap="flat" cmpd="sng" algn="ctr">
            <a:solidFill>
              <a:srgbClr val="0042FF">
                <a:alpha val="70000"/>
              </a:srgbClr>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a:solidFill>
                <a:srgbClr val="383838"/>
              </a:solidFill>
              <a:latin typeface="微软雅黑"/>
              <a:ea typeface="微软雅黑"/>
              <a:cs typeface="微软雅黑"/>
              <a:sym typeface="微软雅黑"/>
            </a:endParaRPr>
          </a:p>
        </p:txBody>
      </p:sp>
      <p:sp>
        <p:nvSpPr>
          <p:cNvPr id="240" name="右箭头 239"/>
          <p:cNvSpPr/>
          <p:nvPr/>
        </p:nvSpPr>
        <p:spPr>
          <a:xfrm rot="16200000" flipV="1">
            <a:off x="2440305"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en-US" altLang="zh-CN">
              <a:solidFill>
                <a:srgbClr val="383838"/>
              </a:solidFill>
              <a:cs typeface="微软雅黑"/>
              <a:latin typeface="微软雅黑"/>
              <a:ea typeface="微软雅黑"/>
            </a:endParaRPr>
          </a:p>
        </p:txBody>
      </p:sp>
      <p:sp>
        <p:nvSpPr>
          <p:cNvPr id="241" name="右箭头 240"/>
          <p:cNvSpPr/>
          <p:nvPr/>
        </p:nvSpPr>
        <p:spPr>
          <a:xfrm rot="16200000" flipV="1">
            <a:off x="3013710"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2" name="右箭头 241"/>
          <p:cNvSpPr/>
          <p:nvPr/>
        </p:nvSpPr>
        <p:spPr>
          <a:xfrm rot="16200000" flipV="1">
            <a:off x="4394200"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3" name="右箭头 242"/>
          <p:cNvSpPr/>
          <p:nvPr/>
        </p:nvSpPr>
        <p:spPr>
          <a:xfrm rot="16200000" flipV="1">
            <a:off x="4967605"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4" name="右箭头 243"/>
          <p:cNvSpPr/>
          <p:nvPr/>
        </p:nvSpPr>
        <p:spPr>
          <a:xfrm rot="16200000" flipV="1">
            <a:off x="6330950"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5" name="右箭头 244"/>
          <p:cNvSpPr/>
          <p:nvPr/>
        </p:nvSpPr>
        <p:spPr>
          <a:xfrm rot="16200000" flipV="1">
            <a:off x="6904355"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6" name="右箭头 245"/>
          <p:cNvSpPr/>
          <p:nvPr/>
        </p:nvSpPr>
        <p:spPr>
          <a:xfrm rot="16200000" flipV="1">
            <a:off x="8315325"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7" name="右箭头 246"/>
          <p:cNvSpPr/>
          <p:nvPr/>
        </p:nvSpPr>
        <p:spPr>
          <a:xfrm rot="16200000" flipV="1">
            <a:off x="8888730"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8" name="右箭头 247"/>
          <p:cNvSpPr/>
          <p:nvPr/>
        </p:nvSpPr>
        <p:spPr>
          <a:xfrm rot="16200000" flipV="1">
            <a:off x="10255250"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49" name="右箭头 248"/>
          <p:cNvSpPr/>
          <p:nvPr/>
        </p:nvSpPr>
        <p:spPr>
          <a:xfrm rot="16200000" flipV="1">
            <a:off x="10828655" y="5800725"/>
            <a:ext cx="250825" cy="249555"/>
          </a:xfrm>
          <a:prstGeom prst="rightArrow">
            <a:avLst>
              <a:gd name="adj1" fmla="val 39783"/>
              <a:gd name="adj2" fmla="val 41835"/>
            </a:avLst>
          </a:prstGeom>
          <a:gradFill>
            <a:gsLst>
              <a:gs pos="0">
                <a:srgbClr val="0042FF">
                  <a:alpha val="0"/>
                </a:srgbClr>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cs typeface="微软雅黑"/>
              <a:sym typeface="微软雅黑"/>
              <a:latin typeface="微软雅黑"/>
              <a:ea typeface="微软雅黑"/>
            </a:endParaRPr>
          </a:p>
        </p:txBody>
      </p:sp>
      <p:sp>
        <p:nvSpPr>
          <p:cNvPr id="250" name="文本框 249"/>
          <p:cNvSpPr txBox="1"/>
          <p:nvPr/>
        </p:nvSpPr>
        <p:spPr>
          <a:xfrm>
            <a:off x="6146165" y="6217285"/>
            <a:ext cx="1308735" cy="245110"/>
          </a:xfrm>
          <a:prstGeom prst="rect">
            <a:avLst/>
          </a:prstGeom>
          <a:noFill/>
        </p:spPr>
        <p:txBody>
          <a:bodyPr wrap="square" rtlCol="0" lIns="0" rIns="0" tIns="0" bIns="0">
            <a:sp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智能化营销平台</a:t>
            </a:r>
            <a:endParaRPr lang="zh-CN" altLang="en-US" sz="1000" dirty="0">
              <a:solidFill>
                <a:srgbClr val="FFFFFF"/>
              </a:solidFill>
              <a:latin typeface="微软雅黑"/>
              <a:ea typeface="微软雅黑"/>
              <a:cs typeface="微软雅黑"/>
              <a:sym typeface="微软雅黑"/>
            </a:endParaRPr>
          </a:p>
        </p:txBody>
      </p:sp>
      <p:sp>
        <p:nvSpPr>
          <p:cNvPr id="251" name="文本框 250"/>
          <p:cNvSpPr txBox="1"/>
          <p:nvPr/>
        </p:nvSpPr>
        <p:spPr>
          <a:xfrm>
            <a:off x="8058785" y="6203950"/>
            <a:ext cx="1390650" cy="245110"/>
          </a:xfrm>
          <a:prstGeom prst="rect">
            <a:avLst/>
          </a:prstGeom>
          <a:noFill/>
        </p:spPr>
        <p:txBody>
          <a:bodyPr wrap="square" rtlCol="0" lIns="0" rIns="0" tIns="0" bIns="0">
            <a:sp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客户端</a:t>
            </a:r>
            <a:r>
              <a:rPr lang="en-US" altLang="zh-CN" sz="1000" dirty="0">
                <a:solidFill>
                  <a:srgbClr val="FFFFFF"/>
                </a:solidFill>
                <a:latin typeface="微软雅黑"/>
                <a:ea typeface="微软雅黑"/>
                <a:cs typeface="微软雅黑"/>
                <a:sym typeface="微软雅黑"/>
              </a:rPr>
              <a:t>APP</a:t>
            </a:r>
            <a:r>
              <a:rPr lang="zh-CN" altLang="en-US" sz="1000" dirty="0">
                <a:solidFill>
                  <a:srgbClr val="FFFFFF"/>
                </a:solidFill>
                <a:latin typeface="微软雅黑"/>
                <a:ea typeface="微软雅黑"/>
                <a:cs typeface="微软雅黑"/>
                <a:sym typeface="微软雅黑"/>
              </a:rPr>
              <a:t>直连中台</a:t>
            </a:r>
            <a:endParaRPr lang="zh-CN" altLang="en-US" sz="1000" dirty="0">
              <a:solidFill>
                <a:srgbClr val="FFFFFF"/>
              </a:solidFill>
              <a:latin typeface="微软雅黑"/>
              <a:ea typeface="微软雅黑"/>
              <a:cs typeface="微软雅黑"/>
              <a:sym typeface="微软雅黑"/>
            </a:endParaRPr>
          </a:p>
        </p:txBody>
      </p:sp>
      <p:sp>
        <p:nvSpPr>
          <p:cNvPr id="252" name="文本框 251"/>
          <p:cNvSpPr txBox="1"/>
          <p:nvPr/>
        </p:nvSpPr>
        <p:spPr>
          <a:xfrm>
            <a:off x="10010140" y="6203950"/>
            <a:ext cx="1390650" cy="245110"/>
          </a:xfrm>
          <a:prstGeom prst="rect">
            <a:avLst/>
          </a:prstGeom>
          <a:noFill/>
        </p:spPr>
        <p:txBody>
          <a:bodyPr wrap="square" rtlCol="0" lIns="0" rIns="0" tIns="0" bIns="0">
            <a:spAutoFit/>
          </a:bodyPr>
          <a:lstStyle/>
          <a:p>
            <a:pPr lvl="0" algn="ctr">
              <a:buClrTx/>
              <a:buSzTx/>
              <a:buFontTx/>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sym typeface="微软雅黑"/>
              </a:rPr>
              <a:t>智能决策分析平台</a:t>
            </a:r>
            <a:endParaRPr lang="zh-CN" sz="1000" dirty="0">
              <a:solidFill>
                <a:srgbClr val="FFFFFF"/>
              </a:solidFill>
              <a:latin typeface="微软雅黑"/>
              <a:ea typeface="微软雅黑"/>
              <a:cs typeface="微软雅黑"/>
              <a:sym typeface="微软雅黑"/>
            </a:endParaRPr>
          </a:p>
        </p:txBody>
      </p:sp>
      <p:sp>
        <p:nvSpPr>
          <p:cNvPr id="255" name="文本框 254"/>
          <p:cNvSpPr txBox="1"/>
          <p:nvPr>
            <p:custDataLst>
              <p:tags r:id="rId11"/>
            </p:custDataLst>
          </p:nvPr>
        </p:nvSpPr>
        <p:spPr>
          <a:xfrm>
            <a:off x="2232025" y="5455920"/>
            <a:ext cx="1262380" cy="337185"/>
          </a:xfrm>
          <a:prstGeom prst="rect">
            <a:avLst/>
          </a:prstGeom>
          <a:noFill/>
        </p:spPr>
        <p:txBody>
          <a:bodyPr wrap="square" lIns="0" rIns="0" tIns="0" bIns="0" anchor="t">
            <a:noAutofit/>
          </a:bodyPr>
          <a:lstStyle/>
          <a:p>
            <a:pPr indent="0">
              <a:buFont typeface="微软雅黑"/>
              <a:buNone/>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裂变红包、付费会员试用期、联名卡申领</a:t>
            </a:r>
            <a:endParaRPr lang="zh-CN" altLang="en-US" sz="1000" dirty="0">
              <a:solidFill>
                <a:srgbClr val="0042FF"/>
              </a:solidFill>
              <a:latin typeface="微软雅黑"/>
              <a:ea typeface="微软雅黑"/>
              <a:cs typeface="微软雅黑"/>
            </a:endParaRPr>
          </a:p>
        </p:txBody>
      </p:sp>
      <p:sp>
        <p:nvSpPr>
          <p:cNvPr id="257" name="矩形: 圆角 5"/>
          <p:cNvSpPr/>
          <p:nvPr/>
        </p:nvSpPr>
        <p:spPr>
          <a:xfrm>
            <a:off x="2203450" y="5135245"/>
            <a:ext cx="1318895" cy="284480"/>
          </a:xfrm>
          <a:prstGeom prst="roundRect">
            <a:avLst/>
          </a:prstGeom>
          <a:solidFill>
            <a:srgbClr val="668EFF">
              <a:alpha val="20000"/>
            </a:srgbClr>
          </a:solidFill>
          <a:ln w="15875" cap="flat" cmpd="sng" algn="ctr">
            <a:solidFill>
              <a:srgbClr val="0042FF">
                <a:alpha val="50000"/>
              </a:srgbClr>
            </a:solidFill>
            <a:prstDash val="solid"/>
            <a:miter lim="800000"/>
          </a:ln>
          <a:effectLst/>
        </p:spPr>
        <p:txBody>
          <a:bodyPr rtlCol="0" anchor="ctr">
            <a:noAutofit/>
          </a:bodyPr>
          <a:lstStyle/>
          <a:p>
            <a:pPr lvl="0" algn="ctr">
              <a:buClrTx/>
              <a:buSzTx/>
              <a:buFontTx/>
              <a:defRPr>
                <a:latin typeface="微软雅黑"/>
                <a:ea typeface="微软雅黑"/>
                <a:cs typeface="微软雅黑"/>
              </a:defRPr>
            </a:pPr>
            <a:endParaRPr lang="zh-CN" altLang="en-US" sz="1400" b="1">
              <a:solidFill>
                <a:srgbClr val="383838"/>
              </a:solidFill>
              <a:latin typeface="微软雅黑"/>
              <a:ea typeface="微软雅黑"/>
              <a:cs typeface="微软雅黑"/>
              <a:sym typeface="微软雅黑"/>
            </a:endParaRPr>
          </a:p>
        </p:txBody>
      </p:sp>
      <p:sp>
        <p:nvSpPr>
          <p:cNvPr id="259" name="矩形 258"/>
          <p:cNvSpPr/>
          <p:nvPr>
            <p:custDataLst>
              <p:tags r:id="rId12"/>
            </p:custDataLst>
          </p:nvPr>
        </p:nvSpPr>
        <p:spPr>
          <a:xfrm>
            <a:off x="2224405" y="5147945"/>
            <a:ext cx="1214120" cy="275590"/>
          </a:xfrm>
          <a:prstGeom prst="rect">
            <a:avLst/>
          </a:prstGeom>
          <a:solidFill>
            <a:srgbClr val="383838">
              <a:alpha val="0"/>
            </a:srgbClr>
          </a:solidFill>
          <a:ln w="15875" cap="flat" cmpd="sng" algn="ctr">
            <a:noFill/>
            <a:prstDash val="solid"/>
            <a:miter lim="800000"/>
          </a:ln>
          <a:effectLst/>
        </p:spPr>
        <p:txBody>
          <a:bodyPr wrap="square" lIns="91440" tIns="45720" rIns="91440" bIns="45720" rtlCol="0" anchor="ctr">
            <a:noAutofit/>
          </a:bodyPr>
          <a:lstStyle/>
          <a:p>
            <a:pPr lvl="0" algn="ctr">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招募激活工具</a:t>
            </a:r>
            <a:endParaRPr lang="zh-CN" altLang="en-US" sz="1200" b="1">
              <a:solidFill>
                <a:srgbClr val="383838"/>
              </a:solidFill>
              <a:latin typeface="微软雅黑"/>
              <a:ea typeface="微软雅黑"/>
              <a:cs typeface="微软雅黑"/>
              <a:sym typeface="微软雅黑"/>
            </a:endParaRPr>
          </a:p>
        </p:txBody>
      </p:sp>
      <p:sp>
        <p:nvSpPr>
          <p:cNvPr id="262" name="文本框 261"/>
          <p:cNvSpPr txBox="1"/>
          <p:nvPr>
            <p:custDataLst>
              <p:tags r:id="rId13"/>
            </p:custDataLst>
          </p:nvPr>
        </p:nvSpPr>
        <p:spPr>
          <a:xfrm>
            <a:off x="4159885" y="5455920"/>
            <a:ext cx="1342390" cy="455930"/>
          </a:xfrm>
          <a:prstGeom prst="rect">
            <a:avLst/>
          </a:prstGeom>
          <a:noFill/>
        </p:spPr>
        <p:txBody>
          <a:bodyPr wrap="square" lIns="0" rIns="0" tIns="0" bIns="0" anchor="t">
            <a:noAutofit/>
          </a:bodyPr>
          <a:lstStyle/>
          <a:p>
            <a:pPr indent="0">
              <a:buFont typeface="微软雅黑"/>
              <a:buNone/>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签到积分体系、会员日专属折扣、等级任务挑战</a:t>
            </a:r>
            <a:endParaRPr lang="zh-CN" altLang="en-US" sz="1000" dirty="0">
              <a:solidFill>
                <a:srgbClr val="383838"/>
              </a:solidFill>
              <a:latin typeface="微软雅黑"/>
              <a:ea typeface="微软雅黑"/>
              <a:cs typeface="微软雅黑"/>
            </a:endParaRPr>
          </a:p>
        </p:txBody>
      </p:sp>
      <p:sp>
        <p:nvSpPr>
          <p:cNvPr id="264" name="矩形: 圆角 5"/>
          <p:cNvSpPr/>
          <p:nvPr/>
        </p:nvSpPr>
        <p:spPr>
          <a:xfrm>
            <a:off x="4131310" y="5135245"/>
            <a:ext cx="1318895" cy="284480"/>
          </a:xfrm>
          <a:prstGeom prst="roundRect">
            <a:avLst/>
          </a:prstGeom>
          <a:solidFill>
            <a:srgbClr val="668EFF">
              <a:alpha val="20000"/>
            </a:srgbClr>
          </a:solidFill>
          <a:ln w="15875" cap="flat" cmpd="sng" algn="ctr">
            <a:solidFill>
              <a:srgbClr val="0042FF">
                <a:alpha val="50000"/>
              </a:srgbClr>
            </a:solidFill>
            <a:prstDash val="solid"/>
            <a:miter lim="800000"/>
          </a:ln>
          <a:effectLst/>
        </p:spPr>
        <p:txBody>
          <a:bodyPr rtlCol="0" anchor="ctr">
            <a:noAutofit/>
          </a:bodyPr>
          <a:lstStyle/>
          <a:p>
            <a:pPr lvl="0" algn="ctr">
              <a:buClrTx/>
              <a:buSzTx/>
              <a:buFontTx/>
              <a:defRPr>
                <a:latin typeface="微软雅黑"/>
                <a:ea typeface="微软雅黑"/>
                <a:cs typeface="微软雅黑"/>
              </a:defRPr>
            </a:pPr>
            <a:endParaRPr lang="zh-CN" altLang="en-US" sz="1400" b="1">
              <a:solidFill>
                <a:srgbClr val="383838"/>
              </a:solidFill>
              <a:latin typeface="微软雅黑"/>
              <a:ea typeface="微软雅黑"/>
              <a:cs typeface="微软雅黑"/>
              <a:sym typeface="微软雅黑"/>
            </a:endParaRPr>
          </a:p>
        </p:txBody>
      </p:sp>
      <p:sp>
        <p:nvSpPr>
          <p:cNvPr id="265" name="矩形 264"/>
          <p:cNvSpPr/>
          <p:nvPr>
            <p:custDataLst>
              <p:tags r:id="rId14"/>
            </p:custDataLst>
          </p:nvPr>
        </p:nvSpPr>
        <p:spPr>
          <a:xfrm>
            <a:off x="4193540" y="5144135"/>
            <a:ext cx="1252220" cy="275590"/>
          </a:xfrm>
          <a:prstGeom prst="rect">
            <a:avLst/>
          </a:prstGeom>
          <a:noFill/>
          <a:ln w="15875" cap="flat" cmpd="sng" algn="ctr">
            <a:noFill/>
            <a:prstDash val="solid"/>
            <a:miter lim="800000"/>
          </a:ln>
          <a:effectLst/>
          <a:extLst>
            <a:ext uri="{909E8E84-426E-40DD-AFC4-6F175D3DCCD1}">
              <a14:hiddenFill xmlns:a14="http://schemas.microsoft.com/office/drawing/2010/main">
                <a:gradFill>
                  <a:gsLst>
                    <a:gs pos="0">
                      <a:srgbClr val="0042FF">
                        <a:alpha val="15000"/>
                      </a:srgbClr>
                    </a:gs>
                    <a:gs pos="100000">
                      <a:srgbClr val="0042FF">
                        <a:alpha val="15000"/>
                      </a:srgbClr>
                    </a:gs>
                  </a:gsLst>
                  <a:lin ang="10800000" scaled="1"/>
                </a:gradFill>
              </a14:hiddenFill>
            </a:ext>
          </a:extLst>
        </p:spPr>
        <p:txBody>
          <a:bodyPr wrap="square" lIns="91440" tIns="45720" rIns="91440" bIns="45720" rtlCol="0" anchor="ctr">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活跃留存抓手</a:t>
            </a:r>
            <a:endParaRPr lang="zh-CN" altLang="en-US" sz="1200" b="1">
              <a:solidFill>
                <a:srgbClr val="0042FF"/>
              </a:solidFill>
              <a:latin typeface="微软雅黑"/>
              <a:ea typeface="微软雅黑"/>
              <a:cs typeface="微软雅黑"/>
              <a:sym typeface="微软雅黑"/>
            </a:endParaRPr>
          </a:p>
        </p:txBody>
      </p:sp>
      <p:sp>
        <p:nvSpPr>
          <p:cNvPr id="267" name="文本框 266"/>
          <p:cNvSpPr txBox="1"/>
          <p:nvPr>
            <p:custDataLst>
              <p:tags r:id="rId15"/>
            </p:custDataLst>
          </p:nvPr>
        </p:nvSpPr>
        <p:spPr>
          <a:xfrm>
            <a:off x="6140450" y="5455920"/>
            <a:ext cx="1342390" cy="337185"/>
          </a:xfrm>
          <a:prstGeom prst="rect">
            <a:avLst/>
          </a:prstGeom>
          <a:noFill/>
        </p:spPr>
        <p:txBody>
          <a:bodyPr wrap="square" lIns="0" rIns="0" tIns="0" bIns="0" anchor="t">
            <a:noAutofit/>
          </a:bodyPr>
          <a:lstStyle/>
          <a:p>
            <a:pPr indent="0">
              <a:buFont typeface="微软雅黑"/>
              <a:buNone/>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阶梯式权益升级、储值卡加赠、限量商品预售</a:t>
            </a:r>
            <a:endParaRPr lang="zh-CN" altLang="en-US" sz="1000" dirty="0">
              <a:solidFill>
                <a:srgbClr val="383838"/>
              </a:solidFill>
              <a:latin typeface="微软雅黑"/>
              <a:ea typeface="微软雅黑"/>
              <a:cs typeface="微软雅黑"/>
            </a:endParaRPr>
          </a:p>
        </p:txBody>
      </p:sp>
      <p:sp>
        <p:nvSpPr>
          <p:cNvPr id="269" name="矩形: 圆角 5"/>
          <p:cNvSpPr/>
          <p:nvPr/>
        </p:nvSpPr>
        <p:spPr>
          <a:xfrm>
            <a:off x="6111875" y="5135245"/>
            <a:ext cx="1318895" cy="284480"/>
          </a:xfrm>
          <a:prstGeom prst="roundRect">
            <a:avLst/>
          </a:prstGeom>
          <a:solidFill>
            <a:srgbClr val="668EFF">
              <a:alpha val="20000"/>
            </a:srgbClr>
          </a:solidFill>
          <a:ln w="15875" cap="flat" cmpd="sng" algn="ctr">
            <a:solidFill>
              <a:srgbClr val="0042FF">
                <a:alpha val="50000"/>
              </a:srgbClr>
            </a:solidFill>
            <a:prstDash val="solid"/>
            <a:miter lim="800000"/>
          </a:ln>
          <a:effectLst/>
        </p:spPr>
        <p:txBody>
          <a:bodyPr rtlCol="0" anchor="ctr">
            <a:noAutofit/>
          </a:bodyPr>
          <a:lstStyle/>
          <a:p>
            <a:pPr lvl="0" algn="ctr">
              <a:buClrTx/>
              <a:buSzTx/>
              <a:buFontTx/>
              <a:defRPr>
                <a:latin typeface="微软雅黑"/>
                <a:ea typeface="微软雅黑"/>
                <a:cs typeface="微软雅黑"/>
              </a:defRPr>
            </a:pPr>
            <a:endParaRPr lang="zh-CN" altLang="en-US" sz="1400" b="1">
              <a:solidFill>
                <a:srgbClr val="383838"/>
              </a:solidFill>
              <a:latin typeface="微软雅黑"/>
              <a:ea typeface="微软雅黑"/>
              <a:cs typeface="微软雅黑"/>
              <a:sym typeface="微软雅黑"/>
            </a:endParaRPr>
          </a:p>
        </p:txBody>
      </p:sp>
      <p:sp>
        <p:nvSpPr>
          <p:cNvPr id="270" name="矩形 269"/>
          <p:cNvSpPr/>
          <p:nvPr>
            <p:custDataLst>
              <p:tags r:id="rId16"/>
            </p:custDataLst>
          </p:nvPr>
        </p:nvSpPr>
        <p:spPr>
          <a:xfrm>
            <a:off x="6174105" y="5144135"/>
            <a:ext cx="1252220" cy="275590"/>
          </a:xfrm>
          <a:prstGeom prst="rect">
            <a:avLst/>
          </a:prstGeom>
          <a:noFill/>
          <a:ln w="15875" cap="flat" cmpd="sng" algn="ctr">
            <a:noFill/>
            <a:prstDash val="solid"/>
            <a:miter lim="800000"/>
          </a:ln>
          <a:effectLst/>
          <a:extLst>
            <a:ext uri="{909E8E84-426E-40DD-AFC4-6F175D3DCCD1}">
              <a14:hiddenFill xmlns:a14="http://schemas.microsoft.com/office/drawing/2010/main">
                <a:gradFill>
                  <a:gsLst>
                    <a:gs pos="0">
                      <a:srgbClr val="0042FF">
                        <a:alpha val="15000"/>
                      </a:srgbClr>
                    </a:gs>
                    <a:gs pos="100000">
                      <a:srgbClr val="0042FF">
                        <a:alpha val="15000"/>
                      </a:srgbClr>
                    </a:gs>
                  </a:gsLst>
                  <a:lin ang="10800000" scaled="1"/>
                </a:gradFill>
              </a14:hiddenFill>
            </a:ext>
          </a:extLst>
        </p:spPr>
        <p:txBody>
          <a:bodyPr wrap="square" lIns="91440" tIns="45720" rIns="91440" bIns="45720" rtlCol="0" anchor="ctr">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升级复购推荐</a:t>
            </a:r>
            <a:endParaRPr lang="zh-CN" altLang="en-US" sz="1200" b="1">
              <a:solidFill>
                <a:srgbClr val="0042FF"/>
              </a:solidFill>
              <a:latin typeface="微软雅黑"/>
              <a:ea typeface="微软雅黑"/>
              <a:cs typeface="微软雅黑"/>
              <a:sym typeface="微软雅黑"/>
            </a:endParaRPr>
          </a:p>
        </p:txBody>
      </p:sp>
      <p:sp>
        <p:nvSpPr>
          <p:cNvPr id="272" name="文本框 271"/>
          <p:cNvSpPr txBox="1"/>
          <p:nvPr>
            <p:custDataLst>
              <p:tags r:id="rId17"/>
            </p:custDataLst>
          </p:nvPr>
        </p:nvSpPr>
        <p:spPr>
          <a:xfrm>
            <a:off x="10101580" y="5455920"/>
            <a:ext cx="1342390" cy="455930"/>
          </a:xfrm>
          <a:prstGeom prst="rect">
            <a:avLst/>
          </a:prstGeom>
          <a:noFill/>
        </p:spPr>
        <p:txBody>
          <a:bodyPr wrap="square" lIns="0" rIns="0" tIns="0" bIns="0" anchor="t">
            <a:noAutofit/>
          </a:bodyPr>
          <a:lstStyle/>
          <a:p>
            <a:pPr indent="0">
              <a:buFont typeface="微软雅黑"/>
              <a:buNone/>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沉默期唤醒礼包、流失预测干预、老会员复归计划</a:t>
            </a:r>
            <a:endParaRPr lang="zh-CN" altLang="en-US" sz="1000" dirty="0">
              <a:solidFill>
                <a:srgbClr val="383838"/>
              </a:solidFill>
              <a:latin typeface="微软雅黑"/>
              <a:ea typeface="微软雅黑"/>
              <a:cs typeface="微软雅黑"/>
            </a:endParaRPr>
          </a:p>
        </p:txBody>
      </p:sp>
      <p:sp>
        <p:nvSpPr>
          <p:cNvPr id="274" name="矩形: 圆角 5"/>
          <p:cNvSpPr/>
          <p:nvPr/>
        </p:nvSpPr>
        <p:spPr>
          <a:xfrm>
            <a:off x="10073005" y="5135245"/>
            <a:ext cx="1318895" cy="284480"/>
          </a:xfrm>
          <a:prstGeom prst="roundRect">
            <a:avLst/>
          </a:prstGeom>
          <a:solidFill>
            <a:srgbClr val="668EFF">
              <a:alpha val="20000"/>
            </a:srgbClr>
          </a:solidFill>
          <a:ln w="15875" cap="flat" cmpd="sng" algn="ctr">
            <a:solidFill>
              <a:srgbClr val="0042FF">
                <a:alpha val="50000"/>
              </a:srgbClr>
            </a:solidFill>
            <a:prstDash val="solid"/>
            <a:miter lim="800000"/>
          </a:ln>
          <a:effectLst/>
        </p:spPr>
        <p:txBody>
          <a:bodyPr rtlCol="0" anchor="ctr">
            <a:noAutofit/>
          </a:bodyPr>
          <a:lstStyle/>
          <a:p>
            <a:pPr lvl="0" algn="ctr">
              <a:buClrTx/>
              <a:buSzTx/>
              <a:buFontTx/>
              <a:defRPr>
                <a:latin typeface="微软雅黑"/>
                <a:ea typeface="微软雅黑"/>
                <a:cs typeface="微软雅黑"/>
              </a:defRPr>
            </a:pPr>
            <a:endParaRPr lang="zh-CN" altLang="en-US" sz="1400" b="1">
              <a:solidFill>
                <a:srgbClr val="383838"/>
              </a:solidFill>
              <a:latin typeface="微软雅黑"/>
              <a:ea typeface="微软雅黑"/>
              <a:cs typeface="微软雅黑"/>
              <a:sym typeface="微软雅黑"/>
            </a:endParaRPr>
          </a:p>
        </p:txBody>
      </p:sp>
      <p:sp>
        <p:nvSpPr>
          <p:cNvPr id="275" name="矩形 274"/>
          <p:cNvSpPr/>
          <p:nvPr>
            <p:custDataLst>
              <p:tags r:id="rId18"/>
            </p:custDataLst>
          </p:nvPr>
        </p:nvSpPr>
        <p:spPr>
          <a:xfrm>
            <a:off x="10135235" y="5144135"/>
            <a:ext cx="1252220" cy="275590"/>
          </a:xfrm>
          <a:prstGeom prst="rect">
            <a:avLst/>
          </a:prstGeom>
          <a:noFill/>
          <a:ln w="15875" cap="flat" cmpd="sng" algn="ctr">
            <a:noFill/>
            <a:prstDash val="solid"/>
            <a:miter lim="800000"/>
          </a:ln>
          <a:effectLst/>
          <a:extLst>
            <a:ext uri="{909E8E84-426E-40DD-AFC4-6F175D3DCCD1}">
              <a14:hiddenFill xmlns:a14="http://schemas.microsoft.com/office/drawing/2010/main">
                <a:gradFill>
                  <a:gsLst>
                    <a:gs pos="0">
                      <a:srgbClr val="0042FF">
                        <a:alpha val="15000"/>
                      </a:srgbClr>
                    </a:gs>
                    <a:gs pos="100000">
                      <a:srgbClr val="0042FF">
                        <a:alpha val="15000"/>
                      </a:srgbClr>
                    </a:gs>
                  </a:gsLst>
                  <a:lin ang="10800000" scaled="1"/>
                </a:gradFill>
              </a14:hiddenFill>
            </a:ext>
          </a:extLst>
        </p:spPr>
        <p:txBody>
          <a:bodyPr wrap="square" lIns="91440" tIns="45720" rIns="91440" bIns="45720" rtlCol="0" anchor="ctr">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流失召回帮手</a:t>
            </a:r>
            <a:endParaRPr lang="zh-CN" altLang="en-US" sz="1200" b="1">
              <a:solidFill>
                <a:srgbClr val="0042FF"/>
              </a:solidFill>
              <a:latin typeface="微软雅黑"/>
              <a:ea typeface="微软雅黑"/>
              <a:cs typeface="微软雅黑"/>
              <a:sym typeface="微软雅黑"/>
            </a:endParaRPr>
          </a:p>
        </p:txBody>
      </p:sp>
      <p:sp>
        <p:nvSpPr>
          <p:cNvPr id="277" name="文本框 276"/>
          <p:cNvSpPr txBox="1"/>
          <p:nvPr>
            <p:custDataLst>
              <p:tags r:id="rId19"/>
            </p:custDataLst>
          </p:nvPr>
        </p:nvSpPr>
        <p:spPr>
          <a:xfrm>
            <a:off x="8121015" y="5455920"/>
            <a:ext cx="1342390" cy="455930"/>
          </a:xfrm>
          <a:prstGeom prst="rect">
            <a:avLst/>
          </a:prstGeom>
          <a:noFill/>
        </p:spPr>
        <p:txBody>
          <a:bodyPr wrap="square" lIns="0" rIns="0" tIns="0" bIns="0" anchor="t">
            <a:noAutofit/>
          </a:bodyPr>
          <a:lstStyle/>
          <a:p>
            <a:pPr indent="0">
              <a:buFont typeface="微软雅黑"/>
              <a:buNone/>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高价值会员</a:t>
            </a:r>
            <a:r>
              <a:rPr lang="zh-CN" sz="1000" dirty="0">
                <a:solidFill>
                  <a:srgbClr val="383838"/>
                </a:solidFill>
                <a:latin typeface="微软雅黑"/>
                <a:ea typeface="微软雅黑"/>
                <a:cs typeface="微软雅黑"/>
              </a:rPr>
              <a:t>专属服务</a:t>
            </a:r>
            <a:r>
              <a:rPr lang="zh-CN" altLang="en-US" sz="1000" dirty="0">
                <a:solidFill>
                  <a:srgbClr val="383838"/>
                </a:solidFill>
                <a:latin typeface="微软雅黑"/>
                <a:ea typeface="微软雅黑"/>
                <a:cs typeface="微软雅黑"/>
              </a:rPr>
              <a:t>、会员活动创建与活动效果</a:t>
            </a:r>
            <a:endParaRPr lang="zh-CN" altLang="en-US" sz="1000" dirty="0">
              <a:solidFill>
                <a:srgbClr val="383838"/>
              </a:solidFill>
              <a:latin typeface="微软雅黑"/>
              <a:ea typeface="微软雅黑"/>
              <a:cs typeface="微软雅黑"/>
            </a:endParaRPr>
          </a:p>
        </p:txBody>
      </p:sp>
      <p:sp>
        <p:nvSpPr>
          <p:cNvPr id="279" name="矩形: 圆角 5"/>
          <p:cNvSpPr/>
          <p:nvPr/>
        </p:nvSpPr>
        <p:spPr>
          <a:xfrm>
            <a:off x="8092440" y="5135245"/>
            <a:ext cx="1318895" cy="284480"/>
          </a:xfrm>
          <a:prstGeom prst="roundRect">
            <a:avLst/>
          </a:prstGeom>
          <a:solidFill>
            <a:srgbClr val="668EFF">
              <a:alpha val="20000"/>
            </a:srgbClr>
          </a:solidFill>
          <a:ln w="15875" cap="flat" cmpd="sng" algn="ctr">
            <a:solidFill>
              <a:srgbClr val="0042FF">
                <a:alpha val="50000"/>
              </a:srgbClr>
            </a:solidFill>
            <a:prstDash val="solid"/>
            <a:miter lim="800000"/>
          </a:ln>
          <a:effectLst/>
        </p:spPr>
        <p:txBody>
          <a:bodyPr rtlCol="0" anchor="ctr">
            <a:noAutofit/>
          </a:bodyPr>
          <a:lstStyle/>
          <a:p>
            <a:pPr lvl="0" algn="ctr">
              <a:buClrTx/>
              <a:buSzTx/>
              <a:buFontTx/>
              <a:defRPr>
                <a:latin typeface="微软雅黑"/>
                <a:ea typeface="微软雅黑"/>
                <a:cs typeface="微软雅黑"/>
              </a:defRPr>
            </a:pPr>
            <a:endParaRPr lang="zh-CN" altLang="en-US" sz="1400" b="1">
              <a:solidFill>
                <a:srgbClr val="383838"/>
              </a:solidFill>
              <a:latin typeface="微软雅黑"/>
              <a:ea typeface="微软雅黑"/>
              <a:cs typeface="微软雅黑"/>
              <a:sym typeface="微软雅黑"/>
            </a:endParaRPr>
          </a:p>
        </p:txBody>
      </p:sp>
      <p:sp>
        <p:nvSpPr>
          <p:cNvPr id="280" name="矩形 279"/>
          <p:cNvSpPr/>
          <p:nvPr>
            <p:custDataLst>
              <p:tags r:id="rId20"/>
            </p:custDataLst>
          </p:nvPr>
        </p:nvSpPr>
        <p:spPr>
          <a:xfrm>
            <a:off x="8154670" y="5144135"/>
            <a:ext cx="1252220" cy="275590"/>
          </a:xfrm>
          <a:prstGeom prst="rect">
            <a:avLst/>
          </a:prstGeom>
          <a:noFill/>
          <a:ln w="15875" cap="flat" cmpd="sng" algn="ctr">
            <a:noFill/>
            <a:prstDash val="solid"/>
            <a:miter lim="800000"/>
          </a:ln>
          <a:effectLst/>
          <a:extLst>
            <a:ext uri="{909E8E84-426E-40DD-AFC4-6F175D3DCCD1}">
              <a14:hiddenFill xmlns:a14="http://schemas.microsoft.com/office/drawing/2010/main">
                <a:gradFill>
                  <a:gsLst>
                    <a:gs pos="0">
                      <a:srgbClr val="0042FF">
                        <a:alpha val="15000"/>
                      </a:srgbClr>
                    </a:gs>
                    <a:gs pos="100000">
                      <a:srgbClr val="0042FF">
                        <a:alpha val="15000"/>
                      </a:srgbClr>
                    </a:gs>
                  </a:gsLst>
                  <a:lin ang="10800000" scaled="1"/>
                </a:gradFill>
              </a14:hiddenFill>
            </a:ext>
          </a:extLst>
        </p:spPr>
        <p:txBody>
          <a:bodyPr wrap="square" lIns="91440" tIns="45720" rIns="91440" bIns="45720" rtlCol="0" anchor="ctr">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忠诚深化监控</a:t>
            </a:r>
            <a:endParaRPr lang="zh-CN" altLang="en-US" sz="1200" b="1">
              <a:solidFill>
                <a:srgbClr val="0042FF"/>
              </a:solidFill>
              <a:latin typeface="微软雅黑"/>
              <a:ea typeface="微软雅黑"/>
              <a:cs typeface="微软雅黑"/>
              <a:sym typeface="微软雅黑"/>
            </a:endParaRPr>
          </a:p>
        </p:txBody>
      </p:sp>
      <p:sp>
        <p:nvSpPr>
          <p:cNvPr id="4" name="显眼包PPT-2"/>
          <p:cNvSpPr/>
          <p:nvPr/>
        </p:nvSpPr>
        <p:spPr>
          <a:xfrm>
            <a:off x="1977390" y="3381375"/>
            <a:ext cx="136715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更低流失率</a:t>
            </a:r>
            <a:endParaRPr lang="zh-CN" altLang="en-US" sz="1400" dirty="0">
              <a:solidFill>
                <a:srgbClr val="383838"/>
              </a:solidFill>
              <a:cs typeface="微软雅黑"/>
              <a:latin typeface="微软雅黑"/>
              <a:ea typeface="微软雅黑"/>
            </a:endParaRPr>
          </a:p>
        </p:txBody>
      </p:sp>
      <p:sp>
        <p:nvSpPr>
          <p:cNvPr id="8" name="显眼包PPT-2"/>
          <p:cNvSpPr/>
          <p:nvPr/>
        </p:nvSpPr>
        <p:spPr>
          <a:xfrm>
            <a:off x="3439160" y="3381375"/>
            <a:ext cx="136715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更高复购率</a:t>
            </a:r>
            <a:endParaRPr lang="zh-CN" altLang="en-US" sz="1400" dirty="0">
              <a:solidFill>
                <a:srgbClr val="383838"/>
              </a:solidFill>
              <a:cs typeface="微软雅黑"/>
              <a:latin typeface="微软雅黑"/>
              <a:ea typeface="微软雅黑"/>
            </a:endParaRPr>
          </a:p>
        </p:txBody>
      </p:sp>
      <p:sp>
        <p:nvSpPr>
          <p:cNvPr id="9" name="显眼包PPT-2"/>
          <p:cNvSpPr/>
          <p:nvPr/>
        </p:nvSpPr>
        <p:spPr>
          <a:xfrm>
            <a:off x="4889500" y="3381375"/>
            <a:ext cx="136715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更强品牌忠诚</a:t>
            </a:r>
            <a:endParaRPr lang="zh-CN" altLang="en-US" sz="1400" dirty="0">
              <a:solidFill>
                <a:srgbClr val="383838"/>
              </a:solidFill>
              <a:cs typeface="微软雅黑"/>
              <a:latin typeface="微软雅黑"/>
              <a:ea typeface="微软雅黑"/>
            </a:endParaRPr>
          </a:p>
        </p:txBody>
      </p:sp>
      <p:sp>
        <p:nvSpPr>
          <p:cNvPr id="11" name="显眼包PPT-2"/>
          <p:cNvSpPr/>
          <p:nvPr/>
        </p:nvSpPr>
        <p:spPr>
          <a:xfrm>
            <a:off x="6649085" y="3381375"/>
            <a:ext cx="88328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有权益</a:t>
            </a:r>
            <a:endParaRPr lang="zh-CN" altLang="en-US" sz="1400" dirty="0">
              <a:solidFill>
                <a:srgbClr val="383838"/>
              </a:solidFill>
              <a:cs typeface="微软雅黑"/>
              <a:latin typeface="微软雅黑"/>
              <a:ea typeface="微软雅黑"/>
            </a:endParaRPr>
          </a:p>
        </p:txBody>
      </p:sp>
      <p:sp>
        <p:nvSpPr>
          <p:cNvPr id="20" name="显眼包PPT-2"/>
          <p:cNvSpPr/>
          <p:nvPr/>
        </p:nvSpPr>
        <p:spPr>
          <a:xfrm>
            <a:off x="7642225" y="3381375"/>
            <a:ext cx="88328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有温度</a:t>
            </a:r>
            <a:endParaRPr lang="zh-CN" altLang="en-US" sz="1400" dirty="0">
              <a:solidFill>
                <a:srgbClr val="383838"/>
              </a:solidFill>
              <a:cs typeface="微软雅黑"/>
              <a:latin typeface="微软雅黑"/>
              <a:ea typeface="微软雅黑"/>
            </a:endParaRPr>
          </a:p>
        </p:txBody>
      </p:sp>
      <p:sp>
        <p:nvSpPr>
          <p:cNvPr id="35" name="显眼包PPT-2"/>
          <p:cNvSpPr/>
          <p:nvPr/>
        </p:nvSpPr>
        <p:spPr>
          <a:xfrm>
            <a:off x="8635365" y="3381375"/>
            <a:ext cx="88328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有特权</a:t>
            </a:r>
            <a:endParaRPr lang="en-US" altLang="zh-CN" sz="1400" dirty="0">
              <a:solidFill>
                <a:srgbClr val="383838"/>
              </a:solidFill>
              <a:cs typeface="微软雅黑"/>
              <a:latin typeface="微软雅黑"/>
              <a:ea typeface="微软雅黑"/>
            </a:endParaRPr>
          </a:p>
        </p:txBody>
      </p:sp>
      <p:sp>
        <p:nvSpPr>
          <p:cNvPr id="36" name="显眼包PPT-2"/>
          <p:cNvSpPr/>
          <p:nvPr/>
        </p:nvSpPr>
        <p:spPr>
          <a:xfrm>
            <a:off x="9628505" y="3381375"/>
            <a:ext cx="88328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有社群</a:t>
            </a:r>
            <a:endParaRPr lang="zh-CN" altLang="en-US" sz="1400" dirty="0">
              <a:solidFill>
                <a:srgbClr val="383838"/>
              </a:solidFill>
              <a:cs typeface="微软雅黑"/>
              <a:latin typeface="微软雅黑"/>
              <a:ea typeface="微软雅黑"/>
            </a:endParaRPr>
          </a:p>
        </p:txBody>
      </p:sp>
      <p:sp>
        <p:nvSpPr>
          <p:cNvPr id="37" name="显眼包PPT-2"/>
          <p:cNvSpPr/>
          <p:nvPr/>
        </p:nvSpPr>
        <p:spPr>
          <a:xfrm>
            <a:off x="10621645" y="3381375"/>
            <a:ext cx="883285" cy="324485"/>
          </a:xfrm>
          <a:prstGeom prst="roundRect">
            <a:avLst/>
          </a:prstGeom>
          <a:solidFill>
            <a:srgbClr val="FFFFFF"/>
          </a:solidFill>
          <a:ln w="9525">
            <a:solidFill>
              <a:srgbClr val="B3D4FE"/>
            </a:solid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400" dirty="0">
                <a:solidFill>
                  <a:srgbClr val="383838"/>
                </a:solidFill>
                <a:cs typeface="微软雅黑"/>
                <a:latin typeface="微软雅黑"/>
                <a:ea typeface="微软雅黑"/>
              </a:rPr>
              <a:t>有惊喜</a:t>
            </a:r>
            <a:endParaRPr lang="zh-CN" altLang="en-US" sz="1400" dirty="0">
              <a:solidFill>
                <a:srgbClr val="383838"/>
              </a:solidFill>
              <a:cs typeface="微软雅黑"/>
              <a:latin typeface="微软雅黑"/>
              <a:ea typeface="微软雅黑"/>
            </a:endParaRPr>
          </a:p>
        </p:txBody>
      </p:sp>
      <p:grpSp>
        <p:nvGrpSpPr>
          <p:cNvPr id="39" name="组合 38"/>
          <p:cNvGrpSpPr/>
          <p:nvPr/>
        </p:nvGrpSpPr>
        <p:grpSpPr>
          <a:xfrm flipH="1">
            <a:off x="5417820" y="2631758"/>
            <a:ext cx="266700" cy="167640"/>
            <a:chOff x="11640" y="4125"/>
            <a:chExt cx="420" cy="264"/>
          </a:xfrm>
        </p:grpSpPr>
        <p:sp>
          <p:nvSpPr>
            <p:cNvPr id="40" name="菱形 39"/>
            <p:cNvSpPr/>
            <p:nvPr/>
          </p:nvSpPr>
          <p:spPr>
            <a:xfrm flipH="1" flipV="1">
              <a:off x="11640" y="4125"/>
              <a:ext cx="321" cy="264"/>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1" name="菱形 40"/>
            <p:cNvSpPr/>
            <p:nvPr/>
          </p:nvSpPr>
          <p:spPr>
            <a:xfrm flipH="1" flipV="1">
              <a:off x="11740" y="4125"/>
              <a:ext cx="321" cy="264"/>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42" name="组合 41"/>
          <p:cNvGrpSpPr/>
          <p:nvPr/>
        </p:nvGrpSpPr>
        <p:grpSpPr>
          <a:xfrm>
            <a:off x="7675245" y="347980"/>
            <a:ext cx="4588510" cy="367030"/>
            <a:chOff x="12087" y="-1089"/>
            <a:chExt cx="7226" cy="578"/>
          </a:xfrm>
        </p:grpSpPr>
        <p:pic>
          <p:nvPicPr>
            <p:cNvPr id="43" name="图片 42"/>
            <p:cNvPicPr>
              <a:picLocks noChangeAspect="1"/>
            </p:cNvPicPr>
            <p:nvPr userDrawn="1"/>
          </p:nvPicPr>
          <p:blipFill>
            <a:blip r:embed="rId21"/>
            <a:srcRect r="57320" b="-13333"/>
            <a:stretch>
              <a:fillRect/>
            </a:stretch>
          </p:blipFill>
          <p:spPr>
            <a:xfrm>
              <a:off x="12087" y="-1089"/>
              <a:ext cx="2548" cy="578"/>
            </a:xfrm>
            <a:prstGeom prst="rect">
              <a:avLst/>
            </a:prstGeom>
          </p:spPr>
        </p:pic>
        <p:sp>
          <p:nvSpPr>
            <p:cNvPr id="44" name="文本框 43"/>
            <p:cNvSpPr txBox="1"/>
            <p:nvPr userDrawn="1"/>
          </p:nvSpPr>
          <p:spPr>
            <a:xfrm>
              <a:off x="14635" y="-993"/>
              <a:ext cx="4678"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天蝎PPT1"/>
          <p:cNvPicPr>
            <a:picLocks noChangeAspect="1"/>
          </p:cNvPicPr>
          <p:nvPr/>
        </p:nvPicPr>
        <p:blipFill rotWithShape="1">
          <a:blip r:embed="rId1" cstate="email"/>
          <a:srcRect/>
          <a:stretch>
            <a:fillRect/>
          </a:stretch>
        </p:blipFill>
        <p:spPr>
          <a:xfrm flipH="1">
            <a:off x="4431665" y="1270"/>
            <a:ext cx="7755825" cy="6858000"/>
          </a:xfrm>
          <a:prstGeom prst="rect">
            <a:avLst/>
          </a:prstGeom>
        </p:spPr>
      </p:pic>
      <p:sp>
        <p:nvSpPr>
          <p:cNvPr id="36" name="矩形 35"/>
          <p:cNvSpPr/>
          <p:nvPr/>
        </p:nvSpPr>
        <p:spPr>
          <a:xfrm>
            <a:off x="0" y="-5080"/>
            <a:ext cx="12268200" cy="6858000"/>
          </a:xfrm>
          <a:prstGeom prst="rect">
            <a:avLst/>
          </a:prstGeom>
          <a:gradFill>
            <a:gsLst>
              <a:gs pos="0">
                <a:srgbClr val="FFFFFF"/>
              </a:gs>
              <a:gs pos="100000">
                <a:srgbClr val="DCDCDC">
                  <a:alpha val="50000"/>
                </a:srgbClr>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0" y="-5080"/>
            <a:ext cx="5048250" cy="6858000"/>
          </a:xfrm>
          <a:prstGeom prst="rect">
            <a:avLst/>
          </a:prstGeom>
          <a:gradFill>
            <a:gsLst>
              <a:gs pos="0">
                <a:srgbClr val="E6E6E6"/>
              </a:gs>
              <a:gs pos="100000">
                <a:srgbClr val="E6E6E6"/>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 name="文本框 5"/>
          <p:cNvSpPr txBox="1"/>
          <p:nvPr/>
        </p:nvSpPr>
        <p:spPr>
          <a:xfrm>
            <a:off x="585470" y="1805940"/>
            <a:ext cx="3877310" cy="58356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200" b="1" spc="-150" noProof="0" dirty="0">
                <a:ln>
                  <a:noFill/>
                </a:ln>
                <a:solidFill>
                  <a:srgbClr val="0042FF"/>
                </a:solidFill>
                <a:effectLst/>
                <a:uLnTx/>
                <a:uFillTx/>
                <a:latin typeface="微软雅黑"/>
                <a:ea typeface="微软雅黑"/>
                <a:cs typeface="微软雅黑"/>
                <a:sym typeface="微软雅黑"/>
              </a:rPr>
              <a:t>多层平台架构</a:t>
            </a:r>
            <a:endParaRPr lang="zh-CN" altLang="en-US" sz="3200" b="1" spc="-150" noProof="0" dirty="0">
              <a:ln>
                <a:noFill/>
              </a:ln>
              <a:solidFill>
                <a:srgbClr val="0042FF"/>
              </a:solidFill>
              <a:effectLst/>
              <a:uLnTx/>
              <a:uFillTx/>
              <a:latin typeface="微软雅黑"/>
              <a:ea typeface="微软雅黑"/>
              <a:cs typeface="微软雅黑"/>
              <a:sym typeface="微软雅黑"/>
            </a:endParaRPr>
          </a:p>
        </p:txBody>
      </p:sp>
      <p:sp>
        <p:nvSpPr>
          <p:cNvPr id="9" name="文本框 8"/>
          <p:cNvSpPr txBox="1"/>
          <p:nvPr/>
        </p:nvSpPr>
        <p:spPr>
          <a:xfrm>
            <a:off x="819150" y="2650490"/>
            <a:ext cx="3409950" cy="3371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en-US" altLang="zh-CN" sz="1600">
                <a:solidFill>
                  <a:srgbClr val="383838"/>
                </a:solidFill>
                <a:latin typeface="微软雅黑"/>
                <a:ea typeface="微软雅黑"/>
                <a:cs typeface="微软雅黑"/>
                <a:sym typeface="微软雅黑"/>
              </a:rPr>
              <a:t>Multi-layer Platform  Framework</a:t>
            </a:r>
            <a:endParaRPr lang="en-US" altLang="zh-CN" sz="1600">
              <a:solidFill>
                <a:srgbClr val="383838"/>
              </a:solidFill>
              <a:latin typeface="微软雅黑"/>
              <a:ea typeface="微软雅黑"/>
              <a:cs typeface="微软雅黑"/>
              <a:sym typeface="微软雅黑"/>
            </a:endParaRPr>
          </a:p>
        </p:txBody>
      </p:sp>
      <p:sp>
        <p:nvSpPr>
          <p:cNvPr id="12" name="矩形 11"/>
          <p:cNvSpPr/>
          <p:nvPr/>
        </p:nvSpPr>
        <p:spPr>
          <a:xfrm>
            <a:off x="1339215" y="2403475"/>
            <a:ext cx="396240" cy="36195"/>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0" name="文本框 29"/>
          <p:cNvSpPr txBox="1"/>
          <p:nvPr/>
        </p:nvSpPr>
        <p:spPr>
          <a:xfrm>
            <a:off x="2000885" y="833755"/>
            <a:ext cx="1046480" cy="860425"/>
          </a:xfrm>
          <a:prstGeom prst="rect">
            <a:avLst/>
          </a:prstGeom>
          <a:noFill/>
        </p:spPr>
        <p:txBody>
          <a:bodyPr wrap="square" rtlCol="0" anchor="ctr" anchorCtr="0">
            <a:noAutofit/>
          </a:bodyPr>
          <a:lstStyle/>
          <a:p>
            <a:pPr lvl="0" algn="ctr" fontAlgn="ctr">
              <a:buClrTx/>
              <a:buSzTx/>
              <a:buFontTx/>
              <a:defRPr>
                <a:latin typeface="微软雅黑"/>
                <a:ea typeface="微软雅黑"/>
                <a:cs typeface="微软雅黑"/>
              </a:defRPr>
            </a:pPr>
            <a:r>
              <a:rPr lang="en-US" altLang="zh-CN" sz="5000" b="1">
                <a:solidFill>
                  <a:srgbClr val="383838"/>
                </a:solidFill>
                <a:latin typeface="微软雅黑"/>
                <a:ea typeface="微软雅黑"/>
                <a:cs typeface="微软雅黑"/>
                <a:sym typeface="微软雅黑"/>
              </a:rPr>
              <a:t>②</a:t>
            </a:r>
            <a:endParaRPr lang="en-US" altLang="zh-CN" sz="5000" b="1">
              <a:solidFill>
                <a:srgbClr val="383838"/>
              </a:solidFill>
              <a:latin typeface="微软雅黑"/>
              <a:ea typeface="微软雅黑"/>
              <a:cs typeface="微软雅黑"/>
              <a:sym typeface="微软雅黑"/>
            </a:endParaRPr>
          </a:p>
        </p:txBody>
      </p:sp>
      <p:sp>
        <p:nvSpPr>
          <p:cNvPr id="5" name="梯形 4"/>
          <p:cNvSpPr/>
          <p:nvPr/>
        </p:nvSpPr>
        <p:spPr>
          <a:xfrm>
            <a:off x="1040765" y="5481320"/>
            <a:ext cx="2967355" cy="130810"/>
          </a:xfrm>
          <a:prstGeom prst="trapezoid">
            <a:avLst>
              <a:gd name="adj" fmla="val 187465"/>
            </a:avLst>
          </a:prstGeom>
          <a:gradFill>
            <a:gsLst>
              <a:gs pos="0">
                <a:srgbClr val="3368FF">
                  <a:alpha val="0"/>
                </a:srgbClr>
              </a:gs>
              <a:gs pos="100000">
                <a:srgbClr val="3368FF"/>
              </a:gs>
            </a:gsLst>
            <a:lin ang="5400000" scaled="1"/>
          </a:gra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 name="梯形 6"/>
          <p:cNvSpPr/>
          <p:nvPr/>
        </p:nvSpPr>
        <p:spPr>
          <a:xfrm>
            <a:off x="1040765" y="4834890"/>
            <a:ext cx="2967355" cy="130810"/>
          </a:xfrm>
          <a:prstGeom prst="trapezoid">
            <a:avLst>
              <a:gd name="adj" fmla="val 187465"/>
            </a:avLst>
          </a:prstGeom>
          <a:gradFill>
            <a:gsLst>
              <a:gs pos="0">
                <a:srgbClr val="3368FF">
                  <a:alpha val="0"/>
                </a:srgbClr>
              </a:gs>
              <a:gs pos="100000">
                <a:srgbClr val="3368FF"/>
              </a:gs>
            </a:gsLst>
            <a:lin ang="5400000" scaled="1"/>
          </a:gra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8" name="梯形 7"/>
          <p:cNvSpPr/>
          <p:nvPr/>
        </p:nvSpPr>
        <p:spPr>
          <a:xfrm>
            <a:off x="1040765" y="4187190"/>
            <a:ext cx="2967355" cy="130810"/>
          </a:xfrm>
          <a:prstGeom prst="trapezoid">
            <a:avLst>
              <a:gd name="adj" fmla="val 187465"/>
            </a:avLst>
          </a:prstGeom>
          <a:gradFill>
            <a:gsLst>
              <a:gs pos="0">
                <a:srgbClr val="3368FF">
                  <a:alpha val="0"/>
                </a:srgbClr>
              </a:gs>
              <a:gs pos="100000">
                <a:srgbClr val="3368FF"/>
              </a:gs>
            </a:gsLst>
            <a:lin ang="5400000" scaled="1"/>
          </a:gra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 name="Freeform 1482"/>
          <p:cNvSpPr/>
          <p:nvPr/>
        </p:nvSpPr>
        <p:spPr>
          <a:xfrm>
            <a:off x="1045845" y="5614670"/>
            <a:ext cx="2962910" cy="130810"/>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a:ln>
            <a:noFill/>
          </a:ln>
        </p:spPr>
        <p:txBody>
          <a:bodyPr spcFirstLastPara="1" vert="horz" wrap="square" lIns="22868" tIns="22868" rIns="22868" bIns="22868" numCol="1" spcCol="0" rtlCol="0" fromWordArt="0" anchor="t"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0" name="Freeform 1484"/>
          <p:cNvSpPr/>
          <p:nvPr/>
        </p:nvSpPr>
        <p:spPr>
          <a:xfrm>
            <a:off x="1045845" y="4968240"/>
            <a:ext cx="2962275" cy="130810"/>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a:ln>
            <a:noFill/>
          </a:ln>
        </p:spPr>
        <p:txBody>
          <a:bodyPr spcFirstLastPara="1" vert="horz" wrap="square" lIns="22868" tIns="22868" rIns="22868" bIns="22868" numCol="1" spcCol="0" rtlCol="0" fromWordArt="0" anchor="t"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2" name="Freeform 1486"/>
          <p:cNvSpPr/>
          <p:nvPr/>
        </p:nvSpPr>
        <p:spPr>
          <a:xfrm>
            <a:off x="1045845" y="4322445"/>
            <a:ext cx="2962910" cy="130810"/>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a:ln>
            <a:noFill/>
          </a:ln>
        </p:spPr>
        <p:txBody>
          <a:bodyPr spcFirstLastPara="1" wrap="square" lIns="22868" tIns="22868" rIns="22868" bIns="22868" anchor="t" anchorCtr="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3" name="矩形: 圆角 43"/>
          <p:cNvSpPr/>
          <p:nvPr/>
        </p:nvSpPr>
        <p:spPr>
          <a:xfrm>
            <a:off x="1322705" y="4499610"/>
            <a:ext cx="694055" cy="320675"/>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24" name="Freeform 1529"/>
          <p:cNvSpPr/>
          <p:nvPr/>
        </p:nvSpPr>
        <p:spPr>
          <a:xfrm>
            <a:off x="1362710" y="4535805"/>
            <a:ext cx="605790" cy="87630"/>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solidFill>
            <a:srgbClr val="3368FF"/>
          </a:solidFill>
          <a:ln>
            <a:noFill/>
          </a:ln>
        </p:spPr>
        <p:txBody>
          <a:bodyPr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5" name="矩形: 圆角 8"/>
          <p:cNvSpPr/>
          <p:nvPr/>
        </p:nvSpPr>
        <p:spPr>
          <a:xfrm>
            <a:off x="1402080" y="3839845"/>
            <a:ext cx="506095" cy="313690"/>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26" name="Freeform 1493"/>
          <p:cNvSpPr/>
          <p:nvPr/>
        </p:nvSpPr>
        <p:spPr>
          <a:xfrm>
            <a:off x="1440180" y="3859530"/>
            <a:ext cx="424180" cy="8953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a:noFill/>
          </a:ln>
        </p:spPr>
        <p:txBody>
          <a:bodyPr spcFirstLastPara="1" wrap="square" lIns="0" tIns="0" rIns="0" bIns="0" anchor="ctr" anchorCtr="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7" name="矩形: 圆角 8"/>
          <p:cNvSpPr/>
          <p:nvPr/>
        </p:nvSpPr>
        <p:spPr>
          <a:xfrm>
            <a:off x="2000250" y="3839845"/>
            <a:ext cx="506095" cy="313690"/>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28" name="Freeform 1493"/>
          <p:cNvSpPr/>
          <p:nvPr/>
        </p:nvSpPr>
        <p:spPr>
          <a:xfrm>
            <a:off x="2038985" y="3859530"/>
            <a:ext cx="424180" cy="8953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a:noFill/>
          </a:ln>
        </p:spPr>
        <p:txBody>
          <a:bodyPr spcFirstLastPara="1" wrap="square" lIns="0" tIns="0" rIns="0" bIns="0" anchor="ctr" anchorCtr="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9" name="矩形: 圆角 8"/>
          <p:cNvSpPr/>
          <p:nvPr/>
        </p:nvSpPr>
        <p:spPr>
          <a:xfrm>
            <a:off x="2599055" y="3839845"/>
            <a:ext cx="506095" cy="313690"/>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32" name="Freeform 1493"/>
          <p:cNvSpPr/>
          <p:nvPr/>
        </p:nvSpPr>
        <p:spPr>
          <a:xfrm>
            <a:off x="2637790" y="3859530"/>
            <a:ext cx="424180" cy="8953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a:noFill/>
          </a:ln>
        </p:spPr>
        <p:txBody>
          <a:bodyPr spcFirstLastPara="1" wrap="square" lIns="0" tIns="0" rIns="0" bIns="0" anchor="ctr" anchorCtr="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33" name="矩形: 圆角 8"/>
          <p:cNvSpPr/>
          <p:nvPr/>
        </p:nvSpPr>
        <p:spPr>
          <a:xfrm>
            <a:off x="3197860" y="3839845"/>
            <a:ext cx="506095" cy="313690"/>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34" name="Freeform 1493"/>
          <p:cNvSpPr/>
          <p:nvPr/>
        </p:nvSpPr>
        <p:spPr>
          <a:xfrm>
            <a:off x="3235960" y="3859530"/>
            <a:ext cx="424815" cy="8953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solidFill>
            <a:srgbClr val="3368FF"/>
          </a:solidFill>
          <a:ln>
            <a:noFill/>
          </a:ln>
        </p:spPr>
        <p:txBody>
          <a:bodyPr spcFirstLastPara="1" wrap="square" lIns="0" tIns="0" rIns="0" bIns="0" anchor="ctr" anchorCtr="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37" name="矩形: 圆角 43"/>
          <p:cNvSpPr/>
          <p:nvPr/>
        </p:nvSpPr>
        <p:spPr>
          <a:xfrm>
            <a:off x="2151380" y="4499610"/>
            <a:ext cx="694055" cy="320675"/>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38" name="Freeform 1529"/>
          <p:cNvSpPr/>
          <p:nvPr/>
        </p:nvSpPr>
        <p:spPr>
          <a:xfrm>
            <a:off x="2190750" y="4535805"/>
            <a:ext cx="605790" cy="87630"/>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solidFill>
            <a:srgbClr val="E6E6E6">
              <a:alpha val="50195"/>
            </a:srgbClr>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39" name="矩形: 圆角 43"/>
          <p:cNvSpPr/>
          <p:nvPr/>
        </p:nvSpPr>
        <p:spPr>
          <a:xfrm>
            <a:off x="2980055" y="4499610"/>
            <a:ext cx="694055" cy="320675"/>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40" name="Freeform 1529"/>
          <p:cNvSpPr/>
          <p:nvPr/>
        </p:nvSpPr>
        <p:spPr>
          <a:xfrm>
            <a:off x="3019425" y="4535805"/>
            <a:ext cx="605790" cy="87630"/>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solidFill>
            <a:srgbClr val="3368FF"/>
          </a:solidFill>
          <a:ln>
            <a:noFill/>
          </a:ln>
        </p:spPr>
        <p:txBody>
          <a:bodyPr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41" name="Rectangle 1555"/>
          <p:cNvSpPr/>
          <p:nvPr/>
        </p:nvSpPr>
        <p:spPr>
          <a:xfrm>
            <a:off x="2190750" y="4533265"/>
            <a:ext cx="605790" cy="94615"/>
          </a:xfrm>
          <a:prstGeom prst="rect">
            <a:avLst/>
          </a:prstGeom>
          <a:solidFill>
            <a:srgbClr val="3368FF"/>
          </a:solidFill>
          <a:ln>
            <a:noFill/>
          </a:ln>
        </p:spPr>
        <p:txBody>
          <a:bodyPr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42" name="矩形: 圆角 48"/>
          <p:cNvSpPr/>
          <p:nvPr/>
        </p:nvSpPr>
        <p:spPr>
          <a:xfrm>
            <a:off x="1355725" y="5158105"/>
            <a:ext cx="1098550" cy="298450"/>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44" name="Freeform 1536"/>
          <p:cNvSpPr/>
          <p:nvPr/>
        </p:nvSpPr>
        <p:spPr>
          <a:xfrm>
            <a:off x="1391920" y="5306060"/>
            <a:ext cx="513715" cy="121920"/>
          </a:xfrm>
          <a:custGeom>
            <a:avLst/>
            <a:gdLst/>
            <a:ahLst/>
            <a:cxnLst/>
            <a:rect l="0" t="0" r="0" b="0"/>
            <a:pathLst>
              <a:path w="1716024" h="338328">
                <a:moveTo>
                  <a:pt x="0" y="338328"/>
                </a:moveTo>
                <a:lnTo>
                  <a:pt x="1716024" y="338328"/>
                </a:lnTo>
                <a:lnTo>
                  <a:pt x="1716024" y="0"/>
                </a:lnTo>
                <a:lnTo>
                  <a:pt x="0" y="0"/>
                </a:lnTo>
                <a:lnTo>
                  <a:pt x="0" y="338328"/>
                </a:lnTo>
                <a:close/>
              </a:path>
            </a:pathLst>
          </a:custGeom>
          <a:noFill/>
          <a:ln w="12191" cap="flat" cmpd="sng" algn="ctr">
            <a:solidFill>
              <a:srgbClr val="3368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45" name="Freeform 1537"/>
          <p:cNvSpPr/>
          <p:nvPr/>
        </p:nvSpPr>
        <p:spPr>
          <a:xfrm>
            <a:off x="1931670" y="5306060"/>
            <a:ext cx="490855" cy="121920"/>
          </a:xfrm>
          <a:custGeom>
            <a:avLst/>
            <a:gdLst/>
            <a:ahLst/>
            <a:cxnLst/>
            <a:rect l="0" t="0" r="0" b="0"/>
            <a:pathLst>
              <a:path w="2241804" h="338328">
                <a:moveTo>
                  <a:pt x="0" y="338328"/>
                </a:moveTo>
                <a:lnTo>
                  <a:pt x="2241804" y="338328"/>
                </a:lnTo>
                <a:lnTo>
                  <a:pt x="2241804" y="0"/>
                </a:lnTo>
                <a:lnTo>
                  <a:pt x="0" y="0"/>
                </a:lnTo>
                <a:lnTo>
                  <a:pt x="0" y="338328"/>
                </a:lnTo>
                <a:close/>
              </a:path>
            </a:pathLst>
          </a:custGeom>
          <a:noFill/>
          <a:ln w="12191" cap="flat" cmpd="sng" algn="ctr">
            <a:solidFill>
              <a:srgbClr val="3368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46" name="Rectangle 1570"/>
          <p:cNvSpPr/>
          <p:nvPr/>
        </p:nvSpPr>
        <p:spPr>
          <a:xfrm>
            <a:off x="1402080" y="5193030"/>
            <a:ext cx="1035050" cy="81280"/>
          </a:xfrm>
          <a:prstGeom prst="rect">
            <a:avLst/>
          </a:prstGeom>
          <a:solidFill>
            <a:srgbClr val="3368FF"/>
          </a:solidFill>
          <a:ln>
            <a:noFill/>
          </a:ln>
        </p:spPr>
        <p:txBody>
          <a:bodyPr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48" name="Freeform 1536"/>
          <p:cNvSpPr/>
          <p:nvPr/>
        </p:nvSpPr>
        <p:spPr>
          <a:xfrm>
            <a:off x="2590800" y="5306060"/>
            <a:ext cx="513715" cy="121920"/>
          </a:xfrm>
          <a:custGeom>
            <a:avLst/>
            <a:gdLst/>
            <a:ahLst/>
            <a:cxnLst/>
            <a:rect l="0" t="0" r="0" b="0"/>
            <a:pathLst>
              <a:path w="1716024" h="338328">
                <a:moveTo>
                  <a:pt x="0" y="338328"/>
                </a:moveTo>
                <a:lnTo>
                  <a:pt x="1716024" y="338328"/>
                </a:lnTo>
                <a:lnTo>
                  <a:pt x="1716024" y="0"/>
                </a:lnTo>
                <a:lnTo>
                  <a:pt x="0" y="0"/>
                </a:lnTo>
                <a:lnTo>
                  <a:pt x="0" y="338328"/>
                </a:lnTo>
                <a:close/>
              </a:path>
            </a:pathLst>
          </a:custGeom>
          <a:noFill/>
          <a:ln w="12191" cap="flat" cmpd="sng" algn="ctr">
            <a:solidFill>
              <a:srgbClr val="3368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49" name="Freeform 1537"/>
          <p:cNvSpPr/>
          <p:nvPr/>
        </p:nvSpPr>
        <p:spPr>
          <a:xfrm>
            <a:off x="3129915" y="5306060"/>
            <a:ext cx="490855" cy="121920"/>
          </a:xfrm>
          <a:custGeom>
            <a:avLst/>
            <a:gdLst/>
            <a:ahLst/>
            <a:cxnLst/>
            <a:rect l="0" t="0" r="0" b="0"/>
            <a:pathLst>
              <a:path w="2241804" h="338328">
                <a:moveTo>
                  <a:pt x="0" y="338328"/>
                </a:moveTo>
                <a:lnTo>
                  <a:pt x="2241804" y="338328"/>
                </a:lnTo>
                <a:lnTo>
                  <a:pt x="2241804" y="0"/>
                </a:lnTo>
                <a:lnTo>
                  <a:pt x="0" y="0"/>
                </a:lnTo>
                <a:lnTo>
                  <a:pt x="0" y="338328"/>
                </a:lnTo>
                <a:close/>
              </a:path>
            </a:pathLst>
          </a:custGeom>
          <a:noFill/>
          <a:ln w="12191" cap="flat" cmpd="sng" algn="ctr">
            <a:solidFill>
              <a:srgbClr val="3368FF">
                <a:alpha val="50000"/>
              </a:srgbClr>
            </a:solidFill>
            <a:prstDash val="solid"/>
            <a:miter lim="127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50" name="Rectangle 1570"/>
          <p:cNvSpPr/>
          <p:nvPr/>
        </p:nvSpPr>
        <p:spPr>
          <a:xfrm>
            <a:off x="2600960" y="5193030"/>
            <a:ext cx="1035050" cy="81280"/>
          </a:xfrm>
          <a:prstGeom prst="rect">
            <a:avLst/>
          </a:prstGeom>
          <a:solidFill>
            <a:srgbClr val="3368FF"/>
          </a:solidFill>
          <a:ln>
            <a:noFill/>
          </a:ln>
        </p:spPr>
        <p:txBody>
          <a:bodyPr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51" name="矩形: 圆角 48"/>
          <p:cNvSpPr/>
          <p:nvPr/>
        </p:nvSpPr>
        <p:spPr>
          <a:xfrm>
            <a:off x="2553970" y="5158105"/>
            <a:ext cx="1098550" cy="298450"/>
          </a:xfrm>
          <a:prstGeom prst="roundRect">
            <a:avLst>
              <a:gd name="adj" fmla="val 1871"/>
            </a:avLst>
          </a:prstGeom>
          <a:noFill/>
          <a:ln w="11430" cap="flat" cmpd="sng" algn="ctr">
            <a:solidFill>
              <a:srgbClr val="3368FF"/>
            </a:solidFill>
            <a:prstDash val="dash"/>
            <a:miter lim="800000"/>
          </a:ln>
          <a:effectLst/>
          <a:extLst>
            <a:ext uri="{909E8E84-426E-40DD-AFC4-6F175D3DCCD1}">
              <a14:hiddenFill xmlns:a14="http://schemas.microsoft.com/office/drawing/2010/main">
                <a:gradFill>
                  <a:gsLst>
                    <a:gs pos="0">
                      <a:srgbClr val="FFFFFF"/>
                    </a:gs>
                    <a:gs pos="100000">
                      <a:srgbClr val="FFFFFF"/>
                    </a:gs>
                    <a:gs pos="46000">
                      <a:srgbClr val="FFFFFF"/>
                    </a:gs>
                  </a:gsLst>
                  <a:path path="circle">
                    <a:fillToRect r="100000" b="100000"/>
                  </a:path>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52" name="文本框 51"/>
          <p:cNvSpPr txBox="1"/>
          <p:nvPr/>
        </p:nvSpPr>
        <p:spPr>
          <a:xfrm>
            <a:off x="5697220" y="2173605"/>
            <a:ext cx="5712460" cy="1706880"/>
          </a:xfrm>
          <a:prstGeom prst="rect">
            <a:avLst/>
          </a:prstGeom>
          <a:noFill/>
        </p:spPr>
        <p:txBody>
          <a:bodyPr wrap="square" rtlCol="0">
            <a:spAutoFit/>
          </a:bodyPr>
          <a:lstStyle/>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设计元素：</a:t>
            </a:r>
            <a:r>
              <a:rPr lang="zh-CN" altLang="en-US" sz="1400">
                <a:solidFill>
                  <a:srgbClr val="383838"/>
                </a:solidFill>
                <a:latin typeface="微软雅黑"/>
                <a:ea typeface="微软雅黑"/>
                <a:cs typeface="微软雅黑"/>
              </a:rPr>
              <a:t>主要由基础层、中间层、应用层组成，采用阶梯式或堆叠式视觉设计，每层标注关键组件，用连接线显示层间交互关系。</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应用场景：</a:t>
            </a:r>
            <a:r>
              <a:rPr lang="zh-CN" altLang="en-US" sz="1400">
                <a:solidFill>
                  <a:srgbClr val="383838"/>
                </a:solidFill>
                <a:latin typeface="微软雅黑"/>
                <a:ea typeface="微软雅黑"/>
                <a:cs typeface="微软雅黑"/>
              </a:rPr>
              <a:t>主要应用在数字化转型架构、生态系统建设、组织能力模型、系统结构图等场景中，兼顾</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技术深度</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与</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视觉表达</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0042FF"/>
                </a:solidFill>
                <a:latin typeface="微软雅黑"/>
                <a:ea typeface="微软雅黑"/>
                <a:cs typeface="微软雅黑"/>
              </a:rPr>
              <a:t>核心关键词：</a:t>
            </a:r>
            <a:r>
              <a:rPr lang="zh-CN" altLang="en-US" sz="1400">
                <a:solidFill>
                  <a:srgbClr val="383838"/>
                </a:solidFill>
                <a:latin typeface="微软雅黑"/>
                <a:ea typeface="微软雅黑"/>
                <a:cs typeface="微软雅黑"/>
              </a:rPr>
              <a:t>「结构分层呈现、模块化解耦、模块间的交互逻辑」。</a:t>
            </a:r>
            <a:endParaRPr lang="zh-CN" altLang="en-US" sz="1400">
              <a:solidFill>
                <a:srgbClr val="383838"/>
              </a:solidFill>
              <a:latin typeface="微软雅黑"/>
              <a:ea typeface="微软雅黑"/>
              <a:cs typeface="微软雅黑"/>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任意多边形 35"/>
          <p:cNvSpPr/>
          <p:nvPr/>
        </p:nvSpPr>
        <p:spPr>
          <a:xfrm flipV="1">
            <a:off x="1809115" y="1988820"/>
            <a:ext cx="8434705" cy="1982470"/>
          </a:xfrm>
          <a:custGeom>
            <a:avLst/>
            <a:gdLst>
              <a:gd name="adj" fmla="val 47127"/>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11977" h="2815">
                <a:moveTo>
                  <a:pt x="0" y="2815"/>
                </a:moveTo>
                <a:lnTo>
                  <a:pt x="1192" y="285"/>
                </a:lnTo>
                <a:lnTo>
                  <a:pt x="1195" y="285"/>
                </a:lnTo>
                <a:lnTo>
                  <a:pt x="1197" y="281"/>
                </a:lnTo>
                <a:cubicBezTo>
                  <a:pt x="1248" y="122"/>
                  <a:pt x="3678" y="-4"/>
                  <a:pt x="6027" y="0"/>
                </a:cubicBezTo>
                <a:cubicBezTo>
                  <a:pt x="8608" y="-5"/>
                  <a:pt x="10735" y="134"/>
                  <a:pt x="10848" y="273"/>
                </a:cubicBezTo>
                <a:lnTo>
                  <a:pt x="10856" y="281"/>
                </a:lnTo>
                <a:lnTo>
                  <a:pt x="10861" y="288"/>
                </a:lnTo>
                <a:lnTo>
                  <a:pt x="10863" y="296"/>
                </a:lnTo>
                <a:lnTo>
                  <a:pt x="10861" y="304"/>
                </a:lnTo>
                <a:lnTo>
                  <a:pt x="10856" y="311"/>
                </a:lnTo>
                <a:lnTo>
                  <a:pt x="10848" y="319"/>
                </a:lnTo>
                <a:lnTo>
                  <a:pt x="10837" y="327"/>
                </a:lnTo>
                <a:lnTo>
                  <a:pt x="10823" y="334"/>
                </a:lnTo>
                <a:lnTo>
                  <a:pt x="10810" y="340"/>
                </a:lnTo>
                <a:lnTo>
                  <a:pt x="11977" y="2815"/>
                </a:lnTo>
                <a:lnTo>
                  <a:pt x="11975" y="2813"/>
                </a:lnTo>
                <a:lnTo>
                  <a:pt x="11965" y="2805"/>
                </a:lnTo>
                <a:lnTo>
                  <a:pt x="11960" y="2797"/>
                </a:lnTo>
                <a:cubicBezTo>
                  <a:pt x="11890" y="2646"/>
                  <a:pt x="8468" y="2528"/>
                  <a:pt x="6246" y="2532"/>
                </a:cubicBezTo>
                <a:lnTo>
                  <a:pt x="6125" y="2532"/>
                </a:lnTo>
                <a:lnTo>
                  <a:pt x="5988" y="2532"/>
                </a:lnTo>
                <a:lnTo>
                  <a:pt x="5836" y="2532"/>
                </a:lnTo>
                <a:lnTo>
                  <a:pt x="5688" y="2532"/>
                </a:lnTo>
                <a:cubicBezTo>
                  <a:pt x="2636" y="2528"/>
                  <a:pt x="127" y="2687"/>
                  <a:pt x="28" y="2792"/>
                </a:cubicBezTo>
                <a:lnTo>
                  <a:pt x="20" y="2798"/>
                </a:lnTo>
                <a:lnTo>
                  <a:pt x="12" y="2805"/>
                </a:lnTo>
                <a:lnTo>
                  <a:pt x="2" y="2813"/>
                </a:lnTo>
                <a:lnTo>
                  <a:pt x="0" y="2815"/>
                </a:lnTo>
                <a:close/>
              </a:path>
            </a:pathLst>
          </a:custGeom>
          <a:gradFill>
            <a:gsLst>
              <a:gs pos="100000">
                <a:srgbClr val="E6E6E6">
                  <a:alpha val="60000"/>
                </a:srgbClr>
              </a:gs>
              <a:gs pos="0">
                <a:srgbClr val="E6E6E6">
                  <a:alpha val="62000"/>
                </a:srgbClr>
              </a:gs>
            </a:gsLst>
            <a:lin ang="5400000" scaled="0"/>
          </a:gradFill>
          <a:ln>
            <a:gradFill>
              <a:gsLst>
                <a:gs pos="77000">
                  <a:srgbClr val="668EFF">
                    <a:alpha val="49000"/>
                  </a:srgbClr>
                </a:gs>
                <a:gs pos="20000">
                  <a:srgbClr val="668EFF">
                    <a:alpha val="49000"/>
                  </a:srgbClr>
                </a:gs>
              </a:gsLst>
              <a:lin ang="5400000" scaled="0"/>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81" name="显眼包PPT3"/>
          <p:cNvSpPr/>
          <p:nvPr/>
        </p:nvSpPr>
        <p:spPr>
          <a:xfrm rot="16200000" flipH="1">
            <a:off x="8255635" y="2431415"/>
            <a:ext cx="3296920" cy="5426075"/>
          </a:xfrm>
          <a:custGeom>
            <a:avLst/>
            <a:gdLst>
              <a:gd name="connsiteX0" fmla="*/ 0 w 3515232"/>
              <a:gd name="connsiteY0" fmla="*/ 4417977 h 4417977"/>
              <a:gd name="connsiteX1" fmla="*/ 3515232 w 3515232"/>
              <a:gd name="connsiteY1" fmla="*/ 4417977 h 4417977"/>
              <a:gd name="connsiteX2" fmla="*/ 3481313 w 3515232"/>
              <a:gd name="connsiteY2" fmla="*/ 4321859 h 4417977"/>
              <a:gd name="connsiteX3" fmla="*/ 3167594 w 3515232"/>
              <a:gd name="connsiteY3" fmla="*/ 3264867 h 4417977"/>
              <a:gd name="connsiteX4" fmla="*/ 2774364 w 3515232"/>
              <a:gd name="connsiteY4" fmla="*/ 193088 h 4417977"/>
              <a:gd name="connsiteX5" fmla="*/ 2797515 w 3515232"/>
              <a:gd name="connsiteY5" fmla="*/ 0 h 4417977"/>
              <a:gd name="connsiteX6" fmla="*/ 717716 w 3515232"/>
              <a:gd name="connsiteY6" fmla="*/ 0 h 4417977"/>
              <a:gd name="connsiteX7" fmla="*/ 740867 w 3515232"/>
              <a:gd name="connsiteY7" fmla="*/ 193090 h 4417977"/>
              <a:gd name="connsiteX8" fmla="*/ 347637 w 3515232"/>
              <a:gd name="connsiteY8" fmla="*/ 3264868 h 4417977"/>
              <a:gd name="connsiteX9" fmla="*/ 33918 w 3515232"/>
              <a:gd name="connsiteY9" fmla="*/ 4321860 h 441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5232" h="4417977">
                <a:moveTo>
                  <a:pt x="0" y="4417977"/>
                </a:moveTo>
                <a:lnTo>
                  <a:pt x="3515232" y="4417977"/>
                </a:lnTo>
                <a:lnTo>
                  <a:pt x="3481313" y="4321859"/>
                </a:lnTo>
                <a:cubicBezTo>
                  <a:pt x="3369439" y="3991253"/>
                  <a:pt x="3263527" y="3636383"/>
                  <a:pt x="3167594" y="3264867"/>
                </a:cubicBezTo>
                <a:cubicBezTo>
                  <a:pt x="2847820" y="2026481"/>
                  <a:pt x="2714622" y="896235"/>
                  <a:pt x="2774364" y="193088"/>
                </a:cubicBezTo>
                <a:lnTo>
                  <a:pt x="2797515" y="0"/>
                </a:lnTo>
                <a:lnTo>
                  <a:pt x="717716" y="0"/>
                </a:lnTo>
                <a:lnTo>
                  <a:pt x="740867" y="193090"/>
                </a:lnTo>
                <a:cubicBezTo>
                  <a:pt x="800609" y="896236"/>
                  <a:pt x="667412" y="2026482"/>
                  <a:pt x="347637" y="3264868"/>
                </a:cubicBezTo>
                <a:cubicBezTo>
                  <a:pt x="251705" y="3636384"/>
                  <a:pt x="145792" y="3991254"/>
                  <a:pt x="33918" y="4321860"/>
                </a:cubicBezTo>
                <a:close/>
              </a:path>
            </a:pathLst>
          </a:custGeom>
          <a:gradFill>
            <a:gsLst>
              <a:gs pos="0">
                <a:srgbClr val="B3D4FE">
                  <a:alpha val="0"/>
                </a:srgbClr>
              </a:gs>
              <a:gs pos="100000">
                <a:srgbClr val="B3D4FE">
                  <a:alpha val="0"/>
                </a:srgbClr>
              </a:gs>
              <a:gs pos="73000">
                <a:srgbClr val="B3D4FE">
                  <a:alpha val="24000"/>
                </a:srgbClr>
              </a:gs>
            </a:gsLst>
            <a:lin ang="5400000" scaled="1"/>
          </a:gradFill>
          <a:ln>
            <a:gradFill>
              <a:gsLst>
                <a:gs pos="55600">
                  <a:srgbClr val="B3D4FE"/>
                </a:gs>
                <a:gs pos="23000">
                  <a:srgbClr val="B3D4FE">
                    <a:alpha val="0"/>
                  </a:srgbClr>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67" name="显眼包PPT3"/>
          <p:cNvSpPr/>
          <p:nvPr/>
        </p:nvSpPr>
        <p:spPr>
          <a:xfrm rot="5400000">
            <a:off x="1063625" y="2431415"/>
            <a:ext cx="3296920" cy="5426075"/>
          </a:xfrm>
          <a:custGeom>
            <a:avLst/>
            <a:gdLst>
              <a:gd name="connsiteX0" fmla="*/ 0 w 3515232"/>
              <a:gd name="connsiteY0" fmla="*/ 4417977 h 4417977"/>
              <a:gd name="connsiteX1" fmla="*/ 3515232 w 3515232"/>
              <a:gd name="connsiteY1" fmla="*/ 4417977 h 4417977"/>
              <a:gd name="connsiteX2" fmla="*/ 3481313 w 3515232"/>
              <a:gd name="connsiteY2" fmla="*/ 4321859 h 4417977"/>
              <a:gd name="connsiteX3" fmla="*/ 3167594 w 3515232"/>
              <a:gd name="connsiteY3" fmla="*/ 3264867 h 4417977"/>
              <a:gd name="connsiteX4" fmla="*/ 2774364 w 3515232"/>
              <a:gd name="connsiteY4" fmla="*/ 193088 h 4417977"/>
              <a:gd name="connsiteX5" fmla="*/ 2797515 w 3515232"/>
              <a:gd name="connsiteY5" fmla="*/ 0 h 4417977"/>
              <a:gd name="connsiteX6" fmla="*/ 717716 w 3515232"/>
              <a:gd name="connsiteY6" fmla="*/ 0 h 4417977"/>
              <a:gd name="connsiteX7" fmla="*/ 740867 w 3515232"/>
              <a:gd name="connsiteY7" fmla="*/ 193090 h 4417977"/>
              <a:gd name="connsiteX8" fmla="*/ 347637 w 3515232"/>
              <a:gd name="connsiteY8" fmla="*/ 3264868 h 4417977"/>
              <a:gd name="connsiteX9" fmla="*/ 33918 w 3515232"/>
              <a:gd name="connsiteY9" fmla="*/ 4321860 h 441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5232" h="4417977">
                <a:moveTo>
                  <a:pt x="0" y="4417977"/>
                </a:moveTo>
                <a:lnTo>
                  <a:pt x="3515232" y="4417977"/>
                </a:lnTo>
                <a:lnTo>
                  <a:pt x="3481313" y="4321859"/>
                </a:lnTo>
                <a:cubicBezTo>
                  <a:pt x="3369439" y="3991253"/>
                  <a:pt x="3263527" y="3636383"/>
                  <a:pt x="3167594" y="3264867"/>
                </a:cubicBezTo>
                <a:cubicBezTo>
                  <a:pt x="2847820" y="2026481"/>
                  <a:pt x="2714622" y="896235"/>
                  <a:pt x="2774364" y="193088"/>
                </a:cubicBezTo>
                <a:lnTo>
                  <a:pt x="2797515" y="0"/>
                </a:lnTo>
                <a:lnTo>
                  <a:pt x="717716" y="0"/>
                </a:lnTo>
                <a:lnTo>
                  <a:pt x="740867" y="193090"/>
                </a:lnTo>
                <a:cubicBezTo>
                  <a:pt x="800609" y="896236"/>
                  <a:pt x="667412" y="2026482"/>
                  <a:pt x="347637" y="3264868"/>
                </a:cubicBezTo>
                <a:cubicBezTo>
                  <a:pt x="251705" y="3636384"/>
                  <a:pt x="145792" y="3991254"/>
                  <a:pt x="33918" y="4321860"/>
                </a:cubicBezTo>
                <a:close/>
              </a:path>
            </a:pathLst>
          </a:custGeom>
          <a:gradFill>
            <a:gsLst>
              <a:gs pos="0">
                <a:srgbClr val="B3D4FE">
                  <a:alpha val="0"/>
                </a:srgbClr>
              </a:gs>
              <a:gs pos="100000">
                <a:srgbClr val="B3D4FE">
                  <a:alpha val="0"/>
                </a:srgbClr>
              </a:gs>
              <a:gs pos="73000">
                <a:srgbClr val="B3D4FE">
                  <a:alpha val="24000"/>
                </a:srgbClr>
              </a:gs>
            </a:gsLst>
            <a:lin ang="5400000" scaled="1"/>
          </a:gradFill>
          <a:ln>
            <a:gradFill>
              <a:gsLst>
                <a:gs pos="55600">
                  <a:srgbClr val="B3D4FE"/>
                </a:gs>
                <a:gs pos="23000">
                  <a:srgbClr val="B3D4FE">
                    <a:alpha val="0"/>
                  </a:srgbClr>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0" name="显眼包PPT10"/>
          <p:cNvSpPr/>
          <p:nvPr/>
        </p:nvSpPr>
        <p:spPr>
          <a:xfrm>
            <a:off x="1211580" y="5866765"/>
            <a:ext cx="9596120" cy="926464"/>
          </a:xfrm>
          <a:custGeom>
            <a:avLst/>
            <a:gdLst>
              <a:gd name="connsiteX0" fmla="*/ 553814 w 10737672"/>
              <a:gd name="connsiteY0" fmla="*/ 0 h 759065"/>
              <a:gd name="connsiteX1" fmla="*/ 579806 w 10737672"/>
              <a:gd name="connsiteY1" fmla="*/ 0 h 759065"/>
              <a:gd name="connsiteX2" fmla="*/ 660566 w 10737672"/>
              <a:gd name="connsiteY2" fmla="*/ 30978 h 759065"/>
              <a:gd name="connsiteX3" fmla="*/ 5368925 w 10737672"/>
              <a:gd name="connsiteY3" fmla="*/ 179364 h 759065"/>
              <a:gd name="connsiteX4" fmla="*/ 10077284 w 10737672"/>
              <a:gd name="connsiteY4" fmla="*/ 30978 h 759065"/>
              <a:gd name="connsiteX5" fmla="*/ 10158045 w 10737672"/>
              <a:gd name="connsiteY5" fmla="*/ 0 h 759065"/>
              <a:gd name="connsiteX6" fmla="*/ 10183858 w 10737672"/>
              <a:gd name="connsiteY6" fmla="*/ 0 h 759065"/>
              <a:gd name="connsiteX7" fmla="*/ 10732255 w 10737672"/>
              <a:gd name="connsiteY7" fmla="*/ 450011 h 759065"/>
              <a:gd name="connsiteX8" fmla="*/ 10715254 w 10737672"/>
              <a:gd name="connsiteY8" fmla="*/ 450011 h 759065"/>
              <a:gd name="connsiteX9" fmla="*/ 10737672 w 10737672"/>
              <a:gd name="connsiteY9" fmla="*/ 462303 h 759065"/>
              <a:gd name="connsiteX10" fmla="*/ 5368836 w 10737672"/>
              <a:gd name="connsiteY10" fmla="*/ 759065 h 759065"/>
              <a:gd name="connsiteX11" fmla="*/ 0 w 10737672"/>
              <a:gd name="connsiteY11" fmla="*/ 462303 h 759065"/>
              <a:gd name="connsiteX12" fmla="*/ 22418 w 10737672"/>
              <a:gd name="connsiteY12" fmla="*/ 450011 h 759065"/>
              <a:gd name="connsiteX13" fmla="*/ 5417 w 10737672"/>
              <a:gd name="connsiteY13" fmla="*/ 450011 h 75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12" h="1459">
                <a:moveTo>
                  <a:pt x="779" y="0"/>
                </a:moveTo>
                <a:lnTo>
                  <a:pt x="816" y="0"/>
                </a:lnTo>
                <a:cubicBezTo>
                  <a:pt x="975" y="94"/>
                  <a:pt x="1213" y="122"/>
                  <a:pt x="1356" y="133"/>
                </a:cubicBezTo>
                <a:cubicBezTo>
                  <a:pt x="2293" y="302"/>
                  <a:pt x="5144" y="422"/>
                  <a:pt x="7610" y="417"/>
                </a:cubicBezTo>
                <a:cubicBezTo>
                  <a:pt x="11107" y="430"/>
                  <a:pt x="14079" y="205"/>
                  <a:pt x="14346" y="15"/>
                </a:cubicBezTo>
                <a:lnTo>
                  <a:pt x="15104" y="865"/>
                </a:lnTo>
                <a:lnTo>
                  <a:pt x="15080" y="865"/>
                </a:lnTo>
                <a:lnTo>
                  <a:pt x="15112" y="888"/>
                </a:lnTo>
                <a:lnTo>
                  <a:pt x="15109" y="903"/>
                </a:lnTo>
                <a:lnTo>
                  <a:pt x="15102" y="918"/>
                </a:lnTo>
                <a:lnTo>
                  <a:pt x="15095" y="933"/>
                </a:lnTo>
                <a:cubicBezTo>
                  <a:pt x="15017" y="1232"/>
                  <a:pt x="10938" y="1466"/>
                  <a:pt x="7731" y="1459"/>
                </a:cubicBezTo>
                <a:lnTo>
                  <a:pt x="7556" y="1459"/>
                </a:lnTo>
                <a:lnTo>
                  <a:pt x="7365" y="1459"/>
                </a:lnTo>
                <a:cubicBezTo>
                  <a:pt x="3426" y="1468"/>
                  <a:pt x="182" y="1179"/>
                  <a:pt x="33" y="946"/>
                </a:cubicBezTo>
                <a:lnTo>
                  <a:pt x="23" y="933"/>
                </a:lnTo>
                <a:lnTo>
                  <a:pt x="10" y="918"/>
                </a:lnTo>
                <a:lnTo>
                  <a:pt x="3" y="903"/>
                </a:lnTo>
                <a:lnTo>
                  <a:pt x="0" y="888"/>
                </a:lnTo>
                <a:lnTo>
                  <a:pt x="32" y="865"/>
                </a:lnTo>
                <a:lnTo>
                  <a:pt x="8" y="865"/>
                </a:lnTo>
                <a:lnTo>
                  <a:pt x="779" y="0"/>
                </a:lnTo>
                <a:close/>
              </a:path>
            </a:pathLst>
          </a:custGeom>
          <a:gradFill flip="none" rotWithShape="1">
            <a:gsLst>
              <a:gs pos="0">
                <a:srgbClr val="3368FF"/>
              </a:gs>
              <a:gs pos="85000">
                <a:srgbClr val="0042FF"/>
              </a:gs>
            </a:gsLst>
            <a:lin ang="5400000" scaled="0"/>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26" name="椭圆 25"/>
          <p:cNvSpPr/>
          <p:nvPr/>
        </p:nvSpPr>
        <p:spPr>
          <a:xfrm>
            <a:off x="1804670" y="5507990"/>
            <a:ext cx="8443595" cy="537845"/>
          </a:xfrm>
          <a:prstGeom prst="ellipse">
            <a:avLst/>
          </a:prstGeom>
          <a:solidFill>
            <a:srgbClr val="FFFFFF"/>
          </a:solidFill>
          <a:ln w="19050">
            <a:gradFill>
              <a:gsLst>
                <a:gs pos="0">
                  <a:srgbClr val="3368FF">
                    <a:alpha val="0"/>
                  </a:srgbClr>
                </a:gs>
                <a:gs pos="100000">
                  <a:srgbClr val="3368FF"/>
                </a:gs>
              </a:gsLst>
              <a:lin ang="5400000" scaled="1"/>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128" name="椭圆 127"/>
          <p:cNvSpPr/>
          <p:nvPr/>
        </p:nvSpPr>
        <p:spPr>
          <a:xfrm>
            <a:off x="1816100" y="5507990"/>
            <a:ext cx="8443595" cy="537845"/>
          </a:xfrm>
          <a:prstGeom prst="ellipse">
            <a:avLst/>
          </a:prstGeom>
          <a:gradFill>
            <a:gsLst>
              <a:gs pos="100000">
                <a:srgbClr val="E6E6E6"/>
              </a:gs>
              <a:gs pos="0">
                <a:srgbClr val="3368FF">
                  <a:alpha val="0"/>
                </a:srgbClr>
              </a:gs>
            </a:gsLst>
            <a:lin ang="5400000" scaled="1"/>
          </a:gradFill>
          <a:ln w="47625">
            <a:gradFill>
              <a:gsLst>
                <a:gs pos="12000">
                  <a:srgbClr val="3368FF">
                    <a:alpha val="0"/>
                  </a:srgbClr>
                </a:gs>
                <a:gs pos="52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5"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智能办公数字化应用架构</a:t>
            </a:r>
            <a:endParaRPr lang="zh-CN" altLang="en-US" sz="2500" dirty="0">
              <a:solidFill>
                <a:srgbClr val="383838"/>
              </a:solidFill>
              <a:effectLst/>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3" name="椭圆 12"/>
          <p:cNvSpPr/>
          <p:nvPr/>
        </p:nvSpPr>
        <p:spPr>
          <a:xfrm>
            <a:off x="2755265" y="4824095"/>
            <a:ext cx="6542405" cy="417195"/>
          </a:xfrm>
          <a:prstGeom prst="ellipse">
            <a:avLst/>
          </a:prstGeom>
          <a:gradFill>
            <a:gsLst>
              <a:gs pos="100000">
                <a:srgbClr val="B3D4FE">
                  <a:alpha val="64000"/>
                </a:srgbClr>
              </a:gs>
              <a:gs pos="20000">
                <a:srgbClr val="B3D4FE">
                  <a:alpha val="0"/>
                </a:srgbClr>
              </a:gs>
            </a:gsLst>
            <a:lin ang="5400000" scaled="1"/>
          </a:gradFill>
          <a:ln w="31750">
            <a:gradFill>
              <a:gsLst>
                <a:gs pos="1900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178" name="任意多边形 177"/>
          <p:cNvSpPr/>
          <p:nvPr/>
        </p:nvSpPr>
        <p:spPr>
          <a:xfrm>
            <a:off x="2756535" y="5016500"/>
            <a:ext cx="6542405" cy="847090"/>
          </a:xfrm>
          <a:custGeom>
            <a:avLst/>
            <a:gdLst/>
            <a:ahLst/>
            <a:cxnLst>
              <a:cxn ang="3">
                <a:pos x="hc" y="t"/>
              </a:cxn>
              <a:cxn ang="cd2">
                <a:pos x="l" y="vc"/>
              </a:cxn>
              <a:cxn ang="cd4">
                <a:pos x="hc" y="b"/>
              </a:cxn>
              <a:cxn ang="0">
                <a:pos x="r" y="vc"/>
              </a:cxn>
            </a:cxnLst>
            <a:rect l="l" t="t" r="r" b="b"/>
            <a:pathLst>
              <a:path w="10303" h="1334">
                <a:moveTo>
                  <a:pt x="0" y="0"/>
                </a:moveTo>
                <a:lnTo>
                  <a:pt x="5" y="0"/>
                </a:lnTo>
                <a:lnTo>
                  <a:pt x="0" y="7"/>
                </a:lnTo>
                <a:lnTo>
                  <a:pt x="0" y="0"/>
                </a:lnTo>
                <a:close/>
                <a:moveTo>
                  <a:pt x="10294" y="0"/>
                </a:moveTo>
                <a:lnTo>
                  <a:pt x="10301" y="0"/>
                </a:lnTo>
                <a:lnTo>
                  <a:pt x="10301" y="17"/>
                </a:lnTo>
                <a:lnTo>
                  <a:pt x="10299" y="8"/>
                </a:lnTo>
                <a:lnTo>
                  <a:pt x="10294" y="0"/>
                </a:lnTo>
                <a:close/>
                <a:moveTo>
                  <a:pt x="10301" y="17"/>
                </a:moveTo>
                <a:lnTo>
                  <a:pt x="10301" y="996"/>
                </a:lnTo>
                <a:lnTo>
                  <a:pt x="10301" y="997"/>
                </a:lnTo>
                <a:lnTo>
                  <a:pt x="10303" y="1006"/>
                </a:lnTo>
                <a:lnTo>
                  <a:pt x="10301" y="1014"/>
                </a:lnTo>
                <a:lnTo>
                  <a:pt x="10301" y="1015"/>
                </a:lnTo>
                <a:lnTo>
                  <a:pt x="10301" y="1032"/>
                </a:lnTo>
                <a:lnTo>
                  <a:pt x="10286" y="1032"/>
                </a:lnTo>
                <a:cubicBezTo>
                  <a:pt x="10169" y="1202"/>
                  <a:pt x="7607" y="1339"/>
                  <a:pt x="5152" y="1334"/>
                </a:cubicBezTo>
                <a:cubicBezTo>
                  <a:pt x="2403" y="1340"/>
                  <a:pt x="134" y="1184"/>
                  <a:pt x="17" y="1032"/>
                </a:cubicBezTo>
                <a:lnTo>
                  <a:pt x="0" y="1032"/>
                </a:lnTo>
                <a:lnTo>
                  <a:pt x="0" y="26"/>
                </a:lnTo>
                <a:lnTo>
                  <a:pt x="5" y="34"/>
                </a:lnTo>
                <a:lnTo>
                  <a:pt x="13" y="42"/>
                </a:lnTo>
                <a:lnTo>
                  <a:pt x="18" y="50"/>
                </a:lnTo>
                <a:cubicBezTo>
                  <a:pt x="78" y="219"/>
                  <a:pt x="3019" y="349"/>
                  <a:pt x="4928" y="345"/>
                </a:cubicBezTo>
                <a:lnTo>
                  <a:pt x="5032" y="345"/>
                </a:lnTo>
                <a:lnTo>
                  <a:pt x="5150" y="345"/>
                </a:lnTo>
                <a:lnTo>
                  <a:pt x="5280" y="345"/>
                </a:lnTo>
                <a:lnTo>
                  <a:pt x="5408" y="345"/>
                </a:lnTo>
                <a:cubicBezTo>
                  <a:pt x="8031" y="349"/>
                  <a:pt x="10187" y="173"/>
                  <a:pt x="10272" y="56"/>
                </a:cubicBezTo>
                <a:lnTo>
                  <a:pt x="10278" y="49"/>
                </a:lnTo>
                <a:lnTo>
                  <a:pt x="10286" y="42"/>
                </a:lnTo>
                <a:lnTo>
                  <a:pt x="10294" y="34"/>
                </a:lnTo>
                <a:lnTo>
                  <a:pt x="10299" y="25"/>
                </a:lnTo>
                <a:lnTo>
                  <a:pt x="10301" y="17"/>
                </a:lnTo>
                <a:close/>
              </a:path>
            </a:pathLst>
          </a:custGeom>
          <a:gradFill>
            <a:gsLst>
              <a:gs pos="100000">
                <a:srgbClr val="B3D4FE"/>
              </a:gs>
              <a:gs pos="0">
                <a:srgbClr val="B3D4FE">
                  <a:alpha val="0"/>
                </a:srgbClr>
              </a:gs>
            </a:gsLst>
            <a:lin ang="5400000" scaled="1"/>
          </a:gradFill>
          <a:ln w="31750">
            <a:gradFill>
              <a:gsLst>
                <a:gs pos="4200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183" name="圆角矩形 182"/>
          <p:cNvSpPr/>
          <p:nvPr/>
        </p:nvSpPr>
        <p:spPr>
          <a:xfrm>
            <a:off x="4688840" y="5339715"/>
            <a:ext cx="2395855" cy="405130"/>
          </a:xfrm>
          <a:prstGeom prst="roundRect">
            <a:avLst>
              <a:gd name="adj" fmla="val 50000"/>
            </a:avLst>
          </a:prstGeom>
          <a:gradFill>
            <a:gsLst>
              <a:gs pos="0">
                <a:srgbClr val="3368FF"/>
              </a:gs>
              <a:gs pos="100000">
                <a:srgbClr val="B3D4FE"/>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en-US" altLang="zh-CN" b="1">
                <a:latin typeface="微软雅黑"/>
                <a:ea typeface="微软雅黑"/>
                <a:cs typeface="微软雅黑"/>
              </a:rPr>
              <a:t>AI</a:t>
            </a:r>
            <a:r>
              <a:rPr lang="zh-CN" altLang="en-US" b="1">
                <a:latin typeface="微软雅黑"/>
                <a:ea typeface="微软雅黑"/>
                <a:cs typeface="微软雅黑"/>
              </a:rPr>
              <a:t>基础大模型</a:t>
            </a:r>
            <a:endParaRPr lang="zh-CN" altLang="en-US" b="1">
              <a:latin typeface="微软雅黑"/>
              <a:ea typeface="微软雅黑"/>
              <a:cs typeface="微软雅黑"/>
            </a:endParaRPr>
          </a:p>
        </p:txBody>
      </p:sp>
      <p:sp>
        <p:nvSpPr>
          <p:cNvPr id="199" name="椭圆 198"/>
          <p:cNvSpPr/>
          <p:nvPr/>
        </p:nvSpPr>
        <p:spPr>
          <a:xfrm>
            <a:off x="5012055" y="5974715"/>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00" name="矩形 199"/>
          <p:cNvSpPr/>
          <p:nvPr/>
        </p:nvSpPr>
        <p:spPr>
          <a:xfrm>
            <a:off x="4550410" y="6209030"/>
            <a:ext cx="1053465"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跨平台融合</a:t>
            </a:r>
            <a:endParaRPr lang="zh-CN" altLang="en-US" sz="1200" b="1" dirty="0">
              <a:solidFill>
                <a:srgbClr val="FFFFFF"/>
              </a:solidFill>
              <a:latin typeface="微软雅黑"/>
              <a:ea typeface="微软雅黑"/>
              <a:cs typeface="微软雅黑"/>
            </a:endParaRPr>
          </a:p>
        </p:txBody>
      </p:sp>
      <p:sp>
        <p:nvSpPr>
          <p:cNvPr id="201" name="矩形 200"/>
          <p:cNvSpPr/>
          <p:nvPr/>
        </p:nvSpPr>
        <p:spPr>
          <a:xfrm>
            <a:off x="4061460" y="6424930"/>
            <a:ext cx="2040890"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无缝连接各类办公系统</a:t>
            </a:r>
            <a:endParaRPr lang="zh-CN" altLang="en-US" sz="1000" dirty="0">
              <a:solidFill>
                <a:srgbClr val="FFFFFF"/>
              </a:solidFill>
              <a:latin typeface="微软雅黑"/>
              <a:ea typeface="微软雅黑"/>
              <a:cs typeface="微软雅黑"/>
            </a:endParaRPr>
          </a:p>
        </p:txBody>
      </p:sp>
      <p:sp>
        <p:nvSpPr>
          <p:cNvPr id="202" name="椭圆 201"/>
          <p:cNvSpPr/>
          <p:nvPr/>
        </p:nvSpPr>
        <p:spPr>
          <a:xfrm>
            <a:off x="6995160" y="5974715"/>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03" name="矩形 202"/>
          <p:cNvSpPr/>
          <p:nvPr/>
        </p:nvSpPr>
        <p:spPr>
          <a:xfrm>
            <a:off x="6735445" y="6186170"/>
            <a:ext cx="826770"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算力保障</a:t>
            </a:r>
            <a:endParaRPr lang="zh-CN" altLang="en-US" sz="1200" b="1" dirty="0">
              <a:solidFill>
                <a:srgbClr val="FFFFFF"/>
              </a:solidFill>
              <a:latin typeface="微软雅黑"/>
              <a:ea typeface="微软雅黑"/>
              <a:cs typeface="微软雅黑"/>
            </a:endParaRPr>
          </a:p>
        </p:txBody>
      </p:sp>
      <p:sp>
        <p:nvSpPr>
          <p:cNvPr id="204" name="矩形 203"/>
          <p:cNvSpPr/>
          <p:nvPr/>
        </p:nvSpPr>
        <p:spPr>
          <a:xfrm>
            <a:off x="6128385" y="6402070"/>
            <a:ext cx="2040890"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高性能</a:t>
            </a:r>
            <a:r>
              <a:rPr lang="en-US" altLang="zh-CN" sz="1000" dirty="0">
                <a:solidFill>
                  <a:srgbClr val="FFFFFF"/>
                </a:solidFill>
                <a:latin typeface="微软雅黑"/>
                <a:ea typeface="微软雅黑"/>
                <a:cs typeface="微软雅黑"/>
              </a:rPr>
              <a:t>GPU</a:t>
            </a:r>
            <a:r>
              <a:rPr lang="zh-CN" altLang="en-US" sz="1000" dirty="0">
                <a:solidFill>
                  <a:srgbClr val="FFFFFF"/>
                </a:solidFill>
                <a:latin typeface="微软雅黑"/>
                <a:ea typeface="微软雅黑"/>
                <a:cs typeface="微软雅黑"/>
              </a:rPr>
              <a:t>算力一体机</a:t>
            </a:r>
            <a:endParaRPr lang="zh-CN" altLang="en-US" sz="1000" dirty="0">
              <a:solidFill>
                <a:srgbClr val="FFFFFF"/>
              </a:solidFill>
              <a:latin typeface="微软雅黑"/>
              <a:ea typeface="微软雅黑"/>
              <a:cs typeface="微软雅黑"/>
            </a:endParaRPr>
          </a:p>
        </p:txBody>
      </p:sp>
      <p:sp>
        <p:nvSpPr>
          <p:cNvPr id="205" name="椭圆 204"/>
          <p:cNvSpPr/>
          <p:nvPr/>
        </p:nvSpPr>
        <p:spPr>
          <a:xfrm>
            <a:off x="2609850" y="5899150"/>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06" name="矩形 205"/>
          <p:cNvSpPr/>
          <p:nvPr/>
        </p:nvSpPr>
        <p:spPr>
          <a:xfrm rot="360000">
            <a:off x="2104390" y="6116955"/>
            <a:ext cx="1082675"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自动化流程</a:t>
            </a:r>
            <a:endParaRPr lang="zh-CN" altLang="en-US" sz="1200" b="1" dirty="0">
              <a:solidFill>
                <a:srgbClr val="FFFFFF"/>
              </a:solidFill>
              <a:latin typeface="微软雅黑"/>
              <a:ea typeface="微软雅黑"/>
              <a:cs typeface="微软雅黑"/>
            </a:endParaRPr>
          </a:p>
        </p:txBody>
      </p:sp>
      <p:sp>
        <p:nvSpPr>
          <p:cNvPr id="207" name="矩形 206"/>
          <p:cNvSpPr/>
          <p:nvPr/>
        </p:nvSpPr>
        <p:spPr>
          <a:xfrm rot="300000">
            <a:off x="1598295" y="6337300"/>
            <a:ext cx="2040890"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实现任务端到端智能流转</a:t>
            </a:r>
            <a:endParaRPr lang="zh-CN" altLang="en-US" sz="1000" dirty="0">
              <a:solidFill>
                <a:srgbClr val="FFFFFF"/>
              </a:solidFill>
              <a:latin typeface="微软雅黑"/>
              <a:ea typeface="微软雅黑"/>
              <a:cs typeface="微软雅黑"/>
            </a:endParaRPr>
          </a:p>
        </p:txBody>
      </p:sp>
      <p:sp>
        <p:nvSpPr>
          <p:cNvPr id="208" name="矩形 207"/>
          <p:cNvSpPr/>
          <p:nvPr/>
        </p:nvSpPr>
        <p:spPr>
          <a:xfrm rot="21240000">
            <a:off x="9187815" y="6032500"/>
            <a:ext cx="826770"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数据安全</a:t>
            </a:r>
            <a:endParaRPr lang="zh-CN" altLang="en-US" sz="1200" b="1" dirty="0">
              <a:solidFill>
                <a:srgbClr val="FFFFFF"/>
              </a:solidFill>
              <a:latin typeface="微软雅黑"/>
              <a:ea typeface="微软雅黑"/>
              <a:cs typeface="微软雅黑"/>
            </a:endParaRPr>
          </a:p>
        </p:txBody>
      </p:sp>
      <p:sp>
        <p:nvSpPr>
          <p:cNvPr id="209" name="矩形 208"/>
          <p:cNvSpPr/>
          <p:nvPr/>
        </p:nvSpPr>
        <p:spPr>
          <a:xfrm rot="21300000">
            <a:off x="8670925" y="6271260"/>
            <a:ext cx="1964055"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全链路加密与权限分级管控</a:t>
            </a:r>
            <a:endParaRPr lang="zh-CN" altLang="en-US" sz="1000" dirty="0">
              <a:solidFill>
                <a:srgbClr val="FFFFFF"/>
              </a:solidFill>
              <a:latin typeface="微软雅黑"/>
              <a:ea typeface="微软雅黑"/>
              <a:cs typeface="微软雅黑"/>
            </a:endParaRPr>
          </a:p>
        </p:txBody>
      </p:sp>
      <p:sp>
        <p:nvSpPr>
          <p:cNvPr id="210" name="椭圆 209"/>
          <p:cNvSpPr/>
          <p:nvPr/>
        </p:nvSpPr>
        <p:spPr>
          <a:xfrm>
            <a:off x="9528175" y="5840730"/>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85" name="文本框 284"/>
          <p:cNvSpPr txBox="1"/>
          <p:nvPr/>
        </p:nvSpPr>
        <p:spPr>
          <a:xfrm>
            <a:off x="1009040" y="4247543"/>
            <a:ext cx="685800" cy="2768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知识力</a:t>
            </a:r>
            <a:endPar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sp>
        <p:nvSpPr>
          <p:cNvPr id="287" name="文本框 286"/>
          <p:cNvSpPr txBox="1"/>
          <p:nvPr/>
        </p:nvSpPr>
        <p:spPr>
          <a:xfrm>
            <a:off x="244475" y="4736465"/>
            <a:ext cx="2295525" cy="808990"/>
          </a:xfrm>
          <a:prstGeom prst="rect">
            <a:avLst/>
          </a:prstGeom>
          <a:noFill/>
        </p:spPr>
        <p:txBody>
          <a:bodyPr wrap="square" lIns="0" tIns="0" rIns="0" bIns="0" rtlCol="0" anchor="t">
            <a:noAutofit/>
          </a:bodyPr>
          <a:lstStyle/>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构建基于企业的专属文档库，</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行业知识库与公共信息的</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办公大脑</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实现从海量数据到结构化知识的精准检索，</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为决策与协作提供统一、可信的信息源。</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pic>
        <p:nvPicPr>
          <p:cNvPr id="332" name="图片 331" descr="知识库"/>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7200" y="4142740"/>
            <a:ext cx="448310" cy="448310"/>
          </a:xfrm>
          <a:prstGeom prst="rect">
            <a:avLst/>
          </a:prstGeom>
        </p:spPr>
      </p:pic>
      <p:sp>
        <p:nvSpPr>
          <p:cNvPr id="333" name="文本框 332"/>
          <p:cNvSpPr txBox="1"/>
          <p:nvPr/>
        </p:nvSpPr>
        <p:spPr>
          <a:xfrm>
            <a:off x="10530865" y="4301518"/>
            <a:ext cx="685800" cy="2768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专业力</a:t>
            </a:r>
            <a:endPar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sp>
        <p:nvSpPr>
          <p:cNvPr id="334" name="文本框 333"/>
          <p:cNvSpPr txBox="1"/>
          <p:nvPr/>
        </p:nvSpPr>
        <p:spPr>
          <a:xfrm>
            <a:off x="9796780" y="4736465"/>
            <a:ext cx="2295525" cy="808990"/>
          </a:xfrm>
          <a:prstGeom prst="rect">
            <a:avLst/>
          </a:prstGeom>
          <a:noFill/>
        </p:spPr>
        <p:txBody>
          <a:bodyPr wrap="square" lIns="0" tIns="0" rIns="0" bIns="0" rtlCol="0" anchor="t">
            <a:noAutofit/>
          </a:bodyPr>
          <a:lstStyle/>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将专业能力模块化，</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深度嵌入具体办公流程，</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提供从分析、建议到自动执行的闭环服务，</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成为各岗位的</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专家级</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智能同事。</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pic>
        <p:nvPicPr>
          <p:cNvPr id="336" name="图片 335" descr="专业服务"/>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126980" y="4234815"/>
            <a:ext cx="343535" cy="343535"/>
          </a:xfrm>
          <a:prstGeom prst="rect">
            <a:avLst/>
          </a:prstGeom>
        </p:spPr>
      </p:pic>
      <p:sp>
        <p:nvSpPr>
          <p:cNvPr id="33" name="椭圆 32"/>
          <p:cNvSpPr/>
          <p:nvPr/>
        </p:nvSpPr>
        <p:spPr>
          <a:xfrm>
            <a:off x="1804670" y="1690370"/>
            <a:ext cx="8443595" cy="417195"/>
          </a:xfrm>
          <a:prstGeom prst="ellipse">
            <a:avLst/>
          </a:prstGeom>
          <a:gradFill>
            <a:gsLst>
              <a:gs pos="100000">
                <a:srgbClr val="3368FF">
                  <a:alpha val="34000"/>
                </a:srgbClr>
              </a:gs>
              <a:gs pos="0">
                <a:srgbClr val="3368FF">
                  <a:alpha val="0"/>
                </a:srgbClr>
              </a:gs>
            </a:gsLst>
            <a:lin ang="5400000" scaled="1"/>
          </a:gradFill>
          <a:ln w="47625">
            <a:gradFill>
              <a:gsLst>
                <a:gs pos="4200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grpSp>
        <p:nvGrpSpPr>
          <p:cNvPr id="82" name="组合 81"/>
          <p:cNvGrpSpPr/>
          <p:nvPr/>
        </p:nvGrpSpPr>
        <p:grpSpPr>
          <a:xfrm rot="0">
            <a:off x="2858135" y="2286000"/>
            <a:ext cx="1476375" cy="1476375"/>
            <a:chOff x="4882" y="4152"/>
            <a:chExt cx="2096" cy="2096"/>
          </a:xfrm>
        </p:grpSpPr>
        <p:sp>
          <p:nvSpPr>
            <p:cNvPr id="74" name="椭圆 73"/>
            <p:cNvSpPr/>
            <p:nvPr/>
          </p:nvSpPr>
          <p:spPr>
            <a:xfrm>
              <a:off x="4882" y="4152"/>
              <a:ext cx="2097" cy="2097"/>
            </a:xfrm>
            <a:prstGeom prst="ellipse">
              <a:avLst/>
            </a:prstGeom>
            <a:solidFill>
              <a:srgbClr val="FFFFFF">
                <a:alpha val="34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5" name="椭圆 74"/>
            <p:cNvSpPr/>
            <p:nvPr/>
          </p:nvSpPr>
          <p:spPr>
            <a:xfrm>
              <a:off x="5062" y="4332"/>
              <a:ext cx="1737" cy="1737"/>
            </a:xfrm>
            <a:prstGeom prst="ellipse">
              <a:avLst/>
            </a:prstGeom>
            <a:gradFill>
              <a:gsLst>
                <a:gs pos="0">
                  <a:srgbClr val="0042FF"/>
                </a:gs>
                <a:gs pos="100000">
                  <a:srgbClr val="3368FF"/>
                </a:gs>
              </a:gsLst>
              <a:lin ang="81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83" name="组合 82"/>
          <p:cNvGrpSpPr/>
          <p:nvPr/>
        </p:nvGrpSpPr>
        <p:grpSpPr>
          <a:xfrm rot="0">
            <a:off x="7743190" y="2325370"/>
            <a:ext cx="1476375" cy="1476375"/>
            <a:chOff x="4882" y="4152"/>
            <a:chExt cx="2096" cy="2096"/>
          </a:xfrm>
        </p:grpSpPr>
        <p:sp>
          <p:nvSpPr>
            <p:cNvPr id="91" name="椭圆 90"/>
            <p:cNvSpPr/>
            <p:nvPr/>
          </p:nvSpPr>
          <p:spPr>
            <a:xfrm>
              <a:off x="4882" y="4152"/>
              <a:ext cx="2097" cy="2097"/>
            </a:xfrm>
            <a:prstGeom prst="ellipse">
              <a:avLst/>
            </a:prstGeom>
            <a:solidFill>
              <a:srgbClr val="FFFFFF">
                <a:alpha val="34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2" name="椭圆 91"/>
            <p:cNvSpPr/>
            <p:nvPr/>
          </p:nvSpPr>
          <p:spPr>
            <a:xfrm>
              <a:off x="5062" y="4332"/>
              <a:ext cx="1737" cy="1737"/>
            </a:xfrm>
            <a:prstGeom prst="ellipse">
              <a:avLst/>
            </a:prstGeom>
            <a:gradFill>
              <a:gsLst>
                <a:gs pos="0">
                  <a:srgbClr val="0042FF"/>
                </a:gs>
                <a:gs pos="100000">
                  <a:srgbClr val="3368FF"/>
                </a:gs>
              </a:gsLst>
              <a:lin ang="81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113" name="圆角矩形 112"/>
          <p:cNvSpPr/>
          <p:nvPr/>
        </p:nvSpPr>
        <p:spPr>
          <a:xfrm>
            <a:off x="279400" y="217297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智能问答</a:t>
            </a:r>
            <a:endParaRPr lang="zh-CN" altLang="en-US" sz="1200">
              <a:solidFill>
                <a:srgbClr val="FFFFFF"/>
              </a:solidFill>
              <a:latin typeface="微软雅黑"/>
              <a:ea typeface="微软雅黑"/>
              <a:cs typeface="微软雅黑"/>
            </a:endParaRPr>
          </a:p>
        </p:txBody>
      </p:sp>
      <p:sp>
        <p:nvSpPr>
          <p:cNvPr id="114" name="圆角矩形 113"/>
          <p:cNvSpPr/>
          <p:nvPr/>
        </p:nvSpPr>
        <p:spPr>
          <a:xfrm>
            <a:off x="540385" y="272034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辅助分析</a:t>
            </a:r>
            <a:endParaRPr lang="zh-CN" altLang="en-US" sz="1200">
              <a:solidFill>
                <a:srgbClr val="FFFFFF"/>
              </a:solidFill>
              <a:latin typeface="微软雅黑"/>
              <a:ea typeface="微软雅黑"/>
              <a:cs typeface="微软雅黑"/>
              <a:sym typeface="微软雅黑"/>
            </a:endParaRPr>
          </a:p>
        </p:txBody>
      </p:sp>
      <p:sp>
        <p:nvSpPr>
          <p:cNvPr id="115" name="圆角矩形 114"/>
          <p:cNvSpPr/>
          <p:nvPr/>
        </p:nvSpPr>
        <p:spPr>
          <a:xfrm>
            <a:off x="800100" y="3244215"/>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风险预警</a:t>
            </a:r>
            <a:endParaRPr lang="zh-CN" altLang="en-US" sz="1200">
              <a:solidFill>
                <a:srgbClr val="FFFFFF"/>
              </a:solidFill>
              <a:latin typeface="微软雅黑"/>
              <a:ea typeface="微软雅黑"/>
              <a:cs typeface="微软雅黑"/>
              <a:sym typeface="微软雅黑"/>
            </a:endParaRPr>
          </a:p>
        </p:txBody>
      </p:sp>
      <p:sp>
        <p:nvSpPr>
          <p:cNvPr id="116" name="圆角矩形 115"/>
          <p:cNvSpPr/>
          <p:nvPr/>
        </p:nvSpPr>
        <p:spPr>
          <a:xfrm>
            <a:off x="10511155" y="218313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情绪感知</a:t>
            </a:r>
            <a:endParaRPr lang="zh-CN" altLang="en-US" sz="1200">
              <a:solidFill>
                <a:srgbClr val="FFFFFF"/>
              </a:solidFill>
              <a:latin typeface="微软雅黑"/>
              <a:ea typeface="微软雅黑"/>
              <a:cs typeface="微软雅黑"/>
              <a:sym typeface="微软雅黑"/>
            </a:endParaRPr>
          </a:p>
        </p:txBody>
      </p:sp>
      <p:sp>
        <p:nvSpPr>
          <p:cNvPr id="117" name="圆角矩形 116"/>
          <p:cNvSpPr/>
          <p:nvPr/>
        </p:nvSpPr>
        <p:spPr>
          <a:xfrm>
            <a:off x="10284460" y="272669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意图理解</a:t>
            </a:r>
            <a:endParaRPr lang="zh-CN" altLang="en-US" sz="1200">
              <a:solidFill>
                <a:srgbClr val="FFFFFF"/>
              </a:solidFill>
              <a:latin typeface="微软雅黑"/>
              <a:ea typeface="微软雅黑"/>
              <a:cs typeface="微软雅黑"/>
              <a:sym typeface="微软雅黑"/>
            </a:endParaRPr>
          </a:p>
        </p:txBody>
      </p:sp>
      <p:sp>
        <p:nvSpPr>
          <p:cNvPr id="119" name="圆角矩形 118"/>
          <p:cNvSpPr/>
          <p:nvPr/>
        </p:nvSpPr>
        <p:spPr>
          <a:xfrm>
            <a:off x="9987280" y="3279775"/>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行为预测</a:t>
            </a:r>
            <a:endParaRPr lang="zh-CN" altLang="en-US" sz="1200">
              <a:solidFill>
                <a:srgbClr val="FFFFFF"/>
              </a:solidFill>
              <a:latin typeface="微软雅黑"/>
              <a:ea typeface="微软雅黑"/>
              <a:cs typeface="微软雅黑"/>
              <a:sym typeface="微软雅黑"/>
            </a:endParaRPr>
          </a:p>
        </p:txBody>
      </p:sp>
      <p:cxnSp>
        <p:nvCxnSpPr>
          <p:cNvPr id="171" name="直接连接符 170"/>
          <p:cNvCxnSpPr/>
          <p:nvPr/>
        </p:nvCxnSpPr>
        <p:spPr>
          <a:xfrm>
            <a:off x="1514475" y="2313940"/>
            <a:ext cx="45339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2" name="直接连接符 171"/>
          <p:cNvCxnSpPr/>
          <p:nvPr/>
        </p:nvCxnSpPr>
        <p:spPr>
          <a:xfrm>
            <a:off x="1771650" y="2860675"/>
            <a:ext cx="46482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3" name="直接连接符 172"/>
          <p:cNvCxnSpPr/>
          <p:nvPr/>
        </p:nvCxnSpPr>
        <p:spPr>
          <a:xfrm>
            <a:off x="2040255" y="3359785"/>
            <a:ext cx="41910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4" name="直接连接符 173"/>
          <p:cNvCxnSpPr/>
          <p:nvPr/>
        </p:nvCxnSpPr>
        <p:spPr>
          <a:xfrm>
            <a:off x="10078720" y="2313940"/>
            <a:ext cx="45339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5" name="直接连接符 174"/>
          <p:cNvCxnSpPr/>
          <p:nvPr/>
        </p:nvCxnSpPr>
        <p:spPr>
          <a:xfrm>
            <a:off x="9819640" y="2860675"/>
            <a:ext cx="46482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6" name="直接连接符 175"/>
          <p:cNvCxnSpPr/>
          <p:nvPr/>
        </p:nvCxnSpPr>
        <p:spPr>
          <a:xfrm>
            <a:off x="9568180" y="3420745"/>
            <a:ext cx="41910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sp>
        <p:nvSpPr>
          <p:cNvPr id="220" name="矩形 219"/>
          <p:cNvSpPr/>
          <p:nvPr/>
        </p:nvSpPr>
        <p:spPr>
          <a:xfrm>
            <a:off x="3098165" y="2933700"/>
            <a:ext cx="998220" cy="496570"/>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公司员工</a:t>
            </a:r>
            <a:endParaRPr lang="en-US" altLang="zh-CN" sz="12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知识工作者</a:t>
            </a:r>
            <a:endParaRPr lang="zh-CN" altLang="en-US" sz="1200" b="1" dirty="0">
              <a:solidFill>
                <a:srgbClr val="FFFFFF"/>
              </a:solidFill>
              <a:latin typeface="微软雅黑"/>
              <a:ea typeface="微软雅黑"/>
              <a:cs typeface="微软雅黑"/>
            </a:endParaRPr>
          </a:p>
        </p:txBody>
      </p:sp>
      <p:sp>
        <p:nvSpPr>
          <p:cNvPr id="221" name="矩形 220"/>
          <p:cNvSpPr/>
          <p:nvPr/>
        </p:nvSpPr>
        <p:spPr>
          <a:xfrm>
            <a:off x="7870825" y="2979420"/>
            <a:ext cx="1223010" cy="4883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业务部门</a:t>
            </a:r>
            <a:endParaRPr lang="zh-CN" altLang="en-US" sz="12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内外部客户</a:t>
            </a:r>
            <a:endParaRPr lang="zh-CN" altLang="en-US" sz="1200" b="1" dirty="0">
              <a:solidFill>
                <a:srgbClr val="FFFFFF"/>
              </a:solidFill>
              <a:latin typeface="微软雅黑"/>
              <a:ea typeface="微软雅黑"/>
              <a:cs typeface="微软雅黑"/>
            </a:endParaRPr>
          </a:p>
        </p:txBody>
      </p:sp>
      <p:grpSp>
        <p:nvGrpSpPr>
          <p:cNvPr id="234" name="组合 233"/>
          <p:cNvGrpSpPr/>
          <p:nvPr/>
        </p:nvGrpSpPr>
        <p:grpSpPr>
          <a:xfrm rot="0" flipH="1">
            <a:off x="4520565" y="3002915"/>
            <a:ext cx="251460" cy="96520"/>
            <a:chOff x="7651" y="4318"/>
            <a:chExt cx="396" cy="152"/>
          </a:xfrm>
        </p:grpSpPr>
        <p:sp>
          <p:nvSpPr>
            <p:cNvPr id="235" name="燕尾形 234"/>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6" name="燕尾形 235"/>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37" name="燕尾形 236"/>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238" name="组合 237"/>
          <p:cNvGrpSpPr/>
          <p:nvPr/>
        </p:nvGrpSpPr>
        <p:grpSpPr>
          <a:xfrm rot="0" flipH="1">
            <a:off x="4857115" y="3002915"/>
            <a:ext cx="251460" cy="96520"/>
            <a:chOff x="7651" y="4318"/>
            <a:chExt cx="396" cy="152"/>
          </a:xfrm>
        </p:grpSpPr>
        <p:sp>
          <p:nvSpPr>
            <p:cNvPr id="239" name="燕尾形 238"/>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40" name="燕尾形 239"/>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45" name="燕尾形 244"/>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258" name="组合 257"/>
          <p:cNvGrpSpPr/>
          <p:nvPr/>
        </p:nvGrpSpPr>
        <p:grpSpPr>
          <a:xfrm rot="0" flipH="1">
            <a:off x="7276465" y="3002915"/>
            <a:ext cx="251460" cy="96520"/>
            <a:chOff x="7651" y="4318"/>
            <a:chExt cx="396" cy="152"/>
          </a:xfrm>
        </p:grpSpPr>
        <p:sp>
          <p:nvSpPr>
            <p:cNvPr id="259" name="燕尾形 258"/>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61" name="燕尾形 260"/>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62" name="燕尾形 261"/>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263" name="显眼包PPT-3"/>
          <p:cNvSpPr txBox="1"/>
          <p:nvPr/>
        </p:nvSpPr>
        <p:spPr>
          <a:xfrm>
            <a:off x="4482465" y="2517140"/>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以人训智</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64" name="显眼包PPT-3"/>
          <p:cNvSpPr txBox="1"/>
          <p:nvPr/>
        </p:nvSpPr>
        <p:spPr>
          <a:xfrm>
            <a:off x="4482465" y="3207385"/>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实时智辅</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65" name="显眼包PPT-3"/>
          <p:cNvSpPr txBox="1"/>
          <p:nvPr/>
        </p:nvSpPr>
        <p:spPr>
          <a:xfrm>
            <a:off x="6892290" y="2517140"/>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主动服务</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66" name="显眼包PPT-3"/>
          <p:cNvSpPr txBox="1"/>
          <p:nvPr/>
        </p:nvSpPr>
        <p:spPr>
          <a:xfrm>
            <a:off x="6892290" y="3207385"/>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实时感知</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37" name="显眼包PPT-1"/>
          <p:cNvSpPr/>
          <p:nvPr/>
        </p:nvSpPr>
        <p:spPr>
          <a:xfrm>
            <a:off x="2673350" y="3514725"/>
            <a:ext cx="6742430" cy="511175"/>
          </a:xfrm>
          <a:prstGeom prst="ellipse">
            <a:avLst/>
          </a:prstGeom>
          <a:noFill/>
          <a:ln w="76200">
            <a:gradFill>
              <a:gsLst>
                <a:gs pos="3400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349" name="组合 348"/>
          <p:cNvGrpSpPr/>
          <p:nvPr/>
        </p:nvGrpSpPr>
        <p:grpSpPr>
          <a:xfrm rot="0">
            <a:off x="4858385" y="2810510"/>
            <a:ext cx="251460" cy="96520"/>
            <a:chOff x="7651" y="4318"/>
            <a:chExt cx="396" cy="152"/>
          </a:xfrm>
        </p:grpSpPr>
        <p:sp>
          <p:nvSpPr>
            <p:cNvPr id="350" name="燕尾形 349"/>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51" name="燕尾形 350"/>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52" name="燕尾形 351"/>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353" name="组合 352"/>
          <p:cNvGrpSpPr/>
          <p:nvPr/>
        </p:nvGrpSpPr>
        <p:grpSpPr>
          <a:xfrm rot="0">
            <a:off x="4519930" y="2810510"/>
            <a:ext cx="251460" cy="96520"/>
            <a:chOff x="7651" y="4318"/>
            <a:chExt cx="396" cy="152"/>
          </a:xfrm>
        </p:grpSpPr>
        <p:sp>
          <p:nvSpPr>
            <p:cNvPr id="354" name="燕尾形 353"/>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55" name="燕尾形 354"/>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56" name="燕尾形 355"/>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367" name="组合 366"/>
          <p:cNvGrpSpPr/>
          <p:nvPr/>
        </p:nvGrpSpPr>
        <p:grpSpPr>
          <a:xfrm rot="0">
            <a:off x="7280910" y="2810510"/>
            <a:ext cx="251460" cy="96520"/>
            <a:chOff x="7651" y="4318"/>
            <a:chExt cx="396" cy="152"/>
          </a:xfrm>
        </p:grpSpPr>
        <p:sp>
          <p:nvSpPr>
            <p:cNvPr id="368" name="燕尾形 367"/>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69" name="燕尾形 368"/>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70" name="燕尾形 369"/>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pic>
        <p:nvPicPr>
          <p:cNvPr id="407" name="图片 406" descr="员工转正"/>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418840" y="2595245"/>
            <a:ext cx="354965" cy="311785"/>
          </a:xfrm>
          <a:prstGeom prst="rect">
            <a:avLst/>
          </a:prstGeom>
        </p:spPr>
      </p:pic>
      <p:pic>
        <p:nvPicPr>
          <p:cNvPr id="408" name="图片 407" descr="36合作、关系"/>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281035" y="2560955"/>
            <a:ext cx="402590" cy="402590"/>
          </a:xfrm>
          <a:prstGeom prst="rect">
            <a:avLst/>
          </a:prstGeom>
        </p:spPr>
      </p:pic>
      <p:sp>
        <p:nvSpPr>
          <p:cNvPr id="552" name="任意多边形: 形状 6"/>
          <p:cNvSpPr/>
          <p:nvPr/>
        </p:nvSpPr>
        <p:spPr>
          <a:xfrm>
            <a:off x="4580890" y="3670300"/>
            <a:ext cx="3145790" cy="1464945"/>
          </a:xfrm>
          <a:custGeom>
            <a:avLst/>
            <a:gdLst>
              <a:gd name="connsiteX0" fmla="*/ 1703020 w 5020532"/>
              <a:gd name="connsiteY0" fmla="*/ 976632 h 4676677"/>
              <a:gd name="connsiteX1" fmla="*/ 3017217 w 5020532"/>
              <a:gd name="connsiteY1" fmla="*/ 976632 h 4676677"/>
              <a:gd name="connsiteX2" fmla="*/ 5020139 w 5020532"/>
              <a:gd name="connsiteY2" fmla="*/ 4676356 h 4676677"/>
              <a:gd name="connsiteX3" fmla="*/ 5020532 w 5020532"/>
              <a:gd name="connsiteY3" fmla="*/ 4676677 h 4676677"/>
              <a:gd name="connsiteX4" fmla="*/ 0 w 5020532"/>
              <a:gd name="connsiteY4" fmla="*/ 4676677 h 4676677"/>
              <a:gd name="connsiteX5" fmla="*/ 109543 w 5020532"/>
              <a:gd name="connsiteY5" fmla="*/ 4575924 h 4676677"/>
              <a:gd name="connsiteX6" fmla="*/ 1703020 w 5020532"/>
              <a:gd name="connsiteY6" fmla="*/ 976632 h 4676677"/>
              <a:gd name="connsiteX7" fmla="*/ 2353326 w 5020532"/>
              <a:gd name="connsiteY7" fmla="*/ 0 h 4676677"/>
              <a:gd name="connsiteX8" fmla="*/ 3601329 w 5020532"/>
              <a:gd name="connsiteY8" fmla="*/ 976630 h 4676677"/>
              <a:gd name="connsiteX9" fmla="*/ 1105322 w 5020532"/>
              <a:gd name="connsiteY9" fmla="*/ 976630 h 46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20532" h="4676677">
                <a:moveTo>
                  <a:pt x="1703020" y="976632"/>
                </a:moveTo>
                <a:lnTo>
                  <a:pt x="3017217" y="976632"/>
                </a:lnTo>
                <a:cubicBezTo>
                  <a:pt x="3062689" y="2256319"/>
                  <a:pt x="3699821" y="3536004"/>
                  <a:pt x="5020139" y="4676356"/>
                </a:cubicBezTo>
                <a:lnTo>
                  <a:pt x="5020532" y="4676677"/>
                </a:lnTo>
                <a:lnTo>
                  <a:pt x="0" y="4676677"/>
                </a:lnTo>
                <a:lnTo>
                  <a:pt x="109543" y="4575924"/>
                </a:lnTo>
                <a:cubicBezTo>
                  <a:pt x="1247186" y="3481956"/>
                  <a:pt x="1495319" y="2221599"/>
                  <a:pt x="1703020" y="976632"/>
                </a:cubicBezTo>
                <a:close/>
                <a:moveTo>
                  <a:pt x="2353326" y="0"/>
                </a:moveTo>
                <a:lnTo>
                  <a:pt x="3601329" y="976630"/>
                </a:lnTo>
                <a:lnTo>
                  <a:pt x="1105322" y="976630"/>
                </a:lnTo>
                <a:close/>
              </a:path>
            </a:pathLst>
          </a:custGeom>
          <a:gradFill>
            <a:gsLst>
              <a:gs pos="100000">
                <a:srgbClr val="FFFFFF">
                  <a:alpha val="50000"/>
                </a:srgbClr>
              </a:gs>
              <a:gs pos="0">
                <a:srgbClr val="FFFF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554" name="椭圆 553"/>
          <p:cNvSpPr/>
          <p:nvPr/>
        </p:nvSpPr>
        <p:spPr>
          <a:xfrm>
            <a:off x="4144328" y="4352925"/>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555" name="矩形 554"/>
          <p:cNvSpPr/>
          <p:nvPr/>
        </p:nvSpPr>
        <p:spPr>
          <a:xfrm>
            <a:off x="409638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多模态</a:t>
            </a:r>
            <a:endParaRPr lang="zh-CN" altLang="en-US" sz="1200" b="1" dirty="0">
              <a:solidFill>
                <a:srgbClr val="0042FF"/>
              </a:solidFill>
              <a:latin typeface="微软雅黑"/>
              <a:ea typeface="微软雅黑"/>
              <a:cs typeface="微软雅黑"/>
            </a:endParaRPr>
          </a:p>
        </p:txBody>
      </p:sp>
      <p:sp>
        <p:nvSpPr>
          <p:cNvPr id="556" name="椭圆 555"/>
          <p:cNvSpPr/>
          <p:nvPr/>
        </p:nvSpPr>
        <p:spPr>
          <a:xfrm>
            <a:off x="7152958" y="4353560"/>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557" name="椭圆 556"/>
          <p:cNvSpPr/>
          <p:nvPr/>
        </p:nvSpPr>
        <p:spPr>
          <a:xfrm>
            <a:off x="6199188" y="4353560"/>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558" name="椭圆 557"/>
          <p:cNvSpPr/>
          <p:nvPr/>
        </p:nvSpPr>
        <p:spPr>
          <a:xfrm>
            <a:off x="5159058" y="4352925"/>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560" name="矩形 559"/>
          <p:cNvSpPr/>
          <p:nvPr/>
        </p:nvSpPr>
        <p:spPr>
          <a:xfrm>
            <a:off x="511111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专业性</a:t>
            </a:r>
            <a:endParaRPr lang="zh-CN" altLang="en-US" sz="1200" b="1" dirty="0">
              <a:solidFill>
                <a:srgbClr val="0042FF"/>
              </a:solidFill>
              <a:latin typeface="微软雅黑"/>
              <a:ea typeface="微软雅黑"/>
              <a:cs typeface="微软雅黑"/>
            </a:endParaRPr>
          </a:p>
        </p:txBody>
      </p:sp>
      <p:sp>
        <p:nvSpPr>
          <p:cNvPr id="562" name="矩形 561"/>
          <p:cNvSpPr/>
          <p:nvPr/>
        </p:nvSpPr>
        <p:spPr>
          <a:xfrm>
            <a:off x="615124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易用性</a:t>
            </a:r>
            <a:endParaRPr lang="zh-CN" altLang="en-US" sz="1200" b="1" dirty="0">
              <a:solidFill>
                <a:srgbClr val="0042FF"/>
              </a:solidFill>
              <a:latin typeface="微软雅黑"/>
              <a:ea typeface="微软雅黑"/>
              <a:cs typeface="微软雅黑"/>
            </a:endParaRPr>
          </a:p>
        </p:txBody>
      </p:sp>
      <p:sp>
        <p:nvSpPr>
          <p:cNvPr id="563" name="矩形 562"/>
          <p:cNvSpPr/>
          <p:nvPr/>
        </p:nvSpPr>
        <p:spPr>
          <a:xfrm>
            <a:off x="710501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安全性</a:t>
            </a:r>
            <a:endParaRPr lang="zh-CN" altLang="en-US" sz="1200" b="1" dirty="0">
              <a:solidFill>
                <a:srgbClr val="0042FF"/>
              </a:solidFill>
              <a:latin typeface="微软雅黑"/>
              <a:ea typeface="微软雅黑"/>
              <a:cs typeface="微软雅黑"/>
            </a:endParaRPr>
          </a:p>
        </p:txBody>
      </p:sp>
      <p:sp>
        <p:nvSpPr>
          <p:cNvPr id="564" name="Freeform 52"/>
          <p:cNvSpPr>
            <a:spLocks noEditPoints="1"/>
          </p:cNvSpPr>
          <p:nvPr/>
        </p:nvSpPr>
        <p:spPr bwMode="auto">
          <a:xfrm>
            <a:off x="5398135" y="4450715"/>
            <a:ext cx="252730" cy="262255"/>
          </a:xfrm>
          <a:custGeom>
            <a:avLst/>
            <a:gdLst>
              <a:gd name="T0" fmla="*/ 79 w 88"/>
              <a:gd name="T1" fmla="*/ 76 h 88"/>
              <a:gd name="T2" fmla="*/ 78 w 88"/>
              <a:gd name="T3" fmla="*/ 76 h 88"/>
              <a:gd name="T4" fmla="*/ 77 w 88"/>
              <a:gd name="T5" fmla="*/ 76 h 88"/>
              <a:gd name="T6" fmla="*/ 74 w 88"/>
              <a:gd name="T7" fmla="*/ 76 h 88"/>
              <a:gd name="T8" fmla="*/ 56 w 88"/>
              <a:gd name="T9" fmla="*/ 60 h 88"/>
              <a:gd name="T10" fmla="*/ 72 w 88"/>
              <a:gd name="T11" fmla="*/ 60 h 88"/>
              <a:gd name="T12" fmla="*/ 72 w 88"/>
              <a:gd name="T13" fmla="*/ 52 h 88"/>
              <a:gd name="T14" fmla="*/ 56 w 88"/>
              <a:gd name="T15" fmla="*/ 52 h 88"/>
              <a:gd name="T16" fmla="*/ 56 w 88"/>
              <a:gd name="T17" fmla="*/ 44 h 88"/>
              <a:gd name="T18" fmla="*/ 69 w 88"/>
              <a:gd name="T19" fmla="*/ 44 h 88"/>
              <a:gd name="T20" fmla="*/ 88 w 88"/>
              <a:gd name="T21" fmla="*/ 27 h 88"/>
              <a:gd name="T22" fmla="*/ 69 w 88"/>
              <a:gd name="T23" fmla="*/ 8 h 88"/>
              <a:gd name="T24" fmla="*/ 60 w 88"/>
              <a:gd name="T25" fmla="*/ 10 h 88"/>
              <a:gd name="T26" fmla="*/ 44 w 88"/>
              <a:gd name="T27" fmla="*/ 0 h 88"/>
              <a:gd name="T28" fmla="*/ 28 w 88"/>
              <a:gd name="T29" fmla="*/ 10 h 88"/>
              <a:gd name="T30" fmla="*/ 19 w 88"/>
              <a:gd name="T31" fmla="*/ 8 h 88"/>
              <a:gd name="T32" fmla="*/ 0 w 88"/>
              <a:gd name="T33" fmla="*/ 27 h 88"/>
              <a:gd name="T34" fmla="*/ 19 w 88"/>
              <a:gd name="T35" fmla="*/ 44 h 88"/>
              <a:gd name="T36" fmla="*/ 32 w 88"/>
              <a:gd name="T37" fmla="*/ 44 h 88"/>
              <a:gd name="T38" fmla="*/ 32 w 88"/>
              <a:gd name="T39" fmla="*/ 52 h 88"/>
              <a:gd name="T40" fmla="*/ 16 w 88"/>
              <a:gd name="T41" fmla="*/ 52 h 88"/>
              <a:gd name="T42" fmla="*/ 16 w 88"/>
              <a:gd name="T43" fmla="*/ 60 h 88"/>
              <a:gd name="T44" fmla="*/ 32 w 88"/>
              <a:gd name="T45" fmla="*/ 60 h 88"/>
              <a:gd name="T46" fmla="*/ 14 w 88"/>
              <a:gd name="T47" fmla="*/ 76 h 88"/>
              <a:gd name="T48" fmla="*/ 11 w 88"/>
              <a:gd name="T49" fmla="*/ 76 h 88"/>
              <a:gd name="T50" fmla="*/ 10 w 88"/>
              <a:gd name="T51" fmla="*/ 76 h 88"/>
              <a:gd name="T52" fmla="*/ 9 w 88"/>
              <a:gd name="T53" fmla="*/ 76 h 88"/>
              <a:gd name="T54" fmla="*/ 4 w 88"/>
              <a:gd name="T55" fmla="*/ 83 h 88"/>
              <a:gd name="T56" fmla="*/ 10 w 88"/>
              <a:gd name="T57" fmla="*/ 88 h 88"/>
              <a:gd name="T58" fmla="*/ 78 w 88"/>
              <a:gd name="T59" fmla="*/ 88 h 88"/>
              <a:gd name="T60" fmla="*/ 84 w 88"/>
              <a:gd name="T61" fmla="*/ 82 h 88"/>
              <a:gd name="T62" fmla="*/ 79 w 88"/>
              <a:gd name="T63" fmla="*/ 76 h 88"/>
              <a:gd name="T64" fmla="*/ 36 w 88"/>
              <a:gd name="T65" fmla="*/ 36 h 88"/>
              <a:gd name="T66" fmla="*/ 19 w 88"/>
              <a:gd name="T67" fmla="*/ 36 h 88"/>
              <a:gd name="T68" fmla="*/ 8 w 88"/>
              <a:gd name="T69" fmla="*/ 27 h 88"/>
              <a:gd name="T70" fmla="*/ 19 w 88"/>
              <a:gd name="T71" fmla="*/ 16 h 88"/>
              <a:gd name="T72" fmla="*/ 27 w 88"/>
              <a:gd name="T73" fmla="*/ 19 h 88"/>
              <a:gd name="T74" fmla="*/ 31 w 88"/>
              <a:gd name="T75" fmla="*/ 20 h 88"/>
              <a:gd name="T76" fmla="*/ 34 w 88"/>
              <a:gd name="T77" fmla="*/ 17 h 88"/>
              <a:gd name="T78" fmla="*/ 44 w 88"/>
              <a:gd name="T79" fmla="*/ 8 h 88"/>
              <a:gd name="T80" fmla="*/ 54 w 88"/>
              <a:gd name="T81" fmla="*/ 17 h 88"/>
              <a:gd name="T82" fmla="*/ 57 w 88"/>
              <a:gd name="T83" fmla="*/ 20 h 88"/>
              <a:gd name="T84" fmla="*/ 61 w 88"/>
              <a:gd name="T85" fmla="*/ 19 h 88"/>
              <a:gd name="T86" fmla="*/ 69 w 88"/>
              <a:gd name="T87" fmla="*/ 16 h 88"/>
              <a:gd name="T88" fmla="*/ 80 w 88"/>
              <a:gd name="T89" fmla="*/ 27 h 88"/>
              <a:gd name="T90" fmla="*/ 69 w 88"/>
              <a:gd name="T91" fmla="*/ 36 h 88"/>
              <a:gd name="T92" fmla="*/ 52 w 88"/>
              <a:gd name="T93" fmla="*/ 36 h 88"/>
              <a:gd name="T94" fmla="*/ 48 w 88"/>
              <a:gd name="T95" fmla="*/ 40 h 88"/>
              <a:gd name="T96" fmla="*/ 48 w 88"/>
              <a:gd name="T97" fmla="*/ 52 h 88"/>
              <a:gd name="T98" fmla="*/ 40 w 88"/>
              <a:gd name="T99" fmla="*/ 52 h 88"/>
              <a:gd name="T100" fmla="*/ 40 w 88"/>
              <a:gd name="T101" fmla="*/ 40 h 88"/>
              <a:gd name="T102" fmla="*/ 36 w 88"/>
              <a:gd name="T103" fmla="*/ 36 h 88"/>
              <a:gd name="T104" fmla="*/ 29 w 88"/>
              <a:gd name="T105" fmla="*/ 80 h 88"/>
              <a:gd name="T106" fmla="*/ 40 w 88"/>
              <a:gd name="T107" fmla="*/ 60 h 88"/>
              <a:gd name="T108" fmla="*/ 48 w 88"/>
              <a:gd name="T109" fmla="*/ 60 h 88"/>
              <a:gd name="T110" fmla="*/ 58 w 88"/>
              <a:gd name="T111" fmla="*/ 79 h 88"/>
              <a:gd name="T112" fmla="*/ 59 w 88"/>
              <a:gd name="T113" fmla="*/ 80 h 88"/>
              <a:gd name="T114" fmla="*/ 29 w 88"/>
              <a:gd name="T115"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 h="88">
                <a:moveTo>
                  <a:pt x="79" y="76"/>
                </a:moveTo>
                <a:cubicBezTo>
                  <a:pt x="78" y="76"/>
                  <a:pt x="78" y="76"/>
                  <a:pt x="78" y="76"/>
                </a:cubicBezTo>
                <a:cubicBezTo>
                  <a:pt x="78" y="76"/>
                  <a:pt x="78" y="76"/>
                  <a:pt x="77" y="76"/>
                </a:cubicBezTo>
                <a:cubicBezTo>
                  <a:pt x="76" y="76"/>
                  <a:pt x="75" y="76"/>
                  <a:pt x="74" y="76"/>
                </a:cubicBezTo>
                <a:cubicBezTo>
                  <a:pt x="63" y="76"/>
                  <a:pt x="57" y="71"/>
                  <a:pt x="56" y="60"/>
                </a:cubicBezTo>
                <a:cubicBezTo>
                  <a:pt x="72" y="60"/>
                  <a:pt x="72" y="60"/>
                  <a:pt x="72" y="60"/>
                </a:cubicBezTo>
                <a:cubicBezTo>
                  <a:pt x="72" y="52"/>
                  <a:pt x="72" y="52"/>
                  <a:pt x="72" y="52"/>
                </a:cubicBezTo>
                <a:cubicBezTo>
                  <a:pt x="56" y="52"/>
                  <a:pt x="56" y="52"/>
                  <a:pt x="56" y="52"/>
                </a:cubicBezTo>
                <a:cubicBezTo>
                  <a:pt x="56" y="44"/>
                  <a:pt x="56" y="44"/>
                  <a:pt x="56" y="44"/>
                </a:cubicBezTo>
                <a:cubicBezTo>
                  <a:pt x="69" y="44"/>
                  <a:pt x="69" y="44"/>
                  <a:pt x="69" y="44"/>
                </a:cubicBezTo>
                <a:cubicBezTo>
                  <a:pt x="80" y="44"/>
                  <a:pt x="88" y="36"/>
                  <a:pt x="88" y="27"/>
                </a:cubicBezTo>
                <a:cubicBezTo>
                  <a:pt x="88" y="16"/>
                  <a:pt x="80" y="8"/>
                  <a:pt x="69" y="8"/>
                </a:cubicBezTo>
                <a:cubicBezTo>
                  <a:pt x="66" y="8"/>
                  <a:pt x="63" y="9"/>
                  <a:pt x="60" y="10"/>
                </a:cubicBezTo>
                <a:cubicBezTo>
                  <a:pt x="57" y="4"/>
                  <a:pt x="51" y="0"/>
                  <a:pt x="44" y="0"/>
                </a:cubicBezTo>
                <a:cubicBezTo>
                  <a:pt x="37" y="0"/>
                  <a:pt x="31" y="4"/>
                  <a:pt x="28" y="10"/>
                </a:cubicBezTo>
                <a:cubicBezTo>
                  <a:pt x="25" y="9"/>
                  <a:pt x="22" y="8"/>
                  <a:pt x="19" y="8"/>
                </a:cubicBezTo>
                <a:cubicBezTo>
                  <a:pt x="8" y="8"/>
                  <a:pt x="0" y="16"/>
                  <a:pt x="0" y="27"/>
                </a:cubicBezTo>
                <a:cubicBezTo>
                  <a:pt x="0" y="36"/>
                  <a:pt x="8" y="44"/>
                  <a:pt x="19" y="44"/>
                </a:cubicBezTo>
                <a:cubicBezTo>
                  <a:pt x="32" y="44"/>
                  <a:pt x="32" y="44"/>
                  <a:pt x="32" y="44"/>
                </a:cubicBezTo>
                <a:cubicBezTo>
                  <a:pt x="32" y="52"/>
                  <a:pt x="32" y="52"/>
                  <a:pt x="32" y="52"/>
                </a:cubicBezTo>
                <a:cubicBezTo>
                  <a:pt x="16" y="52"/>
                  <a:pt x="16" y="52"/>
                  <a:pt x="16" y="52"/>
                </a:cubicBezTo>
                <a:cubicBezTo>
                  <a:pt x="16" y="60"/>
                  <a:pt x="16" y="60"/>
                  <a:pt x="16" y="60"/>
                </a:cubicBezTo>
                <a:cubicBezTo>
                  <a:pt x="32" y="60"/>
                  <a:pt x="32" y="60"/>
                  <a:pt x="32" y="60"/>
                </a:cubicBezTo>
                <a:cubicBezTo>
                  <a:pt x="31" y="71"/>
                  <a:pt x="25" y="76"/>
                  <a:pt x="14" y="76"/>
                </a:cubicBezTo>
                <a:cubicBezTo>
                  <a:pt x="13" y="76"/>
                  <a:pt x="12" y="76"/>
                  <a:pt x="11" y="76"/>
                </a:cubicBezTo>
                <a:cubicBezTo>
                  <a:pt x="10" y="76"/>
                  <a:pt x="10" y="76"/>
                  <a:pt x="10" y="76"/>
                </a:cubicBezTo>
                <a:cubicBezTo>
                  <a:pt x="9" y="76"/>
                  <a:pt x="9" y="76"/>
                  <a:pt x="9" y="76"/>
                </a:cubicBezTo>
                <a:cubicBezTo>
                  <a:pt x="6" y="77"/>
                  <a:pt x="4" y="79"/>
                  <a:pt x="4" y="83"/>
                </a:cubicBezTo>
                <a:cubicBezTo>
                  <a:pt x="4" y="86"/>
                  <a:pt x="7" y="88"/>
                  <a:pt x="10" y="88"/>
                </a:cubicBezTo>
                <a:cubicBezTo>
                  <a:pt x="78" y="88"/>
                  <a:pt x="78" y="88"/>
                  <a:pt x="78" y="88"/>
                </a:cubicBezTo>
                <a:cubicBezTo>
                  <a:pt x="81" y="88"/>
                  <a:pt x="84" y="86"/>
                  <a:pt x="84" y="82"/>
                </a:cubicBezTo>
                <a:cubicBezTo>
                  <a:pt x="84" y="79"/>
                  <a:pt x="82" y="77"/>
                  <a:pt x="79" y="76"/>
                </a:cubicBezTo>
                <a:close/>
                <a:moveTo>
                  <a:pt x="36" y="36"/>
                </a:moveTo>
                <a:cubicBezTo>
                  <a:pt x="19" y="36"/>
                  <a:pt x="19" y="36"/>
                  <a:pt x="19" y="36"/>
                </a:cubicBezTo>
                <a:cubicBezTo>
                  <a:pt x="13" y="36"/>
                  <a:pt x="8" y="33"/>
                  <a:pt x="8" y="27"/>
                </a:cubicBezTo>
                <a:cubicBezTo>
                  <a:pt x="8" y="21"/>
                  <a:pt x="13" y="16"/>
                  <a:pt x="19" y="16"/>
                </a:cubicBezTo>
                <a:cubicBezTo>
                  <a:pt x="22" y="16"/>
                  <a:pt x="25" y="17"/>
                  <a:pt x="27" y="19"/>
                </a:cubicBezTo>
                <a:cubicBezTo>
                  <a:pt x="28" y="20"/>
                  <a:pt x="29" y="21"/>
                  <a:pt x="31" y="20"/>
                </a:cubicBezTo>
                <a:cubicBezTo>
                  <a:pt x="32" y="20"/>
                  <a:pt x="33" y="19"/>
                  <a:pt x="34" y="17"/>
                </a:cubicBezTo>
                <a:cubicBezTo>
                  <a:pt x="34" y="12"/>
                  <a:pt x="39" y="8"/>
                  <a:pt x="44" y="8"/>
                </a:cubicBezTo>
                <a:cubicBezTo>
                  <a:pt x="49" y="8"/>
                  <a:pt x="54" y="12"/>
                  <a:pt x="54" y="17"/>
                </a:cubicBezTo>
                <a:cubicBezTo>
                  <a:pt x="55" y="19"/>
                  <a:pt x="56" y="20"/>
                  <a:pt x="57" y="20"/>
                </a:cubicBezTo>
                <a:cubicBezTo>
                  <a:pt x="59" y="21"/>
                  <a:pt x="60" y="20"/>
                  <a:pt x="61" y="19"/>
                </a:cubicBezTo>
                <a:cubicBezTo>
                  <a:pt x="63" y="17"/>
                  <a:pt x="66" y="16"/>
                  <a:pt x="69" y="16"/>
                </a:cubicBezTo>
                <a:cubicBezTo>
                  <a:pt x="75" y="16"/>
                  <a:pt x="80" y="21"/>
                  <a:pt x="80" y="27"/>
                </a:cubicBezTo>
                <a:cubicBezTo>
                  <a:pt x="80" y="33"/>
                  <a:pt x="75" y="36"/>
                  <a:pt x="69" y="36"/>
                </a:cubicBezTo>
                <a:cubicBezTo>
                  <a:pt x="52" y="36"/>
                  <a:pt x="52" y="36"/>
                  <a:pt x="52" y="36"/>
                </a:cubicBezTo>
                <a:cubicBezTo>
                  <a:pt x="50" y="36"/>
                  <a:pt x="48" y="38"/>
                  <a:pt x="48" y="40"/>
                </a:cubicBezTo>
                <a:cubicBezTo>
                  <a:pt x="48" y="52"/>
                  <a:pt x="48" y="52"/>
                  <a:pt x="48" y="52"/>
                </a:cubicBezTo>
                <a:cubicBezTo>
                  <a:pt x="40" y="52"/>
                  <a:pt x="40" y="52"/>
                  <a:pt x="40" y="52"/>
                </a:cubicBezTo>
                <a:cubicBezTo>
                  <a:pt x="40" y="40"/>
                  <a:pt x="40" y="40"/>
                  <a:pt x="40" y="40"/>
                </a:cubicBezTo>
                <a:cubicBezTo>
                  <a:pt x="40" y="38"/>
                  <a:pt x="38" y="36"/>
                  <a:pt x="36" y="36"/>
                </a:cubicBezTo>
                <a:close/>
                <a:moveTo>
                  <a:pt x="29" y="80"/>
                </a:moveTo>
                <a:cubicBezTo>
                  <a:pt x="35" y="76"/>
                  <a:pt x="39" y="69"/>
                  <a:pt x="40" y="60"/>
                </a:cubicBezTo>
                <a:cubicBezTo>
                  <a:pt x="48" y="60"/>
                  <a:pt x="48" y="60"/>
                  <a:pt x="48" y="60"/>
                </a:cubicBezTo>
                <a:cubicBezTo>
                  <a:pt x="49" y="69"/>
                  <a:pt x="52" y="75"/>
                  <a:pt x="58" y="79"/>
                </a:cubicBezTo>
                <a:cubicBezTo>
                  <a:pt x="58" y="80"/>
                  <a:pt x="58" y="80"/>
                  <a:pt x="59" y="80"/>
                </a:cubicBezTo>
                <a:lnTo>
                  <a:pt x="29" y="80"/>
                </a:lnTo>
                <a:close/>
              </a:path>
            </a:pathLst>
          </a:custGeom>
          <a:gradFill>
            <a:gsLst>
              <a:gs pos="0">
                <a:srgbClr val="3368FF"/>
              </a:gs>
              <a:gs pos="100000">
                <a:srgbClr val="B3D4FE"/>
              </a:gs>
            </a:gsLst>
            <a:lin ang="5400000" scaled="0"/>
          </a:gra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nvGrpSpPr>
          <p:cNvPr id="565" name="组合 564"/>
          <p:cNvGrpSpPr/>
          <p:nvPr/>
        </p:nvGrpSpPr>
        <p:grpSpPr>
          <a:xfrm rot="0">
            <a:off x="7423785" y="4470400"/>
            <a:ext cx="189230" cy="214630"/>
            <a:chOff x="8709026" y="3606801"/>
            <a:chExt cx="252413" cy="252413"/>
          </a:xfrm>
          <a:gradFill>
            <a:gsLst>
              <a:gs pos="0">
                <a:srgbClr val="3368FF"/>
              </a:gs>
              <a:gs pos="100000">
                <a:srgbClr val="B3D4FE"/>
              </a:gs>
            </a:gsLst>
            <a:lin ang="5400000" scaled="0"/>
          </a:gradFill>
        </p:grpSpPr>
        <p:sp>
          <p:nvSpPr>
            <p:cNvPr id="569" name="Freeform 109"/>
            <p:cNvSpPr>
              <a:spLocks noEditPoints="1"/>
            </p:cNvSpPr>
            <p:nvPr/>
          </p:nvSpPr>
          <p:spPr bwMode="auto">
            <a:xfrm>
              <a:off x="8709026" y="3606801"/>
              <a:ext cx="252413" cy="252413"/>
            </a:xfrm>
            <a:custGeom>
              <a:avLst/>
              <a:gdLst>
                <a:gd name="T0" fmla="*/ 72 w 80"/>
                <a:gd name="T1" fmla="*/ 0 h 80"/>
                <a:gd name="T2" fmla="*/ 8 w 80"/>
                <a:gd name="T3" fmla="*/ 0 h 80"/>
                <a:gd name="T4" fmla="*/ 0 w 80"/>
                <a:gd name="T5" fmla="*/ 8 h 80"/>
                <a:gd name="T6" fmla="*/ 0 w 80"/>
                <a:gd name="T7" fmla="*/ 48 h 80"/>
                <a:gd name="T8" fmla="*/ 8 w 80"/>
                <a:gd name="T9" fmla="*/ 56 h 80"/>
                <a:gd name="T10" fmla="*/ 36 w 80"/>
                <a:gd name="T11" fmla="*/ 56 h 80"/>
                <a:gd name="T12" fmla="*/ 36 w 80"/>
                <a:gd name="T13" fmla="*/ 72 h 80"/>
                <a:gd name="T14" fmla="*/ 16 w 80"/>
                <a:gd name="T15" fmla="*/ 72 h 80"/>
                <a:gd name="T16" fmla="*/ 16 w 80"/>
                <a:gd name="T17" fmla="*/ 80 h 80"/>
                <a:gd name="T18" fmla="*/ 64 w 80"/>
                <a:gd name="T19" fmla="*/ 80 h 80"/>
                <a:gd name="T20" fmla="*/ 64 w 80"/>
                <a:gd name="T21" fmla="*/ 72 h 80"/>
                <a:gd name="T22" fmla="*/ 44 w 80"/>
                <a:gd name="T23" fmla="*/ 72 h 80"/>
                <a:gd name="T24" fmla="*/ 44 w 80"/>
                <a:gd name="T25" fmla="*/ 56 h 80"/>
                <a:gd name="T26" fmla="*/ 72 w 80"/>
                <a:gd name="T27" fmla="*/ 56 h 80"/>
                <a:gd name="T28" fmla="*/ 80 w 80"/>
                <a:gd name="T29" fmla="*/ 48 h 80"/>
                <a:gd name="T30" fmla="*/ 80 w 80"/>
                <a:gd name="T31" fmla="*/ 8 h 80"/>
                <a:gd name="T32" fmla="*/ 72 w 80"/>
                <a:gd name="T33" fmla="*/ 0 h 80"/>
                <a:gd name="T34" fmla="*/ 72 w 80"/>
                <a:gd name="T35" fmla="*/ 8 h 80"/>
                <a:gd name="T36" fmla="*/ 72 w 80"/>
                <a:gd name="T37" fmla="*/ 24 h 80"/>
                <a:gd name="T38" fmla="*/ 8 w 80"/>
                <a:gd name="T39" fmla="*/ 24 h 80"/>
                <a:gd name="T40" fmla="*/ 8 w 80"/>
                <a:gd name="T41" fmla="*/ 8 h 80"/>
                <a:gd name="T42" fmla="*/ 72 w 80"/>
                <a:gd name="T43" fmla="*/ 8 h 80"/>
                <a:gd name="T44" fmla="*/ 8 w 80"/>
                <a:gd name="T45" fmla="*/ 48 h 80"/>
                <a:gd name="T46" fmla="*/ 8 w 80"/>
                <a:gd name="T47" fmla="*/ 32 h 80"/>
                <a:gd name="T48" fmla="*/ 72 w 80"/>
                <a:gd name="T49" fmla="*/ 32 h 80"/>
                <a:gd name="T50" fmla="*/ 72 w 80"/>
                <a:gd name="T51" fmla="*/ 48 h 80"/>
                <a:gd name="T52" fmla="*/ 8 w 80"/>
                <a:gd name="T53"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80">
                  <a:moveTo>
                    <a:pt x="72" y="0"/>
                  </a:moveTo>
                  <a:cubicBezTo>
                    <a:pt x="8" y="0"/>
                    <a:pt x="8" y="0"/>
                    <a:pt x="8" y="0"/>
                  </a:cubicBezTo>
                  <a:cubicBezTo>
                    <a:pt x="4" y="0"/>
                    <a:pt x="0" y="4"/>
                    <a:pt x="0" y="8"/>
                  </a:cubicBezTo>
                  <a:cubicBezTo>
                    <a:pt x="0" y="48"/>
                    <a:pt x="0" y="48"/>
                    <a:pt x="0" y="48"/>
                  </a:cubicBezTo>
                  <a:cubicBezTo>
                    <a:pt x="0" y="52"/>
                    <a:pt x="4" y="56"/>
                    <a:pt x="8" y="56"/>
                  </a:cubicBezTo>
                  <a:cubicBezTo>
                    <a:pt x="36" y="56"/>
                    <a:pt x="36" y="56"/>
                    <a:pt x="36" y="56"/>
                  </a:cubicBezTo>
                  <a:cubicBezTo>
                    <a:pt x="36" y="72"/>
                    <a:pt x="36" y="72"/>
                    <a:pt x="36" y="72"/>
                  </a:cubicBezTo>
                  <a:cubicBezTo>
                    <a:pt x="16" y="72"/>
                    <a:pt x="16" y="72"/>
                    <a:pt x="16" y="72"/>
                  </a:cubicBezTo>
                  <a:cubicBezTo>
                    <a:pt x="16" y="80"/>
                    <a:pt x="16" y="80"/>
                    <a:pt x="16" y="80"/>
                  </a:cubicBezTo>
                  <a:cubicBezTo>
                    <a:pt x="64" y="80"/>
                    <a:pt x="64" y="80"/>
                    <a:pt x="64" y="80"/>
                  </a:cubicBezTo>
                  <a:cubicBezTo>
                    <a:pt x="64" y="72"/>
                    <a:pt x="64" y="72"/>
                    <a:pt x="64" y="72"/>
                  </a:cubicBezTo>
                  <a:cubicBezTo>
                    <a:pt x="44" y="72"/>
                    <a:pt x="44" y="72"/>
                    <a:pt x="44" y="72"/>
                  </a:cubicBezTo>
                  <a:cubicBezTo>
                    <a:pt x="44" y="56"/>
                    <a:pt x="44" y="56"/>
                    <a:pt x="44" y="56"/>
                  </a:cubicBezTo>
                  <a:cubicBezTo>
                    <a:pt x="72" y="56"/>
                    <a:pt x="72" y="56"/>
                    <a:pt x="72" y="56"/>
                  </a:cubicBezTo>
                  <a:cubicBezTo>
                    <a:pt x="76" y="56"/>
                    <a:pt x="80" y="52"/>
                    <a:pt x="80" y="48"/>
                  </a:cubicBezTo>
                  <a:cubicBezTo>
                    <a:pt x="80" y="8"/>
                    <a:pt x="80" y="8"/>
                    <a:pt x="80" y="8"/>
                  </a:cubicBezTo>
                  <a:cubicBezTo>
                    <a:pt x="80" y="4"/>
                    <a:pt x="76" y="0"/>
                    <a:pt x="72" y="0"/>
                  </a:cubicBezTo>
                  <a:close/>
                  <a:moveTo>
                    <a:pt x="72" y="8"/>
                  </a:moveTo>
                  <a:cubicBezTo>
                    <a:pt x="72" y="24"/>
                    <a:pt x="72" y="24"/>
                    <a:pt x="72" y="24"/>
                  </a:cubicBezTo>
                  <a:cubicBezTo>
                    <a:pt x="8" y="24"/>
                    <a:pt x="8" y="24"/>
                    <a:pt x="8" y="24"/>
                  </a:cubicBezTo>
                  <a:cubicBezTo>
                    <a:pt x="8" y="8"/>
                    <a:pt x="8" y="8"/>
                    <a:pt x="8" y="8"/>
                  </a:cubicBezTo>
                  <a:lnTo>
                    <a:pt x="72" y="8"/>
                  </a:lnTo>
                  <a:close/>
                  <a:moveTo>
                    <a:pt x="8" y="48"/>
                  </a:moveTo>
                  <a:cubicBezTo>
                    <a:pt x="8" y="32"/>
                    <a:pt x="8" y="32"/>
                    <a:pt x="8" y="32"/>
                  </a:cubicBezTo>
                  <a:cubicBezTo>
                    <a:pt x="72" y="32"/>
                    <a:pt x="72" y="32"/>
                    <a:pt x="72" y="32"/>
                  </a:cubicBezTo>
                  <a:cubicBezTo>
                    <a:pt x="72" y="48"/>
                    <a:pt x="72" y="48"/>
                    <a:pt x="72" y="48"/>
                  </a:cubicBezTo>
                  <a:lnTo>
                    <a:pt x="8" y="48"/>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0" name="Rectangle 110"/>
            <p:cNvSpPr>
              <a:spLocks noChangeArrowheads="1"/>
            </p:cNvSpPr>
            <p:nvPr/>
          </p:nvSpPr>
          <p:spPr bwMode="auto">
            <a:xfrm>
              <a:off x="8747126" y="3644901"/>
              <a:ext cx="63500" cy="25400"/>
            </a:xfrm>
            <a:prstGeom prst="rect">
              <a:avLst/>
            </a:prstGeom>
            <a:grpFill/>
            <a:ln>
              <a:noFill/>
            </a:ln>
            <a:extLs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1" name="Rectangle 111"/>
            <p:cNvSpPr>
              <a:spLocks noChangeArrowheads="1"/>
            </p:cNvSpPr>
            <p:nvPr/>
          </p:nvSpPr>
          <p:spPr bwMode="auto">
            <a:xfrm>
              <a:off x="8747126" y="3721101"/>
              <a:ext cx="63500" cy="23813"/>
            </a:xfrm>
            <a:prstGeom prst="rect">
              <a:avLst/>
            </a:prstGeom>
            <a:grpFill/>
            <a:ln>
              <a:noFill/>
            </a:ln>
            <a:extLs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2" name="Oval 112"/>
            <p:cNvSpPr>
              <a:spLocks noChangeArrowheads="1"/>
            </p:cNvSpPr>
            <p:nvPr/>
          </p:nvSpPr>
          <p:spPr bwMode="auto">
            <a:xfrm>
              <a:off x="8923338" y="3833813"/>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3" name="Oval 113"/>
            <p:cNvSpPr>
              <a:spLocks noChangeArrowheads="1"/>
            </p:cNvSpPr>
            <p:nvPr/>
          </p:nvSpPr>
          <p:spPr bwMode="auto">
            <a:xfrm>
              <a:off x="8721726" y="3833813"/>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4" name="Oval 114"/>
            <p:cNvSpPr>
              <a:spLocks noChangeArrowheads="1"/>
            </p:cNvSpPr>
            <p:nvPr/>
          </p:nvSpPr>
          <p:spPr bwMode="auto">
            <a:xfrm>
              <a:off x="8859838" y="3644901"/>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5" name="Oval 115"/>
            <p:cNvSpPr>
              <a:spLocks noChangeArrowheads="1"/>
            </p:cNvSpPr>
            <p:nvPr/>
          </p:nvSpPr>
          <p:spPr bwMode="auto">
            <a:xfrm>
              <a:off x="8897938" y="3644901"/>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6" name="Oval 116"/>
            <p:cNvSpPr>
              <a:spLocks noChangeArrowheads="1"/>
            </p:cNvSpPr>
            <p:nvPr/>
          </p:nvSpPr>
          <p:spPr bwMode="auto">
            <a:xfrm>
              <a:off x="8859838" y="3721101"/>
              <a:ext cx="25400" cy="23813"/>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7" name="Oval 117"/>
            <p:cNvSpPr>
              <a:spLocks noChangeArrowheads="1"/>
            </p:cNvSpPr>
            <p:nvPr/>
          </p:nvSpPr>
          <p:spPr bwMode="auto">
            <a:xfrm>
              <a:off x="8897938" y="3721101"/>
              <a:ext cx="25400" cy="23813"/>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578" name="组合 577"/>
          <p:cNvGrpSpPr/>
          <p:nvPr/>
        </p:nvGrpSpPr>
        <p:grpSpPr>
          <a:xfrm rot="0">
            <a:off x="6482080" y="4484370"/>
            <a:ext cx="194310" cy="220345"/>
            <a:chOff x="4462463" y="1782763"/>
            <a:chExt cx="252413" cy="254000"/>
          </a:xfrm>
          <a:gradFill>
            <a:gsLst>
              <a:gs pos="0">
                <a:srgbClr val="3368FF"/>
              </a:gs>
              <a:gs pos="100000">
                <a:srgbClr val="B3D4FE"/>
              </a:gs>
            </a:gsLst>
            <a:lin ang="5400000" scaled="0"/>
          </a:gradFill>
        </p:grpSpPr>
        <p:sp>
          <p:nvSpPr>
            <p:cNvPr id="579" name="Freeform 50"/>
            <p:cNvSpPr>
              <a:spLocks noEditPoints="1"/>
            </p:cNvSpPr>
            <p:nvPr/>
          </p:nvSpPr>
          <p:spPr bwMode="auto">
            <a:xfrm>
              <a:off x="4462463" y="1782763"/>
              <a:ext cx="203200" cy="254000"/>
            </a:xfrm>
            <a:custGeom>
              <a:avLst/>
              <a:gdLst>
                <a:gd name="T0" fmla="*/ 40 w 64"/>
                <a:gd name="T1" fmla="*/ 72 h 80"/>
                <a:gd name="T2" fmla="*/ 8 w 64"/>
                <a:gd name="T3" fmla="*/ 72 h 80"/>
                <a:gd name="T4" fmla="*/ 8 w 64"/>
                <a:gd name="T5" fmla="*/ 68 h 80"/>
                <a:gd name="T6" fmla="*/ 40 w 64"/>
                <a:gd name="T7" fmla="*/ 68 h 80"/>
                <a:gd name="T8" fmla="*/ 40 w 64"/>
                <a:gd name="T9" fmla="*/ 60 h 80"/>
                <a:gd name="T10" fmla="*/ 8 w 64"/>
                <a:gd name="T11" fmla="*/ 60 h 80"/>
                <a:gd name="T12" fmla="*/ 8 w 64"/>
                <a:gd name="T13" fmla="*/ 20 h 80"/>
                <a:gd name="T14" fmla="*/ 56 w 64"/>
                <a:gd name="T15" fmla="*/ 20 h 80"/>
                <a:gd name="T16" fmla="*/ 56 w 64"/>
                <a:gd name="T17" fmla="*/ 24 h 80"/>
                <a:gd name="T18" fmla="*/ 64 w 64"/>
                <a:gd name="T19" fmla="*/ 24 h 80"/>
                <a:gd name="T20" fmla="*/ 64 w 64"/>
                <a:gd name="T21" fmla="*/ 8 h 80"/>
                <a:gd name="T22" fmla="*/ 56 w 64"/>
                <a:gd name="T23" fmla="*/ 0 h 80"/>
                <a:gd name="T24" fmla="*/ 8 w 64"/>
                <a:gd name="T25" fmla="*/ 0 h 80"/>
                <a:gd name="T26" fmla="*/ 0 w 64"/>
                <a:gd name="T27" fmla="*/ 8 h 80"/>
                <a:gd name="T28" fmla="*/ 0 w 64"/>
                <a:gd name="T29" fmla="*/ 72 h 80"/>
                <a:gd name="T30" fmla="*/ 8 w 64"/>
                <a:gd name="T31" fmla="*/ 80 h 80"/>
                <a:gd name="T32" fmla="*/ 40 w 64"/>
                <a:gd name="T33" fmla="*/ 80 h 80"/>
                <a:gd name="T34" fmla="*/ 40 w 64"/>
                <a:gd name="T35" fmla="*/ 72 h 80"/>
                <a:gd name="T36" fmla="*/ 8 w 64"/>
                <a:gd name="T37" fmla="*/ 8 h 80"/>
                <a:gd name="T38" fmla="*/ 56 w 64"/>
                <a:gd name="T39" fmla="*/ 8 h 80"/>
                <a:gd name="T40" fmla="*/ 56 w 64"/>
                <a:gd name="T41" fmla="*/ 12 h 80"/>
                <a:gd name="T42" fmla="*/ 8 w 64"/>
                <a:gd name="T43" fmla="*/ 12 h 80"/>
                <a:gd name="T44" fmla="*/ 8 w 64"/>
                <a:gd name="T45" fmla="*/ 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80">
                  <a:moveTo>
                    <a:pt x="40" y="72"/>
                  </a:moveTo>
                  <a:cubicBezTo>
                    <a:pt x="8" y="72"/>
                    <a:pt x="8" y="72"/>
                    <a:pt x="8" y="72"/>
                  </a:cubicBezTo>
                  <a:cubicBezTo>
                    <a:pt x="8" y="68"/>
                    <a:pt x="8" y="68"/>
                    <a:pt x="8" y="68"/>
                  </a:cubicBezTo>
                  <a:cubicBezTo>
                    <a:pt x="40" y="68"/>
                    <a:pt x="40" y="68"/>
                    <a:pt x="40" y="68"/>
                  </a:cubicBezTo>
                  <a:cubicBezTo>
                    <a:pt x="40" y="60"/>
                    <a:pt x="40" y="60"/>
                    <a:pt x="40" y="60"/>
                  </a:cubicBezTo>
                  <a:cubicBezTo>
                    <a:pt x="8" y="60"/>
                    <a:pt x="8" y="60"/>
                    <a:pt x="8" y="60"/>
                  </a:cubicBezTo>
                  <a:cubicBezTo>
                    <a:pt x="8" y="20"/>
                    <a:pt x="8" y="20"/>
                    <a:pt x="8" y="20"/>
                  </a:cubicBezTo>
                  <a:cubicBezTo>
                    <a:pt x="56" y="20"/>
                    <a:pt x="56" y="20"/>
                    <a:pt x="56" y="20"/>
                  </a:cubicBezTo>
                  <a:cubicBezTo>
                    <a:pt x="56" y="24"/>
                    <a:pt x="56" y="24"/>
                    <a:pt x="56" y="24"/>
                  </a:cubicBezTo>
                  <a:cubicBezTo>
                    <a:pt x="64" y="24"/>
                    <a:pt x="64" y="24"/>
                    <a:pt x="64" y="24"/>
                  </a:cubicBezTo>
                  <a:cubicBezTo>
                    <a:pt x="64" y="8"/>
                    <a:pt x="64" y="8"/>
                    <a:pt x="64" y="8"/>
                  </a:cubicBezTo>
                  <a:cubicBezTo>
                    <a:pt x="64" y="4"/>
                    <a:pt x="60" y="0"/>
                    <a:pt x="56" y="0"/>
                  </a:cubicBezTo>
                  <a:cubicBezTo>
                    <a:pt x="8" y="0"/>
                    <a:pt x="8" y="0"/>
                    <a:pt x="8" y="0"/>
                  </a:cubicBezTo>
                  <a:cubicBezTo>
                    <a:pt x="4" y="0"/>
                    <a:pt x="0" y="4"/>
                    <a:pt x="0" y="8"/>
                  </a:cubicBezTo>
                  <a:cubicBezTo>
                    <a:pt x="0" y="72"/>
                    <a:pt x="0" y="72"/>
                    <a:pt x="0" y="72"/>
                  </a:cubicBezTo>
                  <a:cubicBezTo>
                    <a:pt x="0" y="76"/>
                    <a:pt x="4" y="80"/>
                    <a:pt x="8" y="80"/>
                  </a:cubicBezTo>
                  <a:cubicBezTo>
                    <a:pt x="40" y="80"/>
                    <a:pt x="40" y="80"/>
                    <a:pt x="40" y="80"/>
                  </a:cubicBezTo>
                  <a:lnTo>
                    <a:pt x="40" y="72"/>
                  </a:lnTo>
                  <a:close/>
                  <a:moveTo>
                    <a:pt x="8" y="8"/>
                  </a:moveTo>
                  <a:cubicBezTo>
                    <a:pt x="56" y="8"/>
                    <a:pt x="56" y="8"/>
                    <a:pt x="56" y="8"/>
                  </a:cubicBezTo>
                  <a:cubicBezTo>
                    <a:pt x="56" y="12"/>
                    <a:pt x="56" y="12"/>
                    <a:pt x="56" y="12"/>
                  </a:cubicBezTo>
                  <a:cubicBezTo>
                    <a:pt x="8" y="12"/>
                    <a:pt x="8" y="12"/>
                    <a:pt x="8" y="12"/>
                  </a:cubicBezTo>
                  <a:lnTo>
                    <a:pt x="8" y="8"/>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0" name="Freeform 51"/>
            <p:cNvSpPr>
              <a:spLocks noEditPoints="1"/>
            </p:cNvSpPr>
            <p:nvPr/>
          </p:nvSpPr>
          <p:spPr bwMode="auto">
            <a:xfrm>
              <a:off x="4614863" y="1884363"/>
              <a:ext cx="100013" cy="152400"/>
            </a:xfrm>
            <a:custGeom>
              <a:avLst/>
              <a:gdLst>
                <a:gd name="T0" fmla="*/ 24 w 32"/>
                <a:gd name="T1" fmla="*/ 0 h 48"/>
                <a:gd name="T2" fmla="*/ 8 w 32"/>
                <a:gd name="T3" fmla="*/ 0 h 48"/>
                <a:gd name="T4" fmla="*/ 0 w 32"/>
                <a:gd name="T5" fmla="*/ 8 h 48"/>
                <a:gd name="T6" fmla="*/ 0 w 32"/>
                <a:gd name="T7" fmla="*/ 40 h 48"/>
                <a:gd name="T8" fmla="*/ 8 w 32"/>
                <a:gd name="T9" fmla="*/ 48 h 48"/>
                <a:gd name="T10" fmla="*/ 24 w 32"/>
                <a:gd name="T11" fmla="*/ 48 h 48"/>
                <a:gd name="T12" fmla="*/ 32 w 32"/>
                <a:gd name="T13" fmla="*/ 40 h 48"/>
                <a:gd name="T14" fmla="*/ 32 w 32"/>
                <a:gd name="T15" fmla="*/ 8 h 48"/>
                <a:gd name="T16" fmla="*/ 24 w 32"/>
                <a:gd name="T17" fmla="*/ 0 h 48"/>
                <a:gd name="T18" fmla="*/ 24 w 32"/>
                <a:gd name="T19" fmla="*/ 8 h 48"/>
                <a:gd name="T20" fmla="*/ 24 w 32"/>
                <a:gd name="T21" fmla="*/ 28 h 48"/>
                <a:gd name="T22" fmla="*/ 8 w 32"/>
                <a:gd name="T23" fmla="*/ 28 h 48"/>
                <a:gd name="T24" fmla="*/ 8 w 32"/>
                <a:gd name="T25" fmla="*/ 8 h 48"/>
                <a:gd name="T26" fmla="*/ 24 w 32"/>
                <a:gd name="T27" fmla="*/ 8 h 48"/>
                <a:gd name="T28" fmla="*/ 8 w 32"/>
                <a:gd name="T29" fmla="*/ 40 h 48"/>
                <a:gd name="T30" fmla="*/ 8 w 32"/>
                <a:gd name="T31" fmla="*/ 36 h 48"/>
                <a:gd name="T32" fmla="*/ 24 w 32"/>
                <a:gd name="T33" fmla="*/ 36 h 48"/>
                <a:gd name="T34" fmla="*/ 24 w 32"/>
                <a:gd name="T35" fmla="*/ 40 h 48"/>
                <a:gd name="T36" fmla="*/ 8 w 32"/>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48">
                  <a:moveTo>
                    <a:pt x="24" y="0"/>
                  </a:moveTo>
                  <a:cubicBezTo>
                    <a:pt x="8" y="0"/>
                    <a:pt x="8" y="0"/>
                    <a:pt x="8" y="0"/>
                  </a:cubicBezTo>
                  <a:cubicBezTo>
                    <a:pt x="4" y="0"/>
                    <a:pt x="0" y="4"/>
                    <a:pt x="0" y="8"/>
                  </a:cubicBezTo>
                  <a:cubicBezTo>
                    <a:pt x="0" y="40"/>
                    <a:pt x="0" y="40"/>
                    <a:pt x="0" y="40"/>
                  </a:cubicBezTo>
                  <a:cubicBezTo>
                    <a:pt x="0" y="44"/>
                    <a:pt x="4" y="48"/>
                    <a:pt x="8" y="48"/>
                  </a:cubicBezTo>
                  <a:cubicBezTo>
                    <a:pt x="24" y="48"/>
                    <a:pt x="24" y="48"/>
                    <a:pt x="24" y="48"/>
                  </a:cubicBezTo>
                  <a:cubicBezTo>
                    <a:pt x="28" y="48"/>
                    <a:pt x="32" y="44"/>
                    <a:pt x="32" y="40"/>
                  </a:cubicBezTo>
                  <a:cubicBezTo>
                    <a:pt x="32" y="8"/>
                    <a:pt x="32" y="8"/>
                    <a:pt x="32" y="8"/>
                  </a:cubicBezTo>
                  <a:cubicBezTo>
                    <a:pt x="32" y="4"/>
                    <a:pt x="28" y="0"/>
                    <a:pt x="24" y="0"/>
                  </a:cubicBezTo>
                  <a:close/>
                  <a:moveTo>
                    <a:pt x="24" y="8"/>
                  </a:moveTo>
                  <a:cubicBezTo>
                    <a:pt x="24" y="28"/>
                    <a:pt x="24" y="28"/>
                    <a:pt x="24" y="28"/>
                  </a:cubicBezTo>
                  <a:cubicBezTo>
                    <a:pt x="8" y="28"/>
                    <a:pt x="8" y="28"/>
                    <a:pt x="8" y="28"/>
                  </a:cubicBezTo>
                  <a:cubicBezTo>
                    <a:pt x="8" y="8"/>
                    <a:pt x="8" y="8"/>
                    <a:pt x="8" y="8"/>
                  </a:cubicBezTo>
                  <a:lnTo>
                    <a:pt x="24" y="8"/>
                  </a:lnTo>
                  <a:close/>
                  <a:moveTo>
                    <a:pt x="8" y="40"/>
                  </a:moveTo>
                  <a:cubicBezTo>
                    <a:pt x="8" y="36"/>
                    <a:pt x="8" y="36"/>
                    <a:pt x="8" y="36"/>
                  </a:cubicBezTo>
                  <a:cubicBezTo>
                    <a:pt x="24" y="36"/>
                    <a:pt x="24" y="36"/>
                    <a:pt x="24" y="36"/>
                  </a:cubicBezTo>
                  <a:cubicBezTo>
                    <a:pt x="24" y="40"/>
                    <a:pt x="24" y="40"/>
                    <a:pt x="24" y="40"/>
                  </a:cubicBezTo>
                  <a:lnTo>
                    <a:pt x="8" y="40"/>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581" name="组合 580"/>
          <p:cNvGrpSpPr/>
          <p:nvPr/>
        </p:nvGrpSpPr>
        <p:grpSpPr>
          <a:xfrm rot="0">
            <a:off x="4400868" y="4470400"/>
            <a:ext cx="217805" cy="222885"/>
            <a:chOff x="5046663" y="3884613"/>
            <a:chExt cx="279400" cy="304800"/>
          </a:xfrm>
          <a:gradFill>
            <a:gsLst>
              <a:gs pos="0">
                <a:srgbClr val="3368FF"/>
              </a:gs>
              <a:gs pos="100000">
                <a:srgbClr val="B3D4FE"/>
              </a:gs>
            </a:gsLst>
            <a:lin ang="5400000" scaled="0"/>
          </a:gradFill>
        </p:grpSpPr>
        <p:sp>
          <p:nvSpPr>
            <p:cNvPr id="583" name="Freeform 18"/>
            <p:cNvSpPr>
              <a:spLocks noEditPoints="1"/>
            </p:cNvSpPr>
            <p:nvPr/>
          </p:nvSpPr>
          <p:spPr bwMode="auto">
            <a:xfrm>
              <a:off x="5046663" y="38846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4" name="Freeform 19"/>
            <p:cNvSpPr>
              <a:spLocks noEditPoints="1"/>
            </p:cNvSpPr>
            <p:nvPr/>
          </p:nvSpPr>
          <p:spPr bwMode="auto">
            <a:xfrm>
              <a:off x="5199063" y="38846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5" name="Freeform 20"/>
            <p:cNvSpPr>
              <a:spLocks noEditPoints="1"/>
            </p:cNvSpPr>
            <p:nvPr/>
          </p:nvSpPr>
          <p:spPr bwMode="auto">
            <a:xfrm>
              <a:off x="5046663" y="40497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6" name="Freeform 21"/>
            <p:cNvSpPr>
              <a:spLocks noEditPoints="1"/>
            </p:cNvSpPr>
            <p:nvPr/>
          </p:nvSpPr>
          <p:spPr bwMode="auto">
            <a:xfrm>
              <a:off x="5199063" y="40497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sp>
        <p:nvSpPr>
          <p:cNvPr id="588" name="任意多边形: 形状 35"/>
          <p:cNvSpPr>
            <a:spLocks noEditPoints="1"/>
          </p:cNvSpPr>
          <p:nvPr/>
        </p:nvSpPr>
        <p:spPr bwMode="auto">
          <a:xfrm flipH="1">
            <a:off x="5423535" y="2370455"/>
            <a:ext cx="1280160" cy="1278890"/>
          </a:xfrm>
          <a:custGeom>
            <a:avLst/>
            <a:gdLst>
              <a:gd name="T0" fmla="*/ 5154 w 11157"/>
              <a:gd name="T1" fmla="*/ 11094 h 11157"/>
              <a:gd name="T2" fmla="*/ 6017 w 11157"/>
              <a:gd name="T3" fmla="*/ 11093 h 11157"/>
              <a:gd name="T4" fmla="*/ 6299 w 11157"/>
              <a:gd name="T5" fmla="*/ 11064 h 11157"/>
              <a:gd name="T6" fmla="*/ 4454 w 11157"/>
              <a:gd name="T7" fmla="*/ 10948 h 11157"/>
              <a:gd name="T8" fmla="*/ 4087 w 11157"/>
              <a:gd name="T9" fmla="*/ 10953 h 11157"/>
              <a:gd name="T10" fmla="*/ 7084 w 11157"/>
              <a:gd name="T11" fmla="*/ 10855 h 11157"/>
              <a:gd name="T12" fmla="*/ 7443 w 11157"/>
              <a:gd name="T13" fmla="*/ 10834 h 11157"/>
              <a:gd name="T14" fmla="*/ 7793 w 11157"/>
              <a:gd name="T15" fmla="*/ 10600 h 11157"/>
              <a:gd name="T16" fmla="*/ 3077 w 11157"/>
              <a:gd name="T17" fmla="*/ 10511 h 11157"/>
              <a:gd name="T18" fmla="*/ 2665 w 11157"/>
              <a:gd name="T19" fmla="*/ 10279 h 11157"/>
              <a:gd name="T20" fmla="*/ 8502 w 11157"/>
              <a:gd name="T21" fmla="*/ 10273 h 11157"/>
              <a:gd name="T22" fmla="*/ 8738 w 11157"/>
              <a:gd name="T23" fmla="*/ 10117 h 11157"/>
              <a:gd name="T24" fmla="*/ 2089 w 11157"/>
              <a:gd name="T25" fmla="*/ 9820 h 11157"/>
              <a:gd name="T26" fmla="*/ 1773 w 11157"/>
              <a:gd name="T27" fmla="*/ 9654 h 11157"/>
              <a:gd name="T28" fmla="*/ 9360 w 11157"/>
              <a:gd name="T29" fmla="*/ 9565 h 11157"/>
              <a:gd name="T30" fmla="*/ 9627 w 11157"/>
              <a:gd name="T31" fmla="*/ 9392 h 11157"/>
              <a:gd name="T32" fmla="*/ 1290 w 11157"/>
              <a:gd name="T33" fmla="*/ 9021 h 11157"/>
              <a:gd name="T34" fmla="*/ 1062 w 11157"/>
              <a:gd name="T35" fmla="*/ 8815 h 11157"/>
              <a:gd name="T36" fmla="*/ 854 w 11157"/>
              <a:gd name="T37" fmla="*/ 8405 h 11157"/>
              <a:gd name="T38" fmla="*/ 10350 w 11157"/>
              <a:gd name="T39" fmla="*/ 8467 h 11157"/>
              <a:gd name="T40" fmla="*/ 10452 w 11157"/>
              <a:gd name="T41" fmla="*/ 8091 h 11157"/>
              <a:gd name="T42" fmla="*/ 549 w 11157"/>
              <a:gd name="T43" fmla="*/ 7765 h 11157"/>
              <a:gd name="T44" fmla="*/ 323 w 11157"/>
              <a:gd name="T45" fmla="*/ 7449 h 11157"/>
              <a:gd name="T46" fmla="*/ 10795 w 11157"/>
              <a:gd name="T47" fmla="*/ 7373 h 11157"/>
              <a:gd name="T48" fmla="*/ 10909 w 11157"/>
              <a:gd name="T49" fmla="*/ 7107 h 11157"/>
              <a:gd name="T50" fmla="*/ 10997 w 11157"/>
              <a:gd name="T51" fmla="*/ 6646 h 11157"/>
              <a:gd name="T52" fmla="*/ 105 w 11157"/>
              <a:gd name="T53" fmla="*/ 6381 h 11157"/>
              <a:gd name="T54" fmla="*/ 57 w 11157"/>
              <a:gd name="T55" fmla="*/ 5912 h 11157"/>
              <a:gd name="T56" fmla="*/ 11101 w 11157"/>
              <a:gd name="T57" fmla="*/ 5898 h 11157"/>
              <a:gd name="T58" fmla="*/ 11157 w 11157"/>
              <a:gd name="T59" fmla="*/ 5568 h 11157"/>
              <a:gd name="T60" fmla="*/ 11049 w 11157"/>
              <a:gd name="T61" fmla="*/ 5194 h 11157"/>
              <a:gd name="T62" fmla="*/ 104 w 11157"/>
              <a:gd name="T63" fmla="*/ 4782 h 11157"/>
              <a:gd name="T64" fmla="*/ 152 w 11157"/>
              <a:gd name="T65" fmla="*/ 4503 h 11157"/>
              <a:gd name="T66" fmla="*/ 10993 w 11157"/>
              <a:gd name="T67" fmla="*/ 4396 h 11157"/>
              <a:gd name="T68" fmla="*/ 10858 w 11157"/>
              <a:gd name="T69" fmla="*/ 4090 h 11157"/>
              <a:gd name="T70" fmla="*/ 365 w 11157"/>
              <a:gd name="T71" fmla="*/ 3683 h 11157"/>
              <a:gd name="T72" fmla="*/ 503 w 11157"/>
              <a:gd name="T73" fmla="*/ 3426 h 11157"/>
              <a:gd name="T74" fmla="*/ 666 w 11157"/>
              <a:gd name="T75" fmla="*/ 2991 h 11157"/>
              <a:gd name="T76" fmla="*/ 10508 w 11157"/>
              <a:gd name="T77" fmla="*/ 3069 h 11157"/>
              <a:gd name="T78" fmla="*/ 10275 w 11157"/>
              <a:gd name="T79" fmla="*/ 2658 h 11157"/>
              <a:gd name="T80" fmla="*/ 1086 w 11157"/>
              <a:gd name="T81" fmla="*/ 2354 h 11157"/>
              <a:gd name="T82" fmla="*/ 1257 w 11157"/>
              <a:gd name="T83" fmla="*/ 2129 h 11157"/>
              <a:gd name="T84" fmla="*/ 9863 w 11157"/>
              <a:gd name="T85" fmla="*/ 2036 h 11157"/>
              <a:gd name="T86" fmla="*/ 9615 w 11157"/>
              <a:gd name="T87" fmla="*/ 1847 h 11157"/>
              <a:gd name="T88" fmla="*/ 9347 w 11157"/>
              <a:gd name="T89" fmla="*/ 1486 h 11157"/>
              <a:gd name="T90" fmla="*/ 2086 w 11157"/>
              <a:gd name="T91" fmla="*/ 1339 h 11157"/>
              <a:gd name="T92" fmla="*/ 2387 w 11157"/>
              <a:gd name="T93" fmla="*/ 1016 h 11157"/>
              <a:gd name="T94" fmla="*/ 8800 w 11157"/>
              <a:gd name="T95" fmla="*/ 1084 h 11157"/>
              <a:gd name="T96" fmla="*/ 8405 w 11157"/>
              <a:gd name="T97" fmla="*/ 825 h 11157"/>
              <a:gd name="T98" fmla="*/ 3052 w 11157"/>
              <a:gd name="T99" fmla="*/ 712 h 11157"/>
              <a:gd name="T100" fmla="*/ 3370 w 11157"/>
              <a:gd name="T101" fmla="*/ 460 h 11157"/>
              <a:gd name="T102" fmla="*/ 7819 w 11157"/>
              <a:gd name="T103" fmla="*/ 521 h 11157"/>
              <a:gd name="T104" fmla="*/ 7379 w 11157"/>
              <a:gd name="T105" fmla="*/ 348 h 11157"/>
              <a:gd name="T106" fmla="*/ 4093 w 11157"/>
              <a:gd name="T107" fmla="*/ 299 h 11157"/>
              <a:gd name="T108" fmla="*/ 4437 w 11157"/>
              <a:gd name="T109" fmla="*/ 117 h 11157"/>
              <a:gd name="T110" fmla="*/ 6706 w 11157"/>
              <a:gd name="T111" fmla="*/ 114 h 11157"/>
              <a:gd name="T112" fmla="*/ 6318 w 11157"/>
              <a:gd name="T113" fmla="*/ 144 h 11157"/>
              <a:gd name="T114" fmla="*/ 5195 w 11157"/>
              <a:gd name="T115" fmla="*/ 13 h 11157"/>
              <a:gd name="T116" fmla="*/ 5619 w 11157"/>
              <a:gd name="T117" fmla="*/ 47 h 1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57" h="11157">
                <a:moveTo>
                  <a:pt x="5592" y="11063"/>
                </a:moveTo>
                <a:cubicBezTo>
                  <a:pt x="5590" y="11063"/>
                  <a:pt x="5588" y="11063"/>
                  <a:pt x="5585" y="11063"/>
                </a:cubicBezTo>
                <a:cubicBezTo>
                  <a:pt x="5583" y="11063"/>
                  <a:pt x="5581" y="11063"/>
                  <a:pt x="5579" y="11063"/>
                </a:cubicBezTo>
                <a:cubicBezTo>
                  <a:pt x="5553" y="11063"/>
                  <a:pt x="5532" y="11084"/>
                  <a:pt x="5532" y="11110"/>
                </a:cubicBezTo>
                <a:cubicBezTo>
                  <a:pt x="5532" y="11136"/>
                  <a:pt x="5553" y="11157"/>
                  <a:pt x="5579" y="11157"/>
                </a:cubicBezTo>
                <a:cubicBezTo>
                  <a:pt x="5581" y="11157"/>
                  <a:pt x="5583" y="11157"/>
                  <a:pt x="5586" y="11157"/>
                </a:cubicBezTo>
                <a:cubicBezTo>
                  <a:pt x="5588" y="11157"/>
                  <a:pt x="5590" y="11157"/>
                  <a:pt x="5593" y="11157"/>
                </a:cubicBezTo>
                <a:cubicBezTo>
                  <a:pt x="5619" y="11157"/>
                  <a:pt x="5640" y="11136"/>
                  <a:pt x="5640" y="11110"/>
                </a:cubicBezTo>
                <a:cubicBezTo>
                  <a:pt x="5640" y="11084"/>
                  <a:pt x="5618" y="11063"/>
                  <a:pt x="5592" y="11063"/>
                </a:cubicBezTo>
                <a:moveTo>
                  <a:pt x="5201" y="11050"/>
                </a:moveTo>
                <a:cubicBezTo>
                  <a:pt x="5177" y="11050"/>
                  <a:pt x="5156" y="11069"/>
                  <a:pt x="5154" y="11094"/>
                </a:cubicBezTo>
                <a:cubicBezTo>
                  <a:pt x="5152" y="11120"/>
                  <a:pt x="5172" y="11143"/>
                  <a:pt x="5198" y="11144"/>
                </a:cubicBezTo>
                <a:cubicBezTo>
                  <a:pt x="5199" y="11144"/>
                  <a:pt x="5201" y="11144"/>
                  <a:pt x="5202" y="11144"/>
                </a:cubicBezTo>
                <a:cubicBezTo>
                  <a:pt x="5226" y="11144"/>
                  <a:pt x="5247" y="11125"/>
                  <a:pt x="5248" y="11101"/>
                </a:cubicBezTo>
                <a:cubicBezTo>
                  <a:pt x="5250" y="11074"/>
                  <a:pt x="5231" y="11052"/>
                  <a:pt x="5205" y="11050"/>
                </a:cubicBezTo>
                <a:cubicBezTo>
                  <a:pt x="5204" y="11050"/>
                  <a:pt x="5202" y="11050"/>
                  <a:pt x="5201" y="11050"/>
                </a:cubicBezTo>
                <a:moveTo>
                  <a:pt x="5970" y="11049"/>
                </a:moveTo>
                <a:cubicBezTo>
                  <a:pt x="5969" y="11049"/>
                  <a:pt x="5968" y="11049"/>
                  <a:pt x="5966" y="11049"/>
                </a:cubicBezTo>
                <a:cubicBezTo>
                  <a:pt x="5941" y="11051"/>
                  <a:pt x="5921" y="11073"/>
                  <a:pt x="5923" y="11100"/>
                </a:cubicBezTo>
                <a:cubicBezTo>
                  <a:pt x="5924" y="11124"/>
                  <a:pt x="5945" y="11143"/>
                  <a:pt x="5970" y="11144"/>
                </a:cubicBezTo>
                <a:cubicBezTo>
                  <a:pt x="5971" y="11144"/>
                  <a:pt x="5972" y="11143"/>
                  <a:pt x="5973" y="11143"/>
                </a:cubicBezTo>
                <a:cubicBezTo>
                  <a:pt x="5999" y="11141"/>
                  <a:pt x="6019" y="11119"/>
                  <a:pt x="6017" y="11093"/>
                </a:cubicBezTo>
                <a:cubicBezTo>
                  <a:pt x="6015" y="11068"/>
                  <a:pt x="5994" y="11049"/>
                  <a:pt x="5970" y="11049"/>
                </a:cubicBezTo>
                <a:moveTo>
                  <a:pt x="4826" y="11012"/>
                </a:moveTo>
                <a:cubicBezTo>
                  <a:pt x="4803" y="11012"/>
                  <a:pt x="4782" y="11029"/>
                  <a:pt x="4779" y="11052"/>
                </a:cubicBezTo>
                <a:cubicBezTo>
                  <a:pt x="4776" y="11079"/>
                  <a:pt x="4794" y="11102"/>
                  <a:pt x="4820" y="11106"/>
                </a:cubicBezTo>
                <a:cubicBezTo>
                  <a:pt x="4822" y="11106"/>
                  <a:pt x="4824" y="11106"/>
                  <a:pt x="4826" y="11106"/>
                </a:cubicBezTo>
                <a:cubicBezTo>
                  <a:pt x="4849" y="11106"/>
                  <a:pt x="4869" y="11089"/>
                  <a:pt x="4873" y="11065"/>
                </a:cubicBezTo>
                <a:cubicBezTo>
                  <a:pt x="4876" y="11039"/>
                  <a:pt x="4858" y="11016"/>
                  <a:pt x="4832" y="11012"/>
                </a:cubicBezTo>
                <a:cubicBezTo>
                  <a:pt x="4830" y="11012"/>
                  <a:pt x="4828" y="11012"/>
                  <a:pt x="4826" y="11012"/>
                </a:cubicBezTo>
                <a:moveTo>
                  <a:pt x="6345" y="11010"/>
                </a:moveTo>
                <a:cubicBezTo>
                  <a:pt x="6343" y="11010"/>
                  <a:pt x="6341" y="11010"/>
                  <a:pt x="6339" y="11010"/>
                </a:cubicBezTo>
                <a:cubicBezTo>
                  <a:pt x="6313" y="11014"/>
                  <a:pt x="6295" y="11038"/>
                  <a:pt x="6299" y="11064"/>
                </a:cubicBezTo>
                <a:cubicBezTo>
                  <a:pt x="6302" y="11087"/>
                  <a:pt x="6322" y="11104"/>
                  <a:pt x="6345" y="11104"/>
                </a:cubicBezTo>
                <a:cubicBezTo>
                  <a:pt x="6347" y="11104"/>
                  <a:pt x="6350" y="11104"/>
                  <a:pt x="6352" y="11104"/>
                </a:cubicBezTo>
                <a:cubicBezTo>
                  <a:pt x="6378" y="11100"/>
                  <a:pt x="6395" y="11076"/>
                  <a:pt x="6392" y="11050"/>
                </a:cubicBezTo>
                <a:cubicBezTo>
                  <a:pt x="6389" y="11027"/>
                  <a:pt x="6368" y="11010"/>
                  <a:pt x="6345" y="11010"/>
                </a:cubicBezTo>
                <a:moveTo>
                  <a:pt x="4454" y="10948"/>
                </a:moveTo>
                <a:cubicBezTo>
                  <a:pt x="4432" y="10948"/>
                  <a:pt x="4412" y="10963"/>
                  <a:pt x="4408" y="10985"/>
                </a:cubicBezTo>
                <a:cubicBezTo>
                  <a:pt x="4402" y="11011"/>
                  <a:pt x="4419" y="11036"/>
                  <a:pt x="4444" y="11041"/>
                </a:cubicBezTo>
                <a:cubicBezTo>
                  <a:pt x="4447" y="11042"/>
                  <a:pt x="4451" y="11042"/>
                  <a:pt x="4454" y="11042"/>
                </a:cubicBezTo>
                <a:cubicBezTo>
                  <a:pt x="4476" y="11042"/>
                  <a:pt x="4496" y="11027"/>
                  <a:pt x="4500" y="11004"/>
                </a:cubicBezTo>
                <a:cubicBezTo>
                  <a:pt x="4505" y="10979"/>
                  <a:pt x="4489" y="10954"/>
                  <a:pt x="4464" y="10949"/>
                </a:cubicBezTo>
                <a:cubicBezTo>
                  <a:pt x="4460" y="10948"/>
                  <a:pt x="4457" y="10948"/>
                  <a:pt x="4454" y="10948"/>
                </a:cubicBezTo>
                <a:moveTo>
                  <a:pt x="6717" y="10945"/>
                </a:moveTo>
                <a:cubicBezTo>
                  <a:pt x="6714" y="10945"/>
                  <a:pt x="6711" y="10945"/>
                  <a:pt x="6707" y="10946"/>
                </a:cubicBezTo>
                <a:cubicBezTo>
                  <a:pt x="6682" y="10951"/>
                  <a:pt x="6665" y="10976"/>
                  <a:pt x="6671" y="11002"/>
                </a:cubicBezTo>
                <a:cubicBezTo>
                  <a:pt x="6675" y="11024"/>
                  <a:pt x="6695" y="11039"/>
                  <a:pt x="6717" y="11039"/>
                </a:cubicBezTo>
                <a:cubicBezTo>
                  <a:pt x="6720" y="11039"/>
                  <a:pt x="6724" y="11039"/>
                  <a:pt x="6727" y="11039"/>
                </a:cubicBezTo>
                <a:cubicBezTo>
                  <a:pt x="6752" y="11033"/>
                  <a:pt x="6769" y="11008"/>
                  <a:pt x="6763" y="10982"/>
                </a:cubicBezTo>
                <a:cubicBezTo>
                  <a:pt x="6759" y="10960"/>
                  <a:pt x="6739" y="10945"/>
                  <a:pt x="6717" y="10945"/>
                </a:cubicBezTo>
                <a:moveTo>
                  <a:pt x="4087" y="10858"/>
                </a:moveTo>
                <a:cubicBezTo>
                  <a:pt x="4066" y="10858"/>
                  <a:pt x="4047" y="10872"/>
                  <a:pt x="4042" y="10893"/>
                </a:cubicBezTo>
                <a:cubicBezTo>
                  <a:pt x="4035" y="10918"/>
                  <a:pt x="4049" y="10944"/>
                  <a:pt x="4074" y="10951"/>
                </a:cubicBezTo>
                <a:cubicBezTo>
                  <a:pt x="4078" y="10952"/>
                  <a:pt x="4083" y="10953"/>
                  <a:pt x="4087" y="10953"/>
                </a:cubicBezTo>
                <a:cubicBezTo>
                  <a:pt x="4108" y="10953"/>
                  <a:pt x="4127" y="10939"/>
                  <a:pt x="4133" y="10919"/>
                </a:cubicBezTo>
                <a:cubicBezTo>
                  <a:pt x="4140" y="10893"/>
                  <a:pt x="4125" y="10867"/>
                  <a:pt x="4100" y="10860"/>
                </a:cubicBezTo>
                <a:cubicBezTo>
                  <a:pt x="4096" y="10859"/>
                  <a:pt x="4091" y="10858"/>
                  <a:pt x="4087" y="10858"/>
                </a:cubicBezTo>
                <a:moveTo>
                  <a:pt x="7084" y="10855"/>
                </a:moveTo>
                <a:cubicBezTo>
                  <a:pt x="7079" y="10855"/>
                  <a:pt x="7075" y="10855"/>
                  <a:pt x="7071" y="10857"/>
                </a:cubicBezTo>
                <a:cubicBezTo>
                  <a:pt x="7071" y="10857"/>
                  <a:pt x="7071" y="10857"/>
                  <a:pt x="7071" y="10857"/>
                </a:cubicBezTo>
                <a:cubicBezTo>
                  <a:pt x="7046" y="10863"/>
                  <a:pt x="7031" y="10890"/>
                  <a:pt x="7038" y="10915"/>
                </a:cubicBezTo>
                <a:cubicBezTo>
                  <a:pt x="7044" y="10936"/>
                  <a:pt x="7063" y="10949"/>
                  <a:pt x="7083" y="10949"/>
                </a:cubicBezTo>
                <a:cubicBezTo>
                  <a:pt x="7088" y="10949"/>
                  <a:pt x="7092" y="10948"/>
                  <a:pt x="7096" y="10947"/>
                </a:cubicBezTo>
                <a:cubicBezTo>
                  <a:pt x="7122" y="10940"/>
                  <a:pt x="7136" y="10914"/>
                  <a:pt x="7129" y="10889"/>
                </a:cubicBezTo>
                <a:cubicBezTo>
                  <a:pt x="7123" y="10868"/>
                  <a:pt x="7104" y="10855"/>
                  <a:pt x="7084" y="10855"/>
                </a:cubicBezTo>
                <a:moveTo>
                  <a:pt x="3727" y="10744"/>
                </a:moveTo>
                <a:cubicBezTo>
                  <a:pt x="3708" y="10744"/>
                  <a:pt x="3690" y="10756"/>
                  <a:pt x="3683" y="10776"/>
                </a:cubicBezTo>
                <a:cubicBezTo>
                  <a:pt x="3674" y="10800"/>
                  <a:pt x="3687" y="10827"/>
                  <a:pt x="3711" y="10836"/>
                </a:cubicBezTo>
                <a:cubicBezTo>
                  <a:pt x="3717" y="10838"/>
                  <a:pt x="3722" y="10839"/>
                  <a:pt x="3727" y="10839"/>
                </a:cubicBezTo>
                <a:cubicBezTo>
                  <a:pt x="3747" y="10839"/>
                  <a:pt x="3765" y="10827"/>
                  <a:pt x="3772" y="10807"/>
                </a:cubicBezTo>
                <a:cubicBezTo>
                  <a:pt x="3781" y="10783"/>
                  <a:pt x="3768" y="10755"/>
                  <a:pt x="3743" y="10747"/>
                </a:cubicBezTo>
                <a:cubicBezTo>
                  <a:pt x="3738" y="10745"/>
                  <a:pt x="3732" y="10744"/>
                  <a:pt x="3727" y="10744"/>
                </a:cubicBezTo>
                <a:moveTo>
                  <a:pt x="7443" y="10739"/>
                </a:moveTo>
                <a:cubicBezTo>
                  <a:pt x="7438" y="10739"/>
                  <a:pt x="7432" y="10740"/>
                  <a:pt x="7427" y="10742"/>
                </a:cubicBezTo>
                <a:cubicBezTo>
                  <a:pt x="7402" y="10751"/>
                  <a:pt x="7390" y="10778"/>
                  <a:pt x="7399" y="10803"/>
                </a:cubicBezTo>
                <a:cubicBezTo>
                  <a:pt x="7406" y="10822"/>
                  <a:pt x="7424" y="10834"/>
                  <a:pt x="7443" y="10834"/>
                </a:cubicBezTo>
                <a:cubicBezTo>
                  <a:pt x="7448" y="10834"/>
                  <a:pt x="7454" y="10833"/>
                  <a:pt x="7459" y="10831"/>
                </a:cubicBezTo>
                <a:cubicBezTo>
                  <a:pt x="7484" y="10822"/>
                  <a:pt x="7496" y="10795"/>
                  <a:pt x="7487" y="10771"/>
                </a:cubicBezTo>
                <a:cubicBezTo>
                  <a:pt x="7481" y="10751"/>
                  <a:pt x="7462" y="10739"/>
                  <a:pt x="7443" y="10739"/>
                </a:cubicBezTo>
                <a:moveTo>
                  <a:pt x="3376" y="10605"/>
                </a:moveTo>
                <a:cubicBezTo>
                  <a:pt x="3358" y="10605"/>
                  <a:pt x="3340" y="10616"/>
                  <a:pt x="3333" y="10633"/>
                </a:cubicBezTo>
                <a:cubicBezTo>
                  <a:pt x="3322" y="10657"/>
                  <a:pt x="3333" y="10685"/>
                  <a:pt x="3357" y="10696"/>
                </a:cubicBezTo>
                <a:cubicBezTo>
                  <a:pt x="3363" y="10698"/>
                  <a:pt x="3369" y="10699"/>
                  <a:pt x="3376" y="10699"/>
                </a:cubicBezTo>
                <a:cubicBezTo>
                  <a:pt x="3394" y="10699"/>
                  <a:pt x="3411" y="10689"/>
                  <a:pt x="3419" y="10671"/>
                </a:cubicBezTo>
                <a:cubicBezTo>
                  <a:pt x="3430" y="10647"/>
                  <a:pt x="3419" y="10619"/>
                  <a:pt x="3395" y="10609"/>
                </a:cubicBezTo>
                <a:cubicBezTo>
                  <a:pt x="3389" y="10606"/>
                  <a:pt x="3382" y="10605"/>
                  <a:pt x="3376" y="10605"/>
                </a:cubicBezTo>
                <a:moveTo>
                  <a:pt x="7793" y="10600"/>
                </a:moveTo>
                <a:cubicBezTo>
                  <a:pt x="7787" y="10600"/>
                  <a:pt x="7780" y="10601"/>
                  <a:pt x="7774" y="10604"/>
                </a:cubicBezTo>
                <a:cubicBezTo>
                  <a:pt x="7750" y="10614"/>
                  <a:pt x="7740" y="10642"/>
                  <a:pt x="7750" y="10666"/>
                </a:cubicBezTo>
                <a:cubicBezTo>
                  <a:pt x="7758" y="10684"/>
                  <a:pt x="7775" y="10694"/>
                  <a:pt x="7793" y="10694"/>
                </a:cubicBezTo>
                <a:cubicBezTo>
                  <a:pt x="7800" y="10694"/>
                  <a:pt x="7806" y="10693"/>
                  <a:pt x="7812" y="10690"/>
                </a:cubicBezTo>
                <a:cubicBezTo>
                  <a:pt x="7836" y="10680"/>
                  <a:pt x="7847" y="10652"/>
                  <a:pt x="7837" y="10628"/>
                </a:cubicBezTo>
                <a:cubicBezTo>
                  <a:pt x="7829" y="10611"/>
                  <a:pt x="7811" y="10600"/>
                  <a:pt x="7793" y="10600"/>
                </a:cubicBezTo>
                <a:moveTo>
                  <a:pt x="3035" y="10442"/>
                </a:moveTo>
                <a:cubicBezTo>
                  <a:pt x="3018" y="10442"/>
                  <a:pt x="3001" y="10452"/>
                  <a:pt x="2993" y="10468"/>
                </a:cubicBezTo>
                <a:cubicBezTo>
                  <a:pt x="2981" y="10491"/>
                  <a:pt x="2990" y="10519"/>
                  <a:pt x="3013" y="10532"/>
                </a:cubicBezTo>
                <a:cubicBezTo>
                  <a:pt x="3020" y="10535"/>
                  <a:pt x="3028" y="10537"/>
                  <a:pt x="3035" y="10537"/>
                </a:cubicBezTo>
                <a:cubicBezTo>
                  <a:pt x="3052" y="10537"/>
                  <a:pt x="3068" y="10528"/>
                  <a:pt x="3077" y="10511"/>
                </a:cubicBezTo>
                <a:cubicBezTo>
                  <a:pt x="3089" y="10488"/>
                  <a:pt x="3080" y="10460"/>
                  <a:pt x="3056" y="10448"/>
                </a:cubicBezTo>
                <a:cubicBezTo>
                  <a:pt x="3050" y="10444"/>
                  <a:pt x="3042" y="10442"/>
                  <a:pt x="3035" y="10442"/>
                </a:cubicBezTo>
                <a:moveTo>
                  <a:pt x="8133" y="10437"/>
                </a:moveTo>
                <a:cubicBezTo>
                  <a:pt x="8126" y="10437"/>
                  <a:pt x="8118" y="10438"/>
                  <a:pt x="8111" y="10442"/>
                </a:cubicBezTo>
                <a:cubicBezTo>
                  <a:pt x="8088" y="10454"/>
                  <a:pt x="8079" y="10483"/>
                  <a:pt x="8091" y="10506"/>
                </a:cubicBezTo>
                <a:cubicBezTo>
                  <a:pt x="8100" y="10522"/>
                  <a:pt x="8116" y="10531"/>
                  <a:pt x="8133" y="10531"/>
                </a:cubicBezTo>
                <a:cubicBezTo>
                  <a:pt x="8141" y="10531"/>
                  <a:pt x="8148" y="10529"/>
                  <a:pt x="8155" y="10526"/>
                </a:cubicBezTo>
                <a:cubicBezTo>
                  <a:pt x="8178" y="10514"/>
                  <a:pt x="8187" y="10485"/>
                  <a:pt x="8175" y="10462"/>
                </a:cubicBezTo>
                <a:cubicBezTo>
                  <a:pt x="8167" y="10446"/>
                  <a:pt x="8150" y="10437"/>
                  <a:pt x="8133" y="10437"/>
                </a:cubicBezTo>
                <a:moveTo>
                  <a:pt x="2706" y="10257"/>
                </a:moveTo>
                <a:cubicBezTo>
                  <a:pt x="2690" y="10257"/>
                  <a:pt x="2674" y="10265"/>
                  <a:pt x="2665" y="10279"/>
                </a:cubicBezTo>
                <a:cubicBezTo>
                  <a:pt x="2652" y="10301"/>
                  <a:pt x="2659" y="10331"/>
                  <a:pt x="2681" y="10344"/>
                </a:cubicBezTo>
                <a:cubicBezTo>
                  <a:pt x="2689" y="10349"/>
                  <a:pt x="2697" y="10351"/>
                  <a:pt x="2706" y="10351"/>
                </a:cubicBezTo>
                <a:cubicBezTo>
                  <a:pt x="2722" y="10351"/>
                  <a:pt x="2737" y="10343"/>
                  <a:pt x="2746" y="10329"/>
                </a:cubicBezTo>
                <a:cubicBezTo>
                  <a:pt x="2760" y="10306"/>
                  <a:pt x="2753" y="10277"/>
                  <a:pt x="2730" y="10264"/>
                </a:cubicBezTo>
                <a:cubicBezTo>
                  <a:pt x="2723" y="10259"/>
                  <a:pt x="2714" y="10257"/>
                  <a:pt x="2706" y="10257"/>
                </a:cubicBezTo>
                <a:moveTo>
                  <a:pt x="8461" y="10251"/>
                </a:moveTo>
                <a:cubicBezTo>
                  <a:pt x="8453" y="10251"/>
                  <a:pt x="8444" y="10253"/>
                  <a:pt x="8437" y="10258"/>
                </a:cubicBezTo>
                <a:cubicBezTo>
                  <a:pt x="8414" y="10271"/>
                  <a:pt x="8407" y="10300"/>
                  <a:pt x="8421" y="10323"/>
                </a:cubicBezTo>
                <a:cubicBezTo>
                  <a:pt x="8430" y="10337"/>
                  <a:pt x="8446" y="10345"/>
                  <a:pt x="8462" y="10345"/>
                </a:cubicBezTo>
                <a:cubicBezTo>
                  <a:pt x="8470" y="10345"/>
                  <a:pt x="8478" y="10343"/>
                  <a:pt x="8486" y="10338"/>
                </a:cubicBezTo>
                <a:cubicBezTo>
                  <a:pt x="8508" y="10324"/>
                  <a:pt x="8515" y="10295"/>
                  <a:pt x="8502" y="10273"/>
                </a:cubicBezTo>
                <a:cubicBezTo>
                  <a:pt x="8493" y="10259"/>
                  <a:pt x="8477" y="10251"/>
                  <a:pt x="8461" y="10251"/>
                </a:cubicBezTo>
                <a:moveTo>
                  <a:pt x="2390" y="10049"/>
                </a:moveTo>
                <a:cubicBezTo>
                  <a:pt x="2375" y="10049"/>
                  <a:pt x="2361" y="10056"/>
                  <a:pt x="2352" y="10069"/>
                </a:cubicBezTo>
                <a:cubicBezTo>
                  <a:pt x="2337" y="10090"/>
                  <a:pt x="2342" y="10120"/>
                  <a:pt x="2363" y="10135"/>
                </a:cubicBezTo>
                <a:cubicBezTo>
                  <a:pt x="2371" y="10141"/>
                  <a:pt x="2381" y="10143"/>
                  <a:pt x="2390" y="10143"/>
                </a:cubicBezTo>
                <a:cubicBezTo>
                  <a:pt x="2405" y="10143"/>
                  <a:pt x="2420" y="10136"/>
                  <a:pt x="2429" y="10124"/>
                </a:cubicBezTo>
                <a:cubicBezTo>
                  <a:pt x="2444" y="10102"/>
                  <a:pt x="2439" y="10073"/>
                  <a:pt x="2418" y="10058"/>
                </a:cubicBezTo>
                <a:cubicBezTo>
                  <a:pt x="2409" y="10052"/>
                  <a:pt x="2400" y="10049"/>
                  <a:pt x="2390" y="10049"/>
                </a:cubicBezTo>
                <a:moveTo>
                  <a:pt x="8776" y="10043"/>
                </a:moveTo>
                <a:cubicBezTo>
                  <a:pt x="8767" y="10043"/>
                  <a:pt x="8757" y="10045"/>
                  <a:pt x="8749" y="10051"/>
                </a:cubicBezTo>
                <a:cubicBezTo>
                  <a:pt x="8728" y="10066"/>
                  <a:pt x="8723" y="10096"/>
                  <a:pt x="8738" y="10117"/>
                </a:cubicBezTo>
                <a:cubicBezTo>
                  <a:pt x="8747" y="10130"/>
                  <a:pt x="8761" y="10137"/>
                  <a:pt x="8776" y="10137"/>
                </a:cubicBezTo>
                <a:cubicBezTo>
                  <a:pt x="8786" y="10137"/>
                  <a:pt x="8795" y="10134"/>
                  <a:pt x="8804" y="10128"/>
                </a:cubicBezTo>
                <a:cubicBezTo>
                  <a:pt x="8825" y="10113"/>
                  <a:pt x="8830" y="10084"/>
                  <a:pt x="8815" y="10062"/>
                </a:cubicBezTo>
                <a:cubicBezTo>
                  <a:pt x="8806" y="10049"/>
                  <a:pt x="8791" y="10043"/>
                  <a:pt x="8776" y="10043"/>
                </a:cubicBezTo>
                <a:moveTo>
                  <a:pt x="2089" y="9820"/>
                </a:moveTo>
                <a:cubicBezTo>
                  <a:pt x="2076" y="9820"/>
                  <a:pt x="2062" y="9826"/>
                  <a:pt x="2053" y="9838"/>
                </a:cubicBezTo>
                <a:cubicBezTo>
                  <a:pt x="2036" y="9858"/>
                  <a:pt x="2039" y="9888"/>
                  <a:pt x="2060" y="9904"/>
                </a:cubicBezTo>
                <a:cubicBezTo>
                  <a:pt x="2068" y="9911"/>
                  <a:pt x="2079" y="9915"/>
                  <a:pt x="2090" y="9915"/>
                </a:cubicBezTo>
                <a:cubicBezTo>
                  <a:pt x="2103" y="9915"/>
                  <a:pt x="2117" y="9909"/>
                  <a:pt x="2126" y="9897"/>
                </a:cubicBezTo>
                <a:cubicBezTo>
                  <a:pt x="2142" y="9877"/>
                  <a:pt x="2140" y="9848"/>
                  <a:pt x="2119" y="9831"/>
                </a:cubicBezTo>
                <a:cubicBezTo>
                  <a:pt x="2111" y="9824"/>
                  <a:pt x="2100" y="9820"/>
                  <a:pt x="2089" y="9820"/>
                </a:cubicBezTo>
                <a:moveTo>
                  <a:pt x="9076" y="9813"/>
                </a:moveTo>
                <a:cubicBezTo>
                  <a:pt x="9066" y="9813"/>
                  <a:pt x="9055" y="9817"/>
                  <a:pt x="9046" y="9824"/>
                </a:cubicBezTo>
                <a:cubicBezTo>
                  <a:pt x="9026" y="9841"/>
                  <a:pt x="9023" y="9870"/>
                  <a:pt x="9040" y="9891"/>
                </a:cubicBezTo>
                <a:cubicBezTo>
                  <a:pt x="9049" y="9902"/>
                  <a:pt x="9063" y="9908"/>
                  <a:pt x="9076" y="9908"/>
                </a:cubicBezTo>
                <a:cubicBezTo>
                  <a:pt x="9077" y="9908"/>
                  <a:pt x="9077" y="9908"/>
                  <a:pt x="9077" y="9908"/>
                </a:cubicBezTo>
                <a:cubicBezTo>
                  <a:pt x="9088" y="9908"/>
                  <a:pt x="9098" y="9904"/>
                  <a:pt x="9106" y="9897"/>
                </a:cubicBezTo>
                <a:cubicBezTo>
                  <a:pt x="9126" y="9881"/>
                  <a:pt x="9129" y="9851"/>
                  <a:pt x="9113" y="9831"/>
                </a:cubicBezTo>
                <a:cubicBezTo>
                  <a:pt x="9103" y="9819"/>
                  <a:pt x="9090" y="9813"/>
                  <a:pt x="9076" y="9813"/>
                </a:cubicBezTo>
                <a:moveTo>
                  <a:pt x="1805" y="9572"/>
                </a:moveTo>
                <a:cubicBezTo>
                  <a:pt x="1792" y="9572"/>
                  <a:pt x="1780" y="9577"/>
                  <a:pt x="1771" y="9587"/>
                </a:cubicBezTo>
                <a:cubicBezTo>
                  <a:pt x="1753" y="9606"/>
                  <a:pt x="1754" y="9636"/>
                  <a:pt x="1773" y="9654"/>
                </a:cubicBezTo>
                <a:cubicBezTo>
                  <a:pt x="1782" y="9662"/>
                  <a:pt x="1794" y="9667"/>
                  <a:pt x="1805" y="9667"/>
                </a:cubicBezTo>
                <a:cubicBezTo>
                  <a:pt x="1818" y="9667"/>
                  <a:pt x="1830" y="9662"/>
                  <a:pt x="1840" y="9652"/>
                </a:cubicBezTo>
                <a:cubicBezTo>
                  <a:pt x="1858" y="9633"/>
                  <a:pt x="1856" y="9603"/>
                  <a:pt x="1837" y="9585"/>
                </a:cubicBezTo>
                <a:cubicBezTo>
                  <a:pt x="1828" y="9576"/>
                  <a:pt x="1817" y="9572"/>
                  <a:pt x="1805" y="9572"/>
                </a:cubicBezTo>
                <a:moveTo>
                  <a:pt x="9360" y="9565"/>
                </a:moveTo>
                <a:cubicBezTo>
                  <a:pt x="9349" y="9565"/>
                  <a:pt x="9337" y="9569"/>
                  <a:pt x="9328" y="9578"/>
                </a:cubicBezTo>
                <a:cubicBezTo>
                  <a:pt x="9309" y="9596"/>
                  <a:pt x="9308" y="9625"/>
                  <a:pt x="9326" y="9644"/>
                </a:cubicBezTo>
                <a:cubicBezTo>
                  <a:pt x="9335" y="9654"/>
                  <a:pt x="9348" y="9659"/>
                  <a:pt x="9360" y="9659"/>
                </a:cubicBezTo>
                <a:cubicBezTo>
                  <a:pt x="9372" y="9659"/>
                  <a:pt x="9383" y="9655"/>
                  <a:pt x="9392" y="9647"/>
                </a:cubicBezTo>
                <a:cubicBezTo>
                  <a:pt x="9411" y="9629"/>
                  <a:pt x="9412" y="9599"/>
                  <a:pt x="9394" y="9580"/>
                </a:cubicBezTo>
                <a:cubicBezTo>
                  <a:pt x="9385" y="9570"/>
                  <a:pt x="9373" y="9565"/>
                  <a:pt x="9360" y="9565"/>
                </a:cubicBezTo>
                <a:moveTo>
                  <a:pt x="1538" y="9305"/>
                </a:moveTo>
                <a:cubicBezTo>
                  <a:pt x="1527" y="9305"/>
                  <a:pt x="1515" y="9309"/>
                  <a:pt x="1506" y="9318"/>
                </a:cubicBezTo>
                <a:cubicBezTo>
                  <a:pt x="1487" y="9335"/>
                  <a:pt x="1486" y="9365"/>
                  <a:pt x="1504" y="9385"/>
                </a:cubicBezTo>
                <a:cubicBezTo>
                  <a:pt x="1513" y="9395"/>
                  <a:pt x="1526" y="9400"/>
                  <a:pt x="1538" y="9400"/>
                </a:cubicBezTo>
                <a:cubicBezTo>
                  <a:pt x="1550" y="9400"/>
                  <a:pt x="1561" y="9395"/>
                  <a:pt x="1570" y="9387"/>
                </a:cubicBezTo>
                <a:cubicBezTo>
                  <a:pt x="1589" y="9369"/>
                  <a:pt x="1591" y="9339"/>
                  <a:pt x="1573" y="9320"/>
                </a:cubicBezTo>
                <a:cubicBezTo>
                  <a:pt x="1563" y="9310"/>
                  <a:pt x="1551" y="9305"/>
                  <a:pt x="1538" y="9305"/>
                </a:cubicBezTo>
                <a:moveTo>
                  <a:pt x="9627" y="9297"/>
                </a:moveTo>
                <a:cubicBezTo>
                  <a:pt x="9614" y="9297"/>
                  <a:pt x="9601" y="9302"/>
                  <a:pt x="9592" y="9312"/>
                </a:cubicBezTo>
                <a:cubicBezTo>
                  <a:pt x="9574" y="9331"/>
                  <a:pt x="9575" y="9361"/>
                  <a:pt x="9594" y="9379"/>
                </a:cubicBezTo>
                <a:cubicBezTo>
                  <a:pt x="9604" y="9388"/>
                  <a:pt x="9615" y="9392"/>
                  <a:pt x="9627" y="9392"/>
                </a:cubicBezTo>
                <a:cubicBezTo>
                  <a:pt x="9639" y="9392"/>
                  <a:pt x="9652" y="9387"/>
                  <a:pt x="9661" y="9377"/>
                </a:cubicBezTo>
                <a:cubicBezTo>
                  <a:pt x="9679" y="9358"/>
                  <a:pt x="9678" y="9328"/>
                  <a:pt x="9659" y="9310"/>
                </a:cubicBezTo>
                <a:cubicBezTo>
                  <a:pt x="9650" y="9302"/>
                  <a:pt x="9638" y="9297"/>
                  <a:pt x="9627" y="9297"/>
                </a:cubicBezTo>
                <a:moveTo>
                  <a:pt x="1290" y="9021"/>
                </a:moveTo>
                <a:cubicBezTo>
                  <a:pt x="1279" y="9021"/>
                  <a:pt x="1269" y="9024"/>
                  <a:pt x="1260" y="9031"/>
                </a:cubicBezTo>
                <a:cubicBezTo>
                  <a:pt x="1240" y="9048"/>
                  <a:pt x="1237" y="9078"/>
                  <a:pt x="1253" y="9098"/>
                </a:cubicBezTo>
                <a:cubicBezTo>
                  <a:pt x="1253" y="9098"/>
                  <a:pt x="1253" y="9098"/>
                  <a:pt x="1253" y="9098"/>
                </a:cubicBezTo>
                <a:cubicBezTo>
                  <a:pt x="1262" y="9109"/>
                  <a:pt x="1276" y="9115"/>
                  <a:pt x="1290" y="9115"/>
                </a:cubicBezTo>
                <a:cubicBezTo>
                  <a:pt x="1300" y="9115"/>
                  <a:pt x="1311" y="9112"/>
                  <a:pt x="1320" y="9105"/>
                </a:cubicBezTo>
                <a:cubicBezTo>
                  <a:pt x="1340" y="9088"/>
                  <a:pt x="1343" y="9058"/>
                  <a:pt x="1326" y="9038"/>
                </a:cubicBezTo>
                <a:cubicBezTo>
                  <a:pt x="1317" y="9027"/>
                  <a:pt x="1303" y="9021"/>
                  <a:pt x="1290" y="9021"/>
                </a:cubicBezTo>
                <a:moveTo>
                  <a:pt x="9875" y="9012"/>
                </a:moveTo>
                <a:cubicBezTo>
                  <a:pt x="9861" y="9012"/>
                  <a:pt x="9847" y="9018"/>
                  <a:pt x="9838" y="9030"/>
                </a:cubicBezTo>
                <a:cubicBezTo>
                  <a:pt x="9821" y="9050"/>
                  <a:pt x="9824" y="9080"/>
                  <a:pt x="9845" y="9096"/>
                </a:cubicBezTo>
                <a:cubicBezTo>
                  <a:pt x="9854" y="9103"/>
                  <a:pt x="9864" y="9107"/>
                  <a:pt x="9874" y="9107"/>
                </a:cubicBezTo>
                <a:cubicBezTo>
                  <a:pt x="9888" y="9107"/>
                  <a:pt x="9902" y="9101"/>
                  <a:pt x="9911" y="9089"/>
                </a:cubicBezTo>
                <a:cubicBezTo>
                  <a:pt x="9928" y="9069"/>
                  <a:pt x="9924" y="9039"/>
                  <a:pt x="9904" y="9023"/>
                </a:cubicBezTo>
                <a:cubicBezTo>
                  <a:pt x="9896" y="9016"/>
                  <a:pt x="9885" y="9012"/>
                  <a:pt x="9875" y="9012"/>
                </a:cubicBezTo>
                <a:moveTo>
                  <a:pt x="1061" y="8720"/>
                </a:moveTo>
                <a:cubicBezTo>
                  <a:pt x="1052" y="8720"/>
                  <a:pt x="1042" y="8723"/>
                  <a:pt x="1034" y="8729"/>
                </a:cubicBezTo>
                <a:cubicBezTo>
                  <a:pt x="1013" y="8744"/>
                  <a:pt x="1008" y="8773"/>
                  <a:pt x="1023" y="8795"/>
                </a:cubicBezTo>
                <a:cubicBezTo>
                  <a:pt x="1032" y="8808"/>
                  <a:pt x="1047" y="8815"/>
                  <a:pt x="1062" y="8815"/>
                </a:cubicBezTo>
                <a:cubicBezTo>
                  <a:pt x="1071" y="8815"/>
                  <a:pt x="1080" y="8812"/>
                  <a:pt x="1089" y="8806"/>
                </a:cubicBezTo>
                <a:cubicBezTo>
                  <a:pt x="1110" y="8791"/>
                  <a:pt x="1115" y="8761"/>
                  <a:pt x="1100" y="8740"/>
                </a:cubicBezTo>
                <a:cubicBezTo>
                  <a:pt x="1091" y="8727"/>
                  <a:pt x="1076" y="8720"/>
                  <a:pt x="1061" y="8720"/>
                </a:cubicBezTo>
                <a:moveTo>
                  <a:pt x="10102" y="8711"/>
                </a:moveTo>
                <a:cubicBezTo>
                  <a:pt x="10088" y="8711"/>
                  <a:pt x="10073" y="8718"/>
                  <a:pt x="10064" y="8731"/>
                </a:cubicBezTo>
                <a:cubicBezTo>
                  <a:pt x="10049" y="8753"/>
                  <a:pt x="10054" y="8782"/>
                  <a:pt x="10075" y="8797"/>
                </a:cubicBezTo>
                <a:cubicBezTo>
                  <a:pt x="10083" y="8803"/>
                  <a:pt x="10093" y="8806"/>
                  <a:pt x="10102" y="8806"/>
                </a:cubicBezTo>
                <a:cubicBezTo>
                  <a:pt x="10117" y="8806"/>
                  <a:pt x="10132" y="8799"/>
                  <a:pt x="10141" y="8786"/>
                </a:cubicBezTo>
                <a:cubicBezTo>
                  <a:pt x="10156" y="8764"/>
                  <a:pt x="10151" y="8735"/>
                  <a:pt x="10130" y="8720"/>
                </a:cubicBezTo>
                <a:cubicBezTo>
                  <a:pt x="10121" y="8714"/>
                  <a:pt x="10112" y="8711"/>
                  <a:pt x="10102" y="8711"/>
                </a:cubicBezTo>
                <a:moveTo>
                  <a:pt x="854" y="8405"/>
                </a:moveTo>
                <a:cubicBezTo>
                  <a:pt x="845" y="8405"/>
                  <a:pt x="837" y="8407"/>
                  <a:pt x="829" y="8412"/>
                </a:cubicBezTo>
                <a:cubicBezTo>
                  <a:pt x="807" y="8426"/>
                  <a:pt x="800" y="8455"/>
                  <a:pt x="814" y="8477"/>
                </a:cubicBezTo>
                <a:cubicBezTo>
                  <a:pt x="823" y="8492"/>
                  <a:pt x="838" y="8500"/>
                  <a:pt x="854" y="8500"/>
                </a:cubicBezTo>
                <a:cubicBezTo>
                  <a:pt x="862" y="8500"/>
                  <a:pt x="871" y="8497"/>
                  <a:pt x="879" y="8493"/>
                </a:cubicBezTo>
                <a:cubicBezTo>
                  <a:pt x="901" y="8479"/>
                  <a:pt x="908" y="8450"/>
                  <a:pt x="894" y="8428"/>
                </a:cubicBezTo>
                <a:cubicBezTo>
                  <a:pt x="885" y="8413"/>
                  <a:pt x="870" y="8405"/>
                  <a:pt x="854" y="8405"/>
                </a:cubicBezTo>
                <a:moveTo>
                  <a:pt x="10309" y="8395"/>
                </a:moveTo>
                <a:cubicBezTo>
                  <a:pt x="10293" y="8395"/>
                  <a:pt x="10278" y="8403"/>
                  <a:pt x="10269" y="8418"/>
                </a:cubicBezTo>
                <a:cubicBezTo>
                  <a:pt x="10256" y="8440"/>
                  <a:pt x="10263" y="8469"/>
                  <a:pt x="10285" y="8483"/>
                </a:cubicBezTo>
                <a:cubicBezTo>
                  <a:pt x="10292" y="8488"/>
                  <a:pt x="10301" y="8490"/>
                  <a:pt x="10309" y="8490"/>
                </a:cubicBezTo>
                <a:cubicBezTo>
                  <a:pt x="10325" y="8490"/>
                  <a:pt x="10341" y="8482"/>
                  <a:pt x="10350" y="8467"/>
                </a:cubicBezTo>
                <a:cubicBezTo>
                  <a:pt x="10363" y="8445"/>
                  <a:pt x="10356" y="8416"/>
                  <a:pt x="10334" y="8402"/>
                </a:cubicBezTo>
                <a:cubicBezTo>
                  <a:pt x="10326" y="8398"/>
                  <a:pt x="10318" y="8395"/>
                  <a:pt x="10309" y="8395"/>
                </a:cubicBezTo>
                <a:moveTo>
                  <a:pt x="668" y="8077"/>
                </a:moveTo>
                <a:cubicBezTo>
                  <a:pt x="661" y="8077"/>
                  <a:pt x="654" y="8078"/>
                  <a:pt x="647" y="8082"/>
                </a:cubicBezTo>
                <a:cubicBezTo>
                  <a:pt x="624" y="8094"/>
                  <a:pt x="614" y="8123"/>
                  <a:pt x="626" y="8146"/>
                </a:cubicBezTo>
                <a:cubicBezTo>
                  <a:pt x="635" y="8162"/>
                  <a:pt x="651" y="8171"/>
                  <a:pt x="669" y="8171"/>
                </a:cubicBezTo>
                <a:cubicBezTo>
                  <a:pt x="676" y="8171"/>
                  <a:pt x="683" y="8170"/>
                  <a:pt x="690" y="8166"/>
                </a:cubicBezTo>
                <a:cubicBezTo>
                  <a:pt x="713" y="8154"/>
                  <a:pt x="722" y="8125"/>
                  <a:pt x="710" y="8102"/>
                </a:cubicBezTo>
                <a:cubicBezTo>
                  <a:pt x="702" y="8086"/>
                  <a:pt x="685" y="8077"/>
                  <a:pt x="668" y="8077"/>
                </a:cubicBezTo>
                <a:moveTo>
                  <a:pt x="10494" y="8066"/>
                </a:moveTo>
                <a:cubicBezTo>
                  <a:pt x="10477" y="8066"/>
                  <a:pt x="10461" y="8075"/>
                  <a:pt x="10452" y="8091"/>
                </a:cubicBezTo>
                <a:cubicBezTo>
                  <a:pt x="10440" y="8114"/>
                  <a:pt x="10450" y="8143"/>
                  <a:pt x="10473" y="8155"/>
                </a:cubicBezTo>
                <a:cubicBezTo>
                  <a:pt x="10480" y="8159"/>
                  <a:pt x="10487" y="8160"/>
                  <a:pt x="10494" y="8160"/>
                </a:cubicBezTo>
                <a:cubicBezTo>
                  <a:pt x="10512" y="8160"/>
                  <a:pt x="10528" y="8151"/>
                  <a:pt x="10536" y="8135"/>
                </a:cubicBezTo>
                <a:cubicBezTo>
                  <a:pt x="10548" y="8112"/>
                  <a:pt x="10539" y="8083"/>
                  <a:pt x="10516" y="8071"/>
                </a:cubicBezTo>
                <a:cubicBezTo>
                  <a:pt x="10509" y="8068"/>
                  <a:pt x="10502" y="8066"/>
                  <a:pt x="10494" y="8066"/>
                </a:cubicBezTo>
                <a:moveTo>
                  <a:pt x="506" y="7736"/>
                </a:moveTo>
                <a:cubicBezTo>
                  <a:pt x="500" y="7736"/>
                  <a:pt x="493" y="7738"/>
                  <a:pt x="487" y="7740"/>
                </a:cubicBezTo>
                <a:cubicBezTo>
                  <a:pt x="463" y="7751"/>
                  <a:pt x="452" y="7779"/>
                  <a:pt x="463" y="7802"/>
                </a:cubicBezTo>
                <a:cubicBezTo>
                  <a:pt x="470" y="7820"/>
                  <a:pt x="488" y="7831"/>
                  <a:pt x="506" y="7831"/>
                </a:cubicBezTo>
                <a:cubicBezTo>
                  <a:pt x="512" y="7831"/>
                  <a:pt x="519" y="7830"/>
                  <a:pt x="525" y="7827"/>
                </a:cubicBezTo>
                <a:cubicBezTo>
                  <a:pt x="549" y="7817"/>
                  <a:pt x="560" y="7789"/>
                  <a:pt x="549" y="7765"/>
                </a:cubicBezTo>
                <a:cubicBezTo>
                  <a:pt x="541" y="7747"/>
                  <a:pt x="524" y="7736"/>
                  <a:pt x="506" y="7736"/>
                </a:cubicBezTo>
                <a:moveTo>
                  <a:pt x="10657" y="7725"/>
                </a:moveTo>
                <a:cubicBezTo>
                  <a:pt x="10638" y="7725"/>
                  <a:pt x="10621" y="7735"/>
                  <a:pt x="10613" y="7753"/>
                </a:cubicBezTo>
                <a:cubicBezTo>
                  <a:pt x="10603" y="7777"/>
                  <a:pt x="10614" y="7805"/>
                  <a:pt x="10638" y="7815"/>
                </a:cubicBezTo>
                <a:cubicBezTo>
                  <a:pt x="10644" y="7818"/>
                  <a:pt x="10650" y="7819"/>
                  <a:pt x="10657" y="7819"/>
                </a:cubicBezTo>
                <a:cubicBezTo>
                  <a:pt x="10675" y="7819"/>
                  <a:pt x="10692" y="7808"/>
                  <a:pt x="10700" y="7790"/>
                </a:cubicBezTo>
                <a:cubicBezTo>
                  <a:pt x="10710" y="7767"/>
                  <a:pt x="10699" y="7739"/>
                  <a:pt x="10675" y="7728"/>
                </a:cubicBezTo>
                <a:cubicBezTo>
                  <a:pt x="10669" y="7726"/>
                  <a:pt x="10663" y="7725"/>
                  <a:pt x="10657" y="7725"/>
                </a:cubicBezTo>
                <a:moveTo>
                  <a:pt x="367" y="7386"/>
                </a:moveTo>
                <a:cubicBezTo>
                  <a:pt x="362" y="7386"/>
                  <a:pt x="356" y="7387"/>
                  <a:pt x="351" y="7389"/>
                </a:cubicBezTo>
                <a:cubicBezTo>
                  <a:pt x="327" y="7397"/>
                  <a:pt x="314" y="7424"/>
                  <a:pt x="323" y="7449"/>
                </a:cubicBezTo>
                <a:cubicBezTo>
                  <a:pt x="330" y="7468"/>
                  <a:pt x="348" y="7480"/>
                  <a:pt x="367" y="7480"/>
                </a:cubicBezTo>
                <a:cubicBezTo>
                  <a:pt x="372" y="7480"/>
                  <a:pt x="378" y="7479"/>
                  <a:pt x="383" y="7478"/>
                </a:cubicBezTo>
                <a:cubicBezTo>
                  <a:pt x="407" y="7469"/>
                  <a:pt x="420" y="7442"/>
                  <a:pt x="411" y="7417"/>
                </a:cubicBezTo>
                <a:cubicBezTo>
                  <a:pt x="405" y="7398"/>
                  <a:pt x="387" y="7386"/>
                  <a:pt x="367" y="7386"/>
                </a:cubicBezTo>
                <a:moveTo>
                  <a:pt x="10795" y="7373"/>
                </a:moveTo>
                <a:cubicBezTo>
                  <a:pt x="10775" y="7373"/>
                  <a:pt x="10757" y="7385"/>
                  <a:pt x="10751" y="7404"/>
                </a:cubicBezTo>
                <a:cubicBezTo>
                  <a:pt x="10742" y="7429"/>
                  <a:pt x="10755" y="7456"/>
                  <a:pt x="10779" y="7465"/>
                </a:cubicBezTo>
                <a:cubicBezTo>
                  <a:pt x="10784" y="7466"/>
                  <a:pt x="10790" y="7467"/>
                  <a:pt x="10795" y="7467"/>
                </a:cubicBezTo>
                <a:cubicBezTo>
                  <a:pt x="10814" y="7467"/>
                  <a:pt x="10833" y="7455"/>
                  <a:pt x="10839" y="7436"/>
                </a:cubicBezTo>
                <a:cubicBezTo>
                  <a:pt x="10848" y="7411"/>
                  <a:pt x="10835" y="7384"/>
                  <a:pt x="10811" y="7375"/>
                </a:cubicBezTo>
                <a:cubicBezTo>
                  <a:pt x="10805" y="7374"/>
                  <a:pt x="10800" y="7373"/>
                  <a:pt x="10795" y="7373"/>
                </a:cubicBezTo>
                <a:moveTo>
                  <a:pt x="252" y="7026"/>
                </a:moveTo>
                <a:cubicBezTo>
                  <a:pt x="248" y="7026"/>
                  <a:pt x="244" y="7027"/>
                  <a:pt x="240" y="7028"/>
                </a:cubicBezTo>
                <a:cubicBezTo>
                  <a:pt x="215" y="7035"/>
                  <a:pt x="200" y="7061"/>
                  <a:pt x="207" y="7086"/>
                </a:cubicBezTo>
                <a:cubicBezTo>
                  <a:pt x="213" y="7107"/>
                  <a:pt x="232" y="7121"/>
                  <a:pt x="252" y="7121"/>
                </a:cubicBezTo>
                <a:cubicBezTo>
                  <a:pt x="257" y="7121"/>
                  <a:pt x="261" y="7120"/>
                  <a:pt x="265" y="7119"/>
                </a:cubicBezTo>
                <a:cubicBezTo>
                  <a:pt x="290" y="7112"/>
                  <a:pt x="305" y="7086"/>
                  <a:pt x="298" y="7061"/>
                </a:cubicBezTo>
                <a:cubicBezTo>
                  <a:pt x="292" y="7040"/>
                  <a:pt x="273" y="7026"/>
                  <a:pt x="252" y="7026"/>
                </a:cubicBezTo>
                <a:moveTo>
                  <a:pt x="10908" y="7013"/>
                </a:moveTo>
                <a:cubicBezTo>
                  <a:pt x="10888" y="7013"/>
                  <a:pt x="10869" y="7027"/>
                  <a:pt x="10863" y="7047"/>
                </a:cubicBezTo>
                <a:cubicBezTo>
                  <a:pt x="10856" y="7073"/>
                  <a:pt x="10871" y="7098"/>
                  <a:pt x="10896" y="7106"/>
                </a:cubicBezTo>
                <a:cubicBezTo>
                  <a:pt x="10900" y="7107"/>
                  <a:pt x="10905" y="7107"/>
                  <a:pt x="10909" y="7107"/>
                </a:cubicBezTo>
                <a:cubicBezTo>
                  <a:pt x="10929" y="7107"/>
                  <a:pt x="10948" y="7094"/>
                  <a:pt x="10954" y="7073"/>
                </a:cubicBezTo>
                <a:cubicBezTo>
                  <a:pt x="10961" y="7048"/>
                  <a:pt x="10946" y="7022"/>
                  <a:pt x="10921" y="7015"/>
                </a:cubicBezTo>
                <a:cubicBezTo>
                  <a:pt x="10917" y="7013"/>
                  <a:pt x="10913" y="7013"/>
                  <a:pt x="10908" y="7013"/>
                </a:cubicBezTo>
                <a:moveTo>
                  <a:pt x="163" y="6659"/>
                </a:moveTo>
                <a:cubicBezTo>
                  <a:pt x="160" y="6659"/>
                  <a:pt x="156" y="6660"/>
                  <a:pt x="153" y="6660"/>
                </a:cubicBezTo>
                <a:cubicBezTo>
                  <a:pt x="128" y="6666"/>
                  <a:pt x="111" y="6691"/>
                  <a:pt x="117" y="6717"/>
                </a:cubicBezTo>
                <a:cubicBezTo>
                  <a:pt x="121" y="6739"/>
                  <a:pt x="141" y="6754"/>
                  <a:pt x="163" y="6754"/>
                </a:cubicBezTo>
                <a:cubicBezTo>
                  <a:pt x="166" y="6754"/>
                  <a:pt x="169" y="6754"/>
                  <a:pt x="172" y="6753"/>
                </a:cubicBezTo>
                <a:cubicBezTo>
                  <a:pt x="198" y="6748"/>
                  <a:pt x="214" y="6722"/>
                  <a:pt x="209" y="6697"/>
                </a:cubicBezTo>
                <a:cubicBezTo>
                  <a:pt x="205" y="6675"/>
                  <a:pt x="185" y="6659"/>
                  <a:pt x="163" y="6659"/>
                </a:cubicBezTo>
                <a:moveTo>
                  <a:pt x="10997" y="6646"/>
                </a:moveTo>
                <a:cubicBezTo>
                  <a:pt x="10975" y="6646"/>
                  <a:pt x="10956" y="6661"/>
                  <a:pt x="10951" y="6684"/>
                </a:cubicBezTo>
                <a:cubicBezTo>
                  <a:pt x="10946" y="6709"/>
                  <a:pt x="10962" y="6734"/>
                  <a:pt x="10988" y="6739"/>
                </a:cubicBezTo>
                <a:cubicBezTo>
                  <a:pt x="10991" y="6740"/>
                  <a:pt x="10994" y="6740"/>
                  <a:pt x="10997" y="6740"/>
                </a:cubicBezTo>
                <a:cubicBezTo>
                  <a:pt x="11019" y="6740"/>
                  <a:pt x="11039" y="6725"/>
                  <a:pt x="11044" y="6703"/>
                </a:cubicBezTo>
                <a:cubicBezTo>
                  <a:pt x="11049" y="6677"/>
                  <a:pt x="11032" y="6652"/>
                  <a:pt x="11007" y="6647"/>
                </a:cubicBezTo>
                <a:cubicBezTo>
                  <a:pt x="11004" y="6646"/>
                  <a:pt x="11000" y="6646"/>
                  <a:pt x="10997" y="6646"/>
                </a:cubicBezTo>
                <a:moveTo>
                  <a:pt x="99" y="6288"/>
                </a:moveTo>
                <a:cubicBezTo>
                  <a:pt x="96" y="6288"/>
                  <a:pt x="94" y="6288"/>
                  <a:pt x="92" y="6288"/>
                </a:cubicBezTo>
                <a:cubicBezTo>
                  <a:pt x="66" y="6291"/>
                  <a:pt x="48" y="6315"/>
                  <a:pt x="52" y="6341"/>
                </a:cubicBezTo>
                <a:cubicBezTo>
                  <a:pt x="55" y="6365"/>
                  <a:pt x="75" y="6382"/>
                  <a:pt x="99" y="6382"/>
                </a:cubicBezTo>
                <a:cubicBezTo>
                  <a:pt x="101" y="6382"/>
                  <a:pt x="103" y="6382"/>
                  <a:pt x="105" y="6381"/>
                </a:cubicBezTo>
                <a:cubicBezTo>
                  <a:pt x="131" y="6378"/>
                  <a:pt x="149" y="6354"/>
                  <a:pt x="146" y="6328"/>
                </a:cubicBezTo>
                <a:cubicBezTo>
                  <a:pt x="142" y="6305"/>
                  <a:pt x="122" y="6288"/>
                  <a:pt x="99" y="6288"/>
                </a:cubicBezTo>
                <a:moveTo>
                  <a:pt x="11060" y="6274"/>
                </a:moveTo>
                <a:cubicBezTo>
                  <a:pt x="11037" y="6274"/>
                  <a:pt x="11017" y="6291"/>
                  <a:pt x="11014" y="6315"/>
                </a:cubicBezTo>
                <a:cubicBezTo>
                  <a:pt x="11010" y="6341"/>
                  <a:pt x="11028" y="6364"/>
                  <a:pt x="11054" y="6368"/>
                </a:cubicBezTo>
                <a:cubicBezTo>
                  <a:pt x="11056" y="6368"/>
                  <a:pt x="11059" y="6368"/>
                  <a:pt x="11061" y="6368"/>
                </a:cubicBezTo>
                <a:cubicBezTo>
                  <a:pt x="11084" y="6368"/>
                  <a:pt x="11104" y="6351"/>
                  <a:pt x="11107" y="6327"/>
                </a:cubicBezTo>
                <a:cubicBezTo>
                  <a:pt x="11111" y="6302"/>
                  <a:pt x="11093" y="6278"/>
                  <a:pt x="11067" y="6274"/>
                </a:cubicBezTo>
                <a:cubicBezTo>
                  <a:pt x="11065" y="6274"/>
                  <a:pt x="11062" y="6274"/>
                  <a:pt x="11060" y="6274"/>
                </a:cubicBezTo>
                <a:moveTo>
                  <a:pt x="60" y="5912"/>
                </a:moveTo>
                <a:cubicBezTo>
                  <a:pt x="59" y="5912"/>
                  <a:pt x="58" y="5912"/>
                  <a:pt x="57" y="5912"/>
                </a:cubicBezTo>
                <a:cubicBezTo>
                  <a:pt x="31" y="5914"/>
                  <a:pt x="11" y="5936"/>
                  <a:pt x="13" y="5962"/>
                </a:cubicBezTo>
                <a:cubicBezTo>
                  <a:pt x="15" y="5987"/>
                  <a:pt x="35" y="6006"/>
                  <a:pt x="60" y="6006"/>
                </a:cubicBezTo>
                <a:cubicBezTo>
                  <a:pt x="61" y="6006"/>
                  <a:pt x="62" y="6006"/>
                  <a:pt x="63" y="6006"/>
                </a:cubicBezTo>
                <a:cubicBezTo>
                  <a:pt x="89" y="6005"/>
                  <a:pt x="109" y="5982"/>
                  <a:pt x="107" y="5956"/>
                </a:cubicBezTo>
                <a:cubicBezTo>
                  <a:pt x="106" y="5931"/>
                  <a:pt x="85" y="5912"/>
                  <a:pt x="60" y="5912"/>
                </a:cubicBezTo>
                <a:moveTo>
                  <a:pt x="11098" y="5898"/>
                </a:moveTo>
                <a:cubicBezTo>
                  <a:pt x="11074" y="5898"/>
                  <a:pt x="11052" y="5917"/>
                  <a:pt x="11051" y="5942"/>
                </a:cubicBezTo>
                <a:cubicBezTo>
                  <a:pt x="11049" y="5968"/>
                  <a:pt x="11069" y="5991"/>
                  <a:pt x="11095" y="5993"/>
                </a:cubicBezTo>
                <a:cubicBezTo>
                  <a:pt x="11096" y="5993"/>
                  <a:pt x="11097" y="5993"/>
                  <a:pt x="11098" y="5993"/>
                </a:cubicBezTo>
                <a:cubicBezTo>
                  <a:pt x="11123" y="5993"/>
                  <a:pt x="11143" y="5973"/>
                  <a:pt x="11145" y="5949"/>
                </a:cubicBezTo>
                <a:cubicBezTo>
                  <a:pt x="11147" y="5922"/>
                  <a:pt x="11127" y="5900"/>
                  <a:pt x="11101" y="5898"/>
                </a:cubicBezTo>
                <a:cubicBezTo>
                  <a:pt x="11100" y="5898"/>
                  <a:pt x="11099" y="5898"/>
                  <a:pt x="11098" y="5898"/>
                </a:cubicBezTo>
                <a:moveTo>
                  <a:pt x="47" y="5535"/>
                </a:moveTo>
                <a:cubicBezTo>
                  <a:pt x="21" y="5535"/>
                  <a:pt x="0" y="5556"/>
                  <a:pt x="0" y="5582"/>
                </a:cubicBezTo>
                <a:cubicBezTo>
                  <a:pt x="0" y="5608"/>
                  <a:pt x="21" y="5629"/>
                  <a:pt x="47" y="5629"/>
                </a:cubicBezTo>
                <a:cubicBezTo>
                  <a:pt x="73" y="5629"/>
                  <a:pt x="95" y="5608"/>
                  <a:pt x="95" y="5582"/>
                </a:cubicBezTo>
                <a:cubicBezTo>
                  <a:pt x="94" y="5556"/>
                  <a:pt x="73" y="5535"/>
                  <a:pt x="47" y="5535"/>
                </a:cubicBezTo>
                <a:moveTo>
                  <a:pt x="11111" y="5521"/>
                </a:moveTo>
                <a:cubicBezTo>
                  <a:pt x="11111" y="5521"/>
                  <a:pt x="11110" y="5521"/>
                  <a:pt x="11110" y="5521"/>
                </a:cubicBezTo>
                <a:cubicBezTo>
                  <a:pt x="11084" y="5521"/>
                  <a:pt x="11063" y="5542"/>
                  <a:pt x="11063" y="5568"/>
                </a:cubicBezTo>
                <a:cubicBezTo>
                  <a:pt x="11063" y="5594"/>
                  <a:pt x="11084" y="5615"/>
                  <a:pt x="11110" y="5615"/>
                </a:cubicBezTo>
                <a:cubicBezTo>
                  <a:pt x="11136" y="5615"/>
                  <a:pt x="11157" y="5594"/>
                  <a:pt x="11157" y="5568"/>
                </a:cubicBezTo>
                <a:cubicBezTo>
                  <a:pt x="11157" y="5542"/>
                  <a:pt x="11137" y="5521"/>
                  <a:pt x="11111" y="5521"/>
                </a:cubicBezTo>
                <a:moveTo>
                  <a:pt x="59" y="5158"/>
                </a:moveTo>
                <a:cubicBezTo>
                  <a:pt x="35" y="5158"/>
                  <a:pt x="14" y="5177"/>
                  <a:pt x="12" y="5201"/>
                </a:cubicBezTo>
                <a:cubicBezTo>
                  <a:pt x="11" y="5228"/>
                  <a:pt x="30" y="5250"/>
                  <a:pt x="57" y="5252"/>
                </a:cubicBezTo>
                <a:cubicBezTo>
                  <a:pt x="57" y="5252"/>
                  <a:pt x="59" y="5252"/>
                  <a:pt x="60" y="5252"/>
                </a:cubicBezTo>
                <a:cubicBezTo>
                  <a:pt x="84" y="5252"/>
                  <a:pt x="105" y="5233"/>
                  <a:pt x="107" y="5208"/>
                </a:cubicBezTo>
                <a:cubicBezTo>
                  <a:pt x="108" y="5182"/>
                  <a:pt x="89" y="5159"/>
                  <a:pt x="63" y="5158"/>
                </a:cubicBezTo>
                <a:cubicBezTo>
                  <a:pt x="62" y="5158"/>
                  <a:pt x="61" y="5158"/>
                  <a:pt x="59" y="5158"/>
                </a:cubicBezTo>
                <a:moveTo>
                  <a:pt x="11097" y="5144"/>
                </a:moveTo>
                <a:cubicBezTo>
                  <a:pt x="11096" y="5144"/>
                  <a:pt x="11095" y="5144"/>
                  <a:pt x="11093" y="5144"/>
                </a:cubicBezTo>
                <a:cubicBezTo>
                  <a:pt x="11067" y="5145"/>
                  <a:pt x="11048" y="5168"/>
                  <a:pt x="11049" y="5194"/>
                </a:cubicBezTo>
                <a:cubicBezTo>
                  <a:pt x="11050" y="5194"/>
                  <a:pt x="11050" y="5194"/>
                  <a:pt x="11050" y="5194"/>
                </a:cubicBezTo>
                <a:cubicBezTo>
                  <a:pt x="11051" y="5219"/>
                  <a:pt x="11072" y="5238"/>
                  <a:pt x="11097" y="5238"/>
                </a:cubicBezTo>
                <a:cubicBezTo>
                  <a:pt x="11098" y="5238"/>
                  <a:pt x="11099" y="5238"/>
                  <a:pt x="11100" y="5238"/>
                </a:cubicBezTo>
                <a:cubicBezTo>
                  <a:pt x="11126" y="5236"/>
                  <a:pt x="11146" y="5213"/>
                  <a:pt x="11144" y="5188"/>
                </a:cubicBezTo>
                <a:cubicBezTo>
                  <a:pt x="11142" y="5163"/>
                  <a:pt x="11122" y="5144"/>
                  <a:pt x="11097" y="5144"/>
                </a:cubicBezTo>
                <a:moveTo>
                  <a:pt x="98" y="4782"/>
                </a:moveTo>
                <a:cubicBezTo>
                  <a:pt x="74" y="4782"/>
                  <a:pt x="54" y="4799"/>
                  <a:pt x="51" y="4823"/>
                </a:cubicBezTo>
                <a:cubicBezTo>
                  <a:pt x="47" y="4849"/>
                  <a:pt x="66" y="4872"/>
                  <a:pt x="91" y="4876"/>
                </a:cubicBezTo>
                <a:cubicBezTo>
                  <a:pt x="94" y="4876"/>
                  <a:pt x="96" y="4876"/>
                  <a:pt x="98" y="4876"/>
                </a:cubicBezTo>
                <a:cubicBezTo>
                  <a:pt x="121" y="4876"/>
                  <a:pt x="141" y="4859"/>
                  <a:pt x="144" y="4836"/>
                </a:cubicBezTo>
                <a:cubicBezTo>
                  <a:pt x="148" y="4810"/>
                  <a:pt x="130" y="4786"/>
                  <a:pt x="104" y="4782"/>
                </a:cubicBezTo>
                <a:cubicBezTo>
                  <a:pt x="102" y="4782"/>
                  <a:pt x="100" y="4782"/>
                  <a:pt x="98" y="4782"/>
                </a:cubicBezTo>
                <a:moveTo>
                  <a:pt x="11058" y="4768"/>
                </a:moveTo>
                <a:cubicBezTo>
                  <a:pt x="11056" y="4768"/>
                  <a:pt x="11053" y="4768"/>
                  <a:pt x="11051" y="4769"/>
                </a:cubicBezTo>
                <a:cubicBezTo>
                  <a:pt x="11025" y="4772"/>
                  <a:pt x="11007" y="4796"/>
                  <a:pt x="11011" y="4822"/>
                </a:cubicBezTo>
                <a:cubicBezTo>
                  <a:pt x="11014" y="4846"/>
                  <a:pt x="11035" y="4863"/>
                  <a:pt x="11058" y="4863"/>
                </a:cubicBezTo>
                <a:cubicBezTo>
                  <a:pt x="11060" y="4863"/>
                  <a:pt x="11062" y="4862"/>
                  <a:pt x="11064" y="4862"/>
                </a:cubicBezTo>
                <a:cubicBezTo>
                  <a:pt x="11090" y="4859"/>
                  <a:pt x="11108" y="4835"/>
                  <a:pt x="11104" y="4809"/>
                </a:cubicBezTo>
                <a:cubicBezTo>
                  <a:pt x="11101" y="4785"/>
                  <a:pt x="11081" y="4768"/>
                  <a:pt x="11058" y="4768"/>
                </a:cubicBezTo>
                <a:moveTo>
                  <a:pt x="161" y="4410"/>
                </a:moveTo>
                <a:cubicBezTo>
                  <a:pt x="139" y="4410"/>
                  <a:pt x="120" y="4425"/>
                  <a:pt x="115" y="4448"/>
                </a:cubicBezTo>
                <a:cubicBezTo>
                  <a:pt x="110" y="4473"/>
                  <a:pt x="126" y="4498"/>
                  <a:pt x="152" y="4503"/>
                </a:cubicBezTo>
                <a:cubicBezTo>
                  <a:pt x="155" y="4504"/>
                  <a:pt x="158" y="4504"/>
                  <a:pt x="161" y="4504"/>
                </a:cubicBezTo>
                <a:cubicBezTo>
                  <a:pt x="183" y="4504"/>
                  <a:pt x="203" y="4489"/>
                  <a:pt x="208" y="4467"/>
                </a:cubicBezTo>
                <a:cubicBezTo>
                  <a:pt x="213" y="4441"/>
                  <a:pt x="197" y="4416"/>
                  <a:pt x="171" y="4411"/>
                </a:cubicBezTo>
                <a:cubicBezTo>
                  <a:pt x="168" y="4410"/>
                  <a:pt x="164" y="4410"/>
                  <a:pt x="161" y="4410"/>
                </a:cubicBezTo>
                <a:moveTo>
                  <a:pt x="10993" y="4396"/>
                </a:moveTo>
                <a:cubicBezTo>
                  <a:pt x="10990" y="4396"/>
                  <a:pt x="10987" y="4397"/>
                  <a:pt x="10983" y="4397"/>
                </a:cubicBezTo>
                <a:cubicBezTo>
                  <a:pt x="10958" y="4403"/>
                  <a:pt x="10941" y="4428"/>
                  <a:pt x="10947" y="4453"/>
                </a:cubicBezTo>
                <a:cubicBezTo>
                  <a:pt x="10951" y="4475"/>
                  <a:pt x="10971" y="4491"/>
                  <a:pt x="10993" y="4491"/>
                </a:cubicBezTo>
                <a:cubicBezTo>
                  <a:pt x="10996" y="4491"/>
                  <a:pt x="10999" y="4490"/>
                  <a:pt x="11003" y="4490"/>
                </a:cubicBezTo>
                <a:cubicBezTo>
                  <a:pt x="11028" y="4484"/>
                  <a:pt x="11045" y="4459"/>
                  <a:pt x="11039" y="4434"/>
                </a:cubicBezTo>
                <a:cubicBezTo>
                  <a:pt x="11035" y="4412"/>
                  <a:pt x="11015" y="4396"/>
                  <a:pt x="10993" y="4396"/>
                </a:cubicBezTo>
                <a:moveTo>
                  <a:pt x="250" y="4043"/>
                </a:moveTo>
                <a:cubicBezTo>
                  <a:pt x="230" y="4043"/>
                  <a:pt x="211" y="4057"/>
                  <a:pt x="205" y="4077"/>
                </a:cubicBezTo>
                <a:cubicBezTo>
                  <a:pt x="205" y="4078"/>
                  <a:pt x="205" y="4078"/>
                  <a:pt x="205" y="4078"/>
                </a:cubicBezTo>
                <a:cubicBezTo>
                  <a:pt x="198" y="4103"/>
                  <a:pt x="213" y="4129"/>
                  <a:pt x="238" y="4136"/>
                </a:cubicBezTo>
                <a:cubicBezTo>
                  <a:pt x="242" y="4137"/>
                  <a:pt x="246" y="4138"/>
                  <a:pt x="250" y="4138"/>
                </a:cubicBezTo>
                <a:cubicBezTo>
                  <a:pt x="271" y="4138"/>
                  <a:pt x="290" y="4124"/>
                  <a:pt x="296" y="4103"/>
                </a:cubicBezTo>
                <a:cubicBezTo>
                  <a:pt x="303" y="4078"/>
                  <a:pt x="288" y="4052"/>
                  <a:pt x="263" y="4045"/>
                </a:cubicBezTo>
                <a:cubicBezTo>
                  <a:pt x="259" y="4044"/>
                  <a:pt x="255" y="4043"/>
                  <a:pt x="250" y="4043"/>
                </a:cubicBezTo>
                <a:moveTo>
                  <a:pt x="10903" y="4030"/>
                </a:moveTo>
                <a:cubicBezTo>
                  <a:pt x="10899" y="4030"/>
                  <a:pt x="10894" y="4030"/>
                  <a:pt x="10890" y="4031"/>
                </a:cubicBezTo>
                <a:cubicBezTo>
                  <a:pt x="10865" y="4039"/>
                  <a:pt x="10851" y="4064"/>
                  <a:pt x="10858" y="4090"/>
                </a:cubicBezTo>
                <a:cubicBezTo>
                  <a:pt x="10864" y="4110"/>
                  <a:pt x="10882" y="4124"/>
                  <a:pt x="10903" y="4124"/>
                </a:cubicBezTo>
                <a:cubicBezTo>
                  <a:pt x="10907" y="4124"/>
                  <a:pt x="10912" y="4124"/>
                  <a:pt x="10916" y="4122"/>
                </a:cubicBezTo>
                <a:cubicBezTo>
                  <a:pt x="10941" y="4115"/>
                  <a:pt x="10956" y="4089"/>
                  <a:pt x="10949" y="4064"/>
                </a:cubicBezTo>
                <a:cubicBezTo>
                  <a:pt x="10943" y="4043"/>
                  <a:pt x="10924" y="4030"/>
                  <a:pt x="10903" y="4030"/>
                </a:cubicBezTo>
                <a:moveTo>
                  <a:pt x="365" y="3683"/>
                </a:moveTo>
                <a:cubicBezTo>
                  <a:pt x="345" y="3683"/>
                  <a:pt x="327" y="3695"/>
                  <a:pt x="320" y="3715"/>
                </a:cubicBezTo>
                <a:cubicBezTo>
                  <a:pt x="311" y="3739"/>
                  <a:pt x="324" y="3766"/>
                  <a:pt x="349" y="3775"/>
                </a:cubicBezTo>
                <a:cubicBezTo>
                  <a:pt x="354" y="3777"/>
                  <a:pt x="359" y="3778"/>
                  <a:pt x="365" y="3778"/>
                </a:cubicBezTo>
                <a:cubicBezTo>
                  <a:pt x="384" y="3778"/>
                  <a:pt x="402" y="3766"/>
                  <a:pt x="409" y="3746"/>
                </a:cubicBezTo>
                <a:cubicBezTo>
                  <a:pt x="418" y="3722"/>
                  <a:pt x="405" y="3695"/>
                  <a:pt x="381" y="3686"/>
                </a:cubicBezTo>
                <a:cubicBezTo>
                  <a:pt x="375" y="3684"/>
                  <a:pt x="370" y="3683"/>
                  <a:pt x="365" y="3683"/>
                </a:cubicBezTo>
                <a:moveTo>
                  <a:pt x="10788" y="3670"/>
                </a:moveTo>
                <a:cubicBezTo>
                  <a:pt x="10783" y="3670"/>
                  <a:pt x="10777" y="3671"/>
                  <a:pt x="10772" y="3673"/>
                </a:cubicBezTo>
                <a:cubicBezTo>
                  <a:pt x="10747" y="3682"/>
                  <a:pt x="10735" y="3709"/>
                  <a:pt x="10744" y="3733"/>
                </a:cubicBezTo>
                <a:cubicBezTo>
                  <a:pt x="10751" y="3752"/>
                  <a:pt x="10769" y="3764"/>
                  <a:pt x="10788" y="3764"/>
                </a:cubicBezTo>
                <a:cubicBezTo>
                  <a:pt x="10793" y="3764"/>
                  <a:pt x="10799" y="3764"/>
                  <a:pt x="10804" y="3762"/>
                </a:cubicBezTo>
                <a:cubicBezTo>
                  <a:pt x="10829" y="3753"/>
                  <a:pt x="10841" y="3726"/>
                  <a:pt x="10832" y="3701"/>
                </a:cubicBezTo>
                <a:cubicBezTo>
                  <a:pt x="10826" y="3682"/>
                  <a:pt x="10807" y="3670"/>
                  <a:pt x="10788" y="3670"/>
                </a:cubicBezTo>
                <a:moveTo>
                  <a:pt x="503" y="3332"/>
                </a:moveTo>
                <a:cubicBezTo>
                  <a:pt x="485" y="3332"/>
                  <a:pt x="468" y="3342"/>
                  <a:pt x="460" y="3360"/>
                </a:cubicBezTo>
                <a:cubicBezTo>
                  <a:pt x="450" y="3384"/>
                  <a:pt x="461" y="3412"/>
                  <a:pt x="484" y="3422"/>
                </a:cubicBezTo>
                <a:cubicBezTo>
                  <a:pt x="491" y="3425"/>
                  <a:pt x="497" y="3426"/>
                  <a:pt x="503" y="3426"/>
                </a:cubicBezTo>
                <a:cubicBezTo>
                  <a:pt x="522" y="3426"/>
                  <a:pt x="539" y="3416"/>
                  <a:pt x="547" y="3398"/>
                </a:cubicBezTo>
                <a:cubicBezTo>
                  <a:pt x="557" y="3374"/>
                  <a:pt x="546" y="3346"/>
                  <a:pt x="522" y="3336"/>
                </a:cubicBezTo>
                <a:cubicBezTo>
                  <a:pt x="516" y="3333"/>
                  <a:pt x="510" y="3332"/>
                  <a:pt x="503" y="3332"/>
                </a:cubicBezTo>
                <a:moveTo>
                  <a:pt x="10648" y="3320"/>
                </a:moveTo>
                <a:cubicBezTo>
                  <a:pt x="10642" y="3320"/>
                  <a:pt x="10636" y="3321"/>
                  <a:pt x="10630" y="3324"/>
                </a:cubicBezTo>
                <a:cubicBezTo>
                  <a:pt x="10606" y="3334"/>
                  <a:pt x="10595" y="3362"/>
                  <a:pt x="10605" y="3386"/>
                </a:cubicBezTo>
                <a:cubicBezTo>
                  <a:pt x="10613" y="3404"/>
                  <a:pt x="10631" y="3414"/>
                  <a:pt x="10649" y="3414"/>
                </a:cubicBezTo>
                <a:cubicBezTo>
                  <a:pt x="10655" y="3414"/>
                  <a:pt x="10661" y="3413"/>
                  <a:pt x="10668" y="3410"/>
                </a:cubicBezTo>
                <a:cubicBezTo>
                  <a:pt x="10692" y="3400"/>
                  <a:pt x="10702" y="3372"/>
                  <a:pt x="10692" y="3348"/>
                </a:cubicBezTo>
                <a:cubicBezTo>
                  <a:pt x="10684" y="3330"/>
                  <a:pt x="10667" y="3320"/>
                  <a:pt x="10648" y="3320"/>
                </a:cubicBezTo>
                <a:moveTo>
                  <a:pt x="666" y="2991"/>
                </a:moveTo>
                <a:cubicBezTo>
                  <a:pt x="649" y="2991"/>
                  <a:pt x="633" y="3000"/>
                  <a:pt x="624" y="3016"/>
                </a:cubicBezTo>
                <a:cubicBezTo>
                  <a:pt x="612" y="3039"/>
                  <a:pt x="621" y="3068"/>
                  <a:pt x="644" y="3080"/>
                </a:cubicBezTo>
                <a:cubicBezTo>
                  <a:pt x="651" y="3083"/>
                  <a:pt x="659" y="3085"/>
                  <a:pt x="666" y="3085"/>
                </a:cubicBezTo>
                <a:cubicBezTo>
                  <a:pt x="683" y="3085"/>
                  <a:pt x="699" y="3076"/>
                  <a:pt x="708" y="3059"/>
                </a:cubicBezTo>
                <a:cubicBezTo>
                  <a:pt x="720" y="3036"/>
                  <a:pt x="711" y="3008"/>
                  <a:pt x="688" y="2996"/>
                </a:cubicBezTo>
                <a:cubicBezTo>
                  <a:pt x="681" y="2992"/>
                  <a:pt x="673" y="2991"/>
                  <a:pt x="666" y="2991"/>
                </a:cubicBezTo>
                <a:moveTo>
                  <a:pt x="10486" y="2980"/>
                </a:moveTo>
                <a:cubicBezTo>
                  <a:pt x="10478" y="2980"/>
                  <a:pt x="10471" y="2981"/>
                  <a:pt x="10464" y="2985"/>
                </a:cubicBezTo>
                <a:cubicBezTo>
                  <a:pt x="10441" y="2997"/>
                  <a:pt x="10432" y="3026"/>
                  <a:pt x="10444" y="3049"/>
                </a:cubicBezTo>
                <a:cubicBezTo>
                  <a:pt x="10452" y="3065"/>
                  <a:pt x="10469" y="3074"/>
                  <a:pt x="10486" y="3074"/>
                </a:cubicBezTo>
                <a:cubicBezTo>
                  <a:pt x="10493" y="3074"/>
                  <a:pt x="10501" y="3072"/>
                  <a:pt x="10508" y="3069"/>
                </a:cubicBezTo>
                <a:cubicBezTo>
                  <a:pt x="10531" y="3057"/>
                  <a:pt x="10540" y="3028"/>
                  <a:pt x="10528" y="3005"/>
                </a:cubicBezTo>
                <a:cubicBezTo>
                  <a:pt x="10519" y="2989"/>
                  <a:pt x="10503" y="2980"/>
                  <a:pt x="10486" y="2980"/>
                </a:cubicBezTo>
                <a:moveTo>
                  <a:pt x="852" y="2661"/>
                </a:moveTo>
                <a:cubicBezTo>
                  <a:pt x="836" y="2661"/>
                  <a:pt x="820" y="2669"/>
                  <a:pt x="811" y="2684"/>
                </a:cubicBezTo>
                <a:cubicBezTo>
                  <a:pt x="798" y="2706"/>
                  <a:pt x="805" y="2735"/>
                  <a:pt x="827" y="2749"/>
                </a:cubicBezTo>
                <a:cubicBezTo>
                  <a:pt x="835" y="2753"/>
                  <a:pt x="843" y="2756"/>
                  <a:pt x="852" y="2756"/>
                </a:cubicBezTo>
                <a:cubicBezTo>
                  <a:pt x="867" y="2756"/>
                  <a:pt x="883" y="2748"/>
                  <a:pt x="892" y="2733"/>
                </a:cubicBezTo>
                <a:cubicBezTo>
                  <a:pt x="905" y="2711"/>
                  <a:pt x="898" y="2682"/>
                  <a:pt x="876" y="2668"/>
                </a:cubicBezTo>
                <a:cubicBezTo>
                  <a:pt x="868" y="2663"/>
                  <a:pt x="860" y="2661"/>
                  <a:pt x="852" y="2661"/>
                </a:cubicBezTo>
                <a:moveTo>
                  <a:pt x="10300" y="2651"/>
                </a:moveTo>
                <a:cubicBezTo>
                  <a:pt x="10291" y="2651"/>
                  <a:pt x="10283" y="2654"/>
                  <a:pt x="10275" y="2658"/>
                </a:cubicBezTo>
                <a:cubicBezTo>
                  <a:pt x="10253" y="2672"/>
                  <a:pt x="10246" y="2701"/>
                  <a:pt x="10260" y="2723"/>
                </a:cubicBezTo>
                <a:cubicBezTo>
                  <a:pt x="10269" y="2738"/>
                  <a:pt x="10284" y="2746"/>
                  <a:pt x="10300" y="2746"/>
                </a:cubicBezTo>
                <a:cubicBezTo>
                  <a:pt x="10308" y="2746"/>
                  <a:pt x="10317" y="2744"/>
                  <a:pt x="10325" y="2739"/>
                </a:cubicBezTo>
                <a:cubicBezTo>
                  <a:pt x="10347" y="2725"/>
                  <a:pt x="10354" y="2696"/>
                  <a:pt x="10340" y="2674"/>
                </a:cubicBezTo>
                <a:cubicBezTo>
                  <a:pt x="10331" y="2659"/>
                  <a:pt x="10316" y="2651"/>
                  <a:pt x="10300" y="2651"/>
                </a:cubicBezTo>
                <a:moveTo>
                  <a:pt x="1059" y="2346"/>
                </a:moveTo>
                <a:cubicBezTo>
                  <a:pt x="1044" y="2346"/>
                  <a:pt x="1030" y="2353"/>
                  <a:pt x="1020" y="2366"/>
                </a:cubicBezTo>
                <a:cubicBezTo>
                  <a:pt x="1005" y="2387"/>
                  <a:pt x="1010" y="2416"/>
                  <a:pt x="1032" y="2431"/>
                </a:cubicBezTo>
                <a:cubicBezTo>
                  <a:pt x="1040" y="2437"/>
                  <a:pt x="1050" y="2440"/>
                  <a:pt x="1059" y="2440"/>
                </a:cubicBezTo>
                <a:cubicBezTo>
                  <a:pt x="1074" y="2440"/>
                  <a:pt x="1088" y="2433"/>
                  <a:pt x="1097" y="2420"/>
                </a:cubicBezTo>
                <a:cubicBezTo>
                  <a:pt x="1113" y="2399"/>
                  <a:pt x="1108" y="2369"/>
                  <a:pt x="1086" y="2354"/>
                </a:cubicBezTo>
                <a:cubicBezTo>
                  <a:pt x="1078" y="2348"/>
                  <a:pt x="1069" y="2346"/>
                  <a:pt x="1059" y="2346"/>
                </a:cubicBezTo>
                <a:moveTo>
                  <a:pt x="10092" y="2337"/>
                </a:moveTo>
                <a:cubicBezTo>
                  <a:pt x="10083" y="2337"/>
                  <a:pt x="10073" y="2339"/>
                  <a:pt x="10065" y="2345"/>
                </a:cubicBezTo>
                <a:cubicBezTo>
                  <a:pt x="10043" y="2360"/>
                  <a:pt x="10038" y="2390"/>
                  <a:pt x="10053" y="2411"/>
                </a:cubicBezTo>
                <a:cubicBezTo>
                  <a:pt x="10063" y="2424"/>
                  <a:pt x="10077" y="2431"/>
                  <a:pt x="10092" y="2431"/>
                </a:cubicBezTo>
                <a:cubicBezTo>
                  <a:pt x="10101" y="2431"/>
                  <a:pt x="10111" y="2428"/>
                  <a:pt x="10119" y="2422"/>
                </a:cubicBezTo>
                <a:cubicBezTo>
                  <a:pt x="10141" y="2407"/>
                  <a:pt x="10145" y="2378"/>
                  <a:pt x="10131" y="2356"/>
                </a:cubicBezTo>
                <a:cubicBezTo>
                  <a:pt x="10121" y="2343"/>
                  <a:pt x="10107" y="2337"/>
                  <a:pt x="10092" y="2337"/>
                </a:cubicBezTo>
                <a:moveTo>
                  <a:pt x="1287" y="2045"/>
                </a:moveTo>
                <a:cubicBezTo>
                  <a:pt x="1274" y="2045"/>
                  <a:pt x="1260" y="2051"/>
                  <a:pt x="1251" y="2062"/>
                </a:cubicBezTo>
                <a:cubicBezTo>
                  <a:pt x="1234" y="2082"/>
                  <a:pt x="1237" y="2112"/>
                  <a:pt x="1257" y="2129"/>
                </a:cubicBezTo>
                <a:cubicBezTo>
                  <a:pt x="1266" y="2136"/>
                  <a:pt x="1277" y="2139"/>
                  <a:pt x="1287" y="2139"/>
                </a:cubicBezTo>
                <a:cubicBezTo>
                  <a:pt x="1301" y="2139"/>
                  <a:pt x="1315" y="2133"/>
                  <a:pt x="1324" y="2122"/>
                </a:cubicBezTo>
                <a:cubicBezTo>
                  <a:pt x="1340" y="2102"/>
                  <a:pt x="1337" y="2072"/>
                  <a:pt x="1317" y="2055"/>
                </a:cubicBezTo>
                <a:cubicBezTo>
                  <a:pt x="1308" y="2048"/>
                  <a:pt x="1298" y="2045"/>
                  <a:pt x="1287" y="2045"/>
                </a:cubicBezTo>
                <a:moveTo>
                  <a:pt x="9863" y="2036"/>
                </a:moveTo>
                <a:cubicBezTo>
                  <a:pt x="9853" y="2036"/>
                  <a:pt x="9842" y="2040"/>
                  <a:pt x="9833" y="2047"/>
                </a:cubicBezTo>
                <a:cubicBezTo>
                  <a:pt x="9813" y="2064"/>
                  <a:pt x="9810" y="2093"/>
                  <a:pt x="9826" y="2113"/>
                </a:cubicBezTo>
                <a:cubicBezTo>
                  <a:pt x="9836" y="2125"/>
                  <a:pt x="9849" y="2131"/>
                  <a:pt x="9863" y="2131"/>
                </a:cubicBezTo>
                <a:cubicBezTo>
                  <a:pt x="9874" y="2131"/>
                  <a:pt x="9884" y="2127"/>
                  <a:pt x="9893" y="2120"/>
                </a:cubicBezTo>
                <a:cubicBezTo>
                  <a:pt x="9913" y="2104"/>
                  <a:pt x="9916" y="2074"/>
                  <a:pt x="9900" y="2054"/>
                </a:cubicBezTo>
                <a:cubicBezTo>
                  <a:pt x="9890" y="2042"/>
                  <a:pt x="9877" y="2036"/>
                  <a:pt x="9863" y="2036"/>
                </a:cubicBezTo>
                <a:moveTo>
                  <a:pt x="1535" y="1760"/>
                </a:moveTo>
                <a:cubicBezTo>
                  <a:pt x="1523" y="1760"/>
                  <a:pt x="1510" y="1765"/>
                  <a:pt x="1501" y="1775"/>
                </a:cubicBezTo>
                <a:cubicBezTo>
                  <a:pt x="1483" y="1794"/>
                  <a:pt x="1484" y="1824"/>
                  <a:pt x="1503" y="1842"/>
                </a:cubicBezTo>
                <a:cubicBezTo>
                  <a:pt x="1512" y="1850"/>
                  <a:pt x="1524" y="1855"/>
                  <a:pt x="1535" y="1855"/>
                </a:cubicBezTo>
                <a:cubicBezTo>
                  <a:pt x="1548" y="1855"/>
                  <a:pt x="1561" y="1849"/>
                  <a:pt x="1570" y="1840"/>
                </a:cubicBezTo>
                <a:cubicBezTo>
                  <a:pt x="1588" y="1821"/>
                  <a:pt x="1587" y="1791"/>
                  <a:pt x="1568" y="1773"/>
                </a:cubicBezTo>
                <a:cubicBezTo>
                  <a:pt x="1558" y="1764"/>
                  <a:pt x="1547" y="1760"/>
                  <a:pt x="1535" y="1760"/>
                </a:cubicBezTo>
                <a:moveTo>
                  <a:pt x="9615" y="1752"/>
                </a:moveTo>
                <a:cubicBezTo>
                  <a:pt x="9603" y="1752"/>
                  <a:pt x="9591" y="1757"/>
                  <a:pt x="9582" y="1765"/>
                </a:cubicBezTo>
                <a:cubicBezTo>
                  <a:pt x="9563" y="1783"/>
                  <a:pt x="9562" y="1813"/>
                  <a:pt x="9580" y="1832"/>
                </a:cubicBezTo>
                <a:cubicBezTo>
                  <a:pt x="9589" y="1842"/>
                  <a:pt x="9602" y="1847"/>
                  <a:pt x="9615" y="1847"/>
                </a:cubicBezTo>
                <a:cubicBezTo>
                  <a:pt x="9626" y="1847"/>
                  <a:pt x="9638" y="1843"/>
                  <a:pt x="9647" y="1834"/>
                </a:cubicBezTo>
                <a:cubicBezTo>
                  <a:pt x="9666" y="1816"/>
                  <a:pt x="9667" y="1786"/>
                  <a:pt x="9649" y="1767"/>
                </a:cubicBezTo>
                <a:cubicBezTo>
                  <a:pt x="9640" y="1757"/>
                  <a:pt x="9627" y="1752"/>
                  <a:pt x="9615" y="1752"/>
                </a:cubicBezTo>
                <a:moveTo>
                  <a:pt x="1802" y="1493"/>
                </a:moveTo>
                <a:cubicBezTo>
                  <a:pt x="1791" y="1493"/>
                  <a:pt x="1779" y="1497"/>
                  <a:pt x="1770" y="1506"/>
                </a:cubicBezTo>
                <a:cubicBezTo>
                  <a:pt x="1751" y="1524"/>
                  <a:pt x="1750" y="1554"/>
                  <a:pt x="1768" y="1572"/>
                </a:cubicBezTo>
                <a:cubicBezTo>
                  <a:pt x="1777" y="1582"/>
                  <a:pt x="1789" y="1588"/>
                  <a:pt x="1802" y="1588"/>
                </a:cubicBezTo>
                <a:cubicBezTo>
                  <a:pt x="1814" y="1588"/>
                  <a:pt x="1825" y="1583"/>
                  <a:pt x="1835" y="1575"/>
                </a:cubicBezTo>
                <a:cubicBezTo>
                  <a:pt x="1853" y="1557"/>
                  <a:pt x="1855" y="1527"/>
                  <a:pt x="1837" y="1508"/>
                </a:cubicBezTo>
                <a:cubicBezTo>
                  <a:pt x="1827" y="1498"/>
                  <a:pt x="1815" y="1493"/>
                  <a:pt x="1802" y="1493"/>
                </a:cubicBezTo>
                <a:moveTo>
                  <a:pt x="9347" y="1486"/>
                </a:moveTo>
                <a:cubicBezTo>
                  <a:pt x="9335" y="1486"/>
                  <a:pt x="9322" y="1491"/>
                  <a:pt x="9313" y="1501"/>
                </a:cubicBezTo>
                <a:cubicBezTo>
                  <a:pt x="9295" y="1520"/>
                  <a:pt x="9296" y="1550"/>
                  <a:pt x="9315" y="1567"/>
                </a:cubicBezTo>
                <a:cubicBezTo>
                  <a:pt x="9324" y="1576"/>
                  <a:pt x="9336" y="1580"/>
                  <a:pt x="9347" y="1580"/>
                </a:cubicBezTo>
                <a:cubicBezTo>
                  <a:pt x="9360" y="1580"/>
                  <a:pt x="9372" y="1575"/>
                  <a:pt x="9382" y="1565"/>
                </a:cubicBezTo>
                <a:cubicBezTo>
                  <a:pt x="9400" y="1546"/>
                  <a:pt x="9399" y="1516"/>
                  <a:pt x="9379" y="1498"/>
                </a:cubicBezTo>
                <a:cubicBezTo>
                  <a:pt x="9370" y="1490"/>
                  <a:pt x="9359" y="1486"/>
                  <a:pt x="9347" y="1486"/>
                </a:cubicBezTo>
                <a:moveTo>
                  <a:pt x="2086" y="1245"/>
                </a:moveTo>
                <a:cubicBezTo>
                  <a:pt x="2076" y="1245"/>
                  <a:pt x="2065" y="1248"/>
                  <a:pt x="2056" y="1255"/>
                </a:cubicBezTo>
                <a:cubicBezTo>
                  <a:pt x="2056" y="1255"/>
                  <a:pt x="2056" y="1255"/>
                  <a:pt x="2056" y="1255"/>
                </a:cubicBezTo>
                <a:cubicBezTo>
                  <a:pt x="2036" y="1272"/>
                  <a:pt x="2034" y="1301"/>
                  <a:pt x="2050" y="1321"/>
                </a:cubicBezTo>
                <a:cubicBezTo>
                  <a:pt x="2059" y="1333"/>
                  <a:pt x="2073" y="1339"/>
                  <a:pt x="2086" y="1339"/>
                </a:cubicBezTo>
                <a:cubicBezTo>
                  <a:pt x="2097" y="1339"/>
                  <a:pt x="2108" y="1336"/>
                  <a:pt x="2116" y="1328"/>
                </a:cubicBezTo>
                <a:cubicBezTo>
                  <a:pt x="2136" y="1312"/>
                  <a:pt x="2140" y="1282"/>
                  <a:pt x="2123" y="1262"/>
                </a:cubicBezTo>
                <a:cubicBezTo>
                  <a:pt x="2114" y="1251"/>
                  <a:pt x="2100" y="1245"/>
                  <a:pt x="2086" y="1245"/>
                </a:cubicBezTo>
                <a:moveTo>
                  <a:pt x="9063" y="1238"/>
                </a:moveTo>
                <a:cubicBezTo>
                  <a:pt x="9049" y="1238"/>
                  <a:pt x="9035" y="1244"/>
                  <a:pt x="9026" y="1255"/>
                </a:cubicBezTo>
                <a:cubicBezTo>
                  <a:pt x="9009" y="1275"/>
                  <a:pt x="9012" y="1305"/>
                  <a:pt x="9033" y="1321"/>
                </a:cubicBezTo>
                <a:cubicBezTo>
                  <a:pt x="9042" y="1329"/>
                  <a:pt x="9052" y="1332"/>
                  <a:pt x="9062" y="1332"/>
                </a:cubicBezTo>
                <a:cubicBezTo>
                  <a:pt x="9076" y="1332"/>
                  <a:pt x="9090" y="1326"/>
                  <a:pt x="9099" y="1315"/>
                </a:cubicBezTo>
                <a:cubicBezTo>
                  <a:pt x="9116" y="1294"/>
                  <a:pt x="9112" y="1265"/>
                  <a:pt x="9092" y="1248"/>
                </a:cubicBezTo>
                <a:cubicBezTo>
                  <a:pt x="9084" y="1241"/>
                  <a:pt x="9073" y="1238"/>
                  <a:pt x="9063" y="1238"/>
                </a:cubicBezTo>
                <a:moveTo>
                  <a:pt x="2387" y="1016"/>
                </a:moveTo>
                <a:cubicBezTo>
                  <a:pt x="2377" y="1016"/>
                  <a:pt x="2368" y="1019"/>
                  <a:pt x="2359" y="1025"/>
                </a:cubicBezTo>
                <a:cubicBezTo>
                  <a:pt x="2338" y="1040"/>
                  <a:pt x="2333" y="1069"/>
                  <a:pt x="2348" y="1090"/>
                </a:cubicBezTo>
                <a:cubicBezTo>
                  <a:pt x="2357" y="1104"/>
                  <a:pt x="2372" y="1111"/>
                  <a:pt x="2387" y="1111"/>
                </a:cubicBezTo>
                <a:cubicBezTo>
                  <a:pt x="2396" y="1111"/>
                  <a:pt x="2406" y="1108"/>
                  <a:pt x="2414" y="1102"/>
                </a:cubicBezTo>
                <a:cubicBezTo>
                  <a:pt x="2435" y="1087"/>
                  <a:pt x="2440" y="1057"/>
                  <a:pt x="2425" y="1036"/>
                </a:cubicBezTo>
                <a:cubicBezTo>
                  <a:pt x="2416" y="1023"/>
                  <a:pt x="2401" y="1016"/>
                  <a:pt x="2387" y="1016"/>
                </a:cubicBezTo>
                <a:moveTo>
                  <a:pt x="8762" y="1010"/>
                </a:moveTo>
                <a:cubicBezTo>
                  <a:pt x="8747" y="1010"/>
                  <a:pt x="8732" y="1017"/>
                  <a:pt x="8723" y="1030"/>
                </a:cubicBezTo>
                <a:cubicBezTo>
                  <a:pt x="8708" y="1051"/>
                  <a:pt x="8713" y="1080"/>
                  <a:pt x="8734" y="1095"/>
                </a:cubicBezTo>
                <a:cubicBezTo>
                  <a:pt x="8742" y="1101"/>
                  <a:pt x="8752" y="1104"/>
                  <a:pt x="8762" y="1104"/>
                </a:cubicBezTo>
                <a:cubicBezTo>
                  <a:pt x="8776" y="1104"/>
                  <a:pt x="8791" y="1097"/>
                  <a:pt x="8800" y="1084"/>
                </a:cubicBezTo>
                <a:cubicBezTo>
                  <a:pt x="8815" y="1063"/>
                  <a:pt x="8810" y="1033"/>
                  <a:pt x="8789" y="1018"/>
                </a:cubicBezTo>
                <a:cubicBezTo>
                  <a:pt x="8780" y="1012"/>
                  <a:pt x="8771" y="1010"/>
                  <a:pt x="8762" y="1010"/>
                </a:cubicBezTo>
                <a:moveTo>
                  <a:pt x="2702" y="808"/>
                </a:moveTo>
                <a:cubicBezTo>
                  <a:pt x="2693" y="808"/>
                  <a:pt x="2685" y="811"/>
                  <a:pt x="2677" y="815"/>
                </a:cubicBezTo>
                <a:cubicBezTo>
                  <a:pt x="2655" y="829"/>
                  <a:pt x="2648" y="858"/>
                  <a:pt x="2662" y="880"/>
                </a:cubicBezTo>
                <a:cubicBezTo>
                  <a:pt x="2670" y="895"/>
                  <a:pt x="2686" y="903"/>
                  <a:pt x="2702" y="903"/>
                </a:cubicBezTo>
                <a:cubicBezTo>
                  <a:pt x="2710" y="903"/>
                  <a:pt x="2719" y="901"/>
                  <a:pt x="2727" y="896"/>
                </a:cubicBezTo>
                <a:cubicBezTo>
                  <a:pt x="2749" y="882"/>
                  <a:pt x="2756" y="853"/>
                  <a:pt x="2742" y="831"/>
                </a:cubicBezTo>
                <a:cubicBezTo>
                  <a:pt x="2733" y="816"/>
                  <a:pt x="2718" y="808"/>
                  <a:pt x="2702" y="808"/>
                </a:cubicBezTo>
                <a:moveTo>
                  <a:pt x="8446" y="802"/>
                </a:moveTo>
                <a:cubicBezTo>
                  <a:pt x="8430" y="802"/>
                  <a:pt x="8414" y="810"/>
                  <a:pt x="8405" y="825"/>
                </a:cubicBezTo>
                <a:cubicBezTo>
                  <a:pt x="8392" y="847"/>
                  <a:pt x="8399" y="876"/>
                  <a:pt x="8421" y="890"/>
                </a:cubicBezTo>
                <a:cubicBezTo>
                  <a:pt x="8429" y="895"/>
                  <a:pt x="8437" y="897"/>
                  <a:pt x="8446" y="897"/>
                </a:cubicBezTo>
                <a:cubicBezTo>
                  <a:pt x="8462" y="897"/>
                  <a:pt x="8477" y="889"/>
                  <a:pt x="8486" y="874"/>
                </a:cubicBezTo>
                <a:cubicBezTo>
                  <a:pt x="8500" y="852"/>
                  <a:pt x="8492" y="823"/>
                  <a:pt x="8470" y="809"/>
                </a:cubicBezTo>
                <a:cubicBezTo>
                  <a:pt x="8463" y="805"/>
                  <a:pt x="8454" y="802"/>
                  <a:pt x="8446" y="802"/>
                </a:cubicBezTo>
                <a:moveTo>
                  <a:pt x="3030" y="623"/>
                </a:moveTo>
                <a:cubicBezTo>
                  <a:pt x="3023" y="623"/>
                  <a:pt x="3015" y="624"/>
                  <a:pt x="3008" y="628"/>
                </a:cubicBezTo>
                <a:cubicBezTo>
                  <a:pt x="2985" y="640"/>
                  <a:pt x="2976" y="668"/>
                  <a:pt x="2988" y="692"/>
                </a:cubicBezTo>
                <a:cubicBezTo>
                  <a:pt x="2997" y="708"/>
                  <a:pt x="3013" y="717"/>
                  <a:pt x="3030" y="717"/>
                </a:cubicBezTo>
                <a:cubicBezTo>
                  <a:pt x="3038" y="717"/>
                  <a:pt x="3045" y="715"/>
                  <a:pt x="3052" y="712"/>
                </a:cubicBezTo>
                <a:cubicBezTo>
                  <a:pt x="3052" y="712"/>
                  <a:pt x="3052" y="712"/>
                  <a:pt x="3052" y="712"/>
                </a:cubicBezTo>
                <a:cubicBezTo>
                  <a:pt x="3075" y="700"/>
                  <a:pt x="3084" y="671"/>
                  <a:pt x="3072" y="648"/>
                </a:cubicBezTo>
                <a:cubicBezTo>
                  <a:pt x="3064" y="632"/>
                  <a:pt x="3047" y="623"/>
                  <a:pt x="3030" y="623"/>
                </a:cubicBezTo>
                <a:moveTo>
                  <a:pt x="8117" y="617"/>
                </a:moveTo>
                <a:cubicBezTo>
                  <a:pt x="8099" y="617"/>
                  <a:pt x="8083" y="626"/>
                  <a:pt x="8074" y="642"/>
                </a:cubicBezTo>
                <a:cubicBezTo>
                  <a:pt x="8062" y="666"/>
                  <a:pt x="8071" y="694"/>
                  <a:pt x="8094" y="706"/>
                </a:cubicBezTo>
                <a:cubicBezTo>
                  <a:pt x="8095" y="706"/>
                  <a:pt x="8095" y="706"/>
                  <a:pt x="8095" y="706"/>
                </a:cubicBezTo>
                <a:cubicBezTo>
                  <a:pt x="8102" y="710"/>
                  <a:pt x="8109" y="712"/>
                  <a:pt x="8116" y="712"/>
                </a:cubicBezTo>
                <a:cubicBezTo>
                  <a:pt x="8133" y="712"/>
                  <a:pt x="8150" y="702"/>
                  <a:pt x="8158" y="686"/>
                </a:cubicBezTo>
                <a:cubicBezTo>
                  <a:pt x="8170" y="663"/>
                  <a:pt x="8161" y="634"/>
                  <a:pt x="8138" y="622"/>
                </a:cubicBezTo>
                <a:cubicBezTo>
                  <a:pt x="8131" y="619"/>
                  <a:pt x="8124" y="617"/>
                  <a:pt x="8117" y="617"/>
                </a:cubicBezTo>
                <a:moveTo>
                  <a:pt x="3370" y="460"/>
                </a:moveTo>
                <a:cubicBezTo>
                  <a:pt x="3364" y="460"/>
                  <a:pt x="3358" y="461"/>
                  <a:pt x="3351" y="464"/>
                </a:cubicBezTo>
                <a:cubicBezTo>
                  <a:pt x="3328" y="474"/>
                  <a:pt x="3317" y="502"/>
                  <a:pt x="3327" y="526"/>
                </a:cubicBezTo>
                <a:cubicBezTo>
                  <a:pt x="3335" y="544"/>
                  <a:pt x="3352" y="554"/>
                  <a:pt x="3370" y="554"/>
                </a:cubicBezTo>
                <a:cubicBezTo>
                  <a:pt x="3377" y="554"/>
                  <a:pt x="3383" y="553"/>
                  <a:pt x="3389" y="550"/>
                </a:cubicBezTo>
                <a:cubicBezTo>
                  <a:pt x="3413" y="540"/>
                  <a:pt x="3424" y="512"/>
                  <a:pt x="3414" y="488"/>
                </a:cubicBezTo>
                <a:cubicBezTo>
                  <a:pt x="3406" y="470"/>
                  <a:pt x="3389" y="460"/>
                  <a:pt x="3370" y="460"/>
                </a:cubicBezTo>
                <a:moveTo>
                  <a:pt x="7775" y="455"/>
                </a:moveTo>
                <a:cubicBezTo>
                  <a:pt x="7757" y="455"/>
                  <a:pt x="7739" y="465"/>
                  <a:pt x="7732" y="483"/>
                </a:cubicBezTo>
                <a:cubicBezTo>
                  <a:pt x="7721" y="507"/>
                  <a:pt x="7732" y="535"/>
                  <a:pt x="7756" y="545"/>
                </a:cubicBezTo>
                <a:cubicBezTo>
                  <a:pt x="7763" y="548"/>
                  <a:pt x="7769" y="549"/>
                  <a:pt x="7775" y="549"/>
                </a:cubicBezTo>
                <a:cubicBezTo>
                  <a:pt x="7793" y="549"/>
                  <a:pt x="7811" y="538"/>
                  <a:pt x="7819" y="521"/>
                </a:cubicBezTo>
                <a:cubicBezTo>
                  <a:pt x="7829" y="497"/>
                  <a:pt x="7818" y="469"/>
                  <a:pt x="7794" y="458"/>
                </a:cubicBezTo>
                <a:cubicBezTo>
                  <a:pt x="7788" y="456"/>
                  <a:pt x="7782" y="455"/>
                  <a:pt x="7775" y="455"/>
                </a:cubicBezTo>
                <a:moveTo>
                  <a:pt x="3721" y="321"/>
                </a:moveTo>
                <a:cubicBezTo>
                  <a:pt x="3716" y="321"/>
                  <a:pt x="3710" y="321"/>
                  <a:pt x="3705" y="323"/>
                </a:cubicBezTo>
                <a:cubicBezTo>
                  <a:pt x="3680" y="332"/>
                  <a:pt x="3668" y="359"/>
                  <a:pt x="3676" y="384"/>
                </a:cubicBezTo>
                <a:cubicBezTo>
                  <a:pt x="3683" y="403"/>
                  <a:pt x="3701" y="415"/>
                  <a:pt x="3721" y="415"/>
                </a:cubicBezTo>
                <a:cubicBezTo>
                  <a:pt x="3726" y="415"/>
                  <a:pt x="3732" y="414"/>
                  <a:pt x="3737" y="412"/>
                </a:cubicBezTo>
                <a:cubicBezTo>
                  <a:pt x="3761" y="404"/>
                  <a:pt x="3774" y="377"/>
                  <a:pt x="3765" y="352"/>
                </a:cubicBezTo>
                <a:cubicBezTo>
                  <a:pt x="3758" y="333"/>
                  <a:pt x="3740" y="321"/>
                  <a:pt x="3721" y="321"/>
                </a:cubicBezTo>
                <a:moveTo>
                  <a:pt x="7424" y="316"/>
                </a:moveTo>
                <a:cubicBezTo>
                  <a:pt x="7404" y="316"/>
                  <a:pt x="7386" y="328"/>
                  <a:pt x="7379" y="348"/>
                </a:cubicBezTo>
                <a:cubicBezTo>
                  <a:pt x="7370" y="372"/>
                  <a:pt x="7383" y="399"/>
                  <a:pt x="7408" y="408"/>
                </a:cubicBezTo>
                <a:cubicBezTo>
                  <a:pt x="7413" y="410"/>
                  <a:pt x="7418" y="411"/>
                  <a:pt x="7424" y="411"/>
                </a:cubicBezTo>
                <a:cubicBezTo>
                  <a:pt x="7443" y="411"/>
                  <a:pt x="7461" y="399"/>
                  <a:pt x="7468" y="379"/>
                </a:cubicBezTo>
                <a:cubicBezTo>
                  <a:pt x="7477" y="355"/>
                  <a:pt x="7464" y="327"/>
                  <a:pt x="7439" y="319"/>
                </a:cubicBezTo>
                <a:cubicBezTo>
                  <a:pt x="7434" y="317"/>
                  <a:pt x="7429" y="316"/>
                  <a:pt x="7424" y="316"/>
                </a:cubicBezTo>
                <a:moveTo>
                  <a:pt x="4081" y="206"/>
                </a:moveTo>
                <a:cubicBezTo>
                  <a:pt x="4076" y="206"/>
                  <a:pt x="4072" y="207"/>
                  <a:pt x="4068" y="208"/>
                </a:cubicBezTo>
                <a:cubicBezTo>
                  <a:pt x="4067" y="208"/>
                  <a:pt x="4067" y="208"/>
                  <a:pt x="4067" y="208"/>
                </a:cubicBezTo>
                <a:cubicBezTo>
                  <a:pt x="4043" y="215"/>
                  <a:pt x="4028" y="241"/>
                  <a:pt x="4035" y="266"/>
                </a:cubicBezTo>
                <a:cubicBezTo>
                  <a:pt x="4041" y="287"/>
                  <a:pt x="4060" y="300"/>
                  <a:pt x="4080" y="300"/>
                </a:cubicBezTo>
                <a:cubicBezTo>
                  <a:pt x="4084" y="300"/>
                  <a:pt x="4089" y="300"/>
                  <a:pt x="4093" y="299"/>
                </a:cubicBezTo>
                <a:cubicBezTo>
                  <a:pt x="4118" y="292"/>
                  <a:pt x="4133" y="265"/>
                  <a:pt x="4126" y="240"/>
                </a:cubicBezTo>
                <a:cubicBezTo>
                  <a:pt x="4120" y="220"/>
                  <a:pt x="4101" y="206"/>
                  <a:pt x="4081" y="206"/>
                </a:cubicBezTo>
                <a:moveTo>
                  <a:pt x="7064" y="202"/>
                </a:moveTo>
                <a:cubicBezTo>
                  <a:pt x="7043" y="202"/>
                  <a:pt x="7024" y="216"/>
                  <a:pt x="7018" y="237"/>
                </a:cubicBezTo>
                <a:cubicBezTo>
                  <a:pt x="7011" y="262"/>
                  <a:pt x="7026" y="288"/>
                  <a:pt x="7051" y="295"/>
                </a:cubicBezTo>
                <a:cubicBezTo>
                  <a:pt x="7055" y="296"/>
                  <a:pt x="7059" y="297"/>
                  <a:pt x="7064" y="297"/>
                </a:cubicBezTo>
                <a:cubicBezTo>
                  <a:pt x="7084" y="297"/>
                  <a:pt x="7103" y="283"/>
                  <a:pt x="7109" y="262"/>
                </a:cubicBezTo>
                <a:cubicBezTo>
                  <a:pt x="7116" y="237"/>
                  <a:pt x="7101" y="211"/>
                  <a:pt x="7076" y="204"/>
                </a:cubicBezTo>
                <a:cubicBezTo>
                  <a:pt x="7072" y="203"/>
                  <a:pt x="7068" y="202"/>
                  <a:pt x="7064" y="202"/>
                </a:cubicBezTo>
                <a:moveTo>
                  <a:pt x="4447" y="116"/>
                </a:moveTo>
                <a:cubicBezTo>
                  <a:pt x="4444" y="116"/>
                  <a:pt x="4441" y="116"/>
                  <a:pt x="4437" y="117"/>
                </a:cubicBezTo>
                <a:cubicBezTo>
                  <a:pt x="4412" y="123"/>
                  <a:pt x="4396" y="147"/>
                  <a:pt x="4401" y="173"/>
                </a:cubicBezTo>
                <a:cubicBezTo>
                  <a:pt x="4405" y="195"/>
                  <a:pt x="4425" y="211"/>
                  <a:pt x="4447" y="211"/>
                </a:cubicBezTo>
                <a:cubicBezTo>
                  <a:pt x="4450" y="211"/>
                  <a:pt x="4453" y="210"/>
                  <a:pt x="4457" y="210"/>
                </a:cubicBezTo>
                <a:cubicBezTo>
                  <a:pt x="4482" y="204"/>
                  <a:pt x="4498" y="179"/>
                  <a:pt x="4493" y="154"/>
                </a:cubicBezTo>
                <a:cubicBezTo>
                  <a:pt x="4489" y="131"/>
                  <a:pt x="4469" y="116"/>
                  <a:pt x="4447" y="116"/>
                </a:cubicBezTo>
                <a:moveTo>
                  <a:pt x="6697" y="113"/>
                </a:moveTo>
                <a:cubicBezTo>
                  <a:pt x="6675" y="113"/>
                  <a:pt x="6655" y="129"/>
                  <a:pt x="6651" y="151"/>
                </a:cubicBezTo>
                <a:cubicBezTo>
                  <a:pt x="6645" y="177"/>
                  <a:pt x="6662" y="202"/>
                  <a:pt x="6687" y="207"/>
                </a:cubicBezTo>
                <a:cubicBezTo>
                  <a:pt x="6691" y="208"/>
                  <a:pt x="6694" y="208"/>
                  <a:pt x="6697" y="208"/>
                </a:cubicBezTo>
                <a:cubicBezTo>
                  <a:pt x="6719" y="208"/>
                  <a:pt x="6738" y="192"/>
                  <a:pt x="6743" y="170"/>
                </a:cubicBezTo>
                <a:cubicBezTo>
                  <a:pt x="6748" y="145"/>
                  <a:pt x="6732" y="119"/>
                  <a:pt x="6706" y="114"/>
                </a:cubicBezTo>
                <a:cubicBezTo>
                  <a:pt x="6703" y="114"/>
                  <a:pt x="6700" y="113"/>
                  <a:pt x="6697" y="113"/>
                </a:cubicBezTo>
                <a:moveTo>
                  <a:pt x="4819" y="52"/>
                </a:moveTo>
                <a:cubicBezTo>
                  <a:pt x="4817" y="52"/>
                  <a:pt x="4815" y="52"/>
                  <a:pt x="4812" y="52"/>
                </a:cubicBezTo>
                <a:cubicBezTo>
                  <a:pt x="4787" y="56"/>
                  <a:pt x="4769" y="80"/>
                  <a:pt x="4772" y="106"/>
                </a:cubicBezTo>
                <a:cubicBezTo>
                  <a:pt x="4776" y="129"/>
                  <a:pt x="4796" y="146"/>
                  <a:pt x="4819" y="146"/>
                </a:cubicBezTo>
                <a:cubicBezTo>
                  <a:pt x="4821" y="146"/>
                  <a:pt x="4823" y="146"/>
                  <a:pt x="4825" y="146"/>
                </a:cubicBezTo>
                <a:cubicBezTo>
                  <a:pt x="4851" y="142"/>
                  <a:pt x="4869" y="118"/>
                  <a:pt x="4866" y="93"/>
                </a:cubicBezTo>
                <a:cubicBezTo>
                  <a:pt x="4862" y="69"/>
                  <a:pt x="4842" y="52"/>
                  <a:pt x="4819" y="52"/>
                </a:cubicBezTo>
                <a:moveTo>
                  <a:pt x="6325" y="50"/>
                </a:moveTo>
                <a:cubicBezTo>
                  <a:pt x="6301" y="50"/>
                  <a:pt x="6281" y="67"/>
                  <a:pt x="6278" y="91"/>
                </a:cubicBezTo>
                <a:cubicBezTo>
                  <a:pt x="6274" y="117"/>
                  <a:pt x="6292" y="140"/>
                  <a:pt x="6318" y="144"/>
                </a:cubicBezTo>
                <a:cubicBezTo>
                  <a:pt x="6320" y="144"/>
                  <a:pt x="6322" y="144"/>
                  <a:pt x="6325" y="144"/>
                </a:cubicBezTo>
                <a:cubicBezTo>
                  <a:pt x="6348" y="144"/>
                  <a:pt x="6368" y="127"/>
                  <a:pt x="6371" y="104"/>
                </a:cubicBezTo>
                <a:cubicBezTo>
                  <a:pt x="6375" y="77"/>
                  <a:pt x="6357" y="54"/>
                  <a:pt x="6331" y="50"/>
                </a:cubicBezTo>
                <a:cubicBezTo>
                  <a:pt x="6329" y="50"/>
                  <a:pt x="6327" y="50"/>
                  <a:pt x="6325" y="50"/>
                </a:cubicBezTo>
                <a:moveTo>
                  <a:pt x="5195" y="13"/>
                </a:moveTo>
                <a:cubicBezTo>
                  <a:pt x="5194" y="13"/>
                  <a:pt x="5192" y="13"/>
                  <a:pt x="5191" y="13"/>
                </a:cubicBezTo>
                <a:cubicBezTo>
                  <a:pt x="5165" y="15"/>
                  <a:pt x="5146" y="37"/>
                  <a:pt x="5147" y="63"/>
                </a:cubicBezTo>
                <a:cubicBezTo>
                  <a:pt x="5149" y="89"/>
                  <a:pt x="5170" y="107"/>
                  <a:pt x="5194" y="107"/>
                </a:cubicBezTo>
                <a:cubicBezTo>
                  <a:pt x="5196" y="107"/>
                  <a:pt x="5197" y="107"/>
                  <a:pt x="5198" y="107"/>
                </a:cubicBezTo>
                <a:cubicBezTo>
                  <a:pt x="5224" y="106"/>
                  <a:pt x="5243" y="83"/>
                  <a:pt x="5242" y="57"/>
                </a:cubicBezTo>
                <a:cubicBezTo>
                  <a:pt x="5240" y="32"/>
                  <a:pt x="5219" y="13"/>
                  <a:pt x="5195" y="13"/>
                </a:cubicBezTo>
                <a:moveTo>
                  <a:pt x="5949" y="12"/>
                </a:moveTo>
                <a:cubicBezTo>
                  <a:pt x="5924" y="12"/>
                  <a:pt x="5904" y="31"/>
                  <a:pt x="5902" y="56"/>
                </a:cubicBezTo>
                <a:cubicBezTo>
                  <a:pt x="5900" y="82"/>
                  <a:pt x="5920" y="105"/>
                  <a:pt x="5946" y="106"/>
                </a:cubicBezTo>
                <a:cubicBezTo>
                  <a:pt x="5947" y="106"/>
                  <a:pt x="5948" y="106"/>
                  <a:pt x="5949" y="106"/>
                </a:cubicBezTo>
                <a:cubicBezTo>
                  <a:pt x="5974" y="106"/>
                  <a:pt x="5994" y="87"/>
                  <a:pt x="5996" y="62"/>
                </a:cubicBezTo>
                <a:cubicBezTo>
                  <a:pt x="5998" y="37"/>
                  <a:pt x="5978" y="14"/>
                  <a:pt x="5952" y="12"/>
                </a:cubicBezTo>
                <a:cubicBezTo>
                  <a:pt x="5951" y="12"/>
                  <a:pt x="5950" y="12"/>
                  <a:pt x="5949" y="12"/>
                </a:cubicBezTo>
                <a:moveTo>
                  <a:pt x="5572" y="0"/>
                </a:moveTo>
                <a:cubicBezTo>
                  <a:pt x="5546" y="0"/>
                  <a:pt x="5525" y="21"/>
                  <a:pt x="5525" y="47"/>
                </a:cubicBezTo>
                <a:cubicBezTo>
                  <a:pt x="5525" y="73"/>
                  <a:pt x="5546" y="94"/>
                  <a:pt x="5572" y="94"/>
                </a:cubicBezTo>
                <a:cubicBezTo>
                  <a:pt x="5598" y="94"/>
                  <a:pt x="5619" y="73"/>
                  <a:pt x="5619" y="47"/>
                </a:cubicBezTo>
                <a:cubicBezTo>
                  <a:pt x="5619" y="21"/>
                  <a:pt x="5598" y="0"/>
                  <a:pt x="5572" y="0"/>
                </a:cubicBezTo>
              </a:path>
            </a:pathLst>
          </a:custGeom>
          <a:solidFill>
            <a:srgbClr val="3368FF"/>
          </a:solidFill>
          <a:ln>
            <a:noFill/>
          </a:ln>
        </p:spPr>
        <p:txBody>
          <a:bodyPr vert="horz" wrap="square" lIns="0" tIns="0" rIns="0" bIns="0" numCol="1" anchor="t" anchorCtr="0" compatLnSpc="1"/>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589" name="任意多边形: 形状 35"/>
          <p:cNvSpPr>
            <a:spLocks noChangeArrowheads="1"/>
          </p:cNvSpPr>
          <p:nvPr/>
        </p:nvSpPr>
        <p:spPr bwMode="auto">
          <a:xfrm flipH="1">
            <a:off x="5453380" y="2396490"/>
            <a:ext cx="1220470" cy="1226185"/>
          </a:xfrm>
          <a:custGeom>
            <a:avLst/>
            <a:gdLst>
              <a:gd name="connsiteX0" fmla="*/ 2348887 w 4694357"/>
              <a:gd name="connsiteY0" fmla="*/ 4677273 h 4717133"/>
              <a:gd name="connsiteX1" fmla="*/ 2368817 w 4694357"/>
              <a:gd name="connsiteY1" fmla="*/ 4697203 h 4717133"/>
              <a:gd name="connsiteX2" fmla="*/ 2348887 w 4694357"/>
              <a:gd name="connsiteY2" fmla="*/ 4717133 h 4717133"/>
              <a:gd name="connsiteX3" fmla="*/ 2328957 w 4694357"/>
              <a:gd name="connsiteY3" fmla="*/ 4697203 h 4717133"/>
              <a:gd name="connsiteX4" fmla="*/ 2348887 w 4694357"/>
              <a:gd name="connsiteY4" fmla="*/ 4677273 h 4717133"/>
              <a:gd name="connsiteX5" fmla="*/ 2182045 w 4694357"/>
              <a:gd name="connsiteY5" fmla="*/ 4672717 h 4717133"/>
              <a:gd name="connsiteX6" fmla="*/ 2201406 w 4694357"/>
              <a:gd name="connsiteY6" fmla="*/ 4691509 h 4717133"/>
              <a:gd name="connsiteX7" fmla="*/ 2182045 w 4694357"/>
              <a:gd name="connsiteY7" fmla="*/ 4710301 h 4717133"/>
              <a:gd name="connsiteX8" fmla="*/ 2162684 w 4694357"/>
              <a:gd name="connsiteY8" fmla="*/ 4691509 h 4717133"/>
              <a:gd name="connsiteX9" fmla="*/ 2182045 w 4694357"/>
              <a:gd name="connsiteY9" fmla="*/ 4672717 h 4717133"/>
              <a:gd name="connsiteX10" fmla="*/ 2517438 w 4694357"/>
              <a:gd name="connsiteY10" fmla="*/ 4671578 h 4717133"/>
              <a:gd name="connsiteX11" fmla="*/ 2536230 w 4694357"/>
              <a:gd name="connsiteY11" fmla="*/ 4690939 h 4717133"/>
              <a:gd name="connsiteX12" fmla="*/ 2517438 w 4694357"/>
              <a:gd name="connsiteY12" fmla="*/ 4710300 h 4717133"/>
              <a:gd name="connsiteX13" fmla="*/ 2498646 w 4694357"/>
              <a:gd name="connsiteY13" fmla="*/ 4690939 h 4717133"/>
              <a:gd name="connsiteX14" fmla="*/ 2517438 w 4694357"/>
              <a:gd name="connsiteY14" fmla="*/ 4671578 h 4717133"/>
              <a:gd name="connsiteX15" fmla="*/ 2015772 w 4694357"/>
              <a:gd name="connsiteY15" fmla="*/ 4655634 h 4717133"/>
              <a:gd name="connsiteX16" fmla="*/ 2033994 w 4694357"/>
              <a:gd name="connsiteY16" fmla="*/ 4673856 h 4717133"/>
              <a:gd name="connsiteX17" fmla="*/ 2015772 w 4694357"/>
              <a:gd name="connsiteY17" fmla="*/ 4692078 h 4717133"/>
              <a:gd name="connsiteX18" fmla="*/ 1997550 w 4694357"/>
              <a:gd name="connsiteY18" fmla="*/ 4673856 h 4717133"/>
              <a:gd name="connsiteX19" fmla="*/ 2015772 w 4694357"/>
              <a:gd name="connsiteY19" fmla="*/ 4655634 h 4717133"/>
              <a:gd name="connsiteX20" fmla="*/ 2683710 w 4694357"/>
              <a:gd name="connsiteY20" fmla="*/ 4654496 h 4717133"/>
              <a:gd name="connsiteX21" fmla="*/ 2702502 w 4694357"/>
              <a:gd name="connsiteY21" fmla="*/ 4673288 h 4717133"/>
              <a:gd name="connsiteX22" fmla="*/ 2683710 w 4694357"/>
              <a:gd name="connsiteY22" fmla="*/ 4692080 h 4717133"/>
              <a:gd name="connsiteX23" fmla="*/ 2664918 w 4694357"/>
              <a:gd name="connsiteY23" fmla="*/ 4673288 h 4717133"/>
              <a:gd name="connsiteX24" fmla="*/ 2683710 w 4694357"/>
              <a:gd name="connsiteY24" fmla="*/ 4654496 h 4717133"/>
              <a:gd name="connsiteX25" fmla="*/ 1851777 w 4694357"/>
              <a:gd name="connsiteY25" fmla="*/ 4627163 h 4717133"/>
              <a:gd name="connsiteX26" fmla="*/ 1868860 w 4694357"/>
              <a:gd name="connsiteY26" fmla="*/ 4644246 h 4717133"/>
              <a:gd name="connsiteX27" fmla="*/ 1851777 w 4694357"/>
              <a:gd name="connsiteY27" fmla="*/ 4661329 h 4717133"/>
              <a:gd name="connsiteX28" fmla="*/ 1834694 w 4694357"/>
              <a:gd name="connsiteY28" fmla="*/ 4644246 h 4717133"/>
              <a:gd name="connsiteX29" fmla="*/ 1851777 w 4694357"/>
              <a:gd name="connsiteY29" fmla="*/ 4627163 h 4717133"/>
              <a:gd name="connsiteX30" fmla="*/ 2847705 w 4694357"/>
              <a:gd name="connsiteY30" fmla="*/ 4624885 h 4717133"/>
              <a:gd name="connsiteX31" fmla="*/ 2866497 w 4694357"/>
              <a:gd name="connsiteY31" fmla="*/ 4643677 h 4717133"/>
              <a:gd name="connsiteX32" fmla="*/ 2847705 w 4694357"/>
              <a:gd name="connsiteY32" fmla="*/ 4662469 h 4717133"/>
              <a:gd name="connsiteX33" fmla="*/ 2828913 w 4694357"/>
              <a:gd name="connsiteY33" fmla="*/ 4643677 h 4717133"/>
              <a:gd name="connsiteX34" fmla="*/ 2847705 w 4694357"/>
              <a:gd name="connsiteY34" fmla="*/ 4624885 h 4717133"/>
              <a:gd name="connsiteX35" fmla="*/ 1689491 w 4694357"/>
              <a:gd name="connsiteY35" fmla="*/ 4587303 h 4717133"/>
              <a:gd name="connsiteX36" fmla="*/ 1704866 w 4694357"/>
              <a:gd name="connsiteY36" fmla="*/ 4602678 h 4717133"/>
              <a:gd name="connsiteX37" fmla="*/ 1689491 w 4694357"/>
              <a:gd name="connsiteY37" fmla="*/ 4618053 h 4717133"/>
              <a:gd name="connsiteX38" fmla="*/ 1674116 w 4694357"/>
              <a:gd name="connsiteY38" fmla="*/ 4602678 h 4717133"/>
              <a:gd name="connsiteX39" fmla="*/ 1689491 w 4694357"/>
              <a:gd name="connsiteY39" fmla="*/ 4587303 h 4717133"/>
              <a:gd name="connsiteX40" fmla="*/ 3009992 w 4694357"/>
              <a:gd name="connsiteY40" fmla="*/ 4583887 h 4717133"/>
              <a:gd name="connsiteX41" fmla="*/ 3028214 w 4694357"/>
              <a:gd name="connsiteY41" fmla="*/ 4602109 h 4717133"/>
              <a:gd name="connsiteX42" fmla="*/ 3009992 w 4694357"/>
              <a:gd name="connsiteY42" fmla="*/ 4620331 h 4717133"/>
              <a:gd name="connsiteX43" fmla="*/ 2991770 w 4694357"/>
              <a:gd name="connsiteY43" fmla="*/ 4602109 h 4717133"/>
              <a:gd name="connsiteX44" fmla="*/ 3009992 w 4694357"/>
              <a:gd name="connsiteY44" fmla="*/ 4583887 h 4717133"/>
              <a:gd name="connsiteX45" fmla="*/ 2348886 w 4694357"/>
              <a:gd name="connsiteY45" fmla="*/ 4555415 h 4717133"/>
              <a:gd name="connsiteX46" fmla="*/ 2383621 w 4694357"/>
              <a:gd name="connsiteY46" fmla="*/ 4590720 h 4717133"/>
              <a:gd name="connsiteX47" fmla="*/ 2348886 w 4694357"/>
              <a:gd name="connsiteY47" fmla="*/ 4626025 h 4717133"/>
              <a:gd name="connsiteX48" fmla="*/ 2314151 w 4694357"/>
              <a:gd name="connsiteY48" fmla="*/ 4590720 h 4717133"/>
              <a:gd name="connsiteX49" fmla="*/ 2348886 w 4694357"/>
              <a:gd name="connsiteY49" fmla="*/ 4555415 h 4717133"/>
              <a:gd name="connsiteX50" fmla="*/ 2182045 w 4694357"/>
              <a:gd name="connsiteY50" fmla="*/ 4550860 h 4717133"/>
              <a:gd name="connsiteX51" fmla="*/ 2216211 w 4694357"/>
              <a:gd name="connsiteY51" fmla="*/ 4585026 h 4717133"/>
              <a:gd name="connsiteX52" fmla="*/ 2182045 w 4694357"/>
              <a:gd name="connsiteY52" fmla="*/ 4619192 h 4717133"/>
              <a:gd name="connsiteX53" fmla="*/ 2147879 w 4694357"/>
              <a:gd name="connsiteY53" fmla="*/ 4585026 h 4717133"/>
              <a:gd name="connsiteX54" fmla="*/ 2182045 w 4694357"/>
              <a:gd name="connsiteY54" fmla="*/ 4550860 h 4717133"/>
              <a:gd name="connsiteX55" fmla="*/ 2517437 w 4694357"/>
              <a:gd name="connsiteY55" fmla="*/ 4549721 h 4717133"/>
              <a:gd name="connsiteX56" fmla="*/ 2552172 w 4694357"/>
              <a:gd name="connsiteY56" fmla="*/ 4584456 h 4717133"/>
              <a:gd name="connsiteX57" fmla="*/ 2517437 w 4694357"/>
              <a:gd name="connsiteY57" fmla="*/ 4619191 h 4717133"/>
              <a:gd name="connsiteX58" fmla="*/ 2482702 w 4694357"/>
              <a:gd name="connsiteY58" fmla="*/ 4584456 h 4717133"/>
              <a:gd name="connsiteX59" fmla="*/ 2517437 w 4694357"/>
              <a:gd name="connsiteY59" fmla="*/ 4549721 h 4717133"/>
              <a:gd name="connsiteX60" fmla="*/ 1531190 w 4694357"/>
              <a:gd name="connsiteY60" fmla="*/ 4536055 h 4717133"/>
              <a:gd name="connsiteX61" fmla="*/ 1544287 w 4694357"/>
              <a:gd name="connsiteY61" fmla="*/ 4549721 h 4717133"/>
              <a:gd name="connsiteX62" fmla="*/ 1531190 w 4694357"/>
              <a:gd name="connsiteY62" fmla="*/ 4563387 h 4717133"/>
              <a:gd name="connsiteX63" fmla="*/ 1518093 w 4694357"/>
              <a:gd name="connsiteY63" fmla="*/ 4549721 h 4717133"/>
              <a:gd name="connsiteX64" fmla="*/ 1531190 w 4694357"/>
              <a:gd name="connsiteY64" fmla="*/ 4536055 h 4717133"/>
              <a:gd name="connsiteX65" fmla="*/ 2015772 w 4694357"/>
              <a:gd name="connsiteY65" fmla="*/ 4533777 h 4717133"/>
              <a:gd name="connsiteX66" fmla="*/ 2047660 w 4694357"/>
              <a:gd name="connsiteY66" fmla="*/ 4566235 h 4717133"/>
              <a:gd name="connsiteX67" fmla="*/ 2015772 w 4694357"/>
              <a:gd name="connsiteY67" fmla="*/ 4598693 h 4717133"/>
              <a:gd name="connsiteX68" fmla="*/ 1983884 w 4694357"/>
              <a:gd name="connsiteY68" fmla="*/ 4566235 h 4717133"/>
              <a:gd name="connsiteX69" fmla="*/ 2015772 w 4694357"/>
              <a:gd name="connsiteY69" fmla="*/ 4533777 h 4717133"/>
              <a:gd name="connsiteX70" fmla="*/ 3167723 w 4694357"/>
              <a:gd name="connsiteY70" fmla="*/ 4531499 h 4717133"/>
              <a:gd name="connsiteX71" fmla="*/ 3185376 w 4694357"/>
              <a:gd name="connsiteY71" fmla="*/ 4549152 h 4717133"/>
              <a:gd name="connsiteX72" fmla="*/ 3167723 w 4694357"/>
              <a:gd name="connsiteY72" fmla="*/ 4566805 h 4717133"/>
              <a:gd name="connsiteX73" fmla="*/ 3150070 w 4694357"/>
              <a:gd name="connsiteY73" fmla="*/ 4549152 h 4717133"/>
              <a:gd name="connsiteX74" fmla="*/ 3167723 w 4694357"/>
              <a:gd name="connsiteY74" fmla="*/ 4531499 h 4717133"/>
              <a:gd name="connsiteX75" fmla="*/ 2682571 w 4694357"/>
              <a:gd name="connsiteY75" fmla="*/ 4531499 h 4717133"/>
              <a:gd name="connsiteX76" fmla="*/ 2717306 w 4694357"/>
              <a:gd name="connsiteY76" fmla="*/ 4566234 h 4717133"/>
              <a:gd name="connsiteX77" fmla="*/ 2682571 w 4694357"/>
              <a:gd name="connsiteY77" fmla="*/ 4600969 h 4717133"/>
              <a:gd name="connsiteX78" fmla="*/ 2647836 w 4694357"/>
              <a:gd name="connsiteY78" fmla="*/ 4566234 h 4717133"/>
              <a:gd name="connsiteX79" fmla="*/ 2682571 w 4694357"/>
              <a:gd name="connsiteY79" fmla="*/ 4531499 h 4717133"/>
              <a:gd name="connsiteX80" fmla="*/ 1851777 w 4694357"/>
              <a:gd name="connsiteY80" fmla="*/ 4505305 h 4717133"/>
              <a:gd name="connsiteX81" fmla="*/ 1881387 w 4694357"/>
              <a:gd name="connsiteY81" fmla="*/ 4534915 h 4717133"/>
              <a:gd name="connsiteX82" fmla="*/ 1851777 w 4694357"/>
              <a:gd name="connsiteY82" fmla="*/ 4564525 h 4717133"/>
              <a:gd name="connsiteX83" fmla="*/ 1822167 w 4694357"/>
              <a:gd name="connsiteY83" fmla="*/ 4534915 h 4717133"/>
              <a:gd name="connsiteX84" fmla="*/ 1851777 w 4694357"/>
              <a:gd name="connsiteY84" fmla="*/ 4505305 h 4717133"/>
              <a:gd name="connsiteX85" fmla="*/ 2847135 w 4694357"/>
              <a:gd name="connsiteY85" fmla="*/ 4500750 h 4717133"/>
              <a:gd name="connsiteX86" fmla="*/ 2881301 w 4694357"/>
              <a:gd name="connsiteY86" fmla="*/ 4534916 h 4717133"/>
              <a:gd name="connsiteX87" fmla="*/ 2847135 w 4694357"/>
              <a:gd name="connsiteY87" fmla="*/ 4569082 h 4717133"/>
              <a:gd name="connsiteX88" fmla="*/ 2812969 w 4694357"/>
              <a:gd name="connsiteY88" fmla="*/ 4534916 h 4717133"/>
              <a:gd name="connsiteX89" fmla="*/ 2847135 w 4694357"/>
              <a:gd name="connsiteY89" fmla="*/ 4500750 h 4717133"/>
              <a:gd name="connsiteX90" fmla="*/ 2348318 w 4694357"/>
              <a:gd name="connsiteY90" fmla="*/ 4475695 h 4717133"/>
              <a:gd name="connsiteX91" fmla="*/ 2352875 w 4694357"/>
              <a:gd name="connsiteY91" fmla="*/ 4480251 h 4717133"/>
              <a:gd name="connsiteX92" fmla="*/ 2348318 w 4694357"/>
              <a:gd name="connsiteY92" fmla="*/ 4484808 h 4717133"/>
              <a:gd name="connsiteX93" fmla="*/ 2343762 w 4694357"/>
              <a:gd name="connsiteY93" fmla="*/ 4480251 h 4717133"/>
              <a:gd name="connsiteX94" fmla="*/ 2348318 w 4694357"/>
              <a:gd name="connsiteY94" fmla="*/ 4475695 h 4717133"/>
              <a:gd name="connsiteX95" fmla="*/ 1376875 w 4694357"/>
              <a:gd name="connsiteY95" fmla="*/ 4474557 h 4717133"/>
              <a:gd name="connsiteX96" fmla="*/ 1388264 w 4694357"/>
              <a:gd name="connsiteY96" fmla="*/ 4485946 h 4717133"/>
              <a:gd name="connsiteX97" fmla="*/ 1376875 w 4694357"/>
              <a:gd name="connsiteY97" fmla="*/ 4497335 h 4717133"/>
              <a:gd name="connsiteX98" fmla="*/ 1365486 w 4694357"/>
              <a:gd name="connsiteY98" fmla="*/ 4485946 h 4717133"/>
              <a:gd name="connsiteX99" fmla="*/ 1376875 w 4694357"/>
              <a:gd name="connsiteY99" fmla="*/ 4474557 h 4717133"/>
              <a:gd name="connsiteX100" fmla="*/ 2516298 w 4694357"/>
              <a:gd name="connsiteY100" fmla="*/ 4468862 h 4717133"/>
              <a:gd name="connsiteX101" fmla="*/ 2520284 w 4694357"/>
              <a:gd name="connsiteY101" fmla="*/ 4473418 h 4717133"/>
              <a:gd name="connsiteX102" fmla="*/ 2516298 w 4694357"/>
              <a:gd name="connsiteY102" fmla="*/ 4477975 h 4717133"/>
              <a:gd name="connsiteX103" fmla="*/ 2512312 w 4694357"/>
              <a:gd name="connsiteY103" fmla="*/ 4473418 h 4717133"/>
              <a:gd name="connsiteX104" fmla="*/ 2516298 w 4694357"/>
              <a:gd name="connsiteY104" fmla="*/ 4468862 h 4717133"/>
              <a:gd name="connsiteX105" fmla="*/ 3322037 w 4694357"/>
              <a:gd name="connsiteY105" fmla="*/ 4467724 h 4717133"/>
              <a:gd name="connsiteX106" fmla="*/ 3339120 w 4694357"/>
              <a:gd name="connsiteY106" fmla="*/ 4485377 h 4717133"/>
              <a:gd name="connsiteX107" fmla="*/ 3322037 w 4694357"/>
              <a:gd name="connsiteY107" fmla="*/ 4503030 h 4717133"/>
              <a:gd name="connsiteX108" fmla="*/ 3304954 w 4694357"/>
              <a:gd name="connsiteY108" fmla="*/ 4485377 h 4717133"/>
              <a:gd name="connsiteX109" fmla="*/ 3322037 w 4694357"/>
              <a:gd name="connsiteY109" fmla="*/ 4467724 h 4717133"/>
              <a:gd name="connsiteX110" fmla="*/ 2182045 w 4694357"/>
              <a:gd name="connsiteY110" fmla="*/ 4467724 h 4717133"/>
              <a:gd name="connsiteX111" fmla="*/ 2187740 w 4694357"/>
              <a:gd name="connsiteY111" fmla="*/ 4473419 h 4717133"/>
              <a:gd name="connsiteX112" fmla="*/ 2182045 w 4694357"/>
              <a:gd name="connsiteY112" fmla="*/ 4479114 h 4717133"/>
              <a:gd name="connsiteX113" fmla="*/ 2176350 w 4694357"/>
              <a:gd name="connsiteY113" fmla="*/ 4473419 h 4717133"/>
              <a:gd name="connsiteX114" fmla="*/ 2182045 w 4694357"/>
              <a:gd name="connsiteY114" fmla="*/ 4467724 h 4717133"/>
              <a:gd name="connsiteX115" fmla="*/ 1690629 w 4694357"/>
              <a:gd name="connsiteY115" fmla="*/ 4463168 h 4717133"/>
              <a:gd name="connsiteX116" fmla="*/ 1718531 w 4694357"/>
              <a:gd name="connsiteY116" fmla="*/ 4491640 h 4717133"/>
              <a:gd name="connsiteX117" fmla="*/ 1690629 w 4694357"/>
              <a:gd name="connsiteY117" fmla="*/ 4520112 h 4717133"/>
              <a:gd name="connsiteX118" fmla="*/ 1662727 w 4694357"/>
              <a:gd name="connsiteY118" fmla="*/ 4491640 h 4717133"/>
              <a:gd name="connsiteX119" fmla="*/ 1690629 w 4694357"/>
              <a:gd name="connsiteY119" fmla="*/ 4463168 h 4717133"/>
              <a:gd name="connsiteX120" fmla="*/ 3008284 w 4694357"/>
              <a:gd name="connsiteY120" fmla="*/ 4457474 h 4717133"/>
              <a:gd name="connsiteX121" fmla="*/ 3041881 w 4694357"/>
              <a:gd name="connsiteY121" fmla="*/ 4491640 h 4717133"/>
              <a:gd name="connsiteX122" fmla="*/ 3008284 w 4694357"/>
              <a:gd name="connsiteY122" fmla="*/ 4525806 h 4717133"/>
              <a:gd name="connsiteX123" fmla="*/ 2974687 w 4694357"/>
              <a:gd name="connsiteY123" fmla="*/ 4491640 h 4717133"/>
              <a:gd name="connsiteX124" fmla="*/ 3008284 w 4694357"/>
              <a:gd name="connsiteY124" fmla="*/ 4457474 h 4717133"/>
              <a:gd name="connsiteX125" fmla="*/ 2682002 w 4694357"/>
              <a:gd name="connsiteY125" fmla="*/ 4449502 h 4717133"/>
              <a:gd name="connsiteX126" fmla="*/ 2686559 w 4694357"/>
              <a:gd name="connsiteY126" fmla="*/ 4454058 h 4717133"/>
              <a:gd name="connsiteX127" fmla="*/ 2682002 w 4694357"/>
              <a:gd name="connsiteY127" fmla="*/ 4458615 h 4717133"/>
              <a:gd name="connsiteX128" fmla="*/ 2677446 w 4694357"/>
              <a:gd name="connsiteY128" fmla="*/ 4454058 h 4717133"/>
              <a:gd name="connsiteX129" fmla="*/ 2682002 w 4694357"/>
              <a:gd name="connsiteY129" fmla="*/ 4449502 h 4717133"/>
              <a:gd name="connsiteX130" fmla="*/ 2016911 w 4694357"/>
              <a:gd name="connsiteY130" fmla="*/ 4448363 h 4717133"/>
              <a:gd name="connsiteX131" fmla="*/ 2022606 w 4694357"/>
              <a:gd name="connsiteY131" fmla="*/ 4454058 h 4717133"/>
              <a:gd name="connsiteX132" fmla="*/ 2016911 w 4694357"/>
              <a:gd name="connsiteY132" fmla="*/ 4459753 h 4717133"/>
              <a:gd name="connsiteX133" fmla="*/ 2011216 w 4694357"/>
              <a:gd name="connsiteY133" fmla="*/ 4454058 h 4717133"/>
              <a:gd name="connsiteX134" fmla="*/ 2016911 w 4694357"/>
              <a:gd name="connsiteY134" fmla="*/ 4448363 h 4717133"/>
              <a:gd name="connsiteX135" fmla="*/ 2844858 w 4694357"/>
              <a:gd name="connsiteY135" fmla="*/ 4416475 h 4717133"/>
              <a:gd name="connsiteX136" fmla="*/ 2849415 w 4694357"/>
              <a:gd name="connsiteY136" fmla="*/ 4421031 h 4717133"/>
              <a:gd name="connsiteX137" fmla="*/ 2844858 w 4694357"/>
              <a:gd name="connsiteY137" fmla="*/ 4425588 h 4717133"/>
              <a:gd name="connsiteX138" fmla="*/ 2840302 w 4694357"/>
              <a:gd name="connsiteY138" fmla="*/ 4421031 h 4717133"/>
              <a:gd name="connsiteX139" fmla="*/ 2844858 w 4694357"/>
              <a:gd name="connsiteY139" fmla="*/ 4416475 h 4717133"/>
              <a:gd name="connsiteX140" fmla="*/ 1853486 w 4694357"/>
              <a:gd name="connsiteY140" fmla="*/ 4414197 h 4717133"/>
              <a:gd name="connsiteX141" fmla="*/ 1860889 w 4694357"/>
              <a:gd name="connsiteY141" fmla="*/ 4421600 h 4717133"/>
              <a:gd name="connsiteX142" fmla="*/ 1853486 w 4694357"/>
              <a:gd name="connsiteY142" fmla="*/ 4429003 h 4717133"/>
              <a:gd name="connsiteX143" fmla="*/ 1846083 w 4694357"/>
              <a:gd name="connsiteY143" fmla="*/ 4421600 h 4717133"/>
              <a:gd name="connsiteX144" fmla="*/ 1853486 w 4694357"/>
              <a:gd name="connsiteY144" fmla="*/ 4414197 h 4717133"/>
              <a:gd name="connsiteX145" fmla="*/ 1532898 w 4694357"/>
              <a:gd name="connsiteY145" fmla="*/ 4409642 h 4717133"/>
              <a:gd name="connsiteX146" fmla="*/ 1560231 w 4694357"/>
              <a:gd name="connsiteY146" fmla="*/ 4436405 h 4717133"/>
              <a:gd name="connsiteX147" fmla="*/ 1532898 w 4694357"/>
              <a:gd name="connsiteY147" fmla="*/ 4463168 h 4717133"/>
              <a:gd name="connsiteX148" fmla="*/ 1505565 w 4694357"/>
              <a:gd name="connsiteY148" fmla="*/ 4436405 h 4717133"/>
              <a:gd name="connsiteX149" fmla="*/ 1532898 w 4694357"/>
              <a:gd name="connsiteY149" fmla="*/ 4409642 h 4717133"/>
              <a:gd name="connsiteX150" fmla="*/ 3165445 w 4694357"/>
              <a:gd name="connsiteY150" fmla="*/ 4402809 h 4717133"/>
              <a:gd name="connsiteX151" fmla="*/ 3199042 w 4694357"/>
              <a:gd name="connsiteY151" fmla="*/ 4436406 h 4717133"/>
              <a:gd name="connsiteX152" fmla="*/ 3165445 w 4694357"/>
              <a:gd name="connsiteY152" fmla="*/ 4470003 h 4717133"/>
              <a:gd name="connsiteX153" fmla="*/ 3131848 w 4694357"/>
              <a:gd name="connsiteY153" fmla="*/ 4436406 h 4717133"/>
              <a:gd name="connsiteX154" fmla="*/ 3165445 w 4694357"/>
              <a:gd name="connsiteY154" fmla="*/ 4402809 h 4717133"/>
              <a:gd name="connsiteX155" fmla="*/ 1227685 w 4694357"/>
              <a:gd name="connsiteY155" fmla="*/ 4401670 h 4717133"/>
              <a:gd name="connsiteX156" fmla="*/ 1236796 w 4694357"/>
              <a:gd name="connsiteY156" fmla="*/ 4410781 h 4717133"/>
              <a:gd name="connsiteX157" fmla="*/ 1227685 w 4694357"/>
              <a:gd name="connsiteY157" fmla="*/ 4419892 h 4717133"/>
              <a:gd name="connsiteX158" fmla="*/ 1218574 w 4694357"/>
              <a:gd name="connsiteY158" fmla="*/ 4410781 h 4717133"/>
              <a:gd name="connsiteX159" fmla="*/ 1227685 w 4694357"/>
              <a:gd name="connsiteY159" fmla="*/ 4401670 h 4717133"/>
              <a:gd name="connsiteX160" fmla="*/ 3471227 w 4694357"/>
              <a:gd name="connsiteY160" fmla="*/ 4393698 h 4717133"/>
              <a:gd name="connsiteX161" fmla="*/ 3487171 w 4694357"/>
              <a:gd name="connsiteY161" fmla="*/ 4410212 h 4717133"/>
              <a:gd name="connsiteX162" fmla="*/ 3471227 w 4694357"/>
              <a:gd name="connsiteY162" fmla="*/ 4426726 h 4717133"/>
              <a:gd name="connsiteX163" fmla="*/ 3455283 w 4694357"/>
              <a:gd name="connsiteY163" fmla="*/ 4410212 h 4717133"/>
              <a:gd name="connsiteX164" fmla="*/ 3471227 w 4694357"/>
              <a:gd name="connsiteY164" fmla="*/ 4393698 h 4717133"/>
              <a:gd name="connsiteX165" fmla="*/ 3005437 w 4694357"/>
              <a:gd name="connsiteY165" fmla="*/ 4372060 h 4717133"/>
              <a:gd name="connsiteX166" fmla="*/ 3009994 w 4694357"/>
              <a:gd name="connsiteY166" fmla="*/ 4376046 h 4717133"/>
              <a:gd name="connsiteX167" fmla="*/ 3005437 w 4694357"/>
              <a:gd name="connsiteY167" fmla="*/ 4380032 h 4717133"/>
              <a:gd name="connsiteX168" fmla="*/ 3000881 w 4694357"/>
              <a:gd name="connsiteY168" fmla="*/ 4376046 h 4717133"/>
              <a:gd name="connsiteX169" fmla="*/ 3005437 w 4694357"/>
              <a:gd name="connsiteY169" fmla="*/ 4372060 h 4717133"/>
              <a:gd name="connsiteX170" fmla="*/ 1692908 w 4694357"/>
              <a:gd name="connsiteY170" fmla="*/ 4367504 h 4717133"/>
              <a:gd name="connsiteX171" fmla="*/ 1701450 w 4694357"/>
              <a:gd name="connsiteY171" fmla="*/ 4376615 h 4717133"/>
              <a:gd name="connsiteX172" fmla="*/ 1692908 w 4694357"/>
              <a:gd name="connsiteY172" fmla="*/ 4385726 h 4717133"/>
              <a:gd name="connsiteX173" fmla="*/ 1684366 w 4694357"/>
              <a:gd name="connsiteY173" fmla="*/ 4376615 h 4717133"/>
              <a:gd name="connsiteX174" fmla="*/ 1692908 w 4694357"/>
              <a:gd name="connsiteY174" fmla="*/ 4367504 h 4717133"/>
              <a:gd name="connsiteX175" fmla="*/ 2348888 w 4694357"/>
              <a:gd name="connsiteY175" fmla="*/ 4356116 h 4717133"/>
              <a:gd name="connsiteX176" fmla="*/ 2366541 w 4694357"/>
              <a:gd name="connsiteY176" fmla="*/ 4373769 h 4717133"/>
              <a:gd name="connsiteX177" fmla="*/ 2348888 w 4694357"/>
              <a:gd name="connsiteY177" fmla="*/ 4391422 h 4717133"/>
              <a:gd name="connsiteX178" fmla="*/ 2331235 w 4694357"/>
              <a:gd name="connsiteY178" fmla="*/ 4373769 h 4717133"/>
              <a:gd name="connsiteX179" fmla="*/ 2348888 w 4694357"/>
              <a:gd name="connsiteY179" fmla="*/ 4356116 h 4717133"/>
              <a:gd name="connsiteX180" fmla="*/ 2182044 w 4694357"/>
              <a:gd name="connsiteY180" fmla="*/ 4350421 h 4717133"/>
              <a:gd name="connsiteX181" fmla="*/ 2197988 w 4694357"/>
              <a:gd name="connsiteY181" fmla="*/ 4366935 h 4717133"/>
              <a:gd name="connsiteX182" fmla="*/ 2182044 w 4694357"/>
              <a:gd name="connsiteY182" fmla="*/ 4383449 h 4717133"/>
              <a:gd name="connsiteX183" fmla="*/ 2166100 w 4694357"/>
              <a:gd name="connsiteY183" fmla="*/ 4366935 h 4717133"/>
              <a:gd name="connsiteX184" fmla="*/ 2182044 w 4694357"/>
              <a:gd name="connsiteY184" fmla="*/ 4350421 h 4717133"/>
              <a:gd name="connsiteX185" fmla="*/ 2516299 w 4694357"/>
              <a:gd name="connsiteY185" fmla="*/ 4349283 h 4717133"/>
              <a:gd name="connsiteX186" fmla="*/ 2533952 w 4694357"/>
              <a:gd name="connsiteY186" fmla="*/ 4366936 h 4717133"/>
              <a:gd name="connsiteX187" fmla="*/ 2516299 w 4694357"/>
              <a:gd name="connsiteY187" fmla="*/ 4384589 h 4717133"/>
              <a:gd name="connsiteX188" fmla="*/ 2498646 w 4694357"/>
              <a:gd name="connsiteY188" fmla="*/ 4366936 h 4717133"/>
              <a:gd name="connsiteX189" fmla="*/ 2516299 w 4694357"/>
              <a:gd name="connsiteY189" fmla="*/ 4349283 h 4717133"/>
              <a:gd name="connsiteX190" fmla="*/ 1380292 w 4694357"/>
              <a:gd name="connsiteY190" fmla="*/ 4343588 h 4717133"/>
              <a:gd name="connsiteX191" fmla="*/ 1406486 w 4694357"/>
              <a:gd name="connsiteY191" fmla="*/ 4369782 h 4717133"/>
              <a:gd name="connsiteX192" fmla="*/ 1380292 w 4694357"/>
              <a:gd name="connsiteY192" fmla="*/ 4395976 h 4717133"/>
              <a:gd name="connsiteX193" fmla="*/ 1354098 w 4694357"/>
              <a:gd name="connsiteY193" fmla="*/ 4369782 h 4717133"/>
              <a:gd name="connsiteX194" fmla="*/ 1380292 w 4694357"/>
              <a:gd name="connsiteY194" fmla="*/ 4343588 h 4717133"/>
              <a:gd name="connsiteX195" fmla="*/ 3318621 w 4694357"/>
              <a:gd name="connsiteY195" fmla="*/ 4335617 h 4717133"/>
              <a:gd name="connsiteX196" fmla="*/ 3351648 w 4694357"/>
              <a:gd name="connsiteY196" fmla="*/ 4369214 h 4717133"/>
              <a:gd name="connsiteX197" fmla="*/ 3318621 w 4694357"/>
              <a:gd name="connsiteY197" fmla="*/ 4402811 h 4717133"/>
              <a:gd name="connsiteX198" fmla="*/ 3285594 w 4694357"/>
              <a:gd name="connsiteY198" fmla="*/ 4369214 h 4717133"/>
              <a:gd name="connsiteX199" fmla="*/ 3318621 w 4694357"/>
              <a:gd name="connsiteY199" fmla="*/ 4335617 h 4717133"/>
              <a:gd name="connsiteX200" fmla="*/ 2016910 w 4694357"/>
              <a:gd name="connsiteY200" fmla="*/ 4331061 h 4717133"/>
              <a:gd name="connsiteX201" fmla="*/ 2031715 w 4694357"/>
              <a:gd name="connsiteY201" fmla="*/ 4346436 h 4717133"/>
              <a:gd name="connsiteX202" fmla="*/ 2016910 w 4694357"/>
              <a:gd name="connsiteY202" fmla="*/ 4361811 h 4717133"/>
              <a:gd name="connsiteX203" fmla="*/ 2002105 w 4694357"/>
              <a:gd name="connsiteY203" fmla="*/ 4346436 h 4717133"/>
              <a:gd name="connsiteX204" fmla="*/ 2016910 w 4694357"/>
              <a:gd name="connsiteY204" fmla="*/ 4331061 h 4717133"/>
              <a:gd name="connsiteX205" fmla="*/ 2681433 w 4694357"/>
              <a:gd name="connsiteY205" fmla="*/ 4328783 h 4717133"/>
              <a:gd name="connsiteX206" fmla="*/ 2699086 w 4694357"/>
              <a:gd name="connsiteY206" fmla="*/ 4346436 h 4717133"/>
              <a:gd name="connsiteX207" fmla="*/ 2681433 w 4694357"/>
              <a:gd name="connsiteY207" fmla="*/ 4364089 h 4717133"/>
              <a:gd name="connsiteX208" fmla="*/ 2663780 w 4694357"/>
              <a:gd name="connsiteY208" fmla="*/ 4346436 h 4717133"/>
              <a:gd name="connsiteX209" fmla="*/ 2681433 w 4694357"/>
              <a:gd name="connsiteY209" fmla="*/ 4328783 h 4717133"/>
              <a:gd name="connsiteX210" fmla="*/ 1084189 w 4694357"/>
              <a:gd name="connsiteY210" fmla="*/ 4318533 h 4717133"/>
              <a:gd name="connsiteX211" fmla="*/ 1091022 w 4694357"/>
              <a:gd name="connsiteY211" fmla="*/ 4325366 h 4717133"/>
              <a:gd name="connsiteX212" fmla="*/ 1084189 w 4694357"/>
              <a:gd name="connsiteY212" fmla="*/ 4332199 h 4717133"/>
              <a:gd name="connsiteX213" fmla="*/ 1077356 w 4694357"/>
              <a:gd name="connsiteY213" fmla="*/ 4325366 h 4717133"/>
              <a:gd name="connsiteX214" fmla="*/ 1084189 w 4694357"/>
              <a:gd name="connsiteY214" fmla="*/ 4318533 h 4717133"/>
              <a:gd name="connsiteX215" fmla="*/ 3162028 w 4694357"/>
              <a:gd name="connsiteY215" fmla="*/ 4313978 h 4717133"/>
              <a:gd name="connsiteX216" fmla="*/ 3166014 w 4694357"/>
              <a:gd name="connsiteY216" fmla="*/ 4318534 h 4717133"/>
              <a:gd name="connsiteX217" fmla="*/ 3162028 w 4694357"/>
              <a:gd name="connsiteY217" fmla="*/ 4323091 h 4717133"/>
              <a:gd name="connsiteX218" fmla="*/ 3158042 w 4694357"/>
              <a:gd name="connsiteY218" fmla="*/ 4318534 h 4717133"/>
              <a:gd name="connsiteX219" fmla="*/ 3162028 w 4694357"/>
              <a:gd name="connsiteY219" fmla="*/ 4313978 h 4717133"/>
              <a:gd name="connsiteX220" fmla="*/ 3614723 w 4694357"/>
              <a:gd name="connsiteY220" fmla="*/ 4309423 h 4717133"/>
              <a:gd name="connsiteX221" fmla="*/ 3629528 w 4694357"/>
              <a:gd name="connsiteY221" fmla="*/ 4324798 h 4717133"/>
              <a:gd name="connsiteX222" fmla="*/ 3614723 w 4694357"/>
              <a:gd name="connsiteY222" fmla="*/ 4340173 h 4717133"/>
              <a:gd name="connsiteX223" fmla="*/ 3599918 w 4694357"/>
              <a:gd name="connsiteY223" fmla="*/ 4324798 h 4717133"/>
              <a:gd name="connsiteX224" fmla="*/ 3614723 w 4694357"/>
              <a:gd name="connsiteY224" fmla="*/ 4309423 h 4717133"/>
              <a:gd name="connsiteX225" fmla="*/ 1536885 w 4694357"/>
              <a:gd name="connsiteY225" fmla="*/ 4307145 h 4717133"/>
              <a:gd name="connsiteX226" fmla="*/ 1547705 w 4694357"/>
              <a:gd name="connsiteY226" fmla="*/ 4317965 h 4717133"/>
              <a:gd name="connsiteX227" fmla="*/ 1536885 w 4694357"/>
              <a:gd name="connsiteY227" fmla="*/ 4328785 h 4717133"/>
              <a:gd name="connsiteX228" fmla="*/ 1526065 w 4694357"/>
              <a:gd name="connsiteY228" fmla="*/ 4317965 h 4717133"/>
              <a:gd name="connsiteX229" fmla="*/ 1536885 w 4694357"/>
              <a:gd name="connsiteY229" fmla="*/ 4307145 h 4717133"/>
              <a:gd name="connsiteX230" fmla="*/ 1854054 w 4694357"/>
              <a:gd name="connsiteY230" fmla="*/ 4298034 h 4717133"/>
              <a:gd name="connsiteX231" fmla="*/ 1867720 w 4694357"/>
              <a:gd name="connsiteY231" fmla="*/ 4312270 h 4717133"/>
              <a:gd name="connsiteX232" fmla="*/ 1854054 w 4694357"/>
              <a:gd name="connsiteY232" fmla="*/ 4326506 h 4717133"/>
              <a:gd name="connsiteX233" fmla="*/ 1840388 w 4694357"/>
              <a:gd name="connsiteY233" fmla="*/ 4312270 h 4717133"/>
              <a:gd name="connsiteX234" fmla="*/ 1854054 w 4694357"/>
              <a:gd name="connsiteY234" fmla="*/ 4298034 h 4717133"/>
              <a:gd name="connsiteX235" fmla="*/ 2844858 w 4694357"/>
              <a:gd name="connsiteY235" fmla="*/ 4293479 h 4717133"/>
              <a:gd name="connsiteX236" fmla="*/ 2863080 w 4694357"/>
              <a:gd name="connsiteY236" fmla="*/ 4311701 h 4717133"/>
              <a:gd name="connsiteX237" fmla="*/ 2844858 w 4694357"/>
              <a:gd name="connsiteY237" fmla="*/ 4329923 h 4717133"/>
              <a:gd name="connsiteX238" fmla="*/ 2826636 w 4694357"/>
              <a:gd name="connsiteY238" fmla="*/ 4311701 h 4717133"/>
              <a:gd name="connsiteX239" fmla="*/ 2844858 w 4694357"/>
              <a:gd name="connsiteY239" fmla="*/ 4293479 h 4717133"/>
              <a:gd name="connsiteX240" fmla="*/ 1232810 w 4694357"/>
              <a:gd name="connsiteY240" fmla="*/ 4266146 h 4717133"/>
              <a:gd name="connsiteX241" fmla="*/ 1258435 w 4694357"/>
              <a:gd name="connsiteY241" fmla="*/ 4291771 h 4717133"/>
              <a:gd name="connsiteX242" fmla="*/ 1232810 w 4694357"/>
              <a:gd name="connsiteY242" fmla="*/ 4317396 h 4717133"/>
              <a:gd name="connsiteX243" fmla="*/ 1207185 w 4694357"/>
              <a:gd name="connsiteY243" fmla="*/ 4291771 h 4717133"/>
              <a:gd name="connsiteX244" fmla="*/ 1232810 w 4694357"/>
              <a:gd name="connsiteY244" fmla="*/ 4266146 h 4717133"/>
              <a:gd name="connsiteX245" fmla="*/ 3466103 w 4694357"/>
              <a:gd name="connsiteY245" fmla="*/ 4258174 h 4717133"/>
              <a:gd name="connsiteX246" fmla="*/ 3498561 w 4694357"/>
              <a:gd name="connsiteY246" fmla="*/ 4290632 h 4717133"/>
              <a:gd name="connsiteX247" fmla="*/ 3466103 w 4694357"/>
              <a:gd name="connsiteY247" fmla="*/ 4323090 h 4717133"/>
              <a:gd name="connsiteX248" fmla="*/ 3433645 w 4694357"/>
              <a:gd name="connsiteY248" fmla="*/ 4290632 h 4717133"/>
              <a:gd name="connsiteX249" fmla="*/ 3466103 w 4694357"/>
              <a:gd name="connsiteY249" fmla="*/ 4258174 h 4717133"/>
              <a:gd name="connsiteX250" fmla="*/ 1694046 w 4694357"/>
              <a:gd name="connsiteY250" fmla="*/ 4252480 h 4717133"/>
              <a:gd name="connsiteX251" fmla="*/ 1706004 w 4694357"/>
              <a:gd name="connsiteY251" fmla="*/ 4264438 h 4717133"/>
              <a:gd name="connsiteX252" fmla="*/ 1694046 w 4694357"/>
              <a:gd name="connsiteY252" fmla="*/ 4276396 h 4717133"/>
              <a:gd name="connsiteX253" fmla="*/ 1682088 w 4694357"/>
              <a:gd name="connsiteY253" fmla="*/ 4264438 h 4717133"/>
              <a:gd name="connsiteX254" fmla="*/ 1694046 w 4694357"/>
              <a:gd name="connsiteY254" fmla="*/ 4252480 h 4717133"/>
              <a:gd name="connsiteX255" fmla="*/ 3004867 w 4694357"/>
              <a:gd name="connsiteY255" fmla="*/ 4246786 h 4717133"/>
              <a:gd name="connsiteX256" fmla="*/ 3022520 w 4694357"/>
              <a:gd name="connsiteY256" fmla="*/ 4264439 h 4717133"/>
              <a:gd name="connsiteX257" fmla="*/ 3004867 w 4694357"/>
              <a:gd name="connsiteY257" fmla="*/ 4282092 h 4717133"/>
              <a:gd name="connsiteX258" fmla="*/ 2987214 w 4694357"/>
              <a:gd name="connsiteY258" fmla="*/ 4264439 h 4717133"/>
              <a:gd name="connsiteX259" fmla="*/ 3004867 w 4694357"/>
              <a:gd name="connsiteY259" fmla="*/ 4246786 h 4717133"/>
              <a:gd name="connsiteX260" fmla="*/ 3313496 w 4694357"/>
              <a:gd name="connsiteY260" fmla="*/ 4244508 h 4717133"/>
              <a:gd name="connsiteX261" fmla="*/ 3317482 w 4694357"/>
              <a:gd name="connsiteY261" fmla="*/ 4248494 h 4717133"/>
              <a:gd name="connsiteX262" fmla="*/ 3313496 w 4694357"/>
              <a:gd name="connsiteY262" fmla="*/ 4252480 h 4717133"/>
              <a:gd name="connsiteX263" fmla="*/ 3309510 w 4694357"/>
              <a:gd name="connsiteY263" fmla="*/ 4248494 h 4717133"/>
              <a:gd name="connsiteX264" fmla="*/ 3313496 w 4694357"/>
              <a:gd name="connsiteY264" fmla="*/ 4244508 h 4717133"/>
              <a:gd name="connsiteX265" fmla="*/ 1385417 w 4694357"/>
              <a:gd name="connsiteY265" fmla="*/ 4235397 h 4717133"/>
              <a:gd name="connsiteX266" fmla="*/ 1398514 w 4694357"/>
              <a:gd name="connsiteY266" fmla="*/ 4248494 h 4717133"/>
              <a:gd name="connsiteX267" fmla="*/ 1385417 w 4694357"/>
              <a:gd name="connsiteY267" fmla="*/ 4261591 h 4717133"/>
              <a:gd name="connsiteX268" fmla="*/ 1372320 w 4694357"/>
              <a:gd name="connsiteY268" fmla="*/ 4248494 h 4717133"/>
              <a:gd name="connsiteX269" fmla="*/ 1385417 w 4694357"/>
              <a:gd name="connsiteY269" fmla="*/ 4235397 h 4717133"/>
              <a:gd name="connsiteX270" fmla="*/ 946958 w 4694357"/>
              <a:gd name="connsiteY270" fmla="*/ 4225147 h 4717133"/>
              <a:gd name="connsiteX271" fmla="*/ 952083 w 4694357"/>
              <a:gd name="connsiteY271" fmla="*/ 4230272 h 4717133"/>
              <a:gd name="connsiteX272" fmla="*/ 946958 w 4694357"/>
              <a:gd name="connsiteY272" fmla="*/ 4235397 h 4717133"/>
              <a:gd name="connsiteX273" fmla="*/ 941833 w 4694357"/>
              <a:gd name="connsiteY273" fmla="*/ 4230272 h 4717133"/>
              <a:gd name="connsiteX274" fmla="*/ 946958 w 4694357"/>
              <a:gd name="connsiteY274" fmla="*/ 4225147 h 4717133"/>
              <a:gd name="connsiteX275" fmla="*/ 3751385 w 4694357"/>
              <a:gd name="connsiteY275" fmla="*/ 4214898 h 4717133"/>
              <a:gd name="connsiteX276" fmla="*/ 3765051 w 4694357"/>
              <a:gd name="connsiteY276" fmla="*/ 4229134 h 4717133"/>
              <a:gd name="connsiteX277" fmla="*/ 3751385 w 4694357"/>
              <a:gd name="connsiteY277" fmla="*/ 4243370 h 4717133"/>
              <a:gd name="connsiteX278" fmla="*/ 3737719 w 4694357"/>
              <a:gd name="connsiteY278" fmla="*/ 4229134 h 4717133"/>
              <a:gd name="connsiteX279" fmla="*/ 3751385 w 4694357"/>
              <a:gd name="connsiteY279" fmla="*/ 4214898 h 4717133"/>
              <a:gd name="connsiteX280" fmla="*/ 1539162 w 4694357"/>
              <a:gd name="connsiteY280" fmla="*/ 4194399 h 4717133"/>
              <a:gd name="connsiteX281" fmla="*/ 1548843 w 4694357"/>
              <a:gd name="connsiteY281" fmla="*/ 4204080 h 4717133"/>
              <a:gd name="connsiteX282" fmla="*/ 1539162 w 4694357"/>
              <a:gd name="connsiteY282" fmla="*/ 4213761 h 4717133"/>
              <a:gd name="connsiteX283" fmla="*/ 1529481 w 4694357"/>
              <a:gd name="connsiteY283" fmla="*/ 4204080 h 4717133"/>
              <a:gd name="connsiteX284" fmla="*/ 1539162 w 4694357"/>
              <a:gd name="connsiteY284" fmla="*/ 4194399 h 4717133"/>
              <a:gd name="connsiteX285" fmla="*/ 3159181 w 4694357"/>
              <a:gd name="connsiteY285" fmla="*/ 4186426 h 4717133"/>
              <a:gd name="connsiteX286" fmla="*/ 3176264 w 4694357"/>
              <a:gd name="connsiteY286" fmla="*/ 4204079 h 4717133"/>
              <a:gd name="connsiteX287" fmla="*/ 3159181 w 4694357"/>
              <a:gd name="connsiteY287" fmla="*/ 4221732 h 4717133"/>
              <a:gd name="connsiteX288" fmla="*/ 3142098 w 4694357"/>
              <a:gd name="connsiteY288" fmla="*/ 4204079 h 4717133"/>
              <a:gd name="connsiteX289" fmla="*/ 3159181 w 4694357"/>
              <a:gd name="connsiteY289" fmla="*/ 4186426 h 4717133"/>
              <a:gd name="connsiteX290" fmla="*/ 1091593 w 4694357"/>
              <a:gd name="connsiteY290" fmla="*/ 4178455 h 4717133"/>
              <a:gd name="connsiteX291" fmla="*/ 1116079 w 4694357"/>
              <a:gd name="connsiteY291" fmla="*/ 4202941 h 4717133"/>
              <a:gd name="connsiteX292" fmla="*/ 1091593 w 4694357"/>
              <a:gd name="connsiteY292" fmla="*/ 4227427 h 4717133"/>
              <a:gd name="connsiteX293" fmla="*/ 1067107 w 4694357"/>
              <a:gd name="connsiteY293" fmla="*/ 4202941 h 4717133"/>
              <a:gd name="connsiteX294" fmla="*/ 1091593 w 4694357"/>
              <a:gd name="connsiteY294" fmla="*/ 4178455 h 4717133"/>
              <a:gd name="connsiteX295" fmla="*/ 3607320 w 4694357"/>
              <a:gd name="connsiteY295" fmla="*/ 4170482 h 4717133"/>
              <a:gd name="connsiteX296" fmla="*/ 3638639 w 4694357"/>
              <a:gd name="connsiteY296" fmla="*/ 4201801 h 4717133"/>
              <a:gd name="connsiteX297" fmla="*/ 3607320 w 4694357"/>
              <a:gd name="connsiteY297" fmla="*/ 4233120 h 4717133"/>
              <a:gd name="connsiteX298" fmla="*/ 3576001 w 4694357"/>
              <a:gd name="connsiteY298" fmla="*/ 4201801 h 4717133"/>
              <a:gd name="connsiteX299" fmla="*/ 3607320 w 4694357"/>
              <a:gd name="connsiteY299" fmla="*/ 4170482 h 4717133"/>
              <a:gd name="connsiteX300" fmla="*/ 3458130 w 4694357"/>
              <a:gd name="connsiteY300" fmla="*/ 4162511 h 4717133"/>
              <a:gd name="connsiteX301" fmla="*/ 3462116 w 4694357"/>
              <a:gd name="connsiteY301" fmla="*/ 4166497 h 4717133"/>
              <a:gd name="connsiteX302" fmla="*/ 3458130 w 4694357"/>
              <a:gd name="connsiteY302" fmla="*/ 4170483 h 4717133"/>
              <a:gd name="connsiteX303" fmla="*/ 3454144 w 4694357"/>
              <a:gd name="connsiteY303" fmla="*/ 4166497 h 4717133"/>
              <a:gd name="connsiteX304" fmla="*/ 3458130 w 4694357"/>
              <a:gd name="connsiteY304" fmla="*/ 4162511 h 4717133"/>
              <a:gd name="connsiteX305" fmla="*/ 1240212 w 4694357"/>
              <a:gd name="connsiteY305" fmla="*/ 4152261 h 4717133"/>
              <a:gd name="connsiteX306" fmla="*/ 1255017 w 4694357"/>
              <a:gd name="connsiteY306" fmla="*/ 4167066 h 4717133"/>
              <a:gd name="connsiteX307" fmla="*/ 1240212 w 4694357"/>
              <a:gd name="connsiteY307" fmla="*/ 4181871 h 4717133"/>
              <a:gd name="connsiteX308" fmla="*/ 1225407 w 4694357"/>
              <a:gd name="connsiteY308" fmla="*/ 4167066 h 4717133"/>
              <a:gd name="connsiteX309" fmla="*/ 1240212 w 4694357"/>
              <a:gd name="connsiteY309" fmla="*/ 4152261 h 4717133"/>
              <a:gd name="connsiteX310" fmla="*/ 1389402 w 4694357"/>
              <a:gd name="connsiteY310" fmla="*/ 4122651 h 4717133"/>
              <a:gd name="connsiteX311" fmla="*/ 1397374 w 4694357"/>
              <a:gd name="connsiteY311" fmla="*/ 4130623 h 4717133"/>
              <a:gd name="connsiteX312" fmla="*/ 1389402 w 4694357"/>
              <a:gd name="connsiteY312" fmla="*/ 4138595 h 4717133"/>
              <a:gd name="connsiteX313" fmla="*/ 1381430 w 4694357"/>
              <a:gd name="connsiteY313" fmla="*/ 4130623 h 4717133"/>
              <a:gd name="connsiteX314" fmla="*/ 1389402 w 4694357"/>
              <a:gd name="connsiteY314" fmla="*/ 4122651 h 4717133"/>
              <a:gd name="connsiteX315" fmla="*/ 817128 w 4694357"/>
              <a:gd name="connsiteY315" fmla="*/ 4121512 h 4717133"/>
              <a:gd name="connsiteX316" fmla="*/ 821114 w 4694357"/>
              <a:gd name="connsiteY316" fmla="*/ 4125498 h 4717133"/>
              <a:gd name="connsiteX317" fmla="*/ 817128 w 4694357"/>
              <a:gd name="connsiteY317" fmla="*/ 4129484 h 4717133"/>
              <a:gd name="connsiteX318" fmla="*/ 813142 w 4694357"/>
              <a:gd name="connsiteY318" fmla="*/ 4125498 h 4717133"/>
              <a:gd name="connsiteX319" fmla="*/ 817128 w 4694357"/>
              <a:gd name="connsiteY319" fmla="*/ 4121512 h 4717133"/>
              <a:gd name="connsiteX320" fmla="*/ 3308941 w 4694357"/>
              <a:gd name="connsiteY320" fmla="*/ 4113540 h 4717133"/>
              <a:gd name="connsiteX321" fmla="*/ 3325455 w 4694357"/>
              <a:gd name="connsiteY321" fmla="*/ 4130054 h 4717133"/>
              <a:gd name="connsiteX322" fmla="*/ 3308941 w 4694357"/>
              <a:gd name="connsiteY322" fmla="*/ 4146568 h 4717133"/>
              <a:gd name="connsiteX323" fmla="*/ 3292427 w 4694357"/>
              <a:gd name="connsiteY323" fmla="*/ 4130054 h 4717133"/>
              <a:gd name="connsiteX324" fmla="*/ 3308941 w 4694357"/>
              <a:gd name="connsiteY324" fmla="*/ 4113540 h 4717133"/>
              <a:gd name="connsiteX325" fmla="*/ 3881215 w 4694357"/>
              <a:gd name="connsiteY325" fmla="*/ 4111262 h 4717133"/>
              <a:gd name="connsiteX326" fmla="*/ 3893743 w 4694357"/>
              <a:gd name="connsiteY326" fmla="*/ 4124359 h 4717133"/>
              <a:gd name="connsiteX327" fmla="*/ 3881215 w 4694357"/>
              <a:gd name="connsiteY327" fmla="*/ 4137456 h 4717133"/>
              <a:gd name="connsiteX328" fmla="*/ 3868687 w 4694357"/>
              <a:gd name="connsiteY328" fmla="*/ 4124359 h 4717133"/>
              <a:gd name="connsiteX329" fmla="*/ 3881215 w 4694357"/>
              <a:gd name="connsiteY329" fmla="*/ 4111262 h 4717133"/>
              <a:gd name="connsiteX330" fmla="*/ 957208 w 4694357"/>
              <a:gd name="connsiteY330" fmla="*/ 4079374 h 4717133"/>
              <a:gd name="connsiteX331" fmla="*/ 980555 w 4694357"/>
              <a:gd name="connsiteY331" fmla="*/ 4103290 h 4717133"/>
              <a:gd name="connsiteX332" fmla="*/ 957208 w 4694357"/>
              <a:gd name="connsiteY332" fmla="*/ 4127206 h 4717133"/>
              <a:gd name="connsiteX333" fmla="*/ 933861 w 4694357"/>
              <a:gd name="connsiteY333" fmla="*/ 4103290 h 4717133"/>
              <a:gd name="connsiteX334" fmla="*/ 957208 w 4694357"/>
              <a:gd name="connsiteY334" fmla="*/ 4079374 h 4717133"/>
              <a:gd name="connsiteX335" fmla="*/ 3741705 w 4694357"/>
              <a:gd name="connsiteY335" fmla="*/ 4071402 h 4717133"/>
              <a:gd name="connsiteX336" fmla="*/ 3773024 w 4694357"/>
              <a:gd name="connsiteY336" fmla="*/ 4102151 h 4717133"/>
              <a:gd name="connsiteX337" fmla="*/ 3741705 w 4694357"/>
              <a:gd name="connsiteY337" fmla="*/ 4132900 h 4717133"/>
              <a:gd name="connsiteX338" fmla="*/ 3710386 w 4694357"/>
              <a:gd name="connsiteY338" fmla="*/ 4102151 h 4717133"/>
              <a:gd name="connsiteX339" fmla="*/ 3741705 w 4694357"/>
              <a:gd name="connsiteY339" fmla="*/ 4071402 h 4717133"/>
              <a:gd name="connsiteX340" fmla="*/ 3597071 w 4694357"/>
              <a:gd name="connsiteY340" fmla="*/ 4070263 h 4717133"/>
              <a:gd name="connsiteX341" fmla="*/ 3601057 w 4694357"/>
              <a:gd name="connsiteY341" fmla="*/ 4074249 h 4717133"/>
              <a:gd name="connsiteX342" fmla="*/ 3597071 w 4694357"/>
              <a:gd name="connsiteY342" fmla="*/ 4078235 h 4717133"/>
              <a:gd name="connsiteX343" fmla="*/ 3593085 w 4694357"/>
              <a:gd name="connsiteY343" fmla="*/ 4074249 h 4717133"/>
              <a:gd name="connsiteX344" fmla="*/ 3597071 w 4694357"/>
              <a:gd name="connsiteY344" fmla="*/ 4070263 h 4717133"/>
              <a:gd name="connsiteX345" fmla="*/ 1101272 w 4694357"/>
              <a:gd name="connsiteY345" fmla="*/ 4056597 h 4717133"/>
              <a:gd name="connsiteX346" fmla="*/ 1118355 w 4694357"/>
              <a:gd name="connsiteY346" fmla="*/ 4074250 h 4717133"/>
              <a:gd name="connsiteX347" fmla="*/ 1101272 w 4694357"/>
              <a:gd name="connsiteY347" fmla="*/ 4091903 h 4717133"/>
              <a:gd name="connsiteX348" fmla="*/ 1084189 w 4694357"/>
              <a:gd name="connsiteY348" fmla="*/ 4074250 h 4717133"/>
              <a:gd name="connsiteX349" fmla="*/ 1101272 w 4694357"/>
              <a:gd name="connsiteY349" fmla="*/ 4056597 h 4717133"/>
              <a:gd name="connsiteX350" fmla="*/ 1246477 w 4694357"/>
              <a:gd name="connsiteY350" fmla="*/ 4039515 h 4717133"/>
              <a:gd name="connsiteX351" fmla="*/ 1252741 w 4694357"/>
              <a:gd name="connsiteY351" fmla="*/ 4045210 h 4717133"/>
              <a:gd name="connsiteX352" fmla="*/ 1246477 w 4694357"/>
              <a:gd name="connsiteY352" fmla="*/ 4050905 h 4717133"/>
              <a:gd name="connsiteX353" fmla="*/ 1240213 w 4694357"/>
              <a:gd name="connsiteY353" fmla="*/ 4045210 h 4717133"/>
              <a:gd name="connsiteX354" fmla="*/ 1246477 w 4694357"/>
              <a:gd name="connsiteY354" fmla="*/ 4039515 h 4717133"/>
              <a:gd name="connsiteX355" fmla="*/ 3451867 w 4694357"/>
              <a:gd name="connsiteY355" fmla="*/ 4028126 h 4717133"/>
              <a:gd name="connsiteX356" fmla="*/ 3467811 w 4694357"/>
              <a:gd name="connsiteY356" fmla="*/ 4044640 h 4717133"/>
              <a:gd name="connsiteX357" fmla="*/ 3451867 w 4694357"/>
              <a:gd name="connsiteY357" fmla="*/ 4061154 h 4717133"/>
              <a:gd name="connsiteX358" fmla="*/ 3435923 w 4694357"/>
              <a:gd name="connsiteY358" fmla="*/ 4044640 h 4717133"/>
              <a:gd name="connsiteX359" fmla="*/ 3451867 w 4694357"/>
              <a:gd name="connsiteY359" fmla="*/ 4028126 h 4717133"/>
              <a:gd name="connsiteX360" fmla="*/ 694702 w 4694357"/>
              <a:gd name="connsiteY360" fmla="*/ 4008765 h 4717133"/>
              <a:gd name="connsiteX361" fmla="*/ 698119 w 4694357"/>
              <a:gd name="connsiteY361" fmla="*/ 4011613 h 4717133"/>
              <a:gd name="connsiteX362" fmla="*/ 694702 w 4694357"/>
              <a:gd name="connsiteY362" fmla="*/ 4014461 h 4717133"/>
              <a:gd name="connsiteX363" fmla="*/ 691285 w 4694357"/>
              <a:gd name="connsiteY363" fmla="*/ 4011613 h 4717133"/>
              <a:gd name="connsiteX364" fmla="*/ 694702 w 4694357"/>
              <a:gd name="connsiteY364" fmla="*/ 4008765 h 4717133"/>
              <a:gd name="connsiteX365" fmla="*/ 4003641 w 4694357"/>
              <a:gd name="connsiteY365" fmla="*/ 3998516 h 4717133"/>
              <a:gd name="connsiteX366" fmla="*/ 4015599 w 4694357"/>
              <a:gd name="connsiteY366" fmla="*/ 4010474 h 4717133"/>
              <a:gd name="connsiteX367" fmla="*/ 4003641 w 4694357"/>
              <a:gd name="connsiteY367" fmla="*/ 4022432 h 4717133"/>
              <a:gd name="connsiteX368" fmla="*/ 3991683 w 4694357"/>
              <a:gd name="connsiteY368" fmla="*/ 4010474 h 4717133"/>
              <a:gd name="connsiteX369" fmla="*/ 4003641 w 4694357"/>
              <a:gd name="connsiteY369" fmla="*/ 3998516 h 4717133"/>
              <a:gd name="connsiteX370" fmla="*/ 830225 w 4694357"/>
              <a:gd name="connsiteY370" fmla="*/ 3971183 h 4717133"/>
              <a:gd name="connsiteX371" fmla="*/ 853002 w 4694357"/>
              <a:gd name="connsiteY371" fmla="*/ 3993960 h 4717133"/>
              <a:gd name="connsiteX372" fmla="*/ 830225 w 4694357"/>
              <a:gd name="connsiteY372" fmla="*/ 4016737 h 4717133"/>
              <a:gd name="connsiteX373" fmla="*/ 807448 w 4694357"/>
              <a:gd name="connsiteY373" fmla="*/ 3993960 h 4717133"/>
              <a:gd name="connsiteX374" fmla="*/ 830225 w 4694357"/>
              <a:gd name="connsiteY374" fmla="*/ 3971183 h 4717133"/>
              <a:gd name="connsiteX375" fmla="*/ 3726900 w 4694357"/>
              <a:gd name="connsiteY375" fmla="*/ 3966628 h 4717133"/>
              <a:gd name="connsiteX376" fmla="*/ 3730886 w 4694357"/>
              <a:gd name="connsiteY376" fmla="*/ 3970614 h 4717133"/>
              <a:gd name="connsiteX377" fmla="*/ 3726900 w 4694357"/>
              <a:gd name="connsiteY377" fmla="*/ 3974600 h 4717133"/>
              <a:gd name="connsiteX378" fmla="*/ 3722914 w 4694357"/>
              <a:gd name="connsiteY378" fmla="*/ 3970614 h 4717133"/>
              <a:gd name="connsiteX379" fmla="*/ 3726900 w 4694357"/>
              <a:gd name="connsiteY379" fmla="*/ 3966628 h 4717133"/>
              <a:gd name="connsiteX380" fmla="*/ 3868118 w 4694357"/>
              <a:gd name="connsiteY380" fmla="*/ 3963211 h 4717133"/>
              <a:gd name="connsiteX381" fmla="*/ 3898298 w 4694357"/>
              <a:gd name="connsiteY381" fmla="*/ 3993391 h 4717133"/>
              <a:gd name="connsiteX382" fmla="*/ 3868118 w 4694357"/>
              <a:gd name="connsiteY382" fmla="*/ 4023571 h 4717133"/>
              <a:gd name="connsiteX383" fmla="*/ 3837938 w 4694357"/>
              <a:gd name="connsiteY383" fmla="*/ 3993391 h 4717133"/>
              <a:gd name="connsiteX384" fmla="*/ 3868118 w 4694357"/>
              <a:gd name="connsiteY384" fmla="*/ 3963211 h 4717133"/>
              <a:gd name="connsiteX385" fmla="*/ 970874 w 4694357"/>
              <a:gd name="connsiteY385" fmla="*/ 3951822 h 4717133"/>
              <a:gd name="connsiteX386" fmla="*/ 989666 w 4694357"/>
              <a:gd name="connsiteY386" fmla="*/ 3971183 h 4717133"/>
              <a:gd name="connsiteX387" fmla="*/ 970874 w 4694357"/>
              <a:gd name="connsiteY387" fmla="*/ 3990544 h 4717133"/>
              <a:gd name="connsiteX388" fmla="*/ 952082 w 4694357"/>
              <a:gd name="connsiteY388" fmla="*/ 3971183 h 4717133"/>
              <a:gd name="connsiteX389" fmla="*/ 970874 w 4694357"/>
              <a:gd name="connsiteY389" fmla="*/ 3951822 h 4717133"/>
              <a:gd name="connsiteX390" fmla="*/ 1110952 w 4694357"/>
              <a:gd name="connsiteY390" fmla="*/ 3943851 h 4717133"/>
              <a:gd name="connsiteX391" fmla="*/ 1114938 w 4694357"/>
              <a:gd name="connsiteY391" fmla="*/ 3948407 h 4717133"/>
              <a:gd name="connsiteX392" fmla="*/ 1110952 w 4694357"/>
              <a:gd name="connsiteY392" fmla="*/ 3952964 h 4717133"/>
              <a:gd name="connsiteX393" fmla="*/ 1106966 w 4694357"/>
              <a:gd name="connsiteY393" fmla="*/ 3948407 h 4717133"/>
              <a:gd name="connsiteX394" fmla="*/ 1110952 w 4694357"/>
              <a:gd name="connsiteY394" fmla="*/ 3943851 h 4717133"/>
              <a:gd name="connsiteX395" fmla="*/ 3587390 w 4694357"/>
              <a:gd name="connsiteY395" fmla="*/ 3932462 h 4717133"/>
              <a:gd name="connsiteX396" fmla="*/ 3603334 w 4694357"/>
              <a:gd name="connsiteY396" fmla="*/ 3947837 h 4717133"/>
              <a:gd name="connsiteX397" fmla="*/ 3587390 w 4694357"/>
              <a:gd name="connsiteY397" fmla="*/ 3963212 h 4717133"/>
              <a:gd name="connsiteX398" fmla="*/ 3571446 w 4694357"/>
              <a:gd name="connsiteY398" fmla="*/ 3947837 h 4717133"/>
              <a:gd name="connsiteX399" fmla="*/ 3587390 w 4694357"/>
              <a:gd name="connsiteY399" fmla="*/ 3932462 h 4717133"/>
              <a:gd name="connsiteX400" fmla="*/ 581386 w 4694357"/>
              <a:gd name="connsiteY400" fmla="*/ 3886908 h 4717133"/>
              <a:gd name="connsiteX401" fmla="*/ 583095 w 4694357"/>
              <a:gd name="connsiteY401" fmla="*/ 3889186 h 4717133"/>
              <a:gd name="connsiteX402" fmla="*/ 581386 w 4694357"/>
              <a:gd name="connsiteY402" fmla="*/ 3891464 h 4717133"/>
              <a:gd name="connsiteX403" fmla="*/ 579677 w 4694357"/>
              <a:gd name="connsiteY403" fmla="*/ 3889186 h 4717133"/>
              <a:gd name="connsiteX404" fmla="*/ 581386 w 4694357"/>
              <a:gd name="connsiteY404" fmla="*/ 3886908 h 4717133"/>
              <a:gd name="connsiteX405" fmla="*/ 4117527 w 4694357"/>
              <a:gd name="connsiteY405" fmla="*/ 3877797 h 4717133"/>
              <a:gd name="connsiteX406" fmla="*/ 4128347 w 4694357"/>
              <a:gd name="connsiteY406" fmla="*/ 3888617 h 4717133"/>
              <a:gd name="connsiteX407" fmla="*/ 4117527 w 4694357"/>
              <a:gd name="connsiteY407" fmla="*/ 3899437 h 4717133"/>
              <a:gd name="connsiteX408" fmla="*/ 4106707 w 4694357"/>
              <a:gd name="connsiteY408" fmla="*/ 3888617 h 4717133"/>
              <a:gd name="connsiteX409" fmla="*/ 4117527 w 4694357"/>
              <a:gd name="connsiteY409" fmla="*/ 3877797 h 4717133"/>
              <a:gd name="connsiteX410" fmla="*/ 712923 w 4694357"/>
              <a:gd name="connsiteY410" fmla="*/ 3855020 h 4717133"/>
              <a:gd name="connsiteX411" fmla="*/ 734561 w 4694357"/>
              <a:gd name="connsiteY411" fmla="*/ 3876658 h 4717133"/>
              <a:gd name="connsiteX412" fmla="*/ 712923 w 4694357"/>
              <a:gd name="connsiteY412" fmla="*/ 3898296 h 4717133"/>
              <a:gd name="connsiteX413" fmla="*/ 691285 w 4694357"/>
              <a:gd name="connsiteY413" fmla="*/ 3876658 h 4717133"/>
              <a:gd name="connsiteX414" fmla="*/ 712923 w 4694357"/>
              <a:gd name="connsiteY414" fmla="*/ 3855020 h 4717133"/>
              <a:gd name="connsiteX415" fmla="*/ 3849896 w 4694357"/>
              <a:gd name="connsiteY415" fmla="*/ 3853881 h 4717133"/>
              <a:gd name="connsiteX416" fmla="*/ 3853882 w 4694357"/>
              <a:gd name="connsiteY416" fmla="*/ 3857867 h 4717133"/>
              <a:gd name="connsiteX417" fmla="*/ 3849896 w 4694357"/>
              <a:gd name="connsiteY417" fmla="*/ 3861853 h 4717133"/>
              <a:gd name="connsiteX418" fmla="*/ 3845910 w 4694357"/>
              <a:gd name="connsiteY418" fmla="*/ 3857867 h 4717133"/>
              <a:gd name="connsiteX419" fmla="*/ 3849896 w 4694357"/>
              <a:gd name="connsiteY419" fmla="*/ 3853881 h 4717133"/>
              <a:gd name="connsiteX420" fmla="*/ 3985989 w 4694357"/>
              <a:gd name="connsiteY420" fmla="*/ 3845909 h 4717133"/>
              <a:gd name="connsiteX421" fmla="*/ 4015599 w 4694357"/>
              <a:gd name="connsiteY421" fmla="*/ 3875519 h 4717133"/>
              <a:gd name="connsiteX422" fmla="*/ 3985989 w 4694357"/>
              <a:gd name="connsiteY422" fmla="*/ 3905129 h 4717133"/>
              <a:gd name="connsiteX423" fmla="*/ 3956379 w 4694357"/>
              <a:gd name="connsiteY423" fmla="*/ 3875519 h 4717133"/>
              <a:gd name="connsiteX424" fmla="*/ 3985989 w 4694357"/>
              <a:gd name="connsiteY424" fmla="*/ 3845909 h 4717133"/>
              <a:gd name="connsiteX425" fmla="*/ 983971 w 4694357"/>
              <a:gd name="connsiteY425" fmla="*/ 3837937 h 4717133"/>
              <a:gd name="connsiteX426" fmla="*/ 987388 w 4694357"/>
              <a:gd name="connsiteY426" fmla="*/ 3840785 h 4717133"/>
              <a:gd name="connsiteX427" fmla="*/ 983971 w 4694357"/>
              <a:gd name="connsiteY427" fmla="*/ 3843633 h 4717133"/>
              <a:gd name="connsiteX428" fmla="*/ 980554 w 4694357"/>
              <a:gd name="connsiteY428" fmla="*/ 3840785 h 4717133"/>
              <a:gd name="connsiteX429" fmla="*/ 983971 w 4694357"/>
              <a:gd name="connsiteY429" fmla="*/ 3837937 h 4717133"/>
              <a:gd name="connsiteX430" fmla="*/ 849016 w 4694357"/>
              <a:gd name="connsiteY430" fmla="*/ 3836799 h 4717133"/>
              <a:gd name="connsiteX431" fmla="*/ 870085 w 4694357"/>
              <a:gd name="connsiteY431" fmla="*/ 3857868 h 4717133"/>
              <a:gd name="connsiteX432" fmla="*/ 849016 w 4694357"/>
              <a:gd name="connsiteY432" fmla="*/ 3878937 h 4717133"/>
              <a:gd name="connsiteX433" fmla="*/ 827947 w 4694357"/>
              <a:gd name="connsiteY433" fmla="*/ 3857868 h 4717133"/>
              <a:gd name="connsiteX434" fmla="*/ 849016 w 4694357"/>
              <a:gd name="connsiteY434" fmla="*/ 3836799 h 4717133"/>
              <a:gd name="connsiteX435" fmla="*/ 3714942 w 4694357"/>
              <a:gd name="connsiteY435" fmla="*/ 3824271 h 4717133"/>
              <a:gd name="connsiteX436" fmla="*/ 3730886 w 4694357"/>
              <a:gd name="connsiteY436" fmla="*/ 3840215 h 4717133"/>
              <a:gd name="connsiteX437" fmla="*/ 3714942 w 4694357"/>
              <a:gd name="connsiteY437" fmla="*/ 3856159 h 4717133"/>
              <a:gd name="connsiteX438" fmla="*/ 3698998 w 4694357"/>
              <a:gd name="connsiteY438" fmla="*/ 3840215 h 4717133"/>
              <a:gd name="connsiteX439" fmla="*/ 3714942 w 4694357"/>
              <a:gd name="connsiteY439" fmla="*/ 3824271 h 4717133"/>
              <a:gd name="connsiteX440" fmla="*/ 476042 w 4694357"/>
              <a:gd name="connsiteY440" fmla="*/ 3758217 h 4717133"/>
              <a:gd name="connsiteX441" fmla="*/ 478320 w 4694357"/>
              <a:gd name="connsiteY441" fmla="*/ 3759926 h 4717133"/>
              <a:gd name="connsiteX442" fmla="*/ 476042 w 4694357"/>
              <a:gd name="connsiteY442" fmla="*/ 3761635 h 4717133"/>
              <a:gd name="connsiteX443" fmla="*/ 473764 w 4694357"/>
              <a:gd name="connsiteY443" fmla="*/ 3759926 h 4717133"/>
              <a:gd name="connsiteX444" fmla="*/ 476042 w 4694357"/>
              <a:gd name="connsiteY444" fmla="*/ 3758217 h 4717133"/>
              <a:gd name="connsiteX445" fmla="*/ 4222302 w 4694357"/>
              <a:gd name="connsiteY445" fmla="*/ 3749107 h 4717133"/>
              <a:gd name="connsiteX446" fmla="*/ 4231983 w 4694357"/>
              <a:gd name="connsiteY446" fmla="*/ 3758788 h 4717133"/>
              <a:gd name="connsiteX447" fmla="*/ 4222302 w 4694357"/>
              <a:gd name="connsiteY447" fmla="*/ 3768469 h 4717133"/>
              <a:gd name="connsiteX448" fmla="*/ 4212621 w 4694357"/>
              <a:gd name="connsiteY448" fmla="*/ 3758788 h 4717133"/>
              <a:gd name="connsiteX449" fmla="*/ 4222302 w 4694357"/>
              <a:gd name="connsiteY449" fmla="*/ 3749107 h 4717133"/>
              <a:gd name="connsiteX450" fmla="*/ 3962642 w 4694357"/>
              <a:gd name="connsiteY450" fmla="*/ 3730885 h 4717133"/>
              <a:gd name="connsiteX451" fmla="*/ 3966628 w 4694357"/>
              <a:gd name="connsiteY451" fmla="*/ 3735441 h 4717133"/>
              <a:gd name="connsiteX452" fmla="*/ 3962642 w 4694357"/>
              <a:gd name="connsiteY452" fmla="*/ 3739998 h 4717133"/>
              <a:gd name="connsiteX453" fmla="*/ 3958656 w 4694357"/>
              <a:gd name="connsiteY453" fmla="*/ 3735441 h 4717133"/>
              <a:gd name="connsiteX454" fmla="*/ 3962642 w 4694357"/>
              <a:gd name="connsiteY454" fmla="*/ 3730885 h 4717133"/>
              <a:gd name="connsiteX455" fmla="*/ 603594 w 4694357"/>
              <a:gd name="connsiteY455" fmla="*/ 3728607 h 4717133"/>
              <a:gd name="connsiteX456" fmla="*/ 624094 w 4694357"/>
              <a:gd name="connsiteY456" fmla="*/ 3749676 h 4717133"/>
              <a:gd name="connsiteX457" fmla="*/ 603594 w 4694357"/>
              <a:gd name="connsiteY457" fmla="*/ 3770745 h 4717133"/>
              <a:gd name="connsiteX458" fmla="*/ 583094 w 4694357"/>
              <a:gd name="connsiteY458" fmla="*/ 3749676 h 4717133"/>
              <a:gd name="connsiteX459" fmla="*/ 603594 w 4694357"/>
              <a:gd name="connsiteY459" fmla="*/ 3728607 h 4717133"/>
              <a:gd name="connsiteX460" fmla="*/ 4095320 w 4694357"/>
              <a:gd name="connsiteY460" fmla="*/ 3720636 h 4717133"/>
              <a:gd name="connsiteX461" fmla="*/ 4123792 w 4694357"/>
              <a:gd name="connsiteY461" fmla="*/ 3749108 h 4717133"/>
              <a:gd name="connsiteX462" fmla="*/ 4095320 w 4694357"/>
              <a:gd name="connsiteY462" fmla="*/ 3777580 h 4717133"/>
              <a:gd name="connsiteX463" fmla="*/ 4066848 w 4694357"/>
              <a:gd name="connsiteY463" fmla="*/ 3749108 h 4717133"/>
              <a:gd name="connsiteX464" fmla="*/ 4095320 w 4694357"/>
              <a:gd name="connsiteY464" fmla="*/ 3720636 h 4717133"/>
              <a:gd name="connsiteX465" fmla="*/ 865530 w 4694357"/>
              <a:gd name="connsiteY465" fmla="*/ 3720636 h 4717133"/>
              <a:gd name="connsiteX466" fmla="*/ 867808 w 4694357"/>
              <a:gd name="connsiteY466" fmla="*/ 3722914 h 4717133"/>
              <a:gd name="connsiteX467" fmla="*/ 865530 w 4694357"/>
              <a:gd name="connsiteY467" fmla="*/ 3725192 h 4717133"/>
              <a:gd name="connsiteX468" fmla="*/ 863252 w 4694357"/>
              <a:gd name="connsiteY468" fmla="*/ 3722914 h 4717133"/>
              <a:gd name="connsiteX469" fmla="*/ 865530 w 4694357"/>
              <a:gd name="connsiteY469" fmla="*/ 3720636 h 4717133"/>
              <a:gd name="connsiteX470" fmla="*/ 735700 w 4694357"/>
              <a:gd name="connsiteY470" fmla="*/ 3712663 h 4717133"/>
              <a:gd name="connsiteX471" fmla="*/ 758477 w 4694357"/>
              <a:gd name="connsiteY471" fmla="*/ 3735440 h 4717133"/>
              <a:gd name="connsiteX472" fmla="*/ 735700 w 4694357"/>
              <a:gd name="connsiteY472" fmla="*/ 3758217 h 4717133"/>
              <a:gd name="connsiteX473" fmla="*/ 712923 w 4694357"/>
              <a:gd name="connsiteY473" fmla="*/ 3735440 h 4717133"/>
              <a:gd name="connsiteX474" fmla="*/ 735700 w 4694357"/>
              <a:gd name="connsiteY474" fmla="*/ 3712663 h 4717133"/>
              <a:gd name="connsiteX475" fmla="*/ 3832244 w 4694357"/>
              <a:gd name="connsiteY475" fmla="*/ 3706969 h 4717133"/>
              <a:gd name="connsiteX476" fmla="*/ 3848188 w 4694357"/>
              <a:gd name="connsiteY476" fmla="*/ 3722913 h 4717133"/>
              <a:gd name="connsiteX477" fmla="*/ 3832244 w 4694357"/>
              <a:gd name="connsiteY477" fmla="*/ 3738857 h 4717133"/>
              <a:gd name="connsiteX478" fmla="*/ 3816300 w 4694357"/>
              <a:gd name="connsiteY478" fmla="*/ 3722913 h 4717133"/>
              <a:gd name="connsiteX479" fmla="*/ 3832244 w 4694357"/>
              <a:gd name="connsiteY479" fmla="*/ 3706969 h 4717133"/>
              <a:gd name="connsiteX480" fmla="*/ 380948 w 4694357"/>
              <a:gd name="connsiteY480" fmla="*/ 3620416 h 4717133"/>
              <a:gd name="connsiteX481" fmla="*/ 382657 w 4694357"/>
              <a:gd name="connsiteY481" fmla="*/ 3622694 h 4717133"/>
              <a:gd name="connsiteX482" fmla="*/ 380948 w 4694357"/>
              <a:gd name="connsiteY482" fmla="*/ 3624972 h 4717133"/>
              <a:gd name="connsiteX483" fmla="*/ 379239 w 4694357"/>
              <a:gd name="connsiteY483" fmla="*/ 3622694 h 4717133"/>
              <a:gd name="connsiteX484" fmla="*/ 380948 w 4694357"/>
              <a:gd name="connsiteY484" fmla="*/ 3620416 h 4717133"/>
              <a:gd name="connsiteX485" fmla="*/ 4317965 w 4694357"/>
              <a:gd name="connsiteY485" fmla="*/ 3613583 h 4717133"/>
              <a:gd name="connsiteX486" fmla="*/ 4326507 w 4694357"/>
              <a:gd name="connsiteY486" fmla="*/ 3622125 h 4717133"/>
              <a:gd name="connsiteX487" fmla="*/ 4317965 w 4694357"/>
              <a:gd name="connsiteY487" fmla="*/ 3630667 h 4717133"/>
              <a:gd name="connsiteX488" fmla="*/ 4309423 w 4694357"/>
              <a:gd name="connsiteY488" fmla="*/ 3622125 h 4717133"/>
              <a:gd name="connsiteX489" fmla="*/ 4317965 w 4694357"/>
              <a:gd name="connsiteY489" fmla="*/ 3613583 h 4717133"/>
              <a:gd name="connsiteX490" fmla="*/ 4066278 w 4694357"/>
              <a:gd name="connsiteY490" fmla="*/ 3599917 h 4717133"/>
              <a:gd name="connsiteX491" fmla="*/ 4071403 w 4694357"/>
              <a:gd name="connsiteY491" fmla="*/ 3604473 h 4717133"/>
              <a:gd name="connsiteX492" fmla="*/ 4066278 w 4694357"/>
              <a:gd name="connsiteY492" fmla="*/ 3609030 h 4717133"/>
              <a:gd name="connsiteX493" fmla="*/ 4061153 w 4694357"/>
              <a:gd name="connsiteY493" fmla="*/ 3604473 h 4717133"/>
              <a:gd name="connsiteX494" fmla="*/ 4066278 w 4694357"/>
              <a:gd name="connsiteY494" fmla="*/ 3599917 h 4717133"/>
              <a:gd name="connsiteX495" fmla="*/ 758478 w 4694357"/>
              <a:gd name="connsiteY495" fmla="*/ 3595362 h 4717133"/>
              <a:gd name="connsiteX496" fmla="*/ 759617 w 4694357"/>
              <a:gd name="connsiteY496" fmla="*/ 3596501 h 4717133"/>
              <a:gd name="connsiteX497" fmla="*/ 758478 w 4694357"/>
              <a:gd name="connsiteY497" fmla="*/ 3597640 h 4717133"/>
              <a:gd name="connsiteX498" fmla="*/ 757339 w 4694357"/>
              <a:gd name="connsiteY498" fmla="*/ 3596501 h 4717133"/>
              <a:gd name="connsiteX499" fmla="*/ 758478 w 4694357"/>
              <a:gd name="connsiteY499" fmla="*/ 3595362 h 4717133"/>
              <a:gd name="connsiteX500" fmla="*/ 503944 w 4694357"/>
              <a:gd name="connsiteY500" fmla="*/ 3595362 h 4717133"/>
              <a:gd name="connsiteX501" fmla="*/ 523874 w 4694357"/>
              <a:gd name="connsiteY501" fmla="*/ 3615862 h 4717133"/>
              <a:gd name="connsiteX502" fmla="*/ 503944 w 4694357"/>
              <a:gd name="connsiteY502" fmla="*/ 3636362 h 4717133"/>
              <a:gd name="connsiteX503" fmla="*/ 484014 w 4694357"/>
              <a:gd name="connsiteY503" fmla="*/ 3615862 h 4717133"/>
              <a:gd name="connsiteX504" fmla="*/ 503944 w 4694357"/>
              <a:gd name="connsiteY504" fmla="*/ 3595362 h 4717133"/>
              <a:gd name="connsiteX505" fmla="*/ 4194400 w 4694357"/>
              <a:gd name="connsiteY505" fmla="*/ 3587389 h 4717133"/>
              <a:gd name="connsiteX506" fmla="*/ 4221733 w 4694357"/>
              <a:gd name="connsiteY506" fmla="*/ 3615291 h 4717133"/>
              <a:gd name="connsiteX507" fmla="*/ 4194400 w 4694357"/>
              <a:gd name="connsiteY507" fmla="*/ 3643193 h 4717133"/>
              <a:gd name="connsiteX508" fmla="*/ 4167067 w 4694357"/>
              <a:gd name="connsiteY508" fmla="*/ 3615291 h 4717133"/>
              <a:gd name="connsiteX509" fmla="*/ 4194400 w 4694357"/>
              <a:gd name="connsiteY509" fmla="*/ 3587389 h 4717133"/>
              <a:gd name="connsiteX510" fmla="*/ 632064 w 4694357"/>
              <a:gd name="connsiteY510" fmla="*/ 3581695 h 4717133"/>
              <a:gd name="connsiteX511" fmla="*/ 655980 w 4694357"/>
              <a:gd name="connsiteY511" fmla="*/ 3605611 h 4717133"/>
              <a:gd name="connsiteX512" fmla="*/ 632064 w 4694357"/>
              <a:gd name="connsiteY512" fmla="*/ 3629527 h 4717133"/>
              <a:gd name="connsiteX513" fmla="*/ 608148 w 4694357"/>
              <a:gd name="connsiteY513" fmla="*/ 3605611 h 4717133"/>
              <a:gd name="connsiteX514" fmla="*/ 632064 w 4694357"/>
              <a:gd name="connsiteY514" fmla="*/ 3581695 h 4717133"/>
              <a:gd name="connsiteX515" fmla="*/ 3939866 w 4694357"/>
              <a:gd name="connsiteY515" fmla="*/ 3579418 h 4717133"/>
              <a:gd name="connsiteX516" fmla="*/ 3956380 w 4694357"/>
              <a:gd name="connsiteY516" fmla="*/ 3595362 h 4717133"/>
              <a:gd name="connsiteX517" fmla="*/ 3939866 w 4694357"/>
              <a:gd name="connsiteY517" fmla="*/ 3611306 h 4717133"/>
              <a:gd name="connsiteX518" fmla="*/ 3923352 w 4694357"/>
              <a:gd name="connsiteY518" fmla="*/ 3595362 h 4717133"/>
              <a:gd name="connsiteX519" fmla="*/ 3939866 w 4694357"/>
              <a:gd name="connsiteY519" fmla="*/ 3579418 h 4717133"/>
              <a:gd name="connsiteX520" fmla="*/ 294964 w 4694357"/>
              <a:gd name="connsiteY520" fmla="*/ 3476921 h 4717133"/>
              <a:gd name="connsiteX521" fmla="*/ 297242 w 4694357"/>
              <a:gd name="connsiteY521" fmla="*/ 3479199 h 4717133"/>
              <a:gd name="connsiteX522" fmla="*/ 294964 w 4694357"/>
              <a:gd name="connsiteY522" fmla="*/ 3481477 h 4717133"/>
              <a:gd name="connsiteX523" fmla="*/ 292686 w 4694357"/>
              <a:gd name="connsiteY523" fmla="*/ 3479199 h 4717133"/>
              <a:gd name="connsiteX524" fmla="*/ 294964 w 4694357"/>
              <a:gd name="connsiteY524" fmla="*/ 3476921 h 4717133"/>
              <a:gd name="connsiteX525" fmla="*/ 4403379 w 4694357"/>
              <a:gd name="connsiteY525" fmla="*/ 3471226 h 4717133"/>
              <a:gd name="connsiteX526" fmla="*/ 4410782 w 4694357"/>
              <a:gd name="connsiteY526" fmla="*/ 3478629 h 4717133"/>
              <a:gd name="connsiteX527" fmla="*/ 4403379 w 4694357"/>
              <a:gd name="connsiteY527" fmla="*/ 3486032 h 4717133"/>
              <a:gd name="connsiteX528" fmla="*/ 4395976 w 4694357"/>
              <a:gd name="connsiteY528" fmla="*/ 3478629 h 4717133"/>
              <a:gd name="connsiteX529" fmla="*/ 4403379 w 4694357"/>
              <a:gd name="connsiteY529" fmla="*/ 3471226 h 4717133"/>
              <a:gd name="connsiteX530" fmla="*/ 4159096 w 4694357"/>
              <a:gd name="connsiteY530" fmla="*/ 3460977 h 4717133"/>
              <a:gd name="connsiteX531" fmla="*/ 4164791 w 4694357"/>
              <a:gd name="connsiteY531" fmla="*/ 3466672 h 4717133"/>
              <a:gd name="connsiteX532" fmla="*/ 4159096 w 4694357"/>
              <a:gd name="connsiteY532" fmla="*/ 3472367 h 4717133"/>
              <a:gd name="connsiteX533" fmla="*/ 4153401 w 4694357"/>
              <a:gd name="connsiteY533" fmla="*/ 3466672 h 4717133"/>
              <a:gd name="connsiteX534" fmla="*/ 4159096 w 4694357"/>
              <a:gd name="connsiteY534" fmla="*/ 3460977 h 4717133"/>
              <a:gd name="connsiteX535" fmla="*/ 661106 w 4694357"/>
              <a:gd name="connsiteY535" fmla="*/ 3458699 h 4717133"/>
              <a:gd name="connsiteX536" fmla="*/ 662815 w 4694357"/>
              <a:gd name="connsiteY536" fmla="*/ 3460408 h 4717133"/>
              <a:gd name="connsiteX537" fmla="*/ 661106 w 4694357"/>
              <a:gd name="connsiteY537" fmla="*/ 3462117 h 4717133"/>
              <a:gd name="connsiteX538" fmla="*/ 659397 w 4694357"/>
              <a:gd name="connsiteY538" fmla="*/ 3460408 h 4717133"/>
              <a:gd name="connsiteX539" fmla="*/ 661106 w 4694357"/>
              <a:gd name="connsiteY539" fmla="*/ 3458699 h 4717133"/>
              <a:gd name="connsiteX540" fmla="*/ 414544 w 4694357"/>
              <a:gd name="connsiteY540" fmla="*/ 3455282 h 4717133"/>
              <a:gd name="connsiteX541" fmla="*/ 433905 w 4694357"/>
              <a:gd name="connsiteY541" fmla="*/ 3474643 h 4717133"/>
              <a:gd name="connsiteX542" fmla="*/ 414544 w 4694357"/>
              <a:gd name="connsiteY542" fmla="*/ 3494004 h 4717133"/>
              <a:gd name="connsiteX543" fmla="*/ 395183 w 4694357"/>
              <a:gd name="connsiteY543" fmla="*/ 3474643 h 4717133"/>
              <a:gd name="connsiteX544" fmla="*/ 414544 w 4694357"/>
              <a:gd name="connsiteY544" fmla="*/ 3455282 h 4717133"/>
              <a:gd name="connsiteX545" fmla="*/ 4283231 w 4694357"/>
              <a:gd name="connsiteY545" fmla="*/ 3447311 h 4717133"/>
              <a:gd name="connsiteX546" fmla="*/ 4310564 w 4694357"/>
              <a:gd name="connsiteY546" fmla="*/ 3474074 h 4717133"/>
              <a:gd name="connsiteX547" fmla="*/ 4283231 w 4694357"/>
              <a:gd name="connsiteY547" fmla="*/ 3500837 h 4717133"/>
              <a:gd name="connsiteX548" fmla="*/ 4255898 w 4694357"/>
              <a:gd name="connsiteY548" fmla="*/ 3474074 h 4717133"/>
              <a:gd name="connsiteX549" fmla="*/ 4283231 w 4694357"/>
              <a:gd name="connsiteY549" fmla="*/ 3447311 h 4717133"/>
              <a:gd name="connsiteX550" fmla="*/ 4037237 w 4694357"/>
              <a:gd name="connsiteY550" fmla="*/ 3442755 h 4717133"/>
              <a:gd name="connsiteX551" fmla="*/ 4054320 w 4694357"/>
              <a:gd name="connsiteY551" fmla="*/ 3459838 h 4717133"/>
              <a:gd name="connsiteX552" fmla="*/ 4037237 w 4694357"/>
              <a:gd name="connsiteY552" fmla="*/ 3476921 h 4717133"/>
              <a:gd name="connsiteX553" fmla="*/ 4020154 w 4694357"/>
              <a:gd name="connsiteY553" fmla="*/ 3459838 h 4717133"/>
              <a:gd name="connsiteX554" fmla="*/ 4037237 w 4694357"/>
              <a:gd name="connsiteY554" fmla="*/ 3442755 h 4717133"/>
              <a:gd name="connsiteX555" fmla="*/ 539248 w 4694357"/>
              <a:gd name="connsiteY555" fmla="*/ 3441616 h 4717133"/>
              <a:gd name="connsiteX556" fmla="*/ 563734 w 4694357"/>
              <a:gd name="connsiteY556" fmla="*/ 3466671 h 4717133"/>
              <a:gd name="connsiteX557" fmla="*/ 539248 w 4694357"/>
              <a:gd name="connsiteY557" fmla="*/ 3491726 h 4717133"/>
              <a:gd name="connsiteX558" fmla="*/ 514762 w 4694357"/>
              <a:gd name="connsiteY558" fmla="*/ 3466671 h 4717133"/>
              <a:gd name="connsiteX559" fmla="*/ 539248 w 4694357"/>
              <a:gd name="connsiteY559" fmla="*/ 3441616 h 4717133"/>
              <a:gd name="connsiteX560" fmla="*/ 220370 w 4694357"/>
              <a:gd name="connsiteY560" fmla="*/ 3327731 h 4717133"/>
              <a:gd name="connsiteX561" fmla="*/ 223218 w 4694357"/>
              <a:gd name="connsiteY561" fmla="*/ 3330579 h 4717133"/>
              <a:gd name="connsiteX562" fmla="*/ 220370 w 4694357"/>
              <a:gd name="connsiteY562" fmla="*/ 3333427 h 4717133"/>
              <a:gd name="connsiteX563" fmla="*/ 217522 w 4694357"/>
              <a:gd name="connsiteY563" fmla="*/ 3330579 h 4717133"/>
              <a:gd name="connsiteX564" fmla="*/ 220370 w 4694357"/>
              <a:gd name="connsiteY564" fmla="*/ 3327731 h 4717133"/>
              <a:gd name="connsiteX565" fmla="*/ 4477974 w 4694357"/>
              <a:gd name="connsiteY565" fmla="*/ 3322037 h 4717133"/>
              <a:gd name="connsiteX566" fmla="*/ 4484807 w 4694357"/>
              <a:gd name="connsiteY566" fmla="*/ 3328870 h 4717133"/>
              <a:gd name="connsiteX567" fmla="*/ 4477974 w 4694357"/>
              <a:gd name="connsiteY567" fmla="*/ 3335703 h 4717133"/>
              <a:gd name="connsiteX568" fmla="*/ 4471141 w 4694357"/>
              <a:gd name="connsiteY568" fmla="*/ 3328870 h 4717133"/>
              <a:gd name="connsiteX569" fmla="*/ 4477974 w 4694357"/>
              <a:gd name="connsiteY569" fmla="*/ 3322037 h 4717133"/>
              <a:gd name="connsiteX570" fmla="*/ 575692 w 4694357"/>
              <a:gd name="connsiteY570" fmla="*/ 3316342 h 4717133"/>
              <a:gd name="connsiteX571" fmla="*/ 577401 w 4694357"/>
              <a:gd name="connsiteY571" fmla="*/ 3317481 h 4717133"/>
              <a:gd name="connsiteX572" fmla="*/ 575692 w 4694357"/>
              <a:gd name="connsiteY572" fmla="*/ 3318620 h 4717133"/>
              <a:gd name="connsiteX573" fmla="*/ 573983 w 4694357"/>
              <a:gd name="connsiteY573" fmla="*/ 3317481 h 4717133"/>
              <a:gd name="connsiteX574" fmla="*/ 575692 w 4694357"/>
              <a:gd name="connsiteY574" fmla="*/ 3316342 h 4717133"/>
              <a:gd name="connsiteX575" fmla="*/ 4240523 w 4694357"/>
              <a:gd name="connsiteY575" fmla="*/ 3315204 h 4717133"/>
              <a:gd name="connsiteX576" fmla="*/ 4246787 w 4694357"/>
              <a:gd name="connsiteY576" fmla="*/ 3321468 h 4717133"/>
              <a:gd name="connsiteX577" fmla="*/ 4240523 w 4694357"/>
              <a:gd name="connsiteY577" fmla="*/ 3327732 h 4717133"/>
              <a:gd name="connsiteX578" fmla="*/ 4234259 w 4694357"/>
              <a:gd name="connsiteY578" fmla="*/ 3321468 h 4717133"/>
              <a:gd name="connsiteX579" fmla="*/ 4240523 w 4694357"/>
              <a:gd name="connsiteY579" fmla="*/ 3315204 h 4717133"/>
              <a:gd name="connsiteX580" fmla="*/ 336533 w 4694357"/>
              <a:gd name="connsiteY580" fmla="*/ 3308370 h 4717133"/>
              <a:gd name="connsiteX581" fmla="*/ 355325 w 4694357"/>
              <a:gd name="connsiteY581" fmla="*/ 3327162 h 4717133"/>
              <a:gd name="connsiteX582" fmla="*/ 336533 w 4694357"/>
              <a:gd name="connsiteY582" fmla="*/ 3345954 h 4717133"/>
              <a:gd name="connsiteX583" fmla="*/ 317741 w 4694357"/>
              <a:gd name="connsiteY583" fmla="*/ 3327162 h 4717133"/>
              <a:gd name="connsiteX584" fmla="*/ 336533 w 4694357"/>
              <a:gd name="connsiteY584" fmla="*/ 3308370 h 4717133"/>
              <a:gd name="connsiteX585" fmla="*/ 4361811 w 4694357"/>
              <a:gd name="connsiteY585" fmla="*/ 3300398 h 4717133"/>
              <a:gd name="connsiteX586" fmla="*/ 4388005 w 4694357"/>
              <a:gd name="connsiteY586" fmla="*/ 3326592 h 4717133"/>
              <a:gd name="connsiteX587" fmla="*/ 4361811 w 4694357"/>
              <a:gd name="connsiteY587" fmla="*/ 3352786 h 4717133"/>
              <a:gd name="connsiteX588" fmla="*/ 4335617 w 4694357"/>
              <a:gd name="connsiteY588" fmla="*/ 3326592 h 4717133"/>
              <a:gd name="connsiteX589" fmla="*/ 4361811 w 4694357"/>
              <a:gd name="connsiteY589" fmla="*/ 3300398 h 4717133"/>
              <a:gd name="connsiteX590" fmla="*/ 4122652 w 4694357"/>
              <a:gd name="connsiteY590" fmla="*/ 3299260 h 4717133"/>
              <a:gd name="connsiteX591" fmla="*/ 4140874 w 4694357"/>
              <a:gd name="connsiteY591" fmla="*/ 3317482 h 4717133"/>
              <a:gd name="connsiteX592" fmla="*/ 4122652 w 4694357"/>
              <a:gd name="connsiteY592" fmla="*/ 3335704 h 4717133"/>
              <a:gd name="connsiteX593" fmla="*/ 4104430 w 4694357"/>
              <a:gd name="connsiteY593" fmla="*/ 3317482 h 4717133"/>
              <a:gd name="connsiteX594" fmla="*/ 4122652 w 4694357"/>
              <a:gd name="connsiteY594" fmla="*/ 3299260 h 4717133"/>
              <a:gd name="connsiteX595" fmla="*/ 457820 w 4694357"/>
              <a:gd name="connsiteY595" fmla="*/ 3296982 h 4717133"/>
              <a:gd name="connsiteX596" fmla="*/ 482875 w 4694357"/>
              <a:gd name="connsiteY596" fmla="*/ 3322037 h 4717133"/>
              <a:gd name="connsiteX597" fmla="*/ 457820 w 4694357"/>
              <a:gd name="connsiteY597" fmla="*/ 3347092 h 4717133"/>
              <a:gd name="connsiteX598" fmla="*/ 432765 w 4694357"/>
              <a:gd name="connsiteY598" fmla="*/ 3322037 h 4717133"/>
              <a:gd name="connsiteX599" fmla="*/ 457820 w 4694357"/>
              <a:gd name="connsiteY599" fmla="*/ 3296982 h 4717133"/>
              <a:gd name="connsiteX600" fmla="*/ 156593 w 4694357"/>
              <a:gd name="connsiteY600" fmla="*/ 3172847 h 4717133"/>
              <a:gd name="connsiteX601" fmla="*/ 160579 w 4694357"/>
              <a:gd name="connsiteY601" fmla="*/ 3176833 h 4717133"/>
              <a:gd name="connsiteX602" fmla="*/ 156593 w 4694357"/>
              <a:gd name="connsiteY602" fmla="*/ 3180819 h 4717133"/>
              <a:gd name="connsiteX603" fmla="*/ 152607 w 4694357"/>
              <a:gd name="connsiteY603" fmla="*/ 3176833 h 4717133"/>
              <a:gd name="connsiteX604" fmla="*/ 156593 w 4694357"/>
              <a:gd name="connsiteY604" fmla="*/ 3172847 h 4717133"/>
              <a:gd name="connsiteX605" fmla="*/ 4541749 w 4694357"/>
              <a:gd name="connsiteY605" fmla="*/ 3168291 h 4717133"/>
              <a:gd name="connsiteX606" fmla="*/ 4548582 w 4694357"/>
              <a:gd name="connsiteY606" fmla="*/ 3175124 h 4717133"/>
              <a:gd name="connsiteX607" fmla="*/ 4541749 w 4694357"/>
              <a:gd name="connsiteY607" fmla="*/ 3181957 h 4717133"/>
              <a:gd name="connsiteX608" fmla="*/ 4534916 w 4694357"/>
              <a:gd name="connsiteY608" fmla="*/ 3175124 h 4717133"/>
              <a:gd name="connsiteX609" fmla="*/ 4541749 w 4694357"/>
              <a:gd name="connsiteY609" fmla="*/ 3168291 h 4717133"/>
              <a:gd name="connsiteX610" fmla="*/ 502236 w 4694357"/>
              <a:gd name="connsiteY610" fmla="*/ 3166013 h 4717133"/>
              <a:gd name="connsiteX611" fmla="*/ 504514 w 4694357"/>
              <a:gd name="connsiteY611" fmla="*/ 3168291 h 4717133"/>
              <a:gd name="connsiteX612" fmla="*/ 502236 w 4694357"/>
              <a:gd name="connsiteY612" fmla="*/ 3170569 h 4717133"/>
              <a:gd name="connsiteX613" fmla="*/ 499958 w 4694357"/>
              <a:gd name="connsiteY613" fmla="*/ 3168291 h 4717133"/>
              <a:gd name="connsiteX614" fmla="*/ 502236 w 4694357"/>
              <a:gd name="connsiteY614" fmla="*/ 3166013 h 4717133"/>
              <a:gd name="connsiteX615" fmla="*/ 4309993 w 4694357"/>
              <a:gd name="connsiteY615" fmla="*/ 3162597 h 4717133"/>
              <a:gd name="connsiteX616" fmla="*/ 4317396 w 4694357"/>
              <a:gd name="connsiteY616" fmla="*/ 3170000 h 4717133"/>
              <a:gd name="connsiteX617" fmla="*/ 4309993 w 4694357"/>
              <a:gd name="connsiteY617" fmla="*/ 3177403 h 4717133"/>
              <a:gd name="connsiteX618" fmla="*/ 4302590 w 4694357"/>
              <a:gd name="connsiteY618" fmla="*/ 3170000 h 4717133"/>
              <a:gd name="connsiteX619" fmla="*/ 4309993 w 4694357"/>
              <a:gd name="connsiteY619" fmla="*/ 3162597 h 4717133"/>
              <a:gd name="connsiteX620" fmla="*/ 269909 w 4694357"/>
              <a:gd name="connsiteY620" fmla="*/ 3155764 h 4717133"/>
              <a:gd name="connsiteX621" fmla="*/ 288131 w 4694357"/>
              <a:gd name="connsiteY621" fmla="*/ 3174556 h 4717133"/>
              <a:gd name="connsiteX622" fmla="*/ 269909 w 4694357"/>
              <a:gd name="connsiteY622" fmla="*/ 3193348 h 4717133"/>
              <a:gd name="connsiteX623" fmla="*/ 251687 w 4694357"/>
              <a:gd name="connsiteY623" fmla="*/ 3174556 h 4717133"/>
              <a:gd name="connsiteX624" fmla="*/ 269909 w 4694357"/>
              <a:gd name="connsiteY624" fmla="*/ 3155764 h 4717133"/>
              <a:gd name="connsiteX625" fmla="*/ 4427864 w 4694357"/>
              <a:gd name="connsiteY625" fmla="*/ 3147792 h 4717133"/>
              <a:gd name="connsiteX626" fmla="*/ 4452919 w 4694357"/>
              <a:gd name="connsiteY626" fmla="*/ 3173417 h 4717133"/>
              <a:gd name="connsiteX627" fmla="*/ 4427864 w 4694357"/>
              <a:gd name="connsiteY627" fmla="*/ 3199042 h 4717133"/>
              <a:gd name="connsiteX628" fmla="*/ 4402809 w 4694357"/>
              <a:gd name="connsiteY628" fmla="*/ 3173417 h 4717133"/>
              <a:gd name="connsiteX629" fmla="*/ 4427864 w 4694357"/>
              <a:gd name="connsiteY629" fmla="*/ 3147792 h 4717133"/>
              <a:gd name="connsiteX630" fmla="*/ 4195539 w 4694357"/>
              <a:gd name="connsiteY630" fmla="*/ 3147792 h 4717133"/>
              <a:gd name="connsiteX631" fmla="*/ 4216039 w 4694357"/>
              <a:gd name="connsiteY631" fmla="*/ 3167722 h 4717133"/>
              <a:gd name="connsiteX632" fmla="*/ 4195539 w 4694357"/>
              <a:gd name="connsiteY632" fmla="*/ 3187652 h 4717133"/>
              <a:gd name="connsiteX633" fmla="*/ 4175039 w 4694357"/>
              <a:gd name="connsiteY633" fmla="*/ 3167722 h 4717133"/>
              <a:gd name="connsiteX634" fmla="*/ 4195539 w 4694357"/>
              <a:gd name="connsiteY634" fmla="*/ 3147792 h 4717133"/>
              <a:gd name="connsiteX635" fmla="*/ 387781 w 4694357"/>
              <a:gd name="connsiteY635" fmla="*/ 3145514 h 4717133"/>
              <a:gd name="connsiteX636" fmla="*/ 413406 w 4694357"/>
              <a:gd name="connsiteY636" fmla="*/ 3170569 h 4717133"/>
              <a:gd name="connsiteX637" fmla="*/ 387781 w 4694357"/>
              <a:gd name="connsiteY637" fmla="*/ 3195624 h 4717133"/>
              <a:gd name="connsiteX638" fmla="*/ 362156 w 4694357"/>
              <a:gd name="connsiteY638" fmla="*/ 3170569 h 4717133"/>
              <a:gd name="connsiteX639" fmla="*/ 387781 w 4694357"/>
              <a:gd name="connsiteY639" fmla="*/ 3145514 h 4717133"/>
              <a:gd name="connsiteX640" fmla="*/ 103067 w 4694357"/>
              <a:gd name="connsiteY640" fmla="*/ 3013407 h 4717133"/>
              <a:gd name="connsiteX641" fmla="*/ 108192 w 4694357"/>
              <a:gd name="connsiteY641" fmla="*/ 3018532 h 4717133"/>
              <a:gd name="connsiteX642" fmla="*/ 103067 w 4694357"/>
              <a:gd name="connsiteY642" fmla="*/ 3023657 h 4717133"/>
              <a:gd name="connsiteX643" fmla="*/ 97942 w 4694357"/>
              <a:gd name="connsiteY643" fmla="*/ 3018532 h 4717133"/>
              <a:gd name="connsiteX644" fmla="*/ 103067 w 4694357"/>
              <a:gd name="connsiteY644" fmla="*/ 3013407 h 4717133"/>
              <a:gd name="connsiteX645" fmla="*/ 4594707 w 4694357"/>
              <a:gd name="connsiteY645" fmla="*/ 3009991 h 4717133"/>
              <a:gd name="connsiteX646" fmla="*/ 4600971 w 4694357"/>
              <a:gd name="connsiteY646" fmla="*/ 3016824 h 4717133"/>
              <a:gd name="connsiteX647" fmla="*/ 4594707 w 4694357"/>
              <a:gd name="connsiteY647" fmla="*/ 3023657 h 4717133"/>
              <a:gd name="connsiteX648" fmla="*/ 4588443 w 4694357"/>
              <a:gd name="connsiteY648" fmla="*/ 3016824 h 4717133"/>
              <a:gd name="connsiteX649" fmla="*/ 4594707 w 4694357"/>
              <a:gd name="connsiteY649" fmla="*/ 3009991 h 4717133"/>
              <a:gd name="connsiteX650" fmla="*/ 441307 w 4694357"/>
              <a:gd name="connsiteY650" fmla="*/ 3009991 h 4717133"/>
              <a:gd name="connsiteX651" fmla="*/ 444155 w 4694357"/>
              <a:gd name="connsiteY651" fmla="*/ 3013408 h 4717133"/>
              <a:gd name="connsiteX652" fmla="*/ 441307 w 4694357"/>
              <a:gd name="connsiteY652" fmla="*/ 3016825 h 4717133"/>
              <a:gd name="connsiteX653" fmla="*/ 438459 w 4694357"/>
              <a:gd name="connsiteY653" fmla="*/ 3013408 h 4717133"/>
              <a:gd name="connsiteX654" fmla="*/ 441307 w 4694357"/>
              <a:gd name="connsiteY654" fmla="*/ 3009991 h 4717133"/>
              <a:gd name="connsiteX655" fmla="*/ 4368075 w 4694357"/>
              <a:gd name="connsiteY655" fmla="*/ 3005435 h 4717133"/>
              <a:gd name="connsiteX656" fmla="*/ 4376617 w 4694357"/>
              <a:gd name="connsiteY656" fmla="*/ 3013977 h 4717133"/>
              <a:gd name="connsiteX657" fmla="*/ 4368075 w 4694357"/>
              <a:gd name="connsiteY657" fmla="*/ 3022519 h 4717133"/>
              <a:gd name="connsiteX658" fmla="*/ 4359533 w 4694357"/>
              <a:gd name="connsiteY658" fmla="*/ 3013977 h 4717133"/>
              <a:gd name="connsiteX659" fmla="*/ 4368075 w 4694357"/>
              <a:gd name="connsiteY659" fmla="*/ 3005435 h 4717133"/>
              <a:gd name="connsiteX660" fmla="*/ 214105 w 4694357"/>
              <a:gd name="connsiteY660" fmla="*/ 2998602 h 4717133"/>
              <a:gd name="connsiteX661" fmla="*/ 232327 w 4694357"/>
              <a:gd name="connsiteY661" fmla="*/ 3016824 h 4717133"/>
              <a:gd name="connsiteX662" fmla="*/ 214105 w 4694357"/>
              <a:gd name="connsiteY662" fmla="*/ 3035046 h 4717133"/>
              <a:gd name="connsiteX663" fmla="*/ 195883 w 4694357"/>
              <a:gd name="connsiteY663" fmla="*/ 3016824 h 4717133"/>
              <a:gd name="connsiteX664" fmla="*/ 214105 w 4694357"/>
              <a:gd name="connsiteY664" fmla="*/ 2998602 h 4717133"/>
              <a:gd name="connsiteX665" fmla="*/ 4483668 w 4694357"/>
              <a:gd name="connsiteY665" fmla="*/ 2991769 h 4717133"/>
              <a:gd name="connsiteX666" fmla="*/ 4507584 w 4694357"/>
              <a:gd name="connsiteY666" fmla="*/ 3016255 h 4717133"/>
              <a:gd name="connsiteX667" fmla="*/ 4483668 w 4694357"/>
              <a:gd name="connsiteY667" fmla="*/ 3040741 h 4717133"/>
              <a:gd name="connsiteX668" fmla="*/ 4459752 w 4694357"/>
              <a:gd name="connsiteY668" fmla="*/ 3016255 h 4717133"/>
              <a:gd name="connsiteX669" fmla="*/ 4483668 w 4694357"/>
              <a:gd name="connsiteY669" fmla="*/ 2991769 h 4717133"/>
              <a:gd name="connsiteX670" fmla="*/ 330268 w 4694357"/>
              <a:gd name="connsiteY670" fmla="*/ 2991769 h 4717133"/>
              <a:gd name="connsiteX671" fmla="*/ 353045 w 4694357"/>
              <a:gd name="connsiteY671" fmla="*/ 3014546 h 4717133"/>
              <a:gd name="connsiteX672" fmla="*/ 330268 w 4694357"/>
              <a:gd name="connsiteY672" fmla="*/ 3037323 h 4717133"/>
              <a:gd name="connsiteX673" fmla="*/ 307491 w 4694357"/>
              <a:gd name="connsiteY673" fmla="*/ 3014546 h 4717133"/>
              <a:gd name="connsiteX674" fmla="*/ 330268 w 4694357"/>
              <a:gd name="connsiteY674" fmla="*/ 2991769 h 4717133"/>
              <a:gd name="connsiteX675" fmla="*/ 4256467 w 4694357"/>
              <a:gd name="connsiteY675" fmla="*/ 2990630 h 4717133"/>
              <a:gd name="connsiteX676" fmla="*/ 4278675 w 4694357"/>
              <a:gd name="connsiteY676" fmla="*/ 3012838 h 4717133"/>
              <a:gd name="connsiteX677" fmla="*/ 4256467 w 4694357"/>
              <a:gd name="connsiteY677" fmla="*/ 3035046 h 4717133"/>
              <a:gd name="connsiteX678" fmla="*/ 4234259 w 4694357"/>
              <a:gd name="connsiteY678" fmla="*/ 3012838 h 4717133"/>
              <a:gd name="connsiteX679" fmla="*/ 4256467 w 4694357"/>
              <a:gd name="connsiteY679" fmla="*/ 2990630 h 4717133"/>
              <a:gd name="connsiteX680" fmla="*/ 62069 w 4694357"/>
              <a:gd name="connsiteY680" fmla="*/ 2850551 h 4717133"/>
              <a:gd name="connsiteX681" fmla="*/ 68333 w 4694357"/>
              <a:gd name="connsiteY681" fmla="*/ 2856246 h 4717133"/>
              <a:gd name="connsiteX682" fmla="*/ 62069 w 4694357"/>
              <a:gd name="connsiteY682" fmla="*/ 2861941 h 4717133"/>
              <a:gd name="connsiteX683" fmla="*/ 55805 w 4694357"/>
              <a:gd name="connsiteY683" fmla="*/ 2856246 h 4717133"/>
              <a:gd name="connsiteX684" fmla="*/ 62069 w 4694357"/>
              <a:gd name="connsiteY684" fmla="*/ 2850551 h 4717133"/>
              <a:gd name="connsiteX685" fmla="*/ 4636275 w 4694357"/>
              <a:gd name="connsiteY685" fmla="*/ 2849412 h 4717133"/>
              <a:gd name="connsiteX686" fmla="*/ 4641970 w 4694357"/>
              <a:gd name="connsiteY686" fmla="*/ 2855107 h 4717133"/>
              <a:gd name="connsiteX687" fmla="*/ 4636275 w 4694357"/>
              <a:gd name="connsiteY687" fmla="*/ 2860802 h 4717133"/>
              <a:gd name="connsiteX688" fmla="*/ 4630580 w 4694357"/>
              <a:gd name="connsiteY688" fmla="*/ 2855107 h 4717133"/>
              <a:gd name="connsiteX689" fmla="*/ 4636275 w 4694357"/>
              <a:gd name="connsiteY689" fmla="*/ 2849412 h 4717133"/>
              <a:gd name="connsiteX690" fmla="*/ 394044 w 4694357"/>
              <a:gd name="connsiteY690" fmla="*/ 2849412 h 4717133"/>
              <a:gd name="connsiteX691" fmla="*/ 398601 w 4694357"/>
              <a:gd name="connsiteY691" fmla="*/ 2853398 h 4717133"/>
              <a:gd name="connsiteX692" fmla="*/ 394044 w 4694357"/>
              <a:gd name="connsiteY692" fmla="*/ 2857384 h 4717133"/>
              <a:gd name="connsiteX693" fmla="*/ 389488 w 4694357"/>
              <a:gd name="connsiteY693" fmla="*/ 2853398 h 4717133"/>
              <a:gd name="connsiteX694" fmla="*/ 394044 w 4694357"/>
              <a:gd name="connsiteY694" fmla="*/ 2849412 h 4717133"/>
              <a:gd name="connsiteX695" fmla="*/ 4413060 w 4694357"/>
              <a:gd name="connsiteY695" fmla="*/ 2844857 h 4717133"/>
              <a:gd name="connsiteX696" fmla="*/ 4422171 w 4694357"/>
              <a:gd name="connsiteY696" fmla="*/ 2853968 h 4717133"/>
              <a:gd name="connsiteX697" fmla="*/ 4413060 w 4694357"/>
              <a:gd name="connsiteY697" fmla="*/ 2863079 h 4717133"/>
              <a:gd name="connsiteX698" fmla="*/ 4403949 w 4694357"/>
              <a:gd name="connsiteY698" fmla="*/ 2853968 h 4717133"/>
              <a:gd name="connsiteX699" fmla="*/ 4413060 w 4694357"/>
              <a:gd name="connsiteY699" fmla="*/ 2844857 h 4717133"/>
              <a:gd name="connsiteX700" fmla="*/ 284714 w 4694357"/>
              <a:gd name="connsiteY700" fmla="*/ 2838024 h 4717133"/>
              <a:gd name="connsiteX701" fmla="*/ 301797 w 4694357"/>
              <a:gd name="connsiteY701" fmla="*/ 2854538 h 4717133"/>
              <a:gd name="connsiteX702" fmla="*/ 284714 w 4694357"/>
              <a:gd name="connsiteY702" fmla="*/ 2871052 h 4717133"/>
              <a:gd name="connsiteX703" fmla="*/ 267631 w 4694357"/>
              <a:gd name="connsiteY703" fmla="*/ 2854538 h 4717133"/>
              <a:gd name="connsiteX704" fmla="*/ 284714 w 4694357"/>
              <a:gd name="connsiteY704" fmla="*/ 2838024 h 4717133"/>
              <a:gd name="connsiteX705" fmla="*/ 171399 w 4694357"/>
              <a:gd name="connsiteY705" fmla="*/ 2838024 h 4717133"/>
              <a:gd name="connsiteX706" fmla="*/ 189052 w 4694357"/>
              <a:gd name="connsiteY706" fmla="*/ 2856246 h 4717133"/>
              <a:gd name="connsiteX707" fmla="*/ 171399 w 4694357"/>
              <a:gd name="connsiteY707" fmla="*/ 2874468 h 4717133"/>
              <a:gd name="connsiteX708" fmla="*/ 153746 w 4694357"/>
              <a:gd name="connsiteY708" fmla="*/ 2856246 h 4717133"/>
              <a:gd name="connsiteX709" fmla="*/ 171399 w 4694357"/>
              <a:gd name="connsiteY709" fmla="*/ 2838024 h 4717133"/>
              <a:gd name="connsiteX710" fmla="*/ 4526945 w 4694357"/>
              <a:gd name="connsiteY710" fmla="*/ 2831190 h 4717133"/>
              <a:gd name="connsiteX711" fmla="*/ 4549722 w 4694357"/>
              <a:gd name="connsiteY711" fmla="*/ 2854537 h 4717133"/>
              <a:gd name="connsiteX712" fmla="*/ 4526945 w 4694357"/>
              <a:gd name="connsiteY712" fmla="*/ 2877884 h 4717133"/>
              <a:gd name="connsiteX713" fmla="*/ 4504168 w 4694357"/>
              <a:gd name="connsiteY713" fmla="*/ 2854537 h 4717133"/>
              <a:gd name="connsiteX714" fmla="*/ 4526945 w 4694357"/>
              <a:gd name="connsiteY714" fmla="*/ 2831190 h 4717133"/>
              <a:gd name="connsiteX715" fmla="*/ 4303729 w 4694357"/>
              <a:gd name="connsiteY715" fmla="*/ 2828913 h 4717133"/>
              <a:gd name="connsiteX716" fmla="*/ 4327645 w 4694357"/>
              <a:gd name="connsiteY716" fmla="*/ 2852829 h 4717133"/>
              <a:gd name="connsiteX717" fmla="*/ 4303729 w 4694357"/>
              <a:gd name="connsiteY717" fmla="*/ 2876745 h 4717133"/>
              <a:gd name="connsiteX718" fmla="*/ 4279813 w 4694357"/>
              <a:gd name="connsiteY718" fmla="*/ 2852829 h 4717133"/>
              <a:gd name="connsiteX719" fmla="*/ 4303729 w 4694357"/>
              <a:gd name="connsiteY719" fmla="*/ 2828913 h 4717133"/>
              <a:gd name="connsiteX720" fmla="*/ 4665885 w 4694357"/>
              <a:gd name="connsiteY720" fmla="*/ 2685417 h 4717133"/>
              <a:gd name="connsiteX721" fmla="*/ 4671580 w 4694357"/>
              <a:gd name="connsiteY721" fmla="*/ 2691112 h 4717133"/>
              <a:gd name="connsiteX722" fmla="*/ 4665885 w 4694357"/>
              <a:gd name="connsiteY722" fmla="*/ 2696807 h 4717133"/>
              <a:gd name="connsiteX723" fmla="*/ 4660190 w 4694357"/>
              <a:gd name="connsiteY723" fmla="*/ 2691112 h 4717133"/>
              <a:gd name="connsiteX724" fmla="*/ 4665885 w 4694357"/>
              <a:gd name="connsiteY724" fmla="*/ 2685417 h 4717133"/>
              <a:gd name="connsiteX725" fmla="*/ 360448 w 4694357"/>
              <a:gd name="connsiteY725" fmla="*/ 2685417 h 4717133"/>
              <a:gd name="connsiteX726" fmla="*/ 365573 w 4694357"/>
              <a:gd name="connsiteY726" fmla="*/ 2690542 h 4717133"/>
              <a:gd name="connsiteX727" fmla="*/ 360448 w 4694357"/>
              <a:gd name="connsiteY727" fmla="*/ 2695667 h 4717133"/>
              <a:gd name="connsiteX728" fmla="*/ 355323 w 4694357"/>
              <a:gd name="connsiteY728" fmla="*/ 2690542 h 4717133"/>
              <a:gd name="connsiteX729" fmla="*/ 360448 w 4694357"/>
              <a:gd name="connsiteY729" fmla="*/ 2685417 h 4717133"/>
              <a:gd name="connsiteX730" fmla="*/ 33027 w 4694357"/>
              <a:gd name="connsiteY730" fmla="*/ 2685417 h 4717133"/>
              <a:gd name="connsiteX731" fmla="*/ 39860 w 4694357"/>
              <a:gd name="connsiteY731" fmla="*/ 2692250 h 4717133"/>
              <a:gd name="connsiteX732" fmla="*/ 33027 w 4694357"/>
              <a:gd name="connsiteY732" fmla="*/ 2699083 h 4717133"/>
              <a:gd name="connsiteX733" fmla="*/ 26194 w 4694357"/>
              <a:gd name="connsiteY733" fmla="*/ 2692250 h 4717133"/>
              <a:gd name="connsiteX734" fmla="*/ 33027 w 4694357"/>
              <a:gd name="connsiteY734" fmla="*/ 2685417 h 4717133"/>
              <a:gd name="connsiteX735" fmla="*/ 252257 w 4694357"/>
              <a:gd name="connsiteY735" fmla="*/ 2682001 h 4717133"/>
              <a:gd name="connsiteX736" fmla="*/ 260799 w 4694357"/>
              <a:gd name="connsiteY736" fmla="*/ 2691112 h 4717133"/>
              <a:gd name="connsiteX737" fmla="*/ 252257 w 4694357"/>
              <a:gd name="connsiteY737" fmla="*/ 2700223 h 4717133"/>
              <a:gd name="connsiteX738" fmla="*/ 243715 w 4694357"/>
              <a:gd name="connsiteY738" fmla="*/ 2691112 h 4717133"/>
              <a:gd name="connsiteX739" fmla="*/ 252257 w 4694357"/>
              <a:gd name="connsiteY739" fmla="*/ 2682001 h 4717133"/>
              <a:gd name="connsiteX740" fmla="*/ 4446086 w 4694357"/>
              <a:gd name="connsiteY740" fmla="*/ 2679723 h 4717133"/>
              <a:gd name="connsiteX741" fmla="*/ 4456336 w 4694357"/>
              <a:gd name="connsiteY741" fmla="*/ 2689973 h 4717133"/>
              <a:gd name="connsiteX742" fmla="*/ 4446086 w 4694357"/>
              <a:gd name="connsiteY742" fmla="*/ 2700223 h 4717133"/>
              <a:gd name="connsiteX743" fmla="*/ 4435836 w 4694357"/>
              <a:gd name="connsiteY743" fmla="*/ 2689973 h 4717133"/>
              <a:gd name="connsiteX744" fmla="*/ 4446086 w 4694357"/>
              <a:gd name="connsiteY744" fmla="*/ 2679723 h 4717133"/>
              <a:gd name="connsiteX745" fmla="*/ 140080 w 4694357"/>
              <a:gd name="connsiteY745" fmla="*/ 2674029 h 4717133"/>
              <a:gd name="connsiteX746" fmla="*/ 158302 w 4694357"/>
              <a:gd name="connsiteY746" fmla="*/ 2692251 h 4717133"/>
              <a:gd name="connsiteX747" fmla="*/ 140080 w 4694357"/>
              <a:gd name="connsiteY747" fmla="*/ 2710473 h 4717133"/>
              <a:gd name="connsiteX748" fmla="*/ 121858 w 4694357"/>
              <a:gd name="connsiteY748" fmla="*/ 2692251 h 4717133"/>
              <a:gd name="connsiteX749" fmla="*/ 140080 w 4694357"/>
              <a:gd name="connsiteY749" fmla="*/ 2674029 h 4717133"/>
              <a:gd name="connsiteX750" fmla="*/ 4558264 w 4694357"/>
              <a:gd name="connsiteY750" fmla="*/ 2668335 h 4717133"/>
              <a:gd name="connsiteX751" fmla="*/ 4580472 w 4694357"/>
              <a:gd name="connsiteY751" fmla="*/ 2691112 h 4717133"/>
              <a:gd name="connsiteX752" fmla="*/ 4558264 w 4694357"/>
              <a:gd name="connsiteY752" fmla="*/ 2713889 h 4717133"/>
              <a:gd name="connsiteX753" fmla="*/ 4536056 w 4694357"/>
              <a:gd name="connsiteY753" fmla="*/ 2691112 h 4717133"/>
              <a:gd name="connsiteX754" fmla="*/ 4558264 w 4694357"/>
              <a:gd name="connsiteY754" fmla="*/ 2668335 h 4717133"/>
              <a:gd name="connsiteX755" fmla="*/ 4337895 w 4694357"/>
              <a:gd name="connsiteY755" fmla="*/ 2664918 h 4717133"/>
              <a:gd name="connsiteX756" fmla="*/ 4364089 w 4694357"/>
              <a:gd name="connsiteY756" fmla="*/ 2690543 h 4717133"/>
              <a:gd name="connsiteX757" fmla="*/ 4337895 w 4694357"/>
              <a:gd name="connsiteY757" fmla="*/ 2716168 h 4717133"/>
              <a:gd name="connsiteX758" fmla="*/ 4311701 w 4694357"/>
              <a:gd name="connsiteY758" fmla="*/ 2690543 h 4717133"/>
              <a:gd name="connsiteX759" fmla="*/ 4337895 w 4694357"/>
              <a:gd name="connsiteY759" fmla="*/ 2664918 h 4717133"/>
              <a:gd name="connsiteX760" fmla="*/ 232327 w 4694357"/>
              <a:gd name="connsiteY760" fmla="*/ 2522561 h 4717133"/>
              <a:gd name="connsiteX761" fmla="*/ 235744 w 4694357"/>
              <a:gd name="connsiteY761" fmla="*/ 2525978 h 4717133"/>
              <a:gd name="connsiteX762" fmla="*/ 232327 w 4694357"/>
              <a:gd name="connsiteY762" fmla="*/ 2529395 h 4717133"/>
              <a:gd name="connsiteX763" fmla="*/ 228910 w 4694357"/>
              <a:gd name="connsiteY763" fmla="*/ 2525978 h 4717133"/>
              <a:gd name="connsiteX764" fmla="*/ 232327 w 4694357"/>
              <a:gd name="connsiteY764" fmla="*/ 2522561 h 4717133"/>
              <a:gd name="connsiteX765" fmla="*/ 4682968 w 4694357"/>
              <a:gd name="connsiteY765" fmla="*/ 2519145 h 4717133"/>
              <a:gd name="connsiteX766" fmla="*/ 4688663 w 4694357"/>
              <a:gd name="connsiteY766" fmla="*/ 2524840 h 4717133"/>
              <a:gd name="connsiteX767" fmla="*/ 4682968 w 4694357"/>
              <a:gd name="connsiteY767" fmla="*/ 2530535 h 4717133"/>
              <a:gd name="connsiteX768" fmla="*/ 4677273 w 4694357"/>
              <a:gd name="connsiteY768" fmla="*/ 2524840 h 4717133"/>
              <a:gd name="connsiteX769" fmla="*/ 4682968 w 4694357"/>
              <a:gd name="connsiteY769" fmla="*/ 2519145 h 4717133"/>
              <a:gd name="connsiteX770" fmla="*/ 339380 w 4694357"/>
              <a:gd name="connsiteY770" fmla="*/ 2519145 h 4717133"/>
              <a:gd name="connsiteX771" fmla="*/ 345075 w 4694357"/>
              <a:gd name="connsiteY771" fmla="*/ 2525409 h 4717133"/>
              <a:gd name="connsiteX772" fmla="*/ 339380 w 4694357"/>
              <a:gd name="connsiteY772" fmla="*/ 2531673 h 4717133"/>
              <a:gd name="connsiteX773" fmla="*/ 333685 w 4694357"/>
              <a:gd name="connsiteY773" fmla="*/ 2525409 h 4717133"/>
              <a:gd name="connsiteX774" fmla="*/ 339380 w 4694357"/>
              <a:gd name="connsiteY774" fmla="*/ 2519145 h 4717133"/>
              <a:gd name="connsiteX775" fmla="*/ 14806 w 4694357"/>
              <a:gd name="connsiteY775" fmla="*/ 2519145 h 4717133"/>
              <a:gd name="connsiteX776" fmla="*/ 22778 w 4694357"/>
              <a:gd name="connsiteY776" fmla="*/ 2526548 h 4717133"/>
              <a:gd name="connsiteX777" fmla="*/ 14806 w 4694357"/>
              <a:gd name="connsiteY777" fmla="*/ 2533951 h 4717133"/>
              <a:gd name="connsiteX778" fmla="*/ 6834 w 4694357"/>
              <a:gd name="connsiteY778" fmla="*/ 2526548 h 4717133"/>
              <a:gd name="connsiteX779" fmla="*/ 14806 w 4694357"/>
              <a:gd name="connsiteY779" fmla="*/ 2519145 h 4717133"/>
              <a:gd name="connsiteX780" fmla="*/ 4464877 w 4694357"/>
              <a:gd name="connsiteY780" fmla="*/ 2513451 h 4717133"/>
              <a:gd name="connsiteX781" fmla="*/ 4476835 w 4694357"/>
              <a:gd name="connsiteY781" fmla="*/ 2524840 h 4717133"/>
              <a:gd name="connsiteX782" fmla="*/ 4464877 w 4694357"/>
              <a:gd name="connsiteY782" fmla="*/ 2536229 h 4717133"/>
              <a:gd name="connsiteX783" fmla="*/ 4452919 w 4694357"/>
              <a:gd name="connsiteY783" fmla="*/ 2524840 h 4717133"/>
              <a:gd name="connsiteX784" fmla="*/ 4464877 w 4694357"/>
              <a:gd name="connsiteY784" fmla="*/ 2513451 h 4717133"/>
              <a:gd name="connsiteX785" fmla="*/ 121289 w 4694357"/>
              <a:gd name="connsiteY785" fmla="*/ 2508895 h 4717133"/>
              <a:gd name="connsiteX786" fmla="*/ 138942 w 4694357"/>
              <a:gd name="connsiteY786" fmla="*/ 2526548 h 4717133"/>
              <a:gd name="connsiteX787" fmla="*/ 121289 w 4694357"/>
              <a:gd name="connsiteY787" fmla="*/ 2544201 h 4717133"/>
              <a:gd name="connsiteX788" fmla="*/ 103636 w 4694357"/>
              <a:gd name="connsiteY788" fmla="*/ 2526548 h 4717133"/>
              <a:gd name="connsiteX789" fmla="*/ 121289 w 4694357"/>
              <a:gd name="connsiteY789" fmla="*/ 2508895 h 4717133"/>
              <a:gd name="connsiteX790" fmla="*/ 4576485 w 4694357"/>
              <a:gd name="connsiteY790" fmla="*/ 2503201 h 4717133"/>
              <a:gd name="connsiteX791" fmla="*/ 4597554 w 4694357"/>
              <a:gd name="connsiteY791" fmla="*/ 2524839 h 4717133"/>
              <a:gd name="connsiteX792" fmla="*/ 4576485 w 4694357"/>
              <a:gd name="connsiteY792" fmla="*/ 2546477 h 4717133"/>
              <a:gd name="connsiteX793" fmla="*/ 4555416 w 4694357"/>
              <a:gd name="connsiteY793" fmla="*/ 2524839 h 4717133"/>
              <a:gd name="connsiteX794" fmla="*/ 4576485 w 4694357"/>
              <a:gd name="connsiteY794" fmla="*/ 2503201 h 4717133"/>
              <a:gd name="connsiteX795" fmla="*/ 4358394 w 4694357"/>
              <a:gd name="connsiteY795" fmla="*/ 2498645 h 4717133"/>
              <a:gd name="connsiteX796" fmla="*/ 4384588 w 4694357"/>
              <a:gd name="connsiteY796" fmla="*/ 2525408 h 4717133"/>
              <a:gd name="connsiteX797" fmla="*/ 4358394 w 4694357"/>
              <a:gd name="connsiteY797" fmla="*/ 2552171 h 4717133"/>
              <a:gd name="connsiteX798" fmla="*/ 4332200 w 4694357"/>
              <a:gd name="connsiteY798" fmla="*/ 2525408 h 4717133"/>
              <a:gd name="connsiteX799" fmla="*/ 4358394 w 4694357"/>
              <a:gd name="connsiteY799" fmla="*/ 2498645 h 4717133"/>
              <a:gd name="connsiteX800" fmla="*/ 226064 w 4694357"/>
              <a:gd name="connsiteY800" fmla="*/ 2357427 h 4717133"/>
              <a:gd name="connsiteX801" fmla="*/ 227773 w 4694357"/>
              <a:gd name="connsiteY801" fmla="*/ 2359136 h 4717133"/>
              <a:gd name="connsiteX802" fmla="*/ 226064 w 4694357"/>
              <a:gd name="connsiteY802" fmla="*/ 2360845 h 4717133"/>
              <a:gd name="connsiteX803" fmla="*/ 224355 w 4694357"/>
              <a:gd name="connsiteY803" fmla="*/ 2359136 h 4717133"/>
              <a:gd name="connsiteX804" fmla="*/ 226064 w 4694357"/>
              <a:gd name="connsiteY804" fmla="*/ 2357427 h 4717133"/>
              <a:gd name="connsiteX805" fmla="*/ 332546 w 4694357"/>
              <a:gd name="connsiteY805" fmla="*/ 2352872 h 4717133"/>
              <a:gd name="connsiteX806" fmla="*/ 339379 w 4694357"/>
              <a:gd name="connsiteY806" fmla="*/ 2359705 h 4717133"/>
              <a:gd name="connsiteX807" fmla="*/ 332546 w 4694357"/>
              <a:gd name="connsiteY807" fmla="*/ 2366538 h 4717133"/>
              <a:gd name="connsiteX808" fmla="*/ 325713 w 4694357"/>
              <a:gd name="connsiteY808" fmla="*/ 2359705 h 4717133"/>
              <a:gd name="connsiteX809" fmla="*/ 332546 w 4694357"/>
              <a:gd name="connsiteY809" fmla="*/ 2352872 h 4717133"/>
              <a:gd name="connsiteX810" fmla="*/ 4688662 w 4694357"/>
              <a:gd name="connsiteY810" fmla="*/ 2351733 h 4717133"/>
              <a:gd name="connsiteX811" fmla="*/ 4694357 w 4694357"/>
              <a:gd name="connsiteY811" fmla="*/ 2357997 h 4717133"/>
              <a:gd name="connsiteX812" fmla="*/ 4688662 w 4694357"/>
              <a:gd name="connsiteY812" fmla="*/ 2364261 h 4717133"/>
              <a:gd name="connsiteX813" fmla="*/ 4682967 w 4694357"/>
              <a:gd name="connsiteY813" fmla="*/ 2357997 h 4717133"/>
              <a:gd name="connsiteX814" fmla="*/ 4688662 w 4694357"/>
              <a:gd name="connsiteY814" fmla="*/ 2351733 h 4717133"/>
              <a:gd name="connsiteX815" fmla="*/ 8542 w 4694357"/>
              <a:gd name="connsiteY815" fmla="*/ 2350594 h 4717133"/>
              <a:gd name="connsiteX816" fmla="*/ 17084 w 4694357"/>
              <a:gd name="connsiteY816" fmla="*/ 2359705 h 4717133"/>
              <a:gd name="connsiteX817" fmla="*/ 8542 w 4694357"/>
              <a:gd name="connsiteY817" fmla="*/ 2368816 h 4717133"/>
              <a:gd name="connsiteX818" fmla="*/ 0 w 4694357"/>
              <a:gd name="connsiteY818" fmla="*/ 2359705 h 4717133"/>
              <a:gd name="connsiteX819" fmla="*/ 8542 w 4694357"/>
              <a:gd name="connsiteY819" fmla="*/ 2350594 h 4717133"/>
              <a:gd name="connsiteX820" fmla="*/ 4471711 w 4694357"/>
              <a:gd name="connsiteY820" fmla="*/ 2346039 h 4717133"/>
              <a:gd name="connsiteX821" fmla="*/ 4484808 w 4694357"/>
              <a:gd name="connsiteY821" fmla="*/ 2358567 h 4717133"/>
              <a:gd name="connsiteX822" fmla="*/ 4471711 w 4694357"/>
              <a:gd name="connsiteY822" fmla="*/ 2371095 h 4717133"/>
              <a:gd name="connsiteX823" fmla="*/ 4458614 w 4694357"/>
              <a:gd name="connsiteY823" fmla="*/ 2358567 h 4717133"/>
              <a:gd name="connsiteX824" fmla="*/ 4471711 w 4694357"/>
              <a:gd name="connsiteY824" fmla="*/ 2346039 h 4717133"/>
              <a:gd name="connsiteX825" fmla="*/ 115595 w 4694357"/>
              <a:gd name="connsiteY825" fmla="*/ 2341483 h 4717133"/>
              <a:gd name="connsiteX826" fmla="*/ 133248 w 4694357"/>
              <a:gd name="connsiteY826" fmla="*/ 2359136 h 4717133"/>
              <a:gd name="connsiteX827" fmla="*/ 115595 w 4694357"/>
              <a:gd name="connsiteY827" fmla="*/ 2376789 h 4717133"/>
              <a:gd name="connsiteX828" fmla="*/ 97942 w 4694357"/>
              <a:gd name="connsiteY828" fmla="*/ 2359136 h 4717133"/>
              <a:gd name="connsiteX829" fmla="*/ 115595 w 4694357"/>
              <a:gd name="connsiteY829" fmla="*/ 2341483 h 4717133"/>
              <a:gd name="connsiteX830" fmla="*/ 4582179 w 4694357"/>
              <a:gd name="connsiteY830" fmla="*/ 2336928 h 4717133"/>
              <a:gd name="connsiteX831" fmla="*/ 4603248 w 4694357"/>
              <a:gd name="connsiteY831" fmla="*/ 2357997 h 4717133"/>
              <a:gd name="connsiteX832" fmla="*/ 4582179 w 4694357"/>
              <a:gd name="connsiteY832" fmla="*/ 2379066 h 4717133"/>
              <a:gd name="connsiteX833" fmla="*/ 4561110 w 4694357"/>
              <a:gd name="connsiteY833" fmla="*/ 2357997 h 4717133"/>
              <a:gd name="connsiteX834" fmla="*/ 4582179 w 4694357"/>
              <a:gd name="connsiteY834" fmla="*/ 2336928 h 4717133"/>
              <a:gd name="connsiteX835" fmla="*/ 4365228 w 4694357"/>
              <a:gd name="connsiteY835" fmla="*/ 2331234 h 4717133"/>
              <a:gd name="connsiteX836" fmla="*/ 4392561 w 4694357"/>
              <a:gd name="connsiteY836" fmla="*/ 2358567 h 4717133"/>
              <a:gd name="connsiteX837" fmla="*/ 4365228 w 4694357"/>
              <a:gd name="connsiteY837" fmla="*/ 2385900 h 4717133"/>
              <a:gd name="connsiteX838" fmla="*/ 4337895 w 4694357"/>
              <a:gd name="connsiteY838" fmla="*/ 2358567 h 4717133"/>
              <a:gd name="connsiteX839" fmla="*/ 4365228 w 4694357"/>
              <a:gd name="connsiteY839" fmla="*/ 2331234 h 4717133"/>
              <a:gd name="connsiteX840" fmla="*/ 232897 w 4694357"/>
              <a:gd name="connsiteY840" fmla="*/ 2191155 h 4717133"/>
              <a:gd name="connsiteX841" fmla="*/ 234606 w 4694357"/>
              <a:gd name="connsiteY841" fmla="*/ 2192864 h 4717133"/>
              <a:gd name="connsiteX842" fmla="*/ 232897 w 4694357"/>
              <a:gd name="connsiteY842" fmla="*/ 2194573 h 4717133"/>
              <a:gd name="connsiteX843" fmla="*/ 231188 w 4694357"/>
              <a:gd name="connsiteY843" fmla="*/ 2192864 h 4717133"/>
              <a:gd name="connsiteX844" fmla="*/ 232897 w 4694357"/>
              <a:gd name="connsiteY844" fmla="*/ 2191155 h 4717133"/>
              <a:gd name="connsiteX845" fmla="*/ 339379 w 4694357"/>
              <a:gd name="connsiteY845" fmla="*/ 2185461 h 4717133"/>
              <a:gd name="connsiteX846" fmla="*/ 347351 w 4694357"/>
              <a:gd name="connsiteY846" fmla="*/ 2192864 h 4717133"/>
              <a:gd name="connsiteX847" fmla="*/ 339379 w 4694357"/>
              <a:gd name="connsiteY847" fmla="*/ 2200267 h 4717133"/>
              <a:gd name="connsiteX848" fmla="*/ 331407 w 4694357"/>
              <a:gd name="connsiteY848" fmla="*/ 2192864 h 4717133"/>
              <a:gd name="connsiteX849" fmla="*/ 339379 w 4694357"/>
              <a:gd name="connsiteY849" fmla="*/ 2185461 h 4717133"/>
              <a:gd name="connsiteX850" fmla="*/ 4682968 w 4694357"/>
              <a:gd name="connsiteY850" fmla="*/ 2184322 h 4717133"/>
              <a:gd name="connsiteX851" fmla="*/ 4690940 w 4694357"/>
              <a:gd name="connsiteY851" fmla="*/ 2191155 h 4717133"/>
              <a:gd name="connsiteX852" fmla="*/ 4682968 w 4694357"/>
              <a:gd name="connsiteY852" fmla="*/ 2197988 h 4717133"/>
              <a:gd name="connsiteX853" fmla="*/ 4674996 w 4694357"/>
              <a:gd name="connsiteY853" fmla="*/ 2191155 h 4717133"/>
              <a:gd name="connsiteX854" fmla="*/ 4682968 w 4694357"/>
              <a:gd name="connsiteY854" fmla="*/ 2184322 h 4717133"/>
              <a:gd name="connsiteX855" fmla="*/ 14237 w 4694357"/>
              <a:gd name="connsiteY855" fmla="*/ 2183183 h 4717133"/>
              <a:gd name="connsiteX856" fmla="*/ 23918 w 4694357"/>
              <a:gd name="connsiteY856" fmla="*/ 2192864 h 4717133"/>
              <a:gd name="connsiteX857" fmla="*/ 14237 w 4694357"/>
              <a:gd name="connsiteY857" fmla="*/ 2202545 h 4717133"/>
              <a:gd name="connsiteX858" fmla="*/ 4556 w 4694357"/>
              <a:gd name="connsiteY858" fmla="*/ 2192864 h 4717133"/>
              <a:gd name="connsiteX859" fmla="*/ 14237 w 4694357"/>
              <a:gd name="connsiteY859" fmla="*/ 2183183 h 4717133"/>
              <a:gd name="connsiteX860" fmla="*/ 121289 w 4694357"/>
              <a:gd name="connsiteY860" fmla="*/ 2178628 h 4717133"/>
              <a:gd name="connsiteX861" fmla="*/ 135525 w 4694357"/>
              <a:gd name="connsiteY861" fmla="*/ 2192864 h 4717133"/>
              <a:gd name="connsiteX862" fmla="*/ 121289 w 4694357"/>
              <a:gd name="connsiteY862" fmla="*/ 2207100 h 4717133"/>
              <a:gd name="connsiteX863" fmla="*/ 107053 w 4694357"/>
              <a:gd name="connsiteY863" fmla="*/ 2192864 h 4717133"/>
              <a:gd name="connsiteX864" fmla="*/ 121289 w 4694357"/>
              <a:gd name="connsiteY864" fmla="*/ 2178628 h 4717133"/>
              <a:gd name="connsiteX865" fmla="*/ 4464878 w 4694357"/>
              <a:gd name="connsiteY865" fmla="*/ 2176350 h 4717133"/>
              <a:gd name="connsiteX866" fmla="*/ 4480253 w 4694357"/>
              <a:gd name="connsiteY866" fmla="*/ 2191725 h 4717133"/>
              <a:gd name="connsiteX867" fmla="*/ 4464878 w 4694357"/>
              <a:gd name="connsiteY867" fmla="*/ 2207100 h 4717133"/>
              <a:gd name="connsiteX868" fmla="*/ 4449503 w 4694357"/>
              <a:gd name="connsiteY868" fmla="*/ 2191725 h 4717133"/>
              <a:gd name="connsiteX869" fmla="*/ 4464878 w 4694357"/>
              <a:gd name="connsiteY869" fmla="*/ 2176350 h 4717133"/>
              <a:gd name="connsiteX870" fmla="*/ 4576485 w 4694357"/>
              <a:gd name="connsiteY870" fmla="*/ 2170655 h 4717133"/>
              <a:gd name="connsiteX871" fmla="*/ 4597554 w 4694357"/>
              <a:gd name="connsiteY871" fmla="*/ 2191724 h 4717133"/>
              <a:gd name="connsiteX872" fmla="*/ 4576485 w 4694357"/>
              <a:gd name="connsiteY872" fmla="*/ 2212793 h 4717133"/>
              <a:gd name="connsiteX873" fmla="*/ 4555416 w 4694357"/>
              <a:gd name="connsiteY873" fmla="*/ 2191724 h 4717133"/>
              <a:gd name="connsiteX874" fmla="*/ 4576485 w 4694357"/>
              <a:gd name="connsiteY874" fmla="*/ 2170655 h 4717133"/>
              <a:gd name="connsiteX875" fmla="*/ 4358395 w 4694357"/>
              <a:gd name="connsiteY875" fmla="*/ 2163822 h 4717133"/>
              <a:gd name="connsiteX876" fmla="*/ 4386867 w 4694357"/>
              <a:gd name="connsiteY876" fmla="*/ 2191724 h 4717133"/>
              <a:gd name="connsiteX877" fmla="*/ 4358395 w 4694357"/>
              <a:gd name="connsiteY877" fmla="*/ 2219626 h 4717133"/>
              <a:gd name="connsiteX878" fmla="*/ 4329923 w 4694357"/>
              <a:gd name="connsiteY878" fmla="*/ 2191724 h 4717133"/>
              <a:gd name="connsiteX879" fmla="*/ 4358395 w 4694357"/>
              <a:gd name="connsiteY879" fmla="*/ 2163822 h 4717133"/>
              <a:gd name="connsiteX880" fmla="*/ 251688 w 4694357"/>
              <a:gd name="connsiteY880" fmla="*/ 2026021 h 4717133"/>
              <a:gd name="connsiteX881" fmla="*/ 253966 w 4694357"/>
              <a:gd name="connsiteY881" fmla="*/ 2027730 h 4717133"/>
              <a:gd name="connsiteX882" fmla="*/ 251688 w 4694357"/>
              <a:gd name="connsiteY882" fmla="*/ 2029439 h 4717133"/>
              <a:gd name="connsiteX883" fmla="*/ 249410 w 4694357"/>
              <a:gd name="connsiteY883" fmla="*/ 2027730 h 4717133"/>
              <a:gd name="connsiteX884" fmla="*/ 251688 w 4694357"/>
              <a:gd name="connsiteY884" fmla="*/ 2026021 h 4717133"/>
              <a:gd name="connsiteX885" fmla="*/ 359879 w 4694357"/>
              <a:gd name="connsiteY885" fmla="*/ 2020327 h 4717133"/>
              <a:gd name="connsiteX886" fmla="*/ 367851 w 4694357"/>
              <a:gd name="connsiteY886" fmla="*/ 2028299 h 4717133"/>
              <a:gd name="connsiteX887" fmla="*/ 359879 w 4694357"/>
              <a:gd name="connsiteY887" fmla="*/ 2036271 h 4717133"/>
              <a:gd name="connsiteX888" fmla="*/ 351907 w 4694357"/>
              <a:gd name="connsiteY888" fmla="*/ 2028299 h 4717133"/>
              <a:gd name="connsiteX889" fmla="*/ 359879 w 4694357"/>
              <a:gd name="connsiteY889" fmla="*/ 2020327 h 4717133"/>
              <a:gd name="connsiteX890" fmla="*/ 4664746 w 4694357"/>
              <a:gd name="connsiteY890" fmla="*/ 2016910 h 4717133"/>
              <a:gd name="connsiteX891" fmla="*/ 4673857 w 4694357"/>
              <a:gd name="connsiteY891" fmla="*/ 2025452 h 4717133"/>
              <a:gd name="connsiteX892" fmla="*/ 4664746 w 4694357"/>
              <a:gd name="connsiteY892" fmla="*/ 2033994 h 4717133"/>
              <a:gd name="connsiteX893" fmla="*/ 4655635 w 4694357"/>
              <a:gd name="connsiteY893" fmla="*/ 2025452 h 4717133"/>
              <a:gd name="connsiteX894" fmla="*/ 4664746 w 4694357"/>
              <a:gd name="connsiteY894" fmla="*/ 2016910 h 4717133"/>
              <a:gd name="connsiteX895" fmla="*/ 32459 w 4694357"/>
              <a:gd name="connsiteY895" fmla="*/ 2016910 h 4717133"/>
              <a:gd name="connsiteX896" fmla="*/ 43279 w 4694357"/>
              <a:gd name="connsiteY896" fmla="*/ 2027160 h 4717133"/>
              <a:gd name="connsiteX897" fmla="*/ 32459 w 4694357"/>
              <a:gd name="connsiteY897" fmla="*/ 2037410 h 4717133"/>
              <a:gd name="connsiteX898" fmla="*/ 21639 w 4694357"/>
              <a:gd name="connsiteY898" fmla="*/ 2027160 h 4717133"/>
              <a:gd name="connsiteX899" fmla="*/ 32459 w 4694357"/>
              <a:gd name="connsiteY899" fmla="*/ 2016910 h 4717133"/>
              <a:gd name="connsiteX900" fmla="*/ 139511 w 4694357"/>
              <a:gd name="connsiteY900" fmla="*/ 2011216 h 4717133"/>
              <a:gd name="connsiteX901" fmla="*/ 154886 w 4694357"/>
              <a:gd name="connsiteY901" fmla="*/ 2026591 h 4717133"/>
              <a:gd name="connsiteX902" fmla="*/ 139511 w 4694357"/>
              <a:gd name="connsiteY902" fmla="*/ 2041966 h 4717133"/>
              <a:gd name="connsiteX903" fmla="*/ 124136 w 4694357"/>
              <a:gd name="connsiteY903" fmla="*/ 2026591 h 4717133"/>
              <a:gd name="connsiteX904" fmla="*/ 139511 w 4694357"/>
              <a:gd name="connsiteY904" fmla="*/ 2011216 h 4717133"/>
              <a:gd name="connsiteX905" fmla="*/ 4445517 w 4694357"/>
              <a:gd name="connsiteY905" fmla="*/ 2005522 h 4717133"/>
              <a:gd name="connsiteX906" fmla="*/ 4466586 w 4694357"/>
              <a:gd name="connsiteY906" fmla="*/ 2026591 h 4717133"/>
              <a:gd name="connsiteX907" fmla="*/ 4445517 w 4694357"/>
              <a:gd name="connsiteY907" fmla="*/ 2047660 h 4717133"/>
              <a:gd name="connsiteX908" fmla="*/ 4424448 w 4694357"/>
              <a:gd name="connsiteY908" fmla="*/ 2026591 h 4717133"/>
              <a:gd name="connsiteX909" fmla="*/ 4445517 w 4694357"/>
              <a:gd name="connsiteY909" fmla="*/ 2005522 h 4717133"/>
              <a:gd name="connsiteX910" fmla="*/ 4557694 w 4694357"/>
              <a:gd name="connsiteY910" fmla="*/ 2004383 h 4717133"/>
              <a:gd name="connsiteX911" fmla="*/ 4579332 w 4694357"/>
              <a:gd name="connsiteY911" fmla="*/ 2026021 h 4717133"/>
              <a:gd name="connsiteX912" fmla="*/ 4557694 w 4694357"/>
              <a:gd name="connsiteY912" fmla="*/ 2047659 h 4717133"/>
              <a:gd name="connsiteX913" fmla="*/ 4536056 w 4694357"/>
              <a:gd name="connsiteY913" fmla="*/ 2026021 h 4717133"/>
              <a:gd name="connsiteX914" fmla="*/ 4557694 w 4694357"/>
              <a:gd name="connsiteY914" fmla="*/ 2004383 h 4717133"/>
              <a:gd name="connsiteX915" fmla="*/ 4337895 w 4694357"/>
              <a:gd name="connsiteY915" fmla="*/ 1998689 h 4717133"/>
              <a:gd name="connsiteX916" fmla="*/ 4366367 w 4694357"/>
              <a:gd name="connsiteY916" fmla="*/ 2027161 h 4717133"/>
              <a:gd name="connsiteX917" fmla="*/ 4337895 w 4694357"/>
              <a:gd name="connsiteY917" fmla="*/ 2055633 h 4717133"/>
              <a:gd name="connsiteX918" fmla="*/ 4309423 w 4694357"/>
              <a:gd name="connsiteY918" fmla="*/ 2027161 h 4717133"/>
              <a:gd name="connsiteX919" fmla="*/ 4337895 w 4694357"/>
              <a:gd name="connsiteY919" fmla="*/ 1998689 h 4717133"/>
              <a:gd name="connsiteX920" fmla="*/ 284714 w 4694357"/>
              <a:gd name="connsiteY920" fmla="*/ 1862026 h 4717133"/>
              <a:gd name="connsiteX921" fmla="*/ 286992 w 4694357"/>
              <a:gd name="connsiteY921" fmla="*/ 1864304 h 4717133"/>
              <a:gd name="connsiteX922" fmla="*/ 284714 w 4694357"/>
              <a:gd name="connsiteY922" fmla="*/ 1866582 h 4717133"/>
              <a:gd name="connsiteX923" fmla="*/ 282436 w 4694357"/>
              <a:gd name="connsiteY923" fmla="*/ 1864304 h 4717133"/>
              <a:gd name="connsiteX924" fmla="*/ 284714 w 4694357"/>
              <a:gd name="connsiteY924" fmla="*/ 1862026 h 4717133"/>
              <a:gd name="connsiteX925" fmla="*/ 394044 w 4694357"/>
              <a:gd name="connsiteY925" fmla="*/ 1856332 h 4717133"/>
              <a:gd name="connsiteX926" fmla="*/ 402016 w 4694357"/>
              <a:gd name="connsiteY926" fmla="*/ 1864874 h 4717133"/>
              <a:gd name="connsiteX927" fmla="*/ 394044 w 4694357"/>
              <a:gd name="connsiteY927" fmla="*/ 1873416 h 4717133"/>
              <a:gd name="connsiteX928" fmla="*/ 386072 w 4694357"/>
              <a:gd name="connsiteY928" fmla="*/ 1864874 h 4717133"/>
              <a:gd name="connsiteX929" fmla="*/ 394044 w 4694357"/>
              <a:gd name="connsiteY929" fmla="*/ 1856332 h 4717133"/>
              <a:gd name="connsiteX930" fmla="*/ 62069 w 4694357"/>
              <a:gd name="connsiteY930" fmla="*/ 1851776 h 4717133"/>
              <a:gd name="connsiteX931" fmla="*/ 72889 w 4694357"/>
              <a:gd name="connsiteY931" fmla="*/ 1862596 h 4717133"/>
              <a:gd name="connsiteX932" fmla="*/ 62069 w 4694357"/>
              <a:gd name="connsiteY932" fmla="*/ 1873416 h 4717133"/>
              <a:gd name="connsiteX933" fmla="*/ 51249 w 4694357"/>
              <a:gd name="connsiteY933" fmla="*/ 1862596 h 4717133"/>
              <a:gd name="connsiteX934" fmla="*/ 62069 w 4694357"/>
              <a:gd name="connsiteY934" fmla="*/ 1851776 h 4717133"/>
              <a:gd name="connsiteX935" fmla="*/ 4635136 w 4694357"/>
              <a:gd name="connsiteY935" fmla="*/ 1850638 h 4717133"/>
              <a:gd name="connsiteX936" fmla="*/ 4646525 w 4694357"/>
              <a:gd name="connsiteY936" fmla="*/ 1861458 h 4717133"/>
              <a:gd name="connsiteX937" fmla="*/ 4635136 w 4694357"/>
              <a:gd name="connsiteY937" fmla="*/ 1872278 h 4717133"/>
              <a:gd name="connsiteX938" fmla="*/ 4623747 w 4694357"/>
              <a:gd name="connsiteY938" fmla="*/ 1861458 h 4717133"/>
              <a:gd name="connsiteX939" fmla="*/ 4635136 w 4694357"/>
              <a:gd name="connsiteY939" fmla="*/ 1850638 h 4717133"/>
              <a:gd name="connsiteX940" fmla="*/ 170829 w 4694357"/>
              <a:gd name="connsiteY940" fmla="*/ 1846082 h 4717133"/>
              <a:gd name="connsiteX941" fmla="*/ 187912 w 4694357"/>
              <a:gd name="connsiteY941" fmla="*/ 1862596 h 4717133"/>
              <a:gd name="connsiteX942" fmla="*/ 170829 w 4694357"/>
              <a:gd name="connsiteY942" fmla="*/ 1879110 h 4717133"/>
              <a:gd name="connsiteX943" fmla="*/ 153746 w 4694357"/>
              <a:gd name="connsiteY943" fmla="*/ 1862596 h 4717133"/>
              <a:gd name="connsiteX944" fmla="*/ 170829 w 4694357"/>
              <a:gd name="connsiteY944" fmla="*/ 1846082 h 4717133"/>
              <a:gd name="connsiteX945" fmla="*/ 4526376 w 4694357"/>
              <a:gd name="connsiteY945" fmla="*/ 1840388 h 4717133"/>
              <a:gd name="connsiteX946" fmla="*/ 4548584 w 4694357"/>
              <a:gd name="connsiteY946" fmla="*/ 1862026 h 4717133"/>
              <a:gd name="connsiteX947" fmla="*/ 4526376 w 4694357"/>
              <a:gd name="connsiteY947" fmla="*/ 1883664 h 4717133"/>
              <a:gd name="connsiteX948" fmla="*/ 4504168 w 4694357"/>
              <a:gd name="connsiteY948" fmla="*/ 1862026 h 4717133"/>
              <a:gd name="connsiteX949" fmla="*/ 4526376 w 4694357"/>
              <a:gd name="connsiteY949" fmla="*/ 1840388 h 4717133"/>
              <a:gd name="connsiteX950" fmla="*/ 4303730 w 4694357"/>
              <a:gd name="connsiteY950" fmla="*/ 1836972 h 4717133"/>
              <a:gd name="connsiteX951" fmla="*/ 4331063 w 4694357"/>
              <a:gd name="connsiteY951" fmla="*/ 1864305 h 4717133"/>
              <a:gd name="connsiteX952" fmla="*/ 4303730 w 4694357"/>
              <a:gd name="connsiteY952" fmla="*/ 1891638 h 4717133"/>
              <a:gd name="connsiteX953" fmla="*/ 4276397 w 4694357"/>
              <a:gd name="connsiteY953" fmla="*/ 1864305 h 4717133"/>
              <a:gd name="connsiteX954" fmla="*/ 4303730 w 4694357"/>
              <a:gd name="connsiteY954" fmla="*/ 1836972 h 4717133"/>
              <a:gd name="connsiteX955" fmla="*/ 4413060 w 4694357"/>
              <a:gd name="connsiteY955" fmla="*/ 1835832 h 4717133"/>
              <a:gd name="connsiteX956" fmla="*/ 4441532 w 4694357"/>
              <a:gd name="connsiteY956" fmla="*/ 1863734 h 4717133"/>
              <a:gd name="connsiteX957" fmla="*/ 4413060 w 4694357"/>
              <a:gd name="connsiteY957" fmla="*/ 1891636 h 4717133"/>
              <a:gd name="connsiteX958" fmla="*/ 4384588 w 4694357"/>
              <a:gd name="connsiteY958" fmla="*/ 1863734 h 4717133"/>
              <a:gd name="connsiteX959" fmla="*/ 4413060 w 4694357"/>
              <a:gd name="connsiteY959" fmla="*/ 1835832 h 4717133"/>
              <a:gd name="connsiteX960" fmla="*/ 329700 w 4694357"/>
              <a:gd name="connsiteY960" fmla="*/ 1701448 h 4717133"/>
              <a:gd name="connsiteX961" fmla="*/ 332548 w 4694357"/>
              <a:gd name="connsiteY961" fmla="*/ 1704296 h 4717133"/>
              <a:gd name="connsiteX962" fmla="*/ 329700 w 4694357"/>
              <a:gd name="connsiteY962" fmla="*/ 1707144 h 4717133"/>
              <a:gd name="connsiteX963" fmla="*/ 326852 w 4694357"/>
              <a:gd name="connsiteY963" fmla="*/ 1704296 h 4717133"/>
              <a:gd name="connsiteX964" fmla="*/ 329700 w 4694357"/>
              <a:gd name="connsiteY964" fmla="*/ 1701448 h 4717133"/>
              <a:gd name="connsiteX965" fmla="*/ 441307 w 4694357"/>
              <a:gd name="connsiteY965" fmla="*/ 1696892 h 4717133"/>
              <a:gd name="connsiteX966" fmla="*/ 449849 w 4694357"/>
              <a:gd name="connsiteY966" fmla="*/ 1705434 h 4717133"/>
              <a:gd name="connsiteX967" fmla="*/ 441307 w 4694357"/>
              <a:gd name="connsiteY967" fmla="*/ 1713976 h 4717133"/>
              <a:gd name="connsiteX968" fmla="*/ 432765 w 4694357"/>
              <a:gd name="connsiteY968" fmla="*/ 1705434 h 4717133"/>
              <a:gd name="connsiteX969" fmla="*/ 441307 w 4694357"/>
              <a:gd name="connsiteY969" fmla="*/ 1696892 h 4717133"/>
              <a:gd name="connsiteX970" fmla="*/ 103637 w 4694357"/>
              <a:gd name="connsiteY970" fmla="*/ 1690059 h 4717133"/>
              <a:gd name="connsiteX971" fmla="*/ 115026 w 4694357"/>
              <a:gd name="connsiteY971" fmla="*/ 1700879 h 4717133"/>
              <a:gd name="connsiteX972" fmla="*/ 103637 w 4694357"/>
              <a:gd name="connsiteY972" fmla="*/ 1711699 h 4717133"/>
              <a:gd name="connsiteX973" fmla="*/ 92248 w 4694357"/>
              <a:gd name="connsiteY973" fmla="*/ 1700879 h 4717133"/>
              <a:gd name="connsiteX974" fmla="*/ 103637 w 4694357"/>
              <a:gd name="connsiteY974" fmla="*/ 1690059 h 4717133"/>
              <a:gd name="connsiteX975" fmla="*/ 4594137 w 4694357"/>
              <a:gd name="connsiteY975" fmla="*/ 1686643 h 4717133"/>
              <a:gd name="connsiteX976" fmla="*/ 4607803 w 4694357"/>
              <a:gd name="connsiteY976" fmla="*/ 1699740 h 4717133"/>
              <a:gd name="connsiteX977" fmla="*/ 4594137 w 4694357"/>
              <a:gd name="connsiteY977" fmla="*/ 1712837 h 4717133"/>
              <a:gd name="connsiteX978" fmla="*/ 4580471 w 4694357"/>
              <a:gd name="connsiteY978" fmla="*/ 1699740 h 4717133"/>
              <a:gd name="connsiteX979" fmla="*/ 4594137 w 4694357"/>
              <a:gd name="connsiteY979" fmla="*/ 1686643 h 4717133"/>
              <a:gd name="connsiteX980" fmla="*/ 214106 w 4694357"/>
              <a:gd name="connsiteY980" fmla="*/ 1682087 h 4717133"/>
              <a:gd name="connsiteX981" fmla="*/ 233467 w 4694357"/>
              <a:gd name="connsiteY981" fmla="*/ 1701448 h 4717133"/>
              <a:gd name="connsiteX982" fmla="*/ 214106 w 4694357"/>
              <a:gd name="connsiteY982" fmla="*/ 1720809 h 4717133"/>
              <a:gd name="connsiteX983" fmla="*/ 194745 w 4694357"/>
              <a:gd name="connsiteY983" fmla="*/ 1701448 h 4717133"/>
              <a:gd name="connsiteX984" fmla="*/ 214106 w 4694357"/>
              <a:gd name="connsiteY984" fmla="*/ 1682087 h 4717133"/>
              <a:gd name="connsiteX985" fmla="*/ 4483099 w 4694357"/>
              <a:gd name="connsiteY985" fmla="*/ 1678670 h 4717133"/>
              <a:gd name="connsiteX986" fmla="*/ 4505307 w 4694357"/>
              <a:gd name="connsiteY986" fmla="*/ 1700878 h 4717133"/>
              <a:gd name="connsiteX987" fmla="*/ 4483099 w 4694357"/>
              <a:gd name="connsiteY987" fmla="*/ 1723086 h 4717133"/>
              <a:gd name="connsiteX988" fmla="*/ 4460891 w 4694357"/>
              <a:gd name="connsiteY988" fmla="*/ 1700878 h 4717133"/>
              <a:gd name="connsiteX989" fmla="*/ 4483099 w 4694357"/>
              <a:gd name="connsiteY989" fmla="*/ 1678670 h 4717133"/>
              <a:gd name="connsiteX990" fmla="*/ 4255898 w 4694357"/>
              <a:gd name="connsiteY990" fmla="*/ 1677532 h 4717133"/>
              <a:gd name="connsiteX991" fmla="*/ 4283231 w 4694357"/>
              <a:gd name="connsiteY991" fmla="*/ 1704865 h 4717133"/>
              <a:gd name="connsiteX992" fmla="*/ 4255898 w 4694357"/>
              <a:gd name="connsiteY992" fmla="*/ 1732198 h 4717133"/>
              <a:gd name="connsiteX993" fmla="*/ 4228565 w 4694357"/>
              <a:gd name="connsiteY993" fmla="*/ 1704865 h 4717133"/>
              <a:gd name="connsiteX994" fmla="*/ 4255898 w 4694357"/>
              <a:gd name="connsiteY994" fmla="*/ 1677532 h 4717133"/>
              <a:gd name="connsiteX995" fmla="*/ 4367506 w 4694357"/>
              <a:gd name="connsiteY995" fmla="*/ 1669560 h 4717133"/>
              <a:gd name="connsiteX996" fmla="*/ 4401672 w 4694357"/>
              <a:gd name="connsiteY996" fmla="*/ 1703157 h 4717133"/>
              <a:gd name="connsiteX997" fmla="*/ 4367506 w 4694357"/>
              <a:gd name="connsiteY997" fmla="*/ 1736754 h 4717133"/>
              <a:gd name="connsiteX998" fmla="*/ 4333340 w 4694357"/>
              <a:gd name="connsiteY998" fmla="*/ 1703157 h 4717133"/>
              <a:gd name="connsiteX999" fmla="*/ 4367506 w 4694357"/>
              <a:gd name="connsiteY999" fmla="*/ 1669560 h 4717133"/>
              <a:gd name="connsiteX1000" fmla="*/ 387781 w 4694357"/>
              <a:gd name="connsiteY1000" fmla="*/ 1545425 h 4717133"/>
              <a:gd name="connsiteX1001" fmla="*/ 390629 w 4694357"/>
              <a:gd name="connsiteY1001" fmla="*/ 1548273 h 4717133"/>
              <a:gd name="connsiteX1002" fmla="*/ 387781 w 4694357"/>
              <a:gd name="connsiteY1002" fmla="*/ 1551121 h 4717133"/>
              <a:gd name="connsiteX1003" fmla="*/ 384933 w 4694357"/>
              <a:gd name="connsiteY1003" fmla="*/ 1548273 h 4717133"/>
              <a:gd name="connsiteX1004" fmla="*/ 387781 w 4694357"/>
              <a:gd name="connsiteY1004" fmla="*/ 1545425 h 4717133"/>
              <a:gd name="connsiteX1005" fmla="*/ 502235 w 4694357"/>
              <a:gd name="connsiteY1005" fmla="*/ 1540870 h 4717133"/>
              <a:gd name="connsiteX1006" fmla="*/ 511346 w 4694357"/>
              <a:gd name="connsiteY1006" fmla="*/ 1549981 h 4717133"/>
              <a:gd name="connsiteX1007" fmla="*/ 502235 w 4694357"/>
              <a:gd name="connsiteY1007" fmla="*/ 1559092 h 4717133"/>
              <a:gd name="connsiteX1008" fmla="*/ 493124 w 4694357"/>
              <a:gd name="connsiteY1008" fmla="*/ 1549981 h 4717133"/>
              <a:gd name="connsiteX1009" fmla="*/ 502235 w 4694357"/>
              <a:gd name="connsiteY1009" fmla="*/ 1540870 h 4717133"/>
              <a:gd name="connsiteX1010" fmla="*/ 156024 w 4694357"/>
              <a:gd name="connsiteY1010" fmla="*/ 1530620 h 4717133"/>
              <a:gd name="connsiteX1011" fmla="*/ 168552 w 4694357"/>
              <a:gd name="connsiteY1011" fmla="*/ 1542578 h 4717133"/>
              <a:gd name="connsiteX1012" fmla="*/ 156024 w 4694357"/>
              <a:gd name="connsiteY1012" fmla="*/ 1554536 h 4717133"/>
              <a:gd name="connsiteX1013" fmla="*/ 143496 w 4694357"/>
              <a:gd name="connsiteY1013" fmla="*/ 1542578 h 4717133"/>
              <a:gd name="connsiteX1014" fmla="*/ 156024 w 4694357"/>
              <a:gd name="connsiteY1014" fmla="*/ 1530620 h 4717133"/>
              <a:gd name="connsiteX1015" fmla="*/ 4541181 w 4694357"/>
              <a:gd name="connsiteY1015" fmla="*/ 1526064 h 4717133"/>
              <a:gd name="connsiteX1016" fmla="*/ 4556556 w 4694357"/>
              <a:gd name="connsiteY1016" fmla="*/ 1541439 h 4717133"/>
              <a:gd name="connsiteX1017" fmla="*/ 4541181 w 4694357"/>
              <a:gd name="connsiteY1017" fmla="*/ 1556814 h 4717133"/>
              <a:gd name="connsiteX1018" fmla="*/ 4525806 w 4694357"/>
              <a:gd name="connsiteY1018" fmla="*/ 1541439 h 4717133"/>
              <a:gd name="connsiteX1019" fmla="*/ 4541181 w 4694357"/>
              <a:gd name="connsiteY1019" fmla="*/ 1526064 h 4717133"/>
              <a:gd name="connsiteX1020" fmla="*/ 4195539 w 4694357"/>
              <a:gd name="connsiteY1020" fmla="*/ 1523786 h 4717133"/>
              <a:gd name="connsiteX1021" fmla="*/ 4221733 w 4694357"/>
              <a:gd name="connsiteY1021" fmla="*/ 1549980 h 4717133"/>
              <a:gd name="connsiteX1022" fmla="*/ 4195539 w 4694357"/>
              <a:gd name="connsiteY1022" fmla="*/ 1576174 h 4717133"/>
              <a:gd name="connsiteX1023" fmla="*/ 4169345 w 4694357"/>
              <a:gd name="connsiteY1023" fmla="*/ 1549980 h 4717133"/>
              <a:gd name="connsiteX1024" fmla="*/ 4195539 w 4694357"/>
              <a:gd name="connsiteY1024" fmla="*/ 1523786 h 4717133"/>
              <a:gd name="connsiteX1025" fmla="*/ 269340 w 4694357"/>
              <a:gd name="connsiteY1025" fmla="*/ 1522648 h 4717133"/>
              <a:gd name="connsiteX1026" fmla="*/ 290409 w 4694357"/>
              <a:gd name="connsiteY1026" fmla="*/ 1543717 h 4717133"/>
              <a:gd name="connsiteX1027" fmla="*/ 269340 w 4694357"/>
              <a:gd name="connsiteY1027" fmla="*/ 1564786 h 4717133"/>
              <a:gd name="connsiteX1028" fmla="*/ 248271 w 4694357"/>
              <a:gd name="connsiteY1028" fmla="*/ 1543717 h 4717133"/>
              <a:gd name="connsiteX1029" fmla="*/ 269340 w 4694357"/>
              <a:gd name="connsiteY1029" fmla="*/ 1522648 h 4717133"/>
              <a:gd name="connsiteX1030" fmla="*/ 4427864 w 4694357"/>
              <a:gd name="connsiteY1030" fmla="*/ 1521509 h 4717133"/>
              <a:gd name="connsiteX1031" fmla="*/ 4450641 w 4694357"/>
              <a:gd name="connsiteY1031" fmla="*/ 1543717 h 4717133"/>
              <a:gd name="connsiteX1032" fmla="*/ 4427864 w 4694357"/>
              <a:gd name="connsiteY1032" fmla="*/ 1565925 h 4717133"/>
              <a:gd name="connsiteX1033" fmla="*/ 4405087 w 4694357"/>
              <a:gd name="connsiteY1033" fmla="*/ 1543717 h 4717133"/>
              <a:gd name="connsiteX1034" fmla="*/ 4427864 w 4694357"/>
              <a:gd name="connsiteY1034" fmla="*/ 1521509 h 4717133"/>
              <a:gd name="connsiteX1035" fmla="*/ 4309993 w 4694357"/>
              <a:gd name="connsiteY1035" fmla="*/ 1511259 h 4717133"/>
              <a:gd name="connsiteX1036" fmla="*/ 4345867 w 4694357"/>
              <a:gd name="connsiteY1036" fmla="*/ 1547133 h 4717133"/>
              <a:gd name="connsiteX1037" fmla="*/ 4309993 w 4694357"/>
              <a:gd name="connsiteY1037" fmla="*/ 1583007 h 4717133"/>
              <a:gd name="connsiteX1038" fmla="*/ 4274119 w 4694357"/>
              <a:gd name="connsiteY1038" fmla="*/ 1547133 h 4717133"/>
              <a:gd name="connsiteX1039" fmla="*/ 4309993 w 4694357"/>
              <a:gd name="connsiteY1039" fmla="*/ 1511259 h 4717133"/>
              <a:gd name="connsiteX1040" fmla="*/ 457820 w 4694357"/>
              <a:gd name="connsiteY1040" fmla="*/ 1392819 h 4717133"/>
              <a:gd name="connsiteX1041" fmla="*/ 461237 w 4694357"/>
              <a:gd name="connsiteY1041" fmla="*/ 1396805 h 4717133"/>
              <a:gd name="connsiteX1042" fmla="*/ 457820 w 4694357"/>
              <a:gd name="connsiteY1042" fmla="*/ 1400791 h 4717133"/>
              <a:gd name="connsiteX1043" fmla="*/ 454403 w 4694357"/>
              <a:gd name="connsiteY1043" fmla="*/ 1396805 h 4717133"/>
              <a:gd name="connsiteX1044" fmla="*/ 457820 w 4694357"/>
              <a:gd name="connsiteY1044" fmla="*/ 1392819 h 4717133"/>
              <a:gd name="connsiteX1045" fmla="*/ 575692 w 4694357"/>
              <a:gd name="connsiteY1045" fmla="*/ 1391679 h 4717133"/>
              <a:gd name="connsiteX1046" fmla="*/ 585373 w 4694357"/>
              <a:gd name="connsiteY1046" fmla="*/ 1400790 h 4717133"/>
              <a:gd name="connsiteX1047" fmla="*/ 575692 w 4694357"/>
              <a:gd name="connsiteY1047" fmla="*/ 1409901 h 4717133"/>
              <a:gd name="connsiteX1048" fmla="*/ 566011 w 4694357"/>
              <a:gd name="connsiteY1048" fmla="*/ 1400790 h 4717133"/>
              <a:gd name="connsiteX1049" fmla="*/ 575692 w 4694357"/>
              <a:gd name="connsiteY1049" fmla="*/ 1391679 h 4717133"/>
              <a:gd name="connsiteX1050" fmla="*/ 219800 w 4694357"/>
              <a:gd name="connsiteY1050" fmla="*/ 1375735 h 4717133"/>
              <a:gd name="connsiteX1051" fmla="*/ 232328 w 4694357"/>
              <a:gd name="connsiteY1051" fmla="*/ 1388263 h 4717133"/>
              <a:gd name="connsiteX1052" fmla="*/ 219800 w 4694357"/>
              <a:gd name="connsiteY1052" fmla="*/ 1400791 h 4717133"/>
              <a:gd name="connsiteX1053" fmla="*/ 207272 w 4694357"/>
              <a:gd name="connsiteY1053" fmla="*/ 1388263 h 4717133"/>
              <a:gd name="connsiteX1054" fmla="*/ 219800 w 4694357"/>
              <a:gd name="connsiteY1054" fmla="*/ 1375735 h 4717133"/>
              <a:gd name="connsiteX1055" fmla="*/ 4122083 w 4694357"/>
              <a:gd name="connsiteY1055" fmla="*/ 1374597 h 4717133"/>
              <a:gd name="connsiteX1056" fmla="*/ 4147708 w 4694357"/>
              <a:gd name="connsiteY1056" fmla="*/ 1400222 h 4717133"/>
              <a:gd name="connsiteX1057" fmla="*/ 4122083 w 4694357"/>
              <a:gd name="connsiteY1057" fmla="*/ 1425847 h 4717133"/>
              <a:gd name="connsiteX1058" fmla="*/ 4096458 w 4694357"/>
              <a:gd name="connsiteY1058" fmla="*/ 1400222 h 4717133"/>
              <a:gd name="connsiteX1059" fmla="*/ 4122083 w 4694357"/>
              <a:gd name="connsiteY1059" fmla="*/ 1374597 h 4717133"/>
              <a:gd name="connsiteX1060" fmla="*/ 4477405 w 4694357"/>
              <a:gd name="connsiteY1060" fmla="*/ 1370041 h 4717133"/>
              <a:gd name="connsiteX1061" fmla="*/ 4495058 w 4694357"/>
              <a:gd name="connsiteY1061" fmla="*/ 1387694 h 4717133"/>
              <a:gd name="connsiteX1062" fmla="*/ 4477405 w 4694357"/>
              <a:gd name="connsiteY1062" fmla="*/ 1405347 h 4717133"/>
              <a:gd name="connsiteX1063" fmla="*/ 4459752 w 4694357"/>
              <a:gd name="connsiteY1063" fmla="*/ 1387694 h 4717133"/>
              <a:gd name="connsiteX1064" fmla="*/ 4477405 w 4694357"/>
              <a:gd name="connsiteY1064" fmla="*/ 1370041 h 4717133"/>
              <a:gd name="connsiteX1065" fmla="*/ 4360672 w 4694357"/>
              <a:gd name="connsiteY1065" fmla="*/ 1367764 h 4717133"/>
              <a:gd name="connsiteX1066" fmla="*/ 4383449 w 4694357"/>
              <a:gd name="connsiteY1066" fmla="*/ 1390541 h 4717133"/>
              <a:gd name="connsiteX1067" fmla="*/ 4360672 w 4694357"/>
              <a:gd name="connsiteY1067" fmla="*/ 1413318 h 4717133"/>
              <a:gd name="connsiteX1068" fmla="*/ 4337895 w 4694357"/>
              <a:gd name="connsiteY1068" fmla="*/ 1390541 h 4717133"/>
              <a:gd name="connsiteX1069" fmla="*/ 4360672 w 4694357"/>
              <a:gd name="connsiteY1069" fmla="*/ 1367764 h 4717133"/>
              <a:gd name="connsiteX1070" fmla="*/ 336533 w 4694357"/>
              <a:gd name="connsiteY1070" fmla="*/ 1367764 h 4717133"/>
              <a:gd name="connsiteX1071" fmla="*/ 359880 w 4694357"/>
              <a:gd name="connsiteY1071" fmla="*/ 1391111 h 4717133"/>
              <a:gd name="connsiteX1072" fmla="*/ 336533 w 4694357"/>
              <a:gd name="connsiteY1072" fmla="*/ 1414458 h 4717133"/>
              <a:gd name="connsiteX1073" fmla="*/ 313186 w 4694357"/>
              <a:gd name="connsiteY1073" fmla="*/ 1391111 h 4717133"/>
              <a:gd name="connsiteX1074" fmla="*/ 336533 w 4694357"/>
              <a:gd name="connsiteY1074" fmla="*/ 1367764 h 4717133"/>
              <a:gd name="connsiteX1075" fmla="*/ 4239954 w 4694357"/>
              <a:gd name="connsiteY1075" fmla="*/ 1359791 h 4717133"/>
              <a:gd name="connsiteX1076" fmla="*/ 4276398 w 4694357"/>
              <a:gd name="connsiteY1076" fmla="*/ 1395665 h 4717133"/>
              <a:gd name="connsiteX1077" fmla="*/ 4239954 w 4694357"/>
              <a:gd name="connsiteY1077" fmla="*/ 1431539 h 4717133"/>
              <a:gd name="connsiteX1078" fmla="*/ 4203510 w 4694357"/>
              <a:gd name="connsiteY1078" fmla="*/ 1395665 h 4717133"/>
              <a:gd name="connsiteX1079" fmla="*/ 4239954 w 4694357"/>
              <a:gd name="connsiteY1079" fmla="*/ 1359791 h 4717133"/>
              <a:gd name="connsiteX1080" fmla="*/ 661106 w 4694357"/>
              <a:gd name="connsiteY1080" fmla="*/ 1248184 h 4717133"/>
              <a:gd name="connsiteX1081" fmla="*/ 670787 w 4694357"/>
              <a:gd name="connsiteY1081" fmla="*/ 1257865 h 4717133"/>
              <a:gd name="connsiteX1082" fmla="*/ 661106 w 4694357"/>
              <a:gd name="connsiteY1082" fmla="*/ 1267546 h 4717133"/>
              <a:gd name="connsiteX1083" fmla="*/ 651425 w 4694357"/>
              <a:gd name="connsiteY1083" fmla="*/ 1257865 h 4717133"/>
              <a:gd name="connsiteX1084" fmla="*/ 661106 w 4694357"/>
              <a:gd name="connsiteY1084" fmla="*/ 1248184 h 4717133"/>
              <a:gd name="connsiteX1085" fmla="*/ 538679 w 4694357"/>
              <a:gd name="connsiteY1085" fmla="*/ 1247045 h 4717133"/>
              <a:gd name="connsiteX1086" fmla="*/ 543236 w 4694357"/>
              <a:gd name="connsiteY1086" fmla="*/ 1251601 h 4717133"/>
              <a:gd name="connsiteX1087" fmla="*/ 538679 w 4694357"/>
              <a:gd name="connsiteY1087" fmla="*/ 1256158 h 4717133"/>
              <a:gd name="connsiteX1088" fmla="*/ 534123 w 4694357"/>
              <a:gd name="connsiteY1088" fmla="*/ 1251601 h 4717133"/>
              <a:gd name="connsiteX1089" fmla="*/ 538679 w 4694357"/>
              <a:gd name="connsiteY1089" fmla="*/ 1247045 h 4717133"/>
              <a:gd name="connsiteX1090" fmla="*/ 4036099 w 4694357"/>
              <a:gd name="connsiteY1090" fmla="*/ 1232240 h 4717133"/>
              <a:gd name="connsiteX1091" fmla="*/ 4061154 w 4694357"/>
              <a:gd name="connsiteY1091" fmla="*/ 1257295 h 4717133"/>
              <a:gd name="connsiteX1092" fmla="*/ 4036099 w 4694357"/>
              <a:gd name="connsiteY1092" fmla="*/ 1282350 h 4717133"/>
              <a:gd name="connsiteX1093" fmla="*/ 4011044 w 4694357"/>
              <a:gd name="connsiteY1093" fmla="*/ 1257295 h 4717133"/>
              <a:gd name="connsiteX1094" fmla="*/ 4036099 w 4694357"/>
              <a:gd name="connsiteY1094" fmla="*/ 1232240 h 4717133"/>
              <a:gd name="connsiteX1095" fmla="*/ 295533 w 4694357"/>
              <a:gd name="connsiteY1095" fmla="*/ 1226546 h 4717133"/>
              <a:gd name="connsiteX1096" fmla="*/ 308630 w 4694357"/>
              <a:gd name="connsiteY1096" fmla="*/ 1239643 h 4717133"/>
              <a:gd name="connsiteX1097" fmla="*/ 295533 w 4694357"/>
              <a:gd name="connsiteY1097" fmla="*/ 1252740 h 4717133"/>
              <a:gd name="connsiteX1098" fmla="*/ 282436 w 4694357"/>
              <a:gd name="connsiteY1098" fmla="*/ 1239643 h 4717133"/>
              <a:gd name="connsiteX1099" fmla="*/ 295533 w 4694357"/>
              <a:gd name="connsiteY1099" fmla="*/ 1226546 h 4717133"/>
              <a:gd name="connsiteX1100" fmla="*/ 4282661 w 4694357"/>
              <a:gd name="connsiteY1100" fmla="*/ 1219713 h 4717133"/>
              <a:gd name="connsiteX1101" fmla="*/ 4306008 w 4694357"/>
              <a:gd name="connsiteY1101" fmla="*/ 1243060 h 4717133"/>
              <a:gd name="connsiteX1102" fmla="*/ 4282661 w 4694357"/>
              <a:gd name="connsiteY1102" fmla="*/ 1266407 h 4717133"/>
              <a:gd name="connsiteX1103" fmla="*/ 4259314 w 4694357"/>
              <a:gd name="connsiteY1103" fmla="*/ 1243060 h 4717133"/>
              <a:gd name="connsiteX1104" fmla="*/ 4282661 w 4694357"/>
              <a:gd name="connsiteY1104" fmla="*/ 1219713 h 4717133"/>
              <a:gd name="connsiteX1105" fmla="*/ 4402240 w 4694357"/>
              <a:gd name="connsiteY1105" fmla="*/ 1218574 h 4717133"/>
              <a:gd name="connsiteX1106" fmla="*/ 4422170 w 4694357"/>
              <a:gd name="connsiteY1106" fmla="*/ 1238504 h 4717133"/>
              <a:gd name="connsiteX1107" fmla="*/ 4402240 w 4694357"/>
              <a:gd name="connsiteY1107" fmla="*/ 1258434 h 4717133"/>
              <a:gd name="connsiteX1108" fmla="*/ 4382310 w 4694357"/>
              <a:gd name="connsiteY1108" fmla="*/ 1238504 h 4717133"/>
              <a:gd name="connsiteX1109" fmla="*/ 4402240 w 4694357"/>
              <a:gd name="connsiteY1109" fmla="*/ 1218574 h 4717133"/>
              <a:gd name="connsiteX1110" fmla="*/ 414543 w 4694357"/>
              <a:gd name="connsiteY1110" fmla="*/ 1218574 h 4717133"/>
              <a:gd name="connsiteX1111" fmla="*/ 439598 w 4694357"/>
              <a:gd name="connsiteY1111" fmla="*/ 1244199 h 4717133"/>
              <a:gd name="connsiteX1112" fmla="*/ 414543 w 4694357"/>
              <a:gd name="connsiteY1112" fmla="*/ 1269824 h 4717133"/>
              <a:gd name="connsiteX1113" fmla="*/ 389488 w 4694357"/>
              <a:gd name="connsiteY1113" fmla="*/ 1244199 h 4717133"/>
              <a:gd name="connsiteX1114" fmla="*/ 414543 w 4694357"/>
              <a:gd name="connsiteY1114" fmla="*/ 1218574 h 4717133"/>
              <a:gd name="connsiteX1115" fmla="*/ 4157957 w 4694357"/>
              <a:gd name="connsiteY1115" fmla="*/ 1215157 h 4717133"/>
              <a:gd name="connsiteX1116" fmla="*/ 4194401 w 4694357"/>
              <a:gd name="connsiteY1116" fmla="*/ 1251031 h 4717133"/>
              <a:gd name="connsiteX1117" fmla="*/ 4157957 w 4694357"/>
              <a:gd name="connsiteY1117" fmla="*/ 1286905 h 4717133"/>
              <a:gd name="connsiteX1118" fmla="*/ 4121513 w 4694357"/>
              <a:gd name="connsiteY1118" fmla="*/ 1251031 h 4717133"/>
              <a:gd name="connsiteX1119" fmla="*/ 4157957 w 4694357"/>
              <a:gd name="connsiteY1119" fmla="*/ 1215157 h 4717133"/>
              <a:gd name="connsiteX1120" fmla="*/ 758478 w 4694357"/>
              <a:gd name="connsiteY1120" fmla="*/ 1112661 h 4717133"/>
              <a:gd name="connsiteX1121" fmla="*/ 768728 w 4694357"/>
              <a:gd name="connsiteY1121" fmla="*/ 1122911 h 4717133"/>
              <a:gd name="connsiteX1122" fmla="*/ 758478 w 4694357"/>
              <a:gd name="connsiteY1122" fmla="*/ 1133161 h 4717133"/>
              <a:gd name="connsiteX1123" fmla="*/ 748228 w 4694357"/>
              <a:gd name="connsiteY1123" fmla="*/ 1122911 h 4717133"/>
              <a:gd name="connsiteX1124" fmla="*/ 758478 w 4694357"/>
              <a:gd name="connsiteY1124" fmla="*/ 1112661 h 4717133"/>
              <a:gd name="connsiteX1125" fmla="*/ 632065 w 4694357"/>
              <a:gd name="connsiteY1125" fmla="*/ 1108105 h 4717133"/>
              <a:gd name="connsiteX1126" fmla="*/ 637760 w 4694357"/>
              <a:gd name="connsiteY1126" fmla="*/ 1113800 h 4717133"/>
              <a:gd name="connsiteX1127" fmla="*/ 632065 w 4694357"/>
              <a:gd name="connsiteY1127" fmla="*/ 1119495 h 4717133"/>
              <a:gd name="connsiteX1128" fmla="*/ 626370 w 4694357"/>
              <a:gd name="connsiteY1128" fmla="*/ 1113800 h 4717133"/>
              <a:gd name="connsiteX1129" fmla="*/ 632065 w 4694357"/>
              <a:gd name="connsiteY1129" fmla="*/ 1108105 h 4717133"/>
              <a:gd name="connsiteX1130" fmla="*/ 3939296 w 4694357"/>
              <a:gd name="connsiteY1130" fmla="*/ 1097855 h 4717133"/>
              <a:gd name="connsiteX1131" fmla="*/ 3963212 w 4694357"/>
              <a:gd name="connsiteY1131" fmla="*/ 1121771 h 4717133"/>
              <a:gd name="connsiteX1132" fmla="*/ 3939296 w 4694357"/>
              <a:gd name="connsiteY1132" fmla="*/ 1145687 h 4717133"/>
              <a:gd name="connsiteX1133" fmla="*/ 3915380 w 4694357"/>
              <a:gd name="connsiteY1133" fmla="*/ 1121771 h 4717133"/>
              <a:gd name="connsiteX1134" fmla="*/ 3939296 w 4694357"/>
              <a:gd name="connsiteY1134" fmla="*/ 1097855 h 4717133"/>
              <a:gd name="connsiteX1135" fmla="*/ 380377 w 4694357"/>
              <a:gd name="connsiteY1135" fmla="*/ 1081911 h 4717133"/>
              <a:gd name="connsiteX1136" fmla="*/ 394043 w 4694357"/>
              <a:gd name="connsiteY1136" fmla="*/ 1095577 h 4717133"/>
              <a:gd name="connsiteX1137" fmla="*/ 380377 w 4694357"/>
              <a:gd name="connsiteY1137" fmla="*/ 1109243 h 4717133"/>
              <a:gd name="connsiteX1138" fmla="*/ 366711 w 4694357"/>
              <a:gd name="connsiteY1138" fmla="*/ 1095577 h 4717133"/>
              <a:gd name="connsiteX1139" fmla="*/ 380377 w 4694357"/>
              <a:gd name="connsiteY1139" fmla="*/ 1081911 h 4717133"/>
              <a:gd name="connsiteX1140" fmla="*/ 4193830 w 4694357"/>
              <a:gd name="connsiteY1140" fmla="*/ 1078495 h 4717133"/>
              <a:gd name="connsiteX1141" fmla="*/ 4217177 w 4694357"/>
              <a:gd name="connsiteY1141" fmla="*/ 1101842 h 4717133"/>
              <a:gd name="connsiteX1142" fmla="*/ 4193830 w 4694357"/>
              <a:gd name="connsiteY1142" fmla="*/ 1125189 h 4717133"/>
              <a:gd name="connsiteX1143" fmla="*/ 4170483 w 4694357"/>
              <a:gd name="connsiteY1143" fmla="*/ 1101842 h 4717133"/>
              <a:gd name="connsiteX1144" fmla="*/ 4193830 w 4694357"/>
              <a:gd name="connsiteY1144" fmla="*/ 1078495 h 4717133"/>
              <a:gd name="connsiteX1145" fmla="*/ 4065139 w 4694357"/>
              <a:gd name="connsiteY1145" fmla="*/ 1077356 h 4717133"/>
              <a:gd name="connsiteX1146" fmla="*/ 4101013 w 4694357"/>
              <a:gd name="connsiteY1146" fmla="*/ 1113230 h 4717133"/>
              <a:gd name="connsiteX1147" fmla="*/ 4065139 w 4694357"/>
              <a:gd name="connsiteY1147" fmla="*/ 1149104 h 4717133"/>
              <a:gd name="connsiteX1148" fmla="*/ 4029265 w 4694357"/>
              <a:gd name="connsiteY1148" fmla="*/ 1113230 h 4717133"/>
              <a:gd name="connsiteX1149" fmla="*/ 4065139 w 4694357"/>
              <a:gd name="connsiteY1149" fmla="*/ 1077356 h 4717133"/>
              <a:gd name="connsiteX1150" fmla="*/ 503944 w 4694357"/>
              <a:gd name="connsiteY1150" fmla="*/ 1076217 h 4717133"/>
              <a:gd name="connsiteX1151" fmla="*/ 530707 w 4694357"/>
              <a:gd name="connsiteY1151" fmla="*/ 1102980 h 4717133"/>
              <a:gd name="connsiteX1152" fmla="*/ 503944 w 4694357"/>
              <a:gd name="connsiteY1152" fmla="*/ 1129743 h 4717133"/>
              <a:gd name="connsiteX1153" fmla="*/ 477181 w 4694357"/>
              <a:gd name="connsiteY1153" fmla="*/ 1102980 h 4717133"/>
              <a:gd name="connsiteX1154" fmla="*/ 503944 w 4694357"/>
              <a:gd name="connsiteY1154" fmla="*/ 1076217 h 4717133"/>
              <a:gd name="connsiteX1155" fmla="*/ 4316257 w 4694357"/>
              <a:gd name="connsiteY1155" fmla="*/ 1072800 h 4717133"/>
              <a:gd name="connsiteX1156" fmla="*/ 4337895 w 4694357"/>
              <a:gd name="connsiteY1156" fmla="*/ 1094438 h 4717133"/>
              <a:gd name="connsiteX1157" fmla="*/ 4316257 w 4694357"/>
              <a:gd name="connsiteY1157" fmla="*/ 1116076 h 4717133"/>
              <a:gd name="connsiteX1158" fmla="*/ 4294619 w 4694357"/>
              <a:gd name="connsiteY1158" fmla="*/ 1094438 h 4717133"/>
              <a:gd name="connsiteX1159" fmla="*/ 4316257 w 4694357"/>
              <a:gd name="connsiteY1159" fmla="*/ 1072800 h 4717133"/>
              <a:gd name="connsiteX1160" fmla="*/ 866100 w 4694357"/>
              <a:gd name="connsiteY1160" fmla="*/ 985109 h 4717133"/>
              <a:gd name="connsiteX1161" fmla="*/ 876920 w 4694357"/>
              <a:gd name="connsiteY1161" fmla="*/ 995929 h 4717133"/>
              <a:gd name="connsiteX1162" fmla="*/ 866100 w 4694357"/>
              <a:gd name="connsiteY1162" fmla="*/ 1006749 h 4717133"/>
              <a:gd name="connsiteX1163" fmla="*/ 855280 w 4694357"/>
              <a:gd name="connsiteY1163" fmla="*/ 995929 h 4717133"/>
              <a:gd name="connsiteX1164" fmla="*/ 866100 w 4694357"/>
              <a:gd name="connsiteY1164" fmla="*/ 985109 h 4717133"/>
              <a:gd name="connsiteX1165" fmla="*/ 735700 w 4694357"/>
              <a:gd name="connsiteY1165" fmla="*/ 975998 h 4717133"/>
              <a:gd name="connsiteX1166" fmla="*/ 742533 w 4694357"/>
              <a:gd name="connsiteY1166" fmla="*/ 982831 h 4717133"/>
              <a:gd name="connsiteX1167" fmla="*/ 735700 w 4694357"/>
              <a:gd name="connsiteY1167" fmla="*/ 989664 h 4717133"/>
              <a:gd name="connsiteX1168" fmla="*/ 728867 w 4694357"/>
              <a:gd name="connsiteY1168" fmla="*/ 982831 h 4717133"/>
              <a:gd name="connsiteX1169" fmla="*/ 735700 w 4694357"/>
              <a:gd name="connsiteY1169" fmla="*/ 975998 h 4717133"/>
              <a:gd name="connsiteX1170" fmla="*/ 3831105 w 4694357"/>
              <a:gd name="connsiteY1170" fmla="*/ 971443 h 4717133"/>
              <a:gd name="connsiteX1171" fmla="*/ 3855021 w 4694357"/>
              <a:gd name="connsiteY1171" fmla="*/ 994790 h 4717133"/>
              <a:gd name="connsiteX1172" fmla="*/ 3831105 w 4694357"/>
              <a:gd name="connsiteY1172" fmla="*/ 1018137 h 4717133"/>
              <a:gd name="connsiteX1173" fmla="*/ 3807189 w 4694357"/>
              <a:gd name="connsiteY1173" fmla="*/ 994790 h 4717133"/>
              <a:gd name="connsiteX1174" fmla="*/ 3831105 w 4694357"/>
              <a:gd name="connsiteY1174" fmla="*/ 971443 h 4717133"/>
              <a:gd name="connsiteX1175" fmla="*/ 3961504 w 4694357"/>
              <a:gd name="connsiteY1175" fmla="*/ 946388 h 4717133"/>
              <a:gd name="connsiteX1176" fmla="*/ 3997378 w 4694357"/>
              <a:gd name="connsiteY1176" fmla="*/ 982262 h 4717133"/>
              <a:gd name="connsiteX1177" fmla="*/ 3961504 w 4694357"/>
              <a:gd name="connsiteY1177" fmla="*/ 1018136 h 4717133"/>
              <a:gd name="connsiteX1178" fmla="*/ 3925630 w 4694357"/>
              <a:gd name="connsiteY1178" fmla="*/ 982262 h 4717133"/>
              <a:gd name="connsiteX1179" fmla="*/ 3961504 w 4694357"/>
              <a:gd name="connsiteY1179" fmla="*/ 946388 h 4717133"/>
              <a:gd name="connsiteX1180" fmla="*/ 476042 w 4694357"/>
              <a:gd name="connsiteY1180" fmla="*/ 945249 h 4717133"/>
              <a:gd name="connsiteX1181" fmla="*/ 490847 w 4694357"/>
              <a:gd name="connsiteY1181" fmla="*/ 959485 h 4717133"/>
              <a:gd name="connsiteX1182" fmla="*/ 476042 w 4694357"/>
              <a:gd name="connsiteY1182" fmla="*/ 973721 h 4717133"/>
              <a:gd name="connsiteX1183" fmla="*/ 461237 w 4694357"/>
              <a:gd name="connsiteY1183" fmla="*/ 959485 h 4717133"/>
              <a:gd name="connsiteX1184" fmla="*/ 476042 w 4694357"/>
              <a:gd name="connsiteY1184" fmla="*/ 945249 h 4717133"/>
              <a:gd name="connsiteX1185" fmla="*/ 4094180 w 4694357"/>
              <a:gd name="connsiteY1185" fmla="*/ 944110 h 4717133"/>
              <a:gd name="connsiteX1186" fmla="*/ 4118096 w 4694357"/>
              <a:gd name="connsiteY1186" fmla="*/ 968026 h 4717133"/>
              <a:gd name="connsiteX1187" fmla="*/ 4094180 w 4694357"/>
              <a:gd name="connsiteY1187" fmla="*/ 991942 h 4717133"/>
              <a:gd name="connsiteX1188" fmla="*/ 4070264 w 4694357"/>
              <a:gd name="connsiteY1188" fmla="*/ 968026 h 4717133"/>
              <a:gd name="connsiteX1189" fmla="*/ 4094180 w 4694357"/>
              <a:gd name="connsiteY1189" fmla="*/ 944110 h 4717133"/>
              <a:gd name="connsiteX1190" fmla="*/ 602455 w 4694357"/>
              <a:gd name="connsiteY1190" fmla="*/ 941832 h 4717133"/>
              <a:gd name="connsiteX1191" fmla="*/ 629788 w 4694357"/>
              <a:gd name="connsiteY1191" fmla="*/ 969165 h 4717133"/>
              <a:gd name="connsiteX1192" fmla="*/ 602455 w 4694357"/>
              <a:gd name="connsiteY1192" fmla="*/ 996498 h 4717133"/>
              <a:gd name="connsiteX1193" fmla="*/ 575122 w 4694357"/>
              <a:gd name="connsiteY1193" fmla="*/ 969165 h 4717133"/>
              <a:gd name="connsiteX1194" fmla="*/ 602455 w 4694357"/>
              <a:gd name="connsiteY1194" fmla="*/ 941832 h 4717133"/>
              <a:gd name="connsiteX1195" fmla="*/ 4220593 w 4694357"/>
              <a:gd name="connsiteY1195" fmla="*/ 934999 h 4717133"/>
              <a:gd name="connsiteX1196" fmla="*/ 4243370 w 4694357"/>
              <a:gd name="connsiteY1196" fmla="*/ 957776 h 4717133"/>
              <a:gd name="connsiteX1197" fmla="*/ 4220593 w 4694357"/>
              <a:gd name="connsiteY1197" fmla="*/ 980553 h 4717133"/>
              <a:gd name="connsiteX1198" fmla="*/ 4197816 w 4694357"/>
              <a:gd name="connsiteY1198" fmla="*/ 957776 h 4717133"/>
              <a:gd name="connsiteX1199" fmla="*/ 4220593 w 4694357"/>
              <a:gd name="connsiteY1199" fmla="*/ 934999 h 4717133"/>
              <a:gd name="connsiteX1200" fmla="*/ 983971 w 4694357"/>
              <a:gd name="connsiteY1200" fmla="*/ 866668 h 4717133"/>
              <a:gd name="connsiteX1201" fmla="*/ 995360 w 4694357"/>
              <a:gd name="connsiteY1201" fmla="*/ 878057 h 4717133"/>
              <a:gd name="connsiteX1202" fmla="*/ 983971 w 4694357"/>
              <a:gd name="connsiteY1202" fmla="*/ 889446 h 4717133"/>
              <a:gd name="connsiteX1203" fmla="*/ 972582 w 4694357"/>
              <a:gd name="connsiteY1203" fmla="*/ 878057 h 4717133"/>
              <a:gd name="connsiteX1204" fmla="*/ 983971 w 4694357"/>
              <a:gd name="connsiteY1204" fmla="*/ 866668 h 4717133"/>
              <a:gd name="connsiteX1205" fmla="*/ 3713803 w 4694357"/>
              <a:gd name="connsiteY1205" fmla="*/ 854140 h 4717133"/>
              <a:gd name="connsiteX1206" fmla="*/ 3736580 w 4694357"/>
              <a:gd name="connsiteY1206" fmla="*/ 877487 h 4717133"/>
              <a:gd name="connsiteX1207" fmla="*/ 3713803 w 4694357"/>
              <a:gd name="connsiteY1207" fmla="*/ 900834 h 4717133"/>
              <a:gd name="connsiteX1208" fmla="*/ 3691026 w 4694357"/>
              <a:gd name="connsiteY1208" fmla="*/ 877487 h 4717133"/>
              <a:gd name="connsiteX1209" fmla="*/ 3713803 w 4694357"/>
              <a:gd name="connsiteY1209" fmla="*/ 854140 h 4717133"/>
              <a:gd name="connsiteX1210" fmla="*/ 848447 w 4694357"/>
              <a:gd name="connsiteY1210" fmla="*/ 853002 h 4717133"/>
              <a:gd name="connsiteX1211" fmla="*/ 856419 w 4694357"/>
              <a:gd name="connsiteY1211" fmla="*/ 860974 h 4717133"/>
              <a:gd name="connsiteX1212" fmla="*/ 848447 w 4694357"/>
              <a:gd name="connsiteY1212" fmla="*/ 868946 h 4717133"/>
              <a:gd name="connsiteX1213" fmla="*/ 840475 w 4694357"/>
              <a:gd name="connsiteY1213" fmla="*/ 860974 h 4717133"/>
              <a:gd name="connsiteX1214" fmla="*/ 848447 w 4694357"/>
              <a:gd name="connsiteY1214" fmla="*/ 853002 h 4717133"/>
              <a:gd name="connsiteX1215" fmla="*/ 3848757 w 4694357"/>
              <a:gd name="connsiteY1215" fmla="*/ 825669 h 4717133"/>
              <a:gd name="connsiteX1216" fmla="*/ 3883492 w 4694357"/>
              <a:gd name="connsiteY1216" fmla="*/ 859835 h 4717133"/>
              <a:gd name="connsiteX1217" fmla="*/ 3848757 w 4694357"/>
              <a:gd name="connsiteY1217" fmla="*/ 894001 h 4717133"/>
              <a:gd name="connsiteX1218" fmla="*/ 3814022 w 4694357"/>
              <a:gd name="connsiteY1218" fmla="*/ 859835 h 4717133"/>
              <a:gd name="connsiteX1219" fmla="*/ 3848757 w 4694357"/>
              <a:gd name="connsiteY1219" fmla="*/ 825669 h 4717133"/>
              <a:gd name="connsiteX1220" fmla="*/ 3984850 w 4694357"/>
              <a:gd name="connsiteY1220" fmla="*/ 817697 h 4717133"/>
              <a:gd name="connsiteX1221" fmla="*/ 4008766 w 4694357"/>
              <a:gd name="connsiteY1221" fmla="*/ 841613 h 4717133"/>
              <a:gd name="connsiteX1222" fmla="*/ 3984850 w 4694357"/>
              <a:gd name="connsiteY1222" fmla="*/ 865529 h 4717133"/>
              <a:gd name="connsiteX1223" fmla="*/ 3960934 w 4694357"/>
              <a:gd name="connsiteY1223" fmla="*/ 841613 h 4717133"/>
              <a:gd name="connsiteX1224" fmla="*/ 3984850 w 4694357"/>
              <a:gd name="connsiteY1224" fmla="*/ 817697 h 4717133"/>
              <a:gd name="connsiteX1225" fmla="*/ 711785 w 4694357"/>
              <a:gd name="connsiteY1225" fmla="*/ 815419 h 4717133"/>
              <a:gd name="connsiteX1226" fmla="*/ 739118 w 4694357"/>
              <a:gd name="connsiteY1226" fmla="*/ 842752 h 4717133"/>
              <a:gd name="connsiteX1227" fmla="*/ 711785 w 4694357"/>
              <a:gd name="connsiteY1227" fmla="*/ 870085 h 4717133"/>
              <a:gd name="connsiteX1228" fmla="*/ 684452 w 4694357"/>
              <a:gd name="connsiteY1228" fmla="*/ 842752 h 4717133"/>
              <a:gd name="connsiteX1229" fmla="*/ 711785 w 4694357"/>
              <a:gd name="connsiteY1229" fmla="*/ 815419 h 4717133"/>
              <a:gd name="connsiteX1230" fmla="*/ 580816 w 4694357"/>
              <a:gd name="connsiteY1230" fmla="*/ 814281 h 4717133"/>
              <a:gd name="connsiteX1231" fmla="*/ 595621 w 4694357"/>
              <a:gd name="connsiteY1231" fmla="*/ 829086 h 4717133"/>
              <a:gd name="connsiteX1232" fmla="*/ 580816 w 4694357"/>
              <a:gd name="connsiteY1232" fmla="*/ 843891 h 4717133"/>
              <a:gd name="connsiteX1233" fmla="*/ 566011 w 4694357"/>
              <a:gd name="connsiteY1233" fmla="*/ 829086 h 4717133"/>
              <a:gd name="connsiteX1234" fmla="*/ 580816 w 4694357"/>
              <a:gd name="connsiteY1234" fmla="*/ 814281 h 4717133"/>
              <a:gd name="connsiteX1235" fmla="*/ 4116388 w 4694357"/>
              <a:gd name="connsiteY1235" fmla="*/ 805170 h 4717133"/>
              <a:gd name="connsiteX1236" fmla="*/ 4139735 w 4694357"/>
              <a:gd name="connsiteY1236" fmla="*/ 828517 h 4717133"/>
              <a:gd name="connsiteX1237" fmla="*/ 4116388 w 4694357"/>
              <a:gd name="connsiteY1237" fmla="*/ 851864 h 4717133"/>
              <a:gd name="connsiteX1238" fmla="*/ 4093041 w 4694357"/>
              <a:gd name="connsiteY1238" fmla="*/ 828517 h 4717133"/>
              <a:gd name="connsiteX1239" fmla="*/ 4116388 w 4694357"/>
              <a:gd name="connsiteY1239" fmla="*/ 805170 h 4717133"/>
              <a:gd name="connsiteX1240" fmla="*/ 1110953 w 4694357"/>
              <a:gd name="connsiteY1240" fmla="*/ 758477 h 4717133"/>
              <a:gd name="connsiteX1241" fmla="*/ 1122911 w 4694357"/>
              <a:gd name="connsiteY1241" fmla="*/ 770435 h 4717133"/>
              <a:gd name="connsiteX1242" fmla="*/ 1110953 w 4694357"/>
              <a:gd name="connsiteY1242" fmla="*/ 782393 h 4717133"/>
              <a:gd name="connsiteX1243" fmla="*/ 1098995 w 4694357"/>
              <a:gd name="connsiteY1243" fmla="*/ 770435 h 4717133"/>
              <a:gd name="connsiteX1244" fmla="*/ 1110953 w 4694357"/>
              <a:gd name="connsiteY1244" fmla="*/ 758477 h 4717133"/>
              <a:gd name="connsiteX1245" fmla="*/ 3586821 w 4694357"/>
              <a:gd name="connsiteY1245" fmla="*/ 748227 h 4717133"/>
              <a:gd name="connsiteX1246" fmla="*/ 3609029 w 4694357"/>
              <a:gd name="connsiteY1246" fmla="*/ 769865 h 4717133"/>
              <a:gd name="connsiteX1247" fmla="*/ 3586821 w 4694357"/>
              <a:gd name="connsiteY1247" fmla="*/ 791503 h 4717133"/>
              <a:gd name="connsiteX1248" fmla="*/ 3564613 w 4694357"/>
              <a:gd name="connsiteY1248" fmla="*/ 769865 h 4717133"/>
              <a:gd name="connsiteX1249" fmla="*/ 3586821 w 4694357"/>
              <a:gd name="connsiteY1249" fmla="*/ 748227 h 4717133"/>
              <a:gd name="connsiteX1250" fmla="*/ 970874 w 4694357"/>
              <a:gd name="connsiteY1250" fmla="*/ 737977 h 4717133"/>
              <a:gd name="connsiteX1251" fmla="*/ 979416 w 4694357"/>
              <a:gd name="connsiteY1251" fmla="*/ 747088 h 4717133"/>
              <a:gd name="connsiteX1252" fmla="*/ 970874 w 4694357"/>
              <a:gd name="connsiteY1252" fmla="*/ 756199 h 4717133"/>
              <a:gd name="connsiteX1253" fmla="*/ 962332 w 4694357"/>
              <a:gd name="connsiteY1253" fmla="*/ 747088 h 4717133"/>
              <a:gd name="connsiteX1254" fmla="*/ 970874 w 4694357"/>
              <a:gd name="connsiteY1254" fmla="*/ 737977 h 4717133"/>
              <a:gd name="connsiteX1255" fmla="*/ 3726331 w 4694357"/>
              <a:gd name="connsiteY1255" fmla="*/ 714062 h 4717133"/>
              <a:gd name="connsiteX1256" fmla="*/ 3759358 w 4694357"/>
              <a:gd name="connsiteY1256" fmla="*/ 747089 h 4717133"/>
              <a:gd name="connsiteX1257" fmla="*/ 3726331 w 4694357"/>
              <a:gd name="connsiteY1257" fmla="*/ 780116 h 4717133"/>
              <a:gd name="connsiteX1258" fmla="*/ 3693304 w 4694357"/>
              <a:gd name="connsiteY1258" fmla="*/ 747089 h 4717133"/>
              <a:gd name="connsiteX1259" fmla="*/ 3726331 w 4694357"/>
              <a:gd name="connsiteY1259" fmla="*/ 714062 h 4717133"/>
              <a:gd name="connsiteX1260" fmla="*/ 3866979 w 4694357"/>
              <a:gd name="connsiteY1260" fmla="*/ 699256 h 4717133"/>
              <a:gd name="connsiteX1261" fmla="*/ 3891465 w 4694357"/>
              <a:gd name="connsiteY1261" fmla="*/ 723742 h 4717133"/>
              <a:gd name="connsiteX1262" fmla="*/ 3866979 w 4694357"/>
              <a:gd name="connsiteY1262" fmla="*/ 748228 h 4717133"/>
              <a:gd name="connsiteX1263" fmla="*/ 3842493 w 4694357"/>
              <a:gd name="connsiteY1263" fmla="*/ 723742 h 4717133"/>
              <a:gd name="connsiteX1264" fmla="*/ 3866979 w 4694357"/>
              <a:gd name="connsiteY1264" fmla="*/ 699256 h 4717133"/>
              <a:gd name="connsiteX1265" fmla="*/ 830226 w 4694357"/>
              <a:gd name="connsiteY1265" fmla="*/ 696979 h 4717133"/>
              <a:gd name="connsiteX1266" fmla="*/ 857559 w 4694357"/>
              <a:gd name="connsiteY1266" fmla="*/ 724312 h 4717133"/>
              <a:gd name="connsiteX1267" fmla="*/ 830226 w 4694357"/>
              <a:gd name="connsiteY1267" fmla="*/ 751645 h 4717133"/>
              <a:gd name="connsiteX1268" fmla="*/ 802893 w 4694357"/>
              <a:gd name="connsiteY1268" fmla="*/ 724312 h 4717133"/>
              <a:gd name="connsiteX1269" fmla="*/ 830226 w 4694357"/>
              <a:gd name="connsiteY1269" fmla="*/ 696979 h 4717133"/>
              <a:gd name="connsiteX1270" fmla="*/ 694701 w 4694357"/>
              <a:gd name="connsiteY1270" fmla="*/ 691285 h 4717133"/>
              <a:gd name="connsiteX1271" fmla="*/ 710645 w 4694357"/>
              <a:gd name="connsiteY1271" fmla="*/ 707229 h 4717133"/>
              <a:gd name="connsiteX1272" fmla="*/ 694701 w 4694357"/>
              <a:gd name="connsiteY1272" fmla="*/ 723173 h 4717133"/>
              <a:gd name="connsiteX1273" fmla="*/ 678757 w 4694357"/>
              <a:gd name="connsiteY1273" fmla="*/ 707229 h 4717133"/>
              <a:gd name="connsiteX1274" fmla="*/ 694701 w 4694357"/>
              <a:gd name="connsiteY1274" fmla="*/ 691285 h 4717133"/>
              <a:gd name="connsiteX1275" fmla="*/ 4002503 w 4694357"/>
              <a:gd name="connsiteY1275" fmla="*/ 683312 h 4717133"/>
              <a:gd name="connsiteX1276" fmla="*/ 4025850 w 4694357"/>
              <a:gd name="connsiteY1276" fmla="*/ 706089 h 4717133"/>
              <a:gd name="connsiteX1277" fmla="*/ 4002503 w 4694357"/>
              <a:gd name="connsiteY1277" fmla="*/ 728866 h 4717133"/>
              <a:gd name="connsiteX1278" fmla="*/ 3979156 w 4694357"/>
              <a:gd name="connsiteY1278" fmla="*/ 706089 h 4717133"/>
              <a:gd name="connsiteX1279" fmla="*/ 4002503 w 4694357"/>
              <a:gd name="connsiteY1279" fmla="*/ 683312 h 4717133"/>
              <a:gd name="connsiteX1280" fmla="*/ 1245907 w 4694357"/>
              <a:gd name="connsiteY1280" fmla="*/ 660535 h 4717133"/>
              <a:gd name="connsiteX1281" fmla="*/ 1258435 w 4694357"/>
              <a:gd name="connsiteY1281" fmla="*/ 673063 h 4717133"/>
              <a:gd name="connsiteX1282" fmla="*/ 1245907 w 4694357"/>
              <a:gd name="connsiteY1282" fmla="*/ 685591 h 4717133"/>
              <a:gd name="connsiteX1283" fmla="*/ 1233379 w 4694357"/>
              <a:gd name="connsiteY1283" fmla="*/ 673063 h 4717133"/>
              <a:gd name="connsiteX1284" fmla="*/ 1245907 w 4694357"/>
              <a:gd name="connsiteY1284" fmla="*/ 660535 h 4717133"/>
              <a:gd name="connsiteX1285" fmla="*/ 3450728 w 4694357"/>
              <a:gd name="connsiteY1285" fmla="*/ 651424 h 4717133"/>
              <a:gd name="connsiteX1286" fmla="*/ 3472366 w 4694357"/>
              <a:gd name="connsiteY1286" fmla="*/ 673062 h 4717133"/>
              <a:gd name="connsiteX1287" fmla="*/ 3450728 w 4694357"/>
              <a:gd name="connsiteY1287" fmla="*/ 694700 h 4717133"/>
              <a:gd name="connsiteX1288" fmla="*/ 3429090 w 4694357"/>
              <a:gd name="connsiteY1288" fmla="*/ 673062 h 4717133"/>
              <a:gd name="connsiteX1289" fmla="*/ 3450728 w 4694357"/>
              <a:gd name="connsiteY1289" fmla="*/ 651424 h 4717133"/>
              <a:gd name="connsiteX1290" fmla="*/ 1101272 w 4694357"/>
              <a:gd name="connsiteY1290" fmla="*/ 634342 h 4717133"/>
              <a:gd name="connsiteX1291" fmla="*/ 1111522 w 4694357"/>
              <a:gd name="connsiteY1291" fmla="*/ 644592 h 4717133"/>
              <a:gd name="connsiteX1292" fmla="*/ 1101272 w 4694357"/>
              <a:gd name="connsiteY1292" fmla="*/ 654842 h 4717133"/>
              <a:gd name="connsiteX1293" fmla="*/ 1091022 w 4694357"/>
              <a:gd name="connsiteY1293" fmla="*/ 644592 h 4717133"/>
              <a:gd name="connsiteX1294" fmla="*/ 1101272 w 4694357"/>
              <a:gd name="connsiteY1294" fmla="*/ 634342 h 4717133"/>
              <a:gd name="connsiteX1295" fmla="*/ 3595932 w 4694357"/>
              <a:gd name="connsiteY1295" fmla="*/ 611565 h 4717133"/>
              <a:gd name="connsiteX1296" fmla="*/ 3628390 w 4694357"/>
              <a:gd name="connsiteY1296" fmla="*/ 644023 h 4717133"/>
              <a:gd name="connsiteX1297" fmla="*/ 3595932 w 4694357"/>
              <a:gd name="connsiteY1297" fmla="*/ 676481 h 4717133"/>
              <a:gd name="connsiteX1298" fmla="*/ 3563474 w 4694357"/>
              <a:gd name="connsiteY1298" fmla="*/ 644023 h 4717133"/>
              <a:gd name="connsiteX1299" fmla="*/ 3595932 w 4694357"/>
              <a:gd name="connsiteY1299" fmla="*/ 611565 h 4717133"/>
              <a:gd name="connsiteX1300" fmla="*/ 3740567 w 4694357"/>
              <a:gd name="connsiteY1300" fmla="*/ 589926 h 4717133"/>
              <a:gd name="connsiteX1301" fmla="*/ 3765053 w 4694357"/>
              <a:gd name="connsiteY1301" fmla="*/ 614412 h 4717133"/>
              <a:gd name="connsiteX1302" fmla="*/ 3740567 w 4694357"/>
              <a:gd name="connsiteY1302" fmla="*/ 638898 h 4717133"/>
              <a:gd name="connsiteX1303" fmla="*/ 3716081 w 4694357"/>
              <a:gd name="connsiteY1303" fmla="*/ 614412 h 4717133"/>
              <a:gd name="connsiteX1304" fmla="*/ 3740567 w 4694357"/>
              <a:gd name="connsiteY1304" fmla="*/ 589926 h 4717133"/>
              <a:gd name="connsiteX1305" fmla="*/ 956638 w 4694357"/>
              <a:gd name="connsiteY1305" fmla="*/ 588788 h 4717133"/>
              <a:gd name="connsiteX1306" fmla="*/ 983971 w 4694357"/>
              <a:gd name="connsiteY1306" fmla="*/ 615551 h 4717133"/>
              <a:gd name="connsiteX1307" fmla="*/ 956638 w 4694357"/>
              <a:gd name="connsiteY1307" fmla="*/ 642314 h 4717133"/>
              <a:gd name="connsiteX1308" fmla="*/ 929305 w 4694357"/>
              <a:gd name="connsiteY1308" fmla="*/ 615551 h 4717133"/>
              <a:gd name="connsiteX1309" fmla="*/ 956638 w 4694357"/>
              <a:gd name="connsiteY1309" fmla="*/ 588788 h 4717133"/>
              <a:gd name="connsiteX1310" fmla="*/ 816559 w 4694357"/>
              <a:gd name="connsiteY1310" fmla="*/ 577399 h 4717133"/>
              <a:gd name="connsiteX1311" fmla="*/ 832503 w 4694357"/>
              <a:gd name="connsiteY1311" fmla="*/ 593343 h 4717133"/>
              <a:gd name="connsiteX1312" fmla="*/ 816559 w 4694357"/>
              <a:gd name="connsiteY1312" fmla="*/ 609287 h 4717133"/>
              <a:gd name="connsiteX1313" fmla="*/ 800615 w 4694357"/>
              <a:gd name="connsiteY1313" fmla="*/ 593343 h 4717133"/>
              <a:gd name="connsiteX1314" fmla="*/ 816559 w 4694357"/>
              <a:gd name="connsiteY1314" fmla="*/ 577399 h 4717133"/>
              <a:gd name="connsiteX1315" fmla="*/ 1389402 w 4694357"/>
              <a:gd name="connsiteY1315" fmla="*/ 573982 h 4717133"/>
              <a:gd name="connsiteX1316" fmla="*/ 1403068 w 4694357"/>
              <a:gd name="connsiteY1316" fmla="*/ 587648 h 4717133"/>
              <a:gd name="connsiteX1317" fmla="*/ 1389402 w 4694357"/>
              <a:gd name="connsiteY1317" fmla="*/ 601314 h 4717133"/>
              <a:gd name="connsiteX1318" fmla="*/ 1375736 w 4694357"/>
              <a:gd name="connsiteY1318" fmla="*/ 587648 h 4717133"/>
              <a:gd name="connsiteX1319" fmla="*/ 1389402 w 4694357"/>
              <a:gd name="connsiteY1319" fmla="*/ 573982 h 4717133"/>
              <a:gd name="connsiteX1320" fmla="*/ 3880076 w 4694357"/>
              <a:gd name="connsiteY1320" fmla="*/ 569427 h 4717133"/>
              <a:gd name="connsiteX1321" fmla="*/ 3902853 w 4694357"/>
              <a:gd name="connsiteY1321" fmla="*/ 592204 h 4717133"/>
              <a:gd name="connsiteX1322" fmla="*/ 3880076 w 4694357"/>
              <a:gd name="connsiteY1322" fmla="*/ 614981 h 4717133"/>
              <a:gd name="connsiteX1323" fmla="*/ 3857299 w 4694357"/>
              <a:gd name="connsiteY1323" fmla="*/ 592204 h 4717133"/>
              <a:gd name="connsiteX1324" fmla="*/ 3880076 w 4694357"/>
              <a:gd name="connsiteY1324" fmla="*/ 569427 h 4717133"/>
              <a:gd name="connsiteX1325" fmla="*/ 3307802 w 4694357"/>
              <a:gd name="connsiteY1325" fmla="*/ 566011 h 4717133"/>
              <a:gd name="connsiteX1326" fmla="*/ 3328871 w 4694357"/>
              <a:gd name="connsiteY1326" fmla="*/ 587080 h 4717133"/>
              <a:gd name="connsiteX1327" fmla="*/ 3307802 w 4694357"/>
              <a:gd name="connsiteY1327" fmla="*/ 608149 h 4717133"/>
              <a:gd name="connsiteX1328" fmla="*/ 3286733 w 4694357"/>
              <a:gd name="connsiteY1328" fmla="*/ 587080 h 4717133"/>
              <a:gd name="connsiteX1329" fmla="*/ 3307802 w 4694357"/>
              <a:gd name="connsiteY1329" fmla="*/ 566011 h 4717133"/>
              <a:gd name="connsiteX1330" fmla="*/ 1240213 w 4694357"/>
              <a:gd name="connsiteY1330" fmla="*/ 539817 h 4717133"/>
              <a:gd name="connsiteX1331" fmla="*/ 1251602 w 4694357"/>
              <a:gd name="connsiteY1331" fmla="*/ 551775 h 4717133"/>
              <a:gd name="connsiteX1332" fmla="*/ 1240213 w 4694357"/>
              <a:gd name="connsiteY1332" fmla="*/ 563733 h 4717133"/>
              <a:gd name="connsiteX1333" fmla="*/ 1228824 w 4694357"/>
              <a:gd name="connsiteY1333" fmla="*/ 551775 h 4717133"/>
              <a:gd name="connsiteX1334" fmla="*/ 1240213 w 4694357"/>
              <a:gd name="connsiteY1334" fmla="*/ 539817 h 4717133"/>
              <a:gd name="connsiteX1335" fmla="*/ 3457561 w 4694357"/>
              <a:gd name="connsiteY1335" fmla="*/ 520457 h 4717133"/>
              <a:gd name="connsiteX1336" fmla="*/ 3488310 w 4694357"/>
              <a:gd name="connsiteY1336" fmla="*/ 551206 h 4717133"/>
              <a:gd name="connsiteX1337" fmla="*/ 3457561 w 4694357"/>
              <a:gd name="connsiteY1337" fmla="*/ 581955 h 4717133"/>
              <a:gd name="connsiteX1338" fmla="*/ 3426812 w 4694357"/>
              <a:gd name="connsiteY1338" fmla="*/ 551206 h 4717133"/>
              <a:gd name="connsiteX1339" fmla="*/ 3457561 w 4694357"/>
              <a:gd name="connsiteY1339" fmla="*/ 520457 h 4717133"/>
              <a:gd name="connsiteX1340" fmla="*/ 1538592 w 4694357"/>
              <a:gd name="connsiteY1340" fmla="*/ 499957 h 4717133"/>
              <a:gd name="connsiteX1341" fmla="*/ 1552258 w 4694357"/>
              <a:gd name="connsiteY1341" fmla="*/ 514193 h 4717133"/>
              <a:gd name="connsiteX1342" fmla="*/ 1538592 w 4694357"/>
              <a:gd name="connsiteY1342" fmla="*/ 528429 h 4717133"/>
              <a:gd name="connsiteX1343" fmla="*/ 1524926 w 4694357"/>
              <a:gd name="connsiteY1343" fmla="*/ 514193 h 4717133"/>
              <a:gd name="connsiteX1344" fmla="*/ 1538592 w 4694357"/>
              <a:gd name="connsiteY1344" fmla="*/ 499957 h 4717133"/>
              <a:gd name="connsiteX1345" fmla="*/ 3158612 w 4694357"/>
              <a:gd name="connsiteY1345" fmla="*/ 494263 h 4717133"/>
              <a:gd name="connsiteX1346" fmla="*/ 3178542 w 4694357"/>
              <a:gd name="connsiteY1346" fmla="*/ 514193 h 4717133"/>
              <a:gd name="connsiteX1347" fmla="*/ 3158612 w 4694357"/>
              <a:gd name="connsiteY1347" fmla="*/ 534123 h 4717133"/>
              <a:gd name="connsiteX1348" fmla="*/ 3138682 w 4694357"/>
              <a:gd name="connsiteY1348" fmla="*/ 514193 h 4717133"/>
              <a:gd name="connsiteX1349" fmla="*/ 3158612 w 4694357"/>
              <a:gd name="connsiteY1349" fmla="*/ 494263 h 4717133"/>
              <a:gd name="connsiteX1350" fmla="*/ 3606182 w 4694357"/>
              <a:gd name="connsiteY1350" fmla="*/ 490846 h 4717133"/>
              <a:gd name="connsiteX1351" fmla="*/ 3630668 w 4694357"/>
              <a:gd name="connsiteY1351" fmla="*/ 515901 h 4717133"/>
              <a:gd name="connsiteX1352" fmla="*/ 3606182 w 4694357"/>
              <a:gd name="connsiteY1352" fmla="*/ 540956 h 4717133"/>
              <a:gd name="connsiteX1353" fmla="*/ 3581696 w 4694357"/>
              <a:gd name="connsiteY1353" fmla="*/ 515901 h 4717133"/>
              <a:gd name="connsiteX1354" fmla="*/ 3606182 w 4694357"/>
              <a:gd name="connsiteY1354" fmla="*/ 490846 h 4717133"/>
              <a:gd name="connsiteX1355" fmla="*/ 1091023 w 4694357"/>
              <a:gd name="connsiteY1355" fmla="*/ 489707 h 4717133"/>
              <a:gd name="connsiteX1356" fmla="*/ 1118356 w 4694357"/>
              <a:gd name="connsiteY1356" fmla="*/ 516470 h 4717133"/>
              <a:gd name="connsiteX1357" fmla="*/ 1091023 w 4694357"/>
              <a:gd name="connsiteY1357" fmla="*/ 543233 h 4717133"/>
              <a:gd name="connsiteX1358" fmla="*/ 1063690 w 4694357"/>
              <a:gd name="connsiteY1358" fmla="*/ 516470 h 4717133"/>
              <a:gd name="connsiteX1359" fmla="*/ 1091023 w 4694357"/>
              <a:gd name="connsiteY1359" fmla="*/ 489707 h 4717133"/>
              <a:gd name="connsiteX1360" fmla="*/ 946958 w 4694357"/>
              <a:gd name="connsiteY1360" fmla="*/ 472625 h 4717133"/>
              <a:gd name="connsiteX1361" fmla="*/ 963472 w 4694357"/>
              <a:gd name="connsiteY1361" fmla="*/ 489139 h 4717133"/>
              <a:gd name="connsiteX1362" fmla="*/ 946958 w 4694357"/>
              <a:gd name="connsiteY1362" fmla="*/ 505653 h 4717133"/>
              <a:gd name="connsiteX1363" fmla="*/ 930444 w 4694357"/>
              <a:gd name="connsiteY1363" fmla="*/ 489139 h 4717133"/>
              <a:gd name="connsiteX1364" fmla="*/ 946958 w 4694357"/>
              <a:gd name="connsiteY1364" fmla="*/ 472625 h 4717133"/>
              <a:gd name="connsiteX1365" fmla="*/ 3750246 w 4694357"/>
              <a:gd name="connsiteY1365" fmla="*/ 464652 h 4717133"/>
              <a:gd name="connsiteX1366" fmla="*/ 3773023 w 4694357"/>
              <a:gd name="connsiteY1366" fmla="*/ 487429 h 4717133"/>
              <a:gd name="connsiteX1367" fmla="*/ 3750246 w 4694357"/>
              <a:gd name="connsiteY1367" fmla="*/ 510206 h 4717133"/>
              <a:gd name="connsiteX1368" fmla="*/ 3727469 w 4694357"/>
              <a:gd name="connsiteY1368" fmla="*/ 487429 h 4717133"/>
              <a:gd name="connsiteX1369" fmla="*/ 3750246 w 4694357"/>
              <a:gd name="connsiteY1369" fmla="*/ 464652 h 4717133"/>
              <a:gd name="connsiteX1370" fmla="*/ 1385417 w 4694357"/>
              <a:gd name="connsiteY1370" fmla="*/ 456681 h 4717133"/>
              <a:gd name="connsiteX1371" fmla="*/ 1398514 w 4694357"/>
              <a:gd name="connsiteY1371" fmla="*/ 469778 h 4717133"/>
              <a:gd name="connsiteX1372" fmla="*/ 1385417 w 4694357"/>
              <a:gd name="connsiteY1372" fmla="*/ 482875 h 4717133"/>
              <a:gd name="connsiteX1373" fmla="*/ 1372320 w 4694357"/>
              <a:gd name="connsiteY1373" fmla="*/ 469778 h 4717133"/>
              <a:gd name="connsiteX1374" fmla="*/ 1385417 w 4694357"/>
              <a:gd name="connsiteY1374" fmla="*/ 456681 h 4717133"/>
              <a:gd name="connsiteX1375" fmla="*/ 3311787 w 4694357"/>
              <a:gd name="connsiteY1375" fmla="*/ 440737 h 4717133"/>
              <a:gd name="connsiteX1376" fmla="*/ 3341397 w 4694357"/>
              <a:gd name="connsiteY1376" fmla="*/ 469778 h 4717133"/>
              <a:gd name="connsiteX1377" fmla="*/ 3311787 w 4694357"/>
              <a:gd name="connsiteY1377" fmla="*/ 498819 h 4717133"/>
              <a:gd name="connsiteX1378" fmla="*/ 3282177 w 4694357"/>
              <a:gd name="connsiteY1378" fmla="*/ 469778 h 4717133"/>
              <a:gd name="connsiteX1379" fmla="*/ 3311787 w 4694357"/>
              <a:gd name="connsiteY1379" fmla="*/ 440737 h 4717133"/>
              <a:gd name="connsiteX1380" fmla="*/ 1694046 w 4694357"/>
              <a:gd name="connsiteY1380" fmla="*/ 439598 h 4717133"/>
              <a:gd name="connsiteX1381" fmla="*/ 1708282 w 4694357"/>
              <a:gd name="connsiteY1381" fmla="*/ 454403 h 4717133"/>
              <a:gd name="connsiteX1382" fmla="*/ 1694046 w 4694357"/>
              <a:gd name="connsiteY1382" fmla="*/ 469208 h 4717133"/>
              <a:gd name="connsiteX1383" fmla="*/ 1679810 w 4694357"/>
              <a:gd name="connsiteY1383" fmla="*/ 454403 h 4717133"/>
              <a:gd name="connsiteX1384" fmla="*/ 1694046 w 4694357"/>
              <a:gd name="connsiteY1384" fmla="*/ 439598 h 4717133"/>
              <a:gd name="connsiteX1385" fmla="*/ 3003158 w 4694357"/>
              <a:gd name="connsiteY1385" fmla="*/ 433904 h 4717133"/>
              <a:gd name="connsiteX1386" fmla="*/ 3022519 w 4694357"/>
              <a:gd name="connsiteY1386" fmla="*/ 453265 h 4717133"/>
              <a:gd name="connsiteX1387" fmla="*/ 3003158 w 4694357"/>
              <a:gd name="connsiteY1387" fmla="*/ 472626 h 4717133"/>
              <a:gd name="connsiteX1388" fmla="*/ 2983797 w 4694357"/>
              <a:gd name="connsiteY1388" fmla="*/ 453265 h 4717133"/>
              <a:gd name="connsiteX1389" fmla="*/ 3003158 w 4694357"/>
              <a:gd name="connsiteY1389" fmla="*/ 433904 h 4717133"/>
              <a:gd name="connsiteX1390" fmla="*/ 3464394 w 4694357"/>
              <a:gd name="connsiteY1390" fmla="*/ 402016 h 4717133"/>
              <a:gd name="connsiteX1391" fmla="*/ 3489449 w 4694357"/>
              <a:gd name="connsiteY1391" fmla="*/ 427071 h 4717133"/>
              <a:gd name="connsiteX1392" fmla="*/ 3464394 w 4694357"/>
              <a:gd name="connsiteY1392" fmla="*/ 452126 h 4717133"/>
              <a:gd name="connsiteX1393" fmla="*/ 3439339 w 4694357"/>
              <a:gd name="connsiteY1393" fmla="*/ 427071 h 4717133"/>
              <a:gd name="connsiteX1394" fmla="*/ 3464394 w 4694357"/>
              <a:gd name="connsiteY1394" fmla="*/ 402016 h 4717133"/>
              <a:gd name="connsiteX1395" fmla="*/ 1231671 w 4694357"/>
              <a:gd name="connsiteY1395" fmla="*/ 399738 h 4717133"/>
              <a:gd name="connsiteX1396" fmla="*/ 1258434 w 4694357"/>
              <a:gd name="connsiteY1396" fmla="*/ 427071 h 4717133"/>
              <a:gd name="connsiteX1397" fmla="*/ 1231671 w 4694357"/>
              <a:gd name="connsiteY1397" fmla="*/ 454404 h 4717133"/>
              <a:gd name="connsiteX1398" fmla="*/ 1204908 w 4694357"/>
              <a:gd name="connsiteY1398" fmla="*/ 427071 h 4717133"/>
              <a:gd name="connsiteX1399" fmla="*/ 1231671 w 4694357"/>
              <a:gd name="connsiteY1399" fmla="*/ 399738 h 4717133"/>
              <a:gd name="connsiteX1400" fmla="*/ 1853485 w 4694357"/>
              <a:gd name="connsiteY1400" fmla="*/ 390627 h 4717133"/>
              <a:gd name="connsiteX1401" fmla="*/ 1868860 w 4694357"/>
              <a:gd name="connsiteY1401" fmla="*/ 406002 h 4717133"/>
              <a:gd name="connsiteX1402" fmla="*/ 1853485 w 4694357"/>
              <a:gd name="connsiteY1402" fmla="*/ 421377 h 4717133"/>
              <a:gd name="connsiteX1403" fmla="*/ 1838110 w 4694357"/>
              <a:gd name="connsiteY1403" fmla="*/ 406002 h 4717133"/>
              <a:gd name="connsiteX1404" fmla="*/ 1853485 w 4694357"/>
              <a:gd name="connsiteY1404" fmla="*/ 390627 h 4717133"/>
              <a:gd name="connsiteX1405" fmla="*/ 2843150 w 4694357"/>
              <a:gd name="connsiteY1405" fmla="*/ 387210 h 4717133"/>
              <a:gd name="connsiteX1406" fmla="*/ 2861942 w 4694357"/>
              <a:gd name="connsiteY1406" fmla="*/ 406002 h 4717133"/>
              <a:gd name="connsiteX1407" fmla="*/ 2843150 w 4694357"/>
              <a:gd name="connsiteY1407" fmla="*/ 424794 h 4717133"/>
              <a:gd name="connsiteX1408" fmla="*/ 2824358 w 4694357"/>
              <a:gd name="connsiteY1408" fmla="*/ 406002 h 4717133"/>
              <a:gd name="connsiteX1409" fmla="*/ 2843150 w 4694357"/>
              <a:gd name="connsiteY1409" fmla="*/ 387210 h 4717133"/>
              <a:gd name="connsiteX1410" fmla="*/ 1536314 w 4694357"/>
              <a:gd name="connsiteY1410" fmla="*/ 386072 h 4717133"/>
              <a:gd name="connsiteX1411" fmla="*/ 1551119 w 4694357"/>
              <a:gd name="connsiteY1411" fmla="*/ 400308 h 4717133"/>
              <a:gd name="connsiteX1412" fmla="*/ 1536314 w 4694357"/>
              <a:gd name="connsiteY1412" fmla="*/ 414544 h 4717133"/>
              <a:gd name="connsiteX1413" fmla="*/ 1521509 w 4694357"/>
              <a:gd name="connsiteY1413" fmla="*/ 400308 h 4717133"/>
              <a:gd name="connsiteX1414" fmla="*/ 1536314 w 4694357"/>
              <a:gd name="connsiteY1414" fmla="*/ 386072 h 4717133"/>
              <a:gd name="connsiteX1415" fmla="*/ 1083621 w 4694357"/>
              <a:gd name="connsiteY1415" fmla="*/ 375822 h 4717133"/>
              <a:gd name="connsiteX1416" fmla="*/ 1101274 w 4694357"/>
              <a:gd name="connsiteY1416" fmla="*/ 392905 h 4717133"/>
              <a:gd name="connsiteX1417" fmla="*/ 1083621 w 4694357"/>
              <a:gd name="connsiteY1417" fmla="*/ 409988 h 4717133"/>
              <a:gd name="connsiteX1418" fmla="*/ 1065968 w 4694357"/>
              <a:gd name="connsiteY1418" fmla="*/ 392905 h 4717133"/>
              <a:gd name="connsiteX1419" fmla="*/ 1083621 w 4694357"/>
              <a:gd name="connsiteY1419" fmla="*/ 375822 h 4717133"/>
              <a:gd name="connsiteX1420" fmla="*/ 3160890 w 4694357"/>
              <a:gd name="connsiteY1420" fmla="*/ 372406 h 4717133"/>
              <a:gd name="connsiteX1421" fmla="*/ 3188792 w 4694357"/>
              <a:gd name="connsiteY1421" fmla="*/ 400308 h 4717133"/>
              <a:gd name="connsiteX1422" fmla="*/ 3160890 w 4694357"/>
              <a:gd name="connsiteY1422" fmla="*/ 428210 h 4717133"/>
              <a:gd name="connsiteX1423" fmla="*/ 3132988 w 4694357"/>
              <a:gd name="connsiteY1423" fmla="*/ 400308 h 4717133"/>
              <a:gd name="connsiteX1424" fmla="*/ 3160890 w 4694357"/>
              <a:gd name="connsiteY1424" fmla="*/ 372406 h 4717133"/>
              <a:gd name="connsiteX1425" fmla="*/ 3612445 w 4694357"/>
              <a:gd name="connsiteY1425" fmla="*/ 370128 h 4717133"/>
              <a:gd name="connsiteX1426" fmla="*/ 3635222 w 4694357"/>
              <a:gd name="connsiteY1426" fmla="*/ 392905 h 4717133"/>
              <a:gd name="connsiteX1427" fmla="*/ 3612445 w 4694357"/>
              <a:gd name="connsiteY1427" fmla="*/ 415682 h 4717133"/>
              <a:gd name="connsiteX1428" fmla="*/ 3589668 w 4694357"/>
              <a:gd name="connsiteY1428" fmla="*/ 392905 h 4717133"/>
              <a:gd name="connsiteX1429" fmla="*/ 3612445 w 4694357"/>
              <a:gd name="connsiteY1429" fmla="*/ 370128 h 4717133"/>
              <a:gd name="connsiteX1430" fmla="*/ 2016911 w 4694357"/>
              <a:gd name="connsiteY1430" fmla="*/ 356462 h 4717133"/>
              <a:gd name="connsiteX1431" fmla="*/ 2032855 w 4694357"/>
              <a:gd name="connsiteY1431" fmla="*/ 372406 h 4717133"/>
              <a:gd name="connsiteX1432" fmla="*/ 2016911 w 4694357"/>
              <a:gd name="connsiteY1432" fmla="*/ 388350 h 4717133"/>
              <a:gd name="connsiteX1433" fmla="*/ 2000967 w 4694357"/>
              <a:gd name="connsiteY1433" fmla="*/ 372406 h 4717133"/>
              <a:gd name="connsiteX1434" fmla="*/ 2016911 w 4694357"/>
              <a:gd name="connsiteY1434" fmla="*/ 356462 h 4717133"/>
              <a:gd name="connsiteX1435" fmla="*/ 2680294 w 4694357"/>
              <a:gd name="connsiteY1435" fmla="*/ 353045 h 4717133"/>
              <a:gd name="connsiteX1436" fmla="*/ 2699086 w 4694357"/>
              <a:gd name="connsiteY1436" fmla="*/ 371837 h 4717133"/>
              <a:gd name="connsiteX1437" fmla="*/ 2680294 w 4694357"/>
              <a:gd name="connsiteY1437" fmla="*/ 390629 h 4717133"/>
              <a:gd name="connsiteX1438" fmla="*/ 2661502 w 4694357"/>
              <a:gd name="connsiteY1438" fmla="*/ 371837 h 4717133"/>
              <a:gd name="connsiteX1439" fmla="*/ 2680294 w 4694357"/>
              <a:gd name="connsiteY1439" fmla="*/ 353045 h 4717133"/>
              <a:gd name="connsiteX1440" fmla="*/ 2181476 w 4694357"/>
              <a:gd name="connsiteY1440" fmla="*/ 334823 h 4717133"/>
              <a:gd name="connsiteX1441" fmla="*/ 2197990 w 4694357"/>
              <a:gd name="connsiteY1441" fmla="*/ 351337 h 4717133"/>
              <a:gd name="connsiteX1442" fmla="*/ 2181476 w 4694357"/>
              <a:gd name="connsiteY1442" fmla="*/ 367851 h 4717133"/>
              <a:gd name="connsiteX1443" fmla="*/ 2164962 w 4694357"/>
              <a:gd name="connsiteY1443" fmla="*/ 351337 h 4717133"/>
              <a:gd name="connsiteX1444" fmla="*/ 2181476 w 4694357"/>
              <a:gd name="connsiteY1444" fmla="*/ 334823 h 4717133"/>
              <a:gd name="connsiteX1445" fmla="*/ 2515160 w 4694357"/>
              <a:gd name="connsiteY1445" fmla="*/ 333685 h 4717133"/>
              <a:gd name="connsiteX1446" fmla="*/ 2532813 w 4694357"/>
              <a:gd name="connsiteY1446" fmla="*/ 351338 h 4717133"/>
              <a:gd name="connsiteX1447" fmla="*/ 2515160 w 4694357"/>
              <a:gd name="connsiteY1447" fmla="*/ 368991 h 4717133"/>
              <a:gd name="connsiteX1448" fmla="*/ 2497507 w 4694357"/>
              <a:gd name="connsiteY1448" fmla="*/ 351338 h 4717133"/>
              <a:gd name="connsiteX1449" fmla="*/ 2515160 w 4694357"/>
              <a:gd name="connsiteY1449" fmla="*/ 333685 h 4717133"/>
              <a:gd name="connsiteX1450" fmla="*/ 2348318 w 4694357"/>
              <a:gd name="connsiteY1450" fmla="*/ 327990 h 4717133"/>
              <a:gd name="connsiteX1451" fmla="*/ 2365401 w 4694357"/>
              <a:gd name="connsiteY1451" fmla="*/ 345073 h 4717133"/>
              <a:gd name="connsiteX1452" fmla="*/ 2348318 w 4694357"/>
              <a:gd name="connsiteY1452" fmla="*/ 362156 h 4717133"/>
              <a:gd name="connsiteX1453" fmla="*/ 2331235 w 4694357"/>
              <a:gd name="connsiteY1453" fmla="*/ 345073 h 4717133"/>
              <a:gd name="connsiteX1454" fmla="*/ 2348318 w 4694357"/>
              <a:gd name="connsiteY1454" fmla="*/ 327990 h 4717133"/>
              <a:gd name="connsiteX1455" fmla="*/ 1692907 w 4694357"/>
              <a:gd name="connsiteY1455" fmla="*/ 326851 h 4717133"/>
              <a:gd name="connsiteX1456" fmla="*/ 1708282 w 4694357"/>
              <a:gd name="connsiteY1456" fmla="*/ 342226 h 4717133"/>
              <a:gd name="connsiteX1457" fmla="*/ 1692907 w 4694357"/>
              <a:gd name="connsiteY1457" fmla="*/ 357601 h 4717133"/>
              <a:gd name="connsiteX1458" fmla="*/ 1677532 w 4694357"/>
              <a:gd name="connsiteY1458" fmla="*/ 342226 h 4717133"/>
              <a:gd name="connsiteX1459" fmla="*/ 1692907 w 4694357"/>
              <a:gd name="connsiteY1459" fmla="*/ 326851 h 4717133"/>
              <a:gd name="connsiteX1460" fmla="*/ 3316913 w 4694357"/>
              <a:gd name="connsiteY1460" fmla="*/ 323435 h 4717133"/>
              <a:gd name="connsiteX1461" fmla="*/ 3342538 w 4694357"/>
              <a:gd name="connsiteY1461" fmla="*/ 348490 h 4717133"/>
              <a:gd name="connsiteX1462" fmla="*/ 3316913 w 4694357"/>
              <a:gd name="connsiteY1462" fmla="*/ 373545 h 4717133"/>
              <a:gd name="connsiteX1463" fmla="*/ 3291288 w 4694357"/>
              <a:gd name="connsiteY1463" fmla="*/ 348490 h 4717133"/>
              <a:gd name="connsiteX1464" fmla="*/ 3316913 w 4694357"/>
              <a:gd name="connsiteY1464" fmla="*/ 323435 h 4717133"/>
              <a:gd name="connsiteX1465" fmla="*/ 1379722 w 4694357"/>
              <a:gd name="connsiteY1465" fmla="*/ 322296 h 4717133"/>
              <a:gd name="connsiteX1466" fmla="*/ 1406485 w 4694357"/>
              <a:gd name="connsiteY1466" fmla="*/ 349059 h 4717133"/>
              <a:gd name="connsiteX1467" fmla="*/ 1379722 w 4694357"/>
              <a:gd name="connsiteY1467" fmla="*/ 375822 h 4717133"/>
              <a:gd name="connsiteX1468" fmla="*/ 1352959 w 4694357"/>
              <a:gd name="connsiteY1468" fmla="*/ 349059 h 4717133"/>
              <a:gd name="connsiteX1469" fmla="*/ 1379722 w 4694357"/>
              <a:gd name="connsiteY1469" fmla="*/ 322296 h 4717133"/>
              <a:gd name="connsiteX1470" fmla="*/ 3004298 w 4694357"/>
              <a:gd name="connsiteY1470" fmla="*/ 316601 h 4717133"/>
              <a:gd name="connsiteX1471" fmla="*/ 3030492 w 4694357"/>
              <a:gd name="connsiteY1471" fmla="*/ 342226 h 4717133"/>
              <a:gd name="connsiteX1472" fmla="*/ 3004298 w 4694357"/>
              <a:gd name="connsiteY1472" fmla="*/ 367851 h 4717133"/>
              <a:gd name="connsiteX1473" fmla="*/ 2978104 w 4694357"/>
              <a:gd name="connsiteY1473" fmla="*/ 342226 h 4717133"/>
              <a:gd name="connsiteX1474" fmla="*/ 3004298 w 4694357"/>
              <a:gd name="connsiteY1474" fmla="*/ 316601 h 4717133"/>
              <a:gd name="connsiteX1475" fmla="*/ 1227116 w 4694357"/>
              <a:gd name="connsiteY1475" fmla="*/ 290408 h 4717133"/>
              <a:gd name="connsiteX1476" fmla="*/ 1244769 w 4694357"/>
              <a:gd name="connsiteY1476" fmla="*/ 308061 h 4717133"/>
              <a:gd name="connsiteX1477" fmla="*/ 1227116 w 4694357"/>
              <a:gd name="connsiteY1477" fmla="*/ 325714 h 4717133"/>
              <a:gd name="connsiteX1478" fmla="*/ 1209463 w 4694357"/>
              <a:gd name="connsiteY1478" fmla="*/ 308061 h 4717133"/>
              <a:gd name="connsiteX1479" fmla="*/ 1227116 w 4694357"/>
              <a:gd name="connsiteY1479" fmla="*/ 290408 h 4717133"/>
              <a:gd name="connsiteX1480" fmla="*/ 3468949 w 4694357"/>
              <a:gd name="connsiteY1480" fmla="*/ 284714 h 4717133"/>
              <a:gd name="connsiteX1481" fmla="*/ 3491726 w 4694357"/>
              <a:gd name="connsiteY1481" fmla="*/ 307491 h 4717133"/>
              <a:gd name="connsiteX1482" fmla="*/ 3468949 w 4694357"/>
              <a:gd name="connsiteY1482" fmla="*/ 330268 h 4717133"/>
              <a:gd name="connsiteX1483" fmla="*/ 3446172 w 4694357"/>
              <a:gd name="connsiteY1483" fmla="*/ 307491 h 4717133"/>
              <a:gd name="connsiteX1484" fmla="*/ 3468949 w 4694357"/>
              <a:gd name="connsiteY1484" fmla="*/ 284714 h 4717133"/>
              <a:gd name="connsiteX1485" fmla="*/ 1852916 w 4694357"/>
              <a:gd name="connsiteY1485" fmla="*/ 280158 h 4717133"/>
              <a:gd name="connsiteX1486" fmla="*/ 1869999 w 4694357"/>
              <a:gd name="connsiteY1486" fmla="*/ 297241 h 4717133"/>
              <a:gd name="connsiteX1487" fmla="*/ 1852916 w 4694357"/>
              <a:gd name="connsiteY1487" fmla="*/ 314324 h 4717133"/>
              <a:gd name="connsiteX1488" fmla="*/ 1835833 w 4694357"/>
              <a:gd name="connsiteY1488" fmla="*/ 297241 h 4717133"/>
              <a:gd name="connsiteX1489" fmla="*/ 1852916 w 4694357"/>
              <a:gd name="connsiteY1489" fmla="*/ 280158 h 4717133"/>
              <a:gd name="connsiteX1490" fmla="*/ 2843719 w 4694357"/>
              <a:gd name="connsiteY1490" fmla="*/ 272187 h 4717133"/>
              <a:gd name="connsiteX1491" fmla="*/ 2868774 w 4694357"/>
              <a:gd name="connsiteY1491" fmla="*/ 296673 h 4717133"/>
              <a:gd name="connsiteX1492" fmla="*/ 2843719 w 4694357"/>
              <a:gd name="connsiteY1492" fmla="*/ 321159 h 4717133"/>
              <a:gd name="connsiteX1493" fmla="*/ 2818664 w 4694357"/>
              <a:gd name="connsiteY1493" fmla="*/ 296673 h 4717133"/>
              <a:gd name="connsiteX1494" fmla="*/ 2843719 w 4694357"/>
              <a:gd name="connsiteY1494" fmla="*/ 272187 h 4717133"/>
              <a:gd name="connsiteX1495" fmla="*/ 3164307 w 4694357"/>
              <a:gd name="connsiteY1495" fmla="*/ 256243 h 4717133"/>
              <a:gd name="connsiteX1496" fmla="*/ 3189932 w 4694357"/>
              <a:gd name="connsiteY1496" fmla="*/ 281868 h 4717133"/>
              <a:gd name="connsiteX1497" fmla="*/ 3164307 w 4694357"/>
              <a:gd name="connsiteY1497" fmla="*/ 307493 h 4717133"/>
              <a:gd name="connsiteX1498" fmla="*/ 3138682 w 4694357"/>
              <a:gd name="connsiteY1498" fmla="*/ 281868 h 4717133"/>
              <a:gd name="connsiteX1499" fmla="*/ 3164307 w 4694357"/>
              <a:gd name="connsiteY1499" fmla="*/ 256243 h 4717133"/>
              <a:gd name="connsiteX1500" fmla="*/ 1532328 w 4694357"/>
              <a:gd name="connsiteY1500" fmla="*/ 255103 h 4717133"/>
              <a:gd name="connsiteX1501" fmla="*/ 1559091 w 4694357"/>
              <a:gd name="connsiteY1501" fmla="*/ 281866 h 4717133"/>
              <a:gd name="connsiteX1502" fmla="*/ 1532328 w 4694357"/>
              <a:gd name="connsiteY1502" fmla="*/ 308629 h 4717133"/>
              <a:gd name="connsiteX1503" fmla="*/ 1505565 w 4694357"/>
              <a:gd name="connsiteY1503" fmla="*/ 281866 h 4717133"/>
              <a:gd name="connsiteX1504" fmla="*/ 1532328 w 4694357"/>
              <a:gd name="connsiteY1504" fmla="*/ 255103 h 4717133"/>
              <a:gd name="connsiteX1505" fmla="*/ 2016911 w 4694357"/>
              <a:gd name="connsiteY1505" fmla="*/ 245993 h 4717133"/>
              <a:gd name="connsiteX1506" fmla="*/ 2035133 w 4694357"/>
              <a:gd name="connsiteY1506" fmla="*/ 264785 h 4717133"/>
              <a:gd name="connsiteX1507" fmla="*/ 2016911 w 4694357"/>
              <a:gd name="connsiteY1507" fmla="*/ 283577 h 4717133"/>
              <a:gd name="connsiteX1508" fmla="*/ 1998689 w 4694357"/>
              <a:gd name="connsiteY1508" fmla="*/ 264785 h 4717133"/>
              <a:gd name="connsiteX1509" fmla="*/ 2016911 w 4694357"/>
              <a:gd name="connsiteY1509" fmla="*/ 245993 h 4717133"/>
              <a:gd name="connsiteX1510" fmla="*/ 2680294 w 4694357"/>
              <a:gd name="connsiteY1510" fmla="*/ 241437 h 4717133"/>
              <a:gd name="connsiteX1511" fmla="*/ 2703641 w 4694357"/>
              <a:gd name="connsiteY1511" fmla="*/ 264784 h 4717133"/>
              <a:gd name="connsiteX1512" fmla="*/ 2680294 w 4694357"/>
              <a:gd name="connsiteY1512" fmla="*/ 288131 h 4717133"/>
              <a:gd name="connsiteX1513" fmla="*/ 2656947 w 4694357"/>
              <a:gd name="connsiteY1513" fmla="*/ 264784 h 4717133"/>
              <a:gd name="connsiteX1514" fmla="*/ 2680294 w 4694357"/>
              <a:gd name="connsiteY1514" fmla="*/ 241437 h 4717133"/>
              <a:gd name="connsiteX1515" fmla="*/ 2182045 w 4694357"/>
              <a:gd name="connsiteY1515" fmla="*/ 225493 h 4717133"/>
              <a:gd name="connsiteX1516" fmla="*/ 2201406 w 4694357"/>
              <a:gd name="connsiteY1516" fmla="*/ 244854 h 4717133"/>
              <a:gd name="connsiteX1517" fmla="*/ 2182045 w 4694357"/>
              <a:gd name="connsiteY1517" fmla="*/ 264215 h 4717133"/>
              <a:gd name="connsiteX1518" fmla="*/ 2162684 w 4694357"/>
              <a:gd name="connsiteY1518" fmla="*/ 244854 h 4717133"/>
              <a:gd name="connsiteX1519" fmla="*/ 2182045 w 4694357"/>
              <a:gd name="connsiteY1519" fmla="*/ 225493 h 4717133"/>
              <a:gd name="connsiteX1520" fmla="*/ 2515160 w 4694357"/>
              <a:gd name="connsiteY1520" fmla="*/ 223215 h 4717133"/>
              <a:gd name="connsiteX1521" fmla="*/ 2537368 w 4694357"/>
              <a:gd name="connsiteY1521" fmla="*/ 245423 h 4717133"/>
              <a:gd name="connsiteX1522" fmla="*/ 2515160 w 4694357"/>
              <a:gd name="connsiteY1522" fmla="*/ 267631 h 4717133"/>
              <a:gd name="connsiteX1523" fmla="*/ 2492952 w 4694357"/>
              <a:gd name="connsiteY1523" fmla="*/ 245423 h 4717133"/>
              <a:gd name="connsiteX1524" fmla="*/ 2515160 w 4694357"/>
              <a:gd name="connsiteY1524" fmla="*/ 223215 h 4717133"/>
              <a:gd name="connsiteX1525" fmla="*/ 2348318 w 4694357"/>
              <a:gd name="connsiteY1525" fmla="*/ 217522 h 4717133"/>
              <a:gd name="connsiteX1526" fmla="*/ 2368818 w 4694357"/>
              <a:gd name="connsiteY1526" fmla="*/ 238591 h 4717133"/>
              <a:gd name="connsiteX1527" fmla="*/ 2348318 w 4694357"/>
              <a:gd name="connsiteY1527" fmla="*/ 259660 h 4717133"/>
              <a:gd name="connsiteX1528" fmla="*/ 2327818 w 4694357"/>
              <a:gd name="connsiteY1528" fmla="*/ 238591 h 4717133"/>
              <a:gd name="connsiteX1529" fmla="*/ 2348318 w 4694357"/>
              <a:gd name="connsiteY1529" fmla="*/ 217522 h 4717133"/>
              <a:gd name="connsiteX1530" fmla="*/ 1376875 w 4694357"/>
              <a:gd name="connsiteY1530" fmla="*/ 214105 h 4717133"/>
              <a:gd name="connsiteX1531" fmla="*/ 1395097 w 4694357"/>
              <a:gd name="connsiteY1531" fmla="*/ 232897 h 4717133"/>
              <a:gd name="connsiteX1532" fmla="*/ 1376875 w 4694357"/>
              <a:gd name="connsiteY1532" fmla="*/ 251689 h 4717133"/>
              <a:gd name="connsiteX1533" fmla="*/ 1358653 w 4694357"/>
              <a:gd name="connsiteY1533" fmla="*/ 232897 h 4717133"/>
              <a:gd name="connsiteX1534" fmla="*/ 1376875 w 4694357"/>
              <a:gd name="connsiteY1534" fmla="*/ 214105 h 4717133"/>
              <a:gd name="connsiteX1535" fmla="*/ 3319760 w 4694357"/>
              <a:gd name="connsiteY1535" fmla="*/ 209549 h 4717133"/>
              <a:gd name="connsiteX1536" fmla="*/ 3342537 w 4694357"/>
              <a:gd name="connsiteY1536" fmla="*/ 232326 h 4717133"/>
              <a:gd name="connsiteX1537" fmla="*/ 3319760 w 4694357"/>
              <a:gd name="connsiteY1537" fmla="*/ 255103 h 4717133"/>
              <a:gd name="connsiteX1538" fmla="*/ 3296983 w 4694357"/>
              <a:gd name="connsiteY1538" fmla="*/ 232326 h 4717133"/>
              <a:gd name="connsiteX1539" fmla="*/ 3319760 w 4694357"/>
              <a:gd name="connsiteY1539" fmla="*/ 209549 h 4717133"/>
              <a:gd name="connsiteX1540" fmla="*/ 3006575 w 4694357"/>
              <a:gd name="connsiteY1540" fmla="*/ 200438 h 4717133"/>
              <a:gd name="connsiteX1541" fmla="*/ 3032769 w 4694357"/>
              <a:gd name="connsiteY1541" fmla="*/ 226632 h 4717133"/>
              <a:gd name="connsiteX1542" fmla="*/ 3006575 w 4694357"/>
              <a:gd name="connsiteY1542" fmla="*/ 252826 h 4717133"/>
              <a:gd name="connsiteX1543" fmla="*/ 2980381 w 4694357"/>
              <a:gd name="connsiteY1543" fmla="*/ 226632 h 4717133"/>
              <a:gd name="connsiteX1544" fmla="*/ 3006575 w 4694357"/>
              <a:gd name="connsiteY1544" fmla="*/ 200438 h 4717133"/>
              <a:gd name="connsiteX1545" fmla="*/ 1690629 w 4694357"/>
              <a:gd name="connsiteY1545" fmla="*/ 200438 h 4717133"/>
              <a:gd name="connsiteX1546" fmla="*/ 1717392 w 4694357"/>
              <a:gd name="connsiteY1546" fmla="*/ 227201 h 4717133"/>
              <a:gd name="connsiteX1547" fmla="*/ 1690629 w 4694357"/>
              <a:gd name="connsiteY1547" fmla="*/ 253964 h 4717133"/>
              <a:gd name="connsiteX1548" fmla="*/ 1663866 w 4694357"/>
              <a:gd name="connsiteY1548" fmla="*/ 227201 h 4717133"/>
              <a:gd name="connsiteX1549" fmla="*/ 1690629 w 4694357"/>
              <a:gd name="connsiteY1549" fmla="*/ 200438 h 4717133"/>
              <a:gd name="connsiteX1550" fmla="*/ 2845427 w 4694357"/>
              <a:gd name="connsiteY1550" fmla="*/ 157162 h 4717133"/>
              <a:gd name="connsiteX1551" fmla="*/ 2871052 w 4694357"/>
              <a:gd name="connsiteY1551" fmla="*/ 183356 h 4717133"/>
              <a:gd name="connsiteX1552" fmla="*/ 2845427 w 4694357"/>
              <a:gd name="connsiteY1552" fmla="*/ 209550 h 4717133"/>
              <a:gd name="connsiteX1553" fmla="*/ 2819802 w 4694357"/>
              <a:gd name="connsiteY1553" fmla="*/ 183356 h 4717133"/>
              <a:gd name="connsiteX1554" fmla="*/ 2845427 w 4694357"/>
              <a:gd name="connsiteY1554" fmla="*/ 157162 h 4717133"/>
              <a:gd name="connsiteX1555" fmla="*/ 1851207 w 4694357"/>
              <a:gd name="connsiteY1555" fmla="*/ 157162 h 4717133"/>
              <a:gd name="connsiteX1556" fmla="*/ 1877970 w 4694357"/>
              <a:gd name="connsiteY1556" fmla="*/ 183925 h 4717133"/>
              <a:gd name="connsiteX1557" fmla="*/ 1851207 w 4694357"/>
              <a:gd name="connsiteY1557" fmla="*/ 210688 h 4717133"/>
              <a:gd name="connsiteX1558" fmla="*/ 1824444 w 4694357"/>
              <a:gd name="connsiteY1558" fmla="*/ 183925 h 4717133"/>
              <a:gd name="connsiteX1559" fmla="*/ 1851207 w 4694357"/>
              <a:gd name="connsiteY1559" fmla="*/ 157162 h 4717133"/>
              <a:gd name="connsiteX1560" fmla="*/ 1530621 w 4694357"/>
              <a:gd name="connsiteY1560" fmla="*/ 150329 h 4717133"/>
              <a:gd name="connsiteX1561" fmla="*/ 1549982 w 4694357"/>
              <a:gd name="connsiteY1561" fmla="*/ 169121 h 4717133"/>
              <a:gd name="connsiteX1562" fmla="*/ 1530621 w 4694357"/>
              <a:gd name="connsiteY1562" fmla="*/ 187913 h 4717133"/>
              <a:gd name="connsiteX1563" fmla="*/ 1511260 w 4694357"/>
              <a:gd name="connsiteY1563" fmla="*/ 169121 h 4717133"/>
              <a:gd name="connsiteX1564" fmla="*/ 1530621 w 4694357"/>
              <a:gd name="connsiteY1564" fmla="*/ 150329 h 4717133"/>
              <a:gd name="connsiteX1565" fmla="*/ 3166014 w 4694357"/>
              <a:gd name="connsiteY1565" fmla="*/ 145773 h 4717133"/>
              <a:gd name="connsiteX1566" fmla="*/ 3188791 w 4694357"/>
              <a:gd name="connsiteY1566" fmla="*/ 168550 h 4717133"/>
              <a:gd name="connsiteX1567" fmla="*/ 3166014 w 4694357"/>
              <a:gd name="connsiteY1567" fmla="*/ 191327 h 4717133"/>
              <a:gd name="connsiteX1568" fmla="*/ 3143237 w 4694357"/>
              <a:gd name="connsiteY1568" fmla="*/ 168550 h 4717133"/>
              <a:gd name="connsiteX1569" fmla="*/ 3166014 w 4694357"/>
              <a:gd name="connsiteY1569" fmla="*/ 145773 h 4717133"/>
              <a:gd name="connsiteX1570" fmla="*/ 2681433 w 4694357"/>
              <a:gd name="connsiteY1570" fmla="*/ 126413 h 4717133"/>
              <a:gd name="connsiteX1571" fmla="*/ 2707058 w 4694357"/>
              <a:gd name="connsiteY1571" fmla="*/ 152607 h 4717133"/>
              <a:gd name="connsiteX1572" fmla="*/ 2681433 w 4694357"/>
              <a:gd name="connsiteY1572" fmla="*/ 178801 h 4717133"/>
              <a:gd name="connsiteX1573" fmla="*/ 2655808 w 4694357"/>
              <a:gd name="connsiteY1573" fmla="*/ 152607 h 4717133"/>
              <a:gd name="connsiteX1574" fmla="*/ 2681433 w 4694357"/>
              <a:gd name="connsiteY1574" fmla="*/ 126413 h 4717133"/>
              <a:gd name="connsiteX1575" fmla="*/ 2015202 w 4694357"/>
              <a:gd name="connsiteY1575" fmla="*/ 126413 h 4717133"/>
              <a:gd name="connsiteX1576" fmla="*/ 2041965 w 4694357"/>
              <a:gd name="connsiteY1576" fmla="*/ 152607 h 4717133"/>
              <a:gd name="connsiteX1577" fmla="*/ 2015202 w 4694357"/>
              <a:gd name="connsiteY1577" fmla="*/ 178801 h 4717133"/>
              <a:gd name="connsiteX1578" fmla="*/ 1988439 w 4694357"/>
              <a:gd name="connsiteY1578" fmla="*/ 152607 h 4717133"/>
              <a:gd name="connsiteX1579" fmla="*/ 2015202 w 4694357"/>
              <a:gd name="connsiteY1579" fmla="*/ 126413 h 4717133"/>
              <a:gd name="connsiteX1580" fmla="*/ 2515159 w 4694357"/>
              <a:gd name="connsiteY1580" fmla="*/ 108192 h 4717133"/>
              <a:gd name="connsiteX1581" fmla="*/ 2541922 w 4694357"/>
              <a:gd name="connsiteY1581" fmla="*/ 133817 h 4717133"/>
              <a:gd name="connsiteX1582" fmla="*/ 2515159 w 4694357"/>
              <a:gd name="connsiteY1582" fmla="*/ 159442 h 4717133"/>
              <a:gd name="connsiteX1583" fmla="*/ 2488396 w 4694357"/>
              <a:gd name="connsiteY1583" fmla="*/ 133817 h 4717133"/>
              <a:gd name="connsiteX1584" fmla="*/ 2515159 w 4694357"/>
              <a:gd name="connsiteY1584" fmla="*/ 108192 h 4717133"/>
              <a:gd name="connsiteX1585" fmla="*/ 2181475 w 4694357"/>
              <a:gd name="connsiteY1585" fmla="*/ 107052 h 4717133"/>
              <a:gd name="connsiteX1586" fmla="*/ 2208238 w 4694357"/>
              <a:gd name="connsiteY1586" fmla="*/ 133815 h 4717133"/>
              <a:gd name="connsiteX1587" fmla="*/ 2181475 w 4694357"/>
              <a:gd name="connsiteY1587" fmla="*/ 160578 h 4717133"/>
              <a:gd name="connsiteX1588" fmla="*/ 2154712 w 4694357"/>
              <a:gd name="connsiteY1588" fmla="*/ 133815 h 4717133"/>
              <a:gd name="connsiteX1589" fmla="*/ 2181475 w 4694357"/>
              <a:gd name="connsiteY1589" fmla="*/ 107052 h 4717133"/>
              <a:gd name="connsiteX1590" fmla="*/ 2348318 w 4694357"/>
              <a:gd name="connsiteY1590" fmla="*/ 101358 h 4717133"/>
              <a:gd name="connsiteX1591" fmla="*/ 2374512 w 4694357"/>
              <a:gd name="connsiteY1591" fmla="*/ 127552 h 4717133"/>
              <a:gd name="connsiteX1592" fmla="*/ 2348318 w 4694357"/>
              <a:gd name="connsiteY1592" fmla="*/ 153746 h 4717133"/>
              <a:gd name="connsiteX1593" fmla="*/ 2322124 w 4694357"/>
              <a:gd name="connsiteY1593" fmla="*/ 127552 h 4717133"/>
              <a:gd name="connsiteX1594" fmla="*/ 2348318 w 4694357"/>
              <a:gd name="connsiteY1594" fmla="*/ 101358 h 4717133"/>
              <a:gd name="connsiteX1595" fmla="*/ 1688921 w 4694357"/>
              <a:gd name="connsiteY1595" fmla="*/ 96803 h 4717133"/>
              <a:gd name="connsiteX1596" fmla="*/ 1708282 w 4694357"/>
              <a:gd name="connsiteY1596" fmla="*/ 116164 h 4717133"/>
              <a:gd name="connsiteX1597" fmla="*/ 1688921 w 4694357"/>
              <a:gd name="connsiteY1597" fmla="*/ 135525 h 4717133"/>
              <a:gd name="connsiteX1598" fmla="*/ 1669560 w 4694357"/>
              <a:gd name="connsiteY1598" fmla="*/ 116164 h 4717133"/>
              <a:gd name="connsiteX1599" fmla="*/ 1688921 w 4694357"/>
              <a:gd name="connsiteY1599" fmla="*/ 96803 h 4717133"/>
              <a:gd name="connsiteX1600" fmla="*/ 3007714 w 4694357"/>
              <a:gd name="connsiteY1600" fmla="*/ 93386 h 4717133"/>
              <a:gd name="connsiteX1601" fmla="*/ 3030491 w 4694357"/>
              <a:gd name="connsiteY1601" fmla="*/ 115594 h 4717133"/>
              <a:gd name="connsiteX1602" fmla="*/ 3007714 w 4694357"/>
              <a:gd name="connsiteY1602" fmla="*/ 137802 h 4717133"/>
              <a:gd name="connsiteX1603" fmla="*/ 2984937 w 4694357"/>
              <a:gd name="connsiteY1603" fmla="*/ 115594 h 4717133"/>
              <a:gd name="connsiteX1604" fmla="*/ 3007714 w 4694357"/>
              <a:gd name="connsiteY1604" fmla="*/ 93386 h 4717133"/>
              <a:gd name="connsiteX1605" fmla="*/ 1850638 w 4694357"/>
              <a:gd name="connsiteY1605" fmla="*/ 54665 h 4717133"/>
              <a:gd name="connsiteX1606" fmla="*/ 1869999 w 4694357"/>
              <a:gd name="connsiteY1606" fmla="*/ 74595 h 4717133"/>
              <a:gd name="connsiteX1607" fmla="*/ 1850638 w 4694357"/>
              <a:gd name="connsiteY1607" fmla="*/ 94525 h 4717133"/>
              <a:gd name="connsiteX1608" fmla="*/ 1831277 w 4694357"/>
              <a:gd name="connsiteY1608" fmla="*/ 74595 h 4717133"/>
              <a:gd name="connsiteX1609" fmla="*/ 1850638 w 4694357"/>
              <a:gd name="connsiteY1609" fmla="*/ 54665 h 4717133"/>
              <a:gd name="connsiteX1610" fmla="*/ 2845427 w 4694357"/>
              <a:gd name="connsiteY1610" fmla="*/ 52387 h 4717133"/>
              <a:gd name="connsiteX1611" fmla="*/ 2867635 w 4694357"/>
              <a:gd name="connsiteY1611" fmla="*/ 74595 h 4717133"/>
              <a:gd name="connsiteX1612" fmla="*/ 2845427 w 4694357"/>
              <a:gd name="connsiteY1612" fmla="*/ 96803 h 4717133"/>
              <a:gd name="connsiteX1613" fmla="*/ 2823219 w 4694357"/>
              <a:gd name="connsiteY1613" fmla="*/ 74595 h 4717133"/>
              <a:gd name="connsiteX1614" fmla="*/ 2845427 w 4694357"/>
              <a:gd name="connsiteY1614" fmla="*/ 52387 h 4717133"/>
              <a:gd name="connsiteX1615" fmla="*/ 2015202 w 4694357"/>
              <a:gd name="connsiteY1615" fmla="*/ 25055 h 4717133"/>
              <a:gd name="connsiteX1616" fmla="*/ 2035132 w 4694357"/>
              <a:gd name="connsiteY1616" fmla="*/ 44985 h 4717133"/>
              <a:gd name="connsiteX1617" fmla="*/ 2015202 w 4694357"/>
              <a:gd name="connsiteY1617" fmla="*/ 64915 h 4717133"/>
              <a:gd name="connsiteX1618" fmla="*/ 1995272 w 4694357"/>
              <a:gd name="connsiteY1618" fmla="*/ 44985 h 4717133"/>
              <a:gd name="connsiteX1619" fmla="*/ 2015202 w 4694357"/>
              <a:gd name="connsiteY1619" fmla="*/ 25055 h 4717133"/>
              <a:gd name="connsiteX1620" fmla="*/ 2680862 w 4694357"/>
              <a:gd name="connsiteY1620" fmla="*/ 22777 h 4717133"/>
              <a:gd name="connsiteX1621" fmla="*/ 2702500 w 4694357"/>
              <a:gd name="connsiteY1621" fmla="*/ 44985 h 4717133"/>
              <a:gd name="connsiteX1622" fmla="*/ 2680862 w 4694357"/>
              <a:gd name="connsiteY1622" fmla="*/ 67193 h 4717133"/>
              <a:gd name="connsiteX1623" fmla="*/ 2659224 w 4694357"/>
              <a:gd name="connsiteY1623" fmla="*/ 44985 h 4717133"/>
              <a:gd name="connsiteX1624" fmla="*/ 2680862 w 4694357"/>
              <a:gd name="connsiteY1624" fmla="*/ 22777 h 4717133"/>
              <a:gd name="connsiteX1625" fmla="*/ 2181475 w 4694357"/>
              <a:gd name="connsiteY1625" fmla="*/ 6833 h 4717133"/>
              <a:gd name="connsiteX1626" fmla="*/ 2202544 w 4694357"/>
              <a:gd name="connsiteY1626" fmla="*/ 27333 h 4717133"/>
              <a:gd name="connsiteX1627" fmla="*/ 2181475 w 4694357"/>
              <a:gd name="connsiteY1627" fmla="*/ 47833 h 4717133"/>
              <a:gd name="connsiteX1628" fmla="*/ 2160406 w 4694357"/>
              <a:gd name="connsiteY1628" fmla="*/ 27333 h 4717133"/>
              <a:gd name="connsiteX1629" fmla="*/ 2181475 w 4694357"/>
              <a:gd name="connsiteY1629" fmla="*/ 6833 h 4717133"/>
              <a:gd name="connsiteX1630" fmla="*/ 2515159 w 4694357"/>
              <a:gd name="connsiteY1630" fmla="*/ 5695 h 4717133"/>
              <a:gd name="connsiteX1631" fmla="*/ 2536228 w 4694357"/>
              <a:gd name="connsiteY1631" fmla="*/ 27333 h 4717133"/>
              <a:gd name="connsiteX1632" fmla="*/ 2515159 w 4694357"/>
              <a:gd name="connsiteY1632" fmla="*/ 48971 h 4717133"/>
              <a:gd name="connsiteX1633" fmla="*/ 2494090 w 4694357"/>
              <a:gd name="connsiteY1633" fmla="*/ 27333 h 4717133"/>
              <a:gd name="connsiteX1634" fmla="*/ 2515159 w 4694357"/>
              <a:gd name="connsiteY1634" fmla="*/ 5695 h 4717133"/>
              <a:gd name="connsiteX1635" fmla="*/ 2347748 w 4694357"/>
              <a:gd name="connsiteY1635" fmla="*/ 0 h 4717133"/>
              <a:gd name="connsiteX1636" fmla="*/ 2368817 w 4694357"/>
              <a:gd name="connsiteY1636" fmla="*/ 21069 h 4717133"/>
              <a:gd name="connsiteX1637" fmla="*/ 2347748 w 4694357"/>
              <a:gd name="connsiteY1637" fmla="*/ 42138 h 4717133"/>
              <a:gd name="connsiteX1638" fmla="*/ 2326679 w 4694357"/>
              <a:gd name="connsiteY1638" fmla="*/ 21069 h 4717133"/>
              <a:gd name="connsiteX1639" fmla="*/ 2347748 w 4694357"/>
              <a:gd name="connsiteY1639" fmla="*/ 0 h 47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Lst>
            <a:rect l="l" t="t" r="r" b="b"/>
            <a:pathLst>
              <a:path w="1922" h="1931">
                <a:moveTo>
                  <a:pt x="962" y="1915"/>
                </a:moveTo>
                <a:lnTo>
                  <a:pt x="964" y="1915"/>
                </a:lnTo>
                <a:lnTo>
                  <a:pt x="965" y="1916"/>
                </a:lnTo>
                <a:lnTo>
                  <a:pt x="967" y="1916"/>
                </a:lnTo>
                <a:lnTo>
                  <a:pt x="968" y="1918"/>
                </a:lnTo>
                <a:lnTo>
                  <a:pt x="969" y="1919"/>
                </a:lnTo>
                <a:lnTo>
                  <a:pt x="970" y="1921"/>
                </a:lnTo>
                <a:lnTo>
                  <a:pt x="970" y="1923"/>
                </a:lnTo>
                <a:lnTo>
                  <a:pt x="970" y="1925"/>
                </a:lnTo>
                <a:lnTo>
                  <a:pt x="969" y="1926"/>
                </a:lnTo>
                <a:lnTo>
                  <a:pt x="968" y="1928"/>
                </a:lnTo>
                <a:lnTo>
                  <a:pt x="967" y="1929"/>
                </a:lnTo>
                <a:lnTo>
                  <a:pt x="965" y="1930"/>
                </a:lnTo>
                <a:lnTo>
                  <a:pt x="964" y="1931"/>
                </a:lnTo>
                <a:lnTo>
                  <a:pt x="962" y="1931"/>
                </a:lnTo>
                <a:lnTo>
                  <a:pt x="960" y="1931"/>
                </a:lnTo>
                <a:lnTo>
                  <a:pt x="958" y="1930"/>
                </a:lnTo>
                <a:lnTo>
                  <a:pt x="957" y="1929"/>
                </a:lnTo>
                <a:lnTo>
                  <a:pt x="955" y="1928"/>
                </a:lnTo>
                <a:lnTo>
                  <a:pt x="954" y="1926"/>
                </a:lnTo>
                <a:lnTo>
                  <a:pt x="954" y="1925"/>
                </a:lnTo>
                <a:lnTo>
                  <a:pt x="954" y="1923"/>
                </a:lnTo>
                <a:lnTo>
                  <a:pt x="954" y="1921"/>
                </a:lnTo>
                <a:lnTo>
                  <a:pt x="954" y="1919"/>
                </a:lnTo>
                <a:lnTo>
                  <a:pt x="955" y="1918"/>
                </a:lnTo>
                <a:lnTo>
                  <a:pt x="957" y="1916"/>
                </a:lnTo>
                <a:lnTo>
                  <a:pt x="958" y="1916"/>
                </a:lnTo>
                <a:lnTo>
                  <a:pt x="960" y="1915"/>
                </a:lnTo>
                <a:lnTo>
                  <a:pt x="962" y="1915"/>
                </a:lnTo>
                <a:close/>
                <a:moveTo>
                  <a:pt x="893" y="1913"/>
                </a:moveTo>
                <a:lnTo>
                  <a:pt x="895" y="1913"/>
                </a:lnTo>
                <a:lnTo>
                  <a:pt x="897" y="1914"/>
                </a:lnTo>
                <a:lnTo>
                  <a:pt x="898" y="1915"/>
                </a:lnTo>
                <a:lnTo>
                  <a:pt x="900" y="1916"/>
                </a:lnTo>
                <a:lnTo>
                  <a:pt x="901" y="1917"/>
                </a:lnTo>
                <a:lnTo>
                  <a:pt x="901" y="1919"/>
                </a:lnTo>
                <a:lnTo>
                  <a:pt x="901" y="1921"/>
                </a:lnTo>
                <a:lnTo>
                  <a:pt x="901" y="1922"/>
                </a:lnTo>
                <a:lnTo>
                  <a:pt x="901" y="1924"/>
                </a:lnTo>
                <a:lnTo>
                  <a:pt x="900" y="1925"/>
                </a:lnTo>
                <a:lnTo>
                  <a:pt x="898" y="1927"/>
                </a:lnTo>
                <a:lnTo>
                  <a:pt x="897" y="1927"/>
                </a:lnTo>
                <a:lnTo>
                  <a:pt x="895" y="1928"/>
                </a:lnTo>
                <a:lnTo>
                  <a:pt x="893" y="1928"/>
                </a:lnTo>
                <a:lnTo>
                  <a:pt x="892" y="1928"/>
                </a:lnTo>
                <a:lnTo>
                  <a:pt x="890" y="1927"/>
                </a:lnTo>
                <a:lnTo>
                  <a:pt x="888" y="1927"/>
                </a:lnTo>
                <a:lnTo>
                  <a:pt x="887" y="1925"/>
                </a:lnTo>
                <a:lnTo>
                  <a:pt x="886" y="1924"/>
                </a:lnTo>
                <a:lnTo>
                  <a:pt x="886" y="1922"/>
                </a:lnTo>
                <a:lnTo>
                  <a:pt x="885" y="1921"/>
                </a:lnTo>
                <a:lnTo>
                  <a:pt x="886" y="1919"/>
                </a:lnTo>
                <a:lnTo>
                  <a:pt x="886" y="1917"/>
                </a:lnTo>
                <a:lnTo>
                  <a:pt x="887" y="1916"/>
                </a:lnTo>
                <a:lnTo>
                  <a:pt x="888" y="1915"/>
                </a:lnTo>
                <a:lnTo>
                  <a:pt x="890" y="1914"/>
                </a:lnTo>
                <a:lnTo>
                  <a:pt x="892" y="1913"/>
                </a:lnTo>
                <a:lnTo>
                  <a:pt x="893" y="1913"/>
                </a:lnTo>
                <a:close/>
                <a:moveTo>
                  <a:pt x="1031" y="1912"/>
                </a:moveTo>
                <a:lnTo>
                  <a:pt x="1032" y="1913"/>
                </a:lnTo>
                <a:lnTo>
                  <a:pt x="1034" y="1913"/>
                </a:lnTo>
                <a:lnTo>
                  <a:pt x="1036" y="1914"/>
                </a:lnTo>
                <a:lnTo>
                  <a:pt x="1037" y="1915"/>
                </a:lnTo>
                <a:lnTo>
                  <a:pt x="1038" y="1917"/>
                </a:lnTo>
                <a:lnTo>
                  <a:pt x="1038" y="1918"/>
                </a:lnTo>
                <a:lnTo>
                  <a:pt x="1038" y="1920"/>
                </a:lnTo>
                <a:lnTo>
                  <a:pt x="1038" y="1922"/>
                </a:lnTo>
                <a:lnTo>
                  <a:pt x="1038" y="1924"/>
                </a:lnTo>
                <a:lnTo>
                  <a:pt x="1037" y="1925"/>
                </a:lnTo>
                <a:lnTo>
                  <a:pt x="1036" y="1926"/>
                </a:lnTo>
                <a:lnTo>
                  <a:pt x="1034" y="1927"/>
                </a:lnTo>
                <a:lnTo>
                  <a:pt x="1032" y="1928"/>
                </a:lnTo>
                <a:lnTo>
                  <a:pt x="1031" y="1928"/>
                </a:lnTo>
                <a:lnTo>
                  <a:pt x="1029" y="1928"/>
                </a:lnTo>
                <a:lnTo>
                  <a:pt x="1027" y="1927"/>
                </a:lnTo>
                <a:lnTo>
                  <a:pt x="1026" y="1926"/>
                </a:lnTo>
                <a:lnTo>
                  <a:pt x="1025" y="1925"/>
                </a:lnTo>
                <a:lnTo>
                  <a:pt x="1024" y="1924"/>
                </a:lnTo>
                <a:lnTo>
                  <a:pt x="1023" y="1922"/>
                </a:lnTo>
                <a:lnTo>
                  <a:pt x="1023" y="1920"/>
                </a:lnTo>
                <a:lnTo>
                  <a:pt x="1023" y="1918"/>
                </a:lnTo>
                <a:lnTo>
                  <a:pt x="1024" y="1917"/>
                </a:lnTo>
                <a:lnTo>
                  <a:pt x="1025" y="1915"/>
                </a:lnTo>
                <a:lnTo>
                  <a:pt x="1026" y="1914"/>
                </a:lnTo>
                <a:lnTo>
                  <a:pt x="1027" y="1913"/>
                </a:lnTo>
                <a:lnTo>
                  <a:pt x="1029" y="1913"/>
                </a:lnTo>
                <a:lnTo>
                  <a:pt x="1031" y="1912"/>
                </a:lnTo>
                <a:close/>
                <a:moveTo>
                  <a:pt x="825" y="1906"/>
                </a:moveTo>
                <a:lnTo>
                  <a:pt x="827" y="1906"/>
                </a:lnTo>
                <a:lnTo>
                  <a:pt x="829" y="1907"/>
                </a:lnTo>
                <a:lnTo>
                  <a:pt x="831" y="1908"/>
                </a:lnTo>
                <a:lnTo>
                  <a:pt x="832" y="1910"/>
                </a:lnTo>
                <a:lnTo>
                  <a:pt x="833" y="1911"/>
                </a:lnTo>
                <a:lnTo>
                  <a:pt x="833" y="1913"/>
                </a:lnTo>
                <a:lnTo>
                  <a:pt x="833" y="1915"/>
                </a:lnTo>
                <a:lnTo>
                  <a:pt x="832" y="1917"/>
                </a:lnTo>
                <a:lnTo>
                  <a:pt x="831" y="1919"/>
                </a:lnTo>
                <a:lnTo>
                  <a:pt x="829" y="1920"/>
                </a:lnTo>
                <a:lnTo>
                  <a:pt x="827" y="1920"/>
                </a:lnTo>
                <a:lnTo>
                  <a:pt x="825" y="1921"/>
                </a:lnTo>
                <a:lnTo>
                  <a:pt x="823" y="1920"/>
                </a:lnTo>
                <a:lnTo>
                  <a:pt x="822" y="1920"/>
                </a:lnTo>
                <a:lnTo>
                  <a:pt x="820" y="1919"/>
                </a:lnTo>
                <a:lnTo>
                  <a:pt x="819" y="1917"/>
                </a:lnTo>
                <a:lnTo>
                  <a:pt x="818" y="1915"/>
                </a:lnTo>
                <a:lnTo>
                  <a:pt x="818" y="1913"/>
                </a:lnTo>
                <a:lnTo>
                  <a:pt x="818" y="1911"/>
                </a:lnTo>
                <a:lnTo>
                  <a:pt x="819" y="1910"/>
                </a:lnTo>
                <a:lnTo>
                  <a:pt x="820" y="1908"/>
                </a:lnTo>
                <a:lnTo>
                  <a:pt x="822" y="1907"/>
                </a:lnTo>
                <a:lnTo>
                  <a:pt x="823" y="1906"/>
                </a:lnTo>
                <a:lnTo>
                  <a:pt x="825" y="1906"/>
                </a:lnTo>
                <a:close/>
                <a:moveTo>
                  <a:pt x="1099" y="1905"/>
                </a:moveTo>
                <a:lnTo>
                  <a:pt x="1101" y="1906"/>
                </a:lnTo>
                <a:lnTo>
                  <a:pt x="1102" y="1906"/>
                </a:lnTo>
                <a:lnTo>
                  <a:pt x="1104" y="1907"/>
                </a:lnTo>
                <a:lnTo>
                  <a:pt x="1105" y="1908"/>
                </a:lnTo>
                <a:lnTo>
                  <a:pt x="1106" y="1910"/>
                </a:lnTo>
                <a:lnTo>
                  <a:pt x="1106" y="1911"/>
                </a:lnTo>
                <a:lnTo>
                  <a:pt x="1106" y="1913"/>
                </a:lnTo>
                <a:lnTo>
                  <a:pt x="1106" y="1915"/>
                </a:lnTo>
                <a:lnTo>
                  <a:pt x="1106" y="1916"/>
                </a:lnTo>
                <a:lnTo>
                  <a:pt x="1105" y="1918"/>
                </a:lnTo>
                <a:lnTo>
                  <a:pt x="1104" y="1919"/>
                </a:lnTo>
                <a:lnTo>
                  <a:pt x="1102" y="1920"/>
                </a:lnTo>
                <a:lnTo>
                  <a:pt x="1101" y="1921"/>
                </a:lnTo>
                <a:lnTo>
                  <a:pt x="1099" y="1921"/>
                </a:lnTo>
                <a:lnTo>
                  <a:pt x="1097" y="1921"/>
                </a:lnTo>
                <a:lnTo>
                  <a:pt x="1095" y="1920"/>
                </a:lnTo>
                <a:lnTo>
                  <a:pt x="1094" y="1919"/>
                </a:lnTo>
                <a:lnTo>
                  <a:pt x="1093" y="1918"/>
                </a:lnTo>
                <a:lnTo>
                  <a:pt x="1092" y="1916"/>
                </a:lnTo>
                <a:lnTo>
                  <a:pt x="1091" y="1915"/>
                </a:lnTo>
                <a:lnTo>
                  <a:pt x="1091" y="1913"/>
                </a:lnTo>
                <a:lnTo>
                  <a:pt x="1091" y="1911"/>
                </a:lnTo>
                <a:lnTo>
                  <a:pt x="1092" y="1910"/>
                </a:lnTo>
                <a:lnTo>
                  <a:pt x="1093" y="1908"/>
                </a:lnTo>
                <a:lnTo>
                  <a:pt x="1094" y="1907"/>
                </a:lnTo>
                <a:lnTo>
                  <a:pt x="1095" y="1906"/>
                </a:lnTo>
                <a:lnTo>
                  <a:pt x="1097" y="1906"/>
                </a:lnTo>
                <a:lnTo>
                  <a:pt x="1099" y="1905"/>
                </a:lnTo>
                <a:close/>
                <a:moveTo>
                  <a:pt x="758" y="1894"/>
                </a:moveTo>
                <a:lnTo>
                  <a:pt x="760" y="1894"/>
                </a:lnTo>
                <a:lnTo>
                  <a:pt x="762" y="1895"/>
                </a:lnTo>
                <a:lnTo>
                  <a:pt x="763" y="1896"/>
                </a:lnTo>
                <a:lnTo>
                  <a:pt x="764" y="1898"/>
                </a:lnTo>
                <a:lnTo>
                  <a:pt x="765" y="1899"/>
                </a:lnTo>
                <a:lnTo>
                  <a:pt x="765" y="1901"/>
                </a:lnTo>
                <a:lnTo>
                  <a:pt x="765" y="1903"/>
                </a:lnTo>
                <a:lnTo>
                  <a:pt x="764" y="1905"/>
                </a:lnTo>
                <a:lnTo>
                  <a:pt x="763" y="1906"/>
                </a:lnTo>
                <a:lnTo>
                  <a:pt x="762" y="1907"/>
                </a:lnTo>
                <a:lnTo>
                  <a:pt x="760" y="1908"/>
                </a:lnTo>
                <a:lnTo>
                  <a:pt x="758" y="1908"/>
                </a:lnTo>
                <a:lnTo>
                  <a:pt x="756" y="1908"/>
                </a:lnTo>
                <a:lnTo>
                  <a:pt x="755" y="1907"/>
                </a:lnTo>
                <a:lnTo>
                  <a:pt x="753" y="1906"/>
                </a:lnTo>
                <a:lnTo>
                  <a:pt x="752" y="1905"/>
                </a:lnTo>
                <a:lnTo>
                  <a:pt x="751" y="1903"/>
                </a:lnTo>
                <a:lnTo>
                  <a:pt x="751" y="1901"/>
                </a:lnTo>
                <a:lnTo>
                  <a:pt x="751" y="1899"/>
                </a:lnTo>
                <a:lnTo>
                  <a:pt x="752" y="1898"/>
                </a:lnTo>
                <a:lnTo>
                  <a:pt x="753" y="1896"/>
                </a:lnTo>
                <a:lnTo>
                  <a:pt x="755" y="1895"/>
                </a:lnTo>
                <a:lnTo>
                  <a:pt x="756" y="1894"/>
                </a:lnTo>
                <a:lnTo>
                  <a:pt x="758" y="1894"/>
                </a:lnTo>
                <a:close/>
                <a:moveTo>
                  <a:pt x="1166" y="1893"/>
                </a:moveTo>
                <a:lnTo>
                  <a:pt x="1168" y="1893"/>
                </a:lnTo>
                <a:lnTo>
                  <a:pt x="1169" y="1894"/>
                </a:lnTo>
                <a:lnTo>
                  <a:pt x="1171" y="1895"/>
                </a:lnTo>
                <a:lnTo>
                  <a:pt x="1172" y="1896"/>
                </a:lnTo>
                <a:lnTo>
                  <a:pt x="1173" y="1898"/>
                </a:lnTo>
                <a:lnTo>
                  <a:pt x="1173" y="1899"/>
                </a:lnTo>
                <a:lnTo>
                  <a:pt x="1174" y="1901"/>
                </a:lnTo>
                <a:lnTo>
                  <a:pt x="1173" y="1903"/>
                </a:lnTo>
                <a:lnTo>
                  <a:pt x="1173" y="1904"/>
                </a:lnTo>
                <a:lnTo>
                  <a:pt x="1172" y="1906"/>
                </a:lnTo>
                <a:lnTo>
                  <a:pt x="1171" y="1907"/>
                </a:lnTo>
                <a:lnTo>
                  <a:pt x="1169" y="1908"/>
                </a:lnTo>
                <a:lnTo>
                  <a:pt x="1168" y="1908"/>
                </a:lnTo>
                <a:lnTo>
                  <a:pt x="1166" y="1909"/>
                </a:lnTo>
                <a:lnTo>
                  <a:pt x="1164" y="1908"/>
                </a:lnTo>
                <a:lnTo>
                  <a:pt x="1163" y="1908"/>
                </a:lnTo>
                <a:lnTo>
                  <a:pt x="1161" y="1907"/>
                </a:lnTo>
                <a:lnTo>
                  <a:pt x="1160" y="1906"/>
                </a:lnTo>
                <a:lnTo>
                  <a:pt x="1159" y="1904"/>
                </a:lnTo>
                <a:lnTo>
                  <a:pt x="1158" y="1903"/>
                </a:lnTo>
                <a:lnTo>
                  <a:pt x="1158" y="1901"/>
                </a:lnTo>
                <a:lnTo>
                  <a:pt x="1158" y="1899"/>
                </a:lnTo>
                <a:lnTo>
                  <a:pt x="1159" y="1898"/>
                </a:lnTo>
                <a:lnTo>
                  <a:pt x="1160" y="1896"/>
                </a:lnTo>
                <a:lnTo>
                  <a:pt x="1161" y="1895"/>
                </a:lnTo>
                <a:lnTo>
                  <a:pt x="1163" y="1894"/>
                </a:lnTo>
                <a:lnTo>
                  <a:pt x="1164" y="1893"/>
                </a:lnTo>
                <a:lnTo>
                  <a:pt x="1166" y="1893"/>
                </a:lnTo>
                <a:close/>
                <a:moveTo>
                  <a:pt x="692" y="1878"/>
                </a:moveTo>
                <a:lnTo>
                  <a:pt x="694" y="1878"/>
                </a:lnTo>
                <a:lnTo>
                  <a:pt x="695" y="1879"/>
                </a:lnTo>
                <a:lnTo>
                  <a:pt x="697" y="1880"/>
                </a:lnTo>
                <a:lnTo>
                  <a:pt x="698" y="1882"/>
                </a:lnTo>
                <a:lnTo>
                  <a:pt x="698" y="1884"/>
                </a:lnTo>
                <a:lnTo>
                  <a:pt x="698" y="1886"/>
                </a:lnTo>
                <a:lnTo>
                  <a:pt x="697" y="1888"/>
                </a:lnTo>
                <a:lnTo>
                  <a:pt x="695" y="1889"/>
                </a:lnTo>
                <a:lnTo>
                  <a:pt x="694" y="1890"/>
                </a:lnTo>
                <a:lnTo>
                  <a:pt x="692" y="1890"/>
                </a:lnTo>
                <a:lnTo>
                  <a:pt x="690" y="1890"/>
                </a:lnTo>
                <a:lnTo>
                  <a:pt x="688" y="1889"/>
                </a:lnTo>
                <a:lnTo>
                  <a:pt x="687" y="1888"/>
                </a:lnTo>
                <a:lnTo>
                  <a:pt x="686" y="1886"/>
                </a:lnTo>
                <a:lnTo>
                  <a:pt x="685" y="1884"/>
                </a:lnTo>
                <a:lnTo>
                  <a:pt x="686" y="1882"/>
                </a:lnTo>
                <a:lnTo>
                  <a:pt x="687" y="1880"/>
                </a:lnTo>
                <a:lnTo>
                  <a:pt x="688" y="1879"/>
                </a:lnTo>
                <a:lnTo>
                  <a:pt x="690" y="1878"/>
                </a:lnTo>
                <a:lnTo>
                  <a:pt x="692" y="1878"/>
                </a:lnTo>
                <a:close/>
                <a:moveTo>
                  <a:pt x="1232" y="1876"/>
                </a:moveTo>
                <a:lnTo>
                  <a:pt x="1234" y="1877"/>
                </a:lnTo>
                <a:lnTo>
                  <a:pt x="1236" y="1877"/>
                </a:lnTo>
                <a:lnTo>
                  <a:pt x="1238" y="1879"/>
                </a:lnTo>
                <a:lnTo>
                  <a:pt x="1239" y="1880"/>
                </a:lnTo>
                <a:lnTo>
                  <a:pt x="1240" y="1882"/>
                </a:lnTo>
                <a:lnTo>
                  <a:pt x="1240" y="1884"/>
                </a:lnTo>
                <a:lnTo>
                  <a:pt x="1240" y="1886"/>
                </a:lnTo>
                <a:lnTo>
                  <a:pt x="1239" y="1888"/>
                </a:lnTo>
                <a:lnTo>
                  <a:pt x="1238" y="1889"/>
                </a:lnTo>
                <a:lnTo>
                  <a:pt x="1236" y="1890"/>
                </a:lnTo>
                <a:lnTo>
                  <a:pt x="1234" y="1891"/>
                </a:lnTo>
                <a:lnTo>
                  <a:pt x="1232" y="1891"/>
                </a:lnTo>
                <a:lnTo>
                  <a:pt x="1230" y="1891"/>
                </a:lnTo>
                <a:lnTo>
                  <a:pt x="1229" y="1890"/>
                </a:lnTo>
                <a:lnTo>
                  <a:pt x="1227" y="1889"/>
                </a:lnTo>
                <a:lnTo>
                  <a:pt x="1226" y="1888"/>
                </a:lnTo>
                <a:lnTo>
                  <a:pt x="1225" y="1886"/>
                </a:lnTo>
                <a:lnTo>
                  <a:pt x="1225" y="1884"/>
                </a:lnTo>
                <a:lnTo>
                  <a:pt x="1225" y="1882"/>
                </a:lnTo>
                <a:lnTo>
                  <a:pt x="1226" y="1880"/>
                </a:lnTo>
                <a:lnTo>
                  <a:pt x="1227" y="1879"/>
                </a:lnTo>
                <a:lnTo>
                  <a:pt x="1229" y="1877"/>
                </a:lnTo>
                <a:lnTo>
                  <a:pt x="1230" y="1877"/>
                </a:lnTo>
                <a:lnTo>
                  <a:pt x="1232" y="1876"/>
                </a:lnTo>
                <a:close/>
                <a:moveTo>
                  <a:pt x="962" y="1865"/>
                </a:moveTo>
                <a:cubicBezTo>
                  <a:pt x="970" y="1864"/>
                  <a:pt x="977" y="1874"/>
                  <a:pt x="976" y="1879"/>
                </a:cubicBezTo>
                <a:cubicBezTo>
                  <a:pt x="977" y="1888"/>
                  <a:pt x="967" y="1895"/>
                  <a:pt x="962" y="1894"/>
                </a:cubicBezTo>
                <a:cubicBezTo>
                  <a:pt x="953" y="1895"/>
                  <a:pt x="947" y="1884"/>
                  <a:pt x="947" y="1879"/>
                </a:cubicBezTo>
                <a:cubicBezTo>
                  <a:pt x="947" y="1871"/>
                  <a:pt x="957" y="1864"/>
                  <a:pt x="962" y="1865"/>
                </a:cubicBezTo>
                <a:close/>
                <a:moveTo>
                  <a:pt x="893" y="1863"/>
                </a:moveTo>
                <a:cubicBezTo>
                  <a:pt x="902" y="1862"/>
                  <a:pt x="908" y="1872"/>
                  <a:pt x="907" y="1877"/>
                </a:cubicBezTo>
                <a:cubicBezTo>
                  <a:pt x="908" y="1885"/>
                  <a:pt x="898" y="1892"/>
                  <a:pt x="893" y="1891"/>
                </a:cubicBezTo>
                <a:cubicBezTo>
                  <a:pt x="885" y="1892"/>
                  <a:pt x="879" y="1882"/>
                  <a:pt x="879" y="1877"/>
                </a:cubicBezTo>
                <a:cubicBezTo>
                  <a:pt x="879" y="1869"/>
                  <a:pt x="889" y="1862"/>
                  <a:pt x="893" y="1863"/>
                </a:cubicBezTo>
                <a:close/>
                <a:moveTo>
                  <a:pt x="1031" y="1862"/>
                </a:moveTo>
                <a:cubicBezTo>
                  <a:pt x="1039" y="1862"/>
                  <a:pt x="1046" y="1872"/>
                  <a:pt x="1045" y="1877"/>
                </a:cubicBezTo>
                <a:cubicBezTo>
                  <a:pt x="1046" y="1885"/>
                  <a:pt x="1036" y="1892"/>
                  <a:pt x="1031" y="1891"/>
                </a:cubicBezTo>
                <a:cubicBezTo>
                  <a:pt x="1022" y="1892"/>
                  <a:pt x="1016" y="1882"/>
                  <a:pt x="1016" y="1877"/>
                </a:cubicBezTo>
                <a:cubicBezTo>
                  <a:pt x="1016" y="1868"/>
                  <a:pt x="1026" y="1862"/>
                  <a:pt x="1031" y="1862"/>
                </a:cubicBezTo>
                <a:close/>
                <a:moveTo>
                  <a:pt x="627" y="1857"/>
                </a:moveTo>
                <a:lnTo>
                  <a:pt x="629" y="1857"/>
                </a:lnTo>
                <a:lnTo>
                  <a:pt x="631" y="1859"/>
                </a:lnTo>
                <a:lnTo>
                  <a:pt x="632" y="1860"/>
                </a:lnTo>
                <a:lnTo>
                  <a:pt x="632" y="1862"/>
                </a:lnTo>
                <a:lnTo>
                  <a:pt x="632" y="1865"/>
                </a:lnTo>
                <a:lnTo>
                  <a:pt x="631" y="1866"/>
                </a:lnTo>
                <a:lnTo>
                  <a:pt x="629" y="1868"/>
                </a:lnTo>
                <a:lnTo>
                  <a:pt x="627" y="1868"/>
                </a:lnTo>
                <a:lnTo>
                  <a:pt x="625" y="1868"/>
                </a:lnTo>
                <a:lnTo>
                  <a:pt x="623" y="1866"/>
                </a:lnTo>
                <a:lnTo>
                  <a:pt x="622" y="1865"/>
                </a:lnTo>
                <a:lnTo>
                  <a:pt x="622" y="1862"/>
                </a:lnTo>
                <a:lnTo>
                  <a:pt x="622" y="1860"/>
                </a:lnTo>
                <a:lnTo>
                  <a:pt x="623" y="1859"/>
                </a:lnTo>
                <a:lnTo>
                  <a:pt x="625" y="1857"/>
                </a:lnTo>
                <a:lnTo>
                  <a:pt x="627" y="1857"/>
                </a:lnTo>
                <a:close/>
                <a:moveTo>
                  <a:pt x="825" y="1856"/>
                </a:moveTo>
                <a:cubicBezTo>
                  <a:pt x="833" y="1855"/>
                  <a:pt x="839" y="1865"/>
                  <a:pt x="838" y="1869"/>
                </a:cubicBezTo>
                <a:cubicBezTo>
                  <a:pt x="839" y="1877"/>
                  <a:pt x="830" y="1883"/>
                  <a:pt x="825" y="1883"/>
                </a:cubicBezTo>
                <a:cubicBezTo>
                  <a:pt x="817" y="1883"/>
                  <a:pt x="811" y="1874"/>
                  <a:pt x="812" y="1869"/>
                </a:cubicBezTo>
                <a:cubicBezTo>
                  <a:pt x="811" y="1861"/>
                  <a:pt x="821" y="1855"/>
                  <a:pt x="825" y="1856"/>
                </a:cubicBezTo>
                <a:close/>
                <a:moveTo>
                  <a:pt x="1297" y="1855"/>
                </a:moveTo>
                <a:lnTo>
                  <a:pt x="1299" y="1855"/>
                </a:lnTo>
                <a:lnTo>
                  <a:pt x="1301" y="1856"/>
                </a:lnTo>
                <a:lnTo>
                  <a:pt x="1302" y="1857"/>
                </a:lnTo>
                <a:lnTo>
                  <a:pt x="1303" y="1859"/>
                </a:lnTo>
                <a:lnTo>
                  <a:pt x="1304" y="1860"/>
                </a:lnTo>
                <a:lnTo>
                  <a:pt x="1304" y="1862"/>
                </a:lnTo>
                <a:lnTo>
                  <a:pt x="1304" y="1864"/>
                </a:lnTo>
                <a:lnTo>
                  <a:pt x="1303" y="1866"/>
                </a:lnTo>
                <a:lnTo>
                  <a:pt x="1302" y="1867"/>
                </a:lnTo>
                <a:lnTo>
                  <a:pt x="1301" y="1868"/>
                </a:lnTo>
                <a:lnTo>
                  <a:pt x="1299" y="1869"/>
                </a:lnTo>
                <a:lnTo>
                  <a:pt x="1297" y="1869"/>
                </a:lnTo>
                <a:lnTo>
                  <a:pt x="1295" y="1869"/>
                </a:lnTo>
                <a:lnTo>
                  <a:pt x="1293" y="1868"/>
                </a:lnTo>
                <a:lnTo>
                  <a:pt x="1292" y="1867"/>
                </a:lnTo>
                <a:lnTo>
                  <a:pt x="1291" y="1866"/>
                </a:lnTo>
                <a:lnTo>
                  <a:pt x="1290" y="1864"/>
                </a:lnTo>
                <a:lnTo>
                  <a:pt x="1290" y="1862"/>
                </a:lnTo>
                <a:lnTo>
                  <a:pt x="1290" y="1860"/>
                </a:lnTo>
                <a:lnTo>
                  <a:pt x="1291" y="1859"/>
                </a:lnTo>
                <a:lnTo>
                  <a:pt x="1292" y="1857"/>
                </a:lnTo>
                <a:lnTo>
                  <a:pt x="1293" y="1856"/>
                </a:lnTo>
                <a:lnTo>
                  <a:pt x="1295" y="1855"/>
                </a:lnTo>
                <a:lnTo>
                  <a:pt x="1297" y="1855"/>
                </a:lnTo>
                <a:close/>
                <a:moveTo>
                  <a:pt x="1098" y="1855"/>
                </a:moveTo>
                <a:cubicBezTo>
                  <a:pt x="1107" y="1854"/>
                  <a:pt x="1113" y="1864"/>
                  <a:pt x="1113" y="1869"/>
                </a:cubicBezTo>
                <a:cubicBezTo>
                  <a:pt x="1113" y="1878"/>
                  <a:pt x="1103" y="1884"/>
                  <a:pt x="1098" y="1883"/>
                </a:cubicBezTo>
                <a:cubicBezTo>
                  <a:pt x="1090" y="1884"/>
                  <a:pt x="1083" y="1874"/>
                  <a:pt x="1084" y="1869"/>
                </a:cubicBezTo>
                <a:cubicBezTo>
                  <a:pt x="1083" y="1861"/>
                  <a:pt x="1094" y="1854"/>
                  <a:pt x="1098" y="1855"/>
                </a:cubicBezTo>
                <a:close/>
                <a:moveTo>
                  <a:pt x="758" y="1844"/>
                </a:moveTo>
                <a:lnTo>
                  <a:pt x="760" y="1844"/>
                </a:lnTo>
                <a:lnTo>
                  <a:pt x="762" y="1845"/>
                </a:lnTo>
                <a:lnTo>
                  <a:pt x="763" y="1845"/>
                </a:lnTo>
                <a:lnTo>
                  <a:pt x="765" y="1846"/>
                </a:lnTo>
                <a:lnTo>
                  <a:pt x="766" y="1847"/>
                </a:lnTo>
                <a:lnTo>
                  <a:pt x="767" y="1848"/>
                </a:lnTo>
                <a:lnTo>
                  <a:pt x="768" y="1850"/>
                </a:lnTo>
                <a:lnTo>
                  <a:pt x="769" y="1851"/>
                </a:lnTo>
                <a:lnTo>
                  <a:pt x="770" y="1853"/>
                </a:lnTo>
                <a:lnTo>
                  <a:pt x="770" y="1855"/>
                </a:lnTo>
                <a:lnTo>
                  <a:pt x="770" y="1856"/>
                </a:lnTo>
                <a:lnTo>
                  <a:pt x="770" y="1858"/>
                </a:lnTo>
                <a:lnTo>
                  <a:pt x="770" y="1860"/>
                </a:lnTo>
                <a:lnTo>
                  <a:pt x="769" y="1862"/>
                </a:lnTo>
                <a:lnTo>
                  <a:pt x="768" y="1863"/>
                </a:lnTo>
                <a:lnTo>
                  <a:pt x="767" y="1864"/>
                </a:lnTo>
                <a:lnTo>
                  <a:pt x="766" y="1866"/>
                </a:lnTo>
                <a:lnTo>
                  <a:pt x="765" y="1867"/>
                </a:lnTo>
                <a:lnTo>
                  <a:pt x="763" y="1867"/>
                </a:lnTo>
                <a:lnTo>
                  <a:pt x="762" y="1868"/>
                </a:lnTo>
                <a:lnTo>
                  <a:pt x="760" y="1868"/>
                </a:lnTo>
                <a:lnTo>
                  <a:pt x="758" y="1869"/>
                </a:lnTo>
                <a:lnTo>
                  <a:pt x="756" y="1868"/>
                </a:lnTo>
                <a:lnTo>
                  <a:pt x="755" y="1868"/>
                </a:lnTo>
                <a:lnTo>
                  <a:pt x="753" y="1867"/>
                </a:lnTo>
                <a:lnTo>
                  <a:pt x="752" y="1867"/>
                </a:lnTo>
                <a:lnTo>
                  <a:pt x="750" y="1866"/>
                </a:lnTo>
                <a:lnTo>
                  <a:pt x="749" y="1864"/>
                </a:lnTo>
                <a:lnTo>
                  <a:pt x="748" y="1863"/>
                </a:lnTo>
                <a:lnTo>
                  <a:pt x="747" y="1862"/>
                </a:lnTo>
                <a:lnTo>
                  <a:pt x="747" y="1860"/>
                </a:lnTo>
                <a:lnTo>
                  <a:pt x="746" y="1858"/>
                </a:lnTo>
                <a:lnTo>
                  <a:pt x="746" y="1856"/>
                </a:lnTo>
                <a:lnTo>
                  <a:pt x="746" y="1855"/>
                </a:lnTo>
                <a:lnTo>
                  <a:pt x="747" y="1853"/>
                </a:lnTo>
                <a:lnTo>
                  <a:pt x="747" y="1851"/>
                </a:lnTo>
                <a:lnTo>
                  <a:pt x="748" y="1850"/>
                </a:lnTo>
                <a:lnTo>
                  <a:pt x="749" y="1848"/>
                </a:lnTo>
                <a:lnTo>
                  <a:pt x="750" y="1847"/>
                </a:lnTo>
                <a:lnTo>
                  <a:pt x="752" y="1846"/>
                </a:lnTo>
                <a:lnTo>
                  <a:pt x="753" y="1845"/>
                </a:lnTo>
                <a:lnTo>
                  <a:pt x="755" y="1845"/>
                </a:lnTo>
                <a:lnTo>
                  <a:pt x="756" y="1844"/>
                </a:lnTo>
                <a:lnTo>
                  <a:pt x="758" y="1844"/>
                </a:lnTo>
                <a:close/>
                <a:moveTo>
                  <a:pt x="1166" y="1842"/>
                </a:moveTo>
                <a:cubicBezTo>
                  <a:pt x="1174" y="1842"/>
                  <a:pt x="1181" y="1852"/>
                  <a:pt x="1180" y="1856"/>
                </a:cubicBezTo>
                <a:cubicBezTo>
                  <a:pt x="1181" y="1865"/>
                  <a:pt x="1170" y="1871"/>
                  <a:pt x="1166" y="1870"/>
                </a:cubicBezTo>
                <a:cubicBezTo>
                  <a:pt x="1157" y="1871"/>
                  <a:pt x="1151" y="1861"/>
                  <a:pt x="1152" y="1856"/>
                </a:cubicBezTo>
                <a:cubicBezTo>
                  <a:pt x="1151" y="1848"/>
                  <a:pt x="1161" y="1842"/>
                  <a:pt x="1166" y="1842"/>
                </a:cubicBezTo>
                <a:close/>
                <a:moveTo>
                  <a:pt x="564" y="1832"/>
                </a:moveTo>
                <a:lnTo>
                  <a:pt x="566" y="1832"/>
                </a:lnTo>
                <a:lnTo>
                  <a:pt x="568" y="1834"/>
                </a:lnTo>
                <a:lnTo>
                  <a:pt x="568" y="1836"/>
                </a:lnTo>
                <a:lnTo>
                  <a:pt x="568" y="1839"/>
                </a:lnTo>
                <a:lnTo>
                  <a:pt x="566" y="1840"/>
                </a:lnTo>
                <a:lnTo>
                  <a:pt x="564" y="1841"/>
                </a:lnTo>
                <a:lnTo>
                  <a:pt x="561" y="1840"/>
                </a:lnTo>
                <a:lnTo>
                  <a:pt x="560" y="1839"/>
                </a:lnTo>
                <a:lnTo>
                  <a:pt x="559" y="1836"/>
                </a:lnTo>
                <a:lnTo>
                  <a:pt x="560" y="1834"/>
                </a:lnTo>
                <a:lnTo>
                  <a:pt x="561" y="1832"/>
                </a:lnTo>
                <a:lnTo>
                  <a:pt x="564" y="1832"/>
                </a:lnTo>
                <a:close/>
                <a:moveTo>
                  <a:pt x="1360" y="1829"/>
                </a:moveTo>
                <a:lnTo>
                  <a:pt x="1362" y="1829"/>
                </a:lnTo>
                <a:lnTo>
                  <a:pt x="1364" y="1830"/>
                </a:lnTo>
                <a:lnTo>
                  <a:pt x="1365" y="1831"/>
                </a:lnTo>
                <a:lnTo>
                  <a:pt x="1366" y="1832"/>
                </a:lnTo>
                <a:lnTo>
                  <a:pt x="1367" y="1834"/>
                </a:lnTo>
                <a:lnTo>
                  <a:pt x="1367" y="1836"/>
                </a:lnTo>
                <a:lnTo>
                  <a:pt x="1367" y="1838"/>
                </a:lnTo>
                <a:lnTo>
                  <a:pt x="1366" y="1840"/>
                </a:lnTo>
                <a:lnTo>
                  <a:pt x="1365" y="1841"/>
                </a:lnTo>
                <a:lnTo>
                  <a:pt x="1364" y="1842"/>
                </a:lnTo>
                <a:lnTo>
                  <a:pt x="1362" y="1843"/>
                </a:lnTo>
                <a:lnTo>
                  <a:pt x="1360" y="1843"/>
                </a:lnTo>
                <a:lnTo>
                  <a:pt x="1358" y="1843"/>
                </a:lnTo>
                <a:lnTo>
                  <a:pt x="1357" y="1842"/>
                </a:lnTo>
                <a:lnTo>
                  <a:pt x="1355" y="1841"/>
                </a:lnTo>
                <a:lnTo>
                  <a:pt x="1354" y="1840"/>
                </a:lnTo>
                <a:lnTo>
                  <a:pt x="1353" y="1838"/>
                </a:lnTo>
                <a:lnTo>
                  <a:pt x="1353" y="1836"/>
                </a:lnTo>
                <a:lnTo>
                  <a:pt x="1353" y="1834"/>
                </a:lnTo>
                <a:lnTo>
                  <a:pt x="1354" y="1832"/>
                </a:lnTo>
                <a:lnTo>
                  <a:pt x="1355" y="1831"/>
                </a:lnTo>
                <a:lnTo>
                  <a:pt x="1357" y="1830"/>
                </a:lnTo>
                <a:lnTo>
                  <a:pt x="1358" y="1829"/>
                </a:lnTo>
                <a:lnTo>
                  <a:pt x="1360" y="1829"/>
                </a:lnTo>
                <a:close/>
                <a:moveTo>
                  <a:pt x="692" y="1827"/>
                </a:moveTo>
                <a:lnTo>
                  <a:pt x="694" y="1827"/>
                </a:lnTo>
                <a:lnTo>
                  <a:pt x="695" y="1828"/>
                </a:lnTo>
                <a:lnTo>
                  <a:pt x="697" y="1828"/>
                </a:lnTo>
                <a:cubicBezTo>
                  <a:pt x="700" y="1829"/>
                  <a:pt x="703" y="1833"/>
                  <a:pt x="703" y="1834"/>
                </a:cubicBezTo>
                <a:lnTo>
                  <a:pt x="703" y="1835"/>
                </a:lnTo>
                <a:lnTo>
                  <a:pt x="703" y="1837"/>
                </a:lnTo>
                <a:lnTo>
                  <a:pt x="704" y="1839"/>
                </a:lnTo>
                <a:lnTo>
                  <a:pt x="703" y="1840"/>
                </a:lnTo>
                <a:lnTo>
                  <a:pt x="703" y="1842"/>
                </a:lnTo>
                <a:lnTo>
                  <a:pt x="703" y="1844"/>
                </a:lnTo>
                <a:lnTo>
                  <a:pt x="702" y="1845"/>
                </a:lnTo>
                <a:lnTo>
                  <a:pt x="701" y="1846"/>
                </a:lnTo>
                <a:lnTo>
                  <a:pt x="700" y="1847"/>
                </a:lnTo>
                <a:lnTo>
                  <a:pt x="698" y="1848"/>
                </a:lnTo>
                <a:lnTo>
                  <a:pt x="697" y="1849"/>
                </a:lnTo>
                <a:lnTo>
                  <a:pt x="695" y="1850"/>
                </a:lnTo>
                <a:lnTo>
                  <a:pt x="694" y="1850"/>
                </a:lnTo>
                <a:lnTo>
                  <a:pt x="692" y="1850"/>
                </a:lnTo>
                <a:lnTo>
                  <a:pt x="691" y="1850"/>
                </a:lnTo>
                <a:lnTo>
                  <a:pt x="689" y="1850"/>
                </a:lnTo>
                <a:lnTo>
                  <a:pt x="687" y="1849"/>
                </a:lnTo>
                <a:cubicBezTo>
                  <a:pt x="685" y="1848"/>
                  <a:pt x="682" y="1844"/>
                  <a:pt x="682" y="1844"/>
                </a:cubicBezTo>
                <a:lnTo>
                  <a:pt x="681" y="1842"/>
                </a:lnTo>
                <a:lnTo>
                  <a:pt x="681" y="1840"/>
                </a:lnTo>
                <a:lnTo>
                  <a:pt x="681" y="1839"/>
                </a:lnTo>
                <a:lnTo>
                  <a:pt x="681" y="1837"/>
                </a:lnTo>
                <a:lnTo>
                  <a:pt x="681" y="1835"/>
                </a:lnTo>
                <a:lnTo>
                  <a:pt x="682" y="1834"/>
                </a:lnTo>
                <a:lnTo>
                  <a:pt x="683" y="1832"/>
                </a:lnTo>
                <a:lnTo>
                  <a:pt x="684" y="1831"/>
                </a:lnTo>
                <a:lnTo>
                  <a:pt x="685" y="1830"/>
                </a:lnTo>
                <a:lnTo>
                  <a:pt x="686" y="1829"/>
                </a:lnTo>
                <a:lnTo>
                  <a:pt x="687" y="1828"/>
                </a:lnTo>
                <a:lnTo>
                  <a:pt x="689" y="1828"/>
                </a:lnTo>
                <a:lnTo>
                  <a:pt x="691" y="1827"/>
                </a:lnTo>
                <a:lnTo>
                  <a:pt x="692" y="1827"/>
                </a:lnTo>
                <a:close/>
                <a:moveTo>
                  <a:pt x="1232" y="1825"/>
                </a:moveTo>
                <a:cubicBezTo>
                  <a:pt x="1240" y="1824"/>
                  <a:pt x="1246" y="1834"/>
                  <a:pt x="1245" y="1839"/>
                </a:cubicBezTo>
                <a:cubicBezTo>
                  <a:pt x="1246" y="1847"/>
                  <a:pt x="1236" y="1854"/>
                  <a:pt x="1232" y="1853"/>
                </a:cubicBezTo>
                <a:cubicBezTo>
                  <a:pt x="1223" y="1854"/>
                  <a:pt x="1217" y="1843"/>
                  <a:pt x="1218" y="1839"/>
                </a:cubicBezTo>
                <a:cubicBezTo>
                  <a:pt x="1217" y="1830"/>
                  <a:pt x="1227" y="1824"/>
                  <a:pt x="1232" y="1825"/>
                </a:cubicBezTo>
                <a:close/>
                <a:moveTo>
                  <a:pt x="827" y="1825"/>
                </a:moveTo>
                <a:lnTo>
                  <a:pt x="826" y="1826"/>
                </a:lnTo>
                <a:lnTo>
                  <a:pt x="824" y="1825"/>
                </a:lnTo>
                <a:lnTo>
                  <a:pt x="824" y="1824"/>
                </a:lnTo>
                <a:lnTo>
                  <a:pt x="827" y="1825"/>
                </a:lnTo>
                <a:close/>
                <a:moveTo>
                  <a:pt x="762" y="1810"/>
                </a:moveTo>
                <a:lnTo>
                  <a:pt x="761" y="1812"/>
                </a:lnTo>
                <a:lnTo>
                  <a:pt x="759" y="1813"/>
                </a:lnTo>
                <a:lnTo>
                  <a:pt x="757" y="1812"/>
                </a:lnTo>
                <a:lnTo>
                  <a:pt x="756" y="1810"/>
                </a:lnTo>
                <a:lnTo>
                  <a:pt x="756" y="1809"/>
                </a:lnTo>
                <a:lnTo>
                  <a:pt x="762" y="1810"/>
                </a:lnTo>
                <a:close/>
                <a:moveTo>
                  <a:pt x="628" y="1805"/>
                </a:moveTo>
                <a:lnTo>
                  <a:pt x="629" y="1805"/>
                </a:lnTo>
                <a:lnTo>
                  <a:pt x="631" y="1806"/>
                </a:lnTo>
                <a:lnTo>
                  <a:pt x="633" y="1806"/>
                </a:lnTo>
                <a:lnTo>
                  <a:pt x="634" y="1807"/>
                </a:lnTo>
                <a:lnTo>
                  <a:pt x="636" y="1808"/>
                </a:lnTo>
                <a:lnTo>
                  <a:pt x="637" y="1810"/>
                </a:lnTo>
                <a:lnTo>
                  <a:pt x="638" y="1811"/>
                </a:lnTo>
                <a:lnTo>
                  <a:pt x="638" y="1813"/>
                </a:lnTo>
                <a:lnTo>
                  <a:pt x="639" y="1814"/>
                </a:lnTo>
                <a:lnTo>
                  <a:pt x="639" y="1816"/>
                </a:lnTo>
                <a:lnTo>
                  <a:pt x="639" y="1818"/>
                </a:lnTo>
                <a:lnTo>
                  <a:pt x="638" y="1820"/>
                </a:lnTo>
                <a:lnTo>
                  <a:pt x="638" y="1821"/>
                </a:lnTo>
                <a:lnTo>
                  <a:pt x="637" y="1823"/>
                </a:lnTo>
                <a:lnTo>
                  <a:pt x="636" y="1824"/>
                </a:lnTo>
                <a:lnTo>
                  <a:pt x="634" y="1825"/>
                </a:lnTo>
                <a:lnTo>
                  <a:pt x="633" y="1826"/>
                </a:lnTo>
                <a:lnTo>
                  <a:pt x="631" y="1826"/>
                </a:lnTo>
                <a:lnTo>
                  <a:pt x="629" y="1827"/>
                </a:lnTo>
                <a:lnTo>
                  <a:pt x="628" y="1827"/>
                </a:lnTo>
                <a:lnTo>
                  <a:pt x="626" y="1827"/>
                </a:lnTo>
                <a:lnTo>
                  <a:pt x="624" y="1826"/>
                </a:lnTo>
                <a:lnTo>
                  <a:pt x="622" y="1826"/>
                </a:lnTo>
                <a:lnTo>
                  <a:pt x="621" y="1825"/>
                </a:lnTo>
                <a:lnTo>
                  <a:pt x="620" y="1824"/>
                </a:lnTo>
                <a:lnTo>
                  <a:pt x="619" y="1823"/>
                </a:lnTo>
                <a:lnTo>
                  <a:pt x="618" y="1821"/>
                </a:lnTo>
                <a:lnTo>
                  <a:pt x="617" y="1820"/>
                </a:lnTo>
                <a:lnTo>
                  <a:pt x="617" y="1818"/>
                </a:lnTo>
                <a:lnTo>
                  <a:pt x="616" y="1816"/>
                </a:lnTo>
                <a:lnTo>
                  <a:pt x="617" y="1814"/>
                </a:lnTo>
                <a:lnTo>
                  <a:pt x="617" y="1813"/>
                </a:lnTo>
                <a:lnTo>
                  <a:pt x="618" y="1811"/>
                </a:lnTo>
                <a:lnTo>
                  <a:pt x="619" y="1810"/>
                </a:lnTo>
                <a:lnTo>
                  <a:pt x="620" y="1808"/>
                </a:lnTo>
                <a:lnTo>
                  <a:pt x="621" y="1807"/>
                </a:lnTo>
                <a:lnTo>
                  <a:pt x="622" y="1806"/>
                </a:lnTo>
                <a:lnTo>
                  <a:pt x="624" y="1806"/>
                </a:lnTo>
                <a:lnTo>
                  <a:pt x="626" y="1805"/>
                </a:lnTo>
                <a:lnTo>
                  <a:pt x="628" y="1805"/>
                </a:lnTo>
                <a:close/>
                <a:moveTo>
                  <a:pt x="1296" y="1802"/>
                </a:moveTo>
                <a:cubicBezTo>
                  <a:pt x="1304" y="1801"/>
                  <a:pt x="1311" y="1811"/>
                  <a:pt x="1310" y="1816"/>
                </a:cubicBezTo>
                <a:cubicBezTo>
                  <a:pt x="1311" y="1824"/>
                  <a:pt x="1301" y="1831"/>
                  <a:pt x="1296" y="1830"/>
                </a:cubicBezTo>
                <a:cubicBezTo>
                  <a:pt x="1288" y="1831"/>
                  <a:pt x="1281" y="1821"/>
                  <a:pt x="1282" y="1816"/>
                </a:cubicBezTo>
                <a:cubicBezTo>
                  <a:pt x="1281" y="1808"/>
                  <a:pt x="1291" y="1802"/>
                  <a:pt x="1296" y="1802"/>
                </a:cubicBezTo>
                <a:close/>
                <a:moveTo>
                  <a:pt x="503" y="1802"/>
                </a:moveTo>
                <a:lnTo>
                  <a:pt x="505" y="1803"/>
                </a:lnTo>
                <a:lnTo>
                  <a:pt x="506" y="1806"/>
                </a:lnTo>
                <a:lnTo>
                  <a:pt x="505" y="1808"/>
                </a:lnTo>
                <a:lnTo>
                  <a:pt x="503" y="1809"/>
                </a:lnTo>
                <a:lnTo>
                  <a:pt x="500" y="1808"/>
                </a:lnTo>
                <a:lnTo>
                  <a:pt x="499" y="1806"/>
                </a:lnTo>
                <a:lnTo>
                  <a:pt x="500" y="1803"/>
                </a:lnTo>
                <a:lnTo>
                  <a:pt x="503" y="1802"/>
                </a:lnTo>
                <a:close/>
                <a:moveTo>
                  <a:pt x="1421" y="1799"/>
                </a:moveTo>
                <a:lnTo>
                  <a:pt x="1423" y="1799"/>
                </a:lnTo>
                <a:lnTo>
                  <a:pt x="1425" y="1800"/>
                </a:lnTo>
                <a:lnTo>
                  <a:pt x="1426" y="1801"/>
                </a:lnTo>
                <a:lnTo>
                  <a:pt x="1427" y="1802"/>
                </a:lnTo>
                <a:lnTo>
                  <a:pt x="1428" y="1804"/>
                </a:lnTo>
                <a:lnTo>
                  <a:pt x="1428" y="1805"/>
                </a:lnTo>
                <a:lnTo>
                  <a:pt x="1428" y="1807"/>
                </a:lnTo>
                <a:lnTo>
                  <a:pt x="1427" y="1809"/>
                </a:lnTo>
                <a:lnTo>
                  <a:pt x="1426" y="1810"/>
                </a:lnTo>
                <a:lnTo>
                  <a:pt x="1425" y="1811"/>
                </a:lnTo>
                <a:lnTo>
                  <a:pt x="1423" y="1812"/>
                </a:lnTo>
                <a:lnTo>
                  <a:pt x="1421" y="1812"/>
                </a:lnTo>
                <a:lnTo>
                  <a:pt x="1419" y="1812"/>
                </a:lnTo>
                <a:lnTo>
                  <a:pt x="1418" y="1811"/>
                </a:lnTo>
                <a:lnTo>
                  <a:pt x="1417" y="1810"/>
                </a:lnTo>
                <a:lnTo>
                  <a:pt x="1416" y="1809"/>
                </a:lnTo>
                <a:lnTo>
                  <a:pt x="1415" y="1807"/>
                </a:lnTo>
                <a:lnTo>
                  <a:pt x="1415" y="1805"/>
                </a:lnTo>
                <a:lnTo>
                  <a:pt x="1415" y="1804"/>
                </a:lnTo>
                <a:lnTo>
                  <a:pt x="1416" y="1802"/>
                </a:lnTo>
                <a:lnTo>
                  <a:pt x="1417" y="1801"/>
                </a:lnTo>
                <a:lnTo>
                  <a:pt x="1418" y="1800"/>
                </a:lnTo>
                <a:lnTo>
                  <a:pt x="1419" y="1799"/>
                </a:lnTo>
                <a:lnTo>
                  <a:pt x="1421" y="1799"/>
                </a:lnTo>
                <a:close/>
                <a:moveTo>
                  <a:pt x="696" y="1789"/>
                </a:moveTo>
                <a:lnTo>
                  <a:pt x="697" y="1792"/>
                </a:lnTo>
                <a:lnTo>
                  <a:pt x="696" y="1794"/>
                </a:lnTo>
                <a:lnTo>
                  <a:pt x="693" y="1795"/>
                </a:lnTo>
                <a:lnTo>
                  <a:pt x="691" y="1794"/>
                </a:lnTo>
                <a:lnTo>
                  <a:pt x="690" y="1792"/>
                </a:lnTo>
                <a:lnTo>
                  <a:pt x="691" y="1789"/>
                </a:lnTo>
                <a:lnTo>
                  <a:pt x="692" y="1788"/>
                </a:lnTo>
                <a:lnTo>
                  <a:pt x="696" y="1789"/>
                </a:lnTo>
                <a:close/>
                <a:moveTo>
                  <a:pt x="565" y="1778"/>
                </a:moveTo>
                <a:lnTo>
                  <a:pt x="567" y="1778"/>
                </a:lnTo>
                <a:lnTo>
                  <a:pt x="569" y="1779"/>
                </a:lnTo>
                <a:lnTo>
                  <a:pt x="570" y="1779"/>
                </a:lnTo>
                <a:lnTo>
                  <a:pt x="571" y="1780"/>
                </a:lnTo>
                <a:lnTo>
                  <a:pt x="573" y="1781"/>
                </a:lnTo>
                <a:lnTo>
                  <a:pt x="574" y="1782"/>
                </a:lnTo>
                <a:lnTo>
                  <a:pt x="575" y="1784"/>
                </a:lnTo>
                <a:lnTo>
                  <a:pt x="575" y="1785"/>
                </a:lnTo>
                <a:lnTo>
                  <a:pt x="576" y="1787"/>
                </a:lnTo>
                <a:lnTo>
                  <a:pt x="576" y="1789"/>
                </a:lnTo>
                <a:lnTo>
                  <a:pt x="576" y="1791"/>
                </a:lnTo>
                <a:lnTo>
                  <a:pt x="575" y="1792"/>
                </a:lnTo>
                <a:lnTo>
                  <a:pt x="575" y="1794"/>
                </a:lnTo>
                <a:lnTo>
                  <a:pt x="574" y="1795"/>
                </a:lnTo>
                <a:lnTo>
                  <a:pt x="573" y="1796"/>
                </a:lnTo>
                <a:lnTo>
                  <a:pt x="571" y="1797"/>
                </a:lnTo>
                <a:lnTo>
                  <a:pt x="570" y="1798"/>
                </a:lnTo>
                <a:lnTo>
                  <a:pt x="569" y="1799"/>
                </a:lnTo>
                <a:lnTo>
                  <a:pt x="567" y="1799"/>
                </a:lnTo>
                <a:lnTo>
                  <a:pt x="565" y="1800"/>
                </a:lnTo>
                <a:lnTo>
                  <a:pt x="563" y="1799"/>
                </a:lnTo>
                <a:lnTo>
                  <a:pt x="562" y="1799"/>
                </a:lnTo>
                <a:lnTo>
                  <a:pt x="560" y="1798"/>
                </a:lnTo>
                <a:lnTo>
                  <a:pt x="559" y="1797"/>
                </a:lnTo>
                <a:lnTo>
                  <a:pt x="558" y="1796"/>
                </a:lnTo>
                <a:lnTo>
                  <a:pt x="556" y="1795"/>
                </a:lnTo>
                <a:lnTo>
                  <a:pt x="556" y="1794"/>
                </a:lnTo>
                <a:lnTo>
                  <a:pt x="555" y="1792"/>
                </a:lnTo>
                <a:lnTo>
                  <a:pt x="555" y="1791"/>
                </a:lnTo>
                <a:lnTo>
                  <a:pt x="554" y="1789"/>
                </a:lnTo>
                <a:lnTo>
                  <a:pt x="555" y="1787"/>
                </a:lnTo>
                <a:lnTo>
                  <a:pt x="555" y="1785"/>
                </a:lnTo>
                <a:lnTo>
                  <a:pt x="556" y="1784"/>
                </a:lnTo>
                <a:lnTo>
                  <a:pt x="556" y="1782"/>
                </a:lnTo>
                <a:lnTo>
                  <a:pt x="558" y="1781"/>
                </a:lnTo>
                <a:lnTo>
                  <a:pt x="559" y="1780"/>
                </a:lnTo>
                <a:lnTo>
                  <a:pt x="560" y="1779"/>
                </a:lnTo>
                <a:lnTo>
                  <a:pt x="562" y="1779"/>
                </a:lnTo>
                <a:lnTo>
                  <a:pt x="563" y="1778"/>
                </a:lnTo>
                <a:lnTo>
                  <a:pt x="565" y="1778"/>
                </a:lnTo>
                <a:close/>
                <a:moveTo>
                  <a:pt x="1359" y="1775"/>
                </a:moveTo>
                <a:cubicBezTo>
                  <a:pt x="1367" y="1774"/>
                  <a:pt x="1373" y="1784"/>
                  <a:pt x="1372" y="1789"/>
                </a:cubicBezTo>
                <a:cubicBezTo>
                  <a:pt x="1373" y="1797"/>
                  <a:pt x="1363" y="1803"/>
                  <a:pt x="1359" y="1802"/>
                </a:cubicBezTo>
                <a:cubicBezTo>
                  <a:pt x="1351" y="1803"/>
                  <a:pt x="1344" y="1793"/>
                  <a:pt x="1345" y="1789"/>
                </a:cubicBezTo>
                <a:cubicBezTo>
                  <a:pt x="1344" y="1780"/>
                  <a:pt x="1354" y="1774"/>
                  <a:pt x="1359" y="1775"/>
                </a:cubicBezTo>
                <a:close/>
                <a:moveTo>
                  <a:pt x="444" y="1768"/>
                </a:moveTo>
                <a:lnTo>
                  <a:pt x="446" y="1769"/>
                </a:lnTo>
                <a:lnTo>
                  <a:pt x="447" y="1771"/>
                </a:lnTo>
                <a:lnTo>
                  <a:pt x="446" y="1773"/>
                </a:lnTo>
                <a:lnTo>
                  <a:pt x="444" y="1773"/>
                </a:lnTo>
                <a:lnTo>
                  <a:pt x="442" y="1773"/>
                </a:lnTo>
                <a:lnTo>
                  <a:pt x="441" y="1771"/>
                </a:lnTo>
                <a:lnTo>
                  <a:pt x="442" y="1769"/>
                </a:lnTo>
                <a:lnTo>
                  <a:pt x="444" y="1768"/>
                </a:lnTo>
                <a:close/>
                <a:moveTo>
                  <a:pt x="1480" y="1764"/>
                </a:moveTo>
                <a:lnTo>
                  <a:pt x="1482" y="1764"/>
                </a:lnTo>
                <a:lnTo>
                  <a:pt x="1484" y="1765"/>
                </a:lnTo>
                <a:lnTo>
                  <a:pt x="1485" y="1767"/>
                </a:lnTo>
                <a:lnTo>
                  <a:pt x="1486" y="1768"/>
                </a:lnTo>
                <a:lnTo>
                  <a:pt x="1486" y="1770"/>
                </a:lnTo>
                <a:lnTo>
                  <a:pt x="1486" y="1772"/>
                </a:lnTo>
                <a:lnTo>
                  <a:pt x="1485" y="1774"/>
                </a:lnTo>
                <a:lnTo>
                  <a:pt x="1484" y="1775"/>
                </a:lnTo>
                <a:lnTo>
                  <a:pt x="1482" y="1776"/>
                </a:lnTo>
                <a:lnTo>
                  <a:pt x="1480" y="1777"/>
                </a:lnTo>
                <a:lnTo>
                  <a:pt x="1478" y="1776"/>
                </a:lnTo>
                <a:lnTo>
                  <a:pt x="1476" y="1775"/>
                </a:lnTo>
                <a:lnTo>
                  <a:pt x="1475" y="1774"/>
                </a:lnTo>
                <a:lnTo>
                  <a:pt x="1474" y="1772"/>
                </a:lnTo>
                <a:lnTo>
                  <a:pt x="1474" y="1770"/>
                </a:lnTo>
                <a:lnTo>
                  <a:pt x="1474" y="1768"/>
                </a:lnTo>
                <a:lnTo>
                  <a:pt x="1475" y="1767"/>
                </a:lnTo>
                <a:lnTo>
                  <a:pt x="1476" y="1765"/>
                </a:lnTo>
                <a:lnTo>
                  <a:pt x="1478" y="1764"/>
                </a:lnTo>
                <a:lnTo>
                  <a:pt x="1480" y="1764"/>
                </a:lnTo>
                <a:close/>
                <a:moveTo>
                  <a:pt x="629" y="1763"/>
                </a:moveTo>
                <a:lnTo>
                  <a:pt x="631" y="1764"/>
                </a:lnTo>
                <a:lnTo>
                  <a:pt x="633" y="1765"/>
                </a:lnTo>
                <a:lnTo>
                  <a:pt x="634" y="1768"/>
                </a:lnTo>
                <a:lnTo>
                  <a:pt x="633" y="1770"/>
                </a:lnTo>
                <a:lnTo>
                  <a:pt x="631" y="1771"/>
                </a:lnTo>
                <a:lnTo>
                  <a:pt x="629" y="1772"/>
                </a:lnTo>
                <a:lnTo>
                  <a:pt x="627" y="1771"/>
                </a:lnTo>
                <a:lnTo>
                  <a:pt x="625" y="1770"/>
                </a:lnTo>
                <a:lnTo>
                  <a:pt x="625" y="1768"/>
                </a:lnTo>
                <a:lnTo>
                  <a:pt x="625" y="1765"/>
                </a:lnTo>
                <a:lnTo>
                  <a:pt x="627" y="1764"/>
                </a:lnTo>
                <a:lnTo>
                  <a:pt x="629" y="1763"/>
                </a:lnTo>
                <a:close/>
                <a:moveTo>
                  <a:pt x="505" y="1746"/>
                </a:moveTo>
                <a:lnTo>
                  <a:pt x="507" y="1747"/>
                </a:lnTo>
                <a:lnTo>
                  <a:pt x="508" y="1747"/>
                </a:lnTo>
                <a:lnTo>
                  <a:pt x="510" y="1748"/>
                </a:lnTo>
                <a:lnTo>
                  <a:pt x="512" y="1749"/>
                </a:lnTo>
                <a:lnTo>
                  <a:pt x="513" y="1750"/>
                </a:lnTo>
                <a:lnTo>
                  <a:pt x="514" y="1752"/>
                </a:lnTo>
                <a:lnTo>
                  <a:pt x="515" y="1753"/>
                </a:lnTo>
                <a:lnTo>
                  <a:pt x="515" y="1755"/>
                </a:lnTo>
                <a:lnTo>
                  <a:pt x="515" y="1757"/>
                </a:lnTo>
                <a:lnTo>
                  <a:pt x="515" y="1759"/>
                </a:lnTo>
                <a:lnTo>
                  <a:pt x="515" y="1761"/>
                </a:lnTo>
                <a:lnTo>
                  <a:pt x="514" y="1762"/>
                </a:lnTo>
                <a:lnTo>
                  <a:pt x="513" y="1764"/>
                </a:lnTo>
                <a:lnTo>
                  <a:pt x="512" y="1765"/>
                </a:lnTo>
                <a:lnTo>
                  <a:pt x="510" y="1766"/>
                </a:lnTo>
                <a:lnTo>
                  <a:pt x="508" y="1767"/>
                </a:lnTo>
                <a:lnTo>
                  <a:pt x="507" y="1767"/>
                </a:lnTo>
                <a:lnTo>
                  <a:pt x="505" y="1767"/>
                </a:lnTo>
                <a:lnTo>
                  <a:pt x="503" y="1767"/>
                </a:lnTo>
                <a:lnTo>
                  <a:pt x="501" y="1767"/>
                </a:lnTo>
                <a:lnTo>
                  <a:pt x="499" y="1766"/>
                </a:lnTo>
                <a:lnTo>
                  <a:pt x="498" y="1765"/>
                </a:lnTo>
                <a:lnTo>
                  <a:pt x="497" y="1764"/>
                </a:lnTo>
                <a:lnTo>
                  <a:pt x="496" y="1762"/>
                </a:lnTo>
                <a:lnTo>
                  <a:pt x="495" y="1761"/>
                </a:lnTo>
                <a:lnTo>
                  <a:pt x="494" y="1759"/>
                </a:lnTo>
                <a:lnTo>
                  <a:pt x="494" y="1757"/>
                </a:lnTo>
                <a:lnTo>
                  <a:pt x="494" y="1755"/>
                </a:lnTo>
                <a:lnTo>
                  <a:pt x="495" y="1753"/>
                </a:lnTo>
                <a:lnTo>
                  <a:pt x="496" y="1752"/>
                </a:lnTo>
                <a:lnTo>
                  <a:pt x="497" y="1750"/>
                </a:lnTo>
                <a:lnTo>
                  <a:pt x="498" y="1749"/>
                </a:lnTo>
                <a:lnTo>
                  <a:pt x="499" y="1748"/>
                </a:lnTo>
                <a:lnTo>
                  <a:pt x="501" y="1747"/>
                </a:lnTo>
                <a:lnTo>
                  <a:pt x="503" y="1747"/>
                </a:lnTo>
                <a:lnTo>
                  <a:pt x="505" y="1746"/>
                </a:lnTo>
                <a:close/>
                <a:moveTo>
                  <a:pt x="1419" y="1743"/>
                </a:moveTo>
                <a:cubicBezTo>
                  <a:pt x="1427" y="1742"/>
                  <a:pt x="1433" y="1752"/>
                  <a:pt x="1432" y="1756"/>
                </a:cubicBezTo>
                <a:cubicBezTo>
                  <a:pt x="1433" y="1764"/>
                  <a:pt x="1423" y="1771"/>
                  <a:pt x="1419" y="1770"/>
                </a:cubicBezTo>
                <a:cubicBezTo>
                  <a:pt x="1411" y="1771"/>
                  <a:pt x="1405" y="1761"/>
                  <a:pt x="1406" y="1756"/>
                </a:cubicBezTo>
                <a:cubicBezTo>
                  <a:pt x="1405" y="1748"/>
                  <a:pt x="1415" y="1742"/>
                  <a:pt x="1419" y="1743"/>
                </a:cubicBezTo>
                <a:close/>
                <a:moveTo>
                  <a:pt x="567" y="1734"/>
                </a:moveTo>
                <a:lnTo>
                  <a:pt x="569" y="1734"/>
                </a:lnTo>
                <a:lnTo>
                  <a:pt x="571" y="1735"/>
                </a:lnTo>
                <a:lnTo>
                  <a:pt x="572" y="1737"/>
                </a:lnTo>
                <a:lnTo>
                  <a:pt x="573" y="1739"/>
                </a:lnTo>
                <a:lnTo>
                  <a:pt x="572" y="1741"/>
                </a:lnTo>
                <a:lnTo>
                  <a:pt x="571" y="1743"/>
                </a:lnTo>
                <a:lnTo>
                  <a:pt x="569" y="1744"/>
                </a:lnTo>
                <a:lnTo>
                  <a:pt x="567" y="1745"/>
                </a:lnTo>
                <a:lnTo>
                  <a:pt x="565" y="1744"/>
                </a:lnTo>
                <a:lnTo>
                  <a:pt x="563" y="1743"/>
                </a:lnTo>
                <a:lnTo>
                  <a:pt x="562" y="1741"/>
                </a:lnTo>
                <a:lnTo>
                  <a:pt x="562" y="1739"/>
                </a:lnTo>
                <a:lnTo>
                  <a:pt x="562" y="1737"/>
                </a:lnTo>
                <a:lnTo>
                  <a:pt x="563" y="1735"/>
                </a:lnTo>
                <a:lnTo>
                  <a:pt x="565" y="1734"/>
                </a:lnTo>
                <a:lnTo>
                  <a:pt x="567" y="1734"/>
                </a:lnTo>
                <a:close/>
                <a:moveTo>
                  <a:pt x="388" y="1730"/>
                </a:moveTo>
                <a:lnTo>
                  <a:pt x="389" y="1730"/>
                </a:lnTo>
                <a:lnTo>
                  <a:pt x="390" y="1732"/>
                </a:lnTo>
                <a:lnTo>
                  <a:pt x="389" y="1733"/>
                </a:lnTo>
                <a:lnTo>
                  <a:pt x="388" y="1734"/>
                </a:lnTo>
                <a:lnTo>
                  <a:pt x="386" y="1733"/>
                </a:lnTo>
                <a:lnTo>
                  <a:pt x="386" y="1732"/>
                </a:lnTo>
                <a:lnTo>
                  <a:pt x="386" y="1730"/>
                </a:lnTo>
                <a:lnTo>
                  <a:pt x="388" y="1730"/>
                </a:lnTo>
                <a:close/>
                <a:moveTo>
                  <a:pt x="1536" y="1725"/>
                </a:moveTo>
                <a:lnTo>
                  <a:pt x="1538" y="1726"/>
                </a:lnTo>
                <a:lnTo>
                  <a:pt x="1539" y="1727"/>
                </a:lnTo>
                <a:lnTo>
                  <a:pt x="1540" y="1728"/>
                </a:lnTo>
                <a:lnTo>
                  <a:pt x="1541" y="1729"/>
                </a:lnTo>
                <a:lnTo>
                  <a:pt x="1542" y="1731"/>
                </a:lnTo>
                <a:lnTo>
                  <a:pt x="1541" y="1733"/>
                </a:lnTo>
                <a:lnTo>
                  <a:pt x="1540" y="1735"/>
                </a:lnTo>
                <a:lnTo>
                  <a:pt x="1539" y="1736"/>
                </a:lnTo>
                <a:lnTo>
                  <a:pt x="1538" y="1737"/>
                </a:lnTo>
                <a:lnTo>
                  <a:pt x="1536" y="1737"/>
                </a:lnTo>
                <a:lnTo>
                  <a:pt x="1534" y="1737"/>
                </a:lnTo>
                <a:lnTo>
                  <a:pt x="1533" y="1736"/>
                </a:lnTo>
                <a:lnTo>
                  <a:pt x="1531" y="1735"/>
                </a:lnTo>
                <a:lnTo>
                  <a:pt x="1531" y="1733"/>
                </a:lnTo>
                <a:lnTo>
                  <a:pt x="1530" y="1731"/>
                </a:lnTo>
                <a:lnTo>
                  <a:pt x="1531" y="1729"/>
                </a:lnTo>
                <a:lnTo>
                  <a:pt x="1531" y="1728"/>
                </a:lnTo>
                <a:lnTo>
                  <a:pt x="1533" y="1727"/>
                </a:lnTo>
                <a:lnTo>
                  <a:pt x="1534" y="1726"/>
                </a:lnTo>
                <a:lnTo>
                  <a:pt x="1536" y="1725"/>
                </a:lnTo>
                <a:close/>
                <a:moveTo>
                  <a:pt x="447" y="1710"/>
                </a:moveTo>
                <a:lnTo>
                  <a:pt x="449" y="1711"/>
                </a:lnTo>
                <a:lnTo>
                  <a:pt x="450" y="1711"/>
                </a:lnTo>
                <a:lnTo>
                  <a:pt x="452" y="1712"/>
                </a:lnTo>
                <a:lnTo>
                  <a:pt x="453" y="1713"/>
                </a:lnTo>
                <a:lnTo>
                  <a:pt x="455" y="1714"/>
                </a:lnTo>
                <a:lnTo>
                  <a:pt x="456" y="1715"/>
                </a:lnTo>
                <a:lnTo>
                  <a:pt x="456" y="1717"/>
                </a:lnTo>
                <a:lnTo>
                  <a:pt x="457" y="1719"/>
                </a:lnTo>
                <a:lnTo>
                  <a:pt x="457" y="1721"/>
                </a:lnTo>
                <a:lnTo>
                  <a:pt x="457" y="1722"/>
                </a:lnTo>
                <a:lnTo>
                  <a:pt x="456" y="1724"/>
                </a:lnTo>
                <a:lnTo>
                  <a:pt x="456" y="1726"/>
                </a:lnTo>
                <a:lnTo>
                  <a:pt x="455" y="1727"/>
                </a:lnTo>
                <a:lnTo>
                  <a:pt x="453" y="1728"/>
                </a:lnTo>
                <a:lnTo>
                  <a:pt x="452" y="1729"/>
                </a:lnTo>
                <a:lnTo>
                  <a:pt x="450" y="1730"/>
                </a:lnTo>
                <a:lnTo>
                  <a:pt x="449" y="1730"/>
                </a:lnTo>
                <a:lnTo>
                  <a:pt x="447" y="1731"/>
                </a:lnTo>
                <a:lnTo>
                  <a:pt x="445" y="1730"/>
                </a:lnTo>
                <a:lnTo>
                  <a:pt x="443" y="1730"/>
                </a:lnTo>
                <a:lnTo>
                  <a:pt x="442" y="1729"/>
                </a:lnTo>
                <a:lnTo>
                  <a:pt x="440" y="1728"/>
                </a:lnTo>
                <a:lnTo>
                  <a:pt x="439" y="1727"/>
                </a:lnTo>
                <a:lnTo>
                  <a:pt x="438" y="1726"/>
                </a:lnTo>
                <a:lnTo>
                  <a:pt x="438" y="1724"/>
                </a:lnTo>
                <a:lnTo>
                  <a:pt x="437" y="1722"/>
                </a:lnTo>
                <a:lnTo>
                  <a:pt x="437" y="1721"/>
                </a:lnTo>
                <a:lnTo>
                  <a:pt x="437" y="1719"/>
                </a:lnTo>
                <a:lnTo>
                  <a:pt x="438" y="1717"/>
                </a:lnTo>
                <a:lnTo>
                  <a:pt x="438" y="1715"/>
                </a:lnTo>
                <a:lnTo>
                  <a:pt x="439" y="1714"/>
                </a:lnTo>
                <a:lnTo>
                  <a:pt x="440" y="1713"/>
                </a:lnTo>
                <a:lnTo>
                  <a:pt x="442" y="1712"/>
                </a:lnTo>
                <a:lnTo>
                  <a:pt x="443" y="1711"/>
                </a:lnTo>
                <a:lnTo>
                  <a:pt x="445" y="1711"/>
                </a:lnTo>
                <a:lnTo>
                  <a:pt x="447" y="1710"/>
                </a:lnTo>
                <a:close/>
                <a:moveTo>
                  <a:pt x="1477" y="1707"/>
                </a:moveTo>
                <a:cubicBezTo>
                  <a:pt x="1485" y="1706"/>
                  <a:pt x="1491" y="1716"/>
                  <a:pt x="1490" y="1720"/>
                </a:cubicBezTo>
                <a:cubicBezTo>
                  <a:pt x="1491" y="1728"/>
                  <a:pt x="1481" y="1734"/>
                  <a:pt x="1477" y="1733"/>
                </a:cubicBezTo>
                <a:cubicBezTo>
                  <a:pt x="1469" y="1734"/>
                  <a:pt x="1463" y="1724"/>
                  <a:pt x="1464" y="1720"/>
                </a:cubicBezTo>
                <a:cubicBezTo>
                  <a:pt x="1463" y="1712"/>
                  <a:pt x="1473" y="1706"/>
                  <a:pt x="1477" y="1707"/>
                </a:cubicBezTo>
                <a:close/>
                <a:moveTo>
                  <a:pt x="508" y="1700"/>
                </a:moveTo>
                <a:lnTo>
                  <a:pt x="510" y="1700"/>
                </a:lnTo>
                <a:lnTo>
                  <a:pt x="511" y="1701"/>
                </a:lnTo>
                <a:lnTo>
                  <a:pt x="513" y="1702"/>
                </a:lnTo>
                <a:lnTo>
                  <a:pt x="514" y="1704"/>
                </a:lnTo>
                <a:lnTo>
                  <a:pt x="514" y="1706"/>
                </a:lnTo>
                <a:lnTo>
                  <a:pt x="514" y="1708"/>
                </a:lnTo>
                <a:lnTo>
                  <a:pt x="513" y="1709"/>
                </a:lnTo>
                <a:lnTo>
                  <a:pt x="511" y="1711"/>
                </a:lnTo>
                <a:lnTo>
                  <a:pt x="510" y="1712"/>
                </a:lnTo>
                <a:lnTo>
                  <a:pt x="508" y="1712"/>
                </a:lnTo>
                <a:lnTo>
                  <a:pt x="506" y="1712"/>
                </a:lnTo>
                <a:lnTo>
                  <a:pt x="504" y="1711"/>
                </a:lnTo>
                <a:lnTo>
                  <a:pt x="503" y="1709"/>
                </a:lnTo>
                <a:lnTo>
                  <a:pt x="502" y="1708"/>
                </a:lnTo>
                <a:lnTo>
                  <a:pt x="502" y="1706"/>
                </a:lnTo>
                <a:lnTo>
                  <a:pt x="502" y="1704"/>
                </a:lnTo>
                <a:lnTo>
                  <a:pt x="503" y="1702"/>
                </a:lnTo>
                <a:lnTo>
                  <a:pt x="504" y="1701"/>
                </a:lnTo>
                <a:lnTo>
                  <a:pt x="506" y="1700"/>
                </a:lnTo>
                <a:lnTo>
                  <a:pt x="508" y="1700"/>
                </a:lnTo>
                <a:close/>
                <a:moveTo>
                  <a:pt x="335" y="1687"/>
                </a:moveTo>
                <a:lnTo>
                  <a:pt x="336" y="1688"/>
                </a:lnTo>
                <a:lnTo>
                  <a:pt x="336" y="1689"/>
                </a:lnTo>
                <a:lnTo>
                  <a:pt x="336" y="1690"/>
                </a:lnTo>
                <a:lnTo>
                  <a:pt x="335" y="1690"/>
                </a:lnTo>
                <a:lnTo>
                  <a:pt x="333" y="1690"/>
                </a:lnTo>
                <a:lnTo>
                  <a:pt x="333" y="1689"/>
                </a:lnTo>
                <a:lnTo>
                  <a:pt x="333" y="1688"/>
                </a:lnTo>
                <a:lnTo>
                  <a:pt x="335" y="1687"/>
                </a:lnTo>
                <a:close/>
                <a:moveTo>
                  <a:pt x="1589" y="1683"/>
                </a:moveTo>
                <a:lnTo>
                  <a:pt x="1591" y="1683"/>
                </a:lnTo>
                <a:lnTo>
                  <a:pt x="1593" y="1685"/>
                </a:lnTo>
                <a:lnTo>
                  <a:pt x="1594" y="1686"/>
                </a:lnTo>
                <a:lnTo>
                  <a:pt x="1594" y="1688"/>
                </a:lnTo>
                <a:lnTo>
                  <a:pt x="1594" y="1690"/>
                </a:lnTo>
                <a:lnTo>
                  <a:pt x="1593" y="1692"/>
                </a:lnTo>
                <a:lnTo>
                  <a:pt x="1591" y="1693"/>
                </a:lnTo>
                <a:lnTo>
                  <a:pt x="1589" y="1694"/>
                </a:lnTo>
                <a:lnTo>
                  <a:pt x="1587" y="1693"/>
                </a:lnTo>
                <a:lnTo>
                  <a:pt x="1585" y="1692"/>
                </a:lnTo>
                <a:lnTo>
                  <a:pt x="1584" y="1690"/>
                </a:lnTo>
                <a:lnTo>
                  <a:pt x="1584" y="1688"/>
                </a:lnTo>
                <a:lnTo>
                  <a:pt x="1584" y="1686"/>
                </a:lnTo>
                <a:lnTo>
                  <a:pt x="1585" y="1685"/>
                </a:lnTo>
                <a:lnTo>
                  <a:pt x="1587" y="1683"/>
                </a:lnTo>
                <a:lnTo>
                  <a:pt x="1589" y="1683"/>
                </a:lnTo>
                <a:close/>
                <a:moveTo>
                  <a:pt x="392" y="1670"/>
                </a:moveTo>
                <a:lnTo>
                  <a:pt x="394" y="1670"/>
                </a:lnTo>
                <a:lnTo>
                  <a:pt x="395" y="1671"/>
                </a:lnTo>
                <a:lnTo>
                  <a:pt x="397" y="1671"/>
                </a:lnTo>
                <a:lnTo>
                  <a:pt x="398" y="1672"/>
                </a:lnTo>
                <a:lnTo>
                  <a:pt x="399" y="1673"/>
                </a:lnTo>
                <a:lnTo>
                  <a:pt x="400" y="1675"/>
                </a:lnTo>
                <a:lnTo>
                  <a:pt x="401" y="1676"/>
                </a:lnTo>
                <a:lnTo>
                  <a:pt x="401" y="1678"/>
                </a:lnTo>
                <a:lnTo>
                  <a:pt x="401" y="1680"/>
                </a:lnTo>
                <a:lnTo>
                  <a:pt x="401" y="1681"/>
                </a:lnTo>
                <a:lnTo>
                  <a:pt x="401" y="1683"/>
                </a:lnTo>
                <a:lnTo>
                  <a:pt x="400" y="1685"/>
                </a:lnTo>
                <a:lnTo>
                  <a:pt x="399" y="1686"/>
                </a:lnTo>
                <a:lnTo>
                  <a:pt x="398" y="1687"/>
                </a:lnTo>
                <a:lnTo>
                  <a:pt x="397" y="1688"/>
                </a:lnTo>
                <a:lnTo>
                  <a:pt x="395" y="1689"/>
                </a:lnTo>
                <a:lnTo>
                  <a:pt x="394" y="1689"/>
                </a:lnTo>
                <a:lnTo>
                  <a:pt x="392" y="1690"/>
                </a:lnTo>
                <a:lnTo>
                  <a:pt x="390" y="1689"/>
                </a:lnTo>
                <a:lnTo>
                  <a:pt x="389" y="1689"/>
                </a:lnTo>
                <a:lnTo>
                  <a:pt x="387" y="1688"/>
                </a:lnTo>
                <a:lnTo>
                  <a:pt x="386" y="1687"/>
                </a:lnTo>
                <a:lnTo>
                  <a:pt x="385" y="1686"/>
                </a:lnTo>
                <a:lnTo>
                  <a:pt x="384" y="1685"/>
                </a:lnTo>
                <a:lnTo>
                  <a:pt x="383" y="1683"/>
                </a:lnTo>
                <a:lnTo>
                  <a:pt x="383" y="1681"/>
                </a:lnTo>
                <a:lnTo>
                  <a:pt x="382" y="1680"/>
                </a:lnTo>
                <a:lnTo>
                  <a:pt x="383" y="1678"/>
                </a:lnTo>
                <a:lnTo>
                  <a:pt x="383" y="1676"/>
                </a:lnTo>
                <a:lnTo>
                  <a:pt x="384" y="1675"/>
                </a:lnTo>
                <a:lnTo>
                  <a:pt x="385" y="1673"/>
                </a:lnTo>
                <a:lnTo>
                  <a:pt x="386" y="1672"/>
                </a:lnTo>
                <a:lnTo>
                  <a:pt x="387" y="1671"/>
                </a:lnTo>
                <a:lnTo>
                  <a:pt x="389" y="1671"/>
                </a:lnTo>
                <a:lnTo>
                  <a:pt x="390" y="1670"/>
                </a:lnTo>
                <a:lnTo>
                  <a:pt x="392" y="1670"/>
                </a:lnTo>
                <a:close/>
                <a:moveTo>
                  <a:pt x="1532" y="1667"/>
                </a:moveTo>
                <a:cubicBezTo>
                  <a:pt x="1540" y="1666"/>
                  <a:pt x="1546" y="1675"/>
                  <a:pt x="1545" y="1679"/>
                </a:cubicBezTo>
                <a:cubicBezTo>
                  <a:pt x="1546" y="1687"/>
                  <a:pt x="1536" y="1693"/>
                  <a:pt x="1532" y="1692"/>
                </a:cubicBezTo>
                <a:cubicBezTo>
                  <a:pt x="1524" y="1693"/>
                  <a:pt x="1518" y="1683"/>
                  <a:pt x="1519" y="1679"/>
                </a:cubicBezTo>
                <a:cubicBezTo>
                  <a:pt x="1518" y="1672"/>
                  <a:pt x="1528" y="1666"/>
                  <a:pt x="1532" y="1667"/>
                </a:cubicBezTo>
                <a:close/>
                <a:moveTo>
                  <a:pt x="451" y="1661"/>
                </a:moveTo>
                <a:lnTo>
                  <a:pt x="453" y="1661"/>
                </a:lnTo>
                <a:lnTo>
                  <a:pt x="454" y="1662"/>
                </a:lnTo>
                <a:lnTo>
                  <a:pt x="456" y="1663"/>
                </a:lnTo>
                <a:lnTo>
                  <a:pt x="457" y="1664"/>
                </a:lnTo>
                <a:lnTo>
                  <a:pt x="458" y="1666"/>
                </a:lnTo>
                <a:lnTo>
                  <a:pt x="458" y="1668"/>
                </a:lnTo>
                <a:lnTo>
                  <a:pt x="458" y="1670"/>
                </a:lnTo>
                <a:lnTo>
                  <a:pt x="457" y="1671"/>
                </a:lnTo>
                <a:lnTo>
                  <a:pt x="456" y="1673"/>
                </a:lnTo>
                <a:lnTo>
                  <a:pt x="454" y="1674"/>
                </a:lnTo>
                <a:lnTo>
                  <a:pt x="453" y="1675"/>
                </a:lnTo>
                <a:lnTo>
                  <a:pt x="451" y="1675"/>
                </a:lnTo>
                <a:lnTo>
                  <a:pt x="449" y="1675"/>
                </a:lnTo>
                <a:lnTo>
                  <a:pt x="447" y="1674"/>
                </a:lnTo>
                <a:lnTo>
                  <a:pt x="446" y="1673"/>
                </a:lnTo>
                <a:lnTo>
                  <a:pt x="445" y="1671"/>
                </a:lnTo>
                <a:lnTo>
                  <a:pt x="444" y="1670"/>
                </a:lnTo>
                <a:lnTo>
                  <a:pt x="444" y="1668"/>
                </a:lnTo>
                <a:lnTo>
                  <a:pt x="444" y="1666"/>
                </a:lnTo>
                <a:lnTo>
                  <a:pt x="445" y="1664"/>
                </a:lnTo>
                <a:lnTo>
                  <a:pt x="446" y="1663"/>
                </a:lnTo>
                <a:lnTo>
                  <a:pt x="447" y="1662"/>
                </a:lnTo>
                <a:lnTo>
                  <a:pt x="449" y="1661"/>
                </a:lnTo>
                <a:lnTo>
                  <a:pt x="451" y="1661"/>
                </a:lnTo>
                <a:close/>
                <a:moveTo>
                  <a:pt x="284" y="1641"/>
                </a:moveTo>
                <a:lnTo>
                  <a:pt x="285" y="1641"/>
                </a:lnTo>
                <a:lnTo>
                  <a:pt x="286" y="1642"/>
                </a:lnTo>
                <a:lnTo>
                  <a:pt x="285" y="1643"/>
                </a:lnTo>
                <a:lnTo>
                  <a:pt x="284" y="1643"/>
                </a:lnTo>
                <a:lnTo>
                  <a:pt x="283" y="1643"/>
                </a:lnTo>
                <a:lnTo>
                  <a:pt x="283" y="1642"/>
                </a:lnTo>
                <a:lnTo>
                  <a:pt x="283" y="1641"/>
                </a:lnTo>
                <a:lnTo>
                  <a:pt x="284" y="1641"/>
                </a:lnTo>
                <a:close/>
                <a:moveTo>
                  <a:pt x="1639" y="1637"/>
                </a:moveTo>
                <a:lnTo>
                  <a:pt x="1641" y="1637"/>
                </a:lnTo>
                <a:lnTo>
                  <a:pt x="1643" y="1638"/>
                </a:lnTo>
                <a:lnTo>
                  <a:pt x="1644" y="1640"/>
                </a:lnTo>
                <a:lnTo>
                  <a:pt x="1644" y="1642"/>
                </a:lnTo>
                <a:lnTo>
                  <a:pt x="1644" y="1644"/>
                </a:lnTo>
                <a:lnTo>
                  <a:pt x="1643" y="1645"/>
                </a:lnTo>
                <a:lnTo>
                  <a:pt x="1641" y="1646"/>
                </a:lnTo>
                <a:lnTo>
                  <a:pt x="1639" y="1647"/>
                </a:lnTo>
                <a:lnTo>
                  <a:pt x="1637" y="1646"/>
                </a:lnTo>
                <a:lnTo>
                  <a:pt x="1636" y="1645"/>
                </a:lnTo>
                <a:lnTo>
                  <a:pt x="1635" y="1644"/>
                </a:lnTo>
                <a:lnTo>
                  <a:pt x="1634" y="1642"/>
                </a:lnTo>
                <a:lnTo>
                  <a:pt x="1635" y="1640"/>
                </a:lnTo>
                <a:lnTo>
                  <a:pt x="1636" y="1638"/>
                </a:lnTo>
                <a:lnTo>
                  <a:pt x="1637" y="1637"/>
                </a:lnTo>
                <a:lnTo>
                  <a:pt x="1639" y="1637"/>
                </a:lnTo>
                <a:close/>
                <a:moveTo>
                  <a:pt x="340" y="1626"/>
                </a:moveTo>
                <a:lnTo>
                  <a:pt x="342" y="1626"/>
                </a:lnTo>
                <a:lnTo>
                  <a:pt x="344" y="1626"/>
                </a:lnTo>
                <a:lnTo>
                  <a:pt x="345" y="1627"/>
                </a:lnTo>
                <a:lnTo>
                  <a:pt x="347" y="1628"/>
                </a:lnTo>
                <a:lnTo>
                  <a:pt x="348" y="1630"/>
                </a:lnTo>
                <a:lnTo>
                  <a:pt x="349" y="1631"/>
                </a:lnTo>
                <a:lnTo>
                  <a:pt x="349" y="1633"/>
                </a:lnTo>
                <a:lnTo>
                  <a:pt x="349" y="1635"/>
                </a:lnTo>
                <a:lnTo>
                  <a:pt x="349" y="1637"/>
                </a:lnTo>
                <a:lnTo>
                  <a:pt x="349" y="1639"/>
                </a:lnTo>
                <a:lnTo>
                  <a:pt x="348" y="1640"/>
                </a:lnTo>
                <a:lnTo>
                  <a:pt x="347" y="1642"/>
                </a:lnTo>
                <a:lnTo>
                  <a:pt x="345" y="1643"/>
                </a:lnTo>
                <a:lnTo>
                  <a:pt x="344" y="1644"/>
                </a:lnTo>
                <a:lnTo>
                  <a:pt x="342" y="1644"/>
                </a:lnTo>
                <a:lnTo>
                  <a:pt x="340" y="1644"/>
                </a:lnTo>
                <a:lnTo>
                  <a:pt x="338" y="1644"/>
                </a:lnTo>
                <a:lnTo>
                  <a:pt x="336" y="1644"/>
                </a:lnTo>
                <a:lnTo>
                  <a:pt x="335" y="1643"/>
                </a:lnTo>
                <a:lnTo>
                  <a:pt x="333" y="1642"/>
                </a:lnTo>
                <a:lnTo>
                  <a:pt x="332" y="1640"/>
                </a:lnTo>
                <a:lnTo>
                  <a:pt x="331" y="1639"/>
                </a:lnTo>
                <a:lnTo>
                  <a:pt x="331" y="1637"/>
                </a:lnTo>
                <a:lnTo>
                  <a:pt x="331" y="1635"/>
                </a:lnTo>
                <a:lnTo>
                  <a:pt x="331" y="1633"/>
                </a:lnTo>
                <a:lnTo>
                  <a:pt x="331" y="1631"/>
                </a:lnTo>
                <a:lnTo>
                  <a:pt x="332" y="1630"/>
                </a:lnTo>
                <a:lnTo>
                  <a:pt x="333" y="1628"/>
                </a:lnTo>
                <a:lnTo>
                  <a:pt x="335" y="1627"/>
                </a:lnTo>
                <a:lnTo>
                  <a:pt x="336" y="1626"/>
                </a:lnTo>
                <a:lnTo>
                  <a:pt x="338" y="1626"/>
                </a:lnTo>
                <a:lnTo>
                  <a:pt x="340" y="1626"/>
                </a:lnTo>
                <a:close/>
                <a:moveTo>
                  <a:pt x="1584" y="1622"/>
                </a:moveTo>
                <a:lnTo>
                  <a:pt x="1586" y="1623"/>
                </a:lnTo>
                <a:lnTo>
                  <a:pt x="1587" y="1623"/>
                </a:lnTo>
                <a:lnTo>
                  <a:pt x="1589" y="1624"/>
                </a:lnTo>
                <a:lnTo>
                  <a:pt x="1590" y="1624"/>
                </a:lnTo>
                <a:lnTo>
                  <a:pt x="1592" y="1625"/>
                </a:lnTo>
                <a:lnTo>
                  <a:pt x="1593" y="1627"/>
                </a:lnTo>
                <a:lnTo>
                  <a:pt x="1594" y="1628"/>
                </a:lnTo>
                <a:lnTo>
                  <a:pt x="1595" y="1630"/>
                </a:lnTo>
                <a:lnTo>
                  <a:pt x="1596" y="1631"/>
                </a:lnTo>
                <a:lnTo>
                  <a:pt x="1596" y="1633"/>
                </a:lnTo>
                <a:lnTo>
                  <a:pt x="1596" y="1635"/>
                </a:lnTo>
                <a:lnTo>
                  <a:pt x="1596" y="1637"/>
                </a:lnTo>
                <a:lnTo>
                  <a:pt x="1596" y="1638"/>
                </a:lnTo>
                <a:lnTo>
                  <a:pt x="1595" y="1640"/>
                </a:lnTo>
                <a:lnTo>
                  <a:pt x="1594" y="1641"/>
                </a:lnTo>
                <a:lnTo>
                  <a:pt x="1593" y="1643"/>
                </a:lnTo>
                <a:lnTo>
                  <a:pt x="1592" y="1644"/>
                </a:lnTo>
                <a:lnTo>
                  <a:pt x="1590" y="1645"/>
                </a:lnTo>
                <a:lnTo>
                  <a:pt x="1589" y="1646"/>
                </a:lnTo>
                <a:lnTo>
                  <a:pt x="1587" y="1647"/>
                </a:lnTo>
                <a:lnTo>
                  <a:pt x="1586" y="1647"/>
                </a:lnTo>
                <a:lnTo>
                  <a:pt x="1584" y="1647"/>
                </a:lnTo>
                <a:lnTo>
                  <a:pt x="1582" y="1647"/>
                </a:lnTo>
                <a:lnTo>
                  <a:pt x="1580" y="1647"/>
                </a:lnTo>
                <a:lnTo>
                  <a:pt x="1579" y="1646"/>
                </a:lnTo>
                <a:lnTo>
                  <a:pt x="1577" y="1645"/>
                </a:lnTo>
                <a:lnTo>
                  <a:pt x="1576" y="1644"/>
                </a:lnTo>
                <a:lnTo>
                  <a:pt x="1574" y="1643"/>
                </a:lnTo>
                <a:lnTo>
                  <a:pt x="1573" y="1641"/>
                </a:lnTo>
                <a:lnTo>
                  <a:pt x="1573" y="1640"/>
                </a:lnTo>
                <a:lnTo>
                  <a:pt x="1572" y="1638"/>
                </a:lnTo>
                <a:lnTo>
                  <a:pt x="1571" y="1637"/>
                </a:lnTo>
                <a:lnTo>
                  <a:pt x="1571" y="1635"/>
                </a:lnTo>
                <a:lnTo>
                  <a:pt x="1571" y="1633"/>
                </a:lnTo>
                <a:lnTo>
                  <a:pt x="1572" y="1631"/>
                </a:lnTo>
                <a:lnTo>
                  <a:pt x="1573" y="1630"/>
                </a:lnTo>
                <a:lnTo>
                  <a:pt x="1573" y="1628"/>
                </a:lnTo>
                <a:lnTo>
                  <a:pt x="1574" y="1627"/>
                </a:lnTo>
                <a:lnTo>
                  <a:pt x="1576" y="1625"/>
                </a:lnTo>
                <a:lnTo>
                  <a:pt x="1577" y="1624"/>
                </a:lnTo>
                <a:lnTo>
                  <a:pt x="1579" y="1624"/>
                </a:lnTo>
                <a:lnTo>
                  <a:pt x="1580" y="1623"/>
                </a:lnTo>
                <a:lnTo>
                  <a:pt x="1582" y="1623"/>
                </a:lnTo>
                <a:lnTo>
                  <a:pt x="1584" y="1622"/>
                </a:lnTo>
                <a:close/>
                <a:moveTo>
                  <a:pt x="398" y="1618"/>
                </a:moveTo>
                <a:lnTo>
                  <a:pt x="399" y="1618"/>
                </a:lnTo>
                <a:lnTo>
                  <a:pt x="401" y="1619"/>
                </a:lnTo>
                <a:lnTo>
                  <a:pt x="402" y="1619"/>
                </a:lnTo>
                <a:lnTo>
                  <a:pt x="404" y="1621"/>
                </a:lnTo>
                <a:lnTo>
                  <a:pt x="404" y="1622"/>
                </a:lnTo>
                <a:lnTo>
                  <a:pt x="405" y="1624"/>
                </a:lnTo>
                <a:lnTo>
                  <a:pt x="405" y="1626"/>
                </a:lnTo>
                <a:lnTo>
                  <a:pt x="405" y="1627"/>
                </a:lnTo>
                <a:lnTo>
                  <a:pt x="404" y="1629"/>
                </a:lnTo>
                <a:lnTo>
                  <a:pt x="404" y="1631"/>
                </a:lnTo>
                <a:lnTo>
                  <a:pt x="402" y="1632"/>
                </a:lnTo>
                <a:lnTo>
                  <a:pt x="401" y="1633"/>
                </a:lnTo>
                <a:lnTo>
                  <a:pt x="399" y="1633"/>
                </a:lnTo>
                <a:lnTo>
                  <a:pt x="398" y="1634"/>
                </a:lnTo>
                <a:lnTo>
                  <a:pt x="396" y="1633"/>
                </a:lnTo>
                <a:lnTo>
                  <a:pt x="394" y="1633"/>
                </a:lnTo>
                <a:lnTo>
                  <a:pt x="393" y="1632"/>
                </a:lnTo>
                <a:lnTo>
                  <a:pt x="391" y="1631"/>
                </a:lnTo>
                <a:lnTo>
                  <a:pt x="391" y="1629"/>
                </a:lnTo>
                <a:lnTo>
                  <a:pt x="390" y="1627"/>
                </a:lnTo>
                <a:lnTo>
                  <a:pt x="390" y="1626"/>
                </a:lnTo>
                <a:lnTo>
                  <a:pt x="390" y="1624"/>
                </a:lnTo>
                <a:lnTo>
                  <a:pt x="391" y="1622"/>
                </a:lnTo>
                <a:lnTo>
                  <a:pt x="391" y="1621"/>
                </a:lnTo>
                <a:lnTo>
                  <a:pt x="393" y="1619"/>
                </a:lnTo>
                <a:lnTo>
                  <a:pt x="394" y="1619"/>
                </a:lnTo>
                <a:lnTo>
                  <a:pt x="396" y="1618"/>
                </a:lnTo>
                <a:lnTo>
                  <a:pt x="398" y="1618"/>
                </a:lnTo>
                <a:close/>
                <a:moveTo>
                  <a:pt x="238" y="1591"/>
                </a:moveTo>
                <a:lnTo>
                  <a:pt x="239" y="1591"/>
                </a:lnTo>
                <a:lnTo>
                  <a:pt x="239" y="1592"/>
                </a:lnTo>
                <a:lnTo>
                  <a:pt x="239" y="1593"/>
                </a:lnTo>
                <a:lnTo>
                  <a:pt x="238" y="1593"/>
                </a:lnTo>
                <a:lnTo>
                  <a:pt x="238" y="1593"/>
                </a:lnTo>
                <a:lnTo>
                  <a:pt x="237" y="1592"/>
                </a:lnTo>
                <a:lnTo>
                  <a:pt x="238" y="1591"/>
                </a:lnTo>
                <a:lnTo>
                  <a:pt x="238" y="1591"/>
                </a:lnTo>
                <a:close/>
                <a:moveTo>
                  <a:pt x="1686" y="1587"/>
                </a:moveTo>
                <a:lnTo>
                  <a:pt x="1688" y="1588"/>
                </a:lnTo>
                <a:lnTo>
                  <a:pt x="1690" y="1590"/>
                </a:lnTo>
                <a:lnTo>
                  <a:pt x="1690" y="1592"/>
                </a:lnTo>
                <a:lnTo>
                  <a:pt x="1690" y="1594"/>
                </a:lnTo>
                <a:lnTo>
                  <a:pt x="1688" y="1596"/>
                </a:lnTo>
                <a:lnTo>
                  <a:pt x="1686" y="1596"/>
                </a:lnTo>
                <a:lnTo>
                  <a:pt x="1684" y="1596"/>
                </a:lnTo>
                <a:lnTo>
                  <a:pt x="1682" y="1594"/>
                </a:lnTo>
                <a:lnTo>
                  <a:pt x="1681" y="1592"/>
                </a:lnTo>
                <a:lnTo>
                  <a:pt x="1682" y="1590"/>
                </a:lnTo>
                <a:lnTo>
                  <a:pt x="1684" y="1588"/>
                </a:lnTo>
                <a:lnTo>
                  <a:pt x="1686" y="1587"/>
                </a:lnTo>
                <a:close/>
                <a:moveTo>
                  <a:pt x="292" y="1578"/>
                </a:moveTo>
                <a:lnTo>
                  <a:pt x="294" y="1578"/>
                </a:lnTo>
                <a:lnTo>
                  <a:pt x="295" y="1579"/>
                </a:lnTo>
                <a:lnTo>
                  <a:pt x="297" y="1580"/>
                </a:lnTo>
                <a:lnTo>
                  <a:pt x="298" y="1581"/>
                </a:lnTo>
                <a:lnTo>
                  <a:pt x="299" y="1582"/>
                </a:lnTo>
                <a:lnTo>
                  <a:pt x="300" y="1583"/>
                </a:lnTo>
                <a:lnTo>
                  <a:pt x="301" y="1585"/>
                </a:lnTo>
                <a:lnTo>
                  <a:pt x="301" y="1587"/>
                </a:lnTo>
                <a:lnTo>
                  <a:pt x="301" y="1589"/>
                </a:lnTo>
                <a:lnTo>
                  <a:pt x="300" y="1590"/>
                </a:lnTo>
                <a:lnTo>
                  <a:pt x="299" y="1592"/>
                </a:lnTo>
                <a:lnTo>
                  <a:pt x="298" y="1593"/>
                </a:lnTo>
                <a:lnTo>
                  <a:pt x="297" y="1594"/>
                </a:lnTo>
                <a:lnTo>
                  <a:pt x="295" y="1595"/>
                </a:lnTo>
                <a:lnTo>
                  <a:pt x="294" y="1596"/>
                </a:lnTo>
                <a:lnTo>
                  <a:pt x="292" y="1596"/>
                </a:lnTo>
                <a:lnTo>
                  <a:pt x="290" y="1596"/>
                </a:lnTo>
                <a:lnTo>
                  <a:pt x="288" y="1595"/>
                </a:lnTo>
                <a:lnTo>
                  <a:pt x="287" y="1594"/>
                </a:lnTo>
                <a:lnTo>
                  <a:pt x="286" y="1593"/>
                </a:lnTo>
                <a:lnTo>
                  <a:pt x="285" y="1592"/>
                </a:lnTo>
                <a:lnTo>
                  <a:pt x="284" y="1590"/>
                </a:lnTo>
                <a:lnTo>
                  <a:pt x="283" y="1589"/>
                </a:lnTo>
                <a:lnTo>
                  <a:pt x="283" y="1587"/>
                </a:lnTo>
                <a:lnTo>
                  <a:pt x="283" y="1585"/>
                </a:lnTo>
                <a:lnTo>
                  <a:pt x="284" y="1583"/>
                </a:lnTo>
                <a:lnTo>
                  <a:pt x="285" y="1582"/>
                </a:lnTo>
                <a:lnTo>
                  <a:pt x="286" y="1581"/>
                </a:lnTo>
                <a:lnTo>
                  <a:pt x="287" y="1580"/>
                </a:lnTo>
                <a:lnTo>
                  <a:pt x="288" y="1579"/>
                </a:lnTo>
                <a:lnTo>
                  <a:pt x="290" y="1578"/>
                </a:lnTo>
                <a:lnTo>
                  <a:pt x="292" y="1578"/>
                </a:lnTo>
                <a:close/>
                <a:moveTo>
                  <a:pt x="1632" y="1574"/>
                </a:moveTo>
                <a:lnTo>
                  <a:pt x="1634" y="1574"/>
                </a:lnTo>
                <a:lnTo>
                  <a:pt x="1635" y="1575"/>
                </a:lnTo>
                <a:lnTo>
                  <a:pt x="1637" y="1575"/>
                </a:lnTo>
                <a:lnTo>
                  <a:pt x="1639" y="1576"/>
                </a:lnTo>
                <a:lnTo>
                  <a:pt x="1640" y="1577"/>
                </a:lnTo>
                <a:lnTo>
                  <a:pt x="1641" y="1579"/>
                </a:lnTo>
                <a:lnTo>
                  <a:pt x="1642" y="1580"/>
                </a:lnTo>
                <a:lnTo>
                  <a:pt x="1643" y="1581"/>
                </a:lnTo>
                <a:lnTo>
                  <a:pt x="1644" y="1583"/>
                </a:lnTo>
                <a:lnTo>
                  <a:pt x="1644" y="1585"/>
                </a:lnTo>
                <a:lnTo>
                  <a:pt x="1644" y="1586"/>
                </a:lnTo>
                <a:lnTo>
                  <a:pt x="1644" y="1588"/>
                </a:lnTo>
                <a:lnTo>
                  <a:pt x="1644" y="1590"/>
                </a:lnTo>
                <a:lnTo>
                  <a:pt x="1643" y="1592"/>
                </a:lnTo>
                <a:lnTo>
                  <a:pt x="1642" y="1593"/>
                </a:lnTo>
                <a:lnTo>
                  <a:pt x="1641" y="1594"/>
                </a:lnTo>
                <a:lnTo>
                  <a:pt x="1640" y="1596"/>
                </a:lnTo>
                <a:lnTo>
                  <a:pt x="1639" y="1597"/>
                </a:lnTo>
                <a:lnTo>
                  <a:pt x="1637" y="1597"/>
                </a:lnTo>
                <a:lnTo>
                  <a:pt x="1635" y="1598"/>
                </a:lnTo>
                <a:lnTo>
                  <a:pt x="1634" y="1598"/>
                </a:lnTo>
                <a:lnTo>
                  <a:pt x="1632" y="1599"/>
                </a:lnTo>
                <a:lnTo>
                  <a:pt x="1630" y="1598"/>
                </a:lnTo>
                <a:lnTo>
                  <a:pt x="1628" y="1598"/>
                </a:lnTo>
                <a:lnTo>
                  <a:pt x="1627" y="1597"/>
                </a:lnTo>
                <a:lnTo>
                  <a:pt x="1625" y="1597"/>
                </a:lnTo>
                <a:lnTo>
                  <a:pt x="1624" y="1596"/>
                </a:lnTo>
                <a:lnTo>
                  <a:pt x="1623" y="1594"/>
                </a:lnTo>
                <a:lnTo>
                  <a:pt x="1622" y="1593"/>
                </a:lnTo>
                <a:lnTo>
                  <a:pt x="1621" y="1592"/>
                </a:lnTo>
                <a:lnTo>
                  <a:pt x="1620" y="1590"/>
                </a:lnTo>
                <a:lnTo>
                  <a:pt x="1620" y="1588"/>
                </a:lnTo>
                <a:lnTo>
                  <a:pt x="1620" y="1586"/>
                </a:lnTo>
                <a:lnTo>
                  <a:pt x="1620" y="1585"/>
                </a:lnTo>
                <a:lnTo>
                  <a:pt x="1620" y="1583"/>
                </a:lnTo>
                <a:lnTo>
                  <a:pt x="1621" y="1581"/>
                </a:lnTo>
                <a:lnTo>
                  <a:pt x="1622" y="1580"/>
                </a:lnTo>
                <a:lnTo>
                  <a:pt x="1623" y="1579"/>
                </a:lnTo>
                <a:lnTo>
                  <a:pt x="1624" y="1577"/>
                </a:lnTo>
                <a:lnTo>
                  <a:pt x="1625" y="1576"/>
                </a:lnTo>
                <a:lnTo>
                  <a:pt x="1627" y="1575"/>
                </a:lnTo>
                <a:lnTo>
                  <a:pt x="1628" y="1575"/>
                </a:lnTo>
                <a:lnTo>
                  <a:pt x="1630" y="1574"/>
                </a:lnTo>
                <a:lnTo>
                  <a:pt x="1632" y="1574"/>
                </a:lnTo>
                <a:close/>
                <a:moveTo>
                  <a:pt x="348" y="1571"/>
                </a:moveTo>
                <a:lnTo>
                  <a:pt x="349" y="1571"/>
                </a:lnTo>
                <a:lnTo>
                  <a:pt x="351" y="1571"/>
                </a:lnTo>
                <a:lnTo>
                  <a:pt x="352" y="1572"/>
                </a:lnTo>
                <a:lnTo>
                  <a:pt x="354" y="1573"/>
                </a:lnTo>
                <a:lnTo>
                  <a:pt x="355" y="1574"/>
                </a:lnTo>
                <a:lnTo>
                  <a:pt x="356" y="1576"/>
                </a:lnTo>
                <a:lnTo>
                  <a:pt x="356" y="1578"/>
                </a:lnTo>
                <a:lnTo>
                  <a:pt x="356" y="1579"/>
                </a:lnTo>
                <a:lnTo>
                  <a:pt x="356" y="1581"/>
                </a:lnTo>
                <a:lnTo>
                  <a:pt x="356" y="1583"/>
                </a:lnTo>
                <a:lnTo>
                  <a:pt x="355" y="1584"/>
                </a:lnTo>
                <a:lnTo>
                  <a:pt x="354" y="1585"/>
                </a:lnTo>
                <a:lnTo>
                  <a:pt x="352" y="1586"/>
                </a:lnTo>
                <a:lnTo>
                  <a:pt x="351" y="1587"/>
                </a:lnTo>
                <a:lnTo>
                  <a:pt x="349" y="1588"/>
                </a:lnTo>
                <a:lnTo>
                  <a:pt x="348" y="1588"/>
                </a:lnTo>
                <a:lnTo>
                  <a:pt x="346" y="1588"/>
                </a:lnTo>
                <a:lnTo>
                  <a:pt x="344" y="1587"/>
                </a:lnTo>
                <a:lnTo>
                  <a:pt x="343" y="1586"/>
                </a:lnTo>
                <a:lnTo>
                  <a:pt x="342" y="1585"/>
                </a:lnTo>
                <a:lnTo>
                  <a:pt x="340" y="1584"/>
                </a:lnTo>
                <a:lnTo>
                  <a:pt x="340" y="1583"/>
                </a:lnTo>
                <a:lnTo>
                  <a:pt x="339" y="1581"/>
                </a:lnTo>
                <a:lnTo>
                  <a:pt x="339" y="1579"/>
                </a:lnTo>
                <a:lnTo>
                  <a:pt x="339" y="1578"/>
                </a:lnTo>
                <a:lnTo>
                  <a:pt x="340" y="1576"/>
                </a:lnTo>
                <a:lnTo>
                  <a:pt x="340" y="1574"/>
                </a:lnTo>
                <a:lnTo>
                  <a:pt x="342" y="1573"/>
                </a:lnTo>
                <a:lnTo>
                  <a:pt x="343" y="1572"/>
                </a:lnTo>
                <a:lnTo>
                  <a:pt x="344" y="1571"/>
                </a:lnTo>
                <a:lnTo>
                  <a:pt x="346" y="1571"/>
                </a:lnTo>
                <a:lnTo>
                  <a:pt x="348" y="1571"/>
                </a:lnTo>
                <a:close/>
                <a:moveTo>
                  <a:pt x="195" y="1538"/>
                </a:moveTo>
                <a:lnTo>
                  <a:pt x="196" y="1539"/>
                </a:lnTo>
                <a:lnTo>
                  <a:pt x="196" y="1539"/>
                </a:lnTo>
                <a:lnTo>
                  <a:pt x="196" y="1540"/>
                </a:lnTo>
                <a:lnTo>
                  <a:pt x="195" y="1540"/>
                </a:lnTo>
                <a:lnTo>
                  <a:pt x="194" y="1540"/>
                </a:lnTo>
                <a:lnTo>
                  <a:pt x="194" y="1539"/>
                </a:lnTo>
                <a:lnTo>
                  <a:pt x="194" y="1539"/>
                </a:lnTo>
                <a:lnTo>
                  <a:pt x="195" y="1538"/>
                </a:lnTo>
                <a:close/>
                <a:moveTo>
                  <a:pt x="1729" y="1535"/>
                </a:moveTo>
                <a:lnTo>
                  <a:pt x="1731" y="1535"/>
                </a:lnTo>
                <a:lnTo>
                  <a:pt x="1732" y="1537"/>
                </a:lnTo>
                <a:lnTo>
                  <a:pt x="1733" y="1539"/>
                </a:lnTo>
                <a:lnTo>
                  <a:pt x="1732" y="1541"/>
                </a:lnTo>
                <a:lnTo>
                  <a:pt x="1731" y="1542"/>
                </a:lnTo>
                <a:lnTo>
                  <a:pt x="1729" y="1543"/>
                </a:lnTo>
                <a:lnTo>
                  <a:pt x="1727" y="1542"/>
                </a:lnTo>
                <a:lnTo>
                  <a:pt x="1725" y="1541"/>
                </a:lnTo>
                <a:lnTo>
                  <a:pt x="1725" y="1539"/>
                </a:lnTo>
                <a:lnTo>
                  <a:pt x="1725" y="1537"/>
                </a:lnTo>
                <a:lnTo>
                  <a:pt x="1727" y="1535"/>
                </a:lnTo>
                <a:lnTo>
                  <a:pt x="1729" y="1535"/>
                </a:lnTo>
                <a:close/>
                <a:moveTo>
                  <a:pt x="247" y="1526"/>
                </a:moveTo>
                <a:lnTo>
                  <a:pt x="249" y="1527"/>
                </a:lnTo>
                <a:lnTo>
                  <a:pt x="250" y="1527"/>
                </a:lnTo>
                <a:lnTo>
                  <a:pt x="252" y="1528"/>
                </a:lnTo>
                <a:lnTo>
                  <a:pt x="253" y="1529"/>
                </a:lnTo>
                <a:lnTo>
                  <a:pt x="254" y="1530"/>
                </a:lnTo>
                <a:lnTo>
                  <a:pt x="255" y="1532"/>
                </a:lnTo>
                <a:lnTo>
                  <a:pt x="255" y="1533"/>
                </a:lnTo>
                <a:lnTo>
                  <a:pt x="256" y="1535"/>
                </a:lnTo>
                <a:lnTo>
                  <a:pt x="255" y="1537"/>
                </a:lnTo>
                <a:lnTo>
                  <a:pt x="255" y="1538"/>
                </a:lnTo>
                <a:lnTo>
                  <a:pt x="254" y="1540"/>
                </a:lnTo>
                <a:lnTo>
                  <a:pt x="253" y="1541"/>
                </a:lnTo>
                <a:lnTo>
                  <a:pt x="252" y="1542"/>
                </a:lnTo>
                <a:lnTo>
                  <a:pt x="250" y="1543"/>
                </a:lnTo>
                <a:lnTo>
                  <a:pt x="249" y="1543"/>
                </a:lnTo>
                <a:lnTo>
                  <a:pt x="247" y="1544"/>
                </a:lnTo>
                <a:lnTo>
                  <a:pt x="245" y="1543"/>
                </a:lnTo>
                <a:lnTo>
                  <a:pt x="244" y="1543"/>
                </a:lnTo>
                <a:lnTo>
                  <a:pt x="242" y="1542"/>
                </a:lnTo>
                <a:lnTo>
                  <a:pt x="241" y="1541"/>
                </a:lnTo>
                <a:lnTo>
                  <a:pt x="240" y="1540"/>
                </a:lnTo>
                <a:lnTo>
                  <a:pt x="239" y="1538"/>
                </a:lnTo>
                <a:lnTo>
                  <a:pt x="239" y="1537"/>
                </a:lnTo>
                <a:lnTo>
                  <a:pt x="239" y="1535"/>
                </a:lnTo>
                <a:lnTo>
                  <a:pt x="239" y="1533"/>
                </a:lnTo>
                <a:lnTo>
                  <a:pt x="239" y="1532"/>
                </a:lnTo>
                <a:lnTo>
                  <a:pt x="240" y="1530"/>
                </a:lnTo>
                <a:lnTo>
                  <a:pt x="241" y="1529"/>
                </a:lnTo>
                <a:lnTo>
                  <a:pt x="242" y="1528"/>
                </a:lnTo>
                <a:lnTo>
                  <a:pt x="244" y="1527"/>
                </a:lnTo>
                <a:lnTo>
                  <a:pt x="245" y="1527"/>
                </a:lnTo>
                <a:lnTo>
                  <a:pt x="247" y="1526"/>
                </a:lnTo>
                <a:close/>
                <a:moveTo>
                  <a:pt x="1677" y="1523"/>
                </a:moveTo>
                <a:lnTo>
                  <a:pt x="1678" y="1523"/>
                </a:lnTo>
                <a:lnTo>
                  <a:pt x="1680" y="1524"/>
                </a:lnTo>
                <a:lnTo>
                  <a:pt x="1682" y="1524"/>
                </a:lnTo>
                <a:lnTo>
                  <a:pt x="1683" y="1525"/>
                </a:lnTo>
                <a:lnTo>
                  <a:pt x="1684" y="1526"/>
                </a:lnTo>
                <a:lnTo>
                  <a:pt x="1686" y="1527"/>
                </a:lnTo>
                <a:lnTo>
                  <a:pt x="1687" y="1528"/>
                </a:lnTo>
                <a:lnTo>
                  <a:pt x="1687" y="1530"/>
                </a:lnTo>
                <a:lnTo>
                  <a:pt x="1688" y="1531"/>
                </a:lnTo>
                <a:lnTo>
                  <a:pt x="1688" y="1533"/>
                </a:lnTo>
                <a:lnTo>
                  <a:pt x="1688" y="1535"/>
                </a:lnTo>
                <a:lnTo>
                  <a:pt x="1688" y="1536"/>
                </a:lnTo>
                <a:lnTo>
                  <a:pt x="1688" y="1538"/>
                </a:lnTo>
                <a:lnTo>
                  <a:pt x="1687" y="1540"/>
                </a:lnTo>
                <a:lnTo>
                  <a:pt x="1687" y="1541"/>
                </a:lnTo>
                <a:lnTo>
                  <a:pt x="1686" y="1542"/>
                </a:lnTo>
                <a:lnTo>
                  <a:pt x="1684" y="1544"/>
                </a:lnTo>
                <a:lnTo>
                  <a:pt x="1683" y="1545"/>
                </a:lnTo>
                <a:lnTo>
                  <a:pt x="1682" y="1545"/>
                </a:lnTo>
                <a:lnTo>
                  <a:pt x="1680" y="1546"/>
                </a:lnTo>
                <a:lnTo>
                  <a:pt x="1678" y="1546"/>
                </a:lnTo>
                <a:lnTo>
                  <a:pt x="1677" y="1546"/>
                </a:lnTo>
                <a:lnTo>
                  <a:pt x="1675" y="1546"/>
                </a:lnTo>
                <a:lnTo>
                  <a:pt x="1673" y="1546"/>
                </a:lnTo>
                <a:lnTo>
                  <a:pt x="1672" y="1545"/>
                </a:lnTo>
                <a:lnTo>
                  <a:pt x="1670" y="1545"/>
                </a:lnTo>
                <a:lnTo>
                  <a:pt x="1669" y="1544"/>
                </a:lnTo>
                <a:lnTo>
                  <a:pt x="1668" y="1542"/>
                </a:lnTo>
                <a:lnTo>
                  <a:pt x="1667" y="1541"/>
                </a:lnTo>
                <a:lnTo>
                  <a:pt x="1666" y="1540"/>
                </a:lnTo>
                <a:lnTo>
                  <a:pt x="1666" y="1538"/>
                </a:lnTo>
                <a:lnTo>
                  <a:pt x="1665" y="1536"/>
                </a:lnTo>
                <a:lnTo>
                  <a:pt x="1665" y="1535"/>
                </a:lnTo>
                <a:lnTo>
                  <a:pt x="1665" y="1533"/>
                </a:lnTo>
                <a:lnTo>
                  <a:pt x="1666" y="1531"/>
                </a:lnTo>
                <a:lnTo>
                  <a:pt x="1666" y="1530"/>
                </a:lnTo>
                <a:lnTo>
                  <a:pt x="1667" y="1528"/>
                </a:lnTo>
                <a:lnTo>
                  <a:pt x="1668" y="1527"/>
                </a:lnTo>
                <a:lnTo>
                  <a:pt x="1669" y="1526"/>
                </a:lnTo>
                <a:lnTo>
                  <a:pt x="1670" y="1525"/>
                </a:lnTo>
                <a:lnTo>
                  <a:pt x="1672" y="1524"/>
                </a:lnTo>
                <a:lnTo>
                  <a:pt x="1673" y="1524"/>
                </a:lnTo>
                <a:lnTo>
                  <a:pt x="1675" y="1523"/>
                </a:lnTo>
                <a:lnTo>
                  <a:pt x="1677" y="1523"/>
                </a:lnTo>
                <a:close/>
                <a:moveTo>
                  <a:pt x="301" y="1520"/>
                </a:moveTo>
                <a:lnTo>
                  <a:pt x="303" y="1520"/>
                </a:lnTo>
                <a:lnTo>
                  <a:pt x="305" y="1521"/>
                </a:lnTo>
                <a:lnTo>
                  <a:pt x="306" y="1521"/>
                </a:lnTo>
                <a:lnTo>
                  <a:pt x="308" y="1523"/>
                </a:lnTo>
                <a:lnTo>
                  <a:pt x="309" y="1524"/>
                </a:lnTo>
                <a:lnTo>
                  <a:pt x="310" y="1526"/>
                </a:lnTo>
                <a:lnTo>
                  <a:pt x="310" y="1527"/>
                </a:lnTo>
                <a:lnTo>
                  <a:pt x="311" y="1529"/>
                </a:lnTo>
                <a:lnTo>
                  <a:pt x="310" y="1531"/>
                </a:lnTo>
                <a:lnTo>
                  <a:pt x="310" y="1533"/>
                </a:lnTo>
                <a:lnTo>
                  <a:pt x="309" y="1534"/>
                </a:lnTo>
                <a:lnTo>
                  <a:pt x="308" y="1536"/>
                </a:lnTo>
                <a:lnTo>
                  <a:pt x="306" y="1537"/>
                </a:lnTo>
                <a:lnTo>
                  <a:pt x="305" y="1538"/>
                </a:lnTo>
                <a:lnTo>
                  <a:pt x="303" y="1538"/>
                </a:lnTo>
                <a:lnTo>
                  <a:pt x="301" y="1538"/>
                </a:lnTo>
                <a:lnTo>
                  <a:pt x="299" y="1538"/>
                </a:lnTo>
                <a:lnTo>
                  <a:pt x="298" y="1538"/>
                </a:lnTo>
                <a:lnTo>
                  <a:pt x="296" y="1537"/>
                </a:lnTo>
                <a:lnTo>
                  <a:pt x="295" y="1536"/>
                </a:lnTo>
                <a:lnTo>
                  <a:pt x="293" y="1534"/>
                </a:lnTo>
                <a:lnTo>
                  <a:pt x="293" y="1533"/>
                </a:lnTo>
                <a:lnTo>
                  <a:pt x="292" y="1531"/>
                </a:lnTo>
                <a:lnTo>
                  <a:pt x="292" y="1529"/>
                </a:lnTo>
                <a:lnTo>
                  <a:pt x="292" y="1527"/>
                </a:lnTo>
                <a:lnTo>
                  <a:pt x="293" y="1526"/>
                </a:lnTo>
                <a:lnTo>
                  <a:pt x="293" y="1524"/>
                </a:lnTo>
                <a:lnTo>
                  <a:pt x="295" y="1523"/>
                </a:lnTo>
                <a:lnTo>
                  <a:pt x="296" y="1521"/>
                </a:lnTo>
                <a:lnTo>
                  <a:pt x="298" y="1521"/>
                </a:lnTo>
                <a:lnTo>
                  <a:pt x="299" y="1520"/>
                </a:lnTo>
                <a:lnTo>
                  <a:pt x="301" y="1520"/>
                </a:lnTo>
                <a:close/>
                <a:moveTo>
                  <a:pt x="156" y="1482"/>
                </a:moveTo>
                <a:lnTo>
                  <a:pt x="156" y="1482"/>
                </a:lnTo>
                <a:lnTo>
                  <a:pt x="157" y="1483"/>
                </a:lnTo>
                <a:lnTo>
                  <a:pt x="156" y="1484"/>
                </a:lnTo>
                <a:lnTo>
                  <a:pt x="156" y="1484"/>
                </a:lnTo>
                <a:lnTo>
                  <a:pt x="155" y="1484"/>
                </a:lnTo>
                <a:lnTo>
                  <a:pt x="155" y="1483"/>
                </a:lnTo>
                <a:lnTo>
                  <a:pt x="155" y="1482"/>
                </a:lnTo>
                <a:lnTo>
                  <a:pt x="156" y="1482"/>
                </a:lnTo>
                <a:close/>
                <a:moveTo>
                  <a:pt x="1768" y="1479"/>
                </a:moveTo>
                <a:lnTo>
                  <a:pt x="1770" y="1480"/>
                </a:lnTo>
                <a:lnTo>
                  <a:pt x="1771" y="1483"/>
                </a:lnTo>
                <a:lnTo>
                  <a:pt x="1770" y="1485"/>
                </a:lnTo>
                <a:lnTo>
                  <a:pt x="1768" y="1486"/>
                </a:lnTo>
                <a:lnTo>
                  <a:pt x="1765" y="1485"/>
                </a:lnTo>
                <a:lnTo>
                  <a:pt x="1764" y="1483"/>
                </a:lnTo>
                <a:lnTo>
                  <a:pt x="1765" y="1480"/>
                </a:lnTo>
                <a:lnTo>
                  <a:pt x="1768" y="1479"/>
                </a:lnTo>
                <a:close/>
                <a:moveTo>
                  <a:pt x="206" y="1472"/>
                </a:moveTo>
                <a:lnTo>
                  <a:pt x="208" y="1472"/>
                </a:lnTo>
                <a:lnTo>
                  <a:pt x="210" y="1473"/>
                </a:lnTo>
                <a:lnTo>
                  <a:pt x="211" y="1474"/>
                </a:lnTo>
                <a:lnTo>
                  <a:pt x="213" y="1475"/>
                </a:lnTo>
                <a:lnTo>
                  <a:pt x="214" y="1476"/>
                </a:lnTo>
                <a:lnTo>
                  <a:pt x="214" y="1478"/>
                </a:lnTo>
                <a:lnTo>
                  <a:pt x="214" y="1480"/>
                </a:lnTo>
                <a:lnTo>
                  <a:pt x="214" y="1482"/>
                </a:lnTo>
                <a:lnTo>
                  <a:pt x="214" y="1484"/>
                </a:lnTo>
                <a:lnTo>
                  <a:pt x="213" y="1485"/>
                </a:lnTo>
                <a:lnTo>
                  <a:pt x="211" y="1487"/>
                </a:lnTo>
                <a:lnTo>
                  <a:pt x="210" y="1488"/>
                </a:lnTo>
                <a:lnTo>
                  <a:pt x="208" y="1488"/>
                </a:lnTo>
                <a:lnTo>
                  <a:pt x="206" y="1489"/>
                </a:lnTo>
                <a:lnTo>
                  <a:pt x="204" y="1488"/>
                </a:lnTo>
                <a:lnTo>
                  <a:pt x="203" y="1488"/>
                </a:lnTo>
                <a:lnTo>
                  <a:pt x="201" y="1487"/>
                </a:lnTo>
                <a:lnTo>
                  <a:pt x="200" y="1485"/>
                </a:lnTo>
                <a:lnTo>
                  <a:pt x="199" y="1484"/>
                </a:lnTo>
                <a:lnTo>
                  <a:pt x="198" y="1482"/>
                </a:lnTo>
                <a:lnTo>
                  <a:pt x="198" y="1480"/>
                </a:lnTo>
                <a:lnTo>
                  <a:pt x="198" y="1478"/>
                </a:lnTo>
                <a:lnTo>
                  <a:pt x="199" y="1476"/>
                </a:lnTo>
                <a:lnTo>
                  <a:pt x="200" y="1475"/>
                </a:lnTo>
                <a:lnTo>
                  <a:pt x="201" y="1474"/>
                </a:lnTo>
                <a:lnTo>
                  <a:pt x="203" y="1473"/>
                </a:lnTo>
                <a:lnTo>
                  <a:pt x="204" y="1472"/>
                </a:lnTo>
                <a:lnTo>
                  <a:pt x="206" y="1472"/>
                </a:lnTo>
                <a:close/>
                <a:moveTo>
                  <a:pt x="1717" y="1469"/>
                </a:moveTo>
                <a:lnTo>
                  <a:pt x="1719" y="1469"/>
                </a:lnTo>
                <a:lnTo>
                  <a:pt x="1721" y="1469"/>
                </a:lnTo>
                <a:lnTo>
                  <a:pt x="1722" y="1470"/>
                </a:lnTo>
                <a:lnTo>
                  <a:pt x="1724" y="1471"/>
                </a:lnTo>
                <a:lnTo>
                  <a:pt x="1725" y="1472"/>
                </a:lnTo>
                <a:lnTo>
                  <a:pt x="1726" y="1473"/>
                </a:lnTo>
                <a:lnTo>
                  <a:pt x="1727" y="1475"/>
                </a:lnTo>
                <a:lnTo>
                  <a:pt x="1728" y="1476"/>
                </a:lnTo>
                <a:lnTo>
                  <a:pt x="1728" y="1478"/>
                </a:lnTo>
                <a:lnTo>
                  <a:pt x="1728" y="1480"/>
                </a:lnTo>
                <a:lnTo>
                  <a:pt x="1728" y="1482"/>
                </a:lnTo>
                <a:lnTo>
                  <a:pt x="1728" y="1484"/>
                </a:lnTo>
                <a:lnTo>
                  <a:pt x="1727" y="1485"/>
                </a:lnTo>
                <a:lnTo>
                  <a:pt x="1726" y="1487"/>
                </a:lnTo>
                <a:lnTo>
                  <a:pt x="1725" y="1488"/>
                </a:lnTo>
                <a:lnTo>
                  <a:pt x="1724" y="1489"/>
                </a:lnTo>
                <a:lnTo>
                  <a:pt x="1722" y="1490"/>
                </a:lnTo>
                <a:lnTo>
                  <a:pt x="1721" y="1491"/>
                </a:lnTo>
                <a:lnTo>
                  <a:pt x="1719" y="1491"/>
                </a:lnTo>
                <a:lnTo>
                  <a:pt x="1717" y="1491"/>
                </a:lnTo>
                <a:lnTo>
                  <a:pt x="1715" y="1491"/>
                </a:lnTo>
                <a:lnTo>
                  <a:pt x="1714" y="1491"/>
                </a:lnTo>
                <a:lnTo>
                  <a:pt x="1712" y="1490"/>
                </a:lnTo>
                <a:lnTo>
                  <a:pt x="1711" y="1489"/>
                </a:lnTo>
                <a:lnTo>
                  <a:pt x="1709" y="1488"/>
                </a:lnTo>
                <a:lnTo>
                  <a:pt x="1708" y="1487"/>
                </a:lnTo>
                <a:lnTo>
                  <a:pt x="1707" y="1485"/>
                </a:lnTo>
                <a:lnTo>
                  <a:pt x="1707" y="1484"/>
                </a:lnTo>
                <a:lnTo>
                  <a:pt x="1706" y="1482"/>
                </a:lnTo>
                <a:lnTo>
                  <a:pt x="1706" y="1480"/>
                </a:lnTo>
                <a:lnTo>
                  <a:pt x="1706" y="1478"/>
                </a:lnTo>
                <a:lnTo>
                  <a:pt x="1707" y="1476"/>
                </a:lnTo>
                <a:lnTo>
                  <a:pt x="1707" y="1475"/>
                </a:lnTo>
                <a:lnTo>
                  <a:pt x="1708" y="1473"/>
                </a:lnTo>
                <a:lnTo>
                  <a:pt x="1709" y="1472"/>
                </a:lnTo>
                <a:lnTo>
                  <a:pt x="1711" y="1471"/>
                </a:lnTo>
                <a:lnTo>
                  <a:pt x="1712" y="1470"/>
                </a:lnTo>
                <a:lnTo>
                  <a:pt x="1714" y="1469"/>
                </a:lnTo>
                <a:lnTo>
                  <a:pt x="1715" y="1469"/>
                </a:lnTo>
                <a:lnTo>
                  <a:pt x="1717" y="1469"/>
                </a:lnTo>
                <a:close/>
                <a:moveTo>
                  <a:pt x="259" y="1466"/>
                </a:moveTo>
                <a:lnTo>
                  <a:pt x="261" y="1466"/>
                </a:lnTo>
                <a:lnTo>
                  <a:pt x="262" y="1467"/>
                </a:lnTo>
                <a:lnTo>
                  <a:pt x="264" y="1468"/>
                </a:lnTo>
                <a:lnTo>
                  <a:pt x="265" y="1469"/>
                </a:lnTo>
                <a:lnTo>
                  <a:pt x="266" y="1470"/>
                </a:lnTo>
                <a:lnTo>
                  <a:pt x="267" y="1471"/>
                </a:lnTo>
                <a:lnTo>
                  <a:pt x="268" y="1473"/>
                </a:lnTo>
                <a:lnTo>
                  <a:pt x="268" y="1474"/>
                </a:lnTo>
                <a:lnTo>
                  <a:pt x="269" y="1476"/>
                </a:lnTo>
                <a:lnTo>
                  <a:pt x="268" y="1478"/>
                </a:lnTo>
                <a:lnTo>
                  <a:pt x="268" y="1479"/>
                </a:lnTo>
                <a:lnTo>
                  <a:pt x="267" y="1481"/>
                </a:lnTo>
                <a:lnTo>
                  <a:pt x="266" y="1482"/>
                </a:lnTo>
                <a:lnTo>
                  <a:pt x="265" y="1483"/>
                </a:lnTo>
                <a:lnTo>
                  <a:pt x="264" y="1484"/>
                </a:lnTo>
                <a:lnTo>
                  <a:pt x="262" y="1485"/>
                </a:lnTo>
                <a:lnTo>
                  <a:pt x="261" y="1486"/>
                </a:lnTo>
                <a:lnTo>
                  <a:pt x="259" y="1486"/>
                </a:lnTo>
                <a:lnTo>
                  <a:pt x="257" y="1486"/>
                </a:lnTo>
                <a:lnTo>
                  <a:pt x="255" y="1485"/>
                </a:lnTo>
                <a:lnTo>
                  <a:pt x="254" y="1484"/>
                </a:lnTo>
                <a:lnTo>
                  <a:pt x="252" y="1483"/>
                </a:lnTo>
                <a:lnTo>
                  <a:pt x="251" y="1482"/>
                </a:lnTo>
                <a:lnTo>
                  <a:pt x="250" y="1481"/>
                </a:lnTo>
                <a:lnTo>
                  <a:pt x="250" y="1479"/>
                </a:lnTo>
                <a:lnTo>
                  <a:pt x="249" y="1478"/>
                </a:lnTo>
                <a:lnTo>
                  <a:pt x="249" y="1476"/>
                </a:lnTo>
                <a:lnTo>
                  <a:pt x="249" y="1474"/>
                </a:lnTo>
                <a:lnTo>
                  <a:pt x="250" y="1473"/>
                </a:lnTo>
                <a:lnTo>
                  <a:pt x="250" y="1471"/>
                </a:lnTo>
                <a:lnTo>
                  <a:pt x="251" y="1470"/>
                </a:lnTo>
                <a:lnTo>
                  <a:pt x="252" y="1469"/>
                </a:lnTo>
                <a:lnTo>
                  <a:pt x="254" y="1468"/>
                </a:lnTo>
                <a:lnTo>
                  <a:pt x="255" y="1467"/>
                </a:lnTo>
                <a:lnTo>
                  <a:pt x="257" y="1466"/>
                </a:lnTo>
                <a:lnTo>
                  <a:pt x="259" y="1466"/>
                </a:lnTo>
                <a:close/>
                <a:moveTo>
                  <a:pt x="121" y="1423"/>
                </a:moveTo>
                <a:lnTo>
                  <a:pt x="121" y="1424"/>
                </a:lnTo>
                <a:lnTo>
                  <a:pt x="122" y="1424"/>
                </a:lnTo>
                <a:lnTo>
                  <a:pt x="121" y="1425"/>
                </a:lnTo>
                <a:lnTo>
                  <a:pt x="121" y="1425"/>
                </a:lnTo>
                <a:lnTo>
                  <a:pt x="120" y="1425"/>
                </a:lnTo>
                <a:lnTo>
                  <a:pt x="120" y="1424"/>
                </a:lnTo>
                <a:lnTo>
                  <a:pt x="120" y="1424"/>
                </a:lnTo>
                <a:lnTo>
                  <a:pt x="121" y="1423"/>
                </a:lnTo>
                <a:close/>
                <a:moveTo>
                  <a:pt x="1803" y="1421"/>
                </a:moveTo>
                <a:lnTo>
                  <a:pt x="1805" y="1422"/>
                </a:lnTo>
                <a:lnTo>
                  <a:pt x="1806" y="1424"/>
                </a:lnTo>
                <a:lnTo>
                  <a:pt x="1805" y="1426"/>
                </a:lnTo>
                <a:lnTo>
                  <a:pt x="1803" y="1427"/>
                </a:lnTo>
                <a:lnTo>
                  <a:pt x="1801" y="1426"/>
                </a:lnTo>
                <a:lnTo>
                  <a:pt x="1800" y="1424"/>
                </a:lnTo>
                <a:lnTo>
                  <a:pt x="1801" y="1422"/>
                </a:lnTo>
                <a:lnTo>
                  <a:pt x="1803" y="1421"/>
                </a:lnTo>
                <a:close/>
                <a:moveTo>
                  <a:pt x="170" y="1414"/>
                </a:moveTo>
                <a:lnTo>
                  <a:pt x="172" y="1415"/>
                </a:lnTo>
                <a:lnTo>
                  <a:pt x="173" y="1415"/>
                </a:lnTo>
                <a:lnTo>
                  <a:pt x="175" y="1416"/>
                </a:lnTo>
                <a:lnTo>
                  <a:pt x="176" y="1417"/>
                </a:lnTo>
                <a:lnTo>
                  <a:pt x="177" y="1419"/>
                </a:lnTo>
                <a:lnTo>
                  <a:pt x="177" y="1421"/>
                </a:lnTo>
                <a:lnTo>
                  <a:pt x="178" y="1422"/>
                </a:lnTo>
                <a:lnTo>
                  <a:pt x="177" y="1424"/>
                </a:lnTo>
                <a:lnTo>
                  <a:pt x="177" y="1426"/>
                </a:lnTo>
                <a:lnTo>
                  <a:pt x="176" y="1427"/>
                </a:lnTo>
                <a:lnTo>
                  <a:pt x="175" y="1429"/>
                </a:lnTo>
                <a:lnTo>
                  <a:pt x="173" y="1429"/>
                </a:lnTo>
                <a:lnTo>
                  <a:pt x="172" y="1430"/>
                </a:lnTo>
                <a:lnTo>
                  <a:pt x="170" y="1430"/>
                </a:lnTo>
                <a:lnTo>
                  <a:pt x="168" y="1430"/>
                </a:lnTo>
                <a:lnTo>
                  <a:pt x="166" y="1429"/>
                </a:lnTo>
                <a:lnTo>
                  <a:pt x="165" y="1429"/>
                </a:lnTo>
                <a:lnTo>
                  <a:pt x="164" y="1427"/>
                </a:lnTo>
                <a:lnTo>
                  <a:pt x="163" y="1426"/>
                </a:lnTo>
                <a:lnTo>
                  <a:pt x="162" y="1424"/>
                </a:lnTo>
                <a:lnTo>
                  <a:pt x="162" y="1422"/>
                </a:lnTo>
                <a:lnTo>
                  <a:pt x="162" y="1421"/>
                </a:lnTo>
                <a:lnTo>
                  <a:pt x="163" y="1419"/>
                </a:lnTo>
                <a:lnTo>
                  <a:pt x="164" y="1417"/>
                </a:lnTo>
                <a:lnTo>
                  <a:pt x="165" y="1416"/>
                </a:lnTo>
                <a:lnTo>
                  <a:pt x="166" y="1415"/>
                </a:lnTo>
                <a:lnTo>
                  <a:pt x="168" y="1415"/>
                </a:lnTo>
                <a:lnTo>
                  <a:pt x="170" y="1414"/>
                </a:lnTo>
                <a:close/>
                <a:moveTo>
                  <a:pt x="1754" y="1411"/>
                </a:moveTo>
                <a:lnTo>
                  <a:pt x="1755" y="1411"/>
                </a:lnTo>
                <a:lnTo>
                  <a:pt x="1757" y="1412"/>
                </a:lnTo>
                <a:lnTo>
                  <a:pt x="1759" y="1412"/>
                </a:lnTo>
                <a:lnTo>
                  <a:pt x="1760" y="1413"/>
                </a:lnTo>
                <a:lnTo>
                  <a:pt x="1762" y="1414"/>
                </a:lnTo>
                <a:lnTo>
                  <a:pt x="1763" y="1416"/>
                </a:lnTo>
                <a:lnTo>
                  <a:pt x="1764" y="1417"/>
                </a:lnTo>
                <a:lnTo>
                  <a:pt x="1764" y="1419"/>
                </a:lnTo>
                <a:lnTo>
                  <a:pt x="1765" y="1420"/>
                </a:lnTo>
                <a:lnTo>
                  <a:pt x="1765" y="1422"/>
                </a:lnTo>
                <a:lnTo>
                  <a:pt x="1765" y="1424"/>
                </a:lnTo>
                <a:lnTo>
                  <a:pt x="1764" y="1426"/>
                </a:lnTo>
                <a:lnTo>
                  <a:pt x="1764" y="1427"/>
                </a:lnTo>
                <a:lnTo>
                  <a:pt x="1763" y="1429"/>
                </a:lnTo>
                <a:lnTo>
                  <a:pt x="1762" y="1430"/>
                </a:lnTo>
                <a:lnTo>
                  <a:pt x="1760" y="1431"/>
                </a:lnTo>
                <a:lnTo>
                  <a:pt x="1759" y="1432"/>
                </a:lnTo>
                <a:lnTo>
                  <a:pt x="1757" y="1433"/>
                </a:lnTo>
                <a:lnTo>
                  <a:pt x="1755" y="1433"/>
                </a:lnTo>
                <a:lnTo>
                  <a:pt x="1754" y="1433"/>
                </a:lnTo>
                <a:lnTo>
                  <a:pt x="1752" y="1433"/>
                </a:lnTo>
                <a:lnTo>
                  <a:pt x="1750" y="1433"/>
                </a:lnTo>
                <a:lnTo>
                  <a:pt x="1749" y="1432"/>
                </a:lnTo>
                <a:lnTo>
                  <a:pt x="1747" y="1431"/>
                </a:lnTo>
                <a:lnTo>
                  <a:pt x="1746" y="1430"/>
                </a:lnTo>
                <a:lnTo>
                  <a:pt x="1745" y="1429"/>
                </a:lnTo>
                <a:lnTo>
                  <a:pt x="1744" y="1427"/>
                </a:lnTo>
                <a:lnTo>
                  <a:pt x="1743" y="1426"/>
                </a:lnTo>
                <a:lnTo>
                  <a:pt x="1743" y="1424"/>
                </a:lnTo>
                <a:lnTo>
                  <a:pt x="1742" y="1422"/>
                </a:lnTo>
                <a:lnTo>
                  <a:pt x="1743" y="1420"/>
                </a:lnTo>
                <a:lnTo>
                  <a:pt x="1743" y="1419"/>
                </a:lnTo>
                <a:lnTo>
                  <a:pt x="1744" y="1417"/>
                </a:lnTo>
                <a:lnTo>
                  <a:pt x="1745" y="1416"/>
                </a:lnTo>
                <a:lnTo>
                  <a:pt x="1746" y="1414"/>
                </a:lnTo>
                <a:lnTo>
                  <a:pt x="1747" y="1413"/>
                </a:lnTo>
                <a:lnTo>
                  <a:pt x="1749" y="1412"/>
                </a:lnTo>
                <a:lnTo>
                  <a:pt x="1750" y="1412"/>
                </a:lnTo>
                <a:lnTo>
                  <a:pt x="1752" y="1411"/>
                </a:lnTo>
                <a:lnTo>
                  <a:pt x="1754" y="1411"/>
                </a:lnTo>
                <a:close/>
                <a:moveTo>
                  <a:pt x="221" y="1409"/>
                </a:moveTo>
                <a:lnTo>
                  <a:pt x="223" y="1409"/>
                </a:lnTo>
                <a:lnTo>
                  <a:pt x="224" y="1409"/>
                </a:lnTo>
                <a:lnTo>
                  <a:pt x="226" y="1410"/>
                </a:lnTo>
                <a:lnTo>
                  <a:pt x="227" y="1411"/>
                </a:lnTo>
                <a:lnTo>
                  <a:pt x="228" y="1413"/>
                </a:lnTo>
                <a:lnTo>
                  <a:pt x="229" y="1414"/>
                </a:lnTo>
                <a:lnTo>
                  <a:pt x="230" y="1416"/>
                </a:lnTo>
                <a:lnTo>
                  <a:pt x="231" y="1417"/>
                </a:lnTo>
                <a:lnTo>
                  <a:pt x="231" y="1419"/>
                </a:lnTo>
                <a:lnTo>
                  <a:pt x="231" y="1421"/>
                </a:lnTo>
                <a:lnTo>
                  <a:pt x="230" y="1423"/>
                </a:lnTo>
                <a:lnTo>
                  <a:pt x="229" y="1424"/>
                </a:lnTo>
                <a:lnTo>
                  <a:pt x="228" y="1426"/>
                </a:lnTo>
                <a:lnTo>
                  <a:pt x="227" y="1427"/>
                </a:lnTo>
                <a:lnTo>
                  <a:pt x="226" y="1428"/>
                </a:lnTo>
                <a:lnTo>
                  <a:pt x="224" y="1429"/>
                </a:lnTo>
                <a:lnTo>
                  <a:pt x="223" y="1429"/>
                </a:lnTo>
                <a:lnTo>
                  <a:pt x="221" y="1429"/>
                </a:lnTo>
                <a:lnTo>
                  <a:pt x="219" y="1429"/>
                </a:lnTo>
                <a:lnTo>
                  <a:pt x="217" y="1429"/>
                </a:lnTo>
                <a:lnTo>
                  <a:pt x="216" y="1428"/>
                </a:lnTo>
                <a:lnTo>
                  <a:pt x="214" y="1427"/>
                </a:lnTo>
                <a:lnTo>
                  <a:pt x="213" y="1426"/>
                </a:lnTo>
                <a:lnTo>
                  <a:pt x="212" y="1424"/>
                </a:lnTo>
                <a:lnTo>
                  <a:pt x="211" y="1423"/>
                </a:lnTo>
                <a:lnTo>
                  <a:pt x="211" y="1421"/>
                </a:lnTo>
                <a:lnTo>
                  <a:pt x="211" y="1419"/>
                </a:lnTo>
                <a:lnTo>
                  <a:pt x="211" y="1417"/>
                </a:lnTo>
                <a:lnTo>
                  <a:pt x="211" y="1416"/>
                </a:lnTo>
                <a:lnTo>
                  <a:pt x="212" y="1414"/>
                </a:lnTo>
                <a:lnTo>
                  <a:pt x="213" y="1413"/>
                </a:lnTo>
                <a:lnTo>
                  <a:pt x="214" y="1411"/>
                </a:lnTo>
                <a:lnTo>
                  <a:pt x="216" y="1410"/>
                </a:lnTo>
                <a:lnTo>
                  <a:pt x="217" y="1409"/>
                </a:lnTo>
                <a:lnTo>
                  <a:pt x="219" y="1409"/>
                </a:lnTo>
                <a:lnTo>
                  <a:pt x="221" y="1409"/>
                </a:lnTo>
                <a:close/>
                <a:moveTo>
                  <a:pt x="90" y="1362"/>
                </a:moveTo>
                <a:lnTo>
                  <a:pt x="91" y="1363"/>
                </a:lnTo>
                <a:lnTo>
                  <a:pt x="91" y="1363"/>
                </a:lnTo>
                <a:lnTo>
                  <a:pt x="91" y="1364"/>
                </a:lnTo>
                <a:lnTo>
                  <a:pt x="90" y="1365"/>
                </a:lnTo>
                <a:lnTo>
                  <a:pt x="89" y="1364"/>
                </a:lnTo>
                <a:lnTo>
                  <a:pt x="89" y="1363"/>
                </a:lnTo>
                <a:lnTo>
                  <a:pt x="89" y="1363"/>
                </a:lnTo>
                <a:lnTo>
                  <a:pt x="90" y="1362"/>
                </a:lnTo>
                <a:close/>
                <a:moveTo>
                  <a:pt x="1833" y="1360"/>
                </a:moveTo>
                <a:lnTo>
                  <a:pt x="1835" y="1361"/>
                </a:lnTo>
                <a:lnTo>
                  <a:pt x="1836" y="1363"/>
                </a:lnTo>
                <a:lnTo>
                  <a:pt x="1835" y="1365"/>
                </a:lnTo>
                <a:lnTo>
                  <a:pt x="1833" y="1365"/>
                </a:lnTo>
                <a:lnTo>
                  <a:pt x="1831" y="1365"/>
                </a:lnTo>
                <a:lnTo>
                  <a:pt x="1831" y="1363"/>
                </a:lnTo>
                <a:lnTo>
                  <a:pt x="1831" y="1361"/>
                </a:lnTo>
                <a:lnTo>
                  <a:pt x="1833" y="1360"/>
                </a:lnTo>
                <a:close/>
                <a:moveTo>
                  <a:pt x="138" y="1354"/>
                </a:moveTo>
                <a:lnTo>
                  <a:pt x="140" y="1355"/>
                </a:lnTo>
                <a:lnTo>
                  <a:pt x="141" y="1355"/>
                </a:lnTo>
                <a:lnTo>
                  <a:pt x="143" y="1356"/>
                </a:lnTo>
                <a:lnTo>
                  <a:pt x="144" y="1357"/>
                </a:lnTo>
                <a:lnTo>
                  <a:pt x="145" y="1359"/>
                </a:lnTo>
                <a:lnTo>
                  <a:pt x="145" y="1360"/>
                </a:lnTo>
                <a:lnTo>
                  <a:pt x="145" y="1362"/>
                </a:lnTo>
                <a:lnTo>
                  <a:pt x="145" y="1364"/>
                </a:lnTo>
                <a:lnTo>
                  <a:pt x="145" y="1365"/>
                </a:lnTo>
                <a:lnTo>
                  <a:pt x="144" y="1367"/>
                </a:lnTo>
                <a:lnTo>
                  <a:pt x="143" y="1368"/>
                </a:lnTo>
                <a:lnTo>
                  <a:pt x="141" y="1369"/>
                </a:lnTo>
                <a:lnTo>
                  <a:pt x="140" y="1369"/>
                </a:lnTo>
                <a:lnTo>
                  <a:pt x="138" y="1370"/>
                </a:lnTo>
                <a:lnTo>
                  <a:pt x="136" y="1369"/>
                </a:lnTo>
                <a:lnTo>
                  <a:pt x="134" y="1369"/>
                </a:lnTo>
                <a:lnTo>
                  <a:pt x="133" y="1368"/>
                </a:lnTo>
                <a:lnTo>
                  <a:pt x="132" y="1367"/>
                </a:lnTo>
                <a:lnTo>
                  <a:pt x="131" y="1365"/>
                </a:lnTo>
                <a:lnTo>
                  <a:pt x="130" y="1364"/>
                </a:lnTo>
                <a:lnTo>
                  <a:pt x="130" y="1362"/>
                </a:lnTo>
                <a:lnTo>
                  <a:pt x="130" y="1360"/>
                </a:lnTo>
                <a:lnTo>
                  <a:pt x="131" y="1359"/>
                </a:lnTo>
                <a:lnTo>
                  <a:pt x="132" y="1357"/>
                </a:lnTo>
                <a:lnTo>
                  <a:pt x="133" y="1356"/>
                </a:lnTo>
                <a:lnTo>
                  <a:pt x="134" y="1355"/>
                </a:lnTo>
                <a:lnTo>
                  <a:pt x="136" y="1355"/>
                </a:lnTo>
                <a:lnTo>
                  <a:pt x="138" y="1354"/>
                </a:lnTo>
                <a:close/>
                <a:moveTo>
                  <a:pt x="1786" y="1351"/>
                </a:moveTo>
                <a:lnTo>
                  <a:pt x="1788" y="1351"/>
                </a:lnTo>
                <a:lnTo>
                  <a:pt x="1789" y="1352"/>
                </a:lnTo>
                <a:lnTo>
                  <a:pt x="1791" y="1352"/>
                </a:lnTo>
                <a:lnTo>
                  <a:pt x="1792" y="1353"/>
                </a:lnTo>
                <a:lnTo>
                  <a:pt x="1793" y="1354"/>
                </a:lnTo>
                <a:lnTo>
                  <a:pt x="1795" y="1355"/>
                </a:lnTo>
                <a:lnTo>
                  <a:pt x="1795" y="1357"/>
                </a:lnTo>
                <a:lnTo>
                  <a:pt x="1796" y="1358"/>
                </a:lnTo>
                <a:lnTo>
                  <a:pt x="1796" y="1360"/>
                </a:lnTo>
                <a:lnTo>
                  <a:pt x="1797" y="1362"/>
                </a:lnTo>
                <a:lnTo>
                  <a:pt x="1796" y="1364"/>
                </a:lnTo>
                <a:lnTo>
                  <a:pt x="1796" y="1365"/>
                </a:lnTo>
                <a:lnTo>
                  <a:pt x="1795" y="1367"/>
                </a:lnTo>
                <a:lnTo>
                  <a:pt x="1795" y="1368"/>
                </a:lnTo>
                <a:lnTo>
                  <a:pt x="1793" y="1369"/>
                </a:lnTo>
                <a:lnTo>
                  <a:pt x="1792" y="1370"/>
                </a:lnTo>
                <a:lnTo>
                  <a:pt x="1791" y="1371"/>
                </a:lnTo>
                <a:lnTo>
                  <a:pt x="1789" y="1372"/>
                </a:lnTo>
                <a:lnTo>
                  <a:pt x="1788" y="1372"/>
                </a:lnTo>
                <a:lnTo>
                  <a:pt x="1786" y="1372"/>
                </a:lnTo>
                <a:lnTo>
                  <a:pt x="1784" y="1372"/>
                </a:lnTo>
                <a:lnTo>
                  <a:pt x="1782" y="1372"/>
                </a:lnTo>
                <a:lnTo>
                  <a:pt x="1781" y="1371"/>
                </a:lnTo>
                <a:lnTo>
                  <a:pt x="1780" y="1370"/>
                </a:lnTo>
                <a:lnTo>
                  <a:pt x="1778" y="1369"/>
                </a:lnTo>
                <a:lnTo>
                  <a:pt x="1777" y="1368"/>
                </a:lnTo>
                <a:lnTo>
                  <a:pt x="1776" y="1367"/>
                </a:lnTo>
                <a:lnTo>
                  <a:pt x="1776" y="1365"/>
                </a:lnTo>
                <a:lnTo>
                  <a:pt x="1775" y="1364"/>
                </a:lnTo>
                <a:lnTo>
                  <a:pt x="1775" y="1362"/>
                </a:lnTo>
                <a:lnTo>
                  <a:pt x="1775" y="1360"/>
                </a:lnTo>
                <a:lnTo>
                  <a:pt x="1776" y="1358"/>
                </a:lnTo>
                <a:lnTo>
                  <a:pt x="1776" y="1357"/>
                </a:lnTo>
                <a:lnTo>
                  <a:pt x="1777" y="1355"/>
                </a:lnTo>
                <a:lnTo>
                  <a:pt x="1778" y="1354"/>
                </a:lnTo>
                <a:lnTo>
                  <a:pt x="1780" y="1353"/>
                </a:lnTo>
                <a:lnTo>
                  <a:pt x="1781" y="1352"/>
                </a:lnTo>
                <a:lnTo>
                  <a:pt x="1782" y="1352"/>
                </a:lnTo>
                <a:lnTo>
                  <a:pt x="1784" y="1351"/>
                </a:lnTo>
                <a:lnTo>
                  <a:pt x="1786" y="1351"/>
                </a:lnTo>
                <a:close/>
                <a:moveTo>
                  <a:pt x="187" y="1350"/>
                </a:moveTo>
                <a:lnTo>
                  <a:pt x="189" y="1350"/>
                </a:lnTo>
                <a:lnTo>
                  <a:pt x="191" y="1350"/>
                </a:lnTo>
                <a:lnTo>
                  <a:pt x="193" y="1351"/>
                </a:lnTo>
                <a:lnTo>
                  <a:pt x="194" y="1352"/>
                </a:lnTo>
                <a:lnTo>
                  <a:pt x="195" y="1353"/>
                </a:lnTo>
                <a:lnTo>
                  <a:pt x="196" y="1355"/>
                </a:lnTo>
                <a:lnTo>
                  <a:pt x="197" y="1356"/>
                </a:lnTo>
                <a:lnTo>
                  <a:pt x="198" y="1358"/>
                </a:lnTo>
                <a:lnTo>
                  <a:pt x="198" y="1360"/>
                </a:lnTo>
                <a:lnTo>
                  <a:pt x="198" y="1362"/>
                </a:lnTo>
                <a:lnTo>
                  <a:pt x="197" y="1363"/>
                </a:lnTo>
                <a:lnTo>
                  <a:pt x="196" y="1365"/>
                </a:lnTo>
                <a:lnTo>
                  <a:pt x="195" y="1367"/>
                </a:lnTo>
                <a:lnTo>
                  <a:pt x="194" y="1368"/>
                </a:lnTo>
                <a:lnTo>
                  <a:pt x="193" y="1369"/>
                </a:lnTo>
                <a:lnTo>
                  <a:pt x="191" y="1370"/>
                </a:lnTo>
                <a:lnTo>
                  <a:pt x="189" y="1370"/>
                </a:lnTo>
                <a:lnTo>
                  <a:pt x="187" y="1370"/>
                </a:lnTo>
                <a:lnTo>
                  <a:pt x="186" y="1370"/>
                </a:lnTo>
                <a:lnTo>
                  <a:pt x="184" y="1370"/>
                </a:lnTo>
                <a:lnTo>
                  <a:pt x="182" y="1369"/>
                </a:lnTo>
                <a:lnTo>
                  <a:pt x="181" y="1368"/>
                </a:lnTo>
                <a:lnTo>
                  <a:pt x="180" y="1367"/>
                </a:lnTo>
                <a:lnTo>
                  <a:pt x="179" y="1365"/>
                </a:lnTo>
                <a:lnTo>
                  <a:pt x="178" y="1363"/>
                </a:lnTo>
                <a:lnTo>
                  <a:pt x="177" y="1362"/>
                </a:lnTo>
                <a:lnTo>
                  <a:pt x="177" y="1360"/>
                </a:lnTo>
                <a:lnTo>
                  <a:pt x="177" y="1358"/>
                </a:lnTo>
                <a:lnTo>
                  <a:pt x="178" y="1356"/>
                </a:lnTo>
                <a:lnTo>
                  <a:pt x="179" y="1355"/>
                </a:lnTo>
                <a:lnTo>
                  <a:pt x="180" y="1353"/>
                </a:lnTo>
                <a:lnTo>
                  <a:pt x="181" y="1352"/>
                </a:lnTo>
                <a:lnTo>
                  <a:pt x="182" y="1351"/>
                </a:lnTo>
                <a:lnTo>
                  <a:pt x="184" y="1350"/>
                </a:lnTo>
                <a:lnTo>
                  <a:pt x="186" y="1350"/>
                </a:lnTo>
                <a:lnTo>
                  <a:pt x="187" y="1350"/>
                </a:lnTo>
                <a:close/>
                <a:moveTo>
                  <a:pt x="64" y="1299"/>
                </a:moveTo>
                <a:lnTo>
                  <a:pt x="65" y="1299"/>
                </a:lnTo>
                <a:lnTo>
                  <a:pt x="66" y="1300"/>
                </a:lnTo>
                <a:lnTo>
                  <a:pt x="65" y="1302"/>
                </a:lnTo>
                <a:lnTo>
                  <a:pt x="64" y="1302"/>
                </a:lnTo>
                <a:lnTo>
                  <a:pt x="63" y="1302"/>
                </a:lnTo>
                <a:lnTo>
                  <a:pt x="62" y="1300"/>
                </a:lnTo>
                <a:lnTo>
                  <a:pt x="63" y="1299"/>
                </a:lnTo>
                <a:lnTo>
                  <a:pt x="64" y="1299"/>
                </a:lnTo>
                <a:close/>
                <a:moveTo>
                  <a:pt x="1860" y="1297"/>
                </a:moveTo>
                <a:lnTo>
                  <a:pt x="1861" y="1298"/>
                </a:lnTo>
                <a:lnTo>
                  <a:pt x="1862" y="1300"/>
                </a:lnTo>
                <a:lnTo>
                  <a:pt x="1861" y="1302"/>
                </a:lnTo>
                <a:lnTo>
                  <a:pt x="1860" y="1303"/>
                </a:lnTo>
                <a:lnTo>
                  <a:pt x="1858" y="1302"/>
                </a:lnTo>
                <a:lnTo>
                  <a:pt x="1857" y="1300"/>
                </a:lnTo>
                <a:lnTo>
                  <a:pt x="1858" y="1298"/>
                </a:lnTo>
                <a:lnTo>
                  <a:pt x="1860" y="1297"/>
                </a:lnTo>
                <a:close/>
                <a:moveTo>
                  <a:pt x="111" y="1292"/>
                </a:moveTo>
                <a:lnTo>
                  <a:pt x="112" y="1292"/>
                </a:lnTo>
                <a:lnTo>
                  <a:pt x="114" y="1293"/>
                </a:lnTo>
                <a:lnTo>
                  <a:pt x="115" y="1294"/>
                </a:lnTo>
                <a:lnTo>
                  <a:pt x="116" y="1295"/>
                </a:lnTo>
                <a:lnTo>
                  <a:pt x="117" y="1296"/>
                </a:lnTo>
                <a:lnTo>
                  <a:pt x="118" y="1298"/>
                </a:lnTo>
                <a:lnTo>
                  <a:pt x="118" y="1300"/>
                </a:lnTo>
                <a:lnTo>
                  <a:pt x="118" y="1301"/>
                </a:lnTo>
                <a:lnTo>
                  <a:pt x="117" y="1303"/>
                </a:lnTo>
                <a:lnTo>
                  <a:pt x="116" y="1304"/>
                </a:lnTo>
                <a:lnTo>
                  <a:pt x="115" y="1306"/>
                </a:lnTo>
                <a:lnTo>
                  <a:pt x="114" y="1306"/>
                </a:lnTo>
                <a:lnTo>
                  <a:pt x="112" y="1307"/>
                </a:lnTo>
                <a:lnTo>
                  <a:pt x="111" y="1307"/>
                </a:lnTo>
                <a:lnTo>
                  <a:pt x="109" y="1307"/>
                </a:lnTo>
                <a:lnTo>
                  <a:pt x="107" y="1306"/>
                </a:lnTo>
                <a:lnTo>
                  <a:pt x="106" y="1306"/>
                </a:lnTo>
                <a:lnTo>
                  <a:pt x="105" y="1304"/>
                </a:lnTo>
                <a:lnTo>
                  <a:pt x="104" y="1303"/>
                </a:lnTo>
                <a:lnTo>
                  <a:pt x="103" y="1301"/>
                </a:lnTo>
                <a:lnTo>
                  <a:pt x="103" y="1300"/>
                </a:lnTo>
                <a:lnTo>
                  <a:pt x="103" y="1298"/>
                </a:lnTo>
                <a:lnTo>
                  <a:pt x="104" y="1296"/>
                </a:lnTo>
                <a:lnTo>
                  <a:pt x="105" y="1295"/>
                </a:lnTo>
                <a:lnTo>
                  <a:pt x="106" y="1294"/>
                </a:lnTo>
                <a:lnTo>
                  <a:pt x="107" y="1293"/>
                </a:lnTo>
                <a:lnTo>
                  <a:pt x="109" y="1292"/>
                </a:lnTo>
                <a:lnTo>
                  <a:pt x="111" y="1292"/>
                </a:lnTo>
                <a:close/>
                <a:moveTo>
                  <a:pt x="1813" y="1289"/>
                </a:moveTo>
                <a:lnTo>
                  <a:pt x="1815" y="1289"/>
                </a:lnTo>
                <a:lnTo>
                  <a:pt x="1816" y="1289"/>
                </a:lnTo>
                <a:lnTo>
                  <a:pt x="1818" y="1290"/>
                </a:lnTo>
                <a:lnTo>
                  <a:pt x="1819" y="1291"/>
                </a:lnTo>
                <a:lnTo>
                  <a:pt x="1821" y="1292"/>
                </a:lnTo>
                <a:lnTo>
                  <a:pt x="1822" y="1294"/>
                </a:lnTo>
                <a:lnTo>
                  <a:pt x="1823" y="1295"/>
                </a:lnTo>
                <a:lnTo>
                  <a:pt x="1823" y="1297"/>
                </a:lnTo>
                <a:lnTo>
                  <a:pt x="1823" y="1299"/>
                </a:lnTo>
                <a:lnTo>
                  <a:pt x="1823" y="1301"/>
                </a:lnTo>
                <a:lnTo>
                  <a:pt x="1823" y="1303"/>
                </a:lnTo>
                <a:lnTo>
                  <a:pt x="1822" y="1304"/>
                </a:lnTo>
                <a:lnTo>
                  <a:pt x="1821" y="1306"/>
                </a:lnTo>
                <a:lnTo>
                  <a:pt x="1819" y="1307"/>
                </a:lnTo>
                <a:lnTo>
                  <a:pt x="1818" y="1308"/>
                </a:lnTo>
                <a:lnTo>
                  <a:pt x="1816" y="1309"/>
                </a:lnTo>
                <a:lnTo>
                  <a:pt x="1815" y="1309"/>
                </a:lnTo>
                <a:lnTo>
                  <a:pt x="1813" y="1310"/>
                </a:lnTo>
                <a:lnTo>
                  <a:pt x="1811" y="1309"/>
                </a:lnTo>
                <a:lnTo>
                  <a:pt x="1809" y="1309"/>
                </a:lnTo>
                <a:lnTo>
                  <a:pt x="1808" y="1308"/>
                </a:lnTo>
                <a:lnTo>
                  <a:pt x="1806" y="1307"/>
                </a:lnTo>
                <a:lnTo>
                  <a:pt x="1805" y="1306"/>
                </a:lnTo>
                <a:lnTo>
                  <a:pt x="1804" y="1304"/>
                </a:lnTo>
                <a:lnTo>
                  <a:pt x="1803" y="1303"/>
                </a:lnTo>
                <a:lnTo>
                  <a:pt x="1803" y="1301"/>
                </a:lnTo>
                <a:lnTo>
                  <a:pt x="1803" y="1299"/>
                </a:lnTo>
                <a:lnTo>
                  <a:pt x="1803" y="1297"/>
                </a:lnTo>
                <a:lnTo>
                  <a:pt x="1803" y="1295"/>
                </a:lnTo>
                <a:lnTo>
                  <a:pt x="1804" y="1294"/>
                </a:lnTo>
                <a:lnTo>
                  <a:pt x="1805" y="1292"/>
                </a:lnTo>
                <a:lnTo>
                  <a:pt x="1806" y="1291"/>
                </a:lnTo>
                <a:lnTo>
                  <a:pt x="1808" y="1290"/>
                </a:lnTo>
                <a:lnTo>
                  <a:pt x="1809" y="1289"/>
                </a:lnTo>
                <a:lnTo>
                  <a:pt x="1811" y="1289"/>
                </a:lnTo>
                <a:lnTo>
                  <a:pt x="1813" y="1289"/>
                </a:lnTo>
                <a:close/>
                <a:moveTo>
                  <a:pt x="159" y="1288"/>
                </a:moveTo>
                <a:lnTo>
                  <a:pt x="161" y="1288"/>
                </a:lnTo>
                <a:lnTo>
                  <a:pt x="162" y="1288"/>
                </a:lnTo>
                <a:lnTo>
                  <a:pt x="164" y="1289"/>
                </a:lnTo>
                <a:lnTo>
                  <a:pt x="166" y="1290"/>
                </a:lnTo>
                <a:lnTo>
                  <a:pt x="167" y="1291"/>
                </a:lnTo>
                <a:lnTo>
                  <a:pt x="168" y="1293"/>
                </a:lnTo>
                <a:lnTo>
                  <a:pt x="169" y="1294"/>
                </a:lnTo>
                <a:lnTo>
                  <a:pt x="169" y="1296"/>
                </a:lnTo>
                <a:lnTo>
                  <a:pt x="169" y="1298"/>
                </a:lnTo>
                <a:lnTo>
                  <a:pt x="169" y="1300"/>
                </a:lnTo>
                <a:lnTo>
                  <a:pt x="169" y="1301"/>
                </a:lnTo>
                <a:lnTo>
                  <a:pt x="168" y="1303"/>
                </a:lnTo>
                <a:lnTo>
                  <a:pt x="167" y="1305"/>
                </a:lnTo>
                <a:lnTo>
                  <a:pt x="166" y="1306"/>
                </a:lnTo>
                <a:lnTo>
                  <a:pt x="164" y="1307"/>
                </a:lnTo>
                <a:lnTo>
                  <a:pt x="162" y="1308"/>
                </a:lnTo>
                <a:lnTo>
                  <a:pt x="161" y="1308"/>
                </a:lnTo>
                <a:lnTo>
                  <a:pt x="159" y="1308"/>
                </a:lnTo>
                <a:lnTo>
                  <a:pt x="157" y="1308"/>
                </a:lnTo>
                <a:lnTo>
                  <a:pt x="155" y="1308"/>
                </a:lnTo>
                <a:lnTo>
                  <a:pt x="153" y="1307"/>
                </a:lnTo>
                <a:lnTo>
                  <a:pt x="152" y="1306"/>
                </a:lnTo>
                <a:lnTo>
                  <a:pt x="151" y="1305"/>
                </a:lnTo>
                <a:lnTo>
                  <a:pt x="150" y="1303"/>
                </a:lnTo>
                <a:lnTo>
                  <a:pt x="149" y="1301"/>
                </a:lnTo>
                <a:lnTo>
                  <a:pt x="148" y="1300"/>
                </a:lnTo>
                <a:lnTo>
                  <a:pt x="148" y="1298"/>
                </a:lnTo>
                <a:lnTo>
                  <a:pt x="148" y="1296"/>
                </a:lnTo>
                <a:lnTo>
                  <a:pt x="149" y="1294"/>
                </a:lnTo>
                <a:lnTo>
                  <a:pt x="150" y="1293"/>
                </a:lnTo>
                <a:lnTo>
                  <a:pt x="151" y="1291"/>
                </a:lnTo>
                <a:lnTo>
                  <a:pt x="152" y="1290"/>
                </a:lnTo>
                <a:lnTo>
                  <a:pt x="153" y="1289"/>
                </a:lnTo>
                <a:lnTo>
                  <a:pt x="155" y="1288"/>
                </a:lnTo>
                <a:lnTo>
                  <a:pt x="157" y="1288"/>
                </a:lnTo>
                <a:lnTo>
                  <a:pt x="159" y="1288"/>
                </a:lnTo>
                <a:close/>
                <a:moveTo>
                  <a:pt x="42" y="1234"/>
                </a:moveTo>
                <a:lnTo>
                  <a:pt x="44" y="1234"/>
                </a:lnTo>
                <a:lnTo>
                  <a:pt x="44" y="1236"/>
                </a:lnTo>
                <a:lnTo>
                  <a:pt x="44" y="1237"/>
                </a:lnTo>
                <a:lnTo>
                  <a:pt x="42" y="1238"/>
                </a:lnTo>
                <a:lnTo>
                  <a:pt x="41" y="1237"/>
                </a:lnTo>
                <a:lnTo>
                  <a:pt x="40" y="1236"/>
                </a:lnTo>
                <a:lnTo>
                  <a:pt x="41" y="1234"/>
                </a:lnTo>
                <a:lnTo>
                  <a:pt x="42" y="1234"/>
                </a:lnTo>
                <a:close/>
                <a:moveTo>
                  <a:pt x="1881" y="1232"/>
                </a:moveTo>
                <a:lnTo>
                  <a:pt x="1883" y="1233"/>
                </a:lnTo>
                <a:lnTo>
                  <a:pt x="1884" y="1235"/>
                </a:lnTo>
                <a:lnTo>
                  <a:pt x="1883" y="1237"/>
                </a:lnTo>
                <a:lnTo>
                  <a:pt x="1881" y="1238"/>
                </a:lnTo>
                <a:lnTo>
                  <a:pt x="1879" y="1237"/>
                </a:lnTo>
                <a:lnTo>
                  <a:pt x="1879" y="1235"/>
                </a:lnTo>
                <a:lnTo>
                  <a:pt x="1879" y="1233"/>
                </a:lnTo>
                <a:lnTo>
                  <a:pt x="1881" y="1232"/>
                </a:lnTo>
                <a:close/>
                <a:moveTo>
                  <a:pt x="88" y="1228"/>
                </a:moveTo>
                <a:lnTo>
                  <a:pt x="90" y="1228"/>
                </a:lnTo>
                <a:lnTo>
                  <a:pt x="91" y="1229"/>
                </a:lnTo>
                <a:lnTo>
                  <a:pt x="93" y="1230"/>
                </a:lnTo>
                <a:lnTo>
                  <a:pt x="94" y="1231"/>
                </a:lnTo>
                <a:lnTo>
                  <a:pt x="95" y="1233"/>
                </a:lnTo>
                <a:lnTo>
                  <a:pt x="95" y="1235"/>
                </a:lnTo>
                <a:lnTo>
                  <a:pt x="95" y="1237"/>
                </a:lnTo>
                <a:lnTo>
                  <a:pt x="94" y="1239"/>
                </a:lnTo>
                <a:lnTo>
                  <a:pt x="93" y="1240"/>
                </a:lnTo>
                <a:lnTo>
                  <a:pt x="91" y="1241"/>
                </a:lnTo>
                <a:lnTo>
                  <a:pt x="90" y="1242"/>
                </a:lnTo>
                <a:lnTo>
                  <a:pt x="88" y="1242"/>
                </a:lnTo>
                <a:lnTo>
                  <a:pt x="86" y="1242"/>
                </a:lnTo>
                <a:lnTo>
                  <a:pt x="84" y="1241"/>
                </a:lnTo>
                <a:lnTo>
                  <a:pt x="82" y="1240"/>
                </a:lnTo>
                <a:lnTo>
                  <a:pt x="81" y="1239"/>
                </a:lnTo>
                <a:lnTo>
                  <a:pt x="80" y="1237"/>
                </a:lnTo>
                <a:lnTo>
                  <a:pt x="80" y="1235"/>
                </a:lnTo>
                <a:lnTo>
                  <a:pt x="80" y="1233"/>
                </a:lnTo>
                <a:lnTo>
                  <a:pt x="81" y="1231"/>
                </a:lnTo>
                <a:lnTo>
                  <a:pt x="82" y="1230"/>
                </a:lnTo>
                <a:lnTo>
                  <a:pt x="84" y="1229"/>
                </a:lnTo>
                <a:lnTo>
                  <a:pt x="86" y="1228"/>
                </a:lnTo>
                <a:lnTo>
                  <a:pt x="88" y="1228"/>
                </a:lnTo>
                <a:close/>
                <a:moveTo>
                  <a:pt x="1836" y="1225"/>
                </a:moveTo>
                <a:lnTo>
                  <a:pt x="1837" y="1225"/>
                </a:lnTo>
                <a:lnTo>
                  <a:pt x="1839" y="1225"/>
                </a:lnTo>
                <a:lnTo>
                  <a:pt x="1841" y="1226"/>
                </a:lnTo>
                <a:lnTo>
                  <a:pt x="1842" y="1227"/>
                </a:lnTo>
                <a:lnTo>
                  <a:pt x="1843" y="1228"/>
                </a:lnTo>
                <a:lnTo>
                  <a:pt x="1844" y="1230"/>
                </a:lnTo>
                <a:lnTo>
                  <a:pt x="1845" y="1231"/>
                </a:lnTo>
                <a:lnTo>
                  <a:pt x="1845" y="1233"/>
                </a:lnTo>
                <a:lnTo>
                  <a:pt x="1846" y="1235"/>
                </a:lnTo>
                <a:lnTo>
                  <a:pt x="1845" y="1237"/>
                </a:lnTo>
                <a:lnTo>
                  <a:pt x="1845" y="1238"/>
                </a:lnTo>
                <a:lnTo>
                  <a:pt x="1844" y="1240"/>
                </a:lnTo>
                <a:lnTo>
                  <a:pt x="1843" y="1241"/>
                </a:lnTo>
                <a:lnTo>
                  <a:pt x="1842" y="1242"/>
                </a:lnTo>
                <a:lnTo>
                  <a:pt x="1841" y="1243"/>
                </a:lnTo>
                <a:lnTo>
                  <a:pt x="1839" y="1244"/>
                </a:lnTo>
                <a:lnTo>
                  <a:pt x="1837" y="1245"/>
                </a:lnTo>
                <a:lnTo>
                  <a:pt x="1836" y="1245"/>
                </a:lnTo>
                <a:lnTo>
                  <a:pt x="1834" y="1245"/>
                </a:lnTo>
                <a:lnTo>
                  <a:pt x="1832" y="1244"/>
                </a:lnTo>
                <a:lnTo>
                  <a:pt x="1831" y="1243"/>
                </a:lnTo>
                <a:lnTo>
                  <a:pt x="1829" y="1242"/>
                </a:lnTo>
                <a:lnTo>
                  <a:pt x="1828" y="1241"/>
                </a:lnTo>
                <a:lnTo>
                  <a:pt x="1827" y="1240"/>
                </a:lnTo>
                <a:lnTo>
                  <a:pt x="1827" y="1238"/>
                </a:lnTo>
                <a:lnTo>
                  <a:pt x="1826" y="1237"/>
                </a:lnTo>
                <a:lnTo>
                  <a:pt x="1826" y="1235"/>
                </a:lnTo>
                <a:lnTo>
                  <a:pt x="1826" y="1233"/>
                </a:lnTo>
                <a:lnTo>
                  <a:pt x="1827" y="1231"/>
                </a:lnTo>
                <a:lnTo>
                  <a:pt x="1827" y="1230"/>
                </a:lnTo>
                <a:lnTo>
                  <a:pt x="1828" y="1228"/>
                </a:lnTo>
                <a:lnTo>
                  <a:pt x="1829" y="1227"/>
                </a:lnTo>
                <a:lnTo>
                  <a:pt x="1831" y="1226"/>
                </a:lnTo>
                <a:lnTo>
                  <a:pt x="1832" y="1225"/>
                </a:lnTo>
                <a:lnTo>
                  <a:pt x="1834" y="1225"/>
                </a:lnTo>
                <a:lnTo>
                  <a:pt x="1836" y="1225"/>
                </a:lnTo>
                <a:close/>
                <a:moveTo>
                  <a:pt x="135" y="1225"/>
                </a:moveTo>
                <a:lnTo>
                  <a:pt x="137" y="1225"/>
                </a:lnTo>
                <a:lnTo>
                  <a:pt x="139" y="1225"/>
                </a:lnTo>
                <a:lnTo>
                  <a:pt x="140" y="1226"/>
                </a:lnTo>
                <a:lnTo>
                  <a:pt x="142" y="1227"/>
                </a:lnTo>
                <a:lnTo>
                  <a:pt x="143" y="1229"/>
                </a:lnTo>
                <a:lnTo>
                  <a:pt x="144" y="1230"/>
                </a:lnTo>
                <a:lnTo>
                  <a:pt x="144" y="1232"/>
                </a:lnTo>
                <a:lnTo>
                  <a:pt x="145" y="1234"/>
                </a:lnTo>
                <a:lnTo>
                  <a:pt x="144" y="1236"/>
                </a:lnTo>
                <a:lnTo>
                  <a:pt x="144" y="1238"/>
                </a:lnTo>
                <a:lnTo>
                  <a:pt x="143" y="1239"/>
                </a:lnTo>
                <a:lnTo>
                  <a:pt x="142" y="1241"/>
                </a:lnTo>
                <a:lnTo>
                  <a:pt x="140" y="1242"/>
                </a:lnTo>
                <a:lnTo>
                  <a:pt x="139" y="1243"/>
                </a:lnTo>
                <a:lnTo>
                  <a:pt x="137" y="1243"/>
                </a:lnTo>
                <a:lnTo>
                  <a:pt x="135" y="1243"/>
                </a:lnTo>
                <a:lnTo>
                  <a:pt x="133" y="1243"/>
                </a:lnTo>
                <a:lnTo>
                  <a:pt x="132" y="1243"/>
                </a:lnTo>
                <a:lnTo>
                  <a:pt x="130" y="1242"/>
                </a:lnTo>
                <a:lnTo>
                  <a:pt x="129" y="1241"/>
                </a:lnTo>
                <a:lnTo>
                  <a:pt x="127" y="1239"/>
                </a:lnTo>
                <a:lnTo>
                  <a:pt x="127" y="1238"/>
                </a:lnTo>
                <a:lnTo>
                  <a:pt x="126" y="1236"/>
                </a:lnTo>
                <a:lnTo>
                  <a:pt x="126" y="1234"/>
                </a:lnTo>
                <a:lnTo>
                  <a:pt x="126" y="1232"/>
                </a:lnTo>
                <a:lnTo>
                  <a:pt x="127" y="1230"/>
                </a:lnTo>
                <a:lnTo>
                  <a:pt x="127" y="1229"/>
                </a:lnTo>
                <a:lnTo>
                  <a:pt x="129" y="1227"/>
                </a:lnTo>
                <a:lnTo>
                  <a:pt x="130" y="1226"/>
                </a:lnTo>
                <a:lnTo>
                  <a:pt x="132" y="1225"/>
                </a:lnTo>
                <a:lnTo>
                  <a:pt x="133" y="1225"/>
                </a:lnTo>
                <a:lnTo>
                  <a:pt x="135" y="1225"/>
                </a:lnTo>
                <a:close/>
                <a:moveTo>
                  <a:pt x="25" y="1167"/>
                </a:moveTo>
                <a:lnTo>
                  <a:pt x="27" y="1168"/>
                </a:lnTo>
                <a:lnTo>
                  <a:pt x="28" y="1169"/>
                </a:lnTo>
                <a:lnTo>
                  <a:pt x="27" y="1171"/>
                </a:lnTo>
                <a:lnTo>
                  <a:pt x="25" y="1172"/>
                </a:lnTo>
                <a:lnTo>
                  <a:pt x="24" y="1171"/>
                </a:lnTo>
                <a:lnTo>
                  <a:pt x="23" y="1169"/>
                </a:lnTo>
                <a:lnTo>
                  <a:pt x="24" y="1168"/>
                </a:lnTo>
                <a:lnTo>
                  <a:pt x="25" y="1167"/>
                </a:lnTo>
                <a:close/>
                <a:moveTo>
                  <a:pt x="1898" y="1166"/>
                </a:moveTo>
                <a:lnTo>
                  <a:pt x="1900" y="1167"/>
                </a:lnTo>
                <a:lnTo>
                  <a:pt x="1901" y="1169"/>
                </a:lnTo>
                <a:lnTo>
                  <a:pt x="1900" y="1170"/>
                </a:lnTo>
                <a:lnTo>
                  <a:pt x="1898" y="1171"/>
                </a:lnTo>
                <a:lnTo>
                  <a:pt x="1897" y="1170"/>
                </a:lnTo>
                <a:lnTo>
                  <a:pt x="1896" y="1169"/>
                </a:lnTo>
                <a:lnTo>
                  <a:pt x="1897" y="1167"/>
                </a:lnTo>
                <a:lnTo>
                  <a:pt x="1898" y="1166"/>
                </a:lnTo>
                <a:close/>
                <a:moveTo>
                  <a:pt x="117" y="1162"/>
                </a:moveTo>
                <a:lnTo>
                  <a:pt x="118" y="1162"/>
                </a:lnTo>
                <a:lnTo>
                  <a:pt x="120" y="1163"/>
                </a:lnTo>
                <a:lnTo>
                  <a:pt x="122" y="1164"/>
                </a:lnTo>
                <a:lnTo>
                  <a:pt x="123" y="1165"/>
                </a:lnTo>
                <a:lnTo>
                  <a:pt x="123" y="1167"/>
                </a:lnTo>
                <a:lnTo>
                  <a:pt x="124" y="1169"/>
                </a:lnTo>
                <a:lnTo>
                  <a:pt x="123" y="1170"/>
                </a:lnTo>
                <a:lnTo>
                  <a:pt x="123" y="1172"/>
                </a:lnTo>
                <a:lnTo>
                  <a:pt x="122" y="1173"/>
                </a:lnTo>
                <a:lnTo>
                  <a:pt x="120" y="1174"/>
                </a:lnTo>
                <a:lnTo>
                  <a:pt x="118" y="1175"/>
                </a:lnTo>
                <a:lnTo>
                  <a:pt x="117" y="1175"/>
                </a:lnTo>
                <a:lnTo>
                  <a:pt x="115" y="1175"/>
                </a:lnTo>
                <a:lnTo>
                  <a:pt x="113" y="1174"/>
                </a:lnTo>
                <a:lnTo>
                  <a:pt x="112" y="1173"/>
                </a:lnTo>
                <a:lnTo>
                  <a:pt x="111" y="1172"/>
                </a:lnTo>
                <a:lnTo>
                  <a:pt x="110" y="1170"/>
                </a:lnTo>
                <a:lnTo>
                  <a:pt x="110" y="1169"/>
                </a:lnTo>
                <a:lnTo>
                  <a:pt x="110" y="1167"/>
                </a:lnTo>
                <a:lnTo>
                  <a:pt x="111" y="1165"/>
                </a:lnTo>
                <a:lnTo>
                  <a:pt x="112" y="1164"/>
                </a:lnTo>
                <a:lnTo>
                  <a:pt x="113" y="1163"/>
                </a:lnTo>
                <a:lnTo>
                  <a:pt x="115" y="1162"/>
                </a:lnTo>
                <a:lnTo>
                  <a:pt x="117" y="1162"/>
                </a:lnTo>
                <a:close/>
                <a:moveTo>
                  <a:pt x="70" y="1162"/>
                </a:moveTo>
                <a:lnTo>
                  <a:pt x="72" y="1162"/>
                </a:lnTo>
                <a:lnTo>
                  <a:pt x="74" y="1163"/>
                </a:lnTo>
                <a:lnTo>
                  <a:pt x="75" y="1164"/>
                </a:lnTo>
                <a:lnTo>
                  <a:pt x="76" y="1165"/>
                </a:lnTo>
                <a:lnTo>
                  <a:pt x="77" y="1167"/>
                </a:lnTo>
                <a:lnTo>
                  <a:pt x="77" y="1169"/>
                </a:lnTo>
                <a:lnTo>
                  <a:pt x="77" y="1171"/>
                </a:lnTo>
                <a:lnTo>
                  <a:pt x="76" y="1173"/>
                </a:lnTo>
                <a:lnTo>
                  <a:pt x="75" y="1175"/>
                </a:lnTo>
                <a:lnTo>
                  <a:pt x="74" y="1176"/>
                </a:lnTo>
                <a:lnTo>
                  <a:pt x="72" y="1176"/>
                </a:lnTo>
                <a:lnTo>
                  <a:pt x="70" y="1177"/>
                </a:lnTo>
                <a:lnTo>
                  <a:pt x="68" y="1176"/>
                </a:lnTo>
                <a:lnTo>
                  <a:pt x="67" y="1176"/>
                </a:lnTo>
                <a:lnTo>
                  <a:pt x="65" y="1175"/>
                </a:lnTo>
                <a:lnTo>
                  <a:pt x="64" y="1173"/>
                </a:lnTo>
                <a:lnTo>
                  <a:pt x="63" y="1171"/>
                </a:lnTo>
                <a:lnTo>
                  <a:pt x="63" y="1169"/>
                </a:lnTo>
                <a:lnTo>
                  <a:pt x="63" y="1167"/>
                </a:lnTo>
                <a:lnTo>
                  <a:pt x="64" y="1165"/>
                </a:lnTo>
                <a:lnTo>
                  <a:pt x="65" y="1164"/>
                </a:lnTo>
                <a:lnTo>
                  <a:pt x="67" y="1163"/>
                </a:lnTo>
                <a:lnTo>
                  <a:pt x="68" y="1162"/>
                </a:lnTo>
                <a:lnTo>
                  <a:pt x="70" y="1162"/>
                </a:lnTo>
                <a:close/>
                <a:moveTo>
                  <a:pt x="1853" y="1159"/>
                </a:moveTo>
                <a:lnTo>
                  <a:pt x="1855" y="1159"/>
                </a:lnTo>
                <a:lnTo>
                  <a:pt x="1857" y="1160"/>
                </a:lnTo>
                <a:lnTo>
                  <a:pt x="1858" y="1160"/>
                </a:lnTo>
                <a:lnTo>
                  <a:pt x="1859" y="1161"/>
                </a:lnTo>
                <a:lnTo>
                  <a:pt x="1861" y="1162"/>
                </a:lnTo>
                <a:lnTo>
                  <a:pt x="1862" y="1164"/>
                </a:lnTo>
                <a:lnTo>
                  <a:pt x="1862" y="1165"/>
                </a:lnTo>
                <a:lnTo>
                  <a:pt x="1863" y="1167"/>
                </a:lnTo>
                <a:lnTo>
                  <a:pt x="1863" y="1169"/>
                </a:lnTo>
                <a:lnTo>
                  <a:pt x="1863" y="1170"/>
                </a:lnTo>
                <a:lnTo>
                  <a:pt x="1862" y="1172"/>
                </a:lnTo>
                <a:lnTo>
                  <a:pt x="1862" y="1173"/>
                </a:lnTo>
                <a:lnTo>
                  <a:pt x="1861" y="1175"/>
                </a:lnTo>
                <a:lnTo>
                  <a:pt x="1859" y="1176"/>
                </a:lnTo>
                <a:lnTo>
                  <a:pt x="1858" y="1177"/>
                </a:lnTo>
                <a:lnTo>
                  <a:pt x="1857" y="1177"/>
                </a:lnTo>
                <a:lnTo>
                  <a:pt x="1855" y="1178"/>
                </a:lnTo>
                <a:lnTo>
                  <a:pt x="1853" y="1178"/>
                </a:lnTo>
                <a:lnTo>
                  <a:pt x="1852" y="1178"/>
                </a:lnTo>
                <a:lnTo>
                  <a:pt x="1850" y="1177"/>
                </a:lnTo>
                <a:lnTo>
                  <a:pt x="1849" y="1177"/>
                </a:lnTo>
                <a:lnTo>
                  <a:pt x="1847" y="1176"/>
                </a:lnTo>
                <a:lnTo>
                  <a:pt x="1846" y="1175"/>
                </a:lnTo>
                <a:lnTo>
                  <a:pt x="1845" y="1173"/>
                </a:lnTo>
                <a:lnTo>
                  <a:pt x="1845" y="1172"/>
                </a:lnTo>
                <a:lnTo>
                  <a:pt x="1844" y="1170"/>
                </a:lnTo>
                <a:lnTo>
                  <a:pt x="1844" y="1169"/>
                </a:lnTo>
                <a:lnTo>
                  <a:pt x="1844" y="1167"/>
                </a:lnTo>
                <a:lnTo>
                  <a:pt x="1845" y="1165"/>
                </a:lnTo>
                <a:lnTo>
                  <a:pt x="1845" y="1164"/>
                </a:lnTo>
                <a:lnTo>
                  <a:pt x="1846" y="1162"/>
                </a:lnTo>
                <a:lnTo>
                  <a:pt x="1847" y="1161"/>
                </a:lnTo>
                <a:lnTo>
                  <a:pt x="1849" y="1160"/>
                </a:lnTo>
                <a:lnTo>
                  <a:pt x="1850" y="1160"/>
                </a:lnTo>
                <a:lnTo>
                  <a:pt x="1852" y="1159"/>
                </a:lnTo>
                <a:lnTo>
                  <a:pt x="1853" y="1159"/>
                </a:lnTo>
                <a:close/>
                <a:moveTo>
                  <a:pt x="1910" y="1099"/>
                </a:moveTo>
                <a:lnTo>
                  <a:pt x="1912" y="1100"/>
                </a:lnTo>
                <a:lnTo>
                  <a:pt x="1913" y="1102"/>
                </a:lnTo>
                <a:lnTo>
                  <a:pt x="1912" y="1103"/>
                </a:lnTo>
                <a:lnTo>
                  <a:pt x="1910" y="1104"/>
                </a:lnTo>
                <a:lnTo>
                  <a:pt x="1909" y="1103"/>
                </a:lnTo>
                <a:lnTo>
                  <a:pt x="1908" y="1102"/>
                </a:lnTo>
                <a:lnTo>
                  <a:pt x="1909" y="1100"/>
                </a:lnTo>
                <a:lnTo>
                  <a:pt x="1910" y="1099"/>
                </a:lnTo>
                <a:close/>
                <a:moveTo>
                  <a:pt x="14" y="1099"/>
                </a:moveTo>
                <a:lnTo>
                  <a:pt x="16" y="1100"/>
                </a:lnTo>
                <a:lnTo>
                  <a:pt x="16" y="1102"/>
                </a:lnTo>
                <a:lnTo>
                  <a:pt x="16" y="1104"/>
                </a:lnTo>
                <a:lnTo>
                  <a:pt x="14" y="1105"/>
                </a:lnTo>
                <a:lnTo>
                  <a:pt x="12" y="1104"/>
                </a:lnTo>
                <a:lnTo>
                  <a:pt x="11" y="1102"/>
                </a:lnTo>
                <a:lnTo>
                  <a:pt x="12" y="1100"/>
                </a:lnTo>
                <a:lnTo>
                  <a:pt x="14" y="1099"/>
                </a:lnTo>
                <a:close/>
                <a:moveTo>
                  <a:pt x="103" y="1098"/>
                </a:moveTo>
                <a:lnTo>
                  <a:pt x="106" y="1099"/>
                </a:lnTo>
                <a:lnTo>
                  <a:pt x="107" y="1102"/>
                </a:lnTo>
                <a:lnTo>
                  <a:pt x="106" y="1104"/>
                </a:lnTo>
                <a:lnTo>
                  <a:pt x="103" y="1105"/>
                </a:lnTo>
                <a:lnTo>
                  <a:pt x="101" y="1104"/>
                </a:lnTo>
                <a:lnTo>
                  <a:pt x="100" y="1102"/>
                </a:lnTo>
                <a:lnTo>
                  <a:pt x="101" y="1099"/>
                </a:lnTo>
                <a:lnTo>
                  <a:pt x="103" y="1098"/>
                </a:lnTo>
                <a:close/>
                <a:moveTo>
                  <a:pt x="57" y="1095"/>
                </a:moveTo>
                <a:lnTo>
                  <a:pt x="59" y="1095"/>
                </a:lnTo>
                <a:lnTo>
                  <a:pt x="61" y="1096"/>
                </a:lnTo>
                <a:lnTo>
                  <a:pt x="63" y="1097"/>
                </a:lnTo>
                <a:lnTo>
                  <a:pt x="64" y="1098"/>
                </a:lnTo>
                <a:lnTo>
                  <a:pt x="65" y="1100"/>
                </a:lnTo>
                <a:lnTo>
                  <a:pt x="65" y="1102"/>
                </a:lnTo>
                <a:lnTo>
                  <a:pt x="65" y="1104"/>
                </a:lnTo>
                <a:lnTo>
                  <a:pt x="64" y="1106"/>
                </a:lnTo>
                <a:lnTo>
                  <a:pt x="63" y="1107"/>
                </a:lnTo>
                <a:lnTo>
                  <a:pt x="61" y="1109"/>
                </a:lnTo>
                <a:lnTo>
                  <a:pt x="59" y="1109"/>
                </a:lnTo>
                <a:lnTo>
                  <a:pt x="57" y="1110"/>
                </a:lnTo>
                <a:lnTo>
                  <a:pt x="55" y="1109"/>
                </a:lnTo>
                <a:lnTo>
                  <a:pt x="54" y="1109"/>
                </a:lnTo>
                <a:lnTo>
                  <a:pt x="52" y="1107"/>
                </a:lnTo>
                <a:lnTo>
                  <a:pt x="51" y="1106"/>
                </a:lnTo>
                <a:lnTo>
                  <a:pt x="50" y="1104"/>
                </a:lnTo>
                <a:lnTo>
                  <a:pt x="50" y="1102"/>
                </a:lnTo>
                <a:lnTo>
                  <a:pt x="50" y="1100"/>
                </a:lnTo>
                <a:lnTo>
                  <a:pt x="51" y="1098"/>
                </a:lnTo>
                <a:lnTo>
                  <a:pt x="52" y="1097"/>
                </a:lnTo>
                <a:lnTo>
                  <a:pt x="54" y="1096"/>
                </a:lnTo>
                <a:lnTo>
                  <a:pt x="55" y="1095"/>
                </a:lnTo>
                <a:lnTo>
                  <a:pt x="57" y="1095"/>
                </a:lnTo>
                <a:close/>
                <a:moveTo>
                  <a:pt x="1866" y="1092"/>
                </a:moveTo>
                <a:lnTo>
                  <a:pt x="1868" y="1092"/>
                </a:lnTo>
                <a:lnTo>
                  <a:pt x="1870" y="1093"/>
                </a:lnTo>
                <a:lnTo>
                  <a:pt x="1871" y="1094"/>
                </a:lnTo>
                <a:lnTo>
                  <a:pt x="1873" y="1095"/>
                </a:lnTo>
                <a:lnTo>
                  <a:pt x="1874" y="1096"/>
                </a:lnTo>
                <a:lnTo>
                  <a:pt x="1875" y="1098"/>
                </a:lnTo>
                <a:lnTo>
                  <a:pt x="1875" y="1100"/>
                </a:lnTo>
                <a:lnTo>
                  <a:pt x="1875" y="1102"/>
                </a:lnTo>
                <a:lnTo>
                  <a:pt x="1875" y="1104"/>
                </a:lnTo>
                <a:lnTo>
                  <a:pt x="1875" y="1105"/>
                </a:lnTo>
                <a:lnTo>
                  <a:pt x="1874" y="1107"/>
                </a:lnTo>
                <a:lnTo>
                  <a:pt x="1873" y="1108"/>
                </a:lnTo>
                <a:lnTo>
                  <a:pt x="1871" y="1109"/>
                </a:lnTo>
                <a:lnTo>
                  <a:pt x="1870" y="1110"/>
                </a:lnTo>
                <a:lnTo>
                  <a:pt x="1868" y="1111"/>
                </a:lnTo>
                <a:lnTo>
                  <a:pt x="1866" y="1111"/>
                </a:lnTo>
                <a:lnTo>
                  <a:pt x="1864" y="1111"/>
                </a:lnTo>
                <a:lnTo>
                  <a:pt x="1863" y="1110"/>
                </a:lnTo>
                <a:lnTo>
                  <a:pt x="1861" y="1109"/>
                </a:lnTo>
                <a:lnTo>
                  <a:pt x="1860" y="1108"/>
                </a:lnTo>
                <a:lnTo>
                  <a:pt x="1859" y="1107"/>
                </a:lnTo>
                <a:lnTo>
                  <a:pt x="1858" y="1105"/>
                </a:lnTo>
                <a:lnTo>
                  <a:pt x="1857" y="1104"/>
                </a:lnTo>
                <a:lnTo>
                  <a:pt x="1857" y="1102"/>
                </a:lnTo>
                <a:lnTo>
                  <a:pt x="1857" y="1100"/>
                </a:lnTo>
                <a:lnTo>
                  <a:pt x="1858" y="1098"/>
                </a:lnTo>
                <a:lnTo>
                  <a:pt x="1859" y="1096"/>
                </a:lnTo>
                <a:lnTo>
                  <a:pt x="1860" y="1095"/>
                </a:lnTo>
                <a:lnTo>
                  <a:pt x="1861" y="1094"/>
                </a:lnTo>
                <a:lnTo>
                  <a:pt x="1863" y="1093"/>
                </a:lnTo>
                <a:lnTo>
                  <a:pt x="1864" y="1092"/>
                </a:lnTo>
                <a:lnTo>
                  <a:pt x="1866" y="1092"/>
                </a:lnTo>
                <a:close/>
                <a:moveTo>
                  <a:pt x="95" y="1033"/>
                </a:moveTo>
                <a:lnTo>
                  <a:pt x="96" y="1033"/>
                </a:lnTo>
                <a:lnTo>
                  <a:pt x="97" y="1034"/>
                </a:lnTo>
                <a:lnTo>
                  <a:pt x="96" y="1035"/>
                </a:lnTo>
                <a:lnTo>
                  <a:pt x="95" y="1035"/>
                </a:lnTo>
                <a:lnTo>
                  <a:pt x="94" y="1035"/>
                </a:lnTo>
                <a:lnTo>
                  <a:pt x="94" y="1034"/>
                </a:lnTo>
                <a:lnTo>
                  <a:pt x="94" y="1033"/>
                </a:lnTo>
                <a:lnTo>
                  <a:pt x="95" y="1033"/>
                </a:lnTo>
                <a:close/>
                <a:moveTo>
                  <a:pt x="1917" y="1031"/>
                </a:moveTo>
                <a:lnTo>
                  <a:pt x="1919" y="1032"/>
                </a:lnTo>
                <a:lnTo>
                  <a:pt x="1920" y="1034"/>
                </a:lnTo>
                <a:lnTo>
                  <a:pt x="1919" y="1035"/>
                </a:lnTo>
                <a:lnTo>
                  <a:pt x="1917" y="1036"/>
                </a:lnTo>
                <a:lnTo>
                  <a:pt x="1916" y="1035"/>
                </a:lnTo>
                <a:lnTo>
                  <a:pt x="1915" y="1034"/>
                </a:lnTo>
                <a:lnTo>
                  <a:pt x="1916" y="1032"/>
                </a:lnTo>
                <a:lnTo>
                  <a:pt x="1917" y="1031"/>
                </a:lnTo>
                <a:close/>
                <a:moveTo>
                  <a:pt x="6" y="1031"/>
                </a:moveTo>
                <a:lnTo>
                  <a:pt x="8" y="1032"/>
                </a:lnTo>
                <a:lnTo>
                  <a:pt x="9" y="1034"/>
                </a:lnTo>
                <a:lnTo>
                  <a:pt x="8" y="1036"/>
                </a:lnTo>
                <a:lnTo>
                  <a:pt x="6" y="1037"/>
                </a:lnTo>
                <a:lnTo>
                  <a:pt x="4" y="1036"/>
                </a:lnTo>
                <a:lnTo>
                  <a:pt x="3" y="1034"/>
                </a:lnTo>
                <a:lnTo>
                  <a:pt x="4" y="1032"/>
                </a:lnTo>
                <a:lnTo>
                  <a:pt x="6" y="1031"/>
                </a:lnTo>
                <a:close/>
                <a:moveTo>
                  <a:pt x="50" y="1027"/>
                </a:moveTo>
                <a:lnTo>
                  <a:pt x="52" y="1027"/>
                </a:lnTo>
                <a:lnTo>
                  <a:pt x="53" y="1028"/>
                </a:lnTo>
                <a:lnTo>
                  <a:pt x="55" y="1029"/>
                </a:lnTo>
                <a:lnTo>
                  <a:pt x="56" y="1031"/>
                </a:lnTo>
                <a:lnTo>
                  <a:pt x="57" y="1032"/>
                </a:lnTo>
                <a:lnTo>
                  <a:pt x="57" y="1034"/>
                </a:lnTo>
                <a:lnTo>
                  <a:pt x="57" y="1036"/>
                </a:lnTo>
                <a:lnTo>
                  <a:pt x="56" y="1038"/>
                </a:lnTo>
                <a:lnTo>
                  <a:pt x="55" y="1039"/>
                </a:lnTo>
                <a:lnTo>
                  <a:pt x="53" y="1041"/>
                </a:lnTo>
                <a:lnTo>
                  <a:pt x="52" y="1041"/>
                </a:lnTo>
                <a:lnTo>
                  <a:pt x="50" y="1041"/>
                </a:lnTo>
                <a:lnTo>
                  <a:pt x="48" y="1041"/>
                </a:lnTo>
                <a:lnTo>
                  <a:pt x="46" y="1041"/>
                </a:lnTo>
                <a:lnTo>
                  <a:pt x="45" y="1039"/>
                </a:lnTo>
                <a:lnTo>
                  <a:pt x="43" y="1038"/>
                </a:lnTo>
                <a:lnTo>
                  <a:pt x="43" y="1036"/>
                </a:lnTo>
                <a:lnTo>
                  <a:pt x="42" y="1034"/>
                </a:lnTo>
                <a:lnTo>
                  <a:pt x="43" y="1032"/>
                </a:lnTo>
                <a:lnTo>
                  <a:pt x="43" y="1031"/>
                </a:lnTo>
                <a:lnTo>
                  <a:pt x="45" y="1029"/>
                </a:lnTo>
                <a:lnTo>
                  <a:pt x="46" y="1028"/>
                </a:lnTo>
                <a:lnTo>
                  <a:pt x="48" y="1027"/>
                </a:lnTo>
                <a:lnTo>
                  <a:pt x="50" y="1027"/>
                </a:lnTo>
                <a:close/>
                <a:moveTo>
                  <a:pt x="1874" y="1025"/>
                </a:moveTo>
                <a:lnTo>
                  <a:pt x="1875" y="1025"/>
                </a:lnTo>
                <a:lnTo>
                  <a:pt x="1877" y="1025"/>
                </a:lnTo>
                <a:lnTo>
                  <a:pt x="1879" y="1026"/>
                </a:lnTo>
                <a:lnTo>
                  <a:pt x="1880" y="1027"/>
                </a:lnTo>
                <a:lnTo>
                  <a:pt x="1881" y="1029"/>
                </a:lnTo>
                <a:lnTo>
                  <a:pt x="1882" y="1030"/>
                </a:lnTo>
                <a:lnTo>
                  <a:pt x="1882" y="1032"/>
                </a:lnTo>
                <a:lnTo>
                  <a:pt x="1882" y="1034"/>
                </a:lnTo>
                <a:lnTo>
                  <a:pt x="1882" y="1035"/>
                </a:lnTo>
                <a:lnTo>
                  <a:pt x="1882" y="1037"/>
                </a:lnTo>
                <a:lnTo>
                  <a:pt x="1881" y="1039"/>
                </a:lnTo>
                <a:lnTo>
                  <a:pt x="1880" y="1040"/>
                </a:lnTo>
                <a:lnTo>
                  <a:pt x="1879" y="1041"/>
                </a:lnTo>
                <a:lnTo>
                  <a:pt x="1877" y="1042"/>
                </a:lnTo>
                <a:lnTo>
                  <a:pt x="1875" y="1042"/>
                </a:lnTo>
                <a:lnTo>
                  <a:pt x="1874" y="1042"/>
                </a:lnTo>
                <a:lnTo>
                  <a:pt x="1872" y="1042"/>
                </a:lnTo>
                <a:lnTo>
                  <a:pt x="1870" y="1042"/>
                </a:lnTo>
                <a:lnTo>
                  <a:pt x="1869" y="1041"/>
                </a:lnTo>
                <a:lnTo>
                  <a:pt x="1868" y="1040"/>
                </a:lnTo>
                <a:lnTo>
                  <a:pt x="1867" y="1039"/>
                </a:lnTo>
                <a:lnTo>
                  <a:pt x="1866" y="1037"/>
                </a:lnTo>
                <a:lnTo>
                  <a:pt x="1865" y="1035"/>
                </a:lnTo>
                <a:lnTo>
                  <a:pt x="1865" y="1034"/>
                </a:lnTo>
                <a:lnTo>
                  <a:pt x="1865" y="1032"/>
                </a:lnTo>
                <a:lnTo>
                  <a:pt x="1866" y="1030"/>
                </a:lnTo>
                <a:lnTo>
                  <a:pt x="1867" y="1029"/>
                </a:lnTo>
                <a:lnTo>
                  <a:pt x="1868" y="1027"/>
                </a:lnTo>
                <a:lnTo>
                  <a:pt x="1869" y="1026"/>
                </a:lnTo>
                <a:lnTo>
                  <a:pt x="1870" y="1025"/>
                </a:lnTo>
                <a:lnTo>
                  <a:pt x="1872" y="1025"/>
                </a:lnTo>
                <a:lnTo>
                  <a:pt x="1874" y="1025"/>
                </a:lnTo>
                <a:close/>
                <a:moveTo>
                  <a:pt x="93" y="965"/>
                </a:moveTo>
                <a:lnTo>
                  <a:pt x="93" y="965"/>
                </a:lnTo>
                <a:lnTo>
                  <a:pt x="93" y="966"/>
                </a:lnTo>
                <a:lnTo>
                  <a:pt x="93" y="966"/>
                </a:lnTo>
                <a:lnTo>
                  <a:pt x="93" y="966"/>
                </a:lnTo>
                <a:lnTo>
                  <a:pt x="92" y="966"/>
                </a:lnTo>
                <a:lnTo>
                  <a:pt x="92" y="966"/>
                </a:lnTo>
                <a:lnTo>
                  <a:pt x="92" y="965"/>
                </a:lnTo>
                <a:lnTo>
                  <a:pt x="93" y="965"/>
                </a:lnTo>
                <a:close/>
                <a:moveTo>
                  <a:pt x="1920" y="963"/>
                </a:moveTo>
                <a:lnTo>
                  <a:pt x="1921" y="963"/>
                </a:lnTo>
                <a:lnTo>
                  <a:pt x="1922" y="965"/>
                </a:lnTo>
                <a:lnTo>
                  <a:pt x="1921" y="967"/>
                </a:lnTo>
                <a:lnTo>
                  <a:pt x="1920" y="968"/>
                </a:lnTo>
                <a:lnTo>
                  <a:pt x="1918" y="967"/>
                </a:lnTo>
                <a:lnTo>
                  <a:pt x="1917" y="965"/>
                </a:lnTo>
                <a:lnTo>
                  <a:pt x="1918" y="963"/>
                </a:lnTo>
                <a:lnTo>
                  <a:pt x="1920" y="963"/>
                </a:lnTo>
                <a:close/>
                <a:moveTo>
                  <a:pt x="3" y="962"/>
                </a:moveTo>
                <a:lnTo>
                  <a:pt x="6" y="963"/>
                </a:lnTo>
                <a:lnTo>
                  <a:pt x="7" y="966"/>
                </a:lnTo>
                <a:lnTo>
                  <a:pt x="6" y="969"/>
                </a:lnTo>
                <a:lnTo>
                  <a:pt x="3" y="970"/>
                </a:lnTo>
                <a:lnTo>
                  <a:pt x="1" y="969"/>
                </a:lnTo>
                <a:lnTo>
                  <a:pt x="0" y="966"/>
                </a:lnTo>
                <a:lnTo>
                  <a:pt x="1" y="963"/>
                </a:lnTo>
                <a:lnTo>
                  <a:pt x="3" y="962"/>
                </a:lnTo>
                <a:close/>
                <a:moveTo>
                  <a:pt x="47" y="959"/>
                </a:moveTo>
                <a:lnTo>
                  <a:pt x="49" y="959"/>
                </a:lnTo>
                <a:lnTo>
                  <a:pt x="51" y="959"/>
                </a:lnTo>
                <a:lnTo>
                  <a:pt x="52" y="961"/>
                </a:lnTo>
                <a:lnTo>
                  <a:pt x="54" y="962"/>
                </a:lnTo>
                <a:lnTo>
                  <a:pt x="54" y="964"/>
                </a:lnTo>
                <a:lnTo>
                  <a:pt x="55" y="966"/>
                </a:lnTo>
                <a:lnTo>
                  <a:pt x="54" y="968"/>
                </a:lnTo>
                <a:lnTo>
                  <a:pt x="54" y="969"/>
                </a:lnTo>
                <a:lnTo>
                  <a:pt x="52" y="971"/>
                </a:lnTo>
                <a:lnTo>
                  <a:pt x="51" y="972"/>
                </a:lnTo>
                <a:lnTo>
                  <a:pt x="49" y="973"/>
                </a:lnTo>
                <a:lnTo>
                  <a:pt x="47" y="973"/>
                </a:lnTo>
                <a:lnTo>
                  <a:pt x="45" y="973"/>
                </a:lnTo>
                <a:lnTo>
                  <a:pt x="44" y="972"/>
                </a:lnTo>
                <a:lnTo>
                  <a:pt x="42" y="971"/>
                </a:lnTo>
                <a:lnTo>
                  <a:pt x="41" y="969"/>
                </a:lnTo>
                <a:lnTo>
                  <a:pt x="40" y="968"/>
                </a:lnTo>
                <a:lnTo>
                  <a:pt x="40" y="966"/>
                </a:lnTo>
                <a:lnTo>
                  <a:pt x="40" y="964"/>
                </a:lnTo>
                <a:lnTo>
                  <a:pt x="41" y="962"/>
                </a:lnTo>
                <a:lnTo>
                  <a:pt x="42" y="961"/>
                </a:lnTo>
                <a:lnTo>
                  <a:pt x="44" y="959"/>
                </a:lnTo>
                <a:lnTo>
                  <a:pt x="45" y="959"/>
                </a:lnTo>
                <a:lnTo>
                  <a:pt x="47" y="959"/>
                </a:lnTo>
                <a:close/>
                <a:moveTo>
                  <a:pt x="1876" y="957"/>
                </a:moveTo>
                <a:lnTo>
                  <a:pt x="1878" y="957"/>
                </a:lnTo>
                <a:lnTo>
                  <a:pt x="1879" y="957"/>
                </a:lnTo>
                <a:lnTo>
                  <a:pt x="1881" y="958"/>
                </a:lnTo>
                <a:lnTo>
                  <a:pt x="1882" y="959"/>
                </a:lnTo>
                <a:lnTo>
                  <a:pt x="1883" y="960"/>
                </a:lnTo>
                <a:lnTo>
                  <a:pt x="1884" y="962"/>
                </a:lnTo>
                <a:lnTo>
                  <a:pt x="1885" y="964"/>
                </a:lnTo>
                <a:lnTo>
                  <a:pt x="1885" y="965"/>
                </a:lnTo>
                <a:lnTo>
                  <a:pt x="1885" y="967"/>
                </a:lnTo>
                <a:lnTo>
                  <a:pt x="1884" y="969"/>
                </a:lnTo>
                <a:lnTo>
                  <a:pt x="1883" y="970"/>
                </a:lnTo>
                <a:lnTo>
                  <a:pt x="1882" y="971"/>
                </a:lnTo>
                <a:lnTo>
                  <a:pt x="1881" y="972"/>
                </a:lnTo>
                <a:lnTo>
                  <a:pt x="1879" y="973"/>
                </a:lnTo>
                <a:lnTo>
                  <a:pt x="1878" y="974"/>
                </a:lnTo>
                <a:lnTo>
                  <a:pt x="1876" y="974"/>
                </a:lnTo>
                <a:lnTo>
                  <a:pt x="1874" y="974"/>
                </a:lnTo>
                <a:lnTo>
                  <a:pt x="1873" y="973"/>
                </a:lnTo>
                <a:lnTo>
                  <a:pt x="1871" y="972"/>
                </a:lnTo>
                <a:lnTo>
                  <a:pt x="1870" y="971"/>
                </a:lnTo>
                <a:lnTo>
                  <a:pt x="1869" y="970"/>
                </a:lnTo>
                <a:lnTo>
                  <a:pt x="1868" y="969"/>
                </a:lnTo>
                <a:lnTo>
                  <a:pt x="1868" y="967"/>
                </a:lnTo>
                <a:lnTo>
                  <a:pt x="1867" y="965"/>
                </a:lnTo>
                <a:lnTo>
                  <a:pt x="1868" y="964"/>
                </a:lnTo>
                <a:lnTo>
                  <a:pt x="1868" y="962"/>
                </a:lnTo>
                <a:lnTo>
                  <a:pt x="1869" y="960"/>
                </a:lnTo>
                <a:lnTo>
                  <a:pt x="1870" y="959"/>
                </a:lnTo>
                <a:lnTo>
                  <a:pt x="1871" y="958"/>
                </a:lnTo>
                <a:lnTo>
                  <a:pt x="1873" y="957"/>
                </a:lnTo>
                <a:lnTo>
                  <a:pt x="1874" y="957"/>
                </a:lnTo>
                <a:lnTo>
                  <a:pt x="1876" y="957"/>
                </a:lnTo>
                <a:close/>
                <a:moveTo>
                  <a:pt x="95" y="897"/>
                </a:moveTo>
                <a:lnTo>
                  <a:pt x="96" y="897"/>
                </a:lnTo>
                <a:lnTo>
                  <a:pt x="96" y="898"/>
                </a:lnTo>
                <a:lnTo>
                  <a:pt x="96" y="898"/>
                </a:lnTo>
                <a:lnTo>
                  <a:pt x="95" y="898"/>
                </a:lnTo>
                <a:lnTo>
                  <a:pt x="95" y="898"/>
                </a:lnTo>
                <a:lnTo>
                  <a:pt x="95" y="898"/>
                </a:lnTo>
                <a:lnTo>
                  <a:pt x="95" y="897"/>
                </a:lnTo>
                <a:lnTo>
                  <a:pt x="95" y="897"/>
                </a:lnTo>
                <a:close/>
                <a:moveTo>
                  <a:pt x="1917" y="894"/>
                </a:moveTo>
                <a:lnTo>
                  <a:pt x="1920" y="895"/>
                </a:lnTo>
                <a:lnTo>
                  <a:pt x="1921" y="897"/>
                </a:lnTo>
                <a:lnTo>
                  <a:pt x="1920" y="899"/>
                </a:lnTo>
                <a:lnTo>
                  <a:pt x="1917" y="900"/>
                </a:lnTo>
                <a:lnTo>
                  <a:pt x="1915" y="899"/>
                </a:lnTo>
                <a:lnTo>
                  <a:pt x="1914" y="897"/>
                </a:lnTo>
                <a:lnTo>
                  <a:pt x="1915" y="895"/>
                </a:lnTo>
                <a:lnTo>
                  <a:pt x="1917" y="894"/>
                </a:lnTo>
                <a:close/>
                <a:moveTo>
                  <a:pt x="6" y="894"/>
                </a:moveTo>
                <a:lnTo>
                  <a:pt x="8" y="894"/>
                </a:lnTo>
                <a:lnTo>
                  <a:pt x="9" y="896"/>
                </a:lnTo>
                <a:lnTo>
                  <a:pt x="10" y="898"/>
                </a:lnTo>
                <a:lnTo>
                  <a:pt x="9" y="900"/>
                </a:lnTo>
                <a:lnTo>
                  <a:pt x="8" y="901"/>
                </a:lnTo>
                <a:lnTo>
                  <a:pt x="6" y="902"/>
                </a:lnTo>
                <a:lnTo>
                  <a:pt x="4" y="901"/>
                </a:lnTo>
                <a:lnTo>
                  <a:pt x="2" y="900"/>
                </a:lnTo>
                <a:lnTo>
                  <a:pt x="2" y="898"/>
                </a:lnTo>
                <a:lnTo>
                  <a:pt x="2" y="896"/>
                </a:lnTo>
                <a:lnTo>
                  <a:pt x="4" y="894"/>
                </a:lnTo>
                <a:lnTo>
                  <a:pt x="6" y="894"/>
                </a:lnTo>
                <a:close/>
                <a:moveTo>
                  <a:pt x="50" y="892"/>
                </a:moveTo>
                <a:lnTo>
                  <a:pt x="52" y="892"/>
                </a:lnTo>
                <a:lnTo>
                  <a:pt x="53" y="893"/>
                </a:lnTo>
                <a:lnTo>
                  <a:pt x="54" y="894"/>
                </a:lnTo>
                <a:lnTo>
                  <a:pt x="55" y="896"/>
                </a:lnTo>
                <a:lnTo>
                  <a:pt x="55" y="898"/>
                </a:lnTo>
                <a:lnTo>
                  <a:pt x="55" y="900"/>
                </a:lnTo>
                <a:lnTo>
                  <a:pt x="54" y="901"/>
                </a:lnTo>
                <a:lnTo>
                  <a:pt x="53" y="902"/>
                </a:lnTo>
                <a:lnTo>
                  <a:pt x="52" y="903"/>
                </a:lnTo>
                <a:lnTo>
                  <a:pt x="50" y="903"/>
                </a:lnTo>
                <a:lnTo>
                  <a:pt x="48" y="903"/>
                </a:lnTo>
                <a:lnTo>
                  <a:pt x="46" y="902"/>
                </a:lnTo>
                <a:lnTo>
                  <a:pt x="45" y="901"/>
                </a:lnTo>
                <a:lnTo>
                  <a:pt x="44" y="900"/>
                </a:lnTo>
                <a:lnTo>
                  <a:pt x="44" y="898"/>
                </a:lnTo>
                <a:lnTo>
                  <a:pt x="44" y="896"/>
                </a:lnTo>
                <a:lnTo>
                  <a:pt x="45" y="894"/>
                </a:lnTo>
                <a:lnTo>
                  <a:pt x="46" y="893"/>
                </a:lnTo>
                <a:lnTo>
                  <a:pt x="48" y="892"/>
                </a:lnTo>
                <a:lnTo>
                  <a:pt x="50" y="892"/>
                </a:lnTo>
                <a:close/>
                <a:moveTo>
                  <a:pt x="1874" y="889"/>
                </a:moveTo>
                <a:lnTo>
                  <a:pt x="1875" y="889"/>
                </a:lnTo>
                <a:lnTo>
                  <a:pt x="1877" y="889"/>
                </a:lnTo>
                <a:lnTo>
                  <a:pt x="1879" y="890"/>
                </a:lnTo>
                <a:lnTo>
                  <a:pt x="1880" y="891"/>
                </a:lnTo>
                <a:lnTo>
                  <a:pt x="1881" y="892"/>
                </a:lnTo>
                <a:lnTo>
                  <a:pt x="1882" y="894"/>
                </a:lnTo>
                <a:lnTo>
                  <a:pt x="1882" y="895"/>
                </a:lnTo>
                <a:lnTo>
                  <a:pt x="1882" y="897"/>
                </a:lnTo>
                <a:lnTo>
                  <a:pt x="1882" y="899"/>
                </a:lnTo>
                <a:lnTo>
                  <a:pt x="1882" y="901"/>
                </a:lnTo>
                <a:lnTo>
                  <a:pt x="1881" y="902"/>
                </a:lnTo>
                <a:lnTo>
                  <a:pt x="1880" y="903"/>
                </a:lnTo>
                <a:lnTo>
                  <a:pt x="1879" y="904"/>
                </a:lnTo>
                <a:lnTo>
                  <a:pt x="1877" y="905"/>
                </a:lnTo>
                <a:lnTo>
                  <a:pt x="1875" y="906"/>
                </a:lnTo>
                <a:lnTo>
                  <a:pt x="1874" y="906"/>
                </a:lnTo>
                <a:lnTo>
                  <a:pt x="1872" y="906"/>
                </a:lnTo>
                <a:lnTo>
                  <a:pt x="1870" y="905"/>
                </a:lnTo>
                <a:lnTo>
                  <a:pt x="1869" y="904"/>
                </a:lnTo>
                <a:lnTo>
                  <a:pt x="1868" y="903"/>
                </a:lnTo>
                <a:lnTo>
                  <a:pt x="1867" y="902"/>
                </a:lnTo>
                <a:lnTo>
                  <a:pt x="1866" y="901"/>
                </a:lnTo>
                <a:lnTo>
                  <a:pt x="1865" y="899"/>
                </a:lnTo>
                <a:lnTo>
                  <a:pt x="1865" y="897"/>
                </a:lnTo>
                <a:lnTo>
                  <a:pt x="1865" y="895"/>
                </a:lnTo>
                <a:lnTo>
                  <a:pt x="1866" y="894"/>
                </a:lnTo>
                <a:lnTo>
                  <a:pt x="1867" y="892"/>
                </a:lnTo>
                <a:lnTo>
                  <a:pt x="1868" y="891"/>
                </a:lnTo>
                <a:lnTo>
                  <a:pt x="1869" y="890"/>
                </a:lnTo>
                <a:lnTo>
                  <a:pt x="1870" y="889"/>
                </a:lnTo>
                <a:lnTo>
                  <a:pt x="1872" y="889"/>
                </a:lnTo>
                <a:lnTo>
                  <a:pt x="1874" y="889"/>
                </a:lnTo>
                <a:close/>
                <a:moveTo>
                  <a:pt x="103" y="829"/>
                </a:moveTo>
                <a:lnTo>
                  <a:pt x="104" y="830"/>
                </a:lnTo>
                <a:lnTo>
                  <a:pt x="104" y="830"/>
                </a:lnTo>
                <a:lnTo>
                  <a:pt x="104" y="831"/>
                </a:lnTo>
                <a:lnTo>
                  <a:pt x="103" y="831"/>
                </a:lnTo>
                <a:lnTo>
                  <a:pt x="102" y="831"/>
                </a:lnTo>
                <a:lnTo>
                  <a:pt x="102" y="830"/>
                </a:lnTo>
                <a:lnTo>
                  <a:pt x="102" y="830"/>
                </a:lnTo>
                <a:lnTo>
                  <a:pt x="103" y="829"/>
                </a:lnTo>
                <a:close/>
                <a:moveTo>
                  <a:pt x="1910" y="826"/>
                </a:moveTo>
                <a:lnTo>
                  <a:pt x="1913" y="827"/>
                </a:lnTo>
                <a:lnTo>
                  <a:pt x="1914" y="829"/>
                </a:lnTo>
                <a:lnTo>
                  <a:pt x="1913" y="832"/>
                </a:lnTo>
                <a:lnTo>
                  <a:pt x="1910" y="833"/>
                </a:lnTo>
                <a:lnTo>
                  <a:pt x="1907" y="832"/>
                </a:lnTo>
                <a:lnTo>
                  <a:pt x="1906" y="829"/>
                </a:lnTo>
                <a:lnTo>
                  <a:pt x="1907" y="827"/>
                </a:lnTo>
                <a:lnTo>
                  <a:pt x="1910" y="826"/>
                </a:lnTo>
                <a:close/>
                <a:moveTo>
                  <a:pt x="13" y="826"/>
                </a:moveTo>
                <a:lnTo>
                  <a:pt x="16" y="826"/>
                </a:lnTo>
                <a:lnTo>
                  <a:pt x="17" y="828"/>
                </a:lnTo>
                <a:lnTo>
                  <a:pt x="18" y="830"/>
                </a:lnTo>
                <a:lnTo>
                  <a:pt x="17" y="832"/>
                </a:lnTo>
                <a:lnTo>
                  <a:pt x="16" y="833"/>
                </a:lnTo>
                <a:lnTo>
                  <a:pt x="13" y="834"/>
                </a:lnTo>
                <a:lnTo>
                  <a:pt x="11" y="833"/>
                </a:lnTo>
                <a:lnTo>
                  <a:pt x="9" y="832"/>
                </a:lnTo>
                <a:lnTo>
                  <a:pt x="9" y="830"/>
                </a:lnTo>
                <a:lnTo>
                  <a:pt x="9" y="828"/>
                </a:lnTo>
                <a:lnTo>
                  <a:pt x="11" y="826"/>
                </a:lnTo>
                <a:lnTo>
                  <a:pt x="13" y="826"/>
                </a:lnTo>
                <a:close/>
                <a:moveTo>
                  <a:pt x="57" y="823"/>
                </a:moveTo>
                <a:lnTo>
                  <a:pt x="59" y="824"/>
                </a:lnTo>
                <a:lnTo>
                  <a:pt x="61" y="825"/>
                </a:lnTo>
                <a:lnTo>
                  <a:pt x="62" y="826"/>
                </a:lnTo>
                <a:lnTo>
                  <a:pt x="63" y="828"/>
                </a:lnTo>
                <a:lnTo>
                  <a:pt x="63" y="830"/>
                </a:lnTo>
                <a:lnTo>
                  <a:pt x="63" y="832"/>
                </a:lnTo>
                <a:lnTo>
                  <a:pt x="62" y="833"/>
                </a:lnTo>
                <a:lnTo>
                  <a:pt x="61" y="835"/>
                </a:lnTo>
                <a:lnTo>
                  <a:pt x="59" y="836"/>
                </a:lnTo>
                <a:lnTo>
                  <a:pt x="57" y="836"/>
                </a:lnTo>
                <a:lnTo>
                  <a:pt x="55" y="836"/>
                </a:lnTo>
                <a:lnTo>
                  <a:pt x="53" y="835"/>
                </a:lnTo>
                <a:lnTo>
                  <a:pt x="52" y="833"/>
                </a:lnTo>
                <a:lnTo>
                  <a:pt x="51" y="832"/>
                </a:lnTo>
                <a:lnTo>
                  <a:pt x="51" y="830"/>
                </a:lnTo>
                <a:lnTo>
                  <a:pt x="51" y="828"/>
                </a:lnTo>
                <a:lnTo>
                  <a:pt x="52" y="826"/>
                </a:lnTo>
                <a:lnTo>
                  <a:pt x="53" y="825"/>
                </a:lnTo>
                <a:lnTo>
                  <a:pt x="55" y="824"/>
                </a:lnTo>
                <a:lnTo>
                  <a:pt x="57" y="823"/>
                </a:lnTo>
                <a:close/>
                <a:moveTo>
                  <a:pt x="1866" y="821"/>
                </a:moveTo>
                <a:lnTo>
                  <a:pt x="1868" y="821"/>
                </a:lnTo>
                <a:lnTo>
                  <a:pt x="1869" y="821"/>
                </a:lnTo>
                <a:lnTo>
                  <a:pt x="1871" y="822"/>
                </a:lnTo>
                <a:lnTo>
                  <a:pt x="1872" y="823"/>
                </a:lnTo>
                <a:lnTo>
                  <a:pt x="1873" y="824"/>
                </a:lnTo>
                <a:lnTo>
                  <a:pt x="1874" y="826"/>
                </a:lnTo>
                <a:lnTo>
                  <a:pt x="1875" y="828"/>
                </a:lnTo>
                <a:lnTo>
                  <a:pt x="1875" y="829"/>
                </a:lnTo>
                <a:lnTo>
                  <a:pt x="1875" y="831"/>
                </a:lnTo>
                <a:lnTo>
                  <a:pt x="1874" y="833"/>
                </a:lnTo>
                <a:lnTo>
                  <a:pt x="1873" y="834"/>
                </a:lnTo>
                <a:lnTo>
                  <a:pt x="1872" y="836"/>
                </a:lnTo>
                <a:lnTo>
                  <a:pt x="1871" y="837"/>
                </a:lnTo>
                <a:lnTo>
                  <a:pt x="1869" y="838"/>
                </a:lnTo>
                <a:lnTo>
                  <a:pt x="1868" y="838"/>
                </a:lnTo>
                <a:lnTo>
                  <a:pt x="1866" y="838"/>
                </a:lnTo>
                <a:lnTo>
                  <a:pt x="1864" y="838"/>
                </a:lnTo>
                <a:lnTo>
                  <a:pt x="1863" y="838"/>
                </a:lnTo>
                <a:lnTo>
                  <a:pt x="1861" y="837"/>
                </a:lnTo>
                <a:lnTo>
                  <a:pt x="1860" y="836"/>
                </a:lnTo>
                <a:lnTo>
                  <a:pt x="1859" y="834"/>
                </a:lnTo>
                <a:lnTo>
                  <a:pt x="1858" y="833"/>
                </a:lnTo>
                <a:lnTo>
                  <a:pt x="1857" y="831"/>
                </a:lnTo>
                <a:lnTo>
                  <a:pt x="1857" y="829"/>
                </a:lnTo>
                <a:lnTo>
                  <a:pt x="1857" y="828"/>
                </a:lnTo>
                <a:lnTo>
                  <a:pt x="1858" y="826"/>
                </a:lnTo>
                <a:lnTo>
                  <a:pt x="1859" y="824"/>
                </a:lnTo>
                <a:lnTo>
                  <a:pt x="1860" y="823"/>
                </a:lnTo>
                <a:lnTo>
                  <a:pt x="1861" y="822"/>
                </a:lnTo>
                <a:lnTo>
                  <a:pt x="1863" y="821"/>
                </a:lnTo>
                <a:lnTo>
                  <a:pt x="1864" y="821"/>
                </a:lnTo>
                <a:lnTo>
                  <a:pt x="1866" y="821"/>
                </a:lnTo>
                <a:close/>
                <a:moveTo>
                  <a:pt x="117" y="762"/>
                </a:moveTo>
                <a:lnTo>
                  <a:pt x="117" y="763"/>
                </a:lnTo>
                <a:lnTo>
                  <a:pt x="118" y="763"/>
                </a:lnTo>
                <a:lnTo>
                  <a:pt x="117" y="764"/>
                </a:lnTo>
                <a:lnTo>
                  <a:pt x="117" y="764"/>
                </a:lnTo>
                <a:lnTo>
                  <a:pt x="116" y="764"/>
                </a:lnTo>
                <a:lnTo>
                  <a:pt x="116" y="763"/>
                </a:lnTo>
                <a:lnTo>
                  <a:pt x="116" y="763"/>
                </a:lnTo>
                <a:lnTo>
                  <a:pt x="117" y="762"/>
                </a:lnTo>
                <a:close/>
                <a:moveTo>
                  <a:pt x="25" y="758"/>
                </a:moveTo>
                <a:lnTo>
                  <a:pt x="28" y="759"/>
                </a:lnTo>
                <a:lnTo>
                  <a:pt x="29" y="760"/>
                </a:lnTo>
                <a:lnTo>
                  <a:pt x="30" y="762"/>
                </a:lnTo>
                <a:lnTo>
                  <a:pt x="29" y="765"/>
                </a:lnTo>
                <a:lnTo>
                  <a:pt x="28" y="766"/>
                </a:lnTo>
                <a:lnTo>
                  <a:pt x="25" y="767"/>
                </a:lnTo>
                <a:lnTo>
                  <a:pt x="23" y="766"/>
                </a:lnTo>
                <a:lnTo>
                  <a:pt x="22" y="765"/>
                </a:lnTo>
                <a:lnTo>
                  <a:pt x="21" y="762"/>
                </a:lnTo>
                <a:lnTo>
                  <a:pt x="22" y="760"/>
                </a:lnTo>
                <a:lnTo>
                  <a:pt x="23" y="759"/>
                </a:lnTo>
                <a:lnTo>
                  <a:pt x="25" y="758"/>
                </a:lnTo>
                <a:close/>
                <a:moveTo>
                  <a:pt x="1898" y="758"/>
                </a:moveTo>
                <a:lnTo>
                  <a:pt x="1900" y="758"/>
                </a:lnTo>
                <a:lnTo>
                  <a:pt x="1902" y="760"/>
                </a:lnTo>
                <a:lnTo>
                  <a:pt x="1902" y="762"/>
                </a:lnTo>
                <a:lnTo>
                  <a:pt x="1902" y="764"/>
                </a:lnTo>
                <a:lnTo>
                  <a:pt x="1900" y="766"/>
                </a:lnTo>
                <a:lnTo>
                  <a:pt x="1898" y="766"/>
                </a:lnTo>
                <a:lnTo>
                  <a:pt x="1895" y="766"/>
                </a:lnTo>
                <a:lnTo>
                  <a:pt x="1894" y="764"/>
                </a:lnTo>
                <a:lnTo>
                  <a:pt x="1893" y="762"/>
                </a:lnTo>
                <a:lnTo>
                  <a:pt x="1894" y="760"/>
                </a:lnTo>
                <a:lnTo>
                  <a:pt x="1895" y="758"/>
                </a:lnTo>
                <a:lnTo>
                  <a:pt x="1898" y="758"/>
                </a:lnTo>
                <a:close/>
                <a:moveTo>
                  <a:pt x="70" y="756"/>
                </a:moveTo>
                <a:lnTo>
                  <a:pt x="72" y="756"/>
                </a:lnTo>
                <a:lnTo>
                  <a:pt x="73" y="757"/>
                </a:lnTo>
                <a:lnTo>
                  <a:pt x="75" y="758"/>
                </a:lnTo>
                <a:lnTo>
                  <a:pt x="76" y="759"/>
                </a:lnTo>
                <a:lnTo>
                  <a:pt x="77" y="761"/>
                </a:lnTo>
                <a:lnTo>
                  <a:pt x="77" y="762"/>
                </a:lnTo>
                <a:lnTo>
                  <a:pt x="77" y="764"/>
                </a:lnTo>
                <a:lnTo>
                  <a:pt x="76" y="766"/>
                </a:lnTo>
                <a:lnTo>
                  <a:pt x="75" y="767"/>
                </a:lnTo>
                <a:lnTo>
                  <a:pt x="73" y="768"/>
                </a:lnTo>
                <a:lnTo>
                  <a:pt x="72" y="769"/>
                </a:lnTo>
                <a:lnTo>
                  <a:pt x="70" y="769"/>
                </a:lnTo>
                <a:lnTo>
                  <a:pt x="68" y="769"/>
                </a:lnTo>
                <a:lnTo>
                  <a:pt x="66" y="768"/>
                </a:lnTo>
                <a:lnTo>
                  <a:pt x="65" y="767"/>
                </a:lnTo>
                <a:lnTo>
                  <a:pt x="64" y="766"/>
                </a:lnTo>
                <a:lnTo>
                  <a:pt x="63" y="764"/>
                </a:lnTo>
                <a:lnTo>
                  <a:pt x="63" y="762"/>
                </a:lnTo>
                <a:lnTo>
                  <a:pt x="63" y="761"/>
                </a:lnTo>
                <a:lnTo>
                  <a:pt x="64" y="759"/>
                </a:lnTo>
                <a:lnTo>
                  <a:pt x="65" y="758"/>
                </a:lnTo>
                <a:lnTo>
                  <a:pt x="66" y="757"/>
                </a:lnTo>
                <a:lnTo>
                  <a:pt x="68" y="756"/>
                </a:lnTo>
                <a:lnTo>
                  <a:pt x="70" y="756"/>
                </a:lnTo>
                <a:close/>
                <a:moveTo>
                  <a:pt x="1853" y="753"/>
                </a:moveTo>
                <a:lnTo>
                  <a:pt x="1855" y="754"/>
                </a:lnTo>
                <a:lnTo>
                  <a:pt x="1857" y="754"/>
                </a:lnTo>
                <a:lnTo>
                  <a:pt x="1858" y="755"/>
                </a:lnTo>
                <a:lnTo>
                  <a:pt x="1860" y="756"/>
                </a:lnTo>
                <a:lnTo>
                  <a:pt x="1861" y="757"/>
                </a:lnTo>
                <a:lnTo>
                  <a:pt x="1862" y="759"/>
                </a:lnTo>
                <a:lnTo>
                  <a:pt x="1862" y="760"/>
                </a:lnTo>
                <a:lnTo>
                  <a:pt x="1862" y="762"/>
                </a:lnTo>
                <a:lnTo>
                  <a:pt x="1862" y="764"/>
                </a:lnTo>
                <a:lnTo>
                  <a:pt x="1862" y="766"/>
                </a:lnTo>
                <a:lnTo>
                  <a:pt x="1861" y="767"/>
                </a:lnTo>
                <a:lnTo>
                  <a:pt x="1860" y="769"/>
                </a:lnTo>
                <a:lnTo>
                  <a:pt x="1858" y="770"/>
                </a:lnTo>
                <a:lnTo>
                  <a:pt x="1857" y="770"/>
                </a:lnTo>
                <a:lnTo>
                  <a:pt x="1855" y="771"/>
                </a:lnTo>
                <a:lnTo>
                  <a:pt x="1853" y="771"/>
                </a:lnTo>
                <a:lnTo>
                  <a:pt x="1851" y="771"/>
                </a:lnTo>
                <a:lnTo>
                  <a:pt x="1850" y="770"/>
                </a:lnTo>
                <a:lnTo>
                  <a:pt x="1848" y="770"/>
                </a:lnTo>
                <a:lnTo>
                  <a:pt x="1847" y="769"/>
                </a:lnTo>
                <a:lnTo>
                  <a:pt x="1846" y="767"/>
                </a:lnTo>
                <a:lnTo>
                  <a:pt x="1845" y="766"/>
                </a:lnTo>
                <a:lnTo>
                  <a:pt x="1844" y="764"/>
                </a:lnTo>
                <a:lnTo>
                  <a:pt x="1844" y="762"/>
                </a:lnTo>
                <a:lnTo>
                  <a:pt x="1844" y="760"/>
                </a:lnTo>
                <a:lnTo>
                  <a:pt x="1845" y="759"/>
                </a:lnTo>
                <a:lnTo>
                  <a:pt x="1846" y="757"/>
                </a:lnTo>
                <a:lnTo>
                  <a:pt x="1847" y="756"/>
                </a:lnTo>
                <a:lnTo>
                  <a:pt x="1848" y="755"/>
                </a:lnTo>
                <a:lnTo>
                  <a:pt x="1850" y="754"/>
                </a:lnTo>
                <a:lnTo>
                  <a:pt x="1851" y="754"/>
                </a:lnTo>
                <a:lnTo>
                  <a:pt x="1853" y="753"/>
                </a:lnTo>
                <a:close/>
                <a:moveTo>
                  <a:pt x="135" y="697"/>
                </a:moveTo>
                <a:lnTo>
                  <a:pt x="136" y="697"/>
                </a:lnTo>
                <a:lnTo>
                  <a:pt x="136" y="698"/>
                </a:lnTo>
                <a:lnTo>
                  <a:pt x="136" y="698"/>
                </a:lnTo>
                <a:lnTo>
                  <a:pt x="135" y="699"/>
                </a:lnTo>
                <a:lnTo>
                  <a:pt x="134" y="698"/>
                </a:lnTo>
                <a:lnTo>
                  <a:pt x="134" y="698"/>
                </a:lnTo>
                <a:lnTo>
                  <a:pt x="134" y="697"/>
                </a:lnTo>
                <a:lnTo>
                  <a:pt x="135" y="697"/>
                </a:lnTo>
                <a:close/>
                <a:moveTo>
                  <a:pt x="42" y="692"/>
                </a:moveTo>
                <a:lnTo>
                  <a:pt x="45" y="692"/>
                </a:lnTo>
                <a:lnTo>
                  <a:pt x="46" y="694"/>
                </a:lnTo>
                <a:lnTo>
                  <a:pt x="47" y="696"/>
                </a:lnTo>
                <a:lnTo>
                  <a:pt x="46" y="699"/>
                </a:lnTo>
                <a:lnTo>
                  <a:pt x="45" y="700"/>
                </a:lnTo>
                <a:lnTo>
                  <a:pt x="42" y="701"/>
                </a:lnTo>
                <a:lnTo>
                  <a:pt x="40" y="700"/>
                </a:lnTo>
                <a:lnTo>
                  <a:pt x="38" y="699"/>
                </a:lnTo>
                <a:lnTo>
                  <a:pt x="38" y="696"/>
                </a:lnTo>
                <a:lnTo>
                  <a:pt x="38" y="694"/>
                </a:lnTo>
                <a:lnTo>
                  <a:pt x="40" y="692"/>
                </a:lnTo>
                <a:lnTo>
                  <a:pt x="42" y="692"/>
                </a:lnTo>
                <a:close/>
                <a:moveTo>
                  <a:pt x="1881" y="690"/>
                </a:moveTo>
                <a:lnTo>
                  <a:pt x="1883" y="691"/>
                </a:lnTo>
                <a:lnTo>
                  <a:pt x="1885" y="692"/>
                </a:lnTo>
                <a:lnTo>
                  <a:pt x="1886" y="694"/>
                </a:lnTo>
                <a:lnTo>
                  <a:pt x="1887" y="696"/>
                </a:lnTo>
                <a:lnTo>
                  <a:pt x="1886" y="698"/>
                </a:lnTo>
                <a:lnTo>
                  <a:pt x="1885" y="700"/>
                </a:lnTo>
                <a:lnTo>
                  <a:pt x="1883" y="701"/>
                </a:lnTo>
                <a:lnTo>
                  <a:pt x="1881" y="701"/>
                </a:lnTo>
                <a:lnTo>
                  <a:pt x="1879" y="701"/>
                </a:lnTo>
                <a:lnTo>
                  <a:pt x="1877" y="700"/>
                </a:lnTo>
                <a:lnTo>
                  <a:pt x="1876" y="698"/>
                </a:lnTo>
                <a:lnTo>
                  <a:pt x="1875" y="696"/>
                </a:lnTo>
                <a:lnTo>
                  <a:pt x="1876" y="694"/>
                </a:lnTo>
                <a:lnTo>
                  <a:pt x="1877" y="692"/>
                </a:lnTo>
                <a:lnTo>
                  <a:pt x="1879" y="691"/>
                </a:lnTo>
                <a:lnTo>
                  <a:pt x="1881" y="690"/>
                </a:lnTo>
                <a:close/>
                <a:moveTo>
                  <a:pt x="88" y="689"/>
                </a:moveTo>
                <a:lnTo>
                  <a:pt x="89" y="689"/>
                </a:lnTo>
                <a:lnTo>
                  <a:pt x="91" y="689"/>
                </a:lnTo>
                <a:lnTo>
                  <a:pt x="93" y="690"/>
                </a:lnTo>
                <a:lnTo>
                  <a:pt x="94" y="692"/>
                </a:lnTo>
                <a:lnTo>
                  <a:pt x="95" y="693"/>
                </a:lnTo>
                <a:lnTo>
                  <a:pt x="95" y="695"/>
                </a:lnTo>
                <a:lnTo>
                  <a:pt x="96" y="697"/>
                </a:lnTo>
                <a:lnTo>
                  <a:pt x="95" y="698"/>
                </a:lnTo>
                <a:lnTo>
                  <a:pt x="95" y="700"/>
                </a:lnTo>
                <a:lnTo>
                  <a:pt x="94" y="701"/>
                </a:lnTo>
                <a:lnTo>
                  <a:pt x="93" y="703"/>
                </a:lnTo>
                <a:lnTo>
                  <a:pt x="91" y="704"/>
                </a:lnTo>
                <a:lnTo>
                  <a:pt x="89" y="704"/>
                </a:lnTo>
                <a:lnTo>
                  <a:pt x="88" y="704"/>
                </a:lnTo>
                <a:lnTo>
                  <a:pt x="86" y="704"/>
                </a:lnTo>
                <a:lnTo>
                  <a:pt x="84" y="704"/>
                </a:lnTo>
                <a:lnTo>
                  <a:pt x="83" y="703"/>
                </a:lnTo>
                <a:lnTo>
                  <a:pt x="81" y="701"/>
                </a:lnTo>
                <a:lnTo>
                  <a:pt x="81" y="700"/>
                </a:lnTo>
                <a:lnTo>
                  <a:pt x="80" y="698"/>
                </a:lnTo>
                <a:lnTo>
                  <a:pt x="80" y="697"/>
                </a:lnTo>
                <a:lnTo>
                  <a:pt x="80" y="695"/>
                </a:lnTo>
                <a:lnTo>
                  <a:pt x="81" y="693"/>
                </a:lnTo>
                <a:lnTo>
                  <a:pt x="81" y="692"/>
                </a:lnTo>
                <a:lnTo>
                  <a:pt x="83" y="690"/>
                </a:lnTo>
                <a:lnTo>
                  <a:pt x="84" y="689"/>
                </a:lnTo>
                <a:lnTo>
                  <a:pt x="86" y="689"/>
                </a:lnTo>
                <a:lnTo>
                  <a:pt x="88" y="689"/>
                </a:lnTo>
                <a:close/>
                <a:moveTo>
                  <a:pt x="1836" y="687"/>
                </a:moveTo>
                <a:lnTo>
                  <a:pt x="1837" y="687"/>
                </a:lnTo>
                <a:lnTo>
                  <a:pt x="1839" y="688"/>
                </a:lnTo>
                <a:lnTo>
                  <a:pt x="1841" y="689"/>
                </a:lnTo>
                <a:lnTo>
                  <a:pt x="1842" y="690"/>
                </a:lnTo>
                <a:lnTo>
                  <a:pt x="1843" y="691"/>
                </a:lnTo>
                <a:lnTo>
                  <a:pt x="1844" y="693"/>
                </a:lnTo>
                <a:lnTo>
                  <a:pt x="1844" y="694"/>
                </a:lnTo>
                <a:lnTo>
                  <a:pt x="1845" y="696"/>
                </a:lnTo>
                <a:lnTo>
                  <a:pt x="1844" y="698"/>
                </a:lnTo>
                <a:lnTo>
                  <a:pt x="1844" y="700"/>
                </a:lnTo>
                <a:lnTo>
                  <a:pt x="1843" y="701"/>
                </a:lnTo>
                <a:lnTo>
                  <a:pt x="1842" y="703"/>
                </a:lnTo>
                <a:lnTo>
                  <a:pt x="1841" y="704"/>
                </a:lnTo>
                <a:lnTo>
                  <a:pt x="1839" y="705"/>
                </a:lnTo>
                <a:lnTo>
                  <a:pt x="1837" y="705"/>
                </a:lnTo>
                <a:lnTo>
                  <a:pt x="1836" y="705"/>
                </a:lnTo>
                <a:lnTo>
                  <a:pt x="1834" y="705"/>
                </a:lnTo>
                <a:lnTo>
                  <a:pt x="1832" y="705"/>
                </a:lnTo>
                <a:lnTo>
                  <a:pt x="1830" y="704"/>
                </a:lnTo>
                <a:lnTo>
                  <a:pt x="1829" y="703"/>
                </a:lnTo>
                <a:lnTo>
                  <a:pt x="1828" y="701"/>
                </a:lnTo>
                <a:lnTo>
                  <a:pt x="1827" y="700"/>
                </a:lnTo>
                <a:lnTo>
                  <a:pt x="1827" y="698"/>
                </a:lnTo>
                <a:lnTo>
                  <a:pt x="1826" y="696"/>
                </a:lnTo>
                <a:lnTo>
                  <a:pt x="1827" y="694"/>
                </a:lnTo>
                <a:lnTo>
                  <a:pt x="1827" y="693"/>
                </a:lnTo>
                <a:lnTo>
                  <a:pt x="1828" y="691"/>
                </a:lnTo>
                <a:lnTo>
                  <a:pt x="1829" y="690"/>
                </a:lnTo>
                <a:lnTo>
                  <a:pt x="1830" y="689"/>
                </a:lnTo>
                <a:lnTo>
                  <a:pt x="1832" y="688"/>
                </a:lnTo>
                <a:lnTo>
                  <a:pt x="1834" y="687"/>
                </a:lnTo>
                <a:lnTo>
                  <a:pt x="1836" y="687"/>
                </a:lnTo>
                <a:close/>
                <a:moveTo>
                  <a:pt x="159" y="633"/>
                </a:moveTo>
                <a:lnTo>
                  <a:pt x="160" y="633"/>
                </a:lnTo>
                <a:lnTo>
                  <a:pt x="160" y="634"/>
                </a:lnTo>
                <a:lnTo>
                  <a:pt x="160" y="635"/>
                </a:lnTo>
                <a:lnTo>
                  <a:pt x="159" y="635"/>
                </a:lnTo>
                <a:lnTo>
                  <a:pt x="158" y="635"/>
                </a:lnTo>
                <a:lnTo>
                  <a:pt x="158" y="634"/>
                </a:lnTo>
                <a:lnTo>
                  <a:pt x="158" y="633"/>
                </a:lnTo>
                <a:lnTo>
                  <a:pt x="159" y="633"/>
                </a:lnTo>
                <a:close/>
                <a:moveTo>
                  <a:pt x="64" y="627"/>
                </a:moveTo>
                <a:lnTo>
                  <a:pt x="66" y="627"/>
                </a:lnTo>
                <a:lnTo>
                  <a:pt x="68" y="628"/>
                </a:lnTo>
                <a:lnTo>
                  <a:pt x="69" y="630"/>
                </a:lnTo>
                <a:lnTo>
                  <a:pt x="69" y="631"/>
                </a:lnTo>
                <a:lnTo>
                  <a:pt x="69" y="633"/>
                </a:lnTo>
                <a:lnTo>
                  <a:pt x="68" y="635"/>
                </a:lnTo>
                <a:lnTo>
                  <a:pt x="66" y="636"/>
                </a:lnTo>
                <a:lnTo>
                  <a:pt x="64" y="636"/>
                </a:lnTo>
                <a:lnTo>
                  <a:pt x="62" y="636"/>
                </a:lnTo>
                <a:lnTo>
                  <a:pt x="60" y="635"/>
                </a:lnTo>
                <a:lnTo>
                  <a:pt x="59" y="633"/>
                </a:lnTo>
                <a:lnTo>
                  <a:pt x="59" y="631"/>
                </a:lnTo>
                <a:lnTo>
                  <a:pt x="59" y="630"/>
                </a:lnTo>
                <a:lnTo>
                  <a:pt x="60" y="628"/>
                </a:lnTo>
                <a:lnTo>
                  <a:pt x="62" y="627"/>
                </a:lnTo>
                <a:lnTo>
                  <a:pt x="64" y="627"/>
                </a:lnTo>
                <a:close/>
                <a:moveTo>
                  <a:pt x="1859" y="625"/>
                </a:moveTo>
                <a:lnTo>
                  <a:pt x="1861" y="625"/>
                </a:lnTo>
                <a:lnTo>
                  <a:pt x="1863" y="626"/>
                </a:lnTo>
                <a:lnTo>
                  <a:pt x="1864" y="627"/>
                </a:lnTo>
                <a:lnTo>
                  <a:pt x="1865" y="629"/>
                </a:lnTo>
                <a:lnTo>
                  <a:pt x="1866" y="631"/>
                </a:lnTo>
                <a:lnTo>
                  <a:pt x="1865" y="633"/>
                </a:lnTo>
                <a:lnTo>
                  <a:pt x="1864" y="635"/>
                </a:lnTo>
                <a:lnTo>
                  <a:pt x="1863" y="636"/>
                </a:lnTo>
                <a:lnTo>
                  <a:pt x="1861" y="637"/>
                </a:lnTo>
                <a:lnTo>
                  <a:pt x="1859" y="637"/>
                </a:lnTo>
                <a:lnTo>
                  <a:pt x="1857" y="637"/>
                </a:lnTo>
                <a:lnTo>
                  <a:pt x="1856" y="636"/>
                </a:lnTo>
                <a:lnTo>
                  <a:pt x="1854" y="635"/>
                </a:lnTo>
                <a:lnTo>
                  <a:pt x="1853" y="633"/>
                </a:lnTo>
                <a:lnTo>
                  <a:pt x="1853" y="631"/>
                </a:lnTo>
                <a:lnTo>
                  <a:pt x="1853" y="629"/>
                </a:lnTo>
                <a:lnTo>
                  <a:pt x="1854" y="627"/>
                </a:lnTo>
                <a:lnTo>
                  <a:pt x="1856" y="626"/>
                </a:lnTo>
                <a:lnTo>
                  <a:pt x="1857" y="625"/>
                </a:lnTo>
                <a:lnTo>
                  <a:pt x="1859" y="625"/>
                </a:lnTo>
                <a:close/>
                <a:moveTo>
                  <a:pt x="110" y="623"/>
                </a:moveTo>
                <a:lnTo>
                  <a:pt x="112" y="623"/>
                </a:lnTo>
                <a:lnTo>
                  <a:pt x="114" y="624"/>
                </a:lnTo>
                <a:lnTo>
                  <a:pt x="115" y="625"/>
                </a:lnTo>
                <a:lnTo>
                  <a:pt x="116" y="626"/>
                </a:lnTo>
                <a:lnTo>
                  <a:pt x="117" y="627"/>
                </a:lnTo>
                <a:lnTo>
                  <a:pt x="118" y="629"/>
                </a:lnTo>
                <a:lnTo>
                  <a:pt x="119" y="630"/>
                </a:lnTo>
                <a:lnTo>
                  <a:pt x="119" y="632"/>
                </a:lnTo>
                <a:lnTo>
                  <a:pt x="119" y="634"/>
                </a:lnTo>
                <a:lnTo>
                  <a:pt x="118" y="635"/>
                </a:lnTo>
                <a:lnTo>
                  <a:pt x="117" y="637"/>
                </a:lnTo>
                <a:lnTo>
                  <a:pt x="116" y="638"/>
                </a:lnTo>
                <a:lnTo>
                  <a:pt x="115" y="639"/>
                </a:lnTo>
                <a:lnTo>
                  <a:pt x="114" y="640"/>
                </a:lnTo>
                <a:lnTo>
                  <a:pt x="112" y="640"/>
                </a:lnTo>
                <a:lnTo>
                  <a:pt x="110" y="641"/>
                </a:lnTo>
                <a:lnTo>
                  <a:pt x="109" y="640"/>
                </a:lnTo>
                <a:lnTo>
                  <a:pt x="107" y="640"/>
                </a:lnTo>
                <a:lnTo>
                  <a:pt x="105" y="639"/>
                </a:lnTo>
                <a:lnTo>
                  <a:pt x="104" y="638"/>
                </a:lnTo>
                <a:lnTo>
                  <a:pt x="103" y="637"/>
                </a:lnTo>
                <a:lnTo>
                  <a:pt x="102" y="635"/>
                </a:lnTo>
                <a:lnTo>
                  <a:pt x="102" y="634"/>
                </a:lnTo>
                <a:lnTo>
                  <a:pt x="102" y="632"/>
                </a:lnTo>
                <a:lnTo>
                  <a:pt x="102" y="630"/>
                </a:lnTo>
                <a:lnTo>
                  <a:pt x="102" y="629"/>
                </a:lnTo>
                <a:lnTo>
                  <a:pt x="103" y="627"/>
                </a:lnTo>
                <a:lnTo>
                  <a:pt x="104" y="626"/>
                </a:lnTo>
                <a:lnTo>
                  <a:pt x="105" y="625"/>
                </a:lnTo>
                <a:lnTo>
                  <a:pt x="107" y="624"/>
                </a:lnTo>
                <a:lnTo>
                  <a:pt x="109" y="623"/>
                </a:lnTo>
                <a:lnTo>
                  <a:pt x="110" y="623"/>
                </a:lnTo>
                <a:close/>
                <a:moveTo>
                  <a:pt x="1813" y="623"/>
                </a:moveTo>
                <a:lnTo>
                  <a:pt x="1815" y="623"/>
                </a:lnTo>
                <a:lnTo>
                  <a:pt x="1817" y="624"/>
                </a:lnTo>
                <a:lnTo>
                  <a:pt x="1818" y="624"/>
                </a:lnTo>
                <a:lnTo>
                  <a:pt x="1819" y="626"/>
                </a:lnTo>
                <a:lnTo>
                  <a:pt x="1821" y="627"/>
                </a:lnTo>
                <a:lnTo>
                  <a:pt x="1821" y="628"/>
                </a:lnTo>
                <a:lnTo>
                  <a:pt x="1822" y="630"/>
                </a:lnTo>
                <a:lnTo>
                  <a:pt x="1822" y="632"/>
                </a:lnTo>
                <a:lnTo>
                  <a:pt x="1822" y="634"/>
                </a:lnTo>
                <a:lnTo>
                  <a:pt x="1821" y="635"/>
                </a:lnTo>
                <a:lnTo>
                  <a:pt x="1821" y="637"/>
                </a:lnTo>
                <a:lnTo>
                  <a:pt x="1819" y="638"/>
                </a:lnTo>
                <a:lnTo>
                  <a:pt x="1818" y="639"/>
                </a:lnTo>
                <a:lnTo>
                  <a:pt x="1817" y="640"/>
                </a:lnTo>
                <a:lnTo>
                  <a:pt x="1815" y="641"/>
                </a:lnTo>
                <a:lnTo>
                  <a:pt x="1813" y="641"/>
                </a:lnTo>
                <a:lnTo>
                  <a:pt x="1811" y="641"/>
                </a:lnTo>
                <a:lnTo>
                  <a:pt x="1809" y="640"/>
                </a:lnTo>
                <a:lnTo>
                  <a:pt x="1808" y="639"/>
                </a:lnTo>
                <a:lnTo>
                  <a:pt x="1806" y="638"/>
                </a:lnTo>
                <a:lnTo>
                  <a:pt x="1805" y="637"/>
                </a:lnTo>
                <a:lnTo>
                  <a:pt x="1804" y="635"/>
                </a:lnTo>
                <a:lnTo>
                  <a:pt x="1804" y="634"/>
                </a:lnTo>
                <a:lnTo>
                  <a:pt x="1804" y="632"/>
                </a:lnTo>
                <a:lnTo>
                  <a:pt x="1804" y="630"/>
                </a:lnTo>
                <a:lnTo>
                  <a:pt x="1804" y="628"/>
                </a:lnTo>
                <a:lnTo>
                  <a:pt x="1805" y="627"/>
                </a:lnTo>
                <a:lnTo>
                  <a:pt x="1806" y="626"/>
                </a:lnTo>
                <a:lnTo>
                  <a:pt x="1808" y="624"/>
                </a:lnTo>
                <a:lnTo>
                  <a:pt x="1809" y="624"/>
                </a:lnTo>
                <a:lnTo>
                  <a:pt x="1811" y="623"/>
                </a:lnTo>
                <a:lnTo>
                  <a:pt x="1813" y="623"/>
                </a:lnTo>
                <a:close/>
                <a:moveTo>
                  <a:pt x="187" y="570"/>
                </a:moveTo>
                <a:lnTo>
                  <a:pt x="188" y="571"/>
                </a:lnTo>
                <a:lnTo>
                  <a:pt x="189" y="572"/>
                </a:lnTo>
                <a:lnTo>
                  <a:pt x="188" y="573"/>
                </a:lnTo>
                <a:lnTo>
                  <a:pt x="187" y="573"/>
                </a:lnTo>
                <a:lnTo>
                  <a:pt x="186" y="573"/>
                </a:lnTo>
                <a:lnTo>
                  <a:pt x="186" y="572"/>
                </a:lnTo>
                <a:lnTo>
                  <a:pt x="186" y="571"/>
                </a:lnTo>
                <a:lnTo>
                  <a:pt x="187" y="570"/>
                </a:lnTo>
                <a:close/>
                <a:moveTo>
                  <a:pt x="90" y="563"/>
                </a:moveTo>
                <a:lnTo>
                  <a:pt x="92" y="564"/>
                </a:lnTo>
                <a:lnTo>
                  <a:pt x="94" y="565"/>
                </a:lnTo>
                <a:lnTo>
                  <a:pt x="95" y="566"/>
                </a:lnTo>
                <a:lnTo>
                  <a:pt x="95" y="568"/>
                </a:lnTo>
                <a:lnTo>
                  <a:pt x="95" y="570"/>
                </a:lnTo>
                <a:lnTo>
                  <a:pt x="94" y="572"/>
                </a:lnTo>
                <a:lnTo>
                  <a:pt x="92" y="573"/>
                </a:lnTo>
                <a:lnTo>
                  <a:pt x="90" y="573"/>
                </a:lnTo>
                <a:lnTo>
                  <a:pt x="88" y="573"/>
                </a:lnTo>
                <a:lnTo>
                  <a:pt x="86" y="572"/>
                </a:lnTo>
                <a:lnTo>
                  <a:pt x="85" y="570"/>
                </a:lnTo>
                <a:lnTo>
                  <a:pt x="85" y="568"/>
                </a:lnTo>
                <a:lnTo>
                  <a:pt x="85" y="566"/>
                </a:lnTo>
                <a:lnTo>
                  <a:pt x="86" y="565"/>
                </a:lnTo>
                <a:lnTo>
                  <a:pt x="88" y="564"/>
                </a:lnTo>
                <a:lnTo>
                  <a:pt x="90" y="563"/>
                </a:lnTo>
                <a:close/>
                <a:moveTo>
                  <a:pt x="1833" y="561"/>
                </a:moveTo>
                <a:lnTo>
                  <a:pt x="1835" y="561"/>
                </a:lnTo>
                <a:lnTo>
                  <a:pt x="1837" y="562"/>
                </a:lnTo>
                <a:lnTo>
                  <a:pt x="1838" y="563"/>
                </a:lnTo>
                <a:lnTo>
                  <a:pt x="1839" y="564"/>
                </a:lnTo>
                <a:lnTo>
                  <a:pt x="1840" y="566"/>
                </a:lnTo>
                <a:lnTo>
                  <a:pt x="1840" y="568"/>
                </a:lnTo>
                <a:lnTo>
                  <a:pt x="1840" y="570"/>
                </a:lnTo>
                <a:lnTo>
                  <a:pt x="1839" y="572"/>
                </a:lnTo>
                <a:lnTo>
                  <a:pt x="1838" y="573"/>
                </a:lnTo>
                <a:lnTo>
                  <a:pt x="1837" y="574"/>
                </a:lnTo>
                <a:lnTo>
                  <a:pt x="1835" y="575"/>
                </a:lnTo>
                <a:lnTo>
                  <a:pt x="1833" y="575"/>
                </a:lnTo>
                <a:lnTo>
                  <a:pt x="1831" y="575"/>
                </a:lnTo>
                <a:lnTo>
                  <a:pt x="1830" y="574"/>
                </a:lnTo>
                <a:lnTo>
                  <a:pt x="1828" y="573"/>
                </a:lnTo>
                <a:lnTo>
                  <a:pt x="1827" y="572"/>
                </a:lnTo>
                <a:lnTo>
                  <a:pt x="1826" y="570"/>
                </a:lnTo>
                <a:lnTo>
                  <a:pt x="1826" y="568"/>
                </a:lnTo>
                <a:lnTo>
                  <a:pt x="1826" y="566"/>
                </a:lnTo>
                <a:lnTo>
                  <a:pt x="1827" y="564"/>
                </a:lnTo>
                <a:lnTo>
                  <a:pt x="1828" y="563"/>
                </a:lnTo>
                <a:lnTo>
                  <a:pt x="1830" y="562"/>
                </a:lnTo>
                <a:lnTo>
                  <a:pt x="1831" y="561"/>
                </a:lnTo>
                <a:lnTo>
                  <a:pt x="1833" y="561"/>
                </a:lnTo>
                <a:close/>
                <a:moveTo>
                  <a:pt x="1785" y="560"/>
                </a:moveTo>
                <a:lnTo>
                  <a:pt x="1787" y="560"/>
                </a:lnTo>
                <a:lnTo>
                  <a:pt x="1789" y="561"/>
                </a:lnTo>
                <a:lnTo>
                  <a:pt x="1791" y="561"/>
                </a:lnTo>
                <a:lnTo>
                  <a:pt x="1792" y="563"/>
                </a:lnTo>
                <a:lnTo>
                  <a:pt x="1793" y="564"/>
                </a:lnTo>
                <a:lnTo>
                  <a:pt x="1794" y="566"/>
                </a:lnTo>
                <a:lnTo>
                  <a:pt x="1795" y="567"/>
                </a:lnTo>
                <a:lnTo>
                  <a:pt x="1795" y="569"/>
                </a:lnTo>
                <a:lnTo>
                  <a:pt x="1795" y="571"/>
                </a:lnTo>
                <a:lnTo>
                  <a:pt x="1794" y="573"/>
                </a:lnTo>
                <a:lnTo>
                  <a:pt x="1793" y="574"/>
                </a:lnTo>
                <a:lnTo>
                  <a:pt x="1792" y="576"/>
                </a:lnTo>
                <a:lnTo>
                  <a:pt x="1791" y="577"/>
                </a:lnTo>
                <a:lnTo>
                  <a:pt x="1789" y="578"/>
                </a:lnTo>
                <a:lnTo>
                  <a:pt x="1787" y="578"/>
                </a:lnTo>
                <a:lnTo>
                  <a:pt x="1785" y="579"/>
                </a:lnTo>
                <a:lnTo>
                  <a:pt x="1784" y="578"/>
                </a:lnTo>
                <a:lnTo>
                  <a:pt x="1782" y="578"/>
                </a:lnTo>
                <a:lnTo>
                  <a:pt x="1780" y="577"/>
                </a:lnTo>
                <a:lnTo>
                  <a:pt x="1779" y="576"/>
                </a:lnTo>
                <a:lnTo>
                  <a:pt x="1778" y="574"/>
                </a:lnTo>
                <a:lnTo>
                  <a:pt x="1777" y="573"/>
                </a:lnTo>
                <a:lnTo>
                  <a:pt x="1776" y="571"/>
                </a:lnTo>
                <a:lnTo>
                  <a:pt x="1776" y="569"/>
                </a:lnTo>
                <a:lnTo>
                  <a:pt x="1776" y="567"/>
                </a:lnTo>
                <a:lnTo>
                  <a:pt x="1777" y="566"/>
                </a:lnTo>
                <a:lnTo>
                  <a:pt x="1778" y="564"/>
                </a:lnTo>
                <a:lnTo>
                  <a:pt x="1779" y="563"/>
                </a:lnTo>
                <a:lnTo>
                  <a:pt x="1780" y="561"/>
                </a:lnTo>
                <a:lnTo>
                  <a:pt x="1782" y="561"/>
                </a:lnTo>
                <a:lnTo>
                  <a:pt x="1784" y="560"/>
                </a:lnTo>
                <a:lnTo>
                  <a:pt x="1785" y="560"/>
                </a:lnTo>
                <a:close/>
                <a:moveTo>
                  <a:pt x="138" y="560"/>
                </a:moveTo>
                <a:lnTo>
                  <a:pt x="140" y="560"/>
                </a:lnTo>
                <a:lnTo>
                  <a:pt x="141" y="561"/>
                </a:lnTo>
                <a:lnTo>
                  <a:pt x="143" y="561"/>
                </a:lnTo>
                <a:lnTo>
                  <a:pt x="144" y="562"/>
                </a:lnTo>
                <a:lnTo>
                  <a:pt x="145" y="563"/>
                </a:lnTo>
                <a:lnTo>
                  <a:pt x="146" y="565"/>
                </a:lnTo>
                <a:lnTo>
                  <a:pt x="147" y="566"/>
                </a:lnTo>
                <a:lnTo>
                  <a:pt x="147" y="568"/>
                </a:lnTo>
                <a:lnTo>
                  <a:pt x="147" y="569"/>
                </a:lnTo>
                <a:lnTo>
                  <a:pt x="147" y="571"/>
                </a:lnTo>
                <a:lnTo>
                  <a:pt x="147" y="573"/>
                </a:lnTo>
                <a:lnTo>
                  <a:pt x="146" y="574"/>
                </a:lnTo>
                <a:lnTo>
                  <a:pt x="145" y="576"/>
                </a:lnTo>
                <a:lnTo>
                  <a:pt x="144" y="577"/>
                </a:lnTo>
                <a:lnTo>
                  <a:pt x="143" y="578"/>
                </a:lnTo>
                <a:lnTo>
                  <a:pt x="141" y="578"/>
                </a:lnTo>
                <a:lnTo>
                  <a:pt x="140" y="579"/>
                </a:lnTo>
                <a:lnTo>
                  <a:pt x="138" y="579"/>
                </a:lnTo>
                <a:lnTo>
                  <a:pt x="136" y="579"/>
                </a:lnTo>
                <a:lnTo>
                  <a:pt x="134" y="578"/>
                </a:lnTo>
                <a:lnTo>
                  <a:pt x="133" y="578"/>
                </a:lnTo>
                <a:lnTo>
                  <a:pt x="132" y="577"/>
                </a:lnTo>
                <a:lnTo>
                  <a:pt x="130" y="576"/>
                </a:lnTo>
                <a:lnTo>
                  <a:pt x="130" y="574"/>
                </a:lnTo>
                <a:lnTo>
                  <a:pt x="129" y="573"/>
                </a:lnTo>
                <a:lnTo>
                  <a:pt x="128" y="571"/>
                </a:lnTo>
                <a:lnTo>
                  <a:pt x="128" y="569"/>
                </a:lnTo>
                <a:lnTo>
                  <a:pt x="128" y="568"/>
                </a:lnTo>
                <a:lnTo>
                  <a:pt x="129" y="566"/>
                </a:lnTo>
                <a:lnTo>
                  <a:pt x="130" y="565"/>
                </a:lnTo>
                <a:lnTo>
                  <a:pt x="130" y="563"/>
                </a:lnTo>
                <a:lnTo>
                  <a:pt x="132" y="562"/>
                </a:lnTo>
                <a:lnTo>
                  <a:pt x="133" y="561"/>
                </a:lnTo>
                <a:lnTo>
                  <a:pt x="134" y="561"/>
                </a:lnTo>
                <a:lnTo>
                  <a:pt x="136" y="560"/>
                </a:lnTo>
                <a:lnTo>
                  <a:pt x="138" y="560"/>
                </a:lnTo>
                <a:close/>
                <a:moveTo>
                  <a:pt x="221" y="510"/>
                </a:moveTo>
                <a:lnTo>
                  <a:pt x="222" y="511"/>
                </a:lnTo>
                <a:lnTo>
                  <a:pt x="222" y="512"/>
                </a:lnTo>
                <a:lnTo>
                  <a:pt x="222" y="514"/>
                </a:lnTo>
                <a:lnTo>
                  <a:pt x="221" y="514"/>
                </a:lnTo>
                <a:lnTo>
                  <a:pt x="219" y="514"/>
                </a:lnTo>
                <a:lnTo>
                  <a:pt x="219" y="512"/>
                </a:lnTo>
                <a:lnTo>
                  <a:pt x="219" y="511"/>
                </a:lnTo>
                <a:lnTo>
                  <a:pt x="221" y="510"/>
                </a:lnTo>
                <a:close/>
                <a:moveTo>
                  <a:pt x="121" y="502"/>
                </a:moveTo>
                <a:lnTo>
                  <a:pt x="123" y="503"/>
                </a:lnTo>
                <a:lnTo>
                  <a:pt x="125" y="504"/>
                </a:lnTo>
                <a:lnTo>
                  <a:pt x="126" y="505"/>
                </a:lnTo>
                <a:lnTo>
                  <a:pt x="126" y="507"/>
                </a:lnTo>
                <a:lnTo>
                  <a:pt x="126" y="510"/>
                </a:lnTo>
                <a:lnTo>
                  <a:pt x="125" y="511"/>
                </a:lnTo>
                <a:lnTo>
                  <a:pt x="123" y="512"/>
                </a:lnTo>
                <a:lnTo>
                  <a:pt x="121" y="513"/>
                </a:lnTo>
                <a:lnTo>
                  <a:pt x="119" y="512"/>
                </a:lnTo>
                <a:lnTo>
                  <a:pt x="117" y="511"/>
                </a:lnTo>
                <a:lnTo>
                  <a:pt x="116" y="510"/>
                </a:lnTo>
                <a:lnTo>
                  <a:pt x="116" y="507"/>
                </a:lnTo>
                <a:lnTo>
                  <a:pt x="116" y="505"/>
                </a:lnTo>
                <a:lnTo>
                  <a:pt x="117" y="504"/>
                </a:lnTo>
                <a:lnTo>
                  <a:pt x="119" y="503"/>
                </a:lnTo>
                <a:lnTo>
                  <a:pt x="121" y="502"/>
                </a:lnTo>
                <a:close/>
                <a:moveTo>
                  <a:pt x="1753" y="499"/>
                </a:moveTo>
                <a:lnTo>
                  <a:pt x="1755" y="499"/>
                </a:lnTo>
                <a:lnTo>
                  <a:pt x="1757" y="500"/>
                </a:lnTo>
                <a:lnTo>
                  <a:pt x="1758" y="501"/>
                </a:lnTo>
                <a:lnTo>
                  <a:pt x="1760" y="502"/>
                </a:lnTo>
                <a:lnTo>
                  <a:pt x="1761" y="503"/>
                </a:lnTo>
                <a:lnTo>
                  <a:pt x="1762" y="504"/>
                </a:lnTo>
                <a:lnTo>
                  <a:pt x="1762" y="506"/>
                </a:lnTo>
                <a:lnTo>
                  <a:pt x="1763" y="507"/>
                </a:lnTo>
                <a:lnTo>
                  <a:pt x="1763" y="509"/>
                </a:lnTo>
                <a:lnTo>
                  <a:pt x="1763" y="511"/>
                </a:lnTo>
                <a:lnTo>
                  <a:pt x="1762" y="512"/>
                </a:lnTo>
                <a:lnTo>
                  <a:pt x="1762" y="514"/>
                </a:lnTo>
                <a:lnTo>
                  <a:pt x="1761" y="515"/>
                </a:lnTo>
                <a:lnTo>
                  <a:pt x="1760" y="516"/>
                </a:lnTo>
                <a:lnTo>
                  <a:pt x="1758" y="517"/>
                </a:lnTo>
                <a:lnTo>
                  <a:pt x="1757" y="518"/>
                </a:lnTo>
                <a:lnTo>
                  <a:pt x="1755" y="518"/>
                </a:lnTo>
                <a:lnTo>
                  <a:pt x="1753" y="518"/>
                </a:lnTo>
                <a:lnTo>
                  <a:pt x="1752" y="518"/>
                </a:lnTo>
                <a:lnTo>
                  <a:pt x="1750" y="518"/>
                </a:lnTo>
                <a:lnTo>
                  <a:pt x="1749" y="517"/>
                </a:lnTo>
                <a:lnTo>
                  <a:pt x="1747" y="516"/>
                </a:lnTo>
                <a:lnTo>
                  <a:pt x="1746" y="515"/>
                </a:lnTo>
                <a:lnTo>
                  <a:pt x="1745" y="514"/>
                </a:lnTo>
                <a:lnTo>
                  <a:pt x="1744" y="512"/>
                </a:lnTo>
                <a:lnTo>
                  <a:pt x="1744" y="511"/>
                </a:lnTo>
                <a:lnTo>
                  <a:pt x="1744" y="509"/>
                </a:lnTo>
                <a:lnTo>
                  <a:pt x="1744" y="507"/>
                </a:lnTo>
                <a:lnTo>
                  <a:pt x="1744" y="506"/>
                </a:lnTo>
                <a:lnTo>
                  <a:pt x="1745" y="504"/>
                </a:lnTo>
                <a:lnTo>
                  <a:pt x="1746" y="503"/>
                </a:lnTo>
                <a:lnTo>
                  <a:pt x="1747" y="502"/>
                </a:lnTo>
                <a:lnTo>
                  <a:pt x="1749" y="501"/>
                </a:lnTo>
                <a:lnTo>
                  <a:pt x="1750" y="500"/>
                </a:lnTo>
                <a:lnTo>
                  <a:pt x="1752" y="499"/>
                </a:lnTo>
                <a:lnTo>
                  <a:pt x="1753" y="499"/>
                </a:lnTo>
                <a:close/>
                <a:moveTo>
                  <a:pt x="1802" y="499"/>
                </a:moveTo>
                <a:lnTo>
                  <a:pt x="1804" y="499"/>
                </a:lnTo>
                <a:lnTo>
                  <a:pt x="1806" y="500"/>
                </a:lnTo>
                <a:lnTo>
                  <a:pt x="1808" y="501"/>
                </a:lnTo>
                <a:lnTo>
                  <a:pt x="1809" y="502"/>
                </a:lnTo>
                <a:lnTo>
                  <a:pt x="1810" y="503"/>
                </a:lnTo>
                <a:lnTo>
                  <a:pt x="1810" y="505"/>
                </a:lnTo>
                <a:lnTo>
                  <a:pt x="1811" y="507"/>
                </a:lnTo>
                <a:lnTo>
                  <a:pt x="1810" y="509"/>
                </a:lnTo>
                <a:lnTo>
                  <a:pt x="1810" y="511"/>
                </a:lnTo>
                <a:lnTo>
                  <a:pt x="1809" y="512"/>
                </a:lnTo>
                <a:lnTo>
                  <a:pt x="1808" y="513"/>
                </a:lnTo>
                <a:lnTo>
                  <a:pt x="1806" y="514"/>
                </a:lnTo>
                <a:lnTo>
                  <a:pt x="1804" y="515"/>
                </a:lnTo>
                <a:lnTo>
                  <a:pt x="1802" y="515"/>
                </a:lnTo>
                <a:lnTo>
                  <a:pt x="1801" y="515"/>
                </a:lnTo>
                <a:lnTo>
                  <a:pt x="1799" y="514"/>
                </a:lnTo>
                <a:lnTo>
                  <a:pt x="1797" y="513"/>
                </a:lnTo>
                <a:lnTo>
                  <a:pt x="1796" y="512"/>
                </a:lnTo>
                <a:lnTo>
                  <a:pt x="1795" y="511"/>
                </a:lnTo>
                <a:lnTo>
                  <a:pt x="1794" y="509"/>
                </a:lnTo>
                <a:lnTo>
                  <a:pt x="1794" y="507"/>
                </a:lnTo>
                <a:lnTo>
                  <a:pt x="1794" y="505"/>
                </a:lnTo>
                <a:lnTo>
                  <a:pt x="1795" y="503"/>
                </a:lnTo>
                <a:lnTo>
                  <a:pt x="1796" y="502"/>
                </a:lnTo>
                <a:lnTo>
                  <a:pt x="1797" y="501"/>
                </a:lnTo>
                <a:lnTo>
                  <a:pt x="1799" y="500"/>
                </a:lnTo>
                <a:lnTo>
                  <a:pt x="1801" y="499"/>
                </a:lnTo>
                <a:lnTo>
                  <a:pt x="1802" y="499"/>
                </a:lnTo>
                <a:close/>
                <a:moveTo>
                  <a:pt x="170" y="499"/>
                </a:moveTo>
                <a:lnTo>
                  <a:pt x="172" y="499"/>
                </a:lnTo>
                <a:lnTo>
                  <a:pt x="173" y="499"/>
                </a:lnTo>
                <a:lnTo>
                  <a:pt x="175" y="500"/>
                </a:lnTo>
                <a:lnTo>
                  <a:pt x="176" y="501"/>
                </a:lnTo>
                <a:lnTo>
                  <a:pt x="178" y="503"/>
                </a:lnTo>
                <a:lnTo>
                  <a:pt x="179" y="504"/>
                </a:lnTo>
                <a:lnTo>
                  <a:pt x="179" y="506"/>
                </a:lnTo>
                <a:lnTo>
                  <a:pt x="180" y="507"/>
                </a:lnTo>
                <a:lnTo>
                  <a:pt x="180" y="509"/>
                </a:lnTo>
                <a:lnTo>
                  <a:pt x="180" y="511"/>
                </a:lnTo>
                <a:lnTo>
                  <a:pt x="179" y="513"/>
                </a:lnTo>
                <a:lnTo>
                  <a:pt x="179" y="515"/>
                </a:lnTo>
                <a:lnTo>
                  <a:pt x="178" y="516"/>
                </a:lnTo>
                <a:lnTo>
                  <a:pt x="176" y="517"/>
                </a:lnTo>
                <a:lnTo>
                  <a:pt x="175" y="518"/>
                </a:lnTo>
                <a:lnTo>
                  <a:pt x="173" y="519"/>
                </a:lnTo>
                <a:lnTo>
                  <a:pt x="172" y="520"/>
                </a:lnTo>
                <a:lnTo>
                  <a:pt x="170" y="520"/>
                </a:lnTo>
                <a:lnTo>
                  <a:pt x="168" y="520"/>
                </a:lnTo>
                <a:lnTo>
                  <a:pt x="166" y="519"/>
                </a:lnTo>
                <a:lnTo>
                  <a:pt x="165" y="518"/>
                </a:lnTo>
                <a:lnTo>
                  <a:pt x="163" y="517"/>
                </a:lnTo>
                <a:lnTo>
                  <a:pt x="162" y="516"/>
                </a:lnTo>
                <a:lnTo>
                  <a:pt x="161" y="515"/>
                </a:lnTo>
                <a:lnTo>
                  <a:pt x="160" y="513"/>
                </a:lnTo>
                <a:lnTo>
                  <a:pt x="160" y="511"/>
                </a:lnTo>
                <a:lnTo>
                  <a:pt x="159" y="509"/>
                </a:lnTo>
                <a:lnTo>
                  <a:pt x="160" y="507"/>
                </a:lnTo>
                <a:lnTo>
                  <a:pt x="160" y="506"/>
                </a:lnTo>
                <a:lnTo>
                  <a:pt x="161" y="504"/>
                </a:lnTo>
                <a:lnTo>
                  <a:pt x="162" y="503"/>
                </a:lnTo>
                <a:lnTo>
                  <a:pt x="163" y="501"/>
                </a:lnTo>
                <a:lnTo>
                  <a:pt x="165" y="500"/>
                </a:lnTo>
                <a:lnTo>
                  <a:pt x="166" y="499"/>
                </a:lnTo>
                <a:lnTo>
                  <a:pt x="168" y="499"/>
                </a:lnTo>
                <a:lnTo>
                  <a:pt x="170" y="499"/>
                </a:lnTo>
                <a:close/>
                <a:moveTo>
                  <a:pt x="259" y="454"/>
                </a:moveTo>
                <a:lnTo>
                  <a:pt x="260" y="454"/>
                </a:lnTo>
                <a:lnTo>
                  <a:pt x="261" y="456"/>
                </a:lnTo>
                <a:lnTo>
                  <a:pt x="260" y="458"/>
                </a:lnTo>
                <a:lnTo>
                  <a:pt x="259" y="458"/>
                </a:lnTo>
                <a:lnTo>
                  <a:pt x="257" y="458"/>
                </a:lnTo>
                <a:lnTo>
                  <a:pt x="256" y="456"/>
                </a:lnTo>
                <a:lnTo>
                  <a:pt x="257" y="454"/>
                </a:lnTo>
                <a:lnTo>
                  <a:pt x="259" y="454"/>
                </a:lnTo>
                <a:close/>
                <a:moveTo>
                  <a:pt x="156" y="443"/>
                </a:moveTo>
                <a:lnTo>
                  <a:pt x="158" y="443"/>
                </a:lnTo>
                <a:lnTo>
                  <a:pt x="160" y="445"/>
                </a:lnTo>
                <a:lnTo>
                  <a:pt x="161" y="446"/>
                </a:lnTo>
                <a:lnTo>
                  <a:pt x="161" y="448"/>
                </a:lnTo>
                <a:lnTo>
                  <a:pt x="161" y="451"/>
                </a:lnTo>
                <a:lnTo>
                  <a:pt x="160" y="452"/>
                </a:lnTo>
                <a:lnTo>
                  <a:pt x="158" y="454"/>
                </a:lnTo>
                <a:lnTo>
                  <a:pt x="156" y="454"/>
                </a:lnTo>
                <a:lnTo>
                  <a:pt x="154" y="454"/>
                </a:lnTo>
                <a:lnTo>
                  <a:pt x="152" y="452"/>
                </a:lnTo>
                <a:lnTo>
                  <a:pt x="151" y="451"/>
                </a:lnTo>
                <a:lnTo>
                  <a:pt x="150" y="448"/>
                </a:lnTo>
                <a:lnTo>
                  <a:pt x="151" y="446"/>
                </a:lnTo>
                <a:lnTo>
                  <a:pt x="152" y="445"/>
                </a:lnTo>
                <a:lnTo>
                  <a:pt x="154" y="443"/>
                </a:lnTo>
                <a:lnTo>
                  <a:pt x="156" y="443"/>
                </a:lnTo>
                <a:close/>
                <a:moveTo>
                  <a:pt x="1717" y="441"/>
                </a:moveTo>
                <a:lnTo>
                  <a:pt x="1719" y="442"/>
                </a:lnTo>
                <a:lnTo>
                  <a:pt x="1720" y="442"/>
                </a:lnTo>
                <a:lnTo>
                  <a:pt x="1722" y="443"/>
                </a:lnTo>
                <a:lnTo>
                  <a:pt x="1723" y="444"/>
                </a:lnTo>
                <a:lnTo>
                  <a:pt x="1724" y="445"/>
                </a:lnTo>
                <a:lnTo>
                  <a:pt x="1725" y="446"/>
                </a:lnTo>
                <a:lnTo>
                  <a:pt x="1726" y="448"/>
                </a:lnTo>
                <a:lnTo>
                  <a:pt x="1726" y="449"/>
                </a:lnTo>
                <a:lnTo>
                  <a:pt x="1727" y="451"/>
                </a:lnTo>
                <a:lnTo>
                  <a:pt x="1726" y="453"/>
                </a:lnTo>
                <a:lnTo>
                  <a:pt x="1726" y="454"/>
                </a:lnTo>
                <a:lnTo>
                  <a:pt x="1725" y="456"/>
                </a:lnTo>
                <a:lnTo>
                  <a:pt x="1724" y="457"/>
                </a:lnTo>
                <a:lnTo>
                  <a:pt x="1723" y="458"/>
                </a:lnTo>
                <a:lnTo>
                  <a:pt x="1722" y="459"/>
                </a:lnTo>
                <a:lnTo>
                  <a:pt x="1720" y="460"/>
                </a:lnTo>
                <a:lnTo>
                  <a:pt x="1719" y="460"/>
                </a:lnTo>
                <a:lnTo>
                  <a:pt x="1717" y="461"/>
                </a:lnTo>
                <a:lnTo>
                  <a:pt x="1715" y="460"/>
                </a:lnTo>
                <a:lnTo>
                  <a:pt x="1714" y="460"/>
                </a:lnTo>
                <a:lnTo>
                  <a:pt x="1712" y="459"/>
                </a:lnTo>
                <a:lnTo>
                  <a:pt x="1711" y="458"/>
                </a:lnTo>
                <a:lnTo>
                  <a:pt x="1710" y="457"/>
                </a:lnTo>
                <a:lnTo>
                  <a:pt x="1709" y="456"/>
                </a:lnTo>
                <a:lnTo>
                  <a:pt x="1708" y="454"/>
                </a:lnTo>
                <a:lnTo>
                  <a:pt x="1708" y="453"/>
                </a:lnTo>
                <a:lnTo>
                  <a:pt x="1708" y="451"/>
                </a:lnTo>
                <a:lnTo>
                  <a:pt x="1708" y="449"/>
                </a:lnTo>
                <a:lnTo>
                  <a:pt x="1708" y="448"/>
                </a:lnTo>
                <a:lnTo>
                  <a:pt x="1709" y="446"/>
                </a:lnTo>
                <a:lnTo>
                  <a:pt x="1710" y="445"/>
                </a:lnTo>
                <a:lnTo>
                  <a:pt x="1711" y="444"/>
                </a:lnTo>
                <a:lnTo>
                  <a:pt x="1712" y="443"/>
                </a:lnTo>
                <a:lnTo>
                  <a:pt x="1714" y="442"/>
                </a:lnTo>
                <a:lnTo>
                  <a:pt x="1715" y="442"/>
                </a:lnTo>
                <a:lnTo>
                  <a:pt x="1717" y="441"/>
                </a:lnTo>
                <a:close/>
                <a:moveTo>
                  <a:pt x="206" y="441"/>
                </a:moveTo>
                <a:lnTo>
                  <a:pt x="208" y="441"/>
                </a:lnTo>
                <a:lnTo>
                  <a:pt x="210" y="441"/>
                </a:lnTo>
                <a:lnTo>
                  <a:pt x="211" y="442"/>
                </a:lnTo>
                <a:lnTo>
                  <a:pt x="213" y="443"/>
                </a:lnTo>
                <a:lnTo>
                  <a:pt x="214" y="444"/>
                </a:lnTo>
                <a:lnTo>
                  <a:pt x="215" y="445"/>
                </a:lnTo>
                <a:lnTo>
                  <a:pt x="216" y="446"/>
                </a:lnTo>
                <a:lnTo>
                  <a:pt x="217" y="448"/>
                </a:lnTo>
                <a:lnTo>
                  <a:pt x="217" y="450"/>
                </a:lnTo>
                <a:lnTo>
                  <a:pt x="217" y="452"/>
                </a:lnTo>
                <a:lnTo>
                  <a:pt x="217" y="453"/>
                </a:lnTo>
                <a:lnTo>
                  <a:pt x="217" y="455"/>
                </a:lnTo>
                <a:lnTo>
                  <a:pt x="216" y="457"/>
                </a:lnTo>
                <a:lnTo>
                  <a:pt x="215" y="458"/>
                </a:lnTo>
                <a:lnTo>
                  <a:pt x="214" y="459"/>
                </a:lnTo>
                <a:lnTo>
                  <a:pt x="213" y="460"/>
                </a:lnTo>
                <a:lnTo>
                  <a:pt x="211" y="461"/>
                </a:lnTo>
                <a:lnTo>
                  <a:pt x="210" y="462"/>
                </a:lnTo>
                <a:lnTo>
                  <a:pt x="208" y="462"/>
                </a:lnTo>
                <a:lnTo>
                  <a:pt x="206" y="462"/>
                </a:lnTo>
                <a:lnTo>
                  <a:pt x="205" y="462"/>
                </a:lnTo>
                <a:lnTo>
                  <a:pt x="203" y="462"/>
                </a:lnTo>
                <a:lnTo>
                  <a:pt x="201" y="461"/>
                </a:lnTo>
                <a:lnTo>
                  <a:pt x="200" y="460"/>
                </a:lnTo>
                <a:lnTo>
                  <a:pt x="199" y="459"/>
                </a:lnTo>
                <a:lnTo>
                  <a:pt x="197" y="458"/>
                </a:lnTo>
                <a:lnTo>
                  <a:pt x="197" y="457"/>
                </a:lnTo>
                <a:lnTo>
                  <a:pt x="196" y="455"/>
                </a:lnTo>
                <a:lnTo>
                  <a:pt x="196" y="453"/>
                </a:lnTo>
                <a:lnTo>
                  <a:pt x="195" y="452"/>
                </a:lnTo>
                <a:lnTo>
                  <a:pt x="196" y="450"/>
                </a:lnTo>
                <a:lnTo>
                  <a:pt x="196" y="448"/>
                </a:lnTo>
                <a:lnTo>
                  <a:pt x="197" y="446"/>
                </a:lnTo>
                <a:lnTo>
                  <a:pt x="197" y="445"/>
                </a:lnTo>
                <a:lnTo>
                  <a:pt x="199" y="444"/>
                </a:lnTo>
                <a:lnTo>
                  <a:pt x="200" y="443"/>
                </a:lnTo>
                <a:lnTo>
                  <a:pt x="201" y="442"/>
                </a:lnTo>
                <a:lnTo>
                  <a:pt x="203" y="441"/>
                </a:lnTo>
                <a:lnTo>
                  <a:pt x="205" y="441"/>
                </a:lnTo>
                <a:lnTo>
                  <a:pt x="206" y="441"/>
                </a:lnTo>
                <a:close/>
                <a:moveTo>
                  <a:pt x="1767" y="439"/>
                </a:moveTo>
                <a:lnTo>
                  <a:pt x="1769" y="439"/>
                </a:lnTo>
                <a:lnTo>
                  <a:pt x="1771" y="440"/>
                </a:lnTo>
                <a:lnTo>
                  <a:pt x="1772" y="441"/>
                </a:lnTo>
                <a:lnTo>
                  <a:pt x="1773" y="442"/>
                </a:lnTo>
                <a:lnTo>
                  <a:pt x="1775" y="443"/>
                </a:lnTo>
                <a:lnTo>
                  <a:pt x="1775" y="445"/>
                </a:lnTo>
                <a:lnTo>
                  <a:pt x="1776" y="446"/>
                </a:lnTo>
                <a:lnTo>
                  <a:pt x="1776" y="448"/>
                </a:lnTo>
                <a:lnTo>
                  <a:pt x="1776" y="450"/>
                </a:lnTo>
                <a:lnTo>
                  <a:pt x="1775" y="451"/>
                </a:lnTo>
                <a:lnTo>
                  <a:pt x="1775" y="453"/>
                </a:lnTo>
                <a:lnTo>
                  <a:pt x="1773" y="454"/>
                </a:lnTo>
                <a:lnTo>
                  <a:pt x="1772" y="455"/>
                </a:lnTo>
                <a:lnTo>
                  <a:pt x="1771" y="456"/>
                </a:lnTo>
                <a:lnTo>
                  <a:pt x="1769" y="457"/>
                </a:lnTo>
                <a:lnTo>
                  <a:pt x="1767" y="457"/>
                </a:lnTo>
                <a:lnTo>
                  <a:pt x="1765" y="457"/>
                </a:lnTo>
                <a:lnTo>
                  <a:pt x="1764" y="456"/>
                </a:lnTo>
                <a:lnTo>
                  <a:pt x="1762" y="455"/>
                </a:lnTo>
                <a:lnTo>
                  <a:pt x="1761" y="454"/>
                </a:lnTo>
                <a:lnTo>
                  <a:pt x="1760" y="453"/>
                </a:lnTo>
                <a:lnTo>
                  <a:pt x="1759" y="451"/>
                </a:lnTo>
                <a:lnTo>
                  <a:pt x="1759" y="450"/>
                </a:lnTo>
                <a:lnTo>
                  <a:pt x="1758" y="448"/>
                </a:lnTo>
                <a:lnTo>
                  <a:pt x="1759" y="446"/>
                </a:lnTo>
                <a:lnTo>
                  <a:pt x="1759" y="445"/>
                </a:lnTo>
                <a:lnTo>
                  <a:pt x="1760" y="443"/>
                </a:lnTo>
                <a:lnTo>
                  <a:pt x="1761" y="442"/>
                </a:lnTo>
                <a:lnTo>
                  <a:pt x="1762" y="441"/>
                </a:lnTo>
                <a:lnTo>
                  <a:pt x="1764" y="440"/>
                </a:lnTo>
                <a:lnTo>
                  <a:pt x="1765" y="439"/>
                </a:lnTo>
                <a:lnTo>
                  <a:pt x="1767" y="439"/>
                </a:lnTo>
                <a:close/>
                <a:moveTo>
                  <a:pt x="301" y="400"/>
                </a:moveTo>
                <a:lnTo>
                  <a:pt x="303" y="400"/>
                </a:lnTo>
                <a:lnTo>
                  <a:pt x="304" y="402"/>
                </a:lnTo>
                <a:lnTo>
                  <a:pt x="303" y="404"/>
                </a:lnTo>
                <a:lnTo>
                  <a:pt x="301" y="405"/>
                </a:lnTo>
                <a:lnTo>
                  <a:pt x="299" y="404"/>
                </a:lnTo>
                <a:lnTo>
                  <a:pt x="298" y="402"/>
                </a:lnTo>
                <a:lnTo>
                  <a:pt x="299" y="400"/>
                </a:lnTo>
                <a:lnTo>
                  <a:pt x="301" y="400"/>
                </a:lnTo>
                <a:close/>
                <a:moveTo>
                  <a:pt x="195" y="387"/>
                </a:moveTo>
                <a:lnTo>
                  <a:pt x="197" y="387"/>
                </a:lnTo>
                <a:lnTo>
                  <a:pt x="198" y="388"/>
                </a:lnTo>
                <a:lnTo>
                  <a:pt x="200" y="389"/>
                </a:lnTo>
                <a:lnTo>
                  <a:pt x="201" y="391"/>
                </a:lnTo>
                <a:lnTo>
                  <a:pt x="201" y="393"/>
                </a:lnTo>
                <a:lnTo>
                  <a:pt x="201" y="395"/>
                </a:lnTo>
                <a:lnTo>
                  <a:pt x="200" y="396"/>
                </a:lnTo>
                <a:lnTo>
                  <a:pt x="198" y="397"/>
                </a:lnTo>
                <a:lnTo>
                  <a:pt x="197" y="398"/>
                </a:lnTo>
                <a:lnTo>
                  <a:pt x="195" y="399"/>
                </a:lnTo>
                <a:lnTo>
                  <a:pt x="193" y="398"/>
                </a:lnTo>
                <a:lnTo>
                  <a:pt x="191" y="397"/>
                </a:lnTo>
                <a:lnTo>
                  <a:pt x="190" y="396"/>
                </a:lnTo>
                <a:lnTo>
                  <a:pt x="189" y="395"/>
                </a:lnTo>
                <a:lnTo>
                  <a:pt x="189" y="393"/>
                </a:lnTo>
                <a:lnTo>
                  <a:pt x="189" y="391"/>
                </a:lnTo>
                <a:lnTo>
                  <a:pt x="190" y="389"/>
                </a:lnTo>
                <a:lnTo>
                  <a:pt x="191" y="388"/>
                </a:lnTo>
                <a:lnTo>
                  <a:pt x="193" y="387"/>
                </a:lnTo>
                <a:lnTo>
                  <a:pt x="195" y="387"/>
                </a:lnTo>
                <a:close/>
                <a:moveTo>
                  <a:pt x="1676" y="386"/>
                </a:moveTo>
                <a:lnTo>
                  <a:pt x="1678" y="387"/>
                </a:lnTo>
                <a:lnTo>
                  <a:pt x="1680" y="387"/>
                </a:lnTo>
                <a:lnTo>
                  <a:pt x="1681" y="388"/>
                </a:lnTo>
                <a:lnTo>
                  <a:pt x="1683" y="389"/>
                </a:lnTo>
                <a:lnTo>
                  <a:pt x="1684" y="390"/>
                </a:lnTo>
                <a:lnTo>
                  <a:pt x="1685" y="391"/>
                </a:lnTo>
                <a:lnTo>
                  <a:pt x="1685" y="393"/>
                </a:lnTo>
                <a:lnTo>
                  <a:pt x="1686" y="395"/>
                </a:lnTo>
                <a:lnTo>
                  <a:pt x="1686" y="396"/>
                </a:lnTo>
                <a:lnTo>
                  <a:pt x="1686" y="398"/>
                </a:lnTo>
                <a:lnTo>
                  <a:pt x="1685" y="400"/>
                </a:lnTo>
                <a:lnTo>
                  <a:pt x="1685" y="401"/>
                </a:lnTo>
                <a:lnTo>
                  <a:pt x="1684" y="403"/>
                </a:lnTo>
                <a:lnTo>
                  <a:pt x="1683" y="404"/>
                </a:lnTo>
                <a:lnTo>
                  <a:pt x="1681" y="405"/>
                </a:lnTo>
                <a:lnTo>
                  <a:pt x="1680" y="405"/>
                </a:lnTo>
                <a:lnTo>
                  <a:pt x="1678" y="406"/>
                </a:lnTo>
                <a:lnTo>
                  <a:pt x="1676" y="406"/>
                </a:lnTo>
                <a:lnTo>
                  <a:pt x="1675" y="406"/>
                </a:lnTo>
                <a:lnTo>
                  <a:pt x="1673" y="405"/>
                </a:lnTo>
                <a:lnTo>
                  <a:pt x="1671" y="405"/>
                </a:lnTo>
                <a:lnTo>
                  <a:pt x="1670" y="404"/>
                </a:lnTo>
                <a:lnTo>
                  <a:pt x="1669" y="403"/>
                </a:lnTo>
                <a:lnTo>
                  <a:pt x="1668" y="401"/>
                </a:lnTo>
                <a:lnTo>
                  <a:pt x="1667" y="400"/>
                </a:lnTo>
                <a:lnTo>
                  <a:pt x="1667" y="398"/>
                </a:lnTo>
                <a:lnTo>
                  <a:pt x="1666" y="396"/>
                </a:lnTo>
                <a:lnTo>
                  <a:pt x="1667" y="395"/>
                </a:lnTo>
                <a:lnTo>
                  <a:pt x="1667" y="393"/>
                </a:lnTo>
                <a:lnTo>
                  <a:pt x="1668" y="391"/>
                </a:lnTo>
                <a:lnTo>
                  <a:pt x="1669" y="390"/>
                </a:lnTo>
                <a:lnTo>
                  <a:pt x="1670" y="389"/>
                </a:lnTo>
                <a:lnTo>
                  <a:pt x="1671" y="388"/>
                </a:lnTo>
                <a:lnTo>
                  <a:pt x="1673" y="387"/>
                </a:lnTo>
                <a:lnTo>
                  <a:pt x="1675" y="387"/>
                </a:lnTo>
                <a:lnTo>
                  <a:pt x="1676" y="386"/>
                </a:lnTo>
                <a:close/>
                <a:moveTo>
                  <a:pt x="247" y="386"/>
                </a:moveTo>
                <a:lnTo>
                  <a:pt x="248" y="386"/>
                </a:lnTo>
                <a:lnTo>
                  <a:pt x="250" y="386"/>
                </a:lnTo>
                <a:lnTo>
                  <a:pt x="252" y="387"/>
                </a:lnTo>
                <a:lnTo>
                  <a:pt x="253" y="388"/>
                </a:lnTo>
                <a:lnTo>
                  <a:pt x="255" y="389"/>
                </a:lnTo>
                <a:lnTo>
                  <a:pt x="256" y="390"/>
                </a:lnTo>
                <a:lnTo>
                  <a:pt x="257" y="392"/>
                </a:lnTo>
                <a:lnTo>
                  <a:pt x="257" y="393"/>
                </a:lnTo>
                <a:lnTo>
                  <a:pt x="258" y="395"/>
                </a:lnTo>
                <a:lnTo>
                  <a:pt x="258" y="397"/>
                </a:lnTo>
                <a:lnTo>
                  <a:pt x="258" y="399"/>
                </a:lnTo>
                <a:lnTo>
                  <a:pt x="257" y="400"/>
                </a:lnTo>
                <a:lnTo>
                  <a:pt x="257" y="402"/>
                </a:lnTo>
                <a:lnTo>
                  <a:pt x="256" y="403"/>
                </a:lnTo>
                <a:lnTo>
                  <a:pt x="255" y="405"/>
                </a:lnTo>
                <a:lnTo>
                  <a:pt x="253" y="406"/>
                </a:lnTo>
                <a:lnTo>
                  <a:pt x="252" y="407"/>
                </a:lnTo>
                <a:lnTo>
                  <a:pt x="250" y="407"/>
                </a:lnTo>
                <a:lnTo>
                  <a:pt x="248" y="408"/>
                </a:lnTo>
                <a:lnTo>
                  <a:pt x="247" y="408"/>
                </a:lnTo>
                <a:lnTo>
                  <a:pt x="245" y="408"/>
                </a:lnTo>
                <a:lnTo>
                  <a:pt x="243" y="407"/>
                </a:lnTo>
                <a:lnTo>
                  <a:pt x="242" y="407"/>
                </a:lnTo>
                <a:lnTo>
                  <a:pt x="240" y="406"/>
                </a:lnTo>
                <a:lnTo>
                  <a:pt x="239" y="405"/>
                </a:lnTo>
                <a:lnTo>
                  <a:pt x="238" y="403"/>
                </a:lnTo>
                <a:lnTo>
                  <a:pt x="237" y="402"/>
                </a:lnTo>
                <a:lnTo>
                  <a:pt x="236" y="400"/>
                </a:lnTo>
                <a:lnTo>
                  <a:pt x="236" y="399"/>
                </a:lnTo>
                <a:lnTo>
                  <a:pt x="235" y="397"/>
                </a:lnTo>
                <a:lnTo>
                  <a:pt x="236" y="395"/>
                </a:lnTo>
                <a:lnTo>
                  <a:pt x="236" y="393"/>
                </a:lnTo>
                <a:lnTo>
                  <a:pt x="237" y="392"/>
                </a:lnTo>
                <a:lnTo>
                  <a:pt x="238" y="390"/>
                </a:lnTo>
                <a:lnTo>
                  <a:pt x="239" y="389"/>
                </a:lnTo>
                <a:lnTo>
                  <a:pt x="240" y="388"/>
                </a:lnTo>
                <a:lnTo>
                  <a:pt x="242" y="387"/>
                </a:lnTo>
                <a:lnTo>
                  <a:pt x="243" y="386"/>
                </a:lnTo>
                <a:lnTo>
                  <a:pt x="245" y="386"/>
                </a:lnTo>
                <a:lnTo>
                  <a:pt x="247" y="386"/>
                </a:lnTo>
                <a:close/>
                <a:moveTo>
                  <a:pt x="1728" y="383"/>
                </a:moveTo>
                <a:lnTo>
                  <a:pt x="1730" y="383"/>
                </a:lnTo>
                <a:lnTo>
                  <a:pt x="1732" y="383"/>
                </a:lnTo>
                <a:lnTo>
                  <a:pt x="1733" y="384"/>
                </a:lnTo>
                <a:lnTo>
                  <a:pt x="1735" y="385"/>
                </a:lnTo>
                <a:lnTo>
                  <a:pt x="1736" y="387"/>
                </a:lnTo>
                <a:lnTo>
                  <a:pt x="1737" y="388"/>
                </a:lnTo>
                <a:lnTo>
                  <a:pt x="1737" y="390"/>
                </a:lnTo>
                <a:lnTo>
                  <a:pt x="1737" y="392"/>
                </a:lnTo>
                <a:lnTo>
                  <a:pt x="1737" y="394"/>
                </a:lnTo>
                <a:lnTo>
                  <a:pt x="1737" y="396"/>
                </a:lnTo>
                <a:lnTo>
                  <a:pt x="1736" y="397"/>
                </a:lnTo>
                <a:lnTo>
                  <a:pt x="1735" y="399"/>
                </a:lnTo>
                <a:lnTo>
                  <a:pt x="1733" y="400"/>
                </a:lnTo>
                <a:lnTo>
                  <a:pt x="1732" y="401"/>
                </a:lnTo>
                <a:lnTo>
                  <a:pt x="1730" y="401"/>
                </a:lnTo>
                <a:lnTo>
                  <a:pt x="1728" y="401"/>
                </a:lnTo>
                <a:lnTo>
                  <a:pt x="1726" y="401"/>
                </a:lnTo>
                <a:lnTo>
                  <a:pt x="1724" y="401"/>
                </a:lnTo>
                <a:lnTo>
                  <a:pt x="1723" y="400"/>
                </a:lnTo>
                <a:lnTo>
                  <a:pt x="1721" y="399"/>
                </a:lnTo>
                <a:lnTo>
                  <a:pt x="1720" y="397"/>
                </a:lnTo>
                <a:lnTo>
                  <a:pt x="1719" y="396"/>
                </a:lnTo>
                <a:lnTo>
                  <a:pt x="1719" y="394"/>
                </a:lnTo>
                <a:lnTo>
                  <a:pt x="1719" y="392"/>
                </a:lnTo>
                <a:lnTo>
                  <a:pt x="1719" y="390"/>
                </a:lnTo>
                <a:lnTo>
                  <a:pt x="1719" y="388"/>
                </a:lnTo>
                <a:lnTo>
                  <a:pt x="1720" y="387"/>
                </a:lnTo>
                <a:lnTo>
                  <a:pt x="1721" y="385"/>
                </a:lnTo>
                <a:lnTo>
                  <a:pt x="1723" y="384"/>
                </a:lnTo>
                <a:lnTo>
                  <a:pt x="1724" y="383"/>
                </a:lnTo>
                <a:lnTo>
                  <a:pt x="1726" y="383"/>
                </a:lnTo>
                <a:lnTo>
                  <a:pt x="1728" y="383"/>
                </a:lnTo>
                <a:close/>
                <a:moveTo>
                  <a:pt x="347" y="349"/>
                </a:moveTo>
                <a:lnTo>
                  <a:pt x="350" y="350"/>
                </a:lnTo>
                <a:lnTo>
                  <a:pt x="351" y="352"/>
                </a:lnTo>
                <a:lnTo>
                  <a:pt x="350" y="355"/>
                </a:lnTo>
                <a:lnTo>
                  <a:pt x="347" y="356"/>
                </a:lnTo>
                <a:lnTo>
                  <a:pt x="345" y="355"/>
                </a:lnTo>
                <a:lnTo>
                  <a:pt x="344" y="352"/>
                </a:lnTo>
                <a:lnTo>
                  <a:pt x="345" y="350"/>
                </a:lnTo>
                <a:lnTo>
                  <a:pt x="347" y="349"/>
                </a:lnTo>
                <a:close/>
                <a:moveTo>
                  <a:pt x="1632" y="335"/>
                </a:moveTo>
                <a:lnTo>
                  <a:pt x="1633" y="335"/>
                </a:lnTo>
                <a:lnTo>
                  <a:pt x="1635" y="335"/>
                </a:lnTo>
                <a:lnTo>
                  <a:pt x="1636" y="336"/>
                </a:lnTo>
                <a:lnTo>
                  <a:pt x="1638" y="337"/>
                </a:lnTo>
                <a:lnTo>
                  <a:pt x="1639" y="338"/>
                </a:lnTo>
                <a:lnTo>
                  <a:pt x="1640" y="340"/>
                </a:lnTo>
                <a:lnTo>
                  <a:pt x="1641" y="341"/>
                </a:lnTo>
                <a:lnTo>
                  <a:pt x="1641" y="343"/>
                </a:lnTo>
                <a:lnTo>
                  <a:pt x="1641" y="345"/>
                </a:lnTo>
                <a:lnTo>
                  <a:pt x="1641" y="346"/>
                </a:lnTo>
                <a:lnTo>
                  <a:pt x="1641" y="348"/>
                </a:lnTo>
                <a:lnTo>
                  <a:pt x="1640" y="349"/>
                </a:lnTo>
                <a:lnTo>
                  <a:pt x="1639" y="351"/>
                </a:lnTo>
                <a:lnTo>
                  <a:pt x="1638" y="352"/>
                </a:lnTo>
                <a:lnTo>
                  <a:pt x="1636" y="353"/>
                </a:lnTo>
                <a:lnTo>
                  <a:pt x="1635" y="354"/>
                </a:lnTo>
                <a:lnTo>
                  <a:pt x="1633" y="354"/>
                </a:lnTo>
                <a:lnTo>
                  <a:pt x="1632" y="354"/>
                </a:lnTo>
                <a:lnTo>
                  <a:pt x="1630" y="354"/>
                </a:lnTo>
                <a:lnTo>
                  <a:pt x="1628" y="354"/>
                </a:lnTo>
                <a:lnTo>
                  <a:pt x="1627" y="353"/>
                </a:lnTo>
                <a:lnTo>
                  <a:pt x="1625" y="352"/>
                </a:lnTo>
                <a:lnTo>
                  <a:pt x="1624" y="351"/>
                </a:lnTo>
                <a:lnTo>
                  <a:pt x="1623" y="349"/>
                </a:lnTo>
                <a:lnTo>
                  <a:pt x="1622" y="348"/>
                </a:lnTo>
                <a:lnTo>
                  <a:pt x="1622" y="346"/>
                </a:lnTo>
                <a:lnTo>
                  <a:pt x="1622" y="345"/>
                </a:lnTo>
                <a:lnTo>
                  <a:pt x="1622" y="343"/>
                </a:lnTo>
                <a:lnTo>
                  <a:pt x="1622" y="341"/>
                </a:lnTo>
                <a:lnTo>
                  <a:pt x="1623" y="340"/>
                </a:lnTo>
                <a:lnTo>
                  <a:pt x="1624" y="338"/>
                </a:lnTo>
                <a:lnTo>
                  <a:pt x="1625" y="337"/>
                </a:lnTo>
                <a:lnTo>
                  <a:pt x="1627" y="336"/>
                </a:lnTo>
                <a:lnTo>
                  <a:pt x="1628" y="335"/>
                </a:lnTo>
                <a:lnTo>
                  <a:pt x="1630" y="335"/>
                </a:lnTo>
                <a:lnTo>
                  <a:pt x="1632" y="335"/>
                </a:lnTo>
                <a:close/>
                <a:moveTo>
                  <a:pt x="291" y="334"/>
                </a:moveTo>
                <a:lnTo>
                  <a:pt x="293" y="334"/>
                </a:lnTo>
                <a:lnTo>
                  <a:pt x="295" y="334"/>
                </a:lnTo>
                <a:lnTo>
                  <a:pt x="297" y="335"/>
                </a:lnTo>
                <a:lnTo>
                  <a:pt x="298" y="336"/>
                </a:lnTo>
                <a:lnTo>
                  <a:pt x="299" y="337"/>
                </a:lnTo>
                <a:lnTo>
                  <a:pt x="300" y="338"/>
                </a:lnTo>
                <a:lnTo>
                  <a:pt x="301" y="340"/>
                </a:lnTo>
                <a:lnTo>
                  <a:pt x="302" y="341"/>
                </a:lnTo>
                <a:lnTo>
                  <a:pt x="302" y="343"/>
                </a:lnTo>
                <a:lnTo>
                  <a:pt x="303" y="345"/>
                </a:lnTo>
                <a:lnTo>
                  <a:pt x="302" y="347"/>
                </a:lnTo>
                <a:lnTo>
                  <a:pt x="302" y="349"/>
                </a:lnTo>
                <a:lnTo>
                  <a:pt x="301" y="350"/>
                </a:lnTo>
                <a:lnTo>
                  <a:pt x="300" y="352"/>
                </a:lnTo>
                <a:lnTo>
                  <a:pt x="299" y="353"/>
                </a:lnTo>
                <a:lnTo>
                  <a:pt x="298" y="354"/>
                </a:lnTo>
                <a:lnTo>
                  <a:pt x="297" y="355"/>
                </a:lnTo>
                <a:lnTo>
                  <a:pt x="295" y="356"/>
                </a:lnTo>
                <a:lnTo>
                  <a:pt x="293" y="356"/>
                </a:lnTo>
                <a:lnTo>
                  <a:pt x="291" y="356"/>
                </a:lnTo>
                <a:lnTo>
                  <a:pt x="290" y="356"/>
                </a:lnTo>
                <a:lnTo>
                  <a:pt x="288" y="356"/>
                </a:lnTo>
                <a:lnTo>
                  <a:pt x="286" y="355"/>
                </a:lnTo>
                <a:lnTo>
                  <a:pt x="285" y="354"/>
                </a:lnTo>
                <a:lnTo>
                  <a:pt x="284" y="353"/>
                </a:lnTo>
                <a:lnTo>
                  <a:pt x="282" y="352"/>
                </a:lnTo>
                <a:lnTo>
                  <a:pt x="281" y="350"/>
                </a:lnTo>
                <a:lnTo>
                  <a:pt x="281" y="349"/>
                </a:lnTo>
                <a:lnTo>
                  <a:pt x="280" y="347"/>
                </a:lnTo>
                <a:lnTo>
                  <a:pt x="280" y="345"/>
                </a:lnTo>
                <a:lnTo>
                  <a:pt x="280" y="343"/>
                </a:lnTo>
                <a:lnTo>
                  <a:pt x="281" y="341"/>
                </a:lnTo>
                <a:lnTo>
                  <a:pt x="281" y="340"/>
                </a:lnTo>
                <a:lnTo>
                  <a:pt x="282" y="338"/>
                </a:lnTo>
                <a:lnTo>
                  <a:pt x="284" y="337"/>
                </a:lnTo>
                <a:lnTo>
                  <a:pt x="285" y="336"/>
                </a:lnTo>
                <a:lnTo>
                  <a:pt x="286" y="335"/>
                </a:lnTo>
                <a:lnTo>
                  <a:pt x="288" y="334"/>
                </a:lnTo>
                <a:lnTo>
                  <a:pt x="290" y="334"/>
                </a:lnTo>
                <a:lnTo>
                  <a:pt x="291" y="334"/>
                </a:lnTo>
                <a:close/>
                <a:moveTo>
                  <a:pt x="238" y="333"/>
                </a:moveTo>
                <a:lnTo>
                  <a:pt x="240" y="334"/>
                </a:lnTo>
                <a:lnTo>
                  <a:pt x="241" y="335"/>
                </a:lnTo>
                <a:lnTo>
                  <a:pt x="243" y="336"/>
                </a:lnTo>
                <a:lnTo>
                  <a:pt x="244" y="337"/>
                </a:lnTo>
                <a:lnTo>
                  <a:pt x="244" y="339"/>
                </a:lnTo>
                <a:lnTo>
                  <a:pt x="244" y="341"/>
                </a:lnTo>
                <a:lnTo>
                  <a:pt x="243" y="343"/>
                </a:lnTo>
                <a:lnTo>
                  <a:pt x="241" y="344"/>
                </a:lnTo>
                <a:lnTo>
                  <a:pt x="240" y="345"/>
                </a:lnTo>
                <a:lnTo>
                  <a:pt x="238" y="345"/>
                </a:lnTo>
                <a:lnTo>
                  <a:pt x="236" y="345"/>
                </a:lnTo>
                <a:lnTo>
                  <a:pt x="234" y="344"/>
                </a:lnTo>
                <a:lnTo>
                  <a:pt x="233" y="343"/>
                </a:lnTo>
                <a:lnTo>
                  <a:pt x="232" y="341"/>
                </a:lnTo>
                <a:lnTo>
                  <a:pt x="232" y="339"/>
                </a:lnTo>
                <a:lnTo>
                  <a:pt x="232" y="337"/>
                </a:lnTo>
                <a:lnTo>
                  <a:pt x="233" y="336"/>
                </a:lnTo>
                <a:lnTo>
                  <a:pt x="234" y="335"/>
                </a:lnTo>
                <a:lnTo>
                  <a:pt x="236" y="334"/>
                </a:lnTo>
                <a:lnTo>
                  <a:pt x="238" y="333"/>
                </a:lnTo>
                <a:close/>
                <a:moveTo>
                  <a:pt x="1685" y="330"/>
                </a:moveTo>
                <a:lnTo>
                  <a:pt x="1687" y="330"/>
                </a:lnTo>
                <a:lnTo>
                  <a:pt x="1689" y="330"/>
                </a:lnTo>
                <a:lnTo>
                  <a:pt x="1690" y="331"/>
                </a:lnTo>
                <a:lnTo>
                  <a:pt x="1692" y="332"/>
                </a:lnTo>
                <a:lnTo>
                  <a:pt x="1693" y="333"/>
                </a:lnTo>
                <a:lnTo>
                  <a:pt x="1694" y="334"/>
                </a:lnTo>
                <a:lnTo>
                  <a:pt x="1694" y="336"/>
                </a:lnTo>
                <a:lnTo>
                  <a:pt x="1695" y="337"/>
                </a:lnTo>
                <a:lnTo>
                  <a:pt x="1695" y="339"/>
                </a:lnTo>
                <a:lnTo>
                  <a:pt x="1695" y="341"/>
                </a:lnTo>
                <a:lnTo>
                  <a:pt x="1694" y="342"/>
                </a:lnTo>
                <a:lnTo>
                  <a:pt x="1694" y="344"/>
                </a:lnTo>
                <a:lnTo>
                  <a:pt x="1693" y="345"/>
                </a:lnTo>
                <a:lnTo>
                  <a:pt x="1692" y="346"/>
                </a:lnTo>
                <a:lnTo>
                  <a:pt x="1690" y="347"/>
                </a:lnTo>
                <a:lnTo>
                  <a:pt x="1689" y="348"/>
                </a:lnTo>
                <a:lnTo>
                  <a:pt x="1687" y="349"/>
                </a:lnTo>
                <a:lnTo>
                  <a:pt x="1685" y="349"/>
                </a:lnTo>
                <a:lnTo>
                  <a:pt x="1684" y="349"/>
                </a:lnTo>
                <a:lnTo>
                  <a:pt x="1682" y="348"/>
                </a:lnTo>
                <a:lnTo>
                  <a:pt x="1681" y="347"/>
                </a:lnTo>
                <a:lnTo>
                  <a:pt x="1679" y="346"/>
                </a:lnTo>
                <a:lnTo>
                  <a:pt x="1678" y="345"/>
                </a:lnTo>
                <a:lnTo>
                  <a:pt x="1677" y="344"/>
                </a:lnTo>
                <a:lnTo>
                  <a:pt x="1676" y="342"/>
                </a:lnTo>
                <a:lnTo>
                  <a:pt x="1676" y="341"/>
                </a:lnTo>
                <a:lnTo>
                  <a:pt x="1676" y="339"/>
                </a:lnTo>
                <a:lnTo>
                  <a:pt x="1676" y="337"/>
                </a:lnTo>
                <a:lnTo>
                  <a:pt x="1676" y="336"/>
                </a:lnTo>
                <a:lnTo>
                  <a:pt x="1677" y="334"/>
                </a:lnTo>
                <a:lnTo>
                  <a:pt x="1678" y="333"/>
                </a:lnTo>
                <a:lnTo>
                  <a:pt x="1679" y="332"/>
                </a:lnTo>
                <a:lnTo>
                  <a:pt x="1681" y="331"/>
                </a:lnTo>
                <a:lnTo>
                  <a:pt x="1682" y="330"/>
                </a:lnTo>
                <a:lnTo>
                  <a:pt x="1684" y="330"/>
                </a:lnTo>
                <a:lnTo>
                  <a:pt x="1685" y="330"/>
                </a:lnTo>
                <a:close/>
                <a:moveTo>
                  <a:pt x="398" y="302"/>
                </a:moveTo>
                <a:lnTo>
                  <a:pt x="400" y="303"/>
                </a:lnTo>
                <a:lnTo>
                  <a:pt x="401" y="306"/>
                </a:lnTo>
                <a:lnTo>
                  <a:pt x="400" y="308"/>
                </a:lnTo>
                <a:lnTo>
                  <a:pt x="398" y="310"/>
                </a:lnTo>
                <a:lnTo>
                  <a:pt x="395" y="308"/>
                </a:lnTo>
                <a:lnTo>
                  <a:pt x="394" y="306"/>
                </a:lnTo>
                <a:lnTo>
                  <a:pt x="395" y="303"/>
                </a:lnTo>
                <a:lnTo>
                  <a:pt x="398" y="302"/>
                </a:lnTo>
                <a:close/>
                <a:moveTo>
                  <a:pt x="1583" y="286"/>
                </a:moveTo>
                <a:lnTo>
                  <a:pt x="1585" y="286"/>
                </a:lnTo>
                <a:lnTo>
                  <a:pt x="1587" y="287"/>
                </a:lnTo>
                <a:lnTo>
                  <a:pt x="1588" y="288"/>
                </a:lnTo>
                <a:lnTo>
                  <a:pt x="1590" y="289"/>
                </a:lnTo>
                <a:lnTo>
                  <a:pt x="1591" y="290"/>
                </a:lnTo>
                <a:lnTo>
                  <a:pt x="1592" y="291"/>
                </a:lnTo>
                <a:lnTo>
                  <a:pt x="1593" y="293"/>
                </a:lnTo>
                <a:lnTo>
                  <a:pt x="1593" y="294"/>
                </a:lnTo>
                <a:lnTo>
                  <a:pt x="1593" y="296"/>
                </a:lnTo>
                <a:lnTo>
                  <a:pt x="1593" y="298"/>
                </a:lnTo>
                <a:lnTo>
                  <a:pt x="1593" y="300"/>
                </a:lnTo>
                <a:lnTo>
                  <a:pt x="1592" y="301"/>
                </a:lnTo>
                <a:lnTo>
                  <a:pt x="1591" y="303"/>
                </a:lnTo>
                <a:lnTo>
                  <a:pt x="1590" y="304"/>
                </a:lnTo>
                <a:lnTo>
                  <a:pt x="1588" y="305"/>
                </a:lnTo>
                <a:lnTo>
                  <a:pt x="1587" y="306"/>
                </a:lnTo>
                <a:lnTo>
                  <a:pt x="1585" y="306"/>
                </a:lnTo>
                <a:lnTo>
                  <a:pt x="1583" y="306"/>
                </a:lnTo>
                <a:lnTo>
                  <a:pt x="1581" y="306"/>
                </a:lnTo>
                <a:lnTo>
                  <a:pt x="1580" y="306"/>
                </a:lnTo>
                <a:lnTo>
                  <a:pt x="1578" y="305"/>
                </a:lnTo>
                <a:lnTo>
                  <a:pt x="1577" y="304"/>
                </a:lnTo>
                <a:lnTo>
                  <a:pt x="1576" y="303"/>
                </a:lnTo>
                <a:lnTo>
                  <a:pt x="1575" y="301"/>
                </a:lnTo>
                <a:lnTo>
                  <a:pt x="1574" y="300"/>
                </a:lnTo>
                <a:lnTo>
                  <a:pt x="1573" y="298"/>
                </a:lnTo>
                <a:lnTo>
                  <a:pt x="1573" y="296"/>
                </a:lnTo>
                <a:lnTo>
                  <a:pt x="1573" y="294"/>
                </a:lnTo>
                <a:lnTo>
                  <a:pt x="1574" y="293"/>
                </a:lnTo>
                <a:lnTo>
                  <a:pt x="1575" y="291"/>
                </a:lnTo>
                <a:lnTo>
                  <a:pt x="1576" y="290"/>
                </a:lnTo>
                <a:lnTo>
                  <a:pt x="1577" y="289"/>
                </a:lnTo>
                <a:lnTo>
                  <a:pt x="1578" y="288"/>
                </a:lnTo>
                <a:lnTo>
                  <a:pt x="1580" y="287"/>
                </a:lnTo>
                <a:lnTo>
                  <a:pt x="1581" y="286"/>
                </a:lnTo>
                <a:lnTo>
                  <a:pt x="1583" y="286"/>
                </a:lnTo>
                <a:close/>
                <a:moveTo>
                  <a:pt x="340" y="285"/>
                </a:moveTo>
                <a:lnTo>
                  <a:pt x="342" y="285"/>
                </a:lnTo>
                <a:lnTo>
                  <a:pt x="343" y="286"/>
                </a:lnTo>
                <a:lnTo>
                  <a:pt x="345" y="287"/>
                </a:lnTo>
                <a:lnTo>
                  <a:pt x="347" y="287"/>
                </a:lnTo>
                <a:lnTo>
                  <a:pt x="348" y="289"/>
                </a:lnTo>
                <a:lnTo>
                  <a:pt x="349" y="290"/>
                </a:lnTo>
                <a:lnTo>
                  <a:pt x="350" y="291"/>
                </a:lnTo>
                <a:lnTo>
                  <a:pt x="351" y="293"/>
                </a:lnTo>
                <a:lnTo>
                  <a:pt x="351" y="295"/>
                </a:lnTo>
                <a:lnTo>
                  <a:pt x="351" y="297"/>
                </a:lnTo>
                <a:lnTo>
                  <a:pt x="351" y="298"/>
                </a:lnTo>
                <a:lnTo>
                  <a:pt x="351" y="300"/>
                </a:lnTo>
                <a:lnTo>
                  <a:pt x="350" y="302"/>
                </a:lnTo>
                <a:lnTo>
                  <a:pt x="349" y="303"/>
                </a:lnTo>
                <a:lnTo>
                  <a:pt x="348" y="304"/>
                </a:lnTo>
                <a:lnTo>
                  <a:pt x="347" y="306"/>
                </a:lnTo>
                <a:lnTo>
                  <a:pt x="345" y="306"/>
                </a:lnTo>
                <a:lnTo>
                  <a:pt x="343" y="307"/>
                </a:lnTo>
                <a:lnTo>
                  <a:pt x="342" y="308"/>
                </a:lnTo>
                <a:lnTo>
                  <a:pt x="340" y="308"/>
                </a:lnTo>
                <a:lnTo>
                  <a:pt x="338" y="308"/>
                </a:lnTo>
                <a:lnTo>
                  <a:pt x="336" y="307"/>
                </a:lnTo>
                <a:lnTo>
                  <a:pt x="335" y="306"/>
                </a:lnTo>
                <a:lnTo>
                  <a:pt x="333" y="306"/>
                </a:lnTo>
                <a:lnTo>
                  <a:pt x="332" y="304"/>
                </a:lnTo>
                <a:lnTo>
                  <a:pt x="331" y="303"/>
                </a:lnTo>
                <a:lnTo>
                  <a:pt x="330" y="302"/>
                </a:lnTo>
                <a:lnTo>
                  <a:pt x="329" y="300"/>
                </a:lnTo>
                <a:lnTo>
                  <a:pt x="329" y="298"/>
                </a:lnTo>
                <a:lnTo>
                  <a:pt x="329" y="297"/>
                </a:lnTo>
                <a:lnTo>
                  <a:pt x="329" y="295"/>
                </a:lnTo>
                <a:lnTo>
                  <a:pt x="329" y="293"/>
                </a:lnTo>
                <a:lnTo>
                  <a:pt x="330" y="291"/>
                </a:lnTo>
                <a:lnTo>
                  <a:pt x="331" y="290"/>
                </a:lnTo>
                <a:lnTo>
                  <a:pt x="332" y="289"/>
                </a:lnTo>
                <a:lnTo>
                  <a:pt x="333" y="287"/>
                </a:lnTo>
                <a:lnTo>
                  <a:pt x="335" y="287"/>
                </a:lnTo>
                <a:lnTo>
                  <a:pt x="336" y="286"/>
                </a:lnTo>
                <a:lnTo>
                  <a:pt x="338" y="285"/>
                </a:lnTo>
                <a:lnTo>
                  <a:pt x="340" y="285"/>
                </a:lnTo>
                <a:close/>
                <a:moveTo>
                  <a:pt x="284" y="283"/>
                </a:moveTo>
                <a:lnTo>
                  <a:pt x="286" y="283"/>
                </a:lnTo>
                <a:lnTo>
                  <a:pt x="288" y="284"/>
                </a:lnTo>
                <a:lnTo>
                  <a:pt x="290" y="286"/>
                </a:lnTo>
                <a:lnTo>
                  <a:pt x="291" y="287"/>
                </a:lnTo>
                <a:lnTo>
                  <a:pt x="291" y="290"/>
                </a:lnTo>
                <a:lnTo>
                  <a:pt x="291" y="292"/>
                </a:lnTo>
                <a:lnTo>
                  <a:pt x="290" y="293"/>
                </a:lnTo>
                <a:lnTo>
                  <a:pt x="288" y="295"/>
                </a:lnTo>
                <a:lnTo>
                  <a:pt x="286" y="296"/>
                </a:lnTo>
                <a:lnTo>
                  <a:pt x="284" y="296"/>
                </a:lnTo>
                <a:lnTo>
                  <a:pt x="282" y="296"/>
                </a:lnTo>
                <a:lnTo>
                  <a:pt x="281" y="295"/>
                </a:lnTo>
                <a:lnTo>
                  <a:pt x="279" y="293"/>
                </a:lnTo>
                <a:lnTo>
                  <a:pt x="278" y="292"/>
                </a:lnTo>
                <a:lnTo>
                  <a:pt x="278" y="290"/>
                </a:lnTo>
                <a:lnTo>
                  <a:pt x="278" y="287"/>
                </a:lnTo>
                <a:lnTo>
                  <a:pt x="279" y="286"/>
                </a:lnTo>
                <a:lnTo>
                  <a:pt x="281" y="284"/>
                </a:lnTo>
                <a:lnTo>
                  <a:pt x="282" y="283"/>
                </a:lnTo>
                <a:lnTo>
                  <a:pt x="284" y="283"/>
                </a:lnTo>
                <a:close/>
                <a:moveTo>
                  <a:pt x="1639" y="280"/>
                </a:moveTo>
                <a:lnTo>
                  <a:pt x="1640" y="280"/>
                </a:lnTo>
                <a:lnTo>
                  <a:pt x="1642" y="280"/>
                </a:lnTo>
                <a:lnTo>
                  <a:pt x="1644" y="281"/>
                </a:lnTo>
                <a:lnTo>
                  <a:pt x="1645" y="282"/>
                </a:lnTo>
                <a:lnTo>
                  <a:pt x="1646" y="283"/>
                </a:lnTo>
                <a:lnTo>
                  <a:pt x="1647" y="284"/>
                </a:lnTo>
                <a:lnTo>
                  <a:pt x="1648" y="286"/>
                </a:lnTo>
                <a:lnTo>
                  <a:pt x="1648" y="287"/>
                </a:lnTo>
                <a:lnTo>
                  <a:pt x="1648" y="289"/>
                </a:lnTo>
                <a:lnTo>
                  <a:pt x="1648" y="291"/>
                </a:lnTo>
                <a:lnTo>
                  <a:pt x="1648" y="292"/>
                </a:lnTo>
                <a:lnTo>
                  <a:pt x="1647" y="294"/>
                </a:lnTo>
                <a:lnTo>
                  <a:pt x="1646" y="295"/>
                </a:lnTo>
                <a:lnTo>
                  <a:pt x="1645" y="296"/>
                </a:lnTo>
                <a:lnTo>
                  <a:pt x="1644" y="297"/>
                </a:lnTo>
                <a:lnTo>
                  <a:pt x="1642" y="298"/>
                </a:lnTo>
                <a:lnTo>
                  <a:pt x="1640" y="298"/>
                </a:lnTo>
                <a:lnTo>
                  <a:pt x="1639" y="298"/>
                </a:lnTo>
                <a:lnTo>
                  <a:pt x="1637" y="298"/>
                </a:lnTo>
                <a:lnTo>
                  <a:pt x="1635" y="298"/>
                </a:lnTo>
                <a:lnTo>
                  <a:pt x="1634" y="297"/>
                </a:lnTo>
                <a:lnTo>
                  <a:pt x="1633" y="296"/>
                </a:lnTo>
                <a:lnTo>
                  <a:pt x="1631" y="295"/>
                </a:lnTo>
                <a:lnTo>
                  <a:pt x="1630" y="294"/>
                </a:lnTo>
                <a:lnTo>
                  <a:pt x="1630" y="292"/>
                </a:lnTo>
                <a:lnTo>
                  <a:pt x="1629" y="291"/>
                </a:lnTo>
                <a:lnTo>
                  <a:pt x="1629" y="289"/>
                </a:lnTo>
                <a:lnTo>
                  <a:pt x="1629" y="287"/>
                </a:lnTo>
                <a:lnTo>
                  <a:pt x="1630" y="286"/>
                </a:lnTo>
                <a:lnTo>
                  <a:pt x="1630" y="284"/>
                </a:lnTo>
                <a:lnTo>
                  <a:pt x="1631" y="283"/>
                </a:lnTo>
                <a:lnTo>
                  <a:pt x="1633" y="282"/>
                </a:lnTo>
                <a:lnTo>
                  <a:pt x="1634" y="281"/>
                </a:lnTo>
                <a:lnTo>
                  <a:pt x="1635" y="280"/>
                </a:lnTo>
                <a:lnTo>
                  <a:pt x="1637" y="280"/>
                </a:lnTo>
                <a:lnTo>
                  <a:pt x="1639" y="280"/>
                </a:lnTo>
                <a:close/>
                <a:moveTo>
                  <a:pt x="451" y="260"/>
                </a:moveTo>
                <a:lnTo>
                  <a:pt x="453" y="260"/>
                </a:lnTo>
                <a:lnTo>
                  <a:pt x="455" y="262"/>
                </a:lnTo>
                <a:lnTo>
                  <a:pt x="455" y="264"/>
                </a:lnTo>
                <a:lnTo>
                  <a:pt x="455" y="266"/>
                </a:lnTo>
                <a:lnTo>
                  <a:pt x="453" y="267"/>
                </a:lnTo>
                <a:lnTo>
                  <a:pt x="451" y="268"/>
                </a:lnTo>
                <a:lnTo>
                  <a:pt x="449" y="267"/>
                </a:lnTo>
                <a:lnTo>
                  <a:pt x="447" y="266"/>
                </a:lnTo>
                <a:lnTo>
                  <a:pt x="447" y="264"/>
                </a:lnTo>
                <a:lnTo>
                  <a:pt x="447" y="262"/>
                </a:lnTo>
                <a:lnTo>
                  <a:pt x="449" y="260"/>
                </a:lnTo>
                <a:lnTo>
                  <a:pt x="451" y="260"/>
                </a:lnTo>
                <a:close/>
                <a:moveTo>
                  <a:pt x="1531" y="241"/>
                </a:moveTo>
                <a:lnTo>
                  <a:pt x="1533" y="242"/>
                </a:lnTo>
                <a:lnTo>
                  <a:pt x="1535" y="242"/>
                </a:lnTo>
                <a:lnTo>
                  <a:pt x="1537" y="243"/>
                </a:lnTo>
                <a:lnTo>
                  <a:pt x="1538" y="244"/>
                </a:lnTo>
                <a:lnTo>
                  <a:pt x="1539" y="245"/>
                </a:lnTo>
                <a:lnTo>
                  <a:pt x="1540" y="246"/>
                </a:lnTo>
                <a:lnTo>
                  <a:pt x="1541" y="248"/>
                </a:lnTo>
                <a:lnTo>
                  <a:pt x="1541" y="250"/>
                </a:lnTo>
                <a:lnTo>
                  <a:pt x="1542" y="252"/>
                </a:lnTo>
                <a:lnTo>
                  <a:pt x="1541" y="253"/>
                </a:lnTo>
                <a:lnTo>
                  <a:pt x="1541" y="255"/>
                </a:lnTo>
                <a:lnTo>
                  <a:pt x="1540" y="257"/>
                </a:lnTo>
                <a:lnTo>
                  <a:pt x="1539" y="258"/>
                </a:lnTo>
                <a:lnTo>
                  <a:pt x="1538" y="259"/>
                </a:lnTo>
                <a:lnTo>
                  <a:pt x="1537" y="260"/>
                </a:lnTo>
                <a:lnTo>
                  <a:pt x="1535" y="261"/>
                </a:lnTo>
                <a:lnTo>
                  <a:pt x="1533" y="261"/>
                </a:lnTo>
                <a:lnTo>
                  <a:pt x="1531" y="262"/>
                </a:lnTo>
                <a:lnTo>
                  <a:pt x="1530" y="261"/>
                </a:lnTo>
                <a:lnTo>
                  <a:pt x="1528" y="261"/>
                </a:lnTo>
                <a:lnTo>
                  <a:pt x="1526" y="260"/>
                </a:lnTo>
                <a:lnTo>
                  <a:pt x="1525" y="259"/>
                </a:lnTo>
                <a:lnTo>
                  <a:pt x="1524" y="258"/>
                </a:lnTo>
                <a:lnTo>
                  <a:pt x="1523" y="257"/>
                </a:lnTo>
                <a:lnTo>
                  <a:pt x="1522" y="255"/>
                </a:lnTo>
                <a:lnTo>
                  <a:pt x="1522" y="253"/>
                </a:lnTo>
                <a:lnTo>
                  <a:pt x="1521" y="252"/>
                </a:lnTo>
                <a:lnTo>
                  <a:pt x="1522" y="250"/>
                </a:lnTo>
                <a:lnTo>
                  <a:pt x="1522" y="248"/>
                </a:lnTo>
                <a:lnTo>
                  <a:pt x="1523" y="246"/>
                </a:lnTo>
                <a:lnTo>
                  <a:pt x="1524" y="245"/>
                </a:lnTo>
                <a:lnTo>
                  <a:pt x="1525" y="244"/>
                </a:lnTo>
                <a:lnTo>
                  <a:pt x="1526" y="243"/>
                </a:lnTo>
                <a:lnTo>
                  <a:pt x="1528" y="242"/>
                </a:lnTo>
                <a:lnTo>
                  <a:pt x="1530" y="242"/>
                </a:lnTo>
                <a:lnTo>
                  <a:pt x="1531" y="241"/>
                </a:lnTo>
                <a:close/>
                <a:moveTo>
                  <a:pt x="392" y="241"/>
                </a:moveTo>
                <a:lnTo>
                  <a:pt x="393" y="241"/>
                </a:lnTo>
                <a:lnTo>
                  <a:pt x="395" y="242"/>
                </a:lnTo>
                <a:lnTo>
                  <a:pt x="397" y="242"/>
                </a:lnTo>
                <a:lnTo>
                  <a:pt x="398" y="243"/>
                </a:lnTo>
                <a:lnTo>
                  <a:pt x="400" y="244"/>
                </a:lnTo>
                <a:lnTo>
                  <a:pt x="401" y="246"/>
                </a:lnTo>
                <a:lnTo>
                  <a:pt x="402" y="247"/>
                </a:lnTo>
                <a:lnTo>
                  <a:pt x="402" y="249"/>
                </a:lnTo>
                <a:lnTo>
                  <a:pt x="403" y="250"/>
                </a:lnTo>
                <a:lnTo>
                  <a:pt x="403" y="252"/>
                </a:lnTo>
                <a:lnTo>
                  <a:pt x="403" y="254"/>
                </a:lnTo>
                <a:lnTo>
                  <a:pt x="402" y="255"/>
                </a:lnTo>
                <a:lnTo>
                  <a:pt x="402" y="257"/>
                </a:lnTo>
                <a:lnTo>
                  <a:pt x="401" y="258"/>
                </a:lnTo>
                <a:lnTo>
                  <a:pt x="400" y="260"/>
                </a:lnTo>
                <a:lnTo>
                  <a:pt x="398" y="261"/>
                </a:lnTo>
                <a:lnTo>
                  <a:pt x="397" y="262"/>
                </a:lnTo>
                <a:lnTo>
                  <a:pt x="395" y="262"/>
                </a:lnTo>
                <a:lnTo>
                  <a:pt x="393" y="263"/>
                </a:lnTo>
                <a:lnTo>
                  <a:pt x="392" y="263"/>
                </a:lnTo>
                <a:lnTo>
                  <a:pt x="390" y="263"/>
                </a:lnTo>
                <a:lnTo>
                  <a:pt x="388" y="262"/>
                </a:lnTo>
                <a:lnTo>
                  <a:pt x="387" y="262"/>
                </a:lnTo>
                <a:lnTo>
                  <a:pt x="385" y="261"/>
                </a:lnTo>
                <a:lnTo>
                  <a:pt x="384" y="260"/>
                </a:lnTo>
                <a:lnTo>
                  <a:pt x="383" y="258"/>
                </a:lnTo>
                <a:lnTo>
                  <a:pt x="382" y="257"/>
                </a:lnTo>
                <a:lnTo>
                  <a:pt x="381" y="255"/>
                </a:lnTo>
                <a:lnTo>
                  <a:pt x="381" y="254"/>
                </a:lnTo>
                <a:lnTo>
                  <a:pt x="380" y="252"/>
                </a:lnTo>
                <a:lnTo>
                  <a:pt x="381" y="250"/>
                </a:lnTo>
                <a:lnTo>
                  <a:pt x="381" y="249"/>
                </a:lnTo>
                <a:lnTo>
                  <a:pt x="382" y="247"/>
                </a:lnTo>
                <a:lnTo>
                  <a:pt x="383" y="246"/>
                </a:lnTo>
                <a:lnTo>
                  <a:pt x="384" y="244"/>
                </a:lnTo>
                <a:lnTo>
                  <a:pt x="385" y="243"/>
                </a:lnTo>
                <a:lnTo>
                  <a:pt x="387" y="242"/>
                </a:lnTo>
                <a:lnTo>
                  <a:pt x="388" y="242"/>
                </a:lnTo>
                <a:lnTo>
                  <a:pt x="390" y="241"/>
                </a:lnTo>
                <a:lnTo>
                  <a:pt x="392" y="241"/>
                </a:lnTo>
                <a:close/>
                <a:moveTo>
                  <a:pt x="334" y="236"/>
                </a:moveTo>
                <a:lnTo>
                  <a:pt x="336" y="237"/>
                </a:lnTo>
                <a:lnTo>
                  <a:pt x="338" y="238"/>
                </a:lnTo>
                <a:lnTo>
                  <a:pt x="340" y="239"/>
                </a:lnTo>
                <a:lnTo>
                  <a:pt x="341" y="241"/>
                </a:lnTo>
                <a:lnTo>
                  <a:pt x="341" y="243"/>
                </a:lnTo>
                <a:lnTo>
                  <a:pt x="341" y="245"/>
                </a:lnTo>
                <a:lnTo>
                  <a:pt x="340" y="247"/>
                </a:lnTo>
                <a:lnTo>
                  <a:pt x="338" y="248"/>
                </a:lnTo>
                <a:lnTo>
                  <a:pt x="336" y="249"/>
                </a:lnTo>
                <a:lnTo>
                  <a:pt x="334" y="249"/>
                </a:lnTo>
                <a:lnTo>
                  <a:pt x="332" y="249"/>
                </a:lnTo>
                <a:lnTo>
                  <a:pt x="330" y="248"/>
                </a:lnTo>
                <a:lnTo>
                  <a:pt x="329" y="247"/>
                </a:lnTo>
                <a:lnTo>
                  <a:pt x="328" y="245"/>
                </a:lnTo>
                <a:lnTo>
                  <a:pt x="328" y="243"/>
                </a:lnTo>
                <a:lnTo>
                  <a:pt x="328" y="241"/>
                </a:lnTo>
                <a:lnTo>
                  <a:pt x="329" y="239"/>
                </a:lnTo>
                <a:lnTo>
                  <a:pt x="330" y="238"/>
                </a:lnTo>
                <a:lnTo>
                  <a:pt x="332" y="237"/>
                </a:lnTo>
                <a:lnTo>
                  <a:pt x="334" y="236"/>
                </a:lnTo>
                <a:close/>
                <a:moveTo>
                  <a:pt x="1589" y="233"/>
                </a:moveTo>
                <a:lnTo>
                  <a:pt x="1590" y="233"/>
                </a:lnTo>
                <a:lnTo>
                  <a:pt x="1592" y="234"/>
                </a:lnTo>
                <a:lnTo>
                  <a:pt x="1594" y="235"/>
                </a:lnTo>
                <a:lnTo>
                  <a:pt x="1595" y="236"/>
                </a:lnTo>
                <a:lnTo>
                  <a:pt x="1596" y="237"/>
                </a:lnTo>
                <a:lnTo>
                  <a:pt x="1597" y="239"/>
                </a:lnTo>
                <a:lnTo>
                  <a:pt x="1598" y="241"/>
                </a:lnTo>
                <a:lnTo>
                  <a:pt x="1598" y="242"/>
                </a:lnTo>
                <a:lnTo>
                  <a:pt x="1598" y="244"/>
                </a:lnTo>
                <a:lnTo>
                  <a:pt x="1597" y="246"/>
                </a:lnTo>
                <a:lnTo>
                  <a:pt x="1596" y="248"/>
                </a:lnTo>
                <a:lnTo>
                  <a:pt x="1595" y="249"/>
                </a:lnTo>
                <a:lnTo>
                  <a:pt x="1594" y="250"/>
                </a:lnTo>
                <a:lnTo>
                  <a:pt x="1592" y="251"/>
                </a:lnTo>
                <a:lnTo>
                  <a:pt x="1590" y="252"/>
                </a:lnTo>
                <a:lnTo>
                  <a:pt x="1589" y="252"/>
                </a:lnTo>
                <a:lnTo>
                  <a:pt x="1587" y="252"/>
                </a:lnTo>
                <a:lnTo>
                  <a:pt x="1585" y="251"/>
                </a:lnTo>
                <a:lnTo>
                  <a:pt x="1583" y="250"/>
                </a:lnTo>
                <a:lnTo>
                  <a:pt x="1582" y="249"/>
                </a:lnTo>
                <a:lnTo>
                  <a:pt x="1581" y="248"/>
                </a:lnTo>
                <a:lnTo>
                  <a:pt x="1580" y="246"/>
                </a:lnTo>
                <a:lnTo>
                  <a:pt x="1579" y="244"/>
                </a:lnTo>
                <a:lnTo>
                  <a:pt x="1579" y="242"/>
                </a:lnTo>
                <a:lnTo>
                  <a:pt x="1579" y="241"/>
                </a:lnTo>
                <a:lnTo>
                  <a:pt x="1580" y="239"/>
                </a:lnTo>
                <a:lnTo>
                  <a:pt x="1581" y="237"/>
                </a:lnTo>
                <a:lnTo>
                  <a:pt x="1582" y="236"/>
                </a:lnTo>
                <a:lnTo>
                  <a:pt x="1583" y="235"/>
                </a:lnTo>
                <a:lnTo>
                  <a:pt x="1585" y="234"/>
                </a:lnTo>
                <a:lnTo>
                  <a:pt x="1587" y="233"/>
                </a:lnTo>
                <a:lnTo>
                  <a:pt x="1589" y="233"/>
                </a:lnTo>
                <a:close/>
                <a:moveTo>
                  <a:pt x="508" y="221"/>
                </a:moveTo>
                <a:lnTo>
                  <a:pt x="510" y="221"/>
                </a:lnTo>
                <a:lnTo>
                  <a:pt x="511" y="222"/>
                </a:lnTo>
                <a:lnTo>
                  <a:pt x="512" y="224"/>
                </a:lnTo>
                <a:lnTo>
                  <a:pt x="512" y="226"/>
                </a:lnTo>
                <a:lnTo>
                  <a:pt x="512" y="228"/>
                </a:lnTo>
                <a:lnTo>
                  <a:pt x="511" y="229"/>
                </a:lnTo>
                <a:lnTo>
                  <a:pt x="510" y="230"/>
                </a:lnTo>
                <a:lnTo>
                  <a:pt x="508" y="231"/>
                </a:lnTo>
                <a:lnTo>
                  <a:pt x="506" y="230"/>
                </a:lnTo>
                <a:lnTo>
                  <a:pt x="504" y="229"/>
                </a:lnTo>
                <a:lnTo>
                  <a:pt x="503" y="228"/>
                </a:lnTo>
                <a:lnTo>
                  <a:pt x="503" y="226"/>
                </a:lnTo>
                <a:lnTo>
                  <a:pt x="503" y="224"/>
                </a:lnTo>
                <a:lnTo>
                  <a:pt x="504" y="222"/>
                </a:lnTo>
                <a:lnTo>
                  <a:pt x="506" y="221"/>
                </a:lnTo>
                <a:lnTo>
                  <a:pt x="508" y="221"/>
                </a:lnTo>
                <a:close/>
                <a:moveTo>
                  <a:pt x="1476" y="201"/>
                </a:moveTo>
                <a:lnTo>
                  <a:pt x="1478" y="201"/>
                </a:lnTo>
                <a:lnTo>
                  <a:pt x="1480" y="202"/>
                </a:lnTo>
                <a:lnTo>
                  <a:pt x="1482" y="202"/>
                </a:lnTo>
                <a:lnTo>
                  <a:pt x="1483" y="203"/>
                </a:lnTo>
                <a:lnTo>
                  <a:pt x="1484" y="205"/>
                </a:lnTo>
                <a:lnTo>
                  <a:pt x="1485" y="206"/>
                </a:lnTo>
                <a:lnTo>
                  <a:pt x="1486" y="208"/>
                </a:lnTo>
                <a:lnTo>
                  <a:pt x="1486" y="209"/>
                </a:lnTo>
                <a:lnTo>
                  <a:pt x="1486" y="211"/>
                </a:lnTo>
                <a:lnTo>
                  <a:pt x="1486" y="213"/>
                </a:lnTo>
                <a:lnTo>
                  <a:pt x="1486" y="215"/>
                </a:lnTo>
                <a:lnTo>
                  <a:pt x="1485" y="216"/>
                </a:lnTo>
                <a:lnTo>
                  <a:pt x="1484" y="218"/>
                </a:lnTo>
                <a:lnTo>
                  <a:pt x="1483" y="219"/>
                </a:lnTo>
                <a:lnTo>
                  <a:pt x="1482" y="220"/>
                </a:lnTo>
                <a:lnTo>
                  <a:pt x="1480" y="221"/>
                </a:lnTo>
                <a:lnTo>
                  <a:pt x="1478" y="221"/>
                </a:lnTo>
                <a:lnTo>
                  <a:pt x="1476" y="221"/>
                </a:lnTo>
                <a:lnTo>
                  <a:pt x="1475" y="221"/>
                </a:lnTo>
                <a:lnTo>
                  <a:pt x="1473" y="221"/>
                </a:lnTo>
                <a:lnTo>
                  <a:pt x="1471" y="220"/>
                </a:lnTo>
                <a:lnTo>
                  <a:pt x="1470" y="219"/>
                </a:lnTo>
                <a:lnTo>
                  <a:pt x="1469" y="218"/>
                </a:lnTo>
                <a:lnTo>
                  <a:pt x="1468" y="216"/>
                </a:lnTo>
                <a:lnTo>
                  <a:pt x="1467" y="215"/>
                </a:lnTo>
                <a:lnTo>
                  <a:pt x="1467" y="213"/>
                </a:lnTo>
                <a:lnTo>
                  <a:pt x="1466" y="211"/>
                </a:lnTo>
                <a:lnTo>
                  <a:pt x="1467" y="209"/>
                </a:lnTo>
                <a:lnTo>
                  <a:pt x="1467" y="208"/>
                </a:lnTo>
                <a:lnTo>
                  <a:pt x="1468" y="206"/>
                </a:lnTo>
                <a:lnTo>
                  <a:pt x="1469" y="205"/>
                </a:lnTo>
                <a:lnTo>
                  <a:pt x="1470" y="203"/>
                </a:lnTo>
                <a:lnTo>
                  <a:pt x="1471" y="202"/>
                </a:lnTo>
                <a:lnTo>
                  <a:pt x="1473" y="202"/>
                </a:lnTo>
                <a:lnTo>
                  <a:pt x="1475" y="201"/>
                </a:lnTo>
                <a:lnTo>
                  <a:pt x="1476" y="201"/>
                </a:lnTo>
                <a:close/>
                <a:moveTo>
                  <a:pt x="447" y="200"/>
                </a:moveTo>
                <a:lnTo>
                  <a:pt x="449" y="201"/>
                </a:lnTo>
                <a:lnTo>
                  <a:pt x="450" y="201"/>
                </a:lnTo>
                <a:lnTo>
                  <a:pt x="452" y="202"/>
                </a:lnTo>
                <a:lnTo>
                  <a:pt x="453" y="203"/>
                </a:lnTo>
                <a:lnTo>
                  <a:pt x="455" y="204"/>
                </a:lnTo>
                <a:lnTo>
                  <a:pt x="456" y="205"/>
                </a:lnTo>
                <a:lnTo>
                  <a:pt x="457" y="206"/>
                </a:lnTo>
                <a:lnTo>
                  <a:pt x="457" y="208"/>
                </a:lnTo>
                <a:lnTo>
                  <a:pt x="458" y="210"/>
                </a:lnTo>
                <a:lnTo>
                  <a:pt x="458" y="211"/>
                </a:lnTo>
                <a:lnTo>
                  <a:pt x="458" y="213"/>
                </a:lnTo>
                <a:lnTo>
                  <a:pt x="457" y="215"/>
                </a:lnTo>
                <a:lnTo>
                  <a:pt x="457" y="216"/>
                </a:lnTo>
                <a:lnTo>
                  <a:pt x="456" y="218"/>
                </a:lnTo>
                <a:lnTo>
                  <a:pt x="455" y="219"/>
                </a:lnTo>
                <a:lnTo>
                  <a:pt x="453" y="220"/>
                </a:lnTo>
                <a:lnTo>
                  <a:pt x="452" y="221"/>
                </a:lnTo>
                <a:lnTo>
                  <a:pt x="450" y="222"/>
                </a:lnTo>
                <a:lnTo>
                  <a:pt x="449" y="222"/>
                </a:lnTo>
                <a:lnTo>
                  <a:pt x="447" y="222"/>
                </a:lnTo>
                <a:lnTo>
                  <a:pt x="445" y="222"/>
                </a:lnTo>
                <a:lnTo>
                  <a:pt x="443" y="222"/>
                </a:lnTo>
                <a:lnTo>
                  <a:pt x="442" y="221"/>
                </a:lnTo>
                <a:lnTo>
                  <a:pt x="440" y="220"/>
                </a:lnTo>
                <a:lnTo>
                  <a:pt x="439" y="219"/>
                </a:lnTo>
                <a:lnTo>
                  <a:pt x="438" y="218"/>
                </a:lnTo>
                <a:lnTo>
                  <a:pt x="437" y="216"/>
                </a:lnTo>
                <a:lnTo>
                  <a:pt x="436" y="215"/>
                </a:lnTo>
                <a:lnTo>
                  <a:pt x="436" y="213"/>
                </a:lnTo>
                <a:lnTo>
                  <a:pt x="436" y="211"/>
                </a:lnTo>
                <a:lnTo>
                  <a:pt x="436" y="210"/>
                </a:lnTo>
                <a:lnTo>
                  <a:pt x="436" y="208"/>
                </a:lnTo>
                <a:lnTo>
                  <a:pt x="437" y="206"/>
                </a:lnTo>
                <a:lnTo>
                  <a:pt x="438" y="205"/>
                </a:lnTo>
                <a:lnTo>
                  <a:pt x="439" y="204"/>
                </a:lnTo>
                <a:lnTo>
                  <a:pt x="440" y="203"/>
                </a:lnTo>
                <a:lnTo>
                  <a:pt x="442" y="202"/>
                </a:lnTo>
                <a:lnTo>
                  <a:pt x="443" y="201"/>
                </a:lnTo>
                <a:lnTo>
                  <a:pt x="445" y="201"/>
                </a:lnTo>
                <a:lnTo>
                  <a:pt x="447" y="200"/>
                </a:lnTo>
                <a:close/>
                <a:moveTo>
                  <a:pt x="388" y="193"/>
                </a:moveTo>
                <a:lnTo>
                  <a:pt x="390" y="194"/>
                </a:lnTo>
                <a:lnTo>
                  <a:pt x="391" y="194"/>
                </a:lnTo>
                <a:lnTo>
                  <a:pt x="392" y="195"/>
                </a:lnTo>
                <a:lnTo>
                  <a:pt x="394" y="197"/>
                </a:lnTo>
                <a:lnTo>
                  <a:pt x="394" y="198"/>
                </a:lnTo>
                <a:lnTo>
                  <a:pt x="394" y="200"/>
                </a:lnTo>
                <a:lnTo>
                  <a:pt x="394" y="202"/>
                </a:lnTo>
                <a:lnTo>
                  <a:pt x="394" y="204"/>
                </a:lnTo>
                <a:lnTo>
                  <a:pt x="392" y="205"/>
                </a:lnTo>
                <a:lnTo>
                  <a:pt x="391" y="206"/>
                </a:lnTo>
                <a:lnTo>
                  <a:pt x="390" y="207"/>
                </a:lnTo>
                <a:lnTo>
                  <a:pt x="388" y="207"/>
                </a:lnTo>
                <a:lnTo>
                  <a:pt x="386" y="207"/>
                </a:lnTo>
                <a:lnTo>
                  <a:pt x="384" y="206"/>
                </a:lnTo>
                <a:lnTo>
                  <a:pt x="383" y="205"/>
                </a:lnTo>
                <a:lnTo>
                  <a:pt x="382" y="204"/>
                </a:lnTo>
                <a:lnTo>
                  <a:pt x="381" y="202"/>
                </a:lnTo>
                <a:lnTo>
                  <a:pt x="381" y="200"/>
                </a:lnTo>
                <a:lnTo>
                  <a:pt x="381" y="198"/>
                </a:lnTo>
                <a:lnTo>
                  <a:pt x="382" y="197"/>
                </a:lnTo>
                <a:lnTo>
                  <a:pt x="383" y="195"/>
                </a:lnTo>
                <a:lnTo>
                  <a:pt x="384" y="194"/>
                </a:lnTo>
                <a:lnTo>
                  <a:pt x="386" y="194"/>
                </a:lnTo>
                <a:lnTo>
                  <a:pt x="388" y="193"/>
                </a:lnTo>
                <a:close/>
                <a:moveTo>
                  <a:pt x="1535" y="190"/>
                </a:moveTo>
                <a:lnTo>
                  <a:pt x="1537" y="190"/>
                </a:lnTo>
                <a:lnTo>
                  <a:pt x="1539" y="191"/>
                </a:lnTo>
                <a:lnTo>
                  <a:pt x="1541" y="192"/>
                </a:lnTo>
                <a:lnTo>
                  <a:pt x="1542" y="193"/>
                </a:lnTo>
                <a:lnTo>
                  <a:pt x="1543" y="194"/>
                </a:lnTo>
                <a:lnTo>
                  <a:pt x="1544" y="196"/>
                </a:lnTo>
                <a:lnTo>
                  <a:pt x="1545" y="198"/>
                </a:lnTo>
                <a:lnTo>
                  <a:pt x="1545" y="200"/>
                </a:lnTo>
                <a:lnTo>
                  <a:pt x="1545" y="201"/>
                </a:lnTo>
                <a:lnTo>
                  <a:pt x="1544" y="203"/>
                </a:lnTo>
                <a:lnTo>
                  <a:pt x="1543" y="205"/>
                </a:lnTo>
                <a:lnTo>
                  <a:pt x="1542" y="206"/>
                </a:lnTo>
                <a:lnTo>
                  <a:pt x="1541" y="207"/>
                </a:lnTo>
                <a:lnTo>
                  <a:pt x="1539" y="208"/>
                </a:lnTo>
                <a:lnTo>
                  <a:pt x="1537" y="209"/>
                </a:lnTo>
                <a:lnTo>
                  <a:pt x="1535" y="209"/>
                </a:lnTo>
                <a:lnTo>
                  <a:pt x="1534" y="209"/>
                </a:lnTo>
                <a:lnTo>
                  <a:pt x="1532" y="208"/>
                </a:lnTo>
                <a:lnTo>
                  <a:pt x="1530" y="207"/>
                </a:lnTo>
                <a:lnTo>
                  <a:pt x="1529" y="206"/>
                </a:lnTo>
                <a:lnTo>
                  <a:pt x="1528" y="205"/>
                </a:lnTo>
                <a:lnTo>
                  <a:pt x="1527" y="203"/>
                </a:lnTo>
                <a:lnTo>
                  <a:pt x="1526" y="201"/>
                </a:lnTo>
                <a:lnTo>
                  <a:pt x="1526" y="200"/>
                </a:lnTo>
                <a:lnTo>
                  <a:pt x="1526" y="198"/>
                </a:lnTo>
                <a:lnTo>
                  <a:pt x="1527" y="196"/>
                </a:lnTo>
                <a:lnTo>
                  <a:pt x="1528" y="194"/>
                </a:lnTo>
                <a:lnTo>
                  <a:pt x="1529" y="193"/>
                </a:lnTo>
                <a:lnTo>
                  <a:pt x="1530" y="192"/>
                </a:lnTo>
                <a:lnTo>
                  <a:pt x="1532" y="191"/>
                </a:lnTo>
                <a:lnTo>
                  <a:pt x="1534" y="190"/>
                </a:lnTo>
                <a:lnTo>
                  <a:pt x="1535" y="190"/>
                </a:lnTo>
                <a:close/>
                <a:moveTo>
                  <a:pt x="567" y="187"/>
                </a:moveTo>
                <a:lnTo>
                  <a:pt x="569" y="187"/>
                </a:lnTo>
                <a:lnTo>
                  <a:pt x="571" y="189"/>
                </a:lnTo>
                <a:lnTo>
                  <a:pt x="572" y="190"/>
                </a:lnTo>
                <a:lnTo>
                  <a:pt x="573" y="192"/>
                </a:lnTo>
                <a:lnTo>
                  <a:pt x="572" y="194"/>
                </a:lnTo>
                <a:lnTo>
                  <a:pt x="571" y="196"/>
                </a:lnTo>
                <a:lnTo>
                  <a:pt x="569" y="197"/>
                </a:lnTo>
                <a:lnTo>
                  <a:pt x="567" y="198"/>
                </a:lnTo>
                <a:lnTo>
                  <a:pt x="565" y="197"/>
                </a:lnTo>
                <a:lnTo>
                  <a:pt x="563" y="196"/>
                </a:lnTo>
                <a:lnTo>
                  <a:pt x="562" y="194"/>
                </a:lnTo>
                <a:lnTo>
                  <a:pt x="562" y="192"/>
                </a:lnTo>
                <a:lnTo>
                  <a:pt x="562" y="190"/>
                </a:lnTo>
                <a:lnTo>
                  <a:pt x="563" y="189"/>
                </a:lnTo>
                <a:lnTo>
                  <a:pt x="565" y="187"/>
                </a:lnTo>
                <a:lnTo>
                  <a:pt x="567" y="187"/>
                </a:lnTo>
                <a:close/>
                <a:moveTo>
                  <a:pt x="1418" y="165"/>
                </a:moveTo>
                <a:lnTo>
                  <a:pt x="1420" y="165"/>
                </a:lnTo>
                <a:lnTo>
                  <a:pt x="1422" y="165"/>
                </a:lnTo>
                <a:lnTo>
                  <a:pt x="1424" y="166"/>
                </a:lnTo>
                <a:lnTo>
                  <a:pt x="1425" y="167"/>
                </a:lnTo>
                <a:lnTo>
                  <a:pt x="1426" y="168"/>
                </a:lnTo>
                <a:lnTo>
                  <a:pt x="1427" y="170"/>
                </a:lnTo>
                <a:lnTo>
                  <a:pt x="1428" y="171"/>
                </a:lnTo>
                <a:lnTo>
                  <a:pt x="1429" y="173"/>
                </a:lnTo>
                <a:lnTo>
                  <a:pt x="1429" y="175"/>
                </a:lnTo>
                <a:lnTo>
                  <a:pt x="1429" y="177"/>
                </a:lnTo>
                <a:lnTo>
                  <a:pt x="1428" y="178"/>
                </a:lnTo>
                <a:lnTo>
                  <a:pt x="1427" y="180"/>
                </a:lnTo>
                <a:lnTo>
                  <a:pt x="1426" y="181"/>
                </a:lnTo>
                <a:lnTo>
                  <a:pt x="1425" y="183"/>
                </a:lnTo>
                <a:lnTo>
                  <a:pt x="1424" y="184"/>
                </a:lnTo>
                <a:lnTo>
                  <a:pt x="1422" y="184"/>
                </a:lnTo>
                <a:lnTo>
                  <a:pt x="1420" y="185"/>
                </a:lnTo>
                <a:lnTo>
                  <a:pt x="1418" y="185"/>
                </a:lnTo>
                <a:lnTo>
                  <a:pt x="1417" y="185"/>
                </a:lnTo>
                <a:lnTo>
                  <a:pt x="1415" y="184"/>
                </a:lnTo>
                <a:lnTo>
                  <a:pt x="1413" y="184"/>
                </a:lnTo>
                <a:lnTo>
                  <a:pt x="1412" y="183"/>
                </a:lnTo>
                <a:lnTo>
                  <a:pt x="1411" y="181"/>
                </a:lnTo>
                <a:lnTo>
                  <a:pt x="1410" y="180"/>
                </a:lnTo>
                <a:lnTo>
                  <a:pt x="1409" y="178"/>
                </a:lnTo>
                <a:lnTo>
                  <a:pt x="1408" y="177"/>
                </a:lnTo>
                <a:lnTo>
                  <a:pt x="1408" y="175"/>
                </a:lnTo>
                <a:lnTo>
                  <a:pt x="1408" y="173"/>
                </a:lnTo>
                <a:lnTo>
                  <a:pt x="1409" y="171"/>
                </a:lnTo>
                <a:lnTo>
                  <a:pt x="1410" y="170"/>
                </a:lnTo>
                <a:lnTo>
                  <a:pt x="1411" y="168"/>
                </a:lnTo>
                <a:lnTo>
                  <a:pt x="1412" y="167"/>
                </a:lnTo>
                <a:lnTo>
                  <a:pt x="1413" y="166"/>
                </a:lnTo>
                <a:lnTo>
                  <a:pt x="1415" y="165"/>
                </a:lnTo>
                <a:lnTo>
                  <a:pt x="1417" y="165"/>
                </a:lnTo>
                <a:lnTo>
                  <a:pt x="1418" y="165"/>
                </a:lnTo>
                <a:close/>
                <a:moveTo>
                  <a:pt x="504" y="164"/>
                </a:moveTo>
                <a:lnTo>
                  <a:pt x="506" y="164"/>
                </a:lnTo>
                <a:lnTo>
                  <a:pt x="508" y="164"/>
                </a:lnTo>
                <a:lnTo>
                  <a:pt x="509" y="165"/>
                </a:lnTo>
                <a:lnTo>
                  <a:pt x="511" y="166"/>
                </a:lnTo>
                <a:lnTo>
                  <a:pt x="512" y="167"/>
                </a:lnTo>
                <a:lnTo>
                  <a:pt x="513" y="168"/>
                </a:lnTo>
                <a:lnTo>
                  <a:pt x="514" y="170"/>
                </a:lnTo>
                <a:lnTo>
                  <a:pt x="515" y="171"/>
                </a:lnTo>
                <a:lnTo>
                  <a:pt x="515" y="173"/>
                </a:lnTo>
                <a:lnTo>
                  <a:pt x="515" y="175"/>
                </a:lnTo>
                <a:lnTo>
                  <a:pt x="515" y="177"/>
                </a:lnTo>
                <a:lnTo>
                  <a:pt x="515" y="178"/>
                </a:lnTo>
                <a:lnTo>
                  <a:pt x="514" y="180"/>
                </a:lnTo>
                <a:lnTo>
                  <a:pt x="513" y="181"/>
                </a:lnTo>
                <a:lnTo>
                  <a:pt x="512" y="183"/>
                </a:lnTo>
                <a:lnTo>
                  <a:pt x="511" y="184"/>
                </a:lnTo>
                <a:lnTo>
                  <a:pt x="509" y="185"/>
                </a:lnTo>
                <a:lnTo>
                  <a:pt x="508" y="185"/>
                </a:lnTo>
                <a:lnTo>
                  <a:pt x="506" y="186"/>
                </a:lnTo>
                <a:lnTo>
                  <a:pt x="504" y="186"/>
                </a:lnTo>
                <a:lnTo>
                  <a:pt x="503" y="186"/>
                </a:lnTo>
                <a:lnTo>
                  <a:pt x="501" y="185"/>
                </a:lnTo>
                <a:lnTo>
                  <a:pt x="499" y="185"/>
                </a:lnTo>
                <a:lnTo>
                  <a:pt x="498" y="184"/>
                </a:lnTo>
                <a:lnTo>
                  <a:pt x="497" y="183"/>
                </a:lnTo>
                <a:lnTo>
                  <a:pt x="495" y="181"/>
                </a:lnTo>
                <a:lnTo>
                  <a:pt x="495" y="180"/>
                </a:lnTo>
                <a:lnTo>
                  <a:pt x="494" y="178"/>
                </a:lnTo>
                <a:lnTo>
                  <a:pt x="493" y="177"/>
                </a:lnTo>
                <a:lnTo>
                  <a:pt x="493" y="175"/>
                </a:lnTo>
                <a:lnTo>
                  <a:pt x="493" y="173"/>
                </a:lnTo>
                <a:lnTo>
                  <a:pt x="494" y="171"/>
                </a:lnTo>
                <a:lnTo>
                  <a:pt x="495" y="170"/>
                </a:lnTo>
                <a:lnTo>
                  <a:pt x="495" y="168"/>
                </a:lnTo>
                <a:lnTo>
                  <a:pt x="497" y="167"/>
                </a:lnTo>
                <a:lnTo>
                  <a:pt x="498" y="166"/>
                </a:lnTo>
                <a:lnTo>
                  <a:pt x="499" y="165"/>
                </a:lnTo>
                <a:lnTo>
                  <a:pt x="501" y="164"/>
                </a:lnTo>
                <a:lnTo>
                  <a:pt x="503" y="164"/>
                </a:lnTo>
                <a:lnTo>
                  <a:pt x="504" y="164"/>
                </a:lnTo>
                <a:close/>
                <a:moveTo>
                  <a:pt x="629" y="158"/>
                </a:moveTo>
                <a:lnTo>
                  <a:pt x="631" y="158"/>
                </a:lnTo>
                <a:lnTo>
                  <a:pt x="633" y="159"/>
                </a:lnTo>
                <a:lnTo>
                  <a:pt x="634" y="160"/>
                </a:lnTo>
                <a:lnTo>
                  <a:pt x="635" y="162"/>
                </a:lnTo>
                <a:lnTo>
                  <a:pt x="635" y="164"/>
                </a:lnTo>
                <a:lnTo>
                  <a:pt x="635" y="166"/>
                </a:lnTo>
                <a:lnTo>
                  <a:pt x="634" y="167"/>
                </a:lnTo>
                <a:lnTo>
                  <a:pt x="633" y="169"/>
                </a:lnTo>
                <a:lnTo>
                  <a:pt x="631" y="169"/>
                </a:lnTo>
                <a:lnTo>
                  <a:pt x="629" y="170"/>
                </a:lnTo>
                <a:lnTo>
                  <a:pt x="627" y="169"/>
                </a:lnTo>
                <a:lnTo>
                  <a:pt x="625" y="169"/>
                </a:lnTo>
                <a:lnTo>
                  <a:pt x="624" y="167"/>
                </a:lnTo>
                <a:lnTo>
                  <a:pt x="623" y="166"/>
                </a:lnTo>
                <a:lnTo>
                  <a:pt x="623" y="164"/>
                </a:lnTo>
                <a:lnTo>
                  <a:pt x="623" y="162"/>
                </a:lnTo>
                <a:lnTo>
                  <a:pt x="624" y="160"/>
                </a:lnTo>
                <a:lnTo>
                  <a:pt x="625" y="159"/>
                </a:lnTo>
                <a:lnTo>
                  <a:pt x="627" y="158"/>
                </a:lnTo>
                <a:lnTo>
                  <a:pt x="629" y="158"/>
                </a:lnTo>
                <a:close/>
                <a:moveTo>
                  <a:pt x="444" y="154"/>
                </a:moveTo>
                <a:lnTo>
                  <a:pt x="446" y="154"/>
                </a:lnTo>
                <a:lnTo>
                  <a:pt x="447" y="155"/>
                </a:lnTo>
                <a:lnTo>
                  <a:pt x="449" y="156"/>
                </a:lnTo>
                <a:lnTo>
                  <a:pt x="450" y="157"/>
                </a:lnTo>
                <a:lnTo>
                  <a:pt x="451" y="159"/>
                </a:lnTo>
                <a:lnTo>
                  <a:pt x="451" y="161"/>
                </a:lnTo>
                <a:lnTo>
                  <a:pt x="451" y="163"/>
                </a:lnTo>
                <a:lnTo>
                  <a:pt x="450" y="164"/>
                </a:lnTo>
                <a:lnTo>
                  <a:pt x="449" y="166"/>
                </a:lnTo>
                <a:lnTo>
                  <a:pt x="447" y="167"/>
                </a:lnTo>
                <a:lnTo>
                  <a:pt x="446" y="168"/>
                </a:lnTo>
                <a:lnTo>
                  <a:pt x="444" y="168"/>
                </a:lnTo>
                <a:lnTo>
                  <a:pt x="442" y="168"/>
                </a:lnTo>
                <a:lnTo>
                  <a:pt x="440" y="167"/>
                </a:lnTo>
                <a:lnTo>
                  <a:pt x="439" y="166"/>
                </a:lnTo>
                <a:lnTo>
                  <a:pt x="437" y="164"/>
                </a:lnTo>
                <a:lnTo>
                  <a:pt x="437" y="163"/>
                </a:lnTo>
                <a:lnTo>
                  <a:pt x="436" y="161"/>
                </a:lnTo>
                <a:lnTo>
                  <a:pt x="437" y="159"/>
                </a:lnTo>
                <a:lnTo>
                  <a:pt x="437" y="157"/>
                </a:lnTo>
                <a:lnTo>
                  <a:pt x="439" y="156"/>
                </a:lnTo>
                <a:lnTo>
                  <a:pt x="440" y="155"/>
                </a:lnTo>
                <a:lnTo>
                  <a:pt x="442" y="154"/>
                </a:lnTo>
                <a:lnTo>
                  <a:pt x="444" y="154"/>
                </a:lnTo>
                <a:close/>
                <a:moveTo>
                  <a:pt x="1296" y="153"/>
                </a:moveTo>
                <a:lnTo>
                  <a:pt x="1296" y="153"/>
                </a:lnTo>
                <a:lnTo>
                  <a:pt x="1298" y="153"/>
                </a:lnTo>
                <a:lnTo>
                  <a:pt x="1299" y="154"/>
                </a:lnTo>
                <a:lnTo>
                  <a:pt x="1300" y="154"/>
                </a:lnTo>
                <a:lnTo>
                  <a:pt x="1296" y="153"/>
                </a:lnTo>
                <a:close/>
                <a:moveTo>
                  <a:pt x="1479" y="152"/>
                </a:moveTo>
                <a:lnTo>
                  <a:pt x="1481" y="152"/>
                </a:lnTo>
                <a:lnTo>
                  <a:pt x="1483" y="152"/>
                </a:lnTo>
                <a:lnTo>
                  <a:pt x="1484" y="153"/>
                </a:lnTo>
                <a:lnTo>
                  <a:pt x="1486" y="154"/>
                </a:lnTo>
                <a:lnTo>
                  <a:pt x="1487" y="156"/>
                </a:lnTo>
                <a:lnTo>
                  <a:pt x="1488" y="157"/>
                </a:lnTo>
                <a:lnTo>
                  <a:pt x="1488" y="159"/>
                </a:lnTo>
                <a:lnTo>
                  <a:pt x="1488" y="161"/>
                </a:lnTo>
                <a:lnTo>
                  <a:pt x="1488" y="163"/>
                </a:lnTo>
                <a:lnTo>
                  <a:pt x="1488" y="164"/>
                </a:lnTo>
                <a:lnTo>
                  <a:pt x="1487" y="166"/>
                </a:lnTo>
                <a:lnTo>
                  <a:pt x="1486" y="167"/>
                </a:lnTo>
                <a:lnTo>
                  <a:pt x="1484" y="169"/>
                </a:lnTo>
                <a:lnTo>
                  <a:pt x="1483" y="169"/>
                </a:lnTo>
                <a:lnTo>
                  <a:pt x="1481" y="170"/>
                </a:lnTo>
                <a:lnTo>
                  <a:pt x="1479" y="170"/>
                </a:lnTo>
                <a:lnTo>
                  <a:pt x="1477" y="170"/>
                </a:lnTo>
                <a:lnTo>
                  <a:pt x="1475" y="169"/>
                </a:lnTo>
                <a:lnTo>
                  <a:pt x="1474" y="169"/>
                </a:lnTo>
                <a:lnTo>
                  <a:pt x="1472" y="167"/>
                </a:lnTo>
                <a:lnTo>
                  <a:pt x="1471" y="166"/>
                </a:lnTo>
                <a:lnTo>
                  <a:pt x="1470" y="164"/>
                </a:lnTo>
                <a:lnTo>
                  <a:pt x="1470" y="163"/>
                </a:lnTo>
                <a:lnTo>
                  <a:pt x="1470" y="161"/>
                </a:lnTo>
                <a:lnTo>
                  <a:pt x="1470" y="159"/>
                </a:lnTo>
                <a:lnTo>
                  <a:pt x="1470" y="157"/>
                </a:lnTo>
                <a:lnTo>
                  <a:pt x="1471" y="156"/>
                </a:lnTo>
                <a:lnTo>
                  <a:pt x="1472" y="154"/>
                </a:lnTo>
                <a:lnTo>
                  <a:pt x="1474" y="153"/>
                </a:lnTo>
                <a:lnTo>
                  <a:pt x="1475" y="152"/>
                </a:lnTo>
                <a:lnTo>
                  <a:pt x="1477" y="152"/>
                </a:lnTo>
                <a:lnTo>
                  <a:pt x="1479" y="152"/>
                </a:lnTo>
                <a:close/>
                <a:moveTo>
                  <a:pt x="693" y="134"/>
                </a:moveTo>
                <a:lnTo>
                  <a:pt x="695" y="134"/>
                </a:lnTo>
                <a:lnTo>
                  <a:pt x="697" y="135"/>
                </a:lnTo>
                <a:lnTo>
                  <a:pt x="698" y="136"/>
                </a:lnTo>
                <a:lnTo>
                  <a:pt x="699" y="138"/>
                </a:lnTo>
                <a:lnTo>
                  <a:pt x="699" y="140"/>
                </a:lnTo>
                <a:lnTo>
                  <a:pt x="699" y="142"/>
                </a:lnTo>
                <a:lnTo>
                  <a:pt x="698" y="144"/>
                </a:lnTo>
                <a:lnTo>
                  <a:pt x="697" y="145"/>
                </a:lnTo>
                <a:lnTo>
                  <a:pt x="695" y="146"/>
                </a:lnTo>
                <a:lnTo>
                  <a:pt x="693" y="146"/>
                </a:lnTo>
                <a:lnTo>
                  <a:pt x="691" y="146"/>
                </a:lnTo>
                <a:lnTo>
                  <a:pt x="689" y="145"/>
                </a:lnTo>
                <a:lnTo>
                  <a:pt x="688" y="144"/>
                </a:lnTo>
                <a:lnTo>
                  <a:pt x="687" y="142"/>
                </a:lnTo>
                <a:lnTo>
                  <a:pt x="687" y="140"/>
                </a:lnTo>
                <a:lnTo>
                  <a:pt x="687" y="138"/>
                </a:lnTo>
                <a:lnTo>
                  <a:pt x="688" y="136"/>
                </a:lnTo>
                <a:lnTo>
                  <a:pt x="689" y="135"/>
                </a:lnTo>
                <a:lnTo>
                  <a:pt x="691" y="134"/>
                </a:lnTo>
                <a:lnTo>
                  <a:pt x="693" y="134"/>
                </a:lnTo>
                <a:close/>
                <a:moveTo>
                  <a:pt x="1358" y="132"/>
                </a:moveTo>
                <a:lnTo>
                  <a:pt x="1360" y="133"/>
                </a:lnTo>
                <a:lnTo>
                  <a:pt x="1362" y="133"/>
                </a:lnTo>
                <a:lnTo>
                  <a:pt x="1363" y="134"/>
                </a:lnTo>
                <a:lnTo>
                  <a:pt x="1365" y="135"/>
                </a:lnTo>
                <a:lnTo>
                  <a:pt x="1366" y="136"/>
                </a:lnTo>
                <a:lnTo>
                  <a:pt x="1367" y="137"/>
                </a:lnTo>
                <a:lnTo>
                  <a:pt x="1368" y="139"/>
                </a:lnTo>
                <a:lnTo>
                  <a:pt x="1368" y="141"/>
                </a:lnTo>
                <a:lnTo>
                  <a:pt x="1369" y="143"/>
                </a:lnTo>
                <a:lnTo>
                  <a:pt x="1368" y="145"/>
                </a:lnTo>
                <a:lnTo>
                  <a:pt x="1368" y="146"/>
                </a:lnTo>
                <a:lnTo>
                  <a:pt x="1367" y="148"/>
                </a:lnTo>
                <a:lnTo>
                  <a:pt x="1366" y="149"/>
                </a:lnTo>
                <a:lnTo>
                  <a:pt x="1365" y="151"/>
                </a:lnTo>
                <a:lnTo>
                  <a:pt x="1363" y="152"/>
                </a:lnTo>
                <a:lnTo>
                  <a:pt x="1362" y="152"/>
                </a:lnTo>
                <a:lnTo>
                  <a:pt x="1360" y="153"/>
                </a:lnTo>
                <a:lnTo>
                  <a:pt x="1358" y="153"/>
                </a:lnTo>
                <a:lnTo>
                  <a:pt x="1356" y="153"/>
                </a:lnTo>
                <a:lnTo>
                  <a:pt x="1354" y="152"/>
                </a:lnTo>
                <a:lnTo>
                  <a:pt x="1353" y="152"/>
                </a:lnTo>
                <a:lnTo>
                  <a:pt x="1351" y="151"/>
                </a:lnTo>
                <a:lnTo>
                  <a:pt x="1350" y="149"/>
                </a:lnTo>
                <a:lnTo>
                  <a:pt x="1349" y="148"/>
                </a:lnTo>
                <a:lnTo>
                  <a:pt x="1348" y="146"/>
                </a:lnTo>
                <a:lnTo>
                  <a:pt x="1348" y="145"/>
                </a:lnTo>
                <a:lnTo>
                  <a:pt x="1348" y="143"/>
                </a:lnTo>
                <a:lnTo>
                  <a:pt x="1348" y="141"/>
                </a:lnTo>
                <a:lnTo>
                  <a:pt x="1348" y="139"/>
                </a:lnTo>
                <a:lnTo>
                  <a:pt x="1349" y="137"/>
                </a:lnTo>
                <a:lnTo>
                  <a:pt x="1350" y="136"/>
                </a:lnTo>
                <a:lnTo>
                  <a:pt x="1351" y="135"/>
                </a:lnTo>
                <a:lnTo>
                  <a:pt x="1353" y="134"/>
                </a:lnTo>
                <a:lnTo>
                  <a:pt x="1354" y="133"/>
                </a:lnTo>
                <a:lnTo>
                  <a:pt x="1356" y="133"/>
                </a:lnTo>
                <a:lnTo>
                  <a:pt x="1358" y="132"/>
                </a:lnTo>
                <a:close/>
                <a:moveTo>
                  <a:pt x="565" y="132"/>
                </a:moveTo>
                <a:lnTo>
                  <a:pt x="567" y="132"/>
                </a:lnTo>
                <a:lnTo>
                  <a:pt x="568" y="132"/>
                </a:lnTo>
                <a:lnTo>
                  <a:pt x="570" y="133"/>
                </a:lnTo>
                <a:lnTo>
                  <a:pt x="571" y="134"/>
                </a:lnTo>
                <a:lnTo>
                  <a:pt x="573" y="135"/>
                </a:lnTo>
                <a:lnTo>
                  <a:pt x="574" y="136"/>
                </a:lnTo>
                <a:lnTo>
                  <a:pt x="575" y="138"/>
                </a:lnTo>
                <a:lnTo>
                  <a:pt x="575" y="139"/>
                </a:lnTo>
                <a:lnTo>
                  <a:pt x="576" y="141"/>
                </a:lnTo>
                <a:lnTo>
                  <a:pt x="576" y="143"/>
                </a:lnTo>
                <a:lnTo>
                  <a:pt x="576" y="145"/>
                </a:lnTo>
                <a:lnTo>
                  <a:pt x="575" y="146"/>
                </a:lnTo>
                <a:lnTo>
                  <a:pt x="575" y="148"/>
                </a:lnTo>
                <a:lnTo>
                  <a:pt x="574" y="149"/>
                </a:lnTo>
                <a:lnTo>
                  <a:pt x="573" y="151"/>
                </a:lnTo>
                <a:lnTo>
                  <a:pt x="571" y="152"/>
                </a:lnTo>
                <a:lnTo>
                  <a:pt x="570" y="153"/>
                </a:lnTo>
                <a:lnTo>
                  <a:pt x="568" y="153"/>
                </a:lnTo>
                <a:lnTo>
                  <a:pt x="567" y="154"/>
                </a:lnTo>
                <a:lnTo>
                  <a:pt x="565" y="154"/>
                </a:lnTo>
                <a:lnTo>
                  <a:pt x="563" y="154"/>
                </a:lnTo>
                <a:lnTo>
                  <a:pt x="561" y="153"/>
                </a:lnTo>
                <a:lnTo>
                  <a:pt x="560" y="153"/>
                </a:lnTo>
                <a:lnTo>
                  <a:pt x="558" y="152"/>
                </a:lnTo>
                <a:lnTo>
                  <a:pt x="557" y="151"/>
                </a:lnTo>
                <a:lnTo>
                  <a:pt x="556" y="149"/>
                </a:lnTo>
                <a:lnTo>
                  <a:pt x="555" y="148"/>
                </a:lnTo>
                <a:lnTo>
                  <a:pt x="554" y="146"/>
                </a:lnTo>
                <a:lnTo>
                  <a:pt x="554" y="145"/>
                </a:lnTo>
                <a:lnTo>
                  <a:pt x="554" y="143"/>
                </a:lnTo>
                <a:lnTo>
                  <a:pt x="554" y="141"/>
                </a:lnTo>
                <a:lnTo>
                  <a:pt x="554" y="139"/>
                </a:lnTo>
                <a:lnTo>
                  <a:pt x="555" y="138"/>
                </a:lnTo>
                <a:lnTo>
                  <a:pt x="556" y="136"/>
                </a:lnTo>
                <a:lnTo>
                  <a:pt x="557" y="135"/>
                </a:lnTo>
                <a:lnTo>
                  <a:pt x="558" y="134"/>
                </a:lnTo>
                <a:lnTo>
                  <a:pt x="560" y="133"/>
                </a:lnTo>
                <a:lnTo>
                  <a:pt x="561" y="132"/>
                </a:lnTo>
                <a:lnTo>
                  <a:pt x="563" y="132"/>
                </a:lnTo>
                <a:lnTo>
                  <a:pt x="565" y="132"/>
                </a:lnTo>
                <a:close/>
                <a:moveTo>
                  <a:pt x="1230" y="130"/>
                </a:moveTo>
                <a:lnTo>
                  <a:pt x="1232" y="130"/>
                </a:lnTo>
                <a:lnTo>
                  <a:pt x="1233" y="130"/>
                </a:lnTo>
                <a:lnTo>
                  <a:pt x="1235" y="131"/>
                </a:lnTo>
                <a:lnTo>
                  <a:pt x="1236" y="132"/>
                </a:lnTo>
                <a:lnTo>
                  <a:pt x="1238" y="133"/>
                </a:lnTo>
                <a:lnTo>
                  <a:pt x="1238" y="133"/>
                </a:lnTo>
                <a:lnTo>
                  <a:pt x="1231" y="131"/>
                </a:lnTo>
                <a:lnTo>
                  <a:pt x="1227" y="130"/>
                </a:lnTo>
                <a:lnTo>
                  <a:pt x="1228" y="130"/>
                </a:lnTo>
                <a:lnTo>
                  <a:pt x="1230" y="130"/>
                </a:lnTo>
                <a:close/>
                <a:moveTo>
                  <a:pt x="502" y="119"/>
                </a:moveTo>
                <a:lnTo>
                  <a:pt x="504" y="119"/>
                </a:lnTo>
                <a:lnTo>
                  <a:pt x="506" y="120"/>
                </a:lnTo>
                <a:lnTo>
                  <a:pt x="508" y="121"/>
                </a:lnTo>
                <a:lnTo>
                  <a:pt x="509" y="122"/>
                </a:lnTo>
                <a:lnTo>
                  <a:pt x="509" y="124"/>
                </a:lnTo>
                <a:lnTo>
                  <a:pt x="510" y="126"/>
                </a:lnTo>
                <a:lnTo>
                  <a:pt x="509" y="128"/>
                </a:lnTo>
                <a:lnTo>
                  <a:pt x="509" y="130"/>
                </a:lnTo>
                <a:lnTo>
                  <a:pt x="508" y="131"/>
                </a:lnTo>
                <a:lnTo>
                  <a:pt x="506" y="132"/>
                </a:lnTo>
                <a:lnTo>
                  <a:pt x="504" y="133"/>
                </a:lnTo>
                <a:lnTo>
                  <a:pt x="502" y="133"/>
                </a:lnTo>
                <a:lnTo>
                  <a:pt x="500" y="133"/>
                </a:lnTo>
                <a:lnTo>
                  <a:pt x="499" y="132"/>
                </a:lnTo>
                <a:lnTo>
                  <a:pt x="497" y="131"/>
                </a:lnTo>
                <a:lnTo>
                  <a:pt x="496" y="130"/>
                </a:lnTo>
                <a:lnTo>
                  <a:pt x="495" y="128"/>
                </a:lnTo>
                <a:lnTo>
                  <a:pt x="495" y="126"/>
                </a:lnTo>
                <a:lnTo>
                  <a:pt x="495" y="124"/>
                </a:lnTo>
                <a:lnTo>
                  <a:pt x="496" y="122"/>
                </a:lnTo>
                <a:lnTo>
                  <a:pt x="497" y="121"/>
                </a:lnTo>
                <a:lnTo>
                  <a:pt x="499" y="120"/>
                </a:lnTo>
                <a:lnTo>
                  <a:pt x="500" y="119"/>
                </a:lnTo>
                <a:lnTo>
                  <a:pt x="502" y="119"/>
                </a:lnTo>
                <a:close/>
                <a:moveTo>
                  <a:pt x="1420" y="117"/>
                </a:moveTo>
                <a:lnTo>
                  <a:pt x="1422" y="117"/>
                </a:lnTo>
                <a:lnTo>
                  <a:pt x="1424" y="117"/>
                </a:lnTo>
                <a:lnTo>
                  <a:pt x="1425" y="118"/>
                </a:lnTo>
                <a:lnTo>
                  <a:pt x="1427" y="119"/>
                </a:lnTo>
                <a:lnTo>
                  <a:pt x="1428" y="121"/>
                </a:lnTo>
                <a:lnTo>
                  <a:pt x="1429" y="122"/>
                </a:lnTo>
                <a:lnTo>
                  <a:pt x="1429" y="124"/>
                </a:lnTo>
                <a:lnTo>
                  <a:pt x="1430" y="126"/>
                </a:lnTo>
                <a:lnTo>
                  <a:pt x="1429" y="128"/>
                </a:lnTo>
                <a:lnTo>
                  <a:pt x="1429" y="130"/>
                </a:lnTo>
                <a:lnTo>
                  <a:pt x="1428" y="131"/>
                </a:lnTo>
                <a:lnTo>
                  <a:pt x="1427" y="132"/>
                </a:lnTo>
                <a:lnTo>
                  <a:pt x="1425" y="134"/>
                </a:lnTo>
                <a:lnTo>
                  <a:pt x="1424" y="134"/>
                </a:lnTo>
                <a:lnTo>
                  <a:pt x="1422" y="135"/>
                </a:lnTo>
                <a:lnTo>
                  <a:pt x="1420" y="135"/>
                </a:lnTo>
                <a:lnTo>
                  <a:pt x="1418" y="135"/>
                </a:lnTo>
                <a:lnTo>
                  <a:pt x="1417" y="134"/>
                </a:lnTo>
                <a:lnTo>
                  <a:pt x="1415" y="134"/>
                </a:lnTo>
                <a:lnTo>
                  <a:pt x="1414" y="132"/>
                </a:lnTo>
                <a:lnTo>
                  <a:pt x="1413" y="131"/>
                </a:lnTo>
                <a:lnTo>
                  <a:pt x="1412" y="130"/>
                </a:lnTo>
                <a:lnTo>
                  <a:pt x="1411" y="128"/>
                </a:lnTo>
                <a:lnTo>
                  <a:pt x="1411" y="126"/>
                </a:lnTo>
                <a:lnTo>
                  <a:pt x="1411" y="124"/>
                </a:lnTo>
                <a:lnTo>
                  <a:pt x="1412" y="122"/>
                </a:lnTo>
                <a:lnTo>
                  <a:pt x="1413" y="121"/>
                </a:lnTo>
                <a:lnTo>
                  <a:pt x="1414" y="119"/>
                </a:lnTo>
                <a:lnTo>
                  <a:pt x="1415" y="118"/>
                </a:lnTo>
                <a:lnTo>
                  <a:pt x="1417" y="117"/>
                </a:lnTo>
                <a:lnTo>
                  <a:pt x="1418" y="117"/>
                </a:lnTo>
                <a:lnTo>
                  <a:pt x="1420" y="117"/>
                </a:lnTo>
                <a:close/>
                <a:moveTo>
                  <a:pt x="759" y="115"/>
                </a:moveTo>
                <a:lnTo>
                  <a:pt x="760" y="115"/>
                </a:lnTo>
                <a:lnTo>
                  <a:pt x="762" y="116"/>
                </a:lnTo>
                <a:lnTo>
                  <a:pt x="764" y="117"/>
                </a:lnTo>
                <a:lnTo>
                  <a:pt x="765" y="118"/>
                </a:lnTo>
                <a:lnTo>
                  <a:pt x="765" y="120"/>
                </a:lnTo>
                <a:lnTo>
                  <a:pt x="766" y="122"/>
                </a:lnTo>
                <a:lnTo>
                  <a:pt x="765" y="124"/>
                </a:lnTo>
                <a:lnTo>
                  <a:pt x="765" y="125"/>
                </a:lnTo>
                <a:lnTo>
                  <a:pt x="764" y="126"/>
                </a:lnTo>
                <a:lnTo>
                  <a:pt x="757" y="128"/>
                </a:lnTo>
                <a:lnTo>
                  <a:pt x="755" y="128"/>
                </a:lnTo>
                <a:lnTo>
                  <a:pt x="754" y="127"/>
                </a:lnTo>
                <a:lnTo>
                  <a:pt x="753" y="125"/>
                </a:lnTo>
                <a:lnTo>
                  <a:pt x="752" y="124"/>
                </a:lnTo>
                <a:lnTo>
                  <a:pt x="752" y="122"/>
                </a:lnTo>
                <a:lnTo>
                  <a:pt x="752" y="120"/>
                </a:lnTo>
                <a:lnTo>
                  <a:pt x="753" y="118"/>
                </a:lnTo>
                <a:lnTo>
                  <a:pt x="754" y="117"/>
                </a:lnTo>
                <a:lnTo>
                  <a:pt x="755" y="116"/>
                </a:lnTo>
                <a:lnTo>
                  <a:pt x="757" y="115"/>
                </a:lnTo>
                <a:lnTo>
                  <a:pt x="759" y="115"/>
                </a:lnTo>
                <a:close/>
                <a:moveTo>
                  <a:pt x="1164" y="111"/>
                </a:moveTo>
                <a:lnTo>
                  <a:pt x="1166" y="112"/>
                </a:lnTo>
                <a:lnTo>
                  <a:pt x="1168" y="112"/>
                </a:lnTo>
                <a:lnTo>
                  <a:pt x="1169" y="113"/>
                </a:lnTo>
                <a:lnTo>
                  <a:pt x="1171" y="114"/>
                </a:lnTo>
                <a:lnTo>
                  <a:pt x="1172" y="115"/>
                </a:lnTo>
                <a:lnTo>
                  <a:pt x="1173" y="116"/>
                </a:lnTo>
                <a:lnTo>
                  <a:pt x="1173" y="117"/>
                </a:lnTo>
                <a:lnTo>
                  <a:pt x="1167" y="115"/>
                </a:lnTo>
                <a:lnTo>
                  <a:pt x="1158" y="113"/>
                </a:lnTo>
                <a:lnTo>
                  <a:pt x="1159" y="113"/>
                </a:lnTo>
                <a:lnTo>
                  <a:pt x="1161" y="112"/>
                </a:lnTo>
                <a:lnTo>
                  <a:pt x="1162" y="112"/>
                </a:lnTo>
                <a:lnTo>
                  <a:pt x="1164" y="111"/>
                </a:lnTo>
                <a:close/>
                <a:moveTo>
                  <a:pt x="1296" y="105"/>
                </a:moveTo>
                <a:lnTo>
                  <a:pt x="1297" y="105"/>
                </a:lnTo>
                <a:lnTo>
                  <a:pt x="1299" y="106"/>
                </a:lnTo>
                <a:lnTo>
                  <a:pt x="1301" y="106"/>
                </a:lnTo>
                <a:lnTo>
                  <a:pt x="1302" y="107"/>
                </a:lnTo>
                <a:lnTo>
                  <a:pt x="1304" y="109"/>
                </a:lnTo>
                <a:lnTo>
                  <a:pt x="1305" y="110"/>
                </a:lnTo>
                <a:lnTo>
                  <a:pt x="1305" y="112"/>
                </a:lnTo>
                <a:lnTo>
                  <a:pt x="1306" y="113"/>
                </a:lnTo>
                <a:lnTo>
                  <a:pt x="1306" y="115"/>
                </a:lnTo>
                <a:lnTo>
                  <a:pt x="1306" y="117"/>
                </a:lnTo>
                <a:lnTo>
                  <a:pt x="1305" y="119"/>
                </a:lnTo>
                <a:lnTo>
                  <a:pt x="1305" y="121"/>
                </a:lnTo>
                <a:lnTo>
                  <a:pt x="1304" y="122"/>
                </a:lnTo>
                <a:lnTo>
                  <a:pt x="1302" y="123"/>
                </a:lnTo>
                <a:lnTo>
                  <a:pt x="1301" y="124"/>
                </a:lnTo>
                <a:lnTo>
                  <a:pt x="1299" y="125"/>
                </a:lnTo>
                <a:lnTo>
                  <a:pt x="1297" y="126"/>
                </a:lnTo>
                <a:lnTo>
                  <a:pt x="1296" y="126"/>
                </a:lnTo>
                <a:lnTo>
                  <a:pt x="1294" y="126"/>
                </a:lnTo>
                <a:lnTo>
                  <a:pt x="1292" y="125"/>
                </a:lnTo>
                <a:lnTo>
                  <a:pt x="1290" y="124"/>
                </a:lnTo>
                <a:lnTo>
                  <a:pt x="1289" y="123"/>
                </a:lnTo>
                <a:lnTo>
                  <a:pt x="1288" y="122"/>
                </a:lnTo>
                <a:lnTo>
                  <a:pt x="1286" y="121"/>
                </a:lnTo>
                <a:lnTo>
                  <a:pt x="1286" y="119"/>
                </a:lnTo>
                <a:lnTo>
                  <a:pt x="1285" y="117"/>
                </a:lnTo>
                <a:lnTo>
                  <a:pt x="1285" y="115"/>
                </a:lnTo>
                <a:lnTo>
                  <a:pt x="1285" y="113"/>
                </a:lnTo>
                <a:lnTo>
                  <a:pt x="1286" y="112"/>
                </a:lnTo>
                <a:lnTo>
                  <a:pt x="1286" y="110"/>
                </a:lnTo>
                <a:lnTo>
                  <a:pt x="1288" y="109"/>
                </a:lnTo>
                <a:lnTo>
                  <a:pt x="1289" y="107"/>
                </a:lnTo>
                <a:lnTo>
                  <a:pt x="1290" y="106"/>
                </a:lnTo>
                <a:lnTo>
                  <a:pt x="1292" y="106"/>
                </a:lnTo>
                <a:lnTo>
                  <a:pt x="1294" y="105"/>
                </a:lnTo>
                <a:lnTo>
                  <a:pt x="1296" y="105"/>
                </a:lnTo>
                <a:close/>
                <a:moveTo>
                  <a:pt x="627" y="104"/>
                </a:moveTo>
                <a:lnTo>
                  <a:pt x="629" y="105"/>
                </a:lnTo>
                <a:lnTo>
                  <a:pt x="631" y="105"/>
                </a:lnTo>
                <a:lnTo>
                  <a:pt x="632" y="106"/>
                </a:lnTo>
                <a:lnTo>
                  <a:pt x="634" y="107"/>
                </a:lnTo>
                <a:lnTo>
                  <a:pt x="635" y="108"/>
                </a:lnTo>
                <a:lnTo>
                  <a:pt x="636" y="109"/>
                </a:lnTo>
                <a:lnTo>
                  <a:pt x="637" y="110"/>
                </a:lnTo>
                <a:lnTo>
                  <a:pt x="638" y="112"/>
                </a:lnTo>
                <a:lnTo>
                  <a:pt x="638" y="114"/>
                </a:lnTo>
                <a:lnTo>
                  <a:pt x="638" y="115"/>
                </a:lnTo>
                <a:lnTo>
                  <a:pt x="638" y="117"/>
                </a:lnTo>
                <a:lnTo>
                  <a:pt x="638" y="119"/>
                </a:lnTo>
                <a:lnTo>
                  <a:pt x="637" y="120"/>
                </a:lnTo>
                <a:lnTo>
                  <a:pt x="636" y="122"/>
                </a:lnTo>
                <a:lnTo>
                  <a:pt x="635" y="123"/>
                </a:lnTo>
                <a:lnTo>
                  <a:pt x="634" y="124"/>
                </a:lnTo>
                <a:lnTo>
                  <a:pt x="632" y="125"/>
                </a:lnTo>
                <a:lnTo>
                  <a:pt x="631" y="126"/>
                </a:lnTo>
                <a:lnTo>
                  <a:pt x="629" y="126"/>
                </a:lnTo>
                <a:lnTo>
                  <a:pt x="627" y="126"/>
                </a:lnTo>
                <a:lnTo>
                  <a:pt x="626" y="126"/>
                </a:lnTo>
                <a:lnTo>
                  <a:pt x="624" y="126"/>
                </a:lnTo>
                <a:lnTo>
                  <a:pt x="622" y="125"/>
                </a:lnTo>
                <a:lnTo>
                  <a:pt x="621" y="124"/>
                </a:lnTo>
                <a:lnTo>
                  <a:pt x="620" y="123"/>
                </a:lnTo>
                <a:lnTo>
                  <a:pt x="619" y="122"/>
                </a:lnTo>
                <a:lnTo>
                  <a:pt x="618" y="120"/>
                </a:lnTo>
                <a:lnTo>
                  <a:pt x="617" y="119"/>
                </a:lnTo>
                <a:lnTo>
                  <a:pt x="617" y="117"/>
                </a:lnTo>
                <a:lnTo>
                  <a:pt x="616" y="115"/>
                </a:lnTo>
                <a:lnTo>
                  <a:pt x="617" y="114"/>
                </a:lnTo>
                <a:lnTo>
                  <a:pt x="617" y="112"/>
                </a:lnTo>
                <a:lnTo>
                  <a:pt x="618" y="110"/>
                </a:lnTo>
                <a:lnTo>
                  <a:pt x="619" y="109"/>
                </a:lnTo>
                <a:lnTo>
                  <a:pt x="620" y="108"/>
                </a:lnTo>
                <a:lnTo>
                  <a:pt x="621" y="107"/>
                </a:lnTo>
                <a:lnTo>
                  <a:pt x="622" y="106"/>
                </a:lnTo>
                <a:lnTo>
                  <a:pt x="624" y="105"/>
                </a:lnTo>
                <a:lnTo>
                  <a:pt x="626" y="105"/>
                </a:lnTo>
                <a:lnTo>
                  <a:pt x="627" y="104"/>
                </a:lnTo>
                <a:close/>
                <a:moveTo>
                  <a:pt x="826" y="101"/>
                </a:moveTo>
                <a:lnTo>
                  <a:pt x="827" y="101"/>
                </a:lnTo>
                <a:lnTo>
                  <a:pt x="829" y="101"/>
                </a:lnTo>
                <a:lnTo>
                  <a:pt x="830" y="102"/>
                </a:lnTo>
                <a:lnTo>
                  <a:pt x="832" y="104"/>
                </a:lnTo>
                <a:lnTo>
                  <a:pt x="832" y="105"/>
                </a:lnTo>
                <a:lnTo>
                  <a:pt x="833" y="107"/>
                </a:lnTo>
                <a:lnTo>
                  <a:pt x="833" y="108"/>
                </a:lnTo>
                <a:lnTo>
                  <a:pt x="833" y="110"/>
                </a:lnTo>
                <a:lnTo>
                  <a:pt x="833" y="111"/>
                </a:lnTo>
                <a:lnTo>
                  <a:pt x="832" y="111"/>
                </a:lnTo>
                <a:lnTo>
                  <a:pt x="820" y="113"/>
                </a:lnTo>
                <a:lnTo>
                  <a:pt x="820" y="113"/>
                </a:lnTo>
                <a:lnTo>
                  <a:pt x="819" y="112"/>
                </a:lnTo>
                <a:lnTo>
                  <a:pt x="819" y="110"/>
                </a:lnTo>
                <a:lnTo>
                  <a:pt x="818" y="108"/>
                </a:lnTo>
                <a:lnTo>
                  <a:pt x="819" y="107"/>
                </a:lnTo>
                <a:lnTo>
                  <a:pt x="819" y="105"/>
                </a:lnTo>
                <a:lnTo>
                  <a:pt x="820" y="104"/>
                </a:lnTo>
                <a:lnTo>
                  <a:pt x="821" y="102"/>
                </a:lnTo>
                <a:lnTo>
                  <a:pt x="822" y="101"/>
                </a:lnTo>
                <a:lnTo>
                  <a:pt x="824" y="101"/>
                </a:lnTo>
                <a:lnTo>
                  <a:pt x="826" y="101"/>
                </a:lnTo>
                <a:close/>
                <a:moveTo>
                  <a:pt x="1097" y="99"/>
                </a:moveTo>
                <a:lnTo>
                  <a:pt x="1099" y="99"/>
                </a:lnTo>
                <a:lnTo>
                  <a:pt x="1101" y="99"/>
                </a:lnTo>
                <a:lnTo>
                  <a:pt x="1102" y="100"/>
                </a:lnTo>
                <a:lnTo>
                  <a:pt x="1104" y="101"/>
                </a:lnTo>
                <a:lnTo>
                  <a:pt x="1105" y="102"/>
                </a:lnTo>
                <a:lnTo>
                  <a:pt x="1106" y="104"/>
                </a:lnTo>
                <a:lnTo>
                  <a:pt x="1106" y="105"/>
                </a:lnTo>
                <a:lnTo>
                  <a:pt x="1102" y="104"/>
                </a:lnTo>
                <a:lnTo>
                  <a:pt x="1090" y="103"/>
                </a:lnTo>
                <a:lnTo>
                  <a:pt x="1090" y="102"/>
                </a:lnTo>
                <a:lnTo>
                  <a:pt x="1091" y="101"/>
                </a:lnTo>
                <a:lnTo>
                  <a:pt x="1093" y="100"/>
                </a:lnTo>
                <a:lnTo>
                  <a:pt x="1094" y="99"/>
                </a:lnTo>
                <a:lnTo>
                  <a:pt x="1096" y="99"/>
                </a:lnTo>
                <a:lnTo>
                  <a:pt x="1097" y="99"/>
                </a:lnTo>
                <a:close/>
                <a:moveTo>
                  <a:pt x="893" y="92"/>
                </a:moveTo>
                <a:lnTo>
                  <a:pt x="895" y="93"/>
                </a:lnTo>
                <a:lnTo>
                  <a:pt x="897" y="93"/>
                </a:lnTo>
                <a:lnTo>
                  <a:pt x="898" y="94"/>
                </a:lnTo>
                <a:lnTo>
                  <a:pt x="900" y="95"/>
                </a:lnTo>
                <a:lnTo>
                  <a:pt x="901" y="97"/>
                </a:lnTo>
                <a:lnTo>
                  <a:pt x="901" y="98"/>
                </a:lnTo>
                <a:lnTo>
                  <a:pt x="901" y="100"/>
                </a:lnTo>
                <a:lnTo>
                  <a:pt x="901" y="101"/>
                </a:lnTo>
                <a:lnTo>
                  <a:pt x="898" y="102"/>
                </a:lnTo>
                <a:lnTo>
                  <a:pt x="886" y="103"/>
                </a:lnTo>
                <a:lnTo>
                  <a:pt x="886" y="102"/>
                </a:lnTo>
                <a:lnTo>
                  <a:pt x="885" y="100"/>
                </a:lnTo>
                <a:lnTo>
                  <a:pt x="886" y="98"/>
                </a:lnTo>
                <a:lnTo>
                  <a:pt x="886" y="97"/>
                </a:lnTo>
                <a:lnTo>
                  <a:pt x="887" y="95"/>
                </a:lnTo>
                <a:lnTo>
                  <a:pt x="888" y="94"/>
                </a:lnTo>
                <a:lnTo>
                  <a:pt x="890" y="93"/>
                </a:lnTo>
                <a:lnTo>
                  <a:pt x="892" y="93"/>
                </a:lnTo>
                <a:lnTo>
                  <a:pt x="893" y="92"/>
                </a:lnTo>
                <a:close/>
                <a:moveTo>
                  <a:pt x="1030" y="91"/>
                </a:moveTo>
                <a:lnTo>
                  <a:pt x="1032" y="92"/>
                </a:lnTo>
                <a:lnTo>
                  <a:pt x="1033" y="92"/>
                </a:lnTo>
                <a:lnTo>
                  <a:pt x="1035" y="93"/>
                </a:lnTo>
                <a:lnTo>
                  <a:pt x="1036" y="94"/>
                </a:lnTo>
                <a:lnTo>
                  <a:pt x="1037" y="95"/>
                </a:lnTo>
                <a:lnTo>
                  <a:pt x="1038" y="97"/>
                </a:lnTo>
                <a:lnTo>
                  <a:pt x="1039" y="98"/>
                </a:lnTo>
                <a:lnTo>
                  <a:pt x="1035" y="98"/>
                </a:lnTo>
                <a:lnTo>
                  <a:pt x="1021" y="98"/>
                </a:lnTo>
                <a:lnTo>
                  <a:pt x="1021" y="97"/>
                </a:lnTo>
                <a:lnTo>
                  <a:pt x="1022" y="95"/>
                </a:lnTo>
                <a:lnTo>
                  <a:pt x="1023" y="94"/>
                </a:lnTo>
                <a:lnTo>
                  <a:pt x="1025" y="93"/>
                </a:lnTo>
                <a:lnTo>
                  <a:pt x="1026" y="92"/>
                </a:lnTo>
                <a:lnTo>
                  <a:pt x="1028" y="92"/>
                </a:lnTo>
                <a:lnTo>
                  <a:pt x="1030" y="91"/>
                </a:lnTo>
                <a:close/>
                <a:moveTo>
                  <a:pt x="961" y="89"/>
                </a:moveTo>
                <a:lnTo>
                  <a:pt x="963" y="89"/>
                </a:lnTo>
                <a:lnTo>
                  <a:pt x="965" y="90"/>
                </a:lnTo>
                <a:lnTo>
                  <a:pt x="966" y="91"/>
                </a:lnTo>
                <a:lnTo>
                  <a:pt x="967" y="92"/>
                </a:lnTo>
                <a:lnTo>
                  <a:pt x="968" y="93"/>
                </a:lnTo>
                <a:lnTo>
                  <a:pt x="969" y="94"/>
                </a:lnTo>
                <a:lnTo>
                  <a:pt x="970" y="96"/>
                </a:lnTo>
                <a:lnTo>
                  <a:pt x="970" y="97"/>
                </a:lnTo>
                <a:lnTo>
                  <a:pt x="966" y="97"/>
                </a:lnTo>
                <a:lnTo>
                  <a:pt x="953" y="98"/>
                </a:lnTo>
                <a:lnTo>
                  <a:pt x="953" y="98"/>
                </a:lnTo>
                <a:lnTo>
                  <a:pt x="953" y="96"/>
                </a:lnTo>
                <a:lnTo>
                  <a:pt x="954" y="94"/>
                </a:lnTo>
                <a:lnTo>
                  <a:pt x="955" y="93"/>
                </a:lnTo>
                <a:lnTo>
                  <a:pt x="956" y="92"/>
                </a:lnTo>
                <a:lnTo>
                  <a:pt x="957" y="91"/>
                </a:lnTo>
                <a:lnTo>
                  <a:pt x="958" y="90"/>
                </a:lnTo>
                <a:lnTo>
                  <a:pt x="960" y="89"/>
                </a:lnTo>
                <a:lnTo>
                  <a:pt x="961" y="89"/>
                </a:lnTo>
                <a:close/>
                <a:moveTo>
                  <a:pt x="564" y="88"/>
                </a:moveTo>
                <a:lnTo>
                  <a:pt x="565" y="88"/>
                </a:lnTo>
                <a:lnTo>
                  <a:pt x="567" y="88"/>
                </a:lnTo>
                <a:lnTo>
                  <a:pt x="568" y="89"/>
                </a:lnTo>
                <a:lnTo>
                  <a:pt x="570" y="91"/>
                </a:lnTo>
                <a:lnTo>
                  <a:pt x="570" y="92"/>
                </a:lnTo>
                <a:lnTo>
                  <a:pt x="571" y="94"/>
                </a:lnTo>
                <a:lnTo>
                  <a:pt x="571" y="95"/>
                </a:lnTo>
                <a:lnTo>
                  <a:pt x="571" y="97"/>
                </a:lnTo>
                <a:lnTo>
                  <a:pt x="570" y="99"/>
                </a:lnTo>
                <a:lnTo>
                  <a:pt x="570" y="100"/>
                </a:lnTo>
                <a:lnTo>
                  <a:pt x="568" y="101"/>
                </a:lnTo>
                <a:lnTo>
                  <a:pt x="567" y="102"/>
                </a:lnTo>
                <a:lnTo>
                  <a:pt x="565" y="103"/>
                </a:lnTo>
                <a:lnTo>
                  <a:pt x="564" y="103"/>
                </a:lnTo>
                <a:lnTo>
                  <a:pt x="562" y="103"/>
                </a:lnTo>
                <a:lnTo>
                  <a:pt x="560" y="102"/>
                </a:lnTo>
                <a:lnTo>
                  <a:pt x="559" y="101"/>
                </a:lnTo>
                <a:lnTo>
                  <a:pt x="558" y="100"/>
                </a:lnTo>
                <a:lnTo>
                  <a:pt x="557" y="99"/>
                </a:lnTo>
                <a:lnTo>
                  <a:pt x="556" y="97"/>
                </a:lnTo>
                <a:lnTo>
                  <a:pt x="556" y="95"/>
                </a:lnTo>
                <a:lnTo>
                  <a:pt x="556" y="94"/>
                </a:lnTo>
                <a:lnTo>
                  <a:pt x="557" y="92"/>
                </a:lnTo>
                <a:lnTo>
                  <a:pt x="558" y="91"/>
                </a:lnTo>
                <a:lnTo>
                  <a:pt x="559" y="89"/>
                </a:lnTo>
                <a:lnTo>
                  <a:pt x="560" y="88"/>
                </a:lnTo>
                <a:lnTo>
                  <a:pt x="562" y="88"/>
                </a:lnTo>
                <a:lnTo>
                  <a:pt x="564" y="88"/>
                </a:lnTo>
                <a:close/>
                <a:moveTo>
                  <a:pt x="1359" y="86"/>
                </a:moveTo>
                <a:lnTo>
                  <a:pt x="1361" y="86"/>
                </a:lnTo>
                <a:lnTo>
                  <a:pt x="1363" y="87"/>
                </a:lnTo>
                <a:lnTo>
                  <a:pt x="1364" y="87"/>
                </a:lnTo>
                <a:lnTo>
                  <a:pt x="1366" y="89"/>
                </a:lnTo>
                <a:lnTo>
                  <a:pt x="1367" y="90"/>
                </a:lnTo>
                <a:lnTo>
                  <a:pt x="1368" y="91"/>
                </a:lnTo>
                <a:lnTo>
                  <a:pt x="1368" y="93"/>
                </a:lnTo>
                <a:lnTo>
                  <a:pt x="1369" y="95"/>
                </a:lnTo>
                <a:lnTo>
                  <a:pt x="1368" y="97"/>
                </a:lnTo>
                <a:lnTo>
                  <a:pt x="1368" y="99"/>
                </a:lnTo>
                <a:lnTo>
                  <a:pt x="1367" y="100"/>
                </a:lnTo>
                <a:lnTo>
                  <a:pt x="1366" y="102"/>
                </a:lnTo>
                <a:lnTo>
                  <a:pt x="1364" y="103"/>
                </a:lnTo>
                <a:lnTo>
                  <a:pt x="1363" y="104"/>
                </a:lnTo>
                <a:lnTo>
                  <a:pt x="1361" y="104"/>
                </a:lnTo>
                <a:lnTo>
                  <a:pt x="1359" y="104"/>
                </a:lnTo>
                <a:lnTo>
                  <a:pt x="1357" y="104"/>
                </a:lnTo>
                <a:lnTo>
                  <a:pt x="1356" y="104"/>
                </a:lnTo>
                <a:lnTo>
                  <a:pt x="1354" y="103"/>
                </a:lnTo>
                <a:lnTo>
                  <a:pt x="1353" y="102"/>
                </a:lnTo>
                <a:lnTo>
                  <a:pt x="1351" y="100"/>
                </a:lnTo>
                <a:lnTo>
                  <a:pt x="1351" y="99"/>
                </a:lnTo>
                <a:lnTo>
                  <a:pt x="1350" y="97"/>
                </a:lnTo>
                <a:lnTo>
                  <a:pt x="1350" y="95"/>
                </a:lnTo>
                <a:lnTo>
                  <a:pt x="1350" y="93"/>
                </a:lnTo>
                <a:lnTo>
                  <a:pt x="1351" y="91"/>
                </a:lnTo>
                <a:lnTo>
                  <a:pt x="1351" y="90"/>
                </a:lnTo>
                <a:lnTo>
                  <a:pt x="1353" y="89"/>
                </a:lnTo>
                <a:lnTo>
                  <a:pt x="1354" y="87"/>
                </a:lnTo>
                <a:lnTo>
                  <a:pt x="1356" y="87"/>
                </a:lnTo>
                <a:lnTo>
                  <a:pt x="1357" y="86"/>
                </a:lnTo>
                <a:lnTo>
                  <a:pt x="1359" y="86"/>
                </a:lnTo>
                <a:close/>
                <a:moveTo>
                  <a:pt x="1231" y="82"/>
                </a:moveTo>
                <a:lnTo>
                  <a:pt x="1233" y="82"/>
                </a:lnTo>
                <a:lnTo>
                  <a:pt x="1234" y="83"/>
                </a:lnTo>
                <a:lnTo>
                  <a:pt x="1236" y="83"/>
                </a:lnTo>
                <a:lnTo>
                  <a:pt x="1237" y="84"/>
                </a:lnTo>
                <a:lnTo>
                  <a:pt x="1239" y="85"/>
                </a:lnTo>
                <a:lnTo>
                  <a:pt x="1240" y="86"/>
                </a:lnTo>
                <a:lnTo>
                  <a:pt x="1241" y="88"/>
                </a:lnTo>
                <a:lnTo>
                  <a:pt x="1241" y="89"/>
                </a:lnTo>
                <a:lnTo>
                  <a:pt x="1242" y="91"/>
                </a:lnTo>
                <a:lnTo>
                  <a:pt x="1242" y="93"/>
                </a:lnTo>
                <a:lnTo>
                  <a:pt x="1242" y="95"/>
                </a:lnTo>
                <a:lnTo>
                  <a:pt x="1241" y="96"/>
                </a:lnTo>
                <a:lnTo>
                  <a:pt x="1241" y="98"/>
                </a:lnTo>
                <a:lnTo>
                  <a:pt x="1240" y="99"/>
                </a:lnTo>
                <a:lnTo>
                  <a:pt x="1239" y="100"/>
                </a:lnTo>
                <a:lnTo>
                  <a:pt x="1237" y="101"/>
                </a:lnTo>
                <a:lnTo>
                  <a:pt x="1236" y="102"/>
                </a:lnTo>
                <a:lnTo>
                  <a:pt x="1234" y="103"/>
                </a:lnTo>
                <a:lnTo>
                  <a:pt x="1233" y="103"/>
                </a:lnTo>
                <a:lnTo>
                  <a:pt x="1231" y="103"/>
                </a:lnTo>
                <a:lnTo>
                  <a:pt x="1229" y="103"/>
                </a:lnTo>
                <a:lnTo>
                  <a:pt x="1228" y="103"/>
                </a:lnTo>
                <a:lnTo>
                  <a:pt x="1226" y="102"/>
                </a:lnTo>
                <a:lnTo>
                  <a:pt x="1225" y="101"/>
                </a:lnTo>
                <a:lnTo>
                  <a:pt x="1223" y="100"/>
                </a:lnTo>
                <a:lnTo>
                  <a:pt x="1222" y="99"/>
                </a:lnTo>
                <a:lnTo>
                  <a:pt x="1221" y="98"/>
                </a:lnTo>
                <a:lnTo>
                  <a:pt x="1221" y="96"/>
                </a:lnTo>
                <a:lnTo>
                  <a:pt x="1220" y="95"/>
                </a:lnTo>
                <a:lnTo>
                  <a:pt x="1220" y="93"/>
                </a:lnTo>
                <a:lnTo>
                  <a:pt x="1220" y="91"/>
                </a:lnTo>
                <a:lnTo>
                  <a:pt x="1221" y="89"/>
                </a:lnTo>
                <a:lnTo>
                  <a:pt x="1221" y="88"/>
                </a:lnTo>
                <a:lnTo>
                  <a:pt x="1222" y="86"/>
                </a:lnTo>
                <a:lnTo>
                  <a:pt x="1223" y="85"/>
                </a:lnTo>
                <a:lnTo>
                  <a:pt x="1225" y="84"/>
                </a:lnTo>
                <a:lnTo>
                  <a:pt x="1226" y="83"/>
                </a:lnTo>
                <a:lnTo>
                  <a:pt x="1228" y="83"/>
                </a:lnTo>
                <a:lnTo>
                  <a:pt x="1229" y="82"/>
                </a:lnTo>
                <a:lnTo>
                  <a:pt x="1231" y="82"/>
                </a:lnTo>
                <a:close/>
                <a:moveTo>
                  <a:pt x="692" y="82"/>
                </a:moveTo>
                <a:lnTo>
                  <a:pt x="694" y="82"/>
                </a:lnTo>
                <a:lnTo>
                  <a:pt x="696" y="83"/>
                </a:lnTo>
                <a:lnTo>
                  <a:pt x="697" y="83"/>
                </a:lnTo>
                <a:lnTo>
                  <a:pt x="699" y="84"/>
                </a:lnTo>
                <a:lnTo>
                  <a:pt x="700" y="85"/>
                </a:lnTo>
                <a:lnTo>
                  <a:pt x="701" y="87"/>
                </a:lnTo>
                <a:lnTo>
                  <a:pt x="702" y="88"/>
                </a:lnTo>
                <a:lnTo>
                  <a:pt x="703" y="90"/>
                </a:lnTo>
                <a:lnTo>
                  <a:pt x="703" y="91"/>
                </a:lnTo>
                <a:lnTo>
                  <a:pt x="703" y="93"/>
                </a:lnTo>
                <a:lnTo>
                  <a:pt x="703" y="95"/>
                </a:lnTo>
                <a:lnTo>
                  <a:pt x="703" y="96"/>
                </a:lnTo>
                <a:lnTo>
                  <a:pt x="702" y="98"/>
                </a:lnTo>
                <a:lnTo>
                  <a:pt x="701" y="99"/>
                </a:lnTo>
                <a:lnTo>
                  <a:pt x="700" y="101"/>
                </a:lnTo>
                <a:lnTo>
                  <a:pt x="699" y="102"/>
                </a:lnTo>
                <a:lnTo>
                  <a:pt x="697" y="103"/>
                </a:lnTo>
                <a:lnTo>
                  <a:pt x="696" y="103"/>
                </a:lnTo>
                <a:lnTo>
                  <a:pt x="694" y="104"/>
                </a:lnTo>
                <a:lnTo>
                  <a:pt x="692" y="104"/>
                </a:lnTo>
                <a:lnTo>
                  <a:pt x="690" y="104"/>
                </a:lnTo>
                <a:lnTo>
                  <a:pt x="689" y="103"/>
                </a:lnTo>
                <a:lnTo>
                  <a:pt x="687" y="103"/>
                </a:lnTo>
                <a:lnTo>
                  <a:pt x="686" y="102"/>
                </a:lnTo>
                <a:lnTo>
                  <a:pt x="684" y="101"/>
                </a:lnTo>
                <a:lnTo>
                  <a:pt x="683" y="99"/>
                </a:lnTo>
                <a:lnTo>
                  <a:pt x="682" y="98"/>
                </a:lnTo>
                <a:lnTo>
                  <a:pt x="682" y="96"/>
                </a:lnTo>
                <a:lnTo>
                  <a:pt x="681" y="95"/>
                </a:lnTo>
                <a:lnTo>
                  <a:pt x="681" y="93"/>
                </a:lnTo>
                <a:lnTo>
                  <a:pt x="681" y="91"/>
                </a:lnTo>
                <a:lnTo>
                  <a:pt x="682" y="90"/>
                </a:lnTo>
                <a:lnTo>
                  <a:pt x="682" y="88"/>
                </a:lnTo>
                <a:lnTo>
                  <a:pt x="683" y="87"/>
                </a:lnTo>
                <a:lnTo>
                  <a:pt x="684" y="85"/>
                </a:lnTo>
                <a:lnTo>
                  <a:pt x="686" y="84"/>
                </a:lnTo>
                <a:lnTo>
                  <a:pt x="687" y="83"/>
                </a:lnTo>
                <a:lnTo>
                  <a:pt x="689" y="83"/>
                </a:lnTo>
                <a:lnTo>
                  <a:pt x="690" y="82"/>
                </a:lnTo>
                <a:lnTo>
                  <a:pt x="692" y="82"/>
                </a:lnTo>
                <a:close/>
                <a:moveTo>
                  <a:pt x="1165" y="64"/>
                </a:moveTo>
                <a:lnTo>
                  <a:pt x="1167" y="64"/>
                </a:lnTo>
                <a:lnTo>
                  <a:pt x="1168" y="65"/>
                </a:lnTo>
                <a:lnTo>
                  <a:pt x="1170" y="66"/>
                </a:lnTo>
                <a:lnTo>
                  <a:pt x="1171" y="66"/>
                </a:lnTo>
                <a:lnTo>
                  <a:pt x="1172" y="67"/>
                </a:lnTo>
                <a:lnTo>
                  <a:pt x="1173" y="69"/>
                </a:lnTo>
                <a:lnTo>
                  <a:pt x="1174" y="70"/>
                </a:lnTo>
                <a:lnTo>
                  <a:pt x="1175" y="72"/>
                </a:lnTo>
                <a:lnTo>
                  <a:pt x="1175" y="73"/>
                </a:lnTo>
                <a:lnTo>
                  <a:pt x="1175" y="75"/>
                </a:lnTo>
                <a:lnTo>
                  <a:pt x="1175" y="77"/>
                </a:lnTo>
                <a:lnTo>
                  <a:pt x="1175" y="78"/>
                </a:lnTo>
                <a:lnTo>
                  <a:pt x="1174" y="80"/>
                </a:lnTo>
                <a:lnTo>
                  <a:pt x="1173" y="81"/>
                </a:lnTo>
                <a:lnTo>
                  <a:pt x="1172" y="83"/>
                </a:lnTo>
                <a:lnTo>
                  <a:pt x="1171" y="84"/>
                </a:lnTo>
                <a:lnTo>
                  <a:pt x="1170" y="85"/>
                </a:lnTo>
                <a:lnTo>
                  <a:pt x="1168" y="85"/>
                </a:lnTo>
                <a:lnTo>
                  <a:pt x="1167" y="86"/>
                </a:lnTo>
                <a:lnTo>
                  <a:pt x="1165" y="86"/>
                </a:lnTo>
                <a:lnTo>
                  <a:pt x="1163" y="86"/>
                </a:lnTo>
                <a:lnTo>
                  <a:pt x="1162" y="85"/>
                </a:lnTo>
                <a:lnTo>
                  <a:pt x="1160" y="85"/>
                </a:lnTo>
                <a:lnTo>
                  <a:pt x="1159" y="84"/>
                </a:lnTo>
                <a:lnTo>
                  <a:pt x="1158" y="83"/>
                </a:lnTo>
                <a:lnTo>
                  <a:pt x="1157" y="81"/>
                </a:lnTo>
                <a:lnTo>
                  <a:pt x="1156" y="80"/>
                </a:lnTo>
                <a:lnTo>
                  <a:pt x="1155" y="78"/>
                </a:lnTo>
                <a:lnTo>
                  <a:pt x="1155" y="77"/>
                </a:lnTo>
                <a:lnTo>
                  <a:pt x="1155" y="75"/>
                </a:lnTo>
                <a:lnTo>
                  <a:pt x="1155" y="73"/>
                </a:lnTo>
                <a:lnTo>
                  <a:pt x="1155" y="72"/>
                </a:lnTo>
                <a:lnTo>
                  <a:pt x="1156" y="70"/>
                </a:lnTo>
                <a:lnTo>
                  <a:pt x="1157" y="69"/>
                </a:lnTo>
                <a:lnTo>
                  <a:pt x="1158" y="67"/>
                </a:lnTo>
                <a:lnTo>
                  <a:pt x="1159" y="66"/>
                </a:lnTo>
                <a:lnTo>
                  <a:pt x="1160" y="66"/>
                </a:lnTo>
                <a:lnTo>
                  <a:pt x="1162" y="65"/>
                </a:lnTo>
                <a:lnTo>
                  <a:pt x="1163" y="64"/>
                </a:lnTo>
                <a:lnTo>
                  <a:pt x="1165" y="64"/>
                </a:lnTo>
                <a:close/>
                <a:moveTo>
                  <a:pt x="758" y="64"/>
                </a:moveTo>
                <a:lnTo>
                  <a:pt x="760" y="64"/>
                </a:lnTo>
                <a:lnTo>
                  <a:pt x="761" y="65"/>
                </a:lnTo>
                <a:lnTo>
                  <a:pt x="763" y="66"/>
                </a:lnTo>
                <a:lnTo>
                  <a:pt x="764" y="66"/>
                </a:lnTo>
                <a:lnTo>
                  <a:pt x="766" y="68"/>
                </a:lnTo>
                <a:lnTo>
                  <a:pt x="767" y="69"/>
                </a:lnTo>
                <a:lnTo>
                  <a:pt x="768" y="70"/>
                </a:lnTo>
                <a:lnTo>
                  <a:pt x="768" y="72"/>
                </a:lnTo>
                <a:lnTo>
                  <a:pt x="769" y="74"/>
                </a:lnTo>
                <a:lnTo>
                  <a:pt x="769" y="75"/>
                </a:lnTo>
                <a:lnTo>
                  <a:pt x="769" y="77"/>
                </a:lnTo>
                <a:lnTo>
                  <a:pt x="768" y="79"/>
                </a:lnTo>
                <a:lnTo>
                  <a:pt x="768" y="80"/>
                </a:lnTo>
                <a:lnTo>
                  <a:pt x="767" y="82"/>
                </a:lnTo>
                <a:lnTo>
                  <a:pt x="766" y="83"/>
                </a:lnTo>
                <a:lnTo>
                  <a:pt x="764" y="84"/>
                </a:lnTo>
                <a:lnTo>
                  <a:pt x="763" y="85"/>
                </a:lnTo>
                <a:lnTo>
                  <a:pt x="761" y="86"/>
                </a:lnTo>
                <a:lnTo>
                  <a:pt x="760" y="86"/>
                </a:lnTo>
                <a:lnTo>
                  <a:pt x="758" y="86"/>
                </a:lnTo>
                <a:lnTo>
                  <a:pt x="756" y="86"/>
                </a:lnTo>
                <a:lnTo>
                  <a:pt x="754" y="86"/>
                </a:lnTo>
                <a:lnTo>
                  <a:pt x="753" y="85"/>
                </a:lnTo>
                <a:lnTo>
                  <a:pt x="751" y="84"/>
                </a:lnTo>
                <a:lnTo>
                  <a:pt x="750" y="83"/>
                </a:lnTo>
                <a:lnTo>
                  <a:pt x="749" y="82"/>
                </a:lnTo>
                <a:lnTo>
                  <a:pt x="748" y="80"/>
                </a:lnTo>
                <a:lnTo>
                  <a:pt x="748" y="79"/>
                </a:lnTo>
                <a:lnTo>
                  <a:pt x="747" y="77"/>
                </a:lnTo>
                <a:lnTo>
                  <a:pt x="747" y="75"/>
                </a:lnTo>
                <a:lnTo>
                  <a:pt x="747" y="74"/>
                </a:lnTo>
                <a:lnTo>
                  <a:pt x="748" y="72"/>
                </a:lnTo>
                <a:lnTo>
                  <a:pt x="748" y="70"/>
                </a:lnTo>
                <a:lnTo>
                  <a:pt x="749" y="69"/>
                </a:lnTo>
                <a:lnTo>
                  <a:pt x="750" y="68"/>
                </a:lnTo>
                <a:lnTo>
                  <a:pt x="751" y="66"/>
                </a:lnTo>
                <a:lnTo>
                  <a:pt x="753" y="66"/>
                </a:lnTo>
                <a:lnTo>
                  <a:pt x="754" y="65"/>
                </a:lnTo>
                <a:lnTo>
                  <a:pt x="756" y="64"/>
                </a:lnTo>
                <a:lnTo>
                  <a:pt x="758" y="64"/>
                </a:lnTo>
                <a:close/>
                <a:moveTo>
                  <a:pt x="627" y="62"/>
                </a:moveTo>
                <a:lnTo>
                  <a:pt x="628" y="62"/>
                </a:lnTo>
                <a:lnTo>
                  <a:pt x="630" y="62"/>
                </a:lnTo>
                <a:lnTo>
                  <a:pt x="632" y="63"/>
                </a:lnTo>
                <a:lnTo>
                  <a:pt x="633" y="64"/>
                </a:lnTo>
                <a:lnTo>
                  <a:pt x="634" y="66"/>
                </a:lnTo>
                <a:lnTo>
                  <a:pt x="634" y="67"/>
                </a:lnTo>
                <a:lnTo>
                  <a:pt x="635" y="69"/>
                </a:lnTo>
                <a:lnTo>
                  <a:pt x="634" y="71"/>
                </a:lnTo>
                <a:lnTo>
                  <a:pt x="634" y="73"/>
                </a:lnTo>
                <a:lnTo>
                  <a:pt x="633" y="74"/>
                </a:lnTo>
                <a:lnTo>
                  <a:pt x="632" y="75"/>
                </a:lnTo>
                <a:lnTo>
                  <a:pt x="630" y="76"/>
                </a:lnTo>
                <a:lnTo>
                  <a:pt x="628" y="77"/>
                </a:lnTo>
                <a:lnTo>
                  <a:pt x="627" y="77"/>
                </a:lnTo>
                <a:lnTo>
                  <a:pt x="625" y="77"/>
                </a:lnTo>
                <a:lnTo>
                  <a:pt x="623" y="76"/>
                </a:lnTo>
                <a:lnTo>
                  <a:pt x="622" y="75"/>
                </a:lnTo>
                <a:lnTo>
                  <a:pt x="620" y="74"/>
                </a:lnTo>
                <a:lnTo>
                  <a:pt x="620" y="73"/>
                </a:lnTo>
                <a:lnTo>
                  <a:pt x="619" y="71"/>
                </a:lnTo>
                <a:lnTo>
                  <a:pt x="619" y="69"/>
                </a:lnTo>
                <a:lnTo>
                  <a:pt x="619" y="67"/>
                </a:lnTo>
                <a:lnTo>
                  <a:pt x="620" y="66"/>
                </a:lnTo>
                <a:lnTo>
                  <a:pt x="620" y="64"/>
                </a:lnTo>
                <a:lnTo>
                  <a:pt x="622" y="63"/>
                </a:lnTo>
                <a:lnTo>
                  <a:pt x="623" y="62"/>
                </a:lnTo>
                <a:lnTo>
                  <a:pt x="625" y="62"/>
                </a:lnTo>
                <a:lnTo>
                  <a:pt x="627" y="62"/>
                </a:lnTo>
                <a:close/>
                <a:moveTo>
                  <a:pt x="1296" y="60"/>
                </a:moveTo>
                <a:lnTo>
                  <a:pt x="1298" y="60"/>
                </a:lnTo>
                <a:lnTo>
                  <a:pt x="1300" y="60"/>
                </a:lnTo>
                <a:lnTo>
                  <a:pt x="1301" y="61"/>
                </a:lnTo>
                <a:lnTo>
                  <a:pt x="1303" y="62"/>
                </a:lnTo>
                <a:lnTo>
                  <a:pt x="1304" y="64"/>
                </a:lnTo>
                <a:lnTo>
                  <a:pt x="1305" y="65"/>
                </a:lnTo>
                <a:lnTo>
                  <a:pt x="1305" y="67"/>
                </a:lnTo>
                <a:lnTo>
                  <a:pt x="1306" y="69"/>
                </a:lnTo>
                <a:lnTo>
                  <a:pt x="1305" y="71"/>
                </a:lnTo>
                <a:lnTo>
                  <a:pt x="1305" y="73"/>
                </a:lnTo>
                <a:lnTo>
                  <a:pt x="1304" y="74"/>
                </a:lnTo>
                <a:lnTo>
                  <a:pt x="1303" y="76"/>
                </a:lnTo>
                <a:lnTo>
                  <a:pt x="1301" y="77"/>
                </a:lnTo>
                <a:lnTo>
                  <a:pt x="1300" y="78"/>
                </a:lnTo>
                <a:lnTo>
                  <a:pt x="1298" y="78"/>
                </a:lnTo>
                <a:lnTo>
                  <a:pt x="1296" y="78"/>
                </a:lnTo>
                <a:lnTo>
                  <a:pt x="1294" y="78"/>
                </a:lnTo>
                <a:lnTo>
                  <a:pt x="1293" y="78"/>
                </a:lnTo>
                <a:lnTo>
                  <a:pt x="1291" y="77"/>
                </a:lnTo>
                <a:lnTo>
                  <a:pt x="1290" y="76"/>
                </a:lnTo>
                <a:lnTo>
                  <a:pt x="1289" y="74"/>
                </a:lnTo>
                <a:lnTo>
                  <a:pt x="1288" y="73"/>
                </a:lnTo>
                <a:lnTo>
                  <a:pt x="1287" y="71"/>
                </a:lnTo>
                <a:lnTo>
                  <a:pt x="1287" y="69"/>
                </a:lnTo>
                <a:lnTo>
                  <a:pt x="1287" y="67"/>
                </a:lnTo>
                <a:lnTo>
                  <a:pt x="1288" y="65"/>
                </a:lnTo>
                <a:lnTo>
                  <a:pt x="1289" y="64"/>
                </a:lnTo>
                <a:lnTo>
                  <a:pt x="1290" y="62"/>
                </a:lnTo>
                <a:lnTo>
                  <a:pt x="1291" y="61"/>
                </a:lnTo>
                <a:lnTo>
                  <a:pt x="1293" y="60"/>
                </a:lnTo>
                <a:lnTo>
                  <a:pt x="1294" y="60"/>
                </a:lnTo>
                <a:lnTo>
                  <a:pt x="1296" y="60"/>
                </a:lnTo>
                <a:close/>
                <a:moveTo>
                  <a:pt x="1098" y="52"/>
                </a:moveTo>
                <a:lnTo>
                  <a:pt x="1100" y="52"/>
                </a:lnTo>
                <a:lnTo>
                  <a:pt x="1101" y="52"/>
                </a:lnTo>
                <a:lnTo>
                  <a:pt x="1103" y="53"/>
                </a:lnTo>
                <a:lnTo>
                  <a:pt x="1104" y="54"/>
                </a:lnTo>
                <a:lnTo>
                  <a:pt x="1105" y="55"/>
                </a:lnTo>
                <a:lnTo>
                  <a:pt x="1106" y="56"/>
                </a:lnTo>
                <a:lnTo>
                  <a:pt x="1107" y="58"/>
                </a:lnTo>
                <a:lnTo>
                  <a:pt x="1108" y="59"/>
                </a:lnTo>
                <a:lnTo>
                  <a:pt x="1108" y="61"/>
                </a:lnTo>
                <a:lnTo>
                  <a:pt x="1108" y="62"/>
                </a:lnTo>
                <a:lnTo>
                  <a:pt x="1108" y="64"/>
                </a:lnTo>
                <a:lnTo>
                  <a:pt x="1108" y="66"/>
                </a:lnTo>
                <a:lnTo>
                  <a:pt x="1107" y="67"/>
                </a:lnTo>
                <a:lnTo>
                  <a:pt x="1106" y="69"/>
                </a:lnTo>
                <a:lnTo>
                  <a:pt x="1105" y="70"/>
                </a:lnTo>
                <a:lnTo>
                  <a:pt x="1104" y="71"/>
                </a:lnTo>
                <a:lnTo>
                  <a:pt x="1103" y="72"/>
                </a:lnTo>
                <a:lnTo>
                  <a:pt x="1101" y="73"/>
                </a:lnTo>
                <a:lnTo>
                  <a:pt x="1100" y="73"/>
                </a:lnTo>
                <a:lnTo>
                  <a:pt x="1098" y="73"/>
                </a:lnTo>
                <a:lnTo>
                  <a:pt x="1096" y="73"/>
                </a:lnTo>
                <a:lnTo>
                  <a:pt x="1095" y="73"/>
                </a:lnTo>
                <a:lnTo>
                  <a:pt x="1093" y="72"/>
                </a:lnTo>
                <a:lnTo>
                  <a:pt x="1092" y="71"/>
                </a:lnTo>
                <a:lnTo>
                  <a:pt x="1090" y="70"/>
                </a:lnTo>
                <a:lnTo>
                  <a:pt x="1089" y="69"/>
                </a:lnTo>
                <a:lnTo>
                  <a:pt x="1089" y="67"/>
                </a:lnTo>
                <a:lnTo>
                  <a:pt x="1088" y="66"/>
                </a:lnTo>
                <a:lnTo>
                  <a:pt x="1087" y="64"/>
                </a:lnTo>
                <a:lnTo>
                  <a:pt x="1087" y="62"/>
                </a:lnTo>
                <a:lnTo>
                  <a:pt x="1087" y="61"/>
                </a:lnTo>
                <a:lnTo>
                  <a:pt x="1088" y="59"/>
                </a:lnTo>
                <a:lnTo>
                  <a:pt x="1089" y="58"/>
                </a:lnTo>
                <a:lnTo>
                  <a:pt x="1089" y="56"/>
                </a:lnTo>
                <a:lnTo>
                  <a:pt x="1090" y="55"/>
                </a:lnTo>
                <a:lnTo>
                  <a:pt x="1092" y="54"/>
                </a:lnTo>
                <a:lnTo>
                  <a:pt x="1093" y="53"/>
                </a:lnTo>
                <a:lnTo>
                  <a:pt x="1095" y="52"/>
                </a:lnTo>
                <a:lnTo>
                  <a:pt x="1096" y="52"/>
                </a:lnTo>
                <a:lnTo>
                  <a:pt x="1098" y="52"/>
                </a:lnTo>
                <a:close/>
                <a:moveTo>
                  <a:pt x="825" y="52"/>
                </a:moveTo>
                <a:lnTo>
                  <a:pt x="827" y="52"/>
                </a:lnTo>
                <a:lnTo>
                  <a:pt x="829" y="52"/>
                </a:lnTo>
                <a:lnTo>
                  <a:pt x="830" y="53"/>
                </a:lnTo>
                <a:lnTo>
                  <a:pt x="832" y="54"/>
                </a:lnTo>
                <a:lnTo>
                  <a:pt x="833" y="55"/>
                </a:lnTo>
                <a:lnTo>
                  <a:pt x="834" y="56"/>
                </a:lnTo>
                <a:lnTo>
                  <a:pt x="835" y="58"/>
                </a:lnTo>
                <a:lnTo>
                  <a:pt x="835" y="59"/>
                </a:lnTo>
                <a:lnTo>
                  <a:pt x="836" y="61"/>
                </a:lnTo>
                <a:lnTo>
                  <a:pt x="836" y="62"/>
                </a:lnTo>
                <a:lnTo>
                  <a:pt x="836" y="64"/>
                </a:lnTo>
                <a:lnTo>
                  <a:pt x="835" y="66"/>
                </a:lnTo>
                <a:lnTo>
                  <a:pt x="835" y="67"/>
                </a:lnTo>
                <a:lnTo>
                  <a:pt x="834" y="69"/>
                </a:lnTo>
                <a:lnTo>
                  <a:pt x="833" y="70"/>
                </a:lnTo>
                <a:lnTo>
                  <a:pt x="832" y="71"/>
                </a:lnTo>
                <a:lnTo>
                  <a:pt x="830" y="72"/>
                </a:lnTo>
                <a:lnTo>
                  <a:pt x="829" y="73"/>
                </a:lnTo>
                <a:lnTo>
                  <a:pt x="827" y="73"/>
                </a:lnTo>
                <a:lnTo>
                  <a:pt x="825" y="73"/>
                </a:lnTo>
                <a:lnTo>
                  <a:pt x="823" y="73"/>
                </a:lnTo>
                <a:lnTo>
                  <a:pt x="822" y="73"/>
                </a:lnTo>
                <a:lnTo>
                  <a:pt x="820" y="72"/>
                </a:lnTo>
                <a:lnTo>
                  <a:pt x="819" y="71"/>
                </a:lnTo>
                <a:lnTo>
                  <a:pt x="817" y="70"/>
                </a:lnTo>
                <a:lnTo>
                  <a:pt x="816" y="69"/>
                </a:lnTo>
                <a:lnTo>
                  <a:pt x="815" y="67"/>
                </a:lnTo>
                <a:lnTo>
                  <a:pt x="815" y="66"/>
                </a:lnTo>
                <a:lnTo>
                  <a:pt x="814" y="64"/>
                </a:lnTo>
                <a:lnTo>
                  <a:pt x="814" y="62"/>
                </a:lnTo>
                <a:lnTo>
                  <a:pt x="814" y="61"/>
                </a:lnTo>
                <a:lnTo>
                  <a:pt x="815" y="59"/>
                </a:lnTo>
                <a:lnTo>
                  <a:pt x="815" y="58"/>
                </a:lnTo>
                <a:lnTo>
                  <a:pt x="816" y="56"/>
                </a:lnTo>
                <a:lnTo>
                  <a:pt x="817" y="55"/>
                </a:lnTo>
                <a:lnTo>
                  <a:pt x="819" y="54"/>
                </a:lnTo>
                <a:lnTo>
                  <a:pt x="820" y="53"/>
                </a:lnTo>
                <a:lnTo>
                  <a:pt x="822" y="52"/>
                </a:lnTo>
                <a:lnTo>
                  <a:pt x="823" y="52"/>
                </a:lnTo>
                <a:lnTo>
                  <a:pt x="825" y="52"/>
                </a:lnTo>
                <a:close/>
                <a:moveTo>
                  <a:pt x="1030" y="44"/>
                </a:moveTo>
                <a:lnTo>
                  <a:pt x="1032" y="44"/>
                </a:lnTo>
                <a:lnTo>
                  <a:pt x="1033" y="45"/>
                </a:lnTo>
                <a:lnTo>
                  <a:pt x="1035" y="45"/>
                </a:lnTo>
                <a:lnTo>
                  <a:pt x="1036" y="46"/>
                </a:lnTo>
                <a:lnTo>
                  <a:pt x="1038" y="47"/>
                </a:lnTo>
                <a:lnTo>
                  <a:pt x="1039" y="49"/>
                </a:lnTo>
                <a:lnTo>
                  <a:pt x="1040" y="50"/>
                </a:lnTo>
                <a:lnTo>
                  <a:pt x="1040" y="51"/>
                </a:lnTo>
                <a:lnTo>
                  <a:pt x="1041" y="53"/>
                </a:lnTo>
                <a:lnTo>
                  <a:pt x="1041" y="55"/>
                </a:lnTo>
                <a:lnTo>
                  <a:pt x="1041" y="56"/>
                </a:lnTo>
                <a:lnTo>
                  <a:pt x="1040" y="58"/>
                </a:lnTo>
                <a:lnTo>
                  <a:pt x="1040" y="60"/>
                </a:lnTo>
                <a:lnTo>
                  <a:pt x="1039" y="61"/>
                </a:lnTo>
                <a:lnTo>
                  <a:pt x="1038" y="62"/>
                </a:lnTo>
                <a:lnTo>
                  <a:pt x="1036" y="63"/>
                </a:lnTo>
                <a:lnTo>
                  <a:pt x="1035" y="64"/>
                </a:lnTo>
                <a:lnTo>
                  <a:pt x="1033" y="65"/>
                </a:lnTo>
                <a:lnTo>
                  <a:pt x="1032" y="65"/>
                </a:lnTo>
                <a:lnTo>
                  <a:pt x="1030" y="65"/>
                </a:lnTo>
                <a:lnTo>
                  <a:pt x="1028" y="65"/>
                </a:lnTo>
                <a:lnTo>
                  <a:pt x="1026" y="65"/>
                </a:lnTo>
                <a:lnTo>
                  <a:pt x="1025" y="64"/>
                </a:lnTo>
                <a:lnTo>
                  <a:pt x="1023" y="63"/>
                </a:lnTo>
                <a:lnTo>
                  <a:pt x="1022" y="62"/>
                </a:lnTo>
                <a:lnTo>
                  <a:pt x="1021" y="61"/>
                </a:lnTo>
                <a:lnTo>
                  <a:pt x="1020" y="60"/>
                </a:lnTo>
                <a:lnTo>
                  <a:pt x="1019" y="58"/>
                </a:lnTo>
                <a:lnTo>
                  <a:pt x="1019" y="56"/>
                </a:lnTo>
                <a:lnTo>
                  <a:pt x="1019" y="55"/>
                </a:lnTo>
                <a:lnTo>
                  <a:pt x="1019" y="53"/>
                </a:lnTo>
                <a:lnTo>
                  <a:pt x="1019" y="51"/>
                </a:lnTo>
                <a:lnTo>
                  <a:pt x="1020" y="50"/>
                </a:lnTo>
                <a:lnTo>
                  <a:pt x="1021" y="49"/>
                </a:lnTo>
                <a:lnTo>
                  <a:pt x="1022" y="47"/>
                </a:lnTo>
                <a:lnTo>
                  <a:pt x="1023" y="46"/>
                </a:lnTo>
                <a:lnTo>
                  <a:pt x="1025" y="45"/>
                </a:lnTo>
                <a:lnTo>
                  <a:pt x="1026" y="45"/>
                </a:lnTo>
                <a:lnTo>
                  <a:pt x="1028" y="44"/>
                </a:lnTo>
                <a:lnTo>
                  <a:pt x="1030" y="44"/>
                </a:lnTo>
                <a:close/>
                <a:moveTo>
                  <a:pt x="893" y="44"/>
                </a:moveTo>
                <a:lnTo>
                  <a:pt x="895" y="44"/>
                </a:lnTo>
                <a:lnTo>
                  <a:pt x="897" y="44"/>
                </a:lnTo>
                <a:lnTo>
                  <a:pt x="898" y="45"/>
                </a:lnTo>
                <a:lnTo>
                  <a:pt x="900" y="46"/>
                </a:lnTo>
                <a:lnTo>
                  <a:pt x="901" y="47"/>
                </a:lnTo>
                <a:lnTo>
                  <a:pt x="902" y="48"/>
                </a:lnTo>
                <a:lnTo>
                  <a:pt x="903" y="50"/>
                </a:lnTo>
                <a:lnTo>
                  <a:pt x="904" y="51"/>
                </a:lnTo>
                <a:lnTo>
                  <a:pt x="904" y="53"/>
                </a:lnTo>
                <a:lnTo>
                  <a:pt x="904" y="55"/>
                </a:lnTo>
                <a:lnTo>
                  <a:pt x="904" y="57"/>
                </a:lnTo>
                <a:lnTo>
                  <a:pt x="904" y="58"/>
                </a:lnTo>
                <a:lnTo>
                  <a:pt x="903" y="60"/>
                </a:lnTo>
                <a:lnTo>
                  <a:pt x="902" y="61"/>
                </a:lnTo>
                <a:lnTo>
                  <a:pt x="901" y="63"/>
                </a:lnTo>
                <a:lnTo>
                  <a:pt x="900" y="64"/>
                </a:lnTo>
                <a:lnTo>
                  <a:pt x="898" y="65"/>
                </a:lnTo>
                <a:lnTo>
                  <a:pt x="897" y="65"/>
                </a:lnTo>
                <a:lnTo>
                  <a:pt x="895" y="66"/>
                </a:lnTo>
                <a:lnTo>
                  <a:pt x="893" y="66"/>
                </a:lnTo>
                <a:lnTo>
                  <a:pt x="891" y="66"/>
                </a:lnTo>
                <a:lnTo>
                  <a:pt x="890" y="65"/>
                </a:lnTo>
                <a:lnTo>
                  <a:pt x="888" y="65"/>
                </a:lnTo>
                <a:lnTo>
                  <a:pt x="887" y="64"/>
                </a:lnTo>
                <a:lnTo>
                  <a:pt x="885" y="63"/>
                </a:lnTo>
                <a:lnTo>
                  <a:pt x="884" y="61"/>
                </a:lnTo>
                <a:lnTo>
                  <a:pt x="883" y="60"/>
                </a:lnTo>
                <a:lnTo>
                  <a:pt x="883" y="58"/>
                </a:lnTo>
                <a:lnTo>
                  <a:pt x="882" y="57"/>
                </a:lnTo>
                <a:lnTo>
                  <a:pt x="882" y="55"/>
                </a:lnTo>
                <a:lnTo>
                  <a:pt x="882" y="53"/>
                </a:lnTo>
                <a:lnTo>
                  <a:pt x="883" y="51"/>
                </a:lnTo>
                <a:lnTo>
                  <a:pt x="883" y="50"/>
                </a:lnTo>
                <a:lnTo>
                  <a:pt x="884" y="48"/>
                </a:lnTo>
                <a:lnTo>
                  <a:pt x="885" y="47"/>
                </a:lnTo>
                <a:lnTo>
                  <a:pt x="887" y="46"/>
                </a:lnTo>
                <a:lnTo>
                  <a:pt x="888" y="45"/>
                </a:lnTo>
                <a:lnTo>
                  <a:pt x="890" y="44"/>
                </a:lnTo>
                <a:lnTo>
                  <a:pt x="891" y="44"/>
                </a:lnTo>
                <a:lnTo>
                  <a:pt x="893" y="44"/>
                </a:lnTo>
                <a:close/>
                <a:moveTo>
                  <a:pt x="961" y="41"/>
                </a:moveTo>
                <a:lnTo>
                  <a:pt x="963" y="42"/>
                </a:lnTo>
                <a:lnTo>
                  <a:pt x="965" y="42"/>
                </a:lnTo>
                <a:lnTo>
                  <a:pt x="966" y="43"/>
                </a:lnTo>
                <a:lnTo>
                  <a:pt x="968" y="44"/>
                </a:lnTo>
                <a:lnTo>
                  <a:pt x="969" y="45"/>
                </a:lnTo>
                <a:lnTo>
                  <a:pt x="970" y="46"/>
                </a:lnTo>
                <a:lnTo>
                  <a:pt x="971" y="47"/>
                </a:lnTo>
                <a:lnTo>
                  <a:pt x="972" y="49"/>
                </a:lnTo>
                <a:lnTo>
                  <a:pt x="972" y="50"/>
                </a:lnTo>
                <a:lnTo>
                  <a:pt x="972" y="52"/>
                </a:lnTo>
                <a:lnTo>
                  <a:pt x="972" y="54"/>
                </a:lnTo>
                <a:lnTo>
                  <a:pt x="972" y="56"/>
                </a:lnTo>
                <a:lnTo>
                  <a:pt x="971" y="57"/>
                </a:lnTo>
                <a:lnTo>
                  <a:pt x="970" y="59"/>
                </a:lnTo>
                <a:lnTo>
                  <a:pt x="969" y="60"/>
                </a:lnTo>
                <a:lnTo>
                  <a:pt x="968" y="61"/>
                </a:lnTo>
                <a:lnTo>
                  <a:pt x="966" y="62"/>
                </a:lnTo>
                <a:lnTo>
                  <a:pt x="965" y="62"/>
                </a:lnTo>
                <a:lnTo>
                  <a:pt x="963" y="63"/>
                </a:lnTo>
                <a:lnTo>
                  <a:pt x="961" y="63"/>
                </a:lnTo>
                <a:lnTo>
                  <a:pt x="960" y="63"/>
                </a:lnTo>
                <a:lnTo>
                  <a:pt x="958" y="62"/>
                </a:lnTo>
                <a:lnTo>
                  <a:pt x="957" y="62"/>
                </a:lnTo>
                <a:lnTo>
                  <a:pt x="955" y="61"/>
                </a:lnTo>
                <a:lnTo>
                  <a:pt x="954" y="60"/>
                </a:lnTo>
                <a:lnTo>
                  <a:pt x="953" y="59"/>
                </a:lnTo>
                <a:lnTo>
                  <a:pt x="952" y="57"/>
                </a:lnTo>
                <a:lnTo>
                  <a:pt x="951" y="56"/>
                </a:lnTo>
                <a:lnTo>
                  <a:pt x="951" y="54"/>
                </a:lnTo>
                <a:lnTo>
                  <a:pt x="951" y="52"/>
                </a:lnTo>
                <a:lnTo>
                  <a:pt x="951" y="50"/>
                </a:lnTo>
                <a:lnTo>
                  <a:pt x="951" y="49"/>
                </a:lnTo>
                <a:lnTo>
                  <a:pt x="952" y="47"/>
                </a:lnTo>
                <a:lnTo>
                  <a:pt x="953" y="46"/>
                </a:lnTo>
                <a:lnTo>
                  <a:pt x="954" y="45"/>
                </a:lnTo>
                <a:lnTo>
                  <a:pt x="955" y="44"/>
                </a:lnTo>
                <a:lnTo>
                  <a:pt x="957" y="43"/>
                </a:lnTo>
                <a:lnTo>
                  <a:pt x="958" y="42"/>
                </a:lnTo>
                <a:lnTo>
                  <a:pt x="960" y="42"/>
                </a:lnTo>
                <a:lnTo>
                  <a:pt x="961" y="41"/>
                </a:lnTo>
                <a:close/>
                <a:moveTo>
                  <a:pt x="691" y="40"/>
                </a:moveTo>
                <a:lnTo>
                  <a:pt x="693" y="40"/>
                </a:lnTo>
                <a:lnTo>
                  <a:pt x="695" y="40"/>
                </a:lnTo>
                <a:lnTo>
                  <a:pt x="696" y="41"/>
                </a:lnTo>
                <a:lnTo>
                  <a:pt x="698" y="43"/>
                </a:lnTo>
                <a:lnTo>
                  <a:pt x="699" y="44"/>
                </a:lnTo>
                <a:lnTo>
                  <a:pt x="699" y="46"/>
                </a:lnTo>
                <a:lnTo>
                  <a:pt x="699" y="48"/>
                </a:lnTo>
                <a:lnTo>
                  <a:pt x="699" y="49"/>
                </a:lnTo>
                <a:lnTo>
                  <a:pt x="699" y="51"/>
                </a:lnTo>
                <a:lnTo>
                  <a:pt x="698" y="53"/>
                </a:lnTo>
                <a:lnTo>
                  <a:pt x="696" y="54"/>
                </a:lnTo>
                <a:lnTo>
                  <a:pt x="695" y="55"/>
                </a:lnTo>
                <a:lnTo>
                  <a:pt x="693" y="55"/>
                </a:lnTo>
                <a:lnTo>
                  <a:pt x="691" y="55"/>
                </a:lnTo>
                <a:lnTo>
                  <a:pt x="690" y="55"/>
                </a:lnTo>
                <a:lnTo>
                  <a:pt x="688" y="55"/>
                </a:lnTo>
                <a:lnTo>
                  <a:pt x="687" y="54"/>
                </a:lnTo>
                <a:lnTo>
                  <a:pt x="685" y="53"/>
                </a:lnTo>
                <a:lnTo>
                  <a:pt x="684" y="51"/>
                </a:lnTo>
                <a:lnTo>
                  <a:pt x="684" y="49"/>
                </a:lnTo>
                <a:lnTo>
                  <a:pt x="684" y="48"/>
                </a:lnTo>
                <a:lnTo>
                  <a:pt x="684" y="46"/>
                </a:lnTo>
                <a:lnTo>
                  <a:pt x="684" y="44"/>
                </a:lnTo>
                <a:lnTo>
                  <a:pt x="685" y="43"/>
                </a:lnTo>
                <a:lnTo>
                  <a:pt x="687" y="41"/>
                </a:lnTo>
                <a:lnTo>
                  <a:pt x="688" y="40"/>
                </a:lnTo>
                <a:lnTo>
                  <a:pt x="690" y="40"/>
                </a:lnTo>
                <a:lnTo>
                  <a:pt x="691" y="40"/>
                </a:lnTo>
                <a:close/>
                <a:moveTo>
                  <a:pt x="1231" y="38"/>
                </a:moveTo>
                <a:lnTo>
                  <a:pt x="1233" y="38"/>
                </a:lnTo>
                <a:lnTo>
                  <a:pt x="1235" y="39"/>
                </a:lnTo>
                <a:lnTo>
                  <a:pt x="1237" y="40"/>
                </a:lnTo>
                <a:lnTo>
                  <a:pt x="1238" y="41"/>
                </a:lnTo>
                <a:lnTo>
                  <a:pt x="1239" y="42"/>
                </a:lnTo>
                <a:lnTo>
                  <a:pt x="1240" y="44"/>
                </a:lnTo>
                <a:lnTo>
                  <a:pt x="1241" y="45"/>
                </a:lnTo>
                <a:lnTo>
                  <a:pt x="1241" y="47"/>
                </a:lnTo>
                <a:lnTo>
                  <a:pt x="1241" y="49"/>
                </a:lnTo>
                <a:lnTo>
                  <a:pt x="1240" y="51"/>
                </a:lnTo>
                <a:lnTo>
                  <a:pt x="1239" y="52"/>
                </a:lnTo>
                <a:lnTo>
                  <a:pt x="1238" y="54"/>
                </a:lnTo>
                <a:lnTo>
                  <a:pt x="1237" y="55"/>
                </a:lnTo>
                <a:lnTo>
                  <a:pt x="1235" y="56"/>
                </a:lnTo>
                <a:lnTo>
                  <a:pt x="1233" y="56"/>
                </a:lnTo>
                <a:lnTo>
                  <a:pt x="1231" y="56"/>
                </a:lnTo>
                <a:lnTo>
                  <a:pt x="1230" y="56"/>
                </a:lnTo>
                <a:lnTo>
                  <a:pt x="1228" y="56"/>
                </a:lnTo>
                <a:lnTo>
                  <a:pt x="1226" y="55"/>
                </a:lnTo>
                <a:lnTo>
                  <a:pt x="1225" y="54"/>
                </a:lnTo>
                <a:lnTo>
                  <a:pt x="1224" y="52"/>
                </a:lnTo>
                <a:lnTo>
                  <a:pt x="1223" y="51"/>
                </a:lnTo>
                <a:lnTo>
                  <a:pt x="1222" y="49"/>
                </a:lnTo>
                <a:lnTo>
                  <a:pt x="1222" y="47"/>
                </a:lnTo>
                <a:lnTo>
                  <a:pt x="1222" y="45"/>
                </a:lnTo>
                <a:lnTo>
                  <a:pt x="1223" y="44"/>
                </a:lnTo>
                <a:lnTo>
                  <a:pt x="1224" y="42"/>
                </a:lnTo>
                <a:lnTo>
                  <a:pt x="1225" y="41"/>
                </a:lnTo>
                <a:lnTo>
                  <a:pt x="1226" y="40"/>
                </a:lnTo>
                <a:lnTo>
                  <a:pt x="1228" y="39"/>
                </a:lnTo>
                <a:lnTo>
                  <a:pt x="1230" y="38"/>
                </a:lnTo>
                <a:lnTo>
                  <a:pt x="1231" y="38"/>
                </a:lnTo>
                <a:close/>
                <a:moveTo>
                  <a:pt x="758" y="22"/>
                </a:moveTo>
                <a:lnTo>
                  <a:pt x="760" y="23"/>
                </a:lnTo>
                <a:lnTo>
                  <a:pt x="761" y="23"/>
                </a:lnTo>
                <a:lnTo>
                  <a:pt x="763" y="24"/>
                </a:lnTo>
                <a:lnTo>
                  <a:pt x="764" y="25"/>
                </a:lnTo>
                <a:lnTo>
                  <a:pt x="765" y="27"/>
                </a:lnTo>
                <a:lnTo>
                  <a:pt x="765" y="29"/>
                </a:lnTo>
                <a:lnTo>
                  <a:pt x="766" y="31"/>
                </a:lnTo>
                <a:lnTo>
                  <a:pt x="765" y="32"/>
                </a:lnTo>
                <a:lnTo>
                  <a:pt x="765" y="34"/>
                </a:lnTo>
                <a:lnTo>
                  <a:pt x="764" y="36"/>
                </a:lnTo>
                <a:lnTo>
                  <a:pt x="763" y="37"/>
                </a:lnTo>
                <a:lnTo>
                  <a:pt x="761" y="38"/>
                </a:lnTo>
                <a:lnTo>
                  <a:pt x="760" y="38"/>
                </a:lnTo>
                <a:lnTo>
                  <a:pt x="758" y="39"/>
                </a:lnTo>
                <a:lnTo>
                  <a:pt x="756" y="38"/>
                </a:lnTo>
                <a:lnTo>
                  <a:pt x="754" y="38"/>
                </a:lnTo>
                <a:lnTo>
                  <a:pt x="753" y="37"/>
                </a:lnTo>
                <a:lnTo>
                  <a:pt x="752" y="36"/>
                </a:lnTo>
                <a:lnTo>
                  <a:pt x="751" y="34"/>
                </a:lnTo>
                <a:lnTo>
                  <a:pt x="750" y="32"/>
                </a:lnTo>
                <a:lnTo>
                  <a:pt x="750" y="31"/>
                </a:lnTo>
                <a:lnTo>
                  <a:pt x="750" y="29"/>
                </a:lnTo>
                <a:lnTo>
                  <a:pt x="751" y="27"/>
                </a:lnTo>
                <a:lnTo>
                  <a:pt x="752" y="25"/>
                </a:lnTo>
                <a:lnTo>
                  <a:pt x="753" y="24"/>
                </a:lnTo>
                <a:lnTo>
                  <a:pt x="754" y="23"/>
                </a:lnTo>
                <a:lnTo>
                  <a:pt x="756" y="23"/>
                </a:lnTo>
                <a:lnTo>
                  <a:pt x="758" y="22"/>
                </a:lnTo>
                <a:close/>
                <a:moveTo>
                  <a:pt x="1165" y="21"/>
                </a:moveTo>
                <a:lnTo>
                  <a:pt x="1167" y="22"/>
                </a:lnTo>
                <a:lnTo>
                  <a:pt x="1169" y="22"/>
                </a:lnTo>
                <a:lnTo>
                  <a:pt x="1170" y="23"/>
                </a:lnTo>
                <a:lnTo>
                  <a:pt x="1171" y="24"/>
                </a:lnTo>
                <a:lnTo>
                  <a:pt x="1173" y="25"/>
                </a:lnTo>
                <a:lnTo>
                  <a:pt x="1173" y="27"/>
                </a:lnTo>
                <a:lnTo>
                  <a:pt x="1174" y="29"/>
                </a:lnTo>
                <a:lnTo>
                  <a:pt x="1174" y="31"/>
                </a:lnTo>
                <a:lnTo>
                  <a:pt x="1174" y="32"/>
                </a:lnTo>
                <a:lnTo>
                  <a:pt x="1173" y="34"/>
                </a:lnTo>
                <a:lnTo>
                  <a:pt x="1173" y="36"/>
                </a:lnTo>
                <a:lnTo>
                  <a:pt x="1171" y="37"/>
                </a:lnTo>
                <a:lnTo>
                  <a:pt x="1170" y="38"/>
                </a:lnTo>
                <a:lnTo>
                  <a:pt x="1169" y="39"/>
                </a:lnTo>
                <a:lnTo>
                  <a:pt x="1167" y="39"/>
                </a:lnTo>
                <a:lnTo>
                  <a:pt x="1165" y="40"/>
                </a:lnTo>
                <a:lnTo>
                  <a:pt x="1163" y="39"/>
                </a:lnTo>
                <a:lnTo>
                  <a:pt x="1161" y="39"/>
                </a:lnTo>
                <a:lnTo>
                  <a:pt x="1160" y="38"/>
                </a:lnTo>
                <a:lnTo>
                  <a:pt x="1159" y="37"/>
                </a:lnTo>
                <a:lnTo>
                  <a:pt x="1157" y="36"/>
                </a:lnTo>
                <a:lnTo>
                  <a:pt x="1157" y="34"/>
                </a:lnTo>
                <a:lnTo>
                  <a:pt x="1156" y="32"/>
                </a:lnTo>
                <a:lnTo>
                  <a:pt x="1156" y="31"/>
                </a:lnTo>
                <a:lnTo>
                  <a:pt x="1156" y="29"/>
                </a:lnTo>
                <a:lnTo>
                  <a:pt x="1157" y="27"/>
                </a:lnTo>
                <a:lnTo>
                  <a:pt x="1157" y="25"/>
                </a:lnTo>
                <a:lnTo>
                  <a:pt x="1159" y="24"/>
                </a:lnTo>
                <a:lnTo>
                  <a:pt x="1160" y="23"/>
                </a:lnTo>
                <a:lnTo>
                  <a:pt x="1161" y="22"/>
                </a:lnTo>
                <a:lnTo>
                  <a:pt x="1163" y="22"/>
                </a:lnTo>
                <a:lnTo>
                  <a:pt x="1165" y="21"/>
                </a:lnTo>
                <a:close/>
                <a:moveTo>
                  <a:pt x="825" y="10"/>
                </a:moveTo>
                <a:lnTo>
                  <a:pt x="827" y="10"/>
                </a:lnTo>
                <a:lnTo>
                  <a:pt x="829" y="11"/>
                </a:lnTo>
                <a:lnTo>
                  <a:pt x="830" y="12"/>
                </a:lnTo>
                <a:lnTo>
                  <a:pt x="831" y="13"/>
                </a:lnTo>
                <a:lnTo>
                  <a:pt x="832" y="15"/>
                </a:lnTo>
                <a:lnTo>
                  <a:pt x="833" y="17"/>
                </a:lnTo>
                <a:lnTo>
                  <a:pt x="833" y="18"/>
                </a:lnTo>
                <a:lnTo>
                  <a:pt x="833" y="20"/>
                </a:lnTo>
                <a:lnTo>
                  <a:pt x="832" y="22"/>
                </a:lnTo>
                <a:lnTo>
                  <a:pt x="831" y="24"/>
                </a:lnTo>
                <a:lnTo>
                  <a:pt x="830" y="25"/>
                </a:lnTo>
                <a:lnTo>
                  <a:pt x="829" y="26"/>
                </a:lnTo>
                <a:lnTo>
                  <a:pt x="827" y="26"/>
                </a:lnTo>
                <a:lnTo>
                  <a:pt x="825" y="27"/>
                </a:lnTo>
                <a:lnTo>
                  <a:pt x="823" y="26"/>
                </a:lnTo>
                <a:lnTo>
                  <a:pt x="821" y="26"/>
                </a:lnTo>
                <a:lnTo>
                  <a:pt x="820" y="25"/>
                </a:lnTo>
                <a:lnTo>
                  <a:pt x="819" y="24"/>
                </a:lnTo>
                <a:lnTo>
                  <a:pt x="818" y="22"/>
                </a:lnTo>
                <a:lnTo>
                  <a:pt x="817" y="20"/>
                </a:lnTo>
                <a:lnTo>
                  <a:pt x="817" y="18"/>
                </a:lnTo>
                <a:lnTo>
                  <a:pt x="817" y="17"/>
                </a:lnTo>
                <a:lnTo>
                  <a:pt x="818" y="15"/>
                </a:lnTo>
                <a:lnTo>
                  <a:pt x="819" y="13"/>
                </a:lnTo>
                <a:lnTo>
                  <a:pt x="820" y="12"/>
                </a:lnTo>
                <a:lnTo>
                  <a:pt x="821" y="11"/>
                </a:lnTo>
                <a:lnTo>
                  <a:pt x="823" y="10"/>
                </a:lnTo>
                <a:lnTo>
                  <a:pt x="825" y="10"/>
                </a:lnTo>
                <a:close/>
                <a:moveTo>
                  <a:pt x="1098" y="9"/>
                </a:moveTo>
                <a:lnTo>
                  <a:pt x="1099" y="10"/>
                </a:lnTo>
                <a:lnTo>
                  <a:pt x="1101" y="10"/>
                </a:lnTo>
                <a:lnTo>
                  <a:pt x="1103" y="11"/>
                </a:lnTo>
                <a:lnTo>
                  <a:pt x="1104" y="12"/>
                </a:lnTo>
                <a:lnTo>
                  <a:pt x="1105" y="13"/>
                </a:lnTo>
                <a:lnTo>
                  <a:pt x="1106" y="15"/>
                </a:lnTo>
                <a:lnTo>
                  <a:pt x="1106" y="17"/>
                </a:lnTo>
                <a:lnTo>
                  <a:pt x="1106" y="18"/>
                </a:lnTo>
                <a:lnTo>
                  <a:pt x="1106" y="20"/>
                </a:lnTo>
                <a:lnTo>
                  <a:pt x="1106" y="22"/>
                </a:lnTo>
                <a:lnTo>
                  <a:pt x="1105" y="23"/>
                </a:lnTo>
                <a:lnTo>
                  <a:pt x="1104" y="25"/>
                </a:lnTo>
                <a:lnTo>
                  <a:pt x="1103" y="26"/>
                </a:lnTo>
                <a:lnTo>
                  <a:pt x="1101" y="27"/>
                </a:lnTo>
                <a:lnTo>
                  <a:pt x="1099" y="27"/>
                </a:lnTo>
                <a:lnTo>
                  <a:pt x="1098" y="28"/>
                </a:lnTo>
                <a:lnTo>
                  <a:pt x="1096" y="27"/>
                </a:lnTo>
                <a:lnTo>
                  <a:pt x="1094" y="27"/>
                </a:lnTo>
                <a:lnTo>
                  <a:pt x="1093" y="26"/>
                </a:lnTo>
                <a:lnTo>
                  <a:pt x="1091" y="25"/>
                </a:lnTo>
                <a:lnTo>
                  <a:pt x="1090" y="23"/>
                </a:lnTo>
                <a:lnTo>
                  <a:pt x="1089" y="22"/>
                </a:lnTo>
                <a:lnTo>
                  <a:pt x="1089" y="20"/>
                </a:lnTo>
                <a:lnTo>
                  <a:pt x="1089" y="18"/>
                </a:lnTo>
                <a:lnTo>
                  <a:pt x="1089" y="17"/>
                </a:lnTo>
                <a:lnTo>
                  <a:pt x="1089" y="15"/>
                </a:lnTo>
                <a:lnTo>
                  <a:pt x="1090" y="13"/>
                </a:lnTo>
                <a:lnTo>
                  <a:pt x="1091" y="12"/>
                </a:lnTo>
                <a:lnTo>
                  <a:pt x="1093" y="11"/>
                </a:lnTo>
                <a:lnTo>
                  <a:pt x="1094" y="10"/>
                </a:lnTo>
                <a:lnTo>
                  <a:pt x="1096" y="10"/>
                </a:lnTo>
                <a:lnTo>
                  <a:pt x="1098" y="9"/>
                </a:lnTo>
                <a:close/>
                <a:moveTo>
                  <a:pt x="893" y="3"/>
                </a:moveTo>
                <a:lnTo>
                  <a:pt x="895" y="3"/>
                </a:lnTo>
                <a:lnTo>
                  <a:pt x="897" y="3"/>
                </a:lnTo>
                <a:lnTo>
                  <a:pt x="898" y="4"/>
                </a:lnTo>
                <a:lnTo>
                  <a:pt x="899" y="5"/>
                </a:lnTo>
                <a:lnTo>
                  <a:pt x="900" y="6"/>
                </a:lnTo>
                <a:lnTo>
                  <a:pt x="901" y="8"/>
                </a:lnTo>
                <a:lnTo>
                  <a:pt x="902" y="9"/>
                </a:lnTo>
                <a:lnTo>
                  <a:pt x="902" y="11"/>
                </a:lnTo>
                <a:lnTo>
                  <a:pt x="902" y="13"/>
                </a:lnTo>
                <a:lnTo>
                  <a:pt x="901" y="14"/>
                </a:lnTo>
                <a:lnTo>
                  <a:pt x="900" y="16"/>
                </a:lnTo>
                <a:lnTo>
                  <a:pt x="899" y="17"/>
                </a:lnTo>
                <a:lnTo>
                  <a:pt x="898" y="18"/>
                </a:lnTo>
                <a:lnTo>
                  <a:pt x="897" y="19"/>
                </a:lnTo>
                <a:lnTo>
                  <a:pt x="895" y="19"/>
                </a:lnTo>
                <a:lnTo>
                  <a:pt x="893" y="20"/>
                </a:lnTo>
                <a:lnTo>
                  <a:pt x="891" y="19"/>
                </a:lnTo>
                <a:lnTo>
                  <a:pt x="890" y="19"/>
                </a:lnTo>
                <a:lnTo>
                  <a:pt x="888" y="18"/>
                </a:lnTo>
                <a:lnTo>
                  <a:pt x="887" y="17"/>
                </a:lnTo>
                <a:lnTo>
                  <a:pt x="886" y="16"/>
                </a:lnTo>
                <a:lnTo>
                  <a:pt x="885" y="14"/>
                </a:lnTo>
                <a:lnTo>
                  <a:pt x="885" y="13"/>
                </a:lnTo>
                <a:lnTo>
                  <a:pt x="885" y="11"/>
                </a:lnTo>
                <a:lnTo>
                  <a:pt x="885" y="9"/>
                </a:lnTo>
                <a:lnTo>
                  <a:pt x="885" y="8"/>
                </a:lnTo>
                <a:lnTo>
                  <a:pt x="886" y="6"/>
                </a:lnTo>
                <a:lnTo>
                  <a:pt x="887" y="5"/>
                </a:lnTo>
                <a:lnTo>
                  <a:pt x="888" y="4"/>
                </a:lnTo>
                <a:lnTo>
                  <a:pt x="890" y="3"/>
                </a:lnTo>
                <a:lnTo>
                  <a:pt x="891" y="3"/>
                </a:lnTo>
                <a:lnTo>
                  <a:pt x="893" y="3"/>
                </a:lnTo>
                <a:close/>
                <a:moveTo>
                  <a:pt x="1030" y="2"/>
                </a:moveTo>
                <a:lnTo>
                  <a:pt x="1032" y="3"/>
                </a:lnTo>
                <a:lnTo>
                  <a:pt x="1033" y="3"/>
                </a:lnTo>
                <a:lnTo>
                  <a:pt x="1035" y="4"/>
                </a:lnTo>
                <a:lnTo>
                  <a:pt x="1036" y="5"/>
                </a:lnTo>
                <a:lnTo>
                  <a:pt x="1037" y="6"/>
                </a:lnTo>
                <a:lnTo>
                  <a:pt x="1038" y="8"/>
                </a:lnTo>
                <a:lnTo>
                  <a:pt x="1038" y="9"/>
                </a:lnTo>
                <a:lnTo>
                  <a:pt x="1038" y="11"/>
                </a:lnTo>
                <a:lnTo>
                  <a:pt x="1038" y="13"/>
                </a:lnTo>
                <a:lnTo>
                  <a:pt x="1038" y="15"/>
                </a:lnTo>
                <a:lnTo>
                  <a:pt x="1037" y="16"/>
                </a:lnTo>
                <a:lnTo>
                  <a:pt x="1036" y="17"/>
                </a:lnTo>
                <a:lnTo>
                  <a:pt x="1035" y="19"/>
                </a:lnTo>
                <a:lnTo>
                  <a:pt x="1033" y="19"/>
                </a:lnTo>
                <a:lnTo>
                  <a:pt x="1032" y="20"/>
                </a:lnTo>
                <a:lnTo>
                  <a:pt x="1030" y="20"/>
                </a:lnTo>
                <a:lnTo>
                  <a:pt x="1028" y="20"/>
                </a:lnTo>
                <a:lnTo>
                  <a:pt x="1026" y="19"/>
                </a:lnTo>
                <a:lnTo>
                  <a:pt x="1025" y="19"/>
                </a:lnTo>
                <a:lnTo>
                  <a:pt x="1024" y="17"/>
                </a:lnTo>
                <a:lnTo>
                  <a:pt x="1023" y="16"/>
                </a:lnTo>
                <a:lnTo>
                  <a:pt x="1022" y="15"/>
                </a:lnTo>
                <a:lnTo>
                  <a:pt x="1021" y="13"/>
                </a:lnTo>
                <a:lnTo>
                  <a:pt x="1021" y="11"/>
                </a:lnTo>
                <a:lnTo>
                  <a:pt x="1021" y="9"/>
                </a:lnTo>
                <a:lnTo>
                  <a:pt x="1022" y="8"/>
                </a:lnTo>
                <a:lnTo>
                  <a:pt x="1023" y="6"/>
                </a:lnTo>
                <a:lnTo>
                  <a:pt x="1024" y="5"/>
                </a:lnTo>
                <a:lnTo>
                  <a:pt x="1025" y="4"/>
                </a:lnTo>
                <a:lnTo>
                  <a:pt x="1026" y="3"/>
                </a:lnTo>
                <a:lnTo>
                  <a:pt x="1028" y="3"/>
                </a:lnTo>
                <a:lnTo>
                  <a:pt x="1030" y="2"/>
                </a:lnTo>
                <a:close/>
                <a:moveTo>
                  <a:pt x="961" y="0"/>
                </a:moveTo>
                <a:lnTo>
                  <a:pt x="963" y="0"/>
                </a:lnTo>
                <a:lnTo>
                  <a:pt x="965" y="1"/>
                </a:lnTo>
                <a:lnTo>
                  <a:pt x="966" y="1"/>
                </a:lnTo>
                <a:lnTo>
                  <a:pt x="967" y="3"/>
                </a:lnTo>
                <a:lnTo>
                  <a:pt x="968" y="4"/>
                </a:lnTo>
                <a:lnTo>
                  <a:pt x="969" y="5"/>
                </a:lnTo>
                <a:lnTo>
                  <a:pt x="970" y="7"/>
                </a:lnTo>
                <a:lnTo>
                  <a:pt x="970" y="9"/>
                </a:lnTo>
                <a:lnTo>
                  <a:pt x="970" y="10"/>
                </a:lnTo>
                <a:lnTo>
                  <a:pt x="969" y="12"/>
                </a:lnTo>
                <a:lnTo>
                  <a:pt x="968" y="13"/>
                </a:lnTo>
                <a:lnTo>
                  <a:pt x="967" y="15"/>
                </a:lnTo>
                <a:lnTo>
                  <a:pt x="966" y="16"/>
                </a:lnTo>
                <a:lnTo>
                  <a:pt x="965" y="17"/>
                </a:lnTo>
                <a:lnTo>
                  <a:pt x="963" y="17"/>
                </a:lnTo>
                <a:lnTo>
                  <a:pt x="961" y="17"/>
                </a:lnTo>
                <a:lnTo>
                  <a:pt x="959" y="17"/>
                </a:lnTo>
                <a:lnTo>
                  <a:pt x="958" y="17"/>
                </a:lnTo>
                <a:lnTo>
                  <a:pt x="956" y="16"/>
                </a:lnTo>
                <a:lnTo>
                  <a:pt x="955" y="15"/>
                </a:lnTo>
                <a:lnTo>
                  <a:pt x="954" y="13"/>
                </a:lnTo>
                <a:lnTo>
                  <a:pt x="953" y="12"/>
                </a:lnTo>
                <a:lnTo>
                  <a:pt x="953" y="10"/>
                </a:lnTo>
                <a:lnTo>
                  <a:pt x="953" y="9"/>
                </a:lnTo>
                <a:lnTo>
                  <a:pt x="953" y="7"/>
                </a:lnTo>
                <a:lnTo>
                  <a:pt x="953" y="5"/>
                </a:lnTo>
                <a:lnTo>
                  <a:pt x="954" y="4"/>
                </a:lnTo>
                <a:lnTo>
                  <a:pt x="955" y="3"/>
                </a:lnTo>
                <a:lnTo>
                  <a:pt x="956" y="1"/>
                </a:lnTo>
                <a:lnTo>
                  <a:pt x="958" y="1"/>
                </a:lnTo>
                <a:lnTo>
                  <a:pt x="959" y="0"/>
                </a:lnTo>
                <a:lnTo>
                  <a:pt x="961" y="0"/>
                </a:lnTo>
                <a:close/>
              </a:path>
            </a:pathLst>
          </a:custGeom>
          <a:solidFill>
            <a:srgbClr val="3368FF"/>
          </a:solidFill>
          <a:ln>
            <a:noFill/>
          </a:ln>
        </p:spPr>
        <p:txBody>
          <a:bodyPr vert="horz" wrap="square" lIns="0" tIns="0" rIns="0" bIns="0" numCol="1" anchor="t" anchorCtr="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590" name="矩形: 圆角 32"/>
          <p:cNvSpPr/>
          <p:nvPr/>
        </p:nvSpPr>
        <p:spPr>
          <a:xfrm>
            <a:off x="5502910" y="2453640"/>
            <a:ext cx="1106805" cy="1106805"/>
          </a:xfrm>
          <a:prstGeom prst="roundRect">
            <a:avLst>
              <a:gd name="adj" fmla="val 50000"/>
            </a:avLst>
          </a:prstGeom>
          <a:solidFill>
            <a:srgbClr val="FFFFFF">
              <a:alpha val="70000"/>
            </a:srgbClr>
          </a:solidFill>
          <a:ln w="63500">
            <a:noFill/>
          </a:ln>
          <a:effectLst>
            <a:outerShdw blurRad="254000" sx="102000" sy="102000" algn="ctr" rotWithShape="0">
              <a:prstClr val="black">
                <a:alpha val="10000"/>
              </a:prst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defRPr>
                <a:latin typeface="微软雅黑"/>
                <a:ea typeface="微软雅黑"/>
                <a:cs typeface="微软雅黑"/>
              </a:defRPr>
            </a:pPr>
            <a:endParaRPr lang="zh-CN" altLang="en-US" sz="2400" b="1" dirty="0">
              <a:solidFill>
                <a:srgbClr val="383838"/>
              </a:solidFill>
              <a:latin typeface="微软雅黑"/>
              <a:ea typeface="微软雅黑"/>
              <a:cs typeface="微软雅黑"/>
            </a:endParaRPr>
          </a:p>
        </p:txBody>
      </p:sp>
      <p:grpSp>
        <p:nvGrpSpPr>
          <p:cNvPr id="591" name="组合 590"/>
          <p:cNvGrpSpPr/>
          <p:nvPr/>
        </p:nvGrpSpPr>
        <p:grpSpPr>
          <a:xfrm rot="0" flipH="1">
            <a:off x="6939915" y="3002915"/>
            <a:ext cx="251460" cy="96520"/>
            <a:chOff x="7651" y="4318"/>
            <a:chExt cx="396" cy="152"/>
          </a:xfrm>
        </p:grpSpPr>
        <p:sp>
          <p:nvSpPr>
            <p:cNvPr id="592" name="燕尾形 591"/>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93" name="燕尾形 592"/>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94" name="燕尾形 593"/>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595" name="组合 594"/>
          <p:cNvGrpSpPr/>
          <p:nvPr/>
        </p:nvGrpSpPr>
        <p:grpSpPr>
          <a:xfrm rot="0">
            <a:off x="6942455" y="2810510"/>
            <a:ext cx="251460" cy="96520"/>
            <a:chOff x="7651" y="4318"/>
            <a:chExt cx="396" cy="152"/>
          </a:xfrm>
        </p:grpSpPr>
        <p:sp>
          <p:nvSpPr>
            <p:cNvPr id="596" name="燕尾形 595"/>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97" name="燕尾形 596"/>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98" name="燕尾形 597"/>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599" name="矩形: 圆角 32"/>
          <p:cNvSpPr/>
          <p:nvPr/>
        </p:nvSpPr>
        <p:spPr>
          <a:xfrm>
            <a:off x="5595620" y="2546350"/>
            <a:ext cx="921385" cy="921385"/>
          </a:xfrm>
          <a:prstGeom prst="roundRect">
            <a:avLst>
              <a:gd name="adj" fmla="val 50000"/>
            </a:avLst>
          </a:prstGeom>
          <a:gradFill flip="none" rotWithShape="1">
            <a:gsLst>
              <a:gs pos="22000">
                <a:srgbClr val="3368FF"/>
              </a:gs>
              <a:gs pos="100000">
                <a:srgbClr val="B3D4FE"/>
              </a:gs>
            </a:gsLst>
            <a:lin ang="2700000"/>
          </a:gradFill>
          <a:ln w="63500">
            <a:noFill/>
          </a:ln>
          <a:effectLst>
            <a:outerShdw blurRad="254000" sx="102000" sy="102000" algn="ctr" rotWithShape="0">
              <a:prstClr val="black">
                <a:alpha val="10000"/>
              </a:prst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defRPr>
                <a:latin typeface="微软雅黑"/>
                <a:ea typeface="微软雅黑"/>
                <a:cs typeface="微软雅黑"/>
              </a:defRPr>
            </a:pPr>
            <a:endParaRPr lang="zh-CN" altLang="en-US" sz="2400" b="1" dirty="0">
              <a:solidFill>
                <a:srgbClr val="383838"/>
              </a:solidFill>
              <a:latin typeface="微软雅黑"/>
              <a:ea typeface="微软雅黑"/>
              <a:cs typeface="微软雅黑"/>
            </a:endParaRPr>
          </a:p>
        </p:txBody>
      </p:sp>
      <p:sp>
        <p:nvSpPr>
          <p:cNvPr id="600" name="矩形 599"/>
          <p:cNvSpPr/>
          <p:nvPr/>
        </p:nvSpPr>
        <p:spPr>
          <a:xfrm>
            <a:off x="5546090" y="2807970"/>
            <a:ext cx="1020445" cy="398780"/>
          </a:xfrm>
          <a:prstGeom prst="rect">
            <a:avLst/>
          </a:prstGeom>
        </p:spPr>
        <p:txBody>
          <a:bodyPr wrap="square">
            <a:spAutoFit/>
          </a:bodyPr>
          <a:lstStyle/>
          <a:p>
            <a:pPr algn="ctr">
              <a:defRPr>
                <a:latin typeface="微软雅黑"/>
                <a:ea typeface="微软雅黑"/>
                <a:cs typeface="微软雅黑"/>
              </a:defRPr>
            </a:pPr>
            <a:r>
              <a:rPr lang="en-US" altLang="zh-CN" sz="2000" b="1" dirty="0">
                <a:solidFill>
                  <a:srgbClr val="383838"/>
                </a:solidFill>
                <a:latin typeface="微软雅黑"/>
                <a:ea typeface="微软雅黑"/>
                <a:cs typeface="微软雅黑"/>
              </a:rPr>
              <a:t>AI</a:t>
            </a:r>
            <a:r>
              <a:rPr lang="zh-CN" altLang="en-US" sz="2000" b="1" dirty="0">
                <a:solidFill>
                  <a:srgbClr val="383838"/>
                </a:solidFill>
                <a:latin typeface="微软雅黑"/>
                <a:ea typeface="微软雅黑"/>
                <a:cs typeface="微软雅黑"/>
              </a:rPr>
              <a:t>助手</a:t>
            </a:r>
            <a:endParaRPr lang="zh-CN" altLang="en-US" sz="2000" b="1" dirty="0">
              <a:solidFill>
                <a:srgbClr val="383838"/>
              </a:solidFill>
              <a:latin typeface="微软雅黑"/>
              <a:ea typeface="微软雅黑"/>
              <a:cs typeface="微软雅黑"/>
            </a:endParaRPr>
          </a:p>
        </p:txBody>
      </p:sp>
      <p:sp>
        <p:nvSpPr>
          <p:cNvPr id="601" name="等腰三角形 600"/>
          <p:cNvSpPr/>
          <p:nvPr/>
        </p:nvSpPr>
        <p:spPr>
          <a:xfrm>
            <a:off x="5260340" y="3670300"/>
            <a:ext cx="1592580" cy="312420"/>
          </a:xfrm>
          <a:prstGeom prst="triangle">
            <a:avLst/>
          </a:prstGeom>
          <a:noFill/>
          <a:ln>
            <a:gradFill>
              <a:gsLst>
                <a:gs pos="34000">
                  <a:srgbClr val="B3D4FE"/>
                </a:gs>
                <a:gs pos="100000">
                  <a:srgbClr val="B3D4FE">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9" name="组合 8"/>
          <p:cNvGrpSpPr/>
          <p:nvPr/>
        </p:nvGrpSpPr>
        <p:grpSpPr>
          <a:xfrm>
            <a:off x="2532380" y="1100455"/>
            <a:ext cx="685800" cy="685800"/>
            <a:chOff x="3757" y="1931"/>
            <a:chExt cx="1080" cy="1080"/>
          </a:xfrm>
        </p:grpSpPr>
        <p:grpSp>
          <p:nvGrpSpPr>
            <p:cNvPr id="417" name="组合 416"/>
            <p:cNvGrpSpPr/>
            <p:nvPr/>
          </p:nvGrpSpPr>
          <p:grpSpPr>
            <a:xfrm rot="0">
              <a:off x="3757" y="1931"/>
              <a:ext cx="1081" cy="1080"/>
              <a:chOff x="5719739" y="3319093"/>
              <a:chExt cx="752522" cy="752522"/>
            </a:xfrm>
          </p:grpSpPr>
          <p:sp>
            <p:nvSpPr>
              <p:cNvPr id="418"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19"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20"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21" name="©显眼包PPT1-4"/>
            <p:cNvSpPr txBox="1"/>
            <p:nvPr/>
          </p:nvSpPr>
          <p:spPr>
            <a:xfrm>
              <a:off x="3873" y="2184"/>
              <a:ext cx="826" cy="582"/>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gradFill>
                    <a:gsLst>
                      <a:gs pos="0">
                        <a:srgbClr val="0042FF"/>
                      </a:gs>
                      <a:gs pos="58000">
                        <a:srgbClr val="0042FF"/>
                      </a:gs>
                    </a:gsLst>
                    <a:lin ang="2700000" scaled="0"/>
                  </a:gradFill>
                  <a:solidFill>
                    <a:srgbClr val="383838"/>
                  </a:solidFill>
                  <a:latin typeface="微软雅黑"/>
                  <a:ea typeface="微软雅黑"/>
                  <a:cs typeface="微软雅黑"/>
                </a:rPr>
                <a:t> </a:t>
              </a:r>
              <a:endParaRPr lang="en-US" sz="1000" dirty="0">
                <a:gradFill>
                  <a:gsLst>
                    <a:gs pos="0">
                      <a:srgbClr val="0042FF"/>
                    </a:gs>
                    <a:gs pos="58000">
                      <a:srgbClr val="0042FF"/>
                    </a:gs>
                  </a:gsLst>
                  <a:lin ang="2700000" scaled="0"/>
                </a:gradFill>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任务规划</a:t>
              </a:r>
              <a:endParaRPr lang="zh-CN" altLang="en-US" sz="1000" dirty="0">
                <a:solidFill>
                  <a:srgbClr val="383838"/>
                </a:solidFill>
                <a:latin typeface="微软雅黑"/>
                <a:ea typeface="微软雅黑"/>
                <a:cs typeface="微软雅黑"/>
              </a:endParaRPr>
            </a:p>
          </p:txBody>
        </p:sp>
        <p:pic>
          <p:nvPicPr>
            <p:cNvPr id="602" name="图片 601" descr="任务 (1)"/>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4154" y="2196"/>
              <a:ext cx="288" cy="288"/>
            </a:xfrm>
            <a:prstGeom prst="rect">
              <a:avLst/>
            </a:prstGeom>
          </p:spPr>
        </p:pic>
      </p:grpSp>
      <p:grpSp>
        <p:nvGrpSpPr>
          <p:cNvPr id="11" name="组合 10"/>
          <p:cNvGrpSpPr/>
          <p:nvPr/>
        </p:nvGrpSpPr>
        <p:grpSpPr>
          <a:xfrm>
            <a:off x="4705350" y="1299210"/>
            <a:ext cx="685800" cy="685800"/>
            <a:chOff x="7029" y="1561"/>
            <a:chExt cx="1080" cy="1080"/>
          </a:xfrm>
        </p:grpSpPr>
        <p:grpSp>
          <p:nvGrpSpPr>
            <p:cNvPr id="488" name="©显眼包PPT1"/>
            <p:cNvGrpSpPr/>
            <p:nvPr/>
          </p:nvGrpSpPr>
          <p:grpSpPr>
            <a:xfrm rot="0">
              <a:off x="7029" y="1561"/>
              <a:ext cx="1081" cy="1081"/>
              <a:chOff x="5719739" y="3319093"/>
              <a:chExt cx="752522" cy="752522"/>
            </a:xfrm>
          </p:grpSpPr>
          <p:grpSp>
            <p:nvGrpSpPr>
              <p:cNvPr id="489" name="组合 488"/>
              <p:cNvGrpSpPr/>
              <p:nvPr/>
            </p:nvGrpSpPr>
            <p:grpSpPr>
              <a:xfrm>
                <a:off x="5719739" y="3319093"/>
                <a:ext cx="752522" cy="752522"/>
                <a:chOff x="5719739" y="3319093"/>
                <a:chExt cx="752522" cy="752522"/>
              </a:xfrm>
            </p:grpSpPr>
            <p:sp>
              <p:nvSpPr>
                <p:cNvPr id="500"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502"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503"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504" name="©显眼包PPT1-4"/>
              <p:cNvSpPr txBox="1"/>
              <p:nvPr/>
            </p:nvSpPr>
            <p:spPr>
              <a:xfrm>
                <a:off x="5800491" y="3495215"/>
                <a:ext cx="575008" cy="333449"/>
              </a:xfrm>
              <a:prstGeom prst="rect">
                <a:avLst/>
              </a:prstGeom>
              <a:noFill/>
            </p:spPr>
            <p:txBody>
              <a:bodyPr wrap="square" lIns="0" tIns="0" rIns="0" bIns="0" rtlCol="0" anchor="t">
                <a:noAutofit/>
              </a:bodyPr>
              <a:lstStyle/>
              <a:p>
                <a:pPr algn="ctr">
                  <a:lnSpc>
                    <a:spcPts val="1120"/>
                  </a:lnSpc>
                  <a:defRPr>
                    <a:latin typeface="微软雅黑"/>
                    <a:ea typeface="微软雅黑"/>
                    <a:cs typeface="微软雅黑"/>
                  </a:defRPr>
                  <a:spcBef>
                    <a:spcPts val="0"/>
                  </a:spcBef>
                  <a:spcAft>
                    <a:spcPts val="0"/>
                  </a:spcAft>
                </a:pPr>
                <a:endParaRPr lang="en-US" sz="1000" dirty="0">
                  <a:solidFill>
                    <a:srgbClr val="383838"/>
                  </a:solidFill>
                  <a:latin typeface="微软雅黑"/>
                  <a:ea typeface="微软雅黑"/>
                  <a:cs typeface="微软雅黑"/>
                </a:endParaRPr>
              </a:p>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沟通协同</a:t>
                </a:r>
                <a:endParaRPr lang="zh-CN" altLang="en-US" sz="1000" dirty="0">
                  <a:solidFill>
                    <a:srgbClr val="383838"/>
                  </a:solidFill>
                  <a:latin typeface="微软雅黑"/>
                  <a:ea typeface="微软雅黑"/>
                  <a:cs typeface="微软雅黑"/>
                </a:endParaRPr>
              </a:p>
            </p:txBody>
          </p:sp>
        </p:grpSp>
        <p:pic>
          <p:nvPicPr>
            <p:cNvPr id="603" name="图片 602" descr="沟通能力"/>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7412" y="1746"/>
              <a:ext cx="359" cy="359"/>
            </a:xfrm>
            <a:prstGeom prst="rect">
              <a:avLst/>
            </a:prstGeom>
          </p:spPr>
        </p:pic>
      </p:grpSp>
      <p:grpSp>
        <p:nvGrpSpPr>
          <p:cNvPr id="10" name="组合 9"/>
          <p:cNvGrpSpPr/>
          <p:nvPr/>
        </p:nvGrpSpPr>
        <p:grpSpPr>
          <a:xfrm>
            <a:off x="3618865" y="1210945"/>
            <a:ext cx="685800" cy="685800"/>
            <a:chOff x="5393" y="1746"/>
            <a:chExt cx="1080" cy="1080"/>
          </a:xfrm>
        </p:grpSpPr>
        <p:grpSp>
          <p:nvGrpSpPr>
            <p:cNvPr id="423" name="©显眼包PPT1"/>
            <p:cNvGrpSpPr/>
            <p:nvPr/>
          </p:nvGrpSpPr>
          <p:grpSpPr>
            <a:xfrm rot="0">
              <a:off x="5393" y="1746"/>
              <a:ext cx="1081" cy="1081"/>
              <a:chOff x="5719739" y="3319093"/>
              <a:chExt cx="752522" cy="752522"/>
            </a:xfrm>
          </p:grpSpPr>
          <p:grpSp>
            <p:nvGrpSpPr>
              <p:cNvPr id="424" name="组合 423"/>
              <p:cNvGrpSpPr/>
              <p:nvPr/>
            </p:nvGrpSpPr>
            <p:grpSpPr>
              <a:xfrm>
                <a:off x="5719739" y="3319093"/>
                <a:ext cx="752522" cy="752522"/>
                <a:chOff x="5719739" y="3319093"/>
                <a:chExt cx="752522" cy="752522"/>
              </a:xfrm>
            </p:grpSpPr>
            <p:sp>
              <p:nvSpPr>
                <p:cNvPr id="425"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26"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27"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28"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0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文档处理</a:t>
                </a:r>
                <a:endParaRPr lang="zh-CN" altLang="en-US" sz="1000" dirty="0">
                  <a:solidFill>
                    <a:srgbClr val="383838"/>
                  </a:solidFill>
                  <a:latin typeface="微软雅黑"/>
                  <a:ea typeface="微软雅黑"/>
                  <a:cs typeface="微软雅黑"/>
                </a:endParaRPr>
              </a:p>
            </p:txBody>
          </p:sp>
        </p:grpSp>
        <p:pic>
          <p:nvPicPr>
            <p:cNvPr id="604" name="图片 603" descr="任务"/>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5793" y="1984"/>
              <a:ext cx="282" cy="282"/>
            </a:xfrm>
            <a:prstGeom prst="rect">
              <a:avLst/>
            </a:prstGeom>
          </p:spPr>
        </p:pic>
      </p:grpSp>
      <p:grpSp>
        <p:nvGrpSpPr>
          <p:cNvPr id="15" name="组合 14"/>
          <p:cNvGrpSpPr/>
          <p:nvPr/>
        </p:nvGrpSpPr>
        <p:grpSpPr>
          <a:xfrm>
            <a:off x="9051290" y="1100455"/>
            <a:ext cx="685800" cy="685800"/>
            <a:chOff x="14204" y="1973"/>
            <a:chExt cx="1080" cy="1080"/>
          </a:xfrm>
        </p:grpSpPr>
        <p:grpSp>
          <p:nvGrpSpPr>
            <p:cNvPr id="435" name="©显眼包PPT1"/>
            <p:cNvGrpSpPr/>
            <p:nvPr/>
          </p:nvGrpSpPr>
          <p:grpSpPr>
            <a:xfrm rot="0">
              <a:off x="14204" y="1973"/>
              <a:ext cx="1081" cy="1081"/>
              <a:chOff x="5719739" y="3319093"/>
              <a:chExt cx="752522" cy="752522"/>
            </a:xfrm>
          </p:grpSpPr>
          <p:grpSp>
            <p:nvGrpSpPr>
              <p:cNvPr id="436" name="组合 435"/>
              <p:cNvGrpSpPr/>
              <p:nvPr/>
            </p:nvGrpSpPr>
            <p:grpSpPr>
              <a:xfrm>
                <a:off x="5719739" y="3319093"/>
                <a:ext cx="752522" cy="752522"/>
                <a:chOff x="5719739" y="3319093"/>
                <a:chExt cx="752522" cy="752522"/>
              </a:xfrm>
            </p:grpSpPr>
            <p:sp>
              <p:nvSpPr>
                <p:cNvPr id="437"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38"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39"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81"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2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知识引擎</a:t>
                </a:r>
                <a:endParaRPr lang="zh-CN" altLang="en-US" sz="1000" dirty="0">
                  <a:solidFill>
                    <a:srgbClr val="383838"/>
                  </a:solidFill>
                  <a:latin typeface="微软雅黑"/>
                  <a:ea typeface="微软雅黑"/>
                  <a:cs typeface="微软雅黑"/>
                </a:endParaRPr>
              </a:p>
            </p:txBody>
          </p:sp>
        </p:grpSp>
        <p:pic>
          <p:nvPicPr>
            <p:cNvPr id="605" name="图片 604" descr="知识库管理"/>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4604" y="2226"/>
              <a:ext cx="258" cy="258"/>
            </a:xfrm>
            <a:prstGeom prst="rect">
              <a:avLst/>
            </a:prstGeom>
          </p:spPr>
        </p:pic>
      </p:grpSp>
      <p:grpSp>
        <p:nvGrpSpPr>
          <p:cNvPr id="12" name="组合 11"/>
          <p:cNvGrpSpPr/>
          <p:nvPr/>
        </p:nvGrpSpPr>
        <p:grpSpPr>
          <a:xfrm>
            <a:off x="6878320" y="1299210"/>
            <a:ext cx="685800" cy="685800"/>
            <a:chOff x="11156" y="1561"/>
            <a:chExt cx="1080" cy="1080"/>
          </a:xfrm>
        </p:grpSpPr>
        <p:grpSp>
          <p:nvGrpSpPr>
            <p:cNvPr id="507" name="©显眼包PPT1"/>
            <p:cNvGrpSpPr/>
            <p:nvPr/>
          </p:nvGrpSpPr>
          <p:grpSpPr>
            <a:xfrm rot="0">
              <a:off x="11156" y="1561"/>
              <a:ext cx="1081" cy="1081"/>
              <a:chOff x="5719739" y="3319093"/>
              <a:chExt cx="752522" cy="752522"/>
            </a:xfrm>
          </p:grpSpPr>
          <p:grpSp>
            <p:nvGrpSpPr>
              <p:cNvPr id="508" name="组合 507"/>
              <p:cNvGrpSpPr/>
              <p:nvPr/>
            </p:nvGrpSpPr>
            <p:grpSpPr>
              <a:xfrm>
                <a:off x="5719739" y="3319093"/>
                <a:ext cx="752522" cy="752522"/>
                <a:chOff x="5719739" y="3319093"/>
                <a:chExt cx="752522" cy="752522"/>
              </a:xfrm>
            </p:grpSpPr>
            <p:sp>
              <p:nvSpPr>
                <p:cNvPr id="538"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539"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540"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541"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2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决策支持</a:t>
                </a:r>
                <a:endParaRPr lang="zh-CN" altLang="en-US" sz="1000" dirty="0">
                  <a:solidFill>
                    <a:srgbClr val="383838"/>
                  </a:solidFill>
                  <a:latin typeface="微软雅黑"/>
                  <a:ea typeface="微软雅黑"/>
                  <a:cs typeface="微软雅黑"/>
                </a:endParaRPr>
              </a:p>
            </p:txBody>
          </p:sp>
        </p:grpSp>
        <p:pic>
          <p:nvPicPr>
            <p:cNvPr id="606" name="图片 605" descr="决策"/>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11564" y="1770"/>
              <a:ext cx="335" cy="335"/>
            </a:xfrm>
            <a:prstGeom prst="rect">
              <a:avLst/>
            </a:prstGeom>
          </p:spPr>
        </p:pic>
      </p:grpSp>
      <p:grpSp>
        <p:nvGrpSpPr>
          <p:cNvPr id="14" name="组合 13"/>
          <p:cNvGrpSpPr/>
          <p:nvPr/>
        </p:nvGrpSpPr>
        <p:grpSpPr>
          <a:xfrm>
            <a:off x="7964805" y="1210945"/>
            <a:ext cx="685800" cy="685800"/>
            <a:chOff x="12680" y="1767"/>
            <a:chExt cx="1080" cy="1080"/>
          </a:xfrm>
        </p:grpSpPr>
        <p:grpSp>
          <p:nvGrpSpPr>
            <p:cNvPr id="482" name="©显眼包PPT1"/>
            <p:cNvGrpSpPr/>
            <p:nvPr/>
          </p:nvGrpSpPr>
          <p:grpSpPr>
            <a:xfrm rot="0">
              <a:off x="12680" y="1767"/>
              <a:ext cx="1081" cy="1081"/>
              <a:chOff x="5719739" y="3319093"/>
              <a:chExt cx="752522" cy="752522"/>
            </a:xfrm>
          </p:grpSpPr>
          <p:grpSp>
            <p:nvGrpSpPr>
              <p:cNvPr id="483" name="组合 482"/>
              <p:cNvGrpSpPr/>
              <p:nvPr/>
            </p:nvGrpSpPr>
            <p:grpSpPr>
              <a:xfrm>
                <a:off x="5719739" y="3319093"/>
                <a:ext cx="752522" cy="752522"/>
                <a:chOff x="5719739" y="3319093"/>
                <a:chExt cx="752522" cy="752522"/>
              </a:xfrm>
            </p:grpSpPr>
            <p:sp>
              <p:nvSpPr>
                <p:cNvPr id="484"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85"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86"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87"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2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自动流程</a:t>
                </a:r>
                <a:endParaRPr lang="en-US" altLang="zh-CN" sz="1000" dirty="0">
                  <a:solidFill>
                    <a:srgbClr val="383838"/>
                  </a:solidFill>
                  <a:latin typeface="微软雅黑"/>
                  <a:ea typeface="微软雅黑"/>
                  <a:cs typeface="微软雅黑"/>
                </a:endParaRPr>
              </a:p>
            </p:txBody>
          </p:sp>
        </p:grpSp>
        <p:pic>
          <p:nvPicPr>
            <p:cNvPr id="607" name="图片 606" descr="流程"/>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13079" y="1999"/>
              <a:ext cx="301" cy="301"/>
            </a:xfrm>
            <a:prstGeom prst="rect">
              <a:avLst/>
            </a:prstGeom>
          </p:spPr>
        </p:pic>
      </p:grpSp>
      <p:grpSp>
        <p:nvGrpSpPr>
          <p:cNvPr id="17" name="©显眼包PPT1"/>
          <p:cNvGrpSpPr/>
          <p:nvPr/>
        </p:nvGrpSpPr>
        <p:grpSpPr>
          <a:xfrm rot="0">
            <a:off x="5791835" y="1332230"/>
            <a:ext cx="686435" cy="686435"/>
            <a:chOff x="5719739" y="3319093"/>
            <a:chExt cx="752522" cy="752522"/>
          </a:xfrm>
        </p:grpSpPr>
        <p:grpSp>
          <p:nvGrpSpPr>
            <p:cNvPr id="18" name="组合 17"/>
            <p:cNvGrpSpPr/>
            <p:nvPr/>
          </p:nvGrpSpPr>
          <p:grpSpPr>
            <a:xfrm>
              <a:off x="5719739" y="3319093"/>
              <a:ext cx="752522" cy="752522"/>
              <a:chOff x="5719739" y="3319093"/>
              <a:chExt cx="752522" cy="752522"/>
            </a:xfrm>
          </p:grpSpPr>
          <p:sp>
            <p:nvSpPr>
              <p:cNvPr id="19"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20"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21"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22" name="©显眼包PPT1-4"/>
            <p:cNvSpPr txBox="1"/>
            <p:nvPr/>
          </p:nvSpPr>
          <p:spPr>
            <a:xfrm>
              <a:off x="5810931" y="3701966"/>
              <a:ext cx="575008" cy="187956"/>
            </a:xfrm>
            <a:prstGeom prst="rect">
              <a:avLst/>
            </a:prstGeom>
            <a:noFill/>
          </p:spPr>
          <p:txBody>
            <a:bodyPr wrap="square" lIns="0" tIns="0" rIns="0" bIns="0" rtlCol="0" anchor="t">
              <a:noAutofit/>
            </a:bodyPr>
            <a:lstStyle/>
            <a:p>
              <a:pPr algn="ctr">
                <a:lnSpc>
                  <a:spcPts val="1120"/>
                </a:lnSpc>
                <a:defRPr>
                  <a:latin typeface="微软雅黑"/>
                  <a:ea typeface="微软雅黑"/>
                  <a:cs typeface="微软雅黑"/>
                </a:defRPr>
                <a:spcBef>
                  <a:spcPts val="0"/>
                </a:spcBef>
                <a:spcAft>
                  <a:spcPts val="0"/>
                </a:spcAft>
              </a:pPr>
              <a:r>
                <a:rPr lang="zh-CN" sz="1000" dirty="0">
                  <a:solidFill>
                    <a:srgbClr val="383838"/>
                  </a:solidFill>
                  <a:latin typeface="微软雅黑"/>
                  <a:ea typeface="微软雅黑"/>
                  <a:cs typeface="微软雅黑"/>
                </a:rPr>
                <a:t>安全合规</a:t>
              </a:r>
              <a:endParaRPr lang="zh-CN" sz="1000" dirty="0">
                <a:solidFill>
                  <a:srgbClr val="383838"/>
                </a:solidFill>
                <a:latin typeface="微软雅黑"/>
                <a:ea typeface="微软雅黑"/>
                <a:cs typeface="微软雅黑"/>
              </a:endParaRPr>
            </a:p>
          </p:txBody>
        </p:sp>
      </p:grpSp>
      <p:pic>
        <p:nvPicPr>
          <p:cNvPr id="32" name="图片 31" descr="_安全中心"/>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6041390" y="1483360"/>
            <a:ext cx="177800" cy="177800"/>
          </a:xfrm>
          <a:prstGeom prst="rect">
            <a:avLst/>
          </a:prstGeom>
        </p:spPr>
      </p:pic>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25"/>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fill="hold"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任意多边形 35"/>
          <p:cNvSpPr/>
          <p:nvPr/>
        </p:nvSpPr>
        <p:spPr>
          <a:xfrm flipV="1">
            <a:off x="1809115" y="1988820"/>
            <a:ext cx="8434705" cy="1982470"/>
          </a:xfrm>
          <a:custGeom>
            <a:avLst/>
            <a:gdLst>
              <a:gd name="adj" fmla="val 47127"/>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11977" h="2815">
                <a:moveTo>
                  <a:pt x="0" y="2815"/>
                </a:moveTo>
                <a:lnTo>
                  <a:pt x="1192" y="285"/>
                </a:lnTo>
                <a:lnTo>
                  <a:pt x="1195" y="285"/>
                </a:lnTo>
                <a:lnTo>
                  <a:pt x="1197" y="281"/>
                </a:lnTo>
                <a:cubicBezTo>
                  <a:pt x="1248" y="122"/>
                  <a:pt x="3678" y="-4"/>
                  <a:pt x="6027" y="0"/>
                </a:cubicBezTo>
                <a:cubicBezTo>
                  <a:pt x="8608" y="-5"/>
                  <a:pt x="10735" y="134"/>
                  <a:pt x="10848" y="273"/>
                </a:cubicBezTo>
                <a:lnTo>
                  <a:pt x="10856" y="281"/>
                </a:lnTo>
                <a:lnTo>
                  <a:pt x="10861" y="288"/>
                </a:lnTo>
                <a:lnTo>
                  <a:pt x="10863" y="296"/>
                </a:lnTo>
                <a:lnTo>
                  <a:pt x="10861" y="304"/>
                </a:lnTo>
                <a:lnTo>
                  <a:pt x="10856" y="311"/>
                </a:lnTo>
                <a:lnTo>
                  <a:pt x="10848" y="319"/>
                </a:lnTo>
                <a:lnTo>
                  <a:pt x="10837" y="327"/>
                </a:lnTo>
                <a:lnTo>
                  <a:pt x="10823" y="334"/>
                </a:lnTo>
                <a:lnTo>
                  <a:pt x="10810" y="340"/>
                </a:lnTo>
                <a:lnTo>
                  <a:pt x="11977" y="2815"/>
                </a:lnTo>
                <a:lnTo>
                  <a:pt x="11975" y="2813"/>
                </a:lnTo>
                <a:lnTo>
                  <a:pt x="11965" y="2805"/>
                </a:lnTo>
                <a:lnTo>
                  <a:pt x="11960" y="2797"/>
                </a:lnTo>
                <a:cubicBezTo>
                  <a:pt x="11890" y="2646"/>
                  <a:pt x="8468" y="2528"/>
                  <a:pt x="6246" y="2532"/>
                </a:cubicBezTo>
                <a:lnTo>
                  <a:pt x="6125" y="2532"/>
                </a:lnTo>
                <a:lnTo>
                  <a:pt x="5988" y="2532"/>
                </a:lnTo>
                <a:lnTo>
                  <a:pt x="5836" y="2532"/>
                </a:lnTo>
                <a:lnTo>
                  <a:pt x="5688" y="2532"/>
                </a:lnTo>
                <a:cubicBezTo>
                  <a:pt x="2636" y="2528"/>
                  <a:pt x="127" y="2687"/>
                  <a:pt x="28" y="2792"/>
                </a:cubicBezTo>
                <a:lnTo>
                  <a:pt x="20" y="2798"/>
                </a:lnTo>
                <a:lnTo>
                  <a:pt x="12" y="2805"/>
                </a:lnTo>
                <a:lnTo>
                  <a:pt x="2" y="2813"/>
                </a:lnTo>
                <a:lnTo>
                  <a:pt x="0" y="2815"/>
                </a:lnTo>
                <a:close/>
              </a:path>
            </a:pathLst>
          </a:custGeom>
          <a:gradFill>
            <a:gsLst>
              <a:gs pos="100000">
                <a:srgbClr val="E6E6E6">
                  <a:alpha val="60000"/>
                </a:srgbClr>
              </a:gs>
              <a:gs pos="0">
                <a:srgbClr val="E6E6E6">
                  <a:alpha val="62000"/>
                </a:srgbClr>
              </a:gs>
            </a:gsLst>
            <a:lin ang="5400000" scaled="0"/>
          </a:gradFill>
          <a:ln>
            <a:gradFill>
              <a:gsLst>
                <a:gs pos="77000">
                  <a:srgbClr val="668EFF">
                    <a:alpha val="49000"/>
                  </a:srgbClr>
                </a:gs>
                <a:gs pos="20000">
                  <a:srgbClr val="668EFF">
                    <a:alpha val="49000"/>
                  </a:srgbClr>
                </a:gs>
              </a:gsLst>
              <a:lin ang="5400000" scaled="0"/>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587" name="任意多边形: 形状 374"/>
          <p:cNvSpPr/>
          <p:nvPr/>
        </p:nvSpPr>
        <p:spPr>
          <a:xfrm rot="21420000">
            <a:off x="5225415" y="941705"/>
            <a:ext cx="1759585" cy="2575560"/>
          </a:xfrm>
          <a:custGeom>
            <a:avLst/>
            <a:gdLst>
              <a:gd name="connsiteX0" fmla="*/ 0 w 2574"/>
              <a:gd name="connsiteY0" fmla="*/ 0 h 2483"/>
              <a:gd name="connsiteX1" fmla="*/ 2574 w 2574"/>
              <a:gd name="connsiteY1" fmla="*/ 36 h 2483"/>
              <a:gd name="connsiteX2" fmla="*/ 2008 w 2574"/>
              <a:gd name="connsiteY2" fmla="*/ 1954 h 2483"/>
              <a:gd name="connsiteX3" fmla="*/ 2008 w 2574"/>
              <a:gd name="connsiteY3" fmla="*/ 1954 h 2483"/>
              <a:gd name="connsiteX4" fmla="*/ 2008 w 2574"/>
              <a:gd name="connsiteY4" fmla="*/ 1958 h 2483"/>
              <a:gd name="connsiteX5" fmla="*/ 1171 w 2574"/>
              <a:gd name="connsiteY5" fmla="*/ 2483 h 2483"/>
              <a:gd name="connsiteX6" fmla="*/ 333 w 2574"/>
              <a:gd name="connsiteY6" fmla="*/ 1958 h 2483"/>
              <a:gd name="connsiteX7" fmla="*/ 333 w 2574"/>
              <a:gd name="connsiteY7" fmla="*/ 1954 h 2483"/>
              <a:gd name="connsiteX8" fmla="*/ 333 w 2574"/>
              <a:gd name="connsiteY8" fmla="*/ 1954 h 2483"/>
              <a:gd name="connsiteX9" fmla="*/ 0 w 2574"/>
              <a:gd name="connsiteY9" fmla="*/ 0 h 2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4" h="2483">
                <a:moveTo>
                  <a:pt x="0" y="0"/>
                </a:moveTo>
                <a:lnTo>
                  <a:pt x="2574" y="36"/>
                </a:lnTo>
                <a:lnTo>
                  <a:pt x="2008" y="1954"/>
                </a:lnTo>
                <a:lnTo>
                  <a:pt x="2008" y="1954"/>
                </a:lnTo>
                <a:lnTo>
                  <a:pt x="2008" y="1958"/>
                </a:lnTo>
                <a:cubicBezTo>
                  <a:pt x="2008" y="2248"/>
                  <a:pt x="1633" y="2483"/>
                  <a:pt x="1171" y="2483"/>
                </a:cubicBezTo>
                <a:cubicBezTo>
                  <a:pt x="708" y="2483"/>
                  <a:pt x="333" y="2248"/>
                  <a:pt x="333" y="1958"/>
                </a:cubicBezTo>
                <a:lnTo>
                  <a:pt x="333" y="1954"/>
                </a:lnTo>
                <a:lnTo>
                  <a:pt x="333" y="1954"/>
                </a:lnTo>
                <a:lnTo>
                  <a:pt x="0" y="0"/>
                </a:lnTo>
                <a:close/>
              </a:path>
            </a:pathLst>
          </a:custGeom>
          <a:gradFill>
            <a:gsLst>
              <a:gs pos="100000">
                <a:srgbClr val="FFFFFF">
                  <a:alpha val="100000"/>
                </a:srgbClr>
              </a:gs>
              <a:gs pos="0">
                <a:srgbClr val="FFFFFF">
                  <a:alpha val="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81" name="显眼包PPT3"/>
          <p:cNvSpPr/>
          <p:nvPr/>
        </p:nvSpPr>
        <p:spPr>
          <a:xfrm rot="16200000" flipH="1">
            <a:off x="8255635" y="2431415"/>
            <a:ext cx="3296920" cy="5426075"/>
          </a:xfrm>
          <a:custGeom>
            <a:avLst/>
            <a:gdLst>
              <a:gd name="connsiteX0" fmla="*/ 0 w 3515232"/>
              <a:gd name="connsiteY0" fmla="*/ 4417977 h 4417977"/>
              <a:gd name="connsiteX1" fmla="*/ 3515232 w 3515232"/>
              <a:gd name="connsiteY1" fmla="*/ 4417977 h 4417977"/>
              <a:gd name="connsiteX2" fmla="*/ 3481313 w 3515232"/>
              <a:gd name="connsiteY2" fmla="*/ 4321859 h 4417977"/>
              <a:gd name="connsiteX3" fmla="*/ 3167594 w 3515232"/>
              <a:gd name="connsiteY3" fmla="*/ 3264867 h 4417977"/>
              <a:gd name="connsiteX4" fmla="*/ 2774364 w 3515232"/>
              <a:gd name="connsiteY4" fmla="*/ 193088 h 4417977"/>
              <a:gd name="connsiteX5" fmla="*/ 2797515 w 3515232"/>
              <a:gd name="connsiteY5" fmla="*/ 0 h 4417977"/>
              <a:gd name="connsiteX6" fmla="*/ 717716 w 3515232"/>
              <a:gd name="connsiteY6" fmla="*/ 0 h 4417977"/>
              <a:gd name="connsiteX7" fmla="*/ 740867 w 3515232"/>
              <a:gd name="connsiteY7" fmla="*/ 193090 h 4417977"/>
              <a:gd name="connsiteX8" fmla="*/ 347637 w 3515232"/>
              <a:gd name="connsiteY8" fmla="*/ 3264868 h 4417977"/>
              <a:gd name="connsiteX9" fmla="*/ 33918 w 3515232"/>
              <a:gd name="connsiteY9" fmla="*/ 4321860 h 441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5232" h="4417977">
                <a:moveTo>
                  <a:pt x="0" y="4417977"/>
                </a:moveTo>
                <a:lnTo>
                  <a:pt x="3515232" y="4417977"/>
                </a:lnTo>
                <a:lnTo>
                  <a:pt x="3481313" y="4321859"/>
                </a:lnTo>
                <a:cubicBezTo>
                  <a:pt x="3369439" y="3991253"/>
                  <a:pt x="3263527" y="3636383"/>
                  <a:pt x="3167594" y="3264867"/>
                </a:cubicBezTo>
                <a:cubicBezTo>
                  <a:pt x="2847820" y="2026481"/>
                  <a:pt x="2714622" y="896235"/>
                  <a:pt x="2774364" y="193088"/>
                </a:cubicBezTo>
                <a:lnTo>
                  <a:pt x="2797515" y="0"/>
                </a:lnTo>
                <a:lnTo>
                  <a:pt x="717716" y="0"/>
                </a:lnTo>
                <a:lnTo>
                  <a:pt x="740867" y="193090"/>
                </a:lnTo>
                <a:cubicBezTo>
                  <a:pt x="800609" y="896236"/>
                  <a:pt x="667412" y="2026482"/>
                  <a:pt x="347637" y="3264868"/>
                </a:cubicBezTo>
                <a:cubicBezTo>
                  <a:pt x="251705" y="3636384"/>
                  <a:pt x="145792" y="3991254"/>
                  <a:pt x="33918" y="4321860"/>
                </a:cubicBezTo>
                <a:close/>
              </a:path>
            </a:pathLst>
          </a:custGeom>
          <a:gradFill>
            <a:gsLst>
              <a:gs pos="0">
                <a:srgbClr val="B3D4FE">
                  <a:alpha val="0"/>
                </a:srgbClr>
              </a:gs>
              <a:gs pos="100000">
                <a:srgbClr val="B3D4FE">
                  <a:alpha val="0"/>
                </a:srgbClr>
              </a:gs>
              <a:gs pos="73000">
                <a:srgbClr val="B3D4FE">
                  <a:alpha val="24000"/>
                </a:srgbClr>
              </a:gs>
            </a:gsLst>
            <a:lin ang="5400000" scaled="1"/>
          </a:gradFill>
          <a:ln>
            <a:gradFill>
              <a:gsLst>
                <a:gs pos="55600">
                  <a:srgbClr val="B3D4FE"/>
                </a:gs>
                <a:gs pos="23000">
                  <a:srgbClr val="B3D4FE">
                    <a:alpha val="0"/>
                  </a:srgbClr>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67" name="显眼包PPT3"/>
          <p:cNvSpPr/>
          <p:nvPr/>
        </p:nvSpPr>
        <p:spPr>
          <a:xfrm rot="5400000">
            <a:off x="1063625" y="2431415"/>
            <a:ext cx="3296920" cy="5426075"/>
          </a:xfrm>
          <a:custGeom>
            <a:avLst/>
            <a:gdLst>
              <a:gd name="connsiteX0" fmla="*/ 0 w 3515232"/>
              <a:gd name="connsiteY0" fmla="*/ 4417977 h 4417977"/>
              <a:gd name="connsiteX1" fmla="*/ 3515232 w 3515232"/>
              <a:gd name="connsiteY1" fmla="*/ 4417977 h 4417977"/>
              <a:gd name="connsiteX2" fmla="*/ 3481313 w 3515232"/>
              <a:gd name="connsiteY2" fmla="*/ 4321859 h 4417977"/>
              <a:gd name="connsiteX3" fmla="*/ 3167594 w 3515232"/>
              <a:gd name="connsiteY3" fmla="*/ 3264867 h 4417977"/>
              <a:gd name="connsiteX4" fmla="*/ 2774364 w 3515232"/>
              <a:gd name="connsiteY4" fmla="*/ 193088 h 4417977"/>
              <a:gd name="connsiteX5" fmla="*/ 2797515 w 3515232"/>
              <a:gd name="connsiteY5" fmla="*/ 0 h 4417977"/>
              <a:gd name="connsiteX6" fmla="*/ 717716 w 3515232"/>
              <a:gd name="connsiteY6" fmla="*/ 0 h 4417977"/>
              <a:gd name="connsiteX7" fmla="*/ 740867 w 3515232"/>
              <a:gd name="connsiteY7" fmla="*/ 193090 h 4417977"/>
              <a:gd name="connsiteX8" fmla="*/ 347637 w 3515232"/>
              <a:gd name="connsiteY8" fmla="*/ 3264868 h 4417977"/>
              <a:gd name="connsiteX9" fmla="*/ 33918 w 3515232"/>
              <a:gd name="connsiteY9" fmla="*/ 4321860 h 441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5232" h="4417977">
                <a:moveTo>
                  <a:pt x="0" y="4417977"/>
                </a:moveTo>
                <a:lnTo>
                  <a:pt x="3515232" y="4417977"/>
                </a:lnTo>
                <a:lnTo>
                  <a:pt x="3481313" y="4321859"/>
                </a:lnTo>
                <a:cubicBezTo>
                  <a:pt x="3369439" y="3991253"/>
                  <a:pt x="3263527" y="3636383"/>
                  <a:pt x="3167594" y="3264867"/>
                </a:cubicBezTo>
                <a:cubicBezTo>
                  <a:pt x="2847820" y="2026481"/>
                  <a:pt x="2714622" y="896235"/>
                  <a:pt x="2774364" y="193088"/>
                </a:cubicBezTo>
                <a:lnTo>
                  <a:pt x="2797515" y="0"/>
                </a:lnTo>
                <a:lnTo>
                  <a:pt x="717716" y="0"/>
                </a:lnTo>
                <a:lnTo>
                  <a:pt x="740867" y="193090"/>
                </a:lnTo>
                <a:cubicBezTo>
                  <a:pt x="800609" y="896236"/>
                  <a:pt x="667412" y="2026482"/>
                  <a:pt x="347637" y="3264868"/>
                </a:cubicBezTo>
                <a:cubicBezTo>
                  <a:pt x="251705" y="3636384"/>
                  <a:pt x="145792" y="3991254"/>
                  <a:pt x="33918" y="4321860"/>
                </a:cubicBezTo>
                <a:close/>
              </a:path>
            </a:pathLst>
          </a:custGeom>
          <a:gradFill>
            <a:gsLst>
              <a:gs pos="0">
                <a:srgbClr val="B3D4FE">
                  <a:alpha val="0"/>
                </a:srgbClr>
              </a:gs>
              <a:gs pos="100000">
                <a:srgbClr val="B3D4FE">
                  <a:alpha val="0"/>
                </a:srgbClr>
              </a:gs>
              <a:gs pos="73000">
                <a:srgbClr val="B3D4FE">
                  <a:alpha val="24000"/>
                </a:srgbClr>
              </a:gs>
            </a:gsLst>
            <a:lin ang="5400000" scaled="1"/>
          </a:gradFill>
          <a:ln>
            <a:gradFill>
              <a:gsLst>
                <a:gs pos="55600">
                  <a:srgbClr val="B3D4FE"/>
                </a:gs>
                <a:gs pos="23000">
                  <a:srgbClr val="B3D4FE">
                    <a:alpha val="0"/>
                  </a:srgbClr>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0" name="显眼包PPT10"/>
          <p:cNvSpPr/>
          <p:nvPr/>
        </p:nvSpPr>
        <p:spPr>
          <a:xfrm>
            <a:off x="1211580" y="5866765"/>
            <a:ext cx="9596120" cy="926464"/>
          </a:xfrm>
          <a:custGeom>
            <a:avLst/>
            <a:gdLst>
              <a:gd name="connsiteX0" fmla="*/ 553814 w 10737672"/>
              <a:gd name="connsiteY0" fmla="*/ 0 h 759065"/>
              <a:gd name="connsiteX1" fmla="*/ 579806 w 10737672"/>
              <a:gd name="connsiteY1" fmla="*/ 0 h 759065"/>
              <a:gd name="connsiteX2" fmla="*/ 660566 w 10737672"/>
              <a:gd name="connsiteY2" fmla="*/ 30978 h 759065"/>
              <a:gd name="connsiteX3" fmla="*/ 5368925 w 10737672"/>
              <a:gd name="connsiteY3" fmla="*/ 179364 h 759065"/>
              <a:gd name="connsiteX4" fmla="*/ 10077284 w 10737672"/>
              <a:gd name="connsiteY4" fmla="*/ 30978 h 759065"/>
              <a:gd name="connsiteX5" fmla="*/ 10158045 w 10737672"/>
              <a:gd name="connsiteY5" fmla="*/ 0 h 759065"/>
              <a:gd name="connsiteX6" fmla="*/ 10183858 w 10737672"/>
              <a:gd name="connsiteY6" fmla="*/ 0 h 759065"/>
              <a:gd name="connsiteX7" fmla="*/ 10732255 w 10737672"/>
              <a:gd name="connsiteY7" fmla="*/ 450011 h 759065"/>
              <a:gd name="connsiteX8" fmla="*/ 10715254 w 10737672"/>
              <a:gd name="connsiteY8" fmla="*/ 450011 h 759065"/>
              <a:gd name="connsiteX9" fmla="*/ 10737672 w 10737672"/>
              <a:gd name="connsiteY9" fmla="*/ 462303 h 759065"/>
              <a:gd name="connsiteX10" fmla="*/ 5368836 w 10737672"/>
              <a:gd name="connsiteY10" fmla="*/ 759065 h 759065"/>
              <a:gd name="connsiteX11" fmla="*/ 0 w 10737672"/>
              <a:gd name="connsiteY11" fmla="*/ 462303 h 759065"/>
              <a:gd name="connsiteX12" fmla="*/ 22418 w 10737672"/>
              <a:gd name="connsiteY12" fmla="*/ 450011 h 759065"/>
              <a:gd name="connsiteX13" fmla="*/ 5417 w 10737672"/>
              <a:gd name="connsiteY13" fmla="*/ 450011 h 75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12" h="1459">
                <a:moveTo>
                  <a:pt x="779" y="0"/>
                </a:moveTo>
                <a:lnTo>
                  <a:pt x="816" y="0"/>
                </a:lnTo>
                <a:cubicBezTo>
                  <a:pt x="975" y="94"/>
                  <a:pt x="1213" y="122"/>
                  <a:pt x="1356" y="133"/>
                </a:cubicBezTo>
                <a:cubicBezTo>
                  <a:pt x="2293" y="302"/>
                  <a:pt x="5144" y="422"/>
                  <a:pt x="7610" y="417"/>
                </a:cubicBezTo>
                <a:cubicBezTo>
                  <a:pt x="11107" y="430"/>
                  <a:pt x="14079" y="205"/>
                  <a:pt x="14346" y="15"/>
                </a:cubicBezTo>
                <a:lnTo>
                  <a:pt x="15104" y="865"/>
                </a:lnTo>
                <a:lnTo>
                  <a:pt x="15080" y="865"/>
                </a:lnTo>
                <a:lnTo>
                  <a:pt x="15112" y="888"/>
                </a:lnTo>
                <a:lnTo>
                  <a:pt x="15109" y="903"/>
                </a:lnTo>
                <a:lnTo>
                  <a:pt x="15102" y="918"/>
                </a:lnTo>
                <a:lnTo>
                  <a:pt x="15095" y="933"/>
                </a:lnTo>
                <a:cubicBezTo>
                  <a:pt x="15017" y="1232"/>
                  <a:pt x="10938" y="1466"/>
                  <a:pt x="7731" y="1459"/>
                </a:cubicBezTo>
                <a:lnTo>
                  <a:pt x="7556" y="1459"/>
                </a:lnTo>
                <a:lnTo>
                  <a:pt x="7365" y="1459"/>
                </a:lnTo>
                <a:cubicBezTo>
                  <a:pt x="3426" y="1468"/>
                  <a:pt x="182" y="1179"/>
                  <a:pt x="33" y="946"/>
                </a:cubicBezTo>
                <a:lnTo>
                  <a:pt x="23" y="933"/>
                </a:lnTo>
                <a:lnTo>
                  <a:pt x="10" y="918"/>
                </a:lnTo>
                <a:lnTo>
                  <a:pt x="3" y="903"/>
                </a:lnTo>
                <a:lnTo>
                  <a:pt x="0" y="888"/>
                </a:lnTo>
                <a:lnTo>
                  <a:pt x="32" y="865"/>
                </a:lnTo>
                <a:lnTo>
                  <a:pt x="8" y="865"/>
                </a:lnTo>
                <a:lnTo>
                  <a:pt x="779" y="0"/>
                </a:lnTo>
                <a:close/>
              </a:path>
            </a:pathLst>
          </a:custGeom>
          <a:gradFill flip="none" rotWithShape="1">
            <a:gsLst>
              <a:gs pos="0">
                <a:srgbClr val="3368FF"/>
              </a:gs>
              <a:gs pos="85000">
                <a:srgbClr val="0042FF"/>
              </a:gs>
            </a:gsLst>
            <a:lin ang="5400000" scaled="0"/>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26" name="椭圆 25"/>
          <p:cNvSpPr/>
          <p:nvPr/>
        </p:nvSpPr>
        <p:spPr>
          <a:xfrm>
            <a:off x="1804670" y="5507990"/>
            <a:ext cx="8443595" cy="537845"/>
          </a:xfrm>
          <a:prstGeom prst="ellipse">
            <a:avLst/>
          </a:prstGeom>
          <a:solidFill>
            <a:srgbClr val="FFFFFF"/>
          </a:solidFill>
          <a:ln w="19050">
            <a:gradFill>
              <a:gsLst>
                <a:gs pos="0">
                  <a:srgbClr val="3368FF">
                    <a:alpha val="0"/>
                  </a:srgbClr>
                </a:gs>
                <a:gs pos="100000">
                  <a:srgbClr val="3368FF"/>
                </a:gs>
              </a:gsLst>
              <a:lin ang="5400000" scaled="1"/>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28" name="椭圆 127"/>
          <p:cNvSpPr/>
          <p:nvPr/>
        </p:nvSpPr>
        <p:spPr>
          <a:xfrm>
            <a:off x="1816100" y="5507990"/>
            <a:ext cx="8443595" cy="537845"/>
          </a:xfrm>
          <a:prstGeom prst="ellipse">
            <a:avLst/>
          </a:prstGeom>
          <a:gradFill>
            <a:gsLst>
              <a:gs pos="100000">
                <a:srgbClr val="E6E6E6"/>
              </a:gs>
              <a:gs pos="0">
                <a:srgbClr val="3368FF">
                  <a:alpha val="0"/>
                </a:srgbClr>
              </a:gs>
            </a:gsLst>
            <a:lin ang="5400000" scaled="1"/>
          </a:gradFill>
          <a:ln w="47625">
            <a:gradFill>
              <a:gsLst>
                <a:gs pos="12000">
                  <a:srgbClr val="3368FF">
                    <a:alpha val="0"/>
                  </a:srgbClr>
                </a:gs>
                <a:gs pos="52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5"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智能办公数字化应用架构</a:t>
            </a:r>
            <a:endParaRPr lang="zh-CN" altLang="en-US" sz="2500" dirty="0">
              <a:solidFill>
                <a:srgbClr val="383838"/>
              </a:solidFill>
              <a:effectLst/>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3" name="椭圆 12"/>
          <p:cNvSpPr/>
          <p:nvPr/>
        </p:nvSpPr>
        <p:spPr>
          <a:xfrm>
            <a:off x="2755265" y="4824095"/>
            <a:ext cx="6542405" cy="417195"/>
          </a:xfrm>
          <a:prstGeom prst="ellipse">
            <a:avLst/>
          </a:prstGeom>
          <a:gradFill>
            <a:gsLst>
              <a:gs pos="100000">
                <a:srgbClr val="B3D4FE">
                  <a:alpha val="64000"/>
                </a:srgbClr>
              </a:gs>
              <a:gs pos="20000">
                <a:srgbClr val="B3D4FE">
                  <a:alpha val="0"/>
                </a:srgbClr>
              </a:gs>
            </a:gsLst>
            <a:lin ang="5400000" scaled="1"/>
          </a:gradFill>
          <a:ln w="31750">
            <a:gradFill>
              <a:gsLst>
                <a:gs pos="1900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78" name="任意多边形 177"/>
          <p:cNvSpPr/>
          <p:nvPr/>
        </p:nvSpPr>
        <p:spPr>
          <a:xfrm>
            <a:off x="2756535" y="5016500"/>
            <a:ext cx="6542405" cy="847090"/>
          </a:xfrm>
          <a:custGeom>
            <a:avLst/>
            <a:gdLst/>
            <a:ahLst/>
            <a:cxnLst>
              <a:cxn ang="3">
                <a:pos x="hc" y="t"/>
              </a:cxn>
              <a:cxn ang="cd2">
                <a:pos x="l" y="vc"/>
              </a:cxn>
              <a:cxn ang="cd4">
                <a:pos x="hc" y="b"/>
              </a:cxn>
              <a:cxn ang="0">
                <a:pos x="r" y="vc"/>
              </a:cxn>
            </a:cxnLst>
            <a:rect l="l" t="t" r="r" b="b"/>
            <a:pathLst>
              <a:path w="10303" h="1334">
                <a:moveTo>
                  <a:pt x="0" y="0"/>
                </a:moveTo>
                <a:lnTo>
                  <a:pt x="5" y="0"/>
                </a:lnTo>
                <a:lnTo>
                  <a:pt x="0" y="7"/>
                </a:lnTo>
                <a:lnTo>
                  <a:pt x="0" y="0"/>
                </a:lnTo>
                <a:close/>
                <a:moveTo>
                  <a:pt x="10294" y="0"/>
                </a:moveTo>
                <a:lnTo>
                  <a:pt x="10301" y="0"/>
                </a:lnTo>
                <a:lnTo>
                  <a:pt x="10301" y="17"/>
                </a:lnTo>
                <a:lnTo>
                  <a:pt x="10299" y="8"/>
                </a:lnTo>
                <a:lnTo>
                  <a:pt x="10294" y="0"/>
                </a:lnTo>
                <a:close/>
                <a:moveTo>
                  <a:pt x="10301" y="17"/>
                </a:moveTo>
                <a:lnTo>
                  <a:pt x="10301" y="996"/>
                </a:lnTo>
                <a:lnTo>
                  <a:pt x="10301" y="997"/>
                </a:lnTo>
                <a:lnTo>
                  <a:pt x="10303" y="1006"/>
                </a:lnTo>
                <a:lnTo>
                  <a:pt x="10301" y="1014"/>
                </a:lnTo>
                <a:lnTo>
                  <a:pt x="10301" y="1015"/>
                </a:lnTo>
                <a:lnTo>
                  <a:pt x="10301" y="1032"/>
                </a:lnTo>
                <a:lnTo>
                  <a:pt x="10286" y="1032"/>
                </a:lnTo>
                <a:cubicBezTo>
                  <a:pt x="10169" y="1202"/>
                  <a:pt x="7607" y="1339"/>
                  <a:pt x="5152" y="1334"/>
                </a:cubicBezTo>
                <a:cubicBezTo>
                  <a:pt x="2403" y="1340"/>
                  <a:pt x="134" y="1184"/>
                  <a:pt x="17" y="1032"/>
                </a:cubicBezTo>
                <a:lnTo>
                  <a:pt x="0" y="1032"/>
                </a:lnTo>
                <a:lnTo>
                  <a:pt x="0" y="26"/>
                </a:lnTo>
                <a:lnTo>
                  <a:pt x="5" y="34"/>
                </a:lnTo>
                <a:lnTo>
                  <a:pt x="13" y="42"/>
                </a:lnTo>
                <a:lnTo>
                  <a:pt x="18" y="50"/>
                </a:lnTo>
                <a:cubicBezTo>
                  <a:pt x="78" y="219"/>
                  <a:pt x="3019" y="349"/>
                  <a:pt x="4928" y="345"/>
                </a:cubicBezTo>
                <a:lnTo>
                  <a:pt x="5032" y="345"/>
                </a:lnTo>
                <a:lnTo>
                  <a:pt x="5150" y="345"/>
                </a:lnTo>
                <a:lnTo>
                  <a:pt x="5280" y="345"/>
                </a:lnTo>
                <a:lnTo>
                  <a:pt x="5408" y="345"/>
                </a:lnTo>
                <a:cubicBezTo>
                  <a:pt x="8031" y="349"/>
                  <a:pt x="10187" y="173"/>
                  <a:pt x="10272" y="56"/>
                </a:cubicBezTo>
                <a:lnTo>
                  <a:pt x="10278" y="49"/>
                </a:lnTo>
                <a:lnTo>
                  <a:pt x="10286" y="42"/>
                </a:lnTo>
                <a:lnTo>
                  <a:pt x="10294" y="34"/>
                </a:lnTo>
                <a:lnTo>
                  <a:pt x="10299" y="25"/>
                </a:lnTo>
                <a:lnTo>
                  <a:pt x="10301" y="17"/>
                </a:lnTo>
                <a:close/>
              </a:path>
            </a:pathLst>
          </a:custGeom>
          <a:gradFill>
            <a:gsLst>
              <a:gs pos="100000">
                <a:srgbClr val="B3D4FE"/>
              </a:gs>
              <a:gs pos="0">
                <a:srgbClr val="B3D4FE">
                  <a:alpha val="0"/>
                </a:srgbClr>
              </a:gs>
            </a:gsLst>
            <a:lin ang="5400000" scaled="1"/>
          </a:gradFill>
          <a:ln w="31750">
            <a:gradFill>
              <a:gsLst>
                <a:gs pos="4200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83" name="圆角矩形 182"/>
          <p:cNvSpPr/>
          <p:nvPr/>
        </p:nvSpPr>
        <p:spPr>
          <a:xfrm>
            <a:off x="4688840" y="5339715"/>
            <a:ext cx="2395855" cy="405130"/>
          </a:xfrm>
          <a:prstGeom prst="roundRect">
            <a:avLst>
              <a:gd name="adj" fmla="val 50000"/>
            </a:avLst>
          </a:prstGeom>
          <a:gradFill>
            <a:gsLst>
              <a:gs pos="0">
                <a:srgbClr val="3368FF"/>
              </a:gs>
              <a:gs pos="100000">
                <a:srgbClr val="B3D4FE"/>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en-US" altLang="zh-CN" b="1">
                <a:solidFill>
                  <a:srgbClr val="FFFFFF"/>
                </a:solidFill>
                <a:latin typeface="微软雅黑"/>
                <a:ea typeface="微软雅黑"/>
                <a:cs typeface="微软雅黑"/>
              </a:rPr>
              <a:t>AI</a:t>
            </a:r>
            <a:r>
              <a:rPr lang="zh-CN" altLang="en-US" b="1">
                <a:solidFill>
                  <a:srgbClr val="FFFFFF"/>
                </a:solidFill>
                <a:latin typeface="微软雅黑"/>
                <a:ea typeface="微软雅黑"/>
                <a:cs typeface="微软雅黑"/>
              </a:rPr>
              <a:t>基础大模型</a:t>
            </a:r>
            <a:endParaRPr lang="zh-CN" altLang="en-US" b="1">
              <a:solidFill>
                <a:srgbClr val="FFFFFF"/>
              </a:solidFill>
              <a:latin typeface="微软雅黑"/>
              <a:ea typeface="微软雅黑"/>
              <a:cs typeface="微软雅黑"/>
            </a:endParaRPr>
          </a:p>
        </p:txBody>
      </p:sp>
      <p:sp>
        <p:nvSpPr>
          <p:cNvPr id="199" name="椭圆 198"/>
          <p:cNvSpPr/>
          <p:nvPr/>
        </p:nvSpPr>
        <p:spPr>
          <a:xfrm>
            <a:off x="5012055" y="5974715"/>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00" name="矩形 199"/>
          <p:cNvSpPr/>
          <p:nvPr/>
        </p:nvSpPr>
        <p:spPr>
          <a:xfrm>
            <a:off x="4550410" y="6209030"/>
            <a:ext cx="1053465"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跨平台融合</a:t>
            </a:r>
            <a:endParaRPr lang="zh-CN" altLang="en-US" sz="1200" b="1" dirty="0">
              <a:solidFill>
                <a:srgbClr val="FFFFFF"/>
              </a:solidFill>
              <a:latin typeface="微软雅黑"/>
              <a:ea typeface="微软雅黑"/>
              <a:cs typeface="微软雅黑"/>
            </a:endParaRPr>
          </a:p>
        </p:txBody>
      </p:sp>
      <p:sp>
        <p:nvSpPr>
          <p:cNvPr id="201" name="矩形 200"/>
          <p:cNvSpPr/>
          <p:nvPr/>
        </p:nvSpPr>
        <p:spPr>
          <a:xfrm>
            <a:off x="4061460" y="6424930"/>
            <a:ext cx="2040890"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无缝连接各类办公系统</a:t>
            </a:r>
            <a:endParaRPr lang="zh-CN" altLang="en-US" sz="1000" dirty="0">
              <a:solidFill>
                <a:srgbClr val="FFFFFF"/>
              </a:solidFill>
              <a:latin typeface="微软雅黑"/>
              <a:ea typeface="微软雅黑"/>
              <a:cs typeface="微软雅黑"/>
            </a:endParaRPr>
          </a:p>
        </p:txBody>
      </p:sp>
      <p:sp>
        <p:nvSpPr>
          <p:cNvPr id="202" name="椭圆 201"/>
          <p:cNvSpPr/>
          <p:nvPr/>
        </p:nvSpPr>
        <p:spPr>
          <a:xfrm>
            <a:off x="6995160" y="5974715"/>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03" name="矩形 202"/>
          <p:cNvSpPr/>
          <p:nvPr/>
        </p:nvSpPr>
        <p:spPr>
          <a:xfrm>
            <a:off x="6735445" y="6186170"/>
            <a:ext cx="826770"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算力保障</a:t>
            </a:r>
            <a:endParaRPr lang="zh-CN" altLang="en-US" sz="1200" b="1" dirty="0">
              <a:solidFill>
                <a:srgbClr val="FFFFFF"/>
              </a:solidFill>
              <a:latin typeface="微软雅黑"/>
              <a:ea typeface="微软雅黑"/>
              <a:cs typeface="微软雅黑"/>
            </a:endParaRPr>
          </a:p>
        </p:txBody>
      </p:sp>
      <p:sp>
        <p:nvSpPr>
          <p:cNvPr id="204" name="矩形 203"/>
          <p:cNvSpPr/>
          <p:nvPr/>
        </p:nvSpPr>
        <p:spPr>
          <a:xfrm>
            <a:off x="6128385" y="6402070"/>
            <a:ext cx="2040890"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高性能</a:t>
            </a:r>
            <a:r>
              <a:rPr lang="en-US" altLang="zh-CN" sz="1000" dirty="0">
                <a:solidFill>
                  <a:srgbClr val="FFFFFF"/>
                </a:solidFill>
                <a:latin typeface="微软雅黑"/>
                <a:ea typeface="微软雅黑"/>
                <a:cs typeface="微软雅黑"/>
              </a:rPr>
              <a:t>GPU</a:t>
            </a:r>
            <a:r>
              <a:rPr lang="zh-CN" altLang="en-US" sz="1000" dirty="0">
                <a:solidFill>
                  <a:srgbClr val="FFFFFF"/>
                </a:solidFill>
                <a:latin typeface="微软雅黑"/>
                <a:ea typeface="微软雅黑"/>
                <a:cs typeface="微软雅黑"/>
              </a:rPr>
              <a:t>算力一体机</a:t>
            </a:r>
            <a:endParaRPr lang="zh-CN" altLang="en-US" sz="1000" dirty="0">
              <a:solidFill>
                <a:srgbClr val="FFFFFF"/>
              </a:solidFill>
              <a:latin typeface="微软雅黑"/>
              <a:ea typeface="微软雅黑"/>
              <a:cs typeface="微软雅黑"/>
            </a:endParaRPr>
          </a:p>
        </p:txBody>
      </p:sp>
      <p:sp>
        <p:nvSpPr>
          <p:cNvPr id="205" name="椭圆 204"/>
          <p:cNvSpPr/>
          <p:nvPr/>
        </p:nvSpPr>
        <p:spPr>
          <a:xfrm>
            <a:off x="2609850" y="5899150"/>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06" name="矩形 205"/>
          <p:cNvSpPr/>
          <p:nvPr/>
        </p:nvSpPr>
        <p:spPr>
          <a:xfrm rot="360000">
            <a:off x="2104390" y="6116955"/>
            <a:ext cx="1082675"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自动化流程</a:t>
            </a:r>
            <a:endParaRPr lang="zh-CN" altLang="en-US" sz="1200" b="1" dirty="0">
              <a:solidFill>
                <a:srgbClr val="FFFFFF"/>
              </a:solidFill>
              <a:latin typeface="微软雅黑"/>
              <a:ea typeface="微软雅黑"/>
              <a:cs typeface="微软雅黑"/>
            </a:endParaRPr>
          </a:p>
        </p:txBody>
      </p:sp>
      <p:sp>
        <p:nvSpPr>
          <p:cNvPr id="207" name="矩形 206"/>
          <p:cNvSpPr/>
          <p:nvPr/>
        </p:nvSpPr>
        <p:spPr>
          <a:xfrm rot="300000">
            <a:off x="1598295" y="6337300"/>
            <a:ext cx="2040890"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实现任务端到端智能流转</a:t>
            </a:r>
            <a:endParaRPr lang="zh-CN" altLang="en-US" sz="1000" dirty="0">
              <a:solidFill>
                <a:srgbClr val="FFFFFF"/>
              </a:solidFill>
              <a:latin typeface="微软雅黑"/>
              <a:ea typeface="微软雅黑"/>
              <a:cs typeface="微软雅黑"/>
            </a:endParaRPr>
          </a:p>
        </p:txBody>
      </p:sp>
      <p:sp>
        <p:nvSpPr>
          <p:cNvPr id="208" name="矩形 207"/>
          <p:cNvSpPr/>
          <p:nvPr/>
        </p:nvSpPr>
        <p:spPr>
          <a:xfrm rot="21240000">
            <a:off x="9187815" y="6032500"/>
            <a:ext cx="826770" cy="2597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数据安全</a:t>
            </a:r>
            <a:endParaRPr lang="zh-CN" altLang="en-US" sz="1200" b="1" dirty="0">
              <a:solidFill>
                <a:srgbClr val="FFFFFF"/>
              </a:solidFill>
              <a:latin typeface="微软雅黑"/>
              <a:ea typeface="微软雅黑"/>
              <a:cs typeface="微软雅黑"/>
            </a:endParaRPr>
          </a:p>
        </p:txBody>
      </p:sp>
      <p:sp>
        <p:nvSpPr>
          <p:cNvPr id="209" name="矩形 208"/>
          <p:cNvSpPr/>
          <p:nvPr/>
        </p:nvSpPr>
        <p:spPr>
          <a:xfrm rot="21300000">
            <a:off x="8670925" y="6271260"/>
            <a:ext cx="1964055" cy="282575"/>
          </a:xfrm>
          <a:prstGeom prst="rect">
            <a:avLst/>
          </a:prstGeom>
        </p:spPr>
        <p:txBody>
          <a:bodyPr wrap="square"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全链路加密与权限分级管控</a:t>
            </a:r>
            <a:endParaRPr lang="zh-CN" altLang="en-US" sz="1000" dirty="0">
              <a:solidFill>
                <a:srgbClr val="FFFFFF"/>
              </a:solidFill>
              <a:latin typeface="微软雅黑"/>
              <a:ea typeface="微软雅黑"/>
              <a:cs typeface="微软雅黑"/>
            </a:endParaRPr>
          </a:p>
        </p:txBody>
      </p:sp>
      <p:sp>
        <p:nvSpPr>
          <p:cNvPr id="210" name="椭圆 209"/>
          <p:cNvSpPr/>
          <p:nvPr/>
        </p:nvSpPr>
        <p:spPr>
          <a:xfrm>
            <a:off x="9528175" y="5840730"/>
            <a:ext cx="146685" cy="146685"/>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85" name="文本框 284"/>
          <p:cNvSpPr txBox="1"/>
          <p:nvPr/>
        </p:nvSpPr>
        <p:spPr>
          <a:xfrm>
            <a:off x="1009040" y="4247543"/>
            <a:ext cx="685800" cy="2768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知识力</a:t>
            </a:r>
            <a:endPar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sp>
        <p:nvSpPr>
          <p:cNvPr id="287" name="文本框 286"/>
          <p:cNvSpPr txBox="1"/>
          <p:nvPr/>
        </p:nvSpPr>
        <p:spPr>
          <a:xfrm>
            <a:off x="244475" y="4736465"/>
            <a:ext cx="2295525" cy="808990"/>
          </a:xfrm>
          <a:prstGeom prst="rect">
            <a:avLst/>
          </a:prstGeom>
          <a:noFill/>
        </p:spPr>
        <p:txBody>
          <a:bodyPr wrap="square" lIns="0" tIns="0" rIns="0" bIns="0" rtlCol="0" anchor="t">
            <a:noAutofit/>
          </a:bodyPr>
          <a:lstStyle/>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构建基于企业的专属文档库，</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行业知识库与公共信息的</a:t>
            </a: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办公大脑</a:t>
            </a: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实现从海量数据到结构化知识的精准检索，</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为决策与协作提供统一、可信的信息源。</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pic>
        <p:nvPicPr>
          <p:cNvPr id="332" name="图片 331" descr="知识库"/>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7200" y="4142740"/>
            <a:ext cx="448310" cy="448310"/>
          </a:xfrm>
          <a:prstGeom prst="rect">
            <a:avLst/>
          </a:prstGeom>
        </p:spPr>
      </p:pic>
      <p:sp>
        <p:nvSpPr>
          <p:cNvPr id="333" name="文本框 332"/>
          <p:cNvSpPr txBox="1"/>
          <p:nvPr/>
        </p:nvSpPr>
        <p:spPr>
          <a:xfrm>
            <a:off x="10530865" y="4301518"/>
            <a:ext cx="685800" cy="2768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专业力</a:t>
            </a:r>
            <a:endPar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sp>
        <p:nvSpPr>
          <p:cNvPr id="334" name="文本框 333"/>
          <p:cNvSpPr txBox="1"/>
          <p:nvPr/>
        </p:nvSpPr>
        <p:spPr>
          <a:xfrm>
            <a:off x="9796780" y="4736465"/>
            <a:ext cx="2295525" cy="808990"/>
          </a:xfrm>
          <a:prstGeom prst="rect">
            <a:avLst/>
          </a:prstGeom>
          <a:noFill/>
        </p:spPr>
        <p:txBody>
          <a:bodyPr wrap="square" lIns="0" tIns="0" rIns="0" bIns="0" rtlCol="0" anchor="t">
            <a:noAutofit/>
          </a:bodyPr>
          <a:lstStyle/>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将专业能力模块化，</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深度嵌入具体办公流程，</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提供从分析、建议到自动执行的闭环服务，</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a:p>
            <a:pPr marL="171450" marR="0" lvl="0" indent="-171450" algn="l" defTabSz="914400" rtl="0" eaLnBrk="1" fontAlgn="auto" latinLnBrk="0" hangingPunct="1">
              <a:lnSpc>
                <a:spcPts val="112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成为各岗位的</a:t>
            </a: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专家级</a:t>
            </a: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智能同事。</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pic>
        <p:nvPicPr>
          <p:cNvPr id="336" name="图片 335" descr="专业服务"/>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126980" y="4234815"/>
            <a:ext cx="343535" cy="343535"/>
          </a:xfrm>
          <a:prstGeom prst="rect">
            <a:avLst/>
          </a:prstGeom>
        </p:spPr>
      </p:pic>
      <p:sp>
        <p:nvSpPr>
          <p:cNvPr id="33" name="椭圆 32"/>
          <p:cNvSpPr/>
          <p:nvPr/>
        </p:nvSpPr>
        <p:spPr>
          <a:xfrm>
            <a:off x="1804670" y="1690370"/>
            <a:ext cx="8443595" cy="417195"/>
          </a:xfrm>
          <a:prstGeom prst="ellipse">
            <a:avLst/>
          </a:prstGeom>
          <a:gradFill>
            <a:gsLst>
              <a:gs pos="100000">
                <a:srgbClr val="3368FF">
                  <a:alpha val="34000"/>
                </a:srgbClr>
              </a:gs>
              <a:gs pos="0">
                <a:srgbClr val="3368FF">
                  <a:alpha val="0"/>
                </a:srgbClr>
              </a:gs>
            </a:gsLst>
            <a:lin ang="5400000" scaled="1"/>
          </a:gradFill>
          <a:ln w="47625">
            <a:gradFill>
              <a:gsLst>
                <a:gs pos="4200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grpSp>
        <p:nvGrpSpPr>
          <p:cNvPr id="82" name="组合 81"/>
          <p:cNvGrpSpPr/>
          <p:nvPr/>
        </p:nvGrpSpPr>
        <p:grpSpPr>
          <a:xfrm rot="0">
            <a:off x="2858135" y="2286000"/>
            <a:ext cx="1476375" cy="1476375"/>
            <a:chOff x="4882" y="4152"/>
            <a:chExt cx="2096" cy="2096"/>
          </a:xfrm>
        </p:grpSpPr>
        <p:sp>
          <p:nvSpPr>
            <p:cNvPr id="74" name="椭圆 73"/>
            <p:cNvSpPr/>
            <p:nvPr/>
          </p:nvSpPr>
          <p:spPr>
            <a:xfrm>
              <a:off x="4882" y="4152"/>
              <a:ext cx="2097" cy="2097"/>
            </a:xfrm>
            <a:prstGeom prst="ellipse">
              <a:avLst/>
            </a:prstGeom>
            <a:solidFill>
              <a:srgbClr val="FFFFFF">
                <a:alpha val="34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5" name="椭圆 74"/>
            <p:cNvSpPr/>
            <p:nvPr/>
          </p:nvSpPr>
          <p:spPr>
            <a:xfrm>
              <a:off x="5062" y="4332"/>
              <a:ext cx="1737" cy="1737"/>
            </a:xfrm>
            <a:prstGeom prst="ellipse">
              <a:avLst/>
            </a:prstGeom>
            <a:gradFill>
              <a:gsLst>
                <a:gs pos="0">
                  <a:srgbClr val="0042FF"/>
                </a:gs>
                <a:gs pos="100000">
                  <a:srgbClr val="3368FF"/>
                </a:gs>
              </a:gsLst>
              <a:lin ang="81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83" name="组合 82"/>
          <p:cNvGrpSpPr/>
          <p:nvPr/>
        </p:nvGrpSpPr>
        <p:grpSpPr>
          <a:xfrm rot="0">
            <a:off x="7743190" y="2325370"/>
            <a:ext cx="1476375" cy="1476375"/>
            <a:chOff x="4882" y="4152"/>
            <a:chExt cx="2096" cy="2096"/>
          </a:xfrm>
        </p:grpSpPr>
        <p:sp>
          <p:nvSpPr>
            <p:cNvPr id="91" name="椭圆 90"/>
            <p:cNvSpPr/>
            <p:nvPr/>
          </p:nvSpPr>
          <p:spPr>
            <a:xfrm>
              <a:off x="4882" y="4152"/>
              <a:ext cx="2097" cy="2097"/>
            </a:xfrm>
            <a:prstGeom prst="ellipse">
              <a:avLst/>
            </a:prstGeom>
            <a:solidFill>
              <a:srgbClr val="FFFFFF">
                <a:alpha val="34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2" name="椭圆 91"/>
            <p:cNvSpPr/>
            <p:nvPr/>
          </p:nvSpPr>
          <p:spPr>
            <a:xfrm>
              <a:off x="5062" y="4332"/>
              <a:ext cx="1737" cy="1737"/>
            </a:xfrm>
            <a:prstGeom prst="ellipse">
              <a:avLst/>
            </a:prstGeom>
            <a:gradFill>
              <a:gsLst>
                <a:gs pos="0">
                  <a:srgbClr val="0042FF"/>
                </a:gs>
                <a:gs pos="100000">
                  <a:srgbClr val="3368FF"/>
                </a:gs>
              </a:gsLst>
              <a:lin ang="81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113" name="圆角矩形 112"/>
          <p:cNvSpPr/>
          <p:nvPr/>
        </p:nvSpPr>
        <p:spPr>
          <a:xfrm>
            <a:off x="279400" y="217297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智能问答</a:t>
            </a:r>
            <a:endParaRPr lang="zh-CN" altLang="en-US" sz="1200">
              <a:solidFill>
                <a:srgbClr val="FFFFFF"/>
              </a:solidFill>
              <a:latin typeface="微软雅黑"/>
              <a:ea typeface="微软雅黑"/>
              <a:cs typeface="微软雅黑"/>
            </a:endParaRPr>
          </a:p>
        </p:txBody>
      </p:sp>
      <p:sp>
        <p:nvSpPr>
          <p:cNvPr id="114" name="圆角矩形 113"/>
          <p:cNvSpPr/>
          <p:nvPr/>
        </p:nvSpPr>
        <p:spPr>
          <a:xfrm>
            <a:off x="540385" y="272034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辅助分析</a:t>
            </a:r>
            <a:endParaRPr lang="zh-CN" altLang="en-US" sz="1200">
              <a:solidFill>
                <a:srgbClr val="FFFFFF"/>
              </a:solidFill>
              <a:latin typeface="微软雅黑"/>
              <a:ea typeface="微软雅黑"/>
              <a:cs typeface="微软雅黑"/>
              <a:sym typeface="微软雅黑"/>
            </a:endParaRPr>
          </a:p>
        </p:txBody>
      </p:sp>
      <p:sp>
        <p:nvSpPr>
          <p:cNvPr id="115" name="圆角矩形 114"/>
          <p:cNvSpPr/>
          <p:nvPr/>
        </p:nvSpPr>
        <p:spPr>
          <a:xfrm>
            <a:off x="800100" y="3244215"/>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风险预警</a:t>
            </a:r>
            <a:endParaRPr lang="zh-CN" altLang="en-US" sz="1200">
              <a:solidFill>
                <a:srgbClr val="FFFFFF"/>
              </a:solidFill>
              <a:latin typeface="微软雅黑"/>
              <a:ea typeface="微软雅黑"/>
              <a:cs typeface="微软雅黑"/>
              <a:sym typeface="微软雅黑"/>
            </a:endParaRPr>
          </a:p>
        </p:txBody>
      </p:sp>
      <p:sp>
        <p:nvSpPr>
          <p:cNvPr id="116" name="圆角矩形 115"/>
          <p:cNvSpPr/>
          <p:nvPr/>
        </p:nvSpPr>
        <p:spPr>
          <a:xfrm>
            <a:off x="10511155" y="218313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情绪感知</a:t>
            </a:r>
            <a:endParaRPr lang="zh-CN" altLang="en-US" sz="1200">
              <a:solidFill>
                <a:srgbClr val="FFFFFF"/>
              </a:solidFill>
              <a:latin typeface="微软雅黑"/>
              <a:ea typeface="微软雅黑"/>
              <a:cs typeface="微软雅黑"/>
              <a:sym typeface="微软雅黑"/>
            </a:endParaRPr>
          </a:p>
        </p:txBody>
      </p:sp>
      <p:sp>
        <p:nvSpPr>
          <p:cNvPr id="117" name="圆角矩形 116"/>
          <p:cNvSpPr/>
          <p:nvPr/>
        </p:nvSpPr>
        <p:spPr>
          <a:xfrm>
            <a:off x="10284460" y="2726690"/>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意图理解</a:t>
            </a:r>
            <a:endParaRPr lang="zh-CN" altLang="en-US" sz="1200">
              <a:solidFill>
                <a:srgbClr val="FFFFFF"/>
              </a:solidFill>
              <a:latin typeface="微软雅黑"/>
              <a:ea typeface="微软雅黑"/>
              <a:cs typeface="微软雅黑"/>
              <a:sym typeface="微软雅黑"/>
            </a:endParaRPr>
          </a:p>
        </p:txBody>
      </p:sp>
      <p:sp>
        <p:nvSpPr>
          <p:cNvPr id="119" name="圆角矩形 118"/>
          <p:cNvSpPr/>
          <p:nvPr/>
        </p:nvSpPr>
        <p:spPr>
          <a:xfrm>
            <a:off x="9987280" y="3279775"/>
            <a:ext cx="1237615" cy="281305"/>
          </a:xfrm>
          <a:prstGeom prst="roundRect">
            <a:avLst>
              <a:gd name="adj" fmla="val 50000"/>
            </a:avLst>
          </a:pr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行为预测</a:t>
            </a:r>
            <a:endParaRPr lang="zh-CN" altLang="en-US" sz="1200">
              <a:solidFill>
                <a:srgbClr val="FFFFFF"/>
              </a:solidFill>
              <a:latin typeface="微软雅黑"/>
              <a:ea typeface="微软雅黑"/>
              <a:cs typeface="微软雅黑"/>
              <a:sym typeface="微软雅黑"/>
            </a:endParaRPr>
          </a:p>
        </p:txBody>
      </p:sp>
      <p:cxnSp>
        <p:nvCxnSpPr>
          <p:cNvPr id="171" name="直接连接符 170"/>
          <p:cNvCxnSpPr/>
          <p:nvPr/>
        </p:nvCxnSpPr>
        <p:spPr>
          <a:xfrm>
            <a:off x="1514475" y="2313940"/>
            <a:ext cx="45339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2" name="直接连接符 171"/>
          <p:cNvCxnSpPr/>
          <p:nvPr/>
        </p:nvCxnSpPr>
        <p:spPr>
          <a:xfrm>
            <a:off x="1771650" y="2860675"/>
            <a:ext cx="46482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3" name="直接连接符 172"/>
          <p:cNvCxnSpPr/>
          <p:nvPr/>
        </p:nvCxnSpPr>
        <p:spPr>
          <a:xfrm>
            <a:off x="2040255" y="3359785"/>
            <a:ext cx="41910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4" name="直接连接符 173"/>
          <p:cNvCxnSpPr/>
          <p:nvPr/>
        </p:nvCxnSpPr>
        <p:spPr>
          <a:xfrm>
            <a:off x="10078720" y="2313940"/>
            <a:ext cx="45339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5" name="直接连接符 174"/>
          <p:cNvCxnSpPr/>
          <p:nvPr/>
        </p:nvCxnSpPr>
        <p:spPr>
          <a:xfrm>
            <a:off x="9819640" y="2860675"/>
            <a:ext cx="46482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176" name="直接连接符 175"/>
          <p:cNvCxnSpPr/>
          <p:nvPr/>
        </p:nvCxnSpPr>
        <p:spPr>
          <a:xfrm>
            <a:off x="9568180" y="3420745"/>
            <a:ext cx="419100" cy="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sp>
        <p:nvSpPr>
          <p:cNvPr id="220" name="矩形 219"/>
          <p:cNvSpPr/>
          <p:nvPr/>
        </p:nvSpPr>
        <p:spPr>
          <a:xfrm>
            <a:off x="3098165" y="2933700"/>
            <a:ext cx="998220" cy="496570"/>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公司员工</a:t>
            </a:r>
            <a:endParaRPr lang="en-US" altLang="zh-CN" sz="12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知识工作者</a:t>
            </a:r>
            <a:endParaRPr lang="zh-CN" altLang="en-US" sz="1200" b="1" dirty="0">
              <a:solidFill>
                <a:srgbClr val="FFFFFF"/>
              </a:solidFill>
              <a:latin typeface="微软雅黑"/>
              <a:ea typeface="微软雅黑"/>
              <a:cs typeface="微软雅黑"/>
            </a:endParaRPr>
          </a:p>
        </p:txBody>
      </p:sp>
      <p:sp>
        <p:nvSpPr>
          <p:cNvPr id="221" name="矩形 220"/>
          <p:cNvSpPr/>
          <p:nvPr/>
        </p:nvSpPr>
        <p:spPr>
          <a:xfrm>
            <a:off x="7870825" y="2979420"/>
            <a:ext cx="1223010" cy="488315"/>
          </a:xfrm>
          <a:prstGeom prst="rect">
            <a:avLst/>
          </a:prstGeom>
        </p:spPr>
        <p:txBody>
          <a:bodyPr wrap="square">
            <a:no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业务部门</a:t>
            </a:r>
            <a:endParaRPr lang="zh-CN" altLang="en-US" sz="12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内外部客户</a:t>
            </a:r>
            <a:endParaRPr lang="zh-CN" altLang="en-US" sz="1200" b="1" dirty="0">
              <a:solidFill>
                <a:srgbClr val="FFFFFF"/>
              </a:solidFill>
              <a:latin typeface="微软雅黑"/>
              <a:ea typeface="微软雅黑"/>
              <a:cs typeface="微软雅黑"/>
            </a:endParaRPr>
          </a:p>
        </p:txBody>
      </p:sp>
      <p:grpSp>
        <p:nvGrpSpPr>
          <p:cNvPr id="234" name="组合 233"/>
          <p:cNvGrpSpPr/>
          <p:nvPr/>
        </p:nvGrpSpPr>
        <p:grpSpPr>
          <a:xfrm rot="0" flipH="1">
            <a:off x="4520565" y="3002915"/>
            <a:ext cx="251460" cy="96520"/>
            <a:chOff x="7651" y="4318"/>
            <a:chExt cx="396" cy="152"/>
          </a:xfrm>
        </p:grpSpPr>
        <p:sp>
          <p:nvSpPr>
            <p:cNvPr id="235" name="燕尾形 234"/>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6" name="燕尾形 235"/>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37" name="燕尾形 236"/>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238" name="组合 237"/>
          <p:cNvGrpSpPr/>
          <p:nvPr/>
        </p:nvGrpSpPr>
        <p:grpSpPr>
          <a:xfrm rot="0" flipH="1">
            <a:off x="4857115" y="3002915"/>
            <a:ext cx="251460" cy="96520"/>
            <a:chOff x="7651" y="4318"/>
            <a:chExt cx="396" cy="152"/>
          </a:xfrm>
        </p:grpSpPr>
        <p:sp>
          <p:nvSpPr>
            <p:cNvPr id="239" name="燕尾形 238"/>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40" name="燕尾形 239"/>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45" name="燕尾形 244"/>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258" name="组合 257"/>
          <p:cNvGrpSpPr/>
          <p:nvPr/>
        </p:nvGrpSpPr>
        <p:grpSpPr>
          <a:xfrm rot="0" flipH="1">
            <a:off x="7276465" y="3002915"/>
            <a:ext cx="251460" cy="96520"/>
            <a:chOff x="7651" y="4318"/>
            <a:chExt cx="396" cy="152"/>
          </a:xfrm>
        </p:grpSpPr>
        <p:sp>
          <p:nvSpPr>
            <p:cNvPr id="259" name="燕尾形 258"/>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61" name="燕尾形 260"/>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62" name="燕尾形 261"/>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263" name="显眼包PPT-3"/>
          <p:cNvSpPr txBox="1"/>
          <p:nvPr/>
        </p:nvSpPr>
        <p:spPr>
          <a:xfrm>
            <a:off x="4482465" y="2517140"/>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以人训智</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64" name="显眼包PPT-3"/>
          <p:cNvSpPr txBox="1"/>
          <p:nvPr/>
        </p:nvSpPr>
        <p:spPr>
          <a:xfrm>
            <a:off x="4482465" y="3207385"/>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实时智辅</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65" name="显眼包PPT-3"/>
          <p:cNvSpPr txBox="1"/>
          <p:nvPr/>
        </p:nvSpPr>
        <p:spPr>
          <a:xfrm>
            <a:off x="6892290" y="2517140"/>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主动服务</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66" name="显眼包PPT-3"/>
          <p:cNvSpPr txBox="1"/>
          <p:nvPr/>
        </p:nvSpPr>
        <p:spPr>
          <a:xfrm>
            <a:off x="6892290" y="3207385"/>
            <a:ext cx="715010" cy="168910"/>
          </a:xfrm>
          <a:prstGeom prst="rect">
            <a:avLst/>
          </a:prstGeom>
          <a:noFill/>
        </p:spPr>
        <p:txBody>
          <a:bodyPr wrap="square" lIns="0" tIns="0" rIns="0" bIns="0"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rPr>
              <a:t>实时感知</a:t>
            </a:r>
            <a:endParaRPr kumimoji="0" 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37" name="显眼包PPT-1"/>
          <p:cNvSpPr/>
          <p:nvPr/>
        </p:nvSpPr>
        <p:spPr>
          <a:xfrm>
            <a:off x="2673350" y="3514725"/>
            <a:ext cx="6742430" cy="511175"/>
          </a:xfrm>
          <a:prstGeom prst="ellipse">
            <a:avLst/>
          </a:prstGeom>
          <a:noFill/>
          <a:ln w="76200">
            <a:gradFill>
              <a:gsLst>
                <a:gs pos="3400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349" name="组合 348"/>
          <p:cNvGrpSpPr/>
          <p:nvPr/>
        </p:nvGrpSpPr>
        <p:grpSpPr>
          <a:xfrm rot="0">
            <a:off x="4858385" y="2810510"/>
            <a:ext cx="251460" cy="96520"/>
            <a:chOff x="7651" y="4318"/>
            <a:chExt cx="396" cy="152"/>
          </a:xfrm>
        </p:grpSpPr>
        <p:sp>
          <p:nvSpPr>
            <p:cNvPr id="350" name="燕尾形 349"/>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51" name="燕尾形 350"/>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52" name="燕尾形 351"/>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353" name="组合 352"/>
          <p:cNvGrpSpPr/>
          <p:nvPr/>
        </p:nvGrpSpPr>
        <p:grpSpPr>
          <a:xfrm rot="0">
            <a:off x="4519930" y="2810510"/>
            <a:ext cx="251460" cy="96520"/>
            <a:chOff x="7651" y="4318"/>
            <a:chExt cx="396" cy="152"/>
          </a:xfrm>
        </p:grpSpPr>
        <p:sp>
          <p:nvSpPr>
            <p:cNvPr id="354" name="燕尾形 353"/>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55" name="燕尾形 354"/>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56" name="燕尾形 355"/>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367" name="组合 366"/>
          <p:cNvGrpSpPr/>
          <p:nvPr/>
        </p:nvGrpSpPr>
        <p:grpSpPr>
          <a:xfrm rot="0">
            <a:off x="7280910" y="2810510"/>
            <a:ext cx="251460" cy="96520"/>
            <a:chOff x="7651" y="4318"/>
            <a:chExt cx="396" cy="152"/>
          </a:xfrm>
        </p:grpSpPr>
        <p:sp>
          <p:nvSpPr>
            <p:cNvPr id="368" name="燕尾形 367"/>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69" name="燕尾形 368"/>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70" name="燕尾形 369"/>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pic>
        <p:nvPicPr>
          <p:cNvPr id="407" name="图片 406" descr="员工转正"/>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418840" y="2595245"/>
            <a:ext cx="354965" cy="311785"/>
          </a:xfrm>
          <a:prstGeom prst="rect">
            <a:avLst/>
          </a:prstGeom>
        </p:spPr>
      </p:pic>
      <p:pic>
        <p:nvPicPr>
          <p:cNvPr id="408" name="图片 407" descr="36合作、关系"/>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281035" y="2560955"/>
            <a:ext cx="402590" cy="402590"/>
          </a:xfrm>
          <a:prstGeom prst="rect">
            <a:avLst/>
          </a:prstGeom>
        </p:spPr>
      </p:pic>
      <p:grpSp>
        <p:nvGrpSpPr>
          <p:cNvPr id="416" name="©显眼包PPT1"/>
          <p:cNvGrpSpPr/>
          <p:nvPr/>
        </p:nvGrpSpPr>
        <p:grpSpPr>
          <a:xfrm rot="0">
            <a:off x="2385695" y="1226185"/>
            <a:ext cx="686435" cy="685800"/>
            <a:chOff x="5719739" y="3319093"/>
            <a:chExt cx="752522" cy="752522"/>
          </a:xfrm>
        </p:grpSpPr>
        <p:grpSp>
          <p:nvGrpSpPr>
            <p:cNvPr id="417" name="组合 416"/>
            <p:cNvGrpSpPr/>
            <p:nvPr/>
          </p:nvGrpSpPr>
          <p:grpSpPr>
            <a:xfrm>
              <a:off x="5719739" y="3319093"/>
              <a:ext cx="752522" cy="752522"/>
              <a:chOff x="5719739" y="3319093"/>
              <a:chExt cx="752522" cy="752522"/>
            </a:xfrm>
          </p:grpSpPr>
          <p:sp>
            <p:nvSpPr>
              <p:cNvPr id="418"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19"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20"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21" name="©显眼包PPT1-4"/>
            <p:cNvSpPr txBox="1"/>
            <p:nvPr/>
          </p:nvSpPr>
          <p:spPr>
            <a:xfrm>
              <a:off x="5800491" y="3495215"/>
              <a:ext cx="575008" cy="405526"/>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gradFill>
                    <a:gsLst>
                      <a:gs pos="0">
                        <a:srgbClr val="0042FF"/>
                      </a:gs>
                      <a:gs pos="58000">
                        <a:srgbClr val="0042FF"/>
                      </a:gs>
                    </a:gsLst>
                    <a:lin ang="2700000" scaled="0"/>
                  </a:gradFill>
                  <a:solidFill>
                    <a:srgbClr val="383838"/>
                  </a:solidFill>
                  <a:latin typeface="微软雅黑"/>
                  <a:ea typeface="微软雅黑"/>
                  <a:cs typeface="微软雅黑"/>
                </a:rPr>
                <a:t> </a:t>
              </a:r>
              <a:endParaRPr lang="en-US" sz="1000" dirty="0">
                <a:gradFill>
                  <a:gsLst>
                    <a:gs pos="0">
                      <a:srgbClr val="0042FF"/>
                    </a:gs>
                    <a:gs pos="58000">
                      <a:srgbClr val="0042FF"/>
                    </a:gs>
                  </a:gsLst>
                  <a:lin ang="2700000" scaled="0"/>
                </a:gradFill>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任务规划</a:t>
              </a:r>
              <a:endParaRPr lang="zh-CN" altLang="en-US" sz="1000" dirty="0">
                <a:solidFill>
                  <a:srgbClr val="383838"/>
                </a:solidFill>
                <a:latin typeface="微软雅黑"/>
                <a:ea typeface="微软雅黑"/>
                <a:cs typeface="微软雅黑"/>
              </a:endParaRPr>
            </a:p>
          </p:txBody>
        </p:sp>
      </p:grpSp>
      <p:grpSp>
        <p:nvGrpSpPr>
          <p:cNvPr id="423" name="©显眼包PPT1"/>
          <p:cNvGrpSpPr/>
          <p:nvPr/>
        </p:nvGrpSpPr>
        <p:grpSpPr>
          <a:xfrm rot="0">
            <a:off x="3424555" y="1108710"/>
            <a:ext cx="686435" cy="686435"/>
            <a:chOff x="5719739" y="3319093"/>
            <a:chExt cx="752522" cy="752522"/>
          </a:xfrm>
        </p:grpSpPr>
        <p:grpSp>
          <p:nvGrpSpPr>
            <p:cNvPr id="424" name="组合 423"/>
            <p:cNvGrpSpPr/>
            <p:nvPr/>
          </p:nvGrpSpPr>
          <p:grpSpPr>
            <a:xfrm>
              <a:off x="5719739" y="3319093"/>
              <a:ext cx="752522" cy="752522"/>
              <a:chOff x="5719739" y="3319093"/>
              <a:chExt cx="752522" cy="752522"/>
            </a:xfrm>
          </p:grpSpPr>
          <p:sp>
            <p:nvSpPr>
              <p:cNvPr id="425"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26"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27"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28"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0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文档处理</a:t>
              </a:r>
              <a:endParaRPr lang="zh-CN" altLang="en-US" sz="1000" dirty="0">
                <a:solidFill>
                  <a:srgbClr val="383838"/>
                </a:solidFill>
                <a:latin typeface="微软雅黑"/>
                <a:ea typeface="微软雅黑"/>
                <a:cs typeface="微软雅黑"/>
              </a:endParaRPr>
            </a:p>
          </p:txBody>
        </p:sp>
      </p:grpSp>
      <p:grpSp>
        <p:nvGrpSpPr>
          <p:cNvPr id="435" name="©显眼包PPT1"/>
          <p:cNvGrpSpPr/>
          <p:nvPr/>
        </p:nvGrpSpPr>
        <p:grpSpPr>
          <a:xfrm rot="0">
            <a:off x="9019540" y="1252855"/>
            <a:ext cx="686435" cy="686435"/>
            <a:chOff x="5719739" y="3319093"/>
            <a:chExt cx="752522" cy="752522"/>
          </a:xfrm>
        </p:grpSpPr>
        <p:grpSp>
          <p:nvGrpSpPr>
            <p:cNvPr id="436" name="组合 435"/>
            <p:cNvGrpSpPr/>
            <p:nvPr/>
          </p:nvGrpSpPr>
          <p:grpSpPr>
            <a:xfrm>
              <a:off x="5719739" y="3319093"/>
              <a:ext cx="752522" cy="752522"/>
              <a:chOff x="5719739" y="3319093"/>
              <a:chExt cx="752522" cy="752522"/>
            </a:xfrm>
          </p:grpSpPr>
          <p:sp>
            <p:nvSpPr>
              <p:cNvPr id="437"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38"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39"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81"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2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知识引擎</a:t>
              </a:r>
              <a:endParaRPr lang="zh-CN" altLang="en-US" sz="1000" dirty="0">
                <a:solidFill>
                  <a:srgbClr val="383838"/>
                </a:solidFill>
                <a:latin typeface="微软雅黑"/>
                <a:ea typeface="微软雅黑"/>
                <a:cs typeface="微软雅黑"/>
              </a:endParaRPr>
            </a:p>
          </p:txBody>
        </p:sp>
      </p:grpSp>
      <p:grpSp>
        <p:nvGrpSpPr>
          <p:cNvPr id="482" name="©显眼包PPT1"/>
          <p:cNvGrpSpPr/>
          <p:nvPr/>
        </p:nvGrpSpPr>
        <p:grpSpPr>
          <a:xfrm rot="0">
            <a:off x="8051800" y="1122045"/>
            <a:ext cx="686435" cy="686435"/>
            <a:chOff x="5719739" y="3319093"/>
            <a:chExt cx="752522" cy="752522"/>
          </a:xfrm>
        </p:grpSpPr>
        <p:grpSp>
          <p:nvGrpSpPr>
            <p:cNvPr id="483" name="组合 482"/>
            <p:cNvGrpSpPr/>
            <p:nvPr/>
          </p:nvGrpSpPr>
          <p:grpSpPr>
            <a:xfrm>
              <a:off x="5719739" y="3319093"/>
              <a:ext cx="752522" cy="752522"/>
              <a:chOff x="5719739" y="3319093"/>
              <a:chExt cx="752522" cy="752522"/>
            </a:xfrm>
          </p:grpSpPr>
          <p:sp>
            <p:nvSpPr>
              <p:cNvPr id="484"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485"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486"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487"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2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自动流程</a:t>
              </a:r>
              <a:endParaRPr lang="en-US" altLang="zh-CN" sz="1000" dirty="0">
                <a:solidFill>
                  <a:srgbClr val="383838"/>
                </a:solidFill>
                <a:latin typeface="微软雅黑"/>
                <a:ea typeface="微软雅黑"/>
                <a:cs typeface="微软雅黑"/>
              </a:endParaRPr>
            </a:p>
          </p:txBody>
        </p:sp>
      </p:grpSp>
      <p:grpSp>
        <p:nvGrpSpPr>
          <p:cNvPr id="488" name="©显眼包PPT1"/>
          <p:cNvGrpSpPr/>
          <p:nvPr/>
        </p:nvGrpSpPr>
        <p:grpSpPr>
          <a:xfrm rot="0">
            <a:off x="4463415" y="991235"/>
            <a:ext cx="686435" cy="686435"/>
            <a:chOff x="5719739" y="3319093"/>
            <a:chExt cx="752522" cy="752522"/>
          </a:xfrm>
        </p:grpSpPr>
        <p:grpSp>
          <p:nvGrpSpPr>
            <p:cNvPr id="489" name="组合 488"/>
            <p:cNvGrpSpPr/>
            <p:nvPr/>
          </p:nvGrpSpPr>
          <p:grpSpPr>
            <a:xfrm>
              <a:off x="5719739" y="3319093"/>
              <a:ext cx="752522" cy="752522"/>
              <a:chOff x="5719739" y="3319093"/>
              <a:chExt cx="752522" cy="752522"/>
            </a:xfrm>
          </p:grpSpPr>
          <p:sp>
            <p:nvSpPr>
              <p:cNvPr id="500"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502"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503"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504" name="©显眼包PPT1-4"/>
            <p:cNvSpPr txBox="1"/>
            <p:nvPr/>
          </p:nvSpPr>
          <p:spPr>
            <a:xfrm>
              <a:off x="5800491" y="3495215"/>
              <a:ext cx="575008" cy="333449"/>
            </a:xfrm>
            <a:prstGeom prst="rect">
              <a:avLst/>
            </a:prstGeom>
            <a:noFill/>
          </p:spPr>
          <p:txBody>
            <a:bodyPr wrap="square" lIns="0" tIns="0" rIns="0" bIns="0" rtlCol="0" anchor="t">
              <a:noAutofit/>
            </a:bodyPr>
            <a:lstStyle/>
            <a:p>
              <a:pPr algn="ctr">
                <a:lnSpc>
                  <a:spcPts val="1120"/>
                </a:lnSpc>
                <a:defRPr>
                  <a:latin typeface="微软雅黑"/>
                  <a:ea typeface="微软雅黑"/>
                  <a:cs typeface="微软雅黑"/>
                </a:defRPr>
                <a:spcBef>
                  <a:spcPts val="0"/>
                </a:spcBef>
                <a:spcAft>
                  <a:spcPts val="0"/>
                </a:spcAft>
              </a:pPr>
              <a:endParaRPr lang="en-US" sz="1000" dirty="0">
                <a:solidFill>
                  <a:srgbClr val="383838"/>
                </a:solidFill>
                <a:latin typeface="微软雅黑"/>
                <a:ea typeface="微软雅黑"/>
                <a:cs typeface="微软雅黑"/>
              </a:endParaRPr>
            </a:p>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沟通协同</a:t>
              </a:r>
              <a:endParaRPr lang="zh-CN" altLang="en-US" sz="1000" dirty="0">
                <a:solidFill>
                  <a:srgbClr val="383838"/>
                </a:solidFill>
                <a:latin typeface="微软雅黑"/>
                <a:ea typeface="微软雅黑"/>
                <a:cs typeface="微软雅黑"/>
              </a:endParaRPr>
            </a:p>
          </p:txBody>
        </p:sp>
      </p:grpSp>
      <p:grpSp>
        <p:nvGrpSpPr>
          <p:cNvPr id="507" name="©显眼包PPT1"/>
          <p:cNvGrpSpPr/>
          <p:nvPr/>
        </p:nvGrpSpPr>
        <p:grpSpPr>
          <a:xfrm rot="0">
            <a:off x="7084060" y="991235"/>
            <a:ext cx="686435" cy="686435"/>
            <a:chOff x="5719739" y="3319093"/>
            <a:chExt cx="752522" cy="752522"/>
          </a:xfrm>
        </p:grpSpPr>
        <p:grpSp>
          <p:nvGrpSpPr>
            <p:cNvPr id="508" name="组合 507"/>
            <p:cNvGrpSpPr/>
            <p:nvPr/>
          </p:nvGrpSpPr>
          <p:grpSpPr>
            <a:xfrm>
              <a:off x="5719739" y="3319093"/>
              <a:ext cx="752522" cy="752522"/>
              <a:chOff x="5719739" y="3319093"/>
              <a:chExt cx="752522" cy="752522"/>
            </a:xfrm>
          </p:grpSpPr>
          <p:sp>
            <p:nvSpPr>
              <p:cNvPr id="538" name="©显眼包PPT1-1"/>
              <p:cNvSpPr/>
              <p:nvPr/>
            </p:nvSpPr>
            <p:spPr>
              <a:xfrm>
                <a:off x="5719739" y="3319093"/>
                <a:ext cx="752522" cy="752522"/>
              </a:xfrm>
              <a:prstGeom prst="ellipse">
                <a:avLst/>
              </a:pr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539" name="©显眼包PPT1-2"/>
              <p:cNvSpPr/>
              <p:nvPr/>
            </p:nvSpPr>
            <p:spPr>
              <a:xfrm>
                <a:off x="5756814" y="3356168"/>
                <a:ext cx="678371" cy="678371"/>
              </a:xfrm>
              <a:prstGeom prst="ellipse">
                <a:avLst/>
              </a:prstGeom>
              <a:gradFill flip="none" rotWithShape="1">
                <a:gsLst>
                  <a:gs pos="39000">
                    <a:srgbClr val="FFFFFF"/>
                  </a:gs>
                  <a:gs pos="100000">
                    <a:srgbClr val="3368FF"/>
                  </a:gs>
                </a:gsLst>
                <a:path path="circle">
                  <a:fillToRect l="50000" t="50000" r="50000" b="50000"/>
                </a:path>
                <a:tileRect/>
              </a:gradFill>
              <a:ln w="952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540" name="©显眼包PPT1-3"/>
              <p:cNvSpPr/>
              <p:nvPr/>
            </p:nvSpPr>
            <p:spPr>
              <a:xfrm>
                <a:off x="5783108" y="3382462"/>
                <a:ext cx="625785" cy="625785"/>
              </a:xfrm>
              <a:prstGeom prst="ellipse">
                <a:avLst/>
              </a:prstGeom>
              <a:noFill/>
              <a:ln w="635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sp>
          <p:nvSpPr>
            <p:cNvPr id="541" name="©显眼包PPT1-4"/>
            <p:cNvSpPr txBox="1"/>
            <p:nvPr/>
          </p:nvSpPr>
          <p:spPr>
            <a:xfrm>
              <a:off x="5800491" y="3495215"/>
              <a:ext cx="575008" cy="405151"/>
            </a:xfrm>
            <a:prstGeom prst="rect">
              <a:avLst/>
            </a:prstGeom>
            <a:noFill/>
          </p:spPr>
          <p:txBody>
            <a:bodyPr wrap="square" lIns="0" tIns="0" rIns="0" bIns="0" rtlCol="0" anchor="t">
              <a:noAutofit/>
            </a:bodyPr>
            <a:lstStyle/>
            <a:p>
              <a:pPr algn="ctr">
                <a:lnSpc>
                  <a:spcPts val="1344"/>
                </a:lnSpc>
                <a:defRPr>
                  <a:latin typeface="微软雅黑"/>
                  <a:ea typeface="微软雅黑"/>
                  <a:cs typeface="微软雅黑"/>
                </a:defRPr>
                <a:spcBef>
                  <a:spcPts val="0"/>
                </a:spcBef>
                <a:spcAft>
                  <a:spcPts val="0"/>
                </a:spcAft>
              </a:pPr>
              <a:r>
                <a:rPr lang="en-US" sz="1200" dirty="0">
                  <a:solidFill>
                    <a:srgbClr val="383838"/>
                  </a:solidFill>
                  <a:latin typeface="微软雅黑"/>
                  <a:ea typeface="微软雅黑"/>
                  <a:cs typeface="微软雅黑"/>
                </a:rPr>
                <a:t> </a:t>
              </a:r>
              <a:endParaRPr lang="en-US" sz="1200" dirty="0">
                <a:solidFill>
                  <a:srgbClr val="383838"/>
                </a:solidFill>
                <a:latin typeface="微软雅黑"/>
                <a:ea typeface="微软雅黑"/>
                <a:cs typeface="微软雅黑"/>
              </a:endParaRPr>
            </a:p>
            <a:p>
              <a:pPr algn="ctr">
                <a:lnSpc>
                  <a:spcPts val="1344"/>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决策支持</a:t>
              </a:r>
              <a:endParaRPr lang="zh-CN" altLang="en-US" sz="1000" dirty="0">
                <a:solidFill>
                  <a:srgbClr val="383838"/>
                </a:solidFill>
                <a:latin typeface="微软雅黑"/>
                <a:ea typeface="微软雅黑"/>
                <a:cs typeface="微软雅黑"/>
              </a:endParaRPr>
            </a:p>
          </p:txBody>
        </p:sp>
      </p:grpSp>
      <p:sp>
        <p:nvSpPr>
          <p:cNvPr id="548" name="任意多边形: 形状 483"/>
          <p:cNvSpPr/>
          <p:nvPr/>
        </p:nvSpPr>
        <p:spPr>
          <a:xfrm>
            <a:off x="5256530" y="1031875"/>
            <a:ext cx="1609090" cy="907415"/>
          </a:xfrm>
          <a:custGeom>
            <a:avLst/>
            <a:gdLst>
              <a:gd name="connsiteX0" fmla="*/ 1186646 w 1860469"/>
              <a:gd name="connsiteY0" fmla="*/ 0 h 1049553"/>
              <a:gd name="connsiteX1" fmla="*/ 1618837 w 1860469"/>
              <a:gd name="connsiteY1" fmla="*/ 422841 h 1049553"/>
              <a:gd name="connsiteX2" fmla="*/ 1860469 w 1860469"/>
              <a:gd name="connsiteY2" fmla="*/ 731656 h 1049553"/>
              <a:gd name="connsiteX3" fmla="*/ 1544317 w 1860469"/>
              <a:gd name="connsiteY3" fmla="*/ 1049553 h 1049553"/>
              <a:gd name="connsiteX4" fmla="*/ 352008 w 1860469"/>
              <a:gd name="connsiteY4" fmla="*/ 1049553 h 1049553"/>
              <a:gd name="connsiteX5" fmla="*/ 0 w 1860469"/>
              <a:gd name="connsiteY5" fmla="*/ 696343 h 1049553"/>
              <a:gd name="connsiteX6" fmla="*/ 352008 w 1860469"/>
              <a:gd name="connsiteY6" fmla="*/ 343131 h 1049553"/>
              <a:gd name="connsiteX7" fmla="*/ 414777 w 1860469"/>
              <a:gd name="connsiteY7" fmla="*/ 348851 h 1049553"/>
              <a:gd name="connsiteX8" fmla="*/ 412325 w 1860469"/>
              <a:gd name="connsiteY8" fmla="*/ 314312 h 1049553"/>
              <a:gd name="connsiteX9" fmla="*/ 655136 w 1860469"/>
              <a:gd name="connsiteY9" fmla="*/ 70653 h 1049553"/>
              <a:gd name="connsiteX10" fmla="*/ 847193 w 1860469"/>
              <a:gd name="connsiteY10" fmla="*/ 165322 h 1049553"/>
              <a:gd name="connsiteX11" fmla="*/ 1186646 w 1860469"/>
              <a:gd name="connsiteY11" fmla="*/ 0 h 1049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60469" h="1049553">
                <a:moveTo>
                  <a:pt x="1186646" y="0"/>
                </a:moveTo>
                <a:cubicBezTo>
                  <a:pt x="1421753" y="0"/>
                  <a:pt x="1612912" y="188344"/>
                  <a:pt x="1618837" y="422841"/>
                </a:cubicBezTo>
                <a:cubicBezTo>
                  <a:pt x="1757465" y="456689"/>
                  <a:pt x="1860469" y="582099"/>
                  <a:pt x="1860469" y="731656"/>
                </a:cubicBezTo>
                <a:cubicBezTo>
                  <a:pt x="1860469" y="907013"/>
                  <a:pt x="1719004" y="1049203"/>
                  <a:pt x="1544317" y="1049553"/>
                </a:cubicBezTo>
                <a:lnTo>
                  <a:pt x="352008" y="1049553"/>
                </a:lnTo>
                <a:cubicBezTo>
                  <a:pt x="157600" y="1049553"/>
                  <a:pt x="0" y="891421"/>
                  <a:pt x="0" y="696343"/>
                </a:cubicBezTo>
                <a:cubicBezTo>
                  <a:pt x="0" y="501265"/>
                  <a:pt x="157600" y="343131"/>
                  <a:pt x="352008" y="343131"/>
                </a:cubicBezTo>
                <a:cubicBezTo>
                  <a:pt x="373434" y="343131"/>
                  <a:pt x="394424" y="345162"/>
                  <a:pt x="414777" y="348851"/>
                </a:cubicBezTo>
                <a:cubicBezTo>
                  <a:pt x="413184" y="337555"/>
                  <a:pt x="412325" y="326045"/>
                  <a:pt x="412325" y="314312"/>
                </a:cubicBezTo>
                <a:cubicBezTo>
                  <a:pt x="412325" y="179740"/>
                  <a:pt x="521044" y="70653"/>
                  <a:pt x="655136" y="70653"/>
                </a:cubicBezTo>
                <a:cubicBezTo>
                  <a:pt x="733293" y="70653"/>
                  <a:pt x="802796" y="107750"/>
                  <a:pt x="847193" y="165322"/>
                </a:cubicBezTo>
                <a:cubicBezTo>
                  <a:pt x="926364" y="64672"/>
                  <a:pt x="1048970" y="0"/>
                  <a:pt x="1186646" y="0"/>
                </a:cubicBezTo>
                <a:close/>
              </a:path>
            </a:pathLst>
          </a:custGeom>
          <a:gradFill flip="none" rotWithShape="1">
            <a:gsLst>
              <a:gs pos="83000">
                <a:srgbClr val="3368FF"/>
              </a:gs>
              <a:gs pos="7000">
                <a:srgbClr val="B3D4FE"/>
              </a:gs>
            </a:gsLst>
            <a:lin ang="2700000" scaled="1"/>
            <a:tileRect/>
          </a:gradFill>
          <a:ln w="12700" cap="flat">
            <a:gradFill>
              <a:gsLst>
                <a:gs pos="93878">
                  <a:srgbClr val="FFFFFF"/>
                </a:gs>
                <a:gs pos="0">
                  <a:srgbClr val="FFFFFF"/>
                </a:gs>
              </a:gsLst>
              <a:lin ang="5400000" scaled="1"/>
            </a:gradFill>
            <a:prstDash val="solid"/>
            <a:miter/>
          </a:ln>
          <a:effectLst>
            <a:reflection blurRad="139700" stA="93000" endPos="14000" dir="5400000" sy="-100000" algn="bl" rotWithShape="0"/>
          </a:effectLst>
          <a:scene3d>
            <a:camera prst="isometricOffAxis1Right">
              <a:rot lat="480000" lon="21000000" rev="0"/>
            </a:camera>
            <a:lightRig rig="contrasting" dir="t"/>
          </a:scene3d>
          <a:sp3d extrusionH="311150"/>
        </p:spPr>
        <p:txBody>
          <a:bodyPr rtlCol="0" anchor="ctr"/>
          <a:lstStyle/>
          <a:p>
            <a:pPr>
              <a:defRPr>
                <a:latin typeface="微软雅黑"/>
                <a:ea typeface="微软雅黑"/>
                <a:cs typeface="微软雅黑"/>
              </a:defRPr>
            </a:pPr>
            <a:endParaRPr lang="zh-CN" altLang="en-US" sz="1600" dirty="0">
              <a:latin typeface="微软雅黑"/>
              <a:ea typeface="微软雅黑"/>
              <a:cs typeface="微软雅黑"/>
            </a:endParaRPr>
          </a:p>
        </p:txBody>
      </p:sp>
      <p:sp>
        <p:nvSpPr>
          <p:cNvPr id="549" name="文本框 548"/>
          <p:cNvSpPr txBox="1"/>
          <p:nvPr/>
        </p:nvSpPr>
        <p:spPr>
          <a:xfrm>
            <a:off x="5411470" y="1315720"/>
            <a:ext cx="1362710" cy="564515"/>
          </a:xfrm>
          <a:prstGeom prst="rect">
            <a:avLst/>
          </a:prstGeom>
          <a:noFill/>
          <a:effectLst/>
          <a:scene3d>
            <a:camera prst="isometricOffAxis1Right">
              <a:rot lat="480000" lon="21000000" rev="0"/>
            </a:camera>
            <a:lightRig rig="threePt" dir="t"/>
          </a:scene3d>
        </p:spPr>
        <p:txBody>
          <a:bodyPr wrap="none" rtlCol="0">
            <a:noAutofit/>
          </a:bodyPr>
          <a:lstStyle/>
          <a:p>
            <a:pPr algn="ctr">
              <a:defRPr>
                <a:latin typeface="微软雅黑"/>
                <a:ea typeface="微软雅黑"/>
                <a:cs typeface="微软雅黑"/>
              </a:defRPr>
            </a:pPr>
            <a:r>
              <a:rPr lang="zh-CN" sz="1400" b="1">
                <a:solidFill>
                  <a:srgbClr val="383838"/>
                </a:solidFill>
                <a:latin typeface="微软雅黑"/>
                <a:ea typeface="微软雅黑"/>
                <a:cs typeface="微软雅黑"/>
              </a:rPr>
              <a:t>打造智能办</a:t>
            </a:r>
            <a:endParaRPr lang="zh-CN" sz="1400" b="1">
              <a:solidFill>
                <a:srgbClr val="383838"/>
              </a:solidFill>
              <a:latin typeface="微软雅黑"/>
              <a:ea typeface="微软雅黑"/>
              <a:cs typeface="微软雅黑"/>
            </a:endParaRPr>
          </a:p>
          <a:p>
            <a:pPr algn="ctr">
              <a:defRPr>
                <a:latin typeface="微软雅黑"/>
                <a:ea typeface="微软雅黑"/>
                <a:cs typeface="微软雅黑"/>
              </a:defRPr>
            </a:pPr>
            <a:r>
              <a:rPr lang="zh-CN" sz="1400" b="1">
                <a:solidFill>
                  <a:srgbClr val="383838"/>
                </a:solidFill>
                <a:latin typeface="微软雅黑"/>
                <a:ea typeface="微软雅黑"/>
                <a:cs typeface="微软雅黑"/>
              </a:rPr>
              <a:t>公全场景</a:t>
            </a:r>
            <a:r>
              <a:rPr lang="zh-CN" altLang="en-US" sz="1400" b="1">
                <a:solidFill>
                  <a:srgbClr val="383838"/>
                </a:solidFill>
                <a:latin typeface="微软雅黑"/>
                <a:ea typeface="微软雅黑"/>
                <a:cs typeface="微软雅黑"/>
              </a:rPr>
              <a:t>助手</a:t>
            </a:r>
            <a:endParaRPr lang="zh-CN" altLang="en-US" sz="1400" b="1" dirty="0">
              <a:solidFill>
                <a:srgbClr val="383838"/>
              </a:solidFill>
              <a:latin typeface="微软雅黑"/>
              <a:ea typeface="微软雅黑"/>
              <a:cs typeface="微软雅黑"/>
            </a:endParaRPr>
          </a:p>
        </p:txBody>
      </p:sp>
      <p:sp>
        <p:nvSpPr>
          <p:cNvPr id="552" name="任意多边形: 形状 6"/>
          <p:cNvSpPr/>
          <p:nvPr/>
        </p:nvSpPr>
        <p:spPr>
          <a:xfrm>
            <a:off x="4580890" y="3670300"/>
            <a:ext cx="3145790" cy="1464945"/>
          </a:xfrm>
          <a:custGeom>
            <a:avLst/>
            <a:gdLst>
              <a:gd name="connsiteX0" fmla="*/ 1703020 w 5020532"/>
              <a:gd name="connsiteY0" fmla="*/ 976632 h 4676677"/>
              <a:gd name="connsiteX1" fmla="*/ 3017217 w 5020532"/>
              <a:gd name="connsiteY1" fmla="*/ 976632 h 4676677"/>
              <a:gd name="connsiteX2" fmla="*/ 5020139 w 5020532"/>
              <a:gd name="connsiteY2" fmla="*/ 4676356 h 4676677"/>
              <a:gd name="connsiteX3" fmla="*/ 5020532 w 5020532"/>
              <a:gd name="connsiteY3" fmla="*/ 4676677 h 4676677"/>
              <a:gd name="connsiteX4" fmla="*/ 0 w 5020532"/>
              <a:gd name="connsiteY4" fmla="*/ 4676677 h 4676677"/>
              <a:gd name="connsiteX5" fmla="*/ 109543 w 5020532"/>
              <a:gd name="connsiteY5" fmla="*/ 4575924 h 4676677"/>
              <a:gd name="connsiteX6" fmla="*/ 1703020 w 5020532"/>
              <a:gd name="connsiteY6" fmla="*/ 976632 h 4676677"/>
              <a:gd name="connsiteX7" fmla="*/ 2353326 w 5020532"/>
              <a:gd name="connsiteY7" fmla="*/ 0 h 4676677"/>
              <a:gd name="connsiteX8" fmla="*/ 3601329 w 5020532"/>
              <a:gd name="connsiteY8" fmla="*/ 976630 h 4676677"/>
              <a:gd name="connsiteX9" fmla="*/ 1105322 w 5020532"/>
              <a:gd name="connsiteY9" fmla="*/ 976630 h 46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20532" h="4676677">
                <a:moveTo>
                  <a:pt x="1703020" y="976632"/>
                </a:moveTo>
                <a:lnTo>
                  <a:pt x="3017217" y="976632"/>
                </a:lnTo>
                <a:cubicBezTo>
                  <a:pt x="3062689" y="2256319"/>
                  <a:pt x="3699821" y="3536004"/>
                  <a:pt x="5020139" y="4676356"/>
                </a:cubicBezTo>
                <a:lnTo>
                  <a:pt x="5020532" y="4676677"/>
                </a:lnTo>
                <a:lnTo>
                  <a:pt x="0" y="4676677"/>
                </a:lnTo>
                <a:lnTo>
                  <a:pt x="109543" y="4575924"/>
                </a:lnTo>
                <a:cubicBezTo>
                  <a:pt x="1247186" y="3481956"/>
                  <a:pt x="1495319" y="2221599"/>
                  <a:pt x="1703020" y="976632"/>
                </a:cubicBezTo>
                <a:close/>
                <a:moveTo>
                  <a:pt x="2353326" y="0"/>
                </a:moveTo>
                <a:lnTo>
                  <a:pt x="3601329" y="976630"/>
                </a:lnTo>
                <a:lnTo>
                  <a:pt x="1105322" y="976630"/>
                </a:lnTo>
                <a:close/>
              </a:path>
            </a:pathLst>
          </a:custGeom>
          <a:gradFill>
            <a:gsLst>
              <a:gs pos="100000">
                <a:srgbClr val="FFFFFF">
                  <a:alpha val="50000"/>
                </a:srgbClr>
              </a:gs>
              <a:gs pos="0">
                <a:srgbClr val="FFFF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554" name="椭圆 553"/>
          <p:cNvSpPr/>
          <p:nvPr/>
        </p:nvSpPr>
        <p:spPr>
          <a:xfrm>
            <a:off x="4144328" y="4352925"/>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555" name="矩形 554"/>
          <p:cNvSpPr/>
          <p:nvPr/>
        </p:nvSpPr>
        <p:spPr>
          <a:xfrm>
            <a:off x="409638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多模态</a:t>
            </a:r>
            <a:endParaRPr lang="zh-CN" altLang="en-US" sz="1200" b="1" dirty="0">
              <a:solidFill>
                <a:srgbClr val="0042FF"/>
              </a:solidFill>
              <a:latin typeface="微软雅黑"/>
              <a:ea typeface="微软雅黑"/>
              <a:cs typeface="微软雅黑"/>
            </a:endParaRPr>
          </a:p>
        </p:txBody>
      </p:sp>
      <p:sp>
        <p:nvSpPr>
          <p:cNvPr id="556" name="椭圆 555"/>
          <p:cNvSpPr/>
          <p:nvPr/>
        </p:nvSpPr>
        <p:spPr>
          <a:xfrm>
            <a:off x="7152958" y="4353560"/>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557" name="椭圆 556"/>
          <p:cNvSpPr/>
          <p:nvPr/>
        </p:nvSpPr>
        <p:spPr>
          <a:xfrm>
            <a:off x="6199188" y="4353560"/>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558" name="椭圆 557"/>
          <p:cNvSpPr/>
          <p:nvPr/>
        </p:nvSpPr>
        <p:spPr>
          <a:xfrm>
            <a:off x="5159058" y="4352925"/>
            <a:ext cx="730885" cy="730885"/>
          </a:xfrm>
          <a:prstGeom prst="ellipse">
            <a:avLst/>
          </a:prstGeom>
          <a:solidFill>
            <a:srgbClr val="FFFFFF"/>
          </a:solidFill>
          <a:ln w="25400">
            <a:gradFill>
              <a:gsLst>
                <a:gs pos="0">
                  <a:srgbClr val="B3D4FE"/>
                </a:gs>
                <a:gs pos="100000">
                  <a:srgbClr val="3368FF"/>
                </a:gs>
              </a:gsLst>
              <a:lin ang="5400000" scaled="1"/>
            </a:gra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560" name="矩形 559"/>
          <p:cNvSpPr/>
          <p:nvPr/>
        </p:nvSpPr>
        <p:spPr>
          <a:xfrm>
            <a:off x="511111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专业性</a:t>
            </a:r>
            <a:endParaRPr lang="zh-CN" altLang="en-US" sz="1200" b="1" dirty="0">
              <a:solidFill>
                <a:srgbClr val="0042FF"/>
              </a:solidFill>
              <a:latin typeface="微软雅黑"/>
              <a:ea typeface="微软雅黑"/>
              <a:cs typeface="微软雅黑"/>
            </a:endParaRPr>
          </a:p>
        </p:txBody>
      </p:sp>
      <p:sp>
        <p:nvSpPr>
          <p:cNvPr id="562" name="矩形 561"/>
          <p:cNvSpPr/>
          <p:nvPr/>
        </p:nvSpPr>
        <p:spPr>
          <a:xfrm>
            <a:off x="615124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易用性</a:t>
            </a:r>
            <a:endParaRPr lang="zh-CN" altLang="en-US" sz="1200" b="1" dirty="0">
              <a:solidFill>
                <a:srgbClr val="0042FF"/>
              </a:solidFill>
              <a:latin typeface="微软雅黑"/>
              <a:ea typeface="微软雅黑"/>
              <a:cs typeface="微软雅黑"/>
            </a:endParaRPr>
          </a:p>
        </p:txBody>
      </p:sp>
      <p:sp>
        <p:nvSpPr>
          <p:cNvPr id="563" name="矩形 562"/>
          <p:cNvSpPr/>
          <p:nvPr/>
        </p:nvSpPr>
        <p:spPr>
          <a:xfrm>
            <a:off x="7105015" y="4704715"/>
            <a:ext cx="826770" cy="259715"/>
          </a:xfrm>
          <a:prstGeom prst="rect">
            <a:avLst/>
          </a:prstGeom>
        </p:spPr>
        <p:txBody>
          <a:bodyPr wrap="square">
            <a:no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安全性</a:t>
            </a:r>
            <a:endParaRPr lang="zh-CN" altLang="en-US" sz="1200" b="1" dirty="0">
              <a:solidFill>
                <a:srgbClr val="0042FF"/>
              </a:solidFill>
              <a:latin typeface="微软雅黑"/>
              <a:ea typeface="微软雅黑"/>
              <a:cs typeface="微软雅黑"/>
            </a:endParaRPr>
          </a:p>
        </p:txBody>
      </p:sp>
      <p:sp>
        <p:nvSpPr>
          <p:cNvPr id="564" name="Freeform 52"/>
          <p:cNvSpPr>
            <a:spLocks noEditPoints="1"/>
          </p:cNvSpPr>
          <p:nvPr/>
        </p:nvSpPr>
        <p:spPr bwMode="auto">
          <a:xfrm>
            <a:off x="5398135" y="4450715"/>
            <a:ext cx="252730" cy="262255"/>
          </a:xfrm>
          <a:custGeom>
            <a:avLst/>
            <a:gdLst>
              <a:gd name="T0" fmla="*/ 79 w 88"/>
              <a:gd name="T1" fmla="*/ 76 h 88"/>
              <a:gd name="T2" fmla="*/ 78 w 88"/>
              <a:gd name="T3" fmla="*/ 76 h 88"/>
              <a:gd name="T4" fmla="*/ 77 w 88"/>
              <a:gd name="T5" fmla="*/ 76 h 88"/>
              <a:gd name="T6" fmla="*/ 74 w 88"/>
              <a:gd name="T7" fmla="*/ 76 h 88"/>
              <a:gd name="T8" fmla="*/ 56 w 88"/>
              <a:gd name="T9" fmla="*/ 60 h 88"/>
              <a:gd name="T10" fmla="*/ 72 w 88"/>
              <a:gd name="T11" fmla="*/ 60 h 88"/>
              <a:gd name="T12" fmla="*/ 72 w 88"/>
              <a:gd name="T13" fmla="*/ 52 h 88"/>
              <a:gd name="T14" fmla="*/ 56 w 88"/>
              <a:gd name="T15" fmla="*/ 52 h 88"/>
              <a:gd name="T16" fmla="*/ 56 w 88"/>
              <a:gd name="T17" fmla="*/ 44 h 88"/>
              <a:gd name="T18" fmla="*/ 69 w 88"/>
              <a:gd name="T19" fmla="*/ 44 h 88"/>
              <a:gd name="T20" fmla="*/ 88 w 88"/>
              <a:gd name="T21" fmla="*/ 27 h 88"/>
              <a:gd name="T22" fmla="*/ 69 w 88"/>
              <a:gd name="T23" fmla="*/ 8 h 88"/>
              <a:gd name="T24" fmla="*/ 60 w 88"/>
              <a:gd name="T25" fmla="*/ 10 h 88"/>
              <a:gd name="T26" fmla="*/ 44 w 88"/>
              <a:gd name="T27" fmla="*/ 0 h 88"/>
              <a:gd name="T28" fmla="*/ 28 w 88"/>
              <a:gd name="T29" fmla="*/ 10 h 88"/>
              <a:gd name="T30" fmla="*/ 19 w 88"/>
              <a:gd name="T31" fmla="*/ 8 h 88"/>
              <a:gd name="T32" fmla="*/ 0 w 88"/>
              <a:gd name="T33" fmla="*/ 27 h 88"/>
              <a:gd name="T34" fmla="*/ 19 w 88"/>
              <a:gd name="T35" fmla="*/ 44 h 88"/>
              <a:gd name="T36" fmla="*/ 32 w 88"/>
              <a:gd name="T37" fmla="*/ 44 h 88"/>
              <a:gd name="T38" fmla="*/ 32 w 88"/>
              <a:gd name="T39" fmla="*/ 52 h 88"/>
              <a:gd name="T40" fmla="*/ 16 w 88"/>
              <a:gd name="T41" fmla="*/ 52 h 88"/>
              <a:gd name="T42" fmla="*/ 16 w 88"/>
              <a:gd name="T43" fmla="*/ 60 h 88"/>
              <a:gd name="T44" fmla="*/ 32 w 88"/>
              <a:gd name="T45" fmla="*/ 60 h 88"/>
              <a:gd name="T46" fmla="*/ 14 w 88"/>
              <a:gd name="T47" fmla="*/ 76 h 88"/>
              <a:gd name="T48" fmla="*/ 11 w 88"/>
              <a:gd name="T49" fmla="*/ 76 h 88"/>
              <a:gd name="T50" fmla="*/ 10 w 88"/>
              <a:gd name="T51" fmla="*/ 76 h 88"/>
              <a:gd name="T52" fmla="*/ 9 w 88"/>
              <a:gd name="T53" fmla="*/ 76 h 88"/>
              <a:gd name="T54" fmla="*/ 4 w 88"/>
              <a:gd name="T55" fmla="*/ 83 h 88"/>
              <a:gd name="T56" fmla="*/ 10 w 88"/>
              <a:gd name="T57" fmla="*/ 88 h 88"/>
              <a:gd name="T58" fmla="*/ 78 w 88"/>
              <a:gd name="T59" fmla="*/ 88 h 88"/>
              <a:gd name="T60" fmla="*/ 84 w 88"/>
              <a:gd name="T61" fmla="*/ 82 h 88"/>
              <a:gd name="T62" fmla="*/ 79 w 88"/>
              <a:gd name="T63" fmla="*/ 76 h 88"/>
              <a:gd name="T64" fmla="*/ 36 w 88"/>
              <a:gd name="T65" fmla="*/ 36 h 88"/>
              <a:gd name="T66" fmla="*/ 19 w 88"/>
              <a:gd name="T67" fmla="*/ 36 h 88"/>
              <a:gd name="T68" fmla="*/ 8 w 88"/>
              <a:gd name="T69" fmla="*/ 27 h 88"/>
              <a:gd name="T70" fmla="*/ 19 w 88"/>
              <a:gd name="T71" fmla="*/ 16 h 88"/>
              <a:gd name="T72" fmla="*/ 27 w 88"/>
              <a:gd name="T73" fmla="*/ 19 h 88"/>
              <a:gd name="T74" fmla="*/ 31 w 88"/>
              <a:gd name="T75" fmla="*/ 20 h 88"/>
              <a:gd name="T76" fmla="*/ 34 w 88"/>
              <a:gd name="T77" fmla="*/ 17 h 88"/>
              <a:gd name="T78" fmla="*/ 44 w 88"/>
              <a:gd name="T79" fmla="*/ 8 h 88"/>
              <a:gd name="T80" fmla="*/ 54 w 88"/>
              <a:gd name="T81" fmla="*/ 17 h 88"/>
              <a:gd name="T82" fmla="*/ 57 w 88"/>
              <a:gd name="T83" fmla="*/ 20 h 88"/>
              <a:gd name="T84" fmla="*/ 61 w 88"/>
              <a:gd name="T85" fmla="*/ 19 h 88"/>
              <a:gd name="T86" fmla="*/ 69 w 88"/>
              <a:gd name="T87" fmla="*/ 16 h 88"/>
              <a:gd name="T88" fmla="*/ 80 w 88"/>
              <a:gd name="T89" fmla="*/ 27 h 88"/>
              <a:gd name="T90" fmla="*/ 69 w 88"/>
              <a:gd name="T91" fmla="*/ 36 h 88"/>
              <a:gd name="T92" fmla="*/ 52 w 88"/>
              <a:gd name="T93" fmla="*/ 36 h 88"/>
              <a:gd name="T94" fmla="*/ 48 w 88"/>
              <a:gd name="T95" fmla="*/ 40 h 88"/>
              <a:gd name="T96" fmla="*/ 48 w 88"/>
              <a:gd name="T97" fmla="*/ 52 h 88"/>
              <a:gd name="T98" fmla="*/ 40 w 88"/>
              <a:gd name="T99" fmla="*/ 52 h 88"/>
              <a:gd name="T100" fmla="*/ 40 w 88"/>
              <a:gd name="T101" fmla="*/ 40 h 88"/>
              <a:gd name="T102" fmla="*/ 36 w 88"/>
              <a:gd name="T103" fmla="*/ 36 h 88"/>
              <a:gd name="T104" fmla="*/ 29 w 88"/>
              <a:gd name="T105" fmla="*/ 80 h 88"/>
              <a:gd name="T106" fmla="*/ 40 w 88"/>
              <a:gd name="T107" fmla="*/ 60 h 88"/>
              <a:gd name="T108" fmla="*/ 48 w 88"/>
              <a:gd name="T109" fmla="*/ 60 h 88"/>
              <a:gd name="T110" fmla="*/ 58 w 88"/>
              <a:gd name="T111" fmla="*/ 79 h 88"/>
              <a:gd name="T112" fmla="*/ 59 w 88"/>
              <a:gd name="T113" fmla="*/ 80 h 88"/>
              <a:gd name="T114" fmla="*/ 29 w 88"/>
              <a:gd name="T115"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 h="88">
                <a:moveTo>
                  <a:pt x="79" y="76"/>
                </a:moveTo>
                <a:cubicBezTo>
                  <a:pt x="78" y="76"/>
                  <a:pt x="78" y="76"/>
                  <a:pt x="78" y="76"/>
                </a:cubicBezTo>
                <a:cubicBezTo>
                  <a:pt x="78" y="76"/>
                  <a:pt x="78" y="76"/>
                  <a:pt x="77" y="76"/>
                </a:cubicBezTo>
                <a:cubicBezTo>
                  <a:pt x="76" y="76"/>
                  <a:pt x="75" y="76"/>
                  <a:pt x="74" y="76"/>
                </a:cubicBezTo>
                <a:cubicBezTo>
                  <a:pt x="63" y="76"/>
                  <a:pt x="57" y="71"/>
                  <a:pt x="56" y="60"/>
                </a:cubicBezTo>
                <a:cubicBezTo>
                  <a:pt x="72" y="60"/>
                  <a:pt x="72" y="60"/>
                  <a:pt x="72" y="60"/>
                </a:cubicBezTo>
                <a:cubicBezTo>
                  <a:pt x="72" y="52"/>
                  <a:pt x="72" y="52"/>
                  <a:pt x="72" y="52"/>
                </a:cubicBezTo>
                <a:cubicBezTo>
                  <a:pt x="56" y="52"/>
                  <a:pt x="56" y="52"/>
                  <a:pt x="56" y="52"/>
                </a:cubicBezTo>
                <a:cubicBezTo>
                  <a:pt x="56" y="44"/>
                  <a:pt x="56" y="44"/>
                  <a:pt x="56" y="44"/>
                </a:cubicBezTo>
                <a:cubicBezTo>
                  <a:pt x="69" y="44"/>
                  <a:pt x="69" y="44"/>
                  <a:pt x="69" y="44"/>
                </a:cubicBezTo>
                <a:cubicBezTo>
                  <a:pt x="80" y="44"/>
                  <a:pt x="88" y="36"/>
                  <a:pt x="88" y="27"/>
                </a:cubicBezTo>
                <a:cubicBezTo>
                  <a:pt x="88" y="16"/>
                  <a:pt x="80" y="8"/>
                  <a:pt x="69" y="8"/>
                </a:cubicBezTo>
                <a:cubicBezTo>
                  <a:pt x="66" y="8"/>
                  <a:pt x="63" y="9"/>
                  <a:pt x="60" y="10"/>
                </a:cubicBezTo>
                <a:cubicBezTo>
                  <a:pt x="57" y="4"/>
                  <a:pt x="51" y="0"/>
                  <a:pt x="44" y="0"/>
                </a:cubicBezTo>
                <a:cubicBezTo>
                  <a:pt x="37" y="0"/>
                  <a:pt x="31" y="4"/>
                  <a:pt x="28" y="10"/>
                </a:cubicBezTo>
                <a:cubicBezTo>
                  <a:pt x="25" y="9"/>
                  <a:pt x="22" y="8"/>
                  <a:pt x="19" y="8"/>
                </a:cubicBezTo>
                <a:cubicBezTo>
                  <a:pt x="8" y="8"/>
                  <a:pt x="0" y="16"/>
                  <a:pt x="0" y="27"/>
                </a:cubicBezTo>
                <a:cubicBezTo>
                  <a:pt x="0" y="36"/>
                  <a:pt x="8" y="44"/>
                  <a:pt x="19" y="44"/>
                </a:cubicBezTo>
                <a:cubicBezTo>
                  <a:pt x="32" y="44"/>
                  <a:pt x="32" y="44"/>
                  <a:pt x="32" y="44"/>
                </a:cubicBezTo>
                <a:cubicBezTo>
                  <a:pt x="32" y="52"/>
                  <a:pt x="32" y="52"/>
                  <a:pt x="32" y="52"/>
                </a:cubicBezTo>
                <a:cubicBezTo>
                  <a:pt x="16" y="52"/>
                  <a:pt x="16" y="52"/>
                  <a:pt x="16" y="52"/>
                </a:cubicBezTo>
                <a:cubicBezTo>
                  <a:pt x="16" y="60"/>
                  <a:pt x="16" y="60"/>
                  <a:pt x="16" y="60"/>
                </a:cubicBezTo>
                <a:cubicBezTo>
                  <a:pt x="32" y="60"/>
                  <a:pt x="32" y="60"/>
                  <a:pt x="32" y="60"/>
                </a:cubicBezTo>
                <a:cubicBezTo>
                  <a:pt x="31" y="71"/>
                  <a:pt x="25" y="76"/>
                  <a:pt x="14" y="76"/>
                </a:cubicBezTo>
                <a:cubicBezTo>
                  <a:pt x="13" y="76"/>
                  <a:pt x="12" y="76"/>
                  <a:pt x="11" y="76"/>
                </a:cubicBezTo>
                <a:cubicBezTo>
                  <a:pt x="10" y="76"/>
                  <a:pt x="10" y="76"/>
                  <a:pt x="10" y="76"/>
                </a:cubicBezTo>
                <a:cubicBezTo>
                  <a:pt x="9" y="76"/>
                  <a:pt x="9" y="76"/>
                  <a:pt x="9" y="76"/>
                </a:cubicBezTo>
                <a:cubicBezTo>
                  <a:pt x="6" y="77"/>
                  <a:pt x="4" y="79"/>
                  <a:pt x="4" y="83"/>
                </a:cubicBezTo>
                <a:cubicBezTo>
                  <a:pt x="4" y="86"/>
                  <a:pt x="7" y="88"/>
                  <a:pt x="10" y="88"/>
                </a:cubicBezTo>
                <a:cubicBezTo>
                  <a:pt x="78" y="88"/>
                  <a:pt x="78" y="88"/>
                  <a:pt x="78" y="88"/>
                </a:cubicBezTo>
                <a:cubicBezTo>
                  <a:pt x="81" y="88"/>
                  <a:pt x="84" y="86"/>
                  <a:pt x="84" y="82"/>
                </a:cubicBezTo>
                <a:cubicBezTo>
                  <a:pt x="84" y="79"/>
                  <a:pt x="82" y="77"/>
                  <a:pt x="79" y="76"/>
                </a:cubicBezTo>
                <a:close/>
                <a:moveTo>
                  <a:pt x="36" y="36"/>
                </a:moveTo>
                <a:cubicBezTo>
                  <a:pt x="19" y="36"/>
                  <a:pt x="19" y="36"/>
                  <a:pt x="19" y="36"/>
                </a:cubicBezTo>
                <a:cubicBezTo>
                  <a:pt x="13" y="36"/>
                  <a:pt x="8" y="33"/>
                  <a:pt x="8" y="27"/>
                </a:cubicBezTo>
                <a:cubicBezTo>
                  <a:pt x="8" y="21"/>
                  <a:pt x="13" y="16"/>
                  <a:pt x="19" y="16"/>
                </a:cubicBezTo>
                <a:cubicBezTo>
                  <a:pt x="22" y="16"/>
                  <a:pt x="25" y="17"/>
                  <a:pt x="27" y="19"/>
                </a:cubicBezTo>
                <a:cubicBezTo>
                  <a:pt x="28" y="20"/>
                  <a:pt x="29" y="21"/>
                  <a:pt x="31" y="20"/>
                </a:cubicBezTo>
                <a:cubicBezTo>
                  <a:pt x="32" y="20"/>
                  <a:pt x="33" y="19"/>
                  <a:pt x="34" y="17"/>
                </a:cubicBezTo>
                <a:cubicBezTo>
                  <a:pt x="34" y="12"/>
                  <a:pt x="39" y="8"/>
                  <a:pt x="44" y="8"/>
                </a:cubicBezTo>
                <a:cubicBezTo>
                  <a:pt x="49" y="8"/>
                  <a:pt x="54" y="12"/>
                  <a:pt x="54" y="17"/>
                </a:cubicBezTo>
                <a:cubicBezTo>
                  <a:pt x="55" y="19"/>
                  <a:pt x="56" y="20"/>
                  <a:pt x="57" y="20"/>
                </a:cubicBezTo>
                <a:cubicBezTo>
                  <a:pt x="59" y="21"/>
                  <a:pt x="60" y="20"/>
                  <a:pt x="61" y="19"/>
                </a:cubicBezTo>
                <a:cubicBezTo>
                  <a:pt x="63" y="17"/>
                  <a:pt x="66" y="16"/>
                  <a:pt x="69" y="16"/>
                </a:cubicBezTo>
                <a:cubicBezTo>
                  <a:pt x="75" y="16"/>
                  <a:pt x="80" y="21"/>
                  <a:pt x="80" y="27"/>
                </a:cubicBezTo>
                <a:cubicBezTo>
                  <a:pt x="80" y="33"/>
                  <a:pt x="75" y="36"/>
                  <a:pt x="69" y="36"/>
                </a:cubicBezTo>
                <a:cubicBezTo>
                  <a:pt x="52" y="36"/>
                  <a:pt x="52" y="36"/>
                  <a:pt x="52" y="36"/>
                </a:cubicBezTo>
                <a:cubicBezTo>
                  <a:pt x="50" y="36"/>
                  <a:pt x="48" y="38"/>
                  <a:pt x="48" y="40"/>
                </a:cubicBezTo>
                <a:cubicBezTo>
                  <a:pt x="48" y="52"/>
                  <a:pt x="48" y="52"/>
                  <a:pt x="48" y="52"/>
                </a:cubicBezTo>
                <a:cubicBezTo>
                  <a:pt x="40" y="52"/>
                  <a:pt x="40" y="52"/>
                  <a:pt x="40" y="52"/>
                </a:cubicBezTo>
                <a:cubicBezTo>
                  <a:pt x="40" y="40"/>
                  <a:pt x="40" y="40"/>
                  <a:pt x="40" y="40"/>
                </a:cubicBezTo>
                <a:cubicBezTo>
                  <a:pt x="40" y="38"/>
                  <a:pt x="38" y="36"/>
                  <a:pt x="36" y="36"/>
                </a:cubicBezTo>
                <a:close/>
                <a:moveTo>
                  <a:pt x="29" y="80"/>
                </a:moveTo>
                <a:cubicBezTo>
                  <a:pt x="35" y="76"/>
                  <a:pt x="39" y="69"/>
                  <a:pt x="40" y="60"/>
                </a:cubicBezTo>
                <a:cubicBezTo>
                  <a:pt x="48" y="60"/>
                  <a:pt x="48" y="60"/>
                  <a:pt x="48" y="60"/>
                </a:cubicBezTo>
                <a:cubicBezTo>
                  <a:pt x="49" y="69"/>
                  <a:pt x="52" y="75"/>
                  <a:pt x="58" y="79"/>
                </a:cubicBezTo>
                <a:cubicBezTo>
                  <a:pt x="58" y="80"/>
                  <a:pt x="58" y="80"/>
                  <a:pt x="59" y="80"/>
                </a:cubicBezTo>
                <a:lnTo>
                  <a:pt x="29" y="80"/>
                </a:lnTo>
                <a:close/>
              </a:path>
            </a:pathLst>
          </a:custGeom>
          <a:gradFill>
            <a:gsLst>
              <a:gs pos="0">
                <a:srgbClr val="3368FF"/>
              </a:gs>
              <a:gs pos="100000">
                <a:srgbClr val="B3D4FE"/>
              </a:gs>
            </a:gsLst>
            <a:lin ang="5400000" scaled="0"/>
          </a:gra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nvGrpSpPr>
          <p:cNvPr id="565" name="组合 564"/>
          <p:cNvGrpSpPr/>
          <p:nvPr/>
        </p:nvGrpSpPr>
        <p:grpSpPr>
          <a:xfrm rot="0">
            <a:off x="7423785" y="4470400"/>
            <a:ext cx="189230" cy="214630"/>
            <a:chOff x="8709026" y="3606801"/>
            <a:chExt cx="252413" cy="252413"/>
          </a:xfrm>
          <a:gradFill>
            <a:gsLst>
              <a:gs pos="0">
                <a:srgbClr val="3368FF"/>
              </a:gs>
              <a:gs pos="100000">
                <a:srgbClr val="B3D4FE"/>
              </a:gs>
            </a:gsLst>
            <a:lin ang="5400000" scaled="0"/>
          </a:gradFill>
        </p:grpSpPr>
        <p:sp>
          <p:nvSpPr>
            <p:cNvPr id="569" name="Freeform 109"/>
            <p:cNvSpPr>
              <a:spLocks noEditPoints="1"/>
            </p:cNvSpPr>
            <p:nvPr/>
          </p:nvSpPr>
          <p:spPr bwMode="auto">
            <a:xfrm>
              <a:off x="8709026" y="3606801"/>
              <a:ext cx="252413" cy="252413"/>
            </a:xfrm>
            <a:custGeom>
              <a:avLst/>
              <a:gdLst>
                <a:gd name="T0" fmla="*/ 72 w 80"/>
                <a:gd name="T1" fmla="*/ 0 h 80"/>
                <a:gd name="T2" fmla="*/ 8 w 80"/>
                <a:gd name="T3" fmla="*/ 0 h 80"/>
                <a:gd name="T4" fmla="*/ 0 w 80"/>
                <a:gd name="T5" fmla="*/ 8 h 80"/>
                <a:gd name="T6" fmla="*/ 0 w 80"/>
                <a:gd name="T7" fmla="*/ 48 h 80"/>
                <a:gd name="T8" fmla="*/ 8 w 80"/>
                <a:gd name="T9" fmla="*/ 56 h 80"/>
                <a:gd name="T10" fmla="*/ 36 w 80"/>
                <a:gd name="T11" fmla="*/ 56 h 80"/>
                <a:gd name="T12" fmla="*/ 36 w 80"/>
                <a:gd name="T13" fmla="*/ 72 h 80"/>
                <a:gd name="T14" fmla="*/ 16 w 80"/>
                <a:gd name="T15" fmla="*/ 72 h 80"/>
                <a:gd name="T16" fmla="*/ 16 w 80"/>
                <a:gd name="T17" fmla="*/ 80 h 80"/>
                <a:gd name="T18" fmla="*/ 64 w 80"/>
                <a:gd name="T19" fmla="*/ 80 h 80"/>
                <a:gd name="T20" fmla="*/ 64 w 80"/>
                <a:gd name="T21" fmla="*/ 72 h 80"/>
                <a:gd name="T22" fmla="*/ 44 w 80"/>
                <a:gd name="T23" fmla="*/ 72 h 80"/>
                <a:gd name="T24" fmla="*/ 44 w 80"/>
                <a:gd name="T25" fmla="*/ 56 h 80"/>
                <a:gd name="T26" fmla="*/ 72 w 80"/>
                <a:gd name="T27" fmla="*/ 56 h 80"/>
                <a:gd name="T28" fmla="*/ 80 w 80"/>
                <a:gd name="T29" fmla="*/ 48 h 80"/>
                <a:gd name="T30" fmla="*/ 80 w 80"/>
                <a:gd name="T31" fmla="*/ 8 h 80"/>
                <a:gd name="T32" fmla="*/ 72 w 80"/>
                <a:gd name="T33" fmla="*/ 0 h 80"/>
                <a:gd name="T34" fmla="*/ 72 w 80"/>
                <a:gd name="T35" fmla="*/ 8 h 80"/>
                <a:gd name="T36" fmla="*/ 72 w 80"/>
                <a:gd name="T37" fmla="*/ 24 h 80"/>
                <a:gd name="T38" fmla="*/ 8 w 80"/>
                <a:gd name="T39" fmla="*/ 24 h 80"/>
                <a:gd name="T40" fmla="*/ 8 w 80"/>
                <a:gd name="T41" fmla="*/ 8 h 80"/>
                <a:gd name="T42" fmla="*/ 72 w 80"/>
                <a:gd name="T43" fmla="*/ 8 h 80"/>
                <a:gd name="T44" fmla="*/ 8 w 80"/>
                <a:gd name="T45" fmla="*/ 48 h 80"/>
                <a:gd name="T46" fmla="*/ 8 w 80"/>
                <a:gd name="T47" fmla="*/ 32 h 80"/>
                <a:gd name="T48" fmla="*/ 72 w 80"/>
                <a:gd name="T49" fmla="*/ 32 h 80"/>
                <a:gd name="T50" fmla="*/ 72 w 80"/>
                <a:gd name="T51" fmla="*/ 48 h 80"/>
                <a:gd name="T52" fmla="*/ 8 w 80"/>
                <a:gd name="T53"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80">
                  <a:moveTo>
                    <a:pt x="72" y="0"/>
                  </a:moveTo>
                  <a:cubicBezTo>
                    <a:pt x="8" y="0"/>
                    <a:pt x="8" y="0"/>
                    <a:pt x="8" y="0"/>
                  </a:cubicBezTo>
                  <a:cubicBezTo>
                    <a:pt x="4" y="0"/>
                    <a:pt x="0" y="4"/>
                    <a:pt x="0" y="8"/>
                  </a:cubicBezTo>
                  <a:cubicBezTo>
                    <a:pt x="0" y="48"/>
                    <a:pt x="0" y="48"/>
                    <a:pt x="0" y="48"/>
                  </a:cubicBezTo>
                  <a:cubicBezTo>
                    <a:pt x="0" y="52"/>
                    <a:pt x="4" y="56"/>
                    <a:pt x="8" y="56"/>
                  </a:cubicBezTo>
                  <a:cubicBezTo>
                    <a:pt x="36" y="56"/>
                    <a:pt x="36" y="56"/>
                    <a:pt x="36" y="56"/>
                  </a:cubicBezTo>
                  <a:cubicBezTo>
                    <a:pt x="36" y="72"/>
                    <a:pt x="36" y="72"/>
                    <a:pt x="36" y="72"/>
                  </a:cubicBezTo>
                  <a:cubicBezTo>
                    <a:pt x="16" y="72"/>
                    <a:pt x="16" y="72"/>
                    <a:pt x="16" y="72"/>
                  </a:cubicBezTo>
                  <a:cubicBezTo>
                    <a:pt x="16" y="80"/>
                    <a:pt x="16" y="80"/>
                    <a:pt x="16" y="80"/>
                  </a:cubicBezTo>
                  <a:cubicBezTo>
                    <a:pt x="64" y="80"/>
                    <a:pt x="64" y="80"/>
                    <a:pt x="64" y="80"/>
                  </a:cubicBezTo>
                  <a:cubicBezTo>
                    <a:pt x="64" y="72"/>
                    <a:pt x="64" y="72"/>
                    <a:pt x="64" y="72"/>
                  </a:cubicBezTo>
                  <a:cubicBezTo>
                    <a:pt x="44" y="72"/>
                    <a:pt x="44" y="72"/>
                    <a:pt x="44" y="72"/>
                  </a:cubicBezTo>
                  <a:cubicBezTo>
                    <a:pt x="44" y="56"/>
                    <a:pt x="44" y="56"/>
                    <a:pt x="44" y="56"/>
                  </a:cubicBezTo>
                  <a:cubicBezTo>
                    <a:pt x="72" y="56"/>
                    <a:pt x="72" y="56"/>
                    <a:pt x="72" y="56"/>
                  </a:cubicBezTo>
                  <a:cubicBezTo>
                    <a:pt x="76" y="56"/>
                    <a:pt x="80" y="52"/>
                    <a:pt x="80" y="48"/>
                  </a:cubicBezTo>
                  <a:cubicBezTo>
                    <a:pt x="80" y="8"/>
                    <a:pt x="80" y="8"/>
                    <a:pt x="80" y="8"/>
                  </a:cubicBezTo>
                  <a:cubicBezTo>
                    <a:pt x="80" y="4"/>
                    <a:pt x="76" y="0"/>
                    <a:pt x="72" y="0"/>
                  </a:cubicBezTo>
                  <a:close/>
                  <a:moveTo>
                    <a:pt x="72" y="8"/>
                  </a:moveTo>
                  <a:cubicBezTo>
                    <a:pt x="72" y="24"/>
                    <a:pt x="72" y="24"/>
                    <a:pt x="72" y="24"/>
                  </a:cubicBezTo>
                  <a:cubicBezTo>
                    <a:pt x="8" y="24"/>
                    <a:pt x="8" y="24"/>
                    <a:pt x="8" y="24"/>
                  </a:cubicBezTo>
                  <a:cubicBezTo>
                    <a:pt x="8" y="8"/>
                    <a:pt x="8" y="8"/>
                    <a:pt x="8" y="8"/>
                  </a:cubicBezTo>
                  <a:lnTo>
                    <a:pt x="72" y="8"/>
                  </a:lnTo>
                  <a:close/>
                  <a:moveTo>
                    <a:pt x="8" y="48"/>
                  </a:moveTo>
                  <a:cubicBezTo>
                    <a:pt x="8" y="32"/>
                    <a:pt x="8" y="32"/>
                    <a:pt x="8" y="32"/>
                  </a:cubicBezTo>
                  <a:cubicBezTo>
                    <a:pt x="72" y="32"/>
                    <a:pt x="72" y="32"/>
                    <a:pt x="72" y="32"/>
                  </a:cubicBezTo>
                  <a:cubicBezTo>
                    <a:pt x="72" y="48"/>
                    <a:pt x="72" y="48"/>
                    <a:pt x="72" y="48"/>
                  </a:cubicBezTo>
                  <a:lnTo>
                    <a:pt x="8" y="48"/>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0" name="Rectangle 110"/>
            <p:cNvSpPr>
              <a:spLocks noChangeArrowheads="1"/>
            </p:cNvSpPr>
            <p:nvPr/>
          </p:nvSpPr>
          <p:spPr bwMode="auto">
            <a:xfrm>
              <a:off x="8747126" y="3644901"/>
              <a:ext cx="63500" cy="25400"/>
            </a:xfrm>
            <a:prstGeom prst="rect">
              <a:avLst/>
            </a:prstGeom>
            <a:grpFill/>
            <a:ln>
              <a:noFill/>
            </a:ln>
            <a:extLs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1" name="Rectangle 111"/>
            <p:cNvSpPr>
              <a:spLocks noChangeArrowheads="1"/>
            </p:cNvSpPr>
            <p:nvPr/>
          </p:nvSpPr>
          <p:spPr bwMode="auto">
            <a:xfrm>
              <a:off x="8747126" y="3721101"/>
              <a:ext cx="63500" cy="23813"/>
            </a:xfrm>
            <a:prstGeom prst="rect">
              <a:avLst/>
            </a:prstGeom>
            <a:grpFill/>
            <a:ln>
              <a:noFill/>
            </a:ln>
            <a:extLs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2" name="Oval 112"/>
            <p:cNvSpPr>
              <a:spLocks noChangeArrowheads="1"/>
            </p:cNvSpPr>
            <p:nvPr/>
          </p:nvSpPr>
          <p:spPr bwMode="auto">
            <a:xfrm>
              <a:off x="8923338" y="3833813"/>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3" name="Oval 113"/>
            <p:cNvSpPr>
              <a:spLocks noChangeArrowheads="1"/>
            </p:cNvSpPr>
            <p:nvPr/>
          </p:nvSpPr>
          <p:spPr bwMode="auto">
            <a:xfrm>
              <a:off x="8721726" y="3833813"/>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4" name="Oval 114"/>
            <p:cNvSpPr>
              <a:spLocks noChangeArrowheads="1"/>
            </p:cNvSpPr>
            <p:nvPr/>
          </p:nvSpPr>
          <p:spPr bwMode="auto">
            <a:xfrm>
              <a:off x="8859838" y="3644901"/>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5" name="Oval 115"/>
            <p:cNvSpPr>
              <a:spLocks noChangeArrowheads="1"/>
            </p:cNvSpPr>
            <p:nvPr/>
          </p:nvSpPr>
          <p:spPr bwMode="auto">
            <a:xfrm>
              <a:off x="8897938" y="3644901"/>
              <a:ext cx="25400" cy="25400"/>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6" name="Oval 116"/>
            <p:cNvSpPr>
              <a:spLocks noChangeArrowheads="1"/>
            </p:cNvSpPr>
            <p:nvPr/>
          </p:nvSpPr>
          <p:spPr bwMode="auto">
            <a:xfrm>
              <a:off x="8859838" y="3721101"/>
              <a:ext cx="25400" cy="23813"/>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77" name="Oval 117"/>
            <p:cNvSpPr>
              <a:spLocks noChangeArrowheads="1"/>
            </p:cNvSpPr>
            <p:nvPr/>
          </p:nvSpPr>
          <p:spPr bwMode="auto">
            <a:xfrm>
              <a:off x="8897938" y="3721101"/>
              <a:ext cx="25400" cy="23813"/>
            </a:xfrm>
            <a:prstGeom prst="ellipse">
              <a:avLst/>
            </a:pr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578" name="组合 577"/>
          <p:cNvGrpSpPr/>
          <p:nvPr/>
        </p:nvGrpSpPr>
        <p:grpSpPr>
          <a:xfrm rot="0">
            <a:off x="6482080" y="4484370"/>
            <a:ext cx="194310" cy="220345"/>
            <a:chOff x="4462463" y="1782763"/>
            <a:chExt cx="252413" cy="254000"/>
          </a:xfrm>
          <a:gradFill>
            <a:gsLst>
              <a:gs pos="0">
                <a:srgbClr val="3368FF"/>
              </a:gs>
              <a:gs pos="100000">
                <a:srgbClr val="B3D4FE"/>
              </a:gs>
            </a:gsLst>
            <a:lin ang="5400000" scaled="0"/>
          </a:gradFill>
        </p:grpSpPr>
        <p:sp>
          <p:nvSpPr>
            <p:cNvPr id="579" name="Freeform 50"/>
            <p:cNvSpPr>
              <a:spLocks noEditPoints="1"/>
            </p:cNvSpPr>
            <p:nvPr/>
          </p:nvSpPr>
          <p:spPr bwMode="auto">
            <a:xfrm>
              <a:off x="4462463" y="1782763"/>
              <a:ext cx="203200" cy="254000"/>
            </a:xfrm>
            <a:custGeom>
              <a:avLst/>
              <a:gdLst>
                <a:gd name="T0" fmla="*/ 40 w 64"/>
                <a:gd name="T1" fmla="*/ 72 h 80"/>
                <a:gd name="T2" fmla="*/ 8 w 64"/>
                <a:gd name="T3" fmla="*/ 72 h 80"/>
                <a:gd name="T4" fmla="*/ 8 w 64"/>
                <a:gd name="T5" fmla="*/ 68 h 80"/>
                <a:gd name="T6" fmla="*/ 40 w 64"/>
                <a:gd name="T7" fmla="*/ 68 h 80"/>
                <a:gd name="T8" fmla="*/ 40 w 64"/>
                <a:gd name="T9" fmla="*/ 60 h 80"/>
                <a:gd name="T10" fmla="*/ 8 w 64"/>
                <a:gd name="T11" fmla="*/ 60 h 80"/>
                <a:gd name="T12" fmla="*/ 8 w 64"/>
                <a:gd name="T13" fmla="*/ 20 h 80"/>
                <a:gd name="T14" fmla="*/ 56 w 64"/>
                <a:gd name="T15" fmla="*/ 20 h 80"/>
                <a:gd name="T16" fmla="*/ 56 w 64"/>
                <a:gd name="T17" fmla="*/ 24 h 80"/>
                <a:gd name="T18" fmla="*/ 64 w 64"/>
                <a:gd name="T19" fmla="*/ 24 h 80"/>
                <a:gd name="T20" fmla="*/ 64 w 64"/>
                <a:gd name="T21" fmla="*/ 8 h 80"/>
                <a:gd name="T22" fmla="*/ 56 w 64"/>
                <a:gd name="T23" fmla="*/ 0 h 80"/>
                <a:gd name="T24" fmla="*/ 8 w 64"/>
                <a:gd name="T25" fmla="*/ 0 h 80"/>
                <a:gd name="T26" fmla="*/ 0 w 64"/>
                <a:gd name="T27" fmla="*/ 8 h 80"/>
                <a:gd name="T28" fmla="*/ 0 w 64"/>
                <a:gd name="T29" fmla="*/ 72 h 80"/>
                <a:gd name="T30" fmla="*/ 8 w 64"/>
                <a:gd name="T31" fmla="*/ 80 h 80"/>
                <a:gd name="T32" fmla="*/ 40 w 64"/>
                <a:gd name="T33" fmla="*/ 80 h 80"/>
                <a:gd name="T34" fmla="*/ 40 w 64"/>
                <a:gd name="T35" fmla="*/ 72 h 80"/>
                <a:gd name="T36" fmla="*/ 8 w 64"/>
                <a:gd name="T37" fmla="*/ 8 h 80"/>
                <a:gd name="T38" fmla="*/ 56 w 64"/>
                <a:gd name="T39" fmla="*/ 8 h 80"/>
                <a:gd name="T40" fmla="*/ 56 w 64"/>
                <a:gd name="T41" fmla="*/ 12 h 80"/>
                <a:gd name="T42" fmla="*/ 8 w 64"/>
                <a:gd name="T43" fmla="*/ 12 h 80"/>
                <a:gd name="T44" fmla="*/ 8 w 64"/>
                <a:gd name="T45" fmla="*/ 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80">
                  <a:moveTo>
                    <a:pt x="40" y="72"/>
                  </a:moveTo>
                  <a:cubicBezTo>
                    <a:pt x="8" y="72"/>
                    <a:pt x="8" y="72"/>
                    <a:pt x="8" y="72"/>
                  </a:cubicBezTo>
                  <a:cubicBezTo>
                    <a:pt x="8" y="68"/>
                    <a:pt x="8" y="68"/>
                    <a:pt x="8" y="68"/>
                  </a:cubicBezTo>
                  <a:cubicBezTo>
                    <a:pt x="40" y="68"/>
                    <a:pt x="40" y="68"/>
                    <a:pt x="40" y="68"/>
                  </a:cubicBezTo>
                  <a:cubicBezTo>
                    <a:pt x="40" y="60"/>
                    <a:pt x="40" y="60"/>
                    <a:pt x="40" y="60"/>
                  </a:cubicBezTo>
                  <a:cubicBezTo>
                    <a:pt x="8" y="60"/>
                    <a:pt x="8" y="60"/>
                    <a:pt x="8" y="60"/>
                  </a:cubicBezTo>
                  <a:cubicBezTo>
                    <a:pt x="8" y="20"/>
                    <a:pt x="8" y="20"/>
                    <a:pt x="8" y="20"/>
                  </a:cubicBezTo>
                  <a:cubicBezTo>
                    <a:pt x="56" y="20"/>
                    <a:pt x="56" y="20"/>
                    <a:pt x="56" y="20"/>
                  </a:cubicBezTo>
                  <a:cubicBezTo>
                    <a:pt x="56" y="24"/>
                    <a:pt x="56" y="24"/>
                    <a:pt x="56" y="24"/>
                  </a:cubicBezTo>
                  <a:cubicBezTo>
                    <a:pt x="64" y="24"/>
                    <a:pt x="64" y="24"/>
                    <a:pt x="64" y="24"/>
                  </a:cubicBezTo>
                  <a:cubicBezTo>
                    <a:pt x="64" y="8"/>
                    <a:pt x="64" y="8"/>
                    <a:pt x="64" y="8"/>
                  </a:cubicBezTo>
                  <a:cubicBezTo>
                    <a:pt x="64" y="4"/>
                    <a:pt x="60" y="0"/>
                    <a:pt x="56" y="0"/>
                  </a:cubicBezTo>
                  <a:cubicBezTo>
                    <a:pt x="8" y="0"/>
                    <a:pt x="8" y="0"/>
                    <a:pt x="8" y="0"/>
                  </a:cubicBezTo>
                  <a:cubicBezTo>
                    <a:pt x="4" y="0"/>
                    <a:pt x="0" y="4"/>
                    <a:pt x="0" y="8"/>
                  </a:cubicBezTo>
                  <a:cubicBezTo>
                    <a:pt x="0" y="72"/>
                    <a:pt x="0" y="72"/>
                    <a:pt x="0" y="72"/>
                  </a:cubicBezTo>
                  <a:cubicBezTo>
                    <a:pt x="0" y="76"/>
                    <a:pt x="4" y="80"/>
                    <a:pt x="8" y="80"/>
                  </a:cubicBezTo>
                  <a:cubicBezTo>
                    <a:pt x="40" y="80"/>
                    <a:pt x="40" y="80"/>
                    <a:pt x="40" y="80"/>
                  </a:cubicBezTo>
                  <a:lnTo>
                    <a:pt x="40" y="72"/>
                  </a:lnTo>
                  <a:close/>
                  <a:moveTo>
                    <a:pt x="8" y="8"/>
                  </a:moveTo>
                  <a:cubicBezTo>
                    <a:pt x="56" y="8"/>
                    <a:pt x="56" y="8"/>
                    <a:pt x="56" y="8"/>
                  </a:cubicBezTo>
                  <a:cubicBezTo>
                    <a:pt x="56" y="12"/>
                    <a:pt x="56" y="12"/>
                    <a:pt x="56" y="12"/>
                  </a:cubicBezTo>
                  <a:cubicBezTo>
                    <a:pt x="8" y="12"/>
                    <a:pt x="8" y="12"/>
                    <a:pt x="8" y="12"/>
                  </a:cubicBezTo>
                  <a:lnTo>
                    <a:pt x="8" y="8"/>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0" name="Freeform 51"/>
            <p:cNvSpPr>
              <a:spLocks noEditPoints="1"/>
            </p:cNvSpPr>
            <p:nvPr/>
          </p:nvSpPr>
          <p:spPr bwMode="auto">
            <a:xfrm>
              <a:off x="4614863" y="1884363"/>
              <a:ext cx="100013" cy="152400"/>
            </a:xfrm>
            <a:custGeom>
              <a:avLst/>
              <a:gdLst>
                <a:gd name="T0" fmla="*/ 24 w 32"/>
                <a:gd name="T1" fmla="*/ 0 h 48"/>
                <a:gd name="T2" fmla="*/ 8 w 32"/>
                <a:gd name="T3" fmla="*/ 0 h 48"/>
                <a:gd name="T4" fmla="*/ 0 w 32"/>
                <a:gd name="T5" fmla="*/ 8 h 48"/>
                <a:gd name="T6" fmla="*/ 0 w 32"/>
                <a:gd name="T7" fmla="*/ 40 h 48"/>
                <a:gd name="T8" fmla="*/ 8 w 32"/>
                <a:gd name="T9" fmla="*/ 48 h 48"/>
                <a:gd name="T10" fmla="*/ 24 w 32"/>
                <a:gd name="T11" fmla="*/ 48 h 48"/>
                <a:gd name="T12" fmla="*/ 32 w 32"/>
                <a:gd name="T13" fmla="*/ 40 h 48"/>
                <a:gd name="T14" fmla="*/ 32 w 32"/>
                <a:gd name="T15" fmla="*/ 8 h 48"/>
                <a:gd name="T16" fmla="*/ 24 w 32"/>
                <a:gd name="T17" fmla="*/ 0 h 48"/>
                <a:gd name="T18" fmla="*/ 24 w 32"/>
                <a:gd name="T19" fmla="*/ 8 h 48"/>
                <a:gd name="T20" fmla="*/ 24 w 32"/>
                <a:gd name="T21" fmla="*/ 28 h 48"/>
                <a:gd name="T22" fmla="*/ 8 w 32"/>
                <a:gd name="T23" fmla="*/ 28 h 48"/>
                <a:gd name="T24" fmla="*/ 8 w 32"/>
                <a:gd name="T25" fmla="*/ 8 h 48"/>
                <a:gd name="T26" fmla="*/ 24 w 32"/>
                <a:gd name="T27" fmla="*/ 8 h 48"/>
                <a:gd name="T28" fmla="*/ 8 w 32"/>
                <a:gd name="T29" fmla="*/ 40 h 48"/>
                <a:gd name="T30" fmla="*/ 8 w 32"/>
                <a:gd name="T31" fmla="*/ 36 h 48"/>
                <a:gd name="T32" fmla="*/ 24 w 32"/>
                <a:gd name="T33" fmla="*/ 36 h 48"/>
                <a:gd name="T34" fmla="*/ 24 w 32"/>
                <a:gd name="T35" fmla="*/ 40 h 48"/>
                <a:gd name="T36" fmla="*/ 8 w 32"/>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48">
                  <a:moveTo>
                    <a:pt x="24" y="0"/>
                  </a:moveTo>
                  <a:cubicBezTo>
                    <a:pt x="8" y="0"/>
                    <a:pt x="8" y="0"/>
                    <a:pt x="8" y="0"/>
                  </a:cubicBezTo>
                  <a:cubicBezTo>
                    <a:pt x="4" y="0"/>
                    <a:pt x="0" y="4"/>
                    <a:pt x="0" y="8"/>
                  </a:cubicBezTo>
                  <a:cubicBezTo>
                    <a:pt x="0" y="40"/>
                    <a:pt x="0" y="40"/>
                    <a:pt x="0" y="40"/>
                  </a:cubicBezTo>
                  <a:cubicBezTo>
                    <a:pt x="0" y="44"/>
                    <a:pt x="4" y="48"/>
                    <a:pt x="8" y="48"/>
                  </a:cubicBezTo>
                  <a:cubicBezTo>
                    <a:pt x="24" y="48"/>
                    <a:pt x="24" y="48"/>
                    <a:pt x="24" y="48"/>
                  </a:cubicBezTo>
                  <a:cubicBezTo>
                    <a:pt x="28" y="48"/>
                    <a:pt x="32" y="44"/>
                    <a:pt x="32" y="40"/>
                  </a:cubicBezTo>
                  <a:cubicBezTo>
                    <a:pt x="32" y="8"/>
                    <a:pt x="32" y="8"/>
                    <a:pt x="32" y="8"/>
                  </a:cubicBezTo>
                  <a:cubicBezTo>
                    <a:pt x="32" y="4"/>
                    <a:pt x="28" y="0"/>
                    <a:pt x="24" y="0"/>
                  </a:cubicBezTo>
                  <a:close/>
                  <a:moveTo>
                    <a:pt x="24" y="8"/>
                  </a:moveTo>
                  <a:cubicBezTo>
                    <a:pt x="24" y="28"/>
                    <a:pt x="24" y="28"/>
                    <a:pt x="24" y="28"/>
                  </a:cubicBezTo>
                  <a:cubicBezTo>
                    <a:pt x="8" y="28"/>
                    <a:pt x="8" y="28"/>
                    <a:pt x="8" y="28"/>
                  </a:cubicBezTo>
                  <a:cubicBezTo>
                    <a:pt x="8" y="8"/>
                    <a:pt x="8" y="8"/>
                    <a:pt x="8" y="8"/>
                  </a:cubicBezTo>
                  <a:lnTo>
                    <a:pt x="24" y="8"/>
                  </a:lnTo>
                  <a:close/>
                  <a:moveTo>
                    <a:pt x="8" y="40"/>
                  </a:moveTo>
                  <a:cubicBezTo>
                    <a:pt x="8" y="36"/>
                    <a:pt x="8" y="36"/>
                    <a:pt x="8" y="36"/>
                  </a:cubicBezTo>
                  <a:cubicBezTo>
                    <a:pt x="24" y="36"/>
                    <a:pt x="24" y="36"/>
                    <a:pt x="24" y="36"/>
                  </a:cubicBezTo>
                  <a:cubicBezTo>
                    <a:pt x="24" y="40"/>
                    <a:pt x="24" y="40"/>
                    <a:pt x="24" y="40"/>
                  </a:cubicBezTo>
                  <a:lnTo>
                    <a:pt x="8" y="40"/>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581" name="组合 580"/>
          <p:cNvGrpSpPr/>
          <p:nvPr/>
        </p:nvGrpSpPr>
        <p:grpSpPr>
          <a:xfrm rot="0">
            <a:off x="4400868" y="4470400"/>
            <a:ext cx="217805" cy="222885"/>
            <a:chOff x="5046663" y="3884613"/>
            <a:chExt cx="279400" cy="304800"/>
          </a:xfrm>
          <a:gradFill>
            <a:gsLst>
              <a:gs pos="0">
                <a:srgbClr val="3368FF"/>
              </a:gs>
              <a:gs pos="100000">
                <a:srgbClr val="B3D4FE"/>
              </a:gs>
            </a:gsLst>
            <a:lin ang="5400000" scaled="0"/>
          </a:gradFill>
        </p:grpSpPr>
        <p:sp>
          <p:nvSpPr>
            <p:cNvPr id="583" name="Freeform 18"/>
            <p:cNvSpPr>
              <a:spLocks noEditPoints="1"/>
            </p:cNvSpPr>
            <p:nvPr/>
          </p:nvSpPr>
          <p:spPr bwMode="auto">
            <a:xfrm>
              <a:off x="5046663" y="38846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4" name="Freeform 19"/>
            <p:cNvSpPr>
              <a:spLocks noEditPoints="1"/>
            </p:cNvSpPr>
            <p:nvPr/>
          </p:nvSpPr>
          <p:spPr bwMode="auto">
            <a:xfrm>
              <a:off x="5199063" y="38846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5" name="Freeform 20"/>
            <p:cNvSpPr>
              <a:spLocks noEditPoints="1"/>
            </p:cNvSpPr>
            <p:nvPr/>
          </p:nvSpPr>
          <p:spPr bwMode="auto">
            <a:xfrm>
              <a:off x="5046663" y="40497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86" name="Freeform 21"/>
            <p:cNvSpPr>
              <a:spLocks noEditPoints="1"/>
            </p:cNvSpPr>
            <p:nvPr/>
          </p:nvSpPr>
          <p:spPr bwMode="auto">
            <a:xfrm>
              <a:off x="5199063" y="4049713"/>
              <a:ext cx="127000" cy="139700"/>
            </a:xfrm>
            <a:custGeom>
              <a:avLst/>
              <a:gdLst>
                <a:gd name="T0" fmla="*/ 32 w 40"/>
                <a:gd name="T1" fmla="*/ 0 h 44"/>
                <a:gd name="T2" fmla="*/ 8 w 40"/>
                <a:gd name="T3" fmla="*/ 0 h 44"/>
                <a:gd name="T4" fmla="*/ 0 w 40"/>
                <a:gd name="T5" fmla="*/ 8 h 44"/>
                <a:gd name="T6" fmla="*/ 0 w 40"/>
                <a:gd name="T7" fmla="*/ 36 h 44"/>
                <a:gd name="T8" fmla="*/ 8 w 40"/>
                <a:gd name="T9" fmla="*/ 44 h 44"/>
                <a:gd name="T10" fmla="*/ 32 w 40"/>
                <a:gd name="T11" fmla="*/ 44 h 44"/>
                <a:gd name="T12" fmla="*/ 40 w 40"/>
                <a:gd name="T13" fmla="*/ 36 h 44"/>
                <a:gd name="T14" fmla="*/ 40 w 40"/>
                <a:gd name="T15" fmla="*/ 8 h 44"/>
                <a:gd name="T16" fmla="*/ 32 w 40"/>
                <a:gd name="T17" fmla="*/ 0 h 44"/>
                <a:gd name="T18" fmla="*/ 8 w 40"/>
                <a:gd name="T19" fmla="*/ 36 h 44"/>
                <a:gd name="T20" fmla="*/ 8 w 40"/>
                <a:gd name="T21" fmla="*/ 8 h 44"/>
                <a:gd name="T22" fmla="*/ 24 w 40"/>
                <a:gd name="T23" fmla="*/ 8 h 44"/>
                <a:gd name="T24" fmla="*/ 24 w 40"/>
                <a:gd name="T25" fmla="*/ 16 h 44"/>
                <a:gd name="T26" fmla="*/ 32 w 40"/>
                <a:gd name="T27" fmla="*/ 16 h 44"/>
                <a:gd name="T28" fmla="*/ 32 w 40"/>
                <a:gd name="T29" fmla="*/ 36 h 44"/>
                <a:gd name="T30" fmla="*/ 8 w 40"/>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32" y="0"/>
                  </a:moveTo>
                  <a:cubicBezTo>
                    <a:pt x="8" y="0"/>
                    <a:pt x="8" y="0"/>
                    <a:pt x="8" y="0"/>
                  </a:cubicBezTo>
                  <a:cubicBezTo>
                    <a:pt x="4" y="0"/>
                    <a:pt x="0" y="4"/>
                    <a:pt x="0" y="8"/>
                  </a:cubicBezTo>
                  <a:cubicBezTo>
                    <a:pt x="0" y="36"/>
                    <a:pt x="0" y="36"/>
                    <a:pt x="0" y="36"/>
                  </a:cubicBezTo>
                  <a:cubicBezTo>
                    <a:pt x="0" y="40"/>
                    <a:pt x="4" y="44"/>
                    <a:pt x="8" y="44"/>
                  </a:cubicBezTo>
                  <a:cubicBezTo>
                    <a:pt x="32" y="44"/>
                    <a:pt x="32" y="44"/>
                    <a:pt x="32" y="44"/>
                  </a:cubicBezTo>
                  <a:cubicBezTo>
                    <a:pt x="36" y="44"/>
                    <a:pt x="40" y="40"/>
                    <a:pt x="40" y="36"/>
                  </a:cubicBezTo>
                  <a:cubicBezTo>
                    <a:pt x="40" y="8"/>
                    <a:pt x="40" y="8"/>
                    <a:pt x="40" y="8"/>
                  </a:cubicBezTo>
                  <a:cubicBezTo>
                    <a:pt x="40" y="4"/>
                    <a:pt x="36" y="0"/>
                    <a:pt x="32" y="0"/>
                  </a:cubicBezTo>
                  <a:close/>
                  <a:moveTo>
                    <a:pt x="8" y="36"/>
                  </a:moveTo>
                  <a:cubicBezTo>
                    <a:pt x="8" y="8"/>
                    <a:pt x="8" y="8"/>
                    <a:pt x="8" y="8"/>
                  </a:cubicBezTo>
                  <a:cubicBezTo>
                    <a:pt x="24" y="8"/>
                    <a:pt x="24" y="8"/>
                    <a:pt x="24" y="8"/>
                  </a:cubicBezTo>
                  <a:cubicBezTo>
                    <a:pt x="24" y="16"/>
                    <a:pt x="24" y="16"/>
                    <a:pt x="24" y="16"/>
                  </a:cubicBezTo>
                  <a:cubicBezTo>
                    <a:pt x="32" y="16"/>
                    <a:pt x="32" y="16"/>
                    <a:pt x="32" y="16"/>
                  </a:cubicBezTo>
                  <a:cubicBezTo>
                    <a:pt x="32" y="36"/>
                    <a:pt x="32" y="36"/>
                    <a:pt x="32" y="36"/>
                  </a:cubicBezTo>
                  <a:lnTo>
                    <a:pt x="8" y="36"/>
                  </a:lnTo>
                  <a:close/>
                </a:path>
              </a:pathLst>
            </a:custGeom>
            <a:grp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grpSp>
      <p:sp>
        <p:nvSpPr>
          <p:cNvPr id="588" name="任意多边形: 形状 35"/>
          <p:cNvSpPr>
            <a:spLocks noEditPoints="1"/>
          </p:cNvSpPr>
          <p:nvPr/>
        </p:nvSpPr>
        <p:spPr bwMode="auto">
          <a:xfrm flipH="1">
            <a:off x="5423535" y="2370455"/>
            <a:ext cx="1280160" cy="1278890"/>
          </a:xfrm>
          <a:custGeom>
            <a:avLst/>
            <a:gdLst>
              <a:gd name="T0" fmla="*/ 5154 w 11157"/>
              <a:gd name="T1" fmla="*/ 11094 h 11157"/>
              <a:gd name="T2" fmla="*/ 6017 w 11157"/>
              <a:gd name="T3" fmla="*/ 11093 h 11157"/>
              <a:gd name="T4" fmla="*/ 6299 w 11157"/>
              <a:gd name="T5" fmla="*/ 11064 h 11157"/>
              <a:gd name="T6" fmla="*/ 4454 w 11157"/>
              <a:gd name="T7" fmla="*/ 10948 h 11157"/>
              <a:gd name="T8" fmla="*/ 4087 w 11157"/>
              <a:gd name="T9" fmla="*/ 10953 h 11157"/>
              <a:gd name="T10" fmla="*/ 7084 w 11157"/>
              <a:gd name="T11" fmla="*/ 10855 h 11157"/>
              <a:gd name="T12" fmla="*/ 7443 w 11157"/>
              <a:gd name="T13" fmla="*/ 10834 h 11157"/>
              <a:gd name="T14" fmla="*/ 7793 w 11157"/>
              <a:gd name="T15" fmla="*/ 10600 h 11157"/>
              <a:gd name="T16" fmla="*/ 3077 w 11157"/>
              <a:gd name="T17" fmla="*/ 10511 h 11157"/>
              <a:gd name="T18" fmla="*/ 2665 w 11157"/>
              <a:gd name="T19" fmla="*/ 10279 h 11157"/>
              <a:gd name="T20" fmla="*/ 8502 w 11157"/>
              <a:gd name="T21" fmla="*/ 10273 h 11157"/>
              <a:gd name="T22" fmla="*/ 8738 w 11157"/>
              <a:gd name="T23" fmla="*/ 10117 h 11157"/>
              <a:gd name="T24" fmla="*/ 2089 w 11157"/>
              <a:gd name="T25" fmla="*/ 9820 h 11157"/>
              <a:gd name="T26" fmla="*/ 1773 w 11157"/>
              <a:gd name="T27" fmla="*/ 9654 h 11157"/>
              <a:gd name="T28" fmla="*/ 9360 w 11157"/>
              <a:gd name="T29" fmla="*/ 9565 h 11157"/>
              <a:gd name="T30" fmla="*/ 9627 w 11157"/>
              <a:gd name="T31" fmla="*/ 9392 h 11157"/>
              <a:gd name="T32" fmla="*/ 1290 w 11157"/>
              <a:gd name="T33" fmla="*/ 9021 h 11157"/>
              <a:gd name="T34" fmla="*/ 1062 w 11157"/>
              <a:gd name="T35" fmla="*/ 8815 h 11157"/>
              <a:gd name="T36" fmla="*/ 854 w 11157"/>
              <a:gd name="T37" fmla="*/ 8405 h 11157"/>
              <a:gd name="T38" fmla="*/ 10350 w 11157"/>
              <a:gd name="T39" fmla="*/ 8467 h 11157"/>
              <a:gd name="T40" fmla="*/ 10452 w 11157"/>
              <a:gd name="T41" fmla="*/ 8091 h 11157"/>
              <a:gd name="T42" fmla="*/ 549 w 11157"/>
              <a:gd name="T43" fmla="*/ 7765 h 11157"/>
              <a:gd name="T44" fmla="*/ 323 w 11157"/>
              <a:gd name="T45" fmla="*/ 7449 h 11157"/>
              <a:gd name="T46" fmla="*/ 10795 w 11157"/>
              <a:gd name="T47" fmla="*/ 7373 h 11157"/>
              <a:gd name="T48" fmla="*/ 10909 w 11157"/>
              <a:gd name="T49" fmla="*/ 7107 h 11157"/>
              <a:gd name="T50" fmla="*/ 10997 w 11157"/>
              <a:gd name="T51" fmla="*/ 6646 h 11157"/>
              <a:gd name="T52" fmla="*/ 105 w 11157"/>
              <a:gd name="T53" fmla="*/ 6381 h 11157"/>
              <a:gd name="T54" fmla="*/ 57 w 11157"/>
              <a:gd name="T55" fmla="*/ 5912 h 11157"/>
              <a:gd name="T56" fmla="*/ 11101 w 11157"/>
              <a:gd name="T57" fmla="*/ 5898 h 11157"/>
              <a:gd name="T58" fmla="*/ 11157 w 11157"/>
              <a:gd name="T59" fmla="*/ 5568 h 11157"/>
              <a:gd name="T60" fmla="*/ 11049 w 11157"/>
              <a:gd name="T61" fmla="*/ 5194 h 11157"/>
              <a:gd name="T62" fmla="*/ 104 w 11157"/>
              <a:gd name="T63" fmla="*/ 4782 h 11157"/>
              <a:gd name="T64" fmla="*/ 152 w 11157"/>
              <a:gd name="T65" fmla="*/ 4503 h 11157"/>
              <a:gd name="T66" fmla="*/ 10993 w 11157"/>
              <a:gd name="T67" fmla="*/ 4396 h 11157"/>
              <a:gd name="T68" fmla="*/ 10858 w 11157"/>
              <a:gd name="T69" fmla="*/ 4090 h 11157"/>
              <a:gd name="T70" fmla="*/ 365 w 11157"/>
              <a:gd name="T71" fmla="*/ 3683 h 11157"/>
              <a:gd name="T72" fmla="*/ 503 w 11157"/>
              <a:gd name="T73" fmla="*/ 3426 h 11157"/>
              <a:gd name="T74" fmla="*/ 666 w 11157"/>
              <a:gd name="T75" fmla="*/ 2991 h 11157"/>
              <a:gd name="T76" fmla="*/ 10508 w 11157"/>
              <a:gd name="T77" fmla="*/ 3069 h 11157"/>
              <a:gd name="T78" fmla="*/ 10275 w 11157"/>
              <a:gd name="T79" fmla="*/ 2658 h 11157"/>
              <a:gd name="T80" fmla="*/ 1086 w 11157"/>
              <a:gd name="T81" fmla="*/ 2354 h 11157"/>
              <a:gd name="T82" fmla="*/ 1257 w 11157"/>
              <a:gd name="T83" fmla="*/ 2129 h 11157"/>
              <a:gd name="T84" fmla="*/ 9863 w 11157"/>
              <a:gd name="T85" fmla="*/ 2036 h 11157"/>
              <a:gd name="T86" fmla="*/ 9615 w 11157"/>
              <a:gd name="T87" fmla="*/ 1847 h 11157"/>
              <a:gd name="T88" fmla="*/ 9347 w 11157"/>
              <a:gd name="T89" fmla="*/ 1486 h 11157"/>
              <a:gd name="T90" fmla="*/ 2086 w 11157"/>
              <a:gd name="T91" fmla="*/ 1339 h 11157"/>
              <a:gd name="T92" fmla="*/ 2387 w 11157"/>
              <a:gd name="T93" fmla="*/ 1016 h 11157"/>
              <a:gd name="T94" fmla="*/ 8800 w 11157"/>
              <a:gd name="T95" fmla="*/ 1084 h 11157"/>
              <a:gd name="T96" fmla="*/ 8405 w 11157"/>
              <a:gd name="T97" fmla="*/ 825 h 11157"/>
              <a:gd name="T98" fmla="*/ 3052 w 11157"/>
              <a:gd name="T99" fmla="*/ 712 h 11157"/>
              <a:gd name="T100" fmla="*/ 3370 w 11157"/>
              <a:gd name="T101" fmla="*/ 460 h 11157"/>
              <a:gd name="T102" fmla="*/ 7819 w 11157"/>
              <a:gd name="T103" fmla="*/ 521 h 11157"/>
              <a:gd name="T104" fmla="*/ 7379 w 11157"/>
              <a:gd name="T105" fmla="*/ 348 h 11157"/>
              <a:gd name="T106" fmla="*/ 4093 w 11157"/>
              <a:gd name="T107" fmla="*/ 299 h 11157"/>
              <a:gd name="T108" fmla="*/ 4437 w 11157"/>
              <a:gd name="T109" fmla="*/ 117 h 11157"/>
              <a:gd name="T110" fmla="*/ 6706 w 11157"/>
              <a:gd name="T111" fmla="*/ 114 h 11157"/>
              <a:gd name="T112" fmla="*/ 6318 w 11157"/>
              <a:gd name="T113" fmla="*/ 144 h 11157"/>
              <a:gd name="T114" fmla="*/ 5195 w 11157"/>
              <a:gd name="T115" fmla="*/ 13 h 11157"/>
              <a:gd name="T116" fmla="*/ 5619 w 11157"/>
              <a:gd name="T117" fmla="*/ 47 h 1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57" h="11157">
                <a:moveTo>
                  <a:pt x="5592" y="11063"/>
                </a:moveTo>
                <a:cubicBezTo>
                  <a:pt x="5590" y="11063"/>
                  <a:pt x="5588" y="11063"/>
                  <a:pt x="5585" y="11063"/>
                </a:cubicBezTo>
                <a:cubicBezTo>
                  <a:pt x="5583" y="11063"/>
                  <a:pt x="5581" y="11063"/>
                  <a:pt x="5579" y="11063"/>
                </a:cubicBezTo>
                <a:cubicBezTo>
                  <a:pt x="5553" y="11063"/>
                  <a:pt x="5532" y="11084"/>
                  <a:pt x="5532" y="11110"/>
                </a:cubicBezTo>
                <a:cubicBezTo>
                  <a:pt x="5532" y="11136"/>
                  <a:pt x="5553" y="11157"/>
                  <a:pt x="5579" y="11157"/>
                </a:cubicBezTo>
                <a:cubicBezTo>
                  <a:pt x="5581" y="11157"/>
                  <a:pt x="5583" y="11157"/>
                  <a:pt x="5586" y="11157"/>
                </a:cubicBezTo>
                <a:cubicBezTo>
                  <a:pt x="5588" y="11157"/>
                  <a:pt x="5590" y="11157"/>
                  <a:pt x="5593" y="11157"/>
                </a:cubicBezTo>
                <a:cubicBezTo>
                  <a:pt x="5619" y="11157"/>
                  <a:pt x="5640" y="11136"/>
                  <a:pt x="5640" y="11110"/>
                </a:cubicBezTo>
                <a:cubicBezTo>
                  <a:pt x="5640" y="11084"/>
                  <a:pt x="5618" y="11063"/>
                  <a:pt x="5592" y="11063"/>
                </a:cubicBezTo>
                <a:moveTo>
                  <a:pt x="5201" y="11050"/>
                </a:moveTo>
                <a:cubicBezTo>
                  <a:pt x="5177" y="11050"/>
                  <a:pt x="5156" y="11069"/>
                  <a:pt x="5154" y="11094"/>
                </a:cubicBezTo>
                <a:cubicBezTo>
                  <a:pt x="5152" y="11120"/>
                  <a:pt x="5172" y="11143"/>
                  <a:pt x="5198" y="11144"/>
                </a:cubicBezTo>
                <a:cubicBezTo>
                  <a:pt x="5199" y="11144"/>
                  <a:pt x="5201" y="11144"/>
                  <a:pt x="5202" y="11144"/>
                </a:cubicBezTo>
                <a:cubicBezTo>
                  <a:pt x="5226" y="11144"/>
                  <a:pt x="5247" y="11125"/>
                  <a:pt x="5248" y="11101"/>
                </a:cubicBezTo>
                <a:cubicBezTo>
                  <a:pt x="5250" y="11074"/>
                  <a:pt x="5231" y="11052"/>
                  <a:pt x="5205" y="11050"/>
                </a:cubicBezTo>
                <a:cubicBezTo>
                  <a:pt x="5204" y="11050"/>
                  <a:pt x="5202" y="11050"/>
                  <a:pt x="5201" y="11050"/>
                </a:cubicBezTo>
                <a:moveTo>
                  <a:pt x="5970" y="11049"/>
                </a:moveTo>
                <a:cubicBezTo>
                  <a:pt x="5969" y="11049"/>
                  <a:pt x="5968" y="11049"/>
                  <a:pt x="5966" y="11049"/>
                </a:cubicBezTo>
                <a:cubicBezTo>
                  <a:pt x="5941" y="11051"/>
                  <a:pt x="5921" y="11073"/>
                  <a:pt x="5923" y="11100"/>
                </a:cubicBezTo>
                <a:cubicBezTo>
                  <a:pt x="5924" y="11124"/>
                  <a:pt x="5945" y="11143"/>
                  <a:pt x="5970" y="11144"/>
                </a:cubicBezTo>
                <a:cubicBezTo>
                  <a:pt x="5971" y="11144"/>
                  <a:pt x="5972" y="11143"/>
                  <a:pt x="5973" y="11143"/>
                </a:cubicBezTo>
                <a:cubicBezTo>
                  <a:pt x="5999" y="11141"/>
                  <a:pt x="6019" y="11119"/>
                  <a:pt x="6017" y="11093"/>
                </a:cubicBezTo>
                <a:cubicBezTo>
                  <a:pt x="6015" y="11068"/>
                  <a:pt x="5994" y="11049"/>
                  <a:pt x="5970" y="11049"/>
                </a:cubicBezTo>
                <a:moveTo>
                  <a:pt x="4826" y="11012"/>
                </a:moveTo>
                <a:cubicBezTo>
                  <a:pt x="4803" y="11012"/>
                  <a:pt x="4782" y="11029"/>
                  <a:pt x="4779" y="11052"/>
                </a:cubicBezTo>
                <a:cubicBezTo>
                  <a:pt x="4776" y="11079"/>
                  <a:pt x="4794" y="11102"/>
                  <a:pt x="4820" y="11106"/>
                </a:cubicBezTo>
                <a:cubicBezTo>
                  <a:pt x="4822" y="11106"/>
                  <a:pt x="4824" y="11106"/>
                  <a:pt x="4826" y="11106"/>
                </a:cubicBezTo>
                <a:cubicBezTo>
                  <a:pt x="4849" y="11106"/>
                  <a:pt x="4869" y="11089"/>
                  <a:pt x="4873" y="11065"/>
                </a:cubicBezTo>
                <a:cubicBezTo>
                  <a:pt x="4876" y="11039"/>
                  <a:pt x="4858" y="11016"/>
                  <a:pt x="4832" y="11012"/>
                </a:cubicBezTo>
                <a:cubicBezTo>
                  <a:pt x="4830" y="11012"/>
                  <a:pt x="4828" y="11012"/>
                  <a:pt x="4826" y="11012"/>
                </a:cubicBezTo>
                <a:moveTo>
                  <a:pt x="6345" y="11010"/>
                </a:moveTo>
                <a:cubicBezTo>
                  <a:pt x="6343" y="11010"/>
                  <a:pt x="6341" y="11010"/>
                  <a:pt x="6339" y="11010"/>
                </a:cubicBezTo>
                <a:cubicBezTo>
                  <a:pt x="6313" y="11014"/>
                  <a:pt x="6295" y="11038"/>
                  <a:pt x="6299" y="11064"/>
                </a:cubicBezTo>
                <a:cubicBezTo>
                  <a:pt x="6302" y="11087"/>
                  <a:pt x="6322" y="11104"/>
                  <a:pt x="6345" y="11104"/>
                </a:cubicBezTo>
                <a:cubicBezTo>
                  <a:pt x="6347" y="11104"/>
                  <a:pt x="6350" y="11104"/>
                  <a:pt x="6352" y="11104"/>
                </a:cubicBezTo>
                <a:cubicBezTo>
                  <a:pt x="6378" y="11100"/>
                  <a:pt x="6395" y="11076"/>
                  <a:pt x="6392" y="11050"/>
                </a:cubicBezTo>
                <a:cubicBezTo>
                  <a:pt x="6389" y="11027"/>
                  <a:pt x="6368" y="11010"/>
                  <a:pt x="6345" y="11010"/>
                </a:cubicBezTo>
                <a:moveTo>
                  <a:pt x="4454" y="10948"/>
                </a:moveTo>
                <a:cubicBezTo>
                  <a:pt x="4432" y="10948"/>
                  <a:pt x="4412" y="10963"/>
                  <a:pt x="4408" y="10985"/>
                </a:cubicBezTo>
                <a:cubicBezTo>
                  <a:pt x="4402" y="11011"/>
                  <a:pt x="4419" y="11036"/>
                  <a:pt x="4444" y="11041"/>
                </a:cubicBezTo>
                <a:cubicBezTo>
                  <a:pt x="4447" y="11042"/>
                  <a:pt x="4451" y="11042"/>
                  <a:pt x="4454" y="11042"/>
                </a:cubicBezTo>
                <a:cubicBezTo>
                  <a:pt x="4476" y="11042"/>
                  <a:pt x="4496" y="11027"/>
                  <a:pt x="4500" y="11004"/>
                </a:cubicBezTo>
                <a:cubicBezTo>
                  <a:pt x="4505" y="10979"/>
                  <a:pt x="4489" y="10954"/>
                  <a:pt x="4464" y="10949"/>
                </a:cubicBezTo>
                <a:cubicBezTo>
                  <a:pt x="4460" y="10948"/>
                  <a:pt x="4457" y="10948"/>
                  <a:pt x="4454" y="10948"/>
                </a:cubicBezTo>
                <a:moveTo>
                  <a:pt x="6717" y="10945"/>
                </a:moveTo>
                <a:cubicBezTo>
                  <a:pt x="6714" y="10945"/>
                  <a:pt x="6711" y="10945"/>
                  <a:pt x="6707" y="10946"/>
                </a:cubicBezTo>
                <a:cubicBezTo>
                  <a:pt x="6682" y="10951"/>
                  <a:pt x="6665" y="10976"/>
                  <a:pt x="6671" y="11002"/>
                </a:cubicBezTo>
                <a:cubicBezTo>
                  <a:pt x="6675" y="11024"/>
                  <a:pt x="6695" y="11039"/>
                  <a:pt x="6717" y="11039"/>
                </a:cubicBezTo>
                <a:cubicBezTo>
                  <a:pt x="6720" y="11039"/>
                  <a:pt x="6724" y="11039"/>
                  <a:pt x="6727" y="11039"/>
                </a:cubicBezTo>
                <a:cubicBezTo>
                  <a:pt x="6752" y="11033"/>
                  <a:pt x="6769" y="11008"/>
                  <a:pt x="6763" y="10982"/>
                </a:cubicBezTo>
                <a:cubicBezTo>
                  <a:pt x="6759" y="10960"/>
                  <a:pt x="6739" y="10945"/>
                  <a:pt x="6717" y="10945"/>
                </a:cubicBezTo>
                <a:moveTo>
                  <a:pt x="4087" y="10858"/>
                </a:moveTo>
                <a:cubicBezTo>
                  <a:pt x="4066" y="10858"/>
                  <a:pt x="4047" y="10872"/>
                  <a:pt x="4042" y="10893"/>
                </a:cubicBezTo>
                <a:cubicBezTo>
                  <a:pt x="4035" y="10918"/>
                  <a:pt x="4049" y="10944"/>
                  <a:pt x="4074" y="10951"/>
                </a:cubicBezTo>
                <a:cubicBezTo>
                  <a:pt x="4078" y="10952"/>
                  <a:pt x="4083" y="10953"/>
                  <a:pt x="4087" y="10953"/>
                </a:cubicBezTo>
                <a:cubicBezTo>
                  <a:pt x="4108" y="10953"/>
                  <a:pt x="4127" y="10939"/>
                  <a:pt x="4133" y="10919"/>
                </a:cubicBezTo>
                <a:cubicBezTo>
                  <a:pt x="4140" y="10893"/>
                  <a:pt x="4125" y="10867"/>
                  <a:pt x="4100" y="10860"/>
                </a:cubicBezTo>
                <a:cubicBezTo>
                  <a:pt x="4096" y="10859"/>
                  <a:pt x="4091" y="10858"/>
                  <a:pt x="4087" y="10858"/>
                </a:cubicBezTo>
                <a:moveTo>
                  <a:pt x="7084" y="10855"/>
                </a:moveTo>
                <a:cubicBezTo>
                  <a:pt x="7079" y="10855"/>
                  <a:pt x="7075" y="10855"/>
                  <a:pt x="7071" y="10857"/>
                </a:cubicBezTo>
                <a:cubicBezTo>
                  <a:pt x="7071" y="10857"/>
                  <a:pt x="7071" y="10857"/>
                  <a:pt x="7071" y="10857"/>
                </a:cubicBezTo>
                <a:cubicBezTo>
                  <a:pt x="7046" y="10863"/>
                  <a:pt x="7031" y="10890"/>
                  <a:pt x="7038" y="10915"/>
                </a:cubicBezTo>
                <a:cubicBezTo>
                  <a:pt x="7044" y="10936"/>
                  <a:pt x="7063" y="10949"/>
                  <a:pt x="7083" y="10949"/>
                </a:cubicBezTo>
                <a:cubicBezTo>
                  <a:pt x="7088" y="10949"/>
                  <a:pt x="7092" y="10948"/>
                  <a:pt x="7096" y="10947"/>
                </a:cubicBezTo>
                <a:cubicBezTo>
                  <a:pt x="7122" y="10940"/>
                  <a:pt x="7136" y="10914"/>
                  <a:pt x="7129" y="10889"/>
                </a:cubicBezTo>
                <a:cubicBezTo>
                  <a:pt x="7123" y="10868"/>
                  <a:pt x="7104" y="10855"/>
                  <a:pt x="7084" y="10855"/>
                </a:cubicBezTo>
                <a:moveTo>
                  <a:pt x="3727" y="10744"/>
                </a:moveTo>
                <a:cubicBezTo>
                  <a:pt x="3708" y="10744"/>
                  <a:pt x="3690" y="10756"/>
                  <a:pt x="3683" y="10776"/>
                </a:cubicBezTo>
                <a:cubicBezTo>
                  <a:pt x="3674" y="10800"/>
                  <a:pt x="3687" y="10827"/>
                  <a:pt x="3711" y="10836"/>
                </a:cubicBezTo>
                <a:cubicBezTo>
                  <a:pt x="3717" y="10838"/>
                  <a:pt x="3722" y="10839"/>
                  <a:pt x="3727" y="10839"/>
                </a:cubicBezTo>
                <a:cubicBezTo>
                  <a:pt x="3747" y="10839"/>
                  <a:pt x="3765" y="10827"/>
                  <a:pt x="3772" y="10807"/>
                </a:cubicBezTo>
                <a:cubicBezTo>
                  <a:pt x="3781" y="10783"/>
                  <a:pt x="3768" y="10755"/>
                  <a:pt x="3743" y="10747"/>
                </a:cubicBezTo>
                <a:cubicBezTo>
                  <a:pt x="3738" y="10745"/>
                  <a:pt x="3732" y="10744"/>
                  <a:pt x="3727" y="10744"/>
                </a:cubicBezTo>
                <a:moveTo>
                  <a:pt x="7443" y="10739"/>
                </a:moveTo>
                <a:cubicBezTo>
                  <a:pt x="7438" y="10739"/>
                  <a:pt x="7432" y="10740"/>
                  <a:pt x="7427" y="10742"/>
                </a:cubicBezTo>
                <a:cubicBezTo>
                  <a:pt x="7402" y="10751"/>
                  <a:pt x="7390" y="10778"/>
                  <a:pt x="7399" y="10803"/>
                </a:cubicBezTo>
                <a:cubicBezTo>
                  <a:pt x="7406" y="10822"/>
                  <a:pt x="7424" y="10834"/>
                  <a:pt x="7443" y="10834"/>
                </a:cubicBezTo>
                <a:cubicBezTo>
                  <a:pt x="7448" y="10834"/>
                  <a:pt x="7454" y="10833"/>
                  <a:pt x="7459" y="10831"/>
                </a:cubicBezTo>
                <a:cubicBezTo>
                  <a:pt x="7484" y="10822"/>
                  <a:pt x="7496" y="10795"/>
                  <a:pt x="7487" y="10771"/>
                </a:cubicBezTo>
                <a:cubicBezTo>
                  <a:pt x="7481" y="10751"/>
                  <a:pt x="7462" y="10739"/>
                  <a:pt x="7443" y="10739"/>
                </a:cubicBezTo>
                <a:moveTo>
                  <a:pt x="3376" y="10605"/>
                </a:moveTo>
                <a:cubicBezTo>
                  <a:pt x="3358" y="10605"/>
                  <a:pt x="3340" y="10616"/>
                  <a:pt x="3333" y="10633"/>
                </a:cubicBezTo>
                <a:cubicBezTo>
                  <a:pt x="3322" y="10657"/>
                  <a:pt x="3333" y="10685"/>
                  <a:pt x="3357" y="10696"/>
                </a:cubicBezTo>
                <a:cubicBezTo>
                  <a:pt x="3363" y="10698"/>
                  <a:pt x="3369" y="10699"/>
                  <a:pt x="3376" y="10699"/>
                </a:cubicBezTo>
                <a:cubicBezTo>
                  <a:pt x="3394" y="10699"/>
                  <a:pt x="3411" y="10689"/>
                  <a:pt x="3419" y="10671"/>
                </a:cubicBezTo>
                <a:cubicBezTo>
                  <a:pt x="3430" y="10647"/>
                  <a:pt x="3419" y="10619"/>
                  <a:pt x="3395" y="10609"/>
                </a:cubicBezTo>
                <a:cubicBezTo>
                  <a:pt x="3389" y="10606"/>
                  <a:pt x="3382" y="10605"/>
                  <a:pt x="3376" y="10605"/>
                </a:cubicBezTo>
                <a:moveTo>
                  <a:pt x="7793" y="10600"/>
                </a:moveTo>
                <a:cubicBezTo>
                  <a:pt x="7787" y="10600"/>
                  <a:pt x="7780" y="10601"/>
                  <a:pt x="7774" y="10604"/>
                </a:cubicBezTo>
                <a:cubicBezTo>
                  <a:pt x="7750" y="10614"/>
                  <a:pt x="7740" y="10642"/>
                  <a:pt x="7750" y="10666"/>
                </a:cubicBezTo>
                <a:cubicBezTo>
                  <a:pt x="7758" y="10684"/>
                  <a:pt x="7775" y="10694"/>
                  <a:pt x="7793" y="10694"/>
                </a:cubicBezTo>
                <a:cubicBezTo>
                  <a:pt x="7800" y="10694"/>
                  <a:pt x="7806" y="10693"/>
                  <a:pt x="7812" y="10690"/>
                </a:cubicBezTo>
                <a:cubicBezTo>
                  <a:pt x="7836" y="10680"/>
                  <a:pt x="7847" y="10652"/>
                  <a:pt x="7837" y="10628"/>
                </a:cubicBezTo>
                <a:cubicBezTo>
                  <a:pt x="7829" y="10611"/>
                  <a:pt x="7811" y="10600"/>
                  <a:pt x="7793" y="10600"/>
                </a:cubicBezTo>
                <a:moveTo>
                  <a:pt x="3035" y="10442"/>
                </a:moveTo>
                <a:cubicBezTo>
                  <a:pt x="3018" y="10442"/>
                  <a:pt x="3001" y="10452"/>
                  <a:pt x="2993" y="10468"/>
                </a:cubicBezTo>
                <a:cubicBezTo>
                  <a:pt x="2981" y="10491"/>
                  <a:pt x="2990" y="10519"/>
                  <a:pt x="3013" y="10532"/>
                </a:cubicBezTo>
                <a:cubicBezTo>
                  <a:pt x="3020" y="10535"/>
                  <a:pt x="3028" y="10537"/>
                  <a:pt x="3035" y="10537"/>
                </a:cubicBezTo>
                <a:cubicBezTo>
                  <a:pt x="3052" y="10537"/>
                  <a:pt x="3068" y="10528"/>
                  <a:pt x="3077" y="10511"/>
                </a:cubicBezTo>
                <a:cubicBezTo>
                  <a:pt x="3089" y="10488"/>
                  <a:pt x="3080" y="10460"/>
                  <a:pt x="3056" y="10448"/>
                </a:cubicBezTo>
                <a:cubicBezTo>
                  <a:pt x="3050" y="10444"/>
                  <a:pt x="3042" y="10442"/>
                  <a:pt x="3035" y="10442"/>
                </a:cubicBezTo>
                <a:moveTo>
                  <a:pt x="8133" y="10437"/>
                </a:moveTo>
                <a:cubicBezTo>
                  <a:pt x="8126" y="10437"/>
                  <a:pt x="8118" y="10438"/>
                  <a:pt x="8111" y="10442"/>
                </a:cubicBezTo>
                <a:cubicBezTo>
                  <a:pt x="8088" y="10454"/>
                  <a:pt x="8079" y="10483"/>
                  <a:pt x="8091" y="10506"/>
                </a:cubicBezTo>
                <a:cubicBezTo>
                  <a:pt x="8100" y="10522"/>
                  <a:pt x="8116" y="10531"/>
                  <a:pt x="8133" y="10531"/>
                </a:cubicBezTo>
                <a:cubicBezTo>
                  <a:pt x="8141" y="10531"/>
                  <a:pt x="8148" y="10529"/>
                  <a:pt x="8155" y="10526"/>
                </a:cubicBezTo>
                <a:cubicBezTo>
                  <a:pt x="8178" y="10514"/>
                  <a:pt x="8187" y="10485"/>
                  <a:pt x="8175" y="10462"/>
                </a:cubicBezTo>
                <a:cubicBezTo>
                  <a:pt x="8167" y="10446"/>
                  <a:pt x="8150" y="10437"/>
                  <a:pt x="8133" y="10437"/>
                </a:cubicBezTo>
                <a:moveTo>
                  <a:pt x="2706" y="10257"/>
                </a:moveTo>
                <a:cubicBezTo>
                  <a:pt x="2690" y="10257"/>
                  <a:pt x="2674" y="10265"/>
                  <a:pt x="2665" y="10279"/>
                </a:cubicBezTo>
                <a:cubicBezTo>
                  <a:pt x="2652" y="10301"/>
                  <a:pt x="2659" y="10331"/>
                  <a:pt x="2681" y="10344"/>
                </a:cubicBezTo>
                <a:cubicBezTo>
                  <a:pt x="2689" y="10349"/>
                  <a:pt x="2697" y="10351"/>
                  <a:pt x="2706" y="10351"/>
                </a:cubicBezTo>
                <a:cubicBezTo>
                  <a:pt x="2722" y="10351"/>
                  <a:pt x="2737" y="10343"/>
                  <a:pt x="2746" y="10329"/>
                </a:cubicBezTo>
                <a:cubicBezTo>
                  <a:pt x="2760" y="10306"/>
                  <a:pt x="2753" y="10277"/>
                  <a:pt x="2730" y="10264"/>
                </a:cubicBezTo>
                <a:cubicBezTo>
                  <a:pt x="2723" y="10259"/>
                  <a:pt x="2714" y="10257"/>
                  <a:pt x="2706" y="10257"/>
                </a:cubicBezTo>
                <a:moveTo>
                  <a:pt x="8461" y="10251"/>
                </a:moveTo>
                <a:cubicBezTo>
                  <a:pt x="8453" y="10251"/>
                  <a:pt x="8444" y="10253"/>
                  <a:pt x="8437" y="10258"/>
                </a:cubicBezTo>
                <a:cubicBezTo>
                  <a:pt x="8414" y="10271"/>
                  <a:pt x="8407" y="10300"/>
                  <a:pt x="8421" y="10323"/>
                </a:cubicBezTo>
                <a:cubicBezTo>
                  <a:pt x="8430" y="10337"/>
                  <a:pt x="8446" y="10345"/>
                  <a:pt x="8462" y="10345"/>
                </a:cubicBezTo>
                <a:cubicBezTo>
                  <a:pt x="8470" y="10345"/>
                  <a:pt x="8478" y="10343"/>
                  <a:pt x="8486" y="10338"/>
                </a:cubicBezTo>
                <a:cubicBezTo>
                  <a:pt x="8508" y="10324"/>
                  <a:pt x="8515" y="10295"/>
                  <a:pt x="8502" y="10273"/>
                </a:cubicBezTo>
                <a:cubicBezTo>
                  <a:pt x="8493" y="10259"/>
                  <a:pt x="8477" y="10251"/>
                  <a:pt x="8461" y="10251"/>
                </a:cubicBezTo>
                <a:moveTo>
                  <a:pt x="2390" y="10049"/>
                </a:moveTo>
                <a:cubicBezTo>
                  <a:pt x="2375" y="10049"/>
                  <a:pt x="2361" y="10056"/>
                  <a:pt x="2352" y="10069"/>
                </a:cubicBezTo>
                <a:cubicBezTo>
                  <a:pt x="2337" y="10090"/>
                  <a:pt x="2342" y="10120"/>
                  <a:pt x="2363" y="10135"/>
                </a:cubicBezTo>
                <a:cubicBezTo>
                  <a:pt x="2371" y="10141"/>
                  <a:pt x="2381" y="10143"/>
                  <a:pt x="2390" y="10143"/>
                </a:cubicBezTo>
                <a:cubicBezTo>
                  <a:pt x="2405" y="10143"/>
                  <a:pt x="2420" y="10136"/>
                  <a:pt x="2429" y="10124"/>
                </a:cubicBezTo>
                <a:cubicBezTo>
                  <a:pt x="2444" y="10102"/>
                  <a:pt x="2439" y="10073"/>
                  <a:pt x="2418" y="10058"/>
                </a:cubicBezTo>
                <a:cubicBezTo>
                  <a:pt x="2409" y="10052"/>
                  <a:pt x="2400" y="10049"/>
                  <a:pt x="2390" y="10049"/>
                </a:cubicBezTo>
                <a:moveTo>
                  <a:pt x="8776" y="10043"/>
                </a:moveTo>
                <a:cubicBezTo>
                  <a:pt x="8767" y="10043"/>
                  <a:pt x="8757" y="10045"/>
                  <a:pt x="8749" y="10051"/>
                </a:cubicBezTo>
                <a:cubicBezTo>
                  <a:pt x="8728" y="10066"/>
                  <a:pt x="8723" y="10096"/>
                  <a:pt x="8738" y="10117"/>
                </a:cubicBezTo>
                <a:cubicBezTo>
                  <a:pt x="8747" y="10130"/>
                  <a:pt x="8761" y="10137"/>
                  <a:pt x="8776" y="10137"/>
                </a:cubicBezTo>
                <a:cubicBezTo>
                  <a:pt x="8786" y="10137"/>
                  <a:pt x="8795" y="10134"/>
                  <a:pt x="8804" y="10128"/>
                </a:cubicBezTo>
                <a:cubicBezTo>
                  <a:pt x="8825" y="10113"/>
                  <a:pt x="8830" y="10084"/>
                  <a:pt x="8815" y="10062"/>
                </a:cubicBezTo>
                <a:cubicBezTo>
                  <a:pt x="8806" y="10049"/>
                  <a:pt x="8791" y="10043"/>
                  <a:pt x="8776" y="10043"/>
                </a:cubicBezTo>
                <a:moveTo>
                  <a:pt x="2089" y="9820"/>
                </a:moveTo>
                <a:cubicBezTo>
                  <a:pt x="2076" y="9820"/>
                  <a:pt x="2062" y="9826"/>
                  <a:pt x="2053" y="9838"/>
                </a:cubicBezTo>
                <a:cubicBezTo>
                  <a:pt x="2036" y="9858"/>
                  <a:pt x="2039" y="9888"/>
                  <a:pt x="2060" y="9904"/>
                </a:cubicBezTo>
                <a:cubicBezTo>
                  <a:pt x="2068" y="9911"/>
                  <a:pt x="2079" y="9915"/>
                  <a:pt x="2090" y="9915"/>
                </a:cubicBezTo>
                <a:cubicBezTo>
                  <a:pt x="2103" y="9915"/>
                  <a:pt x="2117" y="9909"/>
                  <a:pt x="2126" y="9897"/>
                </a:cubicBezTo>
                <a:cubicBezTo>
                  <a:pt x="2142" y="9877"/>
                  <a:pt x="2140" y="9848"/>
                  <a:pt x="2119" y="9831"/>
                </a:cubicBezTo>
                <a:cubicBezTo>
                  <a:pt x="2111" y="9824"/>
                  <a:pt x="2100" y="9820"/>
                  <a:pt x="2089" y="9820"/>
                </a:cubicBezTo>
                <a:moveTo>
                  <a:pt x="9076" y="9813"/>
                </a:moveTo>
                <a:cubicBezTo>
                  <a:pt x="9066" y="9813"/>
                  <a:pt x="9055" y="9817"/>
                  <a:pt x="9046" y="9824"/>
                </a:cubicBezTo>
                <a:cubicBezTo>
                  <a:pt x="9026" y="9841"/>
                  <a:pt x="9023" y="9870"/>
                  <a:pt x="9040" y="9891"/>
                </a:cubicBezTo>
                <a:cubicBezTo>
                  <a:pt x="9049" y="9902"/>
                  <a:pt x="9063" y="9908"/>
                  <a:pt x="9076" y="9908"/>
                </a:cubicBezTo>
                <a:cubicBezTo>
                  <a:pt x="9077" y="9908"/>
                  <a:pt x="9077" y="9908"/>
                  <a:pt x="9077" y="9908"/>
                </a:cubicBezTo>
                <a:cubicBezTo>
                  <a:pt x="9088" y="9908"/>
                  <a:pt x="9098" y="9904"/>
                  <a:pt x="9106" y="9897"/>
                </a:cubicBezTo>
                <a:cubicBezTo>
                  <a:pt x="9126" y="9881"/>
                  <a:pt x="9129" y="9851"/>
                  <a:pt x="9113" y="9831"/>
                </a:cubicBezTo>
                <a:cubicBezTo>
                  <a:pt x="9103" y="9819"/>
                  <a:pt x="9090" y="9813"/>
                  <a:pt x="9076" y="9813"/>
                </a:cubicBezTo>
                <a:moveTo>
                  <a:pt x="1805" y="9572"/>
                </a:moveTo>
                <a:cubicBezTo>
                  <a:pt x="1792" y="9572"/>
                  <a:pt x="1780" y="9577"/>
                  <a:pt x="1771" y="9587"/>
                </a:cubicBezTo>
                <a:cubicBezTo>
                  <a:pt x="1753" y="9606"/>
                  <a:pt x="1754" y="9636"/>
                  <a:pt x="1773" y="9654"/>
                </a:cubicBezTo>
                <a:cubicBezTo>
                  <a:pt x="1782" y="9662"/>
                  <a:pt x="1794" y="9667"/>
                  <a:pt x="1805" y="9667"/>
                </a:cubicBezTo>
                <a:cubicBezTo>
                  <a:pt x="1818" y="9667"/>
                  <a:pt x="1830" y="9662"/>
                  <a:pt x="1840" y="9652"/>
                </a:cubicBezTo>
                <a:cubicBezTo>
                  <a:pt x="1858" y="9633"/>
                  <a:pt x="1856" y="9603"/>
                  <a:pt x="1837" y="9585"/>
                </a:cubicBezTo>
                <a:cubicBezTo>
                  <a:pt x="1828" y="9576"/>
                  <a:pt x="1817" y="9572"/>
                  <a:pt x="1805" y="9572"/>
                </a:cubicBezTo>
                <a:moveTo>
                  <a:pt x="9360" y="9565"/>
                </a:moveTo>
                <a:cubicBezTo>
                  <a:pt x="9349" y="9565"/>
                  <a:pt x="9337" y="9569"/>
                  <a:pt x="9328" y="9578"/>
                </a:cubicBezTo>
                <a:cubicBezTo>
                  <a:pt x="9309" y="9596"/>
                  <a:pt x="9308" y="9625"/>
                  <a:pt x="9326" y="9644"/>
                </a:cubicBezTo>
                <a:cubicBezTo>
                  <a:pt x="9335" y="9654"/>
                  <a:pt x="9348" y="9659"/>
                  <a:pt x="9360" y="9659"/>
                </a:cubicBezTo>
                <a:cubicBezTo>
                  <a:pt x="9372" y="9659"/>
                  <a:pt x="9383" y="9655"/>
                  <a:pt x="9392" y="9647"/>
                </a:cubicBezTo>
                <a:cubicBezTo>
                  <a:pt x="9411" y="9629"/>
                  <a:pt x="9412" y="9599"/>
                  <a:pt x="9394" y="9580"/>
                </a:cubicBezTo>
                <a:cubicBezTo>
                  <a:pt x="9385" y="9570"/>
                  <a:pt x="9373" y="9565"/>
                  <a:pt x="9360" y="9565"/>
                </a:cubicBezTo>
                <a:moveTo>
                  <a:pt x="1538" y="9305"/>
                </a:moveTo>
                <a:cubicBezTo>
                  <a:pt x="1527" y="9305"/>
                  <a:pt x="1515" y="9309"/>
                  <a:pt x="1506" y="9318"/>
                </a:cubicBezTo>
                <a:cubicBezTo>
                  <a:pt x="1487" y="9335"/>
                  <a:pt x="1486" y="9365"/>
                  <a:pt x="1504" y="9385"/>
                </a:cubicBezTo>
                <a:cubicBezTo>
                  <a:pt x="1513" y="9395"/>
                  <a:pt x="1526" y="9400"/>
                  <a:pt x="1538" y="9400"/>
                </a:cubicBezTo>
                <a:cubicBezTo>
                  <a:pt x="1550" y="9400"/>
                  <a:pt x="1561" y="9395"/>
                  <a:pt x="1570" y="9387"/>
                </a:cubicBezTo>
                <a:cubicBezTo>
                  <a:pt x="1589" y="9369"/>
                  <a:pt x="1591" y="9339"/>
                  <a:pt x="1573" y="9320"/>
                </a:cubicBezTo>
                <a:cubicBezTo>
                  <a:pt x="1563" y="9310"/>
                  <a:pt x="1551" y="9305"/>
                  <a:pt x="1538" y="9305"/>
                </a:cubicBezTo>
                <a:moveTo>
                  <a:pt x="9627" y="9297"/>
                </a:moveTo>
                <a:cubicBezTo>
                  <a:pt x="9614" y="9297"/>
                  <a:pt x="9601" y="9302"/>
                  <a:pt x="9592" y="9312"/>
                </a:cubicBezTo>
                <a:cubicBezTo>
                  <a:pt x="9574" y="9331"/>
                  <a:pt x="9575" y="9361"/>
                  <a:pt x="9594" y="9379"/>
                </a:cubicBezTo>
                <a:cubicBezTo>
                  <a:pt x="9604" y="9388"/>
                  <a:pt x="9615" y="9392"/>
                  <a:pt x="9627" y="9392"/>
                </a:cubicBezTo>
                <a:cubicBezTo>
                  <a:pt x="9639" y="9392"/>
                  <a:pt x="9652" y="9387"/>
                  <a:pt x="9661" y="9377"/>
                </a:cubicBezTo>
                <a:cubicBezTo>
                  <a:pt x="9679" y="9358"/>
                  <a:pt x="9678" y="9328"/>
                  <a:pt x="9659" y="9310"/>
                </a:cubicBezTo>
                <a:cubicBezTo>
                  <a:pt x="9650" y="9302"/>
                  <a:pt x="9638" y="9297"/>
                  <a:pt x="9627" y="9297"/>
                </a:cubicBezTo>
                <a:moveTo>
                  <a:pt x="1290" y="9021"/>
                </a:moveTo>
                <a:cubicBezTo>
                  <a:pt x="1279" y="9021"/>
                  <a:pt x="1269" y="9024"/>
                  <a:pt x="1260" y="9031"/>
                </a:cubicBezTo>
                <a:cubicBezTo>
                  <a:pt x="1240" y="9048"/>
                  <a:pt x="1237" y="9078"/>
                  <a:pt x="1253" y="9098"/>
                </a:cubicBezTo>
                <a:cubicBezTo>
                  <a:pt x="1253" y="9098"/>
                  <a:pt x="1253" y="9098"/>
                  <a:pt x="1253" y="9098"/>
                </a:cubicBezTo>
                <a:cubicBezTo>
                  <a:pt x="1262" y="9109"/>
                  <a:pt x="1276" y="9115"/>
                  <a:pt x="1290" y="9115"/>
                </a:cubicBezTo>
                <a:cubicBezTo>
                  <a:pt x="1300" y="9115"/>
                  <a:pt x="1311" y="9112"/>
                  <a:pt x="1320" y="9105"/>
                </a:cubicBezTo>
                <a:cubicBezTo>
                  <a:pt x="1340" y="9088"/>
                  <a:pt x="1343" y="9058"/>
                  <a:pt x="1326" y="9038"/>
                </a:cubicBezTo>
                <a:cubicBezTo>
                  <a:pt x="1317" y="9027"/>
                  <a:pt x="1303" y="9021"/>
                  <a:pt x="1290" y="9021"/>
                </a:cubicBezTo>
                <a:moveTo>
                  <a:pt x="9875" y="9012"/>
                </a:moveTo>
                <a:cubicBezTo>
                  <a:pt x="9861" y="9012"/>
                  <a:pt x="9847" y="9018"/>
                  <a:pt x="9838" y="9030"/>
                </a:cubicBezTo>
                <a:cubicBezTo>
                  <a:pt x="9821" y="9050"/>
                  <a:pt x="9824" y="9080"/>
                  <a:pt x="9845" y="9096"/>
                </a:cubicBezTo>
                <a:cubicBezTo>
                  <a:pt x="9854" y="9103"/>
                  <a:pt x="9864" y="9107"/>
                  <a:pt x="9874" y="9107"/>
                </a:cubicBezTo>
                <a:cubicBezTo>
                  <a:pt x="9888" y="9107"/>
                  <a:pt x="9902" y="9101"/>
                  <a:pt x="9911" y="9089"/>
                </a:cubicBezTo>
                <a:cubicBezTo>
                  <a:pt x="9928" y="9069"/>
                  <a:pt x="9924" y="9039"/>
                  <a:pt x="9904" y="9023"/>
                </a:cubicBezTo>
                <a:cubicBezTo>
                  <a:pt x="9896" y="9016"/>
                  <a:pt x="9885" y="9012"/>
                  <a:pt x="9875" y="9012"/>
                </a:cubicBezTo>
                <a:moveTo>
                  <a:pt x="1061" y="8720"/>
                </a:moveTo>
                <a:cubicBezTo>
                  <a:pt x="1052" y="8720"/>
                  <a:pt x="1042" y="8723"/>
                  <a:pt x="1034" y="8729"/>
                </a:cubicBezTo>
                <a:cubicBezTo>
                  <a:pt x="1013" y="8744"/>
                  <a:pt x="1008" y="8773"/>
                  <a:pt x="1023" y="8795"/>
                </a:cubicBezTo>
                <a:cubicBezTo>
                  <a:pt x="1032" y="8808"/>
                  <a:pt x="1047" y="8815"/>
                  <a:pt x="1062" y="8815"/>
                </a:cubicBezTo>
                <a:cubicBezTo>
                  <a:pt x="1071" y="8815"/>
                  <a:pt x="1080" y="8812"/>
                  <a:pt x="1089" y="8806"/>
                </a:cubicBezTo>
                <a:cubicBezTo>
                  <a:pt x="1110" y="8791"/>
                  <a:pt x="1115" y="8761"/>
                  <a:pt x="1100" y="8740"/>
                </a:cubicBezTo>
                <a:cubicBezTo>
                  <a:pt x="1091" y="8727"/>
                  <a:pt x="1076" y="8720"/>
                  <a:pt x="1061" y="8720"/>
                </a:cubicBezTo>
                <a:moveTo>
                  <a:pt x="10102" y="8711"/>
                </a:moveTo>
                <a:cubicBezTo>
                  <a:pt x="10088" y="8711"/>
                  <a:pt x="10073" y="8718"/>
                  <a:pt x="10064" y="8731"/>
                </a:cubicBezTo>
                <a:cubicBezTo>
                  <a:pt x="10049" y="8753"/>
                  <a:pt x="10054" y="8782"/>
                  <a:pt x="10075" y="8797"/>
                </a:cubicBezTo>
                <a:cubicBezTo>
                  <a:pt x="10083" y="8803"/>
                  <a:pt x="10093" y="8806"/>
                  <a:pt x="10102" y="8806"/>
                </a:cubicBezTo>
                <a:cubicBezTo>
                  <a:pt x="10117" y="8806"/>
                  <a:pt x="10132" y="8799"/>
                  <a:pt x="10141" y="8786"/>
                </a:cubicBezTo>
                <a:cubicBezTo>
                  <a:pt x="10156" y="8764"/>
                  <a:pt x="10151" y="8735"/>
                  <a:pt x="10130" y="8720"/>
                </a:cubicBezTo>
                <a:cubicBezTo>
                  <a:pt x="10121" y="8714"/>
                  <a:pt x="10112" y="8711"/>
                  <a:pt x="10102" y="8711"/>
                </a:cubicBezTo>
                <a:moveTo>
                  <a:pt x="854" y="8405"/>
                </a:moveTo>
                <a:cubicBezTo>
                  <a:pt x="845" y="8405"/>
                  <a:pt x="837" y="8407"/>
                  <a:pt x="829" y="8412"/>
                </a:cubicBezTo>
                <a:cubicBezTo>
                  <a:pt x="807" y="8426"/>
                  <a:pt x="800" y="8455"/>
                  <a:pt x="814" y="8477"/>
                </a:cubicBezTo>
                <a:cubicBezTo>
                  <a:pt x="823" y="8492"/>
                  <a:pt x="838" y="8500"/>
                  <a:pt x="854" y="8500"/>
                </a:cubicBezTo>
                <a:cubicBezTo>
                  <a:pt x="862" y="8500"/>
                  <a:pt x="871" y="8497"/>
                  <a:pt x="879" y="8493"/>
                </a:cubicBezTo>
                <a:cubicBezTo>
                  <a:pt x="901" y="8479"/>
                  <a:pt x="908" y="8450"/>
                  <a:pt x="894" y="8428"/>
                </a:cubicBezTo>
                <a:cubicBezTo>
                  <a:pt x="885" y="8413"/>
                  <a:pt x="870" y="8405"/>
                  <a:pt x="854" y="8405"/>
                </a:cubicBezTo>
                <a:moveTo>
                  <a:pt x="10309" y="8395"/>
                </a:moveTo>
                <a:cubicBezTo>
                  <a:pt x="10293" y="8395"/>
                  <a:pt x="10278" y="8403"/>
                  <a:pt x="10269" y="8418"/>
                </a:cubicBezTo>
                <a:cubicBezTo>
                  <a:pt x="10256" y="8440"/>
                  <a:pt x="10263" y="8469"/>
                  <a:pt x="10285" y="8483"/>
                </a:cubicBezTo>
                <a:cubicBezTo>
                  <a:pt x="10292" y="8488"/>
                  <a:pt x="10301" y="8490"/>
                  <a:pt x="10309" y="8490"/>
                </a:cubicBezTo>
                <a:cubicBezTo>
                  <a:pt x="10325" y="8490"/>
                  <a:pt x="10341" y="8482"/>
                  <a:pt x="10350" y="8467"/>
                </a:cubicBezTo>
                <a:cubicBezTo>
                  <a:pt x="10363" y="8445"/>
                  <a:pt x="10356" y="8416"/>
                  <a:pt x="10334" y="8402"/>
                </a:cubicBezTo>
                <a:cubicBezTo>
                  <a:pt x="10326" y="8398"/>
                  <a:pt x="10318" y="8395"/>
                  <a:pt x="10309" y="8395"/>
                </a:cubicBezTo>
                <a:moveTo>
                  <a:pt x="668" y="8077"/>
                </a:moveTo>
                <a:cubicBezTo>
                  <a:pt x="661" y="8077"/>
                  <a:pt x="654" y="8078"/>
                  <a:pt x="647" y="8082"/>
                </a:cubicBezTo>
                <a:cubicBezTo>
                  <a:pt x="624" y="8094"/>
                  <a:pt x="614" y="8123"/>
                  <a:pt x="626" y="8146"/>
                </a:cubicBezTo>
                <a:cubicBezTo>
                  <a:pt x="635" y="8162"/>
                  <a:pt x="651" y="8171"/>
                  <a:pt x="669" y="8171"/>
                </a:cubicBezTo>
                <a:cubicBezTo>
                  <a:pt x="676" y="8171"/>
                  <a:pt x="683" y="8170"/>
                  <a:pt x="690" y="8166"/>
                </a:cubicBezTo>
                <a:cubicBezTo>
                  <a:pt x="713" y="8154"/>
                  <a:pt x="722" y="8125"/>
                  <a:pt x="710" y="8102"/>
                </a:cubicBezTo>
                <a:cubicBezTo>
                  <a:pt x="702" y="8086"/>
                  <a:pt x="685" y="8077"/>
                  <a:pt x="668" y="8077"/>
                </a:cubicBezTo>
                <a:moveTo>
                  <a:pt x="10494" y="8066"/>
                </a:moveTo>
                <a:cubicBezTo>
                  <a:pt x="10477" y="8066"/>
                  <a:pt x="10461" y="8075"/>
                  <a:pt x="10452" y="8091"/>
                </a:cubicBezTo>
                <a:cubicBezTo>
                  <a:pt x="10440" y="8114"/>
                  <a:pt x="10450" y="8143"/>
                  <a:pt x="10473" y="8155"/>
                </a:cubicBezTo>
                <a:cubicBezTo>
                  <a:pt x="10480" y="8159"/>
                  <a:pt x="10487" y="8160"/>
                  <a:pt x="10494" y="8160"/>
                </a:cubicBezTo>
                <a:cubicBezTo>
                  <a:pt x="10512" y="8160"/>
                  <a:pt x="10528" y="8151"/>
                  <a:pt x="10536" y="8135"/>
                </a:cubicBezTo>
                <a:cubicBezTo>
                  <a:pt x="10548" y="8112"/>
                  <a:pt x="10539" y="8083"/>
                  <a:pt x="10516" y="8071"/>
                </a:cubicBezTo>
                <a:cubicBezTo>
                  <a:pt x="10509" y="8068"/>
                  <a:pt x="10502" y="8066"/>
                  <a:pt x="10494" y="8066"/>
                </a:cubicBezTo>
                <a:moveTo>
                  <a:pt x="506" y="7736"/>
                </a:moveTo>
                <a:cubicBezTo>
                  <a:pt x="500" y="7736"/>
                  <a:pt x="493" y="7738"/>
                  <a:pt x="487" y="7740"/>
                </a:cubicBezTo>
                <a:cubicBezTo>
                  <a:pt x="463" y="7751"/>
                  <a:pt x="452" y="7779"/>
                  <a:pt x="463" y="7802"/>
                </a:cubicBezTo>
                <a:cubicBezTo>
                  <a:pt x="470" y="7820"/>
                  <a:pt x="488" y="7831"/>
                  <a:pt x="506" y="7831"/>
                </a:cubicBezTo>
                <a:cubicBezTo>
                  <a:pt x="512" y="7831"/>
                  <a:pt x="519" y="7830"/>
                  <a:pt x="525" y="7827"/>
                </a:cubicBezTo>
                <a:cubicBezTo>
                  <a:pt x="549" y="7817"/>
                  <a:pt x="560" y="7789"/>
                  <a:pt x="549" y="7765"/>
                </a:cubicBezTo>
                <a:cubicBezTo>
                  <a:pt x="541" y="7747"/>
                  <a:pt x="524" y="7736"/>
                  <a:pt x="506" y="7736"/>
                </a:cubicBezTo>
                <a:moveTo>
                  <a:pt x="10657" y="7725"/>
                </a:moveTo>
                <a:cubicBezTo>
                  <a:pt x="10638" y="7725"/>
                  <a:pt x="10621" y="7735"/>
                  <a:pt x="10613" y="7753"/>
                </a:cubicBezTo>
                <a:cubicBezTo>
                  <a:pt x="10603" y="7777"/>
                  <a:pt x="10614" y="7805"/>
                  <a:pt x="10638" y="7815"/>
                </a:cubicBezTo>
                <a:cubicBezTo>
                  <a:pt x="10644" y="7818"/>
                  <a:pt x="10650" y="7819"/>
                  <a:pt x="10657" y="7819"/>
                </a:cubicBezTo>
                <a:cubicBezTo>
                  <a:pt x="10675" y="7819"/>
                  <a:pt x="10692" y="7808"/>
                  <a:pt x="10700" y="7790"/>
                </a:cubicBezTo>
                <a:cubicBezTo>
                  <a:pt x="10710" y="7767"/>
                  <a:pt x="10699" y="7739"/>
                  <a:pt x="10675" y="7728"/>
                </a:cubicBezTo>
                <a:cubicBezTo>
                  <a:pt x="10669" y="7726"/>
                  <a:pt x="10663" y="7725"/>
                  <a:pt x="10657" y="7725"/>
                </a:cubicBezTo>
                <a:moveTo>
                  <a:pt x="367" y="7386"/>
                </a:moveTo>
                <a:cubicBezTo>
                  <a:pt x="362" y="7386"/>
                  <a:pt x="356" y="7387"/>
                  <a:pt x="351" y="7389"/>
                </a:cubicBezTo>
                <a:cubicBezTo>
                  <a:pt x="327" y="7397"/>
                  <a:pt x="314" y="7424"/>
                  <a:pt x="323" y="7449"/>
                </a:cubicBezTo>
                <a:cubicBezTo>
                  <a:pt x="330" y="7468"/>
                  <a:pt x="348" y="7480"/>
                  <a:pt x="367" y="7480"/>
                </a:cubicBezTo>
                <a:cubicBezTo>
                  <a:pt x="372" y="7480"/>
                  <a:pt x="378" y="7479"/>
                  <a:pt x="383" y="7478"/>
                </a:cubicBezTo>
                <a:cubicBezTo>
                  <a:pt x="407" y="7469"/>
                  <a:pt x="420" y="7442"/>
                  <a:pt x="411" y="7417"/>
                </a:cubicBezTo>
                <a:cubicBezTo>
                  <a:pt x="405" y="7398"/>
                  <a:pt x="387" y="7386"/>
                  <a:pt x="367" y="7386"/>
                </a:cubicBezTo>
                <a:moveTo>
                  <a:pt x="10795" y="7373"/>
                </a:moveTo>
                <a:cubicBezTo>
                  <a:pt x="10775" y="7373"/>
                  <a:pt x="10757" y="7385"/>
                  <a:pt x="10751" y="7404"/>
                </a:cubicBezTo>
                <a:cubicBezTo>
                  <a:pt x="10742" y="7429"/>
                  <a:pt x="10755" y="7456"/>
                  <a:pt x="10779" y="7465"/>
                </a:cubicBezTo>
                <a:cubicBezTo>
                  <a:pt x="10784" y="7466"/>
                  <a:pt x="10790" y="7467"/>
                  <a:pt x="10795" y="7467"/>
                </a:cubicBezTo>
                <a:cubicBezTo>
                  <a:pt x="10814" y="7467"/>
                  <a:pt x="10833" y="7455"/>
                  <a:pt x="10839" y="7436"/>
                </a:cubicBezTo>
                <a:cubicBezTo>
                  <a:pt x="10848" y="7411"/>
                  <a:pt x="10835" y="7384"/>
                  <a:pt x="10811" y="7375"/>
                </a:cubicBezTo>
                <a:cubicBezTo>
                  <a:pt x="10805" y="7374"/>
                  <a:pt x="10800" y="7373"/>
                  <a:pt x="10795" y="7373"/>
                </a:cubicBezTo>
                <a:moveTo>
                  <a:pt x="252" y="7026"/>
                </a:moveTo>
                <a:cubicBezTo>
                  <a:pt x="248" y="7026"/>
                  <a:pt x="244" y="7027"/>
                  <a:pt x="240" y="7028"/>
                </a:cubicBezTo>
                <a:cubicBezTo>
                  <a:pt x="215" y="7035"/>
                  <a:pt x="200" y="7061"/>
                  <a:pt x="207" y="7086"/>
                </a:cubicBezTo>
                <a:cubicBezTo>
                  <a:pt x="213" y="7107"/>
                  <a:pt x="232" y="7121"/>
                  <a:pt x="252" y="7121"/>
                </a:cubicBezTo>
                <a:cubicBezTo>
                  <a:pt x="257" y="7121"/>
                  <a:pt x="261" y="7120"/>
                  <a:pt x="265" y="7119"/>
                </a:cubicBezTo>
                <a:cubicBezTo>
                  <a:pt x="290" y="7112"/>
                  <a:pt x="305" y="7086"/>
                  <a:pt x="298" y="7061"/>
                </a:cubicBezTo>
                <a:cubicBezTo>
                  <a:pt x="292" y="7040"/>
                  <a:pt x="273" y="7026"/>
                  <a:pt x="252" y="7026"/>
                </a:cubicBezTo>
                <a:moveTo>
                  <a:pt x="10908" y="7013"/>
                </a:moveTo>
                <a:cubicBezTo>
                  <a:pt x="10888" y="7013"/>
                  <a:pt x="10869" y="7027"/>
                  <a:pt x="10863" y="7047"/>
                </a:cubicBezTo>
                <a:cubicBezTo>
                  <a:pt x="10856" y="7073"/>
                  <a:pt x="10871" y="7098"/>
                  <a:pt x="10896" y="7106"/>
                </a:cubicBezTo>
                <a:cubicBezTo>
                  <a:pt x="10900" y="7107"/>
                  <a:pt x="10905" y="7107"/>
                  <a:pt x="10909" y="7107"/>
                </a:cubicBezTo>
                <a:cubicBezTo>
                  <a:pt x="10929" y="7107"/>
                  <a:pt x="10948" y="7094"/>
                  <a:pt x="10954" y="7073"/>
                </a:cubicBezTo>
                <a:cubicBezTo>
                  <a:pt x="10961" y="7048"/>
                  <a:pt x="10946" y="7022"/>
                  <a:pt x="10921" y="7015"/>
                </a:cubicBezTo>
                <a:cubicBezTo>
                  <a:pt x="10917" y="7013"/>
                  <a:pt x="10913" y="7013"/>
                  <a:pt x="10908" y="7013"/>
                </a:cubicBezTo>
                <a:moveTo>
                  <a:pt x="163" y="6659"/>
                </a:moveTo>
                <a:cubicBezTo>
                  <a:pt x="160" y="6659"/>
                  <a:pt x="156" y="6660"/>
                  <a:pt x="153" y="6660"/>
                </a:cubicBezTo>
                <a:cubicBezTo>
                  <a:pt x="128" y="6666"/>
                  <a:pt x="111" y="6691"/>
                  <a:pt x="117" y="6717"/>
                </a:cubicBezTo>
                <a:cubicBezTo>
                  <a:pt x="121" y="6739"/>
                  <a:pt x="141" y="6754"/>
                  <a:pt x="163" y="6754"/>
                </a:cubicBezTo>
                <a:cubicBezTo>
                  <a:pt x="166" y="6754"/>
                  <a:pt x="169" y="6754"/>
                  <a:pt x="172" y="6753"/>
                </a:cubicBezTo>
                <a:cubicBezTo>
                  <a:pt x="198" y="6748"/>
                  <a:pt x="214" y="6722"/>
                  <a:pt x="209" y="6697"/>
                </a:cubicBezTo>
                <a:cubicBezTo>
                  <a:pt x="205" y="6675"/>
                  <a:pt x="185" y="6659"/>
                  <a:pt x="163" y="6659"/>
                </a:cubicBezTo>
                <a:moveTo>
                  <a:pt x="10997" y="6646"/>
                </a:moveTo>
                <a:cubicBezTo>
                  <a:pt x="10975" y="6646"/>
                  <a:pt x="10956" y="6661"/>
                  <a:pt x="10951" y="6684"/>
                </a:cubicBezTo>
                <a:cubicBezTo>
                  <a:pt x="10946" y="6709"/>
                  <a:pt x="10962" y="6734"/>
                  <a:pt x="10988" y="6739"/>
                </a:cubicBezTo>
                <a:cubicBezTo>
                  <a:pt x="10991" y="6740"/>
                  <a:pt x="10994" y="6740"/>
                  <a:pt x="10997" y="6740"/>
                </a:cubicBezTo>
                <a:cubicBezTo>
                  <a:pt x="11019" y="6740"/>
                  <a:pt x="11039" y="6725"/>
                  <a:pt x="11044" y="6703"/>
                </a:cubicBezTo>
                <a:cubicBezTo>
                  <a:pt x="11049" y="6677"/>
                  <a:pt x="11032" y="6652"/>
                  <a:pt x="11007" y="6647"/>
                </a:cubicBezTo>
                <a:cubicBezTo>
                  <a:pt x="11004" y="6646"/>
                  <a:pt x="11000" y="6646"/>
                  <a:pt x="10997" y="6646"/>
                </a:cubicBezTo>
                <a:moveTo>
                  <a:pt x="99" y="6288"/>
                </a:moveTo>
                <a:cubicBezTo>
                  <a:pt x="96" y="6288"/>
                  <a:pt x="94" y="6288"/>
                  <a:pt x="92" y="6288"/>
                </a:cubicBezTo>
                <a:cubicBezTo>
                  <a:pt x="66" y="6291"/>
                  <a:pt x="48" y="6315"/>
                  <a:pt x="52" y="6341"/>
                </a:cubicBezTo>
                <a:cubicBezTo>
                  <a:pt x="55" y="6365"/>
                  <a:pt x="75" y="6382"/>
                  <a:pt x="99" y="6382"/>
                </a:cubicBezTo>
                <a:cubicBezTo>
                  <a:pt x="101" y="6382"/>
                  <a:pt x="103" y="6382"/>
                  <a:pt x="105" y="6381"/>
                </a:cubicBezTo>
                <a:cubicBezTo>
                  <a:pt x="131" y="6378"/>
                  <a:pt x="149" y="6354"/>
                  <a:pt x="146" y="6328"/>
                </a:cubicBezTo>
                <a:cubicBezTo>
                  <a:pt x="142" y="6305"/>
                  <a:pt x="122" y="6288"/>
                  <a:pt x="99" y="6288"/>
                </a:cubicBezTo>
                <a:moveTo>
                  <a:pt x="11060" y="6274"/>
                </a:moveTo>
                <a:cubicBezTo>
                  <a:pt x="11037" y="6274"/>
                  <a:pt x="11017" y="6291"/>
                  <a:pt x="11014" y="6315"/>
                </a:cubicBezTo>
                <a:cubicBezTo>
                  <a:pt x="11010" y="6341"/>
                  <a:pt x="11028" y="6364"/>
                  <a:pt x="11054" y="6368"/>
                </a:cubicBezTo>
                <a:cubicBezTo>
                  <a:pt x="11056" y="6368"/>
                  <a:pt x="11059" y="6368"/>
                  <a:pt x="11061" y="6368"/>
                </a:cubicBezTo>
                <a:cubicBezTo>
                  <a:pt x="11084" y="6368"/>
                  <a:pt x="11104" y="6351"/>
                  <a:pt x="11107" y="6327"/>
                </a:cubicBezTo>
                <a:cubicBezTo>
                  <a:pt x="11111" y="6302"/>
                  <a:pt x="11093" y="6278"/>
                  <a:pt x="11067" y="6274"/>
                </a:cubicBezTo>
                <a:cubicBezTo>
                  <a:pt x="11065" y="6274"/>
                  <a:pt x="11062" y="6274"/>
                  <a:pt x="11060" y="6274"/>
                </a:cubicBezTo>
                <a:moveTo>
                  <a:pt x="60" y="5912"/>
                </a:moveTo>
                <a:cubicBezTo>
                  <a:pt x="59" y="5912"/>
                  <a:pt x="58" y="5912"/>
                  <a:pt x="57" y="5912"/>
                </a:cubicBezTo>
                <a:cubicBezTo>
                  <a:pt x="31" y="5914"/>
                  <a:pt x="11" y="5936"/>
                  <a:pt x="13" y="5962"/>
                </a:cubicBezTo>
                <a:cubicBezTo>
                  <a:pt x="15" y="5987"/>
                  <a:pt x="35" y="6006"/>
                  <a:pt x="60" y="6006"/>
                </a:cubicBezTo>
                <a:cubicBezTo>
                  <a:pt x="61" y="6006"/>
                  <a:pt x="62" y="6006"/>
                  <a:pt x="63" y="6006"/>
                </a:cubicBezTo>
                <a:cubicBezTo>
                  <a:pt x="89" y="6005"/>
                  <a:pt x="109" y="5982"/>
                  <a:pt x="107" y="5956"/>
                </a:cubicBezTo>
                <a:cubicBezTo>
                  <a:pt x="106" y="5931"/>
                  <a:pt x="85" y="5912"/>
                  <a:pt x="60" y="5912"/>
                </a:cubicBezTo>
                <a:moveTo>
                  <a:pt x="11098" y="5898"/>
                </a:moveTo>
                <a:cubicBezTo>
                  <a:pt x="11074" y="5898"/>
                  <a:pt x="11052" y="5917"/>
                  <a:pt x="11051" y="5942"/>
                </a:cubicBezTo>
                <a:cubicBezTo>
                  <a:pt x="11049" y="5968"/>
                  <a:pt x="11069" y="5991"/>
                  <a:pt x="11095" y="5993"/>
                </a:cubicBezTo>
                <a:cubicBezTo>
                  <a:pt x="11096" y="5993"/>
                  <a:pt x="11097" y="5993"/>
                  <a:pt x="11098" y="5993"/>
                </a:cubicBezTo>
                <a:cubicBezTo>
                  <a:pt x="11123" y="5993"/>
                  <a:pt x="11143" y="5973"/>
                  <a:pt x="11145" y="5949"/>
                </a:cubicBezTo>
                <a:cubicBezTo>
                  <a:pt x="11147" y="5922"/>
                  <a:pt x="11127" y="5900"/>
                  <a:pt x="11101" y="5898"/>
                </a:cubicBezTo>
                <a:cubicBezTo>
                  <a:pt x="11100" y="5898"/>
                  <a:pt x="11099" y="5898"/>
                  <a:pt x="11098" y="5898"/>
                </a:cubicBezTo>
                <a:moveTo>
                  <a:pt x="47" y="5535"/>
                </a:moveTo>
                <a:cubicBezTo>
                  <a:pt x="21" y="5535"/>
                  <a:pt x="0" y="5556"/>
                  <a:pt x="0" y="5582"/>
                </a:cubicBezTo>
                <a:cubicBezTo>
                  <a:pt x="0" y="5608"/>
                  <a:pt x="21" y="5629"/>
                  <a:pt x="47" y="5629"/>
                </a:cubicBezTo>
                <a:cubicBezTo>
                  <a:pt x="73" y="5629"/>
                  <a:pt x="95" y="5608"/>
                  <a:pt x="95" y="5582"/>
                </a:cubicBezTo>
                <a:cubicBezTo>
                  <a:pt x="94" y="5556"/>
                  <a:pt x="73" y="5535"/>
                  <a:pt x="47" y="5535"/>
                </a:cubicBezTo>
                <a:moveTo>
                  <a:pt x="11111" y="5521"/>
                </a:moveTo>
                <a:cubicBezTo>
                  <a:pt x="11111" y="5521"/>
                  <a:pt x="11110" y="5521"/>
                  <a:pt x="11110" y="5521"/>
                </a:cubicBezTo>
                <a:cubicBezTo>
                  <a:pt x="11084" y="5521"/>
                  <a:pt x="11063" y="5542"/>
                  <a:pt x="11063" y="5568"/>
                </a:cubicBezTo>
                <a:cubicBezTo>
                  <a:pt x="11063" y="5594"/>
                  <a:pt x="11084" y="5615"/>
                  <a:pt x="11110" y="5615"/>
                </a:cubicBezTo>
                <a:cubicBezTo>
                  <a:pt x="11136" y="5615"/>
                  <a:pt x="11157" y="5594"/>
                  <a:pt x="11157" y="5568"/>
                </a:cubicBezTo>
                <a:cubicBezTo>
                  <a:pt x="11157" y="5542"/>
                  <a:pt x="11137" y="5521"/>
                  <a:pt x="11111" y="5521"/>
                </a:cubicBezTo>
                <a:moveTo>
                  <a:pt x="59" y="5158"/>
                </a:moveTo>
                <a:cubicBezTo>
                  <a:pt x="35" y="5158"/>
                  <a:pt x="14" y="5177"/>
                  <a:pt x="12" y="5201"/>
                </a:cubicBezTo>
                <a:cubicBezTo>
                  <a:pt x="11" y="5228"/>
                  <a:pt x="30" y="5250"/>
                  <a:pt x="57" y="5252"/>
                </a:cubicBezTo>
                <a:cubicBezTo>
                  <a:pt x="57" y="5252"/>
                  <a:pt x="59" y="5252"/>
                  <a:pt x="60" y="5252"/>
                </a:cubicBezTo>
                <a:cubicBezTo>
                  <a:pt x="84" y="5252"/>
                  <a:pt x="105" y="5233"/>
                  <a:pt x="107" y="5208"/>
                </a:cubicBezTo>
                <a:cubicBezTo>
                  <a:pt x="108" y="5182"/>
                  <a:pt x="89" y="5159"/>
                  <a:pt x="63" y="5158"/>
                </a:cubicBezTo>
                <a:cubicBezTo>
                  <a:pt x="62" y="5158"/>
                  <a:pt x="61" y="5158"/>
                  <a:pt x="59" y="5158"/>
                </a:cubicBezTo>
                <a:moveTo>
                  <a:pt x="11097" y="5144"/>
                </a:moveTo>
                <a:cubicBezTo>
                  <a:pt x="11096" y="5144"/>
                  <a:pt x="11095" y="5144"/>
                  <a:pt x="11093" y="5144"/>
                </a:cubicBezTo>
                <a:cubicBezTo>
                  <a:pt x="11067" y="5145"/>
                  <a:pt x="11048" y="5168"/>
                  <a:pt x="11049" y="5194"/>
                </a:cubicBezTo>
                <a:cubicBezTo>
                  <a:pt x="11050" y="5194"/>
                  <a:pt x="11050" y="5194"/>
                  <a:pt x="11050" y="5194"/>
                </a:cubicBezTo>
                <a:cubicBezTo>
                  <a:pt x="11051" y="5219"/>
                  <a:pt x="11072" y="5238"/>
                  <a:pt x="11097" y="5238"/>
                </a:cubicBezTo>
                <a:cubicBezTo>
                  <a:pt x="11098" y="5238"/>
                  <a:pt x="11099" y="5238"/>
                  <a:pt x="11100" y="5238"/>
                </a:cubicBezTo>
                <a:cubicBezTo>
                  <a:pt x="11126" y="5236"/>
                  <a:pt x="11146" y="5213"/>
                  <a:pt x="11144" y="5188"/>
                </a:cubicBezTo>
                <a:cubicBezTo>
                  <a:pt x="11142" y="5163"/>
                  <a:pt x="11122" y="5144"/>
                  <a:pt x="11097" y="5144"/>
                </a:cubicBezTo>
                <a:moveTo>
                  <a:pt x="98" y="4782"/>
                </a:moveTo>
                <a:cubicBezTo>
                  <a:pt x="74" y="4782"/>
                  <a:pt x="54" y="4799"/>
                  <a:pt x="51" y="4823"/>
                </a:cubicBezTo>
                <a:cubicBezTo>
                  <a:pt x="47" y="4849"/>
                  <a:pt x="66" y="4872"/>
                  <a:pt x="91" y="4876"/>
                </a:cubicBezTo>
                <a:cubicBezTo>
                  <a:pt x="94" y="4876"/>
                  <a:pt x="96" y="4876"/>
                  <a:pt x="98" y="4876"/>
                </a:cubicBezTo>
                <a:cubicBezTo>
                  <a:pt x="121" y="4876"/>
                  <a:pt x="141" y="4859"/>
                  <a:pt x="144" y="4836"/>
                </a:cubicBezTo>
                <a:cubicBezTo>
                  <a:pt x="148" y="4810"/>
                  <a:pt x="130" y="4786"/>
                  <a:pt x="104" y="4782"/>
                </a:cubicBezTo>
                <a:cubicBezTo>
                  <a:pt x="102" y="4782"/>
                  <a:pt x="100" y="4782"/>
                  <a:pt x="98" y="4782"/>
                </a:cubicBezTo>
                <a:moveTo>
                  <a:pt x="11058" y="4768"/>
                </a:moveTo>
                <a:cubicBezTo>
                  <a:pt x="11056" y="4768"/>
                  <a:pt x="11053" y="4768"/>
                  <a:pt x="11051" y="4769"/>
                </a:cubicBezTo>
                <a:cubicBezTo>
                  <a:pt x="11025" y="4772"/>
                  <a:pt x="11007" y="4796"/>
                  <a:pt x="11011" y="4822"/>
                </a:cubicBezTo>
                <a:cubicBezTo>
                  <a:pt x="11014" y="4846"/>
                  <a:pt x="11035" y="4863"/>
                  <a:pt x="11058" y="4863"/>
                </a:cubicBezTo>
                <a:cubicBezTo>
                  <a:pt x="11060" y="4863"/>
                  <a:pt x="11062" y="4862"/>
                  <a:pt x="11064" y="4862"/>
                </a:cubicBezTo>
                <a:cubicBezTo>
                  <a:pt x="11090" y="4859"/>
                  <a:pt x="11108" y="4835"/>
                  <a:pt x="11104" y="4809"/>
                </a:cubicBezTo>
                <a:cubicBezTo>
                  <a:pt x="11101" y="4785"/>
                  <a:pt x="11081" y="4768"/>
                  <a:pt x="11058" y="4768"/>
                </a:cubicBezTo>
                <a:moveTo>
                  <a:pt x="161" y="4410"/>
                </a:moveTo>
                <a:cubicBezTo>
                  <a:pt x="139" y="4410"/>
                  <a:pt x="120" y="4425"/>
                  <a:pt x="115" y="4448"/>
                </a:cubicBezTo>
                <a:cubicBezTo>
                  <a:pt x="110" y="4473"/>
                  <a:pt x="126" y="4498"/>
                  <a:pt x="152" y="4503"/>
                </a:cubicBezTo>
                <a:cubicBezTo>
                  <a:pt x="155" y="4504"/>
                  <a:pt x="158" y="4504"/>
                  <a:pt x="161" y="4504"/>
                </a:cubicBezTo>
                <a:cubicBezTo>
                  <a:pt x="183" y="4504"/>
                  <a:pt x="203" y="4489"/>
                  <a:pt x="208" y="4467"/>
                </a:cubicBezTo>
                <a:cubicBezTo>
                  <a:pt x="213" y="4441"/>
                  <a:pt x="197" y="4416"/>
                  <a:pt x="171" y="4411"/>
                </a:cubicBezTo>
                <a:cubicBezTo>
                  <a:pt x="168" y="4410"/>
                  <a:pt x="164" y="4410"/>
                  <a:pt x="161" y="4410"/>
                </a:cubicBezTo>
                <a:moveTo>
                  <a:pt x="10993" y="4396"/>
                </a:moveTo>
                <a:cubicBezTo>
                  <a:pt x="10990" y="4396"/>
                  <a:pt x="10987" y="4397"/>
                  <a:pt x="10983" y="4397"/>
                </a:cubicBezTo>
                <a:cubicBezTo>
                  <a:pt x="10958" y="4403"/>
                  <a:pt x="10941" y="4428"/>
                  <a:pt x="10947" y="4453"/>
                </a:cubicBezTo>
                <a:cubicBezTo>
                  <a:pt x="10951" y="4475"/>
                  <a:pt x="10971" y="4491"/>
                  <a:pt x="10993" y="4491"/>
                </a:cubicBezTo>
                <a:cubicBezTo>
                  <a:pt x="10996" y="4491"/>
                  <a:pt x="10999" y="4490"/>
                  <a:pt x="11003" y="4490"/>
                </a:cubicBezTo>
                <a:cubicBezTo>
                  <a:pt x="11028" y="4484"/>
                  <a:pt x="11045" y="4459"/>
                  <a:pt x="11039" y="4434"/>
                </a:cubicBezTo>
                <a:cubicBezTo>
                  <a:pt x="11035" y="4412"/>
                  <a:pt x="11015" y="4396"/>
                  <a:pt x="10993" y="4396"/>
                </a:cubicBezTo>
                <a:moveTo>
                  <a:pt x="250" y="4043"/>
                </a:moveTo>
                <a:cubicBezTo>
                  <a:pt x="230" y="4043"/>
                  <a:pt x="211" y="4057"/>
                  <a:pt x="205" y="4077"/>
                </a:cubicBezTo>
                <a:cubicBezTo>
                  <a:pt x="205" y="4078"/>
                  <a:pt x="205" y="4078"/>
                  <a:pt x="205" y="4078"/>
                </a:cubicBezTo>
                <a:cubicBezTo>
                  <a:pt x="198" y="4103"/>
                  <a:pt x="213" y="4129"/>
                  <a:pt x="238" y="4136"/>
                </a:cubicBezTo>
                <a:cubicBezTo>
                  <a:pt x="242" y="4137"/>
                  <a:pt x="246" y="4138"/>
                  <a:pt x="250" y="4138"/>
                </a:cubicBezTo>
                <a:cubicBezTo>
                  <a:pt x="271" y="4138"/>
                  <a:pt x="290" y="4124"/>
                  <a:pt x="296" y="4103"/>
                </a:cubicBezTo>
                <a:cubicBezTo>
                  <a:pt x="303" y="4078"/>
                  <a:pt x="288" y="4052"/>
                  <a:pt x="263" y="4045"/>
                </a:cubicBezTo>
                <a:cubicBezTo>
                  <a:pt x="259" y="4044"/>
                  <a:pt x="255" y="4043"/>
                  <a:pt x="250" y="4043"/>
                </a:cubicBezTo>
                <a:moveTo>
                  <a:pt x="10903" y="4030"/>
                </a:moveTo>
                <a:cubicBezTo>
                  <a:pt x="10899" y="4030"/>
                  <a:pt x="10894" y="4030"/>
                  <a:pt x="10890" y="4031"/>
                </a:cubicBezTo>
                <a:cubicBezTo>
                  <a:pt x="10865" y="4039"/>
                  <a:pt x="10851" y="4064"/>
                  <a:pt x="10858" y="4090"/>
                </a:cubicBezTo>
                <a:cubicBezTo>
                  <a:pt x="10864" y="4110"/>
                  <a:pt x="10882" y="4124"/>
                  <a:pt x="10903" y="4124"/>
                </a:cubicBezTo>
                <a:cubicBezTo>
                  <a:pt x="10907" y="4124"/>
                  <a:pt x="10912" y="4124"/>
                  <a:pt x="10916" y="4122"/>
                </a:cubicBezTo>
                <a:cubicBezTo>
                  <a:pt x="10941" y="4115"/>
                  <a:pt x="10956" y="4089"/>
                  <a:pt x="10949" y="4064"/>
                </a:cubicBezTo>
                <a:cubicBezTo>
                  <a:pt x="10943" y="4043"/>
                  <a:pt x="10924" y="4030"/>
                  <a:pt x="10903" y="4030"/>
                </a:cubicBezTo>
                <a:moveTo>
                  <a:pt x="365" y="3683"/>
                </a:moveTo>
                <a:cubicBezTo>
                  <a:pt x="345" y="3683"/>
                  <a:pt x="327" y="3695"/>
                  <a:pt x="320" y="3715"/>
                </a:cubicBezTo>
                <a:cubicBezTo>
                  <a:pt x="311" y="3739"/>
                  <a:pt x="324" y="3766"/>
                  <a:pt x="349" y="3775"/>
                </a:cubicBezTo>
                <a:cubicBezTo>
                  <a:pt x="354" y="3777"/>
                  <a:pt x="359" y="3778"/>
                  <a:pt x="365" y="3778"/>
                </a:cubicBezTo>
                <a:cubicBezTo>
                  <a:pt x="384" y="3778"/>
                  <a:pt x="402" y="3766"/>
                  <a:pt x="409" y="3746"/>
                </a:cubicBezTo>
                <a:cubicBezTo>
                  <a:pt x="418" y="3722"/>
                  <a:pt x="405" y="3695"/>
                  <a:pt x="381" y="3686"/>
                </a:cubicBezTo>
                <a:cubicBezTo>
                  <a:pt x="375" y="3684"/>
                  <a:pt x="370" y="3683"/>
                  <a:pt x="365" y="3683"/>
                </a:cubicBezTo>
                <a:moveTo>
                  <a:pt x="10788" y="3670"/>
                </a:moveTo>
                <a:cubicBezTo>
                  <a:pt x="10783" y="3670"/>
                  <a:pt x="10777" y="3671"/>
                  <a:pt x="10772" y="3673"/>
                </a:cubicBezTo>
                <a:cubicBezTo>
                  <a:pt x="10747" y="3682"/>
                  <a:pt x="10735" y="3709"/>
                  <a:pt x="10744" y="3733"/>
                </a:cubicBezTo>
                <a:cubicBezTo>
                  <a:pt x="10751" y="3752"/>
                  <a:pt x="10769" y="3764"/>
                  <a:pt x="10788" y="3764"/>
                </a:cubicBezTo>
                <a:cubicBezTo>
                  <a:pt x="10793" y="3764"/>
                  <a:pt x="10799" y="3764"/>
                  <a:pt x="10804" y="3762"/>
                </a:cubicBezTo>
                <a:cubicBezTo>
                  <a:pt x="10829" y="3753"/>
                  <a:pt x="10841" y="3726"/>
                  <a:pt x="10832" y="3701"/>
                </a:cubicBezTo>
                <a:cubicBezTo>
                  <a:pt x="10826" y="3682"/>
                  <a:pt x="10807" y="3670"/>
                  <a:pt x="10788" y="3670"/>
                </a:cubicBezTo>
                <a:moveTo>
                  <a:pt x="503" y="3332"/>
                </a:moveTo>
                <a:cubicBezTo>
                  <a:pt x="485" y="3332"/>
                  <a:pt x="468" y="3342"/>
                  <a:pt x="460" y="3360"/>
                </a:cubicBezTo>
                <a:cubicBezTo>
                  <a:pt x="450" y="3384"/>
                  <a:pt x="461" y="3412"/>
                  <a:pt x="484" y="3422"/>
                </a:cubicBezTo>
                <a:cubicBezTo>
                  <a:pt x="491" y="3425"/>
                  <a:pt x="497" y="3426"/>
                  <a:pt x="503" y="3426"/>
                </a:cubicBezTo>
                <a:cubicBezTo>
                  <a:pt x="522" y="3426"/>
                  <a:pt x="539" y="3416"/>
                  <a:pt x="547" y="3398"/>
                </a:cubicBezTo>
                <a:cubicBezTo>
                  <a:pt x="557" y="3374"/>
                  <a:pt x="546" y="3346"/>
                  <a:pt x="522" y="3336"/>
                </a:cubicBezTo>
                <a:cubicBezTo>
                  <a:pt x="516" y="3333"/>
                  <a:pt x="510" y="3332"/>
                  <a:pt x="503" y="3332"/>
                </a:cubicBezTo>
                <a:moveTo>
                  <a:pt x="10648" y="3320"/>
                </a:moveTo>
                <a:cubicBezTo>
                  <a:pt x="10642" y="3320"/>
                  <a:pt x="10636" y="3321"/>
                  <a:pt x="10630" y="3324"/>
                </a:cubicBezTo>
                <a:cubicBezTo>
                  <a:pt x="10606" y="3334"/>
                  <a:pt x="10595" y="3362"/>
                  <a:pt x="10605" y="3386"/>
                </a:cubicBezTo>
                <a:cubicBezTo>
                  <a:pt x="10613" y="3404"/>
                  <a:pt x="10631" y="3414"/>
                  <a:pt x="10649" y="3414"/>
                </a:cubicBezTo>
                <a:cubicBezTo>
                  <a:pt x="10655" y="3414"/>
                  <a:pt x="10661" y="3413"/>
                  <a:pt x="10668" y="3410"/>
                </a:cubicBezTo>
                <a:cubicBezTo>
                  <a:pt x="10692" y="3400"/>
                  <a:pt x="10702" y="3372"/>
                  <a:pt x="10692" y="3348"/>
                </a:cubicBezTo>
                <a:cubicBezTo>
                  <a:pt x="10684" y="3330"/>
                  <a:pt x="10667" y="3320"/>
                  <a:pt x="10648" y="3320"/>
                </a:cubicBezTo>
                <a:moveTo>
                  <a:pt x="666" y="2991"/>
                </a:moveTo>
                <a:cubicBezTo>
                  <a:pt x="649" y="2991"/>
                  <a:pt x="633" y="3000"/>
                  <a:pt x="624" y="3016"/>
                </a:cubicBezTo>
                <a:cubicBezTo>
                  <a:pt x="612" y="3039"/>
                  <a:pt x="621" y="3068"/>
                  <a:pt x="644" y="3080"/>
                </a:cubicBezTo>
                <a:cubicBezTo>
                  <a:pt x="651" y="3083"/>
                  <a:pt x="659" y="3085"/>
                  <a:pt x="666" y="3085"/>
                </a:cubicBezTo>
                <a:cubicBezTo>
                  <a:pt x="683" y="3085"/>
                  <a:pt x="699" y="3076"/>
                  <a:pt x="708" y="3059"/>
                </a:cubicBezTo>
                <a:cubicBezTo>
                  <a:pt x="720" y="3036"/>
                  <a:pt x="711" y="3008"/>
                  <a:pt x="688" y="2996"/>
                </a:cubicBezTo>
                <a:cubicBezTo>
                  <a:pt x="681" y="2992"/>
                  <a:pt x="673" y="2991"/>
                  <a:pt x="666" y="2991"/>
                </a:cubicBezTo>
                <a:moveTo>
                  <a:pt x="10486" y="2980"/>
                </a:moveTo>
                <a:cubicBezTo>
                  <a:pt x="10478" y="2980"/>
                  <a:pt x="10471" y="2981"/>
                  <a:pt x="10464" y="2985"/>
                </a:cubicBezTo>
                <a:cubicBezTo>
                  <a:pt x="10441" y="2997"/>
                  <a:pt x="10432" y="3026"/>
                  <a:pt x="10444" y="3049"/>
                </a:cubicBezTo>
                <a:cubicBezTo>
                  <a:pt x="10452" y="3065"/>
                  <a:pt x="10469" y="3074"/>
                  <a:pt x="10486" y="3074"/>
                </a:cubicBezTo>
                <a:cubicBezTo>
                  <a:pt x="10493" y="3074"/>
                  <a:pt x="10501" y="3072"/>
                  <a:pt x="10508" y="3069"/>
                </a:cubicBezTo>
                <a:cubicBezTo>
                  <a:pt x="10531" y="3057"/>
                  <a:pt x="10540" y="3028"/>
                  <a:pt x="10528" y="3005"/>
                </a:cubicBezTo>
                <a:cubicBezTo>
                  <a:pt x="10519" y="2989"/>
                  <a:pt x="10503" y="2980"/>
                  <a:pt x="10486" y="2980"/>
                </a:cubicBezTo>
                <a:moveTo>
                  <a:pt x="852" y="2661"/>
                </a:moveTo>
                <a:cubicBezTo>
                  <a:pt x="836" y="2661"/>
                  <a:pt x="820" y="2669"/>
                  <a:pt x="811" y="2684"/>
                </a:cubicBezTo>
                <a:cubicBezTo>
                  <a:pt x="798" y="2706"/>
                  <a:pt x="805" y="2735"/>
                  <a:pt x="827" y="2749"/>
                </a:cubicBezTo>
                <a:cubicBezTo>
                  <a:pt x="835" y="2753"/>
                  <a:pt x="843" y="2756"/>
                  <a:pt x="852" y="2756"/>
                </a:cubicBezTo>
                <a:cubicBezTo>
                  <a:pt x="867" y="2756"/>
                  <a:pt x="883" y="2748"/>
                  <a:pt x="892" y="2733"/>
                </a:cubicBezTo>
                <a:cubicBezTo>
                  <a:pt x="905" y="2711"/>
                  <a:pt x="898" y="2682"/>
                  <a:pt x="876" y="2668"/>
                </a:cubicBezTo>
                <a:cubicBezTo>
                  <a:pt x="868" y="2663"/>
                  <a:pt x="860" y="2661"/>
                  <a:pt x="852" y="2661"/>
                </a:cubicBezTo>
                <a:moveTo>
                  <a:pt x="10300" y="2651"/>
                </a:moveTo>
                <a:cubicBezTo>
                  <a:pt x="10291" y="2651"/>
                  <a:pt x="10283" y="2654"/>
                  <a:pt x="10275" y="2658"/>
                </a:cubicBezTo>
                <a:cubicBezTo>
                  <a:pt x="10253" y="2672"/>
                  <a:pt x="10246" y="2701"/>
                  <a:pt x="10260" y="2723"/>
                </a:cubicBezTo>
                <a:cubicBezTo>
                  <a:pt x="10269" y="2738"/>
                  <a:pt x="10284" y="2746"/>
                  <a:pt x="10300" y="2746"/>
                </a:cubicBezTo>
                <a:cubicBezTo>
                  <a:pt x="10308" y="2746"/>
                  <a:pt x="10317" y="2744"/>
                  <a:pt x="10325" y="2739"/>
                </a:cubicBezTo>
                <a:cubicBezTo>
                  <a:pt x="10347" y="2725"/>
                  <a:pt x="10354" y="2696"/>
                  <a:pt x="10340" y="2674"/>
                </a:cubicBezTo>
                <a:cubicBezTo>
                  <a:pt x="10331" y="2659"/>
                  <a:pt x="10316" y="2651"/>
                  <a:pt x="10300" y="2651"/>
                </a:cubicBezTo>
                <a:moveTo>
                  <a:pt x="1059" y="2346"/>
                </a:moveTo>
                <a:cubicBezTo>
                  <a:pt x="1044" y="2346"/>
                  <a:pt x="1030" y="2353"/>
                  <a:pt x="1020" y="2366"/>
                </a:cubicBezTo>
                <a:cubicBezTo>
                  <a:pt x="1005" y="2387"/>
                  <a:pt x="1010" y="2416"/>
                  <a:pt x="1032" y="2431"/>
                </a:cubicBezTo>
                <a:cubicBezTo>
                  <a:pt x="1040" y="2437"/>
                  <a:pt x="1050" y="2440"/>
                  <a:pt x="1059" y="2440"/>
                </a:cubicBezTo>
                <a:cubicBezTo>
                  <a:pt x="1074" y="2440"/>
                  <a:pt x="1088" y="2433"/>
                  <a:pt x="1097" y="2420"/>
                </a:cubicBezTo>
                <a:cubicBezTo>
                  <a:pt x="1113" y="2399"/>
                  <a:pt x="1108" y="2369"/>
                  <a:pt x="1086" y="2354"/>
                </a:cubicBezTo>
                <a:cubicBezTo>
                  <a:pt x="1078" y="2348"/>
                  <a:pt x="1069" y="2346"/>
                  <a:pt x="1059" y="2346"/>
                </a:cubicBezTo>
                <a:moveTo>
                  <a:pt x="10092" y="2337"/>
                </a:moveTo>
                <a:cubicBezTo>
                  <a:pt x="10083" y="2337"/>
                  <a:pt x="10073" y="2339"/>
                  <a:pt x="10065" y="2345"/>
                </a:cubicBezTo>
                <a:cubicBezTo>
                  <a:pt x="10043" y="2360"/>
                  <a:pt x="10038" y="2390"/>
                  <a:pt x="10053" y="2411"/>
                </a:cubicBezTo>
                <a:cubicBezTo>
                  <a:pt x="10063" y="2424"/>
                  <a:pt x="10077" y="2431"/>
                  <a:pt x="10092" y="2431"/>
                </a:cubicBezTo>
                <a:cubicBezTo>
                  <a:pt x="10101" y="2431"/>
                  <a:pt x="10111" y="2428"/>
                  <a:pt x="10119" y="2422"/>
                </a:cubicBezTo>
                <a:cubicBezTo>
                  <a:pt x="10141" y="2407"/>
                  <a:pt x="10145" y="2378"/>
                  <a:pt x="10131" y="2356"/>
                </a:cubicBezTo>
                <a:cubicBezTo>
                  <a:pt x="10121" y="2343"/>
                  <a:pt x="10107" y="2337"/>
                  <a:pt x="10092" y="2337"/>
                </a:cubicBezTo>
                <a:moveTo>
                  <a:pt x="1287" y="2045"/>
                </a:moveTo>
                <a:cubicBezTo>
                  <a:pt x="1274" y="2045"/>
                  <a:pt x="1260" y="2051"/>
                  <a:pt x="1251" y="2062"/>
                </a:cubicBezTo>
                <a:cubicBezTo>
                  <a:pt x="1234" y="2082"/>
                  <a:pt x="1237" y="2112"/>
                  <a:pt x="1257" y="2129"/>
                </a:cubicBezTo>
                <a:cubicBezTo>
                  <a:pt x="1266" y="2136"/>
                  <a:pt x="1277" y="2139"/>
                  <a:pt x="1287" y="2139"/>
                </a:cubicBezTo>
                <a:cubicBezTo>
                  <a:pt x="1301" y="2139"/>
                  <a:pt x="1315" y="2133"/>
                  <a:pt x="1324" y="2122"/>
                </a:cubicBezTo>
                <a:cubicBezTo>
                  <a:pt x="1340" y="2102"/>
                  <a:pt x="1337" y="2072"/>
                  <a:pt x="1317" y="2055"/>
                </a:cubicBezTo>
                <a:cubicBezTo>
                  <a:pt x="1308" y="2048"/>
                  <a:pt x="1298" y="2045"/>
                  <a:pt x="1287" y="2045"/>
                </a:cubicBezTo>
                <a:moveTo>
                  <a:pt x="9863" y="2036"/>
                </a:moveTo>
                <a:cubicBezTo>
                  <a:pt x="9853" y="2036"/>
                  <a:pt x="9842" y="2040"/>
                  <a:pt x="9833" y="2047"/>
                </a:cubicBezTo>
                <a:cubicBezTo>
                  <a:pt x="9813" y="2064"/>
                  <a:pt x="9810" y="2093"/>
                  <a:pt x="9826" y="2113"/>
                </a:cubicBezTo>
                <a:cubicBezTo>
                  <a:pt x="9836" y="2125"/>
                  <a:pt x="9849" y="2131"/>
                  <a:pt x="9863" y="2131"/>
                </a:cubicBezTo>
                <a:cubicBezTo>
                  <a:pt x="9874" y="2131"/>
                  <a:pt x="9884" y="2127"/>
                  <a:pt x="9893" y="2120"/>
                </a:cubicBezTo>
                <a:cubicBezTo>
                  <a:pt x="9913" y="2104"/>
                  <a:pt x="9916" y="2074"/>
                  <a:pt x="9900" y="2054"/>
                </a:cubicBezTo>
                <a:cubicBezTo>
                  <a:pt x="9890" y="2042"/>
                  <a:pt x="9877" y="2036"/>
                  <a:pt x="9863" y="2036"/>
                </a:cubicBezTo>
                <a:moveTo>
                  <a:pt x="1535" y="1760"/>
                </a:moveTo>
                <a:cubicBezTo>
                  <a:pt x="1523" y="1760"/>
                  <a:pt x="1510" y="1765"/>
                  <a:pt x="1501" y="1775"/>
                </a:cubicBezTo>
                <a:cubicBezTo>
                  <a:pt x="1483" y="1794"/>
                  <a:pt x="1484" y="1824"/>
                  <a:pt x="1503" y="1842"/>
                </a:cubicBezTo>
                <a:cubicBezTo>
                  <a:pt x="1512" y="1850"/>
                  <a:pt x="1524" y="1855"/>
                  <a:pt x="1535" y="1855"/>
                </a:cubicBezTo>
                <a:cubicBezTo>
                  <a:pt x="1548" y="1855"/>
                  <a:pt x="1561" y="1849"/>
                  <a:pt x="1570" y="1840"/>
                </a:cubicBezTo>
                <a:cubicBezTo>
                  <a:pt x="1588" y="1821"/>
                  <a:pt x="1587" y="1791"/>
                  <a:pt x="1568" y="1773"/>
                </a:cubicBezTo>
                <a:cubicBezTo>
                  <a:pt x="1558" y="1764"/>
                  <a:pt x="1547" y="1760"/>
                  <a:pt x="1535" y="1760"/>
                </a:cubicBezTo>
                <a:moveTo>
                  <a:pt x="9615" y="1752"/>
                </a:moveTo>
                <a:cubicBezTo>
                  <a:pt x="9603" y="1752"/>
                  <a:pt x="9591" y="1757"/>
                  <a:pt x="9582" y="1765"/>
                </a:cubicBezTo>
                <a:cubicBezTo>
                  <a:pt x="9563" y="1783"/>
                  <a:pt x="9562" y="1813"/>
                  <a:pt x="9580" y="1832"/>
                </a:cubicBezTo>
                <a:cubicBezTo>
                  <a:pt x="9589" y="1842"/>
                  <a:pt x="9602" y="1847"/>
                  <a:pt x="9615" y="1847"/>
                </a:cubicBezTo>
                <a:cubicBezTo>
                  <a:pt x="9626" y="1847"/>
                  <a:pt x="9638" y="1843"/>
                  <a:pt x="9647" y="1834"/>
                </a:cubicBezTo>
                <a:cubicBezTo>
                  <a:pt x="9666" y="1816"/>
                  <a:pt x="9667" y="1786"/>
                  <a:pt x="9649" y="1767"/>
                </a:cubicBezTo>
                <a:cubicBezTo>
                  <a:pt x="9640" y="1757"/>
                  <a:pt x="9627" y="1752"/>
                  <a:pt x="9615" y="1752"/>
                </a:cubicBezTo>
                <a:moveTo>
                  <a:pt x="1802" y="1493"/>
                </a:moveTo>
                <a:cubicBezTo>
                  <a:pt x="1791" y="1493"/>
                  <a:pt x="1779" y="1497"/>
                  <a:pt x="1770" y="1506"/>
                </a:cubicBezTo>
                <a:cubicBezTo>
                  <a:pt x="1751" y="1524"/>
                  <a:pt x="1750" y="1554"/>
                  <a:pt x="1768" y="1572"/>
                </a:cubicBezTo>
                <a:cubicBezTo>
                  <a:pt x="1777" y="1582"/>
                  <a:pt x="1789" y="1588"/>
                  <a:pt x="1802" y="1588"/>
                </a:cubicBezTo>
                <a:cubicBezTo>
                  <a:pt x="1814" y="1588"/>
                  <a:pt x="1825" y="1583"/>
                  <a:pt x="1835" y="1575"/>
                </a:cubicBezTo>
                <a:cubicBezTo>
                  <a:pt x="1853" y="1557"/>
                  <a:pt x="1855" y="1527"/>
                  <a:pt x="1837" y="1508"/>
                </a:cubicBezTo>
                <a:cubicBezTo>
                  <a:pt x="1827" y="1498"/>
                  <a:pt x="1815" y="1493"/>
                  <a:pt x="1802" y="1493"/>
                </a:cubicBezTo>
                <a:moveTo>
                  <a:pt x="9347" y="1486"/>
                </a:moveTo>
                <a:cubicBezTo>
                  <a:pt x="9335" y="1486"/>
                  <a:pt x="9322" y="1491"/>
                  <a:pt x="9313" y="1501"/>
                </a:cubicBezTo>
                <a:cubicBezTo>
                  <a:pt x="9295" y="1520"/>
                  <a:pt x="9296" y="1550"/>
                  <a:pt x="9315" y="1567"/>
                </a:cubicBezTo>
                <a:cubicBezTo>
                  <a:pt x="9324" y="1576"/>
                  <a:pt x="9336" y="1580"/>
                  <a:pt x="9347" y="1580"/>
                </a:cubicBezTo>
                <a:cubicBezTo>
                  <a:pt x="9360" y="1580"/>
                  <a:pt x="9372" y="1575"/>
                  <a:pt x="9382" y="1565"/>
                </a:cubicBezTo>
                <a:cubicBezTo>
                  <a:pt x="9400" y="1546"/>
                  <a:pt x="9399" y="1516"/>
                  <a:pt x="9379" y="1498"/>
                </a:cubicBezTo>
                <a:cubicBezTo>
                  <a:pt x="9370" y="1490"/>
                  <a:pt x="9359" y="1486"/>
                  <a:pt x="9347" y="1486"/>
                </a:cubicBezTo>
                <a:moveTo>
                  <a:pt x="2086" y="1245"/>
                </a:moveTo>
                <a:cubicBezTo>
                  <a:pt x="2076" y="1245"/>
                  <a:pt x="2065" y="1248"/>
                  <a:pt x="2056" y="1255"/>
                </a:cubicBezTo>
                <a:cubicBezTo>
                  <a:pt x="2056" y="1255"/>
                  <a:pt x="2056" y="1255"/>
                  <a:pt x="2056" y="1255"/>
                </a:cubicBezTo>
                <a:cubicBezTo>
                  <a:pt x="2036" y="1272"/>
                  <a:pt x="2034" y="1301"/>
                  <a:pt x="2050" y="1321"/>
                </a:cubicBezTo>
                <a:cubicBezTo>
                  <a:pt x="2059" y="1333"/>
                  <a:pt x="2073" y="1339"/>
                  <a:pt x="2086" y="1339"/>
                </a:cubicBezTo>
                <a:cubicBezTo>
                  <a:pt x="2097" y="1339"/>
                  <a:pt x="2108" y="1336"/>
                  <a:pt x="2116" y="1328"/>
                </a:cubicBezTo>
                <a:cubicBezTo>
                  <a:pt x="2136" y="1312"/>
                  <a:pt x="2140" y="1282"/>
                  <a:pt x="2123" y="1262"/>
                </a:cubicBezTo>
                <a:cubicBezTo>
                  <a:pt x="2114" y="1251"/>
                  <a:pt x="2100" y="1245"/>
                  <a:pt x="2086" y="1245"/>
                </a:cubicBezTo>
                <a:moveTo>
                  <a:pt x="9063" y="1238"/>
                </a:moveTo>
                <a:cubicBezTo>
                  <a:pt x="9049" y="1238"/>
                  <a:pt x="9035" y="1244"/>
                  <a:pt x="9026" y="1255"/>
                </a:cubicBezTo>
                <a:cubicBezTo>
                  <a:pt x="9009" y="1275"/>
                  <a:pt x="9012" y="1305"/>
                  <a:pt x="9033" y="1321"/>
                </a:cubicBezTo>
                <a:cubicBezTo>
                  <a:pt x="9042" y="1329"/>
                  <a:pt x="9052" y="1332"/>
                  <a:pt x="9062" y="1332"/>
                </a:cubicBezTo>
                <a:cubicBezTo>
                  <a:pt x="9076" y="1332"/>
                  <a:pt x="9090" y="1326"/>
                  <a:pt x="9099" y="1315"/>
                </a:cubicBezTo>
                <a:cubicBezTo>
                  <a:pt x="9116" y="1294"/>
                  <a:pt x="9112" y="1265"/>
                  <a:pt x="9092" y="1248"/>
                </a:cubicBezTo>
                <a:cubicBezTo>
                  <a:pt x="9084" y="1241"/>
                  <a:pt x="9073" y="1238"/>
                  <a:pt x="9063" y="1238"/>
                </a:cubicBezTo>
                <a:moveTo>
                  <a:pt x="2387" y="1016"/>
                </a:moveTo>
                <a:cubicBezTo>
                  <a:pt x="2377" y="1016"/>
                  <a:pt x="2368" y="1019"/>
                  <a:pt x="2359" y="1025"/>
                </a:cubicBezTo>
                <a:cubicBezTo>
                  <a:pt x="2338" y="1040"/>
                  <a:pt x="2333" y="1069"/>
                  <a:pt x="2348" y="1090"/>
                </a:cubicBezTo>
                <a:cubicBezTo>
                  <a:pt x="2357" y="1104"/>
                  <a:pt x="2372" y="1111"/>
                  <a:pt x="2387" y="1111"/>
                </a:cubicBezTo>
                <a:cubicBezTo>
                  <a:pt x="2396" y="1111"/>
                  <a:pt x="2406" y="1108"/>
                  <a:pt x="2414" y="1102"/>
                </a:cubicBezTo>
                <a:cubicBezTo>
                  <a:pt x="2435" y="1087"/>
                  <a:pt x="2440" y="1057"/>
                  <a:pt x="2425" y="1036"/>
                </a:cubicBezTo>
                <a:cubicBezTo>
                  <a:pt x="2416" y="1023"/>
                  <a:pt x="2401" y="1016"/>
                  <a:pt x="2387" y="1016"/>
                </a:cubicBezTo>
                <a:moveTo>
                  <a:pt x="8762" y="1010"/>
                </a:moveTo>
                <a:cubicBezTo>
                  <a:pt x="8747" y="1010"/>
                  <a:pt x="8732" y="1017"/>
                  <a:pt x="8723" y="1030"/>
                </a:cubicBezTo>
                <a:cubicBezTo>
                  <a:pt x="8708" y="1051"/>
                  <a:pt x="8713" y="1080"/>
                  <a:pt x="8734" y="1095"/>
                </a:cubicBezTo>
                <a:cubicBezTo>
                  <a:pt x="8742" y="1101"/>
                  <a:pt x="8752" y="1104"/>
                  <a:pt x="8762" y="1104"/>
                </a:cubicBezTo>
                <a:cubicBezTo>
                  <a:pt x="8776" y="1104"/>
                  <a:pt x="8791" y="1097"/>
                  <a:pt x="8800" y="1084"/>
                </a:cubicBezTo>
                <a:cubicBezTo>
                  <a:pt x="8815" y="1063"/>
                  <a:pt x="8810" y="1033"/>
                  <a:pt x="8789" y="1018"/>
                </a:cubicBezTo>
                <a:cubicBezTo>
                  <a:pt x="8780" y="1012"/>
                  <a:pt x="8771" y="1010"/>
                  <a:pt x="8762" y="1010"/>
                </a:cubicBezTo>
                <a:moveTo>
                  <a:pt x="2702" y="808"/>
                </a:moveTo>
                <a:cubicBezTo>
                  <a:pt x="2693" y="808"/>
                  <a:pt x="2685" y="811"/>
                  <a:pt x="2677" y="815"/>
                </a:cubicBezTo>
                <a:cubicBezTo>
                  <a:pt x="2655" y="829"/>
                  <a:pt x="2648" y="858"/>
                  <a:pt x="2662" y="880"/>
                </a:cubicBezTo>
                <a:cubicBezTo>
                  <a:pt x="2670" y="895"/>
                  <a:pt x="2686" y="903"/>
                  <a:pt x="2702" y="903"/>
                </a:cubicBezTo>
                <a:cubicBezTo>
                  <a:pt x="2710" y="903"/>
                  <a:pt x="2719" y="901"/>
                  <a:pt x="2727" y="896"/>
                </a:cubicBezTo>
                <a:cubicBezTo>
                  <a:pt x="2749" y="882"/>
                  <a:pt x="2756" y="853"/>
                  <a:pt x="2742" y="831"/>
                </a:cubicBezTo>
                <a:cubicBezTo>
                  <a:pt x="2733" y="816"/>
                  <a:pt x="2718" y="808"/>
                  <a:pt x="2702" y="808"/>
                </a:cubicBezTo>
                <a:moveTo>
                  <a:pt x="8446" y="802"/>
                </a:moveTo>
                <a:cubicBezTo>
                  <a:pt x="8430" y="802"/>
                  <a:pt x="8414" y="810"/>
                  <a:pt x="8405" y="825"/>
                </a:cubicBezTo>
                <a:cubicBezTo>
                  <a:pt x="8392" y="847"/>
                  <a:pt x="8399" y="876"/>
                  <a:pt x="8421" y="890"/>
                </a:cubicBezTo>
                <a:cubicBezTo>
                  <a:pt x="8429" y="895"/>
                  <a:pt x="8437" y="897"/>
                  <a:pt x="8446" y="897"/>
                </a:cubicBezTo>
                <a:cubicBezTo>
                  <a:pt x="8462" y="897"/>
                  <a:pt x="8477" y="889"/>
                  <a:pt x="8486" y="874"/>
                </a:cubicBezTo>
                <a:cubicBezTo>
                  <a:pt x="8500" y="852"/>
                  <a:pt x="8492" y="823"/>
                  <a:pt x="8470" y="809"/>
                </a:cubicBezTo>
                <a:cubicBezTo>
                  <a:pt x="8463" y="805"/>
                  <a:pt x="8454" y="802"/>
                  <a:pt x="8446" y="802"/>
                </a:cubicBezTo>
                <a:moveTo>
                  <a:pt x="3030" y="623"/>
                </a:moveTo>
                <a:cubicBezTo>
                  <a:pt x="3023" y="623"/>
                  <a:pt x="3015" y="624"/>
                  <a:pt x="3008" y="628"/>
                </a:cubicBezTo>
                <a:cubicBezTo>
                  <a:pt x="2985" y="640"/>
                  <a:pt x="2976" y="668"/>
                  <a:pt x="2988" y="692"/>
                </a:cubicBezTo>
                <a:cubicBezTo>
                  <a:pt x="2997" y="708"/>
                  <a:pt x="3013" y="717"/>
                  <a:pt x="3030" y="717"/>
                </a:cubicBezTo>
                <a:cubicBezTo>
                  <a:pt x="3038" y="717"/>
                  <a:pt x="3045" y="715"/>
                  <a:pt x="3052" y="712"/>
                </a:cubicBezTo>
                <a:cubicBezTo>
                  <a:pt x="3052" y="712"/>
                  <a:pt x="3052" y="712"/>
                  <a:pt x="3052" y="712"/>
                </a:cubicBezTo>
                <a:cubicBezTo>
                  <a:pt x="3075" y="700"/>
                  <a:pt x="3084" y="671"/>
                  <a:pt x="3072" y="648"/>
                </a:cubicBezTo>
                <a:cubicBezTo>
                  <a:pt x="3064" y="632"/>
                  <a:pt x="3047" y="623"/>
                  <a:pt x="3030" y="623"/>
                </a:cubicBezTo>
                <a:moveTo>
                  <a:pt x="8117" y="617"/>
                </a:moveTo>
                <a:cubicBezTo>
                  <a:pt x="8099" y="617"/>
                  <a:pt x="8083" y="626"/>
                  <a:pt x="8074" y="642"/>
                </a:cubicBezTo>
                <a:cubicBezTo>
                  <a:pt x="8062" y="666"/>
                  <a:pt x="8071" y="694"/>
                  <a:pt x="8094" y="706"/>
                </a:cubicBezTo>
                <a:cubicBezTo>
                  <a:pt x="8095" y="706"/>
                  <a:pt x="8095" y="706"/>
                  <a:pt x="8095" y="706"/>
                </a:cubicBezTo>
                <a:cubicBezTo>
                  <a:pt x="8102" y="710"/>
                  <a:pt x="8109" y="712"/>
                  <a:pt x="8116" y="712"/>
                </a:cubicBezTo>
                <a:cubicBezTo>
                  <a:pt x="8133" y="712"/>
                  <a:pt x="8150" y="702"/>
                  <a:pt x="8158" y="686"/>
                </a:cubicBezTo>
                <a:cubicBezTo>
                  <a:pt x="8170" y="663"/>
                  <a:pt x="8161" y="634"/>
                  <a:pt x="8138" y="622"/>
                </a:cubicBezTo>
                <a:cubicBezTo>
                  <a:pt x="8131" y="619"/>
                  <a:pt x="8124" y="617"/>
                  <a:pt x="8117" y="617"/>
                </a:cubicBezTo>
                <a:moveTo>
                  <a:pt x="3370" y="460"/>
                </a:moveTo>
                <a:cubicBezTo>
                  <a:pt x="3364" y="460"/>
                  <a:pt x="3358" y="461"/>
                  <a:pt x="3351" y="464"/>
                </a:cubicBezTo>
                <a:cubicBezTo>
                  <a:pt x="3328" y="474"/>
                  <a:pt x="3317" y="502"/>
                  <a:pt x="3327" y="526"/>
                </a:cubicBezTo>
                <a:cubicBezTo>
                  <a:pt x="3335" y="544"/>
                  <a:pt x="3352" y="554"/>
                  <a:pt x="3370" y="554"/>
                </a:cubicBezTo>
                <a:cubicBezTo>
                  <a:pt x="3377" y="554"/>
                  <a:pt x="3383" y="553"/>
                  <a:pt x="3389" y="550"/>
                </a:cubicBezTo>
                <a:cubicBezTo>
                  <a:pt x="3413" y="540"/>
                  <a:pt x="3424" y="512"/>
                  <a:pt x="3414" y="488"/>
                </a:cubicBezTo>
                <a:cubicBezTo>
                  <a:pt x="3406" y="470"/>
                  <a:pt x="3389" y="460"/>
                  <a:pt x="3370" y="460"/>
                </a:cubicBezTo>
                <a:moveTo>
                  <a:pt x="7775" y="455"/>
                </a:moveTo>
                <a:cubicBezTo>
                  <a:pt x="7757" y="455"/>
                  <a:pt x="7739" y="465"/>
                  <a:pt x="7732" y="483"/>
                </a:cubicBezTo>
                <a:cubicBezTo>
                  <a:pt x="7721" y="507"/>
                  <a:pt x="7732" y="535"/>
                  <a:pt x="7756" y="545"/>
                </a:cubicBezTo>
                <a:cubicBezTo>
                  <a:pt x="7763" y="548"/>
                  <a:pt x="7769" y="549"/>
                  <a:pt x="7775" y="549"/>
                </a:cubicBezTo>
                <a:cubicBezTo>
                  <a:pt x="7793" y="549"/>
                  <a:pt x="7811" y="538"/>
                  <a:pt x="7819" y="521"/>
                </a:cubicBezTo>
                <a:cubicBezTo>
                  <a:pt x="7829" y="497"/>
                  <a:pt x="7818" y="469"/>
                  <a:pt x="7794" y="458"/>
                </a:cubicBezTo>
                <a:cubicBezTo>
                  <a:pt x="7788" y="456"/>
                  <a:pt x="7782" y="455"/>
                  <a:pt x="7775" y="455"/>
                </a:cubicBezTo>
                <a:moveTo>
                  <a:pt x="3721" y="321"/>
                </a:moveTo>
                <a:cubicBezTo>
                  <a:pt x="3716" y="321"/>
                  <a:pt x="3710" y="321"/>
                  <a:pt x="3705" y="323"/>
                </a:cubicBezTo>
                <a:cubicBezTo>
                  <a:pt x="3680" y="332"/>
                  <a:pt x="3668" y="359"/>
                  <a:pt x="3676" y="384"/>
                </a:cubicBezTo>
                <a:cubicBezTo>
                  <a:pt x="3683" y="403"/>
                  <a:pt x="3701" y="415"/>
                  <a:pt x="3721" y="415"/>
                </a:cubicBezTo>
                <a:cubicBezTo>
                  <a:pt x="3726" y="415"/>
                  <a:pt x="3732" y="414"/>
                  <a:pt x="3737" y="412"/>
                </a:cubicBezTo>
                <a:cubicBezTo>
                  <a:pt x="3761" y="404"/>
                  <a:pt x="3774" y="377"/>
                  <a:pt x="3765" y="352"/>
                </a:cubicBezTo>
                <a:cubicBezTo>
                  <a:pt x="3758" y="333"/>
                  <a:pt x="3740" y="321"/>
                  <a:pt x="3721" y="321"/>
                </a:cubicBezTo>
                <a:moveTo>
                  <a:pt x="7424" y="316"/>
                </a:moveTo>
                <a:cubicBezTo>
                  <a:pt x="7404" y="316"/>
                  <a:pt x="7386" y="328"/>
                  <a:pt x="7379" y="348"/>
                </a:cubicBezTo>
                <a:cubicBezTo>
                  <a:pt x="7370" y="372"/>
                  <a:pt x="7383" y="399"/>
                  <a:pt x="7408" y="408"/>
                </a:cubicBezTo>
                <a:cubicBezTo>
                  <a:pt x="7413" y="410"/>
                  <a:pt x="7418" y="411"/>
                  <a:pt x="7424" y="411"/>
                </a:cubicBezTo>
                <a:cubicBezTo>
                  <a:pt x="7443" y="411"/>
                  <a:pt x="7461" y="399"/>
                  <a:pt x="7468" y="379"/>
                </a:cubicBezTo>
                <a:cubicBezTo>
                  <a:pt x="7477" y="355"/>
                  <a:pt x="7464" y="327"/>
                  <a:pt x="7439" y="319"/>
                </a:cubicBezTo>
                <a:cubicBezTo>
                  <a:pt x="7434" y="317"/>
                  <a:pt x="7429" y="316"/>
                  <a:pt x="7424" y="316"/>
                </a:cubicBezTo>
                <a:moveTo>
                  <a:pt x="4081" y="206"/>
                </a:moveTo>
                <a:cubicBezTo>
                  <a:pt x="4076" y="206"/>
                  <a:pt x="4072" y="207"/>
                  <a:pt x="4068" y="208"/>
                </a:cubicBezTo>
                <a:cubicBezTo>
                  <a:pt x="4067" y="208"/>
                  <a:pt x="4067" y="208"/>
                  <a:pt x="4067" y="208"/>
                </a:cubicBezTo>
                <a:cubicBezTo>
                  <a:pt x="4043" y="215"/>
                  <a:pt x="4028" y="241"/>
                  <a:pt x="4035" y="266"/>
                </a:cubicBezTo>
                <a:cubicBezTo>
                  <a:pt x="4041" y="287"/>
                  <a:pt x="4060" y="300"/>
                  <a:pt x="4080" y="300"/>
                </a:cubicBezTo>
                <a:cubicBezTo>
                  <a:pt x="4084" y="300"/>
                  <a:pt x="4089" y="300"/>
                  <a:pt x="4093" y="299"/>
                </a:cubicBezTo>
                <a:cubicBezTo>
                  <a:pt x="4118" y="292"/>
                  <a:pt x="4133" y="265"/>
                  <a:pt x="4126" y="240"/>
                </a:cubicBezTo>
                <a:cubicBezTo>
                  <a:pt x="4120" y="220"/>
                  <a:pt x="4101" y="206"/>
                  <a:pt x="4081" y="206"/>
                </a:cubicBezTo>
                <a:moveTo>
                  <a:pt x="7064" y="202"/>
                </a:moveTo>
                <a:cubicBezTo>
                  <a:pt x="7043" y="202"/>
                  <a:pt x="7024" y="216"/>
                  <a:pt x="7018" y="237"/>
                </a:cubicBezTo>
                <a:cubicBezTo>
                  <a:pt x="7011" y="262"/>
                  <a:pt x="7026" y="288"/>
                  <a:pt x="7051" y="295"/>
                </a:cubicBezTo>
                <a:cubicBezTo>
                  <a:pt x="7055" y="296"/>
                  <a:pt x="7059" y="297"/>
                  <a:pt x="7064" y="297"/>
                </a:cubicBezTo>
                <a:cubicBezTo>
                  <a:pt x="7084" y="297"/>
                  <a:pt x="7103" y="283"/>
                  <a:pt x="7109" y="262"/>
                </a:cubicBezTo>
                <a:cubicBezTo>
                  <a:pt x="7116" y="237"/>
                  <a:pt x="7101" y="211"/>
                  <a:pt x="7076" y="204"/>
                </a:cubicBezTo>
                <a:cubicBezTo>
                  <a:pt x="7072" y="203"/>
                  <a:pt x="7068" y="202"/>
                  <a:pt x="7064" y="202"/>
                </a:cubicBezTo>
                <a:moveTo>
                  <a:pt x="4447" y="116"/>
                </a:moveTo>
                <a:cubicBezTo>
                  <a:pt x="4444" y="116"/>
                  <a:pt x="4441" y="116"/>
                  <a:pt x="4437" y="117"/>
                </a:cubicBezTo>
                <a:cubicBezTo>
                  <a:pt x="4412" y="123"/>
                  <a:pt x="4396" y="147"/>
                  <a:pt x="4401" y="173"/>
                </a:cubicBezTo>
                <a:cubicBezTo>
                  <a:pt x="4405" y="195"/>
                  <a:pt x="4425" y="211"/>
                  <a:pt x="4447" y="211"/>
                </a:cubicBezTo>
                <a:cubicBezTo>
                  <a:pt x="4450" y="211"/>
                  <a:pt x="4453" y="210"/>
                  <a:pt x="4457" y="210"/>
                </a:cubicBezTo>
                <a:cubicBezTo>
                  <a:pt x="4482" y="204"/>
                  <a:pt x="4498" y="179"/>
                  <a:pt x="4493" y="154"/>
                </a:cubicBezTo>
                <a:cubicBezTo>
                  <a:pt x="4489" y="131"/>
                  <a:pt x="4469" y="116"/>
                  <a:pt x="4447" y="116"/>
                </a:cubicBezTo>
                <a:moveTo>
                  <a:pt x="6697" y="113"/>
                </a:moveTo>
                <a:cubicBezTo>
                  <a:pt x="6675" y="113"/>
                  <a:pt x="6655" y="129"/>
                  <a:pt x="6651" y="151"/>
                </a:cubicBezTo>
                <a:cubicBezTo>
                  <a:pt x="6645" y="177"/>
                  <a:pt x="6662" y="202"/>
                  <a:pt x="6687" y="207"/>
                </a:cubicBezTo>
                <a:cubicBezTo>
                  <a:pt x="6691" y="208"/>
                  <a:pt x="6694" y="208"/>
                  <a:pt x="6697" y="208"/>
                </a:cubicBezTo>
                <a:cubicBezTo>
                  <a:pt x="6719" y="208"/>
                  <a:pt x="6738" y="192"/>
                  <a:pt x="6743" y="170"/>
                </a:cubicBezTo>
                <a:cubicBezTo>
                  <a:pt x="6748" y="145"/>
                  <a:pt x="6732" y="119"/>
                  <a:pt x="6706" y="114"/>
                </a:cubicBezTo>
                <a:cubicBezTo>
                  <a:pt x="6703" y="114"/>
                  <a:pt x="6700" y="113"/>
                  <a:pt x="6697" y="113"/>
                </a:cubicBezTo>
                <a:moveTo>
                  <a:pt x="4819" y="52"/>
                </a:moveTo>
                <a:cubicBezTo>
                  <a:pt x="4817" y="52"/>
                  <a:pt x="4815" y="52"/>
                  <a:pt x="4812" y="52"/>
                </a:cubicBezTo>
                <a:cubicBezTo>
                  <a:pt x="4787" y="56"/>
                  <a:pt x="4769" y="80"/>
                  <a:pt x="4772" y="106"/>
                </a:cubicBezTo>
                <a:cubicBezTo>
                  <a:pt x="4776" y="129"/>
                  <a:pt x="4796" y="146"/>
                  <a:pt x="4819" y="146"/>
                </a:cubicBezTo>
                <a:cubicBezTo>
                  <a:pt x="4821" y="146"/>
                  <a:pt x="4823" y="146"/>
                  <a:pt x="4825" y="146"/>
                </a:cubicBezTo>
                <a:cubicBezTo>
                  <a:pt x="4851" y="142"/>
                  <a:pt x="4869" y="118"/>
                  <a:pt x="4866" y="93"/>
                </a:cubicBezTo>
                <a:cubicBezTo>
                  <a:pt x="4862" y="69"/>
                  <a:pt x="4842" y="52"/>
                  <a:pt x="4819" y="52"/>
                </a:cubicBezTo>
                <a:moveTo>
                  <a:pt x="6325" y="50"/>
                </a:moveTo>
                <a:cubicBezTo>
                  <a:pt x="6301" y="50"/>
                  <a:pt x="6281" y="67"/>
                  <a:pt x="6278" y="91"/>
                </a:cubicBezTo>
                <a:cubicBezTo>
                  <a:pt x="6274" y="117"/>
                  <a:pt x="6292" y="140"/>
                  <a:pt x="6318" y="144"/>
                </a:cubicBezTo>
                <a:cubicBezTo>
                  <a:pt x="6320" y="144"/>
                  <a:pt x="6322" y="144"/>
                  <a:pt x="6325" y="144"/>
                </a:cubicBezTo>
                <a:cubicBezTo>
                  <a:pt x="6348" y="144"/>
                  <a:pt x="6368" y="127"/>
                  <a:pt x="6371" y="104"/>
                </a:cubicBezTo>
                <a:cubicBezTo>
                  <a:pt x="6375" y="77"/>
                  <a:pt x="6357" y="54"/>
                  <a:pt x="6331" y="50"/>
                </a:cubicBezTo>
                <a:cubicBezTo>
                  <a:pt x="6329" y="50"/>
                  <a:pt x="6327" y="50"/>
                  <a:pt x="6325" y="50"/>
                </a:cubicBezTo>
                <a:moveTo>
                  <a:pt x="5195" y="13"/>
                </a:moveTo>
                <a:cubicBezTo>
                  <a:pt x="5194" y="13"/>
                  <a:pt x="5192" y="13"/>
                  <a:pt x="5191" y="13"/>
                </a:cubicBezTo>
                <a:cubicBezTo>
                  <a:pt x="5165" y="15"/>
                  <a:pt x="5146" y="37"/>
                  <a:pt x="5147" y="63"/>
                </a:cubicBezTo>
                <a:cubicBezTo>
                  <a:pt x="5149" y="89"/>
                  <a:pt x="5170" y="107"/>
                  <a:pt x="5194" y="107"/>
                </a:cubicBezTo>
                <a:cubicBezTo>
                  <a:pt x="5196" y="107"/>
                  <a:pt x="5197" y="107"/>
                  <a:pt x="5198" y="107"/>
                </a:cubicBezTo>
                <a:cubicBezTo>
                  <a:pt x="5224" y="106"/>
                  <a:pt x="5243" y="83"/>
                  <a:pt x="5242" y="57"/>
                </a:cubicBezTo>
                <a:cubicBezTo>
                  <a:pt x="5240" y="32"/>
                  <a:pt x="5219" y="13"/>
                  <a:pt x="5195" y="13"/>
                </a:cubicBezTo>
                <a:moveTo>
                  <a:pt x="5949" y="12"/>
                </a:moveTo>
                <a:cubicBezTo>
                  <a:pt x="5924" y="12"/>
                  <a:pt x="5904" y="31"/>
                  <a:pt x="5902" y="56"/>
                </a:cubicBezTo>
                <a:cubicBezTo>
                  <a:pt x="5900" y="82"/>
                  <a:pt x="5920" y="105"/>
                  <a:pt x="5946" y="106"/>
                </a:cubicBezTo>
                <a:cubicBezTo>
                  <a:pt x="5947" y="106"/>
                  <a:pt x="5948" y="106"/>
                  <a:pt x="5949" y="106"/>
                </a:cubicBezTo>
                <a:cubicBezTo>
                  <a:pt x="5974" y="106"/>
                  <a:pt x="5994" y="87"/>
                  <a:pt x="5996" y="62"/>
                </a:cubicBezTo>
                <a:cubicBezTo>
                  <a:pt x="5998" y="37"/>
                  <a:pt x="5978" y="14"/>
                  <a:pt x="5952" y="12"/>
                </a:cubicBezTo>
                <a:cubicBezTo>
                  <a:pt x="5951" y="12"/>
                  <a:pt x="5950" y="12"/>
                  <a:pt x="5949" y="12"/>
                </a:cubicBezTo>
                <a:moveTo>
                  <a:pt x="5572" y="0"/>
                </a:moveTo>
                <a:cubicBezTo>
                  <a:pt x="5546" y="0"/>
                  <a:pt x="5525" y="21"/>
                  <a:pt x="5525" y="47"/>
                </a:cubicBezTo>
                <a:cubicBezTo>
                  <a:pt x="5525" y="73"/>
                  <a:pt x="5546" y="94"/>
                  <a:pt x="5572" y="94"/>
                </a:cubicBezTo>
                <a:cubicBezTo>
                  <a:pt x="5598" y="94"/>
                  <a:pt x="5619" y="73"/>
                  <a:pt x="5619" y="47"/>
                </a:cubicBezTo>
                <a:cubicBezTo>
                  <a:pt x="5619" y="21"/>
                  <a:pt x="5598" y="0"/>
                  <a:pt x="5572" y="0"/>
                </a:cubicBezTo>
              </a:path>
            </a:pathLst>
          </a:custGeom>
          <a:solidFill>
            <a:srgbClr val="3368FF"/>
          </a:solidFill>
          <a:ln>
            <a:noFill/>
          </a:ln>
        </p:spPr>
        <p:txBody>
          <a:bodyPr vert="horz" wrap="square" lIns="0" tIns="0" rIns="0" bIns="0" numCol="1" anchor="t" anchorCtr="0" compatLnSpc="1"/>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589" name="任意多边形: 形状 35"/>
          <p:cNvSpPr>
            <a:spLocks noChangeArrowheads="1"/>
          </p:cNvSpPr>
          <p:nvPr/>
        </p:nvSpPr>
        <p:spPr bwMode="auto">
          <a:xfrm flipH="1">
            <a:off x="5453380" y="2396490"/>
            <a:ext cx="1220470" cy="1226185"/>
          </a:xfrm>
          <a:custGeom>
            <a:avLst/>
            <a:gdLst>
              <a:gd name="connsiteX0" fmla="*/ 2348887 w 4694357"/>
              <a:gd name="connsiteY0" fmla="*/ 4677273 h 4717133"/>
              <a:gd name="connsiteX1" fmla="*/ 2368817 w 4694357"/>
              <a:gd name="connsiteY1" fmla="*/ 4697203 h 4717133"/>
              <a:gd name="connsiteX2" fmla="*/ 2348887 w 4694357"/>
              <a:gd name="connsiteY2" fmla="*/ 4717133 h 4717133"/>
              <a:gd name="connsiteX3" fmla="*/ 2328957 w 4694357"/>
              <a:gd name="connsiteY3" fmla="*/ 4697203 h 4717133"/>
              <a:gd name="connsiteX4" fmla="*/ 2348887 w 4694357"/>
              <a:gd name="connsiteY4" fmla="*/ 4677273 h 4717133"/>
              <a:gd name="connsiteX5" fmla="*/ 2182045 w 4694357"/>
              <a:gd name="connsiteY5" fmla="*/ 4672717 h 4717133"/>
              <a:gd name="connsiteX6" fmla="*/ 2201406 w 4694357"/>
              <a:gd name="connsiteY6" fmla="*/ 4691509 h 4717133"/>
              <a:gd name="connsiteX7" fmla="*/ 2182045 w 4694357"/>
              <a:gd name="connsiteY7" fmla="*/ 4710301 h 4717133"/>
              <a:gd name="connsiteX8" fmla="*/ 2162684 w 4694357"/>
              <a:gd name="connsiteY8" fmla="*/ 4691509 h 4717133"/>
              <a:gd name="connsiteX9" fmla="*/ 2182045 w 4694357"/>
              <a:gd name="connsiteY9" fmla="*/ 4672717 h 4717133"/>
              <a:gd name="connsiteX10" fmla="*/ 2517438 w 4694357"/>
              <a:gd name="connsiteY10" fmla="*/ 4671578 h 4717133"/>
              <a:gd name="connsiteX11" fmla="*/ 2536230 w 4694357"/>
              <a:gd name="connsiteY11" fmla="*/ 4690939 h 4717133"/>
              <a:gd name="connsiteX12" fmla="*/ 2517438 w 4694357"/>
              <a:gd name="connsiteY12" fmla="*/ 4710300 h 4717133"/>
              <a:gd name="connsiteX13" fmla="*/ 2498646 w 4694357"/>
              <a:gd name="connsiteY13" fmla="*/ 4690939 h 4717133"/>
              <a:gd name="connsiteX14" fmla="*/ 2517438 w 4694357"/>
              <a:gd name="connsiteY14" fmla="*/ 4671578 h 4717133"/>
              <a:gd name="connsiteX15" fmla="*/ 2015772 w 4694357"/>
              <a:gd name="connsiteY15" fmla="*/ 4655634 h 4717133"/>
              <a:gd name="connsiteX16" fmla="*/ 2033994 w 4694357"/>
              <a:gd name="connsiteY16" fmla="*/ 4673856 h 4717133"/>
              <a:gd name="connsiteX17" fmla="*/ 2015772 w 4694357"/>
              <a:gd name="connsiteY17" fmla="*/ 4692078 h 4717133"/>
              <a:gd name="connsiteX18" fmla="*/ 1997550 w 4694357"/>
              <a:gd name="connsiteY18" fmla="*/ 4673856 h 4717133"/>
              <a:gd name="connsiteX19" fmla="*/ 2015772 w 4694357"/>
              <a:gd name="connsiteY19" fmla="*/ 4655634 h 4717133"/>
              <a:gd name="connsiteX20" fmla="*/ 2683710 w 4694357"/>
              <a:gd name="connsiteY20" fmla="*/ 4654496 h 4717133"/>
              <a:gd name="connsiteX21" fmla="*/ 2702502 w 4694357"/>
              <a:gd name="connsiteY21" fmla="*/ 4673288 h 4717133"/>
              <a:gd name="connsiteX22" fmla="*/ 2683710 w 4694357"/>
              <a:gd name="connsiteY22" fmla="*/ 4692080 h 4717133"/>
              <a:gd name="connsiteX23" fmla="*/ 2664918 w 4694357"/>
              <a:gd name="connsiteY23" fmla="*/ 4673288 h 4717133"/>
              <a:gd name="connsiteX24" fmla="*/ 2683710 w 4694357"/>
              <a:gd name="connsiteY24" fmla="*/ 4654496 h 4717133"/>
              <a:gd name="connsiteX25" fmla="*/ 1851777 w 4694357"/>
              <a:gd name="connsiteY25" fmla="*/ 4627163 h 4717133"/>
              <a:gd name="connsiteX26" fmla="*/ 1868860 w 4694357"/>
              <a:gd name="connsiteY26" fmla="*/ 4644246 h 4717133"/>
              <a:gd name="connsiteX27" fmla="*/ 1851777 w 4694357"/>
              <a:gd name="connsiteY27" fmla="*/ 4661329 h 4717133"/>
              <a:gd name="connsiteX28" fmla="*/ 1834694 w 4694357"/>
              <a:gd name="connsiteY28" fmla="*/ 4644246 h 4717133"/>
              <a:gd name="connsiteX29" fmla="*/ 1851777 w 4694357"/>
              <a:gd name="connsiteY29" fmla="*/ 4627163 h 4717133"/>
              <a:gd name="connsiteX30" fmla="*/ 2847705 w 4694357"/>
              <a:gd name="connsiteY30" fmla="*/ 4624885 h 4717133"/>
              <a:gd name="connsiteX31" fmla="*/ 2866497 w 4694357"/>
              <a:gd name="connsiteY31" fmla="*/ 4643677 h 4717133"/>
              <a:gd name="connsiteX32" fmla="*/ 2847705 w 4694357"/>
              <a:gd name="connsiteY32" fmla="*/ 4662469 h 4717133"/>
              <a:gd name="connsiteX33" fmla="*/ 2828913 w 4694357"/>
              <a:gd name="connsiteY33" fmla="*/ 4643677 h 4717133"/>
              <a:gd name="connsiteX34" fmla="*/ 2847705 w 4694357"/>
              <a:gd name="connsiteY34" fmla="*/ 4624885 h 4717133"/>
              <a:gd name="connsiteX35" fmla="*/ 1689491 w 4694357"/>
              <a:gd name="connsiteY35" fmla="*/ 4587303 h 4717133"/>
              <a:gd name="connsiteX36" fmla="*/ 1704866 w 4694357"/>
              <a:gd name="connsiteY36" fmla="*/ 4602678 h 4717133"/>
              <a:gd name="connsiteX37" fmla="*/ 1689491 w 4694357"/>
              <a:gd name="connsiteY37" fmla="*/ 4618053 h 4717133"/>
              <a:gd name="connsiteX38" fmla="*/ 1674116 w 4694357"/>
              <a:gd name="connsiteY38" fmla="*/ 4602678 h 4717133"/>
              <a:gd name="connsiteX39" fmla="*/ 1689491 w 4694357"/>
              <a:gd name="connsiteY39" fmla="*/ 4587303 h 4717133"/>
              <a:gd name="connsiteX40" fmla="*/ 3009992 w 4694357"/>
              <a:gd name="connsiteY40" fmla="*/ 4583887 h 4717133"/>
              <a:gd name="connsiteX41" fmla="*/ 3028214 w 4694357"/>
              <a:gd name="connsiteY41" fmla="*/ 4602109 h 4717133"/>
              <a:gd name="connsiteX42" fmla="*/ 3009992 w 4694357"/>
              <a:gd name="connsiteY42" fmla="*/ 4620331 h 4717133"/>
              <a:gd name="connsiteX43" fmla="*/ 2991770 w 4694357"/>
              <a:gd name="connsiteY43" fmla="*/ 4602109 h 4717133"/>
              <a:gd name="connsiteX44" fmla="*/ 3009992 w 4694357"/>
              <a:gd name="connsiteY44" fmla="*/ 4583887 h 4717133"/>
              <a:gd name="connsiteX45" fmla="*/ 2348886 w 4694357"/>
              <a:gd name="connsiteY45" fmla="*/ 4555415 h 4717133"/>
              <a:gd name="connsiteX46" fmla="*/ 2383621 w 4694357"/>
              <a:gd name="connsiteY46" fmla="*/ 4590720 h 4717133"/>
              <a:gd name="connsiteX47" fmla="*/ 2348886 w 4694357"/>
              <a:gd name="connsiteY47" fmla="*/ 4626025 h 4717133"/>
              <a:gd name="connsiteX48" fmla="*/ 2314151 w 4694357"/>
              <a:gd name="connsiteY48" fmla="*/ 4590720 h 4717133"/>
              <a:gd name="connsiteX49" fmla="*/ 2348886 w 4694357"/>
              <a:gd name="connsiteY49" fmla="*/ 4555415 h 4717133"/>
              <a:gd name="connsiteX50" fmla="*/ 2182045 w 4694357"/>
              <a:gd name="connsiteY50" fmla="*/ 4550860 h 4717133"/>
              <a:gd name="connsiteX51" fmla="*/ 2216211 w 4694357"/>
              <a:gd name="connsiteY51" fmla="*/ 4585026 h 4717133"/>
              <a:gd name="connsiteX52" fmla="*/ 2182045 w 4694357"/>
              <a:gd name="connsiteY52" fmla="*/ 4619192 h 4717133"/>
              <a:gd name="connsiteX53" fmla="*/ 2147879 w 4694357"/>
              <a:gd name="connsiteY53" fmla="*/ 4585026 h 4717133"/>
              <a:gd name="connsiteX54" fmla="*/ 2182045 w 4694357"/>
              <a:gd name="connsiteY54" fmla="*/ 4550860 h 4717133"/>
              <a:gd name="connsiteX55" fmla="*/ 2517437 w 4694357"/>
              <a:gd name="connsiteY55" fmla="*/ 4549721 h 4717133"/>
              <a:gd name="connsiteX56" fmla="*/ 2552172 w 4694357"/>
              <a:gd name="connsiteY56" fmla="*/ 4584456 h 4717133"/>
              <a:gd name="connsiteX57" fmla="*/ 2517437 w 4694357"/>
              <a:gd name="connsiteY57" fmla="*/ 4619191 h 4717133"/>
              <a:gd name="connsiteX58" fmla="*/ 2482702 w 4694357"/>
              <a:gd name="connsiteY58" fmla="*/ 4584456 h 4717133"/>
              <a:gd name="connsiteX59" fmla="*/ 2517437 w 4694357"/>
              <a:gd name="connsiteY59" fmla="*/ 4549721 h 4717133"/>
              <a:gd name="connsiteX60" fmla="*/ 1531190 w 4694357"/>
              <a:gd name="connsiteY60" fmla="*/ 4536055 h 4717133"/>
              <a:gd name="connsiteX61" fmla="*/ 1544287 w 4694357"/>
              <a:gd name="connsiteY61" fmla="*/ 4549721 h 4717133"/>
              <a:gd name="connsiteX62" fmla="*/ 1531190 w 4694357"/>
              <a:gd name="connsiteY62" fmla="*/ 4563387 h 4717133"/>
              <a:gd name="connsiteX63" fmla="*/ 1518093 w 4694357"/>
              <a:gd name="connsiteY63" fmla="*/ 4549721 h 4717133"/>
              <a:gd name="connsiteX64" fmla="*/ 1531190 w 4694357"/>
              <a:gd name="connsiteY64" fmla="*/ 4536055 h 4717133"/>
              <a:gd name="connsiteX65" fmla="*/ 2015772 w 4694357"/>
              <a:gd name="connsiteY65" fmla="*/ 4533777 h 4717133"/>
              <a:gd name="connsiteX66" fmla="*/ 2047660 w 4694357"/>
              <a:gd name="connsiteY66" fmla="*/ 4566235 h 4717133"/>
              <a:gd name="connsiteX67" fmla="*/ 2015772 w 4694357"/>
              <a:gd name="connsiteY67" fmla="*/ 4598693 h 4717133"/>
              <a:gd name="connsiteX68" fmla="*/ 1983884 w 4694357"/>
              <a:gd name="connsiteY68" fmla="*/ 4566235 h 4717133"/>
              <a:gd name="connsiteX69" fmla="*/ 2015772 w 4694357"/>
              <a:gd name="connsiteY69" fmla="*/ 4533777 h 4717133"/>
              <a:gd name="connsiteX70" fmla="*/ 3167723 w 4694357"/>
              <a:gd name="connsiteY70" fmla="*/ 4531499 h 4717133"/>
              <a:gd name="connsiteX71" fmla="*/ 3185376 w 4694357"/>
              <a:gd name="connsiteY71" fmla="*/ 4549152 h 4717133"/>
              <a:gd name="connsiteX72" fmla="*/ 3167723 w 4694357"/>
              <a:gd name="connsiteY72" fmla="*/ 4566805 h 4717133"/>
              <a:gd name="connsiteX73" fmla="*/ 3150070 w 4694357"/>
              <a:gd name="connsiteY73" fmla="*/ 4549152 h 4717133"/>
              <a:gd name="connsiteX74" fmla="*/ 3167723 w 4694357"/>
              <a:gd name="connsiteY74" fmla="*/ 4531499 h 4717133"/>
              <a:gd name="connsiteX75" fmla="*/ 2682571 w 4694357"/>
              <a:gd name="connsiteY75" fmla="*/ 4531499 h 4717133"/>
              <a:gd name="connsiteX76" fmla="*/ 2717306 w 4694357"/>
              <a:gd name="connsiteY76" fmla="*/ 4566234 h 4717133"/>
              <a:gd name="connsiteX77" fmla="*/ 2682571 w 4694357"/>
              <a:gd name="connsiteY77" fmla="*/ 4600969 h 4717133"/>
              <a:gd name="connsiteX78" fmla="*/ 2647836 w 4694357"/>
              <a:gd name="connsiteY78" fmla="*/ 4566234 h 4717133"/>
              <a:gd name="connsiteX79" fmla="*/ 2682571 w 4694357"/>
              <a:gd name="connsiteY79" fmla="*/ 4531499 h 4717133"/>
              <a:gd name="connsiteX80" fmla="*/ 1851777 w 4694357"/>
              <a:gd name="connsiteY80" fmla="*/ 4505305 h 4717133"/>
              <a:gd name="connsiteX81" fmla="*/ 1881387 w 4694357"/>
              <a:gd name="connsiteY81" fmla="*/ 4534915 h 4717133"/>
              <a:gd name="connsiteX82" fmla="*/ 1851777 w 4694357"/>
              <a:gd name="connsiteY82" fmla="*/ 4564525 h 4717133"/>
              <a:gd name="connsiteX83" fmla="*/ 1822167 w 4694357"/>
              <a:gd name="connsiteY83" fmla="*/ 4534915 h 4717133"/>
              <a:gd name="connsiteX84" fmla="*/ 1851777 w 4694357"/>
              <a:gd name="connsiteY84" fmla="*/ 4505305 h 4717133"/>
              <a:gd name="connsiteX85" fmla="*/ 2847135 w 4694357"/>
              <a:gd name="connsiteY85" fmla="*/ 4500750 h 4717133"/>
              <a:gd name="connsiteX86" fmla="*/ 2881301 w 4694357"/>
              <a:gd name="connsiteY86" fmla="*/ 4534916 h 4717133"/>
              <a:gd name="connsiteX87" fmla="*/ 2847135 w 4694357"/>
              <a:gd name="connsiteY87" fmla="*/ 4569082 h 4717133"/>
              <a:gd name="connsiteX88" fmla="*/ 2812969 w 4694357"/>
              <a:gd name="connsiteY88" fmla="*/ 4534916 h 4717133"/>
              <a:gd name="connsiteX89" fmla="*/ 2847135 w 4694357"/>
              <a:gd name="connsiteY89" fmla="*/ 4500750 h 4717133"/>
              <a:gd name="connsiteX90" fmla="*/ 2348318 w 4694357"/>
              <a:gd name="connsiteY90" fmla="*/ 4475695 h 4717133"/>
              <a:gd name="connsiteX91" fmla="*/ 2352875 w 4694357"/>
              <a:gd name="connsiteY91" fmla="*/ 4480251 h 4717133"/>
              <a:gd name="connsiteX92" fmla="*/ 2348318 w 4694357"/>
              <a:gd name="connsiteY92" fmla="*/ 4484808 h 4717133"/>
              <a:gd name="connsiteX93" fmla="*/ 2343762 w 4694357"/>
              <a:gd name="connsiteY93" fmla="*/ 4480251 h 4717133"/>
              <a:gd name="connsiteX94" fmla="*/ 2348318 w 4694357"/>
              <a:gd name="connsiteY94" fmla="*/ 4475695 h 4717133"/>
              <a:gd name="connsiteX95" fmla="*/ 1376875 w 4694357"/>
              <a:gd name="connsiteY95" fmla="*/ 4474557 h 4717133"/>
              <a:gd name="connsiteX96" fmla="*/ 1388264 w 4694357"/>
              <a:gd name="connsiteY96" fmla="*/ 4485946 h 4717133"/>
              <a:gd name="connsiteX97" fmla="*/ 1376875 w 4694357"/>
              <a:gd name="connsiteY97" fmla="*/ 4497335 h 4717133"/>
              <a:gd name="connsiteX98" fmla="*/ 1365486 w 4694357"/>
              <a:gd name="connsiteY98" fmla="*/ 4485946 h 4717133"/>
              <a:gd name="connsiteX99" fmla="*/ 1376875 w 4694357"/>
              <a:gd name="connsiteY99" fmla="*/ 4474557 h 4717133"/>
              <a:gd name="connsiteX100" fmla="*/ 2516298 w 4694357"/>
              <a:gd name="connsiteY100" fmla="*/ 4468862 h 4717133"/>
              <a:gd name="connsiteX101" fmla="*/ 2520284 w 4694357"/>
              <a:gd name="connsiteY101" fmla="*/ 4473418 h 4717133"/>
              <a:gd name="connsiteX102" fmla="*/ 2516298 w 4694357"/>
              <a:gd name="connsiteY102" fmla="*/ 4477975 h 4717133"/>
              <a:gd name="connsiteX103" fmla="*/ 2512312 w 4694357"/>
              <a:gd name="connsiteY103" fmla="*/ 4473418 h 4717133"/>
              <a:gd name="connsiteX104" fmla="*/ 2516298 w 4694357"/>
              <a:gd name="connsiteY104" fmla="*/ 4468862 h 4717133"/>
              <a:gd name="connsiteX105" fmla="*/ 3322037 w 4694357"/>
              <a:gd name="connsiteY105" fmla="*/ 4467724 h 4717133"/>
              <a:gd name="connsiteX106" fmla="*/ 3339120 w 4694357"/>
              <a:gd name="connsiteY106" fmla="*/ 4485377 h 4717133"/>
              <a:gd name="connsiteX107" fmla="*/ 3322037 w 4694357"/>
              <a:gd name="connsiteY107" fmla="*/ 4503030 h 4717133"/>
              <a:gd name="connsiteX108" fmla="*/ 3304954 w 4694357"/>
              <a:gd name="connsiteY108" fmla="*/ 4485377 h 4717133"/>
              <a:gd name="connsiteX109" fmla="*/ 3322037 w 4694357"/>
              <a:gd name="connsiteY109" fmla="*/ 4467724 h 4717133"/>
              <a:gd name="connsiteX110" fmla="*/ 2182045 w 4694357"/>
              <a:gd name="connsiteY110" fmla="*/ 4467724 h 4717133"/>
              <a:gd name="connsiteX111" fmla="*/ 2187740 w 4694357"/>
              <a:gd name="connsiteY111" fmla="*/ 4473419 h 4717133"/>
              <a:gd name="connsiteX112" fmla="*/ 2182045 w 4694357"/>
              <a:gd name="connsiteY112" fmla="*/ 4479114 h 4717133"/>
              <a:gd name="connsiteX113" fmla="*/ 2176350 w 4694357"/>
              <a:gd name="connsiteY113" fmla="*/ 4473419 h 4717133"/>
              <a:gd name="connsiteX114" fmla="*/ 2182045 w 4694357"/>
              <a:gd name="connsiteY114" fmla="*/ 4467724 h 4717133"/>
              <a:gd name="connsiteX115" fmla="*/ 1690629 w 4694357"/>
              <a:gd name="connsiteY115" fmla="*/ 4463168 h 4717133"/>
              <a:gd name="connsiteX116" fmla="*/ 1718531 w 4694357"/>
              <a:gd name="connsiteY116" fmla="*/ 4491640 h 4717133"/>
              <a:gd name="connsiteX117" fmla="*/ 1690629 w 4694357"/>
              <a:gd name="connsiteY117" fmla="*/ 4520112 h 4717133"/>
              <a:gd name="connsiteX118" fmla="*/ 1662727 w 4694357"/>
              <a:gd name="connsiteY118" fmla="*/ 4491640 h 4717133"/>
              <a:gd name="connsiteX119" fmla="*/ 1690629 w 4694357"/>
              <a:gd name="connsiteY119" fmla="*/ 4463168 h 4717133"/>
              <a:gd name="connsiteX120" fmla="*/ 3008284 w 4694357"/>
              <a:gd name="connsiteY120" fmla="*/ 4457474 h 4717133"/>
              <a:gd name="connsiteX121" fmla="*/ 3041881 w 4694357"/>
              <a:gd name="connsiteY121" fmla="*/ 4491640 h 4717133"/>
              <a:gd name="connsiteX122" fmla="*/ 3008284 w 4694357"/>
              <a:gd name="connsiteY122" fmla="*/ 4525806 h 4717133"/>
              <a:gd name="connsiteX123" fmla="*/ 2974687 w 4694357"/>
              <a:gd name="connsiteY123" fmla="*/ 4491640 h 4717133"/>
              <a:gd name="connsiteX124" fmla="*/ 3008284 w 4694357"/>
              <a:gd name="connsiteY124" fmla="*/ 4457474 h 4717133"/>
              <a:gd name="connsiteX125" fmla="*/ 2682002 w 4694357"/>
              <a:gd name="connsiteY125" fmla="*/ 4449502 h 4717133"/>
              <a:gd name="connsiteX126" fmla="*/ 2686559 w 4694357"/>
              <a:gd name="connsiteY126" fmla="*/ 4454058 h 4717133"/>
              <a:gd name="connsiteX127" fmla="*/ 2682002 w 4694357"/>
              <a:gd name="connsiteY127" fmla="*/ 4458615 h 4717133"/>
              <a:gd name="connsiteX128" fmla="*/ 2677446 w 4694357"/>
              <a:gd name="connsiteY128" fmla="*/ 4454058 h 4717133"/>
              <a:gd name="connsiteX129" fmla="*/ 2682002 w 4694357"/>
              <a:gd name="connsiteY129" fmla="*/ 4449502 h 4717133"/>
              <a:gd name="connsiteX130" fmla="*/ 2016911 w 4694357"/>
              <a:gd name="connsiteY130" fmla="*/ 4448363 h 4717133"/>
              <a:gd name="connsiteX131" fmla="*/ 2022606 w 4694357"/>
              <a:gd name="connsiteY131" fmla="*/ 4454058 h 4717133"/>
              <a:gd name="connsiteX132" fmla="*/ 2016911 w 4694357"/>
              <a:gd name="connsiteY132" fmla="*/ 4459753 h 4717133"/>
              <a:gd name="connsiteX133" fmla="*/ 2011216 w 4694357"/>
              <a:gd name="connsiteY133" fmla="*/ 4454058 h 4717133"/>
              <a:gd name="connsiteX134" fmla="*/ 2016911 w 4694357"/>
              <a:gd name="connsiteY134" fmla="*/ 4448363 h 4717133"/>
              <a:gd name="connsiteX135" fmla="*/ 2844858 w 4694357"/>
              <a:gd name="connsiteY135" fmla="*/ 4416475 h 4717133"/>
              <a:gd name="connsiteX136" fmla="*/ 2849415 w 4694357"/>
              <a:gd name="connsiteY136" fmla="*/ 4421031 h 4717133"/>
              <a:gd name="connsiteX137" fmla="*/ 2844858 w 4694357"/>
              <a:gd name="connsiteY137" fmla="*/ 4425588 h 4717133"/>
              <a:gd name="connsiteX138" fmla="*/ 2840302 w 4694357"/>
              <a:gd name="connsiteY138" fmla="*/ 4421031 h 4717133"/>
              <a:gd name="connsiteX139" fmla="*/ 2844858 w 4694357"/>
              <a:gd name="connsiteY139" fmla="*/ 4416475 h 4717133"/>
              <a:gd name="connsiteX140" fmla="*/ 1853486 w 4694357"/>
              <a:gd name="connsiteY140" fmla="*/ 4414197 h 4717133"/>
              <a:gd name="connsiteX141" fmla="*/ 1860889 w 4694357"/>
              <a:gd name="connsiteY141" fmla="*/ 4421600 h 4717133"/>
              <a:gd name="connsiteX142" fmla="*/ 1853486 w 4694357"/>
              <a:gd name="connsiteY142" fmla="*/ 4429003 h 4717133"/>
              <a:gd name="connsiteX143" fmla="*/ 1846083 w 4694357"/>
              <a:gd name="connsiteY143" fmla="*/ 4421600 h 4717133"/>
              <a:gd name="connsiteX144" fmla="*/ 1853486 w 4694357"/>
              <a:gd name="connsiteY144" fmla="*/ 4414197 h 4717133"/>
              <a:gd name="connsiteX145" fmla="*/ 1532898 w 4694357"/>
              <a:gd name="connsiteY145" fmla="*/ 4409642 h 4717133"/>
              <a:gd name="connsiteX146" fmla="*/ 1560231 w 4694357"/>
              <a:gd name="connsiteY146" fmla="*/ 4436405 h 4717133"/>
              <a:gd name="connsiteX147" fmla="*/ 1532898 w 4694357"/>
              <a:gd name="connsiteY147" fmla="*/ 4463168 h 4717133"/>
              <a:gd name="connsiteX148" fmla="*/ 1505565 w 4694357"/>
              <a:gd name="connsiteY148" fmla="*/ 4436405 h 4717133"/>
              <a:gd name="connsiteX149" fmla="*/ 1532898 w 4694357"/>
              <a:gd name="connsiteY149" fmla="*/ 4409642 h 4717133"/>
              <a:gd name="connsiteX150" fmla="*/ 3165445 w 4694357"/>
              <a:gd name="connsiteY150" fmla="*/ 4402809 h 4717133"/>
              <a:gd name="connsiteX151" fmla="*/ 3199042 w 4694357"/>
              <a:gd name="connsiteY151" fmla="*/ 4436406 h 4717133"/>
              <a:gd name="connsiteX152" fmla="*/ 3165445 w 4694357"/>
              <a:gd name="connsiteY152" fmla="*/ 4470003 h 4717133"/>
              <a:gd name="connsiteX153" fmla="*/ 3131848 w 4694357"/>
              <a:gd name="connsiteY153" fmla="*/ 4436406 h 4717133"/>
              <a:gd name="connsiteX154" fmla="*/ 3165445 w 4694357"/>
              <a:gd name="connsiteY154" fmla="*/ 4402809 h 4717133"/>
              <a:gd name="connsiteX155" fmla="*/ 1227685 w 4694357"/>
              <a:gd name="connsiteY155" fmla="*/ 4401670 h 4717133"/>
              <a:gd name="connsiteX156" fmla="*/ 1236796 w 4694357"/>
              <a:gd name="connsiteY156" fmla="*/ 4410781 h 4717133"/>
              <a:gd name="connsiteX157" fmla="*/ 1227685 w 4694357"/>
              <a:gd name="connsiteY157" fmla="*/ 4419892 h 4717133"/>
              <a:gd name="connsiteX158" fmla="*/ 1218574 w 4694357"/>
              <a:gd name="connsiteY158" fmla="*/ 4410781 h 4717133"/>
              <a:gd name="connsiteX159" fmla="*/ 1227685 w 4694357"/>
              <a:gd name="connsiteY159" fmla="*/ 4401670 h 4717133"/>
              <a:gd name="connsiteX160" fmla="*/ 3471227 w 4694357"/>
              <a:gd name="connsiteY160" fmla="*/ 4393698 h 4717133"/>
              <a:gd name="connsiteX161" fmla="*/ 3487171 w 4694357"/>
              <a:gd name="connsiteY161" fmla="*/ 4410212 h 4717133"/>
              <a:gd name="connsiteX162" fmla="*/ 3471227 w 4694357"/>
              <a:gd name="connsiteY162" fmla="*/ 4426726 h 4717133"/>
              <a:gd name="connsiteX163" fmla="*/ 3455283 w 4694357"/>
              <a:gd name="connsiteY163" fmla="*/ 4410212 h 4717133"/>
              <a:gd name="connsiteX164" fmla="*/ 3471227 w 4694357"/>
              <a:gd name="connsiteY164" fmla="*/ 4393698 h 4717133"/>
              <a:gd name="connsiteX165" fmla="*/ 3005437 w 4694357"/>
              <a:gd name="connsiteY165" fmla="*/ 4372060 h 4717133"/>
              <a:gd name="connsiteX166" fmla="*/ 3009994 w 4694357"/>
              <a:gd name="connsiteY166" fmla="*/ 4376046 h 4717133"/>
              <a:gd name="connsiteX167" fmla="*/ 3005437 w 4694357"/>
              <a:gd name="connsiteY167" fmla="*/ 4380032 h 4717133"/>
              <a:gd name="connsiteX168" fmla="*/ 3000881 w 4694357"/>
              <a:gd name="connsiteY168" fmla="*/ 4376046 h 4717133"/>
              <a:gd name="connsiteX169" fmla="*/ 3005437 w 4694357"/>
              <a:gd name="connsiteY169" fmla="*/ 4372060 h 4717133"/>
              <a:gd name="connsiteX170" fmla="*/ 1692908 w 4694357"/>
              <a:gd name="connsiteY170" fmla="*/ 4367504 h 4717133"/>
              <a:gd name="connsiteX171" fmla="*/ 1701450 w 4694357"/>
              <a:gd name="connsiteY171" fmla="*/ 4376615 h 4717133"/>
              <a:gd name="connsiteX172" fmla="*/ 1692908 w 4694357"/>
              <a:gd name="connsiteY172" fmla="*/ 4385726 h 4717133"/>
              <a:gd name="connsiteX173" fmla="*/ 1684366 w 4694357"/>
              <a:gd name="connsiteY173" fmla="*/ 4376615 h 4717133"/>
              <a:gd name="connsiteX174" fmla="*/ 1692908 w 4694357"/>
              <a:gd name="connsiteY174" fmla="*/ 4367504 h 4717133"/>
              <a:gd name="connsiteX175" fmla="*/ 2348888 w 4694357"/>
              <a:gd name="connsiteY175" fmla="*/ 4356116 h 4717133"/>
              <a:gd name="connsiteX176" fmla="*/ 2366541 w 4694357"/>
              <a:gd name="connsiteY176" fmla="*/ 4373769 h 4717133"/>
              <a:gd name="connsiteX177" fmla="*/ 2348888 w 4694357"/>
              <a:gd name="connsiteY177" fmla="*/ 4391422 h 4717133"/>
              <a:gd name="connsiteX178" fmla="*/ 2331235 w 4694357"/>
              <a:gd name="connsiteY178" fmla="*/ 4373769 h 4717133"/>
              <a:gd name="connsiteX179" fmla="*/ 2348888 w 4694357"/>
              <a:gd name="connsiteY179" fmla="*/ 4356116 h 4717133"/>
              <a:gd name="connsiteX180" fmla="*/ 2182044 w 4694357"/>
              <a:gd name="connsiteY180" fmla="*/ 4350421 h 4717133"/>
              <a:gd name="connsiteX181" fmla="*/ 2197988 w 4694357"/>
              <a:gd name="connsiteY181" fmla="*/ 4366935 h 4717133"/>
              <a:gd name="connsiteX182" fmla="*/ 2182044 w 4694357"/>
              <a:gd name="connsiteY182" fmla="*/ 4383449 h 4717133"/>
              <a:gd name="connsiteX183" fmla="*/ 2166100 w 4694357"/>
              <a:gd name="connsiteY183" fmla="*/ 4366935 h 4717133"/>
              <a:gd name="connsiteX184" fmla="*/ 2182044 w 4694357"/>
              <a:gd name="connsiteY184" fmla="*/ 4350421 h 4717133"/>
              <a:gd name="connsiteX185" fmla="*/ 2516299 w 4694357"/>
              <a:gd name="connsiteY185" fmla="*/ 4349283 h 4717133"/>
              <a:gd name="connsiteX186" fmla="*/ 2533952 w 4694357"/>
              <a:gd name="connsiteY186" fmla="*/ 4366936 h 4717133"/>
              <a:gd name="connsiteX187" fmla="*/ 2516299 w 4694357"/>
              <a:gd name="connsiteY187" fmla="*/ 4384589 h 4717133"/>
              <a:gd name="connsiteX188" fmla="*/ 2498646 w 4694357"/>
              <a:gd name="connsiteY188" fmla="*/ 4366936 h 4717133"/>
              <a:gd name="connsiteX189" fmla="*/ 2516299 w 4694357"/>
              <a:gd name="connsiteY189" fmla="*/ 4349283 h 4717133"/>
              <a:gd name="connsiteX190" fmla="*/ 1380292 w 4694357"/>
              <a:gd name="connsiteY190" fmla="*/ 4343588 h 4717133"/>
              <a:gd name="connsiteX191" fmla="*/ 1406486 w 4694357"/>
              <a:gd name="connsiteY191" fmla="*/ 4369782 h 4717133"/>
              <a:gd name="connsiteX192" fmla="*/ 1380292 w 4694357"/>
              <a:gd name="connsiteY192" fmla="*/ 4395976 h 4717133"/>
              <a:gd name="connsiteX193" fmla="*/ 1354098 w 4694357"/>
              <a:gd name="connsiteY193" fmla="*/ 4369782 h 4717133"/>
              <a:gd name="connsiteX194" fmla="*/ 1380292 w 4694357"/>
              <a:gd name="connsiteY194" fmla="*/ 4343588 h 4717133"/>
              <a:gd name="connsiteX195" fmla="*/ 3318621 w 4694357"/>
              <a:gd name="connsiteY195" fmla="*/ 4335617 h 4717133"/>
              <a:gd name="connsiteX196" fmla="*/ 3351648 w 4694357"/>
              <a:gd name="connsiteY196" fmla="*/ 4369214 h 4717133"/>
              <a:gd name="connsiteX197" fmla="*/ 3318621 w 4694357"/>
              <a:gd name="connsiteY197" fmla="*/ 4402811 h 4717133"/>
              <a:gd name="connsiteX198" fmla="*/ 3285594 w 4694357"/>
              <a:gd name="connsiteY198" fmla="*/ 4369214 h 4717133"/>
              <a:gd name="connsiteX199" fmla="*/ 3318621 w 4694357"/>
              <a:gd name="connsiteY199" fmla="*/ 4335617 h 4717133"/>
              <a:gd name="connsiteX200" fmla="*/ 2016910 w 4694357"/>
              <a:gd name="connsiteY200" fmla="*/ 4331061 h 4717133"/>
              <a:gd name="connsiteX201" fmla="*/ 2031715 w 4694357"/>
              <a:gd name="connsiteY201" fmla="*/ 4346436 h 4717133"/>
              <a:gd name="connsiteX202" fmla="*/ 2016910 w 4694357"/>
              <a:gd name="connsiteY202" fmla="*/ 4361811 h 4717133"/>
              <a:gd name="connsiteX203" fmla="*/ 2002105 w 4694357"/>
              <a:gd name="connsiteY203" fmla="*/ 4346436 h 4717133"/>
              <a:gd name="connsiteX204" fmla="*/ 2016910 w 4694357"/>
              <a:gd name="connsiteY204" fmla="*/ 4331061 h 4717133"/>
              <a:gd name="connsiteX205" fmla="*/ 2681433 w 4694357"/>
              <a:gd name="connsiteY205" fmla="*/ 4328783 h 4717133"/>
              <a:gd name="connsiteX206" fmla="*/ 2699086 w 4694357"/>
              <a:gd name="connsiteY206" fmla="*/ 4346436 h 4717133"/>
              <a:gd name="connsiteX207" fmla="*/ 2681433 w 4694357"/>
              <a:gd name="connsiteY207" fmla="*/ 4364089 h 4717133"/>
              <a:gd name="connsiteX208" fmla="*/ 2663780 w 4694357"/>
              <a:gd name="connsiteY208" fmla="*/ 4346436 h 4717133"/>
              <a:gd name="connsiteX209" fmla="*/ 2681433 w 4694357"/>
              <a:gd name="connsiteY209" fmla="*/ 4328783 h 4717133"/>
              <a:gd name="connsiteX210" fmla="*/ 1084189 w 4694357"/>
              <a:gd name="connsiteY210" fmla="*/ 4318533 h 4717133"/>
              <a:gd name="connsiteX211" fmla="*/ 1091022 w 4694357"/>
              <a:gd name="connsiteY211" fmla="*/ 4325366 h 4717133"/>
              <a:gd name="connsiteX212" fmla="*/ 1084189 w 4694357"/>
              <a:gd name="connsiteY212" fmla="*/ 4332199 h 4717133"/>
              <a:gd name="connsiteX213" fmla="*/ 1077356 w 4694357"/>
              <a:gd name="connsiteY213" fmla="*/ 4325366 h 4717133"/>
              <a:gd name="connsiteX214" fmla="*/ 1084189 w 4694357"/>
              <a:gd name="connsiteY214" fmla="*/ 4318533 h 4717133"/>
              <a:gd name="connsiteX215" fmla="*/ 3162028 w 4694357"/>
              <a:gd name="connsiteY215" fmla="*/ 4313978 h 4717133"/>
              <a:gd name="connsiteX216" fmla="*/ 3166014 w 4694357"/>
              <a:gd name="connsiteY216" fmla="*/ 4318534 h 4717133"/>
              <a:gd name="connsiteX217" fmla="*/ 3162028 w 4694357"/>
              <a:gd name="connsiteY217" fmla="*/ 4323091 h 4717133"/>
              <a:gd name="connsiteX218" fmla="*/ 3158042 w 4694357"/>
              <a:gd name="connsiteY218" fmla="*/ 4318534 h 4717133"/>
              <a:gd name="connsiteX219" fmla="*/ 3162028 w 4694357"/>
              <a:gd name="connsiteY219" fmla="*/ 4313978 h 4717133"/>
              <a:gd name="connsiteX220" fmla="*/ 3614723 w 4694357"/>
              <a:gd name="connsiteY220" fmla="*/ 4309423 h 4717133"/>
              <a:gd name="connsiteX221" fmla="*/ 3629528 w 4694357"/>
              <a:gd name="connsiteY221" fmla="*/ 4324798 h 4717133"/>
              <a:gd name="connsiteX222" fmla="*/ 3614723 w 4694357"/>
              <a:gd name="connsiteY222" fmla="*/ 4340173 h 4717133"/>
              <a:gd name="connsiteX223" fmla="*/ 3599918 w 4694357"/>
              <a:gd name="connsiteY223" fmla="*/ 4324798 h 4717133"/>
              <a:gd name="connsiteX224" fmla="*/ 3614723 w 4694357"/>
              <a:gd name="connsiteY224" fmla="*/ 4309423 h 4717133"/>
              <a:gd name="connsiteX225" fmla="*/ 1536885 w 4694357"/>
              <a:gd name="connsiteY225" fmla="*/ 4307145 h 4717133"/>
              <a:gd name="connsiteX226" fmla="*/ 1547705 w 4694357"/>
              <a:gd name="connsiteY226" fmla="*/ 4317965 h 4717133"/>
              <a:gd name="connsiteX227" fmla="*/ 1536885 w 4694357"/>
              <a:gd name="connsiteY227" fmla="*/ 4328785 h 4717133"/>
              <a:gd name="connsiteX228" fmla="*/ 1526065 w 4694357"/>
              <a:gd name="connsiteY228" fmla="*/ 4317965 h 4717133"/>
              <a:gd name="connsiteX229" fmla="*/ 1536885 w 4694357"/>
              <a:gd name="connsiteY229" fmla="*/ 4307145 h 4717133"/>
              <a:gd name="connsiteX230" fmla="*/ 1854054 w 4694357"/>
              <a:gd name="connsiteY230" fmla="*/ 4298034 h 4717133"/>
              <a:gd name="connsiteX231" fmla="*/ 1867720 w 4694357"/>
              <a:gd name="connsiteY231" fmla="*/ 4312270 h 4717133"/>
              <a:gd name="connsiteX232" fmla="*/ 1854054 w 4694357"/>
              <a:gd name="connsiteY232" fmla="*/ 4326506 h 4717133"/>
              <a:gd name="connsiteX233" fmla="*/ 1840388 w 4694357"/>
              <a:gd name="connsiteY233" fmla="*/ 4312270 h 4717133"/>
              <a:gd name="connsiteX234" fmla="*/ 1854054 w 4694357"/>
              <a:gd name="connsiteY234" fmla="*/ 4298034 h 4717133"/>
              <a:gd name="connsiteX235" fmla="*/ 2844858 w 4694357"/>
              <a:gd name="connsiteY235" fmla="*/ 4293479 h 4717133"/>
              <a:gd name="connsiteX236" fmla="*/ 2863080 w 4694357"/>
              <a:gd name="connsiteY236" fmla="*/ 4311701 h 4717133"/>
              <a:gd name="connsiteX237" fmla="*/ 2844858 w 4694357"/>
              <a:gd name="connsiteY237" fmla="*/ 4329923 h 4717133"/>
              <a:gd name="connsiteX238" fmla="*/ 2826636 w 4694357"/>
              <a:gd name="connsiteY238" fmla="*/ 4311701 h 4717133"/>
              <a:gd name="connsiteX239" fmla="*/ 2844858 w 4694357"/>
              <a:gd name="connsiteY239" fmla="*/ 4293479 h 4717133"/>
              <a:gd name="connsiteX240" fmla="*/ 1232810 w 4694357"/>
              <a:gd name="connsiteY240" fmla="*/ 4266146 h 4717133"/>
              <a:gd name="connsiteX241" fmla="*/ 1258435 w 4694357"/>
              <a:gd name="connsiteY241" fmla="*/ 4291771 h 4717133"/>
              <a:gd name="connsiteX242" fmla="*/ 1232810 w 4694357"/>
              <a:gd name="connsiteY242" fmla="*/ 4317396 h 4717133"/>
              <a:gd name="connsiteX243" fmla="*/ 1207185 w 4694357"/>
              <a:gd name="connsiteY243" fmla="*/ 4291771 h 4717133"/>
              <a:gd name="connsiteX244" fmla="*/ 1232810 w 4694357"/>
              <a:gd name="connsiteY244" fmla="*/ 4266146 h 4717133"/>
              <a:gd name="connsiteX245" fmla="*/ 3466103 w 4694357"/>
              <a:gd name="connsiteY245" fmla="*/ 4258174 h 4717133"/>
              <a:gd name="connsiteX246" fmla="*/ 3498561 w 4694357"/>
              <a:gd name="connsiteY246" fmla="*/ 4290632 h 4717133"/>
              <a:gd name="connsiteX247" fmla="*/ 3466103 w 4694357"/>
              <a:gd name="connsiteY247" fmla="*/ 4323090 h 4717133"/>
              <a:gd name="connsiteX248" fmla="*/ 3433645 w 4694357"/>
              <a:gd name="connsiteY248" fmla="*/ 4290632 h 4717133"/>
              <a:gd name="connsiteX249" fmla="*/ 3466103 w 4694357"/>
              <a:gd name="connsiteY249" fmla="*/ 4258174 h 4717133"/>
              <a:gd name="connsiteX250" fmla="*/ 1694046 w 4694357"/>
              <a:gd name="connsiteY250" fmla="*/ 4252480 h 4717133"/>
              <a:gd name="connsiteX251" fmla="*/ 1706004 w 4694357"/>
              <a:gd name="connsiteY251" fmla="*/ 4264438 h 4717133"/>
              <a:gd name="connsiteX252" fmla="*/ 1694046 w 4694357"/>
              <a:gd name="connsiteY252" fmla="*/ 4276396 h 4717133"/>
              <a:gd name="connsiteX253" fmla="*/ 1682088 w 4694357"/>
              <a:gd name="connsiteY253" fmla="*/ 4264438 h 4717133"/>
              <a:gd name="connsiteX254" fmla="*/ 1694046 w 4694357"/>
              <a:gd name="connsiteY254" fmla="*/ 4252480 h 4717133"/>
              <a:gd name="connsiteX255" fmla="*/ 3004867 w 4694357"/>
              <a:gd name="connsiteY255" fmla="*/ 4246786 h 4717133"/>
              <a:gd name="connsiteX256" fmla="*/ 3022520 w 4694357"/>
              <a:gd name="connsiteY256" fmla="*/ 4264439 h 4717133"/>
              <a:gd name="connsiteX257" fmla="*/ 3004867 w 4694357"/>
              <a:gd name="connsiteY257" fmla="*/ 4282092 h 4717133"/>
              <a:gd name="connsiteX258" fmla="*/ 2987214 w 4694357"/>
              <a:gd name="connsiteY258" fmla="*/ 4264439 h 4717133"/>
              <a:gd name="connsiteX259" fmla="*/ 3004867 w 4694357"/>
              <a:gd name="connsiteY259" fmla="*/ 4246786 h 4717133"/>
              <a:gd name="connsiteX260" fmla="*/ 3313496 w 4694357"/>
              <a:gd name="connsiteY260" fmla="*/ 4244508 h 4717133"/>
              <a:gd name="connsiteX261" fmla="*/ 3317482 w 4694357"/>
              <a:gd name="connsiteY261" fmla="*/ 4248494 h 4717133"/>
              <a:gd name="connsiteX262" fmla="*/ 3313496 w 4694357"/>
              <a:gd name="connsiteY262" fmla="*/ 4252480 h 4717133"/>
              <a:gd name="connsiteX263" fmla="*/ 3309510 w 4694357"/>
              <a:gd name="connsiteY263" fmla="*/ 4248494 h 4717133"/>
              <a:gd name="connsiteX264" fmla="*/ 3313496 w 4694357"/>
              <a:gd name="connsiteY264" fmla="*/ 4244508 h 4717133"/>
              <a:gd name="connsiteX265" fmla="*/ 1385417 w 4694357"/>
              <a:gd name="connsiteY265" fmla="*/ 4235397 h 4717133"/>
              <a:gd name="connsiteX266" fmla="*/ 1398514 w 4694357"/>
              <a:gd name="connsiteY266" fmla="*/ 4248494 h 4717133"/>
              <a:gd name="connsiteX267" fmla="*/ 1385417 w 4694357"/>
              <a:gd name="connsiteY267" fmla="*/ 4261591 h 4717133"/>
              <a:gd name="connsiteX268" fmla="*/ 1372320 w 4694357"/>
              <a:gd name="connsiteY268" fmla="*/ 4248494 h 4717133"/>
              <a:gd name="connsiteX269" fmla="*/ 1385417 w 4694357"/>
              <a:gd name="connsiteY269" fmla="*/ 4235397 h 4717133"/>
              <a:gd name="connsiteX270" fmla="*/ 946958 w 4694357"/>
              <a:gd name="connsiteY270" fmla="*/ 4225147 h 4717133"/>
              <a:gd name="connsiteX271" fmla="*/ 952083 w 4694357"/>
              <a:gd name="connsiteY271" fmla="*/ 4230272 h 4717133"/>
              <a:gd name="connsiteX272" fmla="*/ 946958 w 4694357"/>
              <a:gd name="connsiteY272" fmla="*/ 4235397 h 4717133"/>
              <a:gd name="connsiteX273" fmla="*/ 941833 w 4694357"/>
              <a:gd name="connsiteY273" fmla="*/ 4230272 h 4717133"/>
              <a:gd name="connsiteX274" fmla="*/ 946958 w 4694357"/>
              <a:gd name="connsiteY274" fmla="*/ 4225147 h 4717133"/>
              <a:gd name="connsiteX275" fmla="*/ 3751385 w 4694357"/>
              <a:gd name="connsiteY275" fmla="*/ 4214898 h 4717133"/>
              <a:gd name="connsiteX276" fmla="*/ 3765051 w 4694357"/>
              <a:gd name="connsiteY276" fmla="*/ 4229134 h 4717133"/>
              <a:gd name="connsiteX277" fmla="*/ 3751385 w 4694357"/>
              <a:gd name="connsiteY277" fmla="*/ 4243370 h 4717133"/>
              <a:gd name="connsiteX278" fmla="*/ 3737719 w 4694357"/>
              <a:gd name="connsiteY278" fmla="*/ 4229134 h 4717133"/>
              <a:gd name="connsiteX279" fmla="*/ 3751385 w 4694357"/>
              <a:gd name="connsiteY279" fmla="*/ 4214898 h 4717133"/>
              <a:gd name="connsiteX280" fmla="*/ 1539162 w 4694357"/>
              <a:gd name="connsiteY280" fmla="*/ 4194399 h 4717133"/>
              <a:gd name="connsiteX281" fmla="*/ 1548843 w 4694357"/>
              <a:gd name="connsiteY281" fmla="*/ 4204080 h 4717133"/>
              <a:gd name="connsiteX282" fmla="*/ 1539162 w 4694357"/>
              <a:gd name="connsiteY282" fmla="*/ 4213761 h 4717133"/>
              <a:gd name="connsiteX283" fmla="*/ 1529481 w 4694357"/>
              <a:gd name="connsiteY283" fmla="*/ 4204080 h 4717133"/>
              <a:gd name="connsiteX284" fmla="*/ 1539162 w 4694357"/>
              <a:gd name="connsiteY284" fmla="*/ 4194399 h 4717133"/>
              <a:gd name="connsiteX285" fmla="*/ 3159181 w 4694357"/>
              <a:gd name="connsiteY285" fmla="*/ 4186426 h 4717133"/>
              <a:gd name="connsiteX286" fmla="*/ 3176264 w 4694357"/>
              <a:gd name="connsiteY286" fmla="*/ 4204079 h 4717133"/>
              <a:gd name="connsiteX287" fmla="*/ 3159181 w 4694357"/>
              <a:gd name="connsiteY287" fmla="*/ 4221732 h 4717133"/>
              <a:gd name="connsiteX288" fmla="*/ 3142098 w 4694357"/>
              <a:gd name="connsiteY288" fmla="*/ 4204079 h 4717133"/>
              <a:gd name="connsiteX289" fmla="*/ 3159181 w 4694357"/>
              <a:gd name="connsiteY289" fmla="*/ 4186426 h 4717133"/>
              <a:gd name="connsiteX290" fmla="*/ 1091593 w 4694357"/>
              <a:gd name="connsiteY290" fmla="*/ 4178455 h 4717133"/>
              <a:gd name="connsiteX291" fmla="*/ 1116079 w 4694357"/>
              <a:gd name="connsiteY291" fmla="*/ 4202941 h 4717133"/>
              <a:gd name="connsiteX292" fmla="*/ 1091593 w 4694357"/>
              <a:gd name="connsiteY292" fmla="*/ 4227427 h 4717133"/>
              <a:gd name="connsiteX293" fmla="*/ 1067107 w 4694357"/>
              <a:gd name="connsiteY293" fmla="*/ 4202941 h 4717133"/>
              <a:gd name="connsiteX294" fmla="*/ 1091593 w 4694357"/>
              <a:gd name="connsiteY294" fmla="*/ 4178455 h 4717133"/>
              <a:gd name="connsiteX295" fmla="*/ 3607320 w 4694357"/>
              <a:gd name="connsiteY295" fmla="*/ 4170482 h 4717133"/>
              <a:gd name="connsiteX296" fmla="*/ 3638639 w 4694357"/>
              <a:gd name="connsiteY296" fmla="*/ 4201801 h 4717133"/>
              <a:gd name="connsiteX297" fmla="*/ 3607320 w 4694357"/>
              <a:gd name="connsiteY297" fmla="*/ 4233120 h 4717133"/>
              <a:gd name="connsiteX298" fmla="*/ 3576001 w 4694357"/>
              <a:gd name="connsiteY298" fmla="*/ 4201801 h 4717133"/>
              <a:gd name="connsiteX299" fmla="*/ 3607320 w 4694357"/>
              <a:gd name="connsiteY299" fmla="*/ 4170482 h 4717133"/>
              <a:gd name="connsiteX300" fmla="*/ 3458130 w 4694357"/>
              <a:gd name="connsiteY300" fmla="*/ 4162511 h 4717133"/>
              <a:gd name="connsiteX301" fmla="*/ 3462116 w 4694357"/>
              <a:gd name="connsiteY301" fmla="*/ 4166497 h 4717133"/>
              <a:gd name="connsiteX302" fmla="*/ 3458130 w 4694357"/>
              <a:gd name="connsiteY302" fmla="*/ 4170483 h 4717133"/>
              <a:gd name="connsiteX303" fmla="*/ 3454144 w 4694357"/>
              <a:gd name="connsiteY303" fmla="*/ 4166497 h 4717133"/>
              <a:gd name="connsiteX304" fmla="*/ 3458130 w 4694357"/>
              <a:gd name="connsiteY304" fmla="*/ 4162511 h 4717133"/>
              <a:gd name="connsiteX305" fmla="*/ 1240212 w 4694357"/>
              <a:gd name="connsiteY305" fmla="*/ 4152261 h 4717133"/>
              <a:gd name="connsiteX306" fmla="*/ 1255017 w 4694357"/>
              <a:gd name="connsiteY306" fmla="*/ 4167066 h 4717133"/>
              <a:gd name="connsiteX307" fmla="*/ 1240212 w 4694357"/>
              <a:gd name="connsiteY307" fmla="*/ 4181871 h 4717133"/>
              <a:gd name="connsiteX308" fmla="*/ 1225407 w 4694357"/>
              <a:gd name="connsiteY308" fmla="*/ 4167066 h 4717133"/>
              <a:gd name="connsiteX309" fmla="*/ 1240212 w 4694357"/>
              <a:gd name="connsiteY309" fmla="*/ 4152261 h 4717133"/>
              <a:gd name="connsiteX310" fmla="*/ 1389402 w 4694357"/>
              <a:gd name="connsiteY310" fmla="*/ 4122651 h 4717133"/>
              <a:gd name="connsiteX311" fmla="*/ 1397374 w 4694357"/>
              <a:gd name="connsiteY311" fmla="*/ 4130623 h 4717133"/>
              <a:gd name="connsiteX312" fmla="*/ 1389402 w 4694357"/>
              <a:gd name="connsiteY312" fmla="*/ 4138595 h 4717133"/>
              <a:gd name="connsiteX313" fmla="*/ 1381430 w 4694357"/>
              <a:gd name="connsiteY313" fmla="*/ 4130623 h 4717133"/>
              <a:gd name="connsiteX314" fmla="*/ 1389402 w 4694357"/>
              <a:gd name="connsiteY314" fmla="*/ 4122651 h 4717133"/>
              <a:gd name="connsiteX315" fmla="*/ 817128 w 4694357"/>
              <a:gd name="connsiteY315" fmla="*/ 4121512 h 4717133"/>
              <a:gd name="connsiteX316" fmla="*/ 821114 w 4694357"/>
              <a:gd name="connsiteY316" fmla="*/ 4125498 h 4717133"/>
              <a:gd name="connsiteX317" fmla="*/ 817128 w 4694357"/>
              <a:gd name="connsiteY317" fmla="*/ 4129484 h 4717133"/>
              <a:gd name="connsiteX318" fmla="*/ 813142 w 4694357"/>
              <a:gd name="connsiteY318" fmla="*/ 4125498 h 4717133"/>
              <a:gd name="connsiteX319" fmla="*/ 817128 w 4694357"/>
              <a:gd name="connsiteY319" fmla="*/ 4121512 h 4717133"/>
              <a:gd name="connsiteX320" fmla="*/ 3308941 w 4694357"/>
              <a:gd name="connsiteY320" fmla="*/ 4113540 h 4717133"/>
              <a:gd name="connsiteX321" fmla="*/ 3325455 w 4694357"/>
              <a:gd name="connsiteY321" fmla="*/ 4130054 h 4717133"/>
              <a:gd name="connsiteX322" fmla="*/ 3308941 w 4694357"/>
              <a:gd name="connsiteY322" fmla="*/ 4146568 h 4717133"/>
              <a:gd name="connsiteX323" fmla="*/ 3292427 w 4694357"/>
              <a:gd name="connsiteY323" fmla="*/ 4130054 h 4717133"/>
              <a:gd name="connsiteX324" fmla="*/ 3308941 w 4694357"/>
              <a:gd name="connsiteY324" fmla="*/ 4113540 h 4717133"/>
              <a:gd name="connsiteX325" fmla="*/ 3881215 w 4694357"/>
              <a:gd name="connsiteY325" fmla="*/ 4111262 h 4717133"/>
              <a:gd name="connsiteX326" fmla="*/ 3893743 w 4694357"/>
              <a:gd name="connsiteY326" fmla="*/ 4124359 h 4717133"/>
              <a:gd name="connsiteX327" fmla="*/ 3881215 w 4694357"/>
              <a:gd name="connsiteY327" fmla="*/ 4137456 h 4717133"/>
              <a:gd name="connsiteX328" fmla="*/ 3868687 w 4694357"/>
              <a:gd name="connsiteY328" fmla="*/ 4124359 h 4717133"/>
              <a:gd name="connsiteX329" fmla="*/ 3881215 w 4694357"/>
              <a:gd name="connsiteY329" fmla="*/ 4111262 h 4717133"/>
              <a:gd name="connsiteX330" fmla="*/ 957208 w 4694357"/>
              <a:gd name="connsiteY330" fmla="*/ 4079374 h 4717133"/>
              <a:gd name="connsiteX331" fmla="*/ 980555 w 4694357"/>
              <a:gd name="connsiteY331" fmla="*/ 4103290 h 4717133"/>
              <a:gd name="connsiteX332" fmla="*/ 957208 w 4694357"/>
              <a:gd name="connsiteY332" fmla="*/ 4127206 h 4717133"/>
              <a:gd name="connsiteX333" fmla="*/ 933861 w 4694357"/>
              <a:gd name="connsiteY333" fmla="*/ 4103290 h 4717133"/>
              <a:gd name="connsiteX334" fmla="*/ 957208 w 4694357"/>
              <a:gd name="connsiteY334" fmla="*/ 4079374 h 4717133"/>
              <a:gd name="connsiteX335" fmla="*/ 3741705 w 4694357"/>
              <a:gd name="connsiteY335" fmla="*/ 4071402 h 4717133"/>
              <a:gd name="connsiteX336" fmla="*/ 3773024 w 4694357"/>
              <a:gd name="connsiteY336" fmla="*/ 4102151 h 4717133"/>
              <a:gd name="connsiteX337" fmla="*/ 3741705 w 4694357"/>
              <a:gd name="connsiteY337" fmla="*/ 4132900 h 4717133"/>
              <a:gd name="connsiteX338" fmla="*/ 3710386 w 4694357"/>
              <a:gd name="connsiteY338" fmla="*/ 4102151 h 4717133"/>
              <a:gd name="connsiteX339" fmla="*/ 3741705 w 4694357"/>
              <a:gd name="connsiteY339" fmla="*/ 4071402 h 4717133"/>
              <a:gd name="connsiteX340" fmla="*/ 3597071 w 4694357"/>
              <a:gd name="connsiteY340" fmla="*/ 4070263 h 4717133"/>
              <a:gd name="connsiteX341" fmla="*/ 3601057 w 4694357"/>
              <a:gd name="connsiteY341" fmla="*/ 4074249 h 4717133"/>
              <a:gd name="connsiteX342" fmla="*/ 3597071 w 4694357"/>
              <a:gd name="connsiteY342" fmla="*/ 4078235 h 4717133"/>
              <a:gd name="connsiteX343" fmla="*/ 3593085 w 4694357"/>
              <a:gd name="connsiteY343" fmla="*/ 4074249 h 4717133"/>
              <a:gd name="connsiteX344" fmla="*/ 3597071 w 4694357"/>
              <a:gd name="connsiteY344" fmla="*/ 4070263 h 4717133"/>
              <a:gd name="connsiteX345" fmla="*/ 1101272 w 4694357"/>
              <a:gd name="connsiteY345" fmla="*/ 4056597 h 4717133"/>
              <a:gd name="connsiteX346" fmla="*/ 1118355 w 4694357"/>
              <a:gd name="connsiteY346" fmla="*/ 4074250 h 4717133"/>
              <a:gd name="connsiteX347" fmla="*/ 1101272 w 4694357"/>
              <a:gd name="connsiteY347" fmla="*/ 4091903 h 4717133"/>
              <a:gd name="connsiteX348" fmla="*/ 1084189 w 4694357"/>
              <a:gd name="connsiteY348" fmla="*/ 4074250 h 4717133"/>
              <a:gd name="connsiteX349" fmla="*/ 1101272 w 4694357"/>
              <a:gd name="connsiteY349" fmla="*/ 4056597 h 4717133"/>
              <a:gd name="connsiteX350" fmla="*/ 1246477 w 4694357"/>
              <a:gd name="connsiteY350" fmla="*/ 4039515 h 4717133"/>
              <a:gd name="connsiteX351" fmla="*/ 1252741 w 4694357"/>
              <a:gd name="connsiteY351" fmla="*/ 4045210 h 4717133"/>
              <a:gd name="connsiteX352" fmla="*/ 1246477 w 4694357"/>
              <a:gd name="connsiteY352" fmla="*/ 4050905 h 4717133"/>
              <a:gd name="connsiteX353" fmla="*/ 1240213 w 4694357"/>
              <a:gd name="connsiteY353" fmla="*/ 4045210 h 4717133"/>
              <a:gd name="connsiteX354" fmla="*/ 1246477 w 4694357"/>
              <a:gd name="connsiteY354" fmla="*/ 4039515 h 4717133"/>
              <a:gd name="connsiteX355" fmla="*/ 3451867 w 4694357"/>
              <a:gd name="connsiteY355" fmla="*/ 4028126 h 4717133"/>
              <a:gd name="connsiteX356" fmla="*/ 3467811 w 4694357"/>
              <a:gd name="connsiteY356" fmla="*/ 4044640 h 4717133"/>
              <a:gd name="connsiteX357" fmla="*/ 3451867 w 4694357"/>
              <a:gd name="connsiteY357" fmla="*/ 4061154 h 4717133"/>
              <a:gd name="connsiteX358" fmla="*/ 3435923 w 4694357"/>
              <a:gd name="connsiteY358" fmla="*/ 4044640 h 4717133"/>
              <a:gd name="connsiteX359" fmla="*/ 3451867 w 4694357"/>
              <a:gd name="connsiteY359" fmla="*/ 4028126 h 4717133"/>
              <a:gd name="connsiteX360" fmla="*/ 694702 w 4694357"/>
              <a:gd name="connsiteY360" fmla="*/ 4008765 h 4717133"/>
              <a:gd name="connsiteX361" fmla="*/ 698119 w 4694357"/>
              <a:gd name="connsiteY361" fmla="*/ 4011613 h 4717133"/>
              <a:gd name="connsiteX362" fmla="*/ 694702 w 4694357"/>
              <a:gd name="connsiteY362" fmla="*/ 4014461 h 4717133"/>
              <a:gd name="connsiteX363" fmla="*/ 691285 w 4694357"/>
              <a:gd name="connsiteY363" fmla="*/ 4011613 h 4717133"/>
              <a:gd name="connsiteX364" fmla="*/ 694702 w 4694357"/>
              <a:gd name="connsiteY364" fmla="*/ 4008765 h 4717133"/>
              <a:gd name="connsiteX365" fmla="*/ 4003641 w 4694357"/>
              <a:gd name="connsiteY365" fmla="*/ 3998516 h 4717133"/>
              <a:gd name="connsiteX366" fmla="*/ 4015599 w 4694357"/>
              <a:gd name="connsiteY366" fmla="*/ 4010474 h 4717133"/>
              <a:gd name="connsiteX367" fmla="*/ 4003641 w 4694357"/>
              <a:gd name="connsiteY367" fmla="*/ 4022432 h 4717133"/>
              <a:gd name="connsiteX368" fmla="*/ 3991683 w 4694357"/>
              <a:gd name="connsiteY368" fmla="*/ 4010474 h 4717133"/>
              <a:gd name="connsiteX369" fmla="*/ 4003641 w 4694357"/>
              <a:gd name="connsiteY369" fmla="*/ 3998516 h 4717133"/>
              <a:gd name="connsiteX370" fmla="*/ 830225 w 4694357"/>
              <a:gd name="connsiteY370" fmla="*/ 3971183 h 4717133"/>
              <a:gd name="connsiteX371" fmla="*/ 853002 w 4694357"/>
              <a:gd name="connsiteY371" fmla="*/ 3993960 h 4717133"/>
              <a:gd name="connsiteX372" fmla="*/ 830225 w 4694357"/>
              <a:gd name="connsiteY372" fmla="*/ 4016737 h 4717133"/>
              <a:gd name="connsiteX373" fmla="*/ 807448 w 4694357"/>
              <a:gd name="connsiteY373" fmla="*/ 3993960 h 4717133"/>
              <a:gd name="connsiteX374" fmla="*/ 830225 w 4694357"/>
              <a:gd name="connsiteY374" fmla="*/ 3971183 h 4717133"/>
              <a:gd name="connsiteX375" fmla="*/ 3726900 w 4694357"/>
              <a:gd name="connsiteY375" fmla="*/ 3966628 h 4717133"/>
              <a:gd name="connsiteX376" fmla="*/ 3730886 w 4694357"/>
              <a:gd name="connsiteY376" fmla="*/ 3970614 h 4717133"/>
              <a:gd name="connsiteX377" fmla="*/ 3726900 w 4694357"/>
              <a:gd name="connsiteY377" fmla="*/ 3974600 h 4717133"/>
              <a:gd name="connsiteX378" fmla="*/ 3722914 w 4694357"/>
              <a:gd name="connsiteY378" fmla="*/ 3970614 h 4717133"/>
              <a:gd name="connsiteX379" fmla="*/ 3726900 w 4694357"/>
              <a:gd name="connsiteY379" fmla="*/ 3966628 h 4717133"/>
              <a:gd name="connsiteX380" fmla="*/ 3868118 w 4694357"/>
              <a:gd name="connsiteY380" fmla="*/ 3963211 h 4717133"/>
              <a:gd name="connsiteX381" fmla="*/ 3898298 w 4694357"/>
              <a:gd name="connsiteY381" fmla="*/ 3993391 h 4717133"/>
              <a:gd name="connsiteX382" fmla="*/ 3868118 w 4694357"/>
              <a:gd name="connsiteY382" fmla="*/ 4023571 h 4717133"/>
              <a:gd name="connsiteX383" fmla="*/ 3837938 w 4694357"/>
              <a:gd name="connsiteY383" fmla="*/ 3993391 h 4717133"/>
              <a:gd name="connsiteX384" fmla="*/ 3868118 w 4694357"/>
              <a:gd name="connsiteY384" fmla="*/ 3963211 h 4717133"/>
              <a:gd name="connsiteX385" fmla="*/ 970874 w 4694357"/>
              <a:gd name="connsiteY385" fmla="*/ 3951822 h 4717133"/>
              <a:gd name="connsiteX386" fmla="*/ 989666 w 4694357"/>
              <a:gd name="connsiteY386" fmla="*/ 3971183 h 4717133"/>
              <a:gd name="connsiteX387" fmla="*/ 970874 w 4694357"/>
              <a:gd name="connsiteY387" fmla="*/ 3990544 h 4717133"/>
              <a:gd name="connsiteX388" fmla="*/ 952082 w 4694357"/>
              <a:gd name="connsiteY388" fmla="*/ 3971183 h 4717133"/>
              <a:gd name="connsiteX389" fmla="*/ 970874 w 4694357"/>
              <a:gd name="connsiteY389" fmla="*/ 3951822 h 4717133"/>
              <a:gd name="connsiteX390" fmla="*/ 1110952 w 4694357"/>
              <a:gd name="connsiteY390" fmla="*/ 3943851 h 4717133"/>
              <a:gd name="connsiteX391" fmla="*/ 1114938 w 4694357"/>
              <a:gd name="connsiteY391" fmla="*/ 3948407 h 4717133"/>
              <a:gd name="connsiteX392" fmla="*/ 1110952 w 4694357"/>
              <a:gd name="connsiteY392" fmla="*/ 3952964 h 4717133"/>
              <a:gd name="connsiteX393" fmla="*/ 1106966 w 4694357"/>
              <a:gd name="connsiteY393" fmla="*/ 3948407 h 4717133"/>
              <a:gd name="connsiteX394" fmla="*/ 1110952 w 4694357"/>
              <a:gd name="connsiteY394" fmla="*/ 3943851 h 4717133"/>
              <a:gd name="connsiteX395" fmla="*/ 3587390 w 4694357"/>
              <a:gd name="connsiteY395" fmla="*/ 3932462 h 4717133"/>
              <a:gd name="connsiteX396" fmla="*/ 3603334 w 4694357"/>
              <a:gd name="connsiteY396" fmla="*/ 3947837 h 4717133"/>
              <a:gd name="connsiteX397" fmla="*/ 3587390 w 4694357"/>
              <a:gd name="connsiteY397" fmla="*/ 3963212 h 4717133"/>
              <a:gd name="connsiteX398" fmla="*/ 3571446 w 4694357"/>
              <a:gd name="connsiteY398" fmla="*/ 3947837 h 4717133"/>
              <a:gd name="connsiteX399" fmla="*/ 3587390 w 4694357"/>
              <a:gd name="connsiteY399" fmla="*/ 3932462 h 4717133"/>
              <a:gd name="connsiteX400" fmla="*/ 581386 w 4694357"/>
              <a:gd name="connsiteY400" fmla="*/ 3886908 h 4717133"/>
              <a:gd name="connsiteX401" fmla="*/ 583095 w 4694357"/>
              <a:gd name="connsiteY401" fmla="*/ 3889186 h 4717133"/>
              <a:gd name="connsiteX402" fmla="*/ 581386 w 4694357"/>
              <a:gd name="connsiteY402" fmla="*/ 3891464 h 4717133"/>
              <a:gd name="connsiteX403" fmla="*/ 579677 w 4694357"/>
              <a:gd name="connsiteY403" fmla="*/ 3889186 h 4717133"/>
              <a:gd name="connsiteX404" fmla="*/ 581386 w 4694357"/>
              <a:gd name="connsiteY404" fmla="*/ 3886908 h 4717133"/>
              <a:gd name="connsiteX405" fmla="*/ 4117527 w 4694357"/>
              <a:gd name="connsiteY405" fmla="*/ 3877797 h 4717133"/>
              <a:gd name="connsiteX406" fmla="*/ 4128347 w 4694357"/>
              <a:gd name="connsiteY406" fmla="*/ 3888617 h 4717133"/>
              <a:gd name="connsiteX407" fmla="*/ 4117527 w 4694357"/>
              <a:gd name="connsiteY407" fmla="*/ 3899437 h 4717133"/>
              <a:gd name="connsiteX408" fmla="*/ 4106707 w 4694357"/>
              <a:gd name="connsiteY408" fmla="*/ 3888617 h 4717133"/>
              <a:gd name="connsiteX409" fmla="*/ 4117527 w 4694357"/>
              <a:gd name="connsiteY409" fmla="*/ 3877797 h 4717133"/>
              <a:gd name="connsiteX410" fmla="*/ 712923 w 4694357"/>
              <a:gd name="connsiteY410" fmla="*/ 3855020 h 4717133"/>
              <a:gd name="connsiteX411" fmla="*/ 734561 w 4694357"/>
              <a:gd name="connsiteY411" fmla="*/ 3876658 h 4717133"/>
              <a:gd name="connsiteX412" fmla="*/ 712923 w 4694357"/>
              <a:gd name="connsiteY412" fmla="*/ 3898296 h 4717133"/>
              <a:gd name="connsiteX413" fmla="*/ 691285 w 4694357"/>
              <a:gd name="connsiteY413" fmla="*/ 3876658 h 4717133"/>
              <a:gd name="connsiteX414" fmla="*/ 712923 w 4694357"/>
              <a:gd name="connsiteY414" fmla="*/ 3855020 h 4717133"/>
              <a:gd name="connsiteX415" fmla="*/ 3849896 w 4694357"/>
              <a:gd name="connsiteY415" fmla="*/ 3853881 h 4717133"/>
              <a:gd name="connsiteX416" fmla="*/ 3853882 w 4694357"/>
              <a:gd name="connsiteY416" fmla="*/ 3857867 h 4717133"/>
              <a:gd name="connsiteX417" fmla="*/ 3849896 w 4694357"/>
              <a:gd name="connsiteY417" fmla="*/ 3861853 h 4717133"/>
              <a:gd name="connsiteX418" fmla="*/ 3845910 w 4694357"/>
              <a:gd name="connsiteY418" fmla="*/ 3857867 h 4717133"/>
              <a:gd name="connsiteX419" fmla="*/ 3849896 w 4694357"/>
              <a:gd name="connsiteY419" fmla="*/ 3853881 h 4717133"/>
              <a:gd name="connsiteX420" fmla="*/ 3985989 w 4694357"/>
              <a:gd name="connsiteY420" fmla="*/ 3845909 h 4717133"/>
              <a:gd name="connsiteX421" fmla="*/ 4015599 w 4694357"/>
              <a:gd name="connsiteY421" fmla="*/ 3875519 h 4717133"/>
              <a:gd name="connsiteX422" fmla="*/ 3985989 w 4694357"/>
              <a:gd name="connsiteY422" fmla="*/ 3905129 h 4717133"/>
              <a:gd name="connsiteX423" fmla="*/ 3956379 w 4694357"/>
              <a:gd name="connsiteY423" fmla="*/ 3875519 h 4717133"/>
              <a:gd name="connsiteX424" fmla="*/ 3985989 w 4694357"/>
              <a:gd name="connsiteY424" fmla="*/ 3845909 h 4717133"/>
              <a:gd name="connsiteX425" fmla="*/ 983971 w 4694357"/>
              <a:gd name="connsiteY425" fmla="*/ 3837937 h 4717133"/>
              <a:gd name="connsiteX426" fmla="*/ 987388 w 4694357"/>
              <a:gd name="connsiteY426" fmla="*/ 3840785 h 4717133"/>
              <a:gd name="connsiteX427" fmla="*/ 983971 w 4694357"/>
              <a:gd name="connsiteY427" fmla="*/ 3843633 h 4717133"/>
              <a:gd name="connsiteX428" fmla="*/ 980554 w 4694357"/>
              <a:gd name="connsiteY428" fmla="*/ 3840785 h 4717133"/>
              <a:gd name="connsiteX429" fmla="*/ 983971 w 4694357"/>
              <a:gd name="connsiteY429" fmla="*/ 3837937 h 4717133"/>
              <a:gd name="connsiteX430" fmla="*/ 849016 w 4694357"/>
              <a:gd name="connsiteY430" fmla="*/ 3836799 h 4717133"/>
              <a:gd name="connsiteX431" fmla="*/ 870085 w 4694357"/>
              <a:gd name="connsiteY431" fmla="*/ 3857868 h 4717133"/>
              <a:gd name="connsiteX432" fmla="*/ 849016 w 4694357"/>
              <a:gd name="connsiteY432" fmla="*/ 3878937 h 4717133"/>
              <a:gd name="connsiteX433" fmla="*/ 827947 w 4694357"/>
              <a:gd name="connsiteY433" fmla="*/ 3857868 h 4717133"/>
              <a:gd name="connsiteX434" fmla="*/ 849016 w 4694357"/>
              <a:gd name="connsiteY434" fmla="*/ 3836799 h 4717133"/>
              <a:gd name="connsiteX435" fmla="*/ 3714942 w 4694357"/>
              <a:gd name="connsiteY435" fmla="*/ 3824271 h 4717133"/>
              <a:gd name="connsiteX436" fmla="*/ 3730886 w 4694357"/>
              <a:gd name="connsiteY436" fmla="*/ 3840215 h 4717133"/>
              <a:gd name="connsiteX437" fmla="*/ 3714942 w 4694357"/>
              <a:gd name="connsiteY437" fmla="*/ 3856159 h 4717133"/>
              <a:gd name="connsiteX438" fmla="*/ 3698998 w 4694357"/>
              <a:gd name="connsiteY438" fmla="*/ 3840215 h 4717133"/>
              <a:gd name="connsiteX439" fmla="*/ 3714942 w 4694357"/>
              <a:gd name="connsiteY439" fmla="*/ 3824271 h 4717133"/>
              <a:gd name="connsiteX440" fmla="*/ 476042 w 4694357"/>
              <a:gd name="connsiteY440" fmla="*/ 3758217 h 4717133"/>
              <a:gd name="connsiteX441" fmla="*/ 478320 w 4694357"/>
              <a:gd name="connsiteY441" fmla="*/ 3759926 h 4717133"/>
              <a:gd name="connsiteX442" fmla="*/ 476042 w 4694357"/>
              <a:gd name="connsiteY442" fmla="*/ 3761635 h 4717133"/>
              <a:gd name="connsiteX443" fmla="*/ 473764 w 4694357"/>
              <a:gd name="connsiteY443" fmla="*/ 3759926 h 4717133"/>
              <a:gd name="connsiteX444" fmla="*/ 476042 w 4694357"/>
              <a:gd name="connsiteY444" fmla="*/ 3758217 h 4717133"/>
              <a:gd name="connsiteX445" fmla="*/ 4222302 w 4694357"/>
              <a:gd name="connsiteY445" fmla="*/ 3749107 h 4717133"/>
              <a:gd name="connsiteX446" fmla="*/ 4231983 w 4694357"/>
              <a:gd name="connsiteY446" fmla="*/ 3758788 h 4717133"/>
              <a:gd name="connsiteX447" fmla="*/ 4222302 w 4694357"/>
              <a:gd name="connsiteY447" fmla="*/ 3768469 h 4717133"/>
              <a:gd name="connsiteX448" fmla="*/ 4212621 w 4694357"/>
              <a:gd name="connsiteY448" fmla="*/ 3758788 h 4717133"/>
              <a:gd name="connsiteX449" fmla="*/ 4222302 w 4694357"/>
              <a:gd name="connsiteY449" fmla="*/ 3749107 h 4717133"/>
              <a:gd name="connsiteX450" fmla="*/ 3962642 w 4694357"/>
              <a:gd name="connsiteY450" fmla="*/ 3730885 h 4717133"/>
              <a:gd name="connsiteX451" fmla="*/ 3966628 w 4694357"/>
              <a:gd name="connsiteY451" fmla="*/ 3735441 h 4717133"/>
              <a:gd name="connsiteX452" fmla="*/ 3962642 w 4694357"/>
              <a:gd name="connsiteY452" fmla="*/ 3739998 h 4717133"/>
              <a:gd name="connsiteX453" fmla="*/ 3958656 w 4694357"/>
              <a:gd name="connsiteY453" fmla="*/ 3735441 h 4717133"/>
              <a:gd name="connsiteX454" fmla="*/ 3962642 w 4694357"/>
              <a:gd name="connsiteY454" fmla="*/ 3730885 h 4717133"/>
              <a:gd name="connsiteX455" fmla="*/ 603594 w 4694357"/>
              <a:gd name="connsiteY455" fmla="*/ 3728607 h 4717133"/>
              <a:gd name="connsiteX456" fmla="*/ 624094 w 4694357"/>
              <a:gd name="connsiteY456" fmla="*/ 3749676 h 4717133"/>
              <a:gd name="connsiteX457" fmla="*/ 603594 w 4694357"/>
              <a:gd name="connsiteY457" fmla="*/ 3770745 h 4717133"/>
              <a:gd name="connsiteX458" fmla="*/ 583094 w 4694357"/>
              <a:gd name="connsiteY458" fmla="*/ 3749676 h 4717133"/>
              <a:gd name="connsiteX459" fmla="*/ 603594 w 4694357"/>
              <a:gd name="connsiteY459" fmla="*/ 3728607 h 4717133"/>
              <a:gd name="connsiteX460" fmla="*/ 4095320 w 4694357"/>
              <a:gd name="connsiteY460" fmla="*/ 3720636 h 4717133"/>
              <a:gd name="connsiteX461" fmla="*/ 4123792 w 4694357"/>
              <a:gd name="connsiteY461" fmla="*/ 3749108 h 4717133"/>
              <a:gd name="connsiteX462" fmla="*/ 4095320 w 4694357"/>
              <a:gd name="connsiteY462" fmla="*/ 3777580 h 4717133"/>
              <a:gd name="connsiteX463" fmla="*/ 4066848 w 4694357"/>
              <a:gd name="connsiteY463" fmla="*/ 3749108 h 4717133"/>
              <a:gd name="connsiteX464" fmla="*/ 4095320 w 4694357"/>
              <a:gd name="connsiteY464" fmla="*/ 3720636 h 4717133"/>
              <a:gd name="connsiteX465" fmla="*/ 865530 w 4694357"/>
              <a:gd name="connsiteY465" fmla="*/ 3720636 h 4717133"/>
              <a:gd name="connsiteX466" fmla="*/ 867808 w 4694357"/>
              <a:gd name="connsiteY466" fmla="*/ 3722914 h 4717133"/>
              <a:gd name="connsiteX467" fmla="*/ 865530 w 4694357"/>
              <a:gd name="connsiteY467" fmla="*/ 3725192 h 4717133"/>
              <a:gd name="connsiteX468" fmla="*/ 863252 w 4694357"/>
              <a:gd name="connsiteY468" fmla="*/ 3722914 h 4717133"/>
              <a:gd name="connsiteX469" fmla="*/ 865530 w 4694357"/>
              <a:gd name="connsiteY469" fmla="*/ 3720636 h 4717133"/>
              <a:gd name="connsiteX470" fmla="*/ 735700 w 4694357"/>
              <a:gd name="connsiteY470" fmla="*/ 3712663 h 4717133"/>
              <a:gd name="connsiteX471" fmla="*/ 758477 w 4694357"/>
              <a:gd name="connsiteY471" fmla="*/ 3735440 h 4717133"/>
              <a:gd name="connsiteX472" fmla="*/ 735700 w 4694357"/>
              <a:gd name="connsiteY472" fmla="*/ 3758217 h 4717133"/>
              <a:gd name="connsiteX473" fmla="*/ 712923 w 4694357"/>
              <a:gd name="connsiteY473" fmla="*/ 3735440 h 4717133"/>
              <a:gd name="connsiteX474" fmla="*/ 735700 w 4694357"/>
              <a:gd name="connsiteY474" fmla="*/ 3712663 h 4717133"/>
              <a:gd name="connsiteX475" fmla="*/ 3832244 w 4694357"/>
              <a:gd name="connsiteY475" fmla="*/ 3706969 h 4717133"/>
              <a:gd name="connsiteX476" fmla="*/ 3848188 w 4694357"/>
              <a:gd name="connsiteY476" fmla="*/ 3722913 h 4717133"/>
              <a:gd name="connsiteX477" fmla="*/ 3832244 w 4694357"/>
              <a:gd name="connsiteY477" fmla="*/ 3738857 h 4717133"/>
              <a:gd name="connsiteX478" fmla="*/ 3816300 w 4694357"/>
              <a:gd name="connsiteY478" fmla="*/ 3722913 h 4717133"/>
              <a:gd name="connsiteX479" fmla="*/ 3832244 w 4694357"/>
              <a:gd name="connsiteY479" fmla="*/ 3706969 h 4717133"/>
              <a:gd name="connsiteX480" fmla="*/ 380948 w 4694357"/>
              <a:gd name="connsiteY480" fmla="*/ 3620416 h 4717133"/>
              <a:gd name="connsiteX481" fmla="*/ 382657 w 4694357"/>
              <a:gd name="connsiteY481" fmla="*/ 3622694 h 4717133"/>
              <a:gd name="connsiteX482" fmla="*/ 380948 w 4694357"/>
              <a:gd name="connsiteY482" fmla="*/ 3624972 h 4717133"/>
              <a:gd name="connsiteX483" fmla="*/ 379239 w 4694357"/>
              <a:gd name="connsiteY483" fmla="*/ 3622694 h 4717133"/>
              <a:gd name="connsiteX484" fmla="*/ 380948 w 4694357"/>
              <a:gd name="connsiteY484" fmla="*/ 3620416 h 4717133"/>
              <a:gd name="connsiteX485" fmla="*/ 4317965 w 4694357"/>
              <a:gd name="connsiteY485" fmla="*/ 3613583 h 4717133"/>
              <a:gd name="connsiteX486" fmla="*/ 4326507 w 4694357"/>
              <a:gd name="connsiteY486" fmla="*/ 3622125 h 4717133"/>
              <a:gd name="connsiteX487" fmla="*/ 4317965 w 4694357"/>
              <a:gd name="connsiteY487" fmla="*/ 3630667 h 4717133"/>
              <a:gd name="connsiteX488" fmla="*/ 4309423 w 4694357"/>
              <a:gd name="connsiteY488" fmla="*/ 3622125 h 4717133"/>
              <a:gd name="connsiteX489" fmla="*/ 4317965 w 4694357"/>
              <a:gd name="connsiteY489" fmla="*/ 3613583 h 4717133"/>
              <a:gd name="connsiteX490" fmla="*/ 4066278 w 4694357"/>
              <a:gd name="connsiteY490" fmla="*/ 3599917 h 4717133"/>
              <a:gd name="connsiteX491" fmla="*/ 4071403 w 4694357"/>
              <a:gd name="connsiteY491" fmla="*/ 3604473 h 4717133"/>
              <a:gd name="connsiteX492" fmla="*/ 4066278 w 4694357"/>
              <a:gd name="connsiteY492" fmla="*/ 3609030 h 4717133"/>
              <a:gd name="connsiteX493" fmla="*/ 4061153 w 4694357"/>
              <a:gd name="connsiteY493" fmla="*/ 3604473 h 4717133"/>
              <a:gd name="connsiteX494" fmla="*/ 4066278 w 4694357"/>
              <a:gd name="connsiteY494" fmla="*/ 3599917 h 4717133"/>
              <a:gd name="connsiteX495" fmla="*/ 758478 w 4694357"/>
              <a:gd name="connsiteY495" fmla="*/ 3595362 h 4717133"/>
              <a:gd name="connsiteX496" fmla="*/ 759617 w 4694357"/>
              <a:gd name="connsiteY496" fmla="*/ 3596501 h 4717133"/>
              <a:gd name="connsiteX497" fmla="*/ 758478 w 4694357"/>
              <a:gd name="connsiteY497" fmla="*/ 3597640 h 4717133"/>
              <a:gd name="connsiteX498" fmla="*/ 757339 w 4694357"/>
              <a:gd name="connsiteY498" fmla="*/ 3596501 h 4717133"/>
              <a:gd name="connsiteX499" fmla="*/ 758478 w 4694357"/>
              <a:gd name="connsiteY499" fmla="*/ 3595362 h 4717133"/>
              <a:gd name="connsiteX500" fmla="*/ 503944 w 4694357"/>
              <a:gd name="connsiteY500" fmla="*/ 3595362 h 4717133"/>
              <a:gd name="connsiteX501" fmla="*/ 523874 w 4694357"/>
              <a:gd name="connsiteY501" fmla="*/ 3615862 h 4717133"/>
              <a:gd name="connsiteX502" fmla="*/ 503944 w 4694357"/>
              <a:gd name="connsiteY502" fmla="*/ 3636362 h 4717133"/>
              <a:gd name="connsiteX503" fmla="*/ 484014 w 4694357"/>
              <a:gd name="connsiteY503" fmla="*/ 3615862 h 4717133"/>
              <a:gd name="connsiteX504" fmla="*/ 503944 w 4694357"/>
              <a:gd name="connsiteY504" fmla="*/ 3595362 h 4717133"/>
              <a:gd name="connsiteX505" fmla="*/ 4194400 w 4694357"/>
              <a:gd name="connsiteY505" fmla="*/ 3587389 h 4717133"/>
              <a:gd name="connsiteX506" fmla="*/ 4221733 w 4694357"/>
              <a:gd name="connsiteY506" fmla="*/ 3615291 h 4717133"/>
              <a:gd name="connsiteX507" fmla="*/ 4194400 w 4694357"/>
              <a:gd name="connsiteY507" fmla="*/ 3643193 h 4717133"/>
              <a:gd name="connsiteX508" fmla="*/ 4167067 w 4694357"/>
              <a:gd name="connsiteY508" fmla="*/ 3615291 h 4717133"/>
              <a:gd name="connsiteX509" fmla="*/ 4194400 w 4694357"/>
              <a:gd name="connsiteY509" fmla="*/ 3587389 h 4717133"/>
              <a:gd name="connsiteX510" fmla="*/ 632064 w 4694357"/>
              <a:gd name="connsiteY510" fmla="*/ 3581695 h 4717133"/>
              <a:gd name="connsiteX511" fmla="*/ 655980 w 4694357"/>
              <a:gd name="connsiteY511" fmla="*/ 3605611 h 4717133"/>
              <a:gd name="connsiteX512" fmla="*/ 632064 w 4694357"/>
              <a:gd name="connsiteY512" fmla="*/ 3629527 h 4717133"/>
              <a:gd name="connsiteX513" fmla="*/ 608148 w 4694357"/>
              <a:gd name="connsiteY513" fmla="*/ 3605611 h 4717133"/>
              <a:gd name="connsiteX514" fmla="*/ 632064 w 4694357"/>
              <a:gd name="connsiteY514" fmla="*/ 3581695 h 4717133"/>
              <a:gd name="connsiteX515" fmla="*/ 3939866 w 4694357"/>
              <a:gd name="connsiteY515" fmla="*/ 3579418 h 4717133"/>
              <a:gd name="connsiteX516" fmla="*/ 3956380 w 4694357"/>
              <a:gd name="connsiteY516" fmla="*/ 3595362 h 4717133"/>
              <a:gd name="connsiteX517" fmla="*/ 3939866 w 4694357"/>
              <a:gd name="connsiteY517" fmla="*/ 3611306 h 4717133"/>
              <a:gd name="connsiteX518" fmla="*/ 3923352 w 4694357"/>
              <a:gd name="connsiteY518" fmla="*/ 3595362 h 4717133"/>
              <a:gd name="connsiteX519" fmla="*/ 3939866 w 4694357"/>
              <a:gd name="connsiteY519" fmla="*/ 3579418 h 4717133"/>
              <a:gd name="connsiteX520" fmla="*/ 294964 w 4694357"/>
              <a:gd name="connsiteY520" fmla="*/ 3476921 h 4717133"/>
              <a:gd name="connsiteX521" fmla="*/ 297242 w 4694357"/>
              <a:gd name="connsiteY521" fmla="*/ 3479199 h 4717133"/>
              <a:gd name="connsiteX522" fmla="*/ 294964 w 4694357"/>
              <a:gd name="connsiteY522" fmla="*/ 3481477 h 4717133"/>
              <a:gd name="connsiteX523" fmla="*/ 292686 w 4694357"/>
              <a:gd name="connsiteY523" fmla="*/ 3479199 h 4717133"/>
              <a:gd name="connsiteX524" fmla="*/ 294964 w 4694357"/>
              <a:gd name="connsiteY524" fmla="*/ 3476921 h 4717133"/>
              <a:gd name="connsiteX525" fmla="*/ 4403379 w 4694357"/>
              <a:gd name="connsiteY525" fmla="*/ 3471226 h 4717133"/>
              <a:gd name="connsiteX526" fmla="*/ 4410782 w 4694357"/>
              <a:gd name="connsiteY526" fmla="*/ 3478629 h 4717133"/>
              <a:gd name="connsiteX527" fmla="*/ 4403379 w 4694357"/>
              <a:gd name="connsiteY527" fmla="*/ 3486032 h 4717133"/>
              <a:gd name="connsiteX528" fmla="*/ 4395976 w 4694357"/>
              <a:gd name="connsiteY528" fmla="*/ 3478629 h 4717133"/>
              <a:gd name="connsiteX529" fmla="*/ 4403379 w 4694357"/>
              <a:gd name="connsiteY529" fmla="*/ 3471226 h 4717133"/>
              <a:gd name="connsiteX530" fmla="*/ 4159096 w 4694357"/>
              <a:gd name="connsiteY530" fmla="*/ 3460977 h 4717133"/>
              <a:gd name="connsiteX531" fmla="*/ 4164791 w 4694357"/>
              <a:gd name="connsiteY531" fmla="*/ 3466672 h 4717133"/>
              <a:gd name="connsiteX532" fmla="*/ 4159096 w 4694357"/>
              <a:gd name="connsiteY532" fmla="*/ 3472367 h 4717133"/>
              <a:gd name="connsiteX533" fmla="*/ 4153401 w 4694357"/>
              <a:gd name="connsiteY533" fmla="*/ 3466672 h 4717133"/>
              <a:gd name="connsiteX534" fmla="*/ 4159096 w 4694357"/>
              <a:gd name="connsiteY534" fmla="*/ 3460977 h 4717133"/>
              <a:gd name="connsiteX535" fmla="*/ 661106 w 4694357"/>
              <a:gd name="connsiteY535" fmla="*/ 3458699 h 4717133"/>
              <a:gd name="connsiteX536" fmla="*/ 662815 w 4694357"/>
              <a:gd name="connsiteY536" fmla="*/ 3460408 h 4717133"/>
              <a:gd name="connsiteX537" fmla="*/ 661106 w 4694357"/>
              <a:gd name="connsiteY537" fmla="*/ 3462117 h 4717133"/>
              <a:gd name="connsiteX538" fmla="*/ 659397 w 4694357"/>
              <a:gd name="connsiteY538" fmla="*/ 3460408 h 4717133"/>
              <a:gd name="connsiteX539" fmla="*/ 661106 w 4694357"/>
              <a:gd name="connsiteY539" fmla="*/ 3458699 h 4717133"/>
              <a:gd name="connsiteX540" fmla="*/ 414544 w 4694357"/>
              <a:gd name="connsiteY540" fmla="*/ 3455282 h 4717133"/>
              <a:gd name="connsiteX541" fmla="*/ 433905 w 4694357"/>
              <a:gd name="connsiteY541" fmla="*/ 3474643 h 4717133"/>
              <a:gd name="connsiteX542" fmla="*/ 414544 w 4694357"/>
              <a:gd name="connsiteY542" fmla="*/ 3494004 h 4717133"/>
              <a:gd name="connsiteX543" fmla="*/ 395183 w 4694357"/>
              <a:gd name="connsiteY543" fmla="*/ 3474643 h 4717133"/>
              <a:gd name="connsiteX544" fmla="*/ 414544 w 4694357"/>
              <a:gd name="connsiteY544" fmla="*/ 3455282 h 4717133"/>
              <a:gd name="connsiteX545" fmla="*/ 4283231 w 4694357"/>
              <a:gd name="connsiteY545" fmla="*/ 3447311 h 4717133"/>
              <a:gd name="connsiteX546" fmla="*/ 4310564 w 4694357"/>
              <a:gd name="connsiteY546" fmla="*/ 3474074 h 4717133"/>
              <a:gd name="connsiteX547" fmla="*/ 4283231 w 4694357"/>
              <a:gd name="connsiteY547" fmla="*/ 3500837 h 4717133"/>
              <a:gd name="connsiteX548" fmla="*/ 4255898 w 4694357"/>
              <a:gd name="connsiteY548" fmla="*/ 3474074 h 4717133"/>
              <a:gd name="connsiteX549" fmla="*/ 4283231 w 4694357"/>
              <a:gd name="connsiteY549" fmla="*/ 3447311 h 4717133"/>
              <a:gd name="connsiteX550" fmla="*/ 4037237 w 4694357"/>
              <a:gd name="connsiteY550" fmla="*/ 3442755 h 4717133"/>
              <a:gd name="connsiteX551" fmla="*/ 4054320 w 4694357"/>
              <a:gd name="connsiteY551" fmla="*/ 3459838 h 4717133"/>
              <a:gd name="connsiteX552" fmla="*/ 4037237 w 4694357"/>
              <a:gd name="connsiteY552" fmla="*/ 3476921 h 4717133"/>
              <a:gd name="connsiteX553" fmla="*/ 4020154 w 4694357"/>
              <a:gd name="connsiteY553" fmla="*/ 3459838 h 4717133"/>
              <a:gd name="connsiteX554" fmla="*/ 4037237 w 4694357"/>
              <a:gd name="connsiteY554" fmla="*/ 3442755 h 4717133"/>
              <a:gd name="connsiteX555" fmla="*/ 539248 w 4694357"/>
              <a:gd name="connsiteY555" fmla="*/ 3441616 h 4717133"/>
              <a:gd name="connsiteX556" fmla="*/ 563734 w 4694357"/>
              <a:gd name="connsiteY556" fmla="*/ 3466671 h 4717133"/>
              <a:gd name="connsiteX557" fmla="*/ 539248 w 4694357"/>
              <a:gd name="connsiteY557" fmla="*/ 3491726 h 4717133"/>
              <a:gd name="connsiteX558" fmla="*/ 514762 w 4694357"/>
              <a:gd name="connsiteY558" fmla="*/ 3466671 h 4717133"/>
              <a:gd name="connsiteX559" fmla="*/ 539248 w 4694357"/>
              <a:gd name="connsiteY559" fmla="*/ 3441616 h 4717133"/>
              <a:gd name="connsiteX560" fmla="*/ 220370 w 4694357"/>
              <a:gd name="connsiteY560" fmla="*/ 3327731 h 4717133"/>
              <a:gd name="connsiteX561" fmla="*/ 223218 w 4694357"/>
              <a:gd name="connsiteY561" fmla="*/ 3330579 h 4717133"/>
              <a:gd name="connsiteX562" fmla="*/ 220370 w 4694357"/>
              <a:gd name="connsiteY562" fmla="*/ 3333427 h 4717133"/>
              <a:gd name="connsiteX563" fmla="*/ 217522 w 4694357"/>
              <a:gd name="connsiteY563" fmla="*/ 3330579 h 4717133"/>
              <a:gd name="connsiteX564" fmla="*/ 220370 w 4694357"/>
              <a:gd name="connsiteY564" fmla="*/ 3327731 h 4717133"/>
              <a:gd name="connsiteX565" fmla="*/ 4477974 w 4694357"/>
              <a:gd name="connsiteY565" fmla="*/ 3322037 h 4717133"/>
              <a:gd name="connsiteX566" fmla="*/ 4484807 w 4694357"/>
              <a:gd name="connsiteY566" fmla="*/ 3328870 h 4717133"/>
              <a:gd name="connsiteX567" fmla="*/ 4477974 w 4694357"/>
              <a:gd name="connsiteY567" fmla="*/ 3335703 h 4717133"/>
              <a:gd name="connsiteX568" fmla="*/ 4471141 w 4694357"/>
              <a:gd name="connsiteY568" fmla="*/ 3328870 h 4717133"/>
              <a:gd name="connsiteX569" fmla="*/ 4477974 w 4694357"/>
              <a:gd name="connsiteY569" fmla="*/ 3322037 h 4717133"/>
              <a:gd name="connsiteX570" fmla="*/ 575692 w 4694357"/>
              <a:gd name="connsiteY570" fmla="*/ 3316342 h 4717133"/>
              <a:gd name="connsiteX571" fmla="*/ 577401 w 4694357"/>
              <a:gd name="connsiteY571" fmla="*/ 3317481 h 4717133"/>
              <a:gd name="connsiteX572" fmla="*/ 575692 w 4694357"/>
              <a:gd name="connsiteY572" fmla="*/ 3318620 h 4717133"/>
              <a:gd name="connsiteX573" fmla="*/ 573983 w 4694357"/>
              <a:gd name="connsiteY573" fmla="*/ 3317481 h 4717133"/>
              <a:gd name="connsiteX574" fmla="*/ 575692 w 4694357"/>
              <a:gd name="connsiteY574" fmla="*/ 3316342 h 4717133"/>
              <a:gd name="connsiteX575" fmla="*/ 4240523 w 4694357"/>
              <a:gd name="connsiteY575" fmla="*/ 3315204 h 4717133"/>
              <a:gd name="connsiteX576" fmla="*/ 4246787 w 4694357"/>
              <a:gd name="connsiteY576" fmla="*/ 3321468 h 4717133"/>
              <a:gd name="connsiteX577" fmla="*/ 4240523 w 4694357"/>
              <a:gd name="connsiteY577" fmla="*/ 3327732 h 4717133"/>
              <a:gd name="connsiteX578" fmla="*/ 4234259 w 4694357"/>
              <a:gd name="connsiteY578" fmla="*/ 3321468 h 4717133"/>
              <a:gd name="connsiteX579" fmla="*/ 4240523 w 4694357"/>
              <a:gd name="connsiteY579" fmla="*/ 3315204 h 4717133"/>
              <a:gd name="connsiteX580" fmla="*/ 336533 w 4694357"/>
              <a:gd name="connsiteY580" fmla="*/ 3308370 h 4717133"/>
              <a:gd name="connsiteX581" fmla="*/ 355325 w 4694357"/>
              <a:gd name="connsiteY581" fmla="*/ 3327162 h 4717133"/>
              <a:gd name="connsiteX582" fmla="*/ 336533 w 4694357"/>
              <a:gd name="connsiteY582" fmla="*/ 3345954 h 4717133"/>
              <a:gd name="connsiteX583" fmla="*/ 317741 w 4694357"/>
              <a:gd name="connsiteY583" fmla="*/ 3327162 h 4717133"/>
              <a:gd name="connsiteX584" fmla="*/ 336533 w 4694357"/>
              <a:gd name="connsiteY584" fmla="*/ 3308370 h 4717133"/>
              <a:gd name="connsiteX585" fmla="*/ 4361811 w 4694357"/>
              <a:gd name="connsiteY585" fmla="*/ 3300398 h 4717133"/>
              <a:gd name="connsiteX586" fmla="*/ 4388005 w 4694357"/>
              <a:gd name="connsiteY586" fmla="*/ 3326592 h 4717133"/>
              <a:gd name="connsiteX587" fmla="*/ 4361811 w 4694357"/>
              <a:gd name="connsiteY587" fmla="*/ 3352786 h 4717133"/>
              <a:gd name="connsiteX588" fmla="*/ 4335617 w 4694357"/>
              <a:gd name="connsiteY588" fmla="*/ 3326592 h 4717133"/>
              <a:gd name="connsiteX589" fmla="*/ 4361811 w 4694357"/>
              <a:gd name="connsiteY589" fmla="*/ 3300398 h 4717133"/>
              <a:gd name="connsiteX590" fmla="*/ 4122652 w 4694357"/>
              <a:gd name="connsiteY590" fmla="*/ 3299260 h 4717133"/>
              <a:gd name="connsiteX591" fmla="*/ 4140874 w 4694357"/>
              <a:gd name="connsiteY591" fmla="*/ 3317482 h 4717133"/>
              <a:gd name="connsiteX592" fmla="*/ 4122652 w 4694357"/>
              <a:gd name="connsiteY592" fmla="*/ 3335704 h 4717133"/>
              <a:gd name="connsiteX593" fmla="*/ 4104430 w 4694357"/>
              <a:gd name="connsiteY593" fmla="*/ 3317482 h 4717133"/>
              <a:gd name="connsiteX594" fmla="*/ 4122652 w 4694357"/>
              <a:gd name="connsiteY594" fmla="*/ 3299260 h 4717133"/>
              <a:gd name="connsiteX595" fmla="*/ 457820 w 4694357"/>
              <a:gd name="connsiteY595" fmla="*/ 3296982 h 4717133"/>
              <a:gd name="connsiteX596" fmla="*/ 482875 w 4694357"/>
              <a:gd name="connsiteY596" fmla="*/ 3322037 h 4717133"/>
              <a:gd name="connsiteX597" fmla="*/ 457820 w 4694357"/>
              <a:gd name="connsiteY597" fmla="*/ 3347092 h 4717133"/>
              <a:gd name="connsiteX598" fmla="*/ 432765 w 4694357"/>
              <a:gd name="connsiteY598" fmla="*/ 3322037 h 4717133"/>
              <a:gd name="connsiteX599" fmla="*/ 457820 w 4694357"/>
              <a:gd name="connsiteY599" fmla="*/ 3296982 h 4717133"/>
              <a:gd name="connsiteX600" fmla="*/ 156593 w 4694357"/>
              <a:gd name="connsiteY600" fmla="*/ 3172847 h 4717133"/>
              <a:gd name="connsiteX601" fmla="*/ 160579 w 4694357"/>
              <a:gd name="connsiteY601" fmla="*/ 3176833 h 4717133"/>
              <a:gd name="connsiteX602" fmla="*/ 156593 w 4694357"/>
              <a:gd name="connsiteY602" fmla="*/ 3180819 h 4717133"/>
              <a:gd name="connsiteX603" fmla="*/ 152607 w 4694357"/>
              <a:gd name="connsiteY603" fmla="*/ 3176833 h 4717133"/>
              <a:gd name="connsiteX604" fmla="*/ 156593 w 4694357"/>
              <a:gd name="connsiteY604" fmla="*/ 3172847 h 4717133"/>
              <a:gd name="connsiteX605" fmla="*/ 4541749 w 4694357"/>
              <a:gd name="connsiteY605" fmla="*/ 3168291 h 4717133"/>
              <a:gd name="connsiteX606" fmla="*/ 4548582 w 4694357"/>
              <a:gd name="connsiteY606" fmla="*/ 3175124 h 4717133"/>
              <a:gd name="connsiteX607" fmla="*/ 4541749 w 4694357"/>
              <a:gd name="connsiteY607" fmla="*/ 3181957 h 4717133"/>
              <a:gd name="connsiteX608" fmla="*/ 4534916 w 4694357"/>
              <a:gd name="connsiteY608" fmla="*/ 3175124 h 4717133"/>
              <a:gd name="connsiteX609" fmla="*/ 4541749 w 4694357"/>
              <a:gd name="connsiteY609" fmla="*/ 3168291 h 4717133"/>
              <a:gd name="connsiteX610" fmla="*/ 502236 w 4694357"/>
              <a:gd name="connsiteY610" fmla="*/ 3166013 h 4717133"/>
              <a:gd name="connsiteX611" fmla="*/ 504514 w 4694357"/>
              <a:gd name="connsiteY611" fmla="*/ 3168291 h 4717133"/>
              <a:gd name="connsiteX612" fmla="*/ 502236 w 4694357"/>
              <a:gd name="connsiteY612" fmla="*/ 3170569 h 4717133"/>
              <a:gd name="connsiteX613" fmla="*/ 499958 w 4694357"/>
              <a:gd name="connsiteY613" fmla="*/ 3168291 h 4717133"/>
              <a:gd name="connsiteX614" fmla="*/ 502236 w 4694357"/>
              <a:gd name="connsiteY614" fmla="*/ 3166013 h 4717133"/>
              <a:gd name="connsiteX615" fmla="*/ 4309993 w 4694357"/>
              <a:gd name="connsiteY615" fmla="*/ 3162597 h 4717133"/>
              <a:gd name="connsiteX616" fmla="*/ 4317396 w 4694357"/>
              <a:gd name="connsiteY616" fmla="*/ 3170000 h 4717133"/>
              <a:gd name="connsiteX617" fmla="*/ 4309993 w 4694357"/>
              <a:gd name="connsiteY617" fmla="*/ 3177403 h 4717133"/>
              <a:gd name="connsiteX618" fmla="*/ 4302590 w 4694357"/>
              <a:gd name="connsiteY618" fmla="*/ 3170000 h 4717133"/>
              <a:gd name="connsiteX619" fmla="*/ 4309993 w 4694357"/>
              <a:gd name="connsiteY619" fmla="*/ 3162597 h 4717133"/>
              <a:gd name="connsiteX620" fmla="*/ 269909 w 4694357"/>
              <a:gd name="connsiteY620" fmla="*/ 3155764 h 4717133"/>
              <a:gd name="connsiteX621" fmla="*/ 288131 w 4694357"/>
              <a:gd name="connsiteY621" fmla="*/ 3174556 h 4717133"/>
              <a:gd name="connsiteX622" fmla="*/ 269909 w 4694357"/>
              <a:gd name="connsiteY622" fmla="*/ 3193348 h 4717133"/>
              <a:gd name="connsiteX623" fmla="*/ 251687 w 4694357"/>
              <a:gd name="connsiteY623" fmla="*/ 3174556 h 4717133"/>
              <a:gd name="connsiteX624" fmla="*/ 269909 w 4694357"/>
              <a:gd name="connsiteY624" fmla="*/ 3155764 h 4717133"/>
              <a:gd name="connsiteX625" fmla="*/ 4427864 w 4694357"/>
              <a:gd name="connsiteY625" fmla="*/ 3147792 h 4717133"/>
              <a:gd name="connsiteX626" fmla="*/ 4452919 w 4694357"/>
              <a:gd name="connsiteY626" fmla="*/ 3173417 h 4717133"/>
              <a:gd name="connsiteX627" fmla="*/ 4427864 w 4694357"/>
              <a:gd name="connsiteY627" fmla="*/ 3199042 h 4717133"/>
              <a:gd name="connsiteX628" fmla="*/ 4402809 w 4694357"/>
              <a:gd name="connsiteY628" fmla="*/ 3173417 h 4717133"/>
              <a:gd name="connsiteX629" fmla="*/ 4427864 w 4694357"/>
              <a:gd name="connsiteY629" fmla="*/ 3147792 h 4717133"/>
              <a:gd name="connsiteX630" fmla="*/ 4195539 w 4694357"/>
              <a:gd name="connsiteY630" fmla="*/ 3147792 h 4717133"/>
              <a:gd name="connsiteX631" fmla="*/ 4216039 w 4694357"/>
              <a:gd name="connsiteY631" fmla="*/ 3167722 h 4717133"/>
              <a:gd name="connsiteX632" fmla="*/ 4195539 w 4694357"/>
              <a:gd name="connsiteY632" fmla="*/ 3187652 h 4717133"/>
              <a:gd name="connsiteX633" fmla="*/ 4175039 w 4694357"/>
              <a:gd name="connsiteY633" fmla="*/ 3167722 h 4717133"/>
              <a:gd name="connsiteX634" fmla="*/ 4195539 w 4694357"/>
              <a:gd name="connsiteY634" fmla="*/ 3147792 h 4717133"/>
              <a:gd name="connsiteX635" fmla="*/ 387781 w 4694357"/>
              <a:gd name="connsiteY635" fmla="*/ 3145514 h 4717133"/>
              <a:gd name="connsiteX636" fmla="*/ 413406 w 4694357"/>
              <a:gd name="connsiteY636" fmla="*/ 3170569 h 4717133"/>
              <a:gd name="connsiteX637" fmla="*/ 387781 w 4694357"/>
              <a:gd name="connsiteY637" fmla="*/ 3195624 h 4717133"/>
              <a:gd name="connsiteX638" fmla="*/ 362156 w 4694357"/>
              <a:gd name="connsiteY638" fmla="*/ 3170569 h 4717133"/>
              <a:gd name="connsiteX639" fmla="*/ 387781 w 4694357"/>
              <a:gd name="connsiteY639" fmla="*/ 3145514 h 4717133"/>
              <a:gd name="connsiteX640" fmla="*/ 103067 w 4694357"/>
              <a:gd name="connsiteY640" fmla="*/ 3013407 h 4717133"/>
              <a:gd name="connsiteX641" fmla="*/ 108192 w 4694357"/>
              <a:gd name="connsiteY641" fmla="*/ 3018532 h 4717133"/>
              <a:gd name="connsiteX642" fmla="*/ 103067 w 4694357"/>
              <a:gd name="connsiteY642" fmla="*/ 3023657 h 4717133"/>
              <a:gd name="connsiteX643" fmla="*/ 97942 w 4694357"/>
              <a:gd name="connsiteY643" fmla="*/ 3018532 h 4717133"/>
              <a:gd name="connsiteX644" fmla="*/ 103067 w 4694357"/>
              <a:gd name="connsiteY644" fmla="*/ 3013407 h 4717133"/>
              <a:gd name="connsiteX645" fmla="*/ 4594707 w 4694357"/>
              <a:gd name="connsiteY645" fmla="*/ 3009991 h 4717133"/>
              <a:gd name="connsiteX646" fmla="*/ 4600971 w 4694357"/>
              <a:gd name="connsiteY646" fmla="*/ 3016824 h 4717133"/>
              <a:gd name="connsiteX647" fmla="*/ 4594707 w 4694357"/>
              <a:gd name="connsiteY647" fmla="*/ 3023657 h 4717133"/>
              <a:gd name="connsiteX648" fmla="*/ 4588443 w 4694357"/>
              <a:gd name="connsiteY648" fmla="*/ 3016824 h 4717133"/>
              <a:gd name="connsiteX649" fmla="*/ 4594707 w 4694357"/>
              <a:gd name="connsiteY649" fmla="*/ 3009991 h 4717133"/>
              <a:gd name="connsiteX650" fmla="*/ 441307 w 4694357"/>
              <a:gd name="connsiteY650" fmla="*/ 3009991 h 4717133"/>
              <a:gd name="connsiteX651" fmla="*/ 444155 w 4694357"/>
              <a:gd name="connsiteY651" fmla="*/ 3013408 h 4717133"/>
              <a:gd name="connsiteX652" fmla="*/ 441307 w 4694357"/>
              <a:gd name="connsiteY652" fmla="*/ 3016825 h 4717133"/>
              <a:gd name="connsiteX653" fmla="*/ 438459 w 4694357"/>
              <a:gd name="connsiteY653" fmla="*/ 3013408 h 4717133"/>
              <a:gd name="connsiteX654" fmla="*/ 441307 w 4694357"/>
              <a:gd name="connsiteY654" fmla="*/ 3009991 h 4717133"/>
              <a:gd name="connsiteX655" fmla="*/ 4368075 w 4694357"/>
              <a:gd name="connsiteY655" fmla="*/ 3005435 h 4717133"/>
              <a:gd name="connsiteX656" fmla="*/ 4376617 w 4694357"/>
              <a:gd name="connsiteY656" fmla="*/ 3013977 h 4717133"/>
              <a:gd name="connsiteX657" fmla="*/ 4368075 w 4694357"/>
              <a:gd name="connsiteY657" fmla="*/ 3022519 h 4717133"/>
              <a:gd name="connsiteX658" fmla="*/ 4359533 w 4694357"/>
              <a:gd name="connsiteY658" fmla="*/ 3013977 h 4717133"/>
              <a:gd name="connsiteX659" fmla="*/ 4368075 w 4694357"/>
              <a:gd name="connsiteY659" fmla="*/ 3005435 h 4717133"/>
              <a:gd name="connsiteX660" fmla="*/ 214105 w 4694357"/>
              <a:gd name="connsiteY660" fmla="*/ 2998602 h 4717133"/>
              <a:gd name="connsiteX661" fmla="*/ 232327 w 4694357"/>
              <a:gd name="connsiteY661" fmla="*/ 3016824 h 4717133"/>
              <a:gd name="connsiteX662" fmla="*/ 214105 w 4694357"/>
              <a:gd name="connsiteY662" fmla="*/ 3035046 h 4717133"/>
              <a:gd name="connsiteX663" fmla="*/ 195883 w 4694357"/>
              <a:gd name="connsiteY663" fmla="*/ 3016824 h 4717133"/>
              <a:gd name="connsiteX664" fmla="*/ 214105 w 4694357"/>
              <a:gd name="connsiteY664" fmla="*/ 2998602 h 4717133"/>
              <a:gd name="connsiteX665" fmla="*/ 4483668 w 4694357"/>
              <a:gd name="connsiteY665" fmla="*/ 2991769 h 4717133"/>
              <a:gd name="connsiteX666" fmla="*/ 4507584 w 4694357"/>
              <a:gd name="connsiteY666" fmla="*/ 3016255 h 4717133"/>
              <a:gd name="connsiteX667" fmla="*/ 4483668 w 4694357"/>
              <a:gd name="connsiteY667" fmla="*/ 3040741 h 4717133"/>
              <a:gd name="connsiteX668" fmla="*/ 4459752 w 4694357"/>
              <a:gd name="connsiteY668" fmla="*/ 3016255 h 4717133"/>
              <a:gd name="connsiteX669" fmla="*/ 4483668 w 4694357"/>
              <a:gd name="connsiteY669" fmla="*/ 2991769 h 4717133"/>
              <a:gd name="connsiteX670" fmla="*/ 330268 w 4694357"/>
              <a:gd name="connsiteY670" fmla="*/ 2991769 h 4717133"/>
              <a:gd name="connsiteX671" fmla="*/ 353045 w 4694357"/>
              <a:gd name="connsiteY671" fmla="*/ 3014546 h 4717133"/>
              <a:gd name="connsiteX672" fmla="*/ 330268 w 4694357"/>
              <a:gd name="connsiteY672" fmla="*/ 3037323 h 4717133"/>
              <a:gd name="connsiteX673" fmla="*/ 307491 w 4694357"/>
              <a:gd name="connsiteY673" fmla="*/ 3014546 h 4717133"/>
              <a:gd name="connsiteX674" fmla="*/ 330268 w 4694357"/>
              <a:gd name="connsiteY674" fmla="*/ 2991769 h 4717133"/>
              <a:gd name="connsiteX675" fmla="*/ 4256467 w 4694357"/>
              <a:gd name="connsiteY675" fmla="*/ 2990630 h 4717133"/>
              <a:gd name="connsiteX676" fmla="*/ 4278675 w 4694357"/>
              <a:gd name="connsiteY676" fmla="*/ 3012838 h 4717133"/>
              <a:gd name="connsiteX677" fmla="*/ 4256467 w 4694357"/>
              <a:gd name="connsiteY677" fmla="*/ 3035046 h 4717133"/>
              <a:gd name="connsiteX678" fmla="*/ 4234259 w 4694357"/>
              <a:gd name="connsiteY678" fmla="*/ 3012838 h 4717133"/>
              <a:gd name="connsiteX679" fmla="*/ 4256467 w 4694357"/>
              <a:gd name="connsiteY679" fmla="*/ 2990630 h 4717133"/>
              <a:gd name="connsiteX680" fmla="*/ 62069 w 4694357"/>
              <a:gd name="connsiteY680" fmla="*/ 2850551 h 4717133"/>
              <a:gd name="connsiteX681" fmla="*/ 68333 w 4694357"/>
              <a:gd name="connsiteY681" fmla="*/ 2856246 h 4717133"/>
              <a:gd name="connsiteX682" fmla="*/ 62069 w 4694357"/>
              <a:gd name="connsiteY682" fmla="*/ 2861941 h 4717133"/>
              <a:gd name="connsiteX683" fmla="*/ 55805 w 4694357"/>
              <a:gd name="connsiteY683" fmla="*/ 2856246 h 4717133"/>
              <a:gd name="connsiteX684" fmla="*/ 62069 w 4694357"/>
              <a:gd name="connsiteY684" fmla="*/ 2850551 h 4717133"/>
              <a:gd name="connsiteX685" fmla="*/ 4636275 w 4694357"/>
              <a:gd name="connsiteY685" fmla="*/ 2849412 h 4717133"/>
              <a:gd name="connsiteX686" fmla="*/ 4641970 w 4694357"/>
              <a:gd name="connsiteY686" fmla="*/ 2855107 h 4717133"/>
              <a:gd name="connsiteX687" fmla="*/ 4636275 w 4694357"/>
              <a:gd name="connsiteY687" fmla="*/ 2860802 h 4717133"/>
              <a:gd name="connsiteX688" fmla="*/ 4630580 w 4694357"/>
              <a:gd name="connsiteY688" fmla="*/ 2855107 h 4717133"/>
              <a:gd name="connsiteX689" fmla="*/ 4636275 w 4694357"/>
              <a:gd name="connsiteY689" fmla="*/ 2849412 h 4717133"/>
              <a:gd name="connsiteX690" fmla="*/ 394044 w 4694357"/>
              <a:gd name="connsiteY690" fmla="*/ 2849412 h 4717133"/>
              <a:gd name="connsiteX691" fmla="*/ 398601 w 4694357"/>
              <a:gd name="connsiteY691" fmla="*/ 2853398 h 4717133"/>
              <a:gd name="connsiteX692" fmla="*/ 394044 w 4694357"/>
              <a:gd name="connsiteY692" fmla="*/ 2857384 h 4717133"/>
              <a:gd name="connsiteX693" fmla="*/ 389488 w 4694357"/>
              <a:gd name="connsiteY693" fmla="*/ 2853398 h 4717133"/>
              <a:gd name="connsiteX694" fmla="*/ 394044 w 4694357"/>
              <a:gd name="connsiteY694" fmla="*/ 2849412 h 4717133"/>
              <a:gd name="connsiteX695" fmla="*/ 4413060 w 4694357"/>
              <a:gd name="connsiteY695" fmla="*/ 2844857 h 4717133"/>
              <a:gd name="connsiteX696" fmla="*/ 4422171 w 4694357"/>
              <a:gd name="connsiteY696" fmla="*/ 2853968 h 4717133"/>
              <a:gd name="connsiteX697" fmla="*/ 4413060 w 4694357"/>
              <a:gd name="connsiteY697" fmla="*/ 2863079 h 4717133"/>
              <a:gd name="connsiteX698" fmla="*/ 4403949 w 4694357"/>
              <a:gd name="connsiteY698" fmla="*/ 2853968 h 4717133"/>
              <a:gd name="connsiteX699" fmla="*/ 4413060 w 4694357"/>
              <a:gd name="connsiteY699" fmla="*/ 2844857 h 4717133"/>
              <a:gd name="connsiteX700" fmla="*/ 284714 w 4694357"/>
              <a:gd name="connsiteY700" fmla="*/ 2838024 h 4717133"/>
              <a:gd name="connsiteX701" fmla="*/ 301797 w 4694357"/>
              <a:gd name="connsiteY701" fmla="*/ 2854538 h 4717133"/>
              <a:gd name="connsiteX702" fmla="*/ 284714 w 4694357"/>
              <a:gd name="connsiteY702" fmla="*/ 2871052 h 4717133"/>
              <a:gd name="connsiteX703" fmla="*/ 267631 w 4694357"/>
              <a:gd name="connsiteY703" fmla="*/ 2854538 h 4717133"/>
              <a:gd name="connsiteX704" fmla="*/ 284714 w 4694357"/>
              <a:gd name="connsiteY704" fmla="*/ 2838024 h 4717133"/>
              <a:gd name="connsiteX705" fmla="*/ 171399 w 4694357"/>
              <a:gd name="connsiteY705" fmla="*/ 2838024 h 4717133"/>
              <a:gd name="connsiteX706" fmla="*/ 189052 w 4694357"/>
              <a:gd name="connsiteY706" fmla="*/ 2856246 h 4717133"/>
              <a:gd name="connsiteX707" fmla="*/ 171399 w 4694357"/>
              <a:gd name="connsiteY707" fmla="*/ 2874468 h 4717133"/>
              <a:gd name="connsiteX708" fmla="*/ 153746 w 4694357"/>
              <a:gd name="connsiteY708" fmla="*/ 2856246 h 4717133"/>
              <a:gd name="connsiteX709" fmla="*/ 171399 w 4694357"/>
              <a:gd name="connsiteY709" fmla="*/ 2838024 h 4717133"/>
              <a:gd name="connsiteX710" fmla="*/ 4526945 w 4694357"/>
              <a:gd name="connsiteY710" fmla="*/ 2831190 h 4717133"/>
              <a:gd name="connsiteX711" fmla="*/ 4549722 w 4694357"/>
              <a:gd name="connsiteY711" fmla="*/ 2854537 h 4717133"/>
              <a:gd name="connsiteX712" fmla="*/ 4526945 w 4694357"/>
              <a:gd name="connsiteY712" fmla="*/ 2877884 h 4717133"/>
              <a:gd name="connsiteX713" fmla="*/ 4504168 w 4694357"/>
              <a:gd name="connsiteY713" fmla="*/ 2854537 h 4717133"/>
              <a:gd name="connsiteX714" fmla="*/ 4526945 w 4694357"/>
              <a:gd name="connsiteY714" fmla="*/ 2831190 h 4717133"/>
              <a:gd name="connsiteX715" fmla="*/ 4303729 w 4694357"/>
              <a:gd name="connsiteY715" fmla="*/ 2828913 h 4717133"/>
              <a:gd name="connsiteX716" fmla="*/ 4327645 w 4694357"/>
              <a:gd name="connsiteY716" fmla="*/ 2852829 h 4717133"/>
              <a:gd name="connsiteX717" fmla="*/ 4303729 w 4694357"/>
              <a:gd name="connsiteY717" fmla="*/ 2876745 h 4717133"/>
              <a:gd name="connsiteX718" fmla="*/ 4279813 w 4694357"/>
              <a:gd name="connsiteY718" fmla="*/ 2852829 h 4717133"/>
              <a:gd name="connsiteX719" fmla="*/ 4303729 w 4694357"/>
              <a:gd name="connsiteY719" fmla="*/ 2828913 h 4717133"/>
              <a:gd name="connsiteX720" fmla="*/ 4665885 w 4694357"/>
              <a:gd name="connsiteY720" fmla="*/ 2685417 h 4717133"/>
              <a:gd name="connsiteX721" fmla="*/ 4671580 w 4694357"/>
              <a:gd name="connsiteY721" fmla="*/ 2691112 h 4717133"/>
              <a:gd name="connsiteX722" fmla="*/ 4665885 w 4694357"/>
              <a:gd name="connsiteY722" fmla="*/ 2696807 h 4717133"/>
              <a:gd name="connsiteX723" fmla="*/ 4660190 w 4694357"/>
              <a:gd name="connsiteY723" fmla="*/ 2691112 h 4717133"/>
              <a:gd name="connsiteX724" fmla="*/ 4665885 w 4694357"/>
              <a:gd name="connsiteY724" fmla="*/ 2685417 h 4717133"/>
              <a:gd name="connsiteX725" fmla="*/ 360448 w 4694357"/>
              <a:gd name="connsiteY725" fmla="*/ 2685417 h 4717133"/>
              <a:gd name="connsiteX726" fmla="*/ 365573 w 4694357"/>
              <a:gd name="connsiteY726" fmla="*/ 2690542 h 4717133"/>
              <a:gd name="connsiteX727" fmla="*/ 360448 w 4694357"/>
              <a:gd name="connsiteY727" fmla="*/ 2695667 h 4717133"/>
              <a:gd name="connsiteX728" fmla="*/ 355323 w 4694357"/>
              <a:gd name="connsiteY728" fmla="*/ 2690542 h 4717133"/>
              <a:gd name="connsiteX729" fmla="*/ 360448 w 4694357"/>
              <a:gd name="connsiteY729" fmla="*/ 2685417 h 4717133"/>
              <a:gd name="connsiteX730" fmla="*/ 33027 w 4694357"/>
              <a:gd name="connsiteY730" fmla="*/ 2685417 h 4717133"/>
              <a:gd name="connsiteX731" fmla="*/ 39860 w 4694357"/>
              <a:gd name="connsiteY731" fmla="*/ 2692250 h 4717133"/>
              <a:gd name="connsiteX732" fmla="*/ 33027 w 4694357"/>
              <a:gd name="connsiteY732" fmla="*/ 2699083 h 4717133"/>
              <a:gd name="connsiteX733" fmla="*/ 26194 w 4694357"/>
              <a:gd name="connsiteY733" fmla="*/ 2692250 h 4717133"/>
              <a:gd name="connsiteX734" fmla="*/ 33027 w 4694357"/>
              <a:gd name="connsiteY734" fmla="*/ 2685417 h 4717133"/>
              <a:gd name="connsiteX735" fmla="*/ 252257 w 4694357"/>
              <a:gd name="connsiteY735" fmla="*/ 2682001 h 4717133"/>
              <a:gd name="connsiteX736" fmla="*/ 260799 w 4694357"/>
              <a:gd name="connsiteY736" fmla="*/ 2691112 h 4717133"/>
              <a:gd name="connsiteX737" fmla="*/ 252257 w 4694357"/>
              <a:gd name="connsiteY737" fmla="*/ 2700223 h 4717133"/>
              <a:gd name="connsiteX738" fmla="*/ 243715 w 4694357"/>
              <a:gd name="connsiteY738" fmla="*/ 2691112 h 4717133"/>
              <a:gd name="connsiteX739" fmla="*/ 252257 w 4694357"/>
              <a:gd name="connsiteY739" fmla="*/ 2682001 h 4717133"/>
              <a:gd name="connsiteX740" fmla="*/ 4446086 w 4694357"/>
              <a:gd name="connsiteY740" fmla="*/ 2679723 h 4717133"/>
              <a:gd name="connsiteX741" fmla="*/ 4456336 w 4694357"/>
              <a:gd name="connsiteY741" fmla="*/ 2689973 h 4717133"/>
              <a:gd name="connsiteX742" fmla="*/ 4446086 w 4694357"/>
              <a:gd name="connsiteY742" fmla="*/ 2700223 h 4717133"/>
              <a:gd name="connsiteX743" fmla="*/ 4435836 w 4694357"/>
              <a:gd name="connsiteY743" fmla="*/ 2689973 h 4717133"/>
              <a:gd name="connsiteX744" fmla="*/ 4446086 w 4694357"/>
              <a:gd name="connsiteY744" fmla="*/ 2679723 h 4717133"/>
              <a:gd name="connsiteX745" fmla="*/ 140080 w 4694357"/>
              <a:gd name="connsiteY745" fmla="*/ 2674029 h 4717133"/>
              <a:gd name="connsiteX746" fmla="*/ 158302 w 4694357"/>
              <a:gd name="connsiteY746" fmla="*/ 2692251 h 4717133"/>
              <a:gd name="connsiteX747" fmla="*/ 140080 w 4694357"/>
              <a:gd name="connsiteY747" fmla="*/ 2710473 h 4717133"/>
              <a:gd name="connsiteX748" fmla="*/ 121858 w 4694357"/>
              <a:gd name="connsiteY748" fmla="*/ 2692251 h 4717133"/>
              <a:gd name="connsiteX749" fmla="*/ 140080 w 4694357"/>
              <a:gd name="connsiteY749" fmla="*/ 2674029 h 4717133"/>
              <a:gd name="connsiteX750" fmla="*/ 4558264 w 4694357"/>
              <a:gd name="connsiteY750" fmla="*/ 2668335 h 4717133"/>
              <a:gd name="connsiteX751" fmla="*/ 4580472 w 4694357"/>
              <a:gd name="connsiteY751" fmla="*/ 2691112 h 4717133"/>
              <a:gd name="connsiteX752" fmla="*/ 4558264 w 4694357"/>
              <a:gd name="connsiteY752" fmla="*/ 2713889 h 4717133"/>
              <a:gd name="connsiteX753" fmla="*/ 4536056 w 4694357"/>
              <a:gd name="connsiteY753" fmla="*/ 2691112 h 4717133"/>
              <a:gd name="connsiteX754" fmla="*/ 4558264 w 4694357"/>
              <a:gd name="connsiteY754" fmla="*/ 2668335 h 4717133"/>
              <a:gd name="connsiteX755" fmla="*/ 4337895 w 4694357"/>
              <a:gd name="connsiteY755" fmla="*/ 2664918 h 4717133"/>
              <a:gd name="connsiteX756" fmla="*/ 4364089 w 4694357"/>
              <a:gd name="connsiteY756" fmla="*/ 2690543 h 4717133"/>
              <a:gd name="connsiteX757" fmla="*/ 4337895 w 4694357"/>
              <a:gd name="connsiteY757" fmla="*/ 2716168 h 4717133"/>
              <a:gd name="connsiteX758" fmla="*/ 4311701 w 4694357"/>
              <a:gd name="connsiteY758" fmla="*/ 2690543 h 4717133"/>
              <a:gd name="connsiteX759" fmla="*/ 4337895 w 4694357"/>
              <a:gd name="connsiteY759" fmla="*/ 2664918 h 4717133"/>
              <a:gd name="connsiteX760" fmla="*/ 232327 w 4694357"/>
              <a:gd name="connsiteY760" fmla="*/ 2522561 h 4717133"/>
              <a:gd name="connsiteX761" fmla="*/ 235744 w 4694357"/>
              <a:gd name="connsiteY761" fmla="*/ 2525978 h 4717133"/>
              <a:gd name="connsiteX762" fmla="*/ 232327 w 4694357"/>
              <a:gd name="connsiteY762" fmla="*/ 2529395 h 4717133"/>
              <a:gd name="connsiteX763" fmla="*/ 228910 w 4694357"/>
              <a:gd name="connsiteY763" fmla="*/ 2525978 h 4717133"/>
              <a:gd name="connsiteX764" fmla="*/ 232327 w 4694357"/>
              <a:gd name="connsiteY764" fmla="*/ 2522561 h 4717133"/>
              <a:gd name="connsiteX765" fmla="*/ 4682968 w 4694357"/>
              <a:gd name="connsiteY765" fmla="*/ 2519145 h 4717133"/>
              <a:gd name="connsiteX766" fmla="*/ 4688663 w 4694357"/>
              <a:gd name="connsiteY766" fmla="*/ 2524840 h 4717133"/>
              <a:gd name="connsiteX767" fmla="*/ 4682968 w 4694357"/>
              <a:gd name="connsiteY767" fmla="*/ 2530535 h 4717133"/>
              <a:gd name="connsiteX768" fmla="*/ 4677273 w 4694357"/>
              <a:gd name="connsiteY768" fmla="*/ 2524840 h 4717133"/>
              <a:gd name="connsiteX769" fmla="*/ 4682968 w 4694357"/>
              <a:gd name="connsiteY769" fmla="*/ 2519145 h 4717133"/>
              <a:gd name="connsiteX770" fmla="*/ 339380 w 4694357"/>
              <a:gd name="connsiteY770" fmla="*/ 2519145 h 4717133"/>
              <a:gd name="connsiteX771" fmla="*/ 345075 w 4694357"/>
              <a:gd name="connsiteY771" fmla="*/ 2525409 h 4717133"/>
              <a:gd name="connsiteX772" fmla="*/ 339380 w 4694357"/>
              <a:gd name="connsiteY772" fmla="*/ 2531673 h 4717133"/>
              <a:gd name="connsiteX773" fmla="*/ 333685 w 4694357"/>
              <a:gd name="connsiteY773" fmla="*/ 2525409 h 4717133"/>
              <a:gd name="connsiteX774" fmla="*/ 339380 w 4694357"/>
              <a:gd name="connsiteY774" fmla="*/ 2519145 h 4717133"/>
              <a:gd name="connsiteX775" fmla="*/ 14806 w 4694357"/>
              <a:gd name="connsiteY775" fmla="*/ 2519145 h 4717133"/>
              <a:gd name="connsiteX776" fmla="*/ 22778 w 4694357"/>
              <a:gd name="connsiteY776" fmla="*/ 2526548 h 4717133"/>
              <a:gd name="connsiteX777" fmla="*/ 14806 w 4694357"/>
              <a:gd name="connsiteY777" fmla="*/ 2533951 h 4717133"/>
              <a:gd name="connsiteX778" fmla="*/ 6834 w 4694357"/>
              <a:gd name="connsiteY778" fmla="*/ 2526548 h 4717133"/>
              <a:gd name="connsiteX779" fmla="*/ 14806 w 4694357"/>
              <a:gd name="connsiteY779" fmla="*/ 2519145 h 4717133"/>
              <a:gd name="connsiteX780" fmla="*/ 4464877 w 4694357"/>
              <a:gd name="connsiteY780" fmla="*/ 2513451 h 4717133"/>
              <a:gd name="connsiteX781" fmla="*/ 4476835 w 4694357"/>
              <a:gd name="connsiteY781" fmla="*/ 2524840 h 4717133"/>
              <a:gd name="connsiteX782" fmla="*/ 4464877 w 4694357"/>
              <a:gd name="connsiteY782" fmla="*/ 2536229 h 4717133"/>
              <a:gd name="connsiteX783" fmla="*/ 4452919 w 4694357"/>
              <a:gd name="connsiteY783" fmla="*/ 2524840 h 4717133"/>
              <a:gd name="connsiteX784" fmla="*/ 4464877 w 4694357"/>
              <a:gd name="connsiteY784" fmla="*/ 2513451 h 4717133"/>
              <a:gd name="connsiteX785" fmla="*/ 121289 w 4694357"/>
              <a:gd name="connsiteY785" fmla="*/ 2508895 h 4717133"/>
              <a:gd name="connsiteX786" fmla="*/ 138942 w 4694357"/>
              <a:gd name="connsiteY786" fmla="*/ 2526548 h 4717133"/>
              <a:gd name="connsiteX787" fmla="*/ 121289 w 4694357"/>
              <a:gd name="connsiteY787" fmla="*/ 2544201 h 4717133"/>
              <a:gd name="connsiteX788" fmla="*/ 103636 w 4694357"/>
              <a:gd name="connsiteY788" fmla="*/ 2526548 h 4717133"/>
              <a:gd name="connsiteX789" fmla="*/ 121289 w 4694357"/>
              <a:gd name="connsiteY789" fmla="*/ 2508895 h 4717133"/>
              <a:gd name="connsiteX790" fmla="*/ 4576485 w 4694357"/>
              <a:gd name="connsiteY790" fmla="*/ 2503201 h 4717133"/>
              <a:gd name="connsiteX791" fmla="*/ 4597554 w 4694357"/>
              <a:gd name="connsiteY791" fmla="*/ 2524839 h 4717133"/>
              <a:gd name="connsiteX792" fmla="*/ 4576485 w 4694357"/>
              <a:gd name="connsiteY792" fmla="*/ 2546477 h 4717133"/>
              <a:gd name="connsiteX793" fmla="*/ 4555416 w 4694357"/>
              <a:gd name="connsiteY793" fmla="*/ 2524839 h 4717133"/>
              <a:gd name="connsiteX794" fmla="*/ 4576485 w 4694357"/>
              <a:gd name="connsiteY794" fmla="*/ 2503201 h 4717133"/>
              <a:gd name="connsiteX795" fmla="*/ 4358394 w 4694357"/>
              <a:gd name="connsiteY795" fmla="*/ 2498645 h 4717133"/>
              <a:gd name="connsiteX796" fmla="*/ 4384588 w 4694357"/>
              <a:gd name="connsiteY796" fmla="*/ 2525408 h 4717133"/>
              <a:gd name="connsiteX797" fmla="*/ 4358394 w 4694357"/>
              <a:gd name="connsiteY797" fmla="*/ 2552171 h 4717133"/>
              <a:gd name="connsiteX798" fmla="*/ 4332200 w 4694357"/>
              <a:gd name="connsiteY798" fmla="*/ 2525408 h 4717133"/>
              <a:gd name="connsiteX799" fmla="*/ 4358394 w 4694357"/>
              <a:gd name="connsiteY799" fmla="*/ 2498645 h 4717133"/>
              <a:gd name="connsiteX800" fmla="*/ 226064 w 4694357"/>
              <a:gd name="connsiteY800" fmla="*/ 2357427 h 4717133"/>
              <a:gd name="connsiteX801" fmla="*/ 227773 w 4694357"/>
              <a:gd name="connsiteY801" fmla="*/ 2359136 h 4717133"/>
              <a:gd name="connsiteX802" fmla="*/ 226064 w 4694357"/>
              <a:gd name="connsiteY802" fmla="*/ 2360845 h 4717133"/>
              <a:gd name="connsiteX803" fmla="*/ 224355 w 4694357"/>
              <a:gd name="connsiteY803" fmla="*/ 2359136 h 4717133"/>
              <a:gd name="connsiteX804" fmla="*/ 226064 w 4694357"/>
              <a:gd name="connsiteY804" fmla="*/ 2357427 h 4717133"/>
              <a:gd name="connsiteX805" fmla="*/ 332546 w 4694357"/>
              <a:gd name="connsiteY805" fmla="*/ 2352872 h 4717133"/>
              <a:gd name="connsiteX806" fmla="*/ 339379 w 4694357"/>
              <a:gd name="connsiteY806" fmla="*/ 2359705 h 4717133"/>
              <a:gd name="connsiteX807" fmla="*/ 332546 w 4694357"/>
              <a:gd name="connsiteY807" fmla="*/ 2366538 h 4717133"/>
              <a:gd name="connsiteX808" fmla="*/ 325713 w 4694357"/>
              <a:gd name="connsiteY808" fmla="*/ 2359705 h 4717133"/>
              <a:gd name="connsiteX809" fmla="*/ 332546 w 4694357"/>
              <a:gd name="connsiteY809" fmla="*/ 2352872 h 4717133"/>
              <a:gd name="connsiteX810" fmla="*/ 4688662 w 4694357"/>
              <a:gd name="connsiteY810" fmla="*/ 2351733 h 4717133"/>
              <a:gd name="connsiteX811" fmla="*/ 4694357 w 4694357"/>
              <a:gd name="connsiteY811" fmla="*/ 2357997 h 4717133"/>
              <a:gd name="connsiteX812" fmla="*/ 4688662 w 4694357"/>
              <a:gd name="connsiteY812" fmla="*/ 2364261 h 4717133"/>
              <a:gd name="connsiteX813" fmla="*/ 4682967 w 4694357"/>
              <a:gd name="connsiteY813" fmla="*/ 2357997 h 4717133"/>
              <a:gd name="connsiteX814" fmla="*/ 4688662 w 4694357"/>
              <a:gd name="connsiteY814" fmla="*/ 2351733 h 4717133"/>
              <a:gd name="connsiteX815" fmla="*/ 8542 w 4694357"/>
              <a:gd name="connsiteY815" fmla="*/ 2350594 h 4717133"/>
              <a:gd name="connsiteX816" fmla="*/ 17084 w 4694357"/>
              <a:gd name="connsiteY816" fmla="*/ 2359705 h 4717133"/>
              <a:gd name="connsiteX817" fmla="*/ 8542 w 4694357"/>
              <a:gd name="connsiteY817" fmla="*/ 2368816 h 4717133"/>
              <a:gd name="connsiteX818" fmla="*/ 0 w 4694357"/>
              <a:gd name="connsiteY818" fmla="*/ 2359705 h 4717133"/>
              <a:gd name="connsiteX819" fmla="*/ 8542 w 4694357"/>
              <a:gd name="connsiteY819" fmla="*/ 2350594 h 4717133"/>
              <a:gd name="connsiteX820" fmla="*/ 4471711 w 4694357"/>
              <a:gd name="connsiteY820" fmla="*/ 2346039 h 4717133"/>
              <a:gd name="connsiteX821" fmla="*/ 4484808 w 4694357"/>
              <a:gd name="connsiteY821" fmla="*/ 2358567 h 4717133"/>
              <a:gd name="connsiteX822" fmla="*/ 4471711 w 4694357"/>
              <a:gd name="connsiteY822" fmla="*/ 2371095 h 4717133"/>
              <a:gd name="connsiteX823" fmla="*/ 4458614 w 4694357"/>
              <a:gd name="connsiteY823" fmla="*/ 2358567 h 4717133"/>
              <a:gd name="connsiteX824" fmla="*/ 4471711 w 4694357"/>
              <a:gd name="connsiteY824" fmla="*/ 2346039 h 4717133"/>
              <a:gd name="connsiteX825" fmla="*/ 115595 w 4694357"/>
              <a:gd name="connsiteY825" fmla="*/ 2341483 h 4717133"/>
              <a:gd name="connsiteX826" fmla="*/ 133248 w 4694357"/>
              <a:gd name="connsiteY826" fmla="*/ 2359136 h 4717133"/>
              <a:gd name="connsiteX827" fmla="*/ 115595 w 4694357"/>
              <a:gd name="connsiteY827" fmla="*/ 2376789 h 4717133"/>
              <a:gd name="connsiteX828" fmla="*/ 97942 w 4694357"/>
              <a:gd name="connsiteY828" fmla="*/ 2359136 h 4717133"/>
              <a:gd name="connsiteX829" fmla="*/ 115595 w 4694357"/>
              <a:gd name="connsiteY829" fmla="*/ 2341483 h 4717133"/>
              <a:gd name="connsiteX830" fmla="*/ 4582179 w 4694357"/>
              <a:gd name="connsiteY830" fmla="*/ 2336928 h 4717133"/>
              <a:gd name="connsiteX831" fmla="*/ 4603248 w 4694357"/>
              <a:gd name="connsiteY831" fmla="*/ 2357997 h 4717133"/>
              <a:gd name="connsiteX832" fmla="*/ 4582179 w 4694357"/>
              <a:gd name="connsiteY832" fmla="*/ 2379066 h 4717133"/>
              <a:gd name="connsiteX833" fmla="*/ 4561110 w 4694357"/>
              <a:gd name="connsiteY833" fmla="*/ 2357997 h 4717133"/>
              <a:gd name="connsiteX834" fmla="*/ 4582179 w 4694357"/>
              <a:gd name="connsiteY834" fmla="*/ 2336928 h 4717133"/>
              <a:gd name="connsiteX835" fmla="*/ 4365228 w 4694357"/>
              <a:gd name="connsiteY835" fmla="*/ 2331234 h 4717133"/>
              <a:gd name="connsiteX836" fmla="*/ 4392561 w 4694357"/>
              <a:gd name="connsiteY836" fmla="*/ 2358567 h 4717133"/>
              <a:gd name="connsiteX837" fmla="*/ 4365228 w 4694357"/>
              <a:gd name="connsiteY837" fmla="*/ 2385900 h 4717133"/>
              <a:gd name="connsiteX838" fmla="*/ 4337895 w 4694357"/>
              <a:gd name="connsiteY838" fmla="*/ 2358567 h 4717133"/>
              <a:gd name="connsiteX839" fmla="*/ 4365228 w 4694357"/>
              <a:gd name="connsiteY839" fmla="*/ 2331234 h 4717133"/>
              <a:gd name="connsiteX840" fmla="*/ 232897 w 4694357"/>
              <a:gd name="connsiteY840" fmla="*/ 2191155 h 4717133"/>
              <a:gd name="connsiteX841" fmla="*/ 234606 w 4694357"/>
              <a:gd name="connsiteY841" fmla="*/ 2192864 h 4717133"/>
              <a:gd name="connsiteX842" fmla="*/ 232897 w 4694357"/>
              <a:gd name="connsiteY842" fmla="*/ 2194573 h 4717133"/>
              <a:gd name="connsiteX843" fmla="*/ 231188 w 4694357"/>
              <a:gd name="connsiteY843" fmla="*/ 2192864 h 4717133"/>
              <a:gd name="connsiteX844" fmla="*/ 232897 w 4694357"/>
              <a:gd name="connsiteY844" fmla="*/ 2191155 h 4717133"/>
              <a:gd name="connsiteX845" fmla="*/ 339379 w 4694357"/>
              <a:gd name="connsiteY845" fmla="*/ 2185461 h 4717133"/>
              <a:gd name="connsiteX846" fmla="*/ 347351 w 4694357"/>
              <a:gd name="connsiteY846" fmla="*/ 2192864 h 4717133"/>
              <a:gd name="connsiteX847" fmla="*/ 339379 w 4694357"/>
              <a:gd name="connsiteY847" fmla="*/ 2200267 h 4717133"/>
              <a:gd name="connsiteX848" fmla="*/ 331407 w 4694357"/>
              <a:gd name="connsiteY848" fmla="*/ 2192864 h 4717133"/>
              <a:gd name="connsiteX849" fmla="*/ 339379 w 4694357"/>
              <a:gd name="connsiteY849" fmla="*/ 2185461 h 4717133"/>
              <a:gd name="connsiteX850" fmla="*/ 4682968 w 4694357"/>
              <a:gd name="connsiteY850" fmla="*/ 2184322 h 4717133"/>
              <a:gd name="connsiteX851" fmla="*/ 4690940 w 4694357"/>
              <a:gd name="connsiteY851" fmla="*/ 2191155 h 4717133"/>
              <a:gd name="connsiteX852" fmla="*/ 4682968 w 4694357"/>
              <a:gd name="connsiteY852" fmla="*/ 2197988 h 4717133"/>
              <a:gd name="connsiteX853" fmla="*/ 4674996 w 4694357"/>
              <a:gd name="connsiteY853" fmla="*/ 2191155 h 4717133"/>
              <a:gd name="connsiteX854" fmla="*/ 4682968 w 4694357"/>
              <a:gd name="connsiteY854" fmla="*/ 2184322 h 4717133"/>
              <a:gd name="connsiteX855" fmla="*/ 14237 w 4694357"/>
              <a:gd name="connsiteY855" fmla="*/ 2183183 h 4717133"/>
              <a:gd name="connsiteX856" fmla="*/ 23918 w 4694357"/>
              <a:gd name="connsiteY856" fmla="*/ 2192864 h 4717133"/>
              <a:gd name="connsiteX857" fmla="*/ 14237 w 4694357"/>
              <a:gd name="connsiteY857" fmla="*/ 2202545 h 4717133"/>
              <a:gd name="connsiteX858" fmla="*/ 4556 w 4694357"/>
              <a:gd name="connsiteY858" fmla="*/ 2192864 h 4717133"/>
              <a:gd name="connsiteX859" fmla="*/ 14237 w 4694357"/>
              <a:gd name="connsiteY859" fmla="*/ 2183183 h 4717133"/>
              <a:gd name="connsiteX860" fmla="*/ 121289 w 4694357"/>
              <a:gd name="connsiteY860" fmla="*/ 2178628 h 4717133"/>
              <a:gd name="connsiteX861" fmla="*/ 135525 w 4694357"/>
              <a:gd name="connsiteY861" fmla="*/ 2192864 h 4717133"/>
              <a:gd name="connsiteX862" fmla="*/ 121289 w 4694357"/>
              <a:gd name="connsiteY862" fmla="*/ 2207100 h 4717133"/>
              <a:gd name="connsiteX863" fmla="*/ 107053 w 4694357"/>
              <a:gd name="connsiteY863" fmla="*/ 2192864 h 4717133"/>
              <a:gd name="connsiteX864" fmla="*/ 121289 w 4694357"/>
              <a:gd name="connsiteY864" fmla="*/ 2178628 h 4717133"/>
              <a:gd name="connsiteX865" fmla="*/ 4464878 w 4694357"/>
              <a:gd name="connsiteY865" fmla="*/ 2176350 h 4717133"/>
              <a:gd name="connsiteX866" fmla="*/ 4480253 w 4694357"/>
              <a:gd name="connsiteY866" fmla="*/ 2191725 h 4717133"/>
              <a:gd name="connsiteX867" fmla="*/ 4464878 w 4694357"/>
              <a:gd name="connsiteY867" fmla="*/ 2207100 h 4717133"/>
              <a:gd name="connsiteX868" fmla="*/ 4449503 w 4694357"/>
              <a:gd name="connsiteY868" fmla="*/ 2191725 h 4717133"/>
              <a:gd name="connsiteX869" fmla="*/ 4464878 w 4694357"/>
              <a:gd name="connsiteY869" fmla="*/ 2176350 h 4717133"/>
              <a:gd name="connsiteX870" fmla="*/ 4576485 w 4694357"/>
              <a:gd name="connsiteY870" fmla="*/ 2170655 h 4717133"/>
              <a:gd name="connsiteX871" fmla="*/ 4597554 w 4694357"/>
              <a:gd name="connsiteY871" fmla="*/ 2191724 h 4717133"/>
              <a:gd name="connsiteX872" fmla="*/ 4576485 w 4694357"/>
              <a:gd name="connsiteY872" fmla="*/ 2212793 h 4717133"/>
              <a:gd name="connsiteX873" fmla="*/ 4555416 w 4694357"/>
              <a:gd name="connsiteY873" fmla="*/ 2191724 h 4717133"/>
              <a:gd name="connsiteX874" fmla="*/ 4576485 w 4694357"/>
              <a:gd name="connsiteY874" fmla="*/ 2170655 h 4717133"/>
              <a:gd name="connsiteX875" fmla="*/ 4358395 w 4694357"/>
              <a:gd name="connsiteY875" fmla="*/ 2163822 h 4717133"/>
              <a:gd name="connsiteX876" fmla="*/ 4386867 w 4694357"/>
              <a:gd name="connsiteY876" fmla="*/ 2191724 h 4717133"/>
              <a:gd name="connsiteX877" fmla="*/ 4358395 w 4694357"/>
              <a:gd name="connsiteY877" fmla="*/ 2219626 h 4717133"/>
              <a:gd name="connsiteX878" fmla="*/ 4329923 w 4694357"/>
              <a:gd name="connsiteY878" fmla="*/ 2191724 h 4717133"/>
              <a:gd name="connsiteX879" fmla="*/ 4358395 w 4694357"/>
              <a:gd name="connsiteY879" fmla="*/ 2163822 h 4717133"/>
              <a:gd name="connsiteX880" fmla="*/ 251688 w 4694357"/>
              <a:gd name="connsiteY880" fmla="*/ 2026021 h 4717133"/>
              <a:gd name="connsiteX881" fmla="*/ 253966 w 4694357"/>
              <a:gd name="connsiteY881" fmla="*/ 2027730 h 4717133"/>
              <a:gd name="connsiteX882" fmla="*/ 251688 w 4694357"/>
              <a:gd name="connsiteY882" fmla="*/ 2029439 h 4717133"/>
              <a:gd name="connsiteX883" fmla="*/ 249410 w 4694357"/>
              <a:gd name="connsiteY883" fmla="*/ 2027730 h 4717133"/>
              <a:gd name="connsiteX884" fmla="*/ 251688 w 4694357"/>
              <a:gd name="connsiteY884" fmla="*/ 2026021 h 4717133"/>
              <a:gd name="connsiteX885" fmla="*/ 359879 w 4694357"/>
              <a:gd name="connsiteY885" fmla="*/ 2020327 h 4717133"/>
              <a:gd name="connsiteX886" fmla="*/ 367851 w 4694357"/>
              <a:gd name="connsiteY886" fmla="*/ 2028299 h 4717133"/>
              <a:gd name="connsiteX887" fmla="*/ 359879 w 4694357"/>
              <a:gd name="connsiteY887" fmla="*/ 2036271 h 4717133"/>
              <a:gd name="connsiteX888" fmla="*/ 351907 w 4694357"/>
              <a:gd name="connsiteY888" fmla="*/ 2028299 h 4717133"/>
              <a:gd name="connsiteX889" fmla="*/ 359879 w 4694357"/>
              <a:gd name="connsiteY889" fmla="*/ 2020327 h 4717133"/>
              <a:gd name="connsiteX890" fmla="*/ 4664746 w 4694357"/>
              <a:gd name="connsiteY890" fmla="*/ 2016910 h 4717133"/>
              <a:gd name="connsiteX891" fmla="*/ 4673857 w 4694357"/>
              <a:gd name="connsiteY891" fmla="*/ 2025452 h 4717133"/>
              <a:gd name="connsiteX892" fmla="*/ 4664746 w 4694357"/>
              <a:gd name="connsiteY892" fmla="*/ 2033994 h 4717133"/>
              <a:gd name="connsiteX893" fmla="*/ 4655635 w 4694357"/>
              <a:gd name="connsiteY893" fmla="*/ 2025452 h 4717133"/>
              <a:gd name="connsiteX894" fmla="*/ 4664746 w 4694357"/>
              <a:gd name="connsiteY894" fmla="*/ 2016910 h 4717133"/>
              <a:gd name="connsiteX895" fmla="*/ 32459 w 4694357"/>
              <a:gd name="connsiteY895" fmla="*/ 2016910 h 4717133"/>
              <a:gd name="connsiteX896" fmla="*/ 43279 w 4694357"/>
              <a:gd name="connsiteY896" fmla="*/ 2027160 h 4717133"/>
              <a:gd name="connsiteX897" fmla="*/ 32459 w 4694357"/>
              <a:gd name="connsiteY897" fmla="*/ 2037410 h 4717133"/>
              <a:gd name="connsiteX898" fmla="*/ 21639 w 4694357"/>
              <a:gd name="connsiteY898" fmla="*/ 2027160 h 4717133"/>
              <a:gd name="connsiteX899" fmla="*/ 32459 w 4694357"/>
              <a:gd name="connsiteY899" fmla="*/ 2016910 h 4717133"/>
              <a:gd name="connsiteX900" fmla="*/ 139511 w 4694357"/>
              <a:gd name="connsiteY900" fmla="*/ 2011216 h 4717133"/>
              <a:gd name="connsiteX901" fmla="*/ 154886 w 4694357"/>
              <a:gd name="connsiteY901" fmla="*/ 2026591 h 4717133"/>
              <a:gd name="connsiteX902" fmla="*/ 139511 w 4694357"/>
              <a:gd name="connsiteY902" fmla="*/ 2041966 h 4717133"/>
              <a:gd name="connsiteX903" fmla="*/ 124136 w 4694357"/>
              <a:gd name="connsiteY903" fmla="*/ 2026591 h 4717133"/>
              <a:gd name="connsiteX904" fmla="*/ 139511 w 4694357"/>
              <a:gd name="connsiteY904" fmla="*/ 2011216 h 4717133"/>
              <a:gd name="connsiteX905" fmla="*/ 4445517 w 4694357"/>
              <a:gd name="connsiteY905" fmla="*/ 2005522 h 4717133"/>
              <a:gd name="connsiteX906" fmla="*/ 4466586 w 4694357"/>
              <a:gd name="connsiteY906" fmla="*/ 2026591 h 4717133"/>
              <a:gd name="connsiteX907" fmla="*/ 4445517 w 4694357"/>
              <a:gd name="connsiteY907" fmla="*/ 2047660 h 4717133"/>
              <a:gd name="connsiteX908" fmla="*/ 4424448 w 4694357"/>
              <a:gd name="connsiteY908" fmla="*/ 2026591 h 4717133"/>
              <a:gd name="connsiteX909" fmla="*/ 4445517 w 4694357"/>
              <a:gd name="connsiteY909" fmla="*/ 2005522 h 4717133"/>
              <a:gd name="connsiteX910" fmla="*/ 4557694 w 4694357"/>
              <a:gd name="connsiteY910" fmla="*/ 2004383 h 4717133"/>
              <a:gd name="connsiteX911" fmla="*/ 4579332 w 4694357"/>
              <a:gd name="connsiteY911" fmla="*/ 2026021 h 4717133"/>
              <a:gd name="connsiteX912" fmla="*/ 4557694 w 4694357"/>
              <a:gd name="connsiteY912" fmla="*/ 2047659 h 4717133"/>
              <a:gd name="connsiteX913" fmla="*/ 4536056 w 4694357"/>
              <a:gd name="connsiteY913" fmla="*/ 2026021 h 4717133"/>
              <a:gd name="connsiteX914" fmla="*/ 4557694 w 4694357"/>
              <a:gd name="connsiteY914" fmla="*/ 2004383 h 4717133"/>
              <a:gd name="connsiteX915" fmla="*/ 4337895 w 4694357"/>
              <a:gd name="connsiteY915" fmla="*/ 1998689 h 4717133"/>
              <a:gd name="connsiteX916" fmla="*/ 4366367 w 4694357"/>
              <a:gd name="connsiteY916" fmla="*/ 2027161 h 4717133"/>
              <a:gd name="connsiteX917" fmla="*/ 4337895 w 4694357"/>
              <a:gd name="connsiteY917" fmla="*/ 2055633 h 4717133"/>
              <a:gd name="connsiteX918" fmla="*/ 4309423 w 4694357"/>
              <a:gd name="connsiteY918" fmla="*/ 2027161 h 4717133"/>
              <a:gd name="connsiteX919" fmla="*/ 4337895 w 4694357"/>
              <a:gd name="connsiteY919" fmla="*/ 1998689 h 4717133"/>
              <a:gd name="connsiteX920" fmla="*/ 284714 w 4694357"/>
              <a:gd name="connsiteY920" fmla="*/ 1862026 h 4717133"/>
              <a:gd name="connsiteX921" fmla="*/ 286992 w 4694357"/>
              <a:gd name="connsiteY921" fmla="*/ 1864304 h 4717133"/>
              <a:gd name="connsiteX922" fmla="*/ 284714 w 4694357"/>
              <a:gd name="connsiteY922" fmla="*/ 1866582 h 4717133"/>
              <a:gd name="connsiteX923" fmla="*/ 282436 w 4694357"/>
              <a:gd name="connsiteY923" fmla="*/ 1864304 h 4717133"/>
              <a:gd name="connsiteX924" fmla="*/ 284714 w 4694357"/>
              <a:gd name="connsiteY924" fmla="*/ 1862026 h 4717133"/>
              <a:gd name="connsiteX925" fmla="*/ 394044 w 4694357"/>
              <a:gd name="connsiteY925" fmla="*/ 1856332 h 4717133"/>
              <a:gd name="connsiteX926" fmla="*/ 402016 w 4694357"/>
              <a:gd name="connsiteY926" fmla="*/ 1864874 h 4717133"/>
              <a:gd name="connsiteX927" fmla="*/ 394044 w 4694357"/>
              <a:gd name="connsiteY927" fmla="*/ 1873416 h 4717133"/>
              <a:gd name="connsiteX928" fmla="*/ 386072 w 4694357"/>
              <a:gd name="connsiteY928" fmla="*/ 1864874 h 4717133"/>
              <a:gd name="connsiteX929" fmla="*/ 394044 w 4694357"/>
              <a:gd name="connsiteY929" fmla="*/ 1856332 h 4717133"/>
              <a:gd name="connsiteX930" fmla="*/ 62069 w 4694357"/>
              <a:gd name="connsiteY930" fmla="*/ 1851776 h 4717133"/>
              <a:gd name="connsiteX931" fmla="*/ 72889 w 4694357"/>
              <a:gd name="connsiteY931" fmla="*/ 1862596 h 4717133"/>
              <a:gd name="connsiteX932" fmla="*/ 62069 w 4694357"/>
              <a:gd name="connsiteY932" fmla="*/ 1873416 h 4717133"/>
              <a:gd name="connsiteX933" fmla="*/ 51249 w 4694357"/>
              <a:gd name="connsiteY933" fmla="*/ 1862596 h 4717133"/>
              <a:gd name="connsiteX934" fmla="*/ 62069 w 4694357"/>
              <a:gd name="connsiteY934" fmla="*/ 1851776 h 4717133"/>
              <a:gd name="connsiteX935" fmla="*/ 4635136 w 4694357"/>
              <a:gd name="connsiteY935" fmla="*/ 1850638 h 4717133"/>
              <a:gd name="connsiteX936" fmla="*/ 4646525 w 4694357"/>
              <a:gd name="connsiteY936" fmla="*/ 1861458 h 4717133"/>
              <a:gd name="connsiteX937" fmla="*/ 4635136 w 4694357"/>
              <a:gd name="connsiteY937" fmla="*/ 1872278 h 4717133"/>
              <a:gd name="connsiteX938" fmla="*/ 4623747 w 4694357"/>
              <a:gd name="connsiteY938" fmla="*/ 1861458 h 4717133"/>
              <a:gd name="connsiteX939" fmla="*/ 4635136 w 4694357"/>
              <a:gd name="connsiteY939" fmla="*/ 1850638 h 4717133"/>
              <a:gd name="connsiteX940" fmla="*/ 170829 w 4694357"/>
              <a:gd name="connsiteY940" fmla="*/ 1846082 h 4717133"/>
              <a:gd name="connsiteX941" fmla="*/ 187912 w 4694357"/>
              <a:gd name="connsiteY941" fmla="*/ 1862596 h 4717133"/>
              <a:gd name="connsiteX942" fmla="*/ 170829 w 4694357"/>
              <a:gd name="connsiteY942" fmla="*/ 1879110 h 4717133"/>
              <a:gd name="connsiteX943" fmla="*/ 153746 w 4694357"/>
              <a:gd name="connsiteY943" fmla="*/ 1862596 h 4717133"/>
              <a:gd name="connsiteX944" fmla="*/ 170829 w 4694357"/>
              <a:gd name="connsiteY944" fmla="*/ 1846082 h 4717133"/>
              <a:gd name="connsiteX945" fmla="*/ 4526376 w 4694357"/>
              <a:gd name="connsiteY945" fmla="*/ 1840388 h 4717133"/>
              <a:gd name="connsiteX946" fmla="*/ 4548584 w 4694357"/>
              <a:gd name="connsiteY946" fmla="*/ 1862026 h 4717133"/>
              <a:gd name="connsiteX947" fmla="*/ 4526376 w 4694357"/>
              <a:gd name="connsiteY947" fmla="*/ 1883664 h 4717133"/>
              <a:gd name="connsiteX948" fmla="*/ 4504168 w 4694357"/>
              <a:gd name="connsiteY948" fmla="*/ 1862026 h 4717133"/>
              <a:gd name="connsiteX949" fmla="*/ 4526376 w 4694357"/>
              <a:gd name="connsiteY949" fmla="*/ 1840388 h 4717133"/>
              <a:gd name="connsiteX950" fmla="*/ 4303730 w 4694357"/>
              <a:gd name="connsiteY950" fmla="*/ 1836972 h 4717133"/>
              <a:gd name="connsiteX951" fmla="*/ 4331063 w 4694357"/>
              <a:gd name="connsiteY951" fmla="*/ 1864305 h 4717133"/>
              <a:gd name="connsiteX952" fmla="*/ 4303730 w 4694357"/>
              <a:gd name="connsiteY952" fmla="*/ 1891638 h 4717133"/>
              <a:gd name="connsiteX953" fmla="*/ 4276397 w 4694357"/>
              <a:gd name="connsiteY953" fmla="*/ 1864305 h 4717133"/>
              <a:gd name="connsiteX954" fmla="*/ 4303730 w 4694357"/>
              <a:gd name="connsiteY954" fmla="*/ 1836972 h 4717133"/>
              <a:gd name="connsiteX955" fmla="*/ 4413060 w 4694357"/>
              <a:gd name="connsiteY955" fmla="*/ 1835832 h 4717133"/>
              <a:gd name="connsiteX956" fmla="*/ 4441532 w 4694357"/>
              <a:gd name="connsiteY956" fmla="*/ 1863734 h 4717133"/>
              <a:gd name="connsiteX957" fmla="*/ 4413060 w 4694357"/>
              <a:gd name="connsiteY957" fmla="*/ 1891636 h 4717133"/>
              <a:gd name="connsiteX958" fmla="*/ 4384588 w 4694357"/>
              <a:gd name="connsiteY958" fmla="*/ 1863734 h 4717133"/>
              <a:gd name="connsiteX959" fmla="*/ 4413060 w 4694357"/>
              <a:gd name="connsiteY959" fmla="*/ 1835832 h 4717133"/>
              <a:gd name="connsiteX960" fmla="*/ 329700 w 4694357"/>
              <a:gd name="connsiteY960" fmla="*/ 1701448 h 4717133"/>
              <a:gd name="connsiteX961" fmla="*/ 332548 w 4694357"/>
              <a:gd name="connsiteY961" fmla="*/ 1704296 h 4717133"/>
              <a:gd name="connsiteX962" fmla="*/ 329700 w 4694357"/>
              <a:gd name="connsiteY962" fmla="*/ 1707144 h 4717133"/>
              <a:gd name="connsiteX963" fmla="*/ 326852 w 4694357"/>
              <a:gd name="connsiteY963" fmla="*/ 1704296 h 4717133"/>
              <a:gd name="connsiteX964" fmla="*/ 329700 w 4694357"/>
              <a:gd name="connsiteY964" fmla="*/ 1701448 h 4717133"/>
              <a:gd name="connsiteX965" fmla="*/ 441307 w 4694357"/>
              <a:gd name="connsiteY965" fmla="*/ 1696892 h 4717133"/>
              <a:gd name="connsiteX966" fmla="*/ 449849 w 4694357"/>
              <a:gd name="connsiteY966" fmla="*/ 1705434 h 4717133"/>
              <a:gd name="connsiteX967" fmla="*/ 441307 w 4694357"/>
              <a:gd name="connsiteY967" fmla="*/ 1713976 h 4717133"/>
              <a:gd name="connsiteX968" fmla="*/ 432765 w 4694357"/>
              <a:gd name="connsiteY968" fmla="*/ 1705434 h 4717133"/>
              <a:gd name="connsiteX969" fmla="*/ 441307 w 4694357"/>
              <a:gd name="connsiteY969" fmla="*/ 1696892 h 4717133"/>
              <a:gd name="connsiteX970" fmla="*/ 103637 w 4694357"/>
              <a:gd name="connsiteY970" fmla="*/ 1690059 h 4717133"/>
              <a:gd name="connsiteX971" fmla="*/ 115026 w 4694357"/>
              <a:gd name="connsiteY971" fmla="*/ 1700879 h 4717133"/>
              <a:gd name="connsiteX972" fmla="*/ 103637 w 4694357"/>
              <a:gd name="connsiteY972" fmla="*/ 1711699 h 4717133"/>
              <a:gd name="connsiteX973" fmla="*/ 92248 w 4694357"/>
              <a:gd name="connsiteY973" fmla="*/ 1700879 h 4717133"/>
              <a:gd name="connsiteX974" fmla="*/ 103637 w 4694357"/>
              <a:gd name="connsiteY974" fmla="*/ 1690059 h 4717133"/>
              <a:gd name="connsiteX975" fmla="*/ 4594137 w 4694357"/>
              <a:gd name="connsiteY975" fmla="*/ 1686643 h 4717133"/>
              <a:gd name="connsiteX976" fmla="*/ 4607803 w 4694357"/>
              <a:gd name="connsiteY976" fmla="*/ 1699740 h 4717133"/>
              <a:gd name="connsiteX977" fmla="*/ 4594137 w 4694357"/>
              <a:gd name="connsiteY977" fmla="*/ 1712837 h 4717133"/>
              <a:gd name="connsiteX978" fmla="*/ 4580471 w 4694357"/>
              <a:gd name="connsiteY978" fmla="*/ 1699740 h 4717133"/>
              <a:gd name="connsiteX979" fmla="*/ 4594137 w 4694357"/>
              <a:gd name="connsiteY979" fmla="*/ 1686643 h 4717133"/>
              <a:gd name="connsiteX980" fmla="*/ 214106 w 4694357"/>
              <a:gd name="connsiteY980" fmla="*/ 1682087 h 4717133"/>
              <a:gd name="connsiteX981" fmla="*/ 233467 w 4694357"/>
              <a:gd name="connsiteY981" fmla="*/ 1701448 h 4717133"/>
              <a:gd name="connsiteX982" fmla="*/ 214106 w 4694357"/>
              <a:gd name="connsiteY982" fmla="*/ 1720809 h 4717133"/>
              <a:gd name="connsiteX983" fmla="*/ 194745 w 4694357"/>
              <a:gd name="connsiteY983" fmla="*/ 1701448 h 4717133"/>
              <a:gd name="connsiteX984" fmla="*/ 214106 w 4694357"/>
              <a:gd name="connsiteY984" fmla="*/ 1682087 h 4717133"/>
              <a:gd name="connsiteX985" fmla="*/ 4483099 w 4694357"/>
              <a:gd name="connsiteY985" fmla="*/ 1678670 h 4717133"/>
              <a:gd name="connsiteX986" fmla="*/ 4505307 w 4694357"/>
              <a:gd name="connsiteY986" fmla="*/ 1700878 h 4717133"/>
              <a:gd name="connsiteX987" fmla="*/ 4483099 w 4694357"/>
              <a:gd name="connsiteY987" fmla="*/ 1723086 h 4717133"/>
              <a:gd name="connsiteX988" fmla="*/ 4460891 w 4694357"/>
              <a:gd name="connsiteY988" fmla="*/ 1700878 h 4717133"/>
              <a:gd name="connsiteX989" fmla="*/ 4483099 w 4694357"/>
              <a:gd name="connsiteY989" fmla="*/ 1678670 h 4717133"/>
              <a:gd name="connsiteX990" fmla="*/ 4255898 w 4694357"/>
              <a:gd name="connsiteY990" fmla="*/ 1677532 h 4717133"/>
              <a:gd name="connsiteX991" fmla="*/ 4283231 w 4694357"/>
              <a:gd name="connsiteY991" fmla="*/ 1704865 h 4717133"/>
              <a:gd name="connsiteX992" fmla="*/ 4255898 w 4694357"/>
              <a:gd name="connsiteY992" fmla="*/ 1732198 h 4717133"/>
              <a:gd name="connsiteX993" fmla="*/ 4228565 w 4694357"/>
              <a:gd name="connsiteY993" fmla="*/ 1704865 h 4717133"/>
              <a:gd name="connsiteX994" fmla="*/ 4255898 w 4694357"/>
              <a:gd name="connsiteY994" fmla="*/ 1677532 h 4717133"/>
              <a:gd name="connsiteX995" fmla="*/ 4367506 w 4694357"/>
              <a:gd name="connsiteY995" fmla="*/ 1669560 h 4717133"/>
              <a:gd name="connsiteX996" fmla="*/ 4401672 w 4694357"/>
              <a:gd name="connsiteY996" fmla="*/ 1703157 h 4717133"/>
              <a:gd name="connsiteX997" fmla="*/ 4367506 w 4694357"/>
              <a:gd name="connsiteY997" fmla="*/ 1736754 h 4717133"/>
              <a:gd name="connsiteX998" fmla="*/ 4333340 w 4694357"/>
              <a:gd name="connsiteY998" fmla="*/ 1703157 h 4717133"/>
              <a:gd name="connsiteX999" fmla="*/ 4367506 w 4694357"/>
              <a:gd name="connsiteY999" fmla="*/ 1669560 h 4717133"/>
              <a:gd name="connsiteX1000" fmla="*/ 387781 w 4694357"/>
              <a:gd name="connsiteY1000" fmla="*/ 1545425 h 4717133"/>
              <a:gd name="connsiteX1001" fmla="*/ 390629 w 4694357"/>
              <a:gd name="connsiteY1001" fmla="*/ 1548273 h 4717133"/>
              <a:gd name="connsiteX1002" fmla="*/ 387781 w 4694357"/>
              <a:gd name="connsiteY1002" fmla="*/ 1551121 h 4717133"/>
              <a:gd name="connsiteX1003" fmla="*/ 384933 w 4694357"/>
              <a:gd name="connsiteY1003" fmla="*/ 1548273 h 4717133"/>
              <a:gd name="connsiteX1004" fmla="*/ 387781 w 4694357"/>
              <a:gd name="connsiteY1004" fmla="*/ 1545425 h 4717133"/>
              <a:gd name="connsiteX1005" fmla="*/ 502235 w 4694357"/>
              <a:gd name="connsiteY1005" fmla="*/ 1540870 h 4717133"/>
              <a:gd name="connsiteX1006" fmla="*/ 511346 w 4694357"/>
              <a:gd name="connsiteY1006" fmla="*/ 1549981 h 4717133"/>
              <a:gd name="connsiteX1007" fmla="*/ 502235 w 4694357"/>
              <a:gd name="connsiteY1007" fmla="*/ 1559092 h 4717133"/>
              <a:gd name="connsiteX1008" fmla="*/ 493124 w 4694357"/>
              <a:gd name="connsiteY1008" fmla="*/ 1549981 h 4717133"/>
              <a:gd name="connsiteX1009" fmla="*/ 502235 w 4694357"/>
              <a:gd name="connsiteY1009" fmla="*/ 1540870 h 4717133"/>
              <a:gd name="connsiteX1010" fmla="*/ 156024 w 4694357"/>
              <a:gd name="connsiteY1010" fmla="*/ 1530620 h 4717133"/>
              <a:gd name="connsiteX1011" fmla="*/ 168552 w 4694357"/>
              <a:gd name="connsiteY1011" fmla="*/ 1542578 h 4717133"/>
              <a:gd name="connsiteX1012" fmla="*/ 156024 w 4694357"/>
              <a:gd name="connsiteY1012" fmla="*/ 1554536 h 4717133"/>
              <a:gd name="connsiteX1013" fmla="*/ 143496 w 4694357"/>
              <a:gd name="connsiteY1013" fmla="*/ 1542578 h 4717133"/>
              <a:gd name="connsiteX1014" fmla="*/ 156024 w 4694357"/>
              <a:gd name="connsiteY1014" fmla="*/ 1530620 h 4717133"/>
              <a:gd name="connsiteX1015" fmla="*/ 4541181 w 4694357"/>
              <a:gd name="connsiteY1015" fmla="*/ 1526064 h 4717133"/>
              <a:gd name="connsiteX1016" fmla="*/ 4556556 w 4694357"/>
              <a:gd name="connsiteY1016" fmla="*/ 1541439 h 4717133"/>
              <a:gd name="connsiteX1017" fmla="*/ 4541181 w 4694357"/>
              <a:gd name="connsiteY1017" fmla="*/ 1556814 h 4717133"/>
              <a:gd name="connsiteX1018" fmla="*/ 4525806 w 4694357"/>
              <a:gd name="connsiteY1018" fmla="*/ 1541439 h 4717133"/>
              <a:gd name="connsiteX1019" fmla="*/ 4541181 w 4694357"/>
              <a:gd name="connsiteY1019" fmla="*/ 1526064 h 4717133"/>
              <a:gd name="connsiteX1020" fmla="*/ 4195539 w 4694357"/>
              <a:gd name="connsiteY1020" fmla="*/ 1523786 h 4717133"/>
              <a:gd name="connsiteX1021" fmla="*/ 4221733 w 4694357"/>
              <a:gd name="connsiteY1021" fmla="*/ 1549980 h 4717133"/>
              <a:gd name="connsiteX1022" fmla="*/ 4195539 w 4694357"/>
              <a:gd name="connsiteY1022" fmla="*/ 1576174 h 4717133"/>
              <a:gd name="connsiteX1023" fmla="*/ 4169345 w 4694357"/>
              <a:gd name="connsiteY1023" fmla="*/ 1549980 h 4717133"/>
              <a:gd name="connsiteX1024" fmla="*/ 4195539 w 4694357"/>
              <a:gd name="connsiteY1024" fmla="*/ 1523786 h 4717133"/>
              <a:gd name="connsiteX1025" fmla="*/ 269340 w 4694357"/>
              <a:gd name="connsiteY1025" fmla="*/ 1522648 h 4717133"/>
              <a:gd name="connsiteX1026" fmla="*/ 290409 w 4694357"/>
              <a:gd name="connsiteY1026" fmla="*/ 1543717 h 4717133"/>
              <a:gd name="connsiteX1027" fmla="*/ 269340 w 4694357"/>
              <a:gd name="connsiteY1027" fmla="*/ 1564786 h 4717133"/>
              <a:gd name="connsiteX1028" fmla="*/ 248271 w 4694357"/>
              <a:gd name="connsiteY1028" fmla="*/ 1543717 h 4717133"/>
              <a:gd name="connsiteX1029" fmla="*/ 269340 w 4694357"/>
              <a:gd name="connsiteY1029" fmla="*/ 1522648 h 4717133"/>
              <a:gd name="connsiteX1030" fmla="*/ 4427864 w 4694357"/>
              <a:gd name="connsiteY1030" fmla="*/ 1521509 h 4717133"/>
              <a:gd name="connsiteX1031" fmla="*/ 4450641 w 4694357"/>
              <a:gd name="connsiteY1031" fmla="*/ 1543717 h 4717133"/>
              <a:gd name="connsiteX1032" fmla="*/ 4427864 w 4694357"/>
              <a:gd name="connsiteY1032" fmla="*/ 1565925 h 4717133"/>
              <a:gd name="connsiteX1033" fmla="*/ 4405087 w 4694357"/>
              <a:gd name="connsiteY1033" fmla="*/ 1543717 h 4717133"/>
              <a:gd name="connsiteX1034" fmla="*/ 4427864 w 4694357"/>
              <a:gd name="connsiteY1034" fmla="*/ 1521509 h 4717133"/>
              <a:gd name="connsiteX1035" fmla="*/ 4309993 w 4694357"/>
              <a:gd name="connsiteY1035" fmla="*/ 1511259 h 4717133"/>
              <a:gd name="connsiteX1036" fmla="*/ 4345867 w 4694357"/>
              <a:gd name="connsiteY1036" fmla="*/ 1547133 h 4717133"/>
              <a:gd name="connsiteX1037" fmla="*/ 4309993 w 4694357"/>
              <a:gd name="connsiteY1037" fmla="*/ 1583007 h 4717133"/>
              <a:gd name="connsiteX1038" fmla="*/ 4274119 w 4694357"/>
              <a:gd name="connsiteY1038" fmla="*/ 1547133 h 4717133"/>
              <a:gd name="connsiteX1039" fmla="*/ 4309993 w 4694357"/>
              <a:gd name="connsiteY1039" fmla="*/ 1511259 h 4717133"/>
              <a:gd name="connsiteX1040" fmla="*/ 457820 w 4694357"/>
              <a:gd name="connsiteY1040" fmla="*/ 1392819 h 4717133"/>
              <a:gd name="connsiteX1041" fmla="*/ 461237 w 4694357"/>
              <a:gd name="connsiteY1041" fmla="*/ 1396805 h 4717133"/>
              <a:gd name="connsiteX1042" fmla="*/ 457820 w 4694357"/>
              <a:gd name="connsiteY1042" fmla="*/ 1400791 h 4717133"/>
              <a:gd name="connsiteX1043" fmla="*/ 454403 w 4694357"/>
              <a:gd name="connsiteY1043" fmla="*/ 1396805 h 4717133"/>
              <a:gd name="connsiteX1044" fmla="*/ 457820 w 4694357"/>
              <a:gd name="connsiteY1044" fmla="*/ 1392819 h 4717133"/>
              <a:gd name="connsiteX1045" fmla="*/ 575692 w 4694357"/>
              <a:gd name="connsiteY1045" fmla="*/ 1391679 h 4717133"/>
              <a:gd name="connsiteX1046" fmla="*/ 585373 w 4694357"/>
              <a:gd name="connsiteY1046" fmla="*/ 1400790 h 4717133"/>
              <a:gd name="connsiteX1047" fmla="*/ 575692 w 4694357"/>
              <a:gd name="connsiteY1047" fmla="*/ 1409901 h 4717133"/>
              <a:gd name="connsiteX1048" fmla="*/ 566011 w 4694357"/>
              <a:gd name="connsiteY1048" fmla="*/ 1400790 h 4717133"/>
              <a:gd name="connsiteX1049" fmla="*/ 575692 w 4694357"/>
              <a:gd name="connsiteY1049" fmla="*/ 1391679 h 4717133"/>
              <a:gd name="connsiteX1050" fmla="*/ 219800 w 4694357"/>
              <a:gd name="connsiteY1050" fmla="*/ 1375735 h 4717133"/>
              <a:gd name="connsiteX1051" fmla="*/ 232328 w 4694357"/>
              <a:gd name="connsiteY1051" fmla="*/ 1388263 h 4717133"/>
              <a:gd name="connsiteX1052" fmla="*/ 219800 w 4694357"/>
              <a:gd name="connsiteY1052" fmla="*/ 1400791 h 4717133"/>
              <a:gd name="connsiteX1053" fmla="*/ 207272 w 4694357"/>
              <a:gd name="connsiteY1053" fmla="*/ 1388263 h 4717133"/>
              <a:gd name="connsiteX1054" fmla="*/ 219800 w 4694357"/>
              <a:gd name="connsiteY1054" fmla="*/ 1375735 h 4717133"/>
              <a:gd name="connsiteX1055" fmla="*/ 4122083 w 4694357"/>
              <a:gd name="connsiteY1055" fmla="*/ 1374597 h 4717133"/>
              <a:gd name="connsiteX1056" fmla="*/ 4147708 w 4694357"/>
              <a:gd name="connsiteY1056" fmla="*/ 1400222 h 4717133"/>
              <a:gd name="connsiteX1057" fmla="*/ 4122083 w 4694357"/>
              <a:gd name="connsiteY1057" fmla="*/ 1425847 h 4717133"/>
              <a:gd name="connsiteX1058" fmla="*/ 4096458 w 4694357"/>
              <a:gd name="connsiteY1058" fmla="*/ 1400222 h 4717133"/>
              <a:gd name="connsiteX1059" fmla="*/ 4122083 w 4694357"/>
              <a:gd name="connsiteY1059" fmla="*/ 1374597 h 4717133"/>
              <a:gd name="connsiteX1060" fmla="*/ 4477405 w 4694357"/>
              <a:gd name="connsiteY1060" fmla="*/ 1370041 h 4717133"/>
              <a:gd name="connsiteX1061" fmla="*/ 4495058 w 4694357"/>
              <a:gd name="connsiteY1061" fmla="*/ 1387694 h 4717133"/>
              <a:gd name="connsiteX1062" fmla="*/ 4477405 w 4694357"/>
              <a:gd name="connsiteY1062" fmla="*/ 1405347 h 4717133"/>
              <a:gd name="connsiteX1063" fmla="*/ 4459752 w 4694357"/>
              <a:gd name="connsiteY1063" fmla="*/ 1387694 h 4717133"/>
              <a:gd name="connsiteX1064" fmla="*/ 4477405 w 4694357"/>
              <a:gd name="connsiteY1064" fmla="*/ 1370041 h 4717133"/>
              <a:gd name="connsiteX1065" fmla="*/ 4360672 w 4694357"/>
              <a:gd name="connsiteY1065" fmla="*/ 1367764 h 4717133"/>
              <a:gd name="connsiteX1066" fmla="*/ 4383449 w 4694357"/>
              <a:gd name="connsiteY1066" fmla="*/ 1390541 h 4717133"/>
              <a:gd name="connsiteX1067" fmla="*/ 4360672 w 4694357"/>
              <a:gd name="connsiteY1067" fmla="*/ 1413318 h 4717133"/>
              <a:gd name="connsiteX1068" fmla="*/ 4337895 w 4694357"/>
              <a:gd name="connsiteY1068" fmla="*/ 1390541 h 4717133"/>
              <a:gd name="connsiteX1069" fmla="*/ 4360672 w 4694357"/>
              <a:gd name="connsiteY1069" fmla="*/ 1367764 h 4717133"/>
              <a:gd name="connsiteX1070" fmla="*/ 336533 w 4694357"/>
              <a:gd name="connsiteY1070" fmla="*/ 1367764 h 4717133"/>
              <a:gd name="connsiteX1071" fmla="*/ 359880 w 4694357"/>
              <a:gd name="connsiteY1071" fmla="*/ 1391111 h 4717133"/>
              <a:gd name="connsiteX1072" fmla="*/ 336533 w 4694357"/>
              <a:gd name="connsiteY1072" fmla="*/ 1414458 h 4717133"/>
              <a:gd name="connsiteX1073" fmla="*/ 313186 w 4694357"/>
              <a:gd name="connsiteY1073" fmla="*/ 1391111 h 4717133"/>
              <a:gd name="connsiteX1074" fmla="*/ 336533 w 4694357"/>
              <a:gd name="connsiteY1074" fmla="*/ 1367764 h 4717133"/>
              <a:gd name="connsiteX1075" fmla="*/ 4239954 w 4694357"/>
              <a:gd name="connsiteY1075" fmla="*/ 1359791 h 4717133"/>
              <a:gd name="connsiteX1076" fmla="*/ 4276398 w 4694357"/>
              <a:gd name="connsiteY1076" fmla="*/ 1395665 h 4717133"/>
              <a:gd name="connsiteX1077" fmla="*/ 4239954 w 4694357"/>
              <a:gd name="connsiteY1077" fmla="*/ 1431539 h 4717133"/>
              <a:gd name="connsiteX1078" fmla="*/ 4203510 w 4694357"/>
              <a:gd name="connsiteY1078" fmla="*/ 1395665 h 4717133"/>
              <a:gd name="connsiteX1079" fmla="*/ 4239954 w 4694357"/>
              <a:gd name="connsiteY1079" fmla="*/ 1359791 h 4717133"/>
              <a:gd name="connsiteX1080" fmla="*/ 661106 w 4694357"/>
              <a:gd name="connsiteY1080" fmla="*/ 1248184 h 4717133"/>
              <a:gd name="connsiteX1081" fmla="*/ 670787 w 4694357"/>
              <a:gd name="connsiteY1081" fmla="*/ 1257865 h 4717133"/>
              <a:gd name="connsiteX1082" fmla="*/ 661106 w 4694357"/>
              <a:gd name="connsiteY1082" fmla="*/ 1267546 h 4717133"/>
              <a:gd name="connsiteX1083" fmla="*/ 651425 w 4694357"/>
              <a:gd name="connsiteY1083" fmla="*/ 1257865 h 4717133"/>
              <a:gd name="connsiteX1084" fmla="*/ 661106 w 4694357"/>
              <a:gd name="connsiteY1084" fmla="*/ 1248184 h 4717133"/>
              <a:gd name="connsiteX1085" fmla="*/ 538679 w 4694357"/>
              <a:gd name="connsiteY1085" fmla="*/ 1247045 h 4717133"/>
              <a:gd name="connsiteX1086" fmla="*/ 543236 w 4694357"/>
              <a:gd name="connsiteY1086" fmla="*/ 1251601 h 4717133"/>
              <a:gd name="connsiteX1087" fmla="*/ 538679 w 4694357"/>
              <a:gd name="connsiteY1087" fmla="*/ 1256158 h 4717133"/>
              <a:gd name="connsiteX1088" fmla="*/ 534123 w 4694357"/>
              <a:gd name="connsiteY1088" fmla="*/ 1251601 h 4717133"/>
              <a:gd name="connsiteX1089" fmla="*/ 538679 w 4694357"/>
              <a:gd name="connsiteY1089" fmla="*/ 1247045 h 4717133"/>
              <a:gd name="connsiteX1090" fmla="*/ 4036099 w 4694357"/>
              <a:gd name="connsiteY1090" fmla="*/ 1232240 h 4717133"/>
              <a:gd name="connsiteX1091" fmla="*/ 4061154 w 4694357"/>
              <a:gd name="connsiteY1091" fmla="*/ 1257295 h 4717133"/>
              <a:gd name="connsiteX1092" fmla="*/ 4036099 w 4694357"/>
              <a:gd name="connsiteY1092" fmla="*/ 1282350 h 4717133"/>
              <a:gd name="connsiteX1093" fmla="*/ 4011044 w 4694357"/>
              <a:gd name="connsiteY1093" fmla="*/ 1257295 h 4717133"/>
              <a:gd name="connsiteX1094" fmla="*/ 4036099 w 4694357"/>
              <a:gd name="connsiteY1094" fmla="*/ 1232240 h 4717133"/>
              <a:gd name="connsiteX1095" fmla="*/ 295533 w 4694357"/>
              <a:gd name="connsiteY1095" fmla="*/ 1226546 h 4717133"/>
              <a:gd name="connsiteX1096" fmla="*/ 308630 w 4694357"/>
              <a:gd name="connsiteY1096" fmla="*/ 1239643 h 4717133"/>
              <a:gd name="connsiteX1097" fmla="*/ 295533 w 4694357"/>
              <a:gd name="connsiteY1097" fmla="*/ 1252740 h 4717133"/>
              <a:gd name="connsiteX1098" fmla="*/ 282436 w 4694357"/>
              <a:gd name="connsiteY1098" fmla="*/ 1239643 h 4717133"/>
              <a:gd name="connsiteX1099" fmla="*/ 295533 w 4694357"/>
              <a:gd name="connsiteY1099" fmla="*/ 1226546 h 4717133"/>
              <a:gd name="connsiteX1100" fmla="*/ 4282661 w 4694357"/>
              <a:gd name="connsiteY1100" fmla="*/ 1219713 h 4717133"/>
              <a:gd name="connsiteX1101" fmla="*/ 4306008 w 4694357"/>
              <a:gd name="connsiteY1101" fmla="*/ 1243060 h 4717133"/>
              <a:gd name="connsiteX1102" fmla="*/ 4282661 w 4694357"/>
              <a:gd name="connsiteY1102" fmla="*/ 1266407 h 4717133"/>
              <a:gd name="connsiteX1103" fmla="*/ 4259314 w 4694357"/>
              <a:gd name="connsiteY1103" fmla="*/ 1243060 h 4717133"/>
              <a:gd name="connsiteX1104" fmla="*/ 4282661 w 4694357"/>
              <a:gd name="connsiteY1104" fmla="*/ 1219713 h 4717133"/>
              <a:gd name="connsiteX1105" fmla="*/ 4402240 w 4694357"/>
              <a:gd name="connsiteY1105" fmla="*/ 1218574 h 4717133"/>
              <a:gd name="connsiteX1106" fmla="*/ 4422170 w 4694357"/>
              <a:gd name="connsiteY1106" fmla="*/ 1238504 h 4717133"/>
              <a:gd name="connsiteX1107" fmla="*/ 4402240 w 4694357"/>
              <a:gd name="connsiteY1107" fmla="*/ 1258434 h 4717133"/>
              <a:gd name="connsiteX1108" fmla="*/ 4382310 w 4694357"/>
              <a:gd name="connsiteY1108" fmla="*/ 1238504 h 4717133"/>
              <a:gd name="connsiteX1109" fmla="*/ 4402240 w 4694357"/>
              <a:gd name="connsiteY1109" fmla="*/ 1218574 h 4717133"/>
              <a:gd name="connsiteX1110" fmla="*/ 414543 w 4694357"/>
              <a:gd name="connsiteY1110" fmla="*/ 1218574 h 4717133"/>
              <a:gd name="connsiteX1111" fmla="*/ 439598 w 4694357"/>
              <a:gd name="connsiteY1111" fmla="*/ 1244199 h 4717133"/>
              <a:gd name="connsiteX1112" fmla="*/ 414543 w 4694357"/>
              <a:gd name="connsiteY1112" fmla="*/ 1269824 h 4717133"/>
              <a:gd name="connsiteX1113" fmla="*/ 389488 w 4694357"/>
              <a:gd name="connsiteY1113" fmla="*/ 1244199 h 4717133"/>
              <a:gd name="connsiteX1114" fmla="*/ 414543 w 4694357"/>
              <a:gd name="connsiteY1114" fmla="*/ 1218574 h 4717133"/>
              <a:gd name="connsiteX1115" fmla="*/ 4157957 w 4694357"/>
              <a:gd name="connsiteY1115" fmla="*/ 1215157 h 4717133"/>
              <a:gd name="connsiteX1116" fmla="*/ 4194401 w 4694357"/>
              <a:gd name="connsiteY1116" fmla="*/ 1251031 h 4717133"/>
              <a:gd name="connsiteX1117" fmla="*/ 4157957 w 4694357"/>
              <a:gd name="connsiteY1117" fmla="*/ 1286905 h 4717133"/>
              <a:gd name="connsiteX1118" fmla="*/ 4121513 w 4694357"/>
              <a:gd name="connsiteY1118" fmla="*/ 1251031 h 4717133"/>
              <a:gd name="connsiteX1119" fmla="*/ 4157957 w 4694357"/>
              <a:gd name="connsiteY1119" fmla="*/ 1215157 h 4717133"/>
              <a:gd name="connsiteX1120" fmla="*/ 758478 w 4694357"/>
              <a:gd name="connsiteY1120" fmla="*/ 1112661 h 4717133"/>
              <a:gd name="connsiteX1121" fmla="*/ 768728 w 4694357"/>
              <a:gd name="connsiteY1121" fmla="*/ 1122911 h 4717133"/>
              <a:gd name="connsiteX1122" fmla="*/ 758478 w 4694357"/>
              <a:gd name="connsiteY1122" fmla="*/ 1133161 h 4717133"/>
              <a:gd name="connsiteX1123" fmla="*/ 748228 w 4694357"/>
              <a:gd name="connsiteY1123" fmla="*/ 1122911 h 4717133"/>
              <a:gd name="connsiteX1124" fmla="*/ 758478 w 4694357"/>
              <a:gd name="connsiteY1124" fmla="*/ 1112661 h 4717133"/>
              <a:gd name="connsiteX1125" fmla="*/ 632065 w 4694357"/>
              <a:gd name="connsiteY1125" fmla="*/ 1108105 h 4717133"/>
              <a:gd name="connsiteX1126" fmla="*/ 637760 w 4694357"/>
              <a:gd name="connsiteY1126" fmla="*/ 1113800 h 4717133"/>
              <a:gd name="connsiteX1127" fmla="*/ 632065 w 4694357"/>
              <a:gd name="connsiteY1127" fmla="*/ 1119495 h 4717133"/>
              <a:gd name="connsiteX1128" fmla="*/ 626370 w 4694357"/>
              <a:gd name="connsiteY1128" fmla="*/ 1113800 h 4717133"/>
              <a:gd name="connsiteX1129" fmla="*/ 632065 w 4694357"/>
              <a:gd name="connsiteY1129" fmla="*/ 1108105 h 4717133"/>
              <a:gd name="connsiteX1130" fmla="*/ 3939296 w 4694357"/>
              <a:gd name="connsiteY1130" fmla="*/ 1097855 h 4717133"/>
              <a:gd name="connsiteX1131" fmla="*/ 3963212 w 4694357"/>
              <a:gd name="connsiteY1131" fmla="*/ 1121771 h 4717133"/>
              <a:gd name="connsiteX1132" fmla="*/ 3939296 w 4694357"/>
              <a:gd name="connsiteY1132" fmla="*/ 1145687 h 4717133"/>
              <a:gd name="connsiteX1133" fmla="*/ 3915380 w 4694357"/>
              <a:gd name="connsiteY1133" fmla="*/ 1121771 h 4717133"/>
              <a:gd name="connsiteX1134" fmla="*/ 3939296 w 4694357"/>
              <a:gd name="connsiteY1134" fmla="*/ 1097855 h 4717133"/>
              <a:gd name="connsiteX1135" fmla="*/ 380377 w 4694357"/>
              <a:gd name="connsiteY1135" fmla="*/ 1081911 h 4717133"/>
              <a:gd name="connsiteX1136" fmla="*/ 394043 w 4694357"/>
              <a:gd name="connsiteY1136" fmla="*/ 1095577 h 4717133"/>
              <a:gd name="connsiteX1137" fmla="*/ 380377 w 4694357"/>
              <a:gd name="connsiteY1137" fmla="*/ 1109243 h 4717133"/>
              <a:gd name="connsiteX1138" fmla="*/ 366711 w 4694357"/>
              <a:gd name="connsiteY1138" fmla="*/ 1095577 h 4717133"/>
              <a:gd name="connsiteX1139" fmla="*/ 380377 w 4694357"/>
              <a:gd name="connsiteY1139" fmla="*/ 1081911 h 4717133"/>
              <a:gd name="connsiteX1140" fmla="*/ 4193830 w 4694357"/>
              <a:gd name="connsiteY1140" fmla="*/ 1078495 h 4717133"/>
              <a:gd name="connsiteX1141" fmla="*/ 4217177 w 4694357"/>
              <a:gd name="connsiteY1141" fmla="*/ 1101842 h 4717133"/>
              <a:gd name="connsiteX1142" fmla="*/ 4193830 w 4694357"/>
              <a:gd name="connsiteY1142" fmla="*/ 1125189 h 4717133"/>
              <a:gd name="connsiteX1143" fmla="*/ 4170483 w 4694357"/>
              <a:gd name="connsiteY1143" fmla="*/ 1101842 h 4717133"/>
              <a:gd name="connsiteX1144" fmla="*/ 4193830 w 4694357"/>
              <a:gd name="connsiteY1144" fmla="*/ 1078495 h 4717133"/>
              <a:gd name="connsiteX1145" fmla="*/ 4065139 w 4694357"/>
              <a:gd name="connsiteY1145" fmla="*/ 1077356 h 4717133"/>
              <a:gd name="connsiteX1146" fmla="*/ 4101013 w 4694357"/>
              <a:gd name="connsiteY1146" fmla="*/ 1113230 h 4717133"/>
              <a:gd name="connsiteX1147" fmla="*/ 4065139 w 4694357"/>
              <a:gd name="connsiteY1147" fmla="*/ 1149104 h 4717133"/>
              <a:gd name="connsiteX1148" fmla="*/ 4029265 w 4694357"/>
              <a:gd name="connsiteY1148" fmla="*/ 1113230 h 4717133"/>
              <a:gd name="connsiteX1149" fmla="*/ 4065139 w 4694357"/>
              <a:gd name="connsiteY1149" fmla="*/ 1077356 h 4717133"/>
              <a:gd name="connsiteX1150" fmla="*/ 503944 w 4694357"/>
              <a:gd name="connsiteY1150" fmla="*/ 1076217 h 4717133"/>
              <a:gd name="connsiteX1151" fmla="*/ 530707 w 4694357"/>
              <a:gd name="connsiteY1151" fmla="*/ 1102980 h 4717133"/>
              <a:gd name="connsiteX1152" fmla="*/ 503944 w 4694357"/>
              <a:gd name="connsiteY1152" fmla="*/ 1129743 h 4717133"/>
              <a:gd name="connsiteX1153" fmla="*/ 477181 w 4694357"/>
              <a:gd name="connsiteY1153" fmla="*/ 1102980 h 4717133"/>
              <a:gd name="connsiteX1154" fmla="*/ 503944 w 4694357"/>
              <a:gd name="connsiteY1154" fmla="*/ 1076217 h 4717133"/>
              <a:gd name="connsiteX1155" fmla="*/ 4316257 w 4694357"/>
              <a:gd name="connsiteY1155" fmla="*/ 1072800 h 4717133"/>
              <a:gd name="connsiteX1156" fmla="*/ 4337895 w 4694357"/>
              <a:gd name="connsiteY1156" fmla="*/ 1094438 h 4717133"/>
              <a:gd name="connsiteX1157" fmla="*/ 4316257 w 4694357"/>
              <a:gd name="connsiteY1157" fmla="*/ 1116076 h 4717133"/>
              <a:gd name="connsiteX1158" fmla="*/ 4294619 w 4694357"/>
              <a:gd name="connsiteY1158" fmla="*/ 1094438 h 4717133"/>
              <a:gd name="connsiteX1159" fmla="*/ 4316257 w 4694357"/>
              <a:gd name="connsiteY1159" fmla="*/ 1072800 h 4717133"/>
              <a:gd name="connsiteX1160" fmla="*/ 866100 w 4694357"/>
              <a:gd name="connsiteY1160" fmla="*/ 985109 h 4717133"/>
              <a:gd name="connsiteX1161" fmla="*/ 876920 w 4694357"/>
              <a:gd name="connsiteY1161" fmla="*/ 995929 h 4717133"/>
              <a:gd name="connsiteX1162" fmla="*/ 866100 w 4694357"/>
              <a:gd name="connsiteY1162" fmla="*/ 1006749 h 4717133"/>
              <a:gd name="connsiteX1163" fmla="*/ 855280 w 4694357"/>
              <a:gd name="connsiteY1163" fmla="*/ 995929 h 4717133"/>
              <a:gd name="connsiteX1164" fmla="*/ 866100 w 4694357"/>
              <a:gd name="connsiteY1164" fmla="*/ 985109 h 4717133"/>
              <a:gd name="connsiteX1165" fmla="*/ 735700 w 4694357"/>
              <a:gd name="connsiteY1165" fmla="*/ 975998 h 4717133"/>
              <a:gd name="connsiteX1166" fmla="*/ 742533 w 4694357"/>
              <a:gd name="connsiteY1166" fmla="*/ 982831 h 4717133"/>
              <a:gd name="connsiteX1167" fmla="*/ 735700 w 4694357"/>
              <a:gd name="connsiteY1167" fmla="*/ 989664 h 4717133"/>
              <a:gd name="connsiteX1168" fmla="*/ 728867 w 4694357"/>
              <a:gd name="connsiteY1168" fmla="*/ 982831 h 4717133"/>
              <a:gd name="connsiteX1169" fmla="*/ 735700 w 4694357"/>
              <a:gd name="connsiteY1169" fmla="*/ 975998 h 4717133"/>
              <a:gd name="connsiteX1170" fmla="*/ 3831105 w 4694357"/>
              <a:gd name="connsiteY1170" fmla="*/ 971443 h 4717133"/>
              <a:gd name="connsiteX1171" fmla="*/ 3855021 w 4694357"/>
              <a:gd name="connsiteY1171" fmla="*/ 994790 h 4717133"/>
              <a:gd name="connsiteX1172" fmla="*/ 3831105 w 4694357"/>
              <a:gd name="connsiteY1172" fmla="*/ 1018137 h 4717133"/>
              <a:gd name="connsiteX1173" fmla="*/ 3807189 w 4694357"/>
              <a:gd name="connsiteY1173" fmla="*/ 994790 h 4717133"/>
              <a:gd name="connsiteX1174" fmla="*/ 3831105 w 4694357"/>
              <a:gd name="connsiteY1174" fmla="*/ 971443 h 4717133"/>
              <a:gd name="connsiteX1175" fmla="*/ 3961504 w 4694357"/>
              <a:gd name="connsiteY1175" fmla="*/ 946388 h 4717133"/>
              <a:gd name="connsiteX1176" fmla="*/ 3997378 w 4694357"/>
              <a:gd name="connsiteY1176" fmla="*/ 982262 h 4717133"/>
              <a:gd name="connsiteX1177" fmla="*/ 3961504 w 4694357"/>
              <a:gd name="connsiteY1177" fmla="*/ 1018136 h 4717133"/>
              <a:gd name="connsiteX1178" fmla="*/ 3925630 w 4694357"/>
              <a:gd name="connsiteY1178" fmla="*/ 982262 h 4717133"/>
              <a:gd name="connsiteX1179" fmla="*/ 3961504 w 4694357"/>
              <a:gd name="connsiteY1179" fmla="*/ 946388 h 4717133"/>
              <a:gd name="connsiteX1180" fmla="*/ 476042 w 4694357"/>
              <a:gd name="connsiteY1180" fmla="*/ 945249 h 4717133"/>
              <a:gd name="connsiteX1181" fmla="*/ 490847 w 4694357"/>
              <a:gd name="connsiteY1181" fmla="*/ 959485 h 4717133"/>
              <a:gd name="connsiteX1182" fmla="*/ 476042 w 4694357"/>
              <a:gd name="connsiteY1182" fmla="*/ 973721 h 4717133"/>
              <a:gd name="connsiteX1183" fmla="*/ 461237 w 4694357"/>
              <a:gd name="connsiteY1183" fmla="*/ 959485 h 4717133"/>
              <a:gd name="connsiteX1184" fmla="*/ 476042 w 4694357"/>
              <a:gd name="connsiteY1184" fmla="*/ 945249 h 4717133"/>
              <a:gd name="connsiteX1185" fmla="*/ 4094180 w 4694357"/>
              <a:gd name="connsiteY1185" fmla="*/ 944110 h 4717133"/>
              <a:gd name="connsiteX1186" fmla="*/ 4118096 w 4694357"/>
              <a:gd name="connsiteY1186" fmla="*/ 968026 h 4717133"/>
              <a:gd name="connsiteX1187" fmla="*/ 4094180 w 4694357"/>
              <a:gd name="connsiteY1187" fmla="*/ 991942 h 4717133"/>
              <a:gd name="connsiteX1188" fmla="*/ 4070264 w 4694357"/>
              <a:gd name="connsiteY1188" fmla="*/ 968026 h 4717133"/>
              <a:gd name="connsiteX1189" fmla="*/ 4094180 w 4694357"/>
              <a:gd name="connsiteY1189" fmla="*/ 944110 h 4717133"/>
              <a:gd name="connsiteX1190" fmla="*/ 602455 w 4694357"/>
              <a:gd name="connsiteY1190" fmla="*/ 941832 h 4717133"/>
              <a:gd name="connsiteX1191" fmla="*/ 629788 w 4694357"/>
              <a:gd name="connsiteY1191" fmla="*/ 969165 h 4717133"/>
              <a:gd name="connsiteX1192" fmla="*/ 602455 w 4694357"/>
              <a:gd name="connsiteY1192" fmla="*/ 996498 h 4717133"/>
              <a:gd name="connsiteX1193" fmla="*/ 575122 w 4694357"/>
              <a:gd name="connsiteY1193" fmla="*/ 969165 h 4717133"/>
              <a:gd name="connsiteX1194" fmla="*/ 602455 w 4694357"/>
              <a:gd name="connsiteY1194" fmla="*/ 941832 h 4717133"/>
              <a:gd name="connsiteX1195" fmla="*/ 4220593 w 4694357"/>
              <a:gd name="connsiteY1195" fmla="*/ 934999 h 4717133"/>
              <a:gd name="connsiteX1196" fmla="*/ 4243370 w 4694357"/>
              <a:gd name="connsiteY1196" fmla="*/ 957776 h 4717133"/>
              <a:gd name="connsiteX1197" fmla="*/ 4220593 w 4694357"/>
              <a:gd name="connsiteY1197" fmla="*/ 980553 h 4717133"/>
              <a:gd name="connsiteX1198" fmla="*/ 4197816 w 4694357"/>
              <a:gd name="connsiteY1198" fmla="*/ 957776 h 4717133"/>
              <a:gd name="connsiteX1199" fmla="*/ 4220593 w 4694357"/>
              <a:gd name="connsiteY1199" fmla="*/ 934999 h 4717133"/>
              <a:gd name="connsiteX1200" fmla="*/ 983971 w 4694357"/>
              <a:gd name="connsiteY1200" fmla="*/ 866668 h 4717133"/>
              <a:gd name="connsiteX1201" fmla="*/ 995360 w 4694357"/>
              <a:gd name="connsiteY1201" fmla="*/ 878057 h 4717133"/>
              <a:gd name="connsiteX1202" fmla="*/ 983971 w 4694357"/>
              <a:gd name="connsiteY1202" fmla="*/ 889446 h 4717133"/>
              <a:gd name="connsiteX1203" fmla="*/ 972582 w 4694357"/>
              <a:gd name="connsiteY1203" fmla="*/ 878057 h 4717133"/>
              <a:gd name="connsiteX1204" fmla="*/ 983971 w 4694357"/>
              <a:gd name="connsiteY1204" fmla="*/ 866668 h 4717133"/>
              <a:gd name="connsiteX1205" fmla="*/ 3713803 w 4694357"/>
              <a:gd name="connsiteY1205" fmla="*/ 854140 h 4717133"/>
              <a:gd name="connsiteX1206" fmla="*/ 3736580 w 4694357"/>
              <a:gd name="connsiteY1206" fmla="*/ 877487 h 4717133"/>
              <a:gd name="connsiteX1207" fmla="*/ 3713803 w 4694357"/>
              <a:gd name="connsiteY1207" fmla="*/ 900834 h 4717133"/>
              <a:gd name="connsiteX1208" fmla="*/ 3691026 w 4694357"/>
              <a:gd name="connsiteY1208" fmla="*/ 877487 h 4717133"/>
              <a:gd name="connsiteX1209" fmla="*/ 3713803 w 4694357"/>
              <a:gd name="connsiteY1209" fmla="*/ 854140 h 4717133"/>
              <a:gd name="connsiteX1210" fmla="*/ 848447 w 4694357"/>
              <a:gd name="connsiteY1210" fmla="*/ 853002 h 4717133"/>
              <a:gd name="connsiteX1211" fmla="*/ 856419 w 4694357"/>
              <a:gd name="connsiteY1211" fmla="*/ 860974 h 4717133"/>
              <a:gd name="connsiteX1212" fmla="*/ 848447 w 4694357"/>
              <a:gd name="connsiteY1212" fmla="*/ 868946 h 4717133"/>
              <a:gd name="connsiteX1213" fmla="*/ 840475 w 4694357"/>
              <a:gd name="connsiteY1213" fmla="*/ 860974 h 4717133"/>
              <a:gd name="connsiteX1214" fmla="*/ 848447 w 4694357"/>
              <a:gd name="connsiteY1214" fmla="*/ 853002 h 4717133"/>
              <a:gd name="connsiteX1215" fmla="*/ 3848757 w 4694357"/>
              <a:gd name="connsiteY1215" fmla="*/ 825669 h 4717133"/>
              <a:gd name="connsiteX1216" fmla="*/ 3883492 w 4694357"/>
              <a:gd name="connsiteY1216" fmla="*/ 859835 h 4717133"/>
              <a:gd name="connsiteX1217" fmla="*/ 3848757 w 4694357"/>
              <a:gd name="connsiteY1217" fmla="*/ 894001 h 4717133"/>
              <a:gd name="connsiteX1218" fmla="*/ 3814022 w 4694357"/>
              <a:gd name="connsiteY1218" fmla="*/ 859835 h 4717133"/>
              <a:gd name="connsiteX1219" fmla="*/ 3848757 w 4694357"/>
              <a:gd name="connsiteY1219" fmla="*/ 825669 h 4717133"/>
              <a:gd name="connsiteX1220" fmla="*/ 3984850 w 4694357"/>
              <a:gd name="connsiteY1220" fmla="*/ 817697 h 4717133"/>
              <a:gd name="connsiteX1221" fmla="*/ 4008766 w 4694357"/>
              <a:gd name="connsiteY1221" fmla="*/ 841613 h 4717133"/>
              <a:gd name="connsiteX1222" fmla="*/ 3984850 w 4694357"/>
              <a:gd name="connsiteY1222" fmla="*/ 865529 h 4717133"/>
              <a:gd name="connsiteX1223" fmla="*/ 3960934 w 4694357"/>
              <a:gd name="connsiteY1223" fmla="*/ 841613 h 4717133"/>
              <a:gd name="connsiteX1224" fmla="*/ 3984850 w 4694357"/>
              <a:gd name="connsiteY1224" fmla="*/ 817697 h 4717133"/>
              <a:gd name="connsiteX1225" fmla="*/ 711785 w 4694357"/>
              <a:gd name="connsiteY1225" fmla="*/ 815419 h 4717133"/>
              <a:gd name="connsiteX1226" fmla="*/ 739118 w 4694357"/>
              <a:gd name="connsiteY1226" fmla="*/ 842752 h 4717133"/>
              <a:gd name="connsiteX1227" fmla="*/ 711785 w 4694357"/>
              <a:gd name="connsiteY1227" fmla="*/ 870085 h 4717133"/>
              <a:gd name="connsiteX1228" fmla="*/ 684452 w 4694357"/>
              <a:gd name="connsiteY1228" fmla="*/ 842752 h 4717133"/>
              <a:gd name="connsiteX1229" fmla="*/ 711785 w 4694357"/>
              <a:gd name="connsiteY1229" fmla="*/ 815419 h 4717133"/>
              <a:gd name="connsiteX1230" fmla="*/ 580816 w 4694357"/>
              <a:gd name="connsiteY1230" fmla="*/ 814281 h 4717133"/>
              <a:gd name="connsiteX1231" fmla="*/ 595621 w 4694357"/>
              <a:gd name="connsiteY1231" fmla="*/ 829086 h 4717133"/>
              <a:gd name="connsiteX1232" fmla="*/ 580816 w 4694357"/>
              <a:gd name="connsiteY1232" fmla="*/ 843891 h 4717133"/>
              <a:gd name="connsiteX1233" fmla="*/ 566011 w 4694357"/>
              <a:gd name="connsiteY1233" fmla="*/ 829086 h 4717133"/>
              <a:gd name="connsiteX1234" fmla="*/ 580816 w 4694357"/>
              <a:gd name="connsiteY1234" fmla="*/ 814281 h 4717133"/>
              <a:gd name="connsiteX1235" fmla="*/ 4116388 w 4694357"/>
              <a:gd name="connsiteY1235" fmla="*/ 805170 h 4717133"/>
              <a:gd name="connsiteX1236" fmla="*/ 4139735 w 4694357"/>
              <a:gd name="connsiteY1236" fmla="*/ 828517 h 4717133"/>
              <a:gd name="connsiteX1237" fmla="*/ 4116388 w 4694357"/>
              <a:gd name="connsiteY1237" fmla="*/ 851864 h 4717133"/>
              <a:gd name="connsiteX1238" fmla="*/ 4093041 w 4694357"/>
              <a:gd name="connsiteY1238" fmla="*/ 828517 h 4717133"/>
              <a:gd name="connsiteX1239" fmla="*/ 4116388 w 4694357"/>
              <a:gd name="connsiteY1239" fmla="*/ 805170 h 4717133"/>
              <a:gd name="connsiteX1240" fmla="*/ 1110953 w 4694357"/>
              <a:gd name="connsiteY1240" fmla="*/ 758477 h 4717133"/>
              <a:gd name="connsiteX1241" fmla="*/ 1122911 w 4694357"/>
              <a:gd name="connsiteY1241" fmla="*/ 770435 h 4717133"/>
              <a:gd name="connsiteX1242" fmla="*/ 1110953 w 4694357"/>
              <a:gd name="connsiteY1242" fmla="*/ 782393 h 4717133"/>
              <a:gd name="connsiteX1243" fmla="*/ 1098995 w 4694357"/>
              <a:gd name="connsiteY1243" fmla="*/ 770435 h 4717133"/>
              <a:gd name="connsiteX1244" fmla="*/ 1110953 w 4694357"/>
              <a:gd name="connsiteY1244" fmla="*/ 758477 h 4717133"/>
              <a:gd name="connsiteX1245" fmla="*/ 3586821 w 4694357"/>
              <a:gd name="connsiteY1245" fmla="*/ 748227 h 4717133"/>
              <a:gd name="connsiteX1246" fmla="*/ 3609029 w 4694357"/>
              <a:gd name="connsiteY1246" fmla="*/ 769865 h 4717133"/>
              <a:gd name="connsiteX1247" fmla="*/ 3586821 w 4694357"/>
              <a:gd name="connsiteY1247" fmla="*/ 791503 h 4717133"/>
              <a:gd name="connsiteX1248" fmla="*/ 3564613 w 4694357"/>
              <a:gd name="connsiteY1248" fmla="*/ 769865 h 4717133"/>
              <a:gd name="connsiteX1249" fmla="*/ 3586821 w 4694357"/>
              <a:gd name="connsiteY1249" fmla="*/ 748227 h 4717133"/>
              <a:gd name="connsiteX1250" fmla="*/ 970874 w 4694357"/>
              <a:gd name="connsiteY1250" fmla="*/ 737977 h 4717133"/>
              <a:gd name="connsiteX1251" fmla="*/ 979416 w 4694357"/>
              <a:gd name="connsiteY1251" fmla="*/ 747088 h 4717133"/>
              <a:gd name="connsiteX1252" fmla="*/ 970874 w 4694357"/>
              <a:gd name="connsiteY1252" fmla="*/ 756199 h 4717133"/>
              <a:gd name="connsiteX1253" fmla="*/ 962332 w 4694357"/>
              <a:gd name="connsiteY1253" fmla="*/ 747088 h 4717133"/>
              <a:gd name="connsiteX1254" fmla="*/ 970874 w 4694357"/>
              <a:gd name="connsiteY1254" fmla="*/ 737977 h 4717133"/>
              <a:gd name="connsiteX1255" fmla="*/ 3726331 w 4694357"/>
              <a:gd name="connsiteY1255" fmla="*/ 714062 h 4717133"/>
              <a:gd name="connsiteX1256" fmla="*/ 3759358 w 4694357"/>
              <a:gd name="connsiteY1256" fmla="*/ 747089 h 4717133"/>
              <a:gd name="connsiteX1257" fmla="*/ 3726331 w 4694357"/>
              <a:gd name="connsiteY1257" fmla="*/ 780116 h 4717133"/>
              <a:gd name="connsiteX1258" fmla="*/ 3693304 w 4694357"/>
              <a:gd name="connsiteY1258" fmla="*/ 747089 h 4717133"/>
              <a:gd name="connsiteX1259" fmla="*/ 3726331 w 4694357"/>
              <a:gd name="connsiteY1259" fmla="*/ 714062 h 4717133"/>
              <a:gd name="connsiteX1260" fmla="*/ 3866979 w 4694357"/>
              <a:gd name="connsiteY1260" fmla="*/ 699256 h 4717133"/>
              <a:gd name="connsiteX1261" fmla="*/ 3891465 w 4694357"/>
              <a:gd name="connsiteY1261" fmla="*/ 723742 h 4717133"/>
              <a:gd name="connsiteX1262" fmla="*/ 3866979 w 4694357"/>
              <a:gd name="connsiteY1262" fmla="*/ 748228 h 4717133"/>
              <a:gd name="connsiteX1263" fmla="*/ 3842493 w 4694357"/>
              <a:gd name="connsiteY1263" fmla="*/ 723742 h 4717133"/>
              <a:gd name="connsiteX1264" fmla="*/ 3866979 w 4694357"/>
              <a:gd name="connsiteY1264" fmla="*/ 699256 h 4717133"/>
              <a:gd name="connsiteX1265" fmla="*/ 830226 w 4694357"/>
              <a:gd name="connsiteY1265" fmla="*/ 696979 h 4717133"/>
              <a:gd name="connsiteX1266" fmla="*/ 857559 w 4694357"/>
              <a:gd name="connsiteY1266" fmla="*/ 724312 h 4717133"/>
              <a:gd name="connsiteX1267" fmla="*/ 830226 w 4694357"/>
              <a:gd name="connsiteY1267" fmla="*/ 751645 h 4717133"/>
              <a:gd name="connsiteX1268" fmla="*/ 802893 w 4694357"/>
              <a:gd name="connsiteY1268" fmla="*/ 724312 h 4717133"/>
              <a:gd name="connsiteX1269" fmla="*/ 830226 w 4694357"/>
              <a:gd name="connsiteY1269" fmla="*/ 696979 h 4717133"/>
              <a:gd name="connsiteX1270" fmla="*/ 694701 w 4694357"/>
              <a:gd name="connsiteY1270" fmla="*/ 691285 h 4717133"/>
              <a:gd name="connsiteX1271" fmla="*/ 710645 w 4694357"/>
              <a:gd name="connsiteY1271" fmla="*/ 707229 h 4717133"/>
              <a:gd name="connsiteX1272" fmla="*/ 694701 w 4694357"/>
              <a:gd name="connsiteY1272" fmla="*/ 723173 h 4717133"/>
              <a:gd name="connsiteX1273" fmla="*/ 678757 w 4694357"/>
              <a:gd name="connsiteY1273" fmla="*/ 707229 h 4717133"/>
              <a:gd name="connsiteX1274" fmla="*/ 694701 w 4694357"/>
              <a:gd name="connsiteY1274" fmla="*/ 691285 h 4717133"/>
              <a:gd name="connsiteX1275" fmla="*/ 4002503 w 4694357"/>
              <a:gd name="connsiteY1275" fmla="*/ 683312 h 4717133"/>
              <a:gd name="connsiteX1276" fmla="*/ 4025850 w 4694357"/>
              <a:gd name="connsiteY1276" fmla="*/ 706089 h 4717133"/>
              <a:gd name="connsiteX1277" fmla="*/ 4002503 w 4694357"/>
              <a:gd name="connsiteY1277" fmla="*/ 728866 h 4717133"/>
              <a:gd name="connsiteX1278" fmla="*/ 3979156 w 4694357"/>
              <a:gd name="connsiteY1278" fmla="*/ 706089 h 4717133"/>
              <a:gd name="connsiteX1279" fmla="*/ 4002503 w 4694357"/>
              <a:gd name="connsiteY1279" fmla="*/ 683312 h 4717133"/>
              <a:gd name="connsiteX1280" fmla="*/ 1245907 w 4694357"/>
              <a:gd name="connsiteY1280" fmla="*/ 660535 h 4717133"/>
              <a:gd name="connsiteX1281" fmla="*/ 1258435 w 4694357"/>
              <a:gd name="connsiteY1281" fmla="*/ 673063 h 4717133"/>
              <a:gd name="connsiteX1282" fmla="*/ 1245907 w 4694357"/>
              <a:gd name="connsiteY1282" fmla="*/ 685591 h 4717133"/>
              <a:gd name="connsiteX1283" fmla="*/ 1233379 w 4694357"/>
              <a:gd name="connsiteY1283" fmla="*/ 673063 h 4717133"/>
              <a:gd name="connsiteX1284" fmla="*/ 1245907 w 4694357"/>
              <a:gd name="connsiteY1284" fmla="*/ 660535 h 4717133"/>
              <a:gd name="connsiteX1285" fmla="*/ 3450728 w 4694357"/>
              <a:gd name="connsiteY1285" fmla="*/ 651424 h 4717133"/>
              <a:gd name="connsiteX1286" fmla="*/ 3472366 w 4694357"/>
              <a:gd name="connsiteY1286" fmla="*/ 673062 h 4717133"/>
              <a:gd name="connsiteX1287" fmla="*/ 3450728 w 4694357"/>
              <a:gd name="connsiteY1287" fmla="*/ 694700 h 4717133"/>
              <a:gd name="connsiteX1288" fmla="*/ 3429090 w 4694357"/>
              <a:gd name="connsiteY1288" fmla="*/ 673062 h 4717133"/>
              <a:gd name="connsiteX1289" fmla="*/ 3450728 w 4694357"/>
              <a:gd name="connsiteY1289" fmla="*/ 651424 h 4717133"/>
              <a:gd name="connsiteX1290" fmla="*/ 1101272 w 4694357"/>
              <a:gd name="connsiteY1290" fmla="*/ 634342 h 4717133"/>
              <a:gd name="connsiteX1291" fmla="*/ 1111522 w 4694357"/>
              <a:gd name="connsiteY1291" fmla="*/ 644592 h 4717133"/>
              <a:gd name="connsiteX1292" fmla="*/ 1101272 w 4694357"/>
              <a:gd name="connsiteY1292" fmla="*/ 654842 h 4717133"/>
              <a:gd name="connsiteX1293" fmla="*/ 1091022 w 4694357"/>
              <a:gd name="connsiteY1293" fmla="*/ 644592 h 4717133"/>
              <a:gd name="connsiteX1294" fmla="*/ 1101272 w 4694357"/>
              <a:gd name="connsiteY1294" fmla="*/ 634342 h 4717133"/>
              <a:gd name="connsiteX1295" fmla="*/ 3595932 w 4694357"/>
              <a:gd name="connsiteY1295" fmla="*/ 611565 h 4717133"/>
              <a:gd name="connsiteX1296" fmla="*/ 3628390 w 4694357"/>
              <a:gd name="connsiteY1296" fmla="*/ 644023 h 4717133"/>
              <a:gd name="connsiteX1297" fmla="*/ 3595932 w 4694357"/>
              <a:gd name="connsiteY1297" fmla="*/ 676481 h 4717133"/>
              <a:gd name="connsiteX1298" fmla="*/ 3563474 w 4694357"/>
              <a:gd name="connsiteY1298" fmla="*/ 644023 h 4717133"/>
              <a:gd name="connsiteX1299" fmla="*/ 3595932 w 4694357"/>
              <a:gd name="connsiteY1299" fmla="*/ 611565 h 4717133"/>
              <a:gd name="connsiteX1300" fmla="*/ 3740567 w 4694357"/>
              <a:gd name="connsiteY1300" fmla="*/ 589926 h 4717133"/>
              <a:gd name="connsiteX1301" fmla="*/ 3765053 w 4694357"/>
              <a:gd name="connsiteY1301" fmla="*/ 614412 h 4717133"/>
              <a:gd name="connsiteX1302" fmla="*/ 3740567 w 4694357"/>
              <a:gd name="connsiteY1302" fmla="*/ 638898 h 4717133"/>
              <a:gd name="connsiteX1303" fmla="*/ 3716081 w 4694357"/>
              <a:gd name="connsiteY1303" fmla="*/ 614412 h 4717133"/>
              <a:gd name="connsiteX1304" fmla="*/ 3740567 w 4694357"/>
              <a:gd name="connsiteY1304" fmla="*/ 589926 h 4717133"/>
              <a:gd name="connsiteX1305" fmla="*/ 956638 w 4694357"/>
              <a:gd name="connsiteY1305" fmla="*/ 588788 h 4717133"/>
              <a:gd name="connsiteX1306" fmla="*/ 983971 w 4694357"/>
              <a:gd name="connsiteY1306" fmla="*/ 615551 h 4717133"/>
              <a:gd name="connsiteX1307" fmla="*/ 956638 w 4694357"/>
              <a:gd name="connsiteY1307" fmla="*/ 642314 h 4717133"/>
              <a:gd name="connsiteX1308" fmla="*/ 929305 w 4694357"/>
              <a:gd name="connsiteY1308" fmla="*/ 615551 h 4717133"/>
              <a:gd name="connsiteX1309" fmla="*/ 956638 w 4694357"/>
              <a:gd name="connsiteY1309" fmla="*/ 588788 h 4717133"/>
              <a:gd name="connsiteX1310" fmla="*/ 816559 w 4694357"/>
              <a:gd name="connsiteY1310" fmla="*/ 577399 h 4717133"/>
              <a:gd name="connsiteX1311" fmla="*/ 832503 w 4694357"/>
              <a:gd name="connsiteY1311" fmla="*/ 593343 h 4717133"/>
              <a:gd name="connsiteX1312" fmla="*/ 816559 w 4694357"/>
              <a:gd name="connsiteY1312" fmla="*/ 609287 h 4717133"/>
              <a:gd name="connsiteX1313" fmla="*/ 800615 w 4694357"/>
              <a:gd name="connsiteY1313" fmla="*/ 593343 h 4717133"/>
              <a:gd name="connsiteX1314" fmla="*/ 816559 w 4694357"/>
              <a:gd name="connsiteY1314" fmla="*/ 577399 h 4717133"/>
              <a:gd name="connsiteX1315" fmla="*/ 1389402 w 4694357"/>
              <a:gd name="connsiteY1315" fmla="*/ 573982 h 4717133"/>
              <a:gd name="connsiteX1316" fmla="*/ 1403068 w 4694357"/>
              <a:gd name="connsiteY1316" fmla="*/ 587648 h 4717133"/>
              <a:gd name="connsiteX1317" fmla="*/ 1389402 w 4694357"/>
              <a:gd name="connsiteY1317" fmla="*/ 601314 h 4717133"/>
              <a:gd name="connsiteX1318" fmla="*/ 1375736 w 4694357"/>
              <a:gd name="connsiteY1318" fmla="*/ 587648 h 4717133"/>
              <a:gd name="connsiteX1319" fmla="*/ 1389402 w 4694357"/>
              <a:gd name="connsiteY1319" fmla="*/ 573982 h 4717133"/>
              <a:gd name="connsiteX1320" fmla="*/ 3880076 w 4694357"/>
              <a:gd name="connsiteY1320" fmla="*/ 569427 h 4717133"/>
              <a:gd name="connsiteX1321" fmla="*/ 3902853 w 4694357"/>
              <a:gd name="connsiteY1321" fmla="*/ 592204 h 4717133"/>
              <a:gd name="connsiteX1322" fmla="*/ 3880076 w 4694357"/>
              <a:gd name="connsiteY1322" fmla="*/ 614981 h 4717133"/>
              <a:gd name="connsiteX1323" fmla="*/ 3857299 w 4694357"/>
              <a:gd name="connsiteY1323" fmla="*/ 592204 h 4717133"/>
              <a:gd name="connsiteX1324" fmla="*/ 3880076 w 4694357"/>
              <a:gd name="connsiteY1324" fmla="*/ 569427 h 4717133"/>
              <a:gd name="connsiteX1325" fmla="*/ 3307802 w 4694357"/>
              <a:gd name="connsiteY1325" fmla="*/ 566011 h 4717133"/>
              <a:gd name="connsiteX1326" fmla="*/ 3328871 w 4694357"/>
              <a:gd name="connsiteY1326" fmla="*/ 587080 h 4717133"/>
              <a:gd name="connsiteX1327" fmla="*/ 3307802 w 4694357"/>
              <a:gd name="connsiteY1327" fmla="*/ 608149 h 4717133"/>
              <a:gd name="connsiteX1328" fmla="*/ 3286733 w 4694357"/>
              <a:gd name="connsiteY1328" fmla="*/ 587080 h 4717133"/>
              <a:gd name="connsiteX1329" fmla="*/ 3307802 w 4694357"/>
              <a:gd name="connsiteY1329" fmla="*/ 566011 h 4717133"/>
              <a:gd name="connsiteX1330" fmla="*/ 1240213 w 4694357"/>
              <a:gd name="connsiteY1330" fmla="*/ 539817 h 4717133"/>
              <a:gd name="connsiteX1331" fmla="*/ 1251602 w 4694357"/>
              <a:gd name="connsiteY1331" fmla="*/ 551775 h 4717133"/>
              <a:gd name="connsiteX1332" fmla="*/ 1240213 w 4694357"/>
              <a:gd name="connsiteY1332" fmla="*/ 563733 h 4717133"/>
              <a:gd name="connsiteX1333" fmla="*/ 1228824 w 4694357"/>
              <a:gd name="connsiteY1333" fmla="*/ 551775 h 4717133"/>
              <a:gd name="connsiteX1334" fmla="*/ 1240213 w 4694357"/>
              <a:gd name="connsiteY1334" fmla="*/ 539817 h 4717133"/>
              <a:gd name="connsiteX1335" fmla="*/ 3457561 w 4694357"/>
              <a:gd name="connsiteY1335" fmla="*/ 520457 h 4717133"/>
              <a:gd name="connsiteX1336" fmla="*/ 3488310 w 4694357"/>
              <a:gd name="connsiteY1336" fmla="*/ 551206 h 4717133"/>
              <a:gd name="connsiteX1337" fmla="*/ 3457561 w 4694357"/>
              <a:gd name="connsiteY1337" fmla="*/ 581955 h 4717133"/>
              <a:gd name="connsiteX1338" fmla="*/ 3426812 w 4694357"/>
              <a:gd name="connsiteY1338" fmla="*/ 551206 h 4717133"/>
              <a:gd name="connsiteX1339" fmla="*/ 3457561 w 4694357"/>
              <a:gd name="connsiteY1339" fmla="*/ 520457 h 4717133"/>
              <a:gd name="connsiteX1340" fmla="*/ 1538592 w 4694357"/>
              <a:gd name="connsiteY1340" fmla="*/ 499957 h 4717133"/>
              <a:gd name="connsiteX1341" fmla="*/ 1552258 w 4694357"/>
              <a:gd name="connsiteY1341" fmla="*/ 514193 h 4717133"/>
              <a:gd name="connsiteX1342" fmla="*/ 1538592 w 4694357"/>
              <a:gd name="connsiteY1342" fmla="*/ 528429 h 4717133"/>
              <a:gd name="connsiteX1343" fmla="*/ 1524926 w 4694357"/>
              <a:gd name="connsiteY1343" fmla="*/ 514193 h 4717133"/>
              <a:gd name="connsiteX1344" fmla="*/ 1538592 w 4694357"/>
              <a:gd name="connsiteY1344" fmla="*/ 499957 h 4717133"/>
              <a:gd name="connsiteX1345" fmla="*/ 3158612 w 4694357"/>
              <a:gd name="connsiteY1345" fmla="*/ 494263 h 4717133"/>
              <a:gd name="connsiteX1346" fmla="*/ 3178542 w 4694357"/>
              <a:gd name="connsiteY1346" fmla="*/ 514193 h 4717133"/>
              <a:gd name="connsiteX1347" fmla="*/ 3158612 w 4694357"/>
              <a:gd name="connsiteY1347" fmla="*/ 534123 h 4717133"/>
              <a:gd name="connsiteX1348" fmla="*/ 3138682 w 4694357"/>
              <a:gd name="connsiteY1348" fmla="*/ 514193 h 4717133"/>
              <a:gd name="connsiteX1349" fmla="*/ 3158612 w 4694357"/>
              <a:gd name="connsiteY1349" fmla="*/ 494263 h 4717133"/>
              <a:gd name="connsiteX1350" fmla="*/ 3606182 w 4694357"/>
              <a:gd name="connsiteY1350" fmla="*/ 490846 h 4717133"/>
              <a:gd name="connsiteX1351" fmla="*/ 3630668 w 4694357"/>
              <a:gd name="connsiteY1351" fmla="*/ 515901 h 4717133"/>
              <a:gd name="connsiteX1352" fmla="*/ 3606182 w 4694357"/>
              <a:gd name="connsiteY1352" fmla="*/ 540956 h 4717133"/>
              <a:gd name="connsiteX1353" fmla="*/ 3581696 w 4694357"/>
              <a:gd name="connsiteY1353" fmla="*/ 515901 h 4717133"/>
              <a:gd name="connsiteX1354" fmla="*/ 3606182 w 4694357"/>
              <a:gd name="connsiteY1354" fmla="*/ 490846 h 4717133"/>
              <a:gd name="connsiteX1355" fmla="*/ 1091023 w 4694357"/>
              <a:gd name="connsiteY1355" fmla="*/ 489707 h 4717133"/>
              <a:gd name="connsiteX1356" fmla="*/ 1118356 w 4694357"/>
              <a:gd name="connsiteY1356" fmla="*/ 516470 h 4717133"/>
              <a:gd name="connsiteX1357" fmla="*/ 1091023 w 4694357"/>
              <a:gd name="connsiteY1357" fmla="*/ 543233 h 4717133"/>
              <a:gd name="connsiteX1358" fmla="*/ 1063690 w 4694357"/>
              <a:gd name="connsiteY1358" fmla="*/ 516470 h 4717133"/>
              <a:gd name="connsiteX1359" fmla="*/ 1091023 w 4694357"/>
              <a:gd name="connsiteY1359" fmla="*/ 489707 h 4717133"/>
              <a:gd name="connsiteX1360" fmla="*/ 946958 w 4694357"/>
              <a:gd name="connsiteY1360" fmla="*/ 472625 h 4717133"/>
              <a:gd name="connsiteX1361" fmla="*/ 963472 w 4694357"/>
              <a:gd name="connsiteY1361" fmla="*/ 489139 h 4717133"/>
              <a:gd name="connsiteX1362" fmla="*/ 946958 w 4694357"/>
              <a:gd name="connsiteY1362" fmla="*/ 505653 h 4717133"/>
              <a:gd name="connsiteX1363" fmla="*/ 930444 w 4694357"/>
              <a:gd name="connsiteY1363" fmla="*/ 489139 h 4717133"/>
              <a:gd name="connsiteX1364" fmla="*/ 946958 w 4694357"/>
              <a:gd name="connsiteY1364" fmla="*/ 472625 h 4717133"/>
              <a:gd name="connsiteX1365" fmla="*/ 3750246 w 4694357"/>
              <a:gd name="connsiteY1365" fmla="*/ 464652 h 4717133"/>
              <a:gd name="connsiteX1366" fmla="*/ 3773023 w 4694357"/>
              <a:gd name="connsiteY1366" fmla="*/ 487429 h 4717133"/>
              <a:gd name="connsiteX1367" fmla="*/ 3750246 w 4694357"/>
              <a:gd name="connsiteY1367" fmla="*/ 510206 h 4717133"/>
              <a:gd name="connsiteX1368" fmla="*/ 3727469 w 4694357"/>
              <a:gd name="connsiteY1368" fmla="*/ 487429 h 4717133"/>
              <a:gd name="connsiteX1369" fmla="*/ 3750246 w 4694357"/>
              <a:gd name="connsiteY1369" fmla="*/ 464652 h 4717133"/>
              <a:gd name="connsiteX1370" fmla="*/ 1385417 w 4694357"/>
              <a:gd name="connsiteY1370" fmla="*/ 456681 h 4717133"/>
              <a:gd name="connsiteX1371" fmla="*/ 1398514 w 4694357"/>
              <a:gd name="connsiteY1371" fmla="*/ 469778 h 4717133"/>
              <a:gd name="connsiteX1372" fmla="*/ 1385417 w 4694357"/>
              <a:gd name="connsiteY1372" fmla="*/ 482875 h 4717133"/>
              <a:gd name="connsiteX1373" fmla="*/ 1372320 w 4694357"/>
              <a:gd name="connsiteY1373" fmla="*/ 469778 h 4717133"/>
              <a:gd name="connsiteX1374" fmla="*/ 1385417 w 4694357"/>
              <a:gd name="connsiteY1374" fmla="*/ 456681 h 4717133"/>
              <a:gd name="connsiteX1375" fmla="*/ 3311787 w 4694357"/>
              <a:gd name="connsiteY1375" fmla="*/ 440737 h 4717133"/>
              <a:gd name="connsiteX1376" fmla="*/ 3341397 w 4694357"/>
              <a:gd name="connsiteY1376" fmla="*/ 469778 h 4717133"/>
              <a:gd name="connsiteX1377" fmla="*/ 3311787 w 4694357"/>
              <a:gd name="connsiteY1377" fmla="*/ 498819 h 4717133"/>
              <a:gd name="connsiteX1378" fmla="*/ 3282177 w 4694357"/>
              <a:gd name="connsiteY1378" fmla="*/ 469778 h 4717133"/>
              <a:gd name="connsiteX1379" fmla="*/ 3311787 w 4694357"/>
              <a:gd name="connsiteY1379" fmla="*/ 440737 h 4717133"/>
              <a:gd name="connsiteX1380" fmla="*/ 1694046 w 4694357"/>
              <a:gd name="connsiteY1380" fmla="*/ 439598 h 4717133"/>
              <a:gd name="connsiteX1381" fmla="*/ 1708282 w 4694357"/>
              <a:gd name="connsiteY1381" fmla="*/ 454403 h 4717133"/>
              <a:gd name="connsiteX1382" fmla="*/ 1694046 w 4694357"/>
              <a:gd name="connsiteY1382" fmla="*/ 469208 h 4717133"/>
              <a:gd name="connsiteX1383" fmla="*/ 1679810 w 4694357"/>
              <a:gd name="connsiteY1383" fmla="*/ 454403 h 4717133"/>
              <a:gd name="connsiteX1384" fmla="*/ 1694046 w 4694357"/>
              <a:gd name="connsiteY1384" fmla="*/ 439598 h 4717133"/>
              <a:gd name="connsiteX1385" fmla="*/ 3003158 w 4694357"/>
              <a:gd name="connsiteY1385" fmla="*/ 433904 h 4717133"/>
              <a:gd name="connsiteX1386" fmla="*/ 3022519 w 4694357"/>
              <a:gd name="connsiteY1386" fmla="*/ 453265 h 4717133"/>
              <a:gd name="connsiteX1387" fmla="*/ 3003158 w 4694357"/>
              <a:gd name="connsiteY1387" fmla="*/ 472626 h 4717133"/>
              <a:gd name="connsiteX1388" fmla="*/ 2983797 w 4694357"/>
              <a:gd name="connsiteY1388" fmla="*/ 453265 h 4717133"/>
              <a:gd name="connsiteX1389" fmla="*/ 3003158 w 4694357"/>
              <a:gd name="connsiteY1389" fmla="*/ 433904 h 4717133"/>
              <a:gd name="connsiteX1390" fmla="*/ 3464394 w 4694357"/>
              <a:gd name="connsiteY1390" fmla="*/ 402016 h 4717133"/>
              <a:gd name="connsiteX1391" fmla="*/ 3489449 w 4694357"/>
              <a:gd name="connsiteY1391" fmla="*/ 427071 h 4717133"/>
              <a:gd name="connsiteX1392" fmla="*/ 3464394 w 4694357"/>
              <a:gd name="connsiteY1392" fmla="*/ 452126 h 4717133"/>
              <a:gd name="connsiteX1393" fmla="*/ 3439339 w 4694357"/>
              <a:gd name="connsiteY1393" fmla="*/ 427071 h 4717133"/>
              <a:gd name="connsiteX1394" fmla="*/ 3464394 w 4694357"/>
              <a:gd name="connsiteY1394" fmla="*/ 402016 h 4717133"/>
              <a:gd name="connsiteX1395" fmla="*/ 1231671 w 4694357"/>
              <a:gd name="connsiteY1395" fmla="*/ 399738 h 4717133"/>
              <a:gd name="connsiteX1396" fmla="*/ 1258434 w 4694357"/>
              <a:gd name="connsiteY1396" fmla="*/ 427071 h 4717133"/>
              <a:gd name="connsiteX1397" fmla="*/ 1231671 w 4694357"/>
              <a:gd name="connsiteY1397" fmla="*/ 454404 h 4717133"/>
              <a:gd name="connsiteX1398" fmla="*/ 1204908 w 4694357"/>
              <a:gd name="connsiteY1398" fmla="*/ 427071 h 4717133"/>
              <a:gd name="connsiteX1399" fmla="*/ 1231671 w 4694357"/>
              <a:gd name="connsiteY1399" fmla="*/ 399738 h 4717133"/>
              <a:gd name="connsiteX1400" fmla="*/ 1853485 w 4694357"/>
              <a:gd name="connsiteY1400" fmla="*/ 390627 h 4717133"/>
              <a:gd name="connsiteX1401" fmla="*/ 1868860 w 4694357"/>
              <a:gd name="connsiteY1401" fmla="*/ 406002 h 4717133"/>
              <a:gd name="connsiteX1402" fmla="*/ 1853485 w 4694357"/>
              <a:gd name="connsiteY1402" fmla="*/ 421377 h 4717133"/>
              <a:gd name="connsiteX1403" fmla="*/ 1838110 w 4694357"/>
              <a:gd name="connsiteY1403" fmla="*/ 406002 h 4717133"/>
              <a:gd name="connsiteX1404" fmla="*/ 1853485 w 4694357"/>
              <a:gd name="connsiteY1404" fmla="*/ 390627 h 4717133"/>
              <a:gd name="connsiteX1405" fmla="*/ 2843150 w 4694357"/>
              <a:gd name="connsiteY1405" fmla="*/ 387210 h 4717133"/>
              <a:gd name="connsiteX1406" fmla="*/ 2861942 w 4694357"/>
              <a:gd name="connsiteY1406" fmla="*/ 406002 h 4717133"/>
              <a:gd name="connsiteX1407" fmla="*/ 2843150 w 4694357"/>
              <a:gd name="connsiteY1407" fmla="*/ 424794 h 4717133"/>
              <a:gd name="connsiteX1408" fmla="*/ 2824358 w 4694357"/>
              <a:gd name="connsiteY1408" fmla="*/ 406002 h 4717133"/>
              <a:gd name="connsiteX1409" fmla="*/ 2843150 w 4694357"/>
              <a:gd name="connsiteY1409" fmla="*/ 387210 h 4717133"/>
              <a:gd name="connsiteX1410" fmla="*/ 1536314 w 4694357"/>
              <a:gd name="connsiteY1410" fmla="*/ 386072 h 4717133"/>
              <a:gd name="connsiteX1411" fmla="*/ 1551119 w 4694357"/>
              <a:gd name="connsiteY1411" fmla="*/ 400308 h 4717133"/>
              <a:gd name="connsiteX1412" fmla="*/ 1536314 w 4694357"/>
              <a:gd name="connsiteY1412" fmla="*/ 414544 h 4717133"/>
              <a:gd name="connsiteX1413" fmla="*/ 1521509 w 4694357"/>
              <a:gd name="connsiteY1413" fmla="*/ 400308 h 4717133"/>
              <a:gd name="connsiteX1414" fmla="*/ 1536314 w 4694357"/>
              <a:gd name="connsiteY1414" fmla="*/ 386072 h 4717133"/>
              <a:gd name="connsiteX1415" fmla="*/ 1083621 w 4694357"/>
              <a:gd name="connsiteY1415" fmla="*/ 375822 h 4717133"/>
              <a:gd name="connsiteX1416" fmla="*/ 1101274 w 4694357"/>
              <a:gd name="connsiteY1416" fmla="*/ 392905 h 4717133"/>
              <a:gd name="connsiteX1417" fmla="*/ 1083621 w 4694357"/>
              <a:gd name="connsiteY1417" fmla="*/ 409988 h 4717133"/>
              <a:gd name="connsiteX1418" fmla="*/ 1065968 w 4694357"/>
              <a:gd name="connsiteY1418" fmla="*/ 392905 h 4717133"/>
              <a:gd name="connsiteX1419" fmla="*/ 1083621 w 4694357"/>
              <a:gd name="connsiteY1419" fmla="*/ 375822 h 4717133"/>
              <a:gd name="connsiteX1420" fmla="*/ 3160890 w 4694357"/>
              <a:gd name="connsiteY1420" fmla="*/ 372406 h 4717133"/>
              <a:gd name="connsiteX1421" fmla="*/ 3188792 w 4694357"/>
              <a:gd name="connsiteY1421" fmla="*/ 400308 h 4717133"/>
              <a:gd name="connsiteX1422" fmla="*/ 3160890 w 4694357"/>
              <a:gd name="connsiteY1422" fmla="*/ 428210 h 4717133"/>
              <a:gd name="connsiteX1423" fmla="*/ 3132988 w 4694357"/>
              <a:gd name="connsiteY1423" fmla="*/ 400308 h 4717133"/>
              <a:gd name="connsiteX1424" fmla="*/ 3160890 w 4694357"/>
              <a:gd name="connsiteY1424" fmla="*/ 372406 h 4717133"/>
              <a:gd name="connsiteX1425" fmla="*/ 3612445 w 4694357"/>
              <a:gd name="connsiteY1425" fmla="*/ 370128 h 4717133"/>
              <a:gd name="connsiteX1426" fmla="*/ 3635222 w 4694357"/>
              <a:gd name="connsiteY1426" fmla="*/ 392905 h 4717133"/>
              <a:gd name="connsiteX1427" fmla="*/ 3612445 w 4694357"/>
              <a:gd name="connsiteY1427" fmla="*/ 415682 h 4717133"/>
              <a:gd name="connsiteX1428" fmla="*/ 3589668 w 4694357"/>
              <a:gd name="connsiteY1428" fmla="*/ 392905 h 4717133"/>
              <a:gd name="connsiteX1429" fmla="*/ 3612445 w 4694357"/>
              <a:gd name="connsiteY1429" fmla="*/ 370128 h 4717133"/>
              <a:gd name="connsiteX1430" fmla="*/ 2016911 w 4694357"/>
              <a:gd name="connsiteY1430" fmla="*/ 356462 h 4717133"/>
              <a:gd name="connsiteX1431" fmla="*/ 2032855 w 4694357"/>
              <a:gd name="connsiteY1431" fmla="*/ 372406 h 4717133"/>
              <a:gd name="connsiteX1432" fmla="*/ 2016911 w 4694357"/>
              <a:gd name="connsiteY1432" fmla="*/ 388350 h 4717133"/>
              <a:gd name="connsiteX1433" fmla="*/ 2000967 w 4694357"/>
              <a:gd name="connsiteY1433" fmla="*/ 372406 h 4717133"/>
              <a:gd name="connsiteX1434" fmla="*/ 2016911 w 4694357"/>
              <a:gd name="connsiteY1434" fmla="*/ 356462 h 4717133"/>
              <a:gd name="connsiteX1435" fmla="*/ 2680294 w 4694357"/>
              <a:gd name="connsiteY1435" fmla="*/ 353045 h 4717133"/>
              <a:gd name="connsiteX1436" fmla="*/ 2699086 w 4694357"/>
              <a:gd name="connsiteY1436" fmla="*/ 371837 h 4717133"/>
              <a:gd name="connsiteX1437" fmla="*/ 2680294 w 4694357"/>
              <a:gd name="connsiteY1437" fmla="*/ 390629 h 4717133"/>
              <a:gd name="connsiteX1438" fmla="*/ 2661502 w 4694357"/>
              <a:gd name="connsiteY1438" fmla="*/ 371837 h 4717133"/>
              <a:gd name="connsiteX1439" fmla="*/ 2680294 w 4694357"/>
              <a:gd name="connsiteY1439" fmla="*/ 353045 h 4717133"/>
              <a:gd name="connsiteX1440" fmla="*/ 2181476 w 4694357"/>
              <a:gd name="connsiteY1440" fmla="*/ 334823 h 4717133"/>
              <a:gd name="connsiteX1441" fmla="*/ 2197990 w 4694357"/>
              <a:gd name="connsiteY1441" fmla="*/ 351337 h 4717133"/>
              <a:gd name="connsiteX1442" fmla="*/ 2181476 w 4694357"/>
              <a:gd name="connsiteY1442" fmla="*/ 367851 h 4717133"/>
              <a:gd name="connsiteX1443" fmla="*/ 2164962 w 4694357"/>
              <a:gd name="connsiteY1443" fmla="*/ 351337 h 4717133"/>
              <a:gd name="connsiteX1444" fmla="*/ 2181476 w 4694357"/>
              <a:gd name="connsiteY1444" fmla="*/ 334823 h 4717133"/>
              <a:gd name="connsiteX1445" fmla="*/ 2515160 w 4694357"/>
              <a:gd name="connsiteY1445" fmla="*/ 333685 h 4717133"/>
              <a:gd name="connsiteX1446" fmla="*/ 2532813 w 4694357"/>
              <a:gd name="connsiteY1446" fmla="*/ 351338 h 4717133"/>
              <a:gd name="connsiteX1447" fmla="*/ 2515160 w 4694357"/>
              <a:gd name="connsiteY1447" fmla="*/ 368991 h 4717133"/>
              <a:gd name="connsiteX1448" fmla="*/ 2497507 w 4694357"/>
              <a:gd name="connsiteY1448" fmla="*/ 351338 h 4717133"/>
              <a:gd name="connsiteX1449" fmla="*/ 2515160 w 4694357"/>
              <a:gd name="connsiteY1449" fmla="*/ 333685 h 4717133"/>
              <a:gd name="connsiteX1450" fmla="*/ 2348318 w 4694357"/>
              <a:gd name="connsiteY1450" fmla="*/ 327990 h 4717133"/>
              <a:gd name="connsiteX1451" fmla="*/ 2365401 w 4694357"/>
              <a:gd name="connsiteY1451" fmla="*/ 345073 h 4717133"/>
              <a:gd name="connsiteX1452" fmla="*/ 2348318 w 4694357"/>
              <a:gd name="connsiteY1452" fmla="*/ 362156 h 4717133"/>
              <a:gd name="connsiteX1453" fmla="*/ 2331235 w 4694357"/>
              <a:gd name="connsiteY1453" fmla="*/ 345073 h 4717133"/>
              <a:gd name="connsiteX1454" fmla="*/ 2348318 w 4694357"/>
              <a:gd name="connsiteY1454" fmla="*/ 327990 h 4717133"/>
              <a:gd name="connsiteX1455" fmla="*/ 1692907 w 4694357"/>
              <a:gd name="connsiteY1455" fmla="*/ 326851 h 4717133"/>
              <a:gd name="connsiteX1456" fmla="*/ 1708282 w 4694357"/>
              <a:gd name="connsiteY1456" fmla="*/ 342226 h 4717133"/>
              <a:gd name="connsiteX1457" fmla="*/ 1692907 w 4694357"/>
              <a:gd name="connsiteY1457" fmla="*/ 357601 h 4717133"/>
              <a:gd name="connsiteX1458" fmla="*/ 1677532 w 4694357"/>
              <a:gd name="connsiteY1458" fmla="*/ 342226 h 4717133"/>
              <a:gd name="connsiteX1459" fmla="*/ 1692907 w 4694357"/>
              <a:gd name="connsiteY1459" fmla="*/ 326851 h 4717133"/>
              <a:gd name="connsiteX1460" fmla="*/ 3316913 w 4694357"/>
              <a:gd name="connsiteY1460" fmla="*/ 323435 h 4717133"/>
              <a:gd name="connsiteX1461" fmla="*/ 3342538 w 4694357"/>
              <a:gd name="connsiteY1461" fmla="*/ 348490 h 4717133"/>
              <a:gd name="connsiteX1462" fmla="*/ 3316913 w 4694357"/>
              <a:gd name="connsiteY1462" fmla="*/ 373545 h 4717133"/>
              <a:gd name="connsiteX1463" fmla="*/ 3291288 w 4694357"/>
              <a:gd name="connsiteY1463" fmla="*/ 348490 h 4717133"/>
              <a:gd name="connsiteX1464" fmla="*/ 3316913 w 4694357"/>
              <a:gd name="connsiteY1464" fmla="*/ 323435 h 4717133"/>
              <a:gd name="connsiteX1465" fmla="*/ 1379722 w 4694357"/>
              <a:gd name="connsiteY1465" fmla="*/ 322296 h 4717133"/>
              <a:gd name="connsiteX1466" fmla="*/ 1406485 w 4694357"/>
              <a:gd name="connsiteY1466" fmla="*/ 349059 h 4717133"/>
              <a:gd name="connsiteX1467" fmla="*/ 1379722 w 4694357"/>
              <a:gd name="connsiteY1467" fmla="*/ 375822 h 4717133"/>
              <a:gd name="connsiteX1468" fmla="*/ 1352959 w 4694357"/>
              <a:gd name="connsiteY1468" fmla="*/ 349059 h 4717133"/>
              <a:gd name="connsiteX1469" fmla="*/ 1379722 w 4694357"/>
              <a:gd name="connsiteY1469" fmla="*/ 322296 h 4717133"/>
              <a:gd name="connsiteX1470" fmla="*/ 3004298 w 4694357"/>
              <a:gd name="connsiteY1470" fmla="*/ 316601 h 4717133"/>
              <a:gd name="connsiteX1471" fmla="*/ 3030492 w 4694357"/>
              <a:gd name="connsiteY1471" fmla="*/ 342226 h 4717133"/>
              <a:gd name="connsiteX1472" fmla="*/ 3004298 w 4694357"/>
              <a:gd name="connsiteY1472" fmla="*/ 367851 h 4717133"/>
              <a:gd name="connsiteX1473" fmla="*/ 2978104 w 4694357"/>
              <a:gd name="connsiteY1473" fmla="*/ 342226 h 4717133"/>
              <a:gd name="connsiteX1474" fmla="*/ 3004298 w 4694357"/>
              <a:gd name="connsiteY1474" fmla="*/ 316601 h 4717133"/>
              <a:gd name="connsiteX1475" fmla="*/ 1227116 w 4694357"/>
              <a:gd name="connsiteY1475" fmla="*/ 290408 h 4717133"/>
              <a:gd name="connsiteX1476" fmla="*/ 1244769 w 4694357"/>
              <a:gd name="connsiteY1476" fmla="*/ 308061 h 4717133"/>
              <a:gd name="connsiteX1477" fmla="*/ 1227116 w 4694357"/>
              <a:gd name="connsiteY1477" fmla="*/ 325714 h 4717133"/>
              <a:gd name="connsiteX1478" fmla="*/ 1209463 w 4694357"/>
              <a:gd name="connsiteY1478" fmla="*/ 308061 h 4717133"/>
              <a:gd name="connsiteX1479" fmla="*/ 1227116 w 4694357"/>
              <a:gd name="connsiteY1479" fmla="*/ 290408 h 4717133"/>
              <a:gd name="connsiteX1480" fmla="*/ 3468949 w 4694357"/>
              <a:gd name="connsiteY1480" fmla="*/ 284714 h 4717133"/>
              <a:gd name="connsiteX1481" fmla="*/ 3491726 w 4694357"/>
              <a:gd name="connsiteY1481" fmla="*/ 307491 h 4717133"/>
              <a:gd name="connsiteX1482" fmla="*/ 3468949 w 4694357"/>
              <a:gd name="connsiteY1482" fmla="*/ 330268 h 4717133"/>
              <a:gd name="connsiteX1483" fmla="*/ 3446172 w 4694357"/>
              <a:gd name="connsiteY1483" fmla="*/ 307491 h 4717133"/>
              <a:gd name="connsiteX1484" fmla="*/ 3468949 w 4694357"/>
              <a:gd name="connsiteY1484" fmla="*/ 284714 h 4717133"/>
              <a:gd name="connsiteX1485" fmla="*/ 1852916 w 4694357"/>
              <a:gd name="connsiteY1485" fmla="*/ 280158 h 4717133"/>
              <a:gd name="connsiteX1486" fmla="*/ 1869999 w 4694357"/>
              <a:gd name="connsiteY1486" fmla="*/ 297241 h 4717133"/>
              <a:gd name="connsiteX1487" fmla="*/ 1852916 w 4694357"/>
              <a:gd name="connsiteY1487" fmla="*/ 314324 h 4717133"/>
              <a:gd name="connsiteX1488" fmla="*/ 1835833 w 4694357"/>
              <a:gd name="connsiteY1488" fmla="*/ 297241 h 4717133"/>
              <a:gd name="connsiteX1489" fmla="*/ 1852916 w 4694357"/>
              <a:gd name="connsiteY1489" fmla="*/ 280158 h 4717133"/>
              <a:gd name="connsiteX1490" fmla="*/ 2843719 w 4694357"/>
              <a:gd name="connsiteY1490" fmla="*/ 272187 h 4717133"/>
              <a:gd name="connsiteX1491" fmla="*/ 2868774 w 4694357"/>
              <a:gd name="connsiteY1491" fmla="*/ 296673 h 4717133"/>
              <a:gd name="connsiteX1492" fmla="*/ 2843719 w 4694357"/>
              <a:gd name="connsiteY1492" fmla="*/ 321159 h 4717133"/>
              <a:gd name="connsiteX1493" fmla="*/ 2818664 w 4694357"/>
              <a:gd name="connsiteY1493" fmla="*/ 296673 h 4717133"/>
              <a:gd name="connsiteX1494" fmla="*/ 2843719 w 4694357"/>
              <a:gd name="connsiteY1494" fmla="*/ 272187 h 4717133"/>
              <a:gd name="connsiteX1495" fmla="*/ 3164307 w 4694357"/>
              <a:gd name="connsiteY1495" fmla="*/ 256243 h 4717133"/>
              <a:gd name="connsiteX1496" fmla="*/ 3189932 w 4694357"/>
              <a:gd name="connsiteY1496" fmla="*/ 281868 h 4717133"/>
              <a:gd name="connsiteX1497" fmla="*/ 3164307 w 4694357"/>
              <a:gd name="connsiteY1497" fmla="*/ 307493 h 4717133"/>
              <a:gd name="connsiteX1498" fmla="*/ 3138682 w 4694357"/>
              <a:gd name="connsiteY1498" fmla="*/ 281868 h 4717133"/>
              <a:gd name="connsiteX1499" fmla="*/ 3164307 w 4694357"/>
              <a:gd name="connsiteY1499" fmla="*/ 256243 h 4717133"/>
              <a:gd name="connsiteX1500" fmla="*/ 1532328 w 4694357"/>
              <a:gd name="connsiteY1500" fmla="*/ 255103 h 4717133"/>
              <a:gd name="connsiteX1501" fmla="*/ 1559091 w 4694357"/>
              <a:gd name="connsiteY1501" fmla="*/ 281866 h 4717133"/>
              <a:gd name="connsiteX1502" fmla="*/ 1532328 w 4694357"/>
              <a:gd name="connsiteY1502" fmla="*/ 308629 h 4717133"/>
              <a:gd name="connsiteX1503" fmla="*/ 1505565 w 4694357"/>
              <a:gd name="connsiteY1503" fmla="*/ 281866 h 4717133"/>
              <a:gd name="connsiteX1504" fmla="*/ 1532328 w 4694357"/>
              <a:gd name="connsiteY1504" fmla="*/ 255103 h 4717133"/>
              <a:gd name="connsiteX1505" fmla="*/ 2016911 w 4694357"/>
              <a:gd name="connsiteY1505" fmla="*/ 245993 h 4717133"/>
              <a:gd name="connsiteX1506" fmla="*/ 2035133 w 4694357"/>
              <a:gd name="connsiteY1506" fmla="*/ 264785 h 4717133"/>
              <a:gd name="connsiteX1507" fmla="*/ 2016911 w 4694357"/>
              <a:gd name="connsiteY1507" fmla="*/ 283577 h 4717133"/>
              <a:gd name="connsiteX1508" fmla="*/ 1998689 w 4694357"/>
              <a:gd name="connsiteY1508" fmla="*/ 264785 h 4717133"/>
              <a:gd name="connsiteX1509" fmla="*/ 2016911 w 4694357"/>
              <a:gd name="connsiteY1509" fmla="*/ 245993 h 4717133"/>
              <a:gd name="connsiteX1510" fmla="*/ 2680294 w 4694357"/>
              <a:gd name="connsiteY1510" fmla="*/ 241437 h 4717133"/>
              <a:gd name="connsiteX1511" fmla="*/ 2703641 w 4694357"/>
              <a:gd name="connsiteY1511" fmla="*/ 264784 h 4717133"/>
              <a:gd name="connsiteX1512" fmla="*/ 2680294 w 4694357"/>
              <a:gd name="connsiteY1512" fmla="*/ 288131 h 4717133"/>
              <a:gd name="connsiteX1513" fmla="*/ 2656947 w 4694357"/>
              <a:gd name="connsiteY1513" fmla="*/ 264784 h 4717133"/>
              <a:gd name="connsiteX1514" fmla="*/ 2680294 w 4694357"/>
              <a:gd name="connsiteY1514" fmla="*/ 241437 h 4717133"/>
              <a:gd name="connsiteX1515" fmla="*/ 2182045 w 4694357"/>
              <a:gd name="connsiteY1515" fmla="*/ 225493 h 4717133"/>
              <a:gd name="connsiteX1516" fmla="*/ 2201406 w 4694357"/>
              <a:gd name="connsiteY1516" fmla="*/ 244854 h 4717133"/>
              <a:gd name="connsiteX1517" fmla="*/ 2182045 w 4694357"/>
              <a:gd name="connsiteY1517" fmla="*/ 264215 h 4717133"/>
              <a:gd name="connsiteX1518" fmla="*/ 2162684 w 4694357"/>
              <a:gd name="connsiteY1518" fmla="*/ 244854 h 4717133"/>
              <a:gd name="connsiteX1519" fmla="*/ 2182045 w 4694357"/>
              <a:gd name="connsiteY1519" fmla="*/ 225493 h 4717133"/>
              <a:gd name="connsiteX1520" fmla="*/ 2515160 w 4694357"/>
              <a:gd name="connsiteY1520" fmla="*/ 223215 h 4717133"/>
              <a:gd name="connsiteX1521" fmla="*/ 2537368 w 4694357"/>
              <a:gd name="connsiteY1521" fmla="*/ 245423 h 4717133"/>
              <a:gd name="connsiteX1522" fmla="*/ 2515160 w 4694357"/>
              <a:gd name="connsiteY1522" fmla="*/ 267631 h 4717133"/>
              <a:gd name="connsiteX1523" fmla="*/ 2492952 w 4694357"/>
              <a:gd name="connsiteY1523" fmla="*/ 245423 h 4717133"/>
              <a:gd name="connsiteX1524" fmla="*/ 2515160 w 4694357"/>
              <a:gd name="connsiteY1524" fmla="*/ 223215 h 4717133"/>
              <a:gd name="connsiteX1525" fmla="*/ 2348318 w 4694357"/>
              <a:gd name="connsiteY1525" fmla="*/ 217522 h 4717133"/>
              <a:gd name="connsiteX1526" fmla="*/ 2368818 w 4694357"/>
              <a:gd name="connsiteY1526" fmla="*/ 238591 h 4717133"/>
              <a:gd name="connsiteX1527" fmla="*/ 2348318 w 4694357"/>
              <a:gd name="connsiteY1527" fmla="*/ 259660 h 4717133"/>
              <a:gd name="connsiteX1528" fmla="*/ 2327818 w 4694357"/>
              <a:gd name="connsiteY1528" fmla="*/ 238591 h 4717133"/>
              <a:gd name="connsiteX1529" fmla="*/ 2348318 w 4694357"/>
              <a:gd name="connsiteY1529" fmla="*/ 217522 h 4717133"/>
              <a:gd name="connsiteX1530" fmla="*/ 1376875 w 4694357"/>
              <a:gd name="connsiteY1530" fmla="*/ 214105 h 4717133"/>
              <a:gd name="connsiteX1531" fmla="*/ 1395097 w 4694357"/>
              <a:gd name="connsiteY1531" fmla="*/ 232897 h 4717133"/>
              <a:gd name="connsiteX1532" fmla="*/ 1376875 w 4694357"/>
              <a:gd name="connsiteY1532" fmla="*/ 251689 h 4717133"/>
              <a:gd name="connsiteX1533" fmla="*/ 1358653 w 4694357"/>
              <a:gd name="connsiteY1533" fmla="*/ 232897 h 4717133"/>
              <a:gd name="connsiteX1534" fmla="*/ 1376875 w 4694357"/>
              <a:gd name="connsiteY1534" fmla="*/ 214105 h 4717133"/>
              <a:gd name="connsiteX1535" fmla="*/ 3319760 w 4694357"/>
              <a:gd name="connsiteY1535" fmla="*/ 209549 h 4717133"/>
              <a:gd name="connsiteX1536" fmla="*/ 3342537 w 4694357"/>
              <a:gd name="connsiteY1536" fmla="*/ 232326 h 4717133"/>
              <a:gd name="connsiteX1537" fmla="*/ 3319760 w 4694357"/>
              <a:gd name="connsiteY1537" fmla="*/ 255103 h 4717133"/>
              <a:gd name="connsiteX1538" fmla="*/ 3296983 w 4694357"/>
              <a:gd name="connsiteY1538" fmla="*/ 232326 h 4717133"/>
              <a:gd name="connsiteX1539" fmla="*/ 3319760 w 4694357"/>
              <a:gd name="connsiteY1539" fmla="*/ 209549 h 4717133"/>
              <a:gd name="connsiteX1540" fmla="*/ 3006575 w 4694357"/>
              <a:gd name="connsiteY1540" fmla="*/ 200438 h 4717133"/>
              <a:gd name="connsiteX1541" fmla="*/ 3032769 w 4694357"/>
              <a:gd name="connsiteY1541" fmla="*/ 226632 h 4717133"/>
              <a:gd name="connsiteX1542" fmla="*/ 3006575 w 4694357"/>
              <a:gd name="connsiteY1542" fmla="*/ 252826 h 4717133"/>
              <a:gd name="connsiteX1543" fmla="*/ 2980381 w 4694357"/>
              <a:gd name="connsiteY1543" fmla="*/ 226632 h 4717133"/>
              <a:gd name="connsiteX1544" fmla="*/ 3006575 w 4694357"/>
              <a:gd name="connsiteY1544" fmla="*/ 200438 h 4717133"/>
              <a:gd name="connsiteX1545" fmla="*/ 1690629 w 4694357"/>
              <a:gd name="connsiteY1545" fmla="*/ 200438 h 4717133"/>
              <a:gd name="connsiteX1546" fmla="*/ 1717392 w 4694357"/>
              <a:gd name="connsiteY1546" fmla="*/ 227201 h 4717133"/>
              <a:gd name="connsiteX1547" fmla="*/ 1690629 w 4694357"/>
              <a:gd name="connsiteY1547" fmla="*/ 253964 h 4717133"/>
              <a:gd name="connsiteX1548" fmla="*/ 1663866 w 4694357"/>
              <a:gd name="connsiteY1548" fmla="*/ 227201 h 4717133"/>
              <a:gd name="connsiteX1549" fmla="*/ 1690629 w 4694357"/>
              <a:gd name="connsiteY1549" fmla="*/ 200438 h 4717133"/>
              <a:gd name="connsiteX1550" fmla="*/ 2845427 w 4694357"/>
              <a:gd name="connsiteY1550" fmla="*/ 157162 h 4717133"/>
              <a:gd name="connsiteX1551" fmla="*/ 2871052 w 4694357"/>
              <a:gd name="connsiteY1551" fmla="*/ 183356 h 4717133"/>
              <a:gd name="connsiteX1552" fmla="*/ 2845427 w 4694357"/>
              <a:gd name="connsiteY1552" fmla="*/ 209550 h 4717133"/>
              <a:gd name="connsiteX1553" fmla="*/ 2819802 w 4694357"/>
              <a:gd name="connsiteY1553" fmla="*/ 183356 h 4717133"/>
              <a:gd name="connsiteX1554" fmla="*/ 2845427 w 4694357"/>
              <a:gd name="connsiteY1554" fmla="*/ 157162 h 4717133"/>
              <a:gd name="connsiteX1555" fmla="*/ 1851207 w 4694357"/>
              <a:gd name="connsiteY1555" fmla="*/ 157162 h 4717133"/>
              <a:gd name="connsiteX1556" fmla="*/ 1877970 w 4694357"/>
              <a:gd name="connsiteY1556" fmla="*/ 183925 h 4717133"/>
              <a:gd name="connsiteX1557" fmla="*/ 1851207 w 4694357"/>
              <a:gd name="connsiteY1557" fmla="*/ 210688 h 4717133"/>
              <a:gd name="connsiteX1558" fmla="*/ 1824444 w 4694357"/>
              <a:gd name="connsiteY1558" fmla="*/ 183925 h 4717133"/>
              <a:gd name="connsiteX1559" fmla="*/ 1851207 w 4694357"/>
              <a:gd name="connsiteY1559" fmla="*/ 157162 h 4717133"/>
              <a:gd name="connsiteX1560" fmla="*/ 1530621 w 4694357"/>
              <a:gd name="connsiteY1560" fmla="*/ 150329 h 4717133"/>
              <a:gd name="connsiteX1561" fmla="*/ 1549982 w 4694357"/>
              <a:gd name="connsiteY1561" fmla="*/ 169121 h 4717133"/>
              <a:gd name="connsiteX1562" fmla="*/ 1530621 w 4694357"/>
              <a:gd name="connsiteY1562" fmla="*/ 187913 h 4717133"/>
              <a:gd name="connsiteX1563" fmla="*/ 1511260 w 4694357"/>
              <a:gd name="connsiteY1563" fmla="*/ 169121 h 4717133"/>
              <a:gd name="connsiteX1564" fmla="*/ 1530621 w 4694357"/>
              <a:gd name="connsiteY1564" fmla="*/ 150329 h 4717133"/>
              <a:gd name="connsiteX1565" fmla="*/ 3166014 w 4694357"/>
              <a:gd name="connsiteY1565" fmla="*/ 145773 h 4717133"/>
              <a:gd name="connsiteX1566" fmla="*/ 3188791 w 4694357"/>
              <a:gd name="connsiteY1566" fmla="*/ 168550 h 4717133"/>
              <a:gd name="connsiteX1567" fmla="*/ 3166014 w 4694357"/>
              <a:gd name="connsiteY1567" fmla="*/ 191327 h 4717133"/>
              <a:gd name="connsiteX1568" fmla="*/ 3143237 w 4694357"/>
              <a:gd name="connsiteY1568" fmla="*/ 168550 h 4717133"/>
              <a:gd name="connsiteX1569" fmla="*/ 3166014 w 4694357"/>
              <a:gd name="connsiteY1569" fmla="*/ 145773 h 4717133"/>
              <a:gd name="connsiteX1570" fmla="*/ 2681433 w 4694357"/>
              <a:gd name="connsiteY1570" fmla="*/ 126413 h 4717133"/>
              <a:gd name="connsiteX1571" fmla="*/ 2707058 w 4694357"/>
              <a:gd name="connsiteY1571" fmla="*/ 152607 h 4717133"/>
              <a:gd name="connsiteX1572" fmla="*/ 2681433 w 4694357"/>
              <a:gd name="connsiteY1572" fmla="*/ 178801 h 4717133"/>
              <a:gd name="connsiteX1573" fmla="*/ 2655808 w 4694357"/>
              <a:gd name="connsiteY1573" fmla="*/ 152607 h 4717133"/>
              <a:gd name="connsiteX1574" fmla="*/ 2681433 w 4694357"/>
              <a:gd name="connsiteY1574" fmla="*/ 126413 h 4717133"/>
              <a:gd name="connsiteX1575" fmla="*/ 2015202 w 4694357"/>
              <a:gd name="connsiteY1575" fmla="*/ 126413 h 4717133"/>
              <a:gd name="connsiteX1576" fmla="*/ 2041965 w 4694357"/>
              <a:gd name="connsiteY1576" fmla="*/ 152607 h 4717133"/>
              <a:gd name="connsiteX1577" fmla="*/ 2015202 w 4694357"/>
              <a:gd name="connsiteY1577" fmla="*/ 178801 h 4717133"/>
              <a:gd name="connsiteX1578" fmla="*/ 1988439 w 4694357"/>
              <a:gd name="connsiteY1578" fmla="*/ 152607 h 4717133"/>
              <a:gd name="connsiteX1579" fmla="*/ 2015202 w 4694357"/>
              <a:gd name="connsiteY1579" fmla="*/ 126413 h 4717133"/>
              <a:gd name="connsiteX1580" fmla="*/ 2515159 w 4694357"/>
              <a:gd name="connsiteY1580" fmla="*/ 108192 h 4717133"/>
              <a:gd name="connsiteX1581" fmla="*/ 2541922 w 4694357"/>
              <a:gd name="connsiteY1581" fmla="*/ 133817 h 4717133"/>
              <a:gd name="connsiteX1582" fmla="*/ 2515159 w 4694357"/>
              <a:gd name="connsiteY1582" fmla="*/ 159442 h 4717133"/>
              <a:gd name="connsiteX1583" fmla="*/ 2488396 w 4694357"/>
              <a:gd name="connsiteY1583" fmla="*/ 133817 h 4717133"/>
              <a:gd name="connsiteX1584" fmla="*/ 2515159 w 4694357"/>
              <a:gd name="connsiteY1584" fmla="*/ 108192 h 4717133"/>
              <a:gd name="connsiteX1585" fmla="*/ 2181475 w 4694357"/>
              <a:gd name="connsiteY1585" fmla="*/ 107052 h 4717133"/>
              <a:gd name="connsiteX1586" fmla="*/ 2208238 w 4694357"/>
              <a:gd name="connsiteY1586" fmla="*/ 133815 h 4717133"/>
              <a:gd name="connsiteX1587" fmla="*/ 2181475 w 4694357"/>
              <a:gd name="connsiteY1587" fmla="*/ 160578 h 4717133"/>
              <a:gd name="connsiteX1588" fmla="*/ 2154712 w 4694357"/>
              <a:gd name="connsiteY1588" fmla="*/ 133815 h 4717133"/>
              <a:gd name="connsiteX1589" fmla="*/ 2181475 w 4694357"/>
              <a:gd name="connsiteY1589" fmla="*/ 107052 h 4717133"/>
              <a:gd name="connsiteX1590" fmla="*/ 2348318 w 4694357"/>
              <a:gd name="connsiteY1590" fmla="*/ 101358 h 4717133"/>
              <a:gd name="connsiteX1591" fmla="*/ 2374512 w 4694357"/>
              <a:gd name="connsiteY1591" fmla="*/ 127552 h 4717133"/>
              <a:gd name="connsiteX1592" fmla="*/ 2348318 w 4694357"/>
              <a:gd name="connsiteY1592" fmla="*/ 153746 h 4717133"/>
              <a:gd name="connsiteX1593" fmla="*/ 2322124 w 4694357"/>
              <a:gd name="connsiteY1593" fmla="*/ 127552 h 4717133"/>
              <a:gd name="connsiteX1594" fmla="*/ 2348318 w 4694357"/>
              <a:gd name="connsiteY1594" fmla="*/ 101358 h 4717133"/>
              <a:gd name="connsiteX1595" fmla="*/ 1688921 w 4694357"/>
              <a:gd name="connsiteY1595" fmla="*/ 96803 h 4717133"/>
              <a:gd name="connsiteX1596" fmla="*/ 1708282 w 4694357"/>
              <a:gd name="connsiteY1596" fmla="*/ 116164 h 4717133"/>
              <a:gd name="connsiteX1597" fmla="*/ 1688921 w 4694357"/>
              <a:gd name="connsiteY1597" fmla="*/ 135525 h 4717133"/>
              <a:gd name="connsiteX1598" fmla="*/ 1669560 w 4694357"/>
              <a:gd name="connsiteY1598" fmla="*/ 116164 h 4717133"/>
              <a:gd name="connsiteX1599" fmla="*/ 1688921 w 4694357"/>
              <a:gd name="connsiteY1599" fmla="*/ 96803 h 4717133"/>
              <a:gd name="connsiteX1600" fmla="*/ 3007714 w 4694357"/>
              <a:gd name="connsiteY1600" fmla="*/ 93386 h 4717133"/>
              <a:gd name="connsiteX1601" fmla="*/ 3030491 w 4694357"/>
              <a:gd name="connsiteY1601" fmla="*/ 115594 h 4717133"/>
              <a:gd name="connsiteX1602" fmla="*/ 3007714 w 4694357"/>
              <a:gd name="connsiteY1602" fmla="*/ 137802 h 4717133"/>
              <a:gd name="connsiteX1603" fmla="*/ 2984937 w 4694357"/>
              <a:gd name="connsiteY1603" fmla="*/ 115594 h 4717133"/>
              <a:gd name="connsiteX1604" fmla="*/ 3007714 w 4694357"/>
              <a:gd name="connsiteY1604" fmla="*/ 93386 h 4717133"/>
              <a:gd name="connsiteX1605" fmla="*/ 1850638 w 4694357"/>
              <a:gd name="connsiteY1605" fmla="*/ 54665 h 4717133"/>
              <a:gd name="connsiteX1606" fmla="*/ 1869999 w 4694357"/>
              <a:gd name="connsiteY1606" fmla="*/ 74595 h 4717133"/>
              <a:gd name="connsiteX1607" fmla="*/ 1850638 w 4694357"/>
              <a:gd name="connsiteY1607" fmla="*/ 94525 h 4717133"/>
              <a:gd name="connsiteX1608" fmla="*/ 1831277 w 4694357"/>
              <a:gd name="connsiteY1608" fmla="*/ 74595 h 4717133"/>
              <a:gd name="connsiteX1609" fmla="*/ 1850638 w 4694357"/>
              <a:gd name="connsiteY1609" fmla="*/ 54665 h 4717133"/>
              <a:gd name="connsiteX1610" fmla="*/ 2845427 w 4694357"/>
              <a:gd name="connsiteY1610" fmla="*/ 52387 h 4717133"/>
              <a:gd name="connsiteX1611" fmla="*/ 2867635 w 4694357"/>
              <a:gd name="connsiteY1611" fmla="*/ 74595 h 4717133"/>
              <a:gd name="connsiteX1612" fmla="*/ 2845427 w 4694357"/>
              <a:gd name="connsiteY1612" fmla="*/ 96803 h 4717133"/>
              <a:gd name="connsiteX1613" fmla="*/ 2823219 w 4694357"/>
              <a:gd name="connsiteY1613" fmla="*/ 74595 h 4717133"/>
              <a:gd name="connsiteX1614" fmla="*/ 2845427 w 4694357"/>
              <a:gd name="connsiteY1614" fmla="*/ 52387 h 4717133"/>
              <a:gd name="connsiteX1615" fmla="*/ 2015202 w 4694357"/>
              <a:gd name="connsiteY1615" fmla="*/ 25055 h 4717133"/>
              <a:gd name="connsiteX1616" fmla="*/ 2035132 w 4694357"/>
              <a:gd name="connsiteY1616" fmla="*/ 44985 h 4717133"/>
              <a:gd name="connsiteX1617" fmla="*/ 2015202 w 4694357"/>
              <a:gd name="connsiteY1617" fmla="*/ 64915 h 4717133"/>
              <a:gd name="connsiteX1618" fmla="*/ 1995272 w 4694357"/>
              <a:gd name="connsiteY1618" fmla="*/ 44985 h 4717133"/>
              <a:gd name="connsiteX1619" fmla="*/ 2015202 w 4694357"/>
              <a:gd name="connsiteY1619" fmla="*/ 25055 h 4717133"/>
              <a:gd name="connsiteX1620" fmla="*/ 2680862 w 4694357"/>
              <a:gd name="connsiteY1620" fmla="*/ 22777 h 4717133"/>
              <a:gd name="connsiteX1621" fmla="*/ 2702500 w 4694357"/>
              <a:gd name="connsiteY1621" fmla="*/ 44985 h 4717133"/>
              <a:gd name="connsiteX1622" fmla="*/ 2680862 w 4694357"/>
              <a:gd name="connsiteY1622" fmla="*/ 67193 h 4717133"/>
              <a:gd name="connsiteX1623" fmla="*/ 2659224 w 4694357"/>
              <a:gd name="connsiteY1623" fmla="*/ 44985 h 4717133"/>
              <a:gd name="connsiteX1624" fmla="*/ 2680862 w 4694357"/>
              <a:gd name="connsiteY1624" fmla="*/ 22777 h 4717133"/>
              <a:gd name="connsiteX1625" fmla="*/ 2181475 w 4694357"/>
              <a:gd name="connsiteY1625" fmla="*/ 6833 h 4717133"/>
              <a:gd name="connsiteX1626" fmla="*/ 2202544 w 4694357"/>
              <a:gd name="connsiteY1626" fmla="*/ 27333 h 4717133"/>
              <a:gd name="connsiteX1627" fmla="*/ 2181475 w 4694357"/>
              <a:gd name="connsiteY1627" fmla="*/ 47833 h 4717133"/>
              <a:gd name="connsiteX1628" fmla="*/ 2160406 w 4694357"/>
              <a:gd name="connsiteY1628" fmla="*/ 27333 h 4717133"/>
              <a:gd name="connsiteX1629" fmla="*/ 2181475 w 4694357"/>
              <a:gd name="connsiteY1629" fmla="*/ 6833 h 4717133"/>
              <a:gd name="connsiteX1630" fmla="*/ 2515159 w 4694357"/>
              <a:gd name="connsiteY1630" fmla="*/ 5695 h 4717133"/>
              <a:gd name="connsiteX1631" fmla="*/ 2536228 w 4694357"/>
              <a:gd name="connsiteY1631" fmla="*/ 27333 h 4717133"/>
              <a:gd name="connsiteX1632" fmla="*/ 2515159 w 4694357"/>
              <a:gd name="connsiteY1632" fmla="*/ 48971 h 4717133"/>
              <a:gd name="connsiteX1633" fmla="*/ 2494090 w 4694357"/>
              <a:gd name="connsiteY1633" fmla="*/ 27333 h 4717133"/>
              <a:gd name="connsiteX1634" fmla="*/ 2515159 w 4694357"/>
              <a:gd name="connsiteY1634" fmla="*/ 5695 h 4717133"/>
              <a:gd name="connsiteX1635" fmla="*/ 2347748 w 4694357"/>
              <a:gd name="connsiteY1635" fmla="*/ 0 h 4717133"/>
              <a:gd name="connsiteX1636" fmla="*/ 2368817 w 4694357"/>
              <a:gd name="connsiteY1636" fmla="*/ 21069 h 4717133"/>
              <a:gd name="connsiteX1637" fmla="*/ 2347748 w 4694357"/>
              <a:gd name="connsiteY1637" fmla="*/ 42138 h 4717133"/>
              <a:gd name="connsiteX1638" fmla="*/ 2326679 w 4694357"/>
              <a:gd name="connsiteY1638" fmla="*/ 21069 h 4717133"/>
              <a:gd name="connsiteX1639" fmla="*/ 2347748 w 4694357"/>
              <a:gd name="connsiteY1639" fmla="*/ 0 h 47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Lst>
            <a:rect l="l" t="t" r="r" b="b"/>
            <a:pathLst>
              <a:path w="1922" h="1931">
                <a:moveTo>
                  <a:pt x="962" y="1915"/>
                </a:moveTo>
                <a:lnTo>
                  <a:pt x="964" y="1915"/>
                </a:lnTo>
                <a:lnTo>
                  <a:pt x="965" y="1916"/>
                </a:lnTo>
                <a:lnTo>
                  <a:pt x="967" y="1916"/>
                </a:lnTo>
                <a:lnTo>
                  <a:pt x="968" y="1918"/>
                </a:lnTo>
                <a:lnTo>
                  <a:pt x="969" y="1919"/>
                </a:lnTo>
                <a:lnTo>
                  <a:pt x="970" y="1921"/>
                </a:lnTo>
                <a:lnTo>
                  <a:pt x="970" y="1923"/>
                </a:lnTo>
                <a:lnTo>
                  <a:pt x="970" y="1925"/>
                </a:lnTo>
                <a:lnTo>
                  <a:pt x="969" y="1926"/>
                </a:lnTo>
                <a:lnTo>
                  <a:pt x="968" y="1928"/>
                </a:lnTo>
                <a:lnTo>
                  <a:pt x="967" y="1929"/>
                </a:lnTo>
                <a:lnTo>
                  <a:pt x="965" y="1930"/>
                </a:lnTo>
                <a:lnTo>
                  <a:pt x="964" y="1931"/>
                </a:lnTo>
                <a:lnTo>
                  <a:pt x="962" y="1931"/>
                </a:lnTo>
                <a:lnTo>
                  <a:pt x="960" y="1931"/>
                </a:lnTo>
                <a:lnTo>
                  <a:pt x="958" y="1930"/>
                </a:lnTo>
                <a:lnTo>
                  <a:pt x="957" y="1929"/>
                </a:lnTo>
                <a:lnTo>
                  <a:pt x="955" y="1928"/>
                </a:lnTo>
                <a:lnTo>
                  <a:pt x="954" y="1926"/>
                </a:lnTo>
                <a:lnTo>
                  <a:pt x="954" y="1925"/>
                </a:lnTo>
                <a:lnTo>
                  <a:pt x="954" y="1923"/>
                </a:lnTo>
                <a:lnTo>
                  <a:pt x="954" y="1921"/>
                </a:lnTo>
                <a:lnTo>
                  <a:pt x="954" y="1919"/>
                </a:lnTo>
                <a:lnTo>
                  <a:pt x="955" y="1918"/>
                </a:lnTo>
                <a:lnTo>
                  <a:pt x="957" y="1916"/>
                </a:lnTo>
                <a:lnTo>
                  <a:pt x="958" y="1916"/>
                </a:lnTo>
                <a:lnTo>
                  <a:pt x="960" y="1915"/>
                </a:lnTo>
                <a:lnTo>
                  <a:pt x="962" y="1915"/>
                </a:lnTo>
                <a:close/>
                <a:moveTo>
                  <a:pt x="893" y="1913"/>
                </a:moveTo>
                <a:lnTo>
                  <a:pt x="895" y="1913"/>
                </a:lnTo>
                <a:lnTo>
                  <a:pt x="897" y="1914"/>
                </a:lnTo>
                <a:lnTo>
                  <a:pt x="898" y="1915"/>
                </a:lnTo>
                <a:lnTo>
                  <a:pt x="900" y="1916"/>
                </a:lnTo>
                <a:lnTo>
                  <a:pt x="901" y="1917"/>
                </a:lnTo>
                <a:lnTo>
                  <a:pt x="901" y="1919"/>
                </a:lnTo>
                <a:lnTo>
                  <a:pt x="901" y="1921"/>
                </a:lnTo>
                <a:lnTo>
                  <a:pt x="901" y="1922"/>
                </a:lnTo>
                <a:lnTo>
                  <a:pt x="901" y="1924"/>
                </a:lnTo>
                <a:lnTo>
                  <a:pt x="900" y="1925"/>
                </a:lnTo>
                <a:lnTo>
                  <a:pt x="898" y="1927"/>
                </a:lnTo>
                <a:lnTo>
                  <a:pt x="897" y="1927"/>
                </a:lnTo>
                <a:lnTo>
                  <a:pt x="895" y="1928"/>
                </a:lnTo>
                <a:lnTo>
                  <a:pt x="893" y="1928"/>
                </a:lnTo>
                <a:lnTo>
                  <a:pt x="892" y="1928"/>
                </a:lnTo>
                <a:lnTo>
                  <a:pt x="890" y="1927"/>
                </a:lnTo>
                <a:lnTo>
                  <a:pt x="888" y="1927"/>
                </a:lnTo>
                <a:lnTo>
                  <a:pt x="887" y="1925"/>
                </a:lnTo>
                <a:lnTo>
                  <a:pt x="886" y="1924"/>
                </a:lnTo>
                <a:lnTo>
                  <a:pt x="886" y="1922"/>
                </a:lnTo>
                <a:lnTo>
                  <a:pt x="885" y="1921"/>
                </a:lnTo>
                <a:lnTo>
                  <a:pt x="886" y="1919"/>
                </a:lnTo>
                <a:lnTo>
                  <a:pt x="886" y="1917"/>
                </a:lnTo>
                <a:lnTo>
                  <a:pt x="887" y="1916"/>
                </a:lnTo>
                <a:lnTo>
                  <a:pt x="888" y="1915"/>
                </a:lnTo>
                <a:lnTo>
                  <a:pt x="890" y="1914"/>
                </a:lnTo>
                <a:lnTo>
                  <a:pt x="892" y="1913"/>
                </a:lnTo>
                <a:lnTo>
                  <a:pt x="893" y="1913"/>
                </a:lnTo>
                <a:close/>
                <a:moveTo>
                  <a:pt x="1031" y="1912"/>
                </a:moveTo>
                <a:lnTo>
                  <a:pt x="1032" y="1913"/>
                </a:lnTo>
                <a:lnTo>
                  <a:pt x="1034" y="1913"/>
                </a:lnTo>
                <a:lnTo>
                  <a:pt x="1036" y="1914"/>
                </a:lnTo>
                <a:lnTo>
                  <a:pt x="1037" y="1915"/>
                </a:lnTo>
                <a:lnTo>
                  <a:pt x="1038" y="1917"/>
                </a:lnTo>
                <a:lnTo>
                  <a:pt x="1038" y="1918"/>
                </a:lnTo>
                <a:lnTo>
                  <a:pt x="1038" y="1920"/>
                </a:lnTo>
                <a:lnTo>
                  <a:pt x="1038" y="1922"/>
                </a:lnTo>
                <a:lnTo>
                  <a:pt x="1038" y="1924"/>
                </a:lnTo>
                <a:lnTo>
                  <a:pt x="1037" y="1925"/>
                </a:lnTo>
                <a:lnTo>
                  <a:pt x="1036" y="1926"/>
                </a:lnTo>
                <a:lnTo>
                  <a:pt x="1034" y="1927"/>
                </a:lnTo>
                <a:lnTo>
                  <a:pt x="1032" y="1928"/>
                </a:lnTo>
                <a:lnTo>
                  <a:pt x="1031" y="1928"/>
                </a:lnTo>
                <a:lnTo>
                  <a:pt x="1029" y="1928"/>
                </a:lnTo>
                <a:lnTo>
                  <a:pt x="1027" y="1927"/>
                </a:lnTo>
                <a:lnTo>
                  <a:pt x="1026" y="1926"/>
                </a:lnTo>
                <a:lnTo>
                  <a:pt x="1025" y="1925"/>
                </a:lnTo>
                <a:lnTo>
                  <a:pt x="1024" y="1924"/>
                </a:lnTo>
                <a:lnTo>
                  <a:pt x="1023" y="1922"/>
                </a:lnTo>
                <a:lnTo>
                  <a:pt x="1023" y="1920"/>
                </a:lnTo>
                <a:lnTo>
                  <a:pt x="1023" y="1918"/>
                </a:lnTo>
                <a:lnTo>
                  <a:pt x="1024" y="1917"/>
                </a:lnTo>
                <a:lnTo>
                  <a:pt x="1025" y="1915"/>
                </a:lnTo>
                <a:lnTo>
                  <a:pt x="1026" y="1914"/>
                </a:lnTo>
                <a:lnTo>
                  <a:pt x="1027" y="1913"/>
                </a:lnTo>
                <a:lnTo>
                  <a:pt x="1029" y="1913"/>
                </a:lnTo>
                <a:lnTo>
                  <a:pt x="1031" y="1912"/>
                </a:lnTo>
                <a:close/>
                <a:moveTo>
                  <a:pt x="825" y="1906"/>
                </a:moveTo>
                <a:lnTo>
                  <a:pt x="827" y="1906"/>
                </a:lnTo>
                <a:lnTo>
                  <a:pt x="829" y="1907"/>
                </a:lnTo>
                <a:lnTo>
                  <a:pt x="831" y="1908"/>
                </a:lnTo>
                <a:lnTo>
                  <a:pt x="832" y="1910"/>
                </a:lnTo>
                <a:lnTo>
                  <a:pt x="833" y="1911"/>
                </a:lnTo>
                <a:lnTo>
                  <a:pt x="833" y="1913"/>
                </a:lnTo>
                <a:lnTo>
                  <a:pt x="833" y="1915"/>
                </a:lnTo>
                <a:lnTo>
                  <a:pt x="832" y="1917"/>
                </a:lnTo>
                <a:lnTo>
                  <a:pt x="831" y="1919"/>
                </a:lnTo>
                <a:lnTo>
                  <a:pt x="829" y="1920"/>
                </a:lnTo>
                <a:lnTo>
                  <a:pt x="827" y="1920"/>
                </a:lnTo>
                <a:lnTo>
                  <a:pt x="825" y="1921"/>
                </a:lnTo>
                <a:lnTo>
                  <a:pt x="823" y="1920"/>
                </a:lnTo>
                <a:lnTo>
                  <a:pt x="822" y="1920"/>
                </a:lnTo>
                <a:lnTo>
                  <a:pt x="820" y="1919"/>
                </a:lnTo>
                <a:lnTo>
                  <a:pt x="819" y="1917"/>
                </a:lnTo>
                <a:lnTo>
                  <a:pt x="818" y="1915"/>
                </a:lnTo>
                <a:lnTo>
                  <a:pt x="818" y="1913"/>
                </a:lnTo>
                <a:lnTo>
                  <a:pt x="818" y="1911"/>
                </a:lnTo>
                <a:lnTo>
                  <a:pt x="819" y="1910"/>
                </a:lnTo>
                <a:lnTo>
                  <a:pt x="820" y="1908"/>
                </a:lnTo>
                <a:lnTo>
                  <a:pt x="822" y="1907"/>
                </a:lnTo>
                <a:lnTo>
                  <a:pt x="823" y="1906"/>
                </a:lnTo>
                <a:lnTo>
                  <a:pt x="825" y="1906"/>
                </a:lnTo>
                <a:close/>
                <a:moveTo>
                  <a:pt x="1099" y="1905"/>
                </a:moveTo>
                <a:lnTo>
                  <a:pt x="1101" y="1906"/>
                </a:lnTo>
                <a:lnTo>
                  <a:pt x="1102" y="1906"/>
                </a:lnTo>
                <a:lnTo>
                  <a:pt x="1104" y="1907"/>
                </a:lnTo>
                <a:lnTo>
                  <a:pt x="1105" y="1908"/>
                </a:lnTo>
                <a:lnTo>
                  <a:pt x="1106" y="1910"/>
                </a:lnTo>
                <a:lnTo>
                  <a:pt x="1106" y="1911"/>
                </a:lnTo>
                <a:lnTo>
                  <a:pt x="1106" y="1913"/>
                </a:lnTo>
                <a:lnTo>
                  <a:pt x="1106" y="1915"/>
                </a:lnTo>
                <a:lnTo>
                  <a:pt x="1106" y="1916"/>
                </a:lnTo>
                <a:lnTo>
                  <a:pt x="1105" y="1918"/>
                </a:lnTo>
                <a:lnTo>
                  <a:pt x="1104" y="1919"/>
                </a:lnTo>
                <a:lnTo>
                  <a:pt x="1102" y="1920"/>
                </a:lnTo>
                <a:lnTo>
                  <a:pt x="1101" y="1921"/>
                </a:lnTo>
                <a:lnTo>
                  <a:pt x="1099" y="1921"/>
                </a:lnTo>
                <a:lnTo>
                  <a:pt x="1097" y="1921"/>
                </a:lnTo>
                <a:lnTo>
                  <a:pt x="1095" y="1920"/>
                </a:lnTo>
                <a:lnTo>
                  <a:pt x="1094" y="1919"/>
                </a:lnTo>
                <a:lnTo>
                  <a:pt x="1093" y="1918"/>
                </a:lnTo>
                <a:lnTo>
                  <a:pt x="1092" y="1916"/>
                </a:lnTo>
                <a:lnTo>
                  <a:pt x="1091" y="1915"/>
                </a:lnTo>
                <a:lnTo>
                  <a:pt x="1091" y="1913"/>
                </a:lnTo>
                <a:lnTo>
                  <a:pt x="1091" y="1911"/>
                </a:lnTo>
                <a:lnTo>
                  <a:pt x="1092" y="1910"/>
                </a:lnTo>
                <a:lnTo>
                  <a:pt x="1093" y="1908"/>
                </a:lnTo>
                <a:lnTo>
                  <a:pt x="1094" y="1907"/>
                </a:lnTo>
                <a:lnTo>
                  <a:pt x="1095" y="1906"/>
                </a:lnTo>
                <a:lnTo>
                  <a:pt x="1097" y="1906"/>
                </a:lnTo>
                <a:lnTo>
                  <a:pt x="1099" y="1905"/>
                </a:lnTo>
                <a:close/>
                <a:moveTo>
                  <a:pt x="758" y="1894"/>
                </a:moveTo>
                <a:lnTo>
                  <a:pt x="760" y="1894"/>
                </a:lnTo>
                <a:lnTo>
                  <a:pt x="762" y="1895"/>
                </a:lnTo>
                <a:lnTo>
                  <a:pt x="763" y="1896"/>
                </a:lnTo>
                <a:lnTo>
                  <a:pt x="764" y="1898"/>
                </a:lnTo>
                <a:lnTo>
                  <a:pt x="765" y="1899"/>
                </a:lnTo>
                <a:lnTo>
                  <a:pt x="765" y="1901"/>
                </a:lnTo>
                <a:lnTo>
                  <a:pt x="765" y="1903"/>
                </a:lnTo>
                <a:lnTo>
                  <a:pt x="764" y="1905"/>
                </a:lnTo>
                <a:lnTo>
                  <a:pt x="763" y="1906"/>
                </a:lnTo>
                <a:lnTo>
                  <a:pt x="762" y="1907"/>
                </a:lnTo>
                <a:lnTo>
                  <a:pt x="760" y="1908"/>
                </a:lnTo>
                <a:lnTo>
                  <a:pt x="758" y="1908"/>
                </a:lnTo>
                <a:lnTo>
                  <a:pt x="756" y="1908"/>
                </a:lnTo>
                <a:lnTo>
                  <a:pt x="755" y="1907"/>
                </a:lnTo>
                <a:lnTo>
                  <a:pt x="753" y="1906"/>
                </a:lnTo>
                <a:lnTo>
                  <a:pt x="752" y="1905"/>
                </a:lnTo>
                <a:lnTo>
                  <a:pt x="751" y="1903"/>
                </a:lnTo>
                <a:lnTo>
                  <a:pt x="751" y="1901"/>
                </a:lnTo>
                <a:lnTo>
                  <a:pt x="751" y="1899"/>
                </a:lnTo>
                <a:lnTo>
                  <a:pt x="752" y="1898"/>
                </a:lnTo>
                <a:lnTo>
                  <a:pt x="753" y="1896"/>
                </a:lnTo>
                <a:lnTo>
                  <a:pt x="755" y="1895"/>
                </a:lnTo>
                <a:lnTo>
                  <a:pt x="756" y="1894"/>
                </a:lnTo>
                <a:lnTo>
                  <a:pt x="758" y="1894"/>
                </a:lnTo>
                <a:close/>
                <a:moveTo>
                  <a:pt x="1166" y="1893"/>
                </a:moveTo>
                <a:lnTo>
                  <a:pt x="1168" y="1893"/>
                </a:lnTo>
                <a:lnTo>
                  <a:pt x="1169" y="1894"/>
                </a:lnTo>
                <a:lnTo>
                  <a:pt x="1171" y="1895"/>
                </a:lnTo>
                <a:lnTo>
                  <a:pt x="1172" y="1896"/>
                </a:lnTo>
                <a:lnTo>
                  <a:pt x="1173" y="1898"/>
                </a:lnTo>
                <a:lnTo>
                  <a:pt x="1173" y="1899"/>
                </a:lnTo>
                <a:lnTo>
                  <a:pt x="1174" y="1901"/>
                </a:lnTo>
                <a:lnTo>
                  <a:pt x="1173" y="1903"/>
                </a:lnTo>
                <a:lnTo>
                  <a:pt x="1173" y="1904"/>
                </a:lnTo>
                <a:lnTo>
                  <a:pt x="1172" y="1906"/>
                </a:lnTo>
                <a:lnTo>
                  <a:pt x="1171" y="1907"/>
                </a:lnTo>
                <a:lnTo>
                  <a:pt x="1169" y="1908"/>
                </a:lnTo>
                <a:lnTo>
                  <a:pt x="1168" y="1908"/>
                </a:lnTo>
                <a:lnTo>
                  <a:pt x="1166" y="1909"/>
                </a:lnTo>
                <a:lnTo>
                  <a:pt x="1164" y="1908"/>
                </a:lnTo>
                <a:lnTo>
                  <a:pt x="1163" y="1908"/>
                </a:lnTo>
                <a:lnTo>
                  <a:pt x="1161" y="1907"/>
                </a:lnTo>
                <a:lnTo>
                  <a:pt x="1160" y="1906"/>
                </a:lnTo>
                <a:lnTo>
                  <a:pt x="1159" y="1904"/>
                </a:lnTo>
                <a:lnTo>
                  <a:pt x="1158" y="1903"/>
                </a:lnTo>
                <a:lnTo>
                  <a:pt x="1158" y="1901"/>
                </a:lnTo>
                <a:lnTo>
                  <a:pt x="1158" y="1899"/>
                </a:lnTo>
                <a:lnTo>
                  <a:pt x="1159" y="1898"/>
                </a:lnTo>
                <a:lnTo>
                  <a:pt x="1160" y="1896"/>
                </a:lnTo>
                <a:lnTo>
                  <a:pt x="1161" y="1895"/>
                </a:lnTo>
                <a:lnTo>
                  <a:pt x="1163" y="1894"/>
                </a:lnTo>
                <a:lnTo>
                  <a:pt x="1164" y="1893"/>
                </a:lnTo>
                <a:lnTo>
                  <a:pt x="1166" y="1893"/>
                </a:lnTo>
                <a:close/>
                <a:moveTo>
                  <a:pt x="692" y="1878"/>
                </a:moveTo>
                <a:lnTo>
                  <a:pt x="694" y="1878"/>
                </a:lnTo>
                <a:lnTo>
                  <a:pt x="695" y="1879"/>
                </a:lnTo>
                <a:lnTo>
                  <a:pt x="697" y="1880"/>
                </a:lnTo>
                <a:lnTo>
                  <a:pt x="698" y="1882"/>
                </a:lnTo>
                <a:lnTo>
                  <a:pt x="698" y="1884"/>
                </a:lnTo>
                <a:lnTo>
                  <a:pt x="698" y="1886"/>
                </a:lnTo>
                <a:lnTo>
                  <a:pt x="697" y="1888"/>
                </a:lnTo>
                <a:lnTo>
                  <a:pt x="695" y="1889"/>
                </a:lnTo>
                <a:lnTo>
                  <a:pt x="694" y="1890"/>
                </a:lnTo>
                <a:lnTo>
                  <a:pt x="692" y="1890"/>
                </a:lnTo>
                <a:lnTo>
                  <a:pt x="690" y="1890"/>
                </a:lnTo>
                <a:lnTo>
                  <a:pt x="688" y="1889"/>
                </a:lnTo>
                <a:lnTo>
                  <a:pt x="687" y="1888"/>
                </a:lnTo>
                <a:lnTo>
                  <a:pt x="686" y="1886"/>
                </a:lnTo>
                <a:lnTo>
                  <a:pt x="685" y="1884"/>
                </a:lnTo>
                <a:lnTo>
                  <a:pt x="686" y="1882"/>
                </a:lnTo>
                <a:lnTo>
                  <a:pt x="687" y="1880"/>
                </a:lnTo>
                <a:lnTo>
                  <a:pt x="688" y="1879"/>
                </a:lnTo>
                <a:lnTo>
                  <a:pt x="690" y="1878"/>
                </a:lnTo>
                <a:lnTo>
                  <a:pt x="692" y="1878"/>
                </a:lnTo>
                <a:close/>
                <a:moveTo>
                  <a:pt x="1232" y="1876"/>
                </a:moveTo>
                <a:lnTo>
                  <a:pt x="1234" y="1877"/>
                </a:lnTo>
                <a:lnTo>
                  <a:pt x="1236" y="1877"/>
                </a:lnTo>
                <a:lnTo>
                  <a:pt x="1238" y="1879"/>
                </a:lnTo>
                <a:lnTo>
                  <a:pt x="1239" y="1880"/>
                </a:lnTo>
                <a:lnTo>
                  <a:pt x="1240" y="1882"/>
                </a:lnTo>
                <a:lnTo>
                  <a:pt x="1240" y="1884"/>
                </a:lnTo>
                <a:lnTo>
                  <a:pt x="1240" y="1886"/>
                </a:lnTo>
                <a:lnTo>
                  <a:pt x="1239" y="1888"/>
                </a:lnTo>
                <a:lnTo>
                  <a:pt x="1238" y="1889"/>
                </a:lnTo>
                <a:lnTo>
                  <a:pt x="1236" y="1890"/>
                </a:lnTo>
                <a:lnTo>
                  <a:pt x="1234" y="1891"/>
                </a:lnTo>
                <a:lnTo>
                  <a:pt x="1232" y="1891"/>
                </a:lnTo>
                <a:lnTo>
                  <a:pt x="1230" y="1891"/>
                </a:lnTo>
                <a:lnTo>
                  <a:pt x="1229" y="1890"/>
                </a:lnTo>
                <a:lnTo>
                  <a:pt x="1227" y="1889"/>
                </a:lnTo>
                <a:lnTo>
                  <a:pt x="1226" y="1888"/>
                </a:lnTo>
                <a:lnTo>
                  <a:pt x="1225" y="1886"/>
                </a:lnTo>
                <a:lnTo>
                  <a:pt x="1225" y="1884"/>
                </a:lnTo>
                <a:lnTo>
                  <a:pt x="1225" y="1882"/>
                </a:lnTo>
                <a:lnTo>
                  <a:pt x="1226" y="1880"/>
                </a:lnTo>
                <a:lnTo>
                  <a:pt x="1227" y="1879"/>
                </a:lnTo>
                <a:lnTo>
                  <a:pt x="1229" y="1877"/>
                </a:lnTo>
                <a:lnTo>
                  <a:pt x="1230" y="1877"/>
                </a:lnTo>
                <a:lnTo>
                  <a:pt x="1232" y="1876"/>
                </a:lnTo>
                <a:close/>
                <a:moveTo>
                  <a:pt x="962" y="1865"/>
                </a:moveTo>
                <a:cubicBezTo>
                  <a:pt x="970" y="1864"/>
                  <a:pt x="977" y="1874"/>
                  <a:pt x="976" y="1879"/>
                </a:cubicBezTo>
                <a:cubicBezTo>
                  <a:pt x="977" y="1888"/>
                  <a:pt x="967" y="1895"/>
                  <a:pt x="962" y="1894"/>
                </a:cubicBezTo>
                <a:cubicBezTo>
                  <a:pt x="953" y="1895"/>
                  <a:pt x="947" y="1884"/>
                  <a:pt x="947" y="1879"/>
                </a:cubicBezTo>
                <a:cubicBezTo>
                  <a:pt x="947" y="1871"/>
                  <a:pt x="957" y="1864"/>
                  <a:pt x="962" y="1865"/>
                </a:cubicBezTo>
                <a:close/>
                <a:moveTo>
                  <a:pt x="893" y="1863"/>
                </a:moveTo>
                <a:cubicBezTo>
                  <a:pt x="902" y="1862"/>
                  <a:pt x="908" y="1872"/>
                  <a:pt x="907" y="1877"/>
                </a:cubicBezTo>
                <a:cubicBezTo>
                  <a:pt x="908" y="1885"/>
                  <a:pt x="898" y="1892"/>
                  <a:pt x="893" y="1891"/>
                </a:cubicBezTo>
                <a:cubicBezTo>
                  <a:pt x="885" y="1892"/>
                  <a:pt x="879" y="1882"/>
                  <a:pt x="879" y="1877"/>
                </a:cubicBezTo>
                <a:cubicBezTo>
                  <a:pt x="879" y="1869"/>
                  <a:pt x="889" y="1862"/>
                  <a:pt x="893" y="1863"/>
                </a:cubicBezTo>
                <a:close/>
                <a:moveTo>
                  <a:pt x="1031" y="1862"/>
                </a:moveTo>
                <a:cubicBezTo>
                  <a:pt x="1039" y="1862"/>
                  <a:pt x="1046" y="1872"/>
                  <a:pt x="1045" y="1877"/>
                </a:cubicBezTo>
                <a:cubicBezTo>
                  <a:pt x="1046" y="1885"/>
                  <a:pt x="1036" y="1892"/>
                  <a:pt x="1031" y="1891"/>
                </a:cubicBezTo>
                <a:cubicBezTo>
                  <a:pt x="1022" y="1892"/>
                  <a:pt x="1016" y="1882"/>
                  <a:pt x="1016" y="1877"/>
                </a:cubicBezTo>
                <a:cubicBezTo>
                  <a:pt x="1016" y="1868"/>
                  <a:pt x="1026" y="1862"/>
                  <a:pt x="1031" y="1862"/>
                </a:cubicBezTo>
                <a:close/>
                <a:moveTo>
                  <a:pt x="627" y="1857"/>
                </a:moveTo>
                <a:lnTo>
                  <a:pt x="629" y="1857"/>
                </a:lnTo>
                <a:lnTo>
                  <a:pt x="631" y="1859"/>
                </a:lnTo>
                <a:lnTo>
                  <a:pt x="632" y="1860"/>
                </a:lnTo>
                <a:lnTo>
                  <a:pt x="632" y="1862"/>
                </a:lnTo>
                <a:lnTo>
                  <a:pt x="632" y="1865"/>
                </a:lnTo>
                <a:lnTo>
                  <a:pt x="631" y="1866"/>
                </a:lnTo>
                <a:lnTo>
                  <a:pt x="629" y="1868"/>
                </a:lnTo>
                <a:lnTo>
                  <a:pt x="627" y="1868"/>
                </a:lnTo>
                <a:lnTo>
                  <a:pt x="625" y="1868"/>
                </a:lnTo>
                <a:lnTo>
                  <a:pt x="623" y="1866"/>
                </a:lnTo>
                <a:lnTo>
                  <a:pt x="622" y="1865"/>
                </a:lnTo>
                <a:lnTo>
                  <a:pt x="622" y="1862"/>
                </a:lnTo>
                <a:lnTo>
                  <a:pt x="622" y="1860"/>
                </a:lnTo>
                <a:lnTo>
                  <a:pt x="623" y="1859"/>
                </a:lnTo>
                <a:lnTo>
                  <a:pt x="625" y="1857"/>
                </a:lnTo>
                <a:lnTo>
                  <a:pt x="627" y="1857"/>
                </a:lnTo>
                <a:close/>
                <a:moveTo>
                  <a:pt x="825" y="1856"/>
                </a:moveTo>
                <a:cubicBezTo>
                  <a:pt x="833" y="1855"/>
                  <a:pt x="839" y="1865"/>
                  <a:pt x="838" y="1869"/>
                </a:cubicBezTo>
                <a:cubicBezTo>
                  <a:pt x="839" y="1877"/>
                  <a:pt x="830" y="1883"/>
                  <a:pt x="825" y="1883"/>
                </a:cubicBezTo>
                <a:cubicBezTo>
                  <a:pt x="817" y="1883"/>
                  <a:pt x="811" y="1874"/>
                  <a:pt x="812" y="1869"/>
                </a:cubicBezTo>
                <a:cubicBezTo>
                  <a:pt x="811" y="1861"/>
                  <a:pt x="821" y="1855"/>
                  <a:pt x="825" y="1856"/>
                </a:cubicBezTo>
                <a:close/>
                <a:moveTo>
                  <a:pt x="1297" y="1855"/>
                </a:moveTo>
                <a:lnTo>
                  <a:pt x="1299" y="1855"/>
                </a:lnTo>
                <a:lnTo>
                  <a:pt x="1301" y="1856"/>
                </a:lnTo>
                <a:lnTo>
                  <a:pt x="1302" y="1857"/>
                </a:lnTo>
                <a:lnTo>
                  <a:pt x="1303" y="1859"/>
                </a:lnTo>
                <a:lnTo>
                  <a:pt x="1304" y="1860"/>
                </a:lnTo>
                <a:lnTo>
                  <a:pt x="1304" y="1862"/>
                </a:lnTo>
                <a:lnTo>
                  <a:pt x="1304" y="1864"/>
                </a:lnTo>
                <a:lnTo>
                  <a:pt x="1303" y="1866"/>
                </a:lnTo>
                <a:lnTo>
                  <a:pt x="1302" y="1867"/>
                </a:lnTo>
                <a:lnTo>
                  <a:pt x="1301" y="1868"/>
                </a:lnTo>
                <a:lnTo>
                  <a:pt x="1299" y="1869"/>
                </a:lnTo>
                <a:lnTo>
                  <a:pt x="1297" y="1869"/>
                </a:lnTo>
                <a:lnTo>
                  <a:pt x="1295" y="1869"/>
                </a:lnTo>
                <a:lnTo>
                  <a:pt x="1293" y="1868"/>
                </a:lnTo>
                <a:lnTo>
                  <a:pt x="1292" y="1867"/>
                </a:lnTo>
                <a:lnTo>
                  <a:pt x="1291" y="1866"/>
                </a:lnTo>
                <a:lnTo>
                  <a:pt x="1290" y="1864"/>
                </a:lnTo>
                <a:lnTo>
                  <a:pt x="1290" y="1862"/>
                </a:lnTo>
                <a:lnTo>
                  <a:pt x="1290" y="1860"/>
                </a:lnTo>
                <a:lnTo>
                  <a:pt x="1291" y="1859"/>
                </a:lnTo>
                <a:lnTo>
                  <a:pt x="1292" y="1857"/>
                </a:lnTo>
                <a:lnTo>
                  <a:pt x="1293" y="1856"/>
                </a:lnTo>
                <a:lnTo>
                  <a:pt x="1295" y="1855"/>
                </a:lnTo>
                <a:lnTo>
                  <a:pt x="1297" y="1855"/>
                </a:lnTo>
                <a:close/>
                <a:moveTo>
                  <a:pt x="1098" y="1855"/>
                </a:moveTo>
                <a:cubicBezTo>
                  <a:pt x="1107" y="1854"/>
                  <a:pt x="1113" y="1864"/>
                  <a:pt x="1113" y="1869"/>
                </a:cubicBezTo>
                <a:cubicBezTo>
                  <a:pt x="1113" y="1878"/>
                  <a:pt x="1103" y="1884"/>
                  <a:pt x="1098" y="1883"/>
                </a:cubicBezTo>
                <a:cubicBezTo>
                  <a:pt x="1090" y="1884"/>
                  <a:pt x="1083" y="1874"/>
                  <a:pt x="1084" y="1869"/>
                </a:cubicBezTo>
                <a:cubicBezTo>
                  <a:pt x="1083" y="1861"/>
                  <a:pt x="1094" y="1854"/>
                  <a:pt x="1098" y="1855"/>
                </a:cubicBezTo>
                <a:close/>
                <a:moveTo>
                  <a:pt x="758" y="1844"/>
                </a:moveTo>
                <a:lnTo>
                  <a:pt x="760" y="1844"/>
                </a:lnTo>
                <a:lnTo>
                  <a:pt x="762" y="1845"/>
                </a:lnTo>
                <a:lnTo>
                  <a:pt x="763" y="1845"/>
                </a:lnTo>
                <a:lnTo>
                  <a:pt x="765" y="1846"/>
                </a:lnTo>
                <a:lnTo>
                  <a:pt x="766" y="1847"/>
                </a:lnTo>
                <a:lnTo>
                  <a:pt x="767" y="1848"/>
                </a:lnTo>
                <a:lnTo>
                  <a:pt x="768" y="1850"/>
                </a:lnTo>
                <a:lnTo>
                  <a:pt x="769" y="1851"/>
                </a:lnTo>
                <a:lnTo>
                  <a:pt x="770" y="1853"/>
                </a:lnTo>
                <a:lnTo>
                  <a:pt x="770" y="1855"/>
                </a:lnTo>
                <a:lnTo>
                  <a:pt x="770" y="1856"/>
                </a:lnTo>
                <a:lnTo>
                  <a:pt x="770" y="1858"/>
                </a:lnTo>
                <a:lnTo>
                  <a:pt x="770" y="1860"/>
                </a:lnTo>
                <a:lnTo>
                  <a:pt x="769" y="1862"/>
                </a:lnTo>
                <a:lnTo>
                  <a:pt x="768" y="1863"/>
                </a:lnTo>
                <a:lnTo>
                  <a:pt x="767" y="1864"/>
                </a:lnTo>
                <a:lnTo>
                  <a:pt x="766" y="1866"/>
                </a:lnTo>
                <a:lnTo>
                  <a:pt x="765" y="1867"/>
                </a:lnTo>
                <a:lnTo>
                  <a:pt x="763" y="1867"/>
                </a:lnTo>
                <a:lnTo>
                  <a:pt x="762" y="1868"/>
                </a:lnTo>
                <a:lnTo>
                  <a:pt x="760" y="1868"/>
                </a:lnTo>
                <a:lnTo>
                  <a:pt x="758" y="1869"/>
                </a:lnTo>
                <a:lnTo>
                  <a:pt x="756" y="1868"/>
                </a:lnTo>
                <a:lnTo>
                  <a:pt x="755" y="1868"/>
                </a:lnTo>
                <a:lnTo>
                  <a:pt x="753" y="1867"/>
                </a:lnTo>
                <a:lnTo>
                  <a:pt x="752" y="1867"/>
                </a:lnTo>
                <a:lnTo>
                  <a:pt x="750" y="1866"/>
                </a:lnTo>
                <a:lnTo>
                  <a:pt x="749" y="1864"/>
                </a:lnTo>
                <a:lnTo>
                  <a:pt x="748" y="1863"/>
                </a:lnTo>
                <a:lnTo>
                  <a:pt x="747" y="1862"/>
                </a:lnTo>
                <a:lnTo>
                  <a:pt x="747" y="1860"/>
                </a:lnTo>
                <a:lnTo>
                  <a:pt x="746" y="1858"/>
                </a:lnTo>
                <a:lnTo>
                  <a:pt x="746" y="1856"/>
                </a:lnTo>
                <a:lnTo>
                  <a:pt x="746" y="1855"/>
                </a:lnTo>
                <a:lnTo>
                  <a:pt x="747" y="1853"/>
                </a:lnTo>
                <a:lnTo>
                  <a:pt x="747" y="1851"/>
                </a:lnTo>
                <a:lnTo>
                  <a:pt x="748" y="1850"/>
                </a:lnTo>
                <a:lnTo>
                  <a:pt x="749" y="1848"/>
                </a:lnTo>
                <a:lnTo>
                  <a:pt x="750" y="1847"/>
                </a:lnTo>
                <a:lnTo>
                  <a:pt x="752" y="1846"/>
                </a:lnTo>
                <a:lnTo>
                  <a:pt x="753" y="1845"/>
                </a:lnTo>
                <a:lnTo>
                  <a:pt x="755" y="1845"/>
                </a:lnTo>
                <a:lnTo>
                  <a:pt x="756" y="1844"/>
                </a:lnTo>
                <a:lnTo>
                  <a:pt x="758" y="1844"/>
                </a:lnTo>
                <a:close/>
                <a:moveTo>
                  <a:pt x="1166" y="1842"/>
                </a:moveTo>
                <a:cubicBezTo>
                  <a:pt x="1174" y="1842"/>
                  <a:pt x="1181" y="1852"/>
                  <a:pt x="1180" y="1856"/>
                </a:cubicBezTo>
                <a:cubicBezTo>
                  <a:pt x="1181" y="1865"/>
                  <a:pt x="1170" y="1871"/>
                  <a:pt x="1166" y="1870"/>
                </a:cubicBezTo>
                <a:cubicBezTo>
                  <a:pt x="1157" y="1871"/>
                  <a:pt x="1151" y="1861"/>
                  <a:pt x="1152" y="1856"/>
                </a:cubicBezTo>
                <a:cubicBezTo>
                  <a:pt x="1151" y="1848"/>
                  <a:pt x="1161" y="1842"/>
                  <a:pt x="1166" y="1842"/>
                </a:cubicBezTo>
                <a:close/>
                <a:moveTo>
                  <a:pt x="564" y="1832"/>
                </a:moveTo>
                <a:lnTo>
                  <a:pt x="566" y="1832"/>
                </a:lnTo>
                <a:lnTo>
                  <a:pt x="568" y="1834"/>
                </a:lnTo>
                <a:lnTo>
                  <a:pt x="568" y="1836"/>
                </a:lnTo>
                <a:lnTo>
                  <a:pt x="568" y="1839"/>
                </a:lnTo>
                <a:lnTo>
                  <a:pt x="566" y="1840"/>
                </a:lnTo>
                <a:lnTo>
                  <a:pt x="564" y="1841"/>
                </a:lnTo>
                <a:lnTo>
                  <a:pt x="561" y="1840"/>
                </a:lnTo>
                <a:lnTo>
                  <a:pt x="560" y="1839"/>
                </a:lnTo>
                <a:lnTo>
                  <a:pt x="559" y="1836"/>
                </a:lnTo>
                <a:lnTo>
                  <a:pt x="560" y="1834"/>
                </a:lnTo>
                <a:lnTo>
                  <a:pt x="561" y="1832"/>
                </a:lnTo>
                <a:lnTo>
                  <a:pt x="564" y="1832"/>
                </a:lnTo>
                <a:close/>
                <a:moveTo>
                  <a:pt x="1360" y="1829"/>
                </a:moveTo>
                <a:lnTo>
                  <a:pt x="1362" y="1829"/>
                </a:lnTo>
                <a:lnTo>
                  <a:pt x="1364" y="1830"/>
                </a:lnTo>
                <a:lnTo>
                  <a:pt x="1365" y="1831"/>
                </a:lnTo>
                <a:lnTo>
                  <a:pt x="1366" y="1832"/>
                </a:lnTo>
                <a:lnTo>
                  <a:pt x="1367" y="1834"/>
                </a:lnTo>
                <a:lnTo>
                  <a:pt x="1367" y="1836"/>
                </a:lnTo>
                <a:lnTo>
                  <a:pt x="1367" y="1838"/>
                </a:lnTo>
                <a:lnTo>
                  <a:pt x="1366" y="1840"/>
                </a:lnTo>
                <a:lnTo>
                  <a:pt x="1365" y="1841"/>
                </a:lnTo>
                <a:lnTo>
                  <a:pt x="1364" y="1842"/>
                </a:lnTo>
                <a:lnTo>
                  <a:pt x="1362" y="1843"/>
                </a:lnTo>
                <a:lnTo>
                  <a:pt x="1360" y="1843"/>
                </a:lnTo>
                <a:lnTo>
                  <a:pt x="1358" y="1843"/>
                </a:lnTo>
                <a:lnTo>
                  <a:pt x="1357" y="1842"/>
                </a:lnTo>
                <a:lnTo>
                  <a:pt x="1355" y="1841"/>
                </a:lnTo>
                <a:lnTo>
                  <a:pt x="1354" y="1840"/>
                </a:lnTo>
                <a:lnTo>
                  <a:pt x="1353" y="1838"/>
                </a:lnTo>
                <a:lnTo>
                  <a:pt x="1353" y="1836"/>
                </a:lnTo>
                <a:lnTo>
                  <a:pt x="1353" y="1834"/>
                </a:lnTo>
                <a:lnTo>
                  <a:pt x="1354" y="1832"/>
                </a:lnTo>
                <a:lnTo>
                  <a:pt x="1355" y="1831"/>
                </a:lnTo>
                <a:lnTo>
                  <a:pt x="1357" y="1830"/>
                </a:lnTo>
                <a:lnTo>
                  <a:pt x="1358" y="1829"/>
                </a:lnTo>
                <a:lnTo>
                  <a:pt x="1360" y="1829"/>
                </a:lnTo>
                <a:close/>
                <a:moveTo>
                  <a:pt x="692" y="1827"/>
                </a:moveTo>
                <a:lnTo>
                  <a:pt x="694" y="1827"/>
                </a:lnTo>
                <a:lnTo>
                  <a:pt x="695" y="1828"/>
                </a:lnTo>
                <a:lnTo>
                  <a:pt x="697" y="1828"/>
                </a:lnTo>
                <a:cubicBezTo>
                  <a:pt x="700" y="1829"/>
                  <a:pt x="703" y="1833"/>
                  <a:pt x="703" y="1834"/>
                </a:cubicBezTo>
                <a:lnTo>
                  <a:pt x="703" y="1835"/>
                </a:lnTo>
                <a:lnTo>
                  <a:pt x="703" y="1837"/>
                </a:lnTo>
                <a:lnTo>
                  <a:pt x="704" y="1839"/>
                </a:lnTo>
                <a:lnTo>
                  <a:pt x="703" y="1840"/>
                </a:lnTo>
                <a:lnTo>
                  <a:pt x="703" y="1842"/>
                </a:lnTo>
                <a:lnTo>
                  <a:pt x="703" y="1844"/>
                </a:lnTo>
                <a:lnTo>
                  <a:pt x="702" y="1845"/>
                </a:lnTo>
                <a:lnTo>
                  <a:pt x="701" y="1846"/>
                </a:lnTo>
                <a:lnTo>
                  <a:pt x="700" y="1847"/>
                </a:lnTo>
                <a:lnTo>
                  <a:pt x="698" y="1848"/>
                </a:lnTo>
                <a:lnTo>
                  <a:pt x="697" y="1849"/>
                </a:lnTo>
                <a:lnTo>
                  <a:pt x="695" y="1850"/>
                </a:lnTo>
                <a:lnTo>
                  <a:pt x="694" y="1850"/>
                </a:lnTo>
                <a:lnTo>
                  <a:pt x="692" y="1850"/>
                </a:lnTo>
                <a:lnTo>
                  <a:pt x="691" y="1850"/>
                </a:lnTo>
                <a:lnTo>
                  <a:pt x="689" y="1850"/>
                </a:lnTo>
                <a:lnTo>
                  <a:pt x="687" y="1849"/>
                </a:lnTo>
                <a:cubicBezTo>
                  <a:pt x="685" y="1848"/>
                  <a:pt x="682" y="1844"/>
                  <a:pt x="682" y="1844"/>
                </a:cubicBezTo>
                <a:lnTo>
                  <a:pt x="681" y="1842"/>
                </a:lnTo>
                <a:lnTo>
                  <a:pt x="681" y="1840"/>
                </a:lnTo>
                <a:lnTo>
                  <a:pt x="681" y="1839"/>
                </a:lnTo>
                <a:lnTo>
                  <a:pt x="681" y="1837"/>
                </a:lnTo>
                <a:lnTo>
                  <a:pt x="681" y="1835"/>
                </a:lnTo>
                <a:lnTo>
                  <a:pt x="682" y="1834"/>
                </a:lnTo>
                <a:lnTo>
                  <a:pt x="683" y="1832"/>
                </a:lnTo>
                <a:lnTo>
                  <a:pt x="684" y="1831"/>
                </a:lnTo>
                <a:lnTo>
                  <a:pt x="685" y="1830"/>
                </a:lnTo>
                <a:lnTo>
                  <a:pt x="686" y="1829"/>
                </a:lnTo>
                <a:lnTo>
                  <a:pt x="687" y="1828"/>
                </a:lnTo>
                <a:lnTo>
                  <a:pt x="689" y="1828"/>
                </a:lnTo>
                <a:lnTo>
                  <a:pt x="691" y="1827"/>
                </a:lnTo>
                <a:lnTo>
                  <a:pt x="692" y="1827"/>
                </a:lnTo>
                <a:close/>
                <a:moveTo>
                  <a:pt x="1232" y="1825"/>
                </a:moveTo>
                <a:cubicBezTo>
                  <a:pt x="1240" y="1824"/>
                  <a:pt x="1246" y="1834"/>
                  <a:pt x="1245" y="1839"/>
                </a:cubicBezTo>
                <a:cubicBezTo>
                  <a:pt x="1246" y="1847"/>
                  <a:pt x="1236" y="1854"/>
                  <a:pt x="1232" y="1853"/>
                </a:cubicBezTo>
                <a:cubicBezTo>
                  <a:pt x="1223" y="1854"/>
                  <a:pt x="1217" y="1843"/>
                  <a:pt x="1218" y="1839"/>
                </a:cubicBezTo>
                <a:cubicBezTo>
                  <a:pt x="1217" y="1830"/>
                  <a:pt x="1227" y="1824"/>
                  <a:pt x="1232" y="1825"/>
                </a:cubicBezTo>
                <a:close/>
                <a:moveTo>
                  <a:pt x="827" y="1825"/>
                </a:moveTo>
                <a:lnTo>
                  <a:pt x="826" y="1826"/>
                </a:lnTo>
                <a:lnTo>
                  <a:pt x="824" y="1825"/>
                </a:lnTo>
                <a:lnTo>
                  <a:pt x="824" y="1824"/>
                </a:lnTo>
                <a:lnTo>
                  <a:pt x="827" y="1825"/>
                </a:lnTo>
                <a:close/>
                <a:moveTo>
                  <a:pt x="762" y="1810"/>
                </a:moveTo>
                <a:lnTo>
                  <a:pt x="761" y="1812"/>
                </a:lnTo>
                <a:lnTo>
                  <a:pt x="759" y="1813"/>
                </a:lnTo>
                <a:lnTo>
                  <a:pt x="757" y="1812"/>
                </a:lnTo>
                <a:lnTo>
                  <a:pt x="756" y="1810"/>
                </a:lnTo>
                <a:lnTo>
                  <a:pt x="756" y="1809"/>
                </a:lnTo>
                <a:lnTo>
                  <a:pt x="762" y="1810"/>
                </a:lnTo>
                <a:close/>
                <a:moveTo>
                  <a:pt x="628" y="1805"/>
                </a:moveTo>
                <a:lnTo>
                  <a:pt x="629" y="1805"/>
                </a:lnTo>
                <a:lnTo>
                  <a:pt x="631" y="1806"/>
                </a:lnTo>
                <a:lnTo>
                  <a:pt x="633" y="1806"/>
                </a:lnTo>
                <a:lnTo>
                  <a:pt x="634" y="1807"/>
                </a:lnTo>
                <a:lnTo>
                  <a:pt x="636" y="1808"/>
                </a:lnTo>
                <a:lnTo>
                  <a:pt x="637" y="1810"/>
                </a:lnTo>
                <a:lnTo>
                  <a:pt x="638" y="1811"/>
                </a:lnTo>
                <a:lnTo>
                  <a:pt x="638" y="1813"/>
                </a:lnTo>
                <a:lnTo>
                  <a:pt x="639" y="1814"/>
                </a:lnTo>
                <a:lnTo>
                  <a:pt x="639" y="1816"/>
                </a:lnTo>
                <a:lnTo>
                  <a:pt x="639" y="1818"/>
                </a:lnTo>
                <a:lnTo>
                  <a:pt x="638" y="1820"/>
                </a:lnTo>
                <a:lnTo>
                  <a:pt x="638" y="1821"/>
                </a:lnTo>
                <a:lnTo>
                  <a:pt x="637" y="1823"/>
                </a:lnTo>
                <a:lnTo>
                  <a:pt x="636" y="1824"/>
                </a:lnTo>
                <a:lnTo>
                  <a:pt x="634" y="1825"/>
                </a:lnTo>
                <a:lnTo>
                  <a:pt x="633" y="1826"/>
                </a:lnTo>
                <a:lnTo>
                  <a:pt x="631" y="1826"/>
                </a:lnTo>
                <a:lnTo>
                  <a:pt x="629" y="1827"/>
                </a:lnTo>
                <a:lnTo>
                  <a:pt x="628" y="1827"/>
                </a:lnTo>
                <a:lnTo>
                  <a:pt x="626" y="1827"/>
                </a:lnTo>
                <a:lnTo>
                  <a:pt x="624" y="1826"/>
                </a:lnTo>
                <a:lnTo>
                  <a:pt x="622" y="1826"/>
                </a:lnTo>
                <a:lnTo>
                  <a:pt x="621" y="1825"/>
                </a:lnTo>
                <a:lnTo>
                  <a:pt x="620" y="1824"/>
                </a:lnTo>
                <a:lnTo>
                  <a:pt x="619" y="1823"/>
                </a:lnTo>
                <a:lnTo>
                  <a:pt x="618" y="1821"/>
                </a:lnTo>
                <a:lnTo>
                  <a:pt x="617" y="1820"/>
                </a:lnTo>
                <a:lnTo>
                  <a:pt x="617" y="1818"/>
                </a:lnTo>
                <a:lnTo>
                  <a:pt x="616" y="1816"/>
                </a:lnTo>
                <a:lnTo>
                  <a:pt x="617" y="1814"/>
                </a:lnTo>
                <a:lnTo>
                  <a:pt x="617" y="1813"/>
                </a:lnTo>
                <a:lnTo>
                  <a:pt x="618" y="1811"/>
                </a:lnTo>
                <a:lnTo>
                  <a:pt x="619" y="1810"/>
                </a:lnTo>
                <a:lnTo>
                  <a:pt x="620" y="1808"/>
                </a:lnTo>
                <a:lnTo>
                  <a:pt x="621" y="1807"/>
                </a:lnTo>
                <a:lnTo>
                  <a:pt x="622" y="1806"/>
                </a:lnTo>
                <a:lnTo>
                  <a:pt x="624" y="1806"/>
                </a:lnTo>
                <a:lnTo>
                  <a:pt x="626" y="1805"/>
                </a:lnTo>
                <a:lnTo>
                  <a:pt x="628" y="1805"/>
                </a:lnTo>
                <a:close/>
                <a:moveTo>
                  <a:pt x="1296" y="1802"/>
                </a:moveTo>
                <a:cubicBezTo>
                  <a:pt x="1304" y="1801"/>
                  <a:pt x="1311" y="1811"/>
                  <a:pt x="1310" y="1816"/>
                </a:cubicBezTo>
                <a:cubicBezTo>
                  <a:pt x="1311" y="1824"/>
                  <a:pt x="1301" y="1831"/>
                  <a:pt x="1296" y="1830"/>
                </a:cubicBezTo>
                <a:cubicBezTo>
                  <a:pt x="1288" y="1831"/>
                  <a:pt x="1281" y="1821"/>
                  <a:pt x="1282" y="1816"/>
                </a:cubicBezTo>
                <a:cubicBezTo>
                  <a:pt x="1281" y="1808"/>
                  <a:pt x="1291" y="1802"/>
                  <a:pt x="1296" y="1802"/>
                </a:cubicBezTo>
                <a:close/>
                <a:moveTo>
                  <a:pt x="503" y="1802"/>
                </a:moveTo>
                <a:lnTo>
                  <a:pt x="505" y="1803"/>
                </a:lnTo>
                <a:lnTo>
                  <a:pt x="506" y="1806"/>
                </a:lnTo>
                <a:lnTo>
                  <a:pt x="505" y="1808"/>
                </a:lnTo>
                <a:lnTo>
                  <a:pt x="503" y="1809"/>
                </a:lnTo>
                <a:lnTo>
                  <a:pt x="500" y="1808"/>
                </a:lnTo>
                <a:lnTo>
                  <a:pt x="499" y="1806"/>
                </a:lnTo>
                <a:lnTo>
                  <a:pt x="500" y="1803"/>
                </a:lnTo>
                <a:lnTo>
                  <a:pt x="503" y="1802"/>
                </a:lnTo>
                <a:close/>
                <a:moveTo>
                  <a:pt x="1421" y="1799"/>
                </a:moveTo>
                <a:lnTo>
                  <a:pt x="1423" y="1799"/>
                </a:lnTo>
                <a:lnTo>
                  <a:pt x="1425" y="1800"/>
                </a:lnTo>
                <a:lnTo>
                  <a:pt x="1426" y="1801"/>
                </a:lnTo>
                <a:lnTo>
                  <a:pt x="1427" y="1802"/>
                </a:lnTo>
                <a:lnTo>
                  <a:pt x="1428" y="1804"/>
                </a:lnTo>
                <a:lnTo>
                  <a:pt x="1428" y="1805"/>
                </a:lnTo>
                <a:lnTo>
                  <a:pt x="1428" y="1807"/>
                </a:lnTo>
                <a:lnTo>
                  <a:pt x="1427" y="1809"/>
                </a:lnTo>
                <a:lnTo>
                  <a:pt x="1426" y="1810"/>
                </a:lnTo>
                <a:lnTo>
                  <a:pt x="1425" y="1811"/>
                </a:lnTo>
                <a:lnTo>
                  <a:pt x="1423" y="1812"/>
                </a:lnTo>
                <a:lnTo>
                  <a:pt x="1421" y="1812"/>
                </a:lnTo>
                <a:lnTo>
                  <a:pt x="1419" y="1812"/>
                </a:lnTo>
                <a:lnTo>
                  <a:pt x="1418" y="1811"/>
                </a:lnTo>
                <a:lnTo>
                  <a:pt x="1417" y="1810"/>
                </a:lnTo>
                <a:lnTo>
                  <a:pt x="1416" y="1809"/>
                </a:lnTo>
                <a:lnTo>
                  <a:pt x="1415" y="1807"/>
                </a:lnTo>
                <a:lnTo>
                  <a:pt x="1415" y="1805"/>
                </a:lnTo>
                <a:lnTo>
                  <a:pt x="1415" y="1804"/>
                </a:lnTo>
                <a:lnTo>
                  <a:pt x="1416" y="1802"/>
                </a:lnTo>
                <a:lnTo>
                  <a:pt x="1417" y="1801"/>
                </a:lnTo>
                <a:lnTo>
                  <a:pt x="1418" y="1800"/>
                </a:lnTo>
                <a:lnTo>
                  <a:pt x="1419" y="1799"/>
                </a:lnTo>
                <a:lnTo>
                  <a:pt x="1421" y="1799"/>
                </a:lnTo>
                <a:close/>
                <a:moveTo>
                  <a:pt x="696" y="1789"/>
                </a:moveTo>
                <a:lnTo>
                  <a:pt x="697" y="1792"/>
                </a:lnTo>
                <a:lnTo>
                  <a:pt x="696" y="1794"/>
                </a:lnTo>
                <a:lnTo>
                  <a:pt x="693" y="1795"/>
                </a:lnTo>
                <a:lnTo>
                  <a:pt x="691" y="1794"/>
                </a:lnTo>
                <a:lnTo>
                  <a:pt x="690" y="1792"/>
                </a:lnTo>
                <a:lnTo>
                  <a:pt x="691" y="1789"/>
                </a:lnTo>
                <a:lnTo>
                  <a:pt x="692" y="1788"/>
                </a:lnTo>
                <a:lnTo>
                  <a:pt x="696" y="1789"/>
                </a:lnTo>
                <a:close/>
                <a:moveTo>
                  <a:pt x="565" y="1778"/>
                </a:moveTo>
                <a:lnTo>
                  <a:pt x="567" y="1778"/>
                </a:lnTo>
                <a:lnTo>
                  <a:pt x="569" y="1779"/>
                </a:lnTo>
                <a:lnTo>
                  <a:pt x="570" y="1779"/>
                </a:lnTo>
                <a:lnTo>
                  <a:pt x="571" y="1780"/>
                </a:lnTo>
                <a:lnTo>
                  <a:pt x="573" y="1781"/>
                </a:lnTo>
                <a:lnTo>
                  <a:pt x="574" y="1782"/>
                </a:lnTo>
                <a:lnTo>
                  <a:pt x="575" y="1784"/>
                </a:lnTo>
                <a:lnTo>
                  <a:pt x="575" y="1785"/>
                </a:lnTo>
                <a:lnTo>
                  <a:pt x="576" y="1787"/>
                </a:lnTo>
                <a:lnTo>
                  <a:pt x="576" y="1789"/>
                </a:lnTo>
                <a:lnTo>
                  <a:pt x="576" y="1791"/>
                </a:lnTo>
                <a:lnTo>
                  <a:pt x="575" y="1792"/>
                </a:lnTo>
                <a:lnTo>
                  <a:pt x="575" y="1794"/>
                </a:lnTo>
                <a:lnTo>
                  <a:pt x="574" y="1795"/>
                </a:lnTo>
                <a:lnTo>
                  <a:pt x="573" y="1796"/>
                </a:lnTo>
                <a:lnTo>
                  <a:pt x="571" y="1797"/>
                </a:lnTo>
                <a:lnTo>
                  <a:pt x="570" y="1798"/>
                </a:lnTo>
                <a:lnTo>
                  <a:pt x="569" y="1799"/>
                </a:lnTo>
                <a:lnTo>
                  <a:pt x="567" y="1799"/>
                </a:lnTo>
                <a:lnTo>
                  <a:pt x="565" y="1800"/>
                </a:lnTo>
                <a:lnTo>
                  <a:pt x="563" y="1799"/>
                </a:lnTo>
                <a:lnTo>
                  <a:pt x="562" y="1799"/>
                </a:lnTo>
                <a:lnTo>
                  <a:pt x="560" y="1798"/>
                </a:lnTo>
                <a:lnTo>
                  <a:pt x="559" y="1797"/>
                </a:lnTo>
                <a:lnTo>
                  <a:pt x="558" y="1796"/>
                </a:lnTo>
                <a:lnTo>
                  <a:pt x="556" y="1795"/>
                </a:lnTo>
                <a:lnTo>
                  <a:pt x="556" y="1794"/>
                </a:lnTo>
                <a:lnTo>
                  <a:pt x="555" y="1792"/>
                </a:lnTo>
                <a:lnTo>
                  <a:pt x="555" y="1791"/>
                </a:lnTo>
                <a:lnTo>
                  <a:pt x="554" y="1789"/>
                </a:lnTo>
                <a:lnTo>
                  <a:pt x="555" y="1787"/>
                </a:lnTo>
                <a:lnTo>
                  <a:pt x="555" y="1785"/>
                </a:lnTo>
                <a:lnTo>
                  <a:pt x="556" y="1784"/>
                </a:lnTo>
                <a:lnTo>
                  <a:pt x="556" y="1782"/>
                </a:lnTo>
                <a:lnTo>
                  <a:pt x="558" y="1781"/>
                </a:lnTo>
                <a:lnTo>
                  <a:pt x="559" y="1780"/>
                </a:lnTo>
                <a:lnTo>
                  <a:pt x="560" y="1779"/>
                </a:lnTo>
                <a:lnTo>
                  <a:pt x="562" y="1779"/>
                </a:lnTo>
                <a:lnTo>
                  <a:pt x="563" y="1778"/>
                </a:lnTo>
                <a:lnTo>
                  <a:pt x="565" y="1778"/>
                </a:lnTo>
                <a:close/>
                <a:moveTo>
                  <a:pt x="1359" y="1775"/>
                </a:moveTo>
                <a:cubicBezTo>
                  <a:pt x="1367" y="1774"/>
                  <a:pt x="1373" y="1784"/>
                  <a:pt x="1372" y="1789"/>
                </a:cubicBezTo>
                <a:cubicBezTo>
                  <a:pt x="1373" y="1797"/>
                  <a:pt x="1363" y="1803"/>
                  <a:pt x="1359" y="1802"/>
                </a:cubicBezTo>
                <a:cubicBezTo>
                  <a:pt x="1351" y="1803"/>
                  <a:pt x="1344" y="1793"/>
                  <a:pt x="1345" y="1789"/>
                </a:cubicBezTo>
                <a:cubicBezTo>
                  <a:pt x="1344" y="1780"/>
                  <a:pt x="1354" y="1774"/>
                  <a:pt x="1359" y="1775"/>
                </a:cubicBezTo>
                <a:close/>
                <a:moveTo>
                  <a:pt x="444" y="1768"/>
                </a:moveTo>
                <a:lnTo>
                  <a:pt x="446" y="1769"/>
                </a:lnTo>
                <a:lnTo>
                  <a:pt x="447" y="1771"/>
                </a:lnTo>
                <a:lnTo>
                  <a:pt x="446" y="1773"/>
                </a:lnTo>
                <a:lnTo>
                  <a:pt x="444" y="1773"/>
                </a:lnTo>
                <a:lnTo>
                  <a:pt x="442" y="1773"/>
                </a:lnTo>
                <a:lnTo>
                  <a:pt x="441" y="1771"/>
                </a:lnTo>
                <a:lnTo>
                  <a:pt x="442" y="1769"/>
                </a:lnTo>
                <a:lnTo>
                  <a:pt x="444" y="1768"/>
                </a:lnTo>
                <a:close/>
                <a:moveTo>
                  <a:pt x="1480" y="1764"/>
                </a:moveTo>
                <a:lnTo>
                  <a:pt x="1482" y="1764"/>
                </a:lnTo>
                <a:lnTo>
                  <a:pt x="1484" y="1765"/>
                </a:lnTo>
                <a:lnTo>
                  <a:pt x="1485" y="1767"/>
                </a:lnTo>
                <a:lnTo>
                  <a:pt x="1486" y="1768"/>
                </a:lnTo>
                <a:lnTo>
                  <a:pt x="1486" y="1770"/>
                </a:lnTo>
                <a:lnTo>
                  <a:pt x="1486" y="1772"/>
                </a:lnTo>
                <a:lnTo>
                  <a:pt x="1485" y="1774"/>
                </a:lnTo>
                <a:lnTo>
                  <a:pt x="1484" y="1775"/>
                </a:lnTo>
                <a:lnTo>
                  <a:pt x="1482" y="1776"/>
                </a:lnTo>
                <a:lnTo>
                  <a:pt x="1480" y="1777"/>
                </a:lnTo>
                <a:lnTo>
                  <a:pt x="1478" y="1776"/>
                </a:lnTo>
                <a:lnTo>
                  <a:pt x="1476" y="1775"/>
                </a:lnTo>
                <a:lnTo>
                  <a:pt x="1475" y="1774"/>
                </a:lnTo>
                <a:lnTo>
                  <a:pt x="1474" y="1772"/>
                </a:lnTo>
                <a:lnTo>
                  <a:pt x="1474" y="1770"/>
                </a:lnTo>
                <a:lnTo>
                  <a:pt x="1474" y="1768"/>
                </a:lnTo>
                <a:lnTo>
                  <a:pt x="1475" y="1767"/>
                </a:lnTo>
                <a:lnTo>
                  <a:pt x="1476" y="1765"/>
                </a:lnTo>
                <a:lnTo>
                  <a:pt x="1478" y="1764"/>
                </a:lnTo>
                <a:lnTo>
                  <a:pt x="1480" y="1764"/>
                </a:lnTo>
                <a:close/>
                <a:moveTo>
                  <a:pt x="629" y="1763"/>
                </a:moveTo>
                <a:lnTo>
                  <a:pt x="631" y="1764"/>
                </a:lnTo>
                <a:lnTo>
                  <a:pt x="633" y="1765"/>
                </a:lnTo>
                <a:lnTo>
                  <a:pt x="634" y="1768"/>
                </a:lnTo>
                <a:lnTo>
                  <a:pt x="633" y="1770"/>
                </a:lnTo>
                <a:lnTo>
                  <a:pt x="631" y="1771"/>
                </a:lnTo>
                <a:lnTo>
                  <a:pt x="629" y="1772"/>
                </a:lnTo>
                <a:lnTo>
                  <a:pt x="627" y="1771"/>
                </a:lnTo>
                <a:lnTo>
                  <a:pt x="625" y="1770"/>
                </a:lnTo>
                <a:lnTo>
                  <a:pt x="625" y="1768"/>
                </a:lnTo>
                <a:lnTo>
                  <a:pt x="625" y="1765"/>
                </a:lnTo>
                <a:lnTo>
                  <a:pt x="627" y="1764"/>
                </a:lnTo>
                <a:lnTo>
                  <a:pt x="629" y="1763"/>
                </a:lnTo>
                <a:close/>
                <a:moveTo>
                  <a:pt x="505" y="1746"/>
                </a:moveTo>
                <a:lnTo>
                  <a:pt x="507" y="1747"/>
                </a:lnTo>
                <a:lnTo>
                  <a:pt x="508" y="1747"/>
                </a:lnTo>
                <a:lnTo>
                  <a:pt x="510" y="1748"/>
                </a:lnTo>
                <a:lnTo>
                  <a:pt x="512" y="1749"/>
                </a:lnTo>
                <a:lnTo>
                  <a:pt x="513" y="1750"/>
                </a:lnTo>
                <a:lnTo>
                  <a:pt x="514" y="1752"/>
                </a:lnTo>
                <a:lnTo>
                  <a:pt x="515" y="1753"/>
                </a:lnTo>
                <a:lnTo>
                  <a:pt x="515" y="1755"/>
                </a:lnTo>
                <a:lnTo>
                  <a:pt x="515" y="1757"/>
                </a:lnTo>
                <a:lnTo>
                  <a:pt x="515" y="1759"/>
                </a:lnTo>
                <a:lnTo>
                  <a:pt x="515" y="1761"/>
                </a:lnTo>
                <a:lnTo>
                  <a:pt x="514" y="1762"/>
                </a:lnTo>
                <a:lnTo>
                  <a:pt x="513" y="1764"/>
                </a:lnTo>
                <a:lnTo>
                  <a:pt x="512" y="1765"/>
                </a:lnTo>
                <a:lnTo>
                  <a:pt x="510" y="1766"/>
                </a:lnTo>
                <a:lnTo>
                  <a:pt x="508" y="1767"/>
                </a:lnTo>
                <a:lnTo>
                  <a:pt x="507" y="1767"/>
                </a:lnTo>
                <a:lnTo>
                  <a:pt x="505" y="1767"/>
                </a:lnTo>
                <a:lnTo>
                  <a:pt x="503" y="1767"/>
                </a:lnTo>
                <a:lnTo>
                  <a:pt x="501" y="1767"/>
                </a:lnTo>
                <a:lnTo>
                  <a:pt x="499" y="1766"/>
                </a:lnTo>
                <a:lnTo>
                  <a:pt x="498" y="1765"/>
                </a:lnTo>
                <a:lnTo>
                  <a:pt x="497" y="1764"/>
                </a:lnTo>
                <a:lnTo>
                  <a:pt x="496" y="1762"/>
                </a:lnTo>
                <a:lnTo>
                  <a:pt x="495" y="1761"/>
                </a:lnTo>
                <a:lnTo>
                  <a:pt x="494" y="1759"/>
                </a:lnTo>
                <a:lnTo>
                  <a:pt x="494" y="1757"/>
                </a:lnTo>
                <a:lnTo>
                  <a:pt x="494" y="1755"/>
                </a:lnTo>
                <a:lnTo>
                  <a:pt x="495" y="1753"/>
                </a:lnTo>
                <a:lnTo>
                  <a:pt x="496" y="1752"/>
                </a:lnTo>
                <a:lnTo>
                  <a:pt x="497" y="1750"/>
                </a:lnTo>
                <a:lnTo>
                  <a:pt x="498" y="1749"/>
                </a:lnTo>
                <a:lnTo>
                  <a:pt x="499" y="1748"/>
                </a:lnTo>
                <a:lnTo>
                  <a:pt x="501" y="1747"/>
                </a:lnTo>
                <a:lnTo>
                  <a:pt x="503" y="1747"/>
                </a:lnTo>
                <a:lnTo>
                  <a:pt x="505" y="1746"/>
                </a:lnTo>
                <a:close/>
                <a:moveTo>
                  <a:pt x="1419" y="1743"/>
                </a:moveTo>
                <a:cubicBezTo>
                  <a:pt x="1427" y="1742"/>
                  <a:pt x="1433" y="1752"/>
                  <a:pt x="1432" y="1756"/>
                </a:cubicBezTo>
                <a:cubicBezTo>
                  <a:pt x="1433" y="1764"/>
                  <a:pt x="1423" y="1771"/>
                  <a:pt x="1419" y="1770"/>
                </a:cubicBezTo>
                <a:cubicBezTo>
                  <a:pt x="1411" y="1771"/>
                  <a:pt x="1405" y="1761"/>
                  <a:pt x="1406" y="1756"/>
                </a:cubicBezTo>
                <a:cubicBezTo>
                  <a:pt x="1405" y="1748"/>
                  <a:pt x="1415" y="1742"/>
                  <a:pt x="1419" y="1743"/>
                </a:cubicBezTo>
                <a:close/>
                <a:moveTo>
                  <a:pt x="567" y="1734"/>
                </a:moveTo>
                <a:lnTo>
                  <a:pt x="569" y="1734"/>
                </a:lnTo>
                <a:lnTo>
                  <a:pt x="571" y="1735"/>
                </a:lnTo>
                <a:lnTo>
                  <a:pt x="572" y="1737"/>
                </a:lnTo>
                <a:lnTo>
                  <a:pt x="573" y="1739"/>
                </a:lnTo>
                <a:lnTo>
                  <a:pt x="572" y="1741"/>
                </a:lnTo>
                <a:lnTo>
                  <a:pt x="571" y="1743"/>
                </a:lnTo>
                <a:lnTo>
                  <a:pt x="569" y="1744"/>
                </a:lnTo>
                <a:lnTo>
                  <a:pt x="567" y="1745"/>
                </a:lnTo>
                <a:lnTo>
                  <a:pt x="565" y="1744"/>
                </a:lnTo>
                <a:lnTo>
                  <a:pt x="563" y="1743"/>
                </a:lnTo>
                <a:lnTo>
                  <a:pt x="562" y="1741"/>
                </a:lnTo>
                <a:lnTo>
                  <a:pt x="562" y="1739"/>
                </a:lnTo>
                <a:lnTo>
                  <a:pt x="562" y="1737"/>
                </a:lnTo>
                <a:lnTo>
                  <a:pt x="563" y="1735"/>
                </a:lnTo>
                <a:lnTo>
                  <a:pt x="565" y="1734"/>
                </a:lnTo>
                <a:lnTo>
                  <a:pt x="567" y="1734"/>
                </a:lnTo>
                <a:close/>
                <a:moveTo>
                  <a:pt x="388" y="1730"/>
                </a:moveTo>
                <a:lnTo>
                  <a:pt x="389" y="1730"/>
                </a:lnTo>
                <a:lnTo>
                  <a:pt x="390" y="1732"/>
                </a:lnTo>
                <a:lnTo>
                  <a:pt x="389" y="1733"/>
                </a:lnTo>
                <a:lnTo>
                  <a:pt x="388" y="1734"/>
                </a:lnTo>
                <a:lnTo>
                  <a:pt x="386" y="1733"/>
                </a:lnTo>
                <a:lnTo>
                  <a:pt x="386" y="1732"/>
                </a:lnTo>
                <a:lnTo>
                  <a:pt x="386" y="1730"/>
                </a:lnTo>
                <a:lnTo>
                  <a:pt x="388" y="1730"/>
                </a:lnTo>
                <a:close/>
                <a:moveTo>
                  <a:pt x="1536" y="1725"/>
                </a:moveTo>
                <a:lnTo>
                  <a:pt x="1538" y="1726"/>
                </a:lnTo>
                <a:lnTo>
                  <a:pt x="1539" y="1727"/>
                </a:lnTo>
                <a:lnTo>
                  <a:pt x="1540" y="1728"/>
                </a:lnTo>
                <a:lnTo>
                  <a:pt x="1541" y="1729"/>
                </a:lnTo>
                <a:lnTo>
                  <a:pt x="1542" y="1731"/>
                </a:lnTo>
                <a:lnTo>
                  <a:pt x="1541" y="1733"/>
                </a:lnTo>
                <a:lnTo>
                  <a:pt x="1540" y="1735"/>
                </a:lnTo>
                <a:lnTo>
                  <a:pt x="1539" y="1736"/>
                </a:lnTo>
                <a:lnTo>
                  <a:pt x="1538" y="1737"/>
                </a:lnTo>
                <a:lnTo>
                  <a:pt x="1536" y="1737"/>
                </a:lnTo>
                <a:lnTo>
                  <a:pt x="1534" y="1737"/>
                </a:lnTo>
                <a:lnTo>
                  <a:pt x="1533" y="1736"/>
                </a:lnTo>
                <a:lnTo>
                  <a:pt x="1531" y="1735"/>
                </a:lnTo>
                <a:lnTo>
                  <a:pt x="1531" y="1733"/>
                </a:lnTo>
                <a:lnTo>
                  <a:pt x="1530" y="1731"/>
                </a:lnTo>
                <a:lnTo>
                  <a:pt x="1531" y="1729"/>
                </a:lnTo>
                <a:lnTo>
                  <a:pt x="1531" y="1728"/>
                </a:lnTo>
                <a:lnTo>
                  <a:pt x="1533" y="1727"/>
                </a:lnTo>
                <a:lnTo>
                  <a:pt x="1534" y="1726"/>
                </a:lnTo>
                <a:lnTo>
                  <a:pt x="1536" y="1725"/>
                </a:lnTo>
                <a:close/>
                <a:moveTo>
                  <a:pt x="447" y="1710"/>
                </a:moveTo>
                <a:lnTo>
                  <a:pt x="449" y="1711"/>
                </a:lnTo>
                <a:lnTo>
                  <a:pt x="450" y="1711"/>
                </a:lnTo>
                <a:lnTo>
                  <a:pt x="452" y="1712"/>
                </a:lnTo>
                <a:lnTo>
                  <a:pt x="453" y="1713"/>
                </a:lnTo>
                <a:lnTo>
                  <a:pt x="455" y="1714"/>
                </a:lnTo>
                <a:lnTo>
                  <a:pt x="456" y="1715"/>
                </a:lnTo>
                <a:lnTo>
                  <a:pt x="456" y="1717"/>
                </a:lnTo>
                <a:lnTo>
                  <a:pt x="457" y="1719"/>
                </a:lnTo>
                <a:lnTo>
                  <a:pt x="457" y="1721"/>
                </a:lnTo>
                <a:lnTo>
                  <a:pt x="457" y="1722"/>
                </a:lnTo>
                <a:lnTo>
                  <a:pt x="456" y="1724"/>
                </a:lnTo>
                <a:lnTo>
                  <a:pt x="456" y="1726"/>
                </a:lnTo>
                <a:lnTo>
                  <a:pt x="455" y="1727"/>
                </a:lnTo>
                <a:lnTo>
                  <a:pt x="453" y="1728"/>
                </a:lnTo>
                <a:lnTo>
                  <a:pt x="452" y="1729"/>
                </a:lnTo>
                <a:lnTo>
                  <a:pt x="450" y="1730"/>
                </a:lnTo>
                <a:lnTo>
                  <a:pt x="449" y="1730"/>
                </a:lnTo>
                <a:lnTo>
                  <a:pt x="447" y="1731"/>
                </a:lnTo>
                <a:lnTo>
                  <a:pt x="445" y="1730"/>
                </a:lnTo>
                <a:lnTo>
                  <a:pt x="443" y="1730"/>
                </a:lnTo>
                <a:lnTo>
                  <a:pt x="442" y="1729"/>
                </a:lnTo>
                <a:lnTo>
                  <a:pt x="440" y="1728"/>
                </a:lnTo>
                <a:lnTo>
                  <a:pt x="439" y="1727"/>
                </a:lnTo>
                <a:lnTo>
                  <a:pt x="438" y="1726"/>
                </a:lnTo>
                <a:lnTo>
                  <a:pt x="438" y="1724"/>
                </a:lnTo>
                <a:lnTo>
                  <a:pt x="437" y="1722"/>
                </a:lnTo>
                <a:lnTo>
                  <a:pt x="437" y="1721"/>
                </a:lnTo>
                <a:lnTo>
                  <a:pt x="437" y="1719"/>
                </a:lnTo>
                <a:lnTo>
                  <a:pt x="438" y="1717"/>
                </a:lnTo>
                <a:lnTo>
                  <a:pt x="438" y="1715"/>
                </a:lnTo>
                <a:lnTo>
                  <a:pt x="439" y="1714"/>
                </a:lnTo>
                <a:lnTo>
                  <a:pt x="440" y="1713"/>
                </a:lnTo>
                <a:lnTo>
                  <a:pt x="442" y="1712"/>
                </a:lnTo>
                <a:lnTo>
                  <a:pt x="443" y="1711"/>
                </a:lnTo>
                <a:lnTo>
                  <a:pt x="445" y="1711"/>
                </a:lnTo>
                <a:lnTo>
                  <a:pt x="447" y="1710"/>
                </a:lnTo>
                <a:close/>
                <a:moveTo>
                  <a:pt x="1477" y="1707"/>
                </a:moveTo>
                <a:cubicBezTo>
                  <a:pt x="1485" y="1706"/>
                  <a:pt x="1491" y="1716"/>
                  <a:pt x="1490" y="1720"/>
                </a:cubicBezTo>
                <a:cubicBezTo>
                  <a:pt x="1491" y="1728"/>
                  <a:pt x="1481" y="1734"/>
                  <a:pt x="1477" y="1733"/>
                </a:cubicBezTo>
                <a:cubicBezTo>
                  <a:pt x="1469" y="1734"/>
                  <a:pt x="1463" y="1724"/>
                  <a:pt x="1464" y="1720"/>
                </a:cubicBezTo>
                <a:cubicBezTo>
                  <a:pt x="1463" y="1712"/>
                  <a:pt x="1473" y="1706"/>
                  <a:pt x="1477" y="1707"/>
                </a:cubicBezTo>
                <a:close/>
                <a:moveTo>
                  <a:pt x="508" y="1700"/>
                </a:moveTo>
                <a:lnTo>
                  <a:pt x="510" y="1700"/>
                </a:lnTo>
                <a:lnTo>
                  <a:pt x="511" y="1701"/>
                </a:lnTo>
                <a:lnTo>
                  <a:pt x="513" y="1702"/>
                </a:lnTo>
                <a:lnTo>
                  <a:pt x="514" y="1704"/>
                </a:lnTo>
                <a:lnTo>
                  <a:pt x="514" y="1706"/>
                </a:lnTo>
                <a:lnTo>
                  <a:pt x="514" y="1708"/>
                </a:lnTo>
                <a:lnTo>
                  <a:pt x="513" y="1709"/>
                </a:lnTo>
                <a:lnTo>
                  <a:pt x="511" y="1711"/>
                </a:lnTo>
                <a:lnTo>
                  <a:pt x="510" y="1712"/>
                </a:lnTo>
                <a:lnTo>
                  <a:pt x="508" y="1712"/>
                </a:lnTo>
                <a:lnTo>
                  <a:pt x="506" y="1712"/>
                </a:lnTo>
                <a:lnTo>
                  <a:pt x="504" y="1711"/>
                </a:lnTo>
                <a:lnTo>
                  <a:pt x="503" y="1709"/>
                </a:lnTo>
                <a:lnTo>
                  <a:pt x="502" y="1708"/>
                </a:lnTo>
                <a:lnTo>
                  <a:pt x="502" y="1706"/>
                </a:lnTo>
                <a:lnTo>
                  <a:pt x="502" y="1704"/>
                </a:lnTo>
                <a:lnTo>
                  <a:pt x="503" y="1702"/>
                </a:lnTo>
                <a:lnTo>
                  <a:pt x="504" y="1701"/>
                </a:lnTo>
                <a:lnTo>
                  <a:pt x="506" y="1700"/>
                </a:lnTo>
                <a:lnTo>
                  <a:pt x="508" y="1700"/>
                </a:lnTo>
                <a:close/>
                <a:moveTo>
                  <a:pt x="335" y="1687"/>
                </a:moveTo>
                <a:lnTo>
                  <a:pt x="336" y="1688"/>
                </a:lnTo>
                <a:lnTo>
                  <a:pt x="336" y="1689"/>
                </a:lnTo>
                <a:lnTo>
                  <a:pt x="336" y="1690"/>
                </a:lnTo>
                <a:lnTo>
                  <a:pt x="335" y="1690"/>
                </a:lnTo>
                <a:lnTo>
                  <a:pt x="333" y="1690"/>
                </a:lnTo>
                <a:lnTo>
                  <a:pt x="333" y="1689"/>
                </a:lnTo>
                <a:lnTo>
                  <a:pt x="333" y="1688"/>
                </a:lnTo>
                <a:lnTo>
                  <a:pt x="335" y="1687"/>
                </a:lnTo>
                <a:close/>
                <a:moveTo>
                  <a:pt x="1589" y="1683"/>
                </a:moveTo>
                <a:lnTo>
                  <a:pt x="1591" y="1683"/>
                </a:lnTo>
                <a:lnTo>
                  <a:pt x="1593" y="1685"/>
                </a:lnTo>
                <a:lnTo>
                  <a:pt x="1594" y="1686"/>
                </a:lnTo>
                <a:lnTo>
                  <a:pt x="1594" y="1688"/>
                </a:lnTo>
                <a:lnTo>
                  <a:pt x="1594" y="1690"/>
                </a:lnTo>
                <a:lnTo>
                  <a:pt x="1593" y="1692"/>
                </a:lnTo>
                <a:lnTo>
                  <a:pt x="1591" y="1693"/>
                </a:lnTo>
                <a:lnTo>
                  <a:pt x="1589" y="1694"/>
                </a:lnTo>
                <a:lnTo>
                  <a:pt x="1587" y="1693"/>
                </a:lnTo>
                <a:lnTo>
                  <a:pt x="1585" y="1692"/>
                </a:lnTo>
                <a:lnTo>
                  <a:pt x="1584" y="1690"/>
                </a:lnTo>
                <a:lnTo>
                  <a:pt x="1584" y="1688"/>
                </a:lnTo>
                <a:lnTo>
                  <a:pt x="1584" y="1686"/>
                </a:lnTo>
                <a:lnTo>
                  <a:pt x="1585" y="1685"/>
                </a:lnTo>
                <a:lnTo>
                  <a:pt x="1587" y="1683"/>
                </a:lnTo>
                <a:lnTo>
                  <a:pt x="1589" y="1683"/>
                </a:lnTo>
                <a:close/>
                <a:moveTo>
                  <a:pt x="392" y="1670"/>
                </a:moveTo>
                <a:lnTo>
                  <a:pt x="394" y="1670"/>
                </a:lnTo>
                <a:lnTo>
                  <a:pt x="395" y="1671"/>
                </a:lnTo>
                <a:lnTo>
                  <a:pt x="397" y="1671"/>
                </a:lnTo>
                <a:lnTo>
                  <a:pt x="398" y="1672"/>
                </a:lnTo>
                <a:lnTo>
                  <a:pt x="399" y="1673"/>
                </a:lnTo>
                <a:lnTo>
                  <a:pt x="400" y="1675"/>
                </a:lnTo>
                <a:lnTo>
                  <a:pt x="401" y="1676"/>
                </a:lnTo>
                <a:lnTo>
                  <a:pt x="401" y="1678"/>
                </a:lnTo>
                <a:lnTo>
                  <a:pt x="401" y="1680"/>
                </a:lnTo>
                <a:lnTo>
                  <a:pt x="401" y="1681"/>
                </a:lnTo>
                <a:lnTo>
                  <a:pt x="401" y="1683"/>
                </a:lnTo>
                <a:lnTo>
                  <a:pt x="400" y="1685"/>
                </a:lnTo>
                <a:lnTo>
                  <a:pt x="399" y="1686"/>
                </a:lnTo>
                <a:lnTo>
                  <a:pt x="398" y="1687"/>
                </a:lnTo>
                <a:lnTo>
                  <a:pt x="397" y="1688"/>
                </a:lnTo>
                <a:lnTo>
                  <a:pt x="395" y="1689"/>
                </a:lnTo>
                <a:lnTo>
                  <a:pt x="394" y="1689"/>
                </a:lnTo>
                <a:lnTo>
                  <a:pt x="392" y="1690"/>
                </a:lnTo>
                <a:lnTo>
                  <a:pt x="390" y="1689"/>
                </a:lnTo>
                <a:lnTo>
                  <a:pt x="389" y="1689"/>
                </a:lnTo>
                <a:lnTo>
                  <a:pt x="387" y="1688"/>
                </a:lnTo>
                <a:lnTo>
                  <a:pt x="386" y="1687"/>
                </a:lnTo>
                <a:lnTo>
                  <a:pt x="385" y="1686"/>
                </a:lnTo>
                <a:lnTo>
                  <a:pt x="384" y="1685"/>
                </a:lnTo>
                <a:lnTo>
                  <a:pt x="383" y="1683"/>
                </a:lnTo>
                <a:lnTo>
                  <a:pt x="383" y="1681"/>
                </a:lnTo>
                <a:lnTo>
                  <a:pt x="382" y="1680"/>
                </a:lnTo>
                <a:lnTo>
                  <a:pt x="383" y="1678"/>
                </a:lnTo>
                <a:lnTo>
                  <a:pt x="383" y="1676"/>
                </a:lnTo>
                <a:lnTo>
                  <a:pt x="384" y="1675"/>
                </a:lnTo>
                <a:lnTo>
                  <a:pt x="385" y="1673"/>
                </a:lnTo>
                <a:lnTo>
                  <a:pt x="386" y="1672"/>
                </a:lnTo>
                <a:lnTo>
                  <a:pt x="387" y="1671"/>
                </a:lnTo>
                <a:lnTo>
                  <a:pt x="389" y="1671"/>
                </a:lnTo>
                <a:lnTo>
                  <a:pt x="390" y="1670"/>
                </a:lnTo>
                <a:lnTo>
                  <a:pt x="392" y="1670"/>
                </a:lnTo>
                <a:close/>
                <a:moveTo>
                  <a:pt x="1532" y="1667"/>
                </a:moveTo>
                <a:cubicBezTo>
                  <a:pt x="1540" y="1666"/>
                  <a:pt x="1546" y="1675"/>
                  <a:pt x="1545" y="1679"/>
                </a:cubicBezTo>
                <a:cubicBezTo>
                  <a:pt x="1546" y="1687"/>
                  <a:pt x="1536" y="1693"/>
                  <a:pt x="1532" y="1692"/>
                </a:cubicBezTo>
                <a:cubicBezTo>
                  <a:pt x="1524" y="1693"/>
                  <a:pt x="1518" y="1683"/>
                  <a:pt x="1519" y="1679"/>
                </a:cubicBezTo>
                <a:cubicBezTo>
                  <a:pt x="1518" y="1672"/>
                  <a:pt x="1528" y="1666"/>
                  <a:pt x="1532" y="1667"/>
                </a:cubicBezTo>
                <a:close/>
                <a:moveTo>
                  <a:pt x="451" y="1661"/>
                </a:moveTo>
                <a:lnTo>
                  <a:pt x="453" y="1661"/>
                </a:lnTo>
                <a:lnTo>
                  <a:pt x="454" y="1662"/>
                </a:lnTo>
                <a:lnTo>
                  <a:pt x="456" y="1663"/>
                </a:lnTo>
                <a:lnTo>
                  <a:pt x="457" y="1664"/>
                </a:lnTo>
                <a:lnTo>
                  <a:pt x="458" y="1666"/>
                </a:lnTo>
                <a:lnTo>
                  <a:pt x="458" y="1668"/>
                </a:lnTo>
                <a:lnTo>
                  <a:pt x="458" y="1670"/>
                </a:lnTo>
                <a:lnTo>
                  <a:pt x="457" y="1671"/>
                </a:lnTo>
                <a:lnTo>
                  <a:pt x="456" y="1673"/>
                </a:lnTo>
                <a:lnTo>
                  <a:pt x="454" y="1674"/>
                </a:lnTo>
                <a:lnTo>
                  <a:pt x="453" y="1675"/>
                </a:lnTo>
                <a:lnTo>
                  <a:pt x="451" y="1675"/>
                </a:lnTo>
                <a:lnTo>
                  <a:pt x="449" y="1675"/>
                </a:lnTo>
                <a:lnTo>
                  <a:pt x="447" y="1674"/>
                </a:lnTo>
                <a:lnTo>
                  <a:pt x="446" y="1673"/>
                </a:lnTo>
                <a:lnTo>
                  <a:pt x="445" y="1671"/>
                </a:lnTo>
                <a:lnTo>
                  <a:pt x="444" y="1670"/>
                </a:lnTo>
                <a:lnTo>
                  <a:pt x="444" y="1668"/>
                </a:lnTo>
                <a:lnTo>
                  <a:pt x="444" y="1666"/>
                </a:lnTo>
                <a:lnTo>
                  <a:pt x="445" y="1664"/>
                </a:lnTo>
                <a:lnTo>
                  <a:pt x="446" y="1663"/>
                </a:lnTo>
                <a:lnTo>
                  <a:pt x="447" y="1662"/>
                </a:lnTo>
                <a:lnTo>
                  <a:pt x="449" y="1661"/>
                </a:lnTo>
                <a:lnTo>
                  <a:pt x="451" y="1661"/>
                </a:lnTo>
                <a:close/>
                <a:moveTo>
                  <a:pt x="284" y="1641"/>
                </a:moveTo>
                <a:lnTo>
                  <a:pt x="285" y="1641"/>
                </a:lnTo>
                <a:lnTo>
                  <a:pt x="286" y="1642"/>
                </a:lnTo>
                <a:lnTo>
                  <a:pt x="285" y="1643"/>
                </a:lnTo>
                <a:lnTo>
                  <a:pt x="284" y="1643"/>
                </a:lnTo>
                <a:lnTo>
                  <a:pt x="283" y="1643"/>
                </a:lnTo>
                <a:lnTo>
                  <a:pt x="283" y="1642"/>
                </a:lnTo>
                <a:lnTo>
                  <a:pt x="283" y="1641"/>
                </a:lnTo>
                <a:lnTo>
                  <a:pt x="284" y="1641"/>
                </a:lnTo>
                <a:close/>
                <a:moveTo>
                  <a:pt x="1639" y="1637"/>
                </a:moveTo>
                <a:lnTo>
                  <a:pt x="1641" y="1637"/>
                </a:lnTo>
                <a:lnTo>
                  <a:pt x="1643" y="1638"/>
                </a:lnTo>
                <a:lnTo>
                  <a:pt x="1644" y="1640"/>
                </a:lnTo>
                <a:lnTo>
                  <a:pt x="1644" y="1642"/>
                </a:lnTo>
                <a:lnTo>
                  <a:pt x="1644" y="1644"/>
                </a:lnTo>
                <a:lnTo>
                  <a:pt x="1643" y="1645"/>
                </a:lnTo>
                <a:lnTo>
                  <a:pt x="1641" y="1646"/>
                </a:lnTo>
                <a:lnTo>
                  <a:pt x="1639" y="1647"/>
                </a:lnTo>
                <a:lnTo>
                  <a:pt x="1637" y="1646"/>
                </a:lnTo>
                <a:lnTo>
                  <a:pt x="1636" y="1645"/>
                </a:lnTo>
                <a:lnTo>
                  <a:pt x="1635" y="1644"/>
                </a:lnTo>
                <a:lnTo>
                  <a:pt x="1634" y="1642"/>
                </a:lnTo>
                <a:lnTo>
                  <a:pt x="1635" y="1640"/>
                </a:lnTo>
                <a:lnTo>
                  <a:pt x="1636" y="1638"/>
                </a:lnTo>
                <a:lnTo>
                  <a:pt x="1637" y="1637"/>
                </a:lnTo>
                <a:lnTo>
                  <a:pt x="1639" y="1637"/>
                </a:lnTo>
                <a:close/>
                <a:moveTo>
                  <a:pt x="340" y="1626"/>
                </a:moveTo>
                <a:lnTo>
                  <a:pt x="342" y="1626"/>
                </a:lnTo>
                <a:lnTo>
                  <a:pt x="344" y="1626"/>
                </a:lnTo>
                <a:lnTo>
                  <a:pt x="345" y="1627"/>
                </a:lnTo>
                <a:lnTo>
                  <a:pt x="347" y="1628"/>
                </a:lnTo>
                <a:lnTo>
                  <a:pt x="348" y="1630"/>
                </a:lnTo>
                <a:lnTo>
                  <a:pt x="349" y="1631"/>
                </a:lnTo>
                <a:lnTo>
                  <a:pt x="349" y="1633"/>
                </a:lnTo>
                <a:lnTo>
                  <a:pt x="349" y="1635"/>
                </a:lnTo>
                <a:lnTo>
                  <a:pt x="349" y="1637"/>
                </a:lnTo>
                <a:lnTo>
                  <a:pt x="349" y="1639"/>
                </a:lnTo>
                <a:lnTo>
                  <a:pt x="348" y="1640"/>
                </a:lnTo>
                <a:lnTo>
                  <a:pt x="347" y="1642"/>
                </a:lnTo>
                <a:lnTo>
                  <a:pt x="345" y="1643"/>
                </a:lnTo>
                <a:lnTo>
                  <a:pt x="344" y="1644"/>
                </a:lnTo>
                <a:lnTo>
                  <a:pt x="342" y="1644"/>
                </a:lnTo>
                <a:lnTo>
                  <a:pt x="340" y="1644"/>
                </a:lnTo>
                <a:lnTo>
                  <a:pt x="338" y="1644"/>
                </a:lnTo>
                <a:lnTo>
                  <a:pt x="336" y="1644"/>
                </a:lnTo>
                <a:lnTo>
                  <a:pt x="335" y="1643"/>
                </a:lnTo>
                <a:lnTo>
                  <a:pt x="333" y="1642"/>
                </a:lnTo>
                <a:lnTo>
                  <a:pt x="332" y="1640"/>
                </a:lnTo>
                <a:lnTo>
                  <a:pt x="331" y="1639"/>
                </a:lnTo>
                <a:lnTo>
                  <a:pt x="331" y="1637"/>
                </a:lnTo>
                <a:lnTo>
                  <a:pt x="331" y="1635"/>
                </a:lnTo>
                <a:lnTo>
                  <a:pt x="331" y="1633"/>
                </a:lnTo>
                <a:lnTo>
                  <a:pt x="331" y="1631"/>
                </a:lnTo>
                <a:lnTo>
                  <a:pt x="332" y="1630"/>
                </a:lnTo>
                <a:lnTo>
                  <a:pt x="333" y="1628"/>
                </a:lnTo>
                <a:lnTo>
                  <a:pt x="335" y="1627"/>
                </a:lnTo>
                <a:lnTo>
                  <a:pt x="336" y="1626"/>
                </a:lnTo>
                <a:lnTo>
                  <a:pt x="338" y="1626"/>
                </a:lnTo>
                <a:lnTo>
                  <a:pt x="340" y="1626"/>
                </a:lnTo>
                <a:close/>
                <a:moveTo>
                  <a:pt x="1584" y="1622"/>
                </a:moveTo>
                <a:lnTo>
                  <a:pt x="1586" y="1623"/>
                </a:lnTo>
                <a:lnTo>
                  <a:pt x="1587" y="1623"/>
                </a:lnTo>
                <a:lnTo>
                  <a:pt x="1589" y="1624"/>
                </a:lnTo>
                <a:lnTo>
                  <a:pt x="1590" y="1624"/>
                </a:lnTo>
                <a:lnTo>
                  <a:pt x="1592" y="1625"/>
                </a:lnTo>
                <a:lnTo>
                  <a:pt x="1593" y="1627"/>
                </a:lnTo>
                <a:lnTo>
                  <a:pt x="1594" y="1628"/>
                </a:lnTo>
                <a:lnTo>
                  <a:pt x="1595" y="1630"/>
                </a:lnTo>
                <a:lnTo>
                  <a:pt x="1596" y="1631"/>
                </a:lnTo>
                <a:lnTo>
                  <a:pt x="1596" y="1633"/>
                </a:lnTo>
                <a:lnTo>
                  <a:pt x="1596" y="1635"/>
                </a:lnTo>
                <a:lnTo>
                  <a:pt x="1596" y="1637"/>
                </a:lnTo>
                <a:lnTo>
                  <a:pt x="1596" y="1638"/>
                </a:lnTo>
                <a:lnTo>
                  <a:pt x="1595" y="1640"/>
                </a:lnTo>
                <a:lnTo>
                  <a:pt x="1594" y="1641"/>
                </a:lnTo>
                <a:lnTo>
                  <a:pt x="1593" y="1643"/>
                </a:lnTo>
                <a:lnTo>
                  <a:pt x="1592" y="1644"/>
                </a:lnTo>
                <a:lnTo>
                  <a:pt x="1590" y="1645"/>
                </a:lnTo>
                <a:lnTo>
                  <a:pt x="1589" y="1646"/>
                </a:lnTo>
                <a:lnTo>
                  <a:pt x="1587" y="1647"/>
                </a:lnTo>
                <a:lnTo>
                  <a:pt x="1586" y="1647"/>
                </a:lnTo>
                <a:lnTo>
                  <a:pt x="1584" y="1647"/>
                </a:lnTo>
                <a:lnTo>
                  <a:pt x="1582" y="1647"/>
                </a:lnTo>
                <a:lnTo>
                  <a:pt x="1580" y="1647"/>
                </a:lnTo>
                <a:lnTo>
                  <a:pt x="1579" y="1646"/>
                </a:lnTo>
                <a:lnTo>
                  <a:pt x="1577" y="1645"/>
                </a:lnTo>
                <a:lnTo>
                  <a:pt x="1576" y="1644"/>
                </a:lnTo>
                <a:lnTo>
                  <a:pt x="1574" y="1643"/>
                </a:lnTo>
                <a:lnTo>
                  <a:pt x="1573" y="1641"/>
                </a:lnTo>
                <a:lnTo>
                  <a:pt x="1573" y="1640"/>
                </a:lnTo>
                <a:lnTo>
                  <a:pt x="1572" y="1638"/>
                </a:lnTo>
                <a:lnTo>
                  <a:pt x="1571" y="1637"/>
                </a:lnTo>
                <a:lnTo>
                  <a:pt x="1571" y="1635"/>
                </a:lnTo>
                <a:lnTo>
                  <a:pt x="1571" y="1633"/>
                </a:lnTo>
                <a:lnTo>
                  <a:pt x="1572" y="1631"/>
                </a:lnTo>
                <a:lnTo>
                  <a:pt x="1573" y="1630"/>
                </a:lnTo>
                <a:lnTo>
                  <a:pt x="1573" y="1628"/>
                </a:lnTo>
                <a:lnTo>
                  <a:pt x="1574" y="1627"/>
                </a:lnTo>
                <a:lnTo>
                  <a:pt x="1576" y="1625"/>
                </a:lnTo>
                <a:lnTo>
                  <a:pt x="1577" y="1624"/>
                </a:lnTo>
                <a:lnTo>
                  <a:pt x="1579" y="1624"/>
                </a:lnTo>
                <a:lnTo>
                  <a:pt x="1580" y="1623"/>
                </a:lnTo>
                <a:lnTo>
                  <a:pt x="1582" y="1623"/>
                </a:lnTo>
                <a:lnTo>
                  <a:pt x="1584" y="1622"/>
                </a:lnTo>
                <a:close/>
                <a:moveTo>
                  <a:pt x="398" y="1618"/>
                </a:moveTo>
                <a:lnTo>
                  <a:pt x="399" y="1618"/>
                </a:lnTo>
                <a:lnTo>
                  <a:pt x="401" y="1619"/>
                </a:lnTo>
                <a:lnTo>
                  <a:pt x="402" y="1619"/>
                </a:lnTo>
                <a:lnTo>
                  <a:pt x="404" y="1621"/>
                </a:lnTo>
                <a:lnTo>
                  <a:pt x="404" y="1622"/>
                </a:lnTo>
                <a:lnTo>
                  <a:pt x="405" y="1624"/>
                </a:lnTo>
                <a:lnTo>
                  <a:pt x="405" y="1626"/>
                </a:lnTo>
                <a:lnTo>
                  <a:pt x="405" y="1627"/>
                </a:lnTo>
                <a:lnTo>
                  <a:pt x="404" y="1629"/>
                </a:lnTo>
                <a:lnTo>
                  <a:pt x="404" y="1631"/>
                </a:lnTo>
                <a:lnTo>
                  <a:pt x="402" y="1632"/>
                </a:lnTo>
                <a:lnTo>
                  <a:pt x="401" y="1633"/>
                </a:lnTo>
                <a:lnTo>
                  <a:pt x="399" y="1633"/>
                </a:lnTo>
                <a:lnTo>
                  <a:pt x="398" y="1634"/>
                </a:lnTo>
                <a:lnTo>
                  <a:pt x="396" y="1633"/>
                </a:lnTo>
                <a:lnTo>
                  <a:pt x="394" y="1633"/>
                </a:lnTo>
                <a:lnTo>
                  <a:pt x="393" y="1632"/>
                </a:lnTo>
                <a:lnTo>
                  <a:pt x="391" y="1631"/>
                </a:lnTo>
                <a:lnTo>
                  <a:pt x="391" y="1629"/>
                </a:lnTo>
                <a:lnTo>
                  <a:pt x="390" y="1627"/>
                </a:lnTo>
                <a:lnTo>
                  <a:pt x="390" y="1626"/>
                </a:lnTo>
                <a:lnTo>
                  <a:pt x="390" y="1624"/>
                </a:lnTo>
                <a:lnTo>
                  <a:pt x="391" y="1622"/>
                </a:lnTo>
                <a:lnTo>
                  <a:pt x="391" y="1621"/>
                </a:lnTo>
                <a:lnTo>
                  <a:pt x="393" y="1619"/>
                </a:lnTo>
                <a:lnTo>
                  <a:pt x="394" y="1619"/>
                </a:lnTo>
                <a:lnTo>
                  <a:pt x="396" y="1618"/>
                </a:lnTo>
                <a:lnTo>
                  <a:pt x="398" y="1618"/>
                </a:lnTo>
                <a:close/>
                <a:moveTo>
                  <a:pt x="238" y="1591"/>
                </a:moveTo>
                <a:lnTo>
                  <a:pt x="239" y="1591"/>
                </a:lnTo>
                <a:lnTo>
                  <a:pt x="239" y="1592"/>
                </a:lnTo>
                <a:lnTo>
                  <a:pt x="239" y="1593"/>
                </a:lnTo>
                <a:lnTo>
                  <a:pt x="238" y="1593"/>
                </a:lnTo>
                <a:lnTo>
                  <a:pt x="238" y="1593"/>
                </a:lnTo>
                <a:lnTo>
                  <a:pt x="237" y="1592"/>
                </a:lnTo>
                <a:lnTo>
                  <a:pt x="238" y="1591"/>
                </a:lnTo>
                <a:lnTo>
                  <a:pt x="238" y="1591"/>
                </a:lnTo>
                <a:close/>
                <a:moveTo>
                  <a:pt x="1686" y="1587"/>
                </a:moveTo>
                <a:lnTo>
                  <a:pt x="1688" y="1588"/>
                </a:lnTo>
                <a:lnTo>
                  <a:pt x="1690" y="1590"/>
                </a:lnTo>
                <a:lnTo>
                  <a:pt x="1690" y="1592"/>
                </a:lnTo>
                <a:lnTo>
                  <a:pt x="1690" y="1594"/>
                </a:lnTo>
                <a:lnTo>
                  <a:pt x="1688" y="1596"/>
                </a:lnTo>
                <a:lnTo>
                  <a:pt x="1686" y="1596"/>
                </a:lnTo>
                <a:lnTo>
                  <a:pt x="1684" y="1596"/>
                </a:lnTo>
                <a:lnTo>
                  <a:pt x="1682" y="1594"/>
                </a:lnTo>
                <a:lnTo>
                  <a:pt x="1681" y="1592"/>
                </a:lnTo>
                <a:lnTo>
                  <a:pt x="1682" y="1590"/>
                </a:lnTo>
                <a:lnTo>
                  <a:pt x="1684" y="1588"/>
                </a:lnTo>
                <a:lnTo>
                  <a:pt x="1686" y="1587"/>
                </a:lnTo>
                <a:close/>
                <a:moveTo>
                  <a:pt x="292" y="1578"/>
                </a:moveTo>
                <a:lnTo>
                  <a:pt x="294" y="1578"/>
                </a:lnTo>
                <a:lnTo>
                  <a:pt x="295" y="1579"/>
                </a:lnTo>
                <a:lnTo>
                  <a:pt x="297" y="1580"/>
                </a:lnTo>
                <a:lnTo>
                  <a:pt x="298" y="1581"/>
                </a:lnTo>
                <a:lnTo>
                  <a:pt x="299" y="1582"/>
                </a:lnTo>
                <a:lnTo>
                  <a:pt x="300" y="1583"/>
                </a:lnTo>
                <a:lnTo>
                  <a:pt x="301" y="1585"/>
                </a:lnTo>
                <a:lnTo>
                  <a:pt x="301" y="1587"/>
                </a:lnTo>
                <a:lnTo>
                  <a:pt x="301" y="1589"/>
                </a:lnTo>
                <a:lnTo>
                  <a:pt x="300" y="1590"/>
                </a:lnTo>
                <a:lnTo>
                  <a:pt x="299" y="1592"/>
                </a:lnTo>
                <a:lnTo>
                  <a:pt x="298" y="1593"/>
                </a:lnTo>
                <a:lnTo>
                  <a:pt x="297" y="1594"/>
                </a:lnTo>
                <a:lnTo>
                  <a:pt x="295" y="1595"/>
                </a:lnTo>
                <a:lnTo>
                  <a:pt x="294" y="1596"/>
                </a:lnTo>
                <a:lnTo>
                  <a:pt x="292" y="1596"/>
                </a:lnTo>
                <a:lnTo>
                  <a:pt x="290" y="1596"/>
                </a:lnTo>
                <a:lnTo>
                  <a:pt x="288" y="1595"/>
                </a:lnTo>
                <a:lnTo>
                  <a:pt x="287" y="1594"/>
                </a:lnTo>
                <a:lnTo>
                  <a:pt x="286" y="1593"/>
                </a:lnTo>
                <a:lnTo>
                  <a:pt x="285" y="1592"/>
                </a:lnTo>
                <a:lnTo>
                  <a:pt x="284" y="1590"/>
                </a:lnTo>
                <a:lnTo>
                  <a:pt x="283" y="1589"/>
                </a:lnTo>
                <a:lnTo>
                  <a:pt x="283" y="1587"/>
                </a:lnTo>
                <a:lnTo>
                  <a:pt x="283" y="1585"/>
                </a:lnTo>
                <a:lnTo>
                  <a:pt x="284" y="1583"/>
                </a:lnTo>
                <a:lnTo>
                  <a:pt x="285" y="1582"/>
                </a:lnTo>
                <a:lnTo>
                  <a:pt x="286" y="1581"/>
                </a:lnTo>
                <a:lnTo>
                  <a:pt x="287" y="1580"/>
                </a:lnTo>
                <a:lnTo>
                  <a:pt x="288" y="1579"/>
                </a:lnTo>
                <a:lnTo>
                  <a:pt x="290" y="1578"/>
                </a:lnTo>
                <a:lnTo>
                  <a:pt x="292" y="1578"/>
                </a:lnTo>
                <a:close/>
                <a:moveTo>
                  <a:pt x="1632" y="1574"/>
                </a:moveTo>
                <a:lnTo>
                  <a:pt x="1634" y="1574"/>
                </a:lnTo>
                <a:lnTo>
                  <a:pt x="1635" y="1575"/>
                </a:lnTo>
                <a:lnTo>
                  <a:pt x="1637" y="1575"/>
                </a:lnTo>
                <a:lnTo>
                  <a:pt x="1639" y="1576"/>
                </a:lnTo>
                <a:lnTo>
                  <a:pt x="1640" y="1577"/>
                </a:lnTo>
                <a:lnTo>
                  <a:pt x="1641" y="1579"/>
                </a:lnTo>
                <a:lnTo>
                  <a:pt x="1642" y="1580"/>
                </a:lnTo>
                <a:lnTo>
                  <a:pt x="1643" y="1581"/>
                </a:lnTo>
                <a:lnTo>
                  <a:pt x="1644" y="1583"/>
                </a:lnTo>
                <a:lnTo>
                  <a:pt x="1644" y="1585"/>
                </a:lnTo>
                <a:lnTo>
                  <a:pt x="1644" y="1586"/>
                </a:lnTo>
                <a:lnTo>
                  <a:pt x="1644" y="1588"/>
                </a:lnTo>
                <a:lnTo>
                  <a:pt x="1644" y="1590"/>
                </a:lnTo>
                <a:lnTo>
                  <a:pt x="1643" y="1592"/>
                </a:lnTo>
                <a:lnTo>
                  <a:pt x="1642" y="1593"/>
                </a:lnTo>
                <a:lnTo>
                  <a:pt x="1641" y="1594"/>
                </a:lnTo>
                <a:lnTo>
                  <a:pt x="1640" y="1596"/>
                </a:lnTo>
                <a:lnTo>
                  <a:pt x="1639" y="1597"/>
                </a:lnTo>
                <a:lnTo>
                  <a:pt x="1637" y="1597"/>
                </a:lnTo>
                <a:lnTo>
                  <a:pt x="1635" y="1598"/>
                </a:lnTo>
                <a:lnTo>
                  <a:pt x="1634" y="1598"/>
                </a:lnTo>
                <a:lnTo>
                  <a:pt x="1632" y="1599"/>
                </a:lnTo>
                <a:lnTo>
                  <a:pt x="1630" y="1598"/>
                </a:lnTo>
                <a:lnTo>
                  <a:pt x="1628" y="1598"/>
                </a:lnTo>
                <a:lnTo>
                  <a:pt x="1627" y="1597"/>
                </a:lnTo>
                <a:lnTo>
                  <a:pt x="1625" y="1597"/>
                </a:lnTo>
                <a:lnTo>
                  <a:pt x="1624" y="1596"/>
                </a:lnTo>
                <a:lnTo>
                  <a:pt x="1623" y="1594"/>
                </a:lnTo>
                <a:lnTo>
                  <a:pt x="1622" y="1593"/>
                </a:lnTo>
                <a:lnTo>
                  <a:pt x="1621" y="1592"/>
                </a:lnTo>
                <a:lnTo>
                  <a:pt x="1620" y="1590"/>
                </a:lnTo>
                <a:lnTo>
                  <a:pt x="1620" y="1588"/>
                </a:lnTo>
                <a:lnTo>
                  <a:pt x="1620" y="1586"/>
                </a:lnTo>
                <a:lnTo>
                  <a:pt x="1620" y="1585"/>
                </a:lnTo>
                <a:lnTo>
                  <a:pt x="1620" y="1583"/>
                </a:lnTo>
                <a:lnTo>
                  <a:pt x="1621" y="1581"/>
                </a:lnTo>
                <a:lnTo>
                  <a:pt x="1622" y="1580"/>
                </a:lnTo>
                <a:lnTo>
                  <a:pt x="1623" y="1579"/>
                </a:lnTo>
                <a:lnTo>
                  <a:pt x="1624" y="1577"/>
                </a:lnTo>
                <a:lnTo>
                  <a:pt x="1625" y="1576"/>
                </a:lnTo>
                <a:lnTo>
                  <a:pt x="1627" y="1575"/>
                </a:lnTo>
                <a:lnTo>
                  <a:pt x="1628" y="1575"/>
                </a:lnTo>
                <a:lnTo>
                  <a:pt x="1630" y="1574"/>
                </a:lnTo>
                <a:lnTo>
                  <a:pt x="1632" y="1574"/>
                </a:lnTo>
                <a:close/>
                <a:moveTo>
                  <a:pt x="348" y="1571"/>
                </a:moveTo>
                <a:lnTo>
                  <a:pt x="349" y="1571"/>
                </a:lnTo>
                <a:lnTo>
                  <a:pt x="351" y="1571"/>
                </a:lnTo>
                <a:lnTo>
                  <a:pt x="352" y="1572"/>
                </a:lnTo>
                <a:lnTo>
                  <a:pt x="354" y="1573"/>
                </a:lnTo>
                <a:lnTo>
                  <a:pt x="355" y="1574"/>
                </a:lnTo>
                <a:lnTo>
                  <a:pt x="356" y="1576"/>
                </a:lnTo>
                <a:lnTo>
                  <a:pt x="356" y="1578"/>
                </a:lnTo>
                <a:lnTo>
                  <a:pt x="356" y="1579"/>
                </a:lnTo>
                <a:lnTo>
                  <a:pt x="356" y="1581"/>
                </a:lnTo>
                <a:lnTo>
                  <a:pt x="356" y="1583"/>
                </a:lnTo>
                <a:lnTo>
                  <a:pt x="355" y="1584"/>
                </a:lnTo>
                <a:lnTo>
                  <a:pt x="354" y="1585"/>
                </a:lnTo>
                <a:lnTo>
                  <a:pt x="352" y="1586"/>
                </a:lnTo>
                <a:lnTo>
                  <a:pt x="351" y="1587"/>
                </a:lnTo>
                <a:lnTo>
                  <a:pt x="349" y="1588"/>
                </a:lnTo>
                <a:lnTo>
                  <a:pt x="348" y="1588"/>
                </a:lnTo>
                <a:lnTo>
                  <a:pt x="346" y="1588"/>
                </a:lnTo>
                <a:lnTo>
                  <a:pt x="344" y="1587"/>
                </a:lnTo>
                <a:lnTo>
                  <a:pt x="343" y="1586"/>
                </a:lnTo>
                <a:lnTo>
                  <a:pt x="342" y="1585"/>
                </a:lnTo>
                <a:lnTo>
                  <a:pt x="340" y="1584"/>
                </a:lnTo>
                <a:lnTo>
                  <a:pt x="340" y="1583"/>
                </a:lnTo>
                <a:lnTo>
                  <a:pt x="339" y="1581"/>
                </a:lnTo>
                <a:lnTo>
                  <a:pt x="339" y="1579"/>
                </a:lnTo>
                <a:lnTo>
                  <a:pt x="339" y="1578"/>
                </a:lnTo>
                <a:lnTo>
                  <a:pt x="340" y="1576"/>
                </a:lnTo>
                <a:lnTo>
                  <a:pt x="340" y="1574"/>
                </a:lnTo>
                <a:lnTo>
                  <a:pt x="342" y="1573"/>
                </a:lnTo>
                <a:lnTo>
                  <a:pt x="343" y="1572"/>
                </a:lnTo>
                <a:lnTo>
                  <a:pt x="344" y="1571"/>
                </a:lnTo>
                <a:lnTo>
                  <a:pt x="346" y="1571"/>
                </a:lnTo>
                <a:lnTo>
                  <a:pt x="348" y="1571"/>
                </a:lnTo>
                <a:close/>
                <a:moveTo>
                  <a:pt x="195" y="1538"/>
                </a:moveTo>
                <a:lnTo>
                  <a:pt x="196" y="1539"/>
                </a:lnTo>
                <a:lnTo>
                  <a:pt x="196" y="1539"/>
                </a:lnTo>
                <a:lnTo>
                  <a:pt x="196" y="1540"/>
                </a:lnTo>
                <a:lnTo>
                  <a:pt x="195" y="1540"/>
                </a:lnTo>
                <a:lnTo>
                  <a:pt x="194" y="1540"/>
                </a:lnTo>
                <a:lnTo>
                  <a:pt x="194" y="1539"/>
                </a:lnTo>
                <a:lnTo>
                  <a:pt x="194" y="1539"/>
                </a:lnTo>
                <a:lnTo>
                  <a:pt x="195" y="1538"/>
                </a:lnTo>
                <a:close/>
                <a:moveTo>
                  <a:pt x="1729" y="1535"/>
                </a:moveTo>
                <a:lnTo>
                  <a:pt x="1731" y="1535"/>
                </a:lnTo>
                <a:lnTo>
                  <a:pt x="1732" y="1537"/>
                </a:lnTo>
                <a:lnTo>
                  <a:pt x="1733" y="1539"/>
                </a:lnTo>
                <a:lnTo>
                  <a:pt x="1732" y="1541"/>
                </a:lnTo>
                <a:lnTo>
                  <a:pt x="1731" y="1542"/>
                </a:lnTo>
                <a:lnTo>
                  <a:pt x="1729" y="1543"/>
                </a:lnTo>
                <a:lnTo>
                  <a:pt x="1727" y="1542"/>
                </a:lnTo>
                <a:lnTo>
                  <a:pt x="1725" y="1541"/>
                </a:lnTo>
                <a:lnTo>
                  <a:pt x="1725" y="1539"/>
                </a:lnTo>
                <a:lnTo>
                  <a:pt x="1725" y="1537"/>
                </a:lnTo>
                <a:lnTo>
                  <a:pt x="1727" y="1535"/>
                </a:lnTo>
                <a:lnTo>
                  <a:pt x="1729" y="1535"/>
                </a:lnTo>
                <a:close/>
                <a:moveTo>
                  <a:pt x="247" y="1526"/>
                </a:moveTo>
                <a:lnTo>
                  <a:pt x="249" y="1527"/>
                </a:lnTo>
                <a:lnTo>
                  <a:pt x="250" y="1527"/>
                </a:lnTo>
                <a:lnTo>
                  <a:pt x="252" y="1528"/>
                </a:lnTo>
                <a:lnTo>
                  <a:pt x="253" y="1529"/>
                </a:lnTo>
                <a:lnTo>
                  <a:pt x="254" y="1530"/>
                </a:lnTo>
                <a:lnTo>
                  <a:pt x="255" y="1532"/>
                </a:lnTo>
                <a:lnTo>
                  <a:pt x="255" y="1533"/>
                </a:lnTo>
                <a:lnTo>
                  <a:pt x="256" y="1535"/>
                </a:lnTo>
                <a:lnTo>
                  <a:pt x="255" y="1537"/>
                </a:lnTo>
                <a:lnTo>
                  <a:pt x="255" y="1538"/>
                </a:lnTo>
                <a:lnTo>
                  <a:pt x="254" y="1540"/>
                </a:lnTo>
                <a:lnTo>
                  <a:pt x="253" y="1541"/>
                </a:lnTo>
                <a:lnTo>
                  <a:pt x="252" y="1542"/>
                </a:lnTo>
                <a:lnTo>
                  <a:pt x="250" y="1543"/>
                </a:lnTo>
                <a:lnTo>
                  <a:pt x="249" y="1543"/>
                </a:lnTo>
                <a:lnTo>
                  <a:pt x="247" y="1544"/>
                </a:lnTo>
                <a:lnTo>
                  <a:pt x="245" y="1543"/>
                </a:lnTo>
                <a:lnTo>
                  <a:pt x="244" y="1543"/>
                </a:lnTo>
                <a:lnTo>
                  <a:pt x="242" y="1542"/>
                </a:lnTo>
                <a:lnTo>
                  <a:pt x="241" y="1541"/>
                </a:lnTo>
                <a:lnTo>
                  <a:pt x="240" y="1540"/>
                </a:lnTo>
                <a:lnTo>
                  <a:pt x="239" y="1538"/>
                </a:lnTo>
                <a:lnTo>
                  <a:pt x="239" y="1537"/>
                </a:lnTo>
                <a:lnTo>
                  <a:pt x="239" y="1535"/>
                </a:lnTo>
                <a:lnTo>
                  <a:pt x="239" y="1533"/>
                </a:lnTo>
                <a:lnTo>
                  <a:pt x="239" y="1532"/>
                </a:lnTo>
                <a:lnTo>
                  <a:pt x="240" y="1530"/>
                </a:lnTo>
                <a:lnTo>
                  <a:pt x="241" y="1529"/>
                </a:lnTo>
                <a:lnTo>
                  <a:pt x="242" y="1528"/>
                </a:lnTo>
                <a:lnTo>
                  <a:pt x="244" y="1527"/>
                </a:lnTo>
                <a:lnTo>
                  <a:pt x="245" y="1527"/>
                </a:lnTo>
                <a:lnTo>
                  <a:pt x="247" y="1526"/>
                </a:lnTo>
                <a:close/>
                <a:moveTo>
                  <a:pt x="1677" y="1523"/>
                </a:moveTo>
                <a:lnTo>
                  <a:pt x="1678" y="1523"/>
                </a:lnTo>
                <a:lnTo>
                  <a:pt x="1680" y="1524"/>
                </a:lnTo>
                <a:lnTo>
                  <a:pt x="1682" y="1524"/>
                </a:lnTo>
                <a:lnTo>
                  <a:pt x="1683" y="1525"/>
                </a:lnTo>
                <a:lnTo>
                  <a:pt x="1684" y="1526"/>
                </a:lnTo>
                <a:lnTo>
                  <a:pt x="1686" y="1527"/>
                </a:lnTo>
                <a:lnTo>
                  <a:pt x="1687" y="1528"/>
                </a:lnTo>
                <a:lnTo>
                  <a:pt x="1687" y="1530"/>
                </a:lnTo>
                <a:lnTo>
                  <a:pt x="1688" y="1531"/>
                </a:lnTo>
                <a:lnTo>
                  <a:pt x="1688" y="1533"/>
                </a:lnTo>
                <a:lnTo>
                  <a:pt x="1688" y="1535"/>
                </a:lnTo>
                <a:lnTo>
                  <a:pt x="1688" y="1536"/>
                </a:lnTo>
                <a:lnTo>
                  <a:pt x="1688" y="1538"/>
                </a:lnTo>
                <a:lnTo>
                  <a:pt x="1687" y="1540"/>
                </a:lnTo>
                <a:lnTo>
                  <a:pt x="1687" y="1541"/>
                </a:lnTo>
                <a:lnTo>
                  <a:pt x="1686" y="1542"/>
                </a:lnTo>
                <a:lnTo>
                  <a:pt x="1684" y="1544"/>
                </a:lnTo>
                <a:lnTo>
                  <a:pt x="1683" y="1545"/>
                </a:lnTo>
                <a:lnTo>
                  <a:pt x="1682" y="1545"/>
                </a:lnTo>
                <a:lnTo>
                  <a:pt x="1680" y="1546"/>
                </a:lnTo>
                <a:lnTo>
                  <a:pt x="1678" y="1546"/>
                </a:lnTo>
                <a:lnTo>
                  <a:pt x="1677" y="1546"/>
                </a:lnTo>
                <a:lnTo>
                  <a:pt x="1675" y="1546"/>
                </a:lnTo>
                <a:lnTo>
                  <a:pt x="1673" y="1546"/>
                </a:lnTo>
                <a:lnTo>
                  <a:pt x="1672" y="1545"/>
                </a:lnTo>
                <a:lnTo>
                  <a:pt x="1670" y="1545"/>
                </a:lnTo>
                <a:lnTo>
                  <a:pt x="1669" y="1544"/>
                </a:lnTo>
                <a:lnTo>
                  <a:pt x="1668" y="1542"/>
                </a:lnTo>
                <a:lnTo>
                  <a:pt x="1667" y="1541"/>
                </a:lnTo>
                <a:lnTo>
                  <a:pt x="1666" y="1540"/>
                </a:lnTo>
                <a:lnTo>
                  <a:pt x="1666" y="1538"/>
                </a:lnTo>
                <a:lnTo>
                  <a:pt x="1665" y="1536"/>
                </a:lnTo>
                <a:lnTo>
                  <a:pt x="1665" y="1535"/>
                </a:lnTo>
                <a:lnTo>
                  <a:pt x="1665" y="1533"/>
                </a:lnTo>
                <a:lnTo>
                  <a:pt x="1666" y="1531"/>
                </a:lnTo>
                <a:lnTo>
                  <a:pt x="1666" y="1530"/>
                </a:lnTo>
                <a:lnTo>
                  <a:pt x="1667" y="1528"/>
                </a:lnTo>
                <a:lnTo>
                  <a:pt x="1668" y="1527"/>
                </a:lnTo>
                <a:lnTo>
                  <a:pt x="1669" y="1526"/>
                </a:lnTo>
                <a:lnTo>
                  <a:pt x="1670" y="1525"/>
                </a:lnTo>
                <a:lnTo>
                  <a:pt x="1672" y="1524"/>
                </a:lnTo>
                <a:lnTo>
                  <a:pt x="1673" y="1524"/>
                </a:lnTo>
                <a:lnTo>
                  <a:pt x="1675" y="1523"/>
                </a:lnTo>
                <a:lnTo>
                  <a:pt x="1677" y="1523"/>
                </a:lnTo>
                <a:close/>
                <a:moveTo>
                  <a:pt x="301" y="1520"/>
                </a:moveTo>
                <a:lnTo>
                  <a:pt x="303" y="1520"/>
                </a:lnTo>
                <a:lnTo>
                  <a:pt x="305" y="1521"/>
                </a:lnTo>
                <a:lnTo>
                  <a:pt x="306" y="1521"/>
                </a:lnTo>
                <a:lnTo>
                  <a:pt x="308" y="1523"/>
                </a:lnTo>
                <a:lnTo>
                  <a:pt x="309" y="1524"/>
                </a:lnTo>
                <a:lnTo>
                  <a:pt x="310" y="1526"/>
                </a:lnTo>
                <a:lnTo>
                  <a:pt x="310" y="1527"/>
                </a:lnTo>
                <a:lnTo>
                  <a:pt x="311" y="1529"/>
                </a:lnTo>
                <a:lnTo>
                  <a:pt x="310" y="1531"/>
                </a:lnTo>
                <a:lnTo>
                  <a:pt x="310" y="1533"/>
                </a:lnTo>
                <a:lnTo>
                  <a:pt x="309" y="1534"/>
                </a:lnTo>
                <a:lnTo>
                  <a:pt x="308" y="1536"/>
                </a:lnTo>
                <a:lnTo>
                  <a:pt x="306" y="1537"/>
                </a:lnTo>
                <a:lnTo>
                  <a:pt x="305" y="1538"/>
                </a:lnTo>
                <a:lnTo>
                  <a:pt x="303" y="1538"/>
                </a:lnTo>
                <a:lnTo>
                  <a:pt x="301" y="1538"/>
                </a:lnTo>
                <a:lnTo>
                  <a:pt x="299" y="1538"/>
                </a:lnTo>
                <a:lnTo>
                  <a:pt x="298" y="1538"/>
                </a:lnTo>
                <a:lnTo>
                  <a:pt x="296" y="1537"/>
                </a:lnTo>
                <a:lnTo>
                  <a:pt x="295" y="1536"/>
                </a:lnTo>
                <a:lnTo>
                  <a:pt x="293" y="1534"/>
                </a:lnTo>
                <a:lnTo>
                  <a:pt x="293" y="1533"/>
                </a:lnTo>
                <a:lnTo>
                  <a:pt x="292" y="1531"/>
                </a:lnTo>
                <a:lnTo>
                  <a:pt x="292" y="1529"/>
                </a:lnTo>
                <a:lnTo>
                  <a:pt x="292" y="1527"/>
                </a:lnTo>
                <a:lnTo>
                  <a:pt x="293" y="1526"/>
                </a:lnTo>
                <a:lnTo>
                  <a:pt x="293" y="1524"/>
                </a:lnTo>
                <a:lnTo>
                  <a:pt x="295" y="1523"/>
                </a:lnTo>
                <a:lnTo>
                  <a:pt x="296" y="1521"/>
                </a:lnTo>
                <a:lnTo>
                  <a:pt x="298" y="1521"/>
                </a:lnTo>
                <a:lnTo>
                  <a:pt x="299" y="1520"/>
                </a:lnTo>
                <a:lnTo>
                  <a:pt x="301" y="1520"/>
                </a:lnTo>
                <a:close/>
                <a:moveTo>
                  <a:pt x="156" y="1482"/>
                </a:moveTo>
                <a:lnTo>
                  <a:pt x="156" y="1482"/>
                </a:lnTo>
                <a:lnTo>
                  <a:pt x="157" y="1483"/>
                </a:lnTo>
                <a:lnTo>
                  <a:pt x="156" y="1484"/>
                </a:lnTo>
                <a:lnTo>
                  <a:pt x="156" y="1484"/>
                </a:lnTo>
                <a:lnTo>
                  <a:pt x="155" y="1484"/>
                </a:lnTo>
                <a:lnTo>
                  <a:pt x="155" y="1483"/>
                </a:lnTo>
                <a:lnTo>
                  <a:pt x="155" y="1482"/>
                </a:lnTo>
                <a:lnTo>
                  <a:pt x="156" y="1482"/>
                </a:lnTo>
                <a:close/>
                <a:moveTo>
                  <a:pt x="1768" y="1479"/>
                </a:moveTo>
                <a:lnTo>
                  <a:pt x="1770" y="1480"/>
                </a:lnTo>
                <a:lnTo>
                  <a:pt x="1771" y="1483"/>
                </a:lnTo>
                <a:lnTo>
                  <a:pt x="1770" y="1485"/>
                </a:lnTo>
                <a:lnTo>
                  <a:pt x="1768" y="1486"/>
                </a:lnTo>
                <a:lnTo>
                  <a:pt x="1765" y="1485"/>
                </a:lnTo>
                <a:lnTo>
                  <a:pt x="1764" y="1483"/>
                </a:lnTo>
                <a:lnTo>
                  <a:pt x="1765" y="1480"/>
                </a:lnTo>
                <a:lnTo>
                  <a:pt x="1768" y="1479"/>
                </a:lnTo>
                <a:close/>
                <a:moveTo>
                  <a:pt x="206" y="1472"/>
                </a:moveTo>
                <a:lnTo>
                  <a:pt x="208" y="1472"/>
                </a:lnTo>
                <a:lnTo>
                  <a:pt x="210" y="1473"/>
                </a:lnTo>
                <a:lnTo>
                  <a:pt x="211" y="1474"/>
                </a:lnTo>
                <a:lnTo>
                  <a:pt x="213" y="1475"/>
                </a:lnTo>
                <a:lnTo>
                  <a:pt x="214" y="1476"/>
                </a:lnTo>
                <a:lnTo>
                  <a:pt x="214" y="1478"/>
                </a:lnTo>
                <a:lnTo>
                  <a:pt x="214" y="1480"/>
                </a:lnTo>
                <a:lnTo>
                  <a:pt x="214" y="1482"/>
                </a:lnTo>
                <a:lnTo>
                  <a:pt x="214" y="1484"/>
                </a:lnTo>
                <a:lnTo>
                  <a:pt x="213" y="1485"/>
                </a:lnTo>
                <a:lnTo>
                  <a:pt x="211" y="1487"/>
                </a:lnTo>
                <a:lnTo>
                  <a:pt x="210" y="1488"/>
                </a:lnTo>
                <a:lnTo>
                  <a:pt x="208" y="1488"/>
                </a:lnTo>
                <a:lnTo>
                  <a:pt x="206" y="1489"/>
                </a:lnTo>
                <a:lnTo>
                  <a:pt x="204" y="1488"/>
                </a:lnTo>
                <a:lnTo>
                  <a:pt x="203" y="1488"/>
                </a:lnTo>
                <a:lnTo>
                  <a:pt x="201" y="1487"/>
                </a:lnTo>
                <a:lnTo>
                  <a:pt x="200" y="1485"/>
                </a:lnTo>
                <a:lnTo>
                  <a:pt x="199" y="1484"/>
                </a:lnTo>
                <a:lnTo>
                  <a:pt x="198" y="1482"/>
                </a:lnTo>
                <a:lnTo>
                  <a:pt x="198" y="1480"/>
                </a:lnTo>
                <a:lnTo>
                  <a:pt x="198" y="1478"/>
                </a:lnTo>
                <a:lnTo>
                  <a:pt x="199" y="1476"/>
                </a:lnTo>
                <a:lnTo>
                  <a:pt x="200" y="1475"/>
                </a:lnTo>
                <a:lnTo>
                  <a:pt x="201" y="1474"/>
                </a:lnTo>
                <a:lnTo>
                  <a:pt x="203" y="1473"/>
                </a:lnTo>
                <a:lnTo>
                  <a:pt x="204" y="1472"/>
                </a:lnTo>
                <a:lnTo>
                  <a:pt x="206" y="1472"/>
                </a:lnTo>
                <a:close/>
                <a:moveTo>
                  <a:pt x="1717" y="1469"/>
                </a:moveTo>
                <a:lnTo>
                  <a:pt x="1719" y="1469"/>
                </a:lnTo>
                <a:lnTo>
                  <a:pt x="1721" y="1469"/>
                </a:lnTo>
                <a:lnTo>
                  <a:pt x="1722" y="1470"/>
                </a:lnTo>
                <a:lnTo>
                  <a:pt x="1724" y="1471"/>
                </a:lnTo>
                <a:lnTo>
                  <a:pt x="1725" y="1472"/>
                </a:lnTo>
                <a:lnTo>
                  <a:pt x="1726" y="1473"/>
                </a:lnTo>
                <a:lnTo>
                  <a:pt x="1727" y="1475"/>
                </a:lnTo>
                <a:lnTo>
                  <a:pt x="1728" y="1476"/>
                </a:lnTo>
                <a:lnTo>
                  <a:pt x="1728" y="1478"/>
                </a:lnTo>
                <a:lnTo>
                  <a:pt x="1728" y="1480"/>
                </a:lnTo>
                <a:lnTo>
                  <a:pt x="1728" y="1482"/>
                </a:lnTo>
                <a:lnTo>
                  <a:pt x="1728" y="1484"/>
                </a:lnTo>
                <a:lnTo>
                  <a:pt x="1727" y="1485"/>
                </a:lnTo>
                <a:lnTo>
                  <a:pt x="1726" y="1487"/>
                </a:lnTo>
                <a:lnTo>
                  <a:pt x="1725" y="1488"/>
                </a:lnTo>
                <a:lnTo>
                  <a:pt x="1724" y="1489"/>
                </a:lnTo>
                <a:lnTo>
                  <a:pt x="1722" y="1490"/>
                </a:lnTo>
                <a:lnTo>
                  <a:pt x="1721" y="1491"/>
                </a:lnTo>
                <a:lnTo>
                  <a:pt x="1719" y="1491"/>
                </a:lnTo>
                <a:lnTo>
                  <a:pt x="1717" y="1491"/>
                </a:lnTo>
                <a:lnTo>
                  <a:pt x="1715" y="1491"/>
                </a:lnTo>
                <a:lnTo>
                  <a:pt x="1714" y="1491"/>
                </a:lnTo>
                <a:lnTo>
                  <a:pt x="1712" y="1490"/>
                </a:lnTo>
                <a:lnTo>
                  <a:pt x="1711" y="1489"/>
                </a:lnTo>
                <a:lnTo>
                  <a:pt x="1709" y="1488"/>
                </a:lnTo>
                <a:lnTo>
                  <a:pt x="1708" y="1487"/>
                </a:lnTo>
                <a:lnTo>
                  <a:pt x="1707" y="1485"/>
                </a:lnTo>
                <a:lnTo>
                  <a:pt x="1707" y="1484"/>
                </a:lnTo>
                <a:lnTo>
                  <a:pt x="1706" y="1482"/>
                </a:lnTo>
                <a:lnTo>
                  <a:pt x="1706" y="1480"/>
                </a:lnTo>
                <a:lnTo>
                  <a:pt x="1706" y="1478"/>
                </a:lnTo>
                <a:lnTo>
                  <a:pt x="1707" y="1476"/>
                </a:lnTo>
                <a:lnTo>
                  <a:pt x="1707" y="1475"/>
                </a:lnTo>
                <a:lnTo>
                  <a:pt x="1708" y="1473"/>
                </a:lnTo>
                <a:lnTo>
                  <a:pt x="1709" y="1472"/>
                </a:lnTo>
                <a:lnTo>
                  <a:pt x="1711" y="1471"/>
                </a:lnTo>
                <a:lnTo>
                  <a:pt x="1712" y="1470"/>
                </a:lnTo>
                <a:lnTo>
                  <a:pt x="1714" y="1469"/>
                </a:lnTo>
                <a:lnTo>
                  <a:pt x="1715" y="1469"/>
                </a:lnTo>
                <a:lnTo>
                  <a:pt x="1717" y="1469"/>
                </a:lnTo>
                <a:close/>
                <a:moveTo>
                  <a:pt x="259" y="1466"/>
                </a:moveTo>
                <a:lnTo>
                  <a:pt x="261" y="1466"/>
                </a:lnTo>
                <a:lnTo>
                  <a:pt x="262" y="1467"/>
                </a:lnTo>
                <a:lnTo>
                  <a:pt x="264" y="1468"/>
                </a:lnTo>
                <a:lnTo>
                  <a:pt x="265" y="1469"/>
                </a:lnTo>
                <a:lnTo>
                  <a:pt x="266" y="1470"/>
                </a:lnTo>
                <a:lnTo>
                  <a:pt x="267" y="1471"/>
                </a:lnTo>
                <a:lnTo>
                  <a:pt x="268" y="1473"/>
                </a:lnTo>
                <a:lnTo>
                  <a:pt x="268" y="1474"/>
                </a:lnTo>
                <a:lnTo>
                  <a:pt x="269" y="1476"/>
                </a:lnTo>
                <a:lnTo>
                  <a:pt x="268" y="1478"/>
                </a:lnTo>
                <a:lnTo>
                  <a:pt x="268" y="1479"/>
                </a:lnTo>
                <a:lnTo>
                  <a:pt x="267" y="1481"/>
                </a:lnTo>
                <a:lnTo>
                  <a:pt x="266" y="1482"/>
                </a:lnTo>
                <a:lnTo>
                  <a:pt x="265" y="1483"/>
                </a:lnTo>
                <a:lnTo>
                  <a:pt x="264" y="1484"/>
                </a:lnTo>
                <a:lnTo>
                  <a:pt x="262" y="1485"/>
                </a:lnTo>
                <a:lnTo>
                  <a:pt x="261" y="1486"/>
                </a:lnTo>
                <a:lnTo>
                  <a:pt x="259" y="1486"/>
                </a:lnTo>
                <a:lnTo>
                  <a:pt x="257" y="1486"/>
                </a:lnTo>
                <a:lnTo>
                  <a:pt x="255" y="1485"/>
                </a:lnTo>
                <a:lnTo>
                  <a:pt x="254" y="1484"/>
                </a:lnTo>
                <a:lnTo>
                  <a:pt x="252" y="1483"/>
                </a:lnTo>
                <a:lnTo>
                  <a:pt x="251" y="1482"/>
                </a:lnTo>
                <a:lnTo>
                  <a:pt x="250" y="1481"/>
                </a:lnTo>
                <a:lnTo>
                  <a:pt x="250" y="1479"/>
                </a:lnTo>
                <a:lnTo>
                  <a:pt x="249" y="1478"/>
                </a:lnTo>
                <a:lnTo>
                  <a:pt x="249" y="1476"/>
                </a:lnTo>
                <a:lnTo>
                  <a:pt x="249" y="1474"/>
                </a:lnTo>
                <a:lnTo>
                  <a:pt x="250" y="1473"/>
                </a:lnTo>
                <a:lnTo>
                  <a:pt x="250" y="1471"/>
                </a:lnTo>
                <a:lnTo>
                  <a:pt x="251" y="1470"/>
                </a:lnTo>
                <a:lnTo>
                  <a:pt x="252" y="1469"/>
                </a:lnTo>
                <a:lnTo>
                  <a:pt x="254" y="1468"/>
                </a:lnTo>
                <a:lnTo>
                  <a:pt x="255" y="1467"/>
                </a:lnTo>
                <a:lnTo>
                  <a:pt x="257" y="1466"/>
                </a:lnTo>
                <a:lnTo>
                  <a:pt x="259" y="1466"/>
                </a:lnTo>
                <a:close/>
                <a:moveTo>
                  <a:pt x="121" y="1423"/>
                </a:moveTo>
                <a:lnTo>
                  <a:pt x="121" y="1424"/>
                </a:lnTo>
                <a:lnTo>
                  <a:pt x="122" y="1424"/>
                </a:lnTo>
                <a:lnTo>
                  <a:pt x="121" y="1425"/>
                </a:lnTo>
                <a:lnTo>
                  <a:pt x="121" y="1425"/>
                </a:lnTo>
                <a:lnTo>
                  <a:pt x="120" y="1425"/>
                </a:lnTo>
                <a:lnTo>
                  <a:pt x="120" y="1424"/>
                </a:lnTo>
                <a:lnTo>
                  <a:pt x="120" y="1424"/>
                </a:lnTo>
                <a:lnTo>
                  <a:pt x="121" y="1423"/>
                </a:lnTo>
                <a:close/>
                <a:moveTo>
                  <a:pt x="1803" y="1421"/>
                </a:moveTo>
                <a:lnTo>
                  <a:pt x="1805" y="1422"/>
                </a:lnTo>
                <a:lnTo>
                  <a:pt x="1806" y="1424"/>
                </a:lnTo>
                <a:lnTo>
                  <a:pt x="1805" y="1426"/>
                </a:lnTo>
                <a:lnTo>
                  <a:pt x="1803" y="1427"/>
                </a:lnTo>
                <a:lnTo>
                  <a:pt x="1801" y="1426"/>
                </a:lnTo>
                <a:lnTo>
                  <a:pt x="1800" y="1424"/>
                </a:lnTo>
                <a:lnTo>
                  <a:pt x="1801" y="1422"/>
                </a:lnTo>
                <a:lnTo>
                  <a:pt x="1803" y="1421"/>
                </a:lnTo>
                <a:close/>
                <a:moveTo>
                  <a:pt x="170" y="1414"/>
                </a:moveTo>
                <a:lnTo>
                  <a:pt x="172" y="1415"/>
                </a:lnTo>
                <a:lnTo>
                  <a:pt x="173" y="1415"/>
                </a:lnTo>
                <a:lnTo>
                  <a:pt x="175" y="1416"/>
                </a:lnTo>
                <a:lnTo>
                  <a:pt x="176" y="1417"/>
                </a:lnTo>
                <a:lnTo>
                  <a:pt x="177" y="1419"/>
                </a:lnTo>
                <a:lnTo>
                  <a:pt x="177" y="1421"/>
                </a:lnTo>
                <a:lnTo>
                  <a:pt x="178" y="1422"/>
                </a:lnTo>
                <a:lnTo>
                  <a:pt x="177" y="1424"/>
                </a:lnTo>
                <a:lnTo>
                  <a:pt x="177" y="1426"/>
                </a:lnTo>
                <a:lnTo>
                  <a:pt x="176" y="1427"/>
                </a:lnTo>
                <a:lnTo>
                  <a:pt x="175" y="1429"/>
                </a:lnTo>
                <a:lnTo>
                  <a:pt x="173" y="1429"/>
                </a:lnTo>
                <a:lnTo>
                  <a:pt x="172" y="1430"/>
                </a:lnTo>
                <a:lnTo>
                  <a:pt x="170" y="1430"/>
                </a:lnTo>
                <a:lnTo>
                  <a:pt x="168" y="1430"/>
                </a:lnTo>
                <a:lnTo>
                  <a:pt x="166" y="1429"/>
                </a:lnTo>
                <a:lnTo>
                  <a:pt x="165" y="1429"/>
                </a:lnTo>
                <a:lnTo>
                  <a:pt x="164" y="1427"/>
                </a:lnTo>
                <a:lnTo>
                  <a:pt x="163" y="1426"/>
                </a:lnTo>
                <a:lnTo>
                  <a:pt x="162" y="1424"/>
                </a:lnTo>
                <a:lnTo>
                  <a:pt x="162" y="1422"/>
                </a:lnTo>
                <a:lnTo>
                  <a:pt x="162" y="1421"/>
                </a:lnTo>
                <a:lnTo>
                  <a:pt x="163" y="1419"/>
                </a:lnTo>
                <a:lnTo>
                  <a:pt x="164" y="1417"/>
                </a:lnTo>
                <a:lnTo>
                  <a:pt x="165" y="1416"/>
                </a:lnTo>
                <a:lnTo>
                  <a:pt x="166" y="1415"/>
                </a:lnTo>
                <a:lnTo>
                  <a:pt x="168" y="1415"/>
                </a:lnTo>
                <a:lnTo>
                  <a:pt x="170" y="1414"/>
                </a:lnTo>
                <a:close/>
                <a:moveTo>
                  <a:pt x="1754" y="1411"/>
                </a:moveTo>
                <a:lnTo>
                  <a:pt x="1755" y="1411"/>
                </a:lnTo>
                <a:lnTo>
                  <a:pt x="1757" y="1412"/>
                </a:lnTo>
                <a:lnTo>
                  <a:pt x="1759" y="1412"/>
                </a:lnTo>
                <a:lnTo>
                  <a:pt x="1760" y="1413"/>
                </a:lnTo>
                <a:lnTo>
                  <a:pt x="1762" y="1414"/>
                </a:lnTo>
                <a:lnTo>
                  <a:pt x="1763" y="1416"/>
                </a:lnTo>
                <a:lnTo>
                  <a:pt x="1764" y="1417"/>
                </a:lnTo>
                <a:lnTo>
                  <a:pt x="1764" y="1419"/>
                </a:lnTo>
                <a:lnTo>
                  <a:pt x="1765" y="1420"/>
                </a:lnTo>
                <a:lnTo>
                  <a:pt x="1765" y="1422"/>
                </a:lnTo>
                <a:lnTo>
                  <a:pt x="1765" y="1424"/>
                </a:lnTo>
                <a:lnTo>
                  <a:pt x="1764" y="1426"/>
                </a:lnTo>
                <a:lnTo>
                  <a:pt x="1764" y="1427"/>
                </a:lnTo>
                <a:lnTo>
                  <a:pt x="1763" y="1429"/>
                </a:lnTo>
                <a:lnTo>
                  <a:pt x="1762" y="1430"/>
                </a:lnTo>
                <a:lnTo>
                  <a:pt x="1760" y="1431"/>
                </a:lnTo>
                <a:lnTo>
                  <a:pt x="1759" y="1432"/>
                </a:lnTo>
                <a:lnTo>
                  <a:pt x="1757" y="1433"/>
                </a:lnTo>
                <a:lnTo>
                  <a:pt x="1755" y="1433"/>
                </a:lnTo>
                <a:lnTo>
                  <a:pt x="1754" y="1433"/>
                </a:lnTo>
                <a:lnTo>
                  <a:pt x="1752" y="1433"/>
                </a:lnTo>
                <a:lnTo>
                  <a:pt x="1750" y="1433"/>
                </a:lnTo>
                <a:lnTo>
                  <a:pt x="1749" y="1432"/>
                </a:lnTo>
                <a:lnTo>
                  <a:pt x="1747" y="1431"/>
                </a:lnTo>
                <a:lnTo>
                  <a:pt x="1746" y="1430"/>
                </a:lnTo>
                <a:lnTo>
                  <a:pt x="1745" y="1429"/>
                </a:lnTo>
                <a:lnTo>
                  <a:pt x="1744" y="1427"/>
                </a:lnTo>
                <a:lnTo>
                  <a:pt x="1743" y="1426"/>
                </a:lnTo>
                <a:lnTo>
                  <a:pt x="1743" y="1424"/>
                </a:lnTo>
                <a:lnTo>
                  <a:pt x="1742" y="1422"/>
                </a:lnTo>
                <a:lnTo>
                  <a:pt x="1743" y="1420"/>
                </a:lnTo>
                <a:lnTo>
                  <a:pt x="1743" y="1419"/>
                </a:lnTo>
                <a:lnTo>
                  <a:pt x="1744" y="1417"/>
                </a:lnTo>
                <a:lnTo>
                  <a:pt x="1745" y="1416"/>
                </a:lnTo>
                <a:lnTo>
                  <a:pt x="1746" y="1414"/>
                </a:lnTo>
                <a:lnTo>
                  <a:pt x="1747" y="1413"/>
                </a:lnTo>
                <a:lnTo>
                  <a:pt x="1749" y="1412"/>
                </a:lnTo>
                <a:lnTo>
                  <a:pt x="1750" y="1412"/>
                </a:lnTo>
                <a:lnTo>
                  <a:pt x="1752" y="1411"/>
                </a:lnTo>
                <a:lnTo>
                  <a:pt x="1754" y="1411"/>
                </a:lnTo>
                <a:close/>
                <a:moveTo>
                  <a:pt x="221" y="1409"/>
                </a:moveTo>
                <a:lnTo>
                  <a:pt x="223" y="1409"/>
                </a:lnTo>
                <a:lnTo>
                  <a:pt x="224" y="1409"/>
                </a:lnTo>
                <a:lnTo>
                  <a:pt x="226" y="1410"/>
                </a:lnTo>
                <a:lnTo>
                  <a:pt x="227" y="1411"/>
                </a:lnTo>
                <a:lnTo>
                  <a:pt x="228" y="1413"/>
                </a:lnTo>
                <a:lnTo>
                  <a:pt x="229" y="1414"/>
                </a:lnTo>
                <a:lnTo>
                  <a:pt x="230" y="1416"/>
                </a:lnTo>
                <a:lnTo>
                  <a:pt x="231" y="1417"/>
                </a:lnTo>
                <a:lnTo>
                  <a:pt x="231" y="1419"/>
                </a:lnTo>
                <a:lnTo>
                  <a:pt x="231" y="1421"/>
                </a:lnTo>
                <a:lnTo>
                  <a:pt x="230" y="1423"/>
                </a:lnTo>
                <a:lnTo>
                  <a:pt x="229" y="1424"/>
                </a:lnTo>
                <a:lnTo>
                  <a:pt x="228" y="1426"/>
                </a:lnTo>
                <a:lnTo>
                  <a:pt x="227" y="1427"/>
                </a:lnTo>
                <a:lnTo>
                  <a:pt x="226" y="1428"/>
                </a:lnTo>
                <a:lnTo>
                  <a:pt x="224" y="1429"/>
                </a:lnTo>
                <a:lnTo>
                  <a:pt x="223" y="1429"/>
                </a:lnTo>
                <a:lnTo>
                  <a:pt x="221" y="1429"/>
                </a:lnTo>
                <a:lnTo>
                  <a:pt x="219" y="1429"/>
                </a:lnTo>
                <a:lnTo>
                  <a:pt x="217" y="1429"/>
                </a:lnTo>
                <a:lnTo>
                  <a:pt x="216" y="1428"/>
                </a:lnTo>
                <a:lnTo>
                  <a:pt x="214" y="1427"/>
                </a:lnTo>
                <a:lnTo>
                  <a:pt x="213" y="1426"/>
                </a:lnTo>
                <a:lnTo>
                  <a:pt x="212" y="1424"/>
                </a:lnTo>
                <a:lnTo>
                  <a:pt x="211" y="1423"/>
                </a:lnTo>
                <a:lnTo>
                  <a:pt x="211" y="1421"/>
                </a:lnTo>
                <a:lnTo>
                  <a:pt x="211" y="1419"/>
                </a:lnTo>
                <a:lnTo>
                  <a:pt x="211" y="1417"/>
                </a:lnTo>
                <a:lnTo>
                  <a:pt x="211" y="1416"/>
                </a:lnTo>
                <a:lnTo>
                  <a:pt x="212" y="1414"/>
                </a:lnTo>
                <a:lnTo>
                  <a:pt x="213" y="1413"/>
                </a:lnTo>
                <a:lnTo>
                  <a:pt x="214" y="1411"/>
                </a:lnTo>
                <a:lnTo>
                  <a:pt x="216" y="1410"/>
                </a:lnTo>
                <a:lnTo>
                  <a:pt x="217" y="1409"/>
                </a:lnTo>
                <a:lnTo>
                  <a:pt x="219" y="1409"/>
                </a:lnTo>
                <a:lnTo>
                  <a:pt x="221" y="1409"/>
                </a:lnTo>
                <a:close/>
                <a:moveTo>
                  <a:pt x="90" y="1362"/>
                </a:moveTo>
                <a:lnTo>
                  <a:pt x="91" y="1363"/>
                </a:lnTo>
                <a:lnTo>
                  <a:pt x="91" y="1363"/>
                </a:lnTo>
                <a:lnTo>
                  <a:pt x="91" y="1364"/>
                </a:lnTo>
                <a:lnTo>
                  <a:pt x="90" y="1365"/>
                </a:lnTo>
                <a:lnTo>
                  <a:pt x="89" y="1364"/>
                </a:lnTo>
                <a:lnTo>
                  <a:pt x="89" y="1363"/>
                </a:lnTo>
                <a:lnTo>
                  <a:pt x="89" y="1363"/>
                </a:lnTo>
                <a:lnTo>
                  <a:pt x="90" y="1362"/>
                </a:lnTo>
                <a:close/>
                <a:moveTo>
                  <a:pt x="1833" y="1360"/>
                </a:moveTo>
                <a:lnTo>
                  <a:pt x="1835" y="1361"/>
                </a:lnTo>
                <a:lnTo>
                  <a:pt x="1836" y="1363"/>
                </a:lnTo>
                <a:lnTo>
                  <a:pt x="1835" y="1365"/>
                </a:lnTo>
                <a:lnTo>
                  <a:pt x="1833" y="1365"/>
                </a:lnTo>
                <a:lnTo>
                  <a:pt x="1831" y="1365"/>
                </a:lnTo>
                <a:lnTo>
                  <a:pt x="1831" y="1363"/>
                </a:lnTo>
                <a:lnTo>
                  <a:pt x="1831" y="1361"/>
                </a:lnTo>
                <a:lnTo>
                  <a:pt x="1833" y="1360"/>
                </a:lnTo>
                <a:close/>
                <a:moveTo>
                  <a:pt x="138" y="1354"/>
                </a:moveTo>
                <a:lnTo>
                  <a:pt x="140" y="1355"/>
                </a:lnTo>
                <a:lnTo>
                  <a:pt x="141" y="1355"/>
                </a:lnTo>
                <a:lnTo>
                  <a:pt x="143" y="1356"/>
                </a:lnTo>
                <a:lnTo>
                  <a:pt x="144" y="1357"/>
                </a:lnTo>
                <a:lnTo>
                  <a:pt x="145" y="1359"/>
                </a:lnTo>
                <a:lnTo>
                  <a:pt x="145" y="1360"/>
                </a:lnTo>
                <a:lnTo>
                  <a:pt x="145" y="1362"/>
                </a:lnTo>
                <a:lnTo>
                  <a:pt x="145" y="1364"/>
                </a:lnTo>
                <a:lnTo>
                  <a:pt x="145" y="1365"/>
                </a:lnTo>
                <a:lnTo>
                  <a:pt x="144" y="1367"/>
                </a:lnTo>
                <a:lnTo>
                  <a:pt x="143" y="1368"/>
                </a:lnTo>
                <a:lnTo>
                  <a:pt x="141" y="1369"/>
                </a:lnTo>
                <a:lnTo>
                  <a:pt x="140" y="1369"/>
                </a:lnTo>
                <a:lnTo>
                  <a:pt x="138" y="1370"/>
                </a:lnTo>
                <a:lnTo>
                  <a:pt x="136" y="1369"/>
                </a:lnTo>
                <a:lnTo>
                  <a:pt x="134" y="1369"/>
                </a:lnTo>
                <a:lnTo>
                  <a:pt x="133" y="1368"/>
                </a:lnTo>
                <a:lnTo>
                  <a:pt x="132" y="1367"/>
                </a:lnTo>
                <a:lnTo>
                  <a:pt x="131" y="1365"/>
                </a:lnTo>
                <a:lnTo>
                  <a:pt x="130" y="1364"/>
                </a:lnTo>
                <a:lnTo>
                  <a:pt x="130" y="1362"/>
                </a:lnTo>
                <a:lnTo>
                  <a:pt x="130" y="1360"/>
                </a:lnTo>
                <a:lnTo>
                  <a:pt x="131" y="1359"/>
                </a:lnTo>
                <a:lnTo>
                  <a:pt x="132" y="1357"/>
                </a:lnTo>
                <a:lnTo>
                  <a:pt x="133" y="1356"/>
                </a:lnTo>
                <a:lnTo>
                  <a:pt x="134" y="1355"/>
                </a:lnTo>
                <a:lnTo>
                  <a:pt x="136" y="1355"/>
                </a:lnTo>
                <a:lnTo>
                  <a:pt x="138" y="1354"/>
                </a:lnTo>
                <a:close/>
                <a:moveTo>
                  <a:pt x="1786" y="1351"/>
                </a:moveTo>
                <a:lnTo>
                  <a:pt x="1788" y="1351"/>
                </a:lnTo>
                <a:lnTo>
                  <a:pt x="1789" y="1352"/>
                </a:lnTo>
                <a:lnTo>
                  <a:pt x="1791" y="1352"/>
                </a:lnTo>
                <a:lnTo>
                  <a:pt x="1792" y="1353"/>
                </a:lnTo>
                <a:lnTo>
                  <a:pt x="1793" y="1354"/>
                </a:lnTo>
                <a:lnTo>
                  <a:pt x="1795" y="1355"/>
                </a:lnTo>
                <a:lnTo>
                  <a:pt x="1795" y="1357"/>
                </a:lnTo>
                <a:lnTo>
                  <a:pt x="1796" y="1358"/>
                </a:lnTo>
                <a:lnTo>
                  <a:pt x="1796" y="1360"/>
                </a:lnTo>
                <a:lnTo>
                  <a:pt x="1797" y="1362"/>
                </a:lnTo>
                <a:lnTo>
                  <a:pt x="1796" y="1364"/>
                </a:lnTo>
                <a:lnTo>
                  <a:pt x="1796" y="1365"/>
                </a:lnTo>
                <a:lnTo>
                  <a:pt x="1795" y="1367"/>
                </a:lnTo>
                <a:lnTo>
                  <a:pt x="1795" y="1368"/>
                </a:lnTo>
                <a:lnTo>
                  <a:pt x="1793" y="1369"/>
                </a:lnTo>
                <a:lnTo>
                  <a:pt x="1792" y="1370"/>
                </a:lnTo>
                <a:lnTo>
                  <a:pt x="1791" y="1371"/>
                </a:lnTo>
                <a:lnTo>
                  <a:pt x="1789" y="1372"/>
                </a:lnTo>
                <a:lnTo>
                  <a:pt x="1788" y="1372"/>
                </a:lnTo>
                <a:lnTo>
                  <a:pt x="1786" y="1372"/>
                </a:lnTo>
                <a:lnTo>
                  <a:pt x="1784" y="1372"/>
                </a:lnTo>
                <a:lnTo>
                  <a:pt x="1782" y="1372"/>
                </a:lnTo>
                <a:lnTo>
                  <a:pt x="1781" y="1371"/>
                </a:lnTo>
                <a:lnTo>
                  <a:pt x="1780" y="1370"/>
                </a:lnTo>
                <a:lnTo>
                  <a:pt x="1778" y="1369"/>
                </a:lnTo>
                <a:lnTo>
                  <a:pt x="1777" y="1368"/>
                </a:lnTo>
                <a:lnTo>
                  <a:pt x="1776" y="1367"/>
                </a:lnTo>
                <a:lnTo>
                  <a:pt x="1776" y="1365"/>
                </a:lnTo>
                <a:lnTo>
                  <a:pt x="1775" y="1364"/>
                </a:lnTo>
                <a:lnTo>
                  <a:pt x="1775" y="1362"/>
                </a:lnTo>
                <a:lnTo>
                  <a:pt x="1775" y="1360"/>
                </a:lnTo>
                <a:lnTo>
                  <a:pt x="1776" y="1358"/>
                </a:lnTo>
                <a:lnTo>
                  <a:pt x="1776" y="1357"/>
                </a:lnTo>
                <a:lnTo>
                  <a:pt x="1777" y="1355"/>
                </a:lnTo>
                <a:lnTo>
                  <a:pt x="1778" y="1354"/>
                </a:lnTo>
                <a:lnTo>
                  <a:pt x="1780" y="1353"/>
                </a:lnTo>
                <a:lnTo>
                  <a:pt x="1781" y="1352"/>
                </a:lnTo>
                <a:lnTo>
                  <a:pt x="1782" y="1352"/>
                </a:lnTo>
                <a:lnTo>
                  <a:pt x="1784" y="1351"/>
                </a:lnTo>
                <a:lnTo>
                  <a:pt x="1786" y="1351"/>
                </a:lnTo>
                <a:close/>
                <a:moveTo>
                  <a:pt x="187" y="1350"/>
                </a:moveTo>
                <a:lnTo>
                  <a:pt x="189" y="1350"/>
                </a:lnTo>
                <a:lnTo>
                  <a:pt x="191" y="1350"/>
                </a:lnTo>
                <a:lnTo>
                  <a:pt x="193" y="1351"/>
                </a:lnTo>
                <a:lnTo>
                  <a:pt x="194" y="1352"/>
                </a:lnTo>
                <a:lnTo>
                  <a:pt x="195" y="1353"/>
                </a:lnTo>
                <a:lnTo>
                  <a:pt x="196" y="1355"/>
                </a:lnTo>
                <a:lnTo>
                  <a:pt x="197" y="1356"/>
                </a:lnTo>
                <a:lnTo>
                  <a:pt x="198" y="1358"/>
                </a:lnTo>
                <a:lnTo>
                  <a:pt x="198" y="1360"/>
                </a:lnTo>
                <a:lnTo>
                  <a:pt x="198" y="1362"/>
                </a:lnTo>
                <a:lnTo>
                  <a:pt x="197" y="1363"/>
                </a:lnTo>
                <a:lnTo>
                  <a:pt x="196" y="1365"/>
                </a:lnTo>
                <a:lnTo>
                  <a:pt x="195" y="1367"/>
                </a:lnTo>
                <a:lnTo>
                  <a:pt x="194" y="1368"/>
                </a:lnTo>
                <a:lnTo>
                  <a:pt x="193" y="1369"/>
                </a:lnTo>
                <a:lnTo>
                  <a:pt x="191" y="1370"/>
                </a:lnTo>
                <a:lnTo>
                  <a:pt x="189" y="1370"/>
                </a:lnTo>
                <a:lnTo>
                  <a:pt x="187" y="1370"/>
                </a:lnTo>
                <a:lnTo>
                  <a:pt x="186" y="1370"/>
                </a:lnTo>
                <a:lnTo>
                  <a:pt x="184" y="1370"/>
                </a:lnTo>
                <a:lnTo>
                  <a:pt x="182" y="1369"/>
                </a:lnTo>
                <a:lnTo>
                  <a:pt x="181" y="1368"/>
                </a:lnTo>
                <a:lnTo>
                  <a:pt x="180" y="1367"/>
                </a:lnTo>
                <a:lnTo>
                  <a:pt x="179" y="1365"/>
                </a:lnTo>
                <a:lnTo>
                  <a:pt x="178" y="1363"/>
                </a:lnTo>
                <a:lnTo>
                  <a:pt x="177" y="1362"/>
                </a:lnTo>
                <a:lnTo>
                  <a:pt x="177" y="1360"/>
                </a:lnTo>
                <a:lnTo>
                  <a:pt x="177" y="1358"/>
                </a:lnTo>
                <a:lnTo>
                  <a:pt x="178" y="1356"/>
                </a:lnTo>
                <a:lnTo>
                  <a:pt x="179" y="1355"/>
                </a:lnTo>
                <a:lnTo>
                  <a:pt x="180" y="1353"/>
                </a:lnTo>
                <a:lnTo>
                  <a:pt x="181" y="1352"/>
                </a:lnTo>
                <a:lnTo>
                  <a:pt x="182" y="1351"/>
                </a:lnTo>
                <a:lnTo>
                  <a:pt x="184" y="1350"/>
                </a:lnTo>
                <a:lnTo>
                  <a:pt x="186" y="1350"/>
                </a:lnTo>
                <a:lnTo>
                  <a:pt x="187" y="1350"/>
                </a:lnTo>
                <a:close/>
                <a:moveTo>
                  <a:pt x="64" y="1299"/>
                </a:moveTo>
                <a:lnTo>
                  <a:pt x="65" y="1299"/>
                </a:lnTo>
                <a:lnTo>
                  <a:pt x="66" y="1300"/>
                </a:lnTo>
                <a:lnTo>
                  <a:pt x="65" y="1302"/>
                </a:lnTo>
                <a:lnTo>
                  <a:pt x="64" y="1302"/>
                </a:lnTo>
                <a:lnTo>
                  <a:pt x="63" y="1302"/>
                </a:lnTo>
                <a:lnTo>
                  <a:pt x="62" y="1300"/>
                </a:lnTo>
                <a:lnTo>
                  <a:pt x="63" y="1299"/>
                </a:lnTo>
                <a:lnTo>
                  <a:pt x="64" y="1299"/>
                </a:lnTo>
                <a:close/>
                <a:moveTo>
                  <a:pt x="1860" y="1297"/>
                </a:moveTo>
                <a:lnTo>
                  <a:pt x="1861" y="1298"/>
                </a:lnTo>
                <a:lnTo>
                  <a:pt x="1862" y="1300"/>
                </a:lnTo>
                <a:lnTo>
                  <a:pt x="1861" y="1302"/>
                </a:lnTo>
                <a:lnTo>
                  <a:pt x="1860" y="1303"/>
                </a:lnTo>
                <a:lnTo>
                  <a:pt x="1858" y="1302"/>
                </a:lnTo>
                <a:lnTo>
                  <a:pt x="1857" y="1300"/>
                </a:lnTo>
                <a:lnTo>
                  <a:pt x="1858" y="1298"/>
                </a:lnTo>
                <a:lnTo>
                  <a:pt x="1860" y="1297"/>
                </a:lnTo>
                <a:close/>
                <a:moveTo>
                  <a:pt x="111" y="1292"/>
                </a:moveTo>
                <a:lnTo>
                  <a:pt x="112" y="1292"/>
                </a:lnTo>
                <a:lnTo>
                  <a:pt x="114" y="1293"/>
                </a:lnTo>
                <a:lnTo>
                  <a:pt x="115" y="1294"/>
                </a:lnTo>
                <a:lnTo>
                  <a:pt x="116" y="1295"/>
                </a:lnTo>
                <a:lnTo>
                  <a:pt x="117" y="1296"/>
                </a:lnTo>
                <a:lnTo>
                  <a:pt x="118" y="1298"/>
                </a:lnTo>
                <a:lnTo>
                  <a:pt x="118" y="1300"/>
                </a:lnTo>
                <a:lnTo>
                  <a:pt x="118" y="1301"/>
                </a:lnTo>
                <a:lnTo>
                  <a:pt x="117" y="1303"/>
                </a:lnTo>
                <a:lnTo>
                  <a:pt x="116" y="1304"/>
                </a:lnTo>
                <a:lnTo>
                  <a:pt x="115" y="1306"/>
                </a:lnTo>
                <a:lnTo>
                  <a:pt x="114" y="1306"/>
                </a:lnTo>
                <a:lnTo>
                  <a:pt x="112" y="1307"/>
                </a:lnTo>
                <a:lnTo>
                  <a:pt x="111" y="1307"/>
                </a:lnTo>
                <a:lnTo>
                  <a:pt x="109" y="1307"/>
                </a:lnTo>
                <a:lnTo>
                  <a:pt x="107" y="1306"/>
                </a:lnTo>
                <a:lnTo>
                  <a:pt x="106" y="1306"/>
                </a:lnTo>
                <a:lnTo>
                  <a:pt x="105" y="1304"/>
                </a:lnTo>
                <a:lnTo>
                  <a:pt x="104" y="1303"/>
                </a:lnTo>
                <a:lnTo>
                  <a:pt x="103" y="1301"/>
                </a:lnTo>
                <a:lnTo>
                  <a:pt x="103" y="1300"/>
                </a:lnTo>
                <a:lnTo>
                  <a:pt x="103" y="1298"/>
                </a:lnTo>
                <a:lnTo>
                  <a:pt x="104" y="1296"/>
                </a:lnTo>
                <a:lnTo>
                  <a:pt x="105" y="1295"/>
                </a:lnTo>
                <a:lnTo>
                  <a:pt x="106" y="1294"/>
                </a:lnTo>
                <a:lnTo>
                  <a:pt x="107" y="1293"/>
                </a:lnTo>
                <a:lnTo>
                  <a:pt x="109" y="1292"/>
                </a:lnTo>
                <a:lnTo>
                  <a:pt x="111" y="1292"/>
                </a:lnTo>
                <a:close/>
                <a:moveTo>
                  <a:pt x="1813" y="1289"/>
                </a:moveTo>
                <a:lnTo>
                  <a:pt x="1815" y="1289"/>
                </a:lnTo>
                <a:lnTo>
                  <a:pt x="1816" y="1289"/>
                </a:lnTo>
                <a:lnTo>
                  <a:pt x="1818" y="1290"/>
                </a:lnTo>
                <a:lnTo>
                  <a:pt x="1819" y="1291"/>
                </a:lnTo>
                <a:lnTo>
                  <a:pt x="1821" y="1292"/>
                </a:lnTo>
                <a:lnTo>
                  <a:pt x="1822" y="1294"/>
                </a:lnTo>
                <a:lnTo>
                  <a:pt x="1823" y="1295"/>
                </a:lnTo>
                <a:lnTo>
                  <a:pt x="1823" y="1297"/>
                </a:lnTo>
                <a:lnTo>
                  <a:pt x="1823" y="1299"/>
                </a:lnTo>
                <a:lnTo>
                  <a:pt x="1823" y="1301"/>
                </a:lnTo>
                <a:lnTo>
                  <a:pt x="1823" y="1303"/>
                </a:lnTo>
                <a:lnTo>
                  <a:pt x="1822" y="1304"/>
                </a:lnTo>
                <a:lnTo>
                  <a:pt x="1821" y="1306"/>
                </a:lnTo>
                <a:lnTo>
                  <a:pt x="1819" y="1307"/>
                </a:lnTo>
                <a:lnTo>
                  <a:pt x="1818" y="1308"/>
                </a:lnTo>
                <a:lnTo>
                  <a:pt x="1816" y="1309"/>
                </a:lnTo>
                <a:lnTo>
                  <a:pt x="1815" y="1309"/>
                </a:lnTo>
                <a:lnTo>
                  <a:pt x="1813" y="1310"/>
                </a:lnTo>
                <a:lnTo>
                  <a:pt x="1811" y="1309"/>
                </a:lnTo>
                <a:lnTo>
                  <a:pt x="1809" y="1309"/>
                </a:lnTo>
                <a:lnTo>
                  <a:pt x="1808" y="1308"/>
                </a:lnTo>
                <a:lnTo>
                  <a:pt x="1806" y="1307"/>
                </a:lnTo>
                <a:lnTo>
                  <a:pt x="1805" y="1306"/>
                </a:lnTo>
                <a:lnTo>
                  <a:pt x="1804" y="1304"/>
                </a:lnTo>
                <a:lnTo>
                  <a:pt x="1803" y="1303"/>
                </a:lnTo>
                <a:lnTo>
                  <a:pt x="1803" y="1301"/>
                </a:lnTo>
                <a:lnTo>
                  <a:pt x="1803" y="1299"/>
                </a:lnTo>
                <a:lnTo>
                  <a:pt x="1803" y="1297"/>
                </a:lnTo>
                <a:lnTo>
                  <a:pt x="1803" y="1295"/>
                </a:lnTo>
                <a:lnTo>
                  <a:pt x="1804" y="1294"/>
                </a:lnTo>
                <a:lnTo>
                  <a:pt x="1805" y="1292"/>
                </a:lnTo>
                <a:lnTo>
                  <a:pt x="1806" y="1291"/>
                </a:lnTo>
                <a:lnTo>
                  <a:pt x="1808" y="1290"/>
                </a:lnTo>
                <a:lnTo>
                  <a:pt x="1809" y="1289"/>
                </a:lnTo>
                <a:lnTo>
                  <a:pt x="1811" y="1289"/>
                </a:lnTo>
                <a:lnTo>
                  <a:pt x="1813" y="1289"/>
                </a:lnTo>
                <a:close/>
                <a:moveTo>
                  <a:pt x="159" y="1288"/>
                </a:moveTo>
                <a:lnTo>
                  <a:pt x="161" y="1288"/>
                </a:lnTo>
                <a:lnTo>
                  <a:pt x="162" y="1288"/>
                </a:lnTo>
                <a:lnTo>
                  <a:pt x="164" y="1289"/>
                </a:lnTo>
                <a:lnTo>
                  <a:pt x="166" y="1290"/>
                </a:lnTo>
                <a:lnTo>
                  <a:pt x="167" y="1291"/>
                </a:lnTo>
                <a:lnTo>
                  <a:pt x="168" y="1293"/>
                </a:lnTo>
                <a:lnTo>
                  <a:pt x="169" y="1294"/>
                </a:lnTo>
                <a:lnTo>
                  <a:pt x="169" y="1296"/>
                </a:lnTo>
                <a:lnTo>
                  <a:pt x="169" y="1298"/>
                </a:lnTo>
                <a:lnTo>
                  <a:pt x="169" y="1300"/>
                </a:lnTo>
                <a:lnTo>
                  <a:pt x="169" y="1301"/>
                </a:lnTo>
                <a:lnTo>
                  <a:pt x="168" y="1303"/>
                </a:lnTo>
                <a:lnTo>
                  <a:pt x="167" y="1305"/>
                </a:lnTo>
                <a:lnTo>
                  <a:pt x="166" y="1306"/>
                </a:lnTo>
                <a:lnTo>
                  <a:pt x="164" y="1307"/>
                </a:lnTo>
                <a:lnTo>
                  <a:pt x="162" y="1308"/>
                </a:lnTo>
                <a:lnTo>
                  <a:pt x="161" y="1308"/>
                </a:lnTo>
                <a:lnTo>
                  <a:pt x="159" y="1308"/>
                </a:lnTo>
                <a:lnTo>
                  <a:pt x="157" y="1308"/>
                </a:lnTo>
                <a:lnTo>
                  <a:pt x="155" y="1308"/>
                </a:lnTo>
                <a:lnTo>
                  <a:pt x="153" y="1307"/>
                </a:lnTo>
                <a:lnTo>
                  <a:pt x="152" y="1306"/>
                </a:lnTo>
                <a:lnTo>
                  <a:pt x="151" y="1305"/>
                </a:lnTo>
                <a:lnTo>
                  <a:pt x="150" y="1303"/>
                </a:lnTo>
                <a:lnTo>
                  <a:pt x="149" y="1301"/>
                </a:lnTo>
                <a:lnTo>
                  <a:pt x="148" y="1300"/>
                </a:lnTo>
                <a:lnTo>
                  <a:pt x="148" y="1298"/>
                </a:lnTo>
                <a:lnTo>
                  <a:pt x="148" y="1296"/>
                </a:lnTo>
                <a:lnTo>
                  <a:pt x="149" y="1294"/>
                </a:lnTo>
                <a:lnTo>
                  <a:pt x="150" y="1293"/>
                </a:lnTo>
                <a:lnTo>
                  <a:pt x="151" y="1291"/>
                </a:lnTo>
                <a:lnTo>
                  <a:pt x="152" y="1290"/>
                </a:lnTo>
                <a:lnTo>
                  <a:pt x="153" y="1289"/>
                </a:lnTo>
                <a:lnTo>
                  <a:pt x="155" y="1288"/>
                </a:lnTo>
                <a:lnTo>
                  <a:pt x="157" y="1288"/>
                </a:lnTo>
                <a:lnTo>
                  <a:pt x="159" y="1288"/>
                </a:lnTo>
                <a:close/>
                <a:moveTo>
                  <a:pt x="42" y="1234"/>
                </a:moveTo>
                <a:lnTo>
                  <a:pt x="44" y="1234"/>
                </a:lnTo>
                <a:lnTo>
                  <a:pt x="44" y="1236"/>
                </a:lnTo>
                <a:lnTo>
                  <a:pt x="44" y="1237"/>
                </a:lnTo>
                <a:lnTo>
                  <a:pt x="42" y="1238"/>
                </a:lnTo>
                <a:lnTo>
                  <a:pt x="41" y="1237"/>
                </a:lnTo>
                <a:lnTo>
                  <a:pt x="40" y="1236"/>
                </a:lnTo>
                <a:lnTo>
                  <a:pt x="41" y="1234"/>
                </a:lnTo>
                <a:lnTo>
                  <a:pt x="42" y="1234"/>
                </a:lnTo>
                <a:close/>
                <a:moveTo>
                  <a:pt x="1881" y="1232"/>
                </a:moveTo>
                <a:lnTo>
                  <a:pt x="1883" y="1233"/>
                </a:lnTo>
                <a:lnTo>
                  <a:pt x="1884" y="1235"/>
                </a:lnTo>
                <a:lnTo>
                  <a:pt x="1883" y="1237"/>
                </a:lnTo>
                <a:lnTo>
                  <a:pt x="1881" y="1238"/>
                </a:lnTo>
                <a:lnTo>
                  <a:pt x="1879" y="1237"/>
                </a:lnTo>
                <a:lnTo>
                  <a:pt x="1879" y="1235"/>
                </a:lnTo>
                <a:lnTo>
                  <a:pt x="1879" y="1233"/>
                </a:lnTo>
                <a:lnTo>
                  <a:pt x="1881" y="1232"/>
                </a:lnTo>
                <a:close/>
                <a:moveTo>
                  <a:pt x="88" y="1228"/>
                </a:moveTo>
                <a:lnTo>
                  <a:pt x="90" y="1228"/>
                </a:lnTo>
                <a:lnTo>
                  <a:pt x="91" y="1229"/>
                </a:lnTo>
                <a:lnTo>
                  <a:pt x="93" y="1230"/>
                </a:lnTo>
                <a:lnTo>
                  <a:pt x="94" y="1231"/>
                </a:lnTo>
                <a:lnTo>
                  <a:pt x="95" y="1233"/>
                </a:lnTo>
                <a:lnTo>
                  <a:pt x="95" y="1235"/>
                </a:lnTo>
                <a:lnTo>
                  <a:pt x="95" y="1237"/>
                </a:lnTo>
                <a:lnTo>
                  <a:pt x="94" y="1239"/>
                </a:lnTo>
                <a:lnTo>
                  <a:pt x="93" y="1240"/>
                </a:lnTo>
                <a:lnTo>
                  <a:pt x="91" y="1241"/>
                </a:lnTo>
                <a:lnTo>
                  <a:pt x="90" y="1242"/>
                </a:lnTo>
                <a:lnTo>
                  <a:pt x="88" y="1242"/>
                </a:lnTo>
                <a:lnTo>
                  <a:pt x="86" y="1242"/>
                </a:lnTo>
                <a:lnTo>
                  <a:pt x="84" y="1241"/>
                </a:lnTo>
                <a:lnTo>
                  <a:pt x="82" y="1240"/>
                </a:lnTo>
                <a:lnTo>
                  <a:pt x="81" y="1239"/>
                </a:lnTo>
                <a:lnTo>
                  <a:pt x="80" y="1237"/>
                </a:lnTo>
                <a:lnTo>
                  <a:pt x="80" y="1235"/>
                </a:lnTo>
                <a:lnTo>
                  <a:pt x="80" y="1233"/>
                </a:lnTo>
                <a:lnTo>
                  <a:pt x="81" y="1231"/>
                </a:lnTo>
                <a:lnTo>
                  <a:pt x="82" y="1230"/>
                </a:lnTo>
                <a:lnTo>
                  <a:pt x="84" y="1229"/>
                </a:lnTo>
                <a:lnTo>
                  <a:pt x="86" y="1228"/>
                </a:lnTo>
                <a:lnTo>
                  <a:pt x="88" y="1228"/>
                </a:lnTo>
                <a:close/>
                <a:moveTo>
                  <a:pt x="1836" y="1225"/>
                </a:moveTo>
                <a:lnTo>
                  <a:pt x="1837" y="1225"/>
                </a:lnTo>
                <a:lnTo>
                  <a:pt x="1839" y="1225"/>
                </a:lnTo>
                <a:lnTo>
                  <a:pt x="1841" y="1226"/>
                </a:lnTo>
                <a:lnTo>
                  <a:pt x="1842" y="1227"/>
                </a:lnTo>
                <a:lnTo>
                  <a:pt x="1843" y="1228"/>
                </a:lnTo>
                <a:lnTo>
                  <a:pt x="1844" y="1230"/>
                </a:lnTo>
                <a:lnTo>
                  <a:pt x="1845" y="1231"/>
                </a:lnTo>
                <a:lnTo>
                  <a:pt x="1845" y="1233"/>
                </a:lnTo>
                <a:lnTo>
                  <a:pt x="1846" y="1235"/>
                </a:lnTo>
                <a:lnTo>
                  <a:pt x="1845" y="1237"/>
                </a:lnTo>
                <a:lnTo>
                  <a:pt x="1845" y="1238"/>
                </a:lnTo>
                <a:lnTo>
                  <a:pt x="1844" y="1240"/>
                </a:lnTo>
                <a:lnTo>
                  <a:pt x="1843" y="1241"/>
                </a:lnTo>
                <a:lnTo>
                  <a:pt x="1842" y="1242"/>
                </a:lnTo>
                <a:lnTo>
                  <a:pt x="1841" y="1243"/>
                </a:lnTo>
                <a:lnTo>
                  <a:pt x="1839" y="1244"/>
                </a:lnTo>
                <a:lnTo>
                  <a:pt x="1837" y="1245"/>
                </a:lnTo>
                <a:lnTo>
                  <a:pt x="1836" y="1245"/>
                </a:lnTo>
                <a:lnTo>
                  <a:pt x="1834" y="1245"/>
                </a:lnTo>
                <a:lnTo>
                  <a:pt x="1832" y="1244"/>
                </a:lnTo>
                <a:lnTo>
                  <a:pt x="1831" y="1243"/>
                </a:lnTo>
                <a:lnTo>
                  <a:pt x="1829" y="1242"/>
                </a:lnTo>
                <a:lnTo>
                  <a:pt x="1828" y="1241"/>
                </a:lnTo>
                <a:lnTo>
                  <a:pt x="1827" y="1240"/>
                </a:lnTo>
                <a:lnTo>
                  <a:pt x="1827" y="1238"/>
                </a:lnTo>
                <a:lnTo>
                  <a:pt x="1826" y="1237"/>
                </a:lnTo>
                <a:lnTo>
                  <a:pt x="1826" y="1235"/>
                </a:lnTo>
                <a:lnTo>
                  <a:pt x="1826" y="1233"/>
                </a:lnTo>
                <a:lnTo>
                  <a:pt x="1827" y="1231"/>
                </a:lnTo>
                <a:lnTo>
                  <a:pt x="1827" y="1230"/>
                </a:lnTo>
                <a:lnTo>
                  <a:pt x="1828" y="1228"/>
                </a:lnTo>
                <a:lnTo>
                  <a:pt x="1829" y="1227"/>
                </a:lnTo>
                <a:lnTo>
                  <a:pt x="1831" y="1226"/>
                </a:lnTo>
                <a:lnTo>
                  <a:pt x="1832" y="1225"/>
                </a:lnTo>
                <a:lnTo>
                  <a:pt x="1834" y="1225"/>
                </a:lnTo>
                <a:lnTo>
                  <a:pt x="1836" y="1225"/>
                </a:lnTo>
                <a:close/>
                <a:moveTo>
                  <a:pt x="135" y="1225"/>
                </a:moveTo>
                <a:lnTo>
                  <a:pt x="137" y="1225"/>
                </a:lnTo>
                <a:lnTo>
                  <a:pt x="139" y="1225"/>
                </a:lnTo>
                <a:lnTo>
                  <a:pt x="140" y="1226"/>
                </a:lnTo>
                <a:lnTo>
                  <a:pt x="142" y="1227"/>
                </a:lnTo>
                <a:lnTo>
                  <a:pt x="143" y="1229"/>
                </a:lnTo>
                <a:lnTo>
                  <a:pt x="144" y="1230"/>
                </a:lnTo>
                <a:lnTo>
                  <a:pt x="144" y="1232"/>
                </a:lnTo>
                <a:lnTo>
                  <a:pt x="145" y="1234"/>
                </a:lnTo>
                <a:lnTo>
                  <a:pt x="144" y="1236"/>
                </a:lnTo>
                <a:lnTo>
                  <a:pt x="144" y="1238"/>
                </a:lnTo>
                <a:lnTo>
                  <a:pt x="143" y="1239"/>
                </a:lnTo>
                <a:lnTo>
                  <a:pt x="142" y="1241"/>
                </a:lnTo>
                <a:lnTo>
                  <a:pt x="140" y="1242"/>
                </a:lnTo>
                <a:lnTo>
                  <a:pt x="139" y="1243"/>
                </a:lnTo>
                <a:lnTo>
                  <a:pt x="137" y="1243"/>
                </a:lnTo>
                <a:lnTo>
                  <a:pt x="135" y="1243"/>
                </a:lnTo>
                <a:lnTo>
                  <a:pt x="133" y="1243"/>
                </a:lnTo>
                <a:lnTo>
                  <a:pt x="132" y="1243"/>
                </a:lnTo>
                <a:lnTo>
                  <a:pt x="130" y="1242"/>
                </a:lnTo>
                <a:lnTo>
                  <a:pt x="129" y="1241"/>
                </a:lnTo>
                <a:lnTo>
                  <a:pt x="127" y="1239"/>
                </a:lnTo>
                <a:lnTo>
                  <a:pt x="127" y="1238"/>
                </a:lnTo>
                <a:lnTo>
                  <a:pt x="126" y="1236"/>
                </a:lnTo>
                <a:lnTo>
                  <a:pt x="126" y="1234"/>
                </a:lnTo>
                <a:lnTo>
                  <a:pt x="126" y="1232"/>
                </a:lnTo>
                <a:lnTo>
                  <a:pt x="127" y="1230"/>
                </a:lnTo>
                <a:lnTo>
                  <a:pt x="127" y="1229"/>
                </a:lnTo>
                <a:lnTo>
                  <a:pt x="129" y="1227"/>
                </a:lnTo>
                <a:lnTo>
                  <a:pt x="130" y="1226"/>
                </a:lnTo>
                <a:lnTo>
                  <a:pt x="132" y="1225"/>
                </a:lnTo>
                <a:lnTo>
                  <a:pt x="133" y="1225"/>
                </a:lnTo>
                <a:lnTo>
                  <a:pt x="135" y="1225"/>
                </a:lnTo>
                <a:close/>
                <a:moveTo>
                  <a:pt x="25" y="1167"/>
                </a:moveTo>
                <a:lnTo>
                  <a:pt x="27" y="1168"/>
                </a:lnTo>
                <a:lnTo>
                  <a:pt x="28" y="1169"/>
                </a:lnTo>
                <a:lnTo>
                  <a:pt x="27" y="1171"/>
                </a:lnTo>
                <a:lnTo>
                  <a:pt x="25" y="1172"/>
                </a:lnTo>
                <a:lnTo>
                  <a:pt x="24" y="1171"/>
                </a:lnTo>
                <a:lnTo>
                  <a:pt x="23" y="1169"/>
                </a:lnTo>
                <a:lnTo>
                  <a:pt x="24" y="1168"/>
                </a:lnTo>
                <a:lnTo>
                  <a:pt x="25" y="1167"/>
                </a:lnTo>
                <a:close/>
                <a:moveTo>
                  <a:pt x="1898" y="1166"/>
                </a:moveTo>
                <a:lnTo>
                  <a:pt x="1900" y="1167"/>
                </a:lnTo>
                <a:lnTo>
                  <a:pt x="1901" y="1169"/>
                </a:lnTo>
                <a:lnTo>
                  <a:pt x="1900" y="1170"/>
                </a:lnTo>
                <a:lnTo>
                  <a:pt x="1898" y="1171"/>
                </a:lnTo>
                <a:lnTo>
                  <a:pt x="1897" y="1170"/>
                </a:lnTo>
                <a:lnTo>
                  <a:pt x="1896" y="1169"/>
                </a:lnTo>
                <a:lnTo>
                  <a:pt x="1897" y="1167"/>
                </a:lnTo>
                <a:lnTo>
                  <a:pt x="1898" y="1166"/>
                </a:lnTo>
                <a:close/>
                <a:moveTo>
                  <a:pt x="117" y="1162"/>
                </a:moveTo>
                <a:lnTo>
                  <a:pt x="118" y="1162"/>
                </a:lnTo>
                <a:lnTo>
                  <a:pt x="120" y="1163"/>
                </a:lnTo>
                <a:lnTo>
                  <a:pt x="122" y="1164"/>
                </a:lnTo>
                <a:lnTo>
                  <a:pt x="123" y="1165"/>
                </a:lnTo>
                <a:lnTo>
                  <a:pt x="123" y="1167"/>
                </a:lnTo>
                <a:lnTo>
                  <a:pt x="124" y="1169"/>
                </a:lnTo>
                <a:lnTo>
                  <a:pt x="123" y="1170"/>
                </a:lnTo>
                <a:lnTo>
                  <a:pt x="123" y="1172"/>
                </a:lnTo>
                <a:lnTo>
                  <a:pt x="122" y="1173"/>
                </a:lnTo>
                <a:lnTo>
                  <a:pt x="120" y="1174"/>
                </a:lnTo>
                <a:lnTo>
                  <a:pt x="118" y="1175"/>
                </a:lnTo>
                <a:lnTo>
                  <a:pt x="117" y="1175"/>
                </a:lnTo>
                <a:lnTo>
                  <a:pt x="115" y="1175"/>
                </a:lnTo>
                <a:lnTo>
                  <a:pt x="113" y="1174"/>
                </a:lnTo>
                <a:lnTo>
                  <a:pt x="112" y="1173"/>
                </a:lnTo>
                <a:lnTo>
                  <a:pt x="111" y="1172"/>
                </a:lnTo>
                <a:lnTo>
                  <a:pt x="110" y="1170"/>
                </a:lnTo>
                <a:lnTo>
                  <a:pt x="110" y="1169"/>
                </a:lnTo>
                <a:lnTo>
                  <a:pt x="110" y="1167"/>
                </a:lnTo>
                <a:lnTo>
                  <a:pt x="111" y="1165"/>
                </a:lnTo>
                <a:lnTo>
                  <a:pt x="112" y="1164"/>
                </a:lnTo>
                <a:lnTo>
                  <a:pt x="113" y="1163"/>
                </a:lnTo>
                <a:lnTo>
                  <a:pt x="115" y="1162"/>
                </a:lnTo>
                <a:lnTo>
                  <a:pt x="117" y="1162"/>
                </a:lnTo>
                <a:close/>
                <a:moveTo>
                  <a:pt x="70" y="1162"/>
                </a:moveTo>
                <a:lnTo>
                  <a:pt x="72" y="1162"/>
                </a:lnTo>
                <a:lnTo>
                  <a:pt x="74" y="1163"/>
                </a:lnTo>
                <a:lnTo>
                  <a:pt x="75" y="1164"/>
                </a:lnTo>
                <a:lnTo>
                  <a:pt x="76" y="1165"/>
                </a:lnTo>
                <a:lnTo>
                  <a:pt x="77" y="1167"/>
                </a:lnTo>
                <a:lnTo>
                  <a:pt x="77" y="1169"/>
                </a:lnTo>
                <a:lnTo>
                  <a:pt x="77" y="1171"/>
                </a:lnTo>
                <a:lnTo>
                  <a:pt x="76" y="1173"/>
                </a:lnTo>
                <a:lnTo>
                  <a:pt x="75" y="1175"/>
                </a:lnTo>
                <a:lnTo>
                  <a:pt x="74" y="1176"/>
                </a:lnTo>
                <a:lnTo>
                  <a:pt x="72" y="1176"/>
                </a:lnTo>
                <a:lnTo>
                  <a:pt x="70" y="1177"/>
                </a:lnTo>
                <a:lnTo>
                  <a:pt x="68" y="1176"/>
                </a:lnTo>
                <a:lnTo>
                  <a:pt x="67" y="1176"/>
                </a:lnTo>
                <a:lnTo>
                  <a:pt x="65" y="1175"/>
                </a:lnTo>
                <a:lnTo>
                  <a:pt x="64" y="1173"/>
                </a:lnTo>
                <a:lnTo>
                  <a:pt x="63" y="1171"/>
                </a:lnTo>
                <a:lnTo>
                  <a:pt x="63" y="1169"/>
                </a:lnTo>
                <a:lnTo>
                  <a:pt x="63" y="1167"/>
                </a:lnTo>
                <a:lnTo>
                  <a:pt x="64" y="1165"/>
                </a:lnTo>
                <a:lnTo>
                  <a:pt x="65" y="1164"/>
                </a:lnTo>
                <a:lnTo>
                  <a:pt x="67" y="1163"/>
                </a:lnTo>
                <a:lnTo>
                  <a:pt x="68" y="1162"/>
                </a:lnTo>
                <a:lnTo>
                  <a:pt x="70" y="1162"/>
                </a:lnTo>
                <a:close/>
                <a:moveTo>
                  <a:pt x="1853" y="1159"/>
                </a:moveTo>
                <a:lnTo>
                  <a:pt x="1855" y="1159"/>
                </a:lnTo>
                <a:lnTo>
                  <a:pt x="1857" y="1160"/>
                </a:lnTo>
                <a:lnTo>
                  <a:pt x="1858" y="1160"/>
                </a:lnTo>
                <a:lnTo>
                  <a:pt x="1859" y="1161"/>
                </a:lnTo>
                <a:lnTo>
                  <a:pt x="1861" y="1162"/>
                </a:lnTo>
                <a:lnTo>
                  <a:pt x="1862" y="1164"/>
                </a:lnTo>
                <a:lnTo>
                  <a:pt x="1862" y="1165"/>
                </a:lnTo>
                <a:lnTo>
                  <a:pt x="1863" y="1167"/>
                </a:lnTo>
                <a:lnTo>
                  <a:pt x="1863" y="1169"/>
                </a:lnTo>
                <a:lnTo>
                  <a:pt x="1863" y="1170"/>
                </a:lnTo>
                <a:lnTo>
                  <a:pt x="1862" y="1172"/>
                </a:lnTo>
                <a:lnTo>
                  <a:pt x="1862" y="1173"/>
                </a:lnTo>
                <a:lnTo>
                  <a:pt x="1861" y="1175"/>
                </a:lnTo>
                <a:lnTo>
                  <a:pt x="1859" y="1176"/>
                </a:lnTo>
                <a:lnTo>
                  <a:pt x="1858" y="1177"/>
                </a:lnTo>
                <a:lnTo>
                  <a:pt x="1857" y="1177"/>
                </a:lnTo>
                <a:lnTo>
                  <a:pt x="1855" y="1178"/>
                </a:lnTo>
                <a:lnTo>
                  <a:pt x="1853" y="1178"/>
                </a:lnTo>
                <a:lnTo>
                  <a:pt x="1852" y="1178"/>
                </a:lnTo>
                <a:lnTo>
                  <a:pt x="1850" y="1177"/>
                </a:lnTo>
                <a:lnTo>
                  <a:pt x="1849" y="1177"/>
                </a:lnTo>
                <a:lnTo>
                  <a:pt x="1847" y="1176"/>
                </a:lnTo>
                <a:lnTo>
                  <a:pt x="1846" y="1175"/>
                </a:lnTo>
                <a:lnTo>
                  <a:pt x="1845" y="1173"/>
                </a:lnTo>
                <a:lnTo>
                  <a:pt x="1845" y="1172"/>
                </a:lnTo>
                <a:lnTo>
                  <a:pt x="1844" y="1170"/>
                </a:lnTo>
                <a:lnTo>
                  <a:pt x="1844" y="1169"/>
                </a:lnTo>
                <a:lnTo>
                  <a:pt x="1844" y="1167"/>
                </a:lnTo>
                <a:lnTo>
                  <a:pt x="1845" y="1165"/>
                </a:lnTo>
                <a:lnTo>
                  <a:pt x="1845" y="1164"/>
                </a:lnTo>
                <a:lnTo>
                  <a:pt x="1846" y="1162"/>
                </a:lnTo>
                <a:lnTo>
                  <a:pt x="1847" y="1161"/>
                </a:lnTo>
                <a:lnTo>
                  <a:pt x="1849" y="1160"/>
                </a:lnTo>
                <a:lnTo>
                  <a:pt x="1850" y="1160"/>
                </a:lnTo>
                <a:lnTo>
                  <a:pt x="1852" y="1159"/>
                </a:lnTo>
                <a:lnTo>
                  <a:pt x="1853" y="1159"/>
                </a:lnTo>
                <a:close/>
                <a:moveTo>
                  <a:pt x="1910" y="1099"/>
                </a:moveTo>
                <a:lnTo>
                  <a:pt x="1912" y="1100"/>
                </a:lnTo>
                <a:lnTo>
                  <a:pt x="1913" y="1102"/>
                </a:lnTo>
                <a:lnTo>
                  <a:pt x="1912" y="1103"/>
                </a:lnTo>
                <a:lnTo>
                  <a:pt x="1910" y="1104"/>
                </a:lnTo>
                <a:lnTo>
                  <a:pt x="1909" y="1103"/>
                </a:lnTo>
                <a:lnTo>
                  <a:pt x="1908" y="1102"/>
                </a:lnTo>
                <a:lnTo>
                  <a:pt x="1909" y="1100"/>
                </a:lnTo>
                <a:lnTo>
                  <a:pt x="1910" y="1099"/>
                </a:lnTo>
                <a:close/>
                <a:moveTo>
                  <a:pt x="14" y="1099"/>
                </a:moveTo>
                <a:lnTo>
                  <a:pt x="16" y="1100"/>
                </a:lnTo>
                <a:lnTo>
                  <a:pt x="16" y="1102"/>
                </a:lnTo>
                <a:lnTo>
                  <a:pt x="16" y="1104"/>
                </a:lnTo>
                <a:lnTo>
                  <a:pt x="14" y="1105"/>
                </a:lnTo>
                <a:lnTo>
                  <a:pt x="12" y="1104"/>
                </a:lnTo>
                <a:lnTo>
                  <a:pt x="11" y="1102"/>
                </a:lnTo>
                <a:lnTo>
                  <a:pt x="12" y="1100"/>
                </a:lnTo>
                <a:lnTo>
                  <a:pt x="14" y="1099"/>
                </a:lnTo>
                <a:close/>
                <a:moveTo>
                  <a:pt x="103" y="1098"/>
                </a:moveTo>
                <a:lnTo>
                  <a:pt x="106" y="1099"/>
                </a:lnTo>
                <a:lnTo>
                  <a:pt x="107" y="1102"/>
                </a:lnTo>
                <a:lnTo>
                  <a:pt x="106" y="1104"/>
                </a:lnTo>
                <a:lnTo>
                  <a:pt x="103" y="1105"/>
                </a:lnTo>
                <a:lnTo>
                  <a:pt x="101" y="1104"/>
                </a:lnTo>
                <a:lnTo>
                  <a:pt x="100" y="1102"/>
                </a:lnTo>
                <a:lnTo>
                  <a:pt x="101" y="1099"/>
                </a:lnTo>
                <a:lnTo>
                  <a:pt x="103" y="1098"/>
                </a:lnTo>
                <a:close/>
                <a:moveTo>
                  <a:pt x="57" y="1095"/>
                </a:moveTo>
                <a:lnTo>
                  <a:pt x="59" y="1095"/>
                </a:lnTo>
                <a:lnTo>
                  <a:pt x="61" y="1096"/>
                </a:lnTo>
                <a:lnTo>
                  <a:pt x="63" y="1097"/>
                </a:lnTo>
                <a:lnTo>
                  <a:pt x="64" y="1098"/>
                </a:lnTo>
                <a:lnTo>
                  <a:pt x="65" y="1100"/>
                </a:lnTo>
                <a:lnTo>
                  <a:pt x="65" y="1102"/>
                </a:lnTo>
                <a:lnTo>
                  <a:pt x="65" y="1104"/>
                </a:lnTo>
                <a:lnTo>
                  <a:pt x="64" y="1106"/>
                </a:lnTo>
                <a:lnTo>
                  <a:pt x="63" y="1107"/>
                </a:lnTo>
                <a:lnTo>
                  <a:pt x="61" y="1109"/>
                </a:lnTo>
                <a:lnTo>
                  <a:pt x="59" y="1109"/>
                </a:lnTo>
                <a:lnTo>
                  <a:pt x="57" y="1110"/>
                </a:lnTo>
                <a:lnTo>
                  <a:pt x="55" y="1109"/>
                </a:lnTo>
                <a:lnTo>
                  <a:pt x="54" y="1109"/>
                </a:lnTo>
                <a:lnTo>
                  <a:pt x="52" y="1107"/>
                </a:lnTo>
                <a:lnTo>
                  <a:pt x="51" y="1106"/>
                </a:lnTo>
                <a:lnTo>
                  <a:pt x="50" y="1104"/>
                </a:lnTo>
                <a:lnTo>
                  <a:pt x="50" y="1102"/>
                </a:lnTo>
                <a:lnTo>
                  <a:pt x="50" y="1100"/>
                </a:lnTo>
                <a:lnTo>
                  <a:pt x="51" y="1098"/>
                </a:lnTo>
                <a:lnTo>
                  <a:pt x="52" y="1097"/>
                </a:lnTo>
                <a:lnTo>
                  <a:pt x="54" y="1096"/>
                </a:lnTo>
                <a:lnTo>
                  <a:pt x="55" y="1095"/>
                </a:lnTo>
                <a:lnTo>
                  <a:pt x="57" y="1095"/>
                </a:lnTo>
                <a:close/>
                <a:moveTo>
                  <a:pt x="1866" y="1092"/>
                </a:moveTo>
                <a:lnTo>
                  <a:pt x="1868" y="1092"/>
                </a:lnTo>
                <a:lnTo>
                  <a:pt x="1870" y="1093"/>
                </a:lnTo>
                <a:lnTo>
                  <a:pt x="1871" y="1094"/>
                </a:lnTo>
                <a:lnTo>
                  <a:pt x="1873" y="1095"/>
                </a:lnTo>
                <a:lnTo>
                  <a:pt x="1874" y="1096"/>
                </a:lnTo>
                <a:lnTo>
                  <a:pt x="1875" y="1098"/>
                </a:lnTo>
                <a:lnTo>
                  <a:pt x="1875" y="1100"/>
                </a:lnTo>
                <a:lnTo>
                  <a:pt x="1875" y="1102"/>
                </a:lnTo>
                <a:lnTo>
                  <a:pt x="1875" y="1104"/>
                </a:lnTo>
                <a:lnTo>
                  <a:pt x="1875" y="1105"/>
                </a:lnTo>
                <a:lnTo>
                  <a:pt x="1874" y="1107"/>
                </a:lnTo>
                <a:lnTo>
                  <a:pt x="1873" y="1108"/>
                </a:lnTo>
                <a:lnTo>
                  <a:pt x="1871" y="1109"/>
                </a:lnTo>
                <a:lnTo>
                  <a:pt x="1870" y="1110"/>
                </a:lnTo>
                <a:lnTo>
                  <a:pt x="1868" y="1111"/>
                </a:lnTo>
                <a:lnTo>
                  <a:pt x="1866" y="1111"/>
                </a:lnTo>
                <a:lnTo>
                  <a:pt x="1864" y="1111"/>
                </a:lnTo>
                <a:lnTo>
                  <a:pt x="1863" y="1110"/>
                </a:lnTo>
                <a:lnTo>
                  <a:pt x="1861" y="1109"/>
                </a:lnTo>
                <a:lnTo>
                  <a:pt x="1860" y="1108"/>
                </a:lnTo>
                <a:lnTo>
                  <a:pt x="1859" y="1107"/>
                </a:lnTo>
                <a:lnTo>
                  <a:pt x="1858" y="1105"/>
                </a:lnTo>
                <a:lnTo>
                  <a:pt x="1857" y="1104"/>
                </a:lnTo>
                <a:lnTo>
                  <a:pt x="1857" y="1102"/>
                </a:lnTo>
                <a:lnTo>
                  <a:pt x="1857" y="1100"/>
                </a:lnTo>
                <a:lnTo>
                  <a:pt x="1858" y="1098"/>
                </a:lnTo>
                <a:lnTo>
                  <a:pt x="1859" y="1096"/>
                </a:lnTo>
                <a:lnTo>
                  <a:pt x="1860" y="1095"/>
                </a:lnTo>
                <a:lnTo>
                  <a:pt x="1861" y="1094"/>
                </a:lnTo>
                <a:lnTo>
                  <a:pt x="1863" y="1093"/>
                </a:lnTo>
                <a:lnTo>
                  <a:pt x="1864" y="1092"/>
                </a:lnTo>
                <a:lnTo>
                  <a:pt x="1866" y="1092"/>
                </a:lnTo>
                <a:close/>
                <a:moveTo>
                  <a:pt x="95" y="1033"/>
                </a:moveTo>
                <a:lnTo>
                  <a:pt x="96" y="1033"/>
                </a:lnTo>
                <a:lnTo>
                  <a:pt x="97" y="1034"/>
                </a:lnTo>
                <a:lnTo>
                  <a:pt x="96" y="1035"/>
                </a:lnTo>
                <a:lnTo>
                  <a:pt x="95" y="1035"/>
                </a:lnTo>
                <a:lnTo>
                  <a:pt x="94" y="1035"/>
                </a:lnTo>
                <a:lnTo>
                  <a:pt x="94" y="1034"/>
                </a:lnTo>
                <a:lnTo>
                  <a:pt x="94" y="1033"/>
                </a:lnTo>
                <a:lnTo>
                  <a:pt x="95" y="1033"/>
                </a:lnTo>
                <a:close/>
                <a:moveTo>
                  <a:pt x="1917" y="1031"/>
                </a:moveTo>
                <a:lnTo>
                  <a:pt x="1919" y="1032"/>
                </a:lnTo>
                <a:lnTo>
                  <a:pt x="1920" y="1034"/>
                </a:lnTo>
                <a:lnTo>
                  <a:pt x="1919" y="1035"/>
                </a:lnTo>
                <a:lnTo>
                  <a:pt x="1917" y="1036"/>
                </a:lnTo>
                <a:lnTo>
                  <a:pt x="1916" y="1035"/>
                </a:lnTo>
                <a:lnTo>
                  <a:pt x="1915" y="1034"/>
                </a:lnTo>
                <a:lnTo>
                  <a:pt x="1916" y="1032"/>
                </a:lnTo>
                <a:lnTo>
                  <a:pt x="1917" y="1031"/>
                </a:lnTo>
                <a:close/>
                <a:moveTo>
                  <a:pt x="6" y="1031"/>
                </a:moveTo>
                <a:lnTo>
                  <a:pt x="8" y="1032"/>
                </a:lnTo>
                <a:lnTo>
                  <a:pt x="9" y="1034"/>
                </a:lnTo>
                <a:lnTo>
                  <a:pt x="8" y="1036"/>
                </a:lnTo>
                <a:lnTo>
                  <a:pt x="6" y="1037"/>
                </a:lnTo>
                <a:lnTo>
                  <a:pt x="4" y="1036"/>
                </a:lnTo>
                <a:lnTo>
                  <a:pt x="3" y="1034"/>
                </a:lnTo>
                <a:lnTo>
                  <a:pt x="4" y="1032"/>
                </a:lnTo>
                <a:lnTo>
                  <a:pt x="6" y="1031"/>
                </a:lnTo>
                <a:close/>
                <a:moveTo>
                  <a:pt x="50" y="1027"/>
                </a:moveTo>
                <a:lnTo>
                  <a:pt x="52" y="1027"/>
                </a:lnTo>
                <a:lnTo>
                  <a:pt x="53" y="1028"/>
                </a:lnTo>
                <a:lnTo>
                  <a:pt x="55" y="1029"/>
                </a:lnTo>
                <a:lnTo>
                  <a:pt x="56" y="1031"/>
                </a:lnTo>
                <a:lnTo>
                  <a:pt x="57" y="1032"/>
                </a:lnTo>
                <a:lnTo>
                  <a:pt x="57" y="1034"/>
                </a:lnTo>
                <a:lnTo>
                  <a:pt x="57" y="1036"/>
                </a:lnTo>
                <a:lnTo>
                  <a:pt x="56" y="1038"/>
                </a:lnTo>
                <a:lnTo>
                  <a:pt x="55" y="1039"/>
                </a:lnTo>
                <a:lnTo>
                  <a:pt x="53" y="1041"/>
                </a:lnTo>
                <a:lnTo>
                  <a:pt x="52" y="1041"/>
                </a:lnTo>
                <a:lnTo>
                  <a:pt x="50" y="1041"/>
                </a:lnTo>
                <a:lnTo>
                  <a:pt x="48" y="1041"/>
                </a:lnTo>
                <a:lnTo>
                  <a:pt x="46" y="1041"/>
                </a:lnTo>
                <a:lnTo>
                  <a:pt x="45" y="1039"/>
                </a:lnTo>
                <a:lnTo>
                  <a:pt x="43" y="1038"/>
                </a:lnTo>
                <a:lnTo>
                  <a:pt x="43" y="1036"/>
                </a:lnTo>
                <a:lnTo>
                  <a:pt x="42" y="1034"/>
                </a:lnTo>
                <a:lnTo>
                  <a:pt x="43" y="1032"/>
                </a:lnTo>
                <a:lnTo>
                  <a:pt x="43" y="1031"/>
                </a:lnTo>
                <a:lnTo>
                  <a:pt x="45" y="1029"/>
                </a:lnTo>
                <a:lnTo>
                  <a:pt x="46" y="1028"/>
                </a:lnTo>
                <a:lnTo>
                  <a:pt x="48" y="1027"/>
                </a:lnTo>
                <a:lnTo>
                  <a:pt x="50" y="1027"/>
                </a:lnTo>
                <a:close/>
                <a:moveTo>
                  <a:pt x="1874" y="1025"/>
                </a:moveTo>
                <a:lnTo>
                  <a:pt x="1875" y="1025"/>
                </a:lnTo>
                <a:lnTo>
                  <a:pt x="1877" y="1025"/>
                </a:lnTo>
                <a:lnTo>
                  <a:pt x="1879" y="1026"/>
                </a:lnTo>
                <a:lnTo>
                  <a:pt x="1880" y="1027"/>
                </a:lnTo>
                <a:lnTo>
                  <a:pt x="1881" y="1029"/>
                </a:lnTo>
                <a:lnTo>
                  <a:pt x="1882" y="1030"/>
                </a:lnTo>
                <a:lnTo>
                  <a:pt x="1882" y="1032"/>
                </a:lnTo>
                <a:lnTo>
                  <a:pt x="1882" y="1034"/>
                </a:lnTo>
                <a:lnTo>
                  <a:pt x="1882" y="1035"/>
                </a:lnTo>
                <a:lnTo>
                  <a:pt x="1882" y="1037"/>
                </a:lnTo>
                <a:lnTo>
                  <a:pt x="1881" y="1039"/>
                </a:lnTo>
                <a:lnTo>
                  <a:pt x="1880" y="1040"/>
                </a:lnTo>
                <a:lnTo>
                  <a:pt x="1879" y="1041"/>
                </a:lnTo>
                <a:lnTo>
                  <a:pt x="1877" y="1042"/>
                </a:lnTo>
                <a:lnTo>
                  <a:pt x="1875" y="1042"/>
                </a:lnTo>
                <a:lnTo>
                  <a:pt x="1874" y="1042"/>
                </a:lnTo>
                <a:lnTo>
                  <a:pt x="1872" y="1042"/>
                </a:lnTo>
                <a:lnTo>
                  <a:pt x="1870" y="1042"/>
                </a:lnTo>
                <a:lnTo>
                  <a:pt x="1869" y="1041"/>
                </a:lnTo>
                <a:lnTo>
                  <a:pt x="1868" y="1040"/>
                </a:lnTo>
                <a:lnTo>
                  <a:pt x="1867" y="1039"/>
                </a:lnTo>
                <a:lnTo>
                  <a:pt x="1866" y="1037"/>
                </a:lnTo>
                <a:lnTo>
                  <a:pt x="1865" y="1035"/>
                </a:lnTo>
                <a:lnTo>
                  <a:pt x="1865" y="1034"/>
                </a:lnTo>
                <a:lnTo>
                  <a:pt x="1865" y="1032"/>
                </a:lnTo>
                <a:lnTo>
                  <a:pt x="1866" y="1030"/>
                </a:lnTo>
                <a:lnTo>
                  <a:pt x="1867" y="1029"/>
                </a:lnTo>
                <a:lnTo>
                  <a:pt x="1868" y="1027"/>
                </a:lnTo>
                <a:lnTo>
                  <a:pt x="1869" y="1026"/>
                </a:lnTo>
                <a:lnTo>
                  <a:pt x="1870" y="1025"/>
                </a:lnTo>
                <a:lnTo>
                  <a:pt x="1872" y="1025"/>
                </a:lnTo>
                <a:lnTo>
                  <a:pt x="1874" y="1025"/>
                </a:lnTo>
                <a:close/>
                <a:moveTo>
                  <a:pt x="93" y="965"/>
                </a:moveTo>
                <a:lnTo>
                  <a:pt x="93" y="965"/>
                </a:lnTo>
                <a:lnTo>
                  <a:pt x="93" y="966"/>
                </a:lnTo>
                <a:lnTo>
                  <a:pt x="93" y="966"/>
                </a:lnTo>
                <a:lnTo>
                  <a:pt x="93" y="966"/>
                </a:lnTo>
                <a:lnTo>
                  <a:pt x="92" y="966"/>
                </a:lnTo>
                <a:lnTo>
                  <a:pt x="92" y="966"/>
                </a:lnTo>
                <a:lnTo>
                  <a:pt x="92" y="965"/>
                </a:lnTo>
                <a:lnTo>
                  <a:pt x="93" y="965"/>
                </a:lnTo>
                <a:close/>
                <a:moveTo>
                  <a:pt x="1920" y="963"/>
                </a:moveTo>
                <a:lnTo>
                  <a:pt x="1921" y="963"/>
                </a:lnTo>
                <a:lnTo>
                  <a:pt x="1922" y="965"/>
                </a:lnTo>
                <a:lnTo>
                  <a:pt x="1921" y="967"/>
                </a:lnTo>
                <a:lnTo>
                  <a:pt x="1920" y="968"/>
                </a:lnTo>
                <a:lnTo>
                  <a:pt x="1918" y="967"/>
                </a:lnTo>
                <a:lnTo>
                  <a:pt x="1917" y="965"/>
                </a:lnTo>
                <a:lnTo>
                  <a:pt x="1918" y="963"/>
                </a:lnTo>
                <a:lnTo>
                  <a:pt x="1920" y="963"/>
                </a:lnTo>
                <a:close/>
                <a:moveTo>
                  <a:pt x="3" y="962"/>
                </a:moveTo>
                <a:lnTo>
                  <a:pt x="6" y="963"/>
                </a:lnTo>
                <a:lnTo>
                  <a:pt x="7" y="966"/>
                </a:lnTo>
                <a:lnTo>
                  <a:pt x="6" y="969"/>
                </a:lnTo>
                <a:lnTo>
                  <a:pt x="3" y="970"/>
                </a:lnTo>
                <a:lnTo>
                  <a:pt x="1" y="969"/>
                </a:lnTo>
                <a:lnTo>
                  <a:pt x="0" y="966"/>
                </a:lnTo>
                <a:lnTo>
                  <a:pt x="1" y="963"/>
                </a:lnTo>
                <a:lnTo>
                  <a:pt x="3" y="962"/>
                </a:lnTo>
                <a:close/>
                <a:moveTo>
                  <a:pt x="47" y="959"/>
                </a:moveTo>
                <a:lnTo>
                  <a:pt x="49" y="959"/>
                </a:lnTo>
                <a:lnTo>
                  <a:pt x="51" y="959"/>
                </a:lnTo>
                <a:lnTo>
                  <a:pt x="52" y="961"/>
                </a:lnTo>
                <a:lnTo>
                  <a:pt x="54" y="962"/>
                </a:lnTo>
                <a:lnTo>
                  <a:pt x="54" y="964"/>
                </a:lnTo>
                <a:lnTo>
                  <a:pt x="55" y="966"/>
                </a:lnTo>
                <a:lnTo>
                  <a:pt x="54" y="968"/>
                </a:lnTo>
                <a:lnTo>
                  <a:pt x="54" y="969"/>
                </a:lnTo>
                <a:lnTo>
                  <a:pt x="52" y="971"/>
                </a:lnTo>
                <a:lnTo>
                  <a:pt x="51" y="972"/>
                </a:lnTo>
                <a:lnTo>
                  <a:pt x="49" y="973"/>
                </a:lnTo>
                <a:lnTo>
                  <a:pt x="47" y="973"/>
                </a:lnTo>
                <a:lnTo>
                  <a:pt x="45" y="973"/>
                </a:lnTo>
                <a:lnTo>
                  <a:pt x="44" y="972"/>
                </a:lnTo>
                <a:lnTo>
                  <a:pt x="42" y="971"/>
                </a:lnTo>
                <a:lnTo>
                  <a:pt x="41" y="969"/>
                </a:lnTo>
                <a:lnTo>
                  <a:pt x="40" y="968"/>
                </a:lnTo>
                <a:lnTo>
                  <a:pt x="40" y="966"/>
                </a:lnTo>
                <a:lnTo>
                  <a:pt x="40" y="964"/>
                </a:lnTo>
                <a:lnTo>
                  <a:pt x="41" y="962"/>
                </a:lnTo>
                <a:lnTo>
                  <a:pt x="42" y="961"/>
                </a:lnTo>
                <a:lnTo>
                  <a:pt x="44" y="959"/>
                </a:lnTo>
                <a:lnTo>
                  <a:pt x="45" y="959"/>
                </a:lnTo>
                <a:lnTo>
                  <a:pt x="47" y="959"/>
                </a:lnTo>
                <a:close/>
                <a:moveTo>
                  <a:pt x="1876" y="957"/>
                </a:moveTo>
                <a:lnTo>
                  <a:pt x="1878" y="957"/>
                </a:lnTo>
                <a:lnTo>
                  <a:pt x="1879" y="957"/>
                </a:lnTo>
                <a:lnTo>
                  <a:pt x="1881" y="958"/>
                </a:lnTo>
                <a:lnTo>
                  <a:pt x="1882" y="959"/>
                </a:lnTo>
                <a:lnTo>
                  <a:pt x="1883" y="960"/>
                </a:lnTo>
                <a:lnTo>
                  <a:pt x="1884" y="962"/>
                </a:lnTo>
                <a:lnTo>
                  <a:pt x="1885" y="964"/>
                </a:lnTo>
                <a:lnTo>
                  <a:pt x="1885" y="965"/>
                </a:lnTo>
                <a:lnTo>
                  <a:pt x="1885" y="967"/>
                </a:lnTo>
                <a:lnTo>
                  <a:pt x="1884" y="969"/>
                </a:lnTo>
                <a:lnTo>
                  <a:pt x="1883" y="970"/>
                </a:lnTo>
                <a:lnTo>
                  <a:pt x="1882" y="971"/>
                </a:lnTo>
                <a:lnTo>
                  <a:pt x="1881" y="972"/>
                </a:lnTo>
                <a:lnTo>
                  <a:pt x="1879" y="973"/>
                </a:lnTo>
                <a:lnTo>
                  <a:pt x="1878" y="974"/>
                </a:lnTo>
                <a:lnTo>
                  <a:pt x="1876" y="974"/>
                </a:lnTo>
                <a:lnTo>
                  <a:pt x="1874" y="974"/>
                </a:lnTo>
                <a:lnTo>
                  <a:pt x="1873" y="973"/>
                </a:lnTo>
                <a:lnTo>
                  <a:pt x="1871" y="972"/>
                </a:lnTo>
                <a:lnTo>
                  <a:pt x="1870" y="971"/>
                </a:lnTo>
                <a:lnTo>
                  <a:pt x="1869" y="970"/>
                </a:lnTo>
                <a:lnTo>
                  <a:pt x="1868" y="969"/>
                </a:lnTo>
                <a:lnTo>
                  <a:pt x="1868" y="967"/>
                </a:lnTo>
                <a:lnTo>
                  <a:pt x="1867" y="965"/>
                </a:lnTo>
                <a:lnTo>
                  <a:pt x="1868" y="964"/>
                </a:lnTo>
                <a:lnTo>
                  <a:pt x="1868" y="962"/>
                </a:lnTo>
                <a:lnTo>
                  <a:pt x="1869" y="960"/>
                </a:lnTo>
                <a:lnTo>
                  <a:pt x="1870" y="959"/>
                </a:lnTo>
                <a:lnTo>
                  <a:pt x="1871" y="958"/>
                </a:lnTo>
                <a:lnTo>
                  <a:pt x="1873" y="957"/>
                </a:lnTo>
                <a:lnTo>
                  <a:pt x="1874" y="957"/>
                </a:lnTo>
                <a:lnTo>
                  <a:pt x="1876" y="957"/>
                </a:lnTo>
                <a:close/>
                <a:moveTo>
                  <a:pt x="95" y="897"/>
                </a:moveTo>
                <a:lnTo>
                  <a:pt x="96" y="897"/>
                </a:lnTo>
                <a:lnTo>
                  <a:pt x="96" y="898"/>
                </a:lnTo>
                <a:lnTo>
                  <a:pt x="96" y="898"/>
                </a:lnTo>
                <a:lnTo>
                  <a:pt x="95" y="898"/>
                </a:lnTo>
                <a:lnTo>
                  <a:pt x="95" y="898"/>
                </a:lnTo>
                <a:lnTo>
                  <a:pt x="95" y="898"/>
                </a:lnTo>
                <a:lnTo>
                  <a:pt x="95" y="897"/>
                </a:lnTo>
                <a:lnTo>
                  <a:pt x="95" y="897"/>
                </a:lnTo>
                <a:close/>
                <a:moveTo>
                  <a:pt x="1917" y="894"/>
                </a:moveTo>
                <a:lnTo>
                  <a:pt x="1920" y="895"/>
                </a:lnTo>
                <a:lnTo>
                  <a:pt x="1921" y="897"/>
                </a:lnTo>
                <a:lnTo>
                  <a:pt x="1920" y="899"/>
                </a:lnTo>
                <a:lnTo>
                  <a:pt x="1917" y="900"/>
                </a:lnTo>
                <a:lnTo>
                  <a:pt x="1915" y="899"/>
                </a:lnTo>
                <a:lnTo>
                  <a:pt x="1914" y="897"/>
                </a:lnTo>
                <a:lnTo>
                  <a:pt x="1915" y="895"/>
                </a:lnTo>
                <a:lnTo>
                  <a:pt x="1917" y="894"/>
                </a:lnTo>
                <a:close/>
                <a:moveTo>
                  <a:pt x="6" y="894"/>
                </a:moveTo>
                <a:lnTo>
                  <a:pt x="8" y="894"/>
                </a:lnTo>
                <a:lnTo>
                  <a:pt x="9" y="896"/>
                </a:lnTo>
                <a:lnTo>
                  <a:pt x="10" y="898"/>
                </a:lnTo>
                <a:lnTo>
                  <a:pt x="9" y="900"/>
                </a:lnTo>
                <a:lnTo>
                  <a:pt x="8" y="901"/>
                </a:lnTo>
                <a:lnTo>
                  <a:pt x="6" y="902"/>
                </a:lnTo>
                <a:lnTo>
                  <a:pt x="4" y="901"/>
                </a:lnTo>
                <a:lnTo>
                  <a:pt x="2" y="900"/>
                </a:lnTo>
                <a:lnTo>
                  <a:pt x="2" y="898"/>
                </a:lnTo>
                <a:lnTo>
                  <a:pt x="2" y="896"/>
                </a:lnTo>
                <a:lnTo>
                  <a:pt x="4" y="894"/>
                </a:lnTo>
                <a:lnTo>
                  <a:pt x="6" y="894"/>
                </a:lnTo>
                <a:close/>
                <a:moveTo>
                  <a:pt x="50" y="892"/>
                </a:moveTo>
                <a:lnTo>
                  <a:pt x="52" y="892"/>
                </a:lnTo>
                <a:lnTo>
                  <a:pt x="53" y="893"/>
                </a:lnTo>
                <a:lnTo>
                  <a:pt x="54" y="894"/>
                </a:lnTo>
                <a:lnTo>
                  <a:pt x="55" y="896"/>
                </a:lnTo>
                <a:lnTo>
                  <a:pt x="55" y="898"/>
                </a:lnTo>
                <a:lnTo>
                  <a:pt x="55" y="900"/>
                </a:lnTo>
                <a:lnTo>
                  <a:pt x="54" y="901"/>
                </a:lnTo>
                <a:lnTo>
                  <a:pt x="53" y="902"/>
                </a:lnTo>
                <a:lnTo>
                  <a:pt x="52" y="903"/>
                </a:lnTo>
                <a:lnTo>
                  <a:pt x="50" y="903"/>
                </a:lnTo>
                <a:lnTo>
                  <a:pt x="48" y="903"/>
                </a:lnTo>
                <a:lnTo>
                  <a:pt x="46" y="902"/>
                </a:lnTo>
                <a:lnTo>
                  <a:pt x="45" y="901"/>
                </a:lnTo>
                <a:lnTo>
                  <a:pt x="44" y="900"/>
                </a:lnTo>
                <a:lnTo>
                  <a:pt x="44" y="898"/>
                </a:lnTo>
                <a:lnTo>
                  <a:pt x="44" y="896"/>
                </a:lnTo>
                <a:lnTo>
                  <a:pt x="45" y="894"/>
                </a:lnTo>
                <a:lnTo>
                  <a:pt x="46" y="893"/>
                </a:lnTo>
                <a:lnTo>
                  <a:pt x="48" y="892"/>
                </a:lnTo>
                <a:lnTo>
                  <a:pt x="50" y="892"/>
                </a:lnTo>
                <a:close/>
                <a:moveTo>
                  <a:pt x="1874" y="889"/>
                </a:moveTo>
                <a:lnTo>
                  <a:pt x="1875" y="889"/>
                </a:lnTo>
                <a:lnTo>
                  <a:pt x="1877" y="889"/>
                </a:lnTo>
                <a:lnTo>
                  <a:pt x="1879" y="890"/>
                </a:lnTo>
                <a:lnTo>
                  <a:pt x="1880" y="891"/>
                </a:lnTo>
                <a:lnTo>
                  <a:pt x="1881" y="892"/>
                </a:lnTo>
                <a:lnTo>
                  <a:pt x="1882" y="894"/>
                </a:lnTo>
                <a:lnTo>
                  <a:pt x="1882" y="895"/>
                </a:lnTo>
                <a:lnTo>
                  <a:pt x="1882" y="897"/>
                </a:lnTo>
                <a:lnTo>
                  <a:pt x="1882" y="899"/>
                </a:lnTo>
                <a:lnTo>
                  <a:pt x="1882" y="901"/>
                </a:lnTo>
                <a:lnTo>
                  <a:pt x="1881" y="902"/>
                </a:lnTo>
                <a:lnTo>
                  <a:pt x="1880" y="903"/>
                </a:lnTo>
                <a:lnTo>
                  <a:pt x="1879" y="904"/>
                </a:lnTo>
                <a:lnTo>
                  <a:pt x="1877" y="905"/>
                </a:lnTo>
                <a:lnTo>
                  <a:pt x="1875" y="906"/>
                </a:lnTo>
                <a:lnTo>
                  <a:pt x="1874" y="906"/>
                </a:lnTo>
                <a:lnTo>
                  <a:pt x="1872" y="906"/>
                </a:lnTo>
                <a:lnTo>
                  <a:pt x="1870" y="905"/>
                </a:lnTo>
                <a:lnTo>
                  <a:pt x="1869" y="904"/>
                </a:lnTo>
                <a:lnTo>
                  <a:pt x="1868" y="903"/>
                </a:lnTo>
                <a:lnTo>
                  <a:pt x="1867" y="902"/>
                </a:lnTo>
                <a:lnTo>
                  <a:pt x="1866" y="901"/>
                </a:lnTo>
                <a:lnTo>
                  <a:pt x="1865" y="899"/>
                </a:lnTo>
                <a:lnTo>
                  <a:pt x="1865" y="897"/>
                </a:lnTo>
                <a:lnTo>
                  <a:pt x="1865" y="895"/>
                </a:lnTo>
                <a:lnTo>
                  <a:pt x="1866" y="894"/>
                </a:lnTo>
                <a:lnTo>
                  <a:pt x="1867" y="892"/>
                </a:lnTo>
                <a:lnTo>
                  <a:pt x="1868" y="891"/>
                </a:lnTo>
                <a:lnTo>
                  <a:pt x="1869" y="890"/>
                </a:lnTo>
                <a:lnTo>
                  <a:pt x="1870" y="889"/>
                </a:lnTo>
                <a:lnTo>
                  <a:pt x="1872" y="889"/>
                </a:lnTo>
                <a:lnTo>
                  <a:pt x="1874" y="889"/>
                </a:lnTo>
                <a:close/>
                <a:moveTo>
                  <a:pt x="103" y="829"/>
                </a:moveTo>
                <a:lnTo>
                  <a:pt x="104" y="830"/>
                </a:lnTo>
                <a:lnTo>
                  <a:pt x="104" y="830"/>
                </a:lnTo>
                <a:lnTo>
                  <a:pt x="104" y="831"/>
                </a:lnTo>
                <a:lnTo>
                  <a:pt x="103" y="831"/>
                </a:lnTo>
                <a:lnTo>
                  <a:pt x="102" y="831"/>
                </a:lnTo>
                <a:lnTo>
                  <a:pt x="102" y="830"/>
                </a:lnTo>
                <a:lnTo>
                  <a:pt x="102" y="830"/>
                </a:lnTo>
                <a:lnTo>
                  <a:pt x="103" y="829"/>
                </a:lnTo>
                <a:close/>
                <a:moveTo>
                  <a:pt x="1910" y="826"/>
                </a:moveTo>
                <a:lnTo>
                  <a:pt x="1913" y="827"/>
                </a:lnTo>
                <a:lnTo>
                  <a:pt x="1914" y="829"/>
                </a:lnTo>
                <a:lnTo>
                  <a:pt x="1913" y="832"/>
                </a:lnTo>
                <a:lnTo>
                  <a:pt x="1910" y="833"/>
                </a:lnTo>
                <a:lnTo>
                  <a:pt x="1907" y="832"/>
                </a:lnTo>
                <a:lnTo>
                  <a:pt x="1906" y="829"/>
                </a:lnTo>
                <a:lnTo>
                  <a:pt x="1907" y="827"/>
                </a:lnTo>
                <a:lnTo>
                  <a:pt x="1910" y="826"/>
                </a:lnTo>
                <a:close/>
                <a:moveTo>
                  <a:pt x="13" y="826"/>
                </a:moveTo>
                <a:lnTo>
                  <a:pt x="16" y="826"/>
                </a:lnTo>
                <a:lnTo>
                  <a:pt x="17" y="828"/>
                </a:lnTo>
                <a:lnTo>
                  <a:pt x="18" y="830"/>
                </a:lnTo>
                <a:lnTo>
                  <a:pt x="17" y="832"/>
                </a:lnTo>
                <a:lnTo>
                  <a:pt x="16" y="833"/>
                </a:lnTo>
                <a:lnTo>
                  <a:pt x="13" y="834"/>
                </a:lnTo>
                <a:lnTo>
                  <a:pt x="11" y="833"/>
                </a:lnTo>
                <a:lnTo>
                  <a:pt x="9" y="832"/>
                </a:lnTo>
                <a:lnTo>
                  <a:pt x="9" y="830"/>
                </a:lnTo>
                <a:lnTo>
                  <a:pt x="9" y="828"/>
                </a:lnTo>
                <a:lnTo>
                  <a:pt x="11" y="826"/>
                </a:lnTo>
                <a:lnTo>
                  <a:pt x="13" y="826"/>
                </a:lnTo>
                <a:close/>
                <a:moveTo>
                  <a:pt x="57" y="823"/>
                </a:moveTo>
                <a:lnTo>
                  <a:pt x="59" y="824"/>
                </a:lnTo>
                <a:lnTo>
                  <a:pt x="61" y="825"/>
                </a:lnTo>
                <a:lnTo>
                  <a:pt x="62" y="826"/>
                </a:lnTo>
                <a:lnTo>
                  <a:pt x="63" y="828"/>
                </a:lnTo>
                <a:lnTo>
                  <a:pt x="63" y="830"/>
                </a:lnTo>
                <a:lnTo>
                  <a:pt x="63" y="832"/>
                </a:lnTo>
                <a:lnTo>
                  <a:pt x="62" y="833"/>
                </a:lnTo>
                <a:lnTo>
                  <a:pt x="61" y="835"/>
                </a:lnTo>
                <a:lnTo>
                  <a:pt x="59" y="836"/>
                </a:lnTo>
                <a:lnTo>
                  <a:pt x="57" y="836"/>
                </a:lnTo>
                <a:lnTo>
                  <a:pt x="55" y="836"/>
                </a:lnTo>
                <a:lnTo>
                  <a:pt x="53" y="835"/>
                </a:lnTo>
                <a:lnTo>
                  <a:pt x="52" y="833"/>
                </a:lnTo>
                <a:lnTo>
                  <a:pt x="51" y="832"/>
                </a:lnTo>
                <a:lnTo>
                  <a:pt x="51" y="830"/>
                </a:lnTo>
                <a:lnTo>
                  <a:pt x="51" y="828"/>
                </a:lnTo>
                <a:lnTo>
                  <a:pt x="52" y="826"/>
                </a:lnTo>
                <a:lnTo>
                  <a:pt x="53" y="825"/>
                </a:lnTo>
                <a:lnTo>
                  <a:pt x="55" y="824"/>
                </a:lnTo>
                <a:lnTo>
                  <a:pt x="57" y="823"/>
                </a:lnTo>
                <a:close/>
                <a:moveTo>
                  <a:pt x="1866" y="821"/>
                </a:moveTo>
                <a:lnTo>
                  <a:pt x="1868" y="821"/>
                </a:lnTo>
                <a:lnTo>
                  <a:pt x="1869" y="821"/>
                </a:lnTo>
                <a:lnTo>
                  <a:pt x="1871" y="822"/>
                </a:lnTo>
                <a:lnTo>
                  <a:pt x="1872" y="823"/>
                </a:lnTo>
                <a:lnTo>
                  <a:pt x="1873" y="824"/>
                </a:lnTo>
                <a:lnTo>
                  <a:pt x="1874" y="826"/>
                </a:lnTo>
                <a:lnTo>
                  <a:pt x="1875" y="828"/>
                </a:lnTo>
                <a:lnTo>
                  <a:pt x="1875" y="829"/>
                </a:lnTo>
                <a:lnTo>
                  <a:pt x="1875" y="831"/>
                </a:lnTo>
                <a:lnTo>
                  <a:pt x="1874" y="833"/>
                </a:lnTo>
                <a:lnTo>
                  <a:pt x="1873" y="834"/>
                </a:lnTo>
                <a:lnTo>
                  <a:pt x="1872" y="836"/>
                </a:lnTo>
                <a:lnTo>
                  <a:pt x="1871" y="837"/>
                </a:lnTo>
                <a:lnTo>
                  <a:pt x="1869" y="838"/>
                </a:lnTo>
                <a:lnTo>
                  <a:pt x="1868" y="838"/>
                </a:lnTo>
                <a:lnTo>
                  <a:pt x="1866" y="838"/>
                </a:lnTo>
                <a:lnTo>
                  <a:pt x="1864" y="838"/>
                </a:lnTo>
                <a:lnTo>
                  <a:pt x="1863" y="838"/>
                </a:lnTo>
                <a:lnTo>
                  <a:pt x="1861" y="837"/>
                </a:lnTo>
                <a:lnTo>
                  <a:pt x="1860" y="836"/>
                </a:lnTo>
                <a:lnTo>
                  <a:pt x="1859" y="834"/>
                </a:lnTo>
                <a:lnTo>
                  <a:pt x="1858" y="833"/>
                </a:lnTo>
                <a:lnTo>
                  <a:pt x="1857" y="831"/>
                </a:lnTo>
                <a:lnTo>
                  <a:pt x="1857" y="829"/>
                </a:lnTo>
                <a:lnTo>
                  <a:pt x="1857" y="828"/>
                </a:lnTo>
                <a:lnTo>
                  <a:pt x="1858" y="826"/>
                </a:lnTo>
                <a:lnTo>
                  <a:pt x="1859" y="824"/>
                </a:lnTo>
                <a:lnTo>
                  <a:pt x="1860" y="823"/>
                </a:lnTo>
                <a:lnTo>
                  <a:pt x="1861" y="822"/>
                </a:lnTo>
                <a:lnTo>
                  <a:pt x="1863" y="821"/>
                </a:lnTo>
                <a:lnTo>
                  <a:pt x="1864" y="821"/>
                </a:lnTo>
                <a:lnTo>
                  <a:pt x="1866" y="821"/>
                </a:lnTo>
                <a:close/>
                <a:moveTo>
                  <a:pt x="117" y="762"/>
                </a:moveTo>
                <a:lnTo>
                  <a:pt x="117" y="763"/>
                </a:lnTo>
                <a:lnTo>
                  <a:pt x="118" y="763"/>
                </a:lnTo>
                <a:lnTo>
                  <a:pt x="117" y="764"/>
                </a:lnTo>
                <a:lnTo>
                  <a:pt x="117" y="764"/>
                </a:lnTo>
                <a:lnTo>
                  <a:pt x="116" y="764"/>
                </a:lnTo>
                <a:lnTo>
                  <a:pt x="116" y="763"/>
                </a:lnTo>
                <a:lnTo>
                  <a:pt x="116" y="763"/>
                </a:lnTo>
                <a:lnTo>
                  <a:pt x="117" y="762"/>
                </a:lnTo>
                <a:close/>
                <a:moveTo>
                  <a:pt x="25" y="758"/>
                </a:moveTo>
                <a:lnTo>
                  <a:pt x="28" y="759"/>
                </a:lnTo>
                <a:lnTo>
                  <a:pt x="29" y="760"/>
                </a:lnTo>
                <a:lnTo>
                  <a:pt x="30" y="762"/>
                </a:lnTo>
                <a:lnTo>
                  <a:pt x="29" y="765"/>
                </a:lnTo>
                <a:lnTo>
                  <a:pt x="28" y="766"/>
                </a:lnTo>
                <a:lnTo>
                  <a:pt x="25" y="767"/>
                </a:lnTo>
                <a:lnTo>
                  <a:pt x="23" y="766"/>
                </a:lnTo>
                <a:lnTo>
                  <a:pt x="22" y="765"/>
                </a:lnTo>
                <a:lnTo>
                  <a:pt x="21" y="762"/>
                </a:lnTo>
                <a:lnTo>
                  <a:pt x="22" y="760"/>
                </a:lnTo>
                <a:lnTo>
                  <a:pt x="23" y="759"/>
                </a:lnTo>
                <a:lnTo>
                  <a:pt x="25" y="758"/>
                </a:lnTo>
                <a:close/>
                <a:moveTo>
                  <a:pt x="1898" y="758"/>
                </a:moveTo>
                <a:lnTo>
                  <a:pt x="1900" y="758"/>
                </a:lnTo>
                <a:lnTo>
                  <a:pt x="1902" y="760"/>
                </a:lnTo>
                <a:lnTo>
                  <a:pt x="1902" y="762"/>
                </a:lnTo>
                <a:lnTo>
                  <a:pt x="1902" y="764"/>
                </a:lnTo>
                <a:lnTo>
                  <a:pt x="1900" y="766"/>
                </a:lnTo>
                <a:lnTo>
                  <a:pt x="1898" y="766"/>
                </a:lnTo>
                <a:lnTo>
                  <a:pt x="1895" y="766"/>
                </a:lnTo>
                <a:lnTo>
                  <a:pt x="1894" y="764"/>
                </a:lnTo>
                <a:lnTo>
                  <a:pt x="1893" y="762"/>
                </a:lnTo>
                <a:lnTo>
                  <a:pt x="1894" y="760"/>
                </a:lnTo>
                <a:lnTo>
                  <a:pt x="1895" y="758"/>
                </a:lnTo>
                <a:lnTo>
                  <a:pt x="1898" y="758"/>
                </a:lnTo>
                <a:close/>
                <a:moveTo>
                  <a:pt x="70" y="756"/>
                </a:moveTo>
                <a:lnTo>
                  <a:pt x="72" y="756"/>
                </a:lnTo>
                <a:lnTo>
                  <a:pt x="73" y="757"/>
                </a:lnTo>
                <a:lnTo>
                  <a:pt x="75" y="758"/>
                </a:lnTo>
                <a:lnTo>
                  <a:pt x="76" y="759"/>
                </a:lnTo>
                <a:lnTo>
                  <a:pt x="77" y="761"/>
                </a:lnTo>
                <a:lnTo>
                  <a:pt x="77" y="762"/>
                </a:lnTo>
                <a:lnTo>
                  <a:pt x="77" y="764"/>
                </a:lnTo>
                <a:lnTo>
                  <a:pt x="76" y="766"/>
                </a:lnTo>
                <a:lnTo>
                  <a:pt x="75" y="767"/>
                </a:lnTo>
                <a:lnTo>
                  <a:pt x="73" y="768"/>
                </a:lnTo>
                <a:lnTo>
                  <a:pt x="72" y="769"/>
                </a:lnTo>
                <a:lnTo>
                  <a:pt x="70" y="769"/>
                </a:lnTo>
                <a:lnTo>
                  <a:pt x="68" y="769"/>
                </a:lnTo>
                <a:lnTo>
                  <a:pt x="66" y="768"/>
                </a:lnTo>
                <a:lnTo>
                  <a:pt x="65" y="767"/>
                </a:lnTo>
                <a:lnTo>
                  <a:pt x="64" y="766"/>
                </a:lnTo>
                <a:lnTo>
                  <a:pt x="63" y="764"/>
                </a:lnTo>
                <a:lnTo>
                  <a:pt x="63" y="762"/>
                </a:lnTo>
                <a:lnTo>
                  <a:pt x="63" y="761"/>
                </a:lnTo>
                <a:lnTo>
                  <a:pt x="64" y="759"/>
                </a:lnTo>
                <a:lnTo>
                  <a:pt x="65" y="758"/>
                </a:lnTo>
                <a:lnTo>
                  <a:pt x="66" y="757"/>
                </a:lnTo>
                <a:lnTo>
                  <a:pt x="68" y="756"/>
                </a:lnTo>
                <a:lnTo>
                  <a:pt x="70" y="756"/>
                </a:lnTo>
                <a:close/>
                <a:moveTo>
                  <a:pt x="1853" y="753"/>
                </a:moveTo>
                <a:lnTo>
                  <a:pt x="1855" y="754"/>
                </a:lnTo>
                <a:lnTo>
                  <a:pt x="1857" y="754"/>
                </a:lnTo>
                <a:lnTo>
                  <a:pt x="1858" y="755"/>
                </a:lnTo>
                <a:lnTo>
                  <a:pt x="1860" y="756"/>
                </a:lnTo>
                <a:lnTo>
                  <a:pt x="1861" y="757"/>
                </a:lnTo>
                <a:lnTo>
                  <a:pt x="1862" y="759"/>
                </a:lnTo>
                <a:lnTo>
                  <a:pt x="1862" y="760"/>
                </a:lnTo>
                <a:lnTo>
                  <a:pt x="1862" y="762"/>
                </a:lnTo>
                <a:lnTo>
                  <a:pt x="1862" y="764"/>
                </a:lnTo>
                <a:lnTo>
                  <a:pt x="1862" y="766"/>
                </a:lnTo>
                <a:lnTo>
                  <a:pt x="1861" y="767"/>
                </a:lnTo>
                <a:lnTo>
                  <a:pt x="1860" y="769"/>
                </a:lnTo>
                <a:lnTo>
                  <a:pt x="1858" y="770"/>
                </a:lnTo>
                <a:lnTo>
                  <a:pt x="1857" y="770"/>
                </a:lnTo>
                <a:lnTo>
                  <a:pt x="1855" y="771"/>
                </a:lnTo>
                <a:lnTo>
                  <a:pt x="1853" y="771"/>
                </a:lnTo>
                <a:lnTo>
                  <a:pt x="1851" y="771"/>
                </a:lnTo>
                <a:lnTo>
                  <a:pt x="1850" y="770"/>
                </a:lnTo>
                <a:lnTo>
                  <a:pt x="1848" y="770"/>
                </a:lnTo>
                <a:lnTo>
                  <a:pt x="1847" y="769"/>
                </a:lnTo>
                <a:lnTo>
                  <a:pt x="1846" y="767"/>
                </a:lnTo>
                <a:lnTo>
                  <a:pt x="1845" y="766"/>
                </a:lnTo>
                <a:lnTo>
                  <a:pt x="1844" y="764"/>
                </a:lnTo>
                <a:lnTo>
                  <a:pt x="1844" y="762"/>
                </a:lnTo>
                <a:lnTo>
                  <a:pt x="1844" y="760"/>
                </a:lnTo>
                <a:lnTo>
                  <a:pt x="1845" y="759"/>
                </a:lnTo>
                <a:lnTo>
                  <a:pt x="1846" y="757"/>
                </a:lnTo>
                <a:lnTo>
                  <a:pt x="1847" y="756"/>
                </a:lnTo>
                <a:lnTo>
                  <a:pt x="1848" y="755"/>
                </a:lnTo>
                <a:lnTo>
                  <a:pt x="1850" y="754"/>
                </a:lnTo>
                <a:lnTo>
                  <a:pt x="1851" y="754"/>
                </a:lnTo>
                <a:lnTo>
                  <a:pt x="1853" y="753"/>
                </a:lnTo>
                <a:close/>
                <a:moveTo>
                  <a:pt x="135" y="697"/>
                </a:moveTo>
                <a:lnTo>
                  <a:pt x="136" y="697"/>
                </a:lnTo>
                <a:lnTo>
                  <a:pt x="136" y="698"/>
                </a:lnTo>
                <a:lnTo>
                  <a:pt x="136" y="698"/>
                </a:lnTo>
                <a:lnTo>
                  <a:pt x="135" y="699"/>
                </a:lnTo>
                <a:lnTo>
                  <a:pt x="134" y="698"/>
                </a:lnTo>
                <a:lnTo>
                  <a:pt x="134" y="698"/>
                </a:lnTo>
                <a:lnTo>
                  <a:pt x="134" y="697"/>
                </a:lnTo>
                <a:lnTo>
                  <a:pt x="135" y="697"/>
                </a:lnTo>
                <a:close/>
                <a:moveTo>
                  <a:pt x="42" y="692"/>
                </a:moveTo>
                <a:lnTo>
                  <a:pt x="45" y="692"/>
                </a:lnTo>
                <a:lnTo>
                  <a:pt x="46" y="694"/>
                </a:lnTo>
                <a:lnTo>
                  <a:pt x="47" y="696"/>
                </a:lnTo>
                <a:lnTo>
                  <a:pt x="46" y="699"/>
                </a:lnTo>
                <a:lnTo>
                  <a:pt x="45" y="700"/>
                </a:lnTo>
                <a:lnTo>
                  <a:pt x="42" y="701"/>
                </a:lnTo>
                <a:lnTo>
                  <a:pt x="40" y="700"/>
                </a:lnTo>
                <a:lnTo>
                  <a:pt x="38" y="699"/>
                </a:lnTo>
                <a:lnTo>
                  <a:pt x="38" y="696"/>
                </a:lnTo>
                <a:lnTo>
                  <a:pt x="38" y="694"/>
                </a:lnTo>
                <a:lnTo>
                  <a:pt x="40" y="692"/>
                </a:lnTo>
                <a:lnTo>
                  <a:pt x="42" y="692"/>
                </a:lnTo>
                <a:close/>
                <a:moveTo>
                  <a:pt x="1881" y="690"/>
                </a:moveTo>
                <a:lnTo>
                  <a:pt x="1883" y="691"/>
                </a:lnTo>
                <a:lnTo>
                  <a:pt x="1885" y="692"/>
                </a:lnTo>
                <a:lnTo>
                  <a:pt x="1886" y="694"/>
                </a:lnTo>
                <a:lnTo>
                  <a:pt x="1887" y="696"/>
                </a:lnTo>
                <a:lnTo>
                  <a:pt x="1886" y="698"/>
                </a:lnTo>
                <a:lnTo>
                  <a:pt x="1885" y="700"/>
                </a:lnTo>
                <a:lnTo>
                  <a:pt x="1883" y="701"/>
                </a:lnTo>
                <a:lnTo>
                  <a:pt x="1881" y="701"/>
                </a:lnTo>
                <a:lnTo>
                  <a:pt x="1879" y="701"/>
                </a:lnTo>
                <a:lnTo>
                  <a:pt x="1877" y="700"/>
                </a:lnTo>
                <a:lnTo>
                  <a:pt x="1876" y="698"/>
                </a:lnTo>
                <a:lnTo>
                  <a:pt x="1875" y="696"/>
                </a:lnTo>
                <a:lnTo>
                  <a:pt x="1876" y="694"/>
                </a:lnTo>
                <a:lnTo>
                  <a:pt x="1877" y="692"/>
                </a:lnTo>
                <a:lnTo>
                  <a:pt x="1879" y="691"/>
                </a:lnTo>
                <a:lnTo>
                  <a:pt x="1881" y="690"/>
                </a:lnTo>
                <a:close/>
                <a:moveTo>
                  <a:pt x="88" y="689"/>
                </a:moveTo>
                <a:lnTo>
                  <a:pt x="89" y="689"/>
                </a:lnTo>
                <a:lnTo>
                  <a:pt x="91" y="689"/>
                </a:lnTo>
                <a:lnTo>
                  <a:pt x="93" y="690"/>
                </a:lnTo>
                <a:lnTo>
                  <a:pt x="94" y="692"/>
                </a:lnTo>
                <a:lnTo>
                  <a:pt x="95" y="693"/>
                </a:lnTo>
                <a:lnTo>
                  <a:pt x="95" y="695"/>
                </a:lnTo>
                <a:lnTo>
                  <a:pt x="96" y="697"/>
                </a:lnTo>
                <a:lnTo>
                  <a:pt x="95" y="698"/>
                </a:lnTo>
                <a:lnTo>
                  <a:pt x="95" y="700"/>
                </a:lnTo>
                <a:lnTo>
                  <a:pt x="94" y="701"/>
                </a:lnTo>
                <a:lnTo>
                  <a:pt x="93" y="703"/>
                </a:lnTo>
                <a:lnTo>
                  <a:pt x="91" y="704"/>
                </a:lnTo>
                <a:lnTo>
                  <a:pt x="89" y="704"/>
                </a:lnTo>
                <a:lnTo>
                  <a:pt x="88" y="704"/>
                </a:lnTo>
                <a:lnTo>
                  <a:pt x="86" y="704"/>
                </a:lnTo>
                <a:lnTo>
                  <a:pt x="84" y="704"/>
                </a:lnTo>
                <a:lnTo>
                  <a:pt x="83" y="703"/>
                </a:lnTo>
                <a:lnTo>
                  <a:pt x="81" y="701"/>
                </a:lnTo>
                <a:lnTo>
                  <a:pt x="81" y="700"/>
                </a:lnTo>
                <a:lnTo>
                  <a:pt x="80" y="698"/>
                </a:lnTo>
                <a:lnTo>
                  <a:pt x="80" y="697"/>
                </a:lnTo>
                <a:lnTo>
                  <a:pt x="80" y="695"/>
                </a:lnTo>
                <a:lnTo>
                  <a:pt x="81" y="693"/>
                </a:lnTo>
                <a:lnTo>
                  <a:pt x="81" y="692"/>
                </a:lnTo>
                <a:lnTo>
                  <a:pt x="83" y="690"/>
                </a:lnTo>
                <a:lnTo>
                  <a:pt x="84" y="689"/>
                </a:lnTo>
                <a:lnTo>
                  <a:pt x="86" y="689"/>
                </a:lnTo>
                <a:lnTo>
                  <a:pt x="88" y="689"/>
                </a:lnTo>
                <a:close/>
                <a:moveTo>
                  <a:pt x="1836" y="687"/>
                </a:moveTo>
                <a:lnTo>
                  <a:pt x="1837" y="687"/>
                </a:lnTo>
                <a:lnTo>
                  <a:pt x="1839" y="688"/>
                </a:lnTo>
                <a:lnTo>
                  <a:pt x="1841" y="689"/>
                </a:lnTo>
                <a:lnTo>
                  <a:pt x="1842" y="690"/>
                </a:lnTo>
                <a:lnTo>
                  <a:pt x="1843" y="691"/>
                </a:lnTo>
                <a:lnTo>
                  <a:pt x="1844" y="693"/>
                </a:lnTo>
                <a:lnTo>
                  <a:pt x="1844" y="694"/>
                </a:lnTo>
                <a:lnTo>
                  <a:pt x="1845" y="696"/>
                </a:lnTo>
                <a:lnTo>
                  <a:pt x="1844" y="698"/>
                </a:lnTo>
                <a:lnTo>
                  <a:pt x="1844" y="700"/>
                </a:lnTo>
                <a:lnTo>
                  <a:pt x="1843" y="701"/>
                </a:lnTo>
                <a:lnTo>
                  <a:pt x="1842" y="703"/>
                </a:lnTo>
                <a:lnTo>
                  <a:pt x="1841" y="704"/>
                </a:lnTo>
                <a:lnTo>
                  <a:pt x="1839" y="705"/>
                </a:lnTo>
                <a:lnTo>
                  <a:pt x="1837" y="705"/>
                </a:lnTo>
                <a:lnTo>
                  <a:pt x="1836" y="705"/>
                </a:lnTo>
                <a:lnTo>
                  <a:pt x="1834" y="705"/>
                </a:lnTo>
                <a:lnTo>
                  <a:pt x="1832" y="705"/>
                </a:lnTo>
                <a:lnTo>
                  <a:pt x="1830" y="704"/>
                </a:lnTo>
                <a:lnTo>
                  <a:pt x="1829" y="703"/>
                </a:lnTo>
                <a:lnTo>
                  <a:pt x="1828" y="701"/>
                </a:lnTo>
                <a:lnTo>
                  <a:pt x="1827" y="700"/>
                </a:lnTo>
                <a:lnTo>
                  <a:pt x="1827" y="698"/>
                </a:lnTo>
                <a:lnTo>
                  <a:pt x="1826" y="696"/>
                </a:lnTo>
                <a:lnTo>
                  <a:pt x="1827" y="694"/>
                </a:lnTo>
                <a:lnTo>
                  <a:pt x="1827" y="693"/>
                </a:lnTo>
                <a:lnTo>
                  <a:pt x="1828" y="691"/>
                </a:lnTo>
                <a:lnTo>
                  <a:pt x="1829" y="690"/>
                </a:lnTo>
                <a:lnTo>
                  <a:pt x="1830" y="689"/>
                </a:lnTo>
                <a:lnTo>
                  <a:pt x="1832" y="688"/>
                </a:lnTo>
                <a:lnTo>
                  <a:pt x="1834" y="687"/>
                </a:lnTo>
                <a:lnTo>
                  <a:pt x="1836" y="687"/>
                </a:lnTo>
                <a:close/>
                <a:moveTo>
                  <a:pt x="159" y="633"/>
                </a:moveTo>
                <a:lnTo>
                  <a:pt x="160" y="633"/>
                </a:lnTo>
                <a:lnTo>
                  <a:pt x="160" y="634"/>
                </a:lnTo>
                <a:lnTo>
                  <a:pt x="160" y="635"/>
                </a:lnTo>
                <a:lnTo>
                  <a:pt x="159" y="635"/>
                </a:lnTo>
                <a:lnTo>
                  <a:pt x="158" y="635"/>
                </a:lnTo>
                <a:lnTo>
                  <a:pt x="158" y="634"/>
                </a:lnTo>
                <a:lnTo>
                  <a:pt x="158" y="633"/>
                </a:lnTo>
                <a:lnTo>
                  <a:pt x="159" y="633"/>
                </a:lnTo>
                <a:close/>
                <a:moveTo>
                  <a:pt x="64" y="627"/>
                </a:moveTo>
                <a:lnTo>
                  <a:pt x="66" y="627"/>
                </a:lnTo>
                <a:lnTo>
                  <a:pt x="68" y="628"/>
                </a:lnTo>
                <a:lnTo>
                  <a:pt x="69" y="630"/>
                </a:lnTo>
                <a:lnTo>
                  <a:pt x="69" y="631"/>
                </a:lnTo>
                <a:lnTo>
                  <a:pt x="69" y="633"/>
                </a:lnTo>
                <a:lnTo>
                  <a:pt x="68" y="635"/>
                </a:lnTo>
                <a:lnTo>
                  <a:pt x="66" y="636"/>
                </a:lnTo>
                <a:lnTo>
                  <a:pt x="64" y="636"/>
                </a:lnTo>
                <a:lnTo>
                  <a:pt x="62" y="636"/>
                </a:lnTo>
                <a:lnTo>
                  <a:pt x="60" y="635"/>
                </a:lnTo>
                <a:lnTo>
                  <a:pt x="59" y="633"/>
                </a:lnTo>
                <a:lnTo>
                  <a:pt x="59" y="631"/>
                </a:lnTo>
                <a:lnTo>
                  <a:pt x="59" y="630"/>
                </a:lnTo>
                <a:lnTo>
                  <a:pt x="60" y="628"/>
                </a:lnTo>
                <a:lnTo>
                  <a:pt x="62" y="627"/>
                </a:lnTo>
                <a:lnTo>
                  <a:pt x="64" y="627"/>
                </a:lnTo>
                <a:close/>
                <a:moveTo>
                  <a:pt x="1859" y="625"/>
                </a:moveTo>
                <a:lnTo>
                  <a:pt x="1861" y="625"/>
                </a:lnTo>
                <a:lnTo>
                  <a:pt x="1863" y="626"/>
                </a:lnTo>
                <a:lnTo>
                  <a:pt x="1864" y="627"/>
                </a:lnTo>
                <a:lnTo>
                  <a:pt x="1865" y="629"/>
                </a:lnTo>
                <a:lnTo>
                  <a:pt x="1866" y="631"/>
                </a:lnTo>
                <a:lnTo>
                  <a:pt x="1865" y="633"/>
                </a:lnTo>
                <a:lnTo>
                  <a:pt x="1864" y="635"/>
                </a:lnTo>
                <a:lnTo>
                  <a:pt x="1863" y="636"/>
                </a:lnTo>
                <a:lnTo>
                  <a:pt x="1861" y="637"/>
                </a:lnTo>
                <a:lnTo>
                  <a:pt x="1859" y="637"/>
                </a:lnTo>
                <a:lnTo>
                  <a:pt x="1857" y="637"/>
                </a:lnTo>
                <a:lnTo>
                  <a:pt x="1856" y="636"/>
                </a:lnTo>
                <a:lnTo>
                  <a:pt x="1854" y="635"/>
                </a:lnTo>
                <a:lnTo>
                  <a:pt x="1853" y="633"/>
                </a:lnTo>
                <a:lnTo>
                  <a:pt x="1853" y="631"/>
                </a:lnTo>
                <a:lnTo>
                  <a:pt x="1853" y="629"/>
                </a:lnTo>
                <a:lnTo>
                  <a:pt x="1854" y="627"/>
                </a:lnTo>
                <a:lnTo>
                  <a:pt x="1856" y="626"/>
                </a:lnTo>
                <a:lnTo>
                  <a:pt x="1857" y="625"/>
                </a:lnTo>
                <a:lnTo>
                  <a:pt x="1859" y="625"/>
                </a:lnTo>
                <a:close/>
                <a:moveTo>
                  <a:pt x="110" y="623"/>
                </a:moveTo>
                <a:lnTo>
                  <a:pt x="112" y="623"/>
                </a:lnTo>
                <a:lnTo>
                  <a:pt x="114" y="624"/>
                </a:lnTo>
                <a:lnTo>
                  <a:pt x="115" y="625"/>
                </a:lnTo>
                <a:lnTo>
                  <a:pt x="116" y="626"/>
                </a:lnTo>
                <a:lnTo>
                  <a:pt x="117" y="627"/>
                </a:lnTo>
                <a:lnTo>
                  <a:pt x="118" y="629"/>
                </a:lnTo>
                <a:lnTo>
                  <a:pt x="119" y="630"/>
                </a:lnTo>
                <a:lnTo>
                  <a:pt x="119" y="632"/>
                </a:lnTo>
                <a:lnTo>
                  <a:pt x="119" y="634"/>
                </a:lnTo>
                <a:lnTo>
                  <a:pt x="118" y="635"/>
                </a:lnTo>
                <a:lnTo>
                  <a:pt x="117" y="637"/>
                </a:lnTo>
                <a:lnTo>
                  <a:pt x="116" y="638"/>
                </a:lnTo>
                <a:lnTo>
                  <a:pt x="115" y="639"/>
                </a:lnTo>
                <a:lnTo>
                  <a:pt x="114" y="640"/>
                </a:lnTo>
                <a:lnTo>
                  <a:pt x="112" y="640"/>
                </a:lnTo>
                <a:lnTo>
                  <a:pt x="110" y="641"/>
                </a:lnTo>
                <a:lnTo>
                  <a:pt x="109" y="640"/>
                </a:lnTo>
                <a:lnTo>
                  <a:pt x="107" y="640"/>
                </a:lnTo>
                <a:lnTo>
                  <a:pt x="105" y="639"/>
                </a:lnTo>
                <a:lnTo>
                  <a:pt x="104" y="638"/>
                </a:lnTo>
                <a:lnTo>
                  <a:pt x="103" y="637"/>
                </a:lnTo>
                <a:lnTo>
                  <a:pt x="102" y="635"/>
                </a:lnTo>
                <a:lnTo>
                  <a:pt x="102" y="634"/>
                </a:lnTo>
                <a:lnTo>
                  <a:pt x="102" y="632"/>
                </a:lnTo>
                <a:lnTo>
                  <a:pt x="102" y="630"/>
                </a:lnTo>
                <a:lnTo>
                  <a:pt x="102" y="629"/>
                </a:lnTo>
                <a:lnTo>
                  <a:pt x="103" y="627"/>
                </a:lnTo>
                <a:lnTo>
                  <a:pt x="104" y="626"/>
                </a:lnTo>
                <a:lnTo>
                  <a:pt x="105" y="625"/>
                </a:lnTo>
                <a:lnTo>
                  <a:pt x="107" y="624"/>
                </a:lnTo>
                <a:lnTo>
                  <a:pt x="109" y="623"/>
                </a:lnTo>
                <a:lnTo>
                  <a:pt x="110" y="623"/>
                </a:lnTo>
                <a:close/>
                <a:moveTo>
                  <a:pt x="1813" y="623"/>
                </a:moveTo>
                <a:lnTo>
                  <a:pt x="1815" y="623"/>
                </a:lnTo>
                <a:lnTo>
                  <a:pt x="1817" y="624"/>
                </a:lnTo>
                <a:lnTo>
                  <a:pt x="1818" y="624"/>
                </a:lnTo>
                <a:lnTo>
                  <a:pt x="1819" y="626"/>
                </a:lnTo>
                <a:lnTo>
                  <a:pt x="1821" y="627"/>
                </a:lnTo>
                <a:lnTo>
                  <a:pt x="1821" y="628"/>
                </a:lnTo>
                <a:lnTo>
                  <a:pt x="1822" y="630"/>
                </a:lnTo>
                <a:lnTo>
                  <a:pt x="1822" y="632"/>
                </a:lnTo>
                <a:lnTo>
                  <a:pt x="1822" y="634"/>
                </a:lnTo>
                <a:lnTo>
                  <a:pt x="1821" y="635"/>
                </a:lnTo>
                <a:lnTo>
                  <a:pt x="1821" y="637"/>
                </a:lnTo>
                <a:lnTo>
                  <a:pt x="1819" y="638"/>
                </a:lnTo>
                <a:lnTo>
                  <a:pt x="1818" y="639"/>
                </a:lnTo>
                <a:lnTo>
                  <a:pt x="1817" y="640"/>
                </a:lnTo>
                <a:lnTo>
                  <a:pt x="1815" y="641"/>
                </a:lnTo>
                <a:lnTo>
                  <a:pt x="1813" y="641"/>
                </a:lnTo>
                <a:lnTo>
                  <a:pt x="1811" y="641"/>
                </a:lnTo>
                <a:lnTo>
                  <a:pt x="1809" y="640"/>
                </a:lnTo>
                <a:lnTo>
                  <a:pt x="1808" y="639"/>
                </a:lnTo>
                <a:lnTo>
                  <a:pt x="1806" y="638"/>
                </a:lnTo>
                <a:lnTo>
                  <a:pt x="1805" y="637"/>
                </a:lnTo>
                <a:lnTo>
                  <a:pt x="1804" y="635"/>
                </a:lnTo>
                <a:lnTo>
                  <a:pt x="1804" y="634"/>
                </a:lnTo>
                <a:lnTo>
                  <a:pt x="1804" y="632"/>
                </a:lnTo>
                <a:lnTo>
                  <a:pt x="1804" y="630"/>
                </a:lnTo>
                <a:lnTo>
                  <a:pt x="1804" y="628"/>
                </a:lnTo>
                <a:lnTo>
                  <a:pt x="1805" y="627"/>
                </a:lnTo>
                <a:lnTo>
                  <a:pt x="1806" y="626"/>
                </a:lnTo>
                <a:lnTo>
                  <a:pt x="1808" y="624"/>
                </a:lnTo>
                <a:lnTo>
                  <a:pt x="1809" y="624"/>
                </a:lnTo>
                <a:lnTo>
                  <a:pt x="1811" y="623"/>
                </a:lnTo>
                <a:lnTo>
                  <a:pt x="1813" y="623"/>
                </a:lnTo>
                <a:close/>
                <a:moveTo>
                  <a:pt x="187" y="570"/>
                </a:moveTo>
                <a:lnTo>
                  <a:pt x="188" y="571"/>
                </a:lnTo>
                <a:lnTo>
                  <a:pt x="189" y="572"/>
                </a:lnTo>
                <a:lnTo>
                  <a:pt x="188" y="573"/>
                </a:lnTo>
                <a:lnTo>
                  <a:pt x="187" y="573"/>
                </a:lnTo>
                <a:lnTo>
                  <a:pt x="186" y="573"/>
                </a:lnTo>
                <a:lnTo>
                  <a:pt x="186" y="572"/>
                </a:lnTo>
                <a:lnTo>
                  <a:pt x="186" y="571"/>
                </a:lnTo>
                <a:lnTo>
                  <a:pt x="187" y="570"/>
                </a:lnTo>
                <a:close/>
                <a:moveTo>
                  <a:pt x="90" y="563"/>
                </a:moveTo>
                <a:lnTo>
                  <a:pt x="92" y="564"/>
                </a:lnTo>
                <a:lnTo>
                  <a:pt x="94" y="565"/>
                </a:lnTo>
                <a:lnTo>
                  <a:pt x="95" y="566"/>
                </a:lnTo>
                <a:lnTo>
                  <a:pt x="95" y="568"/>
                </a:lnTo>
                <a:lnTo>
                  <a:pt x="95" y="570"/>
                </a:lnTo>
                <a:lnTo>
                  <a:pt x="94" y="572"/>
                </a:lnTo>
                <a:lnTo>
                  <a:pt x="92" y="573"/>
                </a:lnTo>
                <a:lnTo>
                  <a:pt x="90" y="573"/>
                </a:lnTo>
                <a:lnTo>
                  <a:pt x="88" y="573"/>
                </a:lnTo>
                <a:lnTo>
                  <a:pt x="86" y="572"/>
                </a:lnTo>
                <a:lnTo>
                  <a:pt x="85" y="570"/>
                </a:lnTo>
                <a:lnTo>
                  <a:pt x="85" y="568"/>
                </a:lnTo>
                <a:lnTo>
                  <a:pt x="85" y="566"/>
                </a:lnTo>
                <a:lnTo>
                  <a:pt x="86" y="565"/>
                </a:lnTo>
                <a:lnTo>
                  <a:pt x="88" y="564"/>
                </a:lnTo>
                <a:lnTo>
                  <a:pt x="90" y="563"/>
                </a:lnTo>
                <a:close/>
                <a:moveTo>
                  <a:pt x="1833" y="561"/>
                </a:moveTo>
                <a:lnTo>
                  <a:pt x="1835" y="561"/>
                </a:lnTo>
                <a:lnTo>
                  <a:pt x="1837" y="562"/>
                </a:lnTo>
                <a:lnTo>
                  <a:pt x="1838" y="563"/>
                </a:lnTo>
                <a:lnTo>
                  <a:pt x="1839" y="564"/>
                </a:lnTo>
                <a:lnTo>
                  <a:pt x="1840" y="566"/>
                </a:lnTo>
                <a:lnTo>
                  <a:pt x="1840" y="568"/>
                </a:lnTo>
                <a:lnTo>
                  <a:pt x="1840" y="570"/>
                </a:lnTo>
                <a:lnTo>
                  <a:pt x="1839" y="572"/>
                </a:lnTo>
                <a:lnTo>
                  <a:pt x="1838" y="573"/>
                </a:lnTo>
                <a:lnTo>
                  <a:pt x="1837" y="574"/>
                </a:lnTo>
                <a:lnTo>
                  <a:pt x="1835" y="575"/>
                </a:lnTo>
                <a:lnTo>
                  <a:pt x="1833" y="575"/>
                </a:lnTo>
                <a:lnTo>
                  <a:pt x="1831" y="575"/>
                </a:lnTo>
                <a:lnTo>
                  <a:pt x="1830" y="574"/>
                </a:lnTo>
                <a:lnTo>
                  <a:pt x="1828" y="573"/>
                </a:lnTo>
                <a:lnTo>
                  <a:pt x="1827" y="572"/>
                </a:lnTo>
                <a:lnTo>
                  <a:pt x="1826" y="570"/>
                </a:lnTo>
                <a:lnTo>
                  <a:pt x="1826" y="568"/>
                </a:lnTo>
                <a:lnTo>
                  <a:pt x="1826" y="566"/>
                </a:lnTo>
                <a:lnTo>
                  <a:pt x="1827" y="564"/>
                </a:lnTo>
                <a:lnTo>
                  <a:pt x="1828" y="563"/>
                </a:lnTo>
                <a:lnTo>
                  <a:pt x="1830" y="562"/>
                </a:lnTo>
                <a:lnTo>
                  <a:pt x="1831" y="561"/>
                </a:lnTo>
                <a:lnTo>
                  <a:pt x="1833" y="561"/>
                </a:lnTo>
                <a:close/>
                <a:moveTo>
                  <a:pt x="1785" y="560"/>
                </a:moveTo>
                <a:lnTo>
                  <a:pt x="1787" y="560"/>
                </a:lnTo>
                <a:lnTo>
                  <a:pt x="1789" y="561"/>
                </a:lnTo>
                <a:lnTo>
                  <a:pt x="1791" y="561"/>
                </a:lnTo>
                <a:lnTo>
                  <a:pt x="1792" y="563"/>
                </a:lnTo>
                <a:lnTo>
                  <a:pt x="1793" y="564"/>
                </a:lnTo>
                <a:lnTo>
                  <a:pt x="1794" y="566"/>
                </a:lnTo>
                <a:lnTo>
                  <a:pt x="1795" y="567"/>
                </a:lnTo>
                <a:lnTo>
                  <a:pt x="1795" y="569"/>
                </a:lnTo>
                <a:lnTo>
                  <a:pt x="1795" y="571"/>
                </a:lnTo>
                <a:lnTo>
                  <a:pt x="1794" y="573"/>
                </a:lnTo>
                <a:lnTo>
                  <a:pt x="1793" y="574"/>
                </a:lnTo>
                <a:lnTo>
                  <a:pt x="1792" y="576"/>
                </a:lnTo>
                <a:lnTo>
                  <a:pt x="1791" y="577"/>
                </a:lnTo>
                <a:lnTo>
                  <a:pt x="1789" y="578"/>
                </a:lnTo>
                <a:lnTo>
                  <a:pt x="1787" y="578"/>
                </a:lnTo>
                <a:lnTo>
                  <a:pt x="1785" y="579"/>
                </a:lnTo>
                <a:lnTo>
                  <a:pt x="1784" y="578"/>
                </a:lnTo>
                <a:lnTo>
                  <a:pt x="1782" y="578"/>
                </a:lnTo>
                <a:lnTo>
                  <a:pt x="1780" y="577"/>
                </a:lnTo>
                <a:lnTo>
                  <a:pt x="1779" y="576"/>
                </a:lnTo>
                <a:lnTo>
                  <a:pt x="1778" y="574"/>
                </a:lnTo>
                <a:lnTo>
                  <a:pt x="1777" y="573"/>
                </a:lnTo>
                <a:lnTo>
                  <a:pt x="1776" y="571"/>
                </a:lnTo>
                <a:lnTo>
                  <a:pt x="1776" y="569"/>
                </a:lnTo>
                <a:lnTo>
                  <a:pt x="1776" y="567"/>
                </a:lnTo>
                <a:lnTo>
                  <a:pt x="1777" y="566"/>
                </a:lnTo>
                <a:lnTo>
                  <a:pt x="1778" y="564"/>
                </a:lnTo>
                <a:lnTo>
                  <a:pt x="1779" y="563"/>
                </a:lnTo>
                <a:lnTo>
                  <a:pt x="1780" y="561"/>
                </a:lnTo>
                <a:lnTo>
                  <a:pt x="1782" y="561"/>
                </a:lnTo>
                <a:lnTo>
                  <a:pt x="1784" y="560"/>
                </a:lnTo>
                <a:lnTo>
                  <a:pt x="1785" y="560"/>
                </a:lnTo>
                <a:close/>
                <a:moveTo>
                  <a:pt x="138" y="560"/>
                </a:moveTo>
                <a:lnTo>
                  <a:pt x="140" y="560"/>
                </a:lnTo>
                <a:lnTo>
                  <a:pt x="141" y="561"/>
                </a:lnTo>
                <a:lnTo>
                  <a:pt x="143" y="561"/>
                </a:lnTo>
                <a:lnTo>
                  <a:pt x="144" y="562"/>
                </a:lnTo>
                <a:lnTo>
                  <a:pt x="145" y="563"/>
                </a:lnTo>
                <a:lnTo>
                  <a:pt x="146" y="565"/>
                </a:lnTo>
                <a:lnTo>
                  <a:pt x="147" y="566"/>
                </a:lnTo>
                <a:lnTo>
                  <a:pt x="147" y="568"/>
                </a:lnTo>
                <a:lnTo>
                  <a:pt x="147" y="569"/>
                </a:lnTo>
                <a:lnTo>
                  <a:pt x="147" y="571"/>
                </a:lnTo>
                <a:lnTo>
                  <a:pt x="147" y="573"/>
                </a:lnTo>
                <a:lnTo>
                  <a:pt x="146" y="574"/>
                </a:lnTo>
                <a:lnTo>
                  <a:pt x="145" y="576"/>
                </a:lnTo>
                <a:lnTo>
                  <a:pt x="144" y="577"/>
                </a:lnTo>
                <a:lnTo>
                  <a:pt x="143" y="578"/>
                </a:lnTo>
                <a:lnTo>
                  <a:pt x="141" y="578"/>
                </a:lnTo>
                <a:lnTo>
                  <a:pt x="140" y="579"/>
                </a:lnTo>
                <a:lnTo>
                  <a:pt x="138" y="579"/>
                </a:lnTo>
                <a:lnTo>
                  <a:pt x="136" y="579"/>
                </a:lnTo>
                <a:lnTo>
                  <a:pt x="134" y="578"/>
                </a:lnTo>
                <a:lnTo>
                  <a:pt x="133" y="578"/>
                </a:lnTo>
                <a:lnTo>
                  <a:pt x="132" y="577"/>
                </a:lnTo>
                <a:lnTo>
                  <a:pt x="130" y="576"/>
                </a:lnTo>
                <a:lnTo>
                  <a:pt x="130" y="574"/>
                </a:lnTo>
                <a:lnTo>
                  <a:pt x="129" y="573"/>
                </a:lnTo>
                <a:lnTo>
                  <a:pt x="128" y="571"/>
                </a:lnTo>
                <a:lnTo>
                  <a:pt x="128" y="569"/>
                </a:lnTo>
                <a:lnTo>
                  <a:pt x="128" y="568"/>
                </a:lnTo>
                <a:lnTo>
                  <a:pt x="129" y="566"/>
                </a:lnTo>
                <a:lnTo>
                  <a:pt x="130" y="565"/>
                </a:lnTo>
                <a:lnTo>
                  <a:pt x="130" y="563"/>
                </a:lnTo>
                <a:lnTo>
                  <a:pt x="132" y="562"/>
                </a:lnTo>
                <a:lnTo>
                  <a:pt x="133" y="561"/>
                </a:lnTo>
                <a:lnTo>
                  <a:pt x="134" y="561"/>
                </a:lnTo>
                <a:lnTo>
                  <a:pt x="136" y="560"/>
                </a:lnTo>
                <a:lnTo>
                  <a:pt x="138" y="560"/>
                </a:lnTo>
                <a:close/>
                <a:moveTo>
                  <a:pt x="221" y="510"/>
                </a:moveTo>
                <a:lnTo>
                  <a:pt x="222" y="511"/>
                </a:lnTo>
                <a:lnTo>
                  <a:pt x="222" y="512"/>
                </a:lnTo>
                <a:lnTo>
                  <a:pt x="222" y="514"/>
                </a:lnTo>
                <a:lnTo>
                  <a:pt x="221" y="514"/>
                </a:lnTo>
                <a:lnTo>
                  <a:pt x="219" y="514"/>
                </a:lnTo>
                <a:lnTo>
                  <a:pt x="219" y="512"/>
                </a:lnTo>
                <a:lnTo>
                  <a:pt x="219" y="511"/>
                </a:lnTo>
                <a:lnTo>
                  <a:pt x="221" y="510"/>
                </a:lnTo>
                <a:close/>
                <a:moveTo>
                  <a:pt x="121" y="502"/>
                </a:moveTo>
                <a:lnTo>
                  <a:pt x="123" y="503"/>
                </a:lnTo>
                <a:lnTo>
                  <a:pt x="125" y="504"/>
                </a:lnTo>
                <a:lnTo>
                  <a:pt x="126" y="505"/>
                </a:lnTo>
                <a:lnTo>
                  <a:pt x="126" y="507"/>
                </a:lnTo>
                <a:lnTo>
                  <a:pt x="126" y="510"/>
                </a:lnTo>
                <a:lnTo>
                  <a:pt x="125" y="511"/>
                </a:lnTo>
                <a:lnTo>
                  <a:pt x="123" y="512"/>
                </a:lnTo>
                <a:lnTo>
                  <a:pt x="121" y="513"/>
                </a:lnTo>
                <a:lnTo>
                  <a:pt x="119" y="512"/>
                </a:lnTo>
                <a:lnTo>
                  <a:pt x="117" y="511"/>
                </a:lnTo>
                <a:lnTo>
                  <a:pt x="116" y="510"/>
                </a:lnTo>
                <a:lnTo>
                  <a:pt x="116" y="507"/>
                </a:lnTo>
                <a:lnTo>
                  <a:pt x="116" y="505"/>
                </a:lnTo>
                <a:lnTo>
                  <a:pt x="117" y="504"/>
                </a:lnTo>
                <a:lnTo>
                  <a:pt x="119" y="503"/>
                </a:lnTo>
                <a:lnTo>
                  <a:pt x="121" y="502"/>
                </a:lnTo>
                <a:close/>
                <a:moveTo>
                  <a:pt x="1753" y="499"/>
                </a:moveTo>
                <a:lnTo>
                  <a:pt x="1755" y="499"/>
                </a:lnTo>
                <a:lnTo>
                  <a:pt x="1757" y="500"/>
                </a:lnTo>
                <a:lnTo>
                  <a:pt x="1758" y="501"/>
                </a:lnTo>
                <a:lnTo>
                  <a:pt x="1760" y="502"/>
                </a:lnTo>
                <a:lnTo>
                  <a:pt x="1761" y="503"/>
                </a:lnTo>
                <a:lnTo>
                  <a:pt x="1762" y="504"/>
                </a:lnTo>
                <a:lnTo>
                  <a:pt x="1762" y="506"/>
                </a:lnTo>
                <a:lnTo>
                  <a:pt x="1763" y="507"/>
                </a:lnTo>
                <a:lnTo>
                  <a:pt x="1763" y="509"/>
                </a:lnTo>
                <a:lnTo>
                  <a:pt x="1763" y="511"/>
                </a:lnTo>
                <a:lnTo>
                  <a:pt x="1762" y="512"/>
                </a:lnTo>
                <a:lnTo>
                  <a:pt x="1762" y="514"/>
                </a:lnTo>
                <a:lnTo>
                  <a:pt x="1761" y="515"/>
                </a:lnTo>
                <a:lnTo>
                  <a:pt x="1760" y="516"/>
                </a:lnTo>
                <a:lnTo>
                  <a:pt x="1758" y="517"/>
                </a:lnTo>
                <a:lnTo>
                  <a:pt x="1757" y="518"/>
                </a:lnTo>
                <a:lnTo>
                  <a:pt x="1755" y="518"/>
                </a:lnTo>
                <a:lnTo>
                  <a:pt x="1753" y="518"/>
                </a:lnTo>
                <a:lnTo>
                  <a:pt x="1752" y="518"/>
                </a:lnTo>
                <a:lnTo>
                  <a:pt x="1750" y="518"/>
                </a:lnTo>
                <a:lnTo>
                  <a:pt x="1749" y="517"/>
                </a:lnTo>
                <a:lnTo>
                  <a:pt x="1747" y="516"/>
                </a:lnTo>
                <a:lnTo>
                  <a:pt x="1746" y="515"/>
                </a:lnTo>
                <a:lnTo>
                  <a:pt x="1745" y="514"/>
                </a:lnTo>
                <a:lnTo>
                  <a:pt x="1744" y="512"/>
                </a:lnTo>
                <a:lnTo>
                  <a:pt x="1744" y="511"/>
                </a:lnTo>
                <a:lnTo>
                  <a:pt x="1744" y="509"/>
                </a:lnTo>
                <a:lnTo>
                  <a:pt x="1744" y="507"/>
                </a:lnTo>
                <a:lnTo>
                  <a:pt x="1744" y="506"/>
                </a:lnTo>
                <a:lnTo>
                  <a:pt x="1745" y="504"/>
                </a:lnTo>
                <a:lnTo>
                  <a:pt x="1746" y="503"/>
                </a:lnTo>
                <a:lnTo>
                  <a:pt x="1747" y="502"/>
                </a:lnTo>
                <a:lnTo>
                  <a:pt x="1749" y="501"/>
                </a:lnTo>
                <a:lnTo>
                  <a:pt x="1750" y="500"/>
                </a:lnTo>
                <a:lnTo>
                  <a:pt x="1752" y="499"/>
                </a:lnTo>
                <a:lnTo>
                  <a:pt x="1753" y="499"/>
                </a:lnTo>
                <a:close/>
                <a:moveTo>
                  <a:pt x="1802" y="499"/>
                </a:moveTo>
                <a:lnTo>
                  <a:pt x="1804" y="499"/>
                </a:lnTo>
                <a:lnTo>
                  <a:pt x="1806" y="500"/>
                </a:lnTo>
                <a:lnTo>
                  <a:pt x="1808" y="501"/>
                </a:lnTo>
                <a:lnTo>
                  <a:pt x="1809" y="502"/>
                </a:lnTo>
                <a:lnTo>
                  <a:pt x="1810" y="503"/>
                </a:lnTo>
                <a:lnTo>
                  <a:pt x="1810" y="505"/>
                </a:lnTo>
                <a:lnTo>
                  <a:pt x="1811" y="507"/>
                </a:lnTo>
                <a:lnTo>
                  <a:pt x="1810" y="509"/>
                </a:lnTo>
                <a:lnTo>
                  <a:pt x="1810" y="511"/>
                </a:lnTo>
                <a:lnTo>
                  <a:pt x="1809" y="512"/>
                </a:lnTo>
                <a:lnTo>
                  <a:pt x="1808" y="513"/>
                </a:lnTo>
                <a:lnTo>
                  <a:pt x="1806" y="514"/>
                </a:lnTo>
                <a:lnTo>
                  <a:pt x="1804" y="515"/>
                </a:lnTo>
                <a:lnTo>
                  <a:pt x="1802" y="515"/>
                </a:lnTo>
                <a:lnTo>
                  <a:pt x="1801" y="515"/>
                </a:lnTo>
                <a:lnTo>
                  <a:pt x="1799" y="514"/>
                </a:lnTo>
                <a:lnTo>
                  <a:pt x="1797" y="513"/>
                </a:lnTo>
                <a:lnTo>
                  <a:pt x="1796" y="512"/>
                </a:lnTo>
                <a:lnTo>
                  <a:pt x="1795" y="511"/>
                </a:lnTo>
                <a:lnTo>
                  <a:pt x="1794" y="509"/>
                </a:lnTo>
                <a:lnTo>
                  <a:pt x="1794" y="507"/>
                </a:lnTo>
                <a:lnTo>
                  <a:pt x="1794" y="505"/>
                </a:lnTo>
                <a:lnTo>
                  <a:pt x="1795" y="503"/>
                </a:lnTo>
                <a:lnTo>
                  <a:pt x="1796" y="502"/>
                </a:lnTo>
                <a:lnTo>
                  <a:pt x="1797" y="501"/>
                </a:lnTo>
                <a:lnTo>
                  <a:pt x="1799" y="500"/>
                </a:lnTo>
                <a:lnTo>
                  <a:pt x="1801" y="499"/>
                </a:lnTo>
                <a:lnTo>
                  <a:pt x="1802" y="499"/>
                </a:lnTo>
                <a:close/>
                <a:moveTo>
                  <a:pt x="170" y="499"/>
                </a:moveTo>
                <a:lnTo>
                  <a:pt x="172" y="499"/>
                </a:lnTo>
                <a:lnTo>
                  <a:pt x="173" y="499"/>
                </a:lnTo>
                <a:lnTo>
                  <a:pt x="175" y="500"/>
                </a:lnTo>
                <a:lnTo>
                  <a:pt x="176" y="501"/>
                </a:lnTo>
                <a:lnTo>
                  <a:pt x="178" y="503"/>
                </a:lnTo>
                <a:lnTo>
                  <a:pt x="179" y="504"/>
                </a:lnTo>
                <a:lnTo>
                  <a:pt x="179" y="506"/>
                </a:lnTo>
                <a:lnTo>
                  <a:pt x="180" y="507"/>
                </a:lnTo>
                <a:lnTo>
                  <a:pt x="180" y="509"/>
                </a:lnTo>
                <a:lnTo>
                  <a:pt x="180" y="511"/>
                </a:lnTo>
                <a:lnTo>
                  <a:pt x="179" y="513"/>
                </a:lnTo>
                <a:lnTo>
                  <a:pt x="179" y="515"/>
                </a:lnTo>
                <a:lnTo>
                  <a:pt x="178" y="516"/>
                </a:lnTo>
                <a:lnTo>
                  <a:pt x="176" y="517"/>
                </a:lnTo>
                <a:lnTo>
                  <a:pt x="175" y="518"/>
                </a:lnTo>
                <a:lnTo>
                  <a:pt x="173" y="519"/>
                </a:lnTo>
                <a:lnTo>
                  <a:pt x="172" y="520"/>
                </a:lnTo>
                <a:lnTo>
                  <a:pt x="170" y="520"/>
                </a:lnTo>
                <a:lnTo>
                  <a:pt x="168" y="520"/>
                </a:lnTo>
                <a:lnTo>
                  <a:pt x="166" y="519"/>
                </a:lnTo>
                <a:lnTo>
                  <a:pt x="165" y="518"/>
                </a:lnTo>
                <a:lnTo>
                  <a:pt x="163" y="517"/>
                </a:lnTo>
                <a:lnTo>
                  <a:pt x="162" y="516"/>
                </a:lnTo>
                <a:lnTo>
                  <a:pt x="161" y="515"/>
                </a:lnTo>
                <a:lnTo>
                  <a:pt x="160" y="513"/>
                </a:lnTo>
                <a:lnTo>
                  <a:pt x="160" y="511"/>
                </a:lnTo>
                <a:lnTo>
                  <a:pt x="159" y="509"/>
                </a:lnTo>
                <a:lnTo>
                  <a:pt x="160" y="507"/>
                </a:lnTo>
                <a:lnTo>
                  <a:pt x="160" y="506"/>
                </a:lnTo>
                <a:lnTo>
                  <a:pt x="161" y="504"/>
                </a:lnTo>
                <a:lnTo>
                  <a:pt x="162" y="503"/>
                </a:lnTo>
                <a:lnTo>
                  <a:pt x="163" y="501"/>
                </a:lnTo>
                <a:lnTo>
                  <a:pt x="165" y="500"/>
                </a:lnTo>
                <a:lnTo>
                  <a:pt x="166" y="499"/>
                </a:lnTo>
                <a:lnTo>
                  <a:pt x="168" y="499"/>
                </a:lnTo>
                <a:lnTo>
                  <a:pt x="170" y="499"/>
                </a:lnTo>
                <a:close/>
                <a:moveTo>
                  <a:pt x="259" y="454"/>
                </a:moveTo>
                <a:lnTo>
                  <a:pt x="260" y="454"/>
                </a:lnTo>
                <a:lnTo>
                  <a:pt x="261" y="456"/>
                </a:lnTo>
                <a:lnTo>
                  <a:pt x="260" y="458"/>
                </a:lnTo>
                <a:lnTo>
                  <a:pt x="259" y="458"/>
                </a:lnTo>
                <a:lnTo>
                  <a:pt x="257" y="458"/>
                </a:lnTo>
                <a:lnTo>
                  <a:pt x="256" y="456"/>
                </a:lnTo>
                <a:lnTo>
                  <a:pt x="257" y="454"/>
                </a:lnTo>
                <a:lnTo>
                  <a:pt x="259" y="454"/>
                </a:lnTo>
                <a:close/>
                <a:moveTo>
                  <a:pt x="156" y="443"/>
                </a:moveTo>
                <a:lnTo>
                  <a:pt x="158" y="443"/>
                </a:lnTo>
                <a:lnTo>
                  <a:pt x="160" y="445"/>
                </a:lnTo>
                <a:lnTo>
                  <a:pt x="161" y="446"/>
                </a:lnTo>
                <a:lnTo>
                  <a:pt x="161" y="448"/>
                </a:lnTo>
                <a:lnTo>
                  <a:pt x="161" y="451"/>
                </a:lnTo>
                <a:lnTo>
                  <a:pt x="160" y="452"/>
                </a:lnTo>
                <a:lnTo>
                  <a:pt x="158" y="454"/>
                </a:lnTo>
                <a:lnTo>
                  <a:pt x="156" y="454"/>
                </a:lnTo>
                <a:lnTo>
                  <a:pt x="154" y="454"/>
                </a:lnTo>
                <a:lnTo>
                  <a:pt x="152" y="452"/>
                </a:lnTo>
                <a:lnTo>
                  <a:pt x="151" y="451"/>
                </a:lnTo>
                <a:lnTo>
                  <a:pt x="150" y="448"/>
                </a:lnTo>
                <a:lnTo>
                  <a:pt x="151" y="446"/>
                </a:lnTo>
                <a:lnTo>
                  <a:pt x="152" y="445"/>
                </a:lnTo>
                <a:lnTo>
                  <a:pt x="154" y="443"/>
                </a:lnTo>
                <a:lnTo>
                  <a:pt x="156" y="443"/>
                </a:lnTo>
                <a:close/>
                <a:moveTo>
                  <a:pt x="1717" y="441"/>
                </a:moveTo>
                <a:lnTo>
                  <a:pt x="1719" y="442"/>
                </a:lnTo>
                <a:lnTo>
                  <a:pt x="1720" y="442"/>
                </a:lnTo>
                <a:lnTo>
                  <a:pt x="1722" y="443"/>
                </a:lnTo>
                <a:lnTo>
                  <a:pt x="1723" y="444"/>
                </a:lnTo>
                <a:lnTo>
                  <a:pt x="1724" y="445"/>
                </a:lnTo>
                <a:lnTo>
                  <a:pt x="1725" y="446"/>
                </a:lnTo>
                <a:lnTo>
                  <a:pt x="1726" y="448"/>
                </a:lnTo>
                <a:lnTo>
                  <a:pt x="1726" y="449"/>
                </a:lnTo>
                <a:lnTo>
                  <a:pt x="1727" y="451"/>
                </a:lnTo>
                <a:lnTo>
                  <a:pt x="1726" y="453"/>
                </a:lnTo>
                <a:lnTo>
                  <a:pt x="1726" y="454"/>
                </a:lnTo>
                <a:lnTo>
                  <a:pt x="1725" y="456"/>
                </a:lnTo>
                <a:lnTo>
                  <a:pt x="1724" y="457"/>
                </a:lnTo>
                <a:lnTo>
                  <a:pt x="1723" y="458"/>
                </a:lnTo>
                <a:lnTo>
                  <a:pt x="1722" y="459"/>
                </a:lnTo>
                <a:lnTo>
                  <a:pt x="1720" y="460"/>
                </a:lnTo>
                <a:lnTo>
                  <a:pt x="1719" y="460"/>
                </a:lnTo>
                <a:lnTo>
                  <a:pt x="1717" y="461"/>
                </a:lnTo>
                <a:lnTo>
                  <a:pt x="1715" y="460"/>
                </a:lnTo>
                <a:lnTo>
                  <a:pt x="1714" y="460"/>
                </a:lnTo>
                <a:lnTo>
                  <a:pt x="1712" y="459"/>
                </a:lnTo>
                <a:lnTo>
                  <a:pt x="1711" y="458"/>
                </a:lnTo>
                <a:lnTo>
                  <a:pt x="1710" y="457"/>
                </a:lnTo>
                <a:lnTo>
                  <a:pt x="1709" y="456"/>
                </a:lnTo>
                <a:lnTo>
                  <a:pt x="1708" y="454"/>
                </a:lnTo>
                <a:lnTo>
                  <a:pt x="1708" y="453"/>
                </a:lnTo>
                <a:lnTo>
                  <a:pt x="1708" y="451"/>
                </a:lnTo>
                <a:lnTo>
                  <a:pt x="1708" y="449"/>
                </a:lnTo>
                <a:lnTo>
                  <a:pt x="1708" y="448"/>
                </a:lnTo>
                <a:lnTo>
                  <a:pt x="1709" y="446"/>
                </a:lnTo>
                <a:lnTo>
                  <a:pt x="1710" y="445"/>
                </a:lnTo>
                <a:lnTo>
                  <a:pt x="1711" y="444"/>
                </a:lnTo>
                <a:lnTo>
                  <a:pt x="1712" y="443"/>
                </a:lnTo>
                <a:lnTo>
                  <a:pt x="1714" y="442"/>
                </a:lnTo>
                <a:lnTo>
                  <a:pt x="1715" y="442"/>
                </a:lnTo>
                <a:lnTo>
                  <a:pt x="1717" y="441"/>
                </a:lnTo>
                <a:close/>
                <a:moveTo>
                  <a:pt x="206" y="441"/>
                </a:moveTo>
                <a:lnTo>
                  <a:pt x="208" y="441"/>
                </a:lnTo>
                <a:lnTo>
                  <a:pt x="210" y="441"/>
                </a:lnTo>
                <a:lnTo>
                  <a:pt x="211" y="442"/>
                </a:lnTo>
                <a:lnTo>
                  <a:pt x="213" y="443"/>
                </a:lnTo>
                <a:lnTo>
                  <a:pt x="214" y="444"/>
                </a:lnTo>
                <a:lnTo>
                  <a:pt x="215" y="445"/>
                </a:lnTo>
                <a:lnTo>
                  <a:pt x="216" y="446"/>
                </a:lnTo>
                <a:lnTo>
                  <a:pt x="217" y="448"/>
                </a:lnTo>
                <a:lnTo>
                  <a:pt x="217" y="450"/>
                </a:lnTo>
                <a:lnTo>
                  <a:pt x="217" y="452"/>
                </a:lnTo>
                <a:lnTo>
                  <a:pt x="217" y="453"/>
                </a:lnTo>
                <a:lnTo>
                  <a:pt x="217" y="455"/>
                </a:lnTo>
                <a:lnTo>
                  <a:pt x="216" y="457"/>
                </a:lnTo>
                <a:lnTo>
                  <a:pt x="215" y="458"/>
                </a:lnTo>
                <a:lnTo>
                  <a:pt x="214" y="459"/>
                </a:lnTo>
                <a:lnTo>
                  <a:pt x="213" y="460"/>
                </a:lnTo>
                <a:lnTo>
                  <a:pt x="211" y="461"/>
                </a:lnTo>
                <a:lnTo>
                  <a:pt x="210" y="462"/>
                </a:lnTo>
                <a:lnTo>
                  <a:pt x="208" y="462"/>
                </a:lnTo>
                <a:lnTo>
                  <a:pt x="206" y="462"/>
                </a:lnTo>
                <a:lnTo>
                  <a:pt x="205" y="462"/>
                </a:lnTo>
                <a:lnTo>
                  <a:pt x="203" y="462"/>
                </a:lnTo>
                <a:lnTo>
                  <a:pt x="201" y="461"/>
                </a:lnTo>
                <a:lnTo>
                  <a:pt x="200" y="460"/>
                </a:lnTo>
                <a:lnTo>
                  <a:pt x="199" y="459"/>
                </a:lnTo>
                <a:lnTo>
                  <a:pt x="197" y="458"/>
                </a:lnTo>
                <a:lnTo>
                  <a:pt x="197" y="457"/>
                </a:lnTo>
                <a:lnTo>
                  <a:pt x="196" y="455"/>
                </a:lnTo>
                <a:lnTo>
                  <a:pt x="196" y="453"/>
                </a:lnTo>
                <a:lnTo>
                  <a:pt x="195" y="452"/>
                </a:lnTo>
                <a:lnTo>
                  <a:pt x="196" y="450"/>
                </a:lnTo>
                <a:lnTo>
                  <a:pt x="196" y="448"/>
                </a:lnTo>
                <a:lnTo>
                  <a:pt x="197" y="446"/>
                </a:lnTo>
                <a:lnTo>
                  <a:pt x="197" y="445"/>
                </a:lnTo>
                <a:lnTo>
                  <a:pt x="199" y="444"/>
                </a:lnTo>
                <a:lnTo>
                  <a:pt x="200" y="443"/>
                </a:lnTo>
                <a:lnTo>
                  <a:pt x="201" y="442"/>
                </a:lnTo>
                <a:lnTo>
                  <a:pt x="203" y="441"/>
                </a:lnTo>
                <a:lnTo>
                  <a:pt x="205" y="441"/>
                </a:lnTo>
                <a:lnTo>
                  <a:pt x="206" y="441"/>
                </a:lnTo>
                <a:close/>
                <a:moveTo>
                  <a:pt x="1767" y="439"/>
                </a:moveTo>
                <a:lnTo>
                  <a:pt x="1769" y="439"/>
                </a:lnTo>
                <a:lnTo>
                  <a:pt x="1771" y="440"/>
                </a:lnTo>
                <a:lnTo>
                  <a:pt x="1772" y="441"/>
                </a:lnTo>
                <a:lnTo>
                  <a:pt x="1773" y="442"/>
                </a:lnTo>
                <a:lnTo>
                  <a:pt x="1775" y="443"/>
                </a:lnTo>
                <a:lnTo>
                  <a:pt x="1775" y="445"/>
                </a:lnTo>
                <a:lnTo>
                  <a:pt x="1776" y="446"/>
                </a:lnTo>
                <a:lnTo>
                  <a:pt x="1776" y="448"/>
                </a:lnTo>
                <a:lnTo>
                  <a:pt x="1776" y="450"/>
                </a:lnTo>
                <a:lnTo>
                  <a:pt x="1775" y="451"/>
                </a:lnTo>
                <a:lnTo>
                  <a:pt x="1775" y="453"/>
                </a:lnTo>
                <a:lnTo>
                  <a:pt x="1773" y="454"/>
                </a:lnTo>
                <a:lnTo>
                  <a:pt x="1772" y="455"/>
                </a:lnTo>
                <a:lnTo>
                  <a:pt x="1771" y="456"/>
                </a:lnTo>
                <a:lnTo>
                  <a:pt x="1769" y="457"/>
                </a:lnTo>
                <a:lnTo>
                  <a:pt x="1767" y="457"/>
                </a:lnTo>
                <a:lnTo>
                  <a:pt x="1765" y="457"/>
                </a:lnTo>
                <a:lnTo>
                  <a:pt x="1764" y="456"/>
                </a:lnTo>
                <a:lnTo>
                  <a:pt x="1762" y="455"/>
                </a:lnTo>
                <a:lnTo>
                  <a:pt x="1761" y="454"/>
                </a:lnTo>
                <a:lnTo>
                  <a:pt x="1760" y="453"/>
                </a:lnTo>
                <a:lnTo>
                  <a:pt x="1759" y="451"/>
                </a:lnTo>
                <a:lnTo>
                  <a:pt x="1759" y="450"/>
                </a:lnTo>
                <a:lnTo>
                  <a:pt x="1758" y="448"/>
                </a:lnTo>
                <a:lnTo>
                  <a:pt x="1759" y="446"/>
                </a:lnTo>
                <a:lnTo>
                  <a:pt x="1759" y="445"/>
                </a:lnTo>
                <a:lnTo>
                  <a:pt x="1760" y="443"/>
                </a:lnTo>
                <a:lnTo>
                  <a:pt x="1761" y="442"/>
                </a:lnTo>
                <a:lnTo>
                  <a:pt x="1762" y="441"/>
                </a:lnTo>
                <a:lnTo>
                  <a:pt x="1764" y="440"/>
                </a:lnTo>
                <a:lnTo>
                  <a:pt x="1765" y="439"/>
                </a:lnTo>
                <a:lnTo>
                  <a:pt x="1767" y="439"/>
                </a:lnTo>
                <a:close/>
                <a:moveTo>
                  <a:pt x="301" y="400"/>
                </a:moveTo>
                <a:lnTo>
                  <a:pt x="303" y="400"/>
                </a:lnTo>
                <a:lnTo>
                  <a:pt x="304" y="402"/>
                </a:lnTo>
                <a:lnTo>
                  <a:pt x="303" y="404"/>
                </a:lnTo>
                <a:lnTo>
                  <a:pt x="301" y="405"/>
                </a:lnTo>
                <a:lnTo>
                  <a:pt x="299" y="404"/>
                </a:lnTo>
                <a:lnTo>
                  <a:pt x="298" y="402"/>
                </a:lnTo>
                <a:lnTo>
                  <a:pt x="299" y="400"/>
                </a:lnTo>
                <a:lnTo>
                  <a:pt x="301" y="400"/>
                </a:lnTo>
                <a:close/>
                <a:moveTo>
                  <a:pt x="195" y="387"/>
                </a:moveTo>
                <a:lnTo>
                  <a:pt x="197" y="387"/>
                </a:lnTo>
                <a:lnTo>
                  <a:pt x="198" y="388"/>
                </a:lnTo>
                <a:lnTo>
                  <a:pt x="200" y="389"/>
                </a:lnTo>
                <a:lnTo>
                  <a:pt x="201" y="391"/>
                </a:lnTo>
                <a:lnTo>
                  <a:pt x="201" y="393"/>
                </a:lnTo>
                <a:lnTo>
                  <a:pt x="201" y="395"/>
                </a:lnTo>
                <a:lnTo>
                  <a:pt x="200" y="396"/>
                </a:lnTo>
                <a:lnTo>
                  <a:pt x="198" y="397"/>
                </a:lnTo>
                <a:lnTo>
                  <a:pt x="197" y="398"/>
                </a:lnTo>
                <a:lnTo>
                  <a:pt x="195" y="399"/>
                </a:lnTo>
                <a:lnTo>
                  <a:pt x="193" y="398"/>
                </a:lnTo>
                <a:lnTo>
                  <a:pt x="191" y="397"/>
                </a:lnTo>
                <a:lnTo>
                  <a:pt x="190" y="396"/>
                </a:lnTo>
                <a:lnTo>
                  <a:pt x="189" y="395"/>
                </a:lnTo>
                <a:lnTo>
                  <a:pt x="189" y="393"/>
                </a:lnTo>
                <a:lnTo>
                  <a:pt x="189" y="391"/>
                </a:lnTo>
                <a:lnTo>
                  <a:pt x="190" y="389"/>
                </a:lnTo>
                <a:lnTo>
                  <a:pt x="191" y="388"/>
                </a:lnTo>
                <a:lnTo>
                  <a:pt x="193" y="387"/>
                </a:lnTo>
                <a:lnTo>
                  <a:pt x="195" y="387"/>
                </a:lnTo>
                <a:close/>
                <a:moveTo>
                  <a:pt x="1676" y="386"/>
                </a:moveTo>
                <a:lnTo>
                  <a:pt x="1678" y="387"/>
                </a:lnTo>
                <a:lnTo>
                  <a:pt x="1680" y="387"/>
                </a:lnTo>
                <a:lnTo>
                  <a:pt x="1681" y="388"/>
                </a:lnTo>
                <a:lnTo>
                  <a:pt x="1683" y="389"/>
                </a:lnTo>
                <a:lnTo>
                  <a:pt x="1684" y="390"/>
                </a:lnTo>
                <a:lnTo>
                  <a:pt x="1685" y="391"/>
                </a:lnTo>
                <a:lnTo>
                  <a:pt x="1685" y="393"/>
                </a:lnTo>
                <a:lnTo>
                  <a:pt x="1686" y="395"/>
                </a:lnTo>
                <a:lnTo>
                  <a:pt x="1686" y="396"/>
                </a:lnTo>
                <a:lnTo>
                  <a:pt x="1686" y="398"/>
                </a:lnTo>
                <a:lnTo>
                  <a:pt x="1685" y="400"/>
                </a:lnTo>
                <a:lnTo>
                  <a:pt x="1685" y="401"/>
                </a:lnTo>
                <a:lnTo>
                  <a:pt x="1684" y="403"/>
                </a:lnTo>
                <a:lnTo>
                  <a:pt x="1683" y="404"/>
                </a:lnTo>
                <a:lnTo>
                  <a:pt x="1681" y="405"/>
                </a:lnTo>
                <a:lnTo>
                  <a:pt x="1680" y="405"/>
                </a:lnTo>
                <a:lnTo>
                  <a:pt x="1678" y="406"/>
                </a:lnTo>
                <a:lnTo>
                  <a:pt x="1676" y="406"/>
                </a:lnTo>
                <a:lnTo>
                  <a:pt x="1675" y="406"/>
                </a:lnTo>
                <a:lnTo>
                  <a:pt x="1673" y="405"/>
                </a:lnTo>
                <a:lnTo>
                  <a:pt x="1671" y="405"/>
                </a:lnTo>
                <a:lnTo>
                  <a:pt x="1670" y="404"/>
                </a:lnTo>
                <a:lnTo>
                  <a:pt x="1669" y="403"/>
                </a:lnTo>
                <a:lnTo>
                  <a:pt x="1668" y="401"/>
                </a:lnTo>
                <a:lnTo>
                  <a:pt x="1667" y="400"/>
                </a:lnTo>
                <a:lnTo>
                  <a:pt x="1667" y="398"/>
                </a:lnTo>
                <a:lnTo>
                  <a:pt x="1666" y="396"/>
                </a:lnTo>
                <a:lnTo>
                  <a:pt x="1667" y="395"/>
                </a:lnTo>
                <a:lnTo>
                  <a:pt x="1667" y="393"/>
                </a:lnTo>
                <a:lnTo>
                  <a:pt x="1668" y="391"/>
                </a:lnTo>
                <a:lnTo>
                  <a:pt x="1669" y="390"/>
                </a:lnTo>
                <a:lnTo>
                  <a:pt x="1670" y="389"/>
                </a:lnTo>
                <a:lnTo>
                  <a:pt x="1671" y="388"/>
                </a:lnTo>
                <a:lnTo>
                  <a:pt x="1673" y="387"/>
                </a:lnTo>
                <a:lnTo>
                  <a:pt x="1675" y="387"/>
                </a:lnTo>
                <a:lnTo>
                  <a:pt x="1676" y="386"/>
                </a:lnTo>
                <a:close/>
                <a:moveTo>
                  <a:pt x="247" y="386"/>
                </a:moveTo>
                <a:lnTo>
                  <a:pt x="248" y="386"/>
                </a:lnTo>
                <a:lnTo>
                  <a:pt x="250" y="386"/>
                </a:lnTo>
                <a:lnTo>
                  <a:pt x="252" y="387"/>
                </a:lnTo>
                <a:lnTo>
                  <a:pt x="253" y="388"/>
                </a:lnTo>
                <a:lnTo>
                  <a:pt x="255" y="389"/>
                </a:lnTo>
                <a:lnTo>
                  <a:pt x="256" y="390"/>
                </a:lnTo>
                <a:lnTo>
                  <a:pt x="257" y="392"/>
                </a:lnTo>
                <a:lnTo>
                  <a:pt x="257" y="393"/>
                </a:lnTo>
                <a:lnTo>
                  <a:pt x="258" y="395"/>
                </a:lnTo>
                <a:lnTo>
                  <a:pt x="258" y="397"/>
                </a:lnTo>
                <a:lnTo>
                  <a:pt x="258" y="399"/>
                </a:lnTo>
                <a:lnTo>
                  <a:pt x="257" y="400"/>
                </a:lnTo>
                <a:lnTo>
                  <a:pt x="257" y="402"/>
                </a:lnTo>
                <a:lnTo>
                  <a:pt x="256" y="403"/>
                </a:lnTo>
                <a:lnTo>
                  <a:pt x="255" y="405"/>
                </a:lnTo>
                <a:lnTo>
                  <a:pt x="253" y="406"/>
                </a:lnTo>
                <a:lnTo>
                  <a:pt x="252" y="407"/>
                </a:lnTo>
                <a:lnTo>
                  <a:pt x="250" y="407"/>
                </a:lnTo>
                <a:lnTo>
                  <a:pt x="248" y="408"/>
                </a:lnTo>
                <a:lnTo>
                  <a:pt x="247" y="408"/>
                </a:lnTo>
                <a:lnTo>
                  <a:pt x="245" y="408"/>
                </a:lnTo>
                <a:lnTo>
                  <a:pt x="243" y="407"/>
                </a:lnTo>
                <a:lnTo>
                  <a:pt x="242" y="407"/>
                </a:lnTo>
                <a:lnTo>
                  <a:pt x="240" y="406"/>
                </a:lnTo>
                <a:lnTo>
                  <a:pt x="239" y="405"/>
                </a:lnTo>
                <a:lnTo>
                  <a:pt x="238" y="403"/>
                </a:lnTo>
                <a:lnTo>
                  <a:pt x="237" y="402"/>
                </a:lnTo>
                <a:lnTo>
                  <a:pt x="236" y="400"/>
                </a:lnTo>
                <a:lnTo>
                  <a:pt x="236" y="399"/>
                </a:lnTo>
                <a:lnTo>
                  <a:pt x="235" y="397"/>
                </a:lnTo>
                <a:lnTo>
                  <a:pt x="236" y="395"/>
                </a:lnTo>
                <a:lnTo>
                  <a:pt x="236" y="393"/>
                </a:lnTo>
                <a:lnTo>
                  <a:pt x="237" y="392"/>
                </a:lnTo>
                <a:lnTo>
                  <a:pt x="238" y="390"/>
                </a:lnTo>
                <a:lnTo>
                  <a:pt x="239" y="389"/>
                </a:lnTo>
                <a:lnTo>
                  <a:pt x="240" y="388"/>
                </a:lnTo>
                <a:lnTo>
                  <a:pt x="242" y="387"/>
                </a:lnTo>
                <a:lnTo>
                  <a:pt x="243" y="386"/>
                </a:lnTo>
                <a:lnTo>
                  <a:pt x="245" y="386"/>
                </a:lnTo>
                <a:lnTo>
                  <a:pt x="247" y="386"/>
                </a:lnTo>
                <a:close/>
                <a:moveTo>
                  <a:pt x="1728" y="383"/>
                </a:moveTo>
                <a:lnTo>
                  <a:pt x="1730" y="383"/>
                </a:lnTo>
                <a:lnTo>
                  <a:pt x="1732" y="383"/>
                </a:lnTo>
                <a:lnTo>
                  <a:pt x="1733" y="384"/>
                </a:lnTo>
                <a:lnTo>
                  <a:pt x="1735" y="385"/>
                </a:lnTo>
                <a:lnTo>
                  <a:pt x="1736" y="387"/>
                </a:lnTo>
                <a:lnTo>
                  <a:pt x="1737" y="388"/>
                </a:lnTo>
                <a:lnTo>
                  <a:pt x="1737" y="390"/>
                </a:lnTo>
                <a:lnTo>
                  <a:pt x="1737" y="392"/>
                </a:lnTo>
                <a:lnTo>
                  <a:pt x="1737" y="394"/>
                </a:lnTo>
                <a:lnTo>
                  <a:pt x="1737" y="396"/>
                </a:lnTo>
                <a:lnTo>
                  <a:pt x="1736" y="397"/>
                </a:lnTo>
                <a:lnTo>
                  <a:pt x="1735" y="399"/>
                </a:lnTo>
                <a:lnTo>
                  <a:pt x="1733" y="400"/>
                </a:lnTo>
                <a:lnTo>
                  <a:pt x="1732" y="401"/>
                </a:lnTo>
                <a:lnTo>
                  <a:pt x="1730" y="401"/>
                </a:lnTo>
                <a:lnTo>
                  <a:pt x="1728" y="401"/>
                </a:lnTo>
                <a:lnTo>
                  <a:pt x="1726" y="401"/>
                </a:lnTo>
                <a:lnTo>
                  <a:pt x="1724" y="401"/>
                </a:lnTo>
                <a:lnTo>
                  <a:pt x="1723" y="400"/>
                </a:lnTo>
                <a:lnTo>
                  <a:pt x="1721" y="399"/>
                </a:lnTo>
                <a:lnTo>
                  <a:pt x="1720" y="397"/>
                </a:lnTo>
                <a:lnTo>
                  <a:pt x="1719" y="396"/>
                </a:lnTo>
                <a:lnTo>
                  <a:pt x="1719" y="394"/>
                </a:lnTo>
                <a:lnTo>
                  <a:pt x="1719" y="392"/>
                </a:lnTo>
                <a:lnTo>
                  <a:pt x="1719" y="390"/>
                </a:lnTo>
                <a:lnTo>
                  <a:pt x="1719" y="388"/>
                </a:lnTo>
                <a:lnTo>
                  <a:pt x="1720" y="387"/>
                </a:lnTo>
                <a:lnTo>
                  <a:pt x="1721" y="385"/>
                </a:lnTo>
                <a:lnTo>
                  <a:pt x="1723" y="384"/>
                </a:lnTo>
                <a:lnTo>
                  <a:pt x="1724" y="383"/>
                </a:lnTo>
                <a:lnTo>
                  <a:pt x="1726" y="383"/>
                </a:lnTo>
                <a:lnTo>
                  <a:pt x="1728" y="383"/>
                </a:lnTo>
                <a:close/>
                <a:moveTo>
                  <a:pt x="347" y="349"/>
                </a:moveTo>
                <a:lnTo>
                  <a:pt x="350" y="350"/>
                </a:lnTo>
                <a:lnTo>
                  <a:pt x="351" y="352"/>
                </a:lnTo>
                <a:lnTo>
                  <a:pt x="350" y="355"/>
                </a:lnTo>
                <a:lnTo>
                  <a:pt x="347" y="356"/>
                </a:lnTo>
                <a:lnTo>
                  <a:pt x="345" y="355"/>
                </a:lnTo>
                <a:lnTo>
                  <a:pt x="344" y="352"/>
                </a:lnTo>
                <a:lnTo>
                  <a:pt x="345" y="350"/>
                </a:lnTo>
                <a:lnTo>
                  <a:pt x="347" y="349"/>
                </a:lnTo>
                <a:close/>
                <a:moveTo>
                  <a:pt x="1632" y="335"/>
                </a:moveTo>
                <a:lnTo>
                  <a:pt x="1633" y="335"/>
                </a:lnTo>
                <a:lnTo>
                  <a:pt x="1635" y="335"/>
                </a:lnTo>
                <a:lnTo>
                  <a:pt x="1636" y="336"/>
                </a:lnTo>
                <a:lnTo>
                  <a:pt x="1638" y="337"/>
                </a:lnTo>
                <a:lnTo>
                  <a:pt x="1639" y="338"/>
                </a:lnTo>
                <a:lnTo>
                  <a:pt x="1640" y="340"/>
                </a:lnTo>
                <a:lnTo>
                  <a:pt x="1641" y="341"/>
                </a:lnTo>
                <a:lnTo>
                  <a:pt x="1641" y="343"/>
                </a:lnTo>
                <a:lnTo>
                  <a:pt x="1641" y="345"/>
                </a:lnTo>
                <a:lnTo>
                  <a:pt x="1641" y="346"/>
                </a:lnTo>
                <a:lnTo>
                  <a:pt x="1641" y="348"/>
                </a:lnTo>
                <a:lnTo>
                  <a:pt x="1640" y="349"/>
                </a:lnTo>
                <a:lnTo>
                  <a:pt x="1639" y="351"/>
                </a:lnTo>
                <a:lnTo>
                  <a:pt x="1638" y="352"/>
                </a:lnTo>
                <a:lnTo>
                  <a:pt x="1636" y="353"/>
                </a:lnTo>
                <a:lnTo>
                  <a:pt x="1635" y="354"/>
                </a:lnTo>
                <a:lnTo>
                  <a:pt x="1633" y="354"/>
                </a:lnTo>
                <a:lnTo>
                  <a:pt x="1632" y="354"/>
                </a:lnTo>
                <a:lnTo>
                  <a:pt x="1630" y="354"/>
                </a:lnTo>
                <a:lnTo>
                  <a:pt x="1628" y="354"/>
                </a:lnTo>
                <a:lnTo>
                  <a:pt x="1627" y="353"/>
                </a:lnTo>
                <a:lnTo>
                  <a:pt x="1625" y="352"/>
                </a:lnTo>
                <a:lnTo>
                  <a:pt x="1624" y="351"/>
                </a:lnTo>
                <a:lnTo>
                  <a:pt x="1623" y="349"/>
                </a:lnTo>
                <a:lnTo>
                  <a:pt x="1622" y="348"/>
                </a:lnTo>
                <a:lnTo>
                  <a:pt x="1622" y="346"/>
                </a:lnTo>
                <a:lnTo>
                  <a:pt x="1622" y="345"/>
                </a:lnTo>
                <a:lnTo>
                  <a:pt x="1622" y="343"/>
                </a:lnTo>
                <a:lnTo>
                  <a:pt x="1622" y="341"/>
                </a:lnTo>
                <a:lnTo>
                  <a:pt x="1623" y="340"/>
                </a:lnTo>
                <a:lnTo>
                  <a:pt x="1624" y="338"/>
                </a:lnTo>
                <a:lnTo>
                  <a:pt x="1625" y="337"/>
                </a:lnTo>
                <a:lnTo>
                  <a:pt x="1627" y="336"/>
                </a:lnTo>
                <a:lnTo>
                  <a:pt x="1628" y="335"/>
                </a:lnTo>
                <a:lnTo>
                  <a:pt x="1630" y="335"/>
                </a:lnTo>
                <a:lnTo>
                  <a:pt x="1632" y="335"/>
                </a:lnTo>
                <a:close/>
                <a:moveTo>
                  <a:pt x="291" y="334"/>
                </a:moveTo>
                <a:lnTo>
                  <a:pt x="293" y="334"/>
                </a:lnTo>
                <a:lnTo>
                  <a:pt x="295" y="334"/>
                </a:lnTo>
                <a:lnTo>
                  <a:pt x="297" y="335"/>
                </a:lnTo>
                <a:lnTo>
                  <a:pt x="298" y="336"/>
                </a:lnTo>
                <a:lnTo>
                  <a:pt x="299" y="337"/>
                </a:lnTo>
                <a:lnTo>
                  <a:pt x="300" y="338"/>
                </a:lnTo>
                <a:lnTo>
                  <a:pt x="301" y="340"/>
                </a:lnTo>
                <a:lnTo>
                  <a:pt x="302" y="341"/>
                </a:lnTo>
                <a:lnTo>
                  <a:pt x="302" y="343"/>
                </a:lnTo>
                <a:lnTo>
                  <a:pt x="303" y="345"/>
                </a:lnTo>
                <a:lnTo>
                  <a:pt x="302" y="347"/>
                </a:lnTo>
                <a:lnTo>
                  <a:pt x="302" y="349"/>
                </a:lnTo>
                <a:lnTo>
                  <a:pt x="301" y="350"/>
                </a:lnTo>
                <a:lnTo>
                  <a:pt x="300" y="352"/>
                </a:lnTo>
                <a:lnTo>
                  <a:pt x="299" y="353"/>
                </a:lnTo>
                <a:lnTo>
                  <a:pt x="298" y="354"/>
                </a:lnTo>
                <a:lnTo>
                  <a:pt x="297" y="355"/>
                </a:lnTo>
                <a:lnTo>
                  <a:pt x="295" y="356"/>
                </a:lnTo>
                <a:lnTo>
                  <a:pt x="293" y="356"/>
                </a:lnTo>
                <a:lnTo>
                  <a:pt x="291" y="356"/>
                </a:lnTo>
                <a:lnTo>
                  <a:pt x="290" y="356"/>
                </a:lnTo>
                <a:lnTo>
                  <a:pt x="288" y="356"/>
                </a:lnTo>
                <a:lnTo>
                  <a:pt x="286" y="355"/>
                </a:lnTo>
                <a:lnTo>
                  <a:pt x="285" y="354"/>
                </a:lnTo>
                <a:lnTo>
                  <a:pt x="284" y="353"/>
                </a:lnTo>
                <a:lnTo>
                  <a:pt x="282" y="352"/>
                </a:lnTo>
                <a:lnTo>
                  <a:pt x="281" y="350"/>
                </a:lnTo>
                <a:lnTo>
                  <a:pt x="281" y="349"/>
                </a:lnTo>
                <a:lnTo>
                  <a:pt x="280" y="347"/>
                </a:lnTo>
                <a:lnTo>
                  <a:pt x="280" y="345"/>
                </a:lnTo>
                <a:lnTo>
                  <a:pt x="280" y="343"/>
                </a:lnTo>
                <a:lnTo>
                  <a:pt x="281" y="341"/>
                </a:lnTo>
                <a:lnTo>
                  <a:pt x="281" y="340"/>
                </a:lnTo>
                <a:lnTo>
                  <a:pt x="282" y="338"/>
                </a:lnTo>
                <a:lnTo>
                  <a:pt x="284" y="337"/>
                </a:lnTo>
                <a:lnTo>
                  <a:pt x="285" y="336"/>
                </a:lnTo>
                <a:lnTo>
                  <a:pt x="286" y="335"/>
                </a:lnTo>
                <a:lnTo>
                  <a:pt x="288" y="334"/>
                </a:lnTo>
                <a:lnTo>
                  <a:pt x="290" y="334"/>
                </a:lnTo>
                <a:lnTo>
                  <a:pt x="291" y="334"/>
                </a:lnTo>
                <a:close/>
                <a:moveTo>
                  <a:pt x="238" y="333"/>
                </a:moveTo>
                <a:lnTo>
                  <a:pt x="240" y="334"/>
                </a:lnTo>
                <a:lnTo>
                  <a:pt x="241" y="335"/>
                </a:lnTo>
                <a:lnTo>
                  <a:pt x="243" y="336"/>
                </a:lnTo>
                <a:lnTo>
                  <a:pt x="244" y="337"/>
                </a:lnTo>
                <a:lnTo>
                  <a:pt x="244" y="339"/>
                </a:lnTo>
                <a:lnTo>
                  <a:pt x="244" y="341"/>
                </a:lnTo>
                <a:lnTo>
                  <a:pt x="243" y="343"/>
                </a:lnTo>
                <a:lnTo>
                  <a:pt x="241" y="344"/>
                </a:lnTo>
                <a:lnTo>
                  <a:pt x="240" y="345"/>
                </a:lnTo>
                <a:lnTo>
                  <a:pt x="238" y="345"/>
                </a:lnTo>
                <a:lnTo>
                  <a:pt x="236" y="345"/>
                </a:lnTo>
                <a:lnTo>
                  <a:pt x="234" y="344"/>
                </a:lnTo>
                <a:lnTo>
                  <a:pt x="233" y="343"/>
                </a:lnTo>
                <a:lnTo>
                  <a:pt x="232" y="341"/>
                </a:lnTo>
                <a:lnTo>
                  <a:pt x="232" y="339"/>
                </a:lnTo>
                <a:lnTo>
                  <a:pt x="232" y="337"/>
                </a:lnTo>
                <a:lnTo>
                  <a:pt x="233" y="336"/>
                </a:lnTo>
                <a:lnTo>
                  <a:pt x="234" y="335"/>
                </a:lnTo>
                <a:lnTo>
                  <a:pt x="236" y="334"/>
                </a:lnTo>
                <a:lnTo>
                  <a:pt x="238" y="333"/>
                </a:lnTo>
                <a:close/>
                <a:moveTo>
                  <a:pt x="1685" y="330"/>
                </a:moveTo>
                <a:lnTo>
                  <a:pt x="1687" y="330"/>
                </a:lnTo>
                <a:lnTo>
                  <a:pt x="1689" y="330"/>
                </a:lnTo>
                <a:lnTo>
                  <a:pt x="1690" y="331"/>
                </a:lnTo>
                <a:lnTo>
                  <a:pt x="1692" y="332"/>
                </a:lnTo>
                <a:lnTo>
                  <a:pt x="1693" y="333"/>
                </a:lnTo>
                <a:lnTo>
                  <a:pt x="1694" y="334"/>
                </a:lnTo>
                <a:lnTo>
                  <a:pt x="1694" y="336"/>
                </a:lnTo>
                <a:lnTo>
                  <a:pt x="1695" y="337"/>
                </a:lnTo>
                <a:lnTo>
                  <a:pt x="1695" y="339"/>
                </a:lnTo>
                <a:lnTo>
                  <a:pt x="1695" y="341"/>
                </a:lnTo>
                <a:lnTo>
                  <a:pt x="1694" y="342"/>
                </a:lnTo>
                <a:lnTo>
                  <a:pt x="1694" y="344"/>
                </a:lnTo>
                <a:lnTo>
                  <a:pt x="1693" y="345"/>
                </a:lnTo>
                <a:lnTo>
                  <a:pt x="1692" y="346"/>
                </a:lnTo>
                <a:lnTo>
                  <a:pt x="1690" y="347"/>
                </a:lnTo>
                <a:lnTo>
                  <a:pt x="1689" y="348"/>
                </a:lnTo>
                <a:lnTo>
                  <a:pt x="1687" y="349"/>
                </a:lnTo>
                <a:lnTo>
                  <a:pt x="1685" y="349"/>
                </a:lnTo>
                <a:lnTo>
                  <a:pt x="1684" y="349"/>
                </a:lnTo>
                <a:lnTo>
                  <a:pt x="1682" y="348"/>
                </a:lnTo>
                <a:lnTo>
                  <a:pt x="1681" y="347"/>
                </a:lnTo>
                <a:lnTo>
                  <a:pt x="1679" y="346"/>
                </a:lnTo>
                <a:lnTo>
                  <a:pt x="1678" y="345"/>
                </a:lnTo>
                <a:lnTo>
                  <a:pt x="1677" y="344"/>
                </a:lnTo>
                <a:lnTo>
                  <a:pt x="1676" y="342"/>
                </a:lnTo>
                <a:lnTo>
                  <a:pt x="1676" y="341"/>
                </a:lnTo>
                <a:lnTo>
                  <a:pt x="1676" y="339"/>
                </a:lnTo>
                <a:lnTo>
                  <a:pt x="1676" y="337"/>
                </a:lnTo>
                <a:lnTo>
                  <a:pt x="1676" y="336"/>
                </a:lnTo>
                <a:lnTo>
                  <a:pt x="1677" y="334"/>
                </a:lnTo>
                <a:lnTo>
                  <a:pt x="1678" y="333"/>
                </a:lnTo>
                <a:lnTo>
                  <a:pt x="1679" y="332"/>
                </a:lnTo>
                <a:lnTo>
                  <a:pt x="1681" y="331"/>
                </a:lnTo>
                <a:lnTo>
                  <a:pt x="1682" y="330"/>
                </a:lnTo>
                <a:lnTo>
                  <a:pt x="1684" y="330"/>
                </a:lnTo>
                <a:lnTo>
                  <a:pt x="1685" y="330"/>
                </a:lnTo>
                <a:close/>
                <a:moveTo>
                  <a:pt x="398" y="302"/>
                </a:moveTo>
                <a:lnTo>
                  <a:pt x="400" y="303"/>
                </a:lnTo>
                <a:lnTo>
                  <a:pt x="401" y="306"/>
                </a:lnTo>
                <a:lnTo>
                  <a:pt x="400" y="308"/>
                </a:lnTo>
                <a:lnTo>
                  <a:pt x="398" y="310"/>
                </a:lnTo>
                <a:lnTo>
                  <a:pt x="395" y="308"/>
                </a:lnTo>
                <a:lnTo>
                  <a:pt x="394" y="306"/>
                </a:lnTo>
                <a:lnTo>
                  <a:pt x="395" y="303"/>
                </a:lnTo>
                <a:lnTo>
                  <a:pt x="398" y="302"/>
                </a:lnTo>
                <a:close/>
                <a:moveTo>
                  <a:pt x="1583" y="286"/>
                </a:moveTo>
                <a:lnTo>
                  <a:pt x="1585" y="286"/>
                </a:lnTo>
                <a:lnTo>
                  <a:pt x="1587" y="287"/>
                </a:lnTo>
                <a:lnTo>
                  <a:pt x="1588" y="288"/>
                </a:lnTo>
                <a:lnTo>
                  <a:pt x="1590" y="289"/>
                </a:lnTo>
                <a:lnTo>
                  <a:pt x="1591" y="290"/>
                </a:lnTo>
                <a:lnTo>
                  <a:pt x="1592" y="291"/>
                </a:lnTo>
                <a:lnTo>
                  <a:pt x="1593" y="293"/>
                </a:lnTo>
                <a:lnTo>
                  <a:pt x="1593" y="294"/>
                </a:lnTo>
                <a:lnTo>
                  <a:pt x="1593" y="296"/>
                </a:lnTo>
                <a:lnTo>
                  <a:pt x="1593" y="298"/>
                </a:lnTo>
                <a:lnTo>
                  <a:pt x="1593" y="300"/>
                </a:lnTo>
                <a:lnTo>
                  <a:pt x="1592" y="301"/>
                </a:lnTo>
                <a:lnTo>
                  <a:pt x="1591" y="303"/>
                </a:lnTo>
                <a:lnTo>
                  <a:pt x="1590" y="304"/>
                </a:lnTo>
                <a:lnTo>
                  <a:pt x="1588" y="305"/>
                </a:lnTo>
                <a:lnTo>
                  <a:pt x="1587" y="306"/>
                </a:lnTo>
                <a:lnTo>
                  <a:pt x="1585" y="306"/>
                </a:lnTo>
                <a:lnTo>
                  <a:pt x="1583" y="306"/>
                </a:lnTo>
                <a:lnTo>
                  <a:pt x="1581" y="306"/>
                </a:lnTo>
                <a:lnTo>
                  <a:pt x="1580" y="306"/>
                </a:lnTo>
                <a:lnTo>
                  <a:pt x="1578" y="305"/>
                </a:lnTo>
                <a:lnTo>
                  <a:pt x="1577" y="304"/>
                </a:lnTo>
                <a:lnTo>
                  <a:pt x="1576" y="303"/>
                </a:lnTo>
                <a:lnTo>
                  <a:pt x="1575" y="301"/>
                </a:lnTo>
                <a:lnTo>
                  <a:pt x="1574" y="300"/>
                </a:lnTo>
                <a:lnTo>
                  <a:pt x="1573" y="298"/>
                </a:lnTo>
                <a:lnTo>
                  <a:pt x="1573" y="296"/>
                </a:lnTo>
                <a:lnTo>
                  <a:pt x="1573" y="294"/>
                </a:lnTo>
                <a:lnTo>
                  <a:pt x="1574" y="293"/>
                </a:lnTo>
                <a:lnTo>
                  <a:pt x="1575" y="291"/>
                </a:lnTo>
                <a:lnTo>
                  <a:pt x="1576" y="290"/>
                </a:lnTo>
                <a:lnTo>
                  <a:pt x="1577" y="289"/>
                </a:lnTo>
                <a:lnTo>
                  <a:pt x="1578" y="288"/>
                </a:lnTo>
                <a:lnTo>
                  <a:pt x="1580" y="287"/>
                </a:lnTo>
                <a:lnTo>
                  <a:pt x="1581" y="286"/>
                </a:lnTo>
                <a:lnTo>
                  <a:pt x="1583" y="286"/>
                </a:lnTo>
                <a:close/>
                <a:moveTo>
                  <a:pt x="340" y="285"/>
                </a:moveTo>
                <a:lnTo>
                  <a:pt x="342" y="285"/>
                </a:lnTo>
                <a:lnTo>
                  <a:pt x="343" y="286"/>
                </a:lnTo>
                <a:lnTo>
                  <a:pt x="345" y="287"/>
                </a:lnTo>
                <a:lnTo>
                  <a:pt x="347" y="287"/>
                </a:lnTo>
                <a:lnTo>
                  <a:pt x="348" y="289"/>
                </a:lnTo>
                <a:lnTo>
                  <a:pt x="349" y="290"/>
                </a:lnTo>
                <a:lnTo>
                  <a:pt x="350" y="291"/>
                </a:lnTo>
                <a:lnTo>
                  <a:pt x="351" y="293"/>
                </a:lnTo>
                <a:lnTo>
                  <a:pt x="351" y="295"/>
                </a:lnTo>
                <a:lnTo>
                  <a:pt x="351" y="297"/>
                </a:lnTo>
                <a:lnTo>
                  <a:pt x="351" y="298"/>
                </a:lnTo>
                <a:lnTo>
                  <a:pt x="351" y="300"/>
                </a:lnTo>
                <a:lnTo>
                  <a:pt x="350" y="302"/>
                </a:lnTo>
                <a:lnTo>
                  <a:pt x="349" y="303"/>
                </a:lnTo>
                <a:lnTo>
                  <a:pt x="348" y="304"/>
                </a:lnTo>
                <a:lnTo>
                  <a:pt x="347" y="306"/>
                </a:lnTo>
                <a:lnTo>
                  <a:pt x="345" y="306"/>
                </a:lnTo>
                <a:lnTo>
                  <a:pt x="343" y="307"/>
                </a:lnTo>
                <a:lnTo>
                  <a:pt x="342" y="308"/>
                </a:lnTo>
                <a:lnTo>
                  <a:pt x="340" y="308"/>
                </a:lnTo>
                <a:lnTo>
                  <a:pt x="338" y="308"/>
                </a:lnTo>
                <a:lnTo>
                  <a:pt x="336" y="307"/>
                </a:lnTo>
                <a:lnTo>
                  <a:pt x="335" y="306"/>
                </a:lnTo>
                <a:lnTo>
                  <a:pt x="333" y="306"/>
                </a:lnTo>
                <a:lnTo>
                  <a:pt x="332" y="304"/>
                </a:lnTo>
                <a:lnTo>
                  <a:pt x="331" y="303"/>
                </a:lnTo>
                <a:lnTo>
                  <a:pt x="330" y="302"/>
                </a:lnTo>
                <a:lnTo>
                  <a:pt x="329" y="300"/>
                </a:lnTo>
                <a:lnTo>
                  <a:pt x="329" y="298"/>
                </a:lnTo>
                <a:lnTo>
                  <a:pt x="329" y="297"/>
                </a:lnTo>
                <a:lnTo>
                  <a:pt x="329" y="295"/>
                </a:lnTo>
                <a:lnTo>
                  <a:pt x="329" y="293"/>
                </a:lnTo>
                <a:lnTo>
                  <a:pt x="330" y="291"/>
                </a:lnTo>
                <a:lnTo>
                  <a:pt x="331" y="290"/>
                </a:lnTo>
                <a:lnTo>
                  <a:pt x="332" y="289"/>
                </a:lnTo>
                <a:lnTo>
                  <a:pt x="333" y="287"/>
                </a:lnTo>
                <a:lnTo>
                  <a:pt x="335" y="287"/>
                </a:lnTo>
                <a:lnTo>
                  <a:pt x="336" y="286"/>
                </a:lnTo>
                <a:lnTo>
                  <a:pt x="338" y="285"/>
                </a:lnTo>
                <a:lnTo>
                  <a:pt x="340" y="285"/>
                </a:lnTo>
                <a:close/>
                <a:moveTo>
                  <a:pt x="284" y="283"/>
                </a:moveTo>
                <a:lnTo>
                  <a:pt x="286" y="283"/>
                </a:lnTo>
                <a:lnTo>
                  <a:pt x="288" y="284"/>
                </a:lnTo>
                <a:lnTo>
                  <a:pt x="290" y="286"/>
                </a:lnTo>
                <a:lnTo>
                  <a:pt x="291" y="287"/>
                </a:lnTo>
                <a:lnTo>
                  <a:pt x="291" y="290"/>
                </a:lnTo>
                <a:lnTo>
                  <a:pt x="291" y="292"/>
                </a:lnTo>
                <a:lnTo>
                  <a:pt x="290" y="293"/>
                </a:lnTo>
                <a:lnTo>
                  <a:pt x="288" y="295"/>
                </a:lnTo>
                <a:lnTo>
                  <a:pt x="286" y="296"/>
                </a:lnTo>
                <a:lnTo>
                  <a:pt x="284" y="296"/>
                </a:lnTo>
                <a:lnTo>
                  <a:pt x="282" y="296"/>
                </a:lnTo>
                <a:lnTo>
                  <a:pt x="281" y="295"/>
                </a:lnTo>
                <a:lnTo>
                  <a:pt x="279" y="293"/>
                </a:lnTo>
                <a:lnTo>
                  <a:pt x="278" y="292"/>
                </a:lnTo>
                <a:lnTo>
                  <a:pt x="278" y="290"/>
                </a:lnTo>
                <a:lnTo>
                  <a:pt x="278" y="287"/>
                </a:lnTo>
                <a:lnTo>
                  <a:pt x="279" y="286"/>
                </a:lnTo>
                <a:lnTo>
                  <a:pt x="281" y="284"/>
                </a:lnTo>
                <a:lnTo>
                  <a:pt x="282" y="283"/>
                </a:lnTo>
                <a:lnTo>
                  <a:pt x="284" y="283"/>
                </a:lnTo>
                <a:close/>
                <a:moveTo>
                  <a:pt x="1639" y="280"/>
                </a:moveTo>
                <a:lnTo>
                  <a:pt x="1640" y="280"/>
                </a:lnTo>
                <a:lnTo>
                  <a:pt x="1642" y="280"/>
                </a:lnTo>
                <a:lnTo>
                  <a:pt x="1644" y="281"/>
                </a:lnTo>
                <a:lnTo>
                  <a:pt x="1645" y="282"/>
                </a:lnTo>
                <a:lnTo>
                  <a:pt x="1646" y="283"/>
                </a:lnTo>
                <a:lnTo>
                  <a:pt x="1647" y="284"/>
                </a:lnTo>
                <a:lnTo>
                  <a:pt x="1648" y="286"/>
                </a:lnTo>
                <a:lnTo>
                  <a:pt x="1648" y="287"/>
                </a:lnTo>
                <a:lnTo>
                  <a:pt x="1648" y="289"/>
                </a:lnTo>
                <a:lnTo>
                  <a:pt x="1648" y="291"/>
                </a:lnTo>
                <a:lnTo>
                  <a:pt x="1648" y="292"/>
                </a:lnTo>
                <a:lnTo>
                  <a:pt x="1647" y="294"/>
                </a:lnTo>
                <a:lnTo>
                  <a:pt x="1646" y="295"/>
                </a:lnTo>
                <a:lnTo>
                  <a:pt x="1645" y="296"/>
                </a:lnTo>
                <a:lnTo>
                  <a:pt x="1644" y="297"/>
                </a:lnTo>
                <a:lnTo>
                  <a:pt x="1642" y="298"/>
                </a:lnTo>
                <a:lnTo>
                  <a:pt x="1640" y="298"/>
                </a:lnTo>
                <a:lnTo>
                  <a:pt x="1639" y="298"/>
                </a:lnTo>
                <a:lnTo>
                  <a:pt x="1637" y="298"/>
                </a:lnTo>
                <a:lnTo>
                  <a:pt x="1635" y="298"/>
                </a:lnTo>
                <a:lnTo>
                  <a:pt x="1634" y="297"/>
                </a:lnTo>
                <a:lnTo>
                  <a:pt x="1633" y="296"/>
                </a:lnTo>
                <a:lnTo>
                  <a:pt x="1631" y="295"/>
                </a:lnTo>
                <a:lnTo>
                  <a:pt x="1630" y="294"/>
                </a:lnTo>
                <a:lnTo>
                  <a:pt x="1630" y="292"/>
                </a:lnTo>
                <a:lnTo>
                  <a:pt x="1629" y="291"/>
                </a:lnTo>
                <a:lnTo>
                  <a:pt x="1629" y="289"/>
                </a:lnTo>
                <a:lnTo>
                  <a:pt x="1629" y="287"/>
                </a:lnTo>
                <a:lnTo>
                  <a:pt x="1630" y="286"/>
                </a:lnTo>
                <a:lnTo>
                  <a:pt x="1630" y="284"/>
                </a:lnTo>
                <a:lnTo>
                  <a:pt x="1631" y="283"/>
                </a:lnTo>
                <a:lnTo>
                  <a:pt x="1633" y="282"/>
                </a:lnTo>
                <a:lnTo>
                  <a:pt x="1634" y="281"/>
                </a:lnTo>
                <a:lnTo>
                  <a:pt x="1635" y="280"/>
                </a:lnTo>
                <a:lnTo>
                  <a:pt x="1637" y="280"/>
                </a:lnTo>
                <a:lnTo>
                  <a:pt x="1639" y="280"/>
                </a:lnTo>
                <a:close/>
                <a:moveTo>
                  <a:pt x="451" y="260"/>
                </a:moveTo>
                <a:lnTo>
                  <a:pt x="453" y="260"/>
                </a:lnTo>
                <a:lnTo>
                  <a:pt x="455" y="262"/>
                </a:lnTo>
                <a:lnTo>
                  <a:pt x="455" y="264"/>
                </a:lnTo>
                <a:lnTo>
                  <a:pt x="455" y="266"/>
                </a:lnTo>
                <a:lnTo>
                  <a:pt x="453" y="267"/>
                </a:lnTo>
                <a:lnTo>
                  <a:pt x="451" y="268"/>
                </a:lnTo>
                <a:lnTo>
                  <a:pt x="449" y="267"/>
                </a:lnTo>
                <a:lnTo>
                  <a:pt x="447" y="266"/>
                </a:lnTo>
                <a:lnTo>
                  <a:pt x="447" y="264"/>
                </a:lnTo>
                <a:lnTo>
                  <a:pt x="447" y="262"/>
                </a:lnTo>
                <a:lnTo>
                  <a:pt x="449" y="260"/>
                </a:lnTo>
                <a:lnTo>
                  <a:pt x="451" y="260"/>
                </a:lnTo>
                <a:close/>
                <a:moveTo>
                  <a:pt x="1531" y="241"/>
                </a:moveTo>
                <a:lnTo>
                  <a:pt x="1533" y="242"/>
                </a:lnTo>
                <a:lnTo>
                  <a:pt x="1535" y="242"/>
                </a:lnTo>
                <a:lnTo>
                  <a:pt x="1537" y="243"/>
                </a:lnTo>
                <a:lnTo>
                  <a:pt x="1538" y="244"/>
                </a:lnTo>
                <a:lnTo>
                  <a:pt x="1539" y="245"/>
                </a:lnTo>
                <a:lnTo>
                  <a:pt x="1540" y="246"/>
                </a:lnTo>
                <a:lnTo>
                  <a:pt x="1541" y="248"/>
                </a:lnTo>
                <a:lnTo>
                  <a:pt x="1541" y="250"/>
                </a:lnTo>
                <a:lnTo>
                  <a:pt x="1542" y="252"/>
                </a:lnTo>
                <a:lnTo>
                  <a:pt x="1541" y="253"/>
                </a:lnTo>
                <a:lnTo>
                  <a:pt x="1541" y="255"/>
                </a:lnTo>
                <a:lnTo>
                  <a:pt x="1540" y="257"/>
                </a:lnTo>
                <a:lnTo>
                  <a:pt x="1539" y="258"/>
                </a:lnTo>
                <a:lnTo>
                  <a:pt x="1538" y="259"/>
                </a:lnTo>
                <a:lnTo>
                  <a:pt x="1537" y="260"/>
                </a:lnTo>
                <a:lnTo>
                  <a:pt x="1535" y="261"/>
                </a:lnTo>
                <a:lnTo>
                  <a:pt x="1533" y="261"/>
                </a:lnTo>
                <a:lnTo>
                  <a:pt x="1531" y="262"/>
                </a:lnTo>
                <a:lnTo>
                  <a:pt x="1530" y="261"/>
                </a:lnTo>
                <a:lnTo>
                  <a:pt x="1528" y="261"/>
                </a:lnTo>
                <a:lnTo>
                  <a:pt x="1526" y="260"/>
                </a:lnTo>
                <a:lnTo>
                  <a:pt x="1525" y="259"/>
                </a:lnTo>
                <a:lnTo>
                  <a:pt x="1524" y="258"/>
                </a:lnTo>
                <a:lnTo>
                  <a:pt x="1523" y="257"/>
                </a:lnTo>
                <a:lnTo>
                  <a:pt x="1522" y="255"/>
                </a:lnTo>
                <a:lnTo>
                  <a:pt x="1522" y="253"/>
                </a:lnTo>
                <a:lnTo>
                  <a:pt x="1521" y="252"/>
                </a:lnTo>
                <a:lnTo>
                  <a:pt x="1522" y="250"/>
                </a:lnTo>
                <a:lnTo>
                  <a:pt x="1522" y="248"/>
                </a:lnTo>
                <a:lnTo>
                  <a:pt x="1523" y="246"/>
                </a:lnTo>
                <a:lnTo>
                  <a:pt x="1524" y="245"/>
                </a:lnTo>
                <a:lnTo>
                  <a:pt x="1525" y="244"/>
                </a:lnTo>
                <a:lnTo>
                  <a:pt x="1526" y="243"/>
                </a:lnTo>
                <a:lnTo>
                  <a:pt x="1528" y="242"/>
                </a:lnTo>
                <a:lnTo>
                  <a:pt x="1530" y="242"/>
                </a:lnTo>
                <a:lnTo>
                  <a:pt x="1531" y="241"/>
                </a:lnTo>
                <a:close/>
                <a:moveTo>
                  <a:pt x="392" y="241"/>
                </a:moveTo>
                <a:lnTo>
                  <a:pt x="393" y="241"/>
                </a:lnTo>
                <a:lnTo>
                  <a:pt x="395" y="242"/>
                </a:lnTo>
                <a:lnTo>
                  <a:pt x="397" y="242"/>
                </a:lnTo>
                <a:lnTo>
                  <a:pt x="398" y="243"/>
                </a:lnTo>
                <a:lnTo>
                  <a:pt x="400" y="244"/>
                </a:lnTo>
                <a:lnTo>
                  <a:pt x="401" y="246"/>
                </a:lnTo>
                <a:lnTo>
                  <a:pt x="402" y="247"/>
                </a:lnTo>
                <a:lnTo>
                  <a:pt x="402" y="249"/>
                </a:lnTo>
                <a:lnTo>
                  <a:pt x="403" y="250"/>
                </a:lnTo>
                <a:lnTo>
                  <a:pt x="403" y="252"/>
                </a:lnTo>
                <a:lnTo>
                  <a:pt x="403" y="254"/>
                </a:lnTo>
                <a:lnTo>
                  <a:pt x="402" y="255"/>
                </a:lnTo>
                <a:lnTo>
                  <a:pt x="402" y="257"/>
                </a:lnTo>
                <a:lnTo>
                  <a:pt x="401" y="258"/>
                </a:lnTo>
                <a:lnTo>
                  <a:pt x="400" y="260"/>
                </a:lnTo>
                <a:lnTo>
                  <a:pt x="398" y="261"/>
                </a:lnTo>
                <a:lnTo>
                  <a:pt x="397" y="262"/>
                </a:lnTo>
                <a:lnTo>
                  <a:pt x="395" y="262"/>
                </a:lnTo>
                <a:lnTo>
                  <a:pt x="393" y="263"/>
                </a:lnTo>
                <a:lnTo>
                  <a:pt x="392" y="263"/>
                </a:lnTo>
                <a:lnTo>
                  <a:pt x="390" y="263"/>
                </a:lnTo>
                <a:lnTo>
                  <a:pt x="388" y="262"/>
                </a:lnTo>
                <a:lnTo>
                  <a:pt x="387" y="262"/>
                </a:lnTo>
                <a:lnTo>
                  <a:pt x="385" y="261"/>
                </a:lnTo>
                <a:lnTo>
                  <a:pt x="384" y="260"/>
                </a:lnTo>
                <a:lnTo>
                  <a:pt x="383" y="258"/>
                </a:lnTo>
                <a:lnTo>
                  <a:pt x="382" y="257"/>
                </a:lnTo>
                <a:lnTo>
                  <a:pt x="381" y="255"/>
                </a:lnTo>
                <a:lnTo>
                  <a:pt x="381" y="254"/>
                </a:lnTo>
                <a:lnTo>
                  <a:pt x="380" y="252"/>
                </a:lnTo>
                <a:lnTo>
                  <a:pt x="381" y="250"/>
                </a:lnTo>
                <a:lnTo>
                  <a:pt x="381" y="249"/>
                </a:lnTo>
                <a:lnTo>
                  <a:pt x="382" y="247"/>
                </a:lnTo>
                <a:lnTo>
                  <a:pt x="383" y="246"/>
                </a:lnTo>
                <a:lnTo>
                  <a:pt x="384" y="244"/>
                </a:lnTo>
                <a:lnTo>
                  <a:pt x="385" y="243"/>
                </a:lnTo>
                <a:lnTo>
                  <a:pt x="387" y="242"/>
                </a:lnTo>
                <a:lnTo>
                  <a:pt x="388" y="242"/>
                </a:lnTo>
                <a:lnTo>
                  <a:pt x="390" y="241"/>
                </a:lnTo>
                <a:lnTo>
                  <a:pt x="392" y="241"/>
                </a:lnTo>
                <a:close/>
                <a:moveTo>
                  <a:pt x="334" y="236"/>
                </a:moveTo>
                <a:lnTo>
                  <a:pt x="336" y="237"/>
                </a:lnTo>
                <a:lnTo>
                  <a:pt x="338" y="238"/>
                </a:lnTo>
                <a:lnTo>
                  <a:pt x="340" y="239"/>
                </a:lnTo>
                <a:lnTo>
                  <a:pt x="341" y="241"/>
                </a:lnTo>
                <a:lnTo>
                  <a:pt x="341" y="243"/>
                </a:lnTo>
                <a:lnTo>
                  <a:pt x="341" y="245"/>
                </a:lnTo>
                <a:lnTo>
                  <a:pt x="340" y="247"/>
                </a:lnTo>
                <a:lnTo>
                  <a:pt x="338" y="248"/>
                </a:lnTo>
                <a:lnTo>
                  <a:pt x="336" y="249"/>
                </a:lnTo>
                <a:lnTo>
                  <a:pt x="334" y="249"/>
                </a:lnTo>
                <a:lnTo>
                  <a:pt x="332" y="249"/>
                </a:lnTo>
                <a:lnTo>
                  <a:pt x="330" y="248"/>
                </a:lnTo>
                <a:lnTo>
                  <a:pt x="329" y="247"/>
                </a:lnTo>
                <a:lnTo>
                  <a:pt x="328" y="245"/>
                </a:lnTo>
                <a:lnTo>
                  <a:pt x="328" y="243"/>
                </a:lnTo>
                <a:lnTo>
                  <a:pt x="328" y="241"/>
                </a:lnTo>
                <a:lnTo>
                  <a:pt x="329" y="239"/>
                </a:lnTo>
                <a:lnTo>
                  <a:pt x="330" y="238"/>
                </a:lnTo>
                <a:lnTo>
                  <a:pt x="332" y="237"/>
                </a:lnTo>
                <a:lnTo>
                  <a:pt x="334" y="236"/>
                </a:lnTo>
                <a:close/>
                <a:moveTo>
                  <a:pt x="1589" y="233"/>
                </a:moveTo>
                <a:lnTo>
                  <a:pt x="1590" y="233"/>
                </a:lnTo>
                <a:lnTo>
                  <a:pt x="1592" y="234"/>
                </a:lnTo>
                <a:lnTo>
                  <a:pt x="1594" y="235"/>
                </a:lnTo>
                <a:lnTo>
                  <a:pt x="1595" y="236"/>
                </a:lnTo>
                <a:lnTo>
                  <a:pt x="1596" y="237"/>
                </a:lnTo>
                <a:lnTo>
                  <a:pt x="1597" y="239"/>
                </a:lnTo>
                <a:lnTo>
                  <a:pt x="1598" y="241"/>
                </a:lnTo>
                <a:lnTo>
                  <a:pt x="1598" y="242"/>
                </a:lnTo>
                <a:lnTo>
                  <a:pt x="1598" y="244"/>
                </a:lnTo>
                <a:lnTo>
                  <a:pt x="1597" y="246"/>
                </a:lnTo>
                <a:lnTo>
                  <a:pt x="1596" y="248"/>
                </a:lnTo>
                <a:lnTo>
                  <a:pt x="1595" y="249"/>
                </a:lnTo>
                <a:lnTo>
                  <a:pt x="1594" y="250"/>
                </a:lnTo>
                <a:lnTo>
                  <a:pt x="1592" y="251"/>
                </a:lnTo>
                <a:lnTo>
                  <a:pt x="1590" y="252"/>
                </a:lnTo>
                <a:lnTo>
                  <a:pt x="1589" y="252"/>
                </a:lnTo>
                <a:lnTo>
                  <a:pt x="1587" y="252"/>
                </a:lnTo>
                <a:lnTo>
                  <a:pt x="1585" y="251"/>
                </a:lnTo>
                <a:lnTo>
                  <a:pt x="1583" y="250"/>
                </a:lnTo>
                <a:lnTo>
                  <a:pt x="1582" y="249"/>
                </a:lnTo>
                <a:lnTo>
                  <a:pt x="1581" y="248"/>
                </a:lnTo>
                <a:lnTo>
                  <a:pt x="1580" y="246"/>
                </a:lnTo>
                <a:lnTo>
                  <a:pt x="1579" y="244"/>
                </a:lnTo>
                <a:lnTo>
                  <a:pt x="1579" y="242"/>
                </a:lnTo>
                <a:lnTo>
                  <a:pt x="1579" y="241"/>
                </a:lnTo>
                <a:lnTo>
                  <a:pt x="1580" y="239"/>
                </a:lnTo>
                <a:lnTo>
                  <a:pt x="1581" y="237"/>
                </a:lnTo>
                <a:lnTo>
                  <a:pt x="1582" y="236"/>
                </a:lnTo>
                <a:lnTo>
                  <a:pt x="1583" y="235"/>
                </a:lnTo>
                <a:lnTo>
                  <a:pt x="1585" y="234"/>
                </a:lnTo>
                <a:lnTo>
                  <a:pt x="1587" y="233"/>
                </a:lnTo>
                <a:lnTo>
                  <a:pt x="1589" y="233"/>
                </a:lnTo>
                <a:close/>
                <a:moveTo>
                  <a:pt x="508" y="221"/>
                </a:moveTo>
                <a:lnTo>
                  <a:pt x="510" y="221"/>
                </a:lnTo>
                <a:lnTo>
                  <a:pt x="511" y="222"/>
                </a:lnTo>
                <a:lnTo>
                  <a:pt x="512" y="224"/>
                </a:lnTo>
                <a:lnTo>
                  <a:pt x="512" y="226"/>
                </a:lnTo>
                <a:lnTo>
                  <a:pt x="512" y="228"/>
                </a:lnTo>
                <a:lnTo>
                  <a:pt x="511" y="229"/>
                </a:lnTo>
                <a:lnTo>
                  <a:pt x="510" y="230"/>
                </a:lnTo>
                <a:lnTo>
                  <a:pt x="508" y="231"/>
                </a:lnTo>
                <a:lnTo>
                  <a:pt x="506" y="230"/>
                </a:lnTo>
                <a:lnTo>
                  <a:pt x="504" y="229"/>
                </a:lnTo>
                <a:lnTo>
                  <a:pt x="503" y="228"/>
                </a:lnTo>
                <a:lnTo>
                  <a:pt x="503" y="226"/>
                </a:lnTo>
                <a:lnTo>
                  <a:pt x="503" y="224"/>
                </a:lnTo>
                <a:lnTo>
                  <a:pt x="504" y="222"/>
                </a:lnTo>
                <a:lnTo>
                  <a:pt x="506" y="221"/>
                </a:lnTo>
                <a:lnTo>
                  <a:pt x="508" y="221"/>
                </a:lnTo>
                <a:close/>
                <a:moveTo>
                  <a:pt x="1476" y="201"/>
                </a:moveTo>
                <a:lnTo>
                  <a:pt x="1478" y="201"/>
                </a:lnTo>
                <a:lnTo>
                  <a:pt x="1480" y="202"/>
                </a:lnTo>
                <a:lnTo>
                  <a:pt x="1482" y="202"/>
                </a:lnTo>
                <a:lnTo>
                  <a:pt x="1483" y="203"/>
                </a:lnTo>
                <a:lnTo>
                  <a:pt x="1484" y="205"/>
                </a:lnTo>
                <a:lnTo>
                  <a:pt x="1485" y="206"/>
                </a:lnTo>
                <a:lnTo>
                  <a:pt x="1486" y="208"/>
                </a:lnTo>
                <a:lnTo>
                  <a:pt x="1486" y="209"/>
                </a:lnTo>
                <a:lnTo>
                  <a:pt x="1486" y="211"/>
                </a:lnTo>
                <a:lnTo>
                  <a:pt x="1486" y="213"/>
                </a:lnTo>
                <a:lnTo>
                  <a:pt x="1486" y="215"/>
                </a:lnTo>
                <a:lnTo>
                  <a:pt x="1485" y="216"/>
                </a:lnTo>
                <a:lnTo>
                  <a:pt x="1484" y="218"/>
                </a:lnTo>
                <a:lnTo>
                  <a:pt x="1483" y="219"/>
                </a:lnTo>
                <a:lnTo>
                  <a:pt x="1482" y="220"/>
                </a:lnTo>
                <a:lnTo>
                  <a:pt x="1480" y="221"/>
                </a:lnTo>
                <a:lnTo>
                  <a:pt x="1478" y="221"/>
                </a:lnTo>
                <a:lnTo>
                  <a:pt x="1476" y="221"/>
                </a:lnTo>
                <a:lnTo>
                  <a:pt x="1475" y="221"/>
                </a:lnTo>
                <a:lnTo>
                  <a:pt x="1473" y="221"/>
                </a:lnTo>
                <a:lnTo>
                  <a:pt x="1471" y="220"/>
                </a:lnTo>
                <a:lnTo>
                  <a:pt x="1470" y="219"/>
                </a:lnTo>
                <a:lnTo>
                  <a:pt x="1469" y="218"/>
                </a:lnTo>
                <a:lnTo>
                  <a:pt x="1468" y="216"/>
                </a:lnTo>
                <a:lnTo>
                  <a:pt x="1467" y="215"/>
                </a:lnTo>
                <a:lnTo>
                  <a:pt x="1467" y="213"/>
                </a:lnTo>
                <a:lnTo>
                  <a:pt x="1466" y="211"/>
                </a:lnTo>
                <a:lnTo>
                  <a:pt x="1467" y="209"/>
                </a:lnTo>
                <a:lnTo>
                  <a:pt x="1467" y="208"/>
                </a:lnTo>
                <a:lnTo>
                  <a:pt x="1468" y="206"/>
                </a:lnTo>
                <a:lnTo>
                  <a:pt x="1469" y="205"/>
                </a:lnTo>
                <a:lnTo>
                  <a:pt x="1470" y="203"/>
                </a:lnTo>
                <a:lnTo>
                  <a:pt x="1471" y="202"/>
                </a:lnTo>
                <a:lnTo>
                  <a:pt x="1473" y="202"/>
                </a:lnTo>
                <a:lnTo>
                  <a:pt x="1475" y="201"/>
                </a:lnTo>
                <a:lnTo>
                  <a:pt x="1476" y="201"/>
                </a:lnTo>
                <a:close/>
                <a:moveTo>
                  <a:pt x="447" y="200"/>
                </a:moveTo>
                <a:lnTo>
                  <a:pt x="449" y="201"/>
                </a:lnTo>
                <a:lnTo>
                  <a:pt x="450" y="201"/>
                </a:lnTo>
                <a:lnTo>
                  <a:pt x="452" y="202"/>
                </a:lnTo>
                <a:lnTo>
                  <a:pt x="453" y="203"/>
                </a:lnTo>
                <a:lnTo>
                  <a:pt x="455" y="204"/>
                </a:lnTo>
                <a:lnTo>
                  <a:pt x="456" y="205"/>
                </a:lnTo>
                <a:lnTo>
                  <a:pt x="457" y="206"/>
                </a:lnTo>
                <a:lnTo>
                  <a:pt x="457" y="208"/>
                </a:lnTo>
                <a:lnTo>
                  <a:pt x="458" y="210"/>
                </a:lnTo>
                <a:lnTo>
                  <a:pt x="458" y="211"/>
                </a:lnTo>
                <a:lnTo>
                  <a:pt x="458" y="213"/>
                </a:lnTo>
                <a:lnTo>
                  <a:pt x="457" y="215"/>
                </a:lnTo>
                <a:lnTo>
                  <a:pt x="457" y="216"/>
                </a:lnTo>
                <a:lnTo>
                  <a:pt x="456" y="218"/>
                </a:lnTo>
                <a:lnTo>
                  <a:pt x="455" y="219"/>
                </a:lnTo>
                <a:lnTo>
                  <a:pt x="453" y="220"/>
                </a:lnTo>
                <a:lnTo>
                  <a:pt x="452" y="221"/>
                </a:lnTo>
                <a:lnTo>
                  <a:pt x="450" y="222"/>
                </a:lnTo>
                <a:lnTo>
                  <a:pt x="449" y="222"/>
                </a:lnTo>
                <a:lnTo>
                  <a:pt x="447" y="222"/>
                </a:lnTo>
                <a:lnTo>
                  <a:pt x="445" y="222"/>
                </a:lnTo>
                <a:lnTo>
                  <a:pt x="443" y="222"/>
                </a:lnTo>
                <a:lnTo>
                  <a:pt x="442" y="221"/>
                </a:lnTo>
                <a:lnTo>
                  <a:pt x="440" y="220"/>
                </a:lnTo>
                <a:lnTo>
                  <a:pt x="439" y="219"/>
                </a:lnTo>
                <a:lnTo>
                  <a:pt x="438" y="218"/>
                </a:lnTo>
                <a:lnTo>
                  <a:pt x="437" y="216"/>
                </a:lnTo>
                <a:lnTo>
                  <a:pt x="436" y="215"/>
                </a:lnTo>
                <a:lnTo>
                  <a:pt x="436" y="213"/>
                </a:lnTo>
                <a:lnTo>
                  <a:pt x="436" y="211"/>
                </a:lnTo>
                <a:lnTo>
                  <a:pt x="436" y="210"/>
                </a:lnTo>
                <a:lnTo>
                  <a:pt x="436" y="208"/>
                </a:lnTo>
                <a:lnTo>
                  <a:pt x="437" y="206"/>
                </a:lnTo>
                <a:lnTo>
                  <a:pt x="438" y="205"/>
                </a:lnTo>
                <a:lnTo>
                  <a:pt x="439" y="204"/>
                </a:lnTo>
                <a:lnTo>
                  <a:pt x="440" y="203"/>
                </a:lnTo>
                <a:lnTo>
                  <a:pt x="442" y="202"/>
                </a:lnTo>
                <a:lnTo>
                  <a:pt x="443" y="201"/>
                </a:lnTo>
                <a:lnTo>
                  <a:pt x="445" y="201"/>
                </a:lnTo>
                <a:lnTo>
                  <a:pt x="447" y="200"/>
                </a:lnTo>
                <a:close/>
                <a:moveTo>
                  <a:pt x="388" y="193"/>
                </a:moveTo>
                <a:lnTo>
                  <a:pt x="390" y="194"/>
                </a:lnTo>
                <a:lnTo>
                  <a:pt x="391" y="194"/>
                </a:lnTo>
                <a:lnTo>
                  <a:pt x="392" y="195"/>
                </a:lnTo>
                <a:lnTo>
                  <a:pt x="394" y="197"/>
                </a:lnTo>
                <a:lnTo>
                  <a:pt x="394" y="198"/>
                </a:lnTo>
                <a:lnTo>
                  <a:pt x="394" y="200"/>
                </a:lnTo>
                <a:lnTo>
                  <a:pt x="394" y="202"/>
                </a:lnTo>
                <a:lnTo>
                  <a:pt x="394" y="204"/>
                </a:lnTo>
                <a:lnTo>
                  <a:pt x="392" y="205"/>
                </a:lnTo>
                <a:lnTo>
                  <a:pt x="391" y="206"/>
                </a:lnTo>
                <a:lnTo>
                  <a:pt x="390" y="207"/>
                </a:lnTo>
                <a:lnTo>
                  <a:pt x="388" y="207"/>
                </a:lnTo>
                <a:lnTo>
                  <a:pt x="386" y="207"/>
                </a:lnTo>
                <a:lnTo>
                  <a:pt x="384" y="206"/>
                </a:lnTo>
                <a:lnTo>
                  <a:pt x="383" y="205"/>
                </a:lnTo>
                <a:lnTo>
                  <a:pt x="382" y="204"/>
                </a:lnTo>
                <a:lnTo>
                  <a:pt x="381" y="202"/>
                </a:lnTo>
                <a:lnTo>
                  <a:pt x="381" y="200"/>
                </a:lnTo>
                <a:lnTo>
                  <a:pt x="381" y="198"/>
                </a:lnTo>
                <a:lnTo>
                  <a:pt x="382" y="197"/>
                </a:lnTo>
                <a:lnTo>
                  <a:pt x="383" y="195"/>
                </a:lnTo>
                <a:lnTo>
                  <a:pt x="384" y="194"/>
                </a:lnTo>
                <a:lnTo>
                  <a:pt x="386" y="194"/>
                </a:lnTo>
                <a:lnTo>
                  <a:pt x="388" y="193"/>
                </a:lnTo>
                <a:close/>
                <a:moveTo>
                  <a:pt x="1535" y="190"/>
                </a:moveTo>
                <a:lnTo>
                  <a:pt x="1537" y="190"/>
                </a:lnTo>
                <a:lnTo>
                  <a:pt x="1539" y="191"/>
                </a:lnTo>
                <a:lnTo>
                  <a:pt x="1541" y="192"/>
                </a:lnTo>
                <a:lnTo>
                  <a:pt x="1542" y="193"/>
                </a:lnTo>
                <a:lnTo>
                  <a:pt x="1543" y="194"/>
                </a:lnTo>
                <a:lnTo>
                  <a:pt x="1544" y="196"/>
                </a:lnTo>
                <a:lnTo>
                  <a:pt x="1545" y="198"/>
                </a:lnTo>
                <a:lnTo>
                  <a:pt x="1545" y="200"/>
                </a:lnTo>
                <a:lnTo>
                  <a:pt x="1545" y="201"/>
                </a:lnTo>
                <a:lnTo>
                  <a:pt x="1544" y="203"/>
                </a:lnTo>
                <a:lnTo>
                  <a:pt x="1543" y="205"/>
                </a:lnTo>
                <a:lnTo>
                  <a:pt x="1542" y="206"/>
                </a:lnTo>
                <a:lnTo>
                  <a:pt x="1541" y="207"/>
                </a:lnTo>
                <a:lnTo>
                  <a:pt x="1539" y="208"/>
                </a:lnTo>
                <a:lnTo>
                  <a:pt x="1537" y="209"/>
                </a:lnTo>
                <a:lnTo>
                  <a:pt x="1535" y="209"/>
                </a:lnTo>
                <a:lnTo>
                  <a:pt x="1534" y="209"/>
                </a:lnTo>
                <a:lnTo>
                  <a:pt x="1532" y="208"/>
                </a:lnTo>
                <a:lnTo>
                  <a:pt x="1530" y="207"/>
                </a:lnTo>
                <a:lnTo>
                  <a:pt x="1529" y="206"/>
                </a:lnTo>
                <a:lnTo>
                  <a:pt x="1528" y="205"/>
                </a:lnTo>
                <a:lnTo>
                  <a:pt x="1527" y="203"/>
                </a:lnTo>
                <a:lnTo>
                  <a:pt x="1526" y="201"/>
                </a:lnTo>
                <a:lnTo>
                  <a:pt x="1526" y="200"/>
                </a:lnTo>
                <a:lnTo>
                  <a:pt x="1526" y="198"/>
                </a:lnTo>
                <a:lnTo>
                  <a:pt x="1527" y="196"/>
                </a:lnTo>
                <a:lnTo>
                  <a:pt x="1528" y="194"/>
                </a:lnTo>
                <a:lnTo>
                  <a:pt x="1529" y="193"/>
                </a:lnTo>
                <a:lnTo>
                  <a:pt x="1530" y="192"/>
                </a:lnTo>
                <a:lnTo>
                  <a:pt x="1532" y="191"/>
                </a:lnTo>
                <a:lnTo>
                  <a:pt x="1534" y="190"/>
                </a:lnTo>
                <a:lnTo>
                  <a:pt x="1535" y="190"/>
                </a:lnTo>
                <a:close/>
                <a:moveTo>
                  <a:pt x="567" y="187"/>
                </a:moveTo>
                <a:lnTo>
                  <a:pt x="569" y="187"/>
                </a:lnTo>
                <a:lnTo>
                  <a:pt x="571" y="189"/>
                </a:lnTo>
                <a:lnTo>
                  <a:pt x="572" y="190"/>
                </a:lnTo>
                <a:lnTo>
                  <a:pt x="573" y="192"/>
                </a:lnTo>
                <a:lnTo>
                  <a:pt x="572" y="194"/>
                </a:lnTo>
                <a:lnTo>
                  <a:pt x="571" y="196"/>
                </a:lnTo>
                <a:lnTo>
                  <a:pt x="569" y="197"/>
                </a:lnTo>
                <a:lnTo>
                  <a:pt x="567" y="198"/>
                </a:lnTo>
                <a:lnTo>
                  <a:pt x="565" y="197"/>
                </a:lnTo>
                <a:lnTo>
                  <a:pt x="563" y="196"/>
                </a:lnTo>
                <a:lnTo>
                  <a:pt x="562" y="194"/>
                </a:lnTo>
                <a:lnTo>
                  <a:pt x="562" y="192"/>
                </a:lnTo>
                <a:lnTo>
                  <a:pt x="562" y="190"/>
                </a:lnTo>
                <a:lnTo>
                  <a:pt x="563" y="189"/>
                </a:lnTo>
                <a:lnTo>
                  <a:pt x="565" y="187"/>
                </a:lnTo>
                <a:lnTo>
                  <a:pt x="567" y="187"/>
                </a:lnTo>
                <a:close/>
                <a:moveTo>
                  <a:pt x="1418" y="165"/>
                </a:moveTo>
                <a:lnTo>
                  <a:pt x="1420" y="165"/>
                </a:lnTo>
                <a:lnTo>
                  <a:pt x="1422" y="165"/>
                </a:lnTo>
                <a:lnTo>
                  <a:pt x="1424" y="166"/>
                </a:lnTo>
                <a:lnTo>
                  <a:pt x="1425" y="167"/>
                </a:lnTo>
                <a:lnTo>
                  <a:pt x="1426" y="168"/>
                </a:lnTo>
                <a:lnTo>
                  <a:pt x="1427" y="170"/>
                </a:lnTo>
                <a:lnTo>
                  <a:pt x="1428" y="171"/>
                </a:lnTo>
                <a:lnTo>
                  <a:pt x="1429" y="173"/>
                </a:lnTo>
                <a:lnTo>
                  <a:pt x="1429" y="175"/>
                </a:lnTo>
                <a:lnTo>
                  <a:pt x="1429" y="177"/>
                </a:lnTo>
                <a:lnTo>
                  <a:pt x="1428" y="178"/>
                </a:lnTo>
                <a:lnTo>
                  <a:pt x="1427" y="180"/>
                </a:lnTo>
                <a:lnTo>
                  <a:pt x="1426" y="181"/>
                </a:lnTo>
                <a:lnTo>
                  <a:pt x="1425" y="183"/>
                </a:lnTo>
                <a:lnTo>
                  <a:pt x="1424" y="184"/>
                </a:lnTo>
                <a:lnTo>
                  <a:pt x="1422" y="184"/>
                </a:lnTo>
                <a:lnTo>
                  <a:pt x="1420" y="185"/>
                </a:lnTo>
                <a:lnTo>
                  <a:pt x="1418" y="185"/>
                </a:lnTo>
                <a:lnTo>
                  <a:pt x="1417" y="185"/>
                </a:lnTo>
                <a:lnTo>
                  <a:pt x="1415" y="184"/>
                </a:lnTo>
                <a:lnTo>
                  <a:pt x="1413" y="184"/>
                </a:lnTo>
                <a:lnTo>
                  <a:pt x="1412" y="183"/>
                </a:lnTo>
                <a:lnTo>
                  <a:pt x="1411" y="181"/>
                </a:lnTo>
                <a:lnTo>
                  <a:pt x="1410" y="180"/>
                </a:lnTo>
                <a:lnTo>
                  <a:pt x="1409" y="178"/>
                </a:lnTo>
                <a:lnTo>
                  <a:pt x="1408" y="177"/>
                </a:lnTo>
                <a:lnTo>
                  <a:pt x="1408" y="175"/>
                </a:lnTo>
                <a:lnTo>
                  <a:pt x="1408" y="173"/>
                </a:lnTo>
                <a:lnTo>
                  <a:pt x="1409" y="171"/>
                </a:lnTo>
                <a:lnTo>
                  <a:pt x="1410" y="170"/>
                </a:lnTo>
                <a:lnTo>
                  <a:pt x="1411" y="168"/>
                </a:lnTo>
                <a:lnTo>
                  <a:pt x="1412" y="167"/>
                </a:lnTo>
                <a:lnTo>
                  <a:pt x="1413" y="166"/>
                </a:lnTo>
                <a:lnTo>
                  <a:pt x="1415" y="165"/>
                </a:lnTo>
                <a:lnTo>
                  <a:pt x="1417" y="165"/>
                </a:lnTo>
                <a:lnTo>
                  <a:pt x="1418" y="165"/>
                </a:lnTo>
                <a:close/>
                <a:moveTo>
                  <a:pt x="504" y="164"/>
                </a:moveTo>
                <a:lnTo>
                  <a:pt x="506" y="164"/>
                </a:lnTo>
                <a:lnTo>
                  <a:pt x="508" y="164"/>
                </a:lnTo>
                <a:lnTo>
                  <a:pt x="509" y="165"/>
                </a:lnTo>
                <a:lnTo>
                  <a:pt x="511" y="166"/>
                </a:lnTo>
                <a:lnTo>
                  <a:pt x="512" y="167"/>
                </a:lnTo>
                <a:lnTo>
                  <a:pt x="513" y="168"/>
                </a:lnTo>
                <a:lnTo>
                  <a:pt x="514" y="170"/>
                </a:lnTo>
                <a:lnTo>
                  <a:pt x="515" y="171"/>
                </a:lnTo>
                <a:lnTo>
                  <a:pt x="515" y="173"/>
                </a:lnTo>
                <a:lnTo>
                  <a:pt x="515" y="175"/>
                </a:lnTo>
                <a:lnTo>
                  <a:pt x="515" y="177"/>
                </a:lnTo>
                <a:lnTo>
                  <a:pt x="515" y="178"/>
                </a:lnTo>
                <a:lnTo>
                  <a:pt x="514" y="180"/>
                </a:lnTo>
                <a:lnTo>
                  <a:pt x="513" y="181"/>
                </a:lnTo>
                <a:lnTo>
                  <a:pt x="512" y="183"/>
                </a:lnTo>
                <a:lnTo>
                  <a:pt x="511" y="184"/>
                </a:lnTo>
                <a:lnTo>
                  <a:pt x="509" y="185"/>
                </a:lnTo>
                <a:lnTo>
                  <a:pt x="508" y="185"/>
                </a:lnTo>
                <a:lnTo>
                  <a:pt x="506" y="186"/>
                </a:lnTo>
                <a:lnTo>
                  <a:pt x="504" y="186"/>
                </a:lnTo>
                <a:lnTo>
                  <a:pt x="503" y="186"/>
                </a:lnTo>
                <a:lnTo>
                  <a:pt x="501" y="185"/>
                </a:lnTo>
                <a:lnTo>
                  <a:pt x="499" y="185"/>
                </a:lnTo>
                <a:lnTo>
                  <a:pt x="498" y="184"/>
                </a:lnTo>
                <a:lnTo>
                  <a:pt x="497" y="183"/>
                </a:lnTo>
                <a:lnTo>
                  <a:pt x="495" y="181"/>
                </a:lnTo>
                <a:lnTo>
                  <a:pt x="495" y="180"/>
                </a:lnTo>
                <a:lnTo>
                  <a:pt x="494" y="178"/>
                </a:lnTo>
                <a:lnTo>
                  <a:pt x="493" y="177"/>
                </a:lnTo>
                <a:lnTo>
                  <a:pt x="493" y="175"/>
                </a:lnTo>
                <a:lnTo>
                  <a:pt x="493" y="173"/>
                </a:lnTo>
                <a:lnTo>
                  <a:pt x="494" y="171"/>
                </a:lnTo>
                <a:lnTo>
                  <a:pt x="495" y="170"/>
                </a:lnTo>
                <a:lnTo>
                  <a:pt x="495" y="168"/>
                </a:lnTo>
                <a:lnTo>
                  <a:pt x="497" y="167"/>
                </a:lnTo>
                <a:lnTo>
                  <a:pt x="498" y="166"/>
                </a:lnTo>
                <a:lnTo>
                  <a:pt x="499" y="165"/>
                </a:lnTo>
                <a:lnTo>
                  <a:pt x="501" y="164"/>
                </a:lnTo>
                <a:lnTo>
                  <a:pt x="503" y="164"/>
                </a:lnTo>
                <a:lnTo>
                  <a:pt x="504" y="164"/>
                </a:lnTo>
                <a:close/>
                <a:moveTo>
                  <a:pt x="629" y="158"/>
                </a:moveTo>
                <a:lnTo>
                  <a:pt x="631" y="158"/>
                </a:lnTo>
                <a:lnTo>
                  <a:pt x="633" y="159"/>
                </a:lnTo>
                <a:lnTo>
                  <a:pt x="634" y="160"/>
                </a:lnTo>
                <a:lnTo>
                  <a:pt x="635" y="162"/>
                </a:lnTo>
                <a:lnTo>
                  <a:pt x="635" y="164"/>
                </a:lnTo>
                <a:lnTo>
                  <a:pt x="635" y="166"/>
                </a:lnTo>
                <a:lnTo>
                  <a:pt x="634" y="167"/>
                </a:lnTo>
                <a:lnTo>
                  <a:pt x="633" y="169"/>
                </a:lnTo>
                <a:lnTo>
                  <a:pt x="631" y="169"/>
                </a:lnTo>
                <a:lnTo>
                  <a:pt x="629" y="170"/>
                </a:lnTo>
                <a:lnTo>
                  <a:pt x="627" y="169"/>
                </a:lnTo>
                <a:lnTo>
                  <a:pt x="625" y="169"/>
                </a:lnTo>
                <a:lnTo>
                  <a:pt x="624" y="167"/>
                </a:lnTo>
                <a:lnTo>
                  <a:pt x="623" y="166"/>
                </a:lnTo>
                <a:lnTo>
                  <a:pt x="623" y="164"/>
                </a:lnTo>
                <a:lnTo>
                  <a:pt x="623" y="162"/>
                </a:lnTo>
                <a:lnTo>
                  <a:pt x="624" y="160"/>
                </a:lnTo>
                <a:lnTo>
                  <a:pt x="625" y="159"/>
                </a:lnTo>
                <a:lnTo>
                  <a:pt x="627" y="158"/>
                </a:lnTo>
                <a:lnTo>
                  <a:pt x="629" y="158"/>
                </a:lnTo>
                <a:close/>
                <a:moveTo>
                  <a:pt x="444" y="154"/>
                </a:moveTo>
                <a:lnTo>
                  <a:pt x="446" y="154"/>
                </a:lnTo>
                <a:lnTo>
                  <a:pt x="447" y="155"/>
                </a:lnTo>
                <a:lnTo>
                  <a:pt x="449" y="156"/>
                </a:lnTo>
                <a:lnTo>
                  <a:pt x="450" y="157"/>
                </a:lnTo>
                <a:lnTo>
                  <a:pt x="451" y="159"/>
                </a:lnTo>
                <a:lnTo>
                  <a:pt x="451" y="161"/>
                </a:lnTo>
                <a:lnTo>
                  <a:pt x="451" y="163"/>
                </a:lnTo>
                <a:lnTo>
                  <a:pt x="450" y="164"/>
                </a:lnTo>
                <a:lnTo>
                  <a:pt x="449" y="166"/>
                </a:lnTo>
                <a:lnTo>
                  <a:pt x="447" y="167"/>
                </a:lnTo>
                <a:lnTo>
                  <a:pt x="446" y="168"/>
                </a:lnTo>
                <a:lnTo>
                  <a:pt x="444" y="168"/>
                </a:lnTo>
                <a:lnTo>
                  <a:pt x="442" y="168"/>
                </a:lnTo>
                <a:lnTo>
                  <a:pt x="440" y="167"/>
                </a:lnTo>
                <a:lnTo>
                  <a:pt x="439" y="166"/>
                </a:lnTo>
                <a:lnTo>
                  <a:pt x="437" y="164"/>
                </a:lnTo>
                <a:lnTo>
                  <a:pt x="437" y="163"/>
                </a:lnTo>
                <a:lnTo>
                  <a:pt x="436" y="161"/>
                </a:lnTo>
                <a:lnTo>
                  <a:pt x="437" y="159"/>
                </a:lnTo>
                <a:lnTo>
                  <a:pt x="437" y="157"/>
                </a:lnTo>
                <a:lnTo>
                  <a:pt x="439" y="156"/>
                </a:lnTo>
                <a:lnTo>
                  <a:pt x="440" y="155"/>
                </a:lnTo>
                <a:lnTo>
                  <a:pt x="442" y="154"/>
                </a:lnTo>
                <a:lnTo>
                  <a:pt x="444" y="154"/>
                </a:lnTo>
                <a:close/>
                <a:moveTo>
                  <a:pt x="1296" y="153"/>
                </a:moveTo>
                <a:lnTo>
                  <a:pt x="1296" y="153"/>
                </a:lnTo>
                <a:lnTo>
                  <a:pt x="1298" y="153"/>
                </a:lnTo>
                <a:lnTo>
                  <a:pt x="1299" y="154"/>
                </a:lnTo>
                <a:lnTo>
                  <a:pt x="1300" y="154"/>
                </a:lnTo>
                <a:lnTo>
                  <a:pt x="1296" y="153"/>
                </a:lnTo>
                <a:close/>
                <a:moveTo>
                  <a:pt x="1479" y="152"/>
                </a:moveTo>
                <a:lnTo>
                  <a:pt x="1481" y="152"/>
                </a:lnTo>
                <a:lnTo>
                  <a:pt x="1483" y="152"/>
                </a:lnTo>
                <a:lnTo>
                  <a:pt x="1484" y="153"/>
                </a:lnTo>
                <a:lnTo>
                  <a:pt x="1486" y="154"/>
                </a:lnTo>
                <a:lnTo>
                  <a:pt x="1487" y="156"/>
                </a:lnTo>
                <a:lnTo>
                  <a:pt x="1488" y="157"/>
                </a:lnTo>
                <a:lnTo>
                  <a:pt x="1488" y="159"/>
                </a:lnTo>
                <a:lnTo>
                  <a:pt x="1488" y="161"/>
                </a:lnTo>
                <a:lnTo>
                  <a:pt x="1488" y="163"/>
                </a:lnTo>
                <a:lnTo>
                  <a:pt x="1488" y="164"/>
                </a:lnTo>
                <a:lnTo>
                  <a:pt x="1487" y="166"/>
                </a:lnTo>
                <a:lnTo>
                  <a:pt x="1486" y="167"/>
                </a:lnTo>
                <a:lnTo>
                  <a:pt x="1484" y="169"/>
                </a:lnTo>
                <a:lnTo>
                  <a:pt x="1483" y="169"/>
                </a:lnTo>
                <a:lnTo>
                  <a:pt x="1481" y="170"/>
                </a:lnTo>
                <a:lnTo>
                  <a:pt x="1479" y="170"/>
                </a:lnTo>
                <a:lnTo>
                  <a:pt x="1477" y="170"/>
                </a:lnTo>
                <a:lnTo>
                  <a:pt x="1475" y="169"/>
                </a:lnTo>
                <a:lnTo>
                  <a:pt x="1474" y="169"/>
                </a:lnTo>
                <a:lnTo>
                  <a:pt x="1472" y="167"/>
                </a:lnTo>
                <a:lnTo>
                  <a:pt x="1471" y="166"/>
                </a:lnTo>
                <a:lnTo>
                  <a:pt x="1470" y="164"/>
                </a:lnTo>
                <a:lnTo>
                  <a:pt x="1470" y="163"/>
                </a:lnTo>
                <a:lnTo>
                  <a:pt x="1470" y="161"/>
                </a:lnTo>
                <a:lnTo>
                  <a:pt x="1470" y="159"/>
                </a:lnTo>
                <a:lnTo>
                  <a:pt x="1470" y="157"/>
                </a:lnTo>
                <a:lnTo>
                  <a:pt x="1471" y="156"/>
                </a:lnTo>
                <a:lnTo>
                  <a:pt x="1472" y="154"/>
                </a:lnTo>
                <a:lnTo>
                  <a:pt x="1474" y="153"/>
                </a:lnTo>
                <a:lnTo>
                  <a:pt x="1475" y="152"/>
                </a:lnTo>
                <a:lnTo>
                  <a:pt x="1477" y="152"/>
                </a:lnTo>
                <a:lnTo>
                  <a:pt x="1479" y="152"/>
                </a:lnTo>
                <a:close/>
                <a:moveTo>
                  <a:pt x="693" y="134"/>
                </a:moveTo>
                <a:lnTo>
                  <a:pt x="695" y="134"/>
                </a:lnTo>
                <a:lnTo>
                  <a:pt x="697" y="135"/>
                </a:lnTo>
                <a:lnTo>
                  <a:pt x="698" y="136"/>
                </a:lnTo>
                <a:lnTo>
                  <a:pt x="699" y="138"/>
                </a:lnTo>
                <a:lnTo>
                  <a:pt x="699" y="140"/>
                </a:lnTo>
                <a:lnTo>
                  <a:pt x="699" y="142"/>
                </a:lnTo>
                <a:lnTo>
                  <a:pt x="698" y="144"/>
                </a:lnTo>
                <a:lnTo>
                  <a:pt x="697" y="145"/>
                </a:lnTo>
                <a:lnTo>
                  <a:pt x="695" y="146"/>
                </a:lnTo>
                <a:lnTo>
                  <a:pt x="693" y="146"/>
                </a:lnTo>
                <a:lnTo>
                  <a:pt x="691" y="146"/>
                </a:lnTo>
                <a:lnTo>
                  <a:pt x="689" y="145"/>
                </a:lnTo>
                <a:lnTo>
                  <a:pt x="688" y="144"/>
                </a:lnTo>
                <a:lnTo>
                  <a:pt x="687" y="142"/>
                </a:lnTo>
                <a:lnTo>
                  <a:pt x="687" y="140"/>
                </a:lnTo>
                <a:lnTo>
                  <a:pt x="687" y="138"/>
                </a:lnTo>
                <a:lnTo>
                  <a:pt x="688" y="136"/>
                </a:lnTo>
                <a:lnTo>
                  <a:pt x="689" y="135"/>
                </a:lnTo>
                <a:lnTo>
                  <a:pt x="691" y="134"/>
                </a:lnTo>
                <a:lnTo>
                  <a:pt x="693" y="134"/>
                </a:lnTo>
                <a:close/>
                <a:moveTo>
                  <a:pt x="1358" y="132"/>
                </a:moveTo>
                <a:lnTo>
                  <a:pt x="1360" y="133"/>
                </a:lnTo>
                <a:lnTo>
                  <a:pt x="1362" y="133"/>
                </a:lnTo>
                <a:lnTo>
                  <a:pt x="1363" y="134"/>
                </a:lnTo>
                <a:lnTo>
                  <a:pt x="1365" y="135"/>
                </a:lnTo>
                <a:lnTo>
                  <a:pt x="1366" y="136"/>
                </a:lnTo>
                <a:lnTo>
                  <a:pt x="1367" y="137"/>
                </a:lnTo>
                <a:lnTo>
                  <a:pt x="1368" y="139"/>
                </a:lnTo>
                <a:lnTo>
                  <a:pt x="1368" y="141"/>
                </a:lnTo>
                <a:lnTo>
                  <a:pt x="1369" y="143"/>
                </a:lnTo>
                <a:lnTo>
                  <a:pt x="1368" y="145"/>
                </a:lnTo>
                <a:lnTo>
                  <a:pt x="1368" y="146"/>
                </a:lnTo>
                <a:lnTo>
                  <a:pt x="1367" y="148"/>
                </a:lnTo>
                <a:lnTo>
                  <a:pt x="1366" y="149"/>
                </a:lnTo>
                <a:lnTo>
                  <a:pt x="1365" y="151"/>
                </a:lnTo>
                <a:lnTo>
                  <a:pt x="1363" y="152"/>
                </a:lnTo>
                <a:lnTo>
                  <a:pt x="1362" y="152"/>
                </a:lnTo>
                <a:lnTo>
                  <a:pt x="1360" y="153"/>
                </a:lnTo>
                <a:lnTo>
                  <a:pt x="1358" y="153"/>
                </a:lnTo>
                <a:lnTo>
                  <a:pt x="1356" y="153"/>
                </a:lnTo>
                <a:lnTo>
                  <a:pt x="1354" y="152"/>
                </a:lnTo>
                <a:lnTo>
                  <a:pt x="1353" y="152"/>
                </a:lnTo>
                <a:lnTo>
                  <a:pt x="1351" y="151"/>
                </a:lnTo>
                <a:lnTo>
                  <a:pt x="1350" y="149"/>
                </a:lnTo>
                <a:lnTo>
                  <a:pt x="1349" y="148"/>
                </a:lnTo>
                <a:lnTo>
                  <a:pt x="1348" y="146"/>
                </a:lnTo>
                <a:lnTo>
                  <a:pt x="1348" y="145"/>
                </a:lnTo>
                <a:lnTo>
                  <a:pt x="1348" y="143"/>
                </a:lnTo>
                <a:lnTo>
                  <a:pt x="1348" y="141"/>
                </a:lnTo>
                <a:lnTo>
                  <a:pt x="1348" y="139"/>
                </a:lnTo>
                <a:lnTo>
                  <a:pt x="1349" y="137"/>
                </a:lnTo>
                <a:lnTo>
                  <a:pt x="1350" y="136"/>
                </a:lnTo>
                <a:lnTo>
                  <a:pt x="1351" y="135"/>
                </a:lnTo>
                <a:lnTo>
                  <a:pt x="1353" y="134"/>
                </a:lnTo>
                <a:lnTo>
                  <a:pt x="1354" y="133"/>
                </a:lnTo>
                <a:lnTo>
                  <a:pt x="1356" y="133"/>
                </a:lnTo>
                <a:lnTo>
                  <a:pt x="1358" y="132"/>
                </a:lnTo>
                <a:close/>
                <a:moveTo>
                  <a:pt x="565" y="132"/>
                </a:moveTo>
                <a:lnTo>
                  <a:pt x="567" y="132"/>
                </a:lnTo>
                <a:lnTo>
                  <a:pt x="568" y="132"/>
                </a:lnTo>
                <a:lnTo>
                  <a:pt x="570" y="133"/>
                </a:lnTo>
                <a:lnTo>
                  <a:pt x="571" y="134"/>
                </a:lnTo>
                <a:lnTo>
                  <a:pt x="573" y="135"/>
                </a:lnTo>
                <a:lnTo>
                  <a:pt x="574" y="136"/>
                </a:lnTo>
                <a:lnTo>
                  <a:pt x="575" y="138"/>
                </a:lnTo>
                <a:lnTo>
                  <a:pt x="575" y="139"/>
                </a:lnTo>
                <a:lnTo>
                  <a:pt x="576" y="141"/>
                </a:lnTo>
                <a:lnTo>
                  <a:pt x="576" y="143"/>
                </a:lnTo>
                <a:lnTo>
                  <a:pt x="576" y="145"/>
                </a:lnTo>
                <a:lnTo>
                  <a:pt x="575" y="146"/>
                </a:lnTo>
                <a:lnTo>
                  <a:pt x="575" y="148"/>
                </a:lnTo>
                <a:lnTo>
                  <a:pt x="574" y="149"/>
                </a:lnTo>
                <a:lnTo>
                  <a:pt x="573" y="151"/>
                </a:lnTo>
                <a:lnTo>
                  <a:pt x="571" y="152"/>
                </a:lnTo>
                <a:lnTo>
                  <a:pt x="570" y="153"/>
                </a:lnTo>
                <a:lnTo>
                  <a:pt x="568" y="153"/>
                </a:lnTo>
                <a:lnTo>
                  <a:pt x="567" y="154"/>
                </a:lnTo>
                <a:lnTo>
                  <a:pt x="565" y="154"/>
                </a:lnTo>
                <a:lnTo>
                  <a:pt x="563" y="154"/>
                </a:lnTo>
                <a:lnTo>
                  <a:pt x="561" y="153"/>
                </a:lnTo>
                <a:lnTo>
                  <a:pt x="560" y="153"/>
                </a:lnTo>
                <a:lnTo>
                  <a:pt x="558" y="152"/>
                </a:lnTo>
                <a:lnTo>
                  <a:pt x="557" y="151"/>
                </a:lnTo>
                <a:lnTo>
                  <a:pt x="556" y="149"/>
                </a:lnTo>
                <a:lnTo>
                  <a:pt x="555" y="148"/>
                </a:lnTo>
                <a:lnTo>
                  <a:pt x="554" y="146"/>
                </a:lnTo>
                <a:lnTo>
                  <a:pt x="554" y="145"/>
                </a:lnTo>
                <a:lnTo>
                  <a:pt x="554" y="143"/>
                </a:lnTo>
                <a:lnTo>
                  <a:pt x="554" y="141"/>
                </a:lnTo>
                <a:lnTo>
                  <a:pt x="554" y="139"/>
                </a:lnTo>
                <a:lnTo>
                  <a:pt x="555" y="138"/>
                </a:lnTo>
                <a:lnTo>
                  <a:pt x="556" y="136"/>
                </a:lnTo>
                <a:lnTo>
                  <a:pt x="557" y="135"/>
                </a:lnTo>
                <a:lnTo>
                  <a:pt x="558" y="134"/>
                </a:lnTo>
                <a:lnTo>
                  <a:pt x="560" y="133"/>
                </a:lnTo>
                <a:lnTo>
                  <a:pt x="561" y="132"/>
                </a:lnTo>
                <a:lnTo>
                  <a:pt x="563" y="132"/>
                </a:lnTo>
                <a:lnTo>
                  <a:pt x="565" y="132"/>
                </a:lnTo>
                <a:close/>
                <a:moveTo>
                  <a:pt x="1230" y="130"/>
                </a:moveTo>
                <a:lnTo>
                  <a:pt x="1232" y="130"/>
                </a:lnTo>
                <a:lnTo>
                  <a:pt x="1233" y="130"/>
                </a:lnTo>
                <a:lnTo>
                  <a:pt x="1235" y="131"/>
                </a:lnTo>
                <a:lnTo>
                  <a:pt x="1236" y="132"/>
                </a:lnTo>
                <a:lnTo>
                  <a:pt x="1238" y="133"/>
                </a:lnTo>
                <a:lnTo>
                  <a:pt x="1238" y="133"/>
                </a:lnTo>
                <a:lnTo>
                  <a:pt x="1231" y="131"/>
                </a:lnTo>
                <a:lnTo>
                  <a:pt x="1227" y="130"/>
                </a:lnTo>
                <a:lnTo>
                  <a:pt x="1228" y="130"/>
                </a:lnTo>
                <a:lnTo>
                  <a:pt x="1230" y="130"/>
                </a:lnTo>
                <a:close/>
                <a:moveTo>
                  <a:pt x="502" y="119"/>
                </a:moveTo>
                <a:lnTo>
                  <a:pt x="504" y="119"/>
                </a:lnTo>
                <a:lnTo>
                  <a:pt x="506" y="120"/>
                </a:lnTo>
                <a:lnTo>
                  <a:pt x="508" y="121"/>
                </a:lnTo>
                <a:lnTo>
                  <a:pt x="509" y="122"/>
                </a:lnTo>
                <a:lnTo>
                  <a:pt x="509" y="124"/>
                </a:lnTo>
                <a:lnTo>
                  <a:pt x="510" y="126"/>
                </a:lnTo>
                <a:lnTo>
                  <a:pt x="509" y="128"/>
                </a:lnTo>
                <a:lnTo>
                  <a:pt x="509" y="130"/>
                </a:lnTo>
                <a:lnTo>
                  <a:pt x="508" y="131"/>
                </a:lnTo>
                <a:lnTo>
                  <a:pt x="506" y="132"/>
                </a:lnTo>
                <a:lnTo>
                  <a:pt x="504" y="133"/>
                </a:lnTo>
                <a:lnTo>
                  <a:pt x="502" y="133"/>
                </a:lnTo>
                <a:lnTo>
                  <a:pt x="500" y="133"/>
                </a:lnTo>
                <a:lnTo>
                  <a:pt x="499" y="132"/>
                </a:lnTo>
                <a:lnTo>
                  <a:pt x="497" y="131"/>
                </a:lnTo>
                <a:lnTo>
                  <a:pt x="496" y="130"/>
                </a:lnTo>
                <a:lnTo>
                  <a:pt x="495" y="128"/>
                </a:lnTo>
                <a:lnTo>
                  <a:pt x="495" y="126"/>
                </a:lnTo>
                <a:lnTo>
                  <a:pt x="495" y="124"/>
                </a:lnTo>
                <a:lnTo>
                  <a:pt x="496" y="122"/>
                </a:lnTo>
                <a:lnTo>
                  <a:pt x="497" y="121"/>
                </a:lnTo>
                <a:lnTo>
                  <a:pt x="499" y="120"/>
                </a:lnTo>
                <a:lnTo>
                  <a:pt x="500" y="119"/>
                </a:lnTo>
                <a:lnTo>
                  <a:pt x="502" y="119"/>
                </a:lnTo>
                <a:close/>
                <a:moveTo>
                  <a:pt x="1420" y="117"/>
                </a:moveTo>
                <a:lnTo>
                  <a:pt x="1422" y="117"/>
                </a:lnTo>
                <a:lnTo>
                  <a:pt x="1424" y="117"/>
                </a:lnTo>
                <a:lnTo>
                  <a:pt x="1425" y="118"/>
                </a:lnTo>
                <a:lnTo>
                  <a:pt x="1427" y="119"/>
                </a:lnTo>
                <a:lnTo>
                  <a:pt x="1428" y="121"/>
                </a:lnTo>
                <a:lnTo>
                  <a:pt x="1429" y="122"/>
                </a:lnTo>
                <a:lnTo>
                  <a:pt x="1429" y="124"/>
                </a:lnTo>
                <a:lnTo>
                  <a:pt x="1430" y="126"/>
                </a:lnTo>
                <a:lnTo>
                  <a:pt x="1429" y="128"/>
                </a:lnTo>
                <a:lnTo>
                  <a:pt x="1429" y="130"/>
                </a:lnTo>
                <a:lnTo>
                  <a:pt x="1428" y="131"/>
                </a:lnTo>
                <a:lnTo>
                  <a:pt x="1427" y="132"/>
                </a:lnTo>
                <a:lnTo>
                  <a:pt x="1425" y="134"/>
                </a:lnTo>
                <a:lnTo>
                  <a:pt x="1424" y="134"/>
                </a:lnTo>
                <a:lnTo>
                  <a:pt x="1422" y="135"/>
                </a:lnTo>
                <a:lnTo>
                  <a:pt x="1420" y="135"/>
                </a:lnTo>
                <a:lnTo>
                  <a:pt x="1418" y="135"/>
                </a:lnTo>
                <a:lnTo>
                  <a:pt x="1417" y="134"/>
                </a:lnTo>
                <a:lnTo>
                  <a:pt x="1415" y="134"/>
                </a:lnTo>
                <a:lnTo>
                  <a:pt x="1414" y="132"/>
                </a:lnTo>
                <a:lnTo>
                  <a:pt x="1413" y="131"/>
                </a:lnTo>
                <a:lnTo>
                  <a:pt x="1412" y="130"/>
                </a:lnTo>
                <a:lnTo>
                  <a:pt x="1411" y="128"/>
                </a:lnTo>
                <a:lnTo>
                  <a:pt x="1411" y="126"/>
                </a:lnTo>
                <a:lnTo>
                  <a:pt x="1411" y="124"/>
                </a:lnTo>
                <a:lnTo>
                  <a:pt x="1412" y="122"/>
                </a:lnTo>
                <a:lnTo>
                  <a:pt x="1413" y="121"/>
                </a:lnTo>
                <a:lnTo>
                  <a:pt x="1414" y="119"/>
                </a:lnTo>
                <a:lnTo>
                  <a:pt x="1415" y="118"/>
                </a:lnTo>
                <a:lnTo>
                  <a:pt x="1417" y="117"/>
                </a:lnTo>
                <a:lnTo>
                  <a:pt x="1418" y="117"/>
                </a:lnTo>
                <a:lnTo>
                  <a:pt x="1420" y="117"/>
                </a:lnTo>
                <a:close/>
                <a:moveTo>
                  <a:pt x="759" y="115"/>
                </a:moveTo>
                <a:lnTo>
                  <a:pt x="760" y="115"/>
                </a:lnTo>
                <a:lnTo>
                  <a:pt x="762" y="116"/>
                </a:lnTo>
                <a:lnTo>
                  <a:pt x="764" y="117"/>
                </a:lnTo>
                <a:lnTo>
                  <a:pt x="765" y="118"/>
                </a:lnTo>
                <a:lnTo>
                  <a:pt x="765" y="120"/>
                </a:lnTo>
                <a:lnTo>
                  <a:pt x="766" y="122"/>
                </a:lnTo>
                <a:lnTo>
                  <a:pt x="765" y="124"/>
                </a:lnTo>
                <a:lnTo>
                  <a:pt x="765" y="125"/>
                </a:lnTo>
                <a:lnTo>
                  <a:pt x="764" y="126"/>
                </a:lnTo>
                <a:lnTo>
                  <a:pt x="757" y="128"/>
                </a:lnTo>
                <a:lnTo>
                  <a:pt x="755" y="128"/>
                </a:lnTo>
                <a:lnTo>
                  <a:pt x="754" y="127"/>
                </a:lnTo>
                <a:lnTo>
                  <a:pt x="753" y="125"/>
                </a:lnTo>
                <a:lnTo>
                  <a:pt x="752" y="124"/>
                </a:lnTo>
                <a:lnTo>
                  <a:pt x="752" y="122"/>
                </a:lnTo>
                <a:lnTo>
                  <a:pt x="752" y="120"/>
                </a:lnTo>
                <a:lnTo>
                  <a:pt x="753" y="118"/>
                </a:lnTo>
                <a:lnTo>
                  <a:pt x="754" y="117"/>
                </a:lnTo>
                <a:lnTo>
                  <a:pt x="755" y="116"/>
                </a:lnTo>
                <a:lnTo>
                  <a:pt x="757" y="115"/>
                </a:lnTo>
                <a:lnTo>
                  <a:pt x="759" y="115"/>
                </a:lnTo>
                <a:close/>
                <a:moveTo>
                  <a:pt x="1164" y="111"/>
                </a:moveTo>
                <a:lnTo>
                  <a:pt x="1166" y="112"/>
                </a:lnTo>
                <a:lnTo>
                  <a:pt x="1168" y="112"/>
                </a:lnTo>
                <a:lnTo>
                  <a:pt x="1169" y="113"/>
                </a:lnTo>
                <a:lnTo>
                  <a:pt x="1171" y="114"/>
                </a:lnTo>
                <a:lnTo>
                  <a:pt x="1172" y="115"/>
                </a:lnTo>
                <a:lnTo>
                  <a:pt x="1173" y="116"/>
                </a:lnTo>
                <a:lnTo>
                  <a:pt x="1173" y="117"/>
                </a:lnTo>
                <a:lnTo>
                  <a:pt x="1167" y="115"/>
                </a:lnTo>
                <a:lnTo>
                  <a:pt x="1158" y="113"/>
                </a:lnTo>
                <a:lnTo>
                  <a:pt x="1159" y="113"/>
                </a:lnTo>
                <a:lnTo>
                  <a:pt x="1161" y="112"/>
                </a:lnTo>
                <a:lnTo>
                  <a:pt x="1162" y="112"/>
                </a:lnTo>
                <a:lnTo>
                  <a:pt x="1164" y="111"/>
                </a:lnTo>
                <a:close/>
                <a:moveTo>
                  <a:pt x="1296" y="105"/>
                </a:moveTo>
                <a:lnTo>
                  <a:pt x="1297" y="105"/>
                </a:lnTo>
                <a:lnTo>
                  <a:pt x="1299" y="106"/>
                </a:lnTo>
                <a:lnTo>
                  <a:pt x="1301" y="106"/>
                </a:lnTo>
                <a:lnTo>
                  <a:pt x="1302" y="107"/>
                </a:lnTo>
                <a:lnTo>
                  <a:pt x="1304" y="109"/>
                </a:lnTo>
                <a:lnTo>
                  <a:pt x="1305" y="110"/>
                </a:lnTo>
                <a:lnTo>
                  <a:pt x="1305" y="112"/>
                </a:lnTo>
                <a:lnTo>
                  <a:pt x="1306" y="113"/>
                </a:lnTo>
                <a:lnTo>
                  <a:pt x="1306" y="115"/>
                </a:lnTo>
                <a:lnTo>
                  <a:pt x="1306" y="117"/>
                </a:lnTo>
                <a:lnTo>
                  <a:pt x="1305" y="119"/>
                </a:lnTo>
                <a:lnTo>
                  <a:pt x="1305" y="121"/>
                </a:lnTo>
                <a:lnTo>
                  <a:pt x="1304" y="122"/>
                </a:lnTo>
                <a:lnTo>
                  <a:pt x="1302" y="123"/>
                </a:lnTo>
                <a:lnTo>
                  <a:pt x="1301" y="124"/>
                </a:lnTo>
                <a:lnTo>
                  <a:pt x="1299" y="125"/>
                </a:lnTo>
                <a:lnTo>
                  <a:pt x="1297" y="126"/>
                </a:lnTo>
                <a:lnTo>
                  <a:pt x="1296" y="126"/>
                </a:lnTo>
                <a:lnTo>
                  <a:pt x="1294" y="126"/>
                </a:lnTo>
                <a:lnTo>
                  <a:pt x="1292" y="125"/>
                </a:lnTo>
                <a:lnTo>
                  <a:pt x="1290" y="124"/>
                </a:lnTo>
                <a:lnTo>
                  <a:pt x="1289" y="123"/>
                </a:lnTo>
                <a:lnTo>
                  <a:pt x="1288" y="122"/>
                </a:lnTo>
                <a:lnTo>
                  <a:pt x="1286" y="121"/>
                </a:lnTo>
                <a:lnTo>
                  <a:pt x="1286" y="119"/>
                </a:lnTo>
                <a:lnTo>
                  <a:pt x="1285" y="117"/>
                </a:lnTo>
                <a:lnTo>
                  <a:pt x="1285" y="115"/>
                </a:lnTo>
                <a:lnTo>
                  <a:pt x="1285" y="113"/>
                </a:lnTo>
                <a:lnTo>
                  <a:pt x="1286" y="112"/>
                </a:lnTo>
                <a:lnTo>
                  <a:pt x="1286" y="110"/>
                </a:lnTo>
                <a:lnTo>
                  <a:pt x="1288" y="109"/>
                </a:lnTo>
                <a:lnTo>
                  <a:pt x="1289" y="107"/>
                </a:lnTo>
                <a:lnTo>
                  <a:pt x="1290" y="106"/>
                </a:lnTo>
                <a:lnTo>
                  <a:pt x="1292" y="106"/>
                </a:lnTo>
                <a:lnTo>
                  <a:pt x="1294" y="105"/>
                </a:lnTo>
                <a:lnTo>
                  <a:pt x="1296" y="105"/>
                </a:lnTo>
                <a:close/>
                <a:moveTo>
                  <a:pt x="627" y="104"/>
                </a:moveTo>
                <a:lnTo>
                  <a:pt x="629" y="105"/>
                </a:lnTo>
                <a:lnTo>
                  <a:pt x="631" y="105"/>
                </a:lnTo>
                <a:lnTo>
                  <a:pt x="632" y="106"/>
                </a:lnTo>
                <a:lnTo>
                  <a:pt x="634" y="107"/>
                </a:lnTo>
                <a:lnTo>
                  <a:pt x="635" y="108"/>
                </a:lnTo>
                <a:lnTo>
                  <a:pt x="636" y="109"/>
                </a:lnTo>
                <a:lnTo>
                  <a:pt x="637" y="110"/>
                </a:lnTo>
                <a:lnTo>
                  <a:pt x="638" y="112"/>
                </a:lnTo>
                <a:lnTo>
                  <a:pt x="638" y="114"/>
                </a:lnTo>
                <a:lnTo>
                  <a:pt x="638" y="115"/>
                </a:lnTo>
                <a:lnTo>
                  <a:pt x="638" y="117"/>
                </a:lnTo>
                <a:lnTo>
                  <a:pt x="638" y="119"/>
                </a:lnTo>
                <a:lnTo>
                  <a:pt x="637" y="120"/>
                </a:lnTo>
                <a:lnTo>
                  <a:pt x="636" y="122"/>
                </a:lnTo>
                <a:lnTo>
                  <a:pt x="635" y="123"/>
                </a:lnTo>
                <a:lnTo>
                  <a:pt x="634" y="124"/>
                </a:lnTo>
                <a:lnTo>
                  <a:pt x="632" y="125"/>
                </a:lnTo>
                <a:lnTo>
                  <a:pt x="631" y="126"/>
                </a:lnTo>
                <a:lnTo>
                  <a:pt x="629" y="126"/>
                </a:lnTo>
                <a:lnTo>
                  <a:pt x="627" y="126"/>
                </a:lnTo>
                <a:lnTo>
                  <a:pt x="626" y="126"/>
                </a:lnTo>
                <a:lnTo>
                  <a:pt x="624" y="126"/>
                </a:lnTo>
                <a:lnTo>
                  <a:pt x="622" y="125"/>
                </a:lnTo>
                <a:lnTo>
                  <a:pt x="621" y="124"/>
                </a:lnTo>
                <a:lnTo>
                  <a:pt x="620" y="123"/>
                </a:lnTo>
                <a:lnTo>
                  <a:pt x="619" y="122"/>
                </a:lnTo>
                <a:lnTo>
                  <a:pt x="618" y="120"/>
                </a:lnTo>
                <a:lnTo>
                  <a:pt x="617" y="119"/>
                </a:lnTo>
                <a:lnTo>
                  <a:pt x="617" y="117"/>
                </a:lnTo>
                <a:lnTo>
                  <a:pt x="616" y="115"/>
                </a:lnTo>
                <a:lnTo>
                  <a:pt x="617" y="114"/>
                </a:lnTo>
                <a:lnTo>
                  <a:pt x="617" y="112"/>
                </a:lnTo>
                <a:lnTo>
                  <a:pt x="618" y="110"/>
                </a:lnTo>
                <a:lnTo>
                  <a:pt x="619" y="109"/>
                </a:lnTo>
                <a:lnTo>
                  <a:pt x="620" y="108"/>
                </a:lnTo>
                <a:lnTo>
                  <a:pt x="621" y="107"/>
                </a:lnTo>
                <a:lnTo>
                  <a:pt x="622" y="106"/>
                </a:lnTo>
                <a:lnTo>
                  <a:pt x="624" y="105"/>
                </a:lnTo>
                <a:lnTo>
                  <a:pt x="626" y="105"/>
                </a:lnTo>
                <a:lnTo>
                  <a:pt x="627" y="104"/>
                </a:lnTo>
                <a:close/>
                <a:moveTo>
                  <a:pt x="826" y="101"/>
                </a:moveTo>
                <a:lnTo>
                  <a:pt x="827" y="101"/>
                </a:lnTo>
                <a:lnTo>
                  <a:pt x="829" y="101"/>
                </a:lnTo>
                <a:lnTo>
                  <a:pt x="830" y="102"/>
                </a:lnTo>
                <a:lnTo>
                  <a:pt x="832" y="104"/>
                </a:lnTo>
                <a:lnTo>
                  <a:pt x="832" y="105"/>
                </a:lnTo>
                <a:lnTo>
                  <a:pt x="833" y="107"/>
                </a:lnTo>
                <a:lnTo>
                  <a:pt x="833" y="108"/>
                </a:lnTo>
                <a:lnTo>
                  <a:pt x="833" y="110"/>
                </a:lnTo>
                <a:lnTo>
                  <a:pt x="833" y="111"/>
                </a:lnTo>
                <a:lnTo>
                  <a:pt x="832" y="111"/>
                </a:lnTo>
                <a:lnTo>
                  <a:pt x="820" y="113"/>
                </a:lnTo>
                <a:lnTo>
                  <a:pt x="820" y="113"/>
                </a:lnTo>
                <a:lnTo>
                  <a:pt x="819" y="112"/>
                </a:lnTo>
                <a:lnTo>
                  <a:pt x="819" y="110"/>
                </a:lnTo>
                <a:lnTo>
                  <a:pt x="818" y="108"/>
                </a:lnTo>
                <a:lnTo>
                  <a:pt x="819" y="107"/>
                </a:lnTo>
                <a:lnTo>
                  <a:pt x="819" y="105"/>
                </a:lnTo>
                <a:lnTo>
                  <a:pt x="820" y="104"/>
                </a:lnTo>
                <a:lnTo>
                  <a:pt x="821" y="102"/>
                </a:lnTo>
                <a:lnTo>
                  <a:pt x="822" y="101"/>
                </a:lnTo>
                <a:lnTo>
                  <a:pt x="824" y="101"/>
                </a:lnTo>
                <a:lnTo>
                  <a:pt x="826" y="101"/>
                </a:lnTo>
                <a:close/>
                <a:moveTo>
                  <a:pt x="1097" y="99"/>
                </a:moveTo>
                <a:lnTo>
                  <a:pt x="1099" y="99"/>
                </a:lnTo>
                <a:lnTo>
                  <a:pt x="1101" y="99"/>
                </a:lnTo>
                <a:lnTo>
                  <a:pt x="1102" y="100"/>
                </a:lnTo>
                <a:lnTo>
                  <a:pt x="1104" y="101"/>
                </a:lnTo>
                <a:lnTo>
                  <a:pt x="1105" y="102"/>
                </a:lnTo>
                <a:lnTo>
                  <a:pt x="1106" y="104"/>
                </a:lnTo>
                <a:lnTo>
                  <a:pt x="1106" y="105"/>
                </a:lnTo>
                <a:lnTo>
                  <a:pt x="1102" y="104"/>
                </a:lnTo>
                <a:lnTo>
                  <a:pt x="1090" y="103"/>
                </a:lnTo>
                <a:lnTo>
                  <a:pt x="1090" y="102"/>
                </a:lnTo>
                <a:lnTo>
                  <a:pt x="1091" y="101"/>
                </a:lnTo>
                <a:lnTo>
                  <a:pt x="1093" y="100"/>
                </a:lnTo>
                <a:lnTo>
                  <a:pt x="1094" y="99"/>
                </a:lnTo>
                <a:lnTo>
                  <a:pt x="1096" y="99"/>
                </a:lnTo>
                <a:lnTo>
                  <a:pt x="1097" y="99"/>
                </a:lnTo>
                <a:close/>
                <a:moveTo>
                  <a:pt x="893" y="92"/>
                </a:moveTo>
                <a:lnTo>
                  <a:pt x="895" y="93"/>
                </a:lnTo>
                <a:lnTo>
                  <a:pt x="897" y="93"/>
                </a:lnTo>
                <a:lnTo>
                  <a:pt x="898" y="94"/>
                </a:lnTo>
                <a:lnTo>
                  <a:pt x="900" y="95"/>
                </a:lnTo>
                <a:lnTo>
                  <a:pt x="901" y="97"/>
                </a:lnTo>
                <a:lnTo>
                  <a:pt x="901" y="98"/>
                </a:lnTo>
                <a:lnTo>
                  <a:pt x="901" y="100"/>
                </a:lnTo>
                <a:lnTo>
                  <a:pt x="901" y="101"/>
                </a:lnTo>
                <a:lnTo>
                  <a:pt x="898" y="102"/>
                </a:lnTo>
                <a:lnTo>
                  <a:pt x="886" y="103"/>
                </a:lnTo>
                <a:lnTo>
                  <a:pt x="886" y="102"/>
                </a:lnTo>
                <a:lnTo>
                  <a:pt x="885" y="100"/>
                </a:lnTo>
                <a:lnTo>
                  <a:pt x="886" y="98"/>
                </a:lnTo>
                <a:lnTo>
                  <a:pt x="886" y="97"/>
                </a:lnTo>
                <a:lnTo>
                  <a:pt x="887" y="95"/>
                </a:lnTo>
                <a:lnTo>
                  <a:pt x="888" y="94"/>
                </a:lnTo>
                <a:lnTo>
                  <a:pt x="890" y="93"/>
                </a:lnTo>
                <a:lnTo>
                  <a:pt x="892" y="93"/>
                </a:lnTo>
                <a:lnTo>
                  <a:pt x="893" y="92"/>
                </a:lnTo>
                <a:close/>
                <a:moveTo>
                  <a:pt x="1030" y="91"/>
                </a:moveTo>
                <a:lnTo>
                  <a:pt x="1032" y="92"/>
                </a:lnTo>
                <a:lnTo>
                  <a:pt x="1033" y="92"/>
                </a:lnTo>
                <a:lnTo>
                  <a:pt x="1035" y="93"/>
                </a:lnTo>
                <a:lnTo>
                  <a:pt x="1036" y="94"/>
                </a:lnTo>
                <a:lnTo>
                  <a:pt x="1037" y="95"/>
                </a:lnTo>
                <a:lnTo>
                  <a:pt x="1038" y="97"/>
                </a:lnTo>
                <a:lnTo>
                  <a:pt x="1039" y="98"/>
                </a:lnTo>
                <a:lnTo>
                  <a:pt x="1035" y="98"/>
                </a:lnTo>
                <a:lnTo>
                  <a:pt x="1021" y="98"/>
                </a:lnTo>
                <a:lnTo>
                  <a:pt x="1021" y="97"/>
                </a:lnTo>
                <a:lnTo>
                  <a:pt x="1022" y="95"/>
                </a:lnTo>
                <a:lnTo>
                  <a:pt x="1023" y="94"/>
                </a:lnTo>
                <a:lnTo>
                  <a:pt x="1025" y="93"/>
                </a:lnTo>
                <a:lnTo>
                  <a:pt x="1026" y="92"/>
                </a:lnTo>
                <a:lnTo>
                  <a:pt x="1028" y="92"/>
                </a:lnTo>
                <a:lnTo>
                  <a:pt x="1030" y="91"/>
                </a:lnTo>
                <a:close/>
                <a:moveTo>
                  <a:pt x="961" y="89"/>
                </a:moveTo>
                <a:lnTo>
                  <a:pt x="963" y="89"/>
                </a:lnTo>
                <a:lnTo>
                  <a:pt x="965" y="90"/>
                </a:lnTo>
                <a:lnTo>
                  <a:pt x="966" y="91"/>
                </a:lnTo>
                <a:lnTo>
                  <a:pt x="967" y="92"/>
                </a:lnTo>
                <a:lnTo>
                  <a:pt x="968" y="93"/>
                </a:lnTo>
                <a:lnTo>
                  <a:pt x="969" y="94"/>
                </a:lnTo>
                <a:lnTo>
                  <a:pt x="970" y="96"/>
                </a:lnTo>
                <a:lnTo>
                  <a:pt x="970" y="97"/>
                </a:lnTo>
                <a:lnTo>
                  <a:pt x="966" y="97"/>
                </a:lnTo>
                <a:lnTo>
                  <a:pt x="953" y="98"/>
                </a:lnTo>
                <a:lnTo>
                  <a:pt x="953" y="98"/>
                </a:lnTo>
                <a:lnTo>
                  <a:pt x="953" y="96"/>
                </a:lnTo>
                <a:lnTo>
                  <a:pt x="954" y="94"/>
                </a:lnTo>
                <a:lnTo>
                  <a:pt x="955" y="93"/>
                </a:lnTo>
                <a:lnTo>
                  <a:pt x="956" y="92"/>
                </a:lnTo>
                <a:lnTo>
                  <a:pt x="957" y="91"/>
                </a:lnTo>
                <a:lnTo>
                  <a:pt x="958" y="90"/>
                </a:lnTo>
                <a:lnTo>
                  <a:pt x="960" y="89"/>
                </a:lnTo>
                <a:lnTo>
                  <a:pt x="961" y="89"/>
                </a:lnTo>
                <a:close/>
                <a:moveTo>
                  <a:pt x="564" y="88"/>
                </a:moveTo>
                <a:lnTo>
                  <a:pt x="565" y="88"/>
                </a:lnTo>
                <a:lnTo>
                  <a:pt x="567" y="88"/>
                </a:lnTo>
                <a:lnTo>
                  <a:pt x="568" y="89"/>
                </a:lnTo>
                <a:lnTo>
                  <a:pt x="570" y="91"/>
                </a:lnTo>
                <a:lnTo>
                  <a:pt x="570" y="92"/>
                </a:lnTo>
                <a:lnTo>
                  <a:pt x="571" y="94"/>
                </a:lnTo>
                <a:lnTo>
                  <a:pt x="571" y="95"/>
                </a:lnTo>
                <a:lnTo>
                  <a:pt x="571" y="97"/>
                </a:lnTo>
                <a:lnTo>
                  <a:pt x="570" y="99"/>
                </a:lnTo>
                <a:lnTo>
                  <a:pt x="570" y="100"/>
                </a:lnTo>
                <a:lnTo>
                  <a:pt x="568" y="101"/>
                </a:lnTo>
                <a:lnTo>
                  <a:pt x="567" y="102"/>
                </a:lnTo>
                <a:lnTo>
                  <a:pt x="565" y="103"/>
                </a:lnTo>
                <a:lnTo>
                  <a:pt x="564" y="103"/>
                </a:lnTo>
                <a:lnTo>
                  <a:pt x="562" y="103"/>
                </a:lnTo>
                <a:lnTo>
                  <a:pt x="560" y="102"/>
                </a:lnTo>
                <a:lnTo>
                  <a:pt x="559" y="101"/>
                </a:lnTo>
                <a:lnTo>
                  <a:pt x="558" y="100"/>
                </a:lnTo>
                <a:lnTo>
                  <a:pt x="557" y="99"/>
                </a:lnTo>
                <a:lnTo>
                  <a:pt x="556" y="97"/>
                </a:lnTo>
                <a:lnTo>
                  <a:pt x="556" y="95"/>
                </a:lnTo>
                <a:lnTo>
                  <a:pt x="556" y="94"/>
                </a:lnTo>
                <a:lnTo>
                  <a:pt x="557" y="92"/>
                </a:lnTo>
                <a:lnTo>
                  <a:pt x="558" y="91"/>
                </a:lnTo>
                <a:lnTo>
                  <a:pt x="559" y="89"/>
                </a:lnTo>
                <a:lnTo>
                  <a:pt x="560" y="88"/>
                </a:lnTo>
                <a:lnTo>
                  <a:pt x="562" y="88"/>
                </a:lnTo>
                <a:lnTo>
                  <a:pt x="564" y="88"/>
                </a:lnTo>
                <a:close/>
                <a:moveTo>
                  <a:pt x="1359" y="86"/>
                </a:moveTo>
                <a:lnTo>
                  <a:pt x="1361" y="86"/>
                </a:lnTo>
                <a:lnTo>
                  <a:pt x="1363" y="87"/>
                </a:lnTo>
                <a:lnTo>
                  <a:pt x="1364" y="87"/>
                </a:lnTo>
                <a:lnTo>
                  <a:pt x="1366" y="89"/>
                </a:lnTo>
                <a:lnTo>
                  <a:pt x="1367" y="90"/>
                </a:lnTo>
                <a:lnTo>
                  <a:pt x="1368" y="91"/>
                </a:lnTo>
                <a:lnTo>
                  <a:pt x="1368" y="93"/>
                </a:lnTo>
                <a:lnTo>
                  <a:pt x="1369" y="95"/>
                </a:lnTo>
                <a:lnTo>
                  <a:pt x="1368" y="97"/>
                </a:lnTo>
                <a:lnTo>
                  <a:pt x="1368" y="99"/>
                </a:lnTo>
                <a:lnTo>
                  <a:pt x="1367" y="100"/>
                </a:lnTo>
                <a:lnTo>
                  <a:pt x="1366" y="102"/>
                </a:lnTo>
                <a:lnTo>
                  <a:pt x="1364" y="103"/>
                </a:lnTo>
                <a:lnTo>
                  <a:pt x="1363" y="104"/>
                </a:lnTo>
                <a:lnTo>
                  <a:pt x="1361" y="104"/>
                </a:lnTo>
                <a:lnTo>
                  <a:pt x="1359" y="104"/>
                </a:lnTo>
                <a:lnTo>
                  <a:pt x="1357" y="104"/>
                </a:lnTo>
                <a:lnTo>
                  <a:pt x="1356" y="104"/>
                </a:lnTo>
                <a:lnTo>
                  <a:pt x="1354" y="103"/>
                </a:lnTo>
                <a:lnTo>
                  <a:pt x="1353" y="102"/>
                </a:lnTo>
                <a:lnTo>
                  <a:pt x="1351" y="100"/>
                </a:lnTo>
                <a:lnTo>
                  <a:pt x="1351" y="99"/>
                </a:lnTo>
                <a:lnTo>
                  <a:pt x="1350" y="97"/>
                </a:lnTo>
                <a:lnTo>
                  <a:pt x="1350" y="95"/>
                </a:lnTo>
                <a:lnTo>
                  <a:pt x="1350" y="93"/>
                </a:lnTo>
                <a:lnTo>
                  <a:pt x="1351" y="91"/>
                </a:lnTo>
                <a:lnTo>
                  <a:pt x="1351" y="90"/>
                </a:lnTo>
                <a:lnTo>
                  <a:pt x="1353" y="89"/>
                </a:lnTo>
                <a:lnTo>
                  <a:pt x="1354" y="87"/>
                </a:lnTo>
                <a:lnTo>
                  <a:pt x="1356" y="87"/>
                </a:lnTo>
                <a:lnTo>
                  <a:pt x="1357" y="86"/>
                </a:lnTo>
                <a:lnTo>
                  <a:pt x="1359" y="86"/>
                </a:lnTo>
                <a:close/>
                <a:moveTo>
                  <a:pt x="1231" y="82"/>
                </a:moveTo>
                <a:lnTo>
                  <a:pt x="1233" y="82"/>
                </a:lnTo>
                <a:lnTo>
                  <a:pt x="1234" y="83"/>
                </a:lnTo>
                <a:lnTo>
                  <a:pt x="1236" y="83"/>
                </a:lnTo>
                <a:lnTo>
                  <a:pt x="1237" y="84"/>
                </a:lnTo>
                <a:lnTo>
                  <a:pt x="1239" y="85"/>
                </a:lnTo>
                <a:lnTo>
                  <a:pt x="1240" y="86"/>
                </a:lnTo>
                <a:lnTo>
                  <a:pt x="1241" y="88"/>
                </a:lnTo>
                <a:lnTo>
                  <a:pt x="1241" y="89"/>
                </a:lnTo>
                <a:lnTo>
                  <a:pt x="1242" y="91"/>
                </a:lnTo>
                <a:lnTo>
                  <a:pt x="1242" y="93"/>
                </a:lnTo>
                <a:lnTo>
                  <a:pt x="1242" y="95"/>
                </a:lnTo>
                <a:lnTo>
                  <a:pt x="1241" y="96"/>
                </a:lnTo>
                <a:lnTo>
                  <a:pt x="1241" y="98"/>
                </a:lnTo>
                <a:lnTo>
                  <a:pt x="1240" y="99"/>
                </a:lnTo>
                <a:lnTo>
                  <a:pt x="1239" y="100"/>
                </a:lnTo>
                <a:lnTo>
                  <a:pt x="1237" y="101"/>
                </a:lnTo>
                <a:lnTo>
                  <a:pt x="1236" y="102"/>
                </a:lnTo>
                <a:lnTo>
                  <a:pt x="1234" y="103"/>
                </a:lnTo>
                <a:lnTo>
                  <a:pt x="1233" y="103"/>
                </a:lnTo>
                <a:lnTo>
                  <a:pt x="1231" y="103"/>
                </a:lnTo>
                <a:lnTo>
                  <a:pt x="1229" y="103"/>
                </a:lnTo>
                <a:lnTo>
                  <a:pt x="1228" y="103"/>
                </a:lnTo>
                <a:lnTo>
                  <a:pt x="1226" y="102"/>
                </a:lnTo>
                <a:lnTo>
                  <a:pt x="1225" y="101"/>
                </a:lnTo>
                <a:lnTo>
                  <a:pt x="1223" y="100"/>
                </a:lnTo>
                <a:lnTo>
                  <a:pt x="1222" y="99"/>
                </a:lnTo>
                <a:lnTo>
                  <a:pt x="1221" y="98"/>
                </a:lnTo>
                <a:lnTo>
                  <a:pt x="1221" y="96"/>
                </a:lnTo>
                <a:lnTo>
                  <a:pt x="1220" y="95"/>
                </a:lnTo>
                <a:lnTo>
                  <a:pt x="1220" y="93"/>
                </a:lnTo>
                <a:lnTo>
                  <a:pt x="1220" y="91"/>
                </a:lnTo>
                <a:lnTo>
                  <a:pt x="1221" y="89"/>
                </a:lnTo>
                <a:lnTo>
                  <a:pt x="1221" y="88"/>
                </a:lnTo>
                <a:lnTo>
                  <a:pt x="1222" y="86"/>
                </a:lnTo>
                <a:lnTo>
                  <a:pt x="1223" y="85"/>
                </a:lnTo>
                <a:lnTo>
                  <a:pt x="1225" y="84"/>
                </a:lnTo>
                <a:lnTo>
                  <a:pt x="1226" y="83"/>
                </a:lnTo>
                <a:lnTo>
                  <a:pt x="1228" y="83"/>
                </a:lnTo>
                <a:lnTo>
                  <a:pt x="1229" y="82"/>
                </a:lnTo>
                <a:lnTo>
                  <a:pt x="1231" y="82"/>
                </a:lnTo>
                <a:close/>
                <a:moveTo>
                  <a:pt x="692" y="82"/>
                </a:moveTo>
                <a:lnTo>
                  <a:pt x="694" y="82"/>
                </a:lnTo>
                <a:lnTo>
                  <a:pt x="696" y="83"/>
                </a:lnTo>
                <a:lnTo>
                  <a:pt x="697" y="83"/>
                </a:lnTo>
                <a:lnTo>
                  <a:pt x="699" y="84"/>
                </a:lnTo>
                <a:lnTo>
                  <a:pt x="700" y="85"/>
                </a:lnTo>
                <a:lnTo>
                  <a:pt x="701" y="87"/>
                </a:lnTo>
                <a:lnTo>
                  <a:pt x="702" y="88"/>
                </a:lnTo>
                <a:lnTo>
                  <a:pt x="703" y="90"/>
                </a:lnTo>
                <a:lnTo>
                  <a:pt x="703" y="91"/>
                </a:lnTo>
                <a:lnTo>
                  <a:pt x="703" y="93"/>
                </a:lnTo>
                <a:lnTo>
                  <a:pt x="703" y="95"/>
                </a:lnTo>
                <a:lnTo>
                  <a:pt x="703" y="96"/>
                </a:lnTo>
                <a:lnTo>
                  <a:pt x="702" y="98"/>
                </a:lnTo>
                <a:lnTo>
                  <a:pt x="701" y="99"/>
                </a:lnTo>
                <a:lnTo>
                  <a:pt x="700" y="101"/>
                </a:lnTo>
                <a:lnTo>
                  <a:pt x="699" y="102"/>
                </a:lnTo>
                <a:lnTo>
                  <a:pt x="697" y="103"/>
                </a:lnTo>
                <a:lnTo>
                  <a:pt x="696" y="103"/>
                </a:lnTo>
                <a:lnTo>
                  <a:pt x="694" y="104"/>
                </a:lnTo>
                <a:lnTo>
                  <a:pt x="692" y="104"/>
                </a:lnTo>
                <a:lnTo>
                  <a:pt x="690" y="104"/>
                </a:lnTo>
                <a:lnTo>
                  <a:pt x="689" y="103"/>
                </a:lnTo>
                <a:lnTo>
                  <a:pt x="687" y="103"/>
                </a:lnTo>
                <a:lnTo>
                  <a:pt x="686" y="102"/>
                </a:lnTo>
                <a:lnTo>
                  <a:pt x="684" y="101"/>
                </a:lnTo>
                <a:lnTo>
                  <a:pt x="683" y="99"/>
                </a:lnTo>
                <a:lnTo>
                  <a:pt x="682" y="98"/>
                </a:lnTo>
                <a:lnTo>
                  <a:pt x="682" y="96"/>
                </a:lnTo>
                <a:lnTo>
                  <a:pt x="681" y="95"/>
                </a:lnTo>
                <a:lnTo>
                  <a:pt x="681" y="93"/>
                </a:lnTo>
                <a:lnTo>
                  <a:pt x="681" y="91"/>
                </a:lnTo>
                <a:lnTo>
                  <a:pt x="682" y="90"/>
                </a:lnTo>
                <a:lnTo>
                  <a:pt x="682" y="88"/>
                </a:lnTo>
                <a:lnTo>
                  <a:pt x="683" y="87"/>
                </a:lnTo>
                <a:lnTo>
                  <a:pt x="684" y="85"/>
                </a:lnTo>
                <a:lnTo>
                  <a:pt x="686" y="84"/>
                </a:lnTo>
                <a:lnTo>
                  <a:pt x="687" y="83"/>
                </a:lnTo>
                <a:lnTo>
                  <a:pt x="689" y="83"/>
                </a:lnTo>
                <a:lnTo>
                  <a:pt x="690" y="82"/>
                </a:lnTo>
                <a:lnTo>
                  <a:pt x="692" y="82"/>
                </a:lnTo>
                <a:close/>
                <a:moveTo>
                  <a:pt x="1165" y="64"/>
                </a:moveTo>
                <a:lnTo>
                  <a:pt x="1167" y="64"/>
                </a:lnTo>
                <a:lnTo>
                  <a:pt x="1168" y="65"/>
                </a:lnTo>
                <a:lnTo>
                  <a:pt x="1170" y="66"/>
                </a:lnTo>
                <a:lnTo>
                  <a:pt x="1171" y="66"/>
                </a:lnTo>
                <a:lnTo>
                  <a:pt x="1172" y="67"/>
                </a:lnTo>
                <a:lnTo>
                  <a:pt x="1173" y="69"/>
                </a:lnTo>
                <a:lnTo>
                  <a:pt x="1174" y="70"/>
                </a:lnTo>
                <a:lnTo>
                  <a:pt x="1175" y="72"/>
                </a:lnTo>
                <a:lnTo>
                  <a:pt x="1175" y="73"/>
                </a:lnTo>
                <a:lnTo>
                  <a:pt x="1175" y="75"/>
                </a:lnTo>
                <a:lnTo>
                  <a:pt x="1175" y="77"/>
                </a:lnTo>
                <a:lnTo>
                  <a:pt x="1175" y="78"/>
                </a:lnTo>
                <a:lnTo>
                  <a:pt x="1174" y="80"/>
                </a:lnTo>
                <a:lnTo>
                  <a:pt x="1173" y="81"/>
                </a:lnTo>
                <a:lnTo>
                  <a:pt x="1172" y="83"/>
                </a:lnTo>
                <a:lnTo>
                  <a:pt x="1171" y="84"/>
                </a:lnTo>
                <a:lnTo>
                  <a:pt x="1170" y="85"/>
                </a:lnTo>
                <a:lnTo>
                  <a:pt x="1168" y="85"/>
                </a:lnTo>
                <a:lnTo>
                  <a:pt x="1167" y="86"/>
                </a:lnTo>
                <a:lnTo>
                  <a:pt x="1165" y="86"/>
                </a:lnTo>
                <a:lnTo>
                  <a:pt x="1163" y="86"/>
                </a:lnTo>
                <a:lnTo>
                  <a:pt x="1162" y="85"/>
                </a:lnTo>
                <a:lnTo>
                  <a:pt x="1160" y="85"/>
                </a:lnTo>
                <a:lnTo>
                  <a:pt x="1159" y="84"/>
                </a:lnTo>
                <a:lnTo>
                  <a:pt x="1158" y="83"/>
                </a:lnTo>
                <a:lnTo>
                  <a:pt x="1157" y="81"/>
                </a:lnTo>
                <a:lnTo>
                  <a:pt x="1156" y="80"/>
                </a:lnTo>
                <a:lnTo>
                  <a:pt x="1155" y="78"/>
                </a:lnTo>
                <a:lnTo>
                  <a:pt x="1155" y="77"/>
                </a:lnTo>
                <a:lnTo>
                  <a:pt x="1155" y="75"/>
                </a:lnTo>
                <a:lnTo>
                  <a:pt x="1155" y="73"/>
                </a:lnTo>
                <a:lnTo>
                  <a:pt x="1155" y="72"/>
                </a:lnTo>
                <a:lnTo>
                  <a:pt x="1156" y="70"/>
                </a:lnTo>
                <a:lnTo>
                  <a:pt x="1157" y="69"/>
                </a:lnTo>
                <a:lnTo>
                  <a:pt x="1158" y="67"/>
                </a:lnTo>
                <a:lnTo>
                  <a:pt x="1159" y="66"/>
                </a:lnTo>
                <a:lnTo>
                  <a:pt x="1160" y="66"/>
                </a:lnTo>
                <a:lnTo>
                  <a:pt x="1162" y="65"/>
                </a:lnTo>
                <a:lnTo>
                  <a:pt x="1163" y="64"/>
                </a:lnTo>
                <a:lnTo>
                  <a:pt x="1165" y="64"/>
                </a:lnTo>
                <a:close/>
                <a:moveTo>
                  <a:pt x="758" y="64"/>
                </a:moveTo>
                <a:lnTo>
                  <a:pt x="760" y="64"/>
                </a:lnTo>
                <a:lnTo>
                  <a:pt x="761" y="65"/>
                </a:lnTo>
                <a:lnTo>
                  <a:pt x="763" y="66"/>
                </a:lnTo>
                <a:lnTo>
                  <a:pt x="764" y="66"/>
                </a:lnTo>
                <a:lnTo>
                  <a:pt x="766" y="68"/>
                </a:lnTo>
                <a:lnTo>
                  <a:pt x="767" y="69"/>
                </a:lnTo>
                <a:lnTo>
                  <a:pt x="768" y="70"/>
                </a:lnTo>
                <a:lnTo>
                  <a:pt x="768" y="72"/>
                </a:lnTo>
                <a:lnTo>
                  <a:pt x="769" y="74"/>
                </a:lnTo>
                <a:lnTo>
                  <a:pt x="769" y="75"/>
                </a:lnTo>
                <a:lnTo>
                  <a:pt x="769" y="77"/>
                </a:lnTo>
                <a:lnTo>
                  <a:pt x="768" y="79"/>
                </a:lnTo>
                <a:lnTo>
                  <a:pt x="768" y="80"/>
                </a:lnTo>
                <a:lnTo>
                  <a:pt x="767" y="82"/>
                </a:lnTo>
                <a:lnTo>
                  <a:pt x="766" y="83"/>
                </a:lnTo>
                <a:lnTo>
                  <a:pt x="764" y="84"/>
                </a:lnTo>
                <a:lnTo>
                  <a:pt x="763" y="85"/>
                </a:lnTo>
                <a:lnTo>
                  <a:pt x="761" y="86"/>
                </a:lnTo>
                <a:lnTo>
                  <a:pt x="760" y="86"/>
                </a:lnTo>
                <a:lnTo>
                  <a:pt x="758" y="86"/>
                </a:lnTo>
                <a:lnTo>
                  <a:pt x="756" y="86"/>
                </a:lnTo>
                <a:lnTo>
                  <a:pt x="754" y="86"/>
                </a:lnTo>
                <a:lnTo>
                  <a:pt x="753" y="85"/>
                </a:lnTo>
                <a:lnTo>
                  <a:pt x="751" y="84"/>
                </a:lnTo>
                <a:lnTo>
                  <a:pt x="750" y="83"/>
                </a:lnTo>
                <a:lnTo>
                  <a:pt x="749" y="82"/>
                </a:lnTo>
                <a:lnTo>
                  <a:pt x="748" y="80"/>
                </a:lnTo>
                <a:lnTo>
                  <a:pt x="748" y="79"/>
                </a:lnTo>
                <a:lnTo>
                  <a:pt x="747" y="77"/>
                </a:lnTo>
                <a:lnTo>
                  <a:pt x="747" y="75"/>
                </a:lnTo>
                <a:lnTo>
                  <a:pt x="747" y="74"/>
                </a:lnTo>
                <a:lnTo>
                  <a:pt x="748" y="72"/>
                </a:lnTo>
                <a:lnTo>
                  <a:pt x="748" y="70"/>
                </a:lnTo>
                <a:lnTo>
                  <a:pt x="749" y="69"/>
                </a:lnTo>
                <a:lnTo>
                  <a:pt x="750" y="68"/>
                </a:lnTo>
                <a:lnTo>
                  <a:pt x="751" y="66"/>
                </a:lnTo>
                <a:lnTo>
                  <a:pt x="753" y="66"/>
                </a:lnTo>
                <a:lnTo>
                  <a:pt x="754" y="65"/>
                </a:lnTo>
                <a:lnTo>
                  <a:pt x="756" y="64"/>
                </a:lnTo>
                <a:lnTo>
                  <a:pt x="758" y="64"/>
                </a:lnTo>
                <a:close/>
                <a:moveTo>
                  <a:pt x="627" y="62"/>
                </a:moveTo>
                <a:lnTo>
                  <a:pt x="628" y="62"/>
                </a:lnTo>
                <a:lnTo>
                  <a:pt x="630" y="62"/>
                </a:lnTo>
                <a:lnTo>
                  <a:pt x="632" y="63"/>
                </a:lnTo>
                <a:lnTo>
                  <a:pt x="633" y="64"/>
                </a:lnTo>
                <a:lnTo>
                  <a:pt x="634" y="66"/>
                </a:lnTo>
                <a:lnTo>
                  <a:pt x="634" y="67"/>
                </a:lnTo>
                <a:lnTo>
                  <a:pt x="635" y="69"/>
                </a:lnTo>
                <a:lnTo>
                  <a:pt x="634" y="71"/>
                </a:lnTo>
                <a:lnTo>
                  <a:pt x="634" y="73"/>
                </a:lnTo>
                <a:lnTo>
                  <a:pt x="633" y="74"/>
                </a:lnTo>
                <a:lnTo>
                  <a:pt x="632" y="75"/>
                </a:lnTo>
                <a:lnTo>
                  <a:pt x="630" y="76"/>
                </a:lnTo>
                <a:lnTo>
                  <a:pt x="628" y="77"/>
                </a:lnTo>
                <a:lnTo>
                  <a:pt x="627" y="77"/>
                </a:lnTo>
                <a:lnTo>
                  <a:pt x="625" y="77"/>
                </a:lnTo>
                <a:lnTo>
                  <a:pt x="623" y="76"/>
                </a:lnTo>
                <a:lnTo>
                  <a:pt x="622" y="75"/>
                </a:lnTo>
                <a:lnTo>
                  <a:pt x="620" y="74"/>
                </a:lnTo>
                <a:lnTo>
                  <a:pt x="620" y="73"/>
                </a:lnTo>
                <a:lnTo>
                  <a:pt x="619" y="71"/>
                </a:lnTo>
                <a:lnTo>
                  <a:pt x="619" y="69"/>
                </a:lnTo>
                <a:lnTo>
                  <a:pt x="619" y="67"/>
                </a:lnTo>
                <a:lnTo>
                  <a:pt x="620" y="66"/>
                </a:lnTo>
                <a:lnTo>
                  <a:pt x="620" y="64"/>
                </a:lnTo>
                <a:lnTo>
                  <a:pt x="622" y="63"/>
                </a:lnTo>
                <a:lnTo>
                  <a:pt x="623" y="62"/>
                </a:lnTo>
                <a:lnTo>
                  <a:pt x="625" y="62"/>
                </a:lnTo>
                <a:lnTo>
                  <a:pt x="627" y="62"/>
                </a:lnTo>
                <a:close/>
                <a:moveTo>
                  <a:pt x="1296" y="60"/>
                </a:moveTo>
                <a:lnTo>
                  <a:pt x="1298" y="60"/>
                </a:lnTo>
                <a:lnTo>
                  <a:pt x="1300" y="60"/>
                </a:lnTo>
                <a:lnTo>
                  <a:pt x="1301" y="61"/>
                </a:lnTo>
                <a:lnTo>
                  <a:pt x="1303" y="62"/>
                </a:lnTo>
                <a:lnTo>
                  <a:pt x="1304" y="64"/>
                </a:lnTo>
                <a:lnTo>
                  <a:pt x="1305" y="65"/>
                </a:lnTo>
                <a:lnTo>
                  <a:pt x="1305" y="67"/>
                </a:lnTo>
                <a:lnTo>
                  <a:pt x="1306" y="69"/>
                </a:lnTo>
                <a:lnTo>
                  <a:pt x="1305" y="71"/>
                </a:lnTo>
                <a:lnTo>
                  <a:pt x="1305" y="73"/>
                </a:lnTo>
                <a:lnTo>
                  <a:pt x="1304" y="74"/>
                </a:lnTo>
                <a:lnTo>
                  <a:pt x="1303" y="76"/>
                </a:lnTo>
                <a:lnTo>
                  <a:pt x="1301" y="77"/>
                </a:lnTo>
                <a:lnTo>
                  <a:pt x="1300" y="78"/>
                </a:lnTo>
                <a:lnTo>
                  <a:pt x="1298" y="78"/>
                </a:lnTo>
                <a:lnTo>
                  <a:pt x="1296" y="78"/>
                </a:lnTo>
                <a:lnTo>
                  <a:pt x="1294" y="78"/>
                </a:lnTo>
                <a:lnTo>
                  <a:pt x="1293" y="78"/>
                </a:lnTo>
                <a:lnTo>
                  <a:pt x="1291" y="77"/>
                </a:lnTo>
                <a:lnTo>
                  <a:pt x="1290" y="76"/>
                </a:lnTo>
                <a:lnTo>
                  <a:pt x="1289" y="74"/>
                </a:lnTo>
                <a:lnTo>
                  <a:pt x="1288" y="73"/>
                </a:lnTo>
                <a:lnTo>
                  <a:pt x="1287" y="71"/>
                </a:lnTo>
                <a:lnTo>
                  <a:pt x="1287" y="69"/>
                </a:lnTo>
                <a:lnTo>
                  <a:pt x="1287" y="67"/>
                </a:lnTo>
                <a:lnTo>
                  <a:pt x="1288" y="65"/>
                </a:lnTo>
                <a:lnTo>
                  <a:pt x="1289" y="64"/>
                </a:lnTo>
                <a:lnTo>
                  <a:pt x="1290" y="62"/>
                </a:lnTo>
                <a:lnTo>
                  <a:pt x="1291" y="61"/>
                </a:lnTo>
                <a:lnTo>
                  <a:pt x="1293" y="60"/>
                </a:lnTo>
                <a:lnTo>
                  <a:pt x="1294" y="60"/>
                </a:lnTo>
                <a:lnTo>
                  <a:pt x="1296" y="60"/>
                </a:lnTo>
                <a:close/>
                <a:moveTo>
                  <a:pt x="1098" y="52"/>
                </a:moveTo>
                <a:lnTo>
                  <a:pt x="1100" y="52"/>
                </a:lnTo>
                <a:lnTo>
                  <a:pt x="1101" y="52"/>
                </a:lnTo>
                <a:lnTo>
                  <a:pt x="1103" y="53"/>
                </a:lnTo>
                <a:lnTo>
                  <a:pt x="1104" y="54"/>
                </a:lnTo>
                <a:lnTo>
                  <a:pt x="1105" y="55"/>
                </a:lnTo>
                <a:lnTo>
                  <a:pt x="1106" y="56"/>
                </a:lnTo>
                <a:lnTo>
                  <a:pt x="1107" y="58"/>
                </a:lnTo>
                <a:lnTo>
                  <a:pt x="1108" y="59"/>
                </a:lnTo>
                <a:lnTo>
                  <a:pt x="1108" y="61"/>
                </a:lnTo>
                <a:lnTo>
                  <a:pt x="1108" y="62"/>
                </a:lnTo>
                <a:lnTo>
                  <a:pt x="1108" y="64"/>
                </a:lnTo>
                <a:lnTo>
                  <a:pt x="1108" y="66"/>
                </a:lnTo>
                <a:lnTo>
                  <a:pt x="1107" y="67"/>
                </a:lnTo>
                <a:lnTo>
                  <a:pt x="1106" y="69"/>
                </a:lnTo>
                <a:lnTo>
                  <a:pt x="1105" y="70"/>
                </a:lnTo>
                <a:lnTo>
                  <a:pt x="1104" y="71"/>
                </a:lnTo>
                <a:lnTo>
                  <a:pt x="1103" y="72"/>
                </a:lnTo>
                <a:lnTo>
                  <a:pt x="1101" y="73"/>
                </a:lnTo>
                <a:lnTo>
                  <a:pt x="1100" y="73"/>
                </a:lnTo>
                <a:lnTo>
                  <a:pt x="1098" y="73"/>
                </a:lnTo>
                <a:lnTo>
                  <a:pt x="1096" y="73"/>
                </a:lnTo>
                <a:lnTo>
                  <a:pt x="1095" y="73"/>
                </a:lnTo>
                <a:lnTo>
                  <a:pt x="1093" y="72"/>
                </a:lnTo>
                <a:lnTo>
                  <a:pt x="1092" y="71"/>
                </a:lnTo>
                <a:lnTo>
                  <a:pt x="1090" y="70"/>
                </a:lnTo>
                <a:lnTo>
                  <a:pt x="1089" y="69"/>
                </a:lnTo>
                <a:lnTo>
                  <a:pt x="1089" y="67"/>
                </a:lnTo>
                <a:lnTo>
                  <a:pt x="1088" y="66"/>
                </a:lnTo>
                <a:lnTo>
                  <a:pt x="1087" y="64"/>
                </a:lnTo>
                <a:lnTo>
                  <a:pt x="1087" y="62"/>
                </a:lnTo>
                <a:lnTo>
                  <a:pt x="1087" y="61"/>
                </a:lnTo>
                <a:lnTo>
                  <a:pt x="1088" y="59"/>
                </a:lnTo>
                <a:lnTo>
                  <a:pt x="1089" y="58"/>
                </a:lnTo>
                <a:lnTo>
                  <a:pt x="1089" y="56"/>
                </a:lnTo>
                <a:lnTo>
                  <a:pt x="1090" y="55"/>
                </a:lnTo>
                <a:lnTo>
                  <a:pt x="1092" y="54"/>
                </a:lnTo>
                <a:lnTo>
                  <a:pt x="1093" y="53"/>
                </a:lnTo>
                <a:lnTo>
                  <a:pt x="1095" y="52"/>
                </a:lnTo>
                <a:lnTo>
                  <a:pt x="1096" y="52"/>
                </a:lnTo>
                <a:lnTo>
                  <a:pt x="1098" y="52"/>
                </a:lnTo>
                <a:close/>
                <a:moveTo>
                  <a:pt x="825" y="52"/>
                </a:moveTo>
                <a:lnTo>
                  <a:pt x="827" y="52"/>
                </a:lnTo>
                <a:lnTo>
                  <a:pt x="829" y="52"/>
                </a:lnTo>
                <a:lnTo>
                  <a:pt x="830" y="53"/>
                </a:lnTo>
                <a:lnTo>
                  <a:pt x="832" y="54"/>
                </a:lnTo>
                <a:lnTo>
                  <a:pt x="833" y="55"/>
                </a:lnTo>
                <a:lnTo>
                  <a:pt x="834" y="56"/>
                </a:lnTo>
                <a:lnTo>
                  <a:pt x="835" y="58"/>
                </a:lnTo>
                <a:lnTo>
                  <a:pt x="835" y="59"/>
                </a:lnTo>
                <a:lnTo>
                  <a:pt x="836" y="61"/>
                </a:lnTo>
                <a:lnTo>
                  <a:pt x="836" y="62"/>
                </a:lnTo>
                <a:lnTo>
                  <a:pt x="836" y="64"/>
                </a:lnTo>
                <a:lnTo>
                  <a:pt x="835" y="66"/>
                </a:lnTo>
                <a:lnTo>
                  <a:pt x="835" y="67"/>
                </a:lnTo>
                <a:lnTo>
                  <a:pt x="834" y="69"/>
                </a:lnTo>
                <a:lnTo>
                  <a:pt x="833" y="70"/>
                </a:lnTo>
                <a:lnTo>
                  <a:pt x="832" y="71"/>
                </a:lnTo>
                <a:lnTo>
                  <a:pt x="830" y="72"/>
                </a:lnTo>
                <a:lnTo>
                  <a:pt x="829" y="73"/>
                </a:lnTo>
                <a:lnTo>
                  <a:pt x="827" y="73"/>
                </a:lnTo>
                <a:lnTo>
                  <a:pt x="825" y="73"/>
                </a:lnTo>
                <a:lnTo>
                  <a:pt x="823" y="73"/>
                </a:lnTo>
                <a:lnTo>
                  <a:pt x="822" y="73"/>
                </a:lnTo>
                <a:lnTo>
                  <a:pt x="820" y="72"/>
                </a:lnTo>
                <a:lnTo>
                  <a:pt x="819" y="71"/>
                </a:lnTo>
                <a:lnTo>
                  <a:pt x="817" y="70"/>
                </a:lnTo>
                <a:lnTo>
                  <a:pt x="816" y="69"/>
                </a:lnTo>
                <a:lnTo>
                  <a:pt x="815" y="67"/>
                </a:lnTo>
                <a:lnTo>
                  <a:pt x="815" y="66"/>
                </a:lnTo>
                <a:lnTo>
                  <a:pt x="814" y="64"/>
                </a:lnTo>
                <a:lnTo>
                  <a:pt x="814" y="62"/>
                </a:lnTo>
                <a:lnTo>
                  <a:pt x="814" y="61"/>
                </a:lnTo>
                <a:lnTo>
                  <a:pt x="815" y="59"/>
                </a:lnTo>
                <a:lnTo>
                  <a:pt x="815" y="58"/>
                </a:lnTo>
                <a:lnTo>
                  <a:pt x="816" y="56"/>
                </a:lnTo>
                <a:lnTo>
                  <a:pt x="817" y="55"/>
                </a:lnTo>
                <a:lnTo>
                  <a:pt x="819" y="54"/>
                </a:lnTo>
                <a:lnTo>
                  <a:pt x="820" y="53"/>
                </a:lnTo>
                <a:lnTo>
                  <a:pt x="822" y="52"/>
                </a:lnTo>
                <a:lnTo>
                  <a:pt x="823" y="52"/>
                </a:lnTo>
                <a:lnTo>
                  <a:pt x="825" y="52"/>
                </a:lnTo>
                <a:close/>
                <a:moveTo>
                  <a:pt x="1030" y="44"/>
                </a:moveTo>
                <a:lnTo>
                  <a:pt x="1032" y="44"/>
                </a:lnTo>
                <a:lnTo>
                  <a:pt x="1033" y="45"/>
                </a:lnTo>
                <a:lnTo>
                  <a:pt x="1035" y="45"/>
                </a:lnTo>
                <a:lnTo>
                  <a:pt x="1036" y="46"/>
                </a:lnTo>
                <a:lnTo>
                  <a:pt x="1038" y="47"/>
                </a:lnTo>
                <a:lnTo>
                  <a:pt x="1039" y="49"/>
                </a:lnTo>
                <a:lnTo>
                  <a:pt x="1040" y="50"/>
                </a:lnTo>
                <a:lnTo>
                  <a:pt x="1040" y="51"/>
                </a:lnTo>
                <a:lnTo>
                  <a:pt x="1041" y="53"/>
                </a:lnTo>
                <a:lnTo>
                  <a:pt x="1041" y="55"/>
                </a:lnTo>
                <a:lnTo>
                  <a:pt x="1041" y="56"/>
                </a:lnTo>
                <a:lnTo>
                  <a:pt x="1040" y="58"/>
                </a:lnTo>
                <a:lnTo>
                  <a:pt x="1040" y="60"/>
                </a:lnTo>
                <a:lnTo>
                  <a:pt x="1039" y="61"/>
                </a:lnTo>
                <a:lnTo>
                  <a:pt x="1038" y="62"/>
                </a:lnTo>
                <a:lnTo>
                  <a:pt x="1036" y="63"/>
                </a:lnTo>
                <a:lnTo>
                  <a:pt x="1035" y="64"/>
                </a:lnTo>
                <a:lnTo>
                  <a:pt x="1033" y="65"/>
                </a:lnTo>
                <a:lnTo>
                  <a:pt x="1032" y="65"/>
                </a:lnTo>
                <a:lnTo>
                  <a:pt x="1030" y="65"/>
                </a:lnTo>
                <a:lnTo>
                  <a:pt x="1028" y="65"/>
                </a:lnTo>
                <a:lnTo>
                  <a:pt x="1026" y="65"/>
                </a:lnTo>
                <a:lnTo>
                  <a:pt x="1025" y="64"/>
                </a:lnTo>
                <a:lnTo>
                  <a:pt x="1023" y="63"/>
                </a:lnTo>
                <a:lnTo>
                  <a:pt x="1022" y="62"/>
                </a:lnTo>
                <a:lnTo>
                  <a:pt x="1021" y="61"/>
                </a:lnTo>
                <a:lnTo>
                  <a:pt x="1020" y="60"/>
                </a:lnTo>
                <a:lnTo>
                  <a:pt x="1019" y="58"/>
                </a:lnTo>
                <a:lnTo>
                  <a:pt x="1019" y="56"/>
                </a:lnTo>
                <a:lnTo>
                  <a:pt x="1019" y="55"/>
                </a:lnTo>
                <a:lnTo>
                  <a:pt x="1019" y="53"/>
                </a:lnTo>
                <a:lnTo>
                  <a:pt x="1019" y="51"/>
                </a:lnTo>
                <a:lnTo>
                  <a:pt x="1020" y="50"/>
                </a:lnTo>
                <a:lnTo>
                  <a:pt x="1021" y="49"/>
                </a:lnTo>
                <a:lnTo>
                  <a:pt x="1022" y="47"/>
                </a:lnTo>
                <a:lnTo>
                  <a:pt x="1023" y="46"/>
                </a:lnTo>
                <a:lnTo>
                  <a:pt x="1025" y="45"/>
                </a:lnTo>
                <a:lnTo>
                  <a:pt x="1026" y="45"/>
                </a:lnTo>
                <a:lnTo>
                  <a:pt x="1028" y="44"/>
                </a:lnTo>
                <a:lnTo>
                  <a:pt x="1030" y="44"/>
                </a:lnTo>
                <a:close/>
                <a:moveTo>
                  <a:pt x="893" y="44"/>
                </a:moveTo>
                <a:lnTo>
                  <a:pt x="895" y="44"/>
                </a:lnTo>
                <a:lnTo>
                  <a:pt x="897" y="44"/>
                </a:lnTo>
                <a:lnTo>
                  <a:pt x="898" y="45"/>
                </a:lnTo>
                <a:lnTo>
                  <a:pt x="900" y="46"/>
                </a:lnTo>
                <a:lnTo>
                  <a:pt x="901" y="47"/>
                </a:lnTo>
                <a:lnTo>
                  <a:pt x="902" y="48"/>
                </a:lnTo>
                <a:lnTo>
                  <a:pt x="903" y="50"/>
                </a:lnTo>
                <a:lnTo>
                  <a:pt x="904" y="51"/>
                </a:lnTo>
                <a:lnTo>
                  <a:pt x="904" y="53"/>
                </a:lnTo>
                <a:lnTo>
                  <a:pt x="904" y="55"/>
                </a:lnTo>
                <a:lnTo>
                  <a:pt x="904" y="57"/>
                </a:lnTo>
                <a:lnTo>
                  <a:pt x="904" y="58"/>
                </a:lnTo>
                <a:lnTo>
                  <a:pt x="903" y="60"/>
                </a:lnTo>
                <a:lnTo>
                  <a:pt x="902" y="61"/>
                </a:lnTo>
                <a:lnTo>
                  <a:pt x="901" y="63"/>
                </a:lnTo>
                <a:lnTo>
                  <a:pt x="900" y="64"/>
                </a:lnTo>
                <a:lnTo>
                  <a:pt x="898" y="65"/>
                </a:lnTo>
                <a:lnTo>
                  <a:pt x="897" y="65"/>
                </a:lnTo>
                <a:lnTo>
                  <a:pt x="895" y="66"/>
                </a:lnTo>
                <a:lnTo>
                  <a:pt x="893" y="66"/>
                </a:lnTo>
                <a:lnTo>
                  <a:pt x="891" y="66"/>
                </a:lnTo>
                <a:lnTo>
                  <a:pt x="890" y="65"/>
                </a:lnTo>
                <a:lnTo>
                  <a:pt x="888" y="65"/>
                </a:lnTo>
                <a:lnTo>
                  <a:pt x="887" y="64"/>
                </a:lnTo>
                <a:lnTo>
                  <a:pt x="885" y="63"/>
                </a:lnTo>
                <a:lnTo>
                  <a:pt x="884" y="61"/>
                </a:lnTo>
                <a:lnTo>
                  <a:pt x="883" y="60"/>
                </a:lnTo>
                <a:lnTo>
                  <a:pt x="883" y="58"/>
                </a:lnTo>
                <a:lnTo>
                  <a:pt x="882" y="57"/>
                </a:lnTo>
                <a:lnTo>
                  <a:pt x="882" y="55"/>
                </a:lnTo>
                <a:lnTo>
                  <a:pt x="882" y="53"/>
                </a:lnTo>
                <a:lnTo>
                  <a:pt x="883" y="51"/>
                </a:lnTo>
                <a:lnTo>
                  <a:pt x="883" y="50"/>
                </a:lnTo>
                <a:lnTo>
                  <a:pt x="884" y="48"/>
                </a:lnTo>
                <a:lnTo>
                  <a:pt x="885" y="47"/>
                </a:lnTo>
                <a:lnTo>
                  <a:pt x="887" y="46"/>
                </a:lnTo>
                <a:lnTo>
                  <a:pt x="888" y="45"/>
                </a:lnTo>
                <a:lnTo>
                  <a:pt x="890" y="44"/>
                </a:lnTo>
                <a:lnTo>
                  <a:pt x="891" y="44"/>
                </a:lnTo>
                <a:lnTo>
                  <a:pt x="893" y="44"/>
                </a:lnTo>
                <a:close/>
                <a:moveTo>
                  <a:pt x="961" y="41"/>
                </a:moveTo>
                <a:lnTo>
                  <a:pt x="963" y="42"/>
                </a:lnTo>
                <a:lnTo>
                  <a:pt x="965" y="42"/>
                </a:lnTo>
                <a:lnTo>
                  <a:pt x="966" y="43"/>
                </a:lnTo>
                <a:lnTo>
                  <a:pt x="968" y="44"/>
                </a:lnTo>
                <a:lnTo>
                  <a:pt x="969" y="45"/>
                </a:lnTo>
                <a:lnTo>
                  <a:pt x="970" y="46"/>
                </a:lnTo>
                <a:lnTo>
                  <a:pt x="971" y="47"/>
                </a:lnTo>
                <a:lnTo>
                  <a:pt x="972" y="49"/>
                </a:lnTo>
                <a:lnTo>
                  <a:pt x="972" y="50"/>
                </a:lnTo>
                <a:lnTo>
                  <a:pt x="972" y="52"/>
                </a:lnTo>
                <a:lnTo>
                  <a:pt x="972" y="54"/>
                </a:lnTo>
                <a:lnTo>
                  <a:pt x="972" y="56"/>
                </a:lnTo>
                <a:lnTo>
                  <a:pt x="971" y="57"/>
                </a:lnTo>
                <a:lnTo>
                  <a:pt x="970" y="59"/>
                </a:lnTo>
                <a:lnTo>
                  <a:pt x="969" y="60"/>
                </a:lnTo>
                <a:lnTo>
                  <a:pt x="968" y="61"/>
                </a:lnTo>
                <a:lnTo>
                  <a:pt x="966" y="62"/>
                </a:lnTo>
                <a:lnTo>
                  <a:pt x="965" y="62"/>
                </a:lnTo>
                <a:lnTo>
                  <a:pt x="963" y="63"/>
                </a:lnTo>
                <a:lnTo>
                  <a:pt x="961" y="63"/>
                </a:lnTo>
                <a:lnTo>
                  <a:pt x="960" y="63"/>
                </a:lnTo>
                <a:lnTo>
                  <a:pt x="958" y="62"/>
                </a:lnTo>
                <a:lnTo>
                  <a:pt x="957" y="62"/>
                </a:lnTo>
                <a:lnTo>
                  <a:pt x="955" y="61"/>
                </a:lnTo>
                <a:lnTo>
                  <a:pt x="954" y="60"/>
                </a:lnTo>
                <a:lnTo>
                  <a:pt x="953" y="59"/>
                </a:lnTo>
                <a:lnTo>
                  <a:pt x="952" y="57"/>
                </a:lnTo>
                <a:lnTo>
                  <a:pt x="951" y="56"/>
                </a:lnTo>
                <a:lnTo>
                  <a:pt x="951" y="54"/>
                </a:lnTo>
                <a:lnTo>
                  <a:pt x="951" y="52"/>
                </a:lnTo>
                <a:lnTo>
                  <a:pt x="951" y="50"/>
                </a:lnTo>
                <a:lnTo>
                  <a:pt x="951" y="49"/>
                </a:lnTo>
                <a:lnTo>
                  <a:pt x="952" y="47"/>
                </a:lnTo>
                <a:lnTo>
                  <a:pt x="953" y="46"/>
                </a:lnTo>
                <a:lnTo>
                  <a:pt x="954" y="45"/>
                </a:lnTo>
                <a:lnTo>
                  <a:pt x="955" y="44"/>
                </a:lnTo>
                <a:lnTo>
                  <a:pt x="957" y="43"/>
                </a:lnTo>
                <a:lnTo>
                  <a:pt x="958" y="42"/>
                </a:lnTo>
                <a:lnTo>
                  <a:pt x="960" y="42"/>
                </a:lnTo>
                <a:lnTo>
                  <a:pt x="961" y="41"/>
                </a:lnTo>
                <a:close/>
                <a:moveTo>
                  <a:pt x="691" y="40"/>
                </a:moveTo>
                <a:lnTo>
                  <a:pt x="693" y="40"/>
                </a:lnTo>
                <a:lnTo>
                  <a:pt x="695" y="40"/>
                </a:lnTo>
                <a:lnTo>
                  <a:pt x="696" y="41"/>
                </a:lnTo>
                <a:lnTo>
                  <a:pt x="698" y="43"/>
                </a:lnTo>
                <a:lnTo>
                  <a:pt x="699" y="44"/>
                </a:lnTo>
                <a:lnTo>
                  <a:pt x="699" y="46"/>
                </a:lnTo>
                <a:lnTo>
                  <a:pt x="699" y="48"/>
                </a:lnTo>
                <a:lnTo>
                  <a:pt x="699" y="49"/>
                </a:lnTo>
                <a:lnTo>
                  <a:pt x="699" y="51"/>
                </a:lnTo>
                <a:lnTo>
                  <a:pt x="698" y="53"/>
                </a:lnTo>
                <a:lnTo>
                  <a:pt x="696" y="54"/>
                </a:lnTo>
                <a:lnTo>
                  <a:pt x="695" y="55"/>
                </a:lnTo>
                <a:lnTo>
                  <a:pt x="693" y="55"/>
                </a:lnTo>
                <a:lnTo>
                  <a:pt x="691" y="55"/>
                </a:lnTo>
                <a:lnTo>
                  <a:pt x="690" y="55"/>
                </a:lnTo>
                <a:lnTo>
                  <a:pt x="688" y="55"/>
                </a:lnTo>
                <a:lnTo>
                  <a:pt x="687" y="54"/>
                </a:lnTo>
                <a:lnTo>
                  <a:pt x="685" y="53"/>
                </a:lnTo>
                <a:lnTo>
                  <a:pt x="684" y="51"/>
                </a:lnTo>
                <a:lnTo>
                  <a:pt x="684" y="49"/>
                </a:lnTo>
                <a:lnTo>
                  <a:pt x="684" y="48"/>
                </a:lnTo>
                <a:lnTo>
                  <a:pt x="684" y="46"/>
                </a:lnTo>
                <a:lnTo>
                  <a:pt x="684" y="44"/>
                </a:lnTo>
                <a:lnTo>
                  <a:pt x="685" y="43"/>
                </a:lnTo>
                <a:lnTo>
                  <a:pt x="687" y="41"/>
                </a:lnTo>
                <a:lnTo>
                  <a:pt x="688" y="40"/>
                </a:lnTo>
                <a:lnTo>
                  <a:pt x="690" y="40"/>
                </a:lnTo>
                <a:lnTo>
                  <a:pt x="691" y="40"/>
                </a:lnTo>
                <a:close/>
                <a:moveTo>
                  <a:pt x="1231" y="38"/>
                </a:moveTo>
                <a:lnTo>
                  <a:pt x="1233" y="38"/>
                </a:lnTo>
                <a:lnTo>
                  <a:pt x="1235" y="39"/>
                </a:lnTo>
                <a:lnTo>
                  <a:pt x="1237" y="40"/>
                </a:lnTo>
                <a:lnTo>
                  <a:pt x="1238" y="41"/>
                </a:lnTo>
                <a:lnTo>
                  <a:pt x="1239" y="42"/>
                </a:lnTo>
                <a:lnTo>
                  <a:pt x="1240" y="44"/>
                </a:lnTo>
                <a:lnTo>
                  <a:pt x="1241" y="45"/>
                </a:lnTo>
                <a:lnTo>
                  <a:pt x="1241" y="47"/>
                </a:lnTo>
                <a:lnTo>
                  <a:pt x="1241" y="49"/>
                </a:lnTo>
                <a:lnTo>
                  <a:pt x="1240" y="51"/>
                </a:lnTo>
                <a:lnTo>
                  <a:pt x="1239" y="52"/>
                </a:lnTo>
                <a:lnTo>
                  <a:pt x="1238" y="54"/>
                </a:lnTo>
                <a:lnTo>
                  <a:pt x="1237" y="55"/>
                </a:lnTo>
                <a:lnTo>
                  <a:pt x="1235" y="56"/>
                </a:lnTo>
                <a:lnTo>
                  <a:pt x="1233" y="56"/>
                </a:lnTo>
                <a:lnTo>
                  <a:pt x="1231" y="56"/>
                </a:lnTo>
                <a:lnTo>
                  <a:pt x="1230" y="56"/>
                </a:lnTo>
                <a:lnTo>
                  <a:pt x="1228" y="56"/>
                </a:lnTo>
                <a:lnTo>
                  <a:pt x="1226" y="55"/>
                </a:lnTo>
                <a:lnTo>
                  <a:pt x="1225" y="54"/>
                </a:lnTo>
                <a:lnTo>
                  <a:pt x="1224" y="52"/>
                </a:lnTo>
                <a:lnTo>
                  <a:pt x="1223" y="51"/>
                </a:lnTo>
                <a:lnTo>
                  <a:pt x="1222" y="49"/>
                </a:lnTo>
                <a:lnTo>
                  <a:pt x="1222" y="47"/>
                </a:lnTo>
                <a:lnTo>
                  <a:pt x="1222" y="45"/>
                </a:lnTo>
                <a:lnTo>
                  <a:pt x="1223" y="44"/>
                </a:lnTo>
                <a:lnTo>
                  <a:pt x="1224" y="42"/>
                </a:lnTo>
                <a:lnTo>
                  <a:pt x="1225" y="41"/>
                </a:lnTo>
                <a:lnTo>
                  <a:pt x="1226" y="40"/>
                </a:lnTo>
                <a:lnTo>
                  <a:pt x="1228" y="39"/>
                </a:lnTo>
                <a:lnTo>
                  <a:pt x="1230" y="38"/>
                </a:lnTo>
                <a:lnTo>
                  <a:pt x="1231" y="38"/>
                </a:lnTo>
                <a:close/>
                <a:moveTo>
                  <a:pt x="758" y="22"/>
                </a:moveTo>
                <a:lnTo>
                  <a:pt x="760" y="23"/>
                </a:lnTo>
                <a:lnTo>
                  <a:pt x="761" y="23"/>
                </a:lnTo>
                <a:lnTo>
                  <a:pt x="763" y="24"/>
                </a:lnTo>
                <a:lnTo>
                  <a:pt x="764" y="25"/>
                </a:lnTo>
                <a:lnTo>
                  <a:pt x="765" y="27"/>
                </a:lnTo>
                <a:lnTo>
                  <a:pt x="765" y="29"/>
                </a:lnTo>
                <a:lnTo>
                  <a:pt x="766" y="31"/>
                </a:lnTo>
                <a:lnTo>
                  <a:pt x="765" y="32"/>
                </a:lnTo>
                <a:lnTo>
                  <a:pt x="765" y="34"/>
                </a:lnTo>
                <a:lnTo>
                  <a:pt x="764" y="36"/>
                </a:lnTo>
                <a:lnTo>
                  <a:pt x="763" y="37"/>
                </a:lnTo>
                <a:lnTo>
                  <a:pt x="761" y="38"/>
                </a:lnTo>
                <a:lnTo>
                  <a:pt x="760" y="38"/>
                </a:lnTo>
                <a:lnTo>
                  <a:pt x="758" y="39"/>
                </a:lnTo>
                <a:lnTo>
                  <a:pt x="756" y="38"/>
                </a:lnTo>
                <a:lnTo>
                  <a:pt x="754" y="38"/>
                </a:lnTo>
                <a:lnTo>
                  <a:pt x="753" y="37"/>
                </a:lnTo>
                <a:lnTo>
                  <a:pt x="752" y="36"/>
                </a:lnTo>
                <a:lnTo>
                  <a:pt x="751" y="34"/>
                </a:lnTo>
                <a:lnTo>
                  <a:pt x="750" y="32"/>
                </a:lnTo>
                <a:lnTo>
                  <a:pt x="750" y="31"/>
                </a:lnTo>
                <a:lnTo>
                  <a:pt x="750" y="29"/>
                </a:lnTo>
                <a:lnTo>
                  <a:pt x="751" y="27"/>
                </a:lnTo>
                <a:lnTo>
                  <a:pt x="752" y="25"/>
                </a:lnTo>
                <a:lnTo>
                  <a:pt x="753" y="24"/>
                </a:lnTo>
                <a:lnTo>
                  <a:pt x="754" y="23"/>
                </a:lnTo>
                <a:lnTo>
                  <a:pt x="756" y="23"/>
                </a:lnTo>
                <a:lnTo>
                  <a:pt x="758" y="22"/>
                </a:lnTo>
                <a:close/>
                <a:moveTo>
                  <a:pt x="1165" y="21"/>
                </a:moveTo>
                <a:lnTo>
                  <a:pt x="1167" y="22"/>
                </a:lnTo>
                <a:lnTo>
                  <a:pt x="1169" y="22"/>
                </a:lnTo>
                <a:lnTo>
                  <a:pt x="1170" y="23"/>
                </a:lnTo>
                <a:lnTo>
                  <a:pt x="1171" y="24"/>
                </a:lnTo>
                <a:lnTo>
                  <a:pt x="1173" y="25"/>
                </a:lnTo>
                <a:lnTo>
                  <a:pt x="1173" y="27"/>
                </a:lnTo>
                <a:lnTo>
                  <a:pt x="1174" y="29"/>
                </a:lnTo>
                <a:lnTo>
                  <a:pt x="1174" y="31"/>
                </a:lnTo>
                <a:lnTo>
                  <a:pt x="1174" y="32"/>
                </a:lnTo>
                <a:lnTo>
                  <a:pt x="1173" y="34"/>
                </a:lnTo>
                <a:lnTo>
                  <a:pt x="1173" y="36"/>
                </a:lnTo>
                <a:lnTo>
                  <a:pt x="1171" y="37"/>
                </a:lnTo>
                <a:lnTo>
                  <a:pt x="1170" y="38"/>
                </a:lnTo>
                <a:lnTo>
                  <a:pt x="1169" y="39"/>
                </a:lnTo>
                <a:lnTo>
                  <a:pt x="1167" y="39"/>
                </a:lnTo>
                <a:lnTo>
                  <a:pt x="1165" y="40"/>
                </a:lnTo>
                <a:lnTo>
                  <a:pt x="1163" y="39"/>
                </a:lnTo>
                <a:lnTo>
                  <a:pt x="1161" y="39"/>
                </a:lnTo>
                <a:lnTo>
                  <a:pt x="1160" y="38"/>
                </a:lnTo>
                <a:lnTo>
                  <a:pt x="1159" y="37"/>
                </a:lnTo>
                <a:lnTo>
                  <a:pt x="1157" y="36"/>
                </a:lnTo>
                <a:lnTo>
                  <a:pt x="1157" y="34"/>
                </a:lnTo>
                <a:lnTo>
                  <a:pt x="1156" y="32"/>
                </a:lnTo>
                <a:lnTo>
                  <a:pt x="1156" y="31"/>
                </a:lnTo>
                <a:lnTo>
                  <a:pt x="1156" y="29"/>
                </a:lnTo>
                <a:lnTo>
                  <a:pt x="1157" y="27"/>
                </a:lnTo>
                <a:lnTo>
                  <a:pt x="1157" y="25"/>
                </a:lnTo>
                <a:lnTo>
                  <a:pt x="1159" y="24"/>
                </a:lnTo>
                <a:lnTo>
                  <a:pt x="1160" y="23"/>
                </a:lnTo>
                <a:lnTo>
                  <a:pt x="1161" y="22"/>
                </a:lnTo>
                <a:lnTo>
                  <a:pt x="1163" y="22"/>
                </a:lnTo>
                <a:lnTo>
                  <a:pt x="1165" y="21"/>
                </a:lnTo>
                <a:close/>
                <a:moveTo>
                  <a:pt x="825" y="10"/>
                </a:moveTo>
                <a:lnTo>
                  <a:pt x="827" y="10"/>
                </a:lnTo>
                <a:lnTo>
                  <a:pt x="829" y="11"/>
                </a:lnTo>
                <a:lnTo>
                  <a:pt x="830" y="12"/>
                </a:lnTo>
                <a:lnTo>
                  <a:pt x="831" y="13"/>
                </a:lnTo>
                <a:lnTo>
                  <a:pt x="832" y="15"/>
                </a:lnTo>
                <a:lnTo>
                  <a:pt x="833" y="17"/>
                </a:lnTo>
                <a:lnTo>
                  <a:pt x="833" y="18"/>
                </a:lnTo>
                <a:lnTo>
                  <a:pt x="833" y="20"/>
                </a:lnTo>
                <a:lnTo>
                  <a:pt x="832" y="22"/>
                </a:lnTo>
                <a:lnTo>
                  <a:pt x="831" y="24"/>
                </a:lnTo>
                <a:lnTo>
                  <a:pt x="830" y="25"/>
                </a:lnTo>
                <a:lnTo>
                  <a:pt x="829" y="26"/>
                </a:lnTo>
                <a:lnTo>
                  <a:pt x="827" y="26"/>
                </a:lnTo>
                <a:lnTo>
                  <a:pt x="825" y="27"/>
                </a:lnTo>
                <a:lnTo>
                  <a:pt x="823" y="26"/>
                </a:lnTo>
                <a:lnTo>
                  <a:pt x="821" y="26"/>
                </a:lnTo>
                <a:lnTo>
                  <a:pt x="820" y="25"/>
                </a:lnTo>
                <a:lnTo>
                  <a:pt x="819" y="24"/>
                </a:lnTo>
                <a:lnTo>
                  <a:pt x="818" y="22"/>
                </a:lnTo>
                <a:lnTo>
                  <a:pt x="817" y="20"/>
                </a:lnTo>
                <a:lnTo>
                  <a:pt x="817" y="18"/>
                </a:lnTo>
                <a:lnTo>
                  <a:pt x="817" y="17"/>
                </a:lnTo>
                <a:lnTo>
                  <a:pt x="818" y="15"/>
                </a:lnTo>
                <a:lnTo>
                  <a:pt x="819" y="13"/>
                </a:lnTo>
                <a:lnTo>
                  <a:pt x="820" y="12"/>
                </a:lnTo>
                <a:lnTo>
                  <a:pt x="821" y="11"/>
                </a:lnTo>
                <a:lnTo>
                  <a:pt x="823" y="10"/>
                </a:lnTo>
                <a:lnTo>
                  <a:pt x="825" y="10"/>
                </a:lnTo>
                <a:close/>
                <a:moveTo>
                  <a:pt x="1098" y="9"/>
                </a:moveTo>
                <a:lnTo>
                  <a:pt x="1099" y="10"/>
                </a:lnTo>
                <a:lnTo>
                  <a:pt x="1101" y="10"/>
                </a:lnTo>
                <a:lnTo>
                  <a:pt x="1103" y="11"/>
                </a:lnTo>
                <a:lnTo>
                  <a:pt x="1104" y="12"/>
                </a:lnTo>
                <a:lnTo>
                  <a:pt x="1105" y="13"/>
                </a:lnTo>
                <a:lnTo>
                  <a:pt x="1106" y="15"/>
                </a:lnTo>
                <a:lnTo>
                  <a:pt x="1106" y="17"/>
                </a:lnTo>
                <a:lnTo>
                  <a:pt x="1106" y="18"/>
                </a:lnTo>
                <a:lnTo>
                  <a:pt x="1106" y="20"/>
                </a:lnTo>
                <a:lnTo>
                  <a:pt x="1106" y="22"/>
                </a:lnTo>
                <a:lnTo>
                  <a:pt x="1105" y="23"/>
                </a:lnTo>
                <a:lnTo>
                  <a:pt x="1104" y="25"/>
                </a:lnTo>
                <a:lnTo>
                  <a:pt x="1103" y="26"/>
                </a:lnTo>
                <a:lnTo>
                  <a:pt x="1101" y="27"/>
                </a:lnTo>
                <a:lnTo>
                  <a:pt x="1099" y="27"/>
                </a:lnTo>
                <a:lnTo>
                  <a:pt x="1098" y="28"/>
                </a:lnTo>
                <a:lnTo>
                  <a:pt x="1096" y="27"/>
                </a:lnTo>
                <a:lnTo>
                  <a:pt x="1094" y="27"/>
                </a:lnTo>
                <a:lnTo>
                  <a:pt x="1093" y="26"/>
                </a:lnTo>
                <a:lnTo>
                  <a:pt x="1091" y="25"/>
                </a:lnTo>
                <a:lnTo>
                  <a:pt x="1090" y="23"/>
                </a:lnTo>
                <a:lnTo>
                  <a:pt x="1089" y="22"/>
                </a:lnTo>
                <a:lnTo>
                  <a:pt x="1089" y="20"/>
                </a:lnTo>
                <a:lnTo>
                  <a:pt x="1089" y="18"/>
                </a:lnTo>
                <a:lnTo>
                  <a:pt x="1089" y="17"/>
                </a:lnTo>
                <a:lnTo>
                  <a:pt x="1089" y="15"/>
                </a:lnTo>
                <a:lnTo>
                  <a:pt x="1090" y="13"/>
                </a:lnTo>
                <a:lnTo>
                  <a:pt x="1091" y="12"/>
                </a:lnTo>
                <a:lnTo>
                  <a:pt x="1093" y="11"/>
                </a:lnTo>
                <a:lnTo>
                  <a:pt x="1094" y="10"/>
                </a:lnTo>
                <a:lnTo>
                  <a:pt x="1096" y="10"/>
                </a:lnTo>
                <a:lnTo>
                  <a:pt x="1098" y="9"/>
                </a:lnTo>
                <a:close/>
                <a:moveTo>
                  <a:pt x="893" y="3"/>
                </a:moveTo>
                <a:lnTo>
                  <a:pt x="895" y="3"/>
                </a:lnTo>
                <a:lnTo>
                  <a:pt x="897" y="3"/>
                </a:lnTo>
                <a:lnTo>
                  <a:pt x="898" y="4"/>
                </a:lnTo>
                <a:lnTo>
                  <a:pt x="899" y="5"/>
                </a:lnTo>
                <a:lnTo>
                  <a:pt x="900" y="6"/>
                </a:lnTo>
                <a:lnTo>
                  <a:pt x="901" y="8"/>
                </a:lnTo>
                <a:lnTo>
                  <a:pt x="902" y="9"/>
                </a:lnTo>
                <a:lnTo>
                  <a:pt x="902" y="11"/>
                </a:lnTo>
                <a:lnTo>
                  <a:pt x="902" y="13"/>
                </a:lnTo>
                <a:lnTo>
                  <a:pt x="901" y="14"/>
                </a:lnTo>
                <a:lnTo>
                  <a:pt x="900" y="16"/>
                </a:lnTo>
                <a:lnTo>
                  <a:pt x="899" y="17"/>
                </a:lnTo>
                <a:lnTo>
                  <a:pt x="898" y="18"/>
                </a:lnTo>
                <a:lnTo>
                  <a:pt x="897" y="19"/>
                </a:lnTo>
                <a:lnTo>
                  <a:pt x="895" y="19"/>
                </a:lnTo>
                <a:lnTo>
                  <a:pt x="893" y="20"/>
                </a:lnTo>
                <a:lnTo>
                  <a:pt x="891" y="19"/>
                </a:lnTo>
                <a:lnTo>
                  <a:pt x="890" y="19"/>
                </a:lnTo>
                <a:lnTo>
                  <a:pt x="888" y="18"/>
                </a:lnTo>
                <a:lnTo>
                  <a:pt x="887" y="17"/>
                </a:lnTo>
                <a:lnTo>
                  <a:pt x="886" y="16"/>
                </a:lnTo>
                <a:lnTo>
                  <a:pt x="885" y="14"/>
                </a:lnTo>
                <a:lnTo>
                  <a:pt x="885" y="13"/>
                </a:lnTo>
                <a:lnTo>
                  <a:pt x="885" y="11"/>
                </a:lnTo>
                <a:lnTo>
                  <a:pt x="885" y="9"/>
                </a:lnTo>
                <a:lnTo>
                  <a:pt x="885" y="8"/>
                </a:lnTo>
                <a:lnTo>
                  <a:pt x="886" y="6"/>
                </a:lnTo>
                <a:lnTo>
                  <a:pt x="887" y="5"/>
                </a:lnTo>
                <a:lnTo>
                  <a:pt x="888" y="4"/>
                </a:lnTo>
                <a:lnTo>
                  <a:pt x="890" y="3"/>
                </a:lnTo>
                <a:lnTo>
                  <a:pt x="891" y="3"/>
                </a:lnTo>
                <a:lnTo>
                  <a:pt x="893" y="3"/>
                </a:lnTo>
                <a:close/>
                <a:moveTo>
                  <a:pt x="1030" y="2"/>
                </a:moveTo>
                <a:lnTo>
                  <a:pt x="1032" y="3"/>
                </a:lnTo>
                <a:lnTo>
                  <a:pt x="1033" y="3"/>
                </a:lnTo>
                <a:lnTo>
                  <a:pt x="1035" y="4"/>
                </a:lnTo>
                <a:lnTo>
                  <a:pt x="1036" y="5"/>
                </a:lnTo>
                <a:lnTo>
                  <a:pt x="1037" y="6"/>
                </a:lnTo>
                <a:lnTo>
                  <a:pt x="1038" y="8"/>
                </a:lnTo>
                <a:lnTo>
                  <a:pt x="1038" y="9"/>
                </a:lnTo>
                <a:lnTo>
                  <a:pt x="1038" y="11"/>
                </a:lnTo>
                <a:lnTo>
                  <a:pt x="1038" y="13"/>
                </a:lnTo>
                <a:lnTo>
                  <a:pt x="1038" y="15"/>
                </a:lnTo>
                <a:lnTo>
                  <a:pt x="1037" y="16"/>
                </a:lnTo>
                <a:lnTo>
                  <a:pt x="1036" y="17"/>
                </a:lnTo>
                <a:lnTo>
                  <a:pt x="1035" y="19"/>
                </a:lnTo>
                <a:lnTo>
                  <a:pt x="1033" y="19"/>
                </a:lnTo>
                <a:lnTo>
                  <a:pt x="1032" y="20"/>
                </a:lnTo>
                <a:lnTo>
                  <a:pt x="1030" y="20"/>
                </a:lnTo>
                <a:lnTo>
                  <a:pt x="1028" y="20"/>
                </a:lnTo>
                <a:lnTo>
                  <a:pt x="1026" y="19"/>
                </a:lnTo>
                <a:lnTo>
                  <a:pt x="1025" y="19"/>
                </a:lnTo>
                <a:lnTo>
                  <a:pt x="1024" y="17"/>
                </a:lnTo>
                <a:lnTo>
                  <a:pt x="1023" y="16"/>
                </a:lnTo>
                <a:lnTo>
                  <a:pt x="1022" y="15"/>
                </a:lnTo>
                <a:lnTo>
                  <a:pt x="1021" y="13"/>
                </a:lnTo>
                <a:lnTo>
                  <a:pt x="1021" y="11"/>
                </a:lnTo>
                <a:lnTo>
                  <a:pt x="1021" y="9"/>
                </a:lnTo>
                <a:lnTo>
                  <a:pt x="1022" y="8"/>
                </a:lnTo>
                <a:lnTo>
                  <a:pt x="1023" y="6"/>
                </a:lnTo>
                <a:lnTo>
                  <a:pt x="1024" y="5"/>
                </a:lnTo>
                <a:lnTo>
                  <a:pt x="1025" y="4"/>
                </a:lnTo>
                <a:lnTo>
                  <a:pt x="1026" y="3"/>
                </a:lnTo>
                <a:lnTo>
                  <a:pt x="1028" y="3"/>
                </a:lnTo>
                <a:lnTo>
                  <a:pt x="1030" y="2"/>
                </a:lnTo>
                <a:close/>
                <a:moveTo>
                  <a:pt x="961" y="0"/>
                </a:moveTo>
                <a:lnTo>
                  <a:pt x="963" y="0"/>
                </a:lnTo>
                <a:lnTo>
                  <a:pt x="965" y="1"/>
                </a:lnTo>
                <a:lnTo>
                  <a:pt x="966" y="1"/>
                </a:lnTo>
                <a:lnTo>
                  <a:pt x="967" y="3"/>
                </a:lnTo>
                <a:lnTo>
                  <a:pt x="968" y="4"/>
                </a:lnTo>
                <a:lnTo>
                  <a:pt x="969" y="5"/>
                </a:lnTo>
                <a:lnTo>
                  <a:pt x="970" y="7"/>
                </a:lnTo>
                <a:lnTo>
                  <a:pt x="970" y="9"/>
                </a:lnTo>
                <a:lnTo>
                  <a:pt x="970" y="10"/>
                </a:lnTo>
                <a:lnTo>
                  <a:pt x="969" y="12"/>
                </a:lnTo>
                <a:lnTo>
                  <a:pt x="968" y="13"/>
                </a:lnTo>
                <a:lnTo>
                  <a:pt x="967" y="15"/>
                </a:lnTo>
                <a:lnTo>
                  <a:pt x="966" y="16"/>
                </a:lnTo>
                <a:lnTo>
                  <a:pt x="965" y="17"/>
                </a:lnTo>
                <a:lnTo>
                  <a:pt x="963" y="17"/>
                </a:lnTo>
                <a:lnTo>
                  <a:pt x="961" y="17"/>
                </a:lnTo>
                <a:lnTo>
                  <a:pt x="959" y="17"/>
                </a:lnTo>
                <a:lnTo>
                  <a:pt x="958" y="17"/>
                </a:lnTo>
                <a:lnTo>
                  <a:pt x="956" y="16"/>
                </a:lnTo>
                <a:lnTo>
                  <a:pt x="955" y="15"/>
                </a:lnTo>
                <a:lnTo>
                  <a:pt x="954" y="13"/>
                </a:lnTo>
                <a:lnTo>
                  <a:pt x="953" y="12"/>
                </a:lnTo>
                <a:lnTo>
                  <a:pt x="953" y="10"/>
                </a:lnTo>
                <a:lnTo>
                  <a:pt x="953" y="9"/>
                </a:lnTo>
                <a:lnTo>
                  <a:pt x="953" y="7"/>
                </a:lnTo>
                <a:lnTo>
                  <a:pt x="953" y="5"/>
                </a:lnTo>
                <a:lnTo>
                  <a:pt x="954" y="4"/>
                </a:lnTo>
                <a:lnTo>
                  <a:pt x="955" y="3"/>
                </a:lnTo>
                <a:lnTo>
                  <a:pt x="956" y="1"/>
                </a:lnTo>
                <a:lnTo>
                  <a:pt x="958" y="1"/>
                </a:lnTo>
                <a:lnTo>
                  <a:pt x="959" y="0"/>
                </a:lnTo>
                <a:lnTo>
                  <a:pt x="961" y="0"/>
                </a:lnTo>
                <a:close/>
              </a:path>
            </a:pathLst>
          </a:custGeom>
          <a:solidFill>
            <a:srgbClr val="3368FF"/>
          </a:solidFill>
          <a:ln>
            <a:noFill/>
          </a:ln>
        </p:spPr>
        <p:txBody>
          <a:bodyPr vert="horz" wrap="square" lIns="0" tIns="0" rIns="0" bIns="0" numCol="1" anchor="t" anchorCtr="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590" name="矩形: 圆角 32"/>
          <p:cNvSpPr/>
          <p:nvPr/>
        </p:nvSpPr>
        <p:spPr>
          <a:xfrm>
            <a:off x="5502910" y="2453640"/>
            <a:ext cx="1106805" cy="1106805"/>
          </a:xfrm>
          <a:prstGeom prst="roundRect">
            <a:avLst>
              <a:gd name="adj" fmla="val 50000"/>
            </a:avLst>
          </a:prstGeom>
          <a:solidFill>
            <a:srgbClr val="FFFFFF">
              <a:alpha val="70000"/>
            </a:srgbClr>
          </a:solidFill>
          <a:ln w="63500">
            <a:noFill/>
          </a:ln>
          <a:effectLst>
            <a:outerShdw blurRad="254000" sx="102000" sy="102000" algn="ctr" rotWithShape="0">
              <a:prstClr val="black">
                <a:alpha val="10000"/>
              </a:prst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defRPr>
                <a:latin typeface="微软雅黑"/>
                <a:ea typeface="微软雅黑"/>
                <a:cs typeface="微软雅黑"/>
              </a:defRPr>
            </a:pPr>
            <a:endParaRPr lang="zh-CN" altLang="en-US" sz="2400" b="1" dirty="0">
              <a:solidFill>
                <a:srgbClr val="383838"/>
              </a:solidFill>
              <a:latin typeface="微软雅黑"/>
              <a:ea typeface="微软雅黑"/>
              <a:cs typeface="微软雅黑"/>
            </a:endParaRPr>
          </a:p>
        </p:txBody>
      </p:sp>
      <p:grpSp>
        <p:nvGrpSpPr>
          <p:cNvPr id="591" name="组合 590"/>
          <p:cNvGrpSpPr/>
          <p:nvPr/>
        </p:nvGrpSpPr>
        <p:grpSpPr>
          <a:xfrm rot="0" flipH="1">
            <a:off x="6939915" y="3002915"/>
            <a:ext cx="251460" cy="96520"/>
            <a:chOff x="7651" y="4318"/>
            <a:chExt cx="396" cy="152"/>
          </a:xfrm>
        </p:grpSpPr>
        <p:sp>
          <p:nvSpPr>
            <p:cNvPr id="592" name="燕尾形 591"/>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93" name="燕尾形 592"/>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94" name="燕尾形 593"/>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595" name="组合 594"/>
          <p:cNvGrpSpPr/>
          <p:nvPr/>
        </p:nvGrpSpPr>
        <p:grpSpPr>
          <a:xfrm rot="0">
            <a:off x="6942455" y="2810510"/>
            <a:ext cx="251460" cy="96520"/>
            <a:chOff x="7651" y="4318"/>
            <a:chExt cx="396" cy="152"/>
          </a:xfrm>
        </p:grpSpPr>
        <p:sp>
          <p:nvSpPr>
            <p:cNvPr id="596" name="燕尾形 595"/>
            <p:cNvSpPr/>
            <p:nvPr/>
          </p:nvSpPr>
          <p:spPr>
            <a:xfrm>
              <a:off x="7895" y="4318"/>
              <a:ext cx="152" cy="152"/>
            </a:xfrm>
            <a:prstGeom prst="chevron">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97" name="燕尾形 596"/>
            <p:cNvSpPr/>
            <p:nvPr/>
          </p:nvSpPr>
          <p:spPr>
            <a:xfrm>
              <a:off x="7773" y="4318"/>
              <a:ext cx="152" cy="152"/>
            </a:xfrm>
            <a:prstGeom prst="chevron">
              <a:avLst/>
            </a:prstGeom>
            <a:solidFill>
              <a:srgbClr val="3368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98" name="燕尾形 597"/>
            <p:cNvSpPr/>
            <p:nvPr/>
          </p:nvSpPr>
          <p:spPr>
            <a:xfrm>
              <a:off x="7651" y="4318"/>
              <a:ext cx="152" cy="152"/>
            </a:xfrm>
            <a:prstGeom prst="chevron">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599" name="矩形: 圆角 32"/>
          <p:cNvSpPr/>
          <p:nvPr/>
        </p:nvSpPr>
        <p:spPr>
          <a:xfrm>
            <a:off x="5595620" y="2546350"/>
            <a:ext cx="921385" cy="921385"/>
          </a:xfrm>
          <a:prstGeom prst="roundRect">
            <a:avLst>
              <a:gd name="adj" fmla="val 50000"/>
            </a:avLst>
          </a:prstGeom>
          <a:gradFill flip="none" rotWithShape="1">
            <a:gsLst>
              <a:gs pos="22000">
                <a:srgbClr val="3368FF"/>
              </a:gs>
              <a:gs pos="100000">
                <a:srgbClr val="B3D4FE"/>
              </a:gs>
            </a:gsLst>
            <a:lin ang="2700000"/>
          </a:gradFill>
          <a:ln w="63500">
            <a:noFill/>
          </a:ln>
          <a:effectLst>
            <a:outerShdw blurRad="254000" sx="102000" sy="102000" algn="ctr" rotWithShape="0">
              <a:prstClr val="black">
                <a:alpha val="10000"/>
              </a:prst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lnSpc>
                <a:spcPct val="120000"/>
              </a:lnSpc>
              <a:defRPr>
                <a:latin typeface="微软雅黑"/>
                <a:ea typeface="微软雅黑"/>
                <a:cs typeface="微软雅黑"/>
              </a:defRPr>
            </a:pPr>
            <a:endParaRPr lang="zh-CN" altLang="en-US" sz="2400" b="1" dirty="0">
              <a:solidFill>
                <a:srgbClr val="383838"/>
              </a:solidFill>
              <a:latin typeface="微软雅黑"/>
              <a:ea typeface="微软雅黑"/>
              <a:cs typeface="微软雅黑"/>
            </a:endParaRPr>
          </a:p>
        </p:txBody>
      </p:sp>
      <p:sp>
        <p:nvSpPr>
          <p:cNvPr id="600" name="矩形 599"/>
          <p:cNvSpPr/>
          <p:nvPr/>
        </p:nvSpPr>
        <p:spPr>
          <a:xfrm>
            <a:off x="5546090" y="2807970"/>
            <a:ext cx="1020445" cy="398780"/>
          </a:xfrm>
          <a:prstGeom prst="rect">
            <a:avLst/>
          </a:prstGeom>
        </p:spPr>
        <p:txBody>
          <a:bodyPr wrap="square">
            <a:spAutoFit/>
          </a:bodyPr>
          <a:lstStyle/>
          <a:p>
            <a:pPr algn="ctr">
              <a:defRPr>
                <a:latin typeface="微软雅黑"/>
                <a:ea typeface="微软雅黑"/>
                <a:cs typeface="微软雅黑"/>
              </a:defRPr>
            </a:pPr>
            <a:r>
              <a:rPr lang="en-US" altLang="zh-CN" sz="2000" b="1" dirty="0">
                <a:solidFill>
                  <a:srgbClr val="383838"/>
                </a:solidFill>
                <a:latin typeface="微软雅黑"/>
                <a:ea typeface="微软雅黑"/>
                <a:cs typeface="微软雅黑"/>
              </a:rPr>
              <a:t>AI</a:t>
            </a:r>
            <a:r>
              <a:rPr lang="zh-CN" altLang="en-US" sz="2000" b="1" dirty="0">
                <a:solidFill>
                  <a:srgbClr val="383838"/>
                </a:solidFill>
                <a:latin typeface="微软雅黑"/>
                <a:ea typeface="微软雅黑"/>
                <a:cs typeface="微软雅黑"/>
              </a:rPr>
              <a:t>助手</a:t>
            </a:r>
            <a:endParaRPr lang="zh-CN" altLang="en-US" sz="2000" b="1" dirty="0">
              <a:solidFill>
                <a:srgbClr val="383838"/>
              </a:solidFill>
              <a:latin typeface="微软雅黑"/>
              <a:ea typeface="微软雅黑"/>
              <a:cs typeface="微软雅黑"/>
            </a:endParaRPr>
          </a:p>
        </p:txBody>
      </p:sp>
      <p:sp>
        <p:nvSpPr>
          <p:cNvPr id="601" name="等腰三角形 600"/>
          <p:cNvSpPr/>
          <p:nvPr/>
        </p:nvSpPr>
        <p:spPr>
          <a:xfrm>
            <a:off x="5260340" y="3670300"/>
            <a:ext cx="1592580" cy="312420"/>
          </a:xfrm>
          <a:prstGeom prst="triangle">
            <a:avLst/>
          </a:prstGeom>
          <a:noFill/>
          <a:ln>
            <a:gradFill>
              <a:gsLst>
                <a:gs pos="34000">
                  <a:srgbClr val="B3D4FE"/>
                </a:gs>
                <a:gs pos="100000">
                  <a:srgbClr val="B3D4FE">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pic>
        <p:nvPicPr>
          <p:cNvPr id="602" name="图片 601" descr="任务 (1)"/>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2637790" y="1394460"/>
            <a:ext cx="182880" cy="182880"/>
          </a:xfrm>
          <a:prstGeom prst="rect">
            <a:avLst/>
          </a:prstGeom>
        </p:spPr>
      </p:pic>
      <p:pic>
        <p:nvPicPr>
          <p:cNvPr id="603" name="图片 602" descr="沟通能力"/>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4706620" y="1108710"/>
            <a:ext cx="227965" cy="227965"/>
          </a:xfrm>
          <a:prstGeom prst="rect">
            <a:avLst/>
          </a:prstGeom>
        </p:spPr>
      </p:pic>
      <p:pic>
        <p:nvPicPr>
          <p:cNvPr id="604" name="图片 603" descr="任务"/>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3678555" y="1259840"/>
            <a:ext cx="179070" cy="179070"/>
          </a:xfrm>
          <a:prstGeom prst="rect">
            <a:avLst/>
          </a:prstGeom>
        </p:spPr>
      </p:pic>
      <p:pic>
        <p:nvPicPr>
          <p:cNvPr id="605" name="图片 604" descr="知识库管理"/>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9273540" y="1413510"/>
            <a:ext cx="163830" cy="163830"/>
          </a:xfrm>
          <a:prstGeom prst="rect">
            <a:avLst/>
          </a:prstGeom>
        </p:spPr>
      </p:pic>
      <p:pic>
        <p:nvPicPr>
          <p:cNvPr id="606" name="图片 605" descr="决策"/>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7343140" y="1123950"/>
            <a:ext cx="212725" cy="212725"/>
          </a:xfrm>
          <a:prstGeom prst="rect">
            <a:avLst/>
          </a:prstGeom>
        </p:spPr>
      </p:pic>
      <p:pic>
        <p:nvPicPr>
          <p:cNvPr id="607" name="图片 606" descr="流程"/>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8305165" y="1269365"/>
            <a:ext cx="191135" cy="191135"/>
          </a:xfrm>
          <a:prstGeom prst="rect">
            <a:avLst/>
          </a:prstGeom>
        </p:spPr>
      </p:pic>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23"/>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18" name="组合 17"/>
          <p:cNvGrpSpPr/>
          <p:nvPr/>
        </p:nvGrpSpPr>
        <p:grpSpPr>
          <a:xfrm>
            <a:off x="0" y="4959350"/>
            <a:ext cx="12192000" cy="1898650"/>
            <a:chOff x="0" y="7810"/>
            <a:chExt cx="19200" cy="2990"/>
          </a:xfrm>
        </p:grpSpPr>
        <p:sp>
          <p:nvSpPr>
            <p:cNvPr id="19" name="矩形 18"/>
            <p:cNvSpPr/>
            <p:nvPr/>
          </p:nvSpPr>
          <p:spPr>
            <a:xfrm>
              <a:off x="0" y="7810"/>
              <a:ext cx="19200" cy="2990"/>
            </a:xfrm>
            <a:prstGeom prst="rect">
              <a:avLst/>
            </a:prstGeom>
            <a:solidFill>
              <a:srgbClr val="0042FF">
                <a:alpha val="80000"/>
              </a:srgbClr>
            </a:solidFill>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0" name="©显眼包PPT16"/>
            <p:cNvSpPr txBox="1"/>
            <p:nvPr/>
          </p:nvSpPr>
          <p:spPr>
            <a:xfrm>
              <a:off x="2990" y="8578"/>
              <a:ext cx="11508" cy="1454"/>
            </a:xfrm>
            <a:prstGeom prst="rect">
              <a:avLst/>
            </a:prstGeom>
            <a:noFill/>
            <a:extLst>
              <a:ext uri="{909E8E84-426E-40DD-AFC4-6F175D3DCCD1}">
                <a14:hiddenFill xmlns:a14="http://schemas.microsoft.com/office/drawing/2010/main">
                  <a:solidFill>
                    <a:srgbClr val="FFFFFF"/>
                  </a:solidFill>
                </a14:hiddenFill>
              </a:ext>
            </a:ex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另一个配色效果供选择，删除本框即可！</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本页不计入页面数量</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fill="hold"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530860" y="1007110"/>
            <a:ext cx="3238500" cy="3756660"/>
            <a:chOff x="836" y="1586"/>
            <a:chExt cx="5100" cy="5916"/>
          </a:xfrm>
        </p:grpSpPr>
        <p:sp>
          <p:nvSpPr>
            <p:cNvPr id="121" name="任意多边形: 形状 12"/>
            <p:cNvSpPr/>
            <p:nvPr/>
          </p:nvSpPr>
          <p:spPr>
            <a:xfrm>
              <a:off x="836" y="1586"/>
              <a:ext cx="5100" cy="5916"/>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noFill/>
            <a:ln>
              <a:gradFill flip="none" rotWithShape="1">
                <a:gsLst>
                  <a:gs pos="100000">
                    <a:srgbClr val="0042FF"/>
                  </a:gs>
                  <a:gs pos="0">
                    <a:srgbClr val="E6E6E6">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2" name="任意多边形: 形状 13"/>
            <p:cNvSpPr/>
            <p:nvPr/>
          </p:nvSpPr>
          <p:spPr>
            <a:xfrm>
              <a:off x="1148" y="1972"/>
              <a:ext cx="4474" cy="5242"/>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gradFill>
              <a:gsLst>
                <a:gs pos="100000">
                  <a:srgbClr val="E6E6E6"/>
                </a:gs>
                <a:gs pos="0">
                  <a:srgbClr val="E6E6E6">
                    <a:alpha val="0"/>
                  </a:srgbClr>
                </a:gs>
              </a:gsLst>
              <a:lin ang="10800000" scaled="1"/>
            </a:gradFill>
            <a:ln>
              <a:gradFill flip="none" rotWithShape="1">
                <a:gsLst>
                  <a:gs pos="100000">
                    <a:srgbClr val="0042FF"/>
                  </a:gs>
                  <a:gs pos="0">
                    <a:srgbClr val="E6E6E6">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139" name="组合 138"/>
          <p:cNvGrpSpPr/>
          <p:nvPr/>
        </p:nvGrpSpPr>
        <p:grpSpPr>
          <a:xfrm flipH="1">
            <a:off x="8024495" y="1007110"/>
            <a:ext cx="3703955" cy="3756660"/>
            <a:chOff x="1251" y="2458"/>
            <a:chExt cx="4791" cy="6422"/>
          </a:xfrm>
        </p:grpSpPr>
        <p:sp>
          <p:nvSpPr>
            <p:cNvPr id="140" name="任意多边形: 形状 12"/>
            <p:cNvSpPr/>
            <p:nvPr/>
          </p:nvSpPr>
          <p:spPr>
            <a:xfrm>
              <a:off x="1251" y="2458"/>
              <a:ext cx="4791" cy="6422"/>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noFill/>
            <a:ln>
              <a:gradFill flip="none" rotWithShape="1">
                <a:gsLst>
                  <a:gs pos="100000">
                    <a:srgbClr val="0042FF"/>
                  </a:gs>
                  <a:gs pos="0">
                    <a:srgbClr val="E6E6E6">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41" name="任意多边形: 形状 13"/>
            <p:cNvSpPr/>
            <p:nvPr/>
          </p:nvSpPr>
          <p:spPr>
            <a:xfrm>
              <a:off x="1545" y="2873"/>
              <a:ext cx="4204" cy="5635"/>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gradFill>
              <a:gsLst>
                <a:gs pos="100000">
                  <a:srgbClr val="E6E6E6"/>
                </a:gs>
                <a:gs pos="0">
                  <a:srgbClr val="E6E6E6">
                    <a:alpha val="0"/>
                  </a:srgbClr>
                </a:gs>
              </a:gsLst>
              <a:lin ang="10800000" scaled="1"/>
            </a:gradFill>
            <a:ln>
              <a:gradFill flip="none" rotWithShape="1">
                <a:gsLst>
                  <a:gs pos="100000">
                    <a:srgbClr val="0042FF"/>
                  </a:gs>
                  <a:gs pos="0">
                    <a:srgbClr val="E6E6E6">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158" name="组合 157"/>
          <p:cNvGrpSpPr/>
          <p:nvPr/>
        </p:nvGrpSpPr>
        <p:grpSpPr>
          <a:xfrm rot="0">
            <a:off x="991870" y="1800860"/>
            <a:ext cx="1675765" cy="246380"/>
            <a:chOff x="1727" y="3355"/>
            <a:chExt cx="2639" cy="388"/>
          </a:xfrm>
        </p:grpSpPr>
        <p:sp>
          <p:nvSpPr>
            <p:cNvPr id="156" name="矩形: 圆角 460"/>
            <p:cNvSpPr/>
            <p:nvPr>
              <p:custDataLst>
                <p:tags r:id="rId1"/>
              </p:custDataLst>
            </p:nvPr>
          </p:nvSpPr>
          <p:spPr>
            <a:xfrm>
              <a:off x="1727" y="3361"/>
              <a:ext cx="2639" cy="375"/>
            </a:xfrm>
            <a:prstGeom prst="roundRect">
              <a:avLst>
                <a:gd name="adj" fmla="val 50000"/>
              </a:avLst>
            </a:prstGeom>
            <a:gradFill flip="none" rotWithShape="1">
              <a:gsLst>
                <a:gs pos="23000">
                  <a:srgbClr val="0042FF"/>
                </a:gs>
                <a:gs pos="100000">
                  <a:srgbClr val="3368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57" name="文本框 156"/>
            <p:cNvSpPr txBox="1"/>
            <p:nvPr/>
          </p:nvSpPr>
          <p:spPr>
            <a:xfrm>
              <a:off x="1928" y="3355"/>
              <a:ext cx="2235" cy="388"/>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产品与服务创新</a:t>
              </a:r>
              <a:endParaRPr lang="zh-CN" altLang="en-US" sz="1000" b="1" dirty="0">
                <a:solidFill>
                  <a:srgbClr val="FFFFFF"/>
                </a:solidFill>
                <a:latin typeface="微软雅黑"/>
                <a:ea typeface="微软雅黑"/>
                <a:cs typeface="微软雅黑"/>
              </a:endParaRPr>
            </a:p>
          </p:txBody>
        </p:sp>
      </p:grpSp>
      <p:sp>
        <p:nvSpPr>
          <p:cNvPr id="159" name="文本框 158"/>
          <p:cNvSpPr txBox="1"/>
          <p:nvPr/>
        </p:nvSpPr>
        <p:spPr>
          <a:xfrm>
            <a:off x="991870" y="2089150"/>
            <a:ext cx="2433955"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构建持续的价值驱动力。以市场需求为导向的创新孵化，构建分层化产品矩阵，精益落地与快速迭代。</a:t>
            </a:r>
            <a:endParaRPr lang="zh-CN" altLang="en-US" sz="1000" dirty="0">
              <a:solidFill>
                <a:srgbClr val="383838"/>
              </a:solidFill>
              <a:latin typeface="微软雅黑"/>
              <a:ea typeface="微软雅黑"/>
              <a:cs typeface="微软雅黑"/>
            </a:endParaRPr>
          </a:p>
        </p:txBody>
      </p:sp>
      <p:sp>
        <p:nvSpPr>
          <p:cNvPr id="163" name="文本框 162"/>
          <p:cNvSpPr txBox="1"/>
          <p:nvPr/>
        </p:nvSpPr>
        <p:spPr>
          <a:xfrm>
            <a:off x="991870" y="2855219"/>
            <a:ext cx="2352040"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实现收入最大化。建立价值导向的定价基础，实施数据驱动的动态定价机制，差异化营销。</a:t>
            </a:r>
            <a:endParaRPr lang="zh-CN" altLang="en-US" sz="1000" dirty="0">
              <a:solidFill>
                <a:srgbClr val="383838"/>
              </a:solidFill>
              <a:latin typeface="微软雅黑"/>
              <a:ea typeface="微软雅黑"/>
              <a:cs typeface="微软雅黑"/>
            </a:endParaRPr>
          </a:p>
        </p:txBody>
      </p:sp>
      <p:grpSp>
        <p:nvGrpSpPr>
          <p:cNvPr id="278" name="组合 277"/>
          <p:cNvGrpSpPr/>
          <p:nvPr/>
        </p:nvGrpSpPr>
        <p:grpSpPr>
          <a:xfrm>
            <a:off x="991870" y="2606675"/>
            <a:ext cx="1675765" cy="246380"/>
            <a:chOff x="1772" y="4266"/>
            <a:chExt cx="2639" cy="388"/>
          </a:xfrm>
        </p:grpSpPr>
        <p:sp>
          <p:nvSpPr>
            <p:cNvPr id="161" name="矩形: 圆角 460"/>
            <p:cNvSpPr/>
            <p:nvPr>
              <p:custDataLst>
                <p:tags r:id="rId2"/>
              </p:custDataLst>
            </p:nvPr>
          </p:nvSpPr>
          <p:spPr>
            <a:xfrm>
              <a:off x="1772" y="4272"/>
              <a:ext cx="2639" cy="375"/>
            </a:xfrm>
            <a:prstGeom prst="roundRect">
              <a:avLst>
                <a:gd name="adj" fmla="val 50000"/>
              </a:avLst>
            </a:prstGeom>
            <a:gradFill flip="none" rotWithShape="1">
              <a:gsLst>
                <a:gs pos="23000">
                  <a:srgbClr val="0042FF"/>
                </a:gs>
                <a:gs pos="100000">
                  <a:srgbClr val="3368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68" name="文本框 167"/>
            <p:cNvSpPr txBox="1"/>
            <p:nvPr/>
          </p:nvSpPr>
          <p:spPr>
            <a:xfrm>
              <a:off x="1850" y="4266"/>
              <a:ext cx="2444" cy="388"/>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定价策略动态调整</a:t>
              </a:r>
              <a:endParaRPr lang="zh-CN" altLang="en-US" sz="1000" b="1" dirty="0">
                <a:solidFill>
                  <a:srgbClr val="FFFFFF"/>
                </a:solidFill>
                <a:latin typeface="微软雅黑"/>
                <a:ea typeface="微软雅黑"/>
                <a:cs typeface="微软雅黑"/>
              </a:endParaRPr>
            </a:p>
          </p:txBody>
        </p:sp>
      </p:grpSp>
      <p:sp>
        <p:nvSpPr>
          <p:cNvPr id="167" name="文本框 166"/>
          <p:cNvSpPr txBox="1"/>
          <p:nvPr/>
        </p:nvSpPr>
        <p:spPr>
          <a:xfrm>
            <a:off x="991870" y="3646805"/>
            <a:ext cx="2273935"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最大化客户生命周期价值。识别与分级高价值客户，提供超预期的专属服务，驱动增换购。</a:t>
            </a:r>
            <a:endParaRPr lang="zh-CN" altLang="en-US" sz="1000" dirty="0">
              <a:solidFill>
                <a:srgbClr val="383838"/>
              </a:solidFill>
              <a:latin typeface="微软雅黑"/>
              <a:ea typeface="微软雅黑"/>
              <a:cs typeface="微软雅黑"/>
            </a:endParaRPr>
          </a:p>
        </p:txBody>
      </p:sp>
      <p:grpSp>
        <p:nvGrpSpPr>
          <p:cNvPr id="279" name="组合 278"/>
          <p:cNvGrpSpPr/>
          <p:nvPr/>
        </p:nvGrpSpPr>
        <p:grpSpPr>
          <a:xfrm>
            <a:off x="991870" y="3355340"/>
            <a:ext cx="1675765" cy="250190"/>
            <a:chOff x="1649" y="5457"/>
            <a:chExt cx="2639" cy="394"/>
          </a:xfrm>
        </p:grpSpPr>
        <p:sp>
          <p:nvSpPr>
            <p:cNvPr id="165" name="矩形: 圆角 460"/>
            <p:cNvSpPr/>
            <p:nvPr>
              <p:custDataLst>
                <p:tags r:id="rId3"/>
              </p:custDataLst>
            </p:nvPr>
          </p:nvSpPr>
          <p:spPr>
            <a:xfrm>
              <a:off x="1649" y="5457"/>
              <a:ext cx="2639" cy="375"/>
            </a:xfrm>
            <a:prstGeom prst="roundRect">
              <a:avLst>
                <a:gd name="adj" fmla="val 50000"/>
              </a:avLst>
            </a:prstGeom>
            <a:gradFill flip="none" rotWithShape="1">
              <a:gsLst>
                <a:gs pos="23000">
                  <a:srgbClr val="0042FF"/>
                </a:gs>
                <a:gs pos="100000">
                  <a:srgbClr val="3368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69" name="文本框 168"/>
            <p:cNvSpPr txBox="1"/>
            <p:nvPr/>
          </p:nvSpPr>
          <p:spPr>
            <a:xfrm>
              <a:off x="1807" y="5463"/>
              <a:ext cx="2365" cy="388"/>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高价值客户深耕</a:t>
              </a:r>
              <a:endParaRPr lang="zh-CN" altLang="en-US" sz="1000" b="1" dirty="0">
                <a:solidFill>
                  <a:srgbClr val="FFFFFF"/>
                </a:solidFill>
                <a:latin typeface="微软雅黑"/>
                <a:ea typeface="微软雅黑"/>
                <a:cs typeface="微软雅黑"/>
              </a:endParaRPr>
            </a:p>
          </p:txBody>
        </p:sp>
      </p:grpSp>
      <p:grpSp>
        <p:nvGrpSpPr>
          <p:cNvPr id="181" name="组合 180"/>
          <p:cNvGrpSpPr/>
          <p:nvPr/>
        </p:nvGrpSpPr>
        <p:grpSpPr>
          <a:xfrm>
            <a:off x="9008110" y="1800860"/>
            <a:ext cx="1675765" cy="246380"/>
            <a:chOff x="1727" y="3355"/>
            <a:chExt cx="2639" cy="388"/>
          </a:xfrm>
          <a:scene3d>
            <a:camera prst="perspectiveFront"/>
            <a:lightRig rig="threePt" dir="t"/>
          </a:scene3d>
        </p:grpSpPr>
        <p:sp>
          <p:nvSpPr>
            <p:cNvPr id="182" name="矩形: 圆角 460"/>
            <p:cNvSpPr/>
            <p:nvPr>
              <p:custDataLst>
                <p:tags r:id="rId4"/>
              </p:custDataLst>
            </p:nvPr>
          </p:nvSpPr>
          <p:spPr>
            <a:xfrm>
              <a:off x="1727" y="3361"/>
              <a:ext cx="2639" cy="375"/>
            </a:xfrm>
            <a:prstGeom prst="roundRect">
              <a:avLst>
                <a:gd name="adj" fmla="val 50000"/>
              </a:avLst>
            </a:prstGeom>
            <a:gradFill flip="none" rotWithShape="1">
              <a:gsLst>
                <a:gs pos="23000">
                  <a:srgbClr val="0042FF"/>
                </a:gs>
                <a:gs pos="100000">
                  <a:srgbClr val="3368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83" name="文本框 182"/>
            <p:cNvSpPr txBox="1"/>
            <p:nvPr/>
          </p:nvSpPr>
          <p:spPr>
            <a:xfrm>
              <a:off x="1928" y="3355"/>
              <a:ext cx="2235" cy="388"/>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运营效率提升</a:t>
              </a:r>
              <a:endParaRPr lang="zh-CN" altLang="en-US" sz="1000" b="1" dirty="0">
                <a:solidFill>
                  <a:srgbClr val="FFFFFF"/>
                </a:solidFill>
                <a:latin typeface="微软雅黑"/>
                <a:ea typeface="微软雅黑"/>
                <a:cs typeface="微软雅黑"/>
              </a:endParaRPr>
            </a:p>
          </p:txBody>
        </p:sp>
      </p:grpSp>
      <p:sp>
        <p:nvSpPr>
          <p:cNvPr id="184" name="文本框 183"/>
          <p:cNvSpPr txBox="1"/>
          <p:nvPr/>
        </p:nvSpPr>
        <p:spPr>
          <a:xfrm>
            <a:off x="8841994" y="2089150"/>
            <a:ext cx="2377107"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消除内部浪费，释放资源价值。流程精益化与自动化，资产与资源效能最大化，效能革命。</a:t>
            </a:r>
            <a:endParaRPr lang="zh-CN" altLang="en-US" sz="1000" dirty="0">
              <a:solidFill>
                <a:srgbClr val="383838"/>
              </a:solidFill>
              <a:latin typeface="微软雅黑"/>
              <a:ea typeface="微软雅黑"/>
              <a:cs typeface="微软雅黑"/>
            </a:endParaRPr>
          </a:p>
        </p:txBody>
      </p:sp>
      <p:sp>
        <p:nvSpPr>
          <p:cNvPr id="186" name="文本框 185"/>
          <p:cNvSpPr txBox="1"/>
          <p:nvPr/>
        </p:nvSpPr>
        <p:spPr>
          <a:xfrm>
            <a:off x="8920099" y="2855219"/>
            <a:ext cx="2377107"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协同外部网络，降低总拥有成本。采购成本优化，库存与物流精细化，供应链协同与韧性建设。</a:t>
            </a:r>
            <a:endParaRPr lang="zh-CN" altLang="en-US" sz="1000" dirty="0">
              <a:solidFill>
                <a:srgbClr val="383838"/>
              </a:solidFill>
              <a:latin typeface="微软雅黑"/>
              <a:ea typeface="微软雅黑"/>
              <a:cs typeface="微软雅黑"/>
            </a:endParaRPr>
          </a:p>
        </p:txBody>
      </p:sp>
      <p:sp>
        <p:nvSpPr>
          <p:cNvPr id="188" name="文本框 187"/>
          <p:cNvSpPr txBox="1"/>
          <p:nvPr/>
        </p:nvSpPr>
        <p:spPr>
          <a:xfrm>
            <a:off x="8958199" y="3646805"/>
            <a:ext cx="2377107"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技术驱动效率，固化成本优势。核心业务系统</a:t>
            </a:r>
            <a:r>
              <a:rPr lang="en-US" altLang="zh-CN" sz="1000" dirty="0">
                <a:solidFill>
                  <a:srgbClr val="383838"/>
                </a:solidFill>
                <a:latin typeface="微软雅黑"/>
                <a:ea typeface="微软雅黑"/>
                <a:cs typeface="微软雅黑"/>
              </a:rPr>
              <a:t>SaaS</a:t>
            </a:r>
            <a:r>
              <a:rPr lang="zh-CN" altLang="en-US" sz="1000" dirty="0">
                <a:solidFill>
                  <a:srgbClr val="383838"/>
                </a:solidFill>
                <a:latin typeface="微软雅黑"/>
                <a:ea typeface="微软雅黑"/>
                <a:cs typeface="微软雅黑"/>
              </a:rPr>
              <a:t>化，数据智能驱动决策优化，数字化赋能。</a:t>
            </a:r>
            <a:endParaRPr lang="zh-CN" altLang="en-US" sz="1000" dirty="0">
              <a:solidFill>
                <a:srgbClr val="383838"/>
              </a:solidFill>
              <a:latin typeface="微软雅黑"/>
              <a:ea typeface="微软雅黑"/>
              <a:cs typeface="微软雅黑"/>
            </a:endParaRPr>
          </a:p>
        </p:txBody>
      </p:sp>
      <p:grpSp>
        <p:nvGrpSpPr>
          <p:cNvPr id="9" name="组合 8"/>
          <p:cNvGrpSpPr/>
          <p:nvPr/>
        </p:nvGrpSpPr>
        <p:grpSpPr>
          <a:xfrm>
            <a:off x="9008110" y="2606675"/>
            <a:ext cx="1675765" cy="246380"/>
            <a:chOff x="14648" y="4197"/>
            <a:chExt cx="2639" cy="388"/>
          </a:xfrm>
        </p:grpSpPr>
        <p:sp>
          <p:nvSpPr>
            <p:cNvPr id="185" name="矩形: 圆角 460"/>
            <p:cNvSpPr/>
            <p:nvPr>
              <p:custDataLst>
                <p:tags r:id="rId5"/>
              </p:custDataLst>
            </p:nvPr>
          </p:nvSpPr>
          <p:spPr>
            <a:xfrm>
              <a:off x="14648" y="4203"/>
              <a:ext cx="2639" cy="375"/>
            </a:xfrm>
            <a:prstGeom prst="roundRect">
              <a:avLst>
                <a:gd name="adj" fmla="val 50000"/>
              </a:avLst>
            </a:prstGeom>
            <a:gradFill flip="none" rotWithShape="1">
              <a:gsLst>
                <a:gs pos="23000">
                  <a:srgbClr val="0042FF"/>
                </a:gs>
                <a:gs pos="100000">
                  <a:srgbClr val="3368FF"/>
                </a:gs>
              </a:gsLst>
              <a:path path="circle">
                <a:fillToRect l="100000" t="100000"/>
              </a:path>
              <a:tileRect r="-100000" b="-100000"/>
            </a:gradFill>
            <a:ln w="38100">
              <a:noFill/>
            </a:ln>
            <a:effectLst/>
            <a:scene3d>
              <a:camera prst="orthographicFront">
                <a:rot lat="0" lon="0" rev="0"/>
              </a:camera>
              <a:lightRig rig="threePt" dir="t"/>
            </a:scene3d>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89" name="文本框 188"/>
            <p:cNvSpPr txBox="1"/>
            <p:nvPr/>
          </p:nvSpPr>
          <p:spPr>
            <a:xfrm>
              <a:off x="14917" y="4197"/>
              <a:ext cx="2227" cy="388"/>
            </a:xfrm>
            <a:prstGeom prst="rect">
              <a:avLst/>
            </a:prstGeom>
            <a:noFill/>
            <a:effectLst/>
            <a:scene3d>
              <a:camera prst="orthographicFront">
                <a:rot lat="0" lon="0" rev="0"/>
              </a:camera>
              <a:lightRig rig="threePt" dir="t"/>
            </a:scene3d>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供应链优化</a:t>
              </a:r>
              <a:endParaRPr lang="zh-CN" altLang="en-US" sz="1000" b="1" dirty="0">
                <a:solidFill>
                  <a:srgbClr val="FFFFFF"/>
                </a:solidFill>
                <a:latin typeface="微软雅黑"/>
                <a:ea typeface="微软雅黑"/>
                <a:cs typeface="微软雅黑"/>
              </a:endParaRPr>
            </a:p>
          </p:txBody>
        </p:sp>
      </p:grpSp>
      <p:grpSp>
        <p:nvGrpSpPr>
          <p:cNvPr id="10" name="组合 9"/>
          <p:cNvGrpSpPr/>
          <p:nvPr/>
        </p:nvGrpSpPr>
        <p:grpSpPr>
          <a:xfrm>
            <a:off x="9008110" y="3355340"/>
            <a:ext cx="1675765" cy="246380"/>
            <a:chOff x="14708" y="5671"/>
            <a:chExt cx="2639" cy="388"/>
          </a:xfrm>
        </p:grpSpPr>
        <p:sp>
          <p:nvSpPr>
            <p:cNvPr id="187" name="矩形: 圆角 460"/>
            <p:cNvSpPr/>
            <p:nvPr>
              <p:custDataLst>
                <p:tags r:id="rId6"/>
              </p:custDataLst>
            </p:nvPr>
          </p:nvSpPr>
          <p:spPr>
            <a:xfrm>
              <a:off x="14708" y="5677"/>
              <a:ext cx="2639" cy="375"/>
            </a:xfrm>
            <a:prstGeom prst="roundRect">
              <a:avLst>
                <a:gd name="adj" fmla="val 50000"/>
              </a:avLst>
            </a:prstGeom>
            <a:gradFill flip="none" rotWithShape="1">
              <a:gsLst>
                <a:gs pos="23000">
                  <a:srgbClr val="0042FF"/>
                </a:gs>
                <a:gs pos="100000">
                  <a:srgbClr val="3368FF"/>
                </a:gs>
              </a:gsLst>
              <a:path path="circle">
                <a:fillToRect l="100000" t="100000"/>
              </a:path>
              <a:tileRect r="-100000" b="-100000"/>
            </a:gradFill>
            <a:ln w="38100">
              <a:noFill/>
            </a:ln>
            <a:effectLst/>
            <a:scene3d>
              <a:camera prst="orthographicFront">
                <a:rot lat="0" lon="0" rev="0"/>
              </a:camera>
              <a:lightRig rig="threePt" dir="t"/>
            </a:scene3d>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90" name="文本框 189"/>
            <p:cNvSpPr txBox="1"/>
            <p:nvPr/>
          </p:nvSpPr>
          <p:spPr>
            <a:xfrm>
              <a:off x="14869" y="5671"/>
              <a:ext cx="2331" cy="388"/>
            </a:xfrm>
            <a:prstGeom prst="rect">
              <a:avLst/>
            </a:prstGeom>
            <a:noFill/>
            <a:effectLst/>
            <a:scene3d>
              <a:camera prst="orthographicFront">
                <a:rot lat="0" lon="0" rev="0"/>
              </a:camera>
              <a:lightRig rig="threePt" dir="t"/>
            </a:scene3d>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dirty="0">
                  <a:solidFill>
                    <a:srgbClr val="FFFFFF"/>
                  </a:solidFill>
                  <a:latin typeface="微软雅黑"/>
                  <a:ea typeface="微软雅黑"/>
                  <a:cs typeface="微软雅黑"/>
                </a:rPr>
                <a:t>数字化转型降本</a:t>
              </a:r>
              <a:endParaRPr lang="zh-CN" altLang="en-US" sz="1000" b="1" dirty="0">
                <a:solidFill>
                  <a:srgbClr val="FFFFFF"/>
                </a:solidFill>
                <a:latin typeface="微软雅黑"/>
                <a:ea typeface="微软雅黑"/>
                <a:cs typeface="微软雅黑"/>
              </a:endParaRPr>
            </a:p>
          </p:txBody>
        </p:sp>
      </p:grpSp>
      <p:sp>
        <p:nvSpPr>
          <p:cNvPr id="191" name="椭圆 190"/>
          <p:cNvSpPr/>
          <p:nvPr/>
        </p:nvSpPr>
        <p:spPr>
          <a:xfrm>
            <a:off x="6345202" y="2062294"/>
            <a:ext cx="1765926" cy="1765926"/>
          </a:xfrm>
          <a:prstGeom prst="ellipse">
            <a:avLst/>
          </a:prstGeom>
          <a:noFill/>
          <a:ln>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92" name="椭圆 191"/>
          <p:cNvSpPr/>
          <p:nvPr/>
        </p:nvSpPr>
        <p:spPr>
          <a:xfrm>
            <a:off x="4080522" y="2062294"/>
            <a:ext cx="1765926" cy="1765926"/>
          </a:xfrm>
          <a:prstGeom prst="ellipse">
            <a:avLst/>
          </a:prstGeom>
          <a:noFill/>
          <a:ln>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93" name="椭圆 192"/>
          <p:cNvSpPr/>
          <p:nvPr/>
        </p:nvSpPr>
        <p:spPr>
          <a:xfrm>
            <a:off x="5133239" y="2069711"/>
            <a:ext cx="1868940" cy="1868940"/>
          </a:xfrm>
          <a:prstGeom prst="ellipse">
            <a:avLst/>
          </a:prstGeom>
          <a:gradFill flip="none" rotWithShape="1">
            <a:gsLst>
              <a:gs pos="23000">
                <a:srgbClr val="3368FF"/>
              </a:gs>
              <a:gs pos="100000">
                <a:srgbClr val="B3D4FE"/>
              </a:gs>
            </a:gsLst>
            <a:path path="circle">
              <a:fillToRect l="100000" t="100000"/>
            </a:path>
            <a:tileRect r="-100000" b="-100000"/>
          </a:gra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94" name="椭圆 193"/>
          <p:cNvSpPr/>
          <p:nvPr/>
        </p:nvSpPr>
        <p:spPr>
          <a:xfrm>
            <a:off x="3441700" y="2394585"/>
            <a:ext cx="1040765" cy="1040765"/>
          </a:xfrm>
          <a:prstGeom prst="ellipse">
            <a:avLst/>
          </a:prstGeom>
          <a:gradFill flip="none" rotWithShape="1">
            <a:gsLst>
              <a:gs pos="0">
                <a:srgbClr val="0042FF"/>
              </a:gs>
              <a:gs pos="100000">
                <a:srgbClr val="3368FF"/>
              </a:gs>
            </a:gsLst>
            <a:lin ang="0"/>
          </a:gradFill>
          <a:ln w="38100">
            <a:noFill/>
          </a:ln>
          <a:effectLst>
            <a:outerShdw blurRad="254000" dist="123444" dir="5400000" sx="99000" sy="99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99" name="任意多边形: 形状 15"/>
          <p:cNvSpPr/>
          <p:nvPr/>
        </p:nvSpPr>
        <p:spPr>
          <a:xfrm rot="16200000">
            <a:off x="7201235" y="3759653"/>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00" name="任意多边形: 形状 18"/>
          <p:cNvSpPr/>
          <p:nvPr/>
        </p:nvSpPr>
        <p:spPr>
          <a:xfrm rot="5400000">
            <a:off x="7192208" y="1997776"/>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01" name="任意多边形: 形状 22"/>
          <p:cNvSpPr/>
          <p:nvPr/>
        </p:nvSpPr>
        <p:spPr>
          <a:xfrm rot="5400000">
            <a:off x="4848983" y="3764280"/>
            <a:ext cx="149614" cy="127000"/>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02" name="任意多边形: 形状 23"/>
          <p:cNvSpPr/>
          <p:nvPr/>
        </p:nvSpPr>
        <p:spPr>
          <a:xfrm rot="16200000">
            <a:off x="4819143" y="2005517"/>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88" name="任意多边形: 形状 487"/>
          <p:cNvSpPr/>
          <p:nvPr/>
        </p:nvSpPr>
        <p:spPr>
          <a:xfrm>
            <a:off x="5399405" y="1277620"/>
            <a:ext cx="1367155" cy="129349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46000">
                <a:srgbClr val="3368FF">
                  <a:alpha val="13000"/>
                </a:srgbClr>
              </a:gs>
              <a:gs pos="100000">
                <a:srgbClr val="3368FF">
                  <a:alpha val="10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09" name="组合 108"/>
          <p:cNvGrpSpPr/>
          <p:nvPr/>
        </p:nvGrpSpPr>
        <p:grpSpPr>
          <a:xfrm>
            <a:off x="7528560" y="2394585"/>
            <a:ext cx="1040130" cy="1040130"/>
            <a:chOff x="11856" y="3884"/>
            <a:chExt cx="1638" cy="1638"/>
          </a:xfrm>
        </p:grpSpPr>
        <p:sp>
          <p:nvSpPr>
            <p:cNvPr id="195" name="椭圆 194"/>
            <p:cNvSpPr/>
            <p:nvPr/>
          </p:nvSpPr>
          <p:spPr>
            <a:xfrm>
              <a:off x="11856" y="3884"/>
              <a:ext cx="1639" cy="1639"/>
            </a:xfrm>
            <a:prstGeom prst="ellipse">
              <a:avLst/>
            </a:prstGeom>
            <a:gradFill flip="none" rotWithShape="1">
              <a:gsLst>
                <a:gs pos="0">
                  <a:srgbClr val="0042FF"/>
                </a:gs>
                <a:gs pos="100000">
                  <a:srgbClr val="3368FF"/>
                </a:gs>
              </a:gsLst>
              <a:lin ang="0"/>
            </a:gradFill>
            <a:ln w="38100">
              <a:noFill/>
            </a:ln>
            <a:effectLst>
              <a:outerShdw blurRad="254000" dist="123444" dir="5400000" sx="99000" sy="99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8" name="文本框 7"/>
            <p:cNvSpPr txBox="1"/>
            <p:nvPr/>
          </p:nvSpPr>
          <p:spPr>
            <a:xfrm>
              <a:off x="11948" y="4153"/>
              <a:ext cx="1536" cy="1101"/>
            </a:xfrm>
            <a:prstGeom prst="rect">
              <a:avLst/>
            </a:prstGeom>
            <a:noFill/>
          </p:spPr>
          <p:txBody>
            <a:bodyPr wrap="square" rtlCol="0" anchor="ctr" anchorCtr="0" lIns="0" rIns="0" tIns="0" bIns="0">
              <a:no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②</a:t>
              </a:r>
              <a:endParaRPr lang="zh-CN" altLang="en-US" sz="14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成本控制策略</a:t>
              </a:r>
              <a:endParaRPr lang="en-US" altLang="zh-CN" sz="1400" b="1" dirty="0">
                <a:solidFill>
                  <a:srgbClr val="FFFFFF"/>
                </a:solidFill>
                <a:latin typeface="微软雅黑"/>
                <a:ea typeface="微软雅黑"/>
                <a:cs typeface="微软雅黑"/>
              </a:endParaRPr>
            </a:p>
          </p:txBody>
        </p:sp>
      </p:grpSp>
      <p:sp>
        <p:nvSpPr>
          <p:cNvPr id="106" name="文本框 105"/>
          <p:cNvSpPr txBox="1"/>
          <p:nvPr/>
        </p:nvSpPr>
        <p:spPr>
          <a:xfrm>
            <a:off x="5234940" y="2588260"/>
            <a:ext cx="1656080" cy="922020"/>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b="1" dirty="0">
                <a:solidFill>
                  <a:srgbClr val="383838"/>
                </a:solidFill>
                <a:latin typeface="微软雅黑"/>
                <a:ea typeface="微软雅黑"/>
                <a:cs typeface="微软雅黑"/>
              </a:rPr>
              <a:t>实现可持续、高质量盈利</a:t>
            </a:r>
            <a:endParaRPr lang="zh-CN" altLang="en-US"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b="1" dirty="0">
                <a:solidFill>
                  <a:srgbClr val="383838"/>
                </a:solidFill>
                <a:latin typeface="微软雅黑"/>
                <a:ea typeface="微软雅黑"/>
                <a:cs typeface="微软雅黑"/>
              </a:rPr>
              <a:t>的目标</a:t>
            </a:r>
            <a:endParaRPr lang="zh-CN" altLang="en-US" sz="1600" dirty="0">
              <a:solidFill>
                <a:srgbClr val="383838"/>
              </a:solidFill>
              <a:latin typeface="微软雅黑"/>
              <a:ea typeface="微软雅黑"/>
              <a:cs typeface="微软雅黑"/>
            </a:endParaRPr>
          </a:p>
        </p:txBody>
      </p:sp>
      <p:cxnSp>
        <p:nvCxnSpPr>
          <p:cNvPr id="244" name="直接连接符 243"/>
          <p:cNvCxnSpPr/>
          <p:nvPr/>
        </p:nvCxnSpPr>
        <p:spPr>
          <a:xfrm>
            <a:off x="2967355" y="4366260"/>
            <a:ext cx="0" cy="396240"/>
          </a:xfrm>
          <a:prstGeom prst="line">
            <a:avLst/>
          </a:prstGeom>
          <a:ln w="19050" cap="rnd">
            <a:gradFill>
              <a:gsLst>
                <a:gs pos="0">
                  <a:srgbClr val="B3D4FE">
                    <a:alpha val="55000"/>
                  </a:srgbClr>
                </a:gs>
                <a:gs pos="100000">
                  <a:srgbClr val="B3D4FE">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28" name="直接连接符 327"/>
          <p:cNvCxnSpPr/>
          <p:nvPr/>
        </p:nvCxnSpPr>
        <p:spPr>
          <a:xfrm>
            <a:off x="3637280" y="4148455"/>
            <a:ext cx="0" cy="396240"/>
          </a:xfrm>
          <a:prstGeom prst="line">
            <a:avLst/>
          </a:prstGeom>
          <a:ln w="19050" cap="rnd">
            <a:gradFill>
              <a:gsLst>
                <a:gs pos="0">
                  <a:srgbClr val="B3D4FE">
                    <a:alpha val="55000"/>
                  </a:srgbClr>
                </a:gs>
                <a:gs pos="100000">
                  <a:srgbClr val="B3D4FE">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33" name="直接连接符 332"/>
          <p:cNvCxnSpPr/>
          <p:nvPr/>
        </p:nvCxnSpPr>
        <p:spPr>
          <a:xfrm>
            <a:off x="4284980" y="4004945"/>
            <a:ext cx="0" cy="396240"/>
          </a:xfrm>
          <a:prstGeom prst="line">
            <a:avLst/>
          </a:prstGeom>
          <a:ln w="19050" cap="rnd">
            <a:gradFill>
              <a:gsLst>
                <a:gs pos="0">
                  <a:srgbClr val="B3D4FE">
                    <a:alpha val="55000"/>
                  </a:srgbClr>
                </a:gs>
                <a:gs pos="100000">
                  <a:srgbClr val="B3D4FE">
                    <a:alpha val="0"/>
                  </a:srgbClr>
                </a:gs>
              </a:gsLst>
              <a:lin ang="5400000" scaled="1"/>
            </a:gradFill>
          </a:ln>
        </p:spPr>
        <p:style>
          <a:lnRef idx="1">
            <a:srgbClr val="0042FF"/>
          </a:lnRef>
          <a:fillRef idx="0">
            <a:srgbClr val="0042FF"/>
          </a:fillRef>
          <a:effectRef idx="0">
            <a:srgbClr val="0042FF"/>
          </a:effectRef>
          <a:fontRef idx="minor">
            <a:srgbClr val="FFFFFF"/>
          </a:fontRef>
        </p:style>
      </p:cxnSp>
      <p:grpSp>
        <p:nvGrpSpPr>
          <p:cNvPr id="335" name="组合 334"/>
          <p:cNvGrpSpPr/>
          <p:nvPr/>
        </p:nvGrpSpPr>
        <p:grpSpPr>
          <a:xfrm flipH="1">
            <a:off x="7969885" y="4057015"/>
            <a:ext cx="1317625" cy="757555"/>
            <a:chOff x="5030" y="6194"/>
            <a:chExt cx="2075" cy="1193"/>
          </a:xfrm>
        </p:grpSpPr>
        <p:cxnSp>
          <p:nvCxnSpPr>
            <p:cNvPr id="336" name="直接连接符 335"/>
            <p:cNvCxnSpPr/>
            <p:nvPr/>
          </p:nvCxnSpPr>
          <p:spPr>
            <a:xfrm>
              <a:off x="5030" y="6763"/>
              <a:ext cx="0" cy="624"/>
            </a:xfrm>
            <a:prstGeom prst="line">
              <a:avLst/>
            </a:prstGeom>
            <a:ln w="19050" cap="rnd">
              <a:gradFill>
                <a:gsLst>
                  <a:gs pos="0">
                    <a:srgbClr val="B3D4FE">
                      <a:alpha val="55000"/>
                    </a:srgbClr>
                  </a:gs>
                  <a:gs pos="100000">
                    <a:srgbClr val="B3D4FE">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37" name="直接连接符 336"/>
            <p:cNvCxnSpPr/>
            <p:nvPr/>
          </p:nvCxnSpPr>
          <p:spPr>
            <a:xfrm>
              <a:off x="6085" y="6420"/>
              <a:ext cx="0" cy="624"/>
            </a:xfrm>
            <a:prstGeom prst="line">
              <a:avLst/>
            </a:prstGeom>
            <a:ln w="19050" cap="rnd">
              <a:gradFill>
                <a:gsLst>
                  <a:gs pos="0">
                    <a:srgbClr val="B3D4FE">
                      <a:alpha val="55000"/>
                    </a:srgbClr>
                  </a:gs>
                  <a:gs pos="100000">
                    <a:srgbClr val="B3D4FE">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38" name="直接连接符 337"/>
            <p:cNvCxnSpPr/>
            <p:nvPr/>
          </p:nvCxnSpPr>
          <p:spPr>
            <a:xfrm>
              <a:off x="7105" y="6194"/>
              <a:ext cx="0" cy="624"/>
            </a:xfrm>
            <a:prstGeom prst="line">
              <a:avLst/>
            </a:prstGeom>
            <a:ln w="19050" cap="rnd">
              <a:gradFill>
                <a:gsLst>
                  <a:gs pos="0">
                    <a:srgbClr val="B3D4FE">
                      <a:alpha val="55000"/>
                    </a:srgbClr>
                  </a:gs>
                  <a:gs pos="100000">
                    <a:srgbClr val="B3D4FE">
                      <a:alpha val="0"/>
                    </a:srgbClr>
                  </a:gs>
                </a:gsLst>
                <a:lin ang="5400000" scaled="1"/>
              </a:gradFill>
            </a:ln>
          </p:spPr>
          <p:style>
            <a:lnRef idx="1">
              <a:srgbClr val="0042FF"/>
            </a:lnRef>
            <a:fillRef idx="0">
              <a:srgbClr val="0042FF"/>
            </a:fillRef>
            <a:effectRef idx="0">
              <a:srgbClr val="0042FF"/>
            </a:effectRef>
            <a:fontRef idx="minor">
              <a:srgbClr val="FFFFFF"/>
            </a:fontRef>
          </p:style>
        </p:cxnSp>
      </p:grpSp>
      <p:grpSp>
        <p:nvGrpSpPr>
          <p:cNvPr id="133" name="@显眼包PPT1"/>
          <p:cNvGrpSpPr/>
          <p:nvPr/>
        </p:nvGrpSpPr>
        <p:grpSpPr>
          <a:xfrm>
            <a:off x="355917" y="5284673"/>
            <a:ext cx="11522075" cy="474980"/>
            <a:chOff x="334962" y="5996408"/>
            <a:chExt cx="11522075" cy="474980"/>
          </a:xfrm>
        </p:grpSpPr>
        <p:sp>
          <p:nvSpPr>
            <p:cNvPr id="25" name="@显眼包PPT1-1"/>
            <p:cNvSpPr/>
            <p:nvPr/>
          </p:nvSpPr>
          <p:spPr>
            <a:xfrm>
              <a:off x="334962" y="5996408"/>
              <a:ext cx="11522075" cy="330360"/>
            </a:xfrm>
            <a:prstGeom prst="trapezoid">
              <a:avLst>
                <a:gd name="adj" fmla="val 152137"/>
              </a:avLst>
            </a:prstGeom>
            <a:gradFill flip="none" rotWithShape="1">
              <a:gsLst>
                <a:gs pos="0">
                  <a:srgbClr val="668EFF">
                    <a:alpha val="0"/>
                  </a:srgbClr>
                </a:gs>
                <a:gs pos="100000">
                  <a:srgbClr val="668EFF">
                    <a:alpha val="41000"/>
                  </a:srgbClr>
                </a:gs>
              </a:gsLst>
              <a:lin ang="5400000" scaled="1"/>
              <a:tileRect/>
            </a:gradFill>
            <a:ln>
              <a:gradFill>
                <a:gsLst>
                  <a:gs pos="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6" name="@显眼包PPT1-2"/>
            <p:cNvSpPr/>
            <p:nvPr/>
          </p:nvSpPr>
          <p:spPr>
            <a:xfrm>
              <a:off x="334962" y="6326608"/>
              <a:ext cx="11522075" cy="144780"/>
            </a:xfrm>
            <a:prstGeom prst="rect">
              <a:avLst/>
            </a:prstGeom>
            <a:gradFill flip="none" rotWithShape="1">
              <a:gsLst>
                <a:gs pos="0">
                  <a:srgbClr val="3368FF"/>
                </a:gs>
                <a:gs pos="97273">
                  <a:srgbClr val="3368FF"/>
                </a:gs>
                <a:gs pos="50000">
                  <a:srgbClr val="0042FF"/>
                </a:gs>
              </a:gsLst>
              <a:lin ang="0" scaled="1"/>
              <a:tileRect/>
            </a:gradFill>
            <a:ln>
              <a:noFill/>
            </a:ln>
            <a:effectLst>
              <a:reflection blurRad="50800" stA="41000" endPos="38000" dir="5400000" sy="-100000" algn="bl" rotWithShape="0"/>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37" name="组合 36"/>
          <p:cNvGrpSpPr/>
          <p:nvPr/>
        </p:nvGrpSpPr>
        <p:grpSpPr>
          <a:xfrm rot="0">
            <a:off x="1891665" y="4415790"/>
            <a:ext cx="952500" cy="751205"/>
            <a:chOff x="1879619" y="4432848"/>
            <a:chExt cx="952481" cy="751001"/>
          </a:xfrm>
        </p:grpSpPr>
        <p:sp>
          <p:nvSpPr>
            <p:cNvPr id="17"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36" name="椭圆 35"/>
            <p:cNvSpPr/>
            <p:nvPr>
              <p:custDataLst>
                <p:tags r:id="rId7"/>
              </p:custDataLst>
            </p:nvPr>
          </p:nvSpPr>
          <p:spPr>
            <a:xfrm flipH="1">
              <a:off x="2020774" y="4432848"/>
              <a:ext cx="670170" cy="670170"/>
            </a:xfrm>
            <a:prstGeom prst="ellipse">
              <a:avLst/>
            </a:prstGeom>
            <a:gradFill flip="none" rotWithShape="1">
              <a:gsLst>
                <a:gs pos="23000">
                  <a:srgbClr val="3368FF"/>
                </a:gs>
                <a:gs pos="100000">
                  <a:srgbClr val="B3D4FE"/>
                </a:gs>
              </a:gsLst>
              <a:path path="circle">
                <a:fillToRect l="100000" t="100000"/>
              </a:path>
              <a:tileRect r="-100000" b="-100000"/>
            </a:gra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grpSp>
      <p:grpSp>
        <p:nvGrpSpPr>
          <p:cNvPr id="21" name="组合 20"/>
          <p:cNvGrpSpPr/>
          <p:nvPr/>
        </p:nvGrpSpPr>
        <p:grpSpPr>
          <a:xfrm rot="0">
            <a:off x="3757930" y="4415790"/>
            <a:ext cx="952500" cy="751205"/>
            <a:chOff x="1879619" y="4432848"/>
            <a:chExt cx="952481" cy="751001"/>
          </a:xfrm>
        </p:grpSpPr>
        <p:sp>
          <p:nvSpPr>
            <p:cNvPr id="22"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4" name="椭圆 23"/>
            <p:cNvSpPr/>
            <p:nvPr>
              <p:custDataLst>
                <p:tags r:id="rId8"/>
              </p:custDataLst>
            </p:nvPr>
          </p:nvSpPr>
          <p:spPr>
            <a:xfrm flipH="1">
              <a:off x="2020774" y="4432848"/>
              <a:ext cx="670170" cy="670170"/>
            </a:xfrm>
            <a:prstGeom prst="ellipse">
              <a:avLst/>
            </a:prstGeom>
            <a:gradFill flip="none" rotWithShape="1">
              <a:gsLst>
                <a:gs pos="23000">
                  <a:srgbClr val="3368FF"/>
                </a:gs>
                <a:gs pos="100000">
                  <a:srgbClr val="B3D4FE"/>
                </a:gs>
              </a:gsLst>
              <a:path path="circle">
                <a:fillToRect l="100000" t="100000"/>
              </a:path>
              <a:tileRect r="-100000" b="-100000"/>
            </a:gra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grpSp>
      <p:grpSp>
        <p:nvGrpSpPr>
          <p:cNvPr id="29" name="组合 28"/>
          <p:cNvGrpSpPr/>
          <p:nvPr/>
        </p:nvGrpSpPr>
        <p:grpSpPr>
          <a:xfrm rot="0">
            <a:off x="5624195" y="4415790"/>
            <a:ext cx="952500" cy="751205"/>
            <a:chOff x="1879619" y="4432848"/>
            <a:chExt cx="952481" cy="751001"/>
          </a:xfrm>
        </p:grpSpPr>
        <p:sp>
          <p:nvSpPr>
            <p:cNvPr id="31"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32" name="椭圆 31"/>
            <p:cNvSpPr/>
            <p:nvPr>
              <p:custDataLst>
                <p:tags r:id="rId9"/>
              </p:custDataLst>
            </p:nvPr>
          </p:nvSpPr>
          <p:spPr>
            <a:xfrm flipH="1">
              <a:off x="2020774" y="4432848"/>
              <a:ext cx="670170" cy="670170"/>
            </a:xfrm>
            <a:prstGeom prst="ellipse">
              <a:avLst/>
            </a:prstGeom>
            <a:gradFill flip="none" rotWithShape="1">
              <a:gsLst>
                <a:gs pos="23000">
                  <a:srgbClr val="3368FF"/>
                </a:gs>
                <a:gs pos="100000">
                  <a:srgbClr val="B3D4FE"/>
                </a:gs>
              </a:gsLst>
              <a:path path="circle">
                <a:fillToRect l="100000" t="100000"/>
              </a:path>
              <a:tileRect r="-100000" b="-100000"/>
            </a:gra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grpSp>
      <p:grpSp>
        <p:nvGrpSpPr>
          <p:cNvPr id="34" name="组合 33"/>
          <p:cNvGrpSpPr/>
          <p:nvPr/>
        </p:nvGrpSpPr>
        <p:grpSpPr>
          <a:xfrm>
            <a:off x="7490460" y="4415790"/>
            <a:ext cx="952500" cy="750570"/>
            <a:chOff x="1856" y="7553"/>
            <a:chExt cx="1500" cy="1182"/>
          </a:xfrm>
        </p:grpSpPr>
        <p:grpSp>
          <p:nvGrpSpPr>
            <p:cNvPr id="35" name="组合 34"/>
            <p:cNvGrpSpPr/>
            <p:nvPr/>
          </p:nvGrpSpPr>
          <p:grpSpPr>
            <a:xfrm>
              <a:off x="1856" y="7553"/>
              <a:ext cx="1500" cy="1183"/>
              <a:chOff x="1879619" y="4432848"/>
              <a:chExt cx="952481" cy="751001"/>
            </a:xfrm>
          </p:grpSpPr>
          <p:sp>
            <p:nvSpPr>
              <p:cNvPr id="38"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40" name="椭圆 39"/>
              <p:cNvSpPr/>
              <p:nvPr>
                <p:custDataLst>
                  <p:tags r:id="rId10"/>
                </p:custDataLst>
              </p:nvPr>
            </p:nvSpPr>
            <p:spPr>
              <a:xfrm flipH="1">
                <a:off x="2020774" y="4432848"/>
                <a:ext cx="670170" cy="670170"/>
              </a:xfrm>
              <a:prstGeom prst="ellipse">
                <a:avLst/>
              </a:prstGeom>
              <a:gradFill flip="none" rotWithShape="1">
                <a:gsLst>
                  <a:gs pos="23000">
                    <a:srgbClr val="3368FF"/>
                  </a:gs>
                  <a:gs pos="100000">
                    <a:srgbClr val="B3D4FE"/>
                  </a:gs>
                </a:gsLst>
                <a:path path="circle">
                  <a:fillToRect l="100000" t="100000"/>
                </a:path>
                <a:tileRect r="-100000" b="-100000"/>
              </a:gra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r>
                  <a:rPr lang="en-US" altLang="zh-CN" sz="1945">
                    <a:solidFill>
                      <a:srgbClr val="383838"/>
                    </a:solidFill>
                    <a:effectLst>
                      <a:outerShdw blurRad="137160" dist="41148" dir="2699997" algn="tl">
                        <a:srgbClr val="383838">
                          <a:alpha val="40000"/>
                        </a:srgbClr>
                      </a:outerShdw>
                    </a:effectLst>
                    <a:latin typeface="微软雅黑"/>
                    <a:ea typeface="微软雅黑"/>
                    <a:cs typeface="微软雅黑"/>
                  </a:rPr>
                  <a:t> </a:t>
                </a:r>
                <a:endParaRPr lang="en-US" altLang="zh-CN"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grpSp>
        <p:pic>
          <p:nvPicPr>
            <p:cNvPr id="42" name="图形 12"/>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2233" y="7643"/>
              <a:ext cx="783" cy="783"/>
            </a:xfrm>
            <a:prstGeom prst="rect">
              <a:avLst/>
            </a:prstGeom>
          </p:spPr>
        </p:pic>
      </p:grpSp>
      <p:grpSp>
        <p:nvGrpSpPr>
          <p:cNvPr id="45" name="组合 44"/>
          <p:cNvGrpSpPr/>
          <p:nvPr/>
        </p:nvGrpSpPr>
        <p:grpSpPr>
          <a:xfrm rot="0">
            <a:off x="9356725" y="4415790"/>
            <a:ext cx="952500" cy="751205"/>
            <a:chOff x="1879619" y="4432848"/>
            <a:chExt cx="952481" cy="751001"/>
          </a:xfrm>
        </p:grpSpPr>
        <p:sp>
          <p:nvSpPr>
            <p:cNvPr id="47"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48" name="椭圆 47"/>
            <p:cNvSpPr/>
            <p:nvPr>
              <p:custDataLst>
                <p:tags r:id="rId12"/>
              </p:custDataLst>
            </p:nvPr>
          </p:nvSpPr>
          <p:spPr>
            <a:xfrm flipH="1">
              <a:off x="2020774" y="4432848"/>
              <a:ext cx="670170" cy="670170"/>
            </a:xfrm>
            <a:prstGeom prst="ellipse">
              <a:avLst/>
            </a:prstGeom>
            <a:gradFill flip="none" rotWithShape="1">
              <a:gsLst>
                <a:gs pos="23000">
                  <a:srgbClr val="3368FF"/>
                </a:gs>
                <a:gs pos="100000">
                  <a:srgbClr val="B3D4FE"/>
                </a:gs>
              </a:gsLst>
              <a:path path="circle">
                <a:fillToRect l="100000" t="100000"/>
              </a:path>
              <a:tileRect r="-100000" b="-100000"/>
            </a:gra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grpSp>
      <p:sp>
        <p:nvSpPr>
          <p:cNvPr id="2"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年度运营工作规划框架</a:t>
            </a:r>
            <a:endParaRPr lang="zh-CN" altLang="en-US" sz="2500" dirty="0">
              <a:solidFill>
                <a:srgbClr val="383838"/>
              </a:solidFill>
              <a:effectLst/>
              <a:latin typeface="微软雅黑"/>
              <a:ea typeface="微软雅黑"/>
              <a:cs typeface="微软雅黑"/>
            </a:endParaRPr>
          </a:p>
        </p:txBody>
      </p:sp>
      <p:grpSp>
        <p:nvGrpSpPr>
          <p:cNvPr id="52" name="组合 51"/>
          <p:cNvGrpSpPr/>
          <p:nvPr/>
        </p:nvGrpSpPr>
        <p:grpSpPr>
          <a:xfrm>
            <a:off x="358775" y="5847080"/>
            <a:ext cx="3505200" cy="751840"/>
            <a:chOff x="565" y="9208"/>
            <a:chExt cx="5520" cy="1184"/>
          </a:xfrm>
        </p:grpSpPr>
        <p:sp>
          <p:nvSpPr>
            <p:cNvPr id="7" name="矩形 6"/>
            <p:cNvSpPr/>
            <p:nvPr/>
          </p:nvSpPr>
          <p:spPr>
            <a:xfrm>
              <a:off x="565" y="9208"/>
              <a:ext cx="5520" cy="1184"/>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4" name="文本框 13"/>
            <p:cNvSpPr txBox="1"/>
            <p:nvPr/>
          </p:nvSpPr>
          <p:spPr>
            <a:xfrm>
              <a:off x="754" y="9824"/>
              <a:ext cx="5142" cy="507"/>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绩效与激励对齐，盈利导向，岗位能力提升</a:t>
              </a:r>
              <a:endParaRPr lang="zh-CN" sz="1200" dirty="0">
                <a:solidFill>
                  <a:srgbClr val="FFFFFF"/>
                </a:solidFill>
                <a:latin typeface="微软雅黑"/>
                <a:ea typeface="微软雅黑"/>
                <a:cs typeface="微软雅黑"/>
              </a:endParaRPr>
            </a:p>
          </p:txBody>
        </p:sp>
        <p:sp>
          <p:nvSpPr>
            <p:cNvPr id="15" name="圆角矩形 14"/>
            <p:cNvSpPr/>
            <p:nvPr/>
          </p:nvSpPr>
          <p:spPr>
            <a:xfrm>
              <a:off x="2021" y="9348"/>
              <a:ext cx="2608"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1" name="文本框 50"/>
            <p:cNvSpPr txBox="1"/>
            <p:nvPr/>
          </p:nvSpPr>
          <p:spPr>
            <a:xfrm>
              <a:off x="1454" y="9264"/>
              <a:ext cx="3743" cy="568"/>
            </a:xfrm>
            <a:prstGeom prst="rect">
              <a:avLst/>
            </a:prstGeom>
            <a:noFill/>
          </p:spPr>
          <p:txBody>
            <a:bodyPr wrap="square">
              <a:spAutoFit/>
            </a:bodyPr>
            <a:lstStyle/>
            <a:p>
              <a:pPr algn="ctr">
                <a:lnSpc>
                  <a:spcPct val="125000"/>
                </a:lnSpc>
                <a:defRPr>
                  <a:latin typeface="微软雅黑"/>
                  <a:ea typeface="微软雅黑"/>
                  <a:cs typeface="微软雅黑"/>
                </a:defRPr>
              </a:pPr>
              <a:r>
                <a:rPr lang="zh-CN" sz="1400" b="1" dirty="0">
                  <a:solidFill>
                    <a:srgbClr val="383838"/>
                  </a:solidFill>
                  <a:latin typeface="微软雅黑"/>
                  <a:ea typeface="微软雅黑"/>
                  <a:cs typeface="微软雅黑"/>
                </a:rPr>
                <a:t>组织与人才建设</a:t>
              </a:r>
              <a:endParaRPr lang="zh-CN" altLang="zh-CN" sz="1400" b="1" dirty="0">
                <a:solidFill>
                  <a:srgbClr val="383838"/>
                </a:solidFill>
                <a:latin typeface="微软雅黑"/>
                <a:ea typeface="微软雅黑"/>
                <a:cs typeface="微软雅黑"/>
              </a:endParaRPr>
            </a:p>
          </p:txBody>
        </p:sp>
      </p:grpSp>
      <p:grpSp>
        <p:nvGrpSpPr>
          <p:cNvPr id="53" name="组合 52"/>
          <p:cNvGrpSpPr/>
          <p:nvPr/>
        </p:nvGrpSpPr>
        <p:grpSpPr>
          <a:xfrm>
            <a:off x="4357370" y="5847080"/>
            <a:ext cx="3505200" cy="751840"/>
            <a:chOff x="565" y="9208"/>
            <a:chExt cx="5520" cy="1184"/>
          </a:xfrm>
        </p:grpSpPr>
        <p:sp>
          <p:nvSpPr>
            <p:cNvPr id="54" name="矩形 53"/>
            <p:cNvSpPr/>
            <p:nvPr/>
          </p:nvSpPr>
          <p:spPr>
            <a:xfrm>
              <a:off x="565" y="9208"/>
              <a:ext cx="5520" cy="1184"/>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55" name="文本框 54"/>
            <p:cNvSpPr txBox="1"/>
            <p:nvPr/>
          </p:nvSpPr>
          <p:spPr>
            <a:xfrm>
              <a:off x="754" y="9824"/>
              <a:ext cx="5142" cy="507"/>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系统整合，数据分析平台建设，自动化应用</a:t>
              </a:r>
              <a:endParaRPr lang="zh-CN" sz="1200" dirty="0">
                <a:solidFill>
                  <a:srgbClr val="FFFFFF"/>
                </a:solidFill>
                <a:latin typeface="微软雅黑"/>
                <a:ea typeface="微软雅黑"/>
                <a:cs typeface="微软雅黑"/>
              </a:endParaRPr>
            </a:p>
          </p:txBody>
        </p:sp>
        <p:sp>
          <p:nvSpPr>
            <p:cNvPr id="56" name="圆角矩形 55"/>
            <p:cNvSpPr/>
            <p:nvPr/>
          </p:nvSpPr>
          <p:spPr>
            <a:xfrm>
              <a:off x="2021" y="9348"/>
              <a:ext cx="2608"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7" name="文本框 56"/>
            <p:cNvSpPr txBox="1"/>
            <p:nvPr/>
          </p:nvSpPr>
          <p:spPr>
            <a:xfrm>
              <a:off x="1454" y="9264"/>
              <a:ext cx="3743" cy="568"/>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400" b="1" dirty="0">
                  <a:solidFill>
                    <a:srgbClr val="383838"/>
                  </a:solidFill>
                  <a:latin typeface="微软雅黑"/>
                  <a:ea typeface="微软雅黑"/>
                  <a:cs typeface="微软雅黑"/>
                </a:rPr>
                <a:t>技术与系统支持</a:t>
              </a:r>
              <a:endParaRPr lang="zh-CN" altLang="en-US" sz="1400" b="1" dirty="0">
                <a:solidFill>
                  <a:srgbClr val="383838"/>
                </a:solidFill>
                <a:latin typeface="微软雅黑"/>
                <a:ea typeface="微软雅黑"/>
                <a:cs typeface="微软雅黑"/>
              </a:endParaRPr>
            </a:p>
          </p:txBody>
        </p:sp>
      </p:grpSp>
      <p:grpSp>
        <p:nvGrpSpPr>
          <p:cNvPr id="59" name="组合 58"/>
          <p:cNvGrpSpPr/>
          <p:nvPr/>
        </p:nvGrpSpPr>
        <p:grpSpPr>
          <a:xfrm>
            <a:off x="8355965" y="5847080"/>
            <a:ext cx="3505200" cy="751840"/>
            <a:chOff x="565" y="9208"/>
            <a:chExt cx="5520" cy="1184"/>
          </a:xfrm>
        </p:grpSpPr>
        <p:sp>
          <p:nvSpPr>
            <p:cNvPr id="60" name="矩形 59"/>
            <p:cNvSpPr/>
            <p:nvPr/>
          </p:nvSpPr>
          <p:spPr>
            <a:xfrm>
              <a:off x="565" y="9208"/>
              <a:ext cx="5520" cy="1184"/>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61" name="文本框 60"/>
            <p:cNvSpPr txBox="1"/>
            <p:nvPr/>
          </p:nvSpPr>
          <p:spPr>
            <a:xfrm>
              <a:off x="665" y="9824"/>
              <a:ext cx="5384" cy="507"/>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资金流动性管理，资源动态调配，投资回报监控</a:t>
              </a:r>
              <a:endParaRPr lang="zh-CN" sz="1200" dirty="0">
                <a:solidFill>
                  <a:srgbClr val="FFFFFF"/>
                </a:solidFill>
                <a:latin typeface="微软雅黑"/>
                <a:ea typeface="微软雅黑"/>
                <a:cs typeface="微软雅黑"/>
              </a:endParaRPr>
            </a:p>
          </p:txBody>
        </p:sp>
        <p:sp>
          <p:nvSpPr>
            <p:cNvPr id="62" name="圆角矩形 61"/>
            <p:cNvSpPr/>
            <p:nvPr/>
          </p:nvSpPr>
          <p:spPr>
            <a:xfrm>
              <a:off x="2021" y="9348"/>
              <a:ext cx="2608"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63" name="文本框 62"/>
            <p:cNvSpPr txBox="1"/>
            <p:nvPr/>
          </p:nvSpPr>
          <p:spPr>
            <a:xfrm>
              <a:off x="1454" y="9264"/>
              <a:ext cx="3743" cy="568"/>
            </a:xfrm>
            <a:prstGeom prst="rect">
              <a:avLst/>
            </a:prstGeom>
            <a:noFill/>
          </p:spPr>
          <p:txBody>
            <a:bodyPr wrap="square">
              <a:spAutoFit/>
            </a:bodyPr>
            <a:lstStyle/>
            <a:p>
              <a:pPr algn="ctr">
                <a:lnSpc>
                  <a:spcPct val="125000"/>
                </a:lnSpc>
                <a:defRPr>
                  <a:latin typeface="微软雅黑"/>
                  <a:ea typeface="微软雅黑"/>
                  <a:cs typeface="微软雅黑"/>
                </a:defRPr>
              </a:pPr>
              <a:r>
                <a:rPr lang="zh-CN" sz="1400" b="1" dirty="0">
                  <a:solidFill>
                    <a:srgbClr val="383838"/>
                  </a:solidFill>
                  <a:latin typeface="微软雅黑"/>
                  <a:ea typeface="微软雅黑"/>
                  <a:cs typeface="微软雅黑"/>
                </a:rPr>
                <a:t>资金与资源保障</a:t>
              </a:r>
              <a:endParaRPr lang="zh-CN" altLang="zh-CN" sz="1400" b="1" dirty="0">
                <a:solidFill>
                  <a:srgbClr val="383838"/>
                </a:solidFill>
                <a:latin typeface="微软雅黑"/>
                <a:ea typeface="微软雅黑"/>
                <a:cs typeface="微软雅黑"/>
              </a:endParaRPr>
            </a:p>
          </p:txBody>
        </p:sp>
      </p:grpSp>
      <p:sp>
        <p:nvSpPr>
          <p:cNvPr id="64" name="文本框 63"/>
          <p:cNvSpPr txBox="1"/>
          <p:nvPr/>
        </p:nvSpPr>
        <p:spPr>
          <a:xfrm>
            <a:off x="1519555" y="5215890"/>
            <a:ext cx="1720215" cy="321945"/>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销售流程精细化</a:t>
            </a:r>
            <a:endParaRPr lang="zh-CN" altLang="en-US" sz="1200" b="1" dirty="0">
              <a:solidFill>
                <a:srgbClr val="0042FF"/>
              </a:solidFill>
              <a:latin typeface="微软雅黑"/>
              <a:ea typeface="微软雅黑"/>
              <a:cs typeface="微软雅黑"/>
            </a:endParaRPr>
          </a:p>
        </p:txBody>
      </p:sp>
      <p:sp>
        <p:nvSpPr>
          <p:cNvPr id="65" name="文本框 64"/>
          <p:cNvSpPr txBox="1"/>
          <p:nvPr/>
        </p:nvSpPr>
        <p:spPr>
          <a:xfrm>
            <a:off x="3300095" y="5215890"/>
            <a:ext cx="1720215" cy="321945"/>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项目管理标准化</a:t>
            </a:r>
            <a:endParaRPr lang="zh-CN" altLang="en-US" sz="1200" b="1" dirty="0">
              <a:solidFill>
                <a:srgbClr val="0042FF"/>
              </a:solidFill>
              <a:latin typeface="微软雅黑"/>
              <a:ea typeface="微软雅黑"/>
              <a:cs typeface="微软雅黑"/>
            </a:endParaRPr>
          </a:p>
        </p:txBody>
      </p:sp>
      <p:sp>
        <p:nvSpPr>
          <p:cNvPr id="66" name="文本框 65"/>
          <p:cNvSpPr txBox="1"/>
          <p:nvPr/>
        </p:nvSpPr>
        <p:spPr>
          <a:xfrm>
            <a:off x="5217795" y="5215890"/>
            <a:ext cx="1720215" cy="321945"/>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盈利模型迭代</a:t>
            </a:r>
            <a:endParaRPr lang="zh-CN" altLang="en-US" sz="1200" b="1" dirty="0">
              <a:solidFill>
                <a:srgbClr val="0042FF"/>
              </a:solidFill>
              <a:latin typeface="微软雅黑"/>
              <a:ea typeface="微软雅黑"/>
              <a:cs typeface="微软雅黑"/>
            </a:endParaRPr>
          </a:p>
        </p:txBody>
      </p:sp>
      <p:sp>
        <p:nvSpPr>
          <p:cNvPr id="67" name="文本框 66"/>
          <p:cNvSpPr txBox="1"/>
          <p:nvPr/>
        </p:nvSpPr>
        <p:spPr>
          <a:xfrm>
            <a:off x="7121525" y="5215890"/>
            <a:ext cx="1720215" cy="321945"/>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实时经营看板</a:t>
            </a:r>
            <a:endParaRPr lang="zh-CN" altLang="en-US" sz="1200" b="1" dirty="0">
              <a:solidFill>
                <a:srgbClr val="0042FF"/>
              </a:solidFill>
              <a:latin typeface="微软雅黑"/>
              <a:ea typeface="微软雅黑"/>
              <a:cs typeface="微软雅黑"/>
            </a:endParaRPr>
          </a:p>
        </p:txBody>
      </p:sp>
      <p:sp>
        <p:nvSpPr>
          <p:cNvPr id="69" name="文本框 68"/>
          <p:cNvSpPr txBox="1"/>
          <p:nvPr/>
        </p:nvSpPr>
        <p:spPr>
          <a:xfrm>
            <a:off x="8963660" y="5215890"/>
            <a:ext cx="1720215" cy="321945"/>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预测与预警分析</a:t>
            </a:r>
            <a:endParaRPr lang="zh-CN" altLang="en-US" sz="1200" b="1" dirty="0">
              <a:solidFill>
                <a:srgbClr val="0042FF"/>
              </a:solidFill>
              <a:latin typeface="微软雅黑"/>
              <a:ea typeface="微软雅黑"/>
              <a:cs typeface="微软雅黑"/>
            </a:endParaRPr>
          </a:p>
        </p:txBody>
      </p:sp>
      <p:sp>
        <p:nvSpPr>
          <p:cNvPr id="11" name="文本框 10"/>
          <p:cNvSpPr txBox="1"/>
          <p:nvPr/>
        </p:nvSpPr>
        <p:spPr>
          <a:xfrm>
            <a:off x="3474403" y="2565400"/>
            <a:ext cx="975360" cy="699135"/>
          </a:xfrm>
          <a:prstGeom prst="rect">
            <a:avLst/>
          </a:prstGeom>
          <a:noFill/>
        </p:spPr>
        <p:txBody>
          <a:bodyPr wrap="square" rtlCol="0" anchor="ctr" anchorCtr="0" lIns="0" rIns="0" tIns="0" bIns="0">
            <a:no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①</a:t>
            </a:r>
            <a:endParaRPr lang="zh-CN" altLang="en-US" sz="14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收入增长策略</a:t>
            </a:r>
            <a:endParaRPr lang="en-US" altLang="zh-CN" sz="1400" b="1" dirty="0">
              <a:solidFill>
                <a:srgbClr val="FFFFFF"/>
              </a:solidFill>
              <a:latin typeface="微软雅黑"/>
              <a:ea typeface="微软雅黑"/>
              <a:cs typeface="微软雅黑"/>
            </a:endParaRPr>
          </a:p>
        </p:txBody>
      </p:sp>
      <p:pic>
        <p:nvPicPr>
          <p:cNvPr id="16" name="图片 15" descr="盈利预测"/>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5925820" y="4572635"/>
            <a:ext cx="349250" cy="349250"/>
          </a:xfrm>
          <a:prstGeom prst="rect">
            <a:avLst/>
          </a:prstGeom>
        </p:spPr>
      </p:pic>
      <p:pic>
        <p:nvPicPr>
          <p:cNvPr id="23" name="图片 22" descr="icon_预警"/>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661525" y="4552315"/>
            <a:ext cx="369570" cy="369570"/>
          </a:xfrm>
          <a:prstGeom prst="rect">
            <a:avLst/>
          </a:prstGeom>
        </p:spPr>
      </p:pic>
      <p:pic>
        <p:nvPicPr>
          <p:cNvPr id="50" name="图片 49" descr="商场"/>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2188210" y="4544695"/>
            <a:ext cx="405765" cy="405765"/>
          </a:xfrm>
          <a:prstGeom prst="rect">
            <a:avLst/>
          </a:prstGeom>
        </p:spPr>
      </p:pic>
      <p:sp>
        <p:nvSpPr>
          <p:cNvPr id="28" name="文本框 27"/>
          <p:cNvSpPr txBox="1"/>
          <p:nvPr/>
        </p:nvSpPr>
        <p:spPr>
          <a:xfrm>
            <a:off x="6623050" y="1866265"/>
            <a:ext cx="1401445" cy="292735"/>
          </a:xfrm>
          <a:prstGeom prst="rect">
            <a:avLst/>
          </a:prstGeom>
          <a:noFill/>
        </p:spPr>
        <p:txBody>
          <a:bodyPr wrap="square" rtlCol="0" anchor="ctr" anchorCtr="0" lIns="0" rIns="0" tIns="0" bIns="0">
            <a:prstTxWarp prst="textArchUp">
              <a:avLst/>
            </a:prstTxWarp>
            <a:no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避免影响业务增长</a:t>
            </a:r>
            <a:endParaRPr lang="zh-CN" altLang="en-US" sz="1000" dirty="0">
              <a:solidFill>
                <a:srgbClr val="383838">
                  <a:alpha val="80000"/>
                </a:srgbClr>
              </a:solidFill>
              <a:latin typeface="微软雅黑"/>
              <a:ea typeface="微软雅黑"/>
              <a:cs typeface="微软雅黑"/>
            </a:endParaRPr>
          </a:p>
        </p:txBody>
      </p:sp>
      <p:sp>
        <p:nvSpPr>
          <p:cNvPr id="30" name="文本框 29"/>
          <p:cNvSpPr txBox="1"/>
          <p:nvPr/>
        </p:nvSpPr>
        <p:spPr>
          <a:xfrm>
            <a:off x="4222750" y="1843405"/>
            <a:ext cx="1401445" cy="292735"/>
          </a:xfrm>
          <a:prstGeom prst="rect">
            <a:avLst/>
          </a:prstGeom>
          <a:noFill/>
        </p:spPr>
        <p:txBody>
          <a:bodyPr wrap="square" rtlCol="0" anchor="ctr" anchorCtr="0" lIns="0" rIns="0" tIns="0" bIns="0">
            <a:prstTxWarp prst="textArchUp">
              <a:avLst/>
            </a:prstTxWarp>
            <a:no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驱动内部精益化提升</a:t>
            </a:r>
            <a:endParaRPr lang="zh-CN" altLang="en-US" sz="1000" dirty="0">
              <a:solidFill>
                <a:srgbClr val="383838">
                  <a:alpha val="80000"/>
                </a:srgbClr>
              </a:solidFill>
              <a:latin typeface="微软雅黑"/>
              <a:ea typeface="微软雅黑"/>
              <a:cs typeface="微软雅黑"/>
            </a:endParaRPr>
          </a:p>
        </p:txBody>
      </p:sp>
      <p:sp>
        <p:nvSpPr>
          <p:cNvPr id="33" name="文本框 32"/>
          <p:cNvSpPr txBox="1"/>
          <p:nvPr/>
        </p:nvSpPr>
        <p:spPr>
          <a:xfrm>
            <a:off x="6576695" y="3752850"/>
            <a:ext cx="1401445" cy="292735"/>
          </a:xfrm>
          <a:prstGeom prst="rect">
            <a:avLst/>
          </a:prstGeom>
          <a:noFill/>
        </p:spPr>
        <p:txBody>
          <a:bodyPr wrap="square" rtlCol="0" anchor="ctr" anchorCtr="0" lIns="0" rIns="0" tIns="0" bIns="0">
            <a:prstTxWarp prst="textArchDown">
              <a:avLst/>
            </a:prstTxWarp>
            <a:no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避免影响业务增长</a:t>
            </a:r>
            <a:endParaRPr lang="zh-CN" altLang="en-US" sz="1000" dirty="0">
              <a:solidFill>
                <a:srgbClr val="383838">
                  <a:alpha val="80000"/>
                </a:srgbClr>
              </a:solidFill>
              <a:latin typeface="微软雅黑"/>
              <a:ea typeface="微软雅黑"/>
              <a:cs typeface="微软雅黑"/>
            </a:endParaRPr>
          </a:p>
        </p:txBody>
      </p:sp>
      <p:sp>
        <p:nvSpPr>
          <p:cNvPr id="39" name="文本框 38"/>
          <p:cNvSpPr txBox="1"/>
          <p:nvPr/>
        </p:nvSpPr>
        <p:spPr>
          <a:xfrm>
            <a:off x="4222750" y="3719830"/>
            <a:ext cx="1401445" cy="292735"/>
          </a:xfrm>
          <a:prstGeom prst="rect">
            <a:avLst/>
          </a:prstGeom>
          <a:noFill/>
        </p:spPr>
        <p:txBody>
          <a:bodyPr wrap="square" rtlCol="0" anchor="ctr" anchorCtr="0" lIns="0" rIns="0" tIns="0" bIns="0">
            <a:prstTxWarp prst="textArchDown">
              <a:avLst/>
            </a:prstTxWarp>
            <a:no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持续驱动创新孵化</a:t>
            </a:r>
            <a:endParaRPr lang="zh-CN" altLang="en-US" sz="1000" dirty="0">
              <a:solidFill>
                <a:srgbClr val="383838">
                  <a:alpha val="80000"/>
                </a:srgbClr>
              </a:solidFill>
              <a:latin typeface="微软雅黑"/>
              <a:ea typeface="微软雅黑"/>
              <a:cs typeface="微软雅黑"/>
            </a:endParaRPr>
          </a:p>
        </p:txBody>
      </p:sp>
      <p:sp>
        <p:nvSpPr>
          <p:cNvPr id="148" name="显眼包PPT14-2"/>
          <p:cNvSpPr/>
          <p:nvPr/>
        </p:nvSpPr>
        <p:spPr>
          <a:xfrm rot="16200000" flipV="1">
            <a:off x="4997833" y="4243727"/>
            <a:ext cx="327707" cy="240877"/>
          </a:xfrm>
          <a:custGeom>
            <a:avLst/>
            <a:gdLst>
              <a:gd name="connsiteX0" fmla="*/ 335544 w 556593"/>
              <a:gd name="connsiteY0" fmla="*/ -84 h 464599"/>
              <a:gd name="connsiteX1" fmla="*/ 335544 w 556593"/>
              <a:gd name="connsiteY1" fmla="*/ 102172 h 464599"/>
              <a:gd name="connsiteX2" fmla="*/ -87 w 556593"/>
              <a:gd name="connsiteY2" fmla="*/ 102172 h 464599"/>
              <a:gd name="connsiteX3" fmla="*/ -87 w 556593"/>
              <a:gd name="connsiteY3" fmla="*/ 362259 h 464599"/>
              <a:gd name="connsiteX4" fmla="*/ 335544 w 556593"/>
              <a:gd name="connsiteY4" fmla="*/ 362259 h 464599"/>
              <a:gd name="connsiteX5" fmla="*/ 335544 w 556593"/>
              <a:gd name="connsiteY5" fmla="*/ 464515 h 464599"/>
              <a:gd name="connsiteX6" fmla="*/ 556506 w 556593"/>
              <a:gd name="connsiteY6" fmla="*/ 232222 h 464599"/>
              <a:gd name="connsiteX7" fmla="*/ 335544 w 556593"/>
              <a:gd name="connsiteY7" fmla="*/ -84 h 46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93" h="464599">
                <a:moveTo>
                  <a:pt x="335544" y="-84"/>
                </a:moveTo>
                <a:lnTo>
                  <a:pt x="335544" y="102172"/>
                </a:lnTo>
                <a:lnTo>
                  <a:pt x="-87" y="102172"/>
                </a:lnTo>
                <a:lnTo>
                  <a:pt x="-87" y="362259"/>
                </a:lnTo>
                <a:lnTo>
                  <a:pt x="335544" y="362259"/>
                </a:lnTo>
                <a:lnTo>
                  <a:pt x="335544" y="464515"/>
                </a:lnTo>
                <a:cubicBezTo>
                  <a:pt x="335544" y="464515"/>
                  <a:pt x="399342" y="299945"/>
                  <a:pt x="556506" y="232222"/>
                </a:cubicBezTo>
                <a:cubicBezTo>
                  <a:pt x="399314" y="164486"/>
                  <a:pt x="335544" y="-84"/>
                  <a:pt x="335544" y="-84"/>
                </a:cubicBezTo>
                <a:close/>
              </a:path>
            </a:pathLst>
          </a:custGeom>
          <a:gradFill flip="none" rotWithShape="1">
            <a:gsLst>
              <a:gs pos="0">
                <a:srgbClr val="3368FF">
                  <a:alpha val="0"/>
                </a:srgbClr>
              </a:gs>
              <a:gs pos="24000">
                <a:srgbClr val="3368FF">
                  <a:alpha val="13000"/>
                </a:srgbClr>
              </a:gs>
              <a:gs pos="100000">
                <a:srgbClr val="3368FF">
                  <a:alpha val="100000"/>
                </a:srgbClr>
              </a:gs>
            </a:gsLst>
            <a:lin ang="0" scaled="1"/>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3" name="显眼包PPT14-2"/>
          <p:cNvSpPr/>
          <p:nvPr/>
        </p:nvSpPr>
        <p:spPr>
          <a:xfrm rot="16200000" flipV="1">
            <a:off x="6837428" y="4243727"/>
            <a:ext cx="327707" cy="240877"/>
          </a:xfrm>
          <a:custGeom>
            <a:avLst/>
            <a:gdLst>
              <a:gd name="connsiteX0" fmla="*/ 335544 w 556593"/>
              <a:gd name="connsiteY0" fmla="*/ -84 h 464599"/>
              <a:gd name="connsiteX1" fmla="*/ 335544 w 556593"/>
              <a:gd name="connsiteY1" fmla="*/ 102172 h 464599"/>
              <a:gd name="connsiteX2" fmla="*/ -87 w 556593"/>
              <a:gd name="connsiteY2" fmla="*/ 102172 h 464599"/>
              <a:gd name="connsiteX3" fmla="*/ -87 w 556593"/>
              <a:gd name="connsiteY3" fmla="*/ 362259 h 464599"/>
              <a:gd name="connsiteX4" fmla="*/ 335544 w 556593"/>
              <a:gd name="connsiteY4" fmla="*/ 362259 h 464599"/>
              <a:gd name="connsiteX5" fmla="*/ 335544 w 556593"/>
              <a:gd name="connsiteY5" fmla="*/ 464515 h 464599"/>
              <a:gd name="connsiteX6" fmla="*/ 556506 w 556593"/>
              <a:gd name="connsiteY6" fmla="*/ 232222 h 464599"/>
              <a:gd name="connsiteX7" fmla="*/ 335544 w 556593"/>
              <a:gd name="connsiteY7" fmla="*/ -84 h 46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93" h="464599">
                <a:moveTo>
                  <a:pt x="335544" y="-84"/>
                </a:moveTo>
                <a:lnTo>
                  <a:pt x="335544" y="102172"/>
                </a:lnTo>
                <a:lnTo>
                  <a:pt x="-87" y="102172"/>
                </a:lnTo>
                <a:lnTo>
                  <a:pt x="-87" y="362259"/>
                </a:lnTo>
                <a:lnTo>
                  <a:pt x="335544" y="362259"/>
                </a:lnTo>
                <a:lnTo>
                  <a:pt x="335544" y="464515"/>
                </a:lnTo>
                <a:cubicBezTo>
                  <a:pt x="335544" y="464515"/>
                  <a:pt x="399342" y="299945"/>
                  <a:pt x="556506" y="232222"/>
                </a:cubicBezTo>
                <a:cubicBezTo>
                  <a:pt x="399314" y="164486"/>
                  <a:pt x="335544" y="-84"/>
                  <a:pt x="335544" y="-84"/>
                </a:cubicBezTo>
                <a:close/>
              </a:path>
            </a:pathLst>
          </a:custGeom>
          <a:gradFill flip="none" rotWithShape="1">
            <a:gsLst>
              <a:gs pos="0">
                <a:srgbClr val="3368FF">
                  <a:alpha val="0"/>
                </a:srgbClr>
              </a:gs>
              <a:gs pos="24000">
                <a:srgbClr val="3368FF">
                  <a:alpha val="13000"/>
                </a:srgbClr>
              </a:gs>
              <a:gs pos="100000">
                <a:srgbClr val="3368FF">
                  <a:alpha val="100000"/>
                </a:srgbClr>
              </a:gs>
            </a:gsLst>
            <a:lin ang="0" scaled="1"/>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pic>
        <p:nvPicPr>
          <p:cNvPr id="74" name="显眼包PPT-5"/>
          <p:cNvPicPr>
            <a:picLocks noChangeAspect="1"/>
          </p:cNvPicPr>
          <p:nvPr>
            <p:custDataLst>
              <p:tags r:id="rId19"/>
            </p:custDataLst>
          </p:nvPr>
        </p:nvPicPr>
        <p:blipFill>
          <a:blip r:embed="rId20" cstate="print">
            <a:extLst>
              <a:ext uri="{28A0092B-C50C-407E-A947-70E740481C1C}">
                <a14:useLocalDpi xmlns:a14="http://schemas.microsoft.com/office/drawing/2010/main" val="0"/>
              </a:ext>
            </a:extLst>
          </a:blip>
          <a:stretch>
            <a:fillRect/>
          </a:stretch>
        </p:blipFill>
        <p:spPr>
          <a:xfrm>
            <a:off x="5041232" y="1994848"/>
            <a:ext cx="2045335" cy="2035175"/>
          </a:xfrm>
          <a:prstGeom prst="rect">
            <a:avLst/>
          </a:prstGeom>
          <a:effectLst>
            <a:outerShdw blurRad="393700" sx="102000" sy="102000" algn="ctr" rotWithShape="0">
              <a:srgbClr val="668EFF">
                <a:alpha val="37000"/>
              </a:srgbClr>
            </a:outerShdw>
          </a:effectLst>
        </p:spPr>
      </p:pic>
      <p:pic>
        <p:nvPicPr>
          <p:cNvPr id="3" name="图片 2" descr="屋顶资源管理"/>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355600" y="186055"/>
            <a:ext cx="549910" cy="549910"/>
          </a:xfrm>
          <a:prstGeom prst="rect">
            <a:avLst/>
          </a:prstGeom>
        </p:spPr>
      </p:pic>
      <p:pic>
        <p:nvPicPr>
          <p:cNvPr id="6" name="图片 5" descr="项目管理-面性"/>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4008120" y="4528185"/>
            <a:ext cx="441960" cy="441960"/>
          </a:xfrm>
          <a:prstGeom prst="rect">
            <a:avLst/>
          </a:prstGeom>
        </p:spPr>
      </p:pic>
      <p:grpSp>
        <p:nvGrpSpPr>
          <p:cNvPr id="12" name="组合 11"/>
          <p:cNvGrpSpPr/>
          <p:nvPr/>
        </p:nvGrpSpPr>
        <p:grpSpPr>
          <a:xfrm>
            <a:off x="8738235" y="348615"/>
            <a:ext cx="3219450" cy="332740"/>
            <a:chOff x="13761" y="549"/>
            <a:chExt cx="5070" cy="524"/>
          </a:xfrm>
        </p:grpSpPr>
        <p:pic>
          <p:nvPicPr>
            <p:cNvPr id="13" name="图片 12"/>
            <p:cNvPicPr>
              <a:picLocks noChangeAspect="1"/>
            </p:cNvPicPr>
            <p:nvPr userDrawn="1"/>
          </p:nvPicPr>
          <p:blipFill>
            <a:blip r:embed="rId25"/>
            <a:srcRect l="17002" t="-1765" r="56499" b="-1176"/>
            <a:stretch>
              <a:fillRect/>
            </a:stretch>
          </p:blipFill>
          <p:spPr>
            <a:xfrm>
              <a:off x="13761" y="549"/>
              <a:ext cx="1582" cy="525"/>
            </a:xfrm>
            <a:prstGeom prst="rect">
              <a:avLst/>
            </a:prstGeom>
          </p:spPr>
        </p:pic>
        <p:sp>
          <p:nvSpPr>
            <p:cNvPr id="18" name="文本框 1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5"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0" name="图片 20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4" name="组合 3"/>
          <p:cNvGrpSpPr/>
          <p:nvPr/>
        </p:nvGrpSpPr>
        <p:grpSpPr>
          <a:xfrm>
            <a:off x="530860" y="1007110"/>
            <a:ext cx="3238500" cy="3756660"/>
            <a:chOff x="836" y="1586"/>
            <a:chExt cx="5100" cy="5916"/>
          </a:xfrm>
        </p:grpSpPr>
        <p:sp>
          <p:nvSpPr>
            <p:cNvPr id="121" name="任意多边形: 形状 12"/>
            <p:cNvSpPr/>
            <p:nvPr/>
          </p:nvSpPr>
          <p:spPr>
            <a:xfrm>
              <a:off x="836" y="1586"/>
              <a:ext cx="5100" cy="5916"/>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noFill/>
            <a:ln>
              <a:gradFill flip="none" rotWithShape="1">
                <a:gsLst>
                  <a:gs pos="100000">
                    <a:srgbClr val="3368FF"/>
                  </a:gs>
                  <a:gs pos="0">
                    <a:srgbClr val="FFFFFF">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2" name="任意多边形: 形状 13"/>
            <p:cNvSpPr/>
            <p:nvPr/>
          </p:nvSpPr>
          <p:spPr>
            <a:xfrm>
              <a:off x="1148" y="1972"/>
              <a:ext cx="4474" cy="5242"/>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gradFill>
              <a:gsLst>
                <a:gs pos="100000">
                  <a:srgbClr val="FFFFFF"/>
                </a:gs>
                <a:gs pos="0">
                  <a:srgbClr val="FFFFFF">
                    <a:alpha val="0"/>
                  </a:srgbClr>
                </a:gs>
              </a:gsLst>
              <a:lin ang="10800000" scaled="1"/>
            </a:gradFill>
            <a:ln>
              <a:gradFill flip="none" rotWithShape="1">
                <a:gsLst>
                  <a:gs pos="100000">
                    <a:srgbClr val="3368FF"/>
                  </a:gs>
                  <a:gs pos="0">
                    <a:srgbClr val="FFFFFF">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139" name="组合 138"/>
          <p:cNvGrpSpPr/>
          <p:nvPr/>
        </p:nvGrpSpPr>
        <p:grpSpPr>
          <a:xfrm flipH="1">
            <a:off x="8024495" y="1007110"/>
            <a:ext cx="3703955" cy="3756660"/>
            <a:chOff x="1251" y="2458"/>
            <a:chExt cx="4791" cy="6422"/>
          </a:xfrm>
        </p:grpSpPr>
        <p:sp>
          <p:nvSpPr>
            <p:cNvPr id="140" name="任意多边形: 形状 12"/>
            <p:cNvSpPr/>
            <p:nvPr/>
          </p:nvSpPr>
          <p:spPr>
            <a:xfrm>
              <a:off x="1251" y="2458"/>
              <a:ext cx="4791" cy="6422"/>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noFill/>
            <a:ln>
              <a:gradFill flip="none" rotWithShape="1">
                <a:gsLst>
                  <a:gs pos="100000">
                    <a:srgbClr val="3368FF"/>
                  </a:gs>
                  <a:gs pos="0">
                    <a:srgbClr val="FFFFFF">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41" name="任意多边形: 形状 13"/>
            <p:cNvSpPr/>
            <p:nvPr/>
          </p:nvSpPr>
          <p:spPr>
            <a:xfrm>
              <a:off x="1545" y="2873"/>
              <a:ext cx="4204" cy="5635"/>
            </a:xfrm>
            <a:custGeom>
              <a:avLst/>
              <a:gdLst>
                <a:gd name="connsiteX0" fmla="*/ 1538514 w 1538514"/>
                <a:gd name="connsiteY0" fmla="*/ 566057 h 2365829"/>
                <a:gd name="connsiteX1" fmla="*/ 14514 w 1538514"/>
                <a:gd name="connsiteY1" fmla="*/ 0 h 2365829"/>
                <a:gd name="connsiteX2" fmla="*/ 0 w 1538514"/>
                <a:gd name="connsiteY2" fmla="*/ 2365829 h 2365829"/>
                <a:gd name="connsiteX3" fmla="*/ 1436914 w 1538514"/>
                <a:gd name="connsiteY3" fmla="*/ 1959429 h 2365829"/>
                <a:gd name="connsiteX0-1" fmla="*/ 1538514 w 1538514"/>
                <a:gd name="connsiteY0-2" fmla="*/ 566057 h 2365829"/>
                <a:gd name="connsiteX1-3" fmla="*/ 14514 w 1538514"/>
                <a:gd name="connsiteY1-4" fmla="*/ 0 h 2365829"/>
                <a:gd name="connsiteX2-5" fmla="*/ 0 w 1538514"/>
                <a:gd name="connsiteY2-6" fmla="*/ 2365829 h 2365829"/>
                <a:gd name="connsiteX3-7" fmla="*/ 1494971 w 1538514"/>
                <a:gd name="connsiteY3-8" fmla="*/ 1959429 h 2365829"/>
                <a:gd name="connsiteX0-9" fmla="*/ 1538514 w 1538514"/>
                <a:gd name="connsiteY0-10" fmla="*/ 566057 h 2365829"/>
                <a:gd name="connsiteX1-11" fmla="*/ 14514 w 1538514"/>
                <a:gd name="connsiteY1-12" fmla="*/ 0 h 2365829"/>
                <a:gd name="connsiteX2-13" fmla="*/ 0 w 1538514"/>
                <a:gd name="connsiteY2-14" fmla="*/ 2365829 h 2365829"/>
                <a:gd name="connsiteX3-15" fmla="*/ 1494971 w 1538514"/>
                <a:gd name="connsiteY3-16" fmla="*/ 1915886 h 2365829"/>
                <a:gd name="connsiteX0-17" fmla="*/ 1538514 w 1538514"/>
                <a:gd name="connsiteY0-18" fmla="*/ 566057 h 2365829"/>
                <a:gd name="connsiteX1-19" fmla="*/ 14514 w 1538514"/>
                <a:gd name="connsiteY1-20" fmla="*/ 0 h 2365829"/>
                <a:gd name="connsiteX2-21" fmla="*/ 0 w 1538514"/>
                <a:gd name="connsiteY2-22" fmla="*/ 2365829 h 2365829"/>
                <a:gd name="connsiteX3-23" fmla="*/ 1524000 w 1538514"/>
                <a:gd name="connsiteY3-24" fmla="*/ 1857829 h 2365829"/>
                <a:gd name="connsiteX0-25" fmla="*/ 1538514 w 1567543"/>
                <a:gd name="connsiteY0-26" fmla="*/ 566057 h 2365829"/>
                <a:gd name="connsiteX1-27" fmla="*/ 14514 w 1567543"/>
                <a:gd name="connsiteY1-28" fmla="*/ 0 h 2365829"/>
                <a:gd name="connsiteX2-29" fmla="*/ 0 w 1567543"/>
                <a:gd name="connsiteY2-30" fmla="*/ 2365829 h 2365829"/>
                <a:gd name="connsiteX3-31" fmla="*/ 1567543 w 1567543"/>
                <a:gd name="connsiteY3-32" fmla="*/ 1843315 h 2365829"/>
                <a:gd name="connsiteX0-33" fmla="*/ 1538514 w 1538514"/>
                <a:gd name="connsiteY0-34" fmla="*/ 566057 h 2365829"/>
                <a:gd name="connsiteX1-35" fmla="*/ 14514 w 1538514"/>
                <a:gd name="connsiteY1-36" fmla="*/ 0 h 2365829"/>
                <a:gd name="connsiteX2-37" fmla="*/ 0 w 1538514"/>
                <a:gd name="connsiteY2-38" fmla="*/ 2365829 h 2365829"/>
                <a:gd name="connsiteX3-39" fmla="*/ 1524000 w 1538514"/>
                <a:gd name="connsiteY3-40" fmla="*/ 1872343 h 2365829"/>
              </a:gdLst>
              <a:ahLst/>
              <a:cxnLst>
                <a:cxn ang="0">
                  <a:pos x="connsiteX0-1" y="connsiteY0-2"/>
                </a:cxn>
                <a:cxn ang="0">
                  <a:pos x="connsiteX1-3" y="connsiteY1-4"/>
                </a:cxn>
                <a:cxn ang="0">
                  <a:pos x="connsiteX2-5" y="connsiteY2-6"/>
                </a:cxn>
                <a:cxn ang="0">
                  <a:pos x="connsiteX3-7" y="connsiteY3-8"/>
                </a:cxn>
              </a:cxnLst>
              <a:rect l="l" t="t" r="r" b="b"/>
              <a:pathLst>
                <a:path w="1538514" h="2365829">
                  <a:moveTo>
                    <a:pt x="1538514" y="566057"/>
                  </a:moveTo>
                  <a:lnTo>
                    <a:pt x="14514" y="0"/>
                  </a:lnTo>
                  <a:lnTo>
                    <a:pt x="0" y="2365829"/>
                  </a:lnTo>
                  <a:cubicBezTo>
                    <a:pt x="478971" y="2230362"/>
                    <a:pt x="1045029" y="2007810"/>
                    <a:pt x="1524000" y="1872343"/>
                  </a:cubicBezTo>
                </a:path>
              </a:pathLst>
            </a:custGeom>
            <a:gradFill>
              <a:gsLst>
                <a:gs pos="100000">
                  <a:srgbClr val="FFFFFF"/>
                </a:gs>
                <a:gs pos="0">
                  <a:srgbClr val="FFFFFF">
                    <a:alpha val="0"/>
                  </a:srgbClr>
                </a:gs>
              </a:gsLst>
              <a:lin ang="10800000" scaled="1"/>
            </a:gradFill>
            <a:ln>
              <a:gradFill flip="none" rotWithShape="1">
                <a:gsLst>
                  <a:gs pos="100000">
                    <a:srgbClr val="3368FF"/>
                  </a:gs>
                  <a:gs pos="0">
                    <a:srgbClr val="FFFFFF">
                      <a:alpha val="0"/>
                    </a:srgbClr>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158" name="组合 157"/>
          <p:cNvGrpSpPr/>
          <p:nvPr/>
        </p:nvGrpSpPr>
        <p:grpSpPr>
          <a:xfrm rot="0">
            <a:off x="991870" y="1800860"/>
            <a:ext cx="1675765" cy="246380"/>
            <a:chOff x="1727" y="3355"/>
            <a:chExt cx="2639" cy="388"/>
          </a:xfrm>
        </p:grpSpPr>
        <p:sp>
          <p:nvSpPr>
            <p:cNvPr id="156" name="矩形: 圆角 460"/>
            <p:cNvSpPr/>
            <p:nvPr>
              <p:custDataLst>
                <p:tags r:id="rId3"/>
              </p:custDataLst>
            </p:nvPr>
          </p:nvSpPr>
          <p:spPr>
            <a:xfrm>
              <a:off x="1727" y="3361"/>
              <a:ext cx="2639" cy="375"/>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57" name="文本框 156"/>
            <p:cNvSpPr txBox="1"/>
            <p:nvPr/>
          </p:nvSpPr>
          <p:spPr>
            <a:xfrm>
              <a:off x="1928" y="3355"/>
              <a:ext cx="2235" cy="388"/>
            </a:xfrm>
            <a:prstGeom prst="rect">
              <a:avLst/>
            </a:prstGeom>
            <a:noFill/>
            <a:effectLst/>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产品与服务创新</a:t>
              </a:r>
              <a:endParaRPr lang="zh-CN" altLang="en-US" sz="1000" b="1" dirty="0">
                <a:solidFill>
                  <a:srgbClr val="383838"/>
                </a:solidFill>
                <a:latin typeface="微软雅黑"/>
                <a:ea typeface="微软雅黑"/>
                <a:cs typeface="微软雅黑"/>
              </a:endParaRPr>
            </a:p>
          </p:txBody>
        </p:sp>
      </p:grpSp>
      <p:sp>
        <p:nvSpPr>
          <p:cNvPr id="159" name="文本框 158"/>
          <p:cNvSpPr txBox="1"/>
          <p:nvPr/>
        </p:nvSpPr>
        <p:spPr>
          <a:xfrm>
            <a:off x="991870" y="2089150"/>
            <a:ext cx="2433955"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构建持续的价值驱动力。以市场需求为导向的创新孵化，构建分层化产品矩阵，精益落地与快速迭代。</a:t>
            </a:r>
            <a:endParaRPr lang="zh-CN" altLang="en-US" sz="1000" dirty="0">
              <a:solidFill>
                <a:srgbClr val="383838"/>
              </a:solidFill>
              <a:latin typeface="微软雅黑"/>
              <a:ea typeface="微软雅黑"/>
              <a:cs typeface="微软雅黑"/>
            </a:endParaRPr>
          </a:p>
        </p:txBody>
      </p:sp>
      <p:sp>
        <p:nvSpPr>
          <p:cNvPr id="163" name="文本框 162"/>
          <p:cNvSpPr txBox="1"/>
          <p:nvPr/>
        </p:nvSpPr>
        <p:spPr>
          <a:xfrm>
            <a:off x="991870" y="2855219"/>
            <a:ext cx="2352040"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实现收入最大化。建立价值导向的定价基础，实施数据驱动的动态定价机制，差异化营销。</a:t>
            </a:r>
            <a:endParaRPr lang="zh-CN" altLang="en-US" sz="1000" dirty="0">
              <a:solidFill>
                <a:srgbClr val="383838"/>
              </a:solidFill>
              <a:latin typeface="微软雅黑"/>
              <a:ea typeface="微软雅黑"/>
              <a:cs typeface="微软雅黑"/>
            </a:endParaRPr>
          </a:p>
        </p:txBody>
      </p:sp>
      <p:grpSp>
        <p:nvGrpSpPr>
          <p:cNvPr id="278" name="组合 277"/>
          <p:cNvGrpSpPr/>
          <p:nvPr/>
        </p:nvGrpSpPr>
        <p:grpSpPr>
          <a:xfrm>
            <a:off x="991870" y="2606675"/>
            <a:ext cx="1675765" cy="246380"/>
            <a:chOff x="1772" y="4266"/>
            <a:chExt cx="2639" cy="388"/>
          </a:xfrm>
        </p:grpSpPr>
        <p:sp>
          <p:nvSpPr>
            <p:cNvPr id="161" name="矩形: 圆角 460"/>
            <p:cNvSpPr/>
            <p:nvPr>
              <p:custDataLst>
                <p:tags r:id="rId4"/>
              </p:custDataLst>
            </p:nvPr>
          </p:nvSpPr>
          <p:spPr>
            <a:xfrm>
              <a:off x="1772" y="4272"/>
              <a:ext cx="2639" cy="375"/>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68" name="文本框 167"/>
            <p:cNvSpPr txBox="1"/>
            <p:nvPr/>
          </p:nvSpPr>
          <p:spPr>
            <a:xfrm>
              <a:off x="1850" y="4266"/>
              <a:ext cx="2444" cy="388"/>
            </a:xfrm>
            <a:prstGeom prst="rect">
              <a:avLst/>
            </a:prstGeom>
            <a:noFill/>
            <a:effectLst/>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定价策略动态调整</a:t>
              </a:r>
              <a:endParaRPr lang="zh-CN" altLang="en-US" sz="1000" b="1" dirty="0">
                <a:solidFill>
                  <a:srgbClr val="383838"/>
                </a:solidFill>
                <a:latin typeface="微软雅黑"/>
                <a:ea typeface="微软雅黑"/>
                <a:cs typeface="微软雅黑"/>
              </a:endParaRPr>
            </a:p>
          </p:txBody>
        </p:sp>
      </p:grpSp>
      <p:sp>
        <p:nvSpPr>
          <p:cNvPr id="167" name="文本框 166"/>
          <p:cNvSpPr txBox="1"/>
          <p:nvPr/>
        </p:nvSpPr>
        <p:spPr>
          <a:xfrm>
            <a:off x="991870" y="3646805"/>
            <a:ext cx="2273935"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最大化客户生命周期价值。识别与分级高价值客户，提供超预期的专属服务，驱动增换购。</a:t>
            </a:r>
            <a:endParaRPr lang="zh-CN" altLang="en-US" sz="1000" dirty="0">
              <a:solidFill>
                <a:srgbClr val="383838"/>
              </a:solidFill>
              <a:latin typeface="微软雅黑"/>
              <a:ea typeface="微软雅黑"/>
              <a:cs typeface="微软雅黑"/>
            </a:endParaRPr>
          </a:p>
        </p:txBody>
      </p:sp>
      <p:grpSp>
        <p:nvGrpSpPr>
          <p:cNvPr id="279" name="组合 278"/>
          <p:cNvGrpSpPr/>
          <p:nvPr/>
        </p:nvGrpSpPr>
        <p:grpSpPr>
          <a:xfrm>
            <a:off x="991870" y="3355340"/>
            <a:ext cx="1675765" cy="250190"/>
            <a:chOff x="1649" y="5457"/>
            <a:chExt cx="2639" cy="394"/>
          </a:xfrm>
        </p:grpSpPr>
        <p:sp>
          <p:nvSpPr>
            <p:cNvPr id="165" name="矩形: 圆角 460"/>
            <p:cNvSpPr/>
            <p:nvPr>
              <p:custDataLst>
                <p:tags r:id="rId5"/>
              </p:custDataLst>
            </p:nvPr>
          </p:nvSpPr>
          <p:spPr>
            <a:xfrm>
              <a:off x="1649" y="5457"/>
              <a:ext cx="2639" cy="375"/>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69" name="文本框 168"/>
            <p:cNvSpPr txBox="1"/>
            <p:nvPr/>
          </p:nvSpPr>
          <p:spPr>
            <a:xfrm>
              <a:off x="1807" y="5463"/>
              <a:ext cx="2365" cy="388"/>
            </a:xfrm>
            <a:prstGeom prst="rect">
              <a:avLst/>
            </a:prstGeom>
            <a:noFill/>
            <a:effectLst/>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高价值客户深耕</a:t>
              </a:r>
              <a:endParaRPr lang="zh-CN" altLang="en-US" sz="1000" b="1" dirty="0">
                <a:solidFill>
                  <a:srgbClr val="383838"/>
                </a:solidFill>
                <a:latin typeface="微软雅黑"/>
                <a:ea typeface="微软雅黑"/>
                <a:cs typeface="微软雅黑"/>
              </a:endParaRPr>
            </a:p>
          </p:txBody>
        </p:sp>
      </p:grpSp>
      <p:grpSp>
        <p:nvGrpSpPr>
          <p:cNvPr id="181" name="组合 180"/>
          <p:cNvGrpSpPr/>
          <p:nvPr/>
        </p:nvGrpSpPr>
        <p:grpSpPr>
          <a:xfrm>
            <a:off x="9008110" y="1800860"/>
            <a:ext cx="1675765" cy="246380"/>
            <a:chOff x="1727" y="3355"/>
            <a:chExt cx="2639" cy="388"/>
          </a:xfrm>
          <a:scene3d>
            <a:camera prst="perspectiveFront"/>
            <a:lightRig rig="threePt" dir="t"/>
          </a:scene3d>
        </p:grpSpPr>
        <p:sp>
          <p:nvSpPr>
            <p:cNvPr id="182" name="矩形: 圆角 460"/>
            <p:cNvSpPr/>
            <p:nvPr>
              <p:custDataLst>
                <p:tags r:id="rId6"/>
              </p:custDataLst>
            </p:nvPr>
          </p:nvSpPr>
          <p:spPr>
            <a:xfrm>
              <a:off x="1727" y="3361"/>
              <a:ext cx="2639" cy="375"/>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83" name="文本框 182"/>
            <p:cNvSpPr txBox="1"/>
            <p:nvPr/>
          </p:nvSpPr>
          <p:spPr>
            <a:xfrm>
              <a:off x="1928" y="3355"/>
              <a:ext cx="2235" cy="388"/>
            </a:xfrm>
            <a:prstGeom prst="rect">
              <a:avLst/>
            </a:prstGeom>
            <a:noFill/>
            <a:effectLst/>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运营效率提升</a:t>
              </a:r>
              <a:endParaRPr lang="zh-CN" altLang="en-US" sz="1000" b="1" dirty="0">
                <a:solidFill>
                  <a:srgbClr val="383838"/>
                </a:solidFill>
                <a:latin typeface="微软雅黑"/>
                <a:ea typeface="微软雅黑"/>
                <a:cs typeface="微软雅黑"/>
              </a:endParaRPr>
            </a:p>
          </p:txBody>
        </p:sp>
      </p:grpSp>
      <p:sp>
        <p:nvSpPr>
          <p:cNvPr id="184" name="文本框 183"/>
          <p:cNvSpPr txBox="1"/>
          <p:nvPr/>
        </p:nvSpPr>
        <p:spPr>
          <a:xfrm>
            <a:off x="8841994" y="2089150"/>
            <a:ext cx="2377107"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消除内部浪费，释放资源价值。流程精益化与自动化，资产与资源效能最大化，效能革命。</a:t>
            </a:r>
            <a:endParaRPr lang="zh-CN" altLang="en-US" sz="1000" dirty="0">
              <a:solidFill>
                <a:srgbClr val="383838"/>
              </a:solidFill>
              <a:latin typeface="微软雅黑"/>
              <a:ea typeface="微软雅黑"/>
              <a:cs typeface="微软雅黑"/>
            </a:endParaRPr>
          </a:p>
        </p:txBody>
      </p:sp>
      <p:sp>
        <p:nvSpPr>
          <p:cNvPr id="186" name="文本框 185"/>
          <p:cNvSpPr txBox="1"/>
          <p:nvPr/>
        </p:nvSpPr>
        <p:spPr>
          <a:xfrm>
            <a:off x="8920099" y="2855219"/>
            <a:ext cx="2377107"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协同外部网络，降低总拥有成本。采购成本优化，库存与物流精细化，供应链协同与韧性建设。</a:t>
            </a:r>
            <a:endParaRPr lang="zh-CN" altLang="en-US" sz="1000" dirty="0">
              <a:solidFill>
                <a:srgbClr val="383838"/>
              </a:solidFill>
              <a:latin typeface="微软雅黑"/>
              <a:ea typeface="微软雅黑"/>
              <a:cs typeface="微软雅黑"/>
            </a:endParaRPr>
          </a:p>
        </p:txBody>
      </p:sp>
      <p:sp>
        <p:nvSpPr>
          <p:cNvPr id="188" name="文本框 187"/>
          <p:cNvSpPr txBox="1"/>
          <p:nvPr/>
        </p:nvSpPr>
        <p:spPr>
          <a:xfrm>
            <a:off x="8958199" y="3646805"/>
            <a:ext cx="2377107" cy="45593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技术驱动效率，固化成本优势。核心业务系统</a:t>
            </a:r>
            <a:r>
              <a:rPr lang="en-US" altLang="zh-CN" sz="1000" dirty="0">
                <a:solidFill>
                  <a:srgbClr val="383838"/>
                </a:solidFill>
                <a:latin typeface="微软雅黑"/>
                <a:ea typeface="微软雅黑"/>
                <a:cs typeface="微软雅黑"/>
              </a:rPr>
              <a:t>SaaS</a:t>
            </a:r>
            <a:r>
              <a:rPr lang="zh-CN" altLang="en-US" sz="1000" dirty="0">
                <a:solidFill>
                  <a:srgbClr val="383838"/>
                </a:solidFill>
                <a:latin typeface="微软雅黑"/>
                <a:ea typeface="微软雅黑"/>
                <a:cs typeface="微软雅黑"/>
              </a:rPr>
              <a:t>化，数据智能驱动决策优化，数字化赋能。</a:t>
            </a:r>
            <a:endParaRPr lang="zh-CN" altLang="en-US" sz="1000" dirty="0">
              <a:solidFill>
                <a:srgbClr val="383838"/>
              </a:solidFill>
              <a:latin typeface="微软雅黑"/>
              <a:ea typeface="微软雅黑"/>
              <a:cs typeface="微软雅黑"/>
            </a:endParaRPr>
          </a:p>
        </p:txBody>
      </p:sp>
      <p:grpSp>
        <p:nvGrpSpPr>
          <p:cNvPr id="9" name="组合 8"/>
          <p:cNvGrpSpPr/>
          <p:nvPr/>
        </p:nvGrpSpPr>
        <p:grpSpPr>
          <a:xfrm>
            <a:off x="9008110" y="2606675"/>
            <a:ext cx="1675765" cy="246380"/>
            <a:chOff x="14648" y="4197"/>
            <a:chExt cx="2639" cy="388"/>
          </a:xfrm>
        </p:grpSpPr>
        <p:sp>
          <p:nvSpPr>
            <p:cNvPr id="185" name="矩形: 圆角 460"/>
            <p:cNvSpPr/>
            <p:nvPr>
              <p:custDataLst>
                <p:tags r:id="rId7"/>
              </p:custDataLst>
            </p:nvPr>
          </p:nvSpPr>
          <p:spPr>
            <a:xfrm>
              <a:off x="14648" y="4203"/>
              <a:ext cx="2639" cy="375"/>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a:scene3d>
              <a:camera prst="orthographicFront">
                <a:rot lat="0" lon="0" rev="0"/>
              </a:camera>
              <a:lightRig rig="threePt" dir="t"/>
            </a:scene3d>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89" name="文本框 188"/>
            <p:cNvSpPr txBox="1"/>
            <p:nvPr/>
          </p:nvSpPr>
          <p:spPr>
            <a:xfrm>
              <a:off x="14917" y="4197"/>
              <a:ext cx="2227" cy="388"/>
            </a:xfrm>
            <a:prstGeom prst="rect">
              <a:avLst/>
            </a:prstGeom>
            <a:noFill/>
            <a:effectLst/>
            <a:scene3d>
              <a:camera prst="orthographicFront">
                <a:rot lat="0" lon="0" rev="0"/>
              </a:camera>
              <a:lightRig rig="threePt" dir="t"/>
            </a:scene3d>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供应链优化</a:t>
              </a:r>
              <a:endParaRPr lang="zh-CN" altLang="en-US" sz="1000" b="1" dirty="0">
                <a:solidFill>
                  <a:srgbClr val="383838"/>
                </a:solidFill>
                <a:latin typeface="微软雅黑"/>
                <a:ea typeface="微软雅黑"/>
                <a:cs typeface="微软雅黑"/>
              </a:endParaRPr>
            </a:p>
          </p:txBody>
        </p:sp>
      </p:grpSp>
      <p:grpSp>
        <p:nvGrpSpPr>
          <p:cNvPr id="10" name="组合 9"/>
          <p:cNvGrpSpPr/>
          <p:nvPr/>
        </p:nvGrpSpPr>
        <p:grpSpPr>
          <a:xfrm>
            <a:off x="9008110" y="3355340"/>
            <a:ext cx="1675765" cy="246380"/>
            <a:chOff x="14708" y="5671"/>
            <a:chExt cx="2639" cy="388"/>
          </a:xfrm>
        </p:grpSpPr>
        <p:sp>
          <p:nvSpPr>
            <p:cNvPr id="187" name="矩形: 圆角 460"/>
            <p:cNvSpPr/>
            <p:nvPr>
              <p:custDataLst>
                <p:tags r:id="rId8"/>
              </p:custDataLst>
            </p:nvPr>
          </p:nvSpPr>
          <p:spPr>
            <a:xfrm>
              <a:off x="14708" y="5677"/>
              <a:ext cx="2639" cy="375"/>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a:scene3d>
              <a:camera prst="orthographicFront">
                <a:rot lat="0" lon="0" rev="0"/>
              </a:camera>
              <a:lightRig rig="threePt" dir="t"/>
            </a:scene3d>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90" name="文本框 189"/>
            <p:cNvSpPr txBox="1"/>
            <p:nvPr/>
          </p:nvSpPr>
          <p:spPr>
            <a:xfrm>
              <a:off x="14869" y="5671"/>
              <a:ext cx="2331" cy="388"/>
            </a:xfrm>
            <a:prstGeom prst="rect">
              <a:avLst/>
            </a:prstGeom>
            <a:noFill/>
            <a:effectLst/>
            <a:scene3d>
              <a:camera prst="orthographicFront">
                <a:rot lat="0" lon="0" rev="0"/>
              </a:camera>
              <a:lightRig rig="threePt" dir="t"/>
            </a:scene3d>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数字化转型降本</a:t>
              </a:r>
              <a:endParaRPr lang="zh-CN" altLang="en-US" sz="1000" b="1" dirty="0">
                <a:solidFill>
                  <a:srgbClr val="383838"/>
                </a:solidFill>
                <a:latin typeface="微软雅黑"/>
                <a:ea typeface="微软雅黑"/>
                <a:cs typeface="微软雅黑"/>
              </a:endParaRPr>
            </a:p>
          </p:txBody>
        </p:sp>
      </p:grpSp>
      <p:sp>
        <p:nvSpPr>
          <p:cNvPr id="191" name="椭圆 190"/>
          <p:cNvSpPr/>
          <p:nvPr/>
        </p:nvSpPr>
        <p:spPr>
          <a:xfrm>
            <a:off x="6345202" y="2062294"/>
            <a:ext cx="1765926" cy="1765926"/>
          </a:xfrm>
          <a:prstGeom prst="ellipse">
            <a:avLst/>
          </a:prstGeom>
          <a:noFill/>
          <a:ln>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92" name="椭圆 191"/>
          <p:cNvSpPr/>
          <p:nvPr/>
        </p:nvSpPr>
        <p:spPr>
          <a:xfrm>
            <a:off x="4080522" y="2062294"/>
            <a:ext cx="1765926" cy="1765926"/>
          </a:xfrm>
          <a:prstGeom prst="ellipse">
            <a:avLst/>
          </a:prstGeom>
          <a:noFill/>
          <a:ln>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93" name="椭圆 192"/>
          <p:cNvSpPr/>
          <p:nvPr/>
        </p:nvSpPr>
        <p:spPr>
          <a:xfrm>
            <a:off x="5133239" y="2069711"/>
            <a:ext cx="1868940" cy="1868940"/>
          </a:xfrm>
          <a:prstGeom prst="ellipse">
            <a:avLst/>
          </a:prstGeom>
          <a:gradFill flip="none" rotWithShape="1">
            <a:gsLst>
              <a:gs pos="23000">
                <a:srgbClr val="0042FF"/>
              </a:gs>
              <a:gs pos="100000">
                <a:srgbClr val="3368FF"/>
              </a:gs>
            </a:gsLst>
            <a:path path="circle">
              <a:fillToRect l="100000" t="100000"/>
            </a:path>
            <a:tileRect r="-100000" b="-100000"/>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94" name="椭圆 193"/>
          <p:cNvSpPr/>
          <p:nvPr/>
        </p:nvSpPr>
        <p:spPr>
          <a:xfrm>
            <a:off x="3441700" y="2394585"/>
            <a:ext cx="1040765" cy="1040765"/>
          </a:xfrm>
          <a:prstGeom prst="ellipse">
            <a:avLst/>
          </a:prstGeom>
          <a:gradFill flip="none" rotWithShape="1">
            <a:gsLst>
              <a:gs pos="0">
                <a:srgbClr val="3368FF"/>
              </a:gs>
              <a:gs pos="100000">
                <a:srgbClr val="B3D4FE"/>
              </a:gs>
            </a:gsLst>
            <a:lin ang="0"/>
          </a:gra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99" name="任意多边形: 形状 15"/>
          <p:cNvSpPr/>
          <p:nvPr/>
        </p:nvSpPr>
        <p:spPr>
          <a:xfrm rot="16200000">
            <a:off x="7201235" y="3759653"/>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00" name="任意多边形: 形状 18"/>
          <p:cNvSpPr/>
          <p:nvPr/>
        </p:nvSpPr>
        <p:spPr>
          <a:xfrm rot="5400000">
            <a:off x="7192208" y="1997776"/>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01" name="任意多边形: 形状 22"/>
          <p:cNvSpPr/>
          <p:nvPr/>
        </p:nvSpPr>
        <p:spPr>
          <a:xfrm rot="5400000">
            <a:off x="4887723" y="3742611"/>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02" name="任意多边形: 形状 23"/>
          <p:cNvSpPr/>
          <p:nvPr/>
        </p:nvSpPr>
        <p:spPr>
          <a:xfrm rot="16200000">
            <a:off x="4887723" y="2020757"/>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DCDCDC"/>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88" name="任意多边形: 形状 487"/>
          <p:cNvSpPr/>
          <p:nvPr/>
        </p:nvSpPr>
        <p:spPr>
          <a:xfrm>
            <a:off x="5399405" y="1277620"/>
            <a:ext cx="1367155" cy="129349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0042FF">
                  <a:alpha val="0"/>
                </a:srgbClr>
              </a:gs>
              <a:gs pos="46000">
                <a:srgbClr val="0042FF">
                  <a:alpha val="13000"/>
                </a:srgbClr>
              </a:gs>
              <a:gs pos="100000">
                <a:srgbClr val="0042FF">
                  <a:alpha val="44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109" name="组合 108"/>
          <p:cNvGrpSpPr/>
          <p:nvPr/>
        </p:nvGrpSpPr>
        <p:grpSpPr>
          <a:xfrm>
            <a:off x="7528560" y="2394585"/>
            <a:ext cx="1040130" cy="1040130"/>
            <a:chOff x="11856" y="3884"/>
            <a:chExt cx="1638" cy="1638"/>
          </a:xfrm>
        </p:grpSpPr>
        <p:sp>
          <p:nvSpPr>
            <p:cNvPr id="195" name="椭圆 194"/>
            <p:cNvSpPr/>
            <p:nvPr/>
          </p:nvSpPr>
          <p:spPr>
            <a:xfrm>
              <a:off x="11856" y="3884"/>
              <a:ext cx="1639" cy="1639"/>
            </a:xfrm>
            <a:prstGeom prst="ellipse">
              <a:avLst/>
            </a:prstGeom>
            <a:gradFill flip="none" rotWithShape="1">
              <a:gsLst>
                <a:gs pos="0">
                  <a:srgbClr val="3368FF"/>
                </a:gs>
                <a:gs pos="100000">
                  <a:srgbClr val="B3D4FE"/>
                </a:gs>
              </a:gsLst>
              <a:lin ang="0"/>
            </a:gra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8" name="文本框 7"/>
            <p:cNvSpPr txBox="1"/>
            <p:nvPr/>
          </p:nvSpPr>
          <p:spPr>
            <a:xfrm>
              <a:off x="11948" y="4153"/>
              <a:ext cx="1536" cy="1101"/>
            </a:xfrm>
            <a:prstGeom prst="rect">
              <a:avLst/>
            </a:prstGeom>
            <a:noFill/>
          </p:spPr>
          <p:txBody>
            <a:bodyPr wrap="square" rtlCol="0" anchor="ctr" anchorCtr="0" lIns="0" rIns="0" tIns="0" bIns="0">
              <a:noAutofit/>
            </a:bodyPr>
            <a:lstStyle>
              <a:defPPr>
                <a:defRPr lang="zh-CN">
                  <a:latin typeface="微软雅黑"/>
                  <a:ea typeface="微软雅黑"/>
                  <a:cs typeface="微软雅黑"/>
                </a:defRPr>
              </a:defPPr>
              <a:lvl1pPr>
                <a:defRPr>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sz="2000" b="1" dirty="0">
                  <a:solidFill>
                    <a:srgbClr val="383838"/>
                  </a:solidFill>
                  <a:latin typeface="微软雅黑"/>
                  <a:ea typeface="微软雅黑"/>
                  <a:cs typeface="微软雅黑"/>
                </a:rPr>
                <a:t>②</a:t>
              </a:r>
              <a:endParaRPr lang="zh-CN" altLang="en-US" sz="14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rPr>
                <a:t>成本控制策略</a:t>
              </a:r>
              <a:endParaRPr lang="en-US" altLang="zh-CN" sz="1400" b="1" dirty="0">
                <a:solidFill>
                  <a:srgbClr val="383838"/>
                </a:solidFill>
                <a:latin typeface="微软雅黑"/>
                <a:ea typeface="微软雅黑"/>
                <a:cs typeface="微软雅黑"/>
              </a:endParaRPr>
            </a:p>
          </p:txBody>
        </p:sp>
      </p:grpSp>
      <p:sp>
        <p:nvSpPr>
          <p:cNvPr id="106" name="文本框 105"/>
          <p:cNvSpPr txBox="1"/>
          <p:nvPr/>
        </p:nvSpPr>
        <p:spPr>
          <a:xfrm>
            <a:off x="5234940" y="2588260"/>
            <a:ext cx="1656080" cy="922020"/>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实现可持续、高质量盈利</a:t>
            </a:r>
            <a:endParaRPr lang="zh-CN" altLang="en-US"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的目标</a:t>
            </a:r>
            <a:endParaRPr lang="zh-CN" altLang="en-US" sz="1600" dirty="0">
              <a:solidFill>
                <a:srgbClr val="FFFFFF"/>
              </a:solidFill>
              <a:latin typeface="微软雅黑"/>
              <a:ea typeface="微软雅黑"/>
              <a:cs typeface="微软雅黑"/>
            </a:endParaRPr>
          </a:p>
        </p:txBody>
      </p:sp>
      <p:grpSp>
        <p:nvGrpSpPr>
          <p:cNvPr id="334" name="组合 333"/>
          <p:cNvGrpSpPr/>
          <p:nvPr/>
        </p:nvGrpSpPr>
        <p:grpSpPr>
          <a:xfrm>
            <a:off x="3194050" y="3933190"/>
            <a:ext cx="1317625" cy="757555"/>
            <a:chOff x="5030" y="6194"/>
            <a:chExt cx="2075" cy="1193"/>
          </a:xfrm>
        </p:grpSpPr>
        <p:cxnSp>
          <p:nvCxnSpPr>
            <p:cNvPr id="244" name="直接连接符 243"/>
            <p:cNvCxnSpPr/>
            <p:nvPr/>
          </p:nvCxnSpPr>
          <p:spPr>
            <a:xfrm>
              <a:off x="5030" y="6763"/>
              <a:ext cx="0" cy="624"/>
            </a:xfrm>
            <a:prstGeom prst="line">
              <a:avLst/>
            </a:prstGeom>
            <a:ln w="19050" cap="rnd">
              <a:gradFill>
                <a:gsLst>
                  <a:gs pos="0">
                    <a:srgbClr val="3368FF">
                      <a:alpha val="55000"/>
                    </a:srgbClr>
                  </a:gs>
                  <a:gs pos="100000">
                    <a:srgbClr val="3368FF">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28" name="直接连接符 327"/>
            <p:cNvCxnSpPr/>
            <p:nvPr/>
          </p:nvCxnSpPr>
          <p:spPr>
            <a:xfrm>
              <a:off x="6085" y="6420"/>
              <a:ext cx="0" cy="624"/>
            </a:xfrm>
            <a:prstGeom prst="line">
              <a:avLst/>
            </a:prstGeom>
            <a:ln w="19050" cap="rnd">
              <a:gradFill>
                <a:gsLst>
                  <a:gs pos="0">
                    <a:srgbClr val="3368FF">
                      <a:alpha val="55000"/>
                    </a:srgbClr>
                  </a:gs>
                  <a:gs pos="100000">
                    <a:srgbClr val="3368FF">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33" name="直接连接符 332"/>
            <p:cNvCxnSpPr/>
            <p:nvPr/>
          </p:nvCxnSpPr>
          <p:spPr>
            <a:xfrm>
              <a:off x="7105" y="6194"/>
              <a:ext cx="0" cy="624"/>
            </a:xfrm>
            <a:prstGeom prst="line">
              <a:avLst/>
            </a:prstGeom>
            <a:ln w="19050" cap="rnd">
              <a:gradFill>
                <a:gsLst>
                  <a:gs pos="0">
                    <a:srgbClr val="3368FF">
                      <a:alpha val="55000"/>
                    </a:srgbClr>
                  </a:gs>
                  <a:gs pos="100000">
                    <a:srgbClr val="3368FF">
                      <a:alpha val="0"/>
                    </a:srgbClr>
                  </a:gs>
                </a:gsLst>
                <a:lin ang="5400000" scaled="1"/>
              </a:gradFill>
            </a:ln>
          </p:spPr>
          <p:style>
            <a:lnRef idx="1">
              <a:srgbClr val="0042FF"/>
            </a:lnRef>
            <a:fillRef idx="0">
              <a:srgbClr val="0042FF"/>
            </a:fillRef>
            <a:effectRef idx="0">
              <a:srgbClr val="0042FF"/>
            </a:effectRef>
            <a:fontRef idx="minor">
              <a:srgbClr val="FFFFFF"/>
            </a:fontRef>
          </p:style>
        </p:cxnSp>
      </p:grpSp>
      <p:grpSp>
        <p:nvGrpSpPr>
          <p:cNvPr id="335" name="组合 334"/>
          <p:cNvGrpSpPr/>
          <p:nvPr/>
        </p:nvGrpSpPr>
        <p:grpSpPr>
          <a:xfrm flipH="1">
            <a:off x="7896225" y="4004945"/>
            <a:ext cx="1317625" cy="757555"/>
            <a:chOff x="5030" y="6194"/>
            <a:chExt cx="2075" cy="1193"/>
          </a:xfrm>
        </p:grpSpPr>
        <p:cxnSp>
          <p:nvCxnSpPr>
            <p:cNvPr id="336" name="直接连接符 335"/>
            <p:cNvCxnSpPr/>
            <p:nvPr/>
          </p:nvCxnSpPr>
          <p:spPr>
            <a:xfrm>
              <a:off x="5030" y="6763"/>
              <a:ext cx="0" cy="624"/>
            </a:xfrm>
            <a:prstGeom prst="line">
              <a:avLst/>
            </a:prstGeom>
            <a:ln w="19050" cap="rnd">
              <a:gradFill>
                <a:gsLst>
                  <a:gs pos="0">
                    <a:srgbClr val="3368FF">
                      <a:alpha val="55000"/>
                    </a:srgbClr>
                  </a:gs>
                  <a:gs pos="100000">
                    <a:srgbClr val="3368FF">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37" name="直接连接符 336"/>
            <p:cNvCxnSpPr/>
            <p:nvPr/>
          </p:nvCxnSpPr>
          <p:spPr>
            <a:xfrm>
              <a:off x="6085" y="6420"/>
              <a:ext cx="0" cy="624"/>
            </a:xfrm>
            <a:prstGeom prst="line">
              <a:avLst/>
            </a:prstGeom>
            <a:ln w="19050" cap="rnd">
              <a:gradFill>
                <a:gsLst>
                  <a:gs pos="0">
                    <a:srgbClr val="3368FF">
                      <a:alpha val="55000"/>
                    </a:srgbClr>
                  </a:gs>
                  <a:gs pos="100000">
                    <a:srgbClr val="3368FF">
                      <a:alpha val="0"/>
                    </a:srgbClr>
                  </a:gs>
                </a:gsLst>
                <a:lin ang="5400000" scaled="1"/>
              </a:gradFill>
            </a:ln>
          </p:spPr>
          <p:style>
            <a:lnRef idx="1">
              <a:srgbClr val="0042FF"/>
            </a:lnRef>
            <a:fillRef idx="0">
              <a:srgbClr val="0042FF"/>
            </a:fillRef>
            <a:effectRef idx="0">
              <a:srgbClr val="0042FF"/>
            </a:effectRef>
            <a:fontRef idx="minor">
              <a:srgbClr val="FFFFFF"/>
            </a:fontRef>
          </p:style>
        </p:cxnSp>
        <p:cxnSp>
          <p:nvCxnSpPr>
            <p:cNvPr id="338" name="直接连接符 337"/>
            <p:cNvCxnSpPr/>
            <p:nvPr/>
          </p:nvCxnSpPr>
          <p:spPr>
            <a:xfrm>
              <a:off x="7105" y="6194"/>
              <a:ext cx="0" cy="624"/>
            </a:xfrm>
            <a:prstGeom prst="line">
              <a:avLst/>
            </a:prstGeom>
            <a:ln w="19050" cap="rnd">
              <a:gradFill>
                <a:gsLst>
                  <a:gs pos="0">
                    <a:srgbClr val="3368FF">
                      <a:alpha val="55000"/>
                    </a:srgbClr>
                  </a:gs>
                  <a:gs pos="100000">
                    <a:srgbClr val="3368FF">
                      <a:alpha val="0"/>
                    </a:srgbClr>
                  </a:gs>
                </a:gsLst>
                <a:lin ang="5400000" scaled="1"/>
              </a:gradFill>
            </a:ln>
          </p:spPr>
          <p:style>
            <a:lnRef idx="1">
              <a:srgbClr val="0042FF"/>
            </a:lnRef>
            <a:fillRef idx="0">
              <a:srgbClr val="0042FF"/>
            </a:fillRef>
            <a:effectRef idx="0">
              <a:srgbClr val="0042FF"/>
            </a:effectRef>
            <a:fontRef idx="minor">
              <a:srgbClr val="FFFFFF"/>
            </a:fontRef>
          </p:style>
        </p:cxnSp>
      </p:grpSp>
      <p:grpSp>
        <p:nvGrpSpPr>
          <p:cNvPr id="133" name="@显眼包PPT1"/>
          <p:cNvGrpSpPr/>
          <p:nvPr/>
        </p:nvGrpSpPr>
        <p:grpSpPr>
          <a:xfrm>
            <a:off x="355917" y="5284673"/>
            <a:ext cx="11522075" cy="474980"/>
            <a:chOff x="334962" y="5996408"/>
            <a:chExt cx="11522075" cy="474980"/>
          </a:xfrm>
        </p:grpSpPr>
        <p:sp>
          <p:nvSpPr>
            <p:cNvPr id="25" name="@显眼包PPT1-1"/>
            <p:cNvSpPr/>
            <p:nvPr/>
          </p:nvSpPr>
          <p:spPr>
            <a:xfrm>
              <a:off x="334962" y="5996408"/>
              <a:ext cx="11522075" cy="330360"/>
            </a:xfrm>
            <a:prstGeom prst="trapezoid">
              <a:avLst>
                <a:gd name="adj" fmla="val 152137"/>
              </a:avLst>
            </a:prstGeom>
            <a:gradFill flip="none" rotWithShape="1">
              <a:gsLst>
                <a:gs pos="0">
                  <a:srgbClr val="668EFF">
                    <a:alpha val="0"/>
                  </a:srgbClr>
                </a:gs>
                <a:gs pos="100000">
                  <a:srgbClr val="668EFF">
                    <a:alpha val="41000"/>
                  </a:srgbClr>
                </a:gs>
              </a:gsLst>
              <a:lin ang="5400000" scaled="1"/>
              <a:tileRect/>
            </a:gradFill>
            <a:ln>
              <a:gradFill>
                <a:gsLst>
                  <a:gs pos="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6" name="@显眼包PPT1-2"/>
            <p:cNvSpPr/>
            <p:nvPr/>
          </p:nvSpPr>
          <p:spPr>
            <a:xfrm>
              <a:off x="334962" y="6326608"/>
              <a:ext cx="11522075" cy="144780"/>
            </a:xfrm>
            <a:prstGeom prst="rect">
              <a:avLst/>
            </a:prstGeom>
            <a:gradFill flip="none" rotWithShape="1">
              <a:gsLst>
                <a:gs pos="0">
                  <a:srgbClr val="3368FF"/>
                </a:gs>
                <a:gs pos="97273">
                  <a:srgbClr val="3368FF"/>
                </a:gs>
                <a:gs pos="50000">
                  <a:srgbClr val="0042FF"/>
                </a:gs>
              </a:gsLst>
              <a:lin ang="0" scaled="1"/>
              <a:tileRect/>
            </a:gradFill>
            <a:ln>
              <a:noFill/>
            </a:ln>
            <a:effectLst>
              <a:reflection blurRad="50800" stA="41000" endPos="38000" dir="5400000" sy="-100000" algn="bl" rotWithShape="0"/>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37" name="组合 36"/>
          <p:cNvGrpSpPr/>
          <p:nvPr/>
        </p:nvGrpSpPr>
        <p:grpSpPr>
          <a:xfrm rot="0">
            <a:off x="1891665" y="4415790"/>
            <a:ext cx="952500" cy="751205"/>
            <a:chOff x="1879619" y="4432848"/>
            <a:chExt cx="952481" cy="751001"/>
          </a:xfrm>
        </p:grpSpPr>
        <p:sp>
          <p:nvSpPr>
            <p:cNvPr id="17"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0042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36" name="椭圆 35"/>
            <p:cNvSpPr/>
            <p:nvPr>
              <p:custDataLst>
                <p:tags r:id="rId9"/>
              </p:custDataLst>
            </p:nvPr>
          </p:nvSpPr>
          <p:spPr>
            <a:xfrm flipH="1">
              <a:off x="2020774" y="4432848"/>
              <a:ext cx="670170" cy="670170"/>
            </a:xfrm>
            <a:prstGeom prst="ellipse">
              <a:avLst/>
            </a:prstGeom>
            <a:gradFill flip="none" rotWithShape="1">
              <a:gsLst>
                <a:gs pos="23000">
                  <a:srgbClr val="0042FF"/>
                </a:gs>
                <a:gs pos="100000">
                  <a:srgbClr val="3368FF"/>
                </a:gs>
              </a:gsLst>
              <a:path path="circle">
                <a:fillToRect l="100000" t="100000"/>
              </a:path>
              <a:tileRect r="-100000" b="-100000"/>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grpSp>
      <p:grpSp>
        <p:nvGrpSpPr>
          <p:cNvPr id="21" name="组合 20"/>
          <p:cNvGrpSpPr/>
          <p:nvPr/>
        </p:nvGrpSpPr>
        <p:grpSpPr>
          <a:xfrm rot="0">
            <a:off x="3757930" y="4415790"/>
            <a:ext cx="952500" cy="751205"/>
            <a:chOff x="1879619" y="4432848"/>
            <a:chExt cx="952481" cy="751001"/>
          </a:xfrm>
        </p:grpSpPr>
        <p:sp>
          <p:nvSpPr>
            <p:cNvPr id="22"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0042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24" name="椭圆 23"/>
            <p:cNvSpPr/>
            <p:nvPr>
              <p:custDataLst>
                <p:tags r:id="rId10"/>
              </p:custDataLst>
            </p:nvPr>
          </p:nvSpPr>
          <p:spPr>
            <a:xfrm flipH="1">
              <a:off x="2020774" y="4432848"/>
              <a:ext cx="670170" cy="670170"/>
            </a:xfrm>
            <a:prstGeom prst="ellipse">
              <a:avLst/>
            </a:prstGeom>
            <a:gradFill flip="none" rotWithShape="1">
              <a:gsLst>
                <a:gs pos="23000">
                  <a:srgbClr val="0042FF"/>
                </a:gs>
                <a:gs pos="100000">
                  <a:srgbClr val="3368FF"/>
                </a:gs>
              </a:gsLst>
              <a:path path="circle">
                <a:fillToRect l="100000" t="100000"/>
              </a:path>
              <a:tileRect r="-100000" b="-100000"/>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grpSp>
      <p:grpSp>
        <p:nvGrpSpPr>
          <p:cNvPr id="29" name="组合 28"/>
          <p:cNvGrpSpPr/>
          <p:nvPr/>
        </p:nvGrpSpPr>
        <p:grpSpPr>
          <a:xfrm rot="0">
            <a:off x="5624195" y="4415790"/>
            <a:ext cx="952500" cy="751205"/>
            <a:chOff x="1879619" y="4432848"/>
            <a:chExt cx="952481" cy="751001"/>
          </a:xfrm>
        </p:grpSpPr>
        <p:sp>
          <p:nvSpPr>
            <p:cNvPr id="31"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0042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32" name="椭圆 31"/>
            <p:cNvSpPr/>
            <p:nvPr>
              <p:custDataLst>
                <p:tags r:id="rId11"/>
              </p:custDataLst>
            </p:nvPr>
          </p:nvSpPr>
          <p:spPr>
            <a:xfrm flipH="1">
              <a:off x="2020774" y="4432848"/>
              <a:ext cx="670170" cy="670170"/>
            </a:xfrm>
            <a:prstGeom prst="ellipse">
              <a:avLst/>
            </a:prstGeom>
            <a:gradFill flip="none" rotWithShape="1">
              <a:gsLst>
                <a:gs pos="23000">
                  <a:srgbClr val="0042FF"/>
                </a:gs>
                <a:gs pos="100000">
                  <a:srgbClr val="3368FF"/>
                </a:gs>
              </a:gsLst>
              <a:path path="circle">
                <a:fillToRect l="100000" t="100000"/>
              </a:path>
              <a:tileRect r="-100000" b="-100000"/>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grpSp>
      <p:grpSp>
        <p:nvGrpSpPr>
          <p:cNvPr id="34" name="组合 33"/>
          <p:cNvGrpSpPr/>
          <p:nvPr/>
        </p:nvGrpSpPr>
        <p:grpSpPr>
          <a:xfrm>
            <a:off x="7490460" y="4415790"/>
            <a:ext cx="952500" cy="750570"/>
            <a:chOff x="1856" y="7553"/>
            <a:chExt cx="1500" cy="1182"/>
          </a:xfrm>
        </p:grpSpPr>
        <p:grpSp>
          <p:nvGrpSpPr>
            <p:cNvPr id="35" name="组合 34"/>
            <p:cNvGrpSpPr/>
            <p:nvPr/>
          </p:nvGrpSpPr>
          <p:grpSpPr>
            <a:xfrm>
              <a:off x="1856" y="7553"/>
              <a:ext cx="1500" cy="1183"/>
              <a:chOff x="1879619" y="4432848"/>
              <a:chExt cx="952481" cy="751001"/>
            </a:xfrm>
          </p:grpSpPr>
          <p:sp>
            <p:nvSpPr>
              <p:cNvPr id="38"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0042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40" name="椭圆 39"/>
              <p:cNvSpPr/>
              <p:nvPr>
                <p:custDataLst>
                  <p:tags r:id="rId12"/>
                </p:custDataLst>
              </p:nvPr>
            </p:nvSpPr>
            <p:spPr>
              <a:xfrm flipH="1">
                <a:off x="2020774" y="4432848"/>
                <a:ext cx="670170" cy="670170"/>
              </a:xfrm>
              <a:prstGeom prst="ellipse">
                <a:avLst/>
              </a:prstGeom>
              <a:gradFill flip="none" rotWithShape="1">
                <a:gsLst>
                  <a:gs pos="23000">
                    <a:srgbClr val="0042FF"/>
                  </a:gs>
                  <a:gs pos="100000">
                    <a:srgbClr val="3368FF"/>
                  </a:gs>
                </a:gsLst>
                <a:path path="circle">
                  <a:fillToRect l="100000" t="100000"/>
                </a:path>
                <a:tileRect r="-100000" b="-100000"/>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grpSp>
        <p:pic>
          <p:nvPicPr>
            <p:cNvPr id="42" name="图形 1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233" y="7643"/>
              <a:ext cx="783" cy="783"/>
            </a:xfrm>
            <a:prstGeom prst="rect">
              <a:avLst/>
            </a:prstGeom>
          </p:spPr>
        </p:pic>
      </p:grpSp>
      <p:grpSp>
        <p:nvGrpSpPr>
          <p:cNvPr id="45" name="组合 44"/>
          <p:cNvGrpSpPr/>
          <p:nvPr/>
        </p:nvGrpSpPr>
        <p:grpSpPr>
          <a:xfrm rot="0">
            <a:off x="9356725" y="4415790"/>
            <a:ext cx="952500" cy="751205"/>
            <a:chOff x="1879619" y="4432848"/>
            <a:chExt cx="952481" cy="751001"/>
          </a:xfrm>
        </p:grpSpPr>
        <p:sp>
          <p:nvSpPr>
            <p:cNvPr id="47" name="不完整圆 235"/>
            <p:cNvSpPr/>
            <p:nvPr/>
          </p:nvSpPr>
          <p:spPr>
            <a:xfrm>
              <a:off x="1879619" y="5064397"/>
              <a:ext cx="952481" cy="11945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0042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48" name="椭圆 47"/>
            <p:cNvSpPr/>
            <p:nvPr>
              <p:custDataLst>
                <p:tags r:id="rId14"/>
              </p:custDataLst>
            </p:nvPr>
          </p:nvSpPr>
          <p:spPr>
            <a:xfrm flipH="1">
              <a:off x="2020774" y="4432848"/>
              <a:ext cx="670170" cy="670170"/>
            </a:xfrm>
            <a:prstGeom prst="ellipse">
              <a:avLst/>
            </a:prstGeom>
            <a:gradFill flip="none" rotWithShape="1">
              <a:gsLst>
                <a:gs pos="23000">
                  <a:srgbClr val="0042FF"/>
                </a:gs>
                <a:gs pos="100000">
                  <a:srgbClr val="3368FF"/>
                </a:gs>
              </a:gsLst>
              <a:path path="circle">
                <a:fillToRect l="100000" t="100000"/>
              </a:path>
              <a:tileRect r="-100000" b="-100000"/>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grpSp>
      <p:sp>
        <p:nvSpPr>
          <p:cNvPr id="2"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年度运营工作规划框架</a:t>
            </a:r>
            <a:endParaRPr lang="zh-CN" altLang="en-US" sz="2500" dirty="0">
              <a:solidFill>
                <a:srgbClr val="383838"/>
              </a:solidFill>
              <a:effectLst/>
              <a:latin typeface="微软雅黑"/>
              <a:ea typeface="微软雅黑"/>
              <a:cs typeface="微软雅黑"/>
            </a:endParaRPr>
          </a:p>
        </p:txBody>
      </p:sp>
      <p:grpSp>
        <p:nvGrpSpPr>
          <p:cNvPr id="52" name="组合 51"/>
          <p:cNvGrpSpPr/>
          <p:nvPr/>
        </p:nvGrpSpPr>
        <p:grpSpPr>
          <a:xfrm>
            <a:off x="358775" y="5847080"/>
            <a:ext cx="3505200" cy="751840"/>
            <a:chOff x="565" y="9208"/>
            <a:chExt cx="5520" cy="1184"/>
          </a:xfrm>
        </p:grpSpPr>
        <p:sp>
          <p:nvSpPr>
            <p:cNvPr id="7" name="矩形 6"/>
            <p:cNvSpPr/>
            <p:nvPr/>
          </p:nvSpPr>
          <p:spPr>
            <a:xfrm>
              <a:off x="565" y="9208"/>
              <a:ext cx="5520" cy="1184"/>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4" name="文本框 13"/>
            <p:cNvSpPr txBox="1"/>
            <p:nvPr/>
          </p:nvSpPr>
          <p:spPr>
            <a:xfrm>
              <a:off x="754" y="9824"/>
              <a:ext cx="5142" cy="507"/>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绩效与激励对齐，盈利导向，岗位能力提升</a:t>
              </a:r>
              <a:endParaRPr lang="zh-CN" sz="1200" dirty="0">
                <a:solidFill>
                  <a:srgbClr val="FFFFFF"/>
                </a:solidFill>
                <a:latin typeface="微软雅黑"/>
                <a:ea typeface="微软雅黑"/>
                <a:cs typeface="微软雅黑"/>
              </a:endParaRPr>
            </a:p>
          </p:txBody>
        </p:sp>
        <p:sp>
          <p:nvSpPr>
            <p:cNvPr id="15" name="圆角矩形 14"/>
            <p:cNvSpPr/>
            <p:nvPr/>
          </p:nvSpPr>
          <p:spPr>
            <a:xfrm>
              <a:off x="2021" y="9348"/>
              <a:ext cx="2608"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1" name="文本框 50"/>
            <p:cNvSpPr txBox="1"/>
            <p:nvPr/>
          </p:nvSpPr>
          <p:spPr>
            <a:xfrm>
              <a:off x="1454" y="9264"/>
              <a:ext cx="3743" cy="568"/>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400" b="1" dirty="0">
                  <a:solidFill>
                    <a:srgbClr val="FFFFFF"/>
                  </a:solidFill>
                  <a:latin typeface="微软雅黑"/>
                  <a:ea typeface="微软雅黑"/>
                  <a:cs typeface="微软雅黑"/>
                </a:rPr>
                <a:t>组织与人才建设</a:t>
              </a:r>
              <a:endParaRPr lang="zh-CN" altLang="zh-CN" sz="1400" b="1" dirty="0">
                <a:solidFill>
                  <a:srgbClr val="FFFFFF"/>
                </a:solidFill>
                <a:latin typeface="微软雅黑"/>
                <a:ea typeface="微软雅黑"/>
                <a:cs typeface="微软雅黑"/>
              </a:endParaRPr>
            </a:p>
          </p:txBody>
        </p:sp>
      </p:grpSp>
      <p:grpSp>
        <p:nvGrpSpPr>
          <p:cNvPr id="53" name="组合 52"/>
          <p:cNvGrpSpPr/>
          <p:nvPr/>
        </p:nvGrpSpPr>
        <p:grpSpPr>
          <a:xfrm>
            <a:off x="4357370" y="5847080"/>
            <a:ext cx="3505200" cy="751840"/>
            <a:chOff x="565" y="9208"/>
            <a:chExt cx="5520" cy="1184"/>
          </a:xfrm>
        </p:grpSpPr>
        <p:sp>
          <p:nvSpPr>
            <p:cNvPr id="54" name="矩形 53"/>
            <p:cNvSpPr/>
            <p:nvPr/>
          </p:nvSpPr>
          <p:spPr>
            <a:xfrm>
              <a:off x="565" y="9208"/>
              <a:ext cx="5520" cy="1184"/>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55" name="文本框 54"/>
            <p:cNvSpPr txBox="1"/>
            <p:nvPr/>
          </p:nvSpPr>
          <p:spPr>
            <a:xfrm>
              <a:off x="754" y="9824"/>
              <a:ext cx="5142" cy="507"/>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系统整合，数据分析平台建设，自动化应用</a:t>
              </a:r>
              <a:endParaRPr lang="zh-CN" sz="1200" dirty="0">
                <a:solidFill>
                  <a:srgbClr val="FFFFFF"/>
                </a:solidFill>
                <a:latin typeface="微软雅黑"/>
                <a:ea typeface="微软雅黑"/>
                <a:cs typeface="微软雅黑"/>
              </a:endParaRPr>
            </a:p>
          </p:txBody>
        </p:sp>
        <p:sp>
          <p:nvSpPr>
            <p:cNvPr id="56" name="圆角矩形 55"/>
            <p:cNvSpPr/>
            <p:nvPr/>
          </p:nvSpPr>
          <p:spPr>
            <a:xfrm>
              <a:off x="2021" y="9348"/>
              <a:ext cx="2608"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7" name="文本框 56"/>
            <p:cNvSpPr txBox="1"/>
            <p:nvPr/>
          </p:nvSpPr>
          <p:spPr>
            <a:xfrm>
              <a:off x="1454" y="9264"/>
              <a:ext cx="3743" cy="568"/>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技术与系统支持</a:t>
              </a:r>
              <a:endParaRPr lang="zh-CN" altLang="en-US" sz="1400" b="1" dirty="0">
                <a:solidFill>
                  <a:srgbClr val="FFFFFF"/>
                </a:solidFill>
                <a:latin typeface="微软雅黑"/>
                <a:ea typeface="微软雅黑"/>
                <a:cs typeface="微软雅黑"/>
              </a:endParaRPr>
            </a:p>
          </p:txBody>
        </p:sp>
      </p:grpSp>
      <p:grpSp>
        <p:nvGrpSpPr>
          <p:cNvPr id="59" name="组合 58"/>
          <p:cNvGrpSpPr/>
          <p:nvPr/>
        </p:nvGrpSpPr>
        <p:grpSpPr>
          <a:xfrm>
            <a:off x="8355965" y="5847080"/>
            <a:ext cx="3505200" cy="751840"/>
            <a:chOff x="565" y="9208"/>
            <a:chExt cx="5520" cy="1184"/>
          </a:xfrm>
        </p:grpSpPr>
        <p:sp>
          <p:nvSpPr>
            <p:cNvPr id="60" name="矩形 59"/>
            <p:cNvSpPr/>
            <p:nvPr/>
          </p:nvSpPr>
          <p:spPr>
            <a:xfrm>
              <a:off x="565" y="9208"/>
              <a:ext cx="5520" cy="1184"/>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61" name="文本框 60"/>
            <p:cNvSpPr txBox="1"/>
            <p:nvPr/>
          </p:nvSpPr>
          <p:spPr>
            <a:xfrm>
              <a:off x="665" y="9824"/>
              <a:ext cx="5384" cy="507"/>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资金流动性管理，资源动态调配，投资回报监控</a:t>
              </a:r>
              <a:endParaRPr lang="zh-CN" sz="1200" dirty="0">
                <a:solidFill>
                  <a:srgbClr val="FFFFFF"/>
                </a:solidFill>
                <a:latin typeface="微软雅黑"/>
                <a:ea typeface="微软雅黑"/>
                <a:cs typeface="微软雅黑"/>
              </a:endParaRPr>
            </a:p>
          </p:txBody>
        </p:sp>
        <p:sp>
          <p:nvSpPr>
            <p:cNvPr id="62" name="圆角矩形 61"/>
            <p:cNvSpPr/>
            <p:nvPr/>
          </p:nvSpPr>
          <p:spPr>
            <a:xfrm>
              <a:off x="2021" y="9348"/>
              <a:ext cx="2608"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3" name="文本框 62"/>
            <p:cNvSpPr txBox="1"/>
            <p:nvPr/>
          </p:nvSpPr>
          <p:spPr>
            <a:xfrm>
              <a:off x="1454" y="9264"/>
              <a:ext cx="3743" cy="568"/>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sz="1400" b="1" dirty="0">
                  <a:solidFill>
                    <a:srgbClr val="FFFFFF"/>
                  </a:solidFill>
                  <a:latin typeface="微软雅黑"/>
                  <a:ea typeface="微软雅黑"/>
                  <a:cs typeface="微软雅黑"/>
                </a:rPr>
                <a:t>资金与资源保障</a:t>
              </a:r>
              <a:endParaRPr lang="zh-CN" altLang="zh-CN" sz="1400" b="1" dirty="0">
                <a:solidFill>
                  <a:srgbClr val="FFFFFF"/>
                </a:solidFill>
                <a:latin typeface="微软雅黑"/>
                <a:ea typeface="微软雅黑"/>
                <a:cs typeface="微软雅黑"/>
              </a:endParaRPr>
            </a:p>
          </p:txBody>
        </p:sp>
      </p:grpSp>
      <p:sp>
        <p:nvSpPr>
          <p:cNvPr id="64" name="文本框 63"/>
          <p:cNvSpPr txBox="1"/>
          <p:nvPr/>
        </p:nvSpPr>
        <p:spPr>
          <a:xfrm>
            <a:off x="1519555" y="5215890"/>
            <a:ext cx="1720215" cy="321945"/>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销售流程精细化</a:t>
            </a:r>
            <a:endParaRPr lang="zh-CN" altLang="en-US" sz="1200" b="1" dirty="0">
              <a:solidFill>
                <a:srgbClr val="FFFFFF"/>
              </a:solidFill>
              <a:latin typeface="微软雅黑"/>
              <a:ea typeface="微软雅黑"/>
              <a:cs typeface="微软雅黑"/>
            </a:endParaRPr>
          </a:p>
        </p:txBody>
      </p:sp>
      <p:sp>
        <p:nvSpPr>
          <p:cNvPr id="65" name="文本框 64"/>
          <p:cNvSpPr txBox="1"/>
          <p:nvPr/>
        </p:nvSpPr>
        <p:spPr>
          <a:xfrm>
            <a:off x="3300095" y="5166995"/>
            <a:ext cx="1720215" cy="321945"/>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项目管理标准化</a:t>
            </a:r>
            <a:endParaRPr lang="zh-CN" altLang="en-US" sz="1200" b="1" dirty="0">
              <a:solidFill>
                <a:srgbClr val="FFFFFF"/>
              </a:solidFill>
              <a:latin typeface="微软雅黑"/>
              <a:ea typeface="微软雅黑"/>
              <a:cs typeface="微软雅黑"/>
            </a:endParaRPr>
          </a:p>
        </p:txBody>
      </p:sp>
      <p:sp>
        <p:nvSpPr>
          <p:cNvPr id="66" name="文本框 65"/>
          <p:cNvSpPr txBox="1"/>
          <p:nvPr/>
        </p:nvSpPr>
        <p:spPr>
          <a:xfrm>
            <a:off x="5217795" y="5215890"/>
            <a:ext cx="1720215" cy="321945"/>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盈利模型迭代</a:t>
            </a:r>
            <a:endParaRPr lang="zh-CN" altLang="en-US" sz="1200" b="1" dirty="0">
              <a:solidFill>
                <a:srgbClr val="FFFFFF"/>
              </a:solidFill>
              <a:latin typeface="微软雅黑"/>
              <a:ea typeface="微软雅黑"/>
              <a:cs typeface="微软雅黑"/>
            </a:endParaRPr>
          </a:p>
        </p:txBody>
      </p:sp>
      <p:sp>
        <p:nvSpPr>
          <p:cNvPr id="67" name="文本框 66"/>
          <p:cNvSpPr txBox="1"/>
          <p:nvPr/>
        </p:nvSpPr>
        <p:spPr>
          <a:xfrm>
            <a:off x="7121525" y="5166995"/>
            <a:ext cx="1720215" cy="321945"/>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实时经营看板</a:t>
            </a:r>
            <a:endParaRPr lang="zh-CN" altLang="en-US" sz="1200" b="1" dirty="0">
              <a:solidFill>
                <a:srgbClr val="FFFFFF"/>
              </a:solidFill>
              <a:latin typeface="微软雅黑"/>
              <a:ea typeface="微软雅黑"/>
              <a:cs typeface="微软雅黑"/>
            </a:endParaRPr>
          </a:p>
        </p:txBody>
      </p:sp>
      <p:sp>
        <p:nvSpPr>
          <p:cNvPr id="69" name="文本框 68"/>
          <p:cNvSpPr txBox="1"/>
          <p:nvPr/>
        </p:nvSpPr>
        <p:spPr>
          <a:xfrm>
            <a:off x="8963660" y="5166995"/>
            <a:ext cx="1720215" cy="321945"/>
          </a:xfrm>
          <a:prstGeom prst="rect">
            <a:avLst/>
          </a:prstGeom>
          <a:noFill/>
        </p:spPr>
        <p:txBody>
          <a:bodyPr wrap="square">
            <a:spAutoFit/>
          </a:bodyPr>
          <a:lstStyle/>
          <a:p>
            <a:pPr algn="ctr">
              <a:lnSpc>
                <a:spcPct val="125000"/>
              </a:lnSpc>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预测与预警分析</a:t>
            </a:r>
            <a:endParaRPr lang="zh-CN" altLang="en-US" sz="1200" b="1" dirty="0">
              <a:solidFill>
                <a:srgbClr val="FFFFFF"/>
              </a:solidFill>
              <a:latin typeface="微软雅黑"/>
              <a:ea typeface="微软雅黑"/>
              <a:cs typeface="微软雅黑"/>
            </a:endParaRPr>
          </a:p>
        </p:txBody>
      </p:sp>
      <p:sp>
        <p:nvSpPr>
          <p:cNvPr id="11" name="文本框 10"/>
          <p:cNvSpPr txBox="1"/>
          <p:nvPr/>
        </p:nvSpPr>
        <p:spPr>
          <a:xfrm>
            <a:off x="3474403" y="2565400"/>
            <a:ext cx="975360" cy="699135"/>
          </a:xfrm>
          <a:prstGeom prst="rect">
            <a:avLst/>
          </a:prstGeom>
          <a:noFill/>
        </p:spPr>
        <p:txBody>
          <a:bodyPr wrap="square" rtlCol="0" anchor="ctr" anchorCtr="0" lIns="0" rIns="0" tIns="0" bIns="0">
            <a:noAutofit/>
          </a:bodyPr>
          <a:lstStyle>
            <a:defPPr>
              <a:defRPr lang="zh-CN">
                <a:latin typeface="微软雅黑"/>
                <a:ea typeface="微软雅黑"/>
                <a:cs typeface="微软雅黑"/>
              </a:defRPr>
            </a:defPPr>
            <a:lvl1pPr>
              <a:defRPr>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sz="2000" b="1" dirty="0">
                <a:solidFill>
                  <a:srgbClr val="383838"/>
                </a:solidFill>
                <a:latin typeface="微软雅黑"/>
                <a:ea typeface="微软雅黑"/>
                <a:cs typeface="微软雅黑"/>
              </a:rPr>
              <a:t>①</a:t>
            </a:r>
            <a:endParaRPr lang="zh-CN" altLang="en-US" sz="14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rPr>
              <a:t>收入增长策略</a:t>
            </a:r>
            <a:endParaRPr lang="en-US" altLang="zh-CN" sz="1400" b="1" dirty="0">
              <a:solidFill>
                <a:srgbClr val="383838"/>
              </a:solidFill>
              <a:latin typeface="微软雅黑"/>
              <a:ea typeface="微软雅黑"/>
              <a:cs typeface="微软雅黑"/>
            </a:endParaRPr>
          </a:p>
        </p:txBody>
      </p:sp>
      <p:pic>
        <p:nvPicPr>
          <p:cNvPr id="13" name="图片 12" descr="项目管理-面性"/>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4008120" y="4528185"/>
            <a:ext cx="441960" cy="441960"/>
          </a:xfrm>
          <a:prstGeom prst="rect">
            <a:avLst/>
          </a:prstGeom>
        </p:spPr>
      </p:pic>
      <p:pic>
        <p:nvPicPr>
          <p:cNvPr id="16" name="图片 15" descr="盈利预测"/>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5925820" y="4572635"/>
            <a:ext cx="349250" cy="349250"/>
          </a:xfrm>
          <a:prstGeom prst="rect">
            <a:avLst/>
          </a:prstGeom>
        </p:spPr>
      </p:pic>
      <p:pic>
        <p:nvPicPr>
          <p:cNvPr id="23" name="图片 22" descr="icon_预警"/>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9661525" y="4552315"/>
            <a:ext cx="369570" cy="369570"/>
          </a:xfrm>
          <a:prstGeom prst="rect">
            <a:avLst/>
          </a:prstGeom>
        </p:spPr>
      </p:pic>
      <p:pic>
        <p:nvPicPr>
          <p:cNvPr id="50" name="图片 49" descr="商场"/>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2188210" y="4544695"/>
            <a:ext cx="405765" cy="405765"/>
          </a:xfrm>
          <a:prstGeom prst="rect">
            <a:avLst/>
          </a:prstGeom>
        </p:spPr>
      </p:pic>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23"/>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18" name="组合 17"/>
          <p:cNvGrpSpPr/>
          <p:nvPr/>
        </p:nvGrpSpPr>
        <p:grpSpPr>
          <a:xfrm>
            <a:off x="0" y="4959350"/>
            <a:ext cx="12192000" cy="1898650"/>
            <a:chOff x="0" y="7810"/>
            <a:chExt cx="19200" cy="2990"/>
          </a:xfrm>
        </p:grpSpPr>
        <p:sp>
          <p:nvSpPr>
            <p:cNvPr id="19" name="矩形 18"/>
            <p:cNvSpPr/>
            <p:nvPr/>
          </p:nvSpPr>
          <p:spPr>
            <a:xfrm>
              <a:off x="0" y="7810"/>
              <a:ext cx="19200" cy="2990"/>
            </a:xfrm>
            <a:prstGeom prst="rect">
              <a:avLst/>
            </a:prstGeom>
            <a:solidFill>
              <a:srgbClr val="0042FF">
                <a:alpha val="80000"/>
              </a:srgbClr>
            </a:solidFill>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0" name="©显眼包PPT16"/>
            <p:cNvSpPr txBox="1"/>
            <p:nvPr/>
          </p:nvSpPr>
          <p:spPr>
            <a:xfrm>
              <a:off x="2990" y="8578"/>
              <a:ext cx="11508" cy="1454"/>
            </a:xfrm>
            <a:prstGeom prst="rect">
              <a:avLst/>
            </a:prstGeom>
            <a:noFill/>
            <a:extLst>
              <a:ext uri="{909E8E84-426E-40DD-AFC4-6F175D3DCCD1}">
                <a14:hiddenFill xmlns:a14="http://schemas.microsoft.com/office/drawing/2010/main">
                  <a:solidFill>
                    <a:srgbClr val="FFFFFF"/>
                  </a:solidFill>
                </a14:hiddenFill>
              </a:ext>
            </a:ex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另一个配色效果供选择，删除本框即可！</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本页不计入页面数量</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p:txBody>
        </p:sp>
      </p:grpSp>
      <p:cxnSp>
        <p:nvCxnSpPr>
          <p:cNvPr id="5"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等腰三角形 16"/>
          <p:cNvSpPr/>
          <p:nvPr/>
        </p:nvSpPr>
        <p:spPr>
          <a:xfrm flipH="1" flipV="1">
            <a:off x="1350645" y="2896870"/>
            <a:ext cx="9607550" cy="1333500"/>
          </a:xfrm>
          <a:prstGeom prst="triangle">
            <a:avLst/>
          </a:prstGeom>
          <a:gradFill>
            <a:gsLst>
              <a:gs pos="0">
                <a:srgbClr val="668EFF"/>
              </a:gs>
              <a:gs pos="78000">
                <a:srgbClr val="E6E6E6">
                  <a:alpha val="0"/>
                </a:srgbClr>
              </a:gs>
            </a:gsLst>
            <a:lin ang="5400000" scaled="0"/>
          </a:gradFill>
          <a:ln>
            <a:gradFill>
              <a:gsLst>
                <a:gs pos="0">
                  <a:srgbClr val="3368FF">
                    <a:alpha val="55000"/>
                  </a:srgbClr>
                </a:gs>
                <a:gs pos="100000">
                  <a:srgbClr val="3368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60" name="梯形 159"/>
          <p:cNvSpPr/>
          <p:nvPr/>
        </p:nvSpPr>
        <p:spPr>
          <a:xfrm rot="5400000">
            <a:off x="1059815" y="3255010"/>
            <a:ext cx="1739265" cy="2574290"/>
          </a:xfrm>
          <a:prstGeom prst="trapezoid">
            <a:avLst>
              <a:gd name="adj" fmla="val 34921"/>
            </a:avLst>
          </a:prstGeom>
          <a:gradFill>
            <a:gsLst>
              <a:gs pos="0">
                <a:srgbClr val="3368FF">
                  <a:alpha val="50000"/>
                </a:srgbClr>
              </a:gs>
              <a:gs pos="100000">
                <a:srgbClr val="668E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en-US" altLang="zh-CN" sz="2500">
                <a:solidFill>
                  <a:srgbClr val="383838"/>
                </a:solidFill>
                <a:effectLst/>
                <a:latin typeface="微软雅黑"/>
                <a:ea typeface="微软雅黑"/>
                <a:cs typeface="微软雅黑"/>
              </a:rPr>
              <a:t>AI</a:t>
            </a:r>
            <a:r>
              <a:rPr sz="2500">
                <a:solidFill>
                  <a:srgbClr val="383838"/>
                </a:solidFill>
                <a:effectLst/>
                <a:latin typeface="微软雅黑"/>
                <a:ea typeface="微软雅黑"/>
                <a:cs typeface="微软雅黑"/>
              </a:rPr>
              <a:t>应用场景下的技术架构</a:t>
            </a:r>
            <a:endParaRPr sz="2500">
              <a:solidFill>
                <a:srgbClr val="383838"/>
              </a:solidFill>
              <a:effectLst/>
              <a:latin typeface="微软雅黑"/>
              <a:ea typeface="微软雅黑"/>
              <a:cs typeface="微软雅黑"/>
            </a:endParaRPr>
          </a:p>
        </p:txBody>
      </p:sp>
      <p:sp>
        <p:nvSpPr>
          <p:cNvPr id="2" name="任意形状 51"/>
          <p:cNvSpPr/>
          <p:nvPr/>
        </p:nvSpPr>
        <p:spPr>
          <a:xfrm>
            <a:off x="1798955" y="2413000"/>
            <a:ext cx="8770620" cy="914400"/>
          </a:xfrm>
          <a:custGeom>
            <a:avLst/>
            <a:gdLst>
              <a:gd name="connsiteX0" fmla="*/ 6043668 w 6043668"/>
              <a:gd name="connsiteY0" fmla="*/ 489065 h 978129"/>
              <a:gd name="connsiteX1" fmla="*/ 3021834 w 6043668"/>
              <a:gd name="connsiteY1" fmla="*/ 978130 h 978129"/>
              <a:gd name="connsiteX2" fmla="*/ 0 w 6043668"/>
              <a:gd name="connsiteY2" fmla="*/ 489065 h 978129"/>
              <a:gd name="connsiteX3" fmla="*/ 3021834 w 6043668"/>
              <a:gd name="connsiteY3" fmla="*/ 0 h 978129"/>
              <a:gd name="connsiteX4" fmla="*/ 6043668 w 6043668"/>
              <a:gd name="connsiteY4" fmla="*/ 489065 h 978129"/>
              <a:gd name="connsiteX5" fmla="*/ 1486863 w 6043668"/>
              <a:gd name="connsiteY5" fmla="*/ 489065 h 978129"/>
              <a:gd name="connsiteX6" fmla="*/ 3021834 w 6043668"/>
              <a:gd name="connsiteY6" fmla="*/ 737491 h 978129"/>
              <a:gd name="connsiteX7" fmla="*/ 4556805 w 6043668"/>
              <a:gd name="connsiteY7" fmla="*/ 489065 h 978129"/>
              <a:gd name="connsiteX8" fmla="*/ 3021834 w 6043668"/>
              <a:gd name="connsiteY8" fmla="*/ 240639 h 978129"/>
              <a:gd name="connsiteX9" fmla="*/ 1486863 w 6043668"/>
              <a:gd name="connsiteY9" fmla="*/ 489065 h 978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43668" h="978129">
                <a:moveTo>
                  <a:pt x="6043668" y="489065"/>
                </a:moveTo>
                <a:cubicBezTo>
                  <a:pt x="6043668" y="759168"/>
                  <a:pt x="4690750" y="978130"/>
                  <a:pt x="3021834" y="978130"/>
                </a:cubicBezTo>
                <a:cubicBezTo>
                  <a:pt x="1352918" y="978130"/>
                  <a:pt x="0" y="759168"/>
                  <a:pt x="0" y="489065"/>
                </a:cubicBezTo>
                <a:cubicBezTo>
                  <a:pt x="0" y="218962"/>
                  <a:pt x="1352918" y="0"/>
                  <a:pt x="3021834" y="0"/>
                </a:cubicBezTo>
                <a:cubicBezTo>
                  <a:pt x="4690750" y="0"/>
                  <a:pt x="6043668" y="218962"/>
                  <a:pt x="6043668" y="489065"/>
                </a:cubicBezTo>
                <a:close/>
                <a:moveTo>
                  <a:pt x="1486863" y="489065"/>
                </a:moveTo>
                <a:cubicBezTo>
                  <a:pt x="1486863" y="626268"/>
                  <a:pt x="2174095" y="737491"/>
                  <a:pt x="3021834" y="737491"/>
                </a:cubicBezTo>
                <a:cubicBezTo>
                  <a:pt x="3869573" y="737491"/>
                  <a:pt x="4556805" y="626268"/>
                  <a:pt x="4556805" y="489065"/>
                </a:cubicBezTo>
                <a:cubicBezTo>
                  <a:pt x="4556805" y="351862"/>
                  <a:pt x="3869573" y="240639"/>
                  <a:pt x="3021834" y="240639"/>
                </a:cubicBezTo>
                <a:cubicBezTo>
                  <a:pt x="2174095" y="240639"/>
                  <a:pt x="1486863" y="351862"/>
                  <a:pt x="1486863" y="489065"/>
                </a:cubicBezTo>
                <a:close/>
              </a:path>
            </a:pathLst>
          </a:custGeom>
          <a:gradFill flip="none" rotWithShape="1">
            <a:gsLst>
              <a:gs pos="0">
                <a:srgbClr val="FFFFFF"/>
              </a:gs>
              <a:gs pos="58000">
                <a:srgbClr val="FFFFFF">
                  <a:alpha val="10000"/>
                </a:srgbClr>
              </a:gs>
              <a:gs pos="100000">
                <a:srgbClr val="FFFFFF"/>
              </a:gs>
            </a:gsLst>
            <a:lin ang="10800000" scaled="1"/>
            <a:tileRect/>
          </a:gradFill>
          <a:ln w="12700">
            <a:gradFill>
              <a:gsLst>
                <a:gs pos="13000">
                  <a:srgbClr val="3368FF">
                    <a:alpha val="0"/>
                  </a:srgbClr>
                </a:gs>
                <a:gs pos="100000">
                  <a:srgbClr val="3368FF"/>
                </a:gs>
              </a:gsLst>
              <a:lin ang="5400000" scaled="1"/>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 name="椭圆 2"/>
          <p:cNvSpPr/>
          <p:nvPr/>
        </p:nvSpPr>
        <p:spPr>
          <a:xfrm>
            <a:off x="3946394" y="2844446"/>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6" name="椭圆 75"/>
          <p:cNvSpPr/>
          <p:nvPr/>
        </p:nvSpPr>
        <p:spPr>
          <a:xfrm>
            <a:off x="1757680" y="5438775"/>
            <a:ext cx="9030970" cy="840740"/>
          </a:xfrm>
          <a:prstGeom prst="ellipse">
            <a:avLst/>
          </a:prstGeom>
          <a:gradFill>
            <a:gsLst>
              <a:gs pos="0">
                <a:srgbClr val="3368FF">
                  <a:alpha val="0"/>
                </a:srgbClr>
              </a:gs>
              <a:gs pos="100000">
                <a:srgbClr val="3368FF">
                  <a:alpha val="18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5" name="矩形 14"/>
          <p:cNvSpPr/>
          <p:nvPr/>
        </p:nvSpPr>
        <p:spPr>
          <a:xfrm>
            <a:off x="2282825" y="6348095"/>
            <a:ext cx="7791450" cy="350520"/>
          </a:xfrm>
          <a:prstGeom prst="rect">
            <a:avLst/>
          </a:prstGeom>
          <a:gradFill>
            <a:gsLst>
              <a:gs pos="100000">
                <a:srgbClr val="3368FF"/>
              </a:gs>
              <a:gs pos="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endParaRPr lang="en-US" altLang="zh-CN" sz="1400">
              <a:solidFill>
                <a:srgbClr val="FFFFFF"/>
              </a:solidFill>
              <a:latin typeface="微软雅黑"/>
              <a:ea typeface="微软雅黑"/>
              <a:cs typeface="微软雅黑"/>
            </a:endParaRPr>
          </a:p>
        </p:txBody>
      </p:sp>
      <p:sp>
        <p:nvSpPr>
          <p:cNvPr id="78" name="任意多边形: 形状 77"/>
          <p:cNvSpPr/>
          <p:nvPr/>
        </p:nvSpPr>
        <p:spPr>
          <a:xfrm flipH="1" flipV="1">
            <a:off x="3459480" y="4798060"/>
            <a:ext cx="5273040" cy="643890"/>
          </a:xfrm>
          <a:custGeom>
            <a:avLst/>
            <a:gdLst>
              <a:gd name="connsiteX0" fmla="*/ 1669377 w 2133737"/>
              <a:gd name="connsiteY0" fmla="*/ 0 h 565314"/>
              <a:gd name="connsiteX1" fmla="*/ 1073960 w 2133737"/>
              <a:gd name="connsiteY1" fmla="*/ 0 h 565314"/>
              <a:gd name="connsiteX2" fmla="*/ 1066869 w 2133737"/>
              <a:gd name="connsiteY2" fmla="*/ 8633 h 565314"/>
              <a:gd name="connsiteX3" fmla="*/ 1059777 w 2133737"/>
              <a:gd name="connsiteY3" fmla="*/ 0 h 565314"/>
              <a:gd name="connsiteX4" fmla="*/ 464360 w 2133737"/>
              <a:gd name="connsiteY4" fmla="*/ 0 h 565314"/>
              <a:gd name="connsiteX5" fmla="*/ 0 w 2133737"/>
              <a:gd name="connsiteY5" fmla="*/ 565314 h 565314"/>
              <a:gd name="connsiteX6" fmla="*/ 609600 w 2133737"/>
              <a:gd name="connsiteY6" fmla="*/ 565314 h 565314"/>
              <a:gd name="connsiteX7" fmla="*/ 1524137 w 2133737"/>
              <a:gd name="connsiteY7" fmla="*/ 565314 h 565314"/>
              <a:gd name="connsiteX8" fmla="*/ 2133737 w 2133737"/>
              <a:gd name="connsiteY8" fmla="*/ 565314 h 565314"/>
              <a:gd name="connsiteX9" fmla="*/ 1669377 w 2133737"/>
              <a:gd name="connsiteY9" fmla="*/ 0 h 565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3737" h="565314">
                <a:moveTo>
                  <a:pt x="1669377" y="0"/>
                </a:moveTo>
                <a:lnTo>
                  <a:pt x="1073960" y="0"/>
                </a:lnTo>
                <a:lnTo>
                  <a:pt x="1066869" y="8633"/>
                </a:lnTo>
                <a:lnTo>
                  <a:pt x="1059777" y="0"/>
                </a:lnTo>
                <a:lnTo>
                  <a:pt x="464360" y="0"/>
                </a:lnTo>
                <a:cubicBezTo>
                  <a:pt x="487373" y="213838"/>
                  <a:pt x="370687" y="468951"/>
                  <a:pt x="0" y="565314"/>
                </a:cubicBezTo>
                <a:lnTo>
                  <a:pt x="609600" y="565314"/>
                </a:lnTo>
                <a:lnTo>
                  <a:pt x="1524137" y="565314"/>
                </a:lnTo>
                <a:lnTo>
                  <a:pt x="2133737" y="565314"/>
                </a:lnTo>
                <a:cubicBezTo>
                  <a:pt x="1763050" y="468951"/>
                  <a:pt x="1646364" y="213838"/>
                  <a:pt x="1669377" y="0"/>
                </a:cubicBezTo>
                <a:close/>
              </a:path>
            </a:pathLst>
          </a:custGeom>
          <a:gradFill>
            <a:gsLst>
              <a:gs pos="0">
                <a:srgbClr val="3368FF">
                  <a:alpha val="0"/>
                </a:srgbClr>
              </a:gs>
              <a:gs pos="76000">
                <a:srgbClr val="3368FF">
                  <a:alpha val="23000"/>
                </a:srgbClr>
              </a:gs>
              <a:gs pos="65000">
                <a:srgbClr val="3368FF">
                  <a:alpha val="20000"/>
                </a:srgbClr>
              </a:gs>
              <a:gs pos="100000">
                <a:srgbClr val="3368FF">
                  <a:alpha val="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90" name="矩形: 圆角 89"/>
          <p:cNvSpPr/>
          <p:nvPr/>
        </p:nvSpPr>
        <p:spPr>
          <a:xfrm>
            <a:off x="3161665" y="1181735"/>
            <a:ext cx="1090930" cy="1136015"/>
          </a:xfrm>
          <a:prstGeom prst="roundRect">
            <a:avLst>
              <a:gd name="adj" fmla="val 6604"/>
            </a:avLst>
          </a:prstGeom>
          <a:gradFill>
            <a:gsLst>
              <a:gs pos="100000">
                <a:srgbClr val="3368FF">
                  <a:alpha val="0"/>
                </a:srgbClr>
              </a:gs>
              <a:gs pos="0">
                <a:srgbClr val="3368FF">
                  <a:alpha val="60000"/>
                </a:srgbClr>
              </a:gs>
            </a:gsLst>
            <a:lin ang="5400000" scaled="1"/>
          </a:gradFill>
          <a:ln>
            <a:gradFill>
              <a:gsLst>
                <a:gs pos="19000">
                  <a:srgbClr val="3368FF">
                    <a:alpha val="0"/>
                  </a:srgbClr>
                </a:gs>
                <a:gs pos="100000">
                  <a:srgbClr val="3368FF">
                    <a:alpha val="40000"/>
                  </a:srgbClr>
                </a:gs>
              </a:gsLst>
              <a:lin ang="5400000" scaled="1"/>
            </a:gradFill>
          </a:ln>
          <a:scene3d>
            <a:camera prst="perspectiveRight">
              <a:rot lat="0" lon="1980000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91" name="文本框 90"/>
          <p:cNvSpPr txBox="1"/>
          <p:nvPr/>
        </p:nvSpPr>
        <p:spPr>
          <a:xfrm>
            <a:off x="3309303" y="1252855"/>
            <a:ext cx="795020" cy="275590"/>
          </a:xfrm>
          <a:prstGeom prst="rect">
            <a:avLst/>
          </a:prstGeom>
          <a:noFill/>
          <a:scene3d>
            <a:camera prst="perspectiveRight">
              <a:rot lat="0" lon="19800000" rev="0"/>
            </a:camera>
            <a:lightRig rig="threePt" dir="t"/>
          </a:scene3d>
        </p:spPr>
        <p:txBody>
          <a:bodyPr wrap="none" rtlCol="0">
            <a:spAutoFit/>
          </a:bodyPr>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基础能力</a:t>
            </a:r>
            <a:endParaRPr lang="zh-CN" altLang="en-US" sz="1200" b="1" dirty="0">
              <a:solidFill>
                <a:srgbClr val="FFFFFF"/>
              </a:solidFill>
              <a:latin typeface="微软雅黑"/>
              <a:ea typeface="微软雅黑"/>
              <a:cs typeface="微软雅黑"/>
            </a:endParaRPr>
          </a:p>
        </p:txBody>
      </p:sp>
      <p:sp>
        <p:nvSpPr>
          <p:cNvPr id="92" name="文本框 91"/>
          <p:cNvSpPr txBox="1"/>
          <p:nvPr/>
        </p:nvSpPr>
        <p:spPr>
          <a:xfrm>
            <a:off x="3297873" y="1461770"/>
            <a:ext cx="817880" cy="829945"/>
          </a:xfrm>
          <a:prstGeom prst="rect">
            <a:avLst/>
          </a:prstGeom>
          <a:noFill/>
          <a:scene3d>
            <a:camera prst="perspectiveRight">
              <a:rot lat="0" lon="19800000" rev="0"/>
            </a:camera>
            <a:lightRig rig="threePt" dir="t"/>
          </a:scene3d>
        </p:spPr>
        <p:txBody>
          <a:bodyPr wrap="none" rtlCol="0" lIns="0" rIns="0" tIns="0" bIns="0">
            <a:spAutoFit/>
          </a:bodyPr>
          <a:p>
            <a:pPr algn="ctr">
              <a:lnSpc>
                <a:spcPct val="120000"/>
              </a:lnSpc>
              <a:defRPr>
                <a:solidFill>
                  <a:srgbClr val="383838"/>
                </a:solidFill>
                <a:latin typeface="微软雅黑"/>
                <a:ea typeface="微软雅黑"/>
                <a:cs typeface="微软雅黑"/>
              </a:defRPr>
            </a:pPr>
            <a:r>
              <a:rPr lang="zh-CN" sz="1000" dirty="0">
                <a:solidFill>
                  <a:srgbClr val="383838"/>
                </a:solidFill>
                <a:latin typeface="微软雅黑"/>
                <a:ea typeface="微软雅黑"/>
                <a:cs typeface="微软雅黑"/>
              </a:rPr>
              <a:t>数据解析</a:t>
            </a:r>
            <a:endParaRPr lang="zh-CN"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sz="1000" dirty="0">
                <a:solidFill>
                  <a:srgbClr val="383838"/>
                </a:solidFill>
                <a:latin typeface="微软雅黑"/>
                <a:ea typeface="微软雅黑"/>
                <a:cs typeface="微软雅黑"/>
              </a:rPr>
              <a:t>数据治理</a:t>
            </a:r>
            <a:endParaRPr lang="zh-CN"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sz="1000" dirty="0">
                <a:solidFill>
                  <a:srgbClr val="383838"/>
                </a:solidFill>
                <a:latin typeface="微软雅黑"/>
                <a:ea typeface="微软雅黑"/>
                <a:cs typeface="微软雅黑"/>
              </a:rPr>
              <a:t>特征提取</a:t>
            </a:r>
            <a:endParaRPr lang="zh-CN"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sz="1000" dirty="0">
                <a:solidFill>
                  <a:srgbClr val="383838"/>
                </a:solidFill>
                <a:latin typeface="微软雅黑"/>
                <a:ea typeface="微软雅黑"/>
                <a:cs typeface="微软雅黑"/>
              </a:rPr>
              <a:t>表格结构化</a:t>
            </a:r>
            <a:endParaRPr lang="zh-CN" sz="1000" dirty="0">
              <a:solidFill>
                <a:srgbClr val="383838"/>
              </a:solidFill>
              <a:latin typeface="微软雅黑"/>
              <a:ea typeface="微软雅黑"/>
              <a:cs typeface="微软雅黑"/>
            </a:endParaRPr>
          </a:p>
        </p:txBody>
      </p:sp>
      <p:grpSp>
        <p:nvGrpSpPr>
          <p:cNvPr id="94" name="组合 93"/>
          <p:cNvGrpSpPr/>
          <p:nvPr/>
        </p:nvGrpSpPr>
        <p:grpSpPr>
          <a:xfrm rot="0">
            <a:off x="4377055" y="1207770"/>
            <a:ext cx="1055370" cy="1101445"/>
            <a:chOff x="2001187" y="2519101"/>
            <a:chExt cx="1009650" cy="1667120"/>
          </a:xfrm>
          <a:scene3d>
            <a:camera prst="perspectiveRight"/>
            <a:lightRig rig="threePt" dir="t"/>
          </a:scene3d>
        </p:grpSpPr>
        <p:sp>
          <p:nvSpPr>
            <p:cNvPr id="95" name="矩形: 圆角 94"/>
            <p:cNvSpPr/>
            <p:nvPr/>
          </p:nvSpPr>
          <p:spPr>
            <a:xfrm>
              <a:off x="2001187" y="2519101"/>
              <a:ext cx="1009650" cy="1663700"/>
            </a:xfrm>
            <a:prstGeom prst="roundRect">
              <a:avLst>
                <a:gd name="adj" fmla="val 6604"/>
              </a:avLst>
            </a:prstGeom>
            <a:gradFill>
              <a:gsLst>
                <a:gs pos="100000">
                  <a:srgbClr val="3368FF">
                    <a:alpha val="0"/>
                  </a:srgbClr>
                </a:gs>
                <a:gs pos="0">
                  <a:srgbClr val="3368FF">
                    <a:alpha val="60000"/>
                  </a:srgbClr>
                </a:gs>
              </a:gsLst>
              <a:lin ang="5400000" scaled="1"/>
            </a:gradFill>
            <a:ln>
              <a:gradFill>
                <a:gsLst>
                  <a:gs pos="19000">
                    <a:srgbClr val="3368FF">
                      <a:alpha val="0"/>
                    </a:srgbClr>
                  </a:gs>
                  <a:gs pos="100000">
                    <a:srgbClr val="3368FF">
                      <a:alpha val="4000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96" name="文本框 95"/>
            <p:cNvSpPr txBox="1"/>
            <p:nvPr/>
          </p:nvSpPr>
          <p:spPr>
            <a:xfrm>
              <a:off x="2125722" y="2622680"/>
              <a:ext cx="760579" cy="417126"/>
            </a:xfrm>
            <a:prstGeom prst="rect">
              <a:avLst/>
            </a:prstGeom>
            <a:noFill/>
          </p:spPr>
          <p:txBody>
            <a:bodyPr wrap="none" rtlCol="0">
              <a:spAutoFit/>
            </a:bodyPr>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认知中枢</a:t>
              </a:r>
              <a:endParaRPr lang="zh-CN" altLang="en-US" sz="1200" b="1" dirty="0">
                <a:solidFill>
                  <a:srgbClr val="383838"/>
                </a:solidFill>
                <a:latin typeface="微软雅黑"/>
                <a:ea typeface="微软雅黑"/>
                <a:cs typeface="微软雅黑"/>
              </a:endParaRPr>
            </a:p>
          </p:txBody>
        </p:sp>
        <p:sp>
          <p:nvSpPr>
            <p:cNvPr id="97" name="文本框 96"/>
            <p:cNvSpPr txBox="1"/>
            <p:nvPr/>
          </p:nvSpPr>
          <p:spPr>
            <a:xfrm>
              <a:off x="2114789" y="2930036"/>
              <a:ext cx="782448" cy="1256185"/>
            </a:xfrm>
            <a:prstGeom prst="rect">
              <a:avLst/>
            </a:prstGeom>
            <a:noFill/>
          </p:spPr>
          <p:txBody>
            <a:bodyPr wrap="none" rtlCol="0" lIns="0" rIns="0" tIns="0" bIns="0">
              <a:spAutoFit/>
            </a:bodyPr>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信息搜索</a:t>
              </a:r>
              <a:endParaRPr lang="zh-CN" altLang="en-US" sz="10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语义向量化</a:t>
              </a:r>
              <a:endParaRPr lang="zh-CN" altLang="en-US" sz="10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智能分类</a:t>
              </a:r>
              <a:endParaRPr lang="zh-CN" altLang="en-US" sz="10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知识图谱</a:t>
              </a:r>
              <a:endParaRPr lang="zh-CN" altLang="en-US" sz="1000" dirty="0">
                <a:solidFill>
                  <a:srgbClr val="383838"/>
                </a:solidFill>
                <a:latin typeface="微软雅黑"/>
                <a:ea typeface="微软雅黑"/>
                <a:cs typeface="微软雅黑"/>
              </a:endParaRPr>
            </a:p>
          </p:txBody>
        </p:sp>
      </p:grpSp>
      <p:sp>
        <p:nvSpPr>
          <p:cNvPr id="99" name="矩形: 圆角 98"/>
          <p:cNvSpPr/>
          <p:nvPr/>
        </p:nvSpPr>
        <p:spPr>
          <a:xfrm>
            <a:off x="5558155" y="1212215"/>
            <a:ext cx="1049655" cy="1092835"/>
          </a:xfrm>
          <a:prstGeom prst="roundRect">
            <a:avLst>
              <a:gd name="adj" fmla="val 6604"/>
            </a:avLst>
          </a:prstGeom>
          <a:gradFill>
            <a:gsLst>
              <a:gs pos="100000">
                <a:srgbClr val="3368FF">
                  <a:alpha val="0"/>
                </a:srgbClr>
              </a:gs>
              <a:gs pos="0">
                <a:srgbClr val="3368FF">
                  <a:alpha val="60000"/>
                </a:srgbClr>
              </a:gs>
            </a:gsLst>
            <a:lin ang="5400000" scaled="1"/>
          </a:gradFill>
          <a:ln>
            <a:gradFill>
              <a:gsLst>
                <a:gs pos="19000">
                  <a:srgbClr val="3368FF">
                    <a:alpha val="0"/>
                  </a:srgbClr>
                </a:gs>
                <a:gs pos="100000">
                  <a:srgbClr val="3368FF">
                    <a:alpha val="4000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00" name="文本框 99"/>
          <p:cNvSpPr txBox="1"/>
          <p:nvPr/>
        </p:nvSpPr>
        <p:spPr>
          <a:xfrm>
            <a:off x="5685155" y="1280160"/>
            <a:ext cx="795020" cy="275590"/>
          </a:xfrm>
          <a:prstGeom prst="rect">
            <a:avLst/>
          </a:prstGeom>
          <a:noFill/>
        </p:spPr>
        <p:txBody>
          <a:bodyPr wrap="none" rtlCol="0">
            <a:spAutoFit/>
          </a:bodyPr>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智能认证</a:t>
            </a:r>
            <a:endParaRPr lang="zh-CN" altLang="en-US" sz="1200" b="1" dirty="0">
              <a:solidFill>
                <a:srgbClr val="383838"/>
              </a:solidFill>
              <a:latin typeface="微软雅黑"/>
              <a:ea typeface="微软雅黑"/>
              <a:cs typeface="微软雅黑"/>
            </a:endParaRPr>
          </a:p>
        </p:txBody>
      </p:sp>
      <p:sp>
        <p:nvSpPr>
          <p:cNvPr id="101" name="文本框 100"/>
          <p:cNvSpPr txBox="1"/>
          <p:nvPr/>
        </p:nvSpPr>
        <p:spPr>
          <a:xfrm>
            <a:off x="5648643" y="1482090"/>
            <a:ext cx="868680" cy="829945"/>
          </a:xfrm>
          <a:prstGeom prst="rect">
            <a:avLst/>
          </a:prstGeom>
          <a:noFill/>
        </p:spPr>
        <p:txBody>
          <a:bodyPr wrap="none" rtlCol="0" lIns="0" rIns="0" tIns="0" bIns="0">
            <a:spAutoFit/>
          </a:bodyPr>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身份识别</a:t>
            </a:r>
            <a:endParaRPr lang="zh-CN" altLang="en-US" sz="10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指纹</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人脸等</a:t>
            </a:r>
            <a:endParaRPr lang="zh-CN" altLang="en-US" sz="10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数字身份</a:t>
            </a:r>
            <a:endParaRPr lang="zh-CN" altLang="en-US" sz="10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联合认证</a:t>
            </a:r>
            <a:endParaRPr lang="zh-CN" altLang="en-US" sz="1000" dirty="0">
              <a:solidFill>
                <a:srgbClr val="383838"/>
              </a:solidFill>
              <a:latin typeface="微软雅黑"/>
              <a:ea typeface="微软雅黑"/>
              <a:cs typeface="微软雅黑"/>
            </a:endParaRPr>
          </a:p>
        </p:txBody>
      </p:sp>
      <p:sp>
        <p:nvSpPr>
          <p:cNvPr id="103" name="矩形: 圆角 102"/>
          <p:cNvSpPr/>
          <p:nvPr/>
        </p:nvSpPr>
        <p:spPr>
          <a:xfrm>
            <a:off x="6732905" y="1207770"/>
            <a:ext cx="1055370" cy="1099185"/>
          </a:xfrm>
          <a:prstGeom prst="roundRect">
            <a:avLst>
              <a:gd name="adj" fmla="val 6604"/>
            </a:avLst>
          </a:prstGeom>
          <a:gradFill>
            <a:gsLst>
              <a:gs pos="100000">
                <a:srgbClr val="3368FF">
                  <a:alpha val="0"/>
                </a:srgbClr>
              </a:gs>
              <a:gs pos="0">
                <a:srgbClr val="3368FF">
                  <a:alpha val="60000"/>
                </a:srgbClr>
              </a:gs>
            </a:gsLst>
            <a:lin ang="5400000" scaled="1"/>
          </a:gradFill>
          <a:ln>
            <a:gradFill>
              <a:gsLst>
                <a:gs pos="19000">
                  <a:srgbClr val="3368FF">
                    <a:alpha val="0"/>
                  </a:srgbClr>
                </a:gs>
                <a:gs pos="100000">
                  <a:srgbClr val="3368FF">
                    <a:alpha val="40000"/>
                  </a:srgbClr>
                </a:gs>
              </a:gsLst>
              <a:lin ang="5400000" scaled="1"/>
            </a:gradFill>
          </a:ln>
          <a:scene3d>
            <a:camera prst="perspectiveLeft"/>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04" name="文本框 103"/>
          <p:cNvSpPr txBox="1"/>
          <p:nvPr/>
        </p:nvSpPr>
        <p:spPr>
          <a:xfrm>
            <a:off x="6862763" y="1276350"/>
            <a:ext cx="795020" cy="275590"/>
          </a:xfrm>
          <a:prstGeom prst="rect">
            <a:avLst/>
          </a:prstGeom>
          <a:noFill/>
          <a:scene3d>
            <a:camera prst="perspectiveLeft"/>
            <a:lightRig rig="threePt" dir="t"/>
          </a:scene3d>
        </p:spPr>
        <p:txBody>
          <a:bodyPr wrap="none" rtlCol="0">
            <a:spAutoFit/>
          </a:bodyPr>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智能场景</a:t>
            </a:r>
            <a:endParaRPr lang="zh-CN" altLang="en-US" sz="1200" b="1" dirty="0">
              <a:solidFill>
                <a:srgbClr val="FFFFFF"/>
              </a:solidFill>
              <a:latin typeface="微软雅黑"/>
              <a:ea typeface="微软雅黑"/>
              <a:cs typeface="微软雅黑"/>
            </a:endParaRPr>
          </a:p>
        </p:txBody>
      </p:sp>
      <p:sp>
        <p:nvSpPr>
          <p:cNvPr id="105" name="文本框 104"/>
          <p:cNvSpPr txBox="1"/>
          <p:nvPr/>
        </p:nvSpPr>
        <p:spPr>
          <a:xfrm>
            <a:off x="6915468" y="1479550"/>
            <a:ext cx="690880" cy="829945"/>
          </a:xfrm>
          <a:prstGeom prst="rect">
            <a:avLst/>
          </a:prstGeom>
          <a:noFill/>
          <a:scene3d>
            <a:camera prst="perspectiveLeft"/>
            <a:lightRig rig="threePt" dir="t"/>
          </a:scene3d>
        </p:spPr>
        <p:txBody>
          <a:bodyPr wrap="none" rtlCol="0" lIns="0" rIns="0" tIns="0" bIns="0">
            <a:spAutoFit/>
          </a:bodyPr>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精准推送</a:t>
            </a:r>
            <a:endParaRPr lang="zh-CN" altLang="en-US"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智能路由</a:t>
            </a:r>
            <a:endParaRPr lang="zh-CN" altLang="en-US"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事件响应</a:t>
            </a:r>
            <a:endParaRPr lang="zh-CN" altLang="en-US"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动态蒸馏</a:t>
            </a:r>
            <a:endParaRPr lang="zh-CN" altLang="en-US" sz="1000" dirty="0">
              <a:solidFill>
                <a:srgbClr val="383838"/>
              </a:solidFill>
              <a:latin typeface="微软雅黑"/>
              <a:ea typeface="微软雅黑"/>
              <a:cs typeface="微软雅黑"/>
            </a:endParaRPr>
          </a:p>
        </p:txBody>
      </p:sp>
      <p:sp>
        <p:nvSpPr>
          <p:cNvPr id="108" name="矩形: 圆角 107"/>
          <p:cNvSpPr/>
          <p:nvPr/>
        </p:nvSpPr>
        <p:spPr>
          <a:xfrm>
            <a:off x="7913370" y="1186815"/>
            <a:ext cx="1090930" cy="1136015"/>
          </a:xfrm>
          <a:prstGeom prst="roundRect">
            <a:avLst>
              <a:gd name="adj" fmla="val 6604"/>
            </a:avLst>
          </a:prstGeom>
          <a:gradFill>
            <a:gsLst>
              <a:gs pos="100000">
                <a:srgbClr val="3368FF">
                  <a:alpha val="0"/>
                </a:srgbClr>
              </a:gs>
              <a:gs pos="0">
                <a:srgbClr val="3368FF">
                  <a:alpha val="60000"/>
                </a:srgbClr>
              </a:gs>
            </a:gsLst>
            <a:lin ang="5400000" scaled="1"/>
          </a:gradFill>
          <a:ln>
            <a:gradFill>
              <a:gsLst>
                <a:gs pos="19000">
                  <a:srgbClr val="3368FF">
                    <a:alpha val="0"/>
                  </a:srgbClr>
                </a:gs>
                <a:gs pos="100000">
                  <a:srgbClr val="3368FF">
                    <a:alpha val="40000"/>
                  </a:srgbClr>
                </a:gs>
              </a:gsLst>
              <a:lin ang="5400000" scaled="1"/>
            </a:gradFill>
          </a:ln>
          <a:scene3d>
            <a:camera prst="perspectiveLeft">
              <a:rot lat="0" lon="180000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09" name="文本框 108"/>
          <p:cNvSpPr txBox="1"/>
          <p:nvPr/>
        </p:nvSpPr>
        <p:spPr>
          <a:xfrm>
            <a:off x="8061325" y="1252220"/>
            <a:ext cx="795020" cy="275590"/>
          </a:xfrm>
          <a:prstGeom prst="rect">
            <a:avLst/>
          </a:prstGeom>
          <a:noFill/>
          <a:scene3d>
            <a:camera prst="perspectiveLeft">
              <a:rot lat="0" lon="1800000" rev="0"/>
            </a:camera>
            <a:lightRig rig="threePt" dir="t"/>
          </a:scene3d>
        </p:spPr>
        <p:txBody>
          <a:bodyPr wrap="none" rtlCol="0">
            <a:spAutoFit/>
          </a:bodyPr>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决策增强</a:t>
            </a:r>
            <a:endParaRPr lang="zh-CN" altLang="en-US" sz="1200" b="1" dirty="0">
              <a:solidFill>
                <a:srgbClr val="FFFFFF"/>
              </a:solidFill>
              <a:latin typeface="微软雅黑"/>
              <a:ea typeface="微软雅黑"/>
              <a:cs typeface="微软雅黑"/>
            </a:endParaRPr>
          </a:p>
        </p:txBody>
      </p:sp>
      <p:sp>
        <p:nvSpPr>
          <p:cNvPr id="110" name="文本框 109"/>
          <p:cNvSpPr txBox="1"/>
          <p:nvPr/>
        </p:nvSpPr>
        <p:spPr>
          <a:xfrm>
            <a:off x="8113713" y="1461770"/>
            <a:ext cx="690880" cy="829945"/>
          </a:xfrm>
          <a:prstGeom prst="rect">
            <a:avLst/>
          </a:prstGeom>
          <a:noFill/>
          <a:scene3d>
            <a:camera prst="perspectiveLeft">
              <a:rot lat="0" lon="1800000" rev="0"/>
            </a:camera>
            <a:lightRig rig="threePt" dir="t"/>
          </a:scene3d>
        </p:spPr>
        <p:txBody>
          <a:bodyPr wrap="none" rtlCol="0" lIns="0" rIns="0" tIns="0" bIns="0">
            <a:spAutoFit/>
          </a:bodyPr>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数字孪生</a:t>
            </a:r>
            <a:endParaRPr lang="zh-CN" altLang="en-US"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策略生成</a:t>
            </a:r>
            <a:endParaRPr lang="zh-CN" altLang="en-US"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风险预警</a:t>
            </a:r>
            <a:endParaRPr lang="zh-CN" altLang="en-US" sz="1000" dirty="0">
              <a:solidFill>
                <a:srgbClr val="383838"/>
              </a:solidFill>
              <a:latin typeface="微软雅黑"/>
              <a:ea typeface="微软雅黑"/>
              <a:cs typeface="微软雅黑"/>
            </a:endParaRPr>
          </a:p>
          <a:p>
            <a:pPr algn="ctr">
              <a:lnSpc>
                <a:spcPct val="120000"/>
              </a:lnSpc>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效果追踪</a:t>
            </a:r>
            <a:endParaRPr lang="zh-CN" altLang="en-US" sz="1000" dirty="0">
              <a:solidFill>
                <a:srgbClr val="383838"/>
              </a:solidFill>
              <a:latin typeface="微软雅黑"/>
              <a:ea typeface="微软雅黑"/>
              <a:cs typeface="微软雅黑"/>
            </a:endParaRPr>
          </a:p>
        </p:txBody>
      </p:sp>
      <p:sp>
        <p:nvSpPr>
          <p:cNvPr id="212" name="椭圆 211"/>
          <p:cNvSpPr/>
          <p:nvPr/>
        </p:nvSpPr>
        <p:spPr>
          <a:xfrm>
            <a:off x="1115695" y="1132840"/>
            <a:ext cx="1238250" cy="1238250"/>
          </a:xfrm>
          <a:prstGeom prst="ellipse">
            <a:avLst/>
          </a:prstGeom>
          <a:gradFill flip="none" rotWithShape="1">
            <a:gsLst>
              <a:gs pos="50000">
                <a:srgbClr val="3368FF">
                  <a:alpha val="0"/>
                </a:srgbClr>
              </a:gs>
              <a:gs pos="100000">
                <a:srgbClr val="3368FF"/>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en-US" altLang="zh-CN" dirty="0">
                <a:solidFill>
                  <a:srgbClr val="FFFFFF"/>
                </a:solidFill>
                <a:latin typeface="微软雅黑"/>
                <a:ea typeface="微软雅黑"/>
                <a:cs typeface="微软雅黑"/>
              </a:rPr>
              <a:t>v</a:t>
            </a:r>
            <a:endParaRPr lang="en-US" altLang="zh-CN" dirty="0">
              <a:solidFill>
                <a:srgbClr val="FFFFFF"/>
              </a:solidFill>
              <a:latin typeface="微软雅黑"/>
              <a:ea typeface="微软雅黑"/>
              <a:cs typeface="微软雅黑"/>
            </a:endParaRPr>
          </a:p>
        </p:txBody>
      </p:sp>
      <p:sp>
        <p:nvSpPr>
          <p:cNvPr id="213" name="椭圆 212"/>
          <p:cNvSpPr/>
          <p:nvPr/>
        </p:nvSpPr>
        <p:spPr>
          <a:xfrm>
            <a:off x="1262380" y="1279525"/>
            <a:ext cx="944880" cy="944880"/>
          </a:xfrm>
          <a:prstGeom prst="ellipse">
            <a:avLst/>
          </a:prstGeom>
          <a:gradFill>
            <a:gsLst>
              <a:gs pos="13000">
                <a:srgbClr val="3368FF">
                  <a:alpha val="39000"/>
                </a:srgbClr>
              </a:gs>
              <a:gs pos="86000">
                <a:srgbClr val="3368FF"/>
              </a:gs>
            </a:gsLst>
            <a:path path="circle">
              <a:fillToRect r="100000" b="100000"/>
            </a:path>
          </a:gradFill>
          <a:ln>
            <a:noFill/>
          </a:ln>
          <a:effectLst/>
        </p:spPr>
        <p:style>
          <a:lnRef idx="2">
            <a:srgbClr val="0042FF"/>
          </a:lnRef>
          <a:fillRef idx="1">
            <a:srgbClr val="0042FF"/>
          </a:fillRef>
          <a:effectRef idx="0">
            <a:srgbClr val="0042FF"/>
          </a:effectRef>
          <a:fontRef idx="minor">
            <a:srgbClr val="FFFFFF"/>
          </a:fontRef>
        </p:style>
        <p:txBody>
          <a:bodyPr lIns="39600" tIns="0" rIns="39600" bIns="0" rtlCol="0" anchor="ctr"/>
          <a:p>
            <a:pPr algn="ctr">
              <a:defRPr>
                <a:solidFill>
                  <a:srgbClr val="FFFFFF"/>
                </a:solidFill>
                <a:latin typeface="微软雅黑"/>
                <a:ea typeface="微软雅黑"/>
                <a:cs typeface="微软雅黑"/>
              </a:defRPr>
            </a:pPr>
            <a:endParaRPr lang="zh-CN" altLang="en-US" sz="1400" b="1">
              <a:solidFill>
                <a:srgbClr val="FFFFFF"/>
              </a:solidFill>
              <a:latin typeface="微软雅黑"/>
              <a:ea typeface="微软雅黑"/>
              <a:cs typeface="微软雅黑"/>
            </a:endParaRPr>
          </a:p>
        </p:txBody>
      </p:sp>
      <p:sp>
        <p:nvSpPr>
          <p:cNvPr id="84" name="文本框 83"/>
          <p:cNvSpPr txBox="1"/>
          <p:nvPr/>
        </p:nvSpPr>
        <p:spPr>
          <a:xfrm>
            <a:off x="1421448" y="1459230"/>
            <a:ext cx="590550" cy="583565"/>
          </a:xfrm>
          <a:prstGeom prst="rect">
            <a:avLst/>
          </a:prstGeom>
          <a:noFill/>
        </p:spPr>
        <p:txBody>
          <a:bodyPr wrap="none" rtlCol="0">
            <a:spAutoFit/>
          </a:bodyPr>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产智</a:t>
            </a:r>
            <a:endParaRPr lang="zh-CN" altLang="en-US" sz="16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融合</a:t>
            </a:r>
            <a:endParaRPr lang="zh-CN" altLang="en-US" sz="1600" b="1" dirty="0">
              <a:solidFill>
                <a:srgbClr val="FFFFFF"/>
              </a:solidFill>
              <a:latin typeface="微软雅黑"/>
              <a:ea typeface="微软雅黑"/>
              <a:cs typeface="微软雅黑"/>
            </a:endParaRPr>
          </a:p>
        </p:txBody>
      </p:sp>
      <p:grpSp>
        <p:nvGrpSpPr>
          <p:cNvPr id="218" name="组合 217"/>
          <p:cNvGrpSpPr/>
          <p:nvPr/>
        </p:nvGrpSpPr>
        <p:grpSpPr>
          <a:xfrm rot="0">
            <a:off x="9103995" y="1588135"/>
            <a:ext cx="523875" cy="286385"/>
            <a:chOff x="9888649" y="2057303"/>
            <a:chExt cx="507355" cy="276999"/>
          </a:xfrm>
          <a:gradFill flip="none" rotWithShape="1">
            <a:gsLst>
              <a:gs pos="0">
                <a:srgbClr val="3368FF"/>
              </a:gs>
              <a:gs pos="100000">
                <a:srgbClr val="3368FF">
                  <a:alpha val="0"/>
                </a:srgbClr>
              </a:gs>
            </a:gsLst>
            <a:lin ang="10800000" scaled="1"/>
            <a:tileRect/>
          </a:gradFill>
        </p:grpSpPr>
        <p:sp>
          <p:nvSpPr>
            <p:cNvPr id="219" name="箭头: V 形 83"/>
            <p:cNvSpPr/>
            <p:nvPr/>
          </p:nvSpPr>
          <p:spPr>
            <a:xfrm>
              <a:off x="9888649" y="2057303"/>
              <a:ext cx="276999" cy="276999"/>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a:p>
              <a:pPr algn="ctr" defTabSz="1460500">
                <a:defRPr>
                  <a:solidFill>
                    <a:srgbClr val="383838"/>
                  </a:solidFill>
                  <a:latin typeface="微软雅黑"/>
                  <a:ea typeface="微软雅黑"/>
                  <a:cs typeface="微软雅黑"/>
                </a:defRPr>
              </a:pPr>
              <a:endParaRPr lang="zh-CN" altLang="en-US" sz="2875" dirty="0">
                <a:solidFill>
                  <a:srgbClr val="383838"/>
                </a:solidFill>
                <a:latin typeface="微软雅黑"/>
                <a:ea typeface="微软雅黑"/>
                <a:cs typeface="微软雅黑"/>
                <a:sym typeface="微软雅黑"/>
              </a:endParaRPr>
            </a:p>
          </p:txBody>
        </p:sp>
        <p:sp>
          <p:nvSpPr>
            <p:cNvPr id="220" name="箭头: V 形 84"/>
            <p:cNvSpPr/>
            <p:nvPr/>
          </p:nvSpPr>
          <p:spPr>
            <a:xfrm>
              <a:off x="10119005" y="2057303"/>
              <a:ext cx="276999" cy="276999"/>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a:p>
              <a:pPr algn="ctr" defTabSz="1460500">
                <a:defRPr>
                  <a:solidFill>
                    <a:srgbClr val="383838"/>
                  </a:solidFill>
                  <a:latin typeface="微软雅黑"/>
                  <a:ea typeface="微软雅黑"/>
                  <a:cs typeface="微软雅黑"/>
                </a:defRPr>
              </a:pPr>
              <a:endParaRPr lang="zh-CN" altLang="en-US" sz="2875">
                <a:solidFill>
                  <a:srgbClr val="383838"/>
                </a:solidFill>
                <a:latin typeface="微软雅黑"/>
                <a:ea typeface="微软雅黑"/>
                <a:cs typeface="微软雅黑"/>
                <a:sym typeface="微软雅黑"/>
              </a:endParaRPr>
            </a:p>
          </p:txBody>
        </p:sp>
      </p:grpSp>
      <p:grpSp>
        <p:nvGrpSpPr>
          <p:cNvPr id="221" name="组合 220"/>
          <p:cNvGrpSpPr/>
          <p:nvPr/>
        </p:nvGrpSpPr>
        <p:grpSpPr>
          <a:xfrm rot="0">
            <a:off x="2474595" y="1606550"/>
            <a:ext cx="529590" cy="286385"/>
            <a:chOff x="1849551" y="2043230"/>
            <a:chExt cx="512422" cy="276999"/>
          </a:xfrm>
          <a:gradFill flip="none" rotWithShape="1">
            <a:gsLst>
              <a:gs pos="0">
                <a:srgbClr val="3368FF"/>
              </a:gs>
              <a:gs pos="100000">
                <a:srgbClr val="3368FF">
                  <a:alpha val="0"/>
                </a:srgbClr>
              </a:gs>
            </a:gsLst>
            <a:lin ang="0" scaled="1"/>
            <a:tileRect/>
          </a:gradFill>
        </p:grpSpPr>
        <p:sp>
          <p:nvSpPr>
            <p:cNvPr id="222" name="箭头: V 形 86"/>
            <p:cNvSpPr/>
            <p:nvPr/>
          </p:nvSpPr>
          <p:spPr>
            <a:xfrm flipH="1">
              <a:off x="1849551" y="2043230"/>
              <a:ext cx="276999" cy="276999"/>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a:p>
              <a:pPr algn="ctr" defTabSz="1460500">
                <a:defRPr>
                  <a:solidFill>
                    <a:srgbClr val="383838"/>
                  </a:solidFill>
                  <a:latin typeface="微软雅黑"/>
                  <a:ea typeface="微软雅黑"/>
                  <a:cs typeface="微软雅黑"/>
                </a:defRPr>
              </a:pPr>
              <a:endParaRPr lang="zh-CN" altLang="en-US" sz="2875" dirty="0">
                <a:solidFill>
                  <a:srgbClr val="383838"/>
                </a:solidFill>
                <a:latin typeface="微软雅黑"/>
                <a:ea typeface="微软雅黑"/>
                <a:cs typeface="微软雅黑"/>
                <a:sym typeface="微软雅黑"/>
              </a:endParaRPr>
            </a:p>
          </p:txBody>
        </p:sp>
        <p:sp>
          <p:nvSpPr>
            <p:cNvPr id="223" name="箭头: V 形 88"/>
            <p:cNvSpPr/>
            <p:nvPr/>
          </p:nvSpPr>
          <p:spPr>
            <a:xfrm flipH="1">
              <a:off x="2084974" y="2043230"/>
              <a:ext cx="276999" cy="276999"/>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a:p>
              <a:pPr algn="ctr" defTabSz="1460500">
                <a:defRPr>
                  <a:solidFill>
                    <a:srgbClr val="383838"/>
                  </a:solidFill>
                  <a:latin typeface="微软雅黑"/>
                  <a:ea typeface="微软雅黑"/>
                  <a:cs typeface="微软雅黑"/>
                </a:defRPr>
              </a:pPr>
              <a:endParaRPr lang="zh-CN" altLang="en-US" sz="2875">
                <a:solidFill>
                  <a:srgbClr val="383838"/>
                </a:solidFill>
                <a:latin typeface="微软雅黑"/>
                <a:ea typeface="微软雅黑"/>
                <a:cs typeface="微软雅黑"/>
                <a:sym typeface="微软雅黑"/>
              </a:endParaRPr>
            </a:p>
          </p:txBody>
        </p:sp>
      </p:grpSp>
      <p:sp>
        <p:nvSpPr>
          <p:cNvPr id="18" name="椭圆 17"/>
          <p:cNvSpPr/>
          <p:nvPr/>
        </p:nvSpPr>
        <p:spPr>
          <a:xfrm>
            <a:off x="9678035" y="1115695"/>
            <a:ext cx="1238250" cy="1238250"/>
          </a:xfrm>
          <a:prstGeom prst="ellipse">
            <a:avLst/>
          </a:prstGeom>
          <a:gradFill flip="none" rotWithShape="1">
            <a:gsLst>
              <a:gs pos="50000">
                <a:srgbClr val="3368FF">
                  <a:alpha val="0"/>
                </a:srgbClr>
              </a:gs>
              <a:gs pos="100000">
                <a:srgbClr val="3368FF"/>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en-US" altLang="zh-CN" dirty="0">
                <a:solidFill>
                  <a:srgbClr val="FFFFFF"/>
                </a:solidFill>
                <a:latin typeface="微软雅黑"/>
                <a:ea typeface="微软雅黑"/>
                <a:cs typeface="微软雅黑"/>
              </a:rPr>
              <a:t>v</a:t>
            </a:r>
            <a:endParaRPr lang="en-US" altLang="zh-CN" dirty="0">
              <a:solidFill>
                <a:srgbClr val="FFFFFF"/>
              </a:solidFill>
              <a:latin typeface="微软雅黑"/>
              <a:ea typeface="微软雅黑"/>
              <a:cs typeface="微软雅黑"/>
            </a:endParaRPr>
          </a:p>
        </p:txBody>
      </p:sp>
      <p:sp>
        <p:nvSpPr>
          <p:cNvPr id="19" name="椭圆 18"/>
          <p:cNvSpPr/>
          <p:nvPr/>
        </p:nvSpPr>
        <p:spPr>
          <a:xfrm>
            <a:off x="9824720" y="1262380"/>
            <a:ext cx="944880" cy="944880"/>
          </a:xfrm>
          <a:prstGeom prst="ellipse">
            <a:avLst/>
          </a:prstGeom>
          <a:gradFill>
            <a:gsLst>
              <a:gs pos="13000">
                <a:srgbClr val="3368FF">
                  <a:alpha val="39000"/>
                </a:srgbClr>
              </a:gs>
              <a:gs pos="86000">
                <a:srgbClr val="3368FF"/>
              </a:gs>
            </a:gsLst>
            <a:path path="circle">
              <a:fillToRect r="100000" b="100000"/>
            </a:path>
          </a:gradFill>
          <a:ln>
            <a:noFill/>
          </a:ln>
          <a:effectLst/>
        </p:spPr>
        <p:style>
          <a:lnRef idx="2">
            <a:srgbClr val="0042FF"/>
          </a:lnRef>
          <a:fillRef idx="1">
            <a:srgbClr val="0042FF"/>
          </a:fillRef>
          <a:effectRef idx="0">
            <a:srgbClr val="0042FF"/>
          </a:effectRef>
          <a:fontRef idx="minor">
            <a:srgbClr val="FFFFFF"/>
          </a:fontRef>
        </p:style>
        <p:txBody>
          <a:bodyPr lIns="39600" tIns="0" rIns="39600" bIns="0" rtlCol="0" anchor="ctr"/>
          <a:p>
            <a:pPr algn="ctr">
              <a:defRPr>
                <a:solidFill>
                  <a:srgbClr val="FFFFFF"/>
                </a:solidFill>
                <a:latin typeface="微软雅黑"/>
                <a:ea typeface="微软雅黑"/>
                <a:cs typeface="微软雅黑"/>
              </a:defRPr>
            </a:pPr>
            <a:endParaRPr lang="zh-CN" altLang="en-US" sz="1400" b="1">
              <a:solidFill>
                <a:srgbClr val="FFFFFF"/>
              </a:solidFill>
              <a:latin typeface="微软雅黑"/>
              <a:ea typeface="微软雅黑"/>
              <a:cs typeface="微软雅黑"/>
            </a:endParaRPr>
          </a:p>
        </p:txBody>
      </p:sp>
      <p:sp>
        <p:nvSpPr>
          <p:cNvPr id="20" name="文本框 19"/>
          <p:cNvSpPr txBox="1"/>
          <p:nvPr/>
        </p:nvSpPr>
        <p:spPr>
          <a:xfrm>
            <a:off x="9983470" y="1442085"/>
            <a:ext cx="590550" cy="583565"/>
          </a:xfrm>
          <a:prstGeom prst="rect">
            <a:avLst/>
          </a:prstGeom>
          <a:noFill/>
        </p:spPr>
        <p:txBody>
          <a:bodyPr wrap="none" rtlCol="0">
            <a:spAutoFit/>
          </a:bodyPr>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生态</a:t>
            </a:r>
            <a:endParaRPr lang="zh-CN" altLang="en-US" sz="1600" b="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智联</a:t>
            </a:r>
            <a:endParaRPr lang="zh-CN" altLang="en-US" sz="1600" b="1" dirty="0">
              <a:solidFill>
                <a:srgbClr val="FFFFFF"/>
              </a:solidFill>
              <a:latin typeface="微软雅黑"/>
              <a:ea typeface="微软雅黑"/>
              <a:cs typeface="微软雅黑"/>
            </a:endParaRPr>
          </a:p>
        </p:txBody>
      </p:sp>
      <p:sp>
        <p:nvSpPr>
          <p:cNvPr id="21" name="文本框 20"/>
          <p:cNvSpPr txBox="1"/>
          <p:nvPr/>
        </p:nvSpPr>
        <p:spPr>
          <a:xfrm>
            <a:off x="1880870" y="274828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身份认证</a:t>
            </a:r>
            <a:endParaRPr lang="zh-CN" altLang="en-US" sz="1000">
              <a:latin typeface="微软雅黑"/>
              <a:ea typeface="微软雅黑"/>
              <a:cs typeface="微软雅黑"/>
            </a:endParaRPr>
          </a:p>
        </p:txBody>
      </p:sp>
      <p:sp>
        <p:nvSpPr>
          <p:cNvPr id="22" name="文本框 21"/>
          <p:cNvSpPr txBox="1"/>
          <p:nvPr/>
        </p:nvSpPr>
        <p:spPr>
          <a:xfrm>
            <a:off x="3374390" y="299339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用户画像</a:t>
            </a:r>
            <a:endParaRPr lang="zh-CN" altLang="en-US" sz="1000">
              <a:latin typeface="微软雅黑"/>
              <a:ea typeface="微软雅黑"/>
              <a:cs typeface="微软雅黑"/>
            </a:endParaRPr>
          </a:p>
        </p:txBody>
      </p:sp>
      <p:sp>
        <p:nvSpPr>
          <p:cNvPr id="23" name="文本框 22"/>
          <p:cNvSpPr txBox="1"/>
          <p:nvPr/>
        </p:nvSpPr>
        <p:spPr>
          <a:xfrm>
            <a:off x="2947670" y="253746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辅助决策</a:t>
            </a:r>
            <a:endParaRPr lang="zh-CN" altLang="en-US" sz="1000">
              <a:latin typeface="微软雅黑"/>
              <a:ea typeface="微软雅黑"/>
              <a:cs typeface="微软雅黑"/>
            </a:endParaRPr>
          </a:p>
        </p:txBody>
      </p:sp>
      <p:sp>
        <p:nvSpPr>
          <p:cNvPr id="24" name="文本框 23"/>
          <p:cNvSpPr txBox="1"/>
          <p:nvPr/>
        </p:nvSpPr>
        <p:spPr>
          <a:xfrm>
            <a:off x="4014470" y="242697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流程优化</a:t>
            </a:r>
            <a:endParaRPr lang="zh-CN" altLang="en-US" sz="1000">
              <a:latin typeface="微软雅黑"/>
              <a:ea typeface="微软雅黑"/>
              <a:cs typeface="微软雅黑"/>
            </a:endParaRPr>
          </a:p>
        </p:txBody>
      </p:sp>
      <p:sp>
        <p:nvSpPr>
          <p:cNvPr id="25" name="文本框 24"/>
          <p:cNvSpPr txBox="1"/>
          <p:nvPr/>
        </p:nvSpPr>
        <p:spPr>
          <a:xfrm>
            <a:off x="5081270" y="237109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智能引导</a:t>
            </a:r>
            <a:endParaRPr lang="zh-CN" altLang="en-US" sz="1000">
              <a:latin typeface="微软雅黑"/>
              <a:ea typeface="微软雅黑"/>
              <a:cs typeface="微软雅黑"/>
            </a:endParaRPr>
          </a:p>
        </p:txBody>
      </p:sp>
      <p:sp>
        <p:nvSpPr>
          <p:cNvPr id="26" name="文本框 25"/>
          <p:cNvSpPr txBox="1"/>
          <p:nvPr/>
        </p:nvSpPr>
        <p:spPr>
          <a:xfrm>
            <a:off x="6148070" y="238252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智能检索</a:t>
            </a:r>
            <a:endParaRPr lang="zh-CN" altLang="en-US" sz="1000">
              <a:latin typeface="微软雅黑"/>
              <a:ea typeface="微软雅黑"/>
              <a:cs typeface="微软雅黑"/>
            </a:endParaRPr>
          </a:p>
        </p:txBody>
      </p:sp>
      <p:sp>
        <p:nvSpPr>
          <p:cNvPr id="27" name="文本框 26"/>
          <p:cNvSpPr txBox="1"/>
          <p:nvPr/>
        </p:nvSpPr>
        <p:spPr>
          <a:xfrm>
            <a:off x="7214870" y="243205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智能问答</a:t>
            </a:r>
            <a:endParaRPr lang="zh-CN" altLang="en-US" sz="1000">
              <a:latin typeface="微软雅黑"/>
              <a:ea typeface="微软雅黑"/>
              <a:cs typeface="微软雅黑"/>
            </a:endParaRPr>
          </a:p>
        </p:txBody>
      </p:sp>
      <p:sp>
        <p:nvSpPr>
          <p:cNvPr id="28" name="文本框 27"/>
          <p:cNvSpPr txBox="1"/>
          <p:nvPr/>
        </p:nvSpPr>
        <p:spPr>
          <a:xfrm>
            <a:off x="8281670" y="256095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知识库</a:t>
            </a:r>
            <a:endParaRPr lang="zh-CN" altLang="en-US" sz="1000">
              <a:latin typeface="微软雅黑"/>
              <a:ea typeface="微软雅黑"/>
              <a:cs typeface="微软雅黑"/>
            </a:endParaRPr>
          </a:p>
        </p:txBody>
      </p:sp>
      <p:sp>
        <p:nvSpPr>
          <p:cNvPr id="29" name="文本框 28"/>
          <p:cNvSpPr txBox="1"/>
          <p:nvPr/>
        </p:nvSpPr>
        <p:spPr>
          <a:xfrm>
            <a:off x="9348470" y="274828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智能咨询</a:t>
            </a:r>
            <a:endParaRPr lang="zh-CN" altLang="en-US" sz="1000">
              <a:latin typeface="微软雅黑"/>
              <a:ea typeface="微软雅黑"/>
              <a:cs typeface="微软雅黑"/>
            </a:endParaRPr>
          </a:p>
        </p:txBody>
      </p:sp>
      <p:sp>
        <p:nvSpPr>
          <p:cNvPr id="30" name="文本框 29"/>
          <p:cNvSpPr txBox="1"/>
          <p:nvPr/>
        </p:nvSpPr>
        <p:spPr>
          <a:xfrm>
            <a:off x="7854950" y="299339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预警分析</a:t>
            </a:r>
            <a:endParaRPr lang="zh-CN" altLang="en-US" sz="1000">
              <a:latin typeface="微软雅黑"/>
              <a:ea typeface="微软雅黑"/>
              <a:cs typeface="微软雅黑"/>
            </a:endParaRPr>
          </a:p>
        </p:txBody>
      </p:sp>
      <p:sp>
        <p:nvSpPr>
          <p:cNvPr id="31" name="文本框 30"/>
          <p:cNvSpPr txBox="1"/>
          <p:nvPr/>
        </p:nvSpPr>
        <p:spPr>
          <a:xfrm>
            <a:off x="6361430" y="308483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文件结构化</a:t>
            </a:r>
            <a:endParaRPr lang="zh-CN" altLang="en-US" sz="1000">
              <a:latin typeface="微软雅黑"/>
              <a:ea typeface="微软雅黑"/>
              <a:cs typeface="微软雅黑"/>
            </a:endParaRPr>
          </a:p>
        </p:txBody>
      </p:sp>
      <p:sp>
        <p:nvSpPr>
          <p:cNvPr id="32" name="文本框 31"/>
          <p:cNvSpPr txBox="1"/>
          <p:nvPr/>
        </p:nvSpPr>
        <p:spPr>
          <a:xfrm>
            <a:off x="4867910" y="308927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精准推荐</a:t>
            </a:r>
            <a:endParaRPr lang="zh-CN" altLang="en-US" sz="1000">
              <a:latin typeface="微软雅黑"/>
              <a:ea typeface="微软雅黑"/>
              <a:cs typeface="微软雅黑"/>
            </a:endParaRPr>
          </a:p>
        </p:txBody>
      </p:sp>
      <p:sp>
        <p:nvSpPr>
          <p:cNvPr id="33" name="椭圆 32"/>
          <p:cNvSpPr/>
          <p:nvPr/>
        </p:nvSpPr>
        <p:spPr>
          <a:xfrm>
            <a:off x="4536309" y="2672996"/>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4" name="椭圆 33"/>
          <p:cNvSpPr/>
          <p:nvPr/>
        </p:nvSpPr>
        <p:spPr>
          <a:xfrm>
            <a:off x="5644384" y="2605686"/>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5" name="椭圆 34"/>
          <p:cNvSpPr/>
          <p:nvPr/>
        </p:nvSpPr>
        <p:spPr>
          <a:xfrm>
            <a:off x="6563864" y="2620291"/>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6" name="椭圆 35"/>
          <p:cNvSpPr/>
          <p:nvPr/>
        </p:nvSpPr>
        <p:spPr>
          <a:xfrm>
            <a:off x="7650984" y="2672996"/>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7" name="椭圆 36"/>
          <p:cNvSpPr/>
          <p:nvPr/>
        </p:nvSpPr>
        <p:spPr>
          <a:xfrm>
            <a:off x="8376154" y="2844446"/>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8" name="椭圆 37"/>
          <p:cNvSpPr/>
          <p:nvPr/>
        </p:nvSpPr>
        <p:spPr>
          <a:xfrm>
            <a:off x="6766429" y="3063521"/>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9" name="椭圆 38"/>
          <p:cNvSpPr/>
          <p:nvPr/>
        </p:nvSpPr>
        <p:spPr>
          <a:xfrm>
            <a:off x="5328789" y="3062886"/>
            <a:ext cx="52700" cy="527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0" name="文本框 39"/>
          <p:cNvSpPr txBox="1"/>
          <p:nvPr/>
        </p:nvSpPr>
        <p:spPr>
          <a:xfrm>
            <a:off x="5328920" y="2725420"/>
            <a:ext cx="1885950" cy="337185"/>
          </a:xfrm>
          <a:prstGeom prst="rect">
            <a:avLst/>
          </a:prstGeom>
          <a:noFill/>
        </p:spPr>
        <p:txBody>
          <a:bodyPr wrap="square" rtlCol="0">
            <a:spAutoFit/>
          </a:bodyPr>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AI</a:t>
            </a:r>
            <a:r>
              <a:rPr lang="zh-CN" altLang="en-US" sz="1600" b="1">
                <a:solidFill>
                  <a:srgbClr val="0042FF"/>
                </a:solidFill>
                <a:latin typeface="微软雅黑"/>
                <a:ea typeface="微软雅黑"/>
                <a:cs typeface="微软雅黑"/>
              </a:rPr>
              <a:t>应用场景</a:t>
            </a:r>
            <a:endParaRPr lang="zh-CN" altLang="en-US" sz="1600" b="1">
              <a:solidFill>
                <a:srgbClr val="0042FF"/>
              </a:solidFill>
              <a:latin typeface="微软雅黑"/>
              <a:ea typeface="微软雅黑"/>
              <a:cs typeface="微软雅黑"/>
            </a:endParaRPr>
          </a:p>
        </p:txBody>
      </p:sp>
      <p:grpSp>
        <p:nvGrpSpPr>
          <p:cNvPr id="67" name="组合 66"/>
          <p:cNvGrpSpPr/>
          <p:nvPr/>
        </p:nvGrpSpPr>
        <p:grpSpPr>
          <a:xfrm>
            <a:off x="1925320" y="5250815"/>
            <a:ext cx="8770620" cy="963295"/>
            <a:chOff x="2321" y="-1825"/>
            <a:chExt cx="13812" cy="1517"/>
          </a:xfrm>
        </p:grpSpPr>
        <p:sp>
          <p:nvSpPr>
            <p:cNvPr id="44" name="任意形状 51"/>
            <p:cNvSpPr/>
            <p:nvPr/>
          </p:nvSpPr>
          <p:spPr>
            <a:xfrm>
              <a:off x="2321" y="-1759"/>
              <a:ext cx="13812" cy="1440"/>
            </a:xfrm>
            <a:custGeom>
              <a:avLst/>
              <a:gdLst>
                <a:gd name="connsiteX0" fmla="*/ 6043668 w 6043668"/>
                <a:gd name="connsiteY0" fmla="*/ 489065 h 978129"/>
                <a:gd name="connsiteX1" fmla="*/ 3021834 w 6043668"/>
                <a:gd name="connsiteY1" fmla="*/ 978130 h 978129"/>
                <a:gd name="connsiteX2" fmla="*/ 0 w 6043668"/>
                <a:gd name="connsiteY2" fmla="*/ 489065 h 978129"/>
                <a:gd name="connsiteX3" fmla="*/ 3021834 w 6043668"/>
                <a:gd name="connsiteY3" fmla="*/ 0 h 978129"/>
                <a:gd name="connsiteX4" fmla="*/ 6043668 w 6043668"/>
                <a:gd name="connsiteY4" fmla="*/ 489065 h 978129"/>
                <a:gd name="connsiteX5" fmla="*/ 1486863 w 6043668"/>
                <a:gd name="connsiteY5" fmla="*/ 489065 h 978129"/>
                <a:gd name="connsiteX6" fmla="*/ 3021834 w 6043668"/>
                <a:gd name="connsiteY6" fmla="*/ 737491 h 978129"/>
                <a:gd name="connsiteX7" fmla="*/ 4556805 w 6043668"/>
                <a:gd name="connsiteY7" fmla="*/ 489065 h 978129"/>
                <a:gd name="connsiteX8" fmla="*/ 3021834 w 6043668"/>
                <a:gd name="connsiteY8" fmla="*/ 240639 h 978129"/>
                <a:gd name="connsiteX9" fmla="*/ 1486863 w 6043668"/>
                <a:gd name="connsiteY9" fmla="*/ 489065 h 978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43668" h="978129">
                  <a:moveTo>
                    <a:pt x="6043668" y="489065"/>
                  </a:moveTo>
                  <a:cubicBezTo>
                    <a:pt x="6043668" y="759168"/>
                    <a:pt x="4690750" y="978130"/>
                    <a:pt x="3021834" y="978130"/>
                  </a:cubicBezTo>
                  <a:cubicBezTo>
                    <a:pt x="1352918" y="978130"/>
                    <a:pt x="0" y="759168"/>
                    <a:pt x="0" y="489065"/>
                  </a:cubicBezTo>
                  <a:cubicBezTo>
                    <a:pt x="0" y="218962"/>
                    <a:pt x="1352918" y="0"/>
                    <a:pt x="3021834" y="0"/>
                  </a:cubicBezTo>
                  <a:cubicBezTo>
                    <a:pt x="4690750" y="0"/>
                    <a:pt x="6043668" y="218962"/>
                    <a:pt x="6043668" y="489065"/>
                  </a:cubicBezTo>
                  <a:close/>
                  <a:moveTo>
                    <a:pt x="1486863" y="489065"/>
                  </a:moveTo>
                  <a:cubicBezTo>
                    <a:pt x="1486863" y="626268"/>
                    <a:pt x="2174095" y="737491"/>
                    <a:pt x="3021834" y="737491"/>
                  </a:cubicBezTo>
                  <a:cubicBezTo>
                    <a:pt x="3869573" y="737491"/>
                    <a:pt x="4556805" y="626268"/>
                    <a:pt x="4556805" y="489065"/>
                  </a:cubicBezTo>
                  <a:cubicBezTo>
                    <a:pt x="4556805" y="351862"/>
                    <a:pt x="3869573" y="240639"/>
                    <a:pt x="3021834" y="240639"/>
                  </a:cubicBezTo>
                  <a:cubicBezTo>
                    <a:pt x="2174095" y="240639"/>
                    <a:pt x="1486863" y="351862"/>
                    <a:pt x="1486863" y="489065"/>
                  </a:cubicBezTo>
                  <a:close/>
                </a:path>
              </a:pathLst>
            </a:custGeom>
            <a:gradFill>
              <a:gsLst>
                <a:gs pos="0">
                  <a:srgbClr val="3368FF">
                    <a:alpha val="0"/>
                  </a:srgbClr>
                </a:gs>
                <a:gs pos="100000">
                  <a:srgbClr val="3368FF">
                    <a:alpha val="18000"/>
                  </a:srgbClr>
                </a:gs>
              </a:gsLst>
              <a:lin ang="5400000" scaled="1"/>
            </a:gradFill>
            <a:ln w="9525">
              <a:gradFill>
                <a:gsLst>
                  <a:gs pos="1500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45" name="椭圆 44"/>
            <p:cNvSpPr/>
            <p:nvPr/>
          </p:nvSpPr>
          <p:spPr>
            <a:xfrm>
              <a:off x="5703" y="-1080"/>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6" name="文本框 45"/>
            <p:cNvSpPr txBox="1"/>
            <p:nvPr/>
          </p:nvSpPr>
          <p:spPr>
            <a:xfrm>
              <a:off x="2450" y="-1231"/>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Keras</a:t>
              </a:r>
              <a:endParaRPr lang="en-US" altLang="zh-CN" sz="1000">
                <a:latin typeface="微软雅黑"/>
                <a:ea typeface="微软雅黑"/>
                <a:cs typeface="微软雅黑"/>
              </a:endParaRPr>
            </a:p>
          </p:txBody>
        </p:sp>
        <p:sp>
          <p:nvSpPr>
            <p:cNvPr id="47" name="文本框 46"/>
            <p:cNvSpPr txBox="1"/>
            <p:nvPr/>
          </p:nvSpPr>
          <p:spPr>
            <a:xfrm>
              <a:off x="4802" y="-845"/>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Caffe</a:t>
              </a:r>
              <a:endParaRPr lang="en-US" altLang="zh-CN" sz="1000">
                <a:latin typeface="微软雅黑"/>
                <a:ea typeface="微软雅黑"/>
                <a:cs typeface="微软雅黑"/>
              </a:endParaRPr>
            </a:p>
          </p:txBody>
        </p:sp>
        <p:sp>
          <p:nvSpPr>
            <p:cNvPr id="48" name="文本框 47"/>
            <p:cNvSpPr txBox="1"/>
            <p:nvPr/>
          </p:nvSpPr>
          <p:spPr>
            <a:xfrm>
              <a:off x="4130" y="-1563"/>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KNN</a:t>
              </a:r>
              <a:endParaRPr lang="en-US" altLang="zh-CN" sz="1000">
                <a:latin typeface="微软雅黑"/>
                <a:ea typeface="微软雅黑"/>
                <a:cs typeface="微软雅黑"/>
              </a:endParaRPr>
            </a:p>
          </p:txBody>
        </p:sp>
        <p:sp>
          <p:nvSpPr>
            <p:cNvPr id="49" name="文本框 48"/>
            <p:cNvSpPr txBox="1"/>
            <p:nvPr/>
          </p:nvSpPr>
          <p:spPr>
            <a:xfrm>
              <a:off x="5810" y="-1737"/>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LSTM</a:t>
              </a:r>
              <a:endParaRPr lang="en-US" altLang="zh-CN" sz="1000">
                <a:latin typeface="微软雅黑"/>
                <a:ea typeface="微软雅黑"/>
                <a:cs typeface="微软雅黑"/>
              </a:endParaRPr>
            </a:p>
          </p:txBody>
        </p:sp>
        <p:sp>
          <p:nvSpPr>
            <p:cNvPr id="50" name="文本框 49"/>
            <p:cNvSpPr txBox="1"/>
            <p:nvPr/>
          </p:nvSpPr>
          <p:spPr>
            <a:xfrm>
              <a:off x="7490" y="-1825"/>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RNN</a:t>
              </a:r>
              <a:endParaRPr lang="en-US" altLang="zh-CN" sz="1000">
                <a:latin typeface="微软雅黑"/>
                <a:ea typeface="微软雅黑"/>
                <a:cs typeface="微软雅黑"/>
              </a:endParaRPr>
            </a:p>
          </p:txBody>
        </p:sp>
        <p:sp>
          <p:nvSpPr>
            <p:cNvPr id="51" name="文本框 50"/>
            <p:cNvSpPr txBox="1"/>
            <p:nvPr/>
          </p:nvSpPr>
          <p:spPr>
            <a:xfrm>
              <a:off x="9170" y="-1807"/>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GAN</a:t>
              </a:r>
              <a:endParaRPr lang="en-US" altLang="zh-CN" sz="1000">
                <a:latin typeface="微软雅黑"/>
                <a:ea typeface="微软雅黑"/>
                <a:cs typeface="微软雅黑"/>
              </a:endParaRPr>
            </a:p>
          </p:txBody>
        </p:sp>
        <p:sp>
          <p:nvSpPr>
            <p:cNvPr id="52" name="文本框 51"/>
            <p:cNvSpPr txBox="1"/>
            <p:nvPr/>
          </p:nvSpPr>
          <p:spPr>
            <a:xfrm>
              <a:off x="10850" y="-1729"/>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CNN</a:t>
              </a:r>
              <a:endParaRPr lang="en-US" altLang="zh-CN" sz="1000">
                <a:latin typeface="微软雅黑"/>
                <a:ea typeface="微软雅黑"/>
                <a:cs typeface="微软雅黑"/>
              </a:endParaRPr>
            </a:p>
          </p:txBody>
        </p:sp>
        <p:sp>
          <p:nvSpPr>
            <p:cNvPr id="53" name="文本框 52"/>
            <p:cNvSpPr txBox="1"/>
            <p:nvPr/>
          </p:nvSpPr>
          <p:spPr>
            <a:xfrm>
              <a:off x="12530" y="-1526"/>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MoE</a:t>
              </a:r>
              <a:endParaRPr lang="en-US" altLang="zh-CN" sz="1000">
                <a:latin typeface="微软雅黑"/>
                <a:ea typeface="微软雅黑"/>
                <a:cs typeface="微软雅黑"/>
              </a:endParaRPr>
            </a:p>
          </p:txBody>
        </p:sp>
        <p:sp>
          <p:nvSpPr>
            <p:cNvPr id="54" name="文本框 53"/>
            <p:cNvSpPr txBox="1"/>
            <p:nvPr/>
          </p:nvSpPr>
          <p:spPr>
            <a:xfrm>
              <a:off x="14210" y="-1231"/>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TensorFlow</a:t>
              </a:r>
              <a:endParaRPr lang="en-US" altLang="zh-CN" sz="1000">
                <a:latin typeface="微软雅黑"/>
                <a:ea typeface="微软雅黑"/>
                <a:cs typeface="微软雅黑"/>
              </a:endParaRPr>
            </a:p>
          </p:txBody>
        </p:sp>
        <p:sp>
          <p:nvSpPr>
            <p:cNvPr id="55" name="文本框 54"/>
            <p:cNvSpPr txBox="1"/>
            <p:nvPr/>
          </p:nvSpPr>
          <p:spPr>
            <a:xfrm>
              <a:off x="11858" y="-845"/>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yolo</a:t>
              </a:r>
              <a:endParaRPr lang="en-US" altLang="zh-CN" sz="1000">
                <a:latin typeface="微软雅黑"/>
                <a:ea typeface="微软雅黑"/>
                <a:cs typeface="微软雅黑"/>
              </a:endParaRPr>
            </a:p>
          </p:txBody>
        </p:sp>
        <p:sp>
          <p:nvSpPr>
            <p:cNvPr id="56" name="文本框 55"/>
            <p:cNvSpPr txBox="1"/>
            <p:nvPr/>
          </p:nvSpPr>
          <p:spPr>
            <a:xfrm>
              <a:off x="9506" y="-701"/>
              <a:ext cx="1535"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Transformer</a:t>
              </a:r>
              <a:endParaRPr lang="en-US" altLang="zh-CN" sz="1000">
                <a:latin typeface="微软雅黑"/>
                <a:ea typeface="微软雅黑"/>
                <a:cs typeface="微软雅黑"/>
              </a:endParaRPr>
            </a:p>
          </p:txBody>
        </p:sp>
        <p:sp>
          <p:nvSpPr>
            <p:cNvPr id="57" name="文本框 56"/>
            <p:cNvSpPr txBox="1"/>
            <p:nvPr/>
          </p:nvSpPr>
          <p:spPr>
            <a:xfrm>
              <a:off x="7077" y="-694"/>
              <a:ext cx="1612"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latin typeface="微软雅黑"/>
                  <a:ea typeface="微软雅黑"/>
                  <a:cs typeface="微软雅黑"/>
                </a:rPr>
                <a:t>PaddlePaddle</a:t>
              </a:r>
              <a:endParaRPr lang="en-US" altLang="zh-CN" sz="1000">
                <a:latin typeface="微软雅黑"/>
                <a:ea typeface="微软雅黑"/>
                <a:cs typeface="微软雅黑"/>
              </a:endParaRPr>
            </a:p>
          </p:txBody>
        </p:sp>
        <p:sp>
          <p:nvSpPr>
            <p:cNvPr id="58" name="椭圆 57"/>
            <p:cNvSpPr/>
            <p:nvPr/>
          </p:nvSpPr>
          <p:spPr>
            <a:xfrm>
              <a:off x="6632" y="-1350"/>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9" name="椭圆 58"/>
            <p:cNvSpPr/>
            <p:nvPr/>
          </p:nvSpPr>
          <p:spPr>
            <a:xfrm>
              <a:off x="8377" y="-1456"/>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0" name="椭圆 59"/>
            <p:cNvSpPr/>
            <p:nvPr/>
          </p:nvSpPr>
          <p:spPr>
            <a:xfrm>
              <a:off x="9825" y="-1433"/>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1" name="椭圆 60"/>
            <p:cNvSpPr/>
            <p:nvPr/>
          </p:nvSpPr>
          <p:spPr>
            <a:xfrm>
              <a:off x="11537" y="-1350"/>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2" name="椭圆 61"/>
            <p:cNvSpPr/>
            <p:nvPr/>
          </p:nvSpPr>
          <p:spPr>
            <a:xfrm>
              <a:off x="12679" y="-1080"/>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3" name="椭圆 62"/>
            <p:cNvSpPr/>
            <p:nvPr/>
          </p:nvSpPr>
          <p:spPr>
            <a:xfrm>
              <a:off x="10144" y="-735"/>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4" name="椭圆 63"/>
            <p:cNvSpPr/>
            <p:nvPr/>
          </p:nvSpPr>
          <p:spPr>
            <a:xfrm>
              <a:off x="7880" y="-736"/>
              <a:ext cx="83" cy="83"/>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74" name="组合 73"/>
          <p:cNvGrpSpPr/>
          <p:nvPr/>
        </p:nvGrpSpPr>
        <p:grpSpPr>
          <a:xfrm>
            <a:off x="3279140" y="4231005"/>
            <a:ext cx="5798185" cy="681355"/>
            <a:chOff x="20163" y="-2305"/>
            <a:chExt cx="11388" cy="2625"/>
          </a:xfrm>
        </p:grpSpPr>
        <p:sp>
          <p:nvSpPr>
            <p:cNvPr id="68" name="椭圆 67"/>
            <p:cNvSpPr/>
            <p:nvPr/>
          </p:nvSpPr>
          <p:spPr>
            <a:xfrm>
              <a:off x="20163" y="-2305"/>
              <a:ext cx="11388" cy="1757"/>
            </a:xfrm>
            <a:prstGeom prst="ellipse">
              <a:avLst/>
            </a:prstGeom>
            <a:gradFill flip="none" rotWithShape="1">
              <a:gsLst>
                <a:gs pos="100000">
                  <a:srgbClr val="3368FF">
                    <a:alpha val="34000"/>
                  </a:srgbClr>
                </a:gs>
                <a:gs pos="50000">
                  <a:srgbClr val="3368FF">
                    <a:alpha val="0"/>
                  </a:srgbClr>
                </a:gs>
              </a:gsLst>
              <a:path path="circle">
                <a:fillToRect l="50000" t="50000" r="50000" b="50000"/>
              </a:path>
              <a:tileRect/>
            </a:gradFill>
            <a:ln w="15875">
              <a:gradFill>
                <a:gsLst>
                  <a:gs pos="100000">
                    <a:srgbClr val="668EFF">
                      <a:alpha val="55000"/>
                    </a:srgbClr>
                  </a:gs>
                  <a:gs pos="1000">
                    <a:srgbClr val="668E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dirty="0">
                <a:cs typeface="微软雅黑"/>
                <a:latin typeface="微软雅黑"/>
                <a:ea typeface="微软雅黑"/>
              </a:endParaRPr>
            </a:p>
          </p:txBody>
        </p:sp>
        <p:sp>
          <p:nvSpPr>
            <p:cNvPr id="69" name="任意多边形: 形状 45"/>
            <p:cNvSpPr/>
            <p:nvPr/>
          </p:nvSpPr>
          <p:spPr>
            <a:xfrm>
              <a:off x="20163" y="-1410"/>
              <a:ext cx="11388" cy="1730"/>
            </a:xfrm>
            <a:custGeom>
              <a:avLst/>
              <a:gdLst>
                <a:gd name="connsiteX0" fmla="*/ 0 w 8366289"/>
                <a:gd name="connsiteY0" fmla="*/ 0 h 1152623"/>
                <a:gd name="connsiteX1" fmla="*/ 504884 w 8366289"/>
                <a:gd name="connsiteY1" fmla="*/ 270944 h 1152623"/>
                <a:gd name="connsiteX2" fmla="*/ 594403 w 8366289"/>
                <a:gd name="connsiteY2" fmla="*/ 292100 h 1152623"/>
                <a:gd name="connsiteX3" fmla="*/ 605608 w 8366289"/>
                <a:gd name="connsiteY3" fmla="*/ 294748 h 1152623"/>
                <a:gd name="connsiteX4" fmla="*/ 4183145 w 8366289"/>
                <a:gd name="connsiteY4" fmla="*/ 568423 h 1152623"/>
                <a:gd name="connsiteX5" fmla="*/ 7690172 w 8366289"/>
                <a:gd name="connsiteY5" fmla="*/ 309968 h 1152623"/>
                <a:gd name="connsiteX6" fmla="*/ 7771734 w 8366289"/>
                <a:gd name="connsiteY6" fmla="*/ 292064 h 1152623"/>
                <a:gd name="connsiteX7" fmla="*/ 7793039 w 8366289"/>
                <a:gd name="connsiteY7" fmla="*/ 287387 h 1152623"/>
                <a:gd name="connsiteX8" fmla="*/ 8360847 w 8366289"/>
                <a:gd name="connsiteY8" fmla="*/ 29251 h 1152623"/>
                <a:gd name="connsiteX9" fmla="*/ 8366289 w 8366289"/>
                <a:gd name="connsiteY9" fmla="*/ 6 h 1152623"/>
                <a:gd name="connsiteX10" fmla="*/ 8366289 w 8366289"/>
                <a:gd name="connsiteY10" fmla="*/ 584195 h 1152623"/>
                <a:gd name="connsiteX11" fmla="*/ 8366289 w 8366289"/>
                <a:gd name="connsiteY11" fmla="*/ 584206 h 1152623"/>
                <a:gd name="connsiteX12" fmla="*/ 8360847 w 8366289"/>
                <a:gd name="connsiteY12" fmla="*/ 613451 h 1152623"/>
                <a:gd name="connsiteX13" fmla="*/ 4183145 w 8366289"/>
                <a:gd name="connsiteY13" fmla="*/ 1152623 h 1152623"/>
                <a:gd name="connsiteX14" fmla="*/ 0 w 8366289"/>
                <a:gd name="connsiteY14" fmla="*/ 584200 h 115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66289" h="1152623">
                  <a:moveTo>
                    <a:pt x="0" y="0"/>
                  </a:moveTo>
                  <a:cubicBezTo>
                    <a:pt x="0" y="98104"/>
                    <a:pt x="182896" y="190403"/>
                    <a:pt x="504884" y="270944"/>
                  </a:cubicBezTo>
                  <a:lnTo>
                    <a:pt x="594403" y="292100"/>
                  </a:lnTo>
                  <a:lnTo>
                    <a:pt x="605608" y="294748"/>
                  </a:lnTo>
                  <a:cubicBezTo>
                    <a:pt x="1339278" y="458823"/>
                    <a:pt x="2667019" y="568423"/>
                    <a:pt x="4183145" y="568423"/>
                  </a:cubicBezTo>
                  <a:cubicBezTo>
                    <a:pt x="5651892" y="568423"/>
                    <a:pt x="6943844" y="465566"/>
                    <a:pt x="7690172" y="309968"/>
                  </a:cubicBezTo>
                  <a:lnTo>
                    <a:pt x="7771734" y="292064"/>
                  </a:lnTo>
                  <a:lnTo>
                    <a:pt x="7793039" y="287387"/>
                  </a:lnTo>
                  <a:cubicBezTo>
                    <a:pt x="8123291" y="210956"/>
                    <a:pt x="8325835" y="123107"/>
                    <a:pt x="8360847" y="29251"/>
                  </a:cubicBezTo>
                  <a:lnTo>
                    <a:pt x="8366289" y="6"/>
                  </a:lnTo>
                  <a:lnTo>
                    <a:pt x="8366289" y="584195"/>
                  </a:lnTo>
                  <a:lnTo>
                    <a:pt x="8366289" y="584206"/>
                  </a:lnTo>
                  <a:lnTo>
                    <a:pt x="8360847" y="613451"/>
                  </a:lnTo>
                  <a:cubicBezTo>
                    <a:pt x="8248809" y="913788"/>
                    <a:pt x="6421236" y="1152623"/>
                    <a:pt x="4183145" y="1152623"/>
                  </a:cubicBezTo>
                  <a:cubicBezTo>
                    <a:pt x="1872858" y="1152623"/>
                    <a:pt x="0" y="898131"/>
                    <a:pt x="0" y="584200"/>
                  </a:cubicBezTo>
                  <a:close/>
                </a:path>
              </a:pathLst>
            </a:custGeom>
            <a:gradFill flip="none" rotWithShape="1">
              <a:gsLst>
                <a:gs pos="100000">
                  <a:srgbClr val="3368FF"/>
                </a:gs>
                <a:gs pos="0">
                  <a:srgbClr val="3368FF">
                    <a:alpha val="0"/>
                  </a:srgbClr>
                </a:gs>
              </a:gsLst>
              <a:lin ang="5400000" scaled="0"/>
              <a:tileRect/>
            </a:gradFill>
            <a:ln w="15875">
              <a:gradFill>
                <a:gsLst>
                  <a:gs pos="100000">
                    <a:srgbClr val="3368FF"/>
                  </a:gs>
                  <a:gs pos="28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dirty="0">
                <a:solidFill>
                  <a:srgbClr val="383838"/>
                </a:solidFill>
                <a:cs typeface="微软雅黑"/>
                <a:latin typeface="微软雅黑"/>
                <a:ea typeface="微软雅黑"/>
              </a:endParaRPr>
            </a:p>
          </p:txBody>
        </p:sp>
        <p:sp>
          <p:nvSpPr>
            <p:cNvPr id="70" name="椭圆 69"/>
            <p:cNvSpPr/>
            <p:nvPr/>
          </p:nvSpPr>
          <p:spPr>
            <a:xfrm>
              <a:off x="21389" y="-2103"/>
              <a:ext cx="9019" cy="1321"/>
            </a:xfrm>
            <a:prstGeom prst="ellipse">
              <a:avLst/>
            </a:prstGeom>
            <a:gradFill flip="none" rotWithShape="1">
              <a:gsLst>
                <a:gs pos="100000">
                  <a:srgbClr val="E6E6E6">
                    <a:alpha val="0"/>
                  </a:srgbClr>
                </a:gs>
                <a:gs pos="1000">
                  <a:srgbClr val="668EFF">
                    <a:alpha val="30000"/>
                  </a:srgbClr>
                </a:gs>
              </a:gsLst>
              <a:path path="circle">
                <a:fillToRect l="100000" t="100000"/>
              </a:path>
              <a:tileRect r="-100000" b="-100000"/>
            </a:gradFill>
            <a:ln w="12700">
              <a:gradFill>
                <a:gsLst>
                  <a:gs pos="100000">
                    <a:srgbClr val="3368FF"/>
                  </a:gs>
                  <a:gs pos="1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dirty="0">
                <a:cs typeface="微软雅黑"/>
                <a:sym typeface="微软雅黑"/>
                <a:latin typeface="微软雅黑"/>
                <a:ea typeface="微软雅黑"/>
              </a:endParaRPr>
            </a:p>
          </p:txBody>
        </p:sp>
      </p:grpSp>
      <p:sp>
        <p:nvSpPr>
          <p:cNvPr id="77" name="文本框 76"/>
          <p:cNvSpPr txBox="1"/>
          <p:nvPr/>
        </p:nvSpPr>
        <p:spPr>
          <a:xfrm>
            <a:off x="5207635" y="4328160"/>
            <a:ext cx="1885950" cy="337185"/>
          </a:xfrm>
          <a:prstGeom prst="rect">
            <a:avLst/>
          </a:prstGeom>
          <a:noFill/>
        </p:spPr>
        <p:txBody>
          <a:bodyPr wrap="square" rtlCol="0">
            <a:spAutoFit/>
          </a:bodyPr>
          <a:p>
            <a:pPr algn="ctr">
              <a:defRPr>
                <a:latin typeface="微软雅黑"/>
                <a:ea typeface="微软雅黑"/>
                <a:cs typeface="微软雅黑"/>
              </a:defRPr>
            </a:pPr>
            <a:r>
              <a:rPr lang="en-US" sz="1600" b="1">
                <a:gradFill>
                  <a:gsLst>
                    <a:gs pos="0">
                      <a:srgbClr val="0042FF"/>
                    </a:gs>
                    <a:gs pos="100000">
                      <a:srgbClr val="0042FF"/>
                    </a:gs>
                  </a:gsLst>
                  <a:lin ang="5400000" scaled="0"/>
                </a:gradFill>
                <a:latin typeface="微软雅黑"/>
                <a:ea typeface="微软雅黑"/>
                <a:cs typeface="微软雅黑"/>
              </a:rPr>
              <a:t>AI</a:t>
            </a:r>
            <a:r>
              <a:rPr lang="zh-CN" altLang="en-US" sz="1600" b="1">
                <a:gradFill>
                  <a:gsLst>
                    <a:gs pos="0">
                      <a:srgbClr val="0042FF"/>
                    </a:gs>
                    <a:gs pos="100000">
                      <a:srgbClr val="0042FF"/>
                    </a:gs>
                  </a:gsLst>
                  <a:lin ang="5400000" scaled="0"/>
                </a:gradFill>
                <a:latin typeface="微软雅黑"/>
                <a:ea typeface="微软雅黑"/>
                <a:cs typeface="微软雅黑"/>
              </a:rPr>
              <a:t>关键技术</a:t>
            </a:r>
            <a:endParaRPr lang="zh-CN" altLang="en-US" sz="1600" b="1">
              <a:gradFill>
                <a:gsLst>
                  <a:gs pos="0">
                    <a:srgbClr val="0042FF"/>
                  </a:gs>
                  <a:gs pos="100000">
                    <a:srgbClr val="0042FF"/>
                  </a:gs>
                </a:gsLst>
                <a:lin ang="5400000" scaled="0"/>
              </a:gradFill>
              <a:latin typeface="微软雅黑"/>
              <a:ea typeface="微软雅黑"/>
              <a:cs typeface="微软雅黑"/>
            </a:endParaRPr>
          </a:p>
        </p:txBody>
      </p:sp>
      <p:sp>
        <p:nvSpPr>
          <p:cNvPr id="80" name="文本框 79"/>
          <p:cNvSpPr txBox="1"/>
          <p:nvPr/>
        </p:nvSpPr>
        <p:spPr>
          <a:xfrm>
            <a:off x="2717800" y="4386580"/>
            <a:ext cx="975995" cy="300355"/>
          </a:xfrm>
          <a:prstGeom prst="roundRect">
            <a:avLst>
              <a:gd name="adj" fmla="val 50000"/>
            </a:avLst>
          </a:prstGeom>
          <a:solidFill>
            <a:srgbClr val="FFFFFF"/>
          </a:solidFill>
          <a:ln w="12700" cap="flat" cmpd="sng" algn="ctr">
            <a:solidFill>
              <a:srgbClr val="3368FF"/>
            </a:solidFill>
            <a:prstDash val="solid"/>
            <a:miter lim="800000"/>
          </a:ln>
          <a:effectLst/>
        </p:spPr>
        <p:txBody>
          <a:bodyPr rtlCol="0" anchor="ctr" lIns="0" rIns="0" tIns="0" bIns="0"/>
          <a:lstStyle>
            <a:defPPr>
              <a:defRPr lang="en-US">
                <a:latin typeface="微软雅黑"/>
                <a:ea typeface="微软雅黑"/>
                <a:cs typeface="微软雅黑"/>
              </a:defRPr>
            </a:defPPr>
            <a:lvl1pPr algn="ctr">
              <a:defRPr kumimoji="1" sz="1400" b="1">
                <a:solidFill>
                  <a:srgbClr val="0042FF"/>
                </a:solidFill>
                <a:latin typeface="微软雅黑"/>
                <a:ea typeface="微软雅黑"/>
                <a:cs typeface="微软雅黑"/>
              </a:defRPr>
            </a:lvl1pPr>
          </a:lstStyle>
          <a:p>
            <a:pPr>
              <a:defRPr>
                <a:latin typeface="微软雅黑"/>
                <a:ea typeface="微软雅黑"/>
                <a:cs typeface="微软雅黑"/>
              </a:defRPr>
            </a:pPr>
            <a:r>
              <a:rPr lang="zh-CN" altLang="en-US" sz="1200" dirty="0">
                <a:solidFill>
                  <a:srgbClr val="0042FF"/>
                </a:solidFill>
                <a:cs typeface="微软雅黑"/>
                <a:sym typeface="微软雅黑"/>
                <a:latin typeface="微软雅黑"/>
                <a:ea typeface="微软雅黑"/>
              </a:rPr>
              <a:t>图像识别</a:t>
            </a:r>
            <a:endParaRPr lang="zh-CN" altLang="en-US" sz="1200" dirty="0">
              <a:solidFill>
                <a:srgbClr val="0042FF"/>
              </a:solidFill>
              <a:cs typeface="微软雅黑"/>
              <a:sym typeface="微软雅黑"/>
              <a:latin typeface="微软雅黑"/>
              <a:ea typeface="微软雅黑"/>
            </a:endParaRPr>
          </a:p>
        </p:txBody>
      </p:sp>
      <p:sp>
        <p:nvSpPr>
          <p:cNvPr id="161" name="文本框 160"/>
          <p:cNvSpPr txBox="1"/>
          <p:nvPr/>
        </p:nvSpPr>
        <p:spPr>
          <a:xfrm>
            <a:off x="782955" y="408114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文字识别</a:t>
            </a:r>
            <a:endParaRPr lang="zh-CN" altLang="en-US" sz="1000">
              <a:latin typeface="微软雅黑"/>
              <a:ea typeface="微软雅黑"/>
              <a:cs typeface="微软雅黑"/>
            </a:endParaRPr>
          </a:p>
        </p:txBody>
      </p:sp>
      <p:sp>
        <p:nvSpPr>
          <p:cNvPr id="162" name="文本框 161"/>
          <p:cNvSpPr txBox="1"/>
          <p:nvPr/>
        </p:nvSpPr>
        <p:spPr>
          <a:xfrm>
            <a:off x="782955" y="442849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影像识别</a:t>
            </a:r>
            <a:endParaRPr lang="zh-CN" altLang="en-US" sz="1000">
              <a:latin typeface="微软雅黑"/>
              <a:ea typeface="微软雅黑"/>
              <a:cs typeface="微软雅黑"/>
            </a:endParaRPr>
          </a:p>
        </p:txBody>
      </p:sp>
      <p:sp>
        <p:nvSpPr>
          <p:cNvPr id="163" name="文本框 162"/>
          <p:cNvSpPr txBox="1"/>
          <p:nvPr/>
        </p:nvSpPr>
        <p:spPr>
          <a:xfrm>
            <a:off x="782955" y="477583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目标检测</a:t>
            </a:r>
            <a:endParaRPr lang="zh-CN" altLang="en-US" sz="1000">
              <a:latin typeface="微软雅黑"/>
              <a:ea typeface="微软雅黑"/>
              <a:cs typeface="微软雅黑"/>
            </a:endParaRPr>
          </a:p>
        </p:txBody>
      </p:sp>
      <p:sp>
        <p:nvSpPr>
          <p:cNvPr id="164" name="文本框 163"/>
          <p:cNvSpPr txBox="1"/>
          <p:nvPr/>
        </p:nvSpPr>
        <p:spPr>
          <a:xfrm>
            <a:off x="1593215" y="423100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人脸识别</a:t>
            </a:r>
            <a:endParaRPr lang="zh-CN" altLang="en-US" sz="1000">
              <a:latin typeface="微软雅黑"/>
              <a:ea typeface="微软雅黑"/>
              <a:cs typeface="微软雅黑"/>
            </a:endParaRPr>
          </a:p>
        </p:txBody>
      </p:sp>
      <p:sp>
        <p:nvSpPr>
          <p:cNvPr id="165" name="文本框 164"/>
          <p:cNvSpPr txBox="1"/>
          <p:nvPr/>
        </p:nvSpPr>
        <p:spPr>
          <a:xfrm>
            <a:off x="1593215" y="453072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图像检索</a:t>
            </a:r>
            <a:endParaRPr lang="zh-CN" altLang="en-US" sz="1000">
              <a:latin typeface="微软雅黑"/>
              <a:ea typeface="微软雅黑"/>
              <a:cs typeface="微软雅黑"/>
            </a:endParaRPr>
          </a:p>
        </p:txBody>
      </p:sp>
      <p:sp>
        <p:nvSpPr>
          <p:cNvPr id="166" name="梯形 165"/>
          <p:cNvSpPr/>
          <p:nvPr/>
        </p:nvSpPr>
        <p:spPr>
          <a:xfrm rot="16200000" flipH="1">
            <a:off x="9591675" y="3209290"/>
            <a:ext cx="1739265" cy="2574290"/>
          </a:xfrm>
          <a:prstGeom prst="trapezoid">
            <a:avLst>
              <a:gd name="adj" fmla="val 34921"/>
            </a:avLst>
          </a:prstGeom>
          <a:gradFill>
            <a:gsLst>
              <a:gs pos="0">
                <a:srgbClr val="3368FF">
                  <a:alpha val="50000"/>
                </a:srgbClr>
              </a:gs>
              <a:gs pos="100000">
                <a:srgbClr val="668E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67" name="文本框 166"/>
          <p:cNvSpPr txBox="1"/>
          <p:nvPr/>
        </p:nvSpPr>
        <p:spPr>
          <a:xfrm>
            <a:off x="8759190" y="4326255"/>
            <a:ext cx="975995" cy="300355"/>
          </a:xfrm>
          <a:prstGeom prst="roundRect">
            <a:avLst>
              <a:gd name="adj" fmla="val 50000"/>
            </a:avLst>
          </a:prstGeom>
          <a:solidFill>
            <a:srgbClr val="FFFFFF"/>
          </a:solidFill>
          <a:ln w="12700" cap="flat" cmpd="sng" algn="ctr">
            <a:solidFill>
              <a:srgbClr val="3368FF"/>
            </a:solidFill>
            <a:prstDash val="solid"/>
            <a:miter lim="800000"/>
          </a:ln>
          <a:effectLst/>
        </p:spPr>
        <p:txBody>
          <a:bodyPr rtlCol="0" anchor="ctr" lIns="0" rIns="0" tIns="0" bIns="0"/>
          <a:lstStyle>
            <a:defPPr>
              <a:defRPr lang="en-US">
                <a:latin typeface="微软雅黑"/>
                <a:ea typeface="微软雅黑"/>
                <a:cs typeface="微软雅黑"/>
              </a:defRPr>
            </a:defPPr>
            <a:lvl1pPr algn="ctr">
              <a:defRPr kumimoji="1" sz="1400" b="1">
                <a:solidFill>
                  <a:srgbClr val="0042FF"/>
                </a:solidFill>
                <a:latin typeface="微软雅黑"/>
                <a:ea typeface="微软雅黑"/>
                <a:cs typeface="微软雅黑"/>
              </a:defRPr>
            </a:lvl1pPr>
          </a:lstStyle>
          <a:p>
            <a:pPr>
              <a:defRPr>
                <a:latin typeface="微软雅黑"/>
                <a:ea typeface="微软雅黑"/>
                <a:cs typeface="微软雅黑"/>
              </a:defRPr>
            </a:pPr>
            <a:r>
              <a:rPr lang="zh-CN" altLang="en-US" sz="1200" dirty="0">
                <a:solidFill>
                  <a:srgbClr val="0042FF"/>
                </a:solidFill>
                <a:cs typeface="微软雅黑"/>
                <a:sym typeface="微软雅黑"/>
                <a:latin typeface="微软雅黑"/>
                <a:ea typeface="微软雅黑"/>
              </a:rPr>
              <a:t>自然语言</a:t>
            </a:r>
            <a:endParaRPr lang="zh-CN" altLang="en-US" sz="1200" dirty="0">
              <a:solidFill>
                <a:srgbClr val="0042FF"/>
              </a:solidFill>
              <a:cs typeface="微软雅黑"/>
              <a:sym typeface="微软雅黑"/>
              <a:latin typeface="微软雅黑"/>
              <a:ea typeface="微软雅黑"/>
            </a:endParaRPr>
          </a:p>
        </p:txBody>
      </p:sp>
      <p:sp>
        <p:nvSpPr>
          <p:cNvPr id="168" name="矩形 167"/>
          <p:cNvSpPr/>
          <p:nvPr/>
        </p:nvSpPr>
        <p:spPr>
          <a:xfrm>
            <a:off x="5620385" y="4064635"/>
            <a:ext cx="1122680" cy="261620"/>
          </a:xfrm>
          <a:prstGeom prst="rect">
            <a:avLst/>
          </a:prstGeom>
          <a:gradFill>
            <a:gsLst>
              <a:gs pos="0">
                <a:srgbClr val="0042FF"/>
              </a:gs>
              <a:gs pos="78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sz="1200">
                <a:solidFill>
                  <a:srgbClr val="FFFFFF"/>
                </a:solidFill>
                <a:latin typeface="微软雅黑"/>
                <a:ea typeface="微软雅黑"/>
                <a:cs typeface="微软雅黑"/>
              </a:rPr>
              <a:t>语音处理</a:t>
            </a:r>
            <a:endParaRPr lang="zh-CN" sz="1200">
              <a:solidFill>
                <a:srgbClr val="FFFFFF"/>
              </a:solidFill>
              <a:latin typeface="微软雅黑"/>
              <a:ea typeface="微软雅黑"/>
              <a:cs typeface="微软雅黑"/>
            </a:endParaRPr>
          </a:p>
        </p:txBody>
      </p:sp>
      <p:sp>
        <p:nvSpPr>
          <p:cNvPr id="169" name="文本框 168"/>
          <p:cNvSpPr txBox="1"/>
          <p:nvPr/>
        </p:nvSpPr>
        <p:spPr>
          <a:xfrm>
            <a:off x="10788650" y="399224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关系抽取</a:t>
            </a:r>
            <a:endParaRPr lang="zh-CN" altLang="en-US" sz="1000">
              <a:latin typeface="微软雅黑"/>
              <a:ea typeface="微软雅黑"/>
              <a:cs typeface="微软雅黑"/>
            </a:endParaRPr>
          </a:p>
        </p:txBody>
      </p:sp>
      <p:sp>
        <p:nvSpPr>
          <p:cNvPr id="170" name="文本框 169"/>
          <p:cNvSpPr txBox="1"/>
          <p:nvPr/>
        </p:nvSpPr>
        <p:spPr>
          <a:xfrm>
            <a:off x="10788650" y="429768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知识图谱</a:t>
            </a:r>
            <a:endParaRPr lang="zh-CN" altLang="en-US" sz="1000">
              <a:latin typeface="微软雅黑"/>
              <a:ea typeface="微软雅黑"/>
              <a:cs typeface="微软雅黑"/>
            </a:endParaRPr>
          </a:p>
        </p:txBody>
      </p:sp>
      <p:sp>
        <p:nvSpPr>
          <p:cNvPr id="172" name="文本框 171"/>
          <p:cNvSpPr txBox="1"/>
          <p:nvPr/>
        </p:nvSpPr>
        <p:spPr>
          <a:xfrm>
            <a:off x="9983470" y="4237355"/>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语义理解</a:t>
            </a:r>
            <a:endParaRPr lang="zh-CN" altLang="en-US" sz="1000">
              <a:latin typeface="微软雅黑"/>
              <a:ea typeface="微软雅黑"/>
              <a:cs typeface="微软雅黑"/>
            </a:endParaRPr>
          </a:p>
        </p:txBody>
      </p:sp>
      <p:sp>
        <p:nvSpPr>
          <p:cNvPr id="173" name="文本框 172"/>
          <p:cNvSpPr txBox="1"/>
          <p:nvPr/>
        </p:nvSpPr>
        <p:spPr>
          <a:xfrm>
            <a:off x="9983470" y="4542790"/>
            <a:ext cx="97472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实体提取</a:t>
            </a:r>
            <a:endParaRPr lang="zh-CN" altLang="en-US" sz="1000">
              <a:latin typeface="微软雅黑"/>
              <a:ea typeface="微软雅黑"/>
              <a:cs typeface="微软雅黑"/>
            </a:endParaRPr>
          </a:p>
        </p:txBody>
      </p:sp>
      <p:sp>
        <p:nvSpPr>
          <p:cNvPr id="174" name="文本框 173"/>
          <p:cNvSpPr txBox="1"/>
          <p:nvPr/>
        </p:nvSpPr>
        <p:spPr>
          <a:xfrm>
            <a:off x="4535805" y="4955540"/>
            <a:ext cx="3318510" cy="275590"/>
          </a:xfrm>
          <a:prstGeom prst="rect">
            <a:avLst/>
          </a:prstGeom>
          <a:noFill/>
        </p:spPr>
        <p:txBody>
          <a:bodyPr wrap="square" rtlCol="0">
            <a:spAutoFit/>
          </a:bodyPr>
          <a:p>
            <a:pPr algn="ctr">
              <a:defRPr>
                <a:latin typeface="微软雅黑"/>
                <a:ea typeface="微软雅黑"/>
                <a:cs typeface="微软雅黑"/>
              </a:defRPr>
            </a:pPr>
            <a:r>
              <a:rPr lang="zh-CN" sz="1200" b="1">
                <a:solidFill>
                  <a:srgbClr val="0042FF"/>
                </a:solidFill>
                <a:latin typeface="微软雅黑"/>
                <a:ea typeface="微软雅黑"/>
                <a:cs typeface="微软雅黑"/>
              </a:rPr>
              <a:t>通用数据集</a:t>
            </a:r>
            <a:r>
              <a:rPr lang="en-US" altLang="zh-CN" sz="1200" b="1">
                <a:solidFill>
                  <a:srgbClr val="0042FF"/>
                </a:solidFill>
                <a:latin typeface="微软雅黑"/>
                <a:ea typeface="微软雅黑"/>
                <a:cs typeface="微软雅黑"/>
              </a:rPr>
              <a:t> </a:t>
            </a:r>
            <a:r>
              <a:rPr lang="zh-CN" altLang="en-US" sz="1200" b="1">
                <a:solidFill>
                  <a:srgbClr val="0042FF"/>
                </a:solidFill>
                <a:latin typeface="微软雅黑"/>
                <a:ea typeface="微软雅黑"/>
                <a:cs typeface="微软雅黑"/>
              </a:rPr>
              <a:t>构建深度学习网络</a:t>
            </a:r>
            <a:endParaRPr lang="zh-CN" altLang="en-US" sz="1200" b="1">
              <a:solidFill>
                <a:srgbClr val="0042FF"/>
              </a:solidFill>
              <a:latin typeface="微软雅黑"/>
              <a:ea typeface="微软雅黑"/>
              <a:cs typeface="微软雅黑"/>
            </a:endParaRPr>
          </a:p>
        </p:txBody>
      </p:sp>
      <p:sp>
        <p:nvSpPr>
          <p:cNvPr id="175" name="文本框 174"/>
          <p:cNvSpPr txBox="1"/>
          <p:nvPr/>
        </p:nvSpPr>
        <p:spPr>
          <a:xfrm>
            <a:off x="4485640" y="3429000"/>
            <a:ext cx="3640455" cy="275590"/>
          </a:xfrm>
          <a:prstGeom prst="rect">
            <a:avLst/>
          </a:prstGeom>
          <a:noFill/>
        </p:spPr>
        <p:txBody>
          <a:bodyPr wrap="square" rtlCol="0">
            <a:spAutoFit/>
          </a:bodyPr>
          <a:p>
            <a:pPr algn="ctr">
              <a:defRPr>
                <a:solidFill>
                  <a:srgbClr val="383838"/>
                </a:solidFill>
                <a:latin typeface="微软雅黑"/>
                <a:ea typeface="微软雅黑"/>
                <a:cs typeface="微软雅黑"/>
              </a:defRPr>
            </a:pPr>
            <a:r>
              <a:rPr lang="zh-CN" sz="1200" b="1">
                <a:gradFill>
                  <a:gsLst>
                    <a:gs pos="0">
                      <a:srgbClr val="0042FF"/>
                    </a:gs>
                    <a:gs pos="100000">
                      <a:srgbClr val="0042FF"/>
                    </a:gs>
                  </a:gsLst>
                  <a:lin ang="5400000" scaled="0"/>
                </a:gradFill>
                <a:solidFill>
                  <a:srgbClr val="383838"/>
                </a:solidFill>
                <a:latin typeface="微软雅黑"/>
                <a:ea typeface="微软雅黑"/>
                <a:cs typeface="微软雅黑"/>
              </a:rPr>
              <a:t>业务场景挖掘</a:t>
            </a:r>
            <a:r>
              <a:rPr lang="en-US" altLang="zh-CN" sz="1200" b="1">
                <a:gradFill>
                  <a:gsLst>
                    <a:gs pos="0">
                      <a:srgbClr val="0042FF"/>
                    </a:gs>
                    <a:gs pos="100000">
                      <a:srgbClr val="0042FF"/>
                    </a:gs>
                  </a:gsLst>
                  <a:lin ang="5400000" scaled="0"/>
                </a:gradFill>
                <a:solidFill>
                  <a:srgbClr val="383838"/>
                </a:solidFill>
                <a:latin typeface="微软雅黑"/>
                <a:ea typeface="微软雅黑"/>
                <a:cs typeface="微软雅黑"/>
              </a:rPr>
              <a:t> </a:t>
            </a:r>
            <a:r>
              <a:rPr lang="zh-CN" altLang="en-US" sz="1200" b="1">
                <a:gradFill>
                  <a:gsLst>
                    <a:gs pos="0">
                      <a:srgbClr val="0042FF"/>
                    </a:gs>
                    <a:gs pos="100000">
                      <a:srgbClr val="0042FF"/>
                    </a:gs>
                  </a:gsLst>
                  <a:lin ang="5400000" scaled="0"/>
                </a:gradFill>
                <a:solidFill>
                  <a:srgbClr val="383838"/>
                </a:solidFill>
                <a:latin typeface="微软雅黑"/>
                <a:ea typeface="微软雅黑"/>
                <a:cs typeface="微软雅黑"/>
              </a:rPr>
              <a:t>行业纵向拟合</a:t>
            </a:r>
            <a:r>
              <a:rPr lang="en-US" altLang="zh-CN" sz="1200" b="1">
                <a:gradFill>
                  <a:gsLst>
                    <a:gs pos="0">
                      <a:srgbClr val="0042FF"/>
                    </a:gs>
                    <a:gs pos="100000">
                      <a:srgbClr val="0042FF"/>
                    </a:gs>
                  </a:gsLst>
                  <a:lin ang="5400000" scaled="0"/>
                </a:gradFill>
                <a:solidFill>
                  <a:srgbClr val="383838"/>
                </a:solidFill>
                <a:latin typeface="微软雅黑"/>
                <a:ea typeface="微软雅黑"/>
                <a:cs typeface="微软雅黑"/>
              </a:rPr>
              <a:t> </a:t>
            </a:r>
            <a:r>
              <a:rPr lang="zh-CN" altLang="en-US" sz="1200" b="1">
                <a:gradFill>
                  <a:gsLst>
                    <a:gs pos="0">
                      <a:srgbClr val="0042FF"/>
                    </a:gs>
                    <a:gs pos="100000">
                      <a:srgbClr val="0042FF"/>
                    </a:gs>
                  </a:gsLst>
                  <a:lin ang="5400000" scaled="0"/>
                </a:gradFill>
                <a:solidFill>
                  <a:srgbClr val="383838"/>
                </a:solidFill>
                <a:latin typeface="微软雅黑"/>
                <a:ea typeface="微软雅黑"/>
                <a:cs typeface="微软雅黑"/>
              </a:rPr>
              <a:t>深度适配</a:t>
            </a:r>
            <a:endParaRPr lang="zh-CN" altLang="en-US" sz="1200" b="1">
              <a:gradFill>
                <a:gsLst>
                  <a:gs pos="0">
                    <a:srgbClr val="0042FF"/>
                  </a:gs>
                  <a:gs pos="100000">
                    <a:srgbClr val="0042FF"/>
                  </a:gs>
                </a:gsLst>
                <a:lin ang="5400000" scaled="0"/>
              </a:gradFill>
              <a:solidFill>
                <a:srgbClr val="383838"/>
              </a:solidFill>
              <a:latin typeface="微软雅黑"/>
              <a:ea typeface="微软雅黑"/>
              <a:cs typeface="微软雅黑"/>
            </a:endParaRPr>
          </a:p>
        </p:txBody>
      </p:sp>
      <p:sp>
        <p:nvSpPr>
          <p:cNvPr id="176" name="文本框 175"/>
          <p:cNvSpPr txBox="1"/>
          <p:nvPr/>
        </p:nvSpPr>
        <p:spPr>
          <a:xfrm>
            <a:off x="4944745" y="3704590"/>
            <a:ext cx="974725" cy="24511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语音识别</a:t>
            </a:r>
            <a:endParaRPr lang="zh-CN" altLang="en-US" sz="1000">
              <a:solidFill>
                <a:srgbClr val="383838"/>
              </a:solidFill>
              <a:latin typeface="微软雅黑"/>
              <a:ea typeface="微软雅黑"/>
              <a:cs typeface="微软雅黑"/>
            </a:endParaRPr>
          </a:p>
        </p:txBody>
      </p:sp>
      <p:sp>
        <p:nvSpPr>
          <p:cNvPr id="177" name="文本框 176"/>
          <p:cNvSpPr txBox="1"/>
          <p:nvPr/>
        </p:nvSpPr>
        <p:spPr>
          <a:xfrm>
            <a:off x="5633085" y="3819525"/>
            <a:ext cx="974725" cy="24511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声纹识别</a:t>
            </a:r>
            <a:endParaRPr lang="zh-CN" altLang="en-US" sz="1000">
              <a:solidFill>
                <a:srgbClr val="383838"/>
              </a:solidFill>
              <a:latin typeface="微软雅黑"/>
              <a:ea typeface="微软雅黑"/>
              <a:cs typeface="微软雅黑"/>
            </a:endParaRPr>
          </a:p>
        </p:txBody>
      </p:sp>
      <p:sp>
        <p:nvSpPr>
          <p:cNvPr id="178" name="文本框 177"/>
          <p:cNvSpPr txBox="1"/>
          <p:nvPr/>
        </p:nvSpPr>
        <p:spPr>
          <a:xfrm>
            <a:off x="6305550" y="3701415"/>
            <a:ext cx="974725" cy="24511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原声转读</a:t>
            </a:r>
            <a:endParaRPr lang="zh-CN" altLang="en-US" sz="1000">
              <a:solidFill>
                <a:srgbClr val="383838"/>
              </a:solidFill>
              <a:latin typeface="微软雅黑"/>
              <a:ea typeface="微软雅黑"/>
              <a:cs typeface="微软雅黑"/>
            </a:endParaRPr>
          </a:p>
        </p:txBody>
      </p:sp>
      <p:sp>
        <p:nvSpPr>
          <p:cNvPr id="179" name="上箭头 178"/>
          <p:cNvSpPr/>
          <p:nvPr/>
        </p:nvSpPr>
        <p:spPr>
          <a:xfrm>
            <a:off x="3404235" y="3591560"/>
            <a:ext cx="438150" cy="534035"/>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80" name="上箭头 179"/>
          <p:cNvSpPr/>
          <p:nvPr/>
        </p:nvSpPr>
        <p:spPr>
          <a:xfrm>
            <a:off x="8495665" y="3591560"/>
            <a:ext cx="438150" cy="534035"/>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81" name="上箭头 180"/>
          <p:cNvSpPr/>
          <p:nvPr/>
        </p:nvSpPr>
        <p:spPr>
          <a:xfrm>
            <a:off x="3404235" y="4878070"/>
            <a:ext cx="438150" cy="534035"/>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82" name="上箭头 181"/>
          <p:cNvSpPr/>
          <p:nvPr/>
        </p:nvSpPr>
        <p:spPr>
          <a:xfrm>
            <a:off x="8495665" y="4878070"/>
            <a:ext cx="438150" cy="534035"/>
          </a:xfrm>
          <a:prstGeom prst="upArrow">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83" name="文本框 182"/>
          <p:cNvSpPr txBox="1"/>
          <p:nvPr/>
        </p:nvSpPr>
        <p:spPr>
          <a:xfrm>
            <a:off x="10915650" y="4626610"/>
            <a:ext cx="77216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认知进化</a:t>
            </a:r>
            <a:endParaRPr lang="zh-CN" altLang="en-US" sz="1000">
              <a:latin typeface="微软雅黑"/>
              <a:ea typeface="微软雅黑"/>
              <a:cs typeface="微软雅黑"/>
            </a:endParaRPr>
          </a:p>
        </p:txBody>
      </p:sp>
      <p:pic>
        <p:nvPicPr>
          <p:cNvPr id="4" name="图片 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9" name="文本框 8"/>
          <p:cNvSpPr txBox="1"/>
          <p:nvPr/>
        </p:nvSpPr>
        <p:spPr>
          <a:xfrm>
            <a:off x="3039110" y="6370003"/>
            <a:ext cx="260985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智能算力矩阵（大数据集群）</a:t>
            </a:r>
            <a:endParaRPr lang="zh-CN" altLang="en-US" sz="1400" b="1">
              <a:solidFill>
                <a:srgbClr val="FFFFFF"/>
              </a:solidFill>
              <a:latin typeface="微软雅黑"/>
              <a:ea typeface="微软雅黑"/>
              <a:cs typeface="微软雅黑"/>
              <a:sym typeface="微软雅黑"/>
            </a:endParaRPr>
          </a:p>
        </p:txBody>
      </p:sp>
      <p:sp>
        <p:nvSpPr>
          <p:cNvPr id="10" name="文本框 9"/>
          <p:cNvSpPr txBox="1"/>
          <p:nvPr/>
        </p:nvSpPr>
        <p:spPr>
          <a:xfrm>
            <a:off x="6900545" y="6370003"/>
            <a:ext cx="2609850" cy="306705"/>
          </a:xfrm>
          <a:prstGeom prst="rect">
            <a:avLst/>
          </a:prstGeom>
          <a:noFill/>
        </p:spPr>
        <p:txBody>
          <a:bodyPr wrap="square" rtlCol="0">
            <a:spAutoFit/>
          </a:bodyPr>
          <a:p>
            <a:pPr lvl="0" algn="ctr">
              <a:buClrTx/>
              <a:buSzTx/>
              <a:buFontTx/>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弹性AI算力服务</a:t>
            </a:r>
            <a:endParaRPr lang="zh-CN" altLang="en-US" sz="1400">
              <a:solidFill>
                <a:srgbClr val="FFFFFF"/>
              </a:solidFill>
              <a:latin typeface="微软雅黑"/>
              <a:ea typeface="微软雅黑"/>
              <a:cs typeface="微软雅黑"/>
              <a:sym typeface="微软雅黑"/>
            </a:endParaRPr>
          </a:p>
        </p:txBody>
      </p:sp>
      <p:cxnSp>
        <p:nvCxnSpPr>
          <p:cNvPr id="11" name="直接连接符 10"/>
          <p:cNvCxnSpPr>
            <a:stCxn id="15" idx="0"/>
            <a:endCxn id="15" idx="2"/>
          </p:cNvCxnSpPr>
          <p:nvPr/>
        </p:nvCxnSpPr>
        <p:spPr>
          <a:xfrm>
            <a:off x="6178550" y="6348095"/>
            <a:ext cx="0" cy="350520"/>
          </a:xfrm>
          <a:prstGeom prst="line">
            <a:avLst/>
          </a:prstGeom>
          <a:ln w="25400">
            <a:solidFill>
              <a:srgbClr val="FFFFFF"/>
            </a:solidFill>
          </a:ln>
        </p:spPr>
        <p:style>
          <a:lnRef idx="2">
            <a:srgbClr val="0042FF"/>
          </a:lnRef>
          <a:fillRef idx="0">
            <a:srgbClr val="FFFFFF"/>
          </a:fillRef>
          <a:effectRef idx="0">
            <a:srgbClr val="FFFFFF"/>
          </a:effectRef>
          <a:fontRef idx="minor">
            <a:srgbClr val="383838"/>
          </a:fontRef>
        </p:style>
      </p:cxnSp>
      <p:sp>
        <p:nvSpPr>
          <p:cNvPr id="12" name="文本框 11"/>
          <p:cNvSpPr txBox="1"/>
          <p:nvPr/>
        </p:nvSpPr>
        <p:spPr>
          <a:xfrm>
            <a:off x="5363210" y="5605145"/>
            <a:ext cx="1885950" cy="337185"/>
          </a:xfrm>
          <a:prstGeom prst="rect">
            <a:avLst/>
          </a:prstGeom>
          <a:noFill/>
        </p:spPr>
        <p:txBody>
          <a:bodyPr wrap="square" rtlCol="0">
            <a:spAutoFit/>
          </a:bodyPr>
          <a:p>
            <a:pPr algn="ctr">
              <a:defRPr>
                <a:latin typeface="微软雅黑"/>
                <a:ea typeface="微软雅黑"/>
                <a:cs typeface="微软雅黑"/>
              </a:defRPr>
            </a:pPr>
            <a:r>
              <a:rPr lang="en-US" sz="1600" b="1">
                <a:solidFill>
                  <a:srgbClr val="0042FF"/>
                </a:solidFill>
                <a:latin typeface="微软雅黑"/>
                <a:ea typeface="微软雅黑"/>
                <a:cs typeface="微软雅黑"/>
              </a:rPr>
              <a:t>AI</a:t>
            </a:r>
            <a:r>
              <a:rPr lang="zh-CN" altLang="en-US" sz="1600" b="1">
                <a:solidFill>
                  <a:srgbClr val="0042FF"/>
                </a:solidFill>
                <a:latin typeface="微软雅黑"/>
                <a:ea typeface="微软雅黑"/>
                <a:cs typeface="微软雅黑"/>
              </a:rPr>
              <a:t>基础平台</a:t>
            </a:r>
            <a:endParaRPr lang="zh-CN" altLang="en-US" sz="1600" b="1">
              <a:solidFill>
                <a:srgbClr val="0042FF"/>
              </a:solidFill>
              <a:latin typeface="微软雅黑"/>
              <a:ea typeface="微软雅黑"/>
              <a:cs typeface="微软雅黑"/>
            </a:endParaRPr>
          </a:p>
        </p:txBody>
      </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 name="组合 117"/>
          <p:cNvGrpSpPr/>
          <p:nvPr/>
        </p:nvGrpSpPr>
        <p:grpSpPr>
          <a:xfrm>
            <a:off x="1471295" y="5592445"/>
            <a:ext cx="9444355" cy="1049020"/>
            <a:chOff x="589" y="3472"/>
            <a:chExt cx="18020" cy="3336"/>
          </a:xfrm>
        </p:grpSpPr>
        <p:sp>
          <p:nvSpPr>
            <p:cNvPr id="119" name="显眼包PPT1"/>
            <p:cNvSpPr/>
            <p:nvPr/>
          </p:nvSpPr>
          <p:spPr>
            <a:xfrm>
              <a:off x="589" y="3472"/>
              <a:ext cx="18021" cy="3336"/>
            </a:xfrm>
            <a:prstGeom prst="ellipse">
              <a:avLst/>
            </a:prstGeom>
            <a:gradFill flip="none" rotWithShape="1">
              <a:gsLst>
                <a:gs pos="0">
                  <a:srgbClr val="668EFF"/>
                </a:gs>
                <a:gs pos="82000">
                  <a:srgbClr val="E6E6E6">
                    <a:alpha val="0"/>
                  </a:srgbClr>
                </a:gs>
              </a:gsLst>
              <a:lin ang="16200000" scaled="1"/>
              <a:tileRect/>
            </a:gradFill>
            <a:ln w="25400">
              <a:no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0" name="显眼包PPT2"/>
            <p:cNvSpPr/>
            <p:nvPr/>
          </p:nvSpPr>
          <p:spPr>
            <a:xfrm>
              <a:off x="1200" y="3488"/>
              <a:ext cx="16800" cy="2791"/>
            </a:xfrm>
            <a:prstGeom prst="ellipse">
              <a:avLst/>
            </a:prstGeom>
            <a:gradFill>
              <a:gsLst>
                <a:gs pos="37000">
                  <a:srgbClr val="FFFFFF">
                    <a:alpha val="0"/>
                  </a:srgbClr>
                </a:gs>
                <a:gs pos="77000">
                  <a:srgbClr val="FFFFFF"/>
                </a:gs>
              </a:gsLst>
              <a:lin ang="5400000" scaled="1"/>
            </a:gradFill>
            <a:ln w="38100">
              <a:gradFill>
                <a:gsLst>
                  <a:gs pos="0">
                    <a:srgbClr val="FFFFFF">
                      <a:alpha val="0"/>
                    </a:srgbClr>
                  </a:gs>
                  <a:gs pos="100000">
                    <a:srgbClr val="FFFFFF"/>
                  </a:gs>
                </a:gsLst>
                <a:lin ang="5400000" scaled="1"/>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pic>
        <p:nvPicPr>
          <p:cNvPr id="210" name="图片 20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晋升汇报</a:t>
            </a:r>
            <a:r>
              <a:rPr lang="en-US" altLang="zh-CN" sz="2500" dirty="0">
                <a:solidFill>
                  <a:srgbClr val="383838"/>
                </a:solidFill>
                <a:effectLst/>
                <a:latin typeface="微软雅黑"/>
                <a:ea typeface="微软雅黑"/>
                <a:cs typeface="微软雅黑"/>
              </a:rPr>
              <a:t>-</a:t>
            </a:r>
            <a:r>
              <a:rPr sz="2500" dirty="0">
                <a:solidFill>
                  <a:srgbClr val="383838"/>
                </a:solidFill>
                <a:effectLst/>
                <a:latin typeface="微软雅黑"/>
                <a:ea typeface="微软雅黑"/>
                <a:cs typeface="微软雅黑"/>
              </a:rPr>
              <a:t>个人能力成长</a:t>
            </a:r>
            <a:endParaRPr sz="2500" dirty="0">
              <a:solidFill>
                <a:srgbClr val="383838"/>
              </a:solidFill>
              <a:effectLst/>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94" name="任意多边形 93"/>
          <p:cNvSpPr/>
          <p:nvPr/>
        </p:nvSpPr>
        <p:spPr>
          <a:xfrm rot="5400000" flipH="1">
            <a:off x="4169728" y="728663"/>
            <a:ext cx="3873500" cy="5536565"/>
          </a:xfrm>
          <a:custGeom>
            <a:avLst/>
            <a:gdLst>
              <a:gd name="adj" fmla="val 16375"/>
              <a:gd name="maxAdj" fmla="*/ 100000 w ss"/>
              <a:gd name="a" fmla="pin 0 adj maxAdj"/>
              <a:gd name="dx1" fmla="*/ ss a 100000"/>
              <a:gd name="x1" fmla="+- r 0 dx1"/>
              <a:gd name="ir" fmla="+/ x1 r 2"/>
              <a:gd name="x2" fmla="*/ x1 1 2"/>
            </a:gdLst>
            <a:ahLst/>
            <a:cxnLst>
              <a:cxn ang="3">
                <a:pos x="x2" y="t"/>
              </a:cxn>
              <a:cxn ang="cd2">
                <a:pos x="l" y="vc"/>
              </a:cxn>
              <a:cxn ang="cd4">
                <a:pos x="x1" y="b"/>
              </a:cxn>
              <a:cxn ang="0">
                <a:pos x="r" y="vc"/>
              </a:cxn>
            </a:cxnLst>
            <a:rect l="l" t="t" r="r" b="b"/>
            <a:pathLst>
              <a:path w="6100" h="8719">
                <a:moveTo>
                  <a:pt x="2060" y="2531"/>
                </a:moveTo>
                <a:lnTo>
                  <a:pt x="5504" y="2531"/>
                </a:lnTo>
                <a:lnTo>
                  <a:pt x="6100" y="4352"/>
                </a:lnTo>
                <a:lnTo>
                  <a:pt x="5504" y="6173"/>
                </a:lnTo>
                <a:lnTo>
                  <a:pt x="2074" y="6173"/>
                </a:lnTo>
                <a:lnTo>
                  <a:pt x="2074" y="6176"/>
                </a:lnTo>
                <a:cubicBezTo>
                  <a:pt x="1371" y="6705"/>
                  <a:pt x="551" y="7755"/>
                  <a:pt x="0" y="8719"/>
                </a:cubicBezTo>
                <a:lnTo>
                  <a:pt x="0" y="0"/>
                </a:lnTo>
                <a:cubicBezTo>
                  <a:pt x="596" y="1056"/>
                  <a:pt x="1431" y="2054"/>
                  <a:pt x="2060" y="2531"/>
                </a:cubicBezTo>
                <a:close/>
              </a:path>
            </a:pathLst>
          </a:custGeom>
          <a:gradFill>
            <a:gsLst>
              <a:gs pos="28000">
                <a:srgbClr val="FFFFFF">
                  <a:alpha val="0"/>
                </a:srgbClr>
              </a:gs>
              <a:gs pos="77000">
                <a:srgbClr val="E6E6E6"/>
              </a:gs>
              <a:gs pos="100000">
                <a:srgbClr val="E6E6E6">
                  <a:alpha val="0"/>
                </a:srgbClr>
              </a:gs>
            </a:gsLst>
            <a:lin ang="10800000" scaled="0"/>
          </a:gradFill>
          <a:ln w="76200" cap="flat">
            <a:noFill/>
            <a:prstDash val="solid"/>
            <a:miter/>
          </a:ln>
        </p:spPr>
        <p:txBody>
          <a:bodyPr wrap="square" rtlCol="0" anchor="ctr" lIns="0" rIns="0" tIns="0" bIns="0">
            <a:noAutofit/>
          </a:bodyPr>
          <a:lstStyle/>
          <a:p>
            <a:pPr lvl="0" algn="l">
              <a:spcBef>
                <a:spcPts val="0"/>
              </a:spcBef>
              <a:spcAft>
                <a:spcPts val="0"/>
              </a:spcAft>
              <a:buClrTx/>
              <a:buSzTx/>
              <a:buFontTx/>
              <a:defRPr>
                <a:latin typeface="微软雅黑"/>
                <a:ea typeface="微软雅黑"/>
                <a:cs typeface="微软雅黑"/>
              </a:defRPr>
            </a:pPr>
            <a:endParaRPr lang="en-US" altLang="zh-CN" noProof="0">
              <a:ln>
                <a:noFill/>
              </a:ln>
              <a:solidFill>
                <a:srgbClr val="383838"/>
              </a:solidFill>
              <a:effectLst/>
              <a:uLnTx/>
              <a:uFillTx/>
              <a:latin typeface="微软雅黑"/>
              <a:ea typeface="微软雅黑"/>
              <a:cs typeface="微软雅黑"/>
              <a:sym typeface="微软雅黑"/>
            </a:endParaRPr>
          </a:p>
        </p:txBody>
      </p:sp>
      <p:sp>
        <p:nvSpPr>
          <p:cNvPr id="105" name="子陵职场PPT3"/>
          <p:cNvSpPr/>
          <p:nvPr/>
        </p:nvSpPr>
        <p:spPr>
          <a:xfrm>
            <a:off x="2240280" y="4904740"/>
            <a:ext cx="7733030" cy="868680"/>
          </a:xfrm>
          <a:custGeom>
            <a:avLst/>
            <a:gdLst>
              <a:gd name="connsiteX0" fmla="*/ 6076950 w 12153900"/>
              <a:gd name="connsiteY0" fmla="*/ 190500 h 2381250"/>
              <a:gd name="connsiteX1" fmla="*/ 972312 w 12153900"/>
              <a:gd name="connsiteY1" fmla="*/ 1123950 h 2381250"/>
              <a:gd name="connsiteX2" fmla="*/ 6076950 w 12153900"/>
              <a:gd name="connsiteY2" fmla="*/ 2057400 h 2381250"/>
              <a:gd name="connsiteX3" fmla="*/ 11181588 w 12153900"/>
              <a:gd name="connsiteY3" fmla="*/ 1123950 h 2381250"/>
              <a:gd name="connsiteX4" fmla="*/ 6076950 w 12153900"/>
              <a:gd name="connsiteY4" fmla="*/ 190500 h 2381250"/>
              <a:gd name="connsiteX5" fmla="*/ 6076950 w 12153900"/>
              <a:gd name="connsiteY5" fmla="*/ 0 h 2381250"/>
              <a:gd name="connsiteX6" fmla="*/ 12153900 w 12153900"/>
              <a:gd name="connsiteY6" fmla="*/ 1190625 h 2381250"/>
              <a:gd name="connsiteX7" fmla="*/ 6076950 w 12153900"/>
              <a:gd name="connsiteY7" fmla="*/ 2381250 h 2381250"/>
              <a:gd name="connsiteX8" fmla="*/ 0 w 12153900"/>
              <a:gd name="connsiteY8" fmla="*/ 1190625 h 2381250"/>
              <a:gd name="connsiteX9" fmla="*/ 6076950 w 12153900"/>
              <a:gd name="connsiteY9" fmla="*/ 0 h 238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53900" h="2381250">
                <a:moveTo>
                  <a:pt x="6076950" y="190500"/>
                </a:moveTo>
                <a:cubicBezTo>
                  <a:pt x="3257736" y="190500"/>
                  <a:pt x="972312" y="608420"/>
                  <a:pt x="972312" y="1123950"/>
                </a:cubicBezTo>
                <a:cubicBezTo>
                  <a:pt x="972312" y="1639480"/>
                  <a:pt x="3257736" y="2057400"/>
                  <a:pt x="6076950" y="2057400"/>
                </a:cubicBezTo>
                <a:cubicBezTo>
                  <a:pt x="8896164" y="2057400"/>
                  <a:pt x="11181588" y="1639480"/>
                  <a:pt x="11181588" y="1123950"/>
                </a:cubicBezTo>
                <a:cubicBezTo>
                  <a:pt x="11181588" y="608420"/>
                  <a:pt x="8896164" y="190500"/>
                  <a:pt x="6076950" y="190500"/>
                </a:cubicBezTo>
                <a:close/>
                <a:moveTo>
                  <a:pt x="6076950" y="0"/>
                </a:moveTo>
                <a:cubicBezTo>
                  <a:pt x="9433157" y="0"/>
                  <a:pt x="12153900" y="533061"/>
                  <a:pt x="12153900" y="1190625"/>
                </a:cubicBezTo>
                <a:cubicBezTo>
                  <a:pt x="12153900" y="1848189"/>
                  <a:pt x="9433157" y="2381250"/>
                  <a:pt x="6076950" y="2381250"/>
                </a:cubicBezTo>
                <a:cubicBezTo>
                  <a:pt x="2720743" y="2381250"/>
                  <a:pt x="0" y="1848189"/>
                  <a:pt x="0" y="1190625"/>
                </a:cubicBezTo>
                <a:cubicBezTo>
                  <a:pt x="0" y="533061"/>
                  <a:pt x="2720743" y="0"/>
                  <a:pt x="6076950" y="0"/>
                </a:cubicBezTo>
                <a:close/>
              </a:path>
            </a:pathLst>
          </a:custGeom>
          <a:gradFill flip="none" rotWithShape="1">
            <a:gsLst>
              <a:gs pos="0">
                <a:srgbClr val="3368FF"/>
              </a:gs>
              <a:gs pos="82000">
                <a:srgbClr val="3368FF">
                  <a:alpha val="0"/>
                </a:srgbClr>
              </a:gs>
            </a:gsLst>
            <a:lin ang="16200000" scaled="1"/>
            <a:tileRect/>
          </a:gradFill>
          <a:ln w="25400">
            <a:no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grpSp>
        <p:nvGrpSpPr>
          <p:cNvPr id="26" name="组合 25"/>
          <p:cNvGrpSpPr/>
          <p:nvPr/>
        </p:nvGrpSpPr>
        <p:grpSpPr>
          <a:xfrm>
            <a:off x="4122103" y="1298575"/>
            <a:ext cx="3968750" cy="4135120"/>
            <a:chOff x="14530" y="1560"/>
            <a:chExt cx="6250" cy="6512"/>
          </a:xfrm>
        </p:grpSpPr>
        <p:sp>
          <p:nvSpPr>
            <p:cNvPr id="28" name="©天蝎PPT7-3"/>
            <p:cNvSpPr/>
            <p:nvPr>
              <p:custDataLst>
                <p:tags r:id="rId4"/>
              </p:custDataLst>
            </p:nvPr>
          </p:nvSpPr>
          <p:spPr>
            <a:xfrm>
              <a:off x="14530" y="1560"/>
              <a:ext cx="6251" cy="6513"/>
            </a:xfrm>
            <a:custGeom>
              <a:avLst/>
              <a:gdLst>
                <a:gd name="connsiteX0" fmla="*/ 6251 w 6251"/>
                <a:gd name="connsiteY0" fmla="*/ 1505 h 1505"/>
                <a:gd name="connsiteX1" fmla="*/ 0 w 6251"/>
                <a:gd name="connsiteY1" fmla="*/ 1505 h 1505"/>
                <a:gd name="connsiteX2" fmla="*/ 1839 w 6251"/>
                <a:gd name="connsiteY2" fmla="*/ 0 h 1505"/>
                <a:gd name="connsiteX3" fmla="*/ 4443 w 6251"/>
                <a:gd name="connsiteY3" fmla="*/ 12 h 1505"/>
                <a:gd name="connsiteX4" fmla="*/ 6251 w 6251"/>
                <a:gd name="connsiteY4" fmla="*/ 1505 h 1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1" h="6513">
                  <a:moveTo>
                    <a:pt x="6251" y="6513"/>
                  </a:moveTo>
                  <a:lnTo>
                    <a:pt x="0" y="6513"/>
                  </a:lnTo>
                  <a:cubicBezTo>
                    <a:pt x="760" y="6065"/>
                    <a:pt x="1488" y="5488"/>
                    <a:pt x="1839" y="5008"/>
                  </a:cubicBezTo>
                  <a:lnTo>
                    <a:pt x="1849" y="5008"/>
                  </a:lnTo>
                  <a:lnTo>
                    <a:pt x="1849" y="426"/>
                  </a:lnTo>
                  <a:lnTo>
                    <a:pt x="3150" y="0"/>
                  </a:lnTo>
                  <a:lnTo>
                    <a:pt x="4451" y="426"/>
                  </a:lnTo>
                  <a:lnTo>
                    <a:pt x="4451" y="5029"/>
                  </a:lnTo>
                  <a:cubicBezTo>
                    <a:pt x="4812" y="5530"/>
                    <a:pt x="5565" y="6107"/>
                    <a:pt x="6251" y="6513"/>
                  </a:cubicBezTo>
                  <a:close/>
                </a:path>
              </a:pathLst>
            </a:custGeom>
            <a:solidFill>
              <a:srgbClr val="FFFFFF"/>
            </a:solidFill>
            <a:ln w="76200" cap="flat">
              <a:noFill/>
              <a:prstDash val="solid"/>
              <a:miter/>
            </a:ln>
          </p:spPr>
          <p:txBody>
            <a:bodyPr wrap="square" rtlCol="0" anchor="ctr" lIns="0" rIns="0" tIns="0" bIns="0">
              <a:no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9" name="©天蝎PPT7-3"/>
            <p:cNvSpPr/>
            <p:nvPr>
              <p:custDataLst>
                <p:tags r:id="rId5"/>
              </p:custDataLst>
            </p:nvPr>
          </p:nvSpPr>
          <p:spPr>
            <a:xfrm>
              <a:off x="14530" y="1560"/>
              <a:ext cx="6251" cy="6513"/>
            </a:xfrm>
            <a:custGeom>
              <a:avLst/>
              <a:gdLst>
                <a:gd name="connsiteX0" fmla="*/ 6251 w 6251"/>
                <a:gd name="connsiteY0" fmla="*/ 1505 h 1505"/>
                <a:gd name="connsiteX1" fmla="*/ 0 w 6251"/>
                <a:gd name="connsiteY1" fmla="*/ 1505 h 1505"/>
                <a:gd name="connsiteX2" fmla="*/ 1839 w 6251"/>
                <a:gd name="connsiteY2" fmla="*/ 0 h 1505"/>
                <a:gd name="connsiteX3" fmla="*/ 4443 w 6251"/>
                <a:gd name="connsiteY3" fmla="*/ 12 h 1505"/>
                <a:gd name="connsiteX4" fmla="*/ 6251 w 6251"/>
                <a:gd name="connsiteY4" fmla="*/ 1505 h 1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1" h="6513">
                  <a:moveTo>
                    <a:pt x="6251" y="6513"/>
                  </a:moveTo>
                  <a:lnTo>
                    <a:pt x="0" y="6513"/>
                  </a:lnTo>
                  <a:cubicBezTo>
                    <a:pt x="760" y="6065"/>
                    <a:pt x="1488" y="5488"/>
                    <a:pt x="1839" y="5008"/>
                  </a:cubicBezTo>
                  <a:lnTo>
                    <a:pt x="1849" y="5008"/>
                  </a:lnTo>
                  <a:lnTo>
                    <a:pt x="1849" y="426"/>
                  </a:lnTo>
                  <a:lnTo>
                    <a:pt x="3150" y="0"/>
                  </a:lnTo>
                  <a:lnTo>
                    <a:pt x="4451" y="426"/>
                  </a:lnTo>
                  <a:lnTo>
                    <a:pt x="4451" y="5029"/>
                  </a:lnTo>
                  <a:cubicBezTo>
                    <a:pt x="4812" y="5530"/>
                    <a:pt x="5565" y="6107"/>
                    <a:pt x="6251" y="6513"/>
                  </a:cubicBezTo>
                  <a:close/>
                </a:path>
              </a:pathLst>
            </a:custGeom>
            <a:gradFill>
              <a:gsLst>
                <a:gs pos="28000">
                  <a:srgbClr val="FFFFFF">
                    <a:alpha val="0"/>
                  </a:srgbClr>
                </a:gs>
                <a:gs pos="100000">
                  <a:srgbClr val="668EFF">
                    <a:alpha val="0"/>
                  </a:srgbClr>
                </a:gs>
                <a:gs pos="83000">
                  <a:srgbClr val="668EFF"/>
                </a:gs>
              </a:gsLst>
              <a:lin ang="5400000" scaled="0"/>
            </a:gradFill>
            <a:ln w="76200" cap="flat">
              <a:noFill/>
              <a:prstDash val="solid"/>
              <a:miter/>
            </a:ln>
          </p:spPr>
          <p:txBody>
            <a:bodyPr wrap="square" rtlCol="0" anchor="ctr" lIns="0" rIns="0" tIns="0" bIns="0">
              <a:no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800" b="0" i="0" u="none" strike="noStrike" kern="1200" cap="none" spc="0" normalizeH="0" baseline="0" noProof="0">
                  <a:ln>
                    <a:noFill/>
                  </a:ln>
                  <a:solidFill>
                    <a:srgbClr val="383838"/>
                  </a:solidFill>
                  <a:effectLst/>
                  <a:uLnTx/>
                  <a:uFillTx/>
                  <a:latin typeface="微软雅黑"/>
                  <a:ea typeface="微软雅黑"/>
                  <a:cs typeface="微软雅黑"/>
                  <a:sym typeface="微软雅黑"/>
                </a:rPr>
                <a:t>  </a:t>
              </a:r>
              <a:endParaRPr kumimoji="0" lang="en-US" altLang="zh-CN"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30" name="组合 29"/>
          <p:cNvGrpSpPr/>
          <p:nvPr/>
        </p:nvGrpSpPr>
        <p:grpSpPr>
          <a:xfrm>
            <a:off x="4981258" y="1557655"/>
            <a:ext cx="2250440" cy="3876040"/>
            <a:chOff x="13056" y="2142"/>
            <a:chExt cx="3544" cy="6104"/>
          </a:xfrm>
        </p:grpSpPr>
        <p:sp>
          <p:nvSpPr>
            <p:cNvPr id="31" name="任意多边形 30"/>
            <p:cNvSpPr/>
            <p:nvPr/>
          </p:nvSpPr>
          <p:spPr>
            <a:xfrm rot="5400000" flipH="1">
              <a:off x="11776" y="3422"/>
              <a:ext cx="6105" cy="3545"/>
            </a:xfrm>
            <a:custGeom>
              <a:avLst/>
              <a:gdLst>
                <a:gd name="adj" fmla="val 16375"/>
                <a:gd name="maxAdj" fmla="*/ 100000 w ss"/>
                <a:gd name="a" fmla="pin 0 adj maxAdj"/>
                <a:gd name="dx1" fmla="*/ ss a 100000"/>
                <a:gd name="x1" fmla="+- r 0 dx1"/>
                <a:gd name="ir" fmla="+/ x1 r 2"/>
                <a:gd name="x2" fmla="*/ x1 1 2"/>
              </a:gdLst>
              <a:ahLst/>
              <a:cxnLst>
                <a:cxn ang="3">
                  <a:pos x="x2" y="t"/>
                </a:cxn>
                <a:cxn ang="cd2">
                  <a:pos x="l" y="vc"/>
                </a:cxn>
                <a:cxn ang="cd4">
                  <a:pos x="x1" y="b"/>
                </a:cxn>
                <a:cxn ang="0">
                  <a:pos x="r" y="vc"/>
                </a:cxn>
              </a:cxnLst>
              <a:rect l="l" t="t" r="r" b="b"/>
              <a:pathLst>
                <a:path w="6105" h="3545">
                  <a:moveTo>
                    <a:pt x="1098" y="973"/>
                  </a:moveTo>
                  <a:lnTo>
                    <a:pt x="5843" y="973"/>
                  </a:lnTo>
                  <a:lnTo>
                    <a:pt x="6105" y="1773"/>
                  </a:lnTo>
                  <a:lnTo>
                    <a:pt x="5843" y="2573"/>
                  </a:lnTo>
                  <a:lnTo>
                    <a:pt x="1098" y="2573"/>
                  </a:lnTo>
                  <a:lnTo>
                    <a:pt x="1098" y="2578"/>
                  </a:lnTo>
                  <a:cubicBezTo>
                    <a:pt x="720" y="2793"/>
                    <a:pt x="297" y="3151"/>
                    <a:pt x="0" y="3545"/>
                  </a:cubicBezTo>
                  <a:lnTo>
                    <a:pt x="0" y="0"/>
                  </a:lnTo>
                  <a:cubicBezTo>
                    <a:pt x="323" y="431"/>
                    <a:pt x="752" y="766"/>
                    <a:pt x="1098" y="967"/>
                  </a:cubicBezTo>
                  <a:lnTo>
                    <a:pt x="1098" y="973"/>
                  </a:lnTo>
                  <a:close/>
                </a:path>
              </a:pathLst>
            </a:custGeom>
            <a:solidFill>
              <a:srgbClr val="FFFFFF"/>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32" name="任意多边形 31"/>
            <p:cNvSpPr/>
            <p:nvPr/>
          </p:nvSpPr>
          <p:spPr>
            <a:xfrm rot="5400000" flipH="1">
              <a:off x="11776" y="3422"/>
              <a:ext cx="6105" cy="3545"/>
            </a:xfrm>
            <a:custGeom>
              <a:avLst/>
              <a:gdLst>
                <a:gd name="adj" fmla="val 16375"/>
                <a:gd name="maxAdj" fmla="*/ 100000 w ss"/>
                <a:gd name="a" fmla="pin 0 adj maxAdj"/>
                <a:gd name="dx1" fmla="*/ ss a 100000"/>
                <a:gd name="x1" fmla="+- r 0 dx1"/>
                <a:gd name="ir" fmla="+/ x1 r 2"/>
                <a:gd name="x2" fmla="*/ x1 1 2"/>
              </a:gdLst>
              <a:ahLst/>
              <a:cxnLst>
                <a:cxn ang="3">
                  <a:pos x="x2" y="t"/>
                </a:cxn>
                <a:cxn ang="cd2">
                  <a:pos x="l" y="vc"/>
                </a:cxn>
                <a:cxn ang="cd4">
                  <a:pos x="x1" y="b"/>
                </a:cxn>
                <a:cxn ang="0">
                  <a:pos x="r" y="vc"/>
                </a:cxn>
              </a:cxnLst>
              <a:rect l="l" t="t" r="r" b="b"/>
              <a:pathLst>
                <a:path w="6105" h="3545">
                  <a:moveTo>
                    <a:pt x="1098" y="973"/>
                  </a:moveTo>
                  <a:lnTo>
                    <a:pt x="5843" y="973"/>
                  </a:lnTo>
                  <a:lnTo>
                    <a:pt x="6105" y="1773"/>
                  </a:lnTo>
                  <a:lnTo>
                    <a:pt x="5843" y="2573"/>
                  </a:lnTo>
                  <a:lnTo>
                    <a:pt x="1098" y="2573"/>
                  </a:lnTo>
                  <a:lnTo>
                    <a:pt x="1098" y="2578"/>
                  </a:lnTo>
                  <a:cubicBezTo>
                    <a:pt x="720" y="2793"/>
                    <a:pt x="297" y="3151"/>
                    <a:pt x="0" y="3545"/>
                  </a:cubicBezTo>
                  <a:lnTo>
                    <a:pt x="0" y="0"/>
                  </a:lnTo>
                  <a:cubicBezTo>
                    <a:pt x="323" y="431"/>
                    <a:pt x="752" y="766"/>
                    <a:pt x="1098" y="967"/>
                  </a:cubicBezTo>
                  <a:lnTo>
                    <a:pt x="1098" y="973"/>
                  </a:lnTo>
                  <a:close/>
                </a:path>
              </a:pathLst>
            </a:custGeom>
            <a:gradFill>
              <a:gsLst>
                <a:gs pos="0">
                  <a:srgbClr val="3368FF"/>
                </a:gs>
                <a:gs pos="48000">
                  <a:srgbClr val="E6E6E6"/>
                </a:gs>
                <a:gs pos="100000">
                  <a:srgbClr val="E6E6E6">
                    <a:alpha val="0"/>
                  </a:srgbClr>
                </a:gs>
              </a:gsLst>
              <a:lin ang="114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33" name="五边形 32"/>
          <p:cNvSpPr/>
          <p:nvPr/>
        </p:nvSpPr>
        <p:spPr>
          <a:xfrm rot="5400000" flipH="1">
            <a:off x="4710907" y="2797810"/>
            <a:ext cx="2769870" cy="730250"/>
          </a:xfrm>
          <a:prstGeom prst="homePlate">
            <a:avLst>
              <a:gd name="adj" fmla="val 16375"/>
            </a:avLst>
          </a:prstGeom>
          <a:noFill/>
          <a:ln w="19050">
            <a:gradFill>
              <a:gsLst>
                <a:gs pos="0">
                  <a:srgbClr val="FFFFFF"/>
                </a:gs>
                <a:gs pos="90000">
                  <a:srgbClr val="FFFFFF">
                    <a:alpha val="0"/>
                  </a:srgbClr>
                </a:gs>
              </a:gsLst>
              <a:lin ang="108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34" name="组合 33"/>
          <p:cNvGrpSpPr/>
          <p:nvPr/>
        </p:nvGrpSpPr>
        <p:grpSpPr>
          <a:xfrm>
            <a:off x="5266373" y="1246505"/>
            <a:ext cx="1680210" cy="4187190"/>
            <a:chOff x="16617" y="1997"/>
            <a:chExt cx="2646" cy="6594"/>
          </a:xfrm>
        </p:grpSpPr>
        <p:sp>
          <p:nvSpPr>
            <p:cNvPr id="35" name="任意多边形 34"/>
            <p:cNvSpPr/>
            <p:nvPr/>
          </p:nvSpPr>
          <p:spPr>
            <a:xfrm>
              <a:off x="16617" y="1997"/>
              <a:ext cx="2646" cy="6594"/>
            </a:xfrm>
            <a:custGeom>
              <a:avLst/>
              <a:gdLst>
                <a:gd name="adj" fmla="val 83719"/>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2646" h="6594">
                  <a:moveTo>
                    <a:pt x="893" y="5407"/>
                  </a:moveTo>
                  <a:lnTo>
                    <a:pt x="901" y="5397"/>
                  </a:lnTo>
                  <a:lnTo>
                    <a:pt x="901" y="240"/>
                  </a:lnTo>
                  <a:lnTo>
                    <a:pt x="1324" y="0"/>
                  </a:lnTo>
                  <a:lnTo>
                    <a:pt x="1747" y="240"/>
                  </a:lnTo>
                  <a:lnTo>
                    <a:pt x="1747" y="5397"/>
                  </a:lnTo>
                  <a:lnTo>
                    <a:pt x="1752" y="5403"/>
                  </a:lnTo>
                  <a:lnTo>
                    <a:pt x="1754" y="5417"/>
                  </a:lnTo>
                  <a:lnTo>
                    <a:pt x="1756" y="5443"/>
                  </a:lnTo>
                  <a:cubicBezTo>
                    <a:pt x="1782" y="5983"/>
                    <a:pt x="2397" y="6542"/>
                    <a:pt x="2646" y="6594"/>
                  </a:cubicBezTo>
                  <a:lnTo>
                    <a:pt x="0" y="6594"/>
                  </a:lnTo>
                  <a:cubicBezTo>
                    <a:pt x="446" y="6470"/>
                    <a:pt x="899" y="5776"/>
                    <a:pt x="893" y="5407"/>
                  </a:cubicBezTo>
                  <a:close/>
                </a:path>
              </a:pathLst>
            </a:custGeom>
            <a:solidFill>
              <a:srgbClr val="FFFFFF"/>
            </a:solidFill>
            <a:ln cap="rnd">
              <a:noFill/>
              <a:round/>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36" name="任意多边形 35"/>
            <p:cNvSpPr/>
            <p:nvPr/>
          </p:nvSpPr>
          <p:spPr>
            <a:xfrm>
              <a:off x="16617" y="1997"/>
              <a:ext cx="2646" cy="6594"/>
            </a:xfrm>
            <a:custGeom>
              <a:avLst/>
              <a:gdLst>
                <a:gd name="adj" fmla="val 83719"/>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2646" h="6594">
                  <a:moveTo>
                    <a:pt x="893" y="5407"/>
                  </a:moveTo>
                  <a:lnTo>
                    <a:pt x="901" y="5397"/>
                  </a:lnTo>
                  <a:lnTo>
                    <a:pt x="901" y="240"/>
                  </a:lnTo>
                  <a:lnTo>
                    <a:pt x="1324" y="0"/>
                  </a:lnTo>
                  <a:lnTo>
                    <a:pt x="1747" y="240"/>
                  </a:lnTo>
                  <a:lnTo>
                    <a:pt x="1747" y="5397"/>
                  </a:lnTo>
                  <a:lnTo>
                    <a:pt x="1752" y="5403"/>
                  </a:lnTo>
                  <a:lnTo>
                    <a:pt x="1754" y="5417"/>
                  </a:lnTo>
                  <a:lnTo>
                    <a:pt x="1756" y="5443"/>
                  </a:lnTo>
                  <a:cubicBezTo>
                    <a:pt x="1782" y="5983"/>
                    <a:pt x="2397" y="6542"/>
                    <a:pt x="2646" y="6594"/>
                  </a:cubicBezTo>
                  <a:lnTo>
                    <a:pt x="0" y="6594"/>
                  </a:lnTo>
                  <a:cubicBezTo>
                    <a:pt x="446" y="6470"/>
                    <a:pt x="899" y="5776"/>
                    <a:pt x="893" y="5407"/>
                  </a:cubicBezTo>
                  <a:close/>
                </a:path>
              </a:pathLst>
            </a:custGeom>
            <a:gradFill>
              <a:gsLst>
                <a:gs pos="0">
                  <a:srgbClr val="3368FF"/>
                </a:gs>
                <a:gs pos="39000">
                  <a:srgbClr val="B3D4FE"/>
                </a:gs>
                <a:gs pos="100000">
                  <a:srgbClr val="B3D4FE">
                    <a:alpha val="0"/>
                  </a:srgbClr>
                </a:gs>
              </a:gsLst>
              <a:lin ang="5400000" scaled="0"/>
            </a:gradFill>
            <a:ln cap="rnd">
              <a:noFill/>
              <a:round/>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37" name="任意多边形 36"/>
          <p:cNvSpPr/>
          <p:nvPr/>
        </p:nvSpPr>
        <p:spPr>
          <a:xfrm>
            <a:off x="5838508" y="1077595"/>
            <a:ext cx="537210" cy="344170"/>
          </a:xfrm>
          <a:custGeom>
            <a:avLst/>
            <a:gdLst>
              <a:gd name="adj" fmla="val 83719"/>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846" h="542">
                <a:moveTo>
                  <a:pt x="0" y="443"/>
                </a:moveTo>
                <a:lnTo>
                  <a:pt x="0" y="240"/>
                </a:lnTo>
                <a:lnTo>
                  <a:pt x="423" y="0"/>
                </a:lnTo>
                <a:lnTo>
                  <a:pt x="846" y="240"/>
                </a:lnTo>
                <a:lnTo>
                  <a:pt x="846" y="542"/>
                </a:lnTo>
                <a:lnTo>
                  <a:pt x="841" y="542"/>
                </a:lnTo>
                <a:lnTo>
                  <a:pt x="841" y="446"/>
                </a:lnTo>
                <a:lnTo>
                  <a:pt x="418" y="206"/>
                </a:lnTo>
                <a:lnTo>
                  <a:pt x="0" y="443"/>
                </a:lnTo>
                <a:close/>
              </a:path>
            </a:pathLst>
          </a:custGeom>
          <a:gradFill>
            <a:gsLst>
              <a:gs pos="0">
                <a:srgbClr val="3368FF"/>
              </a:gs>
              <a:gs pos="100000">
                <a:srgbClr val="3368FF"/>
              </a:gs>
            </a:gsLst>
            <a:lin ang="5400000" scaled="0"/>
          </a:gradFill>
          <a:ln cap="rnd">
            <a:noFill/>
            <a:round/>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nvGrpSpPr>
          <p:cNvPr id="67" name="组合 66"/>
          <p:cNvGrpSpPr/>
          <p:nvPr/>
        </p:nvGrpSpPr>
        <p:grpSpPr>
          <a:xfrm>
            <a:off x="501650" y="1229360"/>
            <a:ext cx="4730750" cy="3945890"/>
            <a:chOff x="790" y="1808"/>
            <a:chExt cx="7450" cy="6214"/>
          </a:xfrm>
        </p:grpSpPr>
        <p:grpSp>
          <p:nvGrpSpPr>
            <p:cNvPr id="42" name="组合 41"/>
            <p:cNvGrpSpPr/>
            <p:nvPr/>
          </p:nvGrpSpPr>
          <p:grpSpPr>
            <a:xfrm>
              <a:off x="790" y="6078"/>
              <a:ext cx="5808" cy="1944"/>
              <a:chOff x="12248" y="4626"/>
              <a:chExt cx="5808" cy="1944"/>
            </a:xfrm>
          </p:grpSpPr>
          <p:sp>
            <p:nvSpPr>
              <p:cNvPr id="40" name="圆角矩形 39"/>
              <p:cNvSpPr/>
              <p:nvPr/>
            </p:nvSpPr>
            <p:spPr>
              <a:xfrm>
                <a:off x="12248" y="4874"/>
                <a:ext cx="5808" cy="1696"/>
              </a:xfrm>
              <a:prstGeom prst="roundRect">
                <a:avLst/>
              </a:prstGeom>
              <a:gradFill>
                <a:gsLst>
                  <a:gs pos="0">
                    <a:srgbClr val="E6E6E6">
                      <a:alpha val="41000"/>
                    </a:srgbClr>
                  </a:gs>
                  <a:gs pos="100000">
                    <a:srgbClr val="E6E6E6">
                      <a:alpha val="0"/>
                    </a:srgbClr>
                  </a:gs>
                </a:gsLst>
                <a:lin ang="5400000" scaled="1"/>
              </a:gradFill>
              <a:ln>
                <a:gradFill flip="none" rotWithShape="1">
                  <a:gsLst>
                    <a:gs pos="0">
                      <a:srgbClr val="0042FF"/>
                    </a:gs>
                    <a:gs pos="83000">
                      <a:srgbClr val="0042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1" name="圆角矩形 40"/>
              <p:cNvSpPr/>
              <p:nvPr/>
            </p:nvSpPr>
            <p:spPr>
              <a:xfrm>
                <a:off x="13836" y="4626"/>
                <a:ext cx="2632" cy="626"/>
              </a:xfrm>
              <a:prstGeom prst="roundRect">
                <a:avLst>
                  <a:gd name="adj" fmla="val 50000"/>
                </a:avLst>
              </a:prstGeom>
              <a:gradFill flip="none" rotWithShape="1">
                <a:gsLst>
                  <a:gs pos="0">
                    <a:srgbClr val="668EFF"/>
                  </a:gs>
                  <a:gs pos="78000">
                    <a:srgbClr val="3368FF"/>
                  </a:gs>
                </a:gsLst>
                <a:lin ang="2700000" scaled="1"/>
                <a:tileRect/>
              </a:gradFill>
              <a:ln>
                <a:noFill/>
              </a:ln>
              <a:effectLst>
                <a:outerShdw blurRad="190500" dist="50800" dir="540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sym typeface="微软雅黑"/>
                  </a:rPr>
                  <a:t>业务洞察与转化力</a:t>
                </a:r>
                <a:endParaRPr lang="zh-CN" altLang="en-US" sz="1200" b="1">
                  <a:solidFill>
                    <a:srgbClr val="FFFFFF"/>
                  </a:solidFill>
                  <a:latin typeface="微软雅黑"/>
                  <a:ea typeface="微软雅黑"/>
                  <a:cs typeface="微软雅黑"/>
                  <a:sym typeface="微软雅黑"/>
                </a:endParaRPr>
              </a:p>
            </p:txBody>
          </p:sp>
        </p:grpSp>
        <p:grpSp>
          <p:nvGrpSpPr>
            <p:cNvPr id="43" name="组合 42"/>
            <p:cNvGrpSpPr/>
            <p:nvPr/>
          </p:nvGrpSpPr>
          <p:grpSpPr>
            <a:xfrm>
              <a:off x="790" y="1808"/>
              <a:ext cx="5808" cy="1944"/>
              <a:chOff x="12248" y="4626"/>
              <a:chExt cx="5808" cy="1944"/>
            </a:xfrm>
          </p:grpSpPr>
          <p:sp>
            <p:nvSpPr>
              <p:cNvPr id="44" name="圆角矩形 43"/>
              <p:cNvSpPr/>
              <p:nvPr/>
            </p:nvSpPr>
            <p:spPr>
              <a:xfrm>
                <a:off x="12248" y="4874"/>
                <a:ext cx="5808" cy="1696"/>
              </a:xfrm>
              <a:prstGeom prst="roundRect">
                <a:avLst/>
              </a:prstGeom>
              <a:gradFill>
                <a:gsLst>
                  <a:gs pos="0">
                    <a:srgbClr val="E6E6E6">
                      <a:alpha val="41000"/>
                    </a:srgbClr>
                  </a:gs>
                  <a:gs pos="100000">
                    <a:srgbClr val="E6E6E6">
                      <a:alpha val="0"/>
                    </a:srgbClr>
                  </a:gs>
                </a:gsLst>
                <a:lin ang="5400000" scaled="1"/>
              </a:gradFill>
              <a:ln>
                <a:gradFill flip="none" rotWithShape="1">
                  <a:gsLst>
                    <a:gs pos="0">
                      <a:srgbClr val="0042FF"/>
                    </a:gs>
                    <a:gs pos="83000">
                      <a:srgbClr val="0042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5" name="圆角矩形 44"/>
              <p:cNvSpPr/>
              <p:nvPr/>
            </p:nvSpPr>
            <p:spPr>
              <a:xfrm>
                <a:off x="13836" y="4626"/>
                <a:ext cx="2632" cy="626"/>
              </a:xfrm>
              <a:prstGeom prst="roundRect">
                <a:avLst>
                  <a:gd name="adj" fmla="val 50000"/>
                </a:avLst>
              </a:prstGeom>
              <a:gradFill flip="none" rotWithShape="1">
                <a:gsLst>
                  <a:gs pos="0">
                    <a:srgbClr val="668EFF"/>
                  </a:gs>
                  <a:gs pos="78000">
                    <a:srgbClr val="3368FF"/>
                  </a:gs>
                </a:gsLst>
                <a:lin ang="2700000" scaled="1"/>
                <a:tileRect/>
              </a:gradFill>
              <a:ln>
                <a:noFill/>
              </a:ln>
              <a:effectLst>
                <a:outerShdw blurRad="190500" dist="50800" dir="540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sym typeface="微软雅黑"/>
                  </a:rPr>
                  <a:t>技术深耕与攻坚能力</a:t>
                </a:r>
                <a:endParaRPr lang="zh-CN" altLang="en-US" sz="1200" b="1">
                  <a:solidFill>
                    <a:srgbClr val="FFFFFF"/>
                  </a:solidFill>
                  <a:latin typeface="微软雅黑"/>
                  <a:ea typeface="微软雅黑"/>
                  <a:cs typeface="微软雅黑"/>
                  <a:sym typeface="微软雅黑"/>
                </a:endParaRPr>
              </a:p>
            </p:txBody>
          </p:sp>
        </p:grpSp>
        <p:grpSp>
          <p:nvGrpSpPr>
            <p:cNvPr id="46" name="组合 45"/>
            <p:cNvGrpSpPr/>
            <p:nvPr/>
          </p:nvGrpSpPr>
          <p:grpSpPr>
            <a:xfrm>
              <a:off x="790" y="3943"/>
              <a:ext cx="5808" cy="1944"/>
              <a:chOff x="12248" y="4626"/>
              <a:chExt cx="5808" cy="1944"/>
            </a:xfrm>
          </p:grpSpPr>
          <p:sp>
            <p:nvSpPr>
              <p:cNvPr id="47" name="圆角矩形 46"/>
              <p:cNvSpPr/>
              <p:nvPr/>
            </p:nvSpPr>
            <p:spPr>
              <a:xfrm>
                <a:off x="12248" y="4874"/>
                <a:ext cx="5808" cy="1696"/>
              </a:xfrm>
              <a:prstGeom prst="roundRect">
                <a:avLst/>
              </a:prstGeom>
              <a:gradFill>
                <a:gsLst>
                  <a:gs pos="0">
                    <a:srgbClr val="FFFFFF">
                      <a:alpha val="41000"/>
                    </a:srgbClr>
                  </a:gs>
                  <a:gs pos="100000">
                    <a:srgbClr val="FFFFFF">
                      <a:alpha val="0"/>
                    </a:srgbClr>
                  </a:gs>
                </a:gsLst>
                <a:lin ang="5400000" scaled="1"/>
              </a:gradFill>
              <a:ln>
                <a:gradFill flip="none" rotWithShape="1">
                  <a:gsLst>
                    <a:gs pos="0">
                      <a:srgbClr val="3368FF"/>
                    </a:gs>
                    <a:gs pos="83000">
                      <a:srgbClr val="3368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8" name="圆角矩形 47"/>
              <p:cNvSpPr/>
              <p:nvPr/>
            </p:nvSpPr>
            <p:spPr>
              <a:xfrm>
                <a:off x="13836" y="4626"/>
                <a:ext cx="2632" cy="626"/>
              </a:xfrm>
              <a:prstGeom prst="roundRect">
                <a:avLst>
                  <a:gd name="adj" fmla="val 50000"/>
                </a:avLst>
              </a:prstGeom>
              <a:gradFill flip="none" rotWithShape="1">
                <a:gsLst>
                  <a:gs pos="0">
                    <a:srgbClr val="B3D4FE"/>
                  </a:gs>
                  <a:gs pos="78000">
                    <a:srgbClr val="B3D4FE"/>
                  </a:gs>
                </a:gsLst>
                <a:lin ang="2700000" scaled="1"/>
                <a:tileRect/>
              </a:gradFill>
              <a:ln>
                <a:noFill/>
              </a:ln>
              <a:effectLst>
                <a:outerShdw blurRad="190500" dist="50800" dir="5400000" algn="t" rotWithShape="0">
                  <a:srgbClr val="B3D4FE">
                    <a:alpha val="2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系统性思维与前瞻力</a:t>
                </a:r>
                <a:endParaRPr lang="zh-CN" altLang="en-US" sz="1200" b="1">
                  <a:solidFill>
                    <a:srgbClr val="383838"/>
                  </a:solidFill>
                  <a:latin typeface="微软雅黑"/>
                  <a:ea typeface="微软雅黑"/>
                  <a:cs typeface="微软雅黑"/>
                  <a:sym typeface="微软雅黑"/>
                </a:endParaRPr>
              </a:p>
            </p:txBody>
          </p:sp>
        </p:grpSp>
        <p:cxnSp>
          <p:nvCxnSpPr>
            <p:cNvPr id="58" name="直接连接符 57"/>
            <p:cNvCxnSpPr/>
            <p:nvPr/>
          </p:nvCxnSpPr>
          <p:spPr>
            <a:xfrm>
              <a:off x="8107" y="2340"/>
              <a:ext cx="0" cy="5019"/>
            </a:xfrm>
            <a:prstGeom prst="line">
              <a:avLst/>
            </a:prstGeom>
            <a:ln>
              <a:gradFill>
                <a:gsLst>
                  <a:gs pos="0">
                    <a:srgbClr val="3368FF">
                      <a:alpha val="0"/>
                    </a:srgbClr>
                  </a:gs>
                  <a:gs pos="52000">
                    <a:srgbClr val="3368FF">
                      <a:alpha val="100000"/>
                    </a:srgbClr>
                  </a:gs>
                  <a:gs pos="100000">
                    <a:srgbClr val="3368FF">
                      <a:alpha val="0"/>
                    </a:srgbClr>
                  </a:gs>
                </a:gsLst>
                <a:lin ang="5400000" scaled="1"/>
              </a:gradFill>
            </a:ln>
          </p:spPr>
          <p:style>
            <a:lnRef idx="2">
              <a:srgbClr val="0042FF"/>
            </a:lnRef>
            <a:fillRef idx="0">
              <a:srgbClr val="FFFFFF"/>
            </a:fillRef>
            <a:effectRef idx="0">
              <a:srgbClr val="FFFFFF"/>
            </a:effectRef>
            <a:fontRef idx="minor">
              <a:srgbClr val="383838"/>
            </a:fontRef>
          </p:style>
        </p:cxnSp>
        <p:cxnSp>
          <p:nvCxnSpPr>
            <p:cNvPr id="61" name="直接连接符 60"/>
            <p:cNvCxnSpPr>
              <a:stCxn id="598" idx="2"/>
            </p:cNvCxnSpPr>
            <p:nvPr/>
          </p:nvCxnSpPr>
          <p:spPr>
            <a:xfrm flipH="1">
              <a:off x="6584" y="2780"/>
              <a:ext cx="1408" cy="0"/>
            </a:xfrm>
            <a:prstGeom prst="line">
              <a:avLst/>
            </a:prstGeom>
            <a:ln>
              <a:solidFill>
                <a:srgbClr val="668EFF"/>
              </a:solidFill>
            </a:ln>
          </p:spPr>
          <p:style>
            <a:lnRef idx="2">
              <a:srgbClr val="0042FF"/>
            </a:lnRef>
            <a:fillRef idx="0">
              <a:srgbClr val="FFFFFF"/>
            </a:fillRef>
            <a:effectRef idx="0">
              <a:srgbClr val="FFFFFF"/>
            </a:effectRef>
            <a:fontRef idx="minor">
              <a:srgbClr val="383838"/>
            </a:fontRef>
          </p:style>
        </p:cxnSp>
        <p:cxnSp>
          <p:nvCxnSpPr>
            <p:cNvPr id="62" name="直接连接符 61"/>
            <p:cNvCxnSpPr/>
            <p:nvPr/>
          </p:nvCxnSpPr>
          <p:spPr>
            <a:xfrm flipH="1">
              <a:off x="6598" y="6868"/>
              <a:ext cx="1498" cy="0"/>
            </a:xfrm>
            <a:prstGeom prst="line">
              <a:avLst/>
            </a:prstGeom>
            <a:ln>
              <a:solidFill>
                <a:srgbClr val="668EFF"/>
              </a:solidFill>
            </a:ln>
          </p:spPr>
          <p:style>
            <a:lnRef idx="2">
              <a:srgbClr val="0042FF"/>
            </a:lnRef>
            <a:fillRef idx="0">
              <a:srgbClr val="FFFFFF"/>
            </a:fillRef>
            <a:effectRef idx="0">
              <a:srgbClr val="FFFFFF"/>
            </a:effectRef>
            <a:fontRef idx="minor">
              <a:srgbClr val="383838"/>
            </a:fontRef>
          </p:style>
        </p:cxnSp>
        <p:cxnSp>
          <p:nvCxnSpPr>
            <p:cNvPr id="63" name="直接连接符 62"/>
            <p:cNvCxnSpPr/>
            <p:nvPr/>
          </p:nvCxnSpPr>
          <p:spPr>
            <a:xfrm flipH="1">
              <a:off x="6598" y="4849"/>
              <a:ext cx="1498" cy="0"/>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sp>
          <p:nvSpPr>
            <p:cNvPr id="64" name="显眼包PPT-3"/>
            <p:cNvSpPr/>
            <p:nvPr/>
          </p:nvSpPr>
          <p:spPr>
            <a:xfrm>
              <a:off x="7992" y="6760"/>
              <a:ext cx="230" cy="21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22225">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7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65" name="显眼包PPT-3"/>
            <p:cNvSpPr/>
            <p:nvPr/>
          </p:nvSpPr>
          <p:spPr>
            <a:xfrm>
              <a:off x="8010" y="4741"/>
              <a:ext cx="230" cy="215"/>
            </a:xfrm>
            <a:prstGeom prst="ellipse">
              <a:avLst/>
            </a:prstGeom>
            <a:gradFill flip="none" rotWithShape="1">
              <a:gsLst>
                <a:gs pos="13000">
                  <a:srgbClr val="B3D4FE"/>
                </a:gs>
                <a:gs pos="55000">
                  <a:srgbClr val="B3D4FE"/>
                </a:gs>
                <a:gs pos="100000">
                  <a:srgbClr val="3368FF"/>
                </a:gs>
              </a:gsLst>
              <a:path path="circle">
                <a:fillToRect r="100000" b="100000"/>
              </a:path>
              <a:tileRect l="-100000" t="-100000"/>
            </a:gradFill>
            <a:ln w="22225">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B3D4FE">
                  <a:alpha val="7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66" name="显眼包PPT-3"/>
            <p:cNvSpPr/>
            <p:nvPr/>
          </p:nvSpPr>
          <p:spPr>
            <a:xfrm>
              <a:off x="7992" y="2672"/>
              <a:ext cx="230" cy="21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22225">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7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grpSp>
      <p:grpSp>
        <p:nvGrpSpPr>
          <p:cNvPr id="68" name="组合 67"/>
          <p:cNvGrpSpPr/>
          <p:nvPr/>
        </p:nvGrpSpPr>
        <p:grpSpPr>
          <a:xfrm flipH="1">
            <a:off x="7017385" y="1229360"/>
            <a:ext cx="4730750" cy="3945890"/>
            <a:chOff x="790" y="1808"/>
            <a:chExt cx="7450" cy="6214"/>
          </a:xfrm>
        </p:grpSpPr>
        <p:grpSp>
          <p:nvGrpSpPr>
            <p:cNvPr id="69" name="组合 68"/>
            <p:cNvGrpSpPr/>
            <p:nvPr/>
          </p:nvGrpSpPr>
          <p:grpSpPr>
            <a:xfrm>
              <a:off x="790" y="6078"/>
              <a:ext cx="5808" cy="1944"/>
              <a:chOff x="12248" y="4626"/>
              <a:chExt cx="5808" cy="1944"/>
            </a:xfrm>
          </p:grpSpPr>
          <p:sp>
            <p:nvSpPr>
              <p:cNvPr id="70" name="圆角矩形 69"/>
              <p:cNvSpPr/>
              <p:nvPr/>
            </p:nvSpPr>
            <p:spPr>
              <a:xfrm>
                <a:off x="12248" y="4874"/>
                <a:ext cx="5808" cy="1696"/>
              </a:xfrm>
              <a:prstGeom prst="roundRect">
                <a:avLst/>
              </a:prstGeom>
              <a:gradFill>
                <a:gsLst>
                  <a:gs pos="0">
                    <a:srgbClr val="E6E6E6">
                      <a:alpha val="41000"/>
                    </a:srgbClr>
                  </a:gs>
                  <a:gs pos="100000">
                    <a:srgbClr val="E6E6E6">
                      <a:alpha val="0"/>
                    </a:srgbClr>
                  </a:gs>
                </a:gsLst>
                <a:lin ang="5400000" scaled="1"/>
              </a:gradFill>
              <a:ln>
                <a:gradFill flip="none" rotWithShape="1">
                  <a:gsLst>
                    <a:gs pos="0">
                      <a:srgbClr val="0042FF"/>
                    </a:gs>
                    <a:gs pos="83000">
                      <a:srgbClr val="0042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1" name="圆角矩形 70"/>
              <p:cNvSpPr/>
              <p:nvPr/>
            </p:nvSpPr>
            <p:spPr>
              <a:xfrm>
                <a:off x="13836" y="4626"/>
                <a:ext cx="2632" cy="626"/>
              </a:xfrm>
              <a:prstGeom prst="roundRect">
                <a:avLst>
                  <a:gd name="adj" fmla="val 50000"/>
                </a:avLst>
              </a:prstGeom>
              <a:gradFill flip="none" rotWithShape="1">
                <a:gsLst>
                  <a:gs pos="0">
                    <a:srgbClr val="668EFF"/>
                  </a:gs>
                  <a:gs pos="78000">
                    <a:srgbClr val="3368FF"/>
                  </a:gs>
                </a:gsLst>
                <a:lin ang="2700000" scaled="1"/>
                <a:tileRect/>
              </a:gradFill>
              <a:ln>
                <a:noFill/>
              </a:ln>
              <a:effectLst>
                <a:outerShdw blurRad="190500" dist="50800" dir="540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知识传承与人才培养</a:t>
                </a:r>
                <a:endParaRPr lang="zh-CN" altLang="en-US" sz="1200" b="1">
                  <a:solidFill>
                    <a:srgbClr val="383838"/>
                  </a:solidFill>
                  <a:latin typeface="微软雅黑"/>
                  <a:ea typeface="微软雅黑"/>
                  <a:cs typeface="微软雅黑"/>
                  <a:sym typeface="微软雅黑"/>
                </a:endParaRPr>
              </a:p>
            </p:txBody>
          </p:sp>
        </p:grpSp>
        <p:grpSp>
          <p:nvGrpSpPr>
            <p:cNvPr id="72" name="组合 71"/>
            <p:cNvGrpSpPr/>
            <p:nvPr/>
          </p:nvGrpSpPr>
          <p:grpSpPr>
            <a:xfrm>
              <a:off x="790" y="1808"/>
              <a:ext cx="5808" cy="1944"/>
              <a:chOff x="12248" y="4626"/>
              <a:chExt cx="5808" cy="1944"/>
            </a:xfrm>
          </p:grpSpPr>
          <p:sp>
            <p:nvSpPr>
              <p:cNvPr id="73" name="圆角矩形 72"/>
              <p:cNvSpPr/>
              <p:nvPr/>
            </p:nvSpPr>
            <p:spPr>
              <a:xfrm>
                <a:off x="12248" y="4874"/>
                <a:ext cx="5808" cy="1696"/>
              </a:xfrm>
              <a:prstGeom prst="roundRect">
                <a:avLst/>
              </a:prstGeom>
              <a:gradFill>
                <a:gsLst>
                  <a:gs pos="0">
                    <a:srgbClr val="E6E6E6">
                      <a:alpha val="41000"/>
                    </a:srgbClr>
                  </a:gs>
                  <a:gs pos="100000">
                    <a:srgbClr val="E6E6E6">
                      <a:alpha val="0"/>
                    </a:srgbClr>
                  </a:gs>
                </a:gsLst>
                <a:lin ang="5400000" scaled="1"/>
              </a:gradFill>
              <a:ln>
                <a:gradFill flip="none" rotWithShape="1">
                  <a:gsLst>
                    <a:gs pos="0">
                      <a:srgbClr val="0042FF"/>
                    </a:gs>
                    <a:gs pos="83000">
                      <a:srgbClr val="0042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4" name="圆角矩形 73"/>
              <p:cNvSpPr/>
              <p:nvPr/>
            </p:nvSpPr>
            <p:spPr>
              <a:xfrm>
                <a:off x="13836" y="4626"/>
                <a:ext cx="2632" cy="626"/>
              </a:xfrm>
              <a:prstGeom prst="roundRect">
                <a:avLst>
                  <a:gd name="adj" fmla="val 50000"/>
                </a:avLst>
              </a:prstGeom>
              <a:gradFill flip="none" rotWithShape="1">
                <a:gsLst>
                  <a:gs pos="0">
                    <a:srgbClr val="668EFF"/>
                  </a:gs>
                  <a:gs pos="78000">
                    <a:srgbClr val="3368FF"/>
                  </a:gs>
                </a:gsLst>
                <a:lin ang="2700000" scaled="1"/>
                <a:tileRect/>
              </a:gradFill>
              <a:ln>
                <a:noFill/>
              </a:ln>
              <a:effectLst>
                <a:outerShdw blurRad="190500" dist="50800" dir="540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项目推动与资源协调</a:t>
                </a:r>
                <a:endParaRPr lang="zh-CN" altLang="en-US" sz="1200" b="1">
                  <a:solidFill>
                    <a:srgbClr val="383838"/>
                  </a:solidFill>
                  <a:latin typeface="微软雅黑"/>
                  <a:ea typeface="微软雅黑"/>
                  <a:cs typeface="微软雅黑"/>
                  <a:sym typeface="微软雅黑"/>
                </a:endParaRPr>
              </a:p>
            </p:txBody>
          </p:sp>
        </p:grpSp>
        <p:grpSp>
          <p:nvGrpSpPr>
            <p:cNvPr id="75" name="组合 74"/>
            <p:cNvGrpSpPr/>
            <p:nvPr/>
          </p:nvGrpSpPr>
          <p:grpSpPr>
            <a:xfrm>
              <a:off x="790" y="3943"/>
              <a:ext cx="5808" cy="1944"/>
              <a:chOff x="12248" y="4626"/>
              <a:chExt cx="5808" cy="1944"/>
            </a:xfrm>
          </p:grpSpPr>
          <p:sp>
            <p:nvSpPr>
              <p:cNvPr id="76" name="圆角矩形 75"/>
              <p:cNvSpPr/>
              <p:nvPr/>
            </p:nvSpPr>
            <p:spPr>
              <a:xfrm>
                <a:off x="12248" y="4874"/>
                <a:ext cx="5808" cy="1696"/>
              </a:xfrm>
              <a:prstGeom prst="roundRect">
                <a:avLst/>
              </a:prstGeom>
              <a:gradFill>
                <a:gsLst>
                  <a:gs pos="0">
                    <a:srgbClr val="FFFFFF">
                      <a:alpha val="41000"/>
                    </a:srgbClr>
                  </a:gs>
                  <a:gs pos="100000">
                    <a:srgbClr val="FFFFFF">
                      <a:alpha val="0"/>
                    </a:srgbClr>
                  </a:gs>
                </a:gsLst>
                <a:lin ang="5400000" scaled="1"/>
              </a:gradFill>
              <a:ln>
                <a:gradFill flip="none" rotWithShape="1">
                  <a:gsLst>
                    <a:gs pos="0">
                      <a:srgbClr val="3368FF"/>
                    </a:gs>
                    <a:gs pos="83000">
                      <a:srgbClr val="3368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7" name="圆角矩形 76"/>
              <p:cNvSpPr/>
              <p:nvPr/>
            </p:nvSpPr>
            <p:spPr>
              <a:xfrm>
                <a:off x="13836" y="4626"/>
                <a:ext cx="2632" cy="626"/>
              </a:xfrm>
              <a:prstGeom prst="roundRect">
                <a:avLst>
                  <a:gd name="adj" fmla="val 50000"/>
                </a:avLst>
              </a:prstGeom>
              <a:gradFill flip="none" rotWithShape="1">
                <a:gsLst>
                  <a:gs pos="0">
                    <a:srgbClr val="B3D4FE"/>
                  </a:gs>
                  <a:gs pos="78000">
                    <a:srgbClr val="B3D4FE"/>
                  </a:gs>
                </a:gsLst>
                <a:lin ang="2700000" scaled="1"/>
                <a:tileRect/>
              </a:gradFill>
              <a:ln>
                <a:noFill/>
              </a:ln>
              <a:effectLst>
                <a:outerShdw blurRad="190500" dist="50800" dir="5400000" algn="t" rotWithShape="0">
                  <a:srgbClr val="B3D4FE">
                    <a:alpha val="29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流程优化与团队提效</a:t>
                </a:r>
                <a:endParaRPr lang="zh-CN" altLang="en-US" sz="1200" b="1">
                  <a:solidFill>
                    <a:srgbClr val="383838"/>
                  </a:solidFill>
                  <a:latin typeface="微软雅黑"/>
                  <a:ea typeface="微软雅黑"/>
                  <a:cs typeface="微软雅黑"/>
                  <a:sym typeface="微软雅黑"/>
                </a:endParaRPr>
              </a:p>
            </p:txBody>
          </p:sp>
        </p:grpSp>
        <p:cxnSp>
          <p:nvCxnSpPr>
            <p:cNvPr id="78" name="直接连接符 77"/>
            <p:cNvCxnSpPr/>
            <p:nvPr/>
          </p:nvCxnSpPr>
          <p:spPr>
            <a:xfrm>
              <a:off x="8107" y="2340"/>
              <a:ext cx="0" cy="5019"/>
            </a:xfrm>
            <a:prstGeom prst="line">
              <a:avLst/>
            </a:prstGeom>
            <a:ln>
              <a:gradFill>
                <a:gsLst>
                  <a:gs pos="0">
                    <a:srgbClr val="3368FF">
                      <a:alpha val="0"/>
                    </a:srgbClr>
                  </a:gs>
                  <a:gs pos="52000">
                    <a:srgbClr val="3368FF">
                      <a:alpha val="100000"/>
                    </a:srgbClr>
                  </a:gs>
                  <a:gs pos="100000">
                    <a:srgbClr val="3368FF">
                      <a:alpha val="0"/>
                    </a:srgbClr>
                  </a:gs>
                </a:gsLst>
                <a:lin ang="5400000" scaled="1"/>
              </a:gradFill>
            </a:ln>
          </p:spPr>
          <p:style>
            <a:lnRef idx="2">
              <a:srgbClr val="0042FF"/>
            </a:lnRef>
            <a:fillRef idx="0">
              <a:srgbClr val="FFFFFF"/>
            </a:fillRef>
            <a:effectRef idx="0">
              <a:srgbClr val="FFFFFF"/>
            </a:effectRef>
            <a:fontRef idx="minor">
              <a:srgbClr val="383838"/>
            </a:fontRef>
          </p:style>
        </p:cxnSp>
        <p:cxnSp>
          <p:nvCxnSpPr>
            <p:cNvPr id="79" name="直接连接符 78"/>
            <p:cNvCxnSpPr/>
            <p:nvPr/>
          </p:nvCxnSpPr>
          <p:spPr>
            <a:xfrm flipH="1">
              <a:off x="6584" y="2780"/>
              <a:ext cx="1408" cy="0"/>
            </a:xfrm>
            <a:prstGeom prst="line">
              <a:avLst/>
            </a:prstGeom>
            <a:ln>
              <a:solidFill>
                <a:srgbClr val="668EFF"/>
              </a:solidFill>
            </a:ln>
          </p:spPr>
          <p:style>
            <a:lnRef idx="2">
              <a:srgbClr val="0042FF"/>
            </a:lnRef>
            <a:fillRef idx="0">
              <a:srgbClr val="FFFFFF"/>
            </a:fillRef>
            <a:effectRef idx="0">
              <a:srgbClr val="FFFFFF"/>
            </a:effectRef>
            <a:fontRef idx="minor">
              <a:srgbClr val="383838"/>
            </a:fontRef>
          </p:style>
        </p:cxnSp>
        <p:cxnSp>
          <p:nvCxnSpPr>
            <p:cNvPr id="80" name="直接连接符 79"/>
            <p:cNvCxnSpPr/>
            <p:nvPr/>
          </p:nvCxnSpPr>
          <p:spPr>
            <a:xfrm flipH="1">
              <a:off x="6598" y="6868"/>
              <a:ext cx="1498" cy="0"/>
            </a:xfrm>
            <a:prstGeom prst="line">
              <a:avLst/>
            </a:prstGeom>
            <a:ln>
              <a:solidFill>
                <a:srgbClr val="668EFF"/>
              </a:solidFill>
            </a:ln>
          </p:spPr>
          <p:style>
            <a:lnRef idx="2">
              <a:srgbClr val="0042FF"/>
            </a:lnRef>
            <a:fillRef idx="0">
              <a:srgbClr val="FFFFFF"/>
            </a:fillRef>
            <a:effectRef idx="0">
              <a:srgbClr val="FFFFFF"/>
            </a:effectRef>
            <a:fontRef idx="minor">
              <a:srgbClr val="383838"/>
            </a:fontRef>
          </p:style>
        </p:cxnSp>
        <p:cxnSp>
          <p:nvCxnSpPr>
            <p:cNvPr id="81" name="直接连接符 80"/>
            <p:cNvCxnSpPr/>
            <p:nvPr/>
          </p:nvCxnSpPr>
          <p:spPr>
            <a:xfrm flipH="1">
              <a:off x="6598" y="4849"/>
              <a:ext cx="1498" cy="0"/>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sp>
          <p:nvSpPr>
            <p:cNvPr id="82" name="显眼包PPT-3"/>
            <p:cNvSpPr/>
            <p:nvPr/>
          </p:nvSpPr>
          <p:spPr>
            <a:xfrm>
              <a:off x="7992" y="6760"/>
              <a:ext cx="230" cy="21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22225">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7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cs typeface="微软雅黑"/>
                <a:ea typeface="微软雅黑"/>
              </a:endParaRPr>
            </a:p>
          </p:txBody>
        </p:sp>
        <p:sp>
          <p:nvSpPr>
            <p:cNvPr id="83" name="显眼包PPT-3"/>
            <p:cNvSpPr/>
            <p:nvPr/>
          </p:nvSpPr>
          <p:spPr>
            <a:xfrm>
              <a:off x="8010" y="4741"/>
              <a:ext cx="230" cy="215"/>
            </a:xfrm>
            <a:prstGeom prst="ellipse">
              <a:avLst/>
            </a:prstGeom>
            <a:gradFill flip="none" rotWithShape="1">
              <a:gsLst>
                <a:gs pos="13000">
                  <a:srgbClr val="B3D4FE"/>
                </a:gs>
                <a:gs pos="55000">
                  <a:srgbClr val="B3D4FE"/>
                </a:gs>
                <a:gs pos="100000">
                  <a:srgbClr val="3368FF"/>
                </a:gs>
              </a:gsLst>
              <a:path path="circle">
                <a:fillToRect r="100000" b="100000"/>
              </a:path>
              <a:tileRect l="-100000" t="-100000"/>
            </a:gradFill>
            <a:ln w="22225">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B3D4FE">
                  <a:alpha val="7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cs typeface="微软雅黑"/>
                <a:ea typeface="微软雅黑"/>
              </a:endParaRPr>
            </a:p>
          </p:txBody>
        </p:sp>
        <p:sp>
          <p:nvSpPr>
            <p:cNvPr id="84" name="显眼包PPT-3"/>
            <p:cNvSpPr/>
            <p:nvPr/>
          </p:nvSpPr>
          <p:spPr>
            <a:xfrm>
              <a:off x="7992" y="2672"/>
              <a:ext cx="230" cy="21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22225">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7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cs typeface="微软雅黑"/>
                <a:ea typeface="微软雅黑"/>
              </a:endParaRPr>
            </a:p>
          </p:txBody>
        </p:sp>
      </p:grpSp>
      <p:sp>
        <p:nvSpPr>
          <p:cNvPr id="85" name="文本框 84"/>
          <p:cNvSpPr txBox="1"/>
          <p:nvPr/>
        </p:nvSpPr>
        <p:spPr>
          <a:xfrm>
            <a:off x="5915660" y="2005330"/>
            <a:ext cx="381635" cy="1865630"/>
          </a:xfrm>
          <a:prstGeom prst="rect">
            <a:avLst/>
          </a:prstGeom>
        </p:spPr>
        <p:txBody>
          <a:bodyPr vert="eaVert" wrap="square" anchor="ctr" anchorCtr="0">
            <a:noAutofit/>
            <a:extLst>
              <a:ext uri="{4A0BC546-FE56-4ADE-93B0-CB8AF2F6F144}">
                <wpsdc:textFrameExt xmlns:wpsdc="http://www.wps.cn/officeDocument/2022/drawingmlCustomData" type="text"/>
              </a:ext>
            </a:extLst>
          </a:bodyPr>
          <a:p>
            <a:pPr indent="0" algn="ctr" fontAlgn="auto">
              <a:lnSpc>
                <a:spcPct val="100000"/>
              </a:lnSpc>
              <a:spcBef>
                <a:spcPts val="0"/>
              </a:spcBef>
              <a:spcAft>
                <a:spcPts val="0"/>
              </a:spcAft>
              <a:defRPr>
                <a:latin typeface="微软雅黑"/>
                <a:ea typeface="微软雅黑"/>
                <a:cs typeface="微软雅黑"/>
              </a:defRPr>
            </a:pPr>
            <a:r>
              <a:rPr lang="zh-CN" altLang="en-US" sz="1600" b="1">
                <a:solidFill>
                  <a:srgbClr val="383838"/>
                </a:solidFill>
                <a:latin typeface="微软雅黑"/>
                <a:ea typeface="微软雅黑"/>
                <a:cs typeface="微软雅黑"/>
              </a:rPr>
              <a:t>个</a:t>
            </a:r>
            <a:r>
              <a:rPr lang="en-US" altLang="zh-CN" sz="1600" b="1">
                <a:solidFill>
                  <a:srgbClr val="383838"/>
                </a:solidFill>
                <a:latin typeface="微软雅黑"/>
                <a:ea typeface="微软雅黑"/>
                <a:cs typeface="微软雅黑"/>
              </a:rPr>
              <a:t> </a:t>
            </a:r>
            <a:r>
              <a:rPr lang="zh-CN" altLang="en-US" sz="1600" b="1">
                <a:solidFill>
                  <a:srgbClr val="383838"/>
                </a:solidFill>
                <a:latin typeface="微软雅黑"/>
                <a:ea typeface="微软雅黑"/>
                <a:cs typeface="微软雅黑"/>
              </a:rPr>
              <a:t>人</a:t>
            </a:r>
            <a:r>
              <a:rPr lang="en-US" altLang="zh-CN" sz="1600" b="1">
                <a:solidFill>
                  <a:srgbClr val="383838"/>
                </a:solidFill>
                <a:latin typeface="微软雅黑"/>
                <a:ea typeface="微软雅黑"/>
                <a:cs typeface="微软雅黑"/>
              </a:rPr>
              <a:t> </a:t>
            </a:r>
            <a:r>
              <a:rPr lang="zh-CN" altLang="en-US" sz="1600" b="1">
                <a:solidFill>
                  <a:srgbClr val="383838"/>
                </a:solidFill>
                <a:latin typeface="微软雅黑"/>
                <a:ea typeface="微软雅黑"/>
                <a:cs typeface="微软雅黑"/>
              </a:rPr>
              <a:t>能</a:t>
            </a:r>
            <a:r>
              <a:rPr lang="en-US" altLang="zh-CN" sz="1600" b="1">
                <a:solidFill>
                  <a:srgbClr val="383838"/>
                </a:solidFill>
                <a:latin typeface="微软雅黑"/>
                <a:ea typeface="微软雅黑"/>
                <a:cs typeface="微软雅黑"/>
              </a:rPr>
              <a:t> </a:t>
            </a:r>
            <a:r>
              <a:rPr lang="zh-CN" altLang="en-US" sz="1600" b="1">
                <a:solidFill>
                  <a:srgbClr val="383838"/>
                </a:solidFill>
                <a:latin typeface="微软雅黑"/>
                <a:ea typeface="微软雅黑"/>
                <a:cs typeface="微软雅黑"/>
              </a:rPr>
              <a:t>力</a:t>
            </a:r>
            <a:r>
              <a:rPr lang="en-US" altLang="zh-CN" sz="1600" b="1">
                <a:solidFill>
                  <a:srgbClr val="383838"/>
                </a:solidFill>
                <a:latin typeface="微软雅黑"/>
                <a:ea typeface="微软雅黑"/>
                <a:cs typeface="微软雅黑"/>
              </a:rPr>
              <a:t> </a:t>
            </a:r>
            <a:r>
              <a:rPr lang="zh-CN" altLang="en-US" sz="1600" b="1">
                <a:solidFill>
                  <a:srgbClr val="383838"/>
                </a:solidFill>
                <a:latin typeface="微软雅黑"/>
                <a:ea typeface="微软雅黑"/>
                <a:cs typeface="微软雅黑"/>
              </a:rPr>
              <a:t>成</a:t>
            </a:r>
            <a:r>
              <a:rPr lang="en-US" altLang="zh-CN" sz="1600" b="1">
                <a:solidFill>
                  <a:srgbClr val="383838"/>
                </a:solidFill>
                <a:latin typeface="微软雅黑"/>
                <a:ea typeface="微软雅黑"/>
                <a:cs typeface="微软雅黑"/>
              </a:rPr>
              <a:t> </a:t>
            </a:r>
            <a:r>
              <a:rPr lang="zh-CN" altLang="en-US" sz="1600" b="1">
                <a:solidFill>
                  <a:srgbClr val="383838"/>
                </a:solidFill>
                <a:latin typeface="微软雅黑"/>
                <a:ea typeface="微软雅黑"/>
                <a:cs typeface="微软雅黑"/>
              </a:rPr>
              <a:t>长</a:t>
            </a:r>
            <a:endParaRPr lang="zh-CN" altLang="en-US" sz="1600" b="1">
              <a:solidFill>
                <a:srgbClr val="383838"/>
              </a:solidFill>
              <a:latin typeface="微软雅黑"/>
              <a:ea typeface="微软雅黑"/>
              <a:cs typeface="微软雅黑"/>
            </a:endParaRPr>
          </a:p>
        </p:txBody>
      </p:sp>
      <p:sp>
        <p:nvSpPr>
          <p:cNvPr id="86" name="Freeform 245"/>
          <p:cNvSpPr/>
          <p:nvPr/>
        </p:nvSpPr>
        <p:spPr bwMode="auto">
          <a:xfrm rot="19260000">
            <a:off x="6001068" y="1821180"/>
            <a:ext cx="210820" cy="210820"/>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rgbClr val="FFFFFF"/>
          </a:solidFill>
          <a:ln w="9525">
            <a:noFill/>
            <a:round/>
          </a:ln>
          <a:effectLst/>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buClrTx/>
              <a:buSzTx/>
              <a:buFontTx/>
              <a:buNone/>
              <a:defRPr>
                <a:latin typeface="微软雅黑"/>
                <a:ea typeface="微软雅黑"/>
                <a:cs typeface="微软雅黑"/>
              </a:defRPr>
            </a:pPr>
            <a:endParaRPr kumimoji="0" lang="en-US" sz="1730" b="0" i="0" u="none" strike="noStrike" kern="1200" cap="none" spc="0" normalizeH="0" baseline="0" noProof="0">
              <a:ln>
                <a:noFill/>
              </a:ln>
              <a:solidFill>
                <a:prstClr val="black"/>
              </a:solidFill>
              <a:effectLst/>
              <a:uLnTx/>
              <a:uFillTx/>
              <a:latin typeface="微软雅黑"/>
              <a:ea typeface="微软雅黑"/>
              <a:cs typeface="微软雅黑"/>
              <a:sym typeface="微软雅黑"/>
            </a:endParaRPr>
          </a:p>
        </p:txBody>
      </p:sp>
      <p:sp>
        <p:nvSpPr>
          <p:cNvPr id="87" name="椭圆 86"/>
          <p:cNvSpPr/>
          <p:nvPr/>
        </p:nvSpPr>
        <p:spPr>
          <a:xfrm>
            <a:off x="5938785" y="1764665"/>
            <a:ext cx="309880" cy="309880"/>
          </a:xfrm>
          <a:prstGeom prst="ellipse">
            <a:avLst/>
          </a:prstGeom>
          <a:solidFill>
            <a:srgbClr val="FFFFFF"/>
          </a:solidFill>
          <a:ln w="60960">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marL="0" marR="0" lvl="0" indent="0" algn="ctr" defTabSz="914400" rtl="0" eaLnBrk="1" fontAlgn="auto" latinLnBrk="0" hangingPunct="1">
              <a:lnSpc>
                <a:spcPct val="100000"/>
              </a:lnSpc>
              <a:spcBef>
                <a:spcPts val="0"/>
              </a:spcBef>
              <a:buClrTx/>
              <a:buSzTx/>
              <a:buFontTx/>
              <a:buNone/>
              <a:defRPr>
                <a:latin typeface="微软雅黑"/>
                <a:ea typeface="微软雅黑"/>
                <a:cs typeface="微软雅黑"/>
              </a:defRPr>
            </a:pPr>
            <a:endParaRPr kumimoji="0" lang="zh-CN" altLang="en-US" sz="173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90" name="Freeform 245"/>
          <p:cNvSpPr/>
          <p:nvPr/>
        </p:nvSpPr>
        <p:spPr bwMode="auto">
          <a:xfrm>
            <a:off x="5978790" y="1823720"/>
            <a:ext cx="191770" cy="191770"/>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rgbClr val="3368FF"/>
          </a:solidFill>
          <a:ln w="9525">
            <a:solidFill>
              <a:srgbClr val="FFFFFF"/>
            </a:solidFill>
            <a:round/>
          </a:ln>
          <a:effectLst/>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buClrTx/>
              <a:buSzTx/>
              <a:buFontTx/>
              <a:buNone/>
              <a:defRPr>
                <a:solidFill>
                  <a:srgbClr val="383838"/>
                </a:solidFill>
                <a:latin typeface="微软雅黑"/>
                <a:ea typeface="微软雅黑"/>
                <a:cs typeface="微软雅黑"/>
              </a:defRPr>
            </a:pPr>
            <a:endParaRPr kumimoji="0" lang="en-US" sz="173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59" name="文本框 158"/>
          <p:cNvSpPr txBox="1"/>
          <p:nvPr/>
        </p:nvSpPr>
        <p:spPr>
          <a:xfrm>
            <a:off x="603250" y="1675765"/>
            <a:ext cx="3439795" cy="59817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在数据建模上持续钻研，主动挑战了</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某个高难度任务或技术瓶颈</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，通过源码级研究、引入新框架、自研工具，不仅解决了问题，更为团队沉淀了一套性能调优规范、一个可复用的组件库。</a:t>
            </a:r>
            <a:endParaRPr lang="zh-CN" altLang="en-US" sz="1000" dirty="0">
              <a:solidFill>
                <a:srgbClr val="383838"/>
              </a:solidFill>
              <a:latin typeface="微软雅黑"/>
              <a:ea typeface="微软雅黑"/>
              <a:cs typeface="微软雅黑"/>
            </a:endParaRPr>
          </a:p>
        </p:txBody>
      </p:sp>
      <p:sp>
        <p:nvSpPr>
          <p:cNvPr id="91" name="文本框 90"/>
          <p:cNvSpPr txBox="1"/>
          <p:nvPr/>
        </p:nvSpPr>
        <p:spPr>
          <a:xfrm>
            <a:off x="4358640" y="1322070"/>
            <a:ext cx="1231265" cy="340995"/>
          </a:xfrm>
          <a:prstGeom prst="rect">
            <a:avLst/>
          </a:prstGeom>
          <a:noFill/>
        </p:spPr>
        <p:txBody>
          <a:bodyPr wrap="square">
            <a:spAutoFit/>
          </a:bodyPr>
          <a:lstStyle/>
          <a:p>
            <a:pPr algn="ctr">
              <a:lnSpc>
                <a:spcPct val="125000"/>
              </a:lnSpc>
              <a:defRPr>
                <a:solidFill>
                  <a:srgbClr val="383838"/>
                </a:solidFill>
                <a:latin typeface="微软雅黑"/>
                <a:ea typeface="微软雅黑"/>
                <a:cs typeface="微软雅黑"/>
              </a:defRPr>
            </a:pPr>
            <a:r>
              <a:rPr lang="zh-CN" altLang="en-US" sz="1300" b="1" dirty="0">
                <a:solidFill>
                  <a:srgbClr val="383838"/>
                </a:solidFill>
                <a:latin typeface="微软雅黑"/>
                <a:ea typeface="微软雅黑"/>
                <a:cs typeface="微软雅黑"/>
              </a:rPr>
              <a:t>专业能力提升</a:t>
            </a:r>
            <a:endParaRPr lang="zh-CN" altLang="en-US" sz="1300" b="1" dirty="0">
              <a:solidFill>
                <a:srgbClr val="383838"/>
              </a:solidFill>
              <a:latin typeface="微软雅黑"/>
              <a:ea typeface="微软雅黑"/>
              <a:cs typeface="微软雅黑"/>
            </a:endParaRPr>
          </a:p>
        </p:txBody>
      </p:sp>
      <p:sp>
        <p:nvSpPr>
          <p:cNvPr id="106" name="圆角矩形 105"/>
          <p:cNvSpPr/>
          <p:nvPr/>
        </p:nvSpPr>
        <p:spPr>
          <a:xfrm>
            <a:off x="4846638" y="1113790"/>
            <a:ext cx="255270" cy="217805"/>
          </a:xfrm>
          <a:prstGeom prst="roundRect">
            <a:avLst/>
          </a:prstGeom>
          <a:gradFill>
            <a:gsLst>
              <a:gs pos="0">
                <a:srgbClr val="3368FF"/>
              </a:gs>
              <a:gs pos="78000">
                <a:srgbClr val="0042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en-US" altLang="zh-CN" sz="1200">
                <a:solidFill>
                  <a:srgbClr val="FFFFFF"/>
                </a:solidFill>
                <a:cs typeface="微软雅黑"/>
                <a:latin typeface="微软雅黑"/>
                <a:ea typeface="微软雅黑"/>
              </a:rPr>
              <a:t>1</a:t>
            </a:r>
            <a:endParaRPr lang="en-US" altLang="zh-CN" sz="1200">
              <a:solidFill>
                <a:srgbClr val="FFFFFF"/>
              </a:solidFill>
              <a:cs typeface="微软雅黑"/>
              <a:latin typeface="微软雅黑"/>
              <a:ea typeface="微软雅黑"/>
            </a:endParaRPr>
          </a:p>
        </p:txBody>
      </p:sp>
      <p:sp>
        <p:nvSpPr>
          <p:cNvPr id="107" name="文本框 106"/>
          <p:cNvSpPr txBox="1"/>
          <p:nvPr/>
        </p:nvSpPr>
        <p:spPr>
          <a:xfrm>
            <a:off x="6600825" y="1334770"/>
            <a:ext cx="1231265" cy="340995"/>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300" b="1" dirty="0">
                <a:solidFill>
                  <a:srgbClr val="0042FF"/>
                </a:solidFill>
                <a:latin typeface="微软雅黑"/>
                <a:ea typeface="微软雅黑"/>
                <a:cs typeface="微软雅黑"/>
              </a:rPr>
              <a:t>管理能力提升</a:t>
            </a:r>
            <a:endParaRPr lang="zh-CN" altLang="en-US" sz="1300" b="1" dirty="0">
              <a:solidFill>
                <a:srgbClr val="0042FF"/>
              </a:solidFill>
              <a:latin typeface="微软雅黑"/>
              <a:ea typeface="微软雅黑"/>
              <a:cs typeface="微软雅黑"/>
            </a:endParaRPr>
          </a:p>
        </p:txBody>
      </p:sp>
      <p:sp>
        <p:nvSpPr>
          <p:cNvPr id="108" name="圆角矩形 107"/>
          <p:cNvSpPr/>
          <p:nvPr/>
        </p:nvSpPr>
        <p:spPr>
          <a:xfrm>
            <a:off x="7088823" y="1126490"/>
            <a:ext cx="255270" cy="217805"/>
          </a:xfrm>
          <a:prstGeom prst="roundRect">
            <a:avLst/>
          </a:prstGeom>
          <a:gradFill>
            <a:gsLst>
              <a:gs pos="0">
                <a:srgbClr val="B3D4FE"/>
              </a:gs>
              <a:gs pos="78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200">
                <a:cs typeface="微软雅黑"/>
                <a:latin typeface="微软雅黑"/>
                <a:ea typeface="微软雅黑"/>
              </a:rPr>
              <a:t>2</a:t>
            </a:r>
            <a:endParaRPr lang="en-US" altLang="zh-CN" sz="1200">
              <a:cs typeface="微软雅黑"/>
              <a:latin typeface="微软雅黑"/>
              <a:ea typeface="微软雅黑"/>
            </a:endParaRPr>
          </a:p>
        </p:txBody>
      </p:sp>
      <p:sp>
        <p:nvSpPr>
          <p:cNvPr id="109" name="文本框 108"/>
          <p:cNvSpPr txBox="1"/>
          <p:nvPr/>
        </p:nvSpPr>
        <p:spPr>
          <a:xfrm>
            <a:off x="603250" y="3016250"/>
            <a:ext cx="3439795" cy="59817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我逐步培养了系统性思维。面对某个复杂问题，我能够追溯其根源，并设计出兼顾短期见效与长期可扩展性的解决方案。例如，在</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具体项目</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中，我预见了未来可能遇到的挑战，提前在架构中进行了具体设计。</a:t>
            </a:r>
            <a:endParaRPr lang="zh-CN" altLang="en-US" sz="1000" dirty="0">
              <a:solidFill>
                <a:srgbClr val="383838"/>
              </a:solidFill>
              <a:latin typeface="微软雅黑"/>
              <a:ea typeface="微软雅黑"/>
              <a:cs typeface="微软雅黑"/>
            </a:endParaRPr>
          </a:p>
        </p:txBody>
      </p:sp>
      <p:sp>
        <p:nvSpPr>
          <p:cNvPr id="110" name="文本框 109"/>
          <p:cNvSpPr txBox="1"/>
          <p:nvPr/>
        </p:nvSpPr>
        <p:spPr>
          <a:xfrm>
            <a:off x="603250" y="4373880"/>
            <a:ext cx="3439795" cy="59817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我深刻理解，所有专业工作最终需服务于业务目标。我主动学习业务知识，分析</a:t>
            </a:r>
            <a:r>
              <a:rPr lang="zh-CN" sz="1000" dirty="0">
                <a:solidFill>
                  <a:srgbClr val="383838"/>
                </a:solidFill>
                <a:latin typeface="微软雅黑"/>
                <a:ea typeface="微软雅黑"/>
                <a:cs typeface="微软雅黑"/>
              </a:rPr>
              <a:t>执行工作</a:t>
            </a:r>
            <a:r>
              <a:rPr lang="zh-CN" altLang="en-US" sz="1000" dirty="0">
                <a:solidFill>
                  <a:srgbClr val="383838"/>
                </a:solidFill>
                <a:latin typeface="微软雅黑"/>
                <a:ea typeface="微软雅黑"/>
                <a:cs typeface="微软雅黑"/>
              </a:rPr>
              <a:t>与公司核心指标（营收、增长、成本）的关联。我所负责的</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具体功能或项目</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，直接贡献了</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可衡量的业务价值</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sp>
        <p:nvSpPr>
          <p:cNvPr id="111" name="文本框 110"/>
          <p:cNvSpPr txBox="1"/>
          <p:nvPr/>
        </p:nvSpPr>
        <p:spPr>
          <a:xfrm>
            <a:off x="8211185" y="1653540"/>
            <a:ext cx="3439795" cy="59817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我多次作为</a:t>
            </a:r>
            <a:r>
              <a:rPr lang="zh-CN" sz="1000" dirty="0">
                <a:solidFill>
                  <a:srgbClr val="383838"/>
                </a:solidFill>
                <a:latin typeface="微软雅黑"/>
                <a:ea typeface="微软雅黑"/>
                <a:cs typeface="微软雅黑"/>
              </a:rPr>
              <a:t>项目</a:t>
            </a:r>
            <a:r>
              <a:rPr lang="zh-CN" altLang="en-US" sz="1000" dirty="0">
                <a:solidFill>
                  <a:srgbClr val="383838"/>
                </a:solidFill>
                <a:latin typeface="微软雅黑"/>
                <a:ea typeface="微软雅黑"/>
                <a:cs typeface="微软雅黑"/>
              </a:rPr>
              <a:t>的核心负责人。我学会了如何拆解目标、制定计划、分配任务并跟踪风险。在资源有限的情况下，我通过主动沟通、优先级排序，协调了跨部门同事或资源，确保了项目在截止日期前高质量交付。</a:t>
            </a:r>
            <a:endParaRPr lang="zh-CN" altLang="en-US" sz="1000" dirty="0">
              <a:solidFill>
                <a:srgbClr val="383838"/>
              </a:solidFill>
              <a:latin typeface="微软雅黑"/>
              <a:ea typeface="微软雅黑"/>
              <a:cs typeface="微软雅黑"/>
            </a:endParaRPr>
          </a:p>
        </p:txBody>
      </p:sp>
      <p:sp>
        <p:nvSpPr>
          <p:cNvPr id="112" name="文本框 111"/>
          <p:cNvSpPr txBox="1"/>
          <p:nvPr/>
        </p:nvSpPr>
        <p:spPr>
          <a:xfrm>
            <a:off x="8211185" y="2994025"/>
            <a:ext cx="3439795" cy="59817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我关注团队整体效率，而非仅仅个人产出。我发现了团队在协作、开发、测试、沟通等</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环节的共性瓶颈，并主导推动了</a:t>
            </a:r>
            <a:r>
              <a:rPr lang="zh-CN" sz="1000" dirty="0">
                <a:solidFill>
                  <a:srgbClr val="383838"/>
                </a:solidFill>
                <a:latin typeface="微软雅黑"/>
                <a:ea typeface="微软雅黑"/>
                <a:cs typeface="微软雅黑"/>
              </a:rPr>
              <a:t>项目</a:t>
            </a:r>
            <a:r>
              <a:rPr lang="zh-CN" altLang="en-US" sz="1000" dirty="0">
                <a:solidFill>
                  <a:srgbClr val="383838"/>
                </a:solidFill>
                <a:latin typeface="微软雅黑"/>
                <a:ea typeface="微软雅黑"/>
                <a:cs typeface="微软雅黑"/>
              </a:rPr>
              <a:t>流程改进或工具落地，如建立新的评审机制、共享知识库、自动化脚本。</a:t>
            </a:r>
            <a:endParaRPr lang="zh-CN" altLang="en-US" sz="1000" dirty="0">
              <a:solidFill>
                <a:srgbClr val="383838"/>
              </a:solidFill>
              <a:latin typeface="微软雅黑"/>
              <a:ea typeface="微软雅黑"/>
              <a:cs typeface="微软雅黑"/>
            </a:endParaRPr>
          </a:p>
        </p:txBody>
      </p:sp>
      <p:sp>
        <p:nvSpPr>
          <p:cNvPr id="113" name="文本框 112"/>
          <p:cNvSpPr txBox="1"/>
          <p:nvPr/>
        </p:nvSpPr>
        <p:spPr>
          <a:xfrm>
            <a:off x="8211185" y="4351655"/>
            <a:ext cx="3439795" cy="598170"/>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我坚信</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成人达己</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，主动承担起知识沉淀与分享的责任。我通过定期技术分享、编写详实的项目复盘文档、担任新人导师等方式，将个人经验转化为团队资产。我乐于指导同事，在具体任务中给予支持和反馈</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sp>
        <p:nvSpPr>
          <p:cNvPr id="291" name="显眼包PPT3"/>
          <p:cNvSpPr/>
          <p:nvPr/>
        </p:nvSpPr>
        <p:spPr>
          <a:xfrm>
            <a:off x="2141855" y="4832985"/>
            <a:ext cx="7950835" cy="1056005"/>
          </a:xfrm>
          <a:prstGeom prst="ellipse">
            <a:avLst/>
          </a:prstGeom>
          <a:noFill/>
          <a:ln w="25400">
            <a:gradFill>
              <a:gsLst>
                <a:gs pos="37000">
                  <a:srgbClr val="3368FF">
                    <a:alpha val="0"/>
                  </a:srgbClr>
                </a:gs>
                <a:gs pos="100000">
                  <a:srgbClr val="3368FF">
                    <a:alpha val="0"/>
                  </a:srgbClr>
                </a:gs>
                <a:gs pos="70000">
                  <a:srgbClr val="3368FF"/>
                </a:gs>
              </a:gsLst>
              <a:lin ang="5400000" scaled="1"/>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1" name="子陵职场PPT4"/>
          <p:cNvSpPr/>
          <p:nvPr>
            <p:custDataLst>
              <p:tags r:id="rId6"/>
            </p:custDataLst>
          </p:nvPr>
        </p:nvSpPr>
        <p:spPr>
          <a:xfrm>
            <a:off x="2141855" y="5918835"/>
            <a:ext cx="1282065" cy="396240"/>
          </a:xfrm>
          <a:prstGeom prst="roundRect">
            <a:avLst>
              <a:gd name="adj" fmla="val 50000"/>
            </a:avLst>
          </a:prstGeom>
          <a:gradFill flip="none" rotWithShape="1">
            <a:gsLst>
              <a:gs pos="23000">
                <a:srgbClr val="E6E6E6"/>
              </a:gs>
              <a:gs pos="100000">
                <a:srgbClr val="E6E6E6"/>
              </a:gs>
            </a:gsLst>
            <a:path path="circle">
              <a:fillToRect l="100000" t="100000"/>
            </a:path>
            <a:tileRect r="-100000" b="-100000"/>
          </a:gradFill>
          <a:ln w="15875">
            <a:solidFill>
              <a:srgbClr val="FFFFFF"/>
            </a:solidFill>
          </a:ln>
          <a:effectLst>
            <a:outerShdw blurRad="254000" dist="123444" dir="5400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gradFill>
                  <a:gsLst>
                    <a:gs pos="0">
                      <a:srgbClr val="0042FF"/>
                    </a:gs>
                    <a:gs pos="100000">
                      <a:srgbClr val="0042FF"/>
                    </a:gs>
                  </a:gsLst>
                  <a:lin ang="5400000" scaled="0"/>
                </a:gradFill>
                <a:latin typeface="微软雅黑"/>
                <a:cs typeface="微软雅黑"/>
                <a:sym typeface="微软雅黑"/>
                <a:ea typeface="微软雅黑"/>
              </a:rPr>
              <a:t>深耕业务</a:t>
            </a:r>
            <a:endParaRPr lang="zh-CN" altLang="en-US" sz="1400" b="1" dirty="0">
              <a:gradFill>
                <a:gsLst>
                  <a:gs pos="0">
                    <a:srgbClr val="0042FF"/>
                  </a:gs>
                  <a:gs pos="100000">
                    <a:srgbClr val="0042FF"/>
                  </a:gs>
                </a:gsLst>
                <a:lin ang="5400000" scaled="0"/>
              </a:gradFill>
              <a:latin typeface="微软雅黑"/>
              <a:cs typeface="微软雅黑"/>
              <a:sym typeface="微软雅黑"/>
              <a:ea typeface="微软雅黑"/>
            </a:endParaRPr>
          </a:p>
        </p:txBody>
      </p:sp>
      <p:sp>
        <p:nvSpPr>
          <p:cNvPr id="122" name="子陵职场PPT4"/>
          <p:cNvSpPr/>
          <p:nvPr>
            <p:custDataLst>
              <p:tags r:id="rId7"/>
            </p:custDataLst>
          </p:nvPr>
        </p:nvSpPr>
        <p:spPr>
          <a:xfrm>
            <a:off x="3950335" y="6130290"/>
            <a:ext cx="1282065" cy="396240"/>
          </a:xfrm>
          <a:prstGeom prst="roundRect">
            <a:avLst>
              <a:gd name="adj" fmla="val 50000"/>
            </a:avLst>
          </a:prstGeom>
          <a:gradFill flip="none" rotWithShape="1">
            <a:gsLst>
              <a:gs pos="23000">
                <a:srgbClr val="E6E6E6"/>
              </a:gs>
              <a:gs pos="100000">
                <a:srgbClr val="E6E6E6"/>
              </a:gs>
            </a:gsLst>
            <a:path path="circle">
              <a:fillToRect l="100000" t="100000"/>
            </a:path>
            <a:tileRect r="-100000" b="-100000"/>
          </a:gradFill>
          <a:ln w="15875">
            <a:solidFill>
              <a:srgbClr val="FFFFFF"/>
            </a:solidFill>
          </a:ln>
          <a:effectLst>
            <a:outerShdw blurRad="254000" dist="123444" dir="5400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gradFill>
                  <a:gsLst>
                    <a:gs pos="0">
                      <a:srgbClr val="0042FF"/>
                    </a:gs>
                    <a:gs pos="100000">
                      <a:srgbClr val="0042FF"/>
                    </a:gs>
                  </a:gsLst>
                  <a:lin ang="5400000" scaled="0"/>
                </a:gradFill>
                <a:latin typeface="微软雅黑"/>
                <a:cs typeface="微软雅黑"/>
                <a:sym typeface="微软雅黑"/>
                <a:ea typeface="微软雅黑"/>
              </a:rPr>
              <a:t>技术专家</a:t>
            </a:r>
            <a:endParaRPr lang="zh-CN" altLang="en-US" sz="1400" b="1" dirty="0">
              <a:gradFill>
                <a:gsLst>
                  <a:gs pos="0">
                    <a:srgbClr val="0042FF"/>
                  </a:gs>
                  <a:gs pos="100000">
                    <a:srgbClr val="0042FF"/>
                  </a:gs>
                </a:gsLst>
                <a:lin ang="5400000" scaled="0"/>
              </a:gradFill>
              <a:latin typeface="微软雅黑"/>
              <a:cs typeface="微软雅黑"/>
              <a:sym typeface="微软雅黑"/>
              <a:ea typeface="微软雅黑"/>
            </a:endParaRPr>
          </a:p>
        </p:txBody>
      </p:sp>
      <p:sp>
        <p:nvSpPr>
          <p:cNvPr id="123" name="子陵职场PPT4"/>
          <p:cNvSpPr/>
          <p:nvPr>
            <p:custDataLst>
              <p:tags r:id="rId8"/>
            </p:custDataLst>
          </p:nvPr>
        </p:nvSpPr>
        <p:spPr>
          <a:xfrm>
            <a:off x="6248400" y="6130290"/>
            <a:ext cx="1282065" cy="396240"/>
          </a:xfrm>
          <a:prstGeom prst="roundRect">
            <a:avLst>
              <a:gd name="adj" fmla="val 50000"/>
            </a:avLst>
          </a:prstGeom>
          <a:gradFill flip="none" rotWithShape="1">
            <a:gsLst>
              <a:gs pos="23000">
                <a:srgbClr val="E6E6E6"/>
              </a:gs>
              <a:gs pos="100000">
                <a:srgbClr val="E6E6E6"/>
              </a:gs>
            </a:gsLst>
            <a:path path="circle">
              <a:fillToRect l="100000" t="100000"/>
            </a:path>
            <a:tileRect r="-100000" b="-100000"/>
          </a:gradFill>
          <a:ln w="15875">
            <a:solidFill>
              <a:srgbClr val="FFFFFF"/>
            </a:solidFill>
          </a:ln>
          <a:effectLst>
            <a:outerShdw blurRad="254000" dist="123444" dir="5400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gradFill>
                  <a:gsLst>
                    <a:gs pos="0">
                      <a:srgbClr val="0042FF"/>
                    </a:gs>
                    <a:gs pos="100000">
                      <a:srgbClr val="0042FF"/>
                    </a:gs>
                  </a:gsLst>
                  <a:lin ang="5400000" scaled="0"/>
                </a:gradFill>
                <a:latin typeface="微软雅黑"/>
                <a:cs typeface="微软雅黑"/>
                <a:sym typeface="微软雅黑"/>
                <a:ea typeface="微软雅黑"/>
              </a:rPr>
              <a:t>凝聚团队</a:t>
            </a:r>
            <a:endParaRPr lang="zh-CN" altLang="en-US" sz="1400" b="1" dirty="0">
              <a:gradFill>
                <a:gsLst>
                  <a:gs pos="0">
                    <a:srgbClr val="0042FF"/>
                  </a:gs>
                  <a:gs pos="100000">
                    <a:srgbClr val="0042FF"/>
                  </a:gs>
                </a:gsLst>
                <a:lin ang="5400000" scaled="0"/>
              </a:gradFill>
              <a:latin typeface="微软雅黑"/>
              <a:cs typeface="微软雅黑"/>
              <a:sym typeface="微软雅黑"/>
              <a:ea typeface="微软雅黑"/>
            </a:endParaRPr>
          </a:p>
        </p:txBody>
      </p:sp>
      <p:sp>
        <p:nvSpPr>
          <p:cNvPr id="124" name="子陵职场PPT4"/>
          <p:cNvSpPr/>
          <p:nvPr>
            <p:custDataLst>
              <p:tags r:id="rId9"/>
            </p:custDataLst>
          </p:nvPr>
        </p:nvSpPr>
        <p:spPr>
          <a:xfrm>
            <a:off x="8315960" y="6003290"/>
            <a:ext cx="1282065" cy="396240"/>
          </a:xfrm>
          <a:prstGeom prst="roundRect">
            <a:avLst>
              <a:gd name="adj" fmla="val 50000"/>
            </a:avLst>
          </a:prstGeom>
          <a:gradFill flip="none" rotWithShape="1">
            <a:gsLst>
              <a:gs pos="23000">
                <a:srgbClr val="E6E6E6"/>
              </a:gs>
              <a:gs pos="100000">
                <a:srgbClr val="E6E6E6"/>
              </a:gs>
            </a:gsLst>
            <a:path path="circle">
              <a:fillToRect l="100000" t="100000"/>
            </a:path>
            <a:tileRect r="-100000" b="-100000"/>
          </a:gradFill>
          <a:ln w="15875">
            <a:solidFill>
              <a:srgbClr val="FFFFFF"/>
            </a:solidFill>
          </a:ln>
          <a:effectLst>
            <a:outerShdw blurRad="254000" dist="123444" dir="5400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400" b="1" dirty="0">
                <a:gradFill>
                  <a:gsLst>
                    <a:gs pos="0">
                      <a:srgbClr val="0042FF"/>
                    </a:gs>
                    <a:gs pos="100000">
                      <a:srgbClr val="0042FF"/>
                    </a:gs>
                  </a:gsLst>
                  <a:lin ang="5400000" scaled="0"/>
                </a:gradFill>
                <a:latin typeface="微软雅黑"/>
                <a:cs typeface="微软雅黑"/>
                <a:sym typeface="微软雅黑"/>
                <a:ea typeface="微软雅黑"/>
              </a:rPr>
              <a:t>团队贡献者</a:t>
            </a:r>
            <a:endParaRPr lang="zh-CN" altLang="en-US" sz="1400" b="1" dirty="0">
              <a:gradFill>
                <a:gsLst>
                  <a:gs pos="0">
                    <a:srgbClr val="0042FF"/>
                  </a:gs>
                  <a:gs pos="100000">
                    <a:srgbClr val="0042FF"/>
                  </a:gs>
                </a:gsLst>
                <a:lin ang="5400000" scaled="0"/>
              </a:gradFill>
              <a:latin typeface="微软雅黑"/>
              <a:cs typeface="微软雅黑"/>
              <a:sym typeface="微软雅黑"/>
              <a:ea typeface="微软雅黑"/>
            </a:endParaRPr>
          </a:p>
        </p:txBody>
      </p:sp>
      <p:sp>
        <p:nvSpPr>
          <p:cNvPr id="125" name="文本框 124"/>
          <p:cNvSpPr txBox="1"/>
          <p:nvPr/>
        </p:nvSpPr>
        <p:spPr>
          <a:xfrm>
            <a:off x="3815080" y="5122228"/>
            <a:ext cx="4758055" cy="340995"/>
          </a:xfrm>
          <a:prstGeom prst="rect">
            <a:avLst/>
          </a:prstGeom>
          <a:noFill/>
        </p:spPr>
        <p:txBody>
          <a:bodyPr wrap="square">
            <a:prstTxWarp prst="textArchDown">
              <a:avLst/>
            </a:prstTxWarp>
            <a:spAutoFit/>
          </a:bodyPr>
          <a:lstStyle/>
          <a:p>
            <a:pPr algn="ctr">
              <a:lnSpc>
                <a:spcPct val="125000"/>
              </a:lnSpc>
              <a:defRPr>
                <a:solidFill>
                  <a:srgbClr val="383838"/>
                </a:solidFill>
                <a:latin typeface="微软雅黑"/>
                <a:ea typeface="微软雅黑"/>
                <a:cs typeface="微软雅黑"/>
              </a:defRPr>
            </a:pPr>
            <a:r>
              <a:rPr lang="zh-CN" altLang="en-US" sz="1500" b="1" dirty="0">
                <a:gradFill>
                  <a:gsLst>
                    <a:gs pos="0">
                      <a:srgbClr val="0042FF"/>
                    </a:gs>
                    <a:gs pos="100000">
                      <a:srgbClr val="0042FF"/>
                    </a:gs>
                  </a:gsLst>
                  <a:lin ang="5400000" scaled="0"/>
                </a:gradFill>
                <a:solidFill>
                  <a:srgbClr val="383838"/>
                </a:solidFill>
                <a:latin typeface="微软雅黑"/>
                <a:ea typeface="微软雅黑"/>
                <a:cs typeface="微软雅黑"/>
              </a:rPr>
              <a:t>立志成为领域专家与驱动者</a:t>
            </a:r>
            <a:endParaRPr lang="zh-CN" altLang="en-US" sz="1500" b="1" dirty="0">
              <a:gradFill>
                <a:gsLst>
                  <a:gs pos="0">
                    <a:srgbClr val="0042FF"/>
                  </a:gs>
                  <a:gs pos="100000">
                    <a:srgbClr val="0042FF"/>
                  </a:gs>
                </a:gsLst>
                <a:lin ang="5400000" scaled="0"/>
              </a:gradFill>
              <a:solidFill>
                <a:srgbClr val="383838"/>
              </a:solidFill>
              <a:latin typeface="微软雅黑"/>
              <a:ea typeface="微软雅黑"/>
              <a:cs typeface="微软雅黑"/>
            </a:endParaRPr>
          </a:p>
        </p:txBody>
      </p:sp>
      <p:sp>
        <p:nvSpPr>
          <p:cNvPr id="126" name="显眼包PPT3"/>
          <p:cNvSpPr/>
          <p:nvPr/>
        </p:nvSpPr>
        <p:spPr>
          <a:xfrm>
            <a:off x="3181350" y="4944110"/>
            <a:ext cx="5693410" cy="577850"/>
          </a:xfrm>
          <a:prstGeom prst="ellipse">
            <a:avLst/>
          </a:prstGeom>
          <a:noFill/>
          <a:ln w="25400">
            <a:gradFill>
              <a:gsLst>
                <a:gs pos="49000">
                  <a:srgbClr val="B3D4FE">
                    <a:alpha val="0"/>
                  </a:srgbClr>
                </a:gs>
                <a:gs pos="97000">
                  <a:srgbClr val="B3D4FE">
                    <a:alpha val="0"/>
                  </a:srgbClr>
                </a:gs>
                <a:gs pos="70000">
                  <a:srgbClr val="B3D4FE"/>
                </a:gs>
              </a:gsLst>
              <a:lin ang="5400000" scaled="1"/>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行业智能化架构及应用</a:t>
            </a:r>
            <a:endParaRPr lang="zh-CN" altLang="en-US" sz="2500">
              <a:solidFill>
                <a:srgbClr val="383838"/>
              </a:solidFill>
              <a:effectLst/>
              <a:latin typeface="微软雅黑"/>
              <a:ea typeface="微软雅黑"/>
              <a:cs typeface="微软雅黑"/>
            </a:endParaRPr>
          </a:p>
        </p:txBody>
      </p:sp>
      <p:sp>
        <p:nvSpPr>
          <p:cNvPr id="38" name="椭圆 37"/>
          <p:cNvSpPr/>
          <p:nvPr/>
        </p:nvSpPr>
        <p:spPr>
          <a:xfrm>
            <a:off x="3486778" y="1575394"/>
            <a:ext cx="5546104" cy="1058023"/>
          </a:xfrm>
          <a:prstGeom prst="ellipse">
            <a:avLst/>
          </a:prstGeom>
          <a:gradFill>
            <a:gsLst>
              <a:gs pos="0">
                <a:srgbClr val="3368FF">
                  <a:alpha val="0"/>
                </a:srgbClr>
              </a:gs>
              <a:gs pos="100000">
                <a:srgbClr val="3368FF">
                  <a:alpha val="19000"/>
                </a:srgbClr>
              </a:gs>
            </a:gsLst>
            <a:lin ang="5400000" scaled="1"/>
          </a:gradFill>
          <a:ln>
            <a:gradFill>
              <a:gsLst>
                <a:gs pos="1300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63" name="椭圆 62"/>
          <p:cNvSpPr/>
          <p:nvPr/>
        </p:nvSpPr>
        <p:spPr>
          <a:xfrm>
            <a:off x="4403090" y="3423920"/>
            <a:ext cx="3499485" cy="723900"/>
          </a:xfrm>
          <a:prstGeom prst="ellipse">
            <a:avLst/>
          </a:prstGeom>
          <a:gradFill>
            <a:gsLst>
              <a:gs pos="0">
                <a:srgbClr val="B3D4FE">
                  <a:alpha val="0"/>
                </a:srgbClr>
              </a:gs>
              <a:gs pos="100000">
                <a:srgbClr val="B3D4FE">
                  <a:alpha val="9000"/>
                </a:srgbClr>
              </a:gs>
            </a:gsLst>
            <a:lin ang="5400000" scaled="1"/>
          </a:gradFill>
          <a:ln>
            <a:gradFill>
              <a:gsLst>
                <a:gs pos="1300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 name="椭圆 1"/>
          <p:cNvSpPr/>
          <p:nvPr/>
        </p:nvSpPr>
        <p:spPr>
          <a:xfrm>
            <a:off x="3960495" y="4148455"/>
            <a:ext cx="4404995" cy="1346200"/>
          </a:xfrm>
          <a:prstGeom prst="ellipse">
            <a:avLst/>
          </a:prstGeom>
          <a:gradFill>
            <a:gsLst>
              <a:gs pos="0">
                <a:srgbClr val="B3D4FE">
                  <a:alpha val="0"/>
                </a:srgbClr>
              </a:gs>
              <a:gs pos="100000">
                <a:srgbClr val="B3D4FE">
                  <a:alpha val="9000"/>
                </a:srgbClr>
              </a:gs>
            </a:gsLst>
            <a:lin ang="5400000" scaled="1"/>
          </a:gradFill>
          <a:ln>
            <a:gradFill>
              <a:gsLst>
                <a:gs pos="1300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3" name="椭圆 2"/>
          <p:cNvSpPr/>
          <p:nvPr/>
        </p:nvSpPr>
        <p:spPr>
          <a:xfrm>
            <a:off x="3204845" y="4342130"/>
            <a:ext cx="6045835" cy="2181860"/>
          </a:xfrm>
          <a:prstGeom prst="ellipse">
            <a:avLst/>
          </a:prstGeom>
          <a:gradFill>
            <a:gsLst>
              <a:gs pos="0">
                <a:srgbClr val="3368FF">
                  <a:alpha val="0"/>
                </a:srgbClr>
              </a:gs>
              <a:gs pos="100000">
                <a:srgbClr val="3368FF">
                  <a:alpha val="9000"/>
                </a:srgbClr>
              </a:gs>
            </a:gsLst>
            <a:lin ang="5400000" scaled="1"/>
          </a:gradFill>
          <a:ln>
            <a:gradFill>
              <a:gsLst>
                <a:gs pos="1300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67" name="文本框 66"/>
          <p:cNvSpPr txBox="1"/>
          <p:nvPr/>
        </p:nvSpPr>
        <p:spPr>
          <a:xfrm>
            <a:off x="3561080" y="5441315"/>
            <a:ext cx="375285" cy="375285"/>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4" name="文本框 3"/>
          <p:cNvSpPr txBox="1"/>
          <p:nvPr/>
        </p:nvSpPr>
        <p:spPr>
          <a:xfrm>
            <a:off x="4359275" y="5720080"/>
            <a:ext cx="375285" cy="375285"/>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 name="文本框 5"/>
          <p:cNvSpPr txBox="1"/>
          <p:nvPr/>
        </p:nvSpPr>
        <p:spPr>
          <a:xfrm>
            <a:off x="8484235" y="5441315"/>
            <a:ext cx="375285" cy="375285"/>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7" name="文本框 6"/>
          <p:cNvSpPr txBox="1"/>
          <p:nvPr/>
        </p:nvSpPr>
        <p:spPr>
          <a:xfrm>
            <a:off x="7658735" y="5720080"/>
            <a:ext cx="375285" cy="375285"/>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8" name="文本框 7"/>
          <p:cNvSpPr txBox="1"/>
          <p:nvPr/>
        </p:nvSpPr>
        <p:spPr>
          <a:xfrm>
            <a:off x="6833235" y="5941060"/>
            <a:ext cx="375285" cy="375285"/>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9" name="文本框 8"/>
          <p:cNvSpPr txBox="1"/>
          <p:nvPr/>
        </p:nvSpPr>
        <p:spPr>
          <a:xfrm>
            <a:off x="5965190" y="6010275"/>
            <a:ext cx="375285" cy="375285"/>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1" name="文本框 10"/>
          <p:cNvSpPr txBox="1"/>
          <p:nvPr/>
        </p:nvSpPr>
        <p:spPr>
          <a:xfrm>
            <a:off x="5157470" y="5941060"/>
            <a:ext cx="375285" cy="375285"/>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6" name="文本框 15"/>
          <p:cNvSpPr txBox="1"/>
          <p:nvPr/>
        </p:nvSpPr>
        <p:spPr>
          <a:xfrm>
            <a:off x="4618990" y="3390265"/>
            <a:ext cx="375285" cy="375285"/>
          </a:xfrm>
          <a:prstGeom prst="ellipse">
            <a:avLst/>
          </a:prstGeom>
          <a:gradFill>
            <a:gsLst>
              <a:gs pos="29000">
                <a:srgbClr val="B3D4FE"/>
              </a:gs>
              <a:gs pos="64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9" name="文本框 18"/>
          <p:cNvSpPr txBox="1"/>
          <p:nvPr/>
        </p:nvSpPr>
        <p:spPr>
          <a:xfrm>
            <a:off x="7369810" y="3364865"/>
            <a:ext cx="375285" cy="375285"/>
          </a:xfrm>
          <a:prstGeom prst="ellipse">
            <a:avLst/>
          </a:prstGeom>
          <a:gradFill>
            <a:gsLst>
              <a:gs pos="29000">
                <a:srgbClr val="B3D4FE"/>
              </a:gs>
              <a:gs pos="64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20" name="文本框 19"/>
          <p:cNvSpPr txBox="1"/>
          <p:nvPr/>
        </p:nvSpPr>
        <p:spPr>
          <a:xfrm>
            <a:off x="3822065" y="1294765"/>
            <a:ext cx="1393190" cy="375285"/>
          </a:xfrm>
          <a:prstGeom prst="ellipse">
            <a:avLst/>
          </a:prstGeom>
          <a:gradFill>
            <a:gsLst>
              <a:gs pos="37000">
                <a:srgbClr val="3368FF"/>
              </a:gs>
              <a:gs pos="86000">
                <a:srgbClr val="0042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21" name="文本框 20"/>
          <p:cNvSpPr txBox="1"/>
          <p:nvPr/>
        </p:nvSpPr>
        <p:spPr>
          <a:xfrm>
            <a:off x="5496560" y="1294765"/>
            <a:ext cx="1336675" cy="375285"/>
          </a:xfrm>
          <a:prstGeom prst="ellipse">
            <a:avLst/>
          </a:prstGeom>
          <a:gradFill>
            <a:gsLst>
              <a:gs pos="37000">
                <a:srgbClr val="3368FF"/>
              </a:gs>
              <a:gs pos="86000">
                <a:srgbClr val="0042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22" name="文本框 21"/>
          <p:cNvSpPr txBox="1"/>
          <p:nvPr/>
        </p:nvSpPr>
        <p:spPr>
          <a:xfrm>
            <a:off x="7208520" y="1294765"/>
            <a:ext cx="1327785" cy="375285"/>
          </a:xfrm>
          <a:prstGeom prst="ellipse">
            <a:avLst/>
          </a:prstGeom>
          <a:gradFill>
            <a:gsLst>
              <a:gs pos="37000">
                <a:srgbClr val="3368FF"/>
              </a:gs>
              <a:gs pos="86000">
                <a:srgbClr val="0042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algn="ctr">
              <a:defRPr sz="2000" b="1">
                <a:solidFill>
                  <a:srgbClr val="FFFFFF"/>
                </a:solidFill>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23" name="梯形 322"/>
          <p:cNvSpPr/>
          <p:nvPr>
            <p:custDataLst>
              <p:tags r:id="rId1"/>
            </p:custDataLst>
          </p:nvPr>
        </p:nvSpPr>
        <p:spPr>
          <a:xfrm rot="10800000">
            <a:off x="3439160" y="2144395"/>
            <a:ext cx="5673725" cy="1722755"/>
          </a:xfrm>
          <a:custGeom>
            <a:avLst/>
            <a:gdLst>
              <a:gd name="connsiteX0" fmla="*/ 0 w 8935"/>
              <a:gd name="connsiteY0" fmla="*/ 2713 h 2713"/>
              <a:gd name="connsiteX1" fmla="*/ 3432 w 8935"/>
              <a:gd name="connsiteY1" fmla="*/ 11 h 2713"/>
              <a:gd name="connsiteX2" fmla="*/ 6030 w 8935"/>
              <a:gd name="connsiteY2" fmla="*/ 0 h 2713"/>
              <a:gd name="connsiteX3" fmla="*/ 8935 w 8935"/>
              <a:gd name="connsiteY3" fmla="*/ 2713 h 2713"/>
              <a:gd name="connsiteX4" fmla="*/ 0 w 8935"/>
              <a:gd name="connsiteY4" fmla="*/ 2713 h 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5" h="2713">
                <a:moveTo>
                  <a:pt x="0" y="2713"/>
                </a:moveTo>
                <a:cubicBezTo>
                  <a:pt x="1316" y="1922"/>
                  <a:pt x="3672" y="1199"/>
                  <a:pt x="3432" y="11"/>
                </a:cubicBezTo>
                <a:lnTo>
                  <a:pt x="6030" y="0"/>
                </a:lnTo>
                <a:cubicBezTo>
                  <a:pt x="6050" y="1044"/>
                  <a:pt x="7619" y="1561"/>
                  <a:pt x="8935" y="2713"/>
                </a:cubicBezTo>
                <a:lnTo>
                  <a:pt x="0" y="2713"/>
                </a:lnTo>
                <a:close/>
              </a:path>
            </a:pathLst>
          </a:custGeom>
          <a:gradFill flip="none" rotWithShape="1">
            <a:gsLst>
              <a:gs pos="0">
                <a:srgbClr val="B3D4FE">
                  <a:alpha val="0"/>
                </a:srgbClr>
              </a:gs>
              <a:gs pos="100000">
                <a:srgbClr val="B3D4FE">
                  <a:alpha val="30000"/>
                </a:srgbClr>
              </a:gs>
            </a:gsLst>
            <a:lin ang="16200000" scaled="1"/>
            <a:tileRect/>
          </a:gradFill>
          <a:ln>
            <a:gradFill flip="none" rotWithShape="1">
              <a:gsLst>
                <a:gs pos="50500">
                  <a:srgbClr val="B3D4FE"/>
                </a:gs>
                <a:gs pos="0">
                  <a:srgbClr val="B3D4FE">
                    <a:alpha val="0"/>
                  </a:srgbClr>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4" name="梯形 322"/>
          <p:cNvSpPr/>
          <p:nvPr>
            <p:custDataLst>
              <p:tags r:id="rId2"/>
            </p:custDataLst>
          </p:nvPr>
        </p:nvSpPr>
        <p:spPr>
          <a:xfrm rot="10800000" flipV="1">
            <a:off x="4041140" y="3858260"/>
            <a:ext cx="4373245" cy="1863725"/>
          </a:xfrm>
          <a:custGeom>
            <a:avLst/>
            <a:gdLst>
              <a:gd name="connsiteX0" fmla="*/ 0 w 6887"/>
              <a:gd name="connsiteY0" fmla="*/ 2935 h 2935"/>
              <a:gd name="connsiteX1" fmla="*/ 2336 w 6887"/>
              <a:gd name="connsiteY1" fmla="*/ 0 h 2935"/>
              <a:gd name="connsiteX2" fmla="*/ 4927 w 6887"/>
              <a:gd name="connsiteY2" fmla="*/ 14 h 2935"/>
              <a:gd name="connsiteX3" fmla="*/ 6887 w 6887"/>
              <a:gd name="connsiteY3" fmla="*/ 2935 h 2935"/>
              <a:gd name="connsiteX4" fmla="*/ 0 w 6887"/>
              <a:gd name="connsiteY4" fmla="*/ 2935 h 2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7" h="2935">
                <a:moveTo>
                  <a:pt x="0" y="2935"/>
                </a:moveTo>
                <a:cubicBezTo>
                  <a:pt x="1014" y="2077"/>
                  <a:pt x="2520" y="1288"/>
                  <a:pt x="2336" y="0"/>
                </a:cubicBezTo>
                <a:lnTo>
                  <a:pt x="4927" y="14"/>
                </a:lnTo>
                <a:cubicBezTo>
                  <a:pt x="4942" y="1146"/>
                  <a:pt x="5873" y="1686"/>
                  <a:pt x="6887" y="2935"/>
                </a:cubicBezTo>
                <a:lnTo>
                  <a:pt x="0" y="2935"/>
                </a:lnTo>
                <a:close/>
              </a:path>
            </a:pathLst>
          </a:custGeom>
          <a:gradFill flip="none" rotWithShape="1">
            <a:gsLst>
              <a:gs pos="0">
                <a:srgbClr val="B3D4FE">
                  <a:alpha val="0"/>
                </a:srgbClr>
              </a:gs>
              <a:gs pos="100000">
                <a:srgbClr val="B3D4FE">
                  <a:alpha val="30000"/>
                </a:srgbClr>
              </a:gs>
            </a:gsLst>
            <a:lin ang="16200000" scaled="1"/>
            <a:tileRect/>
          </a:gradFill>
          <a:ln>
            <a:gradFill flip="none" rotWithShape="1">
              <a:gsLst>
                <a:gs pos="50500">
                  <a:srgbClr val="B3D4FE"/>
                </a:gs>
                <a:gs pos="0">
                  <a:srgbClr val="B3D4FE">
                    <a:alpha val="0"/>
                  </a:srgbClr>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08" name="弧 61"/>
          <p:cNvSpPr/>
          <p:nvPr>
            <p:custDataLst>
              <p:tags r:id="rId3"/>
            </p:custDataLst>
          </p:nvPr>
        </p:nvSpPr>
        <p:spPr>
          <a:xfrm flipH="1">
            <a:off x="2618105" y="2509520"/>
            <a:ext cx="2261870" cy="2673350"/>
          </a:xfrm>
          <a:prstGeom prst="arc">
            <a:avLst>
              <a:gd name="adj1" fmla="val 16870261"/>
              <a:gd name="adj2" fmla="val 4621400"/>
            </a:avLst>
          </a:prstGeom>
          <a:gradFill>
            <a:gsLst>
              <a:gs pos="0">
                <a:srgbClr val="3368FF">
                  <a:alpha val="50000"/>
                </a:srgbClr>
              </a:gs>
              <a:gs pos="21000">
                <a:srgbClr val="3368FF">
                  <a:alpha val="0"/>
                </a:srgbClr>
              </a:gs>
            </a:gsLst>
            <a:lin ang="10800000" scaled="0"/>
          </a:gradFill>
          <a:ln w="13716" cap="flat" cmpd="sng" algn="ctr">
            <a:gradFill flip="none" rotWithShape="1">
              <a:gsLst>
                <a:gs pos="54000">
                  <a:srgbClr val="3368FF">
                    <a:alpha val="0"/>
                  </a:srgbClr>
                </a:gs>
                <a:gs pos="0">
                  <a:srgbClr val="3368FF">
                    <a:alpha val="50000"/>
                  </a:srgbClr>
                </a:gs>
              </a:gsLst>
              <a:lin ang="10800000" scaled="1"/>
              <a:tileRect/>
            </a:gradFill>
            <a:prstDash val="solid"/>
            <a:miter lim="800000"/>
          </a:ln>
          <a:effectLst/>
        </p:spPr>
        <p:txBody>
          <a:bodyPr lIns="98755" tIns="49378" rIns="98755" bIns="49378" rtlCol="0" anchor="ctr">
            <a:noAutofit/>
          </a:bodyPr>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5" name="弧 61"/>
          <p:cNvSpPr/>
          <p:nvPr>
            <p:custDataLst>
              <p:tags r:id="rId4"/>
            </p:custDataLst>
          </p:nvPr>
        </p:nvSpPr>
        <p:spPr>
          <a:xfrm>
            <a:off x="7369810" y="2312670"/>
            <a:ext cx="2261870" cy="2673350"/>
          </a:xfrm>
          <a:prstGeom prst="arc">
            <a:avLst>
              <a:gd name="adj1" fmla="val 16870261"/>
              <a:gd name="adj2" fmla="val 4621400"/>
            </a:avLst>
          </a:prstGeom>
          <a:gradFill>
            <a:gsLst>
              <a:gs pos="0">
                <a:srgbClr val="3368FF">
                  <a:alpha val="50000"/>
                </a:srgbClr>
              </a:gs>
              <a:gs pos="21000">
                <a:srgbClr val="3368FF">
                  <a:alpha val="0"/>
                </a:srgbClr>
              </a:gs>
            </a:gsLst>
            <a:lin ang="10800000" scaled="0"/>
          </a:gradFill>
          <a:ln w="13716" cap="flat" cmpd="sng" algn="ctr">
            <a:gradFill flip="none" rotWithShape="1">
              <a:gsLst>
                <a:gs pos="54000">
                  <a:srgbClr val="3368FF">
                    <a:alpha val="0"/>
                  </a:srgbClr>
                </a:gs>
                <a:gs pos="0">
                  <a:srgbClr val="3368FF">
                    <a:alpha val="50000"/>
                  </a:srgbClr>
                </a:gs>
              </a:gsLst>
              <a:lin ang="10800000" scaled="1"/>
              <a:tileRect/>
            </a:gradFill>
            <a:prstDash val="solid"/>
            <a:miter lim="800000"/>
          </a:ln>
          <a:effectLst/>
        </p:spPr>
        <p:txBody>
          <a:bodyPr lIns="98755" tIns="49378" rIns="98755" bIns="49378" rtlCol="0" anchor="ctr">
            <a:noAutofit/>
          </a:bodyPr>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7" name="文本框 26"/>
          <p:cNvSpPr txBox="1"/>
          <p:nvPr/>
        </p:nvSpPr>
        <p:spPr>
          <a:xfrm>
            <a:off x="5157470" y="5640705"/>
            <a:ext cx="229171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智能供应链网络</a:t>
            </a:r>
            <a:endParaRPr lang="zh-CN" altLang="en-US" sz="1400" b="1">
              <a:solidFill>
                <a:srgbClr val="0042FF"/>
              </a:solidFill>
              <a:latin typeface="微软雅黑"/>
              <a:ea typeface="微软雅黑"/>
              <a:cs typeface="微软雅黑"/>
            </a:endParaRPr>
          </a:p>
        </p:txBody>
      </p:sp>
      <p:sp>
        <p:nvSpPr>
          <p:cNvPr id="31" name="文本框 30"/>
          <p:cNvSpPr txBox="1"/>
          <p:nvPr/>
        </p:nvSpPr>
        <p:spPr>
          <a:xfrm>
            <a:off x="3683000" y="1811020"/>
            <a:ext cx="119697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移动端</a:t>
            </a:r>
            <a:r>
              <a:rPr lang="en-US" altLang="zh-CN" sz="1200">
                <a:solidFill>
                  <a:srgbClr val="383838"/>
                </a:solidFill>
                <a:latin typeface="微软雅黑"/>
                <a:ea typeface="微软雅黑"/>
                <a:cs typeface="微软雅黑"/>
              </a:rPr>
              <a:t>APP</a:t>
            </a:r>
            <a:endParaRPr lang="en-US" altLang="zh-CN" sz="1200">
              <a:solidFill>
                <a:srgbClr val="383838"/>
              </a:solidFill>
              <a:latin typeface="微软雅黑"/>
              <a:ea typeface="微软雅黑"/>
              <a:cs typeface="微软雅黑"/>
            </a:endParaRPr>
          </a:p>
        </p:txBody>
      </p:sp>
      <p:sp>
        <p:nvSpPr>
          <p:cNvPr id="32" name="文本框 31"/>
          <p:cNvSpPr txBox="1"/>
          <p:nvPr/>
        </p:nvSpPr>
        <p:spPr>
          <a:xfrm>
            <a:off x="4495800" y="1811020"/>
            <a:ext cx="1196975"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官方商城</a:t>
            </a:r>
            <a:endParaRPr lang="zh-CN" sz="1200">
              <a:solidFill>
                <a:srgbClr val="383838"/>
              </a:solidFill>
              <a:latin typeface="微软雅黑"/>
              <a:ea typeface="微软雅黑"/>
              <a:cs typeface="微软雅黑"/>
            </a:endParaRPr>
          </a:p>
        </p:txBody>
      </p:sp>
      <p:sp>
        <p:nvSpPr>
          <p:cNvPr id="33" name="文本框 32"/>
          <p:cNvSpPr txBox="1"/>
          <p:nvPr/>
        </p:nvSpPr>
        <p:spPr>
          <a:xfrm>
            <a:off x="5308600" y="1811020"/>
            <a:ext cx="1196975"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库存调配</a:t>
            </a:r>
            <a:endParaRPr lang="zh-CN" sz="1200">
              <a:solidFill>
                <a:srgbClr val="383838"/>
              </a:solidFill>
              <a:latin typeface="微软雅黑"/>
              <a:ea typeface="微软雅黑"/>
              <a:cs typeface="微软雅黑"/>
            </a:endParaRPr>
          </a:p>
        </p:txBody>
      </p:sp>
      <p:sp>
        <p:nvSpPr>
          <p:cNvPr id="34" name="文本框 33"/>
          <p:cNvSpPr txBox="1"/>
          <p:nvPr/>
        </p:nvSpPr>
        <p:spPr>
          <a:xfrm>
            <a:off x="6121400" y="1811020"/>
            <a:ext cx="1196975"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订单管理</a:t>
            </a:r>
            <a:endParaRPr lang="zh-CN" sz="1200">
              <a:solidFill>
                <a:srgbClr val="383838"/>
              </a:solidFill>
              <a:latin typeface="微软雅黑"/>
              <a:ea typeface="微软雅黑"/>
              <a:cs typeface="微软雅黑"/>
            </a:endParaRPr>
          </a:p>
        </p:txBody>
      </p:sp>
      <p:sp>
        <p:nvSpPr>
          <p:cNvPr id="35" name="文本框 34"/>
          <p:cNvSpPr txBox="1"/>
          <p:nvPr/>
        </p:nvSpPr>
        <p:spPr>
          <a:xfrm>
            <a:off x="5435600" y="2697480"/>
            <a:ext cx="1401445" cy="306705"/>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AI</a:t>
            </a:r>
            <a:endParaRPr lang="en-US" altLang="zh-CN" sz="1400" b="1">
              <a:solidFill>
                <a:srgbClr val="383838"/>
              </a:solidFill>
              <a:latin typeface="微软雅黑"/>
              <a:ea typeface="微软雅黑"/>
              <a:cs typeface="微软雅黑"/>
            </a:endParaRPr>
          </a:p>
        </p:txBody>
      </p:sp>
      <p:sp>
        <p:nvSpPr>
          <p:cNvPr id="36" name="文本框 35"/>
          <p:cNvSpPr txBox="1"/>
          <p:nvPr/>
        </p:nvSpPr>
        <p:spPr>
          <a:xfrm>
            <a:off x="4851400" y="2980055"/>
            <a:ext cx="253873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需求预测</a:t>
            </a:r>
            <a:r>
              <a:rPr lang="en-US" altLang="zh-CN" sz="1000">
                <a:solidFill>
                  <a:srgbClr val="383838"/>
                </a:solidFill>
                <a:latin typeface="微软雅黑"/>
                <a:ea typeface="微软雅黑"/>
                <a:cs typeface="微软雅黑"/>
              </a:rPr>
              <a:t> | </a:t>
            </a:r>
            <a:r>
              <a:rPr lang="zh-CN" altLang="en-US" sz="1000">
                <a:solidFill>
                  <a:srgbClr val="383838"/>
                </a:solidFill>
                <a:latin typeface="微软雅黑"/>
                <a:ea typeface="微软雅黑"/>
                <a:cs typeface="微软雅黑"/>
              </a:rPr>
              <a:t>库存预警</a:t>
            </a:r>
            <a:r>
              <a:rPr lang="en-US" altLang="zh-CN" sz="1000">
                <a:solidFill>
                  <a:srgbClr val="383838"/>
                </a:solidFill>
                <a:latin typeface="微软雅黑"/>
                <a:ea typeface="微软雅黑"/>
                <a:cs typeface="微软雅黑"/>
              </a:rPr>
              <a:t> | </a:t>
            </a:r>
            <a:r>
              <a:rPr lang="zh-CN" altLang="en-US" sz="1000">
                <a:solidFill>
                  <a:srgbClr val="383838"/>
                </a:solidFill>
                <a:latin typeface="微软雅黑"/>
                <a:ea typeface="微软雅黑"/>
                <a:cs typeface="微软雅黑"/>
              </a:rPr>
              <a:t>策略优化</a:t>
            </a:r>
            <a:r>
              <a:rPr lang="en-US" altLang="zh-CN" sz="1000">
                <a:solidFill>
                  <a:srgbClr val="383838"/>
                </a:solidFill>
                <a:latin typeface="微软雅黑"/>
                <a:ea typeface="微软雅黑"/>
                <a:cs typeface="微软雅黑"/>
              </a:rPr>
              <a:t> </a:t>
            </a:r>
            <a:endParaRPr lang="en-US" altLang="zh-CN" sz="1000">
              <a:solidFill>
                <a:srgbClr val="383838"/>
              </a:solidFill>
              <a:latin typeface="微软雅黑"/>
              <a:ea typeface="微软雅黑"/>
              <a:cs typeface="微软雅黑"/>
            </a:endParaRPr>
          </a:p>
        </p:txBody>
      </p:sp>
      <p:sp>
        <p:nvSpPr>
          <p:cNvPr id="37" name="文本框 36"/>
          <p:cNvSpPr txBox="1"/>
          <p:nvPr/>
        </p:nvSpPr>
        <p:spPr>
          <a:xfrm>
            <a:off x="5330825" y="4392930"/>
            <a:ext cx="1567180" cy="36830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b="1">
                <a:solidFill>
                  <a:srgbClr val="0042FF"/>
                </a:solidFill>
                <a:latin typeface="微软雅黑"/>
                <a:ea typeface="微软雅黑"/>
                <a:cs typeface="微软雅黑"/>
              </a:rPr>
              <a:t>数字基础设施</a:t>
            </a:r>
            <a:endParaRPr lang="zh-CN" altLang="en-US" b="1">
              <a:solidFill>
                <a:srgbClr val="0042FF"/>
              </a:solidFill>
              <a:latin typeface="微软雅黑"/>
              <a:ea typeface="微软雅黑"/>
              <a:cs typeface="微软雅黑"/>
            </a:endParaRPr>
          </a:p>
        </p:txBody>
      </p:sp>
      <p:sp>
        <p:nvSpPr>
          <p:cNvPr id="39" name="文本框 38"/>
          <p:cNvSpPr txBox="1"/>
          <p:nvPr/>
        </p:nvSpPr>
        <p:spPr>
          <a:xfrm>
            <a:off x="5229860" y="5089525"/>
            <a:ext cx="187706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高性能数据中心</a:t>
            </a:r>
            <a:endParaRPr lang="zh-CN" altLang="en-US" sz="1400" b="1">
              <a:solidFill>
                <a:srgbClr val="0042FF"/>
              </a:solidFill>
              <a:latin typeface="微软雅黑"/>
              <a:ea typeface="微软雅黑"/>
              <a:cs typeface="微软雅黑"/>
            </a:endParaRPr>
          </a:p>
        </p:txBody>
      </p:sp>
      <p:sp>
        <p:nvSpPr>
          <p:cNvPr id="60" name="文本框 59"/>
          <p:cNvSpPr txBox="1"/>
          <p:nvPr/>
        </p:nvSpPr>
        <p:spPr>
          <a:xfrm>
            <a:off x="5670550" y="3702050"/>
            <a:ext cx="375285" cy="375285"/>
          </a:xfrm>
          <a:prstGeom prst="ellipse">
            <a:avLst/>
          </a:prstGeom>
          <a:gradFill>
            <a:gsLst>
              <a:gs pos="29000">
                <a:srgbClr val="B3D4FE"/>
              </a:gs>
              <a:gs pos="64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2" name="文本框 61"/>
          <p:cNvSpPr txBox="1"/>
          <p:nvPr/>
        </p:nvSpPr>
        <p:spPr>
          <a:xfrm>
            <a:off x="6339205" y="3702050"/>
            <a:ext cx="375285" cy="375285"/>
          </a:xfrm>
          <a:prstGeom prst="ellipse">
            <a:avLst/>
          </a:prstGeom>
          <a:gradFill>
            <a:gsLst>
              <a:gs pos="29000">
                <a:srgbClr val="B3D4FE"/>
              </a:gs>
              <a:gs pos="64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4" name="文本框 63"/>
          <p:cNvSpPr txBox="1"/>
          <p:nvPr/>
        </p:nvSpPr>
        <p:spPr>
          <a:xfrm>
            <a:off x="5504180" y="3326130"/>
            <a:ext cx="140144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行业云平台</a:t>
            </a:r>
            <a:endParaRPr lang="zh-CN" altLang="en-US" sz="1400" b="1">
              <a:solidFill>
                <a:srgbClr val="0042FF"/>
              </a:solidFill>
              <a:latin typeface="微软雅黑"/>
              <a:ea typeface="微软雅黑"/>
              <a:cs typeface="微软雅黑"/>
            </a:endParaRPr>
          </a:p>
        </p:txBody>
      </p:sp>
      <p:sp>
        <p:nvSpPr>
          <p:cNvPr id="68" name="文本框 67"/>
          <p:cNvSpPr txBox="1"/>
          <p:nvPr/>
        </p:nvSpPr>
        <p:spPr>
          <a:xfrm>
            <a:off x="5570855" y="2131060"/>
            <a:ext cx="1401445" cy="306705"/>
          </a:xfrm>
          <a:prstGeom prst="rect">
            <a:avLst/>
          </a:prstGeom>
          <a:noFill/>
        </p:spPr>
        <p:txBody>
          <a:bodyPr wrap="square" rtlCol="0" lIns="0" rIns="0" tIns="0" bIns="0">
            <a:spAutoFit/>
          </a:bodyPr>
          <a:p>
            <a:pPr lvl="0" algn="ctr">
              <a:buClrTx/>
              <a:buSzTx/>
              <a:buFontTx/>
              <a:defRPr>
                <a:latin typeface="微软雅黑"/>
                <a:ea typeface="微软雅黑"/>
                <a:cs typeface="微软雅黑"/>
              </a:defRPr>
            </a:pPr>
            <a:r>
              <a:rPr lang="zh-CN" altLang="en-US" b="1">
                <a:solidFill>
                  <a:srgbClr val="0042FF"/>
                </a:solidFill>
                <a:latin typeface="微软雅黑"/>
                <a:ea typeface="微软雅黑"/>
                <a:cs typeface="微软雅黑"/>
                <a:sym typeface="微软雅黑"/>
              </a:rPr>
              <a:t>行业应用</a:t>
            </a:r>
            <a:endParaRPr lang="zh-CN" altLang="en-US" b="1">
              <a:solidFill>
                <a:srgbClr val="0042FF"/>
              </a:solidFill>
              <a:latin typeface="微软雅黑"/>
              <a:ea typeface="微软雅黑"/>
              <a:cs typeface="微软雅黑"/>
              <a:sym typeface="微软雅黑"/>
            </a:endParaRPr>
          </a:p>
        </p:txBody>
      </p:sp>
      <p:sp>
        <p:nvSpPr>
          <p:cNvPr id="69" name="文本框 68"/>
          <p:cNvSpPr txBox="1"/>
          <p:nvPr/>
        </p:nvSpPr>
        <p:spPr>
          <a:xfrm>
            <a:off x="7747000" y="1811020"/>
            <a:ext cx="119697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风险管控</a:t>
            </a:r>
            <a:endParaRPr lang="zh-CN" altLang="en-US" sz="1200">
              <a:solidFill>
                <a:srgbClr val="383838"/>
              </a:solidFill>
              <a:latin typeface="微软雅黑"/>
              <a:ea typeface="微软雅黑"/>
              <a:cs typeface="微软雅黑"/>
            </a:endParaRPr>
          </a:p>
        </p:txBody>
      </p:sp>
      <p:sp>
        <p:nvSpPr>
          <p:cNvPr id="71" name="文本框 70"/>
          <p:cNvSpPr txBox="1"/>
          <p:nvPr/>
        </p:nvSpPr>
        <p:spPr>
          <a:xfrm>
            <a:off x="6934200" y="1811020"/>
            <a:ext cx="1196975"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销售分析</a:t>
            </a:r>
            <a:endParaRPr lang="zh-CN" sz="1200">
              <a:solidFill>
                <a:srgbClr val="383838"/>
              </a:solidFill>
              <a:latin typeface="微软雅黑"/>
              <a:ea typeface="微软雅黑"/>
              <a:cs typeface="微软雅黑"/>
            </a:endParaRPr>
          </a:p>
        </p:txBody>
      </p:sp>
      <p:grpSp>
        <p:nvGrpSpPr>
          <p:cNvPr id="112" name="组合 111"/>
          <p:cNvGrpSpPr/>
          <p:nvPr/>
        </p:nvGrpSpPr>
        <p:grpSpPr>
          <a:xfrm>
            <a:off x="260350" y="1811020"/>
            <a:ext cx="2157730" cy="4142740"/>
            <a:chOff x="410" y="2852"/>
            <a:chExt cx="3398" cy="6524"/>
          </a:xfrm>
        </p:grpSpPr>
        <p:sp>
          <p:nvSpPr>
            <p:cNvPr id="47" name="矩形 46"/>
            <p:cNvSpPr/>
            <p:nvPr/>
          </p:nvSpPr>
          <p:spPr>
            <a:xfrm>
              <a:off x="410" y="2852"/>
              <a:ext cx="3398" cy="6525"/>
            </a:xfrm>
            <a:prstGeom prst="rect">
              <a:avLst/>
            </a:prstGeom>
            <a:solidFill>
              <a:srgbClr val="E6E6E6">
                <a:alpha val="1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8" name="矩形 47"/>
            <p:cNvSpPr/>
            <p:nvPr/>
          </p:nvSpPr>
          <p:spPr>
            <a:xfrm>
              <a:off x="410" y="2852"/>
              <a:ext cx="3398" cy="764"/>
            </a:xfrm>
            <a:prstGeom prst="rect">
              <a:avLst/>
            </a:prstGeom>
            <a:gradFill>
              <a:gsLst>
                <a:gs pos="0">
                  <a:srgbClr val="3368FF"/>
                </a:gs>
                <a:gs pos="100000">
                  <a:srgbClr val="0042FF"/>
                </a:gs>
              </a:gsLst>
              <a:lin ang="108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a:solidFill>
                    <a:srgbClr val="FFFFFF"/>
                  </a:solidFill>
                  <a:cs typeface="微软雅黑"/>
                  <a:latin typeface="微软雅黑"/>
                  <a:ea typeface="微软雅黑"/>
                </a:rPr>
                <a:t>应用场景</a:t>
              </a:r>
              <a:endParaRPr lang="zh-CN" altLang="en-US">
                <a:solidFill>
                  <a:srgbClr val="FFFFFF"/>
                </a:solidFill>
                <a:cs typeface="微软雅黑"/>
                <a:latin typeface="微软雅黑"/>
                <a:ea typeface="微软雅黑"/>
              </a:endParaRPr>
            </a:p>
          </p:txBody>
        </p:sp>
        <p:cxnSp>
          <p:nvCxnSpPr>
            <p:cNvPr id="91" name="直接连接符 90"/>
            <p:cNvCxnSpPr/>
            <p:nvPr/>
          </p:nvCxnSpPr>
          <p:spPr>
            <a:xfrm>
              <a:off x="567" y="5550"/>
              <a:ext cx="3060" cy="0"/>
            </a:xfrm>
            <a:prstGeom prst="line">
              <a:avLst/>
            </a:prstGeom>
            <a:solidFill>
              <a:srgbClr val="E6E6E6">
                <a:alpha val="10000"/>
              </a:srgbClr>
            </a:solidFill>
            <a:ln>
              <a:solidFill>
                <a:srgbClr val="0042FF">
                  <a:alpha val="20000"/>
                </a:srgbClr>
              </a:solidFill>
              <a:prstDash val="sysDash"/>
            </a:ln>
          </p:spPr>
          <p:style>
            <a:lnRef idx="2">
              <a:srgbClr val="0042FF"/>
            </a:lnRef>
            <a:fillRef idx="1">
              <a:srgbClr val="0042FF"/>
            </a:fillRef>
            <a:effectRef idx="0">
              <a:srgbClr val="FFFFFF"/>
            </a:effectRef>
            <a:fontRef idx="minor">
              <a:srgbClr val="FFFFFF"/>
            </a:fontRef>
          </p:style>
        </p:cxnSp>
        <p:cxnSp>
          <p:nvCxnSpPr>
            <p:cNvPr id="92" name="直接连接符 91"/>
            <p:cNvCxnSpPr/>
            <p:nvPr/>
          </p:nvCxnSpPr>
          <p:spPr>
            <a:xfrm>
              <a:off x="567" y="7458"/>
              <a:ext cx="3060" cy="0"/>
            </a:xfrm>
            <a:prstGeom prst="line">
              <a:avLst/>
            </a:prstGeom>
            <a:solidFill>
              <a:srgbClr val="E6E6E6">
                <a:alpha val="10000"/>
              </a:srgbClr>
            </a:solidFill>
            <a:ln>
              <a:solidFill>
                <a:srgbClr val="0042FF">
                  <a:alpha val="20000"/>
                </a:srgbClr>
              </a:solidFill>
              <a:prstDash val="sysDash"/>
            </a:ln>
          </p:spPr>
          <p:style>
            <a:lnRef idx="2">
              <a:srgbClr val="0042FF"/>
            </a:lnRef>
            <a:fillRef idx="1">
              <a:srgbClr val="0042FF"/>
            </a:fillRef>
            <a:effectRef idx="0">
              <a:srgbClr val="FFFFFF"/>
            </a:effectRef>
            <a:fontRef idx="minor">
              <a:srgbClr val="FFFFFF"/>
            </a:fontRef>
          </p:style>
        </p:cxnSp>
        <p:sp>
          <p:nvSpPr>
            <p:cNvPr id="95" name="文本框 94"/>
            <p:cNvSpPr txBox="1"/>
            <p:nvPr/>
          </p:nvSpPr>
          <p:spPr>
            <a:xfrm>
              <a:off x="757" y="3807"/>
              <a:ext cx="2679" cy="483"/>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智能试衣间</a:t>
              </a:r>
              <a:endParaRPr lang="zh-CN" sz="1400" b="1">
                <a:solidFill>
                  <a:srgbClr val="0042FF"/>
                </a:solidFill>
                <a:latin typeface="微软雅黑"/>
                <a:ea typeface="微软雅黑"/>
                <a:cs typeface="微软雅黑"/>
              </a:endParaRPr>
            </a:p>
          </p:txBody>
        </p:sp>
        <p:sp>
          <p:nvSpPr>
            <p:cNvPr id="96" name="文本框 95"/>
            <p:cNvSpPr txBox="1"/>
            <p:nvPr/>
          </p:nvSpPr>
          <p:spPr>
            <a:xfrm>
              <a:off x="559" y="4320"/>
              <a:ext cx="3248" cy="1113"/>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基于</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算法平台</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的图像识别与</a:t>
              </a:r>
              <a:r>
                <a:rPr lang="en-US" altLang="zh-CN" sz="1000">
                  <a:solidFill>
                    <a:srgbClr val="383838"/>
                  </a:solidFill>
                  <a:latin typeface="微软雅黑"/>
                  <a:ea typeface="微软雅黑"/>
                  <a:cs typeface="微软雅黑"/>
                </a:rPr>
                <a:t>3D</a:t>
              </a:r>
              <a:r>
                <a:rPr lang="zh-CN" altLang="en-US" sz="1000">
                  <a:solidFill>
                    <a:srgbClr val="383838"/>
                  </a:solidFill>
                  <a:latin typeface="微软雅黑"/>
                  <a:ea typeface="微软雅黑"/>
                  <a:cs typeface="微软雅黑"/>
                </a:rPr>
                <a:t>建模技术，用户通过手机或店内设备虚拟试穿服装，实时查看搭配效果。</a:t>
              </a:r>
              <a:endParaRPr lang="zh-CN" altLang="en-US" sz="1000">
                <a:solidFill>
                  <a:srgbClr val="383838"/>
                </a:solidFill>
                <a:latin typeface="微软雅黑"/>
                <a:ea typeface="微软雅黑"/>
                <a:cs typeface="微软雅黑"/>
              </a:endParaRPr>
            </a:p>
          </p:txBody>
        </p:sp>
        <p:sp>
          <p:nvSpPr>
            <p:cNvPr id="97" name="文本框 96"/>
            <p:cNvSpPr txBox="1"/>
            <p:nvPr/>
          </p:nvSpPr>
          <p:spPr>
            <a:xfrm>
              <a:off x="747" y="5695"/>
              <a:ext cx="2679"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动态定价系统</a:t>
              </a:r>
              <a:endParaRPr lang="zh-CN" altLang="en-US" sz="1400" b="1">
                <a:solidFill>
                  <a:srgbClr val="0042FF"/>
                </a:solidFill>
                <a:latin typeface="微软雅黑"/>
                <a:ea typeface="微软雅黑"/>
                <a:cs typeface="微软雅黑"/>
              </a:endParaRPr>
            </a:p>
          </p:txBody>
        </p:sp>
        <p:sp>
          <p:nvSpPr>
            <p:cNvPr id="98" name="文本框 97"/>
            <p:cNvSpPr txBox="1"/>
            <p:nvPr/>
          </p:nvSpPr>
          <p:spPr>
            <a:xfrm>
              <a:off x="549" y="6208"/>
              <a:ext cx="3248" cy="1113"/>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结合</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销售数据分析</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和市场需求预测，自动调整商品价格（如季末清仓、爆款溢价），支持差异化区域定价。</a:t>
              </a:r>
              <a:endParaRPr lang="zh-CN" altLang="en-US" sz="1000">
                <a:solidFill>
                  <a:srgbClr val="383838"/>
                </a:solidFill>
                <a:latin typeface="微软雅黑"/>
                <a:ea typeface="微软雅黑"/>
                <a:cs typeface="微软雅黑"/>
              </a:endParaRPr>
            </a:p>
          </p:txBody>
        </p:sp>
        <p:sp>
          <p:nvSpPr>
            <p:cNvPr id="99" name="文本框 98"/>
            <p:cNvSpPr txBox="1"/>
            <p:nvPr/>
          </p:nvSpPr>
          <p:spPr>
            <a:xfrm>
              <a:off x="757" y="7624"/>
              <a:ext cx="2679"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自动化仓储分拣</a:t>
              </a:r>
              <a:endParaRPr lang="zh-CN" altLang="en-US" sz="1400" b="1">
                <a:solidFill>
                  <a:srgbClr val="0042FF"/>
                </a:solidFill>
                <a:latin typeface="微软雅黑"/>
                <a:ea typeface="微软雅黑"/>
                <a:cs typeface="微软雅黑"/>
              </a:endParaRPr>
            </a:p>
          </p:txBody>
        </p:sp>
        <p:sp>
          <p:nvSpPr>
            <p:cNvPr id="100" name="文本框 99"/>
            <p:cNvSpPr txBox="1"/>
            <p:nvPr/>
          </p:nvSpPr>
          <p:spPr>
            <a:xfrm>
              <a:off x="559" y="8157"/>
              <a:ext cx="3248" cy="871"/>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依托</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高性能数据中心</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和机器人流程自动化（</a:t>
              </a:r>
              <a:r>
                <a:rPr lang="en-US" altLang="zh-CN" sz="1000">
                  <a:solidFill>
                    <a:srgbClr val="383838"/>
                  </a:solidFill>
                  <a:latin typeface="微软雅黑"/>
                  <a:ea typeface="微软雅黑"/>
                  <a:cs typeface="微软雅黑"/>
                </a:rPr>
                <a:t>RPA</a:t>
              </a:r>
              <a:r>
                <a:rPr lang="zh-CN" altLang="en-US" sz="1000">
                  <a:solidFill>
                    <a:srgbClr val="383838"/>
                  </a:solidFill>
                  <a:latin typeface="微软雅黑"/>
                  <a:ea typeface="微软雅黑"/>
                  <a:cs typeface="微软雅黑"/>
                </a:rPr>
                <a:t>），实现订单分拣、打包、出库全流程无人化。</a:t>
              </a:r>
              <a:endParaRPr lang="zh-CN" altLang="en-US" sz="1000">
                <a:solidFill>
                  <a:srgbClr val="383838"/>
                </a:solidFill>
                <a:latin typeface="微软雅黑"/>
                <a:ea typeface="微软雅黑"/>
                <a:cs typeface="微软雅黑"/>
              </a:endParaRPr>
            </a:p>
          </p:txBody>
        </p:sp>
      </p:grpSp>
      <p:grpSp>
        <p:nvGrpSpPr>
          <p:cNvPr id="111" name="组合 110"/>
          <p:cNvGrpSpPr/>
          <p:nvPr/>
        </p:nvGrpSpPr>
        <p:grpSpPr>
          <a:xfrm>
            <a:off x="9768205" y="1811020"/>
            <a:ext cx="2157730" cy="4143375"/>
            <a:chOff x="15383" y="3049"/>
            <a:chExt cx="3398" cy="6525"/>
          </a:xfrm>
        </p:grpSpPr>
        <p:sp>
          <p:nvSpPr>
            <p:cNvPr id="101" name="矩形 100"/>
            <p:cNvSpPr/>
            <p:nvPr/>
          </p:nvSpPr>
          <p:spPr>
            <a:xfrm>
              <a:off x="15383" y="3049"/>
              <a:ext cx="3398" cy="6525"/>
            </a:xfrm>
            <a:prstGeom prst="rect">
              <a:avLst/>
            </a:prstGeom>
            <a:solidFill>
              <a:srgbClr val="E6E6E6">
                <a:alpha val="1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2" name="矩形 101"/>
            <p:cNvSpPr/>
            <p:nvPr/>
          </p:nvSpPr>
          <p:spPr>
            <a:xfrm>
              <a:off x="15383" y="3049"/>
              <a:ext cx="3398" cy="764"/>
            </a:xfrm>
            <a:prstGeom prst="rect">
              <a:avLst/>
            </a:prstGeom>
            <a:gradFill>
              <a:gsLst>
                <a:gs pos="0">
                  <a:srgbClr val="3368FF"/>
                </a:gs>
                <a:gs pos="100000">
                  <a:srgbClr val="0042FF"/>
                </a:gs>
              </a:gsLst>
              <a:lin ang="1080000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a:solidFill>
                    <a:srgbClr val="FFFFFF"/>
                  </a:solidFill>
                  <a:cs typeface="微软雅黑"/>
                  <a:latin typeface="微软雅黑"/>
                  <a:ea typeface="微软雅黑"/>
                </a:rPr>
                <a:t>应用成果</a:t>
              </a:r>
              <a:endParaRPr lang="en-US" altLang="zh-CN">
                <a:solidFill>
                  <a:srgbClr val="FFFFFF"/>
                </a:solidFill>
                <a:cs typeface="微软雅黑"/>
                <a:latin typeface="微软雅黑"/>
                <a:ea typeface="微软雅黑"/>
              </a:endParaRPr>
            </a:p>
          </p:txBody>
        </p:sp>
        <p:cxnSp>
          <p:nvCxnSpPr>
            <p:cNvPr id="103" name="直接连接符 102"/>
            <p:cNvCxnSpPr/>
            <p:nvPr/>
          </p:nvCxnSpPr>
          <p:spPr>
            <a:xfrm>
              <a:off x="15540" y="5747"/>
              <a:ext cx="3060" cy="0"/>
            </a:xfrm>
            <a:prstGeom prst="line">
              <a:avLst/>
            </a:prstGeom>
            <a:solidFill>
              <a:srgbClr val="E6E6E6">
                <a:alpha val="10000"/>
              </a:srgbClr>
            </a:solidFill>
            <a:ln>
              <a:solidFill>
                <a:srgbClr val="0042FF">
                  <a:alpha val="20000"/>
                </a:srgbClr>
              </a:solidFill>
              <a:prstDash val="sysDash"/>
            </a:ln>
          </p:spPr>
          <p:style>
            <a:lnRef idx="2">
              <a:srgbClr val="0042FF"/>
            </a:lnRef>
            <a:fillRef idx="1">
              <a:srgbClr val="0042FF"/>
            </a:fillRef>
            <a:effectRef idx="0">
              <a:srgbClr val="FFFFFF"/>
            </a:effectRef>
            <a:fontRef idx="minor">
              <a:srgbClr val="FFFFFF"/>
            </a:fontRef>
          </p:style>
        </p:cxnSp>
        <p:cxnSp>
          <p:nvCxnSpPr>
            <p:cNvPr id="104" name="直接连接符 103"/>
            <p:cNvCxnSpPr/>
            <p:nvPr/>
          </p:nvCxnSpPr>
          <p:spPr>
            <a:xfrm>
              <a:off x="15540" y="7655"/>
              <a:ext cx="3060" cy="0"/>
            </a:xfrm>
            <a:prstGeom prst="line">
              <a:avLst/>
            </a:prstGeom>
            <a:solidFill>
              <a:srgbClr val="E6E6E6">
                <a:alpha val="10000"/>
              </a:srgbClr>
            </a:solidFill>
            <a:ln>
              <a:solidFill>
                <a:srgbClr val="0042FF">
                  <a:alpha val="20000"/>
                </a:srgbClr>
              </a:solidFill>
              <a:prstDash val="sysDash"/>
            </a:ln>
          </p:spPr>
          <p:style>
            <a:lnRef idx="2">
              <a:srgbClr val="0042FF"/>
            </a:lnRef>
            <a:fillRef idx="1">
              <a:srgbClr val="0042FF"/>
            </a:fillRef>
            <a:effectRef idx="0">
              <a:srgbClr val="FFFFFF"/>
            </a:effectRef>
            <a:fontRef idx="minor">
              <a:srgbClr val="FFFFFF"/>
            </a:fontRef>
          </p:style>
        </p:cxnSp>
        <p:sp>
          <p:nvSpPr>
            <p:cNvPr id="105" name="文本框 104"/>
            <p:cNvSpPr txBox="1"/>
            <p:nvPr/>
          </p:nvSpPr>
          <p:spPr>
            <a:xfrm>
              <a:off x="15730" y="4004"/>
              <a:ext cx="2679"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销售效率提升</a:t>
              </a:r>
              <a:endParaRPr lang="zh-CN" altLang="en-US" sz="1400" b="1">
                <a:solidFill>
                  <a:srgbClr val="0042FF"/>
                </a:solidFill>
                <a:latin typeface="微软雅黑"/>
                <a:ea typeface="微软雅黑"/>
                <a:cs typeface="微软雅黑"/>
              </a:endParaRPr>
            </a:p>
          </p:txBody>
        </p:sp>
        <p:sp>
          <p:nvSpPr>
            <p:cNvPr id="106" name="文本框 105"/>
            <p:cNvSpPr txBox="1"/>
            <p:nvPr/>
          </p:nvSpPr>
          <p:spPr>
            <a:xfrm>
              <a:off x="15532" y="4517"/>
              <a:ext cx="3248" cy="1113"/>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通过</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全渠道协同网络</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整合线上线下数据（如门店</a:t>
              </a:r>
              <a:r>
                <a:rPr lang="en-US" altLang="zh-CN" sz="1000">
                  <a:solidFill>
                    <a:srgbClr val="383838"/>
                  </a:solidFill>
                  <a:latin typeface="微软雅黑"/>
                  <a:ea typeface="微软雅黑"/>
                  <a:cs typeface="微软雅黑"/>
                </a:rPr>
                <a:t>POS</a:t>
              </a:r>
              <a:r>
                <a:rPr lang="zh-CN" altLang="en-US" sz="1000">
                  <a:solidFill>
                    <a:srgbClr val="383838"/>
                  </a:solidFill>
                  <a:latin typeface="微软雅黑"/>
                  <a:ea typeface="微软雅黑"/>
                  <a:cs typeface="微软雅黑"/>
                </a:rPr>
                <a:t>系统、电商平台订单），实现库存共享、订单统一调度和用户行为分析。</a:t>
              </a:r>
              <a:endParaRPr lang="zh-CN" altLang="en-US" sz="1000">
                <a:solidFill>
                  <a:srgbClr val="383838"/>
                </a:solidFill>
                <a:latin typeface="微软雅黑"/>
                <a:ea typeface="微软雅黑"/>
                <a:cs typeface="微软雅黑"/>
              </a:endParaRPr>
            </a:p>
          </p:txBody>
        </p:sp>
        <p:sp>
          <p:nvSpPr>
            <p:cNvPr id="107" name="文本框 106"/>
            <p:cNvSpPr txBox="1"/>
            <p:nvPr/>
          </p:nvSpPr>
          <p:spPr>
            <a:xfrm>
              <a:off x="15720" y="5892"/>
              <a:ext cx="2679"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库存周转率优化</a:t>
              </a:r>
              <a:endParaRPr lang="en-US" altLang="zh-CN" sz="1400" b="1">
                <a:solidFill>
                  <a:srgbClr val="0042FF"/>
                </a:solidFill>
                <a:latin typeface="微软雅黑"/>
                <a:ea typeface="微软雅黑"/>
                <a:cs typeface="微软雅黑"/>
              </a:endParaRPr>
            </a:p>
          </p:txBody>
        </p:sp>
        <p:sp>
          <p:nvSpPr>
            <p:cNvPr id="108" name="文本框 107"/>
            <p:cNvSpPr txBox="1"/>
            <p:nvPr/>
          </p:nvSpPr>
          <p:spPr>
            <a:xfrm>
              <a:off x="15522" y="6405"/>
              <a:ext cx="3248" cy="1113"/>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基于</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市场需求分析</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和</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库存预警</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模块，</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算法动态预测区域化销售趋势，结合自动化仓储分拣系统实时调整备货策略。</a:t>
              </a:r>
              <a:endParaRPr lang="zh-CN" altLang="en-US" sz="1000">
                <a:solidFill>
                  <a:srgbClr val="383838"/>
                </a:solidFill>
                <a:latin typeface="微软雅黑"/>
                <a:ea typeface="微软雅黑"/>
                <a:cs typeface="微软雅黑"/>
              </a:endParaRPr>
            </a:p>
          </p:txBody>
        </p:sp>
        <p:sp>
          <p:nvSpPr>
            <p:cNvPr id="109" name="文本框 108"/>
            <p:cNvSpPr txBox="1"/>
            <p:nvPr/>
          </p:nvSpPr>
          <p:spPr>
            <a:xfrm>
              <a:off x="15730" y="7821"/>
              <a:ext cx="2679"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客户体验升级</a:t>
              </a:r>
              <a:endParaRPr lang="zh-CN" altLang="en-US" sz="1400" b="1">
                <a:solidFill>
                  <a:srgbClr val="0042FF"/>
                </a:solidFill>
                <a:latin typeface="微软雅黑"/>
                <a:ea typeface="微软雅黑"/>
                <a:cs typeface="微软雅黑"/>
              </a:endParaRPr>
            </a:p>
          </p:txBody>
        </p:sp>
        <p:sp>
          <p:nvSpPr>
            <p:cNvPr id="110" name="文本框 109"/>
            <p:cNvSpPr txBox="1"/>
            <p:nvPr/>
          </p:nvSpPr>
          <p:spPr>
            <a:xfrm>
              <a:off x="15532" y="8354"/>
              <a:ext cx="3248" cy="1113"/>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通过</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品牌专属</a:t>
              </a:r>
              <a:r>
                <a:rPr lang="en-US" altLang="zh-CN" sz="1000">
                  <a:solidFill>
                    <a:srgbClr val="383838"/>
                  </a:solidFill>
                  <a:latin typeface="微软雅黑"/>
                  <a:ea typeface="微软雅黑"/>
                  <a:cs typeface="微软雅黑"/>
                </a:rPr>
                <a:t>APP”</a:t>
              </a:r>
              <a:r>
                <a:rPr lang="zh-CN" altLang="en-US" sz="1000">
                  <a:solidFill>
                    <a:srgbClr val="383838"/>
                  </a:solidFill>
                  <a:latin typeface="微软雅黑"/>
                  <a:ea typeface="微软雅黑"/>
                  <a:cs typeface="微软雅黑"/>
                </a:rPr>
                <a:t>提供虚拟试衣（</a:t>
              </a:r>
              <a:r>
                <a:rPr lang="en-US" altLang="zh-CN" sz="1000">
                  <a:solidFill>
                    <a:srgbClr val="383838"/>
                  </a:solidFill>
                  <a:latin typeface="微软雅黑"/>
                  <a:ea typeface="微软雅黑"/>
                  <a:cs typeface="微软雅黑"/>
                </a:rPr>
                <a:t>AR/VR</a:t>
              </a:r>
              <a:r>
                <a:rPr lang="zh-CN" altLang="en-US" sz="1000">
                  <a:solidFill>
                    <a:srgbClr val="383838"/>
                  </a:solidFill>
                  <a:latin typeface="微软雅黑"/>
                  <a:ea typeface="微软雅黑"/>
                  <a:cs typeface="微软雅黑"/>
                </a:rPr>
                <a:t>）、个性化推荐、一键售后等功能；线下门店部署智能导购屏和无人收银终端。</a:t>
              </a:r>
              <a:endParaRPr lang="zh-CN" altLang="en-US" sz="1000">
                <a:solidFill>
                  <a:srgbClr val="383838"/>
                </a:solidFill>
                <a:latin typeface="微软雅黑"/>
                <a:ea typeface="微软雅黑"/>
                <a:cs typeface="微软雅黑"/>
              </a:endParaRPr>
            </a:p>
          </p:txBody>
        </p:sp>
      </p:grpSp>
      <p:sp>
        <p:nvSpPr>
          <p:cNvPr id="113" name="文本框 112"/>
          <p:cNvSpPr txBox="1"/>
          <p:nvPr/>
        </p:nvSpPr>
        <p:spPr>
          <a:xfrm>
            <a:off x="2880360" y="3423920"/>
            <a:ext cx="606425" cy="737235"/>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latin typeface="微软雅黑"/>
                <a:ea typeface="微软雅黑"/>
                <a:cs typeface="微软雅黑"/>
              </a:rPr>
              <a:t>扩展应用潜力</a:t>
            </a:r>
            <a:endParaRPr lang="zh-CN" sz="1400" b="1">
              <a:solidFill>
                <a:srgbClr val="383838"/>
              </a:solidFill>
              <a:latin typeface="微软雅黑"/>
              <a:ea typeface="微软雅黑"/>
              <a:cs typeface="微软雅黑"/>
            </a:endParaRPr>
          </a:p>
        </p:txBody>
      </p:sp>
      <p:sp>
        <p:nvSpPr>
          <p:cNvPr id="114" name="文本框 113"/>
          <p:cNvSpPr txBox="1"/>
          <p:nvPr/>
        </p:nvSpPr>
        <p:spPr>
          <a:xfrm>
            <a:off x="8766810" y="3340100"/>
            <a:ext cx="606425" cy="737235"/>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latin typeface="微软雅黑"/>
                <a:ea typeface="微软雅黑"/>
                <a:cs typeface="微软雅黑"/>
              </a:rPr>
              <a:t>技术驱动价值</a:t>
            </a:r>
            <a:endParaRPr lang="zh-CN" sz="1400" b="1">
              <a:solidFill>
                <a:srgbClr val="383838"/>
              </a:solidFill>
              <a:latin typeface="微软雅黑"/>
              <a:ea typeface="微软雅黑"/>
              <a:cs typeface="微软雅黑"/>
            </a:endParaRPr>
          </a:p>
        </p:txBody>
      </p:sp>
      <p:pic>
        <p:nvPicPr>
          <p:cNvPr id="26" name="图片 25" descr="屋顶资源管理"/>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55600" y="186055"/>
            <a:ext cx="549910" cy="549910"/>
          </a:xfrm>
          <a:prstGeom prst="rect">
            <a:avLst/>
          </a:prstGeom>
        </p:spPr>
      </p:pic>
      <p:grpSp>
        <p:nvGrpSpPr>
          <p:cNvPr id="10" name="组合 9"/>
          <p:cNvGrpSpPr/>
          <p:nvPr/>
        </p:nvGrpSpPr>
        <p:grpSpPr>
          <a:xfrm>
            <a:off x="8738235" y="348615"/>
            <a:ext cx="3219450" cy="332740"/>
            <a:chOff x="13761" y="549"/>
            <a:chExt cx="5070" cy="524"/>
          </a:xfrm>
        </p:grpSpPr>
        <p:pic>
          <p:nvPicPr>
            <p:cNvPr id="49" name="图片 48"/>
            <p:cNvPicPr>
              <a:picLocks noChangeAspect="1"/>
            </p:cNvPicPr>
            <p:nvPr userDrawn="1"/>
          </p:nvPicPr>
          <p:blipFill>
            <a:blip r:embed="rId7"/>
            <a:srcRect l="17002" t="-1765" r="56499" b="-1176"/>
            <a:stretch>
              <a:fillRect/>
            </a:stretch>
          </p:blipFill>
          <p:spPr>
            <a:xfrm>
              <a:off x="13761" y="549"/>
              <a:ext cx="1582" cy="525"/>
            </a:xfrm>
            <a:prstGeom prst="rect">
              <a:avLst/>
            </a:prstGeom>
          </p:spPr>
        </p:pic>
        <p:sp>
          <p:nvSpPr>
            <p:cNvPr id="50" name="文本框 49"/>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51" name="文本框 50"/>
          <p:cNvSpPr txBox="1"/>
          <p:nvPr/>
        </p:nvSpPr>
        <p:spPr>
          <a:xfrm>
            <a:off x="3828415" y="1336675"/>
            <a:ext cx="1401445"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客户服务</a:t>
            </a:r>
            <a:endParaRPr lang="zh-CN" altLang="en-US" sz="1200" b="1">
              <a:solidFill>
                <a:srgbClr val="FFFFFF"/>
              </a:solidFill>
              <a:latin typeface="微软雅黑"/>
              <a:ea typeface="微软雅黑"/>
              <a:cs typeface="微软雅黑"/>
            </a:endParaRPr>
          </a:p>
        </p:txBody>
      </p:sp>
      <p:sp>
        <p:nvSpPr>
          <p:cNvPr id="61" name="文本框 60"/>
          <p:cNvSpPr txBox="1"/>
          <p:nvPr/>
        </p:nvSpPr>
        <p:spPr>
          <a:xfrm>
            <a:off x="5492750" y="1335405"/>
            <a:ext cx="1401445"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供应链管理</a:t>
            </a:r>
            <a:endParaRPr lang="zh-CN" altLang="en-US" sz="1200" b="1">
              <a:solidFill>
                <a:srgbClr val="FFFFFF"/>
              </a:solidFill>
              <a:latin typeface="微软雅黑"/>
              <a:ea typeface="微软雅黑"/>
              <a:cs typeface="微软雅黑"/>
            </a:endParaRPr>
          </a:p>
        </p:txBody>
      </p:sp>
      <p:sp>
        <p:nvSpPr>
          <p:cNvPr id="70" name="文本框 69"/>
          <p:cNvSpPr txBox="1"/>
          <p:nvPr/>
        </p:nvSpPr>
        <p:spPr>
          <a:xfrm>
            <a:off x="7157085" y="1335405"/>
            <a:ext cx="1401445" cy="275590"/>
          </a:xfrm>
          <a:prstGeom prst="rect">
            <a:avLst/>
          </a:prstGeom>
          <a:noFill/>
        </p:spPr>
        <p:txBody>
          <a:bodyPr wrap="square" rtlCol="0">
            <a:spAutoFit/>
          </a:bodyPr>
          <a:p>
            <a:pPr lvl="0" algn="ctr">
              <a:buClrTx/>
              <a:buSzTx/>
              <a:buFontTx/>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sym typeface="微软雅黑"/>
              </a:rPr>
              <a:t>智能决策支持</a:t>
            </a:r>
            <a:endParaRPr lang="zh-CN" altLang="en-US" sz="1200" b="1">
              <a:solidFill>
                <a:srgbClr val="FFFFFF"/>
              </a:solidFill>
              <a:latin typeface="微软雅黑"/>
              <a:ea typeface="微软雅黑"/>
              <a:cs typeface="微软雅黑"/>
              <a:sym typeface="微软雅黑"/>
            </a:endParaRPr>
          </a:p>
        </p:txBody>
      </p:sp>
      <p:sp>
        <p:nvSpPr>
          <p:cNvPr id="85" name="文本框 84"/>
          <p:cNvSpPr txBox="1"/>
          <p:nvPr/>
        </p:nvSpPr>
        <p:spPr>
          <a:xfrm>
            <a:off x="5121275" y="3532505"/>
            <a:ext cx="375285" cy="375285"/>
          </a:xfrm>
          <a:prstGeom prst="ellipse">
            <a:avLst/>
          </a:prstGeom>
          <a:gradFill>
            <a:gsLst>
              <a:gs pos="29000">
                <a:srgbClr val="B3D4FE"/>
              </a:gs>
              <a:gs pos="64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86" name="文本框 85"/>
          <p:cNvSpPr txBox="1"/>
          <p:nvPr/>
        </p:nvSpPr>
        <p:spPr>
          <a:xfrm>
            <a:off x="6833235" y="3547745"/>
            <a:ext cx="375285" cy="375285"/>
          </a:xfrm>
          <a:prstGeom prst="ellipse">
            <a:avLst/>
          </a:prstGeom>
          <a:gradFill>
            <a:gsLst>
              <a:gs pos="29000">
                <a:srgbClr val="B3D4FE"/>
              </a:gs>
              <a:gs pos="64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grpSp>
        <p:nvGrpSpPr>
          <p:cNvPr id="87" name="组合 86"/>
          <p:cNvGrpSpPr/>
          <p:nvPr/>
        </p:nvGrpSpPr>
        <p:grpSpPr>
          <a:xfrm>
            <a:off x="4580890" y="3372485"/>
            <a:ext cx="3193415" cy="676275"/>
            <a:chOff x="7239" y="5331"/>
            <a:chExt cx="5029" cy="1065"/>
          </a:xfrm>
        </p:grpSpPr>
        <p:sp>
          <p:nvSpPr>
            <p:cNvPr id="88" name="文本框 87"/>
            <p:cNvSpPr txBox="1"/>
            <p:nvPr/>
          </p:nvSpPr>
          <p:spPr>
            <a:xfrm>
              <a:off x="7239" y="5380"/>
              <a:ext cx="708"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设计智创</a:t>
              </a:r>
              <a:endParaRPr lang="zh-CN" altLang="en-US" sz="1000" b="1">
                <a:solidFill>
                  <a:srgbClr val="FFFFFF"/>
                </a:solidFill>
                <a:latin typeface="微软雅黑"/>
                <a:ea typeface="微软雅黑"/>
                <a:cs typeface="微软雅黑"/>
              </a:endParaRPr>
            </a:p>
          </p:txBody>
        </p:sp>
        <p:sp>
          <p:nvSpPr>
            <p:cNvPr id="89" name="文本框 88"/>
            <p:cNvSpPr txBox="1"/>
            <p:nvPr/>
          </p:nvSpPr>
          <p:spPr>
            <a:xfrm>
              <a:off x="8023" y="5601"/>
              <a:ext cx="708"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产销直连</a:t>
              </a:r>
              <a:endParaRPr lang="zh-CN" altLang="en-US" sz="1000" b="1">
                <a:solidFill>
                  <a:srgbClr val="FFFFFF"/>
                </a:solidFill>
                <a:latin typeface="微软雅黑"/>
                <a:ea typeface="微软雅黑"/>
                <a:cs typeface="微软雅黑"/>
              </a:endParaRPr>
            </a:p>
          </p:txBody>
        </p:sp>
        <p:sp>
          <p:nvSpPr>
            <p:cNvPr id="90" name="文本框 89"/>
            <p:cNvSpPr txBox="1"/>
            <p:nvPr/>
          </p:nvSpPr>
          <p:spPr>
            <a:xfrm>
              <a:off x="10727" y="5631"/>
              <a:ext cx="708"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数据智融</a:t>
              </a:r>
              <a:endParaRPr lang="zh-CN" altLang="en-US" sz="1000" b="1">
                <a:solidFill>
                  <a:srgbClr val="FFFFFF"/>
                </a:solidFill>
                <a:latin typeface="微软雅黑"/>
                <a:ea typeface="微软雅黑"/>
                <a:cs typeface="微软雅黑"/>
              </a:endParaRPr>
            </a:p>
          </p:txBody>
        </p:sp>
        <p:sp>
          <p:nvSpPr>
            <p:cNvPr id="93" name="文本框 92"/>
            <p:cNvSpPr txBox="1"/>
            <p:nvPr/>
          </p:nvSpPr>
          <p:spPr>
            <a:xfrm>
              <a:off x="11560" y="5331"/>
              <a:ext cx="708"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生态共生</a:t>
              </a:r>
              <a:endParaRPr lang="zh-CN" altLang="en-US" sz="1000" b="1">
                <a:solidFill>
                  <a:srgbClr val="FFFFFF"/>
                </a:solidFill>
                <a:latin typeface="微软雅黑"/>
                <a:ea typeface="微软雅黑"/>
                <a:cs typeface="微软雅黑"/>
              </a:endParaRPr>
            </a:p>
          </p:txBody>
        </p:sp>
        <p:sp>
          <p:nvSpPr>
            <p:cNvPr id="94" name="文本框 93"/>
            <p:cNvSpPr txBox="1"/>
            <p:nvPr/>
          </p:nvSpPr>
          <p:spPr>
            <a:xfrm>
              <a:off x="8908" y="5865"/>
              <a:ext cx="708"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云仓联控</a:t>
              </a:r>
              <a:endParaRPr lang="zh-CN" altLang="en-US" sz="1000" b="1">
                <a:solidFill>
                  <a:srgbClr val="FFFFFF"/>
                </a:solidFill>
                <a:latin typeface="微软雅黑"/>
                <a:ea typeface="微软雅黑"/>
                <a:cs typeface="微软雅黑"/>
              </a:endParaRPr>
            </a:p>
          </p:txBody>
        </p:sp>
        <p:sp>
          <p:nvSpPr>
            <p:cNvPr id="115" name="文本框 114"/>
            <p:cNvSpPr txBox="1"/>
            <p:nvPr/>
          </p:nvSpPr>
          <p:spPr>
            <a:xfrm>
              <a:off x="9949" y="5865"/>
              <a:ext cx="708"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全域营销</a:t>
              </a:r>
              <a:endParaRPr lang="zh-CN" altLang="en-US" sz="1000" b="1">
                <a:solidFill>
                  <a:srgbClr val="FFFFFF"/>
                </a:solidFill>
                <a:latin typeface="微软雅黑"/>
                <a:ea typeface="微软雅黑"/>
                <a:cs typeface="微软雅黑"/>
              </a:endParaRPr>
            </a:p>
          </p:txBody>
        </p:sp>
      </p:grpSp>
      <p:sp>
        <p:nvSpPr>
          <p:cNvPr id="123" name="文本框 122"/>
          <p:cNvSpPr txBox="1"/>
          <p:nvPr/>
        </p:nvSpPr>
        <p:spPr>
          <a:xfrm>
            <a:off x="3524250" y="5467985"/>
            <a:ext cx="44958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智能采购</a:t>
            </a:r>
            <a:endParaRPr lang="zh-CN" altLang="en-US" sz="1000" b="1">
              <a:solidFill>
                <a:srgbClr val="FFFFFF"/>
              </a:solidFill>
              <a:latin typeface="微软雅黑"/>
              <a:ea typeface="微软雅黑"/>
              <a:cs typeface="微软雅黑"/>
            </a:endParaRPr>
          </a:p>
        </p:txBody>
      </p:sp>
      <p:sp>
        <p:nvSpPr>
          <p:cNvPr id="124" name="文本框 123"/>
          <p:cNvSpPr txBox="1"/>
          <p:nvPr/>
        </p:nvSpPr>
        <p:spPr>
          <a:xfrm>
            <a:off x="4328160" y="5744210"/>
            <a:ext cx="44958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柔性智造</a:t>
            </a:r>
            <a:endParaRPr lang="zh-CN" altLang="en-US" sz="1000" b="1">
              <a:solidFill>
                <a:srgbClr val="FFFFFF"/>
              </a:solidFill>
              <a:latin typeface="微软雅黑"/>
              <a:ea typeface="微软雅黑"/>
              <a:cs typeface="微软雅黑"/>
            </a:endParaRPr>
          </a:p>
        </p:txBody>
      </p:sp>
      <p:sp>
        <p:nvSpPr>
          <p:cNvPr id="125" name="文本框 124"/>
          <p:cNvSpPr txBox="1"/>
          <p:nvPr/>
        </p:nvSpPr>
        <p:spPr>
          <a:xfrm>
            <a:off x="5121275" y="5958840"/>
            <a:ext cx="44958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云仓联控</a:t>
            </a:r>
            <a:endParaRPr lang="zh-CN" altLang="en-US" sz="1000" b="1">
              <a:solidFill>
                <a:srgbClr val="FFFFFF"/>
              </a:solidFill>
              <a:latin typeface="微软雅黑"/>
              <a:ea typeface="微软雅黑"/>
              <a:cs typeface="微软雅黑"/>
            </a:endParaRPr>
          </a:p>
        </p:txBody>
      </p:sp>
      <p:sp>
        <p:nvSpPr>
          <p:cNvPr id="126" name="文本框 125"/>
          <p:cNvSpPr txBox="1"/>
          <p:nvPr/>
        </p:nvSpPr>
        <p:spPr>
          <a:xfrm>
            <a:off x="5929630" y="6030595"/>
            <a:ext cx="44958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物流智脑</a:t>
            </a:r>
            <a:endParaRPr lang="zh-CN" altLang="en-US" sz="1000" b="1">
              <a:solidFill>
                <a:srgbClr val="FFFFFF"/>
              </a:solidFill>
              <a:latin typeface="微软雅黑"/>
              <a:ea typeface="微软雅黑"/>
              <a:cs typeface="微软雅黑"/>
            </a:endParaRPr>
          </a:p>
        </p:txBody>
      </p:sp>
      <p:sp>
        <p:nvSpPr>
          <p:cNvPr id="127" name="文本框 126"/>
          <p:cNvSpPr txBox="1"/>
          <p:nvPr/>
        </p:nvSpPr>
        <p:spPr>
          <a:xfrm>
            <a:off x="6796405" y="5954395"/>
            <a:ext cx="44958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产销协同</a:t>
            </a:r>
            <a:endParaRPr lang="zh-CN" altLang="en-US" sz="1000" b="1">
              <a:solidFill>
                <a:srgbClr val="FFFFFF"/>
              </a:solidFill>
              <a:latin typeface="微软雅黑"/>
              <a:ea typeface="微软雅黑"/>
              <a:cs typeface="微软雅黑"/>
            </a:endParaRPr>
          </a:p>
        </p:txBody>
      </p:sp>
      <p:sp>
        <p:nvSpPr>
          <p:cNvPr id="128" name="文本框 127"/>
          <p:cNvSpPr txBox="1"/>
          <p:nvPr/>
        </p:nvSpPr>
        <p:spPr>
          <a:xfrm>
            <a:off x="7623175" y="5742305"/>
            <a:ext cx="44958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全链溯源</a:t>
            </a:r>
            <a:endParaRPr lang="zh-CN" altLang="en-US" sz="1000" b="1">
              <a:solidFill>
                <a:srgbClr val="FFFFFF"/>
              </a:solidFill>
              <a:latin typeface="微软雅黑"/>
              <a:ea typeface="微软雅黑"/>
              <a:cs typeface="微软雅黑"/>
            </a:endParaRPr>
          </a:p>
        </p:txBody>
      </p:sp>
      <p:sp>
        <p:nvSpPr>
          <p:cNvPr id="129" name="文本框 128"/>
          <p:cNvSpPr txBox="1"/>
          <p:nvPr/>
        </p:nvSpPr>
        <p:spPr>
          <a:xfrm>
            <a:off x="8462010" y="5469255"/>
            <a:ext cx="44958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碳效优化</a:t>
            </a:r>
            <a:endParaRPr lang="zh-CN" altLang="en-US" sz="1000" b="1">
              <a:solidFill>
                <a:srgbClr val="FFFFFF"/>
              </a:solidFill>
              <a:latin typeface="微软雅黑"/>
              <a:ea typeface="微软雅黑"/>
              <a:cs typeface="微软雅黑"/>
            </a:endParaRPr>
          </a:p>
        </p:txBody>
      </p:sp>
      <p:sp>
        <p:nvSpPr>
          <p:cNvPr id="135" name="文本框 134"/>
          <p:cNvSpPr txBox="1"/>
          <p:nvPr/>
        </p:nvSpPr>
        <p:spPr>
          <a:xfrm>
            <a:off x="4243705" y="4521835"/>
            <a:ext cx="375285" cy="375285"/>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dirty="0">
              <a:latin typeface="微软雅黑"/>
              <a:ea typeface="微软雅黑"/>
              <a:cs typeface="微软雅黑"/>
            </a:endParaRPr>
          </a:p>
        </p:txBody>
      </p:sp>
      <p:sp>
        <p:nvSpPr>
          <p:cNvPr id="136" name="文本框 135"/>
          <p:cNvSpPr txBox="1"/>
          <p:nvPr/>
        </p:nvSpPr>
        <p:spPr>
          <a:xfrm>
            <a:off x="4955540" y="4807585"/>
            <a:ext cx="375285" cy="375285"/>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dirty="0">
              <a:latin typeface="微软雅黑"/>
              <a:ea typeface="微软雅黑"/>
              <a:cs typeface="微软雅黑"/>
            </a:endParaRPr>
          </a:p>
        </p:txBody>
      </p:sp>
      <p:sp>
        <p:nvSpPr>
          <p:cNvPr id="137" name="文本框 136"/>
          <p:cNvSpPr txBox="1"/>
          <p:nvPr/>
        </p:nvSpPr>
        <p:spPr>
          <a:xfrm>
            <a:off x="6994525" y="4807585"/>
            <a:ext cx="375285" cy="375285"/>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dirty="0">
              <a:latin typeface="微软雅黑"/>
              <a:ea typeface="微软雅黑"/>
              <a:cs typeface="微软雅黑"/>
            </a:endParaRPr>
          </a:p>
        </p:txBody>
      </p:sp>
      <p:sp>
        <p:nvSpPr>
          <p:cNvPr id="138" name="文本框 137"/>
          <p:cNvSpPr txBox="1"/>
          <p:nvPr/>
        </p:nvSpPr>
        <p:spPr>
          <a:xfrm>
            <a:off x="7658735" y="4521835"/>
            <a:ext cx="375285" cy="375285"/>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algn="ctr">
              <a:defRPr sz="2000" b="1">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dirty="0">
              <a:latin typeface="微软雅黑"/>
              <a:ea typeface="微软雅黑"/>
              <a:cs typeface="微软雅黑"/>
            </a:endParaRPr>
          </a:p>
        </p:txBody>
      </p:sp>
      <p:grpSp>
        <p:nvGrpSpPr>
          <p:cNvPr id="139" name="组合 138"/>
          <p:cNvGrpSpPr/>
          <p:nvPr/>
        </p:nvGrpSpPr>
        <p:grpSpPr>
          <a:xfrm>
            <a:off x="4215765" y="4542155"/>
            <a:ext cx="3846830" cy="615315"/>
            <a:chOff x="6655" y="7167"/>
            <a:chExt cx="6058" cy="969"/>
          </a:xfrm>
        </p:grpSpPr>
        <p:sp>
          <p:nvSpPr>
            <p:cNvPr id="140" name="文本框 139"/>
            <p:cNvSpPr txBox="1"/>
            <p:nvPr/>
          </p:nvSpPr>
          <p:spPr>
            <a:xfrm>
              <a:off x="6655" y="7167"/>
              <a:ext cx="708" cy="531"/>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超算核心</a:t>
              </a:r>
              <a:endParaRPr lang="zh-CN" altLang="en-US" sz="1000" b="1">
                <a:solidFill>
                  <a:srgbClr val="383838"/>
                </a:solidFill>
                <a:latin typeface="微软雅黑"/>
                <a:ea typeface="微软雅黑"/>
                <a:cs typeface="微软雅黑"/>
              </a:endParaRPr>
            </a:p>
          </p:txBody>
        </p:sp>
        <p:sp>
          <p:nvSpPr>
            <p:cNvPr id="141" name="文本框 140"/>
            <p:cNvSpPr txBox="1"/>
            <p:nvPr/>
          </p:nvSpPr>
          <p:spPr>
            <a:xfrm>
              <a:off x="7762" y="7606"/>
              <a:ext cx="708" cy="531"/>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海量存储</a:t>
              </a:r>
              <a:endParaRPr lang="zh-CN" altLang="en-US" sz="1000" b="1">
                <a:solidFill>
                  <a:srgbClr val="383838"/>
                </a:solidFill>
                <a:latin typeface="微软雅黑"/>
                <a:ea typeface="微软雅黑"/>
                <a:cs typeface="微软雅黑"/>
              </a:endParaRPr>
            </a:p>
          </p:txBody>
        </p:sp>
        <p:sp>
          <p:nvSpPr>
            <p:cNvPr id="142" name="文本框 141"/>
            <p:cNvSpPr txBox="1"/>
            <p:nvPr/>
          </p:nvSpPr>
          <p:spPr>
            <a:xfrm>
              <a:off x="10959" y="7606"/>
              <a:ext cx="708" cy="531"/>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高速互联</a:t>
              </a:r>
              <a:endParaRPr lang="zh-CN" altLang="en-US" sz="1000" b="1">
                <a:solidFill>
                  <a:srgbClr val="383838"/>
                </a:solidFill>
                <a:latin typeface="微软雅黑"/>
                <a:ea typeface="微软雅黑"/>
                <a:cs typeface="微软雅黑"/>
              </a:endParaRPr>
            </a:p>
          </p:txBody>
        </p:sp>
        <p:sp>
          <p:nvSpPr>
            <p:cNvPr id="143" name="文本框 142"/>
            <p:cNvSpPr txBox="1"/>
            <p:nvPr/>
          </p:nvSpPr>
          <p:spPr>
            <a:xfrm>
              <a:off x="12005" y="7167"/>
              <a:ext cx="708" cy="531"/>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安全防护</a:t>
              </a:r>
              <a:endParaRPr lang="zh-CN" altLang="en-US" sz="1000" b="1">
                <a:solidFill>
                  <a:srgbClr val="383838"/>
                </a:solidFill>
                <a:latin typeface="微软雅黑"/>
                <a:ea typeface="微软雅黑"/>
                <a:cs typeface="微软雅黑"/>
              </a:endParaRPr>
            </a:p>
          </p:txBody>
        </p:sp>
      </p:grpSp>
      <p:cxnSp>
        <p:nvCxnSpPr>
          <p:cNvPr id="1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7" name="直接连接符 106"/>
          <p:cNvCxnSpPr/>
          <p:nvPr/>
        </p:nvCxnSpPr>
        <p:spPr>
          <a:xfrm>
            <a:off x="8260080" y="2288540"/>
            <a:ext cx="3636010" cy="0"/>
          </a:xfrm>
          <a:prstGeom prst="line">
            <a:avLst/>
          </a:prstGeom>
          <a:ln w="25400">
            <a:solidFill>
              <a:srgbClr val="0042FF"/>
            </a:solidFill>
            <a:prstDash val="sysDash"/>
            <a:headEnd type="oval"/>
            <a:tailEnd type="oval"/>
          </a:ln>
        </p:spPr>
        <p:style>
          <a:lnRef idx="2">
            <a:srgbClr val="0042FF"/>
          </a:lnRef>
          <a:fillRef idx="0">
            <a:srgbClr val="FFFFFF"/>
          </a:fillRef>
          <a:effectRef idx="0">
            <a:srgbClr val="FFFFFF"/>
          </a:effectRef>
          <a:fontRef idx="minor">
            <a:srgbClr val="383838"/>
          </a:fontRef>
        </p:style>
      </p:cxn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多层平台架构 |</a:t>
            </a:r>
            <a:r>
              <a:rPr sz="2500">
                <a:solidFill>
                  <a:srgbClr val="0042FF"/>
                </a:solidFill>
                <a:latin typeface="微软雅黑"/>
                <a:ea typeface="微软雅黑"/>
                <a:cs typeface="微软雅黑"/>
              </a:rPr>
              <a:t> </a:t>
            </a:r>
            <a:r>
              <a:rPr sz="2500">
                <a:solidFill>
                  <a:srgbClr val="0042FF"/>
                </a:solidFill>
                <a:latin typeface="微软雅黑"/>
                <a:ea typeface="微软雅黑"/>
                <a:cs typeface="微软雅黑"/>
              </a:rPr>
              <a:t>汽车行业数字化转型路径</a:t>
            </a:r>
            <a:endParaRPr lang="zh-CN" altLang="en-US" sz="2500">
              <a:solidFill>
                <a:srgbClr val="0042FF"/>
              </a:solidFill>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5" name="同心圆 34"/>
          <p:cNvSpPr/>
          <p:nvPr/>
        </p:nvSpPr>
        <p:spPr>
          <a:xfrm>
            <a:off x="3656330" y="1539875"/>
            <a:ext cx="4791075" cy="4791075"/>
          </a:xfrm>
          <a:prstGeom prst="donut">
            <a:avLst>
              <a:gd name="adj" fmla="val 3631"/>
            </a:avLst>
          </a:prstGeom>
          <a:solidFill>
            <a:srgbClr val="0042FF">
              <a:alpha val="3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7" name="椭圆 66"/>
          <p:cNvSpPr/>
          <p:nvPr/>
        </p:nvSpPr>
        <p:spPr>
          <a:xfrm>
            <a:off x="3566160" y="1449705"/>
            <a:ext cx="4971415" cy="4971415"/>
          </a:xfrm>
          <a:prstGeom prst="ellipse">
            <a:avLst/>
          </a:prstGeom>
          <a:noFill/>
          <a:ln>
            <a:solidFill>
              <a:srgbClr val="0042FF">
                <a:alpha val="50000"/>
              </a:srgbClr>
            </a:solidFill>
            <a:prstDash val="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8" name="椭圆 67"/>
          <p:cNvSpPr/>
          <p:nvPr/>
        </p:nvSpPr>
        <p:spPr>
          <a:xfrm>
            <a:off x="4338320" y="2589530"/>
            <a:ext cx="3376930" cy="236855"/>
          </a:xfrm>
          <a:prstGeom prst="ellipse">
            <a:avLst/>
          </a:prstGeom>
          <a:solidFill>
            <a:srgbClr val="E6E6E6">
              <a:alpha val="8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 name="椭圆 68"/>
          <p:cNvSpPr/>
          <p:nvPr/>
        </p:nvSpPr>
        <p:spPr>
          <a:xfrm>
            <a:off x="4704715" y="2496820"/>
            <a:ext cx="2703195" cy="200025"/>
          </a:xfrm>
          <a:prstGeom prst="ellipse">
            <a:avLst/>
          </a:prstGeom>
          <a:noFill/>
          <a:ln>
            <a:solidFill>
              <a:srgbClr val="0042FF">
                <a:alpha val="70000"/>
              </a:srgbClr>
            </a:solidFill>
            <a:prstDash val="sysDash"/>
          </a:ln>
          <a:extLst>
            <a:ext uri="{909E8E84-426E-40DD-AFC4-6F175D3DCCD1}">
              <a14:hiddenFill xmlns:a14="http://schemas.microsoft.com/office/drawing/2010/main">
                <a:solidFill>
                  <a:srgbClr val="0042FF">
                    <a:alpha val="50000"/>
                  </a:srgbClr>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0" name="文本框 69"/>
          <p:cNvSpPr txBox="1"/>
          <p:nvPr/>
        </p:nvSpPr>
        <p:spPr>
          <a:xfrm>
            <a:off x="4973320" y="2261870"/>
            <a:ext cx="61658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组织敏捷</a:t>
            </a:r>
            <a:endParaRPr lang="zh-CN" altLang="en-US" sz="1000">
              <a:solidFill>
                <a:srgbClr val="383838"/>
              </a:solidFill>
              <a:latin typeface="微软雅黑"/>
              <a:ea typeface="微软雅黑"/>
              <a:cs typeface="微软雅黑"/>
            </a:endParaRPr>
          </a:p>
        </p:txBody>
      </p:sp>
      <p:sp>
        <p:nvSpPr>
          <p:cNvPr id="71" name="文本框 70"/>
          <p:cNvSpPr txBox="1"/>
          <p:nvPr/>
        </p:nvSpPr>
        <p:spPr>
          <a:xfrm>
            <a:off x="6113145" y="2236470"/>
            <a:ext cx="616585" cy="2139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思维重塑</a:t>
            </a:r>
            <a:endParaRPr lang="zh-CN" altLang="en-US" sz="1000">
              <a:solidFill>
                <a:srgbClr val="383838"/>
              </a:solidFill>
              <a:latin typeface="微软雅黑"/>
              <a:ea typeface="微软雅黑"/>
              <a:cs typeface="微软雅黑"/>
            </a:endParaRPr>
          </a:p>
        </p:txBody>
      </p:sp>
      <p:sp>
        <p:nvSpPr>
          <p:cNvPr id="72" name="文本框 71"/>
          <p:cNvSpPr txBox="1"/>
          <p:nvPr/>
        </p:nvSpPr>
        <p:spPr>
          <a:xfrm>
            <a:off x="7026275" y="2276475"/>
            <a:ext cx="616585" cy="2139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人才转型</a:t>
            </a:r>
            <a:endParaRPr lang="zh-CN" altLang="en-US" sz="1000">
              <a:solidFill>
                <a:srgbClr val="383838"/>
              </a:solidFill>
              <a:latin typeface="微软雅黑"/>
              <a:ea typeface="微软雅黑"/>
              <a:cs typeface="微软雅黑"/>
            </a:endParaRPr>
          </a:p>
        </p:txBody>
      </p:sp>
      <p:sp>
        <p:nvSpPr>
          <p:cNvPr id="73" name="文本框 72"/>
          <p:cNvSpPr txBox="1"/>
          <p:nvPr/>
        </p:nvSpPr>
        <p:spPr>
          <a:xfrm>
            <a:off x="5260340" y="2696845"/>
            <a:ext cx="616585" cy="2139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流程高效</a:t>
            </a:r>
            <a:endParaRPr lang="zh-CN" altLang="en-US" sz="1000">
              <a:solidFill>
                <a:srgbClr val="383838"/>
              </a:solidFill>
              <a:latin typeface="微软雅黑"/>
              <a:ea typeface="微软雅黑"/>
              <a:cs typeface="微软雅黑"/>
            </a:endParaRPr>
          </a:p>
        </p:txBody>
      </p:sp>
      <p:sp>
        <p:nvSpPr>
          <p:cNvPr id="74" name="文本框 73"/>
          <p:cNvSpPr txBox="1"/>
          <p:nvPr/>
        </p:nvSpPr>
        <p:spPr>
          <a:xfrm>
            <a:off x="6096000" y="2696845"/>
            <a:ext cx="616585" cy="2139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绩效精准</a:t>
            </a:r>
            <a:endParaRPr lang="zh-CN" altLang="en-US" sz="1000">
              <a:solidFill>
                <a:srgbClr val="383838"/>
              </a:solidFill>
              <a:latin typeface="微软雅黑"/>
              <a:ea typeface="微软雅黑"/>
              <a:cs typeface="微软雅黑"/>
            </a:endParaRPr>
          </a:p>
        </p:txBody>
      </p:sp>
      <p:sp>
        <p:nvSpPr>
          <p:cNvPr id="77" name="椭圆 76"/>
          <p:cNvSpPr/>
          <p:nvPr/>
        </p:nvSpPr>
        <p:spPr>
          <a:xfrm>
            <a:off x="4213860" y="3936365"/>
            <a:ext cx="3590925" cy="236855"/>
          </a:xfrm>
          <a:prstGeom prst="ellipse">
            <a:avLst/>
          </a:prstGeom>
          <a:solidFill>
            <a:srgbClr val="FFFFFF">
              <a:alpha val="8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8" name="椭圆 77"/>
          <p:cNvSpPr/>
          <p:nvPr/>
        </p:nvSpPr>
        <p:spPr>
          <a:xfrm>
            <a:off x="4256405" y="3756025"/>
            <a:ext cx="1816735" cy="200025"/>
          </a:xfrm>
          <a:prstGeom prst="ellipse">
            <a:avLst/>
          </a:prstGeom>
          <a:noFill/>
          <a:ln>
            <a:solidFill>
              <a:srgbClr val="3368FF">
                <a:alpha val="70000"/>
              </a:srgbClr>
            </a:solidFill>
            <a:prstDash val="sysDash"/>
          </a:ln>
          <a:extLst>
            <a:ext uri="{909E8E84-426E-40DD-AFC4-6F175D3DCCD1}">
              <a14:hiddenFill xmlns:a14="http://schemas.microsoft.com/office/drawing/2010/main">
                <a:solidFill>
                  <a:srgbClr val="0042FF">
                    <a:alpha val="50000"/>
                  </a:srgbClr>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9" name="椭圆 78"/>
          <p:cNvSpPr/>
          <p:nvPr/>
        </p:nvSpPr>
        <p:spPr>
          <a:xfrm>
            <a:off x="5938520" y="3756025"/>
            <a:ext cx="1816735" cy="200025"/>
          </a:xfrm>
          <a:prstGeom prst="ellipse">
            <a:avLst/>
          </a:prstGeom>
          <a:noFill/>
          <a:ln>
            <a:solidFill>
              <a:srgbClr val="3368FF">
                <a:alpha val="70000"/>
              </a:srgbClr>
            </a:solidFill>
            <a:prstDash val="sysDash"/>
          </a:ln>
          <a:extLst>
            <a:ext uri="{909E8E84-426E-40DD-AFC4-6F175D3DCCD1}">
              <a14:hiddenFill xmlns:a14="http://schemas.microsoft.com/office/drawing/2010/main">
                <a:solidFill>
                  <a:srgbClr val="0042FF">
                    <a:alpha val="50000"/>
                  </a:srgbClr>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0" name="文本框 79"/>
          <p:cNvSpPr txBox="1"/>
          <p:nvPr/>
        </p:nvSpPr>
        <p:spPr>
          <a:xfrm>
            <a:off x="3938905" y="3442335"/>
            <a:ext cx="61658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智能汽车</a:t>
            </a:r>
            <a:endParaRPr lang="zh-CN" altLang="en-US" sz="1000">
              <a:solidFill>
                <a:srgbClr val="383838"/>
              </a:solidFill>
              <a:latin typeface="微软雅黑"/>
              <a:ea typeface="微软雅黑"/>
              <a:cs typeface="微软雅黑"/>
            </a:endParaRPr>
          </a:p>
        </p:txBody>
      </p:sp>
      <p:sp>
        <p:nvSpPr>
          <p:cNvPr id="81" name="文本框 80"/>
          <p:cNvSpPr txBox="1"/>
          <p:nvPr/>
        </p:nvSpPr>
        <p:spPr>
          <a:xfrm>
            <a:off x="4544060" y="3364230"/>
            <a:ext cx="817245" cy="18859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数字研发中心</a:t>
            </a:r>
            <a:endParaRPr lang="zh-CN" altLang="en-US" sz="1000">
              <a:solidFill>
                <a:srgbClr val="383838"/>
              </a:solidFill>
              <a:latin typeface="微软雅黑"/>
              <a:ea typeface="微软雅黑"/>
              <a:cs typeface="微软雅黑"/>
            </a:endParaRPr>
          </a:p>
        </p:txBody>
      </p:sp>
      <p:sp>
        <p:nvSpPr>
          <p:cNvPr id="82" name="文本框 81"/>
          <p:cNvSpPr txBox="1"/>
          <p:nvPr/>
        </p:nvSpPr>
        <p:spPr>
          <a:xfrm>
            <a:off x="5320030" y="3380740"/>
            <a:ext cx="720090"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数字化交付</a:t>
            </a:r>
            <a:endParaRPr lang="zh-CN" altLang="en-US" sz="1000">
              <a:solidFill>
                <a:srgbClr val="383838"/>
              </a:solidFill>
              <a:latin typeface="微软雅黑"/>
              <a:ea typeface="微软雅黑"/>
              <a:cs typeface="微软雅黑"/>
            </a:endParaRPr>
          </a:p>
        </p:txBody>
      </p:sp>
      <p:sp>
        <p:nvSpPr>
          <p:cNvPr id="83" name="文本框 82"/>
          <p:cNvSpPr txBox="1"/>
          <p:nvPr/>
        </p:nvSpPr>
        <p:spPr>
          <a:xfrm>
            <a:off x="6348095" y="3429000"/>
            <a:ext cx="85026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远程诊断支持</a:t>
            </a:r>
            <a:endParaRPr lang="zh-CN" altLang="en-US" sz="1000">
              <a:solidFill>
                <a:srgbClr val="383838"/>
              </a:solidFill>
              <a:latin typeface="微软雅黑"/>
              <a:ea typeface="微软雅黑"/>
              <a:cs typeface="微软雅黑"/>
            </a:endParaRPr>
          </a:p>
        </p:txBody>
      </p:sp>
      <p:sp>
        <p:nvSpPr>
          <p:cNvPr id="84" name="文本框 83"/>
          <p:cNvSpPr txBox="1"/>
          <p:nvPr/>
        </p:nvSpPr>
        <p:spPr>
          <a:xfrm>
            <a:off x="7098665" y="3455670"/>
            <a:ext cx="61658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金融科技</a:t>
            </a:r>
            <a:endParaRPr lang="zh-CN" altLang="en-US" sz="1000">
              <a:solidFill>
                <a:srgbClr val="383838"/>
              </a:solidFill>
              <a:latin typeface="微软雅黑"/>
              <a:ea typeface="微软雅黑"/>
              <a:cs typeface="微软雅黑"/>
            </a:endParaRPr>
          </a:p>
        </p:txBody>
      </p:sp>
      <p:sp>
        <p:nvSpPr>
          <p:cNvPr id="85" name="文本框 84"/>
          <p:cNvSpPr txBox="1"/>
          <p:nvPr/>
        </p:nvSpPr>
        <p:spPr>
          <a:xfrm>
            <a:off x="6864985" y="3952875"/>
            <a:ext cx="61658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平台运营</a:t>
            </a:r>
            <a:endParaRPr lang="zh-CN" altLang="en-US" sz="1000">
              <a:solidFill>
                <a:srgbClr val="383838"/>
              </a:solidFill>
              <a:latin typeface="微软雅黑"/>
              <a:ea typeface="微软雅黑"/>
              <a:cs typeface="微软雅黑"/>
            </a:endParaRPr>
          </a:p>
        </p:txBody>
      </p:sp>
      <p:sp>
        <p:nvSpPr>
          <p:cNvPr id="86" name="文本框 85"/>
          <p:cNvSpPr txBox="1"/>
          <p:nvPr/>
        </p:nvSpPr>
        <p:spPr>
          <a:xfrm>
            <a:off x="6097905" y="3966210"/>
            <a:ext cx="812800" cy="190500"/>
          </a:xfrm>
          <a:prstGeom prst="rect">
            <a:avLst/>
          </a:prstGeom>
          <a:noFill/>
        </p:spPr>
        <p:txBody>
          <a:bodyPr wrap="square" rtlCol="0" lIns="0" rIns="0" tIns="0" bIns="0" anchor="ctr">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移动出行服务</a:t>
            </a:r>
            <a:endParaRPr lang="zh-CN" altLang="en-US" sz="1000">
              <a:solidFill>
                <a:srgbClr val="383838"/>
              </a:solidFill>
              <a:latin typeface="微软雅黑"/>
              <a:ea typeface="微软雅黑"/>
              <a:cs typeface="微软雅黑"/>
            </a:endParaRPr>
          </a:p>
        </p:txBody>
      </p:sp>
      <p:sp>
        <p:nvSpPr>
          <p:cNvPr id="87" name="文本框 86"/>
          <p:cNvSpPr txBox="1"/>
          <p:nvPr/>
        </p:nvSpPr>
        <p:spPr>
          <a:xfrm>
            <a:off x="5307330" y="3952875"/>
            <a:ext cx="61658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智能工厂</a:t>
            </a:r>
            <a:endParaRPr lang="zh-CN" altLang="en-US" sz="1000">
              <a:solidFill>
                <a:srgbClr val="383838"/>
              </a:solidFill>
              <a:latin typeface="微软雅黑"/>
              <a:ea typeface="微软雅黑"/>
              <a:cs typeface="微软雅黑"/>
            </a:endParaRPr>
          </a:p>
        </p:txBody>
      </p:sp>
      <p:sp>
        <p:nvSpPr>
          <p:cNvPr id="88" name="文本框 87"/>
          <p:cNvSpPr txBox="1"/>
          <p:nvPr/>
        </p:nvSpPr>
        <p:spPr>
          <a:xfrm>
            <a:off x="4381500" y="3956050"/>
            <a:ext cx="878205" cy="313690"/>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智慧</a:t>
            </a: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充电网络</a:t>
            </a:r>
            <a:endParaRPr lang="zh-CN" altLang="en-US" sz="1000">
              <a:solidFill>
                <a:srgbClr val="383838"/>
              </a:solidFill>
              <a:latin typeface="微软雅黑"/>
              <a:ea typeface="微软雅黑"/>
              <a:cs typeface="微软雅黑"/>
            </a:endParaRPr>
          </a:p>
        </p:txBody>
      </p:sp>
      <p:sp>
        <p:nvSpPr>
          <p:cNvPr id="89" name="文本框 88"/>
          <p:cNvSpPr txBox="1"/>
          <p:nvPr/>
        </p:nvSpPr>
        <p:spPr>
          <a:xfrm>
            <a:off x="5793740" y="3543300"/>
            <a:ext cx="61658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智能运营</a:t>
            </a:r>
            <a:endParaRPr lang="zh-CN" altLang="en-US" sz="1000" b="1">
              <a:solidFill>
                <a:srgbClr val="383838"/>
              </a:solidFill>
              <a:latin typeface="微软雅黑"/>
              <a:ea typeface="微软雅黑"/>
              <a:cs typeface="微软雅黑"/>
            </a:endParaRPr>
          </a:p>
        </p:txBody>
      </p:sp>
      <p:sp>
        <p:nvSpPr>
          <p:cNvPr id="90" name="文本框 89"/>
          <p:cNvSpPr txBox="1"/>
          <p:nvPr/>
        </p:nvSpPr>
        <p:spPr>
          <a:xfrm>
            <a:off x="7657465" y="3871595"/>
            <a:ext cx="61658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电子商务</a:t>
            </a:r>
            <a:endParaRPr lang="zh-CN" altLang="en-US" sz="1000">
              <a:solidFill>
                <a:srgbClr val="383838"/>
              </a:solidFill>
              <a:latin typeface="微软雅黑"/>
              <a:ea typeface="微软雅黑"/>
              <a:cs typeface="微软雅黑"/>
            </a:endParaRPr>
          </a:p>
        </p:txBody>
      </p:sp>
      <p:sp>
        <p:nvSpPr>
          <p:cNvPr id="92" name="弧形 91"/>
          <p:cNvSpPr/>
          <p:nvPr/>
        </p:nvSpPr>
        <p:spPr>
          <a:xfrm>
            <a:off x="5840095" y="3714115"/>
            <a:ext cx="361315" cy="440690"/>
          </a:xfrm>
          <a:prstGeom prst="arc">
            <a:avLst>
              <a:gd name="adj1" fmla="val 12349429"/>
              <a:gd name="adj2" fmla="val 20491877"/>
            </a:avLst>
          </a:prstGeom>
          <a:ln>
            <a:solidFill>
              <a:srgbClr val="3368FF"/>
            </a:solidFill>
            <a:tailEnd type="triangle" w="sm" len="med"/>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4" name="矩形 93"/>
          <p:cNvSpPr/>
          <p:nvPr/>
        </p:nvSpPr>
        <p:spPr>
          <a:xfrm>
            <a:off x="5465445" y="4240530"/>
            <a:ext cx="1247140" cy="17145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业务转型</a:t>
            </a:r>
            <a:endParaRPr lang="zh-CN" altLang="en-US" sz="1000">
              <a:solidFill>
                <a:srgbClr val="FFFFFF"/>
              </a:solidFill>
              <a:cs typeface="微软雅黑"/>
              <a:latin typeface="微软雅黑"/>
              <a:ea typeface="微软雅黑"/>
            </a:endParaRPr>
          </a:p>
        </p:txBody>
      </p:sp>
      <p:sp>
        <p:nvSpPr>
          <p:cNvPr id="95" name="文本框 94"/>
          <p:cNvSpPr txBox="1"/>
          <p:nvPr/>
        </p:nvSpPr>
        <p:spPr>
          <a:xfrm>
            <a:off x="5739130" y="4378960"/>
            <a:ext cx="723900" cy="1860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价值引领</a:t>
            </a:r>
            <a:endParaRPr lang="zh-CN" altLang="en-US" sz="1000">
              <a:solidFill>
                <a:srgbClr val="383838"/>
              </a:solidFill>
              <a:latin typeface="微软雅黑"/>
              <a:ea typeface="微软雅黑"/>
              <a:cs typeface="微软雅黑"/>
            </a:endParaRPr>
          </a:p>
        </p:txBody>
      </p:sp>
      <p:sp>
        <p:nvSpPr>
          <p:cNvPr id="98" name="椭圆 97"/>
          <p:cNvSpPr/>
          <p:nvPr/>
        </p:nvSpPr>
        <p:spPr>
          <a:xfrm>
            <a:off x="4644390" y="5292090"/>
            <a:ext cx="2861945" cy="236855"/>
          </a:xfrm>
          <a:prstGeom prst="ellipse">
            <a:avLst/>
          </a:prstGeom>
          <a:solidFill>
            <a:srgbClr val="E6E6E6">
              <a:alpha val="5000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9" name="椭圆 98"/>
          <p:cNvSpPr/>
          <p:nvPr/>
        </p:nvSpPr>
        <p:spPr>
          <a:xfrm>
            <a:off x="4721860" y="5135245"/>
            <a:ext cx="2719070" cy="200025"/>
          </a:xfrm>
          <a:prstGeom prst="ellipse">
            <a:avLst/>
          </a:prstGeom>
          <a:noFill/>
          <a:ln>
            <a:solidFill>
              <a:srgbClr val="3368FF">
                <a:alpha val="70000"/>
              </a:srgbClr>
            </a:solidFill>
            <a:prstDash val="sysDash"/>
          </a:ln>
          <a:extLst>
            <a:ext uri="{909E8E84-426E-40DD-AFC4-6F175D3DCCD1}">
              <a14:hiddenFill xmlns:a14="http://schemas.microsoft.com/office/drawing/2010/main">
                <a:solidFill>
                  <a:srgbClr val="0042FF">
                    <a:alpha val="50000"/>
                  </a:srgbClr>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1" name="文本框 100"/>
          <p:cNvSpPr txBox="1"/>
          <p:nvPr/>
        </p:nvSpPr>
        <p:spPr>
          <a:xfrm>
            <a:off x="4585970" y="4794885"/>
            <a:ext cx="954405"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全球价值链协同</a:t>
            </a:r>
            <a:endParaRPr lang="zh-CN" altLang="en-US" sz="1000">
              <a:solidFill>
                <a:srgbClr val="383838"/>
              </a:solidFill>
              <a:latin typeface="微软雅黑"/>
              <a:ea typeface="微软雅黑"/>
              <a:cs typeface="微软雅黑"/>
            </a:endParaRPr>
          </a:p>
        </p:txBody>
      </p:sp>
      <p:sp>
        <p:nvSpPr>
          <p:cNvPr id="102" name="文本框 101"/>
          <p:cNvSpPr txBox="1"/>
          <p:nvPr/>
        </p:nvSpPr>
        <p:spPr>
          <a:xfrm>
            <a:off x="5753100" y="4788535"/>
            <a:ext cx="1010920" cy="313690"/>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数据驱动智能服务</a:t>
            </a:r>
            <a:endParaRPr lang="zh-CN" altLang="en-US" sz="1000">
              <a:solidFill>
                <a:srgbClr val="383838"/>
              </a:solidFill>
              <a:latin typeface="微软雅黑"/>
              <a:ea typeface="微软雅黑"/>
              <a:cs typeface="微软雅黑"/>
            </a:endParaRPr>
          </a:p>
        </p:txBody>
      </p:sp>
      <p:sp>
        <p:nvSpPr>
          <p:cNvPr id="103" name="文本框 102"/>
          <p:cNvSpPr txBox="1"/>
          <p:nvPr/>
        </p:nvSpPr>
        <p:spPr>
          <a:xfrm>
            <a:off x="6806565" y="4801870"/>
            <a:ext cx="811530" cy="188595"/>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应用敏捷交付</a:t>
            </a:r>
            <a:endParaRPr lang="zh-CN" altLang="en-US" sz="1000">
              <a:solidFill>
                <a:srgbClr val="383838"/>
              </a:solidFill>
              <a:latin typeface="微软雅黑"/>
              <a:ea typeface="微软雅黑"/>
              <a:cs typeface="微软雅黑"/>
            </a:endParaRPr>
          </a:p>
        </p:txBody>
      </p:sp>
      <p:sp>
        <p:nvSpPr>
          <p:cNvPr id="105" name="文本框 104"/>
          <p:cNvSpPr txBox="1"/>
          <p:nvPr/>
        </p:nvSpPr>
        <p:spPr>
          <a:xfrm>
            <a:off x="4938395" y="5354320"/>
            <a:ext cx="1058545" cy="18859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云原生与能力开放</a:t>
            </a:r>
            <a:endParaRPr lang="zh-CN" altLang="en-US" sz="1000">
              <a:solidFill>
                <a:srgbClr val="383838"/>
              </a:solidFill>
              <a:latin typeface="微软雅黑"/>
              <a:ea typeface="微软雅黑"/>
              <a:cs typeface="微软雅黑"/>
            </a:endParaRPr>
          </a:p>
        </p:txBody>
      </p:sp>
      <p:sp>
        <p:nvSpPr>
          <p:cNvPr id="106" name="文本框 105"/>
          <p:cNvSpPr txBox="1"/>
          <p:nvPr/>
        </p:nvSpPr>
        <p:spPr>
          <a:xfrm>
            <a:off x="6159500" y="5264785"/>
            <a:ext cx="1136015" cy="313690"/>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5G + AI + </a:t>
            </a:r>
            <a:r>
              <a:rPr lang="zh-CN" altLang="en-US" sz="1000">
                <a:solidFill>
                  <a:srgbClr val="383838"/>
                </a:solidFill>
                <a:latin typeface="微软雅黑"/>
                <a:ea typeface="微软雅黑"/>
                <a:cs typeface="微软雅黑"/>
              </a:rPr>
              <a:t>云</a:t>
            </a:r>
            <a:r>
              <a:rPr lang="en-US" altLang="zh-CN" sz="1000">
                <a:solidFill>
                  <a:srgbClr val="383838"/>
                </a:solidFill>
                <a:latin typeface="微软雅黑"/>
                <a:ea typeface="微软雅黑"/>
                <a:cs typeface="微软雅黑"/>
              </a:rPr>
              <a:t> + </a:t>
            </a:r>
            <a:r>
              <a:rPr lang="zh-CN" altLang="en-US" sz="1000">
                <a:solidFill>
                  <a:srgbClr val="383838"/>
                </a:solidFill>
                <a:latin typeface="微软雅黑"/>
                <a:ea typeface="微软雅黑"/>
                <a:cs typeface="微软雅黑"/>
              </a:rPr>
              <a:t>边缘</a:t>
            </a:r>
            <a:endParaRPr lang="zh-CN" altLang="en-US" sz="1000">
              <a:solidFill>
                <a:srgbClr val="383838"/>
              </a:solidFill>
              <a:latin typeface="微软雅黑"/>
              <a:ea typeface="微软雅黑"/>
              <a:cs typeface="微软雅黑"/>
            </a:endParaRPr>
          </a:p>
        </p:txBody>
      </p:sp>
      <p:sp>
        <p:nvSpPr>
          <p:cNvPr id="185" name="矩形 184"/>
          <p:cNvSpPr/>
          <p:nvPr/>
        </p:nvSpPr>
        <p:spPr>
          <a:xfrm>
            <a:off x="5649595" y="1323975"/>
            <a:ext cx="864235" cy="26416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01" name="矩形 200"/>
          <p:cNvSpPr/>
          <p:nvPr/>
        </p:nvSpPr>
        <p:spPr>
          <a:xfrm>
            <a:off x="5465445" y="2915285"/>
            <a:ext cx="1252220" cy="177800"/>
          </a:xfrm>
          <a:prstGeom prst="rect">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组织转型</a:t>
            </a:r>
            <a:endParaRPr lang="zh-CN" altLang="en-US" sz="1000">
              <a:solidFill>
                <a:srgbClr val="FFFFFF"/>
              </a:solidFill>
              <a:cs typeface="微软雅黑"/>
              <a:latin typeface="微软雅黑"/>
              <a:ea typeface="微软雅黑"/>
            </a:endParaRPr>
          </a:p>
        </p:txBody>
      </p:sp>
      <p:sp>
        <p:nvSpPr>
          <p:cNvPr id="202" name="文本框 201"/>
          <p:cNvSpPr txBox="1"/>
          <p:nvPr/>
        </p:nvSpPr>
        <p:spPr>
          <a:xfrm>
            <a:off x="5734050" y="3077210"/>
            <a:ext cx="723900" cy="1860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一体化优化</a:t>
            </a:r>
            <a:endParaRPr lang="zh-CN" altLang="en-US" sz="1000">
              <a:solidFill>
                <a:srgbClr val="383838"/>
              </a:solidFill>
              <a:latin typeface="微软雅黑"/>
              <a:ea typeface="微软雅黑"/>
              <a:cs typeface="微软雅黑"/>
            </a:endParaRPr>
          </a:p>
        </p:txBody>
      </p:sp>
      <p:sp>
        <p:nvSpPr>
          <p:cNvPr id="203" name="矩形 202"/>
          <p:cNvSpPr/>
          <p:nvPr/>
        </p:nvSpPr>
        <p:spPr>
          <a:xfrm>
            <a:off x="5464810" y="5591175"/>
            <a:ext cx="1247140" cy="17780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sym typeface="微软雅黑"/>
                <a:latin typeface="微软雅黑"/>
                <a:ea typeface="微软雅黑"/>
              </a:rPr>
              <a:t>技术转型</a:t>
            </a:r>
            <a:endParaRPr lang="zh-CN" altLang="en-US" sz="1000">
              <a:solidFill>
                <a:srgbClr val="FFFFFF"/>
              </a:solidFill>
              <a:cs typeface="微软雅黑"/>
              <a:sym typeface="微软雅黑"/>
              <a:latin typeface="微软雅黑"/>
              <a:ea typeface="微软雅黑"/>
            </a:endParaRPr>
          </a:p>
        </p:txBody>
      </p:sp>
      <p:sp>
        <p:nvSpPr>
          <p:cNvPr id="204" name="文本框 203"/>
          <p:cNvSpPr txBox="1"/>
          <p:nvPr/>
        </p:nvSpPr>
        <p:spPr>
          <a:xfrm>
            <a:off x="5734050" y="5752465"/>
            <a:ext cx="723900" cy="1860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互联互通</a:t>
            </a:r>
            <a:endParaRPr lang="zh-CN" altLang="en-US" sz="1000">
              <a:solidFill>
                <a:srgbClr val="383838"/>
              </a:solidFill>
              <a:latin typeface="微软雅黑"/>
              <a:ea typeface="微软雅黑"/>
              <a:cs typeface="微软雅黑"/>
            </a:endParaRPr>
          </a:p>
        </p:txBody>
      </p:sp>
      <p:pic>
        <p:nvPicPr>
          <p:cNvPr id="209" name="图片 208" descr="微信推广-核心优势-1"/>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767580" y="2232660"/>
            <a:ext cx="259715" cy="259715"/>
          </a:xfrm>
          <a:prstGeom prst="rect">
            <a:avLst/>
          </a:prstGeom>
        </p:spPr>
      </p:pic>
      <p:pic>
        <p:nvPicPr>
          <p:cNvPr id="210" name="图片 209" descr="头脑风暴室"/>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876925" y="2181225"/>
            <a:ext cx="254000" cy="254000"/>
          </a:xfrm>
          <a:prstGeom prst="rect">
            <a:avLst/>
          </a:prstGeom>
        </p:spPr>
      </p:pic>
      <p:pic>
        <p:nvPicPr>
          <p:cNvPr id="211" name="图片 210" descr="被 攻击方"/>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840855" y="2209165"/>
            <a:ext cx="281305" cy="281305"/>
          </a:xfrm>
          <a:prstGeom prst="rect">
            <a:avLst/>
          </a:prstGeom>
        </p:spPr>
      </p:pic>
      <p:pic>
        <p:nvPicPr>
          <p:cNvPr id="214" name="图片 213" descr="汽车_速度表"/>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309995" y="2526030"/>
            <a:ext cx="168275" cy="168275"/>
          </a:xfrm>
          <a:prstGeom prst="rect">
            <a:avLst/>
          </a:prstGeom>
        </p:spPr>
      </p:pic>
      <p:pic>
        <p:nvPicPr>
          <p:cNvPr id="215" name="图片 214" descr="icon-modularity"/>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517515" y="2526030"/>
            <a:ext cx="156210" cy="147320"/>
          </a:xfrm>
          <a:prstGeom prst="rect">
            <a:avLst/>
          </a:prstGeom>
        </p:spPr>
      </p:pic>
      <p:pic>
        <p:nvPicPr>
          <p:cNvPr id="217" name="图片 216" descr="车联网"/>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4165918" y="3630930"/>
            <a:ext cx="162560" cy="162560"/>
          </a:xfrm>
          <a:prstGeom prst="rect">
            <a:avLst/>
          </a:prstGeom>
        </p:spPr>
      </p:pic>
      <p:pic>
        <p:nvPicPr>
          <p:cNvPr id="218" name="图片 217" descr="gui_fan_cai_gou"/>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4815840" y="3539490"/>
            <a:ext cx="182245" cy="182245"/>
          </a:xfrm>
          <a:prstGeom prst="rect">
            <a:avLst/>
          </a:prstGeom>
        </p:spPr>
      </p:pic>
      <p:pic>
        <p:nvPicPr>
          <p:cNvPr id="220" name="图片 219" descr="充电桩"/>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4773295" y="3776980"/>
            <a:ext cx="175895" cy="175895"/>
          </a:xfrm>
          <a:prstGeom prst="rect">
            <a:avLst/>
          </a:prstGeom>
        </p:spPr>
      </p:pic>
      <p:pic>
        <p:nvPicPr>
          <p:cNvPr id="221" name="图片 220" descr="智能工厂"/>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5450840" y="3804285"/>
            <a:ext cx="125095" cy="125095"/>
          </a:xfrm>
          <a:prstGeom prst="rect">
            <a:avLst/>
          </a:prstGeom>
        </p:spPr>
      </p:pic>
      <p:pic>
        <p:nvPicPr>
          <p:cNvPr id="222" name="图片 221" descr="云端布展"/>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5450840" y="5172075"/>
            <a:ext cx="139065" cy="130810"/>
          </a:xfrm>
          <a:prstGeom prst="rect">
            <a:avLst/>
          </a:prstGeom>
        </p:spPr>
      </p:pic>
      <p:pic>
        <p:nvPicPr>
          <p:cNvPr id="223" name="图片 222" descr="平台运营"/>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7026275" y="3790950"/>
            <a:ext cx="149860" cy="149860"/>
          </a:xfrm>
          <a:prstGeom prst="rect">
            <a:avLst/>
          </a:prstGeom>
        </p:spPr>
      </p:pic>
      <p:pic>
        <p:nvPicPr>
          <p:cNvPr id="224" name="图片 223" descr="金融科技"/>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7268845" y="3603625"/>
            <a:ext cx="154305" cy="139065"/>
          </a:xfrm>
          <a:prstGeom prst="rect">
            <a:avLst/>
          </a:prstGeom>
        </p:spPr>
      </p:pic>
      <p:pic>
        <p:nvPicPr>
          <p:cNvPr id="225" name="图片 224" descr="数字化交付icon"/>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5540375" y="3574415"/>
            <a:ext cx="149860" cy="149860"/>
          </a:xfrm>
          <a:prstGeom prst="rect">
            <a:avLst/>
          </a:prstGeom>
        </p:spPr>
      </p:pic>
      <p:pic>
        <p:nvPicPr>
          <p:cNvPr id="226" name="图片 225" descr="远程诊断"/>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6650990" y="3569335"/>
            <a:ext cx="154940" cy="154940"/>
          </a:xfrm>
          <a:prstGeom prst="rect">
            <a:avLst/>
          </a:prstGeom>
        </p:spPr>
      </p:pic>
      <p:pic>
        <p:nvPicPr>
          <p:cNvPr id="227" name="图片 226" descr="电子商务"/>
          <p:cNvPicPr>
            <a:picLocks noChangeAspect="1"/>
          </p:cNvPicPr>
          <p:nvPr/>
        </p:nvPicPr>
        <p:blipFill>
          <a:blip r:embed="rId31">
            <a:extLst>
              <a:ext uri="{96DAC541-7B7A-43D3-8B79-37D633B846F1}">
                <asvg:svgBlip xmlns:asvg="http://schemas.microsoft.com/office/drawing/2016/SVG/main" r:embed="rId32"/>
              </a:ext>
            </a:extLst>
          </a:blip>
          <a:stretch>
            <a:fillRect/>
          </a:stretch>
        </p:blipFill>
        <p:spPr>
          <a:xfrm>
            <a:off x="7804785" y="3693795"/>
            <a:ext cx="177800" cy="177800"/>
          </a:xfrm>
          <a:prstGeom prst="rect">
            <a:avLst/>
          </a:prstGeom>
        </p:spPr>
      </p:pic>
      <p:pic>
        <p:nvPicPr>
          <p:cNvPr id="228" name="图片 227" descr="交付"/>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7097395" y="4974590"/>
            <a:ext cx="171450" cy="171450"/>
          </a:xfrm>
          <a:prstGeom prst="rect">
            <a:avLst/>
          </a:prstGeom>
        </p:spPr>
      </p:pic>
      <p:pic>
        <p:nvPicPr>
          <p:cNvPr id="229" name="图片 228" descr="saas_巡检车-01"/>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6405880" y="3804285"/>
            <a:ext cx="130175" cy="130175"/>
          </a:xfrm>
          <a:prstGeom prst="rect">
            <a:avLst/>
          </a:prstGeom>
        </p:spPr>
      </p:pic>
      <p:pic>
        <p:nvPicPr>
          <p:cNvPr id="230" name="图片 229" descr="集中管理"/>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4938395" y="4970145"/>
            <a:ext cx="175895" cy="175895"/>
          </a:xfrm>
          <a:prstGeom prst="rect">
            <a:avLst/>
          </a:prstGeom>
        </p:spPr>
      </p:pic>
      <p:pic>
        <p:nvPicPr>
          <p:cNvPr id="231" name="图片 230" descr="数据驱动决策"/>
          <p:cNvPicPr>
            <a:picLocks noChangeAspect="1"/>
          </p:cNvPicPr>
          <p:nvPr/>
        </p:nvPicPr>
        <p:blipFill>
          <a:blip r:embed="rId39">
            <a:extLst>
              <a:ext uri="{96DAC541-7B7A-43D3-8B79-37D633B846F1}">
                <asvg:svgBlip xmlns:asvg="http://schemas.microsoft.com/office/drawing/2016/SVG/main" r:embed="rId40"/>
              </a:ext>
            </a:extLst>
          </a:blip>
          <a:stretch>
            <a:fillRect/>
          </a:stretch>
        </p:blipFill>
        <p:spPr>
          <a:xfrm>
            <a:off x="6142990" y="4949190"/>
            <a:ext cx="167005" cy="167005"/>
          </a:xfrm>
          <a:prstGeom prst="rect">
            <a:avLst/>
          </a:prstGeom>
        </p:spPr>
      </p:pic>
      <p:pic>
        <p:nvPicPr>
          <p:cNvPr id="232" name="图片 231" descr="AI"/>
          <p:cNvPicPr>
            <a:picLocks noChangeAspect="1"/>
          </p:cNvPicPr>
          <p:nvPr/>
        </p:nvPicPr>
        <p:blipFill>
          <a:blip r:embed="rId41">
            <a:extLst>
              <a:ext uri="{96DAC541-7B7A-43D3-8B79-37D633B846F1}">
                <asvg:svgBlip xmlns:asvg="http://schemas.microsoft.com/office/drawing/2016/SVG/main" r:embed="rId42"/>
              </a:ext>
            </a:extLst>
          </a:blip>
          <a:stretch>
            <a:fillRect/>
          </a:stretch>
        </p:blipFill>
        <p:spPr>
          <a:xfrm>
            <a:off x="6495415" y="5158740"/>
            <a:ext cx="155575" cy="155575"/>
          </a:xfrm>
          <a:prstGeom prst="rect">
            <a:avLst/>
          </a:prstGeom>
        </p:spPr>
      </p:pic>
      <p:cxnSp>
        <p:nvCxnSpPr>
          <p:cNvPr id="268" name="直接连接符 267"/>
          <p:cNvCxnSpPr/>
          <p:nvPr/>
        </p:nvCxnSpPr>
        <p:spPr>
          <a:xfrm flipV="1">
            <a:off x="286385" y="3930968"/>
            <a:ext cx="2956560" cy="6985"/>
          </a:xfrm>
          <a:prstGeom prst="line">
            <a:avLst/>
          </a:prstGeom>
          <a:ln w="25400">
            <a:solidFill>
              <a:srgbClr val="3368FF"/>
            </a:solidFill>
            <a:prstDash val="sysDash"/>
            <a:headEnd type="oval"/>
            <a:tailEnd type="oval"/>
          </a:ln>
        </p:spPr>
        <p:style>
          <a:lnRef idx="2">
            <a:srgbClr val="0042FF"/>
          </a:lnRef>
          <a:fillRef idx="0">
            <a:srgbClr val="FFFFFF"/>
          </a:fillRef>
          <a:effectRef idx="0">
            <a:srgbClr val="FFFFFF"/>
          </a:effectRef>
          <a:fontRef idx="minor">
            <a:srgbClr val="383838"/>
          </a:fontRef>
        </p:style>
      </p:cxnSp>
      <p:cxnSp>
        <p:nvCxnSpPr>
          <p:cNvPr id="269" name="直接连接符 268"/>
          <p:cNvCxnSpPr/>
          <p:nvPr/>
        </p:nvCxnSpPr>
        <p:spPr>
          <a:xfrm>
            <a:off x="8413115" y="5436870"/>
            <a:ext cx="3413760" cy="0"/>
          </a:xfrm>
          <a:prstGeom prst="line">
            <a:avLst/>
          </a:prstGeom>
          <a:ln w="25400">
            <a:solidFill>
              <a:srgbClr val="3368FF"/>
            </a:solidFill>
            <a:prstDash val="sysDash"/>
            <a:headEnd type="oval"/>
            <a:tailEnd type="oval"/>
          </a:ln>
        </p:spPr>
        <p:style>
          <a:lnRef idx="2">
            <a:srgbClr val="0042FF"/>
          </a:lnRef>
          <a:fillRef idx="0">
            <a:srgbClr val="FFFFFF"/>
          </a:fillRef>
          <a:effectRef idx="0">
            <a:srgbClr val="FFFFFF"/>
          </a:effectRef>
          <a:fontRef idx="minor">
            <a:srgbClr val="383838"/>
          </a:fontRef>
        </p:style>
      </p:cxnSp>
      <p:grpSp>
        <p:nvGrpSpPr>
          <p:cNvPr id="270" name="组合 269"/>
          <p:cNvGrpSpPr/>
          <p:nvPr/>
        </p:nvGrpSpPr>
        <p:grpSpPr>
          <a:xfrm>
            <a:off x="286385" y="1898650"/>
            <a:ext cx="3132455" cy="1263015"/>
            <a:chOff x="771" y="2990"/>
            <a:chExt cx="4933" cy="1989"/>
          </a:xfrm>
        </p:grpSpPr>
        <p:sp>
          <p:nvSpPr>
            <p:cNvPr id="271" name="文本框 270"/>
            <p:cNvSpPr txBox="1"/>
            <p:nvPr/>
          </p:nvSpPr>
          <p:spPr>
            <a:xfrm>
              <a:off x="1241" y="2990"/>
              <a:ext cx="4463" cy="48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400" b="1">
                  <a:solidFill>
                    <a:srgbClr val="0042FF"/>
                  </a:solidFill>
                  <a:latin typeface="微软雅黑"/>
                  <a:ea typeface="微软雅黑"/>
                  <a:cs typeface="微软雅黑"/>
                </a:rPr>
                <a:t> </a:t>
              </a:r>
              <a:r>
                <a:rPr lang="zh-CN" altLang="en-US" sz="1400" b="1">
                  <a:solidFill>
                    <a:srgbClr val="0042FF"/>
                  </a:solidFill>
                  <a:latin typeface="微软雅黑"/>
                  <a:ea typeface="微软雅黑"/>
                  <a:cs typeface="微软雅黑"/>
                </a:rPr>
                <a:t>第一层：组织转型</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模式再造</a:t>
              </a:r>
              <a:endParaRPr lang="zh-CN" altLang="en-US" sz="1400" b="1">
                <a:solidFill>
                  <a:srgbClr val="0042FF"/>
                </a:solidFill>
                <a:latin typeface="微软雅黑"/>
                <a:ea typeface="微软雅黑"/>
                <a:cs typeface="微软雅黑"/>
              </a:endParaRPr>
            </a:p>
          </p:txBody>
        </p:sp>
        <p:sp>
          <p:nvSpPr>
            <p:cNvPr id="272" name="Rectangle: Top Corners Rounded 32"/>
            <p:cNvSpPr/>
            <p:nvPr/>
          </p:nvSpPr>
          <p:spPr>
            <a:xfrm>
              <a:off x="862" y="3026"/>
              <a:ext cx="380" cy="380"/>
            </a:xfrm>
            <a:prstGeom prst="ellipse">
              <a:avLst/>
            </a:prstGeom>
            <a:solidFill>
              <a:srgbClr val="0042FF"/>
            </a:solidFill>
            <a:ln w="9525" cap="flat" cmpd="sng" algn="ctr">
              <a:noFill/>
              <a:prstDash val="solid"/>
              <a:miter lim="800000"/>
            </a:ln>
            <a:effectLst>
              <a:outerShdw blurRad="50800" dist="38100" dir="2700000" algn="tl" rotWithShape="0">
                <a:prstClr val="black">
                  <a:alpha val="40000"/>
                </a:prstClr>
              </a:outerShdw>
            </a:effectLst>
          </p:spPr>
          <p:txBody>
            <a:bodyPr rtlCol="0" anchor="ctr" lIns="0" rIns="0" tIns="0" bIns="0"/>
            <a:p>
              <a:pPr algn="ctr">
                <a:defRPr>
                  <a:solidFill>
                    <a:srgbClr val="FFFFFF"/>
                  </a:solidFill>
                  <a:latin typeface="微软雅黑"/>
                  <a:ea typeface="微软雅黑"/>
                  <a:cs typeface="微软雅黑"/>
                </a:defRPr>
              </a:pPr>
              <a:endParaRPr lang="en-US" sz="1000" kern="0" dirty="0">
                <a:solidFill>
                  <a:srgbClr val="FFFFFF"/>
                </a:solidFill>
                <a:latin typeface="微软雅黑"/>
                <a:ea typeface="微软雅黑"/>
                <a:cs typeface="微软雅黑"/>
                <a:sym typeface="微软雅黑"/>
              </a:endParaRPr>
            </a:p>
          </p:txBody>
        </p:sp>
        <p:sp>
          <p:nvSpPr>
            <p:cNvPr id="273" name="文本框 272"/>
            <p:cNvSpPr txBox="1"/>
            <p:nvPr/>
          </p:nvSpPr>
          <p:spPr>
            <a:xfrm>
              <a:off x="771" y="3769"/>
              <a:ext cx="4533" cy="121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100">
                  <a:solidFill>
                    <a:srgbClr val="383838"/>
                  </a:solidFill>
                  <a:latin typeface="微软雅黑"/>
                  <a:ea typeface="微软雅黑"/>
                  <a:cs typeface="微软雅黑"/>
                </a:rPr>
                <a:t>核心是从</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汽车制造商</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向</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移动出行服务商</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转型。这要求企业重塑商业模式，从一次性卖车转向提供持续的出行服务、软件订阅和全生命周期价值。</a:t>
              </a:r>
              <a:endParaRPr lang="zh-CN" altLang="en-US" sz="1100">
                <a:solidFill>
                  <a:srgbClr val="383838"/>
                </a:solidFill>
                <a:latin typeface="微软雅黑"/>
                <a:ea typeface="微软雅黑"/>
                <a:cs typeface="微软雅黑"/>
              </a:endParaRPr>
            </a:p>
          </p:txBody>
        </p:sp>
        <p:sp>
          <p:nvSpPr>
            <p:cNvPr id="274" name="文本框 273"/>
            <p:cNvSpPr txBox="1"/>
            <p:nvPr/>
          </p:nvSpPr>
          <p:spPr>
            <a:xfrm>
              <a:off x="771" y="3032"/>
              <a:ext cx="583" cy="337"/>
            </a:xfrm>
            <a:prstGeom prst="rect">
              <a:avLst/>
            </a:prstGeom>
            <a:noFill/>
            <a:scene3d>
              <a:camera prst="orthographicFront">
                <a:rot lat="0" lon="0" rev="0"/>
              </a:camera>
              <a:lightRig rig="threePt" dir="t"/>
            </a:scene3d>
          </p:spPr>
          <p:txBody>
            <a:bodyPr wrap="square" rtlCol="0" lIns="0" rIns="0" tIns="0" bIns="0" anchor="t">
              <a:noAutofit/>
            </a:bodyPr>
            <a:p>
              <a:pPr>
                <a:defRPr>
                  <a:solidFill>
                    <a:srgbClr val="FFFFFF"/>
                  </a:solidFill>
                  <a:latin typeface="微软雅黑"/>
                  <a:ea typeface="微软雅黑"/>
                  <a:cs typeface="微软雅黑"/>
                </a:defRPr>
                <a:lnSpc>
                  <a:spcPts val="1120"/>
                </a:lnSpc>
                <a:spcBef>
                  <a:spcPts val="0"/>
                </a:spcBef>
                <a:spcAft>
                  <a:spcPts val="0"/>
                </a:spcAft>
              </a:pPr>
              <a:r>
                <a:rPr lang="en-US" sz="1000" b="1">
                  <a:solidFill>
                    <a:srgbClr val="FFFFFF"/>
                  </a:solidFill>
                  <a:latin typeface="微软雅黑"/>
                  <a:ea typeface="微软雅黑"/>
                  <a:cs typeface="微软雅黑"/>
                </a:rPr>
                <a:t>1.1</a:t>
              </a:r>
              <a:endParaRPr lang="en-US" sz="1000" b="1">
                <a:solidFill>
                  <a:srgbClr val="FFFFFF"/>
                </a:solidFill>
                <a:latin typeface="微软雅黑"/>
                <a:ea typeface="微软雅黑"/>
                <a:cs typeface="微软雅黑"/>
              </a:endParaRPr>
            </a:p>
          </p:txBody>
        </p:sp>
      </p:grpSp>
      <p:grpSp>
        <p:nvGrpSpPr>
          <p:cNvPr id="290" name="组合 289"/>
          <p:cNvGrpSpPr/>
          <p:nvPr/>
        </p:nvGrpSpPr>
        <p:grpSpPr>
          <a:xfrm>
            <a:off x="286385" y="3543300"/>
            <a:ext cx="3132455" cy="1093470"/>
            <a:chOff x="771" y="2990"/>
            <a:chExt cx="4933" cy="1722"/>
          </a:xfrm>
        </p:grpSpPr>
        <p:sp>
          <p:nvSpPr>
            <p:cNvPr id="291" name="文本框 290"/>
            <p:cNvSpPr txBox="1"/>
            <p:nvPr/>
          </p:nvSpPr>
          <p:spPr>
            <a:xfrm>
              <a:off x="1241" y="2990"/>
              <a:ext cx="4463" cy="48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400" b="1">
                  <a:solidFill>
                    <a:srgbClr val="0042FF"/>
                  </a:solidFill>
                  <a:latin typeface="微软雅黑"/>
                  <a:ea typeface="微软雅黑"/>
                  <a:cs typeface="微软雅黑"/>
                </a:rPr>
                <a:t> </a:t>
              </a:r>
              <a:r>
                <a:rPr lang="zh-CN" altLang="en-US" sz="1400" b="1">
                  <a:solidFill>
                    <a:srgbClr val="0042FF"/>
                  </a:solidFill>
                  <a:latin typeface="微软雅黑"/>
                  <a:ea typeface="微软雅黑"/>
                  <a:cs typeface="微软雅黑"/>
                </a:rPr>
                <a:t>第二层：业务转型</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运营优化</a:t>
              </a:r>
              <a:endParaRPr lang="zh-CN" altLang="en-US" sz="1400" b="1">
                <a:solidFill>
                  <a:srgbClr val="0042FF"/>
                </a:solidFill>
                <a:latin typeface="微软雅黑"/>
                <a:ea typeface="微软雅黑"/>
                <a:cs typeface="微软雅黑"/>
              </a:endParaRPr>
            </a:p>
          </p:txBody>
        </p:sp>
        <p:sp>
          <p:nvSpPr>
            <p:cNvPr id="292" name="Rectangle: Top Corners Rounded 32"/>
            <p:cNvSpPr/>
            <p:nvPr/>
          </p:nvSpPr>
          <p:spPr>
            <a:xfrm>
              <a:off x="862" y="3026"/>
              <a:ext cx="380" cy="380"/>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lIns="0" rIns="0" tIns="0" bIns="0"/>
            <a:p>
              <a:pPr algn="ctr">
                <a:defRPr>
                  <a:solidFill>
                    <a:srgbClr val="FFFFFF"/>
                  </a:solidFill>
                  <a:latin typeface="微软雅黑"/>
                  <a:ea typeface="微软雅黑"/>
                  <a:cs typeface="微软雅黑"/>
                </a:defRPr>
              </a:pPr>
              <a:endParaRPr lang="en-US" sz="1000" kern="0" dirty="0">
                <a:solidFill>
                  <a:srgbClr val="FFFFFF"/>
                </a:solidFill>
                <a:latin typeface="微软雅黑"/>
                <a:ea typeface="微软雅黑"/>
                <a:cs typeface="微软雅黑"/>
                <a:sym typeface="微软雅黑"/>
              </a:endParaRPr>
            </a:p>
          </p:txBody>
        </p:sp>
        <p:sp>
          <p:nvSpPr>
            <p:cNvPr id="293" name="文本框 292"/>
            <p:cNvSpPr txBox="1"/>
            <p:nvPr/>
          </p:nvSpPr>
          <p:spPr>
            <a:xfrm>
              <a:off x="771" y="3769"/>
              <a:ext cx="4533" cy="94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100">
                  <a:solidFill>
                    <a:srgbClr val="383838"/>
                  </a:solidFill>
                  <a:latin typeface="微软雅黑"/>
                  <a:ea typeface="微软雅黑"/>
                  <a:cs typeface="微软雅黑"/>
                </a:rPr>
                <a:t>在全球范围内推行智能制造与数字化供应链，实现精益生产、零库存管理和个性化定制，全面提升运营效率与成本控制能力。</a:t>
              </a:r>
              <a:endParaRPr lang="zh-CN" altLang="en-US" sz="1100">
                <a:solidFill>
                  <a:srgbClr val="383838"/>
                </a:solidFill>
                <a:latin typeface="微软雅黑"/>
                <a:ea typeface="微软雅黑"/>
                <a:cs typeface="微软雅黑"/>
              </a:endParaRPr>
            </a:p>
          </p:txBody>
        </p:sp>
        <p:sp>
          <p:nvSpPr>
            <p:cNvPr id="294" name="文本框 293"/>
            <p:cNvSpPr txBox="1"/>
            <p:nvPr/>
          </p:nvSpPr>
          <p:spPr>
            <a:xfrm>
              <a:off x="771" y="3031"/>
              <a:ext cx="583" cy="337"/>
            </a:xfrm>
            <a:prstGeom prst="rect">
              <a:avLst/>
            </a:prstGeom>
            <a:noFill/>
            <a:scene3d>
              <a:camera prst="orthographicFront">
                <a:rot lat="0" lon="0" rev="0"/>
              </a:camera>
              <a:lightRig rig="threePt" dir="t"/>
            </a:scene3d>
          </p:spPr>
          <p:txBody>
            <a:bodyPr wrap="square" rtlCol="0" lIns="0" rIns="0" tIns="0" bIns="0" anchor="t">
              <a:noAutofit/>
            </a:bodyPr>
            <a:p>
              <a:pPr>
                <a:defRPr>
                  <a:solidFill>
                    <a:srgbClr val="FFFFFF"/>
                  </a:solidFill>
                  <a:latin typeface="微软雅黑"/>
                  <a:ea typeface="微软雅黑"/>
                  <a:cs typeface="微软雅黑"/>
                </a:defRPr>
                <a:lnSpc>
                  <a:spcPts val="1120"/>
                </a:lnSpc>
                <a:spcBef>
                  <a:spcPts val="0"/>
                </a:spcBef>
                <a:spcAft>
                  <a:spcPts val="0"/>
                </a:spcAft>
              </a:pPr>
              <a:r>
                <a:rPr lang="en-US" sz="1000" b="1">
                  <a:solidFill>
                    <a:srgbClr val="FFFFFF"/>
                  </a:solidFill>
                  <a:latin typeface="微软雅黑"/>
                  <a:ea typeface="微软雅黑"/>
                  <a:cs typeface="微软雅黑"/>
                </a:rPr>
                <a:t>2.1</a:t>
              </a:r>
              <a:endParaRPr lang="en-US" sz="1000" b="1">
                <a:solidFill>
                  <a:srgbClr val="FFFFFF"/>
                </a:solidFill>
                <a:latin typeface="微软雅黑"/>
                <a:ea typeface="微软雅黑"/>
                <a:cs typeface="微软雅黑"/>
              </a:endParaRPr>
            </a:p>
          </p:txBody>
        </p:sp>
      </p:grpSp>
      <p:grpSp>
        <p:nvGrpSpPr>
          <p:cNvPr id="295" name="组合 294"/>
          <p:cNvGrpSpPr/>
          <p:nvPr/>
        </p:nvGrpSpPr>
        <p:grpSpPr>
          <a:xfrm>
            <a:off x="286385" y="5080635"/>
            <a:ext cx="3132455" cy="1263015"/>
            <a:chOff x="771" y="2990"/>
            <a:chExt cx="4933" cy="1989"/>
          </a:xfrm>
        </p:grpSpPr>
        <p:sp>
          <p:nvSpPr>
            <p:cNvPr id="297" name="文本框 296"/>
            <p:cNvSpPr txBox="1"/>
            <p:nvPr/>
          </p:nvSpPr>
          <p:spPr>
            <a:xfrm>
              <a:off x="1241" y="2990"/>
              <a:ext cx="4463" cy="48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400" b="1">
                  <a:solidFill>
                    <a:srgbClr val="0042FF"/>
                  </a:solidFill>
                  <a:latin typeface="微软雅黑"/>
                  <a:ea typeface="微软雅黑"/>
                  <a:cs typeface="微软雅黑"/>
                </a:rPr>
                <a:t> </a:t>
              </a:r>
              <a:r>
                <a:rPr lang="zh-CN" altLang="en-US" sz="1400" b="1">
                  <a:solidFill>
                    <a:srgbClr val="0042FF"/>
                  </a:solidFill>
                  <a:latin typeface="微软雅黑"/>
                  <a:ea typeface="微软雅黑"/>
                  <a:cs typeface="微软雅黑"/>
                </a:rPr>
                <a:t>第三层：技术转型</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业务赋能</a:t>
              </a:r>
              <a:endParaRPr lang="zh-CN" altLang="en-US" sz="1400" b="1">
                <a:solidFill>
                  <a:srgbClr val="0042FF"/>
                </a:solidFill>
                <a:latin typeface="微软雅黑"/>
                <a:ea typeface="微软雅黑"/>
                <a:cs typeface="微软雅黑"/>
              </a:endParaRPr>
            </a:p>
          </p:txBody>
        </p:sp>
        <p:sp>
          <p:nvSpPr>
            <p:cNvPr id="298" name="Rectangle: Top Corners Rounded 32"/>
            <p:cNvSpPr/>
            <p:nvPr/>
          </p:nvSpPr>
          <p:spPr>
            <a:xfrm>
              <a:off x="862" y="3026"/>
              <a:ext cx="380" cy="380"/>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lIns="0" rIns="0" tIns="0" bIns="0"/>
            <a:p>
              <a:pPr algn="ctr">
                <a:defRPr>
                  <a:solidFill>
                    <a:srgbClr val="FFFFFF"/>
                  </a:solidFill>
                  <a:latin typeface="微软雅黑"/>
                  <a:ea typeface="微软雅黑"/>
                  <a:cs typeface="微软雅黑"/>
                </a:defRPr>
              </a:pPr>
              <a:endParaRPr lang="en-US" sz="1000" kern="0" dirty="0">
                <a:solidFill>
                  <a:srgbClr val="FFFFFF"/>
                </a:solidFill>
                <a:latin typeface="微软雅黑"/>
                <a:ea typeface="微软雅黑"/>
                <a:cs typeface="微软雅黑"/>
                <a:sym typeface="微软雅黑"/>
              </a:endParaRPr>
            </a:p>
          </p:txBody>
        </p:sp>
        <p:sp>
          <p:nvSpPr>
            <p:cNvPr id="299" name="文本框 298"/>
            <p:cNvSpPr txBox="1"/>
            <p:nvPr/>
          </p:nvSpPr>
          <p:spPr>
            <a:xfrm>
              <a:off x="771" y="3769"/>
              <a:ext cx="4533" cy="121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100">
                  <a:solidFill>
                    <a:srgbClr val="383838"/>
                  </a:solidFill>
                  <a:latin typeface="微软雅黑"/>
                  <a:ea typeface="微软雅黑"/>
                  <a:cs typeface="微软雅黑"/>
                </a:rPr>
                <a:t>构建</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云</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端一体化</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技术平台，为上述业务转型提供具体技术能力。例如，通过大数据平台赋能精准营销和用户洞察，通过车联网平台支撑远程控制和</a:t>
              </a:r>
              <a:r>
                <a:rPr lang="en-US" altLang="zh-CN" sz="1100">
                  <a:solidFill>
                    <a:srgbClr val="383838"/>
                  </a:solidFill>
                  <a:latin typeface="微软雅黑"/>
                  <a:ea typeface="微软雅黑"/>
                  <a:cs typeface="微软雅黑"/>
                </a:rPr>
                <a:t>OTA</a:t>
              </a:r>
              <a:r>
                <a:rPr lang="zh-CN" altLang="en-US" sz="1100">
                  <a:solidFill>
                    <a:srgbClr val="383838"/>
                  </a:solidFill>
                  <a:latin typeface="微软雅黑"/>
                  <a:ea typeface="微软雅黑"/>
                  <a:cs typeface="微软雅黑"/>
                </a:rPr>
                <a:t>升级。</a:t>
              </a:r>
              <a:endParaRPr lang="zh-CN" altLang="en-US" sz="1100">
                <a:solidFill>
                  <a:srgbClr val="383838"/>
                </a:solidFill>
                <a:latin typeface="微软雅黑"/>
                <a:ea typeface="微软雅黑"/>
                <a:cs typeface="微软雅黑"/>
              </a:endParaRPr>
            </a:p>
          </p:txBody>
        </p:sp>
        <p:sp>
          <p:nvSpPr>
            <p:cNvPr id="300" name="文本框 299"/>
            <p:cNvSpPr txBox="1"/>
            <p:nvPr/>
          </p:nvSpPr>
          <p:spPr>
            <a:xfrm>
              <a:off x="771" y="3030"/>
              <a:ext cx="583" cy="337"/>
            </a:xfrm>
            <a:prstGeom prst="rect">
              <a:avLst/>
            </a:prstGeom>
            <a:noFill/>
            <a:scene3d>
              <a:camera prst="orthographicFront">
                <a:rot lat="0" lon="0" rev="0"/>
              </a:camera>
              <a:lightRig rig="threePt" dir="t"/>
            </a:scene3d>
          </p:spPr>
          <p:txBody>
            <a:bodyPr wrap="square" rtlCol="0" lIns="0" rIns="0" tIns="0" bIns="0" anchor="t">
              <a:noAutofit/>
            </a:bodyPr>
            <a:p>
              <a:pPr>
                <a:defRPr>
                  <a:solidFill>
                    <a:srgbClr val="FFFFFF"/>
                  </a:solidFill>
                  <a:latin typeface="微软雅黑"/>
                  <a:ea typeface="微软雅黑"/>
                  <a:cs typeface="微软雅黑"/>
                </a:defRPr>
                <a:lnSpc>
                  <a:spcPts val="1120"/>
                </a:lnSpc>
                <a:spcBef>
                  <a:spcPts val="0"/>
                </a:spcBef>
                <a:spcAft>
                  <a:spcPts val="0"/>
                </a:spcAft>
              </a:pPr>
              <a:r>
                <a:rPr lang="en-US" sz="1000" b="1">
                  <a:solidFill>
                    <a:srgbClr val="FFFFFF"/>
                  </a:solidFill>
                  <a:latin typeface="微软雅黑"/>
                  <a:ea typeface="微软雅黑"/>
                  <a:cs typeface="微软雅黑"/>
                </a:rPr>
                <a:t>3.1</a:t>
              </a:r>
              <a:endParaRPr lang="en-US" sz="1000" b="1">
                <a:solidFill>
                  <a:srgbClr val="FFFFFF"/>
                </a:solidFill>
                <a:latin typeface="微软雅黑"/>
                <a:ea typeface="微软雅黑"/>
                <a:cs typeface="微软雅黑"/>
              </a:endParaRPr>
            </a:p>
          </p:txBody>
        </p:sp>
      </p:grpSp>
      <p:grpSp>
        <p:nvGrpSpPr>
          <p:cNvPr id="301" name="组合 300"/>
          <p:cNvGrpSpPr/>
          <p:nvPr/>
        </p:nvGrpSpPr>
        <p:grpSpPr>
          <a:xfrm>
            <a:off x="8929370" y="1898650"/>
            <a:ext cx="3142615" cy="1093470"/>
            <a:chOff x="755" y="2990"/>
            <a:chExt cx="4949" cy="1722"/>
          </a:xfrm>
        </p:grpSpPr>
        <p:sp>
          <p:nvSpPr>
            <p:cNvPr id="302" name="文本框 301"/>
            <p:cNvSpPr txBox="1"/>
            <p:nvPr/>
          </p:nvSpPr>
          <p:spPr>
            <a:xfrm>
              <a:off x="1241" y="2990"/>
              <a:ext cx="4463" cy="48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400" b="1">
                  <a:solidFill>
                    <a:srgbClr val="0042FF"/>
                  </a:solidFill>
                  <a:latin typeface="微软雅黑"/>
                  <a:ea typeface="微软雅黑"/>
                  <a:cs typeface="微软雅黑"/>
                </a:rPr>
                <a:t> </a:t>
              </a:r>
              <a:r>
                <a:rPr lang="zh-CN" altLang="en-US" sz="1400" b="1">
                  <a:solidFill>
                    <a:srgbClr val="0042FF"/>
                  </a:solidFill>
                  <a:latin typeface="微软雅黑"/>
                  <a:ea typeface="微软雅黑"/>
                  <a:cs typeface="微软雅黑"/>
                </a:rPr>
                <a:t>第一层：</a:t>
              </a:r>
              <a:r>
                <a:rPr lang="zh-CN" altLang="en-US" sz="1400" b="1">
                  <a:solidFill>
                    <a:srgbClr val="383838"/>
                  </a:solidFill>
                  <a:latin typeface="微软雅黑"/>
                  <a:ea typeface="微软雅黑"/>
                  <a:cs typeface="微软雅黑"/>
                </a:rPr>
                <a:t>组织转型</a:t>
              </a: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创新转型</a:t>
              </a:r>
              <a:endParaRPr lang="zh-CN" altLang="en-US" sz="1400" b="1">
                <a:solidFill>
                  <a:srgbClr val="383838"/>
                </a:solidFill>
                <a:latin typeface="微软雅黑"/>
                <a:ea typeface="微软雅黑"/>
                <a:cs typeface="微软雅黑"/>
              </a:endParaRPr>
            </a:p>
          </p:txBody>
        </p:sp>
        <p:sp>
          <p:nvSpPr>
            <p:cNvPr id="303" name="Rectangle: Top Corners Rounded 32"/>
            <p:cNvSpPr/>
            <p:nvPr/>
          </p:nvSpPr>
          <p:spPr>
            <a:xfrm>
              <a:off x="862" y="3026"/>
              <a:ext cx="380" cy="380"/>
            </a:xfrm>
            <a:prstGeom prst="ellipse">
              <a:avLst/>
            </a:prstGeom>
            <a:solidFill>
              <a:srgbClr val="0042FF"/>
            </a:solidFill>
            <a:ln w="9525" cap="flat" cmpd="sng" algn="ctr">
              <a:noFill/>
              <a:prstDash val="solid"/>
              <a:miter lim="800000"/>
            </a:ln>
            <a:effectLst>
              <a:outerShdw blurRad="50800" dist="38100" dir="2700000" algn="tl" rotWithShape="0">
                <a:prstClr val="black">
                  <a:alpha val="40000"/>
                </a:prstClr>
              </a:outerShdw>
            </a:effectLst>
          </p:spPr>
          <p:txBody>
            <a:bodyPr rtlCol="0" anchor="ctr" lIns="0" rIns="0" tIns="0" bIns="0"/>
            <a:p>
              <a:pPr algn="ctr">
                <a:defRPr>
                  <a:solidFill>
                    <a:srgbClr val="FFFFFF"/>
                  </a:solidFill>
                  <a:latin typeface="微软雅黑"/>
                  <a:ea typeface="微软雅黑"/>
                  <a:cs typeface="微软雅黑"/>
                </a:defRPr>
              </a:pPr>
              <a:endParaRPr lang="en-US" sz="1000" kern="0" dirty="0">
                <a:solidFill>
                  <a:srgbClr val="FFFFFF"/>
                </a:solidFill>
                <a:latin typeface="微软雅黑"/>
                <a:ea typeface="微软雅黑"/>
                <a:cs typeface="微软雅黑"/>
                <a:sym typeface="微软雅黑"/>
              </a:endParaRPr>
            </a:p>
          </p:txBody>
        </p:sp>
        <p:sp>
          <p:nvSpPr>
            <p:cNvPr id="304" name="文本框 303"/>
            <p:cNvSpPr txBox="1"/>
            <p:nvPr/>
          </p:nvSpPr>
          <p:spPr>
            <a:xfrm>
              <a:off x="771" y="3769"/>
              <a:ext cx="4533" cy="94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100">
                  <a:solidFill>
                    <a:srgbClr val="383838"/>
                  </a:solidFill>
                  <a:latin typeface="微软雅黑"/>
                  <a:ea typeface="微软雅黑"/>
                  <a:cs typeface="微软雅黑"/>
                </a:rPr>
                <a:t>建立鼓励快速试错和跨部门协作的敏捷组织文化与机制。设立专门的软件研发中心、孵化自动驾驶初创项目，以应对行业技术变革。</a:t>
              </a:r>
              <a:endParaRPr lang="zh-CN" altLang="en-US" sz="1100">
                <a:solidFill>
                  <a:srgbClr val="383838"/>
                </a:solidFill>
                <a:latin typeface="微软雅黑"/>
                <a:ea typeface="微软雅黑"/>
                <a:cs typeface="微软雅黑"/>
              </a:endParaRPr>
            </a:p>
          </p:txBody>
        </p:sp>
        <p:sp>
          <p:nvSpPr>
            <p:cNvPr id="305" name="文本框 304"/>
            <p:cNvSpPr txBox="1"/>
            <p:nvPr/>
          </p:nvSpPr>
          <p:spPr>
            <a:xfrm>
              <a:off x="755" y="3024"/>
              <a:ext cx="583" cy="337"/>
            </a:xfrm>
            <a:prstGeom prst="rect">
              <a:avLst/>
            </a:prstGeom>
            <a:noFill/>
            <a:scene3d>
              <a:camera prst="orthographicFront">
                <a:rot lat="0" lon="0" rev="0"/>
              </a:camera>
              <a:lightRig rig="threePt" dir="t"/>
            </a:scene3d>
          </p:spPr>
          <p:txBody>
            <a:bodyPr wrap="square" rtlCol="0" lIns="0" rIns="0" tIns="0" bIns="0" anchor="t">
              <a:noAutofit/>
            </a:bodyPr>
            <a:p>
              <a:pPr>
                <a:defRPr>
                  <a:solidFill>
                    <a:srgbClr val="FFFFFF"/>
                  </a:solidFill>
                  <a:latin typeface="微软雅黑"/>
                  <a:ea typeface="微软雅黑"/>
                  <a:cs typeface="微软雅黑"/>
                </a:defRPr>
                <a:lnSpc>
                  <a:spcPts val="1120"/>
                </a:lnSpc>
                <a:spcBef>
                  <a:spcPts val="0"/>
                </a:spcBef>
                <a:spcAft>
                  <a:spcPts val="0"/>
                </a:spcAft>
              </a:pPr>
              <a:r>
                <a:rPr lang="en-US" sz="1000" b="1">
                  <a:solidFill>
                    <a:srgbClr val="FFFFFF"/>
                  </a:solidFill>
                  <a:latin typeface="微软雅黑"/>
                  <a:ea typeface="微软雅黑"/>
                  <a:cs typeface="微软雅黑"/>
                </a:rPr>
                <a:t>1.2</a:t>
              </a:r>
              <a:endParaRPr lang="en-US" sz="1000" b="1">
                <a:solidFill>
                  <a:srgbClr val="FFFFFF"/>
                </a:solidFill>
                <a:latin typeface="微软雅黑"/>
                <a:ea typeface="微软雅黑"/>
                <a:cs typeface="微软雅黑"/>
              </a:endParaRPr>
            </a:p>
          </p:txBody>
        </p:sp>
      </p:grpSp>
      <p:grpSp>
        <p:nvGrpSpPr>
          <p:cNvPr id="306" name="组合 305"/>
          <p:cNvGrpSpPr/>
          <p:nvPr/>
        </p:nvGrpSpPr>
        <p:grpSpPr>
          <a:xfrm>
            <a:off x="8933815" y="3543300"/>
            <a:ext cx="3138170" cy="1263015"/>
            <a:chOff x="762" y="2990"/>
            <a:chExt cx="4942" cy="1989"/>
          </a:xfrm>
        </p:grpSpPr>
        <p:sp>
          <p:nvSpPr>
            <p:cNvPr id="307" name="文本框 306"/>
            <p:cNvSpPr txBox="1"/>
            <p:nvPr/>
          </p:nvSpPr>
          <p:spPr>
            <a:xfrm>
              <a:off x="1241" y="2990"/>
              <a:ext cx="4463" cy="48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400" b="1">
                  <a:solidFill>
                    <a:srgbClr val="0042FF"/>
                  </a:solidFill>
                  <a:latin typeface="微软雅黑"/>
                  <a:ea typeface="微软雅黑"/>
                  <a:cs typeface="微软雅黑"/>
                </a:rPr>
                <a:t> </a:t>
              </a:r>
              <a:r>
                <a:rPr lang="zh-CN" altLang="en-US" sz="1400" b="1">
                  <a:solidFill>
                    <a:srgbClr val="0042FF"/>
                  </a:solidFill>
                  <a:latin typeface="微软雅黑"/>
                  <a:ea typeface="微软雅黑"/>
                  <a:cs typeface="微软雅黑"/>
                </a:rPr>
                <a:t>第二层：业务转型</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潜力增长</a:t>
              </a:r>
              <a:endParaRPr lang="zh-CN" altLang="en-US" sz="1400" b="1">
                <a:solidFill>
                  <a:srgbClr val="0042FF"/>
                </a:solidFill>
                <a:latin typeface="微软雅黑"/>
                <a:ea typeface="微软雅黑"/>
                <a:cs typeface="微软雅黑"/>
              </a:endParaRPr>
            </a:p>
          </p:txBody>
        </p:sp>
        <p:sp>
          <p:nvSpPr>
            <p:cNvPr id="308" name="Rectangle: Top Corners Rounded 32"/>
            <p:cNvSpPr/>
            <p:nvPr/>
          </p:nvSpPr>
          <p:spPr>
            <a:xfrm>
              <a:off x="862" y="3026"/>
              <a:ext cx="380" cy="380"/>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lIns="0" rIns="0" tIns="0" bIns="0"/>
            <a:p>
              <a:pPr algn="ctr">
                <a:defRPr>
                  <a:solidFill>
                    <a:srgbClr val="FFFFFF"/>
                  </a:solidFill>
                  <a:latin typeface="微软雅黑"/>
                  <a:ea typeface="微软雅黑"/>
                  <a:cs typeface="微软雅黑"/>
                </a:defRPr>
              </a:pPr>
              <a:endParaRPr lang="en-US" sz="1000" kern="0" dirty="0">
                <a:solidFill>
                  <a:srgbClr val="FFFFFF"/>
                </a:solidFill>
                <a:latin typeface="微软雅黑"/>
                <a:ea typeface="微软雅黑"/>
                <a:cs typeface="微软雅黑"/>
                <a:sym typeface="微软雅黑"/>
              </a:endParaRPr>
            </a:p>
          </p:txBody>
        </p:sp>
        <p:sp>
          <p:nvSpPr>
            <p:cNvPr id="309" name="文本框 308"/>
            <p:cNvSpPr txBox="1"/>
            <p:nvPr/>
          </p:nvSpPr>
          <p:spPr>
            <a:xfrm>
              <a:off x="771" y="3769"/>
              <a:ext cx="4533" cy="121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100">
                  <a:solidFill>
                    <a:srgbClr val="383838"/>
                  </a:solidFill>
                  <a:latin typeface="微软雅黑"/>
                  <a:ea typeface="微软雅黑"/>
                  <a:cs typeface="微软雅黑"/>
                </a:rPr>
                <a:t>开拓新的业务增长曲线，重点发展软件定义汽车的付费服务、智慧出行（如</a:t>
              </a:r>
              <a:r>
                <a:rPr lang="en-US" altLang="zh-CN" sz="1100">
                  <a:solidFill>
                    <a:srgbClr val="383838"/>
                  </a:solidFill>
                  <a:latin typeface="微软雅黑"/>
                  <a:ea typeface="微软雅黑"/>
                  <a:cs typeface="微软雅黑"/>
                </a:rPr>
                <a:t>Robotaxi</a:t>
              </a:r>
              <a:r>
                <a:rPr lang="zh-CN" altLang="en-US" sz="1100">
                  <a:solidFill>
                    <a:srgbClr val="383838"/>
                  </a:solidFill>
                  <a:latin typeface="微软雅黑"/>
                  <a:ea typeface="微软雅黑"/>
                  <a:cs typeface="微软雅黑"/>
                </a:rPr>
                <a:t>）、以及基于车辆数据的增值业务，寻找第二增长曲线。</a:t>
              </a:r>
              <a:endParaRPr lang="zh-CN" altLang="en-US" sz="1100">
                <a:solidFill>
                  <a:srgbClr val="383838"/>
                </a:solidFill>
                <a:latin typeface="微软雅黑"/>
                <a:ea typeface="微软雅黑"/>
                <a:cs typeface="微软雅黑"/>
              </a:endParaRPr>
            </a:p>
          </p:txBody>
        </p:sp>
        <p:sp>
          <p:nvSpPr>
            <p:cNvPr id="310" name="文本框 309"/>
            <p:cNvSpPr txBox="1"/>
            <p:nvPr/>
          </p:nvSpPr>
          <p:spPr>
            <a:xfrm>
              <a:off x="762" y="3030"/>
              <a:ext cx="583" cy="337"/>
            </a:xfrm>
            <a:prstGeom prst="rect">
              <a:avLst/>
            </a:prstGeom>
            <a:noFill/>
            <a:scene3d>
              <a:camera prst="orthographicFront">
                <a:rot lat="0" lon="0" rev="0"/>
              </a:camera>
              <a:lightRig rig="threePt" dir="t"/>
            </a:scene3d>
          </p:spPr>
          <p:txBody>
            <a:bodyPr wrap="square" rtlCol="0" lIns="0" rIns="0" tIns="0" bIns="0" anchor="t">
              <a:noAutofit/>
            </a:bodyPr>
            <a:p>
              <a:pPr>
                <a:defRPr>
                  <a:solidFill>
                    <a:srgbClr val="FFFFFF"/>
                  </a:solidFill>
                  <a:latin typeface="微软雅黑"/>
                  <a:ea typeface="微软雅黑"/>
                  <a:cs typeface="微软雅黑"/>
                </a:defRPr>
                <a:lnSpc>
                  <a:spcPts val="1120"/>
                </a:lnSpc>
                <a:spcBef>
                  <a:spcPts val="0"/>
                </a:spcBef>
                <a:spcAft>
                  <a:spcPts val="0"/>
                </a:spcAft>
              </a:pPr>
              <a:r>
                <a:rPr lang="en-US" sz="1000" b="1">
                  <a:solidFill>
                    <a:srgbClr val="FFFFFF"/>
                  </a:solidFill>
                  <a:latin typeface="微软雅黑"/>
                  <a:ea typeface="微软雅黑"/>
                  <a:cs typeface="微软雅黑"/>
                </a:rPr>
                <a:t>2.2</a:t>
              </a:r>
              <a:endParaRPr lang="en-US" sz="1000" b="1">
                <a:solidFill>
                  <a:srgbClr val="FFFFFF"/>
                </a:solidFill>
                <a:latin typeface="微软雅黑"/>
                <a:ea typeface="微软雅黑"/>
                <a:cs typeface="微软雅黑"/>
              </a:endParaRPr>
            </a:p>
          </p:txBody>
        </p:sp>
      </p:grpSp>
      <p:grpSp>
        <p:nvGrpSpPr>
          <p:cNvPr id="311" name="组合 310"/>
          <p:cNvGrpSpPr/>
          <p:nvPr/>
        </p:nvGrpSpPr>
        <p:grpSpPr>
          <a:xfrm>
            <a:off x="8939530" y="5080635"/>
            <a:ext cx="3132455" cy="1431925"/>
            <a:chOff x="771" y="2990"/>
            <a:chExt cx="4933" cy="2255"/>
          </a:xfrm>
        </p:grpSpPr>
        <p:sp>
          <p:nvSpPr>
            <p:cNvPr id="312" name="文本框 311"/>
            <p:cNvSpPr txBox="1"/>
            <p:nvPr/>
          </p:nvSpPr>
          <p:spPr>
            <a:xfrm>
              <a:off x="1241" y="2990"/>
              <a:ext cx="4463" cy="483"/>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400" b="1">
                  <a:solidFill>
                    <a:srgbClr val="0042FF"/>
                  </a:solidFill>
                  <a:latin typeface="微软雅黑"/>
                  <a:ea typeface="微软雅黑"/>
                  <a:cs typeface="微软雅黑"/>
                </a:rPr>
                <a:t> </a:t>
              </a:r>
              <a:r>
                <a:rPr lang="zh-CN" altLang="en-US" sz="1400" b="1">
                  <a:solidFill>
                    <a:srgbClr val="0042FF"/>
                  </a:solidFill>
                  <a:latin typeface="微软雅黑"/>
                  <a:ea typeface="微软雅黑"/>
                  <a:cs typeface="微软雅黑"/>
                </a:rPr>
                <a:t>第三层：技术转型</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当前市场</a:t>
              </a:r>
              <a:endParaRPr lang="zh-CN" altLang="en-US" sz="1400" b="1">
                <a:solidFill>
                  <a:srgbClr val="0042FF"/>
                </a:solidFill>
                <a:latin typeface="微软雅黑"/>
                <a:ea typeface="微软雅黑"/>
                <a:cs typeface="微软雅黑"/>
              </a:endParaRPr>
            </a:p>
          </p:txBody>
        </p:sp>
        <p:sp>
          <p:nvSpPr>
            <p:cNvPr id="313" name="Rectangle: Top Corners Rounded 32"/>
            <p:cNvSpPr/>
            <p:nvPr/>
          </p:nvSpPr>
          <p:spPr>
            <a:xfrm>
              <a:off x="862" y="3026"/>
              <a:ext cx="380" cy="380"/>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lIns="0" rIns="0" tIns="0" bIns="0"/>
            <a:p>
              <a:pPr algn="ctr">
                <a:defRPr>
                  <a:solidFill>
                    <a:srgbClr val="FFFFFF"/>
                  </a:solidFill>
                  <a:latin typeface="微软雅黑"/>
                  <a:ea typeface="微软雅黑"/>
                  <a:cs typeface="微软雅黑"/>
                </a:defRPr>
              </a:pPr>
              <a:endParaRPr lang="en-US" sz="1000" kern="0" dirty="0">
                <a:solidFill>
                  <a:srgbClr val="FFFFFF"/>
                </a:solidFill>
                <a:latin typeface="微软雅黑"/>
                <a:ea typeface="微软雅黑"/>
                <a:cs typeface="微软雅黑"/>
                <a:sym typeface="微软雅黑"/>
              </a:endParaRPr>
            </a:p>
          </p:txBody>
        </p:sp>
        <p:sp>
          <p:nvSpPr>
            <p:cNvPr id="314" name="文本框 313"/>
            <p:cNvSpPr txBox="1"/>
            <p:nvPr/>
          </p:nvSpPr>
          <p:spPr>
            <a:xfrm>
              <a:off x="771" y="3769"/>
              <a:ext cx="4533" cy="1476"/>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100">
                  <a:solidFill>
                    <a:srgbClr val="383838"/>
                  </a:solidFill>
                  <a:latin typeface="微软雅黑"/>
                  <a:ea typeface="微软雅黑"/>
                  <a:cs typeface="微软雅黑"/>
                </a:rPr>
                <a:t>聚焦于应对汽车行业</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新四化</a:t>
              </a:r>
              <a:r>
                <a:rPr lang="en-US" altLang="zh-CN" sz="1100">
                  <a:solidFill>
                    <a:srgbClr val="383838"/>
                  </a:solidFill>
                  <a:latin typeface="微软雅黑"/>
                  <a:ea typeface="微软雅黑"/>
                  <a:cs typeface="微软雅黑"/>
                </a:rPr>
                <a:t>” </a:t>
              </a:r>
              <a:r>
                <a:rPr lang="zh-CN" altLang="en-US" sz="1100">
                  <a:solidFill>
                    <a:srgbClr val="383838"/>
                  </a:solidFill>
                  <a:latin typeface="微软雅黑"/>
                  <a:ea typeface="微软雅黑"/>
                  <a:cs typeface="微软雅黑"/>
                </a:rPr>
                <a:t>的当前市场趋势。技术研发和投资必须直接服务于电动化、智能化、网联化和共享化，确保技术路线与市场趋势紧密结合，快速将技术转化为市场竞争力。</a:t>
              </a:r>
              <a:endParaRPr lang="zh-CN" altLang="en-US" sz="1100">
                <a:solidFill>
                  <a:srgbClr val="383838"/>
                </a:solidFill>
                <a:latin typeface="微软雅黑"/>
                <a:ea typeface="微软雅黑"/>
                <a:cs typeface="微软雅黑"/>
              </a:endParaRPr>
            </a:p>
          </p:txBody>
        </p:sp>
        <p:sp>
          <p:nvSpPr>
            <p:cNvPr id="315" name="文本框 314"/>
            <p:cNvSpPr txBox="1"/>
            <p:nvPr/>
          </p:nvSpPr>
          <p:spPr>
            <a:xfrm>
              <a:off x="771" y="3030"/>
              <a:ext cx="583" cy="337"/>
            </a:xfrm>
            <a:prstGeom prst="rect">
              <a:avLst/>
            </a:prstGeom>
            <a:noFill/>
            <a:scene3d>
              <a:camera prst="orthographicFront">
                <a:rot lat="0" lon="0" rev="0"/>
              </a:camera>
              <a:lightRig rig="threePt" dir="t"/>
            </a:scene3d>
          </p:spPr>
          <p:txBody>
            <a:bodyPr wrap="square" rtlCol="0" lIns="0" rIns="0" tIns="0" bIns="0" anchor="t">
              <a:noAutofit/>
            </a:bodyPr>
            <a:p>
              <a:pPr>
                <a:defRPr>
                  <a:solidFill>
                    <a:srgbClr val="FFFFFF"/>
                  </a:solidFill>
                  <a:latin typeface="微软雅黑"/>
                  <a:ea typeface="微软雅黑"/>
                  <a:cs typeface="微软雅黑"/>
                </a:defRPr>
                <a:lnSpc>
                  <a:spcPts val="1120"/>
                </a:lnSpc>
                <a:spcBef>
                  <a:spcPts val="0"/>
                </a:spcBef>
                <a:spcAft>
                  <a:spcPts val="0"/>
                </a:spcAft>
              </a:pPr>
              <a:r>
                <a:rPr lang="en-US" sz="1000" b="1">
                  <a:solidFill>
                    <a:srgbClr val="FFFFFF"/>
                  </a:solidFill>
                  <a:latin typeface="微软雅黑"/>
                  <a:ea typeface="微软雅黑"/>
                  <a:cs typeface="微软雅黑"/>
                </a:rPr>
                <a:t>3.2</a:t>
              </a:r>
              <a:endParaRPr lang="en-US" sz="1000" b="1">
                <a:solidFill>
                  <a:srgbClr val="FFFFFF"/>
                </a:solidFill>
                <a:latin typeface="微软雅黑"/>
                <a:ea typeface="微软雅黑"/>
                <a:cs typeface="微软雅黑"/>
              </a:endParaRPr>
            </a:p>
          </p:txBody>
        </p:sp>
      </p:grpSp>
      <p:sp>
        <p:nvSpPr>
          <p:cNvPr id="316" name="椭圆 315"/>
          <p:cNvSpPr/>
          <p:nvPr/>
        </p:nvSpPr>
        <p:spPr>
          <a:xfrm>
            <a:off x="3336290" y="3734435"/>
            <a:ext cx="438785" cy="438785"/>
          </a:xfrm>
          <a:prstGeom prst="ellipse">
            <a:avLst/>
          </a:pr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pic>
        <p:nvPicPr>
          <p:cNvPr id="3" name="图片 2" descr="3运营"/>
          <p:cNvPicPr>
            <a:picLocks noChangeAspect="1"/>
          </p:cNvPicPr>
          <p:nvPr/>
        </p:nvPicPr>
        <p:blipFill>
          <a:blip r:embed="rId43">
            <a:extLst>
              <a:ext uri="{96DAC541-7B7A-43D3-8B79-37D633B846F1}">
                <asvg:svgBlip xmlns:asvg="http://schemas.microsoft.com/office/drawing/2016/SVG/main" r:embed="rId44"/>
              </a:ext>
            </a:extLst>
          </a:blip>
          <a:stretch>
            <a:fillRect/>
          </a:stretch>
        </p:blipFill>
        <p:spPr>
          <a:xfrm>
            <a:off x="3435985" y="3820160"/>
            <a:ext cx="240030" cy="240030"/>
          </a:xfrm>
          <a:prstGeom prst="rect">
            <a:avLst/>
          </a:prstGeom>
        </p:spPr>
      </p:pic>
      <p:sp>
        <p:nvSpPr>
          <p:cNvPr id="4" name="椭圆 3"/>
          <p:cNvSpPr/>
          <p:nvPr/>
        </p:nvSpPr>
        <p:spPr>
          <a:xfrm>
            <a:off x="3828415" y="5282565"/>
            <a:ext cx="385445" cy="385445"/>
          </a:xfrm>
          <a:prstGeom prst="ellipse">
            <a:avLst/>
          </a:pr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pic>
        <p:nvPicPr>
          <p:cNvPr id="8" name="图片 7" descr="赋能"/>
          <p:cNvPicPr>
            <a:picLocks noChangeAspect="1"/>
          </p:cNvPicPr>
          <p:nvPr/>
        </p:nvPicPr>
        <p:blipFill>
          <a:blip r:embed="rId45">
            <a:extLst>
              <a:ext uri="{96DAC541-7B7A-43D3-8B79-37D633B846F1}">
                <asvg:svgBlip xmlns:asvg="http://schemas.microsoft.com/office/drawing/2016/SVG/main" r:embed="rId46"/>
              </a:ext>
            </a:extLst>
          </a:blip>
          <a:stretch>
            <a:fillRect/>
          </a:stretch>
        </p:blipFill>
        <p:spPr>
          <a:xfrm>
            <a:off x="3910965" y="5365115"/>
            <a:ext cx="200025" cy="200025"/>
          </a:xfrm>
          <a:prstGeom prst="rect">
            <a:avLst/>
          </a:prstGeom>
        </p:spPr>
      </p:pic>
      <p:sp>
        <p:nvSpPr>
          <p:cNvPr id="12" name="椭圆 11"/>
          <p:cNvSpPr/>
          <p:nvPr/>
        </p:nvSpPr>
        <p:spPr>
          <a:xfrm>
            <a:off x="7879715" y="5243830"/>
            <a:ext cx="385445" cy="385445"/>
          </a:xfrm>
          <a:prstGeom prst="ellipse">
            <a:avLst/>
          </a:pr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pic>
        <p:nvPicPr>
          <p:cNvPr id="13" name="图片 12" descr="市场营销"/>
          <p:cNvPicPr>
            <a:picLocks noChangeAspect="1"/>
          </p:cNvPicPr>
          <p:nvPr/>
        </p:nvPicPr>
        <p:blipFill>
          <a:blip r:embed="rId47">
            <a:extLst>
              <a:ext uri="{96DAC541-7B7A-43D3-8B79-37D633B846F1}">
                <asvg:svgBlip xmlns:asvg="http://schemas.microsoft.com/office/drawing/2016/SVG/main" r:embed="rId48"/>
              </a:ext>
            </a:extLst>
          </a:blip>
          <a:stretch>
            <a:fillRect/>
          </a:stretch>
        </p:blipFill>
        <p:spPr>
          <a:xfrm>
            <a:off x="7960360" y="5304790"/>
            <a:ext cx="224155" cy="224155"/>
          </a:xfrm>
          <a:prstGeom prst="rect">
            <a:avLst/>
          </a:prstGeom>
        </p:spPr>
      </p:pic>
      <p:cxnSp>
        <p:nvCxnSpPr>
          <p:cNvPr id="14" name="直接连接符 13"/>
          <p:cNvCxnSpPr/>
          <p:nvPr/>
        </p:nvCxnSpPr>
        <p:spPr>
          <a:xfrm>
            <a:off x="8849360" y="3929380"/>
            <a:ext cx="2968625" cy="0"/>
          </a:xfrm>
          <a:prstGeom prst="line">
            <a:avLst/>
          </a:prstGeom>
          <a:ln w="25400">
            <a:solidFill>
              <a:srgbClr val="3368FF"/>
            </a:solidFill>
            <a:prstDash val="sysDash"/>
            <a:headEnd type="oval"/>
            <a:tailEnd type="oval"/>
          </a:ln>
        </p:spPr>
        <p:style>
          <a:lnRef idx="2">
            <a:srgbClr val="0042FF"/>
          </a:lnRef>
          <a:fillRef idx="0">
            <a:srgbClr val="FFFFFF"/>
          </a:fillRef>
          <a:effectRef idx="0">
            <a:srgbClr val="FFFFFF"/>
          </a:effectRef>
          <a:fontRef idx="minor">
            <a:srgbClr val="383838"/>
          </a:fontRef>
        </p:style>
      </p:cxnSp>
      <p:sp>
        <p:nvSpPr>
          <p:cNvPr id="15" name="椭圆 14"/>
          <p:cNvSpPr/>
          <p:nvPr/>
        </p:nvSpPr>
        <p:spPr>
          <a:xfrm>
            <a:off x="8335645" y="3731895"/>
            <a:ext cx="438785" cy="438785"/>
          </a:xfrm>
          <a:prstGeom prst="ellipse">
            <a:avLst/>
          </a:pr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pic>
        <p:nvPicPr>
          <p:cNvPr id="17" name="图片 16" descr="潜力"/>
          <p:cNvPicPr>
            <a:picLocks noChangeAspect="1"/>
          </p:cNvPicPr>
          <p:nvPr/>
        </p:nvPicPr>
        <p:blipFill>
          <a:blip r:embed="rId49">
            <a:extLst>
              <a:ext uri="{96DAC541-7B7A-43D3-8B79-37D633B846F1}">
                <asvg:svgBlip xmlns:asvg="http://schemas.microsoft.com/office/drawing/2016/SVG/main" r:embed="rId50"/>
              </a:ext>
            </a:extLst>
          </a:blip>
          <a:stretch>
            <a:fillRect/>
          </a:stretch>
        </p:blipFill>
        <p:spPr>
          <a:xfrm>
            <a:off x="8388350" y="3766185"/>
            <a:ext cx="348615" cy="348615"/>
          </a:xfrm>
          <a:prstGeom prst="rect">
            <a:avLst/>
          </a:prstGeom>
        </p:spPr>
      </p:pic>
      <p:sp>
        <p:nvSpPr>
          <p:cNvPr id="19" name="椭圆 18"/>
          <p:cNvSpPr/>
          <p:nvPr/>
        </p:nvSpPr>
        <p:spPr>
          <a:xfrm>
            <a:off x="3865880" y="2075815"/>
            <a:ext cx="438785" cy="438785"/>
          </a:xfrm>
          <a:prstGeom prst="ellipse">
            <a:avLst/>
          </a:prstGeom>
          <a:solidFill>
            <a:srgbClr val="0042FF"/>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cxnSp>
        <p:nvCxnSpPr>
          <p:cNvPr id="20" name="直接连接符 19"/>
          <p:cNvCxnSpPr/>
          <p:nvPr/>
        </p:nvCxnSpPr>
        <p:spPr>
          <a:xfrm>
            <a:off x="355600" y="2288540"/>
            <a:ext cx="3410585" cy="0"/>
          </a:xfrm>
          <a:prstGeom prst="line">
            <a:avLst/>
          </a:prstGeom>
          <a:ln w="25400">
            <a:solidFill>
              <a:srgbClr val="0042FF"/>
            </a:solidFill>
            <a:prstDash val="sysDash"/>
            <a:headEnd type="oval"/>
            <a:tailEnd type="oval"/>
          </a:ln>
        </p:spPr>
        <p:style>
          <a:lnRef idx="2">
            <a:srgbClr val="0042FF"/>
          </a:lnRef>
          <a:fillRef idx="0">
            <a:srgbClr val="FFFFFF"/>
          </a:fillRef>
          <a:effectRef idx="0">
            <a:srgbClr val="FFFFFF"/>
          </a:effectRef>
          <a:fontRef idx="minor">
            <a:srgbClr val="383838"/>
          </a:fontRef>
        </p:style>
      </p:cxnSp>
      <p:pic>
        <p:nvPicPr>
          <p:cNvPr id="21" name="图片 20" descr="旧房改造"/>
          <p:cNvPicPr>
            <a:picLocks noChangeAspect="1"/>
          </p:cNvPicPr>
          <p:nvPr/>
        </p:nvPicPr>
        <p:blipFill>
          <a:blip r:embed="rId51">
            <a:extLst>
              <a:ext uri="{96DAC541-7B7A-43D3-8B79-37D633B846F1}">
                <asvg:svgBlip xmlns:asvg="http://schemas.microsoft.com/office/drawing/2016/SVG/main" r:embed="rId52"/>
              </a:ext>
            </a:extLst>
          </a:blip>
          <a:stretch>
            <a:fillRect/>
          </a:stretch>
        </p:blipFill>
        <p:spPr>
          <a:xfrm>
            <a:off x="3957955" y="2140585"/>
            <a:ext cx="276225" cy="276225"/>
          </a:xfrm>
          <a:prstGeom prst="rect">
            <a:avLst/>
          </a:prstGeom>
        </p:spPr>
      </p:pic>
      <p:sp>
        <p:nvSpPr>
          <p:cNvPr id="23" name="椭圆 22"/>
          <p:cNvSpPr/>
          <p:nvPr/>
        </p:nvSpPr>
        <p:spPr>
          <a:xfrm>
            <a:off x="7745730" y="2075815"/>
            <a:ext cx="438785" cy="438785"/>
          </a:xfrm>
          <a:prstGeom prst="ellipse">
            <a:avLst/>
          </a:prstGeom>
          <a:solidFill>
            <a:srgbClr val="0042FF"/>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pic>
        <p:nvPicPr>
          <p:cNvPr id="24" name="图片 23" descr="创新服务"/>
          <p:cNvPicPr>
            <a:picLocks noChangeAspect="1"/>
          </p:cNvPicPr>
          <p:nvPr/>
        </p:nvPicPr>
        <p:blipFill>
          <a:blip r:embed="rId53">
            <a:extLst>
              <a:ext uri="{96DAC541-7B7A-43D3-8B79-37D633B846F1}">
                <asvg:svgBlip xmlns:asvg="http://schemas.microsoft.com/office/drawing/2016/SVG/main" r:embed="rId54"/>
              </a:ext>
            </a:extLst>
          </a:blip>
          <a:stretch>
            <a:fillRect/>
          </a:stretch>
        </p:blipFill>
        <p:spPr>
          <a:xfrm>
            <a:off x="7847965" y="2161540"/>
            <a:ext cx="234950" cy="231775"/>
          </a:xfrm>
          <a:prstGeom prst="rect">
            <a:avLst/>
          </a:prstGeom>
        </p:spPr>
      </p:pic>
      <p:cxnSp>
        <p:nvCxnSpPr>
          <p:cNvPr id="34" name="直接连接符 33"/>
          <p:cNvCxnSpPr/>
          <p:nvPr/>
        </p:nvCxnSpPr>
        <p:spPr>
          <a:xfrm>
            <a:off x="286385" y="5436870"/>
            <a:ext cx="3400425" cy="0"/>
          </a:xfrm>
          <a:prstGeom prst="line">
            <a:avLst/>
          </a:prstGeom>
          <a:ln w="25400">
            <a:solidFill>
              <a:srgbClr val="3368FF"/>
            </a:solidFill>
            <a:prstDash val="sysDash"/>
            <a:headEnd type="oval"/>
            <a:tailEnd type="oval"/>
          </a:ln>
        </p:spPr>
        <p:style>
          <a:lnRef idx="2">
            <a:srgbClr val="0042FF"/>
          </a:lnRef>
          <a:fillRef idx="0">
            <a:srgbClr val="FFFFFF"/>
          </a:fillRef>
          <a:effectRef idx="0">
            <a:srgbClr val="FFFFFF"/>
          </a:effectRef>
          <a:fontRef idx="minor">
            <a:srgbClr val="383838"/>
          </a:fontRef>
        </p:style>
      </p:cxnSp>
      <p:sp>
        <p:nvSpPr>
          <p:cNvPr id="38" name="文本框 37"/>
          <p:cNvSpPr txBox="1"/>
          <p:nvPr/>
        </p:nvSpPr>
        <p:spPr>
          <a:xfrm>
            <a:off x="5649913" y="1333500"/>
            <a:ext cx="863600" cy="245110"/>
          </a:xfrm>
          <a:prstGeom prst="rect">
            <a:avLst/>
          </a:prstGeom>
          <a:noFill/>
          <a:extLst>
            <a:ext uri="{909E8E84-426E-40DD-AFC4-6F175D3DCCD1}">
              <a14:hiddenFill xmlns:a14="http://schemas.microsoft.com/office/drawing/2010/main">
                <a:solidFill>
                  <a:srgbClr val="668EFF"/>
                </a:solidFill>
              </a14:hiddenFill>
            </a:ext>
          </a:extLst>
        </p:spPr>
        <p:txBody>
          <a:bodyPr wrap="square" rtlCol="0" lIns="0" rIns="0" tIns="0" bIns="0">
            <a:spAutoFi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数字化转型</a:t>
            </a:r>
            <a:endParaRPr lang="zh-CN" altLang="en-US" sz="1000">
              <a:solidFill>
                <a:srgbClr val="FFFFFF"/>
              </a:solidFill>
              <a:latin typeface="微软雅黑"/>
              <a:ea typeface="微软雅黑"/>
              <a:cs typeface="微软雅黑"/>
            </a:endParaRPr>
          </a:p>
        </p:txBody>
      </p:sp>
      <p:sp>
        <p:nvSpPr>
          <p:cNvPr id="43" name="矩形 42"/>
          <p:cNvSpPr/>
          <p:nvPr/>
        </p:nvSpPr>
        <p:spPr>
          <a:xfrm>
            <a:off x="5650230" y="6285230"/>
            <a:ext cx="864235" cy="26416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4" name="文本框 43"/>
          <p:cNvSpPr txBox="1"/>
          <p:nvPr/>
        </p:nvSpPr>
        <p:spPr>
          <a:xfrm>
            <a:off x="5650548" y="6294755"/>
            <a:ext cx="863600" cy="245110"/>
          </a:xfrm>
          <a:prstGeom prst="rect">
            <a:avLst/>
          </a:prstGeom>
          <a:noFill/>
          <a:extLst>
            <a:ext uri="{909E8E84-426E-40DD-AFC4-6F175D3DCCD1}">
              <a14:hiddenFill xmlns:a14="http://schemas.microsoft.com/office/drawing/2010/main">
                <a:solidFill>
                  <a:srgbClr val="668EFF"/>
                </a:solidFill>
              </a14:hiddenFill>
            </a:ext>
          </a:extLst>
        </p:spPr>
        <p:txBody>
          <a:bodyPr wrap="square" rtlCol="0" lIns="0" rIns="0" tIns="0" bIns="0">
            <a:spAutoFi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数字化转型</a:t>
            </a:r>
            <a:endParaRPr lang="zh-CN" altLang="en-US" sz="1000">
              <a:solidFill>
                <a:srgbClr val="FFFFFF"/>
              </a:solidFill>
              <a:latin typeface="微软雅黑"/>
              <a:ea typeface="微软雅黑"/>
              <a:cs typeface="微软雅黑"/>
            </a:endParaRPr>
          </a:p>
        </p:txBody>
      </p:sp>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55"/>
            <a:srcRect l="17002" t="-1765" r="56499" b="-1176"/>
            <a:stretch>
              <a:fillRect/>
            </a:stretch>
          </p:blipFill>
          <p:spPr>
            <a:xfrm>
              <a:off x="13761" y="549"/>
              <a:ext cx="1582" cy="525"/>
            </a:xfrm>
            <a:prstGeom prst="rect">
              <a:avLst/>
            </a:prstGeom>
          </p:spPr>
        </p:pic>
        <p:sp>
          <p:nvSpPr>
            <p:cNvPr id="9" name="文本框 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天蝎PPT1"/>
          <p:cNvSpPr/>
          <p:nvPr>
            <p:custDataLst>
              <p:tags r:id="rId1"/>
            </p:custDataLst>
          </p:nvPr>
        </p:nvSpPr>
        <p:spPr>
          <a:xfrm>
            <a:off x="379095" y="993775"/>
            <a:ext cx="11437620" cy="1318260"/>
          </a:xfrm>
          <a:prstGeom prst="roundRect">
            <a:avLst>
              <a:gd name="adj" fmla="val 6893"/>
            </a:avLst>
          </a:prstGeom>
          <a:solidFill>
            <a:srgbClr val="FFFFFF">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5" name="等腰三角形 4"/>
          <p:cNvSpPr/>
          <p:nvPr/>
        </p:nvSpPr>
        <p:spPr>
          <a:xfrm>
            <a:off x="4788535" y="1772285"/>
            <a:ext cx="2731770" cy="1708150"/>
          </a:xfrm>
          <a:prstGeom prst="triangle">
            <a:avLst/>
          </a:prstGeom>
          <a:gradFill>
            <a:gsLst>
              <a:gs pos="0">
                <a:srgbClr val="B3D4FE"/>
              </a:gs>
              <a:gs pos="71000">
                <a:srgbClr val="B3D4FE">
                  <a:alpha val="0"/>
                </a:srgbClr>
              </a:gs>
            </a:gsLst>
            <a:lin ang="5400000" scaled="0"/>
          </a:gradFill>
          <a:ln w="38100">
            <a:gradFill>
              <a:gsLst>
                <a:gs pos="76000">
                  <a:srgbClr val="FFFFFF"/>
                </a:gs>
                <a:gs pos="87000">
                  <a:srgbClr val="FFFF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pic>
        <p:nvPicPr>
          <p:cNvPr id="210" name="图片 20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
        <p:nvSpPr>
          <p:cNvPr id="2"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2026</a:t>
            </a:r>
            <a:r>
              <a:rPr lang="zh-CN" altLang="en-US" sz="2500" dirty="0">
                <a:solidFill>
                  <a:srgbClr val="383838"/>
                </a:solidFill>
                <a:effectLst/>
                <a:latin typeface="微软雅黑"/>
                <a:ea typeface="微软雅黑"/>
                <a:cs typeface="微软雅黑"/>
              </a:rPr>
              <a:t>年度工作规划图</a:t>
            </a:r>
            <a:endParaRPr sz="2500" dirty="0">
              <a:solidFill>
                <a:srgbClr val="383838"/>
              </a:solidFill>
              <a:effectLst/>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4"/>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92" name="组合 91"/>
          <p:cNvGrpSpPr/>
          <p:nvPr/>
        </p:nvGrpSpPr>
        <p:grpSpPr>
          <a:xfrm>
            <a:off x="5036820" y="3340100"/>
            <a:ext cx="2378710" cy="458470"/>
            <a:chOff x="7922" y="4936"/>
            <a:chExt cx="3746" cy="722"/>
          </a:xfrm>
        </p:grpSpPr>
        <p:sp>
          <p:nvSpPr>
            <p:cNvPr id="8" name="椭圆 7"/>
            <p:cNvSpPr/>
            <p:nvPr>
              <p:custDataLst>
                <p:tags r:id="rId5"/>
              </p:custDataLst>
            </p:nvPr>
          </p:nvSpPr>
          <p:spPr>
            <a:xfrm>
              <a:off x="7922" y="4936"/>
              <a:ext cx="3747" cy="722"/>
            </a:xfrm>
            <a:prstGeom prst="ellipse">
              <a:avLst/>
            </a:prstGeom>
            <a:gradFill>
              <a:gsLst>
                <a:gs pos="100000">
                  <a:srgbClr val="3368FF"/>
                </a:gs>
                <a:gs pos="0">
                  <a:srgbClr val="E6E6E6">
                    <a:alpha val="0"/>
                  </a:srgbClr>
                </a:gs>
              </a:gsLst>
              <a:lin ang="5400000" scaled="0"/>
            </a:gradFill>
            <a:ln w="1905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 name="椭圆 22"/>
            <p:cNvSpPr/>
            <p:nvPr>
              <p:custDataLst>
                <p:tags r:id="rId6"/>
              </p:custDataLst>
            </p:nvPr>
          </p:nvSpPr>
          <p:spPr>
            <a:xfrm>
              <a:off x="8709" y="5072"/>
              <a:ext cx="2173" cy="323"/>
            </a:xfrm>
            <a:prstGeom prst="ellipse">
              <a:avLst/>
            </a:prstGeom>
            <a:solidFill>
              <a:srgbClr val="FFFFFF"/>
            </a:solidFill>
            <a:ln w="19050">
              <a:solidFill>
                <a:srgbClr val="FFFFFF"/>
              </a:solid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10" name="组合 9"/>
          <p:cNvGrpSpPr/>
          <p:nvPr/>
        </p:nvGrpSpPr>
        <p:grpSpPr>
          <a:xfrm rot="0">
            <a:off x="4451668" y="4342765"/>
            <a:ext cx="3495040" cy="673053"/>
            <a:chOff x="6716" y="3529"/>
            <a:chExt cx="5944" cy="1145"/>
          </a:xfrm>
        </p:grpSpPr>
        <p:sp>
          <p:nvSpPr>
            <p:cNvPr id="11" name="椭圆 10"/>
            <p:cNvSpPr/>
            <p:nvPr>
              <p:custDataLst>
                <p:tags r:id="rId7"/>
              </p:custDataLst>
            </p:nvPr>
          </p:nvSpPr>
          <p:spPr>
            <a:xfrm>
              <a:off x="6716" y="3529"/>
              <a:ext cx="5944" cy="1145"/>
            </a:xfrm>
            <a:prstGeom prst="ellipse">
              <a:avLst/>
            </a:prstGeom>
            <a:gradFill>
              <a:gsLst>
                <a:gs pos="100000">
                  <a:srgbClr val="3368FF"/>
                </a:gs>
                <a:gs pos="0">
                  <a:srgbClr val="E6E6E6">
                    <a:alpha val="0"/>
                  </a:srgbClr>
                </a:gs>
              </a:gsLst>
              <a:lin ang="5400000" scaled="0"/>
            </a:gradFill>
            <a:ln w="1905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3" name="椭圆 12"/>
            <p:cNvSpPr/>
            <p:nvPr>
              <p:custDataLst>
                <p:tags r:id="rId8"/>
              </p:custDataLst>
            </p:nvPr>
          </p:nvSpPr>
          <p:spPr>
            <a:xfrm>
              <a:off x="8114" y="3754"/>
              <a:ext cx="3149" cy="556"/>
            </a:xfrm>
            <a:prstGeom prst="ellipse">
              <a:avLst/>
            </a:prstGeom>
            <a:solidFill>
              <a:srgbClr val="FFFFFF"/>
            </a:solidFill>
            <a:ln w="1905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55" name="任意多边形: 形状 11"/>
          <p:cNvSpPr/>
          <p:nvPr/>
        </p:nvSpPr>
        <p:spPr>
          <a:xfrm>
            <a:off x="3792221" y="5133975"/>
            <a:ext cx="4855845" cy="1208405"/>
          </a:xfrm>
          <a:custGeom>
            <a:avLst/>
            <a:gdLst>
              <a:gd name="connsiteX0" fmla="*/ 4515549 w 5473700"/>
              <a:gd name="connsiteY0" fmla="*/ 1112031 h 1263650"/>
              <a:gd name="connsiteX1" fmla="*/ 5473700 w 5473700"/>
              <a:gd name="connsiteY1" fmla="*/ 631825 h 1263650"/>
              <a:gd name="connsiteX2" fmla="*/ 2736850 w 5473700"/>
              <a:gd name="connsiteY2" fmla="*/ 0 h 1263650"/>
              <a:gd name="connsiteX3" fmla="*/ 0 w 5473700"/>
              <a:gd name="connsiteY3" fmla="*/ 631825 h 1263650"/>
              <a:gd name="connsiteX4" fmla="*/ 978389 w 5473700"/>
              <a:gd name="connsiteY4" fmla="*/ 1115994 h 1263650"/>
              <a:gd name="connsiteX5" fmla="*/ 1410094 w 5473700"/>
              <a:gd name="connsiteY5" fmla="*/ 680561 h 1263650"/>
              <a:gd name="connsiteX6" fmla="*/ 1066800 w 5473700"/>
              <a:gd name="connsiteY6" fmla="*/ 485775 h 1263650"/>
              <a:gd name="connsiteX7" fmla="*/ 2736850 w 5473700"/>
              <a:gd name="connsiteY7" fmla="*/ 165100 h 1263650"/>
              <a:gd name="connsiteX8" fmla="*/ 4406900 w 5473700"/>
              <a:gd name="connsiteY8" fmla="*/ 485775 h 1263650"/>
              <a:gd name="connsiteX9" fmla="*/ 4082923 w 5473700"/>
              <a:gd name="connsiteY9" fmla="*/ 675621 h 1263650"/>
              <a:gd name="connsiteX10" fmla="*/ 4515549 w 5473700"/>
              <a:gd name="connsiteY10" fmla="*/ 1112031 h 1263650"/>
              <a:gd name="connsiteX11" fmla="*/ 4402456 w 5473700"/>
              <a:gd name="connsiteY11" fmla="*/ 1133215 h 1263650"/>
              <a:gd name="connsiteX12" fmla="*/ 3974084 w 5473700"/>
              <a:gd name="connsiteY12" fmla="*/ 701167 h 1263650"/>
              <a:gd name="connsiteX13" fmla="*/ 2736850 w 5473700"/>
              <a:gd name="connsiteY13" fmla="*/ 806450 h 1263650"/>
              <a:gd name="connsiteX14" fmla="*/ 1519657 w 5473700"/>
              <a:gd name="connsiteY14" fmla="*/ 705339 h 1263650"/>
              <a:gd name="connsiteX15" fmla="*/ 1091864 w 5473700"/>
              <a:gd name="connsiteY15" fmla="*/ 1136834 h 1263650"/>
              <a:gd name="connsiteX16" fmla="*/ 2736850 w 5473700"/>
              <a:gd name="connsiteY16" fmla="*/ 1263650 h 1263650"/>
              <a:gd name="connsiteX17" fmla="*/ 4402456 w 5473700"/>
              <a:gd name="connsiteY17" fmla="*/ 1133215 h 126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73700" h="1263650">
                <a:moveTo>
                  <a:pt x="4515549" y="1112031"/>
                </a:moveTo>
                <a:cubicBezTo>
                  <a:pt x="5102035" y="996150"/>
                  <a:pt x="5473700" y="824008"/>
                  <a:pt x="5473700" y="631825"/>
                </a:cubicBezTo>
                <a:cubicBezTo>
                  <a:pt x="5473700" y="282880"/>
                  <a:pt x="4248341" y="0"/>
                  <a:pt x="2736850" y="0"/>
                </a:cubicBezTo>
                <a:cubicBezTo>
                  <a:pt x="1225328" y="0"/>
                  <a:pt x="0" y="282880"/>
                  <a:pt x="0" y="631825"/>
                </a:cubicBezTo>
                <a:cubicBezTo>
                  <a:pt x="0" y="826211"/>
                  <a:pt x="380244" y="1000093"/>
                  <a:pt x="978389" y="1115994"/>
                </a:cubicBezTo>
                <a:lnTo>
                  <a:pt x="1410094" y="680561"/>
                </a:lnTo>
                <a:cubicBezTo>
                  <a:pt x="1194753" y="626567"/>
                  <a:pt x="1066800" y="559041"/>
                  <a:pt x="1066800" y="485775"/>
                </a:cubicBezTo>
                <a:cubicBezTo>
                  <a:pt x="1066800" y="308673"/>
                  <a:pt x="1814506" y="165100"/>
                  <a:pt x="2736850" y="165100"/>
                </a:cubicBezTo>
                <a:cubicBezTo>
                  <a:pt x="3659188" y="165100"/>
                  <a:pt x="4406900" y="308673"/>
                  <a:pt x="4406900" y="485775"/>
                </a:cubicBezTo>
                <a:cubicBezTo>
                  <a:pt x="4406900" y="556825"/>
                  <a:pt x="4286568" y="622471"/>
                  <a:pt x="4082923" y="675621"/>
                </a:cubicBezTo>
                <a:lnTo>
                  <a:pt x="4515549" y="1112031"/>
                </a:lnTo>
                <a:close/>
                <a:moveTo>
                  <a:pt x="4402456" y="1133215"/>
                </a:moveTo>
                <a:lnTo>
                  <a:pt x="3974084" y="701167"/>
                </a:lnTo>
                <a:cubicBezTo>
                  <a:pt x="3668586" y="765835"/>
                  <a:pt x="3227388" y="806450"/>
                  <a:pt x="2736850" y="806450"/>
                </a:cubicBezTo>
                <a:cubicBezTo>
                  <a:pt x="2256930" y="806450"/>
                  <a:pt x="1824285" y="767582"/>
                  <a:pt x="1519657" y="705339"/>
                </a:cubicBezTo>
                <a:lnTo>
                  <a:pt x="1091864" y="1136834"/>
                </a:lnTo>
                <a:cubicBezTo>
                  <a:pt x="1549768" y="1216451"/>
                  <a:pt x="2119433" y="1263650"/>
                  <a:pt x="2736850" y="1263650"/>
                </a:cubicBezTo>
                <a:cubicBezTo>
                  <a:pt x="3363595" y="1263650"/>
                  <a:pt x="3941064" y="1215022"/>
                  <a:pt x="4402456" y="1133215"/>
                </a:cubicBezTo>
                <a:close/>
              </a:path>
            </a:pathLst>
          </a:custGeom>
          <a:gradFill>
            <a:gsLst>
              <a:gs pos="15000">
                <a:srgbClr val="E6E6E6">
                  <a:alpha val="0"/>
                </a:srgbClr>
              </a:gs>
              <a:gs pos="61000">
                <a:srgbClr val="3368FF">
                  <a:alpha val="51450"/>
                </a:srgbClr>
              </a:gs>
              <a:gs pos="93000">
                <a:srgbClr val="0042FF"/>
              </a:gs>
            </a:gsLst>
            <a:lin ang="5135760" scaled="1"/>
          </a:gradFill>
          <a:ln w="12700" cap="flat">
            <a:noFill/>
            <a:prstDash val="solid"/>
            <a:miter/>
          </a:ln>
          <a:effectLst>
            <a:outerShdw blurRad="152400" dist="88900" dir="5400000" algn="t" rotWithShape="0">
              <a:srgbClr val="0042FF">
                <a:alpha val="25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4" name="任意多边形 13"/>
          <p:cNvSpPr/>
          <p:nvPr/>
        </p:nvSpPr>
        <p:spPr>
          <a:xfrm>
            <a:off x="3181350" y="2010410"/>
            <a:ext cx="6078220" cy="4233545"/>
          </a:xfrm>
          <a:custGeom>
            <a:avLst/>
            <a:gdLst>
              <a:gd name="connsiteX0" fmla="*/ 0 w 5971"/>
              <a:gd name="connsiteY0" fmla="*/ 2813 h 2885"/>
              <a:gd name="connsiteX1" fmla="*/ 2952 w 5971"/>
              <a:gd name="connsiteY1" fmla="*/ 0 h 2885"/>
              <a:gd name="connsiteX2" fmla="*/ 5971 w 5971"/>
              <a:gd name="connsiteY2" fmla="*/ 2885 h 2885"/>
              <a:gd name="connsiteX3" fmla="*/ 0 w 5971"/>
              <a:gd name="connsiteY3" fmla="*/ 2813 h 2885"/>
            </a:gdLst>
            <a:ahLst/>
            <a:cxnLst>
              <a:cxn ang="0">
                <a:pos x="connsiteX0" y="connsiteY0"/>
              </a:cxn>
              <a:cxn ang="0">
                <a:pos x="connsiteX1" y="connsiteY1"/>
              </a:cxn>
              <a:cxn ang="0">
                <a:pos x="connsiteX2" y="connsiteY2"/>
              </a:cxn>
              <a:cxn ang="0">
                <a:pos x="connsiteX3" y="connsiteY3"/>
              </a:cxn>
            </a:cxnLst>
            <a:rect l="l" t="t" r="r" b="b"/>
            <a:pathLst>
              <a:path w="5982" h="3871">
                <a:moveTo>
                  <a:pt x="2931" y="0"/>
                </a:moveTo>
                <a:lnTo>
                  <a:pt x="3672" y="855"/>
                </a:lnTo>
                <a:lnTo>
                  <a:pt x="3301" y="855"/>
                </a:lnTo>
                <a:cubicBezTo>
                  <a:pt x="3341" y="1209"/>
                  <a:pt x="3459" y="2028"/>
                  <a:pt x="3617" y="2330"/>
                </a:cubicBezTo>
                <a:lnTo>
                  <a:pt x="3623" y="2340"/>
                </a:lnTo>
                <a:lnTo>
                  <a:pt x="3639" y="2364"/>
                </a:lnTo>
                <a:lnTo>
                  <a:pt x="3671" y="2410"/>
                </a:lnTo>
                <a:lnTo>
                  <a:pt x="3677" y="2416"/>
                </a:lnTo>
                <a:lnTo>
                  <a:pt x="3675" y="2416"/>
                </a:lnTo>
                <a:lnTo>
                  <a:pt x="3678" y="2420"/>
                </a:lnTo>
                <a:cubicBezTo>
                  <a:pt x="4239" y="3205"/>
                  <a:pt x="4999" y="3725"/>
                  <a:pt x="5982" y="3871"/>
                </a:cubicBezTo>
                <a:lnTo>
                  <a:pt x="0" y="3799"/>
                </a:lnTo>
                <a:cubicBezTo>
                  <a:pt x="1023" y="3622"/>
                  <a:pt x="1657" y="3265"/>
                  <a:pt x="2198" y="2478"/>
                </a:cubicBezTo>
                <a:lnTo>
                  <a:pt x="2225" y="2437"/>
                </a:lnTo>
                <a:lnTo>
                  <a:pt x="2222" y="2437"/>
                </a:lnTo>
                <a:cubicBezTo>
                  <a:pt x="2424" y="2177"/>
                  <a:pt x="2565" y="1297"/>
                  <a:pt x="2559" y="855"/>
                </a:cubicBezTo>
                <a:lnTo>
                  <a:pt x="2188" y="855"/>
                </a:lnTo>
                <a:lnTo>
                  <a:pt x="2931" y="0"/>
                </a:lnTo>
                <a:close/>
              </a:path>
            </a:pathLst>
          </a:custGeom>
          <a:gradFill>
            <a:gsLst>
              <a:gs pos="19000">
                <a:srgbClr val="B3D4FE"/>
              </a:gs>
              <a:gs pos="42000">
                <a:srgbClr val="3368FF">
                  <a:alpha val="80000"/>
                </a:srgbClr>
              </a:gs>
              <a:gs pos="87000">
                <a:srgbClr val="3368FF">
                  <a:alpha val="0"/>
                </a:srgbClr>
              </a:gs>
            </a:gsLst>
            <a:lin ang="5400000" scaled="0"/>
          </a:gradFill>
          <a:ln w="9491" cap="flat">
            <a:noFill/>
            <a:prstDash val="solid"/>
            <a:miter/>
          </a:ln>
        </p:spPr>
        <p:txBody>
          <a:bodyPr vert="horz" wrap="square" numCol="1" spcCol="0" rtlCol="0" fromWordArt="0" anchor="ctr" anchorCtr="0" forceAA="0" compatLnSpc="0" lIns="0" rIns="0" tIns="0" bIns="0">
            <a:noAutofit/>
          </a:bodyPr>
          <a:lstStyle/>
          <a:p>
            <a:pPr lvl="0" algn="l">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grpSp>
        <p:nvGrpSpPr>
          <p:cNvPr id="22" name="组合 21"/>
          <p:cNvGrpSpPr/>
          <p:nvPr/>
        </p:nvGrpSpPr>
        <p:grpSpPr>
          <a:xfrm>
            <a:off x="4872355" y="986790"/>
            <a:ext cx="2686050" cy="878840"/>
            <a:chOff x="7817" y="1494"/>
            <a:chExt cx="4230" cy="1384"/>
          </a:xfrm>
        </p:grpSpPr>
        <p:sp>
          <p:nvSpPr>
            <p:cNvPr id="17" name="文本框 16"/>
            <p:cNvSpPr txBox="1"/>
            <p:nvPr/>
          </p:nvSpPr>
          <p:spPr>
            <a:xfrm>
              <a:off x="7817" y="1494"/>
              <a:ext cx="4230" cy="628"/>
            </a:xfrm>
            <a:prstGeom prst="rect">
              <a:avLst/>
            </a:prstGeom>
            <a:noFill/>
          </p:spPr>
          <p:txBody>
            <a:bodyPr wrap="square">
              <a:spAutoFit/>
            </a:bodyPr>
            <a:lstStyle/>
            <a:p>
              <a:pPr algn="ctr">
                <a:lnSpc>
                  <a:spcPct val="125000"/>
                </a:lnSpc>
                <a:defRPr>
                  <a:latin typeface="微软雅黑"/>
                  <a:ea typeface="微软雅黑"/>
                  <a:cs typeface="微软雅黑"/>
                </a:defRPr>
              </a:pPr>
              <a:r>
                <a:rPr lang="en-US" altLang="zh-CN" sz="1600" b="1" dirty="0">
                  <a:solidFill>
                    <a:srgbClr val="383838"/>
                  </a:solidFill>
                  <a:latin typeface="微软雅黑"/>
                  <a:ea typeface="微软雅黑"/>
                  <a:cs typeface="微软雅黑"/>
                </a:rPr>
                <a:t>2026</a:t>
              </a:r>
              <a:r>
                <a:rPr lang="zh-CN" altLang="en-US" sz="1600" b="1" dirty="0">
                  <a:solidFill>
                    <a:srgbClr val="383838"/>
                  </a:solidFill>
                  <a:latin typeface="微软雅黑"/>
                  <a:ea typeface="微软雅黑"/>
                  <a:cs typeface="微软雅黑"/>
                </a:rPr>
                <a:t>年业绩目标</a:t>
              </a:r>
              <a:endParaRPr lang="zh-CN" altLang="en-US" sz="1600" b="1" dirty="0">
                <a:solidFill>
                  <a:srgbClr val="383838"/>
                </a:solidFill>
                <a:latin typeface="微软雅黑"/>
                <a:ea typeface="微软雅黑"/>
                <a:cs typeface="微软雅黑"/>
              </a:endParaRPr>
            </a:p>
          </p:txBody>
        </p:sp>
        <p:sp>
          <p:nvSpPr>
            <p:cNvPr id="18" name="文本框 17"/>
            <p:cNvSpPr txBox="1"/>
            <p:nvPr/>
          </p:nvSpPr>
          <p:spPr>
            <a:xfrm>
              <a:off x="8753" y="1826"/>
              <a:ext cx="2359" cy="1052"/>
            </a:xfrm>
            <a:prstGeom prst="rect">
              <a:avLst/>
            </a:prstGeom>
            <a:noFill/>
          </p:spPr>
          <p:txBody>
            <a:bodyPr wrap="square">
              <a:spAutoFit/>
            </a:bodyPr>
            <a:lstStyle/>
            <a:p>
              <a:pPr algn="ctr">
                <a:lnSpc>
                  <a:spcPct val="125000"/>
                </a:lnSpc>
                <a:defRPr>
                  <a:latin typeface="微软雅黑"/>
                  <a:ea typeface="微软雅黑"/>
                  <a:cs typeface="微软雅黑"/>
                </a:defRPr>
              </a:pPr>
              <a:r>
                <a:rPr lang="en-US" sz="3000" b="1" dirty="0">
                  <a:solidFill>
                    <a:srgbClr val="0042FF"/>
                  </a:solidFill>
                  <a:latin typeface="微软雅黑"/>
                  <a:ea typeface="微软雅黑"/>
                  <a:cs typeface="微软雅黑"/>
                </a:rPr>
                <a:t>100</a:t>
              </a:r>
              <a:r>
                <a:rPr lang="zh-CN" altLang="en-US" sz="3000" b="1" dirty="0">
                  <a:solidFill>
                    <a:srgbClr val="0042FF"/>
                  </a:solidFill>
                  <a:latin typeface="微软雅黑"/>
                  <a:ea typeface="微软雅黑"/>
                  <a:cs typeface="微软雅黑"/>
                </a:rPr>
                <a:t>亿</a:t>
              </a:r>
              <a:endParaRPr lang="zh-CN" altLang="en-US" sz="3000" b="1" dirty="0">
                <a:solidFill>
                  <a:srgbClr val="0042FF"/>
                </a:solidFill>
                <a:latin typeface="微软雅黑"/>
                <a:ea typeface="微软雅黑"/>
                <a:cs typeface="微软雅黑"/>
              </a:endParaRPr>
            </a:p>
          </p:txBody>
        </p:sp>
      </p:grpSp>
      <p:sp>
        <p:nvSpPr>
          <p:cNvPr id="20" name="圆角矩形 19"/>
          <p:cNvSpPr/>
          <p:nvPr/>
        </p:nvSpPr>
        <p:spPr>
          <a:xfrm>
            <a:off x="355600" y="2437765"/>
            <a:ext cx="3274060" cy="426720"/>
          </a:xfrm>
          <a:prstGeom prst="roundRect">
            <a:avLst>
              <a:gd name="adj" fmla="val 50000"/>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cs typeface="微软雅黑"/>
                <a:sym typeface="微软雅黑"/>
                <a:latin typeface="微软雅黑"/>
                <a:ea typeface="微软雅黑"/>
              </a:rPr>
              <a:t>核心实施举措：市场增长引擎</a:t>
            </a:r>
            <a:endParaRPr lang="zh-CN" altLang="en-US" sz="1600" b="1">
              <a:solidFill>
                <a:srgbClr val="FFFFFF"/>
              </a:solidFill>
              <a:cs typeface="微软雅黑"/>
              <a:sym typeface="微软雅黑"/>
              <a:latin typeface="微软雅黑"/>
              <a:ea typeface="微软雅黑"/>
            </a:endParaRPr>
          </a:p>
        </p:txBody>
      </p:sp>
      <p:sp>
        <p:nvSpPr>
          <p:cNvPr id="21" name="圆角矩形 20"/>
          <p:cNvSpPr/>
          <p:nvPr/>
        </p:nvSpPr>
        <p:spPr>
          <a:xfrm>
            <a:off x="371475" y="4472305"/>
            <a:ext cx="3352165" cy="426720"/>
          </a:xfrm>
          <a:prstGeom prst="roundRect">
            <a:avLst>
              <a:gd name="adj" fmla="val 50000"/>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cs typeface="微软雅黑"/>
                <a:sym typeface="微软雅黑"/>
                <a:latin typeface="微软雅黑"/>
                <a:ea typeface="微软雅黑"/>
              </a:rPr>
              <a:t>关键战略部署：内部生产保障</a:t>
            </a:r>
            <a:endParaRPr lang="zh-CN" altLang="en-US" sz="1600" b="1">
              <a:solidFill>
                <a:srgbClr val="FFFFFF"/>
              </a:solidFill>
              <a:cs typeface="微软雅黑"/>
              <a:sym typeface="微软雅黑"/>
              <a:latin typeface="微软雅黑"/>
              <a:ea typeface="微软雅黑"/>
            </a:endParaRPr>
          </a:p>
        </p:txBody>
      </p:sp>
      <p:cxnSp>
        <p:nvCxnSpPr>
          <p:cNvPr id="24" name="直接箭头连接符 23"/>
          <p:cNvCxnSpPr/>
          <p:nvPr/>
        </p:nvCxnSpPr>
        <p:spPr>
          <a:xfrm flipH="1">
            <a:off x="3878580" y="1580515"/>
            <a:ext cx="1371600" cy="0"/>
          </a:xfrm>
          <a:prstGeom prst="straightConnector1">
            <a:avLst/>
          </a:prstGeom>
          <a:ln>
            <a:gradFill>
              <a:gsLst>
                <a:gs pos="2800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cxnSp>
        <p:nvCxnSpPr>
          <p:cNvPr id="25" name="直接箭头连接符 24"/>
          <p:cNvCxnSpPr/>
          <p:nvPr/>
        </p:nvCxnSpPr>
        <p:spPr>
          <a:xfrm>
            <a:off x="7024370" y="1580515"/>
            <a:ext cx="1371600" cy="0"/>
          </a:xfrm>
          <a:prstGeom prst="straightConnector1">
            <a:avLst/>
          </a:prstGeom>
          <a:ln>
            <a:gradFill>
              <a:gsLst>
                <a:gs pos="2800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sp>
        <p:nvSpPr>
          <p:cNvPr id="38" name="圆角矩形 37"/>
          <p:cNvSpPr/>
          <p:nvPr/>
        </p:nvSpPr>
        <p:spPr>
          <a:xfrm>
            <a:off x="8606790" y="2445385"/>
            <a:ext cx="3270250" cy="426720"/>
          </a:xfrm>
          <a:prstGeom prst="roundRect">
            <a:avLst>
              <a:gd name="adj" fmla="val 50000"/>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cs typeface="微软雅黑"/>
                <a:sym typeface="微软雅黑"/>
                <a:latin typeface="微软雅黑"/>
                <a:ea typeface="微软雅黑"/>
              </a:rPr>
              <a:t>核心实施举措：运营保障基石</a:t>
            </a:r>
            <a:endParaRPr lang="zh-CN" altLang="en-US" sz="1600" b="1">
              <a:solidFill>
                <a:srgbClr val="FFFFFF"/>
              </a:solidFill>
              <a:cs typeface="微软雅黑"/>
              <a:sym typeface="微软雅黑"/>
              <a:latin typeface="微软雅黑"/>
              <a:ea typeface="微软雅黑"/>
            </a:endParaRPr>
          </a:p>
        </p:txBody>
      </p:sp>
      <p:cxnSp>
        <p:nvCxnSpPr>
          <p:cNvPr id="39" name="直接箭头连接符 38"/>
          <p:cNvCxnSpPr/>
          <p:nvPr/>
        </p:nvCxnSpPr>
        <p:spPr>
          <a:xfrm flipH="1">
            <a:off x="3792220" y="3545840"/>
            <a:ext cx="1142365" cy="0"/>
          </a:xfrm>
          <a:prstGeom prst="straightConnector1">
            <a:avLst/>
          </a:prstGeom>
          <a:ln>
            <a:gradFill>
              <a:gsLst>
                <a:gs pos="2800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cxnSp>
        <p:nvCxnSpPr>
          <p:cNvPr id="49" name="直接箭头连接符 48"/>
          <p:cNvCxnSpPr/>
          <p:nvPr/>
        </p:nvCxnSpPr>
        <p:spPr>
          <a:xfrm>
            <a:off x="7518400" y="3545840"/>
            <a:ext cx="889635" cy="0"/>
          </a:xfrm>
          <a:prstGeom prst="straightConnector1">
            <a:avLst/>
          </a:prstGeom>
          <a:ln>
            <a:gradFill>
              <a:gsLst>
                <a:gs pos="2800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sp>
        <p:nvSpPr>
          <p:cNvPr id="51" name="圆角矩形 50"/>
          <p:cNvSpPr/>
          <p:nvPr/>
        </p:nvSpPr>
        <p:spPr>
          <a:xfrm>
            <a:off x="8610600" y="4472305"/>
            <a:ext cx="3266440" cy="426720"/>
          </a:xfrm>
          <a:prstGeom prst="roundRect">
            <a:avLst>
              <a:gd name="adj" fmla="val 50000"/>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cs typeface="微软雅黑"/>
                <a:sym typeface="微软雅黑"/>
                <a:latin typeface="微软雅黑"/>
                <a:ea typeface="微软雅黑"/>
              </a:rPr>
              <a:t>关键战略部署：营销价值传递</a:t>
            </a:r>
            <a:endParaRPr lang="zh-CN" altLang="en-US" sz="1600" b="1">
              <a:solidFill>
                <a:srgbClr val="FFFFFF"/>
              </a:solidFill>
              <a:cs typeface="微软雅黑"/>
              <a:sym typeface="微软雅黑"/>
              <a:latin typeface="微软雅黑"/>
              <a:ea typeface="微软雅黑"/>
            </a:endParaRPr>
          </a:p>
        </p:txBody>
      </p:sp>
      <p:sp>
        <p:nvSpPr>
          <p:cNvPr id="53" name="文本框 52"/>
          <p:cNvSpPr txBox="1"/>
          <p:nvPr/>
        </p:nvSpPr>
        <p:spPr>
          <a:xfrm>
            <a:off x="423545" y="4964430"/>
            <a:ext cx="3180080" cy="1353185"/>
          </a:xfrm>
          <a:prstGeom prst="rect">
            <a:avLst/>
          </a:prstGeom>
          <a:noFill/>
        </p:spPr>
        <p:txBody>
          <a:bodyPr wrap="square" lIns="0" rIns="0" tIns="0" bIns="0">
            <a:spAutoFit/>
          </a:bodyPr>
          <a:lstStyle/>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产品管理模块：</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优化产品结构，确保爆品不断货、新品及时上。核心在于产能爬坡、供应链韧性与成本控制，保证</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弹药</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充足</a:t>
            </a:r>
            <a:r>
              <a:rPr kumimoji="0" lang="zh-CN" sz="10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市场拓展（供给端）模块：</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基于市场需求预测，倒推生产计划，拓展代工或自建产能，确保供应网络能覆盖全国乃至全球的销售需求。</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4" name="文本框 53"/>
          <p:cNvSpPr txBox="1"/>
          <p:nvPr/>
        </p:nvSpPr>
        <p:spPr>
          <a:xfrm>
            <a:off x="8642985" y="4964430"/>
            <a:ext cx="3234055" cy="1353185"/>
          </a:xfrm>
          <a:prstGeom prst="rect">
            <a:avLst/>
          </a:prstGeom>
          <a:noFill/>
        </p:spPr>
        <p:txBody>
          <a:bodyPr wrap="square" lIns="0" rIns="0" tIns="0" bIns="0">
            <a:spAutoFit/>
          </a:bodyPr>
          <a:lstStyle/>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产品运营模块：</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精细化运营现有产品生命周期，通过数据分析提升转化率、复购率，最大化单品的生命周期价值。</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市场拓展（需求端）模块：</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开拓新渠道、新区域（下沉</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出海），制定分渠道、分区域的增长策略，通过品牌营销扩大用户基数，解决</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卖给谁</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的问题。</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7" name="等腰三角形 56"/>
          <p:cNvSpPr/>
          <p:nvPr/>
        </p:nvSpPr>
        <p:spPr>
          <a:xfrm>
            <a:off x="5284470" y="1977390"/>
            <a:ext cx="1739900" cy="1087120"/>
          </a:xfrm>
          <a:prstGeom prst="triangle">
            <a:avLst/>
          </a:prstGeom>
          <a:noFill/>
          <a:ln w="25400">
            <a:gradFill>
              <a:gsLst>
                <a:gs pos="76000">
                  <a:srgbClr val="FFFFFF"/>
                </a:gs>
                <a:gs pos="87000">
                  <a:srgbClr val="FFFF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59" name="直接箭头连接符 58"/>
          <p:cNvCxnSpPr/>
          <p:nvPr/>
        </p:nvCxnSpPr>
        <p:spPr>
          <a:xfrm flipH="1">
            <a:off x="3820795" y="4665980"/>
            <a:ext cx="624840" cy="0"/>
          </a:xfrm>
          <a:prstGeom prst="straightConnector1">
            <a:avLst/>
          </a:prstGeom>
          <a:ln>
            <a:gradFill>
              <a:gsLst>
                <a:gs pos="2800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cxnSp>
        <p:nvCxnSpPr>
          <p:cNvPr id="60" name="直接箭头连接符 59"/>
          <p:cNvCxnSpPr/>
          <p:nvPr/>
        </p:nvCxnSpPr>
        <p:spPr>
          <a:xfrm>
            <a:off x="7955280" y="4665980"/>
            <a:ext cx="492760" cy="0"/>
          </a:xfrm>
          <a:prstGeom prst="straightConnector1">
            <a:avLst/>
          </a:prstGeom>
          <a:ln>
            <a:gradFill>
              <a:gsLst>
                <a:gs pos="2800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sp>
        <p:nvSpPr>
          <p:cNvPr id="88" name="文本框 87"/>
          <p:cNvSpPr txBox="1"/>
          <p:nvPr/>
        </p:nvSpPr>
        <p:spPr>
          <a:xfrm>
            <a:off x="449580" y="2915920"/>
            <a:ext cx="3180080" cy="1353185"/>
          </a:xfrm>
          <a:prstGeom prst="rect">
            <a:avLst/>
          </a:prstGeom>
          <a:noFill/>
        </p:spPr>
        <p:txBody>
          <a:bodyPr wrap="square" lIns="0" rIns="0" tIns="0" bIns="0">
            <a:spAutoFit/>
          </a:bodyPr>
          <a:lstStyle/>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爆品矩阵与新品突围：</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打造</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3-5</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款亿级爆品，构建核心护城河；快速迭代或推出颠覆性新品，抢占增量赛道</a:t>
            </a:r>
            <a:r>
              <a:rPr kumimoji="0" lang="zh-CN" sz="10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渠道深耕与全域融合：</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线下精耕存量渠道，提升单店产出；拓展新零售、特通等增量渠道。线上发力直播、私域及内容电商。</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9" name="文本框 88"/>
          <p:cNvSpPr txBox="1"/>
          <p:nvPr/>
        </p:nvSpPr>
        <p:spPr>
          <a:xfrm>
            <a:off x="8609965" y="2923540"/>
            <a:ext cx="3118485" cy="1353185"/>
          </a:xfrm>
          <a:prstGeom prst="rect">
            <a:avLst/>
          </a:prstGeom>
          <a:noFill/>
        </p:spPr>
        <p:txBody>
          <a:bodyPr wrap="square" lIns="0" rIns="0" tIns="0" bIns="0">
            <a:spAutoFit/>
          </a:bodyPr>
          <a:lstStyle/>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供应链韧性与成本领先：</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通过集中采购、技术降本，确保规模扩张时毛利率稳定；建立柔性供应链，快速响应市场变化，降低库存风险。</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fontAlgn="auto">
              <a:lnSpc>
                <a:spcPts val="164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组织效能与数字化驱动：</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优化激励机制，激活团队战斗力；全面数字化，打通研发到售后数据链，实现精准决策。</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3" name="文本框 92"/>
          <p:cNvSpPr txBox="1"/>
          <p:nvPr/>
        </p:nvSpPr>
        <p:spPr>
          <a:xfrm>
            <a:off x="543560" y="1174750"/>
            <a:ext cx="3180080" cy="932180"/>
          </a:xfrm>
          <a:prstGeom prst="rect">
            <a:avLst/>
          </a:prstGeom>
          <a:noFill/>
        </p:spPr>
        <p:txBody>
          <a:bodyPr wrap="square" lIns="0" rIns="0" tIns="0" bIns="0">
            <a:spAutoFit/>
          </a:bodyPr>
          <a:lstStyle/>
          <a:p>
            <a:pPr marR="0" lvl="0" indent="0" algn="l" defTabSz="914400" rtl="0" fontAlgn="auto">
              <a:lnSpc>
                <a:spcPts val="1640"/>
              </a:lnSpc>
              <a:spcBef>
                <a:spcPts val="0"/>
              </a:spcBef>
              <a:spcAft>
                <a:spcPts val="0"/>
              </a:spcAft>
              <a:buClrTx/>
              <a:buSzTx/>
              <a:buFont typeface="微软雅黑"/>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规模与利润并重：</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在达成</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100</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亿营收的同时，确保核心业务线的净利润率不低于</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Z%</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，实现有利润的营收。</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R="0" lvl="0" indent="0" algn="l" defTabSz="914400" rtl="0" fontAlgn="auto">
              <a:lnSpc>
                <a:spcPts val="1640"/>
              </a:lnSpc>
              <a:spcBef>
                <a:spcPts val="0"/>
              </a:spcBef>
              <a:spcAft>
                <a:spcPts val="0"/>
              </a:spcAft>
              <a:buClrTx/>
              <a:buSzTx/>
              <a:buFont typeface="微软雅黑"/>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通过</a:t>
            </a:r>
            <a:r>
              <a:rPr kumimoji="0" lang="en-US" altLang="zh-CN" sz="1000" b="1" i="0" u="none" strike="noStrike" kern="1200" cap="none" spc="0" normalizeH="0" baseline="0" noProof="0" dirty="0">
                <a:ln>
                  <a:noFill/>
                </a:ln>
                <a:solidFill>
                  <a:srgbClr val="0042FF"/>
                </a:solidFill>
                <a:effectLst/>
                <a:uLnTx/>
                <a:uFillTx/>
                <a:latin typeface="微软雅黑"/>
                <a:ea typeface="微软雅黑"/>
                <a:cs typeface="微软雅黑"/>
              </a:rPr>
              <a:t>100</a:t>
            </a: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亿的规模，</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在核心品类市占率上提升至行业前</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N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名，确立品牌头部地位，形成规模效应壁垒。</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5" name="文本框 94"/>
          <p:cNvSpPr txBox="1"/>
          <p:nvPr/>
        </p:nvSpPr>
        <p:spPr>
          <a:xfrm>
            <a:off x="8534400" y="1174750"/>
            <a:ext cx="3180080" cy="932180"/>
          </a:xfrm>
          <a:prstGeom prst="rect">
            <a:avLst/>
          </a:prstGeom>
          <a:noFill/>
        </p:spPr>
        <p:txBody>
          <a:bodyPr wrap="square" lIns="0" rIns="0" tIns="0" bIns="0">
            <a:spAutoFit/>
          </a:bodyPr>
          <a:lstStyle/>
          <a:p>
            <a:pPr marR="0" lvl="0" indent="0" algn="l" defTabSz="914400" rtl="0" fontAlgn="auto">
              <a:lnSpc>
                <a:spcPts val="1640"/>
              </a:lnSpc>
              <a:spcBef>
                <a:spcPts val="0"/>
              </a:spcBef>
              <a:spcAft>
                <a:spcPts val="0"/>
              </a:spcAft>
              <a:buClrTx/>
              <a:buSzTx/>
              <a:buFont typeface="微软雅黑"/>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存量盘活（守）：</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现有业务</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老品贡献</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60</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亿，通过提升复购和渗透率守住基本盘。</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R="0" lvl="0" indent="0" algn="l" defTabSz="914400" rtl="0" fontAlgn="auto">
              <a:lnSpc>
                <a:spcPts val="1640"/>
              </a:lnSpc>
              <a:spcBef>
                <a:spcPts val="0"/>
              </a:spcBef>
              <a:spcAft>
                <a:spcPts val="0"/>
              </a:spcAft>
              <a:buClrTx/>
              <a:buSzTx/>
              <a:buFont typeface="微软雅黑"/>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增量突破（攻）：</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新品</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新渠道</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新市场贡献</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 40</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亿，通过创新和扩张实现跨越式增长。</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6" name="文本框 95"/>
          <p:cNvSpPr txBox="1"/>
          <p:nvPr/>
        </p:nvSpPr>
        <p:spPr>
          <a:xfrm>
            <a:off x="5652770" y="2305685"/>
            <a:ext cx="1044575" cy="490220"/>
          </a:xfrm>
          <a:prstGeom prst="rect">
            <a:avLst/>
          </a:prstGeom>
          <a:noFill/>
        </p:spPr>
        <p:txBody>
          <a:bodyPr wrap="square">
            <a:noAutofit/>
          </a:bodyPr>
          <a:lstStyle/>
          <a:p>
            <a:pPr algn="ctr">
              <a:lnSpc>
                <a:spcPct val="125000"/>
              </a:lnSpc>
              <a:defRPr>
                <a:latin typeface="微软雅黑"/>
                <a:ea typeface="微软雅黑"/>
                <a:cs typeface="微软雅黑"/>
              </a:defRPr>
            </a:pPr>
            <a:r>
              <a:rPr lang="zh-CN" altLang="en-US" sz="2000" b="1" dirty="0">
                <a:solidFill>
                  <a:srgbClr val="383838"/>
                </a:solidFill>
                <a:latin typeface="微软雅黑"/>
                <a:ea typeface="微软雅黑"/>
                <a:cs typeface="微软雅黑"/>
              </a:rPr>
              <a:t>目标</a:t>
            </a:r>
            <a:endParaRPr lang="zh-CN" altLang="en-US" sz="2000" b="1" dirty="0">
              <a:solidFill>
                <a:srgbClr val="383838"/>
              </a:solidFill>
              <a:latin typeface="微软雅黑"/>
              <a:ea typeface="微软雅黑"/>
              <a:cs typeface="微软雅黑"/>
            </a:endParaRPr>
          </a:p>
        </p:txBody>
      </p:sp>
      <p:sp>
        <p:nvSpPr>
          <p:cNvPr id="97" name="文本框 96"/>
          <p:cNvSpPr txBox="1"/>
          <p:nvPr/>
        </p:nvSpPr>
        <p:spPr>
          <a:xfrm>
            <a:off x="5652770" y="3229610"/>
            <a:ext cx="1044575" cy="490220"/>
          </a:xfrm>
          <a:prstGeom prst="rect">
            <a:avLst/>
          </a:prstGeom>
          <a:noFill/>
        </p:spPr>
        <p:txBody>
          <a:bodyPr wrap="square">
            <a:noAutofit/>
          </a:bodyPr>
          <a:lstStyle/>
          <a:p>
            <a:pPr algn="ctr">
              <a:lnSpc>
                <a:spcPct val="125000"/>
              </a:lnSpc>
              <a:defRPr>
                <a:latin typeface="微软雅黑"/>
                <a:ea typeface="微软雅黑"/>
                <a:cs typeface="微软雅黑"/>
              </a:defRPr>
            </a:pPr>
            <a:r>
              <a:rPr lang="zh-CN" altLang="en-US" sz="2000" b="1" dirty="0">
                <a:solidFill>
                  <a:srgbClr val="383838"/>
                </a:solidFill>
                <a:latin typeface="微软雅黑"/>
                <a:ea typeface="微软雅黑"/>
                <a:cs typeface="微软雅黑"/>
              </a:rPr>
              <a:t>实施</a:t>
            </a:r>
            <a:endParaRPr lang="zh-CN" altLang="en-US" sz="2000" b="1" dirty="0">
              <a:solidFill>
                <a:srgbClr val="383838"/>
              </a:solidFill>
              <a:latin typeface="微软雅黑"/>
              <a:ea typeface="微软雅黑"/>
              <a:cs typeface="微软雅黑"/>
            </a:endParaRPr>
          </a:p>
        </p:txBody>
      </p:sp>
      <p:sp>
        <p:nvSpPr>
          <p:cNvPr id="98" name="文本框 97"/>
          <p:cNvSpPr txBox="1"/>
          <p:nvPr/>
        </p:nvSpPr>
        <p:spPr>
          <a:xfrm>
            <a:off x="5644515" y="4262120"/>
            <a:ext cx="1044575" cy="490220"/>
          </a:xfrm>
          <a:prstGeom prst="rect">
            <a:avLst/>
          </a:prstGeom>
          <a:noFill/>
        </p:spPr>
        <p:txBody>
          <a:bodyPr wrap="square">
            <a:noAutofit/>
          </a:bodyPr>
          <a:lstStyle/>
          <a:p>
            <a:pPr algn="ctr">
              <a:lnSpc>
                <a:spcPct val="125000"/>
              </a:lnSpc>
              <a:defRPr>
                <a:latin typeface="微软雅黑"/>
                <a:ea typeface="微软雅黑"/>
                <a:cs typeface="微软雅黑"/>
              </a:defRPr>
            </a:pPr>
            <a:r>
              <a:rPr lang="zh-CN" altLang="en-US" sz="2000" b="1" dirty="0">
                <a:solidFill>
                  <a:srgbClr val="383838"/>
                </a:solidFill>
                <a:latin typeface="微软雅黑"/>
                <a:ea typeface="微软雅黑"/>
                <a:cs typeface="微软雅黑"/>
              </a:rPr>
              <a:t>部署</a:t>
            </a:r>
            <a:endParaRPr lang="zh-CN" altLang="en-US" sz="2000" b="1" dirty="0">
              <a:solidFill>
                <a:srgbClr val="383838"/>
              </a:solidFill>
              <a:latin typeface="微软雅黑"/>
              <a:ea typeface="微软雅黑"/>
              <a:cs typeface="微软雅黑"/>
            </a:endParaRPr>
          </a:p>
        </p:txBody>
      </p:sp>
      <p:sp>
        <p:nvSpPr>
          <p:cNvPr id="99" name="文本框 98"/>
          <p:cNvSpPr txBox="1"/>
          <p:nvPr/>
        </p:nvSpPr>
        <p:spPr>
          <a:xfrm>
            <a:off x="4845685" y="5638800"/>
            <a:ext cx="2804795" cy="490220"/>
          </a:xfrm>
          <a:prstGeom prst="rect">
            <a:avLst/>
          </a:prstGeom>
          <a:noFill/>
        </p:spPr>
        <p:txBody>
          <a:bodyPr wrap="square">
            <a:prstTxWarp prst="textArchDown">
              <a:avLst/>
            </a:prstTxWarp>
            <a:noAutofit/>
          </a:bodyPr>
          <a:lstStyle/>
          <a:p>
            <a:pPr algn="ctr">
              <a:lnSpc>
                <a:spcPct val="125000"/>
              </a:lnSpc>
              <a:defRPr>
                <a:latin typeface="微软雅黑"/>
                <a:ea typeface="微软雅黑"/>
                <a:cs typeface="微软雅黑"/>
              </a:defRPr>
            </a:pPr>
            <a:r>
              <a:rPr lang="zh-CN" altLang="en-US" sz="1400" b="1" dirty="0">
                <a:solidFill>
                  <a:srgbClr val="383838"/>
                </a:solidFill>
                <a:latin typeface="微软雅黑"/>
                <a:ea typeface="微软雅黑"/>
                <a:cs typeface="微软雅黑"/>
              </a:rPr>
              <a:t>实现业绩目标的三层规划</a:t>
            </a:r>
            <a:endParaRPr lang="zh-CN" altLang="en-US" sz="1400" b="1" dirty="0">
              <a:solidFill>
                <a:srgbClr val="383838"/>
              </a:solidFill>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fill="hold"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bldLvl="0" animBg="1"/>
      <p:bldP spid="14" grpId="1"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1"/>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258" name="组合 257"/>
          <p:cNvGrpSpPr/>
          <p:nvPr/>
        </p:nvGrpSpPr>
        <p:grpSpPr>
          <a:xfrm>
            <a:off x="2155825" y="5434965"/>
            <a:ext cx="8140065" cy="889635"/>
            <a:chOff x="1783531" y="4381999"/>
            <a:chExt cx="8652557" cy="1650709"/>
          </a:xfrm>
        </p:grpSpPr>
        <p:grpSp>
          <p:nvGrpSpPr>
            <p:cNvPr id="190" name="组合 189"/>
            <p:cNvGrpSpPr/>
            <p:nvPr/>
          </p:nvGrpSpPr>
          <p:grpSpPr>
            <a:xfrm>
              <a:off x="5493389" y="4394684"/>
              <a:ext cx="4942699" cy="1638024"/>
              <a:chOff x="5357581" y="4715336"/>
              <a:chExt cx="4942699" cy="1638024"/>
            </a:xfrm>
          </p:grpSpPr>
          <p:sp>
            <p:nvSpPr>
              <p:cNvPr id="186" name="任意多边形: 形状 327"/>
              <p:cNvSpPr/>
              <p:nvPr/>
            </p:nvSpPr>
            <p:spPr bwMode="auto">
              <a:xfrm flipV="1">
                <a:off x="9197209" y="4715336"/>
                <a:ext cx="1103071" cy="716012"/>
              </a:xfrm>
              <a:custGeom>
                <a:avLst/>
                <a:gdLst>
                  <a:gd name="connsiteX0" fmla="*/ 0 w 1103071"/>
                  <a:gd name="connsiteY0" fmla="*/ 716012 h 716012"/>
                  <a:gd name="connsiteX1" fmla="*/ 5436 w 1103071"/>
                  <a:gd name="connsiteY1" fmla="*/ 714993 h 716012"/>
                  <a:gd name="connsiteX2" fmla="*/ 1103071 w 1103071"/>
                  <a:gd name="connsiteY2" fmla="*/ 193523 h 716012"/>
                  <a:gd name="connsiteX3" fmla="*/ 1103071 w 1103071"/>
                  <a:gd name="connsiteY3" fmla="*/ 0 h 716012"/>
                  <a:gd name="connsiteX4" fmla="*/ 5436 w 1103071"/>
                  <a:gd name="connsiteY4" fmla="*/ 521705 h 716012"/>
                  <a:gd name="connsiteX5" fmla="*/ 0 w 1103071"/>
                  <a:gd name="connsiteY5" fmla="*/ 522725 h 71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3071" h="716012">
                    <a:moveTo>
                      <a:pt x="0" y="716012"/>
                    </a:moveTo>
                    <a:lnTo>
                      <a:pt x="5436" y="714993"/>
                    </a:lnTo>
                    <a:cubicBezTo>
                      <a:pt x="691168" y="573339"/>
                      <a:pt x="1103071" y="391691"/>
                      <a:pt x="1103071" y="193523"/>
                    </a:cubicBezTo>
                    <a:lnTo>
                      <a:pt x="1103071" y="0"/>
                    </a:lnTo>
                    <a:cubicBezTo>
                      <a:pt x="1103071" y="198168"/>
                      <a:pt x="691168" y="379927"/>
                      <a:pt x="5436" y="521705"/>
                    </a:cubicBezTo>
                    <a:lnTo>
                      <a:pt x="0" y="522725"/>
                    </a:lnTo>
                    <a:close/>
                  </a:path>
                </a:pathLst>
              </a:custGeom>
              <a:gradFill flip="none" rotWithShape="1">
                <a:gsLst>
                  <a:gs pos="0">
                    <a:srgbClr val="E6E6E6">
                      <a:alpha val="0"/>
                    </a:srgbClr>
                  </a:gs>
                  <a:gs pos="100000">
                    <a:srgbClr val="3368FF"/>
                  </a:gs>
                </a:gsLst>
                <a:lin ang="0" scaled="1"/>
                <a:tileRect/>
              </a:gradFill>
              <a:ln w="37516" cap="flat">
                <a:noFill/>
                <a:prstDash val="solid"/>
                <a:miter/>
              </a:ln>
              <a:effectLst>
                <a:innerShdw blurRad="152400">
                  <a:srgbClr val="FFFFFF"/>
                </a:innerShdw>
              </a:effectLst>
            </p:spPr>
            <p:txBody>
              <a:bodyPr rot="0" spcFirstLastPara="0" vertOverflow="overflow" horzOverflow="overflow" vert="horz" wrap="square" lIns="0" tIns="0" rIns="0" bIns="0" numCol="1" spcCol="0" rtlCol="0" fromWordArt="0" anchor="ctr" anchorCtr="0" forceAA="0" compatLnSpc="1">
                <a:no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89" name="任意多边形: 形状 329"/>
              <p:cNvSpPr/>
              <p:nvPr/>
            </p:nvSpPr>
            <p:spPr bwMode="auto">
              <a:xfrm>
                <a:off x="5357581" y="5340232"/>
                <a:ext cx="4942699" cy="1013128"/>
              </a:xfrm>
              <a:custGeom>
                <a:avLst/>
                <a:gdLst>
                  <a:gd name="connsiteX0" fmla="*/ 4942699 w 4942699"/>
                  <a:gd name="connsiteY0" fmla="*/ 0 h 1013128"/>
                  <a:gd name="connsiteX1" fmla="*/ 4942699 w 4942699"/>
                  <a:gd name="connsiteY1" fmla="*/ 193523 h 1013128"/>
                  <a:gd name="connsiteX2" fmla="*/ 135585 w 4942699"/>
                  <a:gd name="connsiteY2" fmla="*/ 1013128 h 1013128"/>
                  <a:gd name="connsiteX3" fmla="*/ 0 w 4942699"/>
                  <a:gd name="connsiteY3" fmla="*/ 1011962 h 1013128"/>
                  <a:gd name="connsiteX4" fmla="*/ 0 w 4942699"/>
                  <a:gd name="connsiteY4" fmla="*/ 819015 h 1013128"/>
                  <a:gd name="connsiteX5" fmla="*/ 135585 w 4942699"/>
                  <a:gd name="connsiteY5" fmla="*/ 820184 h 1013128"/>
                  <a:gd name="connsiteX6" fmla="*/ 4942699 w 4942699"/>
                  <a:gd name="connsiteY6" fmla="*/ 0 h 101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2699" h="1013128">
                    <a:moveTo>
                      <a:pt x="4942699" y="0"/>
                    </a:moveTo>
                    <a:lnTo>
                      <a:pt x="4942699" y="193523"/>
                    </a:lnTo>
                    <a:cubicBezTo>
                      <a:pt x="4942699" y="646478"/>
                      <a:pt x="2790717" y="1013128"/>
                      <a:pt x="135585" y="1013128"/>
                    </a:cubicBezTo>
                    <a:lnTo>
                      <a:pt x="0" y="1011962"/>
                    </a:lnTo>
                    <a:lnTo>
                      <a:pt x="0" y="819015"/>
                    </a:lnTo>
                    <a:lnTo>
                      <a:pt x="135585" y="820184"/>
                    </a:lnTo>
                    <a:cubicBezTo>
                      <a:pt x="2790717" y="820184"/>
                      <a:pt x="4942699" y="452955"/>
                      <a:pt x="4942699" y="0"/>
                    </a:cubicBezTo>
                    <a:close/>
                  </a:path>
                </a:pathLst>
              </a:custGeom>
              <a:gradFill flip="none" rotWithShape="1">
                <a:gsLst>
                  <a:gs pos="49000">
                    <a:srgbClr val="3368FF"/>
                  </a:gs>
                  <a:gs pos="0">
                    <a:srgbClr val="3368FF">
                      <a:alpha val="0"/>
                    </a:srgbClr>
                  </a:gs>
                  <a:gs pos="100000">
                    <a:srgbClr val="3368FF"/>
                  </a:gs>
                </a:gsLst>
                <a:lin ang="0" scaled="1"/>
                <a:tileRect/>
              </a:gradFill>
              <a:ln w="37516" cap="flat">
                <a:noFill/>
                <a:prstDash val="solid"/>
                <a:miter/>
              </a:ln>
              <a:effectLst>
                <a:innerShdw blurRad="152400">
                  <a:srgbClr val="FFFFFF"/>
                </a:innerShdw>
              </a:effectLst>
            </p:spPr>
            <p:txBody>
              <a:bodyPr rot="0" spcFirstLastPara="0" vertOverflow="overflow" horzOverflow="overflow" vert="horz" wrap="square" lIns="0" tIns="0" rIns="0" bIns="0" numCol="1" spcCol="0" rtlCol="0" fromWordArt="0" anchor="ctr" anchorCtr="0" forceAA="0" compatLnSpc="1">
                <a:noAutofit/>
              </a:bodyPr>
              <a:lstStyle/>
              <a:p>
                <a:pPr lvl="0" algn="l">
                  <a:spcBef>
                    <a:spcPts val="0"/>
                  </a:spcBef>
                  <a:spcAft>
                    <a:spcPts val="0"/>
                  </a:spcAft>
                  <a:buClrTx/>
                  <a:buSzTx/>
                  <a:buFontTx/>
                  <a:defRPr>
                    <a:solidFill>
                      <a:srgbClr val="383838"/>
                    </a:solidFill>
                    <a:latin typeface="微软雅黑"/>
                    <a:ea typeface="微软雅黑"/>
                    <a:cs typeface="微软雅黑"/>
                  </a:defRPr>
                </a:pPr>
                <a:endParaRPr lang="en-US" altLang="en-US" sz="1000" noProof="0">
                  <a:ln>
                    <a:noFill/>
                  </a:ln>
                  <a:solidFill>
                    <a:srgbClr val="383838"/>
                  </a:solidFill>
                  <a:effectLst/>
                  <a:uLnTx/>
                  <a:uFillTx/>
                  <a:latin typeface="微软雅黑"/>
                  <a:ea typeface="微软雅黑"/>
                  <a:cs typeface="微软雅黑"/>
                  <a:sym typeface="微软雅黑"/>
                </a:endParaRPr>
              </a:p>
            </p:txBody>
          </p:sp>
        </p:grpSp>
        <p:grpSp>
          <p:nvGrpSpPr>
            <p:cNvPr id="191" name="组合 190"/>
            <p:cNvGrpSpPr/>
            <p:nvPr/>
          </p:nvGrpSpPr>
          <p:grpSpPr>
            <a:xfrm flipH="1">
              <a:off x="1783531" y="4381999"/>
              <a:ext cx="4942699" cy="1638024"/>
              <a:chOff x="5357581" y="4715336"/>
              <a:chExt cx="4942699" cy="1638024"/>
            </a:xfrm>
          </p:grpSpPr>
          <p:sp>
            <p:nvSpPr>
              <p:cNvPr id="192" name="任意多边形: 形状 327"/>
              <p:cNvSpPr/>
              <p:nvPr/>
            </p:nvSpPr>
            <p:spPr bwMode="auto">
              <a:xfrm flipV="1">
                <a:off x="9197209" y="4715336"/>
                <a:ext cx="1103071" cy="716012"/>
              </a:xfrm>
              <a:custGeom>
                <a:avLst/>
                <a:gdLst>
                  <a:gd name="connsiteX0" fmla="*/ 0 w 1103071"/>
                  <a:gd name="connsiteY0" fmla="*/ 716012 h 716012"/>
                  <a:gd name="connsiteX1" fmla="*/ 5436 w 1103071"/>
                  <a:gd name="connsiteY1" fmla="*/ 714993 h 716012"/>
                  <a:gd name="connsiteX2" fmla="*/ 1103071 w 1103071"/>
                  <a:gd name="connsiteY2" fmla="*/ 193523 h 716012"/>
                  <a:gd name="connsiteX3" fmla="*/ 1103071 w 1103071"/>
                  <a:gd name="connsiteY3" fmla="*/ 0 h 716012"/>
                  <a:gd name="connsiteX4" fmla="*/ 5436 w 1103071"/>
                  <a:gd name="connsiteY4" fmla="*/ 521705 h 716012"/>
                  <a:gd name="connsiteX5" fmla="*/ 0 w 1103071"/>
                  <a:gd name="connsiteY5" fmla="*/ 522725 h 71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3071" h="716012">
                    <a:moveTo>
                      <a:pt x="0" y="716012"/>
                    </a:moveTo>
                    <a:lnTo>
                      <a:pt x="5436" y="714993"/>
                    </a:lnTo>
                    <a:cubicBezTo>
                      <a:pt x="691168" y="573339"/>
                      <a:pt x="1103071" y="391691"/>
                      <a:pt x="1103071" y="193523"/>
                    </a:cubicBezTo>
                    <a:lnTo>
                      <a:pt x="1103071" y="0"/>
                    </a:lnTo>
                    <a:cubicBezTo>
                      <a:pt x="1103071" y="198168"/>
                      <a:pt x="691168" y="379927"/>
                      <a:pt x="5436" y="521705"/>
                    </a:cubicBezTo>
                    <a:lnTo>
                      <a:pt x="0" y="522725"/>
                    </a:lnTo>
                    <a:close/>
                  </a:path>
                </a:pathLst>
              </a:custGeom>
              <a:gradFill flip="none" rotWithShape="1">
                <a:gsLst>
                  <a:gs pos="0">
                    <a:srgbClr val="E6E6E6">
                      <a:alpha val="0"/>
                    </a:srgbClr>
                  </a:gs>
                  <a:gs pos="100000">
                    <a:srgbClr val="3368FF"/>
                  </a:gs>
                </a:gsLst>
                <a:lin ang="0" scaled="1"/>
                <a:tileRect/>
              </a:gradFill>
              <a:ln w="37516" cap="flat">
                <a:noFill/>
                <a:prstDash val="solid"/>
                <a:miter/>
              </a:ln>
              <a:effectLst>
                <a:innerShdw blurRad="152400">
                  <a:srgbClr val="FFFFFF"/>
                </a:innerShdw>
              </a:effectLst>
            </p:spPr>
            <p:txBody>
              <a:bodyPr rot="0" spcFirstLastPara="0" vertOverflow="overflow" horzOverflow="overflow" vert="horz" wrap="square" lIns="0" tIns="0" rIns="0" bIns="0" numCol="1" spcCol="0" rtlCol="0" fromWordArt="0" anchor="ctr" anchorCtr="0" forceAA="0" compatLnSpc="1">
                <a:noAutofit/>
              </a:bodyPr>
              <a:lstStyle/>
              <a:p>
                <a:pPr lvl="0" algn="l">
                  <a:spcBef>
                    <a:spcPts val="0"/>
                  </a:spcBef>
                  <a:spcAft>
                    <a:spcPts val="0"/>
                  </a:spcAft>
                  <a:buClrTx/>
                  <a:buSzTx/>
                  <a:buFontTx/>
                  <a:defRPr>
                    <a:solidFill>
                      <a:srgbClr val="383838"/>
                    </a:solidFill>
                    <a:latin typeface="微软雅黑"/>
                    <a:ea typeface="微软雅黑"/>
                    <a:cs typeface="微软雅黑"/>
                  </a:defRPr>
                </a:pPr>
                <a:endParaRPr lang="en-US" altLang="en-US" sz="1000" noProof="0">
                  <a:ln>
                    <a:noFill/>
                  </a:ln>
                  <a:solidFill>
                    <a:srgbClr val="383838"/>
                  </a:solidFill>
                  <a:effectLst/>
                  <a:uLnTx/>
                  <a:uFillTx/>
                  <a:latin typeface="微软雅黑"/>
                  <a:ea typeface="微软雅黑"/>
                  <a:cs typeface="微软雅黑"/>
                  <a:sym typeface="微软雅黑"/>
                </a:endParaRPr>
              </a:p>
            </p:txBody>
          </p:sp>
          <p:sp>
            <p:nvSpPr>
              <p:cNvPr id="193" name="任意多边形: 形状 329"/>
              <p:cNvSpPr/>
              <p:nvPr/>
            </p:nvSpPr>
            <p:spPr bwMode="auto">
              <a:xfrm>
                <a:off x="5357581" y="5340232"/>
                <a:ext cx="4942699" cy="1013128"/>
              </a:xfrm>
              <a:custGeom>
                <a:avLst/>
                <a:gdLst>
                  <a:gd name="connsiteX0" fmla="*/ 4942699 w 4942699"/>
                  <a:gd name="connsiteY0" fmla="*/ 0 h 1013128"/>
                  <a:gd name="connsiteX1" fmla="*/ 4942699 w 4942699"/>
                  <a:gd name="connsiteY1" fmla="*/ 193523 h 1013128"/>
                  <a:gd name="connsiteX2" fmla="*/ 135585 w 4942699"/>
                  <a:gd name="connsiteY2" fmla="*/ 1013128 h 1013128"/>
                  <a:gd name="connsiteX3" fmla="*/ 0 w 4942699"/>
                  <a:gd name="connsiteY3" fmla="*/ 1011962 h 1013128"/>
                  <a:gd name="connsiteX4" fmla="*/ 0 w 4942699"/>
                  <a:gd name="connsiteY4" fmla="*/ 819015 h 1013128"/>
                  <a:gd name="connsiteX5" fmla="*/ 135585 w 4942699"/>
                  <a:gd name="connsiteY5" fmla="*/ 820184 h 1013128"/>
                  <a:gd name="connsiteX6" fmla="*/ 4942699 w 4942699"/>
                  <a:gd name="connsiteY6" fmla="*/ 0 h 101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2699" h="1013128">
                    <a:moveTo>
                      <a:pt x="4942699" y="0"/>
                    </a:moveTo>
                    <a:lnTo>
                      <a:pt x="4942699" y="193523"/>
                    </a:lnTo>
                    <a:cubicBezTo>
                      <a:pt x="4942699" y="646478"/>
                      <a:pt x="2790717" y="1013128"/>
                      <a:pt x="135585" y="1013128"/>
                    </a:cubicBezTo>
                    <a:lnTo>
                      <a:pt x="0" y="1011962"/>
                    </a:lnTo>
                    <a:lnTo>
                      <a:pt x="0" y="819015"/>
                    </a:lnTo>
                    <a:lnTo>
                      <a:pt x="135585" y="820184"/>
                    </a:lnTo>
                    <a:cubicBezTo>
                      <a:pt x="2790717" y="820184"/>
                      <a:pt x="4942699" y="452955"/>
                      <a:pt x="4942699" y="0"/>
                    </a:cubicBezTo>
                    <a:close/>
                  </a:path>
                </a:pathLst>
              </a:custGeom>
              <a:gradFill flip="none" rotWithShape="1">
                <a:gsLst>
                  <a:gs pos="49000">
                    <a:srgbClr val="3368FF"/>
                  </a:gs>
                  <a:gs pos="0">
                    <a:srgbClr val="3368FF">
                      <a:alpha val="0"/>
                    </a:srgbClr>
                  </a:gs>
                  <a:gs pos="100000">
                    <a:srgbClr val="3368FF"/>
                  </a:gs>
                </a:gsLst>
                <a:lin ang="0" scaled="1"/>
                <a:tileRect/>
              </a:gradFill>
              <a:ln w="37516" cap="flat">
                <a:noFill/>
                <a:prstDash val="solid"/>
                <a:miter/>
              </a:ln>
              <a:effectLst>
                <a:innerShdw blurRad="152400">
                  <a:srgbClr val="FFFFFF"/>
                </a:innerShdw>
              </a:effectLst>
            </p:spPr>
            <p:txBody>
              <a:bodyPr rot="0" spcFirstLastPara="0" vertOverflow="overflow" horzOverflow="overflow" vert="horz" wrap="square" lIns="0" tIns="0" rIns="0" bIns="0" numCol="1" spcCol="0" rtlCol="0" fromWordArt="0" anchor="ctr" anchorCtr="0" forceAA="0" compatLnSpc="1">
                <a:no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157" name="椭圆 156"/>
          <p:cNvSpPr/>
          <p:nvPr/>
        </p:nvSpPr>
        <p:spPr>
          <a:xfrm>
            <a:off x="2534285" y="5768975"/>
            <a:ext cx="548640" cy="548640"/>
          </a:xfrm>
          <a:prstGeom prst="ellipse">
            <a:avLst/>
          </a:prstGeom>
          <a:gradFill>
            <a:gsLst>
              <a:gs pos="22000">
                <a:srgbClr val="668EFF"/>
              </a:gs>
              <a:gs pos="75000">
                <a:srgbClr val="3368FF"/>
              </a:gs>
            </a:gsLst>
            <a:path path="circle">
              <a:fillToRect r="100000" b="100000"/>
            </a:path>
          </a:gradFill>
          <a:ln>
            <a:noFill/>
          </a:ln>
          <a:effectLst>
            <a:outerShdw blurRad="355600" dist="114300" dir="2700000" sx="95000" sy="95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26" name="任意多边形 25"/>
          <p:cNvSpPr/>
          <p:nvPr/>
        </p:nvSpPr>
        <p:spPr>
          <a:xfrm>
            <a:off x="2361565" y="1539240"/>
            <a:ext cx="7785100" cy="4785360"/>
          </a:xfrm>
          <a:custGeom>
            <a:avLst/>
            <a:gdLst>
              <a:gd name="connsiteX0" fmla="*/ 6007 w 12260"/>
              <a:gd name="connsiteY0" fmla="*/ 0 h 7536"/>
              <a:gd name="connsiteX1" fmla="*/ 7206 w 12260"/>
              <a:gd name="connsiteY1" fmla="*/ 1319 h 7536"/>
              <a:gd name="connsiteX2" fmla="*/ 6718 w 12260"/>
              <a:gd name="connsiteY2" fmla="*/ 1303 h 7536"/>
              <a:gd name="connsiteX3" fmla="*/ 7413 w 12260"/>
              <a:gd name="connsiteY3" fmla="*/ 4536 h 7536"/>
              <a:gd name="connsiteX4" fmla="*/ 7425 w 12260"/>
              <a:gd name="connsiteY4" fmla="*/ 4555 h 7536"/>
              <a:gd name="connsiteX5" fmla="*/ 7458 w 12260"/>
              <a:gd name="connsiteY5" fmla="*/ 4602 h 7536"/>
              <a:gd name="connsiteX6" fmla="*/ 7524 w 12260"/>
              <a:gd name="connsiteY6" fmla="*/ 4692 h 7536"/>
              <a:gd name="connsiteX7" fmla="*/ 7536 w 12260"/>
              <a:gd name="connsiteY7" fmla="*/ 4703 h 7536"/>
              <a:gd name="connsiteX8" fmla="*/ 7532 w 12260"/>
              <a:gd name="connsiteY8" fmla="*/ 4703 h 7536"/>
              <a:gd name="connsiteX9" fmla="*/ 7538 w 12260"/>
              <a:gd name="connsiteY9" fmla="*/ 4711 h 7536"/>
              <a:gd name="connsiteX10" fmla="*/ 12260 w 12260"/>
              <a:gd name="connsiteY10" fmla="*/ 7536 h 7536"/>
              <a:gd name="connsiteX11" fmla="*/ 0 w 12260"/>
              <a:gd name="connsiteY11" fmla="*/ 7396 h 7536"/>
              <a:gd name="connsiteX12" fmla="*/ 4505 w 12260"/>
              <a:gd name="connsiteY12" fmla="*/ 4824 h 7536"/>
              <a:gd name="connsiteX13" fmla="*/ 4560 w 12260"/>
              <a:gd name="connsiteY13" fmla="*/ 4744 h 7536"/>
              <a:gd name="connsiteX14" fmla="*/ 4554 w 12260"/>
              <a:gd name="connsiteY14" fmla="*/ 4744 h 7536"/>
              <a:gd name="connsiteX15" fmla="*/ 5262 w 12260"/>
              <a:gd name="connsiteY15" fmla="*/ 1307 h 7536"/>
              <a:gd name="connsiteX16" fmla="*/ 4806 w 12260"/>
              <a:gd name="connsiteY16" fmla="*/ 1311 h 7536"/>
              <a:gd name="connsiteX17" fmla="*/ 6007 w 12260"/>
              <a:gd name="connsiteY17" fmla="*/ 0 h 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60" h="7536">
                <a:moveTo>
                  <a:pt x="6007" y="0"/>
                </a:moveTo>
                <a:lnTo>
                  <a:pt x="7206" y="1319"/>
                </a:lnTo>
                <a:lnTo>
                  <a:pt x="6718" y="1303"/>
                </a:lnTo>
                <a:cubicBezTo>
                  <a:pt x="6800" y="1992"/>
                  <a:pt x="7089" y="3948"/>
                  <a:pt x="7413" y="4536"/>
                </a:cubicBezTo>
                <a:lnTo>
                  <a:pt x="7425" y="4555"/>
                </a:lnTo>
                <a:lnTo>
                  <a:pt x="7458" y="4602"/>
                </a:lnTo>
                <a:lnTo>
                  <a:pt x="7524" y="4692"/>
                </a:lnTo>
                <a:lnTo>
                  <a:pt x="7536" y="4703"/>
                </a:lnTo>
                <a:lnTo>
                  <a:pt x="7532" y="4703"/>
                </a:lnTo>
                <a:lnTo>
                  <a:pt x="7538" y="4711"/>
                </a:lnTo>
                <a:cubicBezTo>
                  <a:pt x="8688" y="6239"/>
                  <a:pt x="10245" y="7252"/>
                  <a:pt x="12260" y="7536"/>
                </a:cubicBezTo>
                <a:lnTo>
                  <a:pt x="0" y="7396"/>
                </a:lnTo>
                <a:cubicBezTo>
                  <a:pt x="2097" y="7051"/>
                  <a:pt x="3396" y="6356"/>
                  <a:pt x="4505" y="4824"/>
                </a:cubicBezTo>
                <a:lnTo>
                  <a:pt x="4560" y="4744"/>
                </a:lnTo>
                <a:lnTo>
                  <a:pt x="4554" y="4744"/>
                </a:lnTo>
                <a:cubicBezTo>
                  <a:pt x="4968" y="4238"/>
                  <a:pt x="5274" y="2167"/>
                  <a:pt x="5262" y="1307"/>
                </a:cubicBezTo>
                <a:lnTo>
                  <a:pt x="4806" y="1311"/>
                </a:lnTo>
                <a:lnTo>
                  <a:pt x="6007" y="0"/>
                </a:lnTo>
                <a:close/>
              </a:path>
            </a:pathLst>
          </a:custGeom>
          <a:gradFill>
            <a:gsLst>
              <a:gs pos="87000">
                <a:srgbClr val="B3D4FE">
                  <a:alpha val="0"/>
                </a:srgbClr>
              </a:gs>
              <a:gs pos="22000">
                <a:srgbClr val="B3D4FE"/>
              </a:gs>
            </a:gsLst>
            <a:lin ang="5400000" scaled="0"/>
          </a:gradFill>
          <a:ln w="9491" cap="flat">
            <a:noFill/>
            <a:prstDash val="solid"/>
            <a:miter/>
          </a:ln>
        </p:spPr>
        <p:txBody>
          <a:bodyPr vert="horz" wrap="square" numCol="1" spcCol="0" rtlCol="0" fromWordArt="0" anchor="ctr" anchorCtr="0" forceAA="0" compatLnSpc="0" lIns="0" rIns="0" tIns="0" bIns="0">
            <a:noAutofit/>
          </a:bodyPr>
          <a:lstStyle/>
          <a:p>
            <a:pPr lvl="0" algn="l">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7" name="椭圆 26"/>
          <p:cNvSpPr/>
          <p:nvPr/>
        </p:nvSpPr>
        <p:spPr>
          <a:xfrm>
            <a:off x="2839085" y="5434965"/>
            <a:ext cx="6803390" cy="594995"/>
          </a:xfrm>
          <a:prstGeom prst="ellipse">
            <a:avLst/>
          </a:prstGeom>
          <a:gradFill>
            <a:gsLst>
              <a:gs pos="100000">
                <a:srgbClr val="3368FF">
                  <a:alpha val="52000"/>
                </a:srgbClr>
              </a:gs>
              <a:gs pos="1000">
                <a:srgbClr val="3368FF">
                  <a:alpha val="0"/>
                </a:srgbClr>
              </a:gs>
            </a:gsLst>
            <a:lin ang="5400000" scaled="1"/>
          </a:gradFill>
          <a:ln w="12700">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latin typeface="微软雅黑"/>
                <a:ea typeface="微软雅黑"/>
                <a:cs typeface="微软雅黑"/>
              </a:defRPr>
            </a:pPr>
            <a:endParaRPr lang="zh-CN" altLang="en-US" dirty="0">
              <a:latin typeface="微软雅黑"/>
              <a:ea typeface="微软雅黑"/>
              <a:cs typeface="微软雅黑"/>
            </a:endParaRPr>
          </a:p>
        </p:txBody>
      </p:sp>
      <p:sp>
        <p:nvSpPr>
          <p:cNvPr id="42" name="任意多边形: 形状 13"/>
          <p:cNvSpPr/>
          <p:nvPr/>
        </p:nvSpPr>
        <p:spPr>
          <a:xfrm>
            <a:off x="4045585" y="3333750"/>
            <a:ext cx="4417695" cy="746125"/>
          </a:xfrm>
          <a:custGeom>
            <a:avLst/>
            <a:gdLst>
              <a:gd name="connsiteX0" fmla="*/ 3405569 w 3405568"/>
              <a:gd name="connsiteY0" fmla="*/ 304514 h 609028"/>
              <a:gd name="connsiteX1" fmla="*/ 1702785 w 3405568"/>
              <a:gd name="connsiteY1" fmla="*/ 609029 h 609028"/>
              <a:gd name="connsiteX2" fmla="*/ 0 w 3405568"/>
              <a:gd name="connsiteY2" fmla="*/ 304514 h 609028"/>
              <a:gd name="connsiteX3" fmla="*/ 1702785 w 3405568"/>
              <a:gd name="connsiteY3" fmla="*/ 0 h 609028"/>
              <a:gd name="connsiteX4" fmla="*/ 3405569 w 3405568"/>
              <a:gd name="connsiteY4" fmla="*/ 304514 h 609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568" h="609028">
                <a:moveTo>
                  <a:pt x="3405569" y="304514"/>
                </a:moveTo>
                <a:cubicBezTo>
                  <a:pt x="3405569" y="472693"/>
                  <a:pt x="2643206" y="609029"/>
                  <a:pt x="1702785" y="609029"/>
                </a:cubicBezTo>
                <a:cubicBezTo>
                  <a:pt x="762363" y="609029"/>
                  <a:pt x="0" y="472693"/>
                  <a:pt x="0" y="304514"/>
                </a:cubicBezTo>
                <a:cubicBezTo>
                  <a:pt x="0" y="136336"/>
                  <a:pt x="762363" y="0"/>
                  <a:pt x="1702785" y="0"/>
                </a:cubicBezTo>
                <a:cubicBezTo>
                  <a:pt x="2643206" y="0"/>
                  <a:pt x="3405569" y="136336"/>
                  <a:pt x="3405569" y="304514"/>
                </a:cubicBezTo>
                <a:close/>
              </a:path>
            </a:pathLst>
          </a:custGeom>
          <a:gradFill>
            <a:gsLst>
              <a:gs pos="1000">
                <a:srgbClr val="B3D4FE">
                  <a:alpha val="0"/>
                </a:srgbClr>
              </a:gs>
              <a:gs pos="95000">
                <a:srgbClr val="B3D4FE">
                  <a:alpha val="35000"/>
                </a:srgbClr>
              </a:gs>
            </a:gsLst>
            <a:lin ang="5400000" scaled="1"/>
          </a:gradFill>
          <a:ln w="19050">
            <a:gradFill>
              <a:gsLst>
                <a:gs pos="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43" name="Freeform 8"/>
          <p:cNvSpPr/>
          <p:nvPr/>
        </p:nvSpPr>
        <p:spPr>
          <a:xfrm>
            <a:off x="4417060" y="3323590"/>
            <a:ext cx="3659505" cy="495300"/>
          </a:xfrm>
          <a:custGeom>
            <a:avLst/>
            <a:gdLst>
              <a:gd name="connsiteX0" fmla="*/ 4743501 w 4743501"/>
              <a:gd name="connsiteY0" fmla="*/ 448376 h 896752"/>
              <a:gd name="connsiteX1" fmla="*/ 2371751 w 4743501"/>
              <a:gd name="connsiteY1" fmla="*/ 896753 h 896752"/>
              <a:gd name="connsiteX2" fmla="*/ 0 w 4743501"/>
              <a:gd name="connsiteY2" fmla="*/ 448376 h 896752"/>
              <a:gd name="connsiteX3" fmla="*/ 2371751 w 4743501"/>
              <a:gd name="connsiteY3" fmla="*/ 0 h 896752"/>
              <a:gd name="connsiteX4" fmla="*/ 4743501 w 4743501"/>
              <a:gd name="connsiteY4" fmla="*/ 448376 h 896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3501" h="896752">
                <a:moveTo>
                  <a:pt x="4743501" y="448376"/>
                </a:moveTo>
                <a:cubicBezTo>
                  <a:pt x="4743501" y="696008"/>
                  <a:pt x="3681633" y="896753"/>
                  <a:pt x="2371751" y="896753"/>
                </a:cubicBezTo>
                <a:cubicBezTo>
                  <a:pt x="1061869" y="896753"/>
                  <a:pt x="0" y="696008"/>
                  <a:pt x="0" y="448376"/>
                </a:cubicBezTo>
                <a:cubicBezTo>
                  <a:pt x="0" y="200745"/>
                  <a:pt x="1061869" y="0"/>
                  <a:pt x="2371751" y="0"/>
                </a:cubicBezTo>
                <a:cubicBezTo>
                  <a:pt x="3681632" y="0"/>
                  <a:pt x="4743501" y="200745"/>
                  <a:pt x="4743501" y="448376"/>
                </a:cubicBezTo>
                <a:close/>
              </a:path>
            </a:pathLst>
          </a:custGeom>
          <a:noFill/>
          <a:ln w="12700" cap="flat">
            <a:gradFill>
              <a:gsLst>
                <a:gs pos="0">
                  <a:srgbClr val="B3D4FE"/>
                </a:gs>
                <a:gs pos="90000">
                  <a:srgbClr val="B3D4FE">
                    <a:alpha val="0"/>
                  </a:srgbClr>
                </a:gs>
              </a:gsLst>
              <a:lin ang="16200000" scaled="1"/>
            </a:grad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a:ln>
                <a:noFill/>
              </a:ln>
              <a:solidFill>
                <a:prstClr val="black"/>
              </a:solidFill>
              <a:effectLst/>
              <a:uLnTx/>
              <a:uFillTx/>
              <a:latin typeface="微软雅黑"/>
              <a:ea typeface="微软雅黑"/>
              <a:cs typeface="微软雅黑"/>
              <a:sym typeface="微软雅黑"/>
            </a:endParaRPr>
          </a:p>
        </p:txBody>
      </p:sp>
      <p:sp>
        <p:nvSpPr>
          <p:cNvPr id="46" name="任意多边形: 形状 13"/>
          <p:cNvSpPr/>
          <p:nvPr/>
        </p:nvSpPr>
        <p:spPr>
          <a:xfrm>
            <a:off x="4417060" y="4474845"/>
            <a:ext cx="3660140" cy="641350"/>
          </a:xfrm>
          <a:custGeom>
            <a:avLst/>
            <a:gdLst>
              <a:gd name="connsiteX0" fmla="*/ 3405569 w 3405568"/>
              <a:gd name="connsiteY0" fmla="*/ 304514 h 609028"/>
              <a:gd name="connsiteX1" fmla="*/ 1702785 w 3405568"/>
              <a:gd name="connsiteY1" fmla="*/ 609029 h 609028"/>
              <a:gd name="connsiteX2" fmla="*/ 0 w 3405568"/>
              <a:gd name="connsiteY2" fmla="*/ 304514 h 609028"/>
              <a:gd name="connsiteX3" fmla="*/ 1702785 w 3405568"/>
              <a:gd name="connsiteY3" fmla="*/ 0 h 609028"/>
              <a:gd name="connsiteX4" fmla="*/ 3405569 w 3405568"/>
              <a:gd name="connsiteY4" fmla="*/ 304514 h 609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568" h="609028">
                <a:moveTo>
                  <a:pt x="3405569" y="304514"/>
                </a:moveTo>
                <a:cubicBezTo>
                  <a:pt x="3405569" y="472693"/>
                  <a:pt x="2643206" y="609029"/>
                  <a:pt x="1702785" y="609029"/>
                </a:cubicBezTo>
                <a:cubicBezTo>
                  <a:pt x="762363" y="609029"/>
                  <a:pt x="0" y="472693"/>
                  <a:pt x="0" y="304514"/>
                </a:cubicBezTo>
                <a:cubicBezTo>
                  <a:pt x="0" y="136336"/>
                  <a:pt x="762363" y="0"/>
                  <a:pt x="1702785" y="0"/>
                </a:cubicBezTo>
                <a:cubicBezTo>
                  <a:pt x="2643206" y="0"/>
                  <a:pt x="3405569" y="136336"/>
                  <a:pt x="3405569" y="304514"/>
                </a:cubicBezTo>
                <a:close/>
              </a:path>
            </a:pathLst>
          </a:custGeom>
          <a:gradFill>
            <a:gsLst>
              <a:gs pos="1000">
                <a:srgbClr val="B3D4FE">
                  <a:alpha val="0"/>
                </a:srgbClr>
              </a:gs>
              <a:gs pos="95000">
                <a:srgbClr val="B3D4FE">
                  <a:alpha val="35000"/>
                </a:srgbClr>
              </a:gs>
            </a:gsLst>
            <a:lin ang="5400000" scaled="1"/>
          </a:gradFill>
          <a:ln w="19050">
            <a:gradFill>
              <a:gsLst>
                <a:gs pos="0">
                  <a:srgbClr val="B3D4FE">
                    <a:alpha val="0"/>
                  </a:srgbClr>
                </a:gs>
                <a:gs pos="100000">
                  <a:srgbClr val="B3D4FE"/>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0042FF"/>
              </a:solidFill>
              <a:effectLst/>
              <a:uLnTx/>
              <a:uFillTx/>
              <a:latin typeface="微软雅黑"/>
              <a:ea typeface="微软雅黑"/>
              <a:cs typeface="微软雅黑"/>
              <a:sym typeface="微软雅黑"/>
            </a:endParaRPr>
          </a:p>
        </p:txBody>
      </p:sp>
      <p:sp>
        <p:nvSpPr>
          <p:cNvPr id="47" name="Freeform 8"/>
          <p:cNvSpPr/>
          <p:nvPr/>
        </p:nvSpPr>
        <p:spPr>
          <a:xfrm>
            <a:off x="4632325" y="4469765"/>
            <a:ext cx="3154045" cy="467995"/>
          </a:xfrm>
          <a:custGeom>
            <a:avLst/>
            <a:gdLst>
              <a:gd name="connsiteX0" fmla="*/ 4743501 w 4743501"/>
              <a:gd name="connsiteY0" fmla="*/ 448376 h 896752"/>
              <a:gd name="connsiteX1" fmla="*/ 2371751 w 4743501"/>
              <a:gd name="connsiteY1" fmla="*/ 896753 h 896752"/>
              <a:gd name="connsiteX2" fmla="*/ 0 w 4743501"/>
              <a:gd name="connsiteY2" fmla="*/ 448376 h 896752"/>
              <a:gd name="connsiteX3" fmla="*/ 2371751 w 4743501"/>
              <a:gd name="connsiteY3" fmla="*/ 0 h 896752"/>
              <a:gd name="connsiteX4" fmla="*/ 4743501 w 4743501"/>
              <a:gd name="connsiteY4" fmla="*/ 448376 h 896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3501" h="896752">
                <a:moveTo>
                  <a:pt x="4743501" y="448376"/>
                </a:moveTo>
                <a:cubicBezTo>
                  <a:pt x="4743501" y="696008"/>
                  <a:pt x="3681633" y="896753"/>
                  <a:pt x="2371751" y="896753"/>
                </a:cubicBezTo>
                <a:cubicBezTo>
                  <a:pt x="1061869" y="896753"/>
                  <a:pt x="0" y="696008"/>
                  <a:pt x="0" y="448376"/>
                </a:cubicBezTo>
                <a:cubicBezTo>
                  <a:pt x="0" y="200745"/>
                  <a:pt x="1061869" y="0"/>
                  <a:pt x="2371751" y="0"/>
                </a:cubicBezTo>
                <a:cubicBezTo>
                  <a:pt x="3681632" y="0"/>
                  <a:pt x="4743501" y="200745"/>
                  <a:pt x="4743501" y="448376"/>
                </a:cubicBezTo>
                <a:close/>
              </a:path>
            </a:pathLst>
          </a:custGeom>
          <a:noFill/>
          <a:ln w="12700" cap="flat">
            <a:gradFill>
              <a:gsLst>
                <a:gs pos="0">
                  <a:srgbClr val="B3D4FE"/>
                </a:gs>
                <a:gs pos="90000">
                  <a:srgbClr val="B3D4FE">
                    <a:alpha val="0"/>
                  </a:srgbClr>
                </a:gs>
              </a:gsLst>
              <a:lin ang="16200000" scaled="1"/>
            </a:gradFill>
            <a:prstDash val="solid"/>
            <a:miter/>
          </a:ln>
        </p:spPr>
        <p:txBody>
          <a:bodyPr rtlCol="0" anchor="ctr" lIns="0" rIns="0" tIns="0" bIns="0">
            <a:noAutofit/>
          </a:bodyPr>
          <a:lstStyle/>
          <a:p>
            <a:pPr lvl="0" algn="l">
              <a:spcBef>
                <a:spcPts val="0"/>
              </a:spcBef>
              <a:spcAft>
                <a:spcPts val="0"/>
              </a:spcAft>
              <a:buClrTx/>
              <a:buSzTx/>
              <a:buFontTx/>
              <a:defRPr>
                <a:latin typeface="微软雅黑"/>
                <a:ea typeface="微软雅黑"/>
                <a:cs typeface="微软雅黑"/>
              </a:defRPr>
            </a:pPr>
            <a:endParaRPr lang="en-US" noProof="0">
              <a:ln>
                <a:noFill/>
              </a:ln>
              <a:solidFill>
                <a:prstClr val="black"/>
              </a:solidFill>
              <a:effectLst/>
              <a:uLnTx/>
              <a:uFillTx/>
              <a:latin typeface="微软雅黑"/>
              <a:ea typeface="微软雅黑"/>
              <a:cs typeface="微软雅黑"/>
              <a:sym typeface="微软雅黑"/>
            </a:endParaRPr>
          </a:p>
        </p:txBody>
      </p:sp>
      <p:sp>
        <p:nvSpPr>
          <p:cNvPr id="151" name="椭圆 150"/>
          <p:cNvSpPr/>
          <p:nvPr/>
        </p:nvSpPr>
        <p:spPr>
          <a:xfrm>
            <a:off x="4464933" y="3412780"/>
            <a:ext cx="132402" cy="132402"/>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3" name="椭圆 72"/>
          <p:cNvSpPr/>
          <p:nvPr/>
        </p:nvSpPr>
        <p:spPr>
          <a:xfrm>
            <a:off x="4142353" y="3784255"/>
            <a:ext cx="132402" cy="132402"/>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4" name="椭圆 73"/>
          <p:cNvSpPr/>
          <p:nvPr/>
        </p:nvSpPr>
        <p:spPr>
          <a:xfrm>
            <a:off x="8281283" y="3761395"/>
            <a:ext cx="132402" cy="132402"/>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5" name="椭圆 74"/>
          <p:cNvSpPr/>
          <p:nvPr/>
        </p:nvSpPr>
        <p:spPr>
          <a:xfrm>
            <a:off x="7857738" y="3404525"/>
            <a:ext cx="132402" cy="132402"/>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102" name="组合 101"/>
          <p:cNvGrpSpPr/>
          <p:nvPr/>
        </p:nvGrpSpPr>
        <p:grpSpPr>
          <a:xfrm rot="10260000" flipV="1">
            <a:off x="1593215" y="3188335"/>
            <a:ext cx="924560" cy="1734185"/>
            <a:chOff x="3339603" y="3907317"/>
            <a:chExt cx="1367194" cy="1758253"/>
          </a:xfrm>
        </p:grpSpPr>
        <p:sp>
          <p:nvSpPr>
            <p:cNvPr id="103" name="任意多边形: 形状 22"/>
            <p:cNvSpPr/>
            <p:nvPr/>
          </p:nvSpPr>
          <p:spPr>
            <a:xfrm>
              <a:off x="3339603" y="3907317"/>
              <a:ext cx="1367194" cy="1758253"/>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04" name="文本框 103"/>
            <p:cNvSpPr txBox="1"/>
            <p:nvPr/>
          </p:nvSpPr>
          <p:spPr>
            <a:xfrm>
              <a:off x="3741307" y="4259946"/>
              <a:ext cx="564328" cy="966363"/>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lang="zh-CN" altLang="en-US" sz="1400" b="1" dirty="0">
                  <a:solidFill>
                    <a:srgbClr val="383838"/>
                  </a:solidFill>
                  <a:latin typeface="微软雅黑"/>
                  <a:ea typeface="微软雅黑"/>
                  <a:cs typeface="微软雅黑"/>
                </a:rPr>
                <a:t>核心引擎</a:t>
              </a:r>
              <a:endParaRPr lang="zh-CN" altLang="en-US" sz="1400" b="1" dirty="0">
                <a:solidFill>
                  <a:srgbClr val="383838"/>
                </a:solidFill>
                <a:latin typeface="微软雅黑"/>
                <a:ea typeface="微软雅黑"/>
                <a:cs typeface="微软雅黑"/>
              </a:endParaRPr>
            </a:p>
          </p:txBody>
        </p:sp>
      </p:grpSp>
      <p:sp>
        <p:nvSpPr>
          <p:cNvPr id="4137" name="矩形: 圆角 25"/>
          <p:cNvSpPr/>
          <p:nvPr/>
        </p:nvSpPr>
        <p:spPr>
          <a:xfrm>
            <a:off x="2922270" y="3197860"/>
            <a:ext cx="1100455" cy="401955"/>
          </a:xfrm>
          <a:prstGeom prst="roundRect">
            <a:avLst/>
          </a:prstGeom>
          <a:gradFill>
            <a:gsLst>
              <a:gs pos="87000">
                <a:srgbClr val="FFFFFF">
                  <a:alpha val="0"/>
                </a:srgbClr>
              </a:gs>
              <a:gs pos="0">
                <a:srgbClr val="FFFFFF"/>
              </a:gs>
            </a:gsLst>
            <a:lin ang="0" scaled="0"/>
          </a:gradFill>
          <a:ln w="12700">
            <a:gradFill>
              <a:gsLst>
                <a:gs pos="0">
                  <a:srgbClr val="3368FF"/>
                </a:gs>
                <a:gs pos="90000">
                  <a:srgbClr val="B3D4FE">
                    <a:alpha val="0"/>
                  </a:srgbClr>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4" name="矩形: 圆角 25"/>
          <p:cNvSpPr/>
          <p:nvPr/>
        </p:nvSpPr>
        <p:spPr>
          <a:xfrm>
            <a:off x="2636858" y="3674982"/>
            <a:ext cx="1343678" cy="401641"/>
          </a:xfrm>
          <a:prstGeom prst="roundRect">
            <a:avLst/>
          </a:prstGeom>
          <a:gradFill>
            <a:gsLst>
              <a:gs pos="87000">
                <a:srgbClr val="FFFFFF">
                  <a:alpha val="0"/>
                </a:srgbClr>
              </a:gs>
              <a:gs pos="0">
                <a:srgbClr val="FFFFFF"/>
              </a:gs>
            </a:gsLst>
            <a:lin ang="0" scaled="0"/>
          </a:gradFill>
          <a:ln w="12700">
            <a:gradFill>
              <a:gsLst>
                <a:gs pos="0">
                  <a:srgbClr val="3368FF"/>
                </a:gs>
                <a:gs pos="90000">
                  <a:srgbClr val="B3D4FE">
                    <a:alpha val="0"/>
                  </a:srgbClr>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8" name="矩形: 圆角 25"/>
          <p:cNvSpPr/>
          <p:nvPr/>
        </p:nvSpPr>
        <p:spPr>
          <a:xfrm flipH="1">
            <a:off x="8900160" y="3197860"/>
            <a:ext cx="1100455" cy="401955"/>
          </a:xfrm>
          <a:prstGeom prst="roundRect">
            <a:avLst/>
          </a:prstGeom>
          <a:gradFill>
            <a:gsLst>
              <a:gs pos="87000">
                <a:srgbClr val="FFFFFF">
                  <a:alpha val="0"/>
                </a:srgbClr>
              </a:gs>
              <a:gs pos="0">
                <a:srgbClr val="FFFFFF"/>
              </a:gs>
            </a:gsLst>
            <a:lin ang="0" scaled="0"/>
          </a:gradFill>
          <a:ln w="12700">
            <a:gradFill>
              <a:gsLst>
                <a:gs pos="0">
                  <a:srgbClr val="3368FF"/>
                </a:gs>
                <a:gs pos="90000">
                  <a:srgbClr val="B3D4FE">
                    <a:alpha val="0"/>
                  </a:srgbClr>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0" name="矩形: 圆角 25"/>
          <p:cNvSpPr/>
          <p:nvPr/>
        </p:nvSpPr>
        <p:spPr>
          <a:xfrm flipH="1">
            <a:off x="8614748" y="3674982"/>
            <a:ext cx="1343678" cy="401641"/>
          </a:xfrm>
          <a:prstGeom prst="roundRect">
            <a:avLst/>
          </a:prstGeom>
          <a:gradFill>
            <a:gsLst>
              <a:gs pos="87000">
                <a:srgbClr val="FFFFFF">
                  <a:alpha val="0"/>
                </a:srgbClr>
              </a:gs>
              <a:gs pos="0">
                <a:srgbClr val="FFFFFF"/>
              </a:gs>
            </a:gsLst>
            <a:lin ang="0" scaled="0"/>
          </a:gradFill>
          <a:ln w="12700">
            <a:gradFill>
              <a:gsLst>
                <a:gs pos="0">
                  <a:srgbClr val="3368FF"/>
                </a:gs>
                <a:gs pos="90000">
                  <a:srgbClr val="B3D4FE">
                    <a:alpha val="0"/>
                  </a:srgbClr>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1" name="文本框 10"/>
          <p:cNvSpPr txBox="1"/>
          <p:nvPr/>
        </p:nvSpPr>
        <p:spPr>
          <a:xfrm>
            <a:off x="5370513" y="5434965"/>
            <a:ext cx="1636395" cy="460375"/>
          </a:xfrm>
          <a:prstGeom prst="rect">
            <a:avLst/>
          </a:prstGeom>
          <a:noFill/>
        </p:spPr>
        <p:txBody>
          <a:bodyPr wrap="square" rtlCol="0">
            <a:spAutoFit/>
          </a:bodyPr>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solidFill>
                  <a:srgbClr val="383838"/>
                </a:solidFill>
                <a:latin typeface="微软雅黑"/>
                <a:ea typeface="微软雅黑"/>
                <a:cs typeface="微软雅黑"/>
              </a:rPr>
              <a:t>硬实力支撑</a:t>
            </a:r>
            <a:endParaRPr lang="zh-CN" altLang="en-US" sz="1200" b="1">
              <a:gradFill>
                <a:gsLst>
                  <a:gs pos="0">
                    <a:srgbClr val="0042FF"/>
                  </a:gs>
                  <a:gs pos="100000">
                    <a:srgbClr val="0042FF"/>
                  </a:gs>
                </a:gsLst>
                <a:lin ang="5400000" scaled="0"/>
              </a:gradFill>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a:solidFill>
                  <a:srgbClr val="383838"/>
                </a:solidFill>
                <a:latin typeface="微软雅黑"/>
                <a:ea typeface="微软雅黑"/>
                <a:cs typeface="微软雅黑"/>
              </a:rPr>
              <a:t>技术底座与实体设施</a:t>
            </a:r>
            <a:endParaRPr lang="zh-CN" altLang="en-US" sz="1200">
              <a:solidFill>
                <a:srgbClr val="383838"/>
              </a:solidFill>
              <a:latin typeface="微软雅黑"/>
              <a:ea typeface="微软雅黑"/>
              <a:cs typeface="微软雅黑"/>
            </a:endParaRPr>
          </a:p>
        </p:txBody>
      </p:sp>
      <p:sp>
        <p:nvSpPr>
          <p:cNvPr id="13" name="椭圆 12"/>
          <p:cNvSpPr/>
          <p:nvPr/>
        </p:nvSpPr>
        <p:spPr>
          <a:xfrm>
            <a:off x="4260215" y="5974715"/>
            <a:ext cx="548640" cy="548640"/>
          </a:xfrm>
          <a:prstGeom prst="ellipse">
            <a:avLst/>
          </a:prstGeom>
          <a:gradFill>
            <a:gsLst>
              <a:gs pos="22000">
                <a:srgbClr val="668EFF"/>
              </a:gs>
              <a:gs pos="75000">
                <a:srgbClr val="3368FF"/>
              </a:gs>
            </a:gsLst>
            <a:path path="circle">
              <a:fillToRect r="100000" b="100000"/>
            </a:path>
          </a:gradFill>
          <a:ln>
            <a:noFill/>
          </a:ln>
          <a:effectLst>
            <a:outerShdw blurRad="355600" dist="114300" dir="2700000" sx="95000" sy="95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4" name="椭圆 13"/>
          <p:cNvSpPr/>
          <p:nvPr/>
        </p:nvSpPr>
        <p:spPr>
          <a:xfrm>
            <a:off x="5962015" y="6030595"/>
            <a:ext cx="548640" cy="548640"/>
          </a:xfrm>
          <a:prstGeom prst="ellipse">
            <a:avLst/>
          </a:prstGeom>
          <a:gradFill>
            <a:gsLst>
              <a:gs pos="22000">
                <a:srgbClr val="668EFF"/>
              </a:gs>
              <a:gs pos="75000">
                <a:srgbClr val="3368FF"/>
              </a:gs>
            </a:gsLst>
            <a:path path="circle">
              <a:fillToRect r="100000" b="100000"/>
            </a:path>
          </a:gradFill>
          <a:ln>
            <a:noFill/>
          </a:ln>
          <a:effectLst>
            <a:outerShdw blurRad="355600" dist="114300" dir="2700000" sx="95000" sy="95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7" name="椭圆 16"/>
          <p:cNvSpPr/>
          <p:nvPr/>
        </p:nvSpPr>
        <p:spPr>
          <a:xfrm>
            <a:off x="7677785" y="5974715"/>
            <a:ext cx="548640" cy="548640"/>
          </a:xfrm>
          <a:prstGeom prst="ellipse">
            <a:avLst/>
          </a:prstGeom>
          <a:gradFill>
            <a:gsLst>
              <a:gs pos="22000">
                <a:srgbClr val="668EFF"/>
              </a:gs>
              <a:gs pos="75000">
                <a:srgbClr val="3368FF"/>
              </a:gs>
            </a:gsLst>
            <a:path path="circle">
              <a:fillToRect r="100000" b="100000"/>
            </a:path>
          </a:gradFill>
          <a:ln>
            <a:noFill/>
          </a:ln>
          <a:effectLst>
            <a:outerShdw blurRad="355600" dist="114300" dir="2700000" sx="95000" sy="95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8" name="椭圆 17"/>
          <p:cNvSpPr/>
          <p:nvPr/>
        </p:nvSpPr>
        <p:spPr>
          <a:xfrm>
            <a:off x="9417685" y="5768975"/>
            <a:ext cx="548640" cy="548640"/>
          </a:xfrm>
          <a:prstGeom prst="ellipse">
            <a:avLst/>
          </a:prstGeom>
          <a:gradFill>
            <a:gsLst>
              <a:gs pos="22000">
                <a:srgbClr val="668EFF"/>
              </a:gs>
              <a:gs pos="75000">
                <a:srgbClr val="3368FF"/>
              </a:gs>
            </a:gsLst>
            <a:path path="circle">
              <a:fillToRect r="100000" b="100000"/>
            </a:path>
          </a:gradFill>
          <a:ln>
            <a:noFill/>
          </a:ln>
          <a:effectLst>
            <a:outerShdw blurRad="355600" dist="114300" dir="2700000" sx="95000" sy="95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51" name="文本框 50"/>
          <p:cNvSpPr txBox="1"/>
          <p:nvPr/>
        </p:nvSpPr>
        <p:spPr>
          <a:xfrm>
            <a:off x="5370513" y="4321175"/>
            <a:ext cx="1636395" cy="460375"/>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软实力支撑</a:t>
            </a:r>
            <a:endParaRPr lang="zh-CN" altLang="en-US" sz="1200" b="1">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机制环境与无形能力</a:t>
            </a:r>
            <a:endParaRPr lang="zh-CN" altLang="en-US" sz="1200">
              <a:solidFill>
                <a:srgbClr val="383838"/>
              </a:solidFill>
              <a:latin typeface="微软雅黑"/>
              <a:ea typeface="微软雅黑"/>
              <a:cs typeface="微软雅黑"/>
              <a:sym typeface="微软雅黑"/>
            </a:endParaRPr>
          </a:p>
        </p:txBody>
      </p:sp>
      <p:grpSp>
        <p:nvGrpSpPr>
          <p:cNvPr id="87" name="组合 86"/>
          <p:cNvGrpSpPr/>
          <p:nvPr/>
        </p:nvGrpSpPr>
        <p:grpSpPr>
          <a:xfrm>
            <a:off x="2623820" y="4262120"/>
            <a:ext cx="1666240" cy="937260"/>
            <a:chOff x="4132" y="6712"/>
            <a:chExt cx="2624" cy="1476"/>
          </a:xfrm>
        </p:grpSpPr>
        <p:sp>
          <p:nvSpPr>
            <p:cNvPr id="25" name="矩形: 圆角 25"/>
            <p:cNvSpPr/>
            <p:nvPr/>
          </p:nvSpPr>
          <p:spPr>
            <a:xfrm>
              <a:off x="4153" y="6712"/>
              <a:ext cx="2470" cy="1476"/>
            </a:xfrm>
            <a:prstGeom prst="roundRect">
              <a:avLst>
                <a:gd name="adj" fmla="val 13279"/>
              </a:avLst>
            </a:prstGeom>
            <a:gradFill>
              <a:gsLst>
                <a:gs pos="87000">
                  <a:srgbClr val="FFFFFF">
                    <a:alpha val="0"/>
                  </a:srgbClr>
                </a:gs>
                <a:gs pos="0">
                  <a:srgbClr val="FFFFFF"/>
                </a:gs>
              </a:gsLst>
              <a:lin ang="5400000" scaled="0"/>
            </a:gradFill>
            <a:ln w="12700">
              <a:gradFill>
                <a:gsLst>
                  <a:gs pos="0">
                    <a:srgbClr val="3368FF"/>
                  </a:gs>
                  <a:gs pos="90000">
                    <a:srgbClr val="B3D4FE">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52" name="文本框 51"/>
            <p:cNvSpPr txBox="1"/>
            <p:nvPr/>
          </p:nvSpPr>
          <p:spPr>
            <a:xfrm>
              <a:off x="4132" y="6805"/>
              <a:ext cx="2577" cy="434"/>
            </a:xfrm>
            <a:prstGeom prst="rect">
              <a:avLst/>
            </a:prstGeom>
            <a:noFill/>
          </p:spPr>
          <p:txBody>
            <a:bodyPr wrap="square" rtlCol="0">
              <a:spAutoFit/>
            </a:bodyPr>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创新驱动</a:t>
              </a:r>
              <a:endParaRPr lang="zh-CN" altLang="en-US" sz="1200" b="1">
                <a:gradFill>
                  <a:gsLst>
                    <a:gs pos="0">
                      <a:srgbClr val="0042FF"/>
                    </a:gs>
                    <a:gs pos="100000">
                      <a:srgbClr val="0042FF"/>
                    </a:gs>
                  </a:gsLst>
                  <a:lin ang="5400000" scaled="0"/>
                </a:gradFill>
                <a:latin typeface="微软雅黑"/>
                <a:ea typeface="微软雅黑"/>
                <a:cs typeface="微软雅黑"/>
              </a:endParaRPr>
            </a:p>
          </p:txBody>
        </p:sp>
        <p:sp>
          <p:nvSpPr>
            <p:cNvPr id="53" name="文本框 52"/>
            <p:cNvSpPr txBox="1"/>
            <p:nvPr/>
          </p:nvSpPr>
          <p:spPr>
            <a:xfrm>
              <a:off x="4180" y="7239"/>
              <a:ext cx="2577" cy="1166"/>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以创新作为拉动全要素生产率提升的根本动力。技术范式创新、业务模式创新、研发流程创新、组织和机制创新。</a:t>
              </a:r>
              <a:endParaRPr lang="zh-CN" altLang="en-US" sz="1000">
                <a:solidFill>
                  <a:srgbClr val="383838"/>
                </a:solidFill>
                <a:latin typeface="微软雅黑"/>
                <a:ea typeface="微软雅黑"/>
                <a:cs typeface="微软雅黑"/>
              </a:endParaRPr>
            </a:p>
          </p:txBody>
        </p:sp>
      </p:grpSp>
      <p:sp>
        <p:nvSpPr>
          <p:cNvPr id="54" name="文本框 53"/>
          <p:cNvSpPr txBox="1"/>
          <p:nvPr/>
        </p:nvSpPr>
        <p:spPr>
          <a:xfrm>
            <a:off x="2922270" y="3261043"/>
            <a:ext cx="112331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精准获客体系</a:t>
            </a:r>
            <a:endParaRPr lang="zh-CN" altLang="en-US" sz="1200">
              <a:solidFill>
                <a:srgbClr val="383838"/>
              </a:solidFill>
              <a:latin typeface="微软雅黑"/>
              <a:ea typeface="微软雅黑"/>
              <a:cs typeface="微软雅黑"/>
            </a:endParaRPr>
          </a:p>
        </p:txBody>
      </p:sp>
      <p:sp>
        <p:nvSpPr>
          <p:cNvPr id="55" name="文本框 54"/>
          <p:cNvSpPr txBox="1"/>
          <p:nvPr/>
        </p:nvSpPr>
        <p:spPr>
          <a:xfrm>
            <a:off x="2555240" y="3738008"/>
            <a:ext cx="1301750"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渠道深耕策略</a:t>
            </a:r>
            <a:endParaRPr lang="zh-CN" altLang="en-US" sz="1200">
              <a:solidFill>
                <a:srgbClr val="383838"/>
              </a:solidFill>
              <a:latin typeface="微软雅黑"/>
              <a:ea typeface="微软雅黑"/>
              <a:cs typeface="微软雅黑"/>
            </a:endParaRPr>
          </a:p>
        </p:txBody>
      </p:sp>
      <p:sp>
        <p:nvSpPr>
          <p:cNvPr id="56" name="文本框 55"/>
          <p:cNvSpPr txBox="1"/>
          <p:nvPr/>
        </p:nvSpPr>
        <p:spPr>
          <a:xfrm>
            <a:off x="8886825" y="3269615"/>
            <a:ext cx="109791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资源整合优化</a:t>
            </a:r>
            <a:endParaRPr lang="zh-CN" altLang="en-US" sz="1200">
              <a:solidFill>
                <a:srgbClr val="383838"/>
              </a:solidFill>
              <a:latin typeface="微软雅黑"/>
              <a:ea typeface="微软雅黑"/>
              <a:cs typeface="微软雅黑"/>
            </a:endParaRPr>
          </a:p>
        </p:txBody>
      </p:sp>
      <p:sp>
        <p:nvSpPr>
          <p:cNvPr id="57" name="文本框 56"/>
          <p:cNvSpPr txBox="1"/>
          <p:nvPr/>
        </p:nvSpPr>
        <p:spPr>
          <a:xfrm>
            <a:off x="8617585" y="3738245"/>
            <a:ext cx="136715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差异化竞争策略</a:t>
            </a:r>
            <a:endParaRPr lang="zh-CN" altLang="en-US" sz="1200">
              <a:solidFill>
                <a:srgbClr val="383838"/>
              </a:solidFill>
              <a:latin typeface="微软雅黑"/>
              <a:ea typeface="微软雅黑"/>
              <a:cs typeface="微软雅黑"/>
            </a:endParaRPr>
          </a:p>
        </p:txBody>
      </p:sp>
      <p:grpSp>
        <p:nvGrpSpPr>
          <p:cNvPr id="86" name="组合 85"/>
          <p:cNvGrpSpPr/>
          <p:nvPr/>
        </p:nvGrpSpPr>
        <p:grpSpPr>
          <a:xfrm>
            <a:off x="8348345" y="4262120"/>
            <a:ext cx="1635760" cy="937260"/>
            <a:chOff x="13147" y="6912"/>
            <a:chExt cx="2576" cy="1476"/>
          </a:xfrm>
        </p:grpSpPr>
        <p:sp>
          <p:nvSpPr>
            <p:cNvPr id="59" name="矩形: 圆角 25"/>
            <p:cNvSpPr/>
            <p:nvPr/>
          </p:nvSpPr>
          <p:spPr>
            <a:xfrm>
              <a:off x="13168" y="6912"/>
              <a:ext cx="2470" cy="1476"/>
            </a:xfrm>
            <a:prstGeom prst="roundRect">
              <a:avLst>
                <a:gd name="adj" fmla="val 13279"/>
              </a:avLst>
            </a:prstGeom>
            <a:gradFill>
              <a:gsLst>
                <a:gs pos="87000">
                  <a:srgbClr val="FFFFFF">
                    <a:alpha val="0"/>
                  </a:srgbClr>
                </a:gs>
                <a:gs pos="0">
                  <a:srgbClr val="FFFFFF"/>
                </a:gs>
              </a:gsLst>
              <a:lin ang="5400000" scaled="0"/>
            </a:gradFill>
            <a:ln w="12700">
              <a:gradFill>
                <a:gsLst>
                  <a:gs pos="0">
                    <a:srgbClr val="3368FF"/>
                  </a:gs>
                  <a:gs pos="90000">
                    <a:srgbClr val="B3D4FE">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60" name="文本框 59"/>
            <p:cNvSpPr txBox="1"/>
            <p:nvPr/>
          </p:nvSpPr>
          <p:spPr>
            <a:xfrm>
              <a:off x="13147" y="7005"/>
              <a:ext cx="2577" cy="434"/>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sym typeface="微软雅黑"/>
                </a:rPr>
                <a:t>人才基石</a:t>
              </a:r>
              <a:endParaRPr lang="zh-CN" altLang="en-US" sz="1200"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63" name="文本框 62"/>
            <p:cNvSpPr txBox="1"/>
            <p:nvPr/>
          </p:nvSpPr>
          <p:spPr>
            <a:xfrm>
              <a:off x="13215" y="7439"/>
              <a:ext cx="2442" cy="942"/>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人才是数智化转型落地的最关键变量，不仅需要技术专家，更需要懂业务、懂数据、懂管理的复合型人才。</a:t>
              </a:r>
              <a:endParaRPr lang="zh-CN" altLang="en-US" sz="1000">
                <a:solidFill>
                  <a:srgbClr val="383838"/>
                </a:solidFill>
                <a:latin typeface="微软雅黑"/>
                <a:ea typeface="微软雅黑"/>
                <a:cs typeface="微软雅黑"/>
              </a:endParaRPr>
            </a:p>
          </p:txBody>
        </p:sp>
      </p:grpSp>
      <p:sp>
        <p:nvSpPr>
          <p:cNvPr id="64" name="文本框 63"/>
          <p:cNvSpPr txBox="1"/>
          <p:nvPr/>
        </p:nvSpPr>
        <p:spPr>
          <a:xfrm>
            <a:off x="5488305" y="3130550"/>
            <a:ext cx="1400810" cy="460375"/>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四步走</a:t>
            </a:r>
            <a:endParaRPr lang="zh-CN" altLang="en-US" sz="1200" b="1">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执行策略</a:t>
            </a:r>
            <a:endParaRPr lang="zh-CN" altLang="en-US" sz="1200">
              <a:solidFill>
                <a:srgbClr val="383838"/>
              </a:solidFill>
              <a:latin typeface="微软雅黑"/>
              <a:ea typeface="微软雅黑"/>
              <a:cs typeface="微软雅黑"/>
              <a:sym typeface="微软雅黑"/>
            </a:endParaRPr>
          </a:p>
        </p:txBody>
      </p:sp>
      <p:grpSp>
        <p:nvGrpSpPr>
          <p:cNvPr id="88" name="组合 87"/>
          <p:cNvGrpSpPr/>
          <p:nvPr/>
        </p:nvGrpSpPr>
        <p:grpSpPr>
          <a:xfrm rot="11340000" flipH="1" flipV="1">
            <a:off x="10139680" y="3188335"/>
            <a:ext cx="924560" cy="1734185"/>
            <a:chOff x="3339603" y="3907317"/>
            <a:chExt cx="1367194" cy="1758253"/>
          </a:xfrm>
        </p:grpSpPr>
        <p:sp>
          <p:nvSpPr>
            <p:cNvPr id="89" name="任意多边形: 形状 22"/>
            <p:cNvSpPr/>
            <p:nvPr/>
          </p:nvSpPr>
          <p:spPr>
            <a:xfrm>
              <a:off x="3339603" y="3907317"/>
              <a:ext cx="1367194" cy="1758253"/>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92" name="矩形 91"/>
            <p:cNvSpPr/>
            <p:nvPr/>
          </p:nvSpPr>
          <p:spPr>
            <a:xfrm>
              <a:off x="3726268" y="4120775"/>
              <a:ext cx="564328" cy="1215519"/>
            </a:xfrm>
            <a:prstGeom prst="rect">
              <a:avLst/>
            </a:prstGeom>
            <a:noFill/>
            <a:ln>
              <a:noFill/>
            </a:ln>
            <a:extLst>
              <a:ext uri="{909E8E84-426E-40DD-AFC4-6F175D3DCCD1}">
                <a14:hiddenFill xmlns:a14="http://schemas.microsoft.com/office/drawing/2010/main">
                  <a:gradFill flip="none" rotWithShape="1">
                    <a:gsLst>
                      <a:gs pos="0">
                        <a:srgbClr val="B3D4FE">
                          <a:alpha val="0"/>
                        </a:srgbClr>
                      </a:gs>
                      <a:gs pos="100000">
                        <a:srgbClr val="3368FF"/>
                      </a:gs>
                    </a:gsLst>
                    <a:lin ang="16200000" scaled="1"/>
                    <a:tileRect/>
                  </a:gra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智力保障</a:t>
              </a:r>
              <a:endParaRPr lang="zh-CN" altLang="en-US" sz="1400" b="1" dirty="0">
                <a:solidFill>
                  <a:srgbClr val="383838"/>
                </a:solidFill>
                <a:latin typeface="微软雅黑"/>
                <a:ea typeface="微软雅黑"/>
                <a:cs typeface="微软雅黑"/>
                <a:sym typeface="微软雅黑"/>
              </a:endParaRPr>
            </a:p>
          </p:txBody>
        </p:sp>
      </p:grpSp>
      <p:sp>
        <p:nvSpPr>
          <p:cNvPr id="76" name="文本框 75"/>
          <p:cNvSpPr txBox="1"/>
          <p:nvPr/>
        </p:nvSpPr>
        <p:spPr>
          <a:xfrm>
            <a:off x="2479675" y="5843905"/>
            <a:ext cx="65786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en-US" altLang="zh-CN" sz="1000" b="1">
                <a:solidFill>
                  <a:srgbClr val="FFFFFF"/>
                </a:solidFill>
                <a:latin typeface="微软雅黑"/>
                <a:ea typeface="微软雅黑"/>
                <a:cs typeface="微软雅黑"/>
              </a:rPr>
              <a:t>AI</a:t>
            </a:r>
            <a:endParaRPr lang="en-US" altLang="zh-CN"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b="1">
                <a:solidFill>
                  <a:srgbClr val="FFFFFF"/>
                </a:solidFill>
                <a:latin typeface="微软雅黑"/>
                <a:ea typeface="微软雅黑"/>
                <a:cs typeface="微软雅黑"/>
              </a:rPr>
              <a:t>应用</a:t>
            </a:r>
            <a:endParaRPr lang="zh-CN" altLang="en-US" sz="1000" b="1">
              <a:solidFill>
                <a:srgbClr val="FFFFFF"/>
              </a:solidFill>
              <a:latin typeface="微软雅黑"/>
              <a:ea typeface="微软雅黑"/>
              <a:cs typeface="微软雅黑"/>
            </a:endParaRPr>
          </a:p>
        </p:txBody>
      </p:sp>
      <p:sp>
        <p:nvSpPr>
          <p:cNvPr id="95" name="文本框 94"/>
          <p:cNvSpPr txBox="1"/>
          <p:nvPr/>
        </p:nvSpPr>
        <p:spPr>
          <a:xfrm>
            <a:off x="4205605" y="6049645"/>
            <a:ext cx="65786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算力</a:t>
            </a:r>
            <a:endParaRPr lang="zh-CN"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网络</a:t>
            </a:r>
            <a:endParaRPr lang="zh-CN" sz="1000" b="1">
              <a:solidFill>
                <a:srgbClr val="FFFFFF"/>
              </a:solidFill>
              <a:latin typeface="微软雅黑"/>
              <a:ea typeface="微软雅黑"/>
              <a:cs typeface="微软雅黑"/>
            </a:endParaRPr>
          </a:p>
        </p:txBody>
      </p:sp>
      <p:sp>
        <p:nvSpPr>
          <p:cNvPr id="96" name="文本框 95"/>
          <p:cNvSpPr txBox="1"/>
          <p:nvPr/>
        </p:nvSpPr>
        <p:spPr>
          <a:xfrm>
            <a:off x="5907405" y="6105525"/>
            <a:ext cx="65786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供应链优化</a:t>
            </a:r>
            <a:endParaRPr lang="zh-CN" sz="1000" b="1">
              <a:solidFill>
                <a:srgbClr val="FFFFFF"/>
              </a:solidFill>
              <a:latin typeface="微软雅黑"/>
              <a:ea typeface="微软雅黑"/>
              <a:cs typeface="微软雅黑"/>
            </a:endParaRPr>
          </a:p>
        </p:txBody>
      </p:sp>
      <p:sp>
        <p:nvSpPr>
          <p:cNvPr id="97" name="文本框 96"/>
          <p:cNvSpPr txBox="1"/>
          <p:nvPr/>
        </p:nvSpPr>
        <p:spPr>
          <a:xfrm>
            <a:off x="7623175" y="6049645"/>
            <a:ext cx="65786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智能</a:t>
            </a:r>
            <a:endParaRPr lang="zh-CN"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决策</a:t>
            </a:r>
            <a:endParaRPr lang="zh-CN" sz="1000" b="1">
              <a:solidFill>
                <a:srgbClr val="FFFFFF"/>
              </a:solidFill>
              <a:latin typeface="微软雅黑"/>
              <a:ea typeface="微软雅黑"/>
              <a:cs typeface="微软雅黑"/>
            </a:endParaRPr>
          </a:p>
        </p:txBody>
      </p:sp>
      <p:sp>
        <p:nvSpPr>
          <p:cNvPr id="98" name="文本框 97"/>
          <p:cNvSpPr txBox="1"/>
          <p:nvPr/>
        </p:nvSpPr>
        <p:spPr>
          <a:xfrm>
            <a:off x="9363075" y="5843905"/>
            <a:ext cx="65786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安全</a:t>
            </a:r>
            <a:endParaRPr lang="zh-CN"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000" b="1">
                <a:solidFill>
                  <a:srgbClr val="FFFFFF"/>
                </a:solidFill>
                <a:latin typeface="微软雅黑"/>
                <a:ea typeface="微软雅黑"/>
                <a:cs typeface="微软雅黑"/>
              </a:rPr>
              <a:t>防护</a:t>
            </a:r>
            <a:endParaRPr lang="zh-CN" sz="1000" b="1">
              <a:solidFill>
                <a:srgbClr val="FFFFFF"/>
              </a:solidFill>
              <a:latin typeface="微软雅黑"/>
              <a:ea typeface="微软雅黑"/>
              <a:cs typeface="微软雅黑"/>
            </a:endParaRPr>
          </a:p>
        </p:txBody>
      </p:sp>
      <p:sp>
        <p:nvSpPr>
          <p:cNvPr id="7" name="椭圆 6"/>
          <p:cNvSpPr/>
          <p:nvPr/>
        </p:nvSpPr>
        <p:spPr>
          <a:xfrm>
            <a:off x="4365625" y="4711065"/>
            <a:ext cx="109220" cy="109220"/>
          </a:xfrm>
          <a:prstGeom prst="ellipse">
            <a:avLst/>
          </a:prstGeom>
          <a:solidFill>
            <a:srgbClr val="B3D4FE"/>
          </a:solidFill>
          <a:ln w="254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9" name="椭圆 8"/>
          <p:cNvSpPr/>
          <p:nvPr/>
        </p:nvSpPr>
        <p:spPr>
          <a:xfrm>
            <a:off x="8030210" y="4728845"/>
            <a:ext cx="109220" cy="109220"/>
          </a:xfrm>
          <a:prstGeom prst="ellipse">
            <a:avLst/>
          </a:prstGeom>
          <a:solidFill>
            <a:srgbClr val="B3D4FE"/>
          </a:solidFill>
          <a:ln w="254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0" name="圆角矩形 19"/>
          <p:cNvSpPr/>
          <p:nvPr/>
        </p:nvSpPr>
        <p:spPr>
          <a:xfrm>
            <a:off x="5106035" y="1063625"/>
            <a:ext cx="2145030" cy="541655"/>
          </a:xfrm>
          <a:prstGeom prst="roundRect">
            <a:avLst/>
          </a:prstGeom>
          <a:gradFill>
            <a:gsLst>
              <a:gs pos="87000">
                <a:srgbClr val="FFFFFF">
                  <a:alpha val="0"/>
                </a:srgbClr>
              </a:gs>
              <a:gs pos="0">
                <a:srgbClr val="FFFFFF"/>
              </a:gs>
            </a:gsLst>
            <a:lin ang="5400000" scaled="0"/>
          </a:gradFill>
          <a:ln w="25400">
            <a:gradFill>
              <a:gsLst>
                <a:gs pos="0">
                  <a:srgbClr val="B3D4FE"/>
                </a:gs>
                <a:gs pos="90000">
                  <a:srgbClr val="B3D4FE">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b="1">
                <a:gradFill>
                  <a:gsLst>
                    <a:gs pos="0">
                      <a:srgbClr val="0042FF"/>
                    </a:gs>
                    <a:gs pos="100000">
                      <a:srgbClr val="0042FF"/>
                    </a:gs>
                  </a:gsLst>
                  <a:lin ang="5400000" scaled="0"/>
                </a:gradFill>
                <a:latin typeface="微软雅黑"/>
                <a:ea typeface="微软雅黑"/>
                <a:cs typeface="微软雅黑"/>
              </a:rPr>
              <a:t>数智化引领未来</a:t>
            </a:r>
            <a:endParaRPr lang="zh-CN" altLang="en-US" b="1">
              <a:gradFill>
                <a:gsLst>
                  <a:gs pos="0">
                    <a:srgbClr val="0042FF"/>
                  </a:gs>
                  <a:gs pos="100000">
                    <a:srgbClr val="0042FF"/>
                  </a:gs>
                </a:gsLst>
                <a:lin ang="5400000" scaled="0"/>
              </a:gradFill>
              <a:latin typeface="微软雅黑"/>
              <a:ea typeface="微软雅黑"/>
              <a:cs typeface="微软雅黑"/>
            </a:endParaRPr>
          </a:p>
        </p:txBody>
      </p:sp>
      <p:sp>
        <p:nvSpPr>
          <p:cNvPr id="21" name="任意多边形: 形状 33"/>
          <p:cNvSpPr/>
          <p:nvPr/>
        </p:nvSpPr>
        <p:spPr>
          <a:xfrm>
            <a:off x="1423035" y="1971675"/>
            <a:ext cx="9629775" cy="902335"/>
          </a:xfrm>
          <a:custGeom>
            <a:avLst/>
            <a:gdLst>
              <a:gd name="connsiteX0" fmla="*/ 1429941 w 2859880"/>
              <a:gd name="connsiteY0" fmla="*/ 0 h 578502"/>
              <a:gd name="connsiteX1" fmla="*/ 2852499 w 2859880"/>
              <a:gd name="connsiteY1" fmla="*/ 259677 h 578502"/>
              <a:gd name="connsiteX2" fmla="*/ 2859880 w 2859880"/>
              <a:gd name="connsiteY2" fmla="*/ 289243 h 578502"/>
              <a:gd name="connsiteX3" fmla="*/ 2859880 w 2859880"/>
              <a:gd name="connsiteY3" fmla="*/ 289259 h 578502"/>
              <a:gd name="connsiteX4" fmla="*/ 2852499 w 2859880"/>
              <a:gd name="connsiteY4" fmla="*/ 318825 h 578502"/>
              <a:gd name="connsiteX5" fmla="*/ 1429941 w 2859880"/>
              <a:gd name="connsiteY5" fmla="*/ 578502 h 578502"/>
              <a:gd name="connsiteX6" fmla="*/ 0 w 2859880"/>
              <a:gd name="connsiteY6" fmla="*/ 289251 h 578502"/>
              <a:gd name="connsiteX7" fmla="*/ 1429941 w 2859880"/>
              <a:gd name="connsiteY7" fmla="*/ 0 h 57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9880" h="578502">
                <a:moveTo>
                  <a:pt x="1429941" y="0"/>
                </a:moveTo>
                <a:cubicBezTo>
                  <a:pt x="2170318" y="0"/>
                  <a:pt x="2779272" y="113820"/>
                  <a:pt x="2852499" y="259677"/>
                </a:cubicBezTo>
                <a:lnTo>
                  <a:pt x="2859880" y="289243"/>
                </a:lnTo>
                <a:lnTo>
                  <a:pt x="2859880" y="289259"/>
                </a:lnTo>
                <a:lnTo>
                  <a:pt x="2852499" y="318825"/>
                </a:lnTo>
                <a:cubicBezTo>
                  <a:pt x="2779272" y="464682"/>
                  <a:pt x="2170318" y="578502"/>
                  <a:pt x="1429941" y="578502"/>
                </a:cubicBezTo>
                <a:cubicBezTo>
                  <a:pt x="640206" y="578502"/>
                  <a:pt x="0" y="449000"/>
                  <a:pt x="0" y="289251"/>
                </a:cubicBezTo>
                <a:cubicBezTo>
                  <a:pt x="0" y="129502"/>
                  <a:pt x="640206" y="0"/>
                  <a:pt x="1429941" y="0"/>
                </a:cubicBezTo>
                <a:close/>
              </a:path>
            </a:pathLst>
          </a:custGeom>
          <a:gradFill>
            <a:gsLst>
              <a:gs pos="100000">
                <a:srgbClr val="E6E6E6">
                  <a:alpha val="50000"/>
                </a:srgbClr>
              </a:gs>
              <a:gs pos="20000">
                <a:srgbClr val="FFFFFF">
                  <a:alpha val="0"/>
                </a:srgbClr>
              </a:gs>
            </a:gsLst>
            <a:lin ang="5400000" scaled="0"/>
          </a:gradFill>
          <a:ln w="25400">
            <a:gradFill>
              <a:gsLst>
                <a:gs pos="30000">
                  <a:srgbClr val="3368FF"/>
                </a:gs>
                <a:gs pos="100000">
                  <a:srgbClr val="3368FF">
                    <a:alpha val="0"/>
                  </a:srgbClr>
                </a:gs>
              </a:gsLst>
              <a:lin ang="162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2" name="任意多边形: 形状 34"/>
          <p:cNvSpPr/>
          <p:nvPr/>
        </p:nvSpPr>
        <p:spPr>
          <a:xfrm>
            <a:off x="1423035" y="2422525"/>
            <a:ext cx="9629775" cy="563245"/>
          </a:xfrm>
          <a:custGeom>
            <a:avLst/>
            <a:gdLst>
              <a:gd name="connsiteX0" fmla="*/ 1 w 2859882"/>
              <a:gd name="connsiteY0" fmla="*/ 0 h 361156"/>
              <a:gd name="connsiteX1" fmla="*/ 1429942 w 2859882"/>
              <a:gd name="connsiteY1" fmla="*/ 289251 h 361156"/>
              <a:gd name="connsiteX2" fmla="*/ 2852500 w 2859882"/>
              <a:gd name="connsiteY2" fmla="*/ 29574 h 361156"/>
              <a:gd name="connsiteX3" fmla="*/ 2859881 w 2859882"/>
              <a:gd name="connsiteY3" fmla="*/ 8 h 361156"/>
              <a:gd name="connsiteX4" fmla="*/ 2859881 w 2859882"/>
              <a:gd name="connsiteY4" fmla="*/ 69524 h 361156"/>
              <a:gd name="connsiteX5" fmla="*/ 2859288 w 2859882"/>
              <a:gd name="connsiteY5" fmla="*/ 69524 h 361156"/>
              <a:gd name="connsiteX6" fmla="*/ 2859882 w 2859882"/>
              <a:gd name="connsiteY6" fmla="*/ 71905 h 361156"/>
              <a:gd name="connsiteX7" fmla="*/ 1429941 w 2859882"/>
              <a:gd name="connsiteY7" fmla="*/ 361156 h 361156"/>
              <a:gd name="connsiteX8" fmla="*/ 0 w 2859882"/>
              <a:gd name="connsiteY8" fmla="*/ 71905 h 361156"/>
              <a:gd name="connsiteX9" fmla="*/ 595 w 2859882"/>
              <a:gd name="connsiteY9" fmla="*/ 69524 h 361156"/>
              <a:gd name="connsiteX10" fmla="*/ 1 w 2859882"/>
              <a:gd name="connsiteY10" fmla="*/ 69524 h 361156"/>
              <a:gd name="connsiteX11" fmla="*/ 1 w 2859882"/>
              <a:gd name="connsiteY11" fmla="*/ 0 h 3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9882" h="361156">
                <a:moveTo>
                  <a:pt x="1" y="0"/>
                </a:moveTo>
                <a:cubicBezTo>
                  <a:pt x="1" y="159749"/>
                  <a:pt x="640207" y="289251"/>
                  <a:pt x="1429942" y="289251"/>
                </a:cubicBezTo>
                <a:cubicBezTo>
                  <a:pt x="2170319" y="289251"/>
                  <a:pt x="2779273" y="175431"/>
                  <a:pt x="2852500" y="29574"/>
                </a:cubicBezTo>
                <a:lnTo>
                  <a:pt x="2859881" y="8"/>
                </a:lnTo>
                <a:lnTo>
                  <a:pt x="2859881" y="69524"/>
                </a:lnTo>
                <a:lnTo>
                  <a:pt x="2859288" y="69524"/>
                </a:lnTo>
                <a:lnTo>
                  <a:pt x="2859882" y="71905"/>
                </a:lnTo>
                <a:cubicBezTo>
                  <a:pt x="2859882" y="231654"/>
                  <a:pt x="2219676" y="361156"/>
                  <a:pt x="1429941" y="361156"/>
                </a:cubicBezTo>
                <a:cubicBezTo>
                  <a:pt x="640206" y="361156"/>
                  <a:pt x="0" y="231654"/>
                  <a:pt x="0" y="71905"/>
                </a:cubicBezTo>
                <a:lnTo>
                  <a:pt x="595" y="69524"/>
                </a:lnTo>
                <a:lnTo>
                  <a:pt x="1" y="69524"/>
                </a:lnTo>
                <a:lnTo>
                  <a:pt x="1" y="0"/>
                </a:lnTo>
                <a:close/>
              </a:path>
            </a:pathLst>
          </a:custGeom>
          <a:gradFill flip="none" rotWithShape="1">
            <a:gsLst>
              <a:gs pos="14000">
                <a:srgbClr val="3368FF"/>
              </a:gs>
              <a:gs pos="55000">
                <a:srgbClr val="0042FF"/>
              </a:gs>
              <a:gs pos="90000">
                <a:srgbClr val="3368FF"/>
              </a:gs>
            </a:gsLst>
            <a:lin ang="13200000" scaled="0"/>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 name="标题 2"/>
          <p:cNvSpPr>
            <a:spLocks noGrp="1"/>
          </p:cNvSpPr>
          <p:nvPr/>
        </p:nvSpPr>
        <p:spPr>
          <a:xfrm>
            <a:off x="108267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数字化运营提升全景图</a:t>
            </a:r>
            <a:endParaRPr sz="2500" dirty="0">
              <a:solidFill>
                <a:srgbClr val="383838"/>
              </a:solidFill>
              <a:effectLst/>
              <a:latin typeface="微软雅黑"/>
              <a:ea typeface="微软雅黑"/>
              <a:cs typeface="微软雅黑"/>
            </a:endParaRPr>
          </a:p>
        </p:txBody>
      </p:sp>
      <p:sp>
        <p:nvSpPr>
          <p:cNvPr id="24" name="Freeform 8"/>
          <p:cNvSpPr/>
          <p:nvPr/>
        </p:nvSpPr>
        <p:spPr>
          <a:xfrm>
            <a:off x="1536700" y="1809750"/>
            <a:ext cx="9403080" cy="866775"/>
          </a:xfrm>
          <a:custGeom>
            <a:avLst/>
            <a:gdLst>
              <a:gd name="connsiteX0" fmla="*/ 4743501 w 4743501"/>
              <a:gd name="connsiteY0" fmla="*/ 448376 h 896752"/>
              <a:gd name="connsiteX1" fmla="*/ 2371751 w 4743501"/>
              <a:gd name="connsiteY1" fmla="*/ 896753 h 896752"/>
              <a:gd name="connsiteX2" fmla="*/ 0 w 4743501"/>
              <a:gd name="connsiteY2" fmla="*/ 448376 h 896752"/>
              <a:gd name="connsiteX3" fmla="*/ 2371751 w 4743501"/>
              <a:gd name="connsiteY3" fmla="*/ 0 h 896752"/>
              <a:gd name="connsiteX4" fmla="*/ 4743501 w 4743501"/>
              <a:gd name="connsiteY4" fmla="*/ 448376 h 896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3501" h="896752">
                <a:moveTo>
                  <a:pt x="4743501" y="448376"/>
                </a:moveTo>
                <a:cubicBezTo>
                  <a:pt x="4743501" y="696008"/>
                  <a:pt x="3681633" y="896753"/>
                  <a:pt x="2371751" y="896753"/>
                </a:cubicBezTo>
                <a:cubicBezTo>
                  <a:pt x="1061869" y="896753"/>
                  <a:pt x="0" y="696008"/>
                  <a:pt x="0" y="448376"/>
                </a:cubicBezTo>
                <a:cubicBezTo>
                  <a:pt x="0" y="200745"/>
                  <a:pt x="1061869" y="0"/>
                  <a:pt x="2371751" y="0"/>
                </a:cubicBezTo>
                <a:cubicBezTo>
                  <a:pt x="3681632" y="0"/>
                  <a:pt x="4743501" y="200745"/>
                  <a:pt x="4743501" y="448376"/>
                </a:cubicBezTo>
                <a:close/>
              </a:path>
            </a:pathLst>
          </a:custGeom>
          <a:noFill/>
          <a:ln w="19050" cap="flat">
            <a:gradFill>
              <a:gsLst>
                <a:gs pos="50000">
                  <a:srgbClr val="3368FF"/>
                </a:gs>
                <a:gs pos="100000">
                  <a:srgbClr val="3368FF">
                    <a:alpha val="0"/>
                  </a:srgbClr>
                </a:gs>
              </a:gsLst>
              <a:lin ang="16200000" scaled="1"/>
            </a:gradFill>
            <a:prstDash val="dash"/>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a:ln>
                <a:noFill/>
              </a:ln>
              <a:solidFill>
                <a:prstClr val="black"/>
              </a:solidFill>
              <a:effectLst/>
              <a:uLnTx/>
              <a:uFillTx/>
              <a:latin typeface="微软雅黑"/>
              <a:ea typeface="微软雅黑"/>
              <a:cs typeface="微软雅黑"/>
              <a:sym typeface="微软雅黑"/>
            </a:endParaRPr>
          </a:p>
        </p:txBody>
      </p:sp>
      <p:sp>
        <p:nvSpPr>
          <p:cNvPr id="33" name="椭圆 32"/>
          <p:cNvSpPr/>
          <p:nvPr/>
        </p:nvSpPr>
        <p:spPr>
          <a:xfrm>
            <a:off x="2035522" y="2372355"/>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38" name="椭圆 37"/>
          <p:cNvSpPr/>
          <p:nvPr/>
        </p:nvSpPr>
        <p:spPr>
          <a:xfrm>
            <a:off x="2838797" y="1880865"/>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39" name="椭圆 38"/>
          <p:cNvSpPr/>
          <p:nvPr/>
        </p:nvSpPr>
        <p:spPr>
          <a:xfrm>
            <a:off x="4022437" y="2557775"/>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44" name="椭圆 43"/>
          <p:cNvSpPr/>
          <p:nvPr/>
        </p:nvSpPr>
        <p:spPr>
          <a:xfrm>
            <a:off x="7910542" y="2580635"/>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45" name="椭圆 44"/>
          <p:cNvSpPr/>
          <p:nvPr/>
        </p:nvSpPr>
        <p:spPr>
          <a:xfrm>
            <a:off x="9612342" y="2479670"/>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48" name="椭圆 47"/>
          <p:cNvSpPr/>
          <p:nvPr/>
        </p:nvSpPr>
        <p:spPr>
          <a:xfrm>
            <a:off x="9958417" y="1920870"/>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49" name="椭圆 48"/>
          <p:cNvSpPr/>
          <p:nvPr/>
        </p:nvSpPr>
        <p:spPr>
          <a:xfrm>
            <a:off x="8686512" y="1802125"/>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50" name="椭圆 49"/>
          <p:cNvSpPr/>
          <p:nvPr/>
        </p:nvSpPr>
        <p:spPr>
          <a:xfrm>
            <a:off x="4597112" y="1762120"/>
            <a:ext cx="119909" cy="11880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58" name="文本框 57"/>
          <p:cNvSpPr txBox="1"/>
          <p:nvPr/>
        </p:nvSpPr>
        <p:spPr>
          <a:xfrm>
            <a:off x="2102485" y="2147570"/>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创新驱动</a:t>
            </a:r>
            <a:endParaRPr lang="zh-CN" altLang="en-US" sz="1200">
              <a:solidFill>
                <a:srgbClr val="383838"/>
              </a:solidFill>
              <a:latin typeface="微软雅黑"/>
              <a:ea typeface="微软雅黑"/>
              <a:cs typeface="微软雅黑"/>
            </a:endParaRPr>
          </a:p>
        </p:txBody>
      </p:sp>
      <p:sp>
        <p:nvSpPr>
          <p:cNvPr id="61" name="文本框 60"/>
          <p:cNvSpPr txBox="1"/>
          <p:nvPr/>
        </p:nvSpPr>
        <p:spPr>
          <a:xfrm>
            <a:off x="3634105" y="2274570"/>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产业升级</a:t>
            </a:r>
            <a:endParaRPr lang="zh-CN" altLang="en-US" sz="1200">
              <a:solidFill>
                <a:srgbClr val="383838"/>
              </a:solidFill>
              <a:latin typeface="微软雅黑"/>
              <a:ea typeface="微软雅黑"/>
              <a:cs typeface="微软雅黑"/>
            </a:endParaRPr>
          </a:p>
        </p:txBody>
      </p:sp>
      <p:sp>
        <p:nvSpPr>
          <p:cNvPr id="62" name="文本框 61"/>
          <p:cNvSpPr txBox="1"/>
          <p:nvPr/>
        </p:nvSpPr>
        <p:spPr>
          <a:xfrm>
            <a:off x="7566660" y="2282190"/>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生态构建</a:t>
            </a:r>
            <a:endParaRPr lang="zh-CN" altLang="en-US" sz="1200">
              <a:solidFill>
                <a:srgbClr val="383838"/>
              </a:solidFill>
              <a:latin typeface="微软雅黑"/>
              <a:ea typeface="微软雅黑"/>
              <a:cs typeface="微软雅黑"/>
            </a:endParaRPr>
          </a:p>
        </p:txBody>
      </p:sp>
      <p:sp>
        <p:nvSpPr>
          <p:cNvPr id="77" name="文本框 76"/>
          <p:cNvSpPr txBox="1"/>
          <p:nvPr/>
        </p:nvSpPr>
        <p:spPr>
          <a:xfrm>
            <a:off x="9115425" y="2204085"/>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智能升级</a:t>
            </a:r>
            <a:endParaRPr lang="zh-CN" altLang="en-US" sz="1200">
              <a:solidFill>
                <a:srgbClr val="383838"/>
              </a:solidFill>
              <a:latin typeface="微软雅黑"/>
              <a:ea typeface="微软雅黑"/>
              <a:cs typeface="微软雅黑"/>
            </a:endParaRPr>
          </a:p>
        </p:txBody>
      </p:sp>
      <p:sp>
        <p:nvSpPr>
          <p:cNvPr id="78" name="文本框 77"/>
          <p:cNvSpPr txBox="1"/>
          <p:nvPr/>
        </p:nvSpPr>
        <p:spPr>
          <a:xfrm>
            <a:off x="9811385" y="1605280"/>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数据赋能</a:t>
            </a:r>
            <a:endParaRPr lang="zh-CN" altLang="en-US" sz="1200">
              <a:solidFill>
                <a:srgbClr val="383838"/>
              </a:solidFill>
              <a:latin typeface="微软雅黑"/>
              <a:ea typeface="微软雅黑"/>
              <a:cs typeface="微软雅黑"/>
            </a:endParaRPr>
          </a:p>
        </p:txBody>
      </p:sp>
      <p:sp>
        <p:nvSpPr>
          <p:cNvPr id="79" name="文本框 78"/>
          <p:cNvSpPr txBox="1"/>
          <p:nvPr/>
        </p:nvSpPr>
        <p:spPr>
          <a:xfrm>
            <a:off x="8361680" y="1513205"/>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融合共生</a:t>
            </a:r>
            <a:endParaRPr lang="zh-CN" altLang="en-US" sz="1200">
              <a:solidFill>
                <a:srgbClr val="383838"/>
              </a:solidFill>
              <a:latin typeface="微软雅黑"/>
              <a:ea typeface="微软雅黑"/>
              <a:cs typeface="微软雅黑"/>
            </a:endParaRPr>
          </a:p>
        </p:txBody>
      </p:sp>
      <p:sp>
        <p:nvSpPr>
          <p:cNvPr id="80" name="文本框 79"/>
          <p:cNvSpPr txBox="1"/>
          <p:nvPr/>
        </p:nvSpPr>
        <p:spPr>
          <a:xfrm>
            <a:off x="2479675" y="1605280"/>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人才基石</a:t>
            </a:r>
            <a:endParaRPr lang="zh-CN" altLang="en-US" sz="1200">
              <a:solidFill>
                <a:srgbClr val="383838"/>
              </a:solidFill>
              <a:latin typeface="微软雅黑"/>
              <a:ea typeface="微软雅黑"/>
              <a:cs typeface="微软雅黑"/>
            </a:endParaRPr>
          </a:p>
        </p:txBody>
      </p:sp>
      <p:sp>
        <p:nvSpPr>
          <p:cNvPr id="81" name="文本框 80"/>
          <p:cNvSpPr txBox="1"/>
          <p:nvPr/>
        </p:nvSpPr>
        <p:spPr>
          <a:xfrm>
            <a:off x="4260215" y="1456690"/>
            <a:ext cx="896620" cy="27559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智慧治理</a:t>
            </a:r>
            <a:endParaRPr lang="zh-CN" altLang="en-US" sz="1200">
              <a:solidFill>
                <a:srgbClr val="383838"/>
              </a:solidFill>
              <a:latin typeface="微软雅黑"/>
              <a:ea typeface="微软雅黑"/>
              <a:cs typeface="微软雅黑"/>
            </a:endParaRPr>
          </a:p>
        </p:txBody>
      </p:sp>
      <p:sp>
        <p:nvSpPr>
          <p:cNvPr id="82" name="文本框 81"/>
          <p:cNvSpPr txBox="1"/>
          <p:nvPr/>
        </p:nvSpPr>
        <p:spPr>
          <a:xfrm>
            <a:off x="5454968" y="2023745"/>
            <a:ext cx="1400810" cy="398780"/>
          </a:xfrm>
          <a:prstGeom prst="rect">
            <a:avLst/>
          </a:prstGeom>
          <a:noFill/>
        </p:spPr>
        <p:txBody>
          <a:bodyPr wrap="square" rtlCol="0">
            <a:spAutoFit/>
          </a:bodyPr>
          <a:p>
            <a:pPr algn="ctr">
              <a:defRPr>
                <a:latin typeface="微软雅黑"/>
                <a:ea typeface="微软雅黑"/>
                <a:cs typeface="微软雅黑"/>
              </a:defRPr>
            </a:pPr>
            <a:r>
              <a:rPr lang="zh-CN" altLang="en-US" sz="2000" b="1">
                <a:solidFill>
                  <a:srgbClr val="383838"/>
                </a:solidFill>
                <a:latin typeface="微软雅黑"/>
                <a:ea typeface="微软雅黑"/>
                <a:cs typeface="微软雅黑"/>
              </a:rPr>
              <a:t>目标</a:t>
            </a:r>
            <a:endParaRPr lang="zh-CN" altLang="en-US" sz="2000" b="1">
              <a:solidFill>
                <a:srgbClr val="383838"/>
              </a:solidFill>
              <a:latin typeface="微软雅黑"/>
              <a:ea typeface="微软雅黑"/>
              <a:cs typeface="微软雅黑"/>
            </a:endParaRPr>
          </a:p>
        </p:txBody>
      </p:sp>
      <p:cxnSp>
        <p:nvCxnSpPr>
          <p:cNvPr id="83" name="©显眼包PPT2-2"/>
          <p:cNvCxnSpPr/>
          <p:nvPr/>
        </p:nvCxnSpPr>
        <p:spPr>
          <a:xfrm>
            <a:off x="5783263" y="1058615"/>
            <a:ext cx="790574" cy="0"/>
          </a:xfrm>
          <a:prstGeom prst="line">
            <a:avLst/>
          </a:prstGeom>
          <a:gradFill>
            <a:gsLst>
              <a:gs pos="87000">
                <a:srgbClr val="FFFFFF">
                  <a:alpha val="0"/>
                </a:srgbClr>
              </a:gs>
              <a:gs pos="0">
                <a:srgbClr val="E6E6E6"/>
              </a:gs>
            </a:gsLst>
            <a:lin ang="5400000" scaled="0"/>
          </a:gradFill>
          <a:ln w="38100">
            <a:solidFill>
              <a:srgbClr val="B3D4FE"/>
            </a:solidFill>
          </a:ln>
        </p:spPr>
        <p:style>
          <a:lnRef idx="2">
            <a:srgbClr val="0042FF"/>
          </a:lnRef>
          <a:fillRef idx="1">
            <a:srgbClr val="0042FF"/>
          </a:fillRef>
          <a:effectRef idx="0">
            <a:srgbClr val="FFFFFF"/>
          </a:effectRef>
          <a:fontRef idx="minor">
            <a:srgbClr val="FFFFFF"/>
          </a:fontRef>
        </p:style>
      </p:cxnSp>
      <p:pic>
        <p:nvPicPr>
          <p:cNvPr id="210" name="图片 20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fill="hold"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down)">
                                      <p:cBhvr>
                                        <p:cTn id="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bldLvl="0" animBg="1"/>
      <p:bldP spid="26" grpId="1"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0" name="图片 20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品牌心智成长路径解析</a:t>
            </a:r>
            <a:endParaRPr sz="2500" dirty="0">
              <a:solidFill>
                <a:srgbClr val="383838"/>
              </a:solidFill>
              <a:effectLst/>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49" name="任意形状 100"/>
          <p:cNvSpPr/>
          <p:nvPr/>
        </p:nvSpPr>
        <p:spPr>
          <a:xfrm>
            <a:off x="356235" y="2162175"/>
            <a:ext cx="4391025" cy="4531360"/>
          </a:xfrm>
          <a:custGeom>
            <a:avLst/>
            <a:gdLst>
              <a:gd name="connsiteX0" fmla="*/ 0 w 7274135"/>
              <a:gd name="connsiteY0" fmla="*/ 3776354 h 3776354"/>
              <a:gd name="connsiteX1" fmla="*/ 7274135 w 7274135"/>
              <a:gd name="connsiteY1" fmla="*/ 3776354 h 3776354"/>
              <a:gd name="connsiteX2" fmla="*/ 7262413 w 7274135"/>
              <a:gd name="connsiteY2" fmla="*/ 3767901 h 3776354"/>
              <a:gd name="connsiteX3" fmla="*/ 5694009 w 7274135"/>
              <a:gd name="connsiteY3" fmla="*/ 1776959 h 3776354"/>
              <a:gd name="connsiteX4" fmla="*/ 4998698 w 7274135"/>
              <a:gd name="connsiteY4" fmla="*/ 93233 h 3776354"/>
              <a:gd name="connsiteX5" fmla="*/ 4975955 w 7274135"/>
              <a:gd name="connsiteY5" fmla="*/ 0 h 3776354"/>
              <a:gd name="connsiteX6" fmla="*/ 2298181 w 7274135"/>
              <a:gd name="connsiteY6" fmla="*/ 0 h 3776354"/>
              <a:gd name="connsiteX7" fmla="*/ 2275438 w 7274135"/>
              <a:gd name="connsiteY7" fmla="*/ 93233 h 3776354"/>
              <a:gd name="connsiteX8" fmla="*/ 1580127 w 7274135"/>
              <a:gd name="connsiteY8" fmla="*/ 1776959 h 3776354"/>
              <a:gd name="connsiteX9" fmla="*/ 11722 w 7274135"/>
              <a:gd name="connsiteY9" fmla="*/ 3767901 h 377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74135" h="3776354">
                <a:moveTo>
                  <a:pt x="0" y="3776354"/>
                </a:moveTo>
                <a:lnTo>
                  <a:pt x="7274135" y="3776354"/>
                </a:lnTo>
                <a:lnTo>
                  <a:pt x="7262413" y="3767901"/>
                </a:lnTo>
                <a:cubicBezTo>
                  <a:pt x="6751792" y="3370022"/>
                  <a:pt x="6176691" y="2659821"/>
                  <a:pt x="5694009" y="1776959"/>
                </a:cubicBezTo>
                <a:cubicBezTo>
                  <a:pt x="5372221" y="1188385"/>
                  <a:pt x="5137203" y="606652"/>
                  <a:pt x="4998698" y="93233"/>
                </a:cubicBezTo>
                <a:lnTo>
                  <a:pt x="4975955" y="0"/>
                </a:lnTo>
                <a:lnTo>
                  <a:pt x="2298181" y="0"/>
                </a:lnTo>
                <a:lnTo>
                  <a:pt x="2275438" y="93233"/>
                </a:lnTo>
                <a:cubicBezTo>
                  <a:pt x="2136933" y="606652"/>
                  <a:pt x="1901915" y="1188385"/>
                  <a:pt x="1580127" y="1776959"/>
                </a:cubicBezTo>
                <a:cubicBezTo>
                  <a:pt x="1097444" y="2659821"/>
                  <a:pt x="522344" y="3370022"/>
                  <a:pt x="11722" y="3767901"/>
                </a:cubicBezTo>
                <a:close/>
              </a:path>
            </a:pathLst>
          </a:custGeom>
          <a:gradFill flip="none" rotWithShape="1">
            <a:gsLst>
              <a:gs pos="57000">
                <a:srgbClr val="FFFFFF">
                  <a:alpha val="50000"/>
                </a:srgbClr>
              </a:gs>
              <a:gs pos="10000">
                <a:srgbClr val="FFFFFF">
                  <a:alpha val="50000"/>
                </a:srgbClr>
              </a:gs>
              <a:gs pos="100000">
                <a:srgbClr val="FFFFFF">
                  <a:alpha val="0"/>
                </a:srgbClr>
              </a:gs>
            </a:gsLst>
            <a:lin ang="5400000" scaled="1"/>
          </a:gradFill>
          <a:ln w="3175">
            <a:gradFill flip="none" rotWithShape="1">
              <a:gsLst>
                <a:gs pos="70000">
                  <a:srgbClr val="B3D4FE"/>
                </a:gs>
                <a:gs pos="29000">
                  <a:srgbClr val="B3D4FE"/>
                </a:gs>
                <a:gs pos="0">
                  <a:srgbClr val="FFFFFF">
                    <a:alpha val="0"/>
                  </a:srgbClr>
                </a:gs>
                <a:gs pos="100000">
                  <a:srgbClr val="FFFFFF">
                    <a:alpha val="0"/>
                  </a:srgbClr>
                </a:gs>
              </a:gsLst>
              <a:lin ang="16200000" scaled="1"/>
              <a:tileRect/>
            </a:gradFill>
          </a:ln>
          <a:effectLst>
            <a:outerShdw blurRad="330200" dist="88900" dir="5400000" algn="t" rotWithShape="0">
              <a:srgbClr val="FFFF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52" name="任意形状 100"/>
          <p:cNvSpPr/>
          <p:nvPr/>
        </p:nvSpPr>
        <p:spPr>
          <a:xfrm>
            <a:off x="2707005" y="2162175"/>
            <a:ext cx="4391025" cy="4531360"/>
          </a:xfrm>
          <a:custGeom>
            <a:avLst/>
            <a:gdLst>
              <a:gd name="connsiteX0" fmla="*/ 0 w 7274135"/>
              <a:gd name="connsiteY0" fmla="*/ 3776354 h 3776354"/>
              <a:gd name="connsiteX1" fmla="*/ 7274135 w 7274135"/>
              <a:gd name="connsiteY1" fmla="*/ 3776354 h 3776354"/>
              <a:gd name="connsiteX2" fmla="*/ 7262413 w 7274135"/>
              <a:gd name="connsiteY2" fmla="*/ 3767901 h 3776354"/>
              <a:gd name="connsiteX3" fmla="*/ 5694009 w 7274135"/>
              <a:gd name="connsiteY3" fmla="*/ 1776959 h 3776354"/>
              <a:gd name="connsiteX4" fmla="*/ 4998698 w 7274135"/>
              <a:gd name="connsiteY4" fmla="*/ 93233 h 3776354"/>
              <a:gd name="connsiteX5" fmla="*/ 4975955 w 7274135"/>
              <a:gd name="connsiteY5" fmla="*/ 0 h 3776354"/>
              <a:gd name="connsiteX6" fmla="*/ 2298181 w 7274135"/>
              <a:gd name="connsiteY6" fmla="*/ 0 h 3776354"/>
              <a:gd name="connsiteX7" fmla="*/ 2275438 w 7274135"/>
              <a:gd name="connsiteY7" fmla="*/ 93233 h 3776354"/>
              <a:gd name="connsiteX8" fmla="*/ 1580127 w 7274135"/>
              <a:gd name="connsiteY8" fmla="*/ 1776959 h 3776354"/>
              <a:gd name="connsiteX9" fmla="*/ 11722 w 7274135"/>
              <a:gd name="connsiteY9" fmla="*/ 3767901 h 377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74135" h="3776354">
                <a:moveTo>
                  <a:pt x="0" y="3776354"/>
                </a:moveTo>
                <a:lnTo>
                  <a:pt x="7274135" y="3776354"/>
                </a:lnTo>
                <a:lnTo>
                  <a:pt x="7262413" y="3767901"/>
                </a:lnTo>
                <a:cubicBezTo>
                  <a:pt x="6751792" y="3370022"/>
                  <a:pt x="6176691" y="2659821"/>
                  <a:pt x="5694009" y="1776959"/>
                </a:cubicBezTo>
                <a:cubicBezTo>
                  <a:pt x="5372221" y="1188385"/>
                  <a:pt x="5137203" y="606652"/>
                  <a:pt x="4998698" y="93233"/>
                </a:cubicBezTo>
                <a:lnTo>
                  <a:pt x="4975955" y="0"/>
                </a:lnTo>
                <a:lnTo>
                  <a:pt x="2298181" y="0"/>
                </a:lnTo>
                <a:lnTo>
                  <a:pt x="2275438" y="93233"/>
                </a:lnTo>
                <a:cubicBezTo>
                  <a:pt x="2136933" y="606652"/>
                  <a:pt x="1901915" y="1188385"/>
                  <a:pt x="1580127" y="1776959"/>
                </a:cubicBezTo>
                <a:cubicBezTo>
                  <a:pt x="1097444" y="2659821"/>
                  <a:pt x="522344" y="3370022"/>
                  <a:pt x="11722" y="3767901"/>
                </a:cubicBezTo>
                <a:close/>
              </a:path>
            </a:pathLst>
          </a:custGeom>
          <a:gradFill flip="none" rotWithShape="1">
            <a:gsLst>
              <a:gs pos="57000">
                <a:srgbClr val="E6E6E6">
                  <a:alpha val="50000"/>
                </a:srgbClr>
              </a:gs>
              <a:gs pos="10000">
                <a:srgbClr val="E6E6E6">
                  <a:alpha val="50000"/>
                </a:srgbClr>
              </a:gs>
              <a:gs pos="100000">
                <a:srgbClr val="E6E6E6">
                  <a:alpha val="0"/>
                </a:srgbClr>
              </a:gs>
            </a:gsLst>
            <a:lin ang="5400000" scaled="1"/>
          </a:gradFill>
          <a:ln w="3175">
            <a:gradFill flip="none" rotWithShape="1">
              <a:gsLst>
                <a:gs pos="70000">
                  <a:srgbClr val="668EFF"/>
                </a:gs>
                <a:gs pos="29000">
                  <a:srgbClr val="3368FF"/>
                </a:gs>
                <a:gs pos="0">
                  <a:srgbClr val="FFFFFF">
                    <a:alpha val="0"/>
                  </a:srgbClr>
                </a:gs>
                <a:gs pos="100000">
                  <a:srgbClr val="FFFFFF">
                    <a:alpha val="0"/>
                  </a:srgbClr>
                </a:gs>
              </a:gsLst>
              <a:lin ang="16200000" scaled="1"/>
              <a:tileRect/>
            </a:gradFill>
          </a:ln>
          <a:effectLst>
            <a:outerShdw blurRad="330200" dist="88900" dir="5400000" algn="t" rotWithShape="0">
              <a:srgbClr val="FFFF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55" name="任意形状 100"/>
          <p:cNvSpPr/>
          <p:nvPr/>
        </p:nvSpPr>
        <p:spPr>
          <a:xfrm>
            <a:off x="5057775" y="2162175"/>
            <a:ext cx="4391025" cy="4531360"/>
          </a:xfrm>
          <a:custGeom>
            <a:avLst/>
            <a:gdLst>
              <a:gd name="connsiteX0" fmla="*/ 0 w 7274135"/>
              <a:gd name="connsiteY0" fmla="*/ 3776354 h 3776354"/>
              <a:gd name="connsiteX1" fmla="*/ 7274135 w 7274135"/>
              <a:gd name="connsiteY1" fmla="*/ 3776354 h 3776354"/>
              <a:gd name="connsiteX2" fmla="*/ 7262413 w 7274135"/>
              <a:gd name="connsiteY2" fmla="*/ 3767901 h 3776354"/>
              <a:gd name="connsiteX3" fmla="*/ 5694009 w 7274135"/>
              <a:gd name="connsiteY3" fmla="*/ 1776959 h 3776354"/>
              <a:gd name="connsiteX4" fmla="*/ 4998698 w 7274135"/>
              <a:gd name="connsiteY4" fmla="*/ 93233 h 3776354"/>
              <a:gd name="connsiteX5" fmla="*/ 4975955 w 7274135"/>
              <a:gd name="connsiteY5" fmla="*/ 0 h 3776354"/>
              <a:gd name="connsiteX6" fmla="*/ 2298181 w 7274135"/>
              <a:gd name="connsiteY6" fmla="*/ 0 h 3776354"/>
              <a:gd name="connsiteX7" fmla="*/ 2275438 w 7274135"/>
              <a:gd name="connsiteY7" fmla="*/ 93233 h 3776354"/>
              <a:gd name="connsiteX8" fmla="*/ 1580127 w 7274135"/>
              <a:gd name="connsiteY8" fmla="*/ 1776959 h 3776354"/>
              <a:gd name="connsiteX9" fmla="*/ 11722 w 7274135"/>
              <a:gd name="connsiteY9" fmla="*/ 3767901 h 377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74135" h="3776354">
                <a:moveTo>
                  <a:pt x="0" y="3776354"/>
                </a:moveTo>
                <a:lnTo>
                  <a:pt x="7274135" y="3776354"/>
                </a:lnTo>
                <a:lnTo>
                  <a:pt x="7262413" y="3767901"/>
                </a:lnTo>
                <a:cubicBezTo>
                  <a:pt x="6751792" y="3370022"/>
                  <a:pt x="6176691" y="2659821"/>
                  <a:pt x="5694009" y="1776959"/>
                </a:cubicBezTo>
                <a:cubicBezTo>
                  <a:pt x="5372221" y="1188385"/>
                  <a:pt x="5137203" y="606652"/>
                  <a:pt x="4998698" y="93233"/>
                </a:cubicBezTo>
                <a:lnTo>
                  <a:pt x="4975955" y="0"/>
                </a:lnTo>
                <a:lnTo>
                  <a:pt x="2298181" y="0"/>
                </a:lnTo>
                <a:lnTo>
                  <a:pt x="2275438" y="93233"/>
                </a:lnTo>
                <a:cubicBezTo>
                  <a:pt x="2136933" y="606652"/>
                  <a:pt x="1901915" y="1188385"/>
                  <a:pt x="1580127" y="1776959"/>
                </a:cubicBezTo>
                <a:cubicBezTo>
                  <a:pt x="1097444" y="2659821"/>
                  <a:pt x="522344" y="3370022"/>
                  <a:pt x="11722" y="3767901"/>
                </a:cubicBezTo>
                <a:close/>
              </a:path>
            </a:pathLst>
          </a:custGeom>
          <a:gradFill flip="none" rotWithShape="1">
            <a:gsLst>
              <a:gs pos="57000">
                <a:srgbClr val="FFFFFF">
                  <a:alpha val="50000"/>
                </a:srgbClr>
              </a:gs>
              <a:gs pos="10000">
                <a:srgbClr val="FFFFFF">
                  <a:alpha val="50000"/>
                </a:srgbClr>
              </a:gs>
              <a:gs pos="100000">
                <a:srgbClr val="FFFFFF">
                  <a:alpha val="0"/>
                </a:srgbClr>
              </a:gs>
            </a:gsLst>
            <a:lin ang="5400000" scaled="1"/>
          </a:gradFill>
          <a:ln w="3175">
            <a:gradFill flip="none" rotWithShape="1">
              <a:gsLst>
                <a:gs pos="70000">
                  <a:srgbClr val="B3D4FE"/>
                </a:gs>
                <a:gs pos="29000">
                  <a:srgbClr val="B3D4FE"/>
                </a:gs>
                <a:gs pos="0">
                  <a:srgbClr val="FFFFFF">
                    <a:alpha val="0"/>
                  </a:srgbClr>
                </a:gs>
                <a:gs pos="100000">
                  <a:srgbClr val="FFFFFF">
                    <a:alpha val="0"/>
                  </a:srgbClr>
                </a:gs>
              </a:gsLst>
              <a:lin ang="16200000" scaled="1"/>
              <a:tileRect/>
            </a:gradFill>
          </a:ln>
          <a:effectLst>
            <a:outerShdw blurRad="330200" dist="88900" dir="5400000" algn="t" rotWithShape="0">
              <a:srgbClr val="FFFF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59" name="任意形状 100"/>
          <p:cNvSpPr/>
          <p:nvPr/>
        </p:nvSpPr>
        <p:spPr>
          <a:xfrm>
            <a:off x="7408545" y="2162175"/>
            <a:ext cx="4391025" cy="4531360"/>
          </a:xfrm>
          <a:custGeom>
            <a:avLst/>
            <a:gdLst>
              <a:gd name="connsiteX0" fmla="*/ 0 w 7274135"/>
              <a:gd name="connsiteY0" fmla="*/ 3776354 h 3776354"/>
              <a:gd name="connsiteX1" fmla="*/ 7274135 w 7274135"/>
              <a:gd name="connsiteY1" fmla="*/ 3776354 h 3776354"/>
              <a:gd name="connsiteX2" fmla="*/ 7262413 w 7274135"/>
              <a:gd name="connsiteY2" fmla="*/ 3767901 h 3776354"/>
              <a:gd name="connsiteX3" fmla="*/ 5694009 w 7274135"/>
              <a:gd name="connsiteY3" fmla="*/ 1776959 h 3776354"/>
              <a:gd name="connsiteX4" fmla="*/ 4998698 w 7274135"/>
              <a:gd name="connsiteY4" fmla="*/ 93233 h 3776354"/>
              <a:gd name="connsiteX5" fmla="*/ 4975955 w 7274135"/>
              <a:gd name="connsiteY5" fmla="*/ 0 h 3776354"/>
              <a:gd name="connsiteX6" fmla="*/ 2298181 w 7274135"/>
              <a:gd name="connsiteY6" fmla="*/ 0 h 3776354"/>
              <a:gd name="connsiteX7" fmla="*/ 2275438 w 7274135"/>
              <a:gd name="connsiteY7" fmla="*/ 93233 h 3776354"/>
              <a:gd name="connsiteX8" fmla="*/ 1580127 w 7274135"/>
              <a:gd name="connsiteY8" fmla="*/ 1776959 h 3776354"/>
              <a:gd name="connsiteX9" fmla="*/ 11722 w 7274135"/>
              <a:gd name="connsiteY9" fmla="*/ 3767901 h 377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74135" h="3776354">
                <a:moveTo>
                  <a:pt x="0" y="3776354"/>
                </a:moveTo>
                <a:lnTo>
                  <a:pt x="7274135" y="3776354"/>
                </a:lnTo>
                <a:lnTo>
                  <a:pt x="7262413" y="3767901"/>
                </a:lnTo>
                <a:cubicBezTo>
                  <a:pt x="6751792" y="3370022"/>
                  <a:pt x="6176691" y="2659821"/>
                  <a:pt x="5694009" y="1776959"/>
                </a:cubicBezTo>
                <a:cubicBezTo>
                  <a:pt x="5372221" y="1188385"/>
                  <a:pt x="5137203" y="606652"/>
                  <a:pt x="4998698" y="93233"/>
                </a:cubicBezTo>
                <a:lnTo>
                  <a:pt x="4975955" y="0"/>
                </a:lnTo>
                <a:lnTo>
                  <a:pt x="2298181" y="0"/>
                </a:lnTo>
                <a:lnTo>
                  <a:pt x="2275438" y="93233"/>
                </a:lnTo>
                <a:cubicBezTo>
                  <a:pt x="2136933" y="606652"/>
                  <a:pt x="1901915" y="1188385"/>
                  <a:pt x="1580127" y="1776959"/>
                </a:cubicBezTo>
                <a:cubicBezTo>
                  <a:pt x="1097444" y="2659821"/>
                  <a:pt x="522344" y="3370022"/>
                  <a:pt x="11722" y="3767901"/>
                </a:cubicBezTo>
                <a:close/>
              </a:path>
            </a:pathLst>
          </a:custGeom>
          <a:gradFill flip="none" rotWithShape="1">
            <a:gsLst>
              <a:gs pos="57000">
                <a:srgbClr val="E6E6E6">
                  <a:alpha val="50000"/>
                </a:srgbClr>
              </a:gs>
              <a:gs pos="10000">
                <a:srgbClr val="E6E6E6">
                  <a:alpha val="50000"/>
                </a:srgbClr>
              </a:gs>
              <a:gs pos="100000">
                <a:srgbClr val="E6E6E6">
                  <a:alpha val="0"/>
                </a:srgbClr>
              </a:gs>
            </a:gsLst>
            <a:lin ang="5400000" scaled="1"/>
          </a:gradFill>
          <a:ln w="3175">
            <a:gradFill flip="none" rotWithShape="1">
              <a:gsLst>
                <a:gs pos="70000">
                  <a:srgbClr val="668EFF"/>
                </a:gs>
                <a:gs pos="29000">
                  <a:srgbClr val="3368FF"/>
                </a:gs>
                <a:gs pos="0">
                  <a:srgbClr val="FFFFFF">
                    <a:alpha val="0"/>
                  </a:srgbClr>
                </a:gs>
                <a:gs pos="100000">
                  <a:srgbClr val="FFFFFF">
                    <a:alpha val="0"/>
                  </a:srgbClr>
                </a:gs>
              </a:gsLst>
              <a:lin ang="16200000" scaled="1"/>
              <a:tileRect/>
            </a:gradFill>
          </a:ln>
          <a:effectLst>
            <a:outerShdw blurRad="330200" dist="88900" dir="5400000" algn="t" rotWithShape="0">
              <a:srgbClr val="FFFF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88" name="任意多边形 87"/>
          <p:cNvSpPr/>
          <p:nvPr/>
        </p:nvSpPr>
        <p:spPr>
          <a:xfrm>
            <a:off x="1526653" y="2907665"/>
            <a:ext cx="9114721" cy="487680"/>
          </a:xfrm>
          <a:custGeom>
            <a:avLst/>
            <a:gdLst/>
            <a:ahLst/>
            <a:cxnLst>
              <a:cxn ang="3">
                <a:pos x="hc" y="t"/>
              </a:cxn>
              <a:cxn ang="cd2">
                <a:pos x="l" y="vc"/>
              </a:cxn>
              <a:cxn ang="cd4">
                <a:pos x="hc" y="b"/>
              </a:cxn>
              <a:cxn ang="0">
                <a:pos x="r" y="vc"/>
              </a:cxn>
            </a:cxnLst>
            <a:rect l="l" t="t" r="r" b="b"/>
            <a:pathLst>
              <a:path w="14354" h="768">
                <a:moveTo>
                  <a:pt x="149" y="0"/>
                </a:moveTo>
                <a:cubicBezTo>
                  <a:pt x="128" y="132"/>
                  <a:pt x="9" y="733"/>
                  <a:pt x="0" y="768"/>
                </a:cubicBezTo>
                <a:lnTo>
                  <a:pt x="14354" y="768"/>
                </a:lnTo>
                <a:cubicBezTo>
                  <a:pt x="14340" y="715"/>
                  <a:pt x="14221" y="106"/>
                  <a:pt x="14205" y="0"/>
                </a:cubicBezTo>
                <a:lnTo>
                  <a:pt x="149" y="0"/>
                </a:lnTo>
                <a:close/>
              </a:path>
            </a:pathLst>
          </a:custGeom>
          <a:gradFill>
            <a:gsLst>
              <a:gs pos="10000">
                <a:srgbClr val="3368FF"/>
              </a:gs>
              <a:gs pos="10000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r>
              <a:rPr lang="zh-CN" altLang="en-US" b="1">
                <a:latin typeface="微软雅黑"/>
                <a:ea typeface="微软雅黑"/>
                <a:cs typeface="微软雅黑"/>
              </a:rPr>
              <a:t>关键节点</a:t>
            </a:r>
            <a:r>
              <a:rPr lang="en-US" altLang="zh-CN" b="1">
                <a:latin typeface="微软雅黑"/>
                <a:ea typeface="微软雅黑"/>
                <a:cs typeface="微软雅黑"/>
              </a:rPr>
              <a:t>/</a:t>
            </a:r>
            <a:r>
              <a:rPr lang="zh-CN" altLang="en-US" b="1">
                <a:latin typeface="微软雅黑"/>
                <a:ea typeface="微软雅黑"/>
                <a:cs typeface="微软雅黑"/>
              </a:rPr>
              <a:t>资源示例</a:t>
            </a:r>
            <a:endParaRPr lang="zh-CN" altLang="en-US" b="1">
              <a:latin typeface="微软雅黑"/>
              <a:ea typeface="微软雅黑"/>
              <a:cs typeface="微软雅黑"/>
            </a:endParaRPr>
          </a:p>
        </p:txBody>
      </p:sp>
      <p:grpSp>
        <p:nvGrpSpPr>
          <p:cNvPr id="20" name="组合 19"/>
          <p:cNvGrpSpPr/>
          <p:nvPr>
            <p:custDataLst>
              <p:tags r:id="rId4"/>
            </p:custDataLst>
          </p:nvPr>
        </p:nvGrpSpPr>
        <p:grpSpPr>
          <a:xfrm>
            <a:off x="1318260" y="1162050"/>
            <a:ext cx="2466975" cy="829310"/>
            <a:chOff x="1874" y="1713"/>
            <a:chExt cx="4422" cy="1306"/>
          </a:xfrm>
        </p:grpSpPr>
        <p:sp>
          <p:nvSpPr>
            <p:cNvPr id="169" name="显眼包PPT8"/>
            <p:cNvSpPr/>
            <p:nvPr>
              <p:custDataLst>
                <p:tags r:id="rId5"/>
              </p:custDataLst>
            </p:nvPr>
          </p:nvSpPr>
          <p:spPr>
            <a:xfrm flipV="1">
              <a:off x="1874" y="1713"/>
              <a:ext cx="4422" cy="960"/>
            </a:xfrm>
            <a:custGeom>
              <a:avLst/>
              <a:gdLst>
                <a:gd name="connsiteX0" fmla="*/ 0 w 4965109"/>
                <a:gd name="connsiteY0" fmla="*/ 1530753 h 1530753"/>
                <a:gd name="connsiteX1" fmla="*/ 1492928 w 4965109"/>
                <a:gd name="connsiteY1" fmla="*/ 0 h 1530753"/>
                <a:gd name="connsiteX2" fmla="*/ 3472181 w 4965109"/>
                <a:gd name="connsiteY2" fmla="*/ 0 h 1530753"/>
                <a:gd name="connsiteX3" fmla="*/ 4965109 w 4965109"/>
                <a:gd name="connsiteY3" fmla="*/ 1530753 h 1530753"/>
                <a:gd name="connsiteX4" fmla="*/ 0 w 4965109"/>
                <a:gd name="connsiteY4" fmla="*/ 1530753 h 1530753"/>
                <a:gd name="connsiteX0-1" fmla="*/ 0 w 4965109"/>
                <a:gd name="connsiteY0-2" fmla="*/ 1530753 h 1530753"/>
                <a:gd name="connsiteX1-3" fmla="*/ 1492928 w 4965109"/>
                <a:gd name="connsiteY1-4" fmla="*/ 0 h 1530753"/>
                <a:gd name="connsiteX2-5" fmla="*/ 3472181 w 4965109"/>
                <a:gd name="connsiteY2-6" fmla="*/ 0 h 1530753"/>
                <a:gd name="connsiteX3-7" fmla="*/ 4965109 w 4965109"/>
                <a:gd name="connsiteY3-8" fmla="*/ 1530753 h 1530753"/>
                <a:gd name="connsiteX4-9" fmla="*/ 0 w 4965109"/>
                <a:gd name="connsiteY4-10" fmla="*/ 1530753 h 1530753"/>
                <a:gd name="connsiteX0-11" fmla="*/ 0 w 4965109"/>
                <a:gd name="connsiteY0-12" fmla="*/ 1530753 h 1530753"/>
                <a:gd name="connsiteX1-13" fmla="*/ 1492928 w 4965109"/>
                <a:gd name="connsiteY1-14" fmla="*/ 0 h 1530753"/>
                <a:gd name="connsiteX2-15" fmla="*/ 3472181 w 4965109"/>
                <a:gd name="connsiteY2-16" fmla="*/ 0 h 1530753"/>
                <a:gd name="connsiteX3-17" fmla="*/ 4965109 w 4965109"/>
                <a:gd name="connsiteY3-18" fmla="*/ 1530753 h 1530753"/>
                <a:gd name="connsiteX4-19" fmla="*/ 0 w 4965109"/>
                <a:gd name="connsiteY4-20" fmla="*/ 1530753 h 1530753"/>
                <a:gd name="connsiteX0-21" fmla="*/ 0 w 4965109"/>
                <a:gd name="connsiteY0-22" fmla="*/ 1530753 h 1530753"/>
                <a:gd name="connsiteX1-23" fmla="*/ 1492928 w 4965109"/>
                <a:gd name="connsiteY1-24" fmla="*/ 0 h 1530753"/>
                <a:gd name="connsiteX2-25" fmla="*/ 3472181 w 4965109"/>
                <a:gd name="connsiteY2-26" fmla="*/ 0 h 1530753"/>
                <a:gd name="connsiteX3-27" fmla="*/ 4965109 w 4965109"/>
                <a:gd name="connsiteY3-28" fmla="*/ 1530753 h 1530753"/>
                <a:gd name="connsiteX4-29" fmla="*/ 0 w 4965109"/>
                <a:gd name="connsiteY4-30" fmla="*/ 1530753 h 1530753"/>
                <a:gd name="connsiteX0-31" fmla="*/ 0 w 4965109"/>
                <a:gd name="connsiteY0-32" fmla="*/ 1530753 h 1530753"/>
                <a:gd name="connsiteX1-33" fmla="*/ 1492928 w 4965109"/>
                <a:gd name="connsiteY1-34" fmla="*/ 0 h 1530753"/>
                <a:gd name="connsiteX2-35" fmla="*/ 3472181 w 4965109"/>
                <a:gd name="connsiteY2-36" fmla="*/ 0 h 1530753"/>
                <a:gd name="connsiteX3-37" fmla="*/ 4965109 w 4965109"/>
                <a:gd name="connsiteY3-38" fmla="*/ 1530753 h 1530753"/>
                <a:gd name="connsiteX4-39" fmla="*/ 0 w 4965109"/>
                <a:gd name="connsiteY4-40" fmla="*/ 1530753 h 153075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965109" h="1530753">
                  <a:moveTo>
                    <a:pt x="0" y="1530753"/>
                  </a:moveTo>
                  <a:cubicBezTo>
                    <a:pt x="713543" y="1084002"/>
                    <a:pt x="1122285" y="586451"/>
                    <a:pt x="1492928" y="0"/>
                  </a:cubicBezTo>
                  <a:lnTo>
                    <a:pt x="3472181" y="0"/>
                  </a:lnTo>
                  <a:cubicBezTo>
                    <a:pt x="3874574" y="624551"/>
                    <a:pt x="4308716" y="1128452"/>
                    <a:pt x="4965109" y="1530753"/>
                  </a:cubicBezTo>
                  <a:lnTo>
                    <a:pt x="0" y="1530753"/>
                  </a:lnTo>
                  <a:close/>
                </a:path>
              </a:pathLst>
            </a:custGeom>
            <a:gradFill>
              <a:gsLst>
                <a:gs pos="0">
                  <a:srgbClr val="FFFFFF">
                    <a:alpha val="0"/>
                  </a:srgbClr>
                </a:gs>
                <a:gs pos="97248">
                  <a:srgbClr val="FFFFFF">
                    <a:alpha val="0"/>
                  </a:srgbClr>
                </a:gs>
                <a:gs pos="44000">
                  <a:srgbClr val="FFFFFF">
                    <a:alpha val="52000"/>
                  </a:srgbClr>
                </a:gs>
              </a:gsLst>
              <a:lin ang="5400000" scaled="0"/>
            </a:gradFill>
            <a:ln w="6350">
              <a:gradFill>
                <a:gsLst>
                  <a:gs pos="0">
                    <a:srgbClr val="FFFFFF">
                      <a:alpha val="0"/>
                    </a:srgbClr>
                  </a:gs>
                  <a:gs pos="46000">
                    <a:srgbClr val="B3D4FE">
                      <a:alpha val="64000"/>
                    </a:srgbClr>
                  </a:gs>
                  <a:gs pos="100000">
                    <a:srgbClr val="FFFF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7" name="显眼包PPT14"/>
            <p:cNvSpPr/>
            <p:nvPr>
              <p:custDataLst>
                <p:tags r:id="rId6"/>
              </p:custDataLst>
            </p:nvPr>
          </p:nvSpPr>
          <p:spPr>
            <a:xfrm>
              <a:off x="2413" y="2499"/>
              <a:ext cx="3345" cy="521"/>
            </a:xfrm>
            <a:custGeom>
              <a:avLst/>
              <a:gdLst>
                <a:gd name="connsiteX0" fmla="*/ 0 w 4397118"/>
                <a:gd name="connsiteY0" fmla="*/ 0 h 684613"/>
                <a:gd name="connsiteX1" fmla="*/ 3141 w 4397118"/>
                <a:gd name="connsiteY1" fmla="*/ 0 h 684613"/>
                <a:gd name="connsiteX2" fmla="*/ 44667 w 4397118"/>
                <a:gd name="connsiteY2" fmla="*/ 28739 h 684613"/>
                <a:gd name="connsiteX3" fmla="*/ 2198559 w 4397118"/>
                <a:gd name="connsiteY3" fmla="*/ 151213 h 684613"/>
                <a:gd name="connsiteX4" fmla="*/ 4352451 w 4397118"/>
                <a:gd name="connsiteY4" fmla="*/ 28739 h 684613"/>
                <a:gd name="connsiteX5" fmla="*/ 4393977 w 4397118"/>
                <a:gd name="connsiteY5" fmla="*/ 0 h 684613"/>
                <a:gd name="connsiteX6" fmla="*/ 4397117 w 4397118"/>
                <a:gd name="connsiteY6" fmla="*/ 0 h 684613"/>
                <a:gd name="connsiteX7" fmla="*/ 4397117 w 4397118"/>
                <a:gd name="connsiteY7" fmla="*/ 531226 h 684613"/>
                <a:gd name="connsiteX8" fmla="*/ 4397118 w 4397118"/>
                <a:gd name="connsiteY8" fmla="*/ 531226 h 684613"/>
                <a:gd name="connsiteX9" fmla="*/ 4397117 w 4397118"/>
                <a:gd name="connsiteY9" fmla="*/ 531227 h 684613"/>
                <a:gd name="connsiteX10" fmla="*/ 4397117 w 4397118"/>
                <a:gd name="connsiteY10" fmla="*/ 531612 h 684613"/>
                <a:gd name="connsiteX11" fmla="*/ 4396560 w 4397118"/>
                <a:gd name="connsiteY11" fmla="*/ 531612 h 684613"/>
                <a:gd name="connsiteX12" fmla="*/ 4352451 w 4397118"/>
                <a:gd name="connsiteY12" fmla="*/ 562139 h 684613"/>
                <a:gd name="connsiteX13" fmla="*/ 2198559 w 4397118"/>
                <a:gd name="connsiteY13" fmla="*/ 684613 h 684613"/>
                <a:gd name="connsiteX14" fmla="*/ 44667 w 4397118"/>
                <a:gd name="connsiteY14" fmla="*/ 562139 h 684613"/>
                <a:gd name="connsiteX15" fmla="*/ 558 w 4397118"/>
                <a:gd name="connsiteY15" fmla="*/ 531612 h 684613"/>
                <a:gd name="connsiteX16" fmla="*/ 0 w 4397118"/>
                <a:gd name="connsiteY16" fmla="*/ 531612 h 684613"/>
                <a:gd name="connsiteX17" fmla="*/ 0 w 4397118"/>
                <a:gd name="connsiteY17" fmla="*/ 531226 h 68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97118" h="684613">
                  <a:moveTo>
                    <a:pt x="0" y="0"/>
                  </a:moveTo>
                  <a:lnTo>
                    <a:pt x="3141" y="0"/>
                  </a:lnTo>
                  <a:lnTo>
                    <a:pt x="44667" y="28739"/>
                  </a:lnTo>
                  <a:cubicBezTo>
                    <a:pt x="249675" y="98635"/>
                    <a:pt x="1136107" y="151213"/>
                    <a:pt x="2198559" y="151213"/>
                  </a:cubicBezTo>
                  <a:cubicBezTo>
                    <a:pt x="3261011" y="151213"/>
                    <a:pt x="4147444" y="98635"/>
                    <a:pt x="4352451" y="28739"/>
                  </a:cubicBezTo>
                  <a:lnTo>
                    <a:pt x="4393977" y="0"/>
                  </a:lnTo>
                  <a:lnTo>
                    <a:pt x="4397117" y="0"/>
                  </a:lnTo>
                  <a:lnTo>
                    <a:pt x="4397117" y="531226"/>
                  </a:lnTo>
                  <a:lnTo>
                    <a:pt x="4397118" y="531226"/>
                  </a:lnTo>
                  <a:lnTo>
                    <a:pt x="4397117" y="531227"/>
                  </a:lnTo>
                  <a:lnTo>
                    <a:pt x="4397117" y="531612"/>
                  </a:lnTo>
                  <a:lnTo>
                    <a:pt x="4396560" y="531612"/>
                  </a:lnTo>
                  <a:lnTo>
                    <a:pt x="4352451" y="562139"/>
                  </a:lnTo>
                  <a:cubicBezTo>
                    <a:pt x="4147444" y="632035"/>
                    <a:pt x="3261011" y="684613"/>
                    <a:pt x="2198559" y="684613"/>
                  </a:cubicBezTo>
                  <a:cubicBezTo>
                    <a:pt x="1136107" y="684613"/>
                    <a:pt x="249675" y="632035"/>
                    <a:pt x="44667" y="562139"/>
                  </a:cubicBezTo>
                  <a:lnTo>
                    <a:pt x="558" y="531612"/>
                  </a:lnTo>
                  <a:lnTo>
                    <a:pt x="0" y="531612"/>
                  </a:lnTo>
                  <a:lnTo>
                    <a:pt x="0" y="531226"/>
                  </a:lnTo>
                  <a:close/>
                </a:path>
              </a:pathLst>
            </a:custGeom>
            <a:gradFill flip="none" rotWithShape="1">
              <a:gsLst>
                <a:gs pos="0">
                  <a:srgbClr val="B3D4FE"/>
                </a:gs>
                <a:gs pos="67000">
                  <a:srgbClr val="3368FF"/>
                </a:gs>
              </a:gsLst>
              <a:lin ang="0" scaled="1"/>
              <a:tileRect/>
            </a:gradFill>
            <a:ln>
              <a:noFill/>
            </a:ln>
            <a:effectLst/>
          </p:spPr>
          <p:style>
            <a:lnRef idx="2">
              <a:srgbClr val="0042FF"/>
            </a:lnRef>
            <a:fillRef idx="1">
              <a:srgbClr val="0042FF"/>
            </a:fillRef>
            <a:effectRef idx="0">
              <a:srgbClr val="0042FF"/>
            </a:effectRef>
            <a:fontRef idx="minor">
              <a:srgbClr val="FFFFFF"/>
            </a:fontRef>
          </p:style>
          <p:txBody>
            <a:bodyPr lIns="80467" tIns="40234" rIns="80467" bIns="40234" rtlCol="0" anchor="ctr"/>
            <a:lstStyle/>
            <a:p>
              <a:pPr algn="ctr">
                <a:defRPr>
                  <a:solidFill>
                    <a:srgbClr val="FFFFFF"/>
                  </a:solidFill>
                  <a:latin typeface="微软雅黑"/>
                  <a:ea typeface="微软雅黑"/>
                  <a:cs typeface="微软雅黑"/>
                </a:defRPr>
              </a:pPr>
              <a:endParaRPr lang="zh-CN" altLang="en-US" sz="1585">
                <a:solidFill>
                  <a:srgbClr val="FFFFFF"/>
                </a:solidFill>
                <a:latin typeface="微软雅黑"/>
                <a:ea typeface="微软雅黑"/>
                <a:cs typeface="微软雅黑"/>
              </a:endParaRPr>
            </a:p>
          </p:txBody>
        </p:sp>
        <p:sp>
          <p:nvSpPr>
            <p:cNvPr id="18" name="显眼包PPT3"/>
            <p:cNvSpPr/>
            <p:nvPr>
              <p:custDataLst>
                <p:tags r:id="rId7"/>
              </p:custDataLst>
            </p:nvPr>
          </p:nvSpPr>
          <p:spPr>
            <a:xfrm>
              <a:off x="2413" y="2381"/>
              <a:ext cx="3345" cy="233"/>
            </a:xfrm>
            <a:prstGeom prst="ellipse">
              <a:avLst/>
            </a:prstGeom>
            <a:gradFill>
              <a:gsLst>
                <a:gs pos="0">
                  <a:srgbClr val="B3D4FE">
                    <a:alpha val="58000"/>
                  </a:srgbClr>
                </a:gs>
                <a:gs pos="100000">
                  <a:srgbClr val="B3D4FE">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21" name="显眼包PPT24"/>
          <p:cNvSpPr/>
          <p:nvPr>
            <p:custDataLst>
              <p:tags r:id="rId8"/>
            </p:custDataLst>
          </p:nvPr>
        </p:nvSpPr>
        <p:spPr>
          <a:xfrm>
            <a:off x="1683385" y="1264285"/>
            <a:ext cx="172212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sym typeface="微软雅黑"/>
              </a:rPr>
              <a:t>品牌圈层融入</a:t>
            </a:r>
            <a:endParaRPr lang="zh-CN" altLang="en-US" sz="1600" b="1" dirty="0">
              <a:solidFill>
                <a:srgbClr val="0042FF"/>
              </a:solidFill>
              <a:latin typeface="微软雅黑"/>
              <a:ea typeface="微软雅黑"/>
              <a:cs typeface="微软雅黑"/>
              <a:sym typeface="微软雅黑"/>
            </a:endParaRPr>
          </a:p>
        </p:txBody>
      </p:sp>
      <p:grpSp>
        <p:nvGrpSpPr>
          <p:cNvPr id="37" name="组合 36"/>
          <p:cNvGrpSpPr/>
          <p:nvPr>
            <p:custDataLst>
              <p:tags r:id="rId9"/>
            </p:custDataLst>
          </p:nvPr>
        </p:nvGrpSpPr>
        <p:grpSpPr>
          <a:xfrm>
            <a:off x="6021070" y="1162050"/>
            <a:ext cx="2466975" cy="829310"/>
            <a:chOff x="1874" y="1713"/>
            <a:chExt cx="4422" cy="1306"/>
          </a:xfrm>
        </p:grpSpPr>
        <p:sp>
          <p:nvSpPr>
            <p:cNvPr id="40" name="显眼包PPT8"/>
            <p:cNvSpPr/>
            <p:nvPr>
              <p:custDataLst>
                <p:tags r:id="rId10"/>
              </p:custDataLst>
            </p:nvPr>
          </p:nvSpPr>
          <p:spPr>
            <a:xfrm flipV="1">
              <a:off x="1874" y="1713"/>
              <a:ext cx="4422" cy="960"/>
            </a:xfrm>
            <a:custGeom>
              <a:avLst/>
              <a:gdLst>
                <a:gd name="connsiteX0" fmla="*/ 0 w 4965109"/>
                <a:gd name="connsiteY0" fmla="*/ 1530753 h 1530753"/>
                <a:gd name="connsiteX1" fmla="*/ 1492928 w 4965109"/>
                <a:gd name="connsiteY1" fmla="*/ 0 h 1530753"/>
                <a:gd name="connsiteX2" fmla="*/ 3472181 w 4965109"/>
                <a:gd name="connsiteY2" fmla="*/ 0 h 1530753"/>
                <a:gd name="connsiteX3" fmla="*/ 4965109 w 4965109"/>
                <a:gd name="connsiteY3" fmla="*/ 1530753 h 1530753"/>
                <a:gd name="connsiteX4" fmla="*/ 0 w 4965109"/>
                <a:gd name="connsiteY4" fmla="*/ 1530753 h 1530753"/>
                <a:gd name="connsiteX0-1" fmla="*/ 0 w 4965109"/>
                <a:gd name="connsiteY0-2" fmla="*/ 1530753 h 1530753"/>
                <a:gd name="connsiteX1-3" fmla="*/ 1492928 w 4965109"/>
                <a:gd name="connsiteY1-4" fmla="*/ 0 h 1530753"/>
                <a:gd name="connsiteX2-5" fmla="*/ 3472181 w 4965109"/>
                <a:gd name="connsiteY2-6" fmla="*/ 0 h 1530753"/>
                <a:gd name="connsiteX3-7" fmla="*/ 4965109 w 4965109"/>
                <a:gd name="connsiteY3-8" fmla="*/ 1530753 h 1530753"/>
                <a:gd name="connsiteX4-9" fmla="*/ 0 w 4965109"/>
                <a:gd name="connsiteY4-10" fmla="*/ 1530753 h 1530753"/>
                <a:gd name="connsiteX0-11" fmla="*/ 0 w 4965109"/>
                <a:gd name="connsiteY0-12" fmla="*/ 1530753 h 1530753"/>
                <a:gd name="connsiteX1-13" fmla="*/ 1492928 w 4965109"/>
                <a:gd name="connsiteY1-14" fmla="*/ 0 h 1530753"/>
                <a:gd name="connsiteX2-15" fmla="*/ 3472181 w 4965109"/>
                <a:gd name="connsiteY2-16" fmla="*/ 0 h 1530753"/>
                <a:gd name="connsiteX3-17" fmla="*/ 4965109 w 4965109"/>
                <a:gd name="connsiteY3-18" fmla="*/ 1530753 h 1530753"/>
                <a:gd name="connsiteX4-19" fmla="*/ 0 w 4965109"/>
                <a:gd name="connsiteY4-20" fmla="*/ 1530753 h 1530753"/>
                <a:gd name="connsiteX0-21" fmla="*/ 0 w 4965109"/>
                <a:gd name="connsiteY0-22" fmla="*/ 1530753 h 1530753"/>
                <a:gd name="connsiteX1-23" fmla="*/ 1492928 w 4965109"/>
                <a:gd name="connsiteY1-24" fmla="*/ 0 h 1530753"/>
                <a:gd name="connsiteX2-25" fmla="*/ 3472181 w 4965109"/>
                <a:gd name="connsiteY2-26" fmla="*/ 0 h 1530753"/>
                <a:gd name="connsiteX3-27" fmla="*/ 4965109 w 4965109"/>
                <a:gd name="connsiteY3-28" fmla="*/ 1530753 h 1530753"/>
                <a:gd name="connsiteX4-29" fmla="*/ 0 w 4965109"/>
                <a:gd name="connsiteY4-30" fmla="*/ 1530753 h 1530753"/>
                <a:gd name="connsiteX0-31" fmla="*/ 0 w 4965109"/>
                <a:gd name="connsiteY0-32" fmla="*/ 1530753 h 1530753"/>
                <a:gd name="connsiteX1-33" fmla="*/ 1492928 w 4965109"/>
                <a:gd name="connsiteY1-34" fmla="*/ 0 h 1530753"/>
                <a:gd name="connsiteX2-35" fmla="*/ 3472181 w 4965109"/>
                <a:gd name="connsiteY2-36" fmla="*/ 0 h 1530753"/>
                <a:gd name="connsiteX3-37" fmla="*/ 4965109 w 4965109"/>
                <a:gd name="connsiteY3-38" fmla="*/ 1530753 h 1530753"/>
                <a:gd name="connsiteX4-39" fmla="*/ 0 w 4965109"/>
                <a:gd name="connsiteY4-40" fmla="*/ 1530753 h 153075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965109" h="1530753">
                  <a:moveTo>
                    <a:pt x="0" y="1530753"/>
                  </a:moveTo>
                  <a:cubicBezTo>
                    <a:pt x="713543" y="1084002"/>
                    <a:pt x="1122285" y="586451"/>
                    <a:pt x="1492928" y="0"/>
                  </a:cubicBezTo>
                  <a:lnTo>
                    <a:pt x="3472181" y="0"/>
                  </a:lnTo>
                  <a:cubicBezTo>
                    <a:pt x="3874574" y="624551"/>
                    <a:pt x="4308716" y="1128452"/>
                    <a:pt x="4965109" y="1530753"/>
                  </a:cubicBezTo>
                  <a:lnTo>
                    <a:pt x="0" y="1530753"/>
                  </a:lnTo>
                  <a:close/>
                </a:path>
              </a:pathLst>
            </a:custGeom>
            <a:gradFill>
              <a:gsLst>
                <a:gs pos="0">
                  <a:srgbClr val="FFFFFF">
                    <a:alpha val="0"/>
                  </a:srgbClr>
                </a:gs>
                <a:gs pos="97248">
                  <a:srgbClr val="FFFFFF">
                    <a:alpha val="0"/>
                  </a:srgbClr>
                </a:gs>
                <a:gs pos="44000">
                  <a:srgbClr val="FFFFFF">
                    <a:alpha val="52000"/>
                  </a:srgbClr>
                </a:gs>
              </a:gsLst>
              <a:lin ang="5400000" scaled="0"/>
            </a:gradFill>
            <a:ln w="6350">
              <a:gradFill>
                <a:gsLst>
                  <a:gs pos="0">
                    <a:srgbClr val="FFFFFF">
                      <a:alpha val="0"/>
                    </a:srgbClr>
                  </a:gs>
                  <a:gs pos="46000">
                    <a:srgbClr val="B3D4FE">
                      <a:alpha val="64000"/>
                    </a:srgbClr>
                  </a:gs>
                  <a:gs pos="100000">
                    <a:srgbClr val="FFFF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1" name="显眼包PPT14"/>
            <p:cNvSpPr/>
            <p:nvPr>
              <p:custDataLst>
                <p:tags r:id="rId11"/>
              </p:custDataLst>
            </p:nvPr>
          </p:nvSpPr>
          <p:spPr>
            <a:xfrm>
              <a:off x="2413" y="2499"/>
              <a:ext cx="3345" cy="521"/>
            </a:xfrm>
            <a:custGeom>
              <a:avLst/>
              <a:gdLst>
                <a:gd name="connsiteX0" fmla="*/ 0 w 4397118"/>
                <a:gd name="connsiteY0" fmla="*/ 0 h 684613"/>
                <a:gd name="connsiteX1" fmla="*/ 3141 w 4397118"/>
                <a:gd name="connsiteY1" fmla="*/ 0 h 684613"/>
                <a:gd name="connsiteX2" fmla="*/ 44667 w 4397118"/>
                <a:gd name="connsiteY2" fmla="*/ 28739 h 684613"/>
                <a:gd name="connsiteX3" fmla="*/ 2198559 w 4397118"/>
                <a:gd name="connsiteY3" fmla="*/ 151213 h 684613"/>
                <a:gd name="connsiteX4" fmla="*/ 4352451 w 4397118"/>
                <a:gd name="connsiteY4" fmla="*/ 28739 h 684613"/>
                <a:gd name="connsiteX5" fmla="*/ 4393977 w 4397118"/>
                <a:gd name="connsiteY5" fmla="*/ 0 h 684613"/>
                <a:gd name="connsiteX6" fmla="*/ 4397117 w 4397118"/>
                <a:gd name="connsiteY6" fmla="*/ 0 h 684613"/>
                <a:gd name="connsiteX7" fmla="*/ 4397117 w 4397118"/>
                <a:gd name="connsiteY7" fmla="*/ 531226 h 684613"/>
                <a:gd name="connsiteX8" fmla="*/ 4397118 w 4397118"/>
                <a:gd name="connsiteY8" fmla="*/ 531226 h 684613"/>
                <a:gd name="connsiteX9" fmla="*/ 4397117 w 4397118"/>
                <a:gd name="connsiteY9" fmla="*/ 531227 h 684613"/>
                <a:gd name="connsiteX10" fmla="*/ 4397117 w 4397118"/>
                <a:gd name="connsiteY10" fmla="*/ 531612 h 684613"/>
                <a:gd name="connsiteX11" fmla="*/ 4396560 w 4397118"/>
                <a:gd name="connsiteY11" fmla="*/ 531612 h 684613"/>
                <a:gd name="connsiteX12" fmla="*/ 4352451 w 4397118"/>
                <a:gd name="connsiteY12" fmla="*/ 562139 h 684613"/>
                <a:gd name="connsiteX13" fmla="*/ 2198559 w 4397118"/>
                <a:gd name="connsiteY13" fmla="*/ 684613 h 684613"/>
                <a:gd name="connsiteX14" fmla="*/ 44667 w 4397118"/>
                <a:gd name="connsiteY14" fmla="*/ 562139 h 684613"/>
                <a:gd name="connsiteX15" fmla="*/ 558 w 4397118"/>
                <a:gd name="connsiteY15" fmla="*/ 531612 h 684613"/>
                <a:gd name="connsiteX16" fmla="*/ 0 w 4397118"/>
                <a:gd name="connsiteY16" fmla="*/ 531612 h 684613"/>
                <a:gd name="connsiteX17" fmla="*/ 0 w 4397118"/>
                <a:gd name="connsiteY17" fmla="*/ 531226 h 68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97118" h="684613">
                  <a:moveTo>
                    <a:pt x="0" y="0"/>
                  </a:moveTo>
                  <a:lnTo>
                    <a:pt x="3141" y="0"/>
                  </a:lnTo>
                  <a:lnTo>
                    <a:pt x="44667" y="28739"/>
                  </a:lnTo>
                  <a:cubicBezTo>
                    <a:pt x="249675" y="98635"/>
                    <a:pt x="1136107" y="151213"/>
                    <a:pt x="2198559" y="151213"/>
                  </a:cubicBezTo>
                  <a:cubicBezTo>
                    <a:pt x="3261011" y="151213"/>
                    <a:pt x="4147444" y="98635"/>
                    <a:pt x="4352451" y="28739"/>
                  </a:cubicBezTo>
                  <a:lnTo>
                    <a:pt x="4393977" y="0"/>
                  </a:lnTo>
                  <a:lnTo>
                    <a:pt x="4397117" y="0"/>
                  </a:lnTo>
                  <a:lnTo>
                    <a:pt x="4397117" y="531226"/>
                  </a:lnTo>
                  <a:lnTo>
                    <a:pt x="4397118" y="531226"/>
                  </a:lnTo>
                  <a:lnTo>
                    <a:pt x="4397117" y="531227"/>
                  </a:lnTo>
                  <a:lnTo>
                    <a:pt x="4397117" y="531612"/>
                  </a:lnTo>
                  <a:lnTo>
                    <a:pt x="4396560" y="531612"/>
                  </a:lnTo>
                  <a:lnTo>
                    <a:pt x="4352451" y="562139"/>
                  </a:lnTo>
                  <a:cubicBezTo>
                    <a:pt x="4147444" y="632035"/>
                    <a:pt x="3261011" y="684613"/>
                    <a:pt x="2198559" y="684613"/>
                  </a:cubicBezTo>
                  <a:cubicBezTo>
                    <a:pt x="1136107" y="684613"/>
                    <a:pt x="249675" y="632035"/>
                    <a:pt x="44667" y="562139"/>
                  </a:cubicBezTo>
                  <a:lnTo>
                    <a:pt x="558" y="531612"/>
                  </a:lnTo>
                  <a:lnTo>
                    <a:pt x="0" y="531612"/>
                  </a:lnTo>
                  <a:lnTo>
                    <a:pt x="0" y="531226"/>
                  </a:lnTo>
                  <a:close/>
                </a:path>
              </a:pathLst>
            </a:custGeom>
            <a:gradFill flip="none" rotWithShape="1">
              <a:gsLst>
                <a:gs pos="0">
                  <a:srgbClr val="B3D4FE"/>
                </a:gs>
                <a:gs pos="67000">
                  <a:srgbClr val="3368FF"/>
                </a:gs>
              </a:gsLst>
              <a:lin ang="0" scaled="1"/>
              <a:tileRect/>
            </a:gradFill>
            <a:ln>
              <a:noFill/>
            </a:ln>
            <a:effectLst/>
          </p:spPr>
          <p:style>
            <a:lnRef idx="2">
              <a:srgbClr val="0042FF"/>
            </a:lnRef>
            <a:fillRef idx="1">
              <a:srgbClr val="0042FF"/>
            </a:fillRef>
            <a:effectRef idx="0">
              <a:srgbClr val="0042FF"/>
            </a:effectRef>
            <a:fontRef idx="minor">
              <a:srgbClr val="FFFFFF"/>
            </a:fontRef>
          </p:style>
          <p:txBody>
            <a:bodyPr lIns="80467" tIns="40234" rIns="80467" bIns="40234" rtlCol="0" anchor="ctr"/>
            <a:lstStyle/>
            <a:p>
              <a:pPr algn="ctr">
                <a:defRPr>
                  <a:solidFill>
                    <a:srgbClr val="FFFFFF"/>
                  </a:solidFill>
                  <a:latin typeface="微软雅黑"/>
                  <a:ea typeface="微软雅黑"/>
                  <a:cs typeface="微软雅黑"/>
                </a:defRPr>
              </a:pPr>
              <a:endParaRPr lang="zh-CN" altLang="en-US" sz="1585">
                <a:solidFill>
                  <a:srgbClr val="FFFFFF"/>
                </a:solidFill>
                <a:latin typeface="微软雅黑"/>
                <a:ea typeface="微软雅黑"/>
                <a:cs typeface="微软雅黑"/>
              </a:endParaRPr>
            </a:p>
          </p:txBody>
        </p:sp>
        <p:sp>
          <p:nvSpPr>
            <p:cNvPr id="42" name="显眼包PPT3"/>
            <p:cNvSpPr/>
            <p:nvPr>
              <p:custDataLst>
                <p:tags r:id="rId12"/>
              </p:custDataLst>
            </p:nvPr>
          </p:nvSpPr>
          <p:spPr>
            <a:xfrm>
              <a:off x="2413" y="2381"/>
              <a:ext cx="3345" cy="233"/>
            </a:xfrm>
            <a:prstGeom prst="ellipse">
              <a:avLst/>
            </a:prstGeom>
            <a:gradFill>
              <a:gsLst>
                <a:gs pos="0">
                  <a:srgbClr val="B3D4FE">
                    <a:alpha val="58000"/>
                  </a:srgbClr>
                </a:gs>
                <a:gs pos="100000">
                  <a:srgbClr val="B3D4FE">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43" name="组合 42"/>
          <p:cNvGrpSpPr/>
          <p:nvPr>
            <p:custDataLst>
              <p:tags r:id="rId13"/>
            </p:custDataLst>
          </p:nvPr>
        </p:nvGrpSpPr>
        <p:grpSpPr>
          <a:xfrm>
            <a:off x="3669665" y="1162050"/>
            <a:ext cx="2466975" cy="829310"/>
            <a:chOff x="1874" y="1713"/>
            <a:chExt cx="4422" cy="1306"/>
          </a:xfrm>
        </p:grpSpPr>
        <p:sp>
          <p:nvSpPr>
            <p:cNvPr id="44" name="显眼包PPT8"/>
            <p:cNvSpPr/>
            <p:nvPr>
              <p:custDataLst>
                <p:tags r:id="rId14"/>
              </p:custDataLst>
            </p:nvPr>
          </p:nvSpPr>
          <p:spPr>
            <a:xfrm flipV="1">
              <a:off x="1874" y="1713"/>
              <a:ext cx="4422" cy="960"/>
            </a:xfrm>
            <a:custGeom>
              <a:avLst/>
              <a:gdLst>
                <a:gd name="connsiteX0" fmla="*/ 0 w 4965109"/>
                <a:gd name="connsiteY0" fmla="*/ 1530753 h 1530753"/>
                <a:gd name="connsiteX1" fmla="*/ 1492928 w 4965109"/>
                <a:gd name="connsiteY1" fmla="*/ 0 h 1530753"/>
                <a:gd name="connsiteX2" fmla="*/ 3472181 w 4965109"/>
                <a:gd name="connsiteY2" fmla="*/ 0 h 1530753"/>
                <a:gd name="connsiteX3" fmla="*/ 4965109 w 4965109"/>
                <a:gd name="connsiteY3" fmla="*/ 1530753 h 1530753"/>
                <a:gd name="connsiteX4" fmla="*/ 0 w 4965109"/>
                <a:gd name="connsiteY4" fmla="*/ 1530753 h 1530753"/>
                <a:gd name="connsiteX0-1" fmla="*/ 0 w 4965109"/>
                <a:gd name="connsiteY0-2" fmla="*/ 1530753 h 1530753"/>
                <a:gd name="connsiteX1-3" fmla="*/ 1492928 w 4965109"/>
                <a:gd name="connsiteY1-4" fmla="*/ 0 h 1530753"/>
                <a:gd name="connsiteX2-5" fmla="*/ 3472181 w 4965109"/>
                <a:gd name="connsiteY2-6" fmla="*/ 0 h 1530753"/>
                <a:gd name="connsiteX3-7" fmla="*/ 4965109 w 4965109"/>
                <a:gd name="connsiteY3-8" fmla="*/ 1530753 h 1530753"/>
                <a:gd name="connsiteX4-9" fmla="*/ 0 w 4965109"/>
                <a:gd name="connsiteY4-10" fmla="*/ 1530753 h 1530753"/>
                <a:gd name="connsiteX0-11" fmla="*/ 0 w 4965109"/>
                <a:gd name="connsiteY0-12" fmla="*/ 1530753 h 1530753"/>
                <a:gd name="connsiteX1-13" fmla="*/ 1492928 w 4965109"/>
                <a:gd name="connsiteY1-14" fmla="*/ 0 h 1530753"/>
                <a:gd name="connsiteX2-15" fmla="*/ 3472181 w 4965109"/>
                <a:gd name="connsiteY2-16" fmla="*/ 0 h 1530753"/>
                <a:gd name="connsiteX3-17" fmla="*/ 4965109 w 4965109"/>
                <a:gd name="connsiteY3-18" fmla="*/ 1530753 h 1530753"/>
                <a:gd name="connsiteX4-19" fmla="*/ 0 w 4965109"/>
                <a:gd name="connsiteY4-20" fmla="*/ 1530753 h 1530753"/>
                <a:gd name="connsiteX0-21" fmla="*/ 0 w 4965109"/>
                <a:gd name="connsiteY0-22" fmla="*/ 1530753 h 1530753"/>
                <a:gd name="connsiteX1-23" fmla="*/ 1492928 w 4965109"/>
                <a:gd name="connsiteY1-24" fmla="*/ 0 h 1530753"/>
                <a:gd name="connsiteX2-25" fmla="*/ 3472181 w 4965109"/>
                <a:gd name="connsiteY2-26" fmla="*/ 0 h 1530753"/>
                <a:gd name="connsiteX3-27" fmla="*/ 4965109 w 4965109"/>
                <a:gd name="connsiteY3-28" fmla="*/ 1530753 h 1530753"/>
                <a:gd name="connsiteX4-29" fmla="*/ 0 w 4965109"/>
                <a:gd name="connsiteY4-30" fmla="*/ 1530753 h 1530753"/>
                <a:gd name="connsiteX0-31" fmla="*/ 0 w 4965109"/>
                <a:gd name="connsiteY0-32" fmla="*/ 1530753 h 1530753"/>
                <a:gd name="connsiteX1-33" fmla="*/ 1492928 w 4965109"/>
                <a:gd name="connsiteY1-34" fmla="*/ 0 h 1530753"/>
                <a:gd name="connsiteX2-35" fmla="*/ 3472181 w 4965109"/>
                <a:gd name="connsiteY2-36" fmla="*/ 0 h 1530753"/>
                <a:gd name="connsiteX3-37" fmla="*/ 4965109 w 4965109"/>
                <a:gd name="connsiteY3-38" fmla="*/ 1530753 h 1530753"/>
                <a:gd name="connsiteX4-39" fmla="*/ 0 w 4965109"/>
                <a:gd name="connsiteY4-40" fmla="*/ 1530753 h 153075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965109" h="1530753">
                  <a:moveTo>
                    <a:pt x="0" y="1530753"/>
                  </a:moveTo>
                  <a:cubicBezTo>
                    <a:pt x="713543" y="1084002"/>
                    <a:pt x="1122285" y="586451"/>
                    <a:pt x="1492928" y="0"/>
                  </a:cubicBezTo>
                  <a:lnTo>
                    <a:pt x="3472181" y="0"/>
                  </a:lnTo>
                  <a:cubicBezTo>
                    <a:pt x="3874574" y="624551"/>
                    <a:pt x="4308716" y="1128452"/>
                    <a:pt x="4965109" y="1530753"/>
                  </a:cubicBezTo>
                  <a:lnTo>
                    <a:pt x="0" y="1530753"/>
                  </a:lnTo>
                  <a:close/>
                </a:path>
              </a:pathLst>
            </a:custGeom>
            <a:gradFill>
              <a:gsLst>
                <a:gs pos="0">
                  <a:srgbClr val="E6E6E6">
                    <a:alpha val="0"/>
                  </a:srgbClr>
                </a:gs>
                <a:gs pos="97248">
                  <a:srgbClr val="E6E6E6">
                    <a:alpha val="0"/>
                  </a:srgbClr>
                </a:gs>
                <a:gs pos="44000">
                  <a:srgbClr val="E6E6E6">
                    <a:alpha val="52000"/>
                  </a:srgbClr>
                </a:gs>
              </a:gsLst>
              <a:lin ang="5400000" scaled="0"/>
            </a:gradFill>
            <a:ln w="6350">
              <a:gradFill>
                <a:gsLst>
                  <a:gs pos="0">
                    <a:srgbClr val="E6E6E6">
                      <a:alpha val="0"/>
                    </a:srgbClr>
                  </a:gs>
                  <a:gs pos="46000">
                    <a:srgbClr val="668EFF">
                      <a:alpha val="64000"/>
                    </a:srgbClr>
                  </a:gs>
                  <a:gs pos="100000">
                    <a:srgbClr val="E6E6E6">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5" name="显眼包PPT14"/>
            <p:cNvSpPr/>
            <p:nvPr>
              <p:custDataLst>
                <p:tags r:id="rId15"/>
              </p:custDataLst>
            </p:nvPr>
          </p:nvSpPr>
          <p:spPr>
            <a:xfrm>
              <a:off x="2413" y="2499"/>
              <a:ext cx="3345" cy="521"/>
            </a:xfrm>
            <a:custGeom>
              <a:avLst/>
              <a:gdLst>
                <a:gd name="connsiteX0" fmla="*/ 0 w 4397118"/>
                <a:gd name="connsiteY0" fmla="*/ 0 h 684613"/>
                <a:gd name="connsiteX1" fmla="*/ 3141 w 4397118"/>
                <a:gd name="connsiteY1" fmla="*/ 0 h 684613"/>
                <a:gd name="connsiteX2" fmla="*/ 44667 w 4397118"/>
                <a:gd name="connsiteY2" fmla="*/ 28739 h 684613"/>
                <a:gd name="connsiteX3" fmla="*/ 2198559 w 4397118"/>
                <a:gd name="connsiteY3" fmla="*/ 151213 h 684613"/>
                <a:gd name="connsiteX4" fmla="*/ 4352451 w 4397118"/>
                <a:gd name="connsiteY4" fmla="*/ 28739 h 684613"/>
                <a:gd name="connsiteX5" fmla="*/ 4393977 w 4397118"/>
                <a:gd name="connsiteY5" fmla="*/ 0 h 684613"/>
                <a:gd name="connsiteX6" fmla="*/ 4397117 w 4397118"/>
                <a:gd name="connsiteY6" fmla="*/ 0 h 684613"/>
                <a:gd name="connsiteX7" fmla="*/ 4397117 w 4397118"/>
                <a:gd name="connsiteY7" fmla="*/ 531226 h 684613"/>
                <a:gd name="connsiteX8" fmla="*/ 4397118 w 4397118"/>
                <a:gd name="connsiteY8" fmla="*/ 531226 h 684613"/>
                <a:gd name="connsiteX9" fmla="*/ 4397117 w 4397118"/>
                <a:gd name="connsiteY9" fmla="*/ 531227 h 684613"/>
                <a:gd name="connsiteX10" fmla="*/ 4397117 w 4397118"/>
                <a:gd name="connsiteY10" fmla="*/ 531612 h 684613"/>
                <a:gd name="connsiteX11" fmla="*/ 4396560 w 4397118"/>
                <a:gd name="connsiteY11" fmla="*/ 531612 h 684613"/>
                <a:gd name="connsiteX12" fmla="*/ 4352451 w 4397118"/>
                <a:gd name="connsiteY12" fmla="*/ 562139 h 684613"/>
                <a:gd name="connsiteX13" fmla="*/ 2198559 w 4397118"/>
                <a:gd name="connsiteY13" fmla="*/ 684613 h 684613"/>
                <a:gd name="connsiteX14" fmla="*/ 44667 w 4397118"/>
                <a:gd name="connsiteY14" fmla="*/ 562139 h 684613"/>
                <a:gd name="connsiteX15" fmla="*/ 558 w 4397118"/>
                <a:gd name="connsiteY15" fmla="*/ 531612 h 684613"/>
                <a:gd name="connsiteX16" fmla="*/ 0 w 4397118"/>
                <a:gd name="connsiteY16" fmla="*/ 531612 h 684613"/>
                <a:gd name="connsiteX17" fmla="*/ 0 w 4397118"/>
                <a:gd name="connsiteY17" fmla="*/ 531226 h 68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97118" h="684613">
                  <a:moveTo>
                    <a:pt x="0" y="0"/>
                  </a:moveTo>
                  <a:lnTo>
                    <a:pt x="3141" y="0"/>
                  </a:lnTo>
                  <a:lnTo>
                    <a:pt x="44667" y="28739"/>
                  </a:lnTo>
                  <a:cubicBezTo>
                    <a:pt x="249675" y="98635"/>
                    <a:pt x="1136107" y="151213"/>
                    <a:pt x="2198559" y="151213"/>
                  </a:cubicBezTo>
                  <a:cubicBezTo>
                    <a:pt x="3261011" y="151213"/>
                    <a:pt x="4147444" y="98635"/>
                    <a:pt x="4352451" y="28739"/>
                  </a:cubicBezTo>
                  <a:lnTo>
                    <a:pt x="4393977" y="0"/>
                  </a:lnTo>
                  <a:lnTo>
                    <a:pt x="4397117" y="0"/>
                  </a:lnTo>
                  <a:lnTo>
                    <a:pt x="4397117" y="531226"/>
                  </a:lnTo>
                  <a:lnTo>
                    <a:pt x="4397118" y="531226"/>
                  </a:lnTo>
                  <a:lnTo>
                    <a:pt x="4397117" y="531227"/>
                  </a:lnTo>
                  <a:lnTo>
                    <a:pt x="4397117" y="531612"/>
                  </a:lnTo>
                  <a:lnTo>
                    <a:pt x="4396560" y="531612"/>
                  </a:lnTo>
                  <a:lnTo>
                    <a:pt x="4352451" y="562139"/>
                  </a:lnTo>
                  <a:cubicBezTo>
                    <a:pt x="4147444" y="632035"/>
                    <a:pt x="3261011" y="684613"/>
                    <a:pt x="2198559" y="684613"/>
                  </a:cubicBezTo>
                  <a:cubicBezTo>
                    <a:pt x="1136107" y="684613"/>
                    <a:pt x="249675" y="632035"/>
                    <a:pt x="44667" y="562139"/>
                  </a:cubicBezTo>
                  <a:lnTo>
                    <a:pt x="558" y="531612"/>
                  </a:lnTo>
                  <a:lnTo>
                    <a:pt x="0" y="531612"/>
                  </a:lnTo>
                  <a:lnTo>
                    <a:pt x="0" y="531226"/>
                  </a:lnTo>
                  <a:close/>
                </a:path>
              </a:pathLst>
            </a:custGeom>
            <a:gradFill flip="none" rotWithShape="1">
              <a:gsLst>
                <a:gs pos="0">
                  <a:srgbClr val="3368FF"/>
                </a:gs>
                <a:gs pos="67000">
                  <a:srgbClr val="0042FF"/>
                </a:gs>
              </a:gsLst>
              <a:lin ang="0" scaled="1"/>
              <a:tileRect/>
            </a:gradFill>
            <a:ln>
              <a:noFill/>
            </a:ln>
            <a:effectLst/>
          </p:spPr>
          <p:style>
            <a:lnRef idx="2">
              <a:srgbClr val="0042FF"/>
            </a:lnRef>
            <a:fillRef idx="1">
              <a:srgbClr val="0042FF"/>
            </a:fillRef>
            <a:effectRef idx="0">
              <a:srgbClr val="0042FF"/>
            </a:effectRef>
            <a:fontRef idx="minor">
              <a:srgbClr val="FFFFFF"/>
            </a:fontRef>
          </p:style>
          <p:txBody>
            <a:bodyPr lIns="80467" tIns="40234" rIns="80467" bIns="40234" rtlCol="0" anchor="ctr"/>
            <a:lstStyle/>
            <a:p>
              <a:pPr algn="ctr">
                <a:defRPr>
                  <a:solidFill>
                    <a:srgbClr val="FFFFFF"/>
                  </a:solidFill>
                  <a:latin typeface="微软雅黑"/>
                  <a:ea typeface="微软雅黑"/>
                  <a:cs typeface="微软雅黑"/>
                </a:defRPr>
              </a:pPr>
              <a:endParaRPr lang="zh-CN" altLang="en-US" sz="1585">
                <a:solidFill>
                  <a:srgbClr val="FFFFFF"/>
                </a:solidFill>
                <a:latin typeface="微软雅黑"/>
                <a:ea typeface="微软雅黑"/>
                <a:cs typeface="微软雅黑"/>
              </a:endParaRPr>
            </a:p>
          </p:txBody>
        </p:sp>
        <p:sp>
          <p:nvSpPr>
            <p:cNvPr id="46" name="显眼包PPT3"/>
            <p:cNvSpPr/>
            <p:nvPr>
              <p:custDataLst>
                <p:tags r:id="rId16"/>
              </p:custDataLst>
            </p:nvPr>
          </p:nvSpPr>
          <p:spPr>
            <a:xfrm>
              <a:off x="2413" y="2381"/>
              <a:ext cx="3345" cy="233"/>
            </a:xfrm>
            <a:prstGeom prst="ellipse">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62" name="显眼包PPT3"/>
          <p:cNvSpPr/>
          <p:nvPr>
            <p:custDataLst>
              <p:tags r:id="rId17"/>
            </p:custDataLst>
          </p:nvPr>
        </p:nvSpPr>
        <p:spPr>
          <a:xfrm>
            <a:off x="1742440" y="2110105"/>
            <a:ext cx="1619250" cy="128270"/>
          </a:xfrm>
          <a:prstGeom prst="ellipse">
            <a:avLst/>
          </a:prstGeom>
          <a:gradFill>
            <a:gsLst>
              <a:gs pos="0">
                <a:srgbClr val="B3D4FE">
                  <a:alpha val="58000"/>
                </a:srgbClr>
              </a:gs>
              <a:gs pos="100000">
                <a:srgbClr val="B3D4FE">
                  <a:alpha val="10000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5" name="显眼包PPT3"/>
          <p:cNvSpPr/>
          <p:nvPr>
            <p:custDataLst>
              <p:tags r:id="rId18"/>
            </p:custDataLst>
          </p:nvPr>
        </p:nvSpPr>
        <p:spPr>
          <a:xfrm>
            <a:off x="6443345" y="2110105"/>
            <a:ext cx="1619250" cy="128270"/>
          </a:xfrm>
          <a:prstGeom prst="ellipse">
            <a:avLst/>
          </a:prstGeom>
          <a:gradFill>
            <a:gsLst>
              <a:gs pos="0">
                <a:srgbClr val="B3D4FE">
                  <a:alpha val="58000"/>
                </a:srgbClr>
              </a:gs>
              <a:gs pos="100000">
                <a:srgbClr val="B3D4FE">
                  <a:alpha val="10000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6" name="显眼包PPT3"/>
          <p:cNvSpPr/>
          <p:nvPr>
            <p:custDataLst>
              <p:tags r:id="rId19"/>
            </p:custDataLst>
          </p:nvPr>
        </p:nvSpPr>
        <p:spPr>
          <a:xfrm>
            <a:off x="4093210" y="2110105"/>
            <a:ext cx="1619250" cy="128270"/>
          </a:xfrm>
          <a:prstGeom prst="ellipse">
            <a:avLst/>
          </a:prstGeom>
          <a:gradFill>
            <a:gsLst>
              <a:gs pos="0">
                <a:srgbClr val="3368FF"/>
              </a:gs>
              <a:gs pos="100000">
                <a:srgbClr val="668EFF"/>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7" name="显眼包PPT3"/>
          <p:cNvSpPr/>
          <p:nvPr>
            <p:custDataLst>
              <p:tags r:id="rId20"/>
            </p:custDataLst>
          </p:nvPr>
        </p:nvSpPr>
        <p:spPr>
          <a:xfrm>
            <a:off x="8793480" y="2110105"/>
            <a:ext cx="1619250" cy="128270"/>
          </a:xfrm>
          <a:prstGeom prst="ellipse">
            <a:avLst/>
          </a:prstGeom>
          <a:gradFill>
            <a:gsLst>
              <a:gs pos="0">
                <a:srgbClr val="3368FF"/>
              </a:gs>
              <a:gs pos="100000">
                <a:srgbClr val="668EFF"/>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68" name="组合 67"/>
          <p:cNvGrpSpPr/>
          <p:nvPr>
            <p:custDataLst>
              <p:tags r:id="rId21"/>
            </p:custDataLst>
          </p:nvPr>
        </p:nvGrpSpPr>
        <p:grpSpPr>
          <a:xfrm>
            <a:off x="8372475" y="1162050"/>
            <a:ext cx="2466975" cy="829310"/>
            <a:chOff x="1874" y="1713"/>
            <a:chExt cx="4422" cy="1306"/>
          </a:xfrm>
        </p:grpSpPr>
        <p:sp>
          <p:nvSpPr>
            <p:cNvPr id="69" name="显眼包PPT8"/>
            <p:cNvSpPr/>
            <p:nvPr>
              <p:custDataLst>
                <p:tags r:id="rId22"/>
              </p:custDataLst>
            </p:nvPr>
          </p:nvSpPr>
          <p:spPr>
            <a:xfrm flipV="1">
              <a:off x="1874" y="1713"/>
              <a:ext cx="4422" cy="960"/>
            </a:xfrm>
            <a:custGeom>
              <a:avLst/>
              <a:gdLst>
                <a:gd name="connsiteX0" fmla="*/ 0 w 4965109"/>
                <a:gd name="connsiteY0" fmla="*/ 1530753 h 1530753"/>
                <a:gd name="connsiteX1" fmla="*/ 1492928 w 4965109"/>
                <a:gd name="connsiteY1" fmla="*/ 0 h 1530753"/>
                <a:gd name="connsiteX2" fmla="*/ 3472181 w 4965109"/>
                <a:gd name="connsiteY2" fmla="*/ 0 h 1530753"/>
                <a:gd name="connsiteX3" fmla="*/ 4965109 w 4965109"/>
                <a:gd name="connsiteY3" fmla="*/ 1530753 h 1530753"/>
                <a:gd name="connsiteX4" fmla="*/ 0 w 4965109"/>
                <a:gd name="connsiteY4" fmla="*/ 1530753 h 1530753"/>
                <a:gd name="connsiteX0-1" fmla="*/ 0 w 4965109"/>
                <a:gd name="connsiteY0-2" fmla="*/ 1530753 h 1530753"/>
                <a:gd name="connsiteX1-3" fmla="*/ 1492928 w 4965109"/>
                <a:gd name="connsiteY1-4" fmla="*/ 0 h 1530753"/>
                <a:gd name="connsiteX2-5" fmla="*/ 3472181 w 4965109"/>
                <a:gd name="connsiteY2-6" fmla="*/ 0 h 1530753"/>
                <a:gd name="connsiteX3-7" fmla="*/ 4965109 w 4965109"/>
                <a:gd name="connsiteY3-8" fmla="*/ 1530753 h 1530753"/>
                <a:gd name="connsiteX4-9" fmla="*/ 0 w 4965109"/>
                <a:gd name="connsiteY4-10" fmla="*/ 1530753 h 1530753"/>
                <a:gd name="connsiteX0-11" fmla="*/ 0 w 4965109"/>
                <a:gd name="connsiteY0-12" fmla="*/ 1530753 h 1530753"/>
                <a:gd name="connsiteX1-13" fmla="*/ 1492928 w 4965109"/>
                <a:gd name="connsiteY1-14" fmla="*/ 0 h 1530753"/>
                <a:gd name="connsiteX2-15" fmla="*/ 3472181 w 4965109"/>
                <a:gd name="connsiteY2-16" fmla="*/ 0 h 1530753"/>
                <a:gd name="connsiteX3-17" fmla="*/ 4965109 w 4965109"/>
                <a:gd name="connsiteY3-18" fmla="*/ 1530753 h 1530753"/>
                <a:gd name="connsiteX4-19" fmla="*/ 0 w 4965109"/>
                <a:gd name="connsiteY4-20" fmla="*/ 1530753 h 1530753"/>
                <a:gd name="connsiteX0-21" fmla="*/ 0 w 4965109"/>
                <a:gd name="connsiteY0-22" fmla="*/ 1530753 h 1530753"/>
                <a:gd name="connsiteX1-23" fmla="*/ 1492928 w 4965109"/>
                <a:gd name="connsiteY1-24" fmla="*/ 0 h 1530753"/>
                <a:gd name="connsiteX2-25" fmla="*/ 3472181 w 4965109"/>
                <a:gd name="connsiteY2-26" fmla="*/ 0 h 1530753"/>
                <a:gd name="connsiteX3-27" fmla="*/ 4965109 w 4965109"/>
                <a:gd name="connsiteY3-28" fmla="*/ 1530753 h 1530753"/>
                <a:gd name="connsiteX4-29" fmla="*/ 0 w 4965109"/>
                <a:gd name="connsiteY4-30" fmla="*/ 1530753 h 1530753"/>
                <a:gd name="connsiteX0-31" fmla="*/ 0 w 4965109"/>
                <a:gd name="connsiteY0-32" fmla="*/ 1530753 h 1530753"/>
                <a:gd name="connsiteX1-33" fmla="*/ 1492928 w 4965109"/>
                <a:gd name="connsiteY1-34" fmla="*/ 0 h 1530753"/>
                <a:gd name="connsiteX2-35" fmla="*/ 3472181 w 4965109"/>
                <a:gd name="connsiteY2-36" fmla="*/ 0 h 1530753"/>
                <a:gd name="connsiteX3-37" fmla="*/ 4965109 w 4965109"/>
                <a:gd name="connsiteY3-38" fmla="*/ 1530753 h 1530753"/>
                <a:gd name="connsiteX4-39" fmla="*/ 0 w 4965109"/>
                <a:gd name="connsiteY4-40" fmla="*/ 1530753 h 153075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965109" h="1530753">
                  <a:moveTo>
                    <a:pt x="0" y="1530753"/>
                  </a:moveTo>
                  <a:cubicBezTo>
                    <a:pt x="713543" y="1084002"/>
                    <a:pt x="1122285" y="586451"/>
                    <a:pt x="1492928" y="0"/>
                  </a:cubicBezTo>
                  <a:lnTo>
                    <a:pt x="3472181" y="0"/>
                  </a:lnTo>
                  <a:cubicBezTo>
                    <a:pt x="3874574" y="624551"/>
                    <a:pt x="4308716" y="1128452"/>
                    <a:pt x="4965109" y="1530753"/>
                  </a:cubicBezTo>
                  <a:lnTo>
                    <a:pt x="0" y="1530753"/>
                  </a:lnTo>
                  <a:close/>
                </a:path>
              </a:pathLst>
            </a:custGeom>
            <a:gradFill>
              <a:gsLst>
                <a:gs pos="0">
                  <a:srgbClr val="E6E6E6">
                    <a:alpha val="0"/>
                  </a:srgbClr>
                </a:gs>
                <a:gs pos="97248">
                  <a:srgbClr val="E6E6E6">
                    <a:alpha val="0"/>
                  </a:srgbClr>
                </a:gs>
                <a:gs pos="44000">
                  <a:srgbClr val="E6E6E6">
                    <a:alpha val="52000"/>
                  </a:srgbClr>
                </a:gs>
              </a:gsLst>
              <a:lin ang="5400000" scaled="0"/>
            </a:gradFill>
            <a:ln w="6350">
              <a:gradFill>
                <a:gsLst>
                  <a:gs pos="0">
                    <a:srgbClr val="E6E6E6">
                      <a:alpha val="0"/>
                    </a:srgbClr>
                  </a:gs>
                  <a:gs pos="46000">
                    <a:srgbClr val="668EFF">
                      <a:alpha val="64000"/>
                    </a:srgbClr>
                  </a:gs>
                  <a:gs pos="100000">
                    <a:srgbClr val="E6E6E6">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70" name="显眼包PPT14"/>
            <p:cNvSpPr/>
            <p:nvPr>
              <p:custDataLst>
                <p:tags r:id="rId23"/>
              </p:custDataLst>
            </p:nvPr>
          </p:nvSpPr>
          <p:spPr>
            <a:xfrm>
              <a:off x="2413" y="2499"/>
              <a:ext cx="3345" cy="521"/>
            </a:xfrm>
            <a:custGeom>
              <a:avLst/>
              <a:gdLst>
                <a:gd name="connsiteX0" fmla="*/ 0 w 4397118"/>
                <a:gd name="connsiteY0" fmla="*/ 0 h 684613"/>
                <a:gd name="connsiteX1" fmla="*/ 3141 w 4397118"/>
                <a:gd name="connsiteY1" fmla="*/ 0 h 684613"/>
                <a:gd name="connsiteX2" fmla="*/ 44667 w 4397118"/>
                <a:gd name="connsiteY2" fmla="*/ 28739 h 684613"/>
                <a:gd name="connsiteX3" fmla="*/ 2198559 w 4397118"/>
                <a:gd name="connsiteY3" fmla="*/ 151213 h 684613"/>
                <a:gd name="connsiteX4" fmla="*/ 4352451 w 4397118"/>
                <a:gd name="connsiteY4" fmla="*/ 28739 h 684613"/>
                <a:gd name="connsiteX5" fmla="*/ 4393977 w 4397118"/>
                <a:gd name="connsiteY5" fmla="*/ 0 h 684613"/>
                <a:gd name="connsiteX6" fmla="*/ 4397117 w 4397118"/>
                <a:gd name="connsiteY6" fmla="*/ 0 h 684613"/>
                <a:gd name="connsiteX7" fmla="*/ 4397117 w 4397118"/>
                <a:gd name="connsiteY7" fmla="*/ 531226 h 684613"/>
                <a:gd name="connsiteX8" fmla="*/ 4397118 w 4397118"/>
                <a:gd name="connsiteY8" fmla="*/ 531226 h 684613"/>
                <a:gd name="connsiteX9" fmla="*/ 4397117 w 4397118"/>
                <a:gd name="connsiteY9" fmla="*/ 531227 h 684613"/>
                <a:gd name="connsiteX10" fmla="*/ 4397117 w 4397118"/>
                <a:gd name="connsiteY10" fmla="*/ 531612 h 684613"/>
                <a:gd name="connsiteX11" fmla="*/ 4396560 w 4397118"/>
                <a:gd name="connsiteY11" fmla="*/ 531612 h 684613"/>
                <a:gd name="connsiteX12" fmla="*/ 4352451 w 4397118"/>
                <a:gd name="connsiteY12" fmla="*/ 562139 h 684613"/>
                <a:gd name="connsiteX13" fmla="*/ 2198559 w 4397118"/>
                <a:gd name="connsiteY13" fmla="*/ 684613 h 684613"/>
                <a:gd name="connsiteX14" fmla="*/ 44667 w 4397118"/>
                <a:gd name="connsiteY14" fmla="*/ 562139 h 684613"/>
                <a:gd name="connsiteX15" fmla="*/ 558 w 4397118"/>
                <a:gd name="connsiteY15" fmla="*/ 531612 h 684613"/>
                <a:gd name="connsiteX16" fmla="*/ 0 w 4397118"/>
                <a:gd name="connsiteY16" fmla="*/ 531612 h 684613"/>
                <a:gd name="connsiteX17" fmla="*/ 0 w 4397118"/>
                <a:gd name="connsiteY17" fmla="*/ 531226 h 68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97118" h="684613">
                  <a:moveTo>
                    <a:pt x="0" y="0"/>
                  </a:moveTo>
                  <a:lnTo>
                    <a:pt x="3141" y="0"/>
                  </a:lnTo>
                  <a:lnTo>
                    <a:pt x="44667" y="28739"/>
                  </a:lnTo>
                  <a:cubicBezTo>
                    <a:pt x="249675" y="98635"/>
                    <a:pt x="1136107" y="151213"/>
                    <a:pt x="2198559" y="151213"/>
                  </a:cubicBezTo>
                  <a:cubicBezTo>
                    <a:pt x="3261011" y="151213"/>
                    <a:pt x="4147444" y="98635"/>
                    <a:pt x="4352451" y="28739"/>
                  </a:cubicBezTo>
                  <a:lnTo>
                    <a:pt x="4393977" y="0"/>
                  </a:lnTo>
                  <a:lnTo>
                    <a:pt x="4397117" y="0"/>
                  </a:lnTo>
                  <a:lnTo>
                    <a:pt x="4397117" y="531226"/>
                  </a:lnTo>
                  <a:lnTo>
                    <a:pt x="4397118" y="531226"/>
                  </a:lnTo>
                  <a:lnTo>
                    <a:pt x="4397117" y="531227"/>
                  </a:lnTo>
                  <a:lnTo>
                    <a:pt x="4397117" y="531612"/>
                  </a:lnTo>
                  <a:lnTo>
                    <a:pt x="4396560" y="531612"/>
                  </a:lnTo>
                  <a:lnTo>
                    <a:pt x="4352451" y="562139"/>
                  </a:lnTo>
                  <a:cubicBezTo>
                    <a:pt x="4147444" y="632035"/>
                    <a:pt x="3261011" y="684613"/>
                    <a:pt x="2198559" y="684613"/>
                  </a:cubicBezTo>
                  <a:cubicBezTo>
                    <a:pt x="1136107" y="684613"/>
                    <a:pt x="249675" y="632035"/>
                    <a:pt x="44667" y="562139"/>
                  </a:cubicBezTo>
                  <a:lnTo>
                    <a:pt x="558" y="531612"/>
                  </a:lnTo>
                  <a:lnTo>
                    <a:pt x="0" y="531612"/>
                  </a:lnTo>
                  <a:lnTo>
                    <a:pt x="0" y="531226"/>
                  </a:lnTo>
                  <a:close/>
                </a:path>
              </a:pathLst>
            </a:custGeom>
            <a:gradFill flip="none" rotWithShape="1">
              <a:gsLst>
                <a:gs pos="0">
                  <a:srgbClr val="3368FF"/>
                </a:gs>
                <a:gs pos="67000">
                  <a:srgbClr val="0042FF"/>
                </a:gs>
              </a:gsLst>
              <a:lin ang="0" scaled="1"/>
              <a:tileRect/>
            </a:gradFill>
            <a:ln>
              <a:noFill/>
            </a:ln>
            <a:effectLst/>
          </p:spPr>
          <p:style>
            <a:lnRef idx="2">
              <a:srgbClr val="0042FF"/>
            </a:lnRef>
            <a:fillRef idx="1">
              <a:srgbClr val="0042FF"/>
            </a:fillRef>
            <a:effectRef idx="0">
              <a:srgbClr val="0042FF"/>
            </a:effectRef>
            <a:fontRef idx="minor">
              <a:srgbClr val="FFFFFF"/>
            </a:fontRef>
          </p:style>
          <p:txBody>
            <a:bodyPr lIns="80467" tIns="40234" rIns="80467" bIns="40234" rtlCol="0" anchor="ctr"/>
            <a:lstStyle/>
            <a:p>
              <a:pPr algn="ctr">
                <a:defRPr>
                  <a:solidFill>
                    <a:srgbClr val="FFFFFF"/>
                  </a:solidFill>
                  <a:latin typeface="微软雅黑"/>
                  <a:ea typeface="微软雅黑"/>
                  <a:cs typeface="微软雅黑"/>
                </a:defRPr>
              </a:pPr>
              <a:endParaRPr lang="zh-CN" altLang="en-US" sz="1585">
                <a:solidFill>
                  <a:srgbClr val="FFFFFF"/>
                </a:solidFill>
                <a:latin typeface="微软雅黑"/>
                <a:ea typeface="微软雅黑"/>
                <a:cs typeface="微软雅黑"/>
              </a:endParaRPr>
            </a:p>
          </p:txBody>
        </p:sp>
        <p:sp>
          <p:nvSpPr>
            <p:cNvPr id="71" name="显眼包PPT3"/>
            <p:cNvSpPr/>
            <p:nvPr>
              <p:custDataLst>
                <p:tags r:id="rId24"/>
              </p:custDataLst>
            </p:nvPr>
          </p:nvSpPr>
          <p:spPr>
            <a:xfrm>
              <a:off x="2413" y="2381"/>
              <a:ext cx="3345" cy="233"/>
            </a:xfrm>
            <a:prstGeom prst="ellipse">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76" name="显眼包PPT24"/>
          <p:cNvSpPr/>
          <p:nvPr>
            <p:custDataLst>
              <p:tags r:id="rId25"/>
            </p:custDataLst>
          </p:nvPr>
        </p:nvSpPr>
        <p:spPr>
          <a:xfrm>
            <a:off x="4069715" y="1264285"/>
            <a:ext cx="172212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sym typeface="微软雅黑"/>
              </a:rPr>
              <a:t>沉淀品牌资产</a:t>
            </a:r>
            <a:endParaRPr lang="zh-CN" altLang="en-US" sz="1600" b="1" dirty="0">
              <a:solidFill>
                <a:srgbClr val="0042FF"/>
              </a:solidFill>
              <a:latin typeface="微软雅黑"/>
              <a:ea typeface="微软雅黑"/>
              <a:cs typeface="微软雅黑"/>
              <a:sym typeface="微软雅黑"/>
            </a:endParaRPr>
          </a:p>
        </p:txBody>
      </p:sp>
      <p:sp>
        <p:nvSpPr>
          <p:cNvPr id="77" name="显眼包PPT24"/>
          <p:cNvSpPr/>
          <p:nvPr>
            <p:custDataLst>
              <p:tags r:id="rId26"/>
            </p:custDataLst>
          </p:nvPr>
        </p:nvSpPr>
        <p:spPr>
          <a:xfrm>
            <a:off x="6456045" y="1264285"/>
            <a:ext cx="172212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sym typeface="微软雅黑"/>
              </a:rPr>
              <a:t>塑造产品信任</a:t>
            </a:r>
            <a:endParaRPr lang="zh-CN" altLang="en-US" sz="1600" b="1" dirty="0">
              <a:solidFill>
                <a:srgbClr val="0042FF"/>
              </a:solidFill>
              <a:latin typeface="微软雅黑"/>
              <a:ea typeface="微软雅黑"/>
              <a:cs typeface="微软雅黑"/>
              <a:sym typeface="微软雅黑"/>
            </a:endParaRPr>
          </a:p>
        </p:txBody>
      </p:sp>
      <p:sp>
        <p:nvSpPr>
          <p:cNvPr id="78" name="显眼包PPT24"/>
          <p:cNvSpPr/>
          <p:nvPr>
            <p:custDataLst>
              <p:tags r:id="rId27"/>
            </p:custDataLst>
          </p:nvPr>
        </p:nvSpPr>
        <p:spPr>
          <a:xfrm>
            <a:off x="8842375" y="1264285"/>
            <a:ext cx="172212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sym typeface="微软雅黑"/>
              </a:rPr>
              <a:t>品牌协同转化</a:t>
            </a:r>
            <a:endParaRPr lang="zh-CN" altLang="en-US" sz="1600" b="1" dirty="0">
              <a:solidFill>
                <a:srgbClr val="0042FF"/>
              </a:solidFill>
              <a:latin typeface="微软雅黑"/>
              <a:ea typeface="微软雅黑"/>
              <a:cs typeface="微软雅黑"/>
              <a:sym typeface="微软雅黑"/>
            </a:endParaRPr>
          </a:p>
        </p:txBody>
      </p:sp>
      <p:grpSp>
        <p:nvGrpSpPr>
          <p:cNvPr id="82" name="组合 81"/>
          <p:cNvGrpSpPr/>
          <p:nvPr>
            <p:custDataLst>
              <p:tags r:id="rId28"/>
            </p:custDataLst>
          </p:nvPr>
        </p:nvGrpSpPr>
        <p:grpSpPr>
          <a:xfrm>
            <a:off x="1691005" y="2341880"/>
            <a:ext cx="1722120" cy="473710"/>
            <a:chOff x="2663" y="3741"/>
            <a:chExt cx="2712" cy="746"/>
          </a:xfrm>
        </p:grpSpPr>
        <p:sp>
          <p:nvSpPr>
            <p:cNvPr id="80" name="显眼包PPT24"/>
            <p:cNvSpPr/>
            <p:nvPr>
              <p:custDataLst>
                <p:tags r:id="rId29"/>
              </p:custDataLst>
            </p:nvPr>
          </p:nvSpPr>
          <p:spPr>
            <a:xfrm>
              <a:off x="2663" y="3741"/>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在年轻化对话中成为</a:t>
              </a:r>
              <a:endParaRPr lang="zh-CN" altLang="zh-CN" sz="1100" b="1" dirty="0">
                <a:solidFill>
                  <a:srgbClr val="383838"/>
                </a:solidFill>
                <a:latin typeface="微软雅黑"/>
                <a:ea typeface="微软雅黑"/>
                <a:cs typeface="微软雅黑"/>
                <a:sym typeface="微软雅黑"/>
              </a:endParaRPr>
            </a:p>
          </p:txBody>
        </p:sp>
        <p:sp>
          <p:nvSpPr>
            <p:cNvPr id="81" name="显眼包PPT24"/>
            <p:cNvSpPr/>
            <p:nvPr>
              <p:custDataLst>
                <p:tags r:id="rId30"/>
              </p:custDataLst>
            </p:nvPr>
          </p:nvSpPr>
          <p:spPr>
            <a:xfrm>
              <a:off x="2663" y="4133"/>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altLang="zh-CN" sz="1400" b="1" dirty="0">
                  <a:solidFill>
                    <a:srgbClr val="383838"/>
                  </a:solidFill>
                  <a:latin typeface="微软雅黑"/>
                  <a:ea typeface="微软雅黑"/>
                  <a:cs typeface="微软雅黑"/>
                  <a:sym typeface="微软雅黑"/>
                </a:rPr>
                <a:t>“</a:t>
              </a:r>
              <a:r>
                <a:rPr lang="zh-CN" altLang="en-US" sz="1400" b="1" dirty="0">
                  <a:solidFill>
                    <a:srgbClr val="383838"/>
                  </a:solidFill>
                  <a:latin typeface="微软雅黑"/>
                  <a:ea typeface="微软雅黑"/>
                  <a:cs typeface="微软雅黑"/>
                  <a:sym typeface="微软雅黑"/>
                </a:rPr>
                <a:t>圈内伙伴</a:t>
              </a:r>
              <a:r>
                <a:rPr lang="en-US" altLang="zh-CN" sz="1400" b="1" dirty="0">
                  <a:solidFill>
                    <a:srgbClr val="383838"/>
                  </a:solidFill>
                  <a:latin typeface="微软雅黑"/>
                  <a:ea typeface="微软雅黑"/>
                  <a:cs typeface="微软雅黑"/>
                  <a:sym typeface="微软雅黑"/>
                </a:rPr>
                <a:t>”</a:t>
              </a:r>
              <a:endParaRPr lang="en-US" altLang="zh-CN" sz="1400" b="1" dirty="0">
                <a:solidFill>
                  <a:srgbClr val="383838"/>
                </a:solidFill>
                <a:latin typeface="微软雅黑"/>
                <a:ea typeface="微软雅黑"/>
                <a:cs typeface="微软雅黑"/>
                <a:sym typeface="微软雅黑"/>
              </a:endParaRPr>
            </a:p>
          </p:txBody>
        </p:sp>
      </p:grpSp>
      <p:grpSp>
        <p:nvGrpSpPr>
          <p:cNvPr id="85" name="组合 84"/>
          <p:cNvGrpSpPr/>
          <p:nvPr>
            <p:custDataLst>
              <p:tags r:id="rId31"/>
            </p:custDataLst>
          </p:nvPr>
        </p:nvGrpSpPr>
        <p:grpSpPr>
          <a:xfrm>
            <a:off x="4039870" y="2341880"/>
            <a:ext cx="1722120" cy="473710"/>
            <a:chOff x="2663" y="3741"/>
            <a:chExt cx="2712" cy="746"/>
          </a:xfrm>
        </p:grpSpPr>
        <p:sp>
          <p:nvSpPr>
            <p:cNvPr id="86" name="显眼包PPT24"/>
            <p:cNvSpPr/>
            <p:nvPr>
              <p:custDataLst>
                <p:tags r:id="rId32"/>
              </p:custDataLst>
            </p:nvPr>
          </p:nvSpPr>
          <p:spPr>
            <a:xfrm>
              <a:off x="2663" y="3741"/>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在大节点参与中融入</a:t>
              </a:r>
              <a:endParaRPr lang="zh-CN" altLang="zh-CN" sz="1100" b="1" dirty="0">
                <a:solidFill>
                  <a:srgbClr val="383838"/>
                </a:solidFill>
                <a:latin typeface="微软雅黑"/>
                <a:ea typeface="微软雅黑"/>
                <a:cs typeface="微软雅黑"/>
                <a:sym typeface="微软雅黑"/>
              </a:endParaRPr>
            </a:p>
          </p:txBody>
        </p:sp>
        <p:sp>
          <p:nvSpPr>
            <p:cNvPr id="87" name="显眼包PPT24"/>
            <p:cNvSpPr/>
            <p:nvPr>
              <p:custDataLst>
                <p:tags r:id="rId33"/>
              </p:custDataLst>
            </p:nvPr>
          </p:nvSpPr>
          <p:spPr>
            <a:xfrm>
              <a:off x="2663" y="4133"/>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altLang="zh-CN" sz="1400" b="1" dirty="0">
                  <a:solidFill>
                    <a:srgbClr val="383838"/>
                  </a:solidFill>
                  <a:latin typeface="微软雅黑"/>
                  <a:ea typeface="微软雅黑"/>
                  <a:cs typeface="微软雅黑"/>
                  <a:sym typeface="微软雅黑"/>
                </a:rPr>
                <a:t>“</a:t>
              </a:r>
              <a:r>
                <a:rPr lang="zh-CN" altLang="en-US" sz="1400" b="1" dirty="0">
                  <a:solidFill>
                    <a:srgbClr val="383838"/>
                  </a:solidFill>
                  <a:latin typeface="微软雅黑"/>
                  <a:ea typeface="微软雅黑"/>
                  <a:cs typeface="微软雅黑"/>
                  <a:sym typeface="微软雅黑"/>
                </a:rPr>
                <a:t>用户记忆</a:t>
              </a:r>
              <a:r>
                <a:rPr lang="en-US" altLang="zh-CN" sz="1400" b="1" dirty="0">
                  <a:solidFill>
                    <a:srgbClr val="383838"/>
                  </a:solidFill>
                  <a:latin typeface="微软雅黑"/>
                  <a:ea typeface="微软雅黑"/>
                  <a:cs typeface="微软雅黑"/>
                  <a:sym typeface="微软雅黑"/>
                </a:rPr>
                <a:t>”</a:t>
              </a:r>
              <a:endParaRPr lang="en-US" altLang="zh-CN" sz="1400" b="1" dirty="0">
                <a:solidFill>
                  <a:srgbClr val="383838"/>
                </a:solidFill>
                <a:latin typeface="微软雅黑"/>
                <a:ea typeface="微软雅黑"/>
                <a:cs typeface="微软雅黑"/>
                <a:sym typeface="微软雅黑"/>
              </a:endParaRPr>
            </a:p>
          </p:txBody>
        </p:sp>
      </p:grpSp>
      <p:grpSp>
        <p:nvGrpSpPr>
          <p:cNvPr id="89" name="组合 88"/>
          <p:cNvGrpSpPr/>
          <p:nvPr>
            <p:custDataLst>
              <p:tags r:id="rId34"/>
            </p:custDataLst>
          </p:nvPr>
        </p:nvGrpSpPr>
        <p:grpSpPr>
          <a:xfrm>
            <a:off x="6388735" y="2341880"/>
            <a:ext cx="1722120" cy="473710"/>
            <a:chOff x="2663" y="3741"/>
            <a:chExt cx="2712" cy="746"/>
          </a:xfrm>
        </p:grpSpPr>
        <p:sp>
          <p:nvSpPr>
            <p:cNvPr id="90" name="显眼包PPT24"/>
            <p:cNvSpPr/>
            <p:nvPr>
              <p:custDataLst>
                <p:tags r:id="rId35"/>
              </p:custDataLst>
            </p:nvPr>
          </p:nvSpPr>
          <p:spPr>
            <a:xfrm>
              <a:off x="2663" y="3741"/>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在新品发布中形成</a:t>
              </a:r>
              <a:endParaRPr lang="zh-CN" altLang="zh-CN" sz="1100" b="1" dirty="0">
                <a:solidFill>
                  <a:srgbClr val="383838"/>
                </a:solidFill>
                <a:latin typeface="微软雅黑"/>
                <a:ea typeface="微软雅黑"/>
                <a:cs typeface="微软雅黑"/>
                <a:sym typeface="微软雅黑"/>
              </a:endParaRPr>
            </a:p>
          </p:txBody>
        </p:sp>
        <p:sp>
          <p:nvSpPr>
            <p:cNvPr id="91" name="显眼包PPT24"/>
            <p:cNvSpPr/>
            <p:nvPr>
              <p:custDataLst>
                <p:tags r:id="rId36"/>
              </p:custDataLst>
            </p:nvPr>
          </p:nvSpPr>
          <p:spPr>
            <a:xfrm>
              <a:off x="2663" y="4133"/>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altLang="zh-CN" sz="1400" b="1" dirty="0">
                  <a:solidFill>
                    <a:srgbClr val="383838"/>
                  </a:solidFill>
                  <a:latin typeface="微软雅黑"/>
                  <a:ea typeface="微软雅黑"/>
                  <a:cs typeface="微软雅黑"/>
                  <a:sym typeface="微软雅黑"/>
                </a:rPr>
                <a:t>“</a:t>
              </a:r>
              <a:r>
                <a:rPr lang="zh-CN" altLang="en-US" sz="1400" b="1" dirty="0">
                  <a:solidFill>
                    <a:srgbClr val="383838"/>
                  </a:solidFill>
                  <a:latin typeface="微软雅黑"/>
                  <a:ea typeface="微软雅黑"/>
                  <a:cs typeface="微软雅黑"/>
                  <a:sym typeface="微软雅黑"/>
                </a:rPr>
                <a:t>了解与认可</a:t>
              </a:r>
              <a:r>
                <a:rPr lang="en-US" altLang="zh-CN" sz="1400" b="1" dirty="0">
                  <a:solidFill>
                    <a:srgbClr val="383838"/>
                  </a:solidFill>
                  <a:latin typeface="微软雅黑"/>
                  <a:ea typeface="微软雅黑"/>
                  <a:cs typeface="微软雅黑"/>
                  <a:sym typeface="微软雅黑"/>
                </a:rPr>
                <a:t>”</a:t>
              </a:r>
              <a:endParaRPr lang="en-US" altLang="zh-CN" sz="1400" b="1" dirty="0">
                <a:solidFill>
                  <a:srgbClr val="383838"/>
                </a:solidFill>
                <a:latin typeface="微软雅黑"/>
                <a:ea typeface="微软雅黑"/>
                <a:cs typeface="微软雅黑"/>
                <a:sym typeface="微软雅黑"/>
              </a:endParaRPr>
            </a:p>
          </p:txBody>
        </p:sp>
      </p:grpSp>
      <p:grpSp>
        <p:nvGrpSpPr>
          <p:cNvPr id="92" name="组合 91"/>
          <p:cNvGrpSpPr/>
          <p:nvPr>
            <p:custDataLst>
              <p:tags r:id="rId37"/>
            </p:custDataLst>
          </p:nvPr>
        </p:nvGrpSpPr>
        <p:grpSpPr>
          <a:xfrm>
            <a:off x="8737600" y="2341880"/>
            <a:ext cx="1722120" cy="473710"/>
            <a:chOff x="2663" y="3741"/>
            <a:chExt cx="2712" cy="746"/>
          </a:xfrm>
        </p:grpSpPr>
        <p:sp>
          <p:nvSpPr>
            <p:cNvPr id="93" name="显眼包PPT24"/>
            <p:cNvSpPr/>
            <p:nvPr>
              <p:custDataLst>
                <p:tags r:id="rId38"/>
              </p:custDataLst>
            </p:nvPr>
          </p:nvSpPr>
          <p:spPr>
            <a:xfrm>
              <a:off x="2663" y="3741"/>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在具体场景中回应需求、</a:t>
              </a:r>
              <a:endParaRPr lang="zh-CN" altLang="zh-CN" sz="1100" b="1" dirty="0">
                <a:solidFill>
                  <a:srgbClr val="383838"/>
                </a:solidFill>
                <a:latin typeface="微软雅黑"/>
                <a:ea typeface="微软雅黑"/>
                <a:cs typeface="微软雅黑"/>
                <a:sym typeface="微软雅黑"/>
              </a:endParaRPr>
            </a:p>
          </p:txBody>
        </p:sp>
        <p:sp>
          <p:nvSpPr>
            <p:cNvPr id="95" name="显眼包PPT24"/>
            <p:cNvSpPr/>
            <p:nvPr>
              <p:custDataLst>
                <p:tags r:id="rId39"/>
              </p:custDataLst>
            </p:nvPr>
          </p:nvSpPr>
          <p:spPr>
            <a:xfrm>
              <a:off x="2663" y="4133"/>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altLang="zh-CN" sz="1400" b="1" dirty="0">
                  <a:solidFill>
                    <a:srgbClr val="383838"/>
                  </a:solidFill>
                  <a:latin typeface="微软雅黑"/>
                  <a:ea typeface="微软雅黑"/>
                  <a:cs typeface="微软雅黑"/>
                  <a:sym typeface="微软雅黑"/>
                </a:rPr>
                <a:t>“</a:t>
              </a:r>
              <a:r>
                <a:rPr lang="zh-CN" altLang="en-US" sz="1400" b="1" dirty="0">
                  <a:solidFill>
                    <a:srgbClr val="383838"/>
                  </a:solidFill>
                  <a:latin typeface="微软雅黑"/>
                  <a:ea typeface="微软雅黑"/>
                  <a:cs typeface="微软雅黑"/>
                  <a:sym typeface="微软雅黑"/>
                </a:rPr>
                <a:t>促成行动</a:t>
              </a:r>
              <a:r>
                <a:rPr lang="en-US" altLang="zh-CN" sz="1400" b="1" dirty="0">
                  <a:solidFill>
                    <a:srgbClr val="383838"/>
                  </a:solidFill>
                  <a:latin typeface="微软雅黑"/>
                  <a:ea typeface="微软雅黑"/>
                  <a:cs typeface="微软雅黑"/>
                  <a:sym typeface="微软雅黑"/>
                </a:rPr>
                <a:t>”</a:t>
              </a:r>
              <a:endParaRPr lang="en-US" altLang="zh-CN" sz="1400" b="1" dirty="0">
                <a:solidFill>
                  <a:srgbClr val="383838"/>
                </a:solidFill>
                <a:latin typeface="微软雅黑"/>
                <a:ea typeface="微软雅黑"/>
                <a:cs typeface="微软雅黑"/>
                <a:sym typeface="微软雅黑"/>
              </a:endParaRPr>
            </a:p>
          </p:txBody>
        </p:sp>
      </p:grpSp>
      <p:sp>
        <p:nvSpPr>
          <p:cNvPr id="100" name="显眼包PPT24"/>
          <p:cNvSpPr/>
          <p:nvPr>
            <p:custDataLst>
              <p:tags r:id="rId40"/>
            </p:custDataLst>
          </p:nvPr>
        </p:nvSpPr>
        <p:spPr>
          <a:xfrm>
            <a:off x="2412365" y="1734185"/>
            <a:ext cx="23749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383838"/>
                </a:solidFill>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①</a:t>
            </a:r>
            <a:endParaRPr lang="zh-CN" altLang="en-US" sz="1600" b="1" dirty="0">
              <a:solidFill>
                <a:srgbClr val="383838"/>
              </a:solidFill>
              <a:latin typeface="微软雅黑"/>
              <a:ea typeface="微软雅黑"/>
              <a:cs typeface="微软雅黑"/>
              <a:sym typeface="微软雅黑"/>
            </a:endParaRPr>
          </a:p>
        </p:txBody>
      </p:sp>
      <p:sp>
        <p:nvSpPr>
          <p:cNvPr id="102" name="显眼包PPT24"/>
          <p:cNvSpPr/>
          <p:nvPr>
            <p:custDataLst>
              <p:tags r:id="rId41"/>
            </p:custDataLst>
          </p:nvPr>
        </p:nvSpPr>
        <p:spPr>
          <a:xfrm>
            <a:off x="4803140" y="1734185"/>
            <a:ext cx="23749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②</a:t>
            </a:r>
            <a:endParaRPr lang="zh-CN" altLang="en-US" sz="1600" b="1" dirty="0">
              <a:solidFill>
                <a:srgbClr val="FFFFFF"/>
              </a:solidFill>
              <a:latin typeface="微软雅黑"/>
              <a:ea typeface="微软雅黑"/>
              <a:cs typeface="微软雅黑"/>
              <a:sym typeface="微软雅黑"/>
            </a:endParaRPr>
          </a:p>
        </p:txBody>
      </p:sp>
      <p:sp>
        <p:nvSpPr>
          <p:cNvPr id="103" name="显眼包PPT24"/>
          <p:cNvSpPr/>
          <p:nvPr>
            <p:custDataLst>
              <p:tags r:id="rId42"/>
            </p:custDataLst>
          </p:nvPr>
        </p:nvSpPr>
        <p:spPr>
          <a:xfrm>
            <a:off x="7193915" y="1734185"/>
            <a:ext cx="23749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③</a:t>
            </a:r>
            <a:endParaRPr lang="zh-CN" altLang="en-US" sz="1600" b="1" dirty="0">
              <a:solidFill>
                <a:srgbClr val="FFFFFF"/>
              </a:solidFill>
              <a:latin typeface="微软雅黑"/>
              <a:ea typeface="微软雅黑"/>
              <a:cs typeface="微软雅黑"/>
              <a:sym typeface="微软雅黑"/>
            </a:endParaRPr>
          </a:p>
        </p:txBody>
      </p:sp>
      <p:sp>
        <p:nvSpPr>
          <p:cNvPr id="104" name="显眼包PPT24"/>
          <p:cNvSpPr/>
          <p:nvPr>
            <p:custDataLst>
              <p:tags r:id="rId43"/>
            </p:custDataLst>
          </p:nvPr>
        </p:nvSpPr>
        <p:spPr>
          <a:xfrm>
            <a:off x="9584690" y="1734185"/>
            <a:ext cx="237490" cy="22542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④</a:t>
            </a:r>
            <a:endParaRPr lang="zh-CN" altLang="en-US" sz="1600" b="1" dirty="0">
              <a:solidFill>
                <a:srgbClr val="FFFFFF"/>
              </a:solidFill>
              <a:latin typeface="微软雅黑"/>
              <a:ea typeface="微软雅黑"/>
              <a:cs typeface="微软雅黑"/>
              <a:sym typeface="微软雅黑"/>
            </a:endParaRPr>
          </a:p>
        </p:txBody>
      </p:sp>
      <p:grpSp>
        <p:nvGrpSpPr>
          <p:cNvPr id="182" name="组合 181"/>
          <p:cNvGrpSpPr/>
          <p:nvPr/>
        </p:nvGrpSpPr>
        <p:grpSpPr>
          <a:xfrm>
            <a:off x="1669415" y="3537585"/>
            <a:ext cx="1722120" cy="2559050"/>
            <a:chOff x="2629" y="5571"/>
            <a:chExt cx="2712" cy="4030"/>
          </a:xfrm>
        </p:grpSpPr>
        <p:grpSp>
          <p:nvGrpSpPr>
            <p:cNvPr id="173" name="组合 172"/>
            <p:cNvGrpSpPr/>
            <p:nvPr/>
          </p:nvGrpSpPr>
          <p:grpSpPr>
            <a:xfrm>
              <a:off x="2629" y="5571"/>
              <a:ext cx="2712" cy="1204"/>
              <a:chOff x="2663" y="5589"/>
              <a:chExt cx="2712" cy="1204"/>
            </a:xfrm>
          </p:grpSpPr>
          <p:sp>
            <p:nvSpPr>
              <p:cNvPr id="365" name="显眼包PPT-29"/>
              <p:cNvSpPr/>
              <p:nvPr/>
            </p:nvSpPr>
            <p:spPr>
              <a:xfrm>
                <a:off x="3014" y="6009"/>
                <a:ext cx="2011"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BilibiliWorld</a:t>
                </a:r>
                <a:endParaRPr lang="en-US" altLang="zh-CN" sz="1000" dirty="0">
                  <a:solidFill>
                    <a:srgbClr val="383838"/>
                  </a:solidFill>
                  <a:latin typeface="微软雅黑"/>
                  <a:ea typeface="微软雅黑"/>
                  <a:cs typeface="微软雅黑"/>
                </a:endParaRPr>
              </a:p>
            </p:txBody>
          </p:sp>
          <p:sp>
            <p:nvSpPr>
              <p:cNvPr id="171"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1.</a:t>
                </a:r>
                <a:r>
                  <a:rPr lang="zh-CN" altLang="en-US" sz="1100" dirty="0">
                    <a:solidFill>
                      <a:srgbClr val="383838"/>
                    </a:solidFill>
                    <a:latin typeface="微软雅黑"/>
                    <a:ea typeface="微软雅黑"/>
                    <a:cs typeface="微软雅黑"/>
                    <a:sym typeface="微软雅黑"/>
                  </a:rPr>
                  <a:t>核心文化与</a:t>
                </a:r>
                <a:r>
                  <a:rPr lang="en-US" altLang="zh-CN" sz="1100" dirty="0">
                    <a:solidFill>
                      <a:srgbClr val="383838"/>
                    </a:solidFill>
                    <a:latin typeface="微软雅黑"/>
                    <a:ea typeface="微软雅黑"/>
                    <a:cs typeface="微软雅黑"/>
                    <a:sym typeface="微软雅黑"/>
                  </a:rPr>
                  <a:t>IP</a:t>
                </a:r>
                <a:r>
                  <a:rPr lang="zh-CN" altLang="en-US" sz="1100" dirty="0">
                    <a:solidFill>
                      <a:srgbClr val="383838"/>
                    </a:solidFill>
                    <a:latin typeface="微软雅黑"/>
                    <a:ea typeface="微软雅黑"/>
                    <a:cs typeface="微软雅黑"/>
                    <a:sym typeface="微软雅黑"/>
                  </a:rPr>
                  <a:t>线下盛典</a:t>
                </a:r>
                <a:endParaRPr lang="zh-CN" altLang="en-US" sz="1100" dirty="0">
                  <a:solidFill>
                    <a:srgbClr val="383838"/>
                  </a:solidFill>
                  <a:latin typeface="微软雅黑"/>
                  <a:ea typeface="微软雅黑"/>
                  <a:cs typeface="微软雅黑"/>
                  <a:sym typeface="微软雅黑"/>
                </a:endParaRPr>
              </a:p>
            </p:txBody>
          </p:sp>
          <p:sp>
            <p:nvSpPr>
              <p:cNvPr id="109" name="显眼包PPT-29"/>
              <p:cNvSpPr/>
              <p:nvPr/>
            </p:nvSpPr>
            <p:spPr>
              <a:xfrm>
                <a:off x="3229" y="6449"/>
                <a:ext cx="1592"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国创</a:t>
                </a:r>
                <a:r>
                  <a:rPr lang="en-US" altLang="zh-CN" sz="1000" dirty="0">
                    <a:solidFill>
                      <a:srgbClr val="383838"/>
                    </a:solidFill>
                    <a:latin typeface="微软雅黑"/>
                    <a:ea typeface="微软雅黑"/>
                    <a:cs typeface="微软雅黑"/>
                  </a:rPr>
                  <a:t>/IP</a:t>
                </a:r>
                <a:endParaRPr lang="en-US" altLang="zh-CN" sz="1000" dirty="0">
                  <a:solidFill>
                    <a:srgbClr val="383838"/>
                  </a:solidFill>
                  <a:latin typeface="微软雅黑"/>
                  <a:ea typeface="微软雅黑"/>
                  <a:cs typeface="微软雅黑"/>
                </a:endParaRPr>
              </a:p>
            </p:txBody>
          </p:sp>
        </p:grpSp>
        <p:grpSp>
          <p:nvGrpSpPr>
            <p:cNvPr id="174" name="组合 173"/>
            <p:cNvGrpSpPr/>
            <p:nvPr/>
          </p:nvGrpSpPr>
          <p:grpSpPr>
            <a:xfrm>
              <a:off x="2629" y="6984"/>
              <a:ext cx="2712" cy="1204"/>
              <a:chOff x="2663" y="5589"/>
              <a:chExt cx="2712" cy="1204"/>
            </a:xfrm>
          </p:grpSpPr>
          <p:sp>
            <p:nvSpPr>
              <p:cNvPr id="175" name="显眼包PPT-29"/>
              <p:cNvSpPr/>
              <p:nvPr/>
            </p:nvSpPr>
            <p:spPr>
              <a:xfrm>
                <a:off x="3014" y="6009"/>
                <a:ext cx="2011"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开学季</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毕业季</a:t>
                </a:r>
                <a:endParaRPr lang="en-US" altLang="zh-CN" sz="1000" dirty="0">
                  <a:solidFill>
                    <a:srgbClr val="383838"/>
                  </a:solidFill>
                  <a:latin typeface="微软雅黑"/>
                  <a:ea typeface="微软雅黑"/>
                  <a:cs typeface="微软雅黑"/>
                </a:endParaRPr>
              </a:p>
            </p:txBody>
          </p:sp>
          <p:sp>
            <p:nvSpPr>
              <p:cNvPr id="176"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2.</a:t>
                </a:r>
                <a:r>
                  <a:rPr lang="zh-CN" altLang="en-US" sz="1100" dirty="0">
                    <a:solidFill>
                      <a:srgbClr val="383838"/>
                    </a:solidFill>
                    <a:latin typeface="微软雅黑"/>
                    <a:ea typeface="微软雅黑"/>
                    <a:cs typeface="微软雅黑"/>
                    <a:sym typeface="微软雅黑"/>
                  </a:rPr>
                  <a:t>校园场景营销</a:t>
                </a:r>
                <a:endParaRPr lang="zh-CN" altLang="en-US" sz="1100" dirty="0">
                  <a:solidFill>
                    <a:srgbClr val="383838"/>
                  </a:solidFill>
                  <a:latin typeface="微软雅黑"/>
                  <a:ea typeface="微软雅黑"/>
                  <a:cs typeface="微软雅黑"/>
                  <a:sym typeface="微软雅黑"/>
                </a:endParaRPr>
              </a:p>
            </p:txBody>
          </p:sp>
          <p:sp>
            <p:nvSpPr>
              <p:cNvPr id="177" name="显眼包PPT-29"/>
              <p:cNvSpPr/>
              <p:nvPr/>
            </p:nvSpPr>
            <p:spPr>
              <a:xfrm>
                <a:off x="3337" y="6449"/>
                <a:ext cx="1484"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高校联动</a:t>
                </a:r>
                <a:endParaRPr lang="en-US" altLang="zh-CN" sz="1000" dirty="0">
                  <a:solidFill>
                    <a:srgbClr val="383838"/>
                  </a:solidFill>
                  <a:latin typeface="微软雅黑"/>
                  <a:ea typeface="微软雅黑"/>
                  <a:cs typeface="微软雅黑"/>
                </a:endParaRPr>
              </a:p>
            </p:txBody>
          </p:sp>
        </p:grpSp>
        <p:grpSp>
          <p:nvGrpSpPr>
            <p:cNvPr id="178" name="组合 177"/>
            <p:cNvGrpSpPr/>
            <p:nvPr/>
          </p:nvGrpSpPr>
          <p:grpSpPr>
            <a:xfrm>
              <a:off x="2629" y="8397"/>
              <a:ext cx="2712" cy="1204"/>
              <a:chOff x="2663" y="5589"/>
              <a:chExt cx="2712" cy="1204"/>
            </a:xfrm>
          </p:grpSpPr>
          <p:sp>
            <p:nvSpPr>
              <p:cNvPr id="179" name="显眼包PPT-29"/>
              <p:cNvSpPr/>
              <p:nvPr/>
            </p:nvSpPr>
            <p:spPr>
              <a:xfrm>
                <a:off x="3014" y="6009"/>
                <a:ext cx="2011"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sym typeface="微软雅黑"/>
                  </a:rPr>
                  <a:t>15</a:t>
                </a:r>
                <a:r>
                  <a:rPr lang="zh-CN" altLang="en-US" sz="1000" dirty="0">
                    <a:solidFill>
                      <a:srgbClr val="383838"/>
                    </a:solidFill>
                    <a:latin typeface="微软雅黑"/>
                    <a:ea typeface="微软雅黑"/>
                    <a:cs typeface="微软雅黑"/>
                    <a:sym typeface="微软雅黑"/>
                  </a:rPr>
                  <a:t>大特色人群</a:t>
                </a:r>
                <a:endParaRPr lang="en-US" altLang="zh-CN" sz="1000" dirty="0">
                  <a:solidFill>
                    <a:srgbClr val="383838"/>
                  </a:solidFill>
                  <a:latin typeface="微软雅黑"/>
                  <a:ea typeface="微软雅黑"/>
                  <a:cs typeface="微软雅黑"/>
                </a:endParaRPr>
              </a:p>
            </p:txBody>
          </p:sp>
          <p:sp>
            <p:nvSpPr>
              <p:cNvPr id="180"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3.</a:t>
                </a:r>
                <a:r>
                  <a:rPr lang="zh-CN" altLang="en-US" sz="1100" dirty="0">
                    <a:solidFill>
                      <a:srgbClr val="383838"/>
                    </a:solidFill>
                    <a:latin typeface="微软雅黑"/>
                    <a:ea typeface="微软雅黑"/>
                    <a:cs typeface="微软雅黑"/>
                    <a:sym typeface="微软雅黑"/>
                  </a:rPr>
                  <a:t>圈层沟通图谱</a:t>
                </a:r>
                <a:endParaRPr lang="zh-CN" altLang="en-US" sz="1100" dirty="0">
                  <a:solidFill>
                    <a:srgbClr val="383838"/>
                  </a:solidFill>
                  <a:latin typeface="微软雅黑"/>
                  <a:ea typeface="微软雅黑"/>
                  <a:cs typeface="微软雅黑"/>
                  <a:sym typeface="微软雅黑"/>
                </a:endParaRPr>
              </a:p>
            </p:txBody>
          </p:sp>
          <p:sp>
            <p:nvSpPr>
              <p:cNvPr id="181" name="显眼包PPT-29"/>
              <p:cNvSpPr/>
              <p:nvPr/>
            </p:nvSpPr>
            <p:spPr>
              <a:xfrm>
                <a:off x="3229" y="6449"/>
                <a:ext cx="1592"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垂直</a:t>
                </a:r>
                <a:r>
                  <a:rPr lang="en-US" altLang="zh-CN" sz="1000" dirty="0">
                    <a:solidFill>
                      <a:srgbClr val="383838"/>
                    </a:solidFill>
                    <a:latin typeface="微软雅黑"/>
                    <a:ea typeface="微软雅黑"/>
                    <a:cs typeface="微软雅黑"/>
                    <a:sym typeface="微软雅黑"/>
                  </a:rPr>
                  <a:t>UP</a:t>
                </a:r>
                <a:r>
                  <a:rPr lang="zh-CN" altLang="en-US" sz="1000" dirty="0">
                    <a:solidFill>
                      <a:srgbClr val="383838"/>
                    </a:solidFill>
                    <a:latin typeface="微软雅黑"/>
                    <a:ea typeface="微软雅黑"/>
                    <a:cs typeface="微软雅黑"/>
                    <a:sym typeface="微软雅黑"/>
                  </a:rPr>
                  <a:t>主</a:t>
                </a:r>
                <a:endParaRPr lang="en-US" altLang="zh-CN" sz="1000" dirty="0">
                  <a:solidFill>
                    <a:srgbClr val="383838"/>
                  </a:solidFill>
                  <a:latin typeface="微软雅黑"/>
                  <a:ea typeface="微软雅黑"/>
                  <a:cs typeface="微软雅黑"/>
                </a:endParaRPr>
              </a:p>
            </p:txBody>
          </p:sp>
        </p:grpSp>
      </p:grpSp>
      <p:grpSp>
        <p:nvGrpSpPr>
          <p:cNvPr id="183" name="组合 182"/>
          <p:cNvGrpSpPr/>
          <p:nvPr/>
        </p:nvGrpSpPr>
        <p:grpSpPr>
          <a:xfrm>
            <a:off x="4041458" y="3549015"/>
            <a:ext cx="1722120" cy="2559050"/>
            <a:chOff x="2629" y="5571"/>
            <a:chExt cx="2712" cy="4030"/>
          </a:xfrm>
        </p:grpSpPr>
        <p:grpSp>
          <p:nvGrpSpPr>
            <p:cNvPr id="184" name="组合 183"/>
            <p:cNvGrpSpPr/>
            <p:nvPr/>
          </p:nvGrpSpPr>
          <p:grpSpPr>
            <a:xfrm>
              <a:off x="2629" y="5571"/>
              <a:ext cx="2712" cy="1204"/>
              <a:chOff x="2663" y="5589"/>
              <a:chExt cx="2712" cy="1204"/>
            </a:xfrm>
          </p:grpSpPr>
          <p:sp>
            <p:nvSpPr>
              <p:cNvPr id="185" name="显眼包PPT-29"/>
              <p:cNvSpPr/>
              <p:nvPr/>
            </p:nvSpPr>
            <p:spPr>
              <a:xfrm>
                <a:off x="3122" y="6009"/>
                <a:ext cx="1795"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拜年纪</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跨年晚会</a:t>
                </a:r>
                <a:endParaRPr lang="zh-CN" altLang="en-US" sz="1000" dirty="0">
                  <a:solidFill>
                    <a:srgbClr val="FFFFFF"/>
                  </a:solidFill>
                  <a:latin typeface="微软雅黑"/>
                  <a:ea typeface="微软雅黑"/>
                  <a:cs typeface="微软雅黑"/>
                </a:endParaRPr>
              </a:p>
            </p:txBody>
          </p:sp>
          <p:sp>
            <p:nvSpPr>
              <p:cNvPr id="186"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1.</a:t>
                </a:r>
                <a:r>
                  <a:rPr lang="zh-CN" altLang="en-US" sz="1100" dirty="0">
                    <a:solidFill>
                      <a:srgbClr val="383838"/>
                    </a:solidFill>
                    <a:latin typeface="微软雅黑"/>
                    <a:ea typeface="微软雅黑"/>
                    <a:cs typeface="微软雅黑"/>
                    <a:sym typeface="微软雅黑"/>
                  </a:rPr>
                  <a:t>平台及文化节点</a:t>
                </a:r>
                <a:endParaRPr lang="zh-CN" altLang="en-US" sz="1100" dirty="0">
                  <a:solidFill>
                    <a:srgbClr val="383838"/>
                  </a:solidFill>
                  <a:latin typeface="微软雅黑"/>
                  <a:ea typeface="微软雅黑"/>
                  <a:cs typeface="微软雅黑"/>
                  <a:sym typeface="微软雅黑"/>
                </a:endParaRPr>
              </a:p>
            </p:txBody>
          </p:sp>
          <p:sp>
            <p:nvSpPr>
              <p:cNvPr id="187" name="显眼包PPT-29"/>
              <p:cNvSpPr/>
              <p:nvPr/>
            </p:nvSpPr>
            <p:spPr>
              <a:xfrm>
                <a:off x="2806" y="6449"/>
                <a:ext cx="2427"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超级科学晚等垂类晚会</a:t>
                </a:r>
                <a:endParaRPr lang="zh-CN" altLang="en-US" sz="1000" dirty="0">
                  <a:solidFill>
                    <a:srgbClr val="FFFFFF"/>
                  </a:solidFill>
                  <a:latin typeface="微软雅黑"/>
                  <a:ea typeface="微软雅黑"/>
                  <a:cs typeface="微软雅黑"/>
                  <a:sym typeface="微软雅黑"/>
                </a:endParaRPr>
              </a:p>
            </p:txBody>
          </p:sp>
        </p:grpSp>
        <p:grpSp>
          <p:nvGrpSpPr>
            <p:cNvPr id="188" name="组合 187"/>
            <p:cNvGrpSpPr/>
            <p:nvPr/>
          </p:nvGrpSpPr>
          <p:grpSpPr>
            <a:xfrm>
              <a:off x="2629" y="6984"/>
              <a:ext cx="2712" cy="1204"/>
              <a:chOff x="2663" y="5589"/>
              <a:chExt cx="2712" cy="1204"/>
            </a:xfrm>
          </p:grpSpPr>
          <p:sp>
            <p:nvSpPr>
              <p:cNvPr id="189" name="显眼包PPT-29"/>
              <p:cNvSpPr/>
              <p:nvPr/>
            </p:nvSpPr>
            <p:spPr>
              <a:xfrm>
                <a:off x="3014" y="6009"/>
                <a:ext cx="2011"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en-US" sz="1000" dirty="0">
                    <a:solidFill>
                      <a:srgbClr val="FFFFFF"/>
                    </a:solidFill>
                    <a:latin typeface="微软雅黑"/>
                    <a:ea typeface="微软雅黑"/>
                    <a:cs typeface="微软雅黑"/>
                    <a:sym typeface="微软雅黑"/>
                  </a:rPr>
                  <a:t>618/</a:t>
                </a:r>
                <a:r>
                  <a:rPr lang="zh-CN" altLang="en-US" sz="1000" dirty="0">
                    <a:solidFill>
                      <a:srgbClr val="FFFFFF"/>
                    </a:solidFill>
                    <a:latin typeface="微软雅黑"/>
                    <a:ea typeface="微软雅黑"/>
                    <a:cs typeface="微软雅黑"/>
                    <a:sym typeface="微软雅黑"/>
                  </a:rPr>
                  <a:t>双</a:t>
                </a:r>
                <a:r>
                  <a:rPr lang="en-US" altLang="zh-CN" sz="1000" dirty="0">
                    <a:solidFill>
                      <a:srgbClr val="FFFFFF"/>
                    </a:solidFill>
                    <a:latin typeface="微软雅黑"/>
                    <a:ea typeface="微软雅黑"/>
                    <a:cs typeface="微软雅黑"/>
                    <a:sym typeface="微软雅黑"/>
                  </a:rPr>
                  <a:t>11</a:t>
                </a:r>
                <a:r>
                  <a:rPr lang="zh-CN" altLang="en-US" sz="1000" dirty="0">
                    <a:solidFill>
                      <a:srgbClr val="FFFFFF"/>
                    </a:solidFill>
                    <a:latin typeface="微软雅黑"/>
                    <a:ea typeface="微软雅黑"/>
                    <a:cs typeface="微软雅黑"/>
                    <a:sym typeface="微软雅黑"/>
                  </a:rPr>
                  <a:t>电商大促</a:t>
                </a:r>
                <a:endParaRPr lang="zh-CN" altLang="en-US" sz="1000" dirty="0">
                  <a:solidFill>
                    <a:srgbClr val="FFFFFF"/>
                  </a:solidFill>
                  <a:latin typeface="微软雅黑"/>
                  <a:ea typeface="微软雅黑"/>
                  <a:cs typeface="微软雅黑"/>
                  <a:sym typeface="微软雅黑"/>
                </a:endParaRPr>
              </a:p>
            </p:txBody>
          </p:sp>
          <p:sp>
            <p:nvSpPr>
              <p:cNvPr id="190"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2.</a:t>
                </a:r>
                <a:r>
                  <a:rPr lang="zh-CN" altLang="en-US" sz="1100" dirty="0">
                    <a:solidFill>
                      <a:srgbClr val="383838"/>
                    </a:solidFill>
                    <a:latin typeface="微软雅黑"/>
                    <a:ea typeface="微软雅黑"/>
                    <a:cs typeface="微软雅黑"/>
                    <a:sym typeface="微软雅黑"/>
                  </a:rPr>
                  <a:t>固定消费与季节节点</a:t>
                </a:r>
                <a:endParaRPr lang="zh-CN" altLang="en-US" sz="1100" dirty="0">
                  <a:solidFill>
                    <a:srgbClr val="383838"/>
                  </a:solidFill>
                  <a:latin typeface="微软雅黑"/>
                  <a:ea typeface="微软雅黑"/>
                  <a:cs typeface="微软雅黑"/>
                  <a:sym typeface="微软雅黑"/>
                </a:endParaRPr>
              </a:p>
            </p:txBody>
          </p:sp>
          <p:sp>
            <p:nvSpPr>
              <p:cNvPr id="191" name="显眼包PPT-29"/>
              <p:cNvSpPr/>
              <p:nvPr/>
            </p:nvSpPr>
            <p:spPr>
              <a:xfrm>
                <a:off x="2890" y="6449"/>
                <a:ext cx="2284"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七夕</a:t>
                </a:r>
                <a:r>
                  <a:rPr lang="en-US" altLang="zh-CN" sz="1000" dirty="0">
                    <a:solidFill>
                      <a:srgbClr val="FFFFFF"/>
                    </a:solidFill>
                    <a:latin typeface="微软雅黑"/>
                    <a:ea typeface="微软雅黑"/>
                    <a:cs typeface="微软雅黑"/>
                    <a:sym typeface="微软雅黑"/>
                  </a:rPr>
                  <a:t>/CNY</a:t>
                </a:r>
                <a:r>
                  <a:rPr lang="zh-CN" altLang="en-US" sz="1000" dirty="0">
                    <a:solidFill>
                      <a:srgbClr val="FFFFFF"/>
                    </a:solidFill>
                    <a:latin typeface="微软雅黑"/>
                    <a:ea typeface="微软雅黑"/>
                    <a:cs typeface="微软雅黑"/>
                    <a:sym typeface="微软雅黑"/>
                  </a:rPr>
                  <a:t>等人文节庆</a:t>
                </a:r>
                <a:endParaRPr lang="zh-CN" altLang="en-US" sz="1000" dirty="0">
                  <a:solidFill>
                    <a:srgbClr val="FFFFFF"/>
                  </a:solidFill>
                  <a:latin typeface="微软雅黑"/>
                  <a:ea typeface="微软雅黑"/>
                  <a:cs typeface="微软雅黑"/>
                  <a:sym typeface="微软雅黑"/>
                </a:endParaRPr>
              </a:p>
            </p:txBody>
          </p:sp>
        </p:grpSp>
        <p:grpSp>
          <p:nvGrpSpPr>
            <p:cNvPr id="192" name="组合 191"/>
            <p:cNvGrpSpPr/>
            <p:nvPr/>
          </p:nvGrpSpPr>
          <p:grpSpPr>
            <a:xfrm>
              <a:off x="2629" y="8397"/>
              <a:ext cx="2712" cy="1204"/>
              <a:chOff x="2663" y="5589"/>
              <a:chExt cx="2712" cy="1204"/>
            </a:xfrm>
          </p:grpSpPr>
          <p:sp>
            <p:nvSpPr>
              <p:cNvPr id="193" name="显眼包PPT-29"/>
              <p:cNvSpPr/>
              <p:nvPr/>
            </p:nvSpPr>
            <p:spPr>
              <a:xfrm>
                <a:off x="2808" y="6009"/>
                <a:ext cx="2297"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en-US" sz="1000" dirty="0">
                    <a:solidFill>
                      <a:srgbClr val="FFFFFF"/>
                    </a:solidFill>
                    <a:latin typeface="微软雅黑"/>
                    <a:ea typeface="微软雅黑"/>
                    <a:cs typeface="微软雅黑"/>
                    <a:sym typeface="微软雅黑"/>
                  </a:rPr>
                  <a:t>MATES</a:t>
                </a:r>
                <a:r>
                  <a:rPr lang="zh-CN" altLang="en-US" sz="1000" dirty="0">
                    <a:solidFill>
                      <a:srgbClr val="FFFFFF"/>
                    </a:solidFill>
                    <a:latin typeface="微软雅黑"/>
                    <a:ea typeface="微软雅黑"/>
                    <a:cs typeface="微软雅黑"/>
                    <a:sym typeface="微软雅黑"/>
                  </a:rPr>
                  <a:t>人群资产模型</a:t>
                </a:r>
                <a:endParaRPr lang="zh-CN" altLang="en-US" sz="1000" dirty="0">
                  <a:solidFill>
                    <a:srgbClr val="FFFFFF"/>
                  </a:solidFill>
                  <a:latin typeface="微软雅黑"/>
                  <a:ea typeface="微软雅黑"/>
                  <a:cs typeface="微软雅黑"/>
                  <a:sym typeface="微软雅黑"/>
                </a:endParaRPr>
              </a:p>
            </p:txBody>
          </p:sp>
          <p:sp>
            <p:nvSpPr>
              <p:cNvPr id="194"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3.</a:t>
                </a:r>
                <a:r>
                  <a:rPr lang="zh-CN" altLang="en-US" sz="1100" dirty="0">
                    <a:solidFill>
                      <a:srgbClr val="383838"/>
                    </a:solidFill>
                    <a:latin typeface="微软雅黑"/>
                    <a:ea typeface="微软雅黑"/>
                    <a:cs typeface="微软雅黑"/>
                    <a:sym typeface="微软雅黑"/>
                  </a:rPr>
                  <a:t>数据度量工具</a:t>
                </a:r>
                <a:endParaRPr lang="zh-CN" altLang="en-US" sz="1100" dirty="0">
                  <a:solidFill>
                    <a:srgbClr val="383838"/>
                  </a:solidFill>
                  <a:latin typeface="微软雅黑"/>
                  <a:ea typeface="微软雅黑"/>
                  <a:cs typeface="微软雅黑"/>
                  <a:sym typeface="微软雅黑"/>
                </a:endParaRPr>
              </a:p>
            </p:txBody>
          </p:sp>
          <p:sp>
            <p:nvSpPr>
              <p:cNvPr id="195" name="显眼包PPT-29"/>
              <p:cNvSpPr/>
              <p:nvPr/>
            </p:nvSpPr>
            <p:spPr>
              <a:xfrm>
                <a:off x="2851" y="6449"/>
                <a:ext cx="2252"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sym typeface="微软雅黑"/>
                  </a:rPr>
                  <a:t>星火</a:t>
                </a:r>
                <a:r>
                  <a:rPr lang="en-US" altLang="zh-CN"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京东等数据打通</a:t>
                </a:r>
                <a:endParaRPr lang="zh-CN" altLang="en-US" sz="1000" dirty="0">
                  <a:solidFill>
                    <a:srgbClr val="FFFFFF"/>
                  </a:solidFill>
                  <a:latin typeface="微软雅黑"/>
                  <a:ea typeface="微软雅黑"/>
                  <a:cs typeface="微软雅黑"/>
                  <a:sym typeface="微软雅黑"/>
                </a:endParaRPr>
              </a:p>
            </p:txBody>
          </p:sp>
        </p:grpSp>
      </p:grpSp>
      <p:grpSp>
        <p:nvGrpSpPr>
          <p:cNvPr id="196" name="组合 195"/>
          <p:cNvGrpSpPr/>
          <p:nvPr/>
        </p:nvGrpSpPr>
        <p:grpSpPr>
          <a:xfrm>
            <a:off x="6443345" y="3549015"/>
            <a:ext cx="1722120" cy="2559050"/>
            <a:chOff x="2629" y="5571"/>
            <a:chExt cx="2712" cy="4030"/>
          </a:xfrm>
        </p:grpSpPr>
        <p:grpSp>
          <p:nvGrpSpPr>
            <p:cNvPr id="197" name="组合 196"/>
            <p:cNvGrpSpPr/>
            <p:nvPr/>
          </p:nvGrpSpPr>
          <p:grpSpPr>
            <a:xfrm>
              <a:off x="2629" y="5571"/>
              <a:ext cx="2712" cy="1204"/>
              <a:chOff x="2663" y="5589"/>
              <a:chExt cx="2712" cy="1204"/>
            </a:xfrm>
          </p:grpSpPr>
          <p:sp>
            <p:nvSpPr>
              <p:cNvPr id="198" name="显眼包PPT-29"/>
              <p:cNvSpPr/>
              <p:nvPr/>
            </p:nvSpPr>
            <p:spPr>
              <a:xfrm>
                <a:off x="3014" y="6009"/>
                <a:ext cx="2011"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新品爆款打造计划</a:t>
                </a:r>
                <a:endParaRPr lang="zh-CN" altLang="en-US" sz="1000" dirty="0">
                  <a:solidFill>
                    <a:srgbClr val="383838"/>
                  </a:solidFill>
                  <a:latin typeface="微软雅黑"/>
                  <a:ea typeface="微软雅黑"/>
                  <a:cs typeface="微软雅黑"/>
                </a:endParaRPr>
              </a:p>
            </p:txBody>
          </p:sp>
          <p:sp>
            <p:nvSpPr>
              <p:cNvPr id="199"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1.</a:t>
                </a:r>
                <a:r>
                  <a:rPr lang="zh-CN" sz="1100" dirty="0">
                    <a:solidFill>
                      <a:srgbClr val="383838"/>
                    </a:solidFill>
                    <a:latin typeface="微软雅黑"/>
                    <a:ea typeface="微软雅黑"/>
                    <a:cs typeface="微软雅黑"/>
                    <a:sym typeface="微软雅黑"/>
                  </a:rPr>
                  <a:t>新品发布专项资源</a:t>
                </a:r>
                <a:endParaRPr lang="zh-CN" sz="1100" dirty="0">
                  <a:solidFill>
                    <a:srgbClr val="383838"/>
                  </a:solidFill>
                  <a:latin typeface="微软雅黑"/>
                  <a:ea typeface="微软雅黑"/>
                  <a:cs typeface="微软雅黑"/>
                  <a:sym typeface="微软雅黑"/>
                </a:endParaRPr>
              </a:p>
            </p:txBody>
          </p:sp>
          <p:sp>
            <p:nvSpPr>
              <p:cNvPr id="200" name="显眼包PPT-29"/>
              <p:cNvSpPr/>
              <p:nvPr/>
            </p:nvSpPr>
            <p:spPr>
              <a:xfrm>
                <a:off x="2741" y="6449"/>
                <a:ext cx="2472"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en-US" sz="1000" dirty="0">
                    <a:solidFill>
                      <a:srgbClr val="383838"/>
                    </a:solidFill>
                    <a:latin typeface="微软雅黑"/>
                    <a:ea typeface="微软雅黑"/>
                    <a:cs typeface="微软雅黑"/>
                  </a:rPr>
                  <a:t>TOPLIVE</a:t>
                </a:r>
                <a:r>
                  <a:rPr lang="zh-CN" altLang="en-US" sz="1000" dirty="0">
                    <a:solidFill>
                      <a:srgbClr val="383838"/>
                    </a:solidFill>
                    <a:latin typeface="微软雅黑"/>
                    <a:ea typeface="微软雅黑"/>
                    <a:cs typeface="微软雅黑"/>
                  </a:rPr>
                  <a:t>等定制直播</a:t>
                </a:r>
                <a:endParaRPr lang="zh-CN" altLang="en-US" sz="1000" dirty="0">
                  <a:solidFill>
                    <a:srgbClr val="383838"/>
                  </a:solidFill>
                  <a:latin typeface="微软雅黑"/>
                  <a:ea typeface="微软雅黑"/>
                  <a:cs typeface="微软雅黑"/>
                </a:endParaRPr>
              </a:p>
            </p:txBody>
          </p:sp>
        </p:grpSp>
        <p:grpSp>
          <p:nvGrpSpPr>
            <p:cNvPr id="201" name="组合 200"/>
            <p:cNvGrpSpPr/>
            <p:nvPr/>
          </p:nvGrpSpPr>
          <p:grpSpPr>
            <a:xfrm>
              <a:off x="2629" y="6984"/>
              <a:ext cx="2712" cy="1204"/>
              <a:chOff x="2663" y="5589"/>
              <a:chExt cx="2712" cy="1204"/>
            </a:xfrm>
          </p:grpSpPr>
          <p:sp>
            <p:nvSpPr>
              <p:cNvPr id="202" name="显眼包PPT-29"/>
              <p:cNvSpPr/>
              <p:nvPr/>
            </p:nvSpPr>
            <p:spPr>
              <a:xfrm>
                <a:off x="3229" y="6009"/>
                <a:ext cx="1592"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花火、</a:t>
                </a:r>
                <a:r>
                  <a:rPr lang="zh-CN" altLang="en-US" sz="1000" dirty="0">
                    <a:solidFill>
                      <a:srgbClr val="383838"/>
                    </a:solidFill>
                    <a:latin typeface="微软雅黑"/>
                    <a:ea typeface="微软雅黑"/>
                    <a:cs typeface="微软雅黑"/>
                    <a:sym typeface="微软雅黑"/>
                  </a:rPr>
                  <a:t>蓝</a:t>
                </a:r>
                <a:r>
                  <a:rPr lang="en-US" altLang="zh-CN" sz="1000" dirty="0">
                    <a:solidFill>
                      <a:srgbClr val="383838"/>
                    </a:solidFill>
                    <a:latin typeface="微软雅黑"/>
                    <a:ea typeface="微软雅黑"/>
                    <a:cs typeface="微软雅黑"/>
                    <a:sym typeface="微软雅黑"/>
                  </a:rPr>
                  <a:t>V</a:t>
                </a:r>
                <a:endParaRPr lang="en-US" altLang="zh-CN" sz="1000" dirty="0">
                  <a:solidFill>
                    <a:srgbClr val="383838"/>
                  </a:solidFill>
                  <a:latin typeface="微软雅黑"/>
                  <a:ea typeface="微软雅黑"/>
                  <a:cs typeface="微软雅黑"/>
                  <a:sym typeface="微软雅黑"/>
                </a:endParaRPr>
              </a:p>
            </p:txBody>
          </p:sp>
          <p:sp>
            <p:nvSpPr>
              <p:cNvPr id="203"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2.</a:t>
                </a:r>
                <a:r>
                  <a:rPr lang="zh-CN" altLang="en-US" sz="1100" dirty="0">
                    <a:solidFill>
                      <a:srgbClr val="383838"/>
                    </a:solidFill>
                    <a:latin typeface="微软雅黑"/>
                    <a:ea typeface="微软雅黑"/>
                    <a:cs typeface="微软雅黑"/>
                    <a:sym typeface="微软雅黑"/>
                  </a:rPr>
                  <a:t>内容引爆资源</a:t>
                </a:r>
                <a:endParaRPr lang="zh-CN" altLang="en-US" sz="1100" dirty="0">
                  <a:solidFill>
                    <a:srgbClr val="383838"/>
                  </a:solidFill>
                  <a:latin typeface="微软雅黑"/>
                  <a:ea typeface="微软雅黑"/>
                  <a:cs typeface="微软雅黑"/>
                  <a:sym typeface="微软雅黑"/>
                </a:endParaRPr>
              </a:p>
            </p:txBody>
          </p:sp>
          <p:sp>
            <p:nvSpPr>
              <p:cNvPr id="204" name="显眼包PPT-29"/>
              <p:cNvSpPr/>
              <p:nvPr/>
            </p:nvSpPr>
            <p:spPr>
              <a:xfrm>
                <a:off x="3014" y="6449"/>
                <a:ext cx="2085"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站内热搜与热门</a:t>
                </a:r>
                <a:endParaRPr lang="en-US" altLang="zh-CN" sz="1000" dirty="0">
                  <a:solidFill>
                    <a:srgbClr val="383838"/>
                  </a:solidFill>
                  <a:latin typeface="微软雅黑"/>
                  <a:ea typeface="微软雅黑"/>
                  <a:cs typeface="微软雅黑"/>
                </a:endParaRPr>
              </a:p>
            </p:txBody>
          </p:sp>
        </p:grpSp>
        <p:grpSp>
          <p:nvGrpSpPr>
            <p:cNvPr id="205" name="组合 204"/>
            <p:cNvGrpSpPr/>
            <p:nvPr/>
          </p:nvGrpSpPr>
          <p:grpSpPr>
            <a:xfrm>
              <a:off x="2629" y="8397"/>
              <a:ext cx="2712" cy="1204"/>
              <a:chOff x="2663" y="5589"/>
              <a:chExt cx="2712" cy="1204"/>
            </a:xfrm>
          </p:grpSpPr>
          <p:sp>
            <p:nvSpPr>
              <p:cNvPr id="206" name="显眼包PPT-29"/>
              <p:cNvSpPr/>
              <p:nvPr/>
            </p:nvSpPr>
            <p:spPr>
              <a:xfrm>
                <a:off x="3014" y="6009"/>
                <a:ext cx="2011"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sz="1000" dirty="0">
                    <a:solidFill>
                      <a:srgbClr val="383838"/>
                    </a:solidFill>
                    <a:latin typeface="微软雅黑"/>
                    <a:ea typeface="微软雅黑"/>
                    <a:cs typeface="微软雅黑"/>
                  </a:rPr>
                  <a:t>热门品类赛道</a:t>
                </a:r>
                <a:endParaRPr lang="zh-CN" sz="1000" dirty="0">
                  <a:solidFill>
                    <a:srgbClr val="383838"/>
                  </a:solidFill>
                  <a:latin typeface="微软雅黑"/>
                  <a:ea typeface="微软雅黑"/>
                  <a:cs typeface="微软雅黑"/>
                </a:endParaRPr>
              </a:p>
            </p:txBody>
          </p:sp>
          <p:sp>
            <p:nvSpPr>
              <p:cNvPr id="207"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3.</a:t>
                </a:r>
                <a:r>
                  <a:rPr lang="zh-CN" altLang="en-US" sz="1100" dirty="0">
                    <a:solidFill>
                      <a:srgbClr val="383838"/>
                    </a:solidFill>
                    <a:latin typeface="微软雅黑"/>
                    <a:ea typeface="微软雅黑"/>
                    <a:cs typeface="微软雅黑"/>
                    <a:sym typeface="微软雅黑"/>
                  </a:rPr>
                  <a:t>趋势场景切入</a:t>
                </a:r>
                <a:endParaRPr lang="zh-CN" altLang="en-US" sz="1100" dirty="0">
                  <a:solidFill>
                    <a:srgbClr val="383838"/>
                  </a:solidFill>
                  <a:latin typeface="微软雅黑"/>
                  <a:ea typeface="微软雅黑"/>
                  <a:cs typeface="微软雅黑"/>
                  <a:sym typeface="微软雅黑"/>
                </a:endParaRPr>
              </a:p>
            </p:txBody>
          </p:sp>
          <p:sp>
            <p:nvSpPr>
              <p:cNvPr id="208" name="显眼包PPT-29"/>
              <p:cNvSpPr/>
              <p:nvPr/>
            </p:nvSpPr>
            <p:spPr>
              <a:xfrm>
                <a:off x="3229" y="6449"/>
                <a:ext cx="1592" cy="344"/>
              </a:xfrm>
              <a:prstGeom prst="roundRect">
                <a:avLst>
                  <a:gd name="adj" fmla="val 50000"/>
                </a:avLst>
              </a:prstGeom>
              <a:gradFill flip="none" rotWithShape="1">
                <a:gsLst>
                  <a:gs pos="18000">
                    <a:srgbClr val="B3D4FE"/>
                  </a:gs>
                  <a:gs pos="100000">
                    <a:srgbClr val="B3D4FE"/>
                  </a:gs>
                </a:gsLst>
                <a:lin ang="13500000" scaled="1"/>
                <a:tileRect/>
              </a:gradFill>
              <a:ln>
                <a:noFill/>
              </a:ln>
              <a:effectLst>
                <a:innerShdw blurRad="63500">
                  <a:srgbClr val="B3D4FE"/>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场景化内容</a:t>
                </a:r>
                <a:endParaRPr lang="zh-CN" sz="1000" dirty="0">
                  <a:solidFill>
                    <a:srgbClr val="383838"/>
                  </a:solidFill>
                  <a:latin typeface="微软雅黑"/>
                  <a:ea typeface="微软雅黑"/>
                  <a:cs typeface="微软雅黑"/>
                </a:endParaRPr>
              </a:p>
            </p:txBody>
          </p:sp>
        </p:grpSp>
      </p:grpSp>
      <p:grpSp>
        <p:nvGrpSpPr>
          <p:cNvPr id="209" name="组合 208"/>
          <p:cNvGrpSpPr/>
          <p:nvPr/>
        </p:nvGrpSpPr>
        <p:grpSpPr>
          <a:xfrm>
            <a:off x="8793798" y="3560445"/>
            <a:ext cx="1743710" cy="2559050"/>
            <a:chOff x="2595" y="5571"/>
            <a:chExt cx="2746" cy="4030"/>
          </a:xfrm>
        </p:grpSpPr>
        <p:grpSp>
          <p:nvGrpSpPr>
            <p:cNvPr id="211" name="组合 210"/>
            <p:cNvGrpSpPr/>
            <p:nvPr/>
          </p:nvGrpSpPr>
          <p:grpSpPr>
            <a:xfrm>
              <a:off x="2595" y="5571"/>
              <a:ext cx="2746" cy="1204"/>
              <a:chOff x="2629" y="5589"/>
              <a:chExt cx="2746" cy="1204"/>
            </a:xfrm>
          </p:grpSpPr>
          <p:sp>
            <p:nvSpPr>
              <p:cNvPr id="212" name="显眼包PPT-29"/>
              <p:cNvSpPr/>
              <p:nvPr/>
            </p:nvSpPr>
            <p:spPr>
              <a:xfrm>
                <a:off x="2891" y="6009"/>
                <a:ext cx="2215"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rPr>
                  <a:t>看测评等内容消费时刻</a:t>
                </a:r>
                <a:endParaRPr lang="zh-CN" sz="1000" dirty="0">
                  <a:solidFill>
                    <a:srgbClr val="FFFFFF"/>
                  </a:solidFill>
                  <a:latin typeface="微软雅黑"/>
                  <a:ea typeface="微软雅黑"/>
                  <a:cs typeface="微软雅黑"/>
                </a:endParaRPr>
              </a:p>
            </p:txBody>
          </p:sp>
          <p:sp>
            <p:nvSpPr>
              <p:cNvPr id="213"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1.</a:t>
                </a:r>
                <a:r>
                  <a:rPr lang="zh-CN" altLang="en-US" sz="1100" dirty="0">
                    <a:solidFill>
                      <a:srgbClr val="383838"/>
                    </a:solidFill>
                    <a:latin typeface="微软雅黑"/>
                    <a:ea typeface="微软雅黑"/>
                    <a:cs typeface="微软雅黑"/>
                    <a:sym typeface="微软雅黑"/>
                  </a:rPr>
                  <a:t>日常高动机场景</a:t>
                </a:r>
                <a:endParaRPr lang="zh-CN" altLang="en-US" sz="1100" dirty="0">
                  <a:solidFill>
                    <a:srgbClr val="383838"/>
                  </a:solidFill>
                  <a:latin typeface="微软雅黑"/>
                  <a:ea typeface="微软雅黑"/>
                  <a:cs typeface="微软雅黑"/>
                  <a:sym typeface="微软雅黑"/>
                </a:endParaRPr>
              </a:p>
            </p:txBody>
          </p:sp>
          <p:sp>
            <p:nvSpPr>
              <p:cNvPr id="214" name="显眼包PPT-29"/>
              <p:cNvSpPr/>
              <p:nvPr/>
            </p:nvSpPr>
            <p:spPr>
              <a:xfrm>
                <a:off x="2629" y="6449"/>
                <a:ext cx="2745"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纪念日</a:t>
                </a:r>
                <a:r>
                  <a:rPr lang="en-US" altLang="zh-CN"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游戏等情感兴趣时刻</a:t>
                </a:r>
                <a:endParaRPr lang="zh-CN" altLang="en-US" sz="1000" dirty="0">
                  <a:solidFill>
                    <a:srgbClr val="FFFFFF"/>
                  </a:solidFill>
                  <a:latin typeface="微软雅黑"/>
                  <a:ea typeface="微软雅黑"/>
                  <a:cs typeface="微软雅黑"/>
                  <a:sym typeface="微软雅黑"/>
                </a:endParaRPr>
              </a:p>
            </p:txBody>
          </p:sp>
        </p:grpSp>
        <p:grpSp>
          <p:nvGrpSpPr>
            <p:cNvPr id="215" name="组合 214"/>
            <p:cNvGrpSpPr/>
            <p:nvPr/>
          </p:nvGrpSpPr>
          <p:grpSpPr>
            <a:xfrm>
              <a:off x="2629" y="6984"/>
              <a:ext cx="2712" cy="1204"/>
              <a:chOff x="2663" y="5589"/>
              <a:chExt cx="2712" cy="1204"/>
            </a:xfrm>
          </p:grpSpPr>
          <p:sp>
            <p:nvSpPr>
              <p:cNvPr id="216" name="显眼包PPT-29"/>
              <p:cNvSpPr/>
              <p:nvPr/>
            </p:nvSpPr>
            <p:spPr>
              <a:xfrm>
                <a:off x="3014" y="6009"/>
                <a:ext cx="2011"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en-US"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花火</a:t>
                </a:r>
                <a:r>
                  <a:rPr lang="en-US" altLang="zh-CN"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起飞</a:t>
                </a:r>
                <a:r>
                  <a:rPr lang="en-US" sz="1000" dirty="0">
                    <a:solidFill>
                      <a:srgbClr val="FFFFFF"/>
                    </a:solidFill>
                    <a:latin typeface="微软雅黑"/>
                    <a:ea typeface="微软雅黑"/>
                    <a:cs typeface="微软雅黑"/>
                    <a:sym typeface="微软雅黑"/>
                  </a:rPr>
                  <a:t>”</a:t>
                </a:r>
                <a:r>
                  <a:rPr lang="zh-CN" altLang="en-US" sz="1000" dirty="0">
                    <a:solidFill>
                      <a:srgbClr val="FFFFFF"/>
                    </a:solidFill>
                    <a:latin typeface="微软雅黑"/>
                    <a:ea typeface="微软雅黑"/>
                    <a:cs typeface="微软雅黑"/>
                    <a:sym typeface="微软雅黑"/>
                  </a:rPr>
                  <a:t>组合</a:t>
                </a:r>
                <a:endParaRPr lang="zh-CN" altLang="en-US" sz="1000" dirty="0">
                  <a:solidFill>
                    <a:srgbClr val="FFFFFF"/>
                  </a:solidFill>
                  <a:latin typeface="微软雅黑"/>
                  <a:ea typeface="微软雅黑"/>
                  <a:cs typeface="微软雅黑"/>
                  <a:sym typeface="微软雅黑"/>
                </a:endParaRPr>
              </a:p>
            </p:txBody>
          </p:sp>
          <p:sp>
            <p:nvSpPr>
              <p:cNvPr id="217"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2.</a:t>
                </a:r>
                <a:r>
                  <a:rPr lang="zh-CN" altLang="en-US" sz="1100" dirty="0">
                    <a:solidFill>
                      <a:srgbClr val="383838"/>
                    </a:solidFill>
                    <a:latin typeface="微软雅黑"/>
                    <a:ea typeface="微软雅黑"/>
                    <a:cs typeface="微软雅黑"/>
                    <a:sym typeface="微软雅黑"/>
                  </a:rPr>
                  <a:t>转化产品组合</a:t>
                </a:r>
                <a:endParaRPr lang="zh-CN" altLang="en-US" sz="1100" dirty="0">
                  <a:solidFill>
                    <a:srgbClr val="383838"/>
                  </a:solidFill>
                  <a:latin typeface="微软雅黑"/>
                  <a:ea typeface="微软雅黑"/>
                  <a:cs typeface="微软雅黑"/>
                  <a:sym typeface="微软雅黑"/>
                </a:endParaRPr>
              </a:p>
            </p:txBody>
          </p:sp>
          <p:sp>
            <p:nvSpPr>
              <p:cNvPr id="218" name="显眼包PPT-29"/>
              <p:cNvSpPr/>
              <p:nvPr/>
            </p:nvSpPr>
            <p:spPr>
              <a:xfrm>
                <a:off x="2890" y="6449"/>
                <a:ext cx="2284"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en-US" sz="1000" dirty="0">
                    <a:solidFill>
                      <a:srgbClr val="FFFFFF"/>
                    </a:solidFill>
                    <a:latin typeface="微软雅黑"/>
                    <a:ea typeface="微软雅黑"/>
                    <a:cs typeface="微软雅黑"/>
                    <a:sym typeface="微软雅黑"/>
                  </a:rPr>
                  <a:t>X</a:t>
                </a:r>
                <a:r>
                  <a:rPr lang="zh-CN" altLang="en-US" sz="1000" dirty="0">
                    <a:solidFill>
                      <a:srgbClr val="FFFFFF"/>
                    </a:solidFill>
                    <a:latin typeface="微软雅黑"/>
                    <a:ea typeface="微软雅黑"/>
                    <a:cs typeface="微软雅黑"/>
                    <a:sym typeface="微软雅黑"/>
                  </a:rPr>
                  <a:t>火计划</a:t>
                </a:r>
                <a:endParaRPr lang="zh-CN" altLang="en-US" sz="1000" dirty="0">
                  <a:solidFill>
                    <a:srgbClr val="FFFFFF"/>
                  </a:solidFill>
                  <a:latin typeface="微软雅黑"/>
                  <a:ea typeface="微软雅黑"/>
                  <a:cs typeface="微软雅黑"/>
                  <a:sym typeface="微软雅黑"/>
                </a:endParaRPr>
              </a:p>
            </p:txBody>
          </p:sp>
        </p:grpSp>
        <p:grpSp>
          <p:nvGrpSpPr>
            <p:cNvPr id="219" name="组合 218"/>
            <p:cNvGrpSpPr/>
            <p:nvPr/>
          </p:nvGrpSpPr>
          <p:grpSpPr>
            <a:xfrm>
              <a:off x="2629" y="8397"/>
              <a:ext cx="2712" cy="1204"/>
              <a:chOff x="2663" y="5589"/>
              <a:chExt cx="2712" cy="1204"/>
            </a:xfrm>
          </p:grpSpPr>
          <p:sp>
            <p:nvSpPr>
              <p:cNvPr id="220" name="显眼包PPT-29"/>
              <p:cNvSpPr/>
              <p:nvPr/>
            </p:nvSpPr>
            <p:spPr>
              <a:xfrm>
                <a:off x="2808" y="6009"/>
                <a:ext cx="2297"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en-US" sz="1000" dirty="0">
                    <a:solidFill>
                      <a:srgbClr val="FFFFFF"/>
                    </a:solidFill>
                    <a:latin typeface="微软雅黑"/>
                    <a:ea typeface="微软雅黑"/>
                    <a:cs typeface="微软雅黑"/>
                    <a:sym typeface="微软雅黑"/>
                  </a:rPr>
                  <a:t>B</a:t>
                </a:r>
                <a:r>
                  <a:rPr lang="zh-CN" altLang="en-US" sz="1000" dirty="0">
                    <a:solidFill>
                      <a:srgbClr val="FFFFFF"/>
                    </a:solidFill>
                    <a:latin typeface="微软雅黑"/>
                    <a:ea typeface="微软雅黑"/>
                    <a:cs typeface="微软雅黑"/>
                    <a:sym typeface="微软雅黑"/>
                  </a:rPr>
                  <a:t>站、抖音、小红书</a:t>
                </a:r>
                <a:endParaRPr lang="en-US" altLang="zh-CN" sz="1000" dirty="0">
                  <a:solidFill>
                    <a:srgbClr val="FFFFFF"/>
                  </a:solidFill>
                  <a:latin typeface="微软雅黑"/>
                  <a:ea typeface="微软雅黑"/>
                  <a:cs typeface="微软雅黑"/>
                  <a:sym typeface="微软雅黑"/>
                </a:endParaRPr>
              </a:p>
            </p:txBody>
          </p:sp>
          <p:sp>
            <p:nvSpPr>
              <p:cNvPr id="221" name="显眼包PPT24"/>
              <p:cNvSpPr/>
              <p:nvPr/>
            </p:nvSpPr>
            <p:spPr>
              <a:xfrm>
                <a:off x="2663" y="5589"/>
                <a:ext cx="2712" cy="355"/>
              </a:xfrm>
              <a:prstGeom prst="rect">
                <a:avLst/>
              </a:prstGeom>
              <a:no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100" dirty="0">
                    <a:solidFill>
                      <a:srgbClr val="383838"/>
                    </a:solidFill>
                    <a:latin typeface="微软雅黑"/>
                    <a:ea typeface="微软雅黑"/>
                    <a:cs typeface="微软雅黑"/>
                    <a:sym typeface="微软雅黑"/>
                  </a:rPr>
                  <a:t>3.</a:t>
                </a:r>
                <a:r>
                  <a:rPr lang="zh-CN" altLang="en-US" sz="1100" dirty="0">
                    <a:solidFill>
                      <a:srgbClr val="383838"/>
                    </a:solidFill>
                    <a:latin typeface="微软雅黑"/>
                    <a:ea typeface="微软雅黑"/>
                    <a:cs typeface="微软雅黑"/>
                    <a:sym typeface="微软雅黑"/>
                  </a:rPr>
                  <a:t>新兴转化场域</a:t>
                </a:r>
                <a:endParaRPr lang="zh-CN" altLang="en-US" sz="1100" dirty="0">
                  <a:solidFill>
                    <a:srgbClr val="383838"/>
                  </a:solidFill>
                  <a:latin typeface="微软雅黑"/>
                  <a:ea typeface="微软雅黑"/>
                  <a:cs typeface="微软雅黑"/>
                  <a:sym typeface="微软雅黑"/>
                </a:endParaRPr>
              </a:p>
            </p:txBody>
          </p:sp>
          <p:sp>
            <p:nvSpPr>
              <p:cNvPr id="222" name="显眼包PPT-29"/>
              <p:cNvSpPr/>
              <p:nvPr/>
            </p:nvSpPr>
            <p:spPr>
              <a:xfrm>
                <a:off x="3216" y="6449"/>
                <a:ext cx="1590" cy="344"/>
              </a:xfrm>
              <a:prstGeom prst="roundRect">
                <a:avLst>
                  <a:gd name="adj" fmla="val 50000"/>
                </a:avLst>
              </a:prstGeom>
              <a:gradFill flip="none" rotWithShape="1">
                <a:gsLst>
                  <a:gs pos="18000">
                    <a:srgbClr val="3368FF"/>
                  </a:gs>
                  <a:gs pos="100000">
                    <a:srgbClr val="668EFF"/>
                  </a:gs>
                </a:gsLst>
                <a:lin ang="13500000" scaled="1"/>
                <a:tileRect/>
              </a:gradFill>
              <a:ln>
                <a:noFill/>
              </a:ln>
              <a:effectLst>
                <a:innerShdw blurRad="63500">
                  <a:srgbClr val="668EFF"/>
                </a:innerShdw>
              </a:effectLst>
            </p:spPr>
            <p:style>
              <a:lnRef idx="2">
                <a:srgbClr val="0042FF"/>
              </a:lnRef>
              <a:fillRef idx="1">
                <a:srgbClr val="0042FF"/>
              </a:fillRef>
              <a:effectRef idx="0">
                <a:srgbClr val="0042FF"/>
              </a:effectRef>
              <a:fontRef idx="minor">
                <a:srgbClr val="FFFFFF"/>
              </a:fontRef>
            </p:style>
            <p:txBody>
              <a:bodyPr wrap="none" rtlCol="0" anchor="ctr" lIns="0" rIns="0" tIns="0" bIns="0">
                <a:noAutofit/>
              </a:bodyPr>
              <a:lstStyle/>
              <a:p>
                <a:pPr algn="ctr">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sym typeface="微软雅黑"/>
                  </a:rPr>
                  <a:t>直播带货</a:t>
                </a:r>
                <a:endParaRPr lang="zh-CN" sz="1000" dirty="0">
                  <a:solidFill>
                    <a:srgbClr val="FFFFFF"/>
                  </a:solidFill>
                  <a:latin typeface="微软雅黑"/>
                  <a:ea typeface="微软雅黑"/>
                  <a:cs typeface="微软雅黑"/>
                  <a:sym typeface="微软雅黑"/>
                </a:endParaRPr>
              </a:p>
            </p:txBody>
          </p:sp>
        </p:gr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快修连锁竞争优势分析</a:t>
            </a:r>
            <a:endParaRPr sz="2500" b="0">
              <a:solidFill>
                <a:srgbClr val="383838"/>
              </a:solidFill>
              <a:effectLst/>
              <a:latin typeface="微软雅黑"/>
              <a:ea typeface="微软雅黑"/>
              <a:cs typeface="微软雅黑"/>
            </a:endParaRPr>
          </a:p>
        </p:txBody>
      </p:sp>
      <p:sp>
        <p:nvSpPr>
          <p:cNvPr id="3" name="任意多边形: 形状 307"/>
          <p:cNvSpPr/>
          <p:nvPr>
            <p:custDataLst>
              <p:tags r:id="rId1"/>
            </p:custDataLst>
          </p:nvPr>
        </p:nvSpPr>
        <p:spPr>
          <a:xfrm>
            <a:off x="5268595" y="1071880"/>
            <a:ext cx="1812290" cy="30321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a:gsLst>
              <a:gs pos="0">
                <a:srgbClr val="B3D4FE">
                  <a:alpha val="0"/>
                </a:srgbClr>
              </a:gs>
              <a:gs pos="100000">
                <a:srgbClr val="B3D4FE"/>
              </a:gs>
            </a:gsLst>
            <a:lin ang="162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3" name="不完整圆 235"/>
          <p:cNvSpPr/>
          <p:nvPr>
            <p:custDataLst>
              <p:tags r:id="rId2"/>
            </p:custDataLst>
          </p:nvPr>
        </p:nvSpPr>
        <p:spPr>
          <a:xfrm>
            <a:off x="2191556" y="4703617"/>
            <a:ext cx="7870963" cy="150342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solidFill>
            <a:srgbClr val="3368FF">
              <a:alpha val="15000"/>
            </a:srgbClr>
          </a:solidFill>
          <a:ln w="12700">
            <a:gradFill flip="none" rotWithShape="1">
              <a:gsLst>
                <a:gs pos="0">
                  <a:srgbClr val="3368FF">
                    <a:alpha val="0"/>
                  </a:srgbClr>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grpSp>
        <p:nvGrpSpPr>
          <p:cNvPr id="18" name="组合 17"/>
          <p:cNvGrpSpPr/>
          <p:nvPr/>
        </p:nvGrpSpPr>
        <p:grpSpPr>
          <a:xfrm>
            <a:off x="4349844" y="4902935"/>
            <a:ext cx="3539785" cy="787327"/>
            <a:chOff x="4349844" y="5010250"/>
            <a:chExt cx="3539785" cy="787327"/>
          </a:xfrm>
        </p:grpSpPr>
        <p:sp>
          <p:nvSpPr>
            <p:cNvPr id="20" name="椭圆 19"/>
            <p:cNvSpPr/>
            <p:nvPr>
              <p:custDataLst>
                <p:tags r:id="rId3"/>
              </p:custDataLst>
            </p:nvPr>
          </p:nvSpPr>
          <p:spPr>
            <a:xfrm>
              <a:off x="4357390" y="5073677"/>
              <a:ext cx="3532239" cy="723900"/>
            </a:xfrm>
            <a:prstGeom prst="ellipse">
              <a:avLst/>
            </a:prstGeom>
            <a:gradFill flip="none" rotWithShape="1">
              <a:gsLst>
                <a:gs pos="16000">
                  <a:srgbClr val="0042FF"/>
                </a:gs>
                <a:gs pos="90000">
                  <a:srgbClr val="0042FF"/>
                </a:gs>
                <a:gs pos="55000">
                  <a:srgbClr val="0042FF"/>
                </a:gs>
              </a:gsLst>
              <a:lin ang="0" scaled="1"/>
              <a:tileRect/>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800">
                <a:solidFill>
                  <a:srgbClr val="FFFFFF"/>
                </a:solidFill>
                <a:latin typeface="微软雅黑"/>
                <a:ea typeface="微软雅黑"/>
                <a:cs typeface="微软雅黑"/>
              </a:endParaRPr>
            </a:p>
          </p:txBody>
        </p:sp>
        <p:sp>
          <p:nvSpPr>
            <p:cNvPr id="21" name="椭圆 20"/>
            <p:cNvSpPr/>
            <p:nvPr>
              <p:custDataLst>
                <p:tags r:id="rId4"/>
              </p:custDataLst>
            </p:nvPr>
          </p:nvSpPr>
          <p:spPr>
            <a:xfrm>
              <a:off x="4349844" y="5010250"/>
              <a:ext cx="3532239" cy="723900"/>
            </a:xfrm>
            <a:prstGeom prst="ellipse">
              <a:avLst/>
            </a:prstGeom>
            <a:gradFill>
              <a:gsLst>
                <a:gs pos="0">
                  <a:srgbClr val="668EFF"/>
                </a:gs>
                <a:gs pos="100000">
                  <a:srgbClr val="3368FF"/>
                </a:gs>
              </a:gsLst>
              <a:lin ang="2700000" scaled="1"/>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800" dirty="0">
                <a:solidFill>
                  <a:srgbClr val="FFFFFF"/>
                </a:solidFill>
                <a:latin typeface="微软雅黑"/>
                <a:ea typeface="微软雅黑"/>
                <a:cs typeface="微软雅黑"/>
              </a:endParaRPr>
            </a:p>
          </p:txBody>
        </p:sp>
      </p:grpSp>
      <p:sp>
        <p:nvSpPr>
          <p:cNvPr id="2" name="梯形 322"/>
          <p:cNvSpPr/>
          <p:nvPr>
            <p:custDataLst>
              <p:tags r:id="rId5"/>
            </p:custDataLst>
          </p:nvPr>
        </p:nvSpPr>
        <p:spPr>
          <a:xfrm rot="10800000">
            <a:off x="4079240" y="2948940"/>
            <a:ext cx="4124960" cy="2376170"/>
          </a:xfrm>
          <a:custGeom>
            <a:avLst/>
            <a:gdLst>
              <a:gd name="connsiteX0" fmla="*/ 0 w 965390"/>
              <a:gd name="connsiteY0" fmla="*/ 697627 h 697627"/>
              <a:gd name="connsiteX1" fmla="*/ 174407 w 965390"/>
              <a:gd name="connsiteY1" fmla="*/ 0 h 697627"/>
              <a:gd name="connsiteX2" fmla="*/ 790983 w 965390"/>
              <a:gd name="connsiteY2" fmla="*/ 0 h 697627"/>
              <a:gd name="connsiteX3" fmla="*/ 965390 w 965390"/>
              <a:gd name="connsiteY3" fmla="*/ 697627 h 697627"/>
              <a:gd name="connsiteX4" fmla="*/ 0 w 965390"/>
              <a:gd name="connsiteY4" fmla="*/ 697627 h 697627"/>
              <a:gd name="connsiteX0-1" fmla="*/ 0 w 965390"/>
              <a:gd name="connsiteY0-2" fmla="*/ 697627 h 697627"/>
              <a:gd name="connsiteX1-3" fmla="*/ 174407 w 965390"/>
              <a:gd name="connsiteY1-4" fmla="*/ 0 h 697627"/>
              <a:gd name="connsiteX2-5" fmla="*/ 790983 w 965390"/>
              <a:gd name="connsiteY2-6" fmla="*/ 0 h 697627"/>
              <a:gd name="connsiteX3-7" fmla="*/ 965390 w 965390"/>
              <a:gd name="connsiteY3-8" fmla="*/ 697627 h 697627"/>
              <a:gd name="connsiteX4-9" fmla="*/ 0 w 965390"/>
              <a:gd name="connsiteY4-10" fmla="*/ 697627 h 697627"/>
              <a:gd name="connsiteX0-11" fmla="*/ 0 w 965390"/>
              <a:gd name="connsiteY0-12" fmla="*/ 697627 h 697627"/>
              <a:gd name="connsiteX1-13" fmla="*/ 174407 w 965390"/>
              <a:gd name="connsiteY1-14" fmla="*/ 0 h 697627"/>
              <a:gd name="connsiteX2-15" fmla="*/ 790983 w 965390"/>
              <a:gd name="connsiteY2-16" fmla="*/ 0 h 697627"/>
              <a:gd name="connsiteX3-17" fmla="*/ 965390 w 965390"/>
              <a:gd name="connsiteY3-18" fmla="*/ 697627 h 697627"/>
              <a:gd name="connsiteX4-19" fmla="*/ 0 w 965390"/>
              <a:gd name="connsiteY4-20" fmla="*/ 697627 h 697627"/>
              <a:gd name="connsiteX0-21" fmla="*/ 0 w 965390"/>
              <a:gd name="connsiteY0-22" fmla="*/ 697627 h 697627"/>
              <a:gd name="connsiteX1-23" fmla="*/ 174407 w 965390"/>
              <a:gd name="connsiteY1-24" fmla="*/ 0 h 697627"/>
              <a:gd name="connsiteX2-25" fmla="*/ 790983 w 965390"/>
              <a:gd name="connsiteY2-26" fmla="*/ 0 h 697627"/>
              <a:gd name="connsiteX3-27" fmla="*/ 965390 w 965390"/>
              <a:gd name="connsiteY3-28" fmla="*/ 697627 h 697627"/>
              <a:gd name="connsiteX4-29" fmla="*/ 0 w 965390"/>
              <a:gd name="connsiteY4-30" fmla="*/ 697627 h 697627"/>
              <a:gd name="connsiteX0-31" fmla="*/ 0 w 965390"/>
              <a:gd name="connsiteY0-32" fmla="*/ 697627 h 697627"/>
              <a:gd name="connsiteX1-33" fmla="*/ 174407 w 965390"/>
              <a:gd name="connsiteY1-34" fmla="*/ 0 h 697627"/>
              <a:gd name="connsiteX2-35" fmla="*/ 790983 w 965390"/>
              <a:gd name="connsiteY2-36" fmla="*/ 0 h 697627"/>
              <a:gd name="connsiteX3-37" fmla="*/ 965390 w 965390"/>
              <a:gd name="connsiteY3-38" fmla="*/ 697627 h 697627"/>
              <a:gd name="connsiteX4-39" fmla="*/ 0 w 965390"/>
              <a:gd name="connsiteY4-40" fmla="*/ 697627 h 697627"/>
              <a:gd name="connsiteX0-41" fmla="*/ 0 w 965390"/>
              <a:gd name="connsiteY0-42" fmla="*/ 697627 h 697627"/>
              <a:gd name="connsiteX1-43" fmla="*/ 174407 w 965390"/>
              <a:gd name="connsiteY1-44" fmla="*/ 0 h 697627"/>
              <a:gd name="connsiteX2-45" fmla="*/ 745261 w 965390"/>
              <a:gd name="connsiteY2-46" fmla="*/ 0 h 697627"/>
              <a:gd name="connsiteX3-47" fmla="*/ 965390 w 965390"/>
              <a:gd name="connsiteY3-48" fmla="*/ 697627 h 697627"/>
              <a:gd name="connsiteX4-49" fmla="*/ 0 w 965390"/>
              <a:gd name="connsiteY4-50" fmla="*/ 697627 h 697627"/>
              <a:gd name="connsiteX0-51" fmla="*/ 0 w 965390"/>
              <a:gd name="connsiteY0-52" fmla="*/ 697627 h 697627"/>
              <a:gd name="connsiteX1-53" fmla="*/ 197267 w 965390"/>
              <a:gd name="connsiteY1-54" fmla="*/ 0 h 697627"/>
              <a:gd name="connsiteX2-55" fmla="*/ 745261 w 965390"/>
              <a:gd name="connsiteY2-56" fmla="*/ 0 h 697627"/>
              <a:gd name="connsiteX3-57" fmla="*/ 965390 w 965390"/>
              <a:gd name="connsiteY3-58" fmla="*/ 697627 h 697627"/>
              <a:gd name="connsiteX4-59" fmla="*/ 0 w 965390"/>
              <a:gd name="connsiteY4-60" fmla="*/ 697627 h 69762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65390" h="697627">
                <a:moveTo>
                  <a:pt x="0" y="697627"/>
                </a:moveTo>
                <a:cubicBezTo>
                  <a:pt x="142112" y="493080"/>
                  <a:pt x="223106" y="307190"/>
                  <a:pt x="197267" y="0"/>
                </a:cubicBezTo>
                <a:lnTo>
                  <a:pt x="745261" y="0"/>
                </a:lnTo>
                <a:cubicBezTo>
                  <a:pt x="747414" y="269867"/>
                  <a:pt x="823278" y="399774"/>
                  <a:pt x="965390" y="697627"/>
                </a:cubicBezTo>
                <a:lnTo>
                  <a:pt x="0" y="697627"/>
                </a:lnTo>
                <a:close/>
              </a:path>
            </a:pathLst>
          </a:custGeom>
          <a:gradFill flip="none" rotWithShape="1">
            <a:gsLst>
              <a:gs pos="0">
                <a:srgbClr val="668EFF">
                  <a:alpha val="0"/>
                </a:srgbClr>
              </a:gs>
              <a:gs pos="100000">
                <a:srgbClr val="668EFF">
                  <a:alpha val="30000"/>
                </a:srgbClr>
              </a:gs>
            </a:gsLst>
            <a:lin ang="13500000" scaled="1"/>
          </a:gradFill>
          <a:ln>
            <a:gradFill flip="none" rotWithShape="1">
              <a:gsLst>
                <a:gs pos="50500">
                  <a:srgbClr val="3368FF"/>
                </a:gs>
                <a:gs pos="0">
                  <a:srgbClr val="3368FF">
                    <a:alpha val="0"/>
                  </a:srgbClr>
                </a:gs>
                <a:gs pos="100000">
                  <a:srgbClr val="3368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800">
              <a:solidFill>
                <a:srgbClr val="383838"/>
              </a:solidFill>
              <a:latin typeface="微软雅黑"/>
              <a:ea typeface="微软雅黑"/>
              <a:cs typeface="微软雅黑"/>
            </a:endParaRPr>
          </a:p>
        </p:txBody>
      </p:sp>
      <p:sp>
        <p:nvSpPr>
          <p:cNvPr id="61" name="不完整圆 235"/>
          <p:cNvSpPr/>
          <p:nvPr>
            <p:custDataLst>
              <p:tags r:id="rId6"/>
            </p:custDataLst>
          </p:nvPr>
        </p:nvSpPr>
        <p:spPr>
          <a:xfrm>
            <a:off x="2992247" y="2356458"/>
            <a:ext cx="6269582" cy="119754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57000">
                <a:srgbClr val="E6E6E6">
                  <a:alpha val="0"/>
                </a:srgbClr>
              </a:gs>
              <a:gs pos="100000">
                <a:srgbClr val="E6E6E6"/>
              </a:gs>
            </a:gsLst>
            <a:path path="circle">
              <a:fillToRect l="50000" t="50000" r="50000" b="50000"/>
            </a:path>
            <a:tileRect/>
          </a:gradFill>
          <a:ln w="12700">
            <a:gradFill flip="none" rotWithShape="1">
              <a:gsLst>
                <a:gs pos="0">
                  <a:srgbClr val="668EFF">
                    <a:alpha val="0"/>
                  </a:srgbClr>
                </a:gs>
                <a:gs pos="100000">
                  <a:srgbClr val="668E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66" name="椭圆 65"/>
          <p:cNvSpPr/>
          <p:nvPr>
            <p:custDataLst>
              <p:tags r:id="rId7"/>
            </p:custDataLst>
          </p:nvPr>
        </p:nvSpPr>
        <p:spPr>
          <a:xfrm>
            <a:off x="3604260" y="3256915"/>
            <a:ext cx="85725" cy="85725"/>
          </a:xfrm>
          <a:prstGeom prst="ellipse">
            <a:avLst/>
          </a:prstGeom>
          <a:solidFill>
            <a:srgbClr val="FFFFFF"/>
          </a:solidFill>
          <a:ln>
            <a:noFill/>
          </a:ln>
          <a:effectLst>
            <a:outerShdw blurRad="13716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67" name="椭圆 66"/>
          <p:cNvSpPr/>
          <p:nvPr>
            <p:custDataLst>
              <p:tags r:id="rId8"/>
            </p:custDataLst>
          </p:nvPr>
        </p:nvSpPr>
        <p:spPr>
          <a:xfrm>
            <a:off x="3627755" y="3280410"/>
            <a:ext cx="38735" cy="38735"/>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sp>
        <p:nvSpPr>
          <p:cNvPr id="7" name="任意多边形: 形状 255"/>
          <p:cNvSpPr/>
          <p:nvPr>
            <p:custDataLst>
              <p:tags r:id="rId9"/>
            </p:custDataLst>
          </p:nvPr>
        </p:nvSpPr>
        <p:spPr>
          <a:xfrm rot="10800000">
            <a:off x="9184970" y="2871083"/>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1800">
              <a:solidFill>
                <a:srgbClr val="FFFFFF"/>
              </a:solidFill>
              <a:latin typeface="微软雅黑"/>
              <a:ea typeface="微软雅黑"/>
              <a:cs typeface="微软雅黑"/>
            </a:endParaRPr>
          </a:p>
        </p:txBody>
      </p:sp>
      <p:sp>
        <p:nvSpPr>
          <p:cNvPr id="8" name="任意多边形: 形状 256"/>
          <p:cNvSpPr/>
          <p:nvPr>
            <p:custDataLst>
              <p:tags r:id="rId10"/>
            </p:custDataLst>
          </p:nvPr>
        </p:nvSpPr>
        <p:spPr>
          <a:xfrm rot="21412510">
            <a:off x="2930171" y="2871083"/>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1800">
              <a:solidFill>
                <a:srgbClr val="FFFFFF"/>
              </a:solidFill>
              <a:latin typeface="微软雅黑"/>
              <a:ea typeface="微软雅黑"/>
              <a:cs typeface="微软雅黑"/>
            </a:endParaRPr>
          </a:p>
        </p:txBody>
      </p:sp>
      <p:sp>
        <p:nvSpPr>
          <p:cNvPr id="9" name="不完整圆 235"/>
          <p:cNvSpPr/>
          <p:nvPr>
            <p:custDataLst>
              <p:tags r:id="rId11"/>
            </p:custDataLst>
          </p:nvPr>
        </p:nvSpPr>
        <p:spPr>
          <a:xfrm>
            <a:off x="3246152" y="3133401"/>
            <a:ext cx="5608054" cy="1071184"/>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57000">
                <a:srgbClr val="E6E6E6">
                  <a:alpha val="0"/>
                </a:srgbClr>
              </a:gs>
              <a:gs pos="100000">
                <a:srgbClr val="E6E6E6"/>
              </a:gs>
            </a:gsLst>
            <a:path path="circle">
              <a:fillToRect l="50000" t="50000" r="50000" b="50000"/>
            </a:path>
            <a:tileRect/>
          </a:gradFill>
          <a:ln w="12700">
            <a:gradFill flip="none" rotWithShape="1">
              <a:gsLst>
                <a:gs pos="0">
                  <a:srgbClr val="3368FF">
                    <a:alpha val="0"/>
                  </a:srgbClr>
                </a:gs>
                <a:gs pos="100000">
                  <a:srgbClr val="3368FF"/>
                </a:gs>
              </a:gsLst>
              <a:lin ang="5400000" scaled="1"/>
              <a:tileRect/>
            </a:gra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15" name="椭圆 14"/>
          <p:cNvSpPr/>
          <p:nvPr>
            <p:custDataLst>
              <p:tags r:id="rId12"/>
            </p:custDataLst>
          </p:nvPr>
        </p:nvSpPr>
        <p:spPr>
          <a:xfrm flipH="1">
            <a:off x="8061435" y="1780673"/>
            <a:ext cx="929803" cy="929802"/>
          </a:xfrm>
          <a:prstGeom prst="ellipse">
            <a:avLst/>
          </a:prstGeom>
          <a:gradFill>
            <a:gsLst>
              <a:gs pos="0">
                <a:srgbClr val="B3D4FE"/>
              </a:gs>
              <a:gs pos="93000">
                <a:srgbClr val="3368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2" name="右大括号 71"/>
          <p:cNvSpPr/>
          <p:nvPr>
            <p:custDataLst>
              <p:tags r:id="rId13"/>
            </p:custDataLst>
          </p:nvPr>
        </p:nvSpPr>
        <p:spPr>
          <a:xfrm>
            <a:off x="2587686" y="1385492"/>
            <a:ext cx="338157" cy="1716273"/>
          </a:xfrm>
          <a:prstGeom prst="rightBrace">
            <a:avLst>
              <a:gd name="adj1" fmla="val 53950"/>
              <a:gd name="adj2" fmla="val 50000"/>
            </a:avLst>
          </a:prstGeom>
          <a:no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279" name="椭圆 278"/>
          <p:cNvSpPr/>
          <p:nvPr>
            <p:custDataLst>
              <p:tags r:id="rId14"/>
            </p:custDataLst>
          </p:nvPr>
        </p:nvSpPr>
        <p:spPr>
          <a:xfrm flipH="1">
            <a:off x="3198035" y="1780673"/>
            <a:ext cx="929803" cy="929802"/>
          </a:xfrm>
          <a:prstGeom prst="ellipse">
            <a:avLst/>
          </a:prstGeom>
          <a:gradFill>
            <a:gsLst>
              <a:gs pos="0">
                <a:srgbClr val="B3D4FE"/>
              </a:gs>
              <a:gs pos="93000">
                <a:srgbClr val="3368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4" name="文本框 73"/>
          <p:cNvSpPr txBox="1"/>
          <p:nvPr>
            <p:custDataLst>
              <p:tags r:id="rId15"/>
            </p:custDataLst>
          </p:nvPr>
        </p:nvSpPr>
        <p:spPr>
          <a:xfrm>
            <a:off x="1513225" y="4963135"/>
            <a:ext cx="81160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客户画像</a:t>
            </a:r>
            <a:endParaRPr lang="zh-CN" altLang="en-US" sz="1200" dirty="0">
              <a:solidFill>
                <a:srgbClr val="383838"/>
              </a:solidFill>
              <a:latin typeface="微软雅黑"/>
              <a:ea typeface="微软雅黑"/>
              <a:cs typeface="微软雅黑"/>
            </a:endParaRPr>
          </a:p>
        </p:txBody>
      </p:sp>
      <p:sp>
        <p:nvSpPr>
          <p:cNvPr id="221" name="文本框 220"/>
          <p:cNvSpPr txBox="1"/>
          <p:nvPr>
            <p:custDataLst>
              <p:tags r:id="rId16"/>
            </p:custDataLst>
          </p:nvPr>
        </p:nvSpPr>
        <p:spPr>
          <a:xfrm>
            <a:off x="3276601" y="3469822"/>
            <a:ext cx="794532" cy="252730"/>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服务支持</a:t>
            </a:r>
            <a:endParaRPr lang="zh-CN" altLang="en-US" sz="1050" dirty="0">
              <a:solidFill>
                <a:srgbClr val="383838"/>
              </a:solidFill>
              <a:latin typeface="微软雅黑"/>
              <a:ea typeface="微软雅黑"/>
              <a:cs typeface="微软雅黑"/>
            </a:endParaRPr>
          </a:p>
        </p:txBody>
      </p:sp>
      <p:sp>
        <p:nvSpPr>
          <p:cNvPr id="75" name="任意多边形: 形状 254"/>
          <p:cNvSpPr/>
          <p:nvPr>
            <p:custDataLst>
              <p:tags r:id="rId17"/>
            </p:custDataLst>
          </p:nvPr>
        </p:nvSpPr>
        <p:spPr>
          <a:xfrm rot="16200000">
            <a:off x="6070946" y="3480994"/>
            <a:ext cx="149614" cy="1271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383838"/>
                </a:solidFill>
                <a:latin typeface="微软雅黑"/>
                <a:ea typeface="微软雅黑"/>
                <a:cs typeface="微软雅黑"/>
              </a:defRPr>
            </a:pPr>
            <a:endParaRPr lang="zh-CN" altLang="en-US" sz="1800">
              <a:solidFill>
                <a:srgbClr val="383838"/>
              </a:solidFill>
              <a:latin typeface="微软雅黑"/>
              <a:ea typeface="微软雅黑"/>
              <a:cs typeface="微软雅黑"/>
            </a:endParaRPr>
          </a:p>
        </p:txBody>
      </p:sp>
      <p:sp>
        <p:nvSpPr>
          <p:cNvPr id="76" name="文本框 75"/>
          <p:cNvSpPr txBox="1"/>
          <p:nvPr>
            <p:custDataLst>
              <p:tags r:id="rId18"/>
            </p:custDataLst>
          </p:nvPr>
        </p:nvSpPr>
        <p:spPr>
          <a:xfrm>
            <a:off x="8035401" y="3468552"/>
            <a:ext cx="794532" cy="253916"/>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权益匹配</a:t>
            </a:r>
            <a:endParaRPr lang="zh-CN" altLang="en-US" sz="1050" dirty="0">
              <a:solidFill>
                <a:srgbClr val="383838"/>
              </a:solidFill>
              <a:latin typeface="微软雅黑"/>
              <a:ea typeface="微软雅黑"/>
              <a:cs typeface="微软雅黑"/>
            </a:endParaRPr>
          </a:p>
        </p:txBody>
      </p:sp>
      <p:sp>
        <p:nvSpPr>
          <p:cNvPr id="77" name="矩形: 圆角 314"/>
          <p:cNvSpPr/>
          <p:nvPr>
            <p:custDataLst>
              <p:tags r:id="rId19"/>
            </p:custDataLst>
          </p:nvPr>
        </p:nvSpPr>
        <p:spPr>
          <a:xfrm flipH="1">
            <a:off x="9753600" y="1438910"/>
            <a:ext cx="1499870"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8" name="矩形: 圆角 315"/>
          <p:cNvSpPr/>
          <p:nvPr>
            <p:custDataLst>
              <p:tags r:id="rId20"/>
            </p:custDataLst>
          </p:nvPr>
        </p:nvSpPr>
        <p:spPr>
          <a:xfrm flipH="1">
            <a:off x="9753600" y="1887220"/>
            <a:ext cx="1499870"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9" name="矩形: 圆角 316"/>
          <p:cNvSpPr/>
          <p:nvPr>
            <p:custDataLst>
              <p:tags r:id="rId21"/>
            </p:custDataLst>
          </p:nvPr>
        </p:nvSpPr>
        <p:spPr>
          <a:xfrm flipH="1">
            <a:off x="9753600" y="2336165"/>
            <a:ext cx="1499870"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80" name="矩形: 圆角 317"/>
          <p:cNvSpPr/>
          <p:nvPr>
            <p:custDataLst>
              <p:tags r:id="rId22"/>
            </p:custDataLst>
          </p:nvPr>
        </p:nvSpPr>
        <p:spPr>
          <a:xfrm flipH="1">
            <a:off x="9753600" y="2785110"/>
            <a:ext cx="1499870"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20" name="右大括号 319"/>
          <p:cNvSpPr/>
          <p:nvPr>
            <p:custDataLst>
              <p:tags r:id="rId23"/>
            </p:custDataLst>
          </p:nvPr>
        </p:nvSpPr>
        <p:spPr>
          <a:xfrm flipH="1">
            <a:off x="9345109" y="1385492"/>
            <a:ext cx="338157" cy="1716273"/>
          </a:xfrm>
          <a:prstGeom prst="rightBrace">
            <a:avLst>
              <a:gd name="adj1" fmla="val 53950"/>
              <a:gd name="adj2" fmla="val 50000"/>
            </a:avLst>
          </a:prstGeom>
          <a:no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latin typeface="微软雅黑"/>
              <a:ea typeface="微软雅黑"/>
              <a:cs typeface="微软雅黑"/>
              <a:sym typeface="微软雅黑"/>
            </a:endParaRPr>
          </a:p>
        </p:txBody>
      </p:sp>
      <p:grpSp>
        <p:nvGrpSpPr>
          <p:cNvPr id="52" name="组合 51"/>
          <p:cNvGrpSpPr/>
          <p:nvPr/>
        </p:nvGrpSpPr>
        <p:grpSpPr>
          <a:xfrm>
            <a:off x="4733290" y="2777411"/>
            <a:ext cx="845820" cy="398780"/>
            <a:chOff x="7454" y="4374"/>
            <a:chExt cx="1332" cy="628"/>
          </a:xfrm>
        </p:grpSpPr>
        <p:sp>
          <p:nvSpPr>
            <p:cNvPr id="321" name="矩形: 圆角 320"/>
            <p:cNvSpPr/>
            <p:nvPr>
              <p:custDataLst>
                <p:tags r:id="rId24"/>
              </p:custDataLst>
            </p:nvPr>
          </p:nvSpPr>
          <p:spPr>
            <a:xfrm>
              <a:off x="7454" y="4388"/>
              <a:ext cx="1333" cy="601"/>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327" name="文本框 326"/>
            <p:cNvSpPr txBox="1"/>
            <p:nvPr>
              <p:custDataLst>
                <p:tags r:id="rId25"/>
              </p:custDataLst>
            </p:nvPr>
          </p:nvSpPr>
          <p:spPr>
            <a:xfrm>
              <a:off x="7495" y="4374"/>
              <a:ext cx="1251" cy="628"/>
            </a:xfrm>
            <a:prstGeom prst="rect">
              <a:avLst/>
            </a:prstGeom>
            <a:noFill/>
          </p:spPr>
          <p:txBody>
            <a:bodyPr wrap="squar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良好的</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配套服务</a:t>
              </a:r>
              <a:endParaRPr lang="zh-CN" altLang="en-US" sz="1000" dirty="0">
                <a:solidFill>
                  <a:srgbClr val="383838"/>
                </a:solidFill>
                <a:latin typeface="微软雅黑"/>
                <a:ea typeface="微软雅黑"/>
                <a:cs typeface="微软雅黑"/>
              </a:endParaRPr>
            </a:p>
          </p:txBody>
        </p:sp>
      </p:grpSp>
      <p:sp>
        <p:nvSpPr>
          <p:cNvPr id="17" name="矩形: 圆角 302"/>
          <p:cNvSpPr/>
          <p:nvPr>
            <p:custDataLst>
              <p:tags r:id="rId26"/>
            </p:custDataLst>
          </p:nvPr>
        </p:nvSpPr>
        <p:spPr>
          <a:xfrm>
            <a:off x="1005840" y="1383665"/>
            <a:ext cx="1409065"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47" name="文本框 346"/>
          <p:cNvSpPr txBox="1"/>
          <p:nvPr>
            <p:custDataLst>
              <p:tags r:id="rId27"/>
            </p:custDataLst>
          </p:nvPr>
        </p:nvSpPr>
        <p:spPr>
          <a:xfrm>
            <a:off x="2926006" y="2295901"/>
            <a:ext cx="1489600" cy="276999"/>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lang="zh-CN" altLang="en-US" sz="1200" b="1" dirty="0">
                <a:solidFill>
                  <a:srgbClr val="383838"/>
                </a:solidFill>
                <a:latin typeface="微软雅黑"/>
                <a:ea typeface="微软雅黑"/>
                <a:cs typeface="微软雅黑"/>
              </a:rPr>
              <a:t>机构合作</a:t>
            </a:r>
            <a:endParaRPr lang="zh-CN" altLang="en-US" sz="1200" b="1" dirty="0">
              <a:solidFill>
                <a:srgbClr val="383838"/>
              </a:solidFill>
              <a:latin typeface="微软雅黑"/>
              <a:ea typeface="微软雅黑"/>
              <a:cs typeface="微软雅黑"/>
            </a:endParaRPr>
          </a:p>
        </p:txBody>
      </p:sp>
      <p:sp>
        <p:nvSpPr>
          <p:cNvPr id="348" name="文本框 347"/>
          <p:cNvSpPr txBox="1"/>
          <p:nvPr>
            <p:custDataLst>
              <p:tags r:id="rId28"/>
            </p:custDataLst>
          </p:nvPr>
        </p:nvSpPr>
        <p:spPr>
          <a:xfrm>
            <a:off x="7801662" y="2295901"/>
            <a:ext cx="1489600" cy="275590"/>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lang="zh-CN" altLang="en-US" sz="1200" b="1" dirty="0">
                <a:solidFill>
                  <a:srgbClr val="383838"/>
                </a:solidFill>
                <a:latin typeface="微软雅黑"/>
                <a:ea typeface="微软雅黑"/>
                <a:cs typeface="微软雅黑"/>
              </a:rPr>
              <a:t>服务支撑</a:t>
            </a:r>
            <a:endParaRPr lang="zh-CN" altLang="en-US" sz="1200" b="1" dirty="0">
              <a:solidFill>
                <a:srgbClr val="383838"/>
              </a:solidFill>
              <a:latin typeface="微软雅黑"/>
              <a:ea typeface="微软雅黑"/>
              <a:cs typeface="微软雅黑"/>
            </a:endParaRPr>
          </a:p>
        </p:txBody>
      </p:sp>
      <p:sp>
        <p:nvSpPr>
          <p:cNvPr id="331" name="文本框 330"/>
          <p:cNvSpPr txBox="1"/>
          <p:nvPr>
            <p:custDataLst>
              <p:tags r:id="rId29"/>
            </p:custDataLst>
          </p:nvPr>
        </p:nvSpPr>
        <p:spPr>
          <a:xfrm>
            <a:off x="1416685" y="1867535"/>
            <a:ext cx="794385" cy="254000"/>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权益匹配</a:t>
            </a:r>
            <a:endParaRPr lang="zh-CN" altLang="en-US" sz="1050" dirty="0">
              <a:solidFill>
                <a:srgbClr val="383838"/>
              </a:solidFill>
              <a:latin typeface="微软雅黑"/>
              <a:ea typeface="微软雅黑"/>
              <a:cs typeface="微软雅黑"/>
            </a:endParaRPr>
          </a:p>
        </p:txBody>
      </p:sp>
      <p:sp>
        <p:nvSpPr>
          <p:cNvPr id="86" name="矩形: 圆角 302"/>
          <p:cNvSpPr/>
          <p:nvPr>
            <p:custDataLst>
              <p:tags r:id="rId30"/>
            </p:custDataLst>
          </p:nvPr>
        </p:nvSpPr>
        <p:spPr>
          <a:xfrm>
            <a:off x="1005840" y="1832610"/>
            <a:ext cx="1409065"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pic>
        <p:nvPicPr>
          <p:cNvPr id="88" name="图片 87" descr="icon_stores"/>
          <p:cNvPicPr>
            <a:picLocks noChangeAspect="1"/>
          </p:cNvPicPr>
          <p:nvPr>
            <p:custDataLst>
              <p:tags r:id="rId31"/>
            </p:custDataLst>
          </p:nvPr>
        </p:nvPicPr>
        <p:blipFill>
          <a:blip r:embed="rId32"/>
          <a:stretch>
            <a:fillRect/>
          </a:stretch>
        </p:blipFill>
        <p:spPr>
          <a:xfrm>
            <a:off x="3411855" y="1838325"/>
            <a:ext cx="518160" cy="518160"/>
          </a:xfrm>
          <a:prstGeom prst="rect">
            <a:avLst/>
          </a:prstGeom>
        </p:spPr>
      </p:pic>
      <p:pic>
        <p:nvPicPr>
          <p:cNvPr id="89" name="图片 88" descr="94"/>
          <p:cNvPicPr>
            <a:picLocks noChangeAspect="1"/>
          </p:cNvPicPr>
          <p:nvPr>
            <p:custDataLst>
              <p:tags r:id="rId33"/>
            </p:custDataLst>
          </p:nvPr>
        </p:nvPicPr>
        <p:blipFill>
          <a:blip r:embed="rId34"/>
          <a:stretch>
            <a:fillRect/>
          </a:stretch>
        </p:blipFill>
        <p:spPr>
          <a:xfrm>
            <a:off x="8376285" y="1925320"/>
            <a:ext cx="340360" cy="340360"/>
          </a:xfrm>
          <a:prstGeom prst="rect">
            <a:avLst/>
          </a:prstGeom>
        </p:spPr>
      </p:pic>
      <p:sp>
        <p:nvSpPr>
          <p:cNvPr id="91" name="矩形: 圆角 304"/>
          <p:cNvSpPr/>
          <p:nvPr>
            <p:custDataLst>
              <p:tags r:id="rId35"/>
            </p:custDataLst>
          </p:nvPr>
        </p:nvSpPr>
        <p:spPr>
          <a:xfrm>
            <a:off x="1005840" y="2306320"/>
            <a:ext cx="1409065"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4" name="矩形: 圆角 320"/>
          <p:cNvSpPr/>
          <p:nvPr>
            <p:custDataLst>
              <p:tags r:id="rId36"/>
            </p:custDataLst>
          </p:nvPr>
        </p:nvSpPr>
        <p:spPr>
          <a:xfrm>
            <a:off x="5723255" y="2795429"/>
            <a:ext cx="846455" cy="36258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95" name="文本框 94"/>
          <p:cNvSpPr txBox="1"/>
          <p:nvPr>
            <p:custDataLst>
              <p:tags r:id="rId37"/>
            </p:custDataLst>
          </p:nvPr>
        </p:nvSpPr>
        <p:spPr>
          <a:xfrm>
            <a:off x="5749290" y="2777411"/>
            <a:ext cx="794385" cy="398780"/>
          </a:xfrm>
          <a:prstGeom prst="rect">
            <a:avLst/>
          </a:prstGeom>
          <a:noFill/>
        </p:spPr>
        <p:txBody>
          <a:bodyPr wrap="squar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快速的</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响应机制</a:t>
            </a:r>
            <a:endParaRPr lang="zh-CN" altLang="en-US" sz="1000" dirty="0">
              <a:solidFill>
                <a:srgbClr val="383838"/>
              </a:solidFill>
              <a:latin typeface="微软雅黑"/>
              <a:ea typeface="微软雅黑"/>
              <a:cs typeface="微软雅黑"/>
            </a:endParaRPr>
          </a:p>
        </p:txBody>
      </p:sp>
      <p:sp>
        <p:nvSpPr>
          <p:cNvPr id="97" name="矩形: 圆角 320"/>
          <p:cNvSpPr/>
          <p:nvPr>
            <p:custDataLst>
              <p:tags r:id="rId38"/>
            </p:custDataLst>
          </p:nvPr>
        </p:nvSpPr>
        <p:spPr>
          <a:xfrm>
            <a:off x="6713220" y="2783443"/>
            <a:ext cx="846455" cy="38671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98" name="文本框 97"/>
          <p:cNvSpPr txBox="1"/>
          <p:nvPr>
            <p:custDataLst>
              <p:tags r:id="rId39"/>
            </p:custDataLst>
          </p:nvPr>
        </p:nvSpPr>
        <p:spPr>
          <a:xfrm>
            <a:off x="6739255" y="2777411"/>
            <a:ext cx="794385" cy="398780"/>
          </a:xfrm>
          <a:prstGeom prst="rect">
            <a:avLst/>
          </a:prstGeom>
          <a:noFill/>
        </p:spPr>
        <p:txBody>
          <a:bodyPr wrap="squar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美好的</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客户体验</a:t>
            </a:r>
            <a:endParaRPr lang="zh-CN" altLang="en-US" sz="1000" dirty="0">
              <a:solidFill>
                <a:srgbClr val="383838"/>
              </a:solidFill>
              <a:latin typeface="微软雅黑"/>
              <a:ea typeface="微软雅黑"/>
              <a:cs typeface="微软雅黑"/>
            </a:endParaRPr>
          </a:p>
        </p:txBody>
      </p:sp>
      <p:sp>
        <p:nvSpPr>
          <p:cNvPr id="100" name="矩形: 圆角 302"/>
          <p:cNvSpPr/>
          <p:nvPr>
            <p:custDataLst>
              <p:tags r:id="rId40"/>
            </p:custDataLst>
          </p:nvPr>
        </p:nvSpPr>
        <p:spPr>
          <a:xfrm>
            <a:off x="1026795" y="2753360"/>
            <a:ext cx="1409065" cy="292100"/>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26" name="文本框 325"/>
          <p:cNvSpPr txBox="1"/>
          <p:nvPr>
            <p:custDataLst>
              <p:tags r:id="rId41"/>
            </p:custDataLst>
          </p:nvPr>
        </p:nvSpPr>
        <p:spPr>
          <a:xfrm>
            <a:off x="8829675" y="4361815"/>
            <a:ext cx="81153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电销团队</a:t>
            </a:r>
            <a:endParaRPr lang="zh-CN" altLang="en-US" sz="1200" dirty="0">
              <a:solidFill>
                <a:srgbClr val="383838"/>
              </a:solidFill>
              <a:latin typeface="微软雅黑"/>
              <a:ea typeface="微软雅黑"/>
              <a:cs typeface="微软雅黑"/>
            </a:endParaRPr>
          </a:p>
        </p:txBody>
      </p:sp>
      <p:sp>
        <p:nvSpPr>
          <p:cNvPr id="324" name="文本框 323"/>
          <p:cNvSpPr txBox="1"/>
          <p:nvPr>
            <p:custDataLst>
              <p:tags r:id="rId42"/>
            </p:custDataLst>
          </p:nvPr>
        </p:nvSpPr>
        <p:spPr>
          <a:xfrm>
            <a:off x="2708910" y="4404360"/>
            <a:ext cx="81153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异业合作</a:t>
            </a:r>
            <a:endParaRPr lang="zh-CN" altLang="en-US" sz="1200" dirty="0">
              <a:solidFill>
                <a:srgbClr val="383838"/>
              </a:solidFill>
              <a:latin typeface="微软雅黑"/>
              <a:ea typeface="微软雅黑"/>
              <a:cs typeface="微软雅黑"/>
            </a:endParaRPr>
          </a:p>
        </p:txBody>
      </p:sp>
      <p:sp>
        <p:nvSpPr>
          <p:cNvPr id="325" name="文本框 324"/>
          <p:cNvSpPr txBox="1"/>
          <p:nvPr>
            <p:custDataLst>
              <p:tags r:id="rId43"/>
            </p:custDataLst>
          </p:nvPr>
        </p:nvSpPr>
        <p:spPr>
          <a:xfrm>
            <a:off x="9986010" y="4885055"/>
            <a:ext cx="811530" cy="275590"/>
          </a:xfrm>
          <a:prstGeom prst="rect">
            <a:avLst/>
          </a:prstGeom>
          <a:noFill/>
        </p:spPr>
        <p:txBody>
          <a:bodyPr wrap="square" rtlCol="0">
            <a:spAutoFit/>
          </a:bodyPr>
          <a:lstStyle/>
          <a:p>
            <a:pPr algn="ctr">
              <a:defRPr>
                <a:latin typeface="微软雅黑"/>
                <a:ea typeface="微软雅黑"/>
                <a:cs typeface="微软雅黑"/>
              </a:defRPr>
            </a:pPr>
            <a:r>
              <a:rPr lang="zh-CN" sz="1200" dirty="0">
                <a:solidFill>
                  <a:srgbClr val="383838"/>
                </a:solidFill>
                <a:latin typeface="微软雅黑"/>
                <a:ea typeface="微软雅黑"/>
                <a:cs typeface="微软雅黑"/>
              </a:rPr>
              <a:t>营销系统</a:t>
            </a:r>
            <a:endParaRPr lang="zh-CN" sz="1200" dirty="0">
              <a:solidFill>
                <a:srgbClr val="383838"/>
              </a:solidFill>
              <a:latin typeface="微软雅黑"/>
              <a:ea typeface="微软雅黑"/>
              <a:cs typeface="微软雅黑"/>
            </a:endParaRPr>
          </a:p>
        </p:txBody>
      </p:sp>
      <p:sp>
        <p:nvSpPr>
          <p:cNvPr id="36" name="文本框 35"/>
          <p:cNvSpPr txBox="1"/>
          <p:nvPr>
            <p:custDataLst>
              <p:tags r:id="rId44"/>
            </p:custDataLst>
          </p:nvPr>
        </p:nvSpPr>
        <p:spPr>
          <a:xfrm>
            <a:off x="3224213" y="6061710"/>
            <a:ext cx="81153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维修车间</a:t>
            </a:r>
            <a:endParaRPr lang="zh-CN" altLang="en-US" sz="1200" dirty="0">
              <a:solidFill>
                <a:srgbClr val="383838"/>
              </a:solidFill>
              <a:latin typeface="微软雅黑"/>
              <a:ea typeface="微软雅黑"/>
              <a:cs typeface="微软雅黑"/>
            </a:endParaRPr>
          </a:p>
        </p:txBody>
      </p:sp>
      <p:sp>
        <p:nvSpPr>
          <p:cNvPr id="40" name="文本框 39"/>
          <p:cNvSpPr txBox="1"/>
          <p:nvPr>
            <p:custDataLst>
              <p:tags r:id="rId45"/>
            </p:custDataLst>
          </p:nvPr>
        </p:nvSpPr>
        <p:spPr>
          <a:xfrm>
            <a:off x="8639810" y="6001385"/>
            <a:ext cx="81153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事故定损</a:t>
            </a:r>
            <a:endParaRPr lang="zh-CN" altLang="en-US" sz="1200" dirty="0">
              <a:solidFill>
                <a:srgbClr val="383838"/>
              </a:solidFill>
              <a:latin typeface="微软雅黑"/>
              <a:ea typeface="微软雅黑"/>
              <a:cs typeface="微软雅黑"/>
            </a:endParaRPr>
          </a:p>
        </p:txBody>
      </p:sp>
      <p:sp>
        <p:nvSpPr>
          <p:cNvPr id="42" name="文本框 41"/>
          <p:cNvSpPr txBox="1"/>
          <p:nvPr>
            <p:custDataLst>
              <p:tags r:id="rId46"/>
            </p:custDataLst>
          </p:nvPr>
        </p:nvSpPr>
        <p:spPr>
          <a:xfrm>
            <a:off x="5413301" y="3806566"/>
            <a:ext cx="148960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客户小程序</a:t>
            </a:r>
            <a:endParaRPr lang="zh-CN" altLang="en-US" sz="1200" b="1" dirty="0">
              <a:solidFill>
                <a:srgbClr val="383838"/>
              </a:solidFill>
              <a:latin typeface="微软雅黑"/>
              <a:ea typeface="微软雅黑"/>
              <a:cs typeface="微软雅黑"/>
            </a:endParaRPr>
          </a:p>
        </p:txBody>
      </p:sp>
      <p:sp>
        <p:nvSpPr>
          <p:cNvPr id="45" name="文本框 44"/>
          <p:cNvSpPr txBox="1"/>
          <p:nvPr>
            <p:custDataLst>
              <p:tags r:id="rId47"/>
            </p:custDataLst>
          </p:nvPr>
        </p:nvSpPr>
        <p:spPr>
          <a:xfrm>
            <a:off x="4437380" y="6311265"/>
            <a:ext cx="811530"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充电桩</a:t>
            </a:r>
            <a:endParaRPr lang="zh-CN" altLang="en-US" sz="1200" dirty="0">
              <a:solidFill>
                <a:srgbClr val="383838"/>
              </a:solidFill>
              <a:latin typeface="微软雅黑"/>
              <a:ea typeface="微软雅黑"/>
              <a:cs typeface="微软雅黑"/>
            </a:endParaRPr>
          </a:p>
        </p:txBody>
      </p:sp>
      <p:sp>
        <p:nvSpPr>
          <p:cNvPr id="48" name="文本框 47"/>
          <p:cNvSpPr txBox="1"/>
          <p:nvPr>
            <p:custDataLst>
              <p:tags r:id="rId48"/>
            </p:custDataLst>
          </p:nvPr>
        </p:nvSpPr>
        <p:spPr>
          <a:xfrm>
            <a:off x="6976745" y="6304280"/>
            <a:ext cx="1382395"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新能源专修</a:t>
            </a:r>
            <a:endParaRPr lang="zh-CN" altLang="en-US" sz="1200" dirty="0">
              <a:solidFill>
                <a:srgbClr val="383838"/>
              </a:solidFill>
              <a:latin typeface="微软雅黑"/>
              <a:ea typeface="微软雅黑"/>
              <a:cs typeface="微软雅黑"/>
            </a:endParaRPr>
          </a:p>
        </p:txBody>
      </p:sp>
      <p:grpSp>
        <p:nvGrpSpPr>
          <p:cNvPr id="26" name="组合 25"/>
          <p:cNvGrpSpPr/>
          <p:nvPr/>
        </p:nvGrpSpPr>
        <p:grpSpPr>
          <a:xfrm>
            <a:off x="2270760" y="4885055"/>
            <a:ext cx="646430" cy="701675"/>
            <a:chOff x="3736" y="7561"/>
            <a:chExt cx="1218" cy="1321"/>
          </a:xfrm>
        </p:grpSpPr>
        <p:sp>
          <p:nvSpPr>
            <p:cNvPr id="11" name="椭圆 10"/>
            <p:cNvSpPr/>
            <p:nvPr>
              <p:custDataLst>
                <p:tags r:id="rId49"/>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pic>
          <p:nvPicPr>
            <p:cNvPr id="83" name="图形 6"/>
            <p:cNvPicPr>
              <a:picLocks noChangeAspect="1"/>
            </p:cNvPicPr>
            <p:nvPr>
              <p:custDataLst>
                <p:tags r:id="rId50"/>
              </p:custDataLst>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4047" y="7661"/>
              <a:ext cx="783" cy="783"/>
            </a:xfrm>
            <a:prstGeom prst="rect">
              <a:avLst/>
            </a:prstGeom>
            <a:gradFill>
              <a:gsLst>
                <a:gs pos="0">
                  <a:srgbClr val="3368FF"/>
                </a:gs>
                <a:gs pos="100000">
                  <a:srgbClr val="0042FF"/>
                </a:gs>
              </a:gsLst>
              <a:lin ang="8100000" scaled="0"/>
            </a:gradFill>
            <a:effectLst/>
          </p:spPr>
        </p:pic>
        <p:sp>
          <p:nvSpPr>
            <p:cNvPr id="59" name="椭圆 58"/>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93" name="椭圆 92"/>
          <p:cNvSpPr/>
          <p:nvPr>
            <p:custDataLst>
              <p:tags r:id="rId53"/>
            </p:custDataLst>
          </p:nvPr>
        </p:nvSpPr>
        <p:spPr>
          <a:xfrm>
            <a:off x="8481060" y="3288665"/>
            <a:ext cx="85725" cy="85725"/>
          </a:xfrm>
          <a:prstGeom prst="ellipse">
            <a:avLst/>
          </a:prstGeom>
          <a:solidFill>
            <a:srgbClr val="FFFFFF"/>
          </a:solidFill>
          <a:ln>
            <a:noFill/>
          </a:ln>
          <a:effectLst>
            <a:outerShdw blurRad="13716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96" name="椭圆 95"/>
          <p:cNvSpPr/>
          <p:nvPr>
            <p:custDataLst>
              <p:tags r:id="rId54"/>
            </p:custDataLst>
          </p:nvPr>
        </p:nvSpPr>
        <p:spPr>
          <a:xfrm>
            <a:off x="8504555" y="3312160"/>
            <a:ext cx="38735" cy="38735"/>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pic>
        <p:nvPicPr>
          <p:cNvPr id="4" name="图片 3" descr="屋顶资源管理"/>
          <p:cNvPicPr>
            <a:picLocks noChangeAspect="1"/>
          </p:cNvPicPr>
          <p:nvPr/>
        </p:nvPicPr>
        <p:blipFill>
          <a:blip r:embed="rId55">
            <a:extLst>
              <a:ext uri="{96DAC541-7B7A-43D3-8B79-37D633B846F1}">
                <asvg:svgBlip xmlns:asvg="http://schemas.microsoft.com/office/drawing/2016/SVG/main" r:embed="rId56"/>
              </a:ext>
            </a:extLst>
          </a:blip>
          <a:stretch>
            <a:fillRect/>
          </a:stretch>
        </p:blipFill>
        <p:spPr>
          <a:xfrm>
            <a:off x="355600" y="186055"/>
            <a:ext cx="549910" cy="549910"/>
          </a:xfrm>
          <a:prstGeom prst="rect">
            <a:avLst/>
          </a:prstGeom>
        </p:spPr>
      </p:pic>
      <p:sp>
        <p:nvSpPr>
          <p:cNvPr id="6" name="椭圆 5"/>
          <p:cNvSpPr/>
          <p:nvPr/>
        </p:nvSpPr>
        <p:spPr>
          <a:xfrm>
            <a:off x="3282950" y="2716530"/>
            <a:ext cx="795655" cy="154305"/>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 name="椭圆 11"/>
          <p:cNvSpPr/>
          <p:nvPr/>
        </p:nvSpPr>
        <p:spPr>
          <a:xfrm>
            <a:off x="8138795" y="2716530"/>
            <a:ext cx="795655" cy="154305"/>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16" name="组合 15"/>
          <p:cNvGrpSpPr/>
          <p:nvPr/>
        </p:nvGrpSpPr>
        <p:grpSpPr>
          <a:xfrm>
            <a:off x="8715375" y="348615"/>
            <a:ext cx="3219450" cy="332740"/>
            <a:chOff x="13761" y="549"/>
            <a:chExt cx="5070" cy="524"/>
          </a:xfrm>
        </p:grpSpPr>
        <p:pic>
          <p:nvPicPr>
            <p:cNvPr id="24" name="图片 23"/>
            <p:cNvPicPr>
              <a:picLocks noChangeAspect="1"/>
            </p:cNvPicPr>
            <p:nvPr userDrawn="1"/>
          </p:nvPicPr>
          <p:blipFill>
            <a:blip r:embed="rId57"/>
            <a:srcRect l="17002" t="-1765" r="56499" b="-1176"/>
            <a:stretch>
              <a:fillRect/>
            </a:stretch>
          </p:blipFill>
          <p:spPr>
            <a:xfrm>
              <a:off x="13761" y="549"/>
              <a:ext cx="1582" cy="525"/>
            </a:xfrm>
            <a:prstGeom prst="rect">
              <a:avLst/>
            </a:prstGeom>
          </p:spPr>
        </p:pic>
        <p:sp>
          <p:nvSpPr>
            <p:cNvPr id="25" name="文本框 2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38" name="组合 37"/>
          <p:cNvGrpSpPr/>
          <p:nvPr/>
        </p:nvGrpSpPr>
        <p:grpSpPr>
          <a:xfrm>
            <a:off x="3306763" y="5427980"/>
            <a:ext cx="646430" cy="702310"/>
            <a:chOff x="5217" y="8348"/>
            <a:chExt cx="1018" cy="1106"/>
          </a:xfrm>
        </p:grpSpPr>
        <p:grpSp>
          <p:nvGrpSpPr>
            <p:cNvPr id="28" name="组合 27"/>
            <p:cNvGrpSpPr/>
            <p:nvPr/>
          </p:nvGrpSpPr>
          <p:grpSpPr>
            <a:xfrm>
              <a:off x="5217" y="8348"/>
              <a:ext cx="1018" cy="1106"/>
              <a:chOff x="3736" y="7561"/>
              <a:chExt cx="1218" cy="1322"/>
            </a:xfrm>
          </p:grpSpPr>
          <p:sp>
            <p:nvSpPr>
              <p:cNvPr id="30" name="椭圆 29"/>
              <p:cNvSpPr/>
              <p:nvPr>
                <p:custDataLst>
                  <p:tags r:id="rId58"/>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3" name="椭圆 32"/>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34" name="图片 33" descr="故障呼叫"/>
            <p:cNvPicPr>
              <a:picLocks noChangeAspect="1"/>
            </p:cNvPicPr>
            <p:nvPr/>
          </p:nvPicPr>
          <p:blipFill>
            <a:blip r:embed="rId59"/>
            <a:stretch>
              <a:fillRect/>
            </a:stretch>
          </p:blipFill>
          <p:spPr>
            <a:xfrm>
              <a:off x="5553" y="8595"/>
              <a:ext cx="426" cy="366"/>
            </a:xfrm>
            <a:prstGeom prst="rect">
              <a:avLst/>
            </a:prstGeom>
          </p:spPr>
        </p:pic>
      </p:grpSp>
      <p:grpSp>
        <p:nvGrpSpPr>
          <p:cNvPr id="46" name="组合 45"/>
          <p:cNvGrpSpPr/>
          <p:nvPr/>
        </p:nvGrpSpPr>
        <p:grpSpPr>
          <a:xfrm>
            <a:off x="3401060" y="4389755"/>
            <a:ext cx="646430" cy="702206"/>
            <a:chOff x="3736" y="7561"/>
            <a:chExt cx="1218" cy="1322"/>
          </a:xfrm>
        </p:grpSpPr>
        <p:sp>
          <p:nvSpPr>
            <p:cNvPr id="51" name="椭圆 50"/>
            <p:cNvSpPr/>
            <p:nvPr>
              <p:custDataLst>
                <p:tags r:id="rId60"/>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3" name="椭圆 52"/>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54" name="图片 53" descr="36合作、关系"/>
          <p:cNvPicPr>
            <a:picLocks noChangeAspect="1"/>
          </p:cNvPicPr>
          <p:nvPr>
            <p:custDataLst>
              <p:tags r:id="rId61"/>
            </p:custDataLst>
          </p:nvPr>
        </p:nvPicPr>
        <p:blipFill>
          <a:blip r:embed="rId62"/>
          <a:stretch>
            <a:fillRect/>
          </a:stretch>
        </p:blipFill>
        <p:spPr>
          <a:xfrm>
            <a:off x="3604260" y="4510405"/>
            <a:ext cx="318770" cy="318770"/>
          </a:xfrm>
          <a:prstGeom prst="rect">
            <a:avLst/>
          </a:prstGeom>
        </p:spPr>
      </p:pic>
      <p:grpSp>
        <p:nvGrpSpPr>
          <p:cNvPr id="55" name="组合 54"/>
          <p:cNvGrpSpPr/>
          <p:nvPr/>
        </p:nvGrpSpPr>
        <p:grpSpPr>
          <a:xfrm>
            <a:off x="8155940" y="4269105"/>
            <a:ext cx="646430" cy="702206"/>
            <a:chOff x="3736" y="7561"/>
            <a:chExt cx="1218" cy="1322"/>
          </a:xfrm>
        </p:grpSpPr>
        <p:sp>
          <p:nvSpPr>
            <p:cNvPr id="56" name="椭圆 55"/>
            <p:cNvSpPr/>
            <p:nvPr>
              <p:custDataLst>
                <p:tags r:id="rId63"/>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8" name="椭圆 57"/>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60" name="图形 8"/>
          <p:cNvPicPr>
            <a:picLocks noChangeAspect="1"/>
          </p:cNvPicPr>
          <p:nvPr>
            <p:custDataLst>
              <p:tags r:id="rId64"/>
            </p:custDataLst>
          </p:nvPr>
        </p:nvPicPr>
        <p:blipFill>
          <a:blip r:embed="rId65">
            <a:extLst>
              <a:ext uri="{28A0092B-C50C-407E-A947-70E740481C1C}">
                <a14:useLocalDpi xmlns:a14="http://schemas.microsoft.com/office/drawing/2010/main" val="0"/>
              </a:ext>
              <a:ext uri="{96DAC541-7B7A-43D3-8B79-37D633B846F1}">
                <asvg:svgBlip xmlns:asvg="http://schemas.microsoft.com/office/drawing/2016/SVG/main" r:embed="rId66"/>
              </a:ext>
            </a:extLst>
          </a:blip>
          <a:stretch>
            <a:fillRect/>
          </a:stretch>
        </p:blipFill>
        <p:spPr>
          <a:xfrm>
            <a:off x="8376285" y="4389755"/>
            <a:ext cx="281940" cy="281940"/>
          </a:xfrm>
          <a:prstGeom prst="rect">
            <a:avLst/>
          </a:prstGeom>
        </p:spPr>
      </p:pic>
      <p:grpSp>
        <p:nvGrpSpPr>
          <p:cNvPr id="62" name="组合 61"/>
          <p:cNvGrpSpPr/>
          <p:nvPr/>
        </p:nvGrpSpPr>
        <p:grpSpPr>
          <a:xfrm>
            <a:off x="9339580" y="4744085"/>
            <a:ext cx="646430" cy="702206"/>
            <a:chOff x="3736" y="7561"/>
            <a:chExt cx="1218" cy="1322"/>
          </a:xfrm>
        </p:grpSpPr>
        <p:sp>
          <p:nvSpPr>
            <p:cNvPr id="63" name="椭圆 62"/>
            <p:cNvSpPr/>
            <p:nvPr>
              <p:custDataLst>
                <p:tags r:id="rId67"/>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64" name="椭圆 63"/>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65" name="图片 64" descr="系统平台"/>
          <p:cNvPicPr>
            <a:picLocks noChangeAspect="1"/>
          </p:cNvPicPr>
          <p:nvPr>
            <p:custDataLst>
              <p:tags r:id="rId68"/>
            </p:custDataLst>
          </p:nvPr>
        </p:nvPicPr>
        <p:blipFill>
          <a:blip r:embed="rId69"/>
          <a:stretch>
            <a:fillRect/>
          </a:stretch>
        </p:blipFill>
        <p:spPr>
          <a:xfrm>
            <a:off x="9540240" y="4873625"/>
            <a:ext cx="304800" cy="304800"/>
          </a:xfrm>
          <a:prstGeom prst="rect">
            <a:avLst/>
          </a:prstGeom>
        </p:spPr>
      </p:pic>
      <p:grpSp>
        <p:nvGrpSpPr>
          <p:cNvPr id="68" name="组合 67"/>
          <p:cNvGrpSpPr/>
          <p:nvPr/>
        </p:nvGrpSpPr>
        <p:grpSpPr>
          <a:xfrm>
            <a:off x="8639810" y="5374640"/>
            <a:ext cx="646430" cy="702206"/>
            <a:chOff x="3736" y="7561"/>
            <a:chExt cx="1218" cy="1322"/>
          </a:xfrm>
        </p:grpSpPr>
        <p:sp>
          <p:nvSpPr>
            <p:cNvPr id="69" name="椭圆 68"/>
            <p:cNvSpPr/>
            <p:nvPr>
              <p:custDataLst>
                <p:tags r:id="rId70"/>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0" name="椭圆 69"/>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71" name="图片 70" descr="交警-填充"/>
          <p:cNvPicPr>
            <a:picLocks noChangeAspect="1"/>
          </p:cNvPicPr>
          <p:nvPr/>
        </p:nvPicPr>
        <p:blipFill>
          <a:blip r:embed="rId71"/>
          <a:stretch>
            <a:fillRect/>
          </a:stretch>
        </p:blipFill>
        <p:spPr>
          <a:xfrm>
            <a:off x="8854440" y="5535295"/>
            <a:ext cx="281940" cy="281940"/>
          </a:xfrm>
          <a:prstGeom prst="rect">
            <a:avLst/>
          </a:prstGeom>
        </p:spPr>
      </p:pic>
      <p:grpSp>
        <p:nvGrpSpPr>
          <p:cNvPr id="81" name="组合 80"/>
          <p:cNvGrpSpPr/>
          <p:nvPr/>
        </p:nvGrpSpPr>
        <p:grpSpPr>
          <a:xfrm rot="0">
            <a:off x="4502785" y="5716270"/>
            <a:ext cx="646430" cy="702310"/>
            <a:chOff x="3736" y="7561"/>
            <a:chExt cx="1218" cy="1322"/>
          </a:xfrm>
        </p:grpSpPr>
        <p:sp>
          <p:nvSpPr>
            <p:cNvPr id="90" name="椭圆 89"/>
            <p:cNvSpPr/>
            <p:nvPr>
              <p:custDataLst>
                <p:tags r:id="rId72"/>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9" name="椭圆 98"/>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106" name="图片 105" descr="充电桩管理"/>
          <p:cNvPicPr>
            <a:picLocks noChangeAspect="1"/>
          </p:cNvPicPr>
          <p:nvPr/>
        </p:nvPicPr>
        <p:blipFill>
          <a:blip r:embed="rId73"/>
          <a:stretch>
            <a:fillRect/>
          </a:stretch>
        </p:blipFill>
        <p:spPr>
          <a:xfrm>
            <a:off x="4721860" y="5857875"/>
            <a:ext cx="290195" cy="290195"/>
          </a:xfrm>
          <a:prstGeom prst="rect">
            <a:avLst/>
          </a:prstGeom>
        </p:spPr>
      </p:pic>
      <p:grpSp>
        <p:nvGrpSpPr>
          <p:cNvPr id="107" name="组合 106"/>
          <p:cNvGrpSpPr/>
          <p:nvPr/>
        </p:nvGrpSpPr>
        <p:grpSpPr>
          <a:xfrm rot="0">
            <a:off x="7252970" y="5690235"/>
            <a:ext cx="646430" cy="702310"/>
            <a:chOff x="3736" y="7561"/>
            <a:chExt cx="1218" cy="1322"/>
          </a:xfrm>
        </p:grpSpPr>
        <p:sp>
          <p:nvSpPr>
            <p:cNvPr id="108" name="椭圆 107"/>
            <p:cNvSpPr/>
            <p:nvPr>
              <p:custDataLst>
                <p:tags r:id="rId74"/>
              </p:custDataLst>
            </p:nvPr>
          </p:nvSpPr>
          <p:spPr>
            <a:xfrm flipH="1">
              <a:off x="3866" y="7561"/>
              <a:ext cx="1055" cy="1055"/>
            </a:xfrm>
            <a:prstGeom prst="ellipse">
              <a:avLst/>
            </a:prstGeom>
            <a:gradFill>
              <a:gsLst>
                <a:gs pos="0">
                  <a:srgbClr val="3368FF"/>
                </a:gs>
                <a:gs pos="100000">
                  <a:srgbClr val="0042FF"/>
                </a:gs>
              </a:gsLst>
              <a:lin ang="81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9" name="椭圆 108"/>
            <p:cNvSpPr/>
            <p:nvPr/>
          </p:nvSpPr>
          <p:spPr>
            <a:xfrm>
              <a:off x="3736" y="8640"/>
              <a:ext cx="1218" cy="243"/>
            </a:xfrm>
            <a:prstGeom prst="ellipse">
              <a:avLst/>
            </a:prstGeom>
            <a:solidFill>
              <a:srgbClr val="383838">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110" name="图片 109" descr="智能科技-icon-新能源汽车"/>
          <p:cNvPicPr>
            <a:picLocks noChangeAspect="1"/>
          </p:cNvPicPr>
          <p:nvPr/>
        </p:nvPicPr>
        <p:blipFill>
          <a:blip r:embed="rId75"/>
          <a:stretch>
            <a:fillRect/>
          </a:stretch>
        </p:blipFill>
        <p:spPr>
          <a:xfrm>
            <a:off x="7455535" y="5798185"/>
            <a:ext cx="346075" cy="297815"/>
          </a:xfrm>
          <a:prstGeom prst="rect">
            <a:avLst/>
          </a:prstGeom>
        </p:spPr>
      </p:pic>
      <p:sp>
        <p:nvSpPr>
          <p:cNvPr id="548" name="任意多边形: 形状 483"/>
          <p:cNvSpPr/>
          <p:nvPr/>
        </p:nvSpPr>
        <p:spPr>
          <a:xfrm>
            <a:off x="5508625" y="4679950"/>
            <a:ext cx="1228725" cy="693420"/>
          </a:xfrm>
          <a:custGeom>
            <a:avLst/>
            <a:gdLst>
              <a:gd name="connsiteX0" fmla="*/ 1186646 w 1860469"/>
              <a:gd name="connsiteY0" fmla="*/ 0 h 1049553"/>
              <a:gd name="connsiteX1" fmla="*/ 1618837 w 1860469"/>
              <a:gd name="connsiteY1" fmla="*/ 422841 h 1049553"/>
              <a:gd name="connsiteX2" fmla="*/ 1860469 w 1860469"/>
              <a:gd name="connsiteY2" fmla="*/ 731656 h 1049553"/>
              <a:gd name="connsiteX3" fmla="*/ 1544317 w 1860469"/>
              <a:gd name="connsiteY3" fmla="*/ 1049553 h 1049553"/>
              <a:gd name="connsiteX4" fmla="*/ 352008 w 1860469"/>
              <a:gd name="connsiteY4" fmla="*/ 1049553 h 1049553"/>
              <a:gd name="connsiteX5" fmla="*/ 0 w 1860469"/>
              <a:gd name="connsiteY5" fmla="*/ 696343 h 1049553"/>
              <a:gd name="connsiteX6" fmla="*/ 352008 w 1860469"/>
              <a:gd name="connsiteY6" fmla="*/ 343131 h 1049553"/>
              <a:gd name="connsiteX7" fmla="*/ 414777 w 1860469"/>
              <a:gd name="connsiteY7" fmla="*/ 348851 h 1049553"/>
              <a:gd name="connsiteX8" fmla="*/ 412325 w 1860469"/>
              <a:gd name="connsiteY8" fmla="*/ 314312 h 1049553"/>
              <a:gd name="connsiteX9" fmla="*/ 655136 w 1860469"/>
              <a:gd name="connsiteY9" fmla="*/ 70653 h 1049553"/>
              <a:gd name="connsiteX10" fmla="*/ 847193 w 1860469"/>
              <a:gd name="connsiteY10" fmla="*/ 165322 h 1049553"/>
              <a:gd name="connsiteX11" fmla="*/ 1186646 w 1860469"/>
              <a:gd name="connsiteY11" fmla="*/ 0 h 1049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60469" h="1049553">
                <a:moveTo>
                  <a:pt x="1186646" y="0"/>
                </a:moveTo>
                <a:cubicBezTo>
                  <a:pt x="1421753" y="0"/>
                  <a:pt x="1612912" y="188344"/>
                  <a:pt x="1618837" y="422841"/>
                </a:cubicBezTo>
                <a:cubicBezTo>
                  <a:pt x="1757465" y="456689"/>
                  <a:pt x="1860469" y="582099"/>
                  <a:pt x="1860469" y="731656"/>
                </a:cubicBezTo>
                <a:cubicBezTo>
                  <a:pt x="1860469" y="907013"/>
                  <a:pt x="1719004" y="1049203"/>
                  <a:pt x="1544317" y="1049553"/>
                </a:cubicBezTo>
                <a:lnTo>
                  <a:pt x="352008" y="1049553"/>
                </a:lnTo>
                <a:cubicBezTo>
                  <a:pt x="157600" y="1049553"/>
                  <a:pt x="0" y="891421"/>
                  <a:pt x="0" y="696343"/>
                </a:cubicBezTo>
                <a:cubicBezTo>
                  <a:pt x="0" y="501265"/>
                  <a:pt x="157600" y="343131"/>
                  <a:pt x="352008" y="343131"/>
                </a:cubicBezTo>
                <a:cubicBezTo>
                  <a:pt x="373434" y="343131"/>
                  <a:pt x="394424" y="345162"/>
                  <a:pt x="414777" y="348851"/>
                </a:cubicBezTo>
                <a:cubicBezTo>
                  <a:pt x="413184" y="337555"/>
                  <a:pt x="412325" y="326045"/>
                  <a:pt x="412325" y="314312"/>
                </a:cubicBezTo>
                <a:cubicBezTo>
                  <a:pt x="412325" y="179740"/>
                  <a:pt x="521044" y="70653"/>
                  <a:pt x="655136" y="70653"/>
                </a:cubicBezTo>
                <a:cubicBezTo>
                  <a:pt x="733293" y="70653"/>
                  <a:pt x="802796" y="107750"/>
                  <a:pt x="847193" y="165322"/>
                </a:cubicBezTo>
                <a:cubicBezTo>
                  <a:pt x="926364" y="64672"/>
                  <a:pt x="1048970" y="0"/>
                  <a:pt x="1186646" y="0"/>
                </a:cubicBezTo>
                <a:close/>
              </a:path>
            </a:pathLst>
          </a:custGeom>
          <a:gradFill flip="none" rotWithShape="1">
            <a:gsLst>
              <a:gs pos="83000">
                <a:srgbClr val="0042FF"/>
              </a:gs>
              <a:gs pos="7000">
                <a:srgbClr val="3368FF"/>
              </a:gs>
            </a:gsLst>
            <a:lin ang="2700000" scaled="1"/>
            <a:tileRect/>
          </a:gradFill>
          <a:ln w="12700" cap="flat">
            <a:gradFill>
              <a:gsLst>
                <a:gs pos="93878">
                  <a:srgbClr val="E6E6E6"/>
                </a:gs>
                <a:gs pos="0">
                  <a:srgbClr val="E6E6E6"/>
                </a:gs>
              </a:gsLst>
              <a:lin ang="5400000" scaled="1"/>
            </a:gradFill>
            <a:prstDash val="solid"/>
            <a:miter/>
          </a:ln>
          <a:effectLst>
            <a:reflection blurRad="139700" stA="93000" endPos="14000" dir="5400000" sy="-100000" algn="bl" rotWithShape="0"/>
          </a:effectLst>
          <a:scene3d>
            <a:camera prst="isometricOffAxis1Right">
              <a:rot lat="480000" lon="21000000" rev="0"/>
            </a:camera>
            <a:lightRig rig="contrasting" dir="t"/>
          </a:scene3d>
          <a:sp3d extrusionH="311150"/>
        </p:spPr>
        <p:txBody>
          <a:bodyPr rtlCol="0" anchor="ctr"/>
          <a:lstStyle/>
          <a:p>
            <a:pPr>
              <a:defRPr>
                <a:solidFill>
                  <a:srgbClr val="FFFFFF"/>
                </a:solidFill>
                <a:latin typeface="微软雅黑"/>
                <a:ea typeface="微软雅黑"/>
                <a:cs typeface="微软雅黑"/>
              </a:defRPr>
            </a:pPr>
            <a:endParaRPr lang="zh-CN" altLang="en-US" sz="1600" dirty="0">
              <a:solidFill>
                <a:srgbClr val="FFFFFF"/>
              </a:solidFill>
              <a:latin typeface="微软雅黑"/>
              <a:ea typeface="微软雅黑"/>
              <a:cs typeface="微软雅黑"/>
            </a:endParaRPr>
          </a:p>
        </p:txBody>
      </p:sp>
      <p:sp>
        <p:nvSpPr>
          <p:cNvPr id="10" name="文本框 9"/>
          <p:cNvSpPr txBox="1"/>
          <p:nvPr>
            <p:custDataLst>
              <p:tags r:id="rId76"/>
            </p:custDataLst>
          </p:nvPr>
        </p:nvSpPr>
        <p:spPr>
          <a:xfrm>
            <a:off x="4187298" y="4781246"/>
            <a:ext cx="3951290" cy="646331"/>
          </a:xfrm>
          <a:prstGeom prst="rect">
            <a:avLst/>
          </a:prstGeom>
          <a:noFill/>
          <a:ln w="38100">
            <a:noFill/>
          </a:ln>
          <a:effectLst>
            <a:outerShdw blurRad="411480" dist="123444" dir="5400000" sx="108000" sy="108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algn="ctr">
              <a:defRPr sz="1945">
                <a:solidFill>
                  <a:srgbClr val="383838"/>
                </a:solidFill>
                <a:effectLst>
                  <a:outerShdw blurRad="137160" dist="41148" dir="2699997" algn="tl">
                    <a:srgbClr val="383838">
                      <a:alpha val="40000"/>
                    </a:srgbClr>
                  </a:outerShdw>
                </a:effectLst>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sym typeface="微软雅黑"/>
              </a:rPr>
              <a:t>快修连锁中心</a:t>
            </a:r>
            <a:endParaRPr lang="zh-CN" altLang="en-US" sz="1200" b="1" dirty="0">
              <a:solidFill>
                <a:srgbClr val="FFFFFF"/>
              </a:solidFill>
              <a:effectLst/>
              <a:latin typeface="微软雅黑"/>
              <a:ea typeface="微软雅黑"/>
              <a:cs typeface="微软雅黑"/>
              <a:sym typeface="微软雅黑"/>
            </a:endParaRPr>
          </a:p>
        </p:txBody>
      </p:sp>
      <p:sp>
        <p:nvSpPr>
          <p:cNvPr id="29" name="文本框 28"/>
          <p:cNvSpPr txBox="1"/>
          <p:nvPr>
            <p:custDataLst>
              <p:tags r:id="rId77"/>
            </p:custDataLst>
          </p:nvPr>
        </p:nvSpPr>
        <p:spPr>
          <a:xfrm>
            <a:off x="1092200" y="1405255"/>
            <a:ext cx="1271905" cy="252730"/>
          </a:xfrm>
          <a:prstGeom prst="rect">
            <a:avLst/>
          </a:prstGeom>
          <a:noFill/>
        </p:spPr>
        <p:txBody>
          <a:bodyPr wrap="square">
            <a:spAutoFit/>
          </a:bodyPr>
          <a:lstStyle/>
          <a:p>
            <a:pPr algn="ctr">
              <a:defRPr>
                <a:latin typeface="微软雅黑"/>
                <a:ea typeface="微软雅黑"/>
                <a:cs typeface="微软雅黑"/>
              </a:defRPr>
            </a:pPr>
            <a:r>
              <a:rPr lang="zh-CN" sz="1050" dirty="0">
                <a:solidFill>
                  <a:srgbClr val="383838"/>
                </a:solidFill>
                <a:latin typeface="微软雅黑"/>
                <a:ea typeface="微软雅黑"/>
                <a:cs typeface="微软雅黑"/>
              </a:rPr>
              <a:t>高品质的</a:t>
            </a:r>
            <a:r>
              <a:rPr lang="zh-CN" altLang="en-US" sz="1050" dirty="0">
                <a:solidFill>
                  <a:srgbClr val="383838"/>
                </a:solidFill>
                <a:latin typeface="微软雅黑"/>
                <a:ea typeface="微软雅黑"/>
                <a:cs typeface="微软雅黑"/>
              </a:rPr>
              <a:t>服务标准</a:t>
            </a:r>
            <a:endParaRPr lang="zh-CN" altLang="en-US" sz="1050" dirty="0">
              <a:solidFill>
                <a:srgbClr val="383838"/>
              </a:solidFill>
              <a:latin typeface="微软雅黑"/>
              <a:ea typeface="微软雅黑"/>
              <a:cs typeface="微软雅黑"/>
            </a:endParaRPr>
          </a:p>
        </p:txBody>
      </p:sp>
      <p:sp>
        <p:nvSpPr>
          <p:cNvPr id="31" name="文本框 30"/>
          <p:cNvSpPr txBox="1"/>
          <p:nvPr>
            <p:custDataLst>
              <p:tags r:id="rId78"/>
            </p:custDataLst>
          </p:nvPr>
        </p:nvSpPr>
        <p:spPr>
          <a:xfrm>
            <a:off x="984885" y="1856105"/>
            <a:ext cx="1430020" cy="252730"/>
          </a:xfrm>
          <a:prstGeom prst="rect">
            <a:avLst/>
          </a:prstGeom>
          <a:noFill/>
        </p:spPr>
        <p:txBody>
          <a:bodyPr wrap="square">
            <a:spAutoFit/>
          </a:bodyPr>
          <a:lstStyle/>
          <a:p>
            <a:pPr algn="ctr">
              <a:defRPr>
                <a:latin typeface="微软雅黑"/>
                <a:ea typeface="微软雅黑"/>
                <a:cs typeface="微软雅黑"/>
              </a:defRPr>
            </a:pPr>
            <a:r>
              <a:rPr lang="zh-CN" sz="1050" dirty="0">
                <a:solidFill>
                  <a:srgbClr val="383838"/>
                </a:solidFill>
                <a:latin typeface="微软雅黑"/>
                <a:ea typeface="微软雅黑"/>
                <a:cs typeface="微软雅黑"/>
              </a:rPr>
              <a:t>低于市场的价格</a:t>
            </a:r>
            <a:endParaRPr lang="zh-CN" sz="1050" dirty="0">
              <a:solidFill>
                <a:srgbClr val="383838"/>
              </a:solidFill>
              <a:latin typeface="微软雅黑"/>
              <a:ea typeface="微软雅黑"/>
              <a:cs typeface="微软雅黑"/>
            </a:endParaRPr>
          </a:p>
        </p:txBody>
      </p:sp>
      <p:sp>
        <p:nvSpPr>
          <p:cNvPr id="32" name="文本框 31"/>
          <p:cNvSpPr txBox="1"/>
          <p:nvPr>
            <p:custDataLst>
              <p:tags r:id="rId79"/>
            </p:custDataLst>
          </p:nvPr>
        </p:nvSpPr>
        <p:spPr>
          <a:xfrm>
            <a:off x="1006475" y="2327275"/>
            <a:ext cx="1408430" cy="252730"/>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服务网点布局合理</a:t>
            </a:r>
            <a:endParaRPr lang="zh-CN" altLang="en-US" sz="1050" dirty="0">
              <a:solidFill>
                <a:srgbClr val="383838"/>
              </a:solidFill>
              <a:latin typeface="微软雅黑"/>
              <a:ea typeface="微软雅黑"/>
              <a:cs typeface="微软雅黑"/>
            </a:endParaRPr>
          </a:p>
        </p:txBody>
      </p:sp>
      <p:sp>
        <p:nvSpPr>
          <p:cNvPr id="35" name="文本框 34"/>
          <p:cNvSpPr txBox="1"/>
          <p:nvPr>
            <p:custDataLst>
              <p:tags r:id="rId80"/>
            </p:custDataLst>
          </p:nvPr>
        </p:nvSpPr>
        <p:spPr>
          <a:xfrm>
            <a:off x="1045845" y="2789555"/>
            <a:ext cx="1409065" cy="252730"/>
          </a:xfrm>
          <a:prstGeom prst="rect">
            <a:avLst/>
          </a:prstGeom>
          <a:noFill/>
        </p:spPr>
        <p:txBody>
          <a:bodyPr wrap="square">
            <a:spAutoFit/>
          </a:bodyPr>
          <a:lstStyle/>
          <a:p>
            <a:pPr algn="ctr">
              <a:defRPr>
                <a:latin typeface="微软雅黑"/>
                <a:ea typeface="微软雅黑"/>
                <a:cs typeface="微软雅黑"/>
              </a:defRPr>
            </a:pPr>
            <a:r>
              <a:rPr lang="zh-CN" sz="1050" dirty="0">
                <a:solidFill>
                  <a:srgbClr val="383838"/>
                </a:solidFill>
                <a:latin typeface="微软雅黑"/>
                <a:ea typeface="微软雅黑"/>
                <a:cs typeface="微软雅黑"/>
              </a:rPr>
              <a:t>稳定长远的合作关系</a:t>
            </a:r>
            <a:endParaRPr lang="zh-CN" sz="1050" dirty="0">
              <a:solidFill>
                <a:srgbClr val="383838"/>
              </a:solidFill>
              <a:latin typeface="微软雅黑"/>
              <a:ea typeface="微软雅黑"/>
              <a:cs typeface="微软雅黑"/>
            </a:endParaRPr>
          </a:p>
        </p:txBody>
      </p:sp>
      <p:sp>
        <p:nvSpPr>
          <p:cNvPr id="37" name="文本框 36"/>
          <p:cNvSpPr txBox="1"/>
          <p:nvPr>
            <p:custDataLst>
              <p:tags r:id="rId81"/>
            </p:custDataLst>
          </p:nvPr>
        </p:nvSpPr>
        <p:spPr>
          <a:xfrm>
            <a:off x="9968865" y="1460500"/>
            <a:ext cx="1182370" cy="252730"/>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精准的目标客群</a:t>
            </a:r>
            <a:endParaRPr lang="zh-CN" altLang="en-US" sz="1050" dirty="0">
              <a:solidFill>
                <a:srgbClr val="383838"/>
              </a:solidFill>
              <a:latin typeface="微软雅黑"/>
              <a:ea typeface="微软雅黑"/>
              <a:cs typeface="微软雅黑"/>
            </a:endParaRPr>
          </a:p>
        </p:txBody>
      </p:sp>
      <p:sp>
        <p:nvSpPr>
          <p:cNvPr id="39" name="文本框 38"/>
          <p:cNvSpPr txBox="1"/>
          <p:nvPr>
            <p:custDataLst>
              <p:tags r:id="rId82"/>
            </p:custDataLst>
          </p:nvPr>
        </p:nvSpPr>
        <p:spPr>
          <a:xfrm>
            <a:off x="9855200" y="1909445"/>
            <a:ext cx="1398270" cy="252730"/>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精准的产品服务</a:t>
            </a:r>
            <a:endParaRPr lang="zh-CN" altLang="en-US" sz="1050" dirty="0">
              <a:solidFill>
                <a:srgbClr val="383838"/>
              </a:solidFill>
              <a:latin typeface="微软雅黑"/>
              <a:ea typeface="微软雅黑"/>
              <a:cs typeface="微软雅黑"/>
            </a:endParaRPr>
          </a:p>
        </p:txBody>
      </p:sp>
      <p:sp>
        <p:nvSpPr>
          <p:cNvPr id="41" name="文本框 40"/>
          <p:cNvSpPr txBox="1"/>
          <p:nvPr>
            <p:custDataLst>
              <p:tags r:id="rId83"/>
            </p:custDataLst>
          </p:nvPr>
        </p:nvSpPr>
        <p:spPr>
          <a:xfrm>
            <a:off x="9855200" y="2361565"/>
            <a:ext cx="1296670" cy="252730"/>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精准的渠道投放</a:t>
            </a:r>
            <a:endParaRPr lang="zh-CN" altLang="en-US" sz="1050" dirty="0">
              <a:solidFill>
                <a:srgbClr val="383838"/>
              </a:solidFill>
              <a:latin typeface="微软雅黑"/>
              <a:ea typeface="微软雅黑"/>
              <a:cs typeface="微软雅黑"/>
            </a:endParaRPr>
          </a:p>
        </p:txBody>
      </p:sp>
      <p:sp>
        <p:nvSpPr>
          <p:cNvPr id="43" name="文本框 42"/>
          <p:cNvSpPr txBox="1"/>
          <p:nvPr>
            <p:custDataLst>
              <p:tags r:id="rId84"/>
            </p:custDataLst>
          </p:nvPr>
        </p:nvSpPr>
        <p:spPr>
          <a:xfrm>
            <a:off x="9968865" y="2814320"/>
            <a:ext cx="1076325" cy="252730"/>
          </a:xfrm>
          <a:prstGeom prst="rect">
            <a:avLst/>
          </a:prstGeom>
          <a:noFill/>
        </p:spPr>
        <p:txBody>
          <a:bodyPr wrap="square">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营销效果提升</a:t>
            </a:r>
            <a:endParaRPr lang="zh-CN" altLang="en-US" sz="1050" dirty="0">
              <a:solidFill>
                <a:srgbClr val="383838"/>
              </a:solidFill>
              <a:latin typeface="微软雅黑"/>
              <a:ea typeface="微软雅黑"/>
              <a:cs typeface="微软雅黑"/>
            </a:endParaRPr>
          </a:p>
        </p:txBody>
      </p:sp>
      <p:sp>
        <p:nvSpPr>
          <p:cNvPr id="49" name="矩形 48"/>
          <p:cNvSpPr/>
          <p:nvPr/>
        </p:nvSpPr>
        <p:spPr>
          <a:xfrm>
            <a:off x="5198745" y="2146935"/>
            <a:ext cx="1969770" cy="519430"/>
          </a:xfrm>
          <a:prstGeom prst="rect">
            <a:avLst/>
          </a:prstGeom>
          <a:solidFill>
            <a:srgbClr val="FFFFFF">
              <a:alpha val="7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4" name="文本框 13"/>
          <p:cNvSpPr txBox="1"/>
          <p:nvPr>
            <p:custDataLst>
              <p:tags r:id="rId85"/>
            </p:custDataLst>
          </p:nvPr>
        </p:nvSpPr>
        <p:spPr>
          <a:xfrm>
            <a:off x="5237163" y="2003425"/>
            <a:ext cx="1892935" cy="790575"/>
          </a:xfrm>
          <a:prstGeom prst="rect">
            <a:avLst/>
          </a:prstGeom>
          <a:noFill/>
          <a:ln w="38100">
            <a:noFill/>
          </a:ln>
          <a:effectLst>
            <a:outerShdw blurRad="411480" dist="123444" dir="5400000" sx="108000" sy="108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algn="ctr">
              <a:defRPr sz="1945">
                <a:solidFill>
                  <a:srgbClr val="383838"/>
                </a:solidFill>
                <a:effectLst>
                  <a:outerShdw blurRad="137160" dist="41148" dir="2699997" algn="tl">
                    <a:srgbClr val="383838">
                      <a:alpha val="40000"/>
                    </a:srgbClr>
                  </a:outerShdw>
                </a:effectLst>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r>
              <a:rPr lang="zh-CN" altLang="en-US" sz="1400" b="1" dirty="0">
                <a:gradFill>
                  <a:gsLst>
                    <a:gs pos="0">
                      <a:srgbClr val="0042FF"/>
                    </a:gs>
                    <a:gs pos="100000">
                      <a:srgbClr val="0042FF"/>
                    </a:gs>
                  </a:gsLst>
                  <a:lin ang="5400000" scaled="0"/>
                </a:gradFill>
                <a:effectLst/>
                <a:latin typeface="微软雅黑"/>
                <a:ea typeface="微软雅黑"/>
                <a:cs typeface="微软雅黑"/>
              </a:rPr>
              <a:t>以客户为中心</a:t>
            </a:r>
            <a:endParaRPr lang="zh-CN" altLang="en-US" sz="1400" b="1" dirty="0">
              <a:gradFill>
                <a:gsLst>
                  <a:gs pos="0">
                    <a:srgbClr val="0042FF"/>
                  </a:gs>
                  <a:gs pos="100000">
                    <a:srgbClr val="0042FF"/>
                  </a:gs>
                </a:gsLst>
                <a:lin ang="5400000" scaled="0"/>
              </a:gradFill>
              <a:effectLst/>
              <a:latin typeface="微软雅黑"/>
              <a:ea typeface="微软雅黑"/>
              <a:cs typeface="微软雅黑"/>
            </a:endParaRPr>
          </a:p>
          <a:p>
            <a:pPr>
              <a:defRPr>
                <a:latin typeface="微软雅黑"/>
                <a:ea typeface="微软雅黑"/>
                <a:cs typeface="微软雅黑"/>
              </a:defRPr>
            </a:pPr>
            <a:r>
              <a:rPr lang="zh-CN" altLang="en-US" sz="1400" b="1" dirty="0">
                <a:gradFill>
                  <a:gsLst>
                    <a:gs pos="0">
                      <a:srgbClr val="0042FF"/>
                    </a:gs>
                    <a:gs pos="100000">
                      <a:srgbClr val="0042FF"/>
                    </a:gs>
                  </a:gsLst>
                  <a:lin ang="5400000" scaled="0"/>
                </a:gradFill>
                <a:effectLst/>
                <a:latin typeface="微软雅黑"/>
                <a:ea typeface="微软雅黑"/>
                <a:cs typeface="微软雅黑"/>
              </a:rPr>
              <a:t>打造差异化竞争优势</a:t>
            </a:r>
            <a:endParaRPr lang="zh-CN" altLang="en-US" sz="1400" b="1" dirty="0">
              <a:gradFill>
                <a:gsLst>
                  <a:gs pos="0">
                    <a:srgbClr val="0042FF"/>
                  </a:gs>
                  <a:gs pos="100000">
                    <a:srgbClr val="0042FF"/>
                  </a:gs>
                </a:gsLst>
                <a:lin ang="5400000" scaled="0"/>
              </a:gradFill>
              <a:effectLst/>
              <a:latin typeface="微软雅黑"/>
              <a:ea typeface="微软雅黑"/>
              <a:cs typeface="微软雅黑"/>
            </a:endParaRPr>
          </a:p>
        </p:txBody>
      </p:sp>
      <p:cxnSp>
        <p:nvCxnSpPr>
          <p:cNvPr id="1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销售团队盈利驱动数模型</a:t>
            </a:r>
            <a:endParaRPr sz="2500" b="0">
              <a:solidFill>
                <a:srgbClr val="383838"/>
              </a:solidFill>
              <a:effectLst/>
              <a:latin typeface="微软雅黑"/>
              <a:ea typeface="微软雅黑"/>
              <a:cs typeface="微软雅黑"/>
            </a:endParaRPr>
          </a:p>
        </p:txBody>
      </p:sp>
      <p:sp>
        <p:nvSpPr>
          <p:cNvPr id="228" name="任意多边形: 形状 471"/>
          <p:cNvSpPr/>
          <p:nvPr/>
        </p:nvSpPr>
        <p:spPr>
          <a:xfrm>
            <a:off x="1340485" y="1614805"/>
            <a:ext cx="9665335" cy="5454015"/>
          </a:xfrm>
          <a:custGeom>
            <a:avLst/>
            <a:gdLst>
              <a:gd name="connsiteX0" fmla="*/ 1964370 w 4538260"/>
              <a:gd name="connsiteY0" fmla="*/ 793413 h 4981567"/>
              <a:gd name="connsiteX1" fmla="*/ 2573890 w 4538260"/>
              <a:gd name="connsiteY1" fmla="*/ 793413 h 4981567"/>
              <a:gd name="connsiteX2" fmla="*/ 4538260 w 4538260"/>
              <a:gd name="connsiteY2" fmla="*/ 4981567 h 4981567"/>
              <a:gd name="connsiteX3" fmla="*/ 0 w 4538260"/>
              <a:gd name="connsiteY3" fmla="*/ 4981567 h 4981567"/>
              <a:gd name="connsiteX4" fmla="*/ 1964370 w 4538260"/>
              <a:gd name="connsiteY4" fmla="*/ 793413 h 4981567"/>
              <a:gd name="connsiteX5" fmla="*/ 2265980 w 4538260"/>
              <a:gd name="connsiteY5" fmla="*/ 0 h 4981567"/>
              <a:gd name="connsiteX6" fmla="*/ 2844799 w 4538260"/>
              <a:gd name="connsiteY6" fmla="*/ 793412 h 4981567"/>
              <a:gd name="connsiteX7" fmla="*/ 1687160 w 4538260"/>
              <a:gd name="connsiteY7" fmla="*/ 793412 h 4981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260" h="4981567">
                <a:moveTo>
                  <a:pt x="1964370" y="793413"/>
                </a:moveTo>
                <a:lnTo>
                  <a:pt x="2573890" y="793413"/>
                </a:lnTo>
                <a:cubicBezTo>
                  <a:pt x="2604566" y="2305579"/>
                  <a:pt x="3215812" y="3817744"/>
                  <a:pt x="4538260" y="4981567"/>
                </a:cubicBezTo>
                <a:lnTo>
                  <a:pt x="0" y="4981567"/>
                </a:lnTo>
                <a:cubicBezTo>
                  <a:pt x="1627247" y="3904830"/>
                  <a:pt x="1817580" y="2334607"/>
                  <a:pt x="1964370" y="793413"/>
                </a:cubicBezTo>
                <a:close/>
                <a:moveTo>
                  <a:pt x="2265980" y="0"/>
                </a:moveTo>
                <a:lnTo>
                  <a:pt x="2844799" y="793412"/>
                </a:lnTo>
                <a:lnTo>
                  <a:pt x="1687160" y="793412"/>
                </a:lnTo>
                <a:close/>
              </a:path>
            </a:pathLst>
          </a:custGeom>
          <a:solidFill>
            <a:srgbClr val="E6E6E6"/>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30" name="矩形: 圆角 32"/>
          <p:cNvSpPr/>
          <p:nvPr/>
        </p:nvSpPr>
        <p:spPr>
          <a:xfrm flipH="1">
            <a:off x="8048625" y="3343910"/>
            <a:ext cx="1536065"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1" name="矩形: 圆角 34"/>
          <p:cNvSpPr/>
          <p:nvPr/>
        </p:nvSpPr>
        <p:spPr>
          <a:xfrm flipH="1">
            <a:off x="8374380" y="3894455"/>
            <a:ext cx="1897380" cy="364490"/>
          </a:xfrm>
          <a:prstGeom prst="roundRect">
            <a:avLst>
              <a:gd name="adj" fmla="val 50000"/>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32" name="矩形: 圆角 35"/>
          <p:cNvSpPr/>
          <p:nvPr/>
        </p:nvSpPr>
        <p:spPr>
          <a:xfrm flipH="1">
            <a:off x="8883650" y="4463415"/>
            <a:ext cx="1536065"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3" name="矩形: 圆角 36"/>
          <p:cNvSpPr/>
          <p:nvPr/>
        </p:nvSpPr>
        <p:spPr>
          <a:xfrm flipH="1">
            <a:off x="9404350" y="5106035"/>
            <a:ext cx="1536065" cy="364490"/>
          </a:xfrm>
          <a:prstGeom prst="roundRect">
            <a:avLst>
              <a:gd name="adj" fmla="val 50000"/>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34" name="矩形: 圆角 37"/>
          <p:cNvSpPr/>
          <p:nvPr/>
        </p:nvSpPr>
        <p:spPr>
          <a:xfrm flipH="1">
            <a:off x="9825990" y="5669280"/>
            <a:ext cx="1536065"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5" name="矩形: 圆角 38"/>
          <p:cNvSpPr/>
          <p:nvPr/>
        </p:nvSpPr>
        <p:spPr>
          <a:xfrm flipH="1">
            <a:off x="7353300" y="2734945"/>
            <a:ext cx="1536065"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7" name="矩形: 圆角 473"/>
          <p:cNvSpPr/>
          <p:nvPr/>
        </p:nvSpPr>
        <p:spPr>
          <a:xfrm>
            <a:off x="2893378" y="3288030"/>
            <a:ext cx="1366520"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8" name="矩形: 圆角 474"/>
          <p:cNvSpPr/>
          <p:nvPr/>
        </p:nvSpPr>
        <p:spPr>
          <a:xfrm>
            <a:off x="2568258" y="3858895"/>
            <a:ext cx="1536065" cy="364490"/>
          </a:xfrm>
          <a:prstGeom prst="roundRect">
            <a:avLst>
              <a:gd name="adj" fmla="val 50000"/>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9" name="矩形: 圆角 475"/>
          <p:cNvSpPr/>
          <p:nvPr/>
        </p:nvSpPr>
        <p:spPr>
          <a:xfrm>
            <a:off x="2013585" y="4463415"/>
            <a:ext cx="1351280" cy="364490"/>
          </a:xfrm>
          <a:prstGeom prst="roundRect">
            <a:avLst>
              <a:gd name="adj" fmla="val 50000"/>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40" name="矩形: 圆角 476"/>
          <p:cNvSpPr/>
          <p:nvPr/>
        </p:nvSpPr>
        <p:spPr>
          <a:xfrm>
            <a:off x="1391285" y="5106035"/>
            <a:ext cx="1536065"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41" name="矩形: 圆角 477"/>
          <p:cNvSpPr/>
          <p:nvPr/>
        </p:nvSpPr>
        <p:spPr>
          <a:xfrm>
            <a:off x="772795" y="5669280"/>
            <a:ext cx="1637665"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42" name="矩形: 圆角 472"/>
          <p:cNvSpPr/>
          <p:nvPr/>
        </p:nvSpPr>
        <p:spPr>
          <a:xfrm>
            <a:off x="3579495" y="2734945"/>
            <a:ext cx="1536065" cy="364490"/>
          </a:xfrm>
          <a:prstGeom prst="roundRect">
            <a:avLst>
              <a:gd name="adj" fmla="val 50000"/>
            </a:avLst>
          </a:pr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48" name="文本框 247"/>
          <p:cNvSpPr txBox="1"/>
          <p:nvPr/>
        </p:nvSpPr>
        <p:spPr>
          <a:xfrm>
            <a:off x="4961890" y="901065"/>
            <a:ext cx="2371725" cy="721995"/>
          </a:xfrm>
          <a:prstGeom prst="rect">
            <a:avLst/>
          </a:prstGeom>
          <a:noFill/>
        </p:spPr>
        <p:txBody>
          <a:bodyPr wrap="square" rtlCol="0" lIns="0" rIns="0" tIns="0" bIns="0">
            <a:spAutoFit/>
          </a:bodyPr>
          <a:lstStyle>
            <a:defPPr>
              <a:defRPr lang="zh-CN">
                <a:latin typeface="微软雅黑"/>
                <a:ea typeface="微软雅黑"/>
                <a:cs typeface="微软雅黑"/>
              </a:defRPr>
            </a:defPPr>
          </a:lstStyle>
          <a:p>
            <a:pPr algn="ctr">
              <a:defRPr>
                <a:latin typeface="微软雅黑"/>
                <a:ea typeface="微软雅黑"/>
                <a:cs typeface="微软雅黑"/>
              </a:defRPr>
            </a:pPr>
            <a:r>
              <a:rPr lang="zh-CN" altLang="en-US" sz="1600" dirty="0">
                <a:solidFill>
                  <a:srgbClr val="0042FF"/>
                </a:solidFill>
                <a:latin typeface="微软雅黑"/>
                <a:ea typeface="微软雅黑"/>
                <a:cs typeface="微软雅黑"/>
              </a:rPr>
              <a:t>营业额</a:t>
            </a:r>
            <a:endParaRPr lang="en-US" altLang="zh-CN" sz="1600" dirty="0">
              <a:solidFill>
                <a:srgbClr val="0042FF"/>
              </a:solidFill>
              <a:latin typeface="微软雅黑"/>
              <a:ea typeface="微软雅黑"/>
              <a:cs typeface="微软雅黑"/>
            </a:endParaRPr>
          </a:p>
          <a:p>
            <a:pPr algn="ctr">
              <a:defRPr>
                <a:latin typeface="微软雅黑"/>
                <a:ea typeface="微软雅黑"/>
                <a:cs typeface="微软雅黑"/>
              </a:defRPr>
            </a:pPr>
            <a:r>
              <a:rPr lang="en-US" altLang="zh-CN" sz="2500" b="1" dirty="0">
                <a:solidFill>
                  <a:srgbClr val="0042FF"/>
                </a:solidFill>
                <a:latin typeface="微软雅黑"/>
                <a:ea typeface="微软雅黑"/>
                <a:cs typeface="微软雅黑"/>
              </a:rPr>
              <a:t>10,000,000</a:t>
            </a:r>
            <a:endParaRPr lang="en-US" altLang="zh-CN" sz="2500" b="1" dirty="0">
              <a:solidFill>
                <a:srgbClr val="0042FF"/>
              </a:solidFill>
              <a:latin typeface="微软雅黑"/>
              <a:ea typeface="微软雅黑"/>
              <a:cs typeface="微软雅黑"/>
            </a:endParaRPr>
          </a:p>
        </p:txBody>
      </p:sp>
      <p:sp>
        <p:nvSpPr>
          <p:cNvPr id="249" name="任意多边形: 形状 6"/>
          <p:cNvSpPr/>
          <p:nvPr/>
        </p:nvSpPr>
        <p:spPr>
          <a:xfrm>
            <a:off x="3448685" y="1765300"/>
            <a:ext cx="5398135" cy="5303520"/>
          </a:xfrm>
          <a:custGeom>
            <a:avLst/>
            <a:gdLst>
              <a:gd name="connsiteX0" fmla="*/ 1964370 w 4538260"/>
              <a:gd name="connsiteY0" fmla="*/ 793413 h 4981567"/>
              <a:gd name="connsiteX1" fmla="*/ 2573890 w 4538260"/>
              <a:gd name="connsiteY1" fmla="*/ 793413 h 4981567"/>
              <a:gd name="connsiteX2" fmla="*/ 4538260 w 4538260"/>
              <a:gd name="connsiteY2" fmla="*/ 4981567 h 4981567"/>
              <a:gd name="connsiteX3" fmla="*/ 0 w 4538260"/>
              <a:gd name="connsiteY3" fmla="*/ 4981567 h 4981567"/>
              <a:gd name="connsiteX4" fmla="*/ 1964370 w 4538260"/>
              <a:gd name="connsiteY4" fmla="*/ 793413 h 4981567"/>
              <a:gd name="connsiteX5" fmla="*/ 2265980 w 4538260"/>
              <a:gd name="connsiteY5" fmla="*/ 0 h 4981567"/>
              <a:gd name="connsiteX6" fmla="*/ 2844799 w 4538260"/>
              <a:gd name="connsiteY6" fmla="*/ 793412 h 4981567"/>
              <a:gd name="connsiteX7" fmla="*/ 1687160 w 4538260"/>
              <a:gd name="connsiteY7" fmla="*/ 793412 h 4981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260" h="4981567">
                <a:moveTo>
                  <a:pt x="1964370" y="793413"/>
                </a:moveTo>
                <a:lnTo>
                  <a:pt x="2573890" y="793413"/>
                </a:lnTo>
                <a:cubicBezTo>
                  <a:pt x="2604566" y="2305579"/>
                  <a:pt x="3215812" y="3817744"/>
                  <a:pt x="4538260" y="4981567"/>
                </a:cubicBezTo>
                <a:lnTo>
                  <a:pt x="0" y="4981567"/>
                </a:lnTo>
                <a:cubicBezTo>
                  <a:pt x="1627247" y="3904830"/>
                  <a:pt x="1817580" y="2334607"/>
                  <a:pt x="1964370" y="793413"/>
                </a:cubicBezTo>
                <a:close/>
                <a:moveTo>
                  <a:pt x="2265980" y="0"/>
                </a:moveTo>
                <a:lnTo>
                  <a:pt x="2844799" y="793412"/>
                </a:lnTo>
                <a:lnTo>
                  <a:pt x="1687160" y="793412"/>
                </a:lnTo>
                <a:close/>
              </a:path>
            </a:pathLst>
          </a:custGeom>
          <a:gradFill>
            <a:gsLst>
              <a:gs pos="100000">
                <a:srgbClr val="3368FF"/>
              </a:gs>
              <a:gs pos="0">
                <a:srgbClr val="0042FF"/>
              </a:gs>
            </a:gsLst>
            <a:lin ang="5400000" scaled="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50" name="不完整圆 235"/>
          <p:cNvSpPr/>
          <p:nvPr/>
        </p:nvSpPr>
        <p:spPr>
          <a:xfrm>
            <a:off x="2640330" y="5359400"/>
            <a:ext cx="7014845" cy="77660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57150">
            <a:gradFill flip="none" rotWithShape="1">
              <a:gsLst>
                <a:gs pos="0">
                  <a:srgbClr val="3368FF">
                    <a:alpha val="0"/>
                  </a:srgbClr>
                </a:gs>
                <a:gs pos="100000">
                  <a:srgbClr val="3368FF"/>
                </a:gs>
              </a:gsLst>
              <a:lin ang="5400000" scaled="1"/>
              <a:tileRect/>
            </a:gradFill>
            <a:prstDash val="solid"/>
          </a:ln>
          <a:effectLst>
            <a:outerShdw blurRad="63500" sx="102000" sy="102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251" name="不完整圆 235"/>
          <p:cNvSpPr/>
          <p:nvPr/>
        </p:nvSpPr>
        <p:spPr>
          <a:xfrm>
            <a:off x="3492500" y="4244340"/>
            <a:ext cx="5309870" cy="58801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57150">
            <a:gradFill flip="none" rotWithShape="1">
              <a:gsLst>
                <a:gs pos="0">
                  <a:srgbClr val="3368FF">
                    <a:alpha val="0"/>
                  </a:srgbClr>
                </a:gs>
                <a:gs pos="100000">
                  <a:srgbClr val="3368FF"/>
                </a:gs>
              </a:gsLst>
              <a:lin ang="5400000" scaled="1"/>
              <a:tileRect/>
            </a:gradFill>
            <a:prstDash val="solid"/>
          </a:ln>
          <a:effectLst>
            <a:outerShdw blurRad="63500" sx="102000" sy="102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252" name="不完整圆 235"/>
          <p:cNvSpPr/>
          <p:nvPr/>
        </p:nvSpPr>
        <p:spPr>
          <a:xfrm>
            <a:off x="4306570" y="3126740"/>
            <a:ext cx="3682365" cy="40767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57150">
            <a:gradFill flip="none" rotWithShape="1">
              <a:gsLst>
                <a:gs pos="0">
                  <a:srgbClr val="3368FF">
                    <a:alpha val="0"/>
                  </a:srgbClr>
                </a:gs>
                <a:gs pos="100000">
                  <a:srgbClr val="3368FF"/>
                </a:gs>
              </a:gsLst>
              <a:lin ang="5400000" scaled="1"/>
              <a:tileRect/>
            </a:gradFill>
            <a:prstDash val="solid"/>
          </a:ln>
          <a:effectLst>
            <a:outerShdw blurRad="63500" sx="102000" sy="102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253" name="任意多边形: 形状 17"/>
          <p:cNvSpPr/>
          <p:nvPr/>
        </p:nvSpPr>
        <p:spPr>
          <a:xfrm flipH="1">
            <a:off x="6744970" y="3686810"/>
            <a:ext cx="2066925" cy="2924175"/>
          </a:xfrm>
          <a:custGeom>
            <a:avLst/>
            <a:gdLst>
              <a:gd name="connsiteX0" fmla="*/ 0 w 1841500"/>
              <a:gd name="connsiteY0" fmla="*/ 2895600 h 2895600"/>
              <a:gd name="connsiteX1" fmla="*/ 1841500 w 1841500"/>
              <a:gd name="connsiteY1" fmla="*/ 0 h 2895600"/>
              <a:gd name="connsiteX0-1" fmla="*/ 0 w 1841500"/>
              <a:gd name="connsiteY0-2" fmla="*/ 2895600 h 2895600"/>
              <a:gd name="connsiteX1-3" fmla="*/ 1841500 w 1841500"/>
              <a:gd name="connsiteY1-4" fmla="*/ 0 h 2895600"/>
              <a:gd name="connsiteX0-5" fmla="*/ 0 w 1841500"/>
              <a:gd name="connsiteY0-6" fmla="*/ 2895600 h 2895600"/>
              <a:gd name="connsiteX1-7" fmla="*/ 1841500 w 1841500"/>
              <a:gd name="connsiteY1-8" fmla="*/ 0 h 2895600"/>
              <a:gd name="connsiteX0-9" fmla="*/ 0 w 1841500"/>
              <a:gd name="connsiteY0-10" fmla="*/ 2895600 h 2895600"/>
              <a:gd name="connsiteX1-11" fmla="*/ 1841500 w 1841500"/>
              <a:gd name="connsiteY1-12" fmla="*/ 0 h 2895600"/>
              <a:gd name="connsiteX0-13" fmla="*/ 0 w 1891628"/>
              <a:gd name="connsiteY0-14" fmla="*/ 3005559 h 3005559"/>
              <a:gd name="connsiteX1-15" fmla="*/ 1891628 w 1891628"/>
              <a:gd name="connsiteY1-16" fmla="*/ 0 h 3005559"/>
              <a:gd name="connsiteX0-17" fmla="*/ 0 w 1891628"/>
              <a:gd name="connsiteY0-18" fmla="*/ 3005559 h 3005559"/>
              <a:gd name="connsiteX1-19" fmla="*/ 1891628 w 1891628"/>
              <a:gd name="connsiteY1-20" fmla="*/ 0 h 3005559"/>
            </a:gdLst>
            <a:ahLst/>
            <a:cxnLst>
              <a:cxn ang="0">
                <a:pos x="connsiteX0-1" y="connsiteY0-2"/>
              </a:cxn>
              <a:cxn ang="0">
                <a:pos x="connsiteX1-3" y="connsiteY1-4"/>
              </a:cxn>
            </a:cxnLst>
            <a:rect l="l" t="t" r="r" b="b"/>
            <a:pathLst>
              <a:path w="1891628" h="3005559">
                <a:moveTo>
                  <a:pt x="0" y="3005559"/>
                </a:moveTo>
                <a:cubicBezTo>
                  <a:pt x="969433" y="2294359"/>
                  <a:pt x="1631717" y="1483007"/>
                  <a:pt x="1891628" y="0"/>
                </a:cubicBezTo>
              </a:path>
            </a:pathLst>
          </a:custGeom>
          <a:noFill/>
          <a:ln>
            <a:gradFill>
              <a:gsLst>
                <a:gs pos="0">
                  <a:srgbClr val="668EFF"/>
                </a:gs>
                <a:gs pos="100000">
                  <a:srgbClr val="668E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5" name="object 57"/>
          <p:cNvSpPr txBox="1"/>
          <p:nvPr/>
        </p:nvSpPr>
        <p:spPr>
          <a:xfrm>
            <a:off x="5595620" y="5235575"/>
            <a:ext cx="1104265" cy="271145"/>
          </a:xfrm>
          <a:prstGeom prst="rect">
            <a:avLst/>
          </a:prstGeom>
        </p:spPr>
        <p:txBody>
          <a:bodyPr vert="horz" wrap="square" lIns="0" tIns="13335" rIns="0" bIns="0" rtlCol="0">
            <a:spAutoFit/>
          </a:bodyPr>
          <a:lstStyle/>
          <a:p>
            <a:pPr marL="12700" marR="5080" algn="ctr">
              <a:lnSpc>
                <a:spcPct val="120000"/>
              </a:lnSpc>
              <a:spcBef>
                <a:spcPts val="105"/>
              </a:spcBef>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第一步</a:t>
            </a:r>
            <a:endParaRPr lang="zh-CN" altLang="en-US" sz="1400" dirty="0">
              <a:solidFill>
                <a:srgbClr val="FFFFFF"/>
              </a:solidFill>
              <a:latin typeface="微软雅黑"/>
              <a:ea typeface="微软雅黑"/>
              <a:cs typeface="微软雅黑"/>
            </a:endParaRPr>
          </a:p>
        </p:txBody>
      </p:sp>
      <p:sp>
        <p:nvSpPr>
          <p:cNvPr id="256" name="object 57"/>
          <p:cNvSpPr txBox="1"/>
          <p:nvPr/>
        </p:nvSpPr>
        <p:spPr>
          <a:xfrm>
            <a:off x="5374640" y="5568950"/>
            <a:ext cx="1546860" cy="418465"/>
          </a:xfrm>
          <a:prstGeom prst="rect">
            <a:avLst/>
          </a:prstGeom>
        </p:spPr>
        <p:txBody>
          <a:bodyPr vert="horz" wrap="square" lIns="0" tIns="13335" rIns="0" bIns="0" rtlCol="0">
            <a:spAutoFit/>
          </a:bodyPr>
          <a:lstStyle/>
          <a:p>
            <a:pPr marL="12700" marR="5080" algn="ctr">
              <a:lnSpc>
                <a:spcPct val="120000"/>
              </a:lnSpc>
              <a:spcBef>
                <a:spcPts val="105"/>
              </a:spcBef>
              <a:defRPr>
                <a:solidFill>
                  <a:srgbClr val="FFFFFF"/>
                </a:solidFill>
                <a:latin typeface="微软雅黑"/>
                <a:ea typeface="微软雅黑"/>
                <a:cs typeface="微软雅黑"/>
              </a:defRPr>
            </a:pPr>
            <a:r>
              <a:rPr lang="zh-CN" altLang="en-US" sz="1100" dirty="0">
                <a:solidFill>
                  <a:srgbClr val="FFFFFF"/>
                </a:solidFill>
                <a:latin typeface="微软雅黑"/>
                <a:ea typeface="微软雅黑"/>
                <a:cs typeface="微软雅黑"/>
              </a:rPr>
              <a:t>扩充销售团队，建立相关制度保障</a:t>
            </a:r>
            <a:endParaRPr lang="zh-CN" altLang="en-US" sz="1100" dirty="0">
              <a:solidFill>
                <a:srgbClr val="FFFFFF"/>
              </a:solidFill>
              <a:latin typeface="微软雅黑"/>
              <a:ea typeface="微软雅黑"/>
              <a:cs typeface="微软雅黑"/>
            </a:endParaRPr>
          </a:p>
        </p:txBody>
      </p:sp>
      <p:sp>
        <p:nvSpPr>
          <p:cNvPr id="257" name="object 57"/>
          <p:cNvSpPr txBox="1"/>
          <p:nvPr/>
        </p:nvSpPr>
        <p:spPr>
          <a:xfrm>
            <a:off x="5595620" y="3930650"/>
            <a:ext cx="1104265" cy="271145"/>
          </a:xfrm>
          <a:prstGeom prst="rect">
            <a:avLst/>
          </a:prstGeom>
        </p:spPr>
        <p:txBody>
          <a:bodyPr vert="horz" wrap="square" lIns="0" tIns="13335" rIns="0" bIns="0" rtlCol="0">
            <a:spAutoFit/>
          </a:bodyPr>
          <a:lstStyle/>
          <a:p>
            <a:pPr marL="12700" marR="5080" algn="ctr">
              <a:lnSpc>
                <a:spcPct val="120000"/>
              </a:lnSpc>
              <a:spcBef>
                <a:spcPts val="105"/>
              </a:spcBef>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第二步</a:t>
            </a:r>
            <a:endParaRPr lang="zh-CN" altLang="en-US" sz="1400" dirty="0">
              <a:solidFill>
                <a:srgbClr val="FFFFFF"/>
              </a:solidFill>
              <a:latin typeface="微软雅黑"/>
              <a:ea typeface="微软雅黑"/>
              <a:cs typeface="微软雅黑"/>
            </a:endParaRPr>
          </a:p>
        </p:txBody>
      </p:sp>
      <p:sp>
        <p:nvSpPr>
          <p:cNvPr id="258" name="object 57"/>
          <p:cNvSpPr txBox="1"/>
          <p:nvPr/>
        </p:nvSpPr>
        <p:spPr>
          <a:xfrm>
            <a:off x="5160010" y="4264025"/>
            <a:ext cx="1975485" cy="431800"/>
          </a:xfrm>
          <a:prstGeom prst="rect">
            <a:avLst/>
          </a:prstGeom>
        </p:spPr>
        <p:txBody>
          <a:bodyPr vert="horz" wrap="square" lIns="0" tIns="13335" rIns="0" bIns="0" rtlCol="0">
            <a:spAutoFit/>
          </a:bodyPr>
          <a:lstStyle/>
          <a:p>
            <a:pPr marL="12700" marR="5080" algn="ctr">
              <a:lnSpc>
                <a:spcPct val="120000"/>
              </a:lnSpc>
              <a:spcBef>
                <a:spcPts val="105"/>
              </a:spcBef>
              <a:defRPr>
                <a:solidFill>
                  <a:srgbClr val="FFFFFF"/>
                </a:solidFill>
                <a:latin typeface="微软雅黑"/>
                <a:ea typeface="微软雅黑"/>
                <a:cs typeface="微软雅黑"/>
              </a:defRPr>
            </a:pPr>
            <a:r>
              <a:rPr lang="zh-CN" altLang="en-US" sz="1100" dirty="0">
                <a:solidFill>
                  <a:srgbClr val="FFFFFF"/>
                </a:solidFill>
                <a:latin typeface="微软雅黑"/>
                <a:ea typeface="微软雅黑"/>
                <a:cs typeface="微软雅黑"/>
              </a:rPr>
              <a:t>关键项目攻坚</a:t>
            </a:r>
            <a:endParaRPr lang="en-US" altLang="zh-CN" sz="1100" dirty="0">
              <a:solidFill>
                <a:srgbClr val="FFFFFF"/>
              </a:solidFill>
              <a:latin typeface="微软雅黑"/>
              <a:ea typeface="微软雅黑"/>
              <a:cs typeface="微软雅黑"/>
            </a:endParaRPr>
          </a:p>
          <a:p>
            <a:pPr marL="12700" marR="5080" algn="ctr">
              <a:lnSpc>
                <a:spcPct val="120000"/>
              </a:lnSpc>
              <a:spcBef>
                <a:spcPts val="105"/>
              </a:spcBef>
              <a:defRPr>
                <a:solidFill>
                  <a:srgbClr val="FFFFFF"/>
                </a:solidFill>
                <a:latin typeface="微软雅黑"/>
                <a:ea typeface="微软雅黑"/>
                <a:cs typeface="微软雅黑"/>
              </a:defRPr>
            </a:pPr>
            <a:r>
              <a:rPr lang="zh-CN" altLang="en-US" sz="1100" dirty="0">
                <a:solidFill>
                  <a:srgbClr val="FFFFFF"/>
                </a:solidFill>
                <a:latin typeface="微软雅黑"/>
                <a:ea typeface="微软雅黑"/>
                <a:cs typeface="微软雅黑"/>
              </a:rPr>
              <a:t>普通项目规模化</a:t>
            </a:r>
            <a:endParaRPr sz="1100" dirty="0">
              <a:solidFill>
                <a:srgbClr val="FFFFFF"/>
              </a:solidFill>
              <a:latin typeface="微软雅黑"/>
              <a:ea typeface="微软雅黑"/>
              <a:cs typeface="微软雅黑"/>
            </a:endParaRPr>
          </a:p>
        </p:txBody>
      </p:sp>
      <p:sp>
        <p:nvSpPr>
          <p:cNvPr id="259" name="object 57"/>
          <p:cNvSpPr txBox="1"/>
          <p:nvPr/>
        </p:nvSpPr>
        <p:spPr>
          <a:xfrm>
            <a:off x="5595620" y="2843530"/>
            <a:ext cx="1104265" cy="271145"/>
          </a:xfrm>
          <a:prstGeom prst="rect">
            <a:avLst/>
          </a:prstGeom>
        </p:spPr>
        <p:txBody>
          <a:bodyPr vert="horz" wrap="square" lIns="0" tIns="13335" rIns="0" bIns="0" rtlCol="0">
            <a:spAutoFit/>
          </a:bodyPr>
          <a:lstStyle/>
          <a:p>
            <a:pPr marL="12700" marR="5080" algn="ctr">
              <a:lnSpc>
                <a:spcPct val="120000"/>
              </a:lnSpc>
              <a:spcBef>
                <a:spcPts val="105"/>
              </a:spcBef>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第三步</a:t>
            </a:r>
            <a:endParaRPr lang="zh-CN" altLang="en-US" sz="1400" dirty="0">
              <a:solidFill>
                <a:srgbClr val="FFFFFF"/>
              </a:solidFill>
              <a:latin typeface="微软雅黑"/>
              <a:ea typeface="微软雅黑"/>
              <a:cs typeface="微软雅黑"/>
            </a:endParaRPr>
          </a:p>
        </p:txBody>
      </p:sp>
      <p:sp>
        <p:nvSpPr>
          <p:cNvPr id="260" name="object 57"/>
          <p:cNvSpPr txBox="1"/>
          <p:nvPr/>
        </p:nvSpPr>
        <p:spPr>
          <a:xfrm>
            <a:off x="5160010" y="3176905"/>
            <a:ext cx="1975485" cy="215900"/>
          </a:xfrm>
          <a:prstGeom prst="rect">
            <a:avLst/>
          </a:prstGeom>
        </p:spPr>
        <p:txBody>
          <a:bodyPr vert="horz" wrap="square" lIns="0" tIns="13335" rIns="0" bIns="0" rtlCol="0">
            <a:spAutoFit/>
          </a:bodyPr>
          <a:lstStyle/>
          <a:p>
            <a:pPr marL="12700" marR="5080" algn="ctr">
              <a:lnSpc>
                <a:spcPct val="120000"/>
              </a:lnSpc>
              <a:spcBef>
                <a:spcPts val="105"/>
              </a:spcBef>
              <a:defRPr>
                <a:solidFill>
                  <a:srgbClr val="FFFFFF"/>
                </a:solidFill>
                <a:latin typeface="微软雅黑"/>
                <a:ea typeface="微软雅黑"/>
                <a:cs typeface="微软雅黑"/>
              </a:defRPr>
            </a:pPr>
            <a:r>
              <a:rPr lang="zh-CN" altLang="en-US" sz="1100" dirty="0">
                <a:solidFill>
                  <a:srgbClr val="FFFFFF"/>
                </a:solidFill>
                <a:latin typeface="微软雅黑"/>
                <a:ea typeface="微软雅黑"/>
                <a:cs typeface="微软雅黑"/>
              </a:rPr>
              <a:t>保交付</a:t>
            </a:r>
            <a:endParaRPr lang="zh-CN" altLang="en-US" sz="1100" dirty="0">
              <a:solidFill>
                <a:srgbClr val="FFFFFF"/>
              </a:solidFill>
              <a:latin typeface="微软雅黑"/>
              <a:ea typeface="微软雅黑"/>
              <a:cs typeface="微软雅黑"/>
            </a:endParaRPr>
          </a:p>
        </p:txBody>
      </p:sp>
      <p:cxnSp>
        <p:nvCxnSpPr>
          <p:cNvPr id="261" name="直接连接符 260"/>
          <p:cNvCxnSpPr/>
          <p:nvPr/>
        </p:nvCxnSpPr>
        <p:spPr>
          <a:xfrm flipV="1">
            <a:off x="7239000" y="2999105"/>
            <a:ext cx="128905" cy="12827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262" name="组合 261"/>
          <p:cNvGrpSpPr/>
          <p:nvPr/>
        </p:nvGrpSpPr>
        <p:grpSpPr>
          <a:xfrm>
            <a:off x="7138035" y="3088640"/>
            <a:ext cx="100965" cy="100965"/>
            <a:chOff x="7115077" y="2692356"/>
            <a:chExt cx="108000" cy="108000"/>
          </a:xfrm>
        </p:grpSpPr>
        <p:sp>
          <p:nvSpPr>
            <p:cNvPr id="263" name="椭圆 262"/>
            <p:cNvSpPr/>
            <p:nvPr>
              <p:custDataLst>
                <p:tags r:id="rId1"/>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264" name="椭圆 263"/>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cxnSp>
        <p:nvCxnSpPr>
          <p:cNvPr id="266" name="直接连接符 265"/>
          <p:cNvCxnSpPr>
            <a:endCxn id="230" idx="3"/>
          </p:cNvCxnSpPr>
          <p:nvPr/>
        </p:nvCxnSpPr>
        <p:spPr>
          <a:xfrm>
            <a:off x="7644130" y="3454400"/>
            <a:ext cx="404495" cy="71755"/>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267" name="组合 266"/>
          <p:cNvGrpSpPr/>
          <p:nvPr/>
        </p:nvGrpSpPr>
        <p:grpSpPr>
          <a:xfrm>
            <a:off x="7542530" y="3403600"/>
            <a:ext cx="100965" cy="100965"/>
            <a:chOff x="7115077" y="2692356"/>
            <a:chExt cx="108000" cy="108000"/>
          </a:xfrm>
        </p:grpSpPr>
        <p:sp>
          <p:nvSpPr>
            <p:cNvPr id="268" name="椭圆 267"/>
            <p:cNvSpPr/>
            <p:nvPr>
              <p:custDataLst>
                <p:tags r:id="rId2"/>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269" name="椭圆 268"/>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cxnSp>
        <p:nvCxnSpPr>
          <p:cNvPr id="271" name="直接连接符 270"/>
          <p:cNvCxnSpPr/>
          <p:nvPr/>
        </p:nvCxnSpPr>
        <p:spPr>
          <a:xfrm flipV="1">
            <a:off x="8305800" y="4160520"/>
            <a:ext cx="128905" cy="12827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272" name="组合 271"/>
          <p:cNvGrpSpPr/>
          <p:nvPr/>
        </p:nvGrpSpPr>
        <p:grpSpPr>
          <a:xfrm>
            <a:off x="8204835" y="4250055"/>
            <a:ext cx="100965" cy="100965"/>
            <a:chOff x="7115077" y="2692356"/>
            <a:chExt cx="108000" cy="108000"/>
          </a:xfrm>
        </p:grpSpPr>
        <p:sp>
          <p:nvSpPr>
            <p:cNvPr id="273" name="椭圆 272"/>
            <p:cNvSpPr/>
            <p:nvPr>
              <p:custDataLst>
                <p:tags r:id="rId3"/>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275" name="椭圆 274"/>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cxnSp>
        <p:nvCxnSpPr>
          <p:cNvPr id="277" name="直接连接符 276"/>
          <p:cNvCxnSpPr/>
          <p:nvPr/>
        </p:nvCxnSpPr>
        <p:spPr>
          <a:xfrm>
            <a:off x="8710930" y="4615815"/>
            <a:ext cx="279400" cy="1651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278" name="组合 277"/>
          <p:cNvGrpSpPr/>
          <p:nvPr/>
        </p:nvGrpSpPr>
        <p:grpSpPr>
          <a:xfrm>
            <a:off x="8609330" y="4565015"/>
            <a:ext cx="100965" cy="100965"/>
            <a:chOff x="7115077" y="2692356"/>
            <a:chExt cx="108000" cy="108000"/>
          </a:xfrm>
        </p:grpSpPr>
        <p:sp>
          <p:nvSpPr>
            <p:cNvPr id="280" name="椭圆 279"/>
            <p:cNvSpPr/>
            <p:nvPr>
              <p:custDataLst>
                <p:tags r:id="rId4"/>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283" name="椭圆 282"/>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cxnSp>
        <p:nvCxnSpPr>
          <p:cNvPr id="285" name="直接连接符 284"/>
          <p:cNvCxnSpPr>
            <a:endCxn id="233" idx="3"/>
          </p:cNvCxnSpPr>
          <p:nvPr/>
        </p:nvCxnSpPr>
        <p:spPr>
          <a:xfrm flipV="1">
            <a:off x="9222740" y="5288280"/>
            <a:ext cx="181610" cy="21336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286" name="组合 285"/>
          <p:cNvGrpSpPr/>
          <p:nvPr/>
        </p:nvGrpSpPr>
        <p:grpSpPr>
          <a:xfrm>
            <a:off x="9121775" y="5462905"/>
            <a:ext cx="100965" cy="100965"/>
            <a:chOff x="7115077" y="2692356"/>
            <a:chExt cx="108000" cy="108000"/>
          </a:xfrm>
        </p:grpSpPr>
        <p:sp>
          <p:nvSpPr>
            <p:cNvPr id="287" name="椭圆 286"/>
            <p:cNvSpPr/>
            <p:nvPr>
              <p:custDataLst>
                <p:tags r:id="rId5"/>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288" name="椭圆 287"/>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cxnSp>
        <p:nvCxnSpPr>
          <p:cNvPr id="291" name="直接连接符 290"/>
          <p:cNvCxnSpPr/>
          <p:nvPr/>
        </p:nvCxnSpPr>
        <p:spPr>
          <a:xfrm>
            <a:off x="9627870" y="5828665"/>
            <a:ext cx="279400" cy="1651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292" name="组合 291"/>
          <p:cNvGrpSpPr/>
          <p:nvPr/>
        </p:nvGrpSpPr>
        <p:grpSpPr>
          <a:xfrm>
            <a:off x="9526905" y="5777865"/>
            <a:ext cx="100965" cy="100965"/>
            <a:chOff x="7115077" y="2692356"/>
            <a:chExt cx="108000" cy="108000"/>
          </a:xfrm>
        </p:grpSpPr>
        <p:sp>
          <p:nvSpPr>
            <p:cNvPr id="293" name="椭圆 292"/>
            <p:cNvSpPr/>
            <p:nvPr>
              <p:custDataLst>
                <p:tags r:id="rId6"/>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294" name="椭圆 293"/>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1945">
                <a:solidFill>
                  <a:srgbClr val="383838"/>
                </a:solidFill>
                <a:latin typeface="微软雅黑"/>
                <a:ea typeface="微软雅黑"/>
                <a:cs typeface="微软雅黑"/>
              </a:endParaRPr>
            </a:p>
          </p:txBody>
        </p:sp>
      </p:grpSp>
      <p:cxnSp>
        <p:nvCxnSpPr>
          <p:cNvPr id="296" name="直接连接符 295"/>
          <p:cNvCxnSpPr/>
          <p:nvPr/>
        </p:nvCxnSpPr>
        <p:spPr>
          <a:xfrm flipH="1" flipV="1">
            <a:off x="4921885" y="2999105"/>
            <a:ext cx="128905" cy="12827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297" name="组合 296"/>
          <p:cNvGrpSpPr/>
          <p:nvPr/>
        </p:nvGrpSpPr>
        <p:grpSpPr>
          <a:xfrm flipH="1">
            <a:off x="5050790" y="3088640"/>
            <a:ext cx="100965" cy="100965"/>
            <a:chOff x="7115077" y="2692356"/>
            <a:chExt cx="108000" cy="108000"/>
          </a:xfrm>
        </p:grpSpPr>
        <p:sp>
          <p:nvSpPr>
            <p:cNvPr id="298" name="椭圆 297"/>
            <p:cNvSpPr/>
            <p:nvPr>
              <p:custDataLst>
                <p:tags r:id="rId7"/>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299" name="椭圆 298"/>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sp>
        <p:nvSpPr>
          <p:cNvPr id="300" name="文本框 299"/>
          <p:cNvSpPr txBox="1"/>
          <p:nvPr/>
        </p:nvSpPr>
        <p:spPr>
          <a:xfrm>
            <a:off x="3612833" y="2794635"/>
            <a:ext cx="1469390" cy="245110"/>
          </a:xfrm>
          <a:prstGeom prst="rect">
            <a:avLst/>
          </a:prstGeom>
          <a:noFill/>
        </p:spPr>
        <p:txBody>
          <a:bodyPr wrap="square" rtlCol="0" lIns="0" rIns="0" tIns="0" bIns="0">
            <a:spAutoFit/>
          </a:bodyPr>
          <a:lstStyle/>
          <a:p>
            <a:pPr lvl="0" algn="ctr">
              <a:buClrTx/>
              <a:buSzTx/>
              <a:buFontTx/>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设计项目经理责任制</a:t>
            </a:r>
            <a:endParaRPr lang="zh-CN" altLang="en-US" sz="1000" dirty="0">
              <a:solidFill>
                <a:srgbClr val="383838"/>
              </a:solidFill>
              <a:latin typeface="微软雅黑"/>
              <a:ea typeface="微软雅黑"/>
              <a:cs typeface="微软雅黑"/>
              <a:sym typeface="微软雅黑"/>
            </a:endParaRPr>
          </a:p>
        </p:txBody>
      </p:sp>
      <p:cxnSp>
        <p:nvCxnSpPr>
          <p:cNvPr id="301" name="直接连接符 300"/>
          <p:cNvCxnSpPr>
            <a:stCxn id="342" idx="4"/>
            <a:endCxn id="344" idx="3"/>
          </p:cNvCxnSpPr>
          <p:nvPr/>
        </p:nvCxnSpPr>
        <p:spPr>
          <a:xfrm flipH="1" flipV="1">
            <a:off x="4239260" y="3470275"/>
            <a:ext cx="457200" cy="6985"/>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302" name="组合 301"/>
          <p:cNvGrpSpPr/>
          <p:nvPr/>
        </p:nvGrpSpPr>
        <p:grpSpPr>
          <a:xfrm flipH="1">
            <a:off x="4646295" y="3403600"/>
            <a:ext cx="100965" cy="100965"/>
            <a:chOff x="7115077" y="2692356"/>
            <a:chExt cx="108000" cy="108000"/>
          </a:xfrm>
        </p:grpSpPr>
        <p:sp>
          <p:nvSpPr>
            <p:cNvPr id="303" name="椭圆 302"/>
            <p:cNvSpPr/>
            <p:nvPr>
              <p:custDataLst>
                <p:tags r:id="rId8"/>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342" name="椭圆 341"/>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sp>
        <p:nvSpPr>
          <p:cNvPr id="344" name="文本框 343"/>
          <p:cNvSpPr txBox="1"/>
          <p:nvPr/>
        </p:nvSpPr>
        <p:spPr>
          <a:xfrm>
            <a:off x="2914015" y="3347720"/>
            <a:ext cx="1325245" cy="245110"/>
          </a:xfrm>
          <a:prstGeom prst="rect">
            <a:avLst/>
          </a:prstGeom>
          <a:noFill/>
        </p:spPr>
        <p:txBody>
          <a:bodyPr wrap="squar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建立延期预警制度</a:t>
            </a:r>
            <a:endParaRPr lang="zh-CN" altLang="en-US" sz="1000" dirty="0">
              <a:solidFill>
                <a:srgbClr val="383838"/>
              </a:solidFill>
              <a:latin typeface="微软雅黑"/>
              <a:ea typeface="微软雅黑"/>
              <a:cs typeface="微软雅黑"/>
            </a:endParaRPr>
          </a:p>
        </p:txBody>
      </p:sp>
      <p:cxnSp>
        <p:nvCxnSpPr>
          <p:cNvPr id="345" name="直接连接符 344"/>
          <p:cNvCxnSpPr/>
          <p:nvPr/>
        </p:nvCxnSpPr>
        <p:spPr>
          <a:xfrm flipH="1" flipV="1">
            <a:off x="3855085" y="4160520"/>
            <a:ext cx="128905" cy="12827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349" name="组合 348"/>
          <p:cNvGrpSpPr/>
          <p:nvPr/>
        </p:nvGrpSpPr>
        <p:grpSpPr>
          <a:xfrm flipH="1">
            <a:off x="3983990" y="4250055"/>
            <a:ext cx="100965" cy="100965"/>
            <a:chOff x="7115077" y="2692356"/>
            <a:chExt cx="108000" cy="108000"/>
          </a:xfrm>
        </p:grpSpPr>
        <p:sp>
          <p:nvSpPr>
            <p:cNvPr id="356" name="椭圆 355"/>
            <p:cNvSpPr/>
            <p:nvPr>
              <p:custDataLst>
                <p:tags r:id="rId9"/>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357" name="椭圆 356"/>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sp>
        <p:nvSpPr>
          <p:cNvPr id="358" name="文本框 357"/>
          <p:cNvSpPr txBox="1"/>
          <p:nvPr/>
        </p:nvSpPr>
        <p:spPr>
          <a:xfrm>
            <a:off x="2523808" y="3918585"/>
            <a:ext cx="1624965"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dirty="0">
                <a:solidFill>
                  <a:srgbClr val="0042FF"/>
                </a:solidFill>
                <a:latin typeface="微软雅黑"/>
                <a:ea typeface="微软雅黑"/>
                <a:cs typeface="微软雅黑"/>
              </a:rPr>
              <a:t>推动项目价格提高</a:t>
            </a:r>
            <a:r>
              <a:rPr lang="en-US" altLang="zh-CN" sz="1000" dirty="0">
                <a:solidFill>
                  <a:srgbClr val="0042FF"/>
                </a:solidFill>
                <a:latin typeface="微软雅黑"/>
                <a:ea typeface="微软雅黑"/>
                <a:cs typeface="微软雅黑"/>
              </a:rPr>
              <a:t>10%</a:t>
            </a:r>
            <a:endParaRPr lang="en-US" altLang="zh-CN" sz="1000" dirty="0">
              <a:solidFill>
                <a:srgbClr val="0042FF"/>
              </a:solidFill>
              <a:latin typeface="微软雅黑"/>
              <a:ea typeface="微软雅黑"/>
              <a:cs typeface="微软雅黑"/>
            </a:endParaRPr>
          </a:p>
        </p:txBody>
      </p:sp>
      <p:cxnSp>
        <p:nvCxnSpPr>
          <p:cNvPr id="359" name="直接连接符 358"/>
          <p:cNvCxnSpPr/>
          <p:nvPr/>
        </p:nvCxnSpPr>
        <p:spPr>
          <a:xfrm flipH="1">
            <a:off x="3299460" y="4615815"/>
            <a:ext cx="279400" cy="1651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360" name="组合 359"/>
          <p:cNvGrpSpPr/>
          <p:nvPr/>
        </p:nvGrpSpPr>
        <p:grpSpPr>
          <a:xfrm flipH="1">
            <a:off x="3579495" y="4565015"/>
            <a:ext cx="100965" cy="100965"/>
            <a:chOff x="7115077" y="2692356"/>
            <a:chExt cx="108000" cy="108000"/>
          </a:xfrm>
        </p:grpSpPr>
        <p:sp>
          <p:nvSpPr>
            <p:cNvPr id="364" name="椭圆 363"/>
            <p:cNvSpPr/>
            <p:nvPr>
              <p:custDataLst>
                <p:tags r:id="rId10"/>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365" name="椭圆 364"/>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sp>
        <p:nvSpPr>
          <p:cNvPr id="366" name="文本框 365"/>
          <p:cNvSpPr txBox="1"/>
          <p:nvPr/>
        </p:nvSpPr>
        <p:spPr>
          <a:xfrm>
            <a:off x="1995170" y="4523105"/>
            <a:ext cx="1388110" cy="245110"/>
          </a:xfrm>
          <a:prstGeom prst="rect">
            <a:avLst/>
          </a:prstGeom>
          <a:noFill/>
        </p:spPr>
        <p:txBody>
          <a:bodyPr wrap="square" rtlCol="0" lIns="0" rIns="0" tIns="0" bIns="0">
            <a:spAutoFit/>
          </a:bodyPr>
          <a:lstStyle/>
          <a:p>
            <a:pPr lvl="0" algn="ctr">
              <a:buClrTx/>
              <a:buSzTx/>
              <a:buFontTx/>
              <a:defRPr>
                <a:latin typeface="微软雅黑"/>
                <a:ea typeface="微软雅黑"/>
                <a:cs typeface="微软雅黑"/>
              </a:defRPr>
            </a:pPr>
            <a:r>
              <a:rPr lang="zh-CN" altLang="en-US" sz="1000" dirty="0">
                <a:solidFill>
                  <a:srgbClr val="0042FF"/>
                </a:solidFill>
                <a:latin typeface="微软雅黑"/>
                <a:ea typeface="微软雅黑"/>
                <a:cs typeface="微软雅黑"/>
                <a:sym typeface="微软雅黑"/>
              </a:rPr>
              <a:t>拓展新客户</a:t>
            </a:r>
            <a:r>
              <a:rPr lang="zh-CN" altLang="en-US" sz="1000" dirty="0">
                <a:solidFill>
                  <a:srgbClr val="0042FF"/>
                </a:solidFill>
                <a:latin typeface="微软雅黑"/>
                <a:ea typeface="微软雅黑"/>
                <a:cs typeface="微软雅黑"/>
                <a:sym typeface="微软雅黑"/>
              </a:rPr>
              <a:t>10</a:t>
            </a:r>
            <a:r>
              <a:rPr lang="zh-CN" altLang="en-US" sz="1000" dirty="0">
                <a:solidFill>
                  <a:srgbClr val="0042FF"/>
                </a:solidFill>
                <a:latin typeface="微软雅黑"/>
                <a:ea typeface="微软雅黑"/>
                <a:cs typeface="微软雅黑"/>
                <a:sym typeface="微软雅黑"/>
              </a:rPr>
              <a:t>家</a:t>
            </a:r>
            <a:endParaRPr lang="zh-CN" altLang="en-US" sz="1000" dirty="0">
              <a:solidFill>
                <a:srgbClr val="0042FF"/>
              </a:solidFill>
              <a:latin typeface="微软雅黑"/>
              <a:ea typeface="微软雅黑"/>
              <a:cs typeface="微软雅黑"/>
              <a:sym typeface="微软雅黑"/>
            </a:endParaRPr>
          </a:p>
        </p:txBody>
      </p:sp>
      <p:cxnSp>
        <p:nvCxnSpPr>
          <p:cNvPr id="367" name="直接连接符 366"/>
          <p:cNvCxnSpPr/>
          <p:nvPr/>
        </p:nvCxnSpPr>
        <p:spPr>
          <a:xfrm flipH="1" flipV="1">
            <a:off x="2938145" y="5373370"/>
            <a:ext cx="128905" cy="12827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371" name="组合 370"/>
          <p:cNvGrpSpPr/>
          <p:nvPr/>
        </p:nvGrpSpPr>
        <p:grpSpPr>
          <a:xfrm flipH="1">
            <a:off x="3067050" y="5462905"/>
            <a:ext cx="100965" cy="100965"/>
            <a:chOff x="7115077" y="2692356"/>
            <a:chExt cx="108000" cy="108000"/>
          </a:xfrm>
        </p:grpSpPr>
        <p:sp>
          <p:nvSpPr>
            <p:cNvPr id="372" name="椭圆 371"/>
            <p:cNvSpPr/>
            <p:nvPr>
              <p:custDataLst>
                <p:tags r:id="rId11"/>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373" name="椭圆 372"/>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sp>
        <p:nvSpPr>
          <p:cNvPr id="374" name="文本框 373"/>
          <p:cNvSpPr txBox="1"/>
          <p:nvPr/>
        </p:nvSpPr>
        <p:spPr>
          <a:xfrm>
            <a:off x="1602740" y="5165725"/>
            <a:ext cx="1113155"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构建职级管理</a:t>
            </a:r>
            <a:endParaRPr lang="zh-CN" altLang="en-US" sz="1000" dirty="0">
              <a:solidFill>
                <a:srgbClr val="383838"/>
              </a:solidFill>
              <a:latin typeface="微软雅黑"/>
              <a:ea typeface="微软雅黑"/>
              <a:cs typeface="微软雅黑"/>
            </a:endParaRPr>
          </a:p>
        </p:txBody>
      </p:sp>
      <p:cxnSp>
        <p:nvCxnSpPr>
          <p:cNvPr id="375" name="直接连接符 374"/>
          <p:cNvCxnSpPr/>
          <p:nvPr/>
        </p:nvCxnSpPr>
        <p:spPr>
          <a:xfrm flipH="1">
            <a:off x="2382520" y="5828665"/>
            <a:ext cx="279400" cy="16510"/>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nvGrpSpPr>
          <p:cNvPr id="376" name="组合 375"/>
          <p:cNvGrpSpPr/>
          <p:nvPr/>
        </p:nvGrpSpPr>
        <p:grpSpPr>
          <a:xfrm flipH="1">
            <a:off x="2661920" y="5777865"/>
            <a:ext cx="100965" cy="100965"/>
            <a:chOff x="7115077" y="2692356"/>
            <a:chExt cx="108000" cy="108000"/>
          </a:xfrm>
        </p:grpSpPr>
        <p:sp>
          <p:nvSpPr>
            <p:cNvPr id="377" name="椭圆 376"/>
            <p:cNvSpPr/>
            <p:nvPr>
              <p:custDataLst>
                <p:tags r:id="rId12"/>
              </p:custDataLst>
            </p:nvPr>
          </p:nvSpPr>
          <p:spPr>
            <a:xfrm>
              <a:off x="7115077" y="269235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0042FF"/>
                </a:solidFill>
                <a:latin typeface="微软雅黑"/>
                <a:ea typeface="微软雅黑"/>
                <a:cs typeface="微软雅黑"/>
              </a:endParaRPr>
            </a:p>
          </p:txBody>
        </p:sp>
        <p:sp>
          <p:nvSpPr>
            <p:cNvPr id="381" name="椭圆 380"/>
            <p:cNvSpPr/>
            <p:nvPr/>
          </p:nvSpPr>
          <p:spPr>
            <a:xfrm>
              <a:off x="7144643" y="272192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sp>
        <p:nvSpPr>
          <p:cNvPr id="382" name="文本框 381"/>
          <p:cNvSpPr txBox="1"/>
          <p:nvPr/>
        </p:nvSpPr>
        <p:spPr>
          <a:xfrm>
            <a:off x="876935" y="5728970"/>
            <a:ext cx="1429385"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出台销售激励制度</a:t>
            </a:r>
            <a:endParaRPr lang="zh-CN" altLang="en-US" sz="1000" dirty="0">
              <a:solidFill>
                <a:srgbClr val="383838"/>
              </a:solidFill>
              <a:latin typeface="微软雅黑"/>
              <a:ea typeface="微软雅黑"/>
              <a:cs typeface="微软雅黑"/>
            </a:endParaRPr>
          </a:p>
        </p:txBody>
      </p:sp>
      <p:sp>
        <p:nvSpPr>
          <p:cNvPr id="383" name="任意多边形: 形状 465"/>
          <p:cNvSpPr/>
          <p:nvPr/>
        </p:nvSpPr>
        <p:spPr>
          <a:xfrm rot="16200000">
            <a:off x="4986020" y="3441700"/>
            <a:ext cx="140335" cy="1187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96" name="任意多边形: 形状 466"/>
          <p:cNvSpPr/>
          <p:nvPr/>
        </p:nvSpPr>
        <p:spPr>
          <a:xfrm rot="16200000">
            <a:off x="7101205" y="3441700"/>
            <a:ext cx="140335" cy="1187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97" name="任意多边形: 形状 467"/>
          <p:cNvSpPr/>
          <p:nvPr/>
        </p:nvSpPr>
        <p:spPr>
          <a:xfrm rot="16200000">
            <a:off x="4201160" y="4667250"/>
            <a:ext cx="140335" cy="1187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98" name="任意多边形: 形状 468"/>
          <p:cNvSpPr/>
          <p:nvPr/>
        </p:nvSpPr>
        <p:spPr>
          <a:xfrm rot="16200000">
            <a:off x="8143240" y="4666615"/>
            <a:ext cx="140335" cy="1187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99" name="任意多边形: 形状 469"/>
          <p:cNvSpPr/>
          <p:nvPr/>
        </p:nvSpPr>
        <p:spPr>
          <a:xfrm rot="16200000">
            <a:off x="3284855" y="5915025"/>
            <a:ext cx="140335" cy="1187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00" name="任意多边形: 形状 470"/>
          <p:cNvSpPr/>
          <p:nvPr/>
        </p:nvSpPr>
        <p:spPr>
          <a:xfrm rot="16200000">
            <a:off x="8968740" y="5889625"/>
            <a:ext cx="140335" cy="118745"/>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01" name="任意多边形: 形状 39"/>
          <p:cNvSpPr/>
          <p:nvPr/>
        </p:nvSpPr>
        <p:spPr>
          <a:xfrm>
            <a:off x="3474085" y="3686810"/>
            <a:ext cx="2066925" cy="2924175"/>
          </a:xfrm>
          <a:custGeom>
            <a:avLst/>
            <a:gdLst>
              <a:gd name="connsiteX0" fmla="*/ 0 w 1841500"/>
              <a:gd name="connsiteY0" fmla="*/ 2895600 h 2895600"/>
              <a:gd name="connsiteX1" fmla="*/ 1841500 w 1841500"/>
              <a:gd name="connsiteY1" fmla="*/ 0 h 2895600"/>
              <a:gd name="connsiteX0-1" fmla="*/ 0 w 1841500"/>
              <a:gd name="connsiteY0-2" fmla="*/ 2895600 h 2895600"/>
              <a:gd name="connsiteX1-3" fmla="*/ 1841500 w 1841500"/>
              <a:gd name="connsiteY1-4" fmla="*/ 0 h 2895600"/>
              <a:gd name="connsiteX0-5" fmla="*/ 0 w 1841500"/>
              <a:gd name="connsiteY0-6" fmla="*/ 2895600 h 2895600"/>
              <a:gd name="connsiteX1-7" fmla="*/ 1841500 w 1841500"/>
              <a:gd name="connsiteY1-8" fmla="*/ 0 h 2895600"/>
              <a:gd name="connsiteX0-9" fmla="*/ 0 w 1841500"/>
              <a:gd name="connsiteY0-10" fmla="*/ 2895600 h 2895600"/>
              <a:gd name="connsiteX1-11" fmla="*/ 1841500 w 1841500"/>
              <a:gd name="connsiteY1-12" fmla="*/ 0 h 2895600"/>
              <a:gd name="connsiteX0-13" fmla="*/ 0 w 1891628"/>
              <a:gd name="connsiteY0-14" fmla="*/ 3005559 h 3005559"/>
              <a:gd name="connsiteX1-15" fmla="*/ 1891628 w 1891628"/>
              <a:gd name="connsiteY1-16" fmla="*/ 0 h 3005559"/>
              <a:gd name="connsiteX0-17" fmla="*/ 0 w 1891628"/>
              <a:gd name="connsiteY0-18" fmla="*/ 3005559 h 3005559"/>
              <a:gd name="connsiteX1-19" fmla="*/ 1891628 w 1891628"/>
              <a:gd name="connsiteY1-20" fmla="*/ 0 h 3005559"/>
            </a:gdLst>
            <a:ahLst/>
            <a:cxnLst>
              <a:cxn ang="0">
                <a:pos x="connsiteX0-1" y="connsiteY0-2"/>
              </a:cxn>
              <a:cxn ang="0">
                <a:pos x="connsiteX1-3" y="connsiteY1-4"/>
              </a:cxn>
            </a:cxnLst>
            <a:rect l="l" t="t" r="r" b="b"/>
            <a:pathLst>
              <a:path w="1891628" h="3005559">
                <a:moveTo>
                  <a:pt x="0" y="3005559"/>
                </a:moveTo>
                <a:cubicBezTo>
                  <a:pt x="969433" y="2294359"/>
                  <a:pt x="1631717" y="1483007"/>
                  <a:pt x="1891628" y="0"/>
                </a:cubicBezTo>
              </a:path>
            </a:pathLst>
          </a:custGeom>
          <a:noFill/>
          <a:ln>
            <a:gradFill>
              <a:gsLst>
                <a:gs pos="0">
                  <a:srgbClr val="668EFF"/>
                </a:gs>
                <a:gs pos="100000">
                  <a:srgbClr val="668E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pic>
        <p:nvPicPr>
          <p:cNvPr id="4" name="图片 3" descr="屋顶资源管理"/>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55600" y="186055"/>
            <a:ext cx="549910" cy="549910"/>
          </a:xfrm>
          <a:prstGeom prst="rect">
            <a:avLst/>
          </a:prstGeom>
        </p:spPr>
      </p:pic>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15"/>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2" name="文本框 1"/>
          <p:cNvSpPr txBox="1"/>
          <p:nvPr/>
        </p:nvSpPr>
        <p:spPr>
          <a:xfrm flipH="1">
            <a:off x="7437755" y="2794635"/>
            <a:ext cx="1367155" cy="245110"/>
          </a:xfrm>
          <a:prstGeom prst="rect">
            <a:avLst/>
          </a:prstGeom>
          <a:noFill/>
        </p:spPr>
        <p:txBody>
          <a:bodyPr wrap="squar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推出团队合作机制</a:t>
            </a:r>
            <a:endParaRPr lang="zh-CN" altLang="en-US" sz="1000" dirty="0">
              <a:solidFill>
                <a:srgbClr val="383838"/>
              </a:solidFill>
              <a:latin typeface="微软雅黑"/>
              <a:ea typeface="微软雅黑"/>
              <a:cs typeface="微软雅黑"/>
            </a:endParaRPr>
          </a:p>
        </p:txBody>
      </p:sp>
      <p:sp>
        <p:nvSpPr>
          <p:cNvPr id="3" name="文本框 2"/>
          <p:cNvSpPr txBox="1"/>
          <p:nvPr/>
        </p:nvSpPr>
        <p:spPr>
          <a:xfrm flipH="1">
            <a:off x="8154035" y="3403600"/>
            <a:ext cx="1325245" cy="245110"/>
          </a:xfrm>
          <a:prstGeom prst="rect">
            <a:avLst/>
          </a:prstGeom>
          <a:noFill/>
        </p:spPr>
        <p:txBody>
          <a:bodyPr wrap="squar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建立交付保障制度</a:t>
            </a:r>
            <a:endParaRPr lang="zh-CN" altLang="en-US" sz="1000" dirty="0">
              <a:solidFill>
                <a:srgbClr val="383838"/>
              </a:solidFill>
              <a:latin typeface="微软雅黑"/>
              <a:ea typeface="微软雅黑"/>
              <a:cs typeface="微软雅黑"/>
            </a:endParaRPr>
          </a:p>
        </p:txBody>
      </p:sp>
      <p:sp>
        <p:nvSpPr>
          <p:cNvPr id="7" name="文本框 6"/>
          <p:cNvSpPr txBox="1"/>
          <p:nvPr/>
        </p:nvSpPr>
        <p:spPr>
          <a:xfrm flipH="1">
            <a:off x="8505825" y="3954145"/>
            <a:ext cx="1634490" cy="245110"/>
          </a:xfrm>
          <a:prstGeom prst="rect">
            <a:avLst/>
          </a:prstGeom>
          <a:noFill/>
        </p:spPr>
        <p:txBody>
          <a:bodyPr wrap="square" rtlCol="0" lIns="0" rIns="0" tIns="0" bIns="0">
            <a:spAutoFit/>
          </a:bodyPr>
          <a:lstStyle/>
          <a:p>
            <a:pPr lvl="0" algn="ctr">
              <a:buClrTx/>
              <a:buSzTx/>
              <a:buFontTx/>
              <a:defRPr>
                <a:latin typeface="微软雅黑"/>
                <a:ea typeface="微软雅黑"/>
                <a:cs typeface="微软雅黑"/>
              </a:defRPr>
            </a:pPr>
            <a:r>
              <a:rPr lang="zh-CN" altLang="en-US" sz="1000" dirty="0">
                <a:solidFill>
                  <a:srgbClr val="0042FF"/>
                </a:solidFill>
                <a:latin typeface="微软雅黑"/>
                <a:ea typeface="微软雅黑"/>
                <a:cs typeface="微软雅黑"/>
                <a:sym typeface="微软雅黑"/>
              </a:rPr>
              <a:t>推进</a:t>
            </a:r>
            <a:r>
              <a:rPr lang="zh-CN" altLang="en-US" sz="1000" dirty="0">
                <a:solidFill>
                  <a:srgbClr val="0042FF"/>
                </a:solidFill>
                <a:latin typeface="微软雅黑"/>
                <a:ea typeface="微软雅黑"/>
                <a:cs typeface="微软雅黑"/>
                <a:sym typeface="微软雅黑"/>
              </a:rPr>
              <a:t>25</a:t>
            </a:r>
            <a:r>
              <a:rPr lang="zh-CN" altLang="en-US" sz="1000" dirty="0">
                <a:solidFill>
                  <a:srgbClr val="0042FF"/>
                </a:solidFill>
                <a:latin typeface="微软雅黑"/>
                <a:ea typeface="微软雅黑"/>
                <a:cs typeface="微软雅黑"/>
                <a:sym typeface="微软雅黑"/>
              </a:rPr>
              <a:t>个普通客户签约</a:t>
            </a:r>
            <a:endParaRPr lang="zh-CN" altLang="en-US" sz="1000" dirty="0">
              <a:solidFill>
                <a:srgbClr val="0042FF"/>
              </a:solidFill>
              <a:latin typeface="微软雅黑"/>
              <a:ea typeface="微软雅黑"/>
              <a:cs typeface="微软雅黑"/>
              <a:sym typeface="微软雅黑"/>
            </a:endParaRPr>
          </a:p>
        </p:txBody>
      </p:sp>
      <p:sp>
        <p:nvSpPr>
          <p:cNvPr id="8" name="文本框 7"/>
          <p:cNvSpPr txBox="1"/>
          <p:nvPr/>
        </p:nvSpPr>
        <p:spPr>
          <a:xfrm flipH="1">
            <a:off x="8998903" y="4523105"/>
            <a:ext cx="130556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攻坚</a:t>
            </a:r>
            <a:r>
              <a:rPr lang="en-US" altLang="zh-CN" sz="1000" dirty="0">
                <a:solidFill>
                  <a:srgbClr val="383838"/>
                </a:solidFill>
                <a:latin typeface="微软雅黑"/>
                <a:ea typeface="微软雅黑"/>
                <a:cs typeface="微软雅黑"/>
              </a:rPr>
              <a:t>5</a:t>
            </a:r>
            <a:r>
              <a:rPr lang="zh-CN" altLang="en-US" sz="1000" dirty="0">
                <a:solidFill>
                  <a:srgbClr val="383838"/>
                </a:solidFill>
                <a:latin typeface="微软雅黑"/>
                <a:ea typeface="微软雅黑"/>
                <a:cs typeface="微软雅黑"/>
              </a:rPr>
              <a:t>个</a:t>
            </a:r>
            <a:r>
              <a:rPr lang="en-US" altLang="zh-CN" sz="1000" dirty="0">
                <a:solidFill>
                  <a:srgbClr val="383838"/>
                </a:solidFill>
                <a:latin typeface="微软雅黑"/>
                <a:ea typeface="微软雅黑"/>
                <a:cs typeface="微软雅黑"/>
              </a:rPr>
              <a:t>KA</a:t>
            </a:r>
            <a:r>
              <a:rPr lang="zh-CN" altLang="en-US" sz="1000" dirty="0">
                <a:solidFill>
                  <a:srgbClr val="383838"/>
                </a:solidFill>
                <a:latin typeface="微软雅黑"/>
                <a:ea typeface="微软雅黑"/>
                <a:cs typeface="微软雅黑"/>
              </a:rPr>
              <a:t>大客户</a:t>
            </a:r>
            <a:endParaRPr lang="zh-CN" altLang="en-US" sz="1000" dirty="0">
              <a:solidFill>
                <a:srgbClr val="383838"/>
              </a:solidFill>
              <a:latin typeface="微软雅黑"/>
              <a:ea typeface="微软雅黑"/>
              <a:cs typeface="微软雅黑"/>
            </a:endParaRPr>
          </a:p>
        </p:txBody>
      </p:sp>
      <p:sp>
        <p:nvSpPr>
          <p:cNvPr id="11" name="文本框 10"/>
          <p:cNvSpPr txBox="1"/>
          <p:nvPr/>
        </p:nvSpPr>
        <p:spPr>
          <a:xfrm flipH="1">
            <a:off x="9499283" y="5165725"/>
            <a:ext cx="1346200" cy="245110"/>
          </a:xfrm>
          <a:prstGeom prst="rect">
            <a:avLst/>
          </a:prstGeom>
          <a:noFill/>
        </p:spPr>
        <p:txBody>
          <a:bodyPr wrap="square" rtlCol="0" lIns="0" rIns="0" tIns="0" bIns="0">
            <a:spAutoFit/>
          </a:bodyPr>
          <a:lstStyle/>
          <a:p>
            <a:pPr lvl="0" algn="ctr">
              <a:buClrTx/>
              <a:buSzTx/>
              <a:buFontTx/>
              <a:defRPr>
                <a:latin typeface="微软雅黑"/>
                <a:ea typeface="微软雅黑"/>
                <a:cs typeface="微软雅黑"/>
              </a:defRPr>
            </a:pPr>
            <a:r>
              <a:rPr lang="zh-CN" altLang="en-US" sz="1000" dirty="0">
                <a:solidFill>
                  <a:srgbClr val="0042FF"/>
                </a:solidFill>
                <a:latin typeface="微软雅黑"/>
                <a:ea typeface="微软雅黑"/>
                <a:cs typeface="微软雅黑"/>
                <a:sym typeface="微软雅黑"/>
              </a:rPr>
              <a:t>招聘</a:t>
            </a:r>
            <a:r>
              <a:rPr lang="zh-CN" altLang="en-US" sz="1000" dirty="0">
                <a:solidFill>
                  <a:srgbClr val="0042FF"/>
                </a:solidFill>
                <a:latin typeface="微软雅黑"/>
                <a:ea typeface="微软雅黑"/>
                <a:cs typeface="微软雅黑"/>
                <a:sym typeface="微软雅黑"/>
              </a:rPr>
              <a:t>25</a:t>
            </a:r>
            <a:r>
              <a:rPr lang="zh-CN" altLang="en-US" sz="1000" dirty="0">
                <a:solidFill>
                  <a:srgbClr val="0042FF"/>
                </a:solidFill>
                <a:latin typeface="微软雅黑"/>
                <a:ea typeface="微软雅黑"/>
                <a:cs typeface="微软雅黑"/>
                <a:sym typeface="微软雅黑"/>
              </a:rPr>
              <a:t>名销售精英</a:t>
            </a:r>
            <a:endParaRPr lang="zh-CN" altLang="en-US" sz="1000" dirty="0">
              <a:solidFill>
                <a:srgbClr val="0042FF"/>
              </a:solidFill>
              <a:latin typeface="微软雅黑"/>
              <a:ea typeface="微软雅黑"/>
              <a:cs typeface="微软雅黑"/>
              <a:sym typeface="微软雅黑"/>
            </a:endParaRPr>
          </a:p>
        </p:txBody>
      </p:sp>
      <p:sp>
        <p:nvSpPr>
          <p:cNvPr id="12" name="文本框 11"/>
          <p:cNvSpPr txBox="1"/>
          <p:nvPr/>
        </p:nvSpPr>
        <p:spPr>
          <a:xfrm flipH="1">
            <a:off x="9962198" y="5728970"/>
            <a:ext cx="126365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建设</a:t>
            </a:r>
            <a:r>
              <a:rPr lang="en-US" altLang="zh-CN" sz="1000" dirty="0">
                <a:solidFill>
                  <a:srgbClr val="383838"/>
                </a:solidFill>
                <a:latin typeface="微软雅黑"/>
                <a:ea typeface="微软雅黑"/>
                <a:cs typeface="微软雅黑"/>
              </a:rPr>
              <a:t>5</a:t>
            </a:r>
            <a:r>
              <a:rPr lang="zh-CN" altLang="en-US" sz="1000" dirty="0">
                <a:solidFill>
                  <a:srgbClr val="383838"/>
                </a:solidFill>
                <a:latin typeface="微软雅黑"/>
                <a:ea typeface="微软雅黑"/>
                <a:cs typeface="微软雅黑"/>
              </a:rPr>
              <a:t>个销售团队</a:t>
            </a:r>
            <a:endParaRPr lang="zh-CN" altLang="en-US" sz="1000" dirty="0">
              <a:solidFill>
                <a:srgbClr val="383838"/>
              </a:solidFill>
              <a:latin typeface="微软雅黑"/>
              <a:ea typeface="微软雅黑"/>
              <a:cs typeface="微软雅黑"/>
            </a:endParaRPr>
          </a:p>
        </p:txBody>
      </p:sp>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timing>
    <p:tnLst>
      <p:par>
        <p:cTn id="1" dur="indefinite" restart="never" fill="hold"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年度述职</a:t>
            </a:r>
            <a:r>
              <a:rPr lang="en-US" altLang="zh-CN" sz="2500">
                <a:solidFill>
                  <a:srgbClr val="383838"/>
                </a:solidFill>
                <a:effectLst/>
                <a:latin typeface="微软雅黑"/>
                <a:ea typeface="微软雅黑"/>
                <a:cs typeface="微软雅黑"/>
              </a:rPr>
              <a:t>-</a:t>
            </a:r>
            <a:r>
              <a:rPr sz="2500">
                <a:solidFill>
                  <a:srgbClr val="383838"/>
                </a:solidFill>
                <a:effectLst/>
                <a:latin typeface="微软雅黑"/>
                <a:ea typeface="微软雅黑"/>
                <a:cs typeface="微软雅黑"/>
              </a:rPr>
              <a:t>重点工作回顾</a:t>
            </a:r>
            <a:endParaRPr sz="2500" b="0">
              <a:solidFill>
                <a:srgbClr val="383838"/>
              </a:solidFill>
              <a:effectLst/>
              <a:latin typeface="微软雅黑"/>
              <a:ea typeface="微软雅黑"/>
              <a:cs typeface="微软雅黑"/>
            </a:endParaRPr>
          </a:p>
        </p:txBody>
      </p:sp>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1"/>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97" name="任意多边形 96"/>
          <p:cNvSpPr/>
          <p:nvPr/>
        </p:nvSpPr>
        <p:spPr>
          <a:xfrm>
            <a:off x="2240029" y="1160780"/>
            <a:ext cx="1293111" cy="1053270"/>
          </a:xfrm>
          <a:custGeom>
            <a:avLst/>
            <a:gdLst>
              <a:gd name="adj" fmla="val 41743"/>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2036" h="1659">
                <a:moveTo>
                  <a:pt x="0" y="1659"/>
                </a:moveTo>
                <a:lnTo>
                  <a:pt x="692" y="0"/>
                </a:lnTo>
                <a:lnTo>
                  <a:pt x="2036" y="0"/>
                </a:lnTo>
                <a:lnTo>
                  <a:pt x="2036" y="1659"/>
                </a:lnTo>
                <a:lnTo>
                  <a:pt x="0" y="1659"/>
                </a:lnTo>
                <a:close/>
              </a:path>
            </a:pathLst>
          </a:custGeom>
          <a:gradFill>
            <a:gsLst>
              <a:gs pos="100000">
                <a:srgbClr val="B3D4FE"/>
              </a:gs>
              <a:gs pos="21000">
                <a:srgbClr val="B3D4FE"/>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98" name="任意多边形 97"/>
          <p:cNvSpPr/>
          <p:nvPr/>
        </p:nvSpPr>
        <p:spPr>
          <a:xfrm>
            <a:off x="1795771" y="2322050"/>
            <a:ext cx="1737369" cy="956260"/>
          </a:xfrm>
          <a:custGeom>
            <a:avLst/>
            <a:gdLst>
              <a:gd name="adj" fmla="val 41743"/>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2736" h="1506">
                <a:moveTo>
                  <a:pt x="0" y="1506"/>
                </a:moveTo>
                <a:lnTo>
                  <a:pt x="629" y="0"/>
                </a:lnTo>
                <a:lnTo>
                  <a:pt x="2736" y="0"/>
                </a:lnTo>
                <a:lnTo>
                  <a:pt x="2736" y="1506"/>
                </a:lnTo>
                <a:lnTo>
                  <a:pt x="0" y="1506"/>
                </a:lnTo>
                <a:close/>
              </a:path>
            </a:pathLst>
          </a:custGeom>
          <a:gradFill>
            <a:gsLst>
              <a:gs pos="100000">
                <a:srgbClr val="B3D4FE"/>
              </a:gs>
              <a:gs pos="15000">
                <a:srgbClr val="3368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99" name="任意多边形 98"/>
          <p:cNvSpPr/>
          <p:nvPr/>
        </p:nvSpPr>
        <p:spPr>
          <a:xfrm>
            <a:off x="1351513" y="3386310"/>
            <a:ext cx="2181627" cy="956260"/>
          </a:xfrm>
          <a:custGeom>
            <a:avLst/>
            <a:gdLst>
              <a:gd name="adj" fmla="val 41743"/>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3436" h="1506">
                <a:moveTo>
                  <a:pt x="0" y="1506"/>
                </a:moveTo>
                <a:lnTo>
                  <a:pt x="629" y="0"/>
                </a:lnTo>
                <a:lnTo>
                  <a:pt x="3436" y="0"/>
                </a:lnTo>
                <a:lnTo>
                  <a:pt x="3436" y="1506"/>
                </a:lnTo>
                <a:lnTo>
                  <a:pt x="0" y="1506"/>
                </a:lnTo>
                <a:close/>
              </a:path>
            </a:pathLst>
          </a:custGeom>
          <a:gradFill>
            <a:gsLst>
              <a:gs pos="100000">
                <a:srgbClr val="668EFF"/>
              </a:gs>
              <a:gs pos="0">
                <a:srgbClr val="668EFF"/>
              </a:gs>
            </a:gsLst>
            <a:lin ang="162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00" name="任意多边形 99"/>
          <p:cNvSpPr/>
          <p:nvPr/>
        </p:nvSpPr>
        <p:spPr>
          <a:xfrm>
            <a:off x="907255" y="4450570"/>
            <a:ext cx="2625885" cy="956260"/>
          </a:xfrm>
          <a:custGeom>
            <a:avLst/>
            <a:gdLst>
              <a:gd name="adj" fmla="val 41743"/>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4135" h="1506">
                <a:moveTo>
                  <a:pt x="0" y="1506"/>
                </a:moveTo>
                <a:lnTo>
                  <a:pt x="629" y="0"/>
                </a:lnTo>
                <a:lnTo>
                  <a:pt x="4135" y="0"/>
                </a:lnTo>
                <a:lnTo>
                  <a:pt x="4135" y="1506"/>
                </a:lnTo>
                <a:lnTo>
                  <a:pt x="0" y="1506"/>
                </a:lnTo>
                <a:close/>
              </a:path>
            </a:pathLst>
          </a:custGeom>
          <a:gradFill>
            <a:gsLst>
              <a:gs pos="100000">
                <a:srgbClr val="668EFF"/>
              </a:gs>
              <a:gs pos="9000">
                <a:srgbClr val="3368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01" name="任意多边形 100"/>
          <p:cNvSpPr/>
          <p:nvPr/>
        </p:nvSpPr>
        <p:spPr>
          <a:xfrm>
            <a:off x="462915" y="5514830"/>
            <a:ext cx="3070225" cy="956455"/>
          </a:xfrm>
          <a:custGeom>
            <a:avLst/>
            <a:gdLst>
              <a:gd name="adj" fmla="val 41743"/>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4835" h="1506">
                <a:moveTo>
                  <a:pt x="0" y="1506"/>
                </a:moveTo>
                <a:lnTo>
                  <a:pt x="629" y="0"/>
                </a:lnTo>
                <a:lnTo>
                  <a:pt x="4835" y="0"/>
                </a:lnTo>
                <a:lnTo>
                  <a:pt x="4835" y="1506"/>
                </a:lnTo>
                <a:lnTo>
                  <a:pt x="0" y="1506"/>
                </a:lnTo>
                <a:close/>
              </a:path>
            </a:pathLst>
          </a:custGeom>
          <a:gradFill>
            <a:gsLst>
              <a:gs pos="100000">
                <a:srgbClr val="3368FF"/>
              </a:gs>
              <a:gs pos="14000">
                <a:srgbClr val="0042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27" name="矩形: 圆角 29"/>
          <p:cNvSpPr/>
          <p:nvPr/>
        </p:nvSpPr>
        <p:spPr>
          <a:xfrm>
            <a:off x="3627755" y="1164590"/>
            <a:ext cx="8209280" cy="1049655"/>
          </a:xfrm>
          <a:prstGeom prst="roundRect">
            <a:avLst>
              <a:gd name="adj" fmla="val 0"/>
            </a:avLst>
          </a:prstGeom>
          <a:solidFill>
            <a:srgbClr val="FFFFFF">
              <a:alpha val="30000"/>
            </a:srgbClr>
          </a:solidFill>
          <a:ln w="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28" name="矩形: 圆角 29"/>
          <p:cNvSpPr/>
          <p:nvPr/>
        </p:nvSpPr>
        <p:spPr>
          <a:xfrm>
            <a:off x="3627755" y="2324100"/>
            <a:ext cx="8209280" cy="937260"/>
          </a:xfrm>
          <a:prstGeom prst="roundRect">
            <a:avLst>
              <a:gd name="adj" fmla="val 0"/>
            </a:avLst>
          </a:prstGeom>
          <a:solidFill>
            <a:srgbClr val="FFFFFF">
              <a:alpha val="30000"/>
            </a:srgbClr>
          </a:solidFill>
          <a:ln w="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29" name="矩形: 圆角 29"/>
          <p:cNvSpPr/>
          <p:nvPr/>
        </p:nvSpPr>
        <p:spPr>
          <a:xfrm>
            <a:off x="3627755" y="3398520"/>
            <a:ext cx="8209280" cy="950595"/>
          </a:xfrm>
          <a:prstGeom prst="roundRect">
            <a:avLst>
              <a:gd name="adj" fmla="val 0"/>
            </a:avLst>
          </a:prstGeom>
          <a:solidFill>
            <a:srgbClr val="E6E6E6">
              <a:alpha val="30000"/>
            </a:srgbClr>
          </a:solidFill>
          <a:ln w="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30" name="矩形: 圆角 29"/>
          <p:cNvSpPr/>
          <p:nvPr/>
        </p:nvSpPr>
        <p:spPr>
          <a:xfrm>
            <a:off x="3627755" y="4450715"/>
            <a:ext cx="8209280" cy="956310"/>
          </a:xfrm>
          <a:prstGeom prst="roundRect">
            <a:avLst>
              <a:gd name="adj" fmla="val 0"/>
            </a:avLst>
          </a:prstGeom>
          <a:solidFill>
            <a:srgbClr val="E6E6E6">
              <a:alpha val="30000"/>
            </a:srgbClr>
          </a:solidFill>
          <a:ln w="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31" name="矩形: 圆角 29"/>
          <p:cNvSpPr/>
          <p:nvPr/>
        </p:nvSpPr>
        <p:spPr>
          <a:xfrm>
            <a:off x="3628390" y="5515610"/>
            <a:ext cx="8208645" cy="969645"/>
          </a:xfrm>
          <a:prstGeom prst="roundRect">
            <a:avLst>
              <a:gd name="adj" fmla="val 0"/>
            </a:avLst>
          </a:prstGeom>
          <a:solidFill>
            <a:srgbClr val="E6E6E6">
              <a:alpha val="30000"/>
            </a:srgbClr>
          </a:solidFill>
          <a:ln w="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37" name="任意形状 46"/>
          <p:cNvSpPr/>
          <p:nvPr/>
        </p:nvSpPr>
        <p:spPr>
          <a:xfrm>
            <a:off x="10807700" y="1163955"/>
            <a:ext cx="1029335" cy="1035050"/>
          </a:xfrm>
          <a:custGeom>
            <a:avLst/>
            <a:gdLst>
              <a:gd name="connsiteX0" fmla="*/ 0 w 1673351"/>
              <a:gd name="connsiteY0" fmla="*/ 0 h 1673351"/>
              <a:gd name="connsiteX1" fmla="*/ 1673352 w 1673351"/>
              <a:gd name="connsiteY1" fmla="*/ 0 h 1673351"/>
              <a:gd name="connsiteX2" fmla="*/ 1673352 w 1673351"/>
              <a:gd name="connsiteY2" fmla="*/ 1673352 h 1673351"/>
              <a:gd name="connsiteX3" fmla="*/ 0 w 1673351"/>
              <a:gd name="connsiteY3" fmla="*/ 1673352 h 1673351"/>
            </a:gdLst>
            <a:ahLst/>
            <a:cxnLst>
              <a:cxn ang="0">
                <a:pos x="connsiteX0" y="connsiteY0"/>
              </a:cxn>
              <a:cxn ang="0">
                <a:pos x="connsiteX1" y="connsiteY1"/>
              </a:cxn>
              <a:cxn ang="0">
                <a:pos x="connsiteX2" y="connsiteY2"/>
              </a:cxn>
              <a:cxn ang="0">
                <a:pos x="connsiteX3" y="connsiteY3"/>
              </a:cxn>
            </a:cxnLst>
            <a:rect l="l" t="t" r="r" b="b"/>
            <a:pathLst>
              <a:path w="1673351" h="1673351">
                <a:moveTo>
                  <a:pt x="0" y="0"/>
                </a:moveTo>
                <a:lnTo>
                  <a:pt x="1673352" y="0"/>
                </a:lnTo>
                <a:lnTo>
                  <a:pt x="1673352" y="1673352"/>
                </a:lnTo>
                <a:lnTo>
                  <a:pt x="0" y="1673352"/>
                </a:lnTo>
                <a:close/>
              </a:path>
            </a:pathLst>
          </a:custGeom>
          <a:gradFill>
            <a:gsLst>
              <a:gs pos="100000">
                <a:srgbClr val="B3D4FE"/>
              </a:gs>
              <a:gs pos="21000">
                <a:srgbClr val="B3D4FE"/>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38" name="圆角矩形 137"/>
          <p:cNvSpPr/>
          <p:nvPr/>
        </p:nvSpPr>
        <p:spPr>
          <a:xfrm>
            <a:off x="11010900" y="1380490"/>
            <a:ext cx="622300" cy="616585"/>
          </a:xfrm>
          <a:prstGeom prst="roundRect">
            <a:avLst>
              <a:gd name="adj" fmla="val 11333"/>
            </a:avLst>
          </a:prstGeom>
          <a:solidFill>
            <a:srgbClr val="FFFFFF"/>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42" name="任意形状 46"/>
          <p:cNvSpPr/>
          <p:nvPr/>
        </p:nvSpPr>
        <p:spPr>
          <a:xfrm>
            <a:off x="10807700" y="2313305"/>
            <a:ext cx="1029335" cy="948690"/>
          </a:xfrm>
          <a:custGeom>
            <a:avLst/>
            <a:gdLst>
              <a:gd name="connsiteX0" fmla="*/ 0 w 1673351"/>
              <a:gd name="connsiteY0" fmla="*/ 0 h 1673351"/>
              <a:gd name="connsiteX1" fmla="*/ 1673352 w 1673351"/>
              <a:gd name="connsiteY1" fmla="*/ 0 h 1673351"/>
              <a:gd name="connsiteX2" fmla="*/ 1673352 w 1673351"/>
              <a:gd name="connsiteY2" fmla="*/ 1673352 h 1673351"/>
              <a:gd name="connsiteX3" fmla="*/ 0 w 1673351"/>
              <a:gd name="connsiteY3" fmla="*/ 1673352 h 1673351"/>
            </a:gdLst>
            <a:ahLst/>
            <a:cxnLst>
              <a:cxn ang="0">
                <a:pos x="connsiteX0" y="connsiteY0"/>
              </a:cxn>
              <a:cxn ang="0">
                <a:pos x="connsiteX1" y="connsiteY1"/>
              </a:cxn>
              <a:cxn ang="0">
                <a:pos x="connsiteX2" y="connsiteY2"/>
              </a:cxn>
              <a:cxn ang="0">
                <a:pos x="connsiteX3" y="connsiteY3"/>
              </a:cxn>
            </a:cxnLst>
            <a:rect l="l" t="t" r="r" b="b"/>
            <a:pathLst>
              <a:path w="1673351" h="1673351">
                <a:moveTo>
                  <a:pt x="0" y="0"/>
                </a:moveTo>
                <a:lnTo>
                  <a:pt x="1673352" y="0"/>
                </a:lnTo>
                <a:lnTo>
                  <a:pt x="1673352" y="1673352"/>
                </a:lnTo>
                <a:lnTo>
                  <a:pt x="0" y="1673352"/>
                </a:lnTo>
                <a:close/>
              </a:path>
            </a:pathLst>
          </a:custGeom>
          <a:gradFill>
            <a:gsLst>
              <a:gs pos="100000">
                <a:srgbClr val="B3D4FE"/>
              </a:gs>
              <a:gs pos="15000">
                <a:srgbClr val="3368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43" name="圆角矩形 142"/>
          <p:cNvSpPr/>
          <p:nvPr/>
        </p:nvSpPr>
        <p:spPr>
          <a:xfrm>
            <a:off x="11010900" y="2450465"/>
            <a:ext cx="622300" cy="606425"/>
          </a:xfrm>
          <a:prstGeom prst="roundRect">
            <a:avLst>
              <a:gd name="adj" fmla="val 11333"/>
            </a:avLst>
          </a:prstGeom>
          <a:solidFill>
            <a:srgbClr val="FFFFFF"/>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46" name="任意形状 46"/>
          <p:cNvSpPr/>
          <p:nvPr/>
        </p:nvSpPr>
        <p:spPr>
          <a:xfrm>
            <a:off x="10807700" y="3398520"/>
            <a:ext cx="1029335" cy="959485"/>
          </a:xfrm>
          <a:custGeom>
            <a:avLst/>
            <a:gdLst>
              <a:gd name="connsiteX0" fmla="*/ 0 w 1673351"/>
              <a:gd name="connsiteY0" fmla="*/ 0 h 1673351"/>
              <a:gd name="connsiteX1" fmla="*/ 1673352 w 1673351"/>
              <a:gd name="connsiteY1" fmla="*/ 0 h 1673351"/>
              <a:gd name="connsiteX2" fmla="*/ 1673352 w 1673351"/>
              <a:gd name="connsiteY2" fmla="*/ 1673352 h 1673351"/>
              <a:gd name="connsiteX3" fmla="*/ 0 w 1673351"/>
              <a:gd name="connsiteY3" fmla="*/ 1673352 h 1673351"/>
            </a:gdLst>
            <a:ahLst/>
            <a:cxnLst>
              <a:cxn ang="0">
                <a:pos x="connsiteX0" y="connsiteY0"/>
              </a:cxn>
              <a:cxn ang="0">
                <a:pos x="connsiteX1" y="connsiteY1"/>
              </a:cxn>
              <a:cxn ang="0">
                <a:pos x="connsiteX2" y="connsiteY2"/>
              </a:cxn>
              <a:cxn ang="0">
                <a:pos x="connsiteX3" y="connsiteY3"/>
              </a:cxn>
            </a:cxnLst>
            <a:rect l="l" t="t" r="r" b="b"/>
            <a:pathLst>
              <a:path w="1673351" h="1673351">
                <a:moveTo>
                  <a:pt x="0" y="0"/>
                </a:moveTo>
                <a:lnTo>
                  <a:pt x="1673352" y="0"/>
                </a:lnTo>
                <a:lnTo>
                  <a:pt x="1673352" y="1673352"/>
                </a:lnTo>
                <a:lnTo>
                  <a:pt x="0" y="1673352"/>
                </a:lnTo>
                <a:close/>
              </a:path>
            </a:pathLst>
          </a:custGeom>
          <a:gradFill>
            <a:gsLst>
              <a:gs pos="100000">
                <a:srgbClr val="668EFF"/>
              </a:gs>
              <a:gs pos="0">
                <a:srgbClr val="668E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47" name="圆角矩形 146"/>
          <p:cNvSpPr/>
          <p:nvPr/>
        </p:nvSpPr>
        <p:spPr>
          <a:xfrm>
            <a:off x="11010900" y="3552825"/>
            <a:ext cx="622300" cy="606425"/>
          </a:xfrm>
          <a:prstGeom prst="roundRect">
            <a:avLst>
              <a:gd name="adj" fmla="val 11333"/>
            </a:avLst>
          </a:prstGeom>
          <a:solidFill>
            <a:srgbClr val="FFFFFF"/>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50" name="任意形状 46"/>
          <p:cNvSpPr/>
          <p:nvPr/>
        </p:nvSpPr>
        <p:spPr>
          <a:xfrm>
            <a:off x="10807700" y="4450080"/>
            <a:ext cx="1029335" cy="953770"/>
          </a:xfrm>
          <a:custGeom>
            <a:avLst/>
            <a:gdLst>
              <a:gd name="connsiteX0" fmla="*/ 0 w 1673351"/>
              <a:gd name="connsiteY0" fmla="*/ 0 h 1673351"/>
              <a:gd name="connsiteX1" fmla="*/ 1673352 w 1673351"/>
              <a:gd name="connsiteY1" fmla="*/ 0 h 1673351"/>
              <a:gd name="connsiteX2" fmla="*/ 1673352 w 1673351"/>
              <a:gd name="connsiteY2" fmla="*/ 1673352 h 1673351"/>
              <a:gd name="connsiteX3" fmla="*/ 0 w 1673351"/>
              <a:gd name="connsiteY3" fmla="*/ 1673352 h 1673351"/>
            </a:gdLst>
            <a:ahLst/>
            <a:cxnLst>
              <a:cxn ang="0">
                <a:pos x="connsiteX0" y="connsiteY0"/>
              </a:cxn>
              <a:cxn ang="0">
                <a:pos x="connsiteX1" y="connsiteY1"/>
              </a:cxn>
              <a:cxn ang="0">
                <a:pos x="connsiteX2" y="connsiteY2"/>
              </a:cxn>
              <a:cxn ang="0">
                <a:pos x="connsiteX3" y="connsiteY3"/>
              </a:cxn>
            </a:cxnLst>
            <a:rect l="l" t="t" r="r" b="b"/>
            <a:pathLst>
              <a:path w="1673351" h="1673351">
                <a:moveTo>
                  <a:pt x="0" y="0"/>
                </a:moveTo>
                <a:lnTo>
                  <a:pt x="1673352" y="0"/>
                </a:lnTo>
                <a:lnTo>
                  <a:pt x="1673352" y="1673352"/>
                </a:lnTo>
                <a:lnTo>
                  <a:pt x="0" y="1673352"/>
                </a:lnTo>
                <a:close/>
              </a:path>
            </a:pathLst>
          </a:custGeom>
          <a:gradFill>
            <a:gsLst>
              <a:gs pos="100000">
                <a:srgbClr val="668EFF"/>
              </a:gs>
              <a:gs pos="9000">
                <a:srgbClr val="3368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51" name="圆角矩形 150"/>
          <p:cNvSpPr/>
          <p:nvPr/>
        </p:nvSpPr>
        <p:spPr>
          <a:xfrm>
            <a:off x="11010900" y="4598670"/>
            <a:ext cx="622300" cy="606425"/>
          </a:xfrm>
          <a:prstGeom prst="roundRect">
            <a:avLst>
              <a:gd name="adj" fmla="val 11333"/>
            </a:avLst>
          </a:prstGeom>
          <a:solidFill>
            <a:srgbClr val="FFFFFF"/>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54" name="任意形状 46"/>
          <p:cNvSpPr/>
          <p:nvPr/>
        </p:nvSpPr>
        <p:spPr>
          <a:xfrm>
            <a:off x="10807700" y="5515610"/>
            <a:ext cx="1029335" cy="969645"/>
          </a:xfrm>
          <a:custGeom>
            <a:avLst/>
            <a:gdLst>
              <a:gd name="connsiteX0" fmla="*/ 0 w 1673351"/>
              <a:gd name="connsiteY0" fmla="*/ 0 h 1673351"/>
              <a:gd name="connsiteX1" fmla="*/ 1673352 w 1673351"/>
              <a:gd name="connsiteY1" fmla="*/ 0 h 1673351"/>
              <a:gd name="connsiteX2" fmla="*/ 1673352 w 1673351"/>
              <a:gd name="connsiteY2" fmla="*/ 1673352 h 1673351"/>
              <a:gd name="connsiteX3" fmla="*/ 0 w 1673351"/>
              <a:gd name="connsiteY3" fmla="*/ 1673352 h 1673351"/>
            </a:gdLst>
            <a:ahLst/>
            <a:cxnLst>
              <a:cxn ang="0">
                <a:pos x="connsiteX0" y="connsiteY0"/>
              </a:cxn>
              <a:cxn ang="0">
                <a:pos x="connsiteX1" y="connsiteY1"/>
              </a:cxn>
              <a:cxn ang="0">
                <a:pos x="connsiteX2" y="connsiteY2"/>
              </a:cxn>
              <a:cxn ang="0">
                <a:pos x="connsiteX3" y="connsiteY3"/>
              </a:cxn>
            </a:cxnLst>
            <a:rect l="l" t="t" r="r" b="b"/>
            <a:pathLst>
              <a:path w="1673351" h="1673351">
                <a:moveTo>
                  <a:pt x="0" y="0"/>
                </a:moveTo>
                <a:lnTo>
                  <a:pt x="1673352" y="0"/>
                </a:lnTo>
                <a:lnTo>
                  <a:pt x="1673352" y="1673352"/>
                </a:lnTo>
                <a:lnTo>
                  <a:pt x="0" y="1673352"/>
                </a:lnTo>
                <a:close/>
              </a:path>
            </a:pathLst>
          </a:custGeom>
          <a:gradFill>
            <a:gsLst>
              <a:gs pos="100000">
                <a:srgbClr val="3368FF"/>
              </a:gs>
              <a:gs pos="14000">
                <a:srgbClr val="0042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55" name="圆角矩形 154"/>
          <p:cNvSpPr/>
          <p:nvPr/>
        </p:nvSpPr>
        <p:spPr>
          <a:xfrm>
            <a:off x="11010900" y="5680075"/>
            <a:ext cx="622300" cy="606425"/>
          </a:xfrm>
          <a:prstGeom prst="roundRect">
            <a:avLst>
              <a:gd name="adj" fmla="val 11333"/>
            </a:avLst>
          </a:prstGeom>
          <a:solidFill>
            <a:srgbClr val="FFFFFF"/>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nvGrpSpPr>
          <p:cNvPr id="157" name="组合 156"/>
          <p:cNvGrpSpPr/>
          <p:nvPr/>
        </p:nvGrpSpPr>
        <p:grpSpPr>
          <a:xfrm>
            <a:off x="2380475" y="1318990"/>
            <a:ext cx="1246910" cy="736850"/>
            <a:chOff x="3217308" y="1574536"/>
            <a:chExt cx="1246910" cy="736850"/>
          </a:xfrm>
        </p:grpSpPr>
        <p:sp>
          <p:nvSpPr>
            <p:cNvPr id="158" name="文本框 157"/>
            <p:cNvSpPr txBox="1"/>
            <p:nvPr/>
          </p:nvSpPr>
          <p:spPr>
            <a:xfrm>
              <a:off x="3453335" y="1574536"/>
              <a:ext cx="756000" cy="475615"/>
            </a:xfrm>
            <a:prstGeom prst="rect">
              <a:avLst/>
            </a:prstGeom>
            <a:noFill/>
          </p:spPr>
          <p:txBody>
            <a:bodyPr wrap="square" rtlCol="0" anchor="ctr">
              <a:spAutoFit/>
            </a:bodyPr>
            <a:lstStyle/>
            <a:p>
              <a:pPr algn="ctr">
                <a:defRPr>
                  <a:latin typeface="微软雅黑"/>
                  <a:ea typeface="微软雅黑"/>
                  <a:cs typeface="微软雅黑"/>
                </a:defRPr>
              </a:pPr>
              <a:r>
                <a:rPr kumimoji="1" lang="en-US" altLang="zh-CN" sz="2500" b="1" dirty="0">
                  <a:solidFill>
                    <a:srgbClr val="383838"/>
                  </a:solidFill>
                  <a:latin typeface="微软雅黑"/>
                  <a:ea typeface="微软雅黑"/>
                  <a:cs typeface="微软雅黑"/>
                </a:rPr>
                <a:t>01</a:t>
              </a:r>
              <a:endParaRPr kumimoji="1" lang="en-US" altLang="zh-CN" sz="2500" b="1" dirty="0">
                <a:solidFill>
                  <a:srgbClr val="383838"/>
                </a:solidFill>
                <a:latin typeface="微软雅黑"/>
                <a:ea typeface="微软雅黑"/>
                <a:cs typeface="微软雅黑"/>
              </a:endParaRPr>
            </a:p>
          </p:txBody>
        </p:sp>
        <p:sp>
          <p:nvSpPr>
            <p:cNvPr id="159" name="文本框 158"/>
            <p:cNvSpPr txBox="1"/>
            <p:nvPr/>
          </p:nvSpPr>
          <p:spPr>
            <a:xfrm>
              <a:off x="3217308" y="1989441"/>
              <a:ext cx="1246910" cy="321945"/>
            </a:xfrm>
            <a:prstGeom prst="rect">
              <a:avLst/>
            </a:prstGeom>
            <a:noFill/>
          </p:spPr>
          <p:txBody>
            <a:bodyPr wrap="square" rtlCol="0">
              <a:spAutoFit/>
            </a:bodyPr>
            <a:lstStyle/>
            <a:p>
              <a:pPr algn="ctr">
                <a:defRPr>
                  <a:latin typeface="微软雅黑"/>
                  <a:ea typeface="微软雅黑"/>
                  <a:cs typeface="微软雅黑"/>
                </a:defRPr>
              </a:pPr>
              <a:r>
                <a:rPr kumimoji="1" lang="zh-CN" altLang="en-US" sz="1500" b="1" dirty="0">
                  <a:solidFill>
                    <a:srgbClr val="383838"/>
                  </a:solidFill>
                  <a:latin typeface="微软雅黑"/>
                  <a:ea typeface="微软雅黑"/>
                  <a:cs typeface="微软雅黑"/>
                </a:rPr>
                <a:t>战略落地</a:t>
              </a:r>
              <a:endParaRPr kumimoji="1" lang="zh-CN" altLang="en-US" sz="1500" b="1" dirty="0">
                <a:solidFill>
                  <a:srgbClr val="383838"/>
                </a:solidFill>
                <a:latin typeface="微软雅黑"/>
                <a:ea typeface="微软雅黑"/>
                <a:cs typeface="微软雅黑"/>
              </a:endParaRPr>
            </a:p>
          </p:txBody>
        </p:sp>
      </p:grpSp>
      <p:grpSp>
        <p:nvGrpSpPr>
          <p:cNvPr id="160" name="组合 159"/>
          <p:cNvGrpSpPr/>
          <p:nvPr/>
        </p:nvGrpSpPr>
        <p:grpSpPr>
          <a:xfrm>
            <a:off x="2178161" y="2431755"/>
            <a:ext cx="1246910" cy="736850"/>
            <a:chOff x="3217308" y="1574536"/>
            <a:chExt cx="1246910" cy="736850"/>
          </a:xfrm>
        </p:grpSpPr>
        <p:sp>
          <p:nvSpPr>
            <p:cNvPr id="161" name="文本框 160"/>
            <p:cNvSpPr txBox="1"/>
            <p:nvPr/>
          </p:nvSpPr>
          <p:spPr>
            <a:xfrm>
              <a:off x="3453335" y="1574536"/>
              <a:ext cx="756000" cy="475615"/>
            </a:xfrm>
            <a:prstGeom prst="rect">
              <a:avLst/>
            </a:prstGeom>
            <a:noFill/>
          </p:spPr>
          <p:txBody>
            <a:bodyPr wrap="square" rtlCol="0" anchor="ctr">
              <a:spAutoFit/>
            </a:bodyPr>
            <a:lstStyle/>
            <a:p>
              <a:pPr algn="ctr">
                <a:defRPr>
                  <a:latin typeface="微软雅黑"/>
                  <a:ea typeface="微软雅黑"/>
                  <a:cs typeface="微软雅黑"/>
                </a:defRPr>
              </a:pPr>
              <a:r>
                <a:rPr kumimoji="1" lang="en-US" altLang="zh-CN" sz="2500" b="1" dirty="0">
                  <a:solidFill>
                    <a:srgbClr val="383838"/>
                  </a:solidFill>
                  <a:latin typeface="微软雅黑"/>
                  <a:ea typeface="微软雅黑"/>
                  <a:cs typeface="微软雅黑"/>
                </a:rPr>
                <a:t>02</a:t>
              </a:r>
              <a:endParaRPr kumimoji="1" lang="en-US" altLang="zh-CN" sz="2500" b="1" dirty="0">
                <a:solidFill>
                  <a:srgbClr val="383838"/>
                </a:solidFill>
                <a:latin typeface="微软雅黑"/>
                <a:ea typeface="微软雅黑"/>
                <a:cs typeface="微软雅黑"/>
              </a:endParaRPr>
            </a:p>
          </p:txBody>
        </p:sp>
        <p:sp>
          <p:nvSpPr>
            <p:cNvPr id="162" name="文本框 161"/>
            <p:cNvSpPr txBox="1"/>
            <p:nvPr/>
          </p:nvSpPr>
          <p:spPr>
            <a:xfrm>
              <a:off x="3217308" y="1989441"/>
              <a:ext cx="1246910" cy="32194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1500" b="1" dirty="0">
                  <a:solidFill>
                    <a:srgbClr val="FFFFFF"/>
                  </a:solidFill>
                  <a:latin typeface="微软雅黑"/>
                  <a:ea typeface="微软雅黑"/>
                  <a:cs typeface="微软雅黑"/>
                </a:rPr>
                <a:t>数字化转型</a:t>
              </a:r>
              <a:endParaRPr kumimoji="1" lang="zh-CN" altLang="en-US" sz="1500" b="1" dirty="0">
                <a:solidFill>
                  <a:srgbClr val="FFFFFF"/>
                </a:solidFill>
                <a:latin typeface="微软雅黑"/>
                <a:ea typeface="微软雅黑"/>
                <a:cs typeface="微软雅黑"/>
              </a:endParaRPr>
            </a:p>
          </p:txBody>
        </p:sp>
      </p:grpSp>
      <p:grpSp>
        <p:nvGrpSpPr>
          <p:cNvPr id="163" name="组合 162"/>
          <p:cNvGrpSpPr/>
          <p:nvPr/>
        </p:nvGrpSpPr>
        <p:grpSpPr>
          <a:xfrm>
            <a:off x="1773151" y="3496015"/>
            <a:ext cx="1520825" cy="736600"/>
            <a:chOff x="3064908" y="1574536"/>
            <a:chExt cx="1520825" cy="736600"/>
          </a:xfrm>
        </p:grpSpPr>
        <p:sp>
          <p:nvSpPr>
            <p:cNvPr id="164" name="文本框 163"/>
            <p:cNvSpPr txBox="1"/>
            <p:nvPr/>
          </p:nvSpPr>
          <p:spPr>
            <a:xfrm>
              <a:off x="3453335" y="1574536"/>
              <a:ext cx="756000" cy="475615"/>
            </a:xfrm>
            <a:prstGeom prst="rect">
              <a:avLst/>
            </a:prstGeom>
            <a:noFill/>
          </p:spPr>
          <p:txBody>
            <a:bodyPr wrap="square" rtlCol="0" anchor="ctr">
              <a:spAutoFit/>
            </a:bodyPr>
            <a:lstStyle/>
            <a:p>
              <a:pPr algn="ctr">
                <a:defRPr>
                  <a:solidFill>
                    <a:srgbClr val="383838"/>
                  </a:solidFill>
                  <a:latin typeface="微软雅黑"/>
                  <a:ea typeface="微软雅黑"/>
                  <a:cs typeface="微软雅黑"/>
                </a:defRPr>
              </a:pPr>
              <a:r>
                <a:rPr kumimoji="1" lang="en-US" altLang="zh-CN" sz="2500" b="1" dirty="0">
                  <a:solidFill>
                    <a:srgbClr val="383838"/>
                  </a:solidFill>
                  <a:latin typeface="微软雅黑"/>
                  <a:ea typeface="微软雅黑"/>
                  <a:cs typeface="微软雅黑"/>
                </a:rPr>
                <a:t>03</a:t>
              </a:r>
              <a:endParaRPr kumimoji="1" lang="en-US" altLang="zh-CN" sz="2500" b="1" dirty="0">
                <a:solidFill>
                  <a:srgbClr val="383838"/>
                </a:solidFill>
                <a:latin typeface="微软雅黑"/>
                <a:ea typeface="微软雅黑"/>
                <a:cs typeface="微软雅黑"/>
              </a:endParaRPr>
            </a:p>
          </p:txBody>
        </p:sp>
        <p:sp>
          <p:nvSpPr>
            <p:cNvPr id="165" name="文本框 164"/>
            <p:cNvSpPr txBox="1"/>
            <p:nvPr/>
          </p:nvSpPr>
          <p:spPr>
            <a:xfrm>
              <a:off x="3064908" y="1989191"/>
              <a:ext cx="1520825" cy="321945"/>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kumimoji="1" lang="zh-CN" altLang="en-US" sz="1500" b="1" dirty="0">
                  <a:solidFill>
                    <a:srgbClr val="383838"/>
                  </a:solidFill>
                  <a:latin typeface="微软雅黑"/>
                  <a:ea typeface="微软雅黑"/>
                  <a:cs typeface="微软雅黑"/>
                </a:rPr>
                <a:t>成本控制与优化</a:t>
              </a:r>
              <a:endParaRPr kumimoji="1" lang="zh-CN" altLang="en-US" sz="1500" b="1" dirty="0">
                <a:solidFill>
                  <a:srgbClr val="383838"/>
                </a:solidFill>
                <a:latin typeface="微软雅黑"/>
                <a:ea typeface="微软雅黑"/>
                <a:cs typeface="微软雅黑"/>
              </a:endParaRPr>
            </a:p>
          </p:txBody>
        </p:sp>
      </p:grpSp>
      <p:grpSp>
        <p:nvGrpSpPr>
          <p:cNvPr id="167" name="组合 166"/>
          <p:cNvGrpSpPr/>
          <p:nvPr/>
        </p:nvGrpSpPr>
        <p:grpSpPr>
          <a:xfrm>
            <a:off x="1481172" y="4560275"/>
            <a:ext cx="1751330" cy="736600"/>
            <a:chOff x="2995058" y="1574536"/>
            <a:chExt cx="1751330" cy="736600"/>
          </a:xfrm>
        </p:grpSpPr>
        <p:sp>
          <p:nvSpPr>
            <p:cNvPr id="168" name="文本框 167"/>
            <p:cNvSpPr txBox="1"/>
            <p:nvPr/>
          </p:nvSpPr>
          <p:spPr>
            <a:xfrm>
              <a:off x="3453335" y="1574536"/>
              <a:ext cx="756000" cy="475615"/>
            </a:xfrm>
            <a:prstGeom prst="rect">
              <a:avLst/>
            </a:prstGeom>
            <a:noFill/>
          </p:spPr>
          <p:txBody>
            <a:bodyPr wrap="square" rtlCol="0" anchor="ctr">
              <a:spAutoFit/>
            </a:bodyPr>
            <a:lstStyle/>
            <a:p>
              <a:pPr algn="ctr">
                <a:defRPr>
                  <a:solidFill>
                    <a:srgbClr val="FFFFFF"/>
                  </a:solidFill>
                  <a:latin typeface="微软雅黑"/>
                  <a:ea typeface="微软雅黑"/>
                  <a:cs typeface="微软雅黑"/>
                </a:defRPr>
              </a:pPr>
              <a:r>
                <a:rPr kumimoji="1" lang="en-US" altLang="zh-CN" sz="2500" b="1" dirty="0">
                  <a:solidFill>
                    <a:srgbClr val="FFFFFF"/>
                  </a:solidFill>
                  <a:latin typeface="微软雅黑"/>
                  <a:ea typeface="微软雅黑"/>
                  <a:cs typeface="微软雅黑"/>
                </a:rPr>
                <a:t>04</a:t>
              </a:r>
              <a:endParaRPr kumimoji="1" lang="en-US" altLang="zh-CN" sz="2500" b="1" dirty="0">
                <a:solidFill>
                  <a:srgbClr val="FFFFFF"/>
                </a:solidFill>
                <a:latin typeface="微软雅黑"/>
                <a:ea typeface="微软雅黑"/>
                <a:cs typeface="微软雅黑"/>
              </a:endParaRPr>
            </a:p>
          </p:txBody>
        </p:sp>
        <p:sp>
          <p:nvSpPr>
            <p:cNvPr id="169" name="文本框 168"/>
            <p:cNvSpPr txBox="1"/>
            <p:nvPr/>
          </p:nvSpPr>
          <p:spPr>
            <a:xfrm>
              <a:off x="2995058" y="1989191"/>
              <a:ext cx="1751330" cy="32194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1500" b="1" dirty="0">
                  <a:solidFill>
                    <a:srgbClr val="FFFFFF"/>
                  </a:solidFill>
                  <a:latin typeface="微软雅黑"/>
                  <a:ea typeface="微软雅黑"/>
                  <a:cs typeface="微软雅黑"/>
                </a:rPr>
                <a:t>安全生产与合规</a:t>
              </a:r>
              <a:endParaRPr kumimoji="1" lang="zh-CN" altLang="en-US" sz="1500" b="1" dirty="0">
                <a:solidFill>
                  <a:srgbClr val="FFFFFF"/>
                </a:solidFill>
                <a:latin typeface="微软雅黑"/>
                <a:ea typeface="微软雅黑"/>
                <a:cs typeface="微软雅黑"/>
              </a:endParaRPr>
            </a:p>
          </p:txBody>
        </p:sp>
      </p:grpSp>
      <p:grpSp>
        <p:nvGrpSpPr>
          <p:cNvPr id="170" name="组合 169"/>
          <p:cNvGrpSpPr/>
          <p:nvPr/>
        </p:nvGrpSpPr>
        <p:grpSpPr>
          <a:xfrm>
            <a:off x="1104697" y="5624632"/>
            <a:ext cx="2127885" cy="736600"/>
            <a:chOff x="2779793" y="1574536"/>
            <a:chExt cx="2127885" cy="736600"/>
          </a:xfrm>
        </p:grpSpPr>
        <p:sp>
          <p:nvSpPr>
            <p:cNvPr id="171" name="文本框 170"/>
            <p:cNvSpPr txBox="1"/>
            <p:nvPr/>
          </p:nvSpPr>
          <p:spPr>
            <a:xfrm>
              <a:off x="3453335" y="1574536"/>
              <a:ext cx="756000" cy="475615"/>
            </a:xfrm>
            <a:prstGeom prst="rect">
              <a:avLst/>
            </a:prstGeom>
            <a:noFill/>
          </p:spPr>
          <p:txBody>
            <a:bodyPr wrap="square" rtlCol="0" anchor="ctr">
              <a:spAutoFit/>
            </a:bodyPr>
            <a:lstStyle/>
            <a:p>
              <a:pPr algn="ctr">
                <a:defRPr>
                  <a:solidFill>
                    <a:srgbClr val="FFFFFF"/>
                  </a:solidFill>
                  <a:latin typeface="微软雅黑"/>
                  <a:ea typeface="微软雅黑"/>
                  <a:cs typeface="微软雅黑"/>
                </a:defRPr>
              </a:pPr>
              <a:r>
                <a:rPr kumimoji="1" lang="en-US" altLang="zh-CN" sz="2500" b="1" dirty="0">
                  <a:solidFill>
                    <a:srgbClr val="FFFFFF"/>
                  </a:solidFill>
                  <a:latin typeface="微软雅黑"/>
                  <a:ea typeface="微软雅黑"/>
                  <a:cs typeface="微软雅黑"/>
                </a:rPr>
                <a:t>05</a:t>
              </a:r>
              <a:endParaRPr kumimoji="1" lang="en-US" altLang="zh-CN" sz="2500" b="1" dirty="0">
                <a:solidFill>
                  <a:srgbClr val="FFFFFF"/>
                </a:solidFill>
                <a:latin typeface="微软雅黑"/>
                <a:ea typeface="微软雅黑"/>
                <a:cs typeface="微软雅黑"/>
              </a:endParaRPr>
            </a:p>
          </p:txBody>
        </p:sp>
        <p:sp>
          <p:nvSpPr>
            <p:cNvPr id="172" name="文本框 171"/>
            <p:cNvSpPr txBox="1"/>
            <p:nvPr/>
          </p:nvSpPr>
          <p:spPr>
            <a:xfrm>
              <a:off x="2779793" y="1989191"/>
              <a:ext cx="2127885" cy="32194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1500" b="1" dirty="0">
                  <a:solidFill>
                    <a:srgbClr val="FFFFFF"/>
                  </a:solidFill>
                  <a:latin typeface="微软雅黑"/>
                  <a:ea typeface="微软雅黑"/>
                  <a:cs typeface="微软雅黑"/>
                </a:rPr>
                <a:t>人才培养与梯队建设</a:t>
              </a:r>
              <a:endParaRPr kumimoji="1" lang="zh-CN" altLang="en-US" sz="1500" b="1" dirty="0">
                <a:solidFill>
                  <a:srgbClr val="FFFFFF"/>
                </a:solidFill>
                <a:latin typeface="微软雅黑"/>
                <a:ea typeface="微软雅黑"/>
                <a:cs typeface="微软雅黑"/>
              </a:endParaRPr>
            </a:p>
          </p:txBody>
        </p:sp>
      </p:grpSp>
      <p:sp>
        <p:nvSpPr>
          <p:cNvPr id="173" name="Disclaimer"/>
          <p:cNvSpPr/>
          <p:nvPr/>
        </p:nvSpPr>
        <p:spPr>
          <a:xfrm>
            <a:off x="3933190" y="1241425"/>
            <a:ext cx="6510655" cy="845820"/>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工作成果：</a:t>
            </a:r>
            <a:r>
              <a:rPr lang="zh-CN" altLang="en-US" sz="1300" noProof="1">
                <a:solidFill>
                  <a:srgbClr val="383838"/>
                </a:solidFill>
                <a:latin typeface="微软雅黑"/>
                <a:ea typeface="微软雅黑"/>
                <a:cs typeface="微软雅黑"/>
              </a:rPr>
              <a:t>年度战略规划完成率</a:t>
            </a:r>
            <a:r>
              <a:rPr lang="en-US" altLang="zh-CN" sz="1300" noProof="1">
                <a:solidFill>
                  <a:srgbClr val="383838"/>
                </a:solidFill>
                <a:latin typeface="微软雅黑"/>
                <a:ea typeface="微软雅黑"/>
                <a:cs typeface="微软雅黑"/>
              </a:rPr>
              <a:t> 95%</a:t>
            </a:r>
            <a:r>
              <a:rPr lang="zh-CN" altLang="en-US" sz="1300" noProof="1">
                <a:solidFill>
                  <a:srgbClr val="383838"/>
                </a:solidFill>
                <a:latin typeface="微软雅黑"/>
                <a:ea typeface="微软雅黑"/>
                <a:cs typeface="微软雅黑"/>
              </a:rPr>
              <a:t>。</a:t>
            </a:r>
            <a:endParaRPr lang="zh-CN" altLang="en-US" sz="1300" noProof="1">
              <a:solidFill>
                <a:srgbClr val="383838"/>
              </a:solidFill>
              <a:latin typeface="微软雅黑"/>
              <a:ea typeface="微软雅黑"/>
              <a:cs typeface="微软雅黑"/>
            </a:endParaRPr>
          </a:p>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执行方式：</a:t>
            </a:r>
            <a:r>
              <a:rPr lang="zh-CN" altLang="en-US" sz="1300" noProof="1">
                <a:solidFill>
                  <a:srgbClr val="383838"/>
                </a:solidFill>
                <a:latin typeface="微软雅黑"/>
                <a:ea typeface="微软雅黑"/>
                <a:cs typeface="微软雅黑"/>
              </a:rPr>
              <a:t>将年度战略拆解为季度关键里程碑，通过跨部门协同机制定期复盘，确保核心目标按时推进。</a:t>
            </a:r>
            <a:endParaRPr lang="zh-CN" altLang="en-US" sz="1300" noProof="1">
              <a:solidFill>
                <a:srgbClr val="383838"/>
              </a:solidFill>
              <a:latin typeface="微软雅黑"/>
              <a:ea typeface="微软雅黑"/>
              <a:cs typeface="微软雅黑"/>
            </a:endParaRPr>
          </a:p>
        </p:txBody>
      </p:sp>
      <p:sp>
        <p:nvSpPr>
          <p:cNvPr id="174" name="Disclaimer"/>
          <p:cNvSpPr/>
          <p:nvPr/>
        </p:nvSpPr>
        <p:spPr>
          <a:xfrm>
            <a:off x="3933190" y="2317115"/>
            <a:ext cx="6510655" cy="845820"/>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工作成果：</a:t>
            </a:r>
            <a:r>
              <a:rPr lang="zh-CN" altLang="en-US" sz="1300" noProof="1">
                <a:solidFill>
                  <a:srgbClr val="383838"/>
                </a:solidFill>
                <a:latin typeface="微软雅黑"/>
                <a:ea typeface="微软雅黑"/>
                <a:cs typeface="微软雅黑"/>
              </a:rPr>
              <a:t>核心业务流程线上化覆盖率提升至</a:t>
            </a:r>
            <a:r>
              <a:rPr lang="en-US" altLang="zh-CN" sz="1300" noProof="1">
                <a:solidFill>
                  <a:srgbClr val="383838"/>
                </a:solidFill>
                <a:latin typeface="微软雅黑"/>
                <a:ea typeface="微软雅黑"/>
                <a:cs typeface="微软雅黑"/>
              </a:rPr>
              <a:t> 85%</a:t>
            </a:r>
            <a:r>
              <a:rPr lang="zh-CN" altLang="en-US" sz="1300" noProof="1">
                <a:solidFill>
                  <a:srgbClr val="383838"/>
                </a:solidFill>
                <a:latin typeface="微软雅黑"/>
                <a:ea typeface="微软雅黑"/>
                <a:cs typeface="微软雅黑"/>
              </a:rPr>
              <a:t>。</a:t>
            </a:r>
            <a:endParaRPr lang="en-US" altLang="zh-CN" sz="1300" noProof="1">
              <a:solidFill>
                <a:srgbClr val="383838"/>
              </a:solidFill>
              <a:latin typeface="微软雅黑"/>
              <a:ea typeface="微软雅黑"/>
              <a:cs typeface="微软雅黑"/>
            </a:endParaRPr>
          </a:p>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执行方式：</a:t>
            </a:r>
            <a:r>
              <a:rPr lang="zh-CN" altLang="en-US" sz="1300" noProof="1">
                <a:solidFill>
                  <a:srgbClr val="383838"/>
                </a:solidFill>
                <a:latin typeface="微软雅黑"/>
                <a:ea typeface="微软雅黑"/>
                <a:cs typeface="微软雅黑"/>
              </a:rPr>
              <a:t>引入低代码平台搭建业务管理系统，打通数据孤岛，实现生产、销售、库存数据的实时联动。</a:t>
            </a:r>
            <a:endParaRPr lang="zh-CN" altLang="en-US" sz="1300" noProof="1">
              <a:solidFill>
                <a:srgbClr val="383838"/>
              </a:solidFill>
              <a:latin typeface="微软雅黑"/>
              <a:ea typeface="微软雅黑"/>
              <a:cs typeface="微软雅黑"/>
            </a:endParaRPr>
          </a:p>
        </p:txBody>
      </p:sp>
      <p:sp>
        <p:nvSpPr>
          <p:cNvPr id="175" name="Disclaimer"/>
          <p:cNvSpPr/>
          <p:nvPr/>
        </p:nvSpPr>
        <p:spPr>
          <a:xfrm>
            <a:off x="3933190" y="3392805"/>
            <a:ext cx="6510655" cy="845820"/>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工作成果：</a:t>
            </a:r>
            <a:r>
              <a:rPr lang="zh-CN" altLang="en-US" sz="1300" noProof="1">
                <a:solidFill>
                  <a:srgbClr val="383838"/>
                </a:solidFill>
                <a:latin typeface="微软雅黑"/>
                <a:ea typeface="微软雅黑"/>
                <a:cs typeface="微软雅黑"/>
              </a:rPr>
              <a:t>运营成本同比降低</a:t>
            </a:r>
            <a:r>
              <a:rPr lang="en-US" altLang="zh-CN" sz="1300" noProof="1">
                <a:solidFill>
                  <a:srgbClr val="383838"/>
                </a:solidFill>
                <a:latin typeface="微软雅黑"/>
                <a:ea typeface="微软雅黑"/>
                <a:cs typeface="微软雅黑"/>
              </a:rPr>
              <a:t> 12%</a:t>
            </a:r>
            <a:r>
              <a:rPr lang="zh-CN" altLang="en-US" sz="1300" noProof="1">
                <a:solidFill>
                  <a:srgbClr val="383838"/>
                </a:solidFill>
                <a:latin typeface="微软雅黑"/>
                <a:ea typeface="微软雅黑"/>
                <a:cs typeface="微软雅黑"/>
              </a:rPr>
              <a:t>。</a:t>
            </a:r>
            <a:endParaRPr lang="en-US" altLang="zh-CN" sz="1300" noProof="1">
              <a:solidFill>
                <a:srgbClr val="383838"/>
              </a:solidFill>
              <a:latin typeface="微软雅黑"/>
              <a:ea typeface="微软雅黑"/>
              <a:cs typeface="微软雅黑"/>
            </a:endParaRPr>
          </a:p>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执行方式：</a:t>
            </a:r>
            <a:r>
              <a:rPr lang="zh-CN" altLang="en-US" sz="1300" noProof="1">
                <a:solidFill>
                  <a:srgbClr val="383838"/>
                </a:solidFill>
                <a:latin typeface="微软雅黑"/>
                <a:ea typeface="微软雅黑"/>
                <a:cs typeface="微软雅黑"/>
              </a:rPr>
              <a:t>重新评估供应链结构，集中采购核心物料；推行能耗监控系统，识别并削减非必要开支。</a:t>
            </a:r>
            <a:endParaRPr lang="zh-CN" altLang="en-US" sz="1300" noProof="1">
              <a:solidFill>
                <a:srgbClr val="383838"/>
              </a:solidFill>
              <a:latin typeface="微软雅黑"/>
              <a:ea typeface="微软雅黑"/>
              <a:cs typeface="微软雅黑"/>
            </a:endParaRPr>
          </a:p>
        </p:txBody>
      </p:sp>
      <p:sp>
        <p:nvSpPr>
          <p:cNvPr id="176" name="Disclaimer"/>
          <p:cNvSpPr/>
          <p:nvPr/>
        </p:nvSpPr>
        <p:spPr>
          <a:xfrm>
            <a:off x="3933190" y="4609465"/>
            <a:ext cx="6510655" cy="563880"/>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工作成果：</a:t>
            </a:r>
            <a:r>
              <a:rPr lang="zh-CN" altLang="en-US" sz="1300" noProof="1">
                <a:solidFill>
                  <a:srgbClr val="383838"/>
                </a:solidFill>
                <a:latin typeface="微软雅黑"/>
                <a:ea typeface="微软雅黑"/>
                <a:cs typeface="微软雅黑"/>
              </a:rPr>
              <a:t>全年重大安全事故为</a:t>
            </a:r>
            <a:r>
              <a:rPr lang="en-US" altLang="zh-CN" sz="1300" noProof="1">
                <a:solidFill>
                  <a:srgbClr val="383838"/>
                </a:solidFill>
                <a:latin typeface="微软雅黑"/>
                <a:ea typeface="微软雅黑"/>
                <a:cs typeface="微软雅黑"/>
              </a:rPr>
              <a:t> 0</a:t>
            </a:r>
            <a:r>
              <a:rPr lang="zh-CN" altLang="en-US" sz="1300" noProof="1">
                <a:solidFill>
                  <a:srgbClr val="383838"/>
                </a:solidFill>
                <a:latin typeface="微软雅黑"/>
                <a:ea typeface="微软雅黑"/>
                <a:cs typeface="微软雅黑"/>
              </a:rPr>
              <a:t>，合规审查通过率</a:t>
            </a:r>
            <a:r>
              <a:rPr lang="en-US" altLang="zh-CN" sz="1300" noProof="1">
                <a:solidFill>
                  <a:srgbClr val="383838"/>
                </a:solidFill>
                <a:latin typeface="微软雅黑"/>
                <a:ea typeface="微软雅黑"/>
                <a:cs typeface="微软雅黑"/>
              </a:rPr>
              <a:t> 100%</a:t>
            </a:r>
            <a:r>
              <a:rPr lang="zh-CN" altLang="en-US" sz="1300" noProof="1">
                <a:solidFill>
                  <a:srgbClr val="383838"/>
                </a:solidFill>
                <a:latin typeface="微软雅黑"/>
                <a:ea typeface="微软雅黑"/>
                <a:cs typeface="微软雅黑"/>
              </a:rPr>
              <a:t>。</a:t>
            </a:r>
            <a:endParaRPr lang="en-US" altLang="zh-CN" sz="1300" noProof="1">
              <a:solidFill>
                <a:srgbClr val="383838"/>
              </a:solidFill>
              <a:latin typeface="微软雅黑"/>
              <a:ea typeface="微软雅黑"/>
              <a:cs typeface="微软雅黑"/>
            </a:endParaRPr>
          </a:p>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执行方式：</a:t>
            </a:r>
            <a:r>
              <a:rPr lang="zh-CN" altLang="en-US" sz="1300" noProof="1">
                <a:solidFill>
                  <a:srgbClr val="383838"/>
                </a:solidFill>
                <a:latin typeface="微软雅黑"/>
                <a:ea typeface="微软雅黑"/>
                <a:cs typeface="微软雅黑"/>
              </a:rPr>
              <a:t>建立常态化安全巡检机制，组织季度应急演练，上线合规风险预警平台。</a:t>
            </a:r>
            <a:endParaRPr lang="en-US" altLang="zh-CN" sz="1300" noProof="1">
              <a:solidFill>
                <a:srgbClr val="383838"/>
              </a:solidFill>
              <a:latin typeface="微软雅黑"/>
              <a:ea typeface="微软雅黑"/>
              <a:cs typeface="微软雅黑"/>
            </a:endParaRPr>
          </a:p>
        </p:txBody>
      </p:sp>
      <p:sp>
        <p:nvSpPr>
          <p:cNvPr id="177" name="Disclaimer"/>
          <p:cNvSpPr/>
          <p:nvPr/>
        </p:nvSpPr>
        <p:spPr>
          <a:xfrm>
            <a:off x="3933190" y="5685155"/>
            <a:ext cx="6510655" cy="563880"/>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工作成果：</a:t>
            </a:r>
            <a:r>
              <a:rPr lang="zh-CN" altLang="en-US" sz="1300" noProof="1">
                <a:solidFill>
                  <a:srgbClr val="383838"/>
                </a:solidFill>
                <a:latin typeface="微软雅黑"/>
                <a:ea typeface="微软雅黑"/>
                <a:cs typeface="微软雅黑"/>
              </a:rPr>
              <a:t>关键岗位内部晋升比例达</a:t>
            </a:r>
            <a:r>
              <a:rPr lang="en-US" altLang="zh-CN" sz="1300" noProof="1">
                <a:solidFill>
                  <a:srgbClr val="383838"/>
                </a:solidFill>
                <a:latin typeface="微软雅黑"/>
                <a:ea typeface="微软雅黑"/>
                <a:cs typeface="微软雅黑"/>
              </a:rPr>
              <a:t> 60%</a:t>
            </a:r>
            <a:r>
              <a:rPr lang="zh-CN" altLang="en-US" sz="1300" noProof="1">
                <a:solidFill>
                  <a:srgbClr val="383838"/>
                </a:solidFill>
                <a:latin typeface="微软雅黑"/>
                <a:ea typeface="微软雅黑"/>
                <a:cs typeface="微软雅黑"/>
              </a:rPr>
              <a:t>。</a:t>
            </a:r>
            <a:endParaRPr lang="en-US" altLang="zh-CN" sz="1300" noProof="1">
              <a:solidFill>
                <a:srgbClr val="383838"/>
              </a:solidFill>
              <a:latin typeface="微软雅黑"/>
              <a:ea typeface="微软雅黑"/>
              <a:cs typeface="微软雅黑"/>
            </a:endParaRPr>
          </a:p>
          <a:p>
            <a:pPr marR="0" lvl="0" indent="0" defTabSz="914400" rtl="0" fontAlgn="auto">
              <a:lnSpc>
                <a:spcPts val="2200"/>
              </a:lnSpc>
              <a:spcBef>
                <a:spcPts val="0"/>
              </a:spcBef>
              <a:spcAft>
                <a:spcPts val="0"/>
              </a:spcAft>
              <a:buClrTx/>
              <a:buSzTx/>
              <a:buFontTx/>
              <a:buNone/>
              <a:defRPr>
                <a:latin typeface="微软雅黑"/>
                <a:ea typeface="微软雅黑"/>
                <a:cs typeface="微软雅黑"/>
              </a:defRPr>
            </a:pPr>
            <a:r>
              <a:rPr lang="zh-CN" altLang="en-US" sz="1300" b="1" noProof="1">
                <a:solidFill>
                  <a:srgbClr val="383838"/>
                </a:solidFill>
                <a:latin typeface="微软雅黑"/>
                <a:ea typeface="微软雅黑"/>
                <a:cs typeface="微软雅黑"/>
              </a:rPr>
              <a:t>执行方式：</a:t>
            </a:r>
            <a:r>
              <a:rPr lang="zh-CN" altLang="en-US" sz="1300" noProof="1">
                <a:solidFill>
                  <a:srgbClr val="383838"/>
                </a:solidFill>
                <a:latin typeface="微软雅黑"/>
                <a:ea typeface="微软雅黑"/>
                <a:cs typeface="微软雅黑"/>
              </a:rPr>
              <a:t>实施导师制培养计划，定期开展领导力培训与岗位轮换，建立人才储备池。</a:t>
            </a:r>
            <a:endParaRPr lang="en-US" altLang="zh-CN" sz="1300" noProof="1">
              <a:solidFill>
                <a:srgbClr val="383838"/>
              </a:solidFill>
              <a:latin typeface="微软雅黑"/>
              <a:ea typeface="微软雅黑"/>
              <a:cs typeface="微软雅黑"/>
            </a:endParaRPr>
          </a:p>
        </p:txBody>
      </p:sp>
      <p:pic>
        <p:nvPicPr>
          <p:cNvPr id="178" name="图片 177" descr="战略分区"/>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1132185" y="1520825"/>
            <a:ext cx="381000" cy="381000"/>
          </a:xfrm>
          <a:prstGeom prst="rect">
            <a:avLst/>
          </a:prstGeom>
        </p:spPr>
      </p:pic>
      <p:pic>
        <p:nvPicPr>
          <p:cNvPr id="179" name="图片 178" descr="企业弹性管理数字化转型s-百望云"/>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1100435" y="2558415"/>
            <a:ext cx="412750" cy="382270"/>
          </a:xfrm>
          <a:prstGeom prst="rect">
            <a:avLst/>
          </a:prstGeom>
        </p:spPr>
      </p:pic>
      <p:pic>
        <p:nvPicPr>
          <p:cNvPr id="180" name="图片 179" descr="信息安全合规"/>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1132185" y="4705985"/>
            <a:ext cx="392430" cy="392430"/>
          </a:xfrm>
          <a:prstGeom prst="rect">
            <a:avLst/>
          </a:prstGeom>
        </p:spPr>
      </p:pic>
      <p:pic>
        <p:nvPicPr>
          <p:cNvPr id="182" name="图片 181" descr="汽车配件销售"/>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1150600" y="3684588"/>
            <a:ext cx="342900" cy="342900"/>
          </a:xfrm>
          <a:prstGeom prst="rect">
            <a:avLst/>
          </a:prstGeom>
        </p:spPr>
      </p:pic>
      <p:pic>
        <p:nvPicPr>
          <p:cNvPr id="183" name="图片 182" descr="组织谈话"/>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083290" y="5738495"/>
            <a:ext cx="490220" cy="490220"/>
          </a:xfrm>
          <a:prstGeom prst="rect">
            <a:avLst/>
          </a:prstGeom>
        </p:spPr>
      </p:pic>
      <p:cxnSp>
        <p:nvCxnSpPr>
          <p:cNvPr id="905" name="Google Shape;905;p33"/>
          <p:cNvCxnSpPr/>
          <p:nvPr/>
        </p:nvCxnSpPr>
        <p:spPr>
          <a:xfrm>
            <a:off x="462708" y="2269962"/>
            <a:ext cx="1722755" cy="0"/>
          </a:xfrm>
          <a:prstGeom prst="straightConnector1">
            <a:avLst/>
          </a:prstGeom>
          <a:noFill/>
          <a:ln w="9525" cap="flat" cmpd="sng">
            <a:solidFill>
              <a:srgbClr val="DCDCDC"/>
            </a:solidFill>
            <a:prstDash val="dash"/>
            <a:miter lim="400000"/>
            <a:headEnd type="none" w="sm" len="sm"/>
            <a:tailEnd type="none" w="sm" len="sm"/>
          </a:ln>
        </p:spPr>
      </p:cxnSp>
      <p:cxnSp>
        <p:nvCxnSpPr>
          <p:cNvPr id="928" name="Google Shape;928;p33"/>
          <p:cNvCxnSpPr/>
          <p:nvPr/>
        </p:nvCxnSpPr>
        <p:spPr>
          <a:xfrm>
            <a:off x="392632" y="1164825"/>
            <a:ext cx="141539" cy="0"/>
          </a:xfrm>
          <a:prstGeom prst="straightConnector1">
            <a:avLst/>
          </a:prstGeom>
          <a:noFill/>
          <a:ln w="28575" cap="flat" cmpd="sng">
            <a:solidFill>
              <a:srgbClr val="383838"/>
            </a:solidFill>
            <a:prstDash val="solid"/>
            <a:round/>
            <a:headEnd type="none" w="sm" len="sm"/>
            <a:tailEnd type="none" w="sm" len="sm"/>
          </a:ln>
        </p:spPr>
      </p:cxnSp>
      <p:cxnSp>
        <p:nvCxnSpPr>
          <p:cNvPr id="184" name="Google Shape;905;p33"/>
          <p:cNvCxnSpPr/>
          <p:nvPr/>
        </p:nvCxnSpPr>
        <p:spPr>
          <a:xfrm>
            <a:off x="462708" y="3329142"/>
            <a:ext cx="1332865" cy="0"/>
          </a:xfrm>
          <a:prstGeom prst="straightConnector1">
            <a:avLst/>
          </a:prstGeom>
          <a:noFill/>
          <a:ln w="9525" cap="flat" cmpd="sng">
            <a:solidFill>
              <a:srgbClr val="DCDCDC"/>
            </a:solidFill>
            <a:prstDash val="dash"/>
            <a:miter lim="400000"/>
            <a:headEnd type="none" w="sm" len="sm"/>
            <a:tailEnd type="none" w="sm" len="sm"/>
          </a:ln>
        </p:spPr>
      </p:cxnSp>
      <p:cxnSp>
        <p:nvCxnSpPr>
          <p:cNvPr id="185" name="Google Shape;905;p33"/>
          <p:cNvCxnSpPr/>
          <p:nvPr/>
        </p:nvCxnSpPr>
        <p:spPr>
          <a:xfrm>
            <a:off x="462708" y="4412452"/>
            <a:ext cx="906145" cy="0"/>
          </a:xfrm>
          <a:prstGeom prst="straightConnector1">
            <a:avLst/>
          </a:prstGeom>
          <a:noFill/>
          <a:ln w="9525" cap="flat" cmpd="sng">
            <a:solidFill>
              <a:srgbClr val="DCDCDC"/>
            </a:solidFill>
            <a:prstDash val="dash"/>
            <a:miter lim="400000"/>
            <a:headEnd type="none" w="sm" len="sm"/>
            <a:tailEnd type="none" w="sm" len="sm"/>
          </a:ln>
        </p:spPr>
      </p:cxnSp>
      <p:cxnSp>
        <p:nvCxnSpPr>
          <p:cNvPr id="186" name="Google Shape;905;p33"/>
          <p:cNvCxnSpPr/>
          <p:nvPr/>
        </p:nvCxnSpPr>
        <p:spPr>
          <a:xfrm>
            <a:off x="462708" y="5462742"/>
            <a:ext cx="501650" cy="0"/>
          </a:xfrm>
          <a:prstGeom prst="straightConnector1">
            <a:avLst/>
          </a:prstGeom>
          <a:noFill/>
          <a:ln w="9525" cap="flat" cmpd="sng">
            <a:solidFill>
              <a:srgbClr val="DCDCDC"/>
            </a:solidFill>
            <a:prstDash val="dash"/>
            <a:miter lim="400000"/>
            <a:headEnd type="none" w="sm" len="sm"/>
            <a:tailEnd type="none" w="sm" len="sm"/>
          </a:ln>
        </p:spPr>
      </p:cxnSp>
      <p:cxnSp>
        <p:nvCxnSpPr>
          <p:cNvPr id="187" name="Google Shape;905;p33"/>
          <p:cNvCxnSpPr/>
          <p:nvPr/>
        </p:nvCxnSpPr>
        <p:spPr>
          <a:xfrm>
            <a:off x="463026" y="1184429"/>
            <a:ext cx="0" cy="5253990"/>
          </a:xfrm>
          <a:prstGeom prst="straightConnector1">
            <a:avLst/>
          </a:prstGeom>
          <a:noFill/>
          <a:ln w="9525" cap="flat" cmpd="sng">
            <a:solidFill>
              <a:srgbClr val="DCDCDC"/>
            </a:solidFill>
            <a:prstDash val="dash"/>
            <a:miter lim="400000"/>
            <a:headEnd type="none" w="sm" len="sm"/>
            <a:tailEnd type="none" w="sm" len="sm"/>
          </a:ln>
        </p:spPr>
      </p:cxnSp>
      <p:cxnSp>
        <p:nvCxnSpPr>
          <p:cNvPr id="188" name="Google Shape;928;p33"/>
          <p:cNvCxnSpPr/>
          <p:nvPr/>
        </p:nvCxnSpPr>
        <p:spPr>
          <a:xfrm>
            <a:off x="392632" y="2270360"/>
            <a:ext cx="141539" cy="0"/>
          </a:xfrm>
          <a:prstGeom prst="straightConnector1">
            <a:avLst/>
          </a:prstGeom>
          <a:noFill/>
          <a:ln w="28575" cap="flat" cmpd="sng">
            <a:solidFill>
              <a:srgbClr val="383838"/>
            </a:solidFill>
            <a:prstDash val="solid"/>
            <a:round/>
            <a:headEnd type="none" w="sm" len="sm"/>
            <a:tailEnd type="none" w="sm" len="sm"/>
          </a:ln>
        </p:spPr>
      </p:cxnSp>
      <p:cxnSp>
        <p:nvCxnSpPr>
          <p:cNvPr id="189" name="Google Shape;928;p33"/>
          <p:cNvCxnSpPr/>
          <p:nvPr/>
        </p:nvCxnSpPr>
        <p:spPr>
          <a:xfrm>
            <a:off x="392632" y="3329540"/>
            <a:ext cx="141539" cy="0"/>
          </a:xfrm>
          <a:prstGeom prst="straightConnector1">
            <a:avLst/>
          </a:prstGeom>
          <a:noFill/>
          <a:ln w="28575" cap="flat" cmpd="sng">
            <a:solidFill>
              <a:srgbClr val="383838"/>
            </a:solidFill>
            <a:prstDash val="solid"/>
            <a:round/>
            <a:headEnd type="none" w="sm" len="sm"/>
            <a:tailEnd type="none" w="sm" len="sm"/>
          </a:ln>
        </p:spPr>
      </p:cxnSp>
      <p:cxnSp>
        <p:nvCxnSpPr>
          <p:cNvPr id="190" name="Google Shape;928;p33"/>
          <p:cNvCxnSpPr/>
          <p:nvPr/>
        </p:nvCxnSpPr>
        <p:spPr>
          <a:xfrm>
            <a:off x="392632" y="4450950"/>
            <a:ext cx="141539" cy="0"/>
          </a:xfrm>
          <a:prstGeom prst="straightConnector1">
            <a:avLst/>
          </a:prstGeom>
          <a:noFill/>
          <a:ln w="28575" cap="flat" cmpd="sng">
            <a:solidFill>
              <a:srgbClr val="383838"/>
            </a:solidFill>
            <a:prstDash val="solid"/>
            <a:round/>
            <a:headEnd type="none" w="sm" len="sm"/>
            <a:tailEnd type="none" w="sm" len="sm"/>
          </a:ln>
        </p:spPr>
      </p:cxnSp>
      <p:cxnSp>
        <p:nvCxnSpPr>
          <p:cNvPr id="191" name="Google Shape;928;p33"/>
          <p:cNvCxnSpPr/>
          <p:nvPr/>
        </p:nvCxnSpPr>
        <p:spPr>
          <a:xfrm>
            <a:off x="392632" y="5463140"/>
            <a:ext cx="141539" cy="0"/>
          </a:xfrm>
          <a:prstGeom prst="straightConnector1">
            <a:avLst/>
          </a:prstGeom>
          <a:noFill/>
          <a:ln w="28575" cap="flat" cmpd="sng">
            <a:solidFill>
              <a:srgbClr val="383838"/>
            </a:solidFill>
            <a:prstDash val="solid"/>
            <a:round/>
            <a:headEnd type="none" w="sm" len="sm"/>
            <a:tailEnd type="none" w="sm" len="sm"/>
          </a:ln>
        </p:spPr>
      </p:cxnSp>
      <p:cxnSp>
        <p:nvCxnSpPr>
          <p:cNvPr id="192" name="Google Shape;905;p33"/>
          <p:cNvCxnSpPr/>
          <p:nvPr/>
        </p:nvCxnSpPr>
        <p:spPr>
          <a:xfrm>
            <a:off x="517318" y="1160617"/>
            <a:ext cx="2116455" cy="0"/>
          </a:xfrm>
          <a:prstGeom prst="straightConnector1">
            <a:avLst/>
          </a:prstGeom>
          <a:noFill/>
          <a:ln w="9525" cap="flat" cmpd="sng">
            <a:solidFill>
              <a:srgbClr val="DCDCDC"/>
            </a:solidFill>
            <a:prstDash val="dash"/>
            <a:miter lim="400000"/>
            <a:headEnd type="none" w="sm" len="sm"/>
            <a:tailEnd type="none" w="sm" len="sm"/>
          </a:ln>
        </p:spPr>
      </p:cxnSp>
      <p:sp>
        <p:nvSpPr>
          <p:cNvPr id="193" name="文本框 192"/>
          <p:cNvSpPr txBox="1"/>
          <p:nvPr/>
        </p:nvSpPr>
        <p:spPr>
          <a:xfrm>
            <a:off x="356235" y="1441450"/>
            <a:ext cx="1416685" cy="460375"/>
          </a:xfrm>
          <a:prstGeom prst="rect">
            <a:avLst/>
          </a:prstGeom>
          <a:noFill/>
        </p:spPr>
        <p:txBody>
          <a:bodyPr wrap="square" rtlCol="0">
            <a:spAutoFit/>
          </a:bodyPr>
          <a:lstStyle/>
          <a:p>
            <a:pPr lvl="0" algn="ctr">
              <a:buClrTx/>
              <a:buSzTx/>
              <a:buFontTx/>
              <a:defRPr>
                <a:latin typeface="微软雅黑"/>
                <a:ea typeface="微软雅黑"/>
                <a:cs typeface="微软雅黑"/>
              </a:defRPr>
            </a:pPr>
            <a:r>
              <a:rPr kumimoji="1" lang="zh-CN" altLang="en-US" sz="1200" dirty="0">
                <a:solidFill>
                  <a:srgbClr val="383838"/>
                </a:solidFill>
                <a:latin typeface="微软雅黑"/>
                <a:ea typeface="微软雅黑"/>
                <a:cs typeface="微软雅黑"/>
                <a:sym typeface="微软雅黑"/>
              </a:rPr>
              <a:t>从战略规划</a:t>
            </a:r>
            <a:endParaRPr kumimoji="1" lang="zh-CN" altLang="en-US" sz="12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kumimoji="1" lang="zh-CN" altLang="en-US" sz="1200" dirty="0">
                <a:solidFill>
                  <a:srgbClr val="383838"/>
                </a:solidFill>
                <a:latin typeface="微软雅黑"/>
                <a:ea typeface="微软雅黑"/>
                <a:cs typeface="微软雅黑"/>
                <a:sym typeface="微软雅黑"/>
              </a:rPr>
              <a:t>到执行的转变</a:t>
            </a:r>
            <a:endParaRPr kumimoji="1" lang="zh-CN" altLang="en-US" sz="1200" dirty="0">
              <a:solidFill>
                <a:srgbClr val="383838"/>
              </a:solidFill>
              <a:latin typeface="微软雅黑"/>
              <a:ea typeface="微软雅黑"/>
              <a:cs typeface="微软雅黑"/>
              <a:sym typeface="微软雅黑"/>
            </a:endParaRPr>
          </a:p>
        </p:txBody>
      </p:sp>
      <p:sp>
        <p:nvSpPr>
          <p:cNvPr id="194" name="文本框 193"/>
          <p:cNvSpPr txBox="1"/>
          <p:nvPr/>
        </p:nvSpPr>
        <p:spPr>
          <a:xfrm>
            <a:off x="356235" y="2558125"/>
            <a:ext cx="1246910" cy="460375"/>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用技术手段</a:t>
            </a:r>
            <a:endParaRPr kumimoji="1" lang="zh-CN" altLang="en-US" sz="1200" dirty="0">
              <a:solidFill>
                <a:srgbClr val="383838"/>
              </a:solidFill>
              <a:latin typeface="微软雅黑"/>
              <a:ea typeface="微软雅黑"/>
              <a:cs typeface="微软雅黑"/>
            </a:endParaRPr>
          </a:p>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提升效率</a:t>
            </a:r>
            <a:endParaRPr kumimoji="1" lang="zh-CN" altLang="en-US" sz="1200" dirty="0">
              <a:solidFill>
                <a:srgbClr val="383838"/>
              </a:solidFill>
              <a:latin typeface="微软雅黑"/>
              <a:ea typeface="微软雅黑"/>
              <a:cs typeface="微软雅黑"/>
            </a:endParaRPr>
          </a:p>
        </p:txBody>
      </p:sp>
      <p:sp>
        <p:nvSpPr>
          <p:cNvPr id="195" name="文本框 194"/>
          <p:cNvSpPr txBox="1"/>
          <p:nvPr/>
        </p:nvSpPr>
        <p:spPr>
          <a:xfrm>
            <a:off x="356235" y="3696335"/>
            <a:ext cx="1125220"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降本增效</a:t>
            </a:r>
            <a:endParaRPr kumimoji="1" lang="zh-CN" altLang="en-US" sz="1200" dirty="0">
              <a:solidFill>
                <a:srgbClr val="383838"/>
              </a:solidFill>
              <a:latin typeface="微软雅黑"/>
              <a:ea typeface="微软雅黑"/>
              <a:cs typeface="微软雅黑"/>
            </a:endParaRPr>
          </a:p>
        </p:txBody>
      </p:sp>
      <p:sp>
        <p:nvSpPr>
          <p:cNvPr id="196" name="文本框 195"/>
          <p:cNvSpPr txBox="1"/>
          <p:nvPr/>
        </p:nvSpPr>
        <p:spPr>
          <a:xfrm>
            <a:off x="356235" y="4699635"/>
            <a:ext cx="859155" cy="460375"/>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基础</a:t>
            </a:r>
            <a:endParaRPr kumimoji="1" lang="zh-CN" altLang="en-US" sz="1200" dirty="0">
              <a:solidFill>
                <a:srgbClr val="383838"/>
              </a:solidFill>
              <a:latin typeface="微软雅黑"/>
              <a:ea typeface="微软雅黑"/>
              <a:cs typeface="微软雅黑"/>
            </a:endParaRPr>
          </a:p>
          <a:p>
            <a:pPr algn="ctr">
              <a:defRPr>
                <a:latin typeface="微软雅黑"/>
                <a:ea typeface="微软雅黑"/>
                <a:cs typeface="微软雅黑"/>
              </a:defRPr>
            </a:pPr>
            <a:r>
              <a:rPr kumimoji="1" lang="zh-CN" altLang="en-US" sz="1200" dirty="0">
                <a:solidFill>
                  <a:srgbClr val="383838"/>
                </a:solidFill>
                <a:latin typeface="微软雅黑"/>
                <a:ea typeface="微软雅黑"/>
                <a:cs typeface="微软雅黑"/>
              </a:rPr>
              <a:t>保障</a:t>
            </a:r>
            <a:endParaRPr kumimoji="1" lang="zh-CN" altLang="en-US" sz="1200" dirty="0">
              <a:solidFill>
                <a:srgbClr val="383838"/>
              </a:solidFill>
              <a:latin typeface="微软雅黑"/>
              <a:ea typeface="微软雅黑"/>
              <a:cs typeface="微软雅黑"/>
            </a:endParaRPr>
          </a:p>
        </p:txBody>
      </p:sp>
      <p:sp>
        <p:nvSpPr>
          <p:cNvPr id="197" name="文本框 196"/>
          <p:cNvSpPr txBox="1"/>
          <p:nvPr/>
        </p:nvSpPr>
        <p:spPr>
          <a:xfrm>
            <a:off x="179705" y="5523230"/>
            <a:ext cx="859155" cy="460375"/>
          </a:xfrm>
          <a:prstGeom prst="rect">
            <a:avLst/>
          </a:prstGeom>
          <a:noFill/>
        </p:spPr>
        <p:txBody>
          <a:bodyPr wrap="square" rtlCol="0">
            <a:spAutoFit/>
          </a:bodyPr>
          <a:lstStyle/>
          <a:p>
            <a:pPr algn="ctr">
              <a:defRPr>
                <a:solidFill>
                  <a:srgbClr val="383838"/>
                </a:solidFill>
                <a:latin typeface="微软雅黑"/>
                <a:ea typeface="微软雅黑"/>
                <a:cs typeface="微软雅黑"/>
              </a:defRPr>
            </a:pPr>
            <a:r>
              <a:rPr kumimoji="1" lang="zh-CN" altLang="en-US" sz="1200" dirty="0">
                <a:solidFill>
                  <a:srgbClr val="383838"/>
                </a:solidFill>
                <a:latin typeface="微软雅黑"/>
                <a:ea typeface="微软雅黑"/>
                <a:cs typeface="微软雅黑"/>
              </a:rPr>
              <a:t>蓄</a:t>
            </a:r>
            <a:endParaRPr kumimoji="1" lang="zh-CN" altLang="en-US" sz="1200" dirty="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r>
              <a:rPr kumimoji="1" lang="zh-CN" altLang="en-US" sz="1200" dirty="0">
                <a:solidFill>
                  <a:srgbClr val="383838"/>
                </a:solidFill>
                <a:latin typeface="微软雅黑"/>
                <a:ea typeface="微软雅黑"/>
                <a:cs typeface="微软雅黑"/>
              </a:rPr>
              <a:t>水</a:t>
            </a:r>
            <a:endParaRPr kumimoji="1" lang="zh-CN" altLang="en-US" sz="1200" dirty="0">
              <a:solidFill>
                <a:srgbClr val="383838"/>
              </a:solidFill>
              <a:latin typeface="微软雅黑"/>
              <a:ea typeface="微软雅黑"/>
              <a:cs typeface="微软雅黑"/>
            </a:endParaRPr>
          </a:p>
        </p:txBody>
      </p:sp>
      <p:pic>
        <p:nvPicPr>
          <p:cNvPr id="58" name="图片 57" descr="屋顶资源管理"/>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55600" y="186055"/>
            <a:ext cx="549910" cy="549910"/>
          </a:xfrm>
          <a:prstGeom prst="rect">
            <a:avLst/>
          </a:prstGeom>
        </p:spPr>
      </p:pic>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矩形 31"/>
          <p:cNvSpPr/>
          <p:nvPr/>
        </p:nvSpPr>
        <p:spPr>
          <a:xfrm>
            <a:off x="1275080" y="1168400"/>
            <a:ext cx="10530205" cy="750570"/>
          </a:xfrm>
          <a:prstGeom prst="rect">
            <a:avLst/>
          </a:prstGeom>
          <a:solidFill>
            <a:srgbClr val="FFFFFF"/>
          </a:solidFill>
          <a:ln w="19050">
            <a:solidFill>
              <a:srgbClr val="0042FF"/>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800" b="0" i="0" u="none" strike="noStrike" kern="1200" cap="none" spc="0" normalizeH="0" baseline="0" noProof="0">
                <a:ln>
                  <a:noFill/>
                </a:ln>
                <a:solidFill>
                  <a:srgbClr val="383838"/>
                </a:solidFill>
                <a:effectLst/>
                <a:uLnTx/>
                <a:uFillTx/>
                <a:latin typeface="微软雅黑"/>
                <a:ea typeface="微软雅黑"/>
                <a:cs typeface="微软雅黑"/>
              </a:rPr>
              <a:t> </a:t>
            </a:r>
            <a:endParaRPr kumimoji="0" lang="en-US" altLang="zh-CN"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项目管理工作总结汇报</a:t>
            </a:r>
            <a:endParaRPr lang="en-US" altLang="zh-CN" sz="2500" b="0">
              <a:solidFill>
                <a:srgbClr val="383838"/>
              </a:solidFill>
              <a:effectLst/>
              <a:latin typeface="微软雅黑"/>
              <a:ea typeface="微软雅黑"/>
              <a:cs typeface="微软雅黑"/>
            </a:endParaRPr>
          </a:p>
        </p:txBody>
      </p:sp>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1"/>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2" name="五边形 1"/>
          <p:cNvSpPr/>
          <p:nvPr/>
        </p:nvSpPr>
        <p:spPr>
          <a:xfrm>
            <a:off x="1288064" y="2107617"/>
            <a:ext cx="3009840" cy="797108"/>
          </a:xfrm>
          <a:prstGeom prst="homePlate">
            <a:avLst>
              <a:gd name="adj" fmla="val 39379"/>
            </a:avLst>
          </a:prstGeom>
          <a:gradFill>
            <a:gsLst>
              <a:gs pos="100000">
                <a:srgbClr val="3368FF"/>
              </a:gs>
              <a:gs pos="14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23" name="五边形 122"/>
          <p:cNvSpPr/>
          <p:nvPr/>
        </p:nvSpPr>
        <p:spPr>
          <a:xfrm flipH="1">
            <a:off x="5409755" y="2107617"/>
            <a:ext cx="6395208" cy="797108"/>
          </a:xfrm>
          <a:prstGeom prst="homePlate">
            <a:avLst>
              <a:gd name="adj" fmla="val 39379"/>
            </a:avLst>
          </a:prstGeom>
          <a:gradFill>
            <a:gsLst>
              <a:gs pos="100000">
                <a:srgbClr val="3368FF"/>
              </a:gs>
              <a:gs pos="14000">
                <a:srgbClr val="0042FF"/>
              </a:gs>
            </a:gsLst>
            <a:lin ang="162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24" name="五边形 123"/>
          <p:cNvSpPr/>
          <p:nvPr/>
        </p:nvSpPr>
        <p:spPr>
          <a:xfrm>
            <a:off x="1288064" y="3013173"/>
            <a:ext cx="3009840" cy="797108"/>
          </a:xfrm>
          <a:prstGeom prst="homePlate">
            <a:avLst>
              <a:gd name="adj" fmla="val 39379"/>
            </a:avLst>
          </a:pr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25" name="五边形 124"/>
          <p:cNvSpPr/>
          <p:nvPr/>
        </p:nvSpPr>
        <p:spPr>
          <a:xfrm flipH="1">
            <a:off x="5409755" y="3013173"/>
            <a:ext cx="6395208" cy="797108"/>
          </a:xfrm>
          <a:prstGeom prst="homePlate">
            <a:avLst>
              <a:gd name="adj" fmla="val 39379"/>
            </a:avLst>
          </a:prstGeom>
          <a:gradFill>
            <a:gsLst>
              <a:gs pos="100000">
                <a:srgbClr val="668EFF"/>
              </a:gs>
              <a:gs pos="9000">
                <a:srgbClr val="668EFF"/>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26" name="五边形 125"/>
          <p:cNvSpPr/>
          <p:nvPr/>
        </p:nvSpPr>
        <p:spPr>
          <a:xfrm>
            <a:off x="1275364" y="3957139"/>
            <a:ext cx="3009840" cy="797108"/>
          </a:xfrm>
          <a:prstGeom prst="homePlate">
            <a:avLst>
              <a:gd name="adj" fmla="val 39379"/>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 name="五边形 2"/>
          <p:cNvSpPr/>
          <p:nvPr/>
        </p:nvSpPr>
        <p:spPr>
          <a:xfrm flipH="1">
            <a:off x="5397055" y="3957139"/>
            <a:ext cx="6395208" cy="797108"/>
          </a:xfrm>
          <a:prstGeom prst="homePlate">
            <a:avLst>
              <a:gd name="adj" fmla="val 39379"/>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 name="五边形 5"/>
          <p:cNvSpPr/>
          <p:nvPr/>
        </p:nvSpPr>
        <p:spPr>
          <a:xfrm>
            <a:off x="1275364" y="4862209"/>
            <a:ext cx="3009840" cy="797108"/>
          </a:xfrm>
          <a:prstGeom prst="homePlate">
            <a:avLst>
              <a:gd name="adj" fmla="val 39379"/>
            </a:avLst>
          </a:prstGeom>
          <a:gradFill>
            <a:gsLst>
              <a:gs pos="100000">
                <a:srgbClr val="B3D4FE"/>
              </a:gs>
              <a:gs pos="14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34" name="五边形 133"/>
          <p:cNvSpPr/>
          <p:nvPr/>
        </p:nvSpPr>
        <p:spPr>
          <a:xfrm flipH="1">
            <a:off x="5397055" y="4862209"/>
            <a:ext cx="6395208" cy="797108"/>
          </a:xfrm>
          <a:prstGeom prst="homePlate">
            <a:avLst>
              <a:gd name="adj" fmla="val 39379"/>
            </a:avLst>
          </a:prstGeom>
          <a:gradFill>
            <a:gsLst>
              <a:gs pos="100000">
                <a:srgbClr val="B3D4FE"/>
              </a:gs>
              <a:gs pos="14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9" name="Line"/>
          <p:cNvSpPr/>
          <p:nvPr/>
        </p:nvSpPr>
        <p:spPr>
          <a:xfrm flipH="1" flipV="1">
            <a:off x="4361542" y="2513784"/>
            <a:ext cx="994230" cy="0"/>
          </a:xfrm>
          <a:prstGeom prst="line">
            <a:avLst/>
          </a:prstGeom>
          <a:noFill/>
          <a:ln w="15875" cap="rnd">
            <a:solidFill>
              <a:srgbClr val="0042FF"/>
            </a:solidFill>
            <a:prstDash val="solid"/>
            <a:round/>
            <a:headEnd type="triangle"/>
            <a:tailEnd type="none" w="med" len="med"/>
          </a:ln>
          <a:effectLst/>
        </p:spPr>
        <p:txBody>
          <a:bodyPr wrap="square" lIns="0" tIns="0" rIns="0" bIns="0" numCol="1" anchor="t">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7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5843828" y="2556092"/>
            <a:ext cx="1360451" cy="189796"/>
          </a:xfrm>
          <a:prstGeom prst="rect">
            <a:avLst/>
          </a:prstGeom>
          <a:ln w="12700">
            <a:miter lim="400000"/>
          </a:ln>
        </p:spPr>
        <p:txBody>
          <a:bodyPr wrap="square" lIns="0" tIns="0" rIns="0" bIns="0" anchor="t">
            <a:noAutofit/>
          </a:bodyPr>
          <a:lstStyle>
            <a:lvl1pPr>
              <a:defRPr sz="1800">
                <a:solidFill>
                  <a:srgbClr val="FFFFFF"/>
                </a:solidFill>
                <a:latin typeface="微软雅黑"/>
                <a:ea typeface="微软雅黑"/>
                <a:cs typeface="微软雅黑"/>
                <a:sym typeface="微软雅黑"/>
              </a:defRPr>
            </a:lvl1pPr>
          </a:lstStyle>
          <a:p>
            <a:pPr lvl="0"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市场调研：了解市场</a:t>
            </a:r>
            <a:endParaRPr kumimoji="0" lang="zh-CN" altLang="en-US" sz="10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7" name="Description Text"/>
          <p:cNvSpPr txBox="1"/>
          <p:nvPr/>
        </p:nvSpPr>
        <p:spPr>
          <a:xfrm flipH="1">
            <a:off x="7630312" y="1226892"/>
            <a:ext cx="1046176" cy="285750"/>
          </a:xfrm>
          <a:prstGeom prst="rect">
            <a:avLst/>
          </a:prstGeom>
          <a:ln w="12700">
            <a:miter lim="400000"/>
          </a:ln>
        </p:spPr>
        <p:txBody>
          <a:bodyPr wrap="square" lIns="0" tIns="0" rIns="0" bIns="0" anchor="ctr">
            <a:spAutoFit/>
          </a:bodyPr>
          <a:lstStyle>
            <a:lvl1pPr algn="l">
              <a:defRPr>
                <a:latin typeface="微软雅黑"/>
                <a:ea typeface="微软雅黑"/>
                <a:cs typeface="微软雅黑"/>
                <a:sym typeface="微软雅黑"/>
              </a:defRPr>
            </a:lvl1pPr>
          </a:lstStyle>
          <a:p>
            <a:pPr lvl="0" algn="ctr">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用户需求</a:t>
            </a:r>
            <a:endParaRPr lang="zh-CN" altLang="en-US" sz="1200" b="1" dirty="0">
              <a:solidFill>
                <a:srgbClr val="0042FF"/>
              </a:solidFill>
              <a:latin typeface="微软雅黑"/>
              <a:ea typeface="微软雅黑"/>
              <a:cs typeface="微软雅黑"/>
              <a:sym typeface="微软雅黑"/>
            </a:endParaRPr>
          </a:p>
        </p:txBody>
      </p:sp>
      <p:sp>
        <p:nvSpPr>
          <p:cNvPr id="8" name="Description Text"/>
          <p:cNvSpPr txBox="1"/>
          <p:nvPr/>
        </p:nvSpPr>
        <p:spPr>
          <a:xfrm flipH="1">
            <a:off x="2582749" y="1226892"/>
            <a:ext cx="955844" cy="285750"/>
          </a:xfrm>
          <a:prstGeom prst="rect">
            <a:avLst/>
          </a:prstGeom>
          <a:ln w="12700">
            <a:miter lim="400000"/>
          </a:ln>
        </p:spPr>
        <p:txBody>
          <a:bodyPr wrap="square" lIns="0" tIns="0" rIns="0" bIns="0" anchor="ctr">
            <a:spAutoFit/>
          </a:bodyPr>
          <a:lstStyle>
            <a:lvl1pPr algn="l">
              <a:defRPr>
                <a:latin typeface="微软雅黑"/>
                <a:ea typeface="微软雅黑"/>
                <a:cs typeface="微软雅黑"/>
                <a:sym typeface="微软雅黑"/>
              </a:defRPr>
            </a:lvl1pPr>
          </a:lstStyle>
          <a:p>
            <a:pPr lvl="0">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业务目标</a:t>
            </a:r>
            <a:endParaRPr kumimoji="0" lang="zh-CN" altLang="en-US" sz="1200" b="1"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1" name="矩形: 圆角 489"/>
          <p:cNvSpPr/>
          <p:nvPr/>
        </p:nvSpPr>
        <p:spPr>
          <a:xfrm>
            <a:off x="479613" y="5835560"/>
            <a:ext cx="522287" cy="647700"/>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32" name="矩形: 圆角 490"/>
          <p:cNvSpPr/>
          <p:nvPr/>
        </p:nvSpPr>
        <p:spPr>
          <a:xfrm>
            <a:off x="480248" y="3952253"/>
            <a:ext cx="522287" cy="1706615"/>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33" name="矩形: 圆角 487"/>
          <p:cNvSpPr/>
          <p:nvPr/>
        </p:nvSpPr>
        <p:spPr>
          <a:xfrm>
            <a:off x="492948" y="1168554"/>
            <a:ext cx="522287" cy="750652"/>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35" name="文本框 134"/>
          <p:cNvSpPr txBox="1"/>
          <p:nvPr/>
        </p:nvSpPr>
        <p:spPr>
          <a:xfrm>
            <a:off x="521443" y="1309568"/>
            <a:ext cx="477520" cy="455295"/>
          </a:xfrm>
          <a:prstGeom prst="rect">
            <a:avLst/>
          </a:prstGeom>
          <a:noFill/>
          <a:effectLst/>
        </p:spPr>
        <p:txBody>
          <a:bodyPr wrap="none" lIns="0" tIns="0" rIns="0" bIns="0" rtlCol="0">
            <a:spAutoFit/>
          </a:bodyPr>
          <a:lstStyle/>
          <a:p>
            <a:pPr lvl="0"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项目</a:t>
            </a:r>
            <a:endParaRPr lang="en-US" altLang="zh-CN" sz="1200" b="1" dirty="0">
              <a:solidFill>
                <a:srgbClr val="383838"/>
              </a:solidFill>
              <a:latin typeface="微软雅黑"/>
              <a:ea typeface="微软雅黑"/>
              <a:cs typeface="微软雅黑"/>
            </a:endParaRPr>
          </a:p>
          <a:p>
            <a:pPr lvl="0"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目标</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6" name="文本框 135"/>
          <p:cNvSpPr txBox="1"/>
          <p:nvPr/>
        </p:nvSpPr>
        <p:spPr>
          <a:xfrm>
            <a:off x="607646" y="2525069"/>
            <a:ext cx="286060" cy="824865"/>
          </a:xfrm>
          <a:prstGeom prst="rect">
            <a:avLst/>
          </a:prstGeom>
          <a:noFill/>
          <a:effectLst/>
        </p:spPr>
        <p:txBody>
          <a:bodyPr wrap="square" lIns="0" tIns="0" rIns="0" bIns="0" rtlCol="0">
            <a:spAutoFit/>
          </a:bodyPr>
          <a:lstStyle/>
          <a:p>
            <a:pPr lvl="0"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策略步骤</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 name="文本框 11"/>
          <p:cNvSpPr txBox="1"/>
          <p:nvPr/>
        </p:nvSpPr>
        <p:spPr>
          <a:xfrm>
            <a:off x="501479" y="5932756"/>
            <a:ext cx="477520" cy="455295"/>
          </a:xfrm>
          <a:prstGeom prst="rect">
            <a:avLst/>
          </a:prstGeom>
          <a:noFill/>
          <a:effectLst/>
        </p:spPr>
        <p:txBody>
          <a:bodyPr wrap="none" lIns="0" tIns="0" rIns="0" bIns="0" rtlCol="0">
            <a:spAutoFit/>
          </a:bodyPr>
          <a:lstStyle/>
          <a:p>
            <a:pPr lvl="0"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风险</a:t>
            </a:r>
            <a:endParaRPr lang="en-US" altLang="zh-CN" sz="1200" b="1" dirty="0">
              <a:solidFill>
                <a:srgbClr val="383838"/>
              </a:solidFill>
              <a:latin typeface="微软雅黑"/>
              <a:ea typeface="微软雅黑"/>
              <a:cs typeface="微软雅黑"/>
            </a:endParaRPr>
          </a:p>
          <a:p>
            <a:pPr lvl="0"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应对</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 name="文本框 12"/>
          <p:cNvSpPr txBox="1"/>
          <p:nvPr/>
        </p:nvSpPr>
        <p:spPr>
          <a:xfrm>
            <a:off x="594946" y="4382064"/>
            <a:ext cx="286060" cy="824865"/>
          </a:xfrm>
          <a:prstGeom prst="rect">
            <a:avLst/>
          </a:prstGeom>
          <a:noFill/>
          <a:effectLst/>
        </p:spPr>
        <p:txBody>
          <a:bodyPr wrap="square" lIns="0" tIns="0" rIns="0" bIns="0" rtlCol="0">
            <a:spAutoFit/>
          </a:bodyPr>
          <a:lstStyle/>
          <a:p>
            <a:pPr lvl="0"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时间里程</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9" name="文本框 138"/>
          <p:cNvSpPr txBox="1"/>
          <p:nvPr/>
        </p:nvSpPr>
        <p:spPr>
          <a:xfrm flipH="1">
            <a:off x="1617415" y="1505456"/>
            <a:ext cx="2886512" cy="344197"/>
          </a:xfrm>
          <a:prstGeom prst="rect">
            <a:avLst/>
          </a:prstGeom>
          <a:noFill/>
        </p:spPr>
        <p:txBody>
          <a:bodyPr wrap="square" lIns="0" tIns="0" rIns="0" bIns="0" rtlCol="0">
            <a:spAutoFit/>
          </a:bodyPr>
          <a:lstStyle/>
          <a:p>
            <a:pPr lvl="0" algn="ctr">
              <a:lnSpc>
                <a:spcPct val="114000"/>
              </a:lnSpc>
              <a:defRPr>
                <a:latin typeface="微软雅黑"/>
                <a:ea typeface="微软雅黑"/>
                <a:cs typeface="微软雅黑"/>
              </a:defRPr>
            </a:pPr>
            <a:r>
              <a:rPr lang="zh-CN" altLang="en-US" sz="1000" dirty="0">
                <a:solidFill>
                  <a:srgbClr val="383838"/>
                </a:solidFill>
                <a:latin typeface="微软雅黑"/>
                <a:ea typeface="微软雅黑"/>
                <a:cs typeface="微软雅黑"/>
              </a:rPr>
              <a:t>业务目标通常与企业的战略计划和长期目标相一致，是企业决策和行动的指导方针。</a:t>
            </a:r>
            <a:endParaRPr lang="zh-CN" altLang="en-US" sz="1000" dirty="0">
              <a:solidFill>
                <a:srgbClr val="383838"/>
              </a:solidFill>
              <a:latin typeface="微软雅黑"/>
              <a:ea typeface="微软雅黑"/>
              <a:cs typeface="微软雅黑"/>
            </a:endParaRPr>
          </a:p>
        </p:txBody>
      </p:sp>
      <p:sp>
        <p:nvSpPr>
          <p:cNvPr id="140" name="文本框 139"/>
          <p:cNvSpPr txBox="1"/>
          <p:nvPr/>
        </p:nvSpPr>
        <p:spPr>
          <a:xfrm flipH="1">
            <a:off x="5518785" y="1505585"/>
            <a:ext cx="5269230" cy="349885"/>
          </a:xfrm>
          <a:prstGeom prst="rect">
            <a:avLst/>
          </a:prstGeom>
          <a:noFill/>
        </p:spPr>
        <p:txBody>
          <a:bodyPr wrap="square" lIns="0" tIns="0" rIns="0" bIns="0" rtlCol="0">
            <a:spAutoFit/>
          </a:bodyPr>
          <a:lstStyle/>
          <a:p>
            <a:pPr lvl="0" algn="ctr">
              <a:lnSpc>
                <a:spcPct val="114000"/>
              </a:lnSpc>
              <a:defRPr>
                <a:latin typeface="微软雅黑"/>
                <a:ea typeface="微软雅黑"/>
                <a:cs typeface="微软雅黑"/>
              </a:defRPr>
            </a:pPr>
            <a:r>
              <a:rPr lang="zh-CN" altLang="en-US" sz="1000" dirty="0">
                <a:solidFill>
                  <a:srgbClr val="383838"/>
                </a:solidFill>
                <a:latin typeface="微软雅黑"/>
                <a:ea typeface="微软雅黑"/>
                <a:cs typeface="微软雅黑"/>
              </a:rPr>
              <a:t>是指用户对于产品或服务的期望和要求。用户需求可以包括功能需求、性能需求、质量需求、安全需求等方面，是产品或服务设计和开发的重要依据。</a:t>
            </a:r>
            <a:endParaRPr lang="zh-CN" altLang="en-US" sz="1000" dirty="0">
              <a:solidFill>
                <a:srgbClr val="383838"/>
              </a:solidFill>
              <a:latin typeface="微软雅黑"/>
              <a:ea typeface="微软雅黑"/>
              <a:cs typeface="微软雅黑"/>
            </a:endParaRPr>
          </a:p>
        </p:txBody>
      </p:sp>
      <p:sp>
        <p:nvSpPr>
          <p:cNvPr id="141" name="矩形: 圆角 490"/>
          <p:cNvSpPr/>
          <p:nvPr/>
        </p:nvSpPr>
        <p:spPr>
          <a:xfrm>
            <a:off x="492948" y="2090987"/>
            <a:ext cx="522287" cy="1706615"/>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4" name="文本框 13"/>
          <p:cNvSpPr txBox="1"/>
          <p:nvPr/>
        </p:nvSpPr>
        <p:spPr>
          <a:xfrm flipH="1">
            <a:off x="1467168" y="2473066"/>
            <a:ext cx="1710007" cy="309765"/>
          </a:xfrm>
          <a:prstGeom prst="rect">
            <a:avLst/>
          </a:prstGeom>
          <a:noFill/>
        </p:spPr>
        <p:txBody>
          <a:bodyPr wrap="square" lIns="0" tIns="0" rIns="0" bIns="0" rtlCol="0" anchor="t">
            <a:noAutofit/>
          </a:bodyPr>
          <a:lstStyle/>
          <a:p>
            <a:pPr lvl="0">
              <a:lnSpc>
                <a:spcPts val="1120"/>
              </a:lnSpc>
              <a:defRPr>
                <a:solidFill>
                  <a:srgbClr val="FFFFFF"/>
                </a:solidFill>
                <a:latin typeface="微软雅黑"/>
                <a:ea typeface="微软雅黑"/>
                <a:cs typeface="微软雅黑"/>
              </a:defRPr>
              <a:spcBef>
                <a:spcPts val="0"/>
              </a:spcBef>
              <a:spcAft>
                <a:spcPts val="0"/>
              </a:spcAft>
            </a:pPr>
            <a:r>
              <a:rPr lang="zh-CN" altLang="en-US" sz="1000" dirty="0">
                <a:solidFill>
                  <a:srgbClr val="FFFFFF"/>
                </a:solidFill>
                <a:latin typeface="微软雅黑"/>
                <a:ea typeface="微软雅黑"/>
                <a:cs typeface="微软雅黑"/>
              </a:rPr>
              <a:t>为了提高产品或服务的知名度、吸引客户</a:t>
            </a:r>
            <a:endParaRPr kumimoji="0" lang="zh-CN" altLang="en-US" sz="10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 name="文本框 14"/>
          <p:cNvSpPr txBox="1"/>
          <p:nvPr/>
        </p:nvSpPr>
        <p:spPr>
          <a:xfrm flipH="1">
            <a:off x="1467168" y="2249583"/>
            <a:ext cx="1227576" cy="184150"/>
          </a:xfrm>
          <a:prstGeom prst="rect">
            <a:avLst/>
          </a:prstGeom>
          <a:noFill/>
        </p:spPr>
        <p:txBody>
          <a:bodyPr wrap="square" lIns="0" tIns="0" rIns="0" bIns="0" rtlCol="0">
            <a:spAutoFit/>
          </a:bodyPr>
          <a:lstStyle/>
          <a:p>
            <a:pPr lvl="0">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市场推广</a:t>
            </a:r>
            <a:endParaRPr kumimoji="0" lang="zh-CN" altLang="en-US" sz="1200" b="1"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17" name="直接连接符 729"/>
          <p:cNvCxnSpPr/>
          <p:nvPr/>
        </p:nvCxnSpPr>
        <p:spPr>
          <a:xfrm>
            <a:off x="7268381" y="2218940"/>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19" name="直接连接符 729"/>
          <p:cNvCxnSpPr/>
          <p:nvPr/>
        </p:nvCxnSpPr>
        <p:spPr>
          <a:xfrm>
            <a:off x="8781495" y="2218940"/>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0" name="直接连接符 729"/>
          <p:cNvCxnSpPr/>
          <p:nvPr/>
        </p:nvCxnSpPr>
        <p:spPr>
          <a:xfrm>
            <a:off x="10294609" y="2218940"/>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sp>
        <p:nvSpPr>
          <p:cNvPr id="21" name="flag-pole-with-black-flag_38306"/>
          <p:cNvSpPr>
            <a:spLocks noChangeAspect="1"/>
          </p:cNvSpPr>
          <p:nvPr/>
        </p:nvSpPr>
        <p:spPr>
          <a:xfrm>
            <a:off x="6456561" y="2307693"/>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7335171" y="2556092"/>
            <a:ext cx="1360451" cy="189796"/>
          </a:xfrm>
          <a:prstGeom prst="rect">
            <a:avLst/>
          </a:prstGeom>
          <a:ln w="12700">
            <a:miter lim="400000"/>
          </a:ln>
        </p:spPr>
        <p:txBody>
          <a:bodyPr wrap="square" lIns="0" tIns="0" rIns="0" bIns="0" anchor="t">
            <a:noAutofit/>
          </a:bodyPr>
          <a:lstStyle>
            <a:lvl1pPr>
              <a:defRPr sz="1800">
                <a:solidFill>
                  <a:srgbClr val="FFFFFF"/>
                </a:solidFill>
                <a:latin typeface="微软雅黑"/>
                <a:ea typeface="微软雅黑"/>
                <a:cs typeface="微软雅黑"/>
                <a:sym typeface="微软雅黑"/>
              </a:defRPr>
            </a:lvl1pPr>
          </a:lstStyle>
          <a:p>
            <a:pPr lvl="0"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目标受众：定位客户</a:t>
            </a:r>
            <a:endParaRPr kumimoji="0" lang="zh-CN" altLang="en-US" sz="10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23"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8860084" y="2556092"/>
            <a:ext cx="1360451" cy="189796"/>
          </a:xfrm>
          <a:prstGeom prst="rect">
            <a:avLst/>
          </a:prstGeom>
          <a:ln w="12700">
            <a:miter lim="400000"/>
          </a:ln>
        </p:spPr>
        <p:txBody>
          <a:bodyPr wrap="square" lIns="0" tIns="0" rIns="0" bIns="0" anchor="t">
            <a:noAutofit/>
          </a:bodyPr>
          <a:lstStyle>
            <a:lvl1pPr>
              <a:defRPr sz="1800">
                <a:solidFill>
                  <a:srgbClr val="FFFFFF"/>
                </a:solidFill>
                <a:latin typeface="微软雅黑"/>
                <a:ea typeface="微软雅黑"/>
                <a:cs typeface="微软雅黑"/>
                <a:sym typeface="微软雅黑"/>
              </a:defRPr>
            </a:lvl1pPr>
          </a:lstStyle>
          <a:p>
            <a:pPr lvl="0"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推广策略：制定计划</a:t>
            </a:r>
            <a:endParaRPr kumimoji="0" lang="zh-CN" altLang="en-US" sz="10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2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10384084" y="2556092"/>
            <a:ext cx="1360451" cy="189796"/>
          </a:xfrm>
          <a:prstGeom prst="rect">
            <a:avLst/>
          </a:prstGeom>
          <a:ln w="12700">
            <a:miter lim="400000"/>
          </a:ln>
        </p:spPr>
        <p:txBody>
          <a:bodyPr wrap="square" lIns="0" tIns="0" rIns="0" bIns="0" anchor="t">
            <a:noAutofit/>
          </a:bodyPr>
          <a:lstStyle>
            <a:lvl1pPr>
              <a:defRPr sz="1800">
                <a:solidFill>
                  <a:srgbClr val="FFFFFF"/>
                </a:solidFill>
                <a:latin typeface="微软雅黑"/>
                <a:ea typeface="微软雅黑"/>
                <a:cs typeface="微软雅黑"/>
                <a:sym typeface="微软雅黑"/>
              </a:defRPr>
            </a:lvl1pPr>
          </a:lstStyle>
          <a:p>
            <a:pPr lvl="0"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效果评估：反馈调整</a:t>
            </a:r>
            <a:endParaRPr kumimoji="0" lang="zh-CN" altLang="en-US" sz="10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25" name="flag-pole-with-black-flag_38306"/>
          <p:cNvSpPr>
            <a:spLocks noChangeAspect="1"/>
          </p:cNvSpPr>
          <p:nvPr/>
        </p:nvSpPr>
        <p:spPr>
          <a:xfrm>
            <a:off x="10996817" y="2307693"/>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6" name="live-chat_72439"/>
          <p:cNvSpPr>
            <a:spLocks noChangeAspect="1"/>
          </p:cNvSpPr>
          <p:nvPr/>
        </p:nvSpPr>
        <p:spPr>
          <a:xfrm>
            <a:off x="7928396" y="2335098"/>
            <a:ext cx="206199" cy="180000"/>
          </a:xfrm>
          <a:custGeom>
            <a:avLst/>
            <a:gdLst>
              <a:gd name="connsiteX0" fmla="*/ 424975 w 608697"/>
              <a:gd name="connsiteY0" fmla="*/ 168488 h 531358"/>
              <a:gd name="connsiteX1" fmla="*/ 387604 w 608697"/>
              <a:gd name="connsiteY1" fmla="*/ 205806 h 531358"/>
              <a:gd name="connsiteX2" fmla="*/ 424975 w 608697"/>
              <a:gd name="connsiteY2" fmla="*/ 243124 h 531358"/>
              <a:gd name="connsiteX3" fmla="*/ 462346 w 608697"/>
              <a:gd name="connsiteY3" fmla="*/ 205806 h 531358"/>
              <a:gd name="connsiteX4" fmla="*/ 424975 w 608697"/>
              <a:gd name="connsiteY4" fmla="*/ 168488 h 531358"/>
              <a:gd name="connsiteX5" fmla="*/ 287947 w 608697"/>
              <a:gd name="connsiteY5" fmla="*/ 168488 h 531358"/>
              <a:gd name="connsiteX6" fmla="*/ 250576 w 608697"/>
              <a:gd name="connsiteY6" fmla="*/ 205806 h 531358"/>
              <a:gd name="connsiteX7" fmla="*/ 287947 w 608697"/>
              <a:gd name="connsiteY7" fmla="*/ 243124 h 531358"/>
              <a:gd name="connsiteX8" fmla="*/ 325318 w 608697"/>
              <a:gd name="connsiteY8" fmla="*/ 205806 h 531358"/>
              <a:gd name="connsiteX9" fmla="*/ 287947 w 608697"/>
              <a:gd name="connsiteY9" fmla="*/ 168488 h 531358"/>
              <a:gd name="connsiteX10" fmla="*/ 102356 w 608697"/>
              <a:gd name="connsiteY10" fmla="*/ 121231 h 531358"/>
              <a:gd name="connsiteX11" fmla="*/ 98850 w 608697"/>
              <a:gd name="connsiteY11" fmla="*/ 127711 h 531358"/>
              <a:gd name="connsiteX12" fmla="*/ 76842 w 608697"/>
              <a:gd name="connsiteY12" fmla="*/ 217990 h 531358"/>
              <a:gd name="connsiteX13" fmla="*/ 98850 w 608697"/>
              <a:gd name="connsiteY13" fmla="*/ 308194 h 531358"/>
              <a:gd name="connsiteX14" fmla="*/ 157488 w 608697"/>
              <a:gd name="connsiteY14" fmla="*/ 380223 h 531358"/>
              <a:gd name="connsiteX15" fmla="*/ 344668 w 608697"/>
              <a:gd name="connsiteY15" fmla="*/ 444729 h 531358"/>
              <a:gd name="connsiteX16" fmla="*/ 370257 w 608697"/>
              <a:gd name="connsiteY16" fmla="*/ 443687 h 531358"/>
              <a:gd name="connsiteX17" fmla="*/ 236717 w 608697"/>
              <a:gd name="connsiteY17" fmla="*/ 477876 h 531358"/>
              <a:gd name="connsiteX18" fmla="*/ 198072 w 608697"/>
              <a:gd name="connsiteY18" fmla="*/ 475344 h 531358"/>
              <a:gd name="connsiteX19" fmla="*/ 82437 w 608697"/>
              <a:gd name="connsiteY19" fmla="*/ 531284 h 531358"/>
              <a:gd name="connsiteX20" fmla="*/ 81542 w 608697"/>
              <a:gd name="connsiteY20" fmla="*/ 531358 h 531358"/>
              <a:gd name="connsiteX21" fmla="*/ 75051 w 608697"/>
              <a:gd name="connsiteY21" fmla="*/ 527857 h 531358"/>
              <a:gd name="connsiteX22" fmla="*/ 74753 w 608697"/>
              <a:gd name="connsiteY22" fmla="*/ 519738 h 531358"/>
              <a:gd name="connsiteX23" fmla="*/ 88778 w 608697"/>
              <a:gd name="connsiteY23" fmla="*/ 435046 h 531358"/>
              <a:gd name="connsiteX24" fmla="*/ 0 w 608697"/>
              <a:gd name="connsiteY24" fmla="*/ 282198 h 531358"/>
              <a:gd name="connsiteX25" fmla="*/ 102356 w 608697"/>
              <a:gd name="connsiteY25" fmla="*/ 121231 h 531358"/>
              <a:gd name="connsiteX26" fmla="*/ 356424 w 608697"/>
              <a:gd name="connsiteY26" fmla="*/ 0 h 531358"/>
              <a:gd name="connsiteX27" fmla="*/ 608697 w 608697"/>
              <a:gd name="connsiteY27" fmla="*/ 211244 h 531358"/>
              <a:gd name="connsiteX28" fmla="*/ 518290 w 608697"/>
              <a:gd name="connsiteY28" fmla="*/ 373401 h 531358"/>
              <a:gd name="connsiteX29" fmla="*/ 531941 w 608697"/>
              <a:gd name="connsiteY29" fmla="*/ 441109 h 531358"/>
              <a:gd name="connsiteX30" fmla="*/ 531120 w 608697"/>
              <a:gd name="connsiteY30" fmla="*/ 465391 h 531358"/>
              <a:gd name="connsiteX31" fmla="*/ 511577 w 608697"/>
              <a:gd name="connsiteY31" fmla="*/ 475894 h 531358"/>
              <a:gd name="connsiteX32" fmla="*/ 509041 w 608697"/>
              <a:gd name="connsiteY32" fmla="*/ 475745 h 531358"/>
              <a:gd name="connsiteX33" fmla="*/ 391408 w 608697"/>
              <a:gd name="connsiteY33" fmla="*/ 420476 h 531358"/>
              <a:gd name="connsiteX34" fmla="*/ 356424 w 608697"/>
              <a:gd name="connsiteY34" fmla="*/ 422487 h 531358"/>
              <a:gd name="connsiteX35" fmla="*/ 104225 w 608697"/>
              <a:gd name="connsiteY35" fmla="*/ 211244 h 531358"/>
              <a:gd name="connsiteX36" fmla="*/ 356424 w 608697"/>
              <a:gd name="connsiteY36" fmla="*/ 0 h 53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08697" h="531358">
                <a:moveTo>
                  <a:pt x="424975" y="168488"/>
                </a:moveTo>
                <a:cubicBezTo>
                  <a:pt x="404312" y="168488"/>
                  <a:pt x="387604" y="185248"/>
                  <a:pt x="387604" y="205806"/>
                </a:cubicBezTo>
                <a:cubicBezTo>
                  <a:pt x="387604" y="226439"/>
                  <a:pt x="404312" y="243124"/>
                  <a:pt x="424975" y="243124"/>
                </a:cubicBezTo>
                <a:cubicBezTo>
                  <a:pt x="445562" y="243124"/>
                  <a:pt x="462346" y="226439"/>
                  <a:pt x="462346" y="205806"/>
                </a:cubicBezTo>
                <a:cubicBezTo>
                  <a:pt x="462346" y="185248"/>
                  <a:pt x="445637" y="168488"/>
                  <a:pt x="424975" y="168488"/>
                </a:cubicBezTo>
                <a:close/>
                <a:moveTo>
                  <a:pt x="287947" y="168488"/>
                </a:moveTo>
                <a:cubicBezTo>
                  <a:pt x="267285" y="168488"/>
                  <a:pt x="250576" y="185248"/>
                  <a:pt x="250576" y="205806"/>
                </a:cubicBezTo>
                <a:cubicBezTo>
                  <a:pt x="250576" y="226439"/>
                  <a:pt x="267285" y="243124"/>
                  <a:pt x="287947" y="243124"/>
                </a:cubicBezTo>
                <a:cubicBezTo>
                  <a:pt x="308610" y="243124"/>
                  <a:pt x="325318" y="226439"/>
                  <a:pt x="325318" y="205806"/>
                </a:cubicBezTo>
                <a:cubicBezTo>
                  <a:pt x="325318" y="185248"/>
                  <a:pt x="308610" y="168488"/>
                  <a:pt x="287947" y="168488"/>
                </a:cubicBezTo>
                <a:close/>
                <a:moveTo>
                  <a:pt x="102356" y="121231"/>
                </a:moveTo>
                <a:cubicBezTo>
                  <a:pt x="101162" y="123317"/>
                  <a:pt x="99969" y="125477"/>
                  <a:pt x="98850" y="127711"/>
                </a:cubicBezTo>
                <a:cubicBezTo>
                  <a:pt x="84227" y="156240"/>
                  <a:pt x="76842" y="186631"/>
                  <a:pt x="76842" y="217990"/>
                </a:cubicBezTo>
                <a:cubicBezTo>
                  <a:pt x="76842" y="249275"/>
                  <a:pt x="84227" y="279666"/>
                  <a:pt x="98850" y="308194"/>
                </a:cubicBezTo>
                <a:cubicBezTo>
                  <a:pt x="112726" y="335308"/>
                  <a:pt x="132496" y="359516"/>
                  <a:pt x="157488" y="380223"/>
                </a:cubicBezTo>
                <a:cubicBezTo>
                  <a:pt x="207845" y="421787"/>
                  <a:pt x="274317" y="444729"/>
                  <a:pt x="344668" y="444729"/>
                </a:cubicBezTo>
                <a:cubicBezTo>
                  <a:pt x="353173" y="444729"/>
                  <a:pt x="361752" y="444357"/>
                  <a:pt x="370257" y="443687"/>
                </a:cubicBezTo>
                <a:cubicBezTo>
                  <a:pt x="332209" y="465288"/>
                  <a:pt x="286254" y="477876"/>
                  <a:pt x="236717" y="477876"/>
                </a:cubicBezTo>
                <a:cubicBezTo>
                  <a:pt x="223736" y="477876"/>
                  <a:pt x="210755" y="477057"/>
                  <a:pt x="198072" y="475344"/>
                </a:cubicBezTo>
                <a:cubicBezTo>
                  <a:pt x="160397" y="499478"/>
                  <a:pt x="110637" y="528155"/>
                  <a:pt x="82437" y="531284"/>
                </a:cubicBezTo>
                <a:cubicBezTo>
                  <a:pt x="82138" y="531358"/>
                  <a:pt x="81840" y="531358"/>
                  <a:pt x="81542" y="531358"/>
                </a:cubicBezTo>
                <a:cubicBezTo>
                  <a:pt x="78930" y="531358"/>
                  <a:pt x="76469" y="530017"/>
                  <a:pt x="75051" y="527857"/>
                </a:cubicBezTo>
                <a:cubicBezTo>
                  <a:pt x="73410" y="525399"/>
                  <a:pt x="73335" y="522271"/>
                  <a:pt x="74753" y="519738"/>
                </a:cubicBezTo>
                <a:cubicBezTo>
                  <a:pt x="75051" y="519291"/>
                  <a:pt x="99223" y="476014"/>
                  <a:pt x="88778" y="435046"/>
                </a:cubicBezTo>
                <a:cubicBezTo>
                  <a:pt x="32303" y="397653"/>
                  <a:pt x="0" y="342160"/>
                  <a:pt x="0" y="282198"/>
                </a:cubicBezTo>
                <a:cubicBezTo>
                  <a:pt x="0" y="215532"/>
                  <a:pt x="40584" y="156538"/>
                  <a:pt x="102356" y="121231"/>
                </a:cubicBezTo>
                <a:close/>
                <a:moveTo>
                  <a:pt x="356424" y="0"/>
                </a:moveTo>
                <a:cubicBezTo>
                  <a:pt x="495540" y="0"/>
                  <a:pt x="608697" y="94747"/>
                  <a:pt x="608697" y="211244"/>
                </a:cubicBezTo>
                <a:cubicBezTo>
                  <a:pt x="608697" y="274408"/>
                  <a:pt x="575802" y="333178"/>
                  <a:pt x="518290" y="373401"/>
                </a:cubicBezTo>
                <a:cubicBezTo>
                  <a:pt x="512845" y="406324"/>
                  <a:pt x="531717" y="440811"/>
                  <a:pt x="531941" y="441109"/>
                </a:cubicBezTo>
                <a:cubicBezTo>
                  <a:pt x="536267" y="448781"/>
                  <a:pt x="535969" y="458092"/>
                  <a:pt x="531120" y="465391"/>
                </a:cubicBezTo>
                <a:cubicBezTo>
                  <a:pt x="526794" y="472021"/>
                  <a:pt x="519484" y="475894"/>
                  <a:pt x="511577" y="475894"/>
                </a:cubicBezTo>
                <a:cubicBezTo>
                  <a:pt x="510756" y="475894"/>
                  <a:pt x="509936" y="475894"/>
                  <a:pt x="509041" y="475745"/>
                </a:cubicBezTo>
                <a:cubicBezTo>
                  <a:pt x="484574" y="473064"/>
                  <a:pt x="444966" y="454442"/>
                  <a:pt x="391408" y="420476"/>
                </a:cubicBezTo>
                <a:cubicBezTo>
                  <a:pt x="379920" y="421817"/>
                  <a:pt x="368135" y="422487"/>
                  <a:pt x="356424" y="422487"/>
                </a:cubicBezTo>
                <a:cubicBezTo>
                  <a:pt x="217382" y="422487"/>
                  <a:pt x="104225" y="327741"/>
                  <a:pt x="104225" y="211244"/>
                </a:cubicBezTo>
                <a:cubicBezTo>
                  <a:pt x="104225" y="94747"/>
                  <a:pt x="217382" y="0"/>
                  <a:pt x="356424"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7" name="statistics-settings_72708"/>
          <p:cNvSpPr>
            <a:spLocks noChangeAspect="1"/>
          </p:cNvSpPr>
          <p:nvPr/>
        </p:nvSpPr>
        <p:spPr>
          <a:xfrm>
            <a:off x="9407621" y="2307693"/>
            <a:ext cx="224528" cy="216000"/>
          </a:xfrm>
          <a:custGeom>
            <a:avLst/>
            <a:gdLst>
              <a:gd name="connsiteX0" fmla="*/ 195114 w 608814"/>
              <a:gd name="connsiteY0" fmla="*/ 351627 h 585693"/>
              <a:gd name="connsiteX1" fmla="*/ 258290 w 608814"/>
              <a:gd name="connsiteY1" fmla="*/ 351627 h 585693"/>
              <a:gd name="connsiteX2" fmla="*/ 282731 w 608814"/>
              <a:gd name="connsiteY2" fmla="*/ 376018 h 585693"/>
              <a:gd name="connsiteX3" fmla="*/ 282731 w 608814"/>
              <a:gd name="connsiteY3" fmla="*/ 561210 h 585693"/>
              <a:gd name="connsiteX4" fmla="*/ 258290 w 608814"/>
              <a:gd name="connsiteY4" fmla="*/ 585693 h 585693"/>
              <a:gd name="connsiteX5" fmla="*/ 195114 w 608814"/>
              <a:gd name="connsiteY5" fmla="*/ 585693 h 585693"/>
              <a:gd name="connsiteX6" fmla="*/ 170673 w 608814"/>
              <a:gd name="connsiteY6" fmla="*/ 561210 h 585693"/>
              <a:gd name="connsiteX7" fmla="*/ 170673 w 608814"/>
              <a:gd name="connsiteY7" fmla="*/ 376018 h 585693"/>
              <a:gd name="connsiteX8" fmla="*/ 195114 w 608814"/>
              <a:gd name="connsiteY8" fmla="*/ 351627 h 585693"/>
              <a:gd name="connsiteX9" fmla="*/ 358100 w 608814"/>
              <a:gd name="connsiteY9" fmla="*/ 249872 h 585693"/>
              <a:gd name="connsiteX10" fmla="*/ 421316 w 608814"/>
              <a:gd name="connsiteY10" fmla="*/ 249872 h 585693"/>
              <a:gd name="connsiteX11" fmla="*/ 445737 w 608814"/>
              <a:gd name="connsiteY11" fmla="*/ 274267 h 585693"/>
              <a:gd name="connsiteX12" fmla="*/ 445737 w 608814"/>
              <a:gd name="connsiteY12" fmla="*/ 561206 h 585693"/>
              <a:gd name="connsiteX13" fmla="*/ 421316 w 608814"/>
              <a:gd name="connsiteY13" fmla="*/ 585693 h 585693"/>
              <a:gd name="connsiteX14" fmla="*/ 358100 w 608814"/>
              <a:gd name="connsiteY14" fmla="*/ 585693 h 585693"/>
              <a:gd name="connsiteX15" fmla="*/ 333679 w 608814"/>
              <a:gd name="connsiteY15" fmla="*/ 561206 h 585693"/>
              <a:gd name="connsiteX16" fmla="*/ 333679 w 608814"/>
              <a:gd name="connsiteY16" fmla="*/ 274267 h 585693"/>
              <a:gd name="connsiteX17" fmla="*/ 358100 w 608814"/>
              <a:gd name="connsiteY17" fmla="*/ 249872 h 585693"/>
              <a:gd name="connsiteX18" fmla="*/ 140260 w 608814"/>
              <a:gd name="connsiteY18" fmla="*/ 224680 h 585693"/>
              <a:gd name="connsiteX19" fmla="*/ 191844 w 608814"/>
              <a:gd name="connsiteY19" fmla="*/ 276122 h 585693"/>
              <a:gd name="connsiteX20" fmla="*/ 140260 w 608814"/>
              <a:gd name="connsiteY20" fmla="*/ 327564 h 585693"/>
              <a:gd name="connsiteX21" fmla="*/ 88676 w 608814"/>
              <a:gd name="connsiteY21" fmla="*/ 276122 h 585693"/>
              <a:gd name="connsiteX22" fmla="*/ 140260 w 608814"/>
              <a:gd name="connsiteY22" fmla="*/ 224680 h 585693"/>
              <a:gd name="connsiteX23" fmla="*/ 521177 w 608814"/>
              <a:gd name="connsiteY23" fmla="*/ 148117 h 585693"/>
              <a:gd name="connsiteX24" fmla="*/ 584301 w 608814"/>
              <a:gd name="connsiteY24" fmla="*/ 148117 h 585693"/>
              <a:gd name="connsiteX25" fmla="*/ 608814 w 608814"/>
              <a:gd name="connsiteY25" fmla="*/ 172601 h 585693"/>
              <a:gd name="connsiteX26" fmla="*/ 608814 w 608814"/>
              <a:gd name="connsiteY26" fmla="*/ 561209 h 585693"/>
              <a:gd name="connsiteX27" fmla="*/ 584301 w 608814"/>
              <a:gd name="connsiteY27" fmla="*/ 585693 h 585693"/>
              <a:gd name="connsiteX28" fmla="*/ 521177 w 608814"/>
              <a:gd name="connsiteY28" fmla="*/ 585693 h 585693"/>
              <a:gd name="connsiteX29" fmla="*/ 496756 w 608814"/>
              <a:gd name="connsiteY29" fmla="*/ 561209 h 585693"/>
              <a:gd name="connsiteX30" fmla="*/ 496756 w 608814"/>
              <a:gd name="connsiteY30" fmla="*/ 172601 h 585693"/>
              <a:gd name="connsiteX31" fmla="*/ 521177 w 608814"/>
              <a:gd name="connsiteY31" fmla="*/ 148117 h 585693"/>
              <a:gd name="connsiteX32" fmla="*/ 116229 w 608814"/>
              <a:gd name="connsiteY32" fmla="*/ 131322 h 585693"/>
              <a:gd name="connsiteX33" fmla="*/ 164246 w 608814"/>
              <a:gd name="connsiteY33" fmla="*/ 131322 h 585693"/>
              <a:gd name="connsiteX34" fmla="*/ 184061 w 608814"/>
              <a:gd name="connsiteY34" fmla="*/ 151113 h 585693"/>
              <a:gd name="connsiteX35" fmla="*/ 184061 w 608814"/>
              <a:gd name="connsiteY35" fmla="*/ 171457 h 585693"/>
              <a:gd name="connsiteX36" fmla="*/ 208669 w 608814"/>
              <a:gd name="connsiteY36" fmla="*/ 186094 h 585693"/>
              <a:gd name="connsiteX37" fmla="*/ 226641 w 608814"/>
              <a:gd name="connsiteY37" fmla="*/ 175692 h 585693"/>
              <a:gd name="connsiteX38" fmla="*/ 253737 w 608814"/>
              <a:gd name="connsiteY38" fmla="*/ 182964 h 585693"/>
              <a:gd name="connsiteX39" fmla="*/ 277792 w 608814"/>
              <a:gd name="connsiteY39" fmla="*/ 224572 h 585693"/>
              <a:gd name="connsiteX40" fmla="*/ 279727 w 608814"/>
              <a:gd name="connsiteY40" fmla="*/ 239577 h 585693"/>
              <a:gd name="connsiteX41" fmla="*/ 270511 w 608814"/>
              <a:gd name="connsiteY41" fmla="*/ 251544 h 585693"/>
              <a:gd name="connsiteX42" fmla="*/ 252355 w 608814"/>
              <a:gd name="connsiteY42" fmla="*/ 262038 h 585693"/>
              <a:gd name="connsiteX43" fmla="*/ 253829 w 608814"/>
              <a:gd name="connsiteY43" fmla="*/ 276122 h 585693"/>
              <a:gd name="connsiteX44" fmla="*/ 252355 w 608814"/>
              <a:gd name="connsiteY44" fmla="*/ 290206 h 585693"/>
              <a:gd name="connsiteX45" fmla="*/ 270511 w 608814"/>
              <a:gd name="connsiteY45" fmla="*/ 300700 h 585693"/>
              <a:gd name="connsiteX46" fmla="*/ 278714 w 608814"/>
              <a:gd name="connsiteY46" fmla="*/ 325094 h 585693"/>
              <a:gd name="connsiteX47" fmla="*/ 258253 w 608814"/>
              <a:gd name="connsiteY47" fmla="*/ 321136 h 585693"/>
              <a:gd name="connsiteX48" fmla="*/ 195858 w 608814"/>
              <a:gd name="connsiteY48" fmla="*/ 321136 h 585693"/>
              <a:gd name="connsiteX49" fmla="*/ 212171 w 608814"/>
              <a:gd name="connsiteY49" fmla="*/ 276122 h 585693"/>
              <a:gd name="connsiteX50" fmla="*/ 140191 w 608814"/>
              <a:gd name="connsiteY50" fmla="*/ 204320 h 585693"/>
              <a:gd name="connsiteX51" fmla="*/ 68304 w 608814"/>
              <a:gd name="connsiteY51" fmla="*/ 276122 h 585693"/>
              <a:gd name="connsiteX52" fmla="*/ 140191 w 608814"/>
              <a:gd name="connsiteY52" fmla="*/ 348016 h 585693"/>
              <a:gd name="connsiteX53" fmla="*/ 148486 w 608814"/>
              <a:gd name="connsiteY53" fmla="*/ 347095 h 585693"/>
              <a:gd name="connsiteX54" fmla="*/ 140099 w 608814"/>
              <a:gd name="connsiteY54" fmla="*/ 376000 h 585693"/>
              <a:gd name="connsiteX55" fmla="*/ 140099 w 608814"/>
              <a:gd name="connsiteY55" fmla="*/ 420922 h 585693"/>
              <a:gd name="connsiteX56" fmla="*/ 116229 w 608814"/>
              <a:gd name="connsiteY56" fmla="*/ 420922 h 585693"/>
              <a:gd name="connsiteX57" fmla="*/ 96413 w 608814"/>
              <a:gd name="connsiteY57" fmla="*/ 401131 h 585693"/>
              <a:gd name="connsiteX58" fmla="*/ 96413 w 608814"/>
              <a:gd name="connsiteY58" fmla="*/ 380787 h 585693"/>
              <a:gd name="connsiteX59" fmla="*/ 71806 w 608814"/>
              <a:gd name="connsiteY59" fmla="*/ 366150 h 585693"/>
              <a:gd name="connsiteX60" fmla="*/ 53742 w 608814"/>
              <a:gd name="connsiteY60" fmla="*/ 376552 h 585693"/>
              <a:gd name="connsiteX61" fmla="*/ 38719 w 608814"/>
              <a:gd name="connsiteY61" fmla="*/ 378577 h 585693"/>
              <a:gd name="connsiteX62" fmla="*/ 26738 w 608814"/>
              <a:gd name="connsiteY62" fmla="*/ 369372 h 585693"/>
              <a:gd name="connsiteX63" fmla="*/ 2683 w 608814"/>
              <a:gd name="connsiteY63" fmla="*/ 327764 h 585693"/>
              <a:gd name="connsiteX64" fmla="*/ 9872 w 608814"/>
              <a:gd name="connsiteY64" fmla="*/ 300700 h 585693"/>
              <a:gd name="connsiteX65" fmla="*/ 28120 w 608814"/>
              <a:gd name="connsiteY65" fmla="*/ 290206 h 585693"/>
              <a:gd name="connsiteX66" fmla="*/ 26645 w 608814"/>
              <a:gd name="connsiteY66" fmla="*/ 276122 h 585693"/>
              <a:gd name="connsiteX67" fmla="*/ 28120 w 608814"/>
              <a:gd name="connsiteY67" fmla="*/ 262038 h 585693"/>
              <a:gd name="connsiteX68" fmla="*/ 9872 w 608814"/>
              <a:gd name="connsiteY68" fmla="*/ 251544 h 585693"/>
              <a:gd name="connsiteX69" fmla="*/ 2683 w 608814"/>
              <a:gd name="connsiteY69" fmla="*/ 224572 h 585693"/>
              <a:gd name="connsiteX70" fmla="*/ 26738 w 608814"/>
              <a:gd name="connsiteY70" fmla="*/ 182964 h 585693"/>
              <a:gd name="connsiteX71" fmla="*/ 38719 w 608814"/>
              <a:gd name="connsiteY71" fmla="*/ 173759 h 585693"/>
              <a:gd name="connsiteX72" fmla="*/ 53742 w 608814"/>
              <a:gd name="connsiteY72" fmla="*/ 175692 h 585693"/>
              <a:gd name="connsiteX73" fmla="*/ 71806 w 608814"/>
              <a:gd name="connsiteY73" fmla="*/ 186094 h 585693"/>
              <a:gd name="connsiteX74" fmla="*/ 96413 w 608814"/>
              <a:gd name="connsiteY74" fmla="*/ 171457 h 585693"/>
              <a:gd name="connsiteX75" fmla="*/ 96413 w 608814"/>
              <a:gd name="connsiteY75" fmla="*/ 151113 h 585693"/>
              <a:gd name="connsiteX76" fmla="*/ 116229 w 608814"/>
              <a:gd name="connsiteY76" fmla="*/ 131322 h 585693"/>
              <a:gd name="connsiteX77" fmla="*/ 445756 w 608814"/>
              <a:gd name="connsiteY77" fmla="*/ 83476 h 585693"/>
              <a:gd name="connsiteX78" fmla="*/ 414140 w 608814"/>
              <a:gd name="connsiteY78" fmla="*/ 115044 h 585693"/>
              <a:gd name="connsiteX79" fmla="*/ 445756 w 608814"/>
              <a:gd name="connsiteY79" fmla="*/ 146520 h 585693"/>
              <a:gd name="connsiteX80" fmla="*/ 477371 w 608814"/>
              <a:gd name="connsiteY80" fmla="*/ 115044 h 585693"/>
              <a:gd name="connsiteX81" fmla="*/ 445756 w 608814"/>
              <a:gd name="connsiteY81" fmla="*/ 83476 h 585693"/>
              <a:gd name="connsiteX82" fmla="*/ 426676 w 608814"/>
              <a:gd name="connsiteY82" fmla="*/ 0 h 585693"/>
              <a:gd name="connsiteX83" fmla="*/ 464835 w 608814"/>
              <a:gd name="connsiteY83" fmla="*/ 0 h 585693"/>
              <a:gd name="connsiteX84" fmla="*/ 480597 w 608814"/>
              <a:gd name="connsiteY84" fmla="*/ 15738 h 585693"/>
              <a:gd name="connsiteX85" fmla="*/ 480597 w 608814"/>
              <a:gd name="connsiteY85" fmla="*/ 31936 h 585693"/>
              <a:gd name="connsiteX86" fmla="*/ 500138 w 608814"/>
              <a:gd name="connsiteY86" fmla="*/ 43533 h 585693"/>
              <a:gd name="connsiteX87" fmla="*/ 514425 w 608814"/>
              <a:gd name="connsiteY87" fmla="*/ 35249 h 585693"/>
              <a:gd name="connsiteX88" fmla="*/ 535901 w 608814"/>
              <a:gd name="connsiteY88" fmla="*/ 40956 h 585693"/>
              <a:gd name="connsiteX89" fmla="*/ 554981 w 608814"/>
              <a:gd name="connsiteY89" fmla="*/ 73996 h 585693"/>
              <a:gd name="connsiteX90" fmla="*/ 556640 w 608814"/>
              <a:gd name="connsiteY90" fmla="*/ 85961 h 585693"/>
              <a:gd name="connsiteX91" fmla="*/ 549266 w 608814"/>
              <a:gd name="connsiteY91" fmla="*/ 95440 h 585693"/>
              <a:gd name="connsiteX92" fmla="*/ 534887 w 608814"/>
              <a:gd name="connsiteY92" fmla="*/ 103815 h 585693"/>
              <a:gd name="connsiteX93" fmla="*/ 535993 w 608814"/>
              <a:gd name="connsiteY93" fmla="*/ 115044 h 585693"/>
              <a:gd name="connsiteX94" fmla="*/ 535717 w 608814"/>
              <a:gd name="connsiteY94" fmla="*/ 117621 h 585693"/>
              <a:gd name="connsiteX95" fmla="*/ 521153 w 608814"/>
              <a:gd name="connsiteY95" fmla="*/ 117621 h 585693"/>
              <a:gd name="connsiteX96" fmla="*/ 466126 w 608814"/>
              <a:gd name="connsiteY96" fmla="*/ 172565 h 585693"/>
              <a:gd name="connsiteX97" fmla="*/ 466126 w 608814"/>
              <a:gd name="connsiteY97" fmla="*/ 229719 h 585693"/>
              <a:gd name="connsiteX98" fmla="*/ 466126 w 608814"/>
              <a:gd name="connsiteY98" fmla="*/ 242604 h 585693"/>
              <a:gd name="connsiteX99" fmla="*/ 453590 w 608814"/>
              <a:gd name="connsiteY99" fmla="*/ 229995 h 585693"/>
              <a:gd name="connsiteX100" fmla="*/ 421330 w 608814"/>
              <a:gd name="connsiteY100" fmla="*/ 219319 h 585693"/>
              <a:gd name="connsiteX101" fmla="*/ 411928 w 608814"/>
              <a:gd name="connsiteY101" fmla="*/ 219319 h 585693"/>
              <a:gd name="connsiteX102" fmla="*/ 410914 w 608814"/>
              <a:gd name="connsiteY102" fmla="*/ 214257 h 585693"/>
              <a:gd name="connsiteX103" fmla="*/ 410914 w 608814"/>
              <a:gd name="connsiteY103" fmla="*/ 198059 h 585693"/>
              <a:gd name="connsiteX104" fmla="*/ 391373 w 608814"/>
              <a:gd name="connsiteY104" fmla="*/ 186463 h 585693"/>
              <a:gd name="connsiteX105" fmla="*/ 377086 w 608814"/>
              <a:gd name="connsiteY105" fmla="*/ 194746 h 585693"/>
              <a:gd name="connsiteX106" fmla="*/ 365104 w 608814"/>
              <a:gd name="connsiteY106" fmla="*/ 196310 h 585693"/>
              <a:gd name="connsiteX107" fmla="*/ 355610 w 608814"/>
              <a:gd name="connsiteY107" fmla="*/ 189040 h 585693"/>
              <a:gd name="connsiteX108" fmla="*/ 336530 w 608814"/>
              <a:gd name="connsiteY108" fmla="*/ 155999 h 585693"/>
              <a:gd name="connsiteX109" fmla="*/ 342245 w 608814"/>
              <a:gd name="connsiteY109" fmla="*/ 134463 h 585693"/>
              <a:gd name="connsiteX110" fmla="*/ 356716 w 608814"/>
              <a:gd name="connsiteY110" fmla="*/ 126180 h 585693"/>
              <a:gd name="connsiteX111" fmla="*/ 355518 w 608814"/>
              <a:gd name="connsiteY111" fmla="*/ 115044 h 585693"/>
              <a:gd name="connsiteX112" fmla="*/ 356716 w 608814"/>
              <a:gd name="connsiteY112" fmla="*/ 103815 h 585693"/>
              <a:gd name="connsiteX113" fmla="*/ 342245 w 608814"/>
              <a:gd name="connsiteY113" fmla="*/ 95440 h 585693"/>
              <a:gd name="connsiteX114" fmla="*/ 336530 w 608814"/>
              <a:gd name="connsiteY114" fmla="*/ 73996 h 585693"/>
              <a:gd name="connsiteX115" fmla="*/ 355610 w 608814"/>
              <a:gd name="connsiteY115" fmla="*/ 40956 h 585693"/>
              <a:gd name="connsiteX116" fmla="*/ 365104 w 608814"/>
              <a:gd name="connsiteY116" fmla="*/ 33685 h 585693"/>
              <a:gd name="connsiteX117" fmla="*/ 377086 w 608814"/>
              <a:gd name="connsiteY117" fmla="*/ 35249 h 585693"/>
              <a:gd name="connsiteX118" fmla="*/ 391373 w 608814"/>
              <a:gd name="connsiteY118" fmla="*/ 43533 h 585693"/>
              <a:gd name="connsiteX119" fmla="*/ 410914 w 608814"/>
              <a:gd name="connsiteY119" fmla="*/ 31936 h 585693"/>
              <a:gd name="connsiteX120" fmla="*/ 410914 w 608814"/>
              <a:gd name="connsiteY120" fmla="*/ 15738 h 585693"/>
              <a:gd name="connsiteX121" fmla="*/ 426676 w 608814"/>
              <a:gd name="connsiteY121" fmla="*/ 0 h 58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08814" h="585693">
                <a:moveTo>
                  <a:pt x="195114" y="351627"/>
                </a:moveTo>
                <a:lnTo>
                  <a:pt x="258290" y="351627"/>
                </a:lnTo>
                <a:cubicBezTo>
                  <a:pt x="271848" y="351627"/>
                  <a:pt x="282731" y="362580"/>
                  <a:pt x="282731" y="376018"/>
                </a:cubicBezTo>
                <a:lnTo>
                  <a:pt x="282731" y="561210"/>
                </a:lnTo>
                <a:cubicBezTo>
                  <a:pt x="282731" y="574740"/>
                  <a:pt x="271848" y="585693"/>
                  <a:pt x="258290" y="585693"/>
                </a:cubicBezTo>
                <a:lnTo>
                  <a:pt x="195114" y="585693"/>
                </a:lnTo>
                <a:cubicBezTo>
                  <a:pt x="181556" y="585693"/>
                  <a:pt x="170673" y="574740"/>
                  <a:pt x="170673" y="561210"/>
                </a:cubicBezTo>
                <a:lnTo>
                  <a:pt x="170673" y="376018"/>
                </a:lnTo>
                <a:cubicBezTo>
                  <a:pt x="170673" y="362580"/>
                  <a:pt x="181556" y="351627"/>
                  <a:pt x="195114" y="351627"/>
                </a:cubicBezTo>
                <a:close/>
                <a:moveTo>
                  <a:pt x="358100" y="249872"/>
                </a:moveTo>
                <a:lnTo>
                  <a:pt x="421316" y="249872"/>
                </a:lnTo>
                <a:cubicBezTo>
                  <a:pt x="434771" y="249872"/>
                  <a:pt x="445737" y="260735"/>
                  <a:pt x="445737" y="274267"/>
                </a:cubicBezTo>
                <a:lnTo>
                  <a:pt x="445737" y="561206"/>
                </a:lnTo>
                <a:cubicBezTo>
                  <a:pt x="445737" y="574738"/>
                  <a:pt x="434771" y="585693"/>
                  <a:pt x="421316" y="585693"/>
                </a:cubicBezTo>
                <a:lnTo>
                  <a:pt x="358100" y="585693"/>
                </a:lnTo>
                <a:cubicBezTo>
                  <a:pt x="344645" y="585693"/>
                  <a:pt x="333679" y="574738"/>
                  <a:pt x="333679" y="561206"/>
                </a:cubicBezTo>
                <a:lnTo>
                  <a:pt x="333679" y="274267"/>
                </a:lnTo>
                <a:cubicBezTo>
                  <a:pt x="333679" y="260735"/>
                  <a:pt x="344645" y="249872"/>
                  <a:pt x="358100" y="249872"/>
                </a:cubicBezTo>
                <a:close/>
                <a:moveTo>
                  <a:pt x="140260" y="224680"/>
                </a:moveTo>
                <a:cubicBezTo>
                  <a:pt x="168749" y="224680"/>
                  <a:pt x="191844" y="247711"/>
                  <a:pt x="191844" y="276122"/>
                </a:cubicBezTo>
                <a:cubicBezTo>
                  <a:pt x="191844" y="304533"/>
                  <a:pt x="168749" y="327564"/>
                  <a:pt x="140260" y="327564"/>
                </a:cubicBezTo>
                <a:cubicBezTo>
                  <a:pt x="111771" y="327564"/>
                  <a:pt x="88676" y="304533"/>
                  <a:pt x="88676" y="276122"/>
                </a:cubicBezTo>
                <a:cubicBezTo>
                  <a:pt x="88676" y="247711"/>
                  <a:pt x="111771" y="224680"/>
                  <a:pt x="140260" y="224680"/>
                </a:cubicBezTo>
                <a:close/>
                <a:moveTo>
                  <a:pt x="521177" y="148117"/>
                </a:moveTo>
                <a:lnTo>
                  <a:pt x="584301" y="148117"/>
                </a:lnTo>
                <a:cubicBezTo>
                  <a:pt x="597848" y="148117"/>
                  <a:pt x="608814" y="159070"/>
                  <a:pt x="608814" y="172601"/>
                </a:cubicBezTo>
                <a:lnTo>
                  <a:pt x="608814" y="561209"/>
                </a:lnTo>
                <a:cubicBezTo>
                  <a:pt x="608814" y="574740"/>
                  <a:pt x="597848" y="585693"/>
                  <a:pt x="584301" y="585693"/>
                </a:cubicBezTo>
                <a:lnTo>
                  <a:pt x="521177" y="585693"/>
                </a:lnTo>
                <a:cubicBezTo>
                  <a:pt x="507722" y="585693"/>
                  <a:pt x="496756" y="574740"/>
                  <a:pt x="496756" y="561209"/>
                </a:cubicBezTo>
                <a:lnTo>
                  <a:pt x="496756" y="172601"/>
                </a:lnTo>
                <a:cubicBezTo>
                  <a:pt x="496756" y="159070"/>
                  <a:pt x="507722" y="148117"/>
                  <a:pt x="521177" y="148117"/>
                </a:cubicBezTo>
                <a:close/>
                <a:moveTo>
                  <a:pt x="116229" y="131322"/>
                </a:moveTo>
                <a:lnTo>
                  <a:pt x="164246" y="131322"/>
                </a:lnTo>
                <a:cubicBezTo>
                  <a:pt x="175214" y="131322"/>
                  <a:pt x="184061" y="140159"/>
                  <a:pt x="184061" y="151113"/>
                </a:cubicBezTo>
                <a:lnTo>
                  <a:pt x="184061" y="171457"/>
                </a:lnTo>
                <a:cubicBezTo>
                  <a:pt x="193001" y="175231"/>
                  <a:pt x="201019" y="180386"/>
                  <a:pt x="208669" y="186094"/>
                </a:cubicBezTo>
                <a:lnTo>
                  <a:pt x="226641" y="175692"/>
                </a:lnTo>
                <a:cubicBezTo>
                  <a:pt x="236134" y="170261"/>
                  <a:pt x="248300" y="173482"/>
                  <a:pt x="253737" y="182964"/>
                </a:cubicBezTo>
                <a:lnTo>
                  <a:pt x="277792" y="224572"/>
                </a:lnTo>
                <a:cubicBezTo>
                  <a:pt x="280465" y="229083"/>
                  <a:pt x="281110" y="234514"/>
                  <a:pt x="279727" y="239577"/>
                </a:cubicBezTo>
                <a:cubicBezTo>
                  <a:pt x="278437" y="244640"/>
                  <a:pt x="275119" y="248966"/>
                  <a:pt x="270511" y="251544"/>
                </a:cubicBezTo>
                <a:lnTo>
                  <a:pt x="252355" y="262038"/>
                </a:lnTo>
                <a:cubicBezTo>
                  <a:pt x="253000" y="266733"/>
                  <a:pt x="253829" y="271335"/>
                  <a:pt x="253829" y="276122"/>
                </a:cubicBezTo>
                <a:cubicBezTo>
                  <a:pt x="253829" y="281001"/>
                  <a:pt x="253000" y="285604"/>
                  <a:pt x="252355" y="290206"/>
                </a:cubicBezTo>
                <a:lnTo>
                  <a:pt x="270511" y="300700"/>
                </a:lnTo>
                <a:cubicBezTo>
                  <a:pt x="279174" y="305671"/>
                  <a:pt x="282308" y="316165"/>
                  <a:pt x="278714" y="325094"/>
                </a:cubicBezTo>
                <a:cubicBezTo>
                  <a:pt x="272354" y="322609"/>
                  <a:pt x="265442" y="321136"/>
                  <a:pt x="258253" y="321136"/>
                </a:cubicBezTo>
                <a:lnTo>
                  <a:pt x="195858" y="321136"/>
                </a:lnTo>
                <a:cubicBezTo>
                  <a:pt x="205904" y="308709"/>
                  <a:pt x="212171" y="293244"/>
                  <a:pt x="212171" y="276122"/>
                </a:cubicBezTo>
                <a:cubicBezTo>
                  <a:pt x="212171" y="236539"/>
                  <a:pt x="179914" y="204320"/>
                  <a:pt x="140191" y="204320"/>
                </a:cubicBezTo>
                <a:cubicBezTo>
                  <a:pt x="100561" y="204320"/>
                  <a:pt x="68304" y="236539"/>
                  <a:pt x="68304" y="276122"/>
                </a:cubicBezTo>
                <a:cubicBezTo>
                  <a:pt x="68304" y="315797"/>
                  <a:pt x="100561" y="348016"/>
                  <a:pt x="140191" y="348016"/>
                </a:cubicBezTo>
                <a:cubicBezTo>
                  <a:pt x="143048" y="348016"/>
                  <a:pt x="145721" y="347463"/>
                  <a:pt x="148486" y="347095"/>
                </a:cubicBezTo>
                <a:cubicBezTo>
                  <a:pt x="143233" y="355564"/>
                  <a:pt x="140099" y="365414"/>
                  <a:pt x="140099" y="376000"/>
                </a:cubicBezTo>
                <a:lnTo>
                  <a:pt x="140099" y="420922"/>
                </a:lnTo>
                <a:lnTo>
                  <a:pt x="116229" y="420922"/>
                </a:lnTo>
                <a:cubicBezTo>
                  <a:pt x="105261" y="420922"/>
                  <a:pt x="96413" y="412085"/>
                  <a:pt x="96413" y="401131"/>
                </a:cubicBezTo>
                <a:lnTo>
                  <a:pt x="96413" y="380787"/>
                </a:lnTo>
                <a:cubicBezTo>
                  <a:pt x="87474" y="377013"/>
                  <a:pt x="79455" y="371950"/>
                  <a:pt x="71806" y="366150"/>
                </a:cubicBezTo>
                <a:lnTo>
                  <a:pt x="53742" y="376552"/>
                </a:lnTo>
                <a:cubicBezTo>
                  <a:pt x="49226" y="379222"/>
                  <a:pt x="43788" y="379866"/>
                  <a:pt x="38719" y="378577"/>
                </a:cubicBezTo>
                <a:cubicBezTo>
                  <a:pt x="33650" y="377197"/>
                  <a:pt x="29318" y="373883"/>
                  <a:pt x="26738" y="369372"/>
                </a:cubicBezTo>
                <a:lnTo>
                  <a:pt x="2683" y="327764"/>
                </a:lnTo>
                <a:cubicBezTo>
                  <a:pt x="-2847" y="318282"/>
                  <a:pt x="471" y="306131"/>
                  <a:pt x="9872" y="300700"/>
                </a:cubicBezTo>
                <a:lnTo>
                  <a:pt x="28120" y="290206"/>
                </a:lnTo>
                <a:cubicBezTo>
                  <a:pt x="27475" y="285604"/>
                  <a:pt x="26645" y="281001"/>
                  <a:pt x="26645" y="276122"/>
                </a:cubicBezTo>
                <a:cubicBezTo>
                  <a:pt x="26645" y="271335"/>
                  <a:pt x="27475" y="266733"/>
                  <a:pt x="28120" y="262038"/>
                </a:cubicBezTo>
                <a:lnTo>
                  <a:pt x="9872" y="251544"/>
                </a:lnTo>
                <a:cubicBezTo>
                  <a:pt x="471" y="246113"/>
                  <a:pt x="-2847" y="233962"/>
                  <a:pt x="2683" y="224572"/>
                </a:cubicBezTo>
                <a:lnTo>
                  <a:pt x="26738" y="182964"/>
                </a:lnTo>
                <a:cubicBezTo>
                  <a:pt x="29318" y="178361"/>
                  <a:pt x="33650" y="175139"/>
                  <a:pt x="38719" y="173759"/>
                </a:cubicBezTo>
                <a:cubicBezTo>
                  <a:pt x="43788" y="172378"/>
                  <a:pt x="49226" y="173114"/>
                  <a:pt x="53742" y="175692"/>
                </a:cubicBezTo>
                <a:lnTo>
                  <a:pt x="71806" y="186094"/>
                </a:lnTo>
                <a:cubicBezTo>
                  <a:pt x="79455" y="180386"/>
                  <a:pt x="87474" y="175231"/>
                  <a:pt x="96413" y="171457"/>
                </a:cubicBezTo>
                <a:lnTo>
                  <a:pt x="96413" y="151113"/>
                </a:lnTo>
                <a:cubicBezTo>
                  <a:pt x="96413" y="140159"/>
                  <a:pt x="105261" y="131322"/>
                  <a:pt x="116229" y="131322"/>
                </a:cubicBezTo>
                <a:close/>
                <a:moveTo>
                  <a:pt x="445756" y="83476"/>
                </a:moveTo>
                <a:cubicBezTo>
                  <a:pt x="428335" y="83476"/>
                  <a:pt x="414140" y="97557"/>
                  <a:pt x="414140" y="115044"/>
                </a:cubicBezTo>
                <a:cubicBezTo>
                  <a:pt x="414140" y="132438"/>
                  <a:pt x="428335" y="146520"/>
                  <a:pt x="445756" y="146520"/>
                </a:cubicBezTo>
                <a:cubicBezTo>
                  <a:pt x="463176" y="146520"/>
                  <a:pt x="477371" y="132438"/>
                  <a:pt x="477371" y="115044"/>
                </a:cubicBezTo>
                <a:cubicBezTo>
                  <a:pt x="477371" y="97557"/>
                  <a:pt x="463176" y="83476"/>
                  <a:pt x="445756" y="83476"/>
                </a:cubicBezTo>
                <a:close/>
                <a:moveTo>
                  <a:pt x="426676" y="0"/>
                </a:moveTo>
                <a:lnTo>
                  <a:pt x="464835" y="0"/>
                </a:lnTo>
                <a:cubicBezTo>
                  <a:pt x="473500" y="0"/>
                  <a:pt x="480597" y="7087"/>
                  <a:pt x="480597" y="15738"/>
                </a:cubicBezTo>
                <a:lnTo>
                  <a:pt x="480597" y="31936"/>
                </a:lnTo>
                <a:cubicBezTo>
                  <a:pt x="487694" y="34881"/>
                  <a:pt x="494054" y="38931"/>
                  <a:pt x="500138" y="43533"/>
                </a:cubicBezTo>
                <a:lnTo>
                  <a:pt x="514425" y="35249"/>
                </a:lnTo>
                <a:cubicBezTo>
                  <a:pt x="521983" y="30924"/>
                  <a:pt x="531569" y="33501"/>
                  <a:pt x="535901" y="40956"/>
                </a:cubicBezTo>
                <a:lnTo>
                  <a:pt x="554981" y="73996"/>
                </a:lnTo>
                <a:cubicBezTo>
                  <a:pt x="557101" y="77585"/>
                  <a:pt x="557654" y="81911"/>
                  <a:pt x="556640" y="85961"/>
                </a:cubicBezTo>
                <a:cubicBezTo>
                  <a:pt x="555534" y="89918"/>
                  <a:pt x="552861" y="93415"/>
                  <a:pt x="549266" y="95440"/>
                </a:cubicBezTo>
                <a:lnTo>
                  <a:pt x="534887" y="103815"/>
                </a:lnTo>
                <a:cubicBezTo>
                  <a:pt x="535348" y="107497"/>
                  <a:pt x="535993" y="111178"/>
                  <a:pt x="535993" y="115044"/>
                </a:cubicBezTo>
                <a:cubicBezTo>
                  <a:pt x="535993" y="115872"/>
                  <a:pt x="535809" y="116700"/>
                  <a:pt x="535717" y="117621"/>
                </a:cubicBezTo>
                <a:lnTo>
                  <a:pt x="521153" y="117621"/>
                </a:lnTo>
                <a:cubicBezTo>
                  <a:pt x="490828" y="117621"/>
                  <a:pt x="466126" y="142286"/>
                  <a:pt x="466126" y="172565"/>
                </a:cubicBezTo>
                <a:lnTo>
                  <a:pt x="466126" y="229719"/>
                </a:lnTo>
                <a:lnTo>
                  <a:pt x="466126" y="242604"/>
                </a:lnTo>
                <a:cubicBezTo>
                  <a:pt x="462715" y="237726"/>
                  <a:pt x="458383" y="233493"/>
                  <a:pt x="453590" y="229995"/>
                </a:cubicBezTo>
                <a:cubicBezTo>
                  <a:pt x="444465" y="223369"/>
                  <a:pt x="433404" y="219319"/>
                  <a:pt x="421330" y="219319"/>
                </a:cubicBezTo>
                <a:lnTo>
                  <a:pt x="411928" y="219319"/>
                </a:lnTo>
                <a:cubicBezTo>
                  <a:pt x="411375" y="217755"/>
                  <a:pt x="410914" y="216098"/>
                  <a:pt x="410914" y="214257"/>
                </a:cubicBezTo>
                <a:lnTo>
                  <a:pt x="410914" y="198059"/>
                </a:lnTo>
                <a:cubicBezTo>
                  <a:pt x="403817" y="195114"/>
                  <a:pt x="397457" y="191064"/>
                  <a:pt x="391373" y="186463"/>
                </a:cubicBezTo>
                <a:lnTo>
                  <a:pt x="377086" y="194746"/>
                </a:lnTo>
                <a:cubicBezTo>
                  <a:pt x="373492" y="196863"/>
                  <a:pt x="369160" y="197415"/>
                  <a:pt x="365104" y="196310"/>
                </a:cubicBezTo>
                <a:cubicBezTo>
                  <a:pt x="361140" y="195206"/>
                  <a:pt x="357638" y="192629"/>
                  <a:pt x="355610" y="189040"/>
                </a:cubicBezTo>
                <a:lnTo>
                  <a:pt x="336530" y="155999"/>
                </a:lnTo>
                <a:cubicBezTo>
                  <a:pt x="332198" y="148452"/>
                  <a:pt x="334687" y="138881"/>
                  <a:pt x="342245" y="134463"/>
                </a:cubicBezTo>
                <a:lnTo>
                  <a:pt x="356716" y="126180"/>
                </a:lnTo>
                <a:cubicBezTo>
                  <a:pt x="356163" y="122498"/>
                  <a:pt x="355518" y="118817"/>
                  <a:pt x="355518" y="115044"/>
                </a:cubicBezTo>
                <a:cubicBezTo>
                  <a:pt x="355518" y="111178"/>
                  <a:pt x="356163" y="107497"/>
                  <a:pt x="356716" y="103815"/>
                </a:cubicBezTo>
                <a:lnTo>
                  <a:pt x="342245" y="95440"/>
                </a:lnTo>
                <a:cubicBezTo>
                  <a:pt x="334687" y="91115"/>
                  <a:pt x="332198" y="81543"/>
                  <a:pt x="336530" y="73996"/>
                </a:cubicBezTo>
                <a:lnTo>
                  <a:pt x="355610" y="40956"/>
                </a:lnTo>
                <a:cubicBezTo>
                  <a:pt x="357638" y="37366"/>
                  <a:pt x="361140" y="34789"/>
                  <a:pt x="365104" y="33685"/>
                </a:cubicBezTo>
                <a:cubicBezTo>
                  <a:pt x="369160" y="32580"/>
                  <a:pt x="373492" y="33133"/>
                  <a:pt x="377086" y="35249"/>
                </a:cubicBezTo>
                <a:lnTo>
                  <a:pt x="391373" y="43533"/>
                </a:lnTo>
                <a:cubicBezTo>
                  <a:pt x="397457" y="38931"/>
                  <a:pt x="403817" y="34881"/>
                  <a:pt x="410914" y="31936"/>
                </a:cubicBezTo>
                <a:lnTo>
                  <a:pt x="410914" y="15738"/>
                </a:lnTo>
                <a:cubicBezTo>
                  <a:pt x="410914" y="7087"/>
                  <a:pt x="418011" y="0"/>
                  <a:pt x="426676" y="0"/>
                </a:cubicBez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20" name="Line"/>
          <p:cNvSpPr/>
          <p:nvPr/>
        </p:nvSpPr>
        <p:spPr>
          <a:xfrm flipH="1" flipV="1">
            <a:off x="4361542" y="3428184"/>
            <a:ext cx="994230" cy="0"/>
          </a:xfrm>
          <a:prstGeom prst="line">
            <a:avLst/>
          </a:prstGeom>
          <a:noFill/>
          <a:ln w="15875" cap="rnd">
            <a:solidFill>
              <a:srgbClr val="3368FF"/>
            </a:solidFill>
            <a:prstDash val="solid"/>
            <a:round/>
            <a:headEnd type="triangle"/>
            <a:tailEnd type="none" w="med" len="med"/>
          </a:ln>
          <a:effectLst/>
        </p:spPr>
        <p:txBody>
          <a:bodyPr wrap="square" lIns="0" tIns="0" rIns="0" bIns="0" numCol="1" anchor="t">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2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5843828" y="3447956"/>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需求分析：明确需求</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24" name="文本框 223"/>
          <p:cNvSpPr txBox="1"/>
          <p:nvPr/>
        </p:nvSpPr>
        <p:spPr>
          <a:xfrm flipH="1">
            <a:off x="1467168" y="3387466"/>
            <a:ext cx="1710007" cy="315727"/>
          </a:xfrm>
          <a:prstGeom prst="rect">
            <a:avLst/>
          </a:prstGeom>
          <a:noFill/>
        </p:spPr>
        <p:txBody>
          <a:bodyPr wrap="square" lIns="0" tIns="0" rIns="0" bIns="0" rtlCol="0" anchor="t">
            <a:noAutofit/>
          </a:bodyPr>
          <a:lstStyle/>
          <a:p>
            <a:pPr lvl="0">
              <a:lnSpc>
                <a:spcPts val="1120"/>
              </a:lnSpc>
              <a:defRPr>
                <a:solidFill>
                  <a:srgbClr val="FFFFFF"/>
                </a:solidFill>
                <a:latin typeface="微软雅黑"/>
                <a:ea typeface="微软雅黑"/>
                <a:cs typeface="微软雅黑"/>
              </a:defRPr>
              <a:spcBef>
                <a:spcPts val="0"/>
              </a:spcBef>
              <a:spcAft>
                <a:spcPts val="0"/>
              </a:spcAft>
            </a:pPr>
            <a:r>
              <a:rPr lang="zh-CN" altLang="en-US" sz="1000" dirty="0">
                <a:solidFill>
                  <a:srgbClr val="FFFFFF"/>
                </a:solidFill>
                <a:latin typeface="微软雅黑"/>
                <a:ea typeface="微软雅黑"/>
                <a:cs typeface="微软雅黑"/>
              </a:rPr>
              <a:t>通过研究、设计、开发、测试等一系列活动</a:t>
            </a:r>
            <a:endParaRPr kumimoji="0" lang="zh-CN" altLang="en-US" sz="10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25" name="文本框 224"/>
          <p:cNvSpPr txBox="1"/>
          <p:nvPr/>
        </p:nvSpPr>
        <p:spPr>
          <a:xfrm flipH="1">
            <a:off x="1467168" y="3163983"/>
            <a:ext cx="1227576" cy="184150"/>
          </a:xfrm>
          <a:prstGeom prst="rect">
            <a:avLst/>
          </a:prstGeom>
          <a:noFill/>
        </p:spPr>
        <p:txBody>
          <a:bodyPr wrap="square" lIns="0" tIns="0" rIns="0" bIns="0" rtlCol="0">
            <a:spAutoFit/>
          </a:bodyPr>
          <a:lstStyle/>
          <a:p>
            <a:pPr lvl="0">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产品研发</a:t>
            </a:r>
            <a:endParaRPr kumimoji="0" lang="zh-CN" altLang="en-US" sz="1200" b="1"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226" name="直接连接符 729"/>
          <p:cNvCxnSpPr/>
          <p:nvPr/>
        </p:nvCxnSpPr>
        <p:spPr>
          <a:xfrm>
            <a:off x="7268381" y="3133340"/>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28" name="直接连接符 729"/>
          <p:cNvCxnSpPr/>
          <p:nvPr/>
        </p:nvCxnSpPr>
        <p:spPr>
          <a:xfrm>
            <a:off x="8781495" y="3133340"/>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29" name="直接连接符 729"/>
          <p:cNvCxnSpPr/>
          <p:nvPr/>
        </p:nvCxnSpPr>
        <p:spPr>
          <a:xfrm>
            <a:off x="10294609" y="3133340"/>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sp>
        <p:nvSpPr>
          <p:cNvPr id="230" name="flag-pole-with-black-flag_38306"/>
          <p:cNvSpPr>
            <a:spLocks noChangeAspect="1"/>
          </p:cNvSpPr>
          <p:nvPr/>
        </p:nvSpPr>
        <p:spPr>
          <a:xfrm>
            <a:off x="6456561" y="3199557"/>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3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7335171" y="3447956"/>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产品设计：构思创意</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3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8860084" y="3447956"/>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开发测试：实施方案</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33"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10384084" y="3447956"/>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产品发布：推向市场</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34" name="flag-pole-with-black-flag_38306"/>
          <p:cNvSpPr>
            <a:spLocks noChangeAspect="1"/>
          </p:cNvSpPr>
          <p:nvPr/>
        </p:nvSpPr>
        <p:spPr>
          <a:xfrm>
            <a:off x="10996817" y="3199557"/>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35" name="live-chat_72439"/>
          <p:cNvSpPr>
            <a:spLocks noChangeAspect="1"/>
          </p:cNvSpPr>
          <p:nvPr/>
        </p:nvSpPr>
        <p:spPr>
          <a:xfrm>
            <a:off x="7928396" y="3226962"/>
            <a:ext cx="206199" cy="180000"/>
          </a:xfrm>
          <a:custGeom>
            <a:avLst/>
            <a:gdLst>
              <a:gd name="connsiteX0" fmla="*/ 424975 w 608697"/>
              <a:gd name="connsiteY0" fmla="*/ 168488 h 531358"/>
              <a:gd name="connsiteX1" fmla="*/ 387604 w 608697"/>
              <a:gd name="connsiteY1" fmla="*/ 205806 h 531358"/>
              <a:gd name="connsiteX2" fmla="*/ 424975 w 608697"/>
              <a:gd name="connsiteY2" fmla="*/ 243124 h 531358"/>
              <a:gd name="connsiteX3" fmla="*/ 462346 w 608697"/>
              <a:gd name="connsiteY3" fmla="*/ 205806 h 531358"/>
              <a:gd name="connsiteX4" fmla="*/ 424975 w 608697"/>
              <a:gd name="connsiteY4" fmla="*/ 168488 h 531358"/>
              <a:gd name="connsiteX5" fmla="*/ 287947 w 608697"/>
              <a:gd name="connsiteY5" fmla="*/ 168488 h 531358"/>
              <a:gd name="connsiteX6" fmla="*/ 250576 w 608697"/>
              <a:gd name="connsiteY6" fmla="*/ 205806 h 531358"/>
              <a:gd name="connsiteX7" fmla="*/ 287947 w 608697"/>
              <a:gd name="connsiteY7" fmla="*/ 243124 h 531358"/>
              <a:gd name="connsiteX8" fmla="*/ 325318 w 608697"/>
              <a:gd name="connsiteY8" fmla="*/ 205806 h 531358"/>
              <a:gd name="connsiteX9" fmla="*/ 287947 w 608697"/>
              <a:gd name="connsiteY9" fmla="*/ 168488 h 531358"/>
              <a:gd name="connsiteX10" fmla="*/ 102356 w 608697"/>
              <a:gd name="connsiteY10" fmla="*/ 121231 h 531358"/>
              <a:gd name="connsiteX11" fmla="*/ 98850 w 608697"/>
              <a:gd name="connsiteY11" fmla="*/ 127711 h 531358"/>
              <a:gd name="connsiteX12" fmla="*/ 76842 w 608697"/>
              <a:gd name="connsiteY12" fmla="*/ 217990 h 531358"/>
              <a:gd name="connsiteX13" fmla="*/ 98850 w 608697"/>
              <a:gd name="connsiteY13" fmla="*/ 308194 h 531358"/>
              <a:gd name="connsiteX14" fmla="*/ 157488 w 608697"/>
              <a:gd name="connsiteY14" fmla="*/ 380223 h 531358"/>
              <a:gd name="connsiteX15" fmla="*/ 344668 w 608697"/>
              <a:gd name="connsiteY15" fmla="*/ 444729 h 531358"/>
              <a:gd name="connsiteX16" fmla="*/ 370257 w 608697"/>
              <a:gd name="connsiteY16" fmla="*/ 443687 h 531358"/>
              <a:gd name="connsiteX17" fmla="*/ 236717 w 608697"/>
              <a:gd name="connsiteY17" fmla="*/ 477876 h 531358"/>
              <a:gd name="connsiteX18" fmla="*/ 198072 w 608697"/>
              <a:gd name="connsiteY18" fmla="*/ 475344 h 531358"/>
              <a:gd name="connsiteX19" fmla="*/ 82437 w 608697"/>
              <a:gd name="connsiteY19" fmla="*/ 531284 h 531358"/>
              <a:gd name="connsiteX20" fmla="*/ 81542 w 608697"/>
              <a:gd name="connsiteY20" fmla="*/ 531358 h 531358"/>
              <a:gd name="connsiteX21" fmla="*/ 75051 w 608697"/>
              <a:gd name="connsiteY21" fmla="*/ 527857 h 531358"/>
              <a:gd name="connsiteX22" fmla="*/ 74753 w 608697"/>
              <a:gd name="connsiteY22" fmla="*/ 519738 h 531358"/>
              <a:gd name="connsiteX23" fmla="*/ 88778 w 608697"/>
              <a:gd name="connsiteY23" fmla="*/ 435046 h 531358"/>
              <a:gd name="connsiteX24" fmla="*/ 0 w 608697"/>
              <a:gd name="connsiteY24" fmla="*/ 282198 h 531358"/>
              <a:gd name="connsiteX25" fmla="*/ 102356 w 608697"/>
              <a:gd name="connsiteY25" fmla="*/ 121231 h 531358"/>
              <a:gd name="connsiteX26" fmla="*/ 356424 w 608697"/>
              <a:gd name="connsiteY26" fmla="*/ 0 h 531358"/>
              <a:gd name="connsiteX27" fmla="*/ 608697 w 608697"/>
              <a:gd name="connsiteY27" fmla="*/ 211244 h 531358"/>
              <a:gd name="connsiteX28" fmla="*/ 518290 w 608697"/>
              <a:gd name="connsiteY28" fmla="*/ 373401 h 531358"/>
              <a:gd name="connsiteX29" fmla="*/ 531941 w 608697"/>
              <a:gd name="connsiteY29" fmla="*/ 441109 h 531358"/>
              <a:gd name="connsiteX30" fmla="*/ 531120 w 608697"/>
              <a:gd name="connsiteY30" fmla="*/ 465391 h 531358"/>
              <a:gd name="connsiteX31" fmla="*/ 511577 w 608697"/>
              <a:gd name="connsiteY31" fmla="*/ 475894 h 531358"/>
              <a:gd name="connsiteX32" fmla="*/ 509041 w 608697"/>
              <a:gd name="connsiteY32" fmla="*/ 475745 h 531358"/>
              <a:gd name="connsiteX33" fmla="*/ 391408 w 608697"/>
              <a:gd name="connsiteY33" fmla="*/ 420476 h 531358"/>
              <a:gd name="connsiteX34" fmla="*/ 356424 w 608697"/>
              <a:gd name="connsiteY34" fmla="*/ 422487 h 531358"/>
              <a:gd name="connsiteX35" fmla="*/ 104225 w 608697"/>
              <a:gd name="connsiteY35" fmla="*/ 211244 h 531358"/>
              <a:gd name="connsiteX36" fmla="*/ 356424 w 608697"/>
              <a:gd name="connsiteY36" fmla="*/ 0 h 53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08697" h="531358">
                <a:moveTo>
                  <a:pt x="424975" y="168488"/>
                </a:moveTo>
                <a:cubicBezTo>
                  <a:pt x="404312" y="168488"/>
                  <a:pt x="387604" y="185248"/>
                  <a:pt x="387604" y="205806"/>
                </a:cubicBezTo>
                <a:cubicBezTo>
                  <a:pt x="387604" y="226439"/>
                  <a:pt x="404312" y="243124"/>
                  <a:pt x="424975" y="243124"/>
                </a:cubicBezTo>
                <a:cubicBezTo>
                  <a:pt x="445562" y="243124"/>
                  <a:pt x="462346" y="226439"/>
                  <a:pt x="462346" y="205806"/>
                </a:cubicBezTo>
                <a:cubicBezTo>
                  <a:pt x="462346" y="185248"/>
                  <a:pt x="445637" y="168488"/>
                  <a:pt x="424975" y="168488"/>
                </a:cubicBezTo>
                <a:close/>
                <a:moveTo>
                  <a:pt x="287947" y="168488"/>
                </a:moveTo>
                <a:cubicBezTo>
                  <a:pt x="267285" y="168488"/>
                  <a:pt x="250576" y="185248"/>
                  <a:pt x="250576" y="205806"/>
                </a:cubicBezTo>
                <a:cubicBezTo>
                  <a:pt x="250576" y="226439"/>
                  <a:pt x="267285" y="243124"/>
                  <a:pt x="287947" y="243124"/>
                </a:cubicBezTo>
                <a:cubicBezTo>
                  <a:pt x="308610" y="243124"/>
                  <a:pt x="325318" y="226439"/>
                  <a:pt x="325318" y="205806"/>
                </a:cubicBezTo>
                <a:cubicBezTo>
                  <a:pt x="325318" y="185248"/>
                  <a:pt x="308610" y="168488"/>
                  <a:pt x="287947" y="168488"/>
                </a:cubicBezTo>
                <a:close/>
                <a:moveTo>
                  <a:pt x="102356" y="121231"/>
                </a:moveTo>
                <a:cubicBezTo>
                  <a:pt x="101162" y="123317"/>
                  <a:pt x="99969" y="125477"/>
                  <a:pt x="98850" y="127711"/>
                </a:cubicBezTo>
                <a:cubicBezTo>
                  <a:pt x="84227" y="156240"/>
                  <a:pt x="76842" y="186631"/>
                  <a:pt x="76842" y="217990"/>
                </a:cubicBezTo>
                <a:cubicBezTo>
                  <a:pt x="76842" y="249275"/>
                  <a:pt x="84227" y="279666"/>
                  <a:pt x="98850" y="308194"/>
                </a:cubicBezTo>
                <a:cubicBezTo>
                  <a:pt x="112726" y="335308"/>
                  <a:pt x="132496" y="359516"/>
                  <a:pt x="157488" y="380223"/>
                </a:cubicBezTo>
                <a:cubicBezTo>
                  <a:pt x="207845" y="421787"/>
                  <a:pt x="274317" y="444729"/>
                  <a:pt x="344668" y="444729"/>
                </a:cubicBezTo>
                <a:cubicBezTo>
                  <a:pt x="353173" y="444729"/>
                  <a:pt x="361752" y="444357"/>
                  <a:pt x="370257" y="443687"/>
                </a:cubicBezTo>
                <a:cubicBezTo>
                  <a:pt x="332209" y="465288"/>
                  <a:pt x="286254" y="477876"/>
                  <a:pt x="236717" y="477876"/>
                </a:cubicBezTo>
                <a:cubicBezTo>
                  <a:pt x="223736" y="477876"/>
                  <a:pt x="210755" y="477057"/>
                  <a:pt x="198072" y="475344"/>
                </a:cubicBezTo>
                <a:cubicBezTo>
                  <a:pt x="160397" y="499478"/>
                  <a:pt x="110637" y="528155"/>
                  <a:pt x="82437" y="531284"/>
                </a:cubicBezTo>
                <a:cubicBezTo>
                  <a:pt x="82138" y="531358"/>
                  <a:pt x="81840" y="531358"/>
                  <a:pt x="81542" y="531358"/>
                </a:cubicBezTo>
                <a:cubicBezTo>
                  <a:pt x="78930" y="531358"/>
                  <a:pt x="76469" y="530017"/>
                  <a:pt x="75051" y="527857"/>
                </a:cubicBezTo>
                <a:cubicBezTo>
                  <a:pt x="73410" y="525399"/>
                  <a:pt x="73335" y="522271"/>
                  <a:pt x="74753" y="519738"/>
                </a:cubicBezTo>
                <a:cubicBezTo>
                  <a:pt x="75051" y="519291"/>
                  <a:pt x="99223" y="476014"/>
                  <a:pt x="88778" y="435046"/>
                </a:cubicBezTo>
                <a:cubicBezTo>
                  <a:pt x="32303" y="397653"/>
                  <a:pt x="0" y="342160"/>
                  <a:pt x="0" y="282198"/>
                </a:cubicBezTo>
                <a:cubicBezTo>
                  <a:pt x="0" y="215532"/>
                  <a:pt x="40584" y="156538"/>
                  <a:pt x="102356" y="121231"/>
                </a:cubicBezTo>
                <a:close/>
                <a:moveTo>
                  <a:pt x="356424" y="0"/>
                </a:moveTo>
                <a:cubicBezTo>
                  <a:pt x="495540" y="0"/>
                  <a:pt x="608697" y="94747"/>
                  <a:pt x="608697" y="211244"/>
                </a:cubicBezTo>
                <a:cubicBezTo>
                  <a:pt x="608697" y="274408"/>
                  <a:pt x="575802" y="333178"/>
                  <a:pt x="518290" y="373401"/>
                </a:cubicBezTo>
                <a:cubicBezTo>
                  <a:pt x="512845" y="406324"/>
                  <a:pt x="531717" y="440811"/>
                  <a:pt x="531941" y="441109"/>
                </a:cubicBezTo>
                <a:cubicBezTo>
                  <a:pt x="536267" y="448781"/>
                  <a:pt x="535969" y="458092"/>
                  <a:pt x="531120" y="465391"/>
                </a:cubicBezTo>
                <a:cubicBezTo>
                  <a:pt x="526794" y="472021"/>
                  <a:pt x="519484" y="475894"/>
                  <a:pt x="511577" y="475894"/>
                </a:cubicBezTo>
                <a:cubicBezTo>
                  <a:pt x="510756" y="475894"/>
                  <a:pt x="509936" y="475894"/>
                  <a:pt x="509041" y="475745"/>
                </a:cubicBezTo>
                <a:cubicBezTo>
                  <a:pt x="484574" y="473064"/>
                  <a:pt x="444966" y="454442"/>
                  <a:pt x="391408" y="420476"/>
                </a:cubicBezTo>
                <a:cubicBezTo>
                  <a:pt x="379920" y="421817"/>
                  <a:pt x="368135" y="422487"/>
                  <a:pt x="356424" y="422487"/>
                </a:cubicBezTo>
                <a:cubicBezTo>
                  <a:pt x="217382" y="422487"/>
                  <a:pt x="104225" y="327741"/>
                  <a:pt x="104225" y="211244"/>
                </a:cubicBezTo>
                <a:cubicBezTo>
                  <a:pt x="104225" y="94747"/>
                  <a:pt x="217382" y="0"/>
                  <a:pt x="356424"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36" name="statistics-settings_72708"/>
          <p:cNvSpPr>
            <a:spLocks noChangeAspect="1"/>
          </p:cNvSpPr>
          <p:nvPr/>
        </p:nvSpPr>
        <p:spPr>
          <a:xfrm>
            <a:off x="9407621" y="3199557"/>
            <a:ext cx="224528" cy="216000"/>
          </a:xfrm>
          <a:custGeom>
            <a:avLst/>
            <a:gdLst>
              <a:gd name="connsiteX0" fmla="*/ 195114 w 608814"/>
              <a:gd name="connsiteY0" fmla="*/ 351627 h 585693"/>
              <a:gd name="connsiteX1" fmla="*/ 258290 w 608814"/>
              <a:gd name="connsiteY1" fmla="*/ 351627 h 585693"/>
              <a:gd name="connsiteX2" fmla="*/ 282731 w 608814"/>
              <a:gd name="connsiteY2" fmla="*/ 376018 h 585693"/>
              <a:gd name="connsiteX3" fmla="*/ 282731 w 608814"/>
              <a:gd name="connsiteY3" fmla="*/ 561210 h 585693"/>
              <a:gd name="connsiteX4" fmla="*/ 258290 w 608814"/>
              <a:gd name="connsiteY4" fmla="*/ 585693 h 585693"/>
              <a:gd name="connsiteX5" fmla="*/ 195114 w 608814"/>
              <a:gd name="connsiteY5" fmla="*/ 585693 h 585693"/>
              <a:gd name="connsiteX6" fmla="*/ 170673 w 608814"/>
              <a:gd name="connsiteY6" fmla="*/ 561210 h 585693"/>
              <a:gd name="connsiteX7" fmla="*/ 170673 w 608814"/>
              <a:gd name="connsiteY7" fmla="*/ 376018 h 585693"/>
              <a:gd name="connsiteX8" fmla="*/ 195114 w 608814"/>
              <a:gd name="connsiteY8" fmla="*/ 351627 h 585693"/>
              <a:gd name="connsiteX9" fmla="*/ 358100 w 608814"/>
              <a:gd name="connsiteY9" fmla="*/ 249872 h 585693"/>
              <a:gd name="connsiteX10" fmla="*/ 421316 w 608814"/>
              <a:gd name="connsiteY10" fmla="*/ 249872 h 585693"/>
              <a:gd name="connsiteX11" fmla="*/ 445737 w 608814"/>
              <a:gd name="connsiteY11" fmla="*/ 274267 h 585693"/>
              <a:gd name="connsiteX12" fmla="*/ 445737 w 608814"/>
              <a:gd name="connsiteY12" fmla="*/ 561206 h 585693"/>
              <a:gd name="connsiteX13" fmla="*/ 421316 w 608814"/>
              <a:gd name="connsiteY13" fmla="*/ 585693 h 585693"/>
              <a:gd name="connsiteX14" fmla="*/ 358100 w 608814"/>
              <a:gd name="connsiteY14" fmla="*/ 585693 h 585693"/>
              <a:gd name="connsiteX15" fmla="*/ 333679 w 608814"/>
              <a:gd name="connsiteY15" fmla="*/ 561206 h 585693"/>
              <a:gd name="connsiteX16" fmla="*/ 333679 w 608814"/>
              <a:gd name="connsiteY16" fmla="*/ 274267 h 585693"/>
              <a:gd name="connsiteX17" fmla="*/ 358100 w 608814"/>
              <a:gd name="connsiteY17" fmla="*/ 249872 h 585693"/>
              <a:gd name="connsiteX18" fmla="*/ 140260 w 608814"/>
              <a:gd name="connsiteY18" fmla="*/ 224680 h 585693"/>
              <a:gd name="connsiteX19" fmla="*/ 191844 w 608814"/>
              <a:gd name="connsiteY19" fmla="*/ 276122 h 585693"/>
              <a:gd name="connsiteX20" fmla="*/ 140260 w 608814"/>
              <a:gd name="connsiteY20" fmla="*/ 327564 h 585693"/>
              <a:gd name="connsiteX21" fmla="*/ 88676 w 608814"/>
              <a:gd name="connsiteY21" fmla="*/ 276122 h 585693"/>
              <a:gd name="connsiteX22" fmla="*/ 140260 w 608814"/>
              <a:gd name="connsiteY22" fmla="*/ 224680 h 585693"/>
              <a:gd name="connsiteX23" fmla="*/ 521177 w 608814"/>
              <a:gd name="connsiteY23" fmla="*/ 148117 h 585693"/>
              <a:gd name="connsiteX24" fmla="*/ 584301 w 608814"/>
              <a:gd name="connsiteY24" fmla="*/ 148117 h 585693"/>
              <a:gd name="connsiteX25" fmla="*/ 608814 w 608814"/>
              <a:gd name="connsiteY25" fmla="*/ 172601 h 585693"/>
              <a:gd name="connsiteX26" fmla="*/ 608814 w 608814"/>
              <a:gd name="connsiteY26" fmla="*/ 561209 h 585693"/>
              <a:gd name="connsiteX27" fmla="*/ 584301 w 608814"/>
              <a:gd name="connsiteY27" fmla="*/ 585693 h 585693"/>
              <a:gd name="connsiteX28" fmla="*/ 521177 w 608814"/>
              <a:gd name="connsiteY28" fmla="*/ 585693 h 585693"/>
              <a:gd name="connsiteX29" fmla="*/ 496756 w 608814"/>
              <a:gd name="connsiteY29" fmla="*/ 561209 h 585693"/>
              <a:gd name="connsiteX30" fmla="*/ 496756 w 608814"/>
              <a:gd name="connsiteY30" fmla="*/ 172601 h 585693"/>
              <a:gd name="connsiteX31" fmla="*/ 521177 w 608814"/>
              <a:gd name="connsiteY31" fmla="*/ 148117 h 585693"/>
              <a:gd name="connsiteX32" fmla="*/ 116229 w 608814"/>
              <a:gd name="connsiteY32" fmla="*/ 131322 h 585693"/>
              <a:gd name="connsiteX33" fmla="*/ 164246 w 608814"/>
              <a:gd name="connsiteY33" fmla="*/ 131322 h 585693"/>
              <a:gd name="connsiteX34" fmla="*/ 184061 w 608814"/>
              <a:gd name="connsiteY34" fmla="*/ 151113 h 585693"/>
              <a:gd name="connsiteX35" fmla="*/ 184061 w 608814"/>
              <a:gd name="connsiteY35" fmla="*/ 171457 h 585693"/>
              <a:gd name="connsiteX36" fmla="*/ 208669 w 608814"/>
              <a:gd name="connsiteY36" fmla="*/ 186094 h 585693"/>
              <a:gd name="connsiteX37" fmla="*/ 226641 w 608814"/>
              <a:gd name="connsiteY37" fmla="*/ 175692 h 585693"/>
              <a:gd name="connsiteX38" fmla="*/ 253737 w 608814"/>
              <a:gd name="connsiteY38" fmla="*/ 182964 h 585693"/>
              <a:gd name="connsiteX39" fmla="*/ 277792 w 608814"/>
              <a:gd name="connsiteY39" fmla="*/ 224572 h 585693"/>
              <a:gd name="connsiteX40" fmla="*/ 279727 w 608814"/>
              <a:gd name="connsiteY40" fmla="*/ 239577 h 585693"/>
              <a:gd name="connsiteX41" fmla="*/ 270511 w 608814"/>
              <a:gd name="connsiteY41" fmla="*/ 251544 h 585693"/>
              <a:gd name="connsiteX42" fmla="*/ 252355 w 608814"/>
              <a:gd name="connsiteY42" fmla="*/ 262038 h 585693"/>
              <a:gd name="connsiteX43" fmla="*/ 253829 w 608814"/>
              <a:gd name="connsiteY43" fmla="*/ 276122 h 585693"/>
              <a:gd name="connsiteX44" fmla="*/ 252355 w 608814"/>
              <a:gd name="connsiteY44" fmla="*/ 290206 h 585693"/>
              <a:gd name="connsiteX45" fmla="*/ 270511 w 608814"/>
              <a:gd name="connsiteY45" fmla="*/ 300700 h 585693"/>
              <a:gd name="connsiteX46" fmla="*/ 278714 w 608814"/>
              <a:gd name="connsiteY46" fmla="*/ 325094 h 585693"/>
              <a:gd name="connsiteX47" fmla="*/ 258253 w 608814"/>
              <a:gd name="connsiteY47" fmla="*/ 321136 h 585693"/>
              <a:gd name="connsiteX48" fmla="*/ 195858 w 608814"/>
              <a:gd name="connsiteY48" fmla="*/ 321136 h 585693"/>
              <a:gd name="connsiteX49" fmla="*/ 212171 w 608814"/>
              <a:gd name="connsiteY49" fmla="*/ 276122 h 585693"/>
              <a:gd name="connsiteX50" fmla="*/ 140191 w 608814"/>
              <a:gd name="connsiteY50" fmla="*/ 204320 h 585693"/>
              <a:gd name="connsiteX51" fmla="*/ 68304 w 608814"/>
              <a:gd name="connsiteY51" fmla="*/ 276122 h 585693"/>
              <a:gd name="connsiteX52" fmla="*/ 140191 w 608814"/>
              <a:gd name="connsiteY52" fmla="*/ 348016 h 585693"/>
              <a:gd name="connsiteX53" fmla="*/ 148486 w 608814"/>
              <a:gd name="connsiteY53" fmla="*/ 347095 h 585693"/>
              <a:gd name="connsiteX54" fmla="*/ 140099 w 608814"/>
              <a:gd name="connsiteY54" fmla="*/ 376000 h 585693"/>
              <a:gd name="connsiteX55" fmla="*/ 140099 w 608814"/>
              <a:gd name="connsiteY55" fmla="*/ 420922 h 585693"/>
              <a:gd name="connsiteX56" fmla="*/ 116229 w 608814"/>
              <a:gd name="connsiteY56" fmla="*/ 420922 h 585693"/>
              <a:gd name="connsiteX57" fmla="*/ 96413 w 608814"/>
              <a:gd name="connsiteY57" fmla="*/ 401131 h 585693"/>
              <a:gd name="connsiteX58" fmla="*/ 96413 w 608814"/>
              <a:gd name="connsiteY58" fmla="*/ 380787 h 585693"/>
              <a:gd name="connsiteX59" fmla="*/ 71806 w 608814"/>
              <a:gd name="connsiteY59" fmla="*/ 366150 h 585693"/>
              <a:gd name="connsiteX60" fmla="*/ 53742 w 608814"/>
              <a:gd name="connsiteY60" fmla="*/ 376552 h 585693"/>
              <a:gd name="connsiteX61" fmla="*/ 38719 w 608814"/>
              <a:gd name="connsiteY61" fmla="*/ 378577 h 585693"/>
              <a:gd name="connsiteX62" fmla="*/ 26738 w 608814"/>
              <a:gd name="connsiteY62" fmla="*/ 369372 h 585693"/>
              <a:gd name="connsiteX63" fmla="*/ 2683 w 608814"/>
              <a:gd name="connsiteY63" fmla="*/ 327764 h 585693"/>
              <a:gd name="connsiteX64" fmla="*/ 9872 w 608814"/>
              <a:gd name="connsiteY64" fmla="*/ 300700 h 585693"/>
              <a:gd name="connsiteX65" fmla="*/ 28120 w 608814"/>
              <a:gd name="connsiteY65" fmla="*/ 290206 h 585693"/>
              <a:gd name="connsiteX66" fmla="*/ 26645 w 608814"/>
              <a:gd name="connsiteY66" fmla="*/ 276122 h 585693"/>
              <a:gd name="connsiteX67" fmla="*/ 28120 w 608814"/>
              <a:gd name="connsiteY67" fmla="*/ 262038 h 585693"/>
              <a:gd name="connsiteX68" fmla="*/ 9872 w 608814"/>
              <a:gd name="connsiteY68" fmla="*/ 251544 h 585693"/>
              <a:gd name="connsiteX69" fmla="*/ 2683 w 608814"/>
              <a:gd name="connsiteY69" fmla="*/ 224572 h 585693"/>
              <a:gd name="connsiteX70" fmla="*/ 26738 w 608814"/>
              <a:gd name="connsiteY70" fmla="*/ 182964 h 585693"/>
              <a:gd name="connsiteX71" fmla="*/ 38719 w 608814"/>
              <a:gd name="connsiteY71" fmla="*/ 173759 h 585693"/>
              <a:gd name="connsiteX72" fmla="*/ 53742 w 608814"/>
              <a:gd name="connsiteY72" fmla="*/ 175692 h 585693"/>
              <a:gd name="connsiteX73" fmla="*/ 71806 w 608814"/>
              <a:gd name="connsiteY73" fmla="*/ 186094 h 585693"/>
              <a:gd name="connsiteX74" fmla="*/ 96413 w 608814"/>
              <a:gd name="connsiteY74" fmla="*/ 171457 h 585693"/>
              <a:gd name="connsiteX75" fmla="*/ 96413 w 608814"/>
              <a:gd name="connsiteY75" fmla="*/ 151113 h 585693"/>
              <a:gd name="connsiteX76" fmla="*/ 116229 w 608814"/>
              <a:gd name="connsiteY76" fmla="*/ 131322 h 585693"/>
              <a:gd name="connsiteX77" fmla="*/ 445756 w 608814"/>
              <a:gd name="connsiteY77" fmla="*/ 83476 h 585693"/>
              <a:gd name="connsiteX78" fmla="*/ 414140 w 608814"/>
              <a:gd name="connsiteY78" fmla="*/ 115044 h 585693"/>
              <a:gd name="connsiteX79" fmla="*/ 445756 w 608814"/>
              <a:gd name="connsiteY79" fmla="*/ 146520 h 585693"/>
              <a:gd name="connsiteX80" fmla="*/ 477371 w 608814"/>
              <a:gd name="connsiteY80" fmla="*/ 115044 h 585693"/>
              <a:gd name="connsiteX81" fmla="*/ 445756 w 608814"/>
              <a:gd name="connsiteY81" fmla="*/ 83476 h 585693"/>
              <a:gd name="connsiteX82" fmla="*/ 426676 w 608814"/>
              <a:gd name="connsiteY82" fmla="*/ 0 h 585693"/>
              <a:gd name="connsiteX83" fmla="*/ 464835 w 608814"/>
              <a:gd name="connsiteY83" fmla="*/ 0 h 585693"/>
              <a:gd name="connsiteX84" fmla="*/ 480597 w 608814"/>
              <a:gd name="connsiteY84" fmla="*/ 15738 h 585693"/>
              <a:gd name="connsiteX85" fmla="*/ 480597 w 608814"/>
              <a:gd name="connsiteY85" fmla="*/ 31936 h 585693"/>
              <a:gd name="connsiteX86" fmla="*/ 500138 w 608814"/>
              <a:gd name="connsiteY86" fmla="*/ 43533 h 585693"/>
              <a:gd name="connsiteX87" fmla="*/ 514425 w 608814"/>
              <a:gd name="connsiteY87" fmla="*/ 35249 h 585693"/>
              <a:gd name="connsiteX88" fmla="*/ 535901 w 608814"/>
              <a:gd name="connsiteY88" fmla="*/ 40956 h 585693"/>
              <a:gd name="connsiteX89" fmla="*/ 554981 w 608814"/>
              <a:gd name="connsiteY89" fmla="*/ 73996 h 585693"/>
              <a:gd name="connsiteX90" fmla="*/ 556640 w 608814"/>
              <a:gd name="connsiteY90" fmla="*/ 85961 h 585693"/>
              <a:gd name="connsiteX91" fmla="*/ 549266 w 608814"/>
              <a:gd name="connsiteY91" fmla="*/ 95440 h 585693"/>
              <a:gd name="connsiteX92" fmla="*/ 534887 w 608814"/>
              <a:gd name="connsiteY92" fmla="*/ 103815 h 585693"/>
              <a:gd name="connsiteX93" fmla="*/ 535993 w 608814"/>
              <a:gd name="connsiteY93" fmla="*/ 115044 h 585693"/>
              <a:gd name="connsiteX94" fmla="*/ 535717 w 608814"/>
              <a:gd name="connsiteY94" fmla="*/ 117621 h 585693"/>
              <a:gd name="connsiteX95" fmla="*/ 521153 w 608814"/>
              <a:gd name="connsiteY95" fmla="*/ 117621 h 585693"/>
              <a:gd name="connsiteX96" fmla="*/ 466126 w 608814"/>
              <a:gd name="connsiteY96" fmla="*/ 172565 h 585693"/>
              <a:gd name="connsiteX97" fmla="*/ 466126 w 608814"/>
              <a:gd name="connsiteY97" fmla="*/ 229719 h 585693"/>
              <a:gd name="connsiteX98" fmla="*/ 466126 w 608814"/>
              <a:gd name="connsiteY98" fmla="*/ 242604 h 585693"/>
              <a:gd name="connsiteX99" fmla="*/ 453590 w 608814"/>
              <a:gd name="connsiteY99" fmla="*/ 229995 h 585693"/>
              <a:gd name="connsiteX100" fmla="*/ 421330 w 608814"/>
              <a:gd name="connsiteY100" fmla="*/ 219319 h 585693"/>
              <a:gd name="connsiteX101" fmla="*/ 411928 w 608814"/>
              <a:gd name="connsiteY101" fmla="*/ 219319 h 585693"/>
              <a:gd name="connsiteX102" fmla="*/ 410914 w 608814"/>
              <a:gd name="connsiteY102" fmla="*/ 214257 h 585693"/>
              <a:gd name="connsiteX103" fmla="*/ 410914 w 608814"/>
              <a:gd name="connsiteY103" fmla="*/ 198059 h 585693"/>
              <a:gd name="connsiteX104" fmla="*/ 391373 w 608814"/>
              <a:gd name="connsiteY104" fmla="*/ 186463 h 585693"/>
              <a:gd name="connsiteX105" fmla="*/ 377086 w 608814"/>
              <a:gd name="connsiteY105" fmla="*/ 194746 h 585693"/>
              <a:gd name="connsiteX106" fmla="*/ 365104 w 608814"/>
              <a:gd name="connsiteY106" fmla="*/ 196310 h 585693"/>
              <a:gd name="connsiteX107" fmla="*/ 355610 w 608814"/>
              <a:gd name="connsiteY107" fmla="*/ 189040 h 585693"/>
              <a:gd name="connsiteX108" fmla="*/ 336530 w 608814"/>
              <a:gd name="connsiteY108" fmla="*/ 155999 h 585693"/>
              <a:gd name="connsiteX109" fmla="*/ 342245 w 608814"/>
              <a:gd name="connsiteY109" fmla="*/ 134463 h 585693"/>
              <a:gd name="connsiteX110" fmla="*/ 356716 w 608814"/>
              <a:gd name="connsiteY110" fmla="*/ 126180 h 585693"/>
              <a:gd name="connsiteX111" fmla="*/ 355518 w 608814"/>
              <a:gd name="connsiteY111" fmla="*/ 115044 h 585693"/>
              <a:gd name="connsiteX112" fmla="*/ 356716 w 608814"/>
              <a:gd name="connsiteY112" fmla="*/ 103815 h 585693"/>
              <a:gd name="connsiteX113" fmla="*/ 342245 w 608814"/>
              <a:gd name="connsiteY113" fmla="*/ 95440 h 585693"/>
              <a:gd name="connsiteX114" fmla="*/ 336530 w 608814"/>
              <a:gd name="connsiteY114" fmla="*/ 73996 h 585693"/>
              <a:gd name="connsiteX115" fmla="*/ 355610 w 608814"/>
              <a:gd name="connsiteY115" fmla="*/ 40956 h 585693"/>
              <a:gd name="connsiteX116" fmla="*/ 365104 w 608814"/>
              <a:gd name="connsiteY116" fmla="*/ 33685 h 585693"/>
              <a:gd name="connsiteX117" fmla="*/ 377086 w 608814"/>
              <a:gd name="connsiteY117" fmla="*/ 35249 h 585693"/>
              <a:gd name="connsiteX118" fmla="*/ 391373 w 608814"/>
              <a:gd name="connsiteY118" fmla="*/ 43533 h 585693"/>
              <a:gd name="connsiteX119" fmla="*/ 410914 w 608814"/>
              <a:gd name="connsiteY119" fmla="*/ 31936 h 585693"/>
              <a:gd name="connsiteX120" fmla="*/ 410914 w 608814"/>
              <a:gd name="connsiteY120" fmla="*/ 15738 h 585693"/>
              <a:gd name="connsiteX121" fmla="*/ 426676 w 608814"/>
              <a:gd name="connsiteY121" fmla="*/ 0 h 58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08814" h="585693">
                <a:moveTo>
                  <a:pt x="195114" y="351627"/>
                </a:moveTo>
                <a:lnTo>
                  <a:pt x="258290" y="351627"/>
                </a:lnTo>
                <a:cubicBezTo>
                  <a:pt x="271848" y="351627"/>
                  <a:pt x="282731" y="362580"/>
                  <a:pt x="282731" y="376018"/>
                </a:cubicBezTo>
                <a:lnTo>
                  <a:pt x="282731" y="561210"/>
                </a:lnTo>
                <a:cubicBezTo>
                  <a:pt x="282731" y="574740"/>
                  <a:pt x="271848" y="585693"/>
                  <a:pt x="258290" y="585693"/>
                </a:cubicBezTo>
                <a:lnTo>
                  <a:pt x="195114" y="585693"/>
                </a:lnTo>
                <a:cubicBezTo>
                  <a:pt x="181556" y="585693"/>
                  <a:pt x="170673" y="574740"/>
                  <a:pt x="170673" y="561210"/>
                </a:cubicBezTo>
                <a:lnTo>
                  <a:pt x="170673" y="376018"/>
                </a:lnTo>
                <a:cubicBezTo>
                  <a:pt x="170673" y="362580"/>
                  <a:pt x="181556" y="351627"/>
                  <a:pt x="195114" y="351627"/>
                </a:cubicBezTo>
                <a:close/>
                <a:moveTo>
                  <a:pt x="358100" y="249872"/>
                </a:moveTo>
                <a:lnTo>
                  <a:pt x="421316" y="249872"/>
                </a:lnTo>
                <a:cubicBezTo>
                  <a:pt x="434771" y="249872"/>
                  <a:pt x="445737" y="260735"/>
                  <a:pt x="445737" y="274267"/>
                </a:cubicBezTo>
                <a:lnTo>
                  <a:pt x="445737" y="561206"/>
                </a:lnTo>
                <a:cubicBezTo>
                  <a:pt x="445737" y="574738"/>
                  <a:pt x="434771" y="585693"/>
                  <a:pt x="421316" y="585693"/>
                </a:cubicBezTo>
                <a:lnTo>
                  <a:pt x="358100" y="585693"/>
                </a:lnTo>
                <a:cubicBezTo>
                  <a:pt x="344645" y="585693"/>
                  <a:pt x="333679" y="574738"/>
                  <a:pt x="333679" y="561206"/>
                </a:cubicBezTo>
                <a:lnTo>
                  <a:pt x="333679" y="274267"/>
                </a:lnTo>
                <a:cubicBezTo>
                  <a:pt x="333679" y="260735"/>
                  <a:pt x="344645" y="249872"/>
                  <a:pt x="358100" y="249872"/>
                </a:cubicBezTo>
                <a:close/>
                <a:moveTo>
                  <a:pt x="140260" y="224680"/>
                </a:moveTo>
                <a:cubicBezTo>
                  <a:pt x="168749" y="224680"/>
                  <a:pt x="191844" y="247711"/>
                  <a:pt x="191844" y="276122"/>
                </a:cubicBezTo>
                <a:cubicBezTo>
                  <a:pt x="191844" y="304533"/>
                  <a:pt x="168749" y="327564"/>
                  <a:pt x="140260" y="327564"/>
                </a:cubicBezTo>
                <a:cubicBezTo>
                  <a:pt x="111771" y="327564"/>
                  <a:pt x="88676" y="304533"/>
                  <a:pt x="88676" y="276122"/>
                </a:cubicBezTo>
                <a:cubicBezTo>
                  <a:pt x="88676" y="247711"/>
                  <a:pt x="111771" y="224680"/>
                  <a:pt x="140260" y="224680"/>
                </a:cubicBezTo>
                <a:close/>
                <a:moveTo>
                  <a:pt x="521177" y="148117"/>
                </a:moveTo>
                <a:lnTo>
                  <a:pt x="584301" y="148117"/>
                </a:lnTo>
                <a:cubicBezTo>
                  <a:pt x="597848" y="148117"/>
                  <a:pt x="608814" y="159070"/>
                  <a:pt x="608814" y="172601"/>
                </a:cubicBezTo>
                <a:lnTo>
                  <a:pt x="608814" y="561209"/>
                </a:lnTo>
                <a:cubicBezTo>
                  <a:pt x="608814" y="574740"/>
                  <a:pt x="597848" y="585693"/>
                  <a:pt x="584301" y="585693"/>
                </a:cubicBezTo>
                <a:lnTo>
                  <a:pt x="521177" y="585693"/>
                </a:lnTo>
                <a:cubicBezTo>
                  <a:pt x="507722" y="585693"/>
                  <a:pt x="496756" y="574740"/>
                  <a:pt x="496756" y="561209"/>
                </a:cubicBezTo>
                <a:lnTo>
                  <a:pt x="496756" y="172601"/>
                </a:lnTo>
                <a:cubicBezTo>
                  <a:pt x="496756" y="159070"/>
                  <a:pt x="507722" y="148117"/>
                  <a:pt x="521177" y="148117"/>
                </a:cubicBezTo>
                <a:close/>
                <a:moveTo>
                  <a:pt x="116229" y="131322"/>
                </a:moveTo>
                <a:lnTo>
                  <a:pt x="164246" y="131322"/>
                </a:lnTo>
                <a:cubicBezTo>
                  <a:pt x="175214" y="131322"/>
                  <a:pt x="184061" y="140159"/>
                  <a:pt x="184061" y="151113"/>
                </a:cubicBezTo>
                <a:lnTo>
                  <a:pt x="184061" y="171457"/>
                </a:lnTo>
                <a:cubicBezTo>
                  <a:pt x="193001" y="175231"/>
                  <a:pt x="201019" y="180386"/>
                  <a:pt x="208669" y="186094"/>
                </a:cubicBezTo>
                <a:lnTo>
                  <a:pt x="226641" y="175692"/>
                </a:lnTo>
                <a:cubicBezTo>
                  <a:pt x="236134" y="170261"/>
                  <a:pt x="248300" y="173482"/>
                  <a:pt x="253737" y="182964"/>
                </a:cubicBezTo>
                <a:lnTo>
                  <a:pt x="277792" y="224572"/>
                </a:lnTo>
                <a:cubicBezTo>
                  <a:pt x="280465" y="229083"/>
                  <a:pt x="281110" y="234514"/>
                  <a:pt x="279727" y="239577"/>
                </a:cubicBezTo>
                <a:cubicBezTo>
                  <a:pt x="278437" y="244640"/>
                  <a:pt x="275119" y="248966"/>
                  <a:pt x="270511" y="251544"/>
                </a:cubicBezTo>
                <a:lnTo>
                  <a:pt x="252355" y="262038"/>
                </a:lnTo>
                <a:cubicBezTo>
                  <a:pt x="253000" y="266733"/>
                  <a:pt x="253829" y="271335"/>
                  <a:pt x="253829" y="276122"/>
                </a:cubicBezTo>
                <a:cubicBezTo>
                  <a:pt x="253829" y="281001"/>
                  <a:pt x="253000" y="285604"/>
                  <a:pt x="252355" y="290206"/>
                </a:cubicBezTo>
                <a:lnTo>
                  <a:pt x="270511" y="300700"/>
                </a:lnTo>
                <a:cubicBezTo>
                  <a:pt x="279174" y="305671"/>
                  <a:pt x="282308" y="316165"/>
                  <a:pt x="278714" y="325094"/>
                </a:cubicBezTo>
                <a:cubicBezTo>
                  <a:pt x="272354" y="322609"/>
                  <a:pt x="265442" y="321136"/>
                  <a:pt x="258253" y="321136"/>
                </a:cubicBezTo>
                <a:lnTo>
                  <a:pt x="195858" y="321136"/>
                </a:lnTo>
                <a:cubicBezTo>
                  <a:pt x="205904" y="308709"/>
                  <a:pt x="212171" y="293244"/>
                  <a:pt x="212171" y="276122"/>
                </a:cubicBezTo>
                <a:cubicBezTo>
                  <a:pt x="212171" y="236539"/>
                  <a:pt x="179914" y="204320"/>
                  <a:pt x="140191" y="204320"/>
                </a:cubicBezTo>
                <a:cubicBezTo>
                  <a:pt x="100561" y="204320"/>
                  <a:pt x="68304" y="236539"/>
                  <a:pt x="68304" y="276122"/>
                </a:cubicBezTo>
                <a:cubicBezTo>
                  <a:pt x="68304" y="315797"/>
                  <a:pt x="100561" y="348016"/>
                  <a:pt x="140191" y="348016"/>
                </a:cubicBezTo>
                <a:cubicBezTo>
                  <a:pt x="143048" y="348016"/>
                  <a:pt x="145721" y="347463"/>
                  <a:pt x="148486" y="347095"/>
                </a:cubicBezTo>
                <a:cubicBezTo>
                  <a:pt x="143233" y="355564"/>
                  <a:pt x="140099" y="365414"/>
                  <a:pt x="140099" y="376000"/>
                </a:cubicBezTo>
                <a:lnTo>
                  <a:pt x="140099" y="420922"/>
                </a:lnTo>
                <a:lnTo>
                  <a:pt x="116229" y="420922"/>
                </a:lnTo>
                <a:cubicBezTo>
                  <a:pt x="105261" y="420922"/>
                  <a:pt x="96413" y="412085"/>
                  <a:pt x="96413" y="401131"/>
                </a:cubicBezTo>
                <a:lnTo>
                  <a:pt x="96413" y="380787"/>
                </a:lnTo>
                <a:cubicBezTo>
                  <a:pt x="87474" y="377013"/>
                  <a:pt x="79455" y="371950"/>
                  <a:pt x="71806" y="366150"/>
                </a:cubicBezTo>
                <a:lnTo>
                  <a:pt x="53742" y="376552"/>
                </a:lnTo>
                <a:cubicBezTo>
                  <a:pt x="49226" y="379222"/>
                  <a:pt x="43788" y="379866"/>
                  <a:pt x="38719" y="378577"/>
                </a:cubicBezTo>
                <a:cubicBezTo>
                  <a:pt x="33650" y="377197"/>
                  <a:pt x="29318" y="373883"/>
                  <a:pt x="26738" y="369372"/>
                </a:cubicBezTo>
                <a:lnTo>
                  <a:pt x="2683" y="327764"/>
                </a:lnTo>
                <a:cubicBezTo>
                  <a:pt x="-2847" y="318282"/>
                  <a:pt x="471" y="306131"/>
                  <a:pt x="9872" y="300700"/>
                </a:cubicBezTo>
                <a:lnTo>
                  <a:pt x="28120" y="290206"/>
                </a:lnTo>
                <a:cubicBezTo>
                  <a:pt x="27475" y="285604"/>
                  <a:pt x="26645" y="281001"/>
                  <a:pt x="26645" y="276122"/>
                </a:cubicBezTo>
                <a:cubicBezTo>
                  <a:pt x="26645" y="271335"/>
                  <a:pt x="27475" y="266733"/>
                  <a:pt x="28120" y="262038"/>
                </a:cubicBezTo>
                <a:lnTo>
                  <a:pt x="9872" y="251544"/>
                </a:lnTo>
                <a:cubicBezTo>
                  <a:pt x="471" y="246113"/>
                  <a:pt x="-2847" y="233962"/>
                  <a:pt x="2683" y="224572"/>
                </a:cubicBezTo>
                <a:lnTo>
                  <a:pt x="26738" y="182964"/>
                </a:lnTo>
                <a:cubicBezTo>
                  <a:pt x="29318" y="178361"/>
                  <a:pt x="33650" y="175139"/>
                  <a:pt x="38719" y="173759"/>
                </a:cubicBezTo>
                <a:cubicBezTo>
                  <a:pt x="43788" y="172378"/>
                  <a:pt x="49226" y="173114"/>
                  <a:pt x="53742" y="175692"/>
                </a:cubicBezTo>
                <a:lnTo>
                  <a:pt x="71806" y="186094"/>
                </a:lnTo>
                <a:cubicBezTo>
                  <a:pt x="79455" y="180386"/>
                  <a:pt x="87474" y="175231"/>
                  <a:pt x="96413" y="171457"/>
                </a:cubicBezTo>
                <a:lnTo>
                  <a:pt x="96413" y="151113"/>
                </a:lnTo>
                <a:cubicBezTo>
                  <a:pt x="96413" y="140159"/>
                  <a:pt x="105261" y="131322"/>
                  <a:pt x="116229" y="131322"/>
                </a:cubicBezTo>
                <a:close/>
                <a:moveTo>
                  <a:pt x="445756" y="83476"/>
                </a:moveTo>
                <a:cubicBezTo>
                  <a:pt x="428335" y="83476"/>
                  <a:pt x="414140" y="97557"/>
                  <a:pt x="414140" y="115044"/>
                </a:cubicBezTo>
                <a:cubicBezTo>
                  <a:pt x="414140" y="132438"/>
                  <a:pt x="428335" y="146520"/>
                  <a:pt x="445756" y="146520"/>
                </a:cubicBezTo>
                <a:cubicBezTo>
                  <a:pt x="463176" y="146520"/>
                  <a:pt x="477371" y="132438"/>
                  <a:pt x="477371" y="115044"/>
                </a:cubicBezTo>
                <a:cubicBezTo>
                  <a:pt x="477371" y="97557"/>
                  <a:pt x="463176" y="83476"/>
                  <a:pt x="445756" y="83476"/>
                </a:cubicBezTo>
                <a:close/>
                <a:moveTo>
                  <a:pt x="426676" y="0"/>
                </a:moveTo>
                <a:lnTo>
                  <a:pt x="464835" y="0"/>
                </a:lnTo>
                <a:cubicBezTo>
                  <a:pt x="473500" y="0"/>
                  <a:pt x="480597" y="7087"/>
                  <a:pt x="480597" y="15738"/>
                </a:cubicBezTo>
                <a:lnTo>
                  <a:pt x="480597" y="31936"/>
                </a:lnTo>
                <a:cubicBezTo>
                  <a:pt x="487694" y="34881"/>
                  <a:pt x="494054" y="38931"/>
                  <a:pt x="500138" y="43533"/>
                </a:cubicBezTo>
                <a:lnTo>
                  <a:pt x="514425" y="35249"/>
                </a:lnTo>
                <a:cubicBezTo>
                  <a:pt x="521983" y="30924"/>
                  <a:pt x="531569" y="33501"/>
                  <a:pt x="535901" y="40956"/>
                </a:cubicBezTo>
                <a:lnTo>
                  <a:pt x="554981" y="73996"/>
                </a:lnTo>
                <a:cubicBezTo>
                  <a:pt x="557101" y="77585"/>
                  <a:pt x="557654" y="81911"/>
                  <a:pt x="556640" y="85961"/>
                </a:cubicBezTo>
                <a:cubicBezTo>
                  <a:pt x="555534" y="89918"/>
                  <a:pt x="552861" y="93415"/>
                  <a:pt x="549266" y="95440"/>
                </a:cubicBezTo>
                <a:lnTo>
                  <a:pt x="534887" y="103815"/>
                </a:lnTo>
                <a:cubicBezTo>
                  <a:pt x="535348" y="107497"/>
                  <a:pt x="535993" y="111178"/>
                  <a:pt x="535993" y="115044"/>
                </a:cubicBezTo>
                <a:cubicBezTo>
                  <a:pt x="535993" y="115872"/>
                  <a:pt x="535809" y="116700"/>
                  <a:pt x="535717" y="117621"/>
                </a:cubicBezTo>
                <a:lnTo>
                  <a:pt x="521153" y="117621"/>
                </a:lnTo>
                <a:cubicBezTo>
                  <a:pt x="490828" y="117621"/>
                  <a:pt x="466126" y="142286"/>
                  <a:pt x="466126" y="172565"/>
                </a:cubicBezTo>
                <a:lnTo>
                  <a:pt x="466126" y="229719"/>
                </a:lnTo>
                <a:lnTo>
                  <a:pt x="466126" y="242604"/>
                </a:lnTo>
                <a:cubicBezTo>
                  <a:pt x="462715" y="237726"/>
                  <a:pt x="458383" y="233493"/>
                  <a:pt x="453590" y="229995"/>
                </a:cubicBezTo>
                <a:cubicBezTo>
                  <a:pt x="444465" y="223369"/>
                  <a:pt x="433404" y="219319"/>
                  <a:pt x="421330" y="219319"/>
                </a:cubicBezTo>
                <a:lnTo>
                  <a:pt x="411928" y="219319"/>
                </a:lnTo>
                <a:cubicBezTo>
                  <a:pt x="411375" y="217755"/>
                  <a:pt x="410914" y="216098"/>
                  <a:pt x="410914" y="214257"/>
                </a:cubicBezTo>
                <a:lnTo>
                  <a:pt x="410914" y="198059"/>
                </a:lnTo>
                <a:cubicBezTo>
                  <a:pt x="403817" y="195114"/>
                  <a:pt x="397457" y="191064"/>
                  <a:pt x="391373" y="186463"/>
                </a:cubicBezTo>
                <a:lnTo>
                  <a:pt x="377086" y="194746"/>
                </a:lnTo>
                <a:cubicBezTo>
                  <a:pt x="373492" y="196863"/>
                  <a:pt x="369160" y="197415"/>
                  <a:pt x="365104" y="196310"/>
                </a:cubicBezTo>
                <a:cubicBezTo>
                  <a:pt x="361140" y="195206"/>
                  <a:pt x="357638" y="192629"/>
                  <a:pt x="355610" y="189040"/>
                </a:cubicBezTo>
                <a:lnTo>
                  <a:pt x="336530" y="155999"/>
                </a:lnTo>
                <a:cubicBezTo>
                  <a:pt x="332198" y="148452"/>
                  <a:pt x="334687" y="138881"/>
                  <a:pt x="342245" y="134463"/>
                </a:cubicBezTo>
                <a:lnTo>
                  <a:pt x="356716" y="126180"/>
                </a:lnTo>
                <a:cubicBezTo>
                  <a:pt x="356163" y="122498"/>
                  <a:pt x="355518" y="118817"/>
                  <a:pt x="355518" y="115044"/>
                </a:cubicBezTo>
                <a:cubicBezTo>
                  <a:pt x="355518" y="111178"/>
                  <a:pt x="356163" y="107497"/>
                  <a:pt x="356716" y="103815"/>
                </a:cubicBezTo>
                <a:lnTo>
                  <a:pt x="342245" y="95440"/>
                </a:lnTo>
                <a:cubicBezTo>
                  <a:pt x="334687" y="91115"/>
                  <a:pt x="332198" y="81543"/>
                  <a:pt x="336530" y="73996"/>
                </a:cubicBezTo>
                <a:lnTo>
                  <a:pt x="355610" y="40956"/>
                </a:lnTo>
                <a:cubicBezTo>
                  <a:pt x="357638" y="37366"/>
                  <a:pt x="361140" y="34789"/>
                  <a:pt x="365104" y="33685"/>
                </a:cubicBezTo>
                <a:cubicBezTo>
                  <a:pt x="369160" y="32580"/>
                  <a:pt x="373492" y="33133"/>
                  <a:pt x="377086" y="35249"/>
                </a:cubicBezTo>
                <a:lnTo>
                  <a:pt x="391373" y="43533"/>
                </a:lnTo>
                <a:cubicBezTo>
                  <a:pt x="397457" y="38931"/>
                  <a:pt x="403817" y="34881"/>
                  <a:pt x="410914" y="31936"/>
                </a:cubicBezTo>
                <a:lnTo>
                  <a:pt x="410914" y="15738"/>
                </a:lnTo>
                <a:cubicBezTo>
                  <a:pt x="410914" y="7087"/>
                  <a:pt x="418011" y="0"/>
                  <a:pt x="426676" y="0"/>
                </a:cubicBez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39" name="Line"/>
          <p:cNvSpPr/>
          <p:nvPr/>
        </p:nvSpPr>
        <p:spPr>
          <a:xfrm flipH="1" flipV="1">
            <a:off x="4348842" y="4358726"/>
            <a:ext cx="994230" cy="0"/>
          </a:xfrm>
          <a:prstGeom prst="line">
            <a:avLst/>
          </a:prstGeom>
          <a:noFill/>
          <a:ln w="15875" cap="rnd">
            <a:solidFill>
              <a:srgbClr val="B3D4FE"/>
            </a:solidFill>
            <a:prstDash val="solid"/>
            <a:round/>
            <a:headEnd type="triangle"/>
            <a:tailEnd type="none" w="med" len="med"/>
          </a:ln>
          <a:effectLst/>
        </p:spPr>
        <p:txBody>
          <a:bodyPr wrap="square" lIns="0" tIns="0" rIns="0" bIns="0" numCol="1" anchor="t">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40"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5831128" y="4382064"/>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项目规划：明确目标</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43" name="文本框 242"/>
          <p:cNvSpPr txBox="1"/>
          <p:nvPr/>
        </p:nvSpPr>
        <p:spPr>
          <a:xfrm flipH="1">
            <a:off x="1454468" y="4318008"/>
            <a:ext cx="1710007" cy="309765"/>
          </a:xfrm>
          <a:prstGeom prst="rect">
            <a:avLst/>
          </a:prstGeom>
          <a:noFill/>
        </p:spPr>
        <p:txBody>
          <a:bodyPr wrap="square" lIns="0" tIns="0" rIns="0" bIns="0" rtlCol="0" anchor="t">
            <a:noAutofit/>
          </a:bodyPr>
          <a:lstStyle/>
          <a:p>
            <a:pPr marL="0" marR="0" lvl="0" indent="0" algn="l"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rPr>
              <a:t>进行产品技术评估，提升产品性能和用户体验</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4" name="文本框 243"/>
          <p:cNvSpPr txBox="1"/>
          <p:nvPr/>
        </p:nvSpPr>
        <p:spPr>
          <a:xfrm flipH="1">
            <a:off x="1454468" y="4094525"/>
            <a:ext cx="1227576" cy="184150"/>
          </a:xfrm>
          <a:prstGeom prst="rect">
            <a:avLst/>
          </a:prstGeom>
          <a:noFill/>
        </p:spPr>
        <p:txBody>
          <a:bodyPr wrap="square" lIns="0" tIns="0" rIns="0" bIns="0" rtlCol="0">
            <a:spAutoFit/>
          </a:bodyPr>
          <a:lstStyle/>
          <a:p>
            <a:pPr lvl="0">
              <a:defRPr>
                <a:latin typeface="微软雅黑"/>
                <a:ea typeface="微软雅黑"/>
                <a:cs typeface="微软雅黑"/>
              </a:defRPr>
            </a:pPr>
            <a:r>
              <a:rPr lang="zh-CN" altLang="en-US" sz="1200" b="1" dirty="0">
                <a:solidFill>
                  <a:srgbClr val="383838"/>
                </a:solidFill>
                <a:latin typeface="微软雅黑"/>
                <a:ea typeface="微软雅黑"/>
                <a:cs typeface="微软雅黑"/>
              </a:rPr>
              <a:t>项目启动</a:t>
            </a:r>
            <a:endPar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45" name="直接连接符 729"/>
          <p:cNvCxnSpPr/>
          <p:nvPr/>
        </p:nvCxnSpPr>
        <p:spPr>
          <a:xfrm>
            <a:off x="7255681" y="4063882"/>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47" name="直接连接符 729"/>
          <p:cNvCxnSpPr/>
          <p:nvPr/>
        </p:nvCxnSpPr>
        <p:spPr>
          <a:xfrm>
            <a:off x="8768795" y="4063882"/>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48" name="直接连接符 729"/>
          <p:cNvCxnSpPr/>
          <p:nvPr/>
        </p:nvCxnSpPr>
        <p:spPr>
          <a:xfrm>
            <a:off x="10281909" y="4063882"/>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sp>
        <p:nvSpPr>
          <p:cNvPr id="249" name="flag-pole-with-black-flag_38306"/>
          <p:cNvSpPr>
            <a:spLocks noChangeAspect="1"/>
          </p:cNvSpPr>
          <p:nvPr/>
        </p:nvSpPr>
        <p:spPr>
          <a:xfrm>
            <a:off x="6443861" y="4133665"/>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50"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7322471" y="4382064"/>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团队组建：召集人员</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5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8847384" y="4382064"/>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资源配置：分配资源</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5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10371384" y="4382064"/>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项目启动：开始实施</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53" name="flag-pole-with-black-flag_38306"/>
          <p:cNvSpPr>
            <a:spLocks noChangeAspect="1"/>
          </p:cNvSpPr>
          <p:nvPr/>
        </p:nvSpPr>
        <p:spPr>
          <a:xfrm>
            <a:off x="10984117" y="4133665"/>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54" name="live-chat_72439"/>
          <p:cNvSpPr>
            <a:spLocks noChangeAspect="1"/>
          </p:cNvSpPr>
          <p:nvPr/>
        </p:nvSpPr>
        <p:spPr>
          <a:xfrm>
            <a:off x="7915696" y="4161070"/>
            <a:ext cx="206199" cy="180000"/>
          </a:xfrm>
          <a:custGeom>
            <a:avLst/>
            <a:gdLst>
              <a:gd name="connsiteX0" fmla="*/ 424975 w 608697"/>
              <a:gd name="connsiteY0" fmla="*/ 168488 h 531358"/>
              <a:gd name="connsiteX1" fmla="*/ 387604 w 608697"/>
              <a:gd name="connsiteY1" fmla="*/ 205806 h 531358"/>
              <a:gd name="connsiteX2" fmla="*/ 424975 w 608697"/>
              <a:gd name="connsiteY2" fmla="*/ 243124 h 531358"/>
              <a:gd name="connsiteX3" fmla="*/ 462346 w 608697"/>
              <a:gd name="connsiteY3" fmla="*/ 205806 h 531358"/>
              <a:gd name="connsiteX4" fmla="*/ 424975 w 608697"/>
              <a:gd name="connsiteY4" fmla="*/ 168488 h 531358"/>
              <a:gd name="connsiteX5" fmla="*/ 287947 w 608697"/>
              <a:gd name="connsiteY5" fmla="*/ 168488 h 531358"/>
              <a:gd name="connsiteX6" fmla="*/ 250576 w 608697"/>
              <a:gd name="connsiteY6" fmla="*/ 205806 h 531358"/>
              <a:gd name="connsiteX7" fmla="*/ 287947 w 608697"/>
              <a:gd name="connsiteY7" fmla="*/ 243124 h 531358"/>
              <a:gd name="connsiteX8" fmla="*/ 325318 w 608697"/>
              <a:gd name="connsiteY8" fmla="*/ 205806 h 531358"/>
              <a:gd name="connsiteX9" fmla="*/ 287947 w 608697"/>
              <a:gd name="connsiteY9" fmla="*/ 168488 h 531358"/>
              <a:gd name="connsiteX10" fmla="*/ 102356 w 608697"/>
              <a:gd name="connsiteY10" fmla="*/ 121231 h 531358"/>
              <a:gd name="connsiteX11" fmla="*/ 98850 w 608697"/>
              <a:gd name="connsiteY11" fmla="*/ 127711 h 531358"/>
              <a:gd name="connsiteX12" fmla="*/ 76842 w 608697"/>
              <a:gd name="connsiteY12" fmla="*/ 217990 h 531358"/>
              <a:gd name="connsiteX13" fmla="*/ 98850 w 608697"/>
              <a:gd name="connsiteY13" fmla="*/ 308194 h 531358"/>
              <a:gd name="connsiteX14" fmla="*/ 157488 w 608697"/>
              <a:gd name="connsiteY14" fmla="*/ 380223 h 531358"/>
              <a:gd name="connsiteX15" fmla="*/ 344668 w 608697"/>
              <a:gd name="connsiteY15" fmla="*/ 444729 h 531358"/>
              <a:gd name="connsiteX16" fmla="*/ 370257 w 608697"/>
              <a:gd name="connsiteY16" fmla="*/ 443687 h 531358"/>
              <a:gd name="connsiteX17" fmla="*/ 236717 w 608697"/>
              <a:gd name="connsiteY17" fmla="*/ 477876 h 531358"/>
              <a:gd name="connsiteX18" fmla="*/ 198072 w 608697"/>
              <a:gd name="connsiteY18" fmla="*/ 475344 h 531358"/>
              <a:gd name="connsiteX19" fmla="*/ 82437 w 608697"/>
              <a:gd name="connsiteY19" fmla="*/ 531284 h 531358"/>
              <a:gd name="connsiteX20" fmla="*/ 81542 w 608697"/>
              <a:gd name="connsiteY20" fmla="*/ 531358 h 531358"/>
              <a:gd name="connsiteX21" fmla="*/ 75051 w 608697"/>
              <a:gd name="connsiteY21" fmla="*/ 527857 h 531358"/>
              <a:gd name="connsiteX22" fmla="*/ 74753 w 608697"/>
              <a:gd name="connsiteY22" fmla="*/ 519738 h 531358"/>
              <a:gd name="connsiteX23" fmla="*/ 88778 w 608697"/>
              <a:gd name="connsiteY23" fmla="*/ 435046 h 531358"/>
              <a:gd name="connsiteX24" fmla="*/ 0 w 608697"/>
              <a:gd name="connsiteY24" fmla="*/ 282198 h 531358"/>
              <a:gd name="connsiteX25" fmla="*/ 102356 w 608697"/>
              <a:gd name="connsiteY25" fmla="*/ 121231 h 531358"/>
              <a:gd name="connsiteX26" fmla="*/ 356424 w 608697"/>
              <a:gd name="connsiteY26" fmla="*/ 0 h 531358"/>
              <a:gd name="connsiteX27" fmla="*/ 608697 w 608697"/>
              <a:gd name="connsiteY27" fmla="*/ 211244 h 531358"/>
              <a:gd name="connsiteX28" fmla="*/ 518290 w 608697"/>
              <a:gd name="connsiteY28" fmla="*/ 373401 h 531358"/>
              <a:gd name="connsiteX29" fmla="*/ 531941 w 608697"/>
              <a:gd name="connsiteY29" fmla="*/ 441109 h 531358"/>
              <a:gd name="connsiteX30" fmla="*/ 531120 w 608697"/>
              <a:gd name="connsiteY30" fmla="*/ 465391 h 531358"/>
              <a:gd name="connsiteX31" fmla="*/ 511577 w 608697"/>
              <a:gd name="connsiteY31" fmla="*/ 475894 h 531358"/>
              <a:gd name="connsiteX32" fmla="*/ 509041 w 608697"/>
              <a:gd name="connsiteY32" fmla="*/ 475745 h 531358"/>
              <a:gd name="connsiteX33" fmla="*/ 391408 w 608697"/>
              <a:gd name="connsiteY33" fmla="*/ 420476 h 531358"/>
              <a:gd name="connsiteX34" fmla="*/ 356424 w 608697"/>
              <a:gd name="connsiteY34" fmla="*/ 422487 h 531358"/>
              <a:gd name="connsiteX35" fmla="*/ 104225 w 608697"/>
              <a:gd name="connsiteY35" fmla="*/ 211244 h 531358"/>
              <a:gd name="connsiteX36" fmla="*/ 356424 w 608697"/>
              <a:gd name="connsiteY36" fmla="*/ 0 h 53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08697" h="531358">
                <a:moveTo>
                  <a:pt x="424975" y="168488"/>
                </a:moveTo>
                <a:cubicBezTo>
                  <a:pt x="404312" y="168488"/>
                  <a:pt x="387604" y="185248"/>
                  <a:pt x="387604" y="205806"/>
                </a:cubicBezTo>
                <a:cubicBezTo>
                  <a:pt x="387604" y="226439"/>
                  <a:pt x="404312" y="243124"/>
                  <a:pt x="424975" y="243124"/>
                </a:cubicBezTo>
                <a:cubicBezTo>
                  <a:pt x="445562" y="243124"/>
                  <a:pt x="462346" y="226439"/>
                  <a:pt x="462346" y="205806"/>
                </a:cubicBezTo>
                <a:cubicBezTo>
                  <a:pt x="462346" y="185248"/>
                  <a:pt x="445637" y="168488"/>
                  <a:pt x="424975" y="168488"/>
                </a:cubicBezTo>
                <a:close/>
                <a:moveTo>
                  <a:pt x="287947" y="168488"/>
                </a:moveTo>
                <a:cubicBezTo>
                  <a:pt x="267285" y="168488"/>
                  <a:pt x="250576" y="185248"/>
                  <a:pt x="250576" y="205806"/>
                </a:cubicBezTo>
                <a:cubicBezTo>
                  <a:pt x="250576" y="226439"/>
                  <a:pt x="267285" y="243124"/>
                  <a:pt x="287947" y="243124"/>
                </a:cubicBezTo>
                <a:cubicBezTo>
                  <a:pt x="308610" y="243124"/>
                  <a:pt x="325318" y="226439"/>
                  <a:pt x="325318" y="205806"/>
                </a:cubicBezTo>
                <a:cubicBezTo>
                  <a:pt x="325318" y="185248"/>
                  <a:pt x="308610" y="168488"/>
                  <a:pt x="287947" y="168488"/>
                </a:cubicBezTo>
                <a:close/>
                <a:moveTo>
                  <a:pt x="102356" y="121231"/>
                </a:moveTo>
                <a:cubicBezTo>
                  <a:pt x="101162" y="123317"/>
                  <a:pt x="99969" y="125477"/>
                  <a:pt x="98850" y="127711"/>
                </a:cubicBezTo>
                <a:cubicBezTo>
                  <a:pt x="84227" y="156240"/>
                  <a:pt x="76842" y="186631"/>
                  <a:pt x="76842" y="217990"/>
                </a:cubicBezTo>
                <a:cubicBezTo>
                  <a:pt x="76842" y="249275"/>
                  <a:pt x="84227" y="279666"/>
                  <a:pt x="98850" y="308194"/>
                </a:cubicBezTo>
                <a:cubicBezTo>
                  <a:pt x="112726" y="335308"/>
                  <a:pt x="132496" y="359516"/>
                  <a:pt x="157488" y="380223"/>
                </a:cubicBezTo>
                <a:cubicBezTo>
                  <a:pt x="207845" y="421787"/>
                  <a:pt x="274317" y="444729"/>
                  <a:pt x="344668" y="444729"/>
                </a:cubicBezTo>
                <a:cubicBezTo>
                  <a:pt x="353173" y="444729"/>
                  <a:pt x="361752" y="444357"/>
                  <a:pt x="370257" y="443687"/>
                </a:cubicBezTo>
                <a:cubicBezTo>
                  <a:pt x="332209" y="465288"/>
                  <a:pt x="286254" y="477876"/>
                  <a:pt x="236717" y="477876"/>
                </a:cubicBezTo>
                <a:cubicBezTo>
                  <a:pt x="223736" y="477876"/>
                  <a:pt x="210755" y="477057"/>
                  <a:pt x="198072" y="475344"/>
                </a:cubicBezTo>
                <a:cubicBezTo>
                  <a:pt x="160397" y="499478"/>
                  <a:pt x="110637" y="528155"/>
                  <a:pt x="82437" y="531284"/>
                </a:cubicBezTo>
                <a:cubicBezTo>
                  <a:pt x="82138" y="531358"/>
                  <a:pt x="81840" y="531358"/>
                  <a:pt x="81542" y="531358"/>
                </a:cubicBezTo>
                <a:cubicBezTo>
                  <a:pt x="78930" y="531358"/>
                  <a:pt x="76469" y="530017"/>
                  <a:pt x="75051" y="527857"/>
                </a:cubicBezTo>
                <a:cubicBezTo>
                  <a:pt x="73410" y="525399"/>
                  <a:pt x="73335" y="522271"/>
                  <a:pt x="74753" y="519738"/>
                </a:cubicBezTo>
                <a:cubicBezTo>
                  <a:pt x="75051" y="519291"/>
                  <a:pt x="99223" y="476014"/>
                  <a:pt x="88778" y="435046"/>
                </a:cubicBezTo>
                <a:cubicBezTo>
                  <a:pt x="32303" y="397653"/>
                  <a:pt x="0" y="342160"/>
                  <a:pt x="0" y="282198"/>
                </a:cubicBezTo>
                <a:cubicBezTo>
                  <a:pt x="0" y="215532"/>
                  <a:pt x="40584" y="156538"/>
                  <a:pt x="102356" y="121231"/>
                </a:cubicBezTo>
                <a:close/>
                <a:moveTo>
                  <a:pt x="356424" y="0"/>
                </a:moveTo>
                <a:cubicBezTo>
                  <a:pt x="495540" y="0"/>
                  <a:pt x="608697" y="94747"/>
                  <a:pt x="608697" y="211244"/>
                </a:cubicBezTo>
                <a:cubicBezTo>
                  <a:pt x="608697" y="274408"/>
                  <a:pt x="575802" y="333178"/>
                  <a:pt x="518290" y="373401"/>
                </a:cubicBezTo>
                <a:cubicBezTo>
                  <a:pt x="512845" y="406324"/>
                  <a:pt x="531717" y="440811"/>
                  <a:pt x="531941" y="441109"/>
                </a:cubicBezTo>
                <a:cubicBezTo>
                  <a:pt x="536267" y="448781"/>
                  <a:pt x="535969" y="458092"/>
                  <a:pt x="531120" y="465391"/>
                </a:cubicBezTo>
                <a:cubicBezTo>
                  <a:pt x="526794" y="472021"/>
                  <a:pt x="519484" y="475894"/>
                  <a:pt x="511577" y="475894"/>
                </a:cubicBezTo>
                <a:cubicBezTo>
                  <a:pt x="510756" y="475894"/>
                  <a:pt x="509936" y="475894"/>
                  <a:pt x="509041" y="475745"/>
                </a:cubicBezTo>
                <a:cubicBezTo>
                  <a:pt x="484574" y="473064"/>
                  <a:pt x="444966" y="454442"/>
                  <a:pt x="391408" y="420476"/>
                </a:cubicBezTo>
                <a:cubicBezTo>
                  <a:pt x="379920" y="421817"/>
                  <a:pt x="368135" y="422487"/>
                  <a:pt x="356424" y="422487"/>
                </a:cubicBezTo>
                <a:cubicBezTo>
                  <a:pt x="217382" y="422487"/>
                  <a:pt x="104225" y="327741"/>
                  <a:pt x="104225" y="211244"/>
                </a:cubicBezTo>
                <a:cubicBezTo>
                  <a:pt x="104225" y="94747"/>
                  <a:pt x="217382" y="0"/>
                  <a:pt x="356424"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55" name="statistics-settings_72708"/>
          <p:cNvSpPr>
            <a:spLocks noChangeAspect="1"/>
          </p:cNvSpPr>
          <p:nvPr/>
        </p:nvSpPr>
        <p:spPr>
          <a:xfrm>
            <a:off x="9394921" y="4133665"/>
            <a:ext cx="224528" cy="216000"/>
          </a:xfrm>
          <a:custGeom>
            <a:avLst/>
            <a:gdLst>
              <a:gd name="connsiteX0" fmla="*/ 195114 w 608814"/>
              <a:gd name="connsiteY0" fmla="*/ 351627 h 585693"/>
              <a:gd name="connsiteX1" fmla="*/ 258290 w 608814"/>
              <a:gd name="connsiteY1" fmla="*/ 351627 h 585693"/>
              <a:gd name="connsiteX2" fmla="*/ 282731 w 608814"/>
              <a:gd name="connsiteY2" fmla="*/ 376018 h 585693"/>
              <a:gd name="connsiteX3" fmla="*/ 282731 w 608814"/>
              <a:gd name="connsiteY3" fmla="*/ 561210 h 585693"/>
              <a:gd name="connsiteX4" fmla="*/ 258290 w 608814"/>
              <a:gd name="connsiteY4" fmla="*/ 585693 h 585693"/>
              <a:gd name="connsiteX5" fmla="*/ 195114 w 608814"/>
              <a:gd name="connsiteY5" fmla="*/ 585693 h 585693"/>
              <a:gd name="connsiteX6" fmla="*/ 170673 w 608814"/>
              <a:gd name="connsiteY6" fmla="*/ 561210 h 585693"/>
              <a:gd name="connsiteX7" fmla="*/ 170673 w 608814"/>
              <a:gd name="connsiteY7" fmla="*/ 376018 h 585693"/>
              <a:gd name="connsiteX8" fmla="*/ 195114 w 608814"/>
              <a:gd name="connsiteY8" fmla="*/ 351627 h 585693"/>
              <a:gd name="connsiteX9" fmla="*/ 358100 w 608814"/>
              <a:gd name="connsiteY9" fmla="*/ 249872 h 585693"/>
              <a:gd name="connsiteX10" fmla="*/ 421316 w 608814"/>
              <a:gd name="connsiteY10" fmla="*/ 249872 h 585693"/>
              <a:gd name="connsiteX11" fmla="*/ 445737 w 608814"/>
              <a:gd name="connsiteY11" fmla="*/ 274267 h 585693"/>
              <a:gd name="connsiteX12" fmla="*/ 445737 w 608814"/>
              <a:gd name="connsiteY12" fmla="*/ 561206 h 585693"/>
              <a:gd name="connsiteX13" fmla="*/ 421316 w 608814"/>
              <a:gd name="connsiteY13" fmla="*/ 585693 h 585693"/>
              <a:gd name="connsiteX14" fmla="*/ 358100 w 608814"/>
              <a:gd name="connsiteY14" fmla="*/ 585693 h 585693"/>
              <a:gd name="connsiteX15" fmla="*/ 333679 w 608814"/>
              <a:gd name="connsiteY15" fmla="*/ 561206 h 585693"/>
              <a:gd name="connsiteX16" fmla="*/ 333679 w 608814"/>
              <a:gd name="connsiteY16" fmla="*/ 274267 h 585693"/>
              <a:gd name="connsiteX17" fmla="*/ 358100 w 608814"/>
              <a:gd name="connsiteY17" fmla="*/ 249872 h 585693"/>
              <a:gd name="connsiteX18" fmla="*/ 140260 w 608814"/>
              <a:gd name="connsiteY18" fmla="*/ 224680 h 585693"/>
              <a:gd name="connsiteX19" fmla="*/ 191844 w 608814"/>
              <a:gd name="connsiteY19" fmla="*/ 276122 h 585693"/>
              <a:gd name="connsiteX20" fmla="*/ 140260 w 608814"/>
              <a:gd name="connsiteY20" fmla="*/ 327564 h 585693"/>
              <a:gd name="connsiteX21" fmla="*/ 88676 w 608814"/>
              <a:gd name="connsiteY21" fmla="*/ 276122 h 585693"/>
              <a:gd name="connsiteX22" fmla="*/ 140260 w 608814"/>
              <a:gd name="connsiteY22" fmla="*/ 224680 h 585693"/>
              <a:gd name="connsiteX23" fmla="*/ 521177 w 608814"/>
              <a:gd name="connsiteY23" fmla="*/ 148117 h 585693"/>
              <a:gd name="connsiteX24" fmla="*/ 584301 w 608814"/>
              <a:gd name="connsiteY24" fmla="*/ 148117 h 585693"/>
              <a:gd name="connsiteX25" fmla="*/ 608814 w 608814"/>
              <a:gd name="connsiteY25" fmla="*/ 172601 h 585693"/>
              <a:gd name="connsiteX26" fmla="*/ 608814 w 608814"/>
              <a:gd name="connsiteY26" fmla="*/ 561209 h 585693"/>
              <a:gd name="connsiteX27" fmla="*/ 584301 w 608814"/>
              <a:gd name="connsiteY27" fmla="*/ 585693 h 585693"/>
              <a:gd name="connsiteX28" fmla="*/ 521177 w 608814"/>
              <a:gd name="connsiteY28" fmla="*/ 585693 h 585693"/>
              <a:gd name="connsiteX29" fmla="*/ 496756 w 608814"/>
              <a:gd name="connsiteY29" fmla="*/ 561209 h 585693"/>
              <a:gd name="connsiteX30" fmla="*/ 496756 w 608814"/>
              <a:gd name="connsiteY30" fmla="*/ 172601 h 585693"/>
              <a:gd name="connsiteX31" fmla="*/ 521177 w 608814"/>
              <a:gd name="connsiteY31" fmla="*/ 148117 h 585693"/>
              <a:gd name="connsiteX32" fmla="*/ 116229 w 608814"/>
              <a:gd name="connsiteY32" fmla="*/ 131322 h 585693"/>
              <a:gd name="connsiteX33" fmla="*/ 164246 w 608814"/>
              <a:gd name="connsiteY33" fmla="*/ 131322 h 585693"/>
              <a:gd name="connsiteX34" fmla="*/ 184061 w 608814"/>
              <a:gd name="connsiteY34" fmla="*/ 151113 h 585693"/>
              <a:gd name="connsiteX35" fmla="*/ 184061 w 608814"/>
              <a:gd name="connsiteY35" fmla="*/ 171457 h 585693"/>
              <a:gd name="connsiteX36" fmla="*/ 208669 w 608814"/>
              <a:gd name="connsiteY36" fmla="*/ 186094 h 585693"/>
              <a:gd name="connsiteX37" fmla="*/ 226641 w 608814"/>
              <a:gd name="connsiteY37" fmla="*/ 175692 h 585693"/>
              <a:gd name="connsiteX38" fmla="*/ 253737 w 608814"/>
              <a:gd name="connsiteY38" fmla="*/ 182964 h 585693"/>
              <a:gd name="connsiteX39" fmla="*/ 277792 w 608814"/>
              <a:gd name="connsiteY39" fmla="*/ 224572 h 585693"/>
              <a:gd name="connsiteX40" fmla="*/ 279727 w 608814"/>
              <a:gd name="connsiteY40" fmla="*/ 239577 h 585693"/>
              <a:gd name="connsiteX41" fmla="*/ 270511 w 608814"/>
              <a:gd name="connsiteY41" fmla="*/ 251544 h 585693"/>
              <a:gd name="connsiteX42" fmla="*/ 252355 w 608814"/>
              <a:gd name="connsiteY42" fmla="*/ 262038 h 585693"/>
              <a:gd name="connsiteX43" fmla="*/ 253829 w 608814"/>
              <a:gd name="connsiteY43" fmla="*/ 276122 h 585693"/>
              <a:gd name="connsiteX44" fmla="*/ 252355 w 608814"/>
              <a:gd name="connsiteY44" fmla="*/ 290206 h 585693"/>
              <a:gd name="connsiteX45" fmla="*/ 270511 w 608814"/>
              <a:gd name="connsiteY45" fmla="*/ 300700 h 585693"/>
              <a:gd name="connsiteX46" fmla="*/ 278714 w 608814"/>
              <a:gd name="connsiteY46" fmla="*/ 325094 h 585693"/>
              <a:gd name="connsiteX47" fmla="*/ 258253 w 608814"/>
              <a:gd name="connsiteY47" fmla="*/ 321136 h 585693"/>
              <a:gd name="connsiteX48" fmla="*/ 195858 w 608814"/>
              <a:gd name="connsiteY48" fmla="*/ 321136 h 585693"/>
              <a:gd name="connsiteX49" fmla="*/ 212171 w 608814"/>
              <a:gd name="connsiteY49" fmla="*/ 276122 h 585693"/>
              <a:gd name="connsiteX50" fmla="*/ 140191 w 608814"/>
              <a:gd name="connsiteY50" fmla="*/ 204320 h 585693"/>
              <a:gd name="connsiteX51" fmla="*/ 68304 w 608814"/>
              <a:gd name="connsiteY51" fmla="*/ 276122 h 585693"/>
              <a:gd name="connsiteX52" fmla="*/ 140191 w 608814"/>
              <a:gd name="connsiteY52" fmla="*/ 348016 h 585693"/>
              <a:gd name="connsiteX53" fmla="*/ 148486 w 608814"/>
              <a:gd name="connsiteY53" fmla="*/ 347095 h 585693"/>
              <a:gd name="connsiteX54" fmla="*/ 140099 w 608814"/>
              <a:gd name="connsiteY54" fmla="*/ 376000 h 585693"/>
              <a:gd name="connsiteX55" fmla="*/ 140099 w 608814"/>
              <a:gd name="connsiteY55" fmla="*/ 420922 h 585693"/>
              <a:gd name="connsiteX56" fmla="*/ 116229 w 608814"/>
              <a:gd name="connsiteY56" fmla="*/ 420922 h 585693"/>
              <a:gd name="connsiteX57" fmla="*/ 96413 w 608814"/>
              <a:gd name="connsiteY57" fmla="*/ 401131 h 585693"/>
              <a:gd name="connsiteX58" fmla="*/ 96413 w 608814"/>
              <a:gd name="connsiteY58" fmla="*/ 380787 h 585693"/>
              <a:gd name="connsiteX59" fmla="*/ 71806 w 608814"/>
              <a:gd name="connsiteY59" fmla="*/ 366150 h 585693"/>
              <a:gd name="connsiteX60" fmla="*/ 53742 w 608814"/>
              <a:gd name="connsiteY60" fmla="*/ 376552 h 585693"/>
              <a:gd name="connsiteX61" fmla="*/ 38719 w 608814"/>
              <a:gd name="connsiteY61" fmla="*/ 378577 h 585693"/>
              <a:gd name="connsiteX62" fmla="*/ 26738 w 608814"/>
              <a:gd name="connsiteY62" fmla="*/ 369372 h 585693"/>
              <a:gd name="connsiteX63" fmla="*/ 2683 w 608814"/>
              <a:gd name="connsiteY63" fmla="*/ 327764 h 585693"/>
              <a:gd name="connsiteX64" fmla="*/ 9872 w 608814"/>
              <a:gd name="connsiteY64" fmla="*/ 300700 h 585693"/>
              <a:gd name="connsiteX65" fmla="*/ 28120 w 608814"/>
              <a:gd name="connsiteY65" fmla="*/ 290206 h 585693"/>
              <a:gd name="connsiteX66" fmla="*/ 26645 w 608814"/>
              <a:gd name="connsiteY66" fmla="*/ 276122 h 585693"/>
              <a:gd name="connsiteX67" fmla="*/ 28120 w 608814"/>
              <a:gd name="connsiteY67" fmla="*/ 262038 h 585693"/>
              <a:gd name="connsiteX68" fmla="*/ 9872 w 608814"/>
              <a:gd name="connsiteY68" fmla="*/ 251544 h 585693"/>
              <a:gd name="connsiteX69" fmla="*/ 2683 w 608814"/>
              <a:gd name="connsiteY69" fmla="*/ 224572 h 585693"/>
              <a:gd name="connsiteX70" fmla="*/ 26738 w 608814"/>
              <a:gd name="connsiteY70" fmla="*/ 182964 h 585693"/>
              <a:gd name="connsiteX71" fmla="*/ 38719 w 608814"/>
              <a:gd name="connsiteY71" fmla="*/ 173759 h 585693"/>
              <a:gd name="connsiteX72" fmla="*/ 53742 w 608814"/>
              <a:gd name="connsiteY72" fmla="*/ 175692 h 585693"/>
              <a:gd name="connsiteX73" fmla="*/ 71806 w 608814"/>
              <a:gd name="connsiteY73" fmla="*/ 186094 h 585693"/>
              <a:gd name="connsiteX74" fmla="*/ 96413 w 608814"/>
              <a:gd name="connsiteY74" fmla="*/ 171457 h 585693"/>
              <a:gd name="connsiteX75" fmla="*/ 96413 w 608814"/>
              <a:gd name="connsiteY75" fmla="*/ 151113 h 585693"/>
              <a:gd name="connsiteX76" fmla="*/ 116229 w 608814"/>
              <a:gd name="connsiteY76" fmla="*/ 131322 h 585693"/>
              <a:gd name="connsiteX77" fmla="*/ 445756 w 608814"/>
              <a:gd name="connsiteY77" fmla="*/ 83476 h 585693"/>
              <a:gd name="connsiteX78" fmla="*/ 414140 w 608814"/>
              <a:gd name="connsiteY78" fmla="*/ 115044 h 585693"/>
              <a:gd name="connsiteX79" fmla="*/ 445756 w 608814"/>
              <a:gd name="connsiteY79" fmla="*/ 146520 h 585693"/>
              <a:gd name="connsiteX80" fmla="*/ 477371 w 608814"/>
              <a:gd name="connsiteY80" fmla="*/ 115044 h 585693"/>
              <a:gd name="connsiteX81" fmla="*/ 445756 w 608814"/>
              <a:gd name="connsiteY81" fmla="*/ 83476 h 585693"/>
              <a:gd name="connsiteX82" fmla="*/ 426676 w 608814"/>
              <a:gd name="connsiteY82" fmla="*/ 0 h 585693"/>
              <a:gd name="connsiteX83" fmla="*/ 464835 w 608814"/>
              <a:gd name="connsiteY83" fmla="*/ 0 h 585693"/>
              <a:gd name="connsiteX84" fmla="*/ 480597 w 608814"/>
              <a:gd name="connsiteY84" fmla="*/ 15738 h 585693"/>
              <a:gd name="connsiteX85" fmla="*/ 480597 w 608814"/>
              <a:gd name="connsiteY85" fmla="*/ 31936 h 585693"/>
              <a:gd name="connsiteX86" fmla="*/ 500138 w 608814"/>
              <a:gd name="connsiteY86" fmla="*/ 43533 h 585693"/>
              <a:gd name="connsiteX87" fmla="*/ 514425 w 608814"/>
              <a:gd name="connsiteY87" fmla="*/ 35249 h 585693"/>
              <a:gd name="connsiteX88" fmla="*/ 535901 w 608814"/>
              <a:gd name="connsiteY88" fmla="*/ 40956 h 585693"/>
              <a:gd name="connsiteX89" fmla="*/ 554981 w 608814"/>
              <a:gd name="connsiteY89" fmla="*/ 73996 h 585693"/>
              <a:gd name="connsiteX90" fmla="*/ 556640 w 608814"/>
              <a:gd name="connsiteY90" fmla="*/ 85961 h 585693"/>
              <a:gd name="connsiteX91" fmla="*/ 549266 w 608814"/>
              <a:gd name="connsiteY91" fmla="*/ 95440 h 585693"/>
              <a:gd name="connsiteX92" fmla="*/ 534887 w 608814"/>
              <a:gd name="connsiteY92" fmla="*/ 103815 h 585693"/>
              <a:gd name="connsiteX93" fmla="*/ 535993 w 608814"/>
              <a:gd name="connsiteY93" fmla="*/ 115044 h 585693"/>
              <a:gd name="connsiteX94" fmla="*/ 535717 w 608814"/>
              <a:gd name="connsiteY94" fmla="*/ 117621 h 585693"/>
              <a:gd name="connsiteX95" fmla="*/ 521153 w 608814"/>
              <a:gd name="connsiteY95" fmla="*/ 117621 h 585693"/>
              <a:gd name="connsiteX96" fmla="*/ 466126 w 608814"/>
              <a:gd name="connsiteY96" fmla="*/ 172565 h 585693"/>
              <a:gd name="connsiteX97" fmla="*/ 466126 w 608814"/>
              <a:gd name="connsiteY97" fmla="*/ 229719 h 585693"/>
              <a:gd name="connsiteX98" fmla="*/ 466126 w 608814"/>
              <a:gd name="connsiteY98" fmla="*/ 242604 h 585693"/>
              <a:gd name="connsiteX99" fmla="*/ 453590 w 608814"/>
              <a:gd name="connsiteY99" fmla="*/ 229995 h 585693"/>
              <a:gd name="connsiteX100" fmla="*/ 421330 w 608814"/>
              <a:gd name="connsiteY100" fmla="*/ 219319 h 585693"/>
              <a:gd name="connsiteX101" fmla="*/ 411928 w 608814"/>
              <a:gd name="connsiteY101" fmla="*/ 219319 h 585693"/>
              <a:gd name="connsiteX102" fmla="*/ 410914 w 608814"/>
              <a:gd name="connsiteY102" fmla="*/ 214257 h 585693"/>
              <a:gd name="connsiteX103" fmla="*/ 410914 w 608814"/>
              <a:gd name="connsiteY103" fmla="*/ 198059 h 585693"/>
              <a:gd name="connsiteX104" fmla="*/ 391373 w 608814"/>
              <a:gd name="connsiteY104" fmla="*/ 186463 h 585693"/>
              <a:gd name="connsiteX105" fmla="*/ 377086 w 608814"/>
              <a:gd name="connsiteY105" fmla="*/ 194746 h 585693"/>
              <a:gd name="connsiteX106" fmla="*/ 365104 w 608814"/>
              <a:gd name="connsiteY106" fmla="*/ 196310 h 585693"/>
              <a:gd name="connsiteX107" fmla="*/ 355610 w 608814"/>
              <a:gd name="connsiteY107" fmla="*/ 189040 h 585693"/>
              <a:gd name="connsiteX108" fmla="*/ 336530 w 608814"/>
              <a:gd name="connsiteY108" fmla="*/ 155999 h 585693"/>
              <a:gd name="connsiteX109" fmla="*/ 342245 w 608814"/>
              <a:gd name="connsiteY109" fmla="*/ 134463 h 585693"/>
              <a:gd name="connsiteX110" fmla="*/ 356716 w 608814"/>
              <a:gd name="connsiteY110" fmla="*/ 126180 h 585693"/>
              <a:gd name="connsiteX111" fmla="*/ 355518 w 608814"/>
              <a:gd name="connsiteY111" fmla="*/ 115044 h 585693"/>
              <a:gd name="connsiteX112" fmla="*/ 356716 w 608814"/>
              <a:gd name="connsiteY112" fmla="*/ 103815 h 585693"/>
              <a:gd name="connsiteX113" fmla="*/ 342245 w 608814"/>
              <a:gd name="connsiteY113" fmla="*/ 95440 h 585693"/>
              <a:gd name="connsiteX114" fmla="*/ 336530 w 608814"/>
              <a:gd name="connsiteY114" fmla="*/ 73996 h 585693"/>
              <a:gd name="connsiteX115" fmla="*/ 355610 w 608814"/>
              <a:gd name="connsiteY115" fmla="*/ 40956 h 585693"/>
              <a:gd name="connsiteX116" fmla="*/ 365104 w 608814"/>
              <a:gd name="connsiteY116" fmla="*/ 33685 h 585693"/>
              <a:gd name="connsiteX117" fmla="*/ 377086 w 608814"/>
              <a:gd name="connsiteY117" fmla="*/ 35249 h 585693"/>
              <a:gd name="connsiteX118" fmla="*/ 391373 w 608814"/>
              <a:gd name="connsiteY118" fmla="*/ 43533 h 585693"/>
              <a:gd name="connsiteX119" fmla="*/ 410914 w 608814"/>
              <a:gd name="connsiteY119" fmla="*/ 31936 h 585693"/>
              <a:gd name="connsiteX120" fmla="*/ 410914 w 608814"/>
              <a:gd name="connsiteY120" fmla="*/ 15738 h 585693"/>
              <a:gd name="connsiteX121" fmla="*/ 426676 w 608814"/>
              <a:gd name="connsiteY121" fmla="*/ 0 h 58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08814" h="585693">
                <a:moveTo>
                  <a:pt x="195114" y="351627"/>
                </a:moveTo>
                <a:lnTo>
                  <a:pt x="258290" y="351627"/>
                </a:lnTo>
                <a:cubicBezTo>
                  <a:pt x="271848" y="351627"/>
                  <a:pt x="282731" y="362580"/>
                  <a:pt x="282731" y="376018"/>
                </a:cubicBezTo>
                <a:lnTo>
                  <a:pt x="282731" y="561210"/>
                </a:lnTo>
                <a:cubicBezTo>
                  <a:pt x="282731" y="574740"/>
                  <a:pt x="271848" y="585693"/>
                  <a:pt x="258290" y="585693"/>
                </a:cubicBezTo>
                <a:lnTo>
                  <a:pt x="195114" y="585693"/>
                </a:lnTo>
                <a:cubicBezTo>
                  <a:pt x="181556" y="585693"/>
                  <a:pt x="170673" y="574740"/>
                  <a:pt x="170673" y="561210"/>
                </a:cubicBezTo>
                <a:lnTo>
                  <a:pt x="170673" y="376018"/>
                </a:lnTo>
                <a:cubicBezTo>
                  <a:pt x="170673" y="362580"/>
                  <a:pt x="181556" y="351627"/>
                  <a:pt x="195114" y="351627"/>
                </a:cubicBezTo>
                <a:close/>
                <a:moveTo>
                  <a:pt x="358100" y="249872"/>
                </a:moveTo>
                <a:lnTo>
                  <a:pt x="421316" y="249872"/>
                </a:lnTo>
                <a:cubicBezTo>
                  <a:pt x="434771" y="249872"/>
                  <a:pt x="445737" y="260735"/>
                  <a:pt x="445737" y="274267"/>
                </a:cubicBezTo>
                <a:lnTo>
                  <a:pt x="445737" y="561206"/>
                </a:lnTo>
                <a:cubicBezTo>
                  <a:pt x="445737" y="574738"/>
                  <a:pt x="434771" y="585693"/>
                  <a:pt x="421316" y="585693"/>
                </a:cubicBezTo>
                <a:lnTo>
                  <a:pt x="358100" y="585693"/>
                </a:lnTo>
                <a:cubicBezTo>
                  <a:pt x="344645" y="585693"/>
                  <a:pt x="333679" y="574738"/>
                  <a:pt x="333679" y="561206"/>
                </a:cubicBezTo>
                <a:lnTo>
                  <a:pt x="333679" y="274267"/>
                </a:lnTo>
                <a:cubicBezTo>
                  <a:pt x="333679" y="260735"/>
                  <a:pt x="344645" y="249872"/>
                  <a:pt x="358100" y="249872"/>
                </a:cubicBezTo>
                <a:close/>
                <a:moveTo>
                  <a:pt x="140260" y="224680"/>
                </a:moveTo>
                <a:cubicBezTo>
                  <a:pt x="168749" y="224680"/>
                  <a:pt x="191844" y="247711"/>
                  <a:pt x="191844" y="276122"/>
                </a:cubicBezTo>
                <a:cubicBezTo>
                  <a:pt x="191844" y="304533"/>
                  <a:pt x="168749" y="327564"/>
                  <a:pt x="140260" y="327564"/>
                </a:cubicBezTo>
                <a:cubicBezTo>
                  <a:pt x="111771" y="327564"/>
                  <a:pt x="88676" y="304533"/>
                  <a:pt x="88676" y="276122"/>
                </a:cubicBezTo>
                <a:cubicBezTo>
                  <a:pt x="88676" y="247711"/>
                  <a:pt x="111771" y="224680"/>
                  <a:pt x="140260" y="224680"/>
                </a:cubicBezTo>
                <a:close/>
                <a:moveTo>
                  <a:pt x="521177" y="148117"/>
                </a:moveTo>
                <a:lnTo>
                  <a:pt x="584301" y="148117"/>
                </a:lnTo>
                <a:cubicBezTo>
                  <a:pt x="597848" y="148117"/>
                  <a:pt x="608814" y="159070"/>
                  <a:pt x="608814" y="172601"/>
                </a:cubicBezTo>
                <a:lnTo>
                  <a:pt x="608814" y="561209"/>
                </a:lnTo>
                <a:cubicBezTo>
                  <a:pt x="608814" y="574740"/>
                  <a:pt x="597848" y="585693"/>
                  <a:pt x="584301" y="585693"/>
                </a:cubicBezTo>
                <a:lnTo>
                  <a:pt x="521177" y="585693"/>
                </a:lnTo>
                <a:cubicBezTo>
                  <a:pt x="507722" y="585693"/>
                  <a:pt x="496756" y="574740"/>
                  <a:pt x="496756" y="561209"/>
                </a:cubicBezTo>
                <a:lnTo>
                  <a:pt x="496756" y="172601"/>
                </a:lnTo>
                <a:cubicBezTo>
                  <a:pt x="496756" y="159070"/>
                  <a:pt x="507722" y="148117"/>
                  <a:pt x="521177" y="148117"/>
                </a:cubicBezTo>
                <a:close/>
                <a:moveTo>
                  <a:pt x="116229" y="131322"/>
                </a:moveTo>
                <a:lnTo>
                  <a:pt x="164246" y="131322"/>
                </a:lnTo>
                <a:cubicBezTo>
                  <a:pt x="175214" y="131322"/>
                  <a:pt x="184061" y="140159"/>
                  <a:pt x="184061" y="151113"/>
                </a:cubicBezTo>
                <a:lnTo>
                  <a:pt x="184061" y="171457"/>
                </a:lnTo>
                <a:cubicBezTo>
                  <a:pt x="193001" y="175231"/>
                  <a:pt x="201019" y="180386"/>
                  <a:pt x="208669" y="186094"/>
                </a:cubicBezTo>
                <a:lnTo>
                  <a:pt x="226641" y="175692"/>
                </a:lnTo>
                <a:cubicBezTo>
                  <a:pt x="236134" y="170261"/>
                  <a:pt x="248300" y="173482"/>
                  <a:pt x="253737" y="182964"/>
                </a:cubicBezTo>
                <a:lnTo>
                  <a:pt x="277792" y="224572"/>
                </a:lnTo>
                <a:cubicBezTo>
                  <a:pt x="280465" y="229083"/>
                  <a:pt x="281110" y="234514"/>
                  <a:pt x="279727" y="239577"/>
                </a:cubicBezTo>
                <a:cubicBezTo>
                  <a:pt x="278437" y="244640"/>
                  <a:pt x="275119" y="248966"/>
                  <a:pt x="270511" y="251544"/>
                </a:cubicBezTo>
                <a:lnTo>
                  <a:pt x="252355" y="262038"/>
                </a:lnTo>
                <a:cubicBezTo>
                  <a:pt x="253000" y="266733"/>
                  <a:pt x="253829" y="271335"/>
                  <a:pt x="253829" y="276122"/>
                </a:cubicBezTo>
                <a:cubicBezTo>
                  <a:pt x="253829" y="281001"/>
                  <a:pt x="253000" y="285604"/>
                  <a:pt x="252355" y="290206"/>
                </a:cubicBezTo>
                <a:lnTo>
                  <a:pt x="270511" y="300700"/>
                </a:lnTo>
                <a:cubicBezTo>
                  <a:pt x="279174" y="305671"/>
                  <a:pt x="282308" y="316165"/>
                  <a:pt x="278714" y="325094"/>
                </a:cubicBezTo>
                <a:cubicBezTo>
                  <a:pt x="272354" y="322609"/>
                  <a:pt x="265442" y="321136"/>
                  <a:pt x="258253" y="321136"/>
                </a:cubicBezTo>
                <a:lnTo>
                  <a:pt x="195858" y="321136"/>
                </a:lnTo>
                <a:cubicBezTo>
                  <a:pt x="205904" y="308709"/>
                  <a:pt x="212171" y="293244"/>
                  <a:pt x="212171" y="276122"/>
                </a:cubicBezTo>
                <a:cubicBezTo>
                  <a:pt x="212171" y="236539"/>
                  <a:pt x="179914" y="204320"/>
                  <a:pt x="140191" y="204320"/>
                </a:cubicBezTo>
                <a:cubicBezTo>
                  <a:pt x="100561" y="204320"/>
                  <a:pt x="68304" y="236539"/>
                  <a:pt x="68304" y="276122"/>
                </a:cubicBezTo>
                <a:cubicBezTo>
                  <a:pt x="68304" y="315797"/>
                  <a:pt x="100561" y="348016"/>
                  <a:pt x="140191" y="348016"/>
                </a:cubicBezTo>
                <a:cubicBezTo>
                  <a:pt x="143048" y="348016"/>
                  <a:pt x="145721" y="347463"/>
                  <a:pt x="148486" y="347095"/>
                </a:cubicBezTo>
                <a:cubicBezTo>
                  <a:pt x="143233" y="355564"/>
                  <a:pt x="140099" y="365414"/>
                  <a:pt x="140099" y="376000"/>
                </a:cubicBezTo>
                <a:lnTo>
                  <a:pt x="140099" y="420922"/>
                </a:lnTo>
                <a:lnTo>
                  <a:pt x="116229" y="420922"/>
                </a:lnTo>
                <a:cubicBezTo>
                  <a:pt x="105261" y="420922"/>
                  <a:pt x="96413" y="412085"/>
                  <a:pt x="96413" y="401131"/>
                </a:cubicBezTo>
                <a:lnTo>
                  <a:pt x="96413" y="380787"/>
                </a:lnTo>
                <a:cubicBezTo>
                  <a:pt x="87474" y="377013"/>
                  <a:pt x="79455" y="371950"/>
                  <a:pt x="71806" y="366150"/>
                </a:cubicBezTo>
                <a:lnTo>
                  <a:pt x="53742" y="376552"/>
                </a:lnTo>
                <a:cubicBezTo>
                  <a:pt x="49226" y="379222"/>
                  <a:pt x="43788" y="379866"/>
                  <a:pt x="38719" y="378577"/>
                </a:cubicBezTo>
                <a:cubicBezTo>
                  <a:pt x="33650" y="377197"/>
                  <a:pt x="29318" y="373883"/>
                  <a:pt x="26738" y="369372"/>
                </a:cubicBezTo>
                <a:lnTo>
                  <a:pt x="2683" y="327764"/>
                </a:lnTo>
                <a:cubicBezTo>
                  <a:pt x="-2847" y="318282"/>
                  <a:pt x="471" y="306131"/>
                  <a:pt x="9872" y="300700"/>
                </a:cubicBezTo>
                <a:lnTo>
                  <a:pt x="28120" y="290206"/>
                </a:lnTo>
                <a:cubicBezTo>
                  <a:pt x="27475" y="285604"/>
                  <a:pt x="26645" y="281001"/>
                  <a:pt x="26645" y="276122"/>
                </a:cubicBezTo>
                <a:cubicBezTo>
                  <a:pt x="26645" y="271335"/>
                  <a:pt x="27475" y="266733"/>
                  <a:pt x="28120" y="262038"/>
                </a:cubicBezTo>
                <a:lnTo>
                  <a:pt x="9872" y="251544"/>
                </a:lnTo>
                <a:cubicBezTo>
                  <a:pt x="471" y="246113"/>
                  <a:pt x="-2847" y="233962"/>
                  <a:pt x="2683" y="224572"/>
                </a:cubicBezTo>
                <a:lnTo>
                  <a:pt x="26738" y="182964"/>
                </a:lnTo>
                <a:cubicBezTo>
                  <a:pt x="29318" y="178361"/>
                  <a:pt x="33650" y="175139"/>
                  <a:pt x="38719" y="173759"/>
                </a:cubicBezTo>
                <a:cubicBezTo>
                  <a:pt x="43788" y="172378"/>
                  <a:pt x="49226" y="173114"/>
                  <a:pt x="53742" y="175692"/>
                </a:cubicBezTo>
                <a:lnTo>
                  <a:pt x="71806" y="186094"/>
                </a:lnTo>
                <a:cubicBezTo>
                  <a:pt x="79455" y="180386"/>
                  <a:pt x="87474" y="175231"/>
                  <a:pt x="96413" y="171457"/>
                </a:cubicBezTo>
                <a:lnTo>
                  <a:pt x="96413" y="151113"/>
                </a:lnTo>
                <a:cubicBezTo>
                  <a:pt x="96413" y="140159"/>
                  <a:pt x="105261" y="131322"/>
                  <a:pt x="116229" y="131322"/>
                </a:cubicBezTo>
                <a:close/>
                <a:moveTo>
                  <a:pt x="445756" y="83476"/>
                </a:moveTo>
                <a:cubicBezTo>
                  <a:pt x="428335" y="83476"/>
                  <a:pt x="414140" y="97557"/>
                  <a:pt x="414140" y="115044"/>
                </a:cubicBezTo>
                <a:cubicBezTo>
                  <a:pt x="414140" y="132438"/>
                  <a:pt x="428335" y="146520"/>
                  <a:pt x="445756" y="146520"/>
                </a:cubicBezTo>
                <a:cubicBezTo>
                  <a:pt x="463176" y="146520"/>
                  <a:pt x="477371" y="132438"/>
                  <a:pt x="477371" y="115044"/>
                </a:cubicBezTo>
                <a:cubicBezTo>
                  <a:pt x="477371" y="97557"/>
                  <a:pt x="463176" y="83476"/>
                  <a:pt x="445756" y="83476"/>
                </a:cubicBezTo>
                <a:close/>
                <a:moveTo>
                  <a:pt x="426676" y="0"/>
                </a:moveTo>
                <a:lnTo>
                  <a:pt x="464835" y="0"/>
                </a:lnTo>
                <a:cubicBezTo>
                  <a:pt x="473500" y="0"/>
                  <a:pt x="480597" y="7087"/>
                  <a:pt x="480597" y="15738"/>
                </a:cubicBezTo>
                <a:lnTo>
                  <a:pt x="480597" y="31936"/>
                </a:lnTo>
                <a:cubicBezTo>
                  <a:pt x="487694" y="34881"/>
                  <a:pt x="494054" y="38931"/>
                  <a:pt x="500138" y="43533"/>
                </a:cubicBezTo>
                <a:lnTo>
                  <a:pt x="514425" y="35249"/>
                </a:lnTo>
                <a:cubicBezTo>
                  <a:pt x="521983" y="30924"/>
                  <a:pt x="531569" y="33501"/>
                  <a:pt x="535901" y="40956"/>
                </a:cubicBezTo>
                <a:lnTo>
                  <a:pt x="554981" y="73996"/>
                </a:lnTo>
                <a:cubicBezTo>
                  <a:pt x="557101" y="77585"/>
                  <a:pt x="557654" y="81911"/>
                  <a:pt x="556640" y="85961"/>
                </a:cubicBezTo>
                <a:cubicBezTo>
                  <a:pt x="555534" y="89918"/>
                  <a:pt x="552861" y="93415"/>
                  <a:pt x="549266" y="95440"/>
                </a:cubicBezTo>
                <a:lnTo>
                  <a:pt x="534887" y="103815"/>
                </a:lnTo>
                <a:cubicBezTo>
                  <a:pt x="535348" y="107497"/>
                  <a:pt x="535993" y="111178"/>
                  <a:pt x="535993" y="115044"/>
                </a:cubicBezTo>
                <a:cubicBezTo>
                  <a:pt x="535993" y="115872"/>
                  <a:pt x="535809" y="116700"/>
                  <a:pt x="535717" y="117621"/>
                </a:cubicBezTo>
                <a:lnTo>
                  <a:pt x="521153" y="117621"/>
                </a:lnTo>
                <a:cubicBezTo>
                  <a:pt x="490828" y="117621"/>
                  <a:pt x="466126" y="142286"/>
                  <a:pt x="466126" y="172565"/>
                </a:cubicBezTo>
                <a:lnTo>
                  <a:pt x="466126" y="229719"/>
                </a:lnTo>
                <a:lnTo>
                  <a:pt x="466126" y="242604"/>
                </a:lnTo>
                <a:cubicBezTo>
                  <a:pt x="462715" y="237726"/>
                  <a:pt x="458383" y="233493"/>
                  <a:pt x="453590" y="229995"/>
                </a:cubicBezTo>
                <a:cubicBezTo>
                  <a:pt x="444465" y="223369"/>
                  <a:pt x="433404" y="219319"/>
                  <a:pt x="421330" y="219319"/>
                </a:cubicBezTo>
                <a:lnTo>
                  <a:pt x="411928" y="219319"/>
                </a:lnTo>
                <a:cubicBezTo>
                  <a:pt x="411375" y="217755"/>
                  <a:pt x="410914" y="216098"/>
                  <a:pt x="410914" y="214257"/>
                </a:cubicBezTo>
                <a:lnTo>
                  <a:pt x="410914" y="198059"/>
                </a:lnTo>
                <a:cubicBezTo>
                  <a:pt x="403817" y="195114"/>
                  <a:pt x="397457" y="191064"/>
                  <a:pt x="391373" y="186463"/>
                </a:cubicBezTo>
                <a:lnTo>
                  <a:pt x="377086" y="194746"/>
                </a:lnTo>
                <a:cubicBezTo>
                  <a:pt x="373492" y="196863"/>
                  <a:pt x="369160" y="197415"/>
                  <a:pt x="365104" y="196310"/>
                </a:cubicBezTo>
                <a:cubicBezTo>
                  <a:pt x="361140" y="195206"/>
                  <a:pt x="357638" y="192629"/>
                  <a:pt x="355610" y="189040"/>
                </a:cubicBezTo>
                <a:lnTo>
                  <a:pt x="336530" y="155999"/>
                </a:lnTo>
                <a:cubicBezTo>
                  <a:pt x="332198" y="148452"/>
                  <a:pt x="334687" y="138881"/>
                  <a:pt x="342245" y="134463"/>
                </a:cubicBezTo>
                <a:lnTo>
                  <a:pt x="356716" y="126180"/>
                </a:lnTo>
                <a:cubicBezTo>
                  <a:pt x="356163" y="122498"/>
                  <a:pt x="355518" y="118817"/>
                  <a:pt x="355518" y="115044"/>
                </a:cubicBezTo>
                <a:cubicBezTo>
                  <a:pt x="355518" y="111178"/>
                  <a:pt x="356163" y="107497"/>
                  <a:pt x="356716" y="103815"/>
                </a:cubicBezTo>
                <a:lnTo>
                  <a:pt x="342245" y="95440"/>
                </a:lnTo>
                <a:cubicBezTo>
                  <a:pt x="334687" y="91115"/>
                  <a:pt x="332198" y="81543"/>
                  <a:pt x="336530" y="73996"/>
                </a:cubicBezTo>
                <a:lnTo>
                  <a:pt x="355610" y="40956"/>
                </a:lnTo>
                <a:cubicBezTo>
                  <a:pt x="357638" y="37366"/>
                  <a:pt x="361140" y="34789"/>
                  <a:pt x="365104" y="33685"/>
                </a:cubicBezTo>
                <a:cubicBezTo>
                  <a:pt x="369160" y="32580"/>
                  <a:pt x="373492" y="33133"/>
                  <a:pt x="377086" y="35249"/>
                </a:cubicBezTo>
                <a:lnTo>
                  <a:pt x="391373" y="43533"/>
                </a:lnTo>
                <a:cubicBezTo>
                  <a:pt x="397457" y="38931"/>
                  <a:pt x="403817" y="34881"/>
                  <a:pt x="410914" y="31936"/>
                </a:cubicBezTo>
                <a:lnTo>
                  <a:pt x="410914" y="15738"/>
                </a:lnTo>
                <a:cubicBezTo>
                  <a:pt x="410914" y="7087"/>
                  <a:pt x="418011" y="0"/>
                  <a:pt x="426676" y="0"/>
                </a:cubicBez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58" name="Line"/>
          <p:cNvSpPr/>
          <p:nvPr/>
        </p:nvSpPr>
        <p:spPr>
          <a:xfrm flipH="1" flipV="1">
            <a:off x="4348842" y="5273126"/>
            <a:ext cx="994230" cy="0"/>
          </a:xfrm>
          <a:prstGeom prst="line">
            <a:avLst/>
          </a:prstGeom>
          <a:noFill/>
          <a:ln w="15875" cap="rnd">
            <a:solidFill>
              <a:srgbClr val="3368FF"/>
            </a:solidFill>
            <a:prstDash val="solid"/>
            <a:round/>
            <a:headEnd type="triangle"/>
            <a:tailEnd type="none" w="med" len="med"/>
          </a:ln>
          <a:effectLst/>
        </p:spPr>
        <p:txBody>
          <a:bodyPr wrap="square" lIns="0" tIns="0" rIns="0" bIns="0" numCol="1" anchor="t">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59"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5831128" y="5292995"/>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任务分配：分配工作</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62" name="文本框 261"/>
          <p:cNvSpPr txBox="1"/>
          <p:nvPr/>
        </p:nvSpPr>
        <p:spPr>
          <a:xfrm flipH="1">
            <a:off x="1454468" y="5232408"/>
            <a:ext cx="1710007" cy="309765"/>
          </a:xfrm>
          <a:prstGeom prst="rect">
            <a:avLst/>
          </a:prstGeom>
          <a:noFill/>
        </p:spPr>
        <p:txBody>
          <a:bodyPr wrap="square" lIns="0" tIns="0" rIns="0" bIns="0" rtlCol="0" anchor="t">
            <a:noAutofit/>
          </a:bodyPr>
          <a:lstStyle/>
          <a:p>
            <a:pPr marL="0" marR="0" lvl="0" indent="0" algn="l" defTabSz="914400" rtl="0" eaLnBrk="1" fontAlgn="auto" latinLnBrk="0" hangingPunct="1">
              <a:lnSpc>
                <a:spcPts val="112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rPr>
              <a:t>进行产品技术评估，提升产品性能和用户体验</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63" name="文本框 262"/>
          <p:cNvSpPr txBox="1"/>
          <p:nvPr/>
        </p:nvSpPr>
        <p:spPr>
          <a:xfrm flipH="1">
            <a:off x="1454468" y="5008925"/>
            <a:ext cx="1227576" cy="184150"/>
          </a:xfrm>
          <a:prstGeom prst="rect">
            <a:avLst/>
          </a:prstGeom>
          <a:noFill/>
        </p:spPr>
        <p:txBody>
          <a:bodyPr wrap="square" lIns="0" tIns="0" rIns="0" bIns="0" rtlCol="0">
            <a:spAutoFit/>
          </a:bodyPr>
          <a:lstStyle/>
          <a:p>
            <a:pPr lvl="0">
              <a:defRPr>
                <a:latin typeface="微软雅黑"/>
                <a:ea typeface="微软雅黑"/>
                <a:cs typeface="微软雅黑"/>
              </a:defRPr>
            </a:pPr>
            <a:r>
              <a:rPr lang="zh-CN" altLang="en-US" sz="1200" b="1" dirty="0">
                <a:solidFill>
                  <a:srgbClr val="383838"/>
                </a:solidFill>
                <a:latin typeface="微软雅黑"/>
                <a:ea typeface="微软雅黑"/>
                <a:cs typeface="微软雅黑"/>
              </a:rPr>
              <a:t>项目执行</a:t>
            </a:r>
            <a:endPar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64" name="直接连接符 729"/>
          <p:cNvCxnSpPr/>
          <p:nvPr/>
        </p:nvCxnSpPr>
        <p:spPr>
          <a:xfrm>
            <a:off x="7255681" y="4978282"/>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66" name="直接连接符 729"/>
          <p:cNvCxnSpPr/>
          <p:nvPr/>
        </p:nvCxnSpPr>
        <p:spPr>
          <a:xfrm>
            <a:off x="8768795" y="4978282"/>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67" name="直接连接符 729"/>
          <p:cNvCxnSpPr/>
          <p:nvPr/>
        </p:nvCxnSpPr>
        <p:spPr>
          <a:xfrm>
            <a:off x="10281909" y="4978282"/>
            <a:ext cx="0" cy="533248"/>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sp>
        <p:nvSpPr>
          <p:cNvPr id="268" name="flag-pole-with-black-flag_38306"/>
          <p:cNvSpPr>
            <a:spLocks noChangeAspect="1"/>
          </p:cNvSpPr>
          <p:nvPr/>
        </p:nvSpPr>
        <p:spPr>
          <a:xfrm>
            <a:off x="6443861" y="5044596"/>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69"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7322471" y="5292995"/>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进度监控：跟踪进度</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70"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8847384" y="5292995"/>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问题解决：处理问题</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7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flipH="1">
            <a:off x="10371384" y="5292995"/>
            <a:ext cx="1360451" cy="189796"/>
          </a:xfrm>
          <a:prstGeom prst="rect">
            <a:avLst/>
          </a:prstGeom>
          <a:ln w="12700">
            <a:miter lim="400000"/>
          </a:ln>
        </p:spPr>
        <p:txBody>
          <a:bodyPr wrap="square" lIns="0" tIns="0" rIns="0" bIns="0" anchor="t">
            <a:noAutofit/>
          </a:bodyPr>
          <a:lstStyle>
            <a:lvl1pPr>
              <a:defRPr sz="1800">
                <a:solidFill>
                  <a:srgbClr val="383838"/>
                </a:solidFill>
                <a:latin typeface="微软雅黑"/>
                <a:ea typeface="微软雅黑"/>
                <a:cs typeface="微软雅黑"/>
                <a:sym typeface="微软雅黑"/>
              </a:defRPr>
            </a:lvl1pPr>
          </a:lstStyle>
          <a:p>
            <a:pPr lvl="0"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质量控制：把控质量</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72" name="flag-pole-with-black-flag_38306"/>
          <p:cNvSpPr>
            <a:spLocks noChangeAspect="1"/>
          </p:cNvSpPr>
          <p:nvPr/>
        </p:nvSpPr>
        <p:spPr>
          <a:xfrm>
            <a:off x="10984117" y="5044596"/>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273" name="live-chat_72439"/>
          <p:cNvSpPr>
            <a:spLocks noChangeAspect="1"/>
          </p:cNvSpPr>
          <p:nvPr/>
        </p:nvSpPr>
        <p:spPr>
          <a:xfrm>
            <a:off x="7915696" y="5072001"/>
            <a:ext cx="206199" cy="180000"/>
          </a:xfrm>
          <a:custGeom>
            <a:avLst/>
            <a:gdLst>
              <a:gd name="connsiteX0" fmla="*/ 424975 w 608697"/>
              <a:gd name="connsiteY0" fmla="*/ 168488 h 531358"/>
              <a:gd name="connsiteX1" fmla="*/ 387604 w 608697"/>
              <a:gd name="connsiteY1" fmla="*/ 205806 h 531358"/>
              <a:gd name="connsiteX2" fmla="*/ 424975 w 608697"/>
              <a:gd name="connsiteY2" fmla="*/ 243124 h 531358"/>
              <a:gd name="connsiteX3" fmla="*/ 462346 w 608697"/>
              <a:gd name="connsiteY3" fmla="*/ 205806 h 531358"/>
              <a:gd name="connsiteX4" fmla="*/ 424975 w 608697"/>
              <a:gd name="connsiteY4" fmla="*/ 168488 h 531358"/>
              <a:gd name="connsiteX5" fmla="*/ 287947 w 608697"/>
              <a:gd name="connsiteY5" fmla="*/ 168488 h 531358"/>
              <a:gd name="connsiteX6" fmla="*/ 250576 w 608697"/>
              <a:gd name="connsiteY6" fmla="*/ 205806 h 531358"/>
              <a:gd name="connsiteX7" fmla="*/ 287947 w 608697"/>
              <a:gd name="connsiteY7" fmla="*/ 243124 h 531358"/>
              <a:gd name="connsiteX8" fmla="*/ 325318 w 608697"/>
              <a:gd name="connsiteY8" fmla="*/ 205806 h 531358"/>
              <a:gd name="connsiteX9" fmla="*/ 287947 w 608697"/>
              <a:gd name="connsiteY9" fmla="*/ 168488 h 531358"/>
              <a:gd name="connsiteX10" fmla="*/ 102356 w 608697"/>
              <a:gd name="connsiteY10" fmla="*/ 121231 h 531358"/>
              <a:gd name="connsiteX11" fmla="*/ 98850 w 608697"/>
              <a:gd name="connsiteY11" fmla="*/ 127711 h 531358"/>
              <a:gd name="connsiteX12" fmla="*/ 76842 w 608697"/>
              <a:gd name="connsiteY12" fmla="*/ 217990 h 531358"/>
              <a:gd name="connsiteX13" fmla="*/ 98850 w 608697"/>
              <a:gd name="connsiteY13" fmla="*/ 308194 h 531358"/>
              <a:gd name="connsiteX14" fmla="*/ 157488 w 608697"/>
              <a:gd name="connsiteY14" fmla="*/ 380223 h 531358"/>
              <a:gd name="connsiteX15" fmla="*/ 344668 w 608697"/>
              <a:gd name="connsiteY15" fmla="*/ 444729 h 531358"/>
              <a:gd name="connsiteX16" fmla="*/ 370257 w 608697"/>
              <a:gd name="connsiteY16" fmla="*/ 443687 h 531358"/>
              <a:gd name="connsiteX17" fmla="*/ 236717 w 608697"/>
              <a:gd name="connsiteY17" fmla="*/ 477876 h 531358"/>
              <a:gd name="connsiteX18" fmla="*/ 198072 w 608697"/>
              <a:gd name="connsiteY18" fmla="*/ 475344 h 531358"/>
              <a:gd name="connsiteX19" fmla="*/ 82437 w 608697"/>
              <a:gd name="connsiteY19" fmla="*/ 531284 h 531358"/>
              <a:gd name="connsiteX20" fmla="*/ 81542 w 608697"/>
              <a:gd name="connsiteY20" fmla="*/ 531358 h 531358"/>
              <a:gd name="connsiteX21" fmla="*/ 75051 w 608697"/>
              <a:gd name="connsiteY21" fmla="*/ 527857 h 531358"/>
              <a:gd name="connsiteX22" fmla="*/ 74753 w 608697"/>
              <a:gd name="connsiteY22" fmla="*/ 519738 h 531358"/>
              <a:gd name="connsiteX23" fmla="*/ 88778 w 608697"/>
              <a:gd name="connsiteY23" fmla="*/ 435046 h 531358"/>
              <a:gd name="connsiteX24" fmla="*/ 0 w 608697"/>
              <a:gd name="connsiteY24" fmla="*/ 282198 h 531358"/>
              <a:gd name="connsiteX25" fmla="*/ 102356 w 608697"/>
              <a:gd name="connsiteY25" fmla="*/ 121231 h 531358"/>
              <a:gd name="connsiteX26" fmla="*/ 356424 w 608697"/>
              <a:gd name="connsiteY26" fmla="*/ 0 h 531358"/>
              <a:gd name="connsiteX27" fmla="*/ 608697 w 608697"/>
              <a:gd name="connsiteY27" fmla="*/ 211244 h 531358"/>
              <a:gd name="connsiteX28" fmla="*/ 518290 w 608697"/>
              <a:gd name="connsiteY28" fmla="*/ 373401 h 531358"/>
              <a:gd name="connsiteX29" fmla="*/ 531941 w 608697"/>
              <a:gd name="connsiteY29" fmla="*/ 441109 h 531358"/>
              <a:gd name="connsiteX30" fmla="*/ 531120 w 608697"/>
              <a:gd name="connsiteY30" fmla="*/ 465391 h 531358"/>
              <a:gd name="connsiteX31" fmla="*/ 511577 w 608697"/>
              <a:gd name="connsiteY31" fmla="*/ 475894 h 531358"/>
              <a:gd name="connsiteX32" fmla="*/ 509041 w 608697"/>
              <a:gd name="connsiteY32" fmla="*/ 475745 h 531358"/>
              <a:gd name="connsiteX33" fmla="*/ 391408 w 608697"/>
              <a:gd name="connsiteY33" fmla="*/ 420476 h 531358"/>
              <a:gd name="connsiteX34" fmla="*/ 356424 w 608697"/>
              <a:gd name="connsiteY34" fmla="*/ 422487 h 531358"/>
              <a:gd name="connsiteX35" fmla="*/ 104225 w 608697"/>
              <a:gd name="connsiteY35" fmla="*/ 211244 h 531358"/>
              <a:gd name="connsiteX36" fmla="*/ 356424 w 608697"/>
              <a:gd name="connsiteY36" fmla="*/ 0 h 53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08697" h="531358">
                <a:moveTo>
                  <a:pt x="424975" y="168488"/>
                </a:moveTo>
                <a:cubicBezTo>
                  <a:pt x="404312" y="168488"/>
                  <a:pt x="387604" y="185248"/>
                  <a:pt x="387604" y="205806"/>
                </a:cubicBezTo>
                <a:cubicBezTo>
                  <a:pt x="387604" y="226439"/>
                  <a:pt x="404312" y="243124"/>
                  <a:pt x="424975" y="243124"/>
                </a:cubicBezTo>
                <a:cubicBezTo>
                  <a:pt x="445562" y="243124"/>
                  <a:pt x="462346" y="226439"/>
                  <a:pt x="462346" y="205806"/>
                </a:cubicBezTo>
                <a:cubicBezTo>
                  <a:pt x="462346" y="185248"/>
                  <a:pt x="445637" y="168488"/>
                  <a:pt x="424975" y="168488"/>
                </a:cubicBezTo>
                <a:close/>
                <a:moveTo>
                  <a:pt x="287947" y="168488"/>
                </a:moveTo>
                <a:cubicBezTo>
                  <a:pt x="267285" y="168488"/>
                  <a:pt x="250576" y="185248"/>
                  <a:pt x="250576" y="205806"/>
                </a:cubicBezTo>
                <a:cubicBezTo>
                  <a:pt x="250576" y="226439"/>
                  <a:pt x="267285" y="243124"/>
                  <a:pt x="287947" y="243124"/>
                </a:cubicBezTo>
                <a:cubicBezTo>
                  <a:pt x="308610" y="243124"/>
                  <a:pt x="325318" y="226439"/>
                  <a:pt x="325318" y="205806"/>
                </a:cubicBezTo>
                <a:cubicBezTo>
                  <a:pt x="325318" y="185248"/>
                  <a:pt x="308610" y="168488"/>
                  <a:pt x="287947" y="168488"/>
                </a:cubicBezTo>
                <a:close/>
                <a:moveTo>
                  <a:pt x="102356" y="121231"/>
                </a:moveTo>
                <a:cubicBezTo>
                  <a:pt x="101162" y="123317"/>
                  <a:pt x="99969" y="125477"/>
                  <a:pt x="98850" y="127711"/>
                </a:cubicBezTo>
                <a:cubicBezTo>
                  <a:pt x="84227" y="156240"/>
                  <a:pt x="76842" y="186631"/>
                  <a:pt x="76842" y="217990"/>
                </a:cubicBezTo>
                <a:cubicBezTo>
                  <a:pt x="76842" y="249275"/>
                  <a:pt x="84227" y="279666"/>
                  <a:pt x="98850" y="308194"/>
                </a:cubicBezTo>
                <a:cubicBezTo>
                  <a:pt x="112726" y="335308"/>
                  <a:pt x="132496" y="359516"/>
                  <a:pt x="157488" y="380223"/>
                </a:cubicBezTo>
                <a:cubicBezTo>
                  <a:pt x="207845" y="421787"/>
                  <a:pt x="274317" y="444729"/>
                  <a:pt x="344668" y="444729"/>
                </a:cubicBezTo>
                <a:cubicBezTo>
                  <a:pt x="353173" y="444729"/>
                  <a:pt x="361752" y="444357"/>
                  <a:pt x="370257" y="443687"/>
                </a:cubicBezTo>
                <a:cubicBezTo>
                  <a:pt x="332209" y="465288"/>
                  <a:pt x="286254" y="477876"/>
                  <a:pt x="236717" y="477876"/>
                </a:cubicBezTo>
                <a:cubicBezTo>
                  <a:pt x="223736" y="477876"/>
                  <a:pt x="210755" y="477057"/>
                  <a:pt x="198072" y="475344"/>
                </a:cubicBezTo>
                <a:cubicBezTo>
                  <a:pt x="160397" y="499478"/>
                  <a:pt x="110637" y="528155"/>
                  <a:pt x="82437" y="531284"/>
                </a:cubicBezTo>
                <a:cubicBezTo>
                  <a:pt x="82138" y="531358"/>
                  <a:pt x="81840" y="531358"/>
                  <a:pt x="81542" y="531358"/>
                </a:cubicBezTo>
                <a:cubicBezTo>
                  <a:pt x="78930" y="531358"/>
                  <a:pt x="76469" y="530017"/>
                  <a:pt x="75051" y="527857"/>
                </a:cubicBezTo>
                <a:cubicBezTo>
                  <a:pt x="73410" y="525399"/>
                  <a:pt x="73335" y="522271"/>
                  <a:pt x="74753" y="519738"/>
                </a:cubicBezTo>
                <a:cubicBezTo>
                  <a:pt x="75051" y="519291"/>
                  <a:pt x="99223" y="476014"/>
                  <a:pt x="88778" y="435046"/>
                </a:cubicBezTo>
                <a:cubicBezTo>
                  <a:pt x="32303" y="397653"/>
                  <a:pt x="0" y="342160"/>
                  <a:pt x="0" y="282198"/>
                </a:cubicBezTo>
                <a:cubicBezTo>
                  <a:pt x="0" y="215532"/>
                  <a:pt x="40584" y="156538"/>
                  <a:pt x="102356" y="121231"/>
                </a:cubicBezTo>
                <a:close/>
                <a:moveTo>
                  <a:pt x="356424" y="0"/>
                </a:moveTo>
                <a:cubicBezTo>
                  <a:pt x="495540" y="0"/>
                  <a:pt x="608697" y="94747"/>
                  <a:pt x="608697" y="211244"/>
                </a:cubicBezTo>
                <a:cubicBezTo>
                  <a:pt x="608697" y="274408"/>
                  <a:pt x="575802" y="333178"/>
                  <a:pt x="518290" y="373401"/>
                </a:cubicBezTo>
                <a:cubicBezTo>
                  <a:pt x="512845" y="406324"/>
                  <a:pt x="531717" y="440811"/>
                  <a:pt x="531941" y="441109"/>
                </a:cubicBezTo>
                <a:cubicBezTo>
                  <a:pt x="536267" y="448781"/>
                  <a:pt x="535969" y="458092"/>
                  <a:pt x="531120" y="465391"/>
                </a:cubicBezTo>
                <a:cubicBezTo>
                  <a:pt x="526794" y="472021"/>
                  <a:pt x="519484" y="475894"/>
                  <a:pt x="511577" y="475894"/>
                </a:cubicBezTo>
                <a:cubicBezTo>
                  <a:pt x="510756" y="475894"/>
                  <a:pt x="509936" y="475894"/>
                  <a:pt x="509041" y="475745"/>
                </a:cubicBezTo>
                <a:cubicBezTo>
                  <a:pt x="484574" y="473064"/>
                  <a:pt x="444966" y="454442"/>
                  <a:pt x="391408" y="420476"/>
                </a:cubicBezTo>
                <a:cubicBezTo>
                  <a:pt x="379920" y="421817"/>
                  <a:pt x="368135" y="422487"/>
                  <a:pt x="356424" y="422487"/>
                </a:cubicBezTo>
                <a:cubicBezTo>
                  <a:pt x="217382" y="422487"/>
                  <a:pt x="104225" y="327741"/>
                  <a:pt x="104225" y="211244"/>
                </a:cubicBezTo>
                <a:cubicBezTo>
                  <a:pt x="104225" y="94747"/>
                  <a:pt x="217382" y="0"/>
                  <a:pt x="356424"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74" name="statistics-settings_72708"/>
          <p:cNvSpPr>
            <a:spLocks noChangeAspect="1"/>
          </p:cNvSpPr>
          <p:nvPr/>
        </p:nvSpPr>
        <p:spPr>
          <a:xfrm>
            <a:off x="9394921" y="5044596"/>
            <a:ext cx="224528" cy="216000"/>
          </a:xfrm>
          <a:custGeom>
            <a:avLst/>
            <a:gdLst>
              <a:gd name="connsiteX0" fmla="*/ 195114 w 608814"/>
              <a:gd name="connsiteY0" fmla="*/ 351627 h 585693"/>
              <a:gd name="connsiteX1" fmla="*/ 258290 w 608814"/>
              <a:gd name="connsiteY1" fmla="*/ 351627 h 585693"/>
              <a:gd name="connsiteX2" fmla="*/ 282731 w 608814"/>
              <a:gd name="connsiteY2" fmla="*/ 376018 h 585693"/>
              <a:gd name="connsiteX3" fmla="*/ 282731 w 608814"/>
              <a:gd name="connsiteY3" fmla="*/ 561210 h 585693"/>
              <a:gd name="connsiteX4" fmla="*/ 258290 w 608814"/>
              <a:gd name="connsiteY4" fmla="*/ 585693 h 585693"/>
              <a:gd name="connsiteX5" fmla="*/ 195114 w 608814"/>
              <a:gd name="connsiteY5" fmla="*/ 585693 h 585693"/>
              <a:gd name="connsiteX6" fmla="*/ 170673 w 608814"/>
              <a:gd name="connsiteY6" fmla="*/ 561210 h 585693"/>
              <a:gd name="connsiteX7" fmla="*/ 170673 w 608814"/>
              <a:gd name="connsiteY7" fmla="*/ 376018 h 585693"/>
              <a:gd name="connsiteX8" fmla="*/ 195114 w 608814"/>
              <a:gd name="connsiteY8" fmla="*/ 351627 h 585693"/>
              <a:gd name="connsiteX9" fmla="*/ 358100 w 608814"/>
              <a:gd name="connsiteY9" fmla="*/ 249872 h 585693"/>
              <a:gd name="connsiteX10" fmla="*/ 421316 w 608814"/>
              <a:gd name="connsiteY10" fmla="*/ 249872 h 585693"/>
              <a:gd name="connsiteX11" fmla="*/ 445737 w 608814"/>
              <a:gd name="connsiteY11" fmla="*/ 274267 h 585693"/>
              <a:gd name="connsiteX12" fmla="*/ 445737 w 608814"/>
              <a:gd name="connsiteY12" fmla="*/ 561206 h 585693"/>
              <a:gd name="connsiteX13" fmla="*/ 421316 w 608814"/>
              <a:gd name="connsiteY13" fmla="*/ 585693 h 585693"/>
              <a:gd name="connsiteX14" fmla="*/ 358100 w 608814"/>
              <a:gd name="connsiteY14" fmla="*/ 585693 h 585693"/>
              <a:gd name="connsiteX15" fmla="*/ 333679 w 608814"/>
              <a:gd name="connsiteY15" fmla="*/ 561206 h 585693"/>
              <a:gd name="connsiteX16" fmla="*/ 333679 w 608814"/>
              <a:gd name="connsiteY16" fmla="*/ 274267 h 585693"/>
              <a:gd name="connsiteX17" fmla="*/ 358100 w 608814"/>
              <a:gd name="connsiteY17" fmla="*/ 249872 h 585693"/>
              <a:gd name="connsiteX18" fmla="*/ 140260 w 608814"/>
              <a:gd name="connsiteY18" fmla="*/ 224680 h 585693"/>
              <a:gd name="connsiteX19" fmla="*/ 191844 w 608814"/>
              <a:gd name="connsiteY19" fmla="*/ 276122 h 585693"/>
              <a:gd name="connsiteX20" fmla="*/ 140260 w 608814"/>
              <a:gd name="connsiteY20" fmla="*/ 327564 h 585693"/>
              <a:gd name="connsiteX21" fmla="*/ 88676 w 608814"/>
              <a:gd name="connsiteY21" fmla="*/ 276122 h 585693"/>
              <a:gd name="connsiteX22" fmla="*/ 140260 w 608814"/>
              <a:gd name="connsiteY22" fmla="*/ 224680 h 585693"/>
              <a:gd name="connsiteX23" fmla="*/ 521177 w 608814"/>
              <a:gd name="connsiteY23" fmla="*/ 148117 h 585693"/>
              <a:gd name="connsiteX24" fmla="*/ 584301 w 608814"/>
              <a:gd name="connsiteY24" fmla="*/ 148117 h 585693"/>
              <a:gd name="connsiteX25" fmla="*/ 608814 w 608814"/>
              <a:gd name="connsiteY25" fmla="*/ 172601 h 585693"/>
              <a:gd name="connsiteX26" fmla="*/ 608814 w 608814"/>
              <a:gd name="connsiteY26" fmla="*/ 561209 h 585693"/>
              <a:gd name="connsiteX27" fmla="*/ 584301 w 608814"/>
              <a:gd name="connsiteY27" fmla="*/ 585693 h 585693"/>
              <a:gd name="connsiteX28" fmla="*/ 521177 w 608814"/>
              <a:gd name="connsiteY28" fmla="*/ 585693 h 585693"/>
              <a:gd name="connsiteX29" fmla="*/ 496756 w 608814"/>
              <a:gd name="connsiteY29" fmla="*/ 561209 h 585693"/>
              <a:gd name="connsiteX30" fmla="*/ 496756 w 608814"/>
              <a:gd name="connsiteY30" fmla="*/ 172601 h 585693"/>
              <a:gd name="connsiteX31" fmla="*/ 521177 w 608814"/>
              <a:gd name="connsiteY31" fmla="*/ 148117 h 585693"/>
              <a:gd name="connsiteX32" fmla="*/ 116229 w 608814"/>
              <a:gd name="connsiteY32" fmla="*/ 131322 h 585693"/>
              <a:gd name="connsiteX33" fmla="*/ 164246 w 608814"/>
              <a:gd name="connsiteY33" fmla="*/ 131322 h 585693"/>
              <a:gd name="connsiteX34" fmla="*/ 184061 w 608814"/>
              <a:gd name="connsiteY34" fmla="*/ 151113 h 585693"/>
              <a:gd name="connsiteX35" fmla="*/ 184061 w 608814"/>
              <a:gd name="connsiteY35" fmla="*/ 171457 h 585693"/>
              <a:gd name="connsiteX36" fmla="*/ 208669 w 608814"/>
              <a:gd name="connsiteY36" fmla="*/ 186094 h 585693"/>
              <a:gd name="connsiteX37" fmla="*/ 226641 w 608814"/>
              <a:gd name="connsiteY37" fmla="*/ 175692 h 585693"/>
              <a:gd name="connsiteX38" fmla="*/ 253737 w 608814"/>
              <a:gd name="connsiteY38" fmla="*/ 182964 h 585693"/>
              <a:gd name="connsiteX39" fmla="*/ 277792 w 608814"/>
              <a:gd name="connsiteY39" fmla="*/ 224572 h 585693"/>
              <a:gd name="connsiteX40" fmla="*/ 279727 w 608814"/>
              <a:gd name="connsiteY40" fmla="*/ 239577 h 585693"/>
              <a:gd name="connsiteX41" fmla="*/ 270511 w 608814"/>
              <a:gd name="connsiteY41" fmla="*/ 251544 h 585693"/>
              <a:gd name="connsiteX42" fmla="*/ 252355 w 608814"/>
              <a:gd name="connsiteY42" fmla="*/ 262038 h 585693"/>
              <a:gd name="connsiteX43" fmla="*/ 253829 w 608814"/>
              <a:gd name="connsiteY43" fmla="*/ 276122 h 585693"/>
              <a:gd name="connsiteX44" fmla="*/ 252355 w 608814"/>
              <a:gd name="connsiteY44" fmla="*/ 290206 h 585693"/>
              <a:gd name="connsiteX45" fmla="*/ 270511 w 608814"/>
              <a:gd name="connsiteY45" fmla="*/ 300700 h 585693"/>
              <a:gd name="connsiteX46" fmla="*/ 278714 w 608814"/>
              <a:gd name="connsiteY46" fmla="*/ 325094 h 585693"/>
              <a:gd name="connsiteX47" fmla="*/ 258253 w 608814"/>
              <a:gd name="connsiteY47" fmla="*/ 321136 h 585693"/>
              <a:gd name="connsiteX48" fmla="*/ 195858 w 608814"/>
              <a:gd name="connsiteY48" fmla="*/ 321136 h 585693"/>
              <a:gd name="connsiteX49" fmla="*/ 212171 w 608814"/>
              <a:gd name="connsiteY49" fmla="*/ 276122 h 585693"/>
              <a:gd name="connsiteX50" fmla="*/ 140191 w 608814"/>
              <a:gd name="connsiteY50" fmla="*/ 204320 h 585693"/>
              <a:gd name="connsiteX51" fmla="*/ 68304 w 608814"/>
              <a:gd name="connsiteY51" fmla="*/ 276122 h 585693"/>
              <a:gd name="connsiteX52" fmla="*/ 140191 w 608814"/>
              <a:gd name="connsiteY52" fmla="*/ 348016 h 585693"/>
              <a:gd name="connsiteX53" fmla="*/ 148486 w 608814"/>
              <a:gd name="connsiteY53" fmla="*/ 347095 h 585693"/>
              <a:gd name="connsiteX54" fmla="*/ 140099 w 608814"/>
              <a:gd name="connsiteY54" fmla="*/ 376000 h 585693"/>
              <a:gd name="connsiteX55" fmla="*/ 140099 w 608814"/>
              <a:gd name="connsiteY55" fmla="*/ 420922 h 585693"/>
              <a:gd name="connsiteX56" fmla="*/ 116229 w 608814"/>
              <a:gd name="connsiteY56" fmla="*/ 420922 h 585693"/>
              <a:gd name="connsiteX57" fmla="*/ 96413 w 608814"/>
              <a:gd name="connsiteY57" fmla="*/ 401131 h 585693"/>
              <a:gd name="connsiteX58" fmla="*/ 96413 w 608814"/>
              <a:gd name="connsiteY58" fmla="*/ 380787 h 585693"/>
              <a:gd name="connsiteX59" fmla="*/ 71806 w 608814"/>
              <a:gd name="connsiteY59" fmla="*/ 366150 h 585693"/>
              <a:gd name="connsiteX60" fmla="*/ 53742 w 608814"/>
              <a:gd name="connsiteY60" fmla="*/ 376552 h 585693"/>
              <a:gd name="connsiteX61" fmla="*/ 38719 w 608814"/>
              <a:gd name="connsiteY61" fmla="*/ 378577 h 585693"/>
              <a:gd name="connsiteX62" fmla="*/ 26738 w 608814"/>
              <a:gd name="connsiteY62" fmla="*/ 369372 h 585693"/>
              <a:gd name="connsiteX63" fmla="*/ 2683 w 608814"/>
              <a:gd name="connsiteY63" fmla="*/ 327764 h 585693"/>
              <a:gd name="connsiteX64" fmla="*/ 9872 w 608814"/>
              <a:gd name="connsiteY64" fmla="*/ 300700 h 585693"/>
              <a:gd name="connsiteX65" fmla="*/ 28120 w 608814"/>
              <a:gd name="connsiteY65" fmla="*/ 290206 h 585693"/>
              <a:gd name="connsiteX66" fmla="*/ 26645 w 608814"/>
              <a:gd name="connsiteY66" fmla="*/ 276122 h 585693"/>
              <a:gd name="connsiteX67" fmla="*/ 28120 w 608814"/>
              <a:gd name="connsiteY67" fmla="*/ 262038 h 585693"/>
              <a:gd name="connsiteX68" fmla="*/ 9872 w 608814"/>
              <a:gd name="connsiteY68" fmla="*/ 251544 h 585693"/>
              <a:gd name="connsiteX69" fmla="*/ 2683 w 608814"/>
              <a:gd name="connsiteY69" fmla="*/ 224572 h 585693"/>
              <a:gd name="connsiteX70" fmla="*/ 26738 w 608814"/>
              <a:gd name="connsiteY70" fmla="*/ 182964 h 585693"/>
              <a:gd name="connsiteX71" fmla="*/ 38719 w 608814"/>
              <a:gd name="connsiteY71" fmla="*/ 173759 h 585693"/>
              <a:gd name="connsiteX72" fmla="*/ 53742 w 608814"/>
              <a:gd name="connsiteY72" fmla="*/ 175692 h 585693"/>
              <a:gd name="connsiteX73" fmla="*/ 71806 w 608814"/>
              <a:gd name="connsiteY73" fmla="*/ 186094 h 585693"/>
              <a:gd name="connsiteX74" fmla="*/ 96413 w 608814"/>
              <a:gd name="connsiteY74" fmla="*/ 171457 h 585693"/>
              <a:gd name="connsiteX75" fmla="*/ 96413 w 608814"/>
              <a:gd name="connsiteY75" fmla="*/ 151113 h 585693"/>
              <a:gd name="connsiteX76" fmla="*/ 116229 w 608814"/>
              <a:gd name="connsiteY76" fmla="*/ 131322 h 585693"/>
              <a:gd name="connsiteX77" fmla="*/ 445756 w 608814"/>
              <a:gd name="connsiteY77" fmla="*/ 83476 h 585693"/>
              <a:gd name="connsiteX78" fmla="*/ 414140 w 608814"/>
              <a:gd name="connsiteY78" fmla="*/ 115044 h 585693"/>
              <a:gd name="connsiteX79" fmla="*/ 445756 w 608814"/>
              <a:gd name="connsiteY79" fmla="*/ 146520 h 585693"/>
              <a:gd name="connsiteX80" fmla="*/ 477371 w 608814"/>
              <a:gd name="connsiteY80" fmla="*/ 115044 h 585693"/>
              <a:gd name="connsiteX81" fmla="*/ 445756 w 608814"/>
              <a:gd name="connsiteY81" fmla="*/ 83476 h 585693"/>
              <a:gd name="connsiteX82" fmla="*/ 426676 w 608814"/>
              <a:gd name="connsiteY82" fmla="*/ 0 h 585693"/>
              <a:gd name="connsiteX83" fmla="*/ 464835 w 608814"/>
              <a:gd name="connsiteY83" fmla="*/ 0 h 585693"/>
              <a:gd name="connsiteX84" fmla="*/ 480597 w 608814"/>
              <a:gd name="connsiteY84" fmla="*/ 15738 h 585693"/>
              <a:gd name="connsiteX85" fmla="*/ 480597 w 608814"/>
              <a:gd name="connsiteY85" fmla="*/ 31936 h 585693"/>
              <a:gd name="connsiteX86" fmla="*/ 500138 w 608814"/>
              <a:gd name="connsiteY86" fmla="*/ 43533 h 585693"/>
              <a:gd name="connsiteX87" fmla="*/ 514425 w 608814"/>
              <a:gd name="connsiteY87" fmla="*/ 35249 h 585693"/>
              <a:gd name="connsiteX88" fmla="*/ 535901 w 608814"/>
              <a:gd name="connsiteY88" fmla="*/ 40956 h 585693"/>
              <a:gd name="connsiteX89" fmla="*/ 554981 w 608814"/>
              <a:gd name="connsiteY89" fmla="*/ 73996 h 585693"/>
              <a:gd name="connsiteX90" fmla="*/ 556640 w 608814"/>
              <a:gd name="connsiteY90" fmla="*/ 85961 h 585693"/>
              <a:gd name="connsiteX91" fmla="*/ 549266 w 608814"/>
              <a:gd name="connsiteY91" fmla="*/ 95440 h 585693"/>
              <a:gd name="connsiteX92" fmla="*/ 534887 w 608814"/>
              <a:gd name="connsiteY92" fmla="*/ 103815 h 585693"/>
              <a:gd name="connsiteX93" fmla="*/ 535993 w 608814"/>
              <a:gd name="connsiteY93" fmla="*/ 115044 h 585693"/>
              <a:gd name="connsiteX94" fmla="*/ 535717 w 608814"/>
              <a:gd name="connsiteY94" fmla="*/ 117621 h 585693"/>
              <a:gd name="connsiteX95" fmla="*/ 521153 w 608814"/>
              <a:gd name="connsiteY95" fmla="*/ 117621 h 585693"/>
              <a:gd name="connsiteX96" fmla="*/ 466126 w 608814"/>
              <a:gd name="connsiteY96" fmla="*/ 172565 h 585693"/>
              <a:gd name="connsiteX97" fmla="*/ 466126 w 608814"/>
              <a:gd name="connsiteY97" fmla="*/ 229719 h 585693"/>
              <a:gd name="connsiteX98" fmla="*/ 466126 w 608814"/>
              <a:gd name="connsiteY98" fmla="*/ 242604 h 585693"/>
              <a:gd name="connsiteX99" fmla="*/ 453590 w 608814"/>
              <a:gd name="connsiteY99" fmla="*/ 229995 h 585693"/>
              <a:gd name="connsiteX100" fmla="*/ 421330 w 608814"/>
              <a:gd name="connsiteY100" fmla="*/ 219319 h 585693"/>
              <a:gd name="connsiteX101" fmla="*/ 411928 w 608814"/>
              <a:gd name="connsiteY101" fmla="*/ 219319 h 585693"/>
              <a:gd name="connsiteX102" fmla="*/ 410914 w 608814"/>
              <a:gd name="connsiteY102" fmla="*/ 214257 h 585693"/>
              <a:gd name="connsiteX103" fmla="*/ 410914 w 608814"/>
              <a:gd name="connsiteY103" fmla="*/ 198059 h 585693"/>
              <a:gd name="connsiteX104" fmla="*/ 391373 w 608814"/>
              <a:gd name="connsiteY104" fmla="*/ 186463 h 585693"/>
              <a:gd name="connsiteX105" fmla="*/ 377086 w 608814"/>
              <a:gd name="connsiteY105" fmla="*/ 194746 h 585693"/>
              <a:gd name="connsiteX106" fmla="*/ 365104 w 608814"/>
              <a:gd name="connsiteY106" fmla="*/ 196310 h 585693"/>
              <a:gd name="connsiteX107" fmla="*/ 355610 w 608814"/>
              <a:gd name="connsiteY107" fmla="*/ 189040 h 585693"/>
              <a:gd name="connsiteX108" fmla="*/ 336530 w 608814"/>
              <a:gd name="connsiteY108" fmla="*/ 155999 h 585693"/>
              <a:gd name="connsiteX109" fmla="*/ 342245 w 608814"/>
              <a:gd name="connsiteY109" fmla="*/ 134463 h 585693"/>
              <a:gd name="connsiteX110" fmla="*/ 356716 w 608814"/>
              <a:gd name="connsiteY110" fmla="*/ 126180 h 585693"/>
              <a:gd name="connsiteX111" fmla="*/ 355518 w 608814"/>
              <a:gd name="connsiteY111" fmla="*/ 115044 h 585693"/>
              <a:gd name="connsiteX112" fmla="*/ 356716 w 608814"/>
              <a:gd name="connsiteY112" fmla="*/ 103815 h 585693"/>
              <a:gd name="connsiteX113" fmla="*/ 342245 w 608814"/>
              <a:gd name="connsiteY113" fmla="*/ 95440 h 585693"/>
              <a:gd name="connsiteX114" fmla="*/ 336530 w 608814"/>
              <a:gd name="connsiteY114" fmla="*/ 73996 h 585693"/>
              <a:gd name="connsiteX115" fmla="*/ 355610 w 608814"/>
              <a:gd name="connsiteY115" fmla="*/ 40956 h 585693"/>
              <a:gd name="connsiteX116" fmla="*/ 365104 w 608814"/>
              <a:gd name="connsiteY116" fmla="*/ 33685 h 585693"/>
              <a:gd name="connsiteX117" fmla="*/ 377086 w 608814"/>
              <a:gd name="connsiteY117" fmla="*/ 35249 h 585693"/>
              <a:gd name="connsiteX118" fmla="*/ 391373 w 608814"/>
              <a:gd name="connsiteY118" fmla="*/ 43533 h 585693"/>
              <a:gd name="connsiteX119" fmla="*/ 410914 w 608814"/>
              <a:gd name="connsiteY119" fmla="*/ 31936 h 585693"/>
              <a:gd name="connsiteX120" fmla="*/ 410914 w 608814"/>
              <a:gd name="connsiteY120" fmla="*/ 15738 h 585693"/>
              <a:gd name="connsiteX121" fmla="*/ 426676 w 608814"/>
              <a:gd name="connsiteY121" fmla="*/ 0 h 58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08814" h="585693">
                <a:moveTo>
                  <a:pt x="195114" y="351627"/>
                </a:moveTo>
                <a:lnTo>
                  <a:pt x="258290" y="351627"/>
                </a:lnTo>
                <a:cubicBezTo>
                  <a:pt x="271848" y="351627"/>
                  <a:pt x="282731" y="362580"/>
                  <a:pt x="282731" y="376018"/>
                </a:cubicBezTo>
                <a:lnTo>
                  <a:pt x="282731" y="561210"/>
                </a:lnTo>
                <a:cubicBezTo>
                  <a:pt x="282731" y="574740"/>
                  <a:pt x="271848" y="585693"/>
                  <a:pt x="258290" y="585693"/>
                </a:cubicBezTo>
                <a:lnTo>
                  <a:pt x="195114" y="585693"/>
                </a:lnTo>
                <a:cubicBezTo>
                  <a:pt x="181556" y="585693"/>
                  <a:pt x="170673" y="574740"/>
                  <a:pt x="170673" y="561210"/>
                </a:cubicBezTo>
                <a:lnTo>
                  <a:pt x="170673" y="376018"/>
                </a:lnTo>
                <a:cubicBezTo>
                  <a:pt x="170673" y="362580"/>
                  <a:pt x="181556" y="351627"/>
                  <a:pt x="195114" y="351627"/>
                </a:cubicBezTo>
                <a:close/>
                <a:moveTo>
                  <a:pt x="358100" y="249872"/>
                </a:moveTo>
                <a:lnTo>
                  <a:pt x="421316" y="249872"/>
                </a:lnTo>
                <a:cubicBezTo>
                  <a:pt x="434771" y="249872"/>
                  <a:pt x="445737" y="260735"/>
                  <a:pt x="445737" y="274267"/>
                </a:cubicBezTo>
                <a:lnTo>
                  <a:pt x="445737" y="561206"/>
                </a:lnTo>
                <a:cubicBezTo>
                  <a:pt x="445737" y="574738"/>
                  <a:pt x="434771" y="585693"/>
                  <a:pt x="421316" y="585693"/>
                </a:cubicBezTo>
                <a:lnTo>
                  <a:pt x="358100" y="585693"/>
                </a:lnTo>
                <a:cubicBezTo>
                  <a:pt x="344645" y="585693"/>
                  <a:pt x="333679" y="574738"/>
                  <a:pt x="333679" y="561206"/>
                </a:cubicBezTo>
                <a:lnTo>
                  <a:pt x="333679" y="274267"/>
                </a:lnTo>
                <a:cubicBezTo>
                  <a:pt x="333679" y="260735"/>
                  <a:pt x="344645" y="249872"/>
                  <a:pt x="358100" y="249872"/>
                </a:cubicBezTo>
                <a:close/>
                <a:moveTo>
                  <a:pt x="140260" y="224680"/>
                </a:moveTo>
                <a:cubicBezTo>
                  <a:pt x="168749" y="224680"/>
                  <a:pt x="191844" y="247711"/>
                  <a:pt x="191844" y="276122"/>
                </a:cubicBezTo>
                <a:cubicBezTo>
                  <a:pt x="191844" y="304533"/>
                  <a:pt x="168749" y="327564"/>
                  <a:pt x="140260" y="327564"/>
                </a:cubicBezTo>
                <a:cubicBezTo>
                  <a:pt x="111771" y="327564"/>
                  <a:pt x="88676" y="304533"/>
                  <a:pt x="88676" y="276122"/>
                </a:cubicBezTo>
                <a:cubicBezTo>
                  <a:pt x="88676" y="247711"/>
                  <a:pt x="111771" y="224680"/>
                  <a:pt x="140260" y="224680"/>
                </a:cubicBezTo>
                <a:close/>
                <a:moveTo>
                  <a:pt x="521177" y="148117"/>
                </a:moveTo>
                <a:lnTo>
                  <a:pt x="584301" y="148117"/>
                </a:lnTo>
                <a:cubicBezTo>
                  <a:pt x="597848" y="148117"/>
                  <a:pt x="608814" y="159070"/>
                  <a:pt x="608814" y="172601"/>
                </a:cubicBezTo>
                <a:lnTo>
                  <a:pt x="608814" y="561209"/>
                </a:lnTo>
                <a:cubicBezTo>
                  <a:pt x="608814" y="574740"/>
                  <a:pt x="597848" y="585693"/>
                  <a:pt x="584301" y="585693"/>
                </a:cubicBezTo>
                <a:lnTo>
                  <a:pt x="521177" y="585693"/>
                </a:lnTo>
                <a:cubicBezTo>
                  <a:pt x="507722" y="585693"/>
                  <a:pt x="496756" y="574740"/>
                  <a:pt x="496756" y="561209"/>
                </a:cubicBezTo>
                <a:lnTo>
                  <a:pt x="496756" y="172601"/>
                </a:lnTo>
                <a:cubicBezTo>
                  <a:pt x="496756" y="159070"/>
                  <a:pt x="507722" y="148117"/>
                  <a:pt x="521177" y="148117"/>
                </a:cubicBezTo>
                <a:close/>
                <a:moveTo>
                  <a:pt x="116229" y="131322"/>
                </a:moveTo>
                <a:lnTo>
                  <a:pt x="164246" y="131322"/>
                </a:lnTo>
                <a:cubicBezTo>
                  <a:pt x="175214" y="131322"/>
                  <a:pt x="184061" y="140159"/>
                  <a:pt x="184061" y="151113"/>
                </a:cubicBezTo>
                <a:lnTo>
                  <a:pt x="184061" y="171457"/>
                </a:lnTo>
                <a:cubicBezTo>
                  <a:pt x="193001" y="175231"/>
                  <a:pt x="201019" y="180386"/>
                  <a:pt x="208669" y="186094"/>
                </a:cubicBezTo>
                <a:lnTo>
                  <a:pt x="226641" y="175692"/>
                </a:lnTo>
                <a:cubicBezTo>
                  <a:pt x="236134" y="170261"/>
                  <a:pt x="248300" y="173482"/>
                  <a:pt x="253737" y="182964"/>
                </a:cubicBezTo>
                <a:lnTo>
                  <a:pt x="277792" y="224572"/>
                </a:lnTo>
                <a:cubicBezTo>
                  <a:pt x="280465" y="229083"/>
                  <a:pt x="281110" y="234514"/>
                  <a:pt x="279727" y="239577"/>
                </a:cubicBezTo>
                <a:cubicBezTo>
                  <a:pt x="278437" y="244640"/>
                  <a:pt x="275119" y="248966"/>
                  <a:pt x="270511" y="251544"/>
                </a:cubicBezTo>
                <a:lnTo>
                  <a:pt x="252355" y="262038"/>
                </a:lnTo>
                <a:cubicBezTo>
                  <a:pt x="253000" y="266733"/>
                  <a:pt x="253829" y="271335"/>
                  <a:pt x="253829" y="276122"/>
                </a:cubicBezTo>
                <a:cubicBezTo>
                  <a:pt x="253829" y="281001"/>
                  <a:pt x="253000" y="285604"/>
                  <a:pt x="252355" y="290206"/>
                </a:cubicBezTo>
                <a:lnTo>
                  <a:pt x="270511" y="300700"/>
                </a:lnTo>
                <a:cubicBezTo>
                  <a:pt x="279174" y="305671"/>
                  <a:pt x="282308" y="316165"/>
                  <a:pt x="278714" y="325094"/>
                </a:cubicBezTo>
                <a:cubicBezTo>
                  <a:pt x="272354" y="322609"/>
                  <a:pt x="265442" y="321136"/>
                  <a:pt x="258253" y="321136"/>
                </a:cubicBezTo>
                <a:lnTo>
                  <a:pt x="195858" y="321136"/>
                </a:lnTo>
                <a:cubicBezTo>
                  <a:pt x="205904" y="308709"/>
                  <a:pt x="212171" y="293244"/>
                  <a:pt x="212171" y="276122"/>
                </a:cubicBezTo>
                <a:cubicBezTo>
                  <a:pt x="212171" y="236539"/>
                  <a:pt x="179914" y="204320"/>
                  <a:pt x="140191" y="204320"/>
                </a:cubicBezTo>
                <a:cubicBezTo>
                  <a:pt x="100561" y="204320"/>
                  <a:pt x="68304" y="236539"/>
                  <a:pt x="68304" y="276122"/>
                </a:cubicBezTo>
                <a:cubicBezTo>
                  <a:pt x="68304" y="315797"/>
                  <a:pt x="100561" y="348016"/>
                  <a:pt x="140191" y="348016"/>
                </a:cubicBezTo>
                <a:cubicBezTo>
                  <a:pt x="143048" y="348016"/>
                  <a:pt x="145721" y="347463"/>
                  <a:pt x="148486" y="347095"/>
                </a:cubicBezTo>
                <a:cubicBezTo>
                  <a:pt x="143233" y="355564"/>
                  <a:pt x="140099" y="365414"/>
                  <a:pt x="140099" y="376000"/>
                </a:cubicBezTo>
                <a:lnTo>
                  <a:pt x="140099" y="420922"/>
                </a:lnTo>
                <a:lnTo>
                  <a:pt x="116229" y="420922"/>
                </a:lnTo>
                <a:cubicBezTo>
                  <a:pt x="105261" y="420922"/>
                  <a:pt x="96413" y="412085"/>
                  <a:pt x="96413" y="401131"/>
                </a:cubicBezTo>
                <a:lnTo>
                  <a:pt x="96413" y="380787"/>
                </a:lnTo>
                <a:cubicBezTo>
                  <a:pt x="87474" y="377013"/>
                  <a:pt x="79455" y="371950"/>
                  <a:pt x="71806" y="366150"/>
                </a:cubicBezTo>
                <a:lnTo>
                  <a:pt x="53742" y="376552"/>
                </a:lnTo>
                <a:cubicBezTo>
                  <a:pt x="49226" y="379222"/>
                  <a:pt x="43788" y="379866"/>
                  <a:pt x="38719" y="378577"/>
                </a:cubicBezTo>
                <a:cubicBezTo>
                  <a:pt x="33650" y="377197"/>
                  <a:pt x="29318" y="373883"/>
                  <a:pt x="26738" y="369372"/>
                </a:cubicBezTo>
                <a:lnTo>
                  <a:pt x="2683" y="327764"/>
                </a:lnTo>
                <a:cubicBezTo>
                  <a:pt x="-2847" y="318282"/>
                  <a:pt x="471" y="306131"/>
                  <a:pt x="9872" y="300700"/>
                </a:cubicBezTo>
                <a:lnTo>
                  <a:pt x="28120" y="290206"/>
                </a:lnTo>
                <a:cubicBezTo>
                  <a:pt x="27475" y="285604"/>
                  <a:pt x="26645" y="281001"/>
                  <a:pt x="26645" y="276122"/>
                </a:cubicBezTo>
                <a:cubicBezTo>
                  <a:pt x="26645" y="271335"/>
                  <a:pt x="27475" y="266733"/>
                  <a:pt x="28120" y="262038"/>
                </a:cubicBezTo>
                <a:lnTo>
                  <a:pt x="9872" y="251544"/>
                </a:lnTo>
                <a:cubicBezTo>
                  <a:pt x="471" y="246113"/>
                  <a:pt x="-2847" y="233962"/>
                  <a:pt x="2683" y="224572"/>
                </a:cubicBezTo>
                <a:lnTo>
                  <a:pt x="26738" y="182964"/>
                </a:lnTo>
                <a:cubicBezTo>
                  <a:pt x="29318" y="178361"/>
                  <a:pt x="33650" y="175139"/>
                  <a:pt x="38719" y="173759"/>
                </a:cubicBezTo>
                <a:cubicBezTo>
                  <a:pt x="43788" y="172378"/>
                  <a:pt x="49226" y="173114"/>
                  <a:pt x="53742" y="175692"/>
                </a:cubicBezTo>
                <a:lnTo>
                  <a:pt x="71806" y="186094"/>
                </a:lnTo>
                <a:cubicBezTo>
                  <a:pt x="79455" y="180386"/>
                  <a:pt x="87474" y="175231"/>
                  <a:pt x="96413" y="171457"/>
                </a:cubicBezTo>
                <a:lnTo>
                  <a:pt x="96413" y="151113"/>
                </a:lnTo>
                <a:cubicBezTo>
                  <a:pt x="96413" y="140159"/>
                  <a:pt x="105261" y="131322"/>
                  <a:pt x="116229" y="131322"/>
                </a:cubicBezTo>
                <a:close/>
                <a:moveTo>
                  <a:pt x="445756" y="83476"/>
                </a:moveTo>
                <a:cubicBezTo>
                  <a:pt x="428335" y="83476"/>
                  <a:pt x="414140" y="97557"/>
                  <a:pt x="414140" y="115044"/>
                </a:cubicBezTo>
                <a:cubicBezTo>
                  <a:pt x="414140" y="132438"/>
                  <a:pt x="428335" y="146520"/>
                  <a:pt x="445756" y="146520"/>
                </a:cubicBezTo>
                <a:cubicBezTo>
                  <a:pt x="463176" y="146520"/>
                  <a:pt x="477371" y="132438"/>
                  <a:pt x="477371" y="115044"/>
                </a:cubicBezTo>
                <a:cubicBezTo>
                  <a:pt x="477371" y="97557"/>
                  <a:pt x="463176" y="83476"/>
                  <a:pt x="445756" y="83476"/>
                </a:cubicBezTo>
                <a:close/>
                <a:moveTo>
                  <a:pt x="426676" y="0"/>
                </a:moveTo>
                <a:lnTo>
                  <a:pt x="464835" y="0"/>
                </a:lnTo>
                <a:cubicBezTo>
                  <a:pt x="473500" y="0"/>
                  <a:pt x="480597" y="7087"/>
                  <a:pt x="480597" y="15738"/>
                </a:cubicBezTo>
                <a:lnTo>
                  <a:pt x="480597" y="31936"/>
                </a:lnTo>
                <a:cubicBezTo>
                  <a:pt x="487694" y="34881"/>
                  <a:pt x="494054" y="38931"/>
                  <a:pt x="500138" y="43533"/>
                </a:cubicBezTo>
                <a:lnTo>
                  <a:pt x="514425" y="35249"/>
                </a:lnTo>
                <a:cubicBezTo>
                  <a:pt x="521983" y="30924"/>
                  <a:pt x="531569" y="33501"/>
                  <a:pt x="535901" y="40956"/>
                </a:cubicBezTo>
                <a:lnTo>
                  <a:pt x="554981" y="73996"/>
                </a:lnTo>
                <a:cubicBezTo>
                  <a:pt x="557101" y="77585"/>
                  <a:pt x="557654" y="81911"/>
                  <a:pt x="556640" y="85961"/>
                </a:cubicBezTo>
                <a:cubicBezTo>
                  <a:pt x="555534" y="89918"/>
                  <a:pt x="552861" y="93415"/>
                  <a:pt x="549266" y="95440"/>
                </a:cubicBezTo>
                <a:lnTo>
                  <a:pt x="534887" y="103815"/>
                </a:lnTo>
                <a:cubicBezTo>
                  <a:pt x="535348" y="107497"/>
                  <a:pt x="535993" y="111178"/>
                  <a:pt x="535993" y="115044"/>
                </a:cubicBezTo>
                <a:cubicBezTo>
                  <a:pt x="535993" y="115872"/>
                  <a:pt x="535809" y="116700"/>
                  <a:pt x="535717" y="117621"/>
                </a:cubicBezTo>
                <a:lnTo>
                  <a:pt x="521153" y="117621"/>
                </a:lnTo>
                <a:cubicBezTo>
                  <a:pt x="490828" y="117621"/>
                  <a:pt x="466126" y="142286"/>
                  <a:pt x="466126" y="172565"/>
                </a:cubicBezTo>
                <a:lnTo>
                  <a:pt x="466126" y="229719"/>
                </a:lnTo>
                <a:lnTo>
                  <a:pt x="466126" y="242604"/>
                </a:lnTo>
                <a:cubicBezTo>
                  <a:pt x="462715" y="237726"/>
                  <a:pt x="458383" y="233493"/>
                  <a:pt x="453590" y="229995"/>
                </a:cubicBezTo>
                <a:cubicBezTo>
                  <a:pt x="444465" y="223369"/>
                  <a:pt x="433404" y="219319"/>
                  <a:pt x="421330" y="219319"/>
                </a:cubicBezTo>
                <a:lnTo>
                  <a:pt x="411928" y="219319"/>
                </a:lnTo>
                <a:cubicBezTo>
                  <a:pt x="411375" y="217755"/>
                  <a:pt x="410914" y="216098"/>
                  <a:pt x="410914" y="214257"/>
                </a:cubicBezTo>
                <a:lnTo>
                  <a:pt x="410914" y="198059"/>
                </a:lnTo>
                <a:cubicBezTo>
                  <a:pt x="403817" y="195114"/>
                  <a:pt x="397457" y="191064"/>
                  <a:pt x="391373" y="186463"/>
                </a:cubicBezTo>
                <a:lnTo>
                  <a:pt x="377086" y="194746"/>
                </a:lnTo>
                <a:cubicBezTo>
                  <a:pt x="373492" y="196863"/>
                  <a:pt x="369160" y="197415"/>
                  <a:pt x="365104" y="196310"/>
                </a:cubicBezTo>
                <a:cubicBezTo>
                  <a:pt x="361140" y="195206"/>
                  <a:pt x="357638" y="192629"/>
                  <a:pt x="355610" y="189040"/>
                </a:cubicBezTo>
                <a:lnTo>
                  <a:pt x="336530" y="155999"/>
                </a:lnTo>
                <a:cubicBezTo>
                  <a:pt x="332198" y="148452"/>
                  <a:pt x="334687" y="138881"/>
                  <a:pt x="342245" y="134463"/>
                </a:cubicBezTo>
                <a:lnTo>
                  <a:pt x="356716" y="126180"/>
                </a:lnTo>
                <a:cubicBezTo>
                  <a:pt x="356163" y="122498"/>
                  <a:pt x="355518" y="118817"/>
                  <a:pt x="355518" y="115044"/>
                </a:cubicBezTo>
                <a:cubicBezTo>
                  <a:pt x="355518" y="111178"/>
                  <a:pt x="356163" y="107497"/>
                  <a:pt x="356716" y="103815"/>
                </a:cubicBezTo>
                <a:lnTo>
                  <a:pt x="342245" y="95440"/>
                </a:lnTo>
                <a:cubicBezTo>
                  <a:pt x="334687" y="91115"/>
                  <a:pt x="332198" y="81543"/>
                  <a:pt x="336530" y="73996"/>
                </a:cubicBezTo>
                <a:lnTo>
                  <a:pt x="355610" y="40956"/>
                </a:lnTo>
                <a:cubicBezTo>
                  <a:pt x="357638" y="37366"/>
                  <a:pt x="361140" y="34789"/>
                  <a:pt x="365104" y="33685"/>
                </a:cubicBezTo>
                <a:cubicBezTo>
                  <a:pt x="369160" y="32580"/>
                  <a:pt x="373492" y="33133"/>
                  <a:pt x="377086" y="35249"/>
                </a:cubicBezTo>
                <a:lnTo>
                  <a:pt x="391373" y="43533"/>
                </a:lnTo>
                <a:cubicBezTo>
                  <a:pt x="397457" y="38931"/>
                  <a:pt x="403817" y="34881"/>
                  <a:pt x="410914" y="31936"/>
                </a:cubicBezTo>
                <a:lnTo>
                  <a:pt x="410914" y="15738"/>
                </a:lnTo>
                <a:cubicBezTo>
                  <a:pt x="410914" y="7087"/>
                  <a:pt x="418011" y="0"/>
                  <a:pt x="426676" y="0"/>
                </a:cubicBez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75" name="矩形 274"/>
          <p:cNvSpPr/>
          <p:nvPr/>
        </p:nvSpPr>
        <p:spPr>
          <a:xfrm>
            <a:off x="1261648" y="5835560"/>
            <a:ext cx="10529981" cy="648000"/>
          </a:xfrm>
          <a:prstGeom prst="rect">
            <a:avLst/>
          </a:prstGeom>
          <a:solidFill>
            <a:srgbClr val="FFFFFF"/>
          </a:solidFill>
          <a:ln w="1905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800" b="0" i="0" u="none" strike="noStrike" kern="1200" cap="none" spc="0" normalizeH="0" baseline="0" noProof="0">
                <a:ln>
                  <a:noFill/>
                </a:ln>
                <a:solidFill>
                  <a:srgbClr val="383838"/>
                </a:solidFill>
                <a:effectLst/>
                <a:uLnTx/>
                <a:uFillTx/>
                <a:latin typeface="微软雅黑"/>
                <a:ea typeface="微软雅黑"/>
                <a:cs typeface="微软雅黑"/>
              </a:rPr>
              <a:t> </a:t>
            </a:r>
            <a:endParaRPr kumimoji="0" lang="en-US" altLang="zh-CN"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77" name="文本框 276"/>
          <p:cNvSpPr txBox="1"/>
          <p:nvPr/>
        </p:nvSpPr>
        <p:spPr>
          <a:xfrm>
            <a:off x="3013444" y="6086484"/>
            <a:ext cx="1148283" cy="200055"/>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defTabSz="731520">
              <a:defRPr sz="1400" i="0" kern="0">
                <a:gradFill>
                  <a:gsLst>
                    <a:gs pos="0">
                      <a:srgbClr val="0042FF"/>
                    </a:gs>
                    <a:gs pos="100000">
                      <a:srgbClr val="0042FF"/>
                    </a:gs>
                  </a:gsLst>
                  <a:lin ang="5400000" scaled="1"/>
                </a:gradFill>
                <a:latin typeface="微软雅黑"/>
                <a:ea typeface="微软雅黑"/>
                <a:cs typeface="微软雅黑"/>
              </a:defRPr>
            </a:lvl1pPr>
          </a:lstStyle>
          <a:p>
            <a:pPr lvl="0">
              <a:defRPr>
                <a:latin typeface="微软雅黑"/>
                <a:ea typeface="微软雅黑"/>
                <a:cs typeface="微软雅黑"/>
              </a:defRPr>
            </a:pPr>
            <a:r>
              <a:rPr lang="zh-CN" altLang="en-US" sz="1300" dirty="0">
                <a:solidFill>
                  <a:srgbClr val="383838"/>
                </a:solidFill>
                <a:latin typeface="微软雅黑"/>
                <a:ea typeface="微软雅黑"/>
                <a:cs typeface="微软雅黑"/>
              </a:rPr>
              <a:t>风险识别</a:t>
            </a:r>
            <a:endParaRPr kumimoji="0" lang="zh-CN" altLang="en-US" sz="13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78" name="文本框 277"/>
          <p:cNvSpPr txBox="1"/>
          <p:nvPr/>
        </p:nvSpPr>
        <p:spPr>
          <a:xfrm>
            <a:off x="4252177" y="6086484"/>
            <a:ext cx="1148283" cy="200055"/>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defTabSz="731520">
              <a:defRPr sz="1400" i="0" kern="0">
                <a:gradFill>
                  <a:gsLst>
                    <a:gs pos="0">
                      <a:srgbClr val="0042FF"/>
                    </a:gs>
                    <a:gs pos="100000">
                      <a:srgbClr val="0042FF"/>
                    </a:gs>
                  </a:gsLst>
                  <a:lin ang="5400000" scaled="1"/>
                </a:gradFill>
                <a:latin typeface="微软雅黑"/>
                <a:ea typeface="微软雅黑"/>
                <a:cs typeface="微软雅黑"/>
              </a:defRPr>
            </a:lvl1pPr>
          </a:lstStyle>
          <a:p>
            <a:pPr lvl="0">
              <a:defRPr>
                <a:latin typeface="微软雅黑"/>
                <a:ea typeface="微软雅黑"/>
                <a:cs typeface="微软雅黑"/>
              </a:defRPr>
            </a:pPr>
            <a:r>
              <a:rPr lang="zh-CN" altLang="en-US" sz="1300" dirty="0">
                <a:solidFill>
                  <a:srgbClr val="383838"/>
                </a:solidFill>
                <a:latin typeface="微软雅黑"/>
                <a:ea typeface="微软雅黑"/>
                <a:cs typeface="微软雅黑"/>
              </a:rPr>
              <a:t>风险评估</a:t>
            </a:r>
            <a:endParaRPr kumimoji="0" lang="zh-CN" altLang="en-US" sz="13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79" name="文本框 278"/>
          <p:cNvSpPr txBox="1"/>
          <p:nvPr/>
        </p:nvSpPr>
        <p:spPr>
          <a:xfrm>
            <a:off x="5490910" y="6086484"/>
            <a:ext cx="1148283" cy="200055"/>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defTabSz="731520">
              <a:defRPr sz="1400" i="0" kern="0">
                <a:gradFill>
                  <a:gsLst>
                    <a:gs pos="0">
                      <a:srgbClr val="0042FF"/>
                    </a:gs>
                    <a:gs pos="100000">
                      <a:srgbClr val="0042FF"/>
                    </a:gs>
                  </a:gsLst>
                  <a:lin ang="5400000" scaled="1"/>
                </a:gradFill>
                <a:latin typeface="微软雅黑"/>
                <a:ea typeface="微软雅黑"/>
                <a:cs typeface="微软雅黑"/>
              </a:defRPr>
            </a:lvl1pPr>
          </a:lstStyle>
          <a:p>
            <a:pPr lvl="0">
              <a:defRPr>
                <a:latin typeface="微软雅黑"/>
                <a:ea typeface="微软雅黑"/>
                <a:cs typeface="微软雅黑"/>
              </a:defRPr>
            </a:pPr>
            <a:r>
              <a:rPr lang="zh-CN" altLang="en-US" sz="1300" dirty="0">
                <a:solidFill>
                  <a:srgbClr val="383838"/>
                </a:solidFill>
                <a:latin typeface="微软雅黑"/>
                <a:ea typeface="微软雅黑"/>
                <a:cs typeface="微软雅黑"/>
              </a:rPr>
              <a:t>风险管理</a:t>
            </a:r>
            <a:endParaRPr kumimoji="0" lang="zh-CN" altLang="en-US" sz="13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80" name="文本框 279"/>
          <p:cNvSpPr txBox="1"/>
          <p:nvPr/>
        </p:nvSpPr>
        <p:spPr>
          <a:xfrm rot="10800000" flipH="1">
            <a:off x="3895905" y="6093830"/>
            <a:ext cx="622094" cy="200055"/>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defTabSz="731520">
              <a:defRPr sz="1400" i="0" kern="0">
                <a:gradFill>
                  <a:gsLst>
                    <a:gs pos="0">
                      <a:srgbClr val="0042FF"/>
                    </a:gs>
                    <a:gs pos="100000">
                      <a:srgbClr val="0042FF"/>
                    </a:gs>
                  </a:gsLst>
                  <a:lin ang="5400000" scaled="1"/>
                </a:gradFill>
                <a:latin typeface="微软雅黑"/>
                <a:ea typeface="微软雅黑"/>
                <a:cs typeface="微软雅黑"/>
              </a:defRPr>
            </a:lvl1p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en-US" altLang="en-US" sz="1300" dirty="0">
                <a:solidFill>
                  <a:srgbClr val="383838"/>
                </a:solidFill>
                <a:latin typeface="微软雅黑"/>
                <a:ea typeface="微软雅黑"/>
                <a:cs typeface="微软雅黑"/>
              </a:rPr>
              <a:t>&lt;&lt;&lt;</a:t>
            </a:r>
            <a:endParaRPr kumimoji="0" lang="en-US" altLang="en-US" sz="13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81" name="文本框 280"/>
          <p:cNvSpPr txBox="1"/>
          <p:nvPr/>
        </p:nvSpPr>
        <p:spPr>
          <a:xfrm rot="10800000" flipH="1">
            <a:off x="5134637" y="6093830"/>
            <a:ext cx="622094" cy="200055"/>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defTabSz="731520">
              <a:defRPr sz="1400" i="0" kern="0">
                <a:gradFill>
                  <a:gsLst>
                    <a:gs pos="0">
                      <a:srgbClr val="0042FF"/>
                    </a:gs>
                    <a:gs pos="100000">
                      <a:srgbClr val="0042FF"/>
                    </a:gs>
                  </a:gsLst>
                  <a:lin ang="5400000" scaled="1"/>
                </a:gradFill>
                <a:latin typeface="微软雅黑"/>
                <a:ea typeface="微软雅黑"/>
                <a:cs typeface="微软雅黑"/>
              </a:defRPr>
            </a:lvl1p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en-US" sz="1300" b="0" i="0" u="none" strike="noStrike" kern="0" cap="none" spc="0" normalizeH="0" baseline="0" noProof="0" dirty="0">
                <a:ln>
                  <a:noFill/>
                </a:ln>
                <a:solidFill>
                  <a:srgbClr val="383838"/>
                </a:solidFill>
                <a:effectLst/>
                <a:uLnTx/>
                <a:uFillTx/>
                <a:latin typeface="微软雅黑"/>
                <a:ea typeface="微软雅黑"/>
                <a:cs typeface="微软雅黑"/>
              </a:rPr>
              <a:t>&lt;&lt;&lt;</a:t>
            </a:r>
            <a:endParaRPr kumimoji="0" lang="en-US" altLang="en-US" sz="13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83" name="圆角矩形 282"/>
          <p:cNvSpPr/>
          <p:nvPr/>
        </p:nvSpPr>
        <p:spPr>
          <a:xfrm>
            <a:off x="8382000" y="5995035"/>
            <a:ext cx="1500505" cy="345440"/>
          </a:xfrm>
          <a:prstGeom prst="roundRect">
            <a:avLst>
              <a:gd name="adj" fmla="val 50000"/>
            </a:avLst>
          </a:prstGeom>
          <a:solidFill>
            <a:srgbClr val="FFFFFF">
              <a:alpha val="4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284" name="文本框 283"/>
          <p:cNvSpPr txBox="1"/>
          <p:nvPr/>
        </p:nvSpPr>
        <p:spPr>
          <a:xfrm>
            <a:off x="8802370" y="6079490"/>
            <a:ext cx="1032510" cy="184150"/>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转移潜在风险</a:t>
            </a:r>
            <a:endParaRPr lang="zh-CN" altLang="en-US" sz="1200" dirty="0">
              <a:solidFill>
                <a:srgbClr val="0042FF"/>
              </a:solidFill>
              <a:latin typeface="微软雅黑"/>
              <a:ea typeface="微软雅黑"/>
              <a:cs typeface="微软雅黑"/>
              <a:sym typeface="微软雅黑"/>
            </a:endParaRPr>
          </a:p>
        </p:txBody>
      </p:sp>
      <p:sp>
        <p:nvSpPr>
          <p:cNvPr id="285" name="椭圆 284"/>
          <p:cNvSpPr>
            <a:spLocks noChangeAspect="1"/>
          </p:cNvSpPr>
          <p:nvPr/>
        </p:nvSpPr>
        <p:spPr>
          <a:xfrm>
            <a:off x="8430260" y="6040120"/>
            <a:ext cx="252095" cy="252095"/>
          </a:xfrm>
          <a:prstGeom prst="ellipse">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86" name="矩形 2"/>
          <p:cNvSpPr/>
          <p:nvPr/>
        </p:nvSpPr>
        <p:spPr>
          <a:xfrm rot="2700000">
            <a:off x="8525510" y="6092190"/>
            <a:ext cx="66040" cy="11303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38100" cap="rnd">
            <a:gradFill>
              <a:gsLst>
                <a:gs pos="0">
                  <a:srgbClr val="B3D4FE"/>
                </a:gs>
                <a:gs pos="100000">
                  <a:srgbClr val="B3D4FE"/>
                </a:gs>
              </a:gsLst>
              <a:lin ang="5400000" scaled="1"/>
            </a:gradFill>
            <a:roun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288" name="圆角矩形 287"/>
          <p:cNvSpPr/>
          <p:nvPr/>
        </p:nvSpPr>
        <p:spPr>
          <a:xfrm>
            <a:off x="10079355" y="5995035"/>
            <a:ext cx="1500505" cy="345440"/>
          </a:xfrm>
          <a:prstGeom prst="roundRect">
            <a:avLst>
              <a:gd name="adj" fmla="val 50000"/>
            </a:avLst>
          </a:prstGeom>
          <a:solidFill>
            <a:srgbClr val="FFFFFF">
              <a:alpha val="4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289" name="文本框 288"/>
          <p:cNvSpPr txBox="1"/>
          <p:nvPr/>
        </p:nvSpPr>
        <p:spPr>
          <a:xfrm>
            <a:off x="10499725" y="6079490"/>
            <a:ext cx="1032510" cy="184785"/>
          </a:xfrm>
          <a:prstGeom prst="rect">
            <a:avLst/>
          </a:prstGeom>
          <a:noFill/>
        </p:spPr>
        <p:txBody>
          <a:bodyPr wrap="square" lIns="0" tIns="0" rIns="0" bIns="0" rtlCol="0">
            <a:spAutoFit/>
          </a:bodyPr>
          <a:lstStyle/>
          <a:p>
            <a:pPr lvl="0">
              <a:defRPr>
                <a:latin typeface="微软雅黑"/>
                <a:ea typeface="微软雅黑"/>
                <a:cs typeface="微软雅黑"/>
              </a:defRPr>
            </a:pPr>
            <a:r>
              <a:rPr lang="zh-CN" altLang="en-US" sz="1200" dirty="0">
                <a:solidFill>
                  <a:srgbClr val="0042FF"/>
                </a:solidFill>
                <a:latin typeface="微软雅黑"/>
                <a:ea typeface="微软雅黑"/>
                <a:cs typeface="微软雅黑"/>
              </a:rPr>
              <a:t>缓解现有风险</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90" name="椭圆 289"/>
          <p:cNvSpPr>
            <a:spLocks noChangeAspect="1"/>
          </p:cNvSpPr>
          <p:nvPr/>
        </p:nvSpPr>
        <p:spPr>
          <a:xfrm>
            <a:off x="10126980" y="6040120"/>
            <a:ext cx="252095" cy="252095"/>
          </a:xfrm>
          <a:prstGeom prst="ellipse">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291" name="矩形 2"/>
          <p:cNvSpPr/>
          <p:nvPr/>
        </p:nvSpPr>
        <p:spPr>
          <a:xfrm rot="2700000">
            <a:off x="10222865" y="6092190"/>
            <a:ext cx="66040" cy="11303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38100" cap="rnd">
            <a:gradFill>
              <a:gsLst>
                <a:gs pos="0">
                  <a:srgbClr val="B3D4FE"/>
                </a:gs>
                <a:gs pos="100000">
                  <a:srgbClr val="B3D4FE"/>
                </a:gs>
              </a:gsLst>
              <a:lin ang="5400000" scaled="1"/>
            </a:gradFill>
            <a:roun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grpSp>
        <p:nvGrpSpPr>
          <p:cNvPr id="296" name="组合 295"/>
          <p:cNvGrpSpPr/>
          <p:nvPr/>
        </p:nvGrpSpPr>
        <p:grpSpPr>
          <a:xfrm>
            <a:off x="1483656" y="5995089"/>
            <a:ext cx="1500215" cy="345600"/>
            <a:chOff x="8931419" y="1750765"/>
            <a:chExt cx="1304937" cy="300614"/>
          </a:xfrm>
          <a:solidFill>
            <a:srgbClr val="FFFFFF"/>
          </a:solidFill>
        </p:grpSpPr>
        <p:sp>
          <p:nvSpPr>
            <p:cNvPr id="297" name="圆角矩形 296"/>
            <p:cNvSpPr/>
            <p:nvPr/>
          </p:nvSpPr>
          <p:spPr>
            <a:xfrm>
              <a:off x="8931419" y="1750765"/>
              <a:ext cx="1304937" cy="300614"/>
            </a:xfrm>
            <a:prstGeom prst="roundRect">
              <a:avLst>
                <a:gd name="adj" fmla="val 50000"/>
              </a:avLst>
            </a:prstGeom>
            <a:gradFill>
              <a:gsLst>
                <a:gs pos="100000">
                  <a:srgbClr val="B3D4FE"/>
                </a:gs>
                <a:gs pos="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98" name="文本框 297"/>
            <p:cNvSpPr txBox="1"/>
            <p:nvPr/>
          </p:nvSpPr>
          <p:spPr>
            <a:xfrm>
              <a:off x="9297054" y="1824191"/>
              <a:ext cx="898346" cy="160629"/>
            </a:xfrm>
            <a:prstGeom prst="rect">
              <a:avLst/>
            </a:prstGeom>
            <a:noFill/>
            <a:ln>
              <a:noFill/>
            </a:ln>
            <a:extLst>
              <a:ext uri="{909E8E84-426E-40DD-AFC4-6F175D3DCCD1}">
                <a14:hiddenFill xmlns:a14="http://schemas.microsoft.com/office/drawing/2010/main">
                  <a:grpFill/>
                </a14:hiddenFill>
              </a:ext>
            </a:extLst>
          </p:spPr>
          <p:txBody>
            <a:bodyPr wrap="square" lIns="0" tIns="0" rIns="0" bIns="0" rtlCol="0">
              <a:spAutoFit/>
            </a:bodyPr>
            <a:lstStyle/>
            <a:p>
              <a:pPr lvl="0">
                <a:defRPr>
                  <a:latin typeface="微软雅黑"/>
                  <a:ea typeface="微软雅黑"/>
                  <a:cs typeface="微软雅黑"/>
                </a:defRPr>
              </a:pPr>
              <a:r>
                <a:rPr lang="zh-CN" altLang="en-US" sz="1200" dirty="0">
                  <a:solidFill>
                    <a:srgbClr val="383838"/>
                  </a:solidFill>
                  <a:latin typeface="微软雅黑"/>
                  <a:ea typeface="微软雅黑"/>
                  <a:cs typeface="微软雅黑"/>
                </a:rPr>
                <a:t>识别潜在风险</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99" name="椭圆 298"/>
            <p:cNvSpPr>
              <a:spLocks noChangeAspect="1"/>
            </p:cNvSpPr>
            <p:nvPr/>
          </p:nvSpPr>
          <p:spPr>
            <a:xfrm>
              <a:off x="8972912" y="1790014"/>
              <a:ext cx="219198" cy="219197"/>
            </a:xfrm>
            <a:prstGeom prst="ellipse">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00" name="矩形 2"/>
            <p:cNvSpPr/>
            <p:nvPr/>
          </p:nvSpPr>
          <p:spPr>
            <a:xfrm rot="2700000">
              <a:off x="9056210" y="1835105"/>
              <a:ext cx="57271" cy="9814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solidFill>
              <a:srgbClr val="FFFFFF"/>
            </a:solidFill>
            <a:ln w="38100" cap="rnd">
              <a:solidFill>
                <a:srgbClr val="3368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303" name="圆角矩形 302"/>
          <p:cNvSpPr/>
          <p:nvPr/>
        </p:nvSpPr>
        <p:spPr>
          <a:xfrm>
            <a:off x="6705600" y="5995035"/>
            <a:ext cx="1500505" cy="345440"/>
          </a:xfrm>
          <a:prstGeom prst="roundRect">
            <a:avLst>
              <a:gd name="adj" fmla="val 50000"/>
            </a:avLst>
          </a:prstGeom>
          <a:solidFill>
            <a:srgbClr val="FFFFFF">
              <a:alpha val="4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304" name="文本框 303"/>
          <p:cNvSpPr txBox="1"/>
          <p:nvPr/>
        </p:nvSpPr>
        <p:spPr>
          <a:xfrm>
            <a:off x="7125970" y="6079490"/>
            <a:ext cx="1032510" cy="184785"/>
          </a:xfrm>
          <a:prstGeom prst="rect">
            <a:avLst/>
          </a:prstGeom>
          <a:noFill/>
        </p:spPr>
        <p:txBody>
          <a:bodyPr wrap="square" lIns="0" tIns="0" rIns="0" bIns="0" rtlCol="0">
            <a:spAutoFit/>
          </a:bodyPr>
          <a:lstStyle/>
          <a:p>
            <a:pPr lvl="0">
              <a:defRPr>
                <a:latin typeface="微软雅黑"/>
                <a:ea typeface="微软雅黑"/>
                <a:cs typeface="微软雅黑"/>
              </a:defRPr>
            </a:pPr>
            <a:r>
              <a:rPr lang="zh-CN" altLang="en-US" sz="1200" dirty="0">
                <a:solidFill>
                  <a:srgbClr val="0042FF"/>
                </a:solidFill>
                <a:latin typeface="微软雅黑"/>
                <a:ea typeface="微软雅黑"/>
                <a:cs typeface="微软雅黑"/>
              </a:rPr>
              <a:t>规避已知风险</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05" name="椭圆 304"/>
          <p:cNvSpPr>
            <a:spLocks noChangeAspect="1"/>
          </p:cNvSpPr>
          <p:nvPr/>
        </p:nvSpPr>
        <p:spPr>
          <a:xfrm>
            <a:off x="6753860" y="6040120"/>
            <a:ext cx="252095" cy="252095"/>
          </a:xfrm>
          <a:prstGeom prst="ellipse">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06" name="矩形 2"/>
          <p:cNvSpPr/>
          <p:nvPr/>
        </p:nvSpPr>
        <p:spPr>
          <a:xfrm rot="2700000">
            <a:off x="6849110" y="6092190"/>
            <a:ext cx="66040" cy="11303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38100" cap="rnd">
            <a:solidFill>
              <a:srgbClr val="B3D4FE"/>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pic>
        <p:nvPicPr>
          <p:cNvPr id="33" name="图片 32" descr="推广"/>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430905" y="2249805"/>
            <a:ext cx="419100" cy="419100"/>
          </a:xfrm>
          <a:prstGeom prst="rect">
            <a:avLst/>
          </a:prstGeom>
        </p:spPr>
      </p:pic>
      <p:pic>
        <p:nvPicPr>
          <p:cNvPr id="34" name="图片 33" descr="研发"/>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430905" y="3263900"/>
            <a:ext cx="419100" cy="330200"/>
          </a:xfrm>
          <a:prstGeom prst="rect">
            <a:avLst/>
          </a:prstGeom>
        </p:spPr>
      </p:pic>
      <p:pic>
        <p:nvPicPr>
          <p:cNvPr id="35" name="图片 34" descr="icon_index_Cloud Gaming"/>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428683" y="4161155"/>
            <a:ext cx="423545" cy="423545"/>
          </a:xfrm>
          <a:prstGeom prst="rect">
            <a:avLst/>
          </a:prstGeom>
        </p:spPr>
      </p:pic>
      <p:pic>
        <p:nvPicPr>
          <p:cNvPr id="36" name="图片 35" descr="项目执行"/>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441383" y="5082540"/>
            <a:ext cx="398145" cy="398145"/>
          </a:xfrm>
          <a:prstGeom prst="rect">
            <a:avLst/>
          </a:prstGeom>
        </p:spPr>
      </p:pic>
      <p:cxnSp>
        <p:nvCxnSpPr>
          <p:cNvPr id="37" name="直接连接符 36"/>
          <p:cNvCxnSpPr/>
          <p:nvPr/>
        </p:nvCxnSpPr>
        <p:spPr>
          <a:xfrm>
            <a:off x="4869815" y="1170305"/>
            <a:ext cx="0" cy="761365"/>
          </a:xfrm>
          <a:prstGeom prst="line">
            <a:avLst/>
          </a:prstGeom>
          <a:ln w="19050">
            <a:solidFill>
              <a:srgbClr val="DCDCDC"/>
            </a:solidFill>
            <a:prstDash val="sysDash"/>
          </a:ln>
        </p:spPr>
        <p:style>
          <a:lnRef idx="2">
            <a:srgbClr val="0042FF"/>
          </a:lnRef>
          <a:fillRef idx="0">
            <a:srgbClr val="FFFFFF"/>
          </a:fillRef>
          <a:effectRef idx="0">
            <a:srgbClr val="FFFFFF"/>
          </a:effectRef>
          <a:fontRef idx="minor">
            <a:srgbClr val="383838"/>
          </a:fontRef>
        </p:style>
      </p:cxnSp>
      <p:pic>
        <p:nvPicPr>
          <p:cNvPr id="58" name="图片 57" descr="屋顶资源管理"/>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55600" y="186055"/>
            <a:ext cx="549910" cy="549910"/>
          </a:xfrm>
          <a:prstGeom prst="rect">
            <a:avLst/>
          </a:prstGeom>
        </p:spPr>
      </p:pic>
      <p:cxnSp>
        <p:nvCxnSpPr>
          <p:cNvPr id="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显眼包PPT1"/>
          <p:cNvSpPr/>
          <p:nvPr/>
        </p:nvSpPr>
        <p:spPr>
          <a:xfrm>
            <a:off x="617220" y="2813685"/>
            <a:ext cx="1465580" cy="3304540"/>
          </a:xfrm>
          <a:prstGeom prst="roundRect">
            <a:avLst>
              <a:gd name="adj" fmla="val 3260"/>
            </a:avLst>
          </a:prstGeom>
          <a:gradFill>
            <a:gsLst>
              <a:gs pos="0">
                <a:srgbClr val="E6E6E6"/>
              </a:gs>
              <a:gs pos="100000">
                <a:srgbClr val="E6E6E6">
                  <a:alpha val="0"/>
                </a:srgbClr>
              </a:gs>
            </a:gsLst>
            <a:lin ang="5400000" scaled="1"/>
          </a:gradFill>
          <a:ln>
            <a:gradFill>
              <a:gsLst>
                <a:gs pos="0">
                  <a:srgbClr val="3368FF"/>
                </a:gs>
                <a:gs pos="66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多层平台架构 | </a:t>
            </a:r>
            <a:r>
              <a:rPr lang="zh-CN" altLang="en-US" sz="2500">
                <a:solidFill>
                  <a:srgbClr val="383838"/>
                </a:solidFill>
                <a:effectLst/>
                <a:latin typeface="微软雅黑"/>
                <a:ea typeface="微软雅黑"/>
                <a:cs typeface="微软雅黑"/>
              </a:rPr>
              <a:t>共建零售行业无界新生态</a:t>
            </a:r>
            <a:endParaRPr lang="zh-CN" altLang="en-US" sz="2500">
              <a:solidFill>
                <a:srgbClr val="383838"/>
              </a:solidFill>
              <a:effectLst/>
              <a:latin typeface="微软雅黑"/>
              <a:ea typeface="微软雅黑"/>
              <a:cs typeface="微软雅黑"/>
            </a:endParaRPr>
          </a:p>
        </p:txBody>
      </p:sp>
      <p:sp>
        <p:nvSpPr>
          <p:cNvPr id="8" name="上箭头 7"/>
          <p:cNvSpPr/>
          <p:nvPr/>
        </p:nvSpPr>
        <p:spPr>
          <a:xfrm>
            <a:off x="1203325" y="2446655"/>
            <a:ext cx="293370" cy="333375"/>
          </a:xfrm>
          <a:prstGeom prst="upArrow">
            <a:avLst/>
          </a:prstGeom>
          <a:gradFill>
            <a:gsLst>
              <a:gs pos="0">
                <a:srgbClr val="3368FF">
                  <a:alpha val="0"/>
                </a:srgbClr>
              </a:gs>
              <a:gs pos="100000">
                <a:srgbClr val="3368FF"/>
              </a:gs>
            </a:gsLst>
            <a:lin ang="1620000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2" name="矩形 11"/>
          <p:cNvSpPr/>
          <p:nvPr/>
        </p:nvSpPr>
        <p:spPr>
          <a:xfrm>
            <a:off x="2840355" y="3058160"/>
            <a:ext cx="6388735" cy="1824355"/>
          </a:xfrm>
          <a:prstGeom prst="rect">
            <a:avLst/>
          </a:prstGeom>
          <a:gradFill>
            <a:gsLst>
              <a:gs pos="0">
                <a:srgbClr val="3368FF">
                  <a:alpha val="30000"/>
                </a:srgbClr>
              </a:gs>
              <a:gs pos="35000">
                <a:srgbClr val="3368FF">
                  <a:alpha val="0"/>
                </a:srgbClr>
              </a:gs>
              <a:gs pos="65000">
                <a:srgbClr val="3368FF">
                  <a:alpha val="0"/>
                </a:srgbClr>
              </a:gs>
              <a:gs pos="100000">
                <a:srgbClr val="3368FF">
                  <a:alpha val="30000"/>
                </a:srgbClr>
              </a:gs>
            </a:gsLst>
            <a:lin ang="4200000" scaled="0"/>
          </a:gradFill>
          <a:ln w="12700" cap="flat">
            <a:gradFill>
              <a:gsLst>
                <a:gs pos="0">
                  <a:srgbClr val="3368FF"/>
                </a:gs>
                <a:gs pos="100000">
                  <a:srgbClr val="3368FF">
                    <a:alpha val="0"/>
                  </a:srgbClr>
                </a:gs>
              </a:gsLst>
              <a:lin ang="16200000" scaled="1"/>
            </a:gra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fromWordArt="0" anchor="ctr" anchorCtr="0" forceAA="0" compatLnSpc="1">
            <a:noAutofit/>
          </a:bodyPr>
          <a:p>
            <a:pPr lvl="0" algn="l" defTabSz="825500">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13" name="矩形 12"/>
          <p:cNvSpPr/>
          <p:nvPr/>
        </p:nvSpPr>
        <p:spPr>
          <a:xfrm>
            <a:off x="2840355" y="5260340"/>
            <a:ext cx="6388735" cy="918845"/>
          </a:xfrm>
          <a:prstGeom prst="rect">
            <a:avLst/>
          </a:prstGeom>
          <a:gradFill>
            <a:gsLst>
              <a:gs pos="0">
                <a:srgbClr val="0042FF">
                  <a:alpha val="30000"/>
                </a:srgbClr>
              </a:gs>
              <a:gs pos="35000">
                <a:srgbClr val="0042FF">
                  <a:alpha val="0"/>
                </a:srgbClr>
              </a:gs>
              <a:gs pos="65000">
                <a:srgbClr val="0042FF">
                  <a:alpha val="0"/>
                </a:srgbClr>
              </a:gs>
              <a:gs pos="100000">
                <a:srgbClr val="0042FF">
                  <a:alpha val="30000"/>
                </a:srgbClr>
              </a:gs>
            </a:gsLst>
            <a:lin ang="4200000" scaled="0"/>
          </a:gradFill>
          <a:ln w="12700" cap="flat">
            <a:gradFill>
              <a:gsLst>
                <a:gs pos="0">
                  <a:srgbClr val="0042FF"/>
                </a:gs>
                <a:gs pos="100000">
                  <a:srgbClr val="0042FF">
                    <a:alpha val="0"/>
                  </a:srgbClr>
                </a:gs>
              </a:gsLst>
              <a:lin ang="16200000" scaled="1"/>
            </a:gra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fromWordArt="0" anchor="ctr" anchorCtr="0" forceAA="0" compatLnSpc="1">
            <a:noAutofit/>
          </a:bodyPr>
          <a:p>
            <a:pPr lvl="0" algn="l" defTabSz="825500">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14" name="梯形 13"/>
          <p:cNvSpPr/>
          <p:nvPr/>
        </p:nvSpPr>
        <p:spPr>
          <a:xfrm>
            <a:off x="2842895" y="2642870"/>
            <a:ext cx="6389370" cy="515620"/>
          </a:xfrm>
          <a:prstGeom prst="trapezoid">
            <a:avLst>
              <a:gd name="adj" fmla="val 97352"/>
            </a:avLst>
          </a:prstGeom>
          <a:gradFill>
            <a:gsLst>
              <a:gs pos="0">
                <a:srgbClr val="3368FF">
                  <a:alpha val="0"/>
                </a:srgbClr>
              </a:gs>
              <a:gs pos="100000">
                <a:srgbClr val="3368FF">
                  <a:alpha val="54000"/>
                </a:srgbClr>
              </a:gs>
            </a:gsLst>
            <a:lin ang="5400000" scaled="0"/>
          </a:gradFill>
          <a:ln w="12700" cap="flat">
            <a:noFill/>
            <a:miter lim="400000"/>
          </a:ln>
          <a:effectLst/>
          <a:scene3d>
            <a:camera prst="orthographicFront">
              <a:rot lat="3000000" lon="0" rev="0"/>
            </a:camera>
            <a:lightRig rig="threePt" dir="t"/>
          </a:scene3d>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fromWordArt="0" anchor="ctr" anchorCtr="0" forceAA="0" compatLnSpc="1">
            <a:noAutofit/>
          </a:bodyPr>
          <a:p>
            <a:pPr lvl="0" algn="ctr" defTabSz="825500" hangingPunct="0">
              <a:spcBef>
                <a:spcPts val="0"/>
              </a:spcBef>
              <a:spcAft>
                <a:spcPts val="0"/>
              </a:spcAft>
              <a:buClrTx/>
              <a:buSzTx/>
              <a:buFontTx/>
              <a:defRPr>
                <a:latin typeface="微软雅黑"/>
                <a:ea typeface="微软雅黑"/>
                <a:cs typeface="微软雅黑"/>
              </a:defRPr>
            </a:pPr>
            <a:endParaRPr lang="zh-CN" altLang="en-US" sz="1100">
              <a:ln>
                <a:noFill/>
              </a:ln>
              <a:solidFill>
                <a:srgbClr val="383838"/>
              </a:solidFill>
              <a:effectLst/>
              <a:uFillTx/>
              <a:latin typeface="微软雅黑"/>
              <a:ea typeface="微软雅黑"/>
              <a:cs typeface="微软雅黑"/>
              <a:sym typeface="微软雅黑"/>
            </a:endParaRPr>
          </a:p>
        </p:txBody>
      </p:sp>
      <p:sp>
        <p:nvSpPr>
          <p:cNvPr id="15" name="梯形 14"/>
          <p:cNvSpPr/>
          <p:nvPr/>
        </p:nvSpPr>
        <p:spPr>
          <a:xfrm>
            <a:off x="2840355" y="4934585"/>
            <a:ext cx="6389370" cy="407670"/>
          </a:xfrm>
          <a:prstGeom prst="trapezoid">
            <a:avLst>
              <a:gd name="adj" fmla="val 97352"/>
            </a:avLst>
          </a:prstGeom>
          <a:gradFill>
            <a:gsLst>
              <a:gs pos="0">
                <a:srgbClr val="0042FF">
                  <a:alpha val="0"/>
                </a:srgbClr>
              </a:gs>
              <a:gs pos="100000">
                <a:srgbClr val="0042FF">
                  <a:alpha val="54000"/>
                </a:srgbClr>
              </a:gs>
            </a:gsLst>
            <a:lin ang="5400000" scaled="0"/>
          </a:gradFill>
          <a:ln w="12700" cap="flat">
            <a:noFill/>
            <a:miter lim="400000"/>
          </a:ln>
          <a:effectLst/>
          <a:scene3d>
            <a:camera prst="orthographicFront">
              <a:rot lat="3000000" lon="0" rev="0"/>
            </a:camera>
            <a:lightRig rig="threePt" dir="t"/>
          </a:scene3d>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fromWordArt="0" anchor="ctr" anchorCtr="0" forceAA="0" compatLnSpc="1">
            <a:noAutofit/>
          </a:bodyPr>
          <a:p>
            <a:pPr lvl="0" algn="ctr" defTabSz="825500" hangingPunct="0">
              <a:spcBef>
                <a:spcPts val="0"/>
              </a:spcBef>
              <a:spcAft>
                <a:spcPts val="0"/>
              </a:spcAft>
              <a:buClrTx/>
              <a:buSzTx/>
              <a:buFontTx/>
              <a:defRPr>
                <a:latin typeface="微软雅黑"/>
                <a:ea typeface="微软雅黑"/>
                <a:cs typeface="微软雅黑"/>
              </a:defRPr>
            </a:pPr>
            <a:endParaRPr lang="zh-CN" altLang="en-US" sz="1100">
              <a:ln>
                <a:noFill/>
              </a:ln>
              <a:solidFill>
                <a:srgbClr val="383838"/>
              </a:solidFill>
              <a:effectLst/>
              <a:uFillTx/>
              <a:latin typeface="微软雅黑"/>
              <a:ea typeface="微软雅黑"/>
              <a:cs typeface="微软雅黑"/>
              <a:sym typeface="微软雅黑"/>
            </a:endParaRPr>
          </a:p>
        </p:txBody>
      </p:sp>
      <p:sp>
        <p:nvSpPr>
          <p:cNvPr id="22" name="矩形 21"/>
          <p:cNvSpPr/>
          <p:nvPr/>
        </p:nvSpPr>
        <p:spPr>
          <a:xfrm>
            <a:off x="2840990" y="1622425"/>
            <a:ext cx="6388735" cy="979805"/>
          </a:xfrm>
          <a:prstGeom prst="rect">
            <a:avLst/>
          </a:prstGeom>
          <a:gradFill>
            <a:gsLst>
              <a:gs pos="0">
                <a:srgbClr val="3368FF">
                  <a:alpha val="30000"/>
                </a:srgbClr>
              </a:gs>
              <a:gs pos="35000">
                <a:srgbClr val="3368FF">
                  <a:alpha val="0"/>
                </a:srgbClr>
              </a:gs>
              <a:gs pos="65000">
                <a:srgbClr val="3368FF">
                  <a:alpha val="0"/>
                </a:srgbClr>
              </a:gs>
              <a:gs pos="100000">
                <a:srgbClr val="3368FF">
                  <a:alpha val="30000"/>
                </a:srgbClr>
              </a:gs>
            </a:gsLst>
            <a:lin ang="4200000" scaled="0"/>
          </a:gradFill>
          <a:ln w="12700" cap="flat">
            <a:gradFill>
              <a:gsLst>
                <a:gs pos="0">
                  <a:srgbClr val="B3D4FE"/>
                </a:gs>
                <a:gs pos="100000">
                  <a:srgbClr val="B3D4FE">
                    <a:alpha val="0"/>
                  </a:srgbClr>
                </a:gs>
              </a:gsLst>
              <a:lin ang="16200000" scaled="0"/>
            </a:gra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fromWordArt="0" anchor="ctr" anchorCtr="0" forceAA="0" compatLnSpc="1">
            <a:noAutofit/>
          </a:bodyPr>
          <a:p>
            <a:pPr lvl="0" algn="l" defTabSz="825500">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23" name="梯形 22"/>
          <p:cNvSpPr/>
          <p:nvPr/>
        </p:nvSpPr>
        <p:spPr>
          <a:xfrm>
            <a:off x="2835275" y="1292860"/>
            <a:ext cx="6389370" cy="407670"/>
          </a:xfrm>
          <a:prstGeom prst="trapezoid">
            <a:avLst>
              <a:gd name="adj" fmla="val 97352"/>
            </a:avLst>
          </a:prstGeom>
          <a:gradFill>
            <a:gsLst>
              <a:gs pos="0">
                <a:srgbClr val="3368FF">
                  <a:alpha val="0"/>
                </a:srgbClr>
              </a:gs>
              <a:gs pos="100000">
                <a:srgbClr val="3368FF">
                  <a:alpha val="54000"/>
                </a:srgbClr>
              </a:gs>
            </a:gsLst>
            <a:lin ang="5400000" scaled="0"/>
          </a:gradFill>
          <a:ln w="12700" cap="flat">
            <a:noFill/>
            <a:miter lim="400000"/>
          </a:ln>
          <a:effectLst/>
          <a:scene3d>
            <a:camera prst="orthographicFront">
              <a:rot lat="3000000" lon="0" rev="0"/>
            </a:camera>
            <a:lightRig rig="threePt" dir="t"/>
          </a:scene3d>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fromWordArt="0" anchor="ctr" anchorCtr="0" forceAA="0" compatLnSpc="1">
            <a:noAutofit/>
          </a:bodyPr>
          <a:p>
            <a:pPr lvl="0" algn="ctr" defTabSz="825500" hangingPunct="0">
              <a:spcBef>
                <a:spcPts val="0"/>
              </a:spcBef>
              <a:spcAft>
                <a:spcPts val="0"/>
              </a:spcAft>
              <a:buClrTx/>
              <a:buSzTx/>
              <a:buFontTx/>
              <a:defRPr>
                <a:latin typeface="微软雅黑"/>
                <a:ea typeface="微软雅黑"/>
                <a:cs typeface="微软雅黑"/>
              </a:defRPr>
            </a:pPr>
            <a:endParaRPr lang="zh-CN" altLang="en-US" sz="1100">
              <a:ln>
                <a:noFill/>
              </a:ln>
              <a:solidFill>
                <a:srgbClr val="383838"/>
              </a:solidFill>
              <a:effectLst/>
              <a:uFillTx/>
              <a:latin typeface="微软雅黑"/>
              <a:ea typeface="微软雅黑"/>
              <a:cs typeface="微软雅黑"/>
              <a:sym typeface="微软雅黑"/>
            </a:endParaRPr>
          </a:p>
        </p:txBody>
      </p:sp>
      <p:sp>
        <p:nvSpPr>
          <p:cNvPr id="25" name="椭圆 24"/>
          <p:cNvSpPr/>
          <p:nvPr/>
        </p:nvSpPr>
        <p:spPr>
          <a:xfrm>
            <a:off x="4309745" y="4577715"/>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1" name="椭圆 30"/>
          <p:cNvSpPr/>
          <p:nvPr/>
        </p:nvSpPr>
        <p:spPr>
          <a:xfrm>
            <a:off x="8143240" y="3653155"/>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2" name="椭圆 31"/>
          <p:cNvSpPr/>
          <p:nvPr/>
        </p:nvSpPr>
        <p:spPr>
          <a:xfrm>
            <a:off x="3284855" y="401193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3" name="椭圆 32"/>
          <p:cNvSpPr/>
          <p:nvPr/>
        </p:nvSpPr>
        <p:spPr>
          <a:xfrm>
            <a:off x="3284855" y="437388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6" name="椭圆 35"/>
          <p:cNvSpPr/>
          <p:nvPr/>
        </p:nvSpPr>
        <p:spPr>
          <a:xfrm>
            <a:off x="4770755" y="324358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3" name="椭圆 42"/>
          <p:cNvSpPr/>
          <p:nvPr/>
        </p:nvSpPr>
        <p:spPr>
          <a:xfrm>
            <a:off x="7988935" y="336042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4" name="椭圆 43"/>
          <p:cNvSpPr/>
          <p:nvPr/>
        </p:nvSpPr>
        <p:spPr>
          <a:xfrm>
            <a:off x="8727440" y="324358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5" name="椭圆 44"/>
          <p:cNvSpPr/>
          <p:nvPr/>
        </p:nvSpPr>
        <p:spPr>
          <a:xfrm>
            <a:off x="8978265" y="447548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6" name="椭圆 45"/>
          <p:cNvSpPr/>
          <p:nvPr/>
        </p:nvSpPr>
        <p:spPr>
          <a:xfrm>
            <a:off x="8437245" y="4105910"/>
            <a:ext cx="71755" cy="71755"/>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49" name="椭圆 48"/>
          <p:cNvSpPr/>
          <p:nvPr/>
        </p:nvSpPr>
        <p:spPr>
          <a:xfrm>
            <a:off x="8365490" y="462280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cxnSp>
        <p:nvCxnSpPr>
          <p:cNvPr id="50" name="直接连接符 49"/>
          <p:cNvCxnSpPr>
            <a:stCxn id="32" idx="7"/>
          </p:cNvCxnSpPr>
          <p:nvPr/>
        </p:nvCxnSpPr>
        <p:spPr>
          <a:xfrm flipV="1">
            <a:off x="3345815" y="3662045"/>
            <a:ext cx="618490" cy="36068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1" name="直接连接符 50"/>
          <p:cNvCxnSpPr>
            <a:endCxn id="36" idx="3"/>
          </p:cNvCxnSpPr>
          <p:nvPr/>
        </p:nvCxnSpPr>
        <p:spPr>
          <a:xfrm flipV="1">
            <a:off x="3346450" y="3304540"/>
            <a:ext cx="1435100" cy="107378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3" name="直接连接符 52"/>
          <p:cNvCxnSpPr>
            <a:stCxn id="34" idx="7"/>
            <a:endCxn id="35" idx="3"/>
          </p:cNvCxnSpPr>
          <p:nvPr/>
        </p:nvCxnSpPr>
        <p:spPr>
          <a:xfrm flipV="1">
            <a:off x="3645535" y="4118610"/>
            <a:ext cx="805180" cy="46990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4" name="直接连接符 53"/>
          <p:cNvCxnSpPr>
            <a:stCxn id="24" idx="5"/>
            <a:endCxn id="35" idx="1"/>
          </p:cNvCxnSpPr>
          <p:nvPr/>
        </p:nvCxnSpPr>
        <p:spPr>
          <a:xfrm>
            <a:off x="4060825" y="3687445"/>
            <a:ext cx="389890" cy="38100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5" name="直接连接符 54"/>
          <p:cNvCxnSpPr>
            <a:stCxn id="35" idx="6"/>
            <a:endCxn id="40" idx="2"/>
          </p:cNvCxnSpPr>
          <p:nvPr/>
        </p:nvCxnSpPr>
        <p:spPr>
          <a:xfrm>
            <a:off x="4511675" y="4093845"/>
            <a:ext cx="765810" cy="53721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6" name="直接连接符 55"/>
          <p:cNvCxnSpPr>
            <a:stCxn id="25" idx="7"/>
            <a:endCxn id="38" idx="4"/>
          </p:cNvCxnSpPr>
          <p:nvPr/>
        </p:nvCxnSpPr>
        <p:spPr>
          <a:xfrm flipV="1">
            <a:off x="4409440" y="4128770"/>
            <a:ext cx="861695" cy="46609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7" name="直接连接符 56"/>
          <p:cNvCxnSpPr>
            <a:stCxn id="33" idx="6"/>
            <a:endCxn id="38" idx="3"/>
          </p:cNvCxnSpPr>
          <p:nvPr/>
        </p:nvCxnSpPr>
        <p:spPr>
          <a:xfrm flipV="1">
            <a:off x="3356610" y="4117975"/>
            <a:ext cx="1889125" cy="29146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8" name="直接连接符 57"/>
          <p:cNvCxnSpPr>
            <a:stCxn id="24" idx="6"/>
            <a:endCxn id="37" idx="1"/>
          </p:cNvCxnSpPr>
          <p:nvPr/>
        </p:nvCxnSpPr>
        <p:spPr>
          <a:xfrm>
            <a:off x="4078605" y="3646170"/>
            <a:ext cx="1016000" cy="39878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59" name="直接连接符 58"/>
          <p:cNvCxnSpPr>
            <a:stCxn id="35" idx="6"/>
          </p:cNvCxnSpPr>
          <p:nvPr/>
        </p:nvCxnSpPr>
        <p:spPr>
          <a:xfrm flipV="1">
            <a:off x="4511675" y="4051935"/>
            <a:ext cx="579120" cy="4191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60" name="直接连接符 59"/>
          <p:cNvCxnSpPr>
            <a:stCxn id="36" idx="5"/>
          </p:cNvCxnSpPr>
          <p:nvPr/>
        </p:nvCxnSpPr>
        <p:spPr>
          <a:xfrm>
            <a:off x="4831715" y="3304540"/>
            <a:ext cx="411480" cy="76009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61" name="直接连接符 60"/>
          <p:cNvCxnSpPr>
            <a:endCxn id="39" idx="1"/>
          </p:cNvCxnSpPr>
          <p:nvPr/>
        </p:nvCxnSpPr>
        <p:spPr>
          <a:xfrm>
            <a:off x="4850765" y="3296285"/>
            <a:ext cx="920750" cy="67691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62" name="直接连接符 61"/>
          <p:cNvCxnSpPr>
            <a:stCxn id="37" idx="5"/>
            <a:endCxn id="40" idx="1"/>
          </p:cNvCxnSpPr>
          <p:nvPr/>
        </p:nvCxnSpPr>
        <p:spPr>
          <a:xfrm>
            <a:off x="5144770" y="4095115"/>
            <a:ext cx="144145" cy="50990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64" name="直接连接符 63"/>
          <p:cNvCxnSpPr>
            <a:stCxn id="37" idx="7"/>
            <a:endCxn id="41" idx="2"/>
          </p:cNvCxnSpPr>
          <p:nvPr/>
        </p:nvCxnSpPr>
        <p:spPr>
          <a:xfrm flipV="1">
            <a:off x="5144770" y="3688715"/>
            <a:ext cx="1325880" cy="35623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66" name="直接连接符 65"/>
          <p:cNvCxnSpPr>
            <a:stCxn id="27" idx="6"/>
            <a:endCxn id="28" idx="1"/>
          </p:cNvCxnSpPr>
          <p:nvPr/>
        </p:nvCxnSpPr>
        <p:spPr>
          <a:xfrm>
            <a:off x="5973445" y="4123055"/>
            <a:ext cx="726440" cy="27813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67" name="直接连接符 66"/>
          <p:cNvCxnSpPr>
            <a:stCxn id="41" idx="4"/>
            <a:endCxn id="28" idx="0"/>
          </p:cNvCxnSpPr>
          <p:nvPr/>
        </p:nvCxnSpPr>
        <p:spPr>
          <a:xfrm>
            <a:off x="6506845" y="3724910"/>
            <a:ext cx="234315" cy="65913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68" name="直接连接符 67"/>
          <p:cNvCxnSpPr>
            <a:stCxn id="27" idx="7"/>
          </p:cNvCxnSpPr>
          <p:nvPr/>
        </p:nvCxnSpPr>
        <p:spPr>
          <a:xfrm flipV="1">
            <a:off x="5956300" y="3696970"/>
            <a:ext cx="509270" cy="38481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0" name="直接连接符 69"/>
          <p:cNvCxnSpPr>
            <a:endCxn id="49" idx="2"/>
          </p:cNvCxnSpPr>
          <p:nvPr/>
        </p:nvCxnSpPr>
        <p:spPr>
          <a:xfrm>
            <a:off x="6799580" y="4450715"/>
            <a:ext cx="1565910" cy="20828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1" name="直接连接符 70"/>
          <p:cNvCxnSpPr>
            <a:endCxn id="30" idx="2"/>
          </p:cNvCxnSpPr>
          <p:nvPr/>
        </p:nvCxnSpPr>
        <p:spPr>
          <a:xfrm flipV="1">
            <a:off x="6799580" y="4070985"/>
            <a:ext cx="1047115" cy="35179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3" name="直接连接符 72"/>
          <p:cNvCxnSpPr>
            <a:stCxn id="30" idx="5"/>
            <a:endCxn id="49" idx="1"/>
          </p:cNvCxnSpPr>
          <p:nvPr/>
        </p:nvCxnSpPr>
        <p:spPr>
          <a:xfrm>
            <a:off x="7946390" y="4111625"/>
            <a:ext cx="429895" cy="52197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4" name="直接连接符 73"/>
          <p:cNvCxnSpPr>
            <a:stCxn id="29" idx="6"/>
            <a:endCxn id="30" idx="2"/>
          </p:cNvCxnSpPr>
          <p:nvPr/>
        </p:nvCxnSpPr>
        <p:spPr>
          <a:xfrm>
            <a:off x="7110095" y="3868420"/>
            <a:ext cx="736600" cy="20256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5" name="直接连接符 74"/>
          <p:cNvCxnSpPr>
            <a:stCxn id="29" idx="7"/>
            <a:endCxn id="42" idx="3"/>
          </p:cNvCxnSpPr>
          <p:nvPr/>
        </p:nvCxnSpPr>
        <p:spPr>
          <a:xfrm flipV="1">
            <a:off x="7092950" y="3529965"/>
            <a:ext cx="257175" cy="29654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6" name="直接连接符 75"/>
          <p:cNvCxnSpPr>
            <a:stCxn id="29" idx="7"/>
            <a:endCxn id="43" idx="2"/>
          </p:cNvCxnSpPr>
          <p:nvPr/>
        </p:nvCxnSpPr>
        <p:spPr>
          <a:xfrm flipV="1">
            <a:off x="7092950" y="3396615"/>
            <a:ext cx="895985" cy="42989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7" name="直接连接符 76"/>
          <p:cNvCxnSpPr>
            <a:stCxn id="39" idx="7"/>
            <a:endCxn id="42" idx="2"/>
          </p:cNvCxnSpPr>
          <p:nvPr/>
        </p:nvCxnSpPr>
        <p:spPr>
          <a:xfrm flipV="1">
            <a:off x="5821045" y="3505200"/>
            <a:ext cx="1518285" cy="46799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8" name="直接连接符 77"/>
          <p:cNvCxnSpPr>
            <a:stCxn id="43" idx="6"/>
            <a:endCxn id="45" idx="1"/>
          </p:cNvCxnSpPr>
          <p:nvPr/>
        </p:nvCxnSpPr>
        <p:spPr>
          <a:xfrm>
            <a:off x="8060690" y="3396615"/>
            <a:ext cx="928370" cy="108966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79" name="直接连接符 78"/>
          <p:cNvCxnSpPr>
            <a:stCxn id="31" idx="7"/>
            <a:endCxn id="44" idx="3"/>
          </p:cNvCxnSpPr>
          <p:nvPr/>
        </p:nvCxnSpPr>
        <p:spPr>
          <a:xfrm flipV="1">
            <a:off x="8242300" y="3304540"/>
            <a:ext cx="495935" cy="36576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80" name="直接连接符 79"/>
          <p:cNvCxnSpPr>
            <a:stCxn id="42" idx="6"/>
            <a:endCxn id="31" idx="1"/>
          </p:cNvCxnSpPr>
          <p:nvPr/>
        </p:nvCxnSpPr>
        <p:spPr>
          <a:xfrm>
            <a:off x="7411085" y="3505200"/>
            <a:ext cx="749300" cy="16573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81" name="直接连接符 80"/>
          <p:cNvCxnSpPr>
            <a:stCxn id="43" idx="4"/>
            <a:endCxn id="30" idx="0"/>
          </p:cNvCxnSpPr>
          <p:nvPr/>
        </p:nvCxnSpPr>
        <p:spPr>
          <a:xfrm flipH="1">
            <a:off x="7905750" y="3432175"/>
            <a:ext cx="119380" cy="57975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82" name="直接连接符 81"/>
          <p:cNvCxnSpPr>
            <a:stCxn id="45" idx="2"/>
            <a:endCxn id="30" idx="6"/>
          </p:cNvCxnSpPr>
          <p:nvPr/>
        </p:nvCxnSpPr>
        <p:spPr>
          <a:xfrm flipH="1" flipV="1">
            <a:off x="7963535" y="4070350"/>
            <a:ext cx="1014730" cy="44132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83" name="直接连接符 82"/>
          <p:cNvCxnSpPr>
            <a:stCxn id="46" idx="1"/>
            <a:endCxn id="42" idx="5"/>
          </p:cNvCxnSpPr>
          <p:nvPr/>
        </p:nvCxnSpPr>
        <p:spPr>
          <a:xfrm flipH="1" flipV="1">
            <a:off x="7400290" y="3529965"/>
            <a:ext cx="1047750" cy="586740"/>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84" name="直接连接符 83"/>
          <p:cNvCxnSpPr>
            <a:stCxn id="31" idx="5"/>
          </p:cNvCxnSpPr>
          <p:nvPr/>
        </p:nvCxnSpPr>
        <p:spPr>
          <a:xfrm>
            <a:off x="8242300" y="3752215"/>
            <a:ext cx="199390" cy="36512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cxnSp>
        <p:nvCxnSpPr>
          <p:cNvPr id="85" name="直接连接符 84"/>
          <p:cNvCxnSpPr/>
          <p:nvPr/>
        </p:nvCxnSpPr>
        <p:spPr>
          <a:xfrm flipV="1">
            <a:off x="6347460" y="4128770"/>
            <a:ext cx="2083435" cy="494665"/>
          </a:xfrm>
          <a:prstGeom prst="line">
            <a:avLst/>
          </a:prstGeom>
          <a:ln>
            <a:solidFill>
              <a:srgbClr val="DCDCDC"/>
            </a:solidFill>
          </a:ln>
        </p:spPr>
        <p:style>
          <a:lnRef idx="2">
            <a:srgbClr val="0042FF"/>
          </a:lnRef>
          <a:fillRef idx="0">
            <a:srgbClr val="FFFFFF"/>
          </a:fillRef>
          <a:effectRef idx="0">
            <a:srgbClr val="FFFFFF"/>
          </a:effectRef>
          <a:fontRef idx="minor">
            <a:srgbClr val="383838"/>
          </a:fontRef>
        </p:style>
      </p:cxnSp>
      <p:grpSp>
        <p:nvGrpSpPr>
          <p:cNvPr id="298" name="组合 297"/>
          <p:cNvGrpSpPr/>
          <p:nvPr/>
        </p:nvGrpSpPr>
        <p:grpSpPr>
          <a:xfrm>
            <a:off x="4011295" y="1804035"/>
            <a:ext cx="4141470" cy="643890"/>
            <a:chOff x="6317" y="2841"/>
            <a:chExt cx="6522" cy="1014"/>
          </a:xfrm>
        </p:grpSpPr>
        <p:cxnSp>
          <p:nvCxnSpPr>
            <p:cNvPr id="108" name="肘形连接符 107"/>
            <p:cNvCxnSpPr/>
            <p:nvPr/>
          </p:nvCxnSpPr>
          <p:spPr>
            <a:xfrm>
              <a:off x="12666" y="3048"/>
              <a:ext cx="5" cy="533"/>
            </a:xfrm>
            <a:prstGeom prst="bentConnector3">
              <a:avLst>
                <a:gd name="adj1" fmla="val 7500000"/>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grpSp>
          <p:nvGrpSpPr>
            <p:cNvPr id="297" name="组合 296"/>
            <p:cNvGrpSpPr/>
            <p:nvPr/>
          </p:nvGrpSpPr>
          <p:grpSpPr>
            <a:xfrm>
              <a:off x="6317" y="2841"/>
              <a:ext cx="6523" cy="1015"/>
              <a:chOff x="6317" y="2841"/>
              <a:chExt cx="6523" cy="1015"/>
            </a:xfrm>
          </p:grpSpPr>
          <p:sp>
            <p:nvSpPr>
              <p:cNvPr id="100" name="文本框 99"/>
              <p:cNvSpPr txBox="1"/>
              <p:nvPr/>
            </p:nvSpPr>
            <p:spPr>
              <a:xfrm>
                <a:off x="6317" y="2841"/>
                <a:ext cx="1841" cy="483"/>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数据驱动</a:t>
                </a:r>
                <a:endParaRPr lang="zh-CN" altLang="en-US" sz="1400">
                  <a:solidFill>
                    <a:srgbClr val="383838"/>
                  </a:solidFill>
                  <a:latin typeface="微软雅黑"/>
                  <a:ea typeface="微软雅黑"/>
                  <a:cs typeface="微软雅黑"/>
                </a:endParaRPr>
              </a:p>
            </p:txBody>
          </p:sp>
          <p:sp>
            <p:nvSpPr>
              <p:cNvPr id="101" name="文本框 100"/>
              <p:cNvSpPr txBox="1"/>
              <p:nvPr/>
            </p:nvSpPr>
            <p:spPr>
              <a:xfrm>
                <a:off x="8732" y="2841"/>
                <a:ext cx="1841" cy="483"/>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生态协同</a:t>
                </a:r>
                <a:endParaRPr lang="zh-CN" altLang="en-US" sz="1400">
                  <a:solidFill>
                    <a:srgbClr val="383838"/>
                  </a:solidFill>
                  <a:latin typeface="微软雅黑"/>
                  <a:ea typeface="微软雅黑"/>
                  <a:cs typeface="微软雅黑"/>
                </a:endParaRPr>
              </a:p>
            </p:txBody>
          </p:sp>
          <p:sp>
            <p:nvSpPr>
              <p:cNvPr id="102" name="文本框 101"/>
              <p:cNvSpPr txBox="1"/>
              <p:nvPr/>
            </p:nvSpPr>
            <p:spPr>
              <a:xfrm>
                <a:off x="11000" y="2841"/>
                <a:ext cx="1841" cy="483"/>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智能互联</a:t>
                </a:r>
                <a:endParaRPr lang="zh-CN" altLang="en-US" sz="1400">
                  <a:solidFill>
                    <a:srgbClr val="383838"/>
                  </a:solidFill>
                  <a:latin typeface="微软雅黑"/>
                  <a:ea typeface="微软雅黑"/>
                  <a:cs typeface="微软雅黑"/>
                </a:endParaRPr>
              </a:p>
            </p:txBody>
          </p:sp>
          <p:sp>
            <p:nvSpPr>
              <p:cNvPr id="103" name="文本框 102"/>
              <p:cNvSpPr txBox="1"/>
              <p:nvPr/>
            </p:nvSpPr>
            <p:spPr>
              <a:xfrm>
                <a:off x="11000" y="3374"/>
                <a:ext cx="1841" cy="483"/>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价值共创</a:t>
                </a:r>
                <a:endParaRPr lang="zh-CN" altLang="en-US" sz="1400">
                  <a:solidFill>
                    <a:srgbClr val="383838"/>
                  </a:solidFill>
                  <a:latin typeface="微软雅黑"/>
                  <a:ea typeface="微软雅黑"/>
                  <a:cs typeface="微软雅黑"/>
                </a:endParaRPr>
              </a:p>
            </p:txBody>
          </p:sp>
          <p:sp>
            <p:nvSpPr>
              <p:cNvPr id="104" name="文本框 103"/>
              <p:cNvSpPr txBox="1"/>
              <p:nvPr/>
            </p:nvSpPr>
            <p:spPr>
              <a:xfrm>
                <a:off x="8732" y="3374"/>
                <a:ext cx="1841" cy="483"/>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柔性适配</a:t>
                </a:r>
                <a:endParaRPr lang="zh-CN" altLang="en-US" sz="1400">
                  <a:solidFill>
                    <a:srgbClr val="383838"/>
                  </a:solidFill>
                  <a:latin typeface="微软雅黑"/>
                  <a:ea typeface="微软雅黑"/>
                  <a:cs typeface="微软雅黑"/>
                </a:endParaRPr>
              </a:p>
            </p:txBody>
          </p:sp>
          <p:sp>
            <p:nvSpPr>
              <p:cNvPr id="105" name="文本框 104"/>
              <p:cNvSpPr txBox="1"/>
              <p:nvPr/>
            </p:nvSpPr>
            <p:spPr>
              <a:xfrm>
                <a:off x="6317" y="3374"/>
                <a:ext cx="1841" cy="483"/>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全域触达</a:t>
                </a:r>
                <a:endParaRPr lang="zh-CN" altLang="en-US" sz="1400">
                  <a:solidFill>
                    <a:srgbClr val="383838"/>
                  </a:solidFill>
                  <a:latin typeface="微软雅黑"/>
                  <a:ea typeface="微软雅黑"/>
                  <a:cs typeface="微软雅黑"/>
                </a:endParaRPr>
              </a:p>
            </p:txBody>
          </p:sp>
          <p:cxnSp>
            <p:nvCxnSpPr>
              <p:cNvPr id="106" name="直接箭头连接符 105"/>
              <p:cNvCxnSpPr>
                <a:stCxn id="100" idx="3"/>
                <a:endCxn id="101" idx="1"/>
              </p:cNvCxnSpPr>
              <p:nvPr/>
            </p:nvCxnSpPr>
            <p:spPr>
              <a:xfrm>
                <a:off x="8158" y="3083"/>
                <a:ext cx="574" cy="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107" name="直接箭头连接符 106"/>
              <p:cNvCxnSpPr/>
              <p:nvPr/>
            </p:nvCxnSpPr>
            <p:spPr>
              <a:xfrm>
                <a:off x="10480" y="3083"/>
                <a:ext cx="574" cy="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109" name="直接箭头连接符 108"/>
              <p:cNvCxnSpPr/>
              <p:nvPr/>
            </p:nvCxnSpPr>
            <p:spPr>
              <a:xfrm flipH="1">
                <a:off x="10509" y="3616"/>
                <a:ext cx="574" cy="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110" name="直接箭头连接符 109"/>
              <p:cNvCxnSpPr/>
              <p:nvPr/>
            </p:nvCxnSpPr>
            <p:spPr>
              <a:xfrm flipH="1">
                <a:off x="8158" y="3616"/>
                <a:ext cx="574" cy="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grpSp>
      </p:grpSp>
      <p:cxnSp>
        <p:nvCxnSpPr>
          <p:cNvPr id="219" name="直接连接符 218"/>
          <p:cNvCxnSpPr>
            <a:stCxn id="39" idx="5"/>
          </p:cNvCxnSpPr>
          <p:nvPr/>
        </p:nvCxnSpPr>
        <p:spPr>
          <a:xfrm>
            <a:off x="5821045" y="4023360"/>
            <a:ext cx="42545" cy="49530"/>
          </a:xfrm>
          <a:prstGeom prst="line">
            <a:avLst/>
          </a:prstGeom>
          <a:ln>
            <a:solidFill>
              <a:srgbClr val="C6D4FE"/>
            </a:solidFill>
          </a:ln>
        </p:spPr>
        <p:style>
          <a:lnRef idx="2">
            <a:srgbClr val="0042FF"/>
          </a:lnRef>
          <a:fillRef idx="0">
            <a:srgbClr val="FFFFFF"/>
          </a:fillRef>
          <a:effectRef idx="0">
            <a:srgbClr val="FFFFFF"/>
          </a:effectRef>
          <a:fontRef idx="minor">
            <a:srgbClr val="383838"/>
          </a:fontRef>
        </p:style>
      </p:cxnSp>
      <p:sp>
        <p:nvSpPr>
          <p:cNvPr id="220" name="文本框 219"/>
          <p:cNvSpPr txBox="1"/>
          <p:nvPr/>
        </p:nvSpPr>
        <p:spPr>
          <a:xfrm>
            <a:off x="5919470" y="3980815"/>
            <a:ext cx="438150" cy="223520"/>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rPr>
              <a:t>价值</a:t>
            </a:r>
            <a:endParaRPr lang="zh-CN" altLang="en-US" sz="1000" b="1">
              <a:solidFill>
                <a:srgbClr val="0042FF"/>
              </a:solidFill>
              <a:latin typeface="微软雅黑"/>
              <a:ea typeface="微软雅黑"/>
              <a:cs typeface="微软雅黑"/>
            </a:endParaRPr>
          </a:p>
        </p:txBody>
      </p:sp>
      <p:sp>
        <p:nvSpPr>
          <p:cNvPr id="225" name="文本框 224"/>
          <p:cNvSpPr txBox="1"/>
          <p:nvPr/>
        </p:nvSpPr>
        <p:spPr>
          <a:xfrm>
            <a:off x="4805680" y="3183890"/>
            <a:ext cx="47180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sym typeface="微软雅黑"/>
              </a:rPr>
              <a:t>消费者</a:t>
            </a:r>
            <a:endParaRPr lang="zh-CN" altLang="en-US" sz="1000" b="1">
              <a:solidFill>
                <a:srgbClr val="383838"/>
              </a:solidFill>
              <a:latin typeface="微软雅黑"/>
              <a:ea typeface="微软雅黑"/>
              <a:cs typeface="微软雅黑"/>
              <a:sym typeface="微软雅黑"/>
            </a:endParaRPr>
          </a:p>
        </p:txBody>
      </p:sp>
      <p:sp>
        <p:nvSpPr>
          <p:cNvPr id="226" name="文本框 225"/>
          <p:cNvSpPr txBox="1"/>
          <p:nvPr/>
        </p:nvSpPr>
        <p:spPr>
          <a:xfrm>
            <a:off x="6347460" y="4649470"/>
            <a:ext cx="51879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sym typeface="微软雅黑"/>
              </a:rPr>
              <a:t>零售终端</a:t>
            </a:r>
            <a:endParaRPr lang="zh-CN" altLang="en-US" sz="1000" b="1">
              <a:solidFill>
                <a:srgbClr val="383838"/>
              </a:solidFill>
              <a:latin typeface="微软雅黑"/>
              <a:ea typeface="微软雅黑"/>
              <a:cs typeface="微软雅黑"/>
              <a:sym typeface="微软雅黑"/>
            </a:endParaRPr>
          </a:p>
        </p:txBody>
      </p:sp>
      <p:sp>
        <p:nvSpPr>
          <p:cNvPr id="228" name="文本框 227"/>
          <p:cNvSpPr txBox="1"/>
          <p:nvPr/>
        </p:nvSpPr>
        <p:spPr>
          <a:xfrm>
            <a:off x="6981825" y="3939540"/>
            <a:ext cx="50482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品牌商</a:t>
            </a:r>
            <a:endParaRPr lang="zh-CN" altLang="en-US" sz="1000" b="1">
              <a:solidFill>
                <a:srgbClr val="383838"/>
              </a:solidFill>
              <a:latin typeface="微软雅黑"/>
              <a:ea typeface="微软雅黑"/>
              <a:cs typeface="微软雅黑"/>
            </a:endParaRPr>
          </a:p>
        </p:txBody>
      </p:sp>
      <p:sp>
        <p:nvSpPr>
          <p:cNvPr id="229" name="文本框 228"/>
          <p:cNvSpPr txBox="1"/>
          <p:nvPr/>
        </p:nvSpPr>
        <p:spPr>
          <a:xfrm>
            <a:off x="7136130" y="3315335"/>
            <a:ext cx="42481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消费者</a:t>
            </a:r>
            <a:endParaRPr lang="zh-CN" altLang="en-US" sz="1000" b="1">
              <a:solidFill>
                <a:srgbClr val="383838"/>
              </a:solidFill>
              <a:latin typeface="微软雅黑"/>
              <a:ea typeface="微软雅黑"/>
              <a:cs typeface="微软雅黑"/>
            </a:endParaRPr>
          </a:p>
        </p:txBody>
      </p:sp>
      <p:sp>
        <p:nvSpPr>
          <p:cNvPr id="230" name="文本框 229"/>
          <p:cNvSpPr txBox="1"/>
          <p:nvPr/>
        </p:nvSpPr>
        <p:spPr>
          <a:xfrm>
            <a:off x="8200390" y="3687445"/>
            <a:ext cx="46545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品牌商</a:t>
            </a:r>
            <a:endParaRPr lang="zh-CN" altLang="en-US" sz="1000" b="1">
              <a:solidFill>
                <a:srgbClr val="383838"/>
              </a:solidFill>
              <a:latin typeface="微软雅黑"/>
              <a:ea typeface="微软雅黑"/>
              <a:cs typeface="微软雅黑"/>
            </a:endParaRPr>
          </a:p>
        </p:txBody>
      </p:sp>
      <p:sp>
        <p:nvSpPr>
          <p:cNvPr id="231" name="文本框 230"/>
          <p:cNvSpPr txBox="1"/>
          <p:nvPr/>
        </p:nvSpPr>
        <p:spPr>
          <a:xfrm>
            <a:off x="8335010" y="4195445"/>
            <a:ext cx="56959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sym typeface="微软雅黑"/>
              </a:rPr>
              <a:t>零售终端</a:t>
            </a:r>
            <a:endParaRPr lang="zh-CN" altLang="en-US" sz="1000" b="1">
              <a:solidFill>
                <a:srgbClr val="383838"/>
              </a:solidFill>
              <a:latin typeface="微软雅黑"/>
              <a:ea typeface="微软雅黑"/>
              <a:cs typeface="微软雅黑"/>
              <a:sym typeface="微软雅黑"/>
            </a:endParaRPr>
          </a:p>
        </p:txBody>
      </p:sp>
      <p:sp>
        <p:nvSpPr>
          <p:cNvPr id="232" name="椭圆 231"/>
          <p:cNvSpPr/>
          <p:nvPr/>
        </p:nvSpPr>
        <p:spPr>
          <a:xfrm>
            <a:off x="4442460" y="4055745"/>
            <a:ext cx="71755" cy="71755"/>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grpSp>
        <p:nvGrpSpPr>
          <p:cNvPr id="272" name="组合 271"/>
          <p:cNvGrpSpPr/>
          <p:nvPr/>
        </p:nvGrpSpPr>
        <p:grpSpPr>
          <a:xfrm>
            <a:off x="9050020" y="1850390"/>
            <a:ext cx="2738755" cy="474345"/>
            <a:chOff x="14263" y="2665"/>
            <a:chExt cx="4313" cy="747"/>
          </a:xfrm>
        </p:grpSpPr>
        <p:sp>
          <p:nvSpPr>
            <p:cNvPr id="233" name="文本框 1"/>
            <p:cNvSpPr txBox="1"/>
            <p:nvPr/>
          </p:nvSpPr>
          <p:spPr>
            <a:xfrm>
              <a:off x="16159" y="2665"/>
              <a:ext cx="2311" cy="629"/>
            </a:xfrm>
            <a:prstGeom prst="parallelogram">
              <a:avLst/>
            </a:prstGeom>
            <a:gradFill flip="none" rotWithShape="1">
              <a:gsLst>
                <a:gs pos="0">
                  <a:srgbClr val="3368FF"/>
                </a:gs>
                <a:gs pos="32000">
                  <a:srgbClr val="3368FF">
                    <a:alpha val="0"/>
                  </a:srgbClr>
                </a:gs>
              </a:gsLst>
              <a:lin ang="2700000" scaled="1"/>
              <a:tileRect/>
            </a:gradFill>
            <a:ln w="19050" cap="flat">
              <a:gradFill>
                <a:gsLst>
                  <a:gs pos="0">
                    <a:srgbClr val="3368FF"/>
                  </a:gs>
                  <a:gs pos="15000">
                    <a:srgbClr val="3368FF">
                      <a:alpha val="0"/>
                    </a:srgbClr>
                  </a:gs>
                </a:gsLst>
                <a:lin ang="2700000" scaled="0"/>
              </a:gradFill>
              <a:miter lim="400000"/>
            </a:ln>
            <a:effectLst/>
            <a:sp3d/>
          </p:spPr>
          <p:txBody>
            <a:bodyPr rot="0" spcFirstLastPara="1" vertOverflow="overflow" horzOverflow="overflow" vert="horz" wrap="square" lIns="0" tIns="0" rIns="0" bIns="0" numCol="1" spcCol="38100" rtlCol="0" anchor="ctr">
              <a:noAutofit/>
            </a:bodyPr>
            <a:lstStyle/>
            <a:p>
              <a:pPr defTabSz="1299845" hangingPunct="1">
                <a:defRPr>
                  <a:solidFill>
                    <a:srgbClr val="383838"/>
                  </a:solidFill>
                  <a:latin typeface="微软雅黑"/>
                  <a:ea typeface="微软雅黑"/>
                  <a:cs typeface="微软雅黑"/>
                </a:defRPr>
              </a:pPr>
              <a:endParaRPr lang="en-US" altLang="zh-CN" sz="1050" kern="1200" dirty="0">
                <a:solidFill>
                  <a:srgbClr val="383838"/>
                </a:solidFill>
                <a:latin typeface="微软雅黑"/>
                <a:ea typeface="微软雅黑"/>
                <a:cs typeface="微软雅黑"/>
              </a:endParaRPr>
            </a:p>
          </p:txBody>
        </p:sp>
        <p:sp>
          <p:nvSpPr>
            <p:cNvPr id="234" name="文本框 1"/>
            <p:cNvSpPr txBox="1"/>
            <p:nvPr/>
          </p:nvSpPr>
          <p:spPr>
            <a:xfrm>
              <a:off x="16266" y="2784"/>
              <a:ext cx="2311" cy="629"/>
            </a:xfrm>
            <a:prstGeom prst="parallelogram">
              <a:avLst/>
            </a:prstGeom>
            <a:gradFill flip="none" rotWithShape="1">
              <a:gsLst>
                <a:gs pos="100000">
                  <a:srgbClr val="3368FF">
                    <a:alpha val="40000"/>
                  </a:srgbClr>
                </a:gs>
                <a:gs pos="61000">
                  <a:srgbClr val="3368FF">
                    <a:alpha val="0"/>
                  </a:srgbClr>
                </a:gs>
              </a:gsLst>
              <a:path path="circle">
                <a:fillToRect l="50000" t="50000" r="50000" b="50000"/>
              </a:path>
              <a:tileRect/>
            </a:gradFill>
            <a:ln w="9525" cap="flat">
              <a:solidFill>
                <a:srgbClr val="3368FF"/>
              </a:solidFill>
              <a:miter lim="400000"/>
            </a:ln>
            <a:effectLst/>
            <a:sp3d/>
          </p:spPr>
          <p:txBody>
            <a:bodyPr rot="0" spcFirstLastPara="1" vertOverflow="overflow" horzOverflow="overflow" vert="horz" wrap="square" lIns="0" tIns="0" rIns="0" bIns="0" numCol="1" spcCol="38100" rtlCol="0" anchor="ctr">
              <a:noAutofit/>
            </a:bodyPr>
            <a:lstStyle/>
            <a:p>
              <a:pPr algn="ctr" defTabSz="1299845" hangingPunct="1">
                <a:defRPr>
                  <a:latin typeface="微软雅黑"/>
                  <a:ea typeface="微软雅黑"/>
                  <a:cs typeface="微软雅黑"/>
                </a:defRPr>
              </a:pPr>
              <a:r>
                <a:rPr lang="zh-CN" altLang="en-US" sz="1200" b="1" kern="1200" dirty="0">
                  <a:solidFill>
                    <a:srgbClr val="383838"/>
                  </a:solidFill>
                  <a:latin typeface="微软雅黑"/>
                  <a:ea typeface="微软雅黑"/>
                  <a:cs typeface="微软雅黑"/>
                </a:rPr>
                <a:t>价值跃升</a:t>
              </a:r>
              <a:endParaRPr lang="zh-CN" altLang="en-US" sz="1200" b="1" kern="1200" dirty="0">
                <a:solidFill>
                  <a:srgbClr val="383838"/>
                </a:solidFill>
                <a:latin typeface="微软雅黑"/>
                <a:ea typeface="微软雅黑"/>
                <a:cs typeface="微软雅黑"/>
              </a:endParaRPr>
            </a:p>
          </p:txBody>
        </p:sp>
        <p:grpSp>
          <p:nvGrpSpPr>
            <p:cNvPr id="345" name="组合 344"/>
            <p:cNvGrpSpPr/>
            <p:nvPr/>
          </p:nvGrpSpPr>
          <p:grpSpPr>
            <a:xfrm>
              <a:off x="14263" y="3011"/>
              <a:ext cx="2043" cy="227"/>
              <a:chOff x="8823521" y="1860849"/>
              <a:chExt cx="1297315" cy="144000"/>
            </a:xfrm>
          </p:grpSpPr>
          <p:grpSp>
            <p:nvGrpSpPr>
              <p:cNvPr id="344" name="组合 343"/>
              <p:cNvGrpSpPr/>
              <p:nvPr/>
            </p:nvGrpSpPr>
            <p:grpSpPr>
              <a:xfrm>
                <a:off x="9976836" y="1860849"/>
                <a:ext cx="144000" cy="144000"/>
                <a:chOff x="9976836" y="1860849"/>
                <a:chExt cx="144000" cy="144000"/>
              </a:xfrm>
            </p:grpSpPr>
            <p:sp>
              <p:nvSpPr>
                <p:cNvPr id="241" name="椭圆 240"/>
                <p:cNvSpPr/>
                <p:nvPr/>
              </p:nvSpPr>
              <p:spPr>
                <a:xfrm>
                  <a:off x="9976836" y="1860849"/>
                  <a:ext cx="144000" cy="144000"/>
                </a:xfrm>
                <a:prstGeom prst="ellipse">
                  <a:avLst/>
                </a:prstGeom>
                <a:gradFill>
                  <a:gsLst>
                    <a:gs pos="2000">
                      <a:srgbClr val="3368FF">
                        <a:alpha val="71000"/>
                      </a:srgbClr>
                    </a:gs>
                    <a:gs pos="100000">
                      <a:srgbClr val="3368FF">
                        <a:alpha val="0"/>
                      </a:srgbClr>
                    </a:gs>
                  </a:gsLst>
                  <a:lin ang="54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242" name="椭圆 241"/>
                <p:cNvSpPr/>
                <p:nvPr/>
              </p:nvSpPr>
              <p:spPr>
                <a:xfrm>
                  <a:off x="10012836" y="1896849"/>
                  <a:ext cx="72000" cy="72000"/>
                </a:xfrm>
                <a:prstGeom prst="ellipse">
                  <a:avLst/>
                </a:prstGeom>
                <a:solidFill>
                  <a:srgbClr val="3368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cxnSp>
            <p:nvCxnSpPr>
              <p:cNvPr id="243" name="直接连接符 242"/>
              <p:cNvCxnSpPr/>
              <p:nvPr/>
            </p:nvCxnSpPr>
            <p:spPr>
              <a:xfrm flipH="1">
                <a:off x="8823521" y="1932849"/>
                <a:ext cx="1209322" cy="0"/>
              </a:xfrm>
              <a:prstGeom prst="line">
                <a:avLst/>
              </a:prstGeom>
              <a:noFill/>
              <a:ln w="25400" cap="flat">
                <a:gradFill>
                  <a:gsLst>
                    <a:gs pos="0">
                      <a:srgbClr val="3368FF"/>
                    </a:gs>
                    <a:gs pos="80000">
                      <a:srgbClr val="3368FF">
                        <a:alpha val="0"/>
                      </a:srgbClr>
                    </a:gs>
                  </a:gsLst>
                  <a:lin ang="0" scaled="0"/>
                </a:gradFill>
                <a:prstDash val="solid"/>
                <a:miter lim="400000"/>
              </a:ln>
              <a:effectLst/>
              <a:sp3d/>
            </p:spPr>
            <p:style>
              <a:lnRef idx="0">
                <a:scrgbClr r="0" g="0" b="0"/>
              </a:lnRef>
              <a:fillRef idx="0">
                <a:scrgbClr r="0" g="0" b="0"/>
              </a:fillRef>
              <a:effectRef idx="0">
                <a:scrgbClr r="0" g="0" b="0"/>
              </a:effectRef>
              <a:fontRef idx="none"/>
            </p:style>
          </p:cxnSp>
        </p:grpSp>
      </p:grpSp>
      <p:sp>
        <p:nvSpPr>
          <p:cNvPr id="248" name="紫荆的职场Point99-4"/>
          <p:cNvSpPr/>
          <p:nvPr/>
        </p:nvSpPr>
        <p:spPr>
          <a:xfrm rot="16200000" flipH="1">
            <a:off x="2005965" y="1668145"/>
            <a:ext cx="647700" cy="86995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3368FF"/>
              </a:gs>
            </a:gsLst>
            <a:lin ang="16200000" scaled="1"/>
            <a:tileRect/>
          </a:gradFill>
          <a:ln w="6350" cap="flat" cmpd="sng" algn="ctr">
            <a:noFill/>
            <a:prstDash val="lgDash"/>
            <a:miter lim="800000"/>
          </a:ln>
          <a:effectLst>
            <a:outerShdw blurRad="190500" algn="ctr" rotWithShape="0">
              <a:srgbClr val="B3D4FE">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49" name="文本框 248"/>
          <p:cNvSpPr txBox="1"/>
          <p:nvPr/>
        </p:nvSpPr>
        <p:spPr>
          <a:xfrm>
            <a:off x="1882140" y="1939290"/>
            <a:ext cx="988695" cy="337185"/>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以客户</a:t>
            </a:r>
            <a:endParaRPr lang="zh-CN" altLang="en-US" sz="1000" b="1">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为中心</a:t>
            </a:r>
            <a:endParaRPr lang="zh-CN" altLang="en-US" sz="1000" b="1">
              <a:solidFill>
                <a:srgbClr val="383838"/>
              </a:solidFill>
              <a:latin typeface="微软雅黑"/>
              <a:ea typeface="微软雅黑"/>
              <a:cs typeface="微软雅黑"/>
            </a:endParaRPr>
          </a:p>
        </p:txBody>
      </p:sp>
      <p:sp>
        <p:nvSpPr>
          <p:cNvPr id="257" name="文本框 256"/>
          <p:cNvSpPr txBox="1"/>
          <p:nvPr/>
        </p:nvSpPr>
        <p:spPr>
          <a:xfrm>
            <a:off x="4323080" y="1250950"/>
            <a:ext cx="3423285" cy="36830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b="1">
                <a:solidFill>
                  <a:srgbClr val="383838"/>
                </a:solidFill>
                <a:latin typeface="微软雅黑"/>
                <a:ea typeface="微软雅黑"/>
                <a:cs typeface="微软雅黑"/>
              </a:rPr>
              <a:t>战略层：</a:t>
            </a:r>
            <a:r>
              <a:rPr lang="zh-CN" altLang="en-US" sz="1200" b="1">
                <a:solidFill>
                  <a:srgbClr val="383838"/>
                </a:solidFill>
                <a:latin typeface="微软雅黑"/>
                <a:ea typeface="微软雅黑"/>
                <a:cs typeface="微软雅黑"/>
              </a:rPr>
              <a:t>智启生态中枢</a:t>
            </a:r>
            <a:r>
              <a:rPr lang="en-US" altLang="zh-CN" sz="1200" b="1">
                <a:solidFill>
                  <a:srgbClr val="383838"/>
                </a:solidFill>
                <a:latin typeface="微软雅黑"/>
                <a:ea typeface="微软雅黑"/>
                <a:cs typeface="微软雅黑"/>
              </a:rPr>
              <a:t> </a:t>
            </a:r>
            <a:r>
              <a:rPr lang="zh-CN" altLang="en-US" sz="1200" b="1">
                <a:solidFill>
                  <a:srgbClr val="383838"/>
                </a:solidFill>
                <a:latin typeface="微软雅黑"/>
                <a:ea typeface="微软雅黑"/>
                <a:cs typeface="微软雅黑"/>
              </a:rPr>
              <a:t>创领无界零售</a:t>
            </a:r>
            <a:endParaRPr lang="zh-CN" altLang="en-US" sz="1200" b="1">
              <a:solidFill>
                <a:srgbClr val="383838"/>
              </a:solidFill>
              <a:latin typeface="微软雅黑"/>
              <a:ea typeface="微软雅黑"/>
              <a:cs typeface="微软雅黑"/>
            </a:endParaRPr>
          </a:p>
        </p:txBody>
      </p:sp>
      <p:sp>
        <p:nvSpPr>
          <p:cNvPr id="260" name="文本框 259"/>
          <p:cNvSpPr txBox="1"/>
          <p:nvPr/>
        </p:nvSpPr>
        <p:spPr>
          <a:xfrm>
            <a:off x="3823335" y="2637790"/>
            <a:ext cx="4422775" cy="553085"/>
          </a:xfrm>
          <a:prstGeom prst="rect">
            <a:avLst/>
          </a:prstGeom>
          <a:noFill/>
        </p:spPr>
        <p:txBody>
          <a:bodyPr wrap="square" rtlCol="0" lIns="0" rIns="0" tIns="0" bIns="0">
            <a:spAutoFit/>
          </a:bodyPr>
          <a:p>
            <a:pPr algn="ctr">
              <a:defRPr>
                <a:latin typeface="微软雅黑"/>
                <a:ea typeface="微软雅黑"/>
                <a:cs typeface="微软雅黑"/>
              </a:defRPr>
            </a:pPr>
            <a:r>
              <a:rPr lang="zh-CN" altLang="en-US" b="1">
                <a:solidFill>
                  <a:srgbClr val="383838"/>
                </a:solidFill>
                <a:latin typeface="微软雅黑"/>
                <a:ea typeface="微软雅黑"/>
                <a:cs typeface="微软雅黑"/>
              </a:rPr>
              <a:t>资源层：</a:t>
            </a:r>
            <a:r>
              <a:rPr lang="zh-CN" altLang="en-US" sz="1200" b="1">
                <a:solidFill>
                  <a:srgbClr val="383838"/>
                </a:solidFill>
                <a:latin typeface="微软雅黑"/>
                <a:ea typeface="微软雅黑"/>
                <a:cs typeface="微软雅黑"/>
                <a:sym typeface="微软雅黑"/>
              </a:rPr>
              <a:t>构建新零售资源网络，五大节点协同共振</a:t>
            </a:r>
            <a:endParaRPr lang="zh-CN" altLang="en-US" sz="1200" b="1">
              <a:solidFill>
                <a:srgbClr val="383838"/>
              </a:solidFill>
              <a:latin typeface="微软雅黑"/>
              <a:ea typeface="微软雅黑"/>
              <a:cs typeface="微软雅黑"/>
            </a:endParaRPr>
          </a:p>
          <a:p>
            <a:pPr algn="ctr">
              <a:defRPr>
                <a:latin typeface="微软雅黑"/>
                <a:ea typeface="微软雅黑"/>
                <a:cs typeface="微软雅黑"/>
              </a:defRPr>
            </a:pPr>
            <a:endParaRPr lang="zh-CN" altLang="en-US" sz="1200" b="1">
              <a:solidFill>
                <a:srgbClr val="383838"/>
              </a:solidFill>
              <a:latin typeface="微软雅黑"/>
              <a:ea typeface="微软雅黑"/>
              <a:cs typeface="微软雅黑"/>
            </a:endParaRPr>
          </a:p>
        </p:txBody>
      </p:sp>
      <p:sp>
        <p:nvSpPr>
          <p:cNvPr id="261" name="文本框 260"/>
          <p:cNvSpPr txBox="1"/>
          <p:nvPr/>
        </p:nvSpPr>
        <p:spPr>
          <a:xfrm>
            <a:off x="4323080" y="4885055"/>
            <a:ext cx="3423285" cy="36830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b="1">
                <a:solidFill>
                  <a:srgbClr val="383838"/>
                </a:solidFill>
                <a:latin typeface="微软雅黑"/>
                <a:ea typeface="微软雅黑"/>
                <a:cs typeface="微软雅黑"/>
              </a:rPr>
              <a:t>创新层：</a:t>
            </a:r>
            <a:r>
              <a:rPr lang="zh-CN" altLang="en-US" sz="1200" b="1">
                <a:solidFill>
                  <a:srgbClr val="383838"/>
                </a:solidFill>
                <a:latin typeface="微软雅黑"/>
                <a:ea typeface="微软雅黑"/>
                <a:cs typeface="微软雅黑"/>
              </a:rPr>
              <a:t>数智生态共生</a:t>
            </a:r>
            <a:r>
              <a:rPr lang="en-US" altLang="zh-CN" sz="1200" b="1">
                <a:solidFill>
                  <a:srgbClr val="383838"/>
                </a:solidFill>
                <a:latin typeface="微软雅黑"/>
                <a:ea typeface="微软雅黑"/>
                <a:cs typeface="微软雅黑"/>
              </a:rPr>
              <a:t> </a:t>
            </a:r>
            <a:r>
              <a:rPr lang="zh-CN" altLang="en-US" sz="1200" b="1">
                <a:solidFill>
                  <a:srgbClr val="383838"/>
                </a:solidFill>
                <a:latin typeface="微软雅黑"/>
                <a:ea typeface="微软雅黑"/>
                <a:cs typeface="微软雅黑"/>
              </a:rPr>
              <a:t>场景范式重构</a:t>
            </a:r>
            <a:endParaRPr lang="zh-CN" altLang="en-US" sz="1200" b="1">
              <a:solidFill>
                <a:srgbClr val="383838"/>
              </a:solidFill>
              <a:latin typeface="微软雅黑"/>
              <a:ea typeface="微软雅黑"/>
              <a:cs typeface="微软雅黑"/>
            </a:endParaRPr>
          </a:p>
        </p:txBody>
      </p:sp>
      <p:grpSp>
        <p:nvGrpSpPr>
          <p:cNvPr id="273" name="组合 272"/>
          <p:cNvGrpSpPr/>
          <p:nvPr/>
        </p:nvGrpSpPr>
        <p:grpSpPr>
          <a:xfrm>
            <a:off x="9016365" y="3213100"/>
            <a:ext cx="2738755" cy="474345"/>
            <a:chOff x="14263" y="2665"/>
            <a:chExt cx="4313" cy="747"/>
          </a:xfrm>
        </p:grpSpPr>
        <p:sp>
          <p:nvSpPr>
            <p:cNvPr id="274" name="文本框 1"/>
            <p:cNvSpPr txBox="1"/>
            <p:nvPr/>
          </p:nvSpPr>
          <p:spPr>
            <a:xfrm>
              <a:off x="16159" y="2665"/>
              <a:ext cx="2311" cy="629"/>
            </a:xfrm>
            <a:prstGeom prst="parallelogram">
              <a:avLst/>
            </a:prstGeom>
            <a:gradFill flip="none" rotWithShape="1">
              <a:gsLst>
                <a:gs pos="0">
                  <a:srgbClr val="3368FF"/>
                </a:gs>
                <a:gs pos="32000">
                  <a:srgbClr val="3368FF">
                    <a:alpha val="0"/>
                  </a:srgbClr>
                </a:gs>
              </a:gsLst>
              <a:lin ang="2700000" scaled="1"/>
              <a:tileRect/>
            </a:gradFill>
            <a:ln w="19050" cap="flat">
              <a:gradFill>
                <a:gsLst>
                  <a:gs pos="0">
                    <a:srgbClr val="3368FF"/>
                  </a:gs>
                  <a:gs pos="15000">
                    <a:srgbClr val="3368FF">
                      <a:alpha val="0"/>
                    </a:srgbClr>
                  </a:gs>
                </a:gsLst>
                <a:lin ang="2700000" scaled="0"/>
              </a:gradFill>
              <a:miter lim="400000"/>
            </a:ln>
            <a:effectLst/>
            <a:sp3d/>
          </p:spPr>
          <p:txBody>
            <a:bodyPr rot="0" spcFirstLastPara="1" vertOverflow="overflow" horzOverflow="overflow" vert="horz" wrap="square" lIns="0" tIns="0" rIns="0" bIns="0" numCol="1" spcCol="38100" rtlCol="0" anchor="ctr">
              <a:noAutofit/>
            </a:bodyPr>
            <a:p>
              <a:pPr defTabSz="1299845" hangingPunct="1">
                <a:defRPr>
                  <a:solidFill>
                    <a:srgbClr val="383838"/>
                  </a:solidFill>
                  <a:latin typeface="微软雅黑"/>
                  <a:ea typeface="微软雅黑"/>
                  <a:cs typeface="微软雅黑"/>
                </a:defRPr>
              </a:pPr>
              <a:endParaRPr lang="en-US" altLang="zh-CN" sz="1050" kern="1200" dirty="0">
                <a:solidFill>
                  <a:srgbClr val="383838"/>
                </a:solidFill>
                <a:latin typeface="微软雅黑"/>
                <a:ea typeface="微软雅黑"/>
                <a:cs typeface="微软雅黑"/>
              </a:endParaRPr>
            </a:p>
          </p:txBody>
        </p:sp>
        <p:sp>
          <p:nvSpPr>
            <p:cNvPr id="275" name="文本框 1"/>
            <p:cNvSpPr txBox="1"/>
            <p:nvPr/>
          </p:nvSpPr>
          <p:spPr>
            <a:xfrm>
              <a:off x="16266" y="2784"/>
              <a:ext cx="2311" cy="629"/>
            </a:xfrm>
            <a:prstGeom prst="parallelogram">
              <a:avLst/>
            </a:prstGeom>
            <a:gradFill flip="none" rotWithShape="1">
              <a:gsLst>
                <a:gs pos="100000">
                  <a:srgbClr val="3368FF"/>
                </a:gs>
                <a:gs pos="61000">
                  <a:srgbClr val="3368FF">
                    <a:alpha val="0"/>
                  </a:srgbClr>
                </a:gs>
              </a:gsLst>
              <a:path path="circle">
                <a:fillToRect l="50000" t="50000" r="50000" b="50000"/>
              </a:path>
              <a:tileRect/>
            </a:gradFill>
            <a:ln w="9525" cap="flat">
              <a:solidFill>
                <a:srgbClr val="3368FF"/>
              </a:solidFill>
              <a:miter lim="400000"/>
            </a:ln>
            <a:effectLst/>
            <a:sp3d/>
          </p:spPr>
          <p:txBody>
            <a:bodyPr rot="0" spcFirstLastPara="1" vertOverflow="overflow" horzOverflow="overflow" vert="horz" wrap="square" lIns="0" tIns="0" rIns="0" bIns="0" numCol="1" spcCol="38100" rtlCol="0" anchor="ctr">
              <a:noAutofit/>
            </a:bodyPr>
            <a:p>
              <a:pPr algn="ctr" defTabSz="1299845" hangingPunct="1">
                <a:defRPr>
                  <a:solidFill>
                    <a:srgbClr val="383838"/>
                  </a:solidFill>
                  <a:latin typeface="微软雅黑"/>
                  <a:ea typeface="微软雅黑"/>
                  <a:cs typeface="微软雅黑"/>
                </a:defRPr>
              </a:pPr>
              <a:r>
                <a:rPr lang="zh-CN" altLang="en-US" sz="1200" b="1" kern="1200" dirty="0">
                  <a:solidFill>
                    <a:srgbClr val="383838"/>
                  </a:solidFill>
                  <a:latin typeface="微软雅黑"/>
                  <a:ea typeface="微软雅黑"/>
                  <a:cs typeface="微软雅黑"/>
                </a:rPr>
                <a:t>生态融通</a:t>
              </a:r>
              <a:endParaRPr lang="zh-CN" altLang="en-US" sz="1200" b="1" kern="1200" dirty="0">
                <a:solidFill>
                  <a:srgbClr val="383838"/>
                </a:solidFill>
                <a:latin typeface="微软雅黑"/>
                <a:ea typeface="微软雅黑"/>
                <a:cs typeface="微软雅黑"/>
              </a:endParaRPr>
            </a:p>
          </p:txBody>
        </p:sp>
        <p:grpSp>
          <p:nvGrpSpPr>
            <p:cNvPr id="276" name="组合 275"/>
            <p:cNvGrpSpPr/>
            <p:nvPr/>
          </p:nvGrpSpPr>
          <p:grpSpPr>
            <a:xfrm>
              <a:off x="14263" y="3011"/>
              <a:ext cx="2043" cy="227"/>
              <a:chOff x="8823521" y="1860849"/>
              <a:chExt cx="1297315" cy="144000"/>
            </a:xfrm>
          </p:grpSpPr>
          <p:grpSp>
            <p:nvGrpSpPr>
              <p:cNvPr id="277" name="组合 276"/>
              <p:cNvGrpSpPr/>
              <p:nvPr/>
            </p:nvGrpSpPr>
            <p:grpSpPr>
              <a:xfrm>
                <a:off x="9976836" y="1860849"/>
                <a:ext cx="144000" cy="144000"/>
                <a:chOff x="9976836" y="1860849"/>
                <a:chExt cx="144000" cy="144000"/>
              </a:xfrm>
            </p:grpSpPr>
            <p:sp>
              <p:nvSpPr>
                <p:cNvPr id="278" name="椭圆 277"/>
                <p:cNvSpPr/>
                <p:nvPr/>
              </p:nvSpPr>
              <p:spPr>
                <a:xfrm>
                  <a:off x="9976836" y="1860849"/>
                  <a:ext cx="144000" cy="144000"/>
                </a:xfrm>
                <a:prstGeom prst="ellipse">
                  <a:avLst/>
                </a:prstGeom>
                <a:gradFill>
                  <a:gsLst>
                    <a:gs pos="2000">
                      <a:srgbClr val="3368FF"/>
                    </a:gs>
                    <a:gs pos="100000">
                      <a:srgbClr val="3368FF">
                        <a:alpha val="0"/>
                      </a:srgbClr>
                    </a:gs>
                  </a:gsLst>
                  <a:lin ang="54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279" name="椭圆 278"/>
                <p:cNvSpPr/>
                <p:nvPr/>
              </p:nvSpPr>
              <p:spPr>
                <a:xfrm>
                  <a:off x="10012836" y="1896849"/>
                  <a:ext cx="72000" cy="72000"/>
                </a:xfrm>
                <a:prstGeom prst="ellipse">
                  <a:avLst/>
                </a:prstGeom>
                <a:solidFill>
                  <a:srgbClr val="3368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cxnSp>
            <p:nvCxnSpPr>
              <p:cNvPr id="280" name="直接连接符 279"/>
              <p:cNvCxnSpPr/>
              <p:nvPr/>
            </p:nvCxnSpPr>
            <p:spPr>
              <a:xfrm flipH="1">
                <a:off x="8823521" y="1932849"/>
                <a:ext cx="1209322" cy="0"/>
              </a:xfrm>
              <a:prstGeom prst="line">
                <a:avLst/>
              </a:prstGeom>
              <a:noFill/>
              <a:ln w="25400" cap="flat">
                <a:gradFill>
                  <a:gsLst>
                    <a:gs pos="0">
                      <a:srgbClr val="3368FF"/>
                    </a:gs>
                    <a:gs pos="80000">
                      <a:srgbClr val="3368FF">
                        <a:alpha val="0"/>
                      </a:srgbClr>
                    </a:gs>
                  </a:gsLst>
                  <a:lin ang="0" scaled="0"/>
                </a:gradFill>
                <a:prstDash val="solid"/>
                <a:miter lim="400000"/>
              </a:ln>
              <a:effectLst/>
              <a:sp3d/>
            </p:spPr>
            <p:style>
              <a:lnRef idx="0">
                <a:scrgbClr r="0" g="0" b="0"/>
              </a:lnRef>
              <a:fillRef idx="0">
                <a:scrgbClr r="0" g="0" b="0"/>
              </a:fillRef>
              <a:effectRef idx="0">
                <a:scrgbClr r="0" g="0" b="0"/>
              </a:effectRef>
              <a:fontRef idx="none"/>
            </p:style>
          </p:cxnSp>
        </p:grpSp>
      </p:grpSp>
      <p:pic>
        <p:nvPicPr>
          <p:cNvPr id="7" name="图片 6"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17" name="文本框 16"/>
          <p:cNvSpPr txBox="1"/>
          <p:nvPr/>
        </p:nvSpPr>
        <p:spPr>
          <a:xfrm>
            <a:off x="3543935" y="4568825"/>
            <a:ext cx="58991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消费者</a:t>
            </a:r>
            <a:endParaRPr lang="zh-CN" altLang="en-US" sz="1000" b="1">
              <a:solidFill>
                <a:srgbClr val="383838"/>
              </a:solidFill>
              <a:latin typeface="微软雅黑"/>
              <a:ea typeface="微软雅黑"/>
              <a:cs typeface="微软雅黑"/>
            </a:endParaRPr>
          </a:p>
        </p:txBody>
      </p:sp>
      <p:sp>
        <p:nvSpPr>
          <p:cNvPr id="18" name="文本框 17"/>
          <p:cNvSpPr txBox="1"/>
          <p:nvPr/>
        </p:nvSpPr>
        <p:spPr>
          <a:xfrm>
            <a:off x="4375150" y="4566920"/>
            <a:ext cx="51879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合作伙伴</a:t>
            </a:r>
            <a:endParaRPr lang="zh-CN" altLang="en-US" sz="1000" b="1">
              <a:solidFill>
                <a:srgbClr val="383838"/>
              </a:solidFill>
              <a:latin typeface="微软雅黑"/>
              <a:ea typeface="微软雅黑"/>
              <a:cs typeface="微软雅黑"/>
            </a:endParaRPr>
          </a:p>
        </p:txBody>
      </p:sp>
      <p:sp>
        <p:nvSpPr>
          <p:cNvPr id="19" name="文本框 18"/>
          <p:cNvSpPr txBox="1"/>
          <p:nvPr/>
        </p:nvSpPr>
        <p:spPr>
          <a:xfrm>
            <a:off x="4344035" y="3907155"/>
            <a:ext cx="43751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品牌商</a:t>
            </a:r>
            <a:endParaRPr lang="zh-CN" altLang="en-US" sz="1000" b="1">
              <a:solidFill>
                <a:srgbClr val="383838"/>
              </a:solidFill>
              <a:latin typeface="微软雅黑"/>
              <a:ea typeface="微软雅黑"/>
              <a:cs typeface="微软雅黑"/>
            </a:endParaRPr>
          </a:p>
        </p:txBody>
      </p:sp>
      <p:cxnSp>
        <p:nvCxnSpPr>
          <p:cNvPr id="20" name="直接连接符 19"/>
          <p:cNvCxnSpPr/>
          <p:nvPr/>
        </p:nvCxnSpPr>
        <p:spPr>
          <a:xfrm>
            <a:off x="2841625" y="5267960"/>
            <a:ext cx="6370320" cy="0"/>
          </a:xfrm>
          <a:prstGeom prst="line">
            <a:avLst/>
          </a:prstGeom>
          <a:ln>
            <a:gradFill>
              <a:gsLst>
                <a:gs pos="0">
                  <a:srgbClr val="0042FF">
                    <a:alpha val="0"/>
                  </a:srgbClr>
                </a:gs>
                <a:gs pos="78000">
                  <a:srgbClr val="0042FF"/>
                </a:gs>
                <a:gs pos="17000">
                  <a:srgbClr val="0042FF"/>
                </a:gs>
                <a:gs pos="100000">
                  <a:srgbClr val="0042FF">
                    <a:alpha val="0"/>
                  </a:srgbClr>
                </a:gs>
              </a:gsLst>
              <a:lin ang="0" scaled="1"/>
            </a:gradFill>
          </a:ln>
        </p:spPr>
        <p:style>
          <a:lnRef idx="2">
            <a:srgbClr val="0042FF"/>
          </a:lnRef>
          <a:fillRef idx="0">
            <a:srgbClr val="FFFFFF"/>
          </a:fillRef>
          <a:effectRef idx="0">
            <a:srgbClr val="FFFFFF"/>
          </a:effectRef>
          <a:fontRef idx="minor">
            <a:srgbClr val="383838"/>
          </a:fontRef>
        </p:style>
      </p:cxnSp>
      <p:cxnSp>
        <p:nvCxnSpPr>
          <p:cNvPr id="21" name="直接连接符 20"/>
          <p:cNvCxnSpPr/>
          <p:nvPr/>
        </p:nvCxnSpPr>
        <p:spPr>
          <a:xfrm>
            <a:off x="2835275" y="3058160"/>
            <a:ext cx="6370320" cy="0"/>
          </a:xfrm>
          <a:prstGeom prst="line">
            <a:avLst/>
          </a:prstGeom>
          <a:ln>
            <a:gradFill>
              <a:gsLst>
                <a:gs pos="0">
                  <a:srgbClr val="3368FF">
                    <a:alpha val="0"/>
                  </a:srgbClr>
                </a:gs>
                <a:gs pos="78000">
                  <a:srgbClr val="3368FF">
                    <a:alpha val="100000"/>
                  </a:srgbClr>
                </a:gs>
                <a:gs pos="17000">
                  <a:srgbClr val="3368FF"/>
                </a:gs>
                <a:gs pos="100000">
                  <a:srgbClr val="3368FF">
                    <a:alpha val="0"/>
                  </a:srgbClr>
                </a:gs>
              </a:gsLst>
              <a:lin ang="0" scaled="1"/>
            </a:gradFill>
          </a:ln>
        </p:spPr>
        <p:style>
          <a:lnRef idx="2">
            <a:srgbClr val="0042FF"/>
          </a:lnRef>
          <a:fillRef idx="0">
            <a:srgbClr val="FFFFFF"/>
          </a:fillRef>
          <a:effectRef idx="0">
            <a:srgbClr val="FFFFFF"/>
          </a:effectRef>
          <a:fontRef idx="minor">
            <a:srgbClr val="383838"/>
          </a:fontRef>
        </p:style>
      </p:cxnSp>
      <p:cxnSp>
        <p:nvCxnSpPr>
          <p:cNvPr id="35" name="直接连接符 34"/>
          <p:cNvCxnSpPr/>
          <p:nvPr/>
        </p:nvCxnSpPr>
        <p:spPr>
          <a:xfrm>
            <a:off x="2911475" y="1619250"/>
            <a:ext cx="6370320" cy="0"/>
          </a:xfrm>
          <a:prstGeom prst="line">
            <a:avLst/>
          </a:prstGeom>
          <a:ln>
            <a:gradFill>
              <a:gsLst>
                <a:gs pos="0">
                  <a:srgbClr val="B3D4FE">
                    <a:alpha val="0"/>
                  </a:srgbClr>
                </a:gs>
                <a:gs pos="78000">
                  <a:srgbClr val="B3D4FE"/>
                </a:gs>
                <a:gs pos="17000">
                  <a:srgbClr val="B3D4FE"/>
                </a:gs>
                <a:gs pos="100000">
                  <a:srgbClr val="B3D4FE">
                    <a:alpha val="0"/>
                  </a:srgbClr>
                </a:gs>
              </a:gsLst>
              <a:lin ang="0" scaled="1"/>
            </a:gradFill>
          </a:ln>
        </p:spPr>
        <p:style>
          <a:lnRef idx="2">
            <a:srgbClr val="0042FF"/>
          </a:lnRef>
          <a:fillRef idx="0">
            <a:srgbClr val="FFFFFF"/>
          </a:fillRef>
          <a:effectRef idx="0">
            <a:srgbClr val="FFFFFF"/>
          </a:effectRef>
          <a:fontRef idx="minor">
            <a:srgbClr val="383838"/>
          </a:fontRef>
        </p:style>
      </p:cxnSp>
      <p:sp>
        <p:nvSpPr>
          <p:cNvPr id="48" name="椭圆 47"/>
          <p:cNvSpPr/>
          <p:nvPr/>
        </p:nvSpPr>
        <p:spPr>
          <a:xfrm>
            <a:off x="5235575" y="4057015"/>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9" name="椭圆 88"/>
          <p:cNvSpPr/>
          <p:nvPr/>
        </p:nvSpPr>
        <p:spPr>
          <a:xfrm>
            <a:off x="7846695" y="4011930"/>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90" name="椭圆 89"/>
          <p:cNvSpPr/>
          <p:nvPr/>
        </p:nvSpPr>
        <p:spPr>
          <a:xfrm>
            <a:off x="6235700" y="4594860"/>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91" name="椭圆 90"/>
          <p:cNvSpPr/>
          <p:nvPr/>
        </p:nvSpPr>
        <p:spPr>
          <a:xfrm>
            <a:off x="5856605" y="4064000"/>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92" name="椭圆 91"/>
          <p:cNvSpPr/>
          <p:nvPr/>
        </p:nvSpPr>
        <p:spPr>
          <a:xfrm>
            <a:off x="6682740" y="4384040"/>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93" name="椭圆 92"/>
          <p:cNvSpPr/>
          <p:nvPr/>
        </p:nvSpPr>
        <p:spPr>
          <a:xfrm>
            <a:off x="6993255" y="3809365"/>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94" name="文本框 93"/>
          <p:cNvSpPr txBox="1"/>
          <p:nvPr/>
        </p:nvSpPr>
        <p:spPr>
          <a:xfrm>
            <a:off x="6738620" y="4475480"/>
            <a:ext cx="43116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消费者</a:t>
            </a:r>
            <a:endParaRPr lang="zh-CN" altLang="en-US" sz="1000" b="1">
              <a:solidFill>
                <a:srgbClr val="383838"/>
              </a:solidFill>
              <a:latin typeface="微软雅黑"/>
              <a:ea typeface="微软雅黑"/>
              <a:cs typeface="微软雅黑"/>
            </a:endParaRPr>
          </a:p>
        </p:txBody>
      </p:sp>
      <p:sp>
        <p:nvSpPr>
          <p:cNvPr id="95" name="椭圆 94"/>
          <p:cNvSpPr/>
          <p:nvPr/>
        </p:nvSpPr>
        <p:spPr>
          <a:xfrm>
            <a:off x="6470650" y="3653155"/>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6" name="椭圆 95"/>
          <p:cNvSpPr/>
          <p:nvPr/>
        </p:nvSpPr>
        <p:spPr>
          <a:xfrm>
            <a:off x="7339330" y="3469005"/>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7" name="椭圆 96"/>
          <p:cNvSpPr/>
          <p:nvPr/>
        </p:nvSpPr>
        <p:spPr>
          <a:xfrm>
            <a:off x="3584575" y="4577715"/>
            <a:ext cx="71755" cy="71755"/>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98" name="文本框 97"/>
          <p:cNvSpPr txBox="1"/>
          <p:nvPr/>
        </p:nvSpPr>
        <p:spPr>
          <a:xfrm>
            <a:off x="3727450" y="3432175"/>
            <a:ext cx="518795"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零售终端</a:t>
            </a:r>
            <a:endParaRPr lang="zh-CN" altLang="en-US" sz="1000" b="1">
              <a:solidFill>
                <a:srgbClr val="383838"/>
              </a:solidFill>
              <a:latin typeface="微软雅黑"/>
              <a:ea typeface="微软雅黑"/>
              <a:cs typeface="微软雅黑"/>
            </a:endParaRPr>
          </a:p>
        </p:txBody>
      </p:sp>
      <p:sp>
        <p:nvSpPr>
          <p:cNvPr id="99" name="椭圆 98"/>
          <p:cNvSpPr/>
          <p:nvPr/>
        </p:nvSpPr>
        <p:spPr>
          <a:xfrm>
            <a:off x="3961765" y="3587750"/>
            <a:ext cx="116840" cy="116840"/>
          </a:xfrm>
          <a:prstGeom prst="ellipse">
            <a:avLst/>
          </a:prstGeom>
          <a:solidFill>
            <a:srgbClr val="3368FF"/>
          </a:solidFill>
          <a:ln>
            <a:solidFill>
              <a:srgbClr val="E6E6E6"/>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a:solidFill>
                  <a:srgbClr val="FFFFFF"/>
                </a:solidFill>
                <a:cs typeface="微软雅黑"/>
                <a:sym typeface="微软雅黑"/>
                <a:latin typeface="微软雅黑"/>
                <a:ea typeface="微软雅黑"/>
              </a:rPr>
              <a:t> </a:t>
            </a:r>
            <a:endParaRPr lang="zh-CN" altLang="en-US">
              <a:solidFill>
                <a:srgbClr val="FFFFFF"/>
              </a:solidFill>
              <a:cs typeface="微软雅黑"/>
              <a:sym typeface="微软雅黑"/>
              <a:latin typeface="微软雅黑"/>
              <a:ea typeface="微软雅黑"/>
            </a:endParaRPr>
          </a:p>
        </p:txBody>
      </p:sp>
      <p:sp>
        <p:nvSpPr>
          <p:cNvPr id="111" name="椭圆 110"/>
          <p:cNvSpPr/>
          <p:nvPr/>
        </p:nvSpPr>
        <p:spPr>
          <a:xfrm>
            <a:off x="5083810" y="4034155"/>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3" name="椭圆 112"/>
          <p:cNvSpPr/>
          <p:nvPr/>
        </p:nvSpPr>
        <p:spPr>
          <a:xfrm>
            <a:off x="5278120" y="459486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4" name="椭圆 113"/>
          <p:cNvSpPr/>
          <p:nvPr/>
        </p:nvSpPr>
        <p:spPr>
          <a:xfrm>
            <a:off x="5760085" y="3962400"/>
            <a:ext cx="71755" cy="71755"/>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132" name="组合 131"/>
          <p:cNvGrpSpPr/>
          <p:nvPr/>
        </p:nvGrpSpPr>
        <p:grpSpPr>
          <a:xfrm>
            <a:off x="3138170" y="5467668"/>
            <a:ext cx="826770" cy="532765"/>
            <a:chOff x="4810" y="8630"/>
            <a:chExt cx="1302" cy="839"/>
          </a:xfrm>
        </p:grpSpPr>
        <p:sp>
          <p:nvSpPr>
            <p:cNvPr id="115" name="菱形 114"/>
            <p:cNvSpPr/>
            <p:nvPr/>
          </p:nvSpPr>
          <p:spPr>
            <a:xfrm>
              <a:off x="4813" y="9032"/>
              <a:ext cx="1298" cy="436"/>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16" name="菱形 115"/>
            <p:cNvSpPr/>
            <p:nvPr/>
          </p:nvSpPr>
          <p:spPr>
            <a:xfrm>
              <a:off x="4933" y="9073"/>
              <a:ext cx="1058" cy="356"/>
            </a:xfrm>
            <a:prstGeom prst="diamond">
              <a:avLst/>
            </a:prstGeom>
            <a:gradFill>
              <a:gsLst>
                <a:gs pos="0">
                  <a:srgbClr val="0042FF">
                    <a:alpha val="0"/>
                  </a:srgbClr>
                </a:gs>
                <a:gs pos="100000">
                  <a:srgbClr val="0042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17" name="菱形 116"/>
            <p:cNvSpPr/>
            <p:nvPr/>
          </p:nvSpPr>
          <p:spPr>
            <a:xfrm>
              <a:off x="5134" y="9141"/>
              <a:ext cx="654" cy="220"/>
            </a:xfrm>
            <a:prstGeom prst="diamond">
              <a:avLst/>
            </a:prstGeom>
            <a:gradFill>
              <a:gsLst>
                <a:gs pos="100000">
                  <a:srgbClr val="0042FF">
                    <a:alpha val="50000"/>
                  </a:srgbClr>
                </a:gs>
                <a:gs pos="0">
                  <a:srgbClr val="0042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120" name="组合 119"/>
            <p:cNvGrpSpPr/>
            <p:nvPr/>
          </p:nvGrpSpPr>
          <p:grpSpPr>
            <a:xfrm rot="0">
              <a:off x="6034" y="9225"/>
              <a:ext cx="79" cy="52"/>
              <a:chOff x="8353512" y="3886200"/>
              <a:chExt cx="307127" cy="266701"/>
            </a:xfrm>
          </p:grpSpPr>
          <p:cxnSp>
            <p:nvCxnSpPr>
              <p:cNvPr id="121" name="直接连接符 120"/>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22" name="直接连接符 121"/>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23" name="组合 122"/>
            <p:cNvGrpSpPr/>
            <p:nvPr/>
          </p:nvGrpSpPr>
          <p:grpSpPr>
            <a:xfrm rot="0" flipH="1">
              <a:off x="4810" y="9225"/>
              <a:ext cx="79" cy="52"/>
              <a:chOff x="8353512" y="3886200"/>
              <a:chExt cx="307127" cy="266701"/>
            </a:xfrm>
          </p:grpSpPr>
          <p:cxnSp>
            <p:nvCxnSpPr>
              <p:cNvPr id="124" name="直接连接符 123"/>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25" name="直接连接符 124"/>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26" name="直接连接符 125"/>
            <p:cNvCxnSpPr/>
            <p:nvPr/>
          </p:nvCxnSpPr>
          <p:spPr>
            <a:xfrm flipV="1">
              <a:off x="5462" y="9442"/>
              <a:ext cx="79" cy="26"/>
            </a:xfrm>
            <a:prstGeom prst="line">
              <a:avLst/>
            </a:prstGeom>
            <a:noFill/>
            <a:ln w="19050" cap="flat" cmpd="sng" algn="ctr">
              <a:solidFill>
                <a:srgbClr val="0042FF"/>
              </a:solidFill>
              <a:prstDash val="solid"/>
              <a:miter lim="800000"/>
            </a:ln>
            <a:effectLst/>
          </p:spPr>
        </p:cxnSp>
        <p:cxnSp>
          <p:nvCxnSpPr>
            <p:cNvPr id="127" name="直接连接符 126"/>
            <p:cNvCxnSpPr/>
            <p:nvPr/>
          </p:nvCxnSpPr>
          <p:spPr>
            <a:xfrm>
              <a:off x="5384" y="9443"/>
              <a:ext cx="79" cy="26"/>
            </a:xfrm>
            <a:prstGeom prst="line">
              <a:avLst/>
            </a:prstGeom>
            <a:noFill/>
            <a:ln w="19050" cap="flat" cmpd="sng" algn="ctr">
              <a:solidFill>
                <a:srgbClr val="0042FF"/>
              </a:solidFill>
              <a:prstDash val="solid"/>
              <a:miter lim="800000"/>
            </a:ln>
            <a:effectLst/>
          </p:spPr>
        </p:cxnSp>
        <p:sp>
          <p:nvSpPr>
            <p:cNvPr id="130" name="梯形 129"/>
            <p:cNvSpPr/>
            <p:nvPr/>
          </p:nvSpPr>
          <p:spPr>
            <a:xfrm rot="10800000">
              <a:off x="5021" y="8630"/>
              <a:ext cx="883" cy="663"/>
            </a:xfrm>
            <a:prstGeom prst="trapezoid">
              <a:avLst>
                <a:gd name="adj" fmla="val 19469"/>
              </a:avLst>
            </a:prstGeom>
            <a:gradFill>
              <a:gsLst>
                <a:gs pos="100000">
                  <a:srgbClr val="0042FF">
                    <a:alpha val="0"/>
                  </a:srgbClr>
                </a:gs>
                <a:gs pos="44100">
                  <a:srgbClr val="0042FF">
                    <a:alpha val="15000"/>
                  </a:srgbClr>
                </a:gs>
                <a:gs pos="0">
                  <a:srgbClr val="0042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131" name="文本框 130"/>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数据基建</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163" name="组合 162"/>
          <p:cNvGrpSpPr/>
          <p:nvPr/>
        </p:nvGrpSpPr>
        <p:grpSpPr>
          <a:xfrm>
            <a:off x="3756025" y="7056438"/>
            <a:ext cx="827405" cy="532765"/>
            <a:chOff x="4810" y="8630"/>
            <a:chExt cx="1303" cy="839"/>
          </a:xfrm>
        </p:grpSpPr>
        <p:sp>
          <p:nvSpPr>
            <p:cNvPr id="164" name="菱形 163"/>
            <p:cNvSpPr/>
            <p:nvPr/>
          </p:nvSpPr>
          <p:spPr>
            <a:xfrm>
              <a:off x="4813" y="9032"/>
              <a:ext cx="1298" cy="436"/>
            </a:xfrm>
            <a:prstGeom prst="diamond">
              <a:avLst/>
            </a:prstGeom>
            <a:noFill/>
            <a:ln w="12700" cap="flat" cmpd="sng" algn="ctr">
              <a:gradFill>
                <a:gsLst>
                  <a:gs pos="1000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67" name="菱形 166"/>
            <p:cNvSpPr/>
            <p:nvPr/>
          </p:nvSpPr>
          <p:spPr>
            <a:xfrm>
              <a:off x="4933" y="9073"/>
              <a:ext cx="1058" cy="356"/>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3368FF">
                      <a:alpha val="0"/>
                    </a:srgbClr>
                  </a:gs>
                  <a:gs pos="100000">
                    <a:srgbClr val="3368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68" name="菱形 167"/>
            <p:cNvSpPr/>
            <p:nvPr/>
          </p:nvSpPr>
          <p:spPr>
            <a:xfrm>
              <a:off x="5134" y="9141"/>
              <a:ext cx="654" cy="220"/>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171" name="组合 170"/>
            <p:cNvGrpSpPr/>
            <p:nvPr/>
          </p:nvGrpSpPr>
          <p:grpSpPr>
            <a:xfrm rot="0">
              <a:off x="6034" y="9225"/>
              <a:ext cx="79" cy="52"/>
              <a:chOff x="8353512" y="3886200"/>
              <a:chExt cx="307127" cy="266701"/>
            </a:xfrm>
          </p:grpSpPr>
          <p:cxnSp>
            <p:nvCxnSpPr>
              <p:cNvPr id="173" name="直接连接符 172"/>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180" name="直接连接符 179"/>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grpSp>
          <p:nvGrpSpPr>
            <p:cNvPr id="182" name="组合 181"/>
            <p:cNvGrpSpPr/>
            <p:nvPr/>
          </p:nvGrpSpPr>
          <p:grpSpPr>
            <a:xfrm rot="0" flipH="1">
              <a:off x="4810" y="9225"/>
              <a:ext cx="79" cy="52"/>
              <a:chOff x="8353512" y="3886200"/>
              <a:chExt cx="307127" cy="266701"/>
            </a:xfrm>
          </p:grpSpPr>
          <p:cxnSp>
            <p:nvCxnSpPr>
              <p:cNvPr id="183" name="直接连接符 182"/>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184" name="直接连接符 183"/>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cxnSp>
          <p:nvCxnSpPr>
            <p:cNvPr id="185" name="直接连接符 184"/>
            <p:cNvCxnSpPr/>
            <p:nvPr/>
          </p:nvCxnSpPr>
          <p:spPr>
            <a:xfrm flipV="1">
              <a:off x="5462" y="9442"/>
              <a:ext cx="79" cy="26"/>
            </a:xfrm>
            <a:prstGeom prst="line">
              <a:avLst/>
            </a:prstGeom>
            <a:noFill/>
            <a:ln w="19050" cap="flat" cmpd="sng" algn="ctr">
              <a:solidFill>
                <a:srgbClr val="3368FF"/>
              </a:solidFill>
              <a:prstDash val="solid"/>
              <a:miter lim="800000"/>
            </a:ln>
            <a:effectLst/>
          </p:spPr>
        </p:cxnSp>
        <p:cxnSp>
          <p:nvCxnSpPr>
            <p:cNvPr id="186" name="直接连接符 185"/>
            <p:cNvCxnSpPr/>
            <p:nvPr/>
          </p:nvCxnSpPr>
          <p:spPr>
            <a:xfrm>
              <a:off x="5384" y="9443"/>
              <a:ext cx="79" cy="26"/>
            </a:xfrm>
            <a:prstGeom prst="line">
              <a:avLst/>
            </a:prstGeom>
            <a:noFill/>
            <a:ln w="19050" cap="flat" cmpd="sng" algn="ctr">
              <a:solidFill>
                <a:srgbClr val="3368FF"/>
              </a:solidFill>
              <a:prstDash val="solid"/>
              <a:miter lim="800000"/>
            </a:ln>
            <a:effectLst/>
          </p:spPr>
        </p:cxnSp>
        <p:sp>
          <p:nvSpPr>
            <p:cNvPr id="205" name="梯形 204"/>
            <p:cNvSpPr/>
            <p:nvPr/>
          </p:nvSpPr>
          <p:spPr>
            <a:xfrm rot="10800000">
              <a:off x="5021" y="8630"/>
              <a:ext cx="883" cy="663"/>
            </a:xfrm>
            <a:prstGeom prst="trapezoid">
              <a:avLst>
                <a:gd name="adj" fmla="val 19469"/>
              </a:avLst>
            </a:prstGeom>
            <a:gradFill>
              <a:gsLst>
                <a:gs pos="100000">
                  <a:srgbClr val="3368FF">
                    <a:alpha val="0"/>
                  </a:srgbClr>
                </a:gs>
                <a:gs pos="44100">
                  <a:srgbClr val="3368FF">
                    <a:alpha val="15000"/>
                  </a:srgbClr>
                </a:gs>
                <a:gs pos="0">
                  <a:srgbClr val="3368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217" name="文本框 216"/>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p>
              <a:pPr marL="0" marR="0" indent="0" algn="ctr" defTabSz="2438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场景融合</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235" name="组合 234"/>
          <p:cNvGrpSpPr/>
          <p:nvPr/>
        </p:nvGrpSpPr>
        <p:grpSpPr>
          <a:xfrm>
            <a:off x="4782820" y="7056438"/>
            <a:ext cx="827405" cy="532765"/>
            <a:chOff x="4810" y="8630"/>
            <a:chExt cx="1303" cy="839"/>
          </a:xfrm>
        </p:grpSpPr>
        <p:sp>
          <p:nvSpPr>
            <p:cNvPr id="236" name="菱形 235"/>
            <p:cNvSpPr/>
            <p:nvPr/>
          </p:nvSpPr>
          <p:spPr>
            <a:xfrm>
              <a:off x="4813" y="9032"/>
              <a:ext cx="1298" cy="436"/>
            </a:xfrm>
            <a:prstGeom prst="diamond">
              <a:avLst/>
            </a:prstGeom>
            <a:noFill/>
            <a:ln w="12700" cap="flat" cmpd="sng" algn="ctr">
              <a:gradFill>
                <a:gsLst>
                  <a:gs pos="1000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237" name="菱形 236"/>
            <p:cNvSpPr/>
            <p:nvPr/>
          </p:nvSpPr>
          <p:spPr>
            <a:xfrm>
              <a:off x="4933" y="9073"/>
              <a:ext cx="1058" cy="356"/>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3368FF">
                      <a:alpha val="0"/>
                    </a:srgbClr>
                  </a:gs>
                  <a:gs pos="100000">
                    <a:srgbClr val="3368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238" name="菱形 237"/>
            <p:cNvSpPr/>
            <p:nvPr/>
          </p:nvSpPr>
          <p:spPr>
            <a:xfrm>
              <a:off x="5134" y="9141"/>
              <a:ext cx="654" cy="220"/>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239" name="组合 238"/>
            <p:cNvGrpSpPr/>
            <p:nvPr/>
          </p:nvGrpSpPr>
          <p:grpSpPr>
            <a:xfrm rot="0">
              <a:off x="6034" y="9225"/>
              <a:ext cx="79" cy="52"/>
              <a:chOff x="8353512" y="3886200"/>
              <a:chExt cx="307127" cy="266701"/>
            </a:xfrm>
          </p:grpSpPr>
          <p:cxnSp>
            <p:nvCxnSpPr>
              <p:cNvPr id="240" name="直接连接符 239"/>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244" name="直接连接符 243"/>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grpSp>
          <p:nvGrpSpPr>
            <p:cNvPr id="258" name="组合 257"/>
            <p:cNvGrpSpPr/>
            <p:nvPr/>
          </p:nvGrpSpPr>
          <p:grpSpPr>
            <a:xfrm rot="0" flipH="1">
              <a:off x="4810" y="9225"/>
              <a:ext cx="79" cy="52"/>
              <a:chOff x="8353512" y="3886200"/>
              <a:chExt cx="307127" cy="266701"/>
            </a:xfrm>
          </p:grpSpPr>
          <p:cxnSp>
            <p:nvCxnSpPr>
              <p:cNvPr id="259" name="直接连接符 258"/>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262" name="直接连接符 261"/>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cxnSp>
          <p:nvCxnSpPr>
            <p:cNvPr id="263" name="直接连接符 262"/>
            <p:cNvCxnSpPr/>
            <p:nvPr/>
          </p:nvCxnSpPr>
          <p:spPr>
            <a:xfrm flipV="1">
              <a:off x="5462" y="9442"/>
              <a:ext cx="79" cy="26"/>
            </a:xfrm>
            <a:prstGeom prst="line">
              <a:avLst/>
            </a:prstGeom>
            <a:noFill/>
            <a:ln w="19050" cap="flat" cmpd="sng" algn="ctr">
              <a:solidFill>
                <a:srgbClr val="3368FF"/>
              </a:solidFill>
              <a:prstDash val="solid"/>
              <a:miter lim="800000"/>
            </a:ln>
            <a:effectLst/>
          </p:spPr>
        </p:cxnSp>
        <p:cxnSp>
          <p:nvCxnSpPr>
            <p:cNvPr id="264" name="直接连接符 263"/>
            <p:cNvCxnSpPr/>
            <p:nvPr/>
          </p:nvCxnSpPr>
          <p:spPr>
            <a:xfrm>
              <a:off x="5384" y="9443"/>
              <a:ext cx="79" cy="26"/>
            </a:xfrm>
            <a:prstGeom prst="line">
              <a:avLst/>
            </a:prstGeom>
            <a:noFill/>
            <a:ln w="19050" cap="flat" cmpd="sng" algn="ctr">
              <a:solidFill>
                <a:srgbClr val="3368FF"/>
              </a:solidFill>
              <a:prstDash val="solid"/>
              <a:miter lim="800000"/>
            </a:ln>
            <a:effectLst/>
          </p:spPr>
        </p:cxnSp>
        <p:sp>
          <p:nvSpPr>
            <p:cNvPr id="265" name="梯形 264"/>
            <p:cNvSpPr/>
            <p:nvPr/>
          </p:nvSpPr>
          <p:spPr>
            <a:xfrm rot="10800000">
              <a:off x="5021" y="8630"/>
              <a:ext cx="883" cy="663"/>
            </a:xfrm>
            <a:prstGeom prst="trapezoid">
              <a:avLst>
                <a:gd name="adj" fmla="val 19469"/>
              </a:avLst>
            </a:prstGeom>
            <a:gradFill>
              <a:gsLst>
                <a:gs pos="100000">
                  <a:srgbClr val="3368FF">
                    <a:alpha val="0"/>
                  </a:srgbClr>
                </a:gs>
                <a:gs pos="44100">
                  <a:srgbClr val="3368FF">
                    <a:alpha val="15000"/>
                  </a:srgbClr>
                </a:gs>
                <a:gs pos="0">
                  <a:srgbClr val="3368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266" name="文本框 265"/>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p>
              <a:pPr marL="0" marR="0" indent="0" algn="ctr" defTabSz="2438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数字孪生</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267" name="组合 266"/>
          <p:cNvGrpSpPr/>
          <p:nvPr/>
        </p:nvGrpSpPr>
        <p:grpSpPr>
          <a:xfrm>
            <a:off x="5809615" y="7056438"/>
            <a:ext cx="827405" cy="532765"/>
            <a:chOff x="4810" y="8630"/>
            <a:chExt cx="1303" cy="839"/>
          </a:xfrm>
        </p:grpSpPr>
        <p:sp>
          <p:nvSpPr>
            <p:cNvPr id="268" name="菱形 267"/>
            <p:cNvSpPr/>
            <p:nvPr/>
          </p:nvSpPr>
          <p:spPr>
            <a:xfrm>
              <a:off x="4813" y="9032"/>
              <a:ext cx="1298" cy="436"/>
            </a:xfrm>
            <a:prstGeom prst="diamond">
              <a:avLst/>
            </a:prstGeom>
            <a:noFill/>
            <a:ln w="12700" cap="flat" cmpd="sng" algn="ctr">
              <a:gradFill>
                <a:gsLst>
                  <a:gs pos="1000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269" name="菱形 268"/>
            <p:cNvSpPr/>
            <p:nvPr/>
          </p:nvSpPr>
          <p:spPr>
            <a:xfrm>
              <a:off x="4933" y="9073"/>
              <a:ext cx="1058" cy="356"/>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3368FF">
                      <a:alpha val="0"/>
                    </a:srgbClr>
                  </a:gs>
                  <a:gs pos="100000">
                    <a:srgbClr val="3368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270" name="菱形 269"/>
            <p:cNvSpPr/>
            <p:nvPr/>
          </p:nvSpPr>
          <p:spPr>
            <a:xfrm>
              <a:off x="5134" y="9141"/>
              <a:ext cx="654" cy="220"/>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271" name="组合 270"/>
            <p:cNvGrpSpPr/>
            <p:nvPr/>
          </p:nvGrpSpPr>
          <p:grpSpPr>
            <a:xfrm rot="0">
              <a:off x="6034" y="9225"/>
              <a:ext cx="79" cy="52"/>
              <a:chOff x="8353512" y="3886200"/>
              <a:chExt cx="307127" cy="266701"/>
            </a:xfrm>
          </p:grpSpPr>
          <p:cxnSp>
            <p:nvCxnSpPr>
              <p:cNvPr id="299" name="直接连接符 298"/>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300" name="直接连接符 299"/>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grpSp>
          <p:nvGrpSpPr>
            <p:cNvPr id="301" name="组合 300"/>
            <p:cNvGrpSpPr/>
            <p:nvPr/>
          </p:nvGrpSpPr>
          <p:grpSpPr>
            <a:xfrm rot="0" flipH="1">
              <a:off x="4810" y="9225"/>
              <a:ext cx="79" cy="52"/>
              <a:chOff x="8353512" y="3886200"/>
              <a:chExt cx="307127" cy="266701"/>
            </a:xfrm>
          </p:grpSpPr>
          <p:cxnSp>
            <p:nvCxnSpPr>
              <p:cNvPr id="302" name="直接连接符 301"/>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303" name="直接连接符 302"/>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cxnSp>
          <p:nvCxnSpPr>
            <p:cNvPr id="304" name="直接连接符 303"/>
            <p:cNvCxnSpPr/>
            <p:nvPr/>
          </p:nvCxnSpPr>
          <p:spPr>
            <a:xfrm flipV="1">
              <a:off x="5462" y="9442"/>
              <a:ext cx="79" cy="26"/>
            </a:xfrm>
            <a:prstGeom prst="line">
              <a:avLst/>
            </a:prstGeom>
            <a:noFill/>
            <a:ln w="19050" cap="flat" cmpd="sng" algn="ctr">
              <a:solidFill>
                <a:srgbClr val="3368FF"/>
              </a:solidFill>
              <a:prstDash val="solid"/>
              <a:miter lim="800000"/>
            </a:ln>
            <a:effectLst/>
          </p:spPr>
        </p:cxnSp>
        <p:cxnSp>
          <p:nvCxnSpPr>
            <p:cNvPr id="305" name="直接连接符 304"/>
            <p:cNvCxnSpPr/>
            <p:nvPr/>
          </p:nvCxnSpPr>
          <p:spPr>
            <a:xfrm>
              <a:off x="5384" y="9443"/>
              <a:ext cx="79" cy="26"/>
            </a:xfrm>
            <a:prstGeom prst="line">
              <a:avLst/>
            </a:prstGeom>
            <a:noFill/>
            <a:ln w="19050" cap="flat" cmpd="sng" algn="ctr">
              <a:solidFill>
                <a:srgbClr val="3368FF"/>
              </a:solidFill>
              <a:prstDash val="solid"/>
              <a:miter lim="800000"/>
            </a:ln>
            <a:effectLst/>
          </p:spPr>
        </p:cxnSp>
        <p:sp>
          <p:nvSpPr>
            <p:cNvPr id="306" name="梯形 305"/>
            <p:cNvSpPr/>
            <p:nvPr/>
          </p:nvSpPr>
          <p:spPr>
            <a:xfrm rot="10800000">
              <a:off x="5021" y="8630"/>
              <a:ext cx="883" cy="663"/>
            </a:xfrm>
            <a:prstGeom prst="trapezoid">
              <a:avLst>
                <a:gd name="adj" fmla="val 19469"/>
              </a:avLst>
            </a:prstGeom>
            <a:gradFill>
              <a:gsLst>
                <a:gs pos="100000">
                  <a:srgbClr val="3368FF">
                    <a:alpha val="0"/>
                  </a:srgbClr>
                </a:gs>
                <a:gs pos="44100">
                  <a:srgbClr val="3368FF">
                    <a:alpha val="15000"/>
                  </a:srgbClr>
                </a:gs>
                <a:gs pos="0">
                  <a:srgbClr val="3368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07" name="文本框 306"/>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p>
              <a:pPr marL="0" marR="0" indent="0" algn="ctr" defTabSz="2438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全域触达</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308" name="组合 307"/>
          <p:cNvGrpSpPr/>
          <p:nvPr/>
        </p:nvGrpSpPr>
        <p:grpSpPr>
          <a:xfrm>
            <a:off x="6836410" y="7056438"/>
            <a:ext cx="827405" cy="532765"/>
            <a:chOff x="4810" y="8630"/>
            <a:chExt cx="1303" cy="839"/>
          </a:xfrm>
        </p:grpSpPr>
        <p:sp>
          <p:nvSpPr>
            <p:cNvPr id="309" name="菱形 308"/>
            <p:cNvSpPr/>
            <p:nvPr/>
          </p:nvSpPr>
          <p:spPr>
            <a:xfrm>
              <a:off x="4813" y="9032"/>
              <a:ext cx="1298" cy="436"/>
            </a:xfrm>
            <a:prstGeom prst="diamond">
              <a:avLst/>
            </a:prstGeom>
            <a:noFill/>
            <a:ln w="12700" cap="flat" cmpd="sng" algn="ctr">
              <a:gradFill>
                <a:gsLst>
                  <a:gs pos="1000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310" name="菱形 309"/>
            <p:cNvSpPr/>
            <p:nvPr/>
          </p:nvSpPr>
          <p:spPr>
            <a:xfrm>
              <a:off x="4933" y="9073"/>
              <a:ext cx="1058" cy="356"/>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3368FF">
                      <a:alpha val="0"/>
                    </a:srgbClr>
                  </a:gs>
                  <a:gs pos="100000">
                    <a:srgbClr val="3368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311" name="菱形 310"/>
            <p:cNvSpPr/>
            <p:nvPr/>
          </p:nvSpPr>
          <p:spPr>
            <a:xfrm>
              <a:off x="5134" y="9141"/>
              <a:ext cx="654" cy="220"/>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312" name="组合 311"/>
            <p:cNvGrpSpPr/>
            <p:nvPr/>
          </p:nvGrpSpPr>
          <p:grpSpPr>
            <a:xfrm rot="0">
              <a:off x="6034" y="9225"/>
              <a:ext cx="79" cy="52"/>
              <a:chOff x="8353512" y="3886200"/>
              <a:chExt cx="307127" cy="266701"/>
            </a:xfrm>
          </p:grpSpPr>
          <p:cxnSp>
            <p:nvCxnSpPr>
              <p:cNvPr id="313" name="直接连接符 312"/>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314" name="直接连接符 313"/>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grpSp>
          <p:nvGrpSpPr>
            <p:cNvPr id="315" name="组合 314"/>
            <p:cNvGrpSpPr/>
            <p:nvPr/>
          </p:nvGrpSpPr>
          <p:grpSpPr>
            <a:xfrm rot="0" flipH="1">
              <a:off x="4810" y="9225"/>
              <a:ext cx="79" cy="52"/>
              <a:chOff x="8353512" y="3886200"/>
              <a:chExt cx="307127" cy="266701"/>
            </a:xfrm>
          </p:grpSpPr>
          <p:cxnSp>
            <p:nvCxnSpPr>
              <p:cNvPr id="316" name="直接连接符 315"/>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317" name="直接连接符 316"/>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cxnSp>
          <p:nvCxnSpPr>
            <p:cNvPr id="318" name="直接连接符 317"/>
            <p:cNvCxnSpPr/>
            <p:nvPr/>
          </p:nvCxnSpPr>
          <p:spPr>
            <a:xfrm flipV="1">
              <a:off x="5462" y="9442"/>
              <a:ext cx="79" cy="26"/>
            </a:xfrm>
            <a:prstGeom prst="line">
              <a:avLst/>
            </a:prstGeom>
            <a:noFill/>
            <a:ln w="19050" cap="flat" cmpd="sng" algn="ctr">
              <a:solidFill>
                <a:srgbClr val="3368FF"/>
              </a:solidFill>
              <a:prstDash val="solid"/>
              <a:miter lim="800000"/>
            </a:ln>
            <a:effectLst/>
          </p:spPr>
        </p:cxnSp>
        <p:cxnSp>
          <p:nvCxnSpPr>
            <p:cNvPr id="319" name="直接连接符 318"/>
            <p:cNvCxnSpPr/>
            <p:nvPr/>
          </p:nvCxnSpPr>
          <p:spPr>
            <a:xfrm>
              <a:off x="5384" y="9443"/>
              <a:ext cx="79" cy="26"/>
            </a:xfrm>
            <a:prstGeom prst="line">
              <a:avLst/>
            </a:prstGeom>
            <a:noFill/>
            <a:ln w="19050" cap="flat" cmpd="sng" algn="ctr">
              <a:solidFill>
                <a:srgbClr val="3368FF"/>
              </a:solidFill>
              <a:prstDash val="solid"/>
              <a:miter lim="800000"/>
            </a:ln>
            <a:effectLst/>
          </p:spPr>
        </p:cxnSp>
        <p:sp>
          <p:nvSpPr>
            <p:cNvPr id="320" name="梯形 319"/>
            <p:cNvSpPr/>
            <p:nvPr/>
          </p:nvSpPr>
          <p:spPr>
            <a:xfrm rot="10800000">
              <a:off x="5021" y="8630"/>
              <a:ext cx="883" cy="663"/>
            </a:xfrm>
            <a:prstGeom prst="trapezoid">
              <a:avLst>
                <a:gd name="adj" fmla="val 19469"/>
              </a:avLst>
            </a:prstGeom>
            <a:gradFill>
              <a:gsLst>
                <a:gs pos="100000">
                  <a:srgbClr val="3368FF">
                    <a:alpha val="0"/>
                  </a:srgbClr>
                </a:gs>
                <a:gs pos="44100">
                  <a:srgbClr val="3368FF">
                    <a:alpha val="15000"/>
                  </a:srgbClr>
                </a:gs>
                <a:gs pos="0">
                  <a:srgbClr val="3368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21" name="文本框 320"/>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p>
              <a:pPr marL="0" marR="0" indent="0" algn="ctr" defTabSz="2438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价值循环</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322" name="组合 321"/>
          <p:cNvGrpSpPr/>
          <p:nvPr/>
        </p:nvGrpSpPr>
        <p:grpSpPr>
          <a:xfrm>
            <a:off x="7863205" y="7056438"/>
            <a:ext cx="827405" cy="532765"/>
            <a:chOff x="4810" y="8630"/>
            <a:chExt cx="1303" cy="839"/>
          </a:xfrm>
        </p:grpSpPr>
        <p:sp>
          <p:nvSpPr>
            <p:cNvPr id="323" name="菱形 322"/>
            <p:cNvSpPr/>
            <p:nvPr/>
          </p:nvSpPr>
          <p:spPr>
            <a:xfrm>
              <a:off x="4813" y="9032"/>
              <a:ext cx="1298" cy="436"/>
            </a:xfrm>
            <a:prstGeom prst="diamond">
              <a:avLst/>
            </a:prstGeom>
            <a:noFill/>
            <a:ln w="12700" cap="flat" cmpd="sng" algn="ctr">
              <a:gradFill>
                <a:gsLst>
                  <a:gs pos="1000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324" name="菱形 323"/>
            <p:cNvSpPr/>
            <p:nvPr/>
          </p:nvSpPr>
          <p:spPr>
            <a:xfrm>
              <a:off x="4933" y="9073"/>
              <a:ext cx="1058" cy="356"/>
            </a:xfrm>
            <a:prstGeom prst="diamond">
              <a:avLst/>
            </a:prstGeom>
            <a:gradFill>
              <a:gsLst>
                <a:gs pos="0">
                  <a:srgbClr val="3368FF">
                    <a:alpha val="0"/>
                  </a:srgbClr>
                </a:gs>
                <a:gs pos="100000">
                  <a:srgbClr val="3368FF">
                    <a:alpha val="28000"/>
                  </a:srgbClr>
                </a:gs>
              </a:gsLst>
              <a:lin ang="5400000" scaled="1"/>
            </a:gradFill>
            <a:ln w="9525" cap="flat" cmpd="sng" algn="ctr">
              <a:gradFill>
                <a:gsLst>
                  <a:gs pos="0">
                    <a:srgbClr val="3368FF">
                      <a:alpha val="0"/>
                    </a:srgbClr>
                  </a:gs>
                  <a:gs pos="100000">
                    <a:srgbClr val="3368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325" name="菱形 324"/>
            <p:cNvSpPr/>
            <p:nvPr/>
          </p:nvSpPr>
          <p:spPr>
            <a:xfrm>
              <a:off x="5134" y="9141"/>
              <a:ext cx="654" cy="220"/>
            </a:xfrm>
            <a:prstGeom prst="diamond">
              <a:avLst/>
            </a:prstGeom>
            <a:gradFill>
              <a:gsLst>
                <a:gs pos="100000">
                  <a:srgbClr val="3368FF">
                    <a:alpha val="50000"/>
                  </a:srgbClr>
                </a:gs>
                <a:gs pos="0">
                  <a:srgbClr val="3368FF">
                    <a:alpha val="0"/>
                  </a:srgbClr>
                </a:gs>
              </a:gsLst>
              <a:lin ang="5400000" scaled="1"/>
            </a:gradFill>
            <a:ln w="6350" cap="flat" cmpd="sng" algn="ctr">
              <a:gradFill>
                <a:gsLst>
                  <a:gs pos="0">
                    <a:srgbClr val="3368FF">
                      <a:alpha val="0"/>
                    </a:srgbClr>
                  </a:gs>
                  <a:gs pos="100000">
                    <a:srgbClr val="3368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326" name="组合 325"/>
            <p:cNvGrpSpPr/>
            <p:nvPr/>
          </p:nvGrpSpPr>
          <p:grpSpPr>
            <a:xfrm rot="0">
              <a:off x="6034" y="9225"/>
              <a:ext cx="79" cy="52"/>
              <a:chOff x="8353512" y="3886200"/>
              <a:chExt cx="307127" cy="266701"/>
            </a:xfrm>
          </p:grpSpPr>
          <p:cxnSp>
            <p:nvCxnSpPr>
              <p:cNvPr id="327" name="直接连接符 326"/>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328" name="直接连接符 327"/>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grpSp>
          <p:nvGrpSpPr>
            <p:cNvPr id="329" name="组合 328"/>
            <p:cNvGrpSpPr/>
            <p:nvPr/>
          </p:nvGrpSpPr>
          <p:grpSpPr>
            <a:xfrm rot="0" flipH="1">
              <a:off x="4810" y="9225"/>
              <a:ext cx="79" cy="52"/>
              <a:chOff x="8353512" y="3886200"/>
              <a:chExt cx="307127" cy="266701"/>
            </a:xfrm>
          </p:grpSpPr>
          <p:cxnSp>
            <p:nvCxnSpPr>
              <p:cNvPr id="330" name="直接连接符 329"/>
              <p:cNvCxnSpPr/>
              <p:nvPr/>
            </p:nvCxnSpPr>
            <p:spPr>
              <a:xfrm flipH="1" flipV="1">
                <a:off x="8353512" y="3886200"/>
                <a:ext cx="307127" cy="137161"/>
              </a:xfrm>
              <a:prstGeom prst="line">
                <a:avLst/>
              </a:prstGeom>
              <a:noFill/>
              <a:ln w="19050" cap="flat" cmpd="sng" algn="ctr">
                <a:solidFill>
                  <a:srgbClr val="3368FF"/>
                </a:solidFill>
                <a:prstDash val="solid"/>
                <a:miter lim="800000"/>
              </a:ln>
              <a:effectLst/>
            </p:spPr>
          </p:cxnSp>
          <p:cxnSp>
            <p:nvCxnSpPr>
              <p:cNvPr id="331" name="直接连接符 330"/>
              <p:cNvCxnSpPr/>
              <p:nvPr/>
            </p:nvCxnSpPr>
            <p:spPr>
              <a:xfrm flipH="1">
                <a:off x="8353512" y="4015740"/>
                <a:ext cx="307127" cy="137161"/>
              </a:xfrm>
              <a:prstGeom prst="line">
                <a:avLst/>
              </a:prstGeom>
              <a:noFill/>
              <a:ln w="19050" cap="flat" cmpd="sng" algn="ctr">
                <a:solidFill>
                  <a:srgbClr val="3368FF"/>
                </a:solidFill>
                <a:prstDash val="solid"/>
                <a:miter lim="800000"/>
              </a:ln>
              <a:effectLst/>
            </p:spPr>
          </p:cxnSp>
        </p:grpSp>
        <p:cxnSp>
          <p:nvCxnSpPr>
            <p:cNvPr id="332" name="直接连接符 331"/>
            <p:cNvCxnSpPr/>
            <p:nvPr/>
          </p:nvCxnSpPr>
          <p:spPr>
            <a:xfrm flipV="1">
              <a:off x="5462" y="9442"/>
              <a:ext cx="79" cy="26"/>
            </a:xfrm>
            <a:prstGeom prst="line">
              <a:avLst/>
            </a:prstGeom>
            <a:noFill/>
            <a:ln w="19050" cap="flat" cmpd="sng" algn="ctr">
              <a:solidFill>
                <a:srgbClr val="3368FF"/>
              </a:solidFill>
              <a:prstDash val="solid"/>
              <a:miter lim="800000"/>
            </a:ln>
            <a:effectLst/>
          </p:spPr>
        </p:cxnSp>
        <p:cxnSp>
          <p:nvCxnSpPr>
            <p:cNvPr id="333" name="直接连接符 332"/>
            <p:cNvCxnSpPr/>
            <p:nvPr/>
          </p:nvCxnSpPr>
          <p:spPr>
            <a:xfrm>
              <a:off x="5384" y="9443"/>
              <a:ext cx="79" cy="26"/>
            </a:xfrm>
            <a:prstGeom prst="line">
              <a:avLst/>
            </a:prstGeom>
            <a:noFill/>
            <a:ln w="19050" cap="flat" cmpd="sng" algn="ctr">
              <a:solidFill>
                <a:srgbClr val="3368FF"/>
              </a:solidFill>
              <a:prstDash val="solid"/>
              <a:miter lim="800000"/>
            </a:ln>
            <a:effectLst/>
          </p:spPr>
        </p:cxnSp>
        <p:sp>
          <p:nvSpPr>
            <p:cNvPr id="334" name="梯形 333"/>
            <p:cNvSpPr/>
            <p:nvPr/>
          </p:nvSpPr>
          <p:spPr>
            <a:xfrm rot="10800000">
              <a:off x="5021" y="8630"/>
              <a:ext cx="883" cy="663"/>
            </a:xfrm>
            <a:prstGeom prst="trapezoid">
              <a:avLst>
                <a:gd name="adj" fmla="val 19469"/>
              </a:avLst>
            </a:prstGeom>
            <a:gradFill>
              <a:gsLst>
                <a:gs pos="100000">
                  <a:srgbClr val="3368FF">
                    <a:alpha val="0"/>
                  </a:srgbClr>
                </a:gs>
                <a:gs pos="44100">
                  <a:srgbClr val="3368FF">
                    <a:alpha val="15000"/>
                  </a:srgbClr>
                </a:gs>
                <a:gs pos="0">
                  <a:srgbClr val="3368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335" name="文本框 334"/>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p>
              <a:pPr marL="0" marR="0" indent="0" algn="ctr" defTabSz="2438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生态孵化</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338" name="组合 337"/>
          <p:cNvGrpSpPr/>
          <p:nvPr/>
        </p:nvGrpSpPr>
        <p:grpSpPr>
          <a:xfrm>
            <a:off x="9036050" y="4222115"/>
            <a:ext cx="2738755" cy="474345"/>
            <a:chOff x="14263" y="2665"/>
            <a:chExt cx="4313" cy="747"/>
          </a:xfrm>
        </p:grpSpPr>
        <p:sp>
          <p:nvSpPr>
            <p:cNvPr id="339" name="文本框 1"/>
            <p:cNvSpPr txBox="1"/>
            <p:nvPr/>
          </p:nvSpPr>
          <p:spPr>
            <a:xfrm>
              <a:off x="16159" y="2665"/>
              <a:ext cx="2311" cy="629"/>
            </a:xfrm>
            <a:prstGeom prst="parallelogram">
              <a:avLst/>
            </a:prstGeom>
            <a:gradFill flip="none" rotWithShape="1">
              <a:gsLst>
                <a:gs pos="0">
                  <a:srgbClr val="3368FF"/>
                </a:gs>
                <a:gs pos="32000">
                  <a:srgbClr val="3368FF">
                    <a:alpha val="0"/>
                  </a:srgbClr>
                </a:gs>
              </a:gsLst>
              <a:lin ang="2700000" scaled="1"/>
              <a:tileRect/>
            </a:gradFill>
            <a:ln w="19050" cap="flat">
              <a:gradFill>
                <a:gsLst>
                  <a:gs pos="0">
                    <a:srgbClr val="3368FF"/>
                  </a:gs>
                  <a:gs pos="15000">
                    <a:srgbClr val="3368FF">
                      <a:alpha val="0"/>
                    </a:srgbClr>
                  </a:gs>
                </a:gsLst>
                <a:lin ang="2700000" scaled="0"/>
              </a:gradFill>
              <a:miter lim="400000"/>
            </a:ln>
            <a:effectLst/>
            <a:sp3d/>
          </p:spPr>
          <p:txBody>
            <a:bodyPr rot="0" spcFirstLastPara="1" vertOverflow="overflow" horzOverflow="overflow" vert="horz" wrap="square" lIns="0" tIns="0" rIns="0" bIns="0" numCol="1" spcCol="38100" rtlCol="0" anchor="ctr">
              <a:noAutofit/>
            </a:bodyPr>
            <a:p>
              <a:pPr defTabSz="1299845" hangingPunct="1">
                <a:defRPr>
                  <a:solidFill>
                    <a:srgbClr val="383838"/>
                  </a:solidFill>
                  <a:latin typeface="微软雅黑"/>
                  <a:ea typeface="微软雅黑"/>
                  <a:cs typeface="微软雅黑"/>
                </a:defRPr>
              </a:pPr>
              <a:endParaRPr lang="en-US" altLang="zh-CN" sz="1050" kern="1200" dirty="0">
                <a:solidFill>
                  <a:srgbClr val="383838"/>
                </a:solidFill>
                <a:latin typeface="微软雅黑"/>
                <a:ea typeface="微软雅黑"/>
                <a:cs typeface="微软雅黑"/>
              </a:endParaRPr>
            </a:p>
          </p:txBody>
        </p:sp>
        <p:sp>
          <p:nvSpPr>
            <p:cNvPr id="340" name="文本框 1"/>
            <p:cNvSpPr txBox="1"/>
            <p:nvPr/>
          </p:nvSpPr>
          <p:spPr>
            <a:xfrm>
              <a:off x="16266" y="2784"/>
              <a:ext cx="2311" cy="629"/>
            </a:xfrm>
            <a:prstGeom prst="parallelogram">
              <a:avLst/>
            </a:prstGeom>
            <a:gradFill flip="none" rotWithShape="1">
              <a:gsLst>
                <a:gs pos="100000">
                  <a:srgbClr val="3368FF"/>
                </a:gs>
                <a:gs pos="61000">
                  <a:srgbClr val="3368FF">
                    <a:alpha val="0"/>
                  </a:srgbClr>
                </a:gs>
              </a:gsLst>
              <a:path path="circle">
                <a:fillToRect l="50000" t="50000" r="50000" b="50000"/>
              </a:path>
              <a:tileRect/>
            </a:gradFill>
            <a:ln w="9525" cap="flat">
              <a:solidFill>
                <a:srgbClr val="3368FF"/>
              </a:solidFill>
              <a:miter lim="400000"/>
            </a:ln>
            <a:effectLst/>
            <a:sp3d/>
          </p:spPr>
          <p:txBody>
            <a:bodyPr rot="0" spcFirstLastPara="1" vertOverflow="overflow" horzOverflow="overflow" vert="horz" wrap="square" lIns="0" tIns="0" rIns="0" bIns="0" numCol="1" spcCol="38100" rtlCol="0" anchor="ctr">
              <a:noAutofit/>
            </a:bodyPr>
            <a:p>
              <a:pPr algn="ctr" defTabSz="1299845" hangingPunct="1">
                <a:defRPr>
                  <a:solidFill>
                    <a:srgbClr val="383838"/>
                  </a:solidFill>
                  <a:latin typeface="微软雅黑"/>
                  <a:ea typeface="微软雅黑"/>
                  <a:cs typeface="微软雅黑"/>
                </a:defRPr>
              </a:pPr>
              <a:r>
                <a:rPr lang="zh-CN" altLang="en-US" sz="1200" b="1" kern="1200" dirty="0">
                  <a:solidFill>
                    <a:srgbClr val="383838"/>
                  </a:solidFill>
                  <a:latin typeface="微软雅黑"/>
                  <a:ea typeface="微软雅黑"/>
                  <a:cs typeface="微软雅黑"/>
                </a:rPr>
                <a:t>模式蝶变</a:t>
              </a:r>
              <a:endParaRPr lang="zh-CN" altLang="en-US" sz="1200" b="1" kern="1200" dirty="0">
                <a:solidFill>
                  <a:srgbClr val="383838"/>
                </a:solidFill>
                <a:latin typeface="微软雅黑"/>
                <a:ea typeface="微软雅黑"/>
                <a:cs typeface="微软雅黑"/>
              </a:endParaRPr>
            </a:p>
          </p:txBody>
        </p:sp>
        <p:grpSp>
          <p:nvGrpSpPr>
            <p:cNvPr id="341" name="组合 340"/>
            <p:cNvGrpSpPr/>
            <p:nvPr/>
          </p:nvGrpSpPr>
          <p:grpSpPr>
            <a:xfrm>
              <a:off x="14263" y="3011"/>
              <a:ext cx="2043" cy="227"/>
              <a:chOff x="8823521" y="1860849"/>
              <a:chExt cx="1297315" cy="144000"/>
            </a:xfrm>
          </p:grpSpPr>
          <p:grpSp>
            <p:nvGrpSpPr>
              <p:cNvPr id="342" name="组合 341"/>
              <p:cNvGrpSpPr/>
              <p:nvPr/>
            </p:nvGrpSpPr>
            <p:grpSpPr>
              <a:xfrm>
                <a:off x="9976836" y="1860849"/>
                <a:ext cx="144000" cy="144000"/>
                <a:chOff x="9976836" y="1860849"/>
                <a:chExt cx="144000" cy="144000"/>
              </a:xfrm>
            </p:grpSpPr>
            <p:sp>
              <p:nvSpPr>
                <p:cNvPr id="343" name="椭圆 342"/>
                <p:cNvSpPr/>
                <p:nvPr/>
              </p:nvSpPr>
              <p:spPr>
                <a:xfrm>
                  <a:off x="9976836" y="1860849"/>
                  <a:ext cx="144000" cy="144000"/>
                </a:xfrm>
                <a:prstGeom prst="ellipse">
                  <a:avLst/>
                </a:prstGeom>
                <a:gradFill>
                  <a:gsLst>
                    <a:gs pos="2000">
                      <a:srgbClr val="3368FF"/>
                    </a:gs>
                    <a:gs pos="100000">
                      <a:srgbClr val="3368FF">
                        <a:alpha val="0"/>
                      </a:srgbClr>
                    </a:gs>
                  </a:gsLst>
                  <a:lin ang="54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46" name="椭圆 345"/>
                <p:cNvSpPr/>
                <p:nvPr/>
              </p:nvSpPr>
              <p:spPr>
                <a:xfrm>
                  <a:off x="10012836" y="1896849"/>
                  <a:ext cx="72000" cy="72000"/>
                </a:xfrm>
                <a:prstGeom prst="ellipse">
                  <a:avLst/>
                </a:prstGeom>
                <a:solidFill>
                  <a:srgbClr val="3368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cxnSp>
            <p:nvCxnSpPr>
              <p:cNvPr id="347" name="直接连接符 346"/>
              <p:cNvCxnSpPr/>
              <p:nvPr/>
            </p:nvCxnSpPr>
            <p:spPr>
              <a:xfrm flipH="1">
                <a:off x="8823521" y="1932849"/>
                <a:ext cx="1209322" cy="0"/>
              </a:xfrm>
              <a:prstGeom prst="line">
                <a:avLst/>
              </a:prstGeom>
              <a:noFill/>
              <a:ln w="25400" cap="flat">
                <a:gradFill>
                  <a:gsLst>
                    <a:gs pos="0">
                      <a:srgbClr val="3368FF"/>
                    </a:gs>
                    <a:gs pos="80000">
                      <a:srgbClr val="3368FF">
                        <a:alpha val="0"/>
                      </a:srgbClr>
                    </a:gs>
                  </a:gsLst>
                  <a:lin ang="0" scaled="0"/>
                </a:gradFill>
                <a:prstDash val="solid"/>
                <a:miter lim="400000"/>
              </a:ln>
              <a:effectLst/>
              <a:sp3d/>
            </p:spPr>
            <p:style>
              <a:lnRef idx="0">
                <a:scrgbClr r="0" g="0" b="0"/>
              </a:lnRef>
              <a:fillRef idx="0">
                <a:scrgbClr r="0" g="0" b="0"/>
              </a:fillRef>
              <a:effectRef idx="0">
                <a:scrgbClr r="0" g="0" b="0"/>
              </a:effectRef>
              <a:fontRef idx="none"/>
            </p:style>
          </p:cxnSp>
        </p:grpSp>
      </p:grpSp>
      <p:grpSp>
        <p:nvGrpSpPr>
          <p:cNvPr id="348" name="组合 347"/>
          <p:cNvGrpSpPr/>
          <p:nvPr/>
        </p:nvGrpSpPr>
        <p:grpSpPr>
          <a:xfrm>
            <a:off x="9036050" y="5487035"/>
            <a:ext cx="2738755" cy="474345"/>
            <a:chOff x="14263" y="2665"/>
            <a:chExt cx="4313" cy="747"/>
          </a:xfrm>
        </p:grpSpPr>
        <p:sp>
          <p:nvSpPr>
            <p:cNvPr id="349" name="文本框 1"/>
            <p:cNvSpPr txBox="1"/>
            <p:nvPr/>
          </p:nvSpPr>
          <p:spPr>
            <a:xfrm>
              <a:off x="16159" y="2665"/>
              <a:ext cx="2311" cy="629"/>
            </a:xfrm>
            <a:prstGeom prst="parallelogram">
              <a:avLst/>
            </a:prstGeom>
            <a:gradFill flip="none" rotWithShape="1">
              <a:gsLst>
                <a:gs pos="0">
                  <a:srgbClr val="0042FF"/>
                </a:gs>
                <a:gs pos="32000">
                  <a:srgbClr val="0042FF">
                    <a:alpha val="0"/>
                  </a:srgbClr>
                </a:gs>
              </a:gsLst>
              <a:lin ang="2700000" scaled="1"/>
              <a:tileRect/>
            </a:gradFill>
            <a:ln w="19050" cap="flat">
              <a:gradFill>
                <a:gsLst>
                  <a:gs pos="0">
                    <a:srgbClr val="0042FF"/>
                  </a:gs>
                  <a:gs pos="15000">
                    <a:srgbClr val="0042FF">
                      <a:alpha val="0"/>
                    </a:srgbClr>
                  </a:gs>
                </a:gsLst>
                <a:lin ang="2700000" scaled="0"/>
              </a:gradFill>
              <a:miter lim="400000"/>
            </a:ln>
            <a:effectLst/>
            <a:sp3d/>
          </p:spPr>
          <p:txBody>
            <a:bodyPr rot="0" spcFirstLastPara="1" vertOverflow="overflow" horzOverflow="overflow" vert="horz" wrap="square" lIns="0" tIns="0" rIns="0" bIns="0" numCol="1" spcCol="38100" rtlCol="0" anchor="ctr">
              <a:noAutofit/>
            </a:bodyPr>
            <a:p>
              <a:pPr defTabSz="1299845" hangingPunct="1">
                <a:defRPr>
                  <a:solidFill>
                    <a:srgbClr val="383838"/>
                  </a:solidFill>
                  <a:latin typeface="微软雅黑"/>
                  <a:ea typeface="微软雅黑"/>
                  <a:cs typeface="微软雅黑"/>
                </a:defRPr>
              </a:pPr>
              <a:endParaRPr lang="en-US" altLang="zh-CN" sz="1050" kern="1200" dirty="0">
                <a:solidFill>
                  <a:srgbClr val="383838"/>
                </a:solidFill>
                <a:latin typeface="微软雅黑"/>
                <a:ea typeface="微软雅黑"/>
                <a:cs typeface="微软雅黑"/>
              </a:endParaRPr>
            </a:p>
          </p:txBody>
        </p:sp>
        <p:sp>
          <p:nvSpPr>
            <p:cNvPr id="350" name="文本框 1"/>
            <p:cNvSpPr txBox="1"/>
            <p:nvPr/>
          </p:nvSpPr>
          <p:spPr>
            <a:xfrm>
              <a:off x="16266" y="2784"/>
              <a:ext cx="2311" cy="629"/>
            </a:xfrm>
            <a:prstGeom prst="parallelogram">
              <a:avLst/>
            </a:prstGeom>
            <a:gradFill flip="none" rotWithShape="1">
              <a:gsLst>
                <a:gs pos="100000">
                  <a:srgbClr val="0042FF"/>
                </a:gs>
                <a:gs pos="61000">
                  <a:srgbClr val="0042FF">
                    <a:alpha val="0"/>
                  </a:srgbClr>
                </a:gs>
              </a:gsLst>
              <a:path path="circle">
                <a:fillToRect l="50000" t="50000" r="50000" b="50000"/>
              </a:path>
              <a:tileRect/>
            </a:gradFill>
            <a:ln w="9525" cap="flat">
              <a:solidFill>
                <a:srgbClr val="0042FF"/>
              </a:solidFill>
              <a:miter lim="400000"/>
            </a:ln>
            <a:effectLst/>
            <a:sp3d/>
          </p:spPr>
          <p:txBody>
            <a:bodyPr rot="0" spcFirstLastPara="1" vertOverflow="overflow" horzOverflow="overflow" vert="horz" wrap="square" lIns="0" tIns="0" rIns="0" bIns="0" numCol="1" spcCol="38100" rtlCol="0" anchor="ctr">
              <a:noAutofit/>
            </a:bodyPr>
            <a:p>
              <a:pPr algn="ctr" defTabSz="1299845" hangingPunct="1">
                <a:defRPr>
                  <a:solidFill>
                    <a:srgbClr val="383838"/>
                  </a:solidFill>
                  <a:latin typeface="微软雅黑"/>
                  <a:ea typeface="微软雅黑"/>
                  <a:cs typeface="微软雅黑"/>
                </a:defRPr>
              </a:pPr>
              <a:r>
                <a:rPr lang="zh-CN" altLang="en-US" sz="1200" b="1" kern="1200" dirty="0">
                  <a:solidFill>
                    <a:srgbClr val="383838"/>
                  </a:solidFill>
                  <a:latin typeface="微软雅黑"/>
                  <a:ea typeface="微软雅黑"/>
                  <a:cs typeface="微软雅黑"/>
                </a:rPr>
                <a:t>技术筑基</a:t>
              </a:r>
              <a:endParaRPr lang="zh-CN" altLang="en-US" sz="1200" b="1" kern="1200" dirty="0">
                <a:solidFill>
                  <a:srgbClr val="383838"/>
                </a:solidFill>
                <a:latin typeface="微软雅黑"/>
                <a:ea typeface="微软雅黑"/>
                <a:cs typeface="微软雅黑"/>
              </a:endParaRPr>
            </a:p>
          </p:txBody>
        </p:sp>
        <p:grpSp>
          <p:nvGrpSpPr>
            <p:cNvPr id="351" name="组合 350"/>
            <p:cNvGrpSpPr/>
            <p:nvPr/>
          </p:nvGrpSpPr>
          <p:grpSpPr>
            <a:xfrm>
              <a:off x="14263" y="3011"/>
              <a:ext cx="2043" cy="227"/>
              <a:chOff x="8823521" y="1860849"/>
              <a:chExt cx="1297315" cy="144000"/>
            </a:xfrm>
          </p:grpSpPr>
          <p:grpSp>
            <p:nvGrpSpPr>
              <p:cNvPr id="352" name="组合 351"/>
              <p:cNvGrpSpPr/>
              <p:nvPr/>
            </p:nvGrpSpPr>
            <p:grpSpPr>
              <a:xfrm>
                <a:off x="9976836" y="1860849"/>
                <a:ext cx="144000" cy="144000"/>
                <a:chOff x="9976836" y="1860849"/>
                <a:chExt cx="144000" cy="144000"/>
              </a:xfrm>
            </p:grpSpPr>
            <p:sp>
              <p:nvSpPr>
                <p:cNvPr id="353" name="椭圆 352"/>
                <p:cNvSpPr/>
                <p:nvPr/>
              </p:nvSpPr>
              <p:spPr>
                <a:xfrm>
                  <a:off x="9976836" y="1860849"/>
                  <a:ext cx="144000" cy="144000"/>
                </a:xfrm>
                <a:prstGeom prst="ellipse">
                  <a:avLst/>
                </a:prstGeom>
                <a:gradFill>
                  <a:gsLst>
                    <a:gs pos="2000">
                      <a:srgbClr val="0042FF"/>
                    </a:gs>
                    <a:gs pos="100000">
                      <a:srgbClr val="0042FF">
                        <a:alpha val="0"/>
                      </a:srgbClr>
                    </a:gs>
                  </a:gsLst>
                  <a:lin ang="54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54" name="椭圆 353"/>
                <p:cNvSpPr/>
                <p:nvPr/>
              </p:nvSpPr>
              <p:spPr>
                <a:xfrm>
                  <a:off x="10012836" y="1896849"/>
                  <a:ext cx="72000" cy="72000"/>
                </a:xfrm>
                <a:prstGeom prst="ellipse">
                  <a:avLst/>
                </a:prstGeom>
                <a:solidFill>
                  <a:srgbClr val="0042F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p>
                  <a:pPr marL="0" marR="0" indent="0" algn="ctr" defTabSz="8255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1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cxnSp>
            <p:nvCxnSpPr>
              <p:cNvPr id="355" name="直接连接符 354"/>
              <p:cNvCxnSpPr/>
              <p:nvPr/>
            </p:nvCxnSpPr>
            <p:spPr>
              <a:xfrm flipH="1">
                <a:off x="8823521" y="1932849"/>
                <a:ext cx="1209322" cy="0"/>
              </a:xfrm>
              <a:prstGeom prst="line">
                <a:avLst/>
              </a:prstGeom>
              <a:noFill/>
              <a:ln w="25400" cap="flat">
                <a:gradFill>
                  <a:gsLst>
                    <a:gs pos="0">
                      <a:srgbClr val="0042FF"/>
                    </a:gs>
                    <a:gs pos="80000">
                      <a:srgbClr val="0042FF">
                        <a:alpha val="0"/>
                      </a:srgbClr>
                    </a:gs>
                  </a:gsLst>
                  <a:lin ang="0" scaled="0"/>
                </a:gradFill>
                <a:prstDash val="solid"/>
                <a:miter lim="400000"/>
              </a:ln>
              <a:effectLst/>
              <a:sp3d/>
            </p:spPr>
            <p:style>
              <a:lnRef idx="0">
                <a:scrgbClr r="0" g="0" b="0"/>
              </a:lnRef>
              <a:fillRef idx="0">
                <a:scrgbClr r="0" g="0" b="0"/>
              </a:fillRef>
              <a:effectRef idx="0">
                <a:scrgbClr r="0" g="0" b="0"/>
              </a:effectRef>
              <a:fontRef idx="none"/>
            </p:style>
          </p:cxnSp>
        </p:grpSp>
      </p:grpSp>
      <p:grpSp>
        <p:nvGrpSpPr>
          <p:cNvPr id="129" name="组合 128"/>
          <p:cNvGrpSpPr/>
          <p:nvPr/>
        </p:nvGrpSpPr>
        <p:grpSpPr>
          <a:xfrm>
            <a:off x="4135755" y="5467668"/>
            <a:ext cx="827405" cy="532765"/>
            <a:chOff x="4810" y="8630"/>
            <a:chExt cx="1303" cy="839"/>
          </a:xfrm>
        </p:grpSpPr>
        <p:sp>
          <p:nvSpPr>
            <p:cNvPr id="133" name="菱形 132"/>
            <p:cNvSpPr/>
            <p:nvPr/>
          </p:nvSpPr>
          <p:spPr>
            <a:xfrm>
              <a:off x="4813" y="9032"/>
              <a:ext cx="1298" cy="436"/>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34" name="菱形 133"/>
            <p:cNvSpPr/>
            <p:nvPr/>
          </p:nvSpPr>
          <p:spPr>
            <a:xfrm>
              <a:off x="4933" y="9073"/>
              <a:ext cx="1058" cy="356"/>
            </a:xfrm>
            <a:prstGeom prst="diamond">
              <a:avLst/>
            </a:prstGeom>
            <a:gradFill>
              <a:gsLst>
                <a:gs pos="0">
                  <a:srgbClr val="0042FF">
                    <a:alpha val="0"/>
                  </a:srgbClr>
                </a:gs>
                <a:gs pos="100000">
                  <a:srgbClr val="0042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35" name="菱形 134"/>
            <p:cNvSpPr/>
            <p:nvPr/>
          </p:nvSpPr>
          <p:spPr>
            <a:xfrm>
              <a:off x="5134" y="9141"/>
              <a:ext cx="654" cy="220"/>
            </a:xfrm>
            <a:prstGeom prst="diamond">
              <a:avLst/>
            </a:prstGeom>
            <a:gradFill>
              <a:gsLst>
                <a:gs pos="100000">
                  <a:srgbClr val="0042FF">
                    <a:alpha val="50000"/>
                  </a:srgbClr>
                </a:gs>
                <a:gs pos="0">
                  <a:srgbClr val="0042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136" name="组合 135"/>
            <p:cNvGrpSpPr/>
            <p:nvPr/>
          </p:nvGrpSpPr>
          <p:grpSpPr>
            <a:xfrm rot="0">
              <a:off x="6034" y="9225"/>
              <a:ext cx="79" cy="52"/>
              <a:chOff x="8353512" y="3886200"/>
              <a:chExt cx="307127" cy="266701"/>
            </a:xfrm>
          </p:grpSpPr>
          <p:cxnSp>
            <p:nvCxnSpPr>
              <p:cNvPr id="137" name="直接连接符 136"/>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38" name="直接连接符 137"/>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39" name="组合 138"/>
            <p:cNvGrpSpPr/>
            <p:nvPr/>
          </p:nvGrpSpPr>
          <p:grpSpPr>
            <a:xfrm rot="0" flipH="1">
              <a:off x="4810" y="9225"/>
              <a:ext cx="79" cy="52"/>
              <a:chOff x="8353512" y="3886200"/>
              <a:chExt cx="307127" cy="266701"/>
            </a:xfrm>
          </p:grpSpPr>
          <p:cxnSp>
            <p:nvCxnSpPr>
              <p:cNvPr id="140" name="直接连接符 139"/>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41" name="直接连接符 140"/>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42" name="直接连接符 141"/>
            <p:cNvCxnSpPr/>
            <p:nvPr/>
          </p:nvCxnSpPr>
          <p:spPr>
            <a:xfrm flipV="1">
              <a:off x="5462" y="9442"/>
              <a:ext cx="79" cy="26"/>
            </a:xfrm>
            <a:prstGeom prst="line">
              <a:avLst/>
            </a:prstGeom>
            <a:noFill/>
            <a:ln w="19050" cap="flat" cmpd="sng" algn="ctr">
              <a:solidFill>
                <a:srgbClr val="0042FF"/>
              </a:solidFill>
              <a:prstDash val="solid"/>
              <a:miter lim="800000"/>
            </a:ln>
            <a:effectLst/>
          </p:spPr>
        </p:cxnSp>
        <p:cxnSp>
          <p:nvCxnSpPr>
            <p:cNvPr id="143" name="直接连接符 142"/>
            <p:cNvCxnSpPr/>
            <p:nvPr/>
          </p:nvCxnSpPr>
          <p:spPr>
            <a:xfrm>
              <a:off x="5384" y="9443"/>
              <a:ext cx="79" cy="26"/>
            </a:xfrm>
            <a:prstGeom prst="line">
              <a:avLst/>
            </a:prstGeom>
            <a:noFill/>
            <a:ln w="19050" cap="flat" cmpd="sng" algn="ctr">
              <a:solidFill>
                <a:srgbClr val="0042FF"/>
              </a:solidFill>
              <a:prstDash val="solid"/>
              <a:miter lim="800000"/>
            </a:ln>
            <a:effectLst/>
          </p:spPr>
        </p:cxnSp>
        <p:sp>
          <p:nvSpPr>
            <p:cNvPr id="144" name="梯形 143"/>
            <p:cNvSpPr/>
            <p:nvPr/>
          </p:nvSpPr>
          <p:spPr>
            <a:xfrm rot="10800000">
              <a:off x="5021" y="8630"/>
              <a:ext cx="883" cy="663"/>
            </a:xfrm>
            <a:prstGeom prst="trapezoid">
              <a:avLst>
                <a:gd name="adj" fmla="val 19469"/>
              </a:avLst>
            </a:prstGeom>
            <a:gradFill>
              <a:gsLst>
                <a:gs pos="100000">
                  <a:srgbClr val="0042FF">
                    <a:alpha val="0"/>
                  </a:srgbClr>
                </a:gs>
                <a:gs pos="44100">
                  <a:srgbClr val="0042FF">
                    <a:alpha val="15000"/>
                  </a:srgbClr>
                </a:gs>
                <a:gs pos="0">
                  <a:srgbClr val="0042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145" name="文本框 144"/>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场景融合</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146" name="组合 145"/>
          <p:cNvGrpSpPr/>
          <p:nvPr/>
        </p:nvGrpSpPr>
        <p:grpSpPr>
          <a:xfrm>
            <a:off x="5133340" y="5467668"/>
            <a:ext cx="827405" cy="532765"/>
            <a:chOff x="4810" y="8630"/>
            <a:chExt cx="1303" cy="839"/>
          </a:xfrm>
        </p:grpSpPr>
        <p:sp>
          <p:nvSpPr>
            <p:cNvPr id="147" name="菱形 146"/>
            <p:cNvSpPr/>
            <p:nvPr/>
          </p:nvSpPr>
          <p:spPr>
            <a:xfrm>
              <a:off x="4813" y="9032"/>
              <a:ext cx="1298" cy="436"/>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48" name="菱形 147"/>
            <p:cNvSpPr/>
            <p:nvPr/>
          </p:nvSpPr>
          <p:spPr>
            <a:xfrm>
              <a:off x="4933" y="9073"/>
              <a:ext cx="1058" cy="356"/>
            </a:xfrm>
            <a:prstGeom prst="diamond">
              <a:avLst/>
            </a:prstGeom>
            <a:gradFill>
              <a:gsLst>
                <a:gs pos="0">
                  <a:srgbClr val="0042FF">
                    <a:alpha val="0"/>
                  </a:srgbClr>
                </a:gs>
                <a:gs pos="100000">
                  <a:srgbClr val="0042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49" name="菱形 148"/>
            <p:cNvSpPr/>
            <p:nvPr/>
          </p:nvSpPr>
          <p:spPr>
            <a:xfrm>
              <a:off x="5134" y="9141"/>
              <a:ext cx="654" cy="220"/>
            </a:xfrm>
            <a:prstGeom prst="diamond">
              <a:avLst/>
            </a:prstGeom>
            <a:gradFill>
              <a:gsLst>
                <a:gs pos="100000">
                  <a:srgbClr val="0042FF">
                    <a:alpha val="50000"/>
                  </a:srgbClr>
                </a:gs>
                <a:gs pos="0">
                  <a:srgbClr val="0042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150" name="组合 149"/>
            <p:cNvGrpSpPr/>
            <p:nvPr/>
          </p:nvGrpSpPr>
          <p:grpSpPr>
            <a:xfrm rot="0">
              <a:off x="6034" y="9225"/>
              <a:ext cx="79" cy="52"/>
              <a:chOff x="8353512" y="3886200"/>
              <a:chExt cx="307127" cy="266701"/>
            </a:xfrm>
          </p:grpSpPr>
          <p:cxnSp>
            <p:nvCxnSpPr>
              <p:cNvPr id="151" name="直接连接符 150"/>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52" name="直接连接符 151"/>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53" name="组合 152"/>
            <p:cNvGrpSpPr/>
            <p:nvPr/>
          </p:nvGrpSpPr>
          <p:grpSpPr>
            <a:xfrm rot="0" flipH="1">
              <a:off x="4810" y="9225"/>
              <a:ext cx="79" cy="52"/>
              <a:chOff x="8353512" y="3886200"/>
              <a:chExt cx="307127" cy="266701"/>
            </a:xfrm>
          </p:grpSpPr>
          <p:cxnSp>
            <p:nvCxnSpPr>
              <p:cNvPr id="154" name="直接连接符 153"/>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55" name="直接连接符 154"/>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56" name="直接连接符 155"/>
            <p:cNvCxnSpPr/>
            <p:nvPr/>
          </p:nvCxnSpPr>
          <p:spPr>
            <a:xfrm flipV="1">
              <a:off x="5462" y="9442"/>
              <a:ext cx="79" cy="26"/>
            </a:xfrm>
            <a:prstGeom prst="line">
              <a:avLst/>
            </a:prstGeom>
            <a:noFill/>
            <a:ln w="19050" cap="flat" cmpd="sng" algn="ctr">
              <a:solidFill>
                <a:srgbClr val="0042FF"/>
              </a:solidFill>
              <a:prstDash val="solid"/>
              <a:miter lim="800000"/>
            </a:ln>
            <a:effectLst/>
          </p:spPr>
        </p:cxnSp>
        <p:cxnSp>
          <p:nvCxnSpPr>
            <p:cNvPr id="157" name="直接连接符 156"/>
            <p:cNvCxnSpPr/>
            <p:nvPr/>
          </p:nvCxnSpPr>
          <p:spPr>
            <a:xfrm>
              <a:off x="5384" y="9443"/>
              <a:ext cx="79" cy="26"/>
            </a:xfrm>
            <a:prstGeom prst="line">
              <a:avLst/>
            </a:prstGeom>
            <a:noFill/>
            <a:ln w="19050" cap="flat" cmpd="sng" algn="ctr">
              <a:solidFill>
                <a:srgbClr val="0042FF"/>
              </a:solidFill>
              <a:prstDash val="solid"/>
              <a:miter lim="800000"/>
            </a:ln>
            <a:effectLst/>
          </p:spPr>
        </p:cxnSp>
        <p:sp>
          <p:nvSpPr>
            <p:cNvPr id="158" name="梯形 157"/>
            <p:cNvSpPr/>
            <p:nvPr/>
          </p:nvSpPr>
          <p:spPr>
            <a:xfrm rot="10800000">
              <a:off x="5021" y="8630"/>
              <a:ext cx="883" cy="663"/>
            </a:xfrm>
            <a:prstGeom prst="trapezoid">
              <a:avLst>
                <a:gd name="adj" fmla="val 19469"/>
              </a:avLst>
            </a:prstGeom>
            <a:gradFill>
              <a:gsLst>
                <a:gs pos="100000">
                  <a:srgbClr val="0042FF">
                    <a:alpha val="0"/>
                  </a:srgbClr>
                </a:gs>
                <a:gs pos="44100">
                  <a:srgbClr val="0042FF">
                    <a:alpha val="15000"/>
                  </a:srgbClr>
                </a:gs>
                <a:gs pos="0">
                  <a:srgbClr val="0042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159" name="文本框 158"/>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数字孪生</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160" name="组合 159"/>
          <p:cNvGrpSpPr/>
          <p:nvPr/>
        </p:nvGrpSpPr>
        <p:grpSpPr>
          <a:xfrm>
            <a:off x="6130925" y="5467668"/>
            <a:ext cx="827405" cy="532765"/>
            <a:chOff x="4810" y="8630"/>
            <a:chExt cx="1303" cy="839"/>
          </a:xfrm>
        </p:grpSpPr>
        <p:sp>
          <p:nvSpPr>
            <p:cNvPr id="161" name="菱形 160"/>
            <p:cNvSpPr/>
            <p:nvPr/>
          </p:nvSpPr>
          <p:spPr>
            <a:xfrm>
              <a:off x="4813" y="9032"/>
              <a:ext cx="1298" cy="436"/>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62" name="菱形 161"/>
            <p:cNvSpPr/>
            <p:nvPr/>
          </p:nvSpPr>
          <p:spPr>
            <a:xfrm>
              <a:off x="4933" y="9073"/>
              <a:ext cx="1058" cy="356"/>
            </a:xfrm>
            <a:prstGeom prst="diamond">
              <a:avLst/>
            </a:prstGeom>
            <a:gradFill>
              <a:gsLst>
                <a:gs pos="0">
                  <a:srgbClr val="0042FF">
                    <a:alpha val="0"/>
                  </a:srgbClr>
                </a:gs>
                <a:gs pos="100000">
                  <a:srgbClr val="0042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65" name="菱形 164"/>
            <p:cNvSpPr/>
            <p:nvPr/>
          </p:nvSpPr>
          <p:spPr>
            <a:xfrm>
              <a:off x="5134" y="9141"/>
              <a:ext cx="654" cy="220"/>
            </a:xfrm>
            <a:prstGeom prst="diamond">
              <a:avLst/>
            </a:prstGeom>
            <a:gradFill>
              <a:gsLst>
                <a:gs pos="100000">
                  <a:srgbClr val="0042FF">
                    <a:alpha val="50000"/>
                  </a:srgbClr>
                </a:gs>
                <a:gs pos="0">
                  <a:srgbClr val="0042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166" name="组合 165"/>
            <p:cNvGrpSpPr/>
            <p:nvPr/>
          </p:nvGrpSpPr>
          <p:grpSpPr>
            <a:xfrm rot="0">
              <a:off x="6034" y="9225"/>
              <a:ext cx="79" cy="52"/>
              <a:chOff x="8353512" y="3886200"/>
              <a:chExt cx="307127" cy="266701"/>
            </a:xfrm>
          </p:grpSpPr>
          <p:cxnSp>
            <p:nvCxnSpPr>
              <p:cNvPr id="169" name="直接连接符 168"/>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70" name="直接连接符 169"/>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72" name="组合 171"/>
            <p:cNvGrpSpPr/>
            <p:nvPr/>
          </p:nvGrpSpPr>
          <p:grpSpPr>
            <a:xfrm rot="0" flipH="1">
              <a:off x="4810" y="9225"/>
              <a:ext cx="79" cy="52"/>
              <a:chOff x="8353512" y="3886200"/>
              <a:chExt cx="307127" cy="266701"/>
            </a:xfrm>
          </p:grpSpPr>
          <p:cxnSp>
            <p:nvCxnSpPr>
              <p:cNvPr id="174" name="直接连接符 173"/>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75" name="直接连接符 174"/>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76" name="直接连接符 175"/>
            <p:cNvCxnSpPr/>
            <p:nvPr/>
          </p:nvCxnSpPr>
          <p:spPr>
            <a:xfrm flipV="1">
              <a:off x="5462" y="9442"/>
              <a:ext cx="79" cy="26"/>
            </a:xfrm>
            <a:prstGeom prst="line">
              <a:avLst/>
            </a:prstGeom>
            <a:noFill/>
            <a:ln w="19050" cap="flat" cmpd="sng" algn="ctr">
              <a:solidFill>
                <a:srgbClr val="0042FF"/>
              </a:solidFill>
              <a:prstDash val="solid"/>
              <a:miter lim="800000"/>
            </a:ln>
            <a:effectLst/>
          </p:spPr>
        </p:cxnSp>
        <p:cxnSp>
          <p:nvCxnSpPr>
            <p:cNvPr id="177" name="直接连接符 176"/>
            <p:cNvCxnSpPr/>
            <p:nvPr/>
          </p:nvCxnSpPr>
          <p:spPr>
            <a:xfrm>
              <a:off x="5384" y="9443"/>
              <a:ext cx="79" cy="26"/>
            </a:xfrm>
            <a:prstGeom prst="line">
              <a:avLst/>
            </a:prstGeom>
            <a:noFill/>
            <a:ln w="19050" cap="flat" cmpd="sng" algn="ctr">
              <a:solidFill>
                <a:srgbClr val="0042FF"/>
              </a:solidFill>
              <a:prstDash val="solid"/>
              <a:miter lim="800000"/>
            </a:ln>
            <a:effectLst/>
          </p:spPr>
        </p:cxnSp>
        <p:sp>
          <p:nvSpPr>
            <p:cNvPr id="178" name="梯形 177"/>
            <p:cNvSpPr/>
            <p:nvPr/>
          </p:nvSpPr>
          <p:spPr>
            <a:xfrm rot="10800000">
              <a:off x="5021" y="8630"/>
              <a:ext cx="883" cy="663"/>
            </a:xfrm>
            <a:prstGeom prst="trapezoid">
              <a:avLst>
                <a:gd name="adj" fmla="val 19469"/>
              </a:avLst>
            </a:prstGeom>
            <a:gradFill>
              <a:gsLst>
                <a:gs pos="100000">
                  <a:srgbClr val="0042FF">
                    <a:alpha val="0"/>
                  </a:srgbClr>
                </a:gs>
                <a:gs pos="44100">
                  <a:srgbClr val="0042FF">
                    <a:alpha val="15000"/>
                  </a:srgbClr>
                </a:gs>
                <a:gs pos="0">
                  <a:srgbClr val="0042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179" name="文本框 178"/>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全域触达</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181" name="组合 180"/>
          <p:cNvGrpSpPr/>
          <p:nvPr/>
        </p:nvGrpSpPr>
        <p:grpSpPr>
          <a:xfrm>
            <a:off x="7128510" y="5467668"/>
            <a:ext cx="827405" cy="532765"/>
            <a:chOff x="4810" y="8630"/>
            <a:chExt cx="1303" cy="839"/>
          </a:xfrm>
        </p:grpSpPr>
        <p:sp>
          <p:nvSpPr>
            <p:cNvPr id="187" name="菱形 186"/>
            <p:cNvSpPr/>
            <p:nvPr/>
          </p:nvSpPr>
          <p:spPr>
            <a:xfrm>
              <a:off x="4813" y="9032"/>
              <a:ext cx="1298" cy="436"/>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88" name="菱形 187"/>
            <p:cNvSpPr/>
            <p:nvPr/>
          </p:nvSpPr>
          <p:spPr>
            <a:xfrm>
              <a:off x="4933" y="9073"/>
              <a:ext cx="1058" cy="356"/>
            </a:xfrm>
            <a:prstGeom prst="diamond">
              <a:avLst/>
            </a:prstGeom>
            <a:gradFill>
              <a:gsLst>
                <a:gs pos="0">
                  <a:srgbClr val="0042FF">
                    <a:alpha val="0"/>
                  </a:srgbClr>
                </a:gs>
                <a:gs pos="100000">
                  <a:srgbClr val="0042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189" name="菱形 188"/>
            <p:cNvSpPr/>
            <p:nvPr/>
          </p:nvSpPr>
          <p:spPr>
            <a:xfrm>
              <a:off x="5134" y="9141"/>
              <a:ext cx="654" cy="220"/>
            </a:xfrm>
            <a:prstGeom prst="diamond">
              <a:avLst/>
            </a:prstGeom>
            <a:gradFill>
              <a:gsLst>
                <a:gs pos="100000">
                  <a:srgbClr val="0042FF">
                    <a:alpha val="50000"/>
                  </a:srgbClr>
                </a:gs>
                <a:gs pos="0">
                  <a:srgbClr val="0042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190" name="组合 189"/>
            <p:cNvGrpSpPr/>
            <p:nvPr/>
          </p:nvGrpSpPr>
          <p:grpSpPr>
            <a:xfrm rot="0">
              <a:off x="6034" y="9225"/>
              <a:ext cx="79" cy="52"/>
              <a:chOff x="8353512" y="3886200"/>
              <a:chExt cx="307127" cy="266701"/>
            </a:xfrm>
          </p:grpSpPr>
          <p:cxnSp>
            <p:nvCxnSpPr>
              <p:cNvPr id="191" name="直接连接符 190"/>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92" name="直接连接符 191"/>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193" name="组合 192"/>
            <p:cNvGrpSpPr/>
            <p:nvPr/>
          </p:nvGrpSpPr>
          <p:grpSpPr>
            <a:xfrm rot="0" flipH="1">
              <a:off x="4810" y="9225"/>
              <a:ext cx="79" cy="52"/>
              <a:chOff x="8353512" y="3886200"/>
              <a:chExt cx="307127" cy="266701"/>
            </a:xfrm>
          </p:grpSpPr>
          <p:cxnSp>
            <p:nvCxnSpPr>
              <p:cNvPr id="194" name="直接连接符 193"/>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195" name="直接连接符 194"/>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196" name="直接连接符 195"/>
            <p:cNvCxnSpPr/>
            <p:nvPr/>
          </p:nvCxnSpPr>
          <p:spPr>
            <a:xfrm flipV="1">
              <a:off x="5462" y="9442"/>
              <a:ext cx="79" cy="26"/>
            </a:xfrm>
            <a:prstGeom prst="line">
              <a:avLst/>
            </a:prstGeom>
            <a:noFill/>
            <a:ln w="19050" cap="flat" cmpd="sng" algn="ctr">
              <a:solidFill>
                <a:srgbClr val="0042FF"/>
              </a:solidFill>
              <a:prstDash val="solid"/>
              <a:miter lim="800000"/>
            </a:ln>
            <a:effectLst/>
          </p:spPr>
        </p:cxnSp>
        <p:cxnSp>
          <p:nvCxnSpPr>
            <p:cNvPr id="197" name="直接连接符 196"/>
            <p:cNvCxnSpPr/>
            <p:nvPr/>
          </p:nvCxnSpPr>
          <p:spPr>
            <a:xfrm>
              <a:off x="5384" y="9443"/>
              <a:ext cx="79" cy="26"/>
            </a:xfrm>
            <a:prstGeom prst="line">
              <a:avLst/>
            </a:prstGeom>
            <a:noFill/>
            <a:ln w="19050" cap="flat" cmpd="sng" algn="ctr">
              <a:solidFill>
                <a:srgbClr val="0042FF"/>
              </a:solidFill>
              <a:prstDash val="solid"/>
              <a:miter lim="800000"/>
            </a:ln>
            <a:effectLst/>
          </p:spPr>
        </p:cxnSp>
        <p:sp>
          <p:nvSpPr>
            <p:cNvPr id="198" name="梯形 197"/>
            <p:cNvSpPr/>
            <p:nvPr/>
          </p:nvSpPr>
          <p:spPr>
            <a:xfrm rot="10800000">
              <a:off x="5021" y="8630"/>
              <a:ext cx="883" cy="663"/>
            </a:xfrm>
            <a:prstGeom prst="trapezoid">
              <a:avLst>
                <a:gd name="adj" fmla="val 19469"/>
              </a:avLst>
            </a:prstGeom>
            <a:gradFill>
              <a:gsLst>
                <a:gs pos="100000">
                  <a:srgbClr val="0042FF">
                    <a:alpha val="0"/>
                  </a:srgbClr>
                </a:gs>
                <a:gs pos="44100">
                  <a:srgbClr val="0042FF">
                    <a:alpha val="15000"/>
                  </a:srgbClr>
                </a:gs>
                <a:gs pos="0">
                  <a:srgbClr val="0042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199" name="文本框 198"/>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价值循环</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200" name="组合 199"/>
          <p:cNvGrpSpPr/>
          <p:nvPr/>
        </p:nvGrpSpPr>
        <p:grpSpPr>
          <a:xfrm>
            <a:off x="8126095" y="5467668"/>
            <a:ext cx="827405" cy="532765"/>
            <a:chOff x="4810" y="8630"/>
            <a:chExt cx="1303" cy="839"/>
          </a:xfrm>
        </p:grpSpPr>
        <p:sp>
          <p:nvSpPr>
            <p:cNvPr id="201" name="菱形 200"/>
            <p:cNvSpPr/>
            <p:nvPr/>
          </p:nvSpPr>
          <p:spPr>
            <a:xfrm>
              <a:off x="4813" y="9032"/>
              <a:ext cx="1298" cy="436"/>
            </a:xfrm>
            <a:prstGeom prst="diamond">
              <a:avLst/>
            </a:prstGeom>
            <a:noFill/>
            <a:ln w="12700" cap="flat" cmpd="sng" algn="ctr">
              <a:gradFill>
                <a:gsLst>
                  <a:gs pos="1000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202" name="菱形 201"/>
            <p:cNvSpPr/>
            <p:nvPr/>
          </p:nvSpPr>
          <p:spPr>
            <a:xfrm>
              <a:off x="4933" y="9073"/>
              <a:ext cx="1058" cy="356"/>
            </a:xfrm>
            <a:prstGeom prst="diamond">
              <a:avLst/>
            </a:prstGeom>
            <a:gradFill>
              <a:gsLst>
                <a:gs pos="0">
                  <a:srgbClr val="0042FF">
                    <a:alpha val="0"/>
                  </a:srgbClr>
                </a:gs>
                <a:gs pos="100000">
                  <a:srgbClr val="0042FF">
                    <a:alpha val="28000"/>
                  </a:srgbClr>
                </a:gs>
              </a:gsLst>
              <a:lin ang="5400000" scaled="1"/>
            </a:gradFill>
            <a:ln w="9525" cap="flat" cmpd="sng" algn="ctr">
              <a:gradFill>
                <a:gsLst>
                  <a:gs pos="0">
                    <a:srgbClr val="0042FF">
                      <a:alpha val="0"/>
                    </a:srgbClr>
                  </a:gs>
                  <a:gs pos="100000">
                    <a:srgbClr val="0042FF">
                      <a:alpha val="53000"/>
                    </a:srgbClr>
                  </a:gs>
                </a:gsLst>
                <a:lin ang="5400000" scaled="1"/>
              </a:gradFill>
              <a:prstDash val="solid"/>
              <a:miter lim="800000"/>
            </a:ln>
            <a:effectLst>
              <a:innerShdw blurRad="279400">
                <a:srgbClr val="668EFF">
                  <a:alpha val="63000"/>
                </a:srgbClr>
              </a:innerShdw>
            </a:effectLst>
          </p:spPr>
          <p:txBody>
            <a:bodyPr rtlCol="0" anchor="ctr" lIns="0" rIns="0" tIns="0" bIns="0"/>
            <a:p>
              <a:pPr algn="ctr" defTabSz="1920240">
                <a:defRPr>
                  <a:latin typeface="微软雅黑"/>
                  <a:ea typeface="微软雅黑"/>
                  <a:cs typeface="微软雅黑"/>
                </a:defRPr>
              </a:pPr>
              <a:endParaRPr lang="zh-CN" altLang="en-US" sz="1400" kern="0">
                <a:solidFill>
                  <a:prstClr val="white"/>
                </a:solidFill>
                <a:latin typeface="微软雅黑"/>
                <a:ea typeface="微软雅黑"/>
                <a:cs typeface="微软雅黑"/>
              </a:endParaRPr>
            </a:p>
          </p:txBody>
        </p:sp>
        <p:sp>
          <p:nvSpPr>
            <p:cNvPr id="203" name="菱形 202"/>
            <p:cNvSpPr/>
            <p:nvPr/>
          </p:nvSpPr>
          <p:spPr>
            <a:xfrm>
              <a:off x="5134" y="9141"/>
              <a:ext cx="654" cy="220"/>
            </a:xfrm>
            <a:prstGeom prst="diamond">
              <a:avLst/>
            </a:prstGeom>
            <a:gradFill>
              <a:gsLst>
                <a:gs pos="100000">
                  <a:srgbClr val="0042FF">
                    <a:alpha val="50000"/>
                  </a:srgbClr>
                </a:gs>
                <a:gs pos="0">
                  <a:srgbClr val="0042FF">
                    <a:alpha val="0"/>
                  </a:srgbClr>
                </a:gs>
              </a:gsLst>
              <a:lin ang="5400000" scaled="1"/>
            </a:gradFill>
            <a:ln w="6350" cap="flat" cmpd="sng" algn="ctr">
              <a:gradFill>
                <a:gsLst>
                  <a:gs pos="0">
                    <a:srgbClr val="0042FF">
                      <a:alpha val="0"/>
                    </a:srgbClr>
                  </a:gs>
                  <a:gs pos="100000">
                    <a:srgbClr val="0042FF"/>
                  </a:gs>
                </a:gsLst>
                <a:lin ang="5400000" scaled="1"/>
              </a:grad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grpSp>
          <p:nvGrpSpPr>
            <p:cNvPr id="204" name="组合 203"/>
            <p:cNvGrpSpPr/>
            <p:nvPr/>
          </p:nvGrpSpPr>
          <p:grpSpPr>
            <a:xfrm rot="0">
              <a:off x="6034" y="9225"/>
              <a:ext cx="79" cy="52"/>
              <a:chOff x="8353512" y="3886200"/>
              <a:chExt cx="307127" cy="266701"/>
            </a:xfrm>
          </p:grpSpPr>
          <p:cxnSp>
            <p:nvCxnSpPr>
              <p:cNvPr id="206" name="直接连接符 205"/>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207" name="直接连接符 206"/>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grpSp>
          <p:nvGrpSpPr>
            <p:cNvPr id="208" name="组合 207"/>
            <p:cNvGrpSpPr/>
            <p:nvPr/>
          </p:nvGrpSpPr>
          <p:grpSpPr>
            <a:xfrm rot="0" flipH="1">
              <a:off x="4810" y="9225"/>
              <a:ext cx="79" cy="52"/>
              <a:chOff x="8353512" y="3886200"/>
              <a:chExt cx="307127" cy="266701"/>
            </a:xfrm>
          </p:grpSpPr>
          <p:cxnSp>
            <p:nvCxnSpPr>
              <p:cNvPr id="209" name="直接连接符 208"/>
              <p:cNvCxnSpPr/>
              <p:nvPr/>
            </p:nvCxnSpPr>
            <p:spPr>
              <a:xfrm flipH="1" flipV="1">
                <a:off x="8353512" y="3886200"/>
                <a:ext cx="307127" cy="137161"/>
              </a:xfrm>
              <a:prstGeom prst="line">
                <a:avLst/>
              </a:prstGeom>
              <a:noFill/>
              <a:ln w="19050" cap="flat" cmpd="sng" algn="ctr">
                <a:solidFill>
                  <a:srgbClr val="0042FF"/>
                </a:solidFill>
                <a:prstDash val="solid"/>
                <a:miter lim="800000"/>
              </a:ln>
              <a:effectLst/>
            </p:spPr>
          </p:cxnSp>
          <p:cxnSp>
            <p:nvCxnSpPr>
              <p:cNvPr id="210" name="直接连接符 209"/>
              <p:cNvCxnSpPr/>
              <p:nvPr/>
            </p:nvCxnSpPr>
            <p:spPr>
              <a:xfrm flipH="1">
                <a:off x="8353512" y="4015740"/>
                <a:ext cx="307127" cy="137161"/>
              </a:xfrm>
              <a:prstGeom prst="line">
                <a:avLst/>
              </a:prstGeom>
              <a:noFill/>
              <a:ln w="19050" cap="flat" cmpd="sng" algn="ctr">
                <a:solidFill>
                  <a:srgbClr val="0042FF"/>
                </a:solidFill>
                <a:prstDash val="solid"/>
                <a:miter lim="800000"/>
              </a:ln>
              <a:effectLst/>
            </p:spPr>
          </p:cxnSp>
        </p:grpSp>
        <p:cxnSp>
          <p:nvCxnSpPr>
            <p:cNvPr id="211" name="直接连接符 210"/>
            <p:cNvCxnSpPr/>
            <p:nvPr/>
          </p:nvCxnSpPr>
          <p:spPr>
            <a:xfrm flipV="1">
              <a:off x="5462" y="9442"/>
              <a:ext cx="79" cy="26"/>
            </a:xfrm>
            <a:prstGeom prst="line">
              <a:avLst/>
            </a:prstGeom>
            <a:noFill/>
            <a:ln w="19050" cap="flat" cmpd="sng" algn="ctr">
              <a:solidFill>
                <a:srgbClr val="0042FF"/>
              </a:solidFill>
              <a:prstDash val="solid"/>
              <a:miter lim="800000"/>
            </a:ln>
            <a:effectLst/>
          </p:spPr>
        </p:cxnSp>
        <p:cxnSp>
          <p:nvCxnSpPr>
            <p:cNvPr id="212" name="直接连接符 211"/>
            <p:cNvCxnSpPr/>
            <p:nvPr/>
          </p:nvCxnSpPr>
          <p:spPr>
            <a:xfrm>
              <a:off x="5384" y="9443"/>
              <a:ext cx="79" cy="26"/>
            </a:xfrm>
            <a:prstGeom prst="line">
              <a:avLst/>
            </a:prstGeom>
            <a:noFill/>
            <a:ln w="19050" cap="flat" cmpd="sng" algn="ctr">
              <a:solidFill>
                <a:srgbClr val="0042FF"/>
              </a:solidFill>
              <a:prstDash val="solid"/>
              <a:miter lim="800000"/>
            </a:ln>
            <a:effectLst/>
          </p:spPr>
        </p:cxnSp>
        <p:sp>
          <p:nvSpPr>
            <p:cNvPr id="213" name="梯形 212"/>
            <p:cNvSpPr/>
            <p:nvPr/>
          </p:nvSpPr>
          <p:spPr>
            <a:xfrm rot="10800000">
              <a:off x="5021" y="8630"/>
              <a:ext cx="883" cy="663"/>
            </a:xfrm>
            <a:prstGeom prst="trapezoid">
              <a:avLst>
                <a:gd name="adj" fmla="val 19469"/>
              </a:avLst>
            </a:prstGeom>
            <a:gradFill>
              <a:gsLst>
                <a:gs pos="100000">
                  <a:srgbClr val="0042FF">
                    <a:alpha val="0"/>
                  </a:srgbClr>
                </a:gs>
                <a:gs pos="44100">
                  <a:srgbClr val="0042FF">
                    <a:alpha val="15000"/>
                  </a:srgbClr>
                </a:gs>
                <a:gs pos="0">
                  <a:srgbClr val="0042FF">
                    <a:alpha val="0"/>
                  </a:srgbClr>
                </a:gs>
              </a:gsLst>
              <a:lin ang="5400000" scaled="1"/>
            </a:gradFill>
            <a:ln w="12700" cap="flat" cmpd="sng" algn="ctr">
              <a:noFill/>
              <a:prstDash val="solid"/>
              <a:miter lim="800000"/>
            </a:ln>
            <a:effectLst/>
          </p:spPr>
          <p:txBody>
            <a:bodyPr rtlCol="0" anchor="ctr" lIns="0" rIns="0" tIns="0" bIns="0"/>
            <a:p>
              <a:pPr algn="ctr" defTabSz="1920240">
                <a:defRPr>
                  <a:latin typeface="微软雅黑"/>
                  <a:ea typeface="微软雅黑"/>
                  <a:cs typeface="微软雅黑"/>
                </a:defRPr>
              </a:pPr>
              <a:endParaRPr lang="zh-CN" altLang="en-US" sz="1400" kern="0" dirty="0">
                <a:solidFill>
                  <a:prstClr val="white"/>
                </a:solidFill>
                <a:latin typeface="微软雅黑"/>
                <a:ea typeface="微软雅黑"/>
                <a:cs typeface="微软雅黑"/>
              </a:endParaRPr>
            </a:p>
          </p:txBody>
        </p:sp>
        <p:sp>
          <p:nvSpPr>
            <p:cNvPr id="214" name="文本框 213"/>
            <p:cNvSpPr txBox="1"/>
            <p:nvPr/>
          </p:nvSpPr>
          <p:spPr>
            <a:xfrm>
              <a:off x="5034" y="8743"/>
              <a:ext cx="883" cy="35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p>
              <a:pPr marL="0" marR="0" indent="0" algn="ctr" defTabSz="2438400" rtl="0" fontAlgn="auto" latinLnBrk="0" hangingPunct="0">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rPr>
                <a:t>生态孵化</a:t>
              </a:r>
              <a:endParaRPr kumimoji="0" lang="zh-CN" altLang="en-US" sz="10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grpSp>
      <p:grpSp>
        <p:nvGrpSpPr>
          <p:cNvPr id="118" name="组合 117"/>
          <p:cNvGrpSpPr/>
          <p:nvPr/>
        </p:nvGrpSpPr>
        <p:grpSpPr>
          <a:xfrm>
            <a:off x="511810" y="5142230"/>
            <a:ext cx="1659890" cy="1063625"/>
            <a:chOff x="806" y="8098"/>
            <a:chExt cx="2614" cy="1675"/>
          </a:xfrm>
        </p:grpSpPr>
        <p:grpSp>
          <p:nvGrpSpPr>
            <p:cNvPr id="215" name="组合 214"/>
            <p:cNvGrpSpPr/>
            <p:nvPr/>
          </p:nvGrpSpPr>
          <p:grpSpPr>
            <a:xfrm rot="0">
              <a:off x="972" y="8595"/>
              <a:ext cx="2287" cy="1178"/>
              <a:chOff x="3848744" y="2995810"/>
              <a:chExt cx="4494508" cy="2313904"/>
            </a:xfrm>
          </p:grpSpPr>
          <p:sp>
            <p:nvSpPr>
              <p:cNvPr id="216" name="显眼包PPT1-1"/>
              <p:cNvSpPr/>
              <p:nvPr/>
            </p:nvSpPr>
            <p:spPr>
              <a:xfrm>
                <a:off x="3848744" y="4312518"/>
                <a:ext cx="4494508" cy="997196"/>
              </a:xfrm>
              <a:prstGeom prst="ellipse">
                <a:avLst/>
              </a:prstGeom>
              <a:gradFill flip="none" rotWithShape="1">
                <a:gsLst>
                  <a:gs pos="75000">
                    <a:srgbClr val="0042FF">
                      <a:alpha val="0"/>
                    </a:srgbClr>
                  </a:gs>
                  <a:gs pos="100000">
                    <a:srgbClr val="E6E6E6"/>
                  </a:gs>
                  <a:gs pos="90000">
                    <a:srgbClr val="0042FF">
                      <a:alpha val="40000"/>
                    </a:srgbClr>
                  </a:gs>
                </a:gsLst>
                <a:path path="shape">
                  <a:fillToRect l="50000" t="50000" r="50000" b="50000"/>
                </a:path>
                <a:tileRect/>
              </a:gradFill>
              <a:ln w="19050">
                <a:gradFill flip="none" rotWithShape="1">
                  <a:gsLst>
                    <a:gs pos="0">
                      <a:srgbClr val="E6E6E6">
                        <a:alpha val="0"/>
                      </a:srgbClr>
                    </a:gs>
                    <a:gs pos="46000">
                      <a:srgbClr val="E6E6E6"/>
                    </a:gs>
                  </a:gsLst>
                  <a:lin ang="5400000" scaled="1"/>
                  <a:tileRect/>
                </a:gradFill>
              </a:ln>
              <a:effectLst/>
            </p:spPr>
            <p:style>
              <a:lnRef idx="2">
                <a:srgbClr val="0042FF"/>
              </a:lnRef>
              <a:fillRef idx="1">
                <a:srgbClr val="0042FF"/>
              </a:fillRef>
              <a:effectRef idx="0">
                <a:srgbClr val="0042FF"/>
              </a:effectRef>
              <a:fontRef idx="minor">
                <a:srgbClr val="FFFFFF"/>
              </a:fontRef>
            </p:style>
            <p:txBody>
              <a:bodyPr lIns="274320" tIns="137160" rIns="274320" bIns="137160" rtlCol="0" anchor="ctr"/>
              <a:lstStyle/>
              <a:p>
                <a:pPr algn="ctr">
                  <a:defRPr>
                    <a:solidFill>
                      <a:srgbClr val="FFFFFF"/>
                    </a:solidFill>
                    <a:latin typeface="微软雅黑"/>
                    <a:ea typeface="微软雅黑"/>
                    <a:cs typeface="微软雅黑"/>
                  </a:defRPr>
                </a:pPr>
                <a:endParaRPr lang="zh-CN" altLang="en-US" sz="5400">
                  <a:solidFill>
                    <a:srgbClr val="FFFFFF"/>
                  </a:solidFill>
                  <a:latin typeface="微软雅黑"/>
                  <a:ea typeface="微软雅黑"/>
                  <a:cs typeface="微软雅黑"/>
                </a:endParaRPr>
              </a:p>
            </p:txBody>
          </p:sp>
          <p:grpSp>
            <p:nvGrpSpPr>
              <p:cNvPr id="221" name="底座"/>
              <p:cNvGrpSpPr/>
              <p:nvPr/>
            </p:nvGrpSpPr>
            <p:grpSpPr>
              <a:xfrm>
                <a:off x="3864520" y="3511914"/>
                <a:ext cx="4466894" cy="1651989"/>
                <a:chOff x="3864520" y="3511914"/>
                <a:chExt cx="4466894" cy="1651989"/>
              </a:xfrm>
            </p:grpSpPr>
            <p:sp>
              <p:nvSpPr>
                <p:cNvPr id="222" name="显眼包PPT1-2"/>
                <p:cNvSpPr/>
                <p:nvPr/>
              </p:nvSpPr>
              <p:spPr>
                <a:xfrm>
                  <a:off x="3864868" y="4038359"/>
                  <a:ext cx="4462268" cy="1089078"/>
                </a:xfrm>
                <a:prstGeom prst="ellipse">
                  <a:avLst/>
                </a:prstGeom>
                <a:gradFill>
                  <a:gsLst>
                    <a:gs pos="0">
                      <a:srgbClr val="E6E6E6"/>
                    </a:gs>
                    <a:gs pos="33000">
                      <a:srgbClr val="3368FF"/>
                    </a:gs>
                    <a:gs pos="100000">
                      <a:srgbClr val="3368FF">
                        <a:alpha val="0"/>
                      </a:srgbClr>
                    </a:gs>
                  </a:gsLst>
                  <a:lin ang="13800000" scaled="0"/>
                </a:gradFill>
                <a:ln w="19050">
                  <a:gradFill>
                    <a:gsLst>
                      <a:gs pos="0">
                        <a:srgbClr val="E6E6E6">
                          <a:alpha val="0"/>
                        </a:srgbClr>
                      </a:gs>
                      <a:gs pos="100000">
                        <a:srgbClr val="E6E6E6"/>
                      </a:gs>
                    </a:gsLst>
                    <a:lin ang="5400000" scaled="1"/>
                  </a:gradFill>
                </a:ln>
                <a:effectLst/>
              </p:spPr>
              <p:style>
                <a:lnRef idx="2">
                  <a:srgbClr val="0042FF"/>
                </a:lnRef>
                <a:fillRef idx="1">
                  <a:srgbClr val="0042FF"/>
                </a:fillRef>
                <a:effectRef idx="0">
                  <a:srgbClr val="0042FF"/>
                </a:effectRef>
                <a:fontRef idx="minor">
                  <a:srgbClr val="FFFFFF"/>
                </a:fontRef>
              </p:style>
              <p:txBody>
                <a:bodyPr lIns="274320" tIns="137160" rIns="274320" bIns="137160" rtlCol="0" anchor="ctr"/>
                <a:lstStyle/>
                <a:p>
                  <a:pPr algn="ctr">
                    <a:defRPr>
                      <a:solidFill>
                        <a:srgbClr val="FFFFFF"/>
                      </a:solidFill>
                      <a:latin typeface="微软雅黑"/>
                      <a:ea typeface="微软雅黑"/>
                      <a:cs typeface="微软雅黑"/>
                    </a:defRPr>
                  </a:pPr>
                  <a:endParaRPr lang="zh-CN" altLang="en-US" sz="5400">
                    <a:solidFill>
                      <a:srgbClr val="FFFFFF"/>
                    </a:solidFill>
                    <a:latin typeface="微软雅黑"/>
                    <a:ea typeface="微软雅黑"/>
                    <a:cs typeface="微软雅黑"/>
                  </a:endParaRPr>
                </a:p>
              </p:txBody>
            </p:sp>
            <p:sp>
              <p:nvSpPr>
                <p:cNvPr id="223" name="显眼包PPT1-3"/>
                <p:cNvSpPr/>
                <p:nvPr/>
              </p:nvSpPr>
              <p:spPr>
                <a:xfrm flipV="1">
                  <a:off x="3864520" y="3878494"/>
                  <a:ext cx="4466894" cy="1285409"/>
                </a:xfrm>
                <a:custGeom>
                  <a:avLst/>
                  <a:gdLst>
                    <a:gd name="connsiteX0" fmla="*/ 371613 w 4466894"/>
                    <a:gd name="connsiteY0" fmla="*/ 1285409 h 1285409"/>
                    <a:gd name="connsiteX1" fmla="*/ 386628 w 4466894"/>
                    <a:gd name="connsiteY1" fmla="*/ 1285409 h 1285409"/>
                    <a:gd name="connsiteX2" fmla="*/ 356932 w 4466894"/>
                    <a:gd name="connsiteY2" fmla="*/ 1224463 h 1285409"/>
                    <a:gd name="connsiteX3" fmla="*/ 2233447 w 4466894"/>
                    <a:gd name="connsiteY3" fmla="*/ 836231 h 1285409"/>
                    <a:gd name="connsiteX4" fmla="*/ 4109962 w 4466894"/>
                    <a:gd name="connsiteY4" fmla="*/ 1224463 h 1285409"/>
                    <a:gd name="connsiteX5" fmla="*/ 4080266 w 4466894"/>
                    <a:gd name="connsiteY5" fmla="*/ 1285409 h 1285409"/>
                    <a:gd name="connsiteX6" fmla="*/ 4095280 w 4466894"/>
                    <a:gd name="connsiteY6" fmla="*/ 1285409 h 1285409"/>
                    <a:gd name="connsiteX7" fmla="*/ 4428160 w 4466894"/>
                    <a:gd name="connsiteY7" fmla="*/ 667759 h 1285409"/>
                    <a:gd name="connsiteX8" fmla="*/ 4466894 w 4466894"/>
                    <a:gd name="connsiteY8" fmla="*/ 569745 h 1285409"/>
                    <a:gd name="connsiteX9" fmla="*/ 2233447 w 4466894"/>
                    <a:gd name="connsiteY9" fmla="*/ 0 h 1285409"/>
                    <a:gd name="connsiteX10" fmla="*/ 0 w 4466894"/>
                    <a:gd name="connsiteY10" fmla="*/ 569745 h 1285409"/>
                    <a:gd name="connsiteX11" fmla="*/ 38734 w 4466894"/>
                    <a:gd name="connsiteY11" fmla="*/ 667759 h 128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66894" h="1285409">
                      <a:moveTo>
                        <a:pt x="371613" y="1285409"/>
                      </a:moveTo>
                      <a:lnTo>
                        <a:pt x="386628" y="1285409"/>
                      </a:lnTo>
                      <a:lnTo>
                        <a:pt x="356932" y="1224463"/>
                      </a:lnTo>
                      <a:cubicBezTo>
                        <a:pt x="356932" y="1010048"/>
                        <a:pt x="1197076" y="836231"/>
                        <a:pt x="2233447" y="836231"/>
                      </a:cubicBezTo>
                      <a:cubicBezTo>
                        <a:pt x="3269818" y="836231"/>
                        <a:pt x="4109962" y="1010048"/>
                        <a:pt x="4109962" y="1224463"/>
                      </a:cubicBezTo>
                      <a:lnTo>
                        <a:pt x="4080266" y="1285409"/>
                      </a:lnTo>
                      <a:lnTo>
                        <a:pt x="4095280" y="1285409"/>
                      </a:lnTo>
                      <a:lnTo>
                        <a:pt x="4428160" y="667759"/>
                      </a:lnTo>
                      <a:lnTo>
                        <a:pt x="4466894" y="569745"/>
                      </a:lnTo>
                      <a:cubicBezTo>
                        <a:pt x="4466894" y="255083"/>
                        <a:pt x="3466947" y="0"/>
                        <a:pt x="2233447" y="0"/>
                      </a:cubicBezTo>
                      <a:cubicBezTo>
                        <a:pt x="999947" y="0"/>
                        <a:pt x="0" y="255083"/>
                        <a:pt x="0" y="569745"/>
                      </a:cubicBezTo>
                      <a:lnTo>
                        <a:pt x="38734" y="667759"/>
                      </a:lnTo>
                      <a:close/>
                    </a:path>
                  </a:pathLst>
                </a:custGeom>
                <a:gradFill flip="none" rotWithShape="1">
                  <a:gsLst>
                    <a:gs pos="0">
                      <a:srgbClr val="E6E6E6"/>
                    </a:gs>
                    <a:gs pos="100000">
                      <a:srgbClr val="0042FF"/>
                    </a:gs>
                    <a:gs pos="22000">
                      <a:srgbClr val="0042FF"/>
                    </a:gs>
                  </a:gsLst>
                  <a:lin ang="13800000" scaled="0"/>
                  <a:tileRect/>
                </a:gradFill>
                <a:ln w="19050">
                  <a:noFill/>
                </a:ln>
                <a:effectLst/>
              </p:spPr>
              <p:style>
                <a:lnRef idx="2">
                  <a:srgbClr val="0042FF"/>
                </a:lnRef>
                <a:fillRef idx="1">
                  <a:srgbClr val="0042FF"/>
                </a:fillRef>
                <a:effectRef idx="0">
                  <a:srgbClr val="0042FF"/>
                </a:effectRef>
                <a:fontRef idx="minor">
                  <a:srgbClr val="FFFFFF"/>
                </a:fontRef>
              </p:style>
              <p:txBody>
                <a:bodyPr wrap="square" lIns="274320" tIns="137160" rIns="274320" bIns="137160" rtlCol="0" anchor="ctr">
                  <a:noAutofit/>
                </a:bodyPr>
                <a:lstStyle/>
                <a:p>
                  <a:pPr algn="ctr">
                    <a:defRPr>
                      <a:solidFill>
                        <a:srgbClr val="FFFFFF"/>
                      </a:solidFill>
                      <a:latin typeface="微软雅黑"/>
                      <a:ea typeface="微软雅黑"/>
                      <a:cs typeface="微软雅黑"/>
                    </a:defRPr>
                  </a:pPr>
                  <a:endParaRPr lang="zh-CN" altLang="en-US" sz="5400">
                    <a:solidFill>
                      <a:srgbClr val="FFFFFF"/>
                    </a:solidFill>
                    <a:latin typeface="微软雅黑"/>
                    <a:ea typeface="微软雅黑"/>
                    <a:cs typeface="微软雅黑"/>
                  </a:endParaRPr>
                </a:p>
              </p:txBody>
            </p:sp>
            <p:sp>
              <p:nvSpPr>
                <p:cNvPr id="224" name="显眼包PPT1-4"/>
                <p:cNvSpPr/>
                <p:nvPr/>
              </p:nvSpPr>
              <p:spPr>
                <a:xfrm>
                  <a:off x="4219487" y="3511914"/>
                  <a:ext cx="3753030" cy="776464"/>
                </a:xfrm>
                <a:prstGeom prst="ellipse">
                  <a:avLst/>
                </a:prstGeom>
                <a:gradFill>
                  <a:gsLst>
                    <a:gs pos="0">
                      <a:srgbClr val="668EFF"/>
                    </a:gs>
                    <a:gs pos="33000">
                      <a:srgbClr val="0042FF"/>
                    </a:gs>
                    <a:gs pos="100000">
                      <a:srgbClr val="3368FF"/>
                    </a:gs>
                  </a:gsLst>
                  <a:lin ang="8400000" scaled="0"/>
                </a:gradFill>
                <a:ln w="19050">
                  <a:gradFill>
                    <a:gsLst>
                      <a:gs pos="0">
                        <a:srgbClr val="FFFFFF">
                          <a:alpha val="0"/>
                        </a:srgbClr>
                      </a:gs>
                      <a:gs pos="100000">
                        <a:srgbClr val="FFFFFF"/>
                      </a:gs>
                    </a:gsLst>
                    <a:lin ang="5400000" scaled="1"/>
                  </a:gradFill>
                </a:ln>
                <a:effectLst/>
              </p:spPr>
              <p:style>
                <a:lnRef idx="2">
                  <a:srgbClr val="0042FF"/>
                </a:lnRef>
                <a:fillRef idx="1">
                  <a:srgbClr val="0042FF"/>
                </a:fillRef>
                <a:effectRef idx="0">
                  <a:srgbClr val="0042FF"/>
                </a:effectRef>
                <a:fontRef idx="minor">
                  <a:srgbClr val="FFFFFF"/>
                </a:fontRef>
              </p:style>
              <p:txBody>
                <a:bodyPr lIns="274320" tIns="137160" rIns="274320" bIns="137160" rtlCol="0" anchor="ctr"/>
                <a:lstStyle/>
                <a:p>
                  <a:pPr algn="ctr">
                    <a:defRPr>
                      <a:solidFill>
                        <a:srgbClr val="FFFFFF"/>
                      </a:solidFill>
                      <a:latin typeface="微软雅黑"/>
                      <a:ea typeface="微软雅黑"/>
                      <a:cs typeface="微软雅黑"/>
                    </a:defRPr>
                  </a:pPr>
                  <a:endParaRPr lang="zh-CN" altLang="en-US" sz="5400">
                    <a:solidFill>
                      <a:srgbClr val="FFFFFF"/>
                    </a:solidFill>
                    <a:latin typeface="微软雅黑"/>
                    <a:ea typeface="微软雅黑"/>
                    <a:cs typeface="微软雅黑"/>
                  </a:endParaRPr>
                </a:p>
              </p:txBody>
            </p:sp>
          </p:grpSp>
          <p:sp>
            <p:nvSpPr>
              <p:cNvPr id="227" name="显眼包PPT1-6"/>
              <p:cNvSpPr/>
              <p:nvPr/>
            </p:nvSpPr>
            <p:spPr>
              <a:xfrm>
                <a:off x="4896124" y="3735976"/>
                <a:ext cx="2399748" cy="328341"/>
              </a:xfrm>
              <a:prstGeom prst="ellipse">
                <a:avLst/>
              </a:prstGeom>
              <a:gradFill flip="none" rotWithShape="1">
                <a:gsLst>
                  <a:gs pos="0">
                    <a:srgbClr val="E6E6E6"/>
                  </a:gs>
                  <a:gs pos="33000">
                    <a:srgbClr val="0042FF"/>
                  </a:gs>
                  <a:gs pos="100000">
                    <a:srgbClr val="0042FF"/>
                  </a:gs>
                </a:gsLst>
                <a:lin ang="16200000" scaled="1"/>
                <a:tileRect/>
              </a:gradFill>
              <a:ln w="19050">
                <a:gradFill flip="none" rotWithShape="1">
                  <a:gsLst>
                    <a:gs pos="0">
                      <a:srgbClr val="FFFFFF">
                        <a:alpha val="0"/>
                      </a:srgbClr>
                    </a:gs>
                    <a:gs pos="100000">
                      <a:srgbClr val="FFFFFF"/>
                    </a:gs>
                  </a:gsLst>
                  <a:lin ang="16200000" scaled="1"/>
                  <a:tileRect/>
                </a:gradFill>
              </a:ln>
              <a:effectLst/>
            </p:spPr>
            <p:style>
              <a:lnRef idx="2">
                <a:srgbClr val="0042FF"/>
              </a:lnRef>
              <a:fillRef idx="1">
                <a:srgbClr val="0042FF"/>
              </a:fillRef>
              <a:effectRef idx="0">
                <a:srgbClr val="0042FF"/>
              </a:effectRef>
              <a:fontRef idx="minor">
                <a:srgbClr val="FFFFFF"/>
              </a:fontRef>
            </p:style>
            <p:txBody>
              <a:bodyPr lIns="274320" tIns="137160" rIns="274320" bIns="137160" rtlCol="0" anchor="ctr"/>
              <a:lstStyle/>
              <a:p>
                <a:pPr algn="ctr">
                  <a:defRPr>
                    <a:solidFill>
                      <a:srgbClr val="FFFFFF"/>
                    </a:solidFill>
                    <a:latin typeface="微软雅黑"/>
                    <a:ea typeface="微软雅黑"/>
                    <a:cs typeface="微软雅黑"/>
                  </a:defRPr>
                </a:pPr>
                <a:endParaRPr lang="zh-CN" altLang="en-US" sz="5400">
                  <a:solidFill>
                    <a:srgbClr val="FFFFFF"/>
                  </a:solidFill>
                  <a:latin typeface="微软雅黑"/>
                  <a:ea typeface="微软雅黑"/>
                  <a:cs typeface="微软雅黑"/>
                </a:endParaRPr>
              </a:p>
            </p:txBody>
          </p:sp>
          <p:grpSp>
            <p:nvGrpSpPr>
              <p:cNvPr id="281" name="投射物"/>
              <p:cNvGrpSpPr/>
              <p:nvPr/>
            </p:nvGrpSpPr>
            <p:grpSpPr>
              <a:xfrm>
                <a:off x="4524127" y="2995810"/>
                <a:ext cx="3143751" cy="819250"/>
                <a:chOff x="-318972" y="2144933"/>
                <a:chExt cx="3570955" cy="930578"/>
              </a:xfrm>
            </p:grpSpPr>
            <p:sp>
              <p:nvSpPr>
                <p:cNvPr id="282" name="显眼包PPT1-8"/>
                <p:cNvSpPr/>
                <p:nvPr/>
              </p:nvSpPr>
              <p:spPr>
                <a:xfrm>
                  <a:off x="-113231" y="2524736"/>
                  <a:ext cx="3159475" cy="550775"/>
                </a:xfrm>
                <a:prstGeom prst="ellipse">
                  <a:avLst/>
                </a:prstGeom>
                <a:noFill/>
                <a:ln w="0">
                  <a:gradFill flip="none" rotWithShape="1">
                    <a:gsLst>
                      <a:gs pos="0">
                        <a:srgbClr val="E6E6E6">
                          <a:alpha val="50000"/>
                        </a:srgbClr>
                      </a:gs>
                      <a:gs pos="90000">
                        <a:srgbClr val="E6E6E6">
                          <a:alpha val="0"/>
                        </a:srgbClr>
                      </a:gs>
                      <a:gs pos="10000">
                        <a:srgbClr val="E6E6E6">
                          <a:alpha val="0"/>
                        </a:srgbClr>
                      </a:gs>
                      <a:gs pos="100000">
                        <a:srgbClr val="E6E6E6">
                          <a:alpha val="50000"/>
                        </a:srgbClr>
                      </a:gs>
                    </a:gsLst>
                    <a:lin ang="0" scaled="1"/>
                    <a:tileRect/>
                  </a:gradFill>
                </a:ln>
                <a:effectLst/>
              </p:spPr>
              <p:style>
                <a:lnRef idx="2">
                  <a:srgbClr val="0042FF"/>
                </a:lnRef>
                <a:fillRef idx="1">
                  <a:srgbClr val="0042FF"/>
                </a:fillRef>
                <a:effectRef idx="0">
                  <a:srgbClr val="0042FF"/>
                </a:effectRef>
                <a:fontRef idx="minor">
                  <a:srgbClr val="FFFFFF"/>
                </a:fontRef>
              </p:style>
              <p:txBody>
                <a:bodyPr lIns="274320" tIns="137160" rIns="274320" bIns="137160" rtlCol="0" anchor="ctr"/>
                <a:lstStyle/>
                <a:p>
                  <a:pPr algn="ctr">
                    <a:defRPr>
                      <a:solidFill>
                        <a:srgbClr val="FFFFFF"/>
                      </a:solidFill>
                      <a:latin typeface="微软雅黑"/>
                      <a:ea typeface="微软雅黑"/>
                      <a:cs typeface="微软雅黑"/>
                    </a:defRPr>
                  </a:pPr>
                  <a:endParaRPr lang="zh-CN" altLang="en-US" sz="5400">
                    <a:solidFill>
                      <a:srgbClr val="FFFFFF"/>
                    </a:solidFill>
                    <a:latin typeface="微软雅黑"/>
                    <a:ea typeface="微软雅黑"/>
                    <a:cs typeface="微软雅黑"/>
                  </a:endParaRPr>
                </a:p>
              </p:txBody>
            </p:sp>
            <p:sp>
              <p:nvSpPr>
                <p:cNvPr id="283" name="显眼包PPT1-9"/>
                <p:cNvSpPr/>
                <p:nvPr/>
              </p:nvSpPr>
              <p:spPr>
                <a:xfrm>
                  <a:off x="-318972" y="2144933"/>
                  <a:ext cx="3570955" cy="622503"/>
                </a:xfrm>
                <a:prstGeom prst="ellipse">
                  <a:avLst/>
                </a:prstGeom>
                <a:noFill/>
                <a:ln w="0">
                  <a:gradFill flip="none" rotWithShape="1">
                    <a:gsLst>
                      <a:gs pos="0">
                        <a:srgbClr val="E6E6E6">
                          <a:alpha val="50000"/>
                        </a:srgbClr>
                      </a:gs>
                      <a:gs pos="90000">
                        <a:srgbClr val="E6E6E6">
                          <a:alpha val="0"/>
                        </a:srgbClr>
                      </a:gs>
                      <a:gs pos="10000">
                        <a:srgbClr val="E6E6E6">
                          <a:alpha val="0"/>
                        </a:srgbClr>
                      </a:gs>
                      <a:gs pos="100000">
                        <a:srgbClr val="E6E6E6">
                          <a:alpha val="50000"/>
                        </a:srgbClr>
                      </a:gs>
                    </a:gsLst>
                    <a:lin ang="0" scaled="1"/>
                    <a:tileRect/>
                  </a:gradFill>
                </a:ln>
                <a:effectLst/>
              </p:spPr>
              <p:style>
                <a:lnRef idx="2">
                  <a:srgbClr val="0042FF"/>
                </a:lnRef>
                <a:fillRef idx="1">
                  <a:srgbClr val="0042FF"/>
                </a:fillRef>
                <a:effectRef idx="0">
                  <a:srgbClr val="0042FF"/>
                </a:effectRef>
                <a:fontRef idx="minor">
                  <a:srgbClr val="FFFFFF"/>
                </a:fontRef>
              </p:style>
              <p:txBody>
                <a:bodyPr lIns="274320" tIns="137160" rIns="274320" bIns="137160" rtlCol="0" anchor="ctr"/>
                <a:lstStyle/>
                <a:p>
                  <a:pPr algn="ctr">
                    <a:defRPr>
                      <a:latin typeface="微软雅黑"/>
                      <a:ea typeface="微软雅黑"/>
                      <a:cs typeface="微软雅黑"/>
                    </a:defRPr>
                  </a:pPr>
                  <a:endParaRPr lang="zh-CN" altLang="en-US" sz="5400">
                    <a:latin typeface="微软雅黑"/>
                    <a:ea typeface="微软雅黑"/>
                    <a:cs typeface="微软雅黑"/>
                  </a:endParaRPr>
                </a:p>
              </p:txBody>
            </p:sp>
          </p:grpSp>
        </p:grpSp>
        <p:sp>
          <p:nvSpPr>
            <p:cNvPr id="284" name="显眼包PPT1-7"/>
            <p:cNvSpPr/>
            <p:nvPr/>
          </p:nvSpPr>
          <p:spPr>
            <a:xfrm flipV="1">
              <a:off x="1014" y="8098"/>
              <a:ext cx="2236" cy="1014"/>
            </a:xfrm>
            <a:prstGeom prst="trapezoid">
              <a:avLst>
                <a:gd name="adj" fmla="val 62034"/>
              </a:avLst>
            </a:prstGeom>
            <a:gradFill flip="none" rotWithShape="1">
              <a:gsLst>
                <a:gs pos="0">
                  <a:srgbClr val="3368FF">
                    <a:alpha val="0"/>
                  </a:srgbClr>
                </a:gs>
                <a:gs pos="100000">
                  <a:srgbClr val="3368FF">
                    <a:alpha val="0"/>
                  </a:srgbClr>
                </a:gs>
                <a:gs pos="90000">
                  <a:srgbClr val="3368FF">
                    <a:alpha val="34000"/>
                  </a:srgbClr>
                </a:gs>
              </a:gsLst>
              <a:lin ang="16200000" scaled="1"/>
              <a:tileRect/>
            </a:gradFill>
            <a:ln>
              <a:noFill/>
            </a:ln>
            <a:effectLst>
              <a:softEdge rad="0"/>
            </a:effectLst>
          </p:spPr>
          <p:style>
            <a:lnRef idx="2">
              <a:srgbClr val="0042FF"/>
            </a:lnRef>
            <a:fillRef idx="1">
              <a:srgbClr val="0042FF"/>
            </a:fillRef>
            <a:effectRef idx="0">
              <a:srgbClr val="0042FF"/>
            </a:effectRef>
            <a:fontRef idx="minor">
              <a:srgbClr val="FFFFFF"/>
            </a:fontRef>
          </p:style>
          <p:txBody>
            <a:bodyPr lIns="274320" tIns="137160" rIns="274320" bIns="137160" rtlCol="0" anchor="ctr"/>
            <a:lstStyle/>
            <a:p>
              <a:pPr algn="ctr">
                <a:defRPr>
                  <a:latin typeface="微软雅黑"/>
                  <a:ea typeface="微软雅黑"/>
                  <a:cs typeface="微软雅黑"/>
                </a:defRPr>
              </a:pPr>
              <a:endParaRPr lang="zh-CN" altLang="en-US" sz="5400" dirty="0">
                <a:latin typeface="微软雅黑"/>
                <a:ea typeface="微软雅黑"/>
                <a:cs typeface="微软雅黑"/>
              </a:endParaRPr>
            </a:p>
          </p:txBody>
        </p:sp>
        <p:sp>
          <p:nvSpPr>
            <p:cNvPr id="285" name="显眼包PPT1-10"/>
            <p:cNvSpPr/>
            <p:nvPr/>
          </p:nvSpPr>
          <p:spPr>
            <a:xfrm>
              <a:off x="806" y="8239"/>
              <a:ext cx="2614" cy="428"/>
            </a:xfrm>
            <a:prstGeom prst="ellipse">
              <a:avLst/>
            </a:prstGeom>
            <a:noFill/>
            <a:ln w="9525">
              <a:gradFill>
                <a:gsLst>
                  <a:gs pos="41000">
                    <a:srgbClr val="0042FF">
                      <a:alpha val="0"/>
                    </a:srgbClr>
                  </a:gs>
                  <a:gs pos="100000">
                    <a:srgbClr val="0042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86" name="显眼包PPT1-11"/>
            <p:cNvSpPr/>
            <p:nvPr/>
          </p:nvSpPr>
          <p:spPr>
            <a:xfrm>
              <a:off x="946" y="8456"/>
              <a:ext cx="2334" cy="339"/>
            </a:xfrm>
            <a:prstGeom prst="ellipse">
              <a:avLst/>
            </a:prstGeom>
            <a:noFill/>
            <a:ln w="9525">
              <a:gradFill>
                <a:gsLst>
                  <a:gs pos="41000">
                    <a:srgbClr val="0042FF">
                      <a:alpha val="0"/>
                    </a:srgbClr>
                  </a:gs>
                  <a:gs pos="100000">
                    <a:srgbClr val="0042FF"/>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sp>
        <p:nvSpPr>
          <p:cNvPr id="34" name="紫荆的职场Point99-4"/>
          <p:cNvSpPr/>
          <p:nvPr/>
        </p:nvSpPr>
        <p:spPr>
          <a:xfrm rot="5400000">
            <a:off x="1935480" y="3475355"/>
            <a:ext cx="647700" cy="85153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35000">
                <a:srgbClr val="DCDCDC">
                  <a:alpha val="50000"/>
                </a:srgbClr>
              </a:gs>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3368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37" name="文本框 36"/>
          <p:cNvSpPr txBox="1"/>
          <p:nvPr/>
        </p:nvSpPr>
        <p:spPr>
          <a:xfrm>
            <a:off x="1788795" y="3735705"/>
            <a:ext cx="821690" cy="3371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互为伙伴</a:t>
            </a:r>
            <a:endParaRPr lang="zh-CN" altLang="en-US" sz="1000" b="1">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彼此赋能</a:t>
            </a:r>
            <a:endParaRPr lang="zh-CN" altLang="en-US" sz="1000" b="1">
              <a:solidFill>
                <a:srgbClr val="383838"/>
              </a:solidFill>
              <a:latin typeface="微软雅黑"/>
              <a:ea typeface="微软雅黑"/>
              <a:cs typeface="微软雅黑"/>
            </a:endParaRPr>
          </a:p>
        </p:txBody>
      </p:sp>
      <p:grpSp>
        <p:nvGrpSpPr>
          <p:cNvPr id="38" name="组合 37"/>
          <p:cNvGrpSpPr/>
          <p:nvPr/>
        </p:nvGrpSpPr>
        <p:grpSpPr>
          <a:xfrm>
            <a:off x="1066800" y="2946400"/>
            <a:ext cx="558800" cy="558800"/>
            <a:chOff x="-2170" y="9389"/>
            <a:chExt cx="1670" cy="1670"/>
          </a:xfrm>
        </p:grpSpPr>
        <p:sp>
          <p:nvSpPr>
            <p:cNvPr id="710" name="显眼包PPT-2"/>
            <p:cNvSpPr/>
            <p:nvPr/>
          </p:nvSpPr>
          <p:spPr>
            <a:xfrm>
              <a:off x="-2170" y="9389"/>
              <a:ext cx="1670" cy="1670"/>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12" name="显眼包PPT-4"/>
            <p:cNvSpPr txBox="1"/>
            <p:nvPr/>
          </p:nvSpPr>
          <p:spPr>
            <a:xfrm>
              <a:off x="-1851" y="9789"/>
              <a:ext cx="1033" cy="91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rPr>
                <a:t>零售</a:t>
              </a:r>
              <a:endPar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rPr>
                <a:t>终端</a:t>
              </a:r>
              <a:endPar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endParaRPr>
            </a:p>
          </p:txBody>
        </p:sp>
      </p:grpSp>
      <p:grpSp>
        <p:nvGrpSpPr>
          <p:cNvPr id="39" name="组合 38"/>
          <p:cNvGrpSpPr/>
          <p:nvPr/>
        </p:nvGrpSpPr>
        <p:grpSpPr>
          <a:xfrm>
            <a:off x="1066800" y="3876040"/>
            <a:ext cx="558800" cy="558800"/>
            <a:chOff x="-2170" y="9389"/>
            <a:chExt cx="1670" cy="1670"/>
          </a:xfrm>
        </p:grpSpPr>
        <p:sp>
          <p:nvSpPr>
            <p:cNvPr id="40" name="显眼包PPT-2"/>
            <p:cNvSpPr/>
            <p:nvPr/>
          </p:nvSpPr>
          <p:spPr>
            <a:xfrm>
              <a:off x="-2170" y="9389"/>
              <a:ext cx="1670" cy="1670"/>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1" name="显眼包PPT-4"/>
            <p:cNvSpPr txBox="1"/>
            <p:nvPr/>
          </p:nvSpPr>
          <p:spPr>
            <a:xfrm>
              <a:off x="-1851" y="9789"/>
              <a:ext cx="1033" cy="91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rPr>
                <a:t>零售商</a:t>
              </a:r>
              <a:endPar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endParaRPr>
            </a:p>
          </p:txBody>
        </p:sp>
      </p:grpSp>
      <p:grpSp>
        <p:nvGrpSpPr>
          <p:cNvPr id="42" name="组合 41"/>
          <p:cNvGrpSpPr/>
          <p:nvPr/>
        </p:nvGrpSpPr>
        <p:grpSpPr>
          <a:xfrm>
            <a:off x="1066800" y="4805680"/>
            <a:ext cx="558800" cy="558800"/>
            <a:chOff x="-2170" y="9389"/>
            <a:chExt cx="1670" cy="1670"/>
          </a:xfrm>
        </p:grpSpPr>
        <p:sp>
          <p:nvSpPr>
            <p:cNvPr id="47" name="显眼包PPT-2"/>
            <p:cNvSpPr/>
            <p:nvPr/>
          </p:nvSpPr>
          <p:spPr>
            <a:xfrm>
              <a:off x="-2170" y="9389"/>
              <a:ext cx="1670" cy="1670"/>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87" name="显眼包PPT-4"/>
            <p:cNvSpPr txBox="1"/>
            <p:nvPr/>
          </p:nvSpPr>
          <p:spPr>
            <a:xfrm>
              <a:off x="-1851" y="9789"/>
              <a:ext cx="1033" cy="91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rPr>
                <a:t>生态伙伴</a:t>
              </a:r>
              <a:endParaRPr kumimoji="0" lang="zh-CN" sz="1000" b="1" i="0" u="none" strike="noStrike" kern="1200" cap="none" spc="0" normalizeH="0" baseline="0" noProof="0" dirty="0">
                <a:ln>
                  <a:noFill/>
                </a:ln>
                <a:gradFill>
                  <a:gsLst>
                    <a:gs pos="0">
                      <a:srgbClr val="0042FF"/>
                    </a:gs>
                    <a:gs pos="100000">
                      <a:srgbClr val="0042FF"/>
                    </a:gs>
                  </a:gsLst>
                  <a:lin ang="5400000" scaled="1"/>
                </a:gradFill>
                <a:effectLst>
                  <a:reflection blurRad="101600" stA="42000" endPos="36000" dist="25400" dir="5400000" sy="-100000" algn="bl" rotWithShape="0"/>
                </a:effectLst>
                <a:uLnTx/>
                <a:uFillTx/>
                <a:latin typeface="微软雅黑"/>
                <a:ea typeface="微软雅黑"/>
                <a:cs typeface="微软雅黑"/>
              </a:endParaRPr>
            </a:p>
          </p:txBody>
        </p:sp>
      </p:grpSp>
      <p:sp>
        <p:nvSpPr>
          <p:cNvPr id="88" name="显眼包PPT-4"/>
          <p:cNvSpPr txBox="1"/>
          <p:nvPr/>
        </p:nvSpPr>
        <p:spPr>
          <a:xfrm>
            <a:off x="782003" y="6272530"/>
            <a:ext cx="1122680" cy="23050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500" b="1" i="0" u="none" strike="noStrike" kern="1200" cap="none" spc="0" normalizeH="0" baseline="0" noProof="0" dirty="0">
                <a:ln>
                  <a:noFill/>
                </a:ln>
                <a:solidFill>
                  <a:srgbClr val="0042FF"/>
                </a:solidFill>
                <a:effectLst>
                  <a:reflection blurRad="101600" stA="42000" endPos="36000" dist="25400" dir="5400000" sy="-100000" algn="bl" rotWithShape="0"/>
                </a:effectLst>
                <a:uLnTx/>
                <a:uFillTx/>
                <a:latin typeface="微软雅黑"/>
                <a:ea typeface="微软雅黑"/>
                <a:cs typeface="微软雅黑"/>
              </a:rPr>
              <a:t>传统零售</a:t>
            </a:r>
            <a:endParaRPr kumimoji="0" lang="zh-CN" sz="1500" b="1" i="0" u="none" strike="noStrike" kern="1200" cap="none" spc="0" normalizeH="0" baseline="0" noProof="0" dirty="0">
              <a:ln>
                <a:noFill/>
              </a:ln>
              <a:solidFill>
                <a:srgbClr val="0042FF"/>
              </a:solidFill>
              <a:effectLst>
                <a:reflection blurRad="101600" stA="42000" endPos="36000" dist="25400" dir="5400000" sy="-100000" algn="bl" rotWithShape="0"/>
              </a:effectLst>
              <a:uLnTx/>
              <a:uFillTx/>
              <a:latin typeface="微软雅黑"/>
              <a:ea typeface="微软雅黑"/>
              <a:cs typeface="微软雅黑"/>
            </a:endParaRPr>
          </a:p>
        </p:txBody>
      </p:sp>
      <p:grpSp>
        <p:nvGrpSpPr>
          <p:cNvPr id="119" name="组合 118"/>
          <p:cNvGrpSpPr/>
          <p:nvPr/>
        </p:nvGrpSpPr>
        <p:grpSpPr>
          <a:xfrm rot="0">
            <a:off x="913448" y="1552575"/>
            <a:ext cx="873125" cy="879475"/>
            <a:chOff x="8509" y="5445"/>
            <a:chExt cx="2275" cy="2291"/>
          </a:xfrm>
        </p:grpSpPr>
        <p:grpSp>
          <p:nvGrpSpPr>
            <p:cNvPr id="128" name="组合 127"/>
            <p:cNvGrpSpPr/>
            <p:nvPr/>
          </p:nvGrpSpPr>
          <p:grpSpPr>
            <a:xfrm>
              <a:off x="8597" y="5634"/>
              <a:ext cx="2102" cy="2102"/>
              <a:chOff x="8692" y="4304"/>
              <a:chExt cx="2102" cy="2102"/>
            </a:xfrm>
          </p:grpSpPr>
          <p:grpSp>
            <p:nvGrpSpPr>
              <p:cNvPr id="251" name="显眼包PPT1"/>
              <p:cNvGrpSpPr/>
              <p:nvPr/>
            </p:nvGrpSpPr>
            <p:grpSpPr>
              <a:xfrm rot="0">
                <a:off x="8692" y="4304"/>
                <a:ext cx="2102" cy="2102"/>
                <a:chOff x="3096337" y="2750630"/>
                <a:chExt cx="1949116" cy="1949116"/>
              </a:xfrm>
              <a:effectLst/>
            </p:grpSpPr>
            <p:sp>
              <p:nvSpPr>
                <p:cNvPr id="252" name="显眼包PPT1-1"/>
                <p:cNvSpPr/>
                <p:nvPr/>
              </p:nvSpPr>
              <p:spPr>
                <a:xfrm rot="2700000">
                  <a:off x="3096337" y="2750630"/>
                  <a:ext cx="1949116" cy="1949116"/>
                </a:xfrm>
                <a:prstGeom prst="ellipse">
                  <a:avLst/>
                </a:prstGeom>
                <a:gradFill flip="none" rotWithShape="1">
                  <a:gsLst>
                    <a:gs pos="59000">
                      <a:srgbClr val="B3D4FE">
                        <a:alpha val="0"/>
                      </a:srgbClr>
                    </a:gs>
                    <a:gs pos="100000">
                      <a:srgbClr val="B3D4FE">
                        <a:alpha val="50000"/>
                      </a:srgbClr>
                    </a:gs>
                  </a:gsLst>
                  <a:path path="circle">
                    <a:fillToRect l="50000" t="130000" r="50000" b="-30000"/>
                  </a:path>
                  <a:tileRect/>
                </a:gra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2000">
                    <a:latin typeface="微软雅黑"/>
                    <a:ea typeface="微软雅黑"/>
                    <a:cs typeface="微软雅黑"/>
                  </a:endParaRPr>
                </a:p>
              </p:txBody>
            </p:sp>
            <p:sp>
              <p:nvSpPr>
                <p:cNvPr id="253" name="显眼包PPT1-2"/>
                <p:cNvSpPr/>
                <p:nvPr/>
              </p:nvSpPr>
              <p:spPr>
                <a:xfrm rot="2700000" flipV="1">
                  <a:off x="3096337" y="2750630"/>
                  <a:ext cx="1949116" cy="1949116"/>
                </a:xfrm>
                <a:prstGeom prst="ellipse">
                  <a:avLst/>
                </a:prstGeom>
                <a:gradFill flip="none" rotWithShape="1">
                  <a:gsLst>
                    <a:gs pos="59000">
                      <a:srgbClr val="B3D4FE">
                        <a:alpha val="0"/>
                      </a:srgbClr>
                    </a:gs>
                    <a:gs pos="100000">
                      <a:srgbClr val="B3D4FE">
                        <a:alpha val="70000"/>
                      </a:srgbClr>
                    </a:gs>
                  </a:gsLst>
                  <a:path path="circle">
                    <a:fillToRect l="50000" t="130000" r="50000" b="-30000"/>
                  </a:path>
                  <a:tileRect/>
                </a:gra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2000">
                    <a:latin typeface="微软雅黑"/>
                    <a:ea typeface="微软雅黑"/>
                    <a:cs typeface="微软雅黑"/>
                  </a:endParaRPr>
                </a:p>
              </p:txBody>
            </p:sp>
          </p:grpSp>
          <p:grpSp>
            <p:nvGrpSpPr>
              <p:cNvPr id="358" name="显眼包PPT2"/>
              <p:cNvGrpSpPr/>
              <p:nvPr/>
            </p:nvGrpSpPr>
            <p:grpSpPr>
              <a:xfrm rot="0">
                <a:off x="8846" y="5484"/>
                <a:ext cx="1798" cy="787"/>
                <a:chOff x="5304781" y="4389892"/>
                <a:chExt cx="1582435" cy="692477"/>
              </a:xfrm>
              <a:effectLst>
                <a:outerShdw blurRad="203200" dist="203200" dir="5400000" algn="t" rotWithShape="0">
                  <a:srgbClr val="3368FF">
                    <a:alpha val="31000"/>
                  </a:srgbClr>
                </a:outerShdw>
              </a:effectLst>
            </p:grpSpPr>
            <p:sp>
              <p:nvSpPr>
                <p:cNvPr id="359" name="显眼包PPT2-1"/>
                <p:cNvSpPr/>
                <p:nvPr/>
              </p:nvSpPr>
              <p:spPr>
                <a:xfrm>
                  <a:off x="5304781" y="4490420"/>
                  <a:ext cx="1582435" cy="591949"/>
                </a:xfrm>
                <a:custGeom>
                  <a:avLst/>
                  <a:gdLst>
                    <a:gd name="connsiteX0" fmla="*/ 0 w 1582435"/>
                    <a:gd name="connsiteY0" fmla="*/ 0 h 591949"/>
                    <a:gd name="connsiteX1" fmla="*/ 1582435 w 1582435"/>
                    <a:gd name="connsiteY1" fmla="*/ 0 h 591949"/>
                    <a:gd name="connsiteX2" fmla="*/ 1581901 w 1582435"/>
                    <a:gd name="connsiteY2" fmla="*/ 2701 h 591949"/>
                    <a:gd name="connsiteX3" fmla="*/ 791217 w 1582435"/>
                    <a:gd name="connsiteY3" fmla="*/ 591949 h 591949"/>
                    <a:gd name="connsiteX4" fmla="*/ 534 w 1582435"/>
                    <a:gd name="connsiteY4" fmla="*/ 2701 h 59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2435" h="591949">
                      <a:moveTo>
                        <a:pt x="0" y="0"/>
                      </a:moveTo>
                      <a:lnTo>
                        <a:pt x="1582435" y="0"/>
                      </a:lnTo>
                      <a:lnTo>
                        <a:pt x="1581901" y="2701"/>
                      </a:lnTo>
                      <a:cubicBezTo>
                        <a:pt x="1480534" y="343456"/>
                        <a:pt x="1164895" y="591949"/>
                        <a:pt x="791217" y="591949"/>
                      </a:cubicBezTo>
                      <a:cubicBezTo>
                        <a:pt x="417540" y="591949"/>
                        <a:pt x="101901" y="343456"/>
                        <a:pt x="534" y="2701"/>
                      </a:cubicBezTo>
                      <a:close/>
                    </a:path>
                  </a:pathLst>
                </a:custGeom>
                <a:gradFill flip="none" rotWithShape="1">
                  <a:gsLst>
                    <a:gs pos="0">
                      <a:srgbClr val="B3D4FE"/>
                    </a:gs>
                    <a:gs pos="46000">
                      <a:srgbClr val="3368FF"/>
                    </a:gs>
                    <a:gs pos="100000">
                      <a:srgbClr val="0042FF"/>
                    </a:gs>
                  </a:gsLst>
                  <a:path path="circle">
                    <a:fillToRect l="50000" t="130000" r="50000" b="-30000"/>
                  </a:path>
                  <a:tileRect/>
                </a:gradFill>
                <a:ln>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2000">
                    <a:solidFill>
                      <a:srgbClr val="FFFFFF"/>
                    </a:solidFill>
                    <a:latin typeface="微软雅黑"/>
                    <a:ea typeface="微软雅黑"/>
                    <a:cs typeface="微软雅黑"/>
                  </a:endParaRPr>
                </a:p>
              </p:txBody>
            </p:sp>
            <p:sp>
              <p:nvSpPr>
                <p:cNvPr id="360" name="显眼包PPT2-2"/>
                <p:cNvSpPr/>
                <p:nvPr/>
              </p:nvSpPr>
              <p:spPr>
                <a:xfrm>
                  <a:off x="5304782" y="4389892"/>
                  <a:ext cx="1582432" cy="206650"/>
                </a:xfrm>
                <a:prstGeom prst="ellipse">
                  <a:avLst/>
                </a:prstGeom>
                <a:gradFill flip="none" rotWithShape="1">
                  <a:gsLst>
                    <a:gs pos="0">
                      <a:srgbClr val="FFFFFF"/>
                    </a:gs>
                    <a:gs pos="76000">
                      <a:srgbClr val="B3D4FE"/>
                    </a:gs>
                  </a:gsLst>
                  <a:lin ang="5400000" scaled="1"/>
                  <a:tileRect/>
                </a:grad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2000">
                    <a:latin typeface="微软雅黑"/>
                    <a:ea typeface="微软雅黑"/>
                    <a:cs typeface="微软雅黑"/>
                  </a:endParaRPr>
                </a:p>
              </p:txBody>
            </p:sp>
          </p:grpSp>
        </p:grpSp>
        <p:sp>
          <p:nvSpPr>
            <p:cNvPr id="361" name="椭圆 360"/>
            <p:cNvSpPr/>
            <p:nvPr/>
          </p:nvSpPr>
          <p:spPr>
            <a:xfrm>
              <a:off x="8509" y="5445"/>
              <a:ext cx="2275" cy="2278"/>
            </a:xfrm>
            <a:prstGeom prst="ellipse">
              <a:avLst/>
            </a:prstGeom>
            <a:gradFill flip="none" rotWithShape="1">
              <a:gsLst>
                <a:gs pos="70000">
                  <a:srgbClr val="FFFFFF">
                    <a:alpha val="0"/>
                  </a:srgbClr>
                </a:gs>
                <a:gs pos="100000">
                  <a:srgbClr val="FFFFFF"/>
                </a:gs>
              </a:gsLst>
              <a:lin ang="2700000" scaled="1"/>
              <a:tileRect/>
            </a:gradFill>
            <a:ln w="19050">
              <a:gradFill flip="none" rotWithShape="1">
                <a:gsLst>
                  <a:gs pos="70000">
                    <a:srgbClr val="FFFFFF">
                      <a:alpha val="0"/>
                    </a:srgbClr>
                  </a:gs>
                  <a:gs pos="100000">
                    <a:srgbClr val="FFFF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362" name="椭圆 361"/>
            <p:cNvSpPr/>
            <p:nvPr/>
          </p:nvSpPr>
          <p:spPr>
            <a:xfrm rot="19518187">
              <a:off x="8844" y="5822"/>
              <a:ext cx="781" cy="496"/>
            </a:xfrm>
            <a:prstGeom prst="ellipse">
              <a:avLst/>
            </a:prstGeom>
            <a:gradFill flip="none" rotWithShape="1">
              <a:gsLst>
                <a:gs pos="0">
                  <a:srgbClr val="FFFFFF"/>
                </a:gs>
                <a:gs pos="100000">
                  <a:srgbClr val="E6E6E6"/>
                </a:gs>
              </a:gsLst>
              <a:path path="circle">
                <a:fillToRect l="50000" t="50000" r="50000" b="50000"/>
              </a:path>
              <a:tileRect/>
            </a:gradFill>
            <a:ln>
              <a:noFill/>
            </a:ln>
            <a:effectLst>
              <a:softEdge rad="127000"/>
            </a:effectLst>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363" name="显眼包PPT4"/>
            <p:cNvSpPr txBox="1"/>
            <p:nvPr>
              <p:custDataLst>
                <p:tags r:id="rId4"/>
              </p:custDataLst>
            </p:nvPr>
          </p:nvSpPr>
          <p:spPr>
            <a:xfrm>
              <a:off x="8839" y="6224"/>
              <a:ext cx="1600" cy="480"/>
            </a:xfrm>
            <a:prstGeom prst="rect">
              <a:avLst/>
            </a:prstGeom>
            <a:noFill/>
            <a:effectLst/>
          </p:spPr>
          <p:txBody>
            <a:bodyPr wrap="square" lIns="0" tIns="0" rIns="0" bIns="0" rtlCol="0">
              <a:spAutoFit/>
              <a:scene3d>
                <a:camera prst="orthographicFront"/>
                <a:lightRig rig="glow" dir="t"/>
              </a:scene3d>
              <a:sp3d>
                <a:bevelT w="0" h="0"/>
                <a:bevelB w="0" h="0"/>
              </a:sp3d>
            </a:bodyPr>
            <a:lstStyle/>
            <a:p>
              <a:pPr algn="ctr">
                <a:defRPr>
                  <a:latin typeface="微软雅黑"/>
                  <a:ea typeface="微软雅黑"/>
                  <a:cs typeface="微软雅黑"/>
                </a:defRPr>
              </a:pPr>
              <a:r>
                <a:rPr lang="zh-CN" altLang="en-US" sz="1200" b="1">
                  <a:gradFill flip="none" rotWithShape="1">
                    <a:gsLst>
                      <a:gs pos="69000">
                        <a:srgbClr val="0042FF"/>
                      </a:gs>
                      <a:gs pos="0">
                        <a:srgbClr val="0042FF"/>
                      </a:gs>
                    </a:gsLst>
                    <a:lin ang="5400000" scaled="1"/>
                    <a:tileRect/>
                  </a:gradFill>
                  <a:effectLst/>
                  <a:latin typeface="微软雅黑"/>
                  <a:ea typeface="微软雅黑"/>
                  <a:cs typeface="微软雅黑"/>
                  <a:sym typeface="微软雅黑"/>
                </a:rPr>
                <a:t>消费者</a:t>
              </a:r>
              <a:endParaRPr lang="zh-CN" altLang="en-US" sz="1200" b="1">
                <a:gradFill flip="none" rotWithShape="1">
                  <a:gsLst>
                    <a:gs pos="69000">
                      <a:srgbClr val="0042FF"/>
                    </a:gs>
                    <a:gs pos="0">
                      <a:srgbClr val="0042FF"/>
                    </a:gs>
                  </a:gsLst>
                  <a:lin ang="5400000" scaled="1"/>
                  <a:tileRect/>
                </a:gradFill>
                <a:effectLst/>
                <a:latin typeface="微软雅黑"/>
                <a:ea typeface="微软雅黑"/>
                <a:cs typeface="微软雅黑"/>
                <a:sym typeface="微软雅黑"/>
              </a:endParaRPr>
            </a:p>
          </p:txBody>
        </p:sp>
      </p:grpSp>
      <p:pic>
        <p:nvPicPr>
          <p:cNvPr id="367" name="图片 366" descr="加"/>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229995" y="4504055"/>
            <a:ext cx="232410" cy="232410"/>
          </a:xfrm>
          <a:prstGeom prst="rect">
            <a:avLst/>
          </a:prstGeom>
        </p:spPr>
      </p:pic>
      <p:pic>
        <p:nvPicPr>
          <p:cNvPr id="368" name="图片 367" descr="加"/>
          <p:cNvPicPr>
            <a:picLocks noChangeAspect="1"/>
          </p:cNvPicPr>
          <p:nvPr/>
        </p:nvPicPr>
        <p:blipFill>
          <a:blip r:embed="rId5">
            <a:extLst>
              <a:ext uri="{96DAC541-7B7A-43D3-8B79-37D633B846F1}">
                <asvg:svgBlip xmlns:asvg="http://schemas.microsoft.com/office/drawing/2016/SVG/main" r:embed="rId7"/>
              </a:ext>
            </a:extLst>
          </a:blip>
          <a:stretch>
            <a:fillRect/>
          </a:stretch>
        </p:blipFill>
        <p:spPr>
          <a:xfrm>
            <a:off x="1229995" y="3574415"/>
            <a:ext cx="232410" cy="232410"/>
          </a:xfrm>
          <a:prstGeom prst="rect">
            <a:avLst/>
          </a:prstGeom>
        </p:spPr>
      </p:pic>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sym typeface="微软雅黑"/>
              </a:rPr>
              <a:t>年度述职</a:t>
            </a:r>
            <a:r>
              <a:rPr lang="en-US" altLang="zh-CN" sz="2500">
                <a:solidFill>
                  <a:srgbClr val="383838"/>
                </a:solidFill>
                <a:effectLst/>
                <a:latin typeface="微软雅黑"/>
                <a:ea typeface="微软雅黑"/>
                <a:cs typeface="微软雅黑"/>
                <a:sym typeface="微软雅黑"/>
              </a:rPr>
              <a:t>-</a:t>
            </a:r>
            <a:r>
              <a:rPr sz="2500">
                <a:solidFill>
                  <a:srgbClr val="383838"/>
                </a:solidFill>
                <a:effectLst/>
                <a:latin typeface="微软雅黑"/>
                <a:ea typeface="微软雅黑"/>
                <a:cs typeface="微软雅黑"/>
                <a:sym typeface="微软雅黑"/>
              </a:rPr>
              <a:t>年度工作规划</a:t>
            </a:r>
            <a:endParaRPr sz="2500" b="0">
              <a:solidFill>
                <a:srgbClr val="383838"/>
              </a:solidFill>
              <a:effectLst/>
              <a:latin typeface="微软雅黑"/>
              <a:ea typeface="微软雅黑"/>
              <a:cs typeface="微软雅黑"/>
            </a:endParaRPr>
          </a:p>
        </p:txBody>
      </p:sp>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1"/>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602" name="矩形: 圆角 12"/>
          <p:cNvSpPr/>
          <p:nvPr/>
        </p:nvSpPr>
        <p:spPr>
          <a:xfrm>
            <a:off x="2051458" y="1158257"/>
            <a:ext cx="9777553" cy="825818"/>
          </a:xfrm>
          <a:prstGeom prst="roundRect">
            <a:avLst>
              <a:gd name="adj" fmla="val 0"/>
            </a:avLst>
          </a:prstGeom>
          <a:solidFill>
            <a:srgbClr val="FFFFFF">
              <a:alpha val="50000"/>
            </a:srgbClr>
          </a:solidFill>
          <a:ln w="1143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599" name="矩形: 圆角 37"/>
          <p:cNvSpPr/>
          <p:nvPr/>
        </p:nvSpPr>
        <p:spPr>
          <a:xfrm>
            <a:off x="386703" y="1158252"/>
            <a:ext cx="2089700" cy="825817"/>
          </a:xfrm>
          <a:prstGeom prst="roundRect">
            <a:avLst>
              <a:gd name="adj" fmla="val 0"/>
            </a:avLst>
          </a:prstGeom>
          <a:gradFill>
            <a:gsLst>
              <a:gs pos="0">
                <a:srgbClr val="B3D4FE"/>
              </a:gs>
              <a:gs pos="100000">
                <a:srgbClr val="3368FF"/>
              </a:gs>
            </a:gsLst>
            <a:lin ang="5400000" scaled="0"/>
          </a:gra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dirty="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507" name="矩形 506"/>
          <p:cNvSpPr/>
          <p:nvPr/>
        </p:nvSpPr>
        <p:spPr>
          <a:xfrm>
            <a:off x="958215" y="4485005"/>
            <a:ext cx="10281920" cy="523875"/>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508" name="TextBox 50"/>
          <p:cNvSpPr txBox="1"/>
          <p:nvPr/>
        </p:nvSpPr>
        <p:spPr>
          <a:xfrm>
            <a:off x="4965065" y="4589780"/>
            <a:ext cx="2261870" cy="369570"/>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中游生产与质量控制</a:t>
            </a:r>
            <a:endParaRPr kumimoji="0" lang="zh-CN" altLang="en-US"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09" name="梯形 508"/>
          <p:cNvSpPr/>
          <p:nvPr/>
        </p:nvSpPr>
        <p:spPr>
          <a:xfrm>
            <a:off x="958215" y="3961130"/>
            <a:ext cx="10281920" cy="523875"/>
          </a:xfrm>
          <a:prstGeom prst="trapezoid">
            <a:avLst>
              <a:gd name="adj" fmla="val 234692"/>
            </a:avLst>
          </a:prstGeom>
          <a:gradFill>
            <a:gsLst>
              <a:gs pos="0">
                <a:srgbClr val="3368FF">
                  <a:alpha val="0"/>
                </a:srgbClr>
              </a:gs>
              <a:gs pos="100000">
                <a:srgbClr val="3368FF">
                  <a:alpha val="5000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grpSp>
        <p:nvGrpSpPr>
          <p:cNvPr id="553" name="组合 552"/>
          <p:cNvGrpSpPr/>
          <p:nvPr/>
        </p:nvGrpSpPr>
        <p:grpSpPr>
          <a:xfrm rot="0">
            <a:off x="1241425" y="3915410"/>
            <a:ext cx="1062990" cy="389890"/>
            <a:chOff x="1146872" y="3922183"/>
            <a:chExt cx="1063071" cy="390133"/>
          </a:xfrm>
        </p:grpSpPr>
        <p:sp>
          <p:nvSpPr>
            <p:cNvPr id="510" name="圆角矩形 509"/>
            <p:cNvSpPr/>
            <p:nvPr/>
          </p:nvSpPr>
          <p:spPr>
            <a:xfrm>
              <a:off x="1146872" y="3922183"/>
              <a:ext cx="1063071" cy="390133"/>
            </a:xfrm>
            <a:prstGeom prst="roundRect">
              <a:avLst>
                <a:gd name="adj" fmla="val 50000"/>
              </a:avLst>
            </a:prstGeom>
            <a:solidFill>
              <a:srgbClr val="FFFFFF"/>
            </a:solidFill>
            <a:ln w="12700" cap="flat" cmpd="sng" algn="ctr">
              <a:solidFill>
                <a:srgbClr val="3368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11" name="文本框 510"/>
            <p:cNvSpPr txBox="1"/>
            <p:nvPr/>
          </p:nvSpPr>
          <p:spPr>
            <a:xfrm>
              <a:off x="1370630" y="4024916"/>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机械制造</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52" name="组合 551"/>
          <p:cNvGrpSpPr/>
          <p:nvPr/>
        </p:nvGrpSpPr>
        <p:grpSpPr>
          <a:xfrm rot="0">
            <a:off x="2476500" y="3915410"/>
            <a:ext cx="1062990" cy="389890"/>
            <a:chOff x="2366072" y="3922183"/>
            <a:chExt cx="1063071" cy="390133"/>
          </a:xfrm>
        </p:grpSpPr>
        <p:sp>
          <p:nvSpPr>
            <p:cNvPr id="512" name="圆角矩形 511"/>
            <p:cNvSpPr/>
            <p:nvPr/>
          </p:nvSpPr>
          <p:spPr>
            <a:xfrm>
              <a:off x="2366072" y="3922183"/>
              <a:ext cx="1063071" cy="390133"/>
            </a:xfrm>
            <a:prstGeom prst="roundRect">
              <a:avLst>
                <a:gd name="adj" fmla="val 50000"/>
              </a:avLst>
            </a:prstGeom>
            <a:solidFill>
              <a:srgbClr val="FFFFFF"/>
            </a:solidFill>
            <a:ln w="12700" cap="flat" cmpd="sng" algn="ctr">
              <a:solidFill>
                <a:srgbClr val="3368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13" name="文本框 512"/>
            <p:cNvSpPr txBox="1"/>
            <p:nvPr/>
          </p:nvSpPr>
          <p:spPr>
            <a:xfrm>
              <a:off x="2589830" y="4024916"/>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生产工艺</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51" name="组合 550"/>
          <p:cNvGrpSpPr/>
          <p:nvPr/>
        </p:nvGrpSpPr>
        <p:grpSpPr>
          <a:xfrm rot="0">
            <a:off x="3712210" y="3915410"/>
            <a:ext cx="1062990" cy="389890"/>
            <a:chOff x="3585078" y="3922183"/>
            <a:chExt cx="1063071" cy="390133"/>
          </a:xfrm>
        </p:grpSpPr>
        <p:sp>
          <p:nvSpPr>
            <p:cNvPr id="514" name="圆角矩形 513"/>
            <p:cNvSpPr/>
            <p:nvPr/>
          </p:nvSpPr>
          <p:spPr>
            <a:xfrm>
              <a:off x="3585078" y="3922183"/>
              <a:ext cx="1063071" cy="390133"/>
            </a:xfrm>
            <a:prstGeom prst="roundRect">
              <a:avLst>
                <a:gd name="adj" fmla="val 50000"/>
              </a:avLst>
            </a:prstGeom>
            <a:solidFill>
              <a:srgbClr val="FFFFFF"/>
            </a:solidFill>
            <a:ln w="12700" cap="flat" cmpd="sng" algn="ctr">
              <a:solidFill>
                <a:srgbClr val="3368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15" name="文本框 514"/>
            <p:cNvSpPr txBox="1"/>
            <p:nvPr/>
          </p:nvSpPr>
          <p:spPr>
            <a:xfrm>
              <a:off x="3808836" y="4024916"/>
              <a:ext cx="615553"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质量认证</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50" name="组合 549"/>
          <p:cNvGrpSpPr/>
          <p:nvPr/>
        </p:nvGrpSpPr>
        <p:grpSpPr>
          <a:xfrm rot="0">
            <a:off x="4947285" y="3915410"/>
            <a:ext cx="1062990" cy="389890"/>
            <a:chOff x="4804278" y="3922183"/>
            <a:chExt cx="1063071" cy="390133"/>
          </a:xfrm>
        </p:grpSpPr>
        <p:sp>
          <p:nvSpPr>
            <p:cNvPr id="516" name="圆角矩形 515"/>
            <p:cNvSpPr/>
            <p:nvPr/>
          </p:nvSpPr>
          <p:spPr>
            <a:xfrm>
              <a:off x="4804278" y="3922183"/>
              <a:ext cx="1063071" cy="390133"/>
            </a:xfrm>
            <a:prstGeom prst="roundRect">
              <a:avLst>
                <a:gd name="adj" fmla="val 50000"/>
              </a:avLst>
            </a:prstGeom>
            <a:solidFill>
              <a:srgbClr val="FFFFFF"/>
            </a:solidFill>
            <a:ln w="12700" cap="flat" cmpd="sng" algn="ctr">
              <a:solidFill>
                <a:srgbClr val="3368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17" name="文本框 516"/>
            <p:cNvSpPr txBox="1"/>
            <p:nvPr/>
          </p:nvSpPr>
          <p:spPr>
            <a:xfrm>
              <a:off x="4951093" y="4024916"/>
              <a:ext cx="769441"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半成品加工</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49" name="组合 548"/>
          <p:cNvGrpSpPr/>
          <p:nvPr/>
        </p:nvGrpSpPr>
        <p:grpSpPr>
          <a:xfrm rot="0">
            <a:off x="6182360" y="3915410"/>
            <a:ext cx="1062990" cy="389890"/>
            <a:chOff x="6054977" y="3922183"/>
            <a:chExt cx="1063071" cy="390133"/>
          </a:xfrm>
        </p:grpSpPr>
        <p:sp>
          <p:nvSpPr>
            <p:cNvPr id="518" name="圆角矩形 517"/>
            <p:cNvSpPr/>
            <p:nvPr/>
          </p:nvSpPr>
          <p:spPr>
            <a:xfrm>
              <a:off x="6054977" y="3922183"/>
              <a:ext cx="1063071" cy="390133"/>
            </a:xfrm>
            <a:prstGeom prst="roundRect">
              <a:avLst>
                <a:gd name="adj" fmla="val 50000"/>
              </a:avLst>
            </a:prstGeom>
            <a:solidFill>
              <a:srgbClr val="FFFFFF"/>
            </a:solidFill>
            <a:ln w="12700" cap="flat" cmpd="sng" algn="ctr">
              <a:solidFill>
                <a:srgbClr val="3368FF">
                  <a:alpha val="50000"/>
                </a:srgbClr>
              </a:solidFill>
              <a:prstDash val="solid"/>
              <a:miter lim="800000"/>
            </a:ln>
            <a:effectLst>
              <a:reflection blurRad="6350" stA="19881" endPos="35000" dir="5400000" sy="-100000" algn="bl" rotWithShape="0"/>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519" name="文本框 518"/>
            <p:cNvSpPr txBox="1"/>
            <p:nvPr/>
          </p:nvSpPr>
          <p:spPr>
            <a:xfrm>
              <a:off x="6278735" y="4024916"/>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在线监测</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48" name="组合 547"/>
          <p:cNvGrpSpPr/>
          <p:nvPr/>
        </p:nvGrpSpPr>
        <p:grpSpPr>
          <a:xfrm rot="0">
            <a:off x="7417435" y="3915410"/>
            <a:ext cx="1062990" cy="389890"/>
            <a:chOff x="7308938" y="3922183"/>
            <a:chExt cx="1063071" cy="390133"/>
          </a:xfrm>
        </p:grpSpPr>
        <p:sp>
          <p:nvSpPr>
            <p:cNvPr id="520" name="圆角矩形 519"/>
            <p:cNvSpPr/>
            <p:nvPr/>
          </p:nvSpPr>
          <p:spPr>
            <a:xfrm>
              <a:off x="7308938" y="3922183"/>
              <a:ext cx="1063071" cy="390133"/>
            </a:xfrm>
            <a:prstGeom prst="roundRect">
              <a:avLst>
                <a:gd name="adj" fmla="val 50000"/>
              </a:avLst>
            </a:prstGeom>
            <a:solidFill>
              <a:srgbClr val="FFFFFF"/>
            </a:solidFill>
            <a:ln w="12700" cap="flat" cmpd="sng" algn="ctr">
              <a:solidFill>
                <a:srgbClr val="3368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21" name="文本框 520"/>
            <p:cNvSpPr txBox="1"/>
            <p:nvPr/>
          </p:nvSpPr>
          <p:spPr>
            <a:xfrm>
              <a:off x="7532696" y="4024916"/>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生产安全</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47" name="组合 546"/>
          <p:cNvGrpSpPr/>
          <p:nvPr/>
        </p:nvGrpSpPr>
        <p:grpSpPr>
          <a:xfrm rot="0">
            <a:off x="8653145" y="3915410"/>
            <a:ext cx="1062990" cy="389890"/>
            <a:chOff x="8508932" y="3922183"/>
            <a:chExt cx="1063071" cy="390133"/>
          </a:xfrm>
        </p:grpSpPr>
        <p:sp>
          <p:nvSpPr>
            <p:cNvPr id="522" name="圆角矩形 521"/>
            <p:cNvSpPr/>
            <p:nvPr/>
          </p:nvSpPr>
          <p:spPr>
            <a:xfrm>
              <a:off x="8508932" y="3922183"/>
              <a:ext cx="1063071" cy="390133"/>
            </a:xfrm>
            <a:prstGeom prst="roundRect">
              <a:avLst>
                <a:gd name="adj" fmla="val 50000"/>
              </a:avLst>
            </a:prstGeom>
            <a:solidFill>
              <a:srgbClr val="FFFFFF"/>
            </a:solidFill>
            <a:ln w="12700" cap="flat" cmpd="sng" algn="ctr">
              <a:solidFill>
                <a:srgbClr val="3368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23" name="文本框 522"/>
            <p:cNvSpPr txBox="1"/>
            <p:nvPr/>
          </p:nvSpPr>
          <p:spPr>
            <a:xfrm>
              <a:off x="8655747" y="4024916"/>
              <a:ext cx="769441"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生产自动化</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46" name="组合 545"/>
          <p:cNvGrpSpPr/>
          <p:nvPr/>
        </p:nvGrpSpPr>
        <p:grpSpPr>
          <a:xfrm rot="0">
            <a:off x="9888220" y="3915410"/>
            <a:ext cx="1062990" cy="389890"/>
            <a:chOff x="9793446" y="3922183"/>
            <a:chExt cx="1063071" cy="390133"/>
          </a:xfrm>
        </p:grpSpPr>
        <p:sp>
          <p:nvSpPr>
            <p:cNvPr id="524" name="圆角矩形 523"/>
            <p:cNvSpPr/>
            <p:nvPr/>
          </p:nvSpPr>
          <p:spPr>
            <a:xfrm>
              <a:off x="9793446" y="3922183"/>
              <a:ext cx="1063071" cy="390133"/>
            </a:xfrm>
            <a:prstGeom prst="roundRect">
              <a:avLst>
                <a:gd name="adj" fmla="val 50000"/>
              </a:avLst>
            </a:prstGeom>
            <a:solidFill>
              <a:srgbClr val="FFFFFF"/>
            </a:solidFill>
            <a:ln w="12700" cap="flat" cmpd="sng" algn="ctr">
              <a:solidFill>
                <a:srgbClr val="3368FF">
                  <a:alpha val="19706"/>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25" name="文本框 524"/>
            <p:cNvSpPr txBox="1"/>
            <p:nvPr/>
          </p:nvSpPr>
          <p:spPr>
            <a:xfrm>
              <a:off x="10017204" y="4024916"/>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人员培训</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545" name="TextBox 3"/>
          <p:cNvSpPr txBox="1"/>
          <p:nvPr/>
        </p:nvSpPr>
        <p:spPr>
          <a:xfrm>
            <a:off x="2737442" y="1300240"/>
            <a:ext cx="8731212" cy="540982"/>
          </a:xfrm>
          <a:prstGeom prst="rect">
            <a:avLst/>
          </a:prstGeom>
          <a:noFill/>
        </p:spPr>
        <p:txBody>
          <a:bodyPr wrap="square" rtlCol="0" lIns="0" rIns="0" tIns="0" bIns="0">
            <a:spAutoFit/>
          </a:bodyPr>
          <a:lstStyle/>
          <a:p>
            <a:pPr defTabSz="1827530">
              <a:lnSpc>
                <a:spcPct val="125000"/>
              </a:lnSpc>
              <a:defRPr>
                <a:latin typeface="微软雅黑"/>
                <a:ea typeface="微软雅黑"/>
                <a:cs typeface="微软雅黑"/>
              </a:defRPr>
            </a:pPr>
            <a:r>
              <a:rPr lang="zh-CN" altLang="en-US" sz="1200" spc="-60" dirty="0">
                <a:solidFill>
                  <a:srgbClr val="383838">
                    <a:alpha val="65000"/>
                  </a:srgbClr>
                </a:solidFill>
                <a:latin typeface="微软雅黑"/>
                <a:ea typeface="微软雅黑"/>
                <a:cs typeface="微软雅黑"/>
              </a:rPr>
              <a:t>通过对上游供应商、中游生产与质量控制以及下游销售与客户服务的全面规划，采购部门将能够更好地服务于公司整体战略，确保采购活动的顺利进行，为公司的发展提供有力支持。同时，与各行业的合作与整合也将为公司带来更多的商业机会和发展空间</a:t>
            </a:r>
            <a:endParaRPr lang="zh-CN" altLang="en-US" sz="1200" spc="-60" dirty="0">
              <a:solidFill>
                <a:srgbClr val="383838">
                  <a:alpha val="65000"/>
                </a:srgbClr>
              </a:solidFill>
              <a:latin typeface="微软雅黑"/>
              <a:ea typeface="微软雅黑"/>
              <a:cs typeface="微软雅黑"/>
            </a:endParaRPr>
          </a:p>
        </p:txBody>
      </p:sp>
      <p:sp>
        <p:nvSpPr>
          <p:cNvPr id="28" name="矩形 27"/>
          <p:cNvSpPr/>
          <p:nvPr/>
        </p:nvSpPr>
        <p:spPr>
          <a:xfrm>
            <a:off x="368935" y="5987415"/>
            <a:ext cx="11459845" cy="523875"/>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29" name="TextBox 50"/>
          <p:cNvSpPr txBox="1"/>
          <p:nvPr/>
        </p:nvSpPr>
        <p:spPr>
          <a:xfrm>
            <a:off x="4965065" y="6092825"/>
            <a:ext cx="2261870" cy="369570"/>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b="0" i="0" u="none" strike="noStrike" kern="1200" cap="none" spc="0" normalizeH="0" baseline="0" noProof="0" dirty="0">
                <a:ln>
                  <a:noFill/>
                </a:ln>
                <a:solidFill>
                  <a:srgbClr val="FFFFFF"/>
                </a:solidFill>
                <a:effectLst/>
                <a:uLnTx/>
                <a:uFillTx/>
                <a:latin typeface="微软雅黑"/>
                <a:ea typeface="微软雅黑"/>
                <a:cs typeface="微软雅黑"/>
              </a:rPr>
              <a:t>下游销售与客户服务</a:t>
            </a:r>
            <a:endParaRPr kumimoji="0" lang="zh-CN" altLang="en-US"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0" name="梯形 29"/>
          <p:cNvSpPr/>
          <p:nvPr/>
        </p:nvSpPr>
        <p:spPr>
          <a:xfrm>
            <a:off x="368935" y="5463540"/>
            <a:ext cx="11459845" cy="523875"/>
          </a:xfrm>
          <a:prstGeom prst="trapezoid">
            <a:avLst>
              <a:gd name="adj" fmla="val 234692"/>
            </a:avLst>
          </a:prstGeom>
          <a:gradFill>
            <a:gsLst>
              <a:gs pos="0">
                <a:srgbClr val="0042FF">
                  <a:alpha val="0"/>
                </a:srgbClr>
              </a:gs>
              <a:gs pos="100000">
                <a:srgbClr val="0042FF">
                  <a:alpha val="5000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grpSp>
        <p:nvGrpSpPr>
          <p:cNvPr id="566" name="组合 565"/>
          <p:cNvGrpSpPr/>
          <p:nvPr/>
        </p:nvGrpSpPr>
        <p:grpSpPr>
          <a:xfrm rot="0">
            <a:off x="723265" y="5417820"/>
            <a:ext cx="10745470" cy="389890"/>
            <a:chOff x="730188" y="5460019"/>
            <a:chExt cx="10745308" cy="390133"/>
          </a:xfrm>
        </p:grpSpPr>
        <p:grpSp>
          <p:nvGrpSpPr>
            <p:cNvPr id="555" name="组合 554"/>
            <p:cNvGrpSpPr/>
            <p:nvPr/>
          </p:nvGrpSpPr>
          <p:grpSpPr>
            <a:xfrm>
              <a:off x="730188" y="5460019"/>
              <a:ext cx="1063071" cy="390133"/>
              <a:chOff x="1146872" y="5460019"/>
              <a:chExt cx="1063071" cy="390133"/>
            </a:xfrm>
          </p:grpSpPr>
          <p:sp>
            <p:nvSpPr>
              <p:cNvPr id="486" name="圆角矩形 485"/>
              <p:cNvSpPr/>
              <p:nvPr/>
            </p:nvSpPr>
            <p:spPr>
              <a:xfrm>
                <a:off x="1146872"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487" name="文本框 486"/>
              <p:cNvSpPr txBox="1"/>
              <p:nvPr/>
            </p:nvSpPr>
            <p:spPr>
              <a:xfrm>
                <a:off x="1293687" y="5562752"/>
                <a:ext cx="769441"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分销与零售</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56" name="组合 555"/>
            <p:cNvGrpSpPr/>
            <p:nvPr/>
          </p:nvGrpSpPr>
          <p:grpSpPr>
            <a:xfrm>
              <a:off x="1940468" y="5460019"/>
              <a:ext cx="1063071" cy="390133"/>
              <a:chOff x="2366072" y="5460019"/>
              <a:chExt cx="1063071" cy="390133"/>
            </a:xfrm>
          </p:grpSpPr>
          <p:sp>
            <p:nvSpPr>
              <p:cNvPr id="493" name="圆角矩形 492"/>
              <p:cNvSpPr/>
              <p:nvPr/>
            </p:nvSpPr>
            <p:spPr>
              <a:xfrm>
                <a:off x="2366072"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494" name="文本框 493"/>
              <p:cNvSpPr txBox="1"/>
              <p:nvPr/>
            </p:nvSpPr>
            <p:spPr>
              <a:xfrm>
                <a:off x="2589830"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电商平台</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57" name="组合 556"/>
            <p:cNvGrpSpPr/>
            <p:nvPr/>
          </p:nvGrpSpPr>
          <p:grpSpPr>
            <a:xfrm>
              <a:off x="3150748" y="5460019"/>
              <a:ext cx="1063071" cy="390133"/>
              <a:chOff x="3585078" y="5460019"/>
              <a:chExt cx="1063071" cy="390133"/>
            </a:xfrm>
          </p:grpSpPr>
          <p:sp>
            <p:nvSpPr>
              <p:cNvPr id="495" name="圆角矩形 494"/>
              <p:cNvSpPr/>
              <p:nvPr/>
            </p:nvSpPr>
            <p:spPr>
              <a:xfrm>
                <a:off x="3585078"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496" name="文本框 495"/>
              <p:cNvSpPr txBox="1"/>
              <p:nvPr/>
            </p:nvSpPr>
            <p:spPr>
              <a:xfrm>
                <a:off x="3808836"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广告服务</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58" name="组合 557"/>
            <p:cNvGrpSpPr/>
            <p:nvPr/>
          </p:nvGrpSpPr>
          <p:grpSpPr>
            <a:xfrm>
              <a:off x="4361028" y="5460019"/>
              <a:ext cx="1063071" cy="390133"/>
              <a:chOff x="4804278" y="5460019"/>
              <a:chExt cx="1063071" cy="390133"/>
            </a:xfrm>
          </p:grpSpPr>
          <p:sp>
            <p:nvSpPr>
              <p:cNvPr id="497" name="圆角矩形 496"/>
              <p:cNvSpPr/>
              <p:nvPr/>
            </p:nvSpPr>
            <p:spPr>
              <a:xfrm>
                <a:off x="4804278"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498" name="文本框 497"/>
              <p:cNvSpPr txBox="1"/>
              <p:nvPr/>
            </p:nvSpPr>
            <p:spPr>
              <a:xfrm>
                <a:off x="5028036"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市场调研</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59" name="组合 558"/>
            <p:cNvGrpSpPr/>
            <p:nvPr/>
          </p:nvGrpSpPr>
          <p:grpSpPr>
            <a:xfrm>
              <a:off x="5571308" y="5460019"/>
              <a:ext cx="1063071" cy="390133"/>
              <a:chOff x="6054977" y="5460019"/>
              <a:chExt cx="1063071" cy="390133"/>
            </a:xfrm>
          </p:grpSpPr>
          <p:sp>
            <p:nvSpPr>
              <p:cNvPr id="499" name="圆角矩形 498"/>
              <p:cNvSpPr/>
              <p:nvPr/>
            </p:nvSpPr>
            <p:spPr>
              <a:xfrm>
                <a:off x="6054977"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00" name="文本框 499"/>
              <p:cNvSpPr txBox="1"/>
              <p:nvPr/>
            </p:nvSpPr>
            <p:spPr>
              <a:xfrm>
                <a:off x="6278735"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客户服务</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60" name="组合 559"/>
            <p:cNvGrpSpPr/>
            <p:nvPr/>
          </p:nvGrpSpPr>
          <p:grpSpPr>
            <a:xfrm>
              <a:off x="6781588" y="5460019"/>
              <a:ext cx="1063071" cy="390133"/>
              <a:chOff x="7308938" y="5460019"/>
              <a:chExt cx="1063071" cy="390133"/>
            </a:xfrm>
          </p:grpSpPr>
          <p:sp>
            <p:nvSpPr>
              <p:cNvPr id="501" name="圆角矩形 500"/>
              <p:cNvSpPr/>
              <p:nvPr/>
            </p:nvSpPr>
            <p:spPr>
              <a:xfrm>
                <a:off x="7308938"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02" name="文本框 501"/>
              <p:cNvSpPr txBox="1"/>
              <p:nvPr/>
            </p:nvSpPr>
            <p:spPr>
              <a:xfrm>
                <a:off x="7532696"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渠道管理</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61" name="组合 560"/>
            <p:cNvGrpSpPr/>
            <p:nvPr/>
          </p:nvGrpSpPr>
          <p:grpSpPr>
            <a:xfrm>
              <a:off x="7991868" y="5460019"/>
              <a:ext cx="1063071" cy="390133"/>
              <a:chOff x="8508932" y="5460019"/>
              <a:chExt cx="1063071" cy="390133"/>
            </a:xfrm>
          </p:grpSpPr>
          <p:sp>
            <p:nvSpPr>
              <p:cNvPr id="503" name="圆角矩形 502"/>
              <p:cNvSpPr/>
              <p:nvPr/>
            </p:nvSpPr>
            <p:spPr>
              <a:xfrm>
                <a:off x="8508932"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04" name="文本框 503"/>
              <p:cNvSpPr txBox="1"/>
              <p:nvPr/>
            </p:nvSpPr>
            <p:spPr>
              <a:xfrm>
                <a:off x="8732690"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竞争分析</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62" name="组合 561"/>
            <p:cNvGrpSpPr/>
            <p:nvPr/>
          </p:nvGrpSpPr>
          <p:grpSpPr>
            <a:xfrm>
              <a:off x="9202148" y="5460019"/>
              <a:ext cx="1063071" cy="390133"/>
              <a:chOff x="9793446" y="5460019"/>
              <a:chExt cx="1063071" cy="390133"/>
            </a:xfrm>
          </p:grpSpPr>
          <p:sp>
            <p:nvSpPr>
              <p:cNvPr id="505" name="圆角矩形 504"/>
              <p:cNvSpPr/>
              <p:nvPr/>
            </p:nvSpPr>
            <p:spPr>
              <a:xfrm>
                <a:off x="9793446"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06" name="文本框 505"/>
              <p:cNvSpPr txBox="1"/>
              <p:nvPr/>
            </p:nvSpPr>
            <p:spPr>
              <a:xfrm>
                <a:off x="10017204"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客户关系</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63" name="组合 562"/>
            <p:cNvGrpSpPr/>
            <p:nvPr/>
          </p:nvGrpSpPr>
          <p:grpSpPr>
            <a:xfrm>
              <a:off x="10412425" y="5460019"/>
              <a:ext cx="1063071" cy="390133"/>
              <a:chOff x="9793446" y="5460019"/>
              <a:chExt cx="1063071" cy="390133"/>
            </a:xfrm>
          </p:grpSpPr>
          <p:sp>
            <p:nvSpPr>
              <p:cNvPr id="564" name="圆角矩形 563"/>
              <p:cNvSpPr/>
              <p:nvPr/>
            </p:nvSpPr>
            <p:spPr>
              <a:xfrm>
                <a:off x="9793446" y="5460019"/>
                <a:ext cx="1063071" cy="390133"/>
              </a:xfrm>
              <a:prstGeom prst="roundRect">
                <a:avLst>
                  <a:gd name="adj" fmla="val 50000"/>
                </a:avLst>
              </a:prstGeom>
              <a:solidFill>
                <a:srgbClr val="FFFFFF"/>
              </a:solidFill>
              <a:ln w="12700" cap="flat" cmpd="sng" algn="ctr">
                <a:solidFill>
                  <a:srgbClr val="0042FF">
                    <a:alpha val="50000"/>
                  </a:srgbClr>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65" name="文本框 564"/>
              <p:cNvSpPr txBox="1"/>
              <p:nvPr/>
            </p:nvSpPr>
            <p:spPr>
              <a:xfrm>
                <a:off x="10017204" y="5562752"/>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销售培训</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sp>
        <p:nvSpPr>
          <p:cNvPr id="526" name="矩形 525"/>
          <p:cNvSpPr/>
          <p:nvPr/>
        </p:nvSpPr>
        <p:spPr>
          <a:xfrm>
            <a:off x="1471112" y="2982360"/>
            <a:ext cx="9255952" cy="524012"/>
          </a:xfrm>
          <a:prstGeom prst="rect">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527" name="TextBox 50"/>
          <p:cNvSpPr txBox="1"/>
          <p:nvPr/>
        </p:nvSpPr>
        <p:spPr>
          <a:xfrm>
            <a:off x="5195760" y="3087516"/>
            <a:ext cx="1800493"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b="0" i="0" u="none" strike="noStrike" kern="1200" cap="none" spc="0" normalizeH="0" baseline="0" noProof="0" dirty="0">
                <a:ln>
                  <a:noFill/>
                </a:ln>
                <a:solidFill>
                  <a:srgbClr val="383838"/>
                </a:solidFill>
                <a:effectLst/>
                <a:uLnTx/>
                <a:uFillTx/>
                <a:latin typeface="微软雅黑"/>
                <a:ea typeface="微软雅黑"/>
                <a:cs typeface="微软雅黑"/>
              </a:rPr>
              <a:t>上游供应商管理</a:t>
            </a:r>
            <a:endParaRPr kumimoji="0" lang="zh-CN" altLang="en-US"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28" name="梯形 527"/>
          <p:cNvSpPr/>
          <p:nvPr/>
        </p:nvSpPr>
        <p:spPr>
          <a:xfrm>
            <a:off x="1471112" y="2458337"/>
            <a:ext cx="9255952" cy="524012"/>
          </a:xfrm>
          <a:prstGeom prst="trapezoid">
            <a:avLst>
              <a:gd name="adj" fmla="val 234692"/>
            </a:avLst>
          </a:prstGeom>
          <a:gradFill>
            <a:gsLst>
              <a:gs pos="0">
                <a:srgbClr val="668EFF">
                  <a:alpha val="0"/>
                </a:srgbClr>
              </a:gs>
              <a:gs pos="100000">
                <a:srgbClr val="668EFF">
                  <a:alpha val="5000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grpSp>
        <p:nvGrpSpPr>
          <p:cNvPr id="572" name="组合 571"/>
          <p:cNvGrpSpPr/>
          <p:nvPr/>
        </p:nvGrpSpPr>
        <p:grpSpPr>
          <a:xfrm>
            <a:off x="1931573" y="2354877"/>
            <a:ext cx="1063071" cy="390133"/>
            <a:chOff x="1834536" y="2354877"/>
            <a:chExt cx="1063071" cy="390133"/>
          </a:xfrm>
        </p:grpSpPr>
        <p:sp>
          <p:nvSpPr>
            <p:cNvPr id="531" name="圆角矩形 530"/>
            <p:cNvSpPr/>
            <p:nvPr/>
          </p:nvSpPr>
          <p:spPr>
            <a:xfrm>
              <a:off x="1834536" y="2354877"/>
              <a:ext cx="1063071" cy="390133"/>
            </a:xfrm>
            <a:prstGeom prst="roundRect">
              <a:avLst>
                <a:gd name="adj" fmla="val 50000"/>
              </a:avLst>
            </a:prstGeom>
            <a:solidFill>
              <a:srgbClr val="FFFFFF"/>
            </a:solidFill>
            <a:ln w="12700" cap="flat" cmpd="sng" algn="ctr">
              <a:solidFill>
                <a:srgbClr val="E6E6E6"/>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32" name="文本框 531"/>
            <p:cNvSpPr txBox="1"/>
            <p:nvPr/>
          </p:nvSpPr>
          <p:spPr>
            <a:xfrm>
              <a:off x="1981351" y="2457610"/>
              <a:ext cx="769441"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原材料供应</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71" name="组合 570"/>
          <p:cNvGrpSpPr/>
          <p:nvPr/>
        </p:nvGrpSpPr>
        <p:grpSpPr>
          <a:xfrm>
            <a:off x="3142537" y="2354877"/>
            <a:ext cx="1063071" cy="390133"/>
            <a:chOff x="3053542" y="2354877"/>
            <a:chExt cx="1063071" cy="390133"/>
          </a:xfrm>
        </p:grpSpPr>
        <p:sp>
          <p:nvSpPr>
            <p:cNvPr id="533" name="圆角矩形 532"/>
            <p:cNvSpPr/>
            <p:nvPr/>
          </p:nvSpPr>
          <p:spPr>
            <a:xfrm>
              <a:off x="3053542" y="2354877"/>
              <a:ext cx="1063071" cy="390133"/>
            </a:xfrm>
            <a:prstGeom prst="roundRect">
              <a:avLst>
                <a:gd name="adj" fmla="val 50000"/>
              </a:avLst>
            </a:prstGeom>
            <a:solidFill>
              <a:srgbClr val="FFFFFF"/>
            </a:solidFill>
            <a:ln w="12700" cap="flat" cmpd="sng" algn="ctr">
              <a:solidFill>
                <a:srgbClr val="E6E6E6"/>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34" name="文本框 533"/>
            <p:cNvSpPr txBox="1"/>
            <p:nvPr/>
          </p:nvSpPr>
          <p:spPr>
            <a:xfrm>
              <a:off x="3200356" y="2457610"/>
              <a:ext cx="769441"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零部件组件</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70" name="组合 569"/>
          <p:cNvGrpSpPr/>
          <p:nvPr/>
        </p:nvGrpSpPr>
        <p:grpSpPr>
          <a:xfrm>
            <a:off x="4353501" y="2354877"/>
            <a:ext cx="1063071" cy="390133"/>
            <a:chOff x="4272742" y="2354877"/>
            <a:chExt cx="1063071" cy="390133"/>
          </a:xfrm>
        </p:grpSpPr>
        <p:sp>
          <p:nvSpPr>
            <p:cNvPr id="535" name="圆角矩形 534"/>
            <p:cNvSpPr/>
            <p:nvPr/>
          </p:nvSpPr>
          <p:spPr>
            <a:xfrm>
              <a:off x="4272742" y="2354877"/>
              <a:ext cx="1063071" cy="390133"/>
            </a:xfrm>
            <a:prstGeom prst="roundRect">
              <a:avLst>
                <a:gd name="adj" fmla="val 50000"/>
              </a:avLst>
            </a:prstGeom>
            <a:solidFill>
              <a:srgbClr val="FFFFFF"/>
            </a:solidFill>
            <a:ln w="12700" cap="flat" cmpd="sng" algn="ctr">
              <a:solidFill>
                <a:srgbClr val="E6E6E6"/>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36" name="文本框 535"/>
            <p:cNvSpPr txBox="1"/>
            <p:nvPr/>
          </p:nvSpPr>
          <p:spPr>
            <a:xfrm>
              <a:off x="4496500" y="2457610"/>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包装材料</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68" name="组合 567"/>
          <p:cNvGrpSpPr/>
          <p:nvPr/>
        </p:nvGrpSpPr>
        <p:grpSpPr>
          <a:xfrm>
            <a:off x="5564465" y="2354877"/>
            <a:ext cx="1063071" cy="390133"/>
            <a:chOff x="5523441" y="2354877"/>
            <a:chExt cx="1063071" cy="390133"/>
          </a:xfrm>
        </p:grpSpPr>
        <p:sp>
          <p:nvSpPr>
            <p:cNvPr id="537" name="圆角矩形 536"/>
            <p:cNvSpPr/>
            <p:nvPr/>
          </p:nvSpPr>
          <p:spPr>
            <a:xfrm>
              <a:off x="5523441" y="2354877"/>
              <a:ext cx="1063071" cy="390133"/>
            </a:xfrm>
            <a:prstGeom prst="roundRect">
              <a:avLst>
                <a:gd name="adj" fmla="val 50000"/>
              </a:avLst>
            </a:prstGeom>
            <a:solidFill>
              <a:srgbClr val="FFFFFF"/>
            </a:solidFill>
            <a:ln w="12700" cap="flat" cmpd="sng" algn="ctr">
              <a:solidFill>
                <a:srgbClr val="E6E6E6"/>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38" name="文本框 537"/>
            <p:cNvSpPr txBox="1"/>
            <p:nvPr/>
          </p:nvSpPr>
          <p:spPr>
            <a:xfrm>
              <a:off x="5747199" y="2457610"/>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物流服务</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69" name="组合 568"/>
          <p:cNvGrpSpPr/>
          <p:nvPr/>
        </p:nvGrpSpPr>
        <p:grpSpPr>
          <a:xfrm>
            <a:off x="6775429" y="2354877"/>
            <a:ext cx="1063071" cy="390133"/>
            <a:chOff x="6777402" y="2354877"/>
            <a:chExt cx="1063071" cy="390133"/>
          </a:xfrm>
        </p:grpSpPr>
        <p:sp>
          <p:nvSpPr>
            <p:cNvPr id="539" name="圆角矩形 538"/>
            <p:cNvSpPr/>
            <p:nvPr/>
          </p:nvSpPr>
          <p:spPr>
            <a:xfrm>
              <a:off x="6777402" y="2354877"/>
              <a:ext cx="1063071" cy="390133"/>
            </a:xfrm>
            <a:prstGeom prst="roundRect">
              <a:avLst>
                <a:gd name="adj" fmla="val 50000"/>
              </a:avLst>
            </a:prstGeom>
            <a:solidFill>
              <a:srgbClr val="FFFFFF"/>
            </a:solidFill>
            <a:ln w="12700" cap="flat" cmpd="sng" algn="ctr">
              <a:solidFill>
                <a:srgbClr val="E6E6E6"/>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40" name="文本框 539"/>
            <p:cNvSpPr txBox="1"/>
            <p:nvPr/>
          </p:nvSpPr>
          <p:spPr>
            <a:xfrm>
              <a:off x="7001160" y="2457610"/>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技术研发</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67" name="组合 566"/>
          <p:cNvGrpSpPr/>
          <p:nvPr/>
        </p:nvGrpSpPr>
        <p:grpSpPr>
          <a:xfrm>
            <a:off x="7986393" y="2354877"/>
            <a:ext cx="1063071" cy="390133"/>
            <a:chOff x="7977396" y="2354877"/>
            <a:chExt cx="1063071" cy="390133"/>
          </a:xfrm>
        </p:grpSpPr>
        <p:sp>
          <p:nvSpPr>
            <p:cNvPr id="541" name="圆角矩形 540"/>
            <p:cNvSpPr/>
            <p:nvPr/>
          </p:nvSpPr>
          <p:spPr>
            <a:xfrm>
              <a:off x="7977396" y="2354877"/>
              <a:ext cx="1063071" cy="390133"/>
            </a:xfrm>
            <a:prstGeom prst="roundRect">
              <a:avLst>
                <a:gd name="adj" fmla="val 50000"/>
              </a:avLst>
            </a:prstGeom>
            <a:solidFill>
              <a:srgbClr val="FFFFFF"/>
            </a:solidFill>
            <a:ln w="12700" cap="flat" cmpd="sng" algn="ctr">
              <a:solidFill>
                <a:srgbClr val="E6E6E6"/>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42" name="文本框 541"/>
            <p:cNvSpPr txBox="1"/>
            <p:nvPr/>
          </p:nvSpPr>
          <p:spPr>
            <a:xfrm>
              <a:off x="8201154" y="2457610"/>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能源供应</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573" name="组合 572"/>
          <p:cNvGrpSpPr/>
          <p:nvPr/>
        </p:nvGrpSpPr>
        <p:grpSpPr>
          <a:xfrm>
            <a:off x="9197357" y="2354877"/>
            <a:ext cx="1063071" cy="390133"/>
            <a:chOff x="7977396" y="2354877"/>
            <a:chExt cx="1063071" cy="390133"/>
          </a:xfrm>
        </p:grpSpPr>
        <p:sp>
          <p:nvSpPr>
            <p:cNvPr id="574" name="圆角矩形 573"/>
            <p:cNvSpPr/>
            <p:nvPr/>
          </p:nvSpPr>
          <p:spPr>
            <a:xfrm>
              <a:off x="7977396" y="2354877"/>
              <a:ext cx="1063071" cy="390133"/>
            </a:xfrm>
            <a:prstGeom prst="roundRect">
              <a:avLst>
                <a:gd name="adj" fmla="val 50000"/>
              </a:avLst>
            </a:prstGeom>
            <a:solidFill>
              <a:srgbClr val="FFFFFF"/>
            </a:solidFill>
            <a:ln w="12700" cap="flat" cmpd="sng" algn="ctr">
              <a:solidFill>
                <a:srgbClr val="E6E6E6"/>
              </a:solidFill>
              <a:prstDash val="solid"/>
              <a:miter lim="800000"/>
            </a:ln>
            <a:effectLst>
              <a:reflection blurRad="6350" stA="19881" endPos="35000" dir="5400000" sy="-100000" algn="bl" rotWithShape="0"/>
            </a:effectLst>
          </p:spPr>
          <p:txBody>
            <a:bodyPr rtlCol="0" anchor="ctr" lIns="0" rIns="0" tIns="0" bIns="0"/>
            <a:lstStyle/>
            <a:p>
              <a:pPr algn="ctr" defTabSz="456565">
                <a:defRPr>
                  <a:latin typeface="微软雅黑"/>
                  <a:ea typeface="微软雅黑"/>
                  <a:cs typeface="微软雅黑"/>
                </a:defRPr>
              </a:pPr>
              <a:endParaRPr kumimoji="1" lang="zh-CN" altLang="en-US" sz="1000" b="1" kern="0" dirty="0">
                <a:solidFill>
                  <a:srgbClr val="383838"/>
                </a:solidFill>
                <a:latin typeface="微软雅黑"/>
                <a:ea typeface="微软雅黑"/>
                <a:cs typeface="微软雅黑"/>
              </a:endParaRPr>
            </a:p>
          </p:txBody>
        </p:sp>
        <p:sp>
          <p:nvSpPr>
            <p:cNvPr id="575" name="文本框 574"/>
            <p:cNvSpPr txBox="1"/>
            <p:nvPr/>
          </p:nvSpPr>
          <p:spPr>
            <a:xfrm>
              <a:off x="8201154" y="2457610"/>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金融服务</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598" name="文本框 597"/>
          <p:cNvSpPr txBox="1"/>
          <p:nvPr/>
        </p:nvSpPr>
        <p:spPr>
          <a:xfrm>
            <a:off x="1211900" y="1249391"/>
            <a:ext cx="1151481" cy="292100"/>
          </a:xfrm>
          <a:prstGeom prst="rect">
            <a:avLst/>
          </a:prstGeom>
          <a:noFill/>
          <a:effectLst/>
        </p:spPr>
        <p:txBody>
          <a:bodyPr wrap="square" lIns="0" tIns="0" rIns="0" bIns="0" rtlCol="0">
            <a:spAutoFit/>
          </a:bodyPr>
          <a:lstStyle/>
          <a:p>
            <a:pPr marL="0" marR="0" lvl="0" indent="0" algn="just" defTabSz="914400" rtl="0" eaLnBrk="1" fontAlgn="auto" latinLnBrk="0" hangingPunct="1">
              <a:lnSpc>
                <a:spcPct val="130000"/>
              </a:lnSpc>
              <a:spcBef>
                <a:spcPts val="0"/>
              </a:spcBef>
              <a:spcAft>
                <a:spcPts val="0"/>
              </a:spcAft>
              <a:buClrTx/>
              <a:buSzTx/>
              <a:buFontTx/>
              <a:buNone/>
              <a:defRPr>
                <a:latin typeface="微软雅黑"/>
                <a:ea typeface="微软雅黑"/>
                <a:cs typeface="微软雅黑"/>
              </a:defRPr>
            </a:pPr>
            <a:r>
              <a:rPr kumimoji="0" lang="zh-CN" altLang="en-US" sz="1100" b="1" i="0" u="none" strike="noStrike" kern="0" cap="none" spc="0" normalizeH="0" baseline="0" noProof="0" dirty="0">
                <a:ln>
                  <a:noFill/>
                </a:ln>
                <a:solidFill>
                  <a:srgbClr val="383838"/>
                </a:solidFill>
                <a:effectLst/>
                <a:uLnTx/>
                <a:uFillTx/>
                <a:latin typeface="微软雅黑"/>
                <a:ea typeface="微软雅黑"/>
                <a:cs typeface="微软雅黑"/>
              </a:rPr>
              <a:t>采购金额</a:t>
            </a:r>
            <a:endParaRPr kumimoji="0" lang="zh-CN" altLang="en-US" sz="11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600" name="文本框 599"/>
          <p:cNvSpPr txBox="1"/>
          <p:nvPr/>
        </p:nvSpPr>
        <p:spPr>
          <a:xfrm>
            <a:off x="1211900" y="1453148"/>
            <a:ext cx="1053467" cy="411271"/>
          </a:xfrm>
          <a:prstGeom prst="rect">
            <a:avLst/>
          </a:prstGeom>
          <a:noFill/>
          <a:effectLst/>
        </p:spPr>
        <p:txBody>
          <a:bodyPr wrap="square" lIns="0" tIns="0" rIns="0" bIns="0" rtlCol="0">
            <a:spAutoFit/>
          </a:bodyPr>
          <a:lstStyle/>
          <a:p>
            <a:pPr marL="0" marR="0" lvl="0" indent="0" algn="just" defTabSz="914400" rtl="0" eaLnBrk="1" fontAlgn="auto" latinLnBrk="0" hangingPunct="1">
              <a:lnSpc>
                <a:spcPct val="130000"/>
              </a:lnSpc>
              <a:spcBef>
                <a:spcPts val="0"/>
              </a:spcBef>
              <a:spcAft>
                <a:spcPts val="0"/>
              </a:spcAft>
              <a:buClrTx/>
              <a:buSzTx/>
              <a:buFontTx/>
              <a:buNone/>
              <a:defRPr>
                <a:latin typeface="微软雅黑"/>
                <a:ea typeface="微软雅黑"/>
                <a:cs typeface="微软雅黑"/>
              </a:defRPr>
            </a:pPr>
            <a:r>
              <a:rPr kumimoji="0" lang="en-US" altLang="zh-CN" sz="1800" b="0" i="0" u="none" strike="noStrike" kern="0" cap="none" spc="0" normalizeH="0" baseline="0" noProof="0" dirty="0">
                <a:ln>
                  <a:noFill/>
                </a:ln>
                <a:solidFill>
                  <a:srgbClr val="383838"/>
                </a:solidFill>
                <a:effectLst/>
                <a:uLnTx/>
                <a:uFillTx/>
                <a:latin typeface="微软雅黑"/>
                <a:ea typeface="微软雅黑"/>
                <a:cs typeface="微软雅黑"/>
              </a:rPr>
              <a:t>939,29</a:t>
            </a:r>
            <a:endParaRPr kumimoji="0" lang="en-US" altLang="zh-CN"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601" name="Freeform 680"/>
          <p:cNvSpPr/>
          <p:nvPr/>
        </p:nvSpPr>
        <p:spPr>
          <a:xfrm>
            <a:off x="693213" y="1351694"/>
            <a:ext cx="407026" cy="43563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7737" y="0"/>
                  <a:pt x="5249" y="2556"/>
                  <a:pt x="5249" y="5705"/>
                </a:cubicBezTo>
                <a:cubicBezTo>
                  <a:pt x="5250" y="8853"/>
                  <a:pt x="7737" y="11409"/>
                  <a:pt x="10800" y="11409"/>
                </a:cubicBezTo>
                <a:cubicBezTo>
                  <a:pt x="13863" y="11409"/>
                  <a:pt x="16332" y="8853"/>
                  <a:pt x="16332" y="5705"/>
                </a:cubicBezTo>
                <a:cubicBezTo>
                  <a:pt x="16332" y="2556"/>
                  <a:pt x="13863" y="0"/>
                  <a:pt x="10800" y="0"/>
                </a:cubicBezTo>
                <a:close/>
                <a:moveTo>
                  <a:pt x="7300" y="12898"/>
                </a:moveTo>
                <a:cubicBezTo>
                  <a:pt x="3371" y="12898"/>
                  <a:pt x="134" y="14771"/>
                  <a:pt x="0" y="17094"/>
                </a:cubicBezTo>
                <a:lnTo>
                  <a:pt x="0" y="21600"/>
                </a:lnTo>
                <a:lnTo>
                  <a:pt x="8655" y="21600"/>
                </a:lnTo>
                <a:lnTo>
                  <a:pt x="9916" y="17694"/>
                </a:lnTo>
                <a:lnTo>
                  <a:pt x="8166" y="15006"/>
                </a:lnTo>
                <a:lnTo>
                  <a:pt x="13415" y="15006"/>
                </a:lnTo>
                <a:lnTo>
                  <a:pt x="11666" y="17694"/>
                </a:lnTo>
                <a:lnTo>
                  <a:pt x="12926" y="21600"/>
                </a:lnTo>
                <a:lnTo>
                  <a:pt x="21600" y="21600"/>
                </a:lnTo>
                <a:lnTo>
                  <a:pt x="21581" y="17094"/>
                </a:lnTo>
                <a:cubicBezTo>
                  <a:pt x="21447" y="14771"/>
                  <a:pt x="18229" y="12898"/>
                  <a:pt x="14300" y="12898"/>
                </a:cubicBezTo>
                <a:lnTo>
                  <a:pt x="7300" y="12898"/>
                </a:lnTo>
                <a:close/>
              </a:path>
            </a:pathLst>
          </a:custGeom>
          <a:solidFill>
            <a:srgbClr val="FFFFFF"/>
          </a:solidFill>
          <a:ln w="12700">
            <a:miter lim="400000"/>
          </a:ln>
        </p:spPr>
        <p:txBody>
          <a:bodyPr lIns="45719" rIns="45719" anchor="ctr"/>
          <a:lstStyle/>
          <a:p>
            <a:pPr marL="0" marR="0" lvl="0" indent="0" algn="l" defTabSz="914400" rtl="0" eaLnBrk="1" fontAlgn="auto" latinLnBrk="0" hangingPunct="1">
              <a:lnSpc>
                <a:spcPct val="100000"/>
              </a:lnSpc>
              <a:spcBef>
                <a:spcPts val="0"/>
              </a:spcBef>
              <a:spcAft>
                <a:spcPts val="0"/>
              </a:spcAft>
              <a:buClrTx/>
              <a:buSzTx/>
              <a:buFontTx/>
              <a:buNone/>
              <a:defRPr sz="1800">
                <a:noFill/>
                <a:latin typeface="微软雅黑"/>
                <a:ea typeface="微软雅黑"/>
                <a:cs typeface="微软雅黑"/>
                <a:sym typeface="微软雅黑"/>
              </a:defRPr>
            </a:pPr>
            <a:endParaRPr kumimoji="0" sz="1800" b="0" i="0" u="none" strike="noStrike" kern="0" cap="none" spc="0" normalizeH="0" baseline="0" noProof="0">
              <a:ln>
                <a:noFill/>
              </a:ln>
              <a:noFill/>
              <a:effectLst/>
              <a:uLnTx/>
              <a:uFillTx/>
              <a:latin typeface="微软雅黑"/>
              <a:ea typeface="微软雅黑"/>
              <a:cs typeface="微软雅黑"/>
              <a:sym typeface="微软雅黑"/>
            </a:endParaRPr>
          </a:p>
        </p:txBody>
      </p:sp>
      <p:pic>
        <p:nvPicPr>
          <p:cNvPr id="58" name="图片 57"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汽车行业客户增长策略</a:t>
            </a:r>
            <a:endParaRPr lang="en-US" altLang="zh-CN" sz="2500">
              <a:solidFill>
                <a:srgbClr val="383838"/>
              </a:solidFill>
              <a:effectLst/>
              <a:latin typeface="微软雅黑"/>
              <a:ea typeface="微软雅黑"/>
              <a:cs typeface="微软雅黑"/>
            </a:endParaRPr>
          </a:p>
        </p:txBody>
      </p:sp>
      <p:sp>
        <p:nvSpPr>
          <p:cNvPr id="4" name="梯形 3"/>
          <p:cNvSpPr/>
          <p:nvPr/>
        </p:nvSpPr>
        <p:spPr>
          <a:xfrm>
            <a:off x="1683385" y="5186680"/>
            <a:ext cx="8488680" cy="1392555"/>
          </a:xfrm>
          <a:prstGeom prst="trapezoid">
            <a:avLst>
              <a:gd name="adj" fmla="val 55319"/>
            </a:avLst>
          </a:prstGeom>
          <a:solidFill>
            <a:srgbClr val="E6E6E6">
              <a:alpha val="10000"/>
            </a:srgbClr>
          </a:solidFill>
          <a:ln>
            <a:solidFill>
              <a:srgbClr val="0042FF">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8" name="组合 7"/>
          <p:cNvGrpSpPr/>
          <p:nvPr/>
        </p:nvGrpSpPr>
        <p:grpSpPr>
          <a:xfrm>
            <a:off x="2522855" y="5278120"/>
            <a:ext cx="1542415" cy="781050"/>
            <a:chOff x="3733" y="8152"/>
            <a:chExt cx="2429" cy="1230"/>
          </a:xfrm>
        </p:grpSpPr>
        <p:sp>
          <p:nvSpPr>
            <p:cNvPr id="47" name="矩形 46"/>
            <p:cNvSpPr/>
            <p:nvPr/>
          </p:nvSpPr>
          <p:spPr>
            <a:xfrm>
              <a:off x="3740" y="8516"/>
              <a:ext cx="2409" cy="866"/>
            </a:xfrm>
            <a:prstGeom prst="rect">
              <a:avLst/>
            </a:prstGeom>
            <a:solidFill>
              <a:srgbClr val="E6E6E6">
                <a:alpha val="1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8" name="矩形 47"/>
            <p:cNvSpPr/>
            <p:nvPr/>
          </p:nvSpPr>
          <p:spPr>
            <a:xfrm>
              <a:off x="3733" y="8152"/>
              <a:ext cx="2429" cy="364"/>
            </a:xfrm>
            <a:prstGeom prst="rect">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b="1">
                  <a:solidFill>
                    <a:srgbClr val="FFFFFF"/>
                  </a:solidFill>
                  <a:cs typeface="微软雅黑"/>
                  <a:latin typeface="微软雅黑"/>
                  <a:ea typeface="微软雅黑"/>
                </a:rPr>
                <a:t>在线购车</a:t>
              </a:r>
              <a:endParaRPr lang="zh-CN" altLang="en-US" sz="1200" b="1">
                <a:solidFill>
                  <a:srgbClr val="FFFFFF"/>
                </a:solidFill>
                <a:cs typeface="微软雅黑"/>
                <a:latin typeface="微软雅黑"/>
                <a:ea typeface="微软雅黑"/>
              </a:endParaRPr>
            </a:p>
          </p:txBody>
        </p:sp>
      </p:grpSp>
      <p:grpSp>
        <p:nvGrpSpPr>
          <p:cNvPr id="9" name="组合 8"/>
          <p:cNvGrpSpPr/>
          <p:nvPr/>
        </p:nvGrpSpPr>
        <p:grpSpPr>
          <a:xfrm>
            <a:off x="4283710" y="5278120"/>
            <a:ext cx="1536700" cy="781050"/>
            <a:chOff x="3739" y="8152"/>
            <a:chExt cx="2420" cy="1230"/>
          </a:xfrm>
        </p:grpSpPr>
        <p:sp>
          <p:nvSpPr>
            <p:cNvPr id="11" name="矩形 10"/>
            <p:cNvSpPr/>
            <p:nvPr/>
          </p:nvSpPr>
          <p:spPr>
            <a:xfrm>
              <a:off x="3740" y="8516"/>
              <a:ext cx="2409" cy="866"/>
            </a:xfrm>
            <a:prstGeom prst="rect">
              <a:avLst/>
            </a:prstGeom>
            <a:solidFill>
              <a:srgbClr val="E6E6E6">
                <a:alpha val="1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 name="矩形 11"/>
            <p:cNvSpPr/>
            <p:nvPr/>
          </p:nvSpPr>
          <p:spPr>
            <a:xfrm>
              <a:off x="3739" y="8152"/>
              <a:ext cx="2420" cy="364"/>
            </a:xfrm>
            <a:prstGeom prst="rect">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b="1">
                  <a:solidFill>
                    <a:srgbClr val="FFFFFF"/>
                  </a:solidFill>
                  <a:cs typeface="微软雅黑"/>
                  <a:latin typeface="微软雅黑"/>
                  <a:ea typeface="微软雅黑"/>
                </a:rPr>
                <a:t>智能展厅</a:t>
              </a:r>
              <a:endParaRPr lang="zh-CN" altLang="en-US" sz="1200" b="1">
                <a:solidFill>
                  <a:srgbClr val="FFFFFF"/>
                </a:solidFill>
                <a:cs typeface="微软雅黑"/>
                <a:latin typeface="微软雅黑"/>
                <a:ea typeface="微软雅黑"/>
              </a:endParaRPr>
            </a:p>
          </p:txBody>
        </p:sp>
      </p:grpSp>
      <p:grpSp>
        <p:nvGrpSpPr>
          <p:cNvPr id="13" name="组合 12"/>
          <p:cNvGrpSpPr/>
          <p:nvPr/>
        </p:nvGrpSpPr>
        <p:grpSpPr>
          <a:xfrm>
            <a:off x="6038215" y="5278120"/>
            <a:ext cx="1539240" cy="781050"/>
            <a:chOff x="3735" y="8152"/>
            <a:chExt cx="2424" cy="1230"/>
          </a:xfrm>
        </p:grpSpPr>
        <p:sp>
          <p:nvSpPr>
            <p:cNvPr id="14" name="矩形 13"/>
            <p:cNvSpPr/>
            <p:nvPr/>
          </p:nvSpPr>
          <p:spPr>
            <a:xfrm>
              <a:off x="3740" y="8516"/>
              <a:ext cx="2409" cy="866"/>
            </a:xfrm>
            <a:prstGeom prst="rect">
              <a:avLst/>
            </a:prstGeom>
            <a:solidFill>
              <a:srgbClr val="E6E6E6">
                <a:alpha val="1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5" name="矩形 14"/>
            <p:cNvSpPr/>
            <p:nvPr/>
          </p:nvSpPr>
          <p:spPr>
            <a:xfrm>
              <a:off x="3735" y="8152"/>
              <a:ext cx="2424" cy="364"/>
            </a:xfrm>
            <a:prstGeom prst="rect">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b="1">
                  <a:solidFill>
                    <a:srgbClr val="FFFFFF"/>
                  </a:solidFill>
                  <a:cs typeface="微软雅黑"/>
                  <a:latin typeface="微软雅黑"/>
                  <a:ea typeface="微软雅黑"/>
                </a:rPr>
                <a:t>精准营销</a:t>
              </a:r>
              <a:endParaRPr lang="zh-CN" altLang="en-US" sz="1200" b="1">
                <a:solidFill>
                  <a:srgbClr val="FFFFFF"/>
                </a:solidFill>
                <a:cs typeface="微软雅黑"/>
                <a:latin typeface="微软雅黑"/>
                <a:ea typeface="微软雅黑"/>
              </a:endParaRPr>
            </a:p>
          </p:txBody>
        </p:sp>
      </p:grpSp>
      <p:grpSp>
        <p:nvGrpSpPr>
          <p:cNvPr id="16" name="组合 15"/>
          <p:cNvGrpSpPr/>
          <p:nvPr/>
        </p:nvGrpSpPr>
        <p:grpSpPr>
          <a:xfrm>
            <a:off x="7798435" y="5278120"/>
            <a:ext cx="1529080" cy="781050"/>
            <a:chOff x="3740" y="8152"/>
            <a:chExt cx="2408" cy="1230"/>
          </a:xfrm>
        </p:grpSpPr>
        <p:sp>
          <p:nvSpPr>
            <p:cNvPr id="17" name="矩形 16"/>
            <p:cNvSpPr/>
            <p:nvPr/>
          </p:nvSpPr>
          <p:spPr>
            <a:xfrm>
              <a:off x="3740" y="8516"/>
              <a:ext cx="2409" cy="866"/>
            </a:xfrm>
            <a:prstGeom prst="rect">
              <a:avLst/>
            </a:prstGeom>
            <a:solidFill>
              <a:srgbClr val="E6E6E6">
                <a:alpha val="1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8" name="矩形 17"/>
            <p:cNvSpPr/>
            <p:nvPr/>
          </p:nvSpPr>
          <p:spPr>
            <a:xfrm>
              <a:off x="3740" y="8152"/>
              <a:ext cx="2409" cy="364"/>
            </a:xfrm>
            <a:prstGeom prst="rect">
              <a:avLst/>
            </a:prstGeom>
            <a:solidFill>
              <a:srgbClr val="0042FF"/>
            </a:solidFill>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b="1">
                  <a:solidFill>
                    <a:srgbClr val="FFFFFF"/>
                  </a:solidFill>
                  <a:cs typeface="微软雅黑"/>
                  <a:latin typeface="微软雅黑"/>
                  <a:ea typeface="微软雅黑"/>
                </a:rPr>
                <a:t>智能售后</a:t>
              </a:r>
              <a:endParaRPr lang="zh-CN" altLang="en-US" sz="1200" b="1">
                <a:solidFill>
                  <a:srgbClr val="FFFFFF"/>
                </a:solidFill>
                <a:cs typeface="微软雅黑"/>
                <a:latin typeface="微软雅黑"/>
                <a:ea typeface="微软雅黑"/>
              </a:endParaRPr>
            </a:p>
          </p:txBody>
        </p:sp>
      </p:grpSp>
      <p:sp>
        <p:nvSpPr>
          <p:cNvPr id="19" name="矩形 18"/>
          <p:cNvSpPr/>
          <p:nvPr/>
        </p:nvSpPr>
        <p:spPr>
          <a:xfrm>
            <a:off x="3784600" y="6177280"/>
            <a:ext cx="2082800" cy="293370"/>
          </a:xfrm>
          <a:prstGeom prst="rect">
            <a:avLst/>
          </a:prstGeom>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业务中台</a:t>
            </a:r>
            <a:endParaRPr lang="zh-CN" altLang="en-US" sz="1400" b="1">
              <a:solidFill>
                <a:srgbClr val="FFFFFF"/>
              </a:solidFill>
              <a:cs typeface="微软雅黑"/>
              <a:latin typeface="微软雅黑"/>
              <a:ea typeface="微软雅黑"/>
            </a:endParaRPr>
          </a:p>
        </p:txBody>
      </p:sp>
      <p:grpSp>
        <p:nvGrpSpPr>
          <p:cNvPr id="21" name="组合 20"/>
          <p:cNvGrpSpPr/>
          <p:nvPr/>
        </p:nvGrpSpPr>
        <p:grpSpPr>
          <a:xfrm>
            <a:off x="2768600" y="4175760"/>
            <a:ext cx="6342380" cy="914400"/>
            <a:chOff x="3740" y="7942"/>
            <a:chExt cx="2409" cy="1440"/>
          </a:xfrm>
        </p:grpSpPr>
        <p:sp>
          <p:nvSpPr>
            <p:cNvPr id="22" name="矩形 21"/>
            <p:cNvSpPr/>
            <p:nvPr/>
          </p:nvSpPr>
          <p:spPr>
            <a:xfrm>
              <a:off x="3740" y="8516"/>
              <a:ext cx="2409" cy="866"/>
            </a:xfrm>
            <a:prstGeom prst="rect">
              <a:avLst/>
            </a:prstGeom>
            <a:solidFill>
              <a:srgbClr val="3368FF">
                <a:alpha val="10000"/>
              </a:srgbClr>
            </a:solidFill>
            <a:ln>
              <a:solidFill>
                <a:srgbClr val="3368FF">
                  <a:alpha val="2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3" name="矩形 22"/>
            <p:cNvSpPr/>
            <p:nvPr/>
          </p:nvSpPr>
          <p:spPr>
            <a:xfrm>
              <a:off x="3740" y="7942"/>
              <a:ext cx="2409" cy="574"/>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客户全生命周期运营</a:t>
              </a:r>
              <a:endParaRPr lang="zh-CN" altLang="en-US" sz="1400" b="1">
                <a:solidFill>
                  <a:srgbClr val="FFFFFF"/>
                </a:solidFill>
                <a:cs typeface="微软雅黑"/>
                <a:latin typeface="微软雅黑"/>
                <a:ea typeface="微软雅黑"/>
              </a:endParaRPr>
            </a:p>
          </p:txBody>
        </p:sp>
      </p:grpSp>
      <p:grpSp>
        <p:nvGrpSpPr>
          <p:cNvPr id="24" name="组合 23"/>
          <p:cNvGrpSpPr/>
          <p:nvPr/>
        </p:nvGrpSpPr>
        <p:grpSpPr>
          <a:xfrm>
            <a:off x="2324100" y="1300480"/>
            <a:ext cx="2336165" cy="2628265"/>
            <a:chOff x="3740" y="8092"/>
            <a:chExt cx="2409" cy="4139"/>
          </a:xfrm>
        </p:grpSpPr>
        <p:sp>
          <p:nvSpPr>
            <p:cNvPr id="25" name="矩形 24"/>
            <p:cNvSpPr/>
            <p:nvPr/>
          </p:nvSpPr>
          <p:spPr>
            <a:xfrm>
              <a:off x="3740" y="8516"/>
              <a:ext cx="2409" cy="3715"/>
            </a:xfrm>
            <a:prstGeom prst="rect">
              <a:avLst/>
            </a:prstGeom>
            <a:solidFill>
              <a:srgbClr val="3368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6" name="矩形 25"/>
            <p:cNvSpPr/>
            <p:nvPr/>
          </p:nvSpPr>
          <p:spPr>
            <a:xfrm>
              <a:off x="3740" y="8092"/>
              <a:ext cx="2409" cy="728"/>
            </a:xfrm>
            <a:prstGeom prst="rect">
              <a:avLst/>
            </a:prstGeom>
            <a:gradFill>
              <a:gsLst>
                <a:gs pos="0">
                  <a:srgbClr val="B3D4FE"/>
                </a:gs>
                <a:gs pos="100000">
                  <a:srgbClr val="3368FF"/>
                </a:gs>
              </a:gsLst>
              <a:lin ang="0" scaled="0"/>
            </a:gra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30" name="矩形 29"/>
          <p:cNvSpPr/>
          <p:nvPr/>
        </p:nvSpPr>
        <p:spPr>
          <a:xfrm>
            <a:off x="5187950" y="2022475"/>
            <a:ext cx="1431925" cy="1419225"/>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1" name="等腰三角形 30"/>
          <p:cNvSpPr/>
          <p:nvPr/>
        </p:nvSpPr>
        <p:spPr>
          <a:xfrm rot="16200000">
            <a:off x="4720590" y="2686685"/>
            <a:ext cx="378460" cy="16573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2" name="等腰三角形 31"/>
          <p:cNvSpPr/>
          <p:nvPr/>
        </p:nvSpPr>
        <p:spPr>
          <a:xfrm rot="5400000" flipH="1">
            <a:off x="6708140" y="2641600"/>
            <a:ext cx="378460" cy="16573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cxnSp>
        <p:nvCxnSpPr>
          <p:cNvPr id="33" name="肘形连接符 32"/>
          <p:cNvCxnSpPr>
            <a:stCxn id="27" idx="2"/>
            <a:endCxn id="22" idx="1"/>
          </p:cNvCxnSpPr>
          <p:nvPr/>
        </p:nvCxnSpPr>
        <p:spPr>
          <a:xfrm rot="10800000" flipH="1" flipV="1">
            <a:off x="2273300" y="2142490"/>
            <a:ext cx="495300" cy="2672715"/>
          </a:xfrm>
          <a:prstGeom prst="bentConnector3">
            <a:avLst>
              <a:gd name="adj1" fmla="val -141666"/>
            </a:avLst>
          </a:prstGeom>
          <a:ln>
            <a:solidFill>
              <a:srgbClr val="3368FF"/>
            </a:solidFill>
            <a:headEnd type="triangle" w="lg" len="med"/>
          </a:ln>
        </p:spPr>
        <p:style>
          <a:lnRef idx="2">
            <a:srgbClr val="0042FF"/>
          </a:lnRef>
          <a:fillRef idx="0">
            <a:srgbClr val="FFFFFF"/>
          </a:fillRef>
          <a:effectRef idx="0">
            <a:srgbClr val="FFFFFF"/>
          </a:effectRef>
          <a:fontRef idx="minor">
            <a:srgbClr val="383838"/>
          </a:fontRef>
        </p:style>
      </p:cxnSp>
      <p:sp>
        <p:nvSpPr>
          <p:cNvPr id="34" name="矩形 33"/>
          <p:cNvSpPr/>
          <p:nvPr/>
        </p:nvSpPr>
        <p:spPr>
          <a:xfrm>
            <a:off x="6092190" y="6177280"/>
            <a:ext cx="2082800" cy="293370"/>
          </a:xfrm>
          <a:prstGeom prst="rect">
            <a:avLst/>
          </a:prstGeom>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数据中台</a:t>
            </a:r>
            <a:endParaRPr lang="zh-CN" altLang="en-US" sz="1400" b="1">
              <a:solidFill>
                <a:srgbClr val="FFFFFF"/>
              </a:solidFill>
              <a:cs typeface="微软雅黑"/>
              <a:latin typeface="微软雅黑"/>
              <a:ea typeface="微软雅黑"/>
            </a:endParaRPr>
          </a:p>
        </p:txBody>
      </p:sp>
      <p:sp>
        <p:nvSpPr>
          <p:cNvPr id="36" name="文本框 35"/>
          <p:cNvSpPr txBox="1"/>
          <p:nvPr/>
        </p:nvSpPr>
        <p:spPr>
          <a:xfrm>
            <a:off x="2534920" y="5769610"/>
            <a:ext cx="550545"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官网购车</a:t>
            </a:r>
            <a:endParaRPr lang="zh-CN" altLang="en-US" sz="1000">
              <a:latin typeface="微软雅黑"/>
              <a:ea typeface="微软雅黑"/>
              <a:cs typeface="微软雅黑"/>
            </a:endParaRPr>
          </a:p>
        </p:txBody>
      </p:sp>
      <p:sp>
        <p:nvSpPr>
          <p:cNvPr id="37" name="文本框 36"/>
          <p:cNvSpPr txBox="1"/>
          <p:nvPr/>
        </p:nvSpPr>
        <p:spPr>
          <a:xfrm>
            <a:off x="2901315" y="5769610"/>
            <a:ext cx="7607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虚拟试驾</a:t>
            </a:r>
            <a:endParaRPr lang="zh-CN" altLang="en-US" sz="1000">
              <a:latin typeface="微软雅黑"/>
              <a:ea typeface="微软雅黑"/>
              <a:cs typeface="微软雅黑"/>
            </a:endParaRPr>
          </a:p>
        </p:txBody>
      </p:sp>
      <p:sp>
        <p:nvSpPr>
          <p:cNvPr id="38" name="文本框 37"/>
          <p:cNvSpPr txBox="1"/>
          <p:nvPr/>
        </p:nvSpPr>
        <p:spPr>
          <a:xfrm>
            <a:off x="3449955" y="5769610"/>
            <a:ext cx="5448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个性配置</a:t>
            </a:r>
            <a:endParaRPr lang="zh-CN" altLang="en-US" sz="1000">
              <a:latin typeface="微软雅黑"/>
              <a:ea typeface="微软雅黑"/>
              <a:cs typeface="微软雅黑"/>
            </a:endParaRPr>
          </a:p>
        </p:txBody>
      </p:sp>
      <p:pic>
        <p:nvPicPr>
          <p:cNvPr id="39" name="图片 38" descr="个性配置"/>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657700" y="5587365"/>
            <a:ext cx="196215" cy="168275"/>
          </a:xfrm>
          <a:prstGeom prst="rect">
            <a:avLst/>
          </a:prstGeom>
        </p:spPr>
      </p:pic>
      <p:pic>
        <p:nvPicPr>
          <p:cNvPr id="40" name="图片 39" descr="试驾"/>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202405" y="5574715"/>
            <a:ext cx="173990" cy="173990"/>
          </a:xfrm>
          <a:prstGeom prst="rect">
            <a:avLst/>
          </a:prstGeom>
        </p:spPr>
      </p:pic>
      <p:pic>
        <p:nvPicPr>
          <p:cNvPr id="41" name="图片 40" descr="买车"/>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705100" y="5553710"/>
            <a:ext cx="216000" cy="216000"/>
          </a:xfrm>
          <a:prstGeom prst="rect">
            <a:avLst/>
          </a:prstGeom>
        </p:spPr>
      </p:pic>
      <p:sp>
        <p:nvSpPr>
          <p:cNvPr id="42" name="文本框 41"/>
          <p:cNvSpPr txBox="1"/>
          <p:nvPr/>
        </p:nvSpPr>
        <p:spPr>
          <a:xfrm>
            <a:off x="4283710" y="5783580"/>
            <a:ext cx="59944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sym typeface="微软雅黑"/>
              </a:rPr>
              <a:t>全景展厅</a:t>
            </a:r>
            <a:endParaRPr lang="zh-CN" altLang="en-US" sz="1000">
              <a:latin typeface="微软雅黑"/>
              <a:ea typeface="微软雅黑"/>
              <a:cs typeface="微软雅黑"/>
            </a:endParaRPr>
          </a:p>
        </p:txBody>
      </p:sp>
      <p:sp>
        <p:nvSpPr>
          <p:cNvPr id="43" name="文本框 42"/>
          <p:cNvSpPr txBox="1"/>
          <p:nvPr/>
        </p:nvSpPr>
        <p:spPr>
          <a:xfrm>
            <a:off x="4685665" y="5783580"/>
            <a:ext cx="7607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智能讲解</a:t>
            </a:r>
            <a:endParaRPr lang="zh-CN" altLang="en-US" sz="1000">
              <a:latin typeface="微软雅黑"/>
              <a:ea typeface="微软雅黑"/>
              <a:cs typeface="微软雅黑"/>
            </a:endParaRPr>
          </a:p>
        </p:txBody>
      </p:sp>
      <p:sp>
        <p:nvSpPr>
          <p:cNvPr id="44" name="文本框 43"/>
          <p:cNvSpPr txBox="1"/>
          <p:nvPr/>
        </p:nvSpPr>
        <p:spPr>
          <a:xfrm>
            <a:off x="5234305" y="5783580"/>
            <a:ext cx="5448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altLang="zh-CN" sz="1000">
                <a:latin typeface="微软雅黑"/>
                <a:ea typeface="微软雅黑"/>
                <a:cs typeface="微软雅黑"/>
              </a:rPr>
              <a:t>VR</a:t>
            </a:r>
            <a:r>
              <a:rPr lang="zh-CN" altLang="en-US" sz="1000">
                <a:latin typeface="微软雅黑"/>
                <a:ea typeface="微软雅黑"/>
                <a:cs typeface="微软雅黑"/>
              </a:rPr>
              <a:t>配置</a:t>
            </a:r>
            <a:endParaRPr lang="zh-CN" altLang="en-US" sz="1000">
              <a:latin typeface="微软雅黑"/>
              <a:ea typeface="微软雅黑"/>
              <a:cs typeface="微软雅黑"/>
            </a:endParaRPr>
          </a:p>
        </p:txBody>
      </p:sp>
      <p:pic>
        <p:nvPicPr>
          <p:cNvPr id="50" name="图片 49" descr="全景展厅"/>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471670" y="5552073"/>
            <a:ext cx="216000" cy="216000"/>
          </a:xfrm>
          <a:prstGeom prst="rect">
            <a:avLst/>
          </a:prstGeom>
        </p:spPr>
      </p:pic>
      <p:pic>
        <p:nvPicPr>
          <p:cNvPr id="51" name="图片 50" descr="icon-train"/>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956175" y="5564505"/>
            <a:ext cx="191135" cy="191135"/>
          </a:xfrm>
          <a:prstGeom prst="rect">
            <a:avLst/>
          </a:prstGeom>
        </p:spPr>
      </p:pic>
      <p:pic>
        <p:nvPicPr>
          <p:cNvPr id="52" name="图片 51" descr="V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397500" y="5562600"/>
            <a:ext cx="194945" cy="194945"/>
          </a:xfrm>
          <a:prstGeom prst="rect">
            <a:avLst/>
          </a:prstGeom>
        </p:spPr>
      </p:pic>
      <p:sp>
        <p:nvSpPr>
          <p:cNvPr id="53" name="文本框 52"/>
          <p:cNvSpPr txBox="1"/>
          <p:nvPr/>
        </p:nvSpPr>
        <p:spPr>
          <a:xfrm>
            <a:off x="6074410" y="5799455"/>
            <a:ext cx="59944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sym typeface="微软雅黑"/>
              </a:rPr>
              <a:t>数据融合</a:t>
            </a:r>
            <a:endParaRPr lang="zh-CN" altLang="en-US" sz="1000">
              <a:latin typeface="微软雅黑"/>
              <a:ea typeface="微软雅黑"/>
              <a:cs typeface="微软雅黑"/>
            </a:endParaRPr>
          </a:p>
        </p:txBody>
      </p:sp>
      <p:sp>
        <p:nvSpPr>
          <p:cNvPr id="54" name="文本框 53"/>
          <p:cNvSpPr txBox="1"/>
          <p:nvPr/>
        </p:nvSpPr>
        <p:spPr>
          <a:xfrm>
            <a:off x="6476365" y="5799455"/>
            <a:ext cx="7607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精准渠道</a:t>
            </a:r>
            <a:endParaRPr lang="zh-CN" altLang="en-US" sz="1000">
              <a:latin typeface="微软雅黑"/>
              <a:ea typeface="微软雅黑"/>
              <a:cs typeface="微软雅黑"/>
            </a:endParaRPr>
          </a:p>
        </p:txBody>
      </p:sp>
      <p:sp>
        <p:nvSpPr>
          <p:cNvPr id="55" name="文本框 54"/>
          <p:cNvSpPr txBox="1"/>
          <p:nvPr/>
        </p:nvSpPr>
        <p:spPr>
          <a:xfrm>
            <a:off x="7025005" y="5799455"/>
            <a:ext cx="5448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latin typeface="微软雅黑"/>
                <a:ea typeface="微软雅黑"/>
                <a:cs typeface="微软雅黑"/>
              </a:rPr>
              <a:t>智能营销</a:t>
            </a:r>
            <a:endParaRPr lang="zh-CN" sz="1000">
              <a:latin typeface="微软雅黑"/>
              <a:ea typeface="微软雅黑"/>
              <a:cs typeface="微软雅黑"/>
            </a:endParaRPr>
          </a:p>
        </p:txBody>
      </p:sp>
      <p:pic>
        <p:nvPicPr>
          <p:cNvPr id="59" name="图片 58" descr="数据融合-01"/>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266180" y="5556885"/>
            <a:ext cx="216000" cy="216000"/>
          </a:xfrm>
          <a:prstGeom prst="rect">
            <a:avLst/>
          </a:prstGeom>
        </p:spPr>
      </p:pic>
      <p:pic>
        <p:nvPicPr>
          <p:cNvPr id="62" name="图片 61" descr="map"/>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694805" y="5556885"/>
            <a:ext cx="226800" cy="216000"/>
          </a:xfrm>
          <a:prstGeom prst="rect">
            <a:avLst/>
          </a:prstGeom>
        </p:spPr>
      </p:pic>
      <p:pic>
        <p:nvPicPr>
          <p:cNvPr id="63" name="图片 62" descr="智能营销 (1)"/>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7144385" y="5556885"/>
            <a:ext cx="216000" cy="216000"/>
          </a:xfrm>
          <a:prstGeom prst="rect">
            <a:avLst/>
          </a:prstGeom>
        </p:spPr>
      </p:pic>
      <p:sp>
        <p:nvSpPr>
          <p:cNvPr id="65" name="文本框 64"/>
          <p:cNvSpPr txBox="1"/>
          <p:nvPr/>
        </p:nvSpPr>
        <p:spPr>
          <a:xfrm>
            <a:off x="7862570" y="5835015"/>
            <a:ext cx="59944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sym typeface="微软雅黑"/>
              </a:rPr>
              <a:t>智能客服</a:t>
            </a:r>
            <a:endParaRPr lang="zh-CN" altLang="en-US" sz="1000">
              <a:latin typeface="微软雅黑"/>
              <a:ea typeface="微软雅黑"/>
              <a:cs typeface="微软雅黑"/>
              <a:sym typeface="微软雅黑"/>
            </a:endParaRPr>
          </a:p>
        </p:txBody>
      </p:sp>
      <p:sp>
        <p:nvSpPr>
          <p:cNvPr id="66" name="文本框 65"/>
          <p:cNvSpPr txBox="1"/>
          <p:nvPr/>
        </p:nvSpPr>
        <p:spPr>
          <a:xfrm>
            <a:off x="8242300" y="5835015"/>
            <a:ext cx="7607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远程诊断</a:t>
            </a:r>
            <a:endParaRPr lang="zh-CN" altLang="en-US" sz="1000">
              <a:latin typeface="微软雅黑"/>
              <a:ea typeface="微软雅黑"/>
              <a:cs typeface="微软雅黑"/>
            </a:endParaRPr>
          </a:p>
        </p:txBody>
      </p:sp>
      <p:sp>
        <p:nvSpPr>
          <p:cNvPr id="67" name="文本框 66"/>
          <p:cNvSpPr txBox="1"/>
          <p:nvPr/>
        </p:nvSpPr>
        <p:spPr>
          <a:xfrm>
            <a:off x="8783320" y="5835015"/>
            <a:ext cx="544830" cy="19875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latin typeface="微软雅黑"/>
                <a:ea typeface="微软雅黑"/>
                <a:cs typeface="微软雅黑"/>
              </a:rPr>
              <a:t>车联网</a:t>
            </a:r>
            <a:endParaRPr lang="zh-CN" sz="1000">
              <a:latin typeface="微软雅黑"/>
              <a:ea typeface="微软雅黑"/>
              <a:cs typeface="微软雅黑"/>
            </a:endParaRPr>
          </a:p>
        </p:txBody>
      </p:sp>
      <p:pic>
        <p:nvPicPr>
          <p:cNvPr id="71" name="图片 70" descr="车联网"/>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8947785" y="5587365"/>
            <a:ext cx="216000" cy="216000"/>
          </a:xfrm>
          <a:prstGeom prst="rect">
            <a:avLst/>
          </a:prstGeom>
        </p:spPr>
      </p:pic>
      <p:pic>
        <p:nvPicPr>
          <p:cNvPr id="72" name="图片 71" descr="智能客服"/>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8026400" y="5574665"/>
            <a:ext cx="216000" cy="216000"/>
          </a:xfrm>
          <a:prstGeom prst="rect">
            <a:avLst/>
          </a:prstGeom>
        </p:spPr>
      </p:pic>
      <p:pic>
        <p:nvPicPr>
          <p:cNvPr id="73" name="图片 72" descr="故障诊断分析"/>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8494395" y="5587365"/>
            <a:ext cx="255960" cy="216000"/>
          </a:xfrm>
          <a:prstGeom prst="rect">
            <a:avLst/>
          </a:prstGeom>
        </p:spPr>
      </p:pic>
      <p:sp>
        <p:nvSpPr>
          <p:cNvPr id="74" name="矩形 73"/>
          <p:cNvSpPr/>
          <p:nvPr/>
        </p:nvSpPr>
        <p:spPr>
          <a:xfrm>
            <a:off x="2946400" y="4656455"/>
            <a:ext cx="838200" cy="317500"/>
          </a:xfrm>
          <a:prstGeom prst="rect">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5" name="矩形 74"/>
          <p:cNvSpPr/>
          <p:nvPr/>
        </p:nvSpPr>
        <p:spPr>
          <a:xfrm>
            <a:off x="5011420" y="4656455"/>
            <a:ext cx="838200" cy="317500"/>
          </a:xfrm>
          <a:prstGeom prst="rect">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6" name="矩形 75"/>
          <p:cNvSpPr/>
          <p:nvPr/>
        </p:nvSpPr>
        <p:spPr>
          <a:xfrm>
            <a:off x="6043930" y="4656455"/>
            <a:ext cx="838200" cy="317500"/>
          </a:xfrm>
          <a:prstGeom prst="rect">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7" name="矩形 76"/>
          <p:cNvSpPr/>
          <p:nvPr/>
        </p:nvSpPr>
        <p:spPr>
          <a:xfrm>
            <a:off x="3978910" y="4656455"/>
            <a:ext cx="838200" cy="317500"/>
          </a:xfrm>
          <a:prstGeom prst="rect">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8" name="矩形 77"/>
          <p:cNvSpPr/>
          <p:nvPr/>
        </p:nvSpPr>
        <p:spPr>
          <a:xfrm>
            <a:off x="7076440" y="4656455"/>
            <a:ext cx="838200" cy="317500"/>
          </a:xfrm>
          <a:prstGeom prst="rect">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9" name="矩形 78"/>
          <p:cNvSpPr/>
          <p:nvPr/>
        </p:nvSpPr>
        <p:spPr>
          <a:xfrm>
            <a:off x="8108950" y="4656455"/>
            <a:ext cx="838200" cy="317500"/>
          </a:xfrm>
          <a:prstGeom prst="rect">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0" name="文本框 79"/>
          <p:cNvSpPr txBox="1"/>
          <p:nvPr/>
        </p:nvSpPr>
        <p:spPr>
          <a:xfrm>
            <a:off x="2941955" y="4702810"/>
            <a:ext cx="907415" cy="194310"/>
          </a:xfrm>
          <a:prstGeom prst="rect">
            <a:avLst/>
          </a:prstGeom>
          <a:noFill/>
        </p:spPr>
        <p:txBody>
          <a:bodyPr wrap="square" rtlCol="0" lIns="0" rIns="0" tIns="0" bIns="0">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潜客画像</a:t>
            </a:r>
            <a:endParaRPr lang="zh-CN" altLang="en-US" sz="1000">
              <a:solidFill>
                <a:srgbClr val="383838"/>
              </a:solidFill>
              <a:latin typeface="微软雅黑"/>
              <a:ea typeface="微软雅黑"/>
              <a:cs typeface="微软雅黑"/>
            </a:endParaRPr>
          </a:p>
        </p:txBody>
      </p:sp>
      <p:sp>
        <p:nvSpPr>
          <p:cNvPr id="81" name="文本框 80"/>
          <p:cNvSpPr txBox="1"/>
          <p:nvPr/>
        </p:nvSpPr>
        <p:spPr>
          <a:xfrm>
            <a:off x="5003165" y="4702810"/>
            <a:ext cx="907415" cy="194310"/>
          </a:xfrm>
          <a:prstGeom prst="rect">
            <a:avLst/>
          </a:prstGeom>
          <a:noFill/>
        </p:spPr>
        <p:txBody>
          <a:bodyPr wrap="square" rtlCol="0" lIns="0" rIns="0" tIns="0" bIns="0">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购车决策</a:t>
            </a:r>
            <a:endParaRPr lang="zh-CN" altLang="en-US" sz="1000">
              <a:solidFill>
                <a:srgbClr val="383838"/>
              </a:solidFill>
              <a:latin typeface="微软雅黑"/>
              <a:ea typeface="微软雅黑"/>
              <a:cs typeface="微软雅黑"/>
            </a:endParaRPr>
          </a:p>
        </p:txBody>
      </p:sp>
      <p:sp>
        <p:nvSpPr>
          <p:cNvPr id="82" name="文本框 81"/>
          <p:cNvSpPr txBox="1"/>
          <p:nvPr/>
        </p:nvSpPr>
        <p:spPr>
          <a:xfrm>
            <a:off x="3972560" y="4702810"/>
            <a:ext cx="907415" cy="194310"/>
          </a:xfrm>
          <a:prstGeom prst="rect">
            <a:avLst/>
          </a:prstGeom>
          <a:noFill/>
        </p:spPr>
        <p:txBody>
          <a:bodyPr wrap="square" rtlCol="0" lIns="0" rIns="0" tIns="0" bIns="0">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留资转化</a:t>
            </a:r>
            <a:endParaRPr lang="zh-CN" altLang="en-US" sz="1000">
              <a:solidFill>
                <a:srgbClr val="383838"/>
              </a:solidFill>
              <a:latin typeface="微软雅黑"/>
              <a:ea typeface="微软雅黑"/>
              <a:cs typeface="微软雅黑"/>
            </a:endParaRPr>
          </a:p>
        </p:txBody>
      </p:sp>
      <p:sp>
        <p:nvSpPr>
          <p:cNvPr id="83" name="文本框 82"/>
          <p:cNvSpPr txBox="1"/>
          <p:nvPr/>
        </p:nvSpPr>
        <p:spPr>
          <a:xfrm>
            <a:off x="6033770" y="4702810"/>
            <a:ext cx="907415" cy="194310"/>
          </a:xfrm>
          <a:prstGeom prst="rect">
            <a:avLst/>
          </a:prstGeom>
          <a:noFill/>
        </p:spPr>
        <p:txBody>
          <a:bodyPr wrap="square" rtlCol="0" lIns="0" rIns="0" tIns="0" bIns="0">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首保体验</a:t>
            </a:r>
            <a:endParaRPr lang="zh-CN" altLang="en-US" sz="1000">
              <a:solidFill>
                <a:srgbClr val="383838"/>
              </a:solidFill>
              <a:latin typeface="微软雅黑"/>
              <a:ea typeface="微软雅黑"/>
              <a:cs typeface="微软雅黑"/>
            </a:endParaRPr>
          </a:p>
        </p:txBody>
      </p:sp>
      <p:sp>
        <p:nvSpPr>
          <p:cNvPr id="84" name="文本框 83"/>
          <p:cNvSpPr txBox="1"/>
          <p:nvPr/>
        </p:nvSpPr>
        <p:spPr>
          <a:xfrm>
            <a:off x="7064375" y="4702810"/>
            <a:ext cx="907415" cy="194310"/>
          </a:xfrm>
          <a:prstGeom prst="rect">
            <a:avLst/>
          </a:prstGeom>
          <a:noFill/>
        </p:spPr>
        <p:txBody>
          <a:bodyPr wrap="square" rtlCol="0" lIns="0" rIns="0" tIns="0" bIns="0">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全服务触点</a:t>
            </a:r>
            <a:endParaRPr lang="zh-CN" altLang="en-US" sz="1000">
              <a:solidFill>
                <a:srgbClr val="383838"/>
              </a:solidFill>
              <a:latin typeface="微软雅黑"/>
              <a:ea typeface="微软雅黑"/>
              <a:cs typeface="微软雅黑"/>
            </a:endParaRPr>
          </a:p>
        </p:txBody>
      </p:sp>
      <p:sp>
        <p:nvSpPr>
          <p:cNvPr id="85" name="文本框 84"/>
          <p:cNvSpPr txBox="1"/>
          <p:nvPr/>
        </p:nvSpPr>
        <p:spPr>
          <a:xfrm>
            <a:off x="8094980" y="4702810"/>
            <a:ext cx="907415" cy="194310"/>
          </a:xfrm>
          <a:prstGeom prst="rect">
            <a:avLst/>
          </a:prstGeom>
          <a:noFill/>
        </p:spPr>
        <p:txBody>
          <a:bodyPr wrap="square" rtlCol="0" lIns="0" rIns="0" tIns="0" bIns="0">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流失预警</a:t>
            </a:r>
            <a:endParaRPr lang="zh-CN" altLang="en-US" sz="1000">
              <a:solidFill>
                <a:srgbClr val="383838"/>
              </a:solidFill>
              <a:latin typeface="微软雅黑"/>
              <a:ea typeface="微软雅黑"/>
              <a:cs typeface="微软雅黑"/>
            </a:endParaRPr>
          </a:p>
        </p:txBody>
      </p:sp>
      <p:sp>
        <p:nvSpPr>
          <p:cNvPr id="86" name="文本框 85"/>
          <p:cNvSpPr txBox="1"/>
          <p:nvPr/>
        </p:nvSpPr>
        <p:spPr>
          <a:xfrm>
            <a:off x="5293360" y="2517775"/>
            <a:ext cx="1241425" cy="194310"/>
          </a:xfrm>
          <a:prstGeom prst="rect">
            <a:avLst/>
          </a:prstGeom>
          <a:noFill/>
        </p:spPr>
        <p:txBody>
          <a:bodyPr wrap="square" rtlCol="0" anchor="ctr" anchorCtr="0">
            <a:noAutofi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全域客户增长</a:t>
            </a:r>
            <a:endParaRPr lang="en-US" altLang="zh-CN" sz="1200" b="1">
              <a:solidFill>
                <a:srgbClr val="FFFFFF"/>
              </a:solidFill>
              <a:latin typeface="微软雅黑"/>
              <a:ea typeface="微软雅黑"/>
              <a:cs typeface="微软雅黑"/>
            </a:endParaRPr>
          </a:p>
        </p:txBody>
      </p:sp>
      <p:pic>
        <p:nvPicPr>
          <p:cNvPr id="87" name="图片 86" descr="全部客户"/>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5551805" y="2083435"/>
            <a:ext cx="701040" cy="394970"/>
          </a:xfrm>
          <a:prstGeom prst="rect">
            <a:avLst/>
          </a:prstGeom>
        </p:spPr>
      </p:pic>
      <p:sp>
        <p:nvSpPr>
          <p:cNvPr id="88" name="文本框 87"/>
          <p:cNvSpPr txBox="1"/>
          <p:nvPr/>
        </p:nvSpPr>
        <p:spPr>
          <a:xfrm>
            <a:off x="5280025" y="2869565"/>
            <a:ext cx="673100" cy="194310"/>
          </a:xfrm>
          <a:prstGeom prst="rect">
            <a:avLst/>
          </a:prstGeom>
          <a:noFill/>
        </p:spPr>
        <p:txBody>
          <a:bodyPr wrap="square" rtlCol="0" anchor="ctr" anchorCtr="0" lIns="0" rIns="0" tIns="0" bIns="0">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会员体系</a:t>
            </a:r>
            <a:endParaRPr lang="zh-CN" altLang="en-US" sz="1000">
              <a:solidFill>
                <a:srgbClr val="FFFFFF"/>
              </a:solidFill>
              <a:latin typeface="微软雅黑"/>
              <a:ea typeface="微软雅黑"/>
              <a:cs typeface="微软雅黑"/>
            </a:endParaRPr>
          </a:p>
        </p:txBody>
      </p:sp>
      <p:sp>
        <p:nvSpPr>
          <p:cNvPr id="89" name="文本框 88"/>
          <p:cNvSpPr txBox="1"/>
          <p:nvPr/>
        </p:nvSpPr>
        <p:spPr>
          <a:xfrm>
            <a:off x="5280025" y="3063875"/>
            <a:ext cx="673100" cy="194310"/>
          </a:xfrm>
          <a:prstGeom prst="rect">
            <a:avLst/>
          </a:prstGeom>
          <a:noFill/>
        </p:spPr>
        <p:txBody>
          <a:bodyPr wrap="square" rtlCol="0" anchor="ctr" anchorCtr="0" lIns="0" rIns="0" tIns="0" bIns="0">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权益共享</a:t>
            </a:r>
            <a:endParaRPr lang="zh-CN" altLang="en-US" sz="1000">
              <a:solidFill>
                <a:srgbClr val="FFFFFF"/>
              </a:solidFill>
              <a:latin typeface="微软雅黑"/>
              <a:ea typeface="微软雅黑"/>
              <a:cs typeface="微软雅黑"/>
            </a:endParaRPr>
          </a:p>
        </p:txBody>
      </p:sp>
      <p:sp>
        <p:nvSpPr>
          <p:cNvPr id="90" name="文本框 89"/>
          <p:cNvSpPr txBox="1"/>
          <p:nvPr/>
        </p:nvSpPr>
        <p:spPr>
          <a:xfrm>
            <a:off x="5897245" y="2869565"/>
            <a:ext cx="673100" cy="194310"/>
          </a:xfrm>
          <a:prstGeom prst="rect">
            <a:avLst/>
          </a:prstGeom>
          <a:noFill/>
        </p:spPr>
        <p:txBody>
          <a:bodyPr wrap="square" rtlCol="0" anchor="ctr" anchorCtr="0" lIns="0" rIns="0" tIns="0" bIns="0">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积分互通</a:t>
            </a:r>
            <a:endParaRPr lang="zh-CN" altLang="en-US" sz="1000">
              <a:solidFill>
                <a:srgbClr val="FFFFFF"/>
              </a:solidFill>
              <a:latin typeface="微软雅黑"/>
              <a:ea typeface="微软雅黑"/>
              <a:cs typeface="微软雅黑"/>
            </a:endParaRPr>
          </a:p>
        </p:txBody>
      </p:sp>
      <p:sp>
        <p:nvSpPr>
          <p:cNvPr id="91" name="文本框 90"/>
          <p:cNvSpPr txBox="1"/>
          <p:nvPr/>
        </p:nvSpPr>
        <p:spPr>
          <a:xfrm>
            <a:off x="5897245" y="3063875"/>
            <a:ext cx="673100" cy="194310"/>
          </a:xfrm>
          <a:prstGeom prst="rect">
            <a:avLst/>
          </a:prstGeom>
          <a:noFill/>
        </p:spPr>
        <p:txBody>
          <a:bodyPr wrap="square" rtlCol="0" anchor="ctr" anchorCtr="0" lIns="0" rIns="0" tIns="0" bIns="0">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车主裂变</a:t>
            </a:r>
            <a:endParaRPr lang="zh-CN" altLang="en-US" sz="1000">
              <a:solidFill>
                <a:srgbClr val="FFFFFF"/>
              </a:solidFill>
              <a:latin typeface="微软雅黑"/>
              <a:ea typeface="微软雅黑"/>
              <a:cs typeface="微软雅黑"/>
            </a:endParaRPr>
          </a:p>
        </p:txBody>
      </p:sp>
      <p:grpSp>
        <p:nvGrpSpPr>
          <p:cNvPr id="2" name="组合 1"/>
          <p:cNvGrpSpPr/>
          <p:nvPr/>
        </p:nvGrpSpPr>
        <p:grpSpPr>
          <a:xfrm>
            <a:off x="7144385" y="1300480"/>
            <a:ext cx="2336165" cy="2628265"/>
            <a:chOff x="3740" y="8092"/>
            <a:chExt cx="2409" cy="4139"/>
          </a:xfrm>
        </p:grpSpPr>
        <p:sp>
          <p:nvSpPr>
            <p:cNvPr id="3" name="矩形 2"/>
            <p:cNvSpPr/>
            <p:nvPr/>
          </p:nvSpPr>
          <p:spPr>
            <a:xfrm>
              <a:off x="3740" y="8516"/>
              <a:ext cx="2409" cy="3715"/>
            </a:xfrm>
            <a:prstGeom prst="rect">
              <a:avLst/>
            </a:prstGeom>
            <a:solidFill>
              <a:srgbClr val="3368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 name="矩形 5"/>
            <p:cNvSpPr/>
            <p:nvPr/>
          </p:nvSpPr>
          <p:spPr>
            <a:xfrm>
              <a:off x="3740" y="8092"/>
              <a:ext cx="2409" cy="667"/>
            </a:xfrm>
            <a:prstGeom prst="rect">
              <a:avLst/>
            </a:prstGeom>
            <a:gradFill>
              <a:gsLst>
                <a:gs pos="0">
                  <a:srgbClr val="B3D4FE"/>
                </a:gs>
                <a:gs pos="100000">
                  <a:srgbClr val="3368FF"/>
                </a:gs>
              </a:gsLst>
              <a:lin ang="0" scaled="0"/>
            </a:gra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7" name="文本框 6"/>
          <p:cNvSpPr txBox="1"/>
          <p:nvPr/>
        </p:nvSpPr>
        <p:spPr>
          <a:xfrm>
            <a:off x="2379980" y="1397635"/>
            <a:ext cx="936625" cy="294640"/>
          </a:xfrm>
          <a:prstGeom prst="rect">
            <a:avLst/>
          </a:prstGeom>
          <a:noFill/>
        </p:spPr>
        <p:txBody>
          <a:bodyPr wrap="square" rtlCol="0" anchor="ctr" anchorCtr="0">
            <a:noAutofit/>
          </a:bodyPr>
          <a:p>
            <a:pPr algn="ctr">
              <a:defRPr>
                <a:latin typeface="微软雅黑"/>
                <a:ea typeface="微软雅黑"/>
                <a:cs typeface="微软雅黑"/>
              </a:defRPr>
            </a:pPr>
            <a:r>
              <a:rPr lang="zh-CN" altLang="en-US" sz="2000" b="1">
                <a:solidFill>
                  <a:srgbClr val="383838"/>
                </a:solidFill>
                <a:latin typeface="微软雅黑"/>
                <a:ea typeface="微软雅黑"/>
                <a:cs typeface="微软雅黑"/>
              </a:rPr>
              <a:t>私域</a:t>
            </a:r>
            <a:endParaRPr lang="en-US" altLang="zh-CN" sz="2000" b="1">
              <a:solidFill>
                <a:srgbClr val="383838"/>
              </a:solidFill>
              <a:latin typeface="微软雅黑"/>
              <a:ea typeface="微软雅黑"/>
              <a:cs typeface="微软雅黑"/>
            </a:endParaRPr>
          </a:p>
        </p:txBody>
      </p:sp>
      <p:sp>
        <p:nvSpPr>
          <p:cNvPr id="20" name="文本框 19"/>
          <p:cNvSpPr txBox="1"/>
          <p:nvPr/>
        </p:nvSpPr>
        <p:spPr>
          <a:xfrm>
            <a:off x="3161665" y="1397635"/>
            <a:ext cx="1191895" cy="294640"/>
          </a:xfrm>
          <a:prstGeom prst="rect">
            <a:avLst/>
          </a:prstGeom>
          <a:noFill/>
        </p:spPr>
        <p:txBody>
          <a:bodyPr wrap="square" rtlCol="0" anchor="ctr" anchorCtr="0">
            <a:no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会员深度运营</a:t>
            </a:r>
            <a:endParaRPr lang="en-US" altLang="zh-CN" sz="1200">
              <a:solidFill>
                <a:srgbClr val="383838"/>
              </a:solidFill>
              <a:latin typeface="微软雅黑"/>
              <a:ea typeface="微软雅黑"/>
              <a:cs typeface="微软雅黑"/>
            </a:endParaRPr>
          </a:p>
        </p:txBody>
      </p:sp>
      <p:sp>
        <p:nvSpPr>
          <p:cNvPr id="27" name="椭圆 26"/>
          <p:cNvSpPr/>
          <p:nvPr/>
        </p:nvSpPr>
        <p:spPr>
          <a:xfrm>
            <a:off x="2273300" y="2089150"/>
            <a:ext cx="106680" cy="106680"/>
          </a:xfrm>
          <a:prstGeom prst="ellipse">
            <a:avLst/>
          </a:prstGeom>
          <a:solidFill>
            <a:srgbClr val="3368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cxnSp>
        <p:nvCxnSpPr>
          <p:cNvPr id="28" name="肘形连接符 27"/>
          <p:cNvCxnSpPr>
            <a:stCxn id="29" idx="2"/>
            <a:endCxn id="22" idx="3"/>
          </p:cNvCxnSpPr>
          <p:nvPr/>
        </p:nvCxnSpPr>
        <p:spPr>
          <a:xfrm flipH="1">
            <a:off x="9110980" y="2089150"/>
            <a:ext cx="431165" cy="2726055"/>
          </a:xfrm>
          <a:prstGeom prst="bentConnector3">
            <a:avLst>
              <a:gd name="adj1" fmla="val -190721"/>
            </a:avLst>
          </a:prstGeom>
          <a:ln>
            <a:solidFill>
              <a:srgbClr val="3368FF"/>
            </a:solidFill>
            <a:headEnd type="triangle" w="lg" len="med"/>
          </a:ln>
        </p:spPr>
        <p:style>
          <a:lnRef idx="2">
            <a:srgbClr val="0042FF"/>
          </a:lnRef>
          <a:fillRef idx="0">
            <a:srgbClr val="FFFFFF"/>
          </a:fillRef>
          <a:effectRef idx="0">
            <a:srgbClr val="FFFFFF"/>
          </a:effectRef>
          <a:fontRef idx="minor">
            <a:srgbClr val="383838"/>
          </a:fontRef>
        </p:style>
      </p:cxnSp>
      <p:sp>
        <p:nvSpPr>
          <p:cNvPr id="29" name="椭圆 28"/>
          <p:cNvSpPr/>
          <p:nvPr/>
        </p:nvSpPr>
        <p:spPr>
          <a:xfrm flipH="1">
            <a:off x="9435465" y="2035810"/>
            <a:ext cx="106680" cy="106680"/>
          </a:xfrm>
          <a:prstGeom prst="ellipse">
            <a:avLst/>
          </a:prstGeom>
          <a:solidFill>
            <a:srgbClr val="3368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5" name="文本框 34"/>
          <p:cNvSpPr txBox="1"/>
          <p:nvPr/>
        </p:nvSpPr>
        <p:spPr>
          <a:xfrm>
            <a:off x="2465070" y="1887220"/>
            <a:ext cx="2121535" cy="648335"/>
          </a:xfrm>
          <a:prstGeom prst="rect">
            <a:avLst/>
          </a:prstGeom>
          <a:noFill/>
        </p:spPr>
        <p:txBody>
          <a:bodyPr wrap="square" rtlCol="0" lIns="0" rIns="0" tIns="0" bIns="0">
            <a:no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以品牌</a:t>
            </a:r>
            <a:r>
              <a:rPr lang="en-US" altLang="zh-CN" sz="1000">
                <a:solidFill>
                  <a:srgbClr val="383838"/>
                </a:solidFill>
                <a:latin typeface="微软雅黑"/>
                <a:ea typeface="微软雅黑"/>
                <a:cs typeface="微软雅黑"/>
              </a:rPr>
              <a:t>APP/</a:t>
            </a:r>
            <a:r>
              <a:rPr lang="zh-CN" altLang="en-US" sz="1000">
                <a:solidFill>
                  <a:srgbClr val="383838"/>
                </a:solidFill>
                <a:latin typeface="微软雅黑"/>
                <a:ea typeface="微软雅黑"/>
                <a:cs typeface="微软雅黑"/>
              </a:rPr>
              <a:t>车机为核心入口，构建</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体验</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服务</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社交</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闭环（如蔚来</a:t>
            </a:r>
            <a:r>
              <a:rPr lang="en-US" altLang="zh-CN" sz="1000">
                <a:solidFill>
                  <a:srgbClr val="383838"/>
                </a:solidFill>
                <a:latin typeface="微软雅黑"/>
                <a:ea typeface="微软雅黑"/>
                <a:cs typeface="微软雅黑"/>
              </a:rPr>
              <a:t>NIO Life</a:t>
            </a:r>
            <a:r>
              <a:rPr lang="zh-CN" altLang="en-US" sz="1000">
                <a:solidFill>
                  <a:srgbClr val="383838"/>
                </a:solidFill>
                <a:latin typeface="微软雅黑"/>
                <a:ea typeface="微软雅黑"/>
                <a:cs typeface="微软雅黑"/>
              </a:rPr>
              <a:t>生态）。</a:t>
            </a:r>
            <a:endParaRPr lang="zh-CN" altLang="en-US" sz="1000">
              <a:solidFill>
                <a:srgbClr val="383838"/>
              </a:solidFill>
              <a:latin typeface="微软雅黑"/>
              <a:ea typeface="微软雅黑"/>
              <a:cs typeface="微软雅黑"/>
            </a:endParaRPr>
          </a:p>
        </p:txBody>
      </p:sp>
      <p:sp>
        <p:nvSpPr>
          <p:cNvPr id="45" name="文本框 44"/>
          <p:cNvSpPr txBox="1"/>
          <p:nvPr/>
        </p:nvSpPr>
        <p:spPr>
          <a:xfrm>
            <a:off x="7206615" y="1830070"/>
            <a:ext cx="2121535" cy="648335"/>
          </a:xfrm>
          <a:prstGeom prst="rect">
            <a:avLst/>
          </a:prstGeom>
          <a:noFill/>
        </p:spPr>
        <p:txBody>
          <a:bodyPr wrap="square" rtlCol="0" lIns="0" rIns="0" tIns="0" bIns="0">
            <a:no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通过垂媒广告、跨界合作扩大潜客池，并利用数据中台实现精准导流至私域。</a:t>
            </a:r>
            <a:endParaRPr lang="zh-CN" altLang="en-US" sz="1000">
              <a:solidFill>
                <a:srgbClr val="383838"/>
              </a:solidFill>
              <a:latin typeface="微软雅黑"/>
              <a:ea typeface="微软雅黑"/>
              <a:cs typeface="微软雅黑"/>
            </a:endParaRPr>
          </a:p>
        </p:txBody>
      </p:sp>
      <p:sp>
        <p:nvSpPr>
          <p:cNvPr id="46" name="文本框 45"/>
          <p:cNvSpPr txBox="1"/>
          <p:nvPr/>
        </p:nvSpPr>
        <p:spPr>
          <a:xfrm>
            <a:off x="8529955" y="1364615"/>
            <a:ext cx="936625" cy="294640"/>
          </a:xfrm>
          <a:prstGeom prst="rect">
            <a:avLst/>
          </a:prstGeom>
          <a:noFill/>
        </p:spPr>
        <p:txBody>
          <a:bodyPr wrap="square" rtlCol="0" anchor="ctr" anchorCtr="0">
            <a:noAutofit/>
          </a:bodyPr>
          <a:p>
            <a:pPr algn="ctr">
              <a:defRPr>
                <a:solidFill>
                  <a:srgbClr val="FFFFFF"/>
                </a:solidFill>
                <a:latin typeface="微软雅黑"/>
                <a:ea typeface="微软雅黑"/>
                <a:cs typeface="微软雅黑"/>
              </a:defRPr>
            </a:pPr>
            <a:r>
              <a:rPr lang="zh-CN" altLang="en-US" sz="2000" b="1">
                <a:solidFill>
                  <a:srgbClr val="FFFFFF"/>
                </a:solidFill>
                <a:latin typeface="微软雅黑"/>
                <a:ea typeface="微软雅黑"/>
                <a:cs typeface="微软雅黑"/>
              </a:rPr>
              <a:t>公域</a:t>
            </a:r>
            <a:endParaRPr lang="en-US" altLang="zh-CN" sz="2000" b="1">
              <a:solidFill>
                <a:srgbClr val="FFFFFF"/>
              </a:solidFill>
              <a:latin typeface="微软雅黑"/>
              <a:ea typeface="微软雅黑"/>
              <a:cs typeface="微软雅黑"/>
            </a:endParaRPr>
          </a:p>
        </p:txBody>
      </p:sp>
      <p:sp>
        <p:nvSpPr>
          <p:cNvPr id="49" name="文本框 48"/>
          <p:cNvSpPr txBox="1"/>
          <p:nvPr/>
        </p:nvSpPr>
        <p:spPr>
          <a:xfrm>
            <a:off x="7401560" y="1397635"/>
            <a:ext cx="1191895" cy="294640"/>
          </a:xfrm>
          <a:prstGeom prst="rect">
            <a:avLst/>
          </a:prstGeom>
          <a:noFill/>
        </p:spPr>
        <p:txBody>
          <a:bodyPr wrap="square" rtlCol="0" anchor="ctr" anchorCtr="0">
            <a:no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客户互动拉新</a:t>
            </a:r>
            <a:endParaRPr lang="zh-CN" altLang="en-US" sz="1200">
              <a:solidFill>
                <a:srgbClr val="383838"/>
              </a:solidFill>
              <a:latin typeface="微软雅黑"/>
              <a:ea typeface="微软雅黑"/>
              <a:cs typeface="微软雅黑"/>
            </a:endParaRPr>
          </a:p>
        </p:txBody>
      </p:sp>
      <p:sp>
        <p:nvSpPr>
          <p:cNvPr id="56" name="文本框 55"/>
          <p:cNvSpPr txBox="1"/>
          <p:nvPr/>
        </p:nvSpPr>
        <p:spPr>
          <a:xfrm>
            <a:off x="2573020" y="2883535"/>
            <a:ext cx="92138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场景化服务</a:t>
            </a:r>
            <a:endParaRPr lang="zh-CN" altLang="en-US" sz="1000">
              <a:latin typeface="微软雅黑"/>
              <a:ea typeface="微软雅黑"/>
              <a:cs typeface="微软雅黑"/>
            </a:endParaRPr>
          </a:p>
        </p:txBody>
      </p:sp>
      <p:sp>
        <p:nvSpPr>
          <p:cNvPr id="57" name="文本框 56"/>
          <p:cNvSpPr txBox="1"/>
          <p:nvPr/>
        </p:nvSpPr>
        <p:spPr>
          <a:xfrm>
            <a:off x="3462020" y="2891155"/>
            <a:ext cx="109029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会员积分体系</a:t>
            </a:r>
            <a:endParaRPr lang="zh-CN" altLang="en-US" sz="1000">
              <a:latin typeface="微软雅黑"/>
              <a:ea typeface="微软雅黑"/>
              <a:cs typeface="微软雅黑"/>
            </a:endParaRPr>
          </a:p>
        </p:txBody>
      </p:sp>
      <p:sp>
        <p:nvSpPr>
          <p:cNvPr id="69" name="文本框 68"/>
          <p:cNvSpPr txBox="1"/>
          <p:nvPr/>
        </p:nvSpPr>
        <p:spPr>
          <a:xfrm>
            <a:off x="2573020" y="3575685"/>
            <a:ext cx="92138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车主俱乐部</a:t>
            </a:r>
            <a:endParaRPr lang="zh-CN" altLang="en-US" sz="1000">
              <a:latin typeface="微软雅黑"/>
              <a:ea typeface="微软雅黑"/>
              <a:cs typeface="微软雅黑"/>
            </a:endParaRPr>
          </a:p>
        </p:txBody>
      </p:sp>
      <p:sp>
        <p:nvSpPr>
          <p:cNvPr id="70" name="文本框 69"/>
          <p:cNvSpPr txBox="1"/>
          <p:nvPr/>
        </p:nvSpPr>
        <p:spPr>
          <a:xfrm>
            <a:off x="3546475" y="3575685"/>
            <a:ext cx="92138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口碑传播</a:t>
            </a:r>
            <a:endParaRPr lang="zh-CN" altLang="en-US" sz="1000">
              <a:latin typeface="微软雅黑"/>
              <a:ea typeface="微软雅黑"/>
              <a:cs typeface="微软雅黑"/>
            </a:endParaRPr>
          </a:p>
        </p:txBody>
      </p:sp>
      <p:pic>
        <p:nvPicPr>
          <p:cNvPr id="92" name="图片 91" descr="口碑传播"/>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3791168" y="3181985"/>
            <a:ext cx="432000" cy="432000"/>
          </a:xfrm>
          <a:prstGeom prst="rect">
            <a:avLst/>
          </a:prstGeom>
        </p:spPr>
      </p:pic>
      <p:pic>
        <p:nvPicPr>
          <p:cNvPr id="93" name="图片 92" descr="置入场景"/>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2817713" y="2437765"/>
            <a:ext cx="432000" cy="432000"/>
          </a:xfrm>
          <a:prstGeom prst="rect">
            <a:avLst/>
          </a:prstGeom>
        </p:spPr>
      </p:pic>
      <p:pic>
        <p:nvPicPr>
          <p:cNvPr id="94" name="图片 93" descr="营销_积分体系"/>
          <p:cNvPicPr>
            <a:picLocks noChangeAspect="1"/>
          </p:cNvPicPr>
          <p:nvPr/>
        </p:nvPicPr>
        <p:blipFill>
          <a:blip r:embed="rId31">
            <a:extLst>
              <a:ext uri="{96DAC541-7B7A-43D3-8B79-37D633B846F1}">
                <asvg:svgBlip xmlns:asvg="http://schemas.microsoft.com/office/drawing/2016/SVG/main" r:embed="rId32"/>
              </a:ext>
            </a:extLst>
          </a:blip>
          <a:stretch>
            <a:fillRect/>
          </a:stretch>
        </p:blipFill>
        <p:spPr>
          <a:xfrm>
            <a:off x="3811588" y="2478405"/>
            <a:ext cx="391160" cy="391160"/>
          </a:xfrm>
          <a:prstGeom prst="rect">
            <a:avLst/>
          </a:prstGeom>
        </p:spPr>
      </p:pic>
      <p:pic>
        <p:nvPicPr>
          <p:cNvPr id="95" name="图片 94" descr="会员俱乐部"/>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2844800" y="3151505"/>
            <a:ext cx="377825" cy="377825"/>
          </a:xfrm>
          <a:prstGeom prst="rect">
            <a:avLst/>
          </a:prstGeom>
        </p:spPr>
      </p:pic>
      <p:sp>
        <p:nvSpPr>
          <p:cNvPr id="96" name="文本框 95"/>
          <p:cNvSpPr txBox="1"/>
          <p:nvPr/>
        </p:nvSpPr>
        <p:spPr>
          <a:xfrm>
            <a:off x="7432675" y="2905125"/>
            <a:ext cx="92138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垂媒广告</a:t>
            </a:r>
            <a:endParaRPr lang="zh-CN" altLang="en-US" sz="1000">
              <a:latin typeface="微软雅黑"/>
              <a:ea typeface="微软雅黑"/>
              <a:cs typeface="微软雅黑"/>
            </a:endParaRPr>
          </a:p>
        </p:txBody>
      </p:sp>
      <p:sp>
        <p:nvSpPr>
          <p:cNvPr id="97" name="文本框 96"/>
          <p:cNvSpPr txBox="1"/>
          <p:nvPr/>
        </p:nvSpPr>
        <p:spPr>
          <a:xfrm>
            <a:off x="8321675" y="2912745"/>
            <a:ext cx="109029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异业合作</a:t>
            </a:r>
            <a:endParaRPr lang="zh-CN" altLang="en-US" sz="1000">
              <a:latin typeface="微软雅黑"/>
              <a:ea typeface="微软雅黑"/>
              <a:cs typeface="微软雅黑"/>
            </a:endParaRPr>
          </a:p>
        </p:txBody>
      </p:sp>
      <p:sp>
        <p:nvSpPr>
          <p:cNvPr id="98" name="文本框 97"/>
          <p:cNvSpPr txBox="1"/>
          <p:nvPr/>
        </p:nvSpPr>
        <p:spPr>
          <a:xfrm>
            <a:off x="7432675" y="3597275"/>
            <a:ext cx="92138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新媒体直播</a:t>
            </a:r>
            <a:endParaRPr lang="zh-CN" altLang="en-US" sz="1000">
              <a:latin typeface="微软雅黑"/>
              <a:ea typeface="微软雅黑"/>
              <a:cs typeface="微软雅黑"/>
            </a:endParaRPr>
          </a:p>
        </p:txBody>
      </p:sp>
      <p:sp>
        <p:nvSpPr>
          <p:cNvPr id="99" name="文本框 98"/>
          <p:cNvSpPr txBox="1"/>
          <p:nvPr/>
        </p:nvSpPr>
        <p:spPr>
          <a:xfrm>
            <a:off x="8406130" y="3597275"/>
            <a:ext cx="92138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latin typeface="微软雅黑"/>
                <a:ea typeface="微软雅黑"/>
                <a:cs typeface="微软雅黑"/>
              </a:rPr>
              <a:t>搜索引擎</a:t>
            </a:r>
            <a:endParaRPr lang="zh-CN" altLang="en-US" sz="1000">
              <a:latin typeface="微软雅黑"/>
              <a:ea typeface="微软雅黑"/>
              <a:cs typeface="微软雅黑"/>
            </a:endParaRPr>
          </a:p>
        </p:txBody>
      </p:sp>
      <p:pic>
        <p:nvPicPr>
          <p:cNvPr id="104" name="图片 103" descr="05结构化数据"/>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8692515" y="3226435"/>
            <a:ext cx="324485" cy="324485"/>
          </a:xfrm>
          <a:prstGeom prst="rect">
            <a:avLst/>
          </a:prstGeom>
        </p:spPr>
      </p:pic>
      <p:pic>
        <p:nvPicPr>
          <p:cNvPr id="105" name="图片 104" descr="汽车之家2"/>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7715250" y="2535555"/>
            <a:ext cx="311150" cy="311150"/>
          </a:xfrm>
          <a:prstGeom prst="rect">
            <a:avLst/>
          </a:prstGeom>
        </p:spPr>
      </p:pic>
      <p:pic>
        <p:nvPicPr>
          <p:cNvPr id="106" name="图片 105" descr="服务诉求"/>
          <p:cNvPicPr>
            <a:picLocks noChangeAspect="1"/>
          </p:cNvPicPr>
          <p:nvPr/>
        </p:nvPicPr>
        <p:blipFill>
          <a:blip r:embed="rId39">
            <a:extLst>
              <a:ext uri="{96DAC541-7B7A-43D3-8B79-37D633B846F1}">
                <asvg:svgBlip xmlns:asvg="http://schemas.microsoft.com/office/drawing/2016/SVG/main" r:embed="rId40"/>
              </a:ext>
            </a:extLst>
          </a:blip>
          <a:stretch>
            <a:fillRect/>
          </a:stretch>
        </p:blipFill>
        <p:spPr>
          <a:xfrm>
            <a:off x="8692515" y="2560320"/>
            <a:ext cx="349250" cy="276225"/>
          </a:xfrm>
          <a:prstGeom prst="rect">
            <a:avLst/>
          </a:prstGeom>
        </p:spPr>
      </p:pic>
      <p:pic>
        <p:nvPicPr>
          <p:cNvPr id="109" name="图片 108" descr="云直播"/>
          <p:cNvPicPr>
            <a:picLocks noChangeAspect="1"/>
          </p:cNvPicPr>
          <p:nvPr/>
        </p:nvPicPr>
        <p:blipFill>
          <a:blip r:embed="rId41">
            <a:extLst>
              <a:ext uri="{96DAC541-7B7A-43D3-8B79-37D633B846F1}">
                <asvg:svgBlip xmlns:asvg="http://schemas.microsoft.com/office/drawing/2016/SVG/main" r:embed="rId42"/>
              </a:ext>
            </a:extLst>
          </a:blip>
          <a:stretch>
            <a:fillRect/>
          </a:stretch>
        </p:blipFill>
        <p:spPr>
          <a:xfrm>
            <a:off x="7739380" y="3307080"/>
            <a:ext cx="287020" cy="222250"/>
          </a:xfrm>
          <a:prstGeom prst="rect">
            <a:avLst/>
          </a:prstGeom>
        </p:spPr>
      </p:pic>
      <p:sp>
        <p:nvSpPr>
          <p:cNvPr id="110" name="文本框 109"/>
          <p:cNvSpPr txBox="1"/>
          <p:nvPr/>
        </p:nvSpPr>
        <p:spPr>
          <a:xfrm>
            <a:off x="9932035" y="2761933"/>
            <a:ext cx="431165" cy="1106170"/>
          </a:xfrm>
          <a:prstGeom prst="rect">
            <a:avLst/>
          </a:prstGeom>
          <a:noFill/>
        </p:spPr>
        <p:txBody>
          <a:bodyPr wrap="square" rtlCol="0" anchor="ctr" anchorCtr="0">
            <a:no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全渠道拓客</a:t>
            </a:r>
            <a:endParaRPr lang="zh-CN" altLang="en-US" sz="1600" b="1">
              <a:solidFill>
                <a:srgbClr val="0042FF"/>
              </a:solidFill>
              <a:latin typeface="微软雅黑"/>
              <a:ea typeface="微软雅黑"/>
              <a:cs typeface="微软雅黑"/>
            </a:endParaRPr>
          </a:p>
        </p:txBody>
      </p:sp>
      <p:sp>
        <p:nvSpPr>
          <p:cNvPr id="111" name="文本框 110"/>
          <p:cNvSpPr txBox="1"/>
          <p:nvPr/>
        </p:nvSpPr>
        <p:spPr>
          <a:xfrm>
            <a:off x="1621155" y="2761933"/>
            <a:ext cx="431165" cy="1106170"/>
          </a:xfrm>
          <a:prstGeom prst="rect">
            <a:avLst/>
          </a:prstGeom>
          <a:noFill/>
        </p:spPr>
        <p:txBody>
          <a:bodyPr wrap="square" rtlCol="0" anchor="ctr" anchorCtr="0">
            <a:no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自有客户挖掘</a:t>
            </a:r>
            <a:endParaRPr lang="zh-CN" altLang="en-US" sz="1600" b="1">
              <a:solidFill>
                <a:srgbClr val="0042FF"/>
              </a:solidFill>
              <a:latin typeface="微软雅黑"/>
              <a:ea typeface="微软雅黑"/>
              <a:cs typeface="微软雅黑"/>
            </a:endParaRPr>
          </a:p>
        </p:txBody>
      </p:sp>
      <p:pic>
        <p:nvPicPr>
          <p:cNvPr id="58" name="图片 57" descr="屋顶资源管理"/>
          <p:cNvPicPr>
            <a:picLocks noChangeAspect="1"/>
          </p:cNvPicPr>
          <p:nvPr/>
        </p:nvPicPr>
        <p:blipFill>
          <a:blip r:embed="rId43">
            <a:extLst>
              <a:ext uri="{96DAC541-7B7A-43D3-8B79-37D633B846F1}">
                <asvg:svgBlip xmlns:asvg="http://schemas.microsoft.com/office/drawing/2016/SVG/main" r:embed="rId44"/>
              </a:ext>
            </a:extLst>
          </a:blip>
          <a:stretch>
            <a:fillRect/>
          </a:stretch>
        </p:blipFill>
        <p:spPr>
          <a:xfrm>
            <a:off x="355600" y="186055"/>
            <a:ext cx="549910" cy="549910"/>
          </a:xfrm>
          <a:prstGeom prst="rect">
            <a:avLst/>
          </a:prstGeom>
        </p:spPr>
      </p:pic>
      <p:grpSp>
        <p:nvGrpSpPr>
          <p:cNvPr id="10" name="组合 9"/>
          <p:cNvGrpSpPr/>
          <p:nvPr/>
        </p:nvGrpSpPr>
        <p:grpSpPr>
          <a:xfrm>
            <a:off x="8738235" y="348615"/>
            <a:ext cx="3219450" cy="332740"/>
            <a:chOff x="13761" y="549"/>
            <a:chExt cx="5070" cy="524"/>
          </a:xfrm>
        </p:grpSpPr>
        <p:pic>
          <p:nvPicPr>
            <p:cNvPr id="60" name="图片 59"/>
            <p:cNvPicPr>
              <a:picLocks noChangeAspect="1"/>
            </p:cNvPicPr>
            <p:nvPr userDrawn="1"/>
          </p:nvPicPr>
          <p:blipFill>
            <a:blip r:embed="rId45"/>
            <a:srcRect l="17002" t="-1765" r="56499" b="-1176"/>
            <a:stretch>
              <a:fillRect/>
            </a:stretch>
          </p:blipFill>
          <p:spPr>
            <a:xfrm>
              <a:off x="13761" y="549"/>
              <a:ext cx="1582" cy="525"/>
            </a:xfrm>
            <a:prstGeom prst="rect">
              <a:avLst/>
            </a:prstGeom>
          </p:spPr>
        </p:pic>
        <p:sp>
          <p:nvSpPr>
            <p:cNvPr id="61" name="文本框 6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6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4168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构建三位一体的运营体系</a:t>
            </a:r>
            <a:endParaRPr sz="2500" b="0">
              <a:solidFill>
                <a:srgbClr val="383838"/>
              </a:solidFill>
              <a:effectLst/>
              <a:latin typeface="微软雅黑"/>
              <a:ea typeface="微软雅黑"/>
              <a:cs typeface="微软雅黑"/>
            </a:endParaRPr>
          </a:p>
        </p:txBody>
      </p:sp>
      <p:grpSp>
        <p:nvGrpSpPr>
          <p:cNvPr id="79" name="组合 78"/>
          <p:cNvGrpSpPr/>
          <p:nvPr/>
        </p:nvGrpSpPr>
        <p:grpSpPr>
          <a:xfrm>
            <a:off x="10119360" y="2583815"/>
            <a:ext cx="1052195" cy="2965450"/>
            <a:chOff x="15973" y="4069"/>
            <a:chExt cx="1657" cy="4670"/>
          </a:xfrm>
        </p:grpSpPr>
        <p:sp>
          <p:nvSpPr>
            <p:cNvPr id="7" name="三角形 35"/>
            <p:cNvSpPr/>
            <p:nvPr/>
          </p:nvSpPr>
          <p:spPr>
            <a:xfrm rot="5400000">
              <a:off x="14224" y="5818"/>
              <a:ext cx="4671" cy="1172"/>
            </a:xfrm>
            <a:prstGeom prst="triangle">
              <a:avLst/>
            </a:prstGeom>
            <a:noFill/>
            <a:ln w="15875" cap="flat">
              <a:gradFill>
                <a:gsLst>
                  <a:gs pos="0">
                    <a:srgbClr val="E6E6E6"/>
                  </a:gs>
                  <a:gs pos="7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sp>
          <p:nvSpPr>
            <p:cNvPr id="9" name="三角形 36"/>
            <p:cNvSpPr/>
            <p:nvPr/>
          </p:nvSpPr>
          <p:spPr>
            <a:xfrm rot="5400000">
              <a:off x="14706" y="5818"/>
              <a:ext cx="4671" cy="1172"/>
            </a:xfrm>
            <a:prstGeom prst="triangle">
              <a:avLst/>
            </a:prstGeom>
            <a:noFill/>
            <a:ln w="15875" cap="flat">
              <a:gradFill>
                <a:gsLst>
                  <a:gs pos="0">
                    <a:srgbClr val="B3D4FE"/>
                  </a:gs>
                  <a:gs pos="8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cxnSp>
          <p:nvCxnSpPr>
            <p:cNvPr id="16" name="直线连接符 32"/>
            <p:cNvCxnSpPr/>
            <p:nvPr/>
          </p:nvCxnSpPr>
          <p:spPr>
            <a:xfrm rot="10800000" flipH="1">
              <a:off x="16361" y="6386"/>
              <a:ext cx="780" cy="1577"/>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cxnSp>
          <p:nvCxnSpPr>
            <p:cNvPr id="17" name="直线连接符 33"/>
            <p:cNvCxnSpPr/>
            <p:nvPr/>
          </p:nvCxnSpPr>
          <p:spPr>
            <a:xfrm rot="10800000" flipH="1" flipV="1">
              <a:off x="16725" y="5571"/>
              <a:ext cx="416" cy="828"/>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sp>
          <p:nvSpPr>
            <p:cNvPr id="22" name="椭圆 21"/>
            <p:cNvSpPr/>
            <p:nvPr/>
          </p:nvSpPr>
          <p:spPr>
            <a:xfrm rot="10800000">
              <a:off x="16303" y="7905"/>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cxnSp>
          <p:nvCxnSpPr>
            <p:cNvPr id="24" name="直线连接符 29"/>
            <p:cNvCxnSpPr/>
            <p:nvPr/>
          </p:nvCxnSpPr>
          <p:spPr>
            <a:xfrm>
              <a:off x="16850" y="4836"/>
              <a:ext cx="780" cy="1577"/>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cxnSp>
          <p:nvCxnSpPr>
            <p:cNvPr id="25" name="直线连接符 30"/>
            <p:cNvCxnSpPr/>
            <p:nvPr/>
          </p:nvCxnSpPr>
          <p:spPr>
            <a:xfrm flipV="1">
              <a:off x="17214" y="6396"/>
              <a:ext cx="416" cy="828"/>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sp>
          <p:nvSpPr>
            <p:cNvPr id="26" name="椭圆 25"/>
            <p:cNvSpPr/>
            <p:nvPr/>
          </p:nvSpPr>
          <p:spPr>
            <a:xfrm flipH="1">
              <a:off x="16791" y="4751"/>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sp>
        <p:nvSpPr>
          <p:cNvPr id="28" name="梯形 27"/>
          <p:cNvSpPr/>
          <p:nvPr/>
        </p:nvSpPr>
        <p:spPr>
          <a:xfrm>
            <a:off x="2239010" y="5743575"/>
            <a:ext cx="8205470" cy="362585"/>
          </a:xfrm>
          <a:prstGeom prst="trapezoid">
            <a:avLst>
              <a:gd name="adj" fmla="val 187465"/>
            </a:avLst>
          </a:prstGeom>
          <a:gradFill>
            <a:gsLst>
              <a:gs pos="0">
                <a:srgbClr val="3368FF">
                  <a:alpha val="0"/>
                </a:srgbClr>
              </a:gs>
              <a:gs pos="100000">
                <a:srgbClr val="3368FF">
                  <a:alpha val="5000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9" name="梯形 28"/>
          <p:cNvSpPr/>
          <p:nvPr/>
        </p:nvSpPr>
        <p:spPr>
          <a:xfrm>
            <a:off x="2239010" y="3956050"/>
            <a:ext cx="8205470" cy="362585"/>
          </a:xfrm>
          <a:prstGeom prst="trapezoid">
            <a:avLst>
              <a:gd name="adj" fmla="val 187465"/>
            </a:avLst>
          </a:prstGeom>
          <a:gradFill>
            <a:gsLst>
              <a:gs pos="0">
                <a:srgbClr val="668EFF">
                  <a:alpha val="0"/>
                </a:srgbClr>
              </a:gs>
              <a:gs pos="100000">
                <a:srgbClr val="668EFF">
                  <a:alpha val="50000"/>
                </a:srgbClr>
              </a:gs>
            </a:gsLst>
          </a:gradFill>
        </p:spPr>
        <p:style>
          <a:lnRef idx="0">
            <a:srgbClr val="FFFFFF"/>
          </a:lnRef>
          <a:fillRef idx="2">
            <a:srgbClr val="668EFF"/>
          </a:fillRef>
          <a:effectRef idx="0">
            <a:srgbClr val="FFFF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0" name="梯形 29"/>
          <p:cNvSpPr/>
          <p:nvPr/>
        </p:nvSpPr>
        <p:spPr>
          <a:xfrm>
            <a:off x="2237740" y="2164715"/>
            <a:ext cx="8205470" cy="362585"/>
          </a:xfrm>
          <a:prstGeom prst="trapezoid">
            <a:avLst>
              <a:gd name="adj" fmla="val 187465"/>
            </a:avLst>
          </a:prstGeom>
          <a:gradFill>
            <a:gsLst>
              <a:gs pos="0">
                <a:srgbClr val="B3D4FE">
                  <a:alpha val="0"/>
                </a:srgbClr>
              </a:gs>
              <a:gs pos="100000">
                <a:srgbClr val="B3D4FE">
                  <a:alpha val="50000"/>
                </a:srgbClr>
              </a:gs>
            </a:gsLst>
          </a:gradFill>
        </p:spPr>
        <p:style>
          <a:lnRef idx="0">
            <a:srgbClr val="FFFFFF"/>
          </a:lnRef>
          <a:fillRef idx="2">
            <a:srgbClr val="3368FF"/>
          </a:fillRef>
          <a:effectRef idx="0">
            <a:srgbClr val="FFFF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1" name="Freeform 1482"/>
          <p:cNvSpPr/>
          <p:nvPr/>
        </p:nvSpPr>
        <p:spPr>
          <a:xfrm>
            <a:off x="2251710" y="6102350"/>
            <a:ext cx="8192135" cy="362585"/>
          </a:xfrm>
          <a:custGeom>
            <a:avLst/>
            <a:gdLst/>
            <a:ahLst/>
            <a:cxnLst/>
            <a:rect l="0" t="0" r="0" b="0"/>
            <a:pathLst>
              <a:path w="10750295" h="362712">
                <a:moveTo>
                  <a:pt x="0" y="362712"/>
                </a:moveTo>
                <a:lnTo>
                  <a:pt x="10750295" y="362712"/>
                </a:lnTo>
                <a:lnTo>
                  <a:pt x="10750295" y="0"/>
                </a:lnTo>
                <a:lnTo>
                  <a:pt x="0" y="0"/>
                </a:lnTo>
                <a:lnTo>
                  <a:pt x="0" y="362712"/>
                </a:lnTo>
                <a:close/>
              </a:path>
            </a:pathLst>
          </a:custGeom>
          <a:gradFill>
            <a:gsLst>
              <a:gs pos="0">
                <a:srgbClr val="3368FF"/>
              </a:gs>
              <a:gs pos="100000">
                <a:srgbClr val="0042FF"/>
              </a:gs>
            </a:gsLst>
            <a:lin ang="10800000" scaled="0"/>
          </a:gradFill>
        </p:spPr>
        <p:style>
          <a:lnRef idx="0">
            <a:srgbClr val="FFFFFF"/>
          </a:lnRef>
          <a:fillRef idx="1">
            <a:srgbClr val="0042FF"/>
          </a:fillRef>
          <a:effectRef idx="0">
            <a:srgbClr val="FFFFFF"/>
          </a:effectRef>
          <a:fontRef idx="minor">
            <a:srgbClr val="383838"/>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32" name="Freeform 1484"/>
          <p:cNvSpPr/>
          <p:nvPr/>
        </p:nvSpPr>
        <p:spPr>
          <a:xfrm>
            <a:off x="2251710" y="4314825"/>
            <a:ext cx="8191500" cy="362585"/>
          </a:xfrm>
          <a:custGeom>
            <a:avLst/>
            <a:gdLst/>
            <a:ahLst/>
            <a:cxnLst/>
            <a:rect l="0" t="0" r="0" b="0"/>
            <a:pathLst>
              <a:path w="10750295" h="362712">
                <a:moveTo>
                  <a:pt x="0" y="362712"/>
                </a:moveTo>
                <a:lnTo>
                  <a:pt x="10750295" y="362712"/>
                </a:lnTo>
                <a:lnTo>
                  <a:pt x="10750295" y="0"/>
                </a:lnTo>
                <a:lnTo>
                  <a:pt x="0" y="0"/>
                </a:lnTo>
                <a:lnTo>
                  <a:pt x="0" y="362712"/>
                </a:lnTo>
                <a:close/>
              </a:path>
            </a:pathLst>
          </a:custGeom>
          <a:gradFill>
            <a:gsLst>
              <a:gs pos="0">
                <a:srgbClr val="668EFF"/>
              </a:gs>
              <a:gs pos="100000">
                <a:srgbClr val="3368FF"/>
              </a:gs>
            </a:gsLst>
            <a:lin ang="10800000" scaled="0"/>
          </a:gradFill>
        </p:spPr>
        <p:style>
          <a:lnRef idx="0">
            <a:srgbClr val="FFFFFF"/>
          </a:lnRef>
          <a:fillRef idx="1">
            <a:srgbClr val="668EFF"/>
          </a:fillRef>
          <a:effectRef idx="0">
            <a:srgbClr val="FFFFFF"/>
          </a:effectRef>
          <a:fontRef idx="minor">
            <a:srgbClr val="383838"/>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33" name="Freeform 1486"/>
          <p:cNvSpPr/>
          <p:nvPr/>
        </p:nvSpPr>
        <p:spPr>
          <a:xfrm>
            <a:off x="2251710" y="2527300"/>
            <a:ext cx="8192770" cy="362585"/>
          </a:xfrm>
          <a:custGeom>
            <a:avLst/>
            <a:gdLst/>
            <a:ahLst/>
            <a:cxnLst/>
            <a:rect l="0" t="0" r="0" b="0"/>
            <a:pathLst>
              <a:path w="10750295" h="362712">
                <a:moveTo>
                  <a:pt x="0" y="362712"/>
                </a:moveTo>
                <a:lnTo>
                  <a:pt x="10750295" y="362712"/>
                </a:lnTo>
                <a:lnTo>
                  <a:pt x="10750295" y="0"/>
                </a:lnTo>
                <a:lnTo>
                  <a:pt x="0" y="0"/>
                </a:lnTo>
                <a:lnTo>
                  <a:pt x="0" y="362712"/>
                </a:lnTo>
                <a:close/>
              </a:path>
            </a:pathLst>
          </a:custGeom>
          <a:gradFill>
            <a:gsLst>
              <a:gs pos="0">
                <a:srgbClr val="3368FF"/>
              </a:gs>
              <a:gs pos="100000">
                <a:srgbClr val="B3D4FE"/>
              </a:gs>
            </a:gsLst>
            <a:lin ang="0" scaled="0"/>
          </a:gradFill>
        </p:spPr>
        <p:style>
          <a:lnRef idx="0">
            <a:srgbClr val="FFFFFF"/>
          </a:lnRef>
          <a:fillRef idx="1">
            <a:srgbClr val="3368FF"/>
          </a:fillRef>
          <a:effectRef idx="0">
            <a:srgbClr val="FFFFFF"/>
          </a:effectRef>
          <a:fontRef idx="minor">
            <a:srgbClr val="383838"/>
          </a:fontRef>
        </p:style>
        <p:txBody>
          <a:bodyP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34" name="矩形: 圆角 43"/>
          <p:cNvSpPr/>
          <p:nvPr/>
        </p:nvSpPr>
        <p:spPr>
          <a:xfrm>
            <a:off x="3019425" y="3018790"/>
            <a:ext cx="1920240" cy="886460"/>
          </a:xfrm>
          <a:prstGeom prst="roundRect">
            <a:avLst>
              <a:gd name="adj" fmla="val 1871"/>
            </a:avLst>
          </a:prstGeom>
          <a:ln w="635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35" name="Freeform 1529"/>
          <p:cNvSpPr/>
          <p:nvPr/>
        </p:nvSpPr>
        <p:spPr>
          <a:xfrm>
            <a:off x="3128010" y="3119755"/>
            <a:ext cx="1675765" cy="242570"/>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gradFill>
            <a:gsLst>
              <a:gs pos="0">
                <a:srgbClr val="668EFF"/>
              </a:gs>
              <a:gs pos="100000">
                <a:srgbClr val="3368FF"/>
              </a:gs>
            </a:gsLst>
            <a:lin ang="5400000" scaled="0"/>
          </a:gradFill>
        </p:spPr>
        <p:style>
          <a:lnRef idx="0">
            <a:srgbClr val="FFFFFF"/>
          </a:lnRef>
          <a:fillRef idx="1">
            <a:srgbClr val="668EFF"/>
          </a:fillRef>
          <a:effectRef idx="0">
            <a:srgbClr val="FFFF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37" name="Rectangle 1553"/>
          <p:cNvSpPr/>
          <p:nvPr/>
        </p:nvSpPr>
        <p:spPr>
          <a:xfrm>
            <a:off x="5473700" y="2581910"/>
            <a:ext cx="1838960" cy="276860"/>
          </a:xfrm>
          <a:prstGeom prst="rect">
            <a:avLst/>
          </a:prstGeom>
        </p:spPr>
        <p:txBody>
          <a:bodyPr wrap="square" lIns="0" tIns="0" rIns="0" bIns="0">
            <a:spAutoFit/>
          </a:bodyPr>
          <a:lstStyle/>
          <a:p>
            <a:pPr marL="0" algn="ctr">
              <a:defRPr>
                <a:latin typeface="微软雅黑"/>
                <a:ea typeface="微软雅黑"/>
                <a:cs typeface="微软雅黑"/>
              </a:defRPr>
            </a:pPr>
            <a:r>
              <a:rPr lang="zh-CN" altLang="en-US" sz="1800" b="1" spc="0" baseline="0" dirty="0">
                <a:solidFill>
                  <a:srgbClr val="383838"/>
                </a:solidFill>
                <a:latin typeface="微软雅黑"/>
                <a:ea typeface="微软雅黑"/>
                <a:cs typeface="微软雅黑"/>
              </a:rPr>
              <a:t>智能服务体验</a:t>
            </a:r>
            <a:endParaRPr lang="zh-CN" altLang="en-US" sz="1800" b="1" spc="0" baseline="0" dirty="0">
              <a:solidFill>
                <a:srgbClr val="383838"/>
              </a:solidFill>
              <a:latin typeface="微软雅黑"/>
              <a:ea typeface="微软雅黑"/>
              <a:cs typeface="微软雅黑"/>
            </a:endParaRPr>
          </a:p>
        </p:txBody>
      </p:sp>
      <p:sp>
        <p:nvSpPr>
          <p:cNvPr id="38" name="Rectangle 1554"/>
          <p:cNvSpPr/>
          <p:nvPr/>
        </p:nvSpPr>
        <p:spPr>
          <a:xfrm>
            <a:off x="4210050" y="2167890"/>
            <a:ext cx="1219835" cy="215265"/>
          </a:xfrm>
          <a:prstGeom prst="rect">
            <a:avLst/>
          </a:prstGeom>
        </p:spPr>
        <p:txBody>
          <a:bodyPr wrap="square" lIns="0" tIns="0" rIns="0" bIns="0">
            <a:spAutoFit/>
          </a:bodyPr>
          <a:lstStyle/>
          <a:p>
            <a:pPr marL="0" algn="ctr">
              <a:tabLst>
                <a:tab pos="4657090" algn="l"/>
              </a:tabLst>
              <a:defRPr>
                <a:latin typeface="微软雅黑"/>
                <a:ea typeface="微软雅黑"/>
                <a:cs typeface="微软雅黑"/>
              </a:defRPr>
            </a:pPr>
            <a:r>
              <a:rPr lang="en-US" sz="1400" b="1" spc="0" baseline="0" dirty="0">
                <a:solidFill>
                  <a:srgbClr val="0042FF"/>
                </a:solidFill>
                <a:latin typeface="微软雅黑"/>
                <a:ea typeface="微软雅黑"/>
                <a:cs typeface="微软雅黑"/>
              </a:rPr>
              <a:t>智能化场景</a:t>
            </a:r>
            <a:endParaRPr lang="en-US" sz="1400" b="1" spc="0" baseline="0" dirty="0">
              <a:solidFill>
                <a:srgbClr val="0042FF"/>
              </a:solidFill>
              <a:latin typeface="微软雅黑"/>
              <a:ea typeface="微软雅黑"/>
              <a:cs typeface="微软雅黑"/>
            </a:endParaRPr>
          </a:p>
        </p:txBody>
      </p:sp>
      <p:sp>
        <p:nvSpPr>
          <p:cNvPr id="40" name="矩形: 圆角 8"/>
          <p:cNvSpPr/>
          <p:nvPr/>
        </p:nvSpPr>
        <p:spPr>
          <a:xfrm>
            <a:off x="3237230" y="1193800"/>
            <a:ext cx="1399540" cy="868680"/>
          </a:xfrm>
          <a:prstGeom prst="roundRect">
            <a:avLst>
              <a:gd name="adj" fmla="val 1871"/>
            </a:avLst>
          </a:prstGeom>
          <a:ln w="635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41" name="Freeform 1493"/>
          <p:cNvSpPr/>
          <p:nvPr/>
        </p:nvSpPr>
        <p:spPr>
          <a:xfrm>
            <a:off x="3343910" y="1247140"/>
            <a:ext cx="1174115" cy="24828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gradFill>
            <a:gsLst>
              <a:gs pos="0">
                <a:srgbClr val="B3D4FE"/>
              </a:gs>
              <a:gs pos="100000">
                <a:srgbClr val="3368FF"/>
              </a:gs>
            </a:gsLst>
            <a:lin ang="5400000" scaled="0"/>
          </a:gradFill>
        </p:spPr>
        <p:style>
          <a:lnRef idx="0">
            <a:srgbClr val="FFFFFF"/>
          </a:lnRef>
          <a:fillRef idx="1">
            <a:srgbClr val="3368FF"/>
          </a:fillRef>
          <a:effectRef idx="0">
            <a:srgbClr val="FFFFFF"/>
          </a:effectRef>
          <a:fontRef idx="minor">
            <a:srgbClr val="383838"/>
          </a:fontRef>
        </p:style>
        <p:txBody>
          <a:bodyP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43" name="Rectangle 1556"/>
          <p:cNvSpPr/>
          <p:nvPr/>
        </p:nvSpPr>
        <p:spPr>
          <a:xfrm>
            <a:off x="3521075" y="1568450"/>
            <a:ext cx="969645" cy="429895"/>
          </a:xfrm>
          <a:prstGeom prst="rect">
            <a:avLst/>
          </a:prstGeom>
        </p:spPr>
        <p:txBody>
          <a:bodyPr wrap="none" lIns="0" tIns="0" rIns="0" bIns="0">
            <a:spAutoFit/>
          </a:bodyPr>
          <a:lstStyle/>
          <a:p>
            <a:pPr marL="0">
              <a:defRPr>
                <a:latin typeface="微软雅黑"/>
                <a:ea typeface="微软雅黑"/>
                <a:cs typeface="微软雅黑"/>
              </a:defRPr>
            </a:pPr>
            <a:r>
              <a:rPr lang="en-US" sz="2795" b="1" spc="0" baseline="0" dirty="0">
                <a:solidFill>
                  <a:srgbClr val="0042FF"/>
                </a:solidFill>
                <a:latin typeface="微软雅黑"/>
                <a:ea typeface="微软雅黑"/>
                <a:cs typeface="微软雅黑"/>
              </a:rPr>
              <a:t>200</a:t>
            </a:r>
            <a:r>
              <a:rPr lang="zh-CN" altLang="en-US" sz="1200" b="1" spc="0" baseline="0" dirty="0">
                <a:solidFill>
                  <a:srgbClr val="0042FF"/>
                </a:solidFill>
                <a:latin typeface="微软雅黑"/>
                <a:ea typeface="微软雅黑"/>
                <a:cs typeface="微软雅黑"/>
              </a:rPr>
              <a:t>万</a:t>
            </a:r>
            <a:r>
              <a:rPr lang="en-US" sz="1200" b="1" spc="0" baseline="0" dirty="0">
                <a:solidFill>
                  <a:srgbClr val="0042FF"/>
                </a:solidFill>
                <a:latin typeface="微软雅黑"/>
                <a:ea typeface="微软雅黑"/>
                <a:cs typeface="微软雅黑"/>
              </a:rPr>
              <a:t>+</a:t>
            </a:r>
            <a:endParaRPr lang="en-US" sz="1200" b="1" spc="0" baseline="0" dirty="0">
              <a:solidFill>
                <a:srgbClr val="0042FF"/>
              </a:solidFill>
              <a:latin typeface="微软雅黑"/>
              <a:ea typeface="微软雅黑"/>
              <a:cs typeface="微软雅黑"/>
            </a:endParaRPr>
          </a:p>
        </p:txBody>
      </p:sp>
      <p:sp>
        <p:nvSpPr>
          <p:cNvPr id="44" name="Rectangle 1564"/>
          <p:cNvSpPr/>
          <p:nvPr/>
        </p:nvSpPr>
        <p:spPr>
          <a:xfrm>
            <a:off x="3471545" y="3996690"/>
            <a:ext cx="1231265" cy="215265"/>
          </a:xfrm>
          <a:prstGeom prst="rect">
            <a:avLst/>
          </a:prstGeom>
        </p:spPr>
        <p:txBody>
          <a:bodyPr wrap="square" lIns="0" tIns="0" rIns="0" bIns="0">
            <a:spAutoFit/>
          </a:bodyPr>
          <a:lstStyle/>
          <a:p>
            <a:pPr lvl="0" algn="l">
              <a:buClrTx/>
              <a:buSzTx/>
              <a:buFontTx/>
              <a:tabLst>
                <a:tab pos="4657090" algn="l"/>
              </a:tabLst>
              <a:defRPr>
                <a:latin typeface="微软雅黑"/>
                <a:ea typeface="微软雅黑"/>
                <a:cs typeface="微软雅黑"/>
              </a:defRPr>
            </a:pPr>
            <a:r>
              <a:rPr lang="en-US" sz="1400" b="1" dirty="0">
                <a:solidFill>
                  <a:srgbClr val="383838"/>
                </a:solidFill>
                <a:latin typeface="微软雅黑"/>
                <a:ea typeface="微软雅黑"/>
                <a:cs typeface="微软雅黑"/>
                <a:sym typeface="微软雅黑"/>
              </a:rPr>
              <a:t>综合开放服务</a:t>
            </a:r>
            <a:endParaRPr lang="en-US" sz="1400" b="1" dirty="0">
              <a:solidFill>
                <a:srgbClr val="383838"/>
              </a:solidFill>
              <a:latin typeface="微软雅黑"/>
              <a:ea typeface="微软雅黑"/>
              <a:cs typeface="微软雅黑"/>
              <a:sym typeface="微软雅黑"/>
            </a:endParaRPr>
          </a:p>
        </p:txBody>
      </p:sp>
      <p:sp>
        <p:nvSpPr>
          <p:cNvPr id="45" name="Rectangle 1554"/>
          <p:cNvSpPr/>
          <p:nvPr/>
        </p:nvSpPr>
        <p:spPr>
          <a:xfrm>
            <a:off x="7559040" y="2167890"/>
            <a:ext cx="1219835" cy="215265"/>
          </a:xfrm>
          <a:prstGeom prst="rect">
            <a:avLst/>
          </a:prstGeom>
        </p:spPr>
        <p:txBody>
          <a:bodyPr wrap="square" lIns="0" tIns="0" rIns="0" bIns="0">
            <a:spAutoFit/>
          </a:bodyPr>
          <a:lstStyle/>
          <a:p>
            <a:pPr lvl="0" algn="l">
              <a:buClrTx/>
              <a:buSzTx/>
              <a:buFontTx/>
              <a:tabLst>
                <a:tab pos="4657090" algn="l"/>
              </a:tabLst>
              <a:defRPr>
                <a:latin typeface="微软雅黑"/>
                <a:ea typeface="微软雅黑"/>
                <a:cs typeface="微软雅黑"/>
              </a:defRPr>
            </a:pPr>
            <a:r>
              <a:rPr lang="en-US" sz="1400" b="1" dirty="0">
                <a:solidFill>
                  <a:srgbClr val="0042FF"/>
                </a:solidFill>
                <a:latin typeface="微软雅黑"/>
                <a:ea typeface="微软雅黑"/>
                <a:cs typeface="微软雅黑"/>
                <a:sym typeface="微软雅黑"/>
              </a:rPr>
              <a:t>智能化沟通</a:t>
            </a:r>
            <a:endParaRPr lang="en-US" sz="1400" b="1" dirty="0">
              <a:solidFill>
                <a:srgbClr val="0042FF"/>
              </a:solidFill>
              <a:latin typeface="微软雅黑"/>
              <a:ea typeface="微软雅黑"/>
              <a:cs typeface="微软雅黑"/>
              <a:sym typeface="微软雅黑"/>
            </a:endParaRPr>
          </a:p>
        </p:txBody>
      </p:sp>
      <p:sp>
        <p:nvSpPr>
          <p:cNvPr id="46" name="Rectangle 1564"/>
          <p:cNvSpPr/>
          <p:nvPr/>
        </p:nvSpPr>
        <p:spPr>
          <a:xfrm>
            <a:off x="5593080" y="3996690"/>
            <a:ext cx="1447165" cy="215265"/>
          </a:xfrm>
          <a:prstGeom prst="rect">
            <a:avLst/>
          </a:prstGeom>
        </p:spPr>
        <p:txBody>
          <a:bodyPr wrap="square" lIns="0" tIns="0" rIns="0" bIns="0">
            <a:spAutoFit/>
          </a:bodyPr>
          <a:lstStyle/>
          <a:p>
            <a:pPr lvl="0" algn="l">
              <a:buClrTx/>
              <a:buSzTx/>
              <a:buFontTx/>
              <a:tabLst>
                <a:tab pos="4657090" algn="l"/>
              </a:tabLst>
              <a:defRPr>
                <a:latin typeface="微软雅黑"/>
                <a:ea typeface="微软雅黑"/>
                <a:cs typeface="微软雅黑"/>
              </a:defRPr>
            </a:pPr>
            <a:r>
              <a:rPr lang="en-US" sz="1400" b="1" dirty="0">
                <a:solidFill>
                  <a:srgbClr val="383838"/>
                </a:solidFill>
                <a:latin typeface="微软雅黑"/>
                <a:ea typeface="微软雅黑"/>
                <a:cs typeface="微软雅黑"/>
                <a:sym typeface="微软雅黑"/>
              </a:rPr>
              <a:t>全商业场景服务</a:t>
            </a:r>
            <a:endParaRPr lang="en-US" sz="1400" b="1" dirty="0">
              <a:solidFill>
                <a:srgbClr val="383838"/>
              </a:solidFill>
              <a:latin typeface="微软雅黑"/>
              <a:ea typeface="微软雅黑"/>
              <a:cs typeface="微软雅黑"/>
              <a:sym typeface="微软雅黑"/>
            </a:endParaRPr>
          </a:p>
        </p:txBody>
      </p:sp>
      <p:sp>
        <p:nvSpPr>
          <p:cNvPr id="57" name="矩形: 圆角 8"/>
          <p:cNvSpPr/>
          <p:nvPr/>
        </p:nvSpPr>
        <p:spPr>
          <a:xfrm>
            <a:off x="4892675" y="1193800"/>
            <a:ext cx="1399540" cy="868680"/>
          </a:xfrm>
          <a:prstGeom prst="roundRect">
            <a:avLst>
              <a:gd name="adj" fmla="val 1871"/>
            </a:avLst>
          </a:prstGeom>
          <a:ln w="635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58" name="Freeform 1493"/>
          <p:cNvSpPr/>
          <p:nvPr/>
        </p:nvSpPr>
        <p:spPr>
          <a:xfrm>
            <a:off x="4999355" y="1247140"/>
            <a:ext cx="1174115" cy="24828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gradFill>
            <a:gsLst>
              <a:gs pos="0">
                <a:srgbClr val="B3D4FE"/>
              </a:gs>
              <a:gs pos="100000">
                <a:srgbClr val="3368FF"/>
              </a:gs>
            </a:gsLst>
            <a:lin ang="5400000" scaled="0"/>
          </a:gradFill>
        </p:spPr>
        <p:style>
          <a:lnRef idx="0">
            <a:srgbClr val="FFFFFF"/>
          </a:lnRef>
          <a:fillRef idx="1">
            <a:srgbClr val="3368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61" name="Rectangle 1556"/>
          <p:cNvSpPr/>
          <p:nvPr/>
        </p:nvSpPr>
        <p:spPr>
          <a:xfrm>
            <a:off x="5100955" y="1568450"/>
            <a:ext cx="1061085" cy="430530"/>
          </a:xfrm>
          <a:prstGeom prst="rect">
            <a:avLst/>
          </a:prstGeom>
        </p:spPr>
        <p:txBody>
          <a:bodyPr wrap="none" lIns="0" tIns="0" rIns="0" bIns="0">
            <a:spAutoFit/>
          </a:bodyPr>
          <a:lstStyle/>
          <a:p>
            <a:pPr marL="0">
              <a:defRPr>
                <a:latin typeface="微软雅黑"/>
                <a:ea typeface="微软雅黑"/>
                <a:cs typeface="微软雅黑"/>
              </a:defRPr>
            </a:pPr>
            <a:r>
              <a:rPr lang="en-US" sz="2795" b="1" spc="0" baseline="0" dirty="0">
                <a:solidFill>
                  <a:srgbClr val="0042FF"/>
                </a:solidFill>
                <a:latin typeface="微软雅黑"/>
                <a:ea typeface="微软雅黑"/>
                <a:cs typeface="微软雅黑"/>
              </a:rPr>
              <a:t>8000</a:t>
            </a:r>
            <a:r>
              <a:rPr lang="zh-CN" altLang="en-US" sz="1200" b="1" spc="0" baseline="0" dirty="0">
                <a:solidFill>
                  <a:srgbClr val="0042FF"/>
                </a:solidFill>
                <a:latin typeface="微软雅黑"/>
                <a:ea typeface="微软雅黑"/>
                <a:cs typeface="微软雅黑"/>
              </a:rPr>
              <a:t>万</a:t>
            </a:r>
            <a:r>
              <a:rPr lang="en-US" sz="1200" b="1" spc="0" baseline="0" dirty="0">
                <a:solidFill>
                  <a:srgbClr val="0042FF"/>
                </a:solidFill>
                <a:latin typeface="微软雅黑"/>
                <a:ea typeface="微软雅黑"/>
                <a:cs typeface="微软雅黑"/>
              </a:rPr>
              <a:t>+</a:t>
            </a:r>
            <a:endParaRPr lang="en-US" sz="1200" b="1" spc="0" baseline="0" dirty="0">
              <a:solidFill>
                <a:srgbClr val="0042FF"/>
              </a:solidFill>
              <a:latin typeface="微软雅黑"/>
              <a:ea typeface="微软雅黑"/>
              <a:cs typeface="微软雅黑"/>
            </a:endParaRPr>
          </a:p>
        </p:txBody>
      </p:sp>
      <p:sp>
        <p:nvSpPr>
          <p:cNvPr id="64" name="矩形: 圆角 8"/>
          <p:cNvSpPr/>
          <p:nvPr/>
        </p:nvSpPr>
        <p:spPr>
          <a:xfrm>
            <a:off x="6548120" y="1193800"/>
            <a:ext cx="1399540" cy="868680"/>
          </a:xfrm>
          <a:prstGeom prst="roundRect">
            <a:avLst>
              <a:gd name="adj" fmla="val 1871"/>
            </a:avLst>
          </a:prstGeom>
          <a:ln w="635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65" name="Freeform 1493"/>
          <p:cNvSpPr/>
          <p:nvPr/>
        </p:nvSpPr>
        <p:spPr>
          <a:xfrm>
            <a:off x="6654800" y="1247140"/>
            <a:ext cx="1174115" cy="24828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gradFill>
            <a:gsLst>
              <a:gs pos="0">
                <a:srgbClr val="B3D4FE"/>
              </a:gs>
              <a:gs pos="100000">
                <a:srgbClr val="3368FF"/>
              </a:gs>
            </a:gsLst>
            <a:lin ang="5400000" scaled="0"/>
          </a:gradFill>
        </p:spPr>
        <p:style>
          <a:lnRef idx="0">
            <a:srgbClr val="FFFFFF"/>
          </a:lnRef>
          <a:fillRef idx="1">
            <a:srgbClr val="3368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67" name="Rectangle 1556"/>
          <p:cNvSpPr/>
          <p:nvPr/>
        </p:nvSpPr>
        <p:spPr>
          <a:xfrm>
            <a:off x="6831965" y="1568450"/>
            <a:ext cx="856615" cy="430530"/>
          </a:xfrm>
          <a:prstGeom prst="rect">
            <a:avLst/>
          </a:prstGeom>
        </p:spPr>
        <p:txBody>
          <a:bodyPr wrap="none" lIns="0" tIns="0" rIns="0" bIns="0">
            <a:spAutoFit/>
          </a:bodyPr>
          <a:lstStyle/>
          <a:p>
            <a:pPr marL="0">
              <a:defRPr>
                <a:latin typeface="微软雅黑"/>
                <a:ea typeface="微软雅黑"/>
                <a:cs typeface="微软雅黑"/>
              </a:defRPr>
            </a:pPr>
            <a:r>
              <a:rPr lang="en-US" sz="2795" b="1" spc="0" baseline="0" dirty="0">
                <a:solidFill>
                  <a:srgbClr val="0042FF"/>
                </a:solidFill>
                <a:latin typeface="微软雅黑"/>
                <a:ea typeface="微软雅黑"/>
                <a:cs typeface="微软雅黑"/>
              </a:rPr>
              <a:t>100</a:t>
            </a:r>
            <a:r>
              <a:rPr lang="zh-CN" altLang="en-US" sz="1200" b="1" spc="0" baseline="0" dirty="0">
                <a:solidFill>
                  <a:srgbClr val="0042FF"/>
                </a:solidFill>
                <a:latin typeface="微软雅黑"/>
                <a:ea typeface="微软雅黑"/>
                <a:cs typeface="微软雅黑"/>
              </a:rPr>
              <a:t>万</a:t>
            </a:r>
            <a:r>
              <a:rPr lang="en-US" sz="1200" b="1" spc="0" baseline="0" dirty="0">
                <a:solidFill>
                  <a:srgbClr val="0042FF"/>
                </a:solidFill>
                <a:latin typeface="微软雅黑"/>
                <a:ea typeface="微软雅黑"/>
                <a:cs typeface="微软雅黑"/>
              </a:rPr>
              <a:t>+</a:t>
            </a:r>
            <a:endParaRPr lang="en-US" sz="1200" b="1" spc="0" baseline="0" dirty="0">
              <a:solidFill>
                <a:srgbClr val="0042FF"/>
              </a:solidFill>
              <a:latin typeface="微软雅黑"/>
              <a:ea typeface="微软雅黑"/>
              <a:cs typeface="微软雅黑"/>
            </a:endParaRPr>
          </a:p>
        </p:txBody>
      </p:sp>
      <p:sp>
        <p:nvSpPr>
          <p:cNvPr id="73" name="矩形: 圆角 8"/>
          <p:cNvSpPr/>
          <p:nvPr/>
        </p:nvSpPr>
        <p:spPr>
          <a:xfrm>
            <a:off x="8203565" y="1193800"/>
            <a:ext cx="1399540" cy="868680"/>
          </a:xfrm>
          <a:prstGeom prst="roundRect">
            <a:avLst>
              <a:gd name="adj" fmla="val 1871"/>
            </a:avLst>
          </a:prstGeom>
          <a:ln w="635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74" name="Freeform 1493"/>
          <p:cNvSpPr/>
          <p:nvPr/>
        </p:nvSpPr>
        <p:spPr>
          <a:xfrm>
            <a:off x="8310245" y="1247140"/>
            <a:ext cx="1174115" cy="248285"/>
          </a:xfrm>
          <a:custGeom>
            <a:avLst/>
            <a:gdLst/>
            <a:ahLst/>
            <a:cxnLst/>
            <a:rect l="0" t="0" r="0" b="0"/>
            <a:pathLst>
              <a:path w="1997963" h="248412">
                <a:moveTo>
                  <a:pt x="0" y="24130"/>
                </a:moveTo>
                <a:cubicBezTo>
                  <a:pt x="0" y="10796"/>
                  <a:pt x="10795" y="0"/>
                  <a:pt x="24130" y="0"/>
                </a:cubicBezTo>
                <a:lnTo>
                  <a:pt x="1973834" y="0"/>
                </a:lnTo>
                <a:cubicBezTo>
                  <a:pt x="1987168" y="0"/>
                  <a:pt x="1997963" y="10796"/>
                  <a:pt x="1997963" y="24130"/>
                </a:cubicBezTo>
                <a:lnTo>
                  <a:pt x="1997963" y="224282"/>
                </a:lnTo>
                <a:cubicBezTo>
                  <a:pt x="1997963" y="237617"/>
                  <a:pt x="1987168" y="248412"/>
                  <a:pt x="1973834" y="248412"/>
                </a:cubicBezTo>
                <a:lnTo>
                  <a:pt x="24130" y="248412"/>
                </a:lnTo>
                <a:cubicBezTo>
                  <a:pt x="10795" y="248412"/>
                  <a:pt x="0" y="237617"/>
                  <a:pt x="0" y="224282"/>
                </a:cubicBezTo>
                <a:close/>
              </a:path>
            </a:pathLst>
          </a:custGeom>
          <a:gradFill>
            <a:gsLst>
              <a:gs pos="0">
                <a:srgbClr val="B3D4FE"/>
              </a:gs>
              <a:gs pos="100000">
                <a:srgbClr val="3368FF"/>
              </a:gs>
            </a:gsLst>
            <a:lin ang="5400000" scaled="0"/>
          </a:gradFill>
        </p:spPr>
        <p:style>
          <a:lnRef idx="0">
            <a:srgbClr val="FFFFFF"/>
          </a:lnRef>
          <a:fillRef idx="1">
            <a:srgbClr val="3368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82" name="Rectangle 1556"/>
          <p:cNvSpPr/>
          <p:nvPr/>
        </p:nvSpPr>
        <p:spPr>
          <a:xfrm>
            <a:off x="8487410" y="1568450"/>
            <a:ext cx="749300" cy="430530"/>
          </a:xfrm>
          <a:prstGeom prst="rect">
            <a:avLst/>
          </a:prstGeom>
        </p:spPr>
        <p:txBody>
          <a:bodyPr wrap="none" lIns="0" tIns="0" rIns="0" bIns="0">
            <a:spAutoFit/>
          </a:bodyPr>
          <a:lstStyle/>
          <a:p>
            <a:pPr marL="0">
              <a:defRPr>
                <a:latin typeface="微软雅黑"/>
                <a:ea typeface="微软雅黑"/>
                <a:cs typeface="微软雅黑"/>
              </a:defRPr>
            </a:pPr>
            <a:r>
              <a:rPr lang="en-US" sz="2795" b="1" spc="0" baseline="0" dirty="0">
                <a:solidFill>
                  <a:srgbClr val="0042FF"/>
                </a:solidFill>
                <a:latin typeface="微软雅黑"/>
                <a:ea typeface="微软雅黑"/>
                <a:cs typeface="微软雅黑"/>
              </a:rPr>
              <a:t>1.5</a:t>
            </a:r>
            <a:r>
              <a:rPr lang="zh-CN" altLang="en-US" sz="1200" b="1" spc="0" baseline="0" dirty="0">
                <a:solidFill>
                  <a:srgbClr val="0042FF"/>
                </a:solidFill>
                <a:latin typeface="微软雅黑"/>
                <a:ea typeface="微软雅黑"/>
                <a:cs typeface="微软雅黑"/>
              </a:rPr>
              <a:t>亿</a:t>
            </a:r>
            <a:r>
              <a:rPr lang="en-US" sz="1200" b="1" spc="0" baseline="0" dirty="0">
                <a:solidFill>
                  <a:srgbClr val="0042FF"/>
                </a:solidFill>
                <a:latin typeface="微软雅黑"/>
                <a:ea typeface="微软雅黑"/>
                <a:cs typeface="微软雅黑"/>
              </a:rPr>
              <a:t>+</a:t>
            </a:r>
            <a:endParaRPr lang="en-US" sz="1200" b="1" spc="0" baseline="0" dirty="0">
              <a:solidFill>
                <a:srgbClr val="0042FF"/>
              </a:solidFill>
              <a:latin typeface="微软雅黑"/>
              <a:ea typeface="微软雅黑"/>
              <a:cs typeface="微软雅黑"/>
            </a:endParaRPr>
          </a:p>
        </p:txBody>
      </p:sp>
      <p:sp>
        <p:nvSpPr>
          <p:cNvPr id="84" name="Rectangle 1553"/>
          <p:cNvSpPr/>
          <p:nvPr/>
        </p:nvSpPr>
        <p:spPr>
          <a:xfrm>
            <a:off x="5473700" y="4352290"/>
            <a:ext cx="1838960" cy="276860"/>
          </a:xfrm>
          <a:prstGeom prst="rect">
            <a:avLst/>
          </a:prstGeom>
        </p:spPr>
        <p:txBody>
          <a:bodyPr wrap="square" lIns="0" tIns="0" rIns="0" bIns="0">
            <a:spAutoFit/>
          </a:bodyPr>
          <a:lstStyle/>
          <a:p>
            <a:pPr marL="0" algn="ctr">
              <a:defRPr>
                <a:solidFill>
                  <a:srgbClr val="FFFFFF"/>
                </a:solidFill>
                <a:latin typeface="微软雅黑"/>
                <a:ea typeface="微软雅黑"/>
                <a:cs typeface="微软雅黑"/>
              </a:defRPr>
            </a:pPr>
            <a:r>
              <a:rPr lang="zh-CN" altLang="en-US" sz="1800" b="1" spc="0" baseline="0" dirty="0">
                <a:solidFill>
                  <a:srgbClr val="FFFFFF"/>
                </a:solidFill>
                <a:latin typeface="微软雅黑"/>
                <a:ea typeface="微软雅黑"/>
                <a:cs typeface="微软雅黑"/>
              </a:rPr>
              <a:t>服务生态转化</a:t>
            </a:r>
            <a:endParaRPr lang="zh-CN" altLang="en-US" sz="1800" b="1" spc="0" baseline="0" dirty="0">
              <a:solidFill>
                <a:srgbClr val="FFFFFF"/>
              </a:solidFill>
              <a:latin typeface="微软雅黑"/>
              <a:ea typeface="微软雅黑"/>
              <a:cs typeface="微软雅黑"/>
            </a:endParaRPr>
          </a:p>
        </p:txBody>
      </p:sp>
      <p:sp>
        <p:nvSpPr>
          <p:cNvPr id="85" name="矩形: 圆角 43"/>
          <p:cNvSpPr/>
          <p:nvPr/>
        </p:nvSpPr>
        <p:spPr>
          <a:xfrm>
            <a:off x="5310505" y="3018790"/>
            <a:ext cx="1920240" cy="886460"/>
          </a:xfrm>
          <a:prstGeom prst="roundRect">
            <a:avLst>
              <a:gd name="adj" fmla="val 1871"/>
            </a:avLst>
          </a:prstGeom>
          <a:ln w="635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86" name="Freeform 1529"/>
          <p:cNvSpPr/>
          <p:nvPr/>
        </p:nvSpPr>
        <p:spPr>
          <a:xfrm>
            <a:off x="5419090" y="3119755"/>
            <a:ext cx="1675765" cy="242570"/>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solidFill>
            <a:srgbClr val="E6E6E6">
              <a:alpha val="50195"/>
            </a:srgbClr>
          </a:solidFill>
          <a:ln w="12700">
            <a:noFill/>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87" name="矩形: 圆角 43"/>
          <p:cNvSpPr/>
          <p:nvPr/>
        </p:nvSpPr>
        <p:spPr>
          <a:xfrm>
            <a:off x="7601585" y="3018790"/>
            <a:ext cx="1920240" cy="886460"/>
          </a:xfrm>
          <a:prstGeom prst="roundRect">
            <a:avLst>
              <a:gd name="adj" fmla="val 1871"/>
            </a:avLst>
          </a:prstGeom>
          <a:ln w="635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88" name="Freeform 1529"/>
          <p:cNvSpPr/>
          <p:nvPr/>
        </p:nvSpPr>
        <p:spPr>
          <a:xfrm>
            <a:off x="7710170" y="3119755"/>
            <a:ext cx="1675765" cy="242570"/>
          </a:xfrm>
          <a:custGeom>
            <a:avLst/>
            <a:gdLst/>
            <a:ahLst/>
            <a:cxnLst/>
            <a:rect l="0" t="0" r="0" b="0"/>
            <a:pathLst>
              <a:path w="2674620" h="242317">
                <a:moveTo>
                  <a:pt x="0" y="23623"/>
                </a:moveTo>
                <a:cubicBezTo>
                  <a:pt x="0" y="10542"/>
                  <a:pt x="10541" y="0"/>
                  <a:pt x="23622" y="0"/>
                </a:cubicBezTo>
                <a:lnTo>
                  <a:pt x="2650999" y="0"/>
                </a:lnTo>
                <a:cubicBezTo>
                  <a:pt x="2664080" y="0"/>
                  <a:pt x="2674620" y="10542"/>
                  <a:pt x="2674620" y="23623"/>
                </a:cubicBezTo>
                <a:lnTo>
                  <a:pt x="2674620" y="218694"/>
                </a:lnTo>
                <a:cubicBezTo>
                  <a:pt x="2674620" y="231775"/>
                  <a:pt x="2664080" y="242317"/>
                  <a:pt x="2650999" y="242317"/>
                </a:cubicBezTo>
                <a:lnTo>
                  <a:pt x="23622" y="242317"/>
                </a:lnTo>
                <a:cubicBezTo>
                  <a:pt x="10541" y="242317"/>
                  <a:pt x="0" y="231775"/>
                  <a:pt x="0" y="218694"/>
                </a:cubicBezTo>
                <a:close/>
              </a:path>
            </a:pathLst>
          </a:custGeom>
          <a:gradFill>
            <a:gsLst>
              <a:gs pos="0">
                <a:srgbClr val="668EFF"/>
              </a:gs>
              <a:gs pos="100000">
                <a:srgbClr val="3368FF"/>
              </a:gs>
            </a:gsLst>
            <a:lin ang="5400000" scaled="0"/>
          </a:gradFill>
        </p:spPr>
        <p:style>
          <a:lnRef idx="0">
            <a:srgbClr val="FFFFFF"/>
          </a:lnRef>
          <a:fillRef idx="1">
            <a:srgbClr val="668EFF"/>
          </a:fillRef>
          <a:effectRef idx="0">
            <a:srgbClr val="FFFF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89" name="Rectangle 1564"/>
          <p:cNvSpPr/>
          <p:nvPr/>
        </p:nvSpPr>
        <p:spPr>
          <a:xfrm>
            <a:off x="7874000" y="3996690"/>
            <a:ext cx="1447165" cy="215265"/>
          </a:xfrm>
          <a:prstGeom prst="rect">
            <a:avLst/>
          </a:prstGeom>
        </p:spPr>
        <p:txBody>
          <a:bodyPr wrap="square" lIns="0" tIns="0" rIns="0" bIns="0">
            <a:spAutoFit/>
          </a:bodyPr>
          <a:lstStyle/>
          <a:p>
            <a:pPr lvl="0" algn="l">
              <a:buClrTx/>
              <a:buSzTx/>
              <a:buFontTx/>
              <a:tabLst>
                <a:tab pos="4657090" algn="l"/>
              </a:tabLst>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精细垂类场景服务</a:t>
            </a:r>
            <a:endParaRPr lang="zh-CN" altLang="en-US" sz="1400" b="1" dirty="0">
              <a:solidFill>
                <a:srgbClr val="383838"/>
              </a:solidFill>
              <a:latin typeface="微软雅黑"/>
              <a:ea typeface="微软雅黑"/>
              <a:cs typeface="微软雅黑"/>
              <a:sym typeface="微软雅黑"/>
            </a:endParaRPr>
          </a:p>
        </p:txBody>
      </p:sp>
      <p:sp>
        <p:nvSpPr>
          <p:cNvPr id="90" name="Rectangle 1555"/>
          <p:cNvSpPr/>
          <p:nvPr/>
        </p:nvSpPr>
        <p:spPr>
          <a:xfrm>
            <a:off x="3383915" y="3161665"/>
            <a:ext cx="1134110" cy="170180"/>
          </a:xfrm>
          <a:prstGeom prst="rect">
            <a:avLst/>
          </a:prstGeom>
        </p:spPr>
        <p:txBody>
          <a:bodyPr wrap="square" lIns="0" tIns="0" rIns="0" bIns="0">
            <a:spAutoFit/>
          </a:bodyPr>
          <a:lstStyle/>
          <a:p>
            <a:pPr marL="0" algn="ctr">
              <a:defRPr>
                <a:solidFill>
                  <a:srgbClr val="FFFFFF"/>
                </a:solidFill>
                <a:latin typeface="微软雅黑"/>
                <a:ea typeface="微软雅黑"/>
                <a:cs typeface="微软雅黑"/>
              </a:defRPr>
            </a:pPr>
            <a:r>
              <a:rPr lang="zh-CN" altLang="en-US" sz="1105" b="1" spc="0" baseline="0" dirty="0">
                <a:solidFill>
                  <a:srgbClr val="FFFFFF"/>
                </a:solidFill>
                <a:latin typeface="微软雅黑"/>
                <a:ea typeface="微软雅黑"/>
                <a:cs typeface="微软雅黑"/>
              </a:rPr>
              <a:t>智能小程序</a:t>
            </a:r>
            <a:endParaRPr lang="zh-CN" altLang="en-US" sz="1105" b="1" spc="0" baseline="0" dirty="0">
              <a:solidFill>
                <a:srgbClr val="FFFFFF"/>
              </a:solidFill>
              <a:latin typeface="微软雅黑"/>
              <a:ea typeface="微软雅黑"/>
              <a:cs typeface="微软雅黑"/>
            </a:endParaRPr>
          </a:p>
        </p:txBody>
      </p:sp>
      <p:sp>
        <p:nvSpPr>
          <p:cNvPr id="91" name="Rectangle 1566"/>
          <p:cNvSpPr/>
          <p:nvPr/>
        </p:nvSpPr>
        <p:spPr>
          <a:xfrm>
            <a:off x="3242310" y="3474720"/>
            <a:ext cx="1451610" cy="349885"/>
          </a:xfrm>
          <a:prstGeom prst="rect">
            <a:avLst/>
          </a:prstGeom>
        </p:spPr>
        <p:txBody>
          <a:bodyPr wrap="none" lIns="0" tIns="0" rIns="0" bIns="0">
            <a:spAutoFit/>
          </a:bodyPr>
          <a:lstStyle/>
          <a:p>
            <a:pPr marL="0">
              <a:defRPr>
                <a:latin typeface="微软雅黑"/>
                <a:ea typeface="微软雅黑"/>
                <a:cs typeface="微软雅黑"/>
              </a:defRPr>
            </a:pPr>
            <a:r>
              <a:rPr lang="en-US" sz="3500" b="1" spc="0" baseline="-1000" dirty="0">
                <a:solidFill>
                  <a:srgbClr val="0042FF"/>
                </a:solidFill>
                <a:latin typeface="微软雅黑"/>
                <a:ea typeface="微软雅黑"/>
                <a:cs typeface="微软雅黑"/>
              </a:rPr>
              <a:t>359</a:t>
            </a:r>
            <a:r>
              <a:rPr lang="en-US" sz="3500" b="1" spc="0" baseline="-3000" dirty="0">
                <a:solidFill>
                  <a:srgbClr val="0042FF"/>
                </a:solidFill>
                <a:latin typeface="微软雅黑"/>
                <a:ea typeface="微软雅黑"/>
                <a:cs typeface="微软雅黑"/>
              </a:rPr>
              <a:t>个</a:t>
            </a:r>
            <a:r>
              <a:rPr lang="en-US" sz="2000" b="1" spc="0" baseline="-3000" dirty="0">
                <a:solidFill>
                  <a:srgbClr val="383838"/>
                </a:solidFill>
                <a:latin typeface="微软雅黑"/>
                <a:ea typeface="微软雅黑"/>
                <a:cs typeface="微软雅黑"/>
              </a:rPr>
              <a:t>行业场景</a:t>
            </a:r>
            <a:endParaRPr lang="en-US" sz="2000" b="1" spc="0" baseline="-3000" dirty="0">
              <a:solidFill>
                <a:srgbClr val="383838"/>
              </a:solidFill>
              <a:latin typeface="微软雅黑"/>
              <a:ea typeface="微软雅黑"/>
              <a:cs typeface="微软雅黑"/>
            </a:endParaRPr>
          </a:p>
        </p:txBody>
      </p:sp>
      <p:sp>
        <p:nvSpPr>
          <p:cNvPr id="92" name="Rectangle 1555"/>
          <p:cNvSpPr/>
          <p:nvPr/>
        </p:nvSpPr>
        <p:spPr>
          <a:xfrm>
            <a:off x="5418455" y="3110865"/>
            <a:ext cx="1675765" cy="261620"/>
          </a:xfrm>
          <a:prstGeom prst="rect">
            <a:avLst/>
          </a:prstGeom>
          <a:gradFill>
            <a:gsLst>
              <a:gs pos="0">
                <a:srgbClr val="668EFF"/>
              </a:gs>
              <a:gs pos="100000">
                <a:srgbClr val="3368FF"/>
              </a:gs>
            </a:gsLst>
            <a:lin ang="5400000" scaled="0"/>
          </a:gradFill>
        </p:spPr>
        <p:style>
          <a:lnRef idx="0">
            <a:srgbClr val="FFFFFF"/>
          </a:lnRef>
          <a:fillRef idx="1">
            <a:srgbClr val="668EFF"/>
          </a:fillRef>
          <a:effectRef idx="0">
            <a:srgbClr val="FFFF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93" name="Rectangle 1555"/>
          <p:cNvSpPr/>
          <p:nvPr/>
        </p:nvSpPr>
        <p:spPr>
          <a:xfrm>
            <a:off x="7948295" y="3156585"/>
            <a:ext cx="1135380" cy="170180"/>
          </a:xfrm>
          <a:prstGeom prst="rect">
            <a:avLst/>
          </a:prstGeom>
        </p:spPr>
        <p:txBody>
          <a:bodyPr wrap="square" lIns="0" tIns="0" rIns="0" bIns="0">
            <a:spAutoFit/>
          </a:bodyPr>
          <a:lstStyle/>
          <a:p>
            <a:pPr marL="0" algn="ctr">
              <a:defRPr>
                <a:solidFill>
                  <a:srgbClr val="FFFFFF"/>
                </a:solidFill>
                <a:latin typeface="微软雅黑"/>
                <a:ea typeface="微软雅黑"/>
                <a:cs typeface="微软雅黑"/>
              </a:defRPr>
            </a:pPr>
            <a:r>
              <a:rPr lang="zh-CN" altLang="en-US" sz="1105" b="1" spc="0" baseline="0" dirty="0">
                <a:solidFill>
                  <a:srgbClr val="FFFFFF"/>
                </a:solidFill>
                <a:latin typeface="微软雅黑"/>
                <a:ea typeface="微软雅黑"/>
                <a:cs typeface="微软雅黑"/>
              </a:rPr>
              <a:t>垂直场景</a:t>
            </a:r>
            <a:endParaRPr lang="zh-CN" altLang="en-US" sz="1105" b="1" spc="0" baseline="0" dirty="0">
              <a:solidFill>
                <a:srgbClr val="FFFFFF"/>
              </a:solidFill>
              <a:latin typeface="微软雅黑"/>
              <a:ea typeface="微软雅黑"/>
              <a:cs typeface="微软雅黑"/>
            </a:endParaRPr>
          </a:p>
        </p:txBody>
      </p:sp>
      <p:sp>
        <p:nvSpPr>
          <p:cNvPr id="94" name="Rectangle 1568"/>
          <p:cNvSpPr/>
          <p:nvPr/>
        </p:nvSpPr>
        <p:spPr>
          <a:xfrm>
            <a:off x="5527040" y="3426460"/>
            <a:ext cx="1620520" cy="368935"/>
          </a:xfrm>
          <a:prstGeom prst="rect">
            <a:avLst/>
          </a:prstGeom>
        </p:spPr>
        <p:txBody>
          <a:bodyPr wrap="square" lIns="0" tIns="0" rIns="0" bIns="0">
            <a:spAutoFit/>
          </a:bodyPr>
          <a:lstStyle/>
          <a:p>
            <a:pPr marL="0" algn="l">
              <a:defRPr>
                <a:latin typeface="微软雅黑"/>
                <a:ea typeface="微软雅黑"/>
                <a:cs typeface="微软雅黑"/>
              </a:defRPr>
            </a:pPr>
            <a:r>
              <a:rPr lang="en-US" sz="1200" spc="0" baseline="0" dirty="0">
                <a:solidFill>
                  <a:srgbClr val="383838"/>
                </a:solidFill>
                <a:latin typeface="微软雅黑"/>
                <a:ea typeface="微软雅黑"/>
                <a:cs typeface="微软雅黑"/>
              </a:rPr>
              <a:t>线索转</a:t>
            </a:r>
            <a:r>
              <a:rPr lang="en-US" sz="1200" spc="1430" baseline="0" dirty="0">
                <a:solidFill>
                  <a:srgbClr val="383838"/>
                </a:solidFill>
                <a:latin typeface="微软雅黑"/>
                <a:ea typeface="微软雅黑"/>
                <a:cs typeface="微软雅黑"/>
              </a:rPr>
              <a:t>化</a:t>
            </a:r>
            <a:r>
              <a:rPr lang="en-US" sz="1200" spc="0" baseline="0" dirty="0">
                <a:solidFill>
                  <a:srgbClr val="383838"/>
                </a:solidFill>
                <a:latin typeface="微软雅黑"/>
                <a:ea typeface="微软雅黑"/>
                <a:cs typeface="微软雅黑"/>
              </a:rPr>
              <a:t>电商店</a:t>
            </a:r>
            <a:r>
              <a:rPr lang="en-US" sz="1200" spc="1379" baseline="0" dirty="0">
                <a:solidFill>
                  <a:srgbClr val="383838"/>
                </a:solidFill>
                <a:latin typeface="微软雅黑"/>
                <a:ea typeface="微软雅黑"/>
                <a:cs typeface="微软雅黑"/>
              </a:rPr>
              <a:t>铺</a:t>
            </a:r>
            <a:endParaRPr lang="en-US" sz="1200" spc="1379" baseline="0" dirty="0">
              <a:solidFill>
                <a:srgbClr val="383838"/>
              </a:solidFill>
              <a:latin typeface="微软雅黑"/>
              <a:ea typeface="微软雅黑"/>
              <a:cs typeface="微软雅黑"/>
            </a:endParaRPr>
          </a:p>
          <a:p>
            <a:pPr marL="0" algn="l">
              <a:defRPr>
                <a:latin typeface="微软雅黑"/>
                <a:ea typeface="微软雅黑"/>
                <a:cs typeface="微软雅黑"/>
              </a:defRPr>
            </a:pPr>
            <a:r>
              <a:rPr lang="zh-CN" altLang="en-US" sz="1200" spc="0" baseline="0" dirty="0">
                <a:solidFill>
                  <a:srgbClr val="383838"/>
                </a:solidFill>
                <a:latin typeface="微软雅黑"/>
                <a:ea typeface="微软雅黑"/>
                <a:cs typeface="微软雅黑"/>
              </a:rPr>
              <a:t>在线客服</a:t>
            </a:r>
            <a:r>
              <a:rPr lang="en-US" altLang="zh-CN" sz="1200" spc="0" baseline="0" dirty="0">
                <a:solidFill>
                  <a:srgbClr val="383838"/>
                </a:solidFill>
                <a:latin typeface="微软雅黑"/>
                <a:ea typeface="微软雅黑"/>
                <a:cs typeface="微软雅黑"/>
              </a:rPr>
              <a:t>     </a:t>
            </a:r>
            <a:r>
              <a:rPr lang="en-US" sz="1200" spc="0" baseline="0" dirty="0">
                <a:solidFill>
                  <a:srgbClr val="383838"/>
                </a:solidFill>
                <a:latin typeface="微软雅黑"/>
                <a:ea typeface="微软雅黑"/>
                <a:cs typeface="微软雅黑"/>
              </a:rPr>
              <a:t>门店服务</a:t>
            </a:r>
            <a:endParaRPr lang="en-US" sz="1200" spc="0" baseline="0" dirty="0">
              <a:solidFill>
                <a:srgbClr val="383838"/>
              </a:solidFill>
              <a:latin typeface="微软雅黑"/>
              <a:ea typeface="微软雅黑"/>
              <a:cs typeface="微软雅黑"/>
            </a:endParaRPr>
          </a:p>
        </p:txBody>
      </p:sp>
      <p:sp>
        <p:nvSpPr>
          <p:cNvPr id="95" name="Freeform 1506"/>
          <p:cNvSpPr/>
          <p:nvPr/>
        </p:nvSpPr>
        <p:spPr>
          <a:xfrm>
            <a:off x="7710170" y="3406775"/>
            <a:ext cx="384810" cy="170815"/>
          </a:xfrm>
          <a:custGeom>
            <a:avLst/>
            <a:gdLst/>
            <a:ahLst/>
            <a:cxnLst/>
            <a:rect l="0" t="0" r="0" b="0"/>
            <a:pathLst>
              <a:path w="551688" h="170689">
                <a:moveTo>
                  <a:pt x="0" y="6478"/>
                </a:moveTo>
                <a:cubicBezTo>
                  <a:pt x="0" y="2922"/>
                  <a:pt x="2920" y="0"/>
                  <a:pt x="6477" y="0"/>
                </a:cubicBezTo>
                <a:lnTo>
                  <a:pt x="545211" y="0"/>
                </a:lnTo>
                <a:cubicBezTo>
                  <a:pt x="548766" y="0"/>
                  <a:pt x="551688" y="2922"/>
                  <a:pt x="551688" y="6478"/>
                </a:cubicBezTo>
                <a:lnTo>
                  <a:pt x="551688" y="164211"/>
                </a:lnTo>
                <a:cubicBezTo>
                  <a:pt x="551688" y="167767"/>
                  <a:pt x="548766" y="170689"/>
                  <a:pt x="545211" y="170689"/>
                </a:cubicBezTo>
                <a:lnTo>
                  <a:pt x="6477" y="170689"/>
                </a:lnTo>
                <a:cubicBezTo>
                  <a:pt x="2920" y="170689"/>
                  <a:pt x="0" y="167767"/>
                  <a:pt x="0" y="164211"/>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pic>
        <p:nvPicPr>
          <p:cNvPr id="96" name="Picture 1507"/>
          <p:cNvPicPr>
            <a:picLocks noChangeArrowheads="1"/>
          </p:cNvPicPr>
          <p:nvPr/>
        </p:nvPicPr>
        <p:blipFill>
          <a:blip r:embed="rId1">
            <a:extLst>
              <a:ext uri="{28A0092B-C50C-407E-A947-70E740481C1C}">
                <a14:useLocalDpi xmlns:a14="http://schemas.microsoft.com/office/drawing/2010/main" val="0"/>
              </a:ext>
            </a:extLst>
          </a:blip>
          <a:srcRect/>
          <a:stretch>
            <a:fillRect/>
          </a:stretch>
        </p:blipFill>
        <p:spPr>
          <a:xfrm>
            <a:off x="7750175" y="3446145"/>
            <a:ext cx="300355" cy="90170"/>
          </a:xfrm>
          <a:prstGeom prst="rect">
            <a:avLst/>
          </a:prstGeom>
          <a:noFill/>
        </p:spPr>
      </p:pic>
      <p:sp>
        <p:nvSpPr>
          <p:cNvPr id="97" name="Freeform 1520"/>
          <p:cNvSpPr/>
          <p:nvPr/>
        </p:nvSpPr>
        <p:spPr>
          <a:xfrm>
            <a:off x="7710170" y="3627755"/>
            <a:ext cx="384175" cy="170815"/>
          </a:xfrm>
          <a:custGeom>
            <a:avLst/>
            <a:gdLst/>
            <a:ahLst/>
            <a:cxnLst/>
            <a:rect l="0" t="0" r="0" b="0"/>
            <a:pathLst>
              <a:path w="551688" h="170688">
                <a:moveTo>
                  <a:pt x="0" y="6477"/>
                </a:moveTo>
                <a:cubicBezTo>
                  <a:pt x="0" y="2920"/>
                  <a:pt x="2920" y="0"/>
                  <a:pt x="6477" y="0"/>
                </a:cubicBezTo>
                <a:lnTo>
                  <a:pt x="545211" y="0"/>
                </a:lnTo>
                <a:cubicBezTo>
                  <a:pt x="548766" y="0"/>
                  <a:pt x="551688" y="2920"/>
                  <a:pt x="551688" y="6477"/>
                </a:cubicBezTo>
                <a:lnTo>
                  <a:pt x="551688" y="164210"/>
                </a:lnTo>
                <a:cubicBezTo>
                  <a:pt x="551688" y="167766"/>
                  <a:pt x="548766" y="170688"/>
                  <a:pt x="545211" y="170688"/>
                </a:cubicBezTo>
                <a:lnTo>
                  <a:pt x="6477" y="170688"/>
                </a:lnTo>
                <a:cubicBezTo>
                  <a:pt x="2920" y="170688"/>
                  <a:pt x="0" y="167766"/>
                  <a:pt x="0" y="164210"/>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pic>
        <p:nvPicPr>
          <p:cNvPr id="98" name="Picture 1521"/>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a:xfrm>
            <a:off x="7743825" y="3670300"/>
            <a:ext cx="326390" cy="68580"/>
          </a:xfrm>
          <a:prstGeom prst="rect">
            <a:avLst/>
          </a:prstGeom>
          <a:noFill/>
        </p:spPr>
      </p:pic>
      <p:sp>
        <p:nvSpPr>
          <p:cNvPr id="99" name="Freeform 1506"/>
          <p:cNvSpPr/>
          <p:nvPr/>
        </p:nvSpPr>
        <p:spPr>
          <a:xfrm>
            <a:off x="8138160" y="3406775"/>
            <a:ext cx="384810" cy="170815"/>
          </a:xfrm>
          <a:custGeom>
            <a:avLst/>
            <a:gdLst/>
            <a:ahLst/>
            <a:cxnLst/>
            <a:rect l="0" t="0" r="0" b="0"/>
            <a:pathLst>
              <a:path w="551688" h="170689">
                <a:moveTo>
                  <a:pt x="0" y="6478"/>
                </a:moveTo>
                <a:cubicBezTo>
                  <a:pt x="0" y="2922"/>
                  <a:pt x="2920" y="0"/>
                  <a:pt x="6477" y="0"/>
                </a:cubicBezTo>
                <a:lnTo>
                  <a:pt x="545211" y="0"/>
                </a:lnTo>
                <a:cubicBezTo>
                  <a:pt x="548766" y="0"/>
                  <a:pt x="551688" y="2922"/>
                  <a:pt x="551688" y="6478"/>
                </a:cubicBezTo>
                <a:lnTo>
                  <a:pt x="551688" y="164211"/>
                </a:lnTo>
                <a:cubicBezTo>
                  <a:pt x="551688" y="167767"/>
                  <a:pt x="548766" y="170689"/>
                  <a:pt x="545211" y="170689"/>
                </a:cubicBezTo>
                <a:lnTo>
                  <a:pt x="6477" y="170689"/>
                </a:lnTo>
                <a:cubicBezTo>
                  <a:pt x="2920" y="170689"/>
                  <a:pt x="0" y="167767"/>
                  <a:pt x="0" y="164211"/>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00" name="Freeform 1520"/>
          <p:cNvSpPr/>
          <p:nvPr/>
        </p:nvSpPr>
        <p:spPr>
          <a:xfrm>
            <a:off x="8138160" y="3627755"/>
            <a:ext cx="384175" cy="170815"/>
          </a:xfrm>
          <a:custGeom>
            <a:avLst/>
            <a:gdLst/>
            <a:ahLst/>
            <a:cxnLst/>
            <a:rect l="0" t="0" r="0" b="0"/>
            <a:pathLst>
              <a:path w="551688" h="170688">
                <a:moveTo>
                  <a:pt x="0" y="6477"/>
                </a:moveTo>
                <a:cubicBezTo>
                  <a:pt x="0" y="2920"/>
                  <a:pt x="2920" y="0"/>
                  <a:pt x="6477" y="0"/>
                </a:cubicBezTo>
                <a:lnTo>
                  <a:pt x="545211" y="0"/>
                </a:lnTo>
                <a:cubicBezTo>
                  <a:pt x="548766" y="0"/>
                  <a:pt x="551688" y="2920"/>
                  <a:pt x="551688" y="6477"/>
                </a:cubicBezTo>
                <a:lnTo>
                  <a:pt x="551688" y="164210"/>
                </a:lnTo>
                <a:cubicBezTo>
                  <a:pt x="551688" y="167766"/>
                  <a:pt x="548766" y="170688"/>
                  <a:pt x="545211" y="170688"/>
                </a:cubicBezTo>
                <a:lnTo>
                  <a:pt x="6477" y="170688"/>
                </a:lnTo>
                <a:cubicBezTo>
                  <a:pt x="2920" y="170688"/>
                  <a:pt x="0" y="167766"/>
                  <a:pt x="0" y="164210"/>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pic>
        <p:nvPicPr>
          <p:cNvPr id="101" name="Picture 105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a:xfrm>
            <a:off x="8209280" y="3441065"/>
            <a:ext cx="241300" cy="106680"/>
          </a:xfrm>
          <a:prstGeom prst="rect">
            <a:avLst/>
          </a:prstGeom>
          <a:noFill/>
        </p:spPr>
      </p:pic>
      <p:pic>
        <p:nvPicPr>
          <p:cNvPr id="102" name="Picture 151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a:xfrm>
            <a:off x="8180070" y="3655060"/>
            <a:ext cx="306070" cy="95885"/>
          </a:xfrm>
          <a:prstGeom prst="rect">
            <a:avLst/>
          </a:prstGeom>
          <a:noFill/>
        </p:spPr>
      </p:pic>
      <p:sp>
        <p:nvSpPr>
          <p:cNvPr id="103" name="Freeform 1506"/>
          <p:cNvSpPr/>
          <p:nvPr/>
        </p:nvSpPr>
        <p:spPr>
          <a:xfrm>
            <a:off x="8566150" y="3406775"/>
            <a:ext cx="384810" cy="170815"/>
          </a:xfrm>
          <a:custGeom>
            <a:avLst/>
            <a:gdLst/>
            <a:ahLst/>
            <a:cxnLst/>
            <a:rect l="0" t="0" r="0" b="0"/>
            <a:pathLst>
              <a:path w="551688" h="170689">
                <a:moveTo>
                  <a:pt x="0" y="6478"/>
                </a:moveTo>
                <a:cubicBezTo>
                  <a:pt x="0" y="2922"/>
                  <a:pt x="2920" y="0"/>
                  <a:pt x="6477" y="0"/>
                </a:cubicBezTo>
                <a:lnTo>
                  <a:pt x="545211" y="0"/>
                </a:lnTo>
                <a:cubicBezTo>
                  <a:pt x="548766" y="0"/>
                  <a:pt x="551688" y="2922"/>
                  <a:pt x="551688" y="6478"/>
                </a:cubicBezTo>
                <a:lnTo>
                  <a:pt x="551688" y="164211"/>
                </a:lnTo>
                <a:cubicBezTo>
                  <a:pt x="551688" y="167767"/>
                  <a:pt x="548766" y="170689"/>
                  <a:pt x="545211" y="170689"/>
                </a:cubicBezTo>
                <a:lnTo>
                  <a:pt x="6477" y="170689"/>
                </a:lnTo>
                <a:cubicBezTo>
                  <a:pt x="2920" y="170689"/>
                  <a:pt x="0" y="167767"/>
                  <a:pt x="0" y="164211"/>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04" name="Freeform 1520"/>
          <p:cNvSpPr/>
          <p:nvPr/>
        </p:nvSpPr>
        <p:spPr>
          <a:xfrm>
            <a:off x="8566150" y="3627755"/>
            <a:ext cx="384175" cy="170815"/>
          </a:xfrm>
          <a:custGeom>
            <a:avLst/>
            <a:gdLst/>
            <a:ahLst/>
            <a:cxnLst/>
            <a:rect l="0" t="0" r="0" b="0"/>
            <a:pathLst>
              <a:path w="551688" h="170688">
                <a:moveTo>
                  <a:pt x="0" y="6477"/>
                </a:moveTo>
                <a:cubicBezTo>
                  <a:pt x="0" y="2920"/>
                  <a:pt x="2920" y="0"/>
                  <a:pt x="6477" y="0"/>
                </a:cubicBezTo>
                <a:lnTo>
                  <a:pt x="545211" y="0"/>
                </a:lnTo>
                <a:cubicBezTo>
                  <a:pt x="548766" y="0"/>
                  <a:pt x="551688" y="2920"/>
                  <a:pt x="551688" y="6477"/>
                </a:cubicBezTo>
                <a:lnTo>
                  <a:pt x="551688" y="164210"/>
                </a:lnTo>
                <a:cubicBezTo>
                  <a:pt x="551688" y="167766"/>
                  <a:pt x="548766" y="170688"/>
                  <a:pt x="545211" y="170688"/>
                </a:cubicBezTo>
                <a:lnTo>
                  <a:pt x="6477" y="170688"/>
                </a:lnTo>
                <a:cubicBezTo>
                  <a:pt x="2920" y="170688"/>
                  <a:pt x="0" y="167766"/>
                  <a:pt x="0" y="164210"/>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pic>
        <p:nvPicPr>
          <p:cNvPr id="105" name="Picture 1523"/>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a:xfrm>
            <a:off x="8585200" y="3448050"/>
            <a:ext cx="318770" cy="86995"/>
          </a:xfrm>
          <a:prstGeom prst="rect">
            <a:avLst/>
          </a:prstGeom>
          <a:noFill/>
        </p:spPr>
      </p:pic>
      <p:pic>
        <p:nvPicPr>
          <p:cNvPr id="106" name="Picture 152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a:xfrm>
            <a:off x="8595360" y="3667125"/>
            <a:ext cx="144780" cy="86995"/>
          </a:xfrm>
          <a:prstGeom prst="rect">
            <a:avLst/>
          </a:prstGeom>
          <a:noFill/>
        </p:spPr>
      </p:pic>
      <p:sp>
        <p:nvSpPr>
          <p:cNvPr id="107" name="Freeform 1526"/>
          <p:cNvSpPr/>
          <p:nvPr/>
        </p:nvSpPr>
        <p:spPr>
          <a:xfrm>
            <a:off x="8763000" y="3674745"/>
            <a:ext cx="141605" cy="71755"/>
          </a:xfrm>
          <a:custGeom>
            <a:avLst/>
            <a:gdLst/>
            <a:ahLst/>
            <a:cxnLst/>
            <a:rect l="0" t="0" r="0" b="0"/>
            <a:pathLst>
              <a:path w="140207" h="71627">
                <a:moveTo>
                  <a:pt x="75565" y="55371"/>
                </a:moveTo>
                <a:lnTo>
                  <a:pt x="127127" y="55371"/>
                </a:lnTo>
                <a:lnTo>
                  <a:pt x="127127" y="59944"/>
                </a:lnTo>
                <a:lnTo>
                  <a:pt x="75565" y="59944"/>
                </a:lnTo>
                <a:close/>
                <a:moveTo>
                  <a:pt x="20574" y="41656"/>
                </a:moveTo>
                <a:lnTo>
                  <a:pt x="20574" y="50291"/>
                </a:lnTo>
                <a:lnTo>
                  <a:pt x="56642" y="50291"/>
                </a:lnTo>
                <a:lnTo>
                  <a:pt x="56642" y="41656"/>
                </a:lnTo>
                <a:close/>
                <a:moveTo>
                  <a:pt x="83057" y="31241"/>
                </a:moveTo>
                <a:lnTo>
                  <a:pt x="130429" y="31241"/>
                </a:lnTo>
                <a:lnTo>
                  <a:pt x="128651" y="45212"/>
                </a:lnTo>
                <a:lnTo>
                  <a:pt x="140207" y="45212"/>
                </a:lnTo>
                <a:cubicBezTo>
                  <a:pt x="139954" y="50672"/>
                  <a:pt x="139572" y="55626"/>
                  <a:pt x="139192" y="60197"/>
                </a:cubicBezTo>
                <a:cubicBezTo>
                  <a:pt x="138683" y="67183"/>
                  <a:pt x="134874" y="70612"/>
                  <a:pt x="127762" y="70612"/>
                </a:cubicBezTo>
                <a:cubicBezTo>
                  <a:pt x="124587" y="70612"/>
                  <a:pt x="120142" y="70484"/>
                  <a:pt x="114427" y="70358"/>
                </a:cubicBezTo>
                <a:cubicBezTo>
                  <a:pt x="114172" y="68198"/>
                  <a:pt x="113918" y="66294"/>
                  <a:pt x="113411" y="64643"/>
                </a:cubicBezTo>
                <a:cubicBezTo>
                  <a:pt x="118237" y="65023"/>
                  <a:pt x="122681" y="65277"/>
                  <a:pt x="126745" y="65277"/>
                </a:cubicBezTo>
                <a:cubicBezTo>
                  <a:pt x="131064" y="65277"/>
                  <a:pt x="133477" y="63372"/>
                  <a:pt x="133730" y="59563"/>
                </a:cubicBezTo>
                <a:cubicBezTo>
                  <a:pt x="134112" y="56260"/>
                  <a:pt x="134366" y="52958"/>
                  <a:pt x="134492" y="49783"/>
                </a:cubicBezTo>
                <a:lnTo>
                  <a:pt x="85217" y="49783"/>
                </a:lnTo>
                <a:lnTo>
                  <a:pt x="87376" y="38100"/>
                </a:lnTo>
                <a:lnTo>
                  <a:pt x="92964" y="38100"/>
                </a:lnTo>
                <a:lnTo>
                  <a:pt x="91567" y="45212"/>
                </a:lnTo>
                <a:lnTo>
                  <a:pt x="123063" y="45212"/>
                </a:lnTo>
                <a:lnTo>
                  <a:pt x="124332" y="35940"/>
                </a:lnTo>
                <a:lnTo>
                  <a:pt x="83057" y="35940"/>
                </a:lnTo>
                <a:close/>
                <a:moveTo>
                  <a:pt x="20574" y="28066"/>
                </a:moveTo>
                <a:lnTo>
                  <a:pt x="20574" y="36702"/>
                </a:lnTo>
                <a:lnTo>
                  <a:pt x="56642" y="36702"/>
                </a:lnTo>
                <a:lnTo>
                  <a:pt x="56642" y="28066"/>
                </a:lnTo>
                <a:close/>
                <a:moveTo>
                  <a:pt x="118617" y="10414"/>
                </a:moveTo>
                <a:lnTo>
                  <a:pt x="118617" y="20827"/>
                </a:lnTo>
                <a:lnTo>
                  <a:pt x="134619" y="20827"/>
                </a:lnTo>
                <a:lnTo>
                  <a:pt x="134619" y="10414"/>
                </a:lnTo>
                <a:close/>
                <a:moveTo>
                  <a:pt x="113411" y="5969"/>
                </a:moveTo>
                <a:lnTo>
                  <a:pt x="139827" y="5969"/>
                </a:lnTo>
                <a:lnTo>
                  <a:pt x="139827" y="27813"/>
                </a:lnTo>
                <a:lnTo>
                  <a:pt x="134619" y="27813"/>
                </a:lnTo>
                <a:lnTo>
                  <a:pt x="134619" y="25400"/>
                </a:lnTo>
                <a:lnTo>
                  <a:pt x="118617" y="25400"/>
                </a:lnTo>
                <a:lnTo>
                  <a:pt x="118617" y="27558"/>
                </a:lnTo>
                <a:lnTo>
                  <a:pt x="113411" y="27558"/>
                </a:lnTo>
                <a:close/>
                <a:moveTo>
                  <a:pt x="86232" y="634"/>
                </a:moveTo>
                <a:lnTo>
                  <a:pt x="91440" y="634"/>
                </a:lnTo>
                <a:cubicBezTo>
                  <a:pt x="91440" y="3175"/>
                  <a:pt x="91313" y="5460"/>
                  <a:pt x="91186" y="7746"/>
                </a:cubicBezTo>
                <a:lnTo>
                  <a:pt x="107695" y="7746"/>
                </a:lnTo>
                <a:cubicBezTo>
                  <a:pt x="107568" y="11938"/>
                  <a:pt x="107442" y="15366"/>
                  <a:pt x="107188" y="18160"/>
                </a:cubicBezTo>
                <a:cubicBezTo>
                  <a:pt x="106933" y="24510"/>
                  <a:pt x="104013" y="27685"/>
                  <a:pt x="98297" y="27685"/>
                </a:cubicBezTo>
                <a:cubicBezTo>
                  <a:pt x="96266" y="27685"/>
                  <a:pt x="94106" y="27685"/>
                  <a:pt x="91820" y="27558"/>
                </a:cubicBezTo>
                <a:cubicBezTo>
                  <a:pt x="91567" y="26034"/>
                  <a:pt x="91186" y="24383"/>
                  <a:pt x="90678" y="22733"/>
                </a:cubicBezTo>
                <a:cubicBezTo>
                  <a:pt x="93217" y="22987"/>
                  <a:pt x="95377" y="23114"/>
                  <a:pt x="97154" y="23114"/>
                </a:cubicBezTo>
                <a:cubicBezTo>
                  <a:pt x="100203" y="23114"/>
                  <a:pt x="101854" y="21335"/>
                  <a:pt x="101980" y="18033"/>
                </a:cubicBezTo>
                <a:cubicBezTo>
                  <a:pt x="102107" y="16509"/>
                  <a:pt x="102234" y="14604"/>
                  <a:pt x="102362" y="12319"/>
                </a:cubicBezTo>
                <a:lnTo>
                  <a:pt x="90551" y="12319"/>
                </a:lnTo>
                <a:cubicBezTo>
                  <a:pt x="89662" y="20065"/>
                  <a:pt x="85090" y="26162"/>
                  <a:pt x="76707" y="30733"/>
                </a:cubicBezTo>
                <a:cubicBezTo>
                  <a:pt x="75818" y="29209"/>
                  <a:pt x="74803" y="27558"/>
                  <a:pt x="73279" y="25908"/>
                </a:cubicBezTo>
                <a:cubicBezTo>
                  <a:pt x="80391" y="22352"/>
                  <a:pt x="84328" y="17907"/>
                  <a:pt x="85217" y="12319"/>
                </a:cubicBezTo>
                <a:lnTo>
                  <a:pt x="76072" y="12319"/>
                </a:lnTo>
                <a:lnTo>
                  <a:pt x="76072" y="7746"/>
                </a:lnTo>
                <a:lnTo>
                  <a:pt x="85979" y="7746"/>
                </a:lnTo>
                <a:cubicBezTo>
                  <a:pt x="86105" y="5588"/>
                  <a:pt x="86232" y="3175"/>
                  <a:pt x="86232" y="634"/>
                </a:cubicBezTo>
                <a:close/>
                <a:moveTo>
                  <a:pt x="27813" y="0"/>
                </a:moveTo>
                <a:lnTo>
                  <a:pt x="33781" y="1396"/>
                </a:lnTo>
                <a:cubicBezTo>
                  <a:pt x="32766" y="4064"/>
                  <a:pt x="31750" y="6731"/>
                  <a:pt x="30606" y="9270"/>
                </a:cubicBezTo>
                <a:lnTo>
                  <a:pt x="70992" y="9270"/>
                </a:lnTo>
                <a:lnTo>
                  <a:pt x="70992" y="14604"/>
                </a:lnTo>
                <a:lnTo>
                  <a:pt x="27940" y="14604"/>
                </a:lnTo>
                <a:cubicBezTo>
                  <a:pt x="26542" y="17526"/>
                  <a:pt x="24892" y="20320"/>
                  <a:pt x="23114" y="22987"/>
                </a:cubicBezTo>
                <a:lnTo>
                  <a:pt x="62356" y="22987"/>
                </a:lnTo>
                <a:lnTo>
                  <a:pt x="62356" y="61721"/>
                </a:lnTo>
                <a:cubicBezTo>
                  <a:pt x="62356" y="67690"/>
                  <a:pt x="59436" y="70739"/>
                  <a:pt x="53720" y="70739"/>
                </a:cubicBezTo>
                <a:cubicBezTo>
                  <a:pt x="51180" y="70739"/>
                  <a:pt x="47370" y="70739"/>
                  <a:pt x="42164" y="70739"/>
                </a:cubicBezTo>
                <a:cubicBezTo>
                  <a:pt x="41909" y="69088"/>
                  <a:pt x="41529" y="67183"/>
                  <a:pt x="41147" y="64770"/>
                </a:cubicBezTo>
                <a:cubicBezTo>
                  <a:pt x="45466" y="65151"/>
                  <a:pt x="49021" y="65277"/>
                  <a:pt x="51689" y="65277"/>
                </a:cubicBezTo>
                <a:cubicBezTo>
                  <a:pt x="54991" y="65277"/>
                  <a:pt x="56642" y="63627"/>
                  <a:pt x="56642" y="60452"/>
                </a:cubicBezTo>
                <a:lnTo>
                  <a:pt x="56642" y="55245"/>
                </a:lnTo>
                <a:lnTo>
                  <a:pt x="20574" y="55245"/>
                </a:lnTo>
                <a:lnTo>
                  <a:pt x="20574" y="71627"/>
                </a:lnTo>
                <a:lnTo>
                  <a:pt x="14858" y="71627"/>
                </a:lnTo>
                <a:lnTo>
                  <a:pt x="14858" y="34163"/>
                </a:lnTo>
                <a:cubicBezTo>
                  <a:pt x="11429" y="38227"/>
                  <a:pt x="7619" y="42164"/>
                  <a:pt x="3429" y="45846"/>
                </a:cubicBezTo>
                <a:cubicBezTo>
                  <a:pt x="2413" y="44195"/>
                  <a:pt x="1269" y="42418"/>
                  <a:pt x="0" y="40639"/>
                </a:cubicBezTo>
                <a:cubicBezTo>
                  <a:pt x="9270" y="32765"/>
                  <a:pt x="16382" y="24129"/>
                  <a:pt x="21590" y="14604"/>
                </a:cubicBezTo>
                <a:lnTo>
                  <a:pt x="2031" y="14604"/>
                </a:lnTo>
                <a:lnTo>
                  <a:pt x="2031" y="9270"/>
                </a:lnTo>
                <a:lnTo>
                  <a:pt x="24256" y="9270"/>
                </a:lnTo>
                <a:cubicBezTo>
                  <a:pt x="25654" y="6222"/>
                  <a:pt x="26796" y="3175"/>
                  <a:pt x="27813" y="0"/>
                </a:cubicBezTo>
                <a:close/>
              </a:path>
            </a:pathLst>
          </a:custGeom>
          <a:solidFill>
            <a:srgbClr val="383838">
              <a:alpha val="100000"/>
            </a:srgbClr>
          </a:solidFill>
          <a:ln w="12700">
            <a:noFill/>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383838"/>
                </a:solidFill>
                <a:latin typeface="微软雅黑"/>
                <a:ea typeface="微软雅黑"/>
                <a:cs typeface="微软雅黑"/>
              </a:defRPr>
            </a:pPr>
            <a:endParaRPr lang="zh-CN" altLang="en-US" b="1">
              <a:solidFill>
                <a:srgbClr val="383838"/>
              </a:solidFill>
              <a:latin typeface="微软雅黑"/>
              <a:ea typeface="微软雅黑"/>
              <a:cs typeface="微软雅黑"/>
            </a:endParaRPr>
          </a:p>
        </p:txBody>
      </p:sp>
      <p:sp>
        <p:nvSpPr>
          <p:cNvPr id="108" name="Freeform 1506"/>
          <p:cNvSpPr/>
          <p:nvPr/>
        </p:nvSpPr>
        <p:spPr>
          <a:xfrm>
            <a:off x="8994140" y="3406775"/>
            <a:ext cx="384810" cy="170815"/>
          </a:xfrm>
          <a:custGeom>
            <a:avLst/>
            <a:gdLst/>
            <a:ahLst/>
            <a:cxnLst/>
            <a:rect l="0" t="0" r="0" b="0"/>
            <a:pathLst>
              <a:path w="551688" h="170689">
                <a:moveTo>
                  <a:pt x="0" y="6478"/>
                </a:moveTo>
                <a:cubicBezTo>
                  <a:pt x="0" y="2922"/>
                  <a:pt x="2920" y="0"/>
                  <a:pt x="6477" y="0"/>
                </a:cubicBezTo>
                <a:lnTo>
                  <a:pt x="545211" y="0"/>
                </a:lnTo>
                <a:cubicBezTo>
                  <a:pt x="548766" y="0"/>
                  <a:pt x="551688" y="2922"/>
                  <a:pt x="551688" y="6478"/>
                </a:cubicBezTo>
                <a:lnTo>
                  <a:pt x="551688" y="164211"/>
                </a:lnTo>
                <a:cubicBezTo>
                  <a:pt x="551688" y="167767"/>
                  <a:pt x="548766" y="170689"/>
                  <a:pt x="545211" y="170689"/>
                </a:cubicBezTo>
                <a:lnTo>
                  <a:pt x="6477" y="170689"/>
                </a:lnTo>
                <a:cubicBezTo>
                  <a:pt x="2920" y="170689"/>
                  <a:pt x="0" y="167767"/>
                  <a:pt x="0" y="164211"/>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09" name="Freeform 1506"/>
          <p:cNvSpPr/>
          <p:nvPr/>
        </p:nvSpPr>
        <p:spPr>
          <a:xfrm>
            <a:off x="8994140" y="3627755"/>
            <a:ext cx="384810" cy="170815"/>
          </a:xfrm>
          <a:custGeom>
            <a:avLst/>
            <a:gdLst/>
            <a:ahLst/>
            <a:cxnLst/>
            <a:rect l="0" t="0" r="0" b="0"/>
            <a:pathLst>
              <a:path w="551688" h="170689">
                <a:moveTo>
                  <a:pt x="0" y="6478"/>
                </a:moveTo>
                <a:cubicBezTo>
                  <a:pt x="0" y="2922"/>
                  <a:pt x="2920" y="0"/>
                  <a:pt x="6477" y="0"/>
                </a:cubicBezTo>
                <a:lnTo>
                  <a:pt x="545211" y="0"/>
                </a:lnTo>
                <a:cubicBezTo>
                  <a:pt x="548766" y="0"/>
                  <a:pt x="551688" y="2922"/>
                  <a:pt x="551688" y="6478"/>
                </a:cubicBezTo>
                <a:lnTo>
                  <a:pt x="551688" y="164211"/>
                </a:lnTo>
                <a:cubicBezTo>
                  <a:pt x="551688" y="167767"/>
                  <a:pt x="548766" y="170689"/>
                  <a:pt x="545211" y="170689"/>
                </a:cubicBezTo>
                <a:lnTo>
                  <a:pt x="6477" y="170689"/>
                </a:lnTo>
                <a:cubicBezTo>
                  <a:pt x="2920" y="170689"/>
                  <a:pt x="0" y="167767"/>
                  <a:pt x="0" y="164211"/>
                </a:cubicBezTo>
                <a:close/>
              </a:path>
            </a:pathLst>
          </a:custGeom>
          <a:solidFill>
            <a:srgbClr val="DCDCDC"/>
          </a:soli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pic>
        <p:nvPicPr>
          <p:cNvPr id="110" name="Picture 1522"/>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a:xfrm>
            <a:off x="9046845" y="3668395"/>
            <a:ext cx="250190" cy="93980"/>
          </a:xfrm>
          <a:prstGeom prst="rect">
            <a:avLst/>
          </a:prstGeom>
          <a:noFill/>
        </p:spPr>
      </p:pic>
      <p:pic>
        <p:nvPicPr>
          <p:cNvPr id="111" name="Picture 1514"/>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a:xfrm>
            <a:off x="9016365" y="3428365"/>
            <a:ext cx="161290" cy="129540"/>
          </a:xfrm>
          <a:prstGeom prst="rect">
            <a:avLst/>
          </a:prstGeom>
          <a:noFill/>
        </p:spPr>
      </p:pic>
      <p:sp>
        <p:nvSpPr>
          <p:cNvPr id="112" name="文本框 111"/>
          <p:cNvSpPr txBox="1"/>
          <p:nvPr/>
        </p:nvSpPr>
        <p:spPr>
          <a:xfrm>
            <a:off x="9083675" y="3423285"/>
            <a:ext cx="384175" cy="168275"/>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装馨家</a:t>
            </a:r>
            <a:endParaRPr lang="zh-CN" altLang="en-US" sz="1000">
              <a:solidFill>
                <a:srgbClr val="383838"/>
              </a:solidFill>
              <a:latin typeface="微软雅黑"/>
              <a:ea typeface="微软雅黑"/>
              <a:cs typeface="微软雅黑"/>
            </a:endParaRPr>
          </a:p>
        </p:txBody>
      </p:sp>
      <p:sp>
        <p:nvSpPr>
          <p:cNvPr id="115" name="Rectangle 1569"/>
          <p:cNvSpPr/>
          <p:nvPr/>
        </p:nvSpPr>
        <p:spPr>
          <a:xfrm>
            <a:off x="3584575" y="5767705"/>
            <a:ext cx="1962785" cy="215265"/>
          </a:xfrm>
          <a:prstGeom prst="rect">
            <a:avLst/>
          </a:prstGeom>
        </p:spPr>
        <p:txBody>
          <a:bodyPr wrap="none" lIns="0" tIns="0" rIns="0" bIns="0">
            <a:spAutoFit/>
          </a:bodyPr>
          <a:lstStyle/>
          <a:p>
            <a:pPr marL="0">
              <a:defRPr>
                <a:latin typeface="微软雅黑"/>
                <a:ea typeface="微软雅黑"/>
                <a:cs typeface="微软雅黑"/>
              </a:defRPr>
            </a:pPr>
            <a:r>
              <a:rPr lang="en-US" sz="1400" b="1" spc="0" baseline="0" dirty="0">
                <a:solidFill>
                  <a:srgbClr val="383838"/>
                </a:solidFill>
                <a:latin typeface="微软雅黑"/>
                <a:ea typeface="微软雅黑"/>
                <a:cs typeface="微软雅黑"/>
              </a:rPr>
              <a:t>品牌人格化长效沟通阵地</a:t>
            </a:r>
            <a:endParaRPr lang="en-US" sz="1400" b="1" spc="0" baseline="0" dirty="0">
              <a:solidFill>
                <a:srgbClr val="383838"/>
              </a:solidFill>
              <a:latin typeface="微软雅黑"/>
              <a:ea typeface="微软雅黑"/>
              <a:cs typeface="微软雅黑"/>
            </a:endParaRPr>
          </a:p>
        </p:txBody>
      </p:sp>
      <p:sp>
        <p:nvSpPr>
          <p:cNvPr id="116" name="矩形: 圆角 48"/>
          <p:cNvSpPr/>
          <p:nvPr/>
        </p:nvSpPr>
        <p:spPr>
          <a:xfrm>
            <a:off x="3110230" y="4839335"/>
            <a:ext cx="3037205" cy="824865"/>
          </a:xfrm>
          <a:prstGeom prst="roundRect">
            <a:avLst>
              <a:gd name="adj" fmla="val 1871"/>
            </a:avLst>
          </a:prstGeom>
          <a:ln w="6350" cap="flat" cmpd="sng" algn="ctr">
            <a:solidFill>
              <a:srgbClr val="0042FF"/>
            </a:solidFill>
            <a:prstDash val="dash"/>
            <a:miter lim="800000"/>
          </a:ln>
        </p:spPr>
        <p:style>
          <a:lnRef idx="0">
            <a:srgbClr val="0042FF"/>
          </a:lnRef>
          <a:fillRef idx="0">
            <a:srgbClr val="FFFFFF"/>
          </a:fillRef>
          <a:effectRef idx="0">
            <a:srgbClr val="FFFF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b="1" dirty="0">
              <a:solidFill>
                <a:srgbClr val="0042FF"/>
              </a:solidFill>
              <a:latin typeface="微软雅黑"/>
              <a:ea typeface="微软雅黑"/>
              <a:cs typeface="微软雅黑"/>
            </a:endParaRPr>
          </a:p>
        </p:txBody>
      </p:sp>
      <p:sp>
        <p:nvSpPr>
          <p:cNvPr id="117" name="Freeform 1535"/>
          <p:cNvSpPr/>
          <p:nvPr/>
        </p:nvSpPr>
        <p:spPr>
          <a:xfrm>
            <a:off x="3197225" y="4919345"/>
            <a:ext cx="2874010" cy="243840"/>
          </a:xfrm>
          <a:custGeom>
            <a:avLst/>
            <a:gdLst/>
            <a:ahLst/>
            <a:cxnLst/>
            <a:rect l="0" t="0" r="0" b="0"/>
            <a:pathLst>
              <a:path w="4081272" h="243839">
                <a:moveTo>
                  <a:pt x="0" y="23748"/>
                </a:moveTo>
                <a:cubicBezTo>
                  <a:pt x="0" y="10667"/>
                  <a:pt x="10667" y="0"/>
                  <a:pt x="23748" y="0"/>
                </a:cubicBezTo>
                <a:lnTo>
                  <a:pt x="4057523" y="0"/>
                </a:lnTo>
                <a:cubicBezTo>
                  <a:pt x="4070604" y="0"/>
                  <a:pt x="4081272" y="10667"/>
                  <a:pt x="4081272" y="23748"/>
                </a:cubicBezTo>
                <a:lnTo>
                  <a:pt x="4081272" y="220091"/>
                </a:lnTo>
                <a:cubicBezTo>
                  <a:pt x="4081272" y="233172"/>
                  <a:pt x="4070604" y="243839"/>
                  <a:pt x="4057523" y="243839"/>
                </a:cubicBezTo>
                <a:lnTo>
                  <a:pt x="23748" y="243839"/>
                </a:lnTo>
                <a:cubicBezTo>
                  <a:pt x="10667" y="243839"/>
                  <a:pt x="0" y="233172"/>
                  <a:pt x="0" y="220091"/>
                </a:cubicBezTo>
                <a:close/>
              </a:path>
            </a:pathLst>
          </a:custGeom>
          <a:gradFill>
            <a:gsLst>
              <a:gs pos="0">
                <a:srgbClr val="3368FF"/>
              </a:gs>
              <a:gs pos="100000">
                <a:srgbClr val="0042FF"/>
              </a:gs>
            </a:gsLst>
            <a:lin ang="5400000" scaled="0"/>
          </a:gradFill>
        </p:spPr>
        <p:style>
          <a:lnRef idx="0">
            <a:srgbClr val="FFFFFF"/>
          </a:lnRef>
          <a:fillRef idx="1">
            <a:srgbClr val="0042FF"/>
          </a:fillRef>
          <a:effectRef idx="0">
            <a:srgbClr val="FFFFFF"/>
          </a:effectRef>
          <a:fontRef idx="minor">
            <a:srgbClr val="383838"/>
          </a:fontRef>
        </p:style>
        <p:txBody>
          <a:bodyP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118" name="Freeform 1536"/>
          <p:cNvSpPr/>
          <p:nvPr/>
        </p:nvSpPr>
        <p:spPr>
          <a:xfrm>
            <a:off x="3209925" y="5248275"/>
            <a:ext cx="1419860" cy="338455"/>
          </a:xfrm>
          <a:custGeom>
            <a:avLst/>
            <a:gdLst/>
            <a:ahLst/>
            <a:cxnLst/>
            <a:rect l="0" t="0" r="0" b="0"/>
            <a:pathLst>
              <a:path w="1716024" h="338328">
                <a:moveTo>
                  <a:pt x="0" y="338328"/>
                </a:moveTo>
                <a:lnTo>
                  <a:pt x="1716024" y="338328"/>
                </a:lnTo>
                <a:lnTo>
                  <a:pt x="1716024" y="0"/>
                </a:lnTo>
                <a:lnTo>
                  <a:pt x="0" y="0"/>
                </a:lnTo>
                <a:lnTo>
                  <a:pt x="0" y="338328"/>
                </a:lnTo>
                <a:close/>
              </a:path>
            </a:pathLst>
          </a:custGeom>
          <a:ln>
            <a:solidFill>
              <a:srgbClr val="0042FF">
                <a:alpha val="50000"/>
              </a:srgbClr>
            </a:solidFill>
          </a:ln>
        </p:spPr>
        <p:style>
          <a:lnRef idx="3">
            <a:srgbClr val="0042FF"/>
          </a:lnRef>
          <a:fillRef idx="0">
            <a:srgbClr val="FFFFFF"/>
          </a:fillRef>
          <a:effectRef idx="0">
            <a:srgbClr val="FFFFFF"/>
          </a:effectRef>
          <a:fontRef idx="minor">
            <a:srgbClr val="383838"/>
          </a:fontRef>
        </p:style>
        <p:txBody>
          <a:bodyP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120" name="Freeform 1537"/>
          <p:cNvSpPr/>
          <p:nvPr/>
        </p:nvSpPr>
        <p:spPr>
          <a:xfrm>
            <a:off x="4702175" y="5248275"/>
            <a:ext cx="1357630" cy="338455"/>
          </a:xfrm>
          <a:custGeom>
            <a:avLst/>
            <a:gdLst/>
            <a:ahLst/>
            <a:cxnLst/>
            <a:rect l="0" t="0" r="0" b="0"/>
            <a:pathLst>
              <a:path w="2241804" h="338328">
                <a:moveTo>
                  <a:pt x="0" y="338328"/>
                </a:moveTo>
                <a:lnTo>
                  <a:pt x="2241804" y="338328"/>
                </a:lnTo>
                <a:lnTo>
                  <a:pt x="2241804" y="0"/>
                </a:lnTo>
                <a:lnTo>
                  <a:pt x="0" y="0"/>
                </a:lnTo>
                <a:lnTo>
                  <a:pt x="0" y="338328"/>
                </a:lnTo>
                <a:close/>
              </a:path>
            </a:pathLst>
          </a:custGeom>
          <a:ln>
            <a:solidFill>
              <a:srgbClr val="0042FF">
                <a:alpha val="50000"/>
              </a:srgbClr>
            </a:solidFill>
          </a:ln>
        </p:spPr>
        <p:style>
          <a:lnRef idx="3">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22" name="Rectangle 1570"/>
          <p:cNvSpPr/>
          <p:nvPr/>
        </p:nvSpPr>
        <p:spPr>
          <a:xfrm>
            <a:off x="3677920" y="4938395"/>
            <a:ext cx="1795780" cy="224790"/>
          </a:xfrm>
          <a:prstGeom prst="rect">
            <a:avLst/>
          </a:prstGeom>
        </p:spPr>
        <p:txBody>
          <a:bodyPr wrap="square" lIns="0" tIns="0" rIns="0" bIns="0" anchor="ctr" anchorCtr="0">
            <a:noAutofit/>
          </a:bodyPr>
          <a:lstStyle/>
          <a:p>
            <a:pPr marL="0" algn="ctr">
              <a:defRPr>
                <a:solidFill>
                  <a:srgbClr val="FFFFFF"/>
                </a:solidFill>
                <a:latin typeface="微软雅黑"/>
                <a:ea typeface="微软雅黑"/>
                <a:cs typeface="微软雅黑"/>
              </a:defRPr>
            </a:pPr>
            <a:r>
              <a:rPr lang="en-US" sz="1105" b="1" spc="0" baseline="0" dirty="0">
                <a:solidFill>
                  <a:srgbClr val="FFFFFF"/>
                </a:solidFill>
                <a:latin typeface="微软雅黑"/>
                <a:ea typeface="微软雅黑"/>
                <a:cs typeface="微软雅黑"/>
              </a:rPr>
              <a:t>企业百家号</a:t>
            </a:r>
            <a:endParaRPr lang="en-US" sz="1105" b="1" spc="0" baseline="0" dirty="0">
              <a:solidFill>
                <a:srgbClr val="FFFFFF"/>
              </a:solidFill>
              <a:latin typeface="微软雅黑"/>
              <a:ea typeface="微软雅黑"/>
              <a:cs typeface="微软雅黑"/>
            </a:endParaRPr>
          </a:p>
        </p:txBody>
      </p:sp>
      <p:sp>
        <p:nvSpPr>
          <p:cNvPr id="125" name="Rectangle 1571"/>
          <p:cNvSpPr/>
          <p:nvPr/>
        </p:nvSpPr>
        <p:spPr>
          <a:xfrm>
            <a:off x="3390900" y="5334000"/>
            <a:ext cx="1016000" cy="171450"/>
          </a:xfrm>
          <a:prstGeom prst="rect">
            <a:avLst/>
          </a:prstGeom>
        </p:spPr>
        <p:txBody>
          <a:bodyPr wrap="square" lIns="0" tIns="0" rIns="0" bIns="0" anchor="t">
            <a:noAutofit/>
          </a:bodyPr>
          <a:lstStyle/>
          <a:p>
            <a:pPr marL="0">
              <a:tabLst>
                <a:tab pos="2111375" algn="l"/>
              </a:tabLst>
              <a:defRPr>
                <a:latin typeface="微软雅黑"/>
                <a:ea typeface="微软雅黑"/>
                <a:cs typeface="微软雅黑"/>
              </a:defRPr>
              <a:lnSpc>
                <a:spcPts val="1120"/>
              </a:lnSpc>
              <a:spcBef>
                <a:spcPts val="0"/>
              </a:spcBef>
              <a:spcAft>
                <a:spcPts val="0"/>
              </a:spcAft>
            </a:pPr>
            <a:r>
              <a:rPr lang="en-US" sz="1000" spc="0" baseline="0" dirty="0">
                <a:solidFill>
                  <a:srgbClr val="0042FF"/>
                </a:solidFill>
                <a:latin typeface="微软雅黑"/>
                <a:ea typeface="微软雅黑"/>
                <a:cs typeface="微软雅黑"/>
              </a:rPr>
              <a:t>阵地建设能力夯实</a:t>
            </a:r>
            <a:endParaRPr lang="en-US" sz="1000" spc="0" baseline="0" dirty="0">
              <a:solidFill>
                <a:srgbClr val="0042FF"/>
              </a:solidFill>
              <a:latin typeface="微软雅黑"/>
              <a:ea typeface="微软雅黑"/>
              <a:cs typeface="微软雅黑"/>
            </a:endParaRPr>
          </a:p>
        </p:txBody>
      </p:sp>
      <p:sp>
        <p:nvSpPr>
          <p:cNvPr id="126" name="Rectangle 1571"/>
          <p:cNvSpPr/>
          <p:nvPr/>
        </p:nvSpPr>
        <p:spPr>
          <a:xfrm>
            <a:off x="4850765" y="5338445"/>
            <a:ext cx="1016000" cy="171450"/>
          </a:xfrm>
          <a:prstGeom prst="rect">
            <a:avLst/>
          </a:prstGeom>
        </p:spPr>
        <p:txBody>
          <a:bodyPr wrap="square" lIns="0" tIns="0" rIns="0" bIns="0" anchor="t">
            <a:noAutofit/>
          </a:bodyPr>
          <a:lstStyle/>
          <a:p>
            <a:pPr lvl="0" algn="l">
              <a:buClrTx/>
              <a:buSzTx/>
              <a:buFontTx/>
              <a:tabLst>
                <a:tab pos="2111375" algn="l"/>
              </a:tabLst>
              <a:defRPr>
                <a:latin typeface="微软雅黑"/>
                <a:ea typeface="微软雅黑"/>
                <a:cs typeface="微软雅黑"/>
              </a:defRPr>
              <a:lnSpc>
                <a:spcPts val="1120"/>
              </a:lnSpc>
              <a:spcBef>
                <a:spcPts val="0"/>
              </a:spcBef>
              <a:spcAft>
                <a:spcPts val="0"/>
              </a:spcAft>
            </a:pPr>
            <a:r>
              <a:rPr lang="en-US" sz="1000" dirty="0">
                <a:solidFill>
                  <a:srgbClr val="0042FF"/>
                </a:solidFill>
                <a:latin typeface="微软雅黑"/>
                <a:ea typeface="微软雅黑"/>
                <a:cs typeface="微软雅黑"/>
                <a:sym typeface="微软雅黑"/>
              </a:rPr>
              <a:t>用户沟通效果增强</a:t>
            </a:r>
            <a:endParaRPr lang="en-US" sz="1000" dirty="0">
              <a:solidFill>
                <a:srgbClr val="0042FF"/>
              </a:solidFill>
              <a:latin typeface="微软雅黑"/>
              <a:ea typeface="微软雅黑"/>
              <a:cs typeface="微软雅黑"/>
              <a:sym typeface="微软雅黑"/>
            </a:endParaRPr>
          </a:p>
        </p:txBody>
      </p:sp>
      <p:sp>
        <p:nvSpPr>
          <p:cNvPr id="128" name="Rectangle 1569"/>
          <p:cNvSpPr/>
          <p:nvPr/>
        </p:nvSpPr>
        <p:spPr>
          <a:xfrm>
            <a:off x="7303135" y="5743575"/>
            <a:ext cx="1427480" cy="215265"/>
          </a:xfrm>
          <a:prstGeom prst="rect">
            <a:avLst/>
          </a:prstGeom>
        </p:spPr>
        <p:txBody>
          <a:bodyPr wrap="none" lIns="0" tIns="0" rIns="0" bIns="0">
            <a:spAutoFit/>
          </a:bodyPr>
          <a:lstStyle/>
          <a:p>
            <a:pPr marL="0" algn="l">
              <a:defRPr>
                <a:latin typeface="微软雅黑"/>
                <a:ea typeface="微软雅黑"/>
                <a:cs typeface="微软雅黑"/>
              </a:defRPr>
            </a:pPr>
            <a:r>
              <a:rPr lang="zh-CN" altLang="en-US" sz="1400" b="1" spc="0" baseline="0" dirty="0">
                <a:solidFill>
                  <a:srgbClr val="383838"/>
                </a:solidFill>
                <a:latin typeface="微软雅黑"/>
                <a:ea typeface="微软雅黑"/>
                <a:cs typeface="微软雅黑"/>
              </a:rPr>
              <a:t>人格化沟通新场景</a:t>
            </a:r>
            <a:endParaRPr lang="zh-CN" altLang="en-US" sz="1400" b="1" spc="0" baseline="0" dirty="0">
              <a:solidFill>
                <a:srgbClr val="383838"/>
              </a:solidFill>
              <a:latin typeface="微软雅黑"/>
              <a:ea typeface="微软雅黑"/>
              <a:cs typeface="微软雅黑"/>
            </a:endParaRPr>
          </a:p>
        </p:txBody>
      </p:sp>
      <p:sp>
        <p:nvSpPr>
          <p:cNvPr id="129" name="矩形: 圆角 48"/>
          <p:cNvSpPr/>
          <p:nvPr/>
        </p:nvSpPr>
        <p:spPr>
          <a:xfrm>
            <a:off x="6423660" y="4839335"/>
            <a:ext cx="3037205" cy="824865"/>
          </a:xfrm>
          <a:prstGeom prst="roundRect">
            <a:avLst>
              <a:gd name="adj" fmla="val 1871"/>
            </a:avLst>
          </a:prstGeom>
          <a:ln w="6350" cap="flat" cmpd="sng" algn="ctr">
            <a:solidFill>
              <a:srgbClr val="0042FF"/>
            </a:solidFill>
            <a:prstDash val="dash"/>
            <a:miter lim="800000"/>
          </a:ln>
        </p:spPr>
        <p:style>
          <a:lnRef idx="0">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b="1" dirty="0">
              <a:solidFill>
                <a:srgbClr val="0042FF"/>
              </a:solidFill>
              <a:latin typeface="微软雅黑"/>
              <a:ea typeface="微软雅黑"/>
              <a:cs typeface="微软雅黑"/>
              <a:sym typeface="微软雅黑"/>
            </a:endParaRPr>
          </a:p>
        </p:txBody>
      </p:sp>
      <p:sp>
        <p:nvSpPr>
          <p:cNvPr id="131" name="Freeform 1535"/>
          <p:cNvSpPr/>
          <p:nvPr/>
        </p:nvSpPr>
        <p:spPr>
          <a:xfrm>
            <a:off x="6510655" y="4919345"/>
            <a:ext cx="2874010" cy="243840"/>
          </a:xfrm>
          <a:custGeom>
            <a:avLst/>
            <a:gdLst/>
            <a:ahLst/>
            <a:cxnLst/>
            <a:rect l="0" t="0" r="0" b="0"/>
            <a:pathLst>
              <a:path w="4081272" h="243839">
                <a:moveTo>
                  <a:pt x="0" y="23748"/>
                </a:moveTo>
                <a:cubicBezTo>
                  <a:pt x="0" y="10667"/>
                  <a:pt x="10667" y="0"/>
                  <a:pt x="23748" y="0"/>
                </a:cubicBezTo>
                <a:lnTo>
                  <a:pt x="4057523" y="0"/>
                </a:lnTo>
                <a:cubicBezTo>
                  <a:pt x="4070604" y="0"/>
                  <a:pt x="4081272" y="10667"/>
                  <a:pt x="4081272" y="23748"/>
                </a:cubicBezTo>
                <a:lnTo>
                  <a:pt x="4081272" y="220091"/>
                </a:lnTo>
                <a:cubicBezTo>
                  <a:pt x="4081272" y="233172"/>
                  <a:pt x="4070604" y="243839"/>
                  <a:pt x="4057523" y="243839"/>
                </a:cubicBezTo>
                <a:lnTo>
                  <a:pt x="23748" y="243839"/>
                </a:lnTo>
                <a:cubicBezTo>
                  <a:pt x="10667" y="243839"/>
                  <a:pt x="0" y="233172"/>
                  <a:pt x="0" y="220091"/>
                </a:cubicBezTo>
                <a:close/>
              </a:path>
            </a:pathLst>
          </a:custGeom>
          <a:gradFill>
            <a:gsLst>
              <a:gs pos="0">
                <a:srgbClr val="3368FF"/>
              </a:gs>
              <a:gs pos="100000">
                <a:srgbClr val="0042FF"/>
              </a:gs>
            </a:gsLst>
            <a:lin ang="5400000" scaled="0"/>
          </a:gradFill>
        </p:spPr>
        <p:style>
          <a:lnRef idx="0">
            <a:srgbClr val="FFFFFF"/>
          </a:lnRef>
          <a:fillRef idx="1">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32" name="Freeform 1536"/>
          <p:cNvSpPr/>
          <p:nvPr/>
        </p:nvSpPr>
        <p:spPr>
          <a:xfrm>
            <a:off x="6641465" y="5248275"/>
            <a:ext cx="1238885" cy="338455"/>
          </a:xfrm>
          <a:custGeom>
            <a:avLst/>
            <a:gdLst/>
            <a:ahLst/>
            <a:cxnLst/>
            <a:rect l="0" t="0" r="0" b="0"/>
            <a:pathLst>
              <a:path w="1716024" h="338328">
                <a:moveTo>
                  <a:pt x="0" y="338328"/>
                </a:moveTo>
                <a:lnTo>
                  <a:pt x="1716024" y="338328"/>
                </a:lnTo>
                <a:lnTo>
                  <a:pt x="1716024" y="0"/>
                </a:lnTo>
                <a:lnTo>
                  <a:pt x="0" y="0"/>
                </a:lnTo>
                <a:lnTo>
                  <a:pt x="0" y="338328"/>
                </a:lnTo>
                <a:close/>
              </a:path>
            </a:pathLst>
          </a:custGeom>
          <a:ln>
            <a:solidFill>
              <a:srgbClr val="0042FF">
                <a:alpha val="50000"/>
              </a:srgbClr>
            </a:solidFill>
          </a:ln>
        </p:spPr>
        <p:style>
          <a:lnRef idx="3">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34" name="Freeform 1537"/>
          <p:cNvSpPr/>
          <p:nvPr/>
        </p:nvSpPr>
        <p:spPr>
          <a:xfrm>
            <a:off x="7952740" y="5248275"/>
            <a:ext cx="1357630" cy="338455"/>
          </a:xfrm>
          <a:custGeom>
            <a:avLst/>
            <a:gdLst/>
            <a:ahLst/>
            <a:cxnLst/>
            <a:rect l="0" t="0" r="0" b="0"/>
            <a:pathLst>
              <a:path w="2241804" h="338328">
                <a:moveTo>
                  <a:pt x="0" y="338328"/>
                </a:moveTo>
                <a:lnTo>
                  <a:pt x="2241804" y="338328"/>
                </a:lnTo>
                <a:lnTo>
                  <a:pt x="2241804" y="0"/>
                </a:lnTo>
                <a:lnTo>
                  <a:pt x="0" y="0"/>
                </a:lnTo>
                <a:lnTo>
                  <a:pt x="0" y="338328"/>
                </a:lnTo>
                <a:close/>
              </a:path>
            </a:pathLst>
          </a:custGeom>
          <a:ln>
            <a:solidFill>
              <a:srgbClr val="0042FF">
                <a:alpha val="50000"/>
              </a:srgbClr>
            </a:solidFill>
          </a:ln>
        </p:spPr>
        <p:style>
          <a:lnRef idx="3">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135" name="Rectangle 1570"/>
          <p:cNvSpPr/>
          <p:nvPr/>
        </p:nvSpPr>
        <p:spPr>
          <a:xfrm>
            <a:off x="6978650" y="4938395"/>
            <a:ext cx="1971675" cy="224790"/>
          </a:xfrm>
          <a:prstGeom prst="rect">
            <a:avLst/>
          </a:prstGeom>
        </p:spPr>
        <p:txBody>
          <a:bodyPr wrap="square" lIns="0" tIns="0" rIns="0" bIns="0" anchor="ctr" anchorCtr="0">
            <a:noAutofit/>
          </a:bodyPr>
          <a:lstStyle/>
          <a:p>
            <a:pPr lvl="0" algn="ctr">
              <a:buClrTx/>
              <a:buSzTx/>
              <a:buFontTx/>
              <a:defRPr>
                <a:solidFill>
                  <a:srgbClr val="FFFFFF"/>
                </a:solidFill>
                <a:latin typeface="微软雅黑"/>
                <a:ea typeface="微软雅黑"/>
                <a:cs typeface="微软雅黑"/>
              </a:defRPr>
            </a:pPr>
            <a:r>
              <a:rPr lang="en-US" sz="1105" b="1" dirty="0">
                <a:solidFill>
                  <a:srgbClr val="FFFFFF"/>
                </a:solidFill>
                <a:latin typeface="微软雅黑"/>
                <a:ea typeface="微软雅黑"/>
                <a:cs typeface="微软雅黑"/>
                <a:sym typeface="微软雅黑"/>
              </a:rPr>
              <a:t>小程序直播</a:t>
            </a:r>
            <a:endParaRPr lang="en-US" sz="1105" b="1" dirty="0">
              <a:solidFill>
                <a:srgbClr val="FFFFFF"/>
              </a:solidFill>
              <a:latin typeface="微软雅黑"/>
              <a:ea typeface="微软雅黑"/>
              <a:cs typeface="微软雅黑"/>
              <a:sym typeface="微软雅黑"/>
            </a:endParaRPr>
          </a:p>
        </p:txBody>
      </p:sp>
      <p:sp>
        <p:nvSpPr>
          <p:cNvPr id="136" name="Rectangle 1571"/>
          <p:cNvSpPr/>
          <p:nvPr/>
        </p:nvSpPr>
        <p:spPr>
          <a:xfrm>
            <a:off x="6673215" y="5338445"/>
            <a:ext cx="1169670" cy="171450"/>
          </a:xfrm>
          <a:prstGeom prst="rect">
            <a:avLst/>
          </a:prstGeom>
        </p:spPr>
        <p:txBody>
          <a:bodyPr wrap="square" lIns="0" tIns="0" rIns="0" bIns="0" anchor="t">
            <a:noAutofit/>
          </a:bodyPr>
          <a:lstStyle/>
          <a:p>
            <a:pPr marL="0" algn="ctr">
              <a:tabLst>
                <a:tab pos="2111375" algn="l"/>
              </a:tabLst>
              <a:defRPr>
                <a:latin typeface="微软雅黑"/>
                <a:ea typeface="微软雅黑"/>
                <a:cs typeface="微软雅黑"/>
              </a:defRPr>
              <a:lnSpc>
                <a:spcPts val="1120"/>
              </a:lnSpc>
              <a:spcBef>
                <a:spcPts val="0"/>
              </a:spcBef>
              <a:spcAft>
                <a:spcPts val="0"/>
              </a:spcAft>
            </a:pPr>
            <a:r>
              <a:rPr lang="zh-CN" altLang="en-US" sz="1000" spc="0" baseline="0" dirty="0">
                <a:solidFill>
                  <a:srgbClr val="0042FF"/>
                </a:solidFill>
                <a:latin typeface="微软雅黑"/>
                <a:ea typeface="微软雅黑"/>
                <a:cs typeface="微软雅黑"/>
              </a:rPr>
              <a:t>构建连接用户新场景</a:t>
            </a:r>
            <a:endParaRPr lang="zh-CN" altLang="en-US" sz="1000" spc="0" baseline="0" dirty="0">
              <a:solidFill>
                <a:srgbClr val="0042FF"/>
              </a:solidFill>
              <a:latin typeface="微软雅黑"/>
              <a:ea typeface="微软雅黑"/>
              <a:cs typeface="微软雅黑"/>
            </a:endParaRPr>
          </a:p>
        </p:txBody>
      </p:sp>
      <p:sp>
        <p:nvSpPr>
          <p:cNvPr id="137" name="Rectangle 1571"/>
          <p:cNvSpPr/>
          <p:nvPr/>
        </p:nvSpPr>
        <p:spPr>
          <a:xfrm>
            <a:off x="8074660" y="5338445"/>
            <a:ext cx="1143000" cy="171450"/>
          </a:xfrm>
          <a:prstGeom prst="rect">
            <a:avLst/>
          </a:prstGeom>
        </p:spPr>
        <p:txBody>
          <a:bodyPr wrap="square" lIns="0" tIns="0" rIns="0" bIns="0" anchor="t">
            <a:noAutofit/>
          </a:bodyPr>
          <a:lstStyle/>
          <a:p>
            <a:pPr marL="0" algn="l">
              <a:tabLst>
                <a:tab pos="2111375" algn="l"/>
              </a:tabLst>
              <a:defRPr>
                <a:latin typeface="微软雅黑"/>
                <a:ea typeface="微软雅黑"/>
                <a:cs typeface="微软雅黑"/>
              </a:defRPr>
              <a:lnSpc>
                <a:spcPts val="1120"/>
              </a:lnSpc>
              <a:spcBef>
                <a:spcPts val="0"/>
              </a:spcBef>
              <a:spcAft>
                <a:spcPts val="0"/>
              </a:spcAft>
            </a:pPr>
            <a:r>
              <a:rPr lang="zh-CN" altLang="en-US" sz="1000" spc="0" baseline="0" dirty="0">
                <a:solidFill>
                  <a:srgbClr val="0042FF"/>
                </a:solidFill>
                <a:latin typeface="微软雅黑"/>
                <a:ea typeface="微软雅黑"/>
                <a:cs typeface="微软雅黑"/>
              </a:rPr>
              <a:t>服务直播的温度直连</a:t>
            </a:r>
            <a:endParaRPr lang="zh-CN" altLang="en-US" sz="1000" spc="0" baseline="0" dirty="0">
              <a:solidFill>
                <a:srgbClr val="0042FF"/>
              </a:solidFill>
              <a:latin typeface="微软雅黑"/>
              <a:ea typeface="微软雅黑"/>
              <a:cs typeface="微软雅黑"/>
            </a:endParaRPr>
          </a:p>
        </p:txBody>
      </p:sp>
      <p:cxnSp>
        <p:nvCxnSpPr>
          <p:cNvPr id="149" name="直线连接符 250"/>
          <p:cNvCxnSpPr/>
          <p:nvPr/>
        </p:nvCxnSpPr>
        <p:spPr>
          <a:xfrm>
            <a:off x="792480" y="2675255"/>
            <a:ext cx="1894840" cy="0"/>
          </a:xfrm>
          <a:prstGeom prst="line">
            <a:avLst/>
          </a:prstGeom>
          <a:ln w="22225">
            <a:solidFill>
              <a:srgbClr val="DCDCDC"/>
            </a:solidFill>
            <a:prstDash val="sysDot"/>
          </a:ln>
        </p:spPr>
        <p:style>
          <a:lnRef idx="1">
            <a:srgbClr val="0042FF"/>
          </a:lnRef>
          <a:fillRef idx="0">
            <a:srgbClr val="0042FF"/>
          </a:fillRef>
          <a:effectRef idx="0">
            <a:srgbClr val="0042FF"/>
          </a:effectRef>
          <a:fontRef idx="minor">
            <a:srgbClr val="383838"/>
          </a:fontRef>
        </p:style>
      </p:cxnSp>
      <p:sp>
        <p:nvSpPr>
          <p:cNvPr id="163" name="椭圆 162"/>
          <p:cNvSpPr/>
          <p:nvPr/>
        </p:nvSpPr>
        <p:spPr>
          <a:xfrm>
            <a:off x="217805" y="1637030"/>
            <a:ext cx="289560" cy="289560"/>
          </a:xfrm>
          <a:prstGeom prst="ellipse">
            <a:avLst/>
          </a:prstGeom>
          <a:solidFill>
            <a:srgbClr val="FFFFFF"/>
          </a:solidFill>
          <a:ln>
            <a:solidFill>
              <a:srgbClr val="383838"/>
            </a:solidFill>
          </a:ln>
          <a:effectLst>
            <a:outerShdw blurRad="50800" dist="38100" dir="2700000" algn="tl" rotWithShape="0">
              <a:prstClr val="black">
                <a:alpha val="40000"/>
              </a:prstClr>
            </a:outerShdw>
          </a:effectLst>
        </p:spPr>
        <p:style>
          <a:lnRef idx="3">
            <a:srgbClr val="0042FF"/>
          </a:lnRef>
          <a:fillRef idx="0">
            <a:srgbClr val="FFFFFF"/>
          </a:fillRef>
          <a:effectRef idx="0">
            <a:srgbClr val="FFFFFF"/>
          </a:effectRef>
          <a:fontRef idx="minor">
            <a:srgbClr val="383838"/>
          </a:fontRef>
        </p:style>
        <p:txBody>
          <a:bodyPr rtlCol="0" anchor="ctr"/>
          <a:lstStyle/>
          <a:p>
            <a:pPr algn="ctr">
              <a:defRPr>
                <a:latin typeface="微软雅黑"/>
                <a:ea typeface="微软雅黑"/>
                <a:cs typeface="微软雅黑"/>
              </a:defRPr>
            </a:pPr>
            <a:r>
              <a:rPr kumimoji="1" lang="en-US" altLang="zh-CN" sz="1400" dirty="0">
                <a:solidFill>
                  <a:srgbClr val="383838"/>
                </a:solidFill>
                <a:latin typeface="微软雅黑"/>
                <a:ea typeface="微软雅黑"/>
                <a:cs typeface="微软雅黑"/>
              </a:rPr>
              <a:t>1</a:t>
            </a:r>
            <a:endParaRPr kumimoji="1" lang="en-US" altLang="zh-CN" sz="1400" dirty="0">
              <a:solidFill>
                <a:srgbClr val="383838"/>
              </a:solidFill>
              <a:latin typeface="微软雅黑"/>
              <a:ea typeface="微软雅黑"/>
              <a:cs typeface="微软雅黑"/>
            </a:endParaRPr>
          </a:p>
        </p:txBody>
      </p:sp>
      <p:sp>
        <p:nvSpPr>
          <p:cNvPr id="164" name="Disclaimer"/>
          <p:cNvSpPr/>
          <p:nvPr/>
        </p:nvSpPr>
        <p:spPr>
          <a:xfrm>
            <a:off x="648970" y="1418590"/>
            <a:ext cx="1085850" cy="738505"/>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L="0" marR="0" lvl="0" indent="0"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noProof="1">
                <a:solidFill>
                  <a:srgbClr val="383838"/>
                </a:solidFill>
                <a:latin typeface="微软雅黑"/>
                <a:ea typeface="微软雅黑"/>
                <a:cs typeface="微软雅黑"/>
              </a:rPr>
              <a:t>利用</a:t>
            </a:r>
            <a:r>
              <a:rPr lang="en-US" altLang="zh-CN" sz="1200" noProof="1">
                <a:solidFill>
                  <a:srgbClr val="383838"/>
                </a:solidFill>
                <a:latin typeface="微软雅黑"/>
                <a:ea typeface="微软雅黑"/>
                <a:cs typeface="微软雅黑"/>
              </a:rPr>
              <a:t>AI</a:t>
            </a:r>
            <a:r>
              <a:rPr lang="zh-CN" altLang="en-US" sz="1200" noProof="1">
                <a:solidFill>
                  <a:srgbClr val="383838"/>
                </a:solidFill>
                <a:latin typeface="微软雅黑"/>
                <a:ea typeface="微软雅黑"/>
                <a:cs typeface="微软雅黑"/>
              </a:rPr>
              <a:t>和大数据技术，为用户提供精准、实时的服务响应。</a:t>
            </a:r>
            <a:endParaRPr lang="zh-CN" altLang="en-US" sz="1200" noProof="1">
              <a:solidFill>
                <a:srgbClr val="383838"/>
              </a:solidFill>
              <a:latin typeface="微软雅黑"/>
              <a:ea typeface="微软雅黑"/>
              <a:cs typeface="微软雅黑"/>
            </a:endParaRPr>
          </a:p>
        </p:txBody>
      </p:sp>
      <p:cxnSp>
        <p:nvCxnSpPr>
          <p:cNvPr id="165" name="直线连接符 250"/>
          <p:cNvCxnSpPr/>
          <p:nvPr/>
        </p:nvCxnSpPr>
        <p:spPr>
          <a:xfrm>
            <a:off x="792480" y="4549140"/>
            <a:ext cx="1894840" cy="0"/>
          </a:xfrm>
          <a:prstGeom prst="line">
            <a:avLst/>
          </a:prstGeom>
          <a:ln w="22225">
            <a:solidFill>
              <a:srgbClr val="DCDCDC"/>
            </a:solidFill>
            <a:prstDash val="sysDot"/>
          </a:ln>
        </p:spPr>
        <p:style>
          <a:lnRef idx="1">
            <a:srgbClr val="0042FF"/>
          </a:lnRef>
          <a:fillRef idx="0">
            <a:srgbClr val="0042FF"/>
          </a:fillRef>
          <a:effectRef idx="0">
            <a:srgbClr val="0042FF"/>
          </a:effectRef>
          <a:fontRef idx="minor">
            <a:srgbClr val="383838"/>
          </a:fontRef>
        </p:style>
      </p:cxnSp>
      <p:cxnSp>
        <p:nvCxnSpPr>
          <p:cNvPr id="166" name="直线连接符 250"/>
          <p:cNvCxnSpPr/>
          <p:nvPr/>
        </p:nvCxnSpPr>
        <p:spPr>
          <a:xfrm>
            <a:off x="704215" y="6285865"/>
            <a:ext cx="1894840" cy="0"/>
          </a:xfrm>
          <a:prstGeom prst="line">
            <a:avLst/>
          </a:prstGeom>
          <a:ln w="22225">
            <a:solidFill>
              <a:srgbClr val="DCDCDC"/>
            </a:solidFill>
            <a:prstDash val="sysDot"/>
          </a:ln>
        </p:spPr>
        <p:style>
          <a:lnRef idx="1">
            <a:srgbClr val="0042FF"/>
          </a:lnRef>
          <a:fillRef idx="0">
            <a:srgbClr val="0042FF"/>
          </a:fillRef>
          <a:effectRef idx="0">
            <a:srgbClr val="0042FF"/>
          </a:effectRef>
          <a:fontRef idx="minor">
            <a:srgbClr val="383838"/>
          </a:fontRef>
        </p:style>
      </p:cxnSp>
      <p:sp>
        <p:nvSpPr>
          <p:cNvPr id="167" name="矩形: 圆角 85"/>
          <p:cNvSpPr/>
          <p:nvPr/>
        </p:nvSpPr>
        <p:spPr>
          <a:xfrm>
            <a:off x="261620" y="2512060"/>
            <a:ext cx="1470025" cy="311150"/>
          </a:xfrm>
          <a:prstGeom prst="roundRect">
            <a:avLst>
              <a:gd name="adj" fmla="val 50000"/>
            </a:avLst>
          </a:prstGeom>
          <a:solidFill>
            <a:srgbClr val="FFFFFF"/>
          </a:solidFill>
          <a:ln w="6350" cap="flat" cmpd="sng" algn="ctr">
            <a:solidFill>
              <a:srgbClr val="383838">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数据驱动的个性化交互</a:t>
            </a:r>
            <a:endParaRPr lang="zh-CN" altLang="en-US" sz="1000">
              <a:solidFill>
                <a:srgbClr val="383838"/>
              </a:solidFill>
              <a:latin typeface="微软雅黑"/>
              <a:ea typeface="微软雅黑"/>
              <a:cs typeface="微软雅黑"/>
            </a:endParaRPr>
          </a:p>
        </p:txBody>
      </p:sp>
      <p:sp>
        <p:nvSpPr>
          <p:cNvPr id="169" name="矩形: 圆角 85"/>
          <p:cNvSpPr/>
          <p:nvPr/>
        </p:nvSpPr>
        <p:spPr>
          <a:xfrm>
            <a:off x="264795" y="4366260"/>
            <a:ext cx="1470025" cy="311150"/>
          </a:xfrm>
          <a:prstGeom prst="roundRect">
            <a:avLst>
              <a:gd name="adj" fmla="val 50000"/>
            </a:avLst>
          </a:prstGeom>
          <a:solidFill>
            <a:srgbClr val="FFFFFF"/>
          </a:solidFill>
          <a:ln w="6350" cap="flat" cmpd="sng" algn="ctr">
            <a:solidFill>
              <a:srgbClr val="383838">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sym typeface="微软雅黑"/>
              </a:rPr>
              <a:t>跨场景的价值闭环</a:t>
            </a:r>
            <a:endParaRPr lang="zh-CN" altLang="en-US" sz="1000">
              <a:solidFill>
                <a:srgbClr val="383838"/>
              </a:solidFill>
              <a:latin typeface="微软雅黑"/>
              <a:ea typeface="微软雅黑"/>
              <a:cs typeface="微软雅黑"/>
              <a:sym typeface="微软雅黑"/>
            </a:endParaRPr>
          </a:p>
        </p:txBody>
      </p:sp>
      <p:sp>
        <p:nvSpPr>
          <p:cNvPr id="170" name="矩形: 圆角 85"/>
          <p:cNvSpPr/>
          <p:nvPr/>
        </p:nvSpPr>
        <p:spPr>
          <a:xfrm>
            <a:off x="312420" y="6147435"/>
            <a:ext cx="1470025" cy="311150"/>
          </a:xfrm>
          <a:prstGeom prst="roundRect">
            <a:avLst>
              <a:gd name="adj" fmla="val 50000"/>
            </a:avLst>
          </a:prstGeom>
          <a:solidFill>
            <a:srgbClr val="FFFFFF"/>
          </a:solidFill>
          <a:ln w="6350" cap="flat" cmpd="sng" algn="ctr">
            <a:solidFill>
              <a:srgbClr val="383838">
                <a:alpha val="50000"/>
              </a:srgbClr>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sym typeface="微软雅黑"/>
              </a:rPr>
              <a:t>情感化品牌连接</a:t>
            </a:r>
            <a:endParaRPr lang="zh-CN" altLang="en-US" sz="1000">
              <a:solidFill>
                <a:srgbClr val="383838"/>
              </a:solidFill>
              <a:latin typeface="微软雅黑"/>
              <a:ea typeface="微软雅黑"/>
              <a:cs typeface="微软雅黑"/>
              <a:sym typeface="微软雅黑"/>
            </a:endParaRPr>
          </a:p>
        </p:txBody>
      </p:sp>
      <p:sp>
        <p:nvSpPr>
          <p:cNvPr id="193" name="椭圆 192"/>
          <p:cNvSpPr/>
          <p:nvPr/>
        </p:nvSpPr>
        <p:spPr>
          <a:xfrm>
            <a:off x="217805" y="3511550"/>
            <a:ext cx="289560" cy="289560"/>
          </a:xfrm>
          <a:prstGeom prst="ellipse">
            <a:avLst/>
          </a:prstGeom>
          <a:solidFill>
            <a:srgbClr val="FFFFFF"/>
          </a:solidFill>
          <a:ln>
            <a:solidFill>
              <a:srgbClr val="383838"/>
            </a:solidFill>
          </a:ln>
          <a:effectLst>
            <a:outerShdw blurRad="50800" dist="38100" dir="2700000" algn="tl" rotWithShape="0">
              <a:prstClr val="black">
                <a:alpha val="40000"/>
              </a:prstClr>
            </a:outerShdw>
          </a:effectLst>
        </p:spPr>
        <p:style>
          <a:lnRef idx="3">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kumimoji="1" lang="en-US" altLang="zh-CN" sz="1400" dirty="0">
                <a:solidFill>
                  <a:srgbClr val="383838"/>
                </a:solidFill>
                <a:latin typeface="微软雅黑"/>
                <a:ea typeface="微软雅黑"/>
                <a:cs typeface="微软雅黑"/>
                <a:sym typeface="微软雅黑"/>
              </a:rPr>
              <a:t>2</a:t>
            </a:r>
            <a:endParaRPr kumimoji="1" lang="en-US" altLang="zh-CN" sz="1400" dirty="0">
              <a:solidFill>
                <a:srgbClr val="383838"/>
              </a:solidFill>
              <a:latin typeface="微软雅黑"/>
              <a:ea typeface="微软雅黑"/>
              <a:cs typeface="微软雅黑"/>
              <a:sym typeface="微软雅黑"/>
            </a:endParaRPr>
          </a:p>
        </p:txBody>
      </p:sp>
      <p:sp>
        <p:nvSpPr>
          <p:cNvPr id="198" name="Disclaimer"/>
          <p:cNvSpPr/>
          <p:nvPr/>
        </p:nvSpPr>
        <p:spPr>
          <a:xfrm>
            <a:off x="648970" y="3293110"/>
            <a:ext cx="1085850" cy="738505"/>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L="0" marR="0" lvl="0" indent="0"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noProof="1">
                <a:solidFill>
                  <a:srgbClr val="383838"/>
                </a:solidFill>
                <a:latin typeface="微软雅黑"/>
                <a:ea typeface="微软雅黑"/>
                <a:cs typeface="微软雅黑"/>
              </a:rPr>
              <a:t>打通垂类服务壁垒，促进用户跨场景流转，提升生态粘性。</a:t>
            </a:r>
            <a:endParaRPr lang="zh-CN" altLang="en-US" sz="1200" noProof="1">
              <a:solidFill>
                <a:srgbClr val="383838"/>
              </a:solidFill>
              <a:latin typeface="微软雅黑"/>
              <a:ea typeface="微软雅黑"/>
              <a:cs typeface="微软雅黑"/>
            </a:endParaRPr>
          </a:p>
        </p:txBody>
      </p:sp>
      <p:sp>
        <p:nvSpPr>
          <p:cNvPr id="200" name="椭圆 199"/>
          <p:cNvSpPr/>
          <p:nvPr/>
        </p:nvSpPr>
        <p:spPr>
          <a:xfrm>
            <a:off x="264795" y="5478145"/>
            <a:ext cx="289560" cy="289560"/>
          </a:xfrm>
          <a:prstGeom prst="ellipse">
            <a:avLst/>
          </a:prstGeom>
          <a:solidFill>
            <a:srgbClr val="FFFFFF"/>
          </a:solidFill>
          <a:ln>
            <a:solidFill>
              <a:srgbClr val="383838"/>
            </a:solidFill>
          </a:ln>
          <a:effectLst>
            <a:outerShdw blurRad="50800" dist="38100" dir="2700000" algn="tl" rotWithShape="0">
              <a:prstClr val="black">
                <a:alpha val="40000"/>
              </a:prstClr>
            </a:outerShdw>
          </a:effectLst>
        </p:spPr>
        <p:style>
          <a:lnRef idx="3">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kumimoji="1" lang="en-US" altLang="zh-CN" sz="1400" dirty="0">
                <a:solidFill>
                  <a:srgbClr val="383838"/>
                </a:solidFill>
                <a:latin typeface="微软雅黑"/>
                <a:ea typeface="微软雅黑"/>
                <a:cs typeface="微软雅黑"/>
                <a:sym typeface="微软雅黑"/>
              </a:rPr>
              <a:t>3</a:t>
            </a:r>
            <a:endParaRPr kumimoji="1" lang="en-US" altLang="zh-CN" sz="1400" dirty="0">
              <a:solidFill>
                <a:srgbClr val="383838"/>
              </a:solidFill>
              <a:latin typeface="微软雅黑"/>
              <a:ea typeface="微软雅黑"/>
              <a:cs typeface="微软雅黑"/>
              <a:sym typeface="微软雅黑"/>
            </a:endParaRPr>
          </a:p>
        </p:txBody>
      </p:sp>
      <p:sp>
        <p:nvSpPr>
          <p:cNvPr id="201" name="Disclaimer"/>
          <p:cNvSpPr/>
          <p:nvPr/>
        </p:nvSpPr>
        <p:spPr>
          <a:xfrm>
            <a:off x="695960" y="5259705"/>
            <a:ext cx="1085850" cy="738505"/>
          </a:xfrm>
          <a:prstGeom prst="rect">
            <a:avLst/>
          </a:prstGeom>
          <a:noFill/>
          <a:ln w="19050">
            <a:noFill/>
          </a:ln>
        </p:spPr>
        <p:style>
          <a:lnRef idx="2">
            <a:srgbClr val="0042FF"/>
          </a:lnRef>
          <a:fillRef idx="1">
            <a:srgbClr val="0042FF"/>
          </a:fillRef>
          <a:effectRef idx="0">
            <a:srgbClr val="0042FF"/>
          </a:effectRef>
          <a:fontRef idx="minor">
            <a:srgbClr val="FFFFFF"/>
          </a:fontRef>
        </p:style>
        <p:txBody>
          <a:bodyPr wrap="square" lIns="0" tIns="0" rIns="0" bIns="0" rtlCol="0" anchor="ctr" anchorCtr="0">
            <a:spAutoFit/>
          </a:bodyPr>
          <a:lstStyle/>
          <a:p>
            <a:pPr marL="0" marR="0" lvl="0" indent="0"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noProof="1">
                <a:solidFill>
                  <a:srgbClr val="383838"/>
                </a:solidFill>
                <a:latin typeface="微软雅黑"/>
                <a:ea typeface="微软雅黑"/>
                <a:cs typeface="微软雅黑"/>
              </a:rPr>
              <a:t>通过拟人化互动与价值观输出，增强用户情感认同。</a:t>
            </a:r>
            <a:endParaRPr lang="zh-CN" altLang="en-US" sz="1200" noProof="1">
              <a:solidFill>
                <a:srgbClr val="383838"/>
              </a:solidFill>
              <a:latin typeface="微软雅黑"/>
              <a:ea typeface="微软雅黑"/>
              <a:cs typeface="微软雅黑"/>
            </a:endParaRPr>
          </a:p>
        </p:txBody>
      </p:sp>
      <p:sp>
        <p:nvSpPr>
          <p:cNvPr id="226" name="矩形 225"/>
          <p:cNvSpPr/>
          <p:nvPr/>
        </p:nvSpPr>
        <p:spPr>
          <a:xfrm>
            <a:off x="11356975" y="1334770"/>
            <a:ext cx="589280" cy="5238115"/>
          </a:xfrm>
          <a:prstGeom prst="rect">
            <a:avLst/>
          </a:prstGeom>
          <a:gradFill>
            <a:gsLst>
              <a:gs pos="0">
                <a:srgbClr val="0042FF"/>
              </a:gs>
              <a:gs pos="100000">
                <a:srgbClr val="3368FF"/>
              </a:gs>
            </a:gsLst>
            <a:lin ang="5400000" scaled="0"/>
          </a:gradFill>
        </p:spPr>
        <p:style>
          <a:lnRef idx="0">
            <a:srgbClr val="FFFFFF"/>
          </a:lnRef>
          <a:fillRef idx="1">
            <a:srgbClr val="0042FF"/>
          </a:fillRef>
          <a:effectRef idx="0">
            <a:srgbClr val="FFFFFF"/>
          </a:effectRef>
          <a:fontRef idx="minor">
            <a:srgbClr val="FFFFFF"/>
          </a:fontRef>
        </p:style>
        <p:txBody>
          <a:bodyPr vert="mongolianVert" rtlCol="0" anchor="ctr" lIns="0" rIns="0" tIns="0" bIns="0"/>
          <a:lstStyle/>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sym typeface="微软雅黑"/>
              </a:rPr>
              <a:t>构建</a:t>
            </a:r>
            <a:r>
              <a:rPr lang="en-US" altLang="zh-CN" b="1">
                <a:solidFill>
                  <a:srgbClr val="FFFFFF"/>
                </a:solidFill>
                <a:latin typeface="微软雅黑"/>
                <a:ea typeface="微软雅黑"/>
                <a:cs typeface="微软雅黑"/>
                <a:sym typeface="微软雅黑"/>
              </a:rPr>
              <a:t>“   </a:t>
            </a:r>
            <a:r>
              <a:rPr lang="zh-CN" altLang="en-US" b="1">
                <a:solidFill>
                  <a:srgbClr val="FFFFFF"/>
                </a:solidFill>
                <a:latin typeface="微软雅黑"/>
                <a:ea typeface="微软雅黑"/>
                <a:cs typeface="微软雅黑"/>
                <a:sym typeface="微软雅黑"/>
              </a:rPr>
              <a:t>智能</a:t>
            </a:r>
            <a:r>
              <a:rPr lang="en-US" altLang="zh-CN" b="1">
                <a:solidFill>
                  <a:srgbClr val="FFFFFF"/>
                </a:solidFill>
                <a:latin typeface="微软雅黑"/>
                <a:ea typeface="微软雅黑"/>
                <a:cs typeface="微软雅黑"/>
                <a:sym typeface="微软雅黑"/>
              </a:rPr>
              <a:t>-</a:t>
            </a:r>
            <a:r>
              <a:rPr lang="zh-CN" altLang="en-US" b="1">
                <a:solidFill>
                  <a:srgbClr val="FFFFFF"/>
                </a:solidFill>
                <a:latin typeface="微软雅黑"/>
                <a:ea typeface="微软雅黑"/>
                <a:cs typeface="微软雅黑"/>
                <a:sym typeface="微软雅黑"/>
              </a:rPr>
              <a:t>生态</a:t>
            </a:r>
            <a:r>
              <a:rPr lang="en-US" altLang="zh-CN" b="1">
                <a:solidFill>
                  <a:srgbClr val="FFFFFF"/>
                </a:solidFill>
                <a:latin typeface="微软雅黑"/>
                <a:ea typeface="微软雅黑"/>
                <a:cs typeface="微软雅黑"/>
                <a:sym typeface="微软雅黑"/>
              </a:rPr>
              <a:t>-</a:t>
            </a:r>
            <a:r>
              <a:rPr lang="zh-CN" altLang="en-US" b="1">
                <a:solidFill>
                  <a:srgbClr val="FFFFFF"/>
                </a:solidFill>
                <a:latin typeface="微软雅黑"/>
                <a:ea typeface="微软雅黑"/>
                <a:cs typeface="微软雅黑"/>
                <a:sym typeface="微软雅黑"/>
              </a:rPr>
              <a:t>情感</a:t>
            </a:r>
            <a:r>
              <a:rPr lang="en-US" altLang="zh-CN" b="1">
                <a:solidFill>
                  <a:srgbClr val="FFFFFF"/>
                </a:solidFill>
                <a:latin typeface="微软雅黑"/>
                <a:ea typeface="微软雅黑"/>
                <a:cs typeface="微软雅黑"/>
                <a:sym typeface="微软雅黑"/>
              </a:rPr>
              <a:t>” </a:t>
            </a:r>
            <a:r>
              <a:rPr lang="zh-CN" altLang="en-US" b="1">
                <a:solidFill>
                  <a:srgbClr val="FFFFFF"/>
                </a:solidFill>
                <a:latin typeface="微软雅黑"/>
                <a:ea typeface="微软雅黑"/>
                <a:cs typeface="微软雅黑"/>
                <a:sym typeface="微软雅黑"/>
              </a:rPr>
              <a:t>三位一体的运营体系</a:t>
            </a:r>
            <a:endParaRPr lang="zh-CN" altLang="en-US" b="1">
              <a:solidFill>
                <a:srgbClr val="FFFFFF"/>
              </a:solidFill>
              <a:latin typeface="微软雅黑"/>
              <a:ea typeface="微软雅黑"/>
              <a:cs typeface="微软雅黑"/>
              <a:sym typeface="微软雅黑"/>
            </a:endParaRPr>
          </a:p>
        </p:txBody>
      </p:sp>
      <p:sp>
        <p:nvSpPr>
          <p:cNvPr id="76" name="Rectangle 1555"/>
          <p:cNvSpPr/>
          <p:nvPr/>
        </p:nvSpPr>
        <p:spPr>
          <a:xfrm>
            <a:off x="5705475" y="3156585"/>
            <a:ext cx="1125855" cy="170180"/>
          </a:xfrm>
          <a:prstGeom prst="rect">
            <a:avLst/>
          </a:prstGeom>
        </p:spPr>
        <p:txBody>
          <a:bodyPr wrap="square" lIns="0" tIns="0" rIns="0" bIns="0">
            <a:spAutoFit/>
          </a:bodyPr>
          <a:lstStyle/>
          <a:p>
            <a:pPr marL="0" algn="ctr">
              <a:defRPr>
                <a:solidFill>
                  <a:srgbClr val="FFFFFF"/>
                </a:solidFill>
                <a:latin typeface="微软雅黑"/>
                <a:ea typeface="微软雅黑"/>
                <a:cs typeface="微软雅黑"/>
              </a:defRPr>
            </a:pPr>
            <a:r>
              <a:rPr lang="zh-CN" altLang="en-US" sz="1105" b="1" spc="0" baseline="0" dirty="0">
                <a:solidFill>
                  <a:srgbClr val="FFFFFF"/>
                </a:solidFill>
                <a:latin typeface="微软雅黑"/>
                <a:ea typeface="微软雅黑"/>
                <a:cs typeface="微软雅黑"/>
              </a:rPr>
              <a:t>托管页</a:t>
            </a:r>
            <a:endParaRPr lang="zh-CN" altLang="en-US" sz="1105" b="1" spc="0" baseline="0" dirty="0">
              <a:solidFill>
                <a:srgbClr val="FFFFFF"/>
              </a:solidFill>
              <a:latin typeface="微软雅黑"/>
              <a:ea typeface="微软雅黑"/>
              <a:cs typeface="微软雅黑"/>
            </a:endParaRPr>
          </a:p>
        </p:txBody>
      </p:sp>
      <p:grpSp>
        <p:nvGrpSpPr>
          <p:cNvPr id="80" name="组合 79"/>
          <p:cNvGrpSpPr/>
          <p:nvPr/>
        </p:nvGrpSpPr>
        <p:grpSpPr>
          <a:xfrm>
            <a:off x="1755775" y="1123315"/>
            <a:ext cx="421640" cy="1189355"/>
            <a:chOff x="15973" y="4069"/>
            <a:chExt cx="1657" cy="4670"/>
          </a:xfrm>
        </p:grpSpPr>
        <p:sp>
          <p:nvSpPr>
            <p:cNvPr id="83" name="三角形 35"/>
            <p:cNvSpPr/>
            <p:nvPr/>
          </p:nvSpPr>
          <p:spPr>
            <a:xfrm rot="5400000">
              <a:off x="14224" y="5818"/>
              <a:ext cx="4671" cy="1172"/>
            </a:xfrm>
            <a:prstGeom prst="triangle">
              <a:avLst/>
            </a:prstGeom>
            <a:noFill/>
            <a:ln w="15875" cap="flat">
              <a:gradFill>
                <a:gsLst>
                  <a:gs pos="0">
                    <a:srgbClr val="E6E6E6"/>
                  </a:gs>
                  <a:gs pos="7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sp>
          <p:nvSpPr>
            <p:cNvPr id="114" name="三角形 36"/>
            <p:cNvSpPr/>
            <p:nvPr/>
          </p:nvSpPr>
          <p:spPr>
            <a:xfrm rot="5400000">
              <a:off x="14706" y="5818"/>
              <a:ext cx="4671" cy="1172"/>
            </a:xfrm>
            <a:prstGeom prst="triangle">
              <a:avLst/>
            </a:prstGeom>
            <a:noFill/>
            <a:ln w="15875" cap="flat">
              <a:gradFill>
                <a:gsLst>
                  <a:gs pos="0">
                    <a:srgbClr val="B3D4FE"/>
                  </a:gs>
                  <a:gs pos="8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cxnSp>
          <p:nvCxnSpPr>
            <p:cNvPr id="119" name="直线连接符 32"/>
            <p:cNvCxnSpPr/>
            <p:nvPr/>
          </p:nvCxnSpPr>
          <p:spPr>
            <a:xfrm rot="10800000" flipH="1">
              <a:off x="16361" y="6386"/>
              <a:ext cx="780" cy="1577"/>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cxnSp>
          <p:nvCxnSpPr>
            <p:cNvPr id="121" name="直线连接符 33"/>
            <p:cNvCxnSpPr/>
            <p:nvPr/>
          </p:nvCxnSpPr>
          <p:spPr>
            <a:xfrm rot="10800000" flipH="1" flipV="1">
              <a:off x="16725" y="5571"/>
              <a:ext cx="416" cy="828"/>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sp>
          <p:nvSpPr>
            <p:cNvPr id="123" name="椭圆 122"/>
            <p:cNvSpPr/>
            <p:nvPr/>
          </p:nvSpPr>
          <p:spPr>
            <a:xfrm rot="10800000">
              <a:off x="16303" y="7905"/>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cxnSp>
          <p:nvCxnSpPr>
            <p:cNvPr id="124" name="直线连接符 29"/>
            <p:cNvCxnSpPr/>
            <p:nvPr/>
          </p:nvCxnSpPr>
          <p:spPr>
            <a:xfrm>
              <a:off x="16850" y="4836"/>
              <a:ext cx="780" cy="1577"/>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cxnSp>
          <p:nvCxnSpPr>
            <p:cNvPr id="127" name="直线连接符 30"/>
            <p:cNvCxnSpPr/>
            <p:nvPr/>
          </p:nvCxnSpPr>
          <p:spPr>
            <a:xfrm flipV="1">
              <a:off x="17214" y="6396"/>
              <a:ext cx="416" cy="828"/>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sp>
          <p:nvSpPr>
            <p:cNvPr id="130" name="椭圆 129"/>
            <p:cNvSpPr/>
            <p:nvPr/>
          </p:nvSpPr>
          <p:spPr>
            <a:xfrm flipH="1">
              <a:off x="16791" y="4751"/>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grpSp>
        <p:nvGrpSpPr>
          <p:cNvPr id="133" name="组合 132"/>
          <p:cNvGrpSpPr/>
          <p:nvPr/>
        </p:nvGrpSpPr>
        <p:grpSpPr>
          <a:xfrm>
            <a:off x="1774190" y="2967990"/>
            <a:ext cx="421640" cy="1189355"/>
            <a:chOff x="15973" y="4069"/>
            <a:chExt cx="1657" cy="4670"/>
          </a:xfrm>
        </p:grpSpPr>
        <p:sp>
          <p:nvSpPr>
            <p:cNvPr id="141" name="三角形 35"/>
            <p:cNvSpPr/>
            <p:nvPr/>
          </p:nvSpPr>
          <p:spPr>
            <a:xfrm rot="5400000">
              <a:off x="14224" y="5818"/>
              <a:ext cx="4671" cy="1172"/>
            </a:xfrm>
            <a:prstGeom prst="triangle">
              <a:avLst/>
            </a:prstGeom>
            <a:noFill/>
            <a:ln w="15875" cap="flat">
              <a:gradFill>
                <a:gsLst>
                  <a:gs pos="0">
                    <a:srgbClr val="E6E6E6"/>
                  </a:gs>
                  <a:gs pos="7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sp>
          <p:nvSpPr>
            <p:cNvPr id="142" name="三角形 36"/>
            <p:cNvSpPr/>
            <p:nvPr/>
          </p:nvSpPr>
          <p:spPr>
            <a:xfrm rot="5400000">
              <a:off x="14706" y="5818"/>
              <a:ext cx="4671" cy="1172"/>
            </a:xfrm>
            <a:prstGeom prst="triangle">
              <a:avLst/>
            </a:prstGeom>
            <a:noFill/>
            <a:ln w="15875" cap="flat">
              <a:gradFill>
                <a:gsLst>
                  <a:gs pos="0">
                    <a:srgbClr val="B3D4FE"/>
                  </a:gs>
                  <a:gs pos="8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cxnSp>
          <p:nvCxnSpPr>
            <p:cNvPr id="143" name="直线连接符 32"/>
            <p:cNvCxnSpPr/>
            <p:nvPr/>
          </p:nvCxnSpPr>
          <p:spPr>
            <a:xfrm rot="10800000" flipH="1">
              <a:off x="16361" y="6386"/>
              <a:ext cx="780" cy="1577"/>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cxnSp>
          <p:nvCxnSpPr>
            <p:cNvPr id="144" name="直线连接符 33"/>
            <p:cNvCxnSpPr/>
            <p:nvPr/>
          </p:nvCxnSpPr>
          <p:spPr>
            <a:xfrm rot="10800000" flipH="1" flipV="1">
              <a:off x="16725" y="5571"/>
              <a:ext cx="416" cy="828"/>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sp>
          <p:nvSpPr>
            <p:cNvPr id="145" name="椭圆 144"/>
            <p:cNvSpPr/>
            <p:nvPr/>
          </p:nvSpPr>
          <p:spPr>
            <a:xfrm rot="10800000">
              <a:off x="16303" y="7905"/>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cxnSp>
          <p:nvCxnSpPr>
            <p:cNvPr id="146" name="直线连接符 29"/>
            <p:cNvCxnSpPr/>
            <p:nvPr/>
          </p:nvCxnSpPr>
          <p:spPr>
            <a:xfrm>
              <a:off x="16850" y="4836"/>
              <a:ext cx="780" cy="1577"/>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cxnSp>
          <p:nvCxnSpPr>
            <p:cNvPr id="147" name="直线连接符 30"/>
            <p:cNvCxnSpPr/>
            <p:nvPr/>
          </p:nvCxnSpPr>
          <p:spPr>
            <a:xfrm flipV="1">
              <a:off x="17214" y="6396"/>
              <a:ext cx="416" cy="828"/>
            </a:xfrm>
            <a:prstGeom prst="line">
              <a:avLst/>
            </a:prstGeom>
            <a:noFill/>
            <a:ln w="34925" cap="flat">
              <a:solidFill>
                <a:srgbClr val="3368FF"/>
              </a:solidFill>
              <a:prstDash val="solid"/>
              <a:miter lim="800000"/>
            </a:ln>
            <a:effectLst/>
            <a:sp3d/>
          </p:spPr>
          <p:style>
            <a:lnRef idx="0">
              <a:scrgbClr r="0" g="0" b="0"/>
            </a:lnRef>
            <a:fillRef idx="0">
              <a:scrgbClr r="0" g="0" b="0"/>
            </a:fillRef>
            <a:effectRef idx="0">
              <a:scrgbClr r="0" g="0" b="0"/>
            </a:effectRef>
            <a:fontRef idx="none"/>
          </p:style>
        </p:cxnSp>
        <p:sp>
          <p:nvSpPr>
            <p:cNvPr id="148" name="椭圆 147"/>
            <p:cNvSpPr/>
            <p:nvPr/>
          </p:nvSpPr>
          <p:spPr>
            <a:xfrm flipH="1">
              <a:off x="16791" y="4751"/>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grpSp>
        <p:nvGrpSpPr>
          <p:cNvPr id="150" name="组合 149"/>
          <p:cNvGrpSpPr/>
          <p:nvPr/>
        </p:nvGrpSpPr>
        <p:grpSpPr>
          <a:xfrm>
            <a:off x="1789430" y="4888230"/>
            <a:ext cx="421640" cy="1189355"/>
            <a:chOff x="15973" y="4069"/>
            <a:chExt cx="1657" cy="4670"/>
          </a:xfrm>
        </p:grpSpPr>
        <p:sp>
          <p:nvSpPr>
            <p:cNvPr id="162" name="三角形 35"/>
            <p:cNvSpPr/>
            <p:nvPr/>
          </p:nvSpPr>
          <p:spPr>
            <a:xfrm rot="5400000">
              <a:off x="14224" y="5818"/>
              <a:ext cx="4671" cy="1172"/>
            </a:xfrm>
            <a:prstGeom prst="triangle">
              <a:avLst/>
            </a:prstGeom>
            <a:noFill/>
            <a:ln w="15875" cap="flat">
              <a:gradFill>
                <a:gsLst>
                  <a:gs pos="0">
                    <a:srgbClr val="E6E6E6"/>
                  </a:gs>
                  <a:gs pos="7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sp>
          <p:nvSpPr>
            <p:cNvPr id="168" name="三角形 36"/>
            <p:cNvSpPr/>
            <p:nvPr/>
          </p:nvSpPr>
          <p:spPr>
            <a:xfrm rot="5400000">
              <a:off x="14706" y="5818"/>
              <a:ext cx="4671" cy="1172"/>
            </a:xfrm>
            <a:prstGeom prst="triangle">
              <a:avLst/>
            </a:prstGeom>
            <a:noFill/>
            <a:ln w="15875" cap="flat">
              <a:gradFill>
                <a:gsLst>
                  <a:gs pos="0">
                    <a:srgbClr val="B3D4FE"/>
                  </a:gs>
                  <a:gs pos="83000">
                    <a:srgbClr val="B3D4FE">
                      <a:alpha val="0"/>
                    </a:srgbClr>
                  </a:gs>
                </a:gsLst>
                <a:lin ang="5400000" scaled="0"/>
              </a:gra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cap="none" spc="0" normalizeH="0" baseline="0">
                <a:ln>
                  <a:noFill/>
                </a:ln>
                <a:solidFill>
                  <a:srgbClr val="0042FF"/>
                </a:solidFill>
                <a:effectLst/>
                <a:uFillTx/>
                <a:latin typeface="微软雅黑"/>
                <a:ea typeface="微软雅黑"/>
                <a:cs typeface="微软雅黑"/>
                <a:sym typeface="微软雅黑"/>
              </a:endParaRPr>
            </a:p>
          </p:txBody>
        </p:sp>
        <p:cxnSp>
          <p:nvCxnSpPr>
            <p:cNvPr id="171" name="直线连接符 32"/>
            <p:cNvCxnSpPr/>
            <p:nvPr/>
          </p:nvCxnSpPr>
          <p:spPr>
            <a:xfrm rot="10800000" flipH="1">
              <a:off x="16361" y="6386"/>
              <a:ext cx="780" cy="1577"/>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cxnSp>
          <p:nvCxnSpPr>
            <p:cNvPr id="183" name="直线连接符 33"/>
            <p:cNvCxnSpPr/>
            <p:nvPr/>
          </p:nvCxnSpPr>
          <p:spPr>
            <a:xfrm rot="10800000" flipH="1" flipV="1">
              <a:off x="16725" y="5571"/>
              <a:ext cx="416" cy="828"/>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sp>
          <p:nvSpPr>
            <p:cNvPr id="184" name="椭圆 183"/>
            <p:cNvSpPr/>
            <p:nvPr/>
          </p:nvSpPr>
          <p:spPr>
            <a:xfrm rot="10800000">
              <a:off x="16303" y="7905"/>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cxnSp>
          <p:nvCxnSpPr>
            <p:cNvPr id="185" name="直线连接符 29"/>
            <p:cNvCxnSpPr/>
            <p:nvPr/>
          </p:nvCxnSpPr>
          <p:spPr>
            <a:xfrm>
              <a:off x="16850" y="4836"/>
              <a:ext cx="780" cy="1577"/>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cxnSp>
          <p:nvCxnSpPr>
            <p:cNvPr id="186" name="直线连接符 30"/>
            <p:cNvCxnSpPr/>
            <p:nvPr/>
          </p:nvCxnSpPr>
          <p:spPr>
            <a:xfrm flipV="1">
              <a:off x="17214" y="6396"/>
              <a:ext cx="416" cy="828"/>
            </a:xfrm>
            <a:prstGeom prst="line">
              <a:avLst/>
            </a:prstGeom>
            <a:noFill/>
            <a:ln w="34925" cap="flat">
              <a:solidFill>
                <a:srgbClr val="0042FF"/>
              </a:solidFill>
              <a:prstDash val="solid"/>
              <a:miter lim="800000"/>
            </a:ln>
            <a:effectLst/>
            <a:sp3d/>
          </p:spPr>
          <p:style>
            <a:lnRef idx="0">
              <a:scrgbClr r="0" g="0" b="0"/>
            </a:lnRef>
            <a:fillRef idx="0">
              <a:scrgbClr r="0" g="0" b="0"/>
            </a:fillRef>
            <a:effectRef idx="0">
              <a:scrgbClr r="0" g="0" b="0"/>
            </a:effectRef>
            <a:fontRef idx="none"/>
          </p:style>
        </p:cxnSp>
        <p:sp>
          <p:nvSpPr>
            <p:cNvPr id="187" name="椭圆 186"/>
            <p:cNvSpPr/>
            <p:nvPr/>
          </p:nvSpPr>
          <p:spPr>
            <a:xfrm flipH="1">
              <a:off x="16791" y="4751"/>
              <a:ext cx="116" cy="116"/>
            </a:xfrm>
            <a:prstGeom prst="ellipse">
              <a:avLst/>
            </a:prstGeom>
          </p:spPr>
          <p:style>
            <a:lnRef idx="0">
              <a:srgbClr val="FFFFFF"/>
            </a:lnRef>
            <a:fillRef idx="1">
              <a:srgbClr val="0042FF"/>
            </a:fillRef>
            <a:effectRef idx="0">
              <a:srgbClr val="FFFFFF"/>
            </a:effectRef>
            <a:fontRef idx="minor">
              <a:srgbClr val="383838"/>
            </a:fontRef>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grpSp>
      <p:grpSp>
        <p:nvGrpSpPr>
          <p:cNvPr id="8" name="组合 7"/>
          <p:cNvGrpSpPr/>
          <p:nvPr/>
        </p:nvGrpSpPr>
        <p:grpSpPr>
          <a:xfrm>
            <a:off x="2454275" y="3251200"/>
            <a:ext cx="458470" cy="805815"/>
            <a:chOff x="3865" y="5120"/>
            <a:chExt cx="722" cy="1269"/>
          </a:xfrm>
        </p:grpSpPr>
        <p:sp>
          <p:nvSpPr>
            <p:cNvPr id="2" name="菱形 1"/>
            <p:cNvSpPr/>
            <p:nvPr/>
          </p:nvSpPr>
          <p:spPr>
            <a:xfrm>
              <a:off x="3865" y="5120"/>
              <a:ext cx="722" cy="971"/>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 name="菱形 2"/>
            <p:cNvSpPr/>
            <p:nvPr/>
          </p:nvSpPr>
          <p:spPr>
            <a:xfrm>
              <a:off x="3865" y="5419"/>
              <a:ext cx="722" cy="971"/>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6" name="组合 5"/>
          <p:cNvGrpSpPr/>
          <p:nvPr/>
        </p:nvGrpSpPr>
        <p:grpSpPr>
          <a:xfrm>
            <a:off x="2454275" y="5057140"/>
            <a:ext cx="458470" cy="806450"/>
            <a:chOff x="3797" y="5120"/>
            <a:chExt cx="722" cy="1270"/>
          </a:xfrm>
        </p:grpSpPr>
        <p:sp>
          <p:nvSpPr>
            <p:cNvPr id="15" name="菱形 14"/>
            <p:cNvSpPr/>
            <p:nvPr/>
          </p:nvSpPr>
          <p:spPr>
            <a:xfrm>
              <a:off x="3797" y="5120"/>
              <a:ext cx="722" cy="971"/>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21" name="菱形 20"/>
            <p:cNvSpPr/>
            <p:nvPr/>
          </p:nvSpPr>
          <p:spPr>
            <a:xfrm>
              <a:off x="3797" y="5419"/>
              <a:ext cx="722" cy="971"/>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grpSp>
        <p:nvGrpSpPr>
          <p:cNvPr id="48" name="组合 47"/>
          <p:cNvGrpSpPr/>
          <p:nvPr/>
        </p:nvGrpSpPr>
        <p:grpSpPr>
          <a:xfrm>
            <a:off x="9797415" y="5057140"/>
            <a:ext cx="458470" cy="806450"/>
            <a:chOff x="3797" y="5120"/>
            <a:chExt cx="722" cy="1270"/>
          </a:xfrm>
        </p:grpSpPr>
        <p:sp>
          <p:nvSpPr>
            <p:cNvPr id="49" name="菱形 48"/>
            <p:cNvSpPr/>
            <p:nvPr/>
          </p:nvSpPr>
          <p:spPr>
            <a:xfrm>
              <a:off x="3797" y="5120"/>
              <a:ext cx="722" cy="971"/>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50" name="菱形 49"/>
            <p:cNvSpPr/>
            <p:nvPr/>
          </p:nvSpPr>
          <p:spPr>
            <a:xfrm>
              <a:off x="3797" y="5419"/>
              <a:ext cx="722" cy="971"/>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grpSp>
        <p:nvGrpSpPr>
          <p:cNvPr id="11" name="组合 10"/>
          <p:cNvGrpSpPr/>
          <p:nvPr/>
        </p:nvGrpSpPr>
        <p:grpSpPr>
          <a:xfrm>
            <a:off x="9797415" y="3251200"/>
            <a:ext cx="458470" cy="805815"/>
            <a:chOff x="3865" y="5120"/>
            <a:chExt cx="722" cy="1269"/>
          </a:xfrm>
        </p:grpSpPr>
        <p:sp>
          <p:nvSpPr>
            <p:cNvPr id="12" name="菱形 11"/>
            <p:cNvSpPr/>
            <p:nvPr/>
          </p:nvSpPr>
          <p:spPr>
            <a:xfrm>
              <a:off x="3865" y="5120"/>
              <a:ext cx="722" cy="971"/>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3" name="菱形 12"/>
            <p:cNvSpPr/>
            <p:nvPr/>
          </p:nvSpPr>
          <p:spPr>
            <a:xfrm>
              <a:off x="3865" y="5419"/>
              <a:ext cx="722" cy="971"/>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pic>
        <p:nvPicPr>
          <p:cNvPr id="14" name="图片 13" descr="屋顶资源管理"/>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55600" y="186055"/>
            <a:ext cx="549910" cy="549910"/>
          </a:xfrm>
          <a:prstGeom prst="rect">
            <a:avLst/>
          </a:prstGeom>
        </p:spPr>
      </p:pic>
      <p:grpSp>
        <p:nvGrpSpPr>
          <p:cNvPr id="4" name="组合 3"/>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11"/>
            <a:srcRect l="17002" t="-1765" r="56499" b="-1176"/>
            <a:stretch>
              <a:fillRect/>
            </a:stretch>
          </p:blipFill>
          <p:spPr>
            <a:xfrm>
              <a:off x="13761" y="549"/>
              <a:ext cx="1582" cy="525"/>
            </a:xfrm>
            <a:prstGeom prst="rect">
              <a:avLst/>
            </a:prstGeom>
          </p:spPr>
        </p:pic>
        <p:sp>
          <p:nvSpPr>
            <p:cNvPr id="18" name="文本框 1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39" name="Rectangle 1555"/>
          <p:cNvSpPr/>
          <p:nvPr/>
        </p:nvSpPr>
        <p:spPr>
          <a:xfrm>
            <a:off x="3379470" y="1278890"/>
            <a:ext cx="1134110" cy="170180"/>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marL="0" algn="ctr">
              <a:defRPr>
                <a:latin typeface="微软雅黑"/>
                <a:ea typeface="微软雅黑"/>
                <a:cs typeface="微软雅黑"/>
              </a:defRPr>
            </a:pPr>
            <a:r>
              <a:rPr lang="en-US" sz="1105" b="1" spc="0" baseline="0" dirty="0">
                <a:solidFill>
                  <a:srgbClr val="383838"/>
                </a:solidFill>
                <a:latin typeface="微软雅黑"/>
                <a:ea typeface="微软雅黑"/>
                <a:cs typeface="微软雅黑"/>
              </a:rPr>
              <a:t>智能设备</a:t>
            </a:r>
            <a:r>
              <a:rPr lang="zh-CN" altLang="en-US" sz="1105" b="1" spc="0" baseline="0" dirty="0">
                <a:solidFill>
                  <a:srgbClr val="383838"/>
                </a:solidFill>
                <a:latin typeface="微软雅黑"/>
                <a:ea typeface="微软雅黑"/>
                <a:cs typeface="微软雅黑"/>
              </a:rPr>
              <a:t>使用</a:t>
            </a:r>
            <a:r>
              <a:rPr lang="en-US" sz="1105" b="1" spc="0" baseline="0" dirty="0">
                <a:solidFill>
                  <a:srgbClr val="383838"/>
                </a:solidFill>
                <a:latin typeface="微软雅黑"/>
                <a:ea typeface="微软雅黑"/>
                <a:cs typeface="微软雅黑"/>
              </a:rPr>
              <a:t>量</a:t>
            </a:r>
            <a:endParaRPr lang="en-US" sz="1105" b="1" spc="0" baseline="0" dirty="0">
              <a:solidFill>
                <a:srgbClr val="383838"/>
              </a:solidFill>
              <a:latin typeface="微软雅黑"/>
              <a:ea typeface="微软雅黑"/>
              <a:cs typeface="微软雅黑"/>
            </a:endParaRPr>
          </a:p>
        </p:txBody>
      </p:sp>
      <p:sp>
        <p:nvSpPr>
          <p:cNvPr id="42" name="Rectangle 1555"/>
          <p:cNvSpPr/>
          <p:nvPr/>
        </p:nvSpPr>
        <p:spPr>
          <a:xfrm>
            <a:off x="5034915" y="1278890"/>
            <a:ext cx="1134110" cy="170180"/>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marL="0" algn="ctr">
              <a:defRPr>
                <a:latin typeface="微软雅黑"/>
                <a:ea typeface="微软雅黑"/>
                <a:cs typeface="微软雅黑"/>
              </a:defRPr>
            </a:pPr>
            <a:r>
              <a:rPr lang="zh-CN" sz="1105" b="1" spc="0" baseline="0" dirty="0">
                <a:solidFill>
                  <a:srgbClr val="383838"/>
                </a:solidFill>
                <a:latin typeface="微软雅黑"/>
                <a:ea typeface="微软雅黑"/>
                <a:cs typeface="微软雅黑"/>
              </a:rPr>
              <a:t>内容累计阅读量</a:t>
            </a:r>
            <a:endParaRPr lang="zh-CN" sz="1105" b="1" spc="0" baseline="0" dirty="0">
              <a:solidFill>
                <a:srgbClr val="383838"/>
              </a:solidFill>
              <a:latin typeface="微软雅黑"/>
              <a:ea typeface="微软雅黑"/>
              <a:cs typeface="微软雅黑"/>
            </a:endParaRPr>
          </a:p>
        </p:txBody>
      </p:sp>
      <p:sp>
        <p:nvSpPr>
          <p:cNvPr id="47" name="Rectangle 1555"/>
          <p:cNvSpPr/>
          <p:nvPr/>
        </p:nvSpPr>
        <p:spPr>
          <a:xfrm>
            <a:off x="6690360" y="1278890"/>
            <a:ext cx="1134110" cy="170180"/>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marL="0" algn="ctr">
              <a:defRPr>
                <a:latin typeface="微软雅黑"/>
                <a:ea typeface="微软雅黑"/>
                <a:cs typeface="微软雅黑"/>
              </a:defRPr>
            </a:pPr>
            <a:r>
              <a:rPr lang="zh-CN" sz="1105" b="1" spc="0" baseline="0" dirty="0">
                <a:solidFill>
                  <a:srgbClr val="383838"/>
                </a:solidFill>
                <a:latin typeface="微软雅黑"/>
                <a:ea typeface="微软雅黑"/>
                <a:cs typeface="微软雅黑"/>
              </a:rPr>
              <a:t>日活人次</a:t>
            </a:r>
            <a:endParaRPr lang="zh-CN" sz="1105" b="1" spc="0" baseline="0" dirty="0">
              <a:solidFill>
                <a:srgbClr val="383838"/>
              </a:solidFill>
              <a:latin typeface="微软雅黑"/>
              <a:ea typeface="微软雅黑"/>
              <a:cs typeface="微软雅黑"/>
            </a:endParaRPr>
          </a:p>
        </p:txBody>
      </p:sp>
      <p:sp>
        <p:nvSpPr>
          <p:cNvPr id="51" name="Rectangle 1555"/>
          <p:cNvSpPr/>
          <p:nvPr/>
        </p:nvSpPr>
        <p:spPr>
          <a:xfrm>
            <a:off x="8345805" y="1278890"/>
            <a:ext cx="1134110" cy="170180"/>
          </a:xfrm>
          <a:prstGeom prst="rect">
            <a:avLst/>
          </a:prstGeom>
          <a:noFill/>
          <a:extLst>
            <a:ext uri="{909E8E84-426E-40DD-AFC4-6F175D3DCCD1}">
              <a14:hiddenFill xmlns:a14="http://schemas.microsoft.com/office/drawing/2010/main">
                <a:grpFill/>
              </a14:hiddenFill>
            </a:ext>
          </a:extLst>
        </p:spPr>
        <p:txBody>
          <a:bodyPr wrap="square" lIns="0" tIns="0" rIns="0" bIns="0">
            <a:spAutoFit/>
          </a:bodyPr>
          <a:lstStyle/>
          <a:p>
            <a:pPr marL="0" algn="ctr">
              <a:defRPr>
                <a:latin typeface="微软雅黑"/>
                <a:ea typeface="微软雅黑"/>
                <a:cs typeface="微软雅黑"/>
              </a:defRPr>
            </a:pPr>
            <a:r>
              <a:rPr lang="en-US" sz="1105" b="1" spc="0" baseline="0" dirty="0">
                <a:solidFill>
                  <a:srgbClr val="383838"/>
                </a:solidFill>
                <a:latin typeface="微软雅黑"/>
                <a:ea typeface="微软雅黑"/>
                <a:cs typeface="微软雅黑"/>
              </a:rPr>
              <a:t>智能设</a:t>
            </a:r>
            <a:r>
              <a:rPr lang="zh-CN" sz="1105" b="1" spc="0" baseline="0" dirty="0">
                <a:solidFill>
                  <a:srgbClr val="383838"/>
                </a:solidFill>
                <a:latin typeface="微软雅黑"/>
                <a:ea typeface="微软雅黑"/>
                <a:cs typeface="微软雅黑"/>
              </a:rPr>
              <a:t>互检次数</a:t>
            </a:r>
            <a:endParaRPr lang="zh-CN" sz="1105" b="1" spc="0" baseline="0" dirty="0">
              <a:solidFill>
                <a:srgbClr val="383838"/>
              </a:solidFill>
              <a:latin typeface="微软雅黑"/>
              <a:ea typeface="微软雅黑"/>
              <a:cs typeface="微软雅黑"/>
            </a:endParaRPr>
          </a:p>
        </p:txBody>
      </p:sp>
      <p:sp>
        <p:nvSpPr>
          <p:cNvPr id="54" name="Rectangle 1551"/>
          <p:cNvSpPr/>
          <p:nvPr/>
        </p:nvSpPr>
        <p:spPr>
          <a:xfrm>
            <a:off x="2270125" y="6147435"/>
            <a:ext cx="8136255" cy="276860"/>
          </a:xfrm>
          <a:prstGeom prst="rect">
            <a:avLst/>
          </a:prstGeom>
        </p:spPr>
        <p:txBody>
          <a:bodyPr wrap="square" lIns="0" tIns="0" rIns="0" bIns="0">
            <a:spAutoFit/>
          </a:bodyPr>
          <a:lstStyle/>
          <a:p>
            <a:pPr marL="0" algn="ctr">
              <a:defRPr>
                <a:solidFill>
                  <a:srgbClr val="FFFFFF"/>
                </a:solidFill>
                <a:latin typeface="微软雅黑"/>
                <a:ea typeface="微软雅黑"/>
                <a:cs typeface="微软雅黑"/>
              </a:defRPr>
            </a:pPr>
            <a:r>
              <a:rPr lang="zh-CN" altLang="en-US" sz="1800" b="1" dirty="0">
                <a:solidFill>
                  <a:srgbClr val="FFFFFF"/>
                </a:solidFill>
                <a:latin typeface="微软雅黑"/>
                <a:ea typeface="微软雅黑"/>
                <a:cs typeface="微软雅黑"/>
              </a:rPr>
              <a:t>人格建立链接</a:t>
            </a:r>
            <a:endParaRPr lang="zh-CN" altLang="en-US" sz="1800" b="1" spc="0" baseline="0" dirty="0">
              <a:solidFill>
                <a:srgbClr val="FFFFFF"/>
              </a:solidFill>
              <a:latin typeface="微软雅黑"/>
              <a:ea typeface="微软雅黑"/>
              <a:cs typeface="微软雅黑"/>
            </a:endParaRPr>
          </a:p>
        </p:txBody>
      </p:sp>
      <p:cxnSp>
        <p:nvCxnSpPr>
          <p:cNvPr id="1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p:cNvSpPr/>
          <p:nvPr/>
        </p:nvSpPr>
        <p:spPr>
          <a:xfrm>
            <a:off x="505460" y="1430655"/>
            <a:ext cx="1795145" cy="4622165"/>
          </a:xfrm>
          <a:prstGeom prst="rect">
            <a:avLst/>
          </a:prstGeom>
          <a:solidFill>
            <a:srgbClr val="E6E6E6">
              <a:alpha val="1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5" name="Freeform 1482"/>
          <p:cNvSpPr/>
          <p:nvPr/>
        </p:nvSpPr>
        <p:spPr>
          <a:xfrm>
            <a:off x="2941955" y="3830955"/>
            <a:ext cx="5266055" cy="158115"/>
          </a:xfrm>
          <a:custGeom>
            <a:avLst/>
            <a:gdLst/>
            <a:ahLst/>
            <a:cxnLst/>
            <a:rect l="0" t="0" r="0" b="0"/>
            <a:pathLst>
              <a:path w="10750295" h="362712">
                <a:moveTo>
                  <a:pt x="0" y="362712"/>
                </a:moveTo>
                <a:lnTo>
                  <a:pt x="10750295" y="362712"/>
                </a:lnTo>
                <a:lnTo>
                  <a:pt x="10750295" y="0"/>
                </a:lnTo>
                <a:lnTo>
                  <a:pt x="0" y="0"/>
                </a:lnTo>
                <a:lnTo>
                  <a:pt x="0" y="362712"/>
                </a:lnTo>
                <a:close/>
              </a:path>
            </a:pathLst>
          </a:custGeom>
          <a:gradFill>
            <a:gsLst>
              <a:gs pos="0">
                <a:srgbClr val="3368FF"/>
              </a:gs>
              <a:gs pos="100000">
                <a:srgbClr val="B3D4FE"/>
              </a:gs>
            </a:gsLst>
            <a:lin ang="0" scaled="0"/>
          </a:gradFill>
        </p:spPr>
        <p:style>
          <a:lnRef idx="0">
            <a:srgbClr val="FFFFFF"/>
          </a:lnRef>
          <a:fillRef idx="1">
            <a:srgbClr val="3368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76" name="梯形 75"/>
          <p:cNvSpPr/>
          <p:nvPr/>
        </p:nvSpPr>
        <p:spPr>
          <a:xfrm>
            <a:off x="2941955" y="3465195"/>
            <a:ext cx="5266055" cy="362585"/>
          </a:xfrm>
          <a:prstGeom prst="trapezoid">
            <a:avLst>
              <a:gd name="adj" fmla="val 147460"/>
            </a:avLst>
          </a:prstGeom>
          <a:gradFill>
            <a:gsLst>
              <a:gs pos="0">
                <a:srgbClr val="B3D4FE">
                  <a:alpha val="0"/>
                </a:srgbClr>
              </a:gs>
              <a:gs pos="100000">
                <a:srgbClr val="B3D4FE">
                  <a:alpha val="50000"/>
                </a:srgbClr>
              </a:gs>
            </a:gsLst>
          </a:gradFill>
        </p:spPr>
        <p:style>
          <a:lnRef idx="0">
            <a:srgbClr val="FFFFFF"/>
          </a:lnRef>
          <a:fillRef idx="2">
            <a:srgbClr val="3368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电商数字化平台架构</a:t>
            </a:r>
            <a:endParaRPr lang="zh-CN" altLang="en-US" sz="2500">
              <a:solidFill>
                <a:srgbClr val="383838"/>
              </a:solidFill>
              <a:effectLst/>
              <a:latin typeface="微软雅黑"/>
              <a:ea typeface="微软雅黑"/>
              <a:cs typeface="微软雅黑"/>
            </a:endParaRPr>
          </a:p>
        </p:txBody>
      </p:sp>
      <p:sp>
        <p:nvSpPr>
          <p:cNvPr id="28" name="梯形 27"/>
          <p:cNvSpPr/>
          <p:nvPr/>
        </p:nvSpPr>
        <p:spPr>
          <a:xfrm>
            <a:off x="2942590" y="5528310"/>
            <a:ext cx="5321300" cy="362585"/>
          </a:xfrm>
          <a:prstGeom prst="trapezoid">
            <a:avLst>
              <a:gd name="adj" fmla="val 147460"/>
            </a:avLst>
          </a:prstGeom>
          <a:gradFill>
            <a:gsLst>
              <a:gs pos="0">
                <a:srgbClr val="3368FF">
                  <a:alpha val="0"/>
                </a:srgbClr>
              </a:gs>
              <a:gs pos="100000">
                <a:srgbClr val="3368FF">
                  <a:alpha val="5000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1" name="Freeform 1482"/>
          <p:cNvSpPr/>
          <p:nvPr/>
        </p:nvSpPr>
        <p:spPr>
          <a:xfrm>
            <a:off x="2942590" y="5894705"/>
            <a:ext cx="5321300" cy="158115"/>
          </a:xfrm>
          <a:custGeom>
            <a:avLst/>
            <a:gdLst/>
            <a:ahLst/>
            <a:cxnLst/>
            <a:rect l="0" t="0" r="0" b="0"/>
            <a:pathLst>
              <a:path w="10750295" h="362712">
                <a:moveTo>
                  <a:pt x="0" y="362712"/>
                </a:moveTo>
                <a:lnTo>
                  <a:pt x="10750295" y="362712"/>
                </a:lnTo>
                <a:lnTo>
                  <a:pt x="10750295" y="0"/>
                </a:lnTo>
                <a:lnTo>
                  <a:pt x="0" y="0"/>
                </a:lnTo>
                <a:lnTo>
                  <a:pt x="0" y="362712"/>
                </a:lnTo>
                <a:close/>
              </a:path>
            </a:pathLst>
          </a:custGeom>
          <a:gradFill>
            <a:gsLst>
              <a:gs pos="0">
                <a:srgbClr val="3368FF"/>
              </a:gs>
              <a:gs pos="100000">
                <a:srgbClr val="0042FF"/>
              </a:gs>
            </a:gsLst>
            <a:lin ang="10800000" scaled="0"/>
          </a:gradFill>
        </p:spPr>
        <p:style>
          <a:lnRef idx="0">
            <a:srgbClr val="FFFFFF"/>
          </a:lnRef>
          <a:fillRef idx="1">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3" name="矩形 2"/>
          <p:cNvSpPr/>
          <p:nvPr/>
        </p:nvSpPr>
        <p:spPr>
          <a:xfrm>
            <a:off x="3100705" y="5120005"/>
            <a:ext cx="5010785" cy="510540"/>
          </a:xfrm>
          <a:prstGeom prst="rect">
            <a:avLst/>
          </a:prstGeom>
          <a:solidFill>
            <a:srgbClr val="0042FF">
              <a:alpha val="5000"/>
            </a:srgbClr>
          </a:solidFill>
          <a:ln>
            <a:solidFill>
              <a:srgbClr val="0042FF">
                <a:alpha val="70000"/>
              </a:srgbClr>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 name="文本框 3"/>
          <p:cNvSpPr txBox="1"/>
          <p:nvPr/>
        </p:nvSpPr>
        <p:spPr>
          <a:xfrm>
            <a:off x="3149600" y="5229225"/>
            <a:ext cx="822325" cy="275590"/>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资源中台</a:t>
            </a:r>
            <a:endParaRPr lang="zh-CN" altLang="en-US" sz="1200" b="1">
              <a:solidFill>
                <a:srgbClr val="0042FF"/>
              </a:solidFill>
              <a:latin typeface="微软雅黑"/>
              <a:ea typeface="微软雅黑"/>
              <a:cs typeface="微软雅黑"/>
            </a:endParaRPr>
          </a:p>
        </p:txBody>
      </p:sp>
      <p:sp>
        <p:nvSpPr>
          <p:cNvPr id="6" name="矩形 5"/>
          <p:cNvSpPr/>
          <p:nvPr/>
        </p:nvSpPr>
        <p:spPr>
          <a:xfrm>
            <a:off x="4039870" y="5194935"/>
            <a:ext cx="731520" cy="346710"/>
          </a:xfrm>
          <a:prstGeom prst="rect">
            <a:avLst/>
          </a:prstGeom>
          <a:solidFill>
            <a:srgbClr val="FFFFFF">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 name="矩形 6"/>
          <p:cNvSpPr/>
          <p:nvPr/>
        </p:nvSpPr>
        <p:spPr>
          <a:xfrm>
            <a:off x="4839335" y="5201285"/>
            <a:ext cx="731520" cy="346710"/>
          </a:xfrm>
          <a:prstGeom prst="rect">
            <a:avLst/>
          </a:prstGeom>
          <a:solidFill>
            <a:srgbClr val="FFFFFF">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 name="矩形 7"/>
          <p:cNvSpPr/>
          <p:nvPr/>
        </p:nvSpPr>
        <p:spPr>
          <a:xfrm>
            <a:off x="5638800" y="5191760"/>
            <a:ext cx="731520" cy="346710"/>
          </a:xfrm>
          <a:prstGeom prst="rect">
            <a:avLst/>
          </a:prstGeom>
          <a:solidFill>
            <a:srgbClr val="FFFFFF">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 name="矩形 8"/>
          <p:cNvSpPr/>
          <p:nvPr/>
        </p:nvSpPr>
        <p:spPr>
          <a:xfrm>
            <a:off x="6438265" y="5201285"/>
            <a:ext cx="731520" cy="346710"/>
          </a:xfrm>
          <a:prstGeom prst="rect">
            <a:avLst/>
          </a:prstGeom>
          <a:solidFill>
            <a:srgbClr val="FFFFFF">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 name="矩形 10"/>
          <p:cNvSpPr/>
          <p:nvPr/>
        </p:nvSpPr>
        <p:spPr>
          <a:xfrm>
            <a:off x="7237730" y="5201285"/>
            <a:ext cx="731520" cy="346710"/>
          </a:xfrm>
          <a:prstGeom prst="rect">
            <a:avLst/>
          </a:prstGeom>
          <a:solidFill>
            <a:srgbClr val="FFFFFF">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2" name="Freeform 1482"/>
          <p:cNvSpPr/>
          <p:nvPr/>
        </p:nvSpPr>
        <p:spPr>
          <a:xfrm>
            <a:off x="2942590" y="4866640"/>
            <a:ext cx="5266055" cy="158115"/>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p:spPr>
        <p:style>
          <a:lnRef idx="0">
            <a:srgbClr val="FFFFFF"/>
          </a:lnRef>
          <a:fillRef idx="1">
            <a:srgbClr val="0042FF"/>
          </a:fillRef>
          <a:effectRef idx="0">
            <a:srgbClr val="FFFFFF"/>
          </a:effectRef>
          <a:fontRef idx="minor">
            <a:srgbClr val="383838"/>
          </a:fontRef>
        </p:style>
        <p:txBody>
          <a:bodyPr lIns="0" rIns="0" tIns="0" bIns="0"/>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13" name="梯形 12"/>
          <p:cNvSpPr/>
          <p:nvPr/>
        </p:nvSpPr>
        <p:spPr>
          <a:xfrm>
            <a:off x="2942590" y="4497705"/>
            <a:ext cx="5266055" cy="362585"/>
          </a:xfrm>
          <a:prstGeom prst="trapezoid">
            <a:avLst>
              <a:gd name="adj" fmla="val 147460"/>
            </a:avLst>
          </a:prstGeom>
          <a:gradFill>
            <a:gsLst>
              <a:gs pos="0">
                <a:srgbClr val="668EFF">
                  <a:alpha val="0"/>
                </a:srgbClr>
              </a:gs>
              <a:gs pos="100000">
                <a:srgbClr val="668EFF">
                  <a:alpha val="50000"/>
                </a:srgbClr>
              </a:gs>
            </a:gsLst>
          </a:gradFill>
        </p:spPr>
        <p:style>
          <a:lnRef idx="0">
            <a:srgbClr val="FFFFFF"/>
          </a:lnRef>
          <a:fillRef idx="2">
            <a:srgbClr val="668E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4" name="矩形 33"/>
          <p:cNvSpPr/>
          <p:nvPr/>
        </p:nvSpPr>
        <p:spPr>
          <a:xfrm>
            <a:off x="8384540" y="1428115"/>
            <a:ext cx="457200" cy="4581525"/>
          </a:xfrm>
          <a:prstGeom prst="rect">
            <a:avLst/>
          </a:prstGeom>
          <a:solidFill>
            <a:srgbClr val="FFFFFF">
              <a:alpha val="20000"/>
            </a:srgbClr>
          </a:solidFill>
          <a:ln w="19050">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a:solidFill>
                  <a:srgbClr val="0042FF"/>
                </a:solidFill>
                <a:cs typeface="微软雅黑"/>
                <a:sym typeface="微软雅黑"/>
                <a:latin typeface="微软雅黑"/>
                <a:ea typeface="微软雅黑"/>
              </a:rPr>
              <a:t>运营体系</a:t>
            </a:r>
            <a:endParaRPr lang="zh-CN" altLang="en-US">
              <a:solidFill>
                <a:srgbClr val="0042FF"/>
              </a:solidFill>
              <a:cs typeface="微软雅黑"/>
              <a:sym typeface="微软雅黑"/>
              <a:latin typeface="微软雅黑"/>
              <a:ea typeface="微软雅黑"/>
            </a:endParaRPr>
          </a:p>
        </p:txBody>
      </p:sp>
      <p:sp>
        <p:nvSpPr>
          <p:cNvPr id="35" name="矩形 34"/>
          <p:cNvSpPr/>
          <p:nvPr/>
        </p:nvSpPr>
        <p:spPr>
          <a:xfrm>
            <a:off x="8893175" y="1428115"/>
            <a:ext cx="457200" cy="4581525"/>
          </a:xfrm>
          <a:prstGeom prst="rect">
            <a:avLst/>
          </a:prstGeom>
          <a:solidFill>
            <a:srgbClr val="FFFFFF">
              <a:alpha val="20000"/>
            </a:srgbClr>
          </a:solidFill>
          <a:ln w="19050">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a:solidFill>
                  <a:srgbClr val="0042FF"/>
                </a:solidFill>
                <a:cs typeface="微软雅黑"/>
                <a:sym typeface="微软雅黑"/>
                <a:latin typeface="微软雅黑"/>
                <a:ea typeface="微软雅黑"/>
              </a:rPr>
              <a:t>保障体系</a:t>
            </a:r>
            <a:endParaRPr lang="zh-CN" altLang="en-US">
              <a:solidFill>
                <a:srgbClr val="0042FF"/>
              </a:solidFill>
              <a:cs typeface="微软雅黑"/>
              <a:sym typeface="微软雅黑"/>
              <a:latin typeface="微软雅黑"/>
              <a:ea typeface="微软雅黑"/>
            </a:endParaRPr>
          </a:p>
        </p:txBody>
      </p:sp>
      <p:sp>
        <p:nvSpPr>
          <p:cNvPr id="36" name="等腰三角形 35"/>
          <p:cNvSpPr/>
          <p:nvPr/>
        </p:nvSpPr>
        <p:spPr>
          <a:xfrm rot="5400000">
            <a:off x="338455" y="3602355"/>
            <a:ext cx="4566920" cy="452120"/>
          </a:xfrm>
          <a:prstGeom prst="triangle">
            <a:avLst>
              <a:gd name="adj" fmla="val 50312"/>
            </a:avLst>
          </a:prstGeom>
          <a:gradFill>
            <a:gsLst>
              <a:gs pos="100000">
                <a:srgbClr val="3368FF">
                  <a:alpha val="0"/>
                </a:srgbClr>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7" name="等腰三角形 36"/>
          <p:cNvSpPr/>
          <p:nvPr/>
        </p:nvSpPr>
        <p:spPr>
          <a:xfrm rot="5400000">
            <a:off x="7390130" y="3543300"/>
            <a:ext cx="4566920" cy="452120"/>
          </a:xfrm>
          <a:prstGeom prst="triangle">
            <a:avLst>
              <a:gd name="adj" fmla="val 50312"/>
            </a:avLst>
          </a:prstGeom>
          <a:gradFill>
            <a:gsLst>
              <a:gs pos="100000">
                <a:srgbClr val="3368FF">
                  <a:alpha val="0"/>
                </a:srgbClr>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9" name="矩形 38"/>
          <p:cNvSpPr/>
          <p:nvPr/>
        </p:nvSpPr>
        <p:spPr>
          <a:xfrm>
            <a:off x="622935" y="1546860"/>
            <a:ext cx="1559560" cy="79200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0" name="矩形 39"/>
          <p:cNvSpPr/>
          <p:nvPr/>
        </p:nvSpPr>
        <p:spPr>
          <a:xfrm>
            <a:off x="622935" y="2430935"/>
            <a:ext cx="1559560" cy="791845"/>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1" name="矩形 40"/>
          <p:cNvSpPr/>
          <p:nvPr/>
        </p:nvSpPr>
        <p:spPr>
          <a:xfrm>
            <a:off x="622935" y="3314855"/>
            <a:ext cx="1559560" cy="791845"/>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2" name="矩形 41"/>
          <p:cNvSpPr/>
          <p:nvPr/>
        </p:nvSpPr>
        <p:spPr>
          <a:xfrm>
            <a:off x="622935" y="4198775"/>
            <a:ext cx="1559560" cy="791845"/>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3" name="矩形 42"/>
          <p:cNvSpPr/>
          <p:nvPr/>
        </p:nvSpPr>
        <p:spPr>
          <a:xfrm>
            <a:off x="622935" y="5082695"/>
            <a:ext cx="1559560" cy="791845"/>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4" name="矩形 43"/>
          <p:cNvSpPr/>
          <p:nvPr/>
        </p:nvSpPr>
        <p:spPr>
          <a:xfrm>
            <a:off x="10020300" y="2317750"/>
            <a:ext cx="1859915" cy="483235"/>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a:solidFill>
                  <a:srgbClr val="FFFFFF"/>
                </a:solidFill>
                <a:cs typeface="微软雅黑"/>
                <a:latin typeface="微软雅黑"/>
                <a:ea typeface="微软雅黑"/>
              </a:rPr>
              <a:t>核心能力</a:t>
            </a:r>
            <a:endParaRPr lang="zh-CN" altLang="en-US">
              <a:solidFill>
                <a:srgbClr val="FFFFFF"/>
              </a:solidFill>
              <a:cs typeface="微软雅黑"/>
              <a:latin typeface="微软雅黑"/>
              <a:ea typeface="微软雅黑"/>
            </a:endParaRPr>
          </a:p>
        </p:txBody>
      </p:sp>
      <p:sp>
        <p:nvSpPr>
          <p:cNvPr id="45" name="矩形 44"/>
          <p:cNvSpPr/>
          <p:nvPr/>
        </p:nvSpPr>
        <p:spPr>
          <a:xfrm>
            <a:off x="10020300" y="2847340"/>
            <a:ext cx="1860550" cy="2369185"/>
          </a:xfrm>
          <a:prstGeom prst="rect">
            <a:avLst/>
          </a:prstGeom>
          <a:solidFill>
            <a:srgbClr val="3368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62" name="组合 61"/>
          <p:cNvGrpSpPr/>
          <p:nvPr/>
        </p:nvGrpSpPr>
        <p:grpSpPr>
          <a:xfrm>
            <a:off x="716280" y="1689813"/>
            <a:ext cx="1372870" cy="506095"/>
            <a:chOff x="1103" y="2569"/>
            <a:chExt cx="2162" cy="797"/>
          </a:xfrm>
        </p:grpSpPr>
        <p:sp>
          <p:nvSpPr>
            <p:cNvPr id="60" name="文本框 59"/>
            <p:cNvSpPr txBox="1"/>
            <p:nvPr/>
          </p:nvSpPr>
          <p:spPr>
            <a:xfrm>
              <a:off x="1169" y="2569"/>
              <a:ext cx="1997" cy="483"/>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多场景覆盖</a:t>
              </a:r>
              <a:endParaRPr lang="zh-CN" sz="1400" b="1">
                <a:solidFill>
                  <a:srgbClr val="0042FF"/>
                </a:solidFill>
                <a:latin typeface="微软雅黑"/>
                <a:ea typeface="微软雅黑"/>
                <a:cs typeface="微软雅黑"/>
              </a:endParaRPr>
            </a:p>
          </p:txBody>
        </p:sp>
        <p:sp>
          <p:nvSpPr>
            <p:cNvPr id="61" name="文本框 60"/>
            <p:cNvSpPr txBox="1"/>
            <p:nvPr/>
          </p:nvSpPr>
          <p:spPr>
            <a:xfrm>
              <a:off x="1103" y="2980"/>
              <a:ext cx="2162"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提升全渠道购物体验</a:t>
              </a:r>
              <a:endParaRPr lang="zh-CN" altLang="en-US" sz="1000">
                <a:solidFill>
                  <a:srgbClr val="383838"/>
                </a:solidFill>
                <a:latin typeface="微软雅黑"/>
                <a:ea typeface="微软雅黑"/>
                <a:cs typeface="微软雅黑"/>
              </a:endParaRPr>
            </a:p>
          </p:txBody>
        </p:sp>
      </p:grpSp>
      <p:grpSp>
        <p:nvGrpSpPr>
          <p:cNvPr id="63" name="组合 62"/>
          <p:cNvGrpSpPr/>
          <p:nvPr/>
        </p:nvGrpSpPr>
        <p:grpSpPr>
          <a:xfrm>
            <a:off x="616585" y="2573810"/>
            <a:ext cx="1596390" cy="518795"/>
            <a:chOff x="946" y="2569"/>
            <a:chExt cx="2514" cy="817"/>
          </a:xfrm>
        </p:grpSpPr>
        <p:sp>
          <p:nvSpPr>
            <p:cNvPr id="64" name="文本框 63"/>
            <p:cNvSpPr txBox="1"/>
            <p:nvPr/>
          </p:nvSpPr>
          <p:spPr>
            <a:xfrm>
              <a:off x="1169" y="2569"/>
              <a:ext cx="1997"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服务模块化</a:t>
              </a:r>
              <a:endParaRPr lang="zh-CN" altLang="en-US" sz="1400" b="1">
                <a:solidFill>
                  <a:srgbClr val="0042FF"/>
                </a:solidFill>
                <a:latin typeface="微软雅黑"/>
                <a:ea typeface="微软雅黑"/>
                <a:cs typeface="微软雅黑"/>
              </a:endParaRPr>
            </a:p>
          </p:txBody>
        </p:sp>
        <p:sp>
          <p:nvSpPr>
            <p:cNvPr id="65" name="文本框 64"/>
            <p:cNvSpPr txBox="1"/>
            <p:nvPr/>
          </p:nvSpPr>
          <p:spPr>
            <a:xfrm>
              <a:off x="946" y="3000"/>
              <a:ext cx="2514"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支撑业务迭代与创新</a:t>
              </a:r>
              <a:endParaRPr lang="zh-CN" altLang="en-US" sz="1000">
                <a:solidFill>
                  <a:srgbClr val="383838"/>
                </a:solidFill>
                <a:latin typeface="微软雅黑"/>
                <a:ea typeface="微软雅黑"/>
                <a:cs typeface="微软雅黑"/>
              </a:endParaRPr>
            </a:p>
          </p:txBody>
        </p:sp>
      </p:grpSp>
      <p:grpSp>
        <p:nvGrpSpPr>
          <p:cNvPr id="66" name="组合 65"/>
          <p:cNvGrpSpPr/>
          <p:nvPr/>
        </p:nvGrpSpPr>
        <p:grpSpPr>
          <a:xfrm>
            <a:off x="647065" y="3497658"/>
            <a:ext cx="1496060" cy="506095"/>
            <a:chOff x="994" y="2569"/>
            <a:chExt cx="2356" cy="797"/>
          </a:xfrm>
        </p:grpSpPr>
        <p:sp>
          <p:nvSpPr>
            <p:cNvPr id="67" name="文本框 66"/>
            <p:cNvSpPr txBox="1"/>
            <p:nvPr/>
          </p:nvSpPr>
          <p:spPr>
            <a:xfrm>
              <a:off x="1169" y="2569"/>
              <a:ext cx="1997" cy="483"/>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数据一体化</a:t>
              </a:r>
              <a:endParaRPr lang="zh-CN" sz="1400" b="1">
                <a:solidFill>
                  <a:srgbClr val="0042FF"/>
                </a:solidFill>
                <a:latin typeface="微软雅黑"/>
                <a:ea typeface="微软雅黑"/>
                <a:cs typeface="微软雅黑"/>
              </a:endParaRPr>
            </a:p>
          </p:txBody>
        </p:sp>
        <p:sp>
          <p:nvSpPr>
            <p:cNvPr id="68" name="文本框 67"/>
            <p:cNvSpPr txBox="1"/>
            <p:nvPr/>
          </p:nvSpPr>
          <p:spPr>
            <a:xfrm>
              <a:off x="994" y="2980"/>
              <a:ext cx="2356"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基于精准数据驱动运营</a:t>
              </a:r>
              <a:endParaRPr lang="zh-CN" altLang="en-US" sz="1000">
                <a:solidFill>
                  <a:srgbClr val="383838"/>
                </a:solidFill>
                <a:latin typeface="微软雅黑"/>
                <a:ea typeface="微软雅黑"/>
                <a:cs typeface="微软雅黑"/>
              </a:endParaRPr>
            </a:p>
          </p:txBody>
        </p:sp>
      </p:grpSp>
      <p:grpSp>
        <p:nvGrpSpPr>
          <p:cNvPr id="69" name="组合 68"/>
          <p:cNvGrpSpPr/>
          <p:nvPr/>
        </p:nvGrpSpPr>
        <p:grpSpPr>
          <a:xfrm>
            <a:off x="672465" y="4320618"/>
            <a:ext cx="1470025" cy="518795"/>
            <a:chOff x="1034" y="2569"/>
            <a:chExt cx="2315" cy="817"/>
          </a:xfrm>
        </p:grpSpPr>
        <p:sp>
          <p:nvSpPr>
            <p:cNvPr id="70" name="文本框 69"/>
            <p:cNvSpPr txBox="1"/>
            <p:nvPr/>
          </p:nvSpPr>
          <p:spPr>
            <a:xfrm>
              <a:off x="1169" y="2569"/>
              <a:ext cx="1997" cy="483"/>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技术中台化</a:t>
              </a:r>
              <a:endParaRPr lang="zh-CN" sz="1400" b="1">
                <a:solidFill>
                  <a:srgbClr val="0042FF"/>
                </a:solidFill>
                <a:latin typeface="微软雅黑"/>
                <a:ea typeface="微软雅黑"/>
                <a:cs typeface="微软雅黑"/>
              </a:endParaRPr>
            </a:p>
          </p:txBody>
        </p:sp>
        <p:sp>
          <p:nvSpPr>
            <p:cNvPr id="71" name="文本框 70"/>
            <p:cNvSpPr txBox="1"/>
            <p:nvPr/>
          </p:nvSpPr>
          <p:spPr>
            <a:xfrm>
              <a:off x="1034" y="3000"/>
              <a:ext cx="2315"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灵活扩展，新技术集成</a:t>
              </a:r>
              <a:endParaRPr lang="zh-CN" altLang="en-US" sz="1000">
                <a:solidFill>
                  <a:srgbClr val="383838"/>
                </a:solidFill>
                <a:latin typeface="微软雅黑"/>
                <a:ea typeface="微软雅黑"/>
                <a:cs typeface="微软雅黑"/>
              </a:endParaRPr>
            </a:p>
          </p:txBody>
        </p:sp>
      </p:grpSp>
      <p:grpSp>
        <p:nvGrpSpPr>
          <p:cNvPr id="72" name="组合 71"/>
          <p:cNvGrpSpPr/>
          <p:nvPr/>
        </p:nvGrpSpPr>
        <p:grpSpPr>
          <a:xfrm>
            <a:off x="647065" y="5216603"/>
            <a:ext cx="1534795" cy="506095"/>
            <a:chOff x="994" y="2569"/>
            <a:chExt cx="2417" cy="797"/>
          </a:xfrm>
        </p:grpSpPr>
        <p:sp>
          <p:nvSpPr>
            <p:cNvPr id="73" name="文本框 72"/>
            <p:cNvSpPr txBox="1"/>
            <p:nvPr/>
          </p:nvSpPr>
          <p:spPr>
            <a:xfrm>
              <a:off x="1169" y="2569"/>
              <a:ext cx="1997" cy="483"/>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资源集约化</a:t>
              </a:r>
              <a:endParaRPr lang="zh-CN" sz="1400" b="1">
                <a:solidFill>
                  <a:srgbClr val="0042FF"/>
                </a:solidFill>
                <a:latin typeface="微软雅黑"/>
                <a:ea typeface="微软雅黑"/>
                <a:cs typeface="微软雅黑"/>
              </a:endParaRPr>
            </a:p>
          </p:txBody>
        </p:sp>
        <p:sp>
          <p:nvSpPr>
            <p:cNvPr id="74" name="文本框 73"/>
            <p:cNvSpPr txBox="1"/>
            <p:nvPr/>
          </p:nvSpPr>
          <p:spPr>
            <a:xfrm>
              <a:off x="994" y="2980"/>
              <a:ext cx="2417"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共享供应链与算力资源</a:t>
              </a:r>
              <a:endParaRPr lang="zh-CN" altLang="en-US" sz="1000">
                <a:solidFill>
                  <a:srgbClr val="383838"/>
                </a:solidFill>
                <a:latin typeface="微软雅黑"/>
                <a:ea typeface="微软雅黑"/>
                <a:cs typeface="微软雅黑"/>
              </a:endParaRPr>
            </a:p>
          </p:txBody>
        </p:sp>
      </p:grpSp>
      <p:sp>
        <p:nvSpPr>
          <p:cNvPr id="83" name="矩形 82"/>
          <p:cNvSpPr/>
          <p:nvPr/>
        </p:nvSpPr>
        <p:spPr>
          <a:xfrm>
            <a:off x="3136900" y="4079240"/>
            <a:ext cx="4866640" cy="510540"/>
          </a:xfrm>
          <a:prstGeom prst="rect">
            <a:avLst/>
          </a:prstGeom>
          <a:solidFill>
            <a:srgbClr val="3368FF">
              <a:alpha val="10000"/>
            </a:srgbClr>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4" name="文本框 83"/>
          <p:cNvSpPr txBox="1"/>
          <p:nvPr/>
        </p:nvSpPr>
        <p:spPr>
          <a:xfrm>
            <a:off x="3106420" y="4188460"/>
            <a:ext cx="822325" cy="275590"/>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数据中台</a:t>
            </a:r>
            <a:endParaRPr lang="zh-CN" altLang="en-US" sz="1200" b="1">
              <a:solidFill>
                <a:srgbClr val="0042FF"/>
              </a:solidFill>
              <a:latin typeface="微软雅黑"/>
              <a:ea typeface="微软雅黑"/>
              <a:cs typeface="微软雅黑"/>
            </a:endParaRPr>
          </a:p>
        </p:txBody>
      </p:sp>
      <p:sp>
        <p:nvSpPr>
          <p:cNvPr id="85" name="矩形 84"/>
          <p:cNvSpPr/>
          <p:nvPr/>
        </p:nvSpPr>
        <p:spPr>
          <a:xfrm>
            <a:off x="3933190" y="4156075"/>
            <a:ext cx="731520" cy="346710"/>
          </a:xfrm>
          <a:prstGeom prst="rect">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6" name="矩形 85"/>
          <p:cNvSpPr/>
          <p:nvPr/>
        </p:nvSpPr>
        <p:spPr>
          <a:xfrm>
            <a:off x="4732655" y="4156075"/>
            <a:ext cx="731520" cy="346710"/>
          </a:xfrm>
          <a:prstGeom prst="rect">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7" name="矩形 86"/>
          <p:cNvSpPr/>
          <p:nvPr/>
        </p:nvSpPr>
        <p:spPr>
          <a:xfrm>
            <a:off x="5532120" y="4156075"/>
            <a:ext cx="731520" cy="346710"/>
          </a:xfrm>
          <a:prstGeom prst="rect">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8" name="矩形 87"/>
          <p:cNvSpPr/>
          <p:nvPr/>
        </p:nvSpPr>
        <p:spPr>
          <a:xfrm>
            <a:off x="6331585" y="4156075"/>
            <a:ext cx="731520" cy="346710"/>
          </a:xfrm>
          <a:prstGeom prst="rect">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9" name="矩形 88"/>
          <p:cNvSpPr/>
          <p:nvPr/>
        </p:nvSpPr>
        <p:spPr>
          <a:xfrm>
            <a:off x="7131050" y="4156075"/>
            <a:ext cx="731520" cy="346710"/>
          </a:xfrm>
          <a:prstGeom prst="rect">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5" name="文本框 94"/>
          <p:cNvSpPr txBox="1"/>
          <p:nvPr/>
        </p:nvSpPr>
        <p:spPr>
          <a:xfrm>
            <a:off x="10036175" y="3039110"/>
            <a:ext cx="1924685" cy="2030095"/>
          </a:xfrm>
          <a:prstGeom prst="rect">
            <a:avLst/>
          </a:prstGeom>
          <a:noFill/>
        </p:spPr>
        <p:txBody>
          <a:bodyPr wrap="square" rtlCol="0" anchor="ctr" anchorCtr="0">
            <a:spAutoFit/>
          </a:bodyPr>
          <a:p>
            <a:pPr marL="285750" indent="-285750" algn="l" fontAlgn="auto">
              <a:lnSpc>
                <a:spcPct val="150000"/>
              </a:lnSpc>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rPr>
              <a:t>全渠道流量聚合</a:t>
            </a:r>
            <a:endParaRPr lang="zh-CN" altLang="en-US" sz="1400">
              <a:solidFill>
                <a:srgbClr val="383838"/>
              </a:solidFill>
              <a:latin typeface="微软雅黑"/>
              <a:ea typeface="微软雅黑"/>
              <a:cs typeface="微软雅黑"/>
            </a:endParaRPr>
          </a:p>
          <a:p>
            <a:pPr marL="285750" indent="-285750" algn="l" fontAlgn="auto">
              <a:lnSpc>
                <a:spcPct val="150000"/>
              </a:lnSpc>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rPr>
              <a:t>智能化精准运营</a:t>
            </a:r>
            <a:endParaRPr lang="zh-CN" altLang="en-US" sz="1400">
              <a:solidFill>
                <a:srgbClr val="383838"/>
              </a:solidFill>
              <a:latin typeface="微软雅黑"/>
              <a:ea typeface="微软雅黑"/>
              <a:cs typeface="微软雅黑"/>
            </a:endParaRPr>
          </a:p>
          <a:p>
            <a:pPr marL="285750" indent="-285750" algn="l" fontAlgn="auto">
              <a:lnSpc>
                <a:spcPct val="150000"/>
              </a:lnSpc>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rPr>
              <a:t>弹性供应链协同</a:t>
            </a:r>
            <a:endParaRPr lang="zh-CN" altLang="en-US" sz="1400">
              <a:solidFill>
                <a:srgbClr val="383838"/>
              </a:solidFill>
              <a:latin typeface="微软雅黑"/>
              <a:ea typeface="微软雅黑"/>
              <a:cs typeface="微软雅黑"/>
            </a:endParaRPr>
          </a:p>
          <a:p>
            <a:pPr marL="285750" indent="-285750" algn="l" fontAlgn="auto">
              <a:lnSpc>
                <a:spcPct val="150000"/>
              </a:lnSpc>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rPr>
              <a:t>数据闭环驱动创新</a:t>
            </a:r>
            <a:endParaRPr lang="zh-CN" altLang="en-US" sz="1400">
              <a:solidFill>
                <a:srgbClr val="383838"/>
              </a:solidFill>
              <a:latin typeface="微软雅黑"/>
              <a:ea typeface="微软雅黑"/>
              <a:cs typeface="微软雅黑"/>
            </a:endParaRPr>
          </a:p>
          <a:p>
            <a:pPr marL="285750" indent="-285750" algn="l" fontAlgn="auto">
              <a:lnSpc>
                <a:spcPct val="150000"/>
              </a:lnSpc>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rPr>
              <a:t>开放生态互联互通</a:t>
            </a:r>
            <a:endParaRPr lang="zh-CN" altLang="en-US" sz="1400">
              <a:solidFill>
                <a:srgbClr val="383838"/>
              </a:solidFill>
              <a:latin typeface="微软雅黑"/>
              <a:ea typeface="微软雅黑"/>
              <a:cs typeface="微软雅黑"/>
            </a:endParaRPr>
          </a:p>
          <a:p>
            <a:pPr marL="285750" indent="-285750" algn="l" fontAlgn="auto">
              <a:lnSpc>
                <a:spcPct val="150000"/>
              </a:lnSpc>
              <a:buFont typeface="微软雅黑"/>
              <a:buChar char="●"/>
              <a:defRPr>
                <a:latin typeface="微软雅黑"/>
                <a:ea typeface="微软雅黑"/>
                <a:cs typeface="微软雅黑"/>
              </a:defRPr>
            </a:pPr>
            <a:endParaRPr lang="zh-CN" altLang="en-US" sz="1400">
              <a:solidFill>
                <a:srgbClr val="383838"/>
              </a:solidFill>
              <a:latin typeface="微软雅黑"/>
              <a:ea typeface="微软雅黑"/>
              <a:cs typeface="微软雅黑"/>
            </a:endParaRPr>
          </a:p>
        </p:txBody>
      </p:sp>
      <p:sp>
        <p:nvSpPr>
          <p:cNvPr id="48" name="矩形 47"/>
          <p:cNvSpPr/>
          <p:nvPr/>
        </p:nvSpPr>
        <p:spPr>
          <a:xfrm>
            <a:off x="3403600" y="2743200"/>
            <a:ext cx="4462145" cy="809625"/>
          </a:xfrm>
          <a:prstGeom prst="rect">
            <a:avLst/>
          </a:prstGeom>
          <a:solidFill>
            <a:srgbClr val="B3D4FE">
              <a:alpha val="5000"/>
            </a:srgbClr>
          </a:solidFill>
          <a:ln>
            <a:solidFill>
              <a:srgbClr val="B3D4FE">
                <a:alpha val="70000"/>
              </a:srgbClr>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2" name="矩形 101"/>
          <p:cNvSpPr/>
          <p:nvPr/>
        </p:nvSpPr>
        <p:spPr>
          <a:xfrm>
            <a:off x="3402965" y="1360805"/>
            <a:ext cx="4462145" cy="1303020"/>
          </a:xfrm>
          <a:prstGeom prst="rect">
            <a:avLst/>
          </a:prstGeom>
          <a:solidFill>
            <a:srgbClr val="B3D4FE">
              <a:alpha val="5000"/>
            </a:srgbClr>
          </a:solidFill>
          <a:ln>
            <a:solidFill>
              <a:srgbClr val="B3D4FE">
                <a:alpha val="70000"/>
              </a:srgbClr>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123" name="组合 122"/>
          <p:cNvGrpSpPr/>
          <p:nvPr/>
        </p:nvGrpSpPr>
        <p:grpSpPr>
          <a:xfrm>
            <a:off x="3468370" y="1764665"/>
            <a:ext cx="826770" cy="899160"/>
            <a:chOff x="5463" y="2653"/>
            <a:chExt cx="1302" cy="1416"/>
          </a:xfrm>
        </p:grpSpPr>
        <p:sp>
          <p:nvSpPr>
            <p:cNvPr id="103" name="椭圆 102"/>
            <p:cNvSpPr/>
            <p:nvPr/>
          </p:nvSpPr>
          <p:spPr>
            <a:xfrm>
              <a:off x="5724" y="2653"/>
              <a:ext cx="780" cy="780"/>
            </a:xfrm>
            <a:prstGeom prst="ellipse">
              <a:avLst/>
            </a:prstGeom>
            <a:solidFill>
              <a:srgbClr val="3368FF"/>
            </a:solidFill>
            <a:ln>
              <a:solidFill>
                <a:srgbClr val="FFFFFF"/>
              </a:solidFill>
            </a:ln>
            <a:effectLst>
              <a:glow rad="63500">
                <a:srgbClr val="FFFFFF">
                  <a:alpha val="40000"/>
                </a:srgbClr>
              </a:glo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08" name="文本框 107"/>
            <p:cNvSpPr txBox="1"/>
            <p:nvPr/>
          </p:nvSpPr>
          <p:spPr>
            <a:xfrm>
              <a:off x="5463" y="3441"/>
              <a:ext cx="1302"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企业客户</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a:t>
              </a:r>
              <a:r>
                <a:rPr lang="en-US" altLang="zh-CN" sz="1000">
                  <a:solidFill>
                    <a:srgbClr val="383838"/>
                  </a:solidFill>
                  <a:latin typeface="微软雅黑"/>
                  <a:ea typeface="微软雅黑"/>
                  <a:cs typeface="微软雅黑"/>
                </a:rPr>
                <a:t>B2B</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grpSp>
      <p:sp>
        <p:nvSpPr>
          <p:cNvPr id="104" name="椭圆 103"/>
          <p:cNvSpPr/>
          <p:nvPr/>
        </p:nvSpPr>
        <p:spPr>
          <a:xfrm>
            <a:off x="4508500" y="1764665"/>
            <a:ext cx="495300" cy="495300"/>
          </a:xfrm>
          <a:prstGeom prst="ellipse">
            <a:avLst/>
          </a:prstGeom>
          <a:solidFill>
            <a:srgbClr val="3368FF"/>
          </a:solidFill>
          <a:ln>
            <a:solidFill>
              <a:srgbClr val="FFFFFF"/>
            </a:solidFill>
          </a:ln>
          <a:effectLst>
            <a:glow rad="63500">
              <a:srgbClr val="FFFFFF">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09" name="文本框 108"/>
          <p:cNvSpPr txBox="1"/>
          <p:nvPr/>
        </p:nvSpPr>
        <p:spPr>
          <a:xfrm>
            <a:off x="4342765" y="2265045"/>
            <a:ext cx="82677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生态伙伴（</a:t>
            </a:r>
            <a:r>
              <a:rPr lang="en-US" altLang="zh-CN" sz="1000">
                <a:solidFill>
                  <a:srgbClr val="383838"/>
                </a:solidFill>
                <a:latin typeface="微软雅黑"/>
                <a:ea typeface="微软雅黑"/>
                <a:cs typeface="微软雅黑"/>
              </a:rPr>
              <a:t>B2P</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105" name="椭圆 104"/>
          <p:cNvSpPr/>
          <p:nvPr/>
        </p:nvSpPr>
        <p:spPr>
          <a:xfrm>
            <a:off x="5382895" y="1763395"/>
            <a:ext cx="495300" cy="495300"/>
          </a:xfrm>
          <a:prstGeom prst="ellipse">
            <a:avLst/>
          </a:prstGeom>
          <a:solidFill>
            <a:srgbClr val="3368FF"/>
          </a:solidFill>
          <a:ln>
            <a:solidFill>
              <a:srgbClr val="FFFFFF"/>
            </a:solidFill>
          </a:ln>
          <a:effectLst>
            <a:glow rad="63500">
              <a:srgbClr val="FFFFFF">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10" name="文本框 109"/>
          <p:cNvSpPr txBox="1"/>
          <p:nvPr/>
        </p:nvSpPr>
        <p:spPr>
          <a:xfrm>
            <a:off x="5217160" y="2265045"/>
            <a:ext cx="82677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供应商</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a:t>
            </a:r>
            <a:r>
              <a:rPr lang="en-US" altLang="zh-CN" sz="1000">
                <a:solidFill>
                  <a:srgbClr val="383838"/>
                </a:solidFill>
                <a:latin typeface="微软雅黑"/>
                <a:ea typeface="微软雅黑"/>
                <a:cs typeface="微软雅黑"/>
              </a:rPr>
              <a:t>B2S</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106" name="椭圆 105"/>
          <p:cNvSpPr/>
          <p:nvPr/>
        </p:nvSpPr>
        <p:spPr>
          <a:xfrm>
            <a:off x="6257290" y="1751965"/>
            <a:ext cx="495300" cy="495300"/>
          </a:xfrm>
          <a:prstGeom prst="ellipse">
            <a:avLst/>
          </a:prstGeom>
          <a:solidFill>
            <a:srgbClr val="3368FF"/>
          </a:solidFill>
          <a:ln>
            <a:solidFill>
              <a:srgbClr val="FFFFFF"/>
            </a:solidFill>
          </a:ln>
          <a:effectLst>
            <a:glow rad="63500">
              <a:srgbClr val="FFFFFF">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11" name="文本框 110"/>
          <p:cNvSpPr txBox="1"/>
          <p:nvPr/>
        </p:nvSpPr>
        <p:spPr>
          <a:xfrm>
            <a:off x="6091555" y="2265045"/>
            <a:ext cx="82677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员工</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a:t>
            </a:r>
            <a:r>
              <a:rPr lang="en-US" altLang="zh-CN" sz="1000">
                <a:solidFill>
                  <a:srgbClr val="383838"/>
                </a:solidFill>
                <a:latin typeface="微软雅黑"/>
                <a:ea typeface="微软雅黑"/>
                <a:cs typeface="微软雅黑"/>
              </a:rPr>
              <a:t>B2E</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107" name="椭圆 106"/>
          <p:cNvSpPr/>
          <p:nvPr/>
        </p:nvSpPr>
        <p:spPr>
          <a:xfrm>
            <a:off x="7131685" y="1751965"/>
            <a:ext cx="495300" cy="495300"/>
          </a:xfrm>
          <a:prstGeom prst="ellipse">
            <a:avLst/>
          </a:prstGeom>
          <a:solidFill>
            <a:srgbClr val="3368FF"/>
          </a:solidFill>
          <a:ln>
            <a:solidFill>
              <a:srgbClr val="FFFFFF"/>
            </a:solidFill>
          </a:ln>
          <a:effectLst>
            <a:glow rad="63500">
              <a:srgbClr val="FFFFFF">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12" name="文本框 111"/>
          <p:cNvSpPr txBox="1"/>
          <p:nvPr/>
        </p:nvSpPr>
        <p:spPr>
          <a:xfrm>
            <a:off x="6965950" y="2265045"/>
            <a:ext cx="82677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消费者</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a:t>
            </a:r>
            <a:r>
              <a:rPr lang="en-US" altLang="zh-CN" sz="1000">
                <a:solidFill>
                  <a:srgbClr val="383838"/>
                </a:solidFill>
                <a:latin typeface="微软雅黑"/>
                <a:ea typeface="微软雅黑"/>
                <a:cs typeface="微软雅黑"/>
              </a:rPr>
              <a:t>B2C</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97" name="燕尾形 96"/>
          <p:cNvSpPr/>
          <p:nvPr/>
        </p:nvSpPr>
        <p:spPr>
          <a:xfrm>
            <a:off x="3594100" y="3146425"/>
            <a:ext cx="820420" cy="297815"/>
          </a:xfrm>
          <a:prstGeom prst="chevron">
            <a:avLst>
              <a:gd name="adj" fmla="val 27717"/>
            </a:avLst>
          </a:prstGeom>
          <a:solidFill>
            <a:srgbClr val="FFFFFF">
              <a:alpha val="50000"/>
            </a:srgbClr>
          </a:solidFill>
          <a:ln w="19050">
            <a:solidFill>
              <a:srgbClr val="B3D4FE"/>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8" name="燕尾形 97"/>
          <p:cNvSpPr/>
          <p:nvPr/>
        </p:nvSpPr>
        <p:spPr>
          <a:xfrm>
            <a:off x="6913880" y="3146425"/>
            <a:ext cx="820420" cy="297815"/>
          </a:xfrm>
          <a:prstGeom prst="chevron">
            <a:avLst>
              <a:gd name="adj" fmla="val 27717"/>
            </a:avLst>
          </a:prstGeom>
          <a:solidFill>
            <a:srgbClr val="FFFFFF">
              <a:alpha val="50000"/>
            </a:srgbClr>
          </a:solidFill>
          <a:ln w="19050">
            <a:solidFill>
              <a:srgbClr val="B3D4FE"/>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9" name="燕尾形 98"/>
          <p:cNvSpPr/>
          <p:nvPr/>
        </p:nvSpPr>
        <p:spPr>
          <a:xfrm>
            <a:off x="6083935" y="3146425"/>
            <a:ext cx="820420" cy="297815"/>
          </a:xfrm>
          <a:prstGeom prst="chevron">
            <a:avLst>
              <a:gd name="adj" fmla="val 27717"/>
            </a:avLst>
          </a:prstGeom>
          <a:solidFill>
            <a:srgbClr val="FFFFFF">
              <a:alpha val="50000"/>
            </a:srgbClr>
          </a:solidFill>
          <a:ln w="19050">
            <a:solidFill>
              <a:srgbClr val="B3D4FE"/>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0" name="燕尾形 99"/>
          <p:cNvSpPr/>
          <p:nvPr/>
        </p:nvSpPr>
        <p:spPr>
          <a:xfrm>
            <a:off x="5253990" y="3146425"/>
            <a:ext cx="820420" cy="297815"/>
          </a:xfrm>
          <a:prstGeom prst="chevron">
            <a:avLst>
              <a:gd name="adj" fmla="val 27717"/>
            </a:avLst>
          </a:prstGeom>
          <a:solidFill>
            <a:srgbClr val="FFFFFF">
              <a:alpha val="50000"/>
            </a:srgbClr>
          </a:solidFill>
          <a:ln w="19050">
            <a:solidFill>
              <a:srgbClr val="B3D4FE"/>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1" name="燕尾形 100"/>
          <p:cNvSpPr/>
          <p:nvPr/>
        </p:nvSpPr>
        <p:spPr>
          <a:xfrm>
            <a:off x="4424045" y="3146425"/>
            <a:ext cx="820420" cy="297815"/>
          </a:xfrm>
          <a:prstGeom prst="chevron">
            <a:avLst>
              <a:gd name="adj" fmla="val 27717"/>
            </a:avLst>
          </a:prstGeom>
          <a:solidFill>
            <a:srgbClr val="FFFFFF">
              <a:alpha val="50000"/>
            </a:srgbClr>
          </a:solidFill>
          <a:ln w="19050">
            <a:solidFill>
              <a:srgbClr val="B3D4FE"/>
            </a:solidFill>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8" name="文本框 117"/>
          <p:cNvSpPr txBox="1"/>
          <p:nvPr/>
        </p:nvSpPr>
        <p:spPr>
          <a:xfrm>
            <a:off x="4807585" y="1428115"/>
            <a:ext cx="1815465" cy="277495"/>
          </a:xfrm>
          <a:prstGeom prst="rect">
            <a:avLst/>
          </a:prstGeom>
          <a:noFill/>
        </p:spPr>
        <p:txBody>
          <a:bodyPr wrap="square" rtlCol="0">
            <a:no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围绕五类用户群体</a:t>
            </a:r>
            <a:endParaRPr lang="zh-CN" altLang="en-US" sz="1200" b="1">
              <a:solidFill>
                <a:srgbClr val="0042FF"/>
              </a:solidFill>
              <a:latin typeface="微软雅黑"/>
              <a:ea typeface="微软雅黑"/>
              <a:cs typeface="微软雅黑"/>
            </a:endParaRPr>
          </a:p>
        </p:txBody>
      </p:sp>
      <p:grpSp>
        <p:nvGrpSpPr>
          <p:cNvPr id="10" name="组合 9"/>
          <p:cNvGrpSpPr/>
          <p:nvPr/>
        </p:nvGrpSpPr>
        <p:grpSpPr>
          <a:xfrm>
            <a:off x="4204970" y="2605405"/>
            <a:ext cx="249555" cy="433070"/>
            <a:chOff x="6622" y="4117"/>
            <a:chExt cx="393" cy="682"/>
          </a:xfrm>
        </p:grpSpPr>
        <p:sp>
          <p:nvSpPr>
            <p:cNvPr id="124" name="菱形 123"/>
            <p:cNvSpPr/>
            <p:nvPr/>
          </p:nvSpPr>
          <p:spPr>
            <a:xfrm>
              <a:off x="6622" y="4117"/>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25" name="菱形 124"/>
            <p:cNvSpPr/>
            <p:nvPr/>
          </p:nvSpPr>
          <p:spPr>
            <a:xfrm>
              <a:off x="6623" y="4271"/>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137" name="文本框 136"/>
          <p:cNvSpPr txBox="1"/>
          <p:nvPr/>
        </p:nvSpPr>
        <p:spPr>
          <a:xfrm>
            <a:off x="4732655" y="2868930"/>
            <a:ext cx="1815465" cy="277495"/>
          </a:xfrm>
          <a:prstGeom prst="rect">
            <a:avLst/>
          </a:prstGeom>
          <a:noFill/>
        </p:spPr>
        <p:txBody>
          <a:bodyPr wrap="square" rtlCol="0">
            <a:no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业务场景应用</a:t>
            </a:r>
            <a:endParaRPr lang="zh-CN" altLang="en-US" sz="1200" b="1">
              <a:solidFill>
                <a:srgbClr val="0042FF"/>
              </a:solidFill>
              <a:latin typeface="微软雅黑"/>
              <a:ea typeface="微软雅黑"/>
              <a:cs typeface="微软雅黑"/>
            </a:endParaRPr>
          </a:p>
        </p:txBody>
      </p:sp>
      <p:pic>
        <p:nvPicPr>
          <p:cNvPr id="143" name="图片 142" descr="消费者 (1)"/>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7239000" y="1853248"/>
            <a:ext cx="291600" cy="291600"/>
          </a:xfrm>
          <a:prstGeom prst="rect">
            <a:avLst/>
          </a:prstGeom>
        </p:spPr>
      </p:pic>
      <p:pic>
        <p:nvPicPr>
          <p:cNvPr id="144" name="图片 143" descr="合作伙伴"/>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19625" y="1853248"/>
            <a:ext cx="291600" cy="291600"/>
          </a:xfrm>
          <a:prstGeom prst="rect">
            <a:avLst/>
          </a:prstGeom>
        </p:spPr>
      </p:pic>
      <p:pic>
        <p:nvPicPr>
          <p:cNvPr id="145" name="图片 144" descr="企业客户"/>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723005" y="1853248"/>
            <a:ext cx="291600" cy="291600"/>
          </a:xfrm>
          <a:prstGeom prst="rect">
            <a:avLst/>
          </a:prstGeom>
        </p:spPr>
      </p:pic>
      <p:pic>
        <p:nvPicPr>
          <p:cNvPr id="146" name="图片 145" descr="供应商管理"/>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492750" y="1853248"/>
            <a:ext cx="291600" cy="291600"/>
          </a:xfrm>
          <a:prstGeom prst="rect">
            <a:avLst/>
          </a:prstGeom>
        </p:spPr>
      </p:pic>
      <p:pic>
        <p:nvPicPr>
          <p:cNvPr id="147" name="图片 146" descr="员工管理"/>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365875" y="1853248"/>
            <a:ext cx="291600" cy="291600"/>
          </a:xfrm>
          <a:prstGeom prst="rect">
            <a:avLst/>
          </a:prstGeom>
        </p:spPr>
      </p:pic>
      <p:pic>
        <p:nvPicPr>
          <p:cNvPr id="2" name="图片 1" descr="屋顶资源管理"/>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55600" y="186055"/>
            <a:ext cx="549910" cy="549910"/>
          </a:xfrm>
          <a:prstGeom prst="rect">
            <a:avLst/>
          </a:prstGeom>
        </p:spPr>
      </p:pic>
      <p:grpSp>
        <p:nvGrpSpPr>
          <p:cNvPr id="14" name="组合 13"/>
          <p:cNvGrpSpPr/>
          <p:nvPr/>
        </p:nvGrpSpPr>
        <p:grpSpPr>
          <a:xfrm>
            <a:off x="5074920" y="2605405"/>
            <a:ext cx="249555" cy="433070"/>
            <a:chOff x="6622" y="4117"/>
            <a:chExt cx="393" cy="682"/>
          </a:xfrm>
        </p:grpSpPr>
        <p:sp>
          <p:nvSpPr>
            <p:cNvPr id="15" name="菱形 14"/>
            <p:cNvSpPr/>
            <p:nvPr/>
          </p:nvSpPr>
          <p:spPr>
            <a:xfrm>
              <a:off x="6622" y="4117"/>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6" name="菱形 15"/>
            <p:cNvSpPr/>
            <p:nvPr/>
          </p:nvSpPr>
          <p:spPr>
            <a:xfrm>
              <a:off x="6623" y="4271"/>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17" name="组合 16"/>
          <p:cNvGrpSpPr/>
          <p:nvPr/>
        </p:nvGrpSpPr>
        <p:grpSpPr>
          <a:xfrm>
            <a:off x="5944870" y="2605405"/>
            <a:ext cx="249555" cy="433070"/>
            <a:chOff x="6622" y="4117"/>
            <a:chExt cx="393" cy="682"/>
          </a:xfrm>
        </p:grpSpPr>
        <p:sp>
          <p:nvSpPr>
            <p:cNvPr id="18" name="菱形 17"/>
            <p:cNvSpPr/>
            <p:nvPr/>
          </p:nvSpPr>
          <p:spPr>
            <a:xfrm>
              <a:off x="6622" y="4117"/>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9" name="菱形 18"/>
            <p:cNvSpPr/>
            <p:nvPr/>
          </p:nvSpPr>
          <p:spPr>
            <a:xfrm>
              <a:off x="6623" y="4271"/>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20" name="组合 19"/>
          <p:cNvGrpSpPr/>
          <p:nvPr/>
        </p:nvGrpSpPr>
        <p:grpSpPr>
          <a:xfrm>
            <a:off x="6814820" y="2605405"/>
            <a:ext cx="249555" cy="433070"/>
            <a:chOff x="6622" y="4117"/>
            <a:chExt cx="393" cy="682"/>
          </a:xfrm>
        </p:grpSpPr>
        <p:sp>
          <p:nvSpPr>
            <p:cNvPr id="21" name="菱形 20"/>
            <p:cNvSpPr/>
            <p:nvPr/>
          </p:nvSpPr>
          <p:spPr>
            <a:xfrm>
              <a:off x="6622" y="4117"/>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22" name="菱形 21"/>
            <p:cNvSpPr/>
            <p:nvPr/>
          </p:nvSpPr>
          <p:spPr>
            <a:xfrm>
              <a:off x="6623" y="4271"/>
              <a:ext cx="393" cy="529"/>
            </a:xfrm>
            <a:prstGeom prst="diamond">
              <a:avLst/>
            </a:prstGeom>
            <a:gradFill>
              <a:gsLst>
                <a:gs pos="0">
                  <a:srgbClr val="B3D4FE"/>
                </a:gs>
                <a:gs pos="50000">
                  <a:srgbClr val="B3D4FE">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23" name="文本框 22"/>
          <p:cNvSpPr txBox="1"/>
          <p:nvPr/>
        </p:nvSpPr>
        <p:spPr>
          <a:xfrm>
            <a:off x="1270635" y="6111875"/>
            <a:ext cx="8765540" cy="277495"/>
          </a:xfrm>
          <a:prstGeom prst="rect">
            <a:avLst/>
          </a:prstGeom>
          <a:noFill/>
        </p:spPr>
        <p:txBody>
          <a:bodyPr wrap="square" rtlCol="0">
            <a:noAutofit/>
          </a:bodyPr>
          <a:p>
            <a:pPr algn="ctr">
              <a:defRPr>
                <a:latin typeface="微软雅黑"/>
                <a:ea typeface="微软雅黑"/>
                <a:cs typeface="微软雅黑"/>
              </a:defRPr>
            </a:pPr>
            <a:r>
              <a:rPr lang="zh-CN" altLang="en-US" sz="2000" b="1">
                <a:solidFill>
                  <a:srgbClr val="383838"/>
                </a:solidFill>
                <a:latin typeface="微软雅黑"/>
                <a:ea typeface="微软雅黑"/>
                <a:cs typeface="微软雅黑"/>
              </a:rPr>
              <a:t>围绕业务场景应用的【电商数字化平台架构】</a:t>
            </a:r>
            <a:endParaRPr lang="zh-CN" altLang="en-US" sz="2000" b="1">
              <a:solidFill>
                <a:srgbClr val="383838"/>
              </a:solidFill>
              <a:latin typeface="微软雅黑"/>
              <a:ea typeface="微软雅黑"/>
              <a:cs typeface="微软雅黑"/>
            </a:endParaRPr>
          </a:p>
        </p:txBody>
      </p:sp>
      <p:sp>
        <p:nvSpPr>
          <p:cNvPr id="53" name="文本框 52"/>
          <p:cNvSpPr txBox="1"/>
          <p:nvPr/>
        </p:nvSpPr>
        <p:spPr>
          <a:xfrm>
            <a:off x="3931920" y="416687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全域用户画像体系</a:t>
            </a:r>
            <a:endParaRPr lang="zh-CN" altLang="en-US" sz="1000">
              <a:solidFill>
                <a:srgbClr val="383838"/>
              </a:solidFill>
              <a:latin typeface="微软雅黑"/>
              <a:ea typeface="微软雅黑"/>
              <a:cs typeface="微软雅黑"/>
            </a:endParaRPr>
          </a:p>
        </p:txBody>
      </p:sp>
      <p:sp>
        <p:nvSpPr>
          <p:cNvPr id="54" name="文本框 53"/>
          <p:cNvSpPr txBox="1"/>
          <p:nvPr/>
        </p:nvSpPr>
        <p:spPr>
          <a:xfrm>
            <a:off x="4732020" y="416687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实时数据计算引擎</a:t>
            </a:r>
            <a:endParaRPr lang="zh-CN" altLang="en-US" sz="1000">
              <a:solidFill>
                <a:srgbClr val="383838"/>
              </a:solidFill>
              <a:latin typeface="微软雅黑"/>
              <a:ea typeface="微软雅黑"/>
              <a:cs typeface="微软雅黑"/>
            </a:endParaRPr>
          </a:p>
        </p:txBody>
      </p:sp>
      <p:sp>
        <p:nvSpPr>
          <p:cNvPr id="55" name="文本框 54"/>
          <p:cNvSpPr txBox="1"/>
          <p:nvPr/>
        </p:nvSpPr>
        <p:spPr>
          <a:xfrm>
            <a:off x="5532120" y="416687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智能分析决策模型</a:t>
            </a:r>
            <a:endParaRPr lang="zh-CN" altLang="en-US" sz="1000">
              <a:solidFill>
                <a:srgbClr val="383838"/>
              </a:solidFill>
              <a:latin typeface="微软雅黑"/>
              <a:ea typeface="微软雅黑"/>
              <a:cs typeface="微软雅黑"/>
            </a:endParaRPr>
          </a:p>
        </p:txBody>
      </p:sp>
      <p:sp>
        <p:nvSpPr>
          <p:cNvPr id="56" name="文本框 55"/>
          <p:cNvSpPr txBox="1"/>
          <p:nvPr/>
        </p:nvSpPr>
        <p:spPr>
          <a:xfrm>
            <a:off x="6332220" y="416687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数据资产治理平台</a:t>
            </a:r>
            <a:endParaRPr lang="zh-CN" altLang="en-US" sz="1000">
              <a:solidFill>
                <a:srgbClr val="383838"/>
              </a:solidFill>
              <a:latin typeface="微软雅黑"/>
              <a:ea typeface="微软雅黑"/>
              <a:cs typeface="微软雅黑"/>
            </a:endParaRPr>
          </a:p>
        </p:txBody>
      </p:sp>
      <p:sp>
        <p:nvSpPr>
          <p:cNvPr id="57" name="文本框 56"/>
          <p:cNvSpPr txBox="1"/>
          <p:nvPr/>
        </p:nvSpPr>
        <p:spPr>
          <a:xfrm>
            <a:off x="7132320" y="416687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隐私合规与安全审计</a:t>
            </a:r>
            <a:endParaRPr lang="zh-CN" altLang="en-US" sz="1000">
              <a:solidFill>
                <a:srgbClr val="383838"/>
              </a:solidFill>
              <a:latin typeface="微软雅黑"/>
              <a:ea typeface="微软雅黑"/>
              <a:cs typeface="微软雅黑"/>
            </a:endParaRPr>
          </a:p>
        </p:txBody>
      </p:sp>
      <p:sp>
        <p:nvSpPr>
          <p:cNvPr id="58" name="文本框 57"/>
          <p:cNvSpPr txBox="1"/>
          <p:nvPr/>
        </p:nvSpPr>
        <p:spPr>
          <a:xfrm>
            <a:off x="4038600" y="519176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云资源池化调度</a:t>
            </a:r>
            <a:endParaRPr lang="zh-CN" sz="1000">
              <a:solidFill>
                <a:srgbClr val="383838"/>
              </a:solidFill>
              <a:latin typeface="微软雅黑"/>
              <a:ea typeface="微软雅黑"/>
              <a:cs typeface="微软雅黑"/>
            </a:endParaRPr>
          </a:p>
        </p:txBody>
      </p:sp>
      <p:sp>
        <p:nvSpPr>
          <p:cNvPr id="59" name="文本框 58"/>
          <p:cNvSpPr txBox="1"/>
          <p:nvPr/>
        </p:nvSpPr>
        <p:spPr>
          <a:xfrm>
            <a:off x="4838700" y="519176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物流网络智能路由</a:t>
            </a:r>
            <a:endParaRPr lang="zh-CN" altLang="en-US" sz="1000">
              <a:solidFill>
                <a:srgbClr val="383838"/>
              </a:solidFill>
              <a:latin typeface="微软雅黑"/>
              <a:ea typeface="微软雅黑"/>
              <a:cs typeface="微软雅黑"/>
            </a:endParaRPr>
          </a:p>
        </p:txBody>
      </p:sp>
      <p:sp>
        <p:nvSpPr>
          <p:cNvPr id="77" name="文本框 76"/>
          <p:cNvSpPr txBox="1"/>
          <p:nvPr/>
        </p:nvSpPr>
        <p:spPr>
          <a:xfrm>
            <a:off x="5638800" y="519176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多仓库存协同管理</a:t>
            </a:r>
            <a:endParaRPr lang="zh-CN" altLang="en-US" sz="1000">
              <a:solidFill>
                <a:srgbClr val="383838"/>
              </a:solidFill>
              <a:latin typeface="微软雅黑"/>
              <a:ea typeface="微软雅黑"/>
              <a:cs typeface="微软雅黑"/>
            </a:endParaRPr>
          </a:p>
        </p:txBody>
      </p:sp>
      <p:sp>
        <p:nvSpPr>
          <p:cNvPr id="96" name="文本框 95"/>
          <p:cNvSpPr txBox="1"/>
          <p:nvPr/>
        </p:nvSpPr>
        <p:spPr>
          <a:xfrm>
            <a:off x="6438900" y="519176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供应链金融服务集成</a:t>
            </a:r>
            <a:endParaRPr lang="zh-CN" altLang="en-US" sz="1000">
              <a:solidFill>
                <a:srgbClr val="383838"/>
              </a:solidFill>
              <a:latin typeface="微软雅黑"/>
              <a:ea typeface="微软雅黑"/>
              <a:cs typeface="微软雅黑"/>
            </a:endParaRPr>
          </a:p>
        </p:txBody>
      </p:sp>
      <p:sp>
        <p:nvSpPr>
          <p:cNvPr id="119" name="文本框 118"/>
          <p:cNvSpPr txBox="1"/>
          <p:nvPr/>
        </p:nvSpPr>
        <p:spPr>
          <a:xfrm>
            <a:off x="7239000" y="5191760"/>
            <a:ext cx="732790" cy="3244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生态资源共享中心</a:t>
            </a:r>
            <a:endParaRPr lang="zh-CN" altLang="en-US" sz="1000">
              <a:solidFill>
                <a:srgbClr val="383838"/>
              </a:solidFill>
              <a:latin typeface="微软雅黑"/>
              <a:ea typeface="微软雅黑"/>
              <a:cs typeface="微软雅黑"/>
            </a:endParaRPr>
          </a:p>
        </p:txBody>
      </p:sp>
      <p:grpSp>
        <p:nvGrpSpPr>
          <p:cNvPr id="197" name="组合 196"/>
          <p:cNvGrpSpPr/>
          <p:nvPr/>
        </p:nvGrpSpPr>
        <p:grpSpPr>
          <a:xfrm>
            <a:off x="3633470" y="3168015"/>
            <a:ext cx="4095750" cy="245110"/>
            <a:chOff x="5723" y="5061"/>
            <a:chExt cx="6450" cy="386"/>
          </a:xfrm>
        </p:grpSpPr>
        <p:sp>
          <p:nvSpPr>
            <p:cNvPr id="198" name="文本框 197"/>
            <p:cNvSpPr txBox="1"/>
            <p:nvPr/>
          </p:nvSpPr>
          <p:spPr>
            <a:xfrm>
              <a:off x="5723" y="5061"/>
              <a:ext cx="1220" cy="386"/>
            </a:xfrm>
            <a:prstGeom prst="rect">
              <a:avLst/>
            </a:prstGeom>
            <a:noFill/>
            <a:ln>
              <a:noFill/>
            </a:ln>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营销场景</a:t>
              </a:r>
              <a:endParaRPr lang="zh-CN" sz="1000">
                <a:solidFill>
                  <a:srgbClr val="383838"/>
                </a:solidFill>
                <a:latin typeface="微软雅黑"/>
                <a:ea typeface="微软雅黑"/>
                <a:cs typeface="微软雅黑"/>
              </a:endParaRPr>
            </a:p>
          </p:txBody>
        </p:sp>
        <p:sp>
          <p:nvSpPr>
            <p:cNvPr id="199" name="文本框 198"/>
            <p:cNvSpPr txBox="1"/>
            <p:nvPr/>
          </p:nvSpPr>
          <p:spPr>
            <a:xfrm>
              <a:off x="7017" y="5061"/>
              <a:ext cx="1220" cy="386"/>
            </a:xfrm>
            <a:prstGeom prst="rect">
              <a:avLst/>
            </a:prstGeom>
            <a:noFill/>
            <a:ln>
              <a:noFill/>
            </a:ln>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商品场景</a:t>
              </a:r>
              <a:endParaRPr lang="zh-CN" sz="1000">
                <a:solidFill>
                  <a:srgbClr val="383838"/>
                </a:solidFill>
                <a:latin typeface="微软雅黑"/>
                <a:ea typeface="微软雅黑"/>
                <a:cs typeface="微软雅黑"/>
              </a:endParaRPr>
            </a:p>
          </p:txBody>
        </p:sp>
        <p:sp>
          <p:nvSpPr>
            <p:cNvPr id="200" name="文本框 199"/>
            <p:cNvSpPr txBox="1"/>
            <p:nvPr/>
          </p:nvSpPr>
          <p:spPr>
            <a:xfrm>
              <a:off x="8311" y="5061"/>
              <a:ext cx="1220" cy="386"/>
            </a:xfrm>
            <a:prstGeom prst="rect">
              <a:avLst/>
            </a:prstGeom>
            <a:noFill/>
            <a:ln>
              <a:noFill/>
            </a:ln>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交易场景</a:t>
              </a:r>
              <a:endParaRPr lang="zh-CN" sz="1000">
                <a:solidFill>
                  <a:srgbClr val="383838"/>
                </a:solidFill>
                <a:latin typeface="微软雅黑"/>
                <a:ea typeface="微软雅黑"/>
                <a:cs typeface="微软雅黑"/>
              </a:endParaRPr>
            </a:p>
          </p:txBody>
        </p:sp>
        <p:sp>
          <p:nvSpPr>
            <p:cNvPr id="201" name="文本框 200"/>
            <p:cNvSpPr txBox="1"/>
            <p:nvPr/>
          </p:nvSpPr>
          <p:spPr>
            <a:xfrm>
              <a:off x="9659" y="5061"/>
              <a:ext cx="1220" cy="386"/>
            </a:xfrm>
            <a:prstGeom prst="rect">
              <a:avLst/>
            </a:prstGeom>
            <a:noFill/>
            <a:ln>
              <a:noFill/>
            </a:ln>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客服场景</a:t>
              </a:r>
              <a:endParaRPr lang="zh-CN" sz="1000">
                <a:solidFill>
                  <a:srgbClr val="383838"/>
                </a:solidFill>
                <a:latin typeface="微软雅黑"/>
                <a:ea typeface="微软雅黑"/>
                <a:cs typeface="微软雅黑"/>
              </a:endParaRPr>
            </a:p>
          </p:txBody>
        </p:sp>
        <p:sp>
          <p:nvSpPr>
            <p:cNvPr id="202" name="文本框 201"/>
            <p:cNvSpPr txBox="1"/>
            <p:nvPr/>
          </p:nvSpPr>
          <p:spPr>
            <a:xfrm>
              <a:off x="10953" y="5061"/>
              <a:ext cx="1220" cy="386"/>
            </a:xfrm>
            <a:prstGeom prst="rect">
              <a:avLst/>
            </a:prstGeom>
            <a:noFill/>
            <a:ln>
              <a:noFill/>
            </a:ln>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物流场景</a:t>
              </a:r>
              <a:endParaRPr lang="zh-CN" sz="1000">
                <a:solidFill>
                  <a:srgbClr val="383838"/>
                </a:solidFill>
                <a:latin typeface="微软雅黑"/>
                <a:ea typeface="微软雅黑"/>
                <a:cs typeface="微软雅黑"/>
              </a:endParaRPr>
            </a:p>
          </p:txBody>
        </p:sp>
      </p:grpSp>
      <p:grpSp>
        <p:nvGrpSpPr>
          <p:cNvPr id="203" name="组合 202"/>
          <p:cNvGrpSpPr/>
          <p:nvPr/>
        </p:nvGrpSpPr>
        <p:grpSpPr>
          <a:xfrm>
            <a:off x="8715375" y="348615"/>
            <a:ext cx="3219450" cy="332740"/>
            <a:chOff x="13761" y="549"/>
            <a:chExt cx="5070" cy="524"/>
          </a:xfrm>
        </p:grpSpPr>
        <p:pic>
          <p:nvPicPr>
            <p:cNvPr id="204" name="图片 203"/>
            <p:cNvPicPr>
              <a:picLocks noChangeAspect="1"/>
            </p:cNvPicPr>
            <p:nvPr userDrawn="1"/>
          </p:nvPicPr>
          <p:blipFill>
            <a:blip r:embed="rId13"/>
            <a:srcRect l="17002" t="-1765" r="56499" b="-1176"/>
            <a:stretch>
              <a:fillRect/>
            </a:stretch>
          </p:blipFill>
          <p:spPr>
            <a:xfrm>
              <a:off x="13761" y="549"/>
              <a:ext cx="1582" cy="525"/>
            </a:xfrm>
            <a:prstGeom prst="rect">
              <a:avLst/>
            </a:prstGeom>
          </p:spPr>
        </p:pic>
        <p:sp>
          <p:nvSpPr>
            <p:cNvPr id="205" name="文本框 20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多层平台架构 |</a:t>
            </a:r>
            <a:r>
              <a:rPr sz="2500">
                <a:solidFill>
                  <a:srgbClr val="0042FF"/>
                </a:solidFill>
                <a:latin typeface="微软雅黑"/>
                <a:ea typeface="微软雅黑"/>
                <a:cs typeface="微软雅黑"/>
              </a:rPr>
              <a:t> </a:t>
            </a:r>
            <a:r>
              <a:rPr sz="2500">
                <a:solidFill>
                  <a:srgbClr val="0042FF"/>
                </a:solidFill>
                <a:latin typeface="微软雅黑"/>
                <a:ea typeface="微软雅黑"/>
                <a:cs typeface="微软雅黑"/>
              </a:rPr>
              <a:t>汽车行业数字化转型路径</a:t>
            </a:r>
            <a:endParaRPr lang="zh-CN" altLang="en-US" sz="2500">
              <a:solidFill>
                <a:srgbClr val="0042FF"/>
              </a:solidFill>
              <a:latin typeface="微软雅黑"/>
              <a:ea typeface="微软雅黑"/>
              <a:cs typeface="微软雅黑"/>
            </a:endParaRPr>
          </a:p>
        </p:txBody>
      </p:sp>
      <p:pic>
        <p:nvPicPr>
          <p:cNvPr id="10" name="图片 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4"/>
            <a:srcRect l="17002" t="-1765" r="56499" b="-1176"/>
            <a:stretch>
              <a:fillRect/>
            </a:stretch>
          </p:blipFill>
          <p:spPr>
            <a:xfrm>
              <a:off x="13761" y="549"/>
              <a:ext cx="1582" cy="525"/>
            </a:xfrm>
            <a:prstGeom prst="rect">
              <a:avLst/>
            </a:prstGeom>
          </p:spPr>
        </p:pic>
        <p:sp>
          <p:nvSpPr>
            <p:cNvPr id="9" name="文本框 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11" name="矩形 10"/>
          <p:cNvSpPr/>
          <p:nvPr/>
        </p:nvSpPr>
        <p:spPr>
          <a:xfrm>
            <a:off x="403225" y="970915"/>
            <a:ext cx="11385550" cy="5694680"/>
          </a:xfrm>
          <a:prstGeom prst="rect">
            <a:avLst/>
          </a:prstGeom>
          <a:solidFill>
            <a:srgbClr val="E6E6E6">
              <a:alpha val="20000"/>
            </a:srgbClr>
          </a:soli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20" name="圆角矩形 119"/>
          <p:cNvSpPr/>
          <p:nvPr/>
        </p:nvSpPr>
        <p:spPr>
          <a:xfrm>
            <a:off x="628650" y="1077595"/>
            <a:ext cx="10974070" cy="1029335"/>
          </a:xfrm>
          <a:prstGeom prst="roundRect">
            <a:avLst>
              <a:gd name="adj" fmla="val 0"/>
            </a:avLst>
          </a:prstGeom>
          <a:solidFill>
            <a:srgbClr val="FFFFFF"/>
          </a:solidFill>
          <a:ln w="6350">
            <a:solidFill>
              <a:srgbClr val="FFFFFF"/>
            </a:solidFill>
            <a:prstDash val="solid"/>
          </a:ln>
          <a:effectLst>
            <a:outerShdw blurRad="101600" sx="101000" sy="101000" algn="ctr" rotWithShape="0">
              <a:srgbClr val="FFFF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endParaRPr kumimoji="1" lang="zh-CN" altLang="en-US" sz="1400" dirty="0">
              <a:solidFill>
                <a:srgbClr val="383838"/>
              </a:solidFill>
              <a:latin typeface="微软雅黑"/>
              <a:ea typeface="微软雅黑"/>
              <a:cs typeface="微软雅黑"/>
              <a:sym typeface="微软雅黑"/>
            </a:endParaRPr>
          </a:p>
        </p:txBody>
      </p:sp>
      <p:sp>
        <p:nvSpPr>
          <p:cNvPr id="133" name="圆角矩形 132"/>
          <p:cNvSpPr/>
          <p:nvPr/>
        </p:nvSpPr>
        <p:spPr>
          <a:xfrm>
            <a:off x="560323" y="1355725"/>
            <a:ext cx="1108075" cy="367030"/>
          </a:xfrm>
          <a:prstGeom prst="roundRect">
            <a:avLst>
              <a:gd name="adj" fmla="val 0"/>
            </a:avLst>
          </a:prstGeom>
          <a:gradFill flip="none" rotWithShape="1">
            <a:gsLst>
              <a:gs pos="0">
                <a:srgbClr val="B3D4FE"/>
              </a:gs>
              <a:gs pos="100000">
                <a:srgbClr val="3368FF"/>
              </a:gs>
            </a:gsLst>
            <a:lin ang="0" scaled="1"/>
            <a:tileRect/>
          </a:gradFill>
          <a:ln>
            <a:noFill/>
          </a:ln>
          <a:effectLst>
            <a:outerShdw blurRad="127000" dist="88900" dir="5400000" algn="t" rotWithShape="0">
              <a:srgbClr val="3368FF">
                <a:alpha val="3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endParaRPr kumimoji="1" lang="zh-CN" altLang="en-US" sz="1200" dirty="0">
              <a:latin typeface="微软雅黑"/>
              <a:ea typeface="微软雅黑"/>
              <a:cs typeface="微软雅黑"/>
              <a:sym typeface="微软雅黑"/>
            </a:endParaRPr>
          </a:p>
        </p:txBody>
      </p:sp>
      <p:sp>
        <p:nvSpPr>
          <p:cNvPr id="134" name="文本框 133"/>
          <p:cNvSpPr txBox="1"/>
          <p:nvPr/>
        </p:nvSpPr>
        <p:spPr>
          <a:xfrm>
            <a:off x="625411" y="1385888"/>
            <a:ext cx="977900" cy="306705"/>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rPr>
              <a:t>行业</a:t>
            </a:r>
            <a:r>
              <a:rPr kumimoji="0" lang="en-US" altLang="zh-CN" sz="1400" b="1"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rPr>
              <a:t>场景</a:t>
            </a:r>
            <a:endPar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5" name="直角三角形 134"/>
          <p:cNvSpPr/>
          <p:nvPr/>
        </p:nvSpPr>
        <p:spPr>
          <a:xfrm flipH="1" flipV="1">
            <a:off x="561010" y="1723697"/>
            <a:ext cx="88824" cy="93277"/>
          </a:xfrm>
          <a:prstGeom prst="rtTriangle">
            <a:avLst/>
          </a:prstGeom>
          <a:solidFill>
            <a:srgbClr val="0042FF"/>
          </a:solidFill>
          <a:ln>
            <a:noFill/>
          </a:ln>
          <a:effectLst>
            <a:outerShdw blurRad="127000" dist="88900" dir="5400000" algn="t"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200" dirty="0">
              <a:solidFill>
                <a:srgbClr val="FFFFFF"/>
              </a:solidFill>
              <a:latin typeface="微软雅黑"/>
              <a:ea typeface="微软雅黑"/>
              <a:cs typeface="微软雅黑"/>
              <a:sym typeface="微软雅黑"/>
            </a:endParaRPr>
          </a:p>
        </p:txBody>
      </p:sp>
      <p:sp>
        <p:nvSpPr>
          <p:cNvPr id="114" name="矩形: 圆角 16"/>
          <p:cNvSpPr/>
          <p:nvPr/>
        </p:nvSpPr>
        <p:spPr>
          <a:xfrm>
            <a:off x="1962785" y="1166495"/>
            <a:ext cx="1435100" cy="829310"/>
          </a:xfrm>
          <a:prstGeom prst="roundRect">
            <a:avLst>
              <a:gd name="adj" fmla="val 7590"/>
            </a:avLst>
          </a:prstGeom>
          <a:solidFill>
            <a:srgbClr val="B3D4FE">
              <a:alpha val="10000"/>
            </a:srgbClr>
          </a:solidFill>
          <a:ln w="12680" cap="flat">
            <a:solidFill>
              <a:srgbClr val="3368FF">
                <a:alpha val="50000"/>
              </a:srgbClr>
            </a:solidFill>
            <a:prstDash val="sysDash"/>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115" name="矩形: 圆角 20"/>
          <p:cNvSpPr/>
          <p:nvPr/>
        </p:nvSpPr>
        <p:spPr>
          <a:xfrm>
            <a:off x="3533140" y="1166495"/>
            <a:ext cx="1435100" cy="829945"/>
          </a:xfrm>
          <a:prstGeom prst="roundRect">
            <a:avLst>
              <a:gd name="adj" fmla="val 8774"/>
            </a:avLst>
          </a:prstGeom>
          <a:solidFill>
            <a:srgbClr val="B3D4FE">
              <a:alpha val="10000"/>
            </a:srgbClr>
          </a:solidFill>
          <a:ln w="12680" cap="flat">
            <a:solidFill>
              <a:srgbClr val="3368FF">
                <a:alpha val="50000"/>
              </a:srgbClr>
            </a:solidFill>
            <a:prstDash val="sysDash"/>
            <a:miter/>
          </a:ln>
        </p:spPr>
        <p:txBody>
          <a:bodyPr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16" name="矩形: 圆角 24"/>
          <p:cNvSpPr/>
          <p:nvPr/>
        </p:nvSpPr>
        <p:spPr>
          <a:xfrm>
            <a:off x="5103495" y="1166495"/>
            <a:ext cx="1435100" cy="830580"/>
          </a:xfrm>
          <a:prstGeom prst="roundRect">
            <a:avLst>
              <a:gd name="adj" fmla="val 9168"/>
            </a:avLst>
          </a:prstGeom>
          <a:solidFill>
            <a:srgbClr val="B3D4FE">
              <a:alpha val="10000"/>
            </a:srgbClr>
          </a:solidFill>
          <a:ln w="12680" cap="flat">
            <a:solidFill>
              <a:srgbClr val="3368FF">
                <a:alpha val="50000"/>
              </a:srgbClr>
            </a:solidFill>
            <a:prstDash val="sysDash"/>
            <a:miter/>
          </a:ln>
        </p:spPr>
        <p:txBody>
          <a:bodyPr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17" name="矩形: 圆角 28"/>
          <p:cNvSpPr/>
          <p:nvPr/>
        </p:nvSpPr>
        <p:spPr>
          <a:xfrm>
            <a:off x="6673850" y="1166495"/>
            <a:ext cx="1435100" cy="829310"/>
          </a:xfrm>
          <a:prstGeom prst="roundRect">
            <a:avLst>
              <a:gd name="adj" fmla="val 9169"/>
            </a:avLst>
          </a:prstGeom>
          <a:solidFill>
            <a:srgbClr val="B3D4FE">
              <a:alpha val="10000"/>
            </a:srgbClr>
          </a:solidFill>
          <a:ln w="12680" cap="flat">
            <a:solidFill>
              <a:srgbClr val="3368FF">
                <a:alpha val="50000"/>
              </a:srgbClr>
            </a:solidFill>
            <a:prstDash val="sysDash"/>
            <a:miter/>
          </a:ln>
        </p:spPr>
        <p:txBody>
          <a:bodyPr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18" name="矩形: 圆角 32"/>
          <p:cNvSpPr/>
          <p:nvPr/>
        </p:nvSpPr>
        <p:spPr>
          <a:xfrm>
            <a:off x="8243570" y="1166495"/>
            <a:ext cx="1435100" cy="831215"/>
          </a:xfrm>
          <a:prstGeom prst="roundRect">
            <a:avLst>
              <a:gd name="adj" fmla="val 7985"/>
            </a:avLst>
          </a:prstGeom>
          <a:solidFill>
            <a:srgbClr val="B3D4FE">
              <a:alpha val="10000"/>
            </a:srgbClr>
          </a:solidFill>
          <a:ln w="12680" cap="flat">
            <a:solidFill>
              <a:srgbClr val="3368FF">
                <a:alpha val="50000"/>
              </a:srgbClr>
            </a:solidFill>
            <a:prstDash val="sysDash"/>
            <a:miter/>
          </a:ln>
        </p:spPr>
        <p:txBody>
          <a:bodyPr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19" name="矩形: 圆角 36"/>
          <p:cNvSpPr/>
          <p:nvPr/>
        </p:nvSpPr>
        <p:spPr>
          <a:xfrm>
            <a:off x="9813925" y="1166495"/>
            <a:ext cx="1435100" cy="831215"/>
          </a:xfrm>
          <a:prstGeom prst="roundRect">
            <a:avLst>
              <a:gd name="adj" fmla="val 8774"/>
            </a:avLst>
          </a:prstGeom>
          <a:solidFill>
            <a:srgbClr val="B3D4FE">
              <a:alpha val="10000"/>
            </a:srgbClr>
          </a:solidFill>
          <a:ln w="12680" cap="flat">
            <a:solidFill>
              <a:srgbClr val="3368FF">
                <a:alpha val="50000"/>
              </a:srgbClr>
            </a:solidFill>
            <a:prstDash val="sysDash"/>
            <a:miter/>
          </a:ln>
        </p:spPr>
        <p:txBody>
          <a:bodyPr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21" name="文本框 120"/>
          <p:cNvSpPr txBox="1"/>
          <p:nvPr/>
        </p:nvSpPr>
        <p:spPr>
          <a:xfrm>
            <a:off x="2044700" y="1518285"/>
            <a:ext cx="1271905" cy="429895"/>
          </a:xfrm>
          <a:prstGeom prst="rect">
            <a:avLst/>
          </a:prstGeom>
          <a:noFill/>
        </p:spPr>
        <p:txBody>
          <a:bodyPr wrap="square" rtlCol="0">
            <a:spAutoFit/>
          </a:bodyPr>
          <a:lstStyle/>
          <a:p>
            <a:pPr indent="0" algn="ctr" fontAlgn="auto">
              <a:lnSpc>
                <a:spcPct val="100000"/>
              </a:lnSpc>
              <a:defRPr>
                <a:latin typeface="微软雅黑"/>
                <a:ea typeface="微软雅黑"/>
                <a:cs typeface="微软雅黑"/>
              </a:defRPr>
            </a:pPr>
            <a:r>
              <a:rPr lang="zh-CN" altLang="en-US" sz="1100" dirty="0">
                <a:solidFill>
                  <a:srgbClr val="383838"/>
                </a:solidFill>
                <a:latin typeface="微软雅黑"/>
                <a:ea typeface="微软雅黑"/>
                <a:cs typeface="微软雅黑"/>
              </a:rPr>
              <a:t>网点布局</a:t>
            </a: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网店运营</a:t>
            </a: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保险出险</a:t>
            </a:r>
            <a:endParaRPr lang="zh-CN" altLang="en-US" sz="1100" dirty="0">
              <a:solidFill>
                <a:srgbClr val="383838"/>
              </a:solidFill>
              <a:latin typeface="微软雅黑"/>
              <a:ea typeface="微软雅黑"/>
              <a:cs typeface="微软雅黑"/>
            </a:endParaRPr>
          </a:p>
        </p:txBody>
      </p:sp>
      <p:sp>
        <p:nvSpPr>
          <p:cNvPr id="122" name="文本框 121"/>
          <p:cNvSpPr txBox="1"/>
          <p:nvPr/>
        </p:nvSpPr>
        <p:spPr>
          <a:xfrm>
            <a:off x="3614420" y="1518285"/>
            <a:ext cx="1272540" cy="476250"/>
          </a:xfrm>
          <a:prstGeom prst="rect">
            <a:avLst/>
          </a:prstGeom>
          <a:noFill/>
        </p:spPr>
        <p:txBody>
          <a:bodyPr wrap="square" rtlCol="0">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区块派单/订单统</a:t>
            </a:r>
            <a:endParaRPr lang="zh-CN" altLang="en-US" sz="11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计/路径规划</a:t>
            </a:r>
            <a:endParaRPr lang="zh-CN" altLang="en-US" sz="1100" dirty="0">
              <a:solidFill>
                <a:srgbClr val="383838"/>
              </a:solidFill>
              <a:latin typeface="微软雅黑"/>
              <a:ea typeface="微软雅黑"/>
              <a:cs typeface="微软雅黑"/>
              <a:sym typeface="微软雅黑"/>
            </a:endParaRPr>
          </a:p>
        </p:txBody>
      </p:sp>
      <p:sp>
        <p:nvSpPr>
          <p:cNvPr id="123" name="文本框 122"/>
          <p:cNvSpPr txBox="1"/>
          <p:nvPr/>
        </p:nvSpPr>
        <p:spPr>
          <a:xfrm>
            <a:off x="5210175" y="1518285"/>
            <a:ext cx="1221740" cy="530860"/>
          </a:xfrm>
          <a:prstGeom prst="rect">
            <a:avLst/>
          </a:prstGeom>
          <a:noFill/>
        </p:spPr>
        <p:txBody>
          <a:bodyPr wrap="square" rtlCol="0">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业务拓展/营销片</a:t>
            </a:r>
            <a:endParaRPr lang="zh-CN" altLang="en-US" sz="11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区/外勤管理</a:t>
            </a:r>
            <a:endParaRPr lang="zh-CN" altLang="en-US" sz="1100" dirty="0">
              <a:solidFill>
                <a:srgbClr val="383838"/>
              </a:solidFill>
              <a:latin typeface="微软雅黑"/>
              <a:ea typeface="微软雅黑"/>
              <a:cs typeface="微软雅黑"/>
              <a:sym typeface="微软雅黑"/>
            </a:endParaRPr>
          </a:p>
        </p:txBody>
      </p:sp>
      <p:sp>
        <p:nvSpPr>
          <p:cNvPr id="124" name="文本框 123"/>
          <p:cNvSpPr txBox="1"/>
          <p:nvPr/>
        </p:nvSpPr>
        <p:spPr>
          <a:xfrm>
            <a:off x="6690360" y="1518285"/>
            <a:ext cx="1402080" cy="530860"/>
          </a:xfrm>
          <a:prstGeom prst="rect">
            <a:avLst/>
          </a:prstGeom>
          <a:noFill/>
        </p:spPr>
        <p:txBody>
          <a:bodyPr wrap="square" rtlCol="0">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社区作战/线下营</a:t>
            </a:r>
            <a:endParaRPr lang="zh-CN" altLang="en-US" sz="11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销/竞品分析</a:t>
            </a:r>
            <a:endParaRPr lang="zh-CN" altLang="en-US" sz="1100" dirty="0">
              <a:solidFill>
                <a:srgbClr val="383838"/>
              </a:solidFill>
              <a:latin typeface="微软雅黑"/>
              <a:ea typeface="微软雅黑"/>
              <a:cs typeface="微软雅黑"/>
              <a:sym typeface="微软雅黑"/>
            </a:endParaRPr>
          </a:p>
        </p:txBody>
      </p:sp>
      <p:sp>
        <p:nvSpPr>
          <p:cNvPr id="126" name="文本框 125"/>
          <p:cNvSpPr txBox="1"/>
          <p:nvPr/>
        </p:nvSpPr>
        <p:spPr>
          <a:xfrm>
            <a:off x="8308023" y="1518285"/>
            <a:ext cx="1306195" cy="530860"/>
          </a:xfrm>
          <a:prstGeom prst="rect">
            <a:avLst/>
          </a:prstGeom>
          <a:noFill/>
        </p:spPr>
        <p:txBody>
          <a:bodyPr wrap="square" rtlCol="0">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区块派单/订单统</a:t>
            </a:r>
            <a:endParaRPr lang="zh-CN" altLang="en-US" sz="11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计/电子围栏</a:t>
            </a:r>
            <a:endParaRPr lang="zh-CN" altLang="en-US" sz="1100" dirty="0">
              <a:solidFill>
                <a:srgbClr val="383838"/>
              </a:solidFill>
              <a:latin typeface="微软雅黑"/>
              <a:ea typeface="微软雅黑"/>
              <a:cs typeface="微软雅黑"/>
              <a:sym typeface="微软雅黑"/>
            </a:endParaRPr>
          </a:p>
        </p:txBody>
      </p:sp>
      <p:sp>
        <p:nvSpPr>
          <p:cNvPr id="127" name="文本框 126"/>
          <p:cNvSpPr txBox="1"/>
          <p:nvPr/>
        </p:nvSpPr>
        <p:spPr>
          <a:xfrm>
            <a:off x="9824403" y="1518285"/>
            <a:ext cx="1414145" cy="530860"/>
          </a:xfrm>
          <a:prstGeom prst="rect">
            <a:avLst/>
          </a:prstGeom>
          <a:noFill/>
        </p:spPr>
        <p:txBody>
          <a:bodyPr wrap="square" rtlCol="0">
            <a:noAutofit/>
          </a:bodyPr>
          <a:lstStyle/>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点位管理/空间检</a:t>
            </a:r>
            <a:endParaRPr lang="zh-CN" altLang="en-US" sz="11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索/权限管理</a:t>
            </a:r>
            <a:endParaRPr lang="zh-CN" altLang="en-US" sz="1100" dirty="0">
              <a:solidFill>
                <a:srgbClr val="383838"/>
              </a:solidFill>
              <a:latin typeface="微软雅黑"/>
              <a:ea typeface="微软雅黑"/>
              <a:cs typeface="微软雅黑"/>
              <a:sym typeface="微软雅黑"/>
            </a:endParaRPr>
          </a:p>
        </p:txBody>
      </p:sp>
      <p:sp>
        <p:nvSpPr>
          <p:cNvPr id="128" name="文本框 127"/>
          <p:cNvSpPr txBox="1"/>
          <p:nvPr/>
        </p:nvSpPr>
        <p:spPr>
          <a:xfrm>
            <a:off x="2397760" y="1195705"/>
            <a:ext cx="565150" cy="321945"/>
          </a:xfrm>
          <a:prstGeom prst="rect">
            <a:avLst/>
          </a:prstGeom>
          <a:noFill/>
        </p:spPr>
        <p:txBody>
          <a:bodyPr wrap="square" rtlCol="0">
            <a:spAutoFit/>
          </a:bodyPr>
          <a:lstStyle/>
          <a:p>
            <a:pPr algn="ctr">
              <a:defRPr>
                <a:latin typeface="微软雅黑"/>
                <a:ea typeface="微软雅黑"/>
                <a:cs typeface="微软雅黑"/>
              </a:defRPr>
            </a:pPr>
            <a:r>
              <a:rPr lang="zh-CN" altLang="en-US" sz="1500" b="1" dirty="0">
                <a:solidFill>
                  <a:srgbClr val="0042FF"/>
                </a:solidFill>
                <a:latin typeface="微软雅黑"/>
                <a:ea typeface="微软雅黑"/>
                <a:cs typeface="微软雅黑"/>
              </a:rPr>
              <a:t>金融</a:t>
            </a:r>
            <a:endParaRPr lang="zh-CN" altLang="en-US" sz="1500" b="1" dirty="0">
              <a:solidFill>
                <a:srgbClr val="0042FF"/>
              </a:solidFill>
              <a:latin typeface="微软雅黑"/>
              <a:ea typeface="微软雅黑"/>
              <a:cs typeface="微软雅黑"/>
            </a:endParaRPr>
          </a:p>
        </p:txBody>
      </p:sp>
      <p:sp>
        <p:nvSpPr>
          <p:cNvPr id="129" name="文本框 128"/>
          <p:cNvSpPr txBox="1"/>
          <p:nvPr/>
        </p:nvSpPr>
        <p:spPr>
          <a:xfrm>
            <a:off x="3894773" y="1195705"/>
            <a:ext cx="711835" cy="321945"/>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1500" b="1" dirty="0">
                <a:solidFill>
                  <a:srgbClr val="0042FF"/>
                </a:solidFill>
                <a:latin typeface="微软雅黑"/>
                <a:ea typeface="微软雅黑"/>
                <a:cs typeface="微软雅黑"/>
                <a:sym typeface="微软雅黑"/>
              </a:rPr>
              <a:t>家电</a:t>
            </a:r>
            <a:endParaRPr lang="zh-CN" altLang="en-US" sz="1500" b="1" dirty="0">
              <a:solidFill>
                <a:srgbClr val="0042FF"/>
              </a:solidFill>
              <a:latin typeface="微软雅黑"/>
              <a:ea typeface="微软雅黑"/>
              <a:cs typeface="微软雅黑"/>
              <a:sym typeface="微软雅黑"/>
            </a:endParaRPr>
          </a:p>
        </p:txBody>
      </p:sp>
      <p:sp>
        <p:nvSpPr>
          <p:cNvPr id="130" name="文本框 129"/>
          <p:cNvSpPr txBox="1"/>
          <p:nvPr/>
        </p:nvSpPr>
        <p:spPr>
          <a:xfrm>
            <a:off x="5440363" y="1195705"/>
            <a:ext cx="761365" cy="321945"/>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1500" b="1" dirty="0">
                <a:solidFill>
                  <a:srgbClr val="0042FF"/>
                </a:solidFill>
                <a:latin typeface="微软雅黑"/>
                <a:ea typeface="微软雅黑"/>
                <a:cs typeface="微软雅黑"/>
                <a:sym typeface="微软雅黑"/>
              </a:rPr>
              <a:t>零售</a:t>
            </a:r>
            <a:endParaRPr lang="zh-CN" altLang="en-US" sz="1500" b="1" dirty="0">
              <a:solidFill>
                <a:srgbClr val="0042FF"/>
              </a:solidFill>
              <a:latin typeface="微软雅黑"/>
              <a:ea typeface="微软雅黑"/>
              <a:cs typeface="微软雅黑"/>
              <a:sym typeface="微软雅黑"/>
            </a:endParaRPr>
          </a:p>
        </p:txBody>
      </p:sp>
      <p:sp>
        <p:nvSpPr>
          <p:cNvPr id="131" name="文本框 130"/>
          <p:cNvSpPr txBox="1"/>
          <p:nvPr/>
        </p:nvSpPr>
        <p:spPr>
          <a:xfrm>
            <a:off x="7009448" y="1195705"/>
            <a:ext cx="763905" cy="321945"/>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1500" b="1" dirty="0">
                <a:solidFill>
                  <a:srgbClr val="0042FF"/>
                </a:solidFill>
                <a:latin typeface="微软雅黑"/>
                <a:ea typeface="微软雅黑"/>
                <a:cs typeface="微软雅黑"/>
                <a:sym typeface="微软雅黑"/>
              </a:rPr>
              <a:t>O2O</a:t>
            </a:r>
            <a:endParaRPr lang="zh-CN" altLang="en-US" sz="1500" b="1" dirty="0">
              <a:solidFill>
                <a:srgbClr val="0042FF"/>
              </a:solidFill>
              <a:latin typeface="微软雅黑"/>
              <a:ea typeface="微软雅黑"/>
              <a:cs typeface="微软雅黑"/>
              <a:sym typeface="微软雅黑"/>
            </a:endParaRPr>
          </a:p>
        </p:txBody>
      </p:sp>
      <p:sp>
        <p:nvSpPr>
          <p:cNvPr id="132" name="文本框 131"/>
          <p:cNvSpPr txBox="1"/>
          <p:nvPr/>
        </p:nvSpPr>
        <p:spPr>
          <a:xfrm>
            <a:off x="8487410" y="1195705"/>
            <a:ext cx="947420" cy="321945"/>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1500" b="1" dirty="0">
                <a:solidFill>
                  <a:srgbClr val="0042FF"/>
                </a:solidFill>
                <a:latin typeface="微软雅黑"/>
                <a:ea typeface="微软雅黑"/>
                <a:cs typeface="微软雅黑"/>
                <a:sym typeface="微软雅黑"/>
              </a:rPr>
              <a:t>物流快递</a:t>
            </a:r>
            <a:endParaRPr lang="zh-CN" altLang="en-US" sz="1500" b="1" dirty="0">
              <a:solidFill>
                <a:srgbClr val="0042FF"/>
              </a:solidFill>
              <a:latin typeface="微软雅黑"/>
              <a:ea typeface="微软雅黑"/>
              <a:cs typeface="微软雅黑"/>
              <a:sym typeface="微软雅黑"/>
            </a:endParaRPr>
          </a:p>
        </p:txBody>
      </p:sp>
      <p:sp>
        <p:nvSpPr>
          <p:cNvPr id="139" name="文本框 138"/>
          <p:cNvSpPr txBox="1"/>
          <p:nvPr/>
        </p:nvSpPr>
        <p:spPr>
          <a:xfrm>
            <a:off x="10212705" y="1195705"/>
            <a:ext cx="637540" cy="321945"/>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1500" b="1" dirty="0">
                <a:solidFill>
                  <a:srgbClr val="0042FF"/>
                </a:solidFill>
                <a:latin typeface="微软雅黑"/>
                <a:ea typeface="微软雅黑"/>
                <a:cs typeface="微软雅黑"/>
                <a:sym typeface="微软雅黑"/>
              </a:rPr>
              <a:t>政府</a:t>
            </a:r>
            <a:endParaRPr lang="zh-CN" altLang="en-US" sz="1500" b="1" dirty="0">
              <a:solidFill>
                <a:srgbClr val="0042FF"/>
              </a:solidFill>
              <a:latin typeface="微软雅黑"/>
              <a:ea typeface="微软雅黑"/>
              <a:cs typeface="微软雅黑"/>
              <a:sym typeface="微软雅黑"/>
            </a:endParaRPr>
          </a:p>
        </p:txBody>
      </p:sp>
      <p:sp>
        <p:nvSpPr>
          <p:cNvPr id="140" name="圆角矩形 139"/>
          <p:cNvSpPr/>
          <p:nvPr/>
        </p:nvSpPr>
        <p:spPr>
          <a:xfrm>
            <a:off x="625475" y="2195830"/>
            <a:ext cx="10977245" cy="1981200"/>
          </a:xfrm>
          <a:prstGeom prst="roundRect">
            <a:avLst>
              <a:gd name="adj" fmla="val 0"/>
            </a:avLst>
          </a:prstGeom>
          <a:solidFill>
            <a:srgbClr val="FFFFFF"/>
          </a:solidFill>
          <a:ln w="6350">
            <a:solidFill>
              <a:srgbClr val="E6E6E6"/>
            </a:solidFill>
            <a:prstDash val="solid"/>
          </a:ln>
          <a:effectLst>
            <a:outerShdw blurRad="101600" sx="101000" sy="101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defTabSz="457200">
              <a:defRPr>
                <a:latin typeface="微软雅黑"/>
                <a:ea typeface="微软雅黑"/>
                <a:cs typeface="微软雅黑"/>
              </a:defRPr>
            </a:pPr>
            <a:endParaRPr kumimoji="1" lang="zh-CN" altLang="en-US" sz="1400" dirty="0">
              <a:solidFill>
                <a:srgbClr val="383838"/>
              </a:solidFill>
              <a:latin typeface="微软雅黑"/>
              <a:ea typeface="微软雅黑"/>
              <a:cs typeface="微软雅黑"/>
            </a:endParaRPr>
          </a:p>
        </p:txBody>
      </p:sp>
      <p:sp>
        <p:nvSpPr>
          <p:cNvPr id="144" name="圆角矩形 143"/>
          <p:cNvSpPr/>
          <p:nvPr/>
        </p:nvSpPr>
        <p:spPr>
          <a:xfrm>
            <a:off x="562610" y="2848615"/>
            <a:ext cx="1061085" cy="464185"/>
          </a:xfrm>
          <a:prstGeom prst="roundRect">
            <a:avLst>
              <a:gd name="adj" fmla="val 0"/>
            </a:avLst>
          </a:prstGeom>
          <a:gradFill flip="none" rotWithShape="1">
            <a:gsLst>
              <a:gs pos="0">
                <a:srgbClr val="668EFF"/>
              </a:gs>
              <a:gs pos="100000">
                <a:srgbClr val="3368FF"/>
              </a:gs>
            </a:gsLst>
            <a:lin ang="0" scaled="1"/>
            <a:tileRect/>
          </a:gradFill>
          <a:ln>
            <a:noFill/>
          </a:ln>
          <a:effectLst>
            <a:outerShdw blurRad="127000" dist="88900" dir="5400000" algn="t" rotWithShape="0">
              <a:srgbClr val="3368FF">
                <a:alpha val="3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200" dirty="0">
              <a:solidFill>
                <a:srgbClr val="FFFFFF"/>
              </a:solidFill>
              <a:latin typeface="微软雅黑"/>
              <a:ea typeface="微软雅黑"/>
              <a:cs typeface="微软雅黑"/>
              <a:sym typeface="微软雅黑"/>
            </a:endParaRPr>
          </a:p>
        </p:txBody>
      </p:sp>
      <p:sp>
        <p:nvSpPr>
          <p:cNvPr id="145" name="文本框 144"/>
          <p:cNvSpPr txBox="1"/>
          <p:nvPr/>
        </p:nvSpPr>
        <p:spPr>
          <a:xfrm>
            <a:off x="646113" y="2927355"/>
            <a:ext cx="894080" cy="306705"/>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u="none" strike="noStrike" kern="1200" cap="none" spc="0" normalizeH="0" baseline="0" noProof="0" dirty="0">
                <a:ln>
                  <a:noFill/>
                </a:ln>
                <a:solidFill>
                  <a:srgbClr val="FFFFFF"/>
                </a:solidFill>
                <a:effectLst/>
                <a:uLnTx/>
                <a:uFillTx/>
                <a:latin typeface="微软雅黑"/>
                <a:ea typeface="微软雅黑"/>
                <a:cs typeface="微软雅黑"/>
              </a:rPr>
              <a:t>运营提升</a:t>
            </a:r>
            <a:endParaRPr kumimoji="0" lang="zh-CN" altLang="en-US" sz="1400" b="1"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9" name="直角三角形 148"/>
          <p:cNvSpPr/>
          <p:nvPr/>
        </p:nvSpPr>
        <p:spPr>
          <a:xfrm flipH="1" flipV="1">
            <a:off x="562915" y="3313102"/>
            <a:ext cx="88824" cy="93277"/>
          </a:xfrm>
          <a:prstGeom prst="rtTriangle">
            <a:avLst/>
          </a:prstGeom>
          <a:solidFill>
            <a:srgbClr val="0042FF"/>
          </a:solidFill>
          <a:ln>
            <a:noFill/>
          </a:ln>
          <a:effectLst>
            <a:outerShdw blurRad="127000" dist="88900" dir="5400000" algn="t"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200" dirty="0">
              <a:solidFill>
                <a:srgbClr val="FFFFFF"/>
              </a:solidFill>
              <a:latin typeface="微软雅黑"/>
              <a:ea typeface="微软雅黑"/>
              <a:cs typeface="微软雅黑"/>
              <a:sym typeface="微软雅黑"/>
            </a:endParaRPr>
          </a:p>
        </p:txBody>
      </p:sp>
      <p:sp>
        <p:nvSpPr>
          <p:cNvPr id="239" name="紫荆的职场Point11"/>
          <p:cNvSpPr/>
          <p:nvPr/>
        </p:nvSpPr>
        <p:spPr>
          <a:xfrm>
            <a:off x="1962150" y="2300605"/>
            <a:ext cx="3167380" cy="1757045"/>
          </a:xfrm>
          <a:prstGeom prst="roundRect">
            <a:avLst>
              <a:gd name="adj" fmla="val 2622"/>
            </a:avLst>
          </a:prstGeom>
          <a:solidFill>
            <a:srgbClr val="FFFFFF">
              <a:alpha val="50000"/>
            </a:srgbClr>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40" name="矩形: 圆角 19"/>
          <p:cNvSpPr/>
          <p:nvPr/>
        </p:nvSpPr>
        <p:spPr>
          <a:xfrm flipH="1">
            <a:off x="2360295" y="2365375"/>
            <a:ext cx="2477770" cy="386715"/>
          </a:xfrm>
          <a:prstGeom prst="roundRect">
            <a:avLst>
              <a:gd name="adj" fmla="val 18324"/>
            </a:avLst>
          </a:prstGeom>
          <a:solidFill>
            <a:srgbClr val="3368FF"/>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sym typeface="微软雅黑"/>
              </a:rPr>
              <a:t>创意序列化，强化心智影响</a:t>
            </a:r>
            <a:endParaRPr lang="zh-CN" altLang="en-US" sz="1200" b="1" dirty="0">
              <a:solidFill>
                <a:srgbClr val="FFFFFF"/>
              </a:solidFill>
              <a:effectLst/>
              <a:latin typeface="微软雅黑"/>
              <a:ea typeface="微软雅黑"/>
              <a:cs typeface="微软雅黑"/>
              <a:sym typeface="微软雅黑"/>
            </a:endParaRPr>
          </a:p>
        </p:txBody>
      </p:sp>
      <p:sp>
        <p:nvSpPr>
          <p:cNvPr id="241" name="矩形: 圆角 25"/>
          <p:cNvSpPr/>
          <p:nvPr/>
        </p:nvSpPr>
        <p:spPr>
          <a:xfrm>
            <a:off x="2306955" y="2847340"/>
            <a:ext cx="1038225" cy="275590"/>
          </a:xfrm>
          <a:prstGeom prst="roundRect">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50" u="none" strike="noStrike" kern="1200" cap="none" spc="0" normalizeH="0" baseline="0" noProof="0" dirty="0">
                <a:ln>
                  <a:noFill/>
                </a:ln>
                <a:solidFill>
                  <a:srgbClr val="0042FF"/>
                </a:solidFill>
                <a:effectLst/>
                <a:uLnTx/>
                <a:uFillTx/>
                <a:latin typeface="微软雅黑"/>
                <a:ea typeface="微软雅黑"/>
                <a:cs typeface="微软雅黑"/>
              </a:rPr>
              <a:t>素材序列</a:t>
            </a:r>
            <a:r>
              <a:rPr kumimoji="0" lang="en-US" altLang="zh-CN" sz="1050" u="none" strike="noStrike" kern="1200" cap="none" spc="0" normalizeH="0" baseline="0" noProof="0" dirty="0">
                <a:ln>
                  <a:noFill/>
                </a:ln>
                <a:solidFill>
                  <a:srgbClr val="0042FF"/>
                </a:solidFill>
                <a:effectLst/>
                <a:uLnTx/>
                <a:uFillTx/>
                <a:latin typeface="微软雅黑"/>
                <a:ea typeface="微软雅黑"/>
                <a:cs typeface="微软雅黑"/>
              </a:rPr>
              <a:t>1</a:t>
            </a:r>
            <a:endParaRPr kumimoji="0" lang="en-US" altLang="zh-CN" sz="105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42" name="矩形: 圆角 29"/>
          <p:cNvSpPr/>
          <p:nvPr/>
        </p:nvSpPr>
        <p:spPr>
          <a:xfrm>
            <a:off x="2306955" y="3262630"/>
            <a:ext cx="1038225" cy="275590"/>
          </a:xfrm>
          <a:prstGeom prst="roundRect">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50" u="none" strike="noStrike" kern="1200" cap="none" spc="0" normalizeH="0" baseline="0" noProof="0" dirty="0">
                <a:ln>
                  <a:noFill/>
                </a:ln>
                <a:solidFill>
                  <a:srgbClr val="0042FF"/>
                </a:solidFill>
                <a:effectLst/>
                <a:uLnTx/>
                <a:uFillTx/>
                <a:latin typeface="微软雅黑"/>
                <a:ea typeface="微软雅黑"/>
                <a:cs typeface="微软雅黑"/>
              </a:rPr>
              <a:t>素材序列</a:t>
            </a:r>
            <a:r>
              <a:rPr kumimoji="0" lang="en-US" altLang="zh-CN" sz="1050" u="none" strike="noStrike" kern="1200" cap="none" spc="0" normalizeH="0" baseline="0" noProof="0" dirty="0">
                <a:ln>
                  <a:noFill/>
                </a:ln>
                <a:solidFill>
                  <a:srgbClr val="0042FF"/>
                </a:solidFill>
                <a:effectLst/>
                <a:uLnTx/>
                <a:uFillTx/>
                <a:latin typeface="微软雅黑"/>
                <a:ea typeface="微软雅黑"/>
                <a:cs typeface="微软雅黑"/>
              </a:rPr>
              <a:t>2</a:t>
            </a:r>
            <a:endParaRPr kumimoji="0" lang="en-US" altLang="zh-CN" sz="105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43" name="矩形: 圆角 31"/>
          <p:cNvSpPr/>
          <p:nvPr/>
        </p:nvSpPr>
        <p:spPr>
          <a:xfrm>
            <a:off x="2306955" y="3677920"/>
            <a:ext cx="1038225" cy="275590"/>
          </a:xfrm>
          <a:prstGeom prst="roundRect">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50" u="none" strike="noStrike" kern="1200" cap="none" spc="0" normalizeH="0" baseline="0" noProof="0" dirty="0">
                <a:ln>
                  <a:noFill/>
                </a:ln>
                <a:solidFill>
                  <a:srgbClr val="0042FF"/>
                </a:solidFill>
                <a:effectLst/>
                <a:uLnTx/>
                <a:uFillTx/>
                <a:latin typeface="微软雅黑"/>
                <a:ea typeface="微软雅黑"/>
                <a:cs typeface="微软雅黑"/>
              </a:rPr>
              <a:t>素材序列</a:t>
            </a:r>
            <a:r>
              <a:rPr kumimoji="0" lang="en-US" altLang="zh-CN" sz="1050" u="none" strike="noStrike" kern="1200" cap="none" spc="0" normalizeH="0" baseline="0" noProof="0" dirty="0">
                <a:ln>
                  <a:noFill/>
                </a:ln>
                <a:solidFill>
                  <a:srgbClr val="0042FF"/>
                </a:solidFill>
                <a:effectLst/>
                <a:uLnTx/>
                <a:uFillTx/>
                <a:latin typeface="微软雅黑"/>
                <a:ea typeface="微软雅黑"/>
                <a:cs typeface="微软雅黑"/>
              </a:rPr>
              <a:t>3</a:t>
            </a:r>
            <a:endParaRPr kumimoji="0" lang="en-US" altLang="zh-CN" sz="105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44" name="矩形: 圆角 34"/>
          <p:cNvSpPr/>
          <p:nvPr/>
        </p:nvSpPr>
        <p:spPr>
          <a:xfrm>
            <a:off x="3797300" y="2861310"/>
            <a:ext cx="1066800" cy="275590"/>
          </a:xfrm>
          <a:prstGeom prst="roundRect">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50" u="none" strike="noStrike" kern="1200" cap="none" spc="0" normalizeH="0" baseline="0" noProof="0" dirty="0">
                <a:ln>
                  <a:noFill/>
                </a:ln>
                <a:solidFill>
                  <a:srgbClr val="383838"/>
                </a:solidFill>
                <a:effectLst/>
                <a:uLnTx/>
                <a:uFillTx/>
                <a:latin typeface="微软雅黑"/>
                <a:ea typeface="微软雅黑"/>
                <a:cs typeface="微软雅黑"/>
              </a:rPr>
              <a:t>品牌认知</a:t>
            </a:r>
            <a:endParaRPr kumimoji="0" lang="zh-CN" altLang="en-US" sz="105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5" name="矩形: 圆角 35"/>
          <p:cNvSpPr/>
          <p:nvPr/>
        </p:nvSpPr>
        <p:spPr>
          <a:xfrm>
            <a:off x="3797300" y="3276600"/>
            <a:ext cx="1066800" cy="275590"/>
          </a:xfrm>
          <a:prstGeom prst="roundRect">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50" u="none" strike="noStrike" kern="1200" cap="none" spc="0" normalizeH="0" baseline="0" noProof="0" dirty="0">
                <a:ln>
                  <a:noFill/>
                </a:ln>
                <a:solidFill>
                  <a:srgbClr val="383838"/>
                </a:solidFill>
                <a:effectLst/>
                <a:uLnTx/>
                <a:uFillTx/>
                <a:latin typeface="微软雅黑"/>
                <a:ea typeface="微软雅黑"/>
                <a:cs typeface="微软雅黑"/>
              </a:rPr>
              <a:t>了解产品</a:t>
            </a:r>
            <a:endParaRPr kumimoji="0" lang="zh-CN" altLang="en-US" sz="105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58" name="矩形: 圆角 36"/>
          <p:cNvSpPr/>
          <p:nvPr/>
        </p:nvSpPr>
        <p:spPr>
          <a:xfrm>
            <a:off x="3797300" y="3691890"/>
            <a:ext cx="1066800" cy="275590"/>
          </a:xfrm>
          <a:prstGeom prst="roundRect">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50" u="none" strike="noStrike" kern="1200" cap="none" spc="0" normalizeH="0" baseline="0" noProof="0" dirty="0">
                <a:ln>
                  <a:noFill/>
                </a:ln>
                <a:solidFill>
                  <a:srgbClr val="383838"/>
                </a:solidFill>
                <a:effectLst/>
                <a:uLnTx/>
                <a:uFillTx/>
                <a:latin typeface="微软雅黑"/>
                <a:ea typeface="微软雅黑"/>
                <a:cs typeface="微软雅黑"/>
              </a:rPr>
              <a:t>吸引询购</a:t>
            </a:r>
            <a:endParaRPr kumimoji="0" lang="zh-CN" altLang="en-US" sz="105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63" name="直接连接符 262"/>
          <p:cNvCxnSpPr/>
          <p:nvPr/>
        </p:nvCxnSpPr>
        <p:spPr>
          <a:xfrm>
            <a:off x="3544570" y="2861310"/>
            <a:ext cx="0" cy="1096010"/>
          </a:xfrm>
          <a:prstGeom prst="line">
            <a:avLst/>
          </a:prstGeom>
          <a:noFill/>
          <a:ln w="31750" cap="rnd">
            <a:gradFill flip="none" rotWithShape="1">
              <a:gsLst>
                <a:gs pos="0">
                  <a:srgbClr val="3368FF"/>
                </a:gs>
                <a:gs pos="99000">
                  <a:srgbClr val="3368FF">
                    <a:alpha val="0"/>
                  </a:srgbClr>
                </a:gs>
              </a:gsLst>
              <a:lin ang="16200000" scaled="1"/>
              <a:tileRect/>
            </a:gradFill>
            <a:tailEnd type="arrow"/>
          </a:ln>
        </p:spPr>
        <p:style>
          <a:lnRef idx="2">
            <a:srgbClr val="0042FF"/>
          </a:lnRef>
          <a:fillRef idx="1">
            <a:srgbClr val="0042FF"/>
          </a:fillRef>
          <a:effectRef idx="0">
            <a:srgbClr val="0042FF"/>
          </a:effectRef>
          <a:fontRef idx="minor">
            <a:srgbClr val="FFFFFF"/>
          </a:fontRef>
        </p:style>
      </p:cxnSp>
      <p:sp>
        <p:nvSpPr>
          <p:cNvPr id="278" name="紫荆的职场Point11"/>
          <p:cNvSpPr/>
          <p:nvPr/>
        </p:nvSpPr>
        <p:spPr>
          <a:xfrm>
            <a:off x="5245735" y="2300605"/>
            <a:ext cx="2545715" cy="1757045"/>
          </a:xfrm>
          <a:prstGeom prst="roundRect">
            <a:avLst>
              <a:gd name="adj" fmla="val 2622"/>
            </a:avLst>
          </a:prstGeom>
          <a:solidFill>
            <a:srgbClr val="FFFFFF">
              <a:alpha val="5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83" name="矩形: 圆角 19"/>
          <p:cNvSpPr/>
          <p:nvPr/>
        </p:nvSpPr>
        <p:spPr>
          <a:xfrm flipH="1">
            <a:off x="5390515" y="2365375"/>
            <a:ext cx="2257425" cy="386715"/>
          </a:xfrm>
          <a:prstGeom prst="roundRect">
            <a:avLst>
              <a:gd name="adj" fmla="val 18324"/>
            </a:avLst>
          </a:prstGeom>
          <a:solidFill>
            <a:srgbClr val="B3D4FE"/>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dirty="0">
                <a:solidFill>
                  <a:srgbClr val="383838"/>
                </a:solidFill>
                <a:effectLst/>
                <a:latin typeface="微软雅黑"/>
                <a:ea typeface="微软雅黑"/>
                <a:cs typeface="微软雅黑"/>
                <a:sym typeface="微软雅黑"/>
              </a:rPr>
              <a:t>创意轮播，助力展现多维内容</a:t>
            </a:r>
            <a:endParaRPr lang="zh-CN" altLang="en-US" sz="1200" b="1" dirty="0">
              <a:solidFill>
                <a:srgbClr val="383838"/>
              </a:solidFill>
              <a:effectLst/>
              <a:latin typeface="微软雅黑"/>
              <a:ea typeface="微软雅黑"/>
              <a:cs typeface="微软雅黑"/>
              <a:sym typeface="微软雅黑"/>
            </a:endParaRPr>
          </a:p>
        </p:txBody>
      </p:sp>
      <p:sp>
        <p:nvSpPr>
          <p:cNvPr id="284" name="矩形: 圆角 46"/>
          <p:cNvSpPr/>
          <p:nvPr/>
        </p:nvSpPr>
        <p:spPr>
          <a:xfrm>
            <a:off x="6184265" y="2871470"/>
            <a:ext cx="663575" cy="235585"/>
          </a:xfrm>
          <a:prstGeom prst="round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素材1</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285" name="矩形: 圆角 47"/>
          <p:cNvSpPr/>
          <p:nvPr/>
        </p:nvSpPr>
        <p:spPr>
          <a:xfrm>
            <a:off x="5633085" y="3383915"/>
            <a:ext cx="663575" cy="235585"/>
          </a:xfrm>
          <a:prstGeom prst="round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素材2</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287" name="矩形: 圆角 48"/>
          <p:cNvSpPr/>
          <p:nvPr/>
        </p:nvSpPr>
        <p:spPr>
          <a:xfrm>
            <a:off x="6781800" y="3383915"/>
            <a:ext cx="663575" cy="235585"/>
          </a:xfrm>
          <a:prstGeom prst="roundRect">
            <a:avLst/>
          </a:prstGeom>
          <a:solidFill>
            <a:srgbClr val="FFFFFF"/>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素材3</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288" name="弧形 287"/>
          <p:cNvSpPr/>
          <p:nvPr/>
        </p:nvSpPr>
        <p:spPr>
          <a:xfrm rot="10800000" flipH="1" flipV="1">
            <a:off x="6589395" y="3020060"/>
            <a:ext cx="598170" cy="611505"/>
          </a:xfrm>
          <a:prstGeom prst="arc">
            <a:avLst/>
          </a:prstGeom>
          <a:noFill/>
          <a:ln w="31750" cap="rnd">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0042FF"/>
              </a:solidFill>
              <a:effectLst/>
              <a:uLnTx/>
              <a:uFillTx/>
              <a:latin typeface="微软雅黑"/>
              <a:ea typeface="微软雅黑"/>
              <a:cs typeface="微软雅黑"/>
              <a:sym typeface="微软雅黑"/>
            </a:endParaRPr>
          </a:p>
        </p:txBody>
      </p:sp>
      <p:sp>
        <p:nvSpPr>
          <p:cNvPr id="289" name="弧形 288"/>
          <p:cNvSpPr/>
          <p:nvPr/>
        </p:nvSpPr>
        <p:spPr>
          <a:xfrm rot="13528765" flipH="1">
            <a:off x="6099810" y="2973705"/>
            <a:ext cx="844550" cy="824865"/>
          </a:xfrm>
          <a:prstGeom prst="arc">
            <a:avLst/>
          </a:prstGeom>
          <a:noFill/>
          <a:ln w="31750" cap="rnd">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0042FF"/>
              </a:solidFill>
              <a:effectLst/>
              <a:uLnTx/>
              <a:uFillTx/>
              <a:latin typeface="微软雅黑"/>
              <a:ea typeface="微软雅黑"/>
              <a:cs typeface="微软雅黑"/>
              <a:sym typeface="微软雅黑"/>
            </a:endParaRPr>
          </a:p>
        </p:txBody>
      </p:sp>
      <p:sp>
        <p:nvSpPr>
          <p:cNvPr id="296" name="弧形 295"/>
          <p:cNvSpPr/>
          <p:nvPr/>
        </p:nvSpPr>
        <p:spPr>
          <a:xfrm flipH="1">
            <a:off x="5853430" y="3027045"/>
            <a:ext cx="598170" cy="611505"/>
          </a:xfrm>
          <a:prstGeom prst="arc">
            <a:avLst/>
          </a:prstGeom>
          <a:noFill/>
          <a:ln w="31750" cap="rnd">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317" name="紫荆的职场Point11"/>
          <p:cNvSpPr/>
          <p:nvPr/>
        </p:nvSpPr>
        <p:spPr>
          <a:xfrm>
            <a:off x="7906385" y="2300605"/>
            <a:ext cx="3327400" cy="1757045"/>
          </a:xfrm>
          <a:prstGeom prst="roundRect">
            <a:avLst>
              <a:gd name="adj" fmla="val 2622"/>
            </a:avLst>
          </a:prstGeom>
          <a:solidFill>
            <a:srgbClr val="FFFFFF">
              <a:alpha val="50000"/>
            </a:srgbClr>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18" name="矩形: 圆角 19"/>
          <p:cNvSpPr/>
          <p:nvPr/>
        </p:nvSpPr>
        <p:spPr>
          <a:xfrm flipH="1">
            <a:off x="8378190" y="2365375"/>
            <a:ext cx="2477770" cy="386715"/>
          </a:xfrm>
          <a:prstGeom prst="roundRect">
            <a:avLst>
              <a:gd name="adj" fmla="val 18324"/>
            </a:avLst>
          </a:prstGeom>
          <a:solidFill>
            <a:srgbClr val="3368FF"/>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lang="zh-CN" altLang="en-US" sz="1200" b="1" noProof="0" dirty="0">
                <a:ln>
                  <a:noFill/>
                </a:ln>
                <a:solidFill>
                  <a:srgbClr val="FFFFFF"/>
                </a:solidFill>
                <a:effectLst/>
                <a:uLnTx/>
                <a:uFillTx/>
                <a:latin typeface="微软雅黑"/>
                <a:ea typeface="微软雅黑"/>
                <a:cs typeface="微软雅黑"/>
                <a:sym typeface="微软雅黑"/>
              </a:rPr>
              <a:t>基于实时库存动态优选</a:t>
            </a:r>
            <a:endParaRPr lang="zh-CN" altLang="en-US" sz="1200" b="1" dirty="0">
              <a:solidFill>
                <a:srgbClr val="FFFFFF"/>
              </a:solidFill>
              <a:effectLst/>
              <a:latin typeface="微软雅黑"/>
              <a:ea typeface="微软雅黑"/>
              <a:cs typeface="微软雅黑"/>
              <a:sym typeface="微软雅黑"/>
            </a:endParaRPr>
          </a:p>
        </p:txBody>
      </p:sp>
      <p:graphicFrame>
        <p:nvGraphicFramePr>
          <p:cNvPr id="319" name="图表 318"/>
          <p:cNvGraphicFramePr/>
          <p:nvPr/>
        </p:nvGraphicFramePr>
        <p:xfrm>
          <a:off x="9341485" y="2766060"/>
          <a:ext cx="1665605" cy="1262380"/>
        </p:xfrm>
        <a:graphic>
          <a:graphicData uri="http://schemas.openxmlformats.org/drawingml/2006/chart">
            <c:chart xmlns:c="http://schemas.openxmlformats.org/drawingml/2006/chart" xmlns:r="http://schemas.openxmlformats.org/officeDocument/2006/relationships" r:id="rId1"/>
          </a:graphicData>
        </a:graphic>
      </p:graphicFrame>
      <p:pic>
        <p:nvPicPr>
          <p:cNvPr id="320" name="图形 71"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59725" y="2867025"/>
            <a:ext cx="219710" cy="234315"/>
          </a:xfrm>
          <a:prstGeom prst="rect">
            <a:avLst/>
          </a:prstGeom>
        </p:spPr>
      </p:pic>
      <p:pic>
        <p:nvPicPr>
          <p:cNvPr id="321" name="图形 72" descr="用户 纯色填充"/>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157210" y="2867025"/>
            <a:ext cx="219710" cy="234315"/>
          </a:xfrm>
          <a:prstGeom prst="rect">
            <a:avLst/>
          </a:prstGeom>
        </p:spPr>
      </p:pic>
      <p:pic>
        <p:nvPicPr>
          <p:cNvPr id="322" name="图形 73"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355330" y="2867025"/>
            <a:ext cx="219710" cy="234315"/>
          </a:xfrm>
          <a:prstGeom prst="rect">
            <a:avLst/>
          </a:prstGeom>
        </p:spPr>
      </p:pic>
      <p:pic>
        <p:nvPicPr>
          <p:cNvPr id="323" name="图形 74"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52815" y="2867025"/>
            <a:ext cx="219710" cy="234315"/>
          </a:xfrm>
          <a:prstGeom prst="rect">
            <a:avLst/>
          </a:prstGeom>
        </p:spPr>
      </p:pic>
      <p:pic>
        <p:nvPicPr>
          <p:cNvPr id="324" name="图形 75"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750935" y="2867025"/>
            <a:ext cx="219710" cy="234315"/>
          </a:xfrm>
          <a:prstGeom prst="rect">
            <a:avLst/>
          </a:prstGeom>
        </p:spPr>
      </p:pic>
      <p:pic>
        <p:nvPicPr>
          <p:cNvPr id="325" name="图形 76"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48420" y="2867025"/>
            <a:ext cx="219710" cy="234315"/>
          </a:xfrm>
          <a:prstGeom prst="rect">
            <a:avLst/>
          </a:prstGeom>
        </p:spPr>
      </p:pic>
      <p:pic>
        <p:nvPicPr>
          <p:cNvPr id="326" name="图形 79"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959725" y="3121660"/>
            <a:ext cx="219710" cy="234315"/>
          </a:xfrm>
          <a:prstGeom prst="rect">
            <a:avLst/>
          </a:prstGeom>
        </p:spPr>
      </p:pic>
      <p:pic>
        <p:nvPicPr>
          <p:cNvPr id="327" name="图形 80" descr="用户 纯色填充"/>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157210" y="3121660"/>
            <a:ext cx="219710" cy="234315"/>
          </a:xfrm>
          <a:prstGeom prst="rect">
            <a:avLst/>
          </a:prstGeom>
        </p:spPr>
      </p:pic>
      <p:pic>
        <p:nvPicPr>
          <p:cNvPr id="328" name="图形 81"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355330" y="3121660"/>
            <a:ext cx="219710" cy="234315"/>
          </a:xfrm>
          <a:prstGeom prst="rect">
            <a:avLst/>
          </a:prstGeom>
        </p:spPr>
      </p:pic>
      <p:pic>
        <p:nvPicPr>
          <p:cNvPr id="329" name="图形 82" descr="用户 纯色填充"/>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8552815" y="3121660"/>
            <a:ext cx="219710" cy="234315"/>
          </a:xfrm>
          <a:prstGeom prst="rect">
            <a:avLst/>
          </a:prstGeom>
        </p:spPr>
      </p:pic>
      <p:pic>
        <p:nvPicPr>
          <p:cNvPr id="330" name="图形 83"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750935" y="3121660"/>
            <a:ext cx="219710" cy="234315"/>
          </a:xfrm>
          <a:prstGeom prst="rect">
            <a:avLst/>
          </a:prstGeom>
        </p:spPr>
      </p:pic>
      <p:pic>
        <p:nvPicPr>
          <p:cNvPr id="331" name="图形 84" descr="用户 纯色填充"/>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48420" y="3121660"/>
            <a:ext cx="219710" cy="234315"/>
          </a:xfrm>
          <a:prstGeom prst="rect">
            <a:avLst/>
          </a:prstGeom>
        </p:spPr>
      </p:pic>
      <p:pic>
        <p:nvPicPr>
          <p:cNvPr id="332" name="图形 87"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959725" y="3387090"/>
            <a:ext cx="219710" cy="234315"/>
          </a:xfrm>
          <a:prstGeom prst="rect">
            <a:avLst/>
          </a:prstGeom>
        </p:spPr>
      </p:pic>
      <p:pic>
        <p:nvPicPr>
          <p:cNvPr id="335" name="图形 88" descr="用户 纯色填充"/>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8157210" y="3387090"/>
            <a:ext cx="219710" cy="234315"/>
          </a:xfrm>
          <a:prstGeom prst="rect">
            <a:avLst/>
          </a:prstGeom>
        </p:spPr>
      </p:pic>
      <p:pic>
        <p:nvPicPr>
          <p:cNvPr id="338" name="图形 89"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8355330" y="3387090"/>
            <a:ext cx="219710" cy="234315"/>
          </a:xfrm>
          <a:prstGeom prst="rect">
            <a:avLst/>
          </a:prstGeom>
        </p:spPr>
      </p:pic>
      <p:pic>
        <p:nvPicPr>
          <p:cNvPr id="341" name="图形 90"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552815" y="3387090"/>
            <a:ext cx="219710" cy="234315"/>
          </a:xfrm>
          <a:prstGeom prst="rect">
            <a:avLst/>
          </a:prstGeom>
        </p:spPr>
      </p:pic>
      <p:pic>
        <p:nvPicPr>
          <p:cNvPr id="344" name="图形 91" descr="用户 纯色填充"/>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750935" y="3387090"/>
            <a:ext cx="219710" cy="234315"/>
          </a:xfrm>
          <a:prstGeom prst="rect">
            <a:avLst/>
          </a:prstGeom>
        </p:spPr>
      </p:pic>
      <p:pic>
        <p:nvPicPr>
          <p:cNvPr id="347" name="图形 92"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8948420" y="3387090"/>
            <a:ext cx="219710" cy="234315"/>
          </a:xfrm>
          <a:prstGeom prst="rect">
            <a:avLst/>
          </a:prstGeom>
        </p:spPr>
      </p:pic>
      <p:pic>
        <p:nvPicPr>
          <p:cNvPr id="350" name="图形 95"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7959725" y="3663315"/>
            <a:ext cx="219710" cy="234315"/>
          </a:xfrm>
          <a:prstGeom prst="rect">
            <a:avLst/>
          </a:prstGeom>
        </p:spPr>
      </p:pic>
      <p:pic>
        <p:nvPicPr>
          <p:cNvPr id="353" name="图形 96" descr="用户 纯色填充"/>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8157210" y="3663315"/>
            <a:ext cx="219710" cy="234315"/>
          </a:xfrm>
          <a:prstGeom prst="rect">
            <a:avLst/>
          </a:prstGeom>
        </p:spPr>
      </p:pic>
      <p:pic>
        <p:nvPicPr>
          <p:cNvPr id="356" name="图形 97"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355330" y="3663315"/>
            <a:ext cx="219710" cy="234315"/>
          </a:xfrm>
          <a:prstGeom prst="rect">
            <a:avLst/>
          </a:prstGeom>
        </p:spPr>
      </p:pic>
      <p:pic>
        <p:nvPicPr>
          <p:cNvPr id="359" name="图形 98"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8552815" y="3663315"/>
            <a:ext cx="219710" cy="234315"/>
          </a:xfrm>
          <a:prstGeom prst="rect">
            <a:avLst/>
          </a:prstGeom>
        </p:spPr>
      </p:pic>
      <p:pic>
        <p:nvPicPr>
          <p:cNvPr id="362" name="图形 99"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750935" y="3663315"/>
            <a:ext cx="219710" cy="234315"/>
          </a:xfrm>
          <a:prstGeom prst="rect">
            <a:avLst/>
          </a:prstGeom>
        </p:spPr>
      </p:pic>
      <p:pic>
        <p:nvPicPr>
          <p:cNvPr id="365" name="图形 100" descr="用户 纯色填充"/>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8948420" y="3663315"/>
            <a:ext cx="219710" cy="234315"/>
          </a:xfrm>
          <a:prstGeom prst="rect">
            <a:avLst/>
          </a:prstGeom>
        </p:spPr>
      </p:pic>
      <p:sp>
        <p:nvSpPr>
          <p:cNvPr id="368" name="箭头: 右 68"/>
          <p:cNvSpPr/>
          <p:nvPr/>
        </p:nvSpPr>
        <p:spPr>
          <a:xfrm rot="5400000" flipH="1">
            <a:off x="10000615" y="2545080"/>
            <a:ext cx="358140" cy="797560"/>
          </a:xfrm>
          <a:prstGeom prst="rightArrow">
            <a:avLst>
              <a:gd name="adj1" fmla="val 73539"/>
              <a:gd name="adj2" fmla="val 70643"/>
            </a:avLst>
          </a:prstGeom>
          <a:gradFill>
            <a:gsLst>
              <a:gs pos="0">
                <a:srgbClr val="3368FF">
                  <a:alpha val="0"/>
                </a:srgbClr>
              </a:gs>
              <a:gs pos="99000">
                <a:srgbClr val="3368FF"/>
              </a:gs>
            </a:gsLst>
            <a:lin ang="0" scaled="1"/>
          </a:gradFill>
          <a:ln w="12700" cap="flat" cmpd="sng" algn="ctr">
            <a:gradFill flip="none" rotWithShape="1">
              <a:gsLst>
                <a:gs pos="0">
                  <a:srgbClr val="3368FF">
                    <a:alpha val="0"/>
                  </a:srgbClr>
                </a:gs>
                <a:gs pos="99000">
                  <a:srgbClr val="3368FF"/>
                </a:gs>
              </a:gsLst>
              <a:lin ang="0" scaled="1"/>
              <a:tileRect/>
            </a:gradFill>
            <a:prstDash val="solid"/>
            <a:miter lim="800000"/>
          </a:ln>
          <a:effectLst/>
        </p:spPr>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371" name="圆角矩形 370"/>
          <p:cNvSpPr/>
          <p:nvPr/>
        </p:nvSpPr>
        <p:spPr>
          <a:xfrm>
            <a:off x="632460" y="4281170"/>
            <a:ext cx="10971530" cy="1500505"/>
          </a:xfrm>
          <a:prstGeom prst="roundRect">
            <a:avLst>
              <a:gd name="adj" fmla="val 0"/>
            </a:avLst>
          </a:prstGeom>
          <a:solidFill>
            <a:srgbClr val="FFFFFF"/>
          </a:solidFill>
          <a:ln w="6350">
            <a:solidFill>
              <a:srgbClr val="E6E6E6"/>
            </a:solidFill>
            <a:prstDash val="solid"/>
          </a:ln>
          <a:effectLst>
            <a:outerShdw blurRad="101600" sx="101000" sy="101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endParaRPr kumimoji="1" lang="zh-CN" altLang="en-US" sz="1400" dirty="0">
              <a:solidFill>
                <a:srgbClr val="383838"/>
              </a:solidFill>
              <a:latin typeface="微软雅黑"/>
              <a:ea typeface="微软雅黑"/>
              <a:cs typeface="微软雅黑"/>
              <a:sym typeface="微软雅黑"/>
            </a:endParaRPr>
          </a:p>
        </p:txBody>
      </p:sp>
      <p:sp>
        <p:nvSpPr>
          <p:cNvPr id="374" name="圆角矩形 373"/>
          <p:cNvSpPr/>
          <p:nvPr/>
        </p:nvSpPr>
        <p:spPr>
          <a:xfrm>
            <a:off x="562610" y="4705355"/>
            <a:ext cx="1061085" cy="464185"/>
          </a:xfrm>
          <a:prstGeom prst="roundRect">
            <a:avLst>
              <a:gd name="adj" fmla="val 0"/>
            </a:avLst>
          </a:prstGeom>
          <a:gradFill flip="none" rotWithShape="1">
            <a:gsLst>
              <a:gs pos="0">
                <a:srgbClr val="668EFF"/>
              </a:gs>
              <a:gs pos="100000">
                <a:srgbClr val="3368FF"/>
              </a:gs>
            </a:gsLst>
            <a:lin ang="0" scaled="1"/>
            <a:tileRect/>
          </a:gradFill>
          <a:ln>
            <a:noFill/>
          </a:ln>
          <a:effectLst>
            <a:outerShdw blurRad="127000" dist="88900" dir="5400000" algn="t" rotWithShape="0">
              <a:srgbClr val="3368FF">
                <a:alpha val="3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200" dirty="0">
              <a:solidFill>
                <a:srgbClr val="FFFFFF"/>
              </a:solidFill>
              <a:latin typeface="微软雅黑"/>
              <a:ea typeface="微软雅黑"/>
              <a:cs typeface="微软雅黑"/>
              <a:sym typeface="微软雅黑"/>
            </a:endParaRPr>
          </a:p>
        </p:txBody>
      </p:sp>
      <p:sp>
        <p:nvSpPr>
          <p:cNvPr id="377" name="文本框 376"/>
          <p:cNvSpPr txBox="1"/>
          <p:nvPr/>
        </p:nvSpPr>
        <p:spPr>
          <a:xfrm>
            <a:off x="646113" y="4784095"/>
            <a:ext cx="894080" cy="306705"/>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u="none" strike="noStrike" kern="1200" cap="none" spc="0" normalizeH="0" baseline="0" noProof="0" dirty="0">
                <a:ln>
                  <a:noFill/>
                </a:ln>
                <a:solidFill>
                  <a:srgbClr val="FFFFFF"/>
                </a:solidFill>
                <a:effectLst/>
                <a:uLnTx/>
                <a:uFillTx/>
                <a:latin typeface="微软雅黑"/>
                <a:ea typeface="微软雅黑"/>
                <a:cs typeface="微软雅黑"/>
              </a:rPr>
              <a:t>平台服务</a:t>
            </a:r>
            <a:endParaRPr kumimoji="0" lang="zh-CN" altLang="en-US" sz="1400" b="1"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78" name="直角三角形 377"/>
          <p:cNvSpPr/>
          <p:nvPr/>
        </p:nvSpPr>
        <p:spPr>
          <a:xfrm flipH="1" flipV="1">
            <a:off x="562915" y="5169842"/>
            <a:ext cx="88824" cy="93277"/>
          </a:xfrm>
          <a:prstGeom prst="rtTriangle">
            <a:avLst/>
          </a:prstGeom>
          <a:solidFill>
            <a:srgbClr val="0042FF"/>
          </a:solidFill>
          <a:ln>
            <a:noFill/>
          </a:ln>
          <a:effectLst>
            <a:outerShdw blurRad="127000" dist="88900" dir="5400000" algn="t"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200" dirty="0">
              <a:solidFill>
                <a:srgbClr val="FFFFFF"/>
              </a:solidFill>
              <a:latin typeface="微软雅黑"/>
              <a:ea typeface="微软雅黑"/>
              <a:cs typeface="微软雅黑"/>
              <a:sym typeface="微软雅黑"/>
            </a:endParaRPr>
          </a:p>
        </p:txBody>
      </p:sp>
      <p:sp>
        <p:nvSpPr>
          <p:cNvPr id="433" name="矩形: 圆角 48"/>
          <p:cNvSpPr/>
          <p:nvPr/>
        </p:nvSpPr>
        <p:spPr>
          <a:xfrm>
            <a:off x="1939925" y="4409440"/>
            <a:ext cx="2341880" cy="1184910"/>
          </a:xfrm>
          <a:prstGeom prst="roundRect">
            <a:avLst>
              <a:gd name="adj" fmla="val 3602"/>
            </a:avLst>
          </a:prstGeom>
          <a:noFill/>
          <a:ln w="12700" cap="flat">
            <a:solidFill>
              <a:srgbClr val="3368FF"/>
            </a:solidFill>
            <a:custDash>
              <a:ds d="600000" sp="600000"/>
            </a:custDash>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434" name="矩形: 圆角 49"/>
          <p:cNvSpPr/>
          <p:nvPr/>
        </p:nvSpPr>
        <p:spPr>
          <a:xfrm>
            <a:off x="4427855" y="4409440"/>
            <a:ext cx="2336165" cy="1184910"/>
          </a:xfrm>
          <a:prstGeom prst="roundRect">
            <a:avLst>
              <a:gd name="adj" fmla="val 5002"/>
            </a:avLst>
          </a:prstGeom>
          <a:noFill/>
          <a:ln w="12700" cap="flat">
            <a:solidFill>
              <a:srgbClr val="3368FF"/>
            </a:solidFill>
            <a:custDash>
              <a:ds d="600000" sp="600000"/>
            </a:custDash>
            <a:miter/>
          </a:ln>
          <a:extLst>
            <a:ext uri="{909E8E84-426E-40DD-AFC4-6F175D3DCCD1}">
              <a14:hiddenFill xmlns:a14="http://schemas.microsoft.com/office/drawing/2010/main">
                <a:solidFill>
                  <a:srgbClr val="B3D4FE">
                    <a:alpha val="50000"/>
                  </a:srgbClr>
                </a:solidFill>
              </a14:hiddenFill>
            </a:ext>
          </a:extLst>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435" name="矩形: 圆角 50"/>
          <p:cNvSpPr/>
          <p:nvPr/>
        </p:nvSpPr>
        <p:spPr>
          <a:xfrm>
            <a:off x="8864600" y="4409440"/>
            <a:ext cx="2357120" cy="1184275"/>
          </a:xfrm>
          <a:prstGeom prst="roundRect">
            <a:avLst>
              <a:gd name="adj" fmla="val 6460"/>
            </a:avLst>
          </a:prstGeom>
          <a:noFill/>
          <a:ln w="12700" cap="flat">
            <a:solidFill>
              <a:srgbClr val="3368FF"/>
            </a:solidFill>
            <a:custDash>
              <a:ds d="600000" sp="600000"/>
            </a:custDash>
            <a:miter/>
          </a:ln>
          <a:extLst>
            <a:ext uri="{909E8E84-426E-40DD-AFC4-6F175D3DCCD1}">
              <a14:hiddenFill xmlns:a14="http://schemas.microsoft.com/office/drawing/2010/main">
                <a:solidFill>
                  <a:srgbClr val="B3D4FE">
                    <a:alpha val="50000"/>
                  </a:srgbClr>
                </a:solidFill>
              </a14:hiddenFill>
            </a:ext>
          </a:extLst>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436" name="矩形: 圆角 51"/>
          <p:cNvSpPr/>
          <p:nvPr/>
        </p:nvSpPr>
        <p:spPr>
          <a:xfrm>
            <a:off x="6880860" y="4409440"/>
            <a:ext cx="1866900" cy="1184910"/>
          </a:xfrm>
          <a:prstGeom prst="roundRect">
            <a:avLst>
              <a:gd name="adj" fmla="val 4710"/>
            </a:avLst>
          </a:prstGeom>
          <a:noFill/>
          <a:ln w="12700" cap="flat">
            <a:solidFill>
              <a:srgbClr val="3368FF"/>
            </a:solidFill>
            <a:custDash>
              <a:ds d="600000" sp="600000"/>
            </a:custDash>
            <a:miter/>
          </a:ln>
          <a:extLst>
            <a:ext uri="{909E8E84-426E-40DD-AFC4-6F175D3DCCD1}">
              <a14:hiddenFill xmlns:a14="http://schemas.microsoft.com/office/drawing/2010/main">
                <a:solidFill>
                  <a:srgbClr val="B3D4FE">
                    <a:alpha val="50000"/>
                  </a:srgbClr>
                </a:solidFill>
              </a14:hiddenFill>
            </a:ext>
          </a:extLst>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437" name="矩形: 圆角 56"/>
          <p:cNvSpPr/>
          <p:nvPr/>
        </p:nvSpPr>
        <p:spPr>
          <a:xfrm>
            <a:off x="2025080" y="4774082"/>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38" name="矩形: 圆角 57"/>
          <p:cNvSpPr/>
          <p:nvPr/>
        </p:nvSpPr>
        <p:spPr>
          <a:xfrm>
            <a:off x="4512980" y="4774082"/>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39" name="矩形: 圆角 58"/>
          <p:cNvSpPr/>
          <p:nvPr/>
        </p:nvSpPr>
        <p:spPr>
          <a:xfrm>
            <a:off x="8949542" y="4774082"/>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0" name="矩形: 圆角 59"/>
          <p:cNvSpPr/>
          <p:nvPr/>
        </p:nvSpPr>
        <p:spPr>
          <a:xfrm>
            <a:off x="6972077" y="4774082"/>
            <a:ext cx="1688083"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1" name="矩形: 圆角 60"/>
          <p:cNvSpPr/>
          <p:nvPr/>
        </p:nvSpPr>
        <p:spPr>
          <a:xfrm>
            <a:off x="3157932" y="4774082"/>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2" name="矩形: 圆角 61"/>
          <p:cNvSpPr/>
          <p:nvPr/>
        </p:nvSpPr>
        <p:spPr>
          <a:xfrm>
            <a:off x="5645832" y="4774082"/>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3" name="矩形: 圆角 62"/>
          <p:cNvSpPr/>
          <p:nvPr/>
        </p:nvSpPr>
        <p:spPr>
          <a:xfrm>
            <a:off x="10082412" y="4774082"/>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4" name="矩形: 圆角 63"/>
          <p:cNvSpPr/>
          <p:nvPr/>
        </p:nvSpPr>
        <p:spPr>
          <a:xfrm>
            <a:off x="3157932" y="5182921"/>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5" name="矩形: 圆角 64"/>
          <p:cNvSpPr/>
          <p:nvPr/>
        </p:nvSpPr>
        <p:spPr>
          <a:xfrm>
            <a:off x="5645832" y="5182921"/>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6" name="矩形: 圆角 65"/>
          <p:cNvSpPr/>
          <p:nvPr/>
        </p:nvSpPr>
        <p:spPr>
          <a:xfrm>
            <a:off x="10082412" y="5182921"/>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7" name="矩形: 圆角 66"/>
          <p:cNvSpPr/>
          <p:nvPr/>
        </p:nvSpPr>
        <p:spPr>
          <a:xfrm>
            <a:off x="2025080" y="5182921"/>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8" name="矩形: 圆角 67"/>
          <p:cNvSpPr/>
          <p:nvPr/>
        </p:nvSpPr>
        <p:spPr>
          <a:xfrm>
            <a:off x="4512980" y="5182921"/>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49" name="矩形: 圆角 68"/>
          <p:cNvSpPr/>
          <p:nvPr/>
        </p:nvSpPr>
        <p:spPr>
          <a:xfrm>
            <a:off x="8949542" y="5182921"/>
            <a:ext cx="1031872"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50" name="矩形: 圆角 69"/>
          <p:cNvSpPr/>
          <p:nvPr/>
        </p:nvSpPr>
        <p:spPr>
          <a:xfrm>
            <a:off x="6965924" y="5182921"/>
            <a:ext cx="1694211" cy="288000"/>
          </a:xfrm>
          <a:prstGeom prst="round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451" name="文本框 450"/>
          <p:cNvSpPr txBox="1"/>
          <p:nvPr/>
        </p:nvSpPr>
        <p:spPr>
          <a:xfrm>
            <a:off x="2598592" y="4449706"/>
            <a:ext cx="1024890" cy="260350"/>
          </a:xfrm>
          <a:prstGeom prst="rect">
            <a:avLst/>
          </a:prstGeom>
          <a:noFill/>
        </p:spPr>
        <p:txBody>
          <a:bodyPr wrap="none" rtlCol="0">
            <a:spAutoFit/>
          </a:bodyPr>
          <a:lstStyle/>
          <a:p>
            <a:pPr algn="ctr">
              <a:defRPr>
                <a:latin typeface="微软雅黑"/>
                <a:ea typeface="微软雅黑"/>
                <a:cs typeface="微软雅黑"/>
              </a:defRPr>
            </a:pPr>
            <a:r>
              <a:rPr lang="zh-CN" altLang="en-US" sz="1100" b="1" dirty="0">
                <a:solidFill>
                  <a:srgbClr val="0042FF"/>
                </a:solidFill>
                <a:latin typeface="微软雅黑"/>
                <a:ea typeface="微软雅黑"/>
                <a:cs typeface="微软雅黑"/>
              </a:rPr>
              <a:t>空间数据托管</a:t>
            </a:r>
            <a:endParaRPr lang="zh-CN" altLang="en-US" sz="1100" b="1" dirty="0">
              <a:solidFill>
                <a:srgbClr val="0042FF"/>
              </a:solidFill>
              <a:latin typeface="微软雅黑"/>
              <a:ea typeface="微软雅黑"/>
              <a:cs typeface="微软雅黑"/>
            </a:endParaRPr>
          </a:p>
        </p:txBody>
      </p:sp>
      <p:sp>
        <p:nvSpPr>
          <p:cNvPr id="452" name="文本框 451"/>
          <p:cNvSpPr txBox="1"/>
          <p:nvPr/>
        </p:nvSpPr>
        <p:spPr>
          <a:xfrm>
            <a:off x="5273722" y="4449706"/>
            <a:ext cx="744220" cy="260350"/>
          </a:xfrm>
          <a:prstGeom prst="rect">
            <a:avLst/>
          </a:prstGeom>
          <a:noFill/>
        </p:spPr>
        <p:txBody>
          <a:bodyPr wrap="none" rtlCol="0">
            <a:spAutoFit/>
          </a:bodyPr>
          <a:lstStyle/>
          <a:p>
            <a:pPr algn="ctr">
              <a:defRPr>
                <a:latin typeface="微软雅黑"/>
                <a:ea typeface="微软雅黑"/>
                <a:cs typeface="微软雅黑"/>
              </a:defRPr>
            </a:pPr>
            <a:r>
              <a:rPr lang="zh-CN" altLang="en-US" sz="1100" b="1" dirty="0">
                <a:solidFill>
                  <a:srgbClr val="0042FF"/>
                </a:solidFill>
                <a:latin typeface="微软雅黑"/>
                <a:ea typeface="微软雅黑"/>
                <a:cs typeface="微软雅黑"/>
              </a:rPr>
              <a:t>空间检索</a:t>
            </a:r>
            <a:endParaRPr lang="zh-CN" altLang="en-US" sz="1100" b="1" dirty="0">
              <a:solidFill>
                <a:srgbClr val="0042FF"/>
              </a:solidFill>
              <a:latin typeface="微软雅黑"/>
              <a:ea typeface="微软雅黑"/>
              <a:cs typeface="微软雅黑"/>
            </a:endParaRPr>
          </a:p>
        </p:txBody>
      </p:sp>
      <p:sp>
        <p:nvSpPr>
          <p:cNvPr id="453" name="文本框 452"/>
          <p:cNvSpPr txBox="1"/>
          <p:nvPr/>
        </p:nvSpPr>
        <p:spPr>
          <a:xfrm>
            <a:off x="7440919" y="4449706"/>
            <a:ext cx="744220" cy="260350"/>
          </a:xfrm>
          <a:prstGeom prst="rect">
            <a:avLst/>
          </a:prstGeom>
          <a:noFill/>
        </p:spPr>
        <p:txBody>
          <a:bodyPr wrap="none" rtlCol="0">
            <a:spAutoFit/>
          </a:bodyPr>
          <a:lstStyle/>
          <a:p>
            <a:pPr algn="ctr">
              <a:defRPr>
                <a:latin typeface="微软雅黑"/>
                <a:ea typeface="微软雅黑"/>
                <a:cs typeface="微软雅黑"/>
              </a:defRPr>
            </a:pPr>
            <a:r>
              <a:rPr lang="zh-CN" altLang="en-US" sz="1100" b="1" dirty="0">
                <a:solidFill>
                  <a:srgbClr val="0042FF"/>
                </a:solidFill>
                <a:latin typeface="微软雅黑"/>
                <a:ea typeface="微软雅黑"/>
                <a:cs typeface="微软雅黑"/>
              </a:rPr>
              <a:t>空间计算</a:t>
            </a:r>
            <a:endParaRPr lang="zh-CN" altLang="en-US" sz="1100" b="1" dirty="0">
              <a:solidFill>
                <a:srgbClr val="0042FF"/>
              </a:solidFill>
              <a:latin typeface="微软雅黑"/>
              <a:ea typeface="微软雅黑"/>
              <a:cs typeface="微软雅黑"/>
            </a:endParaRPr>
          </a:p>
        </p:txBody>
      </p:sp>
      <p:sp>
        <p:nvSpPr>
          <p:cNvPr id="454" name="文本框 453"/>
          <p:cNvSpPr txBox="1"/>
          <p:nvPr/>
        </p:nvSpPr>
        <p:spPr>
          <a:xfrm>
            <a:off x="9563985" y="4449706"/>
            <a:ext cx="953135" cy="260350"/>
          </a:xfrm>
          <a:prstGeom prst="rect">
            <a:avLst/>
          </a:prstGeom>
          <a:noFill/>
        </p:spPr>
        <p:txBody>
          <a:bodyPr wrap="none" rtlCol="0">
            <a:spAutoFit/>
          </a:bodyPr>
          <a:lstStyle/>
          <a:p>
            <a:pPr algn="ctr">
              <a:defRPr>
                <a:latin typeface="微软雅黑"/>
                <a:ea typeface="微软雅黑"/>
                <a:cs typeface="微软雅黑"/>
              </a:defRPr>
            </a:pPr>
            <a:r>
              <a:rPr lang="en-US" altLang="zh-CN" sz="1100" b="1" dirty="0">
                <a:solidFill>
                  <a:srgbClr val="0042FF"/>
                </a:solidFill>
                <a:latin typeface="微软雅黑"/>
                <a:ea typeface="微软雅黑"/>
                <a:cs typeface="微软雅黑"/>
              </a:rPr>
              <a:t>GIS</a:t>
            </a:r>
            <a:r>
              <a:rPr lang="zh-CN" altLang="en-US" sz="1100" b="1" dirty="0">
                <a:solidFill>
                  <a:srgbClr val="0042FF"/>
                </a:solidFill>
                <a:latin typeface="微软雅黑"/>
                <a:ea typeface="微软雅黑"/>
                <a:cs typeface="微软雅黑"/>
              </a:rPr>
              <a:t>模型服务</a:t>
            </a:r>
            <a:endParaRPr lang="zh-CN" altLang="en-US" sz="1100" b="1" dirty="0">
              <a:solidFill>
                <a:srgbClr val="0042FF"/>
              </a:solidFill>
              <a:latin typeface="微软雅黑"/>
              <a:ea typeface="微软雅黑"/>
              <a:cs typeface="微软雅黑"/>
            </a:endParaRPr>
          </a:p>
        </p:txBody>
      </p:sp>
      <p:sp>
        <p:nvSpPr>
          <p:cNvPr id="455" name="文本框 454"/>
          <p:cNvSpPr txBox="1"/>
          <p:nvPr/>
        </p:nvSpPr>
        <p:spPr>
          <a:xfrm>
            <a:off x="2192202" y="4772695"/>
            <a:ext cx="697627"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数据存储</a:t>
            </a:r>
            <a:endParaRPr lang="zh-CN" altLang="en-US" sz="1000" dirty="0">
              <a:solidFill>
                <a:srgbClr val="FFFFFF"/>
              </a:solidFill>
              <a:latin typeface="微软雅黑"/>
              <a:ea typeface="微软雅黑"/>
              <a:cs typeface="微软雅黑"/>
            </a:endParaRPr>
          </a:p>
        </p:txBody>
      </p:sp>
      <p:sp>
        <p:nvSpPr>
          <p:cNvPr id="456" name="文本框 455"/>
          <p:cNvSpPr txBox="1"/>
          <p:nvPr/>
        </p:nvSpPr>
        <p:spPr>
          <a:xfrm>
            <a:off x="2192201" y="5201210"/>
            <a:ext cx="697628"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数据查询</a:t>
            </a:r>
            <a:endParaRPr lang="zh-CN" altLang="en-US" sz="1000" dirty="0">
              <a:solidFill>
                <a:srgbClr val="FFFFFF"/>
              </a:solidFill>
              <a:latin typeface="微软雅黑"/>
              <a:ea typeface="微软雅黑"/>
              <a:cs typeface="微软雅黑"/>
            </a:endParaRPr>
          </a:p>
        </p:txBody>
      </p:sp>
      <p:sp>
        <p:nvSpPr>
          <p:cNvPr id="457" name="文本框 456"/>
          <p:cNvSpPr txBox="1"/>
          <p:nvPr/>
        </p:nvSpPr>
        <p:spPr>
          <a:xfrm>
            <a:off x="3325997" y="4772695"/>
            <a:ext cx="697628"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数据编辑</a:t>
            </a:r>
            <a:endParaRPr lang="zh-CN" altLang="en-US" sz="1000" dirty="0">
              <a:solidFill>
                <a:srgbClr val="FFFFFF"/>
              </a:solidFill>
              <a:latin typeface="微软雅黑"/>
              <a:ea typeface="微软雅黑"/>
              <a:cs typeface="微软雅黑"/>
            </a:endParaRPr>
          </a:p>
        </p:txBody>
      </p:sp>
      <p:sp>
        <p:nvSpPr>
          <p:cNvPr id="458" name="文本框 457"/>
          <p:cNvSpPr txBox="1"/>
          <p:nvPr/>
        </p:nvSpPr>
        <p:spPr>
          <a:xfrm>
            <a:off x="3325997" y="5201210"/>
            <a:ext cx="697628"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数据同步</a:t>
            </a:r>
            <a:endParaRPr lang="zh-CN" altLang="en-US" sz="1000" dirty="0">
              <a:solidFill>
                <a:srgbClr val="FFFFFF"/>
              </a:solidFill>
              <a:latin typeface="微软雅黑"/>
              <a:ea typeface="微软雅黑"/>
              <a:cs typeface="微软雅黑"/>
            </a:endParaRPr>
          </a:p>
        </p:txBody>
      </p:sp>
      <p:sp>
        <p:nvSpPr>
          <p:cNvPr id="459" name="文本框 458"/>
          <p:cNvSpPr txBox="1"/>
          <p:nvPr/>
        </p:nvSpPr>
        <p:spPr>
          <a:xfrm>
            <a:off x="4680103" y="4772695"/>
            <a:ext cx="697628"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周边检索</a:t>
            </a:r>
            <a:endParaRPr lang="zh-CN" altLang="en-US" sz="1000" dirty="0">
              <a:solidFill>
                <a:srgbClr val="FFFFFF"/>
              </a:solidFill>
              <a:latin typeface="微软雅黑"/>
              <a:ea typeface="微软雅黑"/>
              <a:cs typeface="微软雅黑"/>
            </a:endParaRPr>
          </a:p>
        </p:txBody>
      </p:sp>
      <p:sp>
        <p:nvSpPr>
          <p:cNvPr id="460" name="文本框 459"/>
          <p:cNvSpPr txBox="1"/>
          <p:nvPr/>
        </p:nvSpPr>
        <p:spPr>
          <a:xfrm>
            <a:off x="4551865" y="5201210"/>
            <a:ext cx="954107"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区块相交查询</a:t>
            </a:r>
            <a:endParaRPr lang="zh-CN" altLang="en-US" sz="1000" dirty="0">
              <a:solidFill>
                <a:srgbClr val="FFFFFF"/>
              </a:solidFill>
              <a:latin typeface="微软雅黑"/>
              <a:ea typeface="微软雅黑"/>
              <a:cs typeface="微软雅黑"/>
            </a:endParaRPr>
          </a:p>
        </p:txBody>
      </p:sp>
      <p:sp>
        <p:nvSpPr>
          <p:cNvPr id="461" name="文本框 460"/>
          <p:cNvSpPr txBox="1"/>
          <p:nvPr/>
        </p:nvSpPr>
        <p:spPr>
          <a:xfrm>
            <a:off x="5807696" y="4772695"/>
            <a:ext cx="697628"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多边检索</a:t>
            </a:r>
            <a:endParaRPr lang="zh-CN" altLang="en-US" sz="1000" dirty="0">
              <a:solidFill>
                <a:srgbClr val="FFFFFF"/>
              </a:solidFill>
              <a:latin typeface="微软雅黑"/>
              <a:ea typeface="微软雅黑"/>
              <a:cs typeface="微软雅黑"/>
            </a:endParaRPr>
          </a:p>
        </p:txBody>
      </p:sp>
      <p:sp>
        <p:nvSpPr>
          <p:cNvPr id="462" name="文本框 461"/>
          <p:cNvSpPr txBox="1"/>
          <p:nvPr/>
        </p:nvSpPr>
        <p:spPr>
          <a:xfrm>
            <a:off x="5698692" y="5201210"/>
            <a:ext cx="915636"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检索高德</a:t>
            </a:r>
            <a:r>
              <a:rPr lang="en-US" altLang="zh-CN" sz="1000" dirty="0">
                <a:solidFill>
                  <a:srgbClr val="FFFFFF"/>
                </a:solidFill>
                <a:latin typeface="微软雅黑"/>
                <a:ea typeface="微软雅黑"/>
                <a:cs typeface="微软雅黑"/>
              </a:rPr>
              <a:t>AOI</a:t>
            </a:r>
            <a:endParaRPr lang="en-US" altLang="zh-CN" sz="1000" dirty="0">
              <a:solidFill>
                <a:srgbClr val="FFFFFF"/>
              </a:solidFill>
              <a:latin typeface="微软雅黑"/>
              <a:ea typeface="微软雅黑"/>
              <a:cs typeface="微软雅黑"/>
            </a:endParaRPr>
          </a:p>
        </p:txBody>
      </p:sp>
      <p:sp>
        <p:nvSpPr>
          <p:cNvPr id="463" name="文本框 462"/>
          <p:cNvSpPr txBox="1"/>
          <p:nvPr/>
        </p:nvSpPr>
        <p:spPr>
          <a:xfrm>
            <a:off x="7323888" y="4772695"/>
            <a:ext cx="954107"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业务数据运营</a:t>
            </a:r>
            <a:endParaRPr lang="zh-CN" altLang="en-US" sz="1000" dirty="0">
              <a:solidFill>
                <a:srgbClr val="FFFFFF"/>
              </a:solidFill>
              <a:latin typeface="微软雅黑"/>
              <a:ea typeface="微软雅黑"/>
              <a:cs typeface="微软雅黑"/>
            </a:endParaRPr>
          </a:p>
        </p:txBody>
      </p:sp>
      <p:sp>
        <p:nvSpPr>
          <p:cNvPr id="464" name="文本框 463"/>
          <p:cNvSpPr txBox="1"/>
          <p:nvPr/>
        </p:nvSpPr>
        <p:spPr>
          <a:xfrm>
            <a:off x="7323886" y="5201210"/>
            <a:ext cx="954107"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数据融合计算</a:t>
            </a:r>
            <a:endParaRPr lang="zh-CN" altLang="en-US" sz="1000" dirty="0">
              <a:solidFill>
                <a:srgbClr val="FFFFFF"/>
              </a:solidFill>
              <a:latin typeface="微软雅黑"/>
              <a:ea typeface="微软雅黑"/>
              <a:cs typeface="微软雅黑"/>
            </a:endParaRPr>
          </a:p>
        </p:txBody>
      </p:sp>
      <p:sp>
        <p:nvSpPr>
          <p:cNvPr id="465" name="文本框 464"/>
          <p:cNvSpPr txBox="1"/>
          <p:nvPr/>
        </p:nvSpPr>
        <p:spPr>
          <a:xfrm>
            <a:off x="8949919" y="4772695"/>
            <a:ext cx="1013419"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等时圈</a:t>
            </a:r>
            <a:r>
              <a:rPr lang="en-US"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等距圈</a:t>
            </a:r>
            <a:endParaRPr lang="zh-CN" altLang="en-US" sz="1000" dirty="0">
              <a:solidFill>
                <a:srgbClr val="FFFFFF"/>
              </a:solidFill>
              <a:latin typeface="微软雅黑"/>
              <a:ea typeface="微软雅黑"/>
              <a:cs typeface="微软雅黑"/>
            </a:endParaRPr>
          </a:p>
        </p:txBody>
      </p:sp>
      <p:sp>
        <p:nvSpPr>
          <p:cNvPr id="466" name="文本框 465"/>
          <p:cNvSpPr txBox="1"/>
          <p:nvPr/>
        </p:nvSpPr>
        <p:spPr>
          <a:xfrm>
            <a:off x="9107813" y="5201210"/>
            <a:ext cx="697628"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智能分区</a:t>
            </a:r>
            <a:endParaRPr lang="zh-CN" altLang="en-US" sz="1000" dirty="0">
              <a:solidFill>
                <a:srgbClr val="FFFFFF"/>
              </a:solidFill>
              <a:latin typeface="微软雅黑"/>
              <a:ea typeface="微软雅黑"/>
              <a:cs typeface="微软雅黑"/>
            </a:endParaRPr>
          </a:p>
        </p:txBody>
      </p:sp>
      <p:sp>
        <p:nvSpPr>
          <p:cNvPr id="467" name="文本框 466"/>
          <p:cNvSpPr txBox="1"/>
          <p:nvPr/>
        </p:nvSpPr>
        <p:spPr>
          <a:xfrm>
            <a:off x="10226040" y="4772695"/>
            <a:ext cx="772160" cy="288000"/>
          </a:xfrm>
          <a:prstGeom prst="rect">
            <a:avLst/>
          </a:prstGeom>
          <a:noFill/>
          <a:extLst>
            <a:ext uri="{909E8E84-426E-40DD-AFC4-6F175D3DCCD1}">
              <a14:hiddenFill xmlns:a14="http://schemas.microsoft.com/office/drawing/2010/main">
                <a:solidFill>
                  <a:srgbClr val="B3D4FE"/>
                </a:solidFill>
              </a14:hiddenFill>
            </a:ext>
          </a:extLst>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自然街区</a:t>
            </a:r>
            <a:endParaRPr lang="zh-CN" altLang="en-US" sz="1000" dirty="0">
              <a:solidFill>
                <a:srgbClr val="FFFFFF"/>
              </a:solidFill>
              <a:latin typeface="微软雅黑"/>
              <a:ea typeface="微软雅黑"/>
              <a:cs typeface="微软雅黑"/>
            </a:endParaRPr>
          </a:p>
        </p:txBody>
      </p:sp>
      <p:sp>
        <p:nvSpPr>
          <p:cNvPr id="468" name="文本框 467"/>
          <p:cNvSpPr txBox="1"/>
          <p:nvPr/>
        </p:nvSpPr>
        <p:spPr>
          <a:xfrm>
            <a:off x="10097552" y="5201210"/>
            <a:ext cx="954107" cy="288000"/>
          </a:xfrm>
          <a:prstGeom prst="rect">
            <a:avLst/>
          </a:prstGeom>
          <a:noFill/>
          <a:extLst>
            <a:ext uri="{909E8E84-426E-40DD-AFC4-6F175D3DCCD1}">
              <a14:hiddenFill xmlns:a14="http://schemas.microsoft.com/office/drawing/2010/main">
                <a:solidFill>
                  <a:srgbClr val="B3D4FE"/>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线路排程服务</a:t>
            </a:r>
            <a:endParaRPr lang="zh-CN" altLang="en-US" sz="1000" dirty="0">
              <a:solidFill>
                <a:srgbClr val="FFFFFF"/>
              </a:solidFill>
              <a:latin typeface="微软雅黑"/>
              <a:ea typeface="微软雅黑"/>
              <a:cs typeface="微软雅黑"/>
            </a:endParaRPr>
          </a:p>
        </p:txBody>
      </p:sp>
      <p:sp>
        <p:nvSpPr>
          <p:cNvPr id="469" name="圆角矩形 468"/>
          <p:cNvSpPr/>
          <p:nvPr/>
        </p:nvSpPr>
        <p:spPr>
          <a:xfrm>
            <a:off x="628650" y="5899150"/>
            <a:ext cx="10974070" cy="608330"/>
          </a:xfrm>
          <a:prstGeom prst="roundRect">
            <a:avLst>
              <a:gd name="adj" fmla="val 0"/>
            </a:avLst>
          </a:prstGeom>
          <a:solidFill>
            <a:srgbClr val="FFFFFF"/>
          </a:solidFill>
          <a:ln w="6350">
            <a:solidFill>
              <a:srgbClr val="E6E6E6"/>
            </a:solidFill>
            <a:prstDash val="solid"/>
          </a:ln>
          <a:effectLst>
            <a:outerShdw blurRad="101600" sx="101000" sy="101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endParaRPr kumimoji="1" lang="zh-CN" altLang="en-US" sz="1400" dirty="0">
              <a:solidFill>
                <a:srgbClr val="383838"/>
              </a:solidFill>
              <a:latin typeface="微软雅黑"/>
              <a:ea typeface="微软雅黑"/>
              <a:cs typeface="微软雅黑"/>
              <a:sym typeface="微软雅黑"/>
            </a:endParaRPr>
          </a:p>
        </p:txBody>
      </p:sp>
      <p:sp>
        <p:nvSpPr>
          <p:cNvPr id="470" name="圆角矩形 469"/>
          <p:cNvSpPr/>
          <p:nvPr/>
        </p:nvSpPr>
        <p:spPr>
          <a:xfrm>
            <a:off x="547370" y="5986145"/>
            <a:ext cx="1075690" cy="367030"/>
          </a:xfrm>
          <a:prstGeom prst="roundRect">
            <a:avLst>
              <a:gd name="adj" fmla="val 0"/>
            </a:avLst>
          </a:prstGeom>
          <a:gradFill flip="none" rotWithShape="1">
            <a:gsLst>
              <a:gs pos="0">
                <a:srgbClr val="3368FF"/>
              </a:gs>
              <a:gs pos="100000">
                <a:srgbClr val="0042FF"/>
              </a:gs>
            </a:gsLst>
            <a:lin ang="0" scaled="1"/>
            <a:tileRect/>
          </a:gradFill>
          <a:ln>
            <a:noFill/>
          </a:ln>
          <a:effectLst>
            <a:outerShdw blurRad="127000" dist="88900" dir="5400000" algn="t" rotWithShape="0">
              <a:srgbClr val="0042FF">
                <a:alpha val="3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200" dirty="0">
              <a:solidFill>
                <a:srgbClr val="FFFFFF"/>
              </a:solidFill>
              <a:latin typeface="微软雅黑"/>
              <a:ea typeface="微软雅黑"/>
              <a:cs typeface="微软雅黑"/>
              <a:sym typeface="微软雅黑"/>
            </a:endParaRPr>
          </a:p>
        </p:txBody>
      </p:sp>
      <p:sp>
        <p:nvSpPr>
          <p:cNvPr id="471" name="文本框 470"/>
          <p:cNvSpPr txBox="1"/>
          <p:nvPr/>
        </p:nvSpPr>
        <p:spPr>
          <a:xfrm>
            <a:off x="639241" y="6031953"/>
            <a:ext cx="792480" cy="275590"/>
          </a:xfrm>
          <a:prstGeom prst="rect">
            <a:avLst/>
          </a:prstGeom>
          <a:noFill/>
        </p:spPr>
        <p:txBody>
          <a:bodyPr wrap="none" rtlCol="0" lIns="0" rIns="0" tIns="0" bIns="0">
            <a:spAutoFit/>
          </a:bodyPr>
          <a:lstStyle/>
          <a:p>
            <a:pPr marL="0" marR="0" lvl="0" indent="0"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1" u="none" strike="noStrike" kern="1200" cap="none" spc="0" normalizeH="0" baseline="0" noProof="0" dirty="0">
                <a:ln>
                  <a:noFill/>
                </a:ln>
                <a:solidFill>
                  <a:srgbClr val="FFFFFF"/>
                </a:solidFill>
                <a:effectLst/>
                <a:uLnTx/>
                <a:uFillTx/>
                <a:latin typeface="微软雅黑"/>
                <a:ea typeface="微软雅黑"/>
                <a:cs typeface="微软雅黑"/>
              </a:rPr>
              <a:t>数据服务</a:t>
            </a:r>
            <a:endParaRPr kumimoji="0" lang="zh-CN" sz="1200" b="1"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72" name="直角三角形 471"/>
          <p:cNvSpPr/>
          <p:nvPr/>
        </p:nvSpPr>
        <p:spPr>
          <a:xfrm flipH="1" flipV="1">
            <a:off x="545694" y="6342429"/>
            <a:ext cx="88824" cy="93277"/>
          </a:xfrm>
          <a:prstGeom prst="rtTriangle">
            <a:avLst/>
          </a:prstGeom>
          <a:solidFill>
            <a:srgbClr val="0042FF"/>
          </a:solidFill>
          <a:ln>
            <a:noFill/>
          </a:ln>
          <a:effectLst>
            <a:outerShdw blurRad="127000" dist="88900" dir="5400000" algn="t"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200" dirty="0">
              <a:solidFill>
                <a:srgbClr val="FFFFFF"/>
              </a:solidFill>
              <a:latin typeface="微软雅黑"/>
              <a:ea typeface="微软雅黑"/>
              <a:cs typeface="微软雅黑"/>
              <a:sym typeface="微软雅黑"/>
            </a:endParaRPr>
          </a:p>
        </p:txBody>
      </p:sp>
      <p:grpSp>
        <p:nvGrpSpPr>
          <p:cNvPr id="491" name="组合 490"/>
          <p:cNvGrpSpPr/>
          <p:nvPr/>
        </p:nvGrpSpPr>
        <p:grpSpPr>
          <a:xfrm>
            <a:off x="1934210" y="6000115"/>
            <a:ext cx="1769110" cy="372110"/>
            <a:chOff x="2902" y="9449"/>
            <a:chExt cx="2786" cy="586"/>
          </a:xfrm>
        </p:grpSpPr>
        <p:sp>
          <p:nvSpPr>
            <p:cNvPr id="475" name="矩形: 圆角 84"/>
            <p:cNvSpPr/>
            <p:nvPr/>
          </p:nvSpPr>
          <p:spPr>
            <a:xfrm>
              <a:off x="2902" y="9449"/>
              <a:ext cx="2787" cy="586"/>
            </a:xfrm>
            <a:prstGeom prst="roundRect">
              <a:avLst/>
            </a:prstGeom>
            <a:solidFill>
              <a:srgbClr val="E6E6E6">
                <a:alpha val="50000"/>
              </a:srgbClr>
            </a:solidFill>
            <a:ln w="6340" cap="flat">
              <a:solidFill>
                <a:srgbClr val="0042FF"/>
              </a:solidFill>
              <a:prstDash val="solid"/>
              <a:miter/>
            </a:ln>
          </p:spPr>
          <p:txBody>
            <a:bodyPr rtlCol="0" anchor="ctr" lIns="0" rIns="0" tIns="0" bIns="0"/>
            <a:lstStyle/>
            <a:p>
              <a:pPr>
                <a:defRPr>
                  <a:latin typeface="微软雅黑"/>
                  <a:ea typeface="微软雅黑"/>
                  <a:cs typeface="微软雅黑"/>
                </a:defRPr>
              </a:pPr>
              <a:endParaRPr lang="en-US">
                <a:solidFill>
                  <a:srgbClr val="0042FF"/>
                </a:solidFill>
                <a:latin typeface="微软雅黑"/>
                <a:ea typeface="微软雅黑"/>
                <a:cs typeface="微软雅黑"/>
              </a:endParaRPr>
            </a:p>
          </p:txBody>
        </p:sp>
        <p:sp>
          <p:nvSpPr>
            <p:cNvPr id="485" name="文本框 484"/>
            <p:cNvSpPr txBox="1"/>
            <p:nvPr/>
          </p:nvSpPr>
          <p:spPr>
            <a:xfrm>
              <a:off x="3040" y="9540"/>
              <a:ext cx="2512" cy="376"/>
            </a:xfrm>
            <a:prstGeom prst="rect">
              <a:avLst/>
            </a:prstGeom>
            <a:noFill/>
            <a:ln>
              <a:noFill/>
            </a:ln>
            <a:extLst>
              <a:ext uri="{909E8E84-426E-40DD-AFC4-6F175D3DCCD1}">
                <a14:hiddenFill xmlns:a14="http://schemas.microsoft.com/office/drawing/2010/main">
                  <a:solidFill>
                    <a:srgbClr val="0042FF">
                      <a:alpha val="50000"/>
                    </a:srgbClr>
                  </a:solidFill>
                </a14:hiddenFill>
              </a:ext>
            </a:extLst>
          </p:spPr>
          <p:txBody>
            <a:bodyPr wrap="none" rtlCol="0">
              <a:no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企业业务数据存储服务</a:t>
              </a:r>
              <a:endParaRPr lang="zh-CN" altLang="en-US" sz="1100" dirty="0">
                <a:solidFill>
                  <a:srgbClr val="0042FF"/>
                </a:solidFill>
                <a:latin typeface="微软雅黑"/>
                <a:ea typeface="微软雅黑"/>
                <a:cs typeface="微软雅黑"/>
              </a:endParaRPr>
            </a:p>
          </p:txBody>
        </p:sp>
      </p:grpSp>
      <p:grpSp>
        <p:nvGrpSpPr>
          <p:cNvPr id="494" name="组合 493"/>
          <p:cNvGrpSpPr/>
          <p:nvPr/>
        </p:nvGrpSpPr>
        <p:grpSpPr>
          <a:xfrm>
            <a:off x="3816985" y="6000115"/>
            <a:ext cx="1769110" cy="372110"/>
            <a:chOff x="5864" y="9449"/>
            <a:chExt cx="2786" cy="586"/>
          </a:xfrm>
        </p:grpSpPr>
        <p:sp>
          <p:nvSpPr>
            <p:cNvPr id="476" name="矩形: 圆角 85"/>
            <p:cNvSpPr/>
            <p:nvPr/>
          </p:nvSpPr>
          <p:spPr>
            <a:xfrm>
              <a:off x="5864" y="9449"/>
              <a:ext cx="2787" cy="586"/>
            </a:xfrm>
            <a:prstGeom prst="roundRect">
              <a:avLst/>
            </a:prstGeom>
            <a:solidFill>
              <a:srgbClr val="E6E6E6">
                <a:alpha val="50000"/>
              </a:srgbClr>
            </a:solidFill>
            <a:ln w="6340" cap="flat">
              <a:solidFill>
                <a:srgbClr val="0042FF"/>
              </a:solid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en-US">
                <a:solidFill>
                  <a:srgbClr val="0042FF"/>
                </a:solidFill>
                <a:latin typeface="微软雅黑"/>
                <a:ea typeface="微软雅黑"/>
                <a:cs typeface="微软雅黑"/>
                <a:sym typeface="微软雅黑"/>
              </a:endParaRPr>
            </a:p>
          </p:txBody>
        </p:sp>
        <p:sp>
          <p:nvSpPr>
            <p:cNvPr id="486" name="文本框 485"/>
            <p:cNvSpPr txBox="1"/>
            <p:nvPr/>
          </p:nvSpPr>
          <p:spPr>
            <a:xfrm>
              <a:off x="6268" y="9540"/>
              <a:ext cx="1980" cy="376"/>
            </a:xfrm>
            <a:prstGeom prst="rect">
              <a:avLst/>
            </a:prstGeom>
            <a:noFill/>
            <a:ln>
              <a:noFill/>
            </a:ln>
            <a:extLst>
              <a:ext uri="{909E8E84-426E-40DD-AFC4-6F175D3DCCD1}">
                <a14:hiddenFill xmlns:a14="http://schemas.microsoft.com/office/drawing/2010/main">
                  <a:solidFill>
                    <a:srgbClr val="0042FF">
                      <a:alpha val="50000"/>
                    </a:srgbClr>
                  </a:solidFill>
                </a14:hiddenFill>
              </a:ext>
            </a:extLst>
          </p:spPr>
          <p:txBody>
            <a:bodyPr wrap="none" rtlCol="0">
              <a:no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高德</a:t>
              </a:r>
              <a:r>
                <a:rPr lang="en-US" altLang="zh-CN" sz="1100" dirty="0">
                  <a:solidFill>
                    <a:srgbClr val="0042FF"/>
                  </a:solidFill>
                  <a:latin typeface="微软雅黑"/>
                  <a:ea typeface="微软雅黑"/>
                  <a:cs typeface="微软雅黑"/>
                </a:rPr>
                <a:t>POI</a:t>
              </a:r>
              <a:r>
                <a:rPr lang="zh-CN" altLang="en-US" sz="1100" dirty="0">
                  <a:solidFill>
                    <a:srgbClr val="0042FF"/>
                  </a:solidFill>
                  <a:latin typeface="微软雅黑"/>
                  <a:ea typeface="微软雅黑"/>
                  <a:cs typeface="微软雅黑"/>
                </a:rPr>
                <a:t>数据服务</a:t>
              </a:r>
              <a:endParaRPr lang="zh-CN" altLang="en-US" sz="1100" dirty="0">
                <a:solidFill>
                  <a:srgbClr val="0042FF"/>
                </a:solidFill>
                <a:latin typeface="微软雅黑"/>
                <a:ea typeface="微软雅黑"/>
                <a:cs typeface="微软雅黑"/>
              </a:endParaRPr>
            </a:p>
          </p:txBody>
        </p:sp>
      </p:grpSp>
      <p:grpSp>
        <p:nvGrpSpPr>
          <p:cNvPr id="493" name="组合 492"/>
          <p:cNvGrpSpPr/>
          <p:nvPr/>
        </p:nvGrpSpPr>
        <p:grpSpPr>
          <a:xfrm>
            <a:off x="5699760" y="6000115"/>
            <a:ext cx="1769110" cy="372110"/>
            <a:chOff x="8826" y="9449"/>
            <a:chExt cx="2786" cy="586"/>
          </a:xfrm>
        </p:grpSpPr>
        <p:sp>
          <p:nvSpPr>
            <p:cNvPr id="477" name="矩形: 圆角 86"/>
            <p:cNvSpPr/>
            <p:nvPr/>
          </p:nvSpPr>
          <p:spPr>
            <a:xfrm>
              <a:off x="8826" y="9449"/>
              <a:ext cx="2787" cy="586"/>
            </a:xfrm>
            <a:prstGeom prst="roundRect">
              <a:avLst/>
            </a:prstGeom>
            <a:solidFill>
              <a:srgbClr val="E6E6E6">
                <a:alpha val="50000"/>
              </a:srgbClr>
            </a:solidFill>
            <a:ln w="6340" cap="flat">
              <a:solidFill>
                <a:srgbClr val="0042FF"/>
              </a:solid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en-US">
                <a:solidFill>
                  <a:srgbClr val="0042FF"/>
                </a:solidFill>
                <a:latin typeface="微软雅黑"/>
                <a:ea typeface="微软雅黑"/>
                <a:cs typeface="微软雅黑"/>
                <a:sym typeface="微软雅黑"/>
              </a:endParaRPr>
            </a:p>
          </p:txBody>
        </p:sp>
        <p:sp>
          <p:nvSpPr>
            <p:cNvPr id="487" name="文本框 486"/>
            <p:cNvSpPr txBox="1"/>
            <p:nvPr/>
          </p:nvSpPr>
          <p:spPr>
            <a:xfrm>
              <a:off x="9218" y="9540"/>
              <a:ext cx="2002" cy="376"/>
            </a:xfrm>
            <a:prstGeom prst="rect">
              <a:avLst/>
            </a:prstGeom>
            <a:noFill/>
            <a:ln>
              <a:noFill/>
            </a:ln>
            <a:extLst>
              <a:ext uri="{909E8E84-426E-40DD-AFC4-6F175D3DCCD1}">
                <a14:hiddenFill xmlns:a14="http://schemas.microsoft.com/office/drawing/2010/main">
                  <a:solidFill>
                    <a:srgbClr val="0042FF">
                      <a:alpha val="50000"/>
                    </a:srgbClr>
                  </a:solidFill>
                </a14:hiddenFill>
              </a:ext>
            </a:extLst>
          </p:spPr>
          <p:txBody>
            <a:bodyPr wrap="none" rtlCol="0">
              <a:no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高德</a:t>
              </a:r>
              <a:r>
                <a:rPr lang="en-US" altLang="zh-CN" sz="1100" dirty="0">
                  <a:solidFill>
                    <a:srgbClr val="0042FF"/>
                  </a:solidFill>
                  <a:latin typeface="微软雅黑"/>
                  <a:ea typeface="微软雅黑"/>
                  <a:cs typeface="微软雅黑"/>
                </a:rPr>
                <a:t>AOI</a:t>
              </a:r>
              <a:r>
                <a:rPr lang="zh-CN" altLang="en-US" sz="1100" dirty="0">
                  <a:solidFill>
                    <a:srgbClr val="0042FF"/>
                  </a:solidFill>
                  <a:latin typeface="微软雅黑"/>
                  <a:ea typeface="微软雅黑"/>
                  <a:cs typeface="微软雅黑"/>
                </a:rPr>
                <a:t>数据服务</a:t>
              </a:r>
              <a:endParaRPr lang="zh-CN" altLang="en-US" sz="1100" dirty="0">
                <a:solidFill>
                  <a:srgbClr val="0042FF"/>
                </a:solidFill>
                <a:latin typeface="微软雅黑"/>
                <a:ea typeface="微软雅黑"/>
                <a:cs typeface="微软雅黑"/>
              </a:endParaRPr>
            </a:p>
          </p:txBody>
        </p:sp>
      </p:grpSp>
      <p:grpSp>
        <p:nvGrpSpPr>
          <p:cNvPr id="492" name="组合 491"/>
          <p:cNvGrpSpPr/>
          <p:nvPr/>
        </p:nvGrpSpPr>
        <p:grpSpPr>
          <a:xfrm>
            <a:off x="7582535" y="6000115"/>
            <a:ext cx="1769110" cy="372110"/>
            <a:chOff x="11788" y="9449"/>
            <a:chExt cx="2786" cy="586"/>
          </a:xfrm>
        </p:grpSpPr>
        <p:sp>
          <p:nvSpPr>
            <p:cNvPr id="478" name="矩形: 圆角 87"/>
            <p:cNvSpPr/>
            <p:nvPr/>
          </p:nvSpPr>
          <p:spPr>
            <a:xfrm>
              <a:off x="11788" y="9449"/>
              <a:ext cx="2787" cy="586"/>
            </a:xfrm>
            <a:prstGeom prst="roundRect">
              <a:avLst/>
            </a:prstGeom>
            <a:solidFill>
              <a:srgbClr val="E6E6E6">
                <a:alpha val="50000"/>
              </a:srgbClr>
            </a:solidFill>
            <a:ln w="6340" cap="flat">
              <a:solidFill>
                <a:srgbClr val="0042FF"/>
              </a:solid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en-US">
                <a:solidFill>
                  <a:srgbClr val="0042FF"/>
                </a:solidFill>
                <a:latin typeface="微软雅黑"/>
                <a:ea typeface="微软雅黑"/>
                <a:cs typeface="微软雅黑"/>
                <a:sym typeface="微软雅黑"/>
              </a:endParaRPr>
            </a:p>
          </p:txBody>
        </p:sp>
        <p:sp>
          <p:nvSpPr>
            <p:cNvPr id="488" name="文本框 487"/>
            <p:cNvSpPr txBox="1"/>
            <p:nvPr/>
          </p:nvSpPr>
          <p:spPr>
            <a:xfrm>
              <a:off x="11925" y="9540"/>
              <a:ext cx="2512" cy="376"/>
            </a:xfrm>
            <a:prstGeom prst="rect">
              <a:avLst/>
            </a:prstGeom>
            <a:noFill/>
            <a:ln>
              <a:noFill/>
            </a:ln>
            <a:extLst>
              <a:ext uri="{909E8E84-426E-40DD-AFC4-6F175D3DCCD1}">
                <a14:hiddenFill xmlns:a14="http://schemas.microsoft.com/office/drawing/2010/main">
                  <a:solidFill>
                    <a:srgbClr val="0042FF">
                      <a:alpha val="50000"/>
                    </a:srgbClr>
                  </a:solidFill>
                </a14:hiddenFill>
              </a:ext>
            </a:extLst>
          </p:spPr>
          <p:txBody>
            <a:bodyPr wrap="none" rtlCol="0">
              <a:no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高德行政区划数据服务</a:t>
              </a:r>
              <a:endParaRPr lang="zh-CN" altLang="en-US" sz="1100" dirty="0">
                <a:solidFill>
                  <a:srgbClr val="0042FF"/>
                </a:solidFill>
                <a:latin typeface="微软雅黑"/>
                <a:ea typeface="微软雅黑"/>
                <a:cs typeface="微软雅黑"/>
              </a:endParaRPr>
            </a:p>
          </p:txBody>
        </p:sp>
      </p:grpSp>
      <p:grpSp>
        <p:nvGrpSpPr>
          <p:cNvPr id="490" name="组合 489"/>
          <p:cNvGrpSpPr/>
          <p:nvPr/>
        </p:nvGrpSpPr>
        <p:grpSpPr>
          <a:xfrm>
            <a:off x="9465310" y="6000115"/>
            <a:ext cx="1769110" cy="372110"/>
            <a:chOff x="14749" y="9449"/>
            <a:chExt cx="2786" cy="586"/>
          </a:xfrm>
        </p:grpSpPr>
        <p:sp>
          <p:nvSpPr>
            <p:cNvPr id="479" name="矩形: 圆角 88"/>
            <p:cNvSpPr/>
            <p:nvPr/>
          </p:nvSpPr>
          <p:spPr>
            <a:xfrm>
              <a:off x="14749" y="9449"/>
              <a:ext cx="2787" cy="586"/>
            </a:xfrm>
            <a:prstGeom prst="roundRect">
              <a:avLst/>
            </a:prstGeom>
            <a:solidFill>
              <a:srgbClr val="E6E6E6">
                <a:alpha val="50000"/>
              </a:srgbClr>
            </a:solidFill>
            <a:ln w="6340" cap="flat">
              <a:solidFill>
                <a:srgbClr val="0042FF"/>
              </a:solid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en-US">
                <a:solidFill>
                  <a:srgbClr val="0042FF"/>
                </a:solidFill>
                <a:latin typeface="微软雅黑"/>
                <a:ea typeface="微软雅黑"/>
                <a:cs typeface="微软雅黑"/>
                <a:sym typeface="微软雅黑"/>
              </a:endParaRPr>
            </a:p>
          </p:txBody>
        </p:sp>
        <p:sp>
          <p:nvSpPr>
            <p:cNvPr id="489" name="文本框 488"/>
            <p:cNvSpPr txBox="1"/>
            <p:nvPr/>
          </p:nvSpPr>
          <p:spPr>
            <a:xfrm>
              <a:off x="15109" y="9540"/>
              <a:ext cx="2068" cy="376"/>
            </a:xfrm>
            <a:prstGeom prst="rect">
              <a:avLst/>
            </a:prstGeom>
            <a:noFill/>
            <a:ln>
              <a:noFill/>
            </a:ln>
            <a:extLst>
              <a:ext uri="{909E8E84-426E-40DD-AFC4-6F175D3DCCD1}">
                <a14:hiddenFill xmlns:a14="http://schemas.microsoft.com/office/drawing/2010/main">
                  <a:solidFill>
                    <a:srgbClr val="0042FF">
                      <a:alpha val="50000"/>
                    </a:srgbClr>
                  </a:solidFill>
                </a14:hiddenFill>
              </a:ext>
            </a:extLst>
          </p:spPr>
          <p:txBody>
            <a:bodyPr wrap="none" rtlCol="0">
              <a:noAutofit/>
            </a:bodyPr>
            <a:lstStyle/>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高德地图数据服务</a:t>
              </a:r>
              <a:endParaRPr lang="zh-CN" altLang="en-US" sz="1100" dirty="0">
                <a:solidFill>
                  <a:srgbClr val="0042FF"/>
                </a:solidFill>
                <a:latin typeface="微软雅黑"/>
                <a:ea typeface="微软雅黑"/>
                <a:cs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zh-CN" altLang="en-US" sz="2500">
                <a:solidFill>
                  <a:srgbClr val="383838"/>
                </a:solidFill>
                <a:effectLst/>
                <a:latin typeface="微软雅黑"/>
                <a:ea typeface="微软雅黑"/>
                <a:cs typeface="微软雅黑"/>
              </a:rPr>
              <a:t>汽车经销商零售模式变化</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 name="椭圆 3"/>
          <p:cNvSpPr/>
          <p:nvPr/>
        </p:nvSpPr>
        <p:spPr>
          <a:xfrm>
            <a:off x="426720" y="2764155"/>
            <a:ext cx="450215" cy="450215"/>
          </a:xfrm>
          <a:prstGeom prst="ellipse">
            <a:avLst/>
          </a:prstGeom>
          <a:solidFill>
            <a:srgbClr val="3368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 name="五边形 5"/>
          <p:cNvSpPr/>
          <p:nvPr/>
        </p:nvSpPr>
        <p:spPr>
          <a:xfrm>
            <a:off x="1492250" y="2749550"/>
            <a:ext cx="755650" cy="464820"/>
          </a:xfrm>
          <a:prstGeom prst="homePlate">
            <a:avLst>
              <a:gd name="adj" fmla="val 29661"/>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7" name="五边形 6"/>
          <p:cNvSpPr/>
          <p:nvPr/>
        </p:nvSpPr>
        <p:spPr>
          <a:xfrm>
            <a:off x="958850" y="2614930"/>
            <a:ext cx="1219200" cy="749300"/>
          </a:xfrm>
          <a:prstGeom prst="homePlate">
            <a:avLst>
              <a:gd name="adj" fmla="val 29661"/>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48" name="直接连接符 47"/>
          <p:cNvCxnSpPr/>
          <p:nvPr>
            <p:custDataLst>
              <p:tags r:id="rId3"/>
            </p:custDataLst>
          </p:nvPr>
        </p:nvCxnSpPr>
        <p:spPr>
          <a:xfrm>
            <a:off x="5640070" y="4030345"/>
            <a:ext cx="2889250" cy="0"/>
          </a:xfrm>
          <a:prstGeom prst="line">
            <a:avLst/>
          </a:prstGeom>
          <a:ln>
            <a:solidFill>
              <a:srgbClr val="383838">
                <a:alpha val="70000"/>
              </a:srgbClr>
            </a:solidFill>
          </a:ln>
        </p:spPr>
        <p:style>
          <a:lnRef idx="2">
            <a:srgbClr val="0042FF"/>
          </a:lnRef>
          <a:fillRef idx="0">
            <a:srgbClr val="FFFFFF"/>
          </a:fillRef>
          <a:effectRef idx="0">
            <a:srgbClr val="FFFFFF"/>
          </a:effectRef>
          <a:fontRef idx="minor">
            <a:srgbClr val="383838"/>
          </a:fontRef>
        </p:style>
      </p:cxnSp>
      <p:cxnSp>
        <p:nvCxnSpPr>
          <p:cNvPr id="49" name="直接连接符 48"/>
          <p:cNvCxnSpPr/>
          <p:nvPr>
            <p:custDataLst>
              <p:tags r:id="rId4"/>
            </p:custDataLst>
          </p:nvPr>
        </p:nvCxnSpPr>
        <p:spPr>
          <a:xfrm>
            <a:off x="8808720" y="4030345"/>
            <a:ext cx="2892425" cy="0"/>
          </a:xfrm>
          <a:prstGeom prst="line">
            <a:avLst/>
          </a:prstGeom>
          <a:ln>
            <a:solidFill>
              <a:srgbClr val="383838">
                <a:alpha val="70000"/>
              </a:srgbClr>
            </a:solidFill>
          </a:ln>
        </p:spPr>
        <p:style>
          <a:lnRef idx="2">
            <a:srgbClr val="0042FF"/>
          </a:lnRef>
          <a:fillRef idx="0">
            <a:srgbClr val="FFFFFF"/>
          </a:fillRef>
          <a:effectRef idx="0">
            <a:srgbClr val="FFFFFF"/>
          </a:effectRef>
          <a:fontRef idx="minor">
            <a:srgbClr val="383838"/>
          </a:fontRef>
        </p:style>
      </p:cxnSp>
      <p:cxnSp>
        <p:nvCxnSpPr>
          <p:cNvPr id="50" name="直接连接符 49"/>
          <p:cNvCxnSpPr/>
          <p:nvPr>
            <p:custDataLst>
              <p:tags r:id="rId5"/>
            </p:custDataLst>
          </p:nvPr>
        </p:nvCxnSpPr>
        <p:spPr>
          <a:xfrm>
            <a:off x="2557145" y="5270500"/>
            <a:ext cx="2695575" cy="0"/>
          </a:xfrm>
          <a:prstGeom prst="line">
            <a:avLst/>
          </a:prstGeom>
          <a:ln>
            <a:solidFill>
              <a:srgbClr val="383838">
                <a:alpha val="70000"/>
              </a:srgbClr>
            </a:solidFill>
          </a:ln>
        </p:spPr>
        <p:style>
          <a:lnRef idx="2">
            <a:srgbClr val="0042FF"/>
          </a:lnRef>
          <a:fillRef idx="0">
            <a:srgbClr val="FFFFFF"/>
          </a:fillRef>
          <a:effectRef idx="0">
            <a:srgbClr val="FFFFFF"/>
          </a:effectRef>
          <a:fontRef idx="minor">
            <a:srgbClr val="383838"/>
          </a:fontRef>
        </p:style>
      </p:cxnSp>
      <p:cxnSp>
        <p:nvCxnSpPr>
          <p:cNvPr id="51" name="直接连接符 50"/>
          <p:cNvCxnSpPr/>
          <p:nvPr>
            <p:custDataLst>
              <p:tags r:id="rId6"/>
            </p:custDataLst>
          </p:nvPr>
        </p:nvCxnSpPr>
        <p:spPr>
          <a:xfrm>
            <a:off x="5640070" y="5270500"/>
            <a:ext cx="2889250" cy="0"/>
          </a:xfrm>
          <a:prstGeom prst="line">
            <a:avLst/>
          </a:prstGeom>
          <a:ln>
            <a:solidFill>
              <a:srgbClr val="383838">
                <a:alpha val="70000"/>
              </a:srgbClr>
            </a:solidFill>
          </a:ln>
        </p:spPr>
        <p:style>
          <a:lnRef idx="2">
            <a:srgbClr val="0042FF"/>
          </a:lnRef>
          <a:fillRef idx="0">
            <a:srgbClr val="FFFFFF"/>
          </a:fillRef>
          <a:effectRef idx="0">
            <a:srgbClr val="FFFFFF"/>
          </a:effectRef>
          <a:fontRef idx="minor">
            <a:srgbClr val="383838"/>
          </a:fontRef>
        </p:style>
      </p:cxnSp>
      <p:cxnSp>
        <p:nvCxnSpPr>
          <p:cNvPr id="52" name="直接连接符 51"/>
          <p:cNvCxnSpPr/>
          <p:nvPr>
            <p:custDataLst>
              <p:tags r:id="rId7"/>
            </p:custDataLst>
          </p:nvPr>
        </p:nvCxnSpPr>
        <p:spPr>
          <a:xfrm>
            <a:off x="8808720" y="5270500"/>
            <a:ext cx="2973705" cy="0"/>
          </a:xfrm>
          <a:prstGeom prst="line">
            <a:avLst/>
          </a:prstGeom>
          <a:ln>
            <a:solidFill>
              <a:srgbClr val="383838">
                <a:alpha val="70000"/>
              </a:srgbClr>
            </a:solidFill>
          </a:ln>
        </p:spPr>
        <p:style>
          <a:lnRef idx="2">
            <a:srgbClr val="0042FF"/>
          </a:lnRef>
          <a:fillRef idx="0">
            <a:srgbClr val="FFFFFF"/>
          </a:fillRef>
          <a:effectRef idx="0">
            <a:srgbClr val="FFFFFF"/>
          </a:effectRef>
          <a:fontRef idx="minor">
            <a:srgbClr val="383838"/>
          </a:fontRef>
        </p:style>
      </p:cxnSp>
      <p:sp>
        <p:nvSpPr>
          <p:cNvPr id="79" name="梯形 78"/>
          <p:cNvSpPr/>
          <p:nvPr>
            <p:custDataLst>
              <p:tags r:id="rId8"/>
            </p:custDataLst>
          </p:nvPr>
        </p:nvSpPr>
        <p:spPr>
          <a:xfrm>
            <a:off x="2531110" y="1853565"/>
            <a:ext cx="2705735" cy="234315"/>
          </a:xfrm>
          <a:prstGeom prst="trapezoid">
            <a:avLst>
              <a:gd name="adj" fmla="val 77057"/>
            </a:avLst>
          </a:prstGeom>
          <a:gradFill>
            <a:gsLst>
              <a:gs pos="50000">
                <a:srgbClr val="3368FF">
                  <a:alpha val="30000"/>
                </a:srgbClr>
              </a:gs>
              <a:gs pos="0">
                <a:srgbClr val="3368FF">
                  <a:alpha val="0"/>
                </a:srgbClr>
              </a:gs>
              <a:gs pos="100000">
                <a:srgbClr val="3368FF">
                  <a:alpha val="5000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sp>
        <p:nvSpPr>
          <p:cNvPr id="80" name="Freeform 1486"/>
          <p:cNvSpPr/>
          <p:nvPr>
            <p:custDataLst>
              <p:tags r:id="rId9"/>
            </p:custDataLst>
          </p:nvPr>
        </p:nvSpPr>
        <p:spPr>
          <a:xfrm>
            <a:off x="2531110" y="2087880"/>
            <a:ext cx="2705735" cy="76200"/>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p:spPr>
        <p:style>
          <a:lnRef idx="0">
            <a:srgbClr val="FFFFFF"/>
          </a:lnRef>
          <a:fillRef idx="1">
            <a:srgbClr val="3368FF"/>
          </a:fillRef>
          <a:effectRef idx="0">
            <a:srgbClr val="FFFFFF"/>
          </a:effectRef>
          <a:fontRef idx="minor">
            <a:srgbClr val="383838"/>
          </a:fontRef>
        </p:style>
        <p:txBody>
          <a:bodyPr lIns="0" rIns="0" tIns="0" bIns="0"/>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81" name="椭圆 80"/>
          <p:cNvSpPr/>
          <p:nvPr>
            <p:custDataLst>
              <p:tags r:id="rId10"/>
            </p:custDataLst>
          </p:nvPr>
        </p:nvSpPr>
        <p:spPr>
          <a:xfrm>
            <a:off x="2864485" y="1334770"/>
            <a:ext cx="609600" cy="609600"/>
          </a:xfrm>
          <a:prstGeom prst="ellipse">
            <a:avLst/>
          </a:prstGeom>
          <a:gradFill>
            <a:gsLst>
              <a:gs pos="0">
                <a:srgbClr val="3368FF"/>
              </a:gs>
              <a:gs pos="100000">
                <a:srgbClr val="0042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2" name="文本框 81"/>
          <p:cNvSpPr txBox="1"/>
          <p:nvPr>
            <p:custDataLst>
              <p:tags r:id="rId11"/>
            </p:custDataLst>
          </p:nvPr>
        </p:nvSpPr>
        <p:spPr>
          <a:xfrm>
            <a:off x="3423920" y="1306195"/>
            <a:ext cx="1616075" cy="337185"/>
          </a:xfrm>
          <a:prstGeom prst="rect">
            <a:avLst/>
          </a:prstGeom>
          <a:noFill/>
        </p:spPr>
        <p:txBody>
          <a:bodyPr wrap="square" rtlCol="0">
            <a:spAutoFit/>
          </a:bodyPr>
          <a:p>
            <a:pPr algn="ctr">
              <a:defRPr>
                <a:latin typeface="微软雅黑"/>
                <a:ea typeface="微软雅黑"/>
                <a:cs typeface="微软雅黑"/>
              </a:defRPr>
            </a:pPr>
            <a:r>
              <a:rPr lang="en-US" altLang="zh-CN" sz="1600" b="1">
                <a:gradFill>
                  <a:gsLst>
                    <a:gs pos="0">
                      <a:srgbClr val="0042FF"/>
                    </a:gs>
                    <a:gs pos="100000">
                      <a:srgbClr val="0042FF"/>
                    </a:gs>
                  </a:gsLst>
                  <a:lin ang="5400000" scaled="0"/>
                </a:gradFill>
                <a:latin typeface="微软雅黑"/>
                <a:ea typeface="微软雅黑"/>
                <a:cs typeface="微软雅黑"/>
              </a:rPr>
              <a:t>4S</a:t>
            </a:r>
            <a:r>
              <a:rPr lang="zh-CN" altLang="en-US" sz="1600" b="1">
                <a:gradFill>
                  <a:gsLst>
                    <a:gs pos="0">
                      <a:srgbClr val="0042FF"/>
                    </a:gs>
                    <a:gs pos="100000">
                      <a:srgbClr val="0042FF"/>
                    </a:gs>
                  </a:gsLst>
                  <a:lin ang="5400000" scaled="0"/>
                </a:gradFill>
                <a:latin typeface="微软雅黑"/>
                <a:ea typeface="微软雅黑"/>
                <a:cs typeface="微软雅黑"/>
              </a:rPr>
              <a:t>店直营模式</a:t>
            </a:r>
            <a:endParaRPr lang="zh-CN" altLang="en-US" sz="1600" b="1">
              <a:gradFill>
                <a:gsLst>
                  <a:gs pos="0">
                    <a:srgbClr val="0042FF"/>
                  </a:gs>
                  <a:gs pos="100000">
                    <a:srgbClr val="0042FF"/>
                  </a:gs>
                </a:gsLst>
                <a:lin ang="5400000" scaled="0"/>
              </a:gradFill>
              <a:latin typeface="微软雅黑"/>
              <a:ea typeface="微软雅黑"/>
              <a:cs typeface="微软雅黑"/>
            </a:endParaRPr>
          </a:p>
        </p:txBody>
      </p:sp>
      <p:sp>
        <p:nvSpPr>
          <p:cNvPr id="83" name="文本框 82"/>
          <p:cNvSpPr txBox="1"/>
          <p:nvPr>
            <p:custDataLst>
              <p:tags r:id="rId12"/>
            </p:custDataLst>
          </p:nvPr>
        </p:nvSpPr>
        <p:spPr>
          <a:xfrm>
            <a:off x="3526790" y="1601470"/>
            <a:ext cx="1264920" cy="275590"/>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（如极氪家）</a:t>
            </a:r>
            <a:endParaRPr lang="zh-CN" altLang="en-US" sz="1200" b="1">
              <a:solidFill>
                <a:srgbClr val="383838"/>
              </a:solidFill>
              <a:latin typeface="微软雅黑"/>
              <a:ea typeface="微软雅黑"/>
              <a:cs typeface="微软雅黑"/>
            </a:endParaRPr>
          </a:p>
        </p:txBody>
      </p:sp>
      <p:pic>
        <p:nvPicPr>
          <p:cNvPr id="84" name="图片 83" descr="直营店"/>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013075" y="1483360"/>
            <a:ext cx="312420" cy="312420"/>
          </a:xfrm>
          <a:prstGeom prst="rect">
            <a:avLst/>
          </a:prstGeom>
        </p:spPr>
      </p:pic>
      <p:sp>
        <p:nvSpPr>
          <p:cNvPr id="103" name="梯形 102"/>
          <p:cNvSpPr/>
          <p:nvPr>
            <p:custDataLst>
              <p:tags r:id="rId15"/>
            </p:custDataLst>
          </p:nvPr>
        </p:nvSpPr>
        <p:spPr>
          <a:xfrm>
            <a:off x="5735955" y="1853565"/>
            <a:ext cx="2731770" cy="234315"/>
          </a:xfrm>
          <a:prstGeom prst="trapezoid">
            <a:avLst>
              <a:gd name="adj" fmla="val 77057"/>
            </a:avLst>
          </a:prstGeom>
          <a:gradFill>
            <a:gsLst>
              <a:gs pos="50000">
                <a:srgbClr val="B3D4FE">
                  <a:alpha val="30000"/>
                </a:srgbClr>
              </a:gs>
              <a:gs pos="0">
                <a:srgbClr val="B3D4FE">
                  <a:alpha val="0"/>
                </a:srgbClr>
              </a:gs>
              <a:gs pos="100000">
                <a:srgbClr val="B3D4FE">
                  <a:alpha val="5000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sp>
        <p:nvSpPr>
          <p:cNvPr id="104" name="Freeform 1486"/>
          <p:cNvSpPr/>
          <p:nvPr>
            <p:custDataLst>
              <p:tags r:id="rId16"/>
            </p:custDataLst>
          </p:nvPr>
        </p:nvSpPr>
        <p:spPr>
          <a:xfrm>
            <a:off x="5735955" y="2087245"/>
            <a:ext cx="2732405" cy="76835"/>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B3D4FE"/>
          </a:solidFill>
        </p:spPr>
        <p:style>
          <a:lnRef idx="0">
            <a:srgbClr val="FFFFFF"/>
          </a:lnRef>
          <a:fillRef idx="1">
            <a:srgbClr val="3368FF"/>
          </a:fillRef>
          <a:effectRef idx="0">
            <a:srgbClr val="FFFFFF"/>
          </a:effectRef>
          <a:fontRef idx="minor">
            <a:srgbClr val="383838"/>
          </a:fontRef>
        </p:style>
        <p:txBody>
          <a:bodyPr lIns="0" rIns="0" tIns="0" bIns="0"/>
          <a:p>
            <a:pPr>
              <a:defRPr>
                <a:latin typeface="微软雅黑"/>
                <a:ea typeface="微软雅黑"/>
                <a:cs typeface="微软雅黑"/>
              </a:defRPr>
            </a:pPr>
            <a:endParaRPr lang="zh-CN" altLang="en-US" b="1">
              <a:latin typeface="微软雅黑"/>
              <a:ea typeface="微软雅黑"/>
              <a:cs typeface="微软雅黑"/>
            </a:endParaRPr>
          </a:p>
        </p:txBody>
      </p:sp>
      <p:sp>
        <p:nvSpPr>
          <p:cNvPr id="105" name="椭圆 104"/>
          <p:cNvSpPr/>
          <p:nvPr>
            <p:custDataLst>
              <p:tags r:id="rId17"/>
            </p:custDataLst>
          </p:nvPr>
        </p:nvSpPr>
        <p:spPr>
          <a:xfrm>
            <a:off x="6069330" y="1334770"/>
            <a:ext cx="609600" cy="609600"/>
          </a:xfrm>
          <a:prstGeom prst="ellipse">
            <a:avLst/>
          </a:prstGeom>
          <a:gradFill>
            <a:gsLst>
              <a:gs pos="0">
                <a:srgbClr val="B3D4FE"/>
              </a:gs>
              <a:gs pos="100000">
                <a:srgbClr val="3368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6" name="文本框 105"/>
          <p:cNvSpPr txBox="1"/>
          <p:nvPr>
            <p:custDataLst>
              <p:tags r:id="rId18"/>
            </p:custDataLst>
          </p:nvPr>
        </p:nvSpPr>
        <p:spPr>
          <a:xfrm>
            <a:off x="6628765" y="1306195"/>
            <a:ext cx="1616075" cy="337185"/>
          </a:xfrm>
          <a:prstGeom prst="rect">
            <a:avLst/>
          </a:prstGeom>
          <a:noFill/>
        </p:spPr>
        <p:txBody>
          <a:bodyPr wrap="square" rtlCol="0">
            <a:spAutoFit/>
          </a:bodyPr>
          <a:p>
            <a:pPr algn="ctr">
              <a:defRPr>
                <a:latin typeface="微软雅黑"/>
                <a:ea typeface="微软雅黑"/>
                <a:cs typeface="微软雅黑"/>
              </a:defRPr>
            </a:pPr>
            <a:r>
              <a:rPr lang="zh-CN" altLang="en-US" sz="1600" b="1">
                <a:gradFill>
                  <a:gsLst>
                    <a:gs pos="0">
                      <a:srgbClr val="0042FF"/>
                    </a:gs>
                    <a:gs pos="100000">
                      <a:srgbClr val="0042FF"/>
                    </a:gs>
                  </a:gsLst>
                  <a:lin ang="5400000" scaled="0"/>
                </a:gradFill>
                <a:latin typeface="微软雅黑"/>
                <a:ea typeface="微软雅黑"/>
                <a:cs typeface="微软雅黑"/>
              </a:rPr>
              <a:t>直营</a:t>
            </a:r>
            <a:r>
              <a:rPr lang="en-US" altLang="zh-CN" sz="1600" b="1">
                <a:gradFill>
                  <a:gsLst>
                    <a:gs pos="0">
                      <a:srgbClr val="0042FF"/>
                    </a:gs>
                    <a:gs pos="100000">
                      <a:srgbClr val="0042FF"/>
                    </a:gs>
                  </a:gsLst>
                  <a:lin ang="5400000" scaled="0"/>
                </a:gradFill>
                <a:latin typeface="微软雅黑"/>
                <a:ea typeface="微软雅黑"/>
                <a:cs typeface="微软雅黑"/>
              </a:rPr>
              <a:t>+</a:t>
            </a:r>
            <a:r>
              <a:rPr lang="zh-CN" altLang="en-US" sz="1600" b="1">
                <a:gradFill>
                  <a:gsLst>
                    <a:gs pos="0">
                      <a:srgbClr val="0042FF"/>
                    </a:gs>
                    <a:gs pos="100000">
                      <a:srgbClr val="0042FF"/>
                    </a:gs>
                  </a:gsLst>
                  <a:lin ang="5400000" scaled="0"/>
                </a:gradFill>
                <a:latin typeface="微软雅黑"/>
                <a:ea typeface="微软雅黑"/>
                <a:cs typeface="微软雅黑"/>
              </a:rPr>
              <a:t>加盟模式</a:t>
            </a:r>
            <a:endParaRPr lang="zh-CN" altLang="en-US" sz="1600" b="1">
              <a:gradFill>
                <a:gsLst>
                  <a:gs pos="0">
                    <a:srgbClr val="0042FF"/>
                  </a:gs>
                  <a:gs pos="100000">
                    <a:srgbClr val="0042FF"/>
                  </a:gs>
                </a:gsLst>
                <a:lin ang="5400000" scaled="0"/>
              </a:gradFill>
              <a:latin typeface="微软雅黑"/>
              <a:ea typeface="微软雅黑"/>
              <a:cs typeface="微软雅黑"/>
            </a:endParaRPr>
          </a:p>
        </p:txBody>
      </p:sp>
      <p:sp>
        <p:nvSpPr>
          <p:cNvPr id="107" name="文本框 106"/>
          <p:cNvSpPr txBox="1"/>
          <p:nvPr>
            <p:custDataLst>
              <p:tags r:id="rId19"/>
            </p:custDataLst>
          </p:nvPr>
        </p:nvSpPr>
        <p:spPr>
          <a:xfrm>
            <a:off x="6731635" y="1601470"/>
            <a:ext cx="1264920" cy="275590"/>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（如比亚迪）</a:t>
            </a:r>
            <a:endParaRPr lang="zh-CN" altLang="en-US" sz="1200" b="1">
              <a:solidFill>
                <a:srgbClr val="383838"/>
              </a:solidFill>
              <a:latin typeface="微软雅黑"/>
              <a:ea typeface="微软雅黑"/>
              <a:cs typeface="微软雅黑"/>
            </a:endParaRPr>
          </a:p>
        </p:txBody>
      </p:sp>
      <p:sp>
        <p:nvSpPr>
          <p:cNvPr id="111" name="梯形 110"/>
          <p:cNvSpPr/>
          <p:nvPr>
            <p:custDataLst>
              <p:tags r:id="rId20"/>
            </p:custDataLst>
          </p:nvPr>
        </p:nvSpPr>
        <p:spPr>
          <a:xfrm>
            <a:off x="8867140" y="1853565"/>
            <a:ext cx="2705735" cy="234315"/>
          </a:xfrm>
          <a:prstGeom prst="trapezoid">
            <a:avLst>
              <a:gd name="adj" fmla="val 77057"/>
            </a:avLst>
          </a:prstGeom>
          <a:gradFill>
            <a:gsLst>
              <a:gs pos="50000">
                <a:srgbClr val="3368FF">
                  <a:alpha val="30000"/>
                </a:srgbClr>
              </a:gs>
              <a:gs pos="0">
                <a:srgbClr val="3368FF">
                  <a:alpha val="0"/>
                </a:srgbClr>
              </a:gs>
              <a:gs pos="100000">
                <a:srgbClr val="3368FF">
                  <a:alpha val="5000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sp>
        <p:nvSpPr>
          <p:cNvPr id="112" name="Freeform 1486"/>
          <p:cNvSpPr/>
          <p:nvPr>
            <p:custDataLst>
              <p:tags r:id="rId21"/>
            </p:custDataLst>
          </p:nvPr>
        </p:nvSpPr>
        <p:spPr>
          <a:xfrm>
            <a:off x="8867140" y="2087880"/>
            <a:ext cx="2705735" cy="76200"/>
          </a:xfrm>
          <a:custGeom>
            <a:avLst/>
            <a:gdLst/>
            <a:ahLst/>
            <a:cxnLst/>
            <a:rect l="0" t="0" r="0" b="0"/>
            <a:pathLst>
              <a:path w="10750295" h="362712">
                <a:moveTo>
                  <a:pt x="0" y="362712"/>
                </a:moveTo>
                <a:lnTo>
                  <a:pt x="10750295" y="362712"/>
                </a:lnTo>
                <a:lnTo>
                  <a:pt x="10750295" y="0"/>
                </a:lnTo>
                <a:lnTo>
                  <a:pt x="0" y="0"/>
                </a:lnTo>
                <a:lnTo>
                  <a:pt x="0" y="362712"/>
                </a:lnTo>
                <a:close/>
              </a:path>
            </a:pathLst>
          </a:custGeom>
          <a:solidFill>
            <a:srgbClr val="3368FF"/>
          </a:solidFill>
        </p:spPr>
        <p:style>
          <a:lnRef idx="0">
            <a:srgbClr val="FFFFFF"/>
          </a:lnRef>
          <a:fillRef idx="1">
            <a:srgbClr val="3368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l">
              <a:buClrTx/>
              <a:buSzTx/>
              <a:buFontTx/>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sym typeface="微软雅黑"/>
            </a:endParaRPr>
          </a:p>
        </p:txBody>
      </p:sp>
      <p:sp>
        <p:nvSpPr>
          <p:cNvPr id="113" name="椭圆 112"/>
          <p:cNvSpPr/>
          <p:nvPr>
            <p:custDataLst>
              <p:tags r:id="rId22"/>
            </p:custDataLst>
          </p:nvPr>
        </p:nvSpPr>
        <p:spPr>
          <a:xfrm>
            <a:off x="9200515" y="1334770"/>
            <a:ext cx="609600" cy="609600"/>
          </a:xfrm>
          <a:prstGeom prst="ellipse">
            <a:avLst/>
          </a:prstGeom>
          <a:gradFill>
            <a:gsLst>
              <a:gs pos="0">
                <a:srgbClr val="3368FF"/>
              </a:gs>
              <a:gs pos="100000">
                <a:srgbClr val="0042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14" name="文本框 113"/>
          <p:cNvSpPr txBox="1"/>
          <p:nvPr>
            <p:custDataLst>
              <p:tags r:id="rId23"/>
            </p:custDataLst>
          </p:nvPr>
        </p:nvSpPr>
        <p:spPr>
          <a:xfrm>
            <a:off x="9759950" y="1306195"/>
            <a:ext cx="1616075" cy="337185"/>
          </a:xfrm>
          <a:prstGeom prst="rect">
            <a:avLst/>
          </a:prstGeom>
          <a:noFill/>
        </p:spPr>
        <p:txBody>
          <a:bodyPr wrap="square" rtlCol="0">
            <a:spAutoFit/>
          </a:bodyPr>
          <a:p>
            <a:pPr lvl="0" algn="ctr">
              <a:buClrTx/>
              <a:buSzTx/>
              <a:buFontTx/>
              <a:defRPr>
                <a:latin typeface="微软雅黑"/>
                <a:ea typeface="微软雅黑"/>
                <a:cs typeface="微软雅黑"/>
              </a:defRPr>
            </a:pPr>
            <a:r>
              <a:rPr lang="en-US" altLang="zh-CN" sz="1600" b="1">
                <a:gradFill>
                  <a:gsLst>
                    <a:gs pos="0">
                      <a:srgbClr val="0042FF"/>
                    </a:gs>
                    <a:gs pos="100000">
                      <a:srgbClr val="0042FF"/>
                    </a:gs>
                  </a:gsLst>
                  <a:lin ang="5400000" scaled="0"/>
                </a:gradFill>
                <a:latin typeface="微软雅黑"/>
                <a:ea typeface="微软雅黑"/>
                <a:cs typeface="微软雅黑"/>
                <a:sym typeface="微软雅黑"/>
              </a:rPr>
              <a:t>直营</a:t>
            </a:r>
            <a:r>
              <a:rPr lang="en-US" altLang="zh-CN" sz="1600" b="1">
                <a:gradFill>
                  <a:gsLst>
                    <a:gs pos="0">
                      <a:srgbClr val="0042FF"/>
                    </a:gs>
                    <a:gs pos="100000">
                      <a:srgbClr val="0042FF"/>
                    </a:gs>
                  </a:gsLst>
                  <a:lin ang="5400000" scaled="0"/>
                </a:gradFill>
                <a:latin typeface="微软雅黑"/>
                <a:ea typeface="微软雅黑"/>
                <a:cs typeface="微软雅黑"/>
                <a:sym typeface="微软雅黑"/>
              </a:rPr>
              <a:t>+</a:t>
            </a:r>
            <a:r>
              <a:rPr lang="en-US" altLang="zh-CN" sz="1600" b="1">
                <a:gradFill>
                  <a:gsLst>
                    <a:gs pos="0">
                      <a:srgbClr val="0042FF"/>
                    </a:gs>
                    <a:gs pos="100000">
                      <a:srgbClr val="0042FF"/>
                    </a:gs>
                  </a:gsLst>
                  <a:lin ang="5400000" scaled="0"/>
                </a:gradFill>
                <a:latin typeface="微软雅黑"/>
                <a:ea typeface="微软雅黑"/>
                <a:cs typeface="微软雅黑"/>
                <a:sym typeface="微软雅黑"/>
              </a:rPr>
              <a:t>代理模型</a:t>
            </a:r>
            <a:endParaRPr lang="en-US" altLang="zh-CN" sz="1600" b="1">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15" name="文本框 114"/>
          <p:cNvSpPr txBox="1"/>
          <p:nvPr>
            <p:custDataLst>
              <p:tags r:id="rId24"/>
            </p:custDataLst>
          </p:nvPr>
        </p:nvSpPr>
        <p:spPr>
          <a:xfrm>
            <a:off x="9862820" y="1601470"/>
            <a:ext cx="1264920" cy="275590"/>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（如小鹏）</a:t>
            </a:r>
            <a:endParaRPr lang="zh-CN" altLang="en-US" sz="1200" b="1">
              <a:solidFill>
                <a:srgbClr val="383838"/>
              </a:solidFill>
              <a:latin typeface="微软雅黑"/>
              <a:ea typeface="微软雅黑"/>
              <a:cs typeface="微软雅黑"/>
              <a:sym typeface="微软雅黑"/>
            </a:endParaRPr>
          </a:p>
        </p:txBody>
      </p:sp>
      <p:pic>
        <p:nvPicPr>
          <p:cNvPr id="118" name="图片 117" descr="采购代理机构"/>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9349350" y="1456300"/>
            <a:ext cx="313200" cy="313200"/>
          </a:xfrm>
          <a:prstGeom prst="rect">
            <a:avLst/>
          </a:prstGeom>
        </p:spPr>
      </p:pic>
      <p:pic>
        <p:nvPicPr>
          <p:cNvPr id="120" name="图片 119" descr="加盟 (1)"/>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6224270" y="1475740"/>
            <a:ext cx="313200" cy="313200"/>
          </a:xfrm>
          <a:prstGeom prst="rect">
            <a:avLst/>
          </a:prstGeom>
        </p:spPr>
      </p:pic>
      <p:cxnSp>
        <p:nvCxnSpPr>
          <p:cNvPr id="121" name="直接连接符 120"/>
          <p:cNvCxnSpPr/>
          <p:nvPr/>
        </p:nvCxnSpPr>
        <p:spPr>
          <a:xfrm>
            <a:off x="5487670" y="2164080"/>
            <a:ext cx="0" cy="4373245"/>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122" name="直接连接符 121"/>
          <p:cNvCxnSpPr/>
          <p:nvPr/>
        </p:nvCxnSpPr>
        <p:spPr>
          <a:xfrm>
            <a:off x="8666480" y="2203450"/>
            <a:ext cx="0" cy="423164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123" name="文本框 122"/>
          <p:cNvSpPr txBox="1"/>
          <p:nvPr/>
        </p:nvSpPr>
        <p:spPr>
          <a:xfrm>
            <a:off x="958850" y="2734945"/>
            <a:ext cx="1077595" cy="58356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模式架构</a:t>
            </a:r>
            <a:endParaRPr lang="zh-CN" altLang="en-US" sz="1600"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说明</a:t>
            </a:r>
            <a:endParaRPr lang="zh-CN" altLang="en-US" sz="1600" b="1">
              <a:solidFill>
                <a:srgbClr val="0042FF"/>
              </a:solidFill>
              <a:latin typeface="微软雅黑"/>
              <a:ea typeface="微软雅黑"/>
              <a:cs typeface="微软雅黑"/>
            </a:endParaRPr>
          </a:p>
        </p:txBody>
      </p:sp>
      <p:pic>
        <p:nvPicPr>
          <p:cNvPr id="124" name="图片 123" descr="组织架构"/>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476250" y="2788920"/>
            <a:ext cx="351155" cy="351155"/>
          </a:xfrm>
          <a:prstGeom prst="rect">
            <a:avLst/>
          </a:prstGeom>
        </p:spPr>
      </p:pic>
      <p:sp>
        <p:nvSpPr>
          <p:cNvPr id="127" name="矩形 126"/>
          <p:cNvSpPr/>
          <p:nvPr/>
        </p:nvSpPr>
        <p:spPr>
          <a:xfrm>
            <a:off x="2557145" y="2844165"/>
            <a:ext cx="2527300" cy="978535"/>
          </a:xfrm>
          <a:prstGeom prst="rect">
            <a:avLst/>
          </a:prstGeom>
          <a:solidFill>
            <a:srgbClr val="FFFFFF"/>
          </a:solidFill>
          <a:ln>
            <a:solidFill>
              <a:srgbClr val="3368FF"/>
            </a:solidFill>
            <a:prstDash val="sysDot"/>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9" name="矩形 128"/>
          <p:cNvSpPr/>
          <p:nvPr/>
        </p:nvSpPr>
        <p:spPr>
          <a:xfrm>
            <a:off x="2929255" y="3084830"/>
            <a:ext cx="719455" cy="176530"/>
          </a:xfrm>
          <a:prstGeom prst="rect">
            <a:avLst/>
          </a:prstGeom>
          <a:solidFill>
            <a:srgbClr val="FFFFFF"/>
          </a:solidFill>
          <a:ln w="6350">
            <a:solidFill>
              <a:srgbClr val="DCDCDC"/>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经销商集团</a:t>
            </a:r>
            <a:endParaRPr lang="zh-CN" altLang="en-US" sz="1000">
              <a:solidFill>
                <a:srgbClr val="383838"/>
              </a:solidFill>
              <a:cs typeface="微软雅黑"/>
              <a:latin typeface="微软雅黑"/>
              <a:ea typeface="微软雅黑"/>
            </a:endParaRPr>
          </a:p>
        </p:txBody>
      </p:sp>
      <p:sp>
        <p:nvSpPr>
          <p:cNvPr id="139" name="矩形 138"/>
          <p:cNvSpPr/>
          <p:nvPr/>
        </p:nvSpPr>
        <p:spPr>
          <a:xfrm>
            <a:off x="4396105" y="2529205"/>
            <a:ext cx="719455" cy="176530"/>
          </a:xfrm>
          <a:prstGeom prst="rect">
            <a:avLst/>
          </a:prstGeom>
          <a:solidFill>
            <a:srgbClr val="FFFFFF"/>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区域管理</a:t>
            </a:r>
            <a:endParaRPr lang="zh-CN" altLang="en-US" sz="1000">
              <a:solidFill>
                <a:srgbClr val="383838"/>
              </a:solidFill>
              <a:cs typeface="微软雅黑"/>
              <a:latin typeface="微软雅黑"/>
              <a:ea typeface="微软雅黑"/>
            </a:endParaRPr>
          </a:p>
        </p:txBody>
      </p:sp>
      <p:sp>
        <p:nvSpPr>
          <p:cNvPr id="140" name="矩形 139"/>
          <p:cNvSpPr/>
          <p:nvPr/>
        </p:nvSpPr>
        <p:spPr>
          <a:xfrm>
            <a:off x="5640070" y="2898775"/>
            <a:ext cx="1388110" cy="978535"/>
          </a:xfrm>
          <a:prstGeom prst="rect">
            <a:avLst/>
          </a:prstGeom>
          <a:solidFill>
            <a:srgbClr val="FFFFFF"/>
          </a:solidFill>
          <a:ln>
            <a:solidFill>
              <a:srgbClr val="B3D4FE"/>
            </a:solidFill>
            <a:prstDash val="sysDot"/>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41" name="矩形 140"/>
          <p:cNvSpPr/>
          <p:nvPr/>
        </p:nvSpPr>
        <p:spPr>
          <a:xfrm>
            <a:off x="5889943" y="2798445"/>
            <a:ext cx="955675" cy="198120"/>
          </a:xfrm>
          <a:prstGeom prst="rect">
            <a:avLst/>
          </a:prstGeom>
          <a:solidFill>
            <a:srgbClr val="B3D4FE"/>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b="1">
                <a:cs typeface="微软雅黑"/>
                <a:latin typeface="微软雅黑"/>
                <a:ea typeface="微软雅黑"/>
              </a:rPr>
              <a:t>直营店</a:t>
            </a:r>
            <a:endParaRPr lang="zh-CN" altLang="en-US" sz="1000" b="1">
              <a:cs typeface="微软雅黑"/>
              <a:latin typeface="微软雅黑"/>
              <a:ea typeface="微软雅黑"/>
            </a:endParaRPr>
          </a:p>
        </p:txBody>
      </p:sp>
      <p:sp>
        <p:nvSpPr>
          <p:cNvPr id="148" name="矩形 147"/>
          <p:cNvSpPr/>
          <p:nvPr/>
        </p:nvSpPr>
        <p:spPr>
          <a:xfrm>
            <a:off x="7078345" y="2898775"/>
            <a:ext cx="1403985" cy="978535"/>
          </a:xfrm>
          <a:prstGeom prst="rect">
            <a:avLst/>
          </a:prstGeom>
          <a:solidFill>
            <a:srgbClr val="FFFFFF"/>
          </a:solidFill>
          <a:ln>
            <a:solidFill>
              <a:srgbClr val="B3D4FE"/>
            </a:solidFill>
            <a:prstDash val="sysDot"/>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50" name="矩形 149"/>
          <p:cNvSpPr/>
          <p:nvPr/>
        </p:nvSpPr>
        <p:spPr>
          <a:xfrm>
            <a:off x="6669405" y="2343785"/>
            <a:ext cx="854710" cy="235585"/>
          </a:xfrm>
          <a:prstGeom prst="rect">
            <a:avLst/>
          </a:prstGeom>
          <a:solidFill>
            <a:srgbClr val="FFFFFF"/>
          </a:solidFill>
          <a:ln w="19050">
            <a:solidFill>
              <a:srgbClr val="B3D4FE"/>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b="1">
                <a:solidFill>
                  <a:srgbClr val="0042FF"/>
                </a:solidFill>
                <a:cs typeface="微软雅黑"/>
                <a:latin typeface="微软雅黑"/>
                <a:ea typeface="微软雅黑"/>
              </a:rPr>
              <a:t>主机厂</a:t>
            </a:r>
            <a:endParaRPr lang="zh-CN" altLang="en-US" sz="1200" b="1">
              <a:solidFill>
                <a:srgbClr val="0042FF"/>
              </a:solidFill>
              <a:cs typeface="微软雅黑"/>
              <a:latin typeface="微软雅黑"/>
              <a:ea typeface="微软雅黑"/>
            </a:endParaRPr>
          </a:p>
        </p:txBody>
      </p:sp>
      <p:sp>
        <p:nvSpPr>
          <p:cNvPr id="143" name="矩形 142"/>
          <p:cNvSpPr/>
          <p:nvPr/>
        </p:nvSpPr>
        <p:spPr>
          <a:xfrm>
            <a:off x="5784850" y="3484880"/>
            <a:ext cx="505460" cy="286385"/>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152" name="文本框 151"/>
          <p:cNvSpPr txBox="1"/>
          <p:nvPr>
            <p:custDataLst>
              <p:tags r:id="rId31"/>
            </p:custDataLst>
          </p:nvPr>
        </p:nvSpPr>
        <p:spPr>
          <a:xfrm>
            <a:off x="5740400" y="3514725"/>
            <a:ext cx="615950" cy="3365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品牌体验</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中心</a:t>
            </a:r>
            <a:endParaRPr lang="zh-CN" altLang="en-US" sz="1000">
              <a:solidFill>
                <a:srgbClr val="383838"/>
              </a:solidFill>
              <a:latin typeface="微软雅黑"/>
              <a:ea typeface="微软雅黑"/>
              <a:cs typeface="微软雅黑"/>
            </a:endParaRPr>
          </a:p>
        </p:txBody>
      </p:sp>
      <p:sp>
        <p:nvSpPr>
          <p:cNvPr id="156" name="矩形 155"/>
          <p:cNvSpPr/>
          <p:nvPr/>
        </p:nvSpPr>
        <p:spPr>
          <a:xfrm>
            <a:off x="6423025" y="3484880"/>
            <a:ext cx="505460" cy="286385"/>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157" name="文本框 156"/>
          <p:cNvSpPr txBox="1"/>
          <p:nvPr>
            <p:custDataLst>
              <p:tags r:id="rId32"/>
            </p:custDataLst>
          </p:nvPr>
        </p:nvSpPr>
        <p:spPr>
          <a:xfrm>
            <a:off x="6378575" y="3514725"/>
            <a:ext cx="615950" cy="3365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直营销售</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团队</a:t>
            </a:r>
            <a:endParaRPr lang="zh-CN" altLang="en-US" sz="1000">
              <a:solidFill>
                <a:srgbClr val="383838"/>
              </a:solidFill>
              <a:latin typeface="微软雅黑"/>
              <a:ea typeface="微软雅黑"/>
              <a:cs typeface="微软雅黑"/>
            </a:endParaRPr>
          </a:p>
        </p:txBody>
      </p:sp>
      <p:sp>
        <p:nvSpPr>
          <p:cNvPr id="159" name="矩形 158"/>
          <p:cNvSpPr/>
          <p:nvPr/>
        </p:nvSpPr>
        <p:spPr>
          <a:xfrm>
            <a:off x="5982335" y="3148330"/>
            <a:ext cx="773430" cy="198755"/>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cs typeface="微软雅黑"/>
              <a:latin typeface="微软雅黑"/>
              <a:ea typeface="微软雅黑"/>
            </a:endParaRPr>
          </a:p>
        </p:txBody>
      </p:sp>
      <p:sp>
        <p:nvSpPr>
          <p:cNvPr id="160" name="文本框 159"/>
          <p:cNvSpPr txBox="1"/>
          <p:nvPr>
            <p:custDataLst>
              <p:tags r:id="rId33"/>
            </p:custDataLst>
          </p:nvPr>
        </p:nvSpPr>
        <p:spPr>
          <a:xfrm>
            <a:off x="6001385" y="3175635"/>
            <a:ext cx="732790"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核心城市</a:t>
            </a:r>
            <a:endParaRPr lang="zh-CN" altLang="en-US" sz="1000">
              <a:solidFill>
                <a:srgbClr val="383838"/>
              </a:solidFill>
              <a:latin typeface="微软雅黑"/>
              <a:ea typeface="微软雅黑"/>
              <a:cs typeface="微软雅黑"/>
            </a:endParaRPr>
          </a:p>
        </p:txBody>
      </p:sp>
      <p:cxnSp>
        <p:nvCxnSpPr>
          <p:cNvPr id="161" name="直接箭头连接符 160"/>
          <p:cNvCxnSpPr/>
          <p:nvPr/>
        </p:nvCxnSpPr>
        <p:spPr>
          <a:xfrm>
            <a:off x="6376035" y="2996565"/>
            <a:ext cx="2540" cy="149225"/>
          </a:xfrm>
          <a:prstGeom prst="straightConnector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164" name="肘形连接符 163"/>
          <p:cNvCxnSpPr/>
          <p:nvPr/>
        </p:nvCxnSpPr>
        <p:spPr>
          <a:xfrm rot="5400000">
            <a:off x="6141720" y="3260725"/>
            <a:ext cx="133985" cy="319405"/>
          </a:xfrm>
          <a:prstGeom prst="bentConnector3">
            <a:avLst>
              <a:gd name="adj1" fmla="val 41706"/>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165" name="肘形连接符 164"/>
          <p:cNvCxnSpPr/>
          <p:nvPr/>
        </p:nvCxnSpPr>
        <p:spPr>
          <a:xfrm rot="16200000" flipH="1">
            <a:off x="6461125" y="3260725"/>
            <a:ext cx="133985" cy="319405"/>
          </a:xfrm>
          <a:prstGeom prst="bentConnector3">
            <a:avLst>
              <a:gd name="adj1" fmla="val 41232"/>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sp>
        <p:nvSpPr>
          <p:cNvPr id="166" name="矩形 165"/>
          <p:cNvSpPr/>
          <p:nvPr/>
        </p:nvSpPr>
        <p:spPr>
          <a:xfrm>
            <a:off x="7331393" y="2798445"/>
            <a:ext cx="955675" cy="198120"/>
          </a:xfrm>
          <a:prstGeom prst="rect">
            <a:avLst/>
          </a:prstGeom>
          <a:solidFill>
            <a:srgbClr val="B3D4FE"/>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b="1">
                <a:cs typeface="微软雅黑"/>
                <a:latin typeface="微软雅黑"/>
                <a:ea typeface="微软雅黑"/>
              </a:rPr>
              <a:t>加盟网络</a:t>
            </a:r>
            <a:endParaRPr lang="zh-CN" altLang="en-US" sz="1000" b="1">
              <a:cs typeface="微软雅黑"/>
              <a:latin typeface="微软雅黑"/>
              <a:ea typeface="微软雅黑"/>
            </a:endParaRPr>
          </a:p>
        </p:txBody>
      </p:sp>
      <p:cxnSp>
        <p:nvCxnSpPr>
          <p:cNvPr id="169" name="直接箭头连接符 168"/>
          <p:cNvCxnSpPr/>
          <p:nvPr/>
        </p:nvCxnSpPr>
        <p:spPr>
          <a:xfrm>
            <a:off x="7788275" y="2996565"/>
            <a:ext cx="2540" cy="149225"/>
          </a:xfrm>
          <a:prstGeom prst="straightConnector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grpSp>
        <p:nvGrpSpPr>
          <p:cNvPr id="174" name="组合 173"/>
          <p:cNvGrpSpPr/>
          <p:nvPr/>
        </p:nvGrpSpPr>
        <p:grpSpPr>
          <a:xfrm>
            <a:off x="7071995" y="3529965"/>
            <a:ext cx="342265" cy="223520"/>
            <a:chOff x="11497" y="5355"/>
            <a:chExt cx="539" cy="352"/>
          </a:xfrm>
        </p:grpSpPr>
        <p:sp>
          <p:nvSpPr>
            <p:cNvPr id="170" name="矩形 169"/>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171" name="文本框 170"/>
            <p:cNvSpPr txBox="1"/>
            <p:nvPr>
              <p:custDataLst>
                <p:tags r:id="rId34"/>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加盟店</a:t>
              </a:r>
              <a:endParaRPr lang="zh-CN" altLang="en-US" sz="1000">
                <a:solidFill>
                  <a:srgbClr val="383838"/>
                </a:solidFill>
                <a:latin typeface="微软雅黑"/>
                <a:ea typeface="微软雅黑"/>
                <a:cs typeface="微软雅黑"/>
              </a:endParaRPr>
            </a:p>
          </p:txBody>
        </p:sp>
      </p:grpSp>
      <p:grpSp>
        <p:nvGrpSpPr>
          <p:cNvPr id="199" name="组合 198"/>
          <p:cNvGrpSpPr/>
          <p:nvPr/>
        </p:nvGrpSpPr>
        <p:grpSpPr>
          <a:xfrm>
            <a:off x="7418070" y="3529965"/>
            <a:ext cx="342265" cy="223520"/>
            <a:chOff x="11497" y="5355"/>
            <a:chExt cx="539" cy="352"/>
          </a:xfrm>
        </p:grpSpPr>
        <p:sp>
          <p:nvSpPr>
            <p:cNvPr id="200" name="矩形 199"/>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01" name="文本框 200"/>
            <p:cNvSpPr txBox="1"/>
            <p:nvPr>
              <p:custDataLst>
                <p:tags r:id="rId35"/>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加盟店</a:t>
              </a:r>
              <a:endParaRPr lang="zh-CN" altLang="en-US" sz="1000">
                <a:solidFill>
                  <a:srgbClr val="383838"/>
                </a:solidFill>
                <a:latin typeface="微软雅黑"/>
                <a:ea typeface="微软雅黑"/>
                <a:cs typeface="微软雅黑"/>
              </a:endParaRPr>
            </a:p>
          </p:txBody>
        </p:sp>
      </p:grpSp>
      <p:grpSp>
        <p:nvGrpSpPr>
          <p:cNvPr id="202" name="组合 201"/>
          <p:cNvGrpSpPr/>
          <p:nvPr/>
        </p:nvGrpSpPr>
        <p:grpSpPr>
          <a:xfrm>
            <a:off x="7764145" y="3529965"/>
            <a:ext cx="342265" cy="223520"/>
            <a:chOff x="11497" y="5355"/>
            <a:chExt cx="539" cy="352"/>
          </a:xfrm>
        </p:grpSpPr>
        <p:sp>
          <p:nvSpPr>
            <p:cNvPr id="203" name="矩形 202"/>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04" name="文本框 203"/>
            <p:cNvSpPr txBox="1"/>
            <p:nvPr>
              <p:custDataLst>
                <p:tags r:id="rId36"/>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加盟店</a:t>
              </a:r>
              <a:endParaRPr lang="zh-CN" altLang="en-US" sz="1000">
                <a:solidFill>
                  <a:srgbClr val="383838"/>
                </a:solidFill>
                <a:latin typeface="微软雅黑"/>
                <a:ea typeface="微软雅黑"/>
                <a:cs typeface="微软雅黑"/>
              </a:endParaRPr>
            </a:p>
          </p:txBody>
        </p:sp>
      </p:grpSp>
      <p:grpSp>
        <p:nvGrpSpPr>
          <p:cNvPr id="205" name="组合 204"/>
          <p:cNvGrpSpPr/>
          <p:nvPr/>
        </p:nvGrpSpPr>
        <p:grpSpPr>
          <a:xfrm>
            <a:off x="8110220" y="3529965"/>
            <a:ext cx="342265" cy="223520"/>
            <a:chOff x="11497" y="5355"/>
            <a:chExt cx="539" cy="352"/>
          </a:xfrm>
        </p:grpSpPr>
        <p:sp>
          <p:nvSpPr>
            <p:cNvPr id="206" name="矩形 205"/>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07" name="文本框 206"/>
            <p:cNvSpPr txBox="1"/>
            <p:nvPr>
              <p:custDataLst>
                <p:tags r:id="rId37"/>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加盟店</a:t>
              </a:r>
              <a:endParaRPr lang="zh-CN" altLang="en-US" sz="1000">
                <a:solidFill>
                  <a:srgbClr val="383838"/>
                </a:solidFill>
                <a:latin typeface="微软雅黑"/>
                <a:ea typeface="微软雅黑"/>
                <a:cs typeface="微软雅黑"/>
              </a:endParaRPr>
            </a:p>
          </p:txBody>
        </p:sp>
      </p:grpSp>
      <p:cxnSp>
        <p:nvCxnSpPr>
          <p:cNvPr id="208" name="肘形连接符 207"/>
          <p:cNvCxnSpPr/>
          <p:nvPr/>
        </p:nvCxnSpPr>
        <p:spPr>
          <a:xfrm rot="5400000">
            <a:off x="7418070" y="3162300"/>
            <a:ext cx="187960" cy="537845"/>
          </a:xfrm>
          <a:prstGeom prst="bentConnector3">
            <a:avLst>
              <a:gd name="adj1" fmla="val 4983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209" name="肘形连接符 208"/>
          <p:cNvCxnSpPr/>
          <p:nvPr/>
        </p:nvCxnSpPr>
        <p:spPr>
          <a:xfrm rot="5400000" flipV="1">
            <a:off x="7920355" y="3164205"/>
            <a:ext cx="220980" cy="501650"/>
          </a:xfrm>
          <a:prstGeom prst="bentConnector3">
            <a:avLst>
              <a:gd name="adj1" fmla="val 5747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sp>
        <p:nvSpPr>
          <p:cNvPr id="211" name="矩形 210"/>
          <p:cNvSpPr/>
          <p:nvPr/>
        </p:nvSpPr>
        <p:spPr>
          <a:xfrm>
            <a:off x="7394575" y="3148330"/>
            <a:ext cx="773430" cy="198755"/>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cs typeface="微软雅黑"/>
              <a:latin typeface="微软雅黑"/>
              <a:ea typeface="微软雅黑"/>
            </a:endParaRPr>
          </a:p>
        </p:txBody>
      </p:sp>
      <p:sp>
        <p:nvSpPr>
          <p:cNvPr id="212" name="文本框 211"/>
          <p:cNvSpPr txBox="1"/>
          <p:nvPr>
            <p:custDataLst>
              <p:tags r:id="rId38"/>
            </p:custDataLst>
          </p:nvPr>
        </p:nvSpPr>
        <p:spPr>
          <a:xfrm>
            <a:off x="7413625" y="3175635"/>
            <a:ext cx="732790"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区域市场</a:t>
            </a:r>
            <a:endParaRPr lang="zh-CN" altLang="en-US" sz="1000">
              <a:solidFill>
                <a:srgbClr val="383838"/>
              </a:solidFill>
              <a:latin typeface="微软雅黑"/>
              <a:ea typeface="微软雅黑"/>
              <a:cs typeface="微软雅黑"/>
            </a:endParaRPr>
          </a:p>
        </p:txBody>
      </p:sp>
      <p:cxnSp>
        <p:nvCxnSpPr>
          <p:cNvPr id="213" name="直接箭头连接符 212"/>
          <p:cNvCxnSpPr/>
          <p:nvPr/>
        </p:nvCxnSpPr>
        <p:spPr>
          <a:xfrm>
            <a:off x="7592060" y="3433445"/>
            <a:ext cx="1270" cy="92710"/>
          </a:xfrm>
          <a:prstGeom prst="straightConnector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214" name="直接箭头连接符 213"/>
          <p:cNvCxnSpPr/>
          <p:nvPr/>
        </p:nvCxnSpPr>
        <p:spPr>
          <a:xfrm>
            <a:off x="7957185" y="3433445"/>
            <a:ext cx="1270" cy="92710"/>
          </a:xfrm>
          <a:prstGeom prst="straightConnector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sp>
        <p:nvSpPr>
          <p:cNvPr id="215" name="左大括号 214"/>
          <p:cNvSpPr/>
          <p:nvPr/>
        </p:nvSpPr>
        <p:spPr>
          <a:xfrm rot="5400000" flipV="1">
            <a:off x="7041515" y="1878965"/>
            <a:ext cx="117475" cy="1668780"/>
          </a:xfrm>
          <a:prstGeom prst="leftBrace">
            <a:avLst>
              <a:gd name="adj1" fmla="val 270540"/>
              <a:gd name="adj2" fmla="val 49638"/>
            </a:avLst>
          </a:prstGeom>
          <a:ln>
            <a:solidFill>
              <a:srgbClr val="B3D4FE"/>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16" name="矩形 215"/>
          <p:cNvSpPr/>
          <p:nvPr/>
        </p:nvSpPr>
        <p:spPr>
          <a:xfrm>
            <a:off x="3367723" y="2771775"/>
            <a:ext cx="955675" cy="198120"/>
          </a:xfrm>
          <a:prstGeom prst="rect">
            <a:avLst/>
          </a:prstGeom>
          <a:solidFill>
            <a:srgbClr val="3368FF"/>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sz="1000" b="1">
                <a:solidFill>
                  <a:srgbClr val="FFFFFF"/>
                </a:solidFill>
                <a:cs typeface="微软雅黑"/>
                <a:latin typeface="微软雅黑"/>
                <a:ea typeface="微软雅黑"/>
              </a:rPr>
              <a:t>经销商网络</a:t>
            </a:r>
            <a:endParaRPr lang="zh-CN" altLang="en-US" sz="1000" b="1">
              <a:solidFill>
                <a:srgbClr val="FFFFFF"/>
              </a:solidFill>
              <a:cs typeface="微软雅黑"/>
              <a:latin typeface="微软雅黑"/>
              <a:ea typeface="微软雅黑"/>
            </a:endParaRPr>
          </a:p>
        </p:txBody>
      </p:sp>
      <p:sp>
        <p:nvSpPr>
          <p:cNvPr id="217" name="矩形 216"/>
          <p:cNvSpPr/>
          <p:nvPr/>
        </p:nvSpPr>
        <p:spPr>
          <a:xfrm>
            <a:off x="3368040" y="2343785"/>
            <a:ext cx="854710" cy="235585"/>
          </a:xfrm>
          <a:prstGeom prst="rect">
            <a:avLst/>
          </a:prstGeom>
          <a:solidFill>
            <a:srgbClr val="FFFFFF"/>
          </a:solidFill>
          <a:ln w="19050">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b="1">
                <a:solidFill>
                  <a:srgbClr val="0042FF"/>
                </a:solidFill>
                <a:cs typeface="微软雅黑"/>
                <a:latin typeface="微软雅黑"/>
                <a:ea typeface="微软雅黑"/>
              </a:rPr>
              <a:t>主机厂</a:t>
            </a:r>
            <a:endParaRPr lang="zh-CN" altLang="en-US" sz="1200" b="1">
              <a:solidFill>
                <a:srgbClr val="0042FF"/>
              </a:solidFill>
              <a:cs typeface="微软雅黑"/>
              <a:latin typeface="微软雅黑"/>
              <a:ea typeface="微软雅黑"/>
            </a:endParaRPr>
          </a:p>
        </p:txBody>
      </p:sp>
      <p:cxnSp>
        <p:nvCxnSpPr>
          <p:cNvPr id="218" name="肘形连接符 217"/>
          <p:cNvCxnSpPr>
            <a:stCxn id="217" idx="3"/>
            <a:endCxn id="139" idx="0"/>
          </p:cNvCxnSpPr>
          <p:nvPr/>
        </p:nvCxnSpPr>
        <p:spPr>
          <a:xfrm>
            <a:off x="4222750" y="2461895"/>
            <a:ext cx="533400" cy="67310"/>
          </a:xfrm>
          <a:prstGeom prst="bentConnector2">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grpSp>
        <p:nvGrpSpPr>
          <p:cNvPr id="222" name="组合 221"/>
          <p:cNvGrpSpPr/>
          <p:nvPr/>
        </p:nvGrpSpPr>
        <p:grpSpPr>
          <a:xfrm>
            <a:off x="2614930" y="3494405"/>
            <a:ext cx="382905" cy="223520"/>
            <a:chOff x="11467" y="5355"/>
            <a:chExt cx="603" cy="352"/>
          </a:xfrm>
        </p:grpSpPr>
        <p:sp>
          <p:nvSpPr>
            <p:cNvPr id="223" name="矩形 222"/>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24" name="文本框 223"/>
            <p:cNvSpPr txBox="1"/>
            <p:nvPr>
              <p:custDataLst>
                <p:tags r:id="rId39"/>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grpSp>
        <p:nvGrpSpPr>
          <p:cNvPr id="225" name="组合 224"/>
          <p:cNvGrpSpPr/>
          <p:nvPr/>
        </p:nvGrpSpPr>
        <p:grpSpPr>
          <a:xfrm>
            <a:off x="3449320" y="3494405"/>
            <a:ext cx="382905" cy="223520"/>
            <a:chOff x="11467" y="5355"/>
            <a:chExt cx="603" cy="352"/>
          </a:xfrm>
        </p:grpSpPr>
        <p:sp>
          <p:nvSpPr>
            <p:cNvPr id="226" name="矩形 225"/>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27" name="文本框 226"/>
            <p:cNvSpPr txBox="1"/>
            <p:nvPr>
              <p:custDataLst>
                <p:tags r:id="rId40"/>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grpSp>
        <p:nvGrpSpPr>
          <p:cNvPr id="228" name="组合 227"/>
          <p:cNvGrpSpPr/>
          <p:nvPr/>
        </p:nvGrpSpPr>
        <p:grpSpPr>
          <a:xfrm>
            <a:off x="2893060" y="3494405"/>
            <a:ext cx="382905" cy="223520"/>
            <a:chOff x="11467" y="5355"/>
            <a:chExt cx="603" cy="352"/>
          </a:xfrm>
        </p:grpSpPr>
        <p:sp>
          <p:nvSpPr>
            <p:cNvPr id="229" name="矩形 228"/>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30" name="文本框 229"/>
            <p:cNvSpPr txBox="1"/>
            <p:nvPr>
              <p:custDataLst>
                <p:tags r:id="rId41"/>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grpSp>
        <p:nvGrpSpPr>
          <p:cNvPr id="237" name="组合 236"/>
          <p:cNvGrpSpPr/>
          <p:nvPr/>
        </p:nvGrpSpPr>
        <p:grpSpPr>
          <a:xfrm>
            <a:off x="3171190" y="3494405"/>
            <a:ext cx="382905" cy="223520"/>
            <a:chOff x="11467" y="5355"/>
            <a:chExt cx="603" cy="352"/>
          </a:xfrm>
        </p:grpSpPr>
        <p:sp>
          <p:nvSpPr>
            <p:cNvPr id="238" name="矩形 237"/>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39" name="文本框 238"/>
            <p:cNvSpPr txBox="1"/>
            <p:nvPr>
              <p:custDataLst>
                <p:tags r:id="rId42"/>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cxnSp>
        <p:nvCxnSpPr>
          <p:cNvPr id="246" name="肘形连接符 245"/>
          <p:cNvCxnSpPr>
            <a:stCxn id="129" idx="2"/>
            <a:endCxn id="223" idx="0"/>
          </p:cNvCxnSpPr>
          <p:nvPr/>
        </p:nvCxnSpPr>
        <p:spPr>
          <a:xfrm rot="5400000">
            <a:off x="2931478" y="3136583"/>
            <a:ext cx="233045" cy="482600"/>
          </a:xfrm>
          <a:prstGeom prst="bentConnector3">
            <a:avLst>
              <a:gd name="adj1" fmla="val 32425"/>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247" name="肘形连接符 246"/>
          <p:cNvCxnSpPr>
            <a:stCxn id="129" idx="2"/>
            <a:endCxn id="226" idx="0"/>
          </p:cNvCxnSpPr>
          <p:nvPr/>
        </p:nvCxnSpPr>
        <p:spPr>
          <a:xfrm rot="5400000" flipV="1">
            <a:off x="3348673" y="3201988"/>
            <a:ext cx="233045" cy="351790"/>
          </a:xfrm>
          <a:prstGeom prst="bentConnector3">
            <a:avLst>
              <a:gd name="adj1" fmla="val 33787"/>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sp>
        <p:nvSpPr>
          <p:cNvPr id="249" name="文本框 248"/>
          <p:cNvSpPr txBox="1"/>
          <p:nvPr>
            <p:custDataLst>
              <p:tags r:id="rId43"/>
            </p:custDataLst>
          </p:nvPr>
        </p:nvSpPr>
        <p:spPr>
          <a:xfrm>
            <a:off x="4001770" y="3588385"/>
            <a:ext cx="1020445" cy="21399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独立经销商商</a:t>
            </a:r>
            <a:endParaRPr lang="zh-CN" altLang="en-US" sz="1000">
              <a:solidFill>
                <a:srgbClr val="383838"/>
              </a:solidFill>
              <a:latin typeface="微软雅黑"/>
              <a:ea typeface="微软雅黑"/>
              <a:cs typeface="微软雅黑"/>
            </a:endParaRPr>
          </a:p>
        </p:txBody>
      </p:sp>
      <p:cxnSp>
        <p:nvCxnSpPr>
          <p:cNvPr id="250" name="曲线连接符 249"/>
          <p:cNvCxnSpPr>
            <a:stCxn id="129" idx="0"/>
            <a:endCxn id="139" idx="2"/>
          </p:cNvCxnSpPr>
          <p:nvPr/>
        </p:nvCxnSpPr>
        <p:spPr>
          <a:xfrm rot="16200000">
            <a:off x="3832860" y="2161540"/>
            <a:ext cx="379095" cy="1466850"/>
          </a:xfrm>
          <a:prstGeom prst="curvedConnector3">
            <a:avLst>
              <a:gd name="adj1" fmla="val 11306"/>
            </a:avLst>
          </a:prstGeom>
          <a:ln w="6350">
            <a:solidFill>
              <a:srgbClr val="DCDCDC"/>
            </a:solidFill>
            <a:tailEnd type="none" w="med" len="sm"/>
          </a:ln>
        </p:spPr>
        <p:style>
          <a:lnRef idx="2">
            <a:srgbClr val="0042FF"/>
          </a:lnRef>
          <a:fillRef idx="0">
            <a:srgbClr val="FFFFFF"/>
          </a:fillRef>
          <a:effectRef idx="0">
            <a:srgbClr val="FFFFFF"/>
          </a:effectRef>
          <a:fontRef idx="minor">
            <a:srgbClr val="383838"/>
          </a:fontRef>
        </p:style>
      </p:cxnSp>
      <p:cxnSp>
        <p:nvCxnSpPr>
          <p:cNvPr id="252" name="曲线连接符 251"/>
          <p:cNvCxnSpPr>
            <a:stCxn id="242" idx="0"/>
            <a:endCxn id="139" idx="2"/>
          </p:cNvCxnSpPr>
          <p:nvPr/>
        </p:nvCxnSpPr>
        <p:spPr>
          <a:xfrm rot="16200000">
            <a:off x="4081145" y="2689225"/>
            <a:ext cx="658495" cy="690880"/>
          </a:xfrm>
          <a:prstGeom prst="curvedConnector3">
            <a:avLst>
              <a:gd name="adj1" fmla="val 50000"/>
            </a:avLst>
          </a:prstGeom>
          <a:ln w="6350">
            <a:solidFill>
              <a:srgbClr val="DCDCDC"/>
            </a:solidFill>
            <a:tailEnd type="none" w="med" len="sm"/>
          </a:ln>
        </p:spPr>
        <p:style>
          <a:lnRef idx="2">
            <a:srgbClr val="0042FF"/>
          </a:lnRef>
          <a:fillRef idx="0">
            <a:srgbClr val="FFFFFF"/>
          </a:fillRef>
          <a:effectRef idx="0">
            <a:srgbClr val="FFFFFF"/>
          </a:effectRef>
          <a:fontRef idx="minor">
            <a:srgbClr val="383838"/>
          </a:fontRef>
        </p:style>
      </p:cxnSp>
      <p:cxnSp>
        <p:nvCxnSpPr>
          <p:cNvPr id="253" name="曲线连接符 252"/>
          <p:cNvCxnSpPr/>
          <p:nvPr/>
        </p:nvCxnSpPr>
        <p:spPr>
          <a:xfrm rot="16200000">
            <a:off x="4243070" y="2830830"/>
            <a:ext cx="621665" cy="410210"/>
          </a:xfrm>
          <a:prstGeom prst="curvedConnector3">
            <a:avLst>
              <a:gd name="adj1" fmla="val 50000"/>
            </a:avLst>
          </a:prstGeom>
          <a:ln w="6350">
            <a:solidFill>
              <a:srgbClr val="DCDCDC"/>
            </a:solidFill>
            <a:tailEnd type="none" w="med" len="sm"/>
          </a:ln>
        </p:spPr>
        <p:style>
          <a:lnRef idx="2">
            <a:srgbClr val="0042FF"/>
          </a:lnRef>
          <a:fillRef idx="0">
            <a:srgbClr val="FFFFFF"/>
          </a:fillRef>
          <a:effectRef idx="0">
            <a:srgbClr val="FFFFFF"/>
          </a:effectRef>
          <a:fontRef idx="minor">
            <a:srgbClr val="383838"/>
          </a:fontRef>
        </p:style>
      </p:cxnSp>
      <p:cxnSp>
        <p:nvCxnSpPr>
          <p:cNvPr id="254" name="曲线连接符 253"/>
          <p:cNvCxnSpPr/>
          <p:nvPr/>
        </p:nvCxnSpPr>
        <p:spPr>
          <a:xfrm rot="16200000">
            <a:off x="4362450" y="2940685"/>
            <a:ext cx="658495" cy="134620"/>
          </a:xfrm>
          <a:prstGeom prst="curvedConnector3">
            <a:avLst>
              <a:gd name="adj1" fmla="val 50000"/>
            </a:avLst>
          </a:prstGeom>
          <a:ln w="6350">
            <a:solidFill>
              <a:srgbClr val="DCDCDC"/>
            </a:solidFill>
            <a:tailEnd type="triangle" w="med" len="med"/>
          </a:ln>
        </p:spPr>
        <p:style>
          <a:lnRef idx="2">
            <a:srgbClr val="0042FF"/>
          </a:lnRef>
          <a:fillRef idx="0">
            <a:srgbClr val="FFFFFF"/>
          </a:fillRef>
          <a:effectRef idx="0">
            <a:srgbClr val="FFFFFF"/>
          </a:effectRef>
          <a:fontRef idx="minor">
            <a:srgbClr val="383838"/>
          </a:fontRef>
        </p:style>
      </p:cxnSp>
      <p:grpSp>
        <p:nvGrpSpPr>
          <p:cNvPr id="256" name="组合 255"/>
          <p:cNvGrpSpPr/>
          <p:nvPr/>
        </p:nvGrpSpPr>
        <p:grpSpPr>
          <a:xfrm>
            <a:off x="4429760" y="3343910"/>
            <a:ext cx="382905" cy="223520"/>
            <a:chOff x="11467" y="5355"/>
            <a:chExt cx="603" cy="352"/>
          </a:xfrm>
        </p:grpSpPr>
        <p:sp>
          <p:nvSpPr>
            <p:cNvPr id="257" name="矩形 256"/>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58" name="文本框 257"/>
            <p:cNvSpPr txBox="1"/>
            <p:nvPr>
              <p:custDataLst>
                <p:tags r:id="rId44"/>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grpSp>
        <p:nvGrpSpPr>
          <p:cNvPr id="259" name="组合 258"/>
          <p:cNvGrpSpPr/>
          <p:nvPr/>
        </p:nvGrpSpPr>
        <p:grpSpPr>
          <a:xfrm>
            <a:off x="4707890" y="3343910"/>
            <a:ext cx="382905" cy="223520"/>
            <a:chOff x="11467" y="5355"/>
            <a:chExt cx="603" cy="352"/>
          </a:xfrm>
        </p:grpSpPr>
        <p:sp>
          <p:nvSpPr>
            <p:cNvPr id="260" name="矩形 259"/>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61" name="文本框 260"/>
            <p:cNvSpPr txBox="1"/>
            <p:nvPr>
              <p:custDataLst>
                <p:tags r:id="rId45"/>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grpSp>
        <p:nvGrpSpPr>
          <p:cNvPr id="262" name="组合 261"/>
          <p:cNvGrpSpPr/>
          <p:nvPr/>
        </p:nvGrpSpPr>
        <p:grpSpPr>
          <a:xfrm>
            <a:off x="3873500" y="3343910"/>
            <a:ext cx="382905" cy="223520"/>
            <a:chOff x="11467" y="5355"/>
            <a:chExt cx="603" cy="352"/>
          </a:xfrm>
        </p:grpSpPr>
        <p:sp>
          <p:nvSpPr>
            <p:cNvPr id="263" name="矩形 262"/>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64" name="文本框 263"/>
            <p:cNvSpPr txBox="1"/>
            <p:nvPr>
              <p:custDataLst>
                <p:tags r:id="rId46"/>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grpSp>
        <p:nvGrpSpPr>
          <p:cNvPr id="265" name="组合 264"/>
          <p:cNvGrpSpPr/>
          <p:nvPr/>
        </p:nvGrpSpPr>
        <p:grpSpPr>
          <a:xfrm>
            <a:off x="4151630" y="3343910"/>
            <a:ext cx="382905" cy="223520"/>
            <a:chOff x="11467" y="5355"/>
            <a:chExt cx="603" cy="352"/>
          </a:xfrm>
        </p:grpSpPr>
        <p:sp>
          <p:nvSpPr>
            <p:cNvPr id="266" name="矩形 265"/>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67" name="文本框 266"/>
            <p:cNvSpPr txBox="1"/>
            <p:nvPr>
              <p:custDataLst>
                <p:tags r:id="rId47"/>
              </p:custDataLst>
            </p:nvPr>
          </p:nvSpPr>
          <p:spPr>
            <a:xfrm>
              <a:off x="11467" y="5387"/>
              <a:ext cx="603" cy="293"/>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a:t>
              </a:r>
              <a:endParaRPr lang="zh-CN" altLang="en-US" sz="1000">
                <a:solidFill>
                  <a:srgbClr val="383838"/>
                </a:solidFill>
                <a:latin typeface="微软雅黑"/>
                <a:ea typeface="微软雅黑"/>
                <a:cs typeface="微软雅黑"/>
              </a:endParaRPr>
            </a:p>
          </p:txBody>
        </p:sp>
      </p:grpSp>
      <p:cxnSp>
        <p:nvCxnSpPr>
          <p:cNvPr id="268" name="曲线连接符 267"/>
          <p:cNvCxnSpPr/>
          <p:nvPr/>
        </p:nvCxnSpPr>
        <p:spPr>
          <a:xfrm rot="16200000" flipV="1">
            <a:off x="4519295" y="2955925"/>
            <a:ext cx="628650" cy="137160"/>
          </a:xfrm>
          <a:prstGeom prst="curvedConnector3">
            <a:avLst>
              <a:gd name="adj1" fmla="val 49899"/>
            </a:avLst>
          </a:prstGeom>
          <a:ln w="6350">
            <a:solidFill>
              <a:srgbClr val="DCDCDC"/>
            </a:solidFill>
            <a:tailEnd type="none" w="med" len="sm"/>
          </a:ln>
        </p:spPr>
        <p:style>
          <a:lnRef idx="2">
            <a:srgbClr val="0042FF"/>
          </a:lnRef>
          <a:fillRef idx="0">
            <a:srgbClr val="FFFFFF"/>
          </a:fillRef>
          <a:effectRef idx="0">
            <a:srgbClr val="FFFFFF"/>
          </a:effectRef>
          <a:fontRef idx="minor">
            <a:srgbClr val="383838"/>
          </a:fontRef>
        </p:style>
      </p:cxnSp>
      <p:cxnSp>
        <p:nvCxnSpPr>
          <p:cNvPr id="269" name="直接连接符 268"/>
          <p:cNvCxnSpPr/>
          <p:nvPr>
            <p:custDataLst>
              <p:tags r:id="rId48"/>
            </p:custDataLst>
          </p:nvPr>
        </p:nvCxnSpPr>
        <p:spPr>
          <a:xfrm>
            <a:off x="2541270" y="4039870"/>
            <a:ext cx="2695575" cy="0"/>
          </a:xfrm>
          <a:prstGeom prst="line">
            <a:avLst/>
          </a:prstGeom>
          <a:ln>
            <a:solidFill>
              <a:srgbClr val="383838">
                <a:alpha val="70000"/>
              </a:srgbClr>
            </a:solidFill>
          </a:ln>
        </p:spPr>
        <p:style>
          <a:lnRef idx="2">
            <a:srgbClr val="0042FF"/>
          </a:lnRef>
          <a:fillRef idx="0">
            <a:srgbClr val="FFFFFF"/>
          </a:fillRef>
          <a:effectRef idx="0">
            <a:srgbClr val="FFFFFF"/>
          </a:effectRef>
          <a:fontRef idx="minor">
            <a:srgbClr val="383838"/>
          </a:fontRef>
        </p:style>
      </p:cxnSp>
      <p:sp>
        <p:nvSpPr>
          <p:cNvPr id="270" name="矩形 269"/>
          <p:cNvSpPr/>
          <p:nvPr/>
        </p:nvSpPr>
        <p:spPr>
          <a:xfrm>
            <a:off x="8808720" y="2823845"/>
            <a:ext cx="1388110" cy="978535"/>
          </a:xfrm>
          <a:prstGeom prst="rect">
            <a:avLst/>
          </a:prstGeom>
          <a:solidFill>
            <a:srgbClr val="FFFFFF"/>
          </a:solidFill>
          <a:ln>
            <a:solidFill>
              <a:srgbClr val="3368FF"/>
            </a:solidFill>
            <a:prstDash val="sysDot"/>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71" name="矩形 270"/>
          <p:cNvSpPr/>
          <p:nvPr/>
        </p:nvSpPr>
        <p:spPr>
          <a:xfrm>
            <a:off x="9058593" y="2723515"/>
            <a:ext cx="955675" cy="198120"/>
          </a:xfrm>
          <a:prstGeom prst="rect">
            <a:avLst/>
          </a:prstGeom>
          <a:solidFill>
            <a:srgbClr val="3368FF"/>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sz="1000" b="1">
                <a:solidFill>
                  <a:srgbClr val="FFFFFF"/>
                </a:solidFill>
                <a:cs typeface="微软雅黑"/>
                <a:latin typeface="微软雅黑"/>
                <a:ea typeface="微软雅黑"/>
              </a:rPr>
              <a:t>直营旗舰店</a:t>
            </a:r>
            <a:endParaRPr lang="zh-CN" altLang="en-US" sz="1000" b="1">
              <a:solidFill>
                <a:srgbClr val="FFFFFF"/>
              </a:solidFill>
              <a:cs typeface="微软雅黑"/>
              <a:latin typeface="微软雅黑"/>
              <a:ea typeface="微软雅黑"/>
            </a:endParaRPr>
          </a:p>
        </p:txBody>
      </p:sp>
      <p:sp>
        <p:nvSpPr>
          <p:cNvPr id="272" name="矩形 271"/>
          <p:cNvSpPr/>
          <p:nvPr/>
        </p:nvSpPr>
        <p:spPr>
          <a:xfrm>
            <a:off x="10246995" y="2823845"/>
            <a:ext cx="1403985" cy="978535"/>
          </a:xfrm>
          <a:prstGeom prst="rect">
            <a:avLst/>
          </a:prstGeom>
          <a:solidFill>
            <a:srgbClr val="FFFFFF"/>
          </a:solidFill>
          <a:ln>
            <a:solidFill>
              <a:srgbClr val="3368FF"/>
            </a:solidFill>
            <a:prstDash val="sysDot"/>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73" name="矩形 272"/>
          <p:cNvSpPr/>
          <p:nvPr/>
        </p:nvSpPr>
        <p:spPr>
          <a:xfrm>
            <a:off x="9838055" y="2268855"/>
            <a:ext cx="854710" cy="235585"/>
          </a:xfrm>
          <a:prstGeom prst="rect">
            <a:avLst/>
          </a:prstGeom>
          <a:solidFill>
            <a:srgbClr val="FFFFFF"/>
          </a:solidFill>
          <a:ln w="19050">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b="1">
                <a:solidFill>
                  <a:srgbClr val="0042FF"/>
                </a:solidFill>
                <a:cs typeface="微软雅黑"/>
                <a:latin typeface="微软雅黑"/>
                <a:ea typeface="微软雅黑"/>
              </a:rPr>
              <a:t>主机厂</a:t>
            </a:r>
            <a:endParaRPr lang="zh-CN" altLang="en-US" sz="1200" b="1">
              <a:solidFill>
                <a:srgbClr val="0042FF"/>
              </a:solidFill>
              <a:cs typeface="微软雅黑"/>
              <a:latin typeface="微软雅黑"/>
              <a:ea typeface="微软雅黑"/>
            </a:endParaRPr>
          </a:p>
        </p:txBody>
      </p:sp>
      <p:sp>
        <p:nvSpPr>
          <p:cNvPr id="274" name="矩形 273"/>
          <p:cNvSpPr/>
          <p:nvPr/>
        </p:nvSpPr>
        <p:spPr>
          <a:xfrm>
            <a:off x="8953500" y="3409950"/>
            <a:ext cx="505460" cy="286385"/>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75" name="文本框 274"/>
          <p:cNvSpPr txBox="1"/>
          <p:nvPr>
            <p:custDataLst>
              <p:tags r:id="rId49"/>
            </p:custDataLst>
          </p:nvPr>
        </p:nvSpPr>
        <p:spPr>
          <a:xfrm>
            <a:off x="8909050" y="3439795"/>
            <a:ext cx="615950" cy="31369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全功能展厅</a:t>
            </a:r>
            <a:endParaRPr lang="zh-CN" altLang="en-US" sz="1000">
              <a:solidFill>
                <a:srgbClr val="383838"/>
              </a:solidFill>
              <a:latin typeface="微软雅黑"/>
              <a:ea typeface="微软雅黑"/>
              <a:cs typeface="微软雅黑"/>
            </a:endParaRPr>
          </a:p>
        </p:txBody>
      </p:sp>
      <p:sp>
        <p:nvSpPr>
          <p:cNvPr id="276" name="矩形 275"/>
          <p:cNvSpPr/>
          <p:nvPr/>
        </p:nvSpPr>
        <p:spPr>
          <a:xfrm>
            <a:off x="9591675" y="3409950"/>
            <a:ext cx="505460" cy="286385"/>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77" name="文本框 276"/>
          <p:cNvSpPr txBox="1"/>
          <p:nvPr>
            <p:custDataLst>
              <p:tags r:id="rId50"/>
            </p:custDataLst>
          </p:nvPr>
        </p:nvSpPr>
        <p:spPr>
          <a:xfrm>
            <a:off x="9547225" y="3439795"/>
            <a:ext cx="615950" cy="3365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售后服务</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中心</a:t>
            </a:r>
            <a:endParaRPr lang="zh-CN" altLang="en-US" sz="1000">
              <a:solidFill>
                <a:srgbClr val="383838"/>
              </a:solidFill>
              <a:latin typeface="微软雅黑"/>
              <a:ea typeface="微软雅黑"/>
              <a:cs typeface="微软雅黑"/>
            </a:endParaRPr>
          </a:p>
        </p:txBody>
      </p:sp>
      <p:sp>
        <p:nvSpPr>
          <p:cNvPr id="278" name="矩形 277"/>
          <p:cNvSpPr/>
          <p:nvPr/>
        </p:nvSpPr>
        <p:spPr>
          <a:xfrm>
            <a:off x="9150985" y="3073400"/>
            <a:ext cx="773430" cy="198755"/>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cs typeface="微软雅黑"/>
              <a:latin typeface="微软雅黑"/>
              <a:ea typeface="微软雅黑"/>
            </a:endParaRPr>
          </a:p>
        </p:txBody>
      </p:sp>
      <p:sp>
        <p:nvSpPr>
          <p:cNvPr id="279" name="文本框 278"/>
          <p:cNvSpPr txBox="1"/>
          <p:nvPr>
            <p:custDataLst>
              <p:tags r:id="rId51"/>
            </p:custDataLst>
          </p:nvPr>
        </p:nvSpPr>
        <p:spPr>
          <a:xfrm>
            <a:off x="9170035" y="3100705"/>
            <a:ext cx="732790" cy="17145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一线城市</a:t>
            </a:r>
            <a:endParaRPr lang="zh-CN" altLang="en-US" sz="1000">
              <a:solidFill>
                <a:srgbClr val="383838"/>
              </a:solidFill>
              <a:latin typeface="微软雅黑"/>
              <a:ea typeface="微软雅黑"/>
              <a:cs typeface="微软雅黑"/>
            </a:endParaRPr>
          </a:p>
        </p:txBody>
      </p:sp>
      <p:cxnSp>
        <p:nvCxnSpPr>
          <p:cNvPr id="280" name="直接箭头连接符 279"/>
          <p:cNvCxnSpPr/>
          <p:nvPr/>
        </p:nvCxnSpPr>
        <p:spPr>
          <a:xfrm>
            <a:off x="9544685" y="2921635"/>
            <a:ext cx="2540" cy="149225"/>
          </a:xfrm>
          <a:prstGeom prst="straightConnector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281" name="肘形连接符 280"/>
          <p:cNvCxnSpPr/>
          <p:nvPr/>
        </p:nvCxnSpPr>
        <p:spPr>
          <a:xfrm rot="5400000">
            <a:off x="9310370" y="3185795"/>
            <a:ext cx="133985" cy="319405"/>
          </a:xfrm>
          <a:prstGeom prst="bentConnector3">
            <a:avLst>
              <a:gd name="adj1" fmla="val 41706"/>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282" name="肘形连接符 281"/>
          <p:cNvCxnSpPr/>
          <p:nvPr/>
        </p:nvCxnSpPr>
        <p:spPr>
          <a:xfrm rot="16200000" flipH="1">
            <a:off x="9629775" y="3185795"/>
            <a:ext cx="133985" cy="319405"/>
          </a:xfrm>
          <a:prstGeom prst="bentConnector3">
            <a:avLst>
              <a:gd name="adj1" fmla="val 41232"/>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sp>
        <p:nvSpPr>
          <p:cNvPr id="283" name="矩形 282"/>
          <p:cNvSpPr/>
          <p:nvPr/>
        </p:nvSpPr>
        <p:spPr>
          <a:xfrm>
            <a:off x="10500043" y="2723515"/>
            <a:ext cx="955675" cy="198120"/>
          </a:xfrm>
          <a:prstGeom prst="rect">
            <a:avLst/>
          </a:prstGeom>
          <a:solidFill>
            <a:srgbClr val="3368FF"/>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sz="1000" b="1">
                <a:solidFill>
                  <a:srgbClr val="FFFFFF"/>
                </a:solidFill>
                <a:cs typeface="微软雅黑"/>
                <a:latin typeface="微软雅黑"/>
                <a:ea typeface="微软雅黑"/>
              </a:rPr>
              <a:t>代理网点</a:t>
            </a:r>
            <a:endParaRPr lang="zh-CN" altLang="en-US" sz="1000" b="1">
              <a:solidFill>
                <a:srgbClr val="FFFFFF"/>
              </a:solidFill>
              <a:cs typeface="微软雅黑"/>
              <a:latin typeface="微软雅黑"/>
              <a:ea typeface="微软雅黑"/>
            </a:endParaRPr>
          </a:p>
        </p:txBody>
      </p:sp>
      <p:grpSp>
        <p:nvGrpSpPr>
          <p:cNvPr id="285" name="组合 284"/>
          <p:cNvGrpSpPr/>
          <p:nvPr/>
        </p:nvGrpSpPr>
        <p:grpSpPr>
          <a:xfrm>
            <a:off x="10245090" y="3155950"/>
            <a:ext cx="342265" cy="223520"/>
            <a:chOff x="11497" y="5355"/>
            <a:chExt cx="539" cy="352"/>
          </a:xfrm>
        </p:grpSpPr>
        <p:sp>
          <p:nvSpPr>
            <p:cNvPr id="286" name="矩形 285"/>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87" name="文本框 286"/>
            <p:cNvSpPr txBox="1"/>
            <p:nvPr>
              <p:custDataLst>
                <p:tags r:id="rId52"/>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代理网点</a:t>
              </a:r>
              <a:endParaRPr lang="zh-CN" altLang="en-US" sz="1000">
                <a:solidFill>
                  <a:srgbClr val="383838"/>
                </a:solidFill>
                <a:latin typeface="微软雅黑"/>
                <a:ea typeface="微软雅黑"/>
                <a:cs typeface="微软雅黑"/>
              </a:endParaRPr>
            </a:p>
          </p:txBody>
        </p:sp>
      </p:grpSp>
      <p:grpSp>
        <p:nvGrpSpPr>
          <p:cNvPr id="288" name="组合 287"/>
          <p:cNvGrpSpPr/>
          <p:nvPr/>
        </p:nvGrpSpPr>
        <p:grpSpPr>
          <a:xfrm>
            <a:off x="10591165" y="3155950"/>
            <a:ext cx="342265" cy="223520"/>
            <a:chOff x="11497" y="5355"/>
            <a:chExt cx="539" cy="352"/>
          </a:xfrm>
        </p:grpSpPr>
        <p:sp>
          <p:nvSpPr>
            <p:cNvPr id="289" name="矩形 288"/>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90" name="文本框 289"/>
            <p:cNvSpPr txBox="1"/>
            <p:nvPr>
              <p:custDataLst>
                <p:tags r:id="rId53"/>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sym typeface="微软雅黑"/>
                </a:rPr>
                <a:t>代理网点</a:t>
              </a:r>
              <a:endParaRPr lang="zh-CN" altLang="en-US" sz="1000">
                <a:solidFill>
                  <a:srgbClr val="383838"/>
                </a:solidFill>
                <a:latin typeface="微软雅黑"/>
                <a:ea typeface="微软雅黑"/>
                <a:cs typeface="微软雅黑"/>
              </a:endParaRPr>
            </a:p>
          </p:txBody>
        </p:sp>
      </p:grpSp>
      <p:grpSp>
        <p:nvGrpSpPr>
          <p:cNvPr id="291" name="组合 290"/>
          <p:cNvGrpSpPr/>
          <p:nvPr/>
        </p:nvGrpSpPr>
        <p:grpSpPr>
          <a:xfrm>
            <a:off x="10937240" y="3155950"/>
            <a:ext cx="342265" cy="223520"/>
            <a:chOff x="11497" y="5355"/>
            <a:chExt cx="539" cy="352"/>
          </a:xfrm>
        </p:grpSpPr>
        <p:sp>
          <p:nvSpPr>
            <p:cNvPr id="292" name="矩形 291"/>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93" name="文本框 292"/>
            <p:cNvSpPr txBox="1"/>
            <p:nvPr>
              <p:custDataLst>
                <p:tags r:id="rId54"/>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sym typeface="微软雅黑"/>
                </a:rPr>
                <a:t>代理网点</a:t>
              </a:r>
              <a:endParaRPr lang="zh-CN" altLang="en-US" sz="1000">
                <a:solidFill>
                  <a:srgbClr val="383838"/>
                </a:solidFill>
                <a:latin typeface="微软雅黑"/>
                <a:ea typeface="微软雅黑"/>
                <a:cs typeface="微软雅黑"/>
              </a:endParaRPr>
            </a:p>
          </p:txBody>
        </p:sp>
      </p:grpSp>
      <p:grpSp>
        <p:nvGrpSpPr>
          <p:cNvPr id="294" name="组合 293"/>
          <p:cNvGrpSpPr/>
          <p:nvPr/>
        </p:nvGrpSpPr>
        <p:grpSpPr>
          <a:xfrm>
            <a:off x="11283315" y="3155950"/>
            <a:ext cx="342265" cy="223520"/>
            <a:chOff x="11497" y="5355"/>
            <a:chExt cx="539" cy="352"/>
          </a:xfrm>
        </p:grpSpPr>
        <p:sp>
          <p:nvSpPr>
            <p:cNvPr id="295" name="矩形 294"/>
            <p:cNvSpPr/>
            <p:nvPr/>
          </p:nvSpPr>
          <p:spPr>
            <a:xfrm>
              <a:off x="11575" y="5355"/>
              <a:ext cx="387" cy="352"/>
            </a:xfrm>
            <a:prstGeom prst="rect">
              <a:avLst/>
            </a:prstGeom>
            <a:solidFill>
              <a:srgbClr val="FFFFFF"/>
            </a:solidFill>
            <a:ln w="6350" cmpd="sng">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sz="1000">
                <a:solidFill>
                  <a:srgbClr val="383838"/>
                </a:solidFill>
                <a:cs typeface="微软雅黑"/>
                <a:sym typeface="微软雅黑"/>
                <a:latin typeface="微软雅黑"/>
                <a:ea typeface="微软雅黑"/>
              </a:endParaRPr>
            </a:p>
          </p:txBody>
        </p:sp>
        <p:sp>
          <p:nvSpPr>
            <p:cNvPr id="296" name="文本框 295"/>
            <p:cNvSpPr txBox="1"/>
            <p:nvPr>
              <p:custDataLst>
                <p:tags r:id="rId55"/>
              </p:custDataLst>
            </p:nvPr>
          </p:nvSpPr>
          <p:spPr>
            <a:xfrm>
              <a:off x="11497" y="5387"/>
              <a:ext cx="539" cy="494"/>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sym typeface="微软雅黑"/>
                </a:rPr>
                <a:t>代理网点</a:t>
              </a:r>
              <a:endParaRPr lang="zh-CN" altLang="en-US" sz="1000">
                <a:solidFill>
                  <a:srgbClr val="383838"/>
                </a:solidFill>
                <a:latin typeface="微软雅黑"/>
                <a:ea typeface="微软雅黑"/>
                <a:cs typeface="微软雅黑"/>
              </a:endParaRPr>
            </a:p>
          </p:txBody>
        </p:sp>
      </p:grpSp>
      <p:cxnSp>
        <p:nvCxnSpPr>
          <p:cNvPr id="297" name="肘形连接符 296"/>
          <p:cNvCxnSpPr/>
          <p:nvPr/>
        </p:nvCxnSpPr>
        <p:spPr>
          <a:xfrm rot="5400000">
            <a:off x="10591165" y="2788285"/>
            <a:ext cx="187960" cy="537845"/>
          </a:xfrm>
          <a:prstGeom prst="bentConnector3">
            <a:avLst>
              <a:gd name="adj1" fmla="val 4983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298" name="肘形连接符 297"/>
          <p:cNvCxnSpPr/>
          <p:nvPr/>
        </p:nvCxnSpPr>
        <p:spPr>
          <a:xfrm rot="5400000" flipV="1">
            <a:off x="11093450" y="2790190"/>
            <a:ext cx="220980" cy="501650"/>
          </a:xfrm>
          <a:prstGeom prst="bentConnector3">
            <a:avLst>
              <a:gd name="adj1" fmla="val 5747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301" name="直接箭头连接符 300"/>
          <p:cNvCxnSpPr/>
          <p:nvPr/>
        </p:nvCxnSpPr>
        <p:spPr>
          <a:xfrm>
            <a:off x="10765155" y="3059430"/>
            <a:ext cx="1270" cy="92710"/>
          </a:xfrm>
          <a:prstGeom prst="straightConnector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cxnSp>
        <p:nvCxnSpPr>
          <p:cNvPr id="302" name="直接箭头连接符 301"/>
          <p:cNvCxnSpPr/>
          <p:nvPr/>
        </p:nvCxnSpPr>
        <p:spPr>
          <a:xfrm>
            <a:off x="11130280" y="3059430"/>
            <a:ext cx="1270" cy="92710"/>
          </a:xfrm>
          <a:prstGeom prst="straightConnector1">
            <a:avLst/>
          </a:prstGeom>
          <a:ln>
            <a:solidFill>
              <a:srgbClr val="DCDCDC"/>
            </a:solidFill>
            <a:tailEnd type="triangle" w="sm" len="sm"/>
          </a:ln>
        </p:spPr>
        <p:style>
          <a:lnRef idx="2">
            <a:srgbClr val="0042FF"/>
          </a:lnRef>
          <a:fillRef idx="0">
            <a:srgbClr val="FFFFFF"/>
          </a:fillRef>
          <a:effectRef idx="0">
            <a:srgbClr val="FFFFFF"/>
          </a:effectRef>
          <a:fontRef idx="minor">
            <a:srgbClr val="383838"/>
          </a:fontRef>
        </p:style>
      </p:cxnSp>
      <p:sp>
        <p:nvSpPr>
          <p:cNvPr id="303" name="左大括号 302"/>
          <p:cNvSpPr/>
          <p:nvPr/>
        </p:nvSpPr>
        <p:spPr>
          <a:xfrm rot="5400000" flipV="1">
            <a:off x="10210165" y="1804035"/>
            <a:ext cx="117475" cy="1668780"/>
          </a:xfrm>
          <a:prstGeom prst="leftBrace">
            <a:avLst>
              <a:gd name="adj1" fmla="val 270540"/>
              <a:gd name="adj2" fmla="val 49638"/>
            </a:avLst>
          </a:prstGeom>
          <a:ln>
            <a:solidFill>
              <a:srgbClr val="668EFF"/>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04" name="左大括号 303"/>
          <p:cNvSpPr/>
          <p:nvPr/>
        </p:nvSpPr>
        <p:spPr>
          <a:xfrm rot="16200000">
            <a:off x="10902950" y="2894965"/>
            <a:ext cx="91440" cy="1088390"/>
          </a:xfrm>
          <a:prstGeom prst="leftBrace">
            <a:avLst>
              <a:gd name="adj1" fmla="val 77777"/>
              <a:gd name="adj2" fmla="val 50000"/>
            </a:avLst>
          </a:prstGeom>
          <a:ln>
            <a:solidFill>
              <a:srgbClr val="DCDCDC"/>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305" name="曲线连接符 304"/>
          <p:cNvCxnSpPr>
            <a:stCxn id="304" idx="1"/>
          </p:cNvCxnSpPr>
          <p:nvPr/>
        </p:nvCxnSpPr>
        <p:spPr>
          <a:xfrm rot="5400000">
            <a:off x="10470515" y="3114675"/>
            <a:ext cx="108585" cy="847725"/>
          </a:xfrm>
          <a:prstGeom prst="curvedConnector2">
            <a:avLst/>
          </a:prstGeom>
          <a:ln>
            <a:solidFill>
              <a:srgbClr val="DCDCDC"/>
            </a:solidFill>
            <a:prstDash val="sysDash"/>
            <a:tailEnd type="triangle" w="med" len="med"/>
          </a:ln>
        </p:spPr>
        <p:style>
          <a:lnRef idx="2">
            <a:srgbClr val="0042FF"/>
          </a:lnRef>
          <a:fillRef idx="0">
            <a:srgbClr val="FFFFFF"/>
          </a:fillRef>
          <a:effectRef idx="0">
            <a:srgbClr val="FFFFFF"/>
          </a:effectRef>
          <a:fontRef idx="minor">
            <a:srgbClr val="383838"/>
          </a:fontRef>
        </p:style>
      </p:cxnSp>
      <p:sp>
        <p:nvSpPr>
          <p:cNvPr id="306" name="文本框 305"/>
          <p:cNvSpPr txBox="1"/>
          <p:nvPr>
            <p:custDataLst>
              <p:tags r:id="rId56"/>
            </p:custDataLst>
          </p:nvPr>
        </p:nvSpPr>
        <p:spPr>
          <a:xfrm>
            <a:off x="10348595" y="3615055"/>
            <a:ext cx="1144270" cy="31369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售后服务由直营体系承接</a:t>
            </a:r>
            <a:r>
              <a:rPr lang="en-US" altLang="zh-CN" sz="1000">
                <a:solidFill>
                  <a:srgbClr val="383838"/>
                </a:solidFill>
                <a:latin typeface="微软雅黑"/>
                <a:ea typeface="微软雅黑"/>
                <a:cs typeface="微软雅黑"/>
              </a:rPr>
              <a:t>  </a:t>
            </a:r>
            <a:endParaRPr lang="en-US" altLang="zh-CN" sz="1000">
              <a:solidFill>
                <a:srgbClr val="383838"/>
              </a:solidFill>
              <a:latin typeface="微软雅黑"/>
              <a:ea typeface="微软雅黑"/>
              <a:cs typeface="微软雅黑"/>
            </a:endParaRPr>
          </a:p>
        </p:txBody>
      </p:sp>
      <p:sp>
        <p:nvSpPr>
          <p:cNvPr id="307" name="椭圆 306"/>
          <p:cNvSpPr/>
          <p:nvPr/>
        </p:nvSpPr>
        <p:spPr>
          <a:xfrm>
            <a:off x="426720" y="4352290"/>
            <a:ext cx="450215" cy="450215"/>
          </a:xfrm>
          <a:prstGeom prst="ellipse">
            <a:avLst/>
          </a:prstGeom>
          <a:solidFill>
            <a:srgbClr val="0042FF"/>
          </a:solidFill>
          <a:ln>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08" name="五边形 307"/>
          <p:cNvSpPr/>
          <p:nvPr/>
        </p:nvSpPr>
        <p:spPr>
          <a:xfrm>
            <a:off x="1492250" y="4337685"/>
            <a:ext cx="755650" cy="464820"/>
          </a:xfrm>
          <a:prstGeom prst="homePlate">
            <a:avLst>
              <a:gd name="adj" fmla="val 29661"/>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09" name="五边形 308"/>
          <p:cNvSpPr/>
          <p:nvPr/>
        </p:nvSpPr>
        <p:spPr>
          <a:xfrm>
            <a:off x="958850" y="4197985"/>
            <a:ext cx="1219200" cy="749300"/>
          </a:xfrm>
          <a:prstGeom prst="homePlate">
            <a:avLst>
              <a:gd name="adj" fmla="val 29661"/>
            </a:avLst>
          </a:prstGeom>
          <a:solidFill>
            <a:srgbClr val="FFFFFF"/>
          </a:solidFill>
          <a:ln>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10" name="文本框 309"/>
          <p:cNvSpPr txBox="1"/>
          <p:nvPr/>
        </p:nvSpPr>
        <p:spPr>
          <a:xfrm>
            <a:off x="958850" y="4318000"/>
            <a:ext cx="1077595" cy="58356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网络规模占比</a:t>
            </a:r>
            <a:endParaRPr lang="zh-CN" altLang="en-US" sz="1600" b="1">
              <a:solidFill>
                <a:srgbClr val="0042FF"/>
              </a:solidFill>
              <a:latin typeface="微软雅黑"/>
              <a:ea typeface="微软雅黑"/>
              <a:cs typeface="微软雅黑"/>
            </a:endParaRPr>
          </a:p>
        </p:txBody>
      </p:sp>
      <p:pic>
        <p:nvPicPr>
          <p:cNvPr id="312" name="图片 311" descr="规模"/>
          <p:cNvPicPr>
            <a:picLocks noChangeAspect="1"/>
          </p:cNvPicPr>
          <p:nvPr/>
        </p:nvPicPr>
        <p:blipFill>
          <a:blip r:embed="rId57">
            <a:extLst>
              <a:ext uri="{96DAC541-7B7A-43D3-8B79-37D633B846F1}">
                <asvg:svgBlip xmlns:asvg="http://schemas.microsoft.com/office/drawing/2016/SVG/main" r:embed="rId58"/>
              </a:ext>
            </a:extLst>
          </a:blip>
          <a:stretch>
            <a:fillRect/>
          </a:stretch>
        </p:blipFill>
        <p:spPr>
          <a:xfrm>
            <a:off x="516890" y="4436745"/>
            <a:ext cx="264795" cy="264795"/>
          </a:xfrm>
          <a:prstGeom prst="rect">
            <a:avLst/>
          </a:prstGeom>
        </p:spPr>
      </p:pic>
      <p:sp>
        <p:nvSpPr>
          <p:cNvPr id="313" name="文本框 312"/>
          <p:cNvSpPr txBox="1"/>
          <p:nvPr>
            <p:custDataLst>
              <p:tags r:id="rId59"/>
            </p:custDataLst>
          </p:nvPr>
        </p:nvSpPr>
        <p:spPr>
          <a:xfrm>
            <a:off x="2612390" y="4323080"/>
            <a:ext cx="2446655" cy="957580"/>
          </a:xfrm>
          <a:prstGeom prst="rect">
            <a:avLst/>
          </a:prstGeom>
          <a:noFill/>
        </p:spPr>
        <p:txBody>
          <a:bodyPr wrap="square" rtlCol="0" anchor="ctr" anchorCtr="0">
            <a:noAutofit/>
          </a:bodyPr>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占新能源渠道总量约</a:t>
            </a:r>
            <a:r>
              <a:rPr lang="en-US" altLang="zh-CN" sz="1200">
                <a:solidFill>
                  <a:srgbClr val="383838"/>
                </a:solidFill>
                <a:latin typeface="微软雅黑"/>
                <a:ea typeface="微软雅黑"/>
                <a:cs typeface="微软雅黑"/>
              </a:rPr>
              <a:t>15%-20%;</a:t>
            </a:r>
            <a:endParaRPr lang="en-US" altLang="zh-CN"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核心城市覆盖率超</a:t>
            </a:r>
            <a:r>
              <a:rPr lang="en-US" altLang="zh-CN" sz="1200">
                <a:solidFill>
                  <a:srgbClr val="383838"/>
                </a:solidFill>
                <a:latin typeface="微软雅黑"/>
                <a:ea typeface="微软雅黑"/>
                <a:cs typeface="微软雅黑"/>
              </a:rPr>
              <a:t>80%;</a:t>
            </a:r>
            <a:endParaRPr lang="en-US" altLang="zh-CN"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极氪：</a:t>
            </a:r>
            <a:r>
              <a:rPr lang="en-US" altLang="zh-CN" sz="1200">
                <a:solidFill>
                  <a:srgbClr val="383838"/>
                </a:solidFill>
                <a:latin typeface="微软雅黑"/>
                <a:ea typeface="微软雅黑"/>
                <a:cs typeface="微软雅黑"/>
              </a:rPr>
              <a:t>2023</a:t>
            </a:r>
            <a:r>
              <a:rPr lang="zh-CN" altLang="en-US" sz="1200">
                <a:solidFill>
                  <a:srgbClr val="383838"/>
                </a:solidFill>
                <a:latin typeface="微软雅黑"/>
                <a:ea typeface="微软雅黑"/>
                <a:cs typeface="微软雅黑"/>
              </a:rPr>
              <a:t>年直营店突破</a:t>
            </a:r>
            <a:r>
              <a:rPr lang="en-US" altLang="zh-CN" sz="1200">
                <a:solidFill>
                  <a:srgbClr val="383838"/>
                </a:solidFill>
                <a:latin typeface="微软雅黑"/>
                <a:ea typeface="微软雅黑"/>
                <a:cs typeface="微软雅黑"/>
              </a:rPr>
              <a:t>200</a:t>
            </a:r>
            <a:r>
              <a:rPr lang="zh-CN" altLang="en-US" sz="1200">
                <a:solidFill>
                  <a:srgbClr val="383838"/>
                </a:solidFill>
                <a:latin typeface="微软雅黑"/>
                <a:ea typeface="微软雅黑"/>
                <a:cs typeface="微软雅黑"/>
              </a:rPr>
              <a:t>家，单城最高密度达</a:t>
            </a:r>
            <a:r>
              <a:rPr lang="en-US" altLang="zh-CN" sz="1200">
                <a:solidFill>
                  <a:srgbClr val="383838"/>
                </a:solidFill>
                <a:latin typeface="微软雅黑"/>
                <a:ea typeface="微软雅黑"/>
                <a:cs typeface="微软雅黑"/>
              </a:rPr>
              <a:t>8</a:t>
            </a:r>
            <a:r>
              <a:rPr lang="zh-CN" altLang="en-US" sz="1200">
                <a:solidFill>
                  <a:srgbClr val="383838"/>
                </a:solidFill>
                <a:latin typeface="微软雅黑"/>
                <a:ea typeface="微软雅黑"/>
                <a:cs typeface="微软雅黑"/>
              </a:rPr>
              <a:t>店（上海）</a:t>
            </a:r>
            <a:endParaRPr lang="zh-CN" altLang="en-US" sz="1200">
              <a:solidFill>
                <a:srgbClr val="383838"/>
              </a:solidFill>
              <a:latin typeface="微软雅黑"/>
              <a:ea typeface="微软雅黑"/>
              <a:cs typeface="微软雅黑"/>
            </a:endParaRPr>
          </a:p>
        </p:txBody>
      </p:sp>
      <p:sp>
        <p:nvSpPr>
          <p:cNvPr id="314" name="文本框 313"/>
          <p:cNvSpPr txBox="1"/>
          <p:nvPr>
            <p:custDataLst>
              <p:tags r:id="rId60"/>
            </p:custDataLst>
          </p:nvPr>
        </p:nvSpPr>
        <p:spPr>
          <a:xfrm>
            <a:off x="5763895" y="4374515"/>
            <a:ext cx="2446655" cy="837565"/>
          </a:xfrm>
          <a:prstGeom prst="rect">
            <a:avLst/>
          </a:prstGeom>
          <a:noFill/>
        </p:spPr>
        <p:txBody>
          <a:bodyPr wrap="square" rtlCol="0" anchor="ctr" anchorCtr="0">
            <a:noAutofit/>
          </a:bodyPr>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占新能源渠道总量约</a:t>
            </a:r>
            <a:r>
              <a:rPr lang="en-US" altLang="zh-CN" sz="1200">
                <a:solidFill>
                  <a:srgbClr val="383838"/>
                </a:solidFill>
                <a:latin typeface="微软雅黑"/>
                <a:ea typeface="微软雅黑"/>
                <a:cs typeface="微软雅黑"/>
              </a:rPr>
              <a:t>40%-50%;</a:t>
            </a:r>
            <a:endParaRPr lang="en-US" altLang="zh-CN"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三线以下城市覆盖率达</a:t>
            </a:r>
            <a:r>
              <a:rPr lang="en-US" altLang="zh-CN" sz="1200">
                <a:solidFill>
                  <a:srgbClr val="383838"/>
                </a:solidFill>
                <a:latin typeface="微软雅黑"/>
                <a:ea typeface="微软雅黑"/>
                <a:cs typeface="微软雅黑"/>
              </a:rPr>
              <a:t>60%;</a:t>
            </a:r>
            <a:endParaRPr lang="en-US" altLang="zh-CN"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比亚迪：加盟店超</a:t>
            </a:r>
            <a:r>
              <a:rPr lang="en-US" altLang="zh-CN" sz="1200">
                <a:solidFill>
                  <a:srgbClr val="383838"/>
                </a:solidFill>
                <a:latin typeface="微软雅黑"/>
                <a:ea typeface="微软雅黑"/>
                <a:cs typeface="微软雅黑"/>
              </a:rPr>
              <a:t>1200</a:t>
            </a:r>
            <a:r>
              <a:rPr lang="zh-CN" altLang="en-US" sz="1200">
                <a:solidFill>
                  <a:srgbClr val="383838"/>
                </a:solidFill>
                <a:latin typeface="微软雅黑"/>
                <a:ea typeface="微软雅黑"/>
                <a:cs typeface="微软雅黑"/>
              </a:rPr>
              <a:t>家，三四线城市网点年增速</a:t>
            </a:r>
            <a:r>
              <a:rPr lang="en-US" altLang="zh-CN" sz="1200">
                <a:solidFill>
                  <a:srgbClr val="383838"/>
                </a:solidFill>
                <a:latin typeface="微软雅黑"/>
                <a:ea typeface="微软雅黑"/>
                <a:cs typeface="微软雅黑"/>
              </a:rPr>
              <a:t>120%</a:t>
            </a:r>
            <a:endParaRPr lang="en-US" altLang="zh-CN" sz="1200">
              <a:solidFill>
                <a:srgbClr val="383838"/>
              </a:solidFill>
              <a:latin typeface="微软雅黑"/>
              <a:ea typeface="微软雅黑"/>
              <a:cs typeface="微软雅黑"/>
            </a:endParaRPr>
          </a:p>
        </p:txBody>
      </p:sp>
      <p:sp>
        <p:nvSpPr>
          <p:cNvPr id="315" name="文本框 314"/>
          <p:cNvSpPr txBox="1"/>
          <p:nvPr>
            <p:custDataLst>
              <p:tags r:id="rId61"/>
            </p:custDataLst>
          </p:nvPr>
        </p:nvSpPr>
        <p:spPr>
          <a:xfrm>
            <a:off x="9046210" y="4349750"/>
            <a:ext cx="2605405" cy="601345"/>
          </a:xfrm>
          <a:prstGeom prst="rect">
            <a:avLst/>
          </a:prstGeom>
          <a:noFill/>
        </p:spPr>
        <p:txBody>
          <a:bodyPr wrap="square" rtlCol="0">
            <a:noAutofit/>
          </a:bodyPr>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占新能源渠道总量约</a:t>
            </a:r>
            <a:r>
              <a:rPr lang="en-US" altLang="zh-CN" sz="1200">
                <a:solidFill>
                  <a:srgbClr val="383838"/>
                </a:solidFill>
                <a:latin typeface="微软雅黑"/>
                <a:ea typeface="微软雅黑"/>
                <a:cs typeface="微软雅黑"/>
              </a:rPr>
              <a:t>30%-35%;</a:t>
            </a:r>
            <a:endParaRPr lang="en-US" altLang="zh-CN"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一二线城市代理店密度达</a:t>
            </a:r>
            <a:r>
              <a:rPr lang="en-US" altLang="zh-CN" sz="1200">
                <a:solidFill>
                  <a:srgbClr val="383838"/>
                </a:solidFill>
                <a:latin typeface="微软雅黑"/>
                <a:ea typeface="微软雅黑"/>
                <a:cs typeface="微软雅黑"/>
              </a:rPr>
              <a:t>3</a:t>
            </a:r>
            <a:r>
              <a:rPr lang="zh-CN" altLang="en-US" sz="1200">
                <a:solidFill>
                  <a:srgbClr val="383838"/>
                </a:solidFill>
                <a:latin typeface="微软雅黑"/>
                <a:ea typeface="微软雅黑"/>
                <a:cs typeface="微软雅黑"/>
              </a:rPr>
              <a:t>家</a:t>
            </a:r>
            <a:r>
              <a:rPr lang="en-US" altLang="zh-CN" sz="1200">
                <a:solidFill>
                  <a:srgbClr val="383838"/>
                </a:solidFill>
                <a:latin typeface="微软雅黑"/>
                <a:ea typeface="微软雅黑"/>
                <a:cs typeface="微软雅黑"/>
              </a:rPr>
              <a:t>;</a:t>
            </a:r>
            <a:endParaRPr lang="en-US" altLang="zh-CN"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小鹏：代理店数量达</a:t>
            </a:r>
            <a:r>
              <a:rPr lang="en-US" altLang="zh-CN" sz="1200">
                <a:solidFill>
                  <a:srgbClr val="383838"/>
                </a:solidFill>
                <a:latin typeface="微软雅黑"/>
                <a:ea typeface="微软雅黑"/>
                <a:cs typeface="微软雅黑"/>
              </a:rPr>
              <a:t>600+</a:t>
            </a:r>
            <a:r>
              <a:rPr lang="zh-CN" altLang="en-US" sz="1200">
                <a:solidFill>
                  <a:srgbClr val="383838"/>
                </a:solidFill>
                <a:latin typeface="微软雅黑"/>
                <a:ea typeface="微软雅黑"/>
                <a:cs typeface="微软雅黑"/>
              </a:rPr>
              <a:t>，单店年均订单消化能力为直营店</a:t>
            </a:r>
            <a:r>
              <a:rPr lang="en-US" altLang="zh-CN" sz="1200">
                <a:solidFill>
                  <a:srgbClr val="383838"/>
                </a:solidFill>
                <a:latin typeface="微软雅黑"/>
                <a:ea typeface="微软雅黑"/>
                <a:cs typeface="微软雅黑"/>
              </a:rPr>
              <a:t>70%</a:t>
            </a:r>
            <a:endParaRPr lang="en-US" altLang="zh-CN" sz="1200">
              <a:solidFill>
                <a:srgbClr val="383838"/>
              </a:solidFill>
              <a:latin typeface="微软雅黑"/>
              <a:ea typeface="微软雅黑"/>
              <a:cs typeface="微软雅黑"/>
            </a:endParaRPr>
          </a:p>
        </p:txBody>
      </p:sp>
      <p:sp>
        <p:nvSpPr>
          <p:cNvPr id="316" name="椭圆 315"/>
          <p:cNvSpPr/>
          <p:nvPr/>
        </p:nvSpPr>
        <p:spPr>
          <a:xfrm>
            <a:off x="381000" y="5743575"/>
            <a:ext cx="450215" cy="450215"/>
          </a:xfrm>
          <a:prstGeom prst="ellipse">
            <a:avLst/>
          </a:prstGeom>
          <a:solidFill>
            <a:srgbClr val="3368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17" name="五边形 316"/>
          <p:cNvSpPr/>
          <p:nvPr/>
        </p:nvSpPr>
        <p:spPr>
          <a:xfrm>
            <a:off x="1446530" y="5728970"/>
            <a:ext cx="755650" cy="464820"/>
          </a:xfrm>
          <a:prstGeom prst="homePlate">
            <a:avLst>
              <a:gd name="adj" fmla="val 29661"/>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18" name="五边形 317"/>
          <p:cNvSpPr/>
          <p:nvPr/>
        </p:nvSpPr>
        <p:spPr>
          <a:xfrm>
            <a:off x="913130" y="5594350"/>
            <a:ext cx="1219200" cy="749300"/>
          </a:xfrm>
          <a:prstGeom prst="homePlate">
            <a:avLst>
              <a:gd name="adj" fmla="val 29661"/>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19" name="文本框 318"/>
          <p:cNvSpPr txBox="1"/>
          <p:nvPr/>
        </p:nvSpPr>
        <p:spPr>
          <a:xfrm>
            <a:off x="913130" y="5714365"/>
            <a:ext cx="1077595" cy="58356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优</a:t>
            </a:r>
            <a:r>
              <a:rPr lang="en-US" altLang="zh-CN" sz="1600" b="1">
                <a:solidFill>
                  <a:srgbClr val="0042FF"/>
                </a:solidFill>
                <a:latin typeface="微软雅黑"/>
                <a:ea typeface="微软雅黑"/>
                <a:cs typeface="微软雅黑"/>
              </a:rPr>
              <a:t>/</a:t>
            </a:r>
            <a:r>
              <a:rPr lang="zh-CN" altLang="en-US" sz="1600" b="1">
                <a:solidFill>
                  <a:srgbClr val="0042FF"/>
                </a:solidFill>
                <a:latin typeface="微软雅黑"/>
                <a:ea typeface="微软雅黑"/>
                <a:cs typeface="微软雅黑"/>
              </a:rPr>
              <a:t>劣势分析</a:t>
            </a:r>
            <a:endParaRPr lang="zh-CN" altLang="en-US" sz="1600" b="1">
              <a:solidFill>
                <a:srgbClr val="0042FF"/>
              </a:solidFill>
              <a:latin typeface="微软雅黑"/>
              <a:ea typeface="微软雅黑"/>
              <a:cs typeface="微软雅黑"/>
            </a:endParaRPr>
          </a:p>
        </p:txBody>
      </p:sp>
      <p:sp>
        <p:nvSpPr>
          <p:cNvPr id="321" name="文本框 320"/>
          <p:cNvSpPr txBox="1"/>
          <p:nvPr>
            <p:custDataLst>
              <p:tags r:id="rId62"/>
            </p:custDataLst>
          </p:nvPr>
        </p:nvSpPr>
        <p:spPr>
          <a:xfrm>
            <a:off x="2644140" y="5519420"/>
            <a:ext cx="2592705" cy="601345"/>
          </a:xfrm>
          <a:prstGeom prst="rect">
            <a:avLst/>
          </a:prstGeom>
          <a:noFill/>
        </p:spPr>
        <p:txBody>
          <a:bodyPr wrap="square" rtlCol="0">
            <a:noAutofit/>
          </a:bodyPr>
          <a:p>
            <a:pPr marL="171450" indent="-171450" algn="l">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优势</a:t>
            </a:r>
            <a:r>
              <a:rPr lang="zh-CN" altLang="en-US" sz="1200" b="1">
                <a:solidFill>
                  <a:srgbClr val="0042FF"/>
                </a:solidFill>
                <a:latin typeface="微软雅黑"/>
                <a:ea typeface="微软雅黑"/>
                <a:cs typeface="微软雅黑"/>
              </a:rPr>
              <a:t>：</a:t>
            </a:r>
            <a:r>
              <a:rPr lang="zh-CN" altLang="en-US" sz="1200">
                <a:solidFill>
                  <a:srgbClr val="383838"/>
                </a:solidFill>
                <a:latin typeface="微软雅黑"/>
                <a:ea typeface="微软雅黑"/>
                <a:cs typeface="微软雅黑"/>
              </a:rPr>
              <a:t>高品牌控制力、用户体验标准化、数据闭环能力强；</a:t>
            </a:r>
            <a:endParaRPr lang="zh-CN" altLang="en-US"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endParaRPr lang="en-US" altLang="zh-CN" sz="1200" b="1">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劣势：</a:t>
            </a:r>
            <a:r>
              <a:rPr lang="zh-CN" altLang="en-US" sz="1200">
                <a:solidFill>
                  <a:srgbClr val="383838"/>
                </a:solidFill>
                <a:latin typeface="微软雅黑"/>
                <a:ea typeface="微软雅黑"/>
                <a:cs typeface="微软雅黑"/>
              </a:rPr>
              <a:t>扩张成本高（单店投入＞</a:t>
            </a:r>
            <a:r>
              <a:rPr lang="en-US" altLang="zh-CN" sz="1200">
                <a:solidFill>
                  <a:srgbClr val="383838"/>
                </a:solidFill>
                <a:latin typeface="微软雅黑"/>
                <a:ea typeface="微软雅黑"/>
                <a:cs typeface="微软雅黑"/>
              </a:rPr>
              <a:t>2000</a:t>
            </a:r>
            <a:r>
              <a:rPr lang="zh-CN" altLang="en-US" sz="1200">
                <a:solidFill>
                  <a:srgbClr val="383838"/>
                </a:solidFill>
                <a:latin typeface="微软雅黑"/>
                <a:ea typeface="微软雅黑"/>
                <a:cs typeface="微软雅黑"/>
              </a:rPr>
              <a:t>万）、下沉市场渗透慢）。</a:t>
            </a:r>
            <a:endParaRPr lang="zh-CN" altLang="en-US" sz="1200">
              <a:solidFill>
                <a:srgbClr val="383838"/>
              </a:solidFill>
              <a:latin typeface="微软雅黑"/>
              <a:ea typeface="微软雅黑"/>
              <a:cs typeface="微软雅黑"/>
            </a:endParaRPr>
          </a:p>
        </p:txBody>
      </p:sp>
      <p:sp>
        <p:nvSpPr>
          <p:cNvPr id="324" name="文本框 323"/>
          <p:cNvSpPr txBox="1"/>
          <p:nvPr>
            <p:custDataLst>
              <p:tags r:id="rId63"/>
            </p:custDataLst>
          </p:nvPr>
        </p:nvSpPr>
        <p:spPr>
          <a:xfrm>
            <a:off x="5740400" y="5519420"/>
            <a:ext cx="2446655" cy="601345"/>
          </a:xfrm>
          <a:prstGeom prst="rect">
            <a:avLst/>
          </a:prstGeom>
          <a:noFill/>
        </p:spPr>
        <p:txBody>
          <a:bodyPr wrap="square" rtlCol="0">
            <a:noAutofit/>
          </a:bodyPr>
          <a:p>
            <a:pPr marL="171450" indent="-171450" algn="l">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优势：</a:t>
            </a:r>
            <a:r>
              <a:rPr lang="zh-CN" altLang="en-US" sz="1200">
                <a:solidFill>
                  <a:srgbClr val="383838"/>
                </a:solidFill>
                <a:latin typeface="微软雅黑"/>
                <a:ea typeface="微软雅黑"/>
                <a:cs typeface="微软雅黑"/>
              </a:rPr>
              <a:t>快速规模化（年增网点</a:t>
            </a:r>
            <a:r>
              <a:rPr lang="en-US" altLang="zh-CN" sz="1200">
                <a:solidFill>
                  <a:srgbClr val="383838"/>
                </a:solidFill>
                <a:latin typeface="微软雅黑"/>
                <a:ea typeface="微软雅黑"/>
                <a:cs typeface="微软雅黑"/>
              </a:rPr>
              <a:t>500+</a:t>
            </a:r>
            <a:r>
              <a:rPr lang="zh-CN" altLang="en-US" sz="1200">
                <a:solidFill>
                  <a:srgbClr val="383838"/>
                </a:solidFill>
                <a:latin typeface="微软雅黑"/>
                <a:ea typeface="微软雅黑"/>
                <a:cs typeface="微软雅黑"/>
              </a:rPr>
              <a:t>）、成本分摊灵活；</a:t>
            </a:r>
            <a:endParaRPr lang="zh-CN" altLang="en-US"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endParaRPr lang="en-US" altLang="zh-CN"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劣势：</a:t>
            </a:r>
            <a:r>
              <a:rPr lang="zh-CN" altLang="en-US" sz="1200">
                <a:solidFill>
                  <a:srgbClr val="383838"/>
                </a:solidFill>
                <a:latin typeface="微软雅黑"/>
                <a:ea typeface="微软雅黑"/>
                <a:cs typeface="微软雅黑"/>
              </a:rPr>
              <a:t>服务质量波动、主机厂</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经销商利益博弈。</a:t>
            </a:r>
            <a:endParaRPr lang="zh-CN" altLang="en-US" sz="1200">
              <a:solidFill>
                <a:srgbClr val="383838"/>
              </a:solidFill>
              <a:latin typeface="微软雅黑"/>
              <a:ea typeface="微软雅黑"/>
              <a:cs typeface="微软雅黑"/>
            </a:endParaRPr>
          </a:p>
        </p:txBody>
      </p:sp>
      <p:sp>
        <p:nvSpPr>
          <p:cNvPr id="325" name="文本框 324"/>
          <p:cNvSpPr txBox="1"/>
          <p:nvPr>
            <p:custDataLst>
              <p:tags r:id="rId64"/>
            </p:custDataLst>
          </p:nvPr>
        </p:nvSpPr>
        <p:spPr>
          <a:xfrm>
            <a:off x="9009380" y="5519420"/>
            <a:ext cx="2446655" cy="601345"/>
          </a:xfrm>
          <a:prstGeom prst="rect">
            <a:avLst/>
          </a:prstGeom>
          <a:noFill/>
        </p:spPr>
        <p:txBody>
          <a:bodyPr wrap="square" rtlCol="0">
            <a:noAutofit/>
          </a:bodyPr>
          <a:p>
            <a:pPr marL="171450" indent="-171450" algn="l">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优势：</a:t>
            </a:r>
            <a:r>
              <a:rPr lang="zh-CN" altLang="en-US" sz="1200">
                <a:solidFill>
                  <a:srgbClr val="383838"/>
                </a:solidFill>
                <a:latin typeface="微软雅黑"/>
                <a:ea typeface="微软雅黑"/>
                <a:cs typeface="微软雅黑"/>
              </a:rPr>
              <a:t>资产轻（代理店成本降低</a:t>
            </a:r>
            <a:r>
              <a:rPr lang="en-US" altLang="zh-CN" sz="1200">
                <a:solidFill>
                  <a:srgbClr val="383838"/>
                </a:solidFill>
                <a:latin typeface="微软雅黑"/>
                <a:ea typeface="微软雅黑"/>
                <a:cs typeface="微软雅黑"/>
              </a:rPr>
              <a:t>50%</a:t>
            </a:r>
            <a:r>
              <a:rPr lang="zh-CN" altLang="en-US" sz="1200">
                <a:solidFill>
                  <a:srgbClr val="383838"/>
                </a:solidFill>
                <a:latin typeface="微软雅黑"/>
                <a:ea typeface="微软雅黑"/>
                <a:cs typeface="微软雅黑"/>
              </a:rPr>
              <a:t>）、扩张速度快；</a:t>
            </a:r>
            <a:endParaRPr lang="zh-CN" altLang="en-US" sz="1200">
              <a:solidFill>
                <a:srgbClr val="0042FF"/>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endParaRPr lang="en-US" altLang="zh-CN" sz="1200">
              <a:solidFill>
                <a:srgbClr val="0042FF"/>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劣势：</a:t>
            </a:r>
            <a:r>
              <a:rPr lang="zh-CN" altLang="en-US" sz="1200">
                <a:solidFill>
                  <a:srgbClr val="383838"/>
                </a:solidFill>
                <a:latin typeface="微软雅黑"/>
                <a:ea typeface="微软雅黑"/>
                <a:cs typeface="微软雅黑"/>
              </a:rPr>
              <a:t>代理商专业度依赖性强、售后服务响应链路长。</a:t>
            </a:r>
            <a:endParaRPr lang="zh-CN" altLang="en-US" sz="1200">
              <a:solidFill>
                <a:srgbClr val="0042FF"/>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endParaRPr lang="en-US" altLang="zh-CN" sz="1200">
              <a:solidFill>
                <a:srgbClr val="0042FF"/>
              </a:solidFill>
              <a:latin typeface="微软雅黑"/>
              <a:ea typeface="微软雅黑"/>
              <a:cs typeface="微软雅黑"/>
            </a:endParaRPr>
          </a:p>
          <a:p>
            <a:pPr marL="171450" indent="-171450" algn="l">
              <a:buFont typeface="微软雅黑"/>
              <a:buChar char="Ø"/>
              <a:defRPr>
                <a:latin typeface="微软雅黑"/>
                <a:ea typeface="微软雅黑"/>
                <a:cs typeface="微软雅黑"/>
              </a:defRPr>
            </a:pPr>
            <a:endParaRPr lang="en-US" altLang="zh-CN" sz="1200">
              <a:solidFill>
                <a:srgbClr val="0042FF"/>
              </a:solidFill>
              <a:latin typeface="微软雅黑"/>
              <a:ea typeface="微软雅黑"/>
              <a:cs typeface="微软雅黑"/>
            </a:endParaRPr>
          </a:p>
        </p:txBody>
      </p:sp>
      <p:pic>
        <p:nvPicPr>
          <p:cNvPr id="326" name="图片 325" descr="对比"/>
          <p:cNvPicPr>
            <a:picLocks noChangeAspect="1"/>
          </p:cNvPicPr>
          <p:nvPr/>
        </p:nvPicPr>
        <p:blipFill>
          <a:blip r:embed="rId65">
            <a:extLst>
              <a:ext uri="{96DAC541-7B7A-43D3-8B79-37D633B846F1}">
                <asvg:svgBlip xmlns:asvg="http://schemas.microsoft.com/office/drawing/2016/SVG/main" r:embed="rId66"/>
              </a:ext>
            </a:extLst>
          </a:blip>
          <a:stretch>
            <a:fillRect/>
          </a:stretch>
        </p:blipFill>
        <p:spPr>
          <a:xfrm>
            <a:off x="454025" y="5816600"/>
            <a:ext cx="304165" cy="304165"/>
          </a:xfrm>
          <a:prstGeom prst="rect">
            <a:avLst/>
          </a:prstGeom>
        </p:spPr>
      </p:pic>
      <p:grpSp>
        <p:nvGrpSpPr>
          <p:cNvPr id="333" name="组合 332"/>
          <p:cNvGrpSpPr/>
          <p:nvPr/>
        </p:nvGrpSpPr>
        <p:grpSpPr>
          <a:xfrm>
            <a:off x="4266565" y="4227195"/>
            <a:ext cx="755650" cy="127000"/>
            <a:chOff x="6719" y="6357"/>
            <a:chExt cx="1190" cy="200"/>
          </a:xfrm>
        </p:grpSpPr>
        <p:sp>
          <p:nvSpPr>
            <p:cNvPr id="327" name="平行四边形 326"/>
            <p:cNvSpPr/>
            <p:nvPr/>
          </p:nvSpPr>
          <p:spPr>
            <a:xfrm>
              <a:off x="6719" y="6357"/>
              <a:ext cx="238" cy="201"/>
            </a:xfrm>
            <a:prstGeom prst="parallelogram">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28" name="平行四边形 327"/>
            <p:cNvSpPr/>
            <p:nvPr/>
          </p:nvSpPr>
          <p:spPr>
            <a:xfrm>
              <a:off x="6957"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29" name="平行四边形 328"/>
            <p:cNvSpPr/>
            <p:nvPr/>
          </p:nvSpPr>
          <p:spPr>
            <a:xfrm>
              <a:off x="7195"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0" name="平行四边形 329"/>
            <p:cNvSpPr/>
            <p:nvPr/>
          </p:nvSpPr>
          <p:spPr>
            <a:xfrm>
              <a:off x="7433"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1" name="平行四边形 330"/>
            <p:cNvSpPr/>
            <p:nvPr/>
          </p:nvSpPr>
          <p:spPr>
            <a:xfrm>
              <a:off x="7671"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nvGrpSpPr>
          <p:cNvPr id="334" name="组合 333"/>
          <p:cNvGrpSpPr/>
          <p:nvPr/>
        </p:nvGrpSpPr>
        <p:grpSpPr>
          <a:xfrm>
            <a:off x="7606030" y="4203065"/>
            <a:ext cx="755650" cy="127000"/>
            <a:chOff x="6719" y="6357"/>
            <a:chExt cx="1190" cy="200"/>
          </a:xfrm>
        </p:grpSpPr>
        <p:sp>
          <p:nvSpPr>
            <p:cNvPr id="335" name="平行四边形 334"/>
            <p:cNvSpPr/>
            <p:nvPr/>
          </p:nvSpPr>
          <p:spPr>
            <a:xfrm>
              <a:off x="6719" y="6357"/>
              <a:ext cx="238" cy="201"/>
            </a:xfrm>
            <a:prstGeom prst="parallelogram">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6" name="平行四边形 335"/>
            <p:cNvSpPr/>
            <p:nvPr/>
          </p:nvSpPr>
          <p:spPr>
            <a:xfrm>
              <a:off x="6957" y="6357"/>
              <a:ext cx="238" cy="201"/>
            </a:xfrm>
            <a:prstGeom prst="parallelogram">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7" name="平行四边形 336"/>
            <p:cNvSpPr/>
            <p:nvPr/>
          </p:nvSpPr>
          <p:spPr>
            <a:xfrm>
              <a:off x="7195"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8" name="平行四边形 337"/>
            <p:cNvSpPr/>
            <p:nvPr/>
          </p:nvSpPr>
          <p:spPr>
            <a:xfrm>
              <a:off x="7433"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9" name="平行四边形 338"/>
            <p:cNvSpPr/>
            <p:nvPr/>
          </p:nvSpPr>
          <p:spPr>
            <a:xfrm>
              <a:off x="7671"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340" name="任意多边形 339"/>
          <p:cNvSpPr/>
          <p:nvPr/>
        </p:nvSpPr>
        <p:spPr>
          <a:xfrm>
            <a:off x="7911465" y="4203065"/>
            <a:ext cx="82709" cy="127635"/>
          </a:xfrm>
          <a:custGeom>
            <a:avLst/>
            <a:gdLst>
              <a:gd name="adj" fmla="val 25000"/>
              <a:gd name="maxAdj" fmla="*/ 100000 w ss"/>
              <a:gd name="a" fmla="pin 0 adj maxAdj"/>
              <a:gd name="x1" fmla="*/ ss a 200000"/>
              <a:gd name="x2" fmla="*/ ss a 100000"/>
              <a:gd name="x6" fmla="+- r 0 x1"/>
              <a:gd name="x5" fmla="+- r 0 x2"/>
              <a:gd name="x3" fmla="*/ x5 1 2"/>
              <a:gd name="x4" fmla="+- r 0 x3"/>
              <a:gd name="il" fmla="*/ wd2 a maxAdj"/>
              <a:gd name="q1" fmla="*/ 5 a maxAdj"/>
              <a:gd name="q2" fmla="+/ 1 q1 12"/>
              <a:gd name="il-1" fmla="*/ q2 w 1"/>
              <a:gd name="it" fmla="*/ q2 h 1"/>
              <a:gd name="ir" fmla="+- r 0 il-1"/>
              <a:gd name="ib" fmla="+- b 0 it"/>
              <a:gd name="q3" fmla="*/ h hc x2"/>
              <a:gd name="y1" fmla="pin 0 q3 h"/>
              <a:gd name="y2" fmla="+- b 0 y1"/>
            </a:gdLst>
            <a:ahLst/>
            <a:cxnLst>
              <a:cxn ang="3">
                <a:pos x="hc" y="y2"/>
              </a:cxn>
              <a:cxn ang="3">
                <a:pos x="x4" y="t"/>
              </a:cxn>
              <a:cxn ang="0">
                <a:pos x="x6" y="vc"/>
              </a:cxn>
              <a:cxn ang="cd4">
                <a:pos x="x3" y="b"/>
              </a:cxn>
              <a:cxn ang="cd4">
                <a:pos x="hc" y="y1"/>
              </a:cxn>
              <a:cxn ang="cd2">
                <a:pos x="x1" y="vc"/>
              </a:cxn>
            </a:cxnLst>
            <a:rect l="l" t="t" r="r" b="b"/>
            <a:pathLst>
              <a:path w="130" h="201">
                <a:moveTo>
                  <a:pt x="0" y="201"/>
                </a:moveTo>
                <a:lnTo>
                  <a:pt x="50" y="0"/>
                </a:lnTo>
                <a:lnTo>
                  <a:pt x="130" y="0"/>
                </a:lnTo>
                <a:lnTo>
                  <a:pt x="80" y="201"/>
                </a:lnTo>
                <a:lnTo>
                  <a:pt x="0" y="201"/>
                </a:lnTo>
                <a:close/>
              </a:path>
            </a:pathLst>
          </a:custGeom>
          <a:solidFill>
            <a:srgbClr val="B3D4FE"/>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342" name="组合 341"/>
          <p:cNvGrpSpPr/>
          <p:nvPr/>
        </p:nvGrpSpPr>
        <p:grpSpPr>
          <a:xfrm>
            <a:off x="10692765" y="4203065"/>
            <a:ext cx="755650" cy="127000"/>
            <a:chOff x="6719" y="6357"/>
            <a:chExt cx="1190" cy="200"/>
          </a:xfrm>
        </p:grpSpPr>
        <p:sp>
          <p:nvSpPr>
            <p:cNvPr id="343" name="平行四边形 342"/>
            <p:cNvSpPr/>
            <p:nvPr/>
          </p:nvSpPr>
          <p:spPr>
            <a:xfrm>
              <a:off x="6719" y="6357"/>
              <a:ext cx="238" cy="201"/>
            </a:xfrm>
            <a:prstGeom prst="parallelogram">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44" name="平行四边形 343"/>
            <p:cNvSpPr/>
            <p:nvPr/>
          </p:nvSpPr>
          <p:spPr>
            <a:xfrm>
              <a:off x="6957"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45" name="平行四边形 344"/>
            <p:cNvSpPr/>
            <p:nvPr/>
          </p:nvSpPr>
          <p:spPr>
            <a:xfrm>
              <a:off x="7195"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46" name="平行四边形 345"/>
            <p:cNvSpPr/>
            <p:nvPr/>
          </p:nvSpPr>
          <p:spPr>
            <a:xfrm>
              <a:off x="7433"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47" name="平行四边形 346"/>
            <p:cNvSpPr/>
            <p:nvPr/>
          </p:nvSpPr>
          <p:spPr>
            <a:xfrm>
              <a:off x="7671" y="6357"/>
              <a:ext cx="238" cy="201"/>
            </a:xfrm>
            <a:prstGeom prst="parallelogram">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349" name="任意多边形 348"/>
          <p:cNvSpPr/>
          <p:nvPr/>
        </p:nvSpPr>
        <p:spPr>
          <a:xfrm>
            <a:off x="10843895" y="4203065"/>
            <a:ext cx="122079" cy="127635"/>
          </a:xfrm>
          <a:custGeom>
            <a:avLst/>
            <a:gdLst>
              <a:gd name="adj" fmla="val 25000"/>
              <a:gd name="maxAdj" fmla="*/ 100000 w ss"/>
              <a:gd name="a" fmla="pin 0 adj maxAdj"/>
              <a:gd name="x1" fmla="*/ ss a 200000"/>
              <a:gd name="x2" fmla="*/ ss a 100000"/>
              <a:gd name="x6" fmla="+- r 0 x1"/>
              <a:gd name="x5" fmla="+- r 0 x2"/>
              <a:gd name="x3" fmla="*/ x5 1 2"/>
              <a:gd name="x4" fmla="+- r 0 x3"/>
              <a:gd name="il" fmla="*/ wd2 a maxAdj"/>
              <a:gd name="q1" fmla="*/ 5 a maxAdj"/>
              <a:gd name="q2" fmla="+/ 1 q1 12"/>
              <a:gd name="il-1" fmla="*/ q2 w 1"/>
              <a:gd name="it" fmla="*/ q2 h 1"/>
              <a:gd name="ir" fmla="+- r 0 il-1"/>
              <a:gd name="ib" fmla="+- b 0 it"/>
              <a:gd name="q3" fmla="*/ h hc x2"/>
              <a:gd name="y1" fmla="pin 0 q3 h"/>
              <a:gd name="y2" fmla="+- b 0 y1"/>
            </a:gdLst>
            <a:ahLst/>
            <a:cxnLst>
              <a:cxn ang="3">
                <a:pos x="hc" y="y2"/>
              </a:cxn>
              <a:cxn ang="3">
                <a:pos x="x4" y="t"/>
              </a:cxn>
              <a:cxn ang="0">
                <a:pos x="x6" y="vc"/>
              </a:cxn>
              <a:cxn ang="cd4">
                <a:pos x="x3" y="b"/>
              </a:cxn>
              <a:cxn ang="cd4">
                <a:pos x="hc" y="y1"/>
              </a:cxn>
              <a:cxn ang="cd2">
                <a:pos x="x1" y="vc"/>
              </a:cxn>
            </a:cxnLst>
            <a:rect l="l" t="t" r="r" b="b"/>
            <a:pathLst>
              <a:path w="192" h="201">
                <a:moveTo>
                  <a:pt x="0" y="201"/>
                </a:moveTo>
                <a:lnTo>
                  <a:pt x="50" y="0"/>
                </a:lnTo>
                <a:lnTo>
                  <a:pt x="192" y="0"/>
                </a:lnTo>
                <a:lnTo>
                  <a:pt x="142" y="201"/>
                </a:lnTo>
                <a:lnTo>
                  <a:pt x="0" y="201"/>
                </a:lnTo>
                <a:close/>
              </a:path>
            </a:pathLst>
          </a:custGeom>
          <a:solidFill>
            <a:srgbClr val="3368FF"/>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nvGrpSpPr>
          <p:cNvPr id="3" name="组合 2"/>
          <p:cNvGrpSpPr/>
          <p:nvPr/>
        </p:nvGrpSpPr>
        <p:grpSpPr>
          <a:xfrm>
            <a:off x="8738235" y="348615"/>
            <a:ext cx="3219450" cy="332740"/>
            <a:chOff x="13761" y="549"/>
            <a:chExt cx="5070" cy="524"/>
          </a:xfrm>
        </p:grpSpPr>
        <p:pic>
          <p:nvPicPr>
            <p:cNvPr id="2" name="图片 1"/>
            <p:cNvPicPr>
              <a:picLocks noChangeAspect="1"/>
            </p:cNvPicPr>
            <p:nvPr userDrawn="1"/>
          </p:nvPicPr>
          <p:blipFill>
            <a:blip r:embed="rId67"/>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圆角矩形 24"/>
          <p:cNvSpPr/>
          <p:nvPr/>
        </p:nvSpPr>
        <p:spPr>
          <a:xfrm>
            <a:off x="3435350" y="1655445"/>
            <a:ext cx="5420360" cy="4379595"/>
          </a:xfrm>
          <a:prstGeom prst="roundRect">
            <a:avLst>
              <a:gd name="adj" fmla="val 4146"/>
            </a:avLst>
          </a:prstGeom>
          <a:solidFill>
            <a:srgbClr val="E6E6E6">
              <a:alpha val="20000"/>
            </a:srgbClr>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200">
                <a:solidFill>
                  <a:srgbClr val="383838"/>
                </a:solidFill>
                <a:latin typeface="微软雅黑"/>
                <a:ea typeface="微软雅黑"/>
                <a:cs typeface="微软雅黑"/>
              </a:rPr>
              <a:t>企业</a:t>
            </a:r>
            <a:r>
              <a:rPr lang="zh-CN" altLang="en-US" sz="2200">
                <a:solidFill>
                  <a:srgbClr val="383838"/>
                </a:solidFill>
                <a:latin typeface="微软雅黑"/>
                <a:ea typeface="微软雅黑"/>
                <a:cs typeface="微软雅黑"/>
              </a:rPr>
              <a:t>内外压力下的突围路径</a:t>
            </a:r>
            <a:endParaRPr lang="zh-CN" altLang="en-US" sz="2200">
              <a:solidFill>
                <a:srgbClr val="383838"/>
              </a:solidFill>
              <a:latin typeface="微软雅黑"/>
              <a:ea typeface="微软雅黑"/>
              <a:cs typeface="微软雅黑"/>
            </a:endParaRPr>
          </a:p>
        </p:txBody>
      </p:sp>
      <p:sp>
        <p:nvSpPr>
          <p:cNvPr id="2" name="圆角矩形 1"/>
          <p:cNvSpPr/>
          <p:nvPr/>
        </p:nvSpPr>
        <p:spPr>
          <a:xfrm>
            <a:off x="2677160" y="1330960"/>
            <a:ext cx="6914515" cy="5009515"/>
          </a:xfrm>
          <a:prstGeom prst="roundRect">
            <a:avLst>
              <a:gd name="adj" fmla="val 5767"/>
            </a:avLst>
          </a:prstGeom>
          <a:noFill/>
          <a:ln>
            <a:prstDash val="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3597275" y="2192655"/>
            <a:ext cx="1631950" cy="1352550"/>
          </a:xfrm>
          <a:prstGeom prst="rect">
            <a:avLst/>
          </a:prstGeom>
          <a:solidFill>
            <a:srgbClr val="FFFFFF"/>
          </a:solidFill>
          <a:ln>
            <a:solidFill>
              <a:srgbClr val="3368FF">
                <a:alpha val="70000"/>
              </a:srgbClr>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 name="矩形 3"/>
          <p:cNvSpPr/>
          <p:nvPr/>
        </p:nvSpPr>
        <p:spPr>
          <a:xfrm>
            <a:off x="5280025" y="2192655"/>
            <a:ext cx="1631950" cy="1352550"/>
          </a:xfrm>
          <a:prstGeom prst="rect">
            <a:avLst/>
          </a:prstGeom>
          <a:solidFill>
            <a:srgbClr val="FFFFFF"/>
          </a:solidFill>
          <a:ln>
            <a:solidFill>
              <a:srgbClr val="3368FF">
                <a:alpha val="70000"/>
              </a:srgbClr>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 name="矩形 5"/>
          <p:cNvSpPr/>
          <p:nvPr/>
        </p:nvSpPr>
        <p:spPr>
          <a:xfrm>
            <a:off x="6962775" y="2192655"/>
            <a:ext cx="1631950" cy="1352550"/>
          </a:xfrm>
          <a:prstGeom prst="rect">
            <a:avLst/>
          </a:prstGeom>
          <a:solidFill>
            <a:srgbClr val="FFFFFF"/>
          </a:solidFill>
          <a:ln>
            <a:solidFill>
              <a:srgbClr val="3368FF">
                <a:alpha val="70000"/>
              </a:srgbClr>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 name="五边形 6"/>
          <p:cNvSpPr/>
          <p:nvPr/>
        </p:nvSpPr>
        <p:spPr>
          <a:xfrm>
            <a:off x="3614420" y="3602355"/>
            <a:ext cx="1656715" cy="311150"/>
          </a:xfrm>
          <a:prstGeom prst="homePlate">
            <a:avLst>
              <a:gd name="adj" fmla="val 25208"/>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 name="燕尾形 7"/>
          <p:cNvSpPr/>
          <p:nvPr/>
        </p:nvSpPr>
        <p:spPr>
          <a:xfrm>
            <a:off x="5280025" y="3602355"/>
            <a:ext cx="1669415" cy="300990"/>
          </a:xfrm>
          <a:prstGeom prst="chevron">
            <a:avLst>
              <a:gd name="adj" fmla="val 29324"/>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9" name="燕尾形 8"/>
          <p:cNvSpPr/>
          <p:nvPr/>
        </p:nvSpPr>
        <p:spPr>
          <a:xfrm>
            <a:off x="6962775" y="3602355"/>
            <a:ext cx="1669415" cy="300990"/>
          </a:xfrm>
          <a:prstGeom prst="chevron">
            <a:avLst>
              <a:gd name="adj" fmla="val 29324"/>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1" name="矩形 10"/>
          <p:cNvSpPr/>
          <p:nvPr/>
        </p:nvSpPr>
        <p:spPr>
          <a:xfrm>
            <a:off x="3999865" y="4266565"/>
            <a:ext cx="4295140" cy="572135"/>
          </a:xfrm>
          <a:prstGeom prst="rect">
            <a:avLst/>
          </a:prstGeom>
          <a:noFill/>
          <a:ln>
            <a:solidFill>
              <a:srgbClr val="3368FF"/>
            </a:solidFill>
          </a:ln>
          <a:extLst>
            <a:ext uri="{909E8E84-426E-40DD-AFC4-6F175D3DCCD1}">
              <a14:hiddenFill xmlns:a14="http://schemas.microsoft.com/office/drawing/2010/main">
                <a:solidFill>
                  <a:srgbClr val="0042FF">
                    <a:alpha val="20000"/>
                  </a:srgbClr>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 name="矩形 11"/>
          <p:cNvSpPr/>
          <p:nvPr/>
        </p:nvSpPr>
        <p:spPr>
          <a:xfrm>
            <a:off x="3999865" y="5231765"/>
            <a:ext cx="4295140" cy="572135"/>
          </a:xfrm>
          <a:prstGeom prst="rect">
            <a:avLst/>
          </a:prstGeom>
          <a:noFill/>
          <a:ln>
            <a:solidFill>
              <a:srgbClr val="3368FF"/>
            </a:solidFill>
          </a:ln>
          <a:extLst>
            <a:ext uri="{909E8E84-426E-40DD-AFC4-6F175D3DCCD1}">
              <a14:hiddenFill xmlns:a14="http://schemas.microsoft.com/office/drawing/2010/main">
                <a:solidFill>
                  <a:srgbClr val="0042FF">
                    <a:alpha val="20000"/>
                  </a:srgbClr>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3" name="椭圆 12"/>
          <p:cNvSpPr/>
          <p:nvPr/>
        </p:nvSpPr>
        <p:spPr>
          <a:xfrm>
            <a:off x="2270125" y="1793240"/>
            <a:ext cx="866775" cy="866775"/>
          </a:xfrm>
          <a:prstGeom prst="ellipse">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4" name="椭圆 13"/>
          <p:cNvSpPr/>
          <p:nvPr/>
        </p:nvSpPr>
        <p:spPr>
          <a:xfrm>
            <a:off x="2270125" y="3415665"/>
            <a:ext cx="866775" cy="866775"/>
          </a:xfrm>
          <a:prstGeom prst="ellipse">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5" name="椭圆 14"/>
          <p:cNvSpPr/>
          <p:nvPr/>
        </p:nvSpPr>
        <p:spPr>
          <a:xfrm>
            <a:off x="2270125" y="5033645"/>
            <a:ext cx="866775" cy="866775"/>
          </a:xfrm>
          <a:prstGeom prst="ellipse">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6" name="椭圆 15"/>
          <p:cNvSpPr/>
          <p:nvPr/>
        </p:nvSpPr>
        <p:spPr>
          <a:xfrm>
            <a:off x="9159240" y="2136140"/>
            <a:ext cx="866775" cy="866775"/>
          </a:xfrm>
          <a:prstGeom prst="ellipse">
            <a:avLst/>
          </a:prstGeom>
          <a:solidFill>
            <a:srgbClr val="3368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7" name="椭圆 16"/>
          <p:cNvSpPr/>
          <p:nvPr/>
        </p:nvSpPr>
        <p:spPr>
          <a:xfrm>
            <a:off x="9157970" y="4646930"/>
            <a:ext cx="866775" cy="866775"/>
          </a:xfrm>
          <a:prstGeom prst="ellipse">
            <a:avLst/>
          </a:prstGeom>
          <a:solidFill>
            <a:srgbClr val="3368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8" name="矩形 17"/>
          <p:cNvSpPr/>
          <p:nvPr/>
        </p:nvSpPr>
        <p:spPr>
          <a:xfrm>
            <a:off x="619760" y="1300480"/>
            <a:ext cx="1508760" cy="1540510"/>
          </a:xfrm>
          <a:prstGeom prst="rect">
            <a:avLst/>
          </a:prstGeom>
          <a:solidFill>
            <a:srgbClr val="3368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6" name="文本框 25"/>
          <p:cNvSpPr txBox="1"/>
          <p:nvPr/>
        </p:nvSpPr>
        <p:spPr>
          <a:xfrm>
            <a:off x="5280343" y="1736725"/>
            <a:ext cx="1730375" cy="398780"/>
          </a:xfrm>
          <a:prstGeom prst="rect">
            <a:avLst/>
          </a:prstGeom>
          <a:noFill/>
        </p:spPr>
        <p:txBody>
          <a:bodyPr wrap="square" rtlCol="0">
            <a:spAutoFit/>
          </a:bodyPr>
          <a:p>
            <a:pPr algn="ctr">
              <a:defRPr>
                <a:latin typeface="微软雅黑"/>
                <a:ea typeface="微软雅黑"/>
                <a:cs typeface="微软雅黑"/>
              </a:defRPr>
            </a:pPr>
            <a:r>
              <a:rPr lang="zh-CN" altLang="en-US" sz="2000" b="1">
                <a:solidFill>
                  <a:srgbClr val="0042FF"/>
                </a:solidFill>
                <a:latin typeface="微软雅黑"/>
                <a:ea typeface="微软雅黑"/>
                <a:cs typeface="微软雅黑"/>
              </a:rPr>
              <a:t>内部压力</a:t>
            </a:r>
            <a:endParaRPr lang="zh-CN" altLang="en-US" sz="2000" b="1">
              <a:solidFill>
                <a:srgbClr val="0042FF"/>
              </a:solidFill>
              <a:latin typeface="微软雅黑"/>
              <a:ea typeface="微软雅黑"/>
              <a:cs typeface="微软雅黑"/>
            </a:endParaRPr>
          </a:p>
        </p:txBody>
      </p:sp>
      <p:sp>
        <p:nvSpPr>
          <p:cNvPr id="27" name="文本框 26"/>
          <p:cNvSpPr txBox="1"/>
          <p:nvPr/>
        </p:nvSpPr>
        <p:spPr>
          <a:xfrm>
            <a:off x="3585210" y="2319338"/>
            <a:ext cx="164401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供应链管理</a:t>
            </a:r>
            <a:endParaRPr lang="zh-CN" altLang="en-US" sz="1400" b="1">
              <a:solidFill>
                <a:srgbClr val="0042FF"/>
              </a:solidFill>
              <a:latin typeface="微软雅黑"/>
              <a:ea typeface="微软雅黑"/>
              <a:cs typeface="微软雅黑"/>
            </a:endParaRPr>
          </a:p>
        </p:txBody>
      </p:sp>
      <p:sp>
        <p:nvSpPr>
          <p:cNvPr id="28" name="文本框 27"/>
          <p:cNvSpPr txBox="1"/>
          <p:nvPr/>
        </p:nvSpPr>
        <p:spPr>
          <a:xfrm>
            <a:off x="3669665" y="2640965"/>
            <a:ext cx="1644015" cy="829945"/>
          </a:xfrm>
          <a:prstGeom prst="rect">
            <a:avLst/>
          </a:prstGeom>
          <a:noFill/>
        </p:spPr>
        <p:txBody>
          <a:bodyPr wrap="square" rtlCol="0">
            <a:spAutoFit/>
          </a:bodyPr>
          <a:p>
            <a:pPr algn="l">
              <a:defRPr>
                <a:latin typeface="微软雅黑"/>
                <a:ea typeface="微软雅黑"/>
                <a:cs typeface="微软雅黑"/>
              </a:defRPr>
            </a:pPr>
            <a:r>
              <a:rPr lang="zh-CN" altLang="en-US" sz="1200">
                <a:solidFill>
                  <a:srgbClr val="383838"/>
                </a:solidFill>
                <a:latin typeface="微软雅黑"/>
                <a:ea typeface="微软雅黑"/>
                <a:cs typeface="微软雅黑"/>
              </a:rPr>
              <a:t>需优化供应商体系，淘汰低效合作方，同时确保供应链</a:t>
            </a:r>
            <a:r>
              <a:rPr lang="zh-CN" altLang="en-US" sz="1200" b="1">
                <a:solidFill>
                  <a:srgbClr val="383838"/>
                </a:solidFill>
                <a:latin typeface="微软雅黑"/>
                <a:ea typeface="微软雅黑"/>
                <a:cs typeface="微软雅黑"/>
              </a:rPr>
              <a:t>稳定性与成本可控</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sp>
        <p:nvSpPr>
          <p:cNvPr id="29" name="文本框 28"/>
          <p:cNvSpPr txBox="1"/>
          <p:nvPr/>
        </p:nvSpPr>
        <p:spPr>
          <a:xfrm>
            <a:off x="5264785" y="2319338"/>
            <a:ext cx="164401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生产与品控优化</a:t>
            </a:r>
            <a:endParaRPr lang="zh-CN" altLang="en-US" sz="1400" b="1">
              <a:solidFill>
                <a:srgbClr val="0042FF"/>
              </a:solidFill>
              <a:latin typeface="微软雅黑"/>
              <a:ea typeface="微软雅黑"/>
              <a:cs typeface="微软雅黑"/>
            </a:endParaRPr>
          </a:p>
        </p:txBody>
      </p:sp>
      <p:sp>
        <p:nvSpPr>
          <p:cNvPr id="30" name="文本框 29"/>
          <p:cNvSpPr txBox="1"/>
          <p:nvPr/>
        </p:nvSpPr>
        <p:spPr>
          <a:xfrm>
            <a:off x="5349240" y="2640965"/>
            <a:ext cx="1644015" cy="829945"/>
          </a:xfrm>
          <a:prstGeom prst="rect">
            <a:avLst/>
          </a:prstGeom>
          <a:noFill/>
        </p:spPr>
        <p:txBody>
          <a:bodyPr wrap="square" rtlCol="0">
            <a:spAutoFit/>
          </a:bodyPr>
          <a:p>
            <a:pPr algn="l">
              <a:defRPr>
                <a:latin typeface="微软雅黑"/>
                <a:ea typeface="微软雅黑"/>
                <a:cs typeface="微软雅黑"/>
              </a:defRPr>
            </a:pPr>
            <a:r>
              <a:rPr lang="zh-CN" altLang="en-US" sz="1200">
                <a:solidFill>
                  <a:srgbClr val="383838"/>
                </a:solidFill>
                <a:latin typeface="微软雅黑"/>
                <a:ea typeface="微软雅黑"/>
                <a:cs typeface="微软雅黑"/>
              </a:rPr>
              <a:t>需推动</a:t>
            </a:r>
            <a:r>
              <a:rPr lang="zh-CN" altLang="en-US" sz="1200" b="1">
                <a:solidFill>
                  <a:srgbClr val="383838"/>
                </a:solidFill>
                <a:latin typeface="微软雅黑"/>
                <a:ea typeface="微软雅黑"/>
                <a:cs typeface="微软雅黑"/>
              </a:rPr>
              <a:t>柔性生产、精益化管理</a:t>
            </a:r>
            <a:r>
              <a:rPr lang="zh-CN" altLang="en-US" sz="1200">
                <a:solidFill>
                  <a:srgbClr val="383838"/>
                </a:solidFill>
                <a:latin typeface="微软雅黑"/>
                <a:ea typeface="微软雅黑"/>
                <a:cs typeface="微软雅黑"/>
              </a:rPr>
              <a:t>降低损耗，同时构建全流程质量追溯体系。</a:t>
            </a:r>
            <a:endParaRPr lang="zh-CN" altLang="en-US" sz="1200">
              <a:solidFill>
                <a:srgbClr val="383838"/>
              </a:solidFill>
              <a:latin typeface="微软雅黑"/>
              <a:ea typeface="微软雅黑"/>
              <a:cs typeface="微软雅黑"/>
            </a:endParaRPr>
          </a:p>
        </p:txBody>
      </p:sp>
      <p:sp>
        <p:nvSpPr>
          <p:cNvPr id="31" name="文本框 30"/>
          <p:cNvSpPr txBox="1"/>
          <p:nvPr/>
        </p:nvSpPr>
        <p:spPr>
          <a:xfrm>
            <a:off x="6944360" y="2319338"/>
            <a:ext cx="164401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运营效率提升</a:t>
            </a:r>
            <a:endParaRPr lang="zh-CN" altLang="en-US" sz="1400" b="1">
              <a:solidFill>
                <a:srgbClr val="0042FF"/>
              </a:solidFill>
              <a:latin typeface="微软雅黑"/>
              <a:ea typeface="微软雅黑"/>
              <a:cs typeface="微软雅黑"/>
            </a:endParaRPr>
          </a:p>
        </p:txBody>
      </p:sp>
      <p:sp>
        <p:nvSpPr>
          <p:cNvPr id="32" name="文本框 31"/>
          <p:cNvSpPr txBox="1"/>
          <p:nvPr/>
        </p:nvSpPr>
        <p:spPr>
          <a:xfrm>
            <a:off x="7028815" y="2640965"/>
            <a:ext cx="1644015" cy="829945"/>
          </a:xfrm>
          <a:prstGeom prst="rect">
            <a:avLst/>
          </a:prstGeom>
          <a:noFill/>
        </p:spPr>
        <p:txBody>
          <a:bodyPr wrap="square" rtlCol="0">
            <a:spAutoFit/>
          </a:bodyPr>
          <a:p>
            <a:pPr algn="l">
              <a:defRPr>
                <a:latin typeface="微软雅黑"/>
                <a:ea typeface="微软雅黑"/>
                <a:cs typeface="微软雅黑"/>
              </a:defRPr>
            </a:pPr>
            <a:r>
              <a:rPr lang="zh-CN" altLang="en-US" sz="1200">
                <a:solidFill>
                  <a:srgbClr val="383838"/>
                </a:solidFill>
                <a:latin typeface="微软雅黑"/>
                <a:ea typeface="微软雅黑"/>
                <a:cs typeface="微软雅黑"/>
              </a:rPr>
              <a:t>需</a:t>
            </a:r>
            <a:r>
              <a:rPr lang="zh-CN" altLang="en-US" sz="1200" b="1">
                <a:solidFill>
                  <a:srgbClr val="383838"/>
                </a:solidFill>
                <a:latin typeface="微软雅黑"/>
                <a:ea typeface="微软雅黑"/>
                <a:cs typeface="微软雅黑"/>
              </a:rPr>
              <a:t>降低生产成本并提高交付效率</a:t>
            </a:r>
            <a:r>
              <a:rPr lang="zh-CN" altLang="en-US" sz="1200">
                <a:solidFill>
                  <a:srgbClr val="383838"/>
                </a:solidFill>
                <a:latin typeface="微软雅黑"/>
                <a:ea typeface="微软雅黑"/>
                <a:cs typeface="微软雅黑"/>
              </a:rPr>
              <a:t>，若无法实现则面临利润压缩与客户流失。</a:t>
            </a:r>
            <a:endParaRPr lang="zh-CN" altLang="en-US" sz="1200">
              <a:solidFill>
                <a:srgbClr val="383838"/>
              </a:solidFill>
              <a:latin typeface="微软雅黑"/>
              <a:ea typeface="微软雅黑"/>
              <a:cs typeface="微软雅黑"/>
            </a:endParaRPr>
          </a:p>
        </p:txBody>
      </p:sp>
      <p:sp>
        <p:nvSpPr>
          <p:cNvPr id="33" name="文本框 32"/>
          <p:cNvSpPr txBox="1"/>
          <p:nvPr/>
        </p:nvSpPr>
        <p:spPr>
          <a:xfrm>
            <a:off x="3825875" y="3602355"/>
            <a:ext cx="115506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上游</a:t>
            </a:r>
            <a:endParaRPr lang="zh-CN" altLang="en-US" sz="1400" b="1">
              <a:solidFill>
                <a:srgbClr val="FFFFFF"/>
              </a:solidFill>
              <a:latin typeface="微软雅黑"/>
              <a:ea typeface="微软雅黑"/>
              <a:cs typeface="微软雅黑"/>
            </a:endParaRPr>
          </a:p>
        </p:txBody>
      </p:sp>
      <p:sp>
        <p:nvSpPr>
          <p:cNvPr id="34" name="文本框 33"/>
          <p:cNvSpPr txBox="1"/>
          <p:nvPr/>
        </p:nvSpPr>
        <p:spPr>
          <a:xfrm>
            <a:off x="5593715" y="3590925"/>
            <a:ext cx="115506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中游</a:t>
            </a:r>
            <a:endParaRPr lang="zh-CN" altLang="en-US" sz="1400" b="1">
              <a:solidFill>
                <a:srgbClr val="FFFFFF"/>
              </a:solidFill>
              <a:latin typeface="微软雅黑"/>
              <a:ea typeface="微软雅黑"/>
              <a:cs typeface="微软雅黑"/>
            </a:endParaRPr>
          </a:p>
        </p:txBody>
      </p:sp>
      <p:sp>
        <p:nvSpPr>
          <p:cNvPr id="35" name="文本框 34"/>
          <p:cNvSpPr txBox="1"/>
          <p:nvPr/>
        </p:nvSpPr>
        <p:spPr>
          <a:xfrm>
            <a:off x="7248525" y="3602355"/>
            <a:ext cx="115506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下游</a:t>
            </a:r>
            <a:endParaRPr lang="zh-CN" altLang="en-US" sz="1400" b="1">
              <a:solidFill>
                <a:srgbClr val="FFFFFF"/>
              </a:solidFill>
              <a:latin typeface="微软雅黑"/>
              <a:ea typeface="微软雅黑"/>
              <a:cs typeface="微软雅黑"/>
            </a:endParaRPr>
          </a:p>
        </p:txBody>
      </p:sp>
      <p:sp>
        <p:nvSpPr>
          <p:cNvPr id="36" name="文本框 35"/>
          <p:cNvSpPr txBox="1"/>
          <p:nvPr/>
        </p:nvSpPr>
        <p:spPr>
          <a:xfrm>
            <a:off x="4271010" y="4352925"/>
            <a:ext cx="3900170" cy="398780"/>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通过数字化转型、自动化技术等实现降本增效，同时探索新商业模式以应对市场变化。</a:t>
            </a:r>
            <a:endParaRPr lang="zh-CN" altLang="en-US" sz="1000">
              <a:solidFill>
                <a:srgbClr val="383838"/>
              </a:solidFill>
              <a:latin typeface="微软雅黑"/>
              <a:ea typeface="微软雅黑"/>
              <a:cs typeface="微软雅黑"/>
            </a:endParaRPr>
          </a:p>
        </p:txBody>
      </p:sp>
      <p:sp>
        <p:nvSpPr>
          <p:cNvPr id="37" name="文本框 36"/>
          <p:cNvSpPr txBox="1"/>
          <p:nvPr/>
        </p:nvSpPr>
        <p:spPr>
          <a:xfrm>
            <a:off x="4315460" y="5344795"/>
            <a:ext cx="3789045" cy="398780"/>
          </a:xfrm>
          <a:prstGeom prst="rect">
            <a:avLst/>
          </a:prstGeom>
          <a:noFill/>
        </p:spPr>
        <p:txBody>
          <a:bodyPr wrap="square" rtlCol="0" lIns="0" rIns="0" tIns="0" bIns="0">
            <a:spAutoFit/>
          </a:bodyPr>
          <a:p>
            <a:pPr lvl="0" algn="l">
              <a:buClrTx/>
              <a:buSzTx/>
              <a:buFontTx/>
              <a:defRPr>
                <a:latin typeface="微软雅黑"/>
                <a:ea typeface="微软雅黑"/>
                <a:cs typeface="微软雅黑"/>
              </a:defRPr>
            </a:pPr>
            <a:r>
              <a:rPr lang="zh-CN" altLang="en-US" sz="1000">
                <a:solidFill>
                  <a:srgbClr val="383838"/>
                </a:solidFill>
                <a:latin typeface="微软雅黑"/>
                <a:ea typeface="微软雅黑"/>
                <a:cs typeface="微软雅黑"/>
                <a:sym typeface="微软雅黑"/>
              </a:rPr>
              <a:t>设立创新部门或敏捷团队，引入复合型人才，重构组织流程以支撑战略转型。</a:t>
            </a:r>
            <a:endParaRPr lang="zh-CN" altLang="en-US" sz="1000">
              <a:solidFill>
                <a:srgbClr val="383838"/>
              </a:solidFill>
              <a:latin typeface="微软雅黑"/>
              <a:ea typeface="微软雅黑"/>
              <a:cs typeface="微软雅黑"/>
              <a:sym typeface="微软雅黑"/>
            </a:endParaRPr>
          </a:p>
        </p:txBody>
      </p:sp>
      <p:sp>
        <p:nvSpPr>
          <p:cNvPr id="124" name="菱形 123"/>
          <p:cNvSpPr/>
          <p:nvPr/>
        </p:nvSpPr>
        <p:spPr>
          <a:xfrm>
            <a:off x="5099685" y="394525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8" name="菱形 37"/>
          <p:cNvSpPr/>
          <p:nvPr/>
        </p:nvSpPr>
        <p:spPr>
          <a:xfrm>
            <a:off x="5647690" y="394525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9" name="菱形 38"/>
          <p:cNvSpPr/>
          <p:nvPr/>
        </p:nvSpPr>
        <p:spPr>
          <a:xfrm>
            <a:off x="6195695" y="394525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0" name="菱形 39"/>
          <p:cNvSpPr/>
          <p:nvPr/>
        </p:nvSpPr>
        <p:spPr>
          <a:xfrm>
            <a:off x="6743700" y="394525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1" name="菱形 40"/>
          <p:cNvSpPr/>
          <p:nvPr/>
        </p:nvSpPr>
        <p:spPr>
          <a:xfrm>
            <a:off x="5134610" y="489267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2" name="菱形 41"/>
          <p:cNvSpPr/>
          <p:nvPr/>
        </p:nvSpPr>
        <p:spPr>
          <a:xfrm>
            <a:off x="5682615" y="489267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3" name="菱形 42"/>
          <p:cNvSpPr/>
          <p:nvPr/>
        </p:nvSpPr>
        <p:spPr>
          <a:xfrm>
            <a:off x="6230620" y="489267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4" name="菱形 43"/>
          <p:cNvSpPr/>
          <p:nvPr/>
        </p:nvSpPr>
        <p:spPr>
          <a:xfrm>
            <a:off x="6778625" y="4892675"/>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7" name="矩形 46"/>
          <p:cNvSpPr/>
          <p:nvPr/>
        </p:nvSpPr>
        <p:spPr>
          <a:xfrm>
            <a:off x="5631815" y="1221740"/>
            <a:ext cx="1146810" cy="210185"/>
          </a:xfrm>
          <a:prstGeom prst="rect">
            <a:avLst/>
          </a:prstGeom>
          <a:solidFill>
            <a:srgbClr val="FFFF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600" b="1">
                <a:solidFill>
                  <a:srgbClr val="0042FF"/>
                </a:solidFill>
                <a:cs typeface="微软雅黑"/>
                <a:sym typeface="微软雅黑"/>
                <a:latin typeface="微软雅黑"/>
                <a:ea typeface="微软雅黑"/>
              </a:rPr>
              <a:t>外部压力</a:t>
            </a:r>
            <a:endParaRPr lang="zh-CN" altLang="en-US" sz="1600" b="1">
              <a:solidFill>
                <a:srgbClr val="0042FF"/>
              </a:solidFill>
              <a:cs typeface="微软雅黑"/>
              <a:sym typeface="微软雅黑"/>
              <a:latin typeface="微软雅黑"/>
              <a:ea typeface="微软雅黑"/>
            </a:endParaRPr>
          </a:p>
        </p:txBody>
      </p:sp>
      <p:sp>
        <p:nvSpPr>
          <p:cNvPr id="48" name="矩形 47"/>
          <p:cNvSpPr/>
          <p:nvPr/>
        </p:nvSpPr>
        <p:spPr>
          <a:xfrm>
            <a:off x="5797550" y="6212840"/>
            <a:ext cx="1146810" cy="210185"/>
          </a:xfrm>
          <a:prstGeom prst="rect">
            <a:avLst/>
          </a:prstGeom>
          <a:solidFill>
            <a:srgbClr val="FFFF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600" b="1">
                <a:solidFill>
                  <a:srgbClr val="0042FF"/>
                </a:solidFill>
                <a:cs typeface="微软雅黑"/>
                <a:sym typeface="微软雅黑"/>
                <a:latin typeface="微软雅黑"/>
                <a:ea typeface="微软雅黑"/>
              </a:rPr>
              <a:t>外部压力</a:t>
            </a:r>
            <a:endParaRPr lang="zh-CN" altLang="en-US" sz="1600" b="1">
              <a:solidFill>
                <a:srgbClr val="0042FF"/>
              </a:solidFill>
              <a:cs typeface="微软雅黑"/>
              <a:sym typeface="微软雅黑"/>
              <a:latin typeface="微软雅黑"/>
              <a:ea typeface="微软雅黑"/>
            </a:endParaRPr>
          </a:p>
        </p:txBody>
      </p:sp>
      <p:sp>
        <p:nvSpPr>
          <p:cNvPr id="49" name="文本框 48"/>
          <p:cNvSpPr txBox="1"/>
          <p:nvPr/>
        </p:nvSpPr>
        <p:spPr>
          <a:xfrm>
            <a:off x="2254885" y="1986915"/>
            <a:ext cx="95504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政府及监管部门</a:t>
            </a:r>
            <a:endParaRPr lang="zh-CN" altLang="en-US" sz="1400" b="1">
              <a:solidFill>
                <a:srgbClr val="FFFFFF"/>
              </a:solidFill>
              <a:latin typeface="微软雅黑"/>
              <a:ea typeface="微软雅黑"/>
              <a:cs typeface="微软雅黑"/>
            </a:endParaRPr>
          </a:p>
        </p:txBody>
      </p:sp>
      <p:sp>
        <p:nvSpPr>
          <p:cNvPr id="50" name="文本框 49"/>
          <p:cNvSpPr txBox="1"/>
          <p:nvPr/>
        </p:nvSpPr>
        <p:spPr>
          <a:xfrm>
            <a:off x="2239645" y="3611245"/>
            <a:ext cx="95504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行业</a:t>
            </a:r>
            <a:endParaRPr lang="zh-CN" altLang="en-US" sz="14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协会</a:t>
            </a:r>
            <a:endParaRPr lang="zh-CN" altLang="en-US" sz="1400" b="1">
              <a:solidFill>
                <a:srgbClr val="FFFFFF"/>
              </a:solidFill>
              <a:latin typeface="微软雅黑"/>
              <a:ea typeface="微软雅黑"/>
              <a:cs typeface="微软雅黑"/>
            </a:endParaRPr>
          </a:p>
        </p:txBody>
      </p:sp>
      <p:sp>
        <p:nvSpPr>
          <p:cNvPr id="51" name="文本框 50"/>
          <p:cNvSpPr txBox="1"/>
          <p:nvPr/>
        </p:nvSpPr>
        <p:spPr>
          <a:xfrm>
            <a:off x="2259330" y="5205730"/>
            <a:ext cx="95504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金融</a:t>
            </a:r>
            <a:endParaRPr lang="zh-CN" altLang="en-US" sz="14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机构</a:t>
            </a:r>
            <a:endParaRPr lang="zh-CN" altLang="en-US" sz="1400" b="1">
              <a:solidFill>
                <a:srgbClr val="FFFFFF"/>
              </a:solidFill>
              <a:latin typeface="微软雅黑"/>
              <a:ea typeface="微软雅黑"/>
              <a:cs typeface="微软雅黑"/>
            </a:endParaRPr>
          </a:p>
        </p:txBody>
      </p:sp>
      <p:sp>
        <p:nvSpPr>
          <p:cNvPr id="52" name="文本框 51"/>
          <p:cNvSpPr txBox="1"/>
          <p:nvPr/>
        </p:nvSpPr>
        <p:spPr>
          <a:xfrm>
            <a:off x="662305" y="1431925"/>
            <a:ext cx="1465580" cy="1383665"/>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强化行业整顿与政策约束。</a:t>
            </a:r>
            <a:r>
              <a:rPr lang="zh-CN" altLang="en-US" sz="1200">
                <a:solidFill>
                  <a:srgbClr val="383838"/>
                </a:solidFill>
                <a:latin typeface="微软雅黑"/>
                <a:ea typeface="微软雅黑"/>
                <a:cs typeface="微软雅黑"/>
              </a:rPr>
              <a:t>推出行业准入白名单机、跨部门联合合规审查等组合拳，倒逼企业优化生产模式与管理流程。</a:t>
            </a:r>
            <a:endParaRPr lang="zh-CN" altLang="en-US" sz="1200">
              <a:solidFill>
                <a:srgbClr val="383838"/>
              </a:solidFill>
              <a:latin typeface="微软雅黑"/>
              <a:ea typeface="微软雅黑"/>
              <a:cs typeface="微软雅黑"/>
            </a:endParaRPr>
          </a:p>
        </p:txBody>
      </p:sp>
      <p:sp>
        <p:nvSpPr>
          <p:cNvPr id="53" name="矩形 52"/>
          <p:cNvSpPr/>
          <p:nvPr/>
        </p:nvSpPr>
        <p:spPr>
          <a:xfrm>
            <a:off x="619760" y="3002915"/>
            <a:ext cx="1508760" cy="1540510"/>
          </a:xfrm>
          <a:prstGeom prst="rect">
            <a:avLst/>
          </a:prstGeom>
          <a:solidFill>
            <a:srgbClr val="3368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4" name="矩形 53"/>
          <p:cNvSpPr/>
          <p:nvPr/>
        </p:nvSpPr>
        <p:spPr>
          <a:xfrm>
            <a:off x="619760" y="4751705"/>
            <a:ext cx="1508760" cy="1540510"/>
          </a:xfrm>
          <a:prstGeom prst="rect">
            <a:avLst/>
          </a:prstGeom>
          <a:solidFill>
            <a:srgbClr val="3368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7" name="文本框 56"/>
          <p:cNvSpPr txBox="1"/>
          <p:nvPr/>
        </p:nvSpPr>
        <p:spPr>
          <a:xfrm>
            <a:off x="9146540" y="2274570"/>
            <a:ext cx="955040" cy="64516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投资</a:t>
            </a:r>
            <a:endParaRPr lang="zh-CN" altLang="en-US"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者</a:t>
            </a:r>
            <a:endParaRPr lang="zh-CN" altLang="en-US" b="1">
              <a:solidFill>
                <a:srgbClr val="FFFFFF"/>
              </a:solidFill>
              <a:latin typeface="微软雅黑"/>
              <a:ea typeface="微软雅黑"/>
              <a:cs typeface="微软雅黑"/>
            </a:endParaRPr>
          </a:p>
        </p:txBody>
      </p:sp>
      <p:sp>
        <p:nvSpPr>
          <p:cNvPr id="58" name="文本框 57"/>
          <p:cNvSpPr txBox="1"/>
          <p:nvPr/>
        </p:nvSpPr>
        <p:spPr>
          <a:xfrm>
            <a:off x="9127490" y="4800600"/>
            <a:ext cx="955040" cy="64516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消费</a:t>
            </a:r>
            <a:endParaRPr lang="zh-CN" altLang="en-US"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者</a:t>
            </a:r>
            <a:endParaRPr lang="zh-CN" altLang="en-US" b="1">
              <a:solidFill>
                <a:srgbClr val="FFFFFF"/>
              </a:solidFill>
              <a:latin typeface="微软雅黑"/>
              <a:ea typeface="微软雅黑"/>
              <a:cs typeface="微软雅黑"/>
            </a:endParaRPr>
          </a:p>
        </p:txBody>
      </p:sp>
      <p:sp>
        <p:nvSpPr>
          <p:cNvPr id="59" name="矩形 58"/>
          <p:cNvSpPr/>
          <p:nvPr/>
        </p:nvSpPr>
        <p:spPr>
          <a:xfrm>
            <a:off x="10156190" y="1793240"/>
            <a:ext cx="1508760" cy="1540510"/>
          </a:xfrm>
          <a:prstGeom prst="rect">
            <a:avLst/>
          </a:prstGeom>
          <a:solidFill>
            <a:srgbClr val="3368FF">
              <a:alpha val="10000"/>
            </a:srgbClr>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0" name="文本框 59"/>
          <p:cNvSpPr txBox="1"/>
          <p:nvPr/>
        </p:nvSpPr>
        <p:spPr>
          <a:xfrm>
            <a:off x="10191750" y="1898015"/>
            <a:ext cx="1437005" cy="1383665"/>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从短期逐利转向长期价值锚定。</a:t>
            </a:r>
            <a:r>
              <a:rPr lang="zh-CN" altLang="en-US" sz="1200">
                <a:solidFill>
                  <a:srgbClr val="383838"/>
                </a:solidFill>
                <a:latin typeface="微软雅黑"/>
                <a:ea typeface="微软雅黑"/>
                <a:cs typeface="微软雅黑"/>
              </a:rPr>
              <a:t>受宏观经济波动影响，资本加速撤离低增长赛道，转而聚焦新兴产业及具备技术壁垒的企业。</a:t>
            </a:r>
            <a:endParaRPr lang="zh-CN" altLang="en-US" sz="1200">
              <a:solidFill>
                <a:srgbClr val="383838"/>
              </a:solidFill>
              <a:latin typeface="微软雅黑"/>
              <a:ea typeface="微软雅黑"/>
              <a:cs typeface="微软雅黑"/>
            </a:endParaRPr>
          </a:p>
        </p:txBody>
      </p:sp>
      <p:sp>
        <p:nvSpPr>
          <p:cNvPr id="61" name="矩形 60"/>
          <p:cNvSpPr/>
          <p:nvPr/>
        </p:nvSpPr>
        <p:spPr>
          <a:xfrm>
            <a:off x="10156190" y="4494530"/>
            <a:ext cx="1508760" cy="1540510"/>
          </a:xfrm>
          <a:prstGeom prst="rect">
            <a:avLst/>
          </a:prstGeom>
          <a:solidFill>
            <a:srgbClr val="3368FF">
              <a:alpha val="10000"/>
            </a:srgbClr>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2" name="文本框 61"/>
          <p:cNvSpPr txBox="1"/>
          <p:nvPr/>
        </p:nvSpPr>
        <p:spPr>
          <a:xfrm>
            <a:off x="10182860" y="4597400"/>
            <a:ext cx="1437640" cy="1585595"/>
          </a:xfrm>
          <a:prstGeom prst="rect">
            <a:avLst/>
          </a:prstGeom>
          <a:noFill/>
        </p:spPr>
        <p:txBody>
          <a:bodyPr wrap="square" rtlCol="0">
            <a:no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从性价比导向升级为价值与体验双驱动。</a:t>
            </a:r>
            <a:r>
              <a:rPr lang="zh-CN" altLang="en-US" sz="1200">
                <a:solidFill>
                  <a:srgbClr val="383838"/>
                </a:solidFill>
                <a:latin typeface="微软雅黑"/>
                <a:ea typeface="微软雅黑"/>
                <a:cs typeface="微软雅黑"/>
              </a:rPr>
              <a:t>消费者倾向于选择高性价比、体验优质的产品，倒逼企业优化服务与产品设计。</a:t>
            </a:r>
            <a:endParaRPr lang="zh-CN" altLang="en-US" sz="1200">
              <a:solidFill>
                <a:srgbClr val="383838"/>
              </a:solidFill>
              <a:latin typeface="微软雅黑"/>
              <a:ea typeface="微软雅黑"/>
              <a:cs typeface="微软雅黑"/>
            </a:endParaRPr>
          </a:p>
          <a:p>
            <a:pPr algn="l">
              <a:defRPr>
                <a:latin typeface="微软雅黑"/>
                <a:ea typeface="微软雅黑"/>
                <a:cs typeface="微软雅黑"/>
              </a:defRPr>
            </a:pPr>
            <a:endParaRPr lang="en-US" altLang="zh-CN" sz="1200">
              <a:solidFill>
                <a:srgbClr val="383838"/>
              </a:solidFill>
              <a:latin typeface="微软雅黑"/>
              <a:ea typeface="微软雅黑"/>
              <a:cs typeface="微软雅黑"/>
            </a:endParaRPr>
          </a:p>
          <a:p>
            <a:pPr algn="l">
              <a:defRPr>
                <a:latin typeface="微软雅黑"/>
                <a:ea typeface="微软雅黑"/>
                <a:cs typeface="微软雅黑"/>
              </a:defRPr>
            </a:pPr>
            <a:endParaRPr lang="en-US" altLang="zh-CN" sz="1200">
              <a:solidFill>
                <a:srgbClr val="383838"/>
              </a:solidFill>
              <a:latin typeface="微软雅黑"/>
              <a:ea typeface="微软雅黑"/>
              <a:cs typeface="微软雅黑"/>
            </a:endParaRPr>
          </a:p>
        </p:txBody>
      </p:sp>
      <p:sp>
        <p:nvSpPr>
          <p:cNvPr id="64" name="紫荆的职场Point99-4"/>
          <p:cNvSpPr/>
          <p:nvPr/>
        </p:nvSpPr>
        <p:spPr>
          <a:xfrm rot="7620000">
            <a:off x="2857500" y="1424305"/>
            <a:ext cx="347980" cy="5289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0042FF">
                  <a:alpha val="0"/>
                </a:srgbClr>
              </a:gs>
              <a:gs pos="100000">
                <a:srgbClr val="0042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65" name="紫荆的职场Point99-4"/>
          <p:cNvSpPr/>
          <p:nvPr/>
        </p:nvSpPr>
        <p:spPr>
          <a:xfrm rot="13980000" flipV="1">
            <a:off x="2945765" y="5761355"/>
            <a:ext cx="347980" cy="5289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0042FF">
                  <a:alpha val="0"/>
                </a:srgbClr>
              </a:gs>
              <a:gs pos="100000">
                <a:srgbClr val="0042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66" name="紫荆的职场Point99-4"/>
          <p:cNvSpPr/>
          <p:nvPr/>
        </p:nvSpPr>
        <p:spPr>
          <a:xfrm rot="5400000">
            <a:off x="2900045" y="2831465"/>
            <a:ext cx="347980" cy="5289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0042FF">
                  <a:alpha val="0"/>
                </a:srgbClr>
              </a:gs>
              <a:gs pos="100000">
                <a:srgbClr val="0042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67" name="紫荆的职场Point99-4"/>
          <p:cNvSpPr/>
          <p:nvPr/>
        </p:nvSpPr>
        <p:spPr>
          <a:xfrm rot="5400000">
            <a:off x="2893695" y="4453890"/>
            <a:ext cx="347980" cy="5289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0042FF">
                  <a:alpha val="0"/>
                </a:srgbClr>
              </a:gs>
              <a:gs pos="100000">
                <a:srgbClr val="0042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68" name="紫荆的职场Point99-4"/>
          <p:cNvSpPr/>
          <p:nvPr/>
        </p:nvSpPr>
        <p:spPr>
          <a:xfrm rot="13980000" flipH="1">
            <a:off x="8997950" y="1465580"/>
            <a:ext cx="347980" cy="5289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69" name="紫荆的职场Point99-4"/>
          <p:cNvSpPr/>
          <p:nvPr/>
        </p:nvSpPr>
        <p:spPr>
          <a:xfrm rot="7620000" flipH="1" flipV="1">
            <a:off x="9042400" y="5729605"/>
            <a:ext cx="347980" cy="5289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70" name="紫荆的职场Point99-4"/>
          <p:cNvSpPr/>
          <p:nvPr/>
        </p:nvSpPr>
        <p:spPr>
          <a:xfrm rot="15900000" flipH="1">
            <a:off x="9035415" y="3522980"/>
            <a:ext cx="347980" cy="5289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71" name="文本框 70"/>
          <p:cNvSpPr txBox="1"/>
          <p:nvPr/>
        </p:nvSpPr>
        <p:spPr>
          <a:xfrm>
            <a:off x="662305" y="3110865"/>
            <a:ext cx="1465580" cy="1383665"/>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建立行业分级标准与自律机制。</a:t>
            </a:r>
            <a:r>
              <a:rPr lang="zh-CN" altLang="en-US" sz="1200">
                <a:solidFill>
                  <a:srgbClr val="383838"/>
                </a:solidFill>
                <a:latin typeface="微软雅黑"/>
                <a:ea typeface="微软雅黑"/>
                <a:cs typeface="微软雅黑"/>
              </a:rPr>
              <a:t>制定技术认证体系、服务质量星级评价规则，并推行</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黑名单</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公示制度，淘汰不合规企业。</a:t>
            </a:r>
            <a:endParaRPr lang="zh-CN" altLang="en-US" sz="1200">
              <a:solidFill>
                <a:srgbClr val="383838"/>
              </a:solidFill>
              <a:latin typeface="微软雅黑"/>
              <a:ea typeface="微软雅黑"/>
              <a:cs typeface="微软雅黑"/>
            </a:endParaRPr>
          </a:p>
        </p:txBody>
      </p:sp>
      <p:sp>
        <p:nvSpPr>
          <p:cNvPr id="72" name="文本框 71"/>
          <p:cNvSpPr txBox="1"/>
          <p:nvPr/>
        </p:nvSpPr>
        <p:spPr>
          <a:xfrm>
            <a:off x="655955" y="4829175"/>
            <a:ext cx="1465580" cy="1383665"/>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风险导向的融资政策收紧。</a:t>
            </a:r>
            <a:r>
              <a:rPr lang="zh-CN" altLang="en-US" sz="1200">
                <a:solidFill>
                  <a:srgbClr val="383838"/>
                </a:solidFill>
                <a:latin typeface="微软雅黑"/>
                <a:ea typeface="微软雅黑"/>
                <a:cs typeface="微软雅黑"/>
              </a:rPr>
              <a:t>银行对传统高耗能行业实施贷款额度硬性缩减</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保险公司引入</a:t>
            </a:r>
            <a:r>
              <a:rPr lang="en-US" altLang="zh-CN" sz="1200">
                <a:solidFill>
                  <a:srgbClr val="383838"/>
                </a:solidFill>
                <a:latin typeface="微软雅黑"/>
                <a:ea typeface="微软雅黑"/>
                <a:cs typeface="微软雅黑"/>
              </a:rPr>
              <a:t>ESG</a:t>
            </a:r>
            <a:r>
              <a:rPr lang="zh-CN" altLang="en-US" sz="1200">
                <a:solidFill>
                  <a:srgbClr val="383838"/>
                </a:solidFill>
                <a:latin typeface="微软雅黑"/>
                <a:ea typeface="微软雅黑"/>
                <a:cs typeface="微软雅黑"/>
              </a:rPr>
              <a:t>评级模型</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对高风险企业保费上浮</a:t>
            </a:r>
            <a:r>
              <a:rPr lang="en-US" altLang="zh-CN" sz="1200">
                <a:solidFill>
                  <a:srgbClr val="383838"/>
                </a:solidFill>
                <a:latin typeface="微软雅黑"/>
                <a:ea typeface="微软雅黑"/>
                <a:cs typeface="微软雅黑"/>
              </a:rPr>
              <a:t>30%</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sp>
        <p:nvSpPr>
          <p:cNvPr id="73" name="文本框 72"/>
          <p:cNvSpPr txBox="1"/>
          <p:nvPr/>
        </p:nvSpPr>
        <p:spPr>
          <a:xfrm>
            <a:off x="9696133" y="3638550"/>
            <a:ext cx="173037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利益相关方影响</a:t>
            </a:r>
            <a:endParaRPr lang="zh-CN" altLang="en-US" sz="1400" b="1">
              <a:solidFill>
                <a:srgbClr val="0042FF"/>
              </a:solidFill>
              <a:latin typeface="微软雅黑"/>
              <a:ea typeface="微软雅黑"/>
              <a:cs typeface="微软雅黑"/>
            </a:endParaRPr>
          </a:p>
        </p:txBody>
      </p:sp>
      <p:pic>
        <p:nvPicPr>
          <p:cNvPr id="19" name="图片 18"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0" name="组合 9"/>
          <p:cNvGrpSpPr/>
          <p:nvPr/>
        </p:nvGrpSpPr>
        <p:grpSpPr>
          <a:xfrm>
            <a:off x="8738235" y="348615"/>
            <a:ext cx="3219450" cy="332740"/>
            <a:chOff x="13761" y="549"/>
            <a:chExt cx="5070" cy="524"/>
          </a:xfrm>
        </p:grpSpPr>
        <p:pic>
          <p:nvPicPr>
            <p:cNvPr id="20" name="图片 1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21" name="文本框 2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23" name="组合 22"/>
          <p:cNvGrpSpPr/>
          <p:nvPr/>
        </p:nvGrpSpPr>
        <p:grpSpPr>
          <a:xfrm>
            <a:off x="5574030" y="4173220"/>
            <a:ext cx="1146810" cy="209550"/>
            <a:chOff x="9074" y="6926"/>
            <a:chExt cx="1806" cy="330"/>
          </a:xfrm>
        </p:grpSpPr>
        <p:sp>
          <p:nvSpPr>
            <p:cNvPr id="45" name="矩形 44"/>
            <p:cNvSpPr/>
            <p:nvPr/>
          </p:nvSpPr>
          <p:spPr>
            <a:xfrm>
              <a:off x="9074" y="6926"/>
              <a:ext cx="1806" cy="331"/>
            </a:xfrm>
            <a:prstGeom prst="rect">
              <a:avLst/>
            </a:prstGeom>
            <a:solidFill>
              <a:srgbClr val="FFFF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200" b="1">
                <a:solidFill>
                  <a:srgbClr val="0042FF"/>
                </a:solidFill>
                <a:cs typeface="微软雅黑"/>
                <a:sym typeface="微软雅黑"/>
                <a:latin typeface="微软雅黑"/>
                <a:ea typeface="微软雅黑"/>
              </a:endParaRPr>
            </a:p>
          </p:txBody>
        </p:sp>
        <p:sp>
          <p:nvSpPr>
            <p:cNvPr id="22" name="矩形 21"/>
            <p:cNvSpPr/>
            <p:nvPr/>
          </p:nvSpPr>
          <p:spPr>
            <a:xfrm>
              <a:off x="9074" y="6926"/>
              <a:ext cx="1806" cy="331"/>
            </a:xfrm>
            <a:prstGeom prst="rect">
              <a:avLst/>
            </a:prstGeom>
            <a:solidFill>
              <a:srgbClr val="E6E6E6">
                <a:alpha val="20000"/>
              </a:srgbClr>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技术革新</a:t>
              </a:r>
              <a:endParaRPr lang="zh-CN" altLang="en-US" sz="1200" b="1">
                <a:solidFill>
                  <a:srgbClr val="0042FF"/>
                </a:solidFill>
                <a:cs typeface="微软雅黑"/>
                <a:sym typeface="微软雅黑"/>
                <a:latin typeface="微软雅黑"/>
                <a:ea typeface="微软雅黑"/>
              </a:endParaRPr>
            </a:p>
          </p:txBody>
        </p:sp>
      </p:grpSp>
      <p:grpSp>
        <p:nvGrpSpPr>
          <p:cNvPr id="63" name="组合 62"/>
          <p:cNvGrpSpPr/>
          <p:nvPr/>
        </p:nvGrpSpPr>
        <p:grpSpPr>
          <a:xfrm>
            <a:off x="5574030" y="5130165"/>
            <a:ext cx="1146810" cy="209550"/>
            <a:chOff x="9074" y="6926"/>
            <a:chExt cx="1806" cy="330"/>
          </a:xfrm>
        </p:grpSpPr>
        <p:sp>
          <p:nvSpPr>
            <p:cNvPr id="74" name="矩形 73"/>
            <p:cNvSpPr/>
            <p:nvPr/>
          </p:nvSpPr>
          <p:spPr>
            <a:xfrm>
              <a:off x="9074" y="6926"/>
              <a:ext cx="1806" cy="331"/>
            </a:xfrm>
            <a:prstGeom prst="rect">
              <a:avLst/>
            </a:prstGeom>
            <a:solidFill>
              <a:srgbClr val="FFFF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200" b="1">
                <a:solidFill>
                  <a:srgbClr val="0042FF"/>
                </a:solidFill>
                <a:cs typeface="微软雅黑"/>
                <a:sym typeface="微软雅黑"/>
                <a:latin typeface="微软雅黑"/>
                <a:ea typeface="微软雅黑"/>
              </a:endParaRPr>
            </a:p>
          </p:txBody>
        </p:sp>
        <p:sp>
          <p:nvSpPr>
            <p:cNvPr id="75" name="矩形 74"/>
            <p:cNvSpPr/>
            <p:nvPr/>
          </p:nvSpPr>
          <p:spPr>
            <a:xfrm>
              <a:off x="9074" y="6926"/>
              <a:ext cx="1806" cy="331"/>
            </a:xfrm>
            <a:prstGeom prst="rect">
              <a:avLst/>
            </a:prstGeom>
            <a:solidFill>
              <a:srgbClr val="E6E6E6">
                <a:alpha val="20000"/>
              </a:srgbClr>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组织变革</a:t>
              </a:r>
              <a:endParaRPr lang="zh-CN" altLang="en-US" sz="1200" b="1">
                <a:solidFill>
                  <a:srgbClr val="0042FF"/>
                </a:solidFill>
                <a:cs typeface="微软雅黑"/>
                <a:sym typeface="微软雅黑"/>
                <a:latin typeface="微软雅黑"/>
                <a:ea typeface="微软雅黑"/>
              </a:endParaRPr>
            </a:p>
          </p:txBody>
        </p:sp>
      </p:grpSp>
      <p:cxnSp>
        <p:nvCxnSpPr>
          <p:cNvPr id="2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60920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直播技术发展的趋势展望</a:t>
            </a:r>
            <a:endParaRPr sz="2500" b="0">
              <a:solidFill>
                <a:srgbClr val="383838"/>
              </a:solidFill>
              <a:effectLst/>
              <a:latin typeface="微软雅黑"/>
              <a:ea typeface="微软雅黑"/>
              <a:cs typeface="微软雅黑"/>
            </a:endParaRPr>
          </a:p>
        </p:txBody>
      </p:sp>
      <p:sp>
        <p:nvSpPr>
          <p:cNvPr id="2" name="圆角矩形 1"/>
          <p:cNvSpPr/>
          <p:nvPr>
            <p:custDataLst>
              <p:tags r:id="rId1"/>
            </p:custDataLst>
          </p:nvPr>
        </p:nvSpPr>
        <p:spPr>
          <a:xfrm>
            <a:off x="702310" y="1506220"/>
            <a:ext cx="3775075" cy="1109980"/>
          </a:xfrm>
          <a:prstGeom prst="roundRect">
            <a:avLst>
              <a:gd name="adj" fmla="val 3525"/>
            </a:avLst>
          </a:prstGeom>
          <a:solidFill>
            <a:srgbClr val="3368FF">
              <a:alpha val="10000"/>
            </a:srgbClr>
          </a:solidFill>
          <a:ln w="12700" cap="flat" cmpd="sng" algn="ctr">
            <a:solidFill>
              <a:srgbClr val="3368FF"/>
            </a:solidFill>
            <a:prstDash val="sysDash"/>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kumimoji="1" lang="zh-CN" altLang="en-US">
              <a:solidFill>
                <a:srgbClr val="383838"/>
              </a:solidFill>
              <a:effectLst/>
              <a:latin typeface="微软雅黑"/>
              <a:ea typeface="微软雅黑"/>
              <a:cs typeface="微软雅黑"/>
              <a:sym typeface="微软雅黑"/>
            </a:endParaRPr>
          </a:p>
        </p:txBody>
      </p:sp>
      <p:sp>
        <p:nvSpPr>
          <p:cNvPr id="3" name="矩形 2"/>
          <p:cNvSpPr/>
          <p:nvPr/>
        </p:nvSpPr>
        <p:spPr>
          <a:xfrm>
            <a:off x="539750" y="1506220"/>
            <a:ext cx="95250" cy="1109345"/>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effectLst/>
              <a:latin typeface="微软雅黑"/>
              <a:ea typeface="微软雅黑"/>
              <a:cs typeface="微软雅黑"/>
              <a:sym typeface="微软雅黑"/>
            </a:endParaRPr>
          </a:p>
        </p:txBody>
      </p:sp>
      <p:cxnSp>
        <p:nvCxnSpPr>
          <p:cNvPr id="6" name="直接箭头连接符 43"/>
          <p:cNvCxnSpPr/>
          <p:nvPr>
            <p:custDataLst>
              <p:tags r:id="rId2"/>
            </p:custDataLst>
          </p:nvPr>
        </p:nvCxnSpPr>
        <p:spPr>
          <a:xfrm>
            <a:off x="5142276" y="1197727"/>
            <a:ext cx="6776085" cy="0"/>
          </a:xfrm>
          <a:prstGeom prst="straightConnector1">
            <a:avLst/>
          </a:prstGeom>
          <a:noFill/>
          <a:ln w="25400" cap="flat" cmpd="sng" algn="ctr">
            <a:solidFill>
              <a:srgbClr val="3368FF"/>
            </a:solidFill>
            <a:prstDash val="solid"/>
            <a:miter lim="800000"/>
            <a:headEnd type="oval"/>
            <a:tailEnd type="oval"/>
          </a:ln>
          <a:effectLst/>
        </p:spPr>
      </p:cxnSp>
      <p:cxnSp>
        <p:nvCxnSpPr>
          <p:cNvPr id="9" name="直接箭头连接符 43"/>
          <p:cNvCxnSpPr/>
          <p:nvPr>
            <p:custDataLst>
              <p:tags r:id="rId3"/>
            </p:custDataLst>
          </p:nvPr>
        </p:nvCxnSpPr>
        <p:spPr>
          <a:xfrm>
            <a:off x="391630" y="1197727"/>
            <a:ext cx="4750435" cy="0"/>
          </a:xfrm>
          <a:prstGeom prst="straightConnector1">
            <a:avLst/>
          </a:prstGeom>
          <a:noFill/>
          <a:ln w="25400" cap="flat" cmpd="sng" algn="ctr">
            <a:solidFill>
              <a:srgbClr val="0042FF"/>
            </a:solidFill>
            <a:prstDash val="solid"/>
            <a:miter lim="800000"/>
            <a:headEnd type="oval"/>
            <a:tailEnd type="oval"/>
          </a:ln>
          <a:effectLst/>
        </p:spPr>
      </p:cxnSp>
      <p:sp>
        <p:nvSpPr>
          <p:cNvPr id="11" name="矩形 10"/>
          <p:cNvSpPr/>
          <p:nvPr/>
        </p:nvSpPr>
        <p:spPr>
          <a:xfrm>
            <a:off x="6851650" y="1040765"/>
            <a:ext cx="3789045" cy="36830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effectLst/>
              <a:latin typeface="微软雅黑"/>
              <a:ea typeface="微软雅黑"/>
              <a:cs typeface="微软雅黑"/>
            </a:endParaRPr>
          </a:p>
        </p:txBody>
      </p:sp>
      <p:sp>
        <p:nvSpPr>
          <p:cNvPr id="14" name="文本框 13"/>
          <p:cNvSpPr txBox="1"/>
          <p:nvPr>
            <p:custDataLst>
              <p:tags r:id="rId4"/>
            </p:custDataLst>
          </p:nvPr>
        </p:nvSpPr>
        <p:spPr>
          <a:xfrm>
            <a:off x="7412355" y="1014730"/>
            <a:ext cx="4223385" cy="327660"/>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en-US" altLang="zh-CN" b="1" i="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直播元宇宙</a:t>
            </a:r>
            <a:r>
              <a:rPr kumimoji="0" lang="en-US" altLang="zh-CN" b="1" i="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赋能企业的应用价值</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5" name="矩形 14"/>
          <p:cNvSpPr/>
          <p:nvPr>
            <p:custDataLst>
              <p:tags r:id="rId5"/>
            </p:custDataLst>
          </p:nvPr>
        </p:nvSpPr>
        <p:spPr>
          <a:xfrm>
            <a:off x="1814195" y="1038225"/>
            <a:ext cx="2515235" cy="36830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effectLst/>
              <a:latin typeface="微软雅黑"/>
              <a:ea typeface="微软雅黑"/>
              <a:cs typeface="微软雅黑"/>
            </a:endParaRPr>
          </a:p>
        </p:txBody>
      </p:sp>
      <p:sp>
        <p:nvSpPr>
          <p:cNvPr id="16" name="文本框 15"/>
          <p:cNvSpPr txBox="1"/>
          <p:nvPr>
            <p:custDataLst>
              <p:tags r:id="rId6"/>
            </p:custDataLst>
          </p:nvPr>
        </p:nvSpPr>
        <p:spPr>
          <a:xfrm>
            <a:off x="2157095" y="1026160"/>
            <a:ext cx="2094230" cy="327660"/>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核心虚拟直播技术应用</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7" name="圆角矩形 16"/>
          <p:cNvSpPr/>
          <p:nvPr>
            <p:custDataLst>
              <p:tags r:id="rId7"/>
            </p:custDataLst>
          </p:nvPr>
        </p:nvSpPr>
        <p:spPr>
          <a:xfrm>
            <a:off x="702310" y="2726690"/>
            <a:ext cx="3775075" cy="1029335"/>
          </a:xfrm>
          <a:prstGeom prst="roundRect">
            <a:avLst>
              <a:gd name="adj" fmla="val 3525"/>
            </a:avLst>
          </a:prstGeom>
          <a:solidFill>
            <a:srgbClr val="E6E6E6">
              <a:alpha val="10000"/>
            </a:srgbClr>
          </a:solidFill>
          <a:ln w="12700" cap="flat" cmpd="sng" algn="ctr">
            <a:solidFill>
              <a:srgbClr val="0042FF">
                <a:alpha val="50000"/>
              </a:srgbClr>
            </a:solidFill>
            <a:prstDash val="sysDash"/>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kumimoji="1" lang="zh-CN" altLang="en-US">
              <a:solidFill>
                <a:srgbClr val="383838"/>
              </a:solidFill>
              <a:effectLst/>
              <a:latin typeface="微软雅黑"/>
              <a:ea typeface="微软雅黑"/>
              <a:cs typeface="微软雅黑"/>
              <a:sym typeface="微软雅黑"/>
            </a:endParaRPr>
          </a:p>
        </p:txBody>
      </p:sp>
      <p:sp>
        <p:nvSpPr>
          <p:cNvPr id="19" name="矩形 18"/>
          <p:cNvSpPr/>
          <p:nvPr>
            <p:custDataLst>
              <p:tags r:id="rId8"/>
            </p:custDataLst>
          </p:nvPr>
        </p:nvSpPr>
        <p:spPr>
          <a:xfrm>
            <a:off x="539750" y="2726690"/>
            <a:ext cx="92710" cy="1029970"/>
          </a:xfrm>
          <a:prstGeom prst="rect">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effectLst/>
              <a:latin typeface="微软雅黑"/>
              <a:ea typeface="微软雅黑"/>
              <a:cs typeface="微软雅黑"/>
              <a:sym typeface="微软雅黑"/>
            </a:endParaRPr>
          </a:p>
        </p:txBody>
      </p:sp>
      <p:sp>
        <p:nvSpPr>
          <p:cNvPr id="22" name="圆角矩形 21"/>
          <p:cNvSpPr/>
          <p:nvPr>
            <p:custDataLst>
              <p:tags r:id="rId9"/>
            </p:custDataLst>
          </p:nvPr>
        </p:nvSpPr>
        <p:spPr>
          <a:xfrm>
            <a:off x="702310" y="3868420"/>
            <a:ext cx="3775075" cy="1183005"/>
          </a:xfrm>
          <a:prstGeom prst="roundRect">
            <a:avLst>
              <a:gd name="adj" fmla="val 3525"/>
            </a:avLst>
          </a:prstGeom>
          <a:solidFill>
            <a:srgbClr val="3368FF">
              <a:alpha val="10000"/>
            </a:srgbClr>
          </a:solidFill>
          <a:ln w="12700" cap="flat" cmpd="sng" algn="ctr">
            <a:solidFill>
              <a:srgbClr val="3368FF"/>
            </a:solidFill>
            <a:prstDash val="sysDash"/>
            <a:miter lim="800000"/>
          </a:ln>
          <a:effectLst/>
        </p:spPr>
        <p:txBody>
          <a:bodyPr rtlCol="0" anchor="ctr" lIns="0" rIns="0" tIns="0" bIns="0"/>
          <a:lstStyle/>
          <a:p>
            <a:pPr algn="ctr">
              <a:defRPr>
                <a:latin typeface="微软雅黑"/>
                <a:ea typeface="微软雅黑"/>
                <a:cs typeface="微软雅黑"/>
              </a:defRPr>
            </a:pPr>
            <a:endParaRPr kumimoji="1" lang="zh-CN" altLang="en-US">
              <a:solidFill>
                <a:srgbClr val="383838"/>
              </a:solidFill>
              <a:effectLst/>
              <a:latin typeface="微软雅黑"/>
              <a:ea typeface="微软雅黑"/>
              <a:cs typeface="微软雅黑"/>
            </a:endParaRPr>
          </a:p>
        </p:txBody>
      </p:sp>
      <p:sp>
        <p:nvSpPr>
          <p:cNvPr id="24" name="矩形 23"/>
          <p:cNvSpPr/>
          <p:nvPr>
            <p:custDataLst>
              <p:tags r:id="rId10"/>
            </p:custDataLst>
          </p:nvPr>
        </p:nvSpPr>
        <p:spPr>
          <a:xfrm>
            <a:off x="539750" y="3868420"/>
            <a:ext cx="95250" cy="118237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effectLst/>
              <a:latin typeface="微软雅黑"/>
              <a:ea typeface="微软雅黑"/>
              <a:cs typeface="微软雅黑"/>
            </a:endParaRPr>
          </a:p>
        </p:txBody>
      </p:sp>
      <p:sp>
        <p:nvSpPr>
          <p:cNvPr id="25" name="等腰三角形 24"/>
          <p:cNvSpPr/>
          <p:nvPr/>
        </p:nvSpPr>
        <p:spPr>
          <a:xfrm rot="5400000">
            <a:off x="3712210" y="3187065"/>
            <a:ext cx="2131695" cy="322580"/>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effectLst/>
              <a:latin typeface="微软雅黑"/>
              <a:ea typeface="微软雅黑"/>
              <a:cs typeface="微软雅黑"/>
            </a:endParaRPr>
          </a:p>
        </p:txBody>
      </p:sp>
      <p:sp>
        <p:nvSpPr>
          <p:cNvPr id="26" name="文本框 25"/>
          <p:cNvSpPr txBox="1"/>
          <p:nvPr/>
        </p:nvSpPr>
        <p:spPr>
          <a:xfrm>
            <a:off x="4873625" y="1763395"/>
            <a:ext cx="367030" cy="1595755"/>
          </a:xfrm>
          <a:prstGeom prst="rect">
            <a:avLst/>
          </a:prstGeom>
          <a:noFill/>
        </p:spPr>
        <p:txBody>
          <a:bodyPr vert="eaVert" wrap="square" rtlCol="0">
            <a:spAutoFit/>
          </a:bodyPr>
          <a:lstStyle/>
          <a:p>
            <a:pPr>
              <a:defRPr>
                <a:latin typeface="微软雅黑"/>
                <a:ea typeface="微软雅黑"/>
                <a:cs typeface="微软雅黑"/>
              </a:defRPr>
            </a:pPr>
            <a:r>
              <a:rPr lang="zh-CN" altLang="en-US" sz="1200" b="1">
                <a:solidFill>
                  <a:srgbClr val="383838"/>
                </a:solidFill>
                <a:effectLst/>
                <a:latin typeface="微软雅黑"/>
                <a:ea typeface="微软雅黑"/>
                <a:cs typeface="微软雅黑"/>
              </a:rPr>
              <a:t>虚拟与现实相结合</a:t>
            </a:r>
            <a:endParaRPr lang="zh-CN" altLang="en-US" sz="1200" b="1">
              <a:solidFill>
                <a:srgbClr val="383838"/>
              </a:solidFill>
              <a:effectLst/>
              <a:latin typeface="微软雅黑"/>
              <a:ea typeface="微软雅黑"/>
              <a:cs typeface="微软雅黑"/>
            </a:endParaRPr>
          </a:p>
        </p:txBody>
      </p:sp>
      <p:sp>
        <p:nvSpPr>
          <p:cNvPr id="27" name="文本框 26"/>
          <p:cNvSpPr txBox="1"/>
          <p:nvPr>
            <p:custDataLst>
              <p:tags r:id="rId11"/>
            </p:custDataLst>
          </p:nvPr>
        </p:nvSpPr>
        <p:spPr>
          <a:xfrm>
            <a:off x="4873625" y="3599815"/>
            <a:ext cx="367030" cy="1595755"/>
          </a:xfrm>
          <a:prstGeom prst="rect">
            <a:avLst/>
          </a:prstGeom>
          <a:noFill/>
        </p:spPr>
        <p:txBody>
          <a:bodyPr vert="eaVert" wrap="square" rtlCol="0">
            <a:spAutoFit/>
          </a:bodyPr>
          <a:lstStyle/>
          <a:p>
            <a:pPr>
              <a:defRPr>
                <a:latin typeface="微软雅黑"/>
                <a:ea typeface="微软雅黑"/>
                <a:cs typeface="微软雅黑"/>
              </a:defRPr>
            </a:pPr>
            <a:r>
              <a:rPr lang="zh-CN" altLang="en-US" sz="1200" b="1">
                <a:solidFill>
                  <a:srgbClr val="383838"/>
                </a:solidFill>
                <a:effectLst/>
                <a:latin typeface="微软雅黑"/>
                <a:ea typeface="微软雅黑"/>
                <a:cs typeface="微软雅黑"/>
              </a:rPr>
              <a:t>打造互动感沉浸感</a:t>
            </a:r>
            <a:endParaRPr lang="zh-CN" altLang="en-US" sz="1200" b="1">
              <a:solidFill>
                <a:srgbClr val="383838"/>
              </a:solidFill>
              <a:effectLst/>
              <a:latin typeface="微软雅黑"/>
              <a:ea typeface="微软雅黑"/>
              <a:cs typeface="微软雅黑"/>
            </a:endParaRPr>
          </a:p>
        </p:txBody>
      </p:sp>
      <p:sp>
        <p:nvSpPr>
          <p:cNvPr id="33" name="矩形 32"/>
          <p:cNvSpPr/>
          <p:nvPr>
            <p:custDataLst>
              <p:tags r:id="rId12"/>
            </p:custDataLst>
          </p:nvPr>
        </p:nvSpPr>
        <p:spPr>
          <a:xfrm>
            <a:off x="5363845" y="1506220"/>
            <a:ext cx="6477635" cy="3545205"/>
          </a:xfrm>
          <a:prstGeom prst="rect">
            <a:avLst/>
          </a:prstGeom>
          <a:solidFill>
            <a:srgbClr val="3368FF">
              <a:alpha val="10000"/>
            </a:srgbClr>
          </a:solidFill>
          <a:ln w="12700" cap="flat">
            <a:solidFill>
              <a:srgbClr val="3368FF">
                <a:alpha val="50000"/>
              </a:srgbClr>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a:solidFill>
                <a:srgbClr val="383838">
                  <a:alpha val="80000"/>
                </a:srgbClr>
              </a:solidFill>
              <a:effectLst/>
              <a:latin typeface="微软雅黑"/>
              <a:ea typeface="微软雅黑"/>
              <a:cs typeface="微软雅黑"/>
              <a:sym typeface="微软雅黑"/>
            </a:endParaRPr>
          </a:p>
        </p:txBody>
      </p:sp>
      <p:grpSp>
        <p:nvGrpSpPr>
          <p:cNvPr id="34" name="组合 33"/>
          <p:cNvGrpSpPr/>
          <p:nvPr/>
        </p:nvGrpSpPr>
        <p:grpSpPr>
          <a:xfrm>
            <a:off x="7809177" y="2120959"/>
            <a:ext cx="1619575" cy="1402525"/>
            <a:chOff x="13679724" y="2641701"/>
            <a:chExt cx="3141330" cy="2720339"/>
          </a:xfrm>
        </p:grpSpPr>
        <p:grpSp>
          <p:nvGrpSpPr>
            <p:cNvPr id="35" name="组合 34"/>
            <p:cNvGrpSpPr/>
            <p:nvPr/>
          </p:nvGrpSpPr>
          <p:grpSpPr>
            <a:xfrm>
              <a:off x="13679724" y="2641701"/>
              <a:ext cx="3141330" cy="2720339"/>
              <a:chOff x="7571159" y="2512161"/>
              <a:chExt cx="3141330" cy="2720339"/>
            </a:xfrm>
          </p:grpSpPr>
          <p:sp>
            <p:nvSpPr>
              <p:cNvPr id="36" name="任意多边形: 形状 122"/>
              <p:cNvSpPr/>
              <p:nvPr>
                <p:custDataLst>
                  <p:tags r:id="rId13"/>
                </p:custDataLst>
              </p:nvPr>
            </p:nvSpPr>
            <p:spPr>
              <a:xfrm>
                <a:off x="7571159" y="2512161"/>
                <a:ext cx="3127994" cy="2708910"/>
              </a:xfrm>
              <a:custGeom>
                <a:avLst/>
                <a:gdLst>
                  <a:gd name="connsiteX0" fmla="*/ 1954987 w 3909993"/>
                  <a:gd name="connsiteY0" fmla="*/ 0 h 3386137"/>
                  <a:gd name="connsiteX1" fmla="*/ 3909993 w 3909993"/>
                  <a:gd name="connsiteY1" fmla="*/ 3386138 h 3386137"/>
                  <a:gd name="connsiteX2" fmla="*/ 0 w 3909993"/>
                  <a:gd name="connsiteY2" fmla="*/ 3386138 h 3386137"/>
                  <a:gd name="connsiteX3" fmla="*/ 1954987 w 3909993"/>
                  <a:gd name="connsiteY3" fmla="*/ 0 h 3386137"/>
                </a:gdLst>
                <a:ahLst/>
                <a:cxnLst>
                  <a:cxn ang="0">
                    <a:pos x="connsiteX0" y="connsiteY0"/>
                  </a:cxn>
                  <a:cxn ang="0">
                    <a:pos x="connsiteX1" y="connsiteY1"/>
                  </a:cxn>
                  <a:cxn ang="0">
                    <a:pos x="connsiteX2" y="connsiteY2"/>
                  </a:cxn>
                  <a:cxn ang="0">
                    <a:pos x="connsiteX3" y="connsiteY3"/>
                  </a:cxn>
                </a:cxnLst>
                <a:rect l="l" t="t" r="r" b="b"/>
                <a:pathLst>
                  <a:path w="3909993" h="3386137">
                    <a:moveTo>
                      <a:pt x="1954987" y="0"/>
                    </a:moveTo>
                    <a:lnTo>
                      <a:pt x="3909993" y="3386138"/>
                    </a:lnTo>
                    <a:lnTo>
                      <a:pt x="0" y="3386138"/>
                    </a:lnTo>
                    <a:lnTo>
                      <a:pt x="1954987" y="0"/>
                    </a:lnTo>
                    <a:close/>
                  </a:path>
                </a:pathLst>
              </a:custGeom>
              <a:solidFill>
                <a:srgbClr val="FFFFFF"/>
              </a:solidFill>
              <a:ln w="6350" cap="flat">
                <a:solidFill>
                  <a:srgbClr val="0042FF"/>
                </a:solidFill>
                <a:prstDash val="solid"/>
                <a:miter/>
              </a:ln>
            </p:spPr>
            <p:txBody>
              <a:bodyPr rtlCol="0" anchor="ctr"/>
              <a:lstStyle/>
              <a:p>
                <a:pPr defTabSz="731520">
                  <a:defRPr>
                    <a:latin typeface="微软雅黑"/>
                    <a:ea typeface="微软雅黑"/>
                    <a:cs typeface="微软雅黑"/>
                  </a:defRPr>
                </a:pPr>
                <a:endParaRPr lang="zh-CN" altLang="en-US" sz="1440" dirty="0">
                  <a:solidFill>
                    <a:srgbClr val="0042FF"/>
                  </a:solidFill>
                  <a:effectLst/>
                  <a:latin typeface="微软雅黑"/>
                  <a:ea typeface="微软雅黑"/>
                  <a:cs typeface="微软雅黑"/>
                </a:endParaRPr>
              </a:p>
            </p:txBody>
          </p:sp>
          <p:sp>
            <p:nvSpPr>
              <p:cNvPr id="40" name="任意多边形: 形状 123"/>
              <p:cNvSpPr/>
              <p:nvPr>
                <p:custDataLst>
                  <p:tags r:id="rId14"/>
                </p:custDataLst>
              </p:nvPr>
            </p:nvSpPr>
            <p:spPr>
              <a:xfrm>
                <a:off x="9135149" y="2512161"/>
                <a:ext cx="7620" cy="1710690"/>
              </a:xfrm>
              <a:custGeom>
                <a:avLst/>
                <a:gdLst>
                  <a:gd name="connsiteX0" fmla="*/ 0 w 9525"/>
                  <a:gd name="connsiteY0" fmla="*/ 0 h 2138362"/>
                  <a:gd name="connsiteX1" fmla="*/ 0 w 9525"/>
                  <a:gd name="connsiteY1" fmla="*/ 2138363 h 2138362"/>
                </a:gdLst>
                <a:ahLst/>
                <a:cxnLst>
                  <a:cxn ang="0">
                    <a:pos x="connsiteX0" y="connsiteY0"/>
                  </a:cxn>
                  <a:cxn ang="0">
                    <a:pos x="connsiteX1" y="connsiteY1"/>
                  </a:cxn>
                </a:cxnLst>
                <a:rect l="l" t="t" r="r" b="b"/>
                <a:pathLst>
                  <a:path w="9525" h="2138362">
                    <a:moveTo>
                      <a:pt x="0" y="0"/>
                    </a:moveTo>
                    <a:lnTo>
                      <a:pt x="0" y="2138363"/>
                    </a:lnTo>
                  </a:path>
                </a:pathLst>
              </a:custGeom>
              <a:noFill/>
              <a:ln w="6350" cap="flat">
                <a:solidFill>
                  <a:srgbClr val="0042FF">
                    <a:alpha val="50000"/>
                  </a:srgbClr>
                </a:solidFill>
                <a:prstDash val="lgDash"/>
                <a:miter/>
              </a:ln>
            </p:spPr>
            <p:txBody>
              <a:bodyPr rtlCol="0" anchor="ctr"/>
              <a:lstStyle/>
              <a:p>
                <a:pPr defTabSz="731520">
                  <a:defRPr>
                    <a:latin typeface="微软雅黑"/>
                    <a:ea typeface="微软雅黑"/>
                    <a:cs typeface="微软雅黑"/>
                  </a:defRPr>
                </a:pPr>
                <a:endParaRPr lang="zh-CN" altLang="en-US" sz="1440" dirty="0">
                  <a:solidFill>
                    <a:srgbClr val="0042FF"/>
                  </a:solidFill>
                  <a:effectLst/>
                  <a:latin typeface="微软雅黑"/>
                  <a:ea typeface="微软雅黑"/>
                  <a:cs typeface="微软雅黑"/>
                </a:endParaRPr>
              </a:p>
            </p:txBody>
          </p:sp>
          <p:sp>
            <p:nvSpPr>
              <p:cNvPr id="41" name="任意多边形: 形状 124"/>
              <p:cNvSpPr/>
              <p:nvPr>
                <p:custDataLst>
                  <p:tags r:id="rId15"/>
                </p:custDataLst>
              </p:nvPr>
            </p:nvSpPr>
            <p:spPr>
              <a:xfrm>
                <a:off x="7610919" y="4211765"/>
                <a:ext cx="1531620" cy="1009650"/>
              </a:xfrm>
              <a:custGeom>
                <a:avLst/>
                <a:gdLst>
                  <a:gd name="connsiteX0" fmla="*/ 0 w 1914525"/>
                  <a:gd name="connsiteY0" fmla="*/ 1262063 h 1262062"/>
                  <a:gd name="connsiteX1" fmla="*/ 1914525 w 1914525"/>
                  <a:gd name="connsiteY1" fmla="*/ 0 h 1262062"/>
                </a:gdLst>
                <a:ahLst/>
                <a:cxnLst>
                  <a:cxn ang="0">
                    <a:pos x="connsiteX0" y="connsiteY0"/>
                  </a:cxn>
                  <a:cxn ang="0">
                    <a:pos x="connsiteX1" y="connsiteY1"/>
                  </a:cxn>
                </a:cxnLst>
                <a:rect l="l" t="t" r="r" b="b"/>
                <a:pathLst>
                  <a:path w="1914525" h="1262062">
                    <a:moveTo>
                      <a:pt x="0" y="1262063"/>
                    </a:moveTo>
                    <a:lnTo>
                      <a:pt x="1914525" y="0"/>
                    </a:lnTo>
                  </a:path>
                </a:pathLst>
              </a:custGeom>
              <a:noFill/>
              <a:ln w="6350" cap="flat">
                <a:solidFill>
                  <a:srgbClr val="0042FF">
                    <a:alpha val="50000"/>
                  </a:srgbClr>
                </a:solidFill>
                <a:prstDash val="lgDash"/>
                <a:miter/>
              </a:ln>
            </p:spPr>
            <p:txBody>
              <a:bodyPr rtlCol="0" anchor="ctr"/>
              <a:lstStyle/>
              <a:p>
                <a:pPr defTabSz="731520">
                  <a:defRPr>
                    <a:latin typeface="微软雅黑"/>
                    <a:ea typeface="微软雅黑"/>
                    <a:cs typeface="微软雅黑"/>
                  </a:defRPr>
                </a:pPr>
                <a:endParaRPr lang="zh-CN" altLang="en-US" sz="1440">
                  <a:solidFill>
                    <a:srgbClr val="0042FF"/>
                  </a:solidFill>
                  <a:effectLst/>
                  <a:latin typeface="微软雅黑"/>
                  <a:ea typeface="微软雅黑"/>
                  <a:cs typeface="微软雅黑"/>
                </a:endParaRPr>
              </a:p>
            </p:txBody>
          </p:sp>
          <p:sp>
            <p:nvSpPr>
              <p:cNvPr id="42" name="任意多边形: 形状 125"/>
              <p:cNvSpPr/>
              <p:nvPr>
                <p:custDataLst>
                  <p:tags r:id="rId16"/>
                </p:custDataLst>
              </p:nvPr>
            </p:nvSpPr>
            <p:spPr>
              <a:xfrm>
                <a:off x="9135149" y="4222850"/>
                <a:ext cx="1577340" cy="1009650"/>
              </a:xfrm>
              <a:custGeom>
                <a:avLst/>
                <a:gdLst>
                  <a:gd name="connsiteX0" fmla="*/ 1971675 w 1971675"/>
                  <a:gd name="connsiteY0" fmla="*/ 1262063 h 1262062"/>
                  <a:gd name="connsiteX1" fmla="*/ 0 w 1971675"/>
                  <a:gd name="connsiteY1" fmla="*/ 0 h 1262062"/>
                </a:gdLst>
                <a:ahLst/>
                <a:cxnLst>
                  <a:cxn ang="0">
                    <a:pos x="connsiteX0" y="connsiteY0"/>
                  </a:cxn>
                  <a:cxn ang="0">
                    <a:pos x="connsiteX1" y="connsiteY1"/>
                  </a:cxn>
                </a:cxnLst>
                <a:rect l="l" t="t" r="r" b="b"/>
                <a:pathLst>
                  <a:path w="1971675" h="1262062">
                    <a:moveTo>
                      <a:pt x="1971675" y="1262063"/>
                    </a:moveTo>
                    <a:lnTo>
                      <a:pt x="0" y="0"/>
                    </a:lnTo>
                  </a:path>
                </a:pathLst>
              </a:custGeom>
              <a:noFill/>
              <a:ln w="6350" cap="flat">
                <a:solidFill>
                  <a:srgbClr val="0042FF">
                    <a:alpha val="50000"/>
                  </a:srgbClr>
                </a:solidFill>
                <a:prstDash val="lgDash"/>
                <a:miter/>
              </a:ln>
            </p:spPr>
            <p:txBody>
              <a:bodyPr rtlCol="0" anchor="ctr"/>
              <a:lstStyle/>
              <a:p>
                <a:pPr defTabSz="731520">
                  <a:defRPr>
                    <a:latin typeface="微软雅黑"/>
                    <a:ea typeface="微软雅黑"/>
                    <a:cs typeface="微软雅黑"/>
                  </a:defRPr>
                </a:pPr>
                <a:endParaRPr lang="zh-CN" altLang="en-US" sz="1440">
                  <a:solidFill>
                    <a:srgbClr val="0042FF"/>
                  </a:solidFill>
                  <a:effectLst/>
                  <a:latin typeface="微软雅黑"/>
                  <a:ea typeface="微软雅黑"/>
                  <a:cs typeface="微软雅黑"/>
                </a:endParaRPr>
              </a:p>
            </p:txBody>
          </p:sp>
        </p:grpSp>
        <p:sp>
          <p:nvSpPr>
            <p:cNvPr id="43" name="任意多边形: 形状 120"/>
            <p:cNvSpPr/>
            <p:nvPr>
              <p:custDataLst>
                <p:tags r:id="rId17"/>
              </p:custDataLst>
            </p:nvPr>
          </p:nvSpPr>
          <p:spPr>
            <a:xfrm>
              <a:off x="14299242" y="3602385"/>
              <a:ext cx="535766" cy="535766"/>
            </a:xfrm>
            <a:custGeom>
              <a:avLst/>
              <a:gdLst>
                <a:gd name="connsiteX0" fmla="*/ 933450 w 933450"/>
                <a:gd name="connsiteY0" fmla="*/ 466725 h 933450"/>
                <a:gd name="connsiteX1" fmla="*/ 466725 w 933450"/>
                <a:gd name="connsiteY1" fmla="*/ 933450 h 933450"/>
                <a:gd name="connsiteX2" fmla="*/ 0 w 933450"/>
                <a:gd name="connsiteY2" fmla="*/ 466725 h 933450"/>
                <a:gd name="connsiteX3" fmla="*/ 466725 w 933450"/>
                <a:gd name="connsiteY3" fmla="*/ 0 h 933450"/>
                <a:gd name="connsiteX4" fmla="*/ 933450 w 933450"/>
                <a:gd name="connsiteY4" fmla="*/ 466725 h 933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450" h="933450">
                  <a:moveTo>
                    <a:pt x="933450" y="466725"/>
                  </a:moveTo>
                  <a:cubicBezTo>
                    <a:pt x="933450" y="724490"/>
                    <a:pt x="724490" y="933450"/>
                    <a:pt x="466725" y="933450"/>
                  </a:cubicBezTo>
                  <a:cubicBezTo>
                    <a:pt x="208959" y="933450"/>
                    <a:pt x="0" y="724490"/>
                    <a:pt x="0" y="466725"/>
                  </a:cubicBezTo>
                  <a:cubicBezTo>
                    <a:pt x="0" y="208960"/>
                    <a:pt x="208959" y="0"/>
                    <a:pt x="466725" y="0"/>
                  </a:cubicBezTo>
                  <a:cubicBezTo>
                    <a:pt x="724490" y="0"/>
                    <a:pt x="933450" y="208960"/>
                    <a:pt x="933450" y="466725"/>
                  </a:cubicBezTo>
                  <a:close/>
                </a:path>
              </a:pathLst>
            </a:custGeom>
            <a:gradFill>
              <a:gsLst>
                <a:gs pos="0">
                  <a:srgbClr val="3368FF"/>
                </a:gs>
                <a:gs pos="100000">
                  <a:srgbClr val="B3D4FE"/>
                </a:gs>
              </a:gsLst>
              <a:lin ang="5400000" scaled="0"/>
            </a:gradFill>
            <a:ln w="12700" cap="flat">
              <a:noFill/>
              <a:prstDash val="solid"/>
              <a:miter lim="800000"/>
            </a:ln>
            <a:effectLst>
              <a:outerShdw blurRad="317500" dist="63500" algn="ctr" rotWithShape="0">
                <a:srgbClr val="B3D4FE">
                  <a:alpha val="30000"/>
                </a:srgbClr>
              </a:outerShdw>
            </a:effectLst>
            <a:sp3d/>
          </p:spPr>
          <p:txBody>
            <a:bodyPr rot="0" spcFirstLastPara="1" vertOverflow="overflow" horzOverflow="overflow" vert="horz" wrap="square" lIns="0" tIns="0" rIns="0" bIns="0" numCol="1" spcCol="38100" rtlCol="0" anchor="ctr">
              <a:noAutofit/>
            </a:bodyPr>
            <a:lstStyle/>
            <a:p>
              <a:pPr algn="ctr" hangingPunct="0">
                <a:defRPr>
                  <a:latin typeface="微软雅黑"/>
                  <a:ea typeface="微软雅黑"/>
                  <a:cs typeface="微软雅黑"/>
                </a:defRPr>
              </a:pPr>
              <a:r>
                <a:rPr lang="en-US" altLang="zh-CN" sz="1400" b="1">
                  <a:solidFill>
                    <a:srgbClr val="383838"/>
                  </a:solidFill>
                  <a:effectLst/>
                  <a:latin typeface="微软雅黑"/>
                  <a:ea typeface="微软雅黑"/>
                  <a:cs typeface="微软雅黑"/>
                </a:rPr>
                <a:t>1</a:t>
              </a:r>
              <a:endParaRPr lang="en-US" altLang="zh-CN" sz="1400" b="1">
                <a:solidFill>
                  <a:srgbClr val="383838"/>
                </a:solidFill>
                <a:effectLst/>
                <a:latin typeface="微软雅黑"/>
                <a:ea typeface="微软雅黑"/>
                <a:cs typeface="微软雅黑"/>
              </a:endParaRPr>
            </a:p>
          </p:txBody>
        </p:sp>
      </p:grpSp>
      <p:sp>
        <p:nvSpPr>
          <p:cNvPr id="44" name="任意多边形: 形状 120"/>
          <p:cNvSpPr/>
          <p:nvPr>
            <p:custDataLst>
              <p:tags r:id="rId18"/>
            </p:custDataLst>
          </p:nvPr>
        </p:nvSpPr>
        <p:spPr>
          <a:xfrm>
            <a:off x="8479737" y="3359209"/>
            <a:ext cx="276225" cy="276225"/>
          </a:xfrm>
          <a:custGeom>
            <a:avLst/>
            <a:gdLst>
              <a:gd name="connsiteX0" fmla="*/ 933450 w 933450"/>
              <a:gd name="connsiteY0" fmla="*/ 466725 h 933450"/>
              <a:gd name="connsiteX1" fmla="*/ 466725 w 933450"/>
              <a:gd name="connsiteY1" fmla="*/ 933450 h 933450"/>
              <a:gd name="connsiteX2" fmla="*/ 0 w 933450"/>
              <a:gd name="connsiteY2" fmla="*/ 466725 h 933450"/>
              <a:gd name="connsiteX3" fmla="*/ 466725 w 933450"/>
              <a:gd name="connsiteY3" fmla="*/ 0 h 933450"/>
              <a:gd name="connsiteX4" fmla="*/ 933450 w 933450"/>
              <a:gd name="connsiteY4" fmla="*/ 466725 h 933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450" h="933450">
                <a:moveTo>
                  <a:pt x="933450" y="466725"/>
                </a:moveTo>
                <a:cubicBezTo>
                  <a:pt x="933450" y="724490"/>
                  <a:pt x="724490" y="933450"/>
                  <a:pt x="466725" y="933450"/>
                </a:cubicBezTo>
                <a:cubicBezTo>
                  <a:pt x="208959" y="933450"/>
                  <a:pt x="0" y="724490"/>
                  <a:pt x="0" y="466725"/>
                </a:cubicBezTo>
                <a:cubicBezTo>
                  <a:pt x="0" y="208960"/>
                  <a:pt x="208959" y="0"/>
                  <a:pt x="466725" y="0"/>
                </a:cubicBezTo>
                <a:cubicBezTo>
                  <a:pt x="724490" y="0"/>
                  <a:pt x="933450" y="208960"/>
                  <a:pt x="933450" y="466725"/>
                </a:cubicBezTo>
                <a:close/>
              </a:path>
            </a:pathLst>
          </a:custGeom>
          <a:gradFill>
            <a:gsLst>
              <a:gs pos="0">
                <a:srgbClr val="3368FF"/>
              </a:gs>
              <a:gs pos="100000">
                <a:srgbClr val="B3D4FE"/>
              </a:gs>
            </a:gsLst>
            <a:lin ang="5400000" scaled="0"/>
          </a:gradFill>
          <a:ln w="12700" cap="flat">
            <a:noFill/>
            <a:prstDash val="solid"/>
            <a:miter lim="800000"/>
          </a:ln>
          <a:effectLst>
            <a:outerShdw blurRad="317500" dist="63500" algn="ctr" rotWithShape="0">
              <a:srgbClr val="B3D4FE">
                <a:alpha val="30000"/>
              </a:srgbClr>
            </a:outerShdw>
          </a:effectLst>
          <a:sp3d/>
        </p:spPr>
        <p:txBody>
          <a:bodyPr rot="0" spcFirstLastPara="1" vertOverflow="overflow" horzOverflow="overflow" vert="horz" wrap="square" lIns="0" tIns="0" rIns="0" bIns="0" numCol="1" spcCol="38100" rtlCol="0" anchor="ctr">
            <a:noAutofit/>
          </a:bodyPr>
          <a:lstStyle/>
          <a:p>
            <a:pPr lvl="0" algn="ctr" hangingPunct="0">
              <a:buClrTx/>
              <a:buSzTx/>
              <a:buFontTx/>
              <a:defRPr>
                <a:latin typeface="微软雅黑"/>
                <a:ea typeface="微软雅黑"/>
                <a:cs typeface="微软雅黑"/>
              </a:defRPr>
            </a:pPr>
            <a:r>
              <a:rPr lang="en-US" altLang="zh-CN" sz="1400" b="1">
                <a:solidFill>
                  <a:srgbClr val="383838"/>
                </a:solidFill>
                <a:effectLst/>
                <a:latin typeface="微软雅黑"/>
                <a:ea typeface="微软雅黑"/>
                <a:cs typeface="微软雅黑"/>
                <a:sym typeface="微软雅黑"/>
              </a:rPr>
              <a:t>3</a:t>
            </a:r>
            <a:endParaRPr lang="en-US" altLang="zh-CN" sz="1400" b="1">
              <a:solidFill>
                <a:srgbClr val="383838"/>
              </a:solidFill>
              <a:effectLst/>
              <a:latin typeface="微软雅黑"/>
              <a:ea typeface="微软雅黑"/>
              <a:cs typeface="微软雅黑"/>
              <a:sym typeface="微软雅黑"/>
            </a:endParaRPr>
          </a:p>
        </p:txBody>
      </p:sp>
      <p:sp>
        <p:nvSpPr>
          <p:cNvPr id="47" name="任意多边形: 形状 120"/>
          <p:cNvSpPr/>
          <p:nvPr>
            <p:custDataLst>
              <p:tags r:id="rId19"/>
            </p:custDataLst>
          </p:nvPr>
        </p:nvSpPr>
        <p:spPr>
          <a:xfrm>
            <a:off x="8873437" y="2616259"/>
            <a:ext cx="276225" cy="276225"/>
          </a:xfrm>
          <a:custGeom>
            <a:avLst/>
            <a:gdLst>
              <a:gd name="connsiteX0" fmla="*/ 933450 w 933450"/>
              <a:gd name="connsiteY0" fmla="*/ 466725 h 933450"/>
              <a:gd name="connsiteX1" fmla="*/ 466725 w 933450"/>
              <a:gd name="connsiteY1" fmla="*/ 933450 h 933450"/>
              <a:gd name="connsiteX2" fmla="*/ 0 w 933450"/>
              <a:gd name="connsiteY2" fmla="*/ 466725 h 933450"/>
              <a:gd name="connsiteX3" fmla="*/ 466725 w 933450"/>
              <a:gd name="connsiteY3" fmla="*/ 0 h 933450"/>
              <a:gd name="connsiteX4" fmla="*/ 933450 w 933450"/>
              <a:gd name="connsiteY4" fmla="*/ 466725 h 933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450" h="933450">
                <a:moveTo>
                  <a:pt x="933450" y="466725"/>
                </a:moveTo>
                <a:cubicBezTo>
                  <a:pt x="933450" y="724490"/>
                  <a:pt x="724490" y="933450"/>
                  <a:pt x="466725" y="933450"/>
                </a:cubicBezTo>
                <a:cubicBezTo>
                  <a:pt x="208959" y="933450"/>
                  <a:pt x="0" y="724490"/>
                  <a:pt x="0" y="466725"/>
                </a:cubicBezTo>
                <a:cubicBezTo>
                  <a:pt x="0" y="208960"/>
                  <a:pt x="208959" y="0"/>
                  <a:pt x="466725" y="0"/>
                </a:cubicBezTo>
                <a:cubicBezTo>
                  <a:pt x="724490" y="0"/>
                  <a:pt x="933450" y="208960"/>
                  <a:pt x="933450" y="466725"/>
                </a:cubicBezTo>
                <a:close/>
              </a:path>
            </a:pathLst>
          </a:custGeom>
          <a:gradFill>
            <a:gsLst>
              <a:gs pos="0">
                <a:srgbClr val="3368FF"/>
              </a:gs>
              <a:gs pos="100000">
                <a:srgbClr val="B3D4FE"/>
              </a:gs>
            </a:gsLst>
            <a:lin ang="5400000" scaled="0"/>
          </a:gradFill>
          <a:ln w="12700" cap="flat">
            <a:noFill/>
            <a:prstDash val="solid"/>
            <a:miter lim="800000"/>
          </a:ln>
          <a:effectLst>
            <a:outerShdw blurRad="317500" dist="63500" algn="ctr" rotWithShape="0">
              <a:srgbClr val="B3D4FE">
                <a:alpha val="30000"/>
              </a:srgbClr>
            </a:outerShdw>
          </a:effectLst>
          <a:sp3d/>
        </p:spPr>
        <p:txBody>
          <a:bodyPr rot="0" spcFirstLastPara="1" vertOverflow="overflow" horzOverflow="overflow" vert="horz" wrap="square" lIns="0" tIns="0" rIns="0" bIns="0" numCol="1" spcCol="38100" rtlCol="0" anchor="ctr">
            <a:noAutofit/>
          </a:bodyPr>
          <a:lstStyle/>
          <a:p>
            <a:pPr lvl="0" algn="ctr" hangingPunct="0">
              <a:buClrTx/>
              <a:buSzTx/>
              <a:buFontTx/>
              <a:defRPr>
                <a:latin typeface="微软雅黑"/>
                <a:ea typeface="微软雅黑"/>
                <a:cs typeface="微软雅黑"/>
              </a:defRPr>
            </a:pPr>
            <a:r>
              <a:rPr lang="en-US" altLang="zh-CN" sz="1400" b="1">
                <a:solidFill>
                  <a:srgbClr val="383838"/>
                </a:solidFill>
                <a:effectLst/>
                <a:latin typeface="微软雅黑"/>
                <a:ea typeface="微软雅黑"/>
                <a:cs typeface="微软雅黑"/>
                <a:sym typeface="微软雅黑"/>
              </a:rPr>
              <a:t>2</a:t>
            </a:r>
            <a:endParaRPr lang="en-US" altLang="zh-CN" sz="1400" b="1">
              <a:solidFill>
                <a:srgbClr val="383838"/>
              </a:solidFill>
              <a:effectLst/>
              <a:latin typeface="微软雅黑"/>
              <a:ea typeface="微软雅黑"/>
              <a:cs typeface="微软雅黑"/>
              <a:sym typeface="微软雅黑"/>
            </a:endParaRPr>
          </a:p>
        </p:txBody>
      </p:sp>
      <p:sp>
        <p:nvSpPr>
          <p:cNvPr id="56" name="圆角矩形 55"/>
          <p:cNvSpPr/>
          <p:nvPr>
            <p:custDataLst>
              <p:tags r:id="rId20"/>
            </p:custDataLst>
          </p:nvPr>
        </p:nvSpPr>
        <p:spPr>
          <a:xfrm>
            <a:off x="5716905" y="2519045"/>
            <a:ext cx="1817370" cy="1183005"/>
          </a:xfrm>
          <a:prstGeom prst="roundRect">
            <a:avLst>
              <a:gd name="adj" fmla="val 3525"/>
            </a:avLst>
          </a:prstGeom>
          <a:solidFill>
            <a:srgbClr val="FFFFFF">
              <a:alpha val="80000"/>
            </a:srgbClr>
          </a:solidFill>
          <a:ln w="12700" cap="flat" cmpd="sng" algn="ctr">
            <a:solidFill>
              <a:srgbClr val="0042FF"/>
            </a:solidFill>
            <a:prstDash val="sysDash"/>
            <a:miter lim="800000"/>
          </a:ln>
          <a:effectLst/>
        </p:spPr>
        <p:txBody>
          <a:bodyPr rtlCol="0" anchor="ctr">
            <a:noAutofit/>
          </a:bodyPr>
          <a:lstStyle/>
          <a:p>
            <a:pPr lvl="0" algn="ctr">
              <a:buClrTx/>
              <a:buSzTx/>
              <a:buFontTx/>
              <a:defRPr>
                <a:latin typeface="微软雅黑"/>
                <a:ea typeface="微软雅黑"/>
                <a:cs typeface="微软雅黑"/>
              </a:defRPr>
            </a:pPr>
            <a:r>
              <a:rPr kumimoji="1" lang="zh-CN" altLang="en-US" sz="1400">
                <a:solidFill>
                  <a:srgbClr val="383838"/>
                </a:solidFill>
                <a:effectLst/>
                <a:latin typeface="微软雅黑"/>
                <a:ea typeface="微软雅黑"/>
                <a:cs typeface="微软雅黑"/>
                <a:sym typeface="微软雅黑"/>
              </a:rPr>
              <a:t>元宇宙化虚拟直播打造虚拟视听盛宴，让沉浸式、高交互式体验触手可及，极大的提高了用户体验。</a:t>
            </a:r>
            <a:endParaRPr kumimoji="1" lang="zh-CN" altLang="en-US" sz="1400">
              <a:solidFill>
                <a:srgbClr val="383838"/>
              </a:solidFill>
              <a:effectLst/>
              <a:latin typeface="微软雅黑"/>
              <a:ea typeface="微软雅黑"/>
              <a:cs typeface="微软雅黑"/>
              <a:sym typeface="微软雅黑"/>
            </a:endParaRPr>
          </a:p>
        </p:txBody>
      </p:sp>
      <p:sp>
        <p:nvSpPr>
          <p:cNvPr id="57" name="圆角矩形 56"/>
          <p:cNvSpPr/>
          <p:nvPr>
            <p:custDataLst>
              <p:tags r:id="rId21"/>
            </p:custDataLst>
          </p:nvPr>
        </p:nvSpPr>
        <p:spPr>
          <a:xfrm>
            <a:off x="9700895" y="2484755"/>
            <a:ext cx="1817370" cy="1183005"/>
          </a:xfrm>
          <a:prstGeom prst="roundRect">
            <a:avLst>
              <a:gd name="adj" fmla="val 3525"/>
            </a:avLst>
          </a:prstGeom>
          <a:solidFill>
            <a:srgbClr val="FFFFFF">
              <a:alpha val="80000"/>
            </a:srgbClr>
          </a:solidFill>
          <a:ln w="12700" cap="flat" cmpd="sng" algn="ctr">
            <a:solidFill>
              <a:srgbClr val="0042FF"/>
            </a:solidFill>
            <a:prstDash val="sysDash"/>
            <a:miter lim="800000"/>
          </a:ln>
          <a:effectLst/>
        </p:spPr>
        <p:txBody>
          <a:bodyPr rtlCol="0" anchor="ctr">
            <a:noAutofit/>
          </a:bodyPr>
          <a:lstStyle/>
          <a:p>
            <a:pPr lvl="0" algn="ctr">
              <a:buClrTx/>
              <a:buSzTx/>
              <a:buFontTx/>
              <a:defRPr>
                <a:latin typeface="微软雅黑"/>
                <a:ea typeface="微软雅黑"/>
                <a:cs typeface="微软雅黑"/>
              </a:defRPr>
            </a:pPr>
            <a:r>
              <a:rPr kumimoji="1" lang="zh-CN" altLang="en-US" sz="1400">
                <a:solidFill>
                  <a:srgbClr val="383838"/>
                </a:solidFill>
                <a:effectLst/>
                <a:latin typeface="微软雅黑"/>
                <a:ea typeface="微软雅黑"/>
                <a:cs typeface="微软雅黑"/>
                <a:sym typeface="微软雅黑"/>
              </a:rPr>
              <a:t>元宇宙化直播效果的高质感，极大地增强视觉表现力，提升用户在直播间的停留时间，进而增强转化率</a:t>
            </a:r>
            <a:endParaRPr kumimoji="1" lang="zh-CN" altLang="en-US" sz="1400">
              <a:solidFill>
                <a:srgbClr val="383838"/>
              </a:solidFill>
              <a:effectLst/>
              <a:latin typeface="微软雅黑"/>
              <a:ea typeface="微软雅黑"/>
              <a:cs typeface="微软雅黑"/>
              <a:sym typeface="微软雅黑"/>
            </a:endParaRPr>
          </a:p>
        </p:txBody>
      </p:sp>
      <p:sp>
        <p:nvSpPr>
          <p:cNvPr id="82" name="圆角矩形 81"/>
          <p:cNvSpPr/>
          <p:nvPr>
            <p:custDataLst>
              <p:tags r:id="rId22"/>
            </p:custDataLst>
          </p:nvPr>
        </p:nvSpPr>
        <p:spPr>
          <a:xfrm>
            <a:off x="6534785" y="4204970"/>
            <a:ext cx="4573270" cy="701040"/>
          </a:xfrm>
          <a:prstGeom prst="roundRect">
            <a:avLst>
              <a:gd name="adj" fmla="val 3525"/>
            </a:avLst>
          </a:prstGeom>
          <a:solidFill>
            <a:srgbClr val="FFFFFF">
              <a:alpha val="80000"/>
            </a:srgbClr>
          </a:solidFill>
          <a:ln w="12700" cap="flat" cmpd="sng" algn="ctr">
            <a:solidFill>
              <a:srgbClr val="0042FF"/>
            </a:solidFill>
            <a:prstDash val="sysDash"/>
            <a:miter lim="800000"/>
          </a:ln>
          <a:effectLst/>
        </p:spPr>
        <p:txBody>
          <a:bodyPr rtlCol="0" anchor="ctr">
            <a:noAutofit/>
          </a:bodyPr>
          <a:lstStyle/>
          <a:p>
            <a:pPr lvl="0" algn="ctr">
              <a:buClrTx/>
              <a:buSzTx/>
              <a:buFontTx/>
              <a:defRPr>
                <a:latin typeface="微软雅黑"/>
                <a:ea typeface="微软雅黑"/>
                <a:cs typeface="微软雅黑"/>
              </a:defRPr>
            </a:pPr>
            <a:r>
              <a:rPr kumimoji="1" lang="zh-CN" altLang="en-US" sz="1400">
                <a:solidFill>
                  <a:srgbClr val="383838"/>
                </a:solidFill>
                <a:effectLst/>
                <a:latin typeface="微软雅黑"/>
                <a:ea typeface="微软雅黑"/>
                <a:cs typeface="微软雅黑"/>
                <a:sym typeface="微软雅黑"/>
              </a:rPr>
              <a:t>企业通过元宇宙虚拟化直播，以酷炫的视觉体验抓住客户眼球，形成视觉记忆点，提升观众对品牌的认知。</a:t>
            </a:r>
            <a:endParaRPr kumimoji="1" lang="zh-CN" altLang="en-US" sz="1400">
              <a:solidFill>
                <a:srgbClr val="383838"/>
              </a:solidFill>
              <a:effectLst/>
              <a:latin typeface="微软雅黑"/>
              <a:ea typeface="微软雅黑"/>
              <a:cs typeface="微软雅黑"/>
              <a:sym typeface="微软雅黑"/>
            </a:endParaRPr>
          </a:p>
        </p:txBody>
      </p:sp>
      <p:sp>
        <p:nvSpPr>
          <p:cNvPr id="83" name="文本框 82"/>
          <p:cNvSpPr txBox="1"/>
          <p:nvPr>
            <p:custDataLst>
              <p:tags r:id="rId23"/>
            </p:custDataLst>
          </p:nvPr>
        </p:nvSpPr>
        <p:spPr>
          <a:xfrm>
            <a:off x="6424295" y="1954530"/>
            <a:ext cx="1270635" cy="564515"/>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丰富用</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户体验</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4" name="文本框 83"/>
          <p:cNvSpPr txBox="1"/>
          <p:nvPr>
            <p:custDataLst>
              <p:tags r:id="rId24"/>
            </p:custDataLst>
          </p:nvPr>
        </p:nvSpPr>
        <p:spPr>
          <a:xfrm>
            <a:off x="8128635" y="3756025"/>
            <a:ext cx="1270635" cy="327660"/>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提升品牌形象</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5" name="文本框 84"/>
          <p:cNvSpPr txBox="1"/>
          <p:nvPr>
            <p:custDataLst>
              <p:tags r:id="rId25"/>
            </p:custDataLst>
          </p:nvPr>
        </p:nvSpPr>
        <p:spPr>
          <a:xfrm>
            <a:off x="10475595" y="1916430"/>
            <a:ext cx="1270635" cy="564515"/>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赋能业</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务转化</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7" name="文本框 86"/>
          <p:cNvSpPr txBox="1"/>
          <p:nvPr/>
        </p:nvSpPr>
        <p:spPr>
          <a:xfrm>
            <a:off x="702310" y="1814195"/>
            <a:ext cx="3775075" cy="737235"/>
          </a:xfrm>
          <a:prstGeom prst="rect">
            <a:avLst/>
          </a:prstGeom>
          <a:noFill/>
        </p:spPr>
        <p:txBody>
          <a:bodyPr wrap="square" rtlCol="0">
            <a:spAutoFit/>
          </a:bodyPr>
          <a:lstStyle/>
          <a:p>
            <a:pPr>
              <a:defRPr>
                <a:latin typeface="微软雅黑"/>
                <a:ea typeface="微软雅黑"/>
                <a:cs typeface="微软雅黑"/>
              </a:defRPr>
            </a:pPr>
            <a:r>
              <a:rPr lang="zh-CN" altLang="en-US" sz="1400">
                <a:solidFill>
                  <a:srgbClr val="383838"/>
                </a:solidFill>
                <a:effectLst/>
                <a:latin typeface="微软雅黑"/>
                <a:ea typeface="微软雅黑"/>
                <a:cs typeface="微软雅黑"/>
              </a:rPr>
              <a:t>直播进阶形态，呈现出虚拟与现实相交互的效果，让观众可以从感知世界中看到高度仿真的虚拟混合世界，几大提高直播沉浸感。</a:t>
            </a:r>
            <a:endParaRPr lang="zh-CN" altLang="en-US" sz="1400">
              <a:solidFill>
                <a:srgbClr val="383838"/>
              </a:solidFill>
              <a:effectLst/>
              <a:latin typeface="微软雅黑"/>
              <a:ea typeface="微软雅黑"/>
              <a:cs typeface="微软雅黑"/>
            </a:endParaRPr>
          </a:p>
        </p:txBody>
      </p:sp>
      <p:sp>
        <p:nvSpPr>
          <p:cNvPr id="88" name="文本框 87"/>
          <p:cNvSpPr txBox="1"/>
          <p:nvPr>
            <p:custDataLst>
              <p:tags r:id="rId26"/>
            </p:custDataLst>
          </p:nvPr>
        </p:nvSpPr>
        <p:spPr>
          <a:xfrm>
            <a:off x="1377950" y="1529715"/>
            <a:ext cx="2489200" cy="327660"/>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lvl="0" algn="l">
              <a:spcBef>
                <a:spcPts val="0"/>
              </a:spcBef>
              <a:spcAft>
                <a:spcPts val="0"/>
              </a:spcAft>
              <a:buClrTx/>
              <a:buSzTx/>
              <a:buFontTx/>
              <a:defRPr>
                <a:latin typeface="微软雅黑"/>
                <a:ea typeface="微软雅黑"/>
                <a:cs typeface="微软雅黑"/>
              </a:defRPr>
            </a:pPr>
            <a:r>
              <a:rPr lang="en-US" altLang="zh-CN" b="1" noProof="0" dirty="0">
                <a:ln>
                  <a:noFill/>
                </a:ln>
                <a:solidFill>
                  <a:srgbClr val="0042FF"/>
                </a:solidFill>
                <a:effectLst/>
                <a:uLnTx/>
                <a:uFillTx/>
                <a:latin typeface="微软雅黑"/>
                <a:ea typeface="微软雅黑"/>
                <a:cs typeface="微软雅黑"/>
                <a:sym typeface="微软雅黑"/>
              </a:rPr>
              <a:t>MR+直播，引领沉浸时代</a:t>
            </a:r>
            <a:endParaRPr lang="en-US" altLang="zh-CN" b="1" noProof="0" dirty="0">
              <a:ln>
                <a:noFill/>
              </a:ln>
              <a:solidFill>
                <a:srgbClr val="0042FF"/>
              </a:solidFill>
              <a:effectLst/>
              <a:uLnTx/>
              <a:uFillTx/>
              <a:latin typeface="微软雅黑"/>
              <a:ea typeface="微软雅黑"/>
              <a:cs typeface="微软雅黑"/>
              <a:sym typeface="微软雅黑"/>
            </a:endParaRPr>
          </a:p>
        </p:txBody>
      </p:sp>
      <p:sp>
        <p:nvSpPr>
          <p:cNvPr id="89" name="文本框 88"/>
          <p:cNvSpPr txBox="1"/>
          <p:nvPr>
            <p:custDataLst>
              <p:tags r:id="rId27"/>
            </p:custDataLst>
          </p:nvPr>
        </p:nvSpPr>
        <p:spPr>
          <a:xfrm>
            <a:off x="702310" y="3018790"/>
            <a:ext cx="3775075" cy="798195"/>
          </a:xfrm>
          <a:prstGeom prst="rect">
            <a:avLst/>
          </a:prstGeom>
          <a:noFill/>
        </p:spPr>
        <p:txBody>
          <a:bodyPr wrap="square" rtlCol="0">
            <a:noAutofit/>
          </a:bodyPr>
          <a:lstStyle/>
          <a:p>
            <a:pPr>
              <a:defRPr>
                <a:latin typeface="微软雅黑"/>
                <a:ea typeface="微软雅黑"/>
                <a:cs typeface="微软雅黑"/>
              </a:defRPr>
            </a:pPr>
            <a:r>
              <a:rPr lang="zh-CN" altLang="en-US" sz="1400">
                <a:solidFill>
                  <a:srgbClr val="383838"/>
                </a:solidFill>
                <a:effectLst/>
                <a:latin typeface="微软雅黑"/>
                <a:ea typeface="微软雅黑"/>
                <a:cs typeface="微软雅黑"/>
              </a:rPr>
              <a:t>结合</a:t>
            </a:r>
            <a:r>
              <a:rPr lang="en-US" altLang="zh-CN" sz="1400">
                <a:solidFill>
                  <a:srgbClr val="383838"/>
                </a:solidFill>
                <a:effectLst/>
                <a:latin typeface="微软雅黑"/>
                <a:ea typeface="微软雅黑"/>
                <a:cs typeface="微软雅黑"/>
              </a:rPr>
              <a:t>VR</a:t>
            </a:r>
            <a:r>
              <a:rPr lang="zh-CN" altLang="en-US" sz="1400">
                <a:solidFill>
                  <a:srgbClr val="383838"/>
                </a:solidFill>
                <a:effectLst/>
                <a:latin typeface="微软雅黑"/>
                <a:ea typeface="微软雅黑"/>
                <a:cs typeface="微软雅黑"/>
              </a:rPr>
              <a:t>、</a:t>
            </a:r>
            <a:r>
              <a:rPr lang="en-US" altLang="zh-CN" sz="1400">
                <a:solidFill>
                  <a:srgbClr val="383838"/>
                </a:solidFill>
                <a:effectLst/>
                <a:latin typeface="微软雅黑"/>
                <a:ea typeface="微软雅黑"/>
                <a:cs typeface="微软雅黑"/>
              </a:rPr>
              <a:t>AR</a:t>
            </a:r>
            <a:r>
              <a:rPr lang="zh-CN" altLang="en-US" sz="1400">
                <a:solidFill>
                  <a:srgbClr val="383838"/>
                </a:solidFill>
                <a:effectLst/>
                <a:latin typeface="微软雅黑"/>
                <a:ea typeface="微软雅黑"/>
                <a:cs typeface="微软雅黑"/>
              </a:rPr>
              <a:t>、</a:t>
            </a:r>
            <a:r>
              <a:rPr lang="en-US" altLang="zh-CN" sz="1400">
                <a:solidFill>
                  <a:srgbClr val="383838"/>
                </a:solidFill>
                <a:effectLst/>
                <a:latin typeface="微软雅黑"/>
                <a:ea typeface="微软雅黑"/>
                <a:cs typeface="微软雅黑"/>
              </a:rPr>
              <a:t>MR</a:t>
            </a:r>
            <a:r>
              <a:rPr lang="zh-CN" altLang="en-US" sz="1400">
                <a:solidFill>
                  <a:srgbClr val="383838"/>
                </a:solidFill>
                <a:effectLst/>
                <a:latin typeface="微软雅黑"/>
                <a:ea typeface="微软雅黑"/>
                <a:cs typeface="微软雅黑"/>
              </a:rPr>
              <a:t>等虚拟现实交互技术，给观众带来真实可感的交互体验，仿佛置身于</a:t>
            </a:r>
            <a:r>
              <a:rPr lang="en-US" altLang="zh-CN" sz="1400">
                <a:solidFill>
                  <a:srgbClr val="383838"/>
                </a:solidFill>
                <a:effectLst/>
                <a:latin typeface="微软雅黑"/>
                <a:ea typeface="微软雅黑"/>
                <a:cs typeface="微软雅黑"/>
              </a:rPr>
              <a:t>“</a:t>
            </a:r>
            <a:r>
              <a:rPr lang="zh-CN" altLang="en-US" sz="1400">
                <a:solidFill>
                  <a:srgbClr val="383838"/>
                </a:solidFill>
                <a:effectLst/>
                <a:latin typeface="微软雅黑"/>
                <a:ea typeface="微软雅黑"/>
                <a:cs typeface="微软雅黑"/>
              </a:rPr>
              <a:t>元宇宙</a:t>
            </a:r>
            <a:r>
              <a:rPr lang="en-US" altLang="zh-CN" sz="1400">
                <a:solidFill>
                  <a:srgbClr val="383838"/>
                </a:solidFill>
                <a:effectLst/>
                <a:latin typeface="微软雅黑"/>
                <a:ea typeface="微软雅黑"/>
                <a:cs typeface="微软雅黑"/>
              </a:rPr>
              <a:t>”</a:t>
            </a:r>
            <a:r>
              <a:rPr lang="zh-CN" altLang="en-US" sz="1400">
                <a:solidFill>
                  <a:srgbClr val="383838"/>
                </a:solidFill>
                <a:effectLst/>
                <a:latin typeface="微软雅黑"/>
                <a:ea typeface="微软雅黑"/>
                <a:cs typeface="微软雅黑"/>
              </a:rPr>
              <a:t>空间，丰富了直播的内容形式。</a:t>
            </a:r>
            <a:endParaRPr lang="zh-CN" altLang="en-US" sz="1400">
              <a:solidFill>
                <a:srgbClr val="383838"/>
              </a:solidFill>
              <a:effectLst/>
              <a:latin typeface="微软雅黑"/>
              <a:ea typeface="微软雅黑"/>
              <a:cs typeface="微软雅黑"/>
            </a:endParaRPr>
          </a:p>
        </p:txBody>
      </p:sp>
      <p:sp>
        <p:nvSpPr>
          <p:cNvPr id="90" name="文本框 89"/>
          <p:cNvSpPr txBox="1"/>
          <p:nvPr>
            <p:custDataLst>
              <p:tags r:id="rId28"/>
            </p:custDataLst>
          </p:nvPr>
        </p:nvSpPr>
        <p:spPr>
          <a:xfrm>
            <a:off x="1377950" y="2734310"/>
            <a:ext cx="2489200" cy="327660"/>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lvl="0" algn="l">
              <a:spcBef>
                <a:spcPts val="0"/>
              </a:spcBef>
              <a:spcAft>
                <a:spcPts val="0"/>
              </a:spcAft>
              <a:buClrTx/>
              <a:buSzTx/>
              <a:buFontTx/>
              <a:defRPr>
                <a:latin typeface="微软雅黑"/>
                <a:ea typeface="微软雅黑"/>
                <a:cs typeface="微软雅黑"/>
              </a:defRPr>
            </a:pPr>
            <a:r>
              <a:rPr lang="en-US" altLang="zh-CN" b="1" noProof="0" dirty="0">
                <a:ln>
                  <a:noFill/>
                </a:ln>
                <a:solidFill>
                  <a:srgbClr val="0042FF"/>
                </a:solidFill>
                <a:effectLst/>
                <a:uLnTx/>
                <a:uFillTx/>
                <a:latin typeface="微软雅黑"/>
                <a:ea typeface="微软雅黑"/>
                <a:cs typeface="微软雅黑"/>
                <a:sym typeface="微软雅黑"/>
              </a:rPr>
              <a:t>XR+直播，带来交互式体验</a:t>
            </a:r>
            <a:endParaRPr lang="en-US" altLang="zh-CN" b="1" noProof="0" dirty="0">
              <a:ln>
                <a:noFill/>
              </a:ln>
              <a:solidFill>
                <a:srgbClr val="0042FF"/>
              </a:solidFill>
              <a:effectLst/>
              <a:uLnTx/>
              <a:uFillTx/>
              <a:latin typeface="微软雅黑"/>
              <a:ea typeface="微软雅黑"/>
              <a:cs typeface="微软雅黑"/>
              <a:sym typeface="微软雅黑"/>
            </a:endParaRPr>
          </a:p>
        </p:txBody>
      </p:sp>
      <p:sp>
        <p:nvSpPr>
          <p:cNvPr id="91" name="文本框 90"/>
          <p:cNvSpPr txBox="1"/>
          <p:nvPr>
            <p:custDataLst>
              <p:tags r:id="rId29"/>
            </p:custDataLst>
          </p:nvPr>
        </p:nvSpPr>
        <p:spPr>
          <a:xfrm>
            <a:off x="778510" y="4246880"/>
            <a:ext cx="3775075" cy="737235"/>
          </a:xfrm>
          <a:prstGeom prst="rect">
            <a:avLst/>
          </a:prstGeom>
          <a:noFill/>
        </p:spPr>
        <p:txBody>
          <a:bodyPr wrap="square" rtlCol="0">
            <a:spAutoFit/>
          </a:bodyPr>
          <a:lstStyle/>
          <a:p>
            <a:pPr>
              <a:defRPr>
                <a:latin typeface="微软雅黑"/>
                <a:ea typeface="微软雅黑"/>
                <a:cs typeface="微软雅黑"/>
              </a:defRPr>
            </a:pPr>
            <a:r>
              <a:rPr lang="zh-CN" altLang="en-US" sz="1400">
                <a:solidFill>
                  <a:srgbClr val="383838"/>
                </a:solidFill>
                <a:effectLst/>
                <a:latin typeface="微软雅黑"/>
                <a:ea typeface="微软雅黑"/>
                <a:cs typeface="微软雅黑"/>
              </a:rPr>
              <a:t>随着</a:t>
            </a:r>
            <a:r>
              <a:rPr lang="en-US" altLang="zh-CN" sz="1400">
                <a:solidFill>
                  <a:srgbClr val="383838"/>
                </a:solidFill>
                <a:effectLst/>
                <a:latin typeface="微软雅黑"/>
                <a:ea typeface="微软雅黑"/>
                <a:cs typeface="微软雅黑"/>
              </a:rPr>
              <a:t>AI</a:t>
            </a:r>
            <a:r>
              <a:rPr lang="zh-CN" altLang="en-US" sz="1400">
                <a:solidFill>
                  <a:srgbClr val="383838"/>
                </a:solidFill>
                <a:effectLst/>
                <a:latin typeface="微软雅黑"/>
                <a:ea typeface="微软雅黑"/>
                <a:cs typeface="微软雅黑"/>
              </a:rPr>
              <a:t>技术在企业直播中的应用，一方面，可以护航视频安全，同时，也能进一步提升企业日常业务工作中的效率。</a:t>
            </a:r>
            <a:endParaRPr lang="zh-CN" altLang="en-US" sz="1400">
              <a:solidFill>
                <a:srgbClr val="383838"/>
              </a:solidFill>
              <a:effectLst/>
              <a:latin typeface="微软雅黑"/>
              <a:ea typeface="微软雅黑"/>
              <a:cs typeface="微软雅黑"/>
            </a:endParaRPr>
          </a:p>
        </p:txBody>
      </p:sp>
      <p:sp>
        <p:nvSpPr>
          <p:cNvPr id="92" name="文本框 91"/>
          <p:cNvSpPr txBox="1"/>
          <p:nvPr>
            <p:custDataLst>
              <p:tags r:id="rId30"/>
            </p:custDataLst>
          </p:nvPr>
        </p:nvSpPr>
        <p:spPr>
          <a:xfrm>
            <a:off x="1454150" y="3962400"/>
            <a:ext cx="2489200" cy="327660"/>
          </a:xfrm>
          <a:prstGeom prst="rect">
            <a:avLst/>
          </a:prstGeom>
          <a:noFill/>
          <a:effectLst/>
        </p:spPr>
        <p:txBody>
          <a:bodyPr wrap="square" rtlCol="0" lIns="0" rIns="0" tIns="0" bIns="0">
            <a:spAutoFit/>
          </a:bodyPr>
          <a:lstStyle>
            <a:defPPr>
              <a:defRPr lang="zh-CN">
                <a:latin typeface="微软雅黑"/>
                <a:ea typeface="微软雅黑"/>
                <a:cs typeface="微软雅黑"/>
              </a:defRPr>
            </a:defPPr>
            <a:lvl1pPr algn="ctr">
              <a:lnSpc>
                <a:spcPct val="110000"/>
              </a:lnSpc>
              <a:defRPr sz="1400">
                <a:latin typeface="微软雅黑"/>
                <a:ea typeface="微软雅黑"/>
                <a:cs typeface="微软雅黑"/>
              </a:defRPr>
            </a:lvl1pPr>
          </a:lstStyle>
          <a:p>
            <a:pPr marL="0" marR="0" lvl="0" indent="0" algn="l"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en-US" altLang="zh-CN" b="1" i="0" u="none" strike="noStrike" kern="1200" cap="none" spc="0" normalizeH="0" baseline="0" noProof="0" dirty="0">
                <a:ln>
                  <a:noFill/>
                </a:ln>
                <a:solidFill>
                  <a:srgbClr val="0042FF"/>
                </a:solidFill>
                <a:effectLst/>
                <a:uLnTx/>
                <a:uFillTx/>
                <a:latin typeface="微软雅黑"/>
                <a:ea typeface="微软雅黑"/>
                <a:cs typeface="微软雅黑"/>
              </a:rPr>
              <a:t>AI+</a:t>
            </a: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直播，实现降本增效</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93" name="矩形 92"/>
          <p:cNvSpPr/>
          <p:nvPr>
            <p:custDataLst>
              <p:tags r:id="rId31"/>
            </p:custDataLst>
          </p:nvPr>
        </p:nvSpPr>
        <p:spPr>
          <a:xfrm>
            <a:off x="391795" y="5361940"/>
            <a:ext cx="11527155" cy="1076960"/>
          </a:xfrm>
          <a:prstGeom prst="rect">
            <a:avLst/>
          </a:prstGeom>
          <a:solidFill>
            <a:srgbClr val="E6E6E6">
              <a:alpha val="10000"/>
            </a:srgbClr>
          </a:solidFill>
          <a:ln w="12700" cap="flat">
            <a:solidFill>
              <a:srgbClr val="0042FF"/>
            </a:solidFill>
            <a:prstDash val="solid"/>
            <a:miter lim="800000"/>
          </a:ln>
          <a:effectLst/>
          <a:sp3d/>
        </p:spPr>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alpha val="80000"/>
                </a:srgbClr>
              </a:solidFill>
              <a:effectLst/>
              <a:latin typeface="微软雅黑"/>
              <a:ea typeface="微软雅黑"/>
              <a:cs typeface="微软雅黑"/>
              <a:sym typeface="微软雅黑"/>
            </a:endParaRPr>
          </a:p>
        </p:txBody>
      </p:sp>
      <p:grpSp>
        <p:nvGrpSpPr>
          <p:cNvPr id="94" name="组合 93"/>
          <p:cNvGrpSpPr/>
          <p:nvPr/>
        </p:nvGrpSpPr>
        <p:grpSpPr>
          <a:xfrm>
            <a:off x="347932" y="5297652"/>
            <a:ext cx="1521460" cy="1226820"/>
            <a:chOff x="16220865" y="74366"/>
            <a:chExt cx="1521460" cy="1226820"/>
          </a:xfrm>
          <a:solidFill>
            <a:srgbClr val="0042FF"/>
          </a:solidFill>
        </p:grpSpPr>
        <p:sp>
          <p:nvSpPr>
            <p:cNvPr id="95" name="圆角矩形 94"/>
            <p:cNvSpPr/>
            <p:nvPr>
              <p:custDataLst>
                <p:tags r:id="rId32"/>
              </p:custDataLst>
            </p:nvPr>
          </p:nvSpPr>
          <p:spPr>
            <a:xfrm>
              <a:off x="16220865" y="74366"/>
              <a:ext cx="1521460" cy="1226820"/>
            </a:xfrm>
            <a:prstGeom prst="roundRect">
              <a:avLst>
                <a:gd name="adj" fmla="val 0"/>
              </a:avLst>
            </a:prstGeom>
            <a:grpFill/>
            <a:ln w="12700" cap="flat">
              <a:noFill/>
              <a:prstDash val="solid"/>
              <a:miter lim="800000"/>
            </a:ln>
            <a:effectLst/>
            <a:sp3d/>
          </p:spPr>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effectLst/>
                <a:latin typeface="微软雅黑"/>
                <a:ea typeface="微软雅黑"/>
                <a:cs typeface="微软雅黑"/>
              </a:endParaRPr>
            </a:p>
          </p:txBody>
        </p:sp>
        <p:sp>
          <p:nvSpPr>
            <p:cNvPr id="96" name="Title 2"/>
            <p:cNvSpPr txBox="1"/>
            <p:nvPr>
              <p:custDataLst>
                <p:tags r:id="rId33"/>
              </p:custDataLst>
            </p:nvPr>
          </p:nvSpPr>
          <p:spPr>
            <a:xfrm>
              <a:off x="16452954" y="375196"/>
              <a:ext cx="1107628" cy="615315"/>
            </a:xfrm>
            <a:prstGeom prst="rect">
              <a:avLst/>
            </a:prstGeom>
            <a:grpFill/>
            <a:effectLst/>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2000" dirty="0">
                  <a:solidFill>
                    <a:srgbClr val="FFFFFF"/>
                  </a:solidFill>
                  <a:effectLst/>
                  <a:latin typeface="微软雅黑"/>
                  <a:ea typeface="微软雅黑"/>
                  <a:cs typeface="微软雅黑"/>
                </a:rPr>
                <a:t>直播前沿趋势展望</a:t>
              </a:r>
              <a:endParaRPr lang="zh-CN" altLang="en-US" sz="2000" dirty="0">
                <a:solidFill>
                  <a:srgbClr val="FFFFFF"/>
                </a:solidFill>
                <a:effectLst/>
                <a:latin typeface="微软雅黑"/>
                <a:ea typeface="微软雅黑"/>
                <a:cs typeface="微软雅黑"/>
              </a:endParaRPr>
            </a:p>
          </p:txBody>
        </p:sp>
      </p:grpSp>
      <p:sp>
        <p:nvSpPr>
          <p:cNvPr id="97" name="矩形: 圆角 114"/>
          <p:cNvSpPr/>
          <p:nvPr>
            <p:custDataLst>
              <p:tags r:id="rId34"/>
            </p:custDataLst>
          </p:nvPr>
        </p:nvSpPr>
        <p:spPr>
          <a:xfrm>
            <a:off x="1991360" y="5842635"/>
            <a:ext cx="1449070" cy="473710"/>
          </a:xfrm>
          <a:prstGeom prst="roundRect">
            <a:avLst>
              <a:gd name="adj" fmla="val 0"/>
            </a:avLst>
          </a:prstGeom>
          <a:solidFill>
            <a:srgbClr val="E6E6E6">
              <a:alpha val="20000"/>
            </a:srgbClr>
          </a:solidFill>
          <a:ln w="6350" cap="flat">
            <a:solidFill>
              <a:srgbClr val="0042FF"/>
            </a:solidFill>
            <a:prstDash val="dash"/>
            <a:miter lim="800000"/>
          </a:ln>
          <a:effectLst/>
          <a:sp3d/>
        </p:spPr>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dirty="0">
              <a:solidFill>
                <a:srgbClr val="383838"/>
              </a:solidFill>
              <a:effectLst/>
              <a:latin typeface="微软雅黑"/>
              <a:ea typeface="微软雅黑"/>
              <a:cs typeface="微软雅黑"/>
            </a:endParaRPr>
          </a:p>
        </p:txBody>
      </p:sp>
      <p:sp>
        <p:nvSpPr>
          <p:cNvPr id="98" name="矩形: 圆角 114"/>
          <p:cNvSpPr/>
          <p:nvPr>
            <p:custDataLst>
              <p:tags r:id="rId35"/>
            </p:custDataLst>
          </p:nvPr>
        </p:nvSpPr>
        <p:spPr>
          <a:xfrm>
            <a:off x="3672205" y="5842635"/>
            <a:ext cx="1449070" cy="473710"/>
          </a:xfrm>
          <a:prstGeom prst="roundRect">
            <a:avLst>
              <a:gd name="adj" fmla="val 0"/>
            </a:avLst>
          </a:prstGeom>
          <a:solidFill>
            <a:srgbClr val="E6E6E6">
              <a:alpha val="20000"/>
            </a:srgbClr>
          </a:solidFill>
          <a:ln w="6350" cap="flat">
            <a:solidFill>
              <a:srgbClr val="0042FF"/>
            </a:solidFill>
            <a:prstDash val="dash"/>
            <a:miter lim="800000"/>
          </a:ln>
          <a:effectLst/>
          <a:sp3d/>
        </p:spPr>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dirty="0">
              <a:solidFill>
                <a:srgbClr val="383838"/>
              </a:solidFill>
              <a:effectLst/>
              <a:latin typeface="微软雅黑"/>
              <a:ea typeface="微软雅黑"/>
              <a:cs typeface="微软雅黑"/>
              <a:sym typeface="微软雅黑"/>
            </a:endParaRPr>
          </a:p>
        </p:txBody>
      </p:sp>
      <p:sp>
        <p:nvSpPr>
          <p:cNvPr id="99" name="矩形: 圆角 114"/>
          <p:cNvSpPr/>
          <p:nvPr>
            <p:custDataLst>
              <p:tags r:id="rId36"/>
            </p:custDataLst>
          </p:nvPr>
        </p:nvSpPr>
        <p:spPr>
          <a:xfrm>
            <a:off x="5353050" y="5842635"/>
            <a:ext cx="1449070" cy="473710"/>
          </a:xfrm>
          <a:prstGeom prst="roundRect">
            <a:avLst>
              <a:gd name="adj" fmla="val 0"/>
            </a:avLst>
          </a:prstGeom>
          <a:solidFill>
            <a:srgbClr val="E6E6E6">
              <a:alpha val="20000"/>
            </a:srgbClr>
          </a:solidFill>
          <a:ln w="6350" cap="flat">
            <a:solidFill>
              <a:srgbClr val="0042FF"/>
            </a:solidFill>
            <a:prstDash val="dash"/>
            <a:miter lim="800000"/>
          </a:ln>
          <a:effectLst/>
          <a:sp3d/>
        </p:spPr>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dirty="0">
              <a:solidFill>
                <a:srgbClr val="383838"/>
              </a:solidFill>
              <a:effectLst/>
              <a:latin typeface="微软雅黑"/>
              <a:ea typeface="微软雅黑"/>
              <a:cs typeface="微软雅黑"/>
              <a:sym typeface="微软雅黑"/>
            </a:endParaRPr>
          </a:p>
        </p:txBody>
      </p:sp>
      <p:sp>
        <p:nvSpPr>
          <p:cNvPr id="100" name="矩形: 圆角 114"/>
          <p:cNvSpPr/>
          <p:nvPr>
            <p:custDataLst>
              <p:tags r:id="rId37"/>
            </p:custDataLst>
          </p:nvPr>
        </p:nvSpPr>
        <p:spPr>
          <a:xfrm>
            <a:off x="7033895" y="5842635"/>
            <a:ext cx="1449070" cy="473710"/>
          </a:xfrm>
          <a:prstGeom prst="roundRect">
            <a:avLst>
              <a:gd name="adj" fmla="val 0"/>
            </a:avLst>
          </a:prstGeom>
          <a:solidFill>
            <a:srgbClr val="E6E6E6">
              <a:alpha val="20000"/>
            </a:srgbClr>
          </a:solidFill>
          <a:ln w="6350" cap="flat">
            <a:solidFill>
              <a:srgbClr val="0042FF"/>
            </a:solidFill>
            <a:prstDash val="dash"/>
            <a:miter lim="800000"/>
          </a:ln>
          <a:effectLst/>
          <a:sp3d/>
        </p:spPr>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dirty="0">
              <a:solidFill>
                <a:srgbClr val="383838"/>
              </a:solidFill>
              <a:effectLst/>
              <a:latin typeface="微软雅黑"/>
              <a:ea typeface="微软雅黑"/>
              <a:cs typeface="微软雅黑"/>
              <a:sym typeface="微软雅黑"/>
            </a:endParaRPr>
          </a:p>
        </p:txBody>
      </p:sp>
      <p:sp>
        <p:nvSpPr>
          <p:cNvPr id="101" name="矩形: 圆角 114"/>
          <p:cNvSpPr/>
          <p:nvPr>
            <p:custDataLst>
              <p:tags r:id="rId38"/>
            </p:custDataLst>
          </p:nvPr>
        </p:nvSpPr>
        <p:spPr>
          <a:xfrm>
            <a:off x="8714740" y="5842635"/>
            <a:ext cx="1449070" cy="473710"/>
          </a:xfrm>
          <a:prstGeom prst="roundRect">
            <a:avLst>
              <a:gd name="adj" fmla="val 0"/>
            </a:avLst>
          </a:prstGeom>
          <a:solidFill>
            <a:srgbClr val="E6E6E6">
              <a:alpha val="20000"/>
            </a:srgbClr>
          </a:solidFill>
          <a:ln w="6350" cap="flat">
            <a:solidFill>
              <a:srgbClr val="0042FF"/>
            </a:solidFill>
            <a:prstDash val="dash"/>
            <a:miter lim="800000"/>
          </a:ln>
          <a:effectLst/>
          <a:sp3d/>
        </p:spPr>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dirty="0">
              <a:solidFill>
                <a:srgbClr val="383838"/>
              </a:solidFill>
              <a:effectLst/>
              <a:latin typeface="微软雅黑"/>
              <a:ea typeface="微软雅黑"/>
              <a:cs typeface="微软雅黑"/>
              <a:sym typeface="微软雅黑"/>
            </a:endParaRPr>
          </a:p>
        </p:txBody>
      </p:sp>
      <p:sp>
        <p:nvSpPr>
          <p:cNvPr id="102" name="矩形: 圆角 114"/>
          <p:cNvSpPr/>
          <p:nvPr>
            <p:custDataLst>
              <p:tags r:id="rId39"/>
            </p:custDataLst>
          </p:nvPr>
        </p:nvSpPr>
        <p:spPr>
          <a:xfrm>
            <a:off x="10395585" y="5842635"/>
            <a:ext cx="1449070" cy="473710"/>
          </a:xfrm>
          <a:prstGeom prst="roundRect">
            <a:avLst>
              <a:gd name="adj" fmla="val 0"/>
            </a:avLst>
          </a:prstGeom>
          <a:solidFill>
            <a:srgbClr val="3368FF"/>
          </a:solidFill>
          <a:ln w="6350" cap="flat">
            <a:solidFill>
              <a:srgbClr val="3368FF">
                <a:alpha val="38000"/>
              </a:srgbClr>
            </a:solidFill>
            <a:prstDash val="dash"/>
            <a:miter lim="800000"/>
          </a:ln>
          <a:effectLst/>
          <a:sp3d/>
        </p:spPr>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effectLst/>
              <a:latin typeface="微软雅黑"/>
              <a:ea typeface="微软雅黑"/>
              <a:cs typeface="微软雅黑"/>
            </a:endParaRPr>
          </a:p>
        </p:txBody>
      </p:sp>
      <p:sp>
        <p:nvSpPr>
          <p:cNvPr id="103" name="Object60"/>
          <p:cNvSpPr/>
          <p:nvPr>
            <p:custDataLst>
              <p:tags r:id="rId40"/>
            </p:custDataLst>
          </p:nvPr>
        </p:nvSpPr>
        <p:spPr>
          <a:xfrm>
            <a:off x="2158365" y="5883275"/>
            <a:ext cx="1163955" cy="368935"/>
          </a:xfrm>
          <a:prstGeom prst="rect">
            <a:avLst/>
          </a:prstGeom>
          <a:noFill/>
          <a:effectLst/>
        </p:spPr>
        <p:txBody>
          <a:bodyPr wrap="square" lIns="0" tIns="0" rIns="0" bIns="0" rtlCol="0" anchor="t">
            <a:spAutoFit/>
          </a:bodyPr>
          <a:lstStyle/>
          <a:p>
            <a:pPr algn="ctr" defTabSz="731520">
              <a:defRPr>
                <a:latin typeface="微软雅黑"/>
                <a:ea typeface="微软雅黑"/>
                <a:cs typeface="微软雅黑"/>
              </a:defRPr>
            </a:pPr>
            <a:r>
              <a:rPr lang="zh-CN" altLang="en-US" sz="1200" b="1" dirty="0" err="1">
                <a:solidFill>
                  <a:srgbClr val="0042FF"/>
                </a:solidFill>
                <a:effectLst/>
                <a:latin typeface="微软雅黑"/>
                <a:ea typeface="微软雅黑"/>
                <a:cs typeface="微软雅黑"/>
              </a:rPr>
              <a:t>打造虚拟与现实的融合场景</a:t>
            </a:r>
            <a:endParaRPr lang="zh-CN" altLang="en-US" sz="1200" b="1" dirty="0" err="1">
              <a:solidFill>
                <a:srgbClr val="0042FF"/>
              </a:solidFill>
              <a:effectLst/>
              <a:latin typeface="微软雅黑"/>
              <a:ea typeface="微软雅黑"/>
              <a:cs typeface="微软雅黑"/>
            </a:endParaRPr>
          </a:p>
        </p:txBody>
      </p:sp>
      <p:sp>
        <p:nvSpPr>
          <p:cNvPr id="104" name="Object60"/>
          <p:cNvSpPr/>
          <p:nvPr>
            <p:custDataLst>
              <p:tags r:id="rId41"/>
            </p:custDataLst>
          </p:nvPr>
        </p:nvSpPr>
        <p:spPr>
          <a:xfrm>
            <a:off x="3775710" y="5883275"/>
            <a:ext cx="1163955" cy="368935"/>
          </a:xfrm>
          <a:prstGeom prst="rect">
            <a:avLst/>
          </a:prstGeom>
          <a:noFill/>
          <a:effectLst/>
        </p:spPr>
        <p:txBody>
          <a:bodyPr wrap="square" lIns="0" tIns="0" rIns="0" bIns="0" rtlCol="0" anchor="t">
            <a:spAutoFit/>
          </a:bodyPr>
          <a:lstStyle/>
          <a:p>
            <a:pPr algn="ctr" defTabSz="731520">
              <a:defRPr>
                <a:latin typeface="微软雅黑"/>
                <a:ea typeface="微软雅黑"/>
                <a:cs typeface="微软雅黑"/>
              </a:defRPr>
            </a:pPr>
            <a:r>
              <a:rPr lang="zh-CN" altLang="en-US" sz="1200" b="1" dirty="0" err="1">
                <a:solidFill>
                  <a:srgbClr val="0042FF"/>
                </a:solidFill>
                <a:effectLst/>
                <a:latin typeface="微软雅黑"/>
                <a:ea typeface="微软雅黑"/>
                <a:cs typeface="微软雅黑"/>
              </a:rPr>
              <a:t>极大增强用户信任与兴趣</a:t>
            </a:r>
            <a:endParaRPr lang="zh-CN" altLang="en-US" sz="1200" b="1" dirty="0" err="1">
              <a:solidFill>
                <a:srgbClr val="0042FF"/>
              </a:solidFill>
              <a:effectLst/>
              <a:latin typeface="微软雅黑"/>
              <a:ea typeface="微软雅黑"/>
              <a:cs typeface="微软雅黑"/>
            </a:endParaRPr>
          </a:p>
        </p:txBody>
      </p:sp>
      <p:sp>
        <p:nvSpPr>
          <p:cNvPr id="105" name="Object60"/>
          <p:cNvSpPr/>
          <p:nvPr>
            <p:custDataLst>
              <p:tags r:id="rId42"/>
            </p:custDataLst>
          </p:nvPr>
        </p:nvSpPr>
        <p:spPr>
          <a:xfrm>
            <a:off x="5499735" y="5883275"/>
            <a:ext cx="1163955" cy="368935"/>
          </a:xfrm>
          <a:prstGeom prst="rect">
            <a:avLst/>
          </a:prstGeom>
          <a:noFill/>
          <a:effectLst/>
        </p:spPr>
        <p:txBody>
          <a:bodyPr wrap="square" lIns="0" tIns="0" rIns="0" bIns="0" rtlCol="0" anchor="t">
            <a:spAutoFit/>
          </a:bodyPr>
          <a:lstStyle/>
          <a:p>
            <a:pPr algn="ctr" defTabSz="731520">
              <a:defRPr>
                <a:latin typeface="微软雅黑"/>
                <a:ea typeface="微软雅黑"/>
                <a:cs typeface="微软雅黑"/>
              </a:defRPr>
            </a:pPr>
            <a:r>
              <a:rPr lang="zh-CN" altLang="en-US" sz="1200" b="1" dirty="0" err="1">
                <a:solidFill>
                  <a:srgbClr val="0042FF"/>
                </a:solidFill>
                <a:effectLst/>
                <a:latin typeface="微软雅黑"/>
                <a:ea typeface="微软雅黑"/>
                <a:cs typeface="微软雅黑"/>
              </a:rPr>
              <a:t>进一步优化企业运营体验</a:t>
            </a:r>
            <a:endParaRPr lang="zh-CN" altLang="en-US" sz="1200" b="1" dirty="0" err="1">
              <a:solidFill>
                <a:srgbClr val="0042FF"/>
              </a:solidFill>
              <a:effectLst/>
              <a:latin typeface="微软雅黑"/>
              <a:ea typeface="微软雅黑"/>
              <a:cs typeface="微软雅黑"/>
            </a:endParaRPr>
          </a:p>
        </p:txBody>
      </p:sp>
      <p:sp>
        <p:nvSpPr>
          <p:cNvPr id="106" name="Object60"/>
          <p:cNvSpPr/>
          <p:nvPr>
            <p:custDataLst>
              <p:tags r:id="rId43"/>
            </p:custDataLst>
          </p:nvPr>
        </p:nvSpPr>
        <p:spPr>
          <a:xfrm>
            <a:off x="7209790" y="5883275"/>
            <a:ext cx="1163955" cy="368935"/>
          </a:xfrm>
          <a:prstGeom prst="rect">
            <a:avLst/>
          </a:prstGeom>
          <a:noFill/>
          <a:effectLst/>
        </p:spPr>
        <p:txBody>
          <a:bodyPr wrap="square" lIns="0" tIns="0" rIns="0" bIns="0" rtlCol="0" anchor="t">
            <a:spAutoFit/>
          </a:bodyPr>
          <a:lstStyle/>
          <a:p>
            <a:pPr algn="ctr" defTabSz="731520">
              <a:defRPr>
                <a:latin typeface="微软雅黑"/>
                <a:ea typeface="微软雅黑"/>
                <a:cs typeface="微软雅黑"/>
              </a:defRPr>
            </a:pPr>
            <a:r>
              <a:rPr lang="zh-CN" altLang="en-US" sz="1200" b="1" dirty="0" err="1">
                <a:solidFill>
                  <a:srgbClr val="0042FF"/>
                </a:solidFill>
                <a:effectLst/>
                <a:latin typeface="微软雅黑"/>
                <a:ea typeface="微软雅黑"/>
                <a:cs typeface="微软雅黑"/>
              </a:rPr>
              <a:t>沉浸式的细腻动态体验</a:t>
            </a:r>
            <a:endParaRPr lang="zh-CN" altLang="en-US" sz="1200" b="1" dirty="0" err="1">
              <a:solidFill>
                <a:srgbClr val="0042FF"/>
              </a:solidFill>
              <a:effectLst/>
              <a:latin typeface="微软雅黑"/>
              <a:ea typeface="微软雅黑"/>
              <a:cs typeface="微软雅黑"/>
            </a:endParaRPr>
          </a:p>
        </p:txBody>
      </p:sp>
      <p:sp>
        <p:nvSpPr>
          <p:cNvPr id="107" name="Object60"/>
          <p:cNvSpPr/>
          <p:nvPr>
            <p:custDataLst>
              <p:tags r:id="rId44"/>
            </p:custDataLst>
          </p:nvPr>
        </p:nvSpPr>
        <p:spPr>
          <a:xfrm>
            <a:off x="8873490" y="5883275"/>
            <a:ext cx="1163955" cy="368935"/>
          </a:xfrm>
          <a:prstGeom prst="rect">
            <a:avLst/>
          </a:prstGeom>
          <a:noFill/>
          <a:effectLst/>
        </p:spPr>
        <p:txBody>
          <a:bodyPr wrap="square" lIns="0" tIns="0" rIns="0" bIns="0" rtlCol="0" anchor="t">
            <a:spAutoFit/>
          </a:bodyPr>
          <a:lstStyle/>
          <a:p>
            <a:pPr algn="ctr" defTabSz="731520">
              <a:defRPr>
                <a:latin typeface="微软雅黑"/>
                <a:ea typeface="微软雅黑"/>
                <a:cs typeface="微软雅黑"/>
              </a:defRPr>
            </a:pPr>
            <a:r>
              <a:rPr lang="zh-CN" altLang="en-US" sz="1200" b="1" dirty="0" err="1">
                <a:solidFill>
                  <a:srgbClr val="0042FF"/>
                </a:solidFill>
                <a:effectLst/>
                <a:latin typeface="微软雅黑"/>
                <a:ea typeface="微软雅黑"/>
                <a:cs typeface="微软雅黑"/>
              </a:rPr>
              <a:t>多行业多场景应用实现</a:t>
            </a:r>
            <a:endParaRPr lang="zh-CN" altLang="en-US" sz="1200" b="1" dirty="0" err="1">
              <a:solidFill>
                <a:srgbClr val="0042FF"/>
              </a:solidFill>
              <a:effectLst/>
              <a:latin typeface="微软雅黑"/>
              <a:ea typeface="微软雅黑"/>
              <a:cs typeface="微软雅黑"/>
            </a:endParaRPr>
          </a:p>
        </p:txBody>
      </p:sp>
      <p:sp>
        <p:nvSpPr>
          <p:cNvPr id="108" name="Object60"/>
          <p:cNvSpPr/>
          <p:nvPr>
            <p:custDataLst>
              <p:tags r:id="rId45"/>
            </p:custDataLst>
          </p:nvPr>
        </p:nvSpPr>
        <p:spPr>
          <a:xfrm>
            <a:off x="10513695" y="5883275"/>
            <a:ext cx="1163955" cy="368935"/>
          </a:xfrm>
          <a:prstGeom prst="rect">
            <a:avLst/>
          </a:prstGeom>
          <a:noFill/>
          <a:effectLst/>
        </p:spPr>
        <p:txBody>
          <a:bodyPr wrap="square" lIns="0" tIns="0" rIns="0" bIns="0" rtlCol="0" anchor="t">
            <a:spAutoFit/>
          </a:bodyPr>
          <a:lstStyle/>
          <a:p>
            <a:pPr algn="ctr" defTabSz="731520">
              <a:defRPr>
                <a:solidFill>
                  <a:srgbClr val="FFFFFF"/>
                </a:solidFill>
                <a:latin typeface="微软雅黑"/>
                <a:ea typeface="微软雅黑"/>
                <a:cs typeface="微软雅黑"/>
              </a:defRPr>
            </a:pPr>
            <a:r>
              <a:rPr lang="zh-CN" altLang="en-US" sz="1200" b="1" dirty="0" err="1">
                <a:solidFill>
                  <a:srgbClr val="FFFFFF"/>
                </a:solidFill>
                <a:effectLst/>
                <a:latin typeface="微软雅黑"/>
                <a:ea typeface="微软雅黑"/>
                <a:cs typeface="微软雅黑"/>
              </a:rPr>
              <a:t>为企业带来</a:t>
            </a:r>
            <a:endParaRPr lang="zh-CN" altLang="en-US" sz="1200" b="1" dirty="0" err="1">
              <a:solidFill>
                <a:srgbClr val="FFFFFF"/>
              </a:solidFill>
              <a:effectLst/>
              <a:latin typeface="微软雅黑"/>
              <a:ea typeface="微软雅黑"/>
              <a:cs typeface="微软雅黑"/>
            </a:endParaRPr>
          </a:p>
          <a:p>
            <a:pPr algn="ctr" defTabSz="731520">
              <a:defRPr>
                <a:solidFill>
                  <a:srgbClr val="FFFFFF"/>
                </a:solidFill>
                <a:latin typeface="微软雅黑"/>
                <a:ea typeface="微软雅黑"/>
                <a:cs typeface="微软雅黑"/>
              </a:defRPr>
            </a:pPr>
            <a:r>
              <a:rPr lang="zh-CN" altLang="en-US" sz="1200" b="1" dirty="0" err="1">
                <a:solidFill>
                  <a:srgbClr val="FFFFFF"/>
                </a:solidFill>
                <a:effectLst/>
                <a:latin typeface="微软雅黑"/>
                <a:ea typeface="微软雅黑"/>
                <a:cs typeface="微软雅黑"/>
              </a:rPr>
              <a:t>全新的商业机会</a:t>
            </a:r>
            <a:endParaRPr lang="zh-CN" altLang="en-US" sz="1200" b="1" dirty="0" err="1">
              <a:solidFill>
                <a:srgbClr val="FFFFFF"/>
              </a:solidFill>
              <a:effectLst/>
              <a:latin typeface="微软雅黑"/>
              <a:ea typeface="微软雅黑"/>
              <a:cs typeface="微软雅黑"/>
            </a:endParaRPr>
          </a:p>
        </p:txBody>
      </p:sp>
      <p:sp>
        <p:nvSpPr>
          <p:cNvPr id="109" name="文本框 108"/>
          <p:cNvSpPr txBox="1"/>
          <p:nvPr>
            <p:custDataLst>
              <p:tags r:id="rId46"/>
            </p:custDataLst>
          </p:nvPr>
        </p:nvSpPr>
        <p:spPr>
          <a:xfrm>
            <a:off x="1991360" y="5446395"/>
            <a:ext cx="9598025" cy="370840"/>
          </a:xfrm>
          <a:prstGeom prst="rect">
            <a:avLst/>
          </a:prstGeom>
          <a:noFill/>
        </p:spPr>
        <p:txBody>
          <a:bodyPr wrap="square" rtlCol="0">
            <a:noAutofit/>
          </a:bodyPr>
          <a:lstStyle/>
          <a:p>
            <a:pPr>
              <a:defRPr>
                <a:latin typeface="微软雅黑"/>
                <a:ea typeface="微软雅黑"/>
                <a:cs typeface="微软雅黑"/>
              </a:defRPr>
            </a:pPr>
            <a:r>
              <a:rPr lang="zh-CN" altLang="en-US" sz="1400">
                <a:solidFill>
                  <a:srgbClr val="383838"/>
                </a:solidFill>
                <a:effectLst/>
                <a:latin typeface="微软雅黑"/>
                <a:ea typeface="微软雅黑"/>
                <a:cs typeface="微软雅黑"/>
              </a:rPr>
              <a:t>随着MR、XR、AI技术等前沿技术在直播中加速落地应用，为企业业务增长带来全新商业机会，为行业创造想象空间。</a:t>
            </a:r>
            <a:endParaRPr lang="zh-CN" altLang="en-US" sz="1400">
              <a:solidFill>
                <a:srgbClr val="383838"/>
              </a:solidFill>
              <a:effectLst/>
              <a:latin typeface="微软雅黑"/>
              <a:ea typeface="微软雅黑"/>
              <a:cs typeface="微软雅黑"/>
            </a:endParaRPr>
          </a:p>
        </p:txBody>
      </p:sp>
      <p:sp>
        <p:nvSpPr>
          <p:cNvPr id="111" name="椭圆 110"/>
          <p:cNvSpPr/>
          <p:nvPr/>
        </p:nvSpPr>
        <p:spPr>
          <a:xfrm>
            <a:off x="1869440" y="1031875"/>
            <a:ext cx="289560" cy="289560"/>
          </a:xfrm>
          <a:prstGeom prst="ellipse">
            <a:avLst/>
          </a:prstGeom>
          <a:solidFill>
            <a:srgbClr val="FFFFFF"/>
          </a:solidFill>
          <a:ln w="22225">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dirty="0">
                <a:solidFill>
                  <a:srgbClr val="0042FF"/>
                </a:solidFill>
                <a:effectLst/>
                <a:latin typeface="微软雅黑"/>
                <a:ea typeface="微软雅黑"/>
                <a:cs typeface="微软雅黑"/>
              </a:rPr>
              <a:t>1</a:t>
            </a:r>
            <a:endParaRPr kumimoji="1" lang="en-US" altLang="zh-CN" sz="1400" dirty="0">
              <a:solidFill>
                <a:srgbClr val="0042FF"/>
              </a:solidFill>
              <a:effectLst/>
              <a:latin typeface="微软雅黑"/>
              <a:ea typeface="微软雅黑"/>
              <a:cs typeface="微软雅黑"/>
            </a:endParaRPr>
          </a:p>
        </p:txBody>
      </p:sp>
      <p:sp>
        <p:nvSpPr>
          <p:cNvPr id="112" name="椭圆 111"/>
          <p:cNvSpPr/>
          <p:nvPr/>
        </p:nvSpPr>
        <p:spPr>
          <a:xfrm>
            <a:off x="7059930" y="1026160"/>
            <a:ext cx="289560" cy="289560"/>
          </a:xfrm>
          <a:prstGeom prst="ellipse">
            <a:avLst/>
          </a:prstGeom>
          <a:solidFill>
            <a:srgbClr val="FFFFFF"/>
          </a:solidFill>
          <a:ln w="22225">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dirty="0">
                <a:solidFill>
                  <a:srgbClr val="0042FF"/>
                </a:solidFill>
                <a:effectLst/>
                <a:latin typeface="微软雅黑"/>
                <a:ea typeface="微软雅黑"/>
                <a:cs typeface="微软雅黑"/>
              </a:rPr>
              <a:t>2</a:t>
            </a:r>
            <a:endParaRPr kumimoji="1" lang="en-US" altLang="zh-CN" sz="1400" dirty="0">
              <a:solidFill>
                <a:srgbClr val="0042FF"/>
              </a:solidFill>
              <a:effectLst/>
              <a:latin typeface="微软雅黑"/>
              <a:ea typeface="微软雅黑"/>
              <a:cs typeface="微软雅黑"/>
            </a:endParaRPr>
          </a:p>
        </p:txBody>
      </p:sp>
      <p:pic>
        <p:nvPicPr>
          <p:cNvPr id="113" name="图片 112" descr="数据赋能-copy"/>
          <p:cNvPicPr>
            <a:picLocks noChangeAspect="1"/>
          </p:cNvPicPr>
          <p:nvPr/>
        </p:nvPicPr>
        <p:blipFill>
          <a:blip r:embed="rId47">
            <a:extLst>
              <a:ext uri="{96DAC541-7B7A-43D3-8B79-37D633B846F1}">
                <asvg:svgBlip xmlns:asvg="http://schemas.microsoft.com/office/drawing/2016/SVG/main" r:embed="rId48"/>
              </a:ext>
            </a:extLst>
          </a:blip>
          <a:stretch>
            <a:fillRect/>
          </a:stretch>
        </p:blipFill>
        <p:spPr>
          <a:xfrm>
            <a:off x="10067290" y="1969135"/>
            <a:ext cx="446405" cy="446405"/>
          </a:xfrm>
          <a:prstGeom prst="rect">
            <a:avLst/>
          </a:prstGeom>
        </p:spPr>
      </p:pic>
      <p:pic>
        <p:nvPicPr>
          <p:cNvPr id="114" name="图片 113" descr="人_2_5-客户体验-意向客户-员工关怀"/>
          <p:cNvPicPr>
            <a:picLocks noChangeAspect="1"/>
          </p:cNvPicPr>
          <p:nvPr/>
        </p:nvPicPr>
        <p:blipFill>
          <a:blip r:embed="rId49">
            <a:extLst>
              <a:ext uri="{96DAC541-7B7A-43D3-8B79-37D633B846F1}">
                <asvg:svgBlip xmlns:asvg="http://schemas.microsoft.com/office/drawing/2016/SVG/main" r:embed="rId50"/>
              </a:ext>
            </a:extLst>
          </a:blip>
          <a:stretch>
            <a:fillRect/>
          </a:stretch>
        </p:blipFill>
        <p:spPr>
          <a:xfrm>
            <a:off x="6035040" y="1982470"/>
            <a:ext cx="433070" cy="433070"/>
          </a:xfrm>
          <a:prstGeom prst="rect">
            <a:avLst/>
          </a:prstGeom>
        </p:spPr>
      </p:pic>
      <p:pic>
        <p:nvPicPr>
          <p:cNvPr id="4" name="图片 3" descr="noun-rate-button-901822"/>
          <p:cNvPicPr>
            <a:picLocks noChangeAspect="1"/>
          </p:cNvPicPr>
          <p:nvPr/>
        </p:nvPicPr>
        <p:blipFill>
          <a:blip r:embed="rId51">
            <a:extLst>
              <a:ext uri="{96DAC541-7B7A-43D3-8B79-37D633B846F1}">
                <asvg:svgBlip xmlns:asvg="http://schemas.microsoft.com/office/drawing/2016/SVG/main" r:embed="rId52"/>
              </a:ext>
            </a:extLst>
          </a:blip>
          <a:stretch>
            <a:fillRect/>
          </a:stretch>
        </p:blipFill>
        <p:spPr>
          <a:xfrm>
            <a:off x="7829550" y="3738245"/>
            <a:ext cx="345440" cy="345440"/>
          </a:xfrm>
          <a:prstGeom prst="rect">
            <a:avLst/>
          </a:prstGeom>
        </p:spPr>
      </p:pic>
      <p:pic>
        <p:nvPicPr>
          <p:cNvPr id="12" name="图片 11" descr="屋顶资源管理"/>
          <p:cNvPicPr>
            <a:picLocks noChangeAspect="1"/>
          </p:cNvPicPr>
          <p:nvPr/>
        </p:nvPicPr>
        <p:blipFill>
          <a:blip r:embed="rId53">
            <a:extLst>
              <a:ext uri="{96DAC541-7B7A-43D3-8B79-37D633B846F1}">
                <asvg:svgBlip xmlns:asvg="http://schemas.microsoft.com/office/drawing/2016/SVG/main" r:embed="rId54"/>
              </a:ext>
            </a:extLst>
          </a:blip>
          <a:stretch>
            <a:fillRect/>
          </a:stretch>
        </p:blipFill>
        <p:spPr>
          <a:xfrm>
            <a:off x="355600" y="186055"/>
            <a:ext cx="549910" cy="549910"/>
          </a:xfrm>
          <a:prstGeom prst="rect">
            <a:avLst/>
          </a:prstGeom>
        </p:spPr>
      </p:pic>
      <p:grpSp>
        <p:nvGrpSpPr>
          <p:cNvPr id="7" name="组合 6"/>
          <p:cNvGrpSpPr/>
          <p:nvPr/>
        </p:nvGrpSpPr>
        <p:grpSpPr>
          <a:xfrm>
            <a:off x="8738235" y="348615"/>
            <a:ext cx="3219450" cy="332740"/>
            <a:chOff x="13761" y="549"/>
            <a:chExt cx="5070" cy="524"/>
          </a:xfrm>
        </p:grpSpPr>
        <p:pic>
          <p:nvPicPr>
            <p:cNvPr id="8" name="图片 7"/>
            <p:cNvPicPr>
              <a:picLocks noChangeAspect="1"/>
            </p:cNvPicPr>
            <p:nvPr userDrawn="1"/>
          </p:nvPicPr>
          <p:blipFill>
            <a:blip r:embed="rId55"/>
            <a:srcRect l="17002" t="-1765" r="56499" b="-1176"/>
            <a:stretch>
              <a:fillRect/>
            </a:stretch>
          </p:blipFill>
          <p:spPr>
            <a:xfrm>
              <a:off x="13761" y="549"/>
              <a:ext cx="1582" cy="525"/>
            </a:xfrm>
            <a:prstGeom prst="rect">
              <a:avLst/>
            </a:prstGeom>
          </p:spPr>
        </p:pic>
        <p:sp>
          <p:nvSpPr>
            <p:cNvPr id="10" name="文本框 9"/>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传统行业数字化转型架构</a:t>
            </a:r>
            <a:endParaRPr lang="zh-CN" altLang="en-US" sz="2500">
              <a:solidFill>
                <a:srgbClr val="383838"/>
              </a:solidFill>
              <a:effectLst/>
              <a:latin typeface="微软雅黑"/>
              <a:ea typeface="微软雅黑"/>
              <a:cs typeface="微软雅黑"/>
            </a:endParaRPr>
          </a:p>
        </p:txBody>
      </p:sp>
      <p:sp>
        <p:nvSpPr>
          <p:cNvPr id="6" name="流程图: 数据 5"/>
          <p:cNvSpPr/>
          <p:nvPr/>
        </p:nvSpPr>
        <p:spPr>
          <a:xfrm>
            <a:off x="2843530" y="3846830"/>
            <a:ext cx="4916170" cy="855345"/>
          </a:xfrm>
          <a:prstGeom prst="flowChartInputOutput">
            <a:avLst/>
          </a:prstGeom>
          <a:solidFill>
            <a:srgbClr val="3368FF">
              <a:alpha val="20000"/>
            </a:srgbClr>
          </a:solidFill>
          <a:ln>
            <a:solidFill>
              <a:srgbClr val="3368FF"/>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 name="流程图: 数据 7"/>
          <p:cNvSpPr/>
          <p:nvPr/>
        </p:nvSpPr>
        <p:spPr>
          <a:xfrm>
            <a:off x="5158740" y="2633345"/>
            <a:ext cx="3945255" cy="855345"/>
          </a:xfrm>
          <a:prstGeom prst="flowChartInputOutput">
            <a:avLst/>
          </a:prstGeom>
          <a:solidFill>
            <a:srgbClr val="3368FF">
              <a:alpha val="30000"/>
            </a:srgbClr>
          </a:solidFill>
          <a:ln>
            <a:solidFill>
              <a:srgbClr val="3368FF">
                <a:alpha val="50000"/>
              </a:srgbClr>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 name="任意多边形 8"/>
          <p:cNvSpPr/>
          <p:nvPr/>
        </p:nvSpPr>
        <p:spPr>
          <a:xfrm>
            <a:off x="3183255" y="5276850"/>
            <a:ext cx="3009900" cy="855345"/>
          </a:xfrm>
          <a:custGeom>
            <a:avLst/>
            <a:gdLst>
              <a:gd name="connsiteX0" fmla="*/ 0 w 4740"/>
              <a:gd name="connsiteY0" fmla="*/ 1347 h 1347"/>
              <a:gd name="connsiteX1" fmla="*/ 1405 w 4740"/>
              <a:gd name="connsiteY1" fmla="*/ 0 h 1347"/>
              <a:gd name="connsiteX2" fmla="*/ 4740 w 4740"/>
              <a:gd name="connsiteY2" fmla="*/ 23 h 1347"/>
              <a:gd name="connsiteX3" fmla="*/ 3488 w 4740"/>
              <a:gd name="connsiteY3" fmla="*/ 1347 h 1347"/>
              <a:gd name="connsiteX4" fmla="*/ 0 w 4740"/>
              <a:gd name="connsiteY4" fmla="*/ 1347 h 1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0" h="1347">
                <a:moveTo>
                  <a:pt x="0" y="1347"/>
                </a:moveTo>
                <a:lnTo>
                  <a:pt x="1405" y="0"/>
                </a:lnTo>
                <a:lnTo>
                  <a:pt x="4740" y="23"/>
                </a:lnTo>
                <a:lnTo>
                  <a:pt x="3488" y="1347"/>
                </a:lnTo>
                <a:lnTo>
                  <a:pt x="0" y="1347"/>
                </a:lnTo>
                <a:close/>
              </a:path>
            </a:pathLst>
          </a:custGeom>
          <a:solidFill>
            <a:srgbClr val="3368FF">
              <a:alpha val="30000"/>
            </a:srgbClr>
          </a:solidFill>
          <a:ln>
            <a:solidFill>
              <a:srgbClr val="3368FF">
                <a:alpha val="50000"/>
              </a:srgbClr>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1" name="流程图: 数据 10"/>
          <p:cNvSpPr/>
          <p:nvPr/>
        </p:nvSpPr>
        <p:spPr>
          <a:xfrm>
            <a:off x="3964940" y="1388110"/>
            <a:ext cx="3945255" cy="855345"/>
          </a:xfrm>
          <a:prstGeom prst="flowChartInputOutput">
            <a:avLst/>
          </a:prstGeom>
          <a:solidFill>
            <a:srgbClr val="3368FF">
              <a:alpha val="20000"/>
            </a:srgbClr>
          </a:solidFill>
          <a:ln>
            <a:solidFill>
              <a:srgbClr val="3368FF">
                <a:alpha val="50000"/>
              </a:srgbClr>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 name="任意多边形 11"/>
          <p:cNvSpPr/>
          <p:nvPr/>
        </p:nvSpPr>
        <p:spPr>
          <a:xfrm>
            <a:off x="4350385" y="1741805"/>
            <a:ext cx="896366"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sz="1000">
              <a:solidFill>
                <a:srgbClr val="FFFFFF"/>
              </a:solidFill>
              <a:cs typeface="微软雅黑"/>
              <a:latin typeface="微软雅黑"/>
              <a:ea typeface="微软雅黑"/>
            </a:endParaRPr>
          </a:p>
        </p:txBody>
      </p:sp>
      <p:sp>
        <p:nvSpPr>
          <p:cNvPr id="14" name="任意多边形 13"/>
          <p:cNvSpPr/>
          <p:nvPr/>
        </p:nvSpPr>
        <p:spPr>
          <a:xfrm>
            <a:off x="5025771" y="1741805"/>
            <a:ext cx="895985"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5" name="任意多边形 14"/>
          <p:cNvSpPr/>
          <p:nvPr/>
        </p:nvSpPr>
        <p:spPr>
          <a:xfrm>
            <a:off x="5700776" y="1741805"/>
            <a:ext cx="895985"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6" name="任意多边形 15"/>
          <p:cNvSpPr/>
          <p:nvPr/>
        </p:nvSpPr>
        <p:spPr>
          <a:xfrm>
            <a:off x="6375781" y="1741805"/>
            <a:ext cx="895985"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7" name="文本框 16"/>
          <p:cNvSpPr txBox="1"/>
          <p:nvPr/>
        </p:nvSpPr>
        <p:spPr>
          <a:xfrm>
            <a:off x="4975860" y="1444625"/>
            <a:ext cx="2237740" cy="245110"/>
          </a:xfrm>
          <a:prstGeom prst="rect">
            <a:avLst/>
          </a:prstGeom>
          <a:noFill/>
          <a:scene3d>
            <a:camera prst="orthographicFront">
              <a:rot lat="0" lon="0" rev="0"/>
            </a:camera>
            <a:lightRig rig="threePt" dir="t"/>
          </a:scene3d>
        </p:spPr>
        <p:txBody>
          <a:bodyPr wrap="square" rtlCol="0" lIns="0" rIns="0" tIns="0" bIns="0">
            <a:spAutoFit/>
          </a:bodyPr>
          <a:p>
            <a:pPr>
              <a:defRPr>
                <a:latin typeface="微软雅黑"/>
                <a:ea typeface="微软雅黑"/>
                <a:cs typeface="微软雅黑"/>
              </a:defRPr>
            </a:pPr>
            <a:r>
              <a:rPr lang="zh-CN" altLang="en-US" sz="1000" b="1">
                <a:solidFill>
                  <a:srgbClr val="383838"/>
                </a:solidFill>
                <a:latin typeface="微软雅黑"/>
                <a:ea typeface="微软雅黑"/>
                <a:cs typeface="微软雅黑"/>
              </a:rPr>
              <a:t>数字化战略定位</a:t>
            </a:r>
            <a:r>
              <a:rPr lang="en-US" altLang="zh-CN" sz="1000" b="1">
                <a:solidFill>
                  <a:srgbClr val="383838"/>
                </a:solidFill>
                <a:latin typeface="微软雅黑"/>
                <a:ea typeface="微软雅黑"/>
                <a:cs typeface="微软雅黑"/>
              </a:rPr>
              <a:t> / </a:t>
            </a:r>
            <a:r>
              <a:rPr lang="zh-CN" altLang="en-US" sz="1000" b="1">
                <a:solidFill>
                  <a:srgbClr val="383838"/>
                </a:solidFill>
                <a:latin typeface="微软雅黑"/>
                <a:ea typeface="微软雅黑"/>
                <a:cs typeface="微软雅黑"/>
              </a:rPr>
              <a:t>第二曲线价值重构</a:t>
            </a:r>
            <a:endParaRPr lang="zh-CN" altLang="en-US" sz="1000" b="1">
              <a:solidFill>
                <a:srgbClr val="383838"/>
              </a:solidFill>
              <a:latin typeface="微软雅黑"/>
              <a:ea typeface="微软雅黑"/>
              <a:cs typeface="微软雅黑"/>
            </a:endParaRPr>
          </a:p>
        </p:txBody>
      </p:sp>
      <p:sp>
        <p:nvSpPr>
          <p:cNvPr id="18" name="任意多边形 17"/>
          <p:cNvSpPr/>
          <p:nvPr/>
        </p:nvSpPr>
        <p:spPr>
          <a:xfrm>
            <a:off x="5579745" y="2993390"/>
            <a:ext cx="896366"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9" name="任意多边形 18"/>
          <p:cNvSpPr/>
          <p:nvPr/>
        </p:nvSpPr>
        <p:spPr>
          <a:xfrm>
            <a:off x="6255131" y="2993390"/>
            <a:ext cx="895985"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0" name="任意多边形 19"/>
          <p:cNvSpPr/>
          <p:nvPr/>
        </p:nvSpPr>
        <p:spPr>
          <a:xfrm>
            <a:off x="6930136" y="2993390"/>
            <a:ext cx="895985"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1" name="任意多边形 20"/>
          <p:cNvSpPr/>
          <p:nvPr/>
        </p:nvSpPr>
        <p:spPr>
          <a:xfrm>
            <a:off x="7605141" y="2993390"/>
            <a:ext cx="895985"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412" h="593">
                <a:moveTo>
                  <a:pt x="0" y="593"/>
                </a:moveTo>
                <a:lnTo>
                  <a:pt x="502" y="0"/>
                </a:lnTo>
                <a:lnTo>
                  <a:pt x="1412" y="0"/>
                </a:lnTo>
                <a:lnTo>
                  <a:pt x="910"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2" name="任意多边形 21"/>
          <p:cNvSpPr/>
          <p:nvPr/>
        </p:nvSpPr>
        <p:spPr>
          <a:xfrm>
            <a:off x="3183255" y="4164330"/>
            <a:ext cx="981998"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0042FF"/>
          </a:solidFill>
          <a:ln>
            <a:solidFill>
              <a:srgbClr val="E6E6E6"/>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5" name="任意多边形 24"/>
          <p:cNvSpPr/>
          <p:nvPr/>
        </p:nvSpPr>
        <p:spPr>
          <a:xfrm>
            <a:off x="3798858" y="4164330"/>
            <a:ext cx="98171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0042FF"/>
          </a:solidFill>
          <a:ln>
            <a:solidFill>
              <a:srgbClr val="E6E6E6"/>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6" name="任意多边形 25"/>
          <p:cNvSpPr/>
          <p:nvPr/>
        </p:nvSpPr>
        <p:spPr>
          <a:xfrm>
            <a:off x="4414173" y="4164330"/>
            <a:ext cx="98171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0042FF"/>
          </a:solidFill>
          <a:ln>
            <a:solidFill>
              <a:srgbClr val="E6E6E6"/>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7" name="任意多边形 26"/>
          <p:cNvSpPr/>
          <p:nvPr/>
        </p:nvSpPr>
        <p:spPr>
          <a:xfrm>
            <a:off x="5029488" y="4164330"/>
            <a:ext cx="98171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0042FF"/>
          </a:solidFill>
          <a:ln>
            <a:solidFill>
              <a:srgbClr val="E6E6E6"/>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8" name="任意多边形 27"/>
          <p:cNvSpPr/>
          <p:nvPr/>
        </p:nvSpPr>
        <p:spPr>
          <a:xfrm>
            <a:off x="5644803" y="4164330"/>
            <a:ext cx="98171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0042FF"/>
          </a:solidFill>
          <a:ln>
            <a:solidFill>
              <a:srgbClr val="E6E6E6"/>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9" name="任意多边形 28"/>
          <p:cNvSpPr/>
          <p:nvPr/>
        </p:nvSpPr>
        <p:spPr>
          <a:xfrm>
            <a:off x="6260118" y="4164330"/>
            <a:ext cx="98171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0042FF"/>
          </a:solidFill>
          <a:ln>
            <a:solidFill>
              <a:srgbClr val="E6E6E6"/>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2" name="任意多边形 31"/>
          <p:cNvSpPr/>
          <p:nvPr/>
        </p:nvSpPr>
        <p:spPr>
          <a:xfrm>
            <a:off x="3448685" y="5638165"/>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cxnSp>
        <p:nvCxnSpPr>
          <p:cNvPr id="39" name="直接箭头连接符 38"/>
          <p:cNvCxnSpPr/>
          <p:nvPr/>
        </p:nvCxnSpPr>
        <p:spPr>
          <a:xfrm>
            <a:off x="4664710" y="4758690"/>
            <a:ext cx="0" cy="461645"/>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40" name="直接箭头连接符 39"/>
          <p:cNvCxnSpPr/>
          <p:nvPr/>
        </p:nvCxnSpPr>
        <p:spPr>
          <a:xfrm flipV="1">
            <a:off x="4791710" y="4758690"/>
            <a:ext cx="0" cy="461645"/>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2" name="直接箭头连接符 1"/>
          <p:cNvCxnSpPr/>
          <p:nvPr/>
        </p:nvCxnSpPr>
        <p:spPr>
          <a:xfrm>
            <a:off x="4232275" y="2330450"/>
            <a:ext cx="0" cy="1409065"/>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3" name="直接箭头连接符 2"/>
          <p:cNvCxnSpPr/>
          <p:nvPr/>
        </p:nvCxnSpPr>
        <p:spPr>
          <a:xfrm flipV="1">
            <a:off x="4359275" y="2349500"/>
            <a:ext cx="0" cy="1390015"/>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4" name="直接箭头连接符 3"/>
          <p:cNvCxnSpPr/>
          <p:nvPr/>
        </p:nvCxnSpPr>
        <p:spPr>
          <a:xfrm>
            <a:off x="6759575" y="2298700"/>
            <a:ext cx="0" cy="27940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7" name="直接箭头连接符 6"/>
          <p:cNvCxnSpPr/>
          <p:nvPr/>
        </p:nvCxnSpPr>
        <p:spPr>
          <a:xfrm flipV="1">
            <a:off x="6886575" y="2298700"/>
            <a:ext cx="0" cy="27305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13" name="直接箭头连接符 12"/>
          <p:cNvCxnSpPr/>
          <p:nvPr/>
        </p:nvCxnSpPr>
        <p:spPr>
          <a:xfrm>
            <a:off x="8201025" y="3663315"/>
            <a:ext cx="0" cy="1524635"/>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23" name="直接箭头连接符 22"/>
          <p:cNvCxnSpPr/>
          <p:nvPr/>
        </p:nvCxnSpPr>
        <p:spPr>
          <a:xfrm flipV="1">
            <a:off x="8286115" y="3688715"/>
            <a:ext cx="0" cy="1499235"/>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24" name="直接箭头连接符 23"/>
          <p:cNvCxnSpPr/>
          <p:nvPr/>
        </p:nvCxnSpPr>
        <p:spPr>
          <a:xfrm>
            <a:off x="6646545" y="4740275"/>
            <a:ext cx="0" cy="464185"/>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30" name="直接箭头连接符 29"/>
          <p:cNvCxnSpPr/>
          <p:nvPr/>
        </p:nvCxnSpPr>
        <p:spPr>
          <a:xfrm flipV="1">
            <a:off x="6718300" y="4727575"/>
            <a:ext cx="0" cy="49657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38" name="直接箭头连接符 37"/>
          <p:cNvCxnSpPr/>
          <p:nvPr/>
        </p:nvCxnSpPr>
        <p:spPr>
          <a:xfrm>
            <a:off x="6632575" y="3530600"/>
            <a:ext cx="0" cy="27940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41" name="直接箭头连接符 40"/>
          <p:cNvCxnSpPr/>
          <p:nvPr/>
        </p:nvCxnSpPr>
        <p:spPr>
          <a:xfrm flipV="1">
            <a:off x="6759575" y="3530600"/>
            <a:ext cx="0" cy="273050"/>
          </a:xfrm>
          <a:prstGeom prst="straightConnector1">
            <a:avLst/>
          </a:prstGeom>
          <a:ln>
            <a:solidFill>
              <a:srgbClr val="383838"/>
            </a:solidFill>
            <a:tailEnd type="triangle"/>
          </a:ln>
        </p:spPr>
        <p:style>
          <a:lnRef idx="2">
            <a:srgbClr val="0042FF"/>
          </a:lnRef>
          <a:fillRef idx="0">
            <a:srgbClr val="FFFFFF"/>
          </a:fillRef>
          <a:effectRef idx="0">
            <a:srgbClr val="FFFFFF"/>
          </a:effectRef>
          <a:fontRef idx="minor">
            <a:srgbClr val="383838"/>
          </a:fontRef>
        </p:style>
      </p:cxnSp>
      <p:cxnSp>
        <p:nvCxnSpPr>
          <p:cNvPr id="48" name="肘形连接符 47"/>
          <p:cNvCxnSpPr/>
          <p:nvPr/>
        </p:nvCxnSpPr>
        <p:spPr>
          <a:xfrm rot="5400000">
            <a:off x="5737225" y="3140075"/>
            <a:ext cx="1746250" cy="2527300"/>
          </a:xfrm>
          <a:prstGeom prst="bentConnector3">
            <a:avLst>
              <a:gd name="adj1" fmla="val 84909"/>
            </a:avLst>
          </a:prstGeom>
          <a:ln>
            <a:solidFill>
              <a:srgbClr val="383838"/>
            </a:solidFill>
            <a:headEnd type="triangle" w="med" len="med"/>
            <a:tailEnd type="none"/>
          </a:ln>
        </p:spPr>
        <p:style>
          <a:lnRef idx="2">
            <a:srgbClr val="0042FF"/>
          </a:lnRef>
          <a:fillRef idx="0">
            <a:srgbClr val="FFFFFF"/>
          </a:fillRef>
          <a:effectRef idx="0">
            <a:srgbClr val="FFFFFF"/>
          </a:effectRef>
          <a:fontRef idx="minor">
            <a:srgbClr val="383838"/>
          </a:fontRef>
        </p:style>
      </p:cxnSp>
      <p:sp>
        <p:nvSpPr>
          <p:cNvPr id="49" name="文本框 48"/>
          <p:cNvSpPr txBox="1"/>
          <p:nvPr/>
        </p:nvSpPr>
        <p:spPr>
          <a:xfrm>
            <a:off x="4546600" y="176149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生态协同优势</a:t>
            </a:r>
            <a:endParaRPr lang="zh-CN" sz="1000" i="1">
              <a:solidFill>
                <a:srgbClr val="FFFFFF"/>
              </a:solidFill>
              <a:latin typeface="微软雅黑"/>
              <a:ea typeface="微软雅黑"/>
              <a:cs typeface="微软雅黑"/>
            </a:endParaRPr>
          </a:p>
        </p:txBody>
      </p:sp>
      <p:sp>
        <p:nvSpPr>
          <p:cNvPr id="50" name="文本框 49"/>
          <p:cNvSpPr txBox="1"/>
          <p:nvPr/>
        </p:nvSpPr>
        <p:spPr>
          <a:xfrm>
            <a:off x="5224780" y="1768475"/>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全新业务场景</a:t>
            </a:r>
            <a:endParaRPr lang="zh-CN" sz="1000" i="1">
              <a:solidFill>
                <a:srgbClr val="FFFFFF"/>
              </a:solidFill>
              <a:latin typeface="微软雅黑"/>
              <a:ea typeface="微软雅黑"/>
              <a:cs typeface="微软雅黑"/>
            </a:endParaRPr>
          </a:p>
        </p:txBody>
      </p:sp>
      <p:sp>
        <p:nvSpPr>
          <p:cNvPr id="51" name="文本框 50"/>
          <p:cNvSpPr txBox="1"/>
          <p:nvPr/>
        </p:nvSpPr>
        <p:spPr>
          <a:xfrm>
            <a:off x="5910580" y="1768475"/>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数据资产变现</a:t>
            </a:r>
            <a:endParaRPr lang="zh-CN" sz="1000" i="1">
              <a:solidFill>
                <a:srgbClr val="FFFFFF"/>
              </a:solidFill>
              <a:latin typeface="微软雅黑"/>
              <a:ea typeface="微软雅黑"/>
              <a:cs typeface="微软雅黑"/>
            </a:endParaRPr>
          </a:p>
        </p:txBody>
      </p:sp>
      <p:sp>
        <p:nvSpPr>
          <p:cNvPr id="52" name="文本框 51"/>
          <p:cNvSpPr txBox="1"/>
          <p:nvPr/>
        </p:nvSpPr>
        <p:spPr>
          <a:xfrm>
            <a:off x="6372860" y="2699385"/>
            <a:ext cx="2128520" cy="245110"/>
          </a:xfrm>
          <a:prstGeom prst="rect">
            <a:avLst/>
          </a:prstGeom>
          <a:noFill/>
          <a:scene3d>
            <a:camera prst="orthographicFront">
              <a:rot lat="0" lon="0" rev="0"/>
            </a:camera>
            <a:lightRig rig="threePt" dir="t"/>
          </a:scene3d>
        </p:spPr>
        <p:txBody>
          <a:bodyPr wrap="square" rtlCol="0" lIns="0" rIns="0" tIns="0" bIns="0">
            <a:spAutoFit/>
          </a:bodyPr>
          <a:p>
            <a:pPr lvl="0" algn="l">
              <a:buClrTx/>
              <a:buSzTx/>
              <a:buFontTx/>
              <a:defRPr>
                <a:latin typeface="微软雅黑"/>
                <a:ea typeface="微软雅黑"/>
                <a:cs typeface="微软雅黑"/>
              </a:defRPr>
            </a:pPr>
            <a:r>
              <a:rPr lang="zh-CN" altLang="en-US" sz="1000" b="1">
                <a:solidFill>
                  <a:srgbClr val="383838"/>
                </a:solidFill>
                <a:latin typeface="微软雅黑"/>
                <a:ea typeface="微软雅黑"/>
                <a:cs typeface="微软雅黑"/>
                <a:sym typeface="微软雅黑"/>
              </a:rPr>
              <a:t>第二曲线突破</a:t>
            </a:r>
            <a:r>
              <a:rPr lang="en-US" altLang="zh-CN" sz="1000" b="1">
                <a:solidFill>
                  <a:srgbClr val="383838"/>
                </a:solidFill>
                <a:latin typeface="微软雅黑"/>
                <a:ea typeface="微软雅黑"/>
                <a:cs typeface="微软雅黑"/>
                <a:sym typeface="微软雅黑"/>
              </a:rPr>
              <a:t> / </a:t>
            </a:r>
            <a:r>
              <a:rPr lang="zh-CN" altLang="en-US" sz="1000" b="1">
                <a:solidFill>
                  <a:srgbClr val="383838"/>
                </a:solidFill>
                <a:latin typeface="微软雅黑"/>
                <a:ea typeface="微软雅黑"/>
                <a:cs typeface="微软雅黑"/>
                <a:sym typeface="微软雅黑"/>
              </a:rPr>
              <a:t>数字化价值捕获</a:t>
            </a:r>
            <a:endParaRPr lang="zh-CN" altLang="en-US" sz="1000" b="1">
              <a:solidFill>
                <a:srgbClr val="383838"/>
              </a:solidFill>
              <a:latin typeface="微软雅黑"/>
              <a:ea typeface="微软雅黑"/>
              <a:cs typeface="微软雅黑"/>
              <a:sym typeface="微软雅黑"/>
            </a:endParaRPr>
          </a:p>
        </p:txBody>
      </p:sp>
      <p:sp>
        <p:nvSpPr>
          <p:cNvPr id="53" name="文本框 52"/>
          <p:cNvSpPr txBox="1"/>
          <p:nvPr/>
        </p:nvSpPr>
        <p:spPr>
          <a:xfrm>
            <a:off x="5777230" y="301752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业务数字化</a:t>
            </a:r>
            <a:endParaRPr lang="zh-CN" sz="1000" i="1">
              <a:solidFill>
                <a:srgbClr val="FFFFFF"/>
              </a:solidFill>
              <a:latin typeface="微软雅黑"/>
              <a:ea typeface="微软雅黑"/>
              <a:cs typeface="微软雅黑"/>
            </a:endParaRPr>
          </a:p>
        </p:txBody>
      </p:sp>
      <p:sp>
        <p:nvSpPr>
          <p:cNvPr id="54" name="文本框 53"/>
          <p:cNvSpPr txBox="1"/>
          <p:nvPr/>
        </p:nvSpPr>
        <p:spPr>
          <a:xfrm>
            <a:off x="6453505" y="301752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服务化转型</a:t>
            </a:r>
            <a:endParaRPr lang="zh-CN" sz="1000" i="1">
              <a:solidFill>
                <a:srgbClr val="FFFFFF"/>
              </a:solidFill>
              <a:latin typeface="微软雅黑"/>
              <a:ea typeface="微软雅黑"/>
              <a:cs typeface="微软雅黑"/>
            </a:endParaRPr>
          </a:p>
        </p:txBody>
      </p:sp>
      <p:sp>
        <p:nvSpPr>
          <p:cNvPr id="55" name="文本框 54"/>
          <p:cNvSpPr txBox="1"/>
          <p:nvPr/>
        </p:nvSpPr>
        <p:spPr>
          <a:xfrm>
            <a:off x="4511040" y="3873500"/>
            <a:ext cx="2170430" cy="245110"/>
          </a:xfrm>
          <a:prstGeom prst="rect">
            <a:avLst/>
          </a:prstGeom>
          <a:noFill/>
          <a:scene3d>
            <a:camera prst="orthographicFront">
              <a:rot lat="0" lon="0" rev="0"/>
            </a:camera>
            <a:lightRig rig="threePt" dir="t"/>
          </a:scene3d>
        </p:spPr>
        <p:txBody>
          <a:bodyPr wrap="square" rtlCol="0" lIns="0" rIns="0" tIns="0" bIns="0">
            <a:spAutoFit/>
          </a:bodyPr>
          <a:p>
            <a:pPr>
              <a:defRPr>
                <a:latin typeface="微软雅黑"/>
                <a:ea typeface="微软雅黑"/>
                <a:cs typeface="微软雅黑"/>
              </a:defRPr>
            </a:pPr>
            <a:r>
              <a:rPr lang="zh-CN" altLang="en-US" sz="1000" b="1">
                <a:solidFill>
                  <a:srgbClr val="383838"/>
                </a:solidFill>
                <a:latin typeface="微软雅黑"/>
                <a:ea typeface="微软雅黑"/>
                <a:cs typeface="微软雅黑"/>
              </a:rPr>
              <a:t>数字能力基座</a:t>
            </a:r>
            <a:r>
              <a:rPr lang="en-US" altLang="zh-CN" sz="1000" b="1">
                <a:solidFill>
                  <a:srgbClr val="383838"/>
                </a:solidFill>
                <a:latin typeface="微软雅黑"/>
                <a:ea typeface="微软雅黑"/>
                <a:cs typeface="微软雅黑"/>
              </a:rPr>
              <a:t>/</a:t>
            </a:r>
            <a:r>
              <a:rPr lang="zh-CN" altLang="en-US" sz="1000" b="1">
                <a:solidFill>
                  <a:srgbClr val="383838"/>
                </a:solidFill>
                <a:latin typeface="微软雅黑"/>
                <a:ea typeface="微软雅黑"/>
                <a:cs typeface="微软雅黑"/>
              </a:rPr>
              <a:t>价值重构引擎</a:t>
            </a:r>
            <a:endParaRPr lang="zh-CN" altLang="en-US" sz="1000" b="1">
              <a:solidFill>
                <a:srgbClr val="383838"/>
              </a:solidFill>
              <a:latin typeface="微软雅黑"/>
              <a:ea typeface="微软雅黑"/>
              <a:cs typeface="微软雅黑"/>
            </a:endParaRPr>
          </a:p>
        </p:txBody>
      </p:sp>
      <p:sp>
        <p:nvSpPr>
          <p:cNvPr id="56" name="文本框 55"/>
          <p:cNvSpPr txBox="1"/>
          <p:nvPr/>
        </p:nvSpPr>
        <p:spPr>
          <a:xfrm>
            <a:off x="3397250" y="4198620"/>
            <a:ext cx="548640" cy="313690"/>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i="1">
                <a:solidFill>
                  <a:srgbClr val="FFFFFF"/>
                </a:solidFill>
                <a:latin typeface="微软雅黑"/>
                <a:ea typeface="微软雅黑"/>
                <a:cs typeface="微软雅黑"/>
              </a:rPr>
              <a:t>数据中台支撑能力</a:t>
            </a:r>
            <a:endParaRPr lang="zh-CN" altLang="en-US" sz="1000" i="1">
              <a:solidFill>
                <a:srgbClr val="FFFFFF"/>
              </a:solidFill>
              <a:latin typeface="微软雅黑"/>
              <a:ea typeface="微软雅黑"/>
              <a:cs typeface="微软雅黑"/>
            </a:endParaRPr>
          </a:p>
        </p:txBody>
      </p:sp>
      <p:sp>
        <p:nvSpPr>
          <p:cNvPr id="57" name="任意多边形 56"/>
          <p:cNvSpPr/>
          <p:nvPr/>
        </p:nvSpPr>
        <p:spPr>
          <a:xfrm>
            <a:off x="3938270" y="5638165"/>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8" name="任意多边形 57"/>
          <p:cNvSpPr/>
          <p:nvPr/>
        </p:nvSpPr>
        <p:spPr>
          <a:xfrm>
            <a:off x="4427855" y="5638165"/>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9" name="任意多边形 58"/>
          <p:cNvSpPr/>
          <p:nvPr/>
        </p:nvSpPr>
        <p:spPr>
          <a:xfrm>
            <a:off x="4917440" y="5645150"/>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3368FF"/>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0" name="文本框 59"/>
          <p:cNvSpPr txBox="1"/>
          <p:nvPr/>
        </p:nvSpPr>
        <p:spPr>
          <a:xfrm>
            <a:off x="3902710" y="5352415"/>
            <a:ext cx="1815465" cy="245110"/>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数字技术栈</a:t>
            </a:r>
            <a:r>
              <a:rPr lang="en-US" altLang="zh-CN" sz="1000" b="1">
                <a:solidFill>
                  <a:srgbClr val="383838"/>
                </a:solidFill>
                <a:latin typeface="微软雅黑"/>
                <a:ea typeface="微软雅黑"/>
                <a:cs typeface="微软雅黑"/>
              </a:rPr>
              <a:t> / </a:t>
            </a:r>
            <a:r>
              <a:rPr lang="zh-CN" altLang="en-US" sz="1000" b="1">
                <a:solidFill>
                  <a:srgbClr val="383838"/>
                </a:solidFill>
                <a:latin typeface="微软雅黑"/>
                <a:ea typeface="微软雅黑"/>
                <a:cs typeface="微软雅黑"/>
              </a:rPr>
              <a:t>转型赋能体系</a:t>
            </a:r>
            <a:endParaRPr lang="zh-CN" altLang="en-US" sz="1000" b="1">
              <a:solidFill>
                <a:srgbClr val="383838"/>
              </a:solidFill>
              <a:latin typeface="微软雅黑"/>
              <a:ea typeface="微软雅黑"/>
              <a:cs typeface="微软雅黑"/>
            </a:endParaRPr>
          </a:p>
        </p:txBody>
      </p:sp>
      <p:sp>
        <p:nvSpPr>
          <p:cNvPr id="61" name="文本框 60"/>
          <p:cNvSpPr txBox="1"/>
          <p:nvPr/>
        </p:nvSpPr>
        <p:spPr>
          <a:xfrm>
            <a:off x="3557270" y="565023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i="1">
                <a:solidFill>
                  <a:srgbClr val="FFFFFF"/>
                </a:solidFill>
                <a:latin typeface="微软雅黑"/>
                <a:ea typeface="微软雅黑"/>
                <a:cs typeface="微软雅黑"/>
              </a:rPr>
              <a:t>    </a:t>
            </a:r>
            <a:r>
              <a:rPr lang="zh-CN" sz="1000" i="1">
                <a:solidFill>
                  <a:srgbClr val="FFFFFF"/>
                </a:solidFill>
                <a:latin typeface="微软雅黑"/>
                <a:ea typeface="微软雅黑"/>
                <a:cs typeface="微软雅黑"/>
              </a:rPr>
              <a:t>实时</a:t>
            </a:r>
            <a:endParaRPr lang="zh-CN" sz="1000" i="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数据</a:t>
            </a:r>
            <a:endParaRPr lang="zh-CN" sz="1000" i="1">
              <a:solidFill>
                <a:srgbClr val="FFFFFF"/>
              </a:solidFill>
              <a:latin typeface="微软雅黑"/>
              <a:ea typeface="微软雅黑"/>
              <a:cs typeface="微软雅黑"/>
            </a:endParaRPr>
          </a:p>
        </p:txBody>
      </p:sp>
      <p:sp>
        <p:nvSpPr>
          <p:cNvPr id="62" name="文本框 61"/>
          <p:cNvSpPr txBox="1"/>
          <p:nvPr/>
        </p:nvSpPr>
        <p:spPr>
          <a:xfrm>
            <a:off x="4047490" y="5650230"/>
            <a:ext cx="512445" cy="337185"/>
          </a:xfrm>
          <a:prstGeom prst="rect">
            <a:avLst/>
          </a:prstGeom>
          <a:noFill/>
          <a:scene3d>
            <a:camera prst="orthographicFront">
              <a:rot lat="0" lon="0" rev="0"/>
            </a:camera>
            <a:lightRig rig="threePt" dir="t"/>
          </a:scene3d>
        </p:spPr>
        <p:txBody>
          <a:bodyPr wrap="square" rtlCol="0" lIns="0" rIns="0" tIns="0" bIns="0" anchor="t">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i="1">
                <a:solidFill>
                  <a:srgbClr val="FFFFFF"/>
                </a:solidFill>
                <a:latin typeface="微软雅黑"/>
                <a:ea typeface="微软雅黑"/>
                <a:cs typeface="微软雅黑"/>
                <a:sym typeface="微软雅黑"/>
              </a:rPr>
              <a:t>    </a:t>
            </a:r>
            <a:r>
              <a:rPr lang="en-US" altLang="zh-CN" sz="1000" i="1">
                <a:solidFill>
                  <a:srgbClr val="FFFFFF"/>
                </a:solidFill>
                <a:latin typeface="微软雅黑"/>
                <a:ea typeface="微软雅黑"/>
                <a:cs typeface="微软雅黑"/>
                <a:sym typeface="微软雅黑"/>
              </a:rPr>
              <a:t>数据</a:t>
            </a:r>
            <a:endParaRPr lang="en-US" altLang="zh-CN" sz="1000" i="1">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i="1">
                <a:solidFill>
                  <a:srgbClr val="FFFFFF"/>
                </a:solidFill>
                <a:latin typeface="微软雅黑"/>
                <a:ea typeface="微软雅黑"/>
                <a:cs typeface="微软雅黑"/>
                <a:sym typeface="微软雅黑"/>
              </a:rPr>
              <a:t>孪生</a:t>
            </a:r>
            <a:endParaRPr lang="en-US" altLang="zh-CN" sz="1000" i="1">
              <a:solidFill>
                <a:srgbClr val="FFFFFF"/>
              </a:solidFill>
              <a:latin typeface="微软雅黑"/>
              <a:ea typeface="微软雅黑"/>
              <a:cs typeface="微软雅黑"/>
              <a:sym typeface="微软雅黑"/>
            </a:endParaRPr>
          </a:p>
        </p:txBody>
      </p:sp>
      <p:sp>
        <p:nvSpPr>
          <p:cNvPr id="63" name="文本框 62"/>
          <p:cNvSpPr txBox="1"/>
          <p:nvPr/>
        </p:nvSpPr>
        <p:spPr>
          <a:xfrm>
            <a:off x="4537710" y="5650230"/>
            <a:ext cx="512445" cy="337185"/>
          </a:xfrm>
          <a:prstGeom prst="rect">
            <a:avLst/>
          </a:prstGeom>
          <a:noFill/>
          <a:scene3d>
            <a:camera prst="orthographicFront">
              <a:rot lat="0" lon="0" rev="0"/>
            </a:camera>
            <a:lightRig rig="threePt" dir="t"/>
          </a:scene3d>
        </p:spPr>
        <p:txBody>
          <a:bodyPr wrap="square" rtlCol="0" lIns="0" rIns="0" tIns="0" bIns="0" anchor="t">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i="1">
                <a:solidFill>
                  <a:srgbClr val="FFFFFF"/>
                </a:solidFill>
                <a:latin typeface="微软雅黑"/>
                <a:ea typeface="微软雅黑"/>
                <a:cs typeface="微软雅黑"/>
                <a:sym typeface="微软雅黑"/>
              </a:rPr>
              <a:t>   RPA</a:t>
            </a:r>
            <a:endParaRPr lang="en-US" altLang="zh-CN" sz="1000" i="1">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i="1">
                <a:solidFill>
                  <a:srgbClr val="FFFFFF"/>
                </a:solidFill>
                <a:latin typeface="微软雅黑"/>
                <a:ea typeface="微软雅黑"/>
                <a:cs typeface="微软雅黑"/>
                <a:sym typeface="微软雅黑"/>
              </a:rPr>
              <a:t>自动化</a:t>
            </a:r>
            <a:endParaRPr lang="en-US" altLang="zh-CN" sz="1000" i="1">
              <a:solidFill>
                <a:srgbClr val="FFFFFF"/>
              </a:solidFill>
              <a:latin typeface="微软雅黑"/>
              <a:ea typeface="微软雅黑"/>
              <a:cs typeface="微软雅黑"/>
              <a:sym typeface="微软雅黑"/>
            </a:endParaRPr>
          </a:p>
        </p:txBody>
      </p:sp>
      <p:sp>
        <p:nvSpPr>
          <p:cNvPr id="64" name="文本框 63"/>
          <p:cNvSpPr txBox="1"/>
          <p:nvPr/>
        </p:nvSpPr>
        <p:spPr>
          <a:xfrm>
            <a:off x="5053330" y="5678170"/>
            <a:ext cx="512445" cy="337185"/>
          </a:xfrm>
          <a:prstGeom prst="rect">
            <a:avLst/>
          </a:prstGeom>
          <a:noFill/>
          <a:scene3d>
            <a:camera prst="orthographicFront">
              <a:rot lat="0" lon="0" rev="0"/>
            </a:camera>
            <a:lightRig rig="threePt" dir="t"/>
          </a:scene3d>
        </p:spPr>
        <p:txBody>
          <a:bodyPr wrap="square" rtlCol="0" lIns="0" rIns="0" tIns="0" bIns="0" anchor="t">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i="1">
                <a:solidFill>
                  <a:srgbClr val="FFFFFF"/>
                </a:solidFill>
                <a:latin typeface="微软雅黑"/>
                <a:ea typeface="微软雅黑"/>
                <a:cs typeface="微软雅黑"/>
                <a:sym typeface="微软雅黑"/>
              </a:rPr>
              <a:t>平台型组织</a:t>
            </a:r>
            <a:endParaRPr lang="en-US" altLang="zh-CN" sz="1000" i="1">
              <a:solidFill>
                <a:srgbClr val="FFFFFF"/>
              </a:solidFill>
              <a:latin typeface="微软雅黑"/>
              <a:ea typeface="微软雅黑"/>
              <a:cs typeface="微软雅黑"/>
              <a:sym typeface="微软雅黑"/>
            </a:endParaRPr>
          </a:p>
        </p:txBody>
      </p:sp>
      <p:sp>
        <p:nvSpPr>
          <p:cNvPr id="75" name="文本框 74"/>
          <p:cNvSpPr txBox="1"/>
          <p:nvPr/>
        </p:nvSpPr>
        <p:spPr>
          <a:xfrm>
            <a:off x="3846195" y="2754630"/>
            <a:ext cx="512445"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需求</a:t>
            </a:r>
            <a:endParaRPr lang="zh-CN" sz="1000">
              <a:solidFill>
                <a:srgbClr val="383838"/>
              </a:solidFill>
              <a:latin typeface="微软雅黑"/>
              <a:ea typeface="微软雅黑"/>
              <a:cs typeface="微软雅黑"/>
            </a:endParaRPr>
          </a:p>
        </p:txBody>
      </p:sp>
      <p:sp>
        <p:nvSpPr>
          <p:cNvPr id="76" name="文本框 75"/>
          <p:cNvSpPr txBox="1"/>
          <p:nvPr/>
        </p:nvSpPr>
        <p:spPr>
          <a:xfrm>
            <a:off x="4219575" y="2881630"/>
            <a:ext cx="512445"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能力</a:t>
            </a:r>
            <a:endParaRPr lang="zh-CN" sz="1000">
              <a:solidFill>
                <a:srgbClr val="383838"/>
              </a:solidFill>
              <a:latin typeface="微软雅黑"/>
              <a:ea typeface="微软雅黑"/>
              <a:cs typeface="微软雅黑"/>
            </a:endParaRPr>
          </a:p>
        </p:txBody>
      </p:sp>
      <p:sp>
        <p:nvSpPr>
          <p:cNvPr id="77" name="文本框 76"/>
          <p:cNvSpPr txBox="1"/>
          <p:nvPr/>
        </p:nvSpPr>
        <p:spPr>
          <a:xfrm>
            <a:off x="6323330" y="2349500"/>
            <a:ext cx="512445"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需求</a:t>
            </a:r>
            <a:endParaRPr lang="zh-CN" sz="1000">
              <a:solidFill>
                <a:srgbClr val="383838"/>
              </a:solidFill>
              <a:latin typeface="微软雅黑"/>
              <a:ea typeface="微软雅黑"/>
              <a:cs typeface="微软雅黑"/>
            </a:endParaRPr>
          </a:p>
        </p:txBody>
      </p:sp>
      <p:sp>
        <p:nvSpPr>
          <p:cNvPr id="78" name="文本框 77"/>
          <p:cNvSpPr txBox="1"/>
          <p:nvPr/>
        </p:nvSpPr>
        <p:spPr>
          <a:xfrm>
            <a:off x="6843395" y="2349500"/>
            <a:ext cx="669290" cy="21399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价值实现</a:t>
            </a:r>
            <a:endParaRPr lang="zh-CN" sz="1000">
              <a:solidFill>
                <a:srgbClr val="383838"/>
              </a:solidFill>
              <a:latin typeface="微软雅黑"/>
              <a:ea typeface="微软雅黑"/>
              <a:cs typeface="微软雅黑"/>
            </a:endParaRPr>
          </a:p>
        </p:txBody>
      </p:sp>
      <p:sp>
        <p:nvSpPr>
          <p:cNvPr id="79" name="文本框 78"/>
          <p:cNvSpPr txBox="1"/>
          <p:nvPr/>
        </p:nvSpPr>
        <p:spPr>
          <a:xfrm>
            <a:off x="6205855" y="3563620"/>
            <a:ext cx="512445"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需求</a:t>
            </a:r>
            <a:endParaRPr lang="zh-CN" sz="1000">
              <a:solidFill>
                <a:srgbClr val="383838"/>
              </a:solidFill>
              <a:latin typeface="微软雅黑"/>
              <a:ea typeface="微软雅黑"/>
              <a:cs typeface="微软雅黑"/>
            </a:endParaRPr>
          </a:p>
        </p:txBody>
      </p:sp>
      <p:sp>
        <p:nvSpPr>
          <p:cNvPr id="80" name="文本框 79"/>
          <p:cNvSpPr txBox="1"/>
          <p:nvPr/>
        </p:nvSpPr>
        <p:spPr>
          <a:xfrm>
            <a:off x="6701155" y="3578860"/>
            <a:ext cx="512445"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赋能</a:t>
            </a:r>
            <a:endParaRPr lang="zh-CN" sz="1000">
              <a:solidFill>
                <a:srgbClr val="383838"/>
              </a:solidFill>
              <a:latin typeface="微软雅黑"/>
              <a:ea typeface="微软雅黑"/>
              <a:cs typeface="微软雅黑"/>
            </a:endParaRPr>
          </a:p>
        </p:txBody>
      </p:sp>
      <p:sp>
        <p:nvSpPr>
          <p:cNvPr id="81" name="文本框 80"/>
          <p:cNvSpPr txBox="1"/>
          <p:nvPr/>
        </p:nvSpPr>
        <p:spPr>
          <a:xfrm>
            <a:off x="7821295" y="4027170"/>
            <a:ext cx="512445"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需求</a:t>
            </a:r>
            <a:endParaRPr lang="zh-CN" sz="1000">
              <a:solidFill>
                <a:srgbClr val="383838"/>
              </a:solidFill>
              <a:latin typeface="微软雅黑"/>
              <a:ea typeface="微软雅黑"/>
              <a:cs typeface="微软雅黑"/>
            </a:endParaRPr>
          </a:p>
        </p:txBody>
      </p:sp>
      <p:sp>
        <p:nvSpPr>
          <p:cNvPr id="82" name="文本框 81"/>
          <p:cNvSpPr txBox="1"/>
          <p:nvPr/>
        </p:nvSpPr>
        <p:spPr>
          <a:xfrm>
            <a:off x="4251325" y="4820285"/>
            <a:ext cx="512445" cy="21399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需求</a:t>
            </a:r>
            <a:endParaRPr lang="zh-CN" sz="1000">
              <a:solidFill>
                <a:srgbClr val="383838"/>
              </a:solidFill>
              <a:latin typeface="微软雅黑"/>
              <a:ea typeface="微软雅黑"/>
              <a:cs typeface="微软雅黑"/>
            </a:endParaRPr>
          </a:p>
        </p:txBody>
      </p:sp>
      <p:sp>
        <p:nvSpPr>
          <p:cNvPr id="83" name="文本框 82"/>
          <p:cNvSpPr txBox="1"/>
          <p:nvPr/>
        </p:nvSpPr>
        <p:spPr>
          <a:xfrm>
            <a:off x="6205855" y="5006340"/>
            <a:ext cx="512445" cy="21399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需求</a:t>
            </a:r>
            <a:endParaRPr lang="zh-CN" sz="1000">
              <a:solidFill>
                <a:srgbClr val="383838"/>
              </a:solidFill>
              <a:latin typeface="微软雅黑"/>
              <a:ea typeface="微软雅黑"/>
              <a:cs typeface="微软雅黑"/>
            </a:endParaRPr>
          </a:p>
        </p:txBody>
      </p:sp>
      <p:sp>
        <p:nvSpPr>
          <p:cNvPr id="84" name="文本框 83"/>
          <p:cNvSpPr txBox="1"/>
          <p:nvPr/>
        </p:nvSpPr>
        <p:spPr>
          <a:xfrm>
            <a:off x="6640195" y="4702175"/>
            <a:ext cx="652145"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管理保障</a:t>
            </a:r>
            <a:endParaRPr lang="zh-CN" sz="1000">
              <a:solidFill>
                <a:srgbClr val="383838"/>
              </a:solidFill>
              <a:latin typeface="微软雅黑"/>
              <a:ea typeface="微软雅黑"/>
              <a:cs typeface="微软雅黑"/>
            </a:endParaRPr>
          </a:p>
        </p:txBody>
      </p:sp>
      <p:sp>
        <p:nvSpPr>
          <p:cNvPr id="85" name="文本框 84"/>
          <p:cNvSpPr txBox="1"/>
          <p:nvPr/>
        </p:nvSpPr>
        <p:spPr>
          <a:xfrm>
            <a:off x="4629150" y="4820285"/>
            <a:ext cx="6521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技术</a:t>
            </a:r>
            <a:endParaRPr lang="zh-CN"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支持</a:t>
            </a:r>
            <a:endParaRPr lang="zh-CN" sz="1000">
              <a:solidFill>
                <a:srgbClr val="383838"/>
              </a:solidFill>
              <a:latin typeface="微软雅黑"/>
              <a:ea typeface="微软雅黑"/>
              <a:cs typeface="微软雅黑"/>
            </a:endParaRPr>
          </a:p>
        </p:txBody>
      </p:sp>
      <p:sp>
        <p:nvSpPr>
          <p:cNvPr id="86" name="文本框 85"/>
          <p:cNvSpPr txBox="1"/>
          <p:nvPr/>
        </p:nvSpPr>
        <p:spPr>
          <a:xfrm>
            <a:off x="7704455" y="4453255"/>
            <a:ext cx="652145" cy="33718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技术</a:t>
            </a:r>
            <a:endParaRPr lang="zh-CN"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支持</a:t>
            </a:r>
            <a:endParaRPr lang="zh-CN" sz="1000">
              <a:solidFill>
                <a:srgbClr val="383838"/>
              </a:solidFill>
              <a:latin typeface="微软雅黑"/>
              <a:ea typeface="微软雅黑"/>
              <a:cs typeface="微软雅黑"/>
            </a:endParaRPr>
          </a:p>
        </p:txBody>
      </p:sp>
      <p:sp>
        <p:nvSpPr>
          <p:cNvPr id="87" name="文本框 86"/>
          <p:cNvSpPr txBox="1"/>
          <p:nvPr/>
        </p:nvSpPr>
        <p:spPr>
          <a:xfrm>
            <a:off x="8114030" y="3977640"/>
            <a:ext cx="652145" cy="33718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管理</a:t>
            </a:r>
            <a:endParaRPr lang="zh-CN"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保障</a:t>
            </a:r>
            <a:endParaRPr lang="zh-CN" sz="1000">
              <a:solidFill>
                <a:srgbClr val="383838"/>
              </a:solidFill>
              <a:latin typeface="微软雅黑"/>
              <a:ea typeface="微软雅黑"/>
              <a:cs typeface="微软雅黑"/>
            </a:endParaRPr>
          </a:p>
        </p:txBody>
      </p:sp>
      <p:cxnSp>
        <p:nvCxnSpPr>
          <p:cNvPr id="89" name="直接连接符 88"/>
          <p:cNvCxnSpPr/>
          <p:nvPr/>
        </p:nvCxnSpPr>
        <p:spPr>
          <a:xfrm>
            <a:off x="989965" y="1904365"/>
            <a:ext cx="3074670" cy="0"/>
          </a:xfrm>
          <a:prstGeom prst="line">
            <a:avLst/>
          </a:prstGeom>
          <a:ln>
            <a:solidFill>
              <a:srgbClr val="3368FF"/>
            </a:solidFill>
            <a:tailEnd type="oval"/>
          </a:ln>
        </p:spPr>
        <p:style>
          <a:lnRef idx="2">
            <a:srgbClr val="0042FF"/>
          </a:lnRef>
          <a:fillRef idx="0">
            <a:srgbClr val="FFFFFF"/>
          </a:fillRef>
          <a:effectRef idx="0">
            <a:srgbClr val="FFFFFF"/>
          </a:effectRef>
          <a:fontRef idx="minor">
            <a:srgbClr val="383838"/>
          </a:fontRef>
        </p:style>
      </p:cxnSp>
      <p:sp>
        <p:nvSpPr>
          <p:cNvPr id="90" name="文本框 89"/>
          <p:cNvSpPr txBox="1"/>
          <p:nvPr/>
        </p:nvSpPr>
        <p:spPr>
          <a:xfrm>
            <a:off x="1437640" y="1567815"/>
            <a:ext cx="2321560" cy="27559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200" b="1">
                <a:solidFill>
                  <a:srgbClr val="0042FF"/>
                </a:solidFill>
                <a:latin typeface="微软雅黑"/>
                <a:ea typeface="微软雅黑"/>
                <a:cs typeface="微软雅黑"/>
              </a:rPr>
              <a:t> </a:t>
            </a:r>
            <a:r>
              <a:rPr lang="zh-CN" altLang="en-US" sz="1200" b="1">
                <a:solidFill>
                  <a:srgbClr val="0042FF"/>
                </a:solidFill>
                <a:latin typeface="微软雅黑"/>
                <a:ea typeface="微软雅黑"/>
                <a:cs typeface="微软雅黑"/>
              </a:rPr>
              <a:t>战略重构：重塑价值内核</a:t>
            </a:r>
            <a:endParaRPr lang="zh-CN" altLang="en-US" sz="1200" b="1">
              <a:solidFill>
                <a:srgbClr val="0042FF"/>
              </a:solidFill>
              <a:latin typeface="微软雅黑"/>
              <a:ea typeface="微软雅黑"/>
              <a:cs typeface="微软雅黑"/>
            </a:endParaRPr>
          </a:p>
        </p:txBody>
      </p:sp>
      <p:sp>
        <p:nvSpPr>
          <p:cNvPr id="296" name="Rectangle: Top Corners Rounded 32"/>
          <p:cNvSpPr/>
          <p:nvPr/>
        </p:nvSpPr>
        <p:spPr>
          <a:xfrm>
            <a:off x="1196667" y="1567640"/>
            <a:ext cx="241202" cy="241013"/>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a:p>
            <a:pPr algn="ctr">
              <a:defRPr>
                <a:solidFill>
                  <a:srgbClr val="FFFFFF"/>
                </a:solidFill>
                <a:latin typeface="微软雅黑"/>
                <a:ea typeface="微软雅黑"/>
                <a:cs typeface="微软雅黑"/>
              </a:defRPr>
            </a:pPr>
            <a:r>
              <a:rPr lang="en-US" sz="1050" kern="0">
                <a:solidFill>
                  <a:srgbClr val="FFFFFF"/>
                </a:solidFill>
                <a:latin typeface="微软雅黑"/>
                <a:ea typeface="微软雅黑"/>
                <a:cs typeface="微软雅黑"/>
                <a:sym typeface="微软雅黑"/>
              </a:rPr>
              <a:t>1</a:t>
            </a:r>
            <a:endParaRPr lang="en-US" sz="1050" kern="0" dirty="0">
              <a:solidFill>
                <a:srgbClr val="FFFFFF"/>
              </a:solidFill>
              <a:latin typeface="微软雅黑"/>
              <a:ea typeface="微软雅黑"/>
              <a:cs typeface="微软雅黑"/>
              <a:sym typeface="微软雅黑"/>
            </a:endParaRPr>
          </a:p>
        </p:txBody>
      </p:sp>
      <p:grpSp>
        <p:nvGrpSpPr>
          <p:cNvPr id="178" name="组合 177"/>
          <p:cNvGrpSpPr/>
          <p:nvPr/>
        </p:nvGrpSpPr>
        <p:grpSpPr>
          <a:xfrm>
            <a:off x="1050290" y="2058670"/>
            <a:ext cx="2924810" cy="245110"/>
            <a:chOff x="1510" y="2852"/>
            <a:chExt cx="4606" cy="386"/>
          </a:xfrm>
        </p:grpSpPr>
        <p:sp>
          <p:nvSpPr>
            <p:cNvPr id="91" name="文本框 90"/>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价值内核转变：</a:t>
              </a:r>
              <a:r>
                <a:rPr lang="zh-CN" altLang="en-US" sz="1000">
                  <a:solidFill>
                    <a:srgbClr val="383838"/>
                  </a:solidFill>
                  <a:latin typeface="微软雅黑"/>
                  <a:ea typeface="微软雅黑"/>
                  <a:cs typeface="微软雅黑"/>
                </a:rPr>
                <a:t>规模效应</a:t>
              </a:r>
              <a:endParaRPr lang="zh-CN" altLang="en-US" sz="1000">
                <a:solidFill>
                  <a:srgbClr val="383838"/>
                </a:solidFill>
                <a:latin typeface="微软雅黑"/>
                <a:ea typeface="微软雅黑"/>
                <a:cs typeface="微软雅黑"/>
              </a:endParaRPr>
            </a:p>
          </p:txBody>
        </p:sp>
        <p:sp>
          <p:nvSpPr>
            <p:cNvPr id="95" name="文本框 94"/>
            <p:cNvSpPr txBox="1"/>
            <p:nvPr/>
          </p:nvSpPr>
          <p:spPr>
            <a:xfrm>
              <a:off x="4334" y="2852"/>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数据驱动决策</a:t>
              </a:r>
              <a:endParaRPr lang="zh-CN" altLang="en-US" sz="1000">
                <a:solidFill>
                  <a:srgbClr val="383838"/>
                </a:solidFill>
                <a:latin typeface="微软雅黑"/>
                <a:ea typeface="微软雅黑"/>
                <a:cs typeface="微软雅黑"/>
              </a:endParaRPr>
            </a:p>
          </p:txBody>
        </p:sp>
        <p:sp>
          <p:nvSpPr>
            <p:cNvPr id="96" name="右箭头 95"/>
            <p:cNvSpPr/>
            <p:nvPr/>
          </p:nvSpPr>
          <p:spPr>
            <a:xfrm>
              <a:off x="4104" y="2920"/>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sp>
        <p:nvSpPr>
          <p:cNvPr id="92" name="文本框 91"/>
          <p:cNvSpPr txBox="1"/>
          <p:nvPr/>
        </p:nvSpPr>
        <p:spPr>
          <a:xfrm>
            <a:off x="6581775" y="1762125"/>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价值模式重构</a:t>
            </a:r>
            <a:endParaRPr lang="zh-CN" sz="1000" i="1">
              <a:solidFill>
                <a:srgbClr val="FFFFFF"/>
              </a:solidFill>
              <a:latin typeface="微软雅黑"/>
              <a:ea typeface="微软雅黑"/>
              <a:cs typeface="微软雅黑"/>
            </a:endParaRPr>
          </a:p>
        </p:txBody>
      </p:sp>
      <p:sp>
        <p:nvSpPr>
          <p:cNvPr id="97" name="文本框 96"/>
          <p:cNvSpPr txBox="1"/>
          <p:nvPr/>
        </p:nvSpPr>
        <p:spPr>
          <a:xfrm>
            <a:off x="7799705" y="301752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智能业务培育</a:t>
            </a:r>
            <a:endParaRPr lang="zh-CN" sz="1000" i="1">
              <a:solidFill>
                <a:srgbClr val="FFFFFF"/>
              </a:solidFill>
              <a:latin typeface="微软雅黑"/>
              <a:ea typeface="微软雅黑"/>
              <a:cs typeface="微软雅黑"/>
            </a:endParaRPr>
          </a:p>
        </p:txBody>
      </p:sp>
      <p:sp>
        <p:nvSpPr>
          <p:cNvPr id="99" name="文本框 98"/>
          <p:cNvSpPr txBox="1"/>
          <p:nvPr/>
        </p:nvSpPr>
        <p:spPr>
          <a:xfrm>
            <a:off x="7132320" y="301752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i="1">
                <a:solidFill>
                  <a:srgbClr val="FFFFFF"/>
                </a:solidFill>
                <a:latin typeface="微软雅黑"/>
                <a:ea typeface="微软雅黑"/>
                <a:cs typeface="微软雅黑"/>
              </a:rPr>
              <a:t>数字产品孵化</a:t>
            </a:r>
            <a:endParaRPr lang="zh-CN" sz="1000" i="1">
              <a:solidFill>
                <a:srgbClr val="FFFFFF"/>
              </a:solidFill>
              <a:latin typeface="微软雅黑"/>
              <a:ea typeface="微软雅黑"/>
              <a:cs typeface="微软雅黑"/>
            </a:endParaRPr>
          </a:p>
        </p:txBody>
      </p:sp>
      <p:sp>
        <p:nvSpPr>
          <p:cNvPr id="121" name="文本框 120"/>
          <p:cNvSpPr txBox="1"/>
          <p:nvPr/>
        </p:nvSpPr>
        <p:spPr>
          <a:xfrm>
            <a:off x="4020820" y="4198620"/>
            <a:ext cx="548640" cy="313690"/>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i="1">
                <a:solidFill>
                  <a:srgbClr val="FFFFFF"/>
                </a:solidFill>
                <a:latin typeface="微软雅黑"/>
                <a:ea typeface="微软雅黑"/>
                <a:cs typeface="微软雅黑"/>
              </a:rPr>
              <a:t>敏捷迭代开发能力</a:t>
            </a:r>
            <a:endParaRPr lang="zh-CN" altLang="en-US" sz="1000" i="1">
              <a:solidFill>
                <a:srgbClr val="FFFFFF"/>
              </a:solidFill>
              <a:latin typeface="微软雅黑"/>
              <a:ea typeface="微软雅黑"/>
              <a:cs typeface="微软雅黑"/>
            </a:endParaRPr>
          </a:p>
        </p:txBody>
      </p:sp>
      <p:sp>
        <p:nvSpPr>
          <p:cNvPr id="122" name="文本框 121"/>
          <p:cNvSpPr txBox="1"/>
          <p:nvPr/>
        </p:nvSpPr>
        <p:spPr>
          <a:xfrm>
            <a:off x="4629150" y="4198620"/>
            <a:ext cx="548640" cy="313690"/>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i="1">
                <a:solidFill>
                  <a:srgbClr val="FFFFFF"/>
                </a:solidFill>
                <a:latin typeface="微软雅黑"/>
                <a:ea typeface="微软雅黑"/>
                <a:cs typeface="微软雅黑"/>
              </a:rPr>
              <a:t>数字资产交易能力</a:t>
            </a:r>
            <a:endParaRPr lang="zh-CN" altLang="en-US" sz="1000" i="1">
              <a:solidFill>
                <a:srgbClr val="FFFFFF"/>
              </a:solidFill>
              <a:latin typeface="微软雅黑"/>
              <a:ea typeface="微软雅黑"/>
              <a:cs typeface="微软雅黑"/>
            </a:endParaRPr>
          </a:p>
        </p:txBody>
      </p:sp>
      <p:sp>
        <p:nvSpPr>
          <p:cNvPr id="123" name="文本框 122"/>
          <p:cNvSpPr txBox="1"/>
          <p:nvPr/>
        </p:nvSpPr>
        <p:spPr>
          <a:xfrm>
            <a:off x="5235575" y="4198620"/>
            <a:ext cx="548640" cy="313690"/>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i="1">
                <a:solidFill>
                  <a:srgbClr val="FFFFFF"/>
                </a:solidFill>
                <a:latin typeface="微软雅黑"/>
                <a:ea typeface="微软雅黑"/>
                <a:cs typeface="微软雅黑"/>
              </a:rPr>
              <a:t>生态伙伴集成能力</a:t>
            </a:r>
            <a:endParaRPr lang="zh-CN" altLang="en-US" sz="1000" i="1">
              <a:solidFill>
                <a:srgbClr val="FFFFFF"/>
              </a:solidFill>
              <a:latin typeface="微软雅黑"/>
              <a:ea typeface="微软雅黑"/>
              <a:cs typeface="微软雅黑"/>
            </a:endParaRPr>
          </a:p>
        </p:txBody>
      </p:sp>
      <p:sp>
        <p:nvSpPr>
          <p:cNvPr id="124" name="文本框 123"/>
          <p:cNvSpPr txBox="1"/>
          <p:nvPr/>
        </p:nvSpPr>
        <p:spPr>
          <a:xfrm>
            <a:off x="5859145" y="4198620"/>
            <a:ext cx="581660" cy="455930"/>
          </a:xfrm>
          <a:prstGeom prst="rect">
            <a:avLst/>
          </a:prstGeom>
          <a:noFill/>
          <a:scene3d>
            <a:camera prst="orthographicFront">
              <a:rot lat="0" lon="0" rev="0"/>
            </a:camera>
            <a:lightRig rig="threePt" dir="t"/>
          </a:scene3d>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i="1">
                <a:solidFill>
                  <a:srgbClr val="FFFFFF"/>
                </a:solidFill>
                <a:latin typeface="微软雅黑"/>
                <a:ea typeface="微软雅黑"/>
                <a:cs typeface="微软雅黑"/>
              </a:rPr>
              <a:t>工业互联网平台能力</a:t>
            </a:r>
            <a:endParaRPr lang="zh-CN" altLang="en-US" sz="1000" i="1">
              <a:solidFill>
                <a:srgbClr val="FFFFFF"/>
              </a:solidFill>
              <a:latin typeface="微软雅黑"/>
              <a:ea typeface="微软雅黑"/>
              <a:cs typeface="微软雅黑"/>
            </a:endParaRPr>
          </a:p>
        </p:txBody>
      </p:sp>
      <p:sp>
        <p:nvSpPr>
          <p:cNvPr id="125" name="文本框 124"/>
          <p:cNvSpPr txBox="1"/>
          <p:nvPr/>
        </p:nvSpPr>
        <p:spPr>
          <a:xfrm>
            <a:off x="6518910" y="4184015"/>
            <a:ext cx="548640" cy="455930"/>
          </a:xfrm>
          <a:prstGeom prst="rect">
            <a:avLst/>
          </a:prstGeom>
          <a:noFill/>
          <a:scene3d>
            <a:camera prst="orthographicFront">
              <a:rot lat="0" lon="0" rev="0"/>
            </a:camera>
            <a:lightRig rig="threePt" dir="t"/>
          </a:scene3d>
        </p:spPr>
        <p:txBody>
          <a:bodyPr wrap="square" rtlCol="0" lIns="0" rIns="0" tIns="0" bIns="0" anchor="t">
            <a:noAutofit/>
          </a:bodyPr>
          <a:p>
            <a:pPr algn="l">
              <a:defRPr>
                <a:solidFill>
                  <a:srgbClr val="FFFFFF"/>
                </a:solidFill>
                <a:latin typeface="微软雅黑"/>
                <a:ea typeface="微软雅黑"/>
                <a:cs typeface="微软雅黑"/>
              </a:defRPr>
              <a:lnSpc>
                <a:spcPts val="1120"/>
              </a:lnSpc>
              <a:spcBef>
                <a:spcPts val="0"/>
              </a:spcBef>
              <a:spcAft>
                <a:spcPts val="0"/>
              </a:spcAft>
            </a:pPr>
            <a:r>
              <a:rPr lang="zh-CN" altLang="en-US" sz="1000" i="1">
                <a:solidFill>
                  <a:srgbClr val="FFFFFF"/>
                </a:solidFill>
                <a:latin typeface="微软雅黑"/>
                <a:ea typeface="微软雅黑"/>
                <a:cs typeface="微软雅黑"/>
              </a:rPr>
              <a:t>数字化转型变革管理能力</a:t>
            </a:r>
            <a:endParaRPr lang="zh-CN" altLang="en-US" sz="1000" i="1">
              <a:solidFill>
                <a:srgbClr val="FFFFFF"/>
              </a:solidFill>
              <a:latin typeface="微软雅黑"/>
              <a:ea typeface="微软雅黑"/>
              <a:cs typeface="微软雅黑"/>
            </a:endParaRPr>
          </a:p>
        </p:txBody>
      </p:sp>
      <p:cxnSp>
        <p:nvCxnSpPr>
          <p:cNvPr id="128" name="肘形连接符 127"/>
          <p:cNvCxnSpPr/>
          <p:nvPr/>
        </p:nvCxnSpPr>
        <p:spPr>
          <a:xfrm rot="16200000">
            <a:off x="5647055" y="3131185"/>
            <a:ext cx="1741805" cy="2540000"/>
          </a:xfrm>
          <a:prstGeom prst="bentConnector3">
            <a:avLst>
              <a:gd name="adj1" fmla="val 20470"/>
            </a:avLst>
          </a:prstGeom>
          <a:ln>
            <a:solidFill>
              <a:srgbClr val="383838"/>
            </a:solidFill>
            <a:headEnd type="triangle"/>
            <a:tailEnd type="none" w="sm" len="med"/>
          </a:ln>
        </p:spPr>
        <p:style>
          <a:lnRef idx="2">
            <a:srgbClr val="0042FF"/>
          </a:lnRef>
          <a:fillRef idx="0">
            <a:srgbClr val="FFFFFF"/>
          </a:fillRef>
          <a:effectRef idx="0">
            <a:srgbClr val="FFFFFF"/>
          </a:effectRef>
          <a:fontRef idx="minor">
            <a:srgbClr val="383838"/>
          </a:fontRef>
        </p:style>
      </p:cxnSp>
      <p:sp>
        <p:nvSpPr>
          <p:cNvPr id="131" name="文本框 130"/>
          <p:cNvSpPr txBox="1"/>
          <p:nvPr/>
        </p:nvSpPr>
        <p:spPr>
          <a:xfrm>
            <a:off x="7421245" y="4489450"/>
            <a:ext cx="436880" cy="213995"/>
          </a:xfrm>
          <a:prstGeom prst="rect">
            <a:avLst/>
          </a:prstGeom>
          <a:noFill/>
          <a:ln>
            <a:noFill/>
          </a:ln>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需求</a:t>
            </a:r>
            <a:endParaRPr lang="zh-CN" sz="1000">
              <a:solidFill>
                <a:srgbClr val="383838"/>
              </a:solidFill>
              <a:latin typeface="微软雅黑"/>
              <a:ea typeface="微软雅黑"/>
              <a:cs typeface="微软雅黑"/>
            </a:endParaRPr>
          </a:p>
        </p:txBody>
      </p:sp>
      <p:sp>
        <p:nvSpPr>
          <p:cNvPr id="132" name="任意多边形 131"/>
          <p:cNvSpPr/>
          <p:nvPr/>
        </p:nvSpPr>
        <p:spPr>
          <a:xfrm>
            <a:off x="5807710" y="5261610"/>
            <a:ext cx="3009900" cy="855345"/>
          </a:xfrm>
          <a:custGeom>
            <a:avLst/>
            <a:gdLst>
              <a:gd name="connsiteX0" fmla="*/ 0 w 4740"/>
              <a:gd name="connsiteY0" fmla="*/ 1347 h 1347"/>
              <a:gd name="connsiteX1" fmla="*/ 1405 w 4740"/>
              <a:gd name="connsiteY1" fmla="*/ 0 h 1347"/>
              <a:gd name="connsiteX2" fmla="*/ 4740 w 4740"/>
              <a:gd name="connsiteY2" fmla="*/ 23 h 1347"/>
              <a:gd name="connsiteX3" fmla="*/ 3488 w 4740"/>
              <a:gd name="connsiteY3" fmla="*/ 1347 h 1347"/>
              <a:gd name="connsiteX4" fmla="*/ 0 w 4740"/>
              <a:gd name="connsiteY4" fmla="*/ 1347 h 1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0" h="1347">
                <a:moveTo>
                  <a:pt x="0" y="1347"/>
                </a:moveTo>
                <a:lnTo>
                  <a:pt x="1405" y="0"/>
                </a:lnTo>
                <a:lnTo>
                  <a:pt x="4740" y="23"/>
                </a:lnTo>
                <a:lnTo>
                  <a:pt x="3488" y="1347"/>
                </a:lnTo>
                <a:lnTo>
                  <a:pt x="0" y="1347"/>
                </a:lnTo>
                <a:close/>
              </a:path>
            </a:pathLst>
          </a:custGeom>
          <a:solidFill>
            <a:srgbClr val="B3D4FE">
              <a:alpha val="20000"/>
            </a:srgbClr>
          </a:solidFill>
          <a:ln>
            <a:solidFill>
              <a:srgbClr val="B3D4FE">
                <a:alpha val="50000"/>
              </a:srgbClr>
            </a:solid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33" name="任意多边形 132"/>
          <p:cNvSpPr/>
          <p:nvPr/>
        </p:nvSpPr>
        <p:spPr>
          <a:xfrm>
            <a:off x="6073140" y="5622925"/>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B3D4FE"/>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134" name="任意多边形 133"/>
          <p:cNvSpPr/>
          <p:nvPr/>
        </p:nvSpPr>
        <p:spPr>
          <a:xfrm>
            <a:off x="6562725" y="5622925"/>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B3D4FE"/>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135" name="任意多边形 134"/>
          <p:cNvSpPr/>
          <p:nvPr/>
        </p:nvSpPr>
        <p:spPr>
          <a:xfrm>
            <a:off x="7052310" y="5622925"/>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B3D4FE"/>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136" name="任意多边形 135"/>
          <p:cNvSpPr/>
          <p:nvPr/>
        </p:nvSpPr>
        <p:spPr>
          <a:xfrm>
            <a:off x="7541895" y="5629910"/>
            <a:ext cx="807720" cy="376555"/>
          </a:xfrm>
          <a:custGeom>
            <a:avLst/>
            <a:gdLst>
              <a:gd name="x3" fmla="*/ w 2 5"/>
              <a:gd name="x4" fmla="*/ w 3 5"/>
              <a:gd name="x5" fmla="*/ w 4 5"/>
              <a:gd name="x6" fmla="*/ w 9 10"/>
            </a:gdLst>
            <a:ahLst/>
            <a:cxnLst>
              <a:cxn ang="3">
                <a:pos x="x4" y="t"/>
              </a:cxn>
              <a:cxn ang="3">
                <a:pos x="hc" y="t"/>
              </a:cxn>
              <a:cxn ang="cd2">
                <a:pos x="wd10" y="vc"/>
              </a:cxn>
              <a:cxn ang="cd4">
                <a:pos x="x3" y="b"/>
              </a:cxn>
              <a:cxn ang="cd4">
                <a:pos x="hc" y="b"/>
              </a:cxn>
              <a:cxn ang="0">
                <a:pos x="x6" y="vc"/>
              </a:cxn>
            </a:cxnLst>
            <a:rect l="l" t="t" r="r" b="b"/>
            <a:pathLst>
              <a:path w="1546" h="593">
                <a:moveTo>
                  <a:pt x="0" y="593"/>
                </a:moveTo>
                <a:lnTo>
                  <a:pt x="653" y="0"/>
                </a:lnTo>
                <a:lnTo>
                  <a:pt x="1546" y="0"/>
                </a:lnTo>
                <a:lnTo>
                  <a:pt x="893" y="593"/>
                </a:lnTo>
                <a:lnTo>
                  <a:pt x="0" y="593"/>
                </a:lnTo>
                <a:close/>
              </a:path>
            </a:pathLst>
          </a:custGeom>
          <a:solidFill>
            <a:srgbClr val="B3D4FE"/>
          </a:solidFill>
          <a:ln>
            <a:noFill/>
          </a:ln>
          <a:scene3d>
            <a:camera prst="orthographicFront">
              <a:rot lat="0" lon="0" rev="0"/>
            </a:camera>
            <a:lightRig rig="threePt" dir="t"/>
          </a:scene3d>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137" name="文本框 136"/>
          <p:cNvSpPr txBox="1"/>
          <p:nvPr/>
        </p:nvSpPr>
        <p:spPr>
          <a:xfrm>
            <a:off x="6527165" y="5337175"/>
            <a:ext cx="1815465" cy="245110"/>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b="1">
                <a:solidFill>
                  <a:srgbClr val="383838"/>
                </a:solidFill>
                <a:latin typeface="微软雅黑"/>
                <a:ea typeface="微软雅黑"/>
                <a:cs typeface="微软雅黑"/>
                <a:sym typeface="微软雅黑"/>
              </a:rPr>
              <a:t>双模治理体系</a:t>
            </a:r>
            <a:r>
              <a:rPr lang="en-US" altLang="zh-CN" sz="1000" b="1">
                <a:solidFill>
                  <a:srgbClr val="383838"/>
                </a:solidFill>
                <a:latin typeface="微软雅黑"/>
                <a:ea typeface="微软雅黑"/>
                <a:cs typeface="微软雅黑"/>
                <a:sym typeface="微软雅黑"/>
              </a:rPr>
              <a:t> / </a:t>
            </a:r>
            <a:r>
              <a:rPr lang="zh-CN" altLang="en-US" sz="1000" b="1">
                <a:solidFill>
                  <a:srgbClr val="383838"/>
                </a:solidFill>
                <a:latin typeface="微软雅黑"/>
                <a:ea typeface="微软雅黑"/>
                <a:cs typeface="微软雅黑"/>
                <a:sym typeface="微软雅黑"/>
              </a:rPr>
              <a:t>数字化保障</a:t>
            </a:r>
            <a:endParaRPr lang="zh-CN" altLang="en-US" sz="1000" b="1">
              <a:solidFill>
                <a:srgbClr val="383838"/>
              </a:solidFill>
              <a:latin typeface="微软雅黑"/>
              <a:ea typeface="微软雅黑"/>
              <a:cs typeface="微软雅黑"/>
              <a:sym typeface="微软雅黑"/>
            </a:endParaRPr>
          </a:p>
        </p:txBody>
      </p:sp>
      <p:sp>
        <p:nvSpPr>
          <p:cNvPr id="138" name="文本框 137"/>
          <p:cNvSpPr txBox="1"/>
          <p:nvPr/>
        </p:nvSpPr>
        <p:spPr>
          <a:xfrm>
            <a:off x="6164580" y="563499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altLang="zh-CN" sz="1000" i="1">
                <a:solidFill>
                  <a:srgbClr val="383838"/>
                </a:solidFill>
                <a:latin typeface="微软雅黑"/>
                <a:ea typeface="微软雅黑"/>
                <a:cs typeface="微软雅黑"/>
              </a:rPr>
              <a:t>    </a:t>
            </a:r>
            <a:r>
              <a:rPr lang="zh-CN" altLang="en-US" sz="1000" i="1">
                <a:solidFill>
                  <a:srgbClr val="383838"/>
                </a:solidFill>
                <a:latin typeface="微软雅黑"/>
                <a:ea typeface="微软雅黑"/>
                <a:cs typeface="微软雅黑"/>
              </a:rPr>
              <a:t>数据</a:t>
            </a:r>
            <a:endParaRPr lang="zh-CN" altLang="en-US" sz="1000" i="1">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i="1">
                <a:solidFill>
                  <a:srgbClr val="383838"/>
                </a:solidFill>
                <a:latin typeface="微软雅黑"/>
                <a:ea typeface="微软雅黑"/>
                <a:cs typeface="微软雅黑"/>
              </a:rPr>
              <a:t>治理</a:t>
            </a:r>
            <a:endParaRPr lang="zh-CN" altLang="en-US" sz="1000" i="1">
              <a:solidFill>
                <a:srgbClr val="383838"/>
              </a:solidFill>
              <a:latin typeface="微软雅黑"/>
              <a:ea typeface="微软雅黑"/>
              <a:cs typeface="微软雅黑"/>
            </a:endParaRPr>
          </a:p>
        </p:txBody>
      </p:sp>
      <p:sp>
        <p:nvSpPr>
          <p:cNvPr id="139" name="文本框 138"/>
          <p:cNvSpPr txBox="1"/>
          <p:nvPr/>
        </p:nvSpPr>
        <p:spPr>
          <a:xfrm>
            <a:off x="6653530" y="563499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altLang="zh-CN" sz="1000" i="1">
                <a:solidFill>
                  <a:srgbClr val="383838"/>
                </a:solidFill>
                <a:latin typeface="微软雅黑"/>
                <a:ea typeface="微软雅黑"/>
                <a:cs typeface="微软雅黑"/>
              </a:rPr>
              <a:t>   </a:t>
            </a:r>
            <a:r>
              <a:rPr lang="zh-CN" sz="1000" i="1">
                <a:solidFill>
                  <a:srgbClr val="383838"/>
                </a:solidFill>
                <a:latin typeface="微软雅黑"/>
                <a:ea typeface="微软雅黑"/>
                <a:cs typeface="微软雅黑"/>
              </a:rPr>
              <a:t>组织</a:t>
            </a:r>
            <a:endParaRPr lang="zh-CN" sz="1000" i="1">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sz="1000" i="1">
                <a:solidFill>
                  <a:srgbClr val="383838"/>
                </a:solidFill>
                <a:latin typeface="微软雅黑"/>
                <a:ea typeface="微软雅黑"/>
                <a:cs typeface="微软雅黑"/>
              </a:rPr>
              <a:t>机制</a:t>
            </a:r>
            <a:endParaRPr lang="zh-CN" sz="1000" i="1">
              <a:solidFill>
                <a:srgbClr val="383838"/>
              </a:solidFill>
              <a:latin typeface="微软雅黑"/>
              <a:ea typeface="微软雅黑"/>
              <a:cs typeface="微软雅黑"/>
            </a:endParaRPr>
          </a:p>
        </p:txBody>
      </p:sp>
      <p:sp>
        <p:nvSpPr>
          <p:cNvPr id="140" name="文本框 139"/>
          <p:cNvSpPr txBox="1"/>
          <p:nvPr/>
        </p:nvSpPr>
        <p:spPr>
          <a:xfrm>
            <a:off x="7142480" y="563499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altLang="zh-CN" sz="1000" i="1">
                <a:solidFill>
                  <a:srgbClr val="383838"/>
                </a:solidFill>
                <a:latin typeface="微软雅黑"/>
                <a:ea typeface="微软雅黑"/>
                <a:cs typeface="微软雅黑"/>
              </a:rPr>
              <a:t>    </a:t>
            </a:r>
            <a:r>
              <a:rPr lang="zh-CN" altLang="en-US" sz="1000" i="1">
                <a:solidFill>
                  <a:srgbClr val="383838"/>
                </a:solidFill>
                <a:latin typeface="微软雅黑"/>
                <a:ea typeface="微软雅黑"/>
                <a:cs typeface="微软雅黑"/>
              </a:rPr>
              <a:t>决策</a:t>
            </a:r>
            <a:endParaRPr lang="zh-CN" altLang="en-US" sz="1000" i="1">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i="1">
                <a:solidFill>
                  <a:srgbClr val="383838"/>
                </a:solidFill>
                <a:latin typeface="微软雅黑"/>
                <a:ea typeface="微软雅黑"/>
                <a:cs typeface="微软雅黑"/>
              </a:rPr>
              <a:t>机制</a:t>
            </a:r>
            <a:endParaRPr lang="zh-CN" altLang="en-US" sz="1000" i="1">
              <a:solidFill>
                <a:srgbClr val="383838"/>
              </a:solidFill>
              <a:latin typeface="微软雅黑"/>
              <a:ea typeface="微软雅黑"/>
              <a:cs typeface="微软雅黑"/>
            </a:endParaRPr>
          </a:p>
        </p:txBody>
      </p:sp>
      <p:sp>
        <p:nvSpPr>
          <p:cNvPr id="141" name="文本框 140"/>
          <p:cNvSpPr txBox="1"/>
          <p:nvPr/>
        </p:nvSpPr>
        <p:spPr>
          <a:xfrm>
            <a:off x="7631430" y="5634990"/>
            <a:ext cx="512445" cy="337185"/>
          </a:xfrm>
          <a:prstGeom prst="rect">
            <a:avLst/>
          </a:prstGeom>
          <a:noFill/>
          <a:scene3d>
            <a:camera prst="orthographicFront">
              <a:rot lat="0" lon="0" rev="0"/>
            </a:camera>
            <a:lightRig rig="threePt" dir="t"/>
          </a:scene3d>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altLang="zh-CN" sz="1000" i="1">
                <a:solidFill>
                  <a:srgbClr val="383838"/>
                </a:solidFill>
                <a:latin typeface="微软雅黑"/>
                <a:ea typeface="微软雅黑"/>
                <a:cs typeface="微软雅黑"/>
              </a:rPr>
              <a:t>    </a:t>
            </a:r>
            <a:r>
              <a:rPr lang="zh-CN" sz="1000" i="1">
                <a:solidFill>
                  <a:srgbClr val="383838"/>
                </a:solidFill>
                <a:latin typeface="微软雅黑"/>
                <a:ea typeface="微软雅黑"/>
                <a:cs typeface="微软雅黑"/>
              </a:rPr>
              <a:t>文化</a:t>
            </a:r>
            <a:endParaRPr lang="zh-CN" sz="1000" i="1">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sz="1000" i="1">
                <a:solidFill>
                  <a:srgbClr val="383838"/>
                </a:solidFill>
                <a:latin typeface="微软雅黑"/>
                <a:ea typeface="微软雅黑"/>
                <a:cs typeface="微软雅黑"/>
              </a:rPr>
              <a:t>培育</a:t>
            </a:r>
            <a:endParaRPr lang="zh-CN" sz="1000" i="1">
              <a:solidFill>
                <a:srgbClr val="383838"/>
              </a:solidFill>
              <a:latin typeface="微软雅黑"/>
              <a:ea typeface="微软雅黑"/>
              <a:cs typeface="微软雅黑"/>
            </a:endParaRPr>
          </a:p>
        </p:txBody>
      </p:sp>
      <p:grpSp>
        <p:nvGrpSpPr>
          <p:cNvPr id="179" name="组合 178"/>
          <p:cNvGrpSpPr/>
          <p:nvPr/>
        </p:nvGrpSpPr>
        <p:grpSpPr>
          <a:xfrm>
            <a:off x="1050290" y="2349500"/>
            <a:ext cx="2925445" cy="245110"/>
            <a:chOff x="1644" y="3284"/>
            <a:chExt cx="4607" cy="386"/>
          </a:xfrm>
        </p:grpSpPr>
        <p:sp>
          <p:nvSpPr>
            <p:cNvPr id="175" name="文本框 174"/>
            <p:cNvSpPr txBox="1"/>
            <p:nvPr/>
          </p:nvSpPr>
          <p:spPr>
            <a:xfrm>
              <a:off x="1644" y="3284"/>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战略定位转移：</a:t>
              </a:r>
              <a:r>
                <a:rPr lang="zh-CN" altLang="en-US" sz="1000">
                  <a:solidFill>
                    <a:srgbClr val="383838"/>
                  </a:solidFill>
                  <a:latin typeface="微软雅黑"/>
                  <a:ea typeface="微软雅黑"/>
                  <a:cs typeface="微软雅黑"/>
                </a:rPr>
                <a:t>行业跟随</a:t>
              </a:r>
              <a:endParaRPr lang="zh-CN" altLang="en-US" sz="1000">
                <a:solidFill>
                  <a:srgbClr val="383838"/>
                </a:solidFill>
                <a:latin typeface="微软雅黑"/>
                <a:ea typeface="微软雅黑"/>
                <a:cs typeface="微软雅黑"/>
              </a:endParaRPr>
            </a:p>
          </p:txBody>
        </p:sp>
        <p:sp>
          <p:nvSpPr>
            <p:cNvPr id="176" name="文本框 175"/>
            <p:cNvSpPr txBox="1"/>
            <p:nvPr/>
          </p:nvSpPr>
          <p:spPr>
            <a:xfrm>
              <a:off x="4468" y="3284"/>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生态构建者</a:t>
              </a:r>
              <a:endParaRPr lang="zh-CN" altLang="en-US" sz="1000">
                <a:solidFill>
                  <a:srgbClr val="383838"/>
                </a:solidFill>
                <a:latin typeface="微软雅黑"/>
                <a:ea typeface="微软雅黑"/>
                <a:cs typeface="微软雅黑"/>
              </a:endParaRPr>
            </a:p>
          </p:txBody>
        </p:sp>
        <p:sp>
          <p:nvSpPr>
            <p:cNvPr id="177" name="右箭头 176"/>
            <p:cNvSpPr/>
            <p:nvPr/>
          </p:nvSpPr>
          <p:spPr>
            <a:xfrm>
              <a:off x="4238" y="3352"/>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180" name="组合 179"/>
          <p:cNvGrpSpPr/>
          <p:nvPr/>
        </p:nvGrpSpPr>
        <p:grpSpPr>
          <a:xfrm>
            <a:off x="1050290" y="2640330"/>
            <a:ext cx="2925445" cy="245110"/>
            <a:chOff x="1644" y="3284"/>
            <a:chExt cx="4607" cy="386"/>
          </a:xfrm>
        </p:grpSpPr>
        <p:sp>
          <p:nvSpPr>
            <p:cNvPr id="181" name="文本框 180"/>
            <p:cNvSpPr txBox="1"/>
            <p:nvPr/>
          </p:nvSpPr>
          <p:spPr>
            <a:xfrm>
              <a:off x="1644" y="3284"/>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增长逻辑升级：</a:t>
              </a:r>
              <a:r>
                <a:rPr lang="zh-CN" altLang="en-US" sz="1000">
                  <a:solidFill>
                    <a:srgbClr val="383838"/>
                  </a:solidFill>
                  <a:latin typeface="微软雅黑"/>
                  <a:ea typeface="微软雅黑"/>
                  <a:cs typeface="微软雅黑"/>
                </a:rPr>
                <a:t>线性增长</a:t>
              </a:r>
              <a:endParaRPr lang="zh-CN" altLang="en-US" sz="1000">
                <a:solidFill>
                  <a:srgbClr val="383838"/>
                </a:solidFill>
                <a:latin typeface="微软雅黑"/>
                <a:ea typeface="微软雅黑"/>
                <a:cs typeface="微软雅黑"/>
              </a:endParaRPr>
            </a:p>
          </p:txBody>
        </p:sp>
        <p:sp>
          <p:nvSpPr>
            <p:cNvPr id="182" name="文本框 181"/>
            <p:cNvSpPr txBox="1"/>
            <p:nvPr/>
          </p:nvSpPr>
          <p:spPr>
            <a:xfrm>
              <a:off x="4468" y="3284"/>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指数增长</a:t>
              </a:r>
              <a:endParaRPr lang="zh-CN" altLang="en-US" sz="1000">
                <a:solidFill>
                  <a:srgbClr val="383838"/>
                </a:solidFill>
                <a:latin typeface="微软雅黑"/>
                <a:ea typeface="微软雅黑"/>
                <a:cs typeface="微软雅黑"/>
              </a:endParaRPr>
            </a:p>
          </p:txBody>
        </p:sp>
        <p:sp>
          <p:nvSpPr>
            <p:cNvPr id="183" name="右箭头 182"/>
            <p:cNvSpPr/>
            <p:nvPr/>
          </p:nvSpPr>
          <p:spPr>
            <a:xfrm>
              <a:off x="4238" y="3352"/>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cxnSp>
        <p:nvCxnSpPr>
          <p:cNvPr id="184" name="直接连接符 183"/>
          <p:cNvCxnSpPr/>
          <p:nvPr/>
        </p:nvCxnSpPr>
        <p:spPr>
          <a:xfrm flipV="1">
            <a:off x="481330" y="4069715"/>
            <a:ext cx="2899410" cy="8890"/>
          </a:xfrm>
          <a:prstGeom prst="line">
            <a:avLst/>
          </a:prstGeom>
          <a:ln>
            <a:solidFill>
              <a:srgbClr val="0042FF"/>
            </a:solidFill>
            <a:tailEnd type="oval"/>
          </a:ln>
        </p:spPr>
        <p:style>
          <a:lnRef idx="2">
            <a:srgbClr val="0042FF"/>
          </a:lnRef>
          <a:fillRef idx="0">
            <a:srgbClr val="FFFFFF"/>
          </a:fillRef>
          <a:effectRef idx="0">
            <a:srgbClr val="FFFFFF"/>
          </a:effectRef>
          <a:fontRef idx="minor">
            <a:srgbClr val="383838"/>
          </a:fontRef>
        </p:style>
      </p:cxnSp>
      <p:sp>
        <p:nvSpPr>
          <p:cNvPr id="185" name="文本框 184"/>
          <p:cNvSpPr txBox="1"/>
          <p:nvPr/>
        </p:nvSpPr>
        <p:spPr>
          <a:xfrm>
            <a:off x="756285" y="3737610"/>
            <a:ext cx="2321560" cy="27559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200" b="1">
                <a:solidFill>
                  <a:srgbClr val="0042FF"/>
                </a:solidFill>
                <a:latin typeface="微软雅黑"/>
                <a:ea typeface="微软雅黑"/>
                <a:cs typeface="微软雅黑"/>
              </a:rPr>
              <a:t> </a:t>
            </a:r>
            <a:r>
              <a:rPr lang="zh-CN" altLang="en-US" sz="1200" b="1">
                <a:solidFill>
                  <a:srgbClr val="0042FF"/>
                </a:solidFill>
                <a:latin typeface="微软雅黑"/>
                <a:ea typeface="微软雅黑"/>
                <a:cs typeface="微软雅黑"/>
              </a:rPr>
              <a:t>战略重构：重塑价值内核</a:t>
            </a:r>
            <a:endParaRPr lang="zh-CN" altLang="en-US" sz="1200" b="1">
              <a:solidFill>
                <a:srgbClr val="0042FF"/>
              </a:solidFill>
              <a:latin typeface="微软雅黑"/>
              <a:ea typeface="微软雅黑"/>
              <a:cs typeface="微软雅黑"/>
            </a:endParaRPr>
          </a:p>
        </p:txBody>
      </p:sp>
      <p:sp>
        <p:nvSpPr>
          <p:cNvPr id="186" name="Rectangle: Top Corners Rounded 32"/>
          <p:cNvSpPr/>
          <p:nvPr/>
        </p:nvSpPr>
        <p:spPr>
          <a:xfrm>
            <a:off x="515312" y="3737435"/>
            <a:ext cx="241202" cy="241013"/>
          </a:xfrm>
          <a:prstGeom prst="ellipse">
            <a:avLst/>
          </a:prstGeom>
          <a:solidFill>
            <a:srgbClr val="0042FF"/>
          </a:solidFill>
          <a:ln w="9525" cap="flat" cmpd="sng" algn="ctr">
            <a:noFill/>
            <a:prstDash val="solid"/>
            <a:miter lim="800000"/>
          </a:ln>
          <a:effectLst>
            <a:outerShdw blurRad="50800" dist="38100" dir="2700000" algn="tl" rotWithShape="0">
              <a:prstClr val="black">
                <a:alpha val="40000"/>
              </a:prstClr>
            </a:outerShdw>
          </a:effectLst>
        </p:spPr>
        <p:txBody>
          <a:bodyPr rtlCol="0" anchor="ctr"/>
          <a:p>
            <a:pPr algn="ctr">
              <a:defRPr>
                <a:solidFill>
                  <a:srgbClr val="FFFFFF"/>
                </a:solidFill>
                <a:latin typeface="微软雅黑"/>
                <a:ea typeface="微软雅黑"/>
                <a:cs typeface="微软雅黑"/>
              </a:defRPr>
            </a:pPr>
            <a:r>
              <a:rPr lang="en-US" sz="1050" kern="0">
                <a:solidFill>
                  <a:srgbClr val="FFFFFF"/>
                </a:solidFill>
                <a:latin typeface="微软雅黑"/>
                <a:ea typeface="微软雅黑"/>
                <a:cs typeface="微软雅黑"/>
                <a:sym typeface="微软雅黑"/>
              </a:rPr>
              <a:t>2</a:t>
            </a:r>
            <a:endParaRPr lang="en-US" sz="1050" kern="0" dirty="0">
              <a:solidFill>
                <a:srgbClr val="FFFFFF"/>
              </a:solidFill>
              <a:latin typeface="微软雅黑"/>
              <a:ea typeface="微软雅黑"/>
              <a:cs typeface="微软雅黑"/>
              <a:sym typeface="微软雅黑"/>
            </a:endParaRPr>
          </a:p>
        </p:txBody>
      </p:sp>
      <p:grpSp>
        <p:nvGrpSpPr>
          <p:cNvPr id="187" name="组合 186"/>
          <p:cNvGrpSpPr/>
          <p:nvPr/>
        </p:nvGrpSpPr>
        <p:grpSpPr>
          <a:xfrm>
            <a:off x="446405" y="4184015"/>
            <a:ext cx="2605405" cy="252730"/>
            <a:chOff x="1510" y="2840"/>
            <a:chExt cx="4103" cy="398"/>
          </a:xfrm>
        </p:grpSpPr>
        <p:sp>
          <p:nvSpPr>
            <p:cNvPr id="188" name="文本框 187"/>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能力维度：</a:t>
              </a:r>
              <a:r>
                <a:rPr lang="zh-CN" altLang="en-US" sz="1000">
                  <a:solidFill>
                    <a:srgbClr val="383838"/>
                  </a:solidFill>
                  <a:latin typeface="微软雅黑"/>
                  <a:ea typeface="微软雅黑"/>
                  <a:cs typeface="微软雅黑"/>
                </a:rPr>
                <a:t>机械执行</a:t>
              </a:r>
              <a:endParaRPr lang="zh-CN" altLang="en-US" sz="1000">
                <a:solidFill>
                  <a:srgbClr val="383838"/>
                </a:solidFill>
                <a:latin typeface="微软雅黑"/>
                <a:ea typeface="微软雅黑"/>
                <a:cs typeface="微软雅黑"/>
              </a:endParaRPr>
            </a:p>
          </p:txBody>
        </p:sp>
        <p:sp>
          <p:nvSpPr>
            <p:cNvPr id="189" name="文本框 188"/>
            <p:cNvSpPr txBox="1"/>
            <p:nvPr/>
          </p:nvSpPr>
          <p:spPr>
            <a:xfrm>
              <a:off x="3830"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智能决策能力</a:t>
              </a:r>
              <a:endParaRPr lang="zh-CN" altLang="en-US" sz="1000">
                <a:solidFill>
                  <a:srgbClr val="383838"/>
                </a:solidFill>
                <a:latin typeface="微软雅黑"/>
                <a:ea typeface="微软雅黑"/>
                <a:cs typeface="微软雅黑"/>
              </a:endParaRPr>
            </a:p>
          </p:txBody>
        </p:sp>
        <p:sp>
          <p:nvSpPr>
            <p:cNvPr id="190" name="右箭头 189"/>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200" name="组合 199"/>
          <p:cNvGrpSpPr/>
          <p:nvPr/>
        </p:nvGrpSpPr>
        <p:grpSpPr>
          <a:xfrm>
            <a:off x="446405" y="4437380"/>
            <a:ext cx="2605405" cy="252730"/>
            <a:chOff x="1510" y="2840"/>
            <a:chExt cx="4103" cy="398"/>
          </a:xfrm>
        </p:grpSpPr>
        <p:sp>
          <p:nvSpPr>
            <p:cNvPr id="201" name="文本框 200"/>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技术架构：</a:t>
              </a:r>
              <a:r>
                <a:rPr lang="zh-CN" altLang="en-US" sz="1000">
                  <a:solidFill>
                    <a:srgbClr val="383838"/>
                  </a:solidFill>
                  <a:latin typeface="微软雅黑"/>
                  <a:ea typeface="微软雅黑"/>
                  <a:cs typeface="微软雅黑"/>
                </a:rPr>
                <a:t>信息系统</a:t>
              </a:r>
              <a:endParaRPr lang="zh-CN" altLang="en-US" sz="1000">
                <a:solidFill>
                  <a:srgbClr val="383838"/>
                </a:solidFill>
                <a:latin typeface="微软雅黑"/>
                <a:ea typeface="微软雅黑"/>
                <a:cs typeface="微软雅黑"/>
              </a:endParaRPr>
            </a:p>
          </p:txBody>
        </p:sp>
        <p:sp>
          <p:nvSpPr>
            <p:cNvPr id="202" name="文本框 201"/>
            <p:cNvSpPr txBox="1"/>
            <p:nvPr/>
          </p:nvSpPr>
          <p:spPr>
            <a:xfrm>
              <a:off x="3830"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数字孪生体系</a:t>
              </a:r>
              <a:endParaRPr lang="zh-CN" altLang="en-US" sz="1000">
                <a:solidFill>
                  <a:srgbClr val="383838"/>
                </a:solidFill>
                <a:latin typeface="微软雅黑"/>
                <a:ea typeface="微软雅黑"/>
                <a:cs typeface="微软雅黑"/>
              </a:endParaRPr>
            </a:p>
          </p:txBody>
        </p:sp>
        <p:sp>
          <p:nvSpPr>
            <p:cNvPr id="203" name="右箭头 202"/>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204" name="组合 203"/>
          <p:cNvGrpSpPr/>
          <p:nvPr/>
        </p:nvGrpSpPr>
        <p:grpSpPr>
          <a:xfrm>
            <a:off x="446405" y="4708525"/>
            <a:ext cx="2605405" cy="252730"/>
            <a:chOff x="1510" y="2840"/>
            <a:chExt cx="4103" cy="398"/>
          </a:xfrm>
        </p:grpSpPr>
        <p:sp>
          <p:nvSpPr>
            <p:cNvPr id="205" name="文本框 204"/>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迭代机制：</a:t>
              </a:r>
              <a:r>
                <a:rPr lang="zh-CN" altLang="en-US" sz="1000">
                  <a:solidFill>
                    <a:srgbClr val="383838"/>
                  </a:solidFill>
                  <a:latin typeface="微软雅黑"/>
                  <a:ea typeface="微软雅黑"/>
                  <a:cs typeface="微软雅黑"/>
                </a:rPr>
                <a:t>常规开发</a:t>
              </a:r>
              <a:endParaRPr lang="zh-CN" altLang="en-US" sz="1000">
                <a:solidFill>
                  <a:srgbClr val="383838"/>
                </a:solidFill>
                <a:latin typeface="微软雅黑"/>
                <a:ea typeface="微软雅黑"/>
                <a:cs typeface="微软雅黑"/>
              </a:endParaRPr>
            </a:p>
          </p:txBody>
        </p:sp>
        <p:sp>
          <p:nvSpPr>
            <p:cNvPr id="206" name="文本框 205"/>
            <p:cNvSpPr txBox="1"/>
            <p:nvPr/>
          </p:nvSpPr>
          <p:spPr>
            <a:xfrm>
              <a:off x="3830"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敏捷迭代能力</a:t>
              </a:r>
              <a:endParaRPr lang="zh-CN" altLang="en-US" sz="1000">
                <a:solidFill>
                  <a:srgbClr val="383838"/>
                </a:solidFill>
                <a:latin typeface="微软雅黑"/>
                <a:ea typeface="微软雅黑"/>
                <a:cs typeface="微软雅黑"/>
              </a:endParaRPr>
            </a:p>
          </p:txBody>
        </p:sp>
        <p:sp>
          <p:nvSpPr>
            <p:cNvPr id="207" name="右箭头 206"/>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cxnSp>
        <p:nvCxnSpPr>
          <p:cNvPr id="208" name="直接连接符 207"/>
          <p:cNvCxnSpPr/>
          <p:nvPr/>
        </p:nvCxnSpPr>
        <p:spPr>
          <a:xfrm>
            <a:off x="944880" y="5748655"/>
            <a:ext cx="2463165" cy="10160"/>
          </a:xfrm>
          <a:prstGeom prst="line">
            <a:avLst/>
          </a:prstGeom>
          <a:ln>
            <a:solidFill>
              <a:srgbClr val="3368FF"/>
            </a:solidFill>
            <a:tailEnd type="oval"/>
          </a:ln>
        </p:spPr>
        <p:style>
          <a:lnRef idx="2">
            <a:srgbClr val="0042FF"/>
          </a:lnRef>
          <a:fillRef idx="0">
            <a:srgbClr val="FFFFFF"/>
          </a:fillRef>
          <a:effectRef idx="0">
            <a:srgbClr val="FFFFFF"/>
          </a:effectRef>
          <a:fontRef idx="minor">
            <a:srgbClr val="383838"/>
          </a:fontRef>
        </p:style>
      </p:cxnSp>
      <p:sp>
        <p:nvSpPr>
          <p:cNvPr id="209" name="文本框 208"/>
          <p:cNvSpPr txBox="1"/>
          <p:nvPr/>
        </p:nvSpPr>
        <p:spPr>
          <a:xfrm>
            <a:off x="1251585" y="5402580"/>
            <a:ext cx="2321560" cy="27559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en-US" sz="1200" b="1">
                <a:solidFill>
                  <a:srgbClr val="0042FF"/>
                </a:solidFill>
                <a:latin typeface="微软雅黑"/>
                <a:ea typeface="微软雅黑"/>
                <a:cs typeface="微软雅黑"/>
              </a:rPr>
              <a:t> </a:t>
            </a:r>
            <a:r>
              <a:rPr lang="zh-CN" altLang="en-US" sz="1200" b="1">
                <a:solidFill>
                  <a:srgbClr val="0042FF"/>
                </a:solidFill>
                <a:latin typeface="微软雅黑"/>
                <a:ea typeface="微软雅黑"/>
                <a:cs typeface="微软雅黑"/>
              </a:rPr>
              <a:t>技术融合：打造赋能体系</a:t>
            </a:r>
            <a:endParaRPr lang="zh-CN" altLang="en-US" sz="1200" b="1">
              <a:solidFill>
                <a:srgbClr val="0042FF"/>
              </a:solidFill>
              <a:latin typeface="微软雅黑"/>
              <a:ea typeface="微软雅黑"/>
              <a:cs typeface="微软雅黑"/>
            </a:endParaRPr>
          </a:p>
        </p:txBody>
      </p:sp>
      <p:sp>
        <p:nvSpPr>
          <p:cNvPr id="210" name="Rectangle: Top Corners Rounded 32"/>
          <p:cNvSpPr/>
          <p:nvPr/>
        </p:nvSpPr>
        <p:spPr>
          <a:xfrm>
            <a:off x="1010612" y="5402405"/>
            <a:ext cx="241202" cy="241013"/>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a:p>
            <a:pPr algn="ctr">
              <a:defRPr>
                <a:solidFill>
                  <a:srgbClr val="FFFFFF"/>
                </a:solidFill>
                <a:latin typeface="微软雅黑"/>
                <a:ea typeface="微软雅黑"/>
                <a:cs typeface="微软雅黑"/>
              </a:defRPr>
            </a:pPr>
            <a:r>
              <a:rPr lang="en-US" sz="1050" kern="0">
                <a:solidFill>
                  <a:srgbClr val="FFFFFF"/>
                </a:solidFill>
                <a:latin typeface="微软雅黑"/>
                <a:ea typeface="微软雅黑"/>
                <a:cs typeface="微软雅黑"/>
                <a:sym typeface="微软雅黑"/>
              </a:rPr>
              <a:t>3</a:t>
            </a:r>
            <a:endParaRPr lang="en-US" sz="1050" kern="0" dirty="0">
              <a:solidFill>
                <a:srgbClr val="FFFFFF"/>
              </a:solidFill>
              <a:latin typeface="微软雅黑"/>
              <a:ea typeface="微软雅黑"/>
              <a:cs typeface="微软雅黑"/>
              <a:sym typeface="微软雅黑"/>
            </a:endParaRPr>
          </a:p>
        </p:txBody>
      </p:sp>
      <p:sp>
        <p:nvSpPr>
          <p:cNvPr id="212" name="文本框 211"/>
          <p:cNvSpPr txBox="1"/>
          <p:nvPr/>
        </p:nvSpPr>
        <p:spPr>
          <a:xfrm>
            <a:off x="977265" y="5856605"/>
            <a:ext cx="2533015" cy="245110"/>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基础架构：</a:t>
            </a:r>
            <a:r>
              <a:rPr lang="zh-CN" altLang="en-US" sz="1000">
                <a:solidFill>
                  <a:srgbClr val="383838"/>
                </a:solidFill>
                <a:latin typeface="微软雅黑"/>
                <a:ea typeface="微软雅黑"/>
                <a:cs typeface="微软雅黑"/>
              </a:rPr>
              <a:t>云计算</a:t>
            </a:r>
            <a:r>
              <a:rPr lang="en-US" altLang="zh-CN" sz="1000">
                <a:solidFill>
                  <a:srgbClr val="383838"/>
                </a:solidFill>
                <a:latin typeface="微软雅黑"/>
                <a:ea typeface="微软雅黑"/>
                <a:cs typeface="微软雅黑"/>
              </a:rPr>
              <a:t>+5G+</a:t>
            </a:r>
            <a:r>
              <a:rPr lang="zh-CN" altLang="en-US" sz="1000">
                <a:solidFill>
                  <a:srgbClr val="383838"/>
                </a:solidFill>
                <a:latin typeface="微软雅黑"/>
                <a:ea typeface="微软雅黑"/>
                <a:cs typeface="微软雅黑"/>
              </a:rPr>
              <a:t>物联网</a:t>
            </a:r>
            <a:endParaRPr lang="zh-CN" altLang="en-US" sz="1000">
              <a:solidFill>
                <a:srgbClr val="383838"/>
              </a:solidFill>
              <a:latin typeface="微软雅黑"/>
              <a:ea typeface="微软雅黑"/>
              <a:cs typeface="微软雅黑"/>
            </a:endParaRPr>
          </a:p>
        </p:txBody>
      </p:sp>
      <p:sp>
        <p:nvSpPr>
          <p:cNvPr id="223" name="文本框 222"/>
          <p:cNvSpPr txBox="1"/>
          <p:nvPr/>
        </p:nvSpPr>
        <p:spPr>
          <a:xfrm>
            <a:off x="977265" y="6116955"/>
            <a:ext cx="2533015" cy="245110"/>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中枢系统：</a:t>
            </a:r>
            <a:r>
              <a:rPr lang="zh-CN" altLang="en-US" sz="1000">
                <a:solidFill>
                  <a:srgbClr val="383838"/>
                </a:solidFill>
                <a:latin typeface="微软雅黑"/>
                <a:ea typeface="微软雅黑"/>
                <a:cs typeface="微软雅黑"/>
              </a:rPr>
              <a:t>大数据平台与</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算法中台</a:t>
            </a:r>
            <a:endParaRPr lang="zh-CN" altLang="en-US" sz="1000">
              <a:solidFill>
                <a:srgbClr val="383838"/>
              </a:solidFill>
              <a:latin typeface="微软雅黑"/>
              <a:ea typeface="微软雅黑"/>
              <a:cs typeface="微软雅黑"/>
            </a:endParaRPr>
          </a:p>
        </p:txBody>
      </p:sp>
      <p:sp>
        <p:nvSpPr>
          <p:cNvPr id="224" name="文本框 223"/>
          <p:cNvSpPr txBox="1"/>
          <p:nvPr/>
        </p:nvSpPr>
        <p:spPr>
          <a:xfrm>
            <a:off x="977265" y="6362065"/>
            <a:ext cx="2785745" cy="398780"/>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应用矩阵：</a:t>
            </a:r>
            <a:r>
              <a:rPr lang="zh-CN" altLang="en-US" sz="1000">
                <a:solidFill>
                  <a:srgbClr val="383838"/>
                </a:solidFill>
                <a:latin typeface="微软雅黑"/>
                <a:ea typeface="微软雅黑"/>
                <a:cs typeface="微软雅黑"/>
              </a:rPr>
              <a:t>智能工厂</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智慧供应链</a:t>
            </a:r>
            <a:endParaRPr lang="zh-CN" altLang="en-US" sz="1000">
              <a:solidFill>
                <a:srgbClr val="383838"/>
              </a:solidFill>
              <a:latin typeface="微软雅黑"/>
              <a:ea typeface="微软雅黑"/>
              <a:cs typeface="微软雅黑"/>
            </a:endParaRPr>
          </a:p>
          <a:p>
            <a:pPr algn="l">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cxnSp>
        <p:nvCxnSpPr>
          <p:cNvPr id="225" name="直接连接符 224"/>
          <p:cNvCxnSpPr/>
          <p:nvPr/>
        </p:nvCxnSpPr>
        <p:spPr>
          <a:xfrm flipV="1">
            <a:off x="8817610" y="5402580"/>
            <a:ext cx="2494280" cy="13970"/>
          </a:xfrm>
          <a:prstGeom prst="line">
            <a:avLst/>
          </a:prstGeom>
          <a:ln>
            <a:solidFill>
              <a:srgbClr val="B3D4FE"/>
            </a:solidFill>
            <a:headEnd type="oval"/>
            <a:tailEnd type="none"/>
          </a:ln>
        </p:spPr>
        <p:style>
          <a:lnRef idx="2">
            <a:srgbClr val="0042FF"/>
          </a:lnRef>
          <a:fillRef idx="0">
            <a:srgbClr val="FFFFFF"/>
          </a:fillRef>
          <a:effectRef idx="0">
            <a:srgbClr val="FFFFFF"/>
          </a:effectRef>
          <a:fontRef idx="minor">
            <a:srgbClr val="383838"/>
          </a:fontRef>
        </p:style>
      </p:cxnSp>
      <p:sp>
        <p:nvSpPr>
          <p:cNvPr id="226" name="文本框 225"/>
          <p:cNvSpPr txBox="1"/>
          <p:nvPr/>
        </p:nvSpPr>
        <p:spPr>
          <a:xfrm>
            <a:off x="9345295" y="5076825"/>
            <a:ext cx="2321560" cy="27559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治理革新：构建敏捷机制</a:t>
            </a:r>
            <a:endParaRPr lang="zh-CN" altLang="en-US" sz="1200" b="1">
              <a:solidFill>
                <a:srgbClr val="0042FF"/>
              </a:solidFill>
              <a:latin typeface="微软雅黑"/>
              <a:ea typeface="微软雅黑"/>
              <a:cs typeface="微软雅黑"/>
            </a:endParaRPr>
          </a:p>
        </p:txBody>
      </p:sp>
      <p:sp>
        <p:nvSpPr>
          <p:cNvPr id="227" name="Rectangle: Top Corners Rounded 32"/>
          <p:cNvSpPr/>
          <p:nvPr/>
        </p:nvSpPr>
        <p:spPr>
          <a:xfrm>
            <a:off x="9104322" y="5076650"/>
            <a:ext cx="241202" cy="241013"/>
          </a:xfrm>
          <a:prstGeom prst="ellipse">
            <a:avLst/>
          </a:prstGeom>
          <a:solidFill>
            <a:srgbClr val="B3D4FE"/>
          </a:solidFill>
          <a:ln w="9525" cap="flat" cmpd="sng" algn="ctr">
            <a:noFill/>
            <a:prstDash val="solid"/>
            <a:miter lim="800000"/>
          </a:ln>
          <a:effectLst>
            <a:outerShdw blurRad="50800" dist="38100" dir="2700000" algn="tl" rotWithShape="0">
              <a:prstClr val="black">
                <a:alpha val="40000"/>
              </a:prstClr>
            </a:outerShdw>
          </a:effectLst>
        </p:spPr>
        <p:txBody>
          <a:bodyPr rtlCol="0" anchor="ctr"/>
          <a:p>
            <a:pPr algn="ctr">
              <a:defRPr>
                <a:latin typeface="微软雅黑"/>
                <a:ea typeface="微软雅黑"/>
                <a:cs typeface="微软雅黑"/>
              </a:defRPr>
            </a:pPr>
            <a:r>
              <a:rPr lang="en-US" sz="1050" kern="0">
                <a:solidFill>
                  <a:srgbClr val="383838"/>
                </a:solidFill>
                <a:latin typeface="微软雅黑"/>
                <a:ea typeface="微软雅黑"/>
                <a:cs typeface="微软雅黑"/>
                <a:sym typeface="微软雅黑"/>
              </a:rPr>
              <a:t>4</a:t>
            </a:r>
            <a:endParaRPr lang="en-US" sz="1050" kern="0" dirty="0">
              <a:solidFill>
                <a:srgbClr val="383838"/>
              </a:solidFill>
              <a:latin typeface="微软雅黑"/>
              <a:ea typeface="微软雅黑"/>
              <a:cs typeface="微软雅黑"/>
              <a:sym typeface="微软雅黑"/>
            </a:endParaRPr>
          </a:p>
        </p:txBody>
      </p:sp>
      <p:grpSp>
        <p:nvGrpSpPr>
          <p:cNvPr id="228" name="组合 227"/>
          <p:cNvGrpSpPr/>
          <p:nvPr/>
        </p:nvGrpSpPr>
        <p:grpSpPr>
          <a:xfrm>
            <a:off x="8766175" y="5577205"/>
            <a:ext cx="2605405" cy="252730"/>
            <a:chOff x="1510" y="2840"/>
            <a:chExt cx="4103" cy="398"/>
          </a:xfrm>
        </p:grpSpPr>
        <p:sp>
          <p:nvSpPr>
            <p:cNvPr id="229" name="文本框 228"/>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组织形态：</a:t>
              </a:r>
              <a:r>
                <a:rPr lang="zh-CN" altLang="en-US" sz="1000">
                  <a:solidFill>
                    <a:srgbClr val="383838"/>
                  </a:solidFill>
                  <a:latin typeface="微软雅黑"/>
                  <a:ea typeface="微软雅黑"/>
                  <a:cs typeface="微软雅黑"/>
                </a:rPr>
                <a:t>层架架构</a:t>
              </a:r>
              <a:endParaRPr lang="zh-CN" altLang="en-US" sz="1000">
                <a:solidFill>
                  <a:srgbClr val="383838"/>
                </a:solidFill>
                <a:latin typeface="微软雅黑"/>
                <a:ea typeface="微软雅黑"/>
                <a:cs typeface="微软雅黑"/>
              </a:endParaRPr>
            </a:p>
          </p:txBody>
        </p:sp>
        <p:sp>
          <p:nvSpPr>
            <p:cNvPr id="230" name="文本框 229"/>
            <p:cNvSpPr txBox="1"/>
            <p:nvPr/>
          </p:nvSpPr>
          <p:spPr>
            <a:xfrm>
              <a:off x="3830"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平台型组织</a:t>
              </a:r>
              <a:endParaRPr lang="zh-CN" altLang="en-US" sz="1000">
                <a:solidFill>
                  <a:srgbClr val="383838"/>
                </a:solidFill>
                <a:latin typeface="微软雅黑"/>
                <a:ea typeface="微软雅黑"/>
                <a:cs typeface="微软雅黑"/>
              </a:endParaRPr>
            </a:p>
          </p:txBody>
        </p:sp>
        <p:sp>
          <p:nvSpPr>
            <p:cNvPr id="231" name="右箭头 230"/>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232" name="组合 231"/>
          <p:cNvGrpSpPr/>
          <p:nvPr/>
        </p:nvGrpSpPr>
        <p:grpSpPr>
          <a:xfrm>
            <a:off x="8766175" y="5830570"/>
            <a:ext cx="2605405" cy="252730"/>
            <a:chOff x="1510" y="2840"/>
            <a:chExt cx="4103" cy="398"/>
          </a:xfrm>
        </p:grpSpPr>
        <p:sp>
          <p:nvSpPr>
            <p:cNvPr id="233" name="文本框 232"/>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决策机制：</a:t>
              </a:r>
              <a:r>
                <a:rPr lang="zh-CN" altLang="en-US" sz="1000">
                  <a:solidFill>
                    <a:srgbClr val="383838"/>
                  </a:solidFill>
                  <a:latin typeface="微软雅黑"/>
                  <a:ea typeface="微软雅黑"/>
                  <a:cs typeface="微软雅黑"/>
                </a:rPr>
                <a:t>经验决策</a:t>
              </a:r>
              <a:endParaRPr lang="zh-CN" altLang="en-US" sz="1000">
                <a:solidFill>
                  <a:srgbClr val="383838"/>
                </a:solidFill>
                <a:latin typeface="微软雅黑"/>
                <a:ea typeface="微软雅黑"/>
                <a:cs typeface="微软雅黑"/>
              </a:endParaRPr>
            </a:p>
          </p:txBody>
        </p:sp>
        <p:sp>
          <p:nvSpPr>
            <p:cNvPr id="234" name="文本框 233"/>
            <p:cNvSpPr txBox="1"/>
            <p:nvPr/>
          </p:nvSpPr>
          <p:spPr>
            <a:xfrm>
              <a:off x="3830"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数据驱动</a:t>
              </a:r>
              <a:endParaRPr lang="zh-CN" altLang="en-US" sz="1000">
                <a:solidFill>
                  <a:srgbClr val="383838"/>
                </a:solidFill>
                <a:latin typeface="微软雅黑"/>
                <a:ea typeface="微软雅黑"/>
                <a:cs typeface="微软雅黑"/>
              </a:endParaRPr>
            </a:p>
          </p:txBody>
        </p:sp>
        <p:sp>
          <p:nvSpPr>
            <p:cNvPr id="235" name="右箭头 234"/>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236" name="组合 235"/>
          <p:cNvGrpSpPr/>
          <p:nvPr/>
        </p:nvGrpSpPr>
        <p:grpSpPr>
          <a:xfrm>
            <a:off x="8766175" y="6101715"/>
            <a:ext cx="2605405" cy="252730"/>
            <a:chOff x="1510" y="2840"/>
            <a:chExt cx="4103" cy="398"/>
          </a:xfrm>
        </p:grpSpPr>
        <p:sp>
          <p:nvSpPr>
            <p:cNvPr id="237" name="文本框 236"/>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风控体系：</a:t>
              </a:r>
              <a:r>
                <a:rPr lang="zh-CN" altLang="en-US" sz="1000">
                  <a:solidFill>
                    <a:srgbClr val="383838"/>
                  </a:solidFill>
                  <a:latin typeface="微软雅黑"/>
                  <a:ea typeface="微软雅黑"/>
                  <a:cs typeface="微软雅黑"/>
                </a:rPr>
                <a:t>合规管理</a:t>
              </a:r>
              <a:endParaRPr lang="zh-CN" altLang="en-US" sz="1000">
                <a:solidFill>
                  <a:srgbClr val="383838"/>
                </a:solidFill>
                <a:latin typeface="微软雅黑"/>
                <a:ea typeface="微软雅黑"/>
                <a:cs typeface="微软雅黑"/>
              </a:endParaRPr>
            </a:p>
          </p:txBody>
        </p:sp>
        <p:sp>
          <p:nvSpPr>
            <p:cNvPr id="238" name="文本框 237"/>
            <p:cNvSpPr txBox="1"/>
            <p:nvPr/>
          </p:nvSpPr>
          <p:spPr>
            <a:xfrm>
              <a:off x="3830"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智能风控</a:t>
              </a:r>
              <a:endParaRPr lang="zh-CN" altLang="en-US" sz="1000">
                <a:solidFill>
                  <a:srgbClr val="383838"/>
                </a:solidFill>
                <a:latin typeface="微软雅黑"/>
                <a:ea typeface="微软雅黑"/>
                <a:cs typeface="微软雅黑"/>
              </a:endParaRPr>
            </a:p>
          </p:txBody>
        </p:sp>
        <p:sp>
          <p:nvSpPr>
            <p:cNvPr id="239" name="右箭头 238"/>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cxnSp>
        <p:nvCxnSpPr>
          <p:cNvPr id="240" name="直接连接符 239"/>
          <p:cNvCxnSpPr/>
          <p:nvPr/>
        </p:nvCxnSpPr>
        <p:spPr>
          <a:xfrm flipV="1">
            <a:off x="9093835" y="2789555"/>
            <a:ext cx="2494280" cy="13970"/>
          </a:xfrm>
          <a:prstGeom prst="line">
            <a:avLst/>
          </a:prstGeom>
          <a:ln>
            <a:solidFill>
              <a:srgbClr val="3368FF"/>
            </a:solidFill>
            <a:headEnd type="oval"/>
            <a:tailEnd type="none"/>
          </a:ln>
        </p:spPr>
        <p:style>
          <a:lnRef idx="2">
            <a:srgbClr val="0042FF"/>
          </a:lnRef>
          <a:fillRef idx="0">
            <a:srgbClr val="FFFFFF"/>
          </a:fillRef>
          <a:effectRef idx="0">
            <a:srgbClr val="FFFFFF"/>
          </a:effectRef>
          <a:fontRef idx="minor">
            <a:srgbClr val="383838"/>
          </a:fontRef>
        </p:style>
      </p:cxnSp>
      <p:sp>
        <p:nvSpPr>
          <p:cNvPr id="241" name="文本框 240"/>
          <p:cNvSpPr txBox="1"/>
          <p:nvPr/>
        </p:nvSpPr>
        <p:spPr>
          <a:xfrm>
            <a:off x="9523730" y="2463800"/>
            <a:ext cx="2321560" cy="275590"/>
          </a:xfrm>
          <a:prstGeom prst="rect">
            <a:avLst/>
          </a:prstGeom>
          <a:noFill/>
          <a:scene3d>
            <a:camera prst="orthographicFront">
              <a:rot lat="0" lon="0" rev="0"/>
            </a:camera>
            <a:lightRig rig="threePt" dir="t"/>
          </a:scene3d>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价值跃迁：实现第二曲线</a:t>
            </a:r>
            <a:endParaRPr lang="zh-CN" altLang="en-US" sz="1200" b="1">
              <a:solidFill>
                <a:srgbClr val="0042FF"/>
              </a:solidFill>
              <a:latin typeface="微软雅黑"/>
              <a:ea typeface="微软雅黑"/>
              <a:cs typeface="微软雅黑"/>
            </a:endParaRPr>
          </a:p>
        </p:txBody>
      </p:sp>
      <p:sp>
        <p:nvSpPr>
          <p:cNvPr id="242" name="Rectangle: Top Corners Rounded 32"/>
          <p:cNvSpPr/>
          <p:nvPr/>
        </p:nvSpPr>
        <p:spPr>
          <a:xfrm>
            <a:off x="9282757" y="2463625"/>
            <a:ext cx="241202" cy="241013"/>
          </a:xfrm>
          <a:prstGeom prst="ellipse">
            <a:avLst/>
          </a:prstGeom>
          <a:solidFill>
            <a:srgbClr val="3368FF"/>
          </a:solidFill>
          <a:ln w="9525" cap="flat" cmpd="sng" algn="ctr">
            <a:noFill/>
            <a:prstDash val="solid"/>
            <a:miter lim="800000"/>
          </a:ln>
          <a:effectLst>
            <a:outerShdw blurRad="50800" dist="38100" dir="2700000" algn="tl" rotWithShape="0">
              <a:prstClr val="black">
                <a:alpha val="40000"/>
              </a:prstClr>
            </a:outerShdw>
          </a:effectLst>
        </p:spPr>
        <p:txBody>
          <a:bodyPr rtlCol="0" anchor="ctr"/>
          <a:p>
            <a:pPr algn="ctr">
              <a:defRPr>
                <a:solidFill>
                  <a:srgbClr val="FFFFFF"/>
                </a:solidFill>
                <a:latin typeface="微软雅黑"/>
                <a:ea typeface="微软雅黑"/>
                <a:cs typeface="微软雅黑"/>
              </a:defRPr>
            </a:pPr>
            <a:r>
              <a:rPr lang="en-US" sz="1050" kern="0">
                <a:solidFill>
                  <a:srgbClr val="FFFFFF"/>
                </a:solidFill>
                <a:latin typeface="微软雅黑"/>
                <a:ea typeface="微软雅黑"/>
                <a:cs typeface="微软雅黑"/>
                <a:sym typeface="微软雅黑"/>
              </a:rPr>
              <a:t>5</a:t>
            </a:r>
            <a:endParaRPr lang="en-US" sz="1050" kern="0" dirty="0">
              <a:solidFill>
                <a:srgbClr val="FFFFFF"/>
              </a:solidFill>
              <a:latin typeface="微软雅黑"/>
              <a:ea typeface="微软雅黑"/>
              <a:cs typeface="微软雅黑"/>
              <a:sym typeface="微软雅黑"/>
            </a:endParaRPr>
          </a:p>
        </p:txBody>
      </p:sp>
      <p:grpSp>
        <p:nvGrpSpPr>
          <p:cNvPr id="243" name="组合 242"/>
          <p:cNvGrpSpPr/>
          <p:nvPr/>
        </p:nvGrpSpPr>
        <p:grpSpPr>
          <a:xfrm>
            <a:off x="9042400" y="2964180"/>
            <a:ext cx="2823210" cy="252730"/>
            <a:chOff x="1510" y="2840"/>
            <a:chExt cx="4446" cy="398"/>
          </a:xfrm>
        </p:grpSpPr>
        <p:sp>
          <p:nvSpPr>
            <p:cNvPr id="244" name="文本框 243"/>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业务重构：</a:t>
              </a:r>
              <a:r>
                <a:rPr lang="zh-CN" altLang="en-US" sz="1000">
                  <a:solidFill>
                    <a:srgbClr val="383838"/>
                  </a:solidFill>
                  <a:latin typeface="微软雅黑"/>
                  <a:ea typeface="微软雅黑"/>
                  <a:cs typeface="微软雅黑"/>
                </a:rPr>
                <a:t>产品中心</a:t>
              </a:r>
              <a:endParaRPr lang="zh-CN" altLang="en-US" sz="1000">
                <a:solidFill>
                  <a:srgbClr val="383838"/>
                </a:solidFill>
                <a:latin typeface="微软雅黑"/>
                <a:ea typeface="微软雅黑"/>
                <a:cs typeface="微软雅黑"/>
              </a:endParaRPr>
            </a:p>
          </p:txBody>
        </p:sp>
        <p:sp>
          <p:nvSpPr>
            <p:cNvPr id="245" name="文本框 244"/>
            <p:cNvSpPr txBox="1"/>
            <p:nvPr/>
          </p:nvSpPr>
          <p:spPr>
            <a:xfrm>
              <a:off x="3830" y="2840"/>
              <a:ext cx="2126"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客户生命周期运营</a:t>
              </a:r>
              <a:endParaRPr lang="zh-CN" altLang="en-US" sz="1000">
                <a:solidFill>
                  <a:srgbClr val="383838"/>
                </a:solidFill>
                <a:latin typeface="微软雅黑"/>
                <a:ea typeface="微软雅黑"/>
                <a:cs typeface="微软雅黑"/>
              </a:endParaRPr>
            </a:p>
          </p:txBody>
        </p:sp>
        <p:sp>
          <p:nvSpPr>
            <p:cNvPr id="246" name="右箭头 245"/>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247" name="组合 246"/>
          <p:cNvGrpSpPr/>
          <p:nvPr/>
        </p:nvGrpSpPr>
        <p:grpSpPr>
          <a:xfrm>
            <a:off x="9042400" y="3217545"/>
            <a:ext cx="2605405" cy="252730"/>
            <a:chOff x="1510" y="2840"/>
            <a:chExt cx="4103" cy="398"/>
          </a:xfrm>
        </p:grpSpPr>
        <p:sp>
          <p:nvSpPr>
            <p:cNvPr id="248" name="文本框 247"/>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模式创新：</a:t>
              </a:r>
              <a:r>
                <a:rPr lang="zh-CN" altLang="en-US" sz="1000">
                  <a:solidFill>
                    <a:srgbClr val="383838"/>
                  </a:solidFill>
                  <a:latin typeface="微软雅黑"/>
                  <a:ea typeface="微软雅黑"/>
                  <a:cs typeface="微软雅黑"/>
                </a:rPr>
                <a:t>交易收入</a:t>
              </a:r>
              <a:endParaRPr lang="zh-CN" altLang="en-US" sz="1000">
                <a:solidFill>
                  <a:srgbClr val="383838"/>
                </a:solidFill>
                <a:latin typeface="微软雅黑"/>
                <a:ea typeface="微软雅黑"/>
                <a:cs typeface="微软雅黑"/>
              </a:endParaRPr>
            </a:p>
          </p:txBody>
        </p:sp>
        <p:sp>
          <p:nvSpPr>
            <p:cNvPr id="249" name="文本框 248"/>
            <p:cNvSpPr txBox="1"/>
            <p:nvPr/>
          </p:nvSpPr>
          <p:spPr>
            <a:xfrm>
              <a:off x="3830"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订阅制服务</a:t>
              </a:r>
              <a:endParaRPr lang="zh-CN" altLang="en-US" sz="1000">
                <a:solidFill>
                  <a:srgbClr val="383838"/>
                </a:solidFill>
                <a:latin typeface="微软雅黑"/>
                <a:ea typeface="微软雅黑"/>
                <a:cs typeface="微软雅黑"/>
              </a:endParaRPr>
            </a:p>
          </p:txBody>
        </p:sp>
        <p:sp>
          <p:nvSpPr>
            <p:cNvPr id="250" name="右箭头 249"/>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251" name="组合 250"/>
          <p:cNvGrpSpPr/>
          <p:nvPr/>
        </p:nvGrpSpPr>
        <p:grpSpPr>
          <a:xfrm>
            <a:off x="9042400" y="3488690"/>
            <a:ext cx="2645410" cy="252730"/>
            <a:chOff x="1510" y="2840"/>
            <a:chExt cx="4166" cy="398"/>
          </a:xfrm>
        </p:grpSpPr>
        <p:sp>
          <p:nvSpPr>
            <p:cNvPr id="252" name="文本框 251"/>
            <p:cNvSpPr txBox="1"/>
            <p:nvPr/>
          </p:nvSpPr>
          <p:spPr>
            <a:xfrm>
              <a:off x="1510" y="2852"/>
              <a:ext cx="2594" cy="386"/>
            </a:xfrm>
            <a:prstGeom prst="rect">
              <a:avLst/>
            </a:prstGeom>
            <a:noFill/>
            <a:scene3d>
              <a:camera prst="orthographicFront">
                <a:rot lat="0" lon="0" rev="0"/>
              </a:camera>
              <a:lightRig rig="threePt" dir="t"/>
            </a:scene3d>
          </p:spPr>
          <p:txBody>
            <a:bodyPr wrap="square" rtlCol="0" lIns="0" rIns="0" tIns="0" bIns="0">
              <a:spAutoFit/>
            </a:bodyPr>
            <a:p>
              <a:pPr algn="l">
                <a:defRPr>
                  <a:latin typeface="微软雅黑"/>
                  <a:ea typeface="微软雅黑"/>
                  <a:cs typeface="微软雅黑"/>
                </a:defRPr>
              </a:pPr>
              <a:r>
                <a:rPr lang="zh-CN" altLang="en-US" sz="1000" b="1">
                  <a:solidFill>
                    <a:srgbClr val="383838"/>
                  </a:solidFill>
                  <a:latin typeface="微软雅黑"/>
                  <a:ea typeface="微软雅黑"/>
                  <a:cs typeface="微软雅黑"/>
                </a:rPr>
                <a:t>生态进化：</a:t>
              </a:r>
              <a:r>
                <a:rPr lang="zh-CN" altLang="en-US" sz="1000">
                  <a:solidFill>
                    <a:srgbClr val="383838"/>
                  </a:solidFill>
                  <a:latin typeface="微软雅黑"/>
                  <a:ea typeface="微软雅黑"/>
                  <a:cs typeface="微软雅黑"/>
                </a:rPr>
                <a:t>产业链</a:t>
              </a:r>
              <a:endParaRPr lang="zh-CN" altLang="en-US" sz="1000">
                <a:solidFill>
                  <a:srgbClr val="383838"/>
                </a:solidFill>
                <a:latin typeface="微软雅黑"/>
                <a:ea typeface="微软雅黑"/>
                <a:cs typeface="微软雅黑"/>
              </a:endParaRPr>
            </a:p>
          </p:txBody>
        </p:sp>
        <p:sp>
          <p:nvSpPr>
            <p:cNvPr id="253" name="文本框 252"/>
            <p:cNvSpPr txBox="1"/>
            <p:nvPr/>
          </p:nvSpPr>
          <p:spPr>
            <a:xfrm>
              <a:off x="3893" y="2840"/>
              <a:ext cx="1783" cy="386"/>
            </a:xfrm>
            <a:prstGeom prst="rect">
              <a:avLst/>
            </a:prstGeom>
            <a:noFill/>
            <a:scene3d>
              <a:camera prst="orthographicFront">
                <a:rot lat="0" lon="0" rev="0"/>
              </a:camera>
              <a:lightRig rig="threePt" dir="t"/>
            </a:scene3d>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数字生态共同体</a:t>
              </a:r>
              <a:endParaRPr lang="zh-CN" altLang="en-US" sz="1000">
                <a:solidFill>
                  <a:srgbClr val="383838"/>
                </a:solidFill>
                <a:latin typeface="微软雅黑"/>
                <a:ea typeface="微软雅黑"/>
                <a:cs typeface="微软雅黑"/>
              </a:endParaRPr>
            </a:p>
          </p:txBody>
        </p:sp>
        <p:sp>
          <p:nvSpPr>
            <p:cNvPr id="254" name="右箭头 253"/>
            <p:cNvSpPr/>
            <p:nvPr/>
          </p:nvSpPr>
          <p:spPr>
            <a:xfrm>
              <a:off x="3600" y="2925"/>
              <a:ext cx="356" cy="215"/>
            </a:xfrm>
            <a:prstGeom prst="rightArrow">
              <a:avLst/>
            </a:prstGeom>
            <a:solidFill>
              <a:srgbClr val="383838"/>
            </a:solidFill>
            <a:ln>
              <a:solidFill>
                <a:srgbClr val="383838"/>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pic>
        <p:nvPicPr>
          <p:cNvPr id="31" name="图片 30"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0" name="组合 9"/>
          <p:cNvGrpSpPr/>
          <p:nvPr/>
        </p:nvGrpSpPr>
        <p:grpSpPr>
          <a:xfrm>
            <a:off x="8715375" y="348615"/>
            <a:ext cx="3219450" cy="332740"/>
            <a:chOff x="13761" y="549"/>
            <a:chExt cx="5070" cy="524"/>
          </a:xfrm>
        </p:grpSpPr>
        <p:pic>
          <p:nvPicPr>
            <p:cNvPr id="33" name="图片 32"/>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34" name="文本框 3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5"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任意多边形 12"/>
          <p:cNvSpPr/>
          <p:nvPr/>
        </p:nvSpPr>
        <p:spPr>
          <a:xfrm flipH="1" flipV="1">
            <a:off x="3337560" y="4521835"/>
            <a:ext cx="5546725" cy="118618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8318" h="1677">
                <a:moveTo>
                  <a:pt x="0" y="1677"/>
                </a:moveTo>
                <a:lnTo>
                  <a:pt x="2088" y="0"/>
                </a:lnTo>
                <a:lnTo>
                  <a:pt x="6231" y="0"/>
                </a:lnTo>
                <a:lnTo>
                  <a:pt x="8318" y="1677"/>
                </a:lnTo>
                <a:lnTo>
                  <a:pt x="0" y="1677"/>
                </a:lnTo>
                <a:close/>
              </a:path>
            </a:pathLst>
          </a:custGeom>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4" name="任意多边形 13"/>
          <p:cNvSpPr/>
          <p:nvPr/>
        </p:nvSpPr>
        <p:spPr>
          <a:xfrm flipH="1" flipV="1">
            <a:off x="813797" y="2428240"/>
            <a:ext cx="10568850" cy="183896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6644" h="2896">
                <a:moveTo>
                  <a:pt x="0" y="2896"/>
                </a:moveTo>
                <a:lnTo>
                  <a:pt x="3605" y="0"/>
                </a:lnTo>
                <a:lnTo>
                  <a:pt x="13039" y="0"/>
                </a:lnTo>
                <a:lnTo>
                  <a:pt x="16644" y="2896"/>
                </a:lnTo>
                <a:lnTo>
                  <a:pt x="0" y="2896"/>
                </a:lnTo>
                <a:close/>
              </a:path>
            </a:pathLst>
          </a:custGeom>
          <a:noFill/>
          <a:ln w="25400">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营销渠道触点布局优化</a:t>
            </a:r>
            <a:endParaRPr lang="en-US" altLang="zh-CN" sz="2500">
              <a:solidFill>
                <a:srgbClr val="383838"/>
              </a:solidFill>
              <a:effectLst/>
              <a:latin typeface="微软雅黑"/>
              <a:ea typeface="微软雅黑"/>
              <a:cs typeface="微软雅黑"/>
            </a:endParaRPr>
          </a:p>
        </p:txBody>
      </p:sp>
      <p:sp>
        <p:nvSpPr>
          <p:cNvPr id="2" name="圆角矩形 1"/>
          <p:cNvSpPr/>
          <p:nvPr/>
        </p:nvSpPr>
        <p:spPr>
          <a:xfrm>
            <a:off x="3121025" y="4944110"/>
            <a:ext cx="5946140" cy="654050"/>
          </a:xfrm>
          <a:prstGeom prst="roundRect">
            <a:avLst/>
          </a:prstGeom>
          <a:solidFill>
            <a:srgbClr val="FFFFFF"/>
          </a:solidFill>
          <a:ln>
            <a:solidFill>
              <a:srgbClr val="0042FF">
                <a:alpha val="80000"/>
              </a:srgbClr>
            </a:solidFill>
            <a:prstDash val="dash"/>
          </a:ln>
          <a:effectLst>
            <a:outerShdw blurRad="50800" dist="38100" dir="2700000" algn="tl" rotWithShape="0">
              <a:srgbClr val="E6E6E6">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grpSp>
        <p:nvGrpSpPr>
          <p:cNvPr id="59" name="组合 58"/>
          <p:cNvGrpSpPr/>
          <p:nvPr/>
        </p:nvGrpSpPr>
        <p:grpSpPr>
          <a:xfrm>
            <a:off x="4145915" y="4015740"/>
            <a:ext cx="492760" cy="429895"/>
            <a:chOff x="6881" y="6392"/>
            <a:chExt cx="776" cy="677"/>
          </a:xfrm>
        </p:grpSpPr>
        <p:sp>
          <p:nvSpPr>
            <p:cNvPr id="124" name="菱形 123"/>
            <p:cNvSpPr/>
            <p:nvPr/>
          </p:nvSpPr>
          <p:spPr>
            <a:xfrm flipV="1">
              <a:off x="6881" y="6541"/>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25" name="菱形 124"/>
            <p:cNvSpPr/>
            <p:nvPr/>
          </p:nvSpPr>
          <p:spPr>
            <a:xfrm flipV="1">
              <a:off x="6881" y="6392"/>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grpSp>
        <p:nvGrpSpPr>
          <p:cNvPr id="36" name="组合 35"/>
          <p:cNvGrpSpPr/>
          <p:nvPr/>
        </p:nvGrpSpPr>
        <p:grpSpPr>
          <a:xfrm>
            <a:off x="2900680" y="2849851"/>
            <a:ext cx="3101975" cy="1211609"/>
            <a:chOff x="3590" y="4033"/>
            <a:chExt cx="5904" cy="2436"/>
          </a:xfrm>
        </p:grpSpPr>
        <p:sp>
          <p:nvSpPr>
            <p:cNvPr id="17" name="圆角矩形 16"/>
            <p:cNvSpPr/>
            <p:nvPr/>
          </p:nvSpPr>
          <p:spPr>
            <a:xfrm>
              <a:off x="3590" y="4033"/>
              <a:ext cx="5904" cy="744"/>
            </a:xfrm>
            <a:prstGeom prst="roundRect">
              <a:avLst/>
            </a:prstGeom>
            <a:solidFill>
              <a:srgbClr val="E6E6E6">
                <a:alpha val="50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cs typeface="微软雅黑"/>
                  <a:sym typeface="微软雅黑"/>
                  <a:latin typeface="微软雅黑"/>
                  <a:ea typeface="微软雅黑"/>
                </a:rPr>
                <a:t>传统平台</a:t>
              </a:r>
              <a:endParaRPr lang="zh-CN" altLang="en-US" sz="1400" b="1">
                <a:solidFill>
                  <a:srgbClr val="383838"/>
                </a:solidFill>
                <a:cs typeface="微软雅黑"/>
                <a:sym typeface="微软雅黑"/>
                <a:latin typeface="微软雅黑"/>
                <a:ea typeface="微软雅黑"/>
              </a:endParaRPr>
            </a:p>
          </p:txBody>
        </p:sp>
        <p:sp>
          <p:nvSpPr>
            <p:cNvPr id="20" name="矩形 19"/>
            <p:cNvSpPr/>
            <p:nvPr/>
          </p:nvSpPr>
          <p:spPr>
            <a:xfrm>
              <a:off x="3649" y="4905"/>
              <a:ext cx="1819" cy="1518"/>
            </a:xfrm>
            <a:prstGeom prst="rect">
              <a:avLst/>
            </a:prstGeom>
            <a:solidFill>
              <a:srgbClr val="FFFFFF"/>
            </a:solidFill>
            <a:ln>
              <a:solidFill>
                <a:srgbClr val="3368FF">
                  <a:alpha val="50000"/>
                </a:srgbClr>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cs typeface="微软雅黑"/>
                  <a:sym typeface="微软雅黑"/>
                  <a:latin typeface="微软雅黑"/>
                  <a:ea typeface="微软雅黑"/>
                </a:rPr>
                <a:t>自有平台</a:t>
              </a:r>
              <a:endParaRPr lang="zh-CN" altLang="en-US" sz="1400" b="1">
                <a:solidFill>
                  <a:srgbClr val="383838"/>
                </a:solidFill>
                <a:cs typeface="微软雅黑"/>
                <a:sym typeface="微软雅黑"/>
                <a:latin typeface="微软雅黑"/>
                <a:ea typeface="微软雅黑"/>
              </a:endParaRPr>
            </a:p>
          </p:txBody>
        </p:sp>
        <p:sp>
          <p:nvSpPr>
            <p:cNvPr id="21" name="矩形 20"/>
            <p:cNvSpPr/>
            <p:nvPr/>
          </p:nvSpPr>
          <p:spPr>
            <a:xfrm>
              <a:off x="5668" y="4900"/>
              <a:ext cx="1819" cy="1533"/>
            </a:xfrm>
            <a:prstGeom prst="rect">
              <a:avLst/>
            </a:prstGeom>
            <a:solidFill>
              <a:srgbClr val="FFFFFF"/>
            </a:solidFill>
            <a:ln>
              <a:solidFill>
                <a:srgbClr val="3368FF">
                  <a:alpha val="50000"/>
                </a:srgbClr>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cs typeface="微软雅黑"/>
                  <a:sym typeface="微软雅黑"/>
                  <a:latin typeface="微软雅黑"/>
                  <a:ea typeface="微软雅黑"/>
                </a:rPr>
                <a:t>垂类平台</a:t>
              </a:r>
              <a:endParaRPr lang="zh-CN" altLang="en-US" sz="1400" b="1">
                <a:solidFill>
                  <a:srgbClr val="383838"/>
                </a:solidFill>
                <a:cs typeface="微软雅黑"/>
                <a:sym typeface="微软雅黑"/>
                <a:latin typeface="微软雅黑"/>
                <a:ea typeface="微软雅黑"/>
              </a:endParaRPr>
            </a:p>
          </p:txBody>
        </p:sp>
        <p:sp>
          <p:nvSpPr>
            <p:cNvPr id="22" name="矩形 21"/>
            <p:cNvSpPr/>
            <p:nvPr/>
          </p:nvSpPr>
          <p:spPr>
            <a:xfrm>
              <a:off x="7675" y="4895"/>
              <a:ext cx="1819" cy="1574"/>
            </a:xfrm>
            <a:prstGeom prst="rect">
              <a:avLst/>
            </a:prstGeom>
            <a:solidFill>
              <a:srgbClr val="FFFFFF"/>
            </a:solidFill>
            <a:ln>
              <a:solidFill>
                <a:srgbClr val="3368FF">
                  <a:alpha val="50000"/>
                </a:srgbClr>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cs typeface="微软雅黑"/>
                  <a:sym typeface="微软雅黑"/>
                  <a:latin typeface="微软雅黑"/>
                  <a:ea typeface="微软雅黑"/>
                </a:rPr>
                <a:t>广告平台</a:t>
              </a:r>
              <a:endParaRPr lang="zh-CN" altLang="en-US" sz="1400" b="1">
                <a:solidFill>
                  <a:srgbClr val="383838"/>
                </a:solidFill>
                <a:cs typeface="微软雅黑"/>
                <a:sym typeface="微软雅黑"/>
                <a:latin typeface="微软雅黑"/>
                <a:ea typeface="微软雅黑"/>
              </a:endParaRPr>
            </a:p>
          </p:txBody>
        </p:sp>
      </p:grpSp>
      <p:sp>
        <p:nvSpPr>
          <p:cNvPr id="26" name="下箭头 25"/>
          <p:cNvSpPr/>
          <p:nvPr/>
        </p:nvSpPr>
        <p:spPr>
          <a:xfrm>
            <a:off x="3121025" y="2085340"/>
            <a:ext cx="266065" cy="284480"/>
          </a:xfrm>
          <a:prstGeom prst="downArrow">
            <a:avLst/>
          </a:prstGeom>
          <a:gradFill>
            <a:gsLst>
              <a:gs pos="0">
                <a:srgbClr val="0042FF">
                  <a:alpha val="0"/>
                </a:srgbClr>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7" name="下箭头 26"/>
          <p:cNvSpPr/>
          <p:nvPr/>
        </p:nvSpPr>
        <p:spPr>
          <a:xfrm>
            <a:off x="4561840" y="2085340"/>
            <a:ext cx="266065" cy="284480"/>
          </a:xfrm>
          <a:prstGeom prst="downArrow">
            <a:avLst/>
          </a:prstGeom>
          <a:gradFill>
            <a:gsLst>
              <a:gs pos="0">
                <a:srgbClr val="0042FF">
                  <a:alpha val="0"/>
                </a:srgbClr>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8" name="下箭头 27"/>
          <p:cNvSpPr/>
          <p:nvPr/>
        </p:nvSpPr>
        <p:spPr>
          <a:xfrm>
            <a:off x="6002655" y="2085340"/>
            <a:ext cx="266065" cy="284480"/>
          </a:xfrm>
          <a:prstGeom prst="downArrow">
            <a:avLst/>
          </a:prstGeom>
          <a:gradFill>
            <a:gsLst>
              <a:gs pos="0">
                <a:srgbClr val="0042FF">
                  <a:alpha val="0"/>
                </a:srgbClr>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9" name="下箭头 28"/>
          <p:cNvSpPr/>
          <p:nvPr/>
        </p:nvSpPr>
        <p:spPr>
          <a:xfrm>
            <a:off x="7443470" y="2085340"/>
            <a:ext cx="266065" cy="284480"/>
          </a:xfrm>
          <a:prstGeom prst="downArrow">
            <a:avLst/>
          </a:prstGeom>
          <a:gradFill>
            <a:gsLst>
              <a:gs pos="0">
                <a:srgbClr val="0042FF">
                  <a:alpha val="0"/>
                </a:srgbClr>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0" name="下箭头 29"/>
          <p:cNvSpPr/>
          <p:nvPr/>
        </p:nvSpPr>
        <p:spPr>
          <a:xfrm>
            <a:off x="8884285" y="2085340"/>
            <a:ext cx="266065" cy="284480"/>
          </a:xfrm>
          <a:prstGeom prst="downArrow">
            <a:avLst/>
          </a:prstGeom>
          <a:gradFill>
            <a:gsLst>
              <a:gs pos="0">
                <a:srgbClr val="0042FF">
                  <a:alpha val="0"/>
                </a:srgbClr>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1" name="矩形 30"/>
          <p:cNvSpPr/>
          <p:nvPr/>
        </p:nvSpPr>
        <p:spPr>
          <a:xfrm>
            <a:off x="748030" y="1607820"/>
            <a:ext cx="10697845" cy="518795"/>
          </a:xfrm>
          <a:prstGeom prst="rect">
            <a:avLst/>
          </a:prstGeom>
          <a:gradFill>
            <a:gsLst>
              <a:gs pos="0">
                <a:srgbClr val="E6E6E6">
                  <a:alpha val="0"/>
                </a:srgbClr>
              </a:gs>
              <a:gs pos="100000">
                <a:srgbClr val="E6E6E6"/>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2" name="矩形 41"/>
          <p:cNvSpPr/>
          <p:nvPr/>
        </p:nvSpPr>
        <p:spPr>
          <a:xfrm>
            <a:off x="1254760" y="1012190"/>
            <a:ext cx="9957435" cy="514350"/>
          </a:xfrm>
          <a:prstGeom prst="rect">
            <a:avLst/>
          </a:prstGeom>
          <a:gradFill>
            <a:gsLst>
              <a:gs pos="16000">
                <a:srgbClr val="0042FF"/>
              </a:gs>
              <a:gs pos="0">
                <a:srgbClr val="0042FF">
                  <a:alpha val="0"/>
                </a:srgbClr>
              </a:gs>
              <a:gs pos="100000">
                <a:srgbClr val="0042FF"/>
              </a:gs>
            </a:gsLst>
            <a:lin ang="108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3" name="椭圆 52"/>
          <p:cNvSpPr/>
          <p:nvPr/>
        </p:nvSpPr>
        <p:spPr>
          <a:xfrm>
            <a:off x="1029970" y="1011555"/>
            <a:ext cx="515620" cy="515620"/>
          </a:xfrm>
          <a:prstGeom prst="ellipse">
            <a:avLst/>
          </a:prstGeom>
          <a:solidFill>
            <a:srgbClr val="FFFFFF"/>
          </a:solidFill>
          <a:ln w="25400">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pic>
        <p:nvPicPr>
          <p:cNvPr id="54" name="图片 53" descr="渠道"/>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1119188" y="1100773"/>
            <a:ext cx="337185" cy="337185"/>
          </a:xfrm>
          <a:prstGeom prst="rect">
            <a:avLst/>
          </a:prstGeom>
        </p:spPr>
      </p:pic>
      <p:sp>
        <p:nvSpPr>
          <p:cNvPr id="55" name="标题 2"/>
          <p:cNvSpPr>
            <a:spLocks noGrp="1"/>
          </p:cNvSpPr>
          <p:nvPr/>
        </p:nvSpPr>
        <p:spPr>
          <a:xfrm>
            <a:off x="1681163" y="1160780"/>
            <a:ext cx="8965565" cy="271780"/>
          </a:xfrm>
          <a:prstGeom prst="rect">
            <a:avLst/>
          </a:prstGeom>
          <a:ln w="12700">
            <a:miter lim="400000"/>
          </a:ln>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FFFF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600">
                <a:solidFill>
                  <a:srgbClr val="FFFFFF"/>
                </a:solidFill>
                <a:effectLst/>
                <a:latin typeface="微软雅黑"/>
                <a:ea typeface="微软雅黑"/>
                <a:cs typeface="微软雅黑"/>
              </a:rPr>
              <a:t>营销渠道触点布局优化是提升用户转化率、降低获客成本、增强用户体验的关键策略。</a:t>
            </a:r>
            <a:endParaRPr lang="zh-CN" altLang="en-US" sz="1600">
              <a:solidFill>
                <a:srgbClr val="FFFFFF"/>
              </a:solidFill>
              <a:effectLst/>
              <a:latin typeface="微软雅黑"/>
              <a:ea typeface="微软雅黑"/>
              <a:cs typeface="微软雅黑"/>
            </a:endParaRPr>
          </a:p>
        </p:txBody>
      </p:sp>
      <p:sp>
        <p:nvSpPr>
          <p:cNvPr id="56" name="文本框 55"/>
          <p:cNvSpPr txBox="1"/>
          <p:nvPr/>
        </p:nvSpPr>
        <p:spPr>
          <a:xfrm>
            <a:off x="882015" y="1720215"/>
            <a:ext cx="10563860" cy="337185"/>
          </a:xfrm>
          <a:prstGeom prst="rect">
            <a:avLst/>
          </a:prstGeom>
          <a:noFill/>
        </p:spPr>
        <p:txBody>
          <a:bodyPr wrap="square" rtlCol="0">
            <a:spAutoFit/>
          </a:bodyPr>
          <a:p>
            <a:pPr algn="ctr">
              <a:defRPr>
                <a:latin typeface="微软雅黑"/>
                <a:ea typeface="微软雅黑"/>
                <a:cs typeface="微软雅黑"/>
              </a:defRPr>
            </a:pPr>
            <a:r>
              <a:rPr lang="zh-CN" altLang="en-US" sz="1600">
                <a:latin typeface="微软雅黑"/>
                <a:ea typeface="微软雅黑"/>
                <a:cs typeface="微软雅黑"/>
              </a:rPr>
              <a:t>充分发挥公私域触点的属性与能力，合理培育、联动转化品牌潜客，提升营销的覆盖全面性与渗透深度</a:t>
            </a:r>
            <a:endParaRPr lang="zh-CN" altLang="en-US" sz="1600">
              <a:latin typeface="微软雅黑"/>
              <a:ea typeface="微软雅黑"/>
              <a:cs typeface="微软雅黑"/>
            </a:endParaRPr>
          </a:p>
        </p:txBody>
      </p:sp>
      <p:sp>
        <p:nvSpPr>
          <p:cNvPr id="58" name="文本框 57"/>
          <p:cNvSpPr txBox="1"/>
          <p:nvPr/>
        </p:nvSpPr>
        <p:spPr>
          <a:xfrm>
            <a:off x="3056573" y="2434590"/>
            <a:ext cx="6214745"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公域与泛私域平台曝光</a:t>
            </a:r>
            <a:r>
              <a:rPr lang="en-US" altLang="zh-CN" sz="1600" b="1">
                <a:solidFill>
                  <a:srgbClr val="0042FF"/>
                </a:solidFill>
                <a:latin typeface="微软雅黑"/>
                <a:ea typeface="微软雅黑"/>
                <a:cs typeface="微软雅黑"/>
              </a:rPr>
              <a:t>/</a:t>
            </a:r>
            <a:r>
              <a:rPr lang="zh-CN" altLang="en-US" sz="1600" b="1">
                <a:solidFill>
                  <a:srgbClr val="0042FF"/>
                </a:solidFill>
                <a:latin typeface="微软雅黑"/>
                <a:ea typeface="微软雅黑"/>
                <a:cs typeface="微软雅黑"/>
              </a:rPr>
              <a:t>集客</a:t>
            </a:r>
            <a:endParaRPr lang="zh-CN" altLang="en-US" sz="1600" b="1">
              <a:solidFill>
                <a:srgbClr val="0042FF"/>
              </a:solidFill>
              <a:latin typeface="微软雅黑"/>
              <a:ea typeface="微软雅黑"/>
              <a:cs typeface="微软雅黑"/>
            </a:endParaRPr>
          </a:p>
        </p:txBody>
      </p:sp>
      <p:grpSp>
        <p:nvGrpSpPr>
          <p:cNvPr id="60" name="组合 59"/>
          <p:cNvGrpSpPr/>
          <p:nvPr/>
        </p:nvGrpSpPr>
        <p:grpSpPr>
          <a:xfrm>
            <a:off x="5324475" y="4015740"/>
            <a:ext cx="492760" cy="429895"/>
            <a:chOff x="6881" y="6392"/>
            <a:chExt cx="776" cy="677"/>
          </a:xfrm>
        </p:grpSpPr>
        <p:sp>
          <p:nvSpPr>
            <p:cNvPr id="61" name="菱形 60"/>
            <p:cNvSpPr/>
            <p:nvPr/>
          </p:nvSpPr>
          <p:spPr>
            <a:xfrm flipV="1">
              <a:off x="6881" y="6541"/>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62" name="菱形 61"/>
            <p:cNvSpPr/>
            <p:nvPr/>
          </p:nvSpPr>
          <p:spPr>
            <a:xfrm flipV="1">
              <a:off x="6881" y="6392"/>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63" name="组合 62"/>
          <p:cNvGrpSpPr/>
          <p:nvPr/>
        </p:nvGrpSpPr>
        <p:grpSpPr>
          <a:xfrm>
            <a:off x="6503035" y="4015740"/>
            <a:ext cx="492760" cy="429895"/>
            <a:chOff x="6881" y="6392"/>
            <a:chExt cx="776" cy="677"/>
          </a:xfrm>
        </p:grpSpPr>
        <p:sp>
          <p:nvSpPr>
            <p:cNvPr id="64" name="菱形 63"/>
            <p:cNvSpPr/>
            <p:nvPr/>
          </p:nvSpPr>
          <p:spPr>
            <a:xfrm flipV="1">
              <a:off x="6881" y="6541"/>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65" name="菱形 64"/>
            <p:cNvSpPr/>
            <p:nvPr/>
          </p:nvSpPr>
          <p:spPr>
            <a:xfrm flipV="1">
              <a:off x="6881" y="6392"/>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66" name="组合 65"/>
          <p:cNvGrpSpPr/>
          <p:nvPr/>
        </p:nvGrpSpPr>
        <p:grpSpPr>
          <a:xfrm>
            <a:off x="7681595" y="4015740"/>
            <a:ext cx="492760" cy="429895"/>
            <a:chOff x="6881" y="6392"/>
            <a:chExt cx="776" cy="677"/>
          </a:xfrm>
        </p:grpSpPr>
        <p:sp>
          <p:nvSpPr>
            <p:cNvPr id="67" name="菱形 66"/>
            <p:cNvSpPr/>
            <p:nvPr/>
          </p:nvSpPr>
          <p:spPr>
            <a:xfrm flipV="1">
              <a:off x="6881" y="6541"/>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68" name="菱形 67"/>
            <p:cNvSpPr/>
            <p:nvPr/>
          </p:nvSpPr>
          <p:spPr>
            <a:xfrm flipV="1">
              <a:off x="6881" y="6392"/>
              <a:ext cx="776" cy="529"/>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79" name="组合 78"/>
          <p:cNvGrpSpPr/>
          <p:nvPr/>
        </p:nvGrpSpPr>
        <p:grpSpPr>
          <a:xfrm>
            <a:off x="3336925" y="5296535"/>
            <a:ext cx="5547360" cy="275590"/>
            <a:chOff x="5607" y="8233"/>
            <a:chExt cx="8736" cy="434"/>
          </a:xfrm>
        </p:grpSpPr>
        <p:sp>
          <p:nvSpPr>
            <p:cNvPr id="70" name="文本框 69"/>
            <p:cNvSpPr txBox="1"/>
            <p:nvPr/>
          </p:nvSpPr>
          <p:spPr>
            <a:xfrm>
              <a:off x="5607" y="8233"/>
              <a:ext cx="1628" cy="434"/>
            </a:xfrm>
            <a:prstGeom prst="rect">
              <a:avLst/>
            </a:prstGeom>
            <a:noFill/>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企业微信</a:t>
              </a:r>
              <a:endParaRPr lang="zh-CN" altLang="en-US" sz="1200">
                <a:latin typeface="微软雅黑"/>
                <a:ea typeface="微软雅黑"/>
                <a:cs typeface="微软雅黑"/>
              </a:endParaRPr>
            </a:p>
          </p:txBody>
        </p:sp>
        <p:sp>
          <p:nvSpPr>
            <p:cNvPr id="71" name="文本框 70"/>
            <p:cNvSpPr txBox="1"/>
            <p:nvPr/>
          </p:nvSpPr>
          <p:spPr>
            <a:xfrm>
              <a:off x="7384" y="8233"/>
              <a:ext cx="1628" cy="434"/>
            </a:xfrm>
            <a:prstGeom prst="rect">
              <a:avLst/>
            </a:prstGeom>
            <a:noFill/>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公众号</a:t>
              </a:r>
              <a:endParaRPr lang="zh-CN" altLang="en-US" sz="1200">
                <a:latin typeface="微软雅黑"/>
                <a:ea typeface="微软雅黑"/>
                <a:cs typeface="微软雅黑"/>
              </a:endParaRPr>
            </a:p>
          </p:txBody>
        </p:sp>
        <p:sp>
          <p:nvSpPr>
            <p:cNvPr id="72" name="文本框 71"/>
            <p:cNvSpPr txBox="1"/>
            <p:nvPr/>
          </p:nvSpPr>
          <p:spPr>
            <a:xfrm>
              <a:off x="9161" y="8233"/>
              <a:ext cx="1628" cy="434"/>
            </a:xfrm>
            <a:prstGeom prst="rect">
              <a:avLst/>
            </a:prstGeom>
            <a:noFill/>
          </p:spPr>
          <p:txBody>
            <a:bodyPr wrap="square" rtlCol="0">
              <a:spAutoFit/>
            </a:bodyPr>
            <a:p>
              <a:pPr algn="ctr">
                <a:defRPr>
                  <a:latin typeface="微软雅黑"/>
                  <a:ea typeface="微软雅黑"/>
                  <a:cs typeface="微软雅黑"/>
                </a:defRPr>
              </a:pPr>
              <a:r>
                <a:rPr lang="en-US" altLang="zh-CN" sz="1200">
                  <a:latin typeface="微软雅黑"/>
                  <a:ea typeface="微软雅黑"/>
                  <a:cs typeface="微软雅黑"/>
                </a:rPr>
                <a:t>APP</a:t>
              </a:r>
              <a:endParaRPr lang="en-US" altLang="zh-CN" sz="1200">
                <a:latin typeface="微软雅黑"/>
                <a:ea typeface="微软雅黑"/>
                <a:cs typeface="微软雅黑"/>
              </a:endParaRPr>
            </a:p>
          </p:txBody>
        </p:sp>
        <p:sp>
          <p:nvSpPr>
            <p:cNvPr id="73" name="文本框 72"/>
            <p:cNvSpPr txBox="1"/>
            <p:nvPr/>
          </p:nvSpPr>
          <p:spPr>
            <a:xfrm>
              <a:off x="10938" y="8233"/>
              <a:ext cx="1628" cy="434"/>
            </a:xfrm>
            <a:prstGeom prst="rect">
              <a:avLst/>
            </a:prstGeom>
            <a:noFill/>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官网</a:t>
              </a:r>
              <a:endParaRPr lang="zh-CN" altLang="en-US" sz="1200">
                <a:latin typeface="微软雅黑"/>
                <a:ea typeface="微软雅黑"/>
                <a:cs typeface="微软雅黑"/>
              </a:endParaRPr>
            </a:p>
          </p:txBody>
        </p:sp>
        <p:sp>
          <p:nvSpPr>
            <p:cNvPr id="74" name="文本框 73"/>
            <p:cNvSpPr txBox="1"/>
            <p:nvPr/>
          </p:nvSpPr>
          <p:spPr>
            <a:xfrm>
              <a:off x="12715" y="8233"/>
              <a:ext cx="1628" cy="434"/>
            </a:xfrm>
            <a:prstGeom prst="rect">
              <a:avLst/>
            </a:prstGeom>
            <a:noFill/>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小程序</a:t>
              </a:r>
              <a:endParaRPr lang="zh-CN" altLang="en-US" sz="1200">
                <a:latin typeface="微软雅黑"/>
                <a:ea typeface="微软雅黑"/>
                <a:cs typeface="微软雅黑"/>
              </a:endParaRPr>
            </a:p>
          </p:txBody>
        </p:sp>
      </p:grpSp>
      <p:pic>
        <p:nvPicPr>
          <p:cNvPr id="75" name="图片 74" descr="企业微信"/>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638550" y="4988644"/>
            <a:ext cx="387809" cy="324000"/>
          </a:xfrm>
          <a:prstGeom prst="rect">
            <a:avLst/>
          </a:prstGeom>
        </p:spPr>
      </p:pic>
      <p:pic>
        <p:nvPicPr>
          <p:cNvPr id="76" name="图片 75" descr="公众号"/>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827905" y="4988644"/>
            <a:ext cx="324000" cy="324000"/>
          </a:xfrm>
          <a:prstGeom prst="rect">
            <a:avLst/>
          </a:prstGeom>
        </p:spPr>
      </p:pic>
      <p:pic>
        <p:nvPicPr>
          <p:cNvPr id="77" name="图片 76" descr="小程序"/>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241030" y="5019199"/>
            <a:ext cx="262890" cy="262890"/>
          </a:xfrm>
          <a:prstGeom prst="rect">
            <a:avLst/>
          </a:prstGeom>
        </p:spPr>
      </p:pic>
      <p:pic>
        <p:nvPicPr>
          <p:cNvPr id="78" name="图片 77" descr="APP(1)"/>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002655" y="4996339"/>
            <a:ext cx="308610" cy="308610"/>
          </a:xfrm>
          <a:prstGeom prst="rect">
            <a:avLst/>
          </a:prstGeom>
        </p:spPr>
      </p:pic>
      <p:pic>
        <p:nvPicPr>
          <p:cNvPr id="80" name="图片 79" descr="官网"/>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049770" y="4988644"/>
            <a:ext cx="324000" cy="324000"/>
          </a:xfrm>
          <a:prstGeom prst="rect">
            <a:avLst/>
          </a:prstGeom>
        </p:spPr>
      </p:pic>
      <p:sp>
        <p:nvSpPr>
          <p:cNvPr id="91" name="紫荆的职场Point99-4"/>
          <p:cNvSpPr/>
          <p:nvPr/>
        </p:nvSpPr>
        <p:spPr>
          <a:xfrm rot="10800000" flipH="1">
            <a:off x="5324475" y="5490845"/>
            <a:ext cx="347980" cy="38100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a:gsLst>
              <a:gs pos="0">
                <a:srgbClr val="B3D4FE"/>
              </a:gs>
              <a:gs pos="73000">
                <a:srgbClr val="3368FF"/>
              </a:gs>
            </a:gsLst>
            <a:lin ang="16200000" scaled="0"/>
          </a:gradFill>
          <a:ln w="6350" cap="flat" cmpd="sng" algn="ctr">
            <a:solidFill>
              <a:srgbClr val="FFFFFF"/>
            </a:solidFill>
            <a:prstDash val="solid"/>
            <a:miter lim="800000"/>
          </a:ln>
          <a:effectLst>
            <a:outerShdw blurRad="190500" algn="ctr" rotWithShape="0">
              <a:srgbClr val="B3D4FE">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92" name="紫荆的职场Point99-4"/>
          <p:cNvSpPr/>
          <p:nvPr/>
        </p:nvSpPr>
        <p:spPr>
          <a:xfrm rot="10800000" flipH="1">
            <a:off x="6627495" y="5490845"/>
            <a:ext cx="347980" cy="38100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a:gsLst>
              <a:gs pos="0">
                <a:srgbClr val="B3D4FE"/>
              </a:gs>
              <a:gs pos="73000">
                <a:srgbClr val="3368FF"/>
              </a:gs>
            </a:gsLst>
            <a:lin ang="16200000" scaled="0"/>
          </a:gradFill>
          <a:ln w="6350" cap="flat" cmpd="sng" algn="ctr">
            <a:solidFill>
              <a:srgbClr val="FFFFFF"/>
            </a:solidFill>
            <a:prstDash val="solid"/>
            <a:miter lim="800000"/>
          </a:ln>
          <a:effectLst>
            <a:outerShdw blurRad="190500" algn="ctr" rotWithShape="0">
              <a:srgbClr val="B3D4FE">
                <a:alpha val="40000"/>
              </a:srgbClr>
            </a:outerShdw>
          </a:effectLst>
        </p:spPr>
        <p:txBody>
          <a:bodyPr wrap="square" rtlCol="0" anchor="ctr" lIns="0" rIns="0" tIns="0" bIns="0">
            <a:noAutofit/>
          </a:bodyPr>
          <a:p>
            <a:pPr lvl="0" algn="ctr">
              <a:spcBef>
                <a:spcPts val="0"/>
              </a:spcBef>
              <a:spcAft>
                <a:spcPts val="0"/>
              </a:spcAft>
              <a:buClrTx/>
              <a:buSzTx/>
              <a:buFontTx/>
              <a:defRPr>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pic>
        <p:nvPicPr>
          <p:cNvPr id="95" name="图片 94" descr="屋顶资源管理"/>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55600" y="186055"/>
            <a:ext cx="549910" cy="549910"/>
          </a:xfrm>
          <a:prstGeom prst="rect">
            <a:avLst/>
          </a:prstGeom>
        </p:spPr>
      </p:pic>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15"/>
            <a:srcRect l="17002" t="-1765" r="56499" b="-1176"/>
            <a:stretch>
              <a:fillRect/>
            </a:stretch>
          </p:blipFill>
          <p:spPr>
            <a:xfrm>
              <a:off x="13761" y="549"/>
              <a:ext cx="1582" cy="525"/>
            </a:xfrm>
            <a:prstGeom prst="rect">
              <a:avLst/>
            </a:prstGeom>
          </p:spPr>
        </p:pic>
        <p:sp>
          <p:nvSpPr>
            <p:cNvPr id="4" name="文本框 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12" name="任意多边形 11"/>
          <p:cNvSpPr/>
          <p:nvPr/>
        </p:nvSpPr>
        <p:spPr>
          <a:xfrm flipH="1" flipV="1">
            <a:off x="4752340" y="5901055"/>
            <a:ext cx="2621280" cy="77216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3028" h="1216">
                <a:moveTo>
                  <a:pt x="0" y="1216"/>
                </a:moveTo>
                <a:lnTo>
                  <a:pt x="1514" y="0"/>
                </a:lnTo>
                <a:lnTo>
                  <a:pt x="3028" y="1216"/>
                </a:lnTo>
                <a:lnTo>
                  <a:pt x="0" y="1216"/>
                </a:lnTo>
                <a:close/>
              </a:path>
            </a:pathLst>
          </a:custGeom>
          <a:gradFill>
            <a:gsLst>
              <a:gs pos="0">
                <a:srgbClr val="B3D4FE"/>
              </a:gs>
              <a:gs pos="73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37" name="组合 36"/>
          <p:cNvGrpSpPr/>
          <p:nvPr/>
        </p:nvGrpSpPr>
        <p:grpSpPr>
          <a:xfrm>
            <a:off x="6271260" y="2849851"/>
            <a:ext cx="3101975" cy="1211609"/>
            <a:chOff x="3590" y="4033"/>
            <a:chExt cx="5904" cy="2436"/>
          </a:xfrm>
        </p:grpSpPr>
        <p:sp>
          <p:nvSpPr>
            <p:cNvPr id="38" name="圆角矩形 37"/>
            <p:cNvSpPr/>
            <p:nvPr/>
          </p:nvSpPr>
          <p:spPr>
            <a:xfrm>
              <a:off x="3590" y="4033"/>
              <a:ext cx="5904" cy="744"/>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cs typeface="微软雅黑"/>
                  <a:sym typeface="微软雅黑"/>
                  <a:latin typeface="微软雅黑"/>
                  <a:ea typeface="微软雅黑"/>
                </a:rPr>
                <a:t>新兴渠道</a:t>
              </a:r>
              <a:endParaRPr lang="zh-CN" altLang="en-US" sz="1400" b="1">
                <a:solidFill>
                  <a:srgbClr val="FFFFFF"/>
                </a:solidFill>
                <a:cs typeface="微软雅黑"/>
                <a:sym typeface="微软雅黑"/>
                <a:latin typeface="微软雅黑"/>
                <a:ea typeface="微软雅黑"/>
              </a:endParaRPr>
            </a:p>
          </p:txBody>
        </p:sp>
        <p:sp>
          <p:nvSpPr>
            <p:cNvPr id="39" name="矩形 38"/>
            <p:cNvSpPr/>
            <p:nvPr/>
          </p:nvSpPr>
          <p:spPr>
            <a:xfrm>
              <a:off x="3649" y="4905"/>
              <a:ext cx="1819" cy="1518"/>
            </a:xfrm>
            <a:prstGeom prst="rect">
              <a:avLst/>
            </a:prstGeom>
            <a:solidFill>
              <a:srgbClr val="FFFFFF"/>
            </a:solidFill>
            <a:ln>
              <a:solidFill>
                <a:srgbClr val="3368FF">
                  <a:alpha val="50000"/>
                </a:srgbClr>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0042FF"/>
                  </a:solidFill>
                  <a:cs typeface="微软雅黑"/>
                  <a:sym typeface="微软雅黑"/>
                  <a:latin typeface="微软雅黑"/>
                  <a:ea typeface="微软雅黑"/>
                </a:rPr>
                <a:t>电商平台</a:t>
              </a:r>
              <a:endParaRPr lang="zh-CN" altLang="en-US" sz="1400" b="1">
                <a:solidFill>
                  <a:srgbClr val="0042FF"/>
                </a:solidFill>
                <a:cs typeface="微软雅黑"/>
                <a:sym typeface="微软雅黑"/>
                <a:latin typeface="微软雅黑"/>
                <a:ea typeface="微软雅黑"/>
              </a:endParaRPr>
            </a:p>
          </p:txBody>
        </p:sp>
        <p:sp>
          <p:nvSpPr>
            <p:cNvPr id="40" name="矩形 39"/>
            <p:cNvSpPr/>
            <p:nvPr/>
          </p:nvSpPr>
          <p:spPr>
            <a:xfrm>
              <a:off x="5668" y="4900"/>
              <a:ext cx="1819" cy="1533"/>
            </a:xfrm>
            <a:prstGeom prst="rect">
              <a:avLst/>
            </a:prstGeom>
            <a:solidFill>
              <a:srgbClr val="FFFFFF"/>
            </a:solidFill>
            <a:ln>
              <a:solidFill>
                <a:srgbClr val="3368FF">
                  <a:alpha val="50000"/>
                </a:srgbClr>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0042FF"/>
                  </a:solidFill>
                  <a:cs typeface="微软雅黑"/>
                  <a:sym typeface="微软雅黑"/>
                  <a:latin typeface="微软雅黑"/>
                  <a:ea typeface="微软雅黑"/>
                </a:rPr>
                <a:t>社交平台</a:t>
              </a:r>
              <a:endParaRPr lang="zh-CN" altLang="en-US" sz="1400" b="1">
                <a:solidFill>
                  <a:srgbClr val="0042FF"/>
                </a:solidFill>
                <a:cs typeface="微软雅黑"/>
                <a:sym typeface="微软雅黑"/>
                <a:latin typeface="微软雅黑"/>
                <a:ea typeface="微软雅黑"/>
              </a:endParaRPr>
            </a:p>
          </p:txBody>
        </p:sp>
        <p:sp>
          <p:nvSpPr>
            <p:cNvPr id="41" name="矩形 40"/>
            <p:cNvSpPr/>
            <p:nvPr/>
          </p:nvSpPr>
          <p:spPr>
            <a:xfrm>
              <a:off x="7675" y="4895"/>
              <a:ext cx="1819" cy="1574"/>
            </a:xfrm>
            <a:prstGeom prst="rect">
              <a:avLst/>
            </a:prstGeom>
            <a:solidFill>
              <a:srgbClr val="FFFFFF"/>
            </a:solidFill>
            <a:ln>
              <a:solidFill>
                <a:srgbClr val="3368FF">
                  <a:alpha val="50000"/>
                </a:srgbClr>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0042FF"/>
                  </a:solidFill>
                  <a:cs typeface="微软雅黑"/>
                  <a:sym typeface="微软雅黑"/>
                  <a:latin typeface="微软雅黑"/>
                  <a:ea typeface="微软雅黑"/>
                </a:rPr>
                <a:t>视频平台</a:t>
              </a:r>
              <a:endParaRPr lang="zh-CN" altLang="en-US" sz="1400" b="1">
                <a:solidFill>
                  <a:srgbClr val="0042FF"/>
                </a:solidFill>
                <a:cs typeface="微软雅黑"/>
                <a:sym typeface="微软雅黑"/>
                <a:latin typeface="微软雅黑"/>
                <a:ea typeface="微软雅黑"/>
              </a:endParaRPr>
            </a:p>
          </p:txBody>
        </p:sp>
      </p:grpSp>
      <p:sp>
        <p:nvSpPr>
          <p:cNvPr id="43" name="等腰三角形 42"/>
          <p:cNvSpPr/>
          <p:nvPr/>
        </p:nvSpPr>
        <p:spPr>
          <a:xfrm rot="5400000">
            <a:off x="6074410" y="2952750"/>
            <a:ext cx="224790" cy="163195"/>
          </a:xfrm>
          <a:prstGeom prst="triangle">
            <a:avLst/>
          </a:pr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6" name="文本框 45"/>
          <p:cNvSpPr txBox="1"/>
          <p:nvPr/>
        </p:nvSpPr>
        <p:spPr>
          <a:xfrm>
            <a:off x="5392420" y="5975350"/>
            <a:ext cx="1402715" cy="521970"/>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客户忠诚</a:t>
            </a:r>
            <a:endParaRPr lang="zh-CN" altLang="en-US" sz="14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培育</a:t>
            </a:r>
            <a:endParaRPr lang="zh-CN" altLang="en-US" sz="1400" b="1">
              <a:solidFill>
                <a:srgbClr val="383838"/>
              </a:solidFill>
              <a:latin typeface="微软雅黑"/>
              <a:ea typeface="微软雅黑"/>
              <a:cs typeface="微软雅黑"/>
            </a:endParaRPr>
          </a:p>
        </p:txBody>
      </p:sp>
      <p:sp>
        <p:nvSpPr>
          <p:cNvPr id="47" name="文本框 46"/>
          <p:cNvSpPr txBox="1"/>
          <p:nvPr/>
        </p:nvSpPr>
        <p:spPr>
          <a:xfrm>
            <a:off x="3457575" y="4559935"/>
            <a:ext cx="5281295"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600" b="1">
                <a:solidFill>
                  <a:srgbClr val="FFFFFF"/>
                </a:solidFill>
                <a:latin typeface="微软雅黑"/>
                <a:ea typeface="微软雅黑"/>
                <a:cs typeface="微软雅黑"/>
              </a:rPr>
              <a:t>私域平台收拢</a:t>
            </a:r>
            <a:r>
              <a:rPr lang="en-US" altLang="zh-CN" sz="1600" b="1">
                <a:solidFill>
                  <a:srgbClr val="FFFFFF"/>
                </a:solidFill>
                <a:latin typeface="微软雅黑"/>
                <a:ea typeface="微软雅黑"/>
                <a:cs typeface="微软雅黑"/>
              </a:rPr>
              <a:t>/</a:t>
            </a:r>
            <a:r>
              <a:rPr lang="zh-CN" altLang="en-US" sz="1600" b="1">
                <a:solidFill>
                  <a:srgbClr val="FFFFFF"/>
                </a:solidFill>
                <a:latin typeface="微软雅黑"/>
                <a:ea typeface="微软雅黑"/>
                <a:cs typeface="微软雅黑"/>
              </a:rPr>
              <a:t>运营</a:t>
            </a:r>
            <a:endParaRPr lang="zh-CN" altLang="en-US" sz="1600" b="1">
              <a:solidFill>
                <a:srgbClr val="FFFFFF"/>
              </a:solidFill>
              <a:latin typeface="微软雅黑"/>
              <a:ea typeface="微软雅黑"/>
              <a:cs typeface="微软雅黑"/>
            </a:endParaRPr>
          </a:p>
        </p:txBody>
      </p:sp>
      <p:cxnSp>
        <p:nvCxnSpPr>
          <p:cNvPr id="6" name="肘形连接符 5"/>
          <p:cNvCxnSpPr/>
          <p:nvPr/>
        </p:nvCxnSpPr>
        <p:spPr>
          <a:xfrm flipH="1">
            <a:off x="6995795" y="3383280"/>
            <a:ext cx="3312160" cy="2875280"/>
          </a:xfrm>
          <a:prstGeom prst="bentConnector3">
            <a:avLst>
              <a:gd name="adj1" fmla="val 325"/>
            </a:avLst>
          </a:prstGeom>
          <a:ln>
            <a:gradFill>
              <a:gsLst>
                <a:gs pos="0">
                  <a:srgbClr val="B3D4FE">
                    <a:alpha val="100000"/>
                  </a:srgbClr>
                </a:gs>
                <a:gs pos="100000">
                  <a:srgbClr val="3368FF"/>
                </a:gs>
              </a:gsLst>
              <a:lin ang="5400000" scaled="1"/>
            </a:gradFill>
            <a:prstDash val="dash"/>
            <a:headEnd type="none"/>
            <a:tailEnd type="triangle" w="lg" len="med"/>
          </a:ln>
        </p:spPr>
        <p:style>
          <a:lnRef idx="2">
            <a:srgbClr val="0042FF"/>
          </a:lnRef>
          <a:fillRef idx="0">
            <a:srgbClr val="FFFFFF"/>
          </a:fillRef>
          <a:effectRef idx="0">
            <a:srgbClr val="FFFFFF"/>
          </a:effectRef>
          <a:fontRef idx="minor">
            <a:srgbClr val="383838"/>
          </a:fontRef>
        </p:style>
      </p:cxnSp>
      <p:cxnSp>
        <p:nvCxnSpPr>
          <p:cNvPr id="11" name="曲线连接符 10"/>
          <p:cNvCxnSpPr/>
          <p:nvPr/>
        </p:nvCxnSpPr>
        <p:spPr>
          <a:xfrm rot="5400000" flipV="1">
            <a:off x="1311275" y="3526155"/>
            <a:ext cx="2084070" cy="1407160"/>
          </a:xfrm>
          <a:prstGeom prst="curvedConnector2">
            <a:avLst/>
          </a:prstGeom>
          <a:ln>
            <a:gradFill>
              <a:gsLst>
                <a:gs pos="0">
                  <a:srgbClr val="B3D4FE">
                    <a:alpha val="100000"/>
                  </a:srgbClr>
                </a:gs>
                <a:gs pos="100000">
                  <a:srgbClr val="3368FF"/>
                </a:gs>
              </a:gsLst>
              <a:lin ang="5400000" scaled="1"/>
            </a:gradFill>
            <a:prstDash val="dash"/>
            <a:headEnd type="none"/>
            <a:tailEnd type="triangle" w="lg" len="med"/>
          </a:ln>
        </p:spPr>
        <p:style>
          <a:lnRef idx="2">
            <a:srgbClr val="0042FF"/>
          </a:lnRef>
          <a:fillRef idx="0">
            <a:srgbClr val="FFFFFF"/>
          </a:fillRef>
          <a:effectRef idx="0">
            <a:srgbClr val="FFFFFF"/>
          </a:effectRef>
          <a:fontRef idx="minor">
            <a:srgbClr val="383838"/>
          </a:fontRef>
        </p:style>
      </p:cxnSp>
      <p:cxnSp>
        <p:nvCxnSpPr>
          <p:cNvPr id="15" name="曲线连接符 14"/>
          <p:cNvCxnSpPr/>
          <p:nvPr/>
        </p:nvCxnSpPr>
        <p:spPr>
          <a:xfrm rot="5400000" flipV="1">
            <a:off x="4252595" y="5187950"/>
            <a:ext cx="782320" cy="1749425"/>
          </a:xfrm>
          <a:prstGeom prst="curvedConnector2">
            <a:avLst/>
          </a:prstGeom>
          <a:ln>
            <a:gradFill>
              <a:gsLst>
                <a:gs pos="0">
                  <a:srgbClr val="B3D4FE">
                    <a:alpha val="100000"/>
                  </a:srgbClr>
                </a:gs>
                <a:gs pos="100000">
                  <a:srgbClr val="3368FF"/>
                </a:gs>
              </a:gsLst>
              <a:lin ang="5400000" scaled="1"/>
            </a:gradFill>
            <a:prstDash val="dash"/>
            <a:headEnd type="none"/>
            <a:tailEnd type="triangle" w="lg" len="med"/>
          </a:ln>
        </p:spPr>
        <p:style>
          <a:lnRef idx="2">
            <a:srgbClr val="0042FF"/>
          </a:lnRef>
          <a:fillRef idx="0">
            <a:srgbClr val="FFFFFF"/>
          </a:fillRef>
          <a:effectRef idx="0">
            <a:srgbClr val="FFFFFF"/>
          </a:effectRef>
          <a:fontRef idx="minor">
            <a:srgbClr val="383838"/>
          </a:fontRef>
        </p:style>
      </p:cxnSp>
      <p:sp>
        <p:nvSpPr>
          <p:cNvPr id="24" name="文本框 23"/>
          <p:cNvSpPr txBox="1"/>
          <p:nvPr/>
        </p:nvSpPr>
        <p:spPr>
          <a:xfrm>
            <a:off x="391795" y="3991610"/>
            <a:ext cx="1330960" cy="275590"/>
          </a:xfrm>
          <a:prstGeom prst="rect">
            <a:avLst/>
          </a:prstGeom>
          <a:noFill/>
          <a:ln>
            <a:solidFill>
              <a:srgbClr val="3368FF"/>
            </a:solidFill>
          </a:ln>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流量引入与筛选</a:t>
            </a:r>
            <a:endParaRPr lang="zh-CN" altLang="en-US" sz="1200" b="1">
              <a:solidFill>
                <a:srgbClr val="0042FF"/>
              </a:solidFill>
              <a:latin typeface="微软雅黑"/>
              <a:ea typeface="微软雅黑"/>
              <a:cs typeface="微软雅黑"/>
            </a:endParaRPr>
          </a:p>
        </p:txBody>
      </p:sp>
      <p:sp>
        <p:nvSpPr>
          <p:cNvPr id="25" name="文本框 24"/>
          <p:cNvSpPr txBox="1"/>
          <p:nvPr/>
        </p:nvSpPr>
        <p:spPr>
          <a:xfrm>
            <a:off x="337185" y="4343400"/>
            <a:ext cx="1670685" cy="706755"/>
          </a:xfrm>
          <a:prstGeom prst="rect">
            <a:avLst/>
          </a:prstGeom>
          <a:noFill/>
        </p:spPr>
        <p:txBody>
          <a:bodyPr wrap="square" rtlCol="0" lIns="0" rIns="0" tIns="0" bIns="0">
            <a:spAutoFit/>
          </a:bodyPr>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触达与引流（解决</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怎么来</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培育与转化（解决</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怎么进</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32" name="文本框 31"/>
          <p:cNvSpPr txBox="1"/>
          <p:nvPr/>
        </p:nvSpPr>
        <p:spPr>
          <a:xfrm>
            <a:off x="2065020" y="5840095"/>
            <a:ext cx="1643380" cy="275590"/>
          </a:xfrm>
          <a:prstGeom prst="rect">
            <a:avLst/>
          </a:prstGeom>
          <a:noFill/>
          <a:ln>
            <a:solidFill>
              <a:srgbClr val="3368FF"/>
            </a:solidFill>
          </a:ln>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深度连接与价值挖潜</a:t>
            </a:r>
            <a:endParaRPr lang="zh-CN" altLang="en-US" sz="1200" b="1">
              <a:solidFill>
                <a:srgbClr val="0042FF"/>
              </a:solidFill>
              <a:latin typeface="微软雅黑"/>
              <a:ea typeface="微软雅黑"/>
              <a:cs typeface="微软雅黑"/>
            </a:endParaRPr>
          </a:p>
        </p:txBody>
      </p:sp>
      <p:sp>
        <p:nvSpPr>
          <p:cNvPr id="33" name="文本框 32"/>
          <p:cNvSpPr txBox="1"/>
          <p:nvPr/>
        </p:nvSpPr>
        <p:spPr>
          <a:xfrm>
            <a:off x="2073910" y="6197600"/>
            <a:ext cx="2330450" cy="553085"/>
          </a:xfrm>
          <a:prstGeom prst="rect">
            <a:avLst/>
          </a:prstGeom>
          <a:noFill/>
        </p:spPr>
        <p:txBody>
          <a:bodyPr wrap="square" rtlCol="0" lIns="0" rIns="0" tIns="0" bIns="0">
            <a:spAutoFit/>
          </a:bodyPr>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建立强连接（解决</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信任</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精细化运营（解决</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留存</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提升生命周期价值（解决</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复购</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34" name="文本框 33"/>
          <p:cNvSpPr txBox="1"/>
          <p:nvPr/>
        </p:nvSpPr>
        <p:spPr>
          <a:xfrm>
            <a:off x="10452100" y="3890010"/>
            <a:ext cx="1483360" cy="275590"/>
          </a:xfrm>
          <a:prstGeom prst="rect">
            <a:avLst/>
          </a:prstGeom>
          <a:noFill/>
          <a:ln>
            <a:solidFill>
              <a:srgbClr val="3368FF"/>
            </a:solidFill>
          </a:ln>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流量奠定用户基础</a:t>
            </a:r>
            <a:endParaRPr lang="en-US" altLang="zh-CN" sz="1200" b="1">
              <a:solidFill>
                <a:srgbClr val="0042FF"/>
              </a:solidFill>
              <a:latin typeface="微软雅黑"/>
              <a:ea typeface="微软雅黑"/>
              <a:cs typeface="微软雅黑"/>
            </a:endParaRPr>
          </a:p>
        </p:txBody>
      </p:sp>
      <p:sp>
        <p:nvSpPr>
          <p:cNvPr id="35" name="文本框 34"/>
          <p:cNvSpPr txBox="1"/>
          <p:nvPr/>
        </p:nvSpPr>
        <p:spPr>
          <a:xfrm>
            <a:off x="10396855" y="4267200"/>
            <a:ext cx="1669415" cy="1322070"/>
          </a:xfrm>
          <a:prstGeom prst="rect">
            <a:avLst/>
          </a:prstGeom>
          <a:noFill/>
        </p:spPr>
        <p:txBody>
          <a:bodyPr wrap="square" rtlCol="0" lIns="0" rIns="0" tIns="0" bIns="0">
            <a:spAutoFit/>
          </a:bodyPr>
          <a:p>
            <a:pPr indent="0" algn="l">
              <a:buFont typeface="微软雅黑"/>
              <a:buNone/>
              <a:defRPr>
                <a:latin typeface="微软雅黑"/>
                <a:ea typeface="微软雅黑"/>
                <a:cs typeface="微软雅黑"/>
              </a:defRPr>
            </a:pPr>
            <a:r>
              <a:rPr lang="zh-CN" altLang="en-US" sz="1000">
                <a:solidFill>
                  <a:srgbClr val="383838"/>
                </a:solidFill>
                <a:latin typeface="微软雅黑"/>
                <a:ea typeface="微软雅黑"/>
                <a:cs typeface="微软雅黑"/>
              </a:rPr>
              <a:t>公域与泛私域曝光</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集客是客户忠诚培育的</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上游水源</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，它不仅提供了培育对象的数量基础，更通过精准筛选、前置信任建立、多触点强化和数据反馈，大幅提升了后续私域运营中忠诚培育的效率和质量。</a:t>
            </a:r>
            <a:endParaRPr lang="zh-CN" altLang="en-US" sz="1000">
              <a:solidFill>
                <a:srgbClr val="383838"/>
              </a:solidFill>
              <a:latin typeface="微软雅黑"/>
              <a:ea typeface="微软雅黑"/>
              <a:cs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数据管理平台架构</a:t>
            </a:r>
            <a:endParaRPr sz="2500" b="0">
              <a:solidFill>
                <a:srgbClr val="383838"/>
              </a:solidFill>
              <a:effectLst/>
              <a:latin typeface="微软雅黑"/>
              <a:ea typeface="微软雅黑"/>
              <a:cs typeface="微软雅黑"/>
            </a:endParaRPr>
          </a:p>
        </p:txBody>
      </p:sp>
      <p:sp>
        <p:nvSpPr>
          <p:cNvPr id="12" name="任意多边形 11"/>
          <p:cNvSpPr/>
          <p:nvPr/>
        </p:nvSpPr>
        <p:spPr>
          <a:xfrm>
            <a:off x="2569845" y="1273810"/>
            <a:ext cx="7189470" cy="1066800"/>
          </a:xfrm>
          <a:custGeom>
            <a:avLst/>
            <a:gdLst>
              <a:gd name="connisteX0" fmla="*/ 0 w 7189470"/>
              <a:gd name="connsiteY0" fmla="*/ 1066800 h 1066800"/>
              <a:gd name="connisteX1" fmla="*/ 3638550 w 7189470"/>
              <a:gd name="connsiteY1" fmla="*/ 0 h 1066800"/>
              <a:gd name="connisteX2" fmla="*/ 7189470 w 7189470"/>
              <a:gd name="connsiteY2" fmla="*/ 1062990 h 1066800"/>
              <a:gd name="connisteX3" fmla="*/ 7185660 w 7189470"/>
              <a:gd name="connsiteY3" fmla="*/ 1062990 h 1066800"/>
            </a:gdLst>
            <a:ahLst/>
            <a:cxnLst>
              <a:cxn ang="0">
                <a:pos x="connisteX0" y="connsiteY0"/>
              </a:cxn>
              <a:cxn ang="0">
                <a:pos x="connisteX1" y="connsiteY1"/>
              </a:cxn>
              <a:cxn ang="0">
                <a:pos x="connisteX2" y="connsiteY2"/>
              </a:cxn>
              <a:cxn ang="0">
                <a:pos x="connisteX3" y="connsiteY3"/>
              </a:cxn>
            </a:cxnLst>
            <a:rect l="l" t="t" r="r" b="b"/>
            <a:pathLst>
              <a:path w="7189470" h="1066800">
                <a:moveTo>
                  <a:pt x="0" y="1066800"/>
                </a:moveTo>
                <a:cubicBezTo>
                  <a:pt x="656590" y="832485"/>
                  <a:pt x="2200910" y="635"/>
                  <a:pt x="3638550" y="0"/>
                </a:cubicBezTo>
                <a:cubicBezTo>
                  <a:pt x="5076190" y="-635"/>
                  <a:pt x="6480175" y="850265"/>
                  <a:pt x="7189470" y="1062990"/>
                </a:cubicBezTo>
              </a:path>
            </a:pathLst>
          </a:custGeom>
          <a:noFill/>
          <a:ln>
            <a:solidFill>
              <a:srgbClr val="DCDCDC"/>
            </a:solidFill>
            <a:prstDash val="sys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3" name="梯形 12"/>
          <p:cNvSpPr/>
          <p:nvPr/>
        </p:nvSpPr>
        <p:spPr>
          <a:xfrm>
            <a:off x="5102697" y="1092243"/>
            <a:ext cx="2107158" cy="357868"/>
          </a:xfrm>
          <a:prstGeom prst="trapezoid">
            <a:avLst>
              <a:gd name="adj" fmla="val 45279"/>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4" name="文本框 13"/>
          <p:cNvSpPr txBox="1"/>
          <p:nvPr/>
        </p:nvSpPr>
        <p:spPr>
          <a:xfrm>
            <a:off x="5288039" y="1058072"/>
            <a:ext cx="1736474" cy="376642"/>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数据管理平台</a:t>
            </a:r>
            <a:endParaRPr lang="zh-CN" altLang="en-US" sz="1600" dirty="0">
              <a:solidFill>
                <a:srgbClr val="FFFFFF"/>
              </a:solidFill>
              <a:latin typeface="微软雅黑"/>
              <a:ea typeface="微软雅黑"/>
              <a:cs typeface="微软雅黑"/>
            </a:endParaRPr>
          </a:p>
        </p:txBody>
      </p:sp>
      <p:sp>
        <p:nvSpPr>
          <p:cNvPr id="15" name="梯形 14"/>
          <p:cNvSpPr/>
          <p:nvPr/>
        </p:nvSpPr>
        <p:spPr>
          <a:xfrm>
            <a:off x="1395356" y="2279520"/>
            <a:ext cx="9597129" cy="3902589"/>
          </a:xfrm>
          <a:prstGeom prst="trapezoid">
            <a:avLst>
              <a:gd name="adj" fmla="val 31509"/>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cxnSp>
        <p:nvCxnSpPr>
          <p:cNvPr id="16" name="直接箭头连接符 15"/>
          <p:cNvCxnSpPr/>
          <p:nvPr/>
        </p:nvCxnSpPr>
        <p:spPr>
          <a:xfrm flipV="1">
            <a:off x="1298692" y="2577503"/>
            <a:ext cx="991271" cy="3406158"/>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17" name="直接箭头连接符 16"/>
          <p:cNvCxnSpPr/>
          <p:nvPr/>
        </p:nvCxnSpPr>
        <p:spPr>
          <a:xfrm flipH="1" flipV="1">
            <a:off x="10017733" y="2528725"/>
            <a:ext cx="1069007" cy="3469450"/>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sp>
        <p:nvSpPr>
          <p:cNvPr id="18" name="任意多边形: 形状 559"/>
          <p:cNvSpPr/>
          <p:nvPr>
            <p:custDataLst>
              <p:tags r:id="rId1"/>
            </p:custDataLst>
          </p:nvPr>
        </p:nvSpPr>
        <p:spPr>
          <a:xfrm flipH="1">
            <a:off x="1370965" y="5606415"/>
            <a:ext cx="9621520" cy="588645"/>
          </a:xfrm>
          <a:custGeom>
            <a:avLst/>
            <a:gdLst>
              <a:gd name="connsiteX0" fmla="*/ 4316044 w 8632088"/>
              <a:gd name="connsiteY0" fmla="*/ 0 h 588531"/>
              <a:gd name="connsiteX1" fmla="*/ 115653 w 8632088"/>
              <a:gd name="connsiteY1" fmla="*/ 258985 h 588531"/>
              <a:gd name="connsiteX2" fmla="*/ 110961 w 8632088"/>
              <a:gd name="connsiteY2" fmla="*/ 258985 h 588531"/>
              <a:gd name="connsiteX3" fmla="*/ 0 w 8632088"/>
              <a:gd name="connsiteY3" fmla="*/ 588531 h 588531"/>
              <a:gd name="connsiteX4" fmla="*/ 8632088 w 8632088"/>
              <a:gd name="connsiteY4" fmla="*/ 588531 h 588531"/>
              <a:gd name="connsiteX5" fmla="*/ 8521127 w 8632088"/>
              <a:gd name="connsiteY5" fmla="*/ 258985 h 588531"/>
              <a:gd name="connsiteX6" fmla="*/ 8516435 w 8632088"/>
              <a:gd name="connsiteY6" fmla="*/ 258985 h 588531"/>
              <a:gd name="connsiteX7" fmla="*/ 4316044 w 8632088"/>
              <a:gd name="connsiteY7" fmla="*/ 0 h 58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32088" h="588531">
                <a:moveTo>
                  <a:pt x="4316044" y="0"/>
                </a:moveTo>
                <a:cubicBezTo>
                  <a:pt x="1996232" y="0"/>
                  <a:pt x="115653" y="115952"/>
                  <a:pt x="115653" y="258985"/>
                </a:cubicBezTo>
                <a:lnTo>
                  <a:pt x="110961" y="258985"/>
                </a:lnTo>
                <a:lnTo>
                  <a:pt x="0" y="588531"/>
                </a:lnTo>
                <a:lnTo>
                  <a:pt x="8632088" y="588531"/>
                </a:lnTo>
                <a:lnTo>
                  <a:pt x="8521127" y="258985"/>
                </a:lnTo>
                <a:lnTo>
                  <a:pt x="8516435" y="258985"/>
                </a:lnTo>
                <a:cubicBezTo>
                  <a:pt x="8516435" y="115952"/>
                  <a:pt x="6635856" y="0"/>
                  <a:pt x="4316044" y="0"/>
                </a:cubicBezTo>
                <a:close/>
              </a:path>
            </a:pathLst>
          </a:custGeom>
          <a:solidFill>
            <a:srgbClr val="0042FF"/>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9" name="椭圆 18"/>
          <p:cNvSpPr/>
          <p:nvPr>
            <p:custDataLst>
              <p:tags r:id="rId2"/>
            </p:custDataLst>
          </p:nvPr>
        </p:nvSpPr>
        <p:spPr>
          <a:xfrm flipH="1">
            <a:off x="1370965" y="5928995"/>
            <a:ext cx="9621520" cy="530225"/>
          </a:xfrm>
          <a:prstGeom prst="ellipse">
            <a:avLst/>
          </a:prstGeom>
          <a:solidFill>
            <a:srgbClr val="668EFF"/>
          </a:solidFill>
          <a:ln w="15875">
            <a:gradFill>
              <a:gsLst>
                <a:gs pos="78000">
                  <a:srgbClr val="0042FF">
                    <a:alpha val="0"/>
                  </a:srgbClr>
                </a:gs>
                <a:gs pos="25000">
                  <a:srgbClr val="0042FF"/>
                </a:gs>
              </a:gsLst>
              <a:lin ang="5400000" scaled="1"/>
            </a:gra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cxnSp>
        <p:nvCxnSpPr>
          <p:cNvPr id="20" name="直接连接符 19"/>
          <p:cNvCxnSpPr/>
          <p:nvPr/>
        </p:nvCxnSpPr>
        <p:spPr>
          <a:xfrm flipV="1">
            <a:off x="1489611" y="2377743"/>
            <a:ext cx="1080000" cy="3483869"/>
          </a:xfrm>
          <a:prstGeom prst="line">
            <a:avLst/>
          </a:prstGeom>
          <a:ln>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21" name="直接连接符 20"/>
          <p:cNvCxnSpPr/>
          <p:nvPr/>
        </p:nvCxnSpPr>
        <p:spPr>
          <a:xfrm flipH="1" flipV="1">
            <a:off x="9769611" y="2377743"/>
            <a:ext cx="1080000" cy="3483869"/>
          </a:xfrm>
          <a:prstGeom prst="line">
            <a:avLst/>
          </a:prstGeom>
          <a:ln>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22" name="任意多边形: 形状 556"/>
          <p:cNvSpPr/>
          <p:nvPr>
            <p:custDataLst>
              <p:tags r:id="rId3"/>
            </p:custDataLst>
          </p:nvPr>
        </p:nvSpPr>
        <p:spPr>
          <a:xfrm flipH="1">
            <a:off x="2489820" y="2158545"/>
            <a:ext cx="7380000" cy="447040"/>
          </a:xfrm>
          <a:custGeom>
            <a:avLst/>
            <a:gdLst>
              <a:gd name="connsiteX0" fmla="*/ 4316044 w 8632088"/>
              <a:gd name="connsiteY0" fmla="*/ 0 h 588531"/>
              <a:gd name="connsiteX1" fmla="*/ 115653 w 8632088"/>
              <a:gd name="connsiteY1" fmla="*/ 258985 h 588531"/>
              <a:gd name="connsiteX2" fmla="*/ 110961 w 8632088"/>
              <a:gd name="connsiteY2" fmla="*/ 258985 h 588531"/>
              <a:gd name="connsiteX3" fmla="*/ 0 w 8632088"/>
              <a:gd name="connsiteY3" fmla="*/ 588531 h 588531"/>
              <a:gd name="connsiteX4" fmla="*/ 8632088 w 8632088"/>
              <a:gd name="connsiteY4" fmla="*/ 588531 h 588531"/>
              <a:gd name="connsiteX5" fmla="*/ 8521127 w 8632088"/>
              <a:gd name="connsiteY5" fmla="*/ 258985 h 588531"/>
              <a:gd name="connsiteX6" fmla="*/ 8516435 w 8632088"/>
              <a:gd name="connsiteY6" fmla="*/ 258985 h 588531"/>
              <a:gd name="connsiteX7" fmla="*/ 4316044 w 8632088"/>
              <a:gd name="connsiteY7" fmla="*/ 0 h 58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32088" h="588531">
                <a:moveTo>
                  <a:pt x="4316044" y="0"/>
                </a:moveTo>
                <a:cubicBezTo>
                  <a:pt x="1996232" y="0"/>
                  <a:pt x="115653" y="115952"/>
                  <a:pt x="115653" y="258985"/>
                </a:cubicBezTo>
                <a:lnTo>
                  <a:pt x="110961" y="258985"/>
                </a:lnTo>
                <a:lnTo>
                  <a:pt x="0" y="588531"/>
                </a:lnTo>
                <a:lnTo>
                  <a:pt x="8632088" y="588531"/>
                </a:lnTo>
                <a:lnTo>
                  <a:pt x="8521127" y="258985"/>
                </a:lnTo>
                <a:lnTo>
                  <a:pt x="8516435" y="258985"/>
                </a:lnTo>
                <a:cubicBezTo>
                  <a:pt x="8516435" y="115952"/>
                  <a:pt x="6635856" y="0"/>
                  <a:pt x="4316044"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23" name="椭圆 22"/>
          <p:cNvSpPr/>
          <p:nvPr>
            <p:custDataLst>
              <p:tags r:id="rId4"/>
            </p:custDataLst>
          </p:nvPr>
        </p:nvSpPr>
        <p:spPr>
          <a:xfrm flipH="1">
            <a:off x="2489820" y="2403782"/>
            <a:ext cx="7380000" cy="402763"/>
          </a:xfrm>
          <a:prstGeom prst="ellipse">
            <a:avLst/>
          </a:prstGeom>
          <a:solidFill>
            <a:srgbClr val="FFFFFF"/>
          </a:solidFill>
          <a:ln w="15875">
            <a:gradFill>
              <a:gsLst>
                <a:gs pos="78000">
                  <a:srgbClr val="3368FF">
                    <a:alpha val="0"/>
                  </a:srgbClr>
                </a:gs>
                <a:gs pos="25000">
                  <a:srgbClr val="3368FF"/>
                </a:gs>
              </a:gsLst>
              <a:lin ang="5400000" scaled="1"/>
            </a:gra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4" name="任意多边形: 形状 532"/>
          <p:cNvSpPr/>
          <p:nvPr>
            <p:custDataLst>
              <p:tags r:id="rId5"/>
            </p:custDataLst>
          </p:nvPr>
        </p:nvSpPr>
        <p:spPr>
          <a:xfrm flipH="1">
            <a:off x="1853567" y="4082813"/>
            <a:ext cx="8632088" cy="588531"/>
          </a:xfrm>
          <a:custGeom>
            <a:avLst/>
            <a:gdLst>
              <a:gd name="connsiteX0" fmla="*/ 4316044 w 8632088"/>
              <a:gd name="connsiteY0" fmla="*/ 0 h 588531"/>
              <a:gd name="connsiteX1" fmla="*/ 115653 w 8632088"/>
              <a:gd name="connsiteY1" fmla="*/ 258985 h 588531"/>
              <a:gd name="connsiteX2" fmla="*/ 110961 w 8632088"/>
              <a:gd name="connsiteY2" fmla="*/ 258985 h 588531"/>
              <a:gd name="connsiteX3" fmla="*/ 0 w 8632088"/>
              <a:gd name="connsiteY3" fmla="*/ 588531 h 588531"/>
              <a:gd name="connsiteX4" fmla="*/ 8632088 w 8632088"/>
              <a:gd name="connsiteY4" fmla="*/ 588531 h 588531"/>
              <a:gd name="connsiteX5" fmla="*/ 8521127 w 8632088"/>
              <a:gd name="connsiteY5" fmla="*/ 258985 h 588531"/>
              <a:gd name="connsiteX6" fmla="*/ 8516435 w 8632088"/>
              <a:gd name="connsiteY6" fmla="*/ 258985 h 588531"/>
              <a:gd name="connsiteX7" fmla="*/ 4316044 w 8632088"/>
              <a:gd name="connsiteY7" fmla="*/ 0 h 58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32088" h="588531">
                <a:moveTo>
                  <a:pt x="4316044" y="0"/>
                </a:moveTo>
                <a:cubicBezTo>
                  <a:pt x="1996232" y="0"/>
                  <a:pt x="115653" y="115952"/>
                  <a:pt x="115653" y="258985"/>
                </a:cubicBezTo>
                <a:lnTo>
                  <a:pt x="110961" y="258985"/>
                </a:lnTo>
                <a:lnTo>
                  <a:pt x="0" y="588531"/>
                </a:lnTo>
                <a:lnTo>
                  <a:pt x="8632088" y="588531"/>
                </a:lnTo>
                <a:lnTo>
                  <a:pt x="8521127" y="258985"/>
                </a:lnTo>
                <a:lnTo>
                  <a:pt x="8516435" y="258985"/>
                </a:lnTo>
                <a:cubicBezTo>
                  <a:pt x="8516435" y="115952"/>
                  <a:pt x="6635856" y="0"/>
                  <a:pt x="4316044"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5" name="椭圆 24"/>
          <p:cNvSpPr/>
          <p:nvPr>
            <p:custDataLst>
              <p:tags r:id="rId6"/>
            </p:custDataLst>
          </p:nvPr>
        </p:nvSpPr>
        <p:spPr>
          <a:xfrm flipH="1">
            <a:off x="1853567" y="4405669"/>
            <a:ext cx="8632088" cy="530240"/>
          </a:xfrm>
          <a:prstGeom prst="ellipse">
            <a:avLst/>
          </a:prstGeom>
          <a:solidFill>
            <a:srgbClr val="E6E6E6"/>
          </a:solidFill>
          <a:ln w="15875">
            <a:gradFill>
              <a:gsLst>
                <a:gs pos="78000">
                  <a:srgbClr val="3368FF">
                    <a:alpha val="0"/>
                  </a:srgbClr>
                </a:gs>
                <a:gs pos="25000">
                  <a:srgbClr val="3368FF"/>
                </a:gs>
              </a:gsLst>
              <a:lin ang="5400000" scaled="1"/>
            </a:gra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6" name="文本框 25"/>
          <p:cNvSpPr txBox="1"/>
          <p:nvPr/>
        </p:nvSpPr>
        <p:spPr>
          <a:xfrm>
            <a:off x="5477322" y="2389182"/>
            <a:ext cx="1384578" cy="376642"/>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sz="1600" dirty="0">
                <a:latin typeface="微软雅黑"/>
                <a:ea typeface="微软雅黑"/>
                <a:cs typeface="微软雅黑"/>
              </a:rPr>
              <a:t>数据应用</a:t>
            </a:r>
            <a:endParaRPr lang="zh-CN" altLang="en-US" sz="1600" dirty="0">
              <a:latin typeface="微软雅黑"/>
              <a:ea typeface="微软雅黑"/>
              <a:cs typeface="微软雅黑"/>
            </a:endParaRPr>
          </a:p>
        </p:txBody>
      </p:sp>
      <p:sp>
        <p:nvSpPr>
          <p:cNvPr id="27" name="文本框 26"/>
          <p:cNvSpPr txBox="1"/>
          <p:nvPr/>
        </p:nvSpPr>
        <p:spPr>
          <a:xfrm>
            <a:off x="5477322" y="4470152"/>
            <a:ext cx="1384578" cy="376642"/>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sz="1600" dirty="0">
                <a:latin typeface="微软雅黑"/>
                <a:ea typeface="微软雅黑"/>
                <a:cs typeface="微软雅黑"/>
              </a:rPr>
              <a:t>数据总线</a:t>
            </a:r>
            <a:endParaRPr lang="zh-CN" altLang="en-US" sz="1600" dirty="0">
              <a:latin typeface="微软雅黑"/>
              <a:ea typeface="微软雅黑"/>
              <a:cs typeface="微软雅黑"/>
            </a:endParaRPr>
          </a:p>
        </p:txBody>
      </p:sp>
      <p:sp>
        <p:nvSpPr>
          <p:cNvPr id="28" name="文本框 27"/>
          <p:cNvSpPr txBox="1"/>
          <p:nvPr/>
        </p:nvSpPr>
        <p:spPr>
          <a:xfrm>
            <a:off x="5477322" y="6011865"/>
            <a:ext cx="1384578" cy="376642"/>
          </a:xfrm>
          <a:prstGeom prst="rect">
            <a:avLst/>
          </a:prstGeom>
          <a:noFill/>
        </p:spPr>
        <p:txBody>
          <a:bodyPr wrap="square" lIns="0" rIns="0" tIns="0" bIns="0">
            <a:spAutoFit/>
          </a:bodyPr>
          <a:lstStyle>
            <a:defPPr>
              <a:defRPr lang="zh-CN">
                <a:solidFill>
                  <a:srgbClr val="383838"/>
                </a:solidFill>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defRPr>
                <a:solidFill>
                  <a:srgbClr val="383838"/>
                </a:solidFill>
                <a:latin typeface="微软雅黑"/>
                <a:ea typeface="微软雅黑"/>
                <a:cs typeface="微软雅黑"/>
              </a:defRPr>
            </a:pPr>
            <a:r>
              <a:rPr lang="zh-CN" altLang="en-US" sz="1600" dirty="0">
                <a:solidFill>
                  <a:srgbClr val="383838"/>
                </a:solidFill>
                <a:latin typeface="微软雅黑"/>
                <a:ea typeface="微软雅黑"/>
                <a:cs typeface="微软雅黑"/>
              </a:rPr>
              <a:t>数据源</a:t>
            </a:r>
            <a:endParaRPr lang="zh-CN" altLang="en-US" sz="1600" dirty="0">
              <a:solidFill>
                <a:srgbClr val="383838"/>
              </a:solidFill>
              <a:latin typeface="微软雅黑"/>
              <a:ea typeface="微软雅黑"/>
              <a:cs typeface="微软雅黑"/>
            </a:endParaRPr>
          </a:p>
        </p:txBody>
      </p:sp>
      <p:sp>
        <p:nvSpPr>
          <p:cNvPr id="29" name="矩形: 对角圆角 475"/>
          <p:cNvSpPr/>
          <p:nvPr/>
        </p:nvSpPr>
        <p:spPr>
          <a:xfrm>
            <a:off x="2777278" y="3648932"/>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0" name="矩形: 对角圆角 475"/>
          <p:cNvSpPr/>
          <p:nvPr/>
        </p:nvSpPr>
        <p:spPr>
          <a:xfrm>
            <a:off x="4460186" y="3648932"/>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1" name="矩形: 对角圆角 475"/>
          <p:cNvSpPr/>
          <p:nvPr/>
        </p:nvSpPr>
        <p:spPr>
          <a:xfrm>
            <a:off x="2777278" y="3233597"/>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32" name="矩形: 对角圆角 475"/>
          <p:cNvSpPr/>
          <p:nvPr/>
        </p:nvSpPr>
        <p:spPr>
          <a:xfrm>
            <a:off x="4460186" y="3233597"/>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3" name="矩形: 对角圆角 475"/>
          <p:cNvSpPr/>
          <p:nvPr/>
        </p:nvSpPr>
        <p:spPr>
          <a:xfrm>
            <a:off x="6801763" y="3648932"/>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4" name="矩形: 对角圆角 475"/>
          <p:cNvSpPr/>
          <p:nvPr/>
        </p:nvSpPr>
        <p:spPr>
          <a:xfrm>
            <a:off x="8484671" y="3648932"/>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5" name="矩形: 对角圆角 475"/>
          <p:cNvSpPr/>
          <p:nvPr/>
        </p:nvSpPr>
        <p:spPr>
          <a:xfrm>
            <a:off x="6801763" y="3233597"/>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6" name="矩形: 对角圆角 475"/>
          <p:cNvSpPr/>
          <p:nvPr/>
        </p:nvSpPr>
        <p:spPr>
          <a:xfrm>
            <a:off x="8484671" y="3233597"/>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7" name="右大括号 36"/>
          <p:cNvSpPr/>
          <p:nvPr/>
        </p:nvSpPr>
        <p:spPr>
          <a:xfrm rot="16200000">
            <a:off x="4083860" y="2055101"/>
            <a:ext cx="159532" cy="2095916"/>
          </a:xfrm>
          <a:prstGeom prst="rightBrace">
            <a:avLst>
              <a:gd name="adj1" fmla="val 53950"/>
              <a:gd name="adj2" fmla="val 50000"/>
            </a:avLst>
          </a:prstGeom>
          <a:no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8" name="右大括号 37"/>
          <p:cNvSpPr/>
          <p:nvPr/>
        </p:nvSpPr>
        <p:spPr>
          <a:xfrm rot="16200000">
            <a:off x="8191382" y="2055102"/>
            <a:ext cx="159532" cy="2095916"/>
          </a:xfrm>
          <a:prstGeom prst="rightBrace">
            <a:avLst>
              <a:gd name="adj1" fmla="val 53950"/>
              <a:gd name="adj2" fmla="val 50000"/>
            </a:avLst>
          </a:prstGeom>
          <a:no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9" name="文本框 38"/>
          <p:cNvSpPr txBox="1"/>
          <p:nvPr/>
        </p:nvSpPr>
        <p:spPr>
          <a:xfrm>
            <a:off x="3485850" y="2742464"/>
            <a:ext cx="1384578" cy="321945"/>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b="1" dirty="0">
                <a:solidFill>
                  <a:srgbClr val="0042FF"/>
                </a:solidFill>
                <a:latin typeface="微软雅黑"/>
                <a:ea typeface="微软雅黑"/>
                <a:cs typeface="微软雅黑"/>
              </a:rPr>
              <a:t>数据标准</a:t>
            </a:r>
            <a:endParaRPr lang="zh-CN" altLang="en-US" b="1" dirty="0">
              <a:solidFill>
                <a:srgbClr val="0042FF"/>
              </a:solidFill>
              <a:latin typeface="微软雅黑"/>
              <a:ea typeface="微软雅黑"/>
              <a:cs typeface="微软雅黑"/>
            </a:endParaRPr>
          </a:p>
        </p:txBody>
      </p:sp>
      <p:sp>
        <p:nvSpPr>
          <p:cNvPr id="40" name="文本框 39"/>
          <p:cNvSpPr txBox="1"/>
          <p:nvPr/>
        </p:nvSpPr>
        <p:spPr>
          <a:xfrm>
            <a:off x="7493893" y="2735479"/>
            <a:ext cx="1384578" cy="321945"/>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b="1" dirty="0">
                <a:solidFill>
                  <a:srgbClr val="0042FF"/>
                </a:solidFill>
                <a:latin typeface="微软雅黑"/>
                <a:ea typeface="微软雅黑"/>
                <a:cs typeface="微软雅黑"/>
              </a:rPr>
              <a:t>数据资产管理</a:t>
            </a:r>
            <a:endParaRPr lang="zh-CN" altLang="en-US" b="1" dirty="0">
              <a:solidFill>
                <a:srgbClr val="0042FF"/>
              </a:solidFill>
              <a:latin typeface="微软雅黑"/>
              <a:ea typeface="微软雅黑"/>
              <a:cs typeface="微软雅黑"/>
            </a:endParaRPr>
          </a:p>
        </p:txBody>
      </p:sp>
      <p:sp>
        <p:nvSpPr>
          <p:cNvPr id="41" name="文本框 40"/>
          <p:cNvSpPr txBox="1"/>
          <p:nvPr/>
        </p:nvSpPr>
        <p:spPr>
          <a:xfrm rot="843444">
            <a:off x="1341392" y="2986064"/>
            <a:ext cx="402604" cy="2152256"/>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数据圈生命周期管理</a:t>
            </a:r>
            <a:endParaRPr lang="zh-CN" altLang="en-US" dirty="0">
              <a:solidFill>
                <a:srgbClr val="383838"/>
              </a:solidFill>
              <a:latin typeface="微软雅黑"/>
              <a:ea typeface="微软雅黑"/>
              <a:cs typeface="微软雅黑"/>
            </a:endParaRPr>
          </a:p>
        </p:txBody>
      </p:sp>
      <p:sp>
        <p:nvSpPr>
          <p:cNvPr id="42" name="文本框 41"/>
          <p:cNvSpPr txBox="1"/>
          <p:nvPr/>
        </p:nvSpPr>
        <p:spPr>
          <a:xfrm rot="20672589">
            <a:off x="10507091" y="3386968"/>
            <a:ext cx="457834" cy="998094"/>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数据安全</a:t>
            </a:r>
            <a:endParaRPr lang="zh-CN" altLang="en-US" dirty="0">
              <a:solidFill>
                <a:srgbClr val="383838"/>
              </a:solidFill>
              <a:latin typeface="微软雅黑"/>
              <a:ea typeface="微软雅黑"/>
              <a:cs typeface="微软雅黑"/>
            </a:endParaRPr>
          </a:p>
        </p:txBody>
      </p:sp>
      <p:cxnSp>
        <p:nvCxnSpPr>
          <p:cNvPr id="43" name="直接连接符 42"/>
          <p:cNvCxnSpPr/>
          <p:nvPr/>
        </p:nvCxnSpPr>
        <p:spPr>
          <a:xfrm flipV="1">
            <a:off x="6169611" y="2207374"/>
            <a:ext cx="8068" cy="3365823"/>
          </a:xfrm>
          <a:prstGeom prst="line">
            <a:avLst/>
          </a:prstGeom>
          <a:ln>
            <a:solidFill>
              <a:srgbClr val="DCDCDC">
                <a:alpha val="70000"/>
              </a:srgbClr>
            </a:solidFill>
            <a:prstDash val="dash"/>
          </a:ln>
        </p:spPr>
        <p:style>
          <a:lnRef idx="1">
            <a:srgbClr val="0042FF"/>
          </a:lnRef>
          <a:fillRef idx="0">
            <a:srgbClr val="0042FF"/>
          </a:fillRef>
          <a:effectRef idx="0">
            <a:srgbClr val="0042FF"/>
          </a:effectRef>
          <a:fontRef idx="minor">
            <a:srgbClr val="383838"/>
          </a:fontRef>
        </p:style>
      </p:cxnSp>
      <p:sp>
        <p:nvSpPr>
          <p:cNvPr id="44" name="矩形: 对角圆角 475"/>
          <p:cNvSpPr/>
          <p:nvPr/>
        </p:nvSpPr>
        <p:spPr>
          <a:xfrm>
            <a:off x="2522638" y="5081405"/>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0042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5" name="矩形: 对角圆角 475"/>
          <p:cNvSpPr/>
          <p:nvPr/>
        </p:nvSpPr>
        <p:spPr>
          <a:xfrm>
            <a:off x="8974939" y="5081405"/>
            <a:ext cx="1143054" cy="317580"/>
          </a:xfrm>
          <a:custGeom>
            <a:avLst/>
            <a:gdLst>
              <a:gd name="connsiteX0" fmla="*/ 80761 w 1582121"/>
              <a:gd name="connsiteY0" fmla="*/ 0 h 484554"/>
              <a:gd name="connsiteX1" fmla="*/ 1582121 w 1582121"/>
              <a:gd name="connsiteY1" fmla="*/ 0 h 484554"/>
              <a:gd name="connsiteX2" fmla="*/ 1582121 w 1582121"/>
              <a:gd name="connsiteY2" fmla="*/ 0 h 484554"/>
              <a:gd name="connsiteX3" fmla="*/ 1582121 w 1582121"/>
              <a:gd name="connsiteY3" fmla="*/ 403793 h 484554"/>
              <a:gd name="connsiteX4" fmla="*/ 1501360 w 1582121"/>
              <a:gd name="connsiteY4" fmla="*/ 484554 h 484554"/>
              <a:gd name="connsiteX5" fmla="*/ 0 w 1582121"/>
              <a:gd name="connsiteY5" fmla="*/ 484554 h 484554"/>
              <a:gd name="connsiteX6" fmla="*/ 0 w 1582121"/>
              <a:gd name="connsiteY6" fmla="*/ 484554 h 484554"/>
              <a:gd name="connsiteX7" fmla="*/ 0 w 1582121"/>
              <a:gd name="connsiteY7" fmla="*/ 80761 h 484554"/>
              <a:gd name="connsiteX8" fmla="*/ 80761 w 1582121"/>
              <a:gd name="connsiteY8" fmla="*/ 0 h 484554"/>
              <a:gd name="connsiteX0-1" fmla="*/ 128386 w 1629746"/>
              <a:gd name="connsiteY0-2" fmla="*/ 0 h 484554"/>
              <a:gd name="connsiteX1-3" fmla="*/ 1629746 w 1629746"/>
              <a:gd name="connsiteY1-4" fmla="*/ 0 h 484554"/>
              <a:gd name="connsiteX2-5" fmla="*/ 1629746 w 1629746"/>
              <a:gd name="connsiteY2-6" fmla="*/ 0 h 484554"/>
              <a:gd name="connsiteX3-7" fmla="*/ 1629746 w 1629746"/>
              <a:gd name="connsiteY3-8" fmla="*/ 403793 h 484554"/>
              <a:gd name="connsiteX4-9" fmla="*/ 1548985 w 1629746"/>
              <a:gd name="connsiteY4-10" fmla="*/ 484554 h 484554"/>
              <a:gd name="connsiteX5-11" fmla="*/ 47625 w 1629746"/>
              <a:gd name="connsiteY5-12" fmla="*/ 484554 h 484554"/>
              <a:gd name="connsiteX6-13" fmla="*/ 0 w 1629746"/>
              <a:gd name="connsiteY6-14" fmla="*/ 484554 h 484554"/>
              <a:gd name="connsiteX7-15" fmla="*/ 47625 w 1629746"/>
              <a:gd name="connsiteY7-16" fmla="*/ 80761 h 484554"/>
              <a:gd name="connsiteX8-17" fmla="*/ 128386 w 1629746"/>
              <a:gd name="connsiteY8-18" fmla="*/ 0 h 484554"/>
              <a:gd name="connsiteX0-19" fmla="*/ 128386 w 1677371"/>
              <a:gd name="connsiteY0-20" fmla="*/ 9525 h 494079"/>
              <a:gd name="connsiteX1-21" fmla="*/ 1629746 w 1677371"/>
              <a:gd name="connsiteY1-22" fmla="*/ 9525 h 494079"/>
              <a:gd name="connsiteX2-23" fmla="*/ 1677371 w 1677371"/>
              <a:gd name="connsiteY2-24" fmla="*/ 0 h 494079"/>
              <a:gd name="connsiteX3-25" fmla="*/ 1629746 w 1677371"/>
              <a:gd name="connsiteY3-26" fmla="*/ 413318 h 494079"/>
              <a:gd name="connsiteX4-27" fmla="*/ 1548985 w 1677371"/>
              <a:gd name="connsiteY4-28" fmla="*/ 494079 h 494079"/>
              <a:gd name="connsiteX5-29" fmla="*/ 47625 w 1677371"/>
              <a:gd name="connsiteY5-30" fmla="*/ 494079 h 494079"/>
              <a:gd name="connsiteX6-31" fmla="*/ 0 w 1677371"/>
              <a:gd name="connsiteY6-32" fmla="*/ 494079 h 494079"/>
              <a:gd name="connsiteX7-33" fmla="*/ 47625 w 1677371"/>
              <a:gd name="connsiteY7-34" fmla="*/ 90286 h 494079"/>
              <a:gd name="connsiteX8-35" fmla="*/ 128386 w 1677371"/>
              <a:gd name="connsiteY8-36" fmla="*/ 9525 h 494079"/>
              <a:gd name="connsiteX0-37" fmla="*/ 128386 w 1705946"/>
              <a:gd name="connsiteY0-38" fmla="*/ 9525 h 494079"/>
              <a:gd name="connsiteX1-39" fmla="*/ 1629746 w 1705946"/>
              <a:gd name="connsiteY1-40" fmla="*/ 9525 h 494079"/>
              <a:gd name="connsiteX2-41" fmla="*/ 1705946 w 1705946"/>
              <a:gd name="connsiteY2-42" fmla="*/ 0 h 494079"/>
              <a:gd name="connsiteX3-43" fmla="*/ 1629746 w 1705946"/>
              <a:gd name="connsiteY3-44" fmla="*/ 413318 h 494079"/>
              <a:gd name="connsiteX4-45" fmla="*/ 1548985 w 1705946"/>
              <a:gd name="connsiteY4-46" fmla="*/ 494079 h 494079"/>
              <a:gd name="connsiteX5-47" fmla="*/ 47625 w 1705946"/>
              <a:gd name="connsiteY5-48" fmla="*/ 494079 h 494079"/>
              <a:gd name="connsiteX6-49" fmla="*/ 0 w 1705946"/>
              <a:gd name="connsiteY6-50" fmla="*/ 494079 h 494079"/>
              <a:gd name="connsiteX7-51" fmla="*/ 47625 w 1705946"/>
              <a:gd name="connsiteY7-52" fmla="*/ 90286 h 494079"/>
              <a:gd name="connsiteX8-53" fmla="*/ 128386 w 1705946"/>
              <a:gd name="connsiteY8-54" fmla="*/ 9525 h 494079"/>
              <a:gd name="connsiteX0-55" fmla="*/ 128386 w 1718646"/>
              <a:gd name="connsiteY0-56" fmla="*/ 0 h 484554"/>
              <a:gd name="connsiteX1-57" fmla="*/ 1629746 w 1718646"/>
              <a:gd name="connsiteY1-58" fmla="*/ 0 h 484554"/>
              <a:gd name="connsiteX2-59" fmla="*/ 1718646 w 1718646"/>
              <a:gd name="connsiteY2-60" fmla="*/ 6350 h 484554"/>
              <a:gd name="connsiteX3-61" fmla="*/ 1629746 w 1718646"/>
              <a:gd name="connsiteY3-62" fmla="*/ 403793 h 484554"/>
              <a:gd name="connsiteX4-63" fmla="*/ 1548985 w 1718646"/>
              <a:gd name="connsiteY4-64" fmla="*/ 484554 h 484554"/>
              <a:gd name="connsiteX5-65" fmla="*/ 47625 w 1718646"/>
              <a:gd name="connsiteY5-66" fmla="*/ 484554 h 484554"/>
              <a:gd name="connsiteX6-67" fmla="*/ 0 w 1718646"/>
              <a:gd name="connsiteY6-68" fmla="*/ 484554 h 484554"/>
              <a:gd name="connsiteX7-69" fmla="*/ 47625 w 1718646"/>
              <a:gd name="connsiteY7-70" fmla="*/ 80761 h 484554"/>
              <a:gd name="connsiteX8-71" fmla="*/ 128386 w 1718646"/>
              <a:gd name="connsiteY8-72" fmla="*/ 0 h 484554"/>
              <a:gd name="connsiteX0-73" fmla="*/ 128386 w 1718646"/>
              <a:gd name="connsiteY0-74" fmla="*/ 0 h 484554"/>
              <a:gd name="connsiteX1-75" fmla="*/ 1718646 w 1718646"/>
              <a:gd name="connsiteY1-76" fmla="*/ 6350 h 484554"/>
              <a:gd name="connsiteX2-77" fmla="*/ 1629746 w 1718646"/>
              <a:gd name="connsiteY2-78" fmla="*/ 403793 h 484554"/>
              <a:gd name="connsiteX3-79" fmla="*/ 1548985 w 1718646"/>
              <a:gd name="connsiteY3-80" fmla="*/ 484554 h 484554"/>
              <a:gd name="connsiteX4-81" fmla="*/ 47625 w 1718646"/>
              <a:gd name="connsiteY4-82" fmla="*/ 484554 h 484554"/>
              <a:gd name="connsiteX5-83" fmla="*/ 0 w 1718646"/>
              <a:gd name="connsiteY5-84" fmla="*/ 484554 h 484554"/>
              <a:gd name="connsiteX6-85" fmla="*/ 47625 w 1718646"/>
              <a:gd name="connsiteY6-86" fmla="*/ 80761 h 484554"/>
              <a:gd name="connsiteX7-87" fmla="*/ 128386 w 1718646"/>
              <a:gd name="connsiteY7-88" fmla="*/ 0 h 484554"/>
              <a:gd name="connsiteX0-89" fmla="*/ 128386 w 1715471"/>
              <a:gd name="connsiteY0-90" fmla="*/ 0 h 484554"/>
              <a:gd name="connsiteX1-91" fmla="*/ 1715471 w 1715471"/>
              <a:gd name="connsiteY1-92" fmla="*/ 0 h 484554"/>
              <a:gd name="connsiteX2-93" fmla="*/ 1629746 w 1715471"/>
              <a:gd name="connsiteY2-94" fmla="*/ 403793 h 484554"/>
              <a:gd name="connsiteX3-95" fmla="*/ 1548985 w 1715471"/>
              <a:gd name="connsiteY3-96" fmla="*/ 484554 h 484554"/>
              <a:gd name="connsiteX4-97" fmla="*/ 47625 w 1715471"/>
              <a:gd name="connsiteY4-98" fmla="*/ 484554 h 484554"/>
              <a:gd name="connsiteX5-99" fmla="*/ 0 w 1715471"/>
              <a:gd name="connsiteY5-100" fmla="*/ 484554 h 484554"/>
              <a:gd name="connsiteX6-101" fmla="*/ 47625 w 1715471"/>
              <a:gd name="connsiteY6-102" fmla="*/ 80761 h 484554"/>
              <a:gd name="connsiteX7-103" fmla="*/ 128386 w 1715471"/>
              <a:gd name="connsiteY7-104" fmla="*/ 0 h 484554"/>
              <a:gd name="connsiteX0-105" fmla="*/ 128386 w 1715471"/>
              <a:gd name="connsiteY0-106" fmla="*/ 0 h 484554"/>
              <a:gd name="connsiteX1-107" fmla="*/ 1715471 w 1715471"/>
              <a:gd name="connsiteY1-108" fmla="*/ 0 h 484554"/>
              <a:gd name="connsiteX2-109" fmla="*/ 1629746 w 1715471"/>
              <a:gd name="connsiteY2-110" fmla="*/ 403793 h 484554"/>
              <a:gd name="connsiteX3-111" fmla="*/ 1548985 w 1715471"/>
              <a:gd name="connsiteY3-112" fmla="*/ 484554 h 484554"/>
              <a:gd name="connsiteX4-113" fmla="*/ 0 w 1715471"/>
              <a:gd name="connsiteY4-114" fmla="*/ 484554 h 484554"/>
              <a:gd name="connsiteX5-115" fmla="*/ 47625 w 1715471"/>
              <a:gd name="connsiteY5-116" fmla="*/ 80761 h 484554"/>
              <a:gd name="connsiteX6-117" fmla="*/ 128386 w 1715471"/>
              <a:gd name="connsiteY6-118" fmla="*/ 0 h 484554"/>
              <a:gd name="connsiteX0-119" fmla="*/ 137911 w 1724996"/>
              <a:gd name="connsiteY0-120" fmla="*/ 0 h 484554"/>
              <a:gd name="connsiteX1-121" fmla="*/ 1724996 w 1724996"/>
              <a:gd name="connsiteY1-122" fmla="*/ 0 h 484554"/>
              <a:gd name="connsiteX2-123" fmla="*/ 1639271 w 1724996"/>
              <a:gd name="connsiteY2-124" fmla="*/ 403793 h 484554"/>
              <a:gd name="connsiteX3-125" fmla="*/ 1558510 w 1724996"/>
              <a:gd name="connsiteY3-126" fmla="*/ 484554 h 484554"/>
              <a:gd name="connsiteX4-127" fmla="*/ 0 w 1724996"/>
              <a:gd name="connsiteY4-128" fmla="*/ 484554 h 484554"/>
              <a:gd name="connsiteX5-129" fmla="*/ 57150 w 1724996"/>
              <a:gd name="connsiteY5-130" fmla="*/ 80761 h 484554"/>
              <a:gd name="connsiteX6-131" fmla="*/ 137911 w 1724996"/>
              <a:gd name="connsiteY6-132" fmla="*/ 0 h 484554"/>
              <a:gd name="connsiteX0-133" fmla="*/ 137911 w 1724996"/>
              <a:gd name="connsiteY0-134" fmla="*/ 0 h 484554"/>
              <a:gd name="connsiteX1-135" fmla="*/ 1724996 w 1724996"/>
              <a:gd name="connsiteY1-136" fmla="*/ 0 h 484554"/>
              <a:gd name="connsiteX2-137" fmla="*/ 1639271 w 1724996"/>
              <a:gd name="connsiteY2-138" fmla="*/ 403793 h 484554"/>
              <a:gd name="connsiteX3-139" fmla="*/ 1558510 w 1724996"/>
              <a:gd name="connsiteY3-140" fmla="*/ 484554 h 484554"/>
              <a:gd name="connsiteX4-141" fmla="*/ 0 w 1724996"/>
              <a:gd name="connsiteY4-142" fmla="*/ 484554 h 484554"/>
              <a:gd name="connsiteX5-143" fmla="*/ 57150 w 1724996"/>
              <a:gd name="connsiteY5-144" fmla="*/ 80761 h 484554"/>
              <a:gd name="connsiteX6-145" fmla="*/ 137911 w 1724996"/>
              <a:gd name="connsiteY6-146" fmla="*/ 0 h 484554"/>
              <a:gd name="connsiteX0-147" fmla="*/ 137911 w 1724996"/>
              <a:gd name="connsiteY0-148" fmla="*/ 0 h 484554"/>
              <a:gd name="connsiteX1-149" fmla="*/ 1724996 w 1724996"/>
              <a:gd name="connsiteY1-150" fmla="*/ 0 h 484554"/>
              <a:gd name="connsiteX2-151" fmla="*/ 1639271 w 1724996"/>
              <a:gd name="connsiteY2-152" fmla="*/ 403793 h 484554"/>
              <a:gd name="connsiteX3-153" fmla="*/ 1558510 w 1724996"/>
              <a:gd name="connsiteY3-154" fmla="*/ 484554 h 484554"/>
              <a:gd name="connsiteX4-155" fmla="*/ 0 w 1724996"/>
              <a:gd name="connsiteY4-156" fmla="*/ 484554 h 484554"/>
              <a:gd name="connsiteX5-157" fmla="*/ 57150 w 1724996"/>
              <a:gd name="connsiteY5-158" fmla="*/ 80761 h 484554"/>
              <a:gd name="connsiteX6-159" fmla="*/ 137911 w 1724996"/>
              <a:gd name="connsiteY6-160" fmla="*/ 0 h 484554"/>
              <a:gd name="connsiteX0-161" fmla="*/ 156961 w 1744046"/>
              <a:gd name="connsiteY0-162" fmla="*/ 0 h 484554"/>
              <a:gd name="connsiteX1-163" fmla="*/ 1744046 w 1744046"/>
              <a:gd name="connsiteY1-164" fmla="*/ 0 h 484554"/>
              <a:gd name="connsiteX2-165" fmla="*/ 1658321 w 1744046"/>
              <a:gd name="connsiteY2-166" fmla="*/ 403793 h 484554"/>
              <a:gd name="connsiteX3-167" fmla="*/ 1577560 w 1744046"/>
              <a:gd name="connsiteY3-168" fmla="*/ 484554 h 484554"/>
              <a:gd name="connsiteX4-169" fmla="*/ 0 w 1744046"/>
              <a:gd name="connsiteY4-170" fmla="*/ 484554 h 484554"/>
              <a:gd name="connsiteX5-171" fmla="*/ 76200 w 1744046"/>
              <a:gd name="connsiteY5-172" fmla="*/ 80761 h 484554"/>
              <a:gd name="connsiteX6-173" fmla="*/ 156961 w 1744046"/>
              <a:gd name="connsiteY6-174" fmla="*/ 0 h 484554"/>
              <a:gd name="connsiteX0-175" fmla="*/ 156961 w 1744046"/>
              <a:gd name="connsiteY0-176" fmla="*/ 0 h 484554"/>
              <a:gd name="connsiteX1-177" fmla="*/ 1744046 w 1744046"/>
              <a:gd name="connsiteY1-178" fmla="*/ 0 h 484554"/>
              <a:gd name="connsiteX2-179" fmla="*/ 1658321 w 1744046"/>
              <a:gd name="connsiteY2-180" fmla="*/ 403793 h 484554"/>
              <a:gd name="connsiteX3-181" fmla="*/ 1577560 w 1744046"/>
              <a:gd name="connsiteY3-182" fmla="*/ 484554 h 484554"/>
              <a:gd name="connsiteX4-183" fmla="*/ 0 w 1744046"/>
              <a:gd name="connsiteY4-184" fmla="*/ 484554 h 484554"/>
              <a:gd name="connsiteX5-185" fmla="*/ 76200 w 1744046"/>
              <a:gd name="connsiteY5-186" fmla="*/ 80761 h 484554"/>
              <a:gd name="connsiteX6-187" fmla="*/ 156961 w 1744046"/>
              <a:gd name="connsiteY6-188" fmla="*/ 0 h 484554"/>
              <a:gd name="connsiteX0-189" fmla="*/ 156961 w 1744046"/>
              <a:gd name="connsiteY0-190" fmla="*/ 0 h 484554"/>
              <a:gd name="connsiteX1-191" fmla="*/ 1744046 w 1744046"/>
              <a:gd name="connsiteY1-192" fmla="*/ 0 h 484554"/>
              <a:gd name="connsiteX2-193" fmla="*/ 1658321 w 1744046"/>
              <a:gd name="connsiteY2-194" fmla="*/ 403793 h 484554"/>
              <a:gd name="connsiteX3-195" fmla="*/ 1577560 w 1744046"/>
              <a:gd name="connsiteY3-196" fmla="*/ 484554 h 484554"/>
              <a:gd name="connsiteX4-197" fmla="*/ 0 w 1744046"/>
              <a:gd name="connsiteY4-198" fmla="*/ 484554 h 484554"/>
              <a:gd name="connsiteX5-199" fmla="*/ 76200 w 1744046"/>
              <a:gd name="connsiteY5-200" fmla="*/ 80761 h 484554"/>
              <a:gd name="connsiteX6-201" fmla="*/ 156961 w 1744046"/>
              <a:gd name="connsiteY6-202" fmla="*/ 0 h 484554"/>
              <a:gd name="connsiteX0-203" fmla="*/ 156961 w 1744046"/>
              <a:gd name="connsiteY0-204" fmla="*/ 0 h 484554"/>
              <a:gd name="connsiteX1-205" fmla="*/ 1744046 w 1744046"/>
              <a:gd name="connsiteY1-206" fmla="*/ 0 h 484554"/>
              <a:gd name="connsiteX2-207" fmla="*/ 1658321 w 1744046"/>
              <a:gd name="connsiteY2-208" fmla="*/ 403793 h 484554"/>
              <a:gd name="connsiteX3-209" fmla="*/ 1577560 w 1744046"/>
              <a:gd name="connsiteY3-210" fmla="*/ 484554 h 484554"/>
              <a:gd name="connsiteX4-211" fmla="*/ 0 w 1744046"/>
              <a:gd name="connsiteY4-212" fmla="*/ 484554 h 484554"/>
              <a:gd name="connsiteX5-213" fmla="*/ 76200 w 1744046"/>
              <a:gd name="connsiteY5-214" fmla="*/ 80761 h 484554"/>
              <a:gd name="connsiteX6-215" fmla="*/ 156961 w 1744046"/>
              <a:gd name="connsiteY6-216" fmla="*/ 0 h 484554"/>
              <a:gd name="connsiteX0-217" fmla="*/ 156961 w 1744046"/>
              <a:gd name="connsiteY0-218" fmla="*/ 0 h 484554"/>
              <a:gd name="connsiteX1-219" fmla="*/ 1744046 w 1744046"/>
              <a:gd name="connsiteY1-220" fmla="*/ 0 h 484554"/>
              <a:gd name="connsiteX2-221" fmla="*/ 1658321 w 1744046"/>
              <a:gd name="connsiteY2-222" fmla="*/ 403793 h 484554"/>
              <a:gd name="connsiteX3-223" fmla="*/ 1577560 w 1744046"/>
              <a:gd name="connsiteY3-224" fmla="*/ 484554 h 484554"/>
              <a:gd name="connsiteX4-225" fmla="*/ 0 w 1744046"/>
              <a:gd name="connsiteY4-226" fmla="*/ 484554 h 484554"/>
              <a:gd name="connsiteX5-227" fmla="*/ 76200 w 1744046"/>
              <a:gd name="connsiteY5-228" fmla="*/ 80761 h 484554"/>
              <a:gd name="connsiteX6-229" fmla="*/ 156961 w 1744046"/>
              <a:gd name="connsiteY6-230" fmla="*/ 0 h 484554"/>
              <a:gd name="connsiteX0-231" fmla="*/ 156961 w 1744046"/>
              <a:gd name="connsiteY0-232" fmla="*/ 0 h 484554"/>
              <a:gd name="connsiteX1-233" fmla="*/ 1744046 w 1744046"/>
              <a:gd name="connsiteY1-234" fmla="*/ 0 h 484554"/>
              <a:gd name="connsiteX2-235" fmla="*/ 1658321 w 1744046"/>
              <a:gd name="connsiteY2-236" fmla="*/ 403793 h 484554"/>
              <a:gd name="connsiteX3-237" fmla="*/ 1577560 w 1744046"/>
              <a:gd name="connsiteY3-238" fmla="*/ 484554 h 484554"/>
              <a:gd name="connsiteX4-239" fmla="*/ 0 w 1744046"/>
              <a:gd name="connsiteY4-240" fmla="*/ 484554 h 484554"/>
              <a:gd name="connsiteX5-241" fmla="*/ 76200 w 1744046"/>
              <a:gd name="connsiteY5-242" fmla="*/ 80761 h 484554"/>
              <a:gd name="connsiteX6-243" fmla="*/ 156961 w 1744046"/>
              <a:gd name="connsiteY6-244" fmla="*/ 0 h 4845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744046" h="484554">
                <a:moveTo>
                  <a:pt x="156961" y="0"/>
                </a:moveTo>
                <a:lnTo>
                  <a:pt x="1744046" y="0"/>
                </a:lnTo>
                <a:lnTo>
                  <a:pt x="1658321" y="403793"/>
                </a:lnTo>
                <a:cubicBezTo>
                  <a:pt x="1658321" y="448396"/>
                  <a:pt x="1622163" y="484554"/>
                  <a:pt x="1577560" y="484554"/>
                </a:cubicBezTo>
                <a:lnTo>
                  <a:pt x="0" y="484554"/>
                </a:lnTo>
                <a:cubicBezTo>
                  <a:pt x="19050" y="343606"/>
                  <a:pt x="57150" y="180434"/>
                  <a:pt x="76200" y="80761"/>
                </a:cubicBezTo>
                <a:cubicBezTo>
                  <a:pt x="88900" y="36158"/>
                  <a:pt x="112358" y="0"/>
                  <a:pt x="156961" y="0"/>
                </a:cubicBezTo>
                <a:close/>
              </a:path>
            </a:pathLst>
          </a:custGeom>
          <a:solidFill>
            <a:srgbClr val="0042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6" name="文本框 45"/>
          <p:cNvSpPr txBox="1"/>
          <p:nvPr/>
        </p:nvSpPr>
        <p:spPr>
          <a:xfrm>
            <a:off x="3846482" y="4960966"/>
            <a:ext cx="824930"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en-US" altLang="zh-CN" sz="1000" dirty="0">
                <a:latin typeface="微软雅黑"/>
                <a:ea typeface="微软雅黑"/>
                <a:cs typeface="微软雅黑"/>
              </a:rPr>
              <a:t>OA</a:t>
            </a:r>
            <a:r>
              <a:rPr lang="zh-CN" altLang="en-US" sz="1000" dirty="0">
                <a:latin typeface="微软雅黑"/>
                <a:ea typeface="微软雅黑"/>
                <a:cs typeface="微软雅黑"/>
              </a:rPr>
              <a:t>系统</a:t>
            </a:r>
            <a:endParaRPr lang="zh-CN" altLang="en-US" sz="1000" dirty="0">
              <a:latin typeface="微软雅黑"/>
              <a:ea typeface="微软雅黑"/>
              <a:cs typeface="微软雅黑"/>
            </a:endParaRPr>
          </a:p>
        </p:txBody>
      </p:sp>
      <p:sp>
        <p:nvSpPr>
          <p:cNvPr id="47" name="文本框 46"/>
          <p:cNvSpPr txBox="1"/>
          <p:nvPr/>
        </p:nvSpPr>
        <p:spPr>
          <a:xfrm>
            <a:off x="4662623" y="4960966"/>
            <a:ext cx="824930"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en-US" altLang="zh-CN" sz="1000" dirty="0">
                <a:latin typeface="微软雅黑"/>
                <a:ea typeface="微软雅黑"/>
                <a:cs typeface="微软雅黑"/>
              </a:rPr>
              <a:t>PLM</a:t>
            </a:r>
            <a:r>
              <a:rPr lang="zh-CN" altLang="en-US" sz="1000" dirty="0">
                <a:latin typeface="微软雅黑"/>
                <a:ea typeface="微软雅黑"/>
                <a:cs typeface="微软雅黑"/>
              </a:rPr>
              <a:t>系统</a:t>
            </a:r>
            <a:endParaRPr lang="zh-CN" altLang="en-US" sz="1000" dirty="0">
              <a:latin typeface="微软雅黑"/>
              <a:ea typeface="微软雅黑"/>
              <a:cs typeface="微软雅黑"/>
            </a:endParaRPr>
          </a:p>
        </p:txBody>
      </p:sp>
      <p:sp>
        <p:nvSpPr>
          <p:cNvPr id="48" name="文本框 47"/>
          <p:cNvSpPr txBox="1"/>
          <p:nvPr/>
        </p:nvSpPr>
        <p:spPr>
          <a:xfrm>
            <a:off x="3846482" y="5238172"/>
            <a:ext cx="824930"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en-US" altLang="zh-CN" sz="1000" dirty="0">
                <a:latin typeface="微软雅黑"/>
                <a:ea typeface="微软雅黑"/>
                <a:cs typeface="微软雅黑"/>
              </a:rPr>
              <a:t>ERP</a:t>
            </a:r>
            <a:r>
              <a:rPr lang="zh-CN" altLang="en-US" sz="1000" dirty="0">
                <a:latin typeface="微软雅黑"/>
                <a:ea typeface="微软雅黑"/>
                <a:cs typeface="微软雅黑"/>
              </a:rPr>
              <a:t>系统</a:t>
            </a:r>
            <a:endParaRPr lang="zh-CN" altLang="en-US" sz="1000" dirty="0">
              <a:latin typeface="微软雅黑"/>
              <a:ea typeface="微软雅黑"/>
              <a:cs typeface="微软雅黑"/>
            </a:endParaRPr>
          </a:p>
        </p:txBody>
      </p:sp>
      <p:sp>
        <p:nvSpPr>
          <p:cNvPr id="49" name="文本框 48"/>
          <p:cNvSpPr txBox="1"/>
          <p:nvPr/>
        </p:nvSpPr>
        <p:spPr>
          <a:xfrm>
            <a:off x="4662623" y="5238172"/>
            <a:ext cx="824930"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其他系统</a:t>
            </a:r>
            <a:endParaRPr lang="zh-CN" altLang="en-US" sz="1000" dirty="0">
              <a:latin typeface="微软雅黑"/>
              <a:ea typeface="微软雅黑"/>
              <a:cs typeface="微软雅黑"/>
            </a:endParaRPr>
          </a:p>
        </p:txBody>
      </p:sp>
      <p:sp>
        <p:nvSpPr>
          <p:cNvPr id="50" name="文本框 49"/>
          <p:cNvSpPr txBox="1"/>
          <p:nvPr/>
        </p:nvSpPr>
        <p:spPr>
          <a:xfrm>
            <a:off x="7046114" y="4960966"/>
            <a:ext cx="824930"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社交媒体</a:t>
            </a:r>
            <a:endParaRPr lang="zh-CN" altLang="en-US" sz="1000" dirty="0">
              <a:latin typeface="微软雅黑"/>
              <a:ea typeface="微软雅黑"/>
              <a:cs typeface="微软雅黑"/>
            </a:endParaRPr>
          </a:p>
        </p:txBody>
      </p:sp>
      <p:sp>
        <p:nvSpPr>
          <p:cNvPr id="51" name="文本框 50"/>
          <p:cNvSpPr txBox="1"/>
          <p:nvPr/>
        </p:nvSpPr>
        <p:spPr>
          <a:xfrm>
            <a:off x="7862255" y="4960966"/>
            <a:ext cx="824930"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互联网</a:t>
            </a:r>
            <a:endParaRPr lang="zh-CN" altLang="en-US" sz="1000" dirty="0">
              <a:latin typeface="微软雅黑"/>
              <a:ea typeface="微软雅黑"/>
              <a:cs typeface="微软雅黑"/>
            </a:endParaRPr>
          </a:p>
        </p:txBody>
      </p:sp>
      <p:sp>
        <p:nvSpPr>
          <p:cNvPr id="52" name="文本框 51"/>
          <p:cNvSpPr txBox="1"/>
          <p:nvPr/>
        </p:nvSpPr>
        <p:spPr>
          <a:xfrm>
            <a:off x="6925800" y="5238172"/>
            <a:ext cx="1065558"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其他企业应用</a:t>
            </a:r>
            <a:endParaRPr lang="zh-CN" altLang="en-US" sz="1000" dirty="0">
              <a:latin typeface="微软雅黑"/>
              <a:ea typeface="微软雅黑"/>
              <a:cs typeface="微软雅黑"/>
            </a:endParaRPr>
          </a:p>
        </p:txBody>
      </p:sp>
      <p:sp>
        <p:nvSpPr>
          <p:cNvPr id="53" name="文本框 52"/>
          <p:cNvSpPr txBox="1"/>
          <p:nvPr/>
        </p:nvSpPr>
        <p:spPr>
          <a:xfrm>
            <a:off x="7862255" y="5238172"/>
            <a:ext cx="824930"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政府数据</a:t>
            </a:r>
            <a:endParaRPr lang="zh-CN" altLang="en-US" sz="1000" dirty="0">
              <a:latin typeface="微软雅黑"/>
              <a:ea typeface="微软雅黑"/>
              <a:cs typeface="微软雅黑"/>
            </a:endParaRPr>
          </a:p>
        </p:txBody>
      </p:sp>
      <p:sp>
        <p:nvSpPr>
          <p:cNvPr id="54" name="文本框 53"/>
          <p:cNvSpPr txBox="1"/>
          <p:nvPr/>
        </p:nvSpPr>
        <p:spPr>
          <a:xfrm>
            <a:off x="2754023" y="1810524"/>
            <a:ext cx="1261038"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基础数据统一</a:t>
            </a:r>
            <a:endParaRPr lang="zh-CN" altLang="en-US" sz="1000" dirty="0">
              <a:latin typeface="微软雅黑"/>
              <a:ea typeface="微软雅黑"/>
              <a:cs typeface="微软雅黑"/>
            </a:endParaRPr>
          </a:p>
        </p:txBody>
      </p:sp>
      <p:sp>
        <p:nvSpPr>
          <p:cNvPr id="55" name="文本框 54"/>
          <p:cNvSpPr txBox="1"/>
          <p:nvPr/>
        </p:nvSpPr>
        <p:spPr>
          <a:xfrm>
            <a:off x="4239072" y="1780230"/>
            <a:ext cx="1067128"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运营决策系统</a:t>
            </a:r>
            <a:endParaRPr lang="zh-CN" altLang="en-US" sz="1000" dirty="0">
              <a:latin typeface="微软雅黑"/>
              <a:ea typeface="微软雅黑"/>
              <a:cs typeface="微软雅黑"/>
            </a:endParaRPr>
          </a:p>
        </p:txBody>
      </p:sp>
      <p:sp>
        <p:nvSpPr>
          <p:cNvPr id="56" name="文本框 55"/>
          <p:cNvSpPr txBox="1"/>
          <p:nvPr/>
        </p:nvSpPr>
        <p:spPr>
          <a:xfrm>
            <a:off x="5644115" y="1780230"/>
            <a:ext cx="1067128"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缩减管理成本</a:t>
            </a:r>
            <a:endParaRPr lang="zh-CN" altLang="en-US" sz="1000" dirty="0">
              <a:latin typeface="微软雅黑"/>
              <a:ea typeface="微软雅黑"/>
              <a:cs typeface="微软雅黑"/>
            </a:endParaRPr>
          </a:p>
        </p:txBody>
      </p:sp>
      <p:sp>
        <p:nvSpPr>
          <p:cNvPr id="57" name="文本框 56"/>
          <p:cNvSpPr txBox="1"/>
          <p:nvPr/>
        </p:nvSpPr>
        <p:spPr>
          <a:xfrm>
            <a:off x="7043503" y="1780230"/>
            <a:ext cx="1067128"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提升数据价值</a:t>
            </a:r>
            <a:endParaRPr lang="zh-CN" altLang="en-US" sz="1000" dirty="0">
              <a:latin typeface="微软雅黑"/>
              <a:ea typeface="微软雅黑"/>
              <a:cs typeface="微软雅黑"/>
            </a:endParaRPr>
          </a:p>
        </p:txBody>
      </p:sp>
      <p:sp>
        <p:nvSpPr>
          <p:cNvPr id="58" name="文本框 57"/>
          <p:cNvSpPr txBox="1"/>
          <p:nvPr/>
        </p:nvSpPr>
        <p:spPr>
          <a:xfrm>
            <a:off x="8442891" y="1810524"/>
            <a:ext cx="1067128" cy="246221"/>
          </a:xfrm>
          <a:prstGeom prst="rect">
            <a:avLst/>
          </a:prstGeom>
          <a:noFill/>
        </p:spPr>
        <p:txBody>
          <a:bodyPr wrap="square" lIns="0" rIns="0" tIns="0" bIns="0">
            <a:spAutoFit/>
          </a:bodyPr>
          <a:lstStyle>
            <a:defPPr>
              <a:defRPr lang="zh-CN">
                <a:latin typeface="微软雅黑"/>
                <a:ea typeface="微软雅黑"/>
                <a:cs typeface="微软雅黑"/>
              </a:defRPr>
            </a:defPPr>
            <a:lvl1pPr>
              <a:lnSpc>
                <a:spcPct val="125000"/>
              </a:lnSpc>
              <a:defRPr sz="1200">
                <a:solidFill>
                  <a:srgbClr val="383838"/>
                </a:solidFill>
                <a:latin typeface="微软雅黑"/>
                <a:ea typeface="微软雅黑"/>
                <a:cs typeface="微软雅黑"/>
              </a:defRPr>
            </a:lvl1pPr>
          </a:lstStyle>
          <a:p>
            <a:pPr algn="ctr">
              <a:lnSpc>
                <a:spcPct val="100000"/>
              </a:lnSpc>
              <a:defRPr>
                <a:latin typeface="微软雅黑"/>
                <a:ea typeface="微软雅黑"/>
                <a:cs typeface="微软雅黑"/>
              </a:defRPr>
            </a:pPr>
            <a:r>
              <a:rPr lang="zh-CN" altLang="en-US" sz="1000" dirty="0">
                <a:latin typeface="微软雅黑"/>
                <a:ea typeface="微软雅黑"/>
                <a:cs typeface="微软雅黑"/>
              </a:rPr>
              <a:t>降低数据风险</a:t>
            </a:r>
            <a:endParaRPr lang="zh-CN" altLang="en-US" sz="1000" dirty="0">
              <a:latin typeface="微软雅黑"/>
              <a:ea typeface="微软雅黑"/>
              <a:cs typeface="微软雅黑"/>
            </a:endParaRPr>
          </a:p>
        </p:txBody>
      </p:sp>
      <p:sp>
        <p:nvSpPr>
          <p:cNvPr id="59" name="文本框 58"/>
          <p:cNvSpPr txBox="1"/>
          <p:nvPr/>
        </p:nvSpPr>
        <p:spPr>
          <a:xfrm>
            <a:off x="5491844" y="4076936"/>
            <a:ext cx="1384578" cy="305596"/>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元数据</a:t>
            </a:r>
            <a:endParaRPr lang="zh-CN" altLang="en-US" dirty="0">
              <a:solidFill>
                <a:srgbClr val="FFFFFF"/>
              </a:solidFill>
              <a:latin typeface="微软雅黑"/>
              <a:ea typeface="微软雅黑"/>
              <a:cs typeface="微软雅黑"/>
            </a:endParaRPr>
          </a:p>
        </p:txBody>
      </p:sp>
      <p:sp>
        <p:nvSpPr>
          <p:cNvPr id="61" name="文本框 60"/>
          <p:cNvSpPr txBox="1"/>
          <p:nvPr/>
        </p:nvSpPr>
        <p:spPr>
          <a:xfrm>
            <a:off x="4662623" y="4135429"/>
            <a:ext cx="824930"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en-US" altLang="zh-CN" sz="1000" dirty="0">
                <a:solidFill>
                  <a:srgbClr val="FFFFFF"/>
                </a:solidFill>
                <a:latin typeface="微软雅黑"/>
                <a:ea typeface="微软雅黑"/>
                <a:cs typeface="微软雅黑"/>
              </a:rPr>
              <a:t>OA</a:t>
            </a:r>
            <a:r>
              <a:rPr lang="zh-CN" altLang="en-US" sz="1000" dirty="0">
                <a:solidFill>
                  <a:srgbClr val="FFFFFF"/>
                </a:solidFill>
                <a:latin typeface="微软雅黑"/>
                <a:ea typeface="微软雅黑"/>
                <a:cs typeface="微软雅黑"/>
              </a:rPr>
              <a:t>系统</a:t>
            </a:r>
            <a:endParaRPr lang="zh-CN" altLang="en-US" sz="1000" dirty="0">
              <a:solidFill>
                <a:srgbClr val="FFFFFF"/>
              </a:solidFill>
              <a:latin typeface="微软雅黑"/>
              <a:ea typeface="微软雅黑"/>
              <a:cs typeface="微软雅黑"/>
            </a:endParaRPr>
          </a:p>
        </p:txBody>
      </p:sp>
      <p:sp>
        <p:nvSpPr>
          <p:cNvPr id="62" name="文本框 61"/>
          <p:cNvSpPr txBox="1"/>
          <p:nvPr/>
        </p:nvSpPr>
        <p:spPr>
          <a:xfrm>
            <a:off x="3569475" y="4160829"/>
            <a:ext cx="824930"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en-US" altLang="zh-CN" sz="1000" dirty="0">
                <a:solidFill>
                  <a:srgbClr val="FFFFFF"/>
                </a:solidFill>
                <a:latin typeface="微软雅黑"/>
                <a:ea typeface="微软雅黑"/>
                <a:cs typeface="微软雅黑"/>
              </a:rPr>
              <a:t>ERP</a:t>
            </a:r>
            <a:r>
              <a:rPr lang="zh-CN" altLang="en-US" sz="1000" dirty="0">
                <a:solidFill>
                  <a:srgbClr val="FFFFFF"/>
                </a:solidFill>
                <a:latin typeface="微软雅黑"/>
                <a:ea typeface="微软雅黑"/>
                <a:cs typeface="微软雅黑"/>
              </a:rPr>
              <a:t>系统</a:t>
            </a:r>
            <a:endParaRPr lang="zh-CN" altLang="en-US" sz="1000" dirty="0">
              <a:solidFill>
                <a:srgbClr val="FFFFFF"/>
              </a:solidFill>
              <a:latin typeface="微软雅黑"/>
              <a:ea typeface="微软雅黑"/>
              <a:cs typeface="微软雅黑"/>
            </a:endParaRPr>
          </a:p>
        </p:txBody>
      </p:sp>
      <p:sp>
        <p:nvSpPr>
          <p:cNvPr id="64" name="文本框 63"/>
          <p:cNvSpPr txBox="1"/>
          <p:nvPr/>
        </p:nvSpPr>
        <p:spPr>
          <a:xfrm>
            <a:off x="8053541" y="4160829"/>
            <a:ext cx="824930"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en-US" altLang="zh-CN" sz="1000" dirty="0">
                <a:solidFill>
                  <a:srgbClr val="FFFFFF"/>
                </a:solidFill>
                <a:latin typeface="微软雅黑"/>
                <a:ea typeface="微软雅黑"/>
                <a:cs typeface="微软雅黑"/>
              </a:rPr>
              <a:t>PLM</a:t>
            </a:r>
            <a:r>
              <a:rPr lang="zh-CN" altLang="en-US" sz="1000" dirty="0">
                <a:solidFill>
                  <a:srgbClr val="FFFFFF"/>
                </a:solidFill>
                <a:latin typeface="微软雅黑"/>
                <a:ea typeface="微软雅黑"/>
                <a:cs typeface="微软雅黑"/>
              </a:rPr>
              <a:t>系统</a:t>
            </a:r>
            <a:endParaRPr lang="zh-CN" altLang="en-US" sz="1000" dirty="0">
              <a:solidFill>
                <a:srgbClr val="FFFFFF"/>
              </a:solidFill>
              <a:latin typeface="微软雅黑"/>
              <a:ea typeface="微软雅黑"/>
              <a:cs typeface="微软雅黑"/>
            </a:endParaRPr>
          </a:p>
        </p:txBody>
      </p:sp>
      <p:sp>
        <p:nvSpPr>
          <p:cNvPr id="65" name="文本框 64"/>
          <p:cNvSpPr txBox="1"/>
          <p:nvPr/>
        </p:nvSpPr>
        <p:spPr>
          <a:xfrm>
            <a:off x="6822306" y="4135429"/>
            <a:ext cx="1101104"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精益营销系统</a:t>
            </a:r>
            <a:endParaRPr lang="zh-CN" altLang="en-US" sz="1000" dirty="0">
              <a:solidFill>
                <a:srgbClr val="FFFFFF"/>
              </a:solidFill>
              <a:latin typeface="微软雅黑"/>
              <a:ea typeface="微软雅黑"/>
              <a:cs typeface="微软雅黑"/>
            </a:endParaRPr>
          </a:p>
        </p:txBody>
      </p:sp>
      <p:sp>
        <p:nvSpPr>
          <p:cNvPr id="66" name="文本框 65"/>
          <p:cNvSpPr txBox="1"/>
          <p:nvPr/>
        </p:nvSpPr>
        <p:spPr>
          <a:xfrm>
            <a:off x="2669314" y="5116388"/>
            <a:ext cx="824930"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内部数据</a:t>
            </a:r>
            <a:endParaRPr lang="zh-CN" altLang="en-US" sz="1000" dirty="0">
              <a:solidFill>
                <a:srgbClr val="FFFFFF"/>
              </a:solidFill>
              <a:latin typeface="微软雅黑"/>
              <a:ea typeface="微软雅黑"/>
              <a:cs typeface="微软雅黑"/>
            </a:endParaRPr>
          </a:p>
        </p:txBody>
      </p:sp>
      <p:sp>
        <p:nvSpPr>
          <p:cNvPr id="67" name="文本框 66"/>
          <p:cNvSpPr txBox="1"/>
          <p:nvPr/>
        </p:nvSpPr>
        <p:spPr>
          <a:xfrm>
            <a:off x="9158766" y="5116388"/>
            <a:ext cx="824930"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外部数据</a:t>
            </a:r>
            <a:endParaRPr lang="zh-CN" altLang="en-US" sz="1000" dirty="0">
              <a:solidFill>
                <a:srgbClr val="FFFFFF"/>
              </a:solidFill>
              <a:latin typeface="微软雅黑"/>
              <a:ea typeface="微软雅黑"/>
              <a:cs typeface="微软雅黑"/>
            </a:endParaRPr>
          </a:p>
        </p:txBody>
      </p:sp>
      <p:sp>
        <p:nvSpPr>
          <p:cNvPr id="71" name="任意多边形: 形状 543"/>
          <p:cNvSpPr/>
          <p:nvPr/>
        </p:nvSpPr>
        <p:spPr>
          <a:xfrm>
            <a:off x="2961088" y="4671344"/>
            <a:ext cx="310158" cy="36601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55000">
                <a:srgbClr val="0042FF"/>
              </a:gs>
              <a:gs pos="0">
                <a:srgbClr val="0042FF">
                  <a:alpha val="0"/>
                </a:srgbClr>
              </a:gs>
              <a:gs pos="100000">
                <a:srgbClr val="0042FF"/>
              </a:gs>
            </a:gsLst>
            <a:lin ang="16200000" scaled="1"/>
            <a:tileRect/>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72" name="任意多边形: 形状 544"/>
          <p:cNvSpPr/>
          <p:nvPr/>
        </p:nvSpPr>
        <p:spPr>
          <a:xfrm>
            <a:off x="9381517" y="4671344"/>
            <a:ext cx="310158" cy="36601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55000">
                <a:srgbClr val="0042FF"/>
              </a:gs>
              <a:gs pos="0">
                <a:srgbClr val="0042FF">
                  <a:alpha val="0"/>
                </a:srgbClr>
              </a:gs>
              <a:gs pos="100000">
                <a:srgbClr val="0042FF"/>
              </a:gs>
            </a:gsLst>
            <a:lin ang="16200000" scaled="1"/>
            <a:tileRect/>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9" name="文本框 78"/>
          <p:cNvSpPr txBox="1"/>
          <p:nvPr/>
        </p:nvSpPr>
        <p:spPr>
          <a:xfrm>
            <a:off x="3233434" y="5700157"/>
            <a:ext cx="1245696"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en-US" altLang="zh-CN" sz="1000" dirty="0">
                <a:solidFill>
                  <a:srgbClr val="FFFFFF"/>
                </a:solidFill>
                <a:latin typeface="微软雅黑"/>
                <a:ea typeface="微软雅黑"/>
                <a:cs typeface="微软雅黑"/>
              </a:rPr>
              <a:t>ESB</a:t>
            </a:r>
            <a:r>
              <a:rPr lang="zh-CN" altLang="en-US" sz="1000" dirty="0">
                <a:solidFill>
                  <a:srgbClr val="FFFFFF"/>
                </a:solidFill>
                <a:latin typeface="微软雅黑"/>
                <a:ea typeface="微软雅黑"/>
                <a:cs typeface="微软雅黑"/>
              </a:rPr>
              <a:t>企业服务总线</a:t>
            </a:r>
            <a:endParaRPr lang="zh-CN" altLang="en-US" sz="1000" dirty="0">
              <a:solidFill>
                <a:srgbClr val="FFFFFF"/>
              </a:solidFill>
              <a:latin typeface="微软雅黑"/>
              <a:ea typeface="微软雅黑"/>
              <a:cs typeface="微软雅黑"/>
            </a:endParaRPr>
          </a:p>
        </p:txBody>
      </p:sp>
      <p:sp>
        <p:nvSpPr>
          <p:cNvPr id="80" name="文本框 79"/>
          <p:cNvSpPr txBox="1"/>
          <p:nvPr/>
        </p:nvSpPr>
        <p:spPr>
          <a:xfrm>
            <a:off x="5643327" y="5671582"/>
            <a:ext cx="1101104"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数据仓库</a:t>
            </a:r>
            <a:endParaRPr lang="zh-CN" altLang="en-US" sz="1000" dirty="0">
              <a:solidFill>
                <a:srgbClr val="FFFFFF"/>
              </a:solidFill>
              <a:latin typeface="微软雅黑"/>
              <a:ea typeface="微软雅黑"/>
              <a:cs typeface="微软雅黑"/>
            </a:endParaRPr>
          </a:p>
        </p:txBody>
      </p:sp>
      <p:sp>
        <p:nvSpPr>
          <p:cNvPr id="81" name="文本框 80"/>
          <p:cNvSpPr txBox="1"/>
          <p:nvPr/>
        </p:nvSpPr>
        <p:spPr>
          <a:xfrm>
            <a:off x="7672385" y="5700157"/>
            <a:ext cx="1101104"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数据集市</a:t>
            </a:r>
            <a:endParaRPr lang="zh-CN" altLang="en-US" sz="1000" dirty="0">
              <a:solidFill>
                <a:srgbClr val="FFFFFF"/>
              </a:solidFill>
              <a:latin typeface="微软雅黑"/>
              <a:ea typeface="微软雅黑"/>
              <a:cs typeface="微软雅黑"/>
            </a:endParaRPr>
          </a:p>
        </p:txBody>
      </p:sp>
      <p:grpSp>
        <p:nvGrpSpPr>
          <p:cNvPr id="82" name="组合 81"/>
          <p:cNvGrpSpPr/>
          <p:nvPr/>
        </p:nvGrpSpPr>
        <p:grpSpPr>
          <a:xfrm>
            <a:off x="3246490" y="2156884"/>
            <a:ext cx="144000" cy="144000"/>
            <a:chOff x="7455208" y="2172067"/>
            <a:chExt cx="85936" cy="85936"/>
          </a:xfrm>
        </p:grpSpPr>
        <p:sp>
          <p:nvSpPr>
            <p:cNvPr id="83" name="椭圆 82"/>
            <p:cNvSpPr/>
            <p:nvPr>
              <p:custDataLst>
                <p:tags r:id="rId7"/>
              </p:custDataLst>
            </p:nvPr>
          </p:nvSpPr>
          <p:spPr>
            <a:xfrm flipH="1">
              <a:off x="7455208" y="2172067"/>
              <a:ext cx="85936" cy="85936"/>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latin typeface="微软雅黑"/>
                <a:ea typeface="微软雅黑"/>
                <a:cs typeface="微软雅黑"/>
              </a:endParaRPr>
            </a:p>
          </p:txBody>
        </p:sp>
        <p:sp>
          <p:nvSpPr>
            <p:cNvPr id="84" name="椭圆 83"/>
            <p:cNvSpPr/>
            <p:nvPr/>
          </p:nvSpPr>
          <p:spPr>
            <a:xfrm flipH="1">
              <a:off x="7478736" y="2195595"/>
              <a:ext cx="38880" cy="38880"/>
            </a:xfrm>
            <a:prstGeom prst="ellipse">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grpSp>
        <p:nvGrpSpPr>
          <p:cNvPr id="85" name="组合 84"/>
          <p:cNvGrpSpPr/>
          <p:nvPr/>
        </p:nvGrpSpPr>
        <p:grpSpPr>
          <a:xfrm>
            <a:off x="4693552" y="2100249"/>
            <a:ext cx="144000" cy="144000"/>
            <a:chOff x="7455208" y="2172067"/>
            <a:chExt cx="85936" cy="85936"/>
          </a:xfrm>
        </p:grpSpPr>
        <p:sp>
          <p:nvSpPr>
            <p:cNvPr id="86" name="椭圆 85"/>
            <p:cNvSpPr/>
            <p:nvPr>
              <p:custDataLst>
                <p:tags r:id="rId8"/>
              </p:custDataLst>
            </p:nvPr>
          </p:nvSpPr>
          <p:spPr>
            <a:xfrm flipH="1">
              <a:off x="7455208" y="2172067"/>
              <a:ext cx="85936" cy="85936"/>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latin typeface="微软雅黑"/>
                <a:ea typeface="微软雅黑"/>
                <a:cs typeface="微软雅黑"/>
              </a:endParaRPr>
            </a:p>
          </p:txBody>
        </p:sp>
        <p:sp>
          <p:nvSpPr>
            <p:cNvPr id="87" name="椭圆 86"/>
            <p:cNvSpPr/>
            <p:nvPr/>
          </p:nvSpPr>
          <p:spPr>
            <a:xfrm flipH="1">
              <a:off x="7478736" y="2195595"/>
              <a:ext cx="38880" cy="38880"/>
            </a:xfrm>
            <a:prstGeom prst="ellipse">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grpSp>
        <p:nvGrpSpPr>
          <p:cNvPr id="88" name="组合 87"/>
          <p:cNvGrpSpPr/>
          <p:nvPr/>
        </p:nvGrpSpPr>
        <p:grpSpPr>
          <a:xfrm>
            <a:off x="7503913" y="2100249"/>
            <a:ext cx="144000" cy="144000"/>
            <a:chOff x="7455208" y="2172067"/>
            <a:chExt cx="85936" cy="85936"/>
          </a:xfrm>
        </p:grpSpPr>
        <p:sp>
          <p:nvSpPr>
            <p:cNvPr id="89" name="椭圆 88"/>
            <p:cNvSpPr/>
            <p:nvPr>
              <p:custDataLst>
                <p:tags r:id="rId9"/>
              </p:custDataLst>
            </p:nvPr>
          </p:nvSpPr>
          <p:spPr>
            <a:xfrm flipH="1">
              <a:off x="7455208" y="2172067"/>
              <a:ext cx="85936" cy="85936"/>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latin typeface="微软雅黑"/>
                <a:ea typeface="微软雅黑"/>
                <a:cs typeface="微软雅黑"/>
              </a:endParaRPr>
            </a:p>
          </p:txBody>
        </p:sp>
        <p:sp>
          <p:nvSpPr>
            <p:cNvPr id="90" name="椭圆 89"/>
            <p:cNvSpPr/>
            <p:nvPr/>
          </p:nvSpPr>
          <p:spPr>
            <a:xfrm flipH="1">
              <a:off x="7478736" y="2195595"/>
              <a:ext cx="38880" cy="38880"/>
            </a:xfrm>
            <a:prstGeom prst="ellipse">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grpSp>
        <p:nvGrpSpPr>
          <p:cNvPr id="91" name="组合 90"/>
          <p:cNvGrpSpPr/>
          <p:nvPr/>
        </p:nvGrpSpPr>
        <p:grpSpPr>
          <a:xfrm>
            <a:off x="8912198" y="2156249"/>
            <a:ext cx="144000" cy="144000"/>
            <a:chOff x="7455208" y="2172067"/>
            <a:chExt cx="85936" cy="85936"/>
          </a:xfrm>
        </p:grpSpPr>
        <p:sp>
          <p:nvSpPr>
            <p:cNvPr id="92" name="椭圆 91"/>
            <p:cNvSpPr/>
            <p:nvPr>
              <p:custDataLst>
                <p:tags r:id="rId10"/>
              </p:custDataLst>
            </p:nvPr>
          </p:nvSpPr>
          <p:spPr>
            <a:xfrm flipH="1">
              <a:off x="7455208" y="2172067"/>
              <a:ext cx="85936" cy="85936"/>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latin typeface="微软雅黑"/>
                <a:ea typeface="微软雅黑"/>
                <a:cs typeface="微软雅黑"/>
              </a:endParaRPr>
            </a:p>
          </p:txBody>
        </p:sp>
        <p:sp>
          <p:nvSpPr>
            <p:cNvPr id="93" name="椭圆 92"/>
            <p:cNvSpPr/>
            <p:nvPr/>
          </p:nvSpPr>
          <p:spPr>
            <a:xfrm flipH="1">
              <a:off x="7478736" y="2195595"/>
              <a:ext cx="38880" cy="38880"/>
            </a:xfrm>
            <a:prstGeom prst="ellipse">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grpSp>
        <p:nvGrpSpPr>
          <p:cNvPr id="94" name="组合 93"/>
          <p:cNvGrpSpPr/>
          <p:nvPr/>
        </p:nvGrpSpPr>
        <p:grpSpPr>
          <a:xfrm>
            <a:off x="6109736" y="2100952"/>
            <a:ext cx="144000" cy="144000"/>
            <a:chOff x="7455208" y="2172067"/>
            <a:chExt cx="85936" cy="85936"/>
          </a:xfrm>
        </p:grpSpPr>
        <p:sp>
          <p:nvSpPr>
            <p:cNvPr id="95" name="椭圆 94"/>
            <p:cNvSpPr/>
            <p:nvPr>
              <p:custDataLst>
                <p:tags r:id="rId11"/>
              </p:custDataLst>
            </p:nvPr>
          </p:nvSpPr>
          <p:spPr>
            <a:xfrm flipH="1">
              <a:off x="7455208" y="2172067"/>
              <a:ext cx="85936" cy="85936"/>
            </a:xfrm>
            <a:prstGeom prst="ellipse">
              <a:avLst/>
            </a:prstGeom>
            <a:solidFill>
              <a:srgbClr val="FFFFFF"/>
            </a:solidFill>
            <a:ln>
              <a:noFill/>
            </a:ln>
            <a:effectLst>
              <a:outerShdw blurRad="137160" algn="ctr" rotWithShape="0">
                <a:srgbClr val="FF4200">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latin typeface="微软雅黑"/>
                <a:ea typeface="微软雅黑"/>
                <a:cs typeface="微软雅黑"/>
              </a:endParaRPr>
            </a:p>
          </p:txBody>
        </p:sp>
        <p:sp>
          <p:nvSpPr>
            <p:cNvPr id="96" name="椭圆 95"/>
            <p:cNvSpPr/>
            <p:nvPr/>
          </p:nvSpPr>
          <p:spPr>
            <a:xfrm flipH="1">
              <a:off x="7478736" y="2195595"/>
              <a:ext cx="38880" cy="38880"/>
            </a:xfrm>
            <a:prstGeom prst="ellipse">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latin typeface="微软雅黑"/>
                <a:ea typeface="微软雅黑"/>
                <a:cs typeface="微软雅黑"/>
              </a:endParaRPr>
            </a:p>
          </p:txBody>
        </p:sp>
      </p:grpSp>
      <p:pic>
        <p:nvPicPr>
          <p:cNvPr id="4" name="图片 3" descr="屋顶资源管理"/>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55600" y="186055"/>
            <a:ext cx="549910" cy="549910"/>
          </a:xfrm>
          <a:prstGeom prst="rect">
            <a:avLst/>
          </a:prstGeom>
        </p:spPr>
      </p:pic>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14"/>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3" name="文本框 2"/>
          <p:cNvSpPr txBox="1"/>
          <p:nvPr/>
        </p:nvSpPr>
        <p:spPr>
          <a:xfrm>
            <a:off x="2840990" y="3263900"/>
            <a:ext cx="1055370" cy="24511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数据标准定义</a:t>
            </a:r>
            <a:endParaRPr lang="zh-CN" altLang="en-US" sz="1000" dirty="0">
              <a:solidFill>
                <a:srgbClr val="FFFFFF"/>
              </a:solidFill>
              <a:latin typeface="微软雅黑"/>
              <a:ea typeface="微软雅黑"/>
              <a:cs typeface="微软雅黑"/>
            </a:endParaRPr>
          </a:p>
        </p:txBody>
      </p:sp>
      <p:sp>
        <p:nvSpPr>
          <p:cNvPr id="6" name="文本框 5"/>
          <p:cNvSpPr txBox="1"/>
          <p:nvPr/>
        </p:nvSpPr>
        <p:spPr>
          <a:xfrm>
            <a:off x="2840990" y="3674110"/>
            <a:ext cx="1005205" cy="24511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数据评估检测</a:t>
            </a:r>
            <a:endParaRPr lang="zh-CN" altLang="en-US" sz="1000" dirty="0">
              <a:solidFill>
                <a:srgbClr val="FFFFFF"/>
              </a:solidFill>
              <a:latin typeface="微软雅黑"/>
              <a:ea typeface="微软雅黑"/>
              <a:cs typeface="微软雅黑"/>
            </a:endParaRPr>
          </a:p>
        </p:txBody>
      </p:sp>
      <p:sp>
        <p:nvSpPr>
          <p:cNvPr id="7" name="文本框 6"/>
          <p:cNvSpPr txBox="1"/>
          <p:nvPr/>
        </p:nvSpPr>
        <p:spPr>
          <a:xfrm>
            <a:off x="6823840" y="3273019"/>
            <a:ext cx="1082276"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数据同步分发</a:t>
            </a:r>
            <a:endParaRPr lang="zh-CN" altLang="en-US" sz="1000" dirty="0">
              <a:solidFill>
                <a:srgbClr val="FFFFFF"/>
              </a:solidFill>
              <a:latin typeface="微软雅黑"/>
              <a:ea typeface="微软雅黑"/>
              <a:cs typeface="微软雅黑"/>
            </a:endParaRPr>
          </a:p>
        </p:txBody>
      </p:sp>
      <p:sp>
        <p:nvSpPr>
          <p:cNvPr id="8" name="文本框 7"/>
          <p:cNvSpPr txBox="1"/>
          <p:nvPr/>
        </p:nvSpPr>
        <p:spPr>
          <a:xfrm>
            <a:off x="8575704" y="3273019"/>
            <a:ext cx="1082276"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数据资产大屏</a:t>
            </a:r>
            <a:endParaRPr lang="zh-CN" altLang="en-US" sz="1000" dirty="0">
              <a:solidFill>
                <a:srgbClr val="FFFFFF"/>
              </a:solidFill>
              <a:latin typeface="微软雅黑"/>
              <a:ea typeface="微软雅黑"/>
              <a:cs typeface="微软雅黑"/>
            </a:endParaRPr>
          </a:p>
        </p:txBody>
      </p:sp>
      <p:sp>
        <p:nvSpPr>
          <p:cNvPr id="11" name="文本框 10"/>
          <p:cNvSpPr txBox="1"/>
          <p:nvPr/>
        </p:nvSpPr>
        <p:spPr>
          <a:xfrm>
            <a:off x="6823840" y="3670879"/>
            <a:ext cx="1082276"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全数据管理</a:t>
            </a:r>
            <a:endParaRPr lang="zh-CN" altLang="en-US" sz="1000" dirty="0">
              <a:solidFill>
                <a:srgbClr val="FFFFFF"/>
              </a:solidFill>
              <a:latin typeface="微软雅黑"/>
              <a:ea typeface="微软雅黑"/>
              <a:cs typeface="微软雅黑"/>
            </a:endParaRPr>
          </a:p>
        </p:txBody>
      </p:sp>
      <p:sp>
        <p:nvSpPr>
          <p:cNvPr id="60" name="文本框 59"/>
          <p:cNvSpPr txBox="1"/>
          <p:nvPr/>
        </p:nvSpPr>
        <p:spPr>
          <a:xfrm>
            <a:off x="8522364" y="3693104"/>
            <a:ext cx="1082276"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主数据建模</a:t>
            </a:r>
            <a:endParaRPr lang="zh-CN" altLang="en-US" sz="1000" dirty="0">
              <a:solidFill>
                <a:srgbClr val="FFFFFF"/>
              </a:solidFill>
              <a:latin typeface="微软雅黑"/>
              <a:ea typeface="微软雅黑"/>
              <a:cs typeface="微软雅黑"/>
            </a:endParaRPr>
          </a:p>
        </p:txBody>
      </p:sp>
      <p:sp>
        <p:nvSpPr>
          <p:cNvPr id="63" name="文本框 62"/>
          <p:cNvSpPr txBox="1"/>
          <p:nvPr/>
        </p:nvSpPr>
        <p:spPr>
          <a:xfrm>
            <a:off x="4503924" y="3267939"/>
            <a:ext cx="1082276"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数据标准落地</a:t>
            </a:r>
            <a:endParaRPr lang="zh-CN" altLang="en-US" sz="1000" dirty="0">
              <a:solidFill>
                <a:srgbClr val="FFFFFF"/>
              </a:solidFill>
              <a:latin typeface="微软雅黑"/>
              <a:ea typeface="微软雅黑"/>
              <a:cs typeface="微软雅黑"/>
            </a:endParaRPr>
          </a:p>
        </p:txBody>
      </p:sp>
      <p:sp>
        <p:nvSpPr>
          <p:cNvPr id="68" name="文本框 67"/>
          <p:cNvSpPr txBox="1"/>
          <p:nvPr/>
        </p:nvSpPr>
        <p:spPr>
          <a:xfrm>
            <a:off x="4468364" y="3688024"/>
            <a:ext cx="1082276" cy="246221"/>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a:lnSpc>
                <a:spcPct val="125000"/>
              </a:lnSpc>
              <a:defRPr sz="1200">
                <a:solidFill>
                  <a:srgbClr val="FFFFFF"/>
                </a:solidFill>
                <a:latin typeface="微软雅黑"/>
                <a:ea typeface="微软雅黑"/>
                <a:cs typeface="微软雅黑"/>
              </a:defRPr>
            </a:lvl1pPr>
          </a:lstStyle>
          <a:p>
            <a:pPr algn="ctr">
              <a:lnSpc>
                <a:spcPct val="10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标准管理</a:t>
            </a:r>
            <a:endParaRPr lang="zh-CN" altLang="en-US" sz="1000" dirty="0">
              <a:solidFill>
                <a:srgbClr val="FFFFFF"/>
              </a:solidFill>
              <a:latin typeface="微软雅黑"/>
              <a:ea typeface="微软雅黑"/>
              <a:cs typeface="微软雅黑"/>
            </a:endParaRPr>
          </a:p>
        </p:txBody>
      </p:sp>
      <p:cxnSp>
        <p:nvCxnSpPr>
          <p:cNvPr id="6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供应链运营数字化架构</a:t>
            </a:r>
            <a:endParaRPr lang="zh-CN" altLang="en-US" sz="2500">
              <a:solidFill>
                <a:srgbClr val="383838"/>
              </a:solidFill>
              <a:effectLst/>
              <a:latin typeface="微软雅黑"/>
              <a:ea typeface="微软雅黑"/>
              <a:cs typeface="微软雅黑"/>
            </a:endParaRPr>
          </a:p>
        </p:txBody>
      </p:sp>
      <p:sp>
        <p:nvSpPr>
          <p:cNvPr id="2" name="矩形 1"/>
          <p:cNvSpPr/>
          <p:nvPr/>
        </p:nvSpPr>
        <p:spPr>
          <a:xfrm>
            <a:off x="1050925" y="5633085"/>
            <a:ext cx="8868410" cy="640080"/>
          </a:xfrm>
          <a:prstGeom prst="rect">
            <a:avLst/>
          </a:prstGeom>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8" name="梯形 27"/>
          <p:cNvSpPr/>
          <p:nvPr/>
        </p:nvSpPr>
        <p:spPr>
          <a:xfrm>
            <a:off x="1050925" y="4879340"/>
            <a:ext cx="8868410" cy="753745"/>
          </a:xfrm>
          <a:prstGeom prst="trapezoid">
            <a:avLst>
              <a:gd name="adj" fmla="val 187465"/>
            </a:avLst>
          </a:prstGeom>
          <a:gradFill>
            <a:gsLst>
              <a:gs pos="0">
                <a:srgbClr val="0042FF">
                  <a:alpha val="0"/>
                </a:srgbClr>
              </a:gs>
              <a:gs pos="100000">
                <a:srgbClr val="0042FF">
                  <a:alpha val="5000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1" name="椭圆 80"/>
          <p:cNvSpPr/>
          <p:nvPr>
            <p:custDataLst>
              <p:tags r:id="rId1"/>
            </p:custDataLst>
          </p:nvPr>
        </p:nvSpPr>
        <p:spPr>
          <a:xfrm>
            <a:off x="2225040" y="4652645"/>
            <a:ext cx="700405" cy="700405"/>
          </a:xfrm>
          <a:prstGeom prst="ellipse">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 name="椭圆 6"/>
          <p:cNvSpPr/>
          <p:nvPr>
            <p:custDataLst>
              <p:tags r:id="rId2"/>
            </p:custDataLst>
          </p:nvPr>
        </p:nvSpPr>
        <p:spPr>
          <a:xfrm>
            <a:off x="3144520" y="4652645"/>
            <a:ext cx="700405" cy="700405"/>
          </a:xfrm>
          <a:prstGeom prst="ellipse">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 name="椭圆 7"/>
          <p:cNvSpPr/>
          <p:nvPr>
            <p:custDataLst>
              <p:tags r:id="rId3"/>
            </p:custDataLst>
          </p:nvPr>
        </p:nvSpPr>
        <p:spPr>
          <a:xfrm>
            <a:off x="4029710" y="4652645"/>
            <a:ext cx="700405" cy="700405"/>
          </a:xfrm>
          <a:prstGeom prst="ellipse">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9" name="圆角矩形 8"/>
          <p:cNvSpPr/>
          <p:nvPr/>
        </p:nvSpPr>
        <p:spPr>
          <a:xfrm>
            <a:off x="5428615" y="4761230"/>
            <a:ext cx="1461135" cy="565785"/>
          </a:xfrm>
          <a:prstGeom prst="roundRect">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1" name="圆角矩形 10"/>
          <p:cNvSpPr/>
          <p:nvPr/>
        </p:nvSpPr>
        <p:spPr>
          <a:xfrm>
            <a:off x="7096125" y="4761230"/>
            <a:ext cx="1461135" cy="565785"/>
          </a:xfrm>
          <a:prstGeom prst="roundRect">
            <a:avLst/>
          </a:prstGeom>
          <a:solidFill>
            <a:srgbClr val="0042FF"/>
          </a:soli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5" name="梯形 14"/>
          <p:cNvSpPr/>
          <p:nvPr/>
        </p:nvSpPr>
        <p:spPr>
          <a:xfrm>
            <a:off x="1425575" y="2073910"/>
            <a:ext cx="7767320" cy="420370"/>
          </a:xfrm>
          <a:prstGeom prst="trapezoid">
            <a:avLst>
              <a:gd name="adj" fmla="val 218429"/>
            </a:avLst>
          </a:prstGeom>
          <a:gradFill>
            <a:gsLst>
              <a:gs pos="100000">
                <a:srgbClr val="B3D4FE">
                  <a:alpha val="70000"/>
                </a:srgbClr>
              </a:gs>
              <a:gs pos="0">
                <a:srgbClr val="B3D4FE">
                  <a:alpha val="0"/>
                </a:srgbClr>
              </a:gs>
            </a:gsLst>
          </a:gradFill>
          <a:scene3d>
            <a:camera prst="orthographicFront">
              <a:rot lat="2100000" lon="0" rev="0"/>
            </a:camera>
            <a:lightRig rig="threePt" dir="t"/>
          </a:scene3d>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 name="梯形 15"/>
          <p:cNvSpPr/>
          <p:nvPr/>
        </p:nvSpPr>
        <p:spPr>
          <a:xfrm>
            <a:off x="1425575" y="2674620"/>
            <a:ext cx="7767320" cy="420370"/>
          </a:xfrm>
          <a:prstGeom prst="trapezoid">
            <a:avLst>
              <a:gd name="adj" fmla="val 218429"/>
            </a:avLst>
          </a:prstGeom>
          <a:gradFill>
            <a:gsLst>
              <a:gs pos="100000">
                <a:srgbClr val="B3D4FE">
                  <a:alpha val="70000"/>
                </a:srgbClr>
              </a:gs>
              <a:gs pos="0">
                <a:srgbClr val="B3D4FE">
                  <a:alpha val="0"/>
                </a:srgbClr>
              </a:gs>
            </a:gsLst>
          </a:gradFill>
          <a:scene3d>
            <a:camera prst="orthographicFront">
              <a:rot lat="2100000" lon="0" rev="0"/>
            </a:camera>
            <a:lightRig rig="threePt" dir="t"/>
          </a:scene3d>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7" name="梯形 16"/>
          <p:cNvSpPr/>
          <p:nvPr/>
        </p:nvSpPr>
        <p:spPr>
          <a:xfrm>
            <a:off x="1493520" y="3917315"/>
            <a:ext cx="4002405" cy="420370"/>
          </a:xfrm>
          <a:prstGeom prst="trapezoid">
            <a:avLst>
              <a:gd name="adj" fmla="val 218429"/>
            </a:avLst>
          </a:prstGeom>
          <a:gradFill>
            <a:gsLst>
              <a:gs pos="100000">
                <a:srgbClr val="3368FF">
                  <a:alpha val="70000"/>
                </a:srgbClr>
              </a:gs>
              <a:gs pos="0">
                <a:srgbClr val="3368FF">
                  <a:alpha val="0"/>
                </a:srgbClr>
              </a:gs>
            </a:gsLst>
          </a:gradFill>
          <a:scene3d>
            <a:camera prst="orthographicFront">
              <a:rot lat="2100000" lon="0" rev="0"/>
            </a:camera>
            <a:lightRig rig="threePt" dir="t"/>
          </a:scene3d>
        </p:spPr>
        <p:style>
          <a:lnRef idx="0">
            <a:srgbClr val="FFFFFF"/>
          </a:lnRef>
          <a:fillRef idx="2">
            <a:srgbClr val="0042FF"/>
          </a:fillRef>
          <a:effectRef idx="0">
            <a:srgbClr val="FFFFFF"/>
          </a:effectRef>
          <a:fontRef idx="minor">
            <a:srgbClr val="383838"/>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 name="任意多边形 18"/>
          <p:cNvSpPr/>
          <p:nvPr/>
        </p:nvSpPr>
        <p:spPr>
          <a:xfrm>
            <a:off x="4958080" y="3898265"/>
            <a:ext cx="3613150" cy="439420"/>
          </a:xfrm>
          <a:custGeom>
            <a:avLst/>
            <a:gdLst>
              <a:gd name="adj" fmla="val 218429"/>
              <a:gd name="maxAdj" fmla="*/ 50000 w ss"/>
              <a:gd name="a" fmla="pin 0 adj maxAdj"/>
              <a:gd name="x1" fmla="*/ ss a 200000"/>
              <a:gd name="x2" fmla="*/ ss a 100000"/>
              <a:gd name="x3" fmla="+- r 0 x2"/>
              <a:gd name="x4" fmla="+- r 0 x1"/>
              <a:gd name="il" fmla="*/ wd3 a maxAdj"/>
              <a:gd name="it" fmla="*/ hd3 a maxAdj"/>
              <a:gd name="ir" fmla="+- r 0 il"/>
            </a:gdLst>
            <a:ahLst/>
            <a:cxnLst>
              <a:cxn ang="3">
                <a:pos x="hc" y="t"/>
              </a:cxn>
              <a:cxn ang="cd2">
                <a:pos x="x1" y="vc"/>
              </a:cxn>
              <a:cxn ang="cd4">
                <a:pos x="hc" y="b"/>
              </a:cxn>
              <a:cxn ang="0">
                <a:pos x="x4" y="vc"/>
              </a:cxn>
            </a:cxnLst>
            <a:rect l="l" t="t" r="r" b="b"/>
            <a:pathLst>
              <a:path w="5055" h="662">
                <a:moveTo>
                  <a:pt x="0" y="91"/>
                </a:moveTo>
                <a:lnTo>
                  <a:pt x="198" y="0"/>
                </a:lnTo>
                <a:lnTo>
                  <a:pt x="3609" y="0"/>
                </a:lnTo>
                <a:lnTo>
                  <a:pt x="5055" y="662"/>
                </a:lnTo>
                <a:lnTo>
                  <a:pt x="1182" y="662"/>
                </a:lnTo>
                <a:lnTo>
                  <a:pt x="0" y="91"/>
                </a:lnTo>
                <a:close/>
              </a:path>
            </a:pathLst>
          </a:custGeom>
          <a:gradFill>
            <a:gsLst>
              <a:gs pos="100000">
                <a:srgbClr val="3368FF">
                  <a:alpha val="70000"/>
                </a:srgbClr>
              </a:gs>
              <a:gs pos="0">
                <a:srgbClr val="3368FF">
                  <a:alpha val="0"/>
                </a:srgbClr>
              </a:gs>
            </a:gsLst>
          </a:gradFill>
          <a:scene3d>
            <a:camera prst="orthographicFront">
              <a:rot lat="2100000" lon="0" rev="0"/>
            </a:camera>
            <a:lightRig rig="threePt" dir="t"/>
          </a:scene3d>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2" name="下箭头 21"/>
          <p:cNvSpPr/>
          <p:nvPr/>
        </p:nvSpPr>
        <p:spPr>
          <a:xfrm rot="16200000">
            <a:off x="9467850" y="2386330"/>
            <a:ext cx="401955" cy="951230"/>
          </a:xfrm>
          <a:prstGeom prst="downArrow">
            <a:avLst/>
          </a:prstGeom>
          <a:gradFill>
            <a:gsLst>
              <a:gs pos="0">
                <a:srgbClr val="3368FF">
                  <a:alpha val="0"/>
                </a:srgbClr>
              </a:gs>
              <a:gs pos="100000">
                <a:srgbClr val="3368FF"/>
              </a:gs>
              <a:gs pos="100000">
                <a:srgbClr val="0042FF">
                  <a:alpha val="100000"/>
                </a:srgbClr>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3" name="上下箭头 22"/>
          <p:cNvSpPr/>
          <p:nvPr/>
        </p:nvSpPr>
        <p:spPr>
          <a:xfrm rot="10800000">
            <a:off x="7451725" y="3177540"/>
            <a:ext cx="230505" cy="597535"/>
          </a:xfrm>
          <a:prstGeom prst="upDownArrow">
            <a:avLst/>
          </a:prstGeom>
          <a:gradFill>
            <a:gsLst>
              <a:gs pos="0">
                <a:srgbClr val="E6E6E6"/>
              </a:gs>
              <a:gs pos="100000">
                <a:srgbClr val="E6E6E6"/>
              </a:gs>
            </a:gsLst>
            <a:lin ang="5400000" scaled="0"/>
          </a:gra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4" name="上下箭头 23"/>
          <p:cNvSpPr/>
          <p:nvPr/>
        </p:nvSpPr>
        <p:spPr>
          <a:xfrm rot="10800000">
            <a:off x="5749925" y="3177540"/>
            <a:ext cx="230505" cy="597535"/>
          </a:xfrm>
          <a:prstGeom prst="upDownArrow">
            <a:avLst/>
          </a:prstGeom>
          <a:gradFill>
            <a:gsLst>
              <a:gs pos="0">
                <a:srgbClr val="E6E6E6"/>
              </a:gs>
              <a:gs pos="100000">
                <a:srgbClr val="E6E6E6"/>
              </a:gs>
            </a:gsLst>
            <a:lin ang="5400000" scaled="0"/>
          </a:gra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5" name="上下箭头 24"/>
          <p:cNvSpPr/>
          <p:nvPr/>
        </p:nvSpPr>
        <p:spPr>
          <a:xfrm rot="10800000">
            <a:off x="4035425" y="3177540"/>
            <a:ext cx="230505" cy="597535"/>
          </a:xfrm>
          <a:prstGeom prst="upDownArrow">
            <a:avLst/>
          </a:prstGeom>
          <a:gradFill>
            <a:gsLst>
              <a:gs pos="0">
                <a:srgbClr val="E6E6E6"/>
              </a:gs>
              <a:gs pos="100000">
                <a:srgbClr val="E6E6E6"/>
              </a:gs>
            </a:gsLst>
            <a:lin ang="5400000" scaled="0"/>
          </a:gra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6" name="上下箭头 25"/>
          <p:cNvSpPr/>
          <p:nvPr/>
        </p:nvSpPr>
        <p:spPr>
          <a:xfrm rot="10800000">
            <a:off x="2282825" y="3181350"/>
            <a:ext cx="230505" cy="597535"/>
          </a:xfrm>
          <a:prstGeom prst="upDownArrow">
            <a:avLst/>
          </a:prstGeom>
          <a:gradFill>
            <a:gsLst>
              <a:gs pos="0">
                <a:srgbClr val="E6E6E6"/>
              </a:gs>
              <a:gs pos="100000">
                <a:srgbClr val="E6E6E6"/>
              </a:gs>
            </a:gsLst>
            <a:lin ang="5400000" scaled="0"/>
          </a:gra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93" name="组合 92"/>
          <p:cNvGrpSpPr/>
          <p:nvPr/>
        </p:nvGrpSpPr>
        <p:grpSpPr>
          <a:xfrm>
            <a:off x="2456815" y="4349750"/>
            <a:ext cx="248920" cy="442595"/>
            <a:chOff x="3859" y="6875"/>
            <a:chExt cx="392" cy="697"/>
          </a:xfrm>
        </p:grpSpPr>
        <p:sp>
          <p:nvSpPr>
            <p:cNvPr id="124" name="菱形 123"/>
            <p:cNvSpPr/>
            <p:nvPr/>
          </p:nvSpPr>
          <p:spPr>
            <a:xfrm>
              <a:off x="3859" y="6875"/>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25" name="菱形 124"/>
            <p:cNvSpPr/>
            <p:nvPr/>
          </p:nvSpPr>
          <p:spPr>
            <a:xfrm>
              <a:off x="3859" y="7044"/>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FFFFFF"/>
                  </a:solidFill>
                  <a:latin typeface="微软雅黑"/>
                  <a:ea typeface="微软雅黑"/>
                  <a:cs typeface="微软雅黑"/>
                </a:defRPr>
              </a:pPr>
              <a:endParaRPr lang="zh-CN" altLang="en-US" kern="0" dirty="0">
                <a:solidFill>
                  <a:srgbClr val="FFFFFF"/>
                </a:solidFill>
                <a:latin typeface="微软雅黑"/>
                <a:ea typeface="微软雅黑"/>
                <a:cs typeface="微软雅黑"/>
              </a:endParaRPr>
            </a:p>
          </p:txBody>
        </p:sp>
      </p:grpSp>
      <p:sp>
        <p:nvSpPr>
          <p:cNvPr id="13" name="圆角矩形 12"/>
          <p:cNvSpPr/>
          <p:nvPr/>
        </p:nvSpPr>
        <p:spPr>
          <a:xfrm>
            <a:off x="10271125" y="1732915"/>
            <a:ext cx="1444625" cy="4458970"/>
          </a:xfrm>
          <a:prstGeom prst="roundRect">
            <a:avLst>
              <a:gd name="adj" fmla="val 7019"/>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4" name="任意多边形 13"/>
          <p:cNvSpPr/>
          <p:nvPr/>
        </p:nvSpPr>
        <p:spPr>
          <a:xfrm>
            <a:off x="10271125" y="1732280"/>
            <a:ext cx="1443990" cy="549275"/>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794" h="865">
                <a:moveTo>
                  <a:pt x="0" y="168"/>
                </a:moveTo>
                <a:cubicBezTo>
                  <a:pt x="-3" y="73"/>
                  <a:pt x="83" y="-2"/>
                  <a:pt x="168" y="0"/>
                </a:cubicBezTo>
                <a:lnTo>
                  <a:pt x="1626" y="0"/>
                </a:lnTo>
                <a:cubicBezTo>
                  <a:pt x="1721" y="-3"/>
                  <a:pt x="1796" y="83"/>
                  <a:pt x="1794" y="168"/>
                </a:cubicBezTo>
                <a:lnTo>
                  <a:pt x="1794" y="837"/>
                </a:lnTo>
                <a:cubicBezTo>
                  <a:pt x="1794" y="847"/>
                  <a:pt x="1792" y="867"/>
                  <a:pt x="1792" y="865"/>
                </a:cubicBezTo>
                <a:lnTo>
                  <a:pt x="2" y="865"/>
                </a:lnTo>
                <a:cubicBezTo>
                  <a:pt x="1" y="861"/>
                  <a:pt x="-1" y="839"/>
                  <a:pt x="0" y="837"/>
                </a:cubicBezTo>
                <a:lnTo>
                  <a:pt x="0" y="168"/>
                </a:lnTo>
                <a:close/>
              </a:path>
            </a:pathLst>
          </a:custGeom>
          <a:gradFill>
            <a:gsLst>
              <a:gs pos="100000">
                <a:srgbClr val="3368FF"/>
              </a:gs>
              <a:gs pos="0">
                <a:srgbClr val="B3D4FE"/>
              </a:gs>
            </a:gsLst>
            <a:lin ang="0" scaled="0"/>
          </a:gradFill>
          <a:ln>
            <a:solidFill>
              <a:srgbClr val="B3D4FE"/>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83" name="文本框 82"/>
          <p:cNvSpPr txBox="1"/>
          <p:nvPr>
            <p:custDataLst>
              <p:tags r:id="rId4"/>
            </p:custDataLst>
          </p:nvPr>
        </p:nvSpPr>
        <p:spPr>
          <a:xfrm>
            <a:off x="10360660" y="1896110"/>
            <a:ext cx="1264920" cy="275590"/>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供应链透明看板</a:t>
            </a:r>
            <a:endParaRPr lang="zh-CN" altLang="en-US" sz="1200" b="1">
              <a:solidFill>
                <a:srgbClr val="383838"/>
              </a:solidFill>
              <a:latin typeface="微软雅黑"/>
              <a:ea typeface="微软雅黑"/>
              <a:cs typeface="微软雅黑"/>
            </a:endParaRPr>
          </a:p>
        </p:txBody>
      </p:sp>
      <p:pic>
        <p:nvPicPr>
          <p:cNvPr id="37" name="图片 36" descr="认证_机构认证"/>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466070" y="5448300"/>
            <a:ext cx="525145" cy="525145"/>
          </a:xfrm>
          <a:prstGeom prst="rect">
            <a:avLst/>
          </a:prstGeom>
        </p:spPr>
      </p:pic>
      <p:pic>
        <p:nvPicPr>
          <p:cNvPr id="20" name="图片 19" descr="personal development"/>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466070" y="3063240"/>
            <a:ext cx="473710" cy="473710"/>
          </a:xfrm>
          <a:prstGeom prst="rect">
            <a:avLst/>
          </a:prstGeom>
        </p:spPr>
      </p:pic>
      <p:sp>
        <p:nvSpPr>
          <p:cNvPr id="38" name="文本框 37"/>
          <p:cNvSpPr txBox="1"/>
          <p:nvPr>
            <p:custDataLst>
              <p:tags r:id="rId9"/>
            </p:custDataLst>
          </p:nvPr>
        </p:nvSpPr>
        <p:spPr>
          <a:xfrm>
            <a:off x="10855325" y="3061970"/>
            <a:ext cx="908685" cy="460375"/>
          </a:xfrm>
          <a:prstGeom prst="rect">
            <a:avLst/>
          </a:prstGeom>
          <a:noFill/>
        </p:spPr>
        <p:txBody>
          <a:bodyPr wrap="square" rtlCol="0">
            <a:spAutoFit/>
          </a:bodyPr>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企业</a:t>
            </a:r>
            <a:endParaRPr lang="zh-CN" altLang="en-US" sz="1200" b="1">
              <a:gradFill>
                <a:gsLst>
                  <a:gs pos="0">
                    <a:srgbClr val="0042FF"/>
                  </a:gs>
                  <a:gs pos="100000">
                    <a:srgbClr val="0042FF"/>
                  </a:gs>
                </a:gsLst>
                <a:lin ang="5400000" scaled="0"/>
              </a:gradFill>
              <a:latin typeface="微软雅黑"/>
              <a:ea typeface="微软雅黑"/>
              <a:cs typeface="微软雅黑"/>
            </a:endParaRPr>
          </a:p>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管理者</a:t>
            </a:r>
            <a:endParaRPr lang="zh-CN" altLang="en-US" sz="1200" b="1">
              <a:gradFill>
                <a:gsLst>
                  <a:gs pos="0">
                    <a:srgbClr val="0042FF"/>
                  </a:gs>
                  <a:gs pos="100000">
                    <a:srgbClr val="0042FF"/>
                  </a:gs>
                </a:gsLst>
                <a:lin ang="5400000" scaled="0"/>
              </a:gradFill>
              <a:latin typeface="微软雅黑"/>
              <a:ea typeface="微软雅黑"/>
              <a:cs typeface="微软雅黑"/>
            </a:endParaRPr>
          </a:p>
        </p:txBody>
      </p:sp>
      <p:pic>
        <p:nvPicPr>
          <p:cNvPr id="35" name="图片 34" descr="客户"/>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466070" y="3882390"/>
            <a:ext cx="473075" cy="473075"/>
          </a:xfrm>
          <a:prstGeom prst="rect">
            <a:avLst/>
          </a:prstGeom>
        </p:spPr>
      </p:pic>
      <p:sp>
        <p:nvSpPr>
          <p:cNvPr id="41" name="文本框 40"/>
          <p:cNvSpPr txBox="1"/>
          <p:nvPr>
            <p:custDataLst>
              <p:tags r:id="rId12"/>
            </p:custDataLst>
          </p:nvPr>
        </p:nvSpPr>
        <p:spPr>
          <a:xfrm>
            <a:off x="10905490" y="3877310"/>
            <a:ext cx="808355" cy="460375"/>
          </a:xfrm>
          <a:prstGeom prst="rect">
            <a:avLst/>
          </a:prstGeom>
          <a:noFill/>
        </p:spPr>
        <p:txBody>
          <a:bodyPr wrap="square" rtlCol="0">
            <a:spAutoFit/>
          </a:bodyPr>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公众</a:t>
            </a:r>
            <a:endParaRPr lang="zh-CN" altLang="en-US" sz="1200" b="1">
              <a:gradFill>
                <a:gsLst>
                  <a:gs pos="0">
                    <a:srgbClr val="0042FF"/>
                  </a:gs>
                  <a:gs pos="100000">
                    <a:srgbClr val="0042FF"/>
                  </a:gs>
                </a:gsLst>
                <a:lin ang="5400000" scaled="0"/>
              </a:gradFill>
              <a:latin typeface="微软雅黑"/>
              <a:ea typeface="微软雅黑"/>
              <a:cs typeface="微软雅黑"/>
            </a:endParaRPr>
          </a:p>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客户</a:t>
            </a:r>
            <a:endParaRPr lang="zh-CN" altLang="en-US" sz="1200" b="1">
              <a:gradFill>
                <a:gsLst>
                  <a:gs pos="0">
                    <a:srgbClr val="0042FF"/>
                  </a:gs>
                  <a:gs pos="100000">
                    <a:srgbClr val="0042FF"/>
                  </a:gs>
                </a:gsLst>
                <a:lin ang="5400000" scaled="0"/>
              </a:gradFill>
              <a:latin typeface="微软雅黑"/>
              <a:ea typeface="微软雅黑"/>
              <a:cs typeface="微软雅黑"/>
            </a:endParaRPr>
          </a:p>
        </p:txBody>
      </p:sp>
      <p:pic>
        <p:nvPicPr>
          <p:cNvPr id="36" name="图片 35" descr="政府机构-copy"/>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0466070" y="4700905"/>
            <a:ext cx="524510" cy="401955"/>
          </a:xfrm>
          <a:prstGeom prst="rect">
            <a:avLst/>
          </a:prstGeom>
        </p:spPr>
      </p:pic>
      <p:sp>
        <p:nvSpPr>
          <p:cNvPr id="43" name="文本框 42"/>
          <p:cNvSpPr txBox="1"/>
          <p:nvPr>
            <p:custDataLst>
              <p:tags r:id="rId15"/>
            </p:custDataLst>
          </p:nvPr>
        </p:nvSpPr>
        <p:spPr>
          <a:xfrm>
            <a:off x="10905490" y="4692650"/>
            <a:ext cx="808355" cy="460375"/>
          </a:xfrm>
          <a:prstGeom prst="rect">
            <a:avLst/>
          </a:prstGeom>
          <a:noFill/>
        </p:spPr>
        <p:txBody>
          <a:bodyPr wrap="square" rtlCol="0">
            <a:spAutoFit/>
          </a:bodyPr>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政府</a:t>
            </a:r>
            <a:endParaRPr lang="zh-CN" altLang="en-US" sz="1200" b="1">
              <a:gradFill>
                <a:gsLst>
                  <a:gs pos="0">
                    <a:srgbClr val="0042FF"/>
                  </a:gs>
                  <a:gs pos="100000">
                    <a:srgbClr val="0042FF"/>
                  </a:gs>
                </a:gsLst>
                <a:lin ang="5400000" scaled="0"/>
              </a:gradFill>
              <a:latin typeface="微软雅黑"/>
              <a:ea typeface="微软雅黑"/>
              <a:cs typeface="微软雅黑"/>
            </a:endParaRPr>
          </a:p>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机构</a:t>
            </a:r>
            <a:endParaRPr lang="zh-CN" altLang="en-US" sz="1200" b="1">
              <a:gradFill>
                <a:gsLst>
                  <a:gs pos="0">
                    <a:srgbClr val="0042FF"/>
                  </a:gs>
                  <a:gs pos="100000">
                    <a:srgbClr val="0042FF"/>
                  </a:gs>
                </a:gsLst>
                <a:lin ang="5400000" scaled="0"/>
              </a:gradFill>
              <a:latin typeface="微软雅黑"/>
              <a:ea typeface="微软雅黑"/>
              <a:cs typeface="微软雅黑"/>
            </a:endParaRPr>
          </a:p>
        </p:txBody>
      </p:sp>
      <p:sp>
        <p:nvSpPr>
          <p:cNvPr id="45" name="文本框 44"/>
          <p:cNvSpPr txBox="1"/>
          <p:nvPr>
            <p:custDataLst>
              <p:tags r:id="rId16"/>
            </p:custDataLst>
          </p:nvPr>
        </p:nvSpPr>
        <p:spPr>
          <a:xfrm>
            <a:off x="10905490" y="5507990"/>
            <a:ext cx="808355" cy="460375"/>
          </a:xfrm>
          <a:prstGeom prst="rect">
            <a:avLst/>
          </a:prstGeom>
          <a:noFill/>
        </p:spPr>
        <p:txBody>
          <a:bodyPr wrap="square" rtlCol="0">
            <a:spAutoFit/>
          </a:bodyPr>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认证</a:t>
            </a:r>
            <a:endParaRPr lang="zh-CN" altLang="en-US" sz="1200" b="1">
              <a:gradFill>
                <a:gsLst>
                  <a:gs pos="0">
                    <a:srgbClr val="0042FF"/>
                  </a:gs>
                  <a:gs pos="100000">
                    <a:srgbClr val="0042FF"/>
                  </a:gs>
                </a:gsLst>
                <a:lin ang="5400000" scaled="0"/>
              </a:gradFill>
              <a:latin typeface="微软雅黑"/>
              <a:ea typeface="微软雅黑"/>
              <a:cs typeface="微软雅黑"/>
            </a:endParaRPr>
          </a:p>
          <a:p>
            <a:pPr algn="ctr">
              <a:defRPr>
                <a:latin typeface="微软雅黑"/>
                <a:ea typeface="微软雅黑"/>
                <a:cs typeface="微软雅黑"/>
              </a:defRPr>
            </a:pPr>
            <a:r>
              <a:rPr lang="zh-CN" altLang="en-US" sz="1200" b="1">
                <a:gradFill>
                  <a:gsLst>
                    <a:gs pos="0">
                      <a:srgbClr val="0042FF"/>
                    </a:gs>
                    <a:gs pos="100000">
                      <a:srgbClr val="0042FF"/>
                    </a:gs>
                  </a:gsLst>
                  <a:lin ang="5400000" scaled="0"/>
                </a:gradFill>
                <a:latin typeface="微软雅黑"/>
                <a:ea typeface="微软雅黑"/>
                <a:cs typeface="微软雅黑"/>
              </a:rPr>
              <a:t>机构</a:t>
            </a:r>
            <a:endParaRPr lang="zh-CN" altLang="en-US" sz="1200" b="1">
              <a:gradFill>
                <a:gsLst>
                  <a:gs pos="0">
                    <a:srgbClr val="0042FF"/>
                  </a:gs>
                  <a:gs pos="100000">
                    <a:srgbClr val="0042FF"/>
                  </a:gs>
                </a:gsLst>
                <a:lin ang="5400000" scaled="0"/>
              </a:gradFill>
              <a:latin typeface="微软雅黑"/>
              <a:ea typeface="微软雅黑"/>
              <a:cs typeface="微软雅黑"/>
            </a:endParaRPr>
          </a:p>
        </p:txBody>
      </p:sp>
      <p:sp>
        <p:nvSpPr>
          <p:cNvPr id="46" name="文本框 45"/>
          <p:cNvSpPr txBox="1"/>
          <p:nvPr>
            <p:custDataLst>
              <p:tags r:id="rId17"/>
            </p:custDataLst>
          </p:nvPr>
        </p:nvSpPr>
        <p:spPr>
          <a:xfrm>
            <a:off x="10386695" y="2397760"/>
            <a:ext cx="1264920" cy="460375"/>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全链路透明化与动态可视化</a:t>
            </a:r>
            <a:endParaRPr lang="zh-CN" altLang="en-US" sz="1200" b="1">
              <a:solidFill>
                <a:srgbClr val="383838"/>
              </a:solidFill>
              <a:latin typeface="微软雅黑"/>
              <a:ea typeface="微软雅黑"/>
              <a:cs typeface="微软雅黑"/>
            </a:endParaRPr>
          </a:p>
        </p:txBody>
      </p:sp>
      <p:sp>
        <p:nvSpPr>
          <p:cNvPr id="12" name="文本框 11"/>
          <p:cNvSpPr txBox="1"/>
          <p:nvPr/>
        </p:nvSpPr>
        <p:spPr>
          <a:xfrm>
            <a:off x="1332865" y="6384925"/>
            <a:ext cx="8765540" cy="277495"/>
          </a:xfrm>
          <a:prstGeom prst="rect">
            <a:avLst/>
          </a:prstGeom>
          <a:noFill/>
        </p:spPr>
        <p:txBody>
          <a:bodyPr wrap="square" rtlCol="0">
            <a:noAutofit/>
          </a:bodyPr>
          <a:p>
            <a:pPr algn="ctr">
              <a:defRPr>
                <a:latin typeface="微软雅黑"/>
                <a:ea typeface="微软雅黑"/>
                <a:cs typeface="微软雅黑"/>
              </a:defRPr>
            </a:pPr>
            <a:r>
              <a:rPr lang="zh-CN" altLang="en-US" sz="2000" b="1">
                <a:solidFill>
                  <a:srgbClr val="383838"/>
                </a:solidFill>
                <a:latin typeface="微软雅黑"/>
                <a:ea typeface="微软雅黑"/>
                <a:cs typeface="微软雅黑"/>
              </a:rPr>
              <a:t>基于</a:t>
            </a:r>
            <a:r>
              <a:rPr lang="en-US" altLang="zh-CN" sz="2000" b="1">
                <a:solidFill>
                  <a:srgbClr val="383838"/>
                </a:solidFill>
                <a:latin typeface="微软雅黑"/>
                <a:ea typeface="微软雅黑"/>
                <a:cs typeface="微软雅黑"/>
              </a:rPr>
              <a:t>“</a:t>
            </a:r>
            <a:r>
              <a:rPr lang="zh-CN" altLang="en-US" sz="2000" b="1">
                <a:solidFill>
                  <a:srgbClr val="383838"/>
                </a:solidFill>
                <a:latin typeface="微软雅黑"/>
                <a:ea typeface="微软雅黑"/>
                <a:cs typeface="微软雅黑"/>
              </a:rPr>
              <a:t>供应链</a:t>
            </a:r>
            <a:r>
              <a:rPr lang="en-US" altLang="zh-CN" sz="2000" b="1">
                <a:solidFill>
                  <a:srgbClr val="383838"/>
                </a:solidFill>
                <a:latin typeface="微软雅黑"/>
                <a:ea typeface="微软雅黑"/>
                <a:cs typeface="微软雅黑"/>
              </a:rPr>
              <a:t>”</a:t>
            </a:r>
            <a:r>
              <a:rPr lang="zh-CN" altLang="en-US" sz="2000" b="1">
                <a:solidFill>
                  <a:srgbClr val="383838"/>
                </a:solidFill>
                <a:latin typeface="微软雅黑"/>
                <a:ea typeface="微软雅黑"/>
                <a:cs typeface="微软雅黑"/>
              </a:rPr>
              <a:t>的全程溯源与效率优化</a:t>
            </a:r>
            <a:endParaRPr lang="zh-CN" altLang="en-US" sz="2000" b="1">
              <a:solidFill>
                <a:srgbClr val="383838"/>
              </a:solidFill>
              <a:latin typeface="微软雅黑"/>
              <a:ea typeface="微软雅黑"/>
              <a:cs typeface="微软雅黑"/>
            </a:endParaRPr>
          </a:p>
        </p:txBody>
      </p:sp>
      <p:sp>
        <p:nvSpPr>
          <p:cNvPr id="18" name="文本框 17"/>
          <p:cNvSpPr txBox="1"/>
          <p:nvPr>
            <p:custDataLst>
              <p:tags r:id="rId18"/>
            </p:custDataLst>
          </p:nvPr>
        </p:nvSpPr>
        <p:spPr>
          <a:xfrm>
            <a:off x="1185545" y="5658485"/>
            <a:ext cx="1264920"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原材料</a:t>
            </a:r>
            <a:endParaRPr lang="zh-CN" altLang="en-US" sz="16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供应商</a:t>
            </a:r>
            <a:endParaRPr lang="zh-CN" altLang="en-US" sz="1600">
              <a:solidFill>
                <a:srgbClr val="FFFFFF"/>
              </a:solidFill>
              <a:latin typeface="微软雅黑"/>
              <a:ea typeface="微软雅黑"/>
              <a:cs typeface="微软雅黑"/>
            </a:endParaRPr>
          </a:p>
        </p:txBody>
      </p:sp>
      <p:sp>
        <p:nvSpPr>
          <p:cNvPr id="21" name="文本框 20"/>
          <p:cNvSpPr txBox="1"/>
          <p:nvPr>
            <p:custDataLst>
              <p:tags r:id="rId19"/>
            </p:custDataLst>
          </p:nvPr>
        </p:nvSpPr>
        <p:spPr>
          <a:xfrm>
            <a:off x="3007995" y="5658485"/>
            <a:ext cx="1264920"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生产</a:t>
            </a:r>
            <a:endParaRPr lang="zh-CN" altLang="en-US" sz="16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制造商</a:t>
            </a:r>
            <a:endParaRPr lang="zh-CN" altLang="en-US" sz="1600">
              <a:solidFill>
                <a:srgbClr val="FFFFFF"/>
              </a:solidFill>
              <a:latin typeface="微软雅黑"/>
              <a:ea typeface="微软雅黑"/>
              <a:cs typeface="微软雅黑"/>
            </a:endParaRPr>
          </a:p>
        </p:txBody>
      </p:sp>
      <p:sp>
        <p:nvSpPr>
          <p:cNvPr id="34" name="文本框 33"/>
          <p:cNvSpPr txBox="1"/>
          <p:nvPr>
            <p:custDataLst>
              <p:tags r:id="rId20"/>
            </p:custDataLst>
          </p:nvPr>
        </p:nvSpPr>
        <p:spPr>
          <a:xfrm>
            <a:off x="4830445" y="5658485"/>
            <a:ext cx="1264920"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第三方物流服务商</a:t>
            </a:r>
            <a:endParaRPr lang="zh-CN" altLang="en-US" sz="1600">
              <a:solidFill>
                <a:srgbClr val="FFFFFF"/>
              </a:solidFill>
              <a:latin typeface="微软雅黑"/>
              <a:ea typeface="微软雅黑"/>
              <a:cs typeface="微软雅黑"/>
            </a:endParaRPr>
          </a:p>
        </p:txBody>
      </p:sp>
      <p:sp>
        <p:nvSpPr>
          <p:cNvPr id="39" name="文本框 38"/>
          <p:cNvSpPr txBox="1"/>
          <p:nvPr>
            <p:custDataLst>
              <p:tags r:id="rId21"/>
            </p:custDataLst>
          </p:nvPr>
        </p:nvSpPr>
        <p:spPr>
          <a:xfrm>
            <a:off x="6652895" y="5658485"/>
            <a:ext cx="1264920"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分销</a:t>
            </a:r>
            <a:r>
              <a:rPr lang="en-US" altLang="zh-CN" sz="1600">
                <a:solidFill>
                  <a:srgbClr val="FFFFFF"/>
                </a:solidFill>
                <a:latin typeface="微软雅黑"/>
                <a:ea typeface="微软雅黑"/>
                <a:cs typeface="微软雅黑"/>
              </a:rPr>
              <a:t>/</a:t>
            </a:r>
            <a:r>
              <a:rPr lang="zh-CN" altLang="en-US" sz="1600">
                <a:solidFill>
                  <a:srgbClr val="FFFFFF"/>
                </a:solidFill>
                <a:latin typeface="微软雅黑"/>
                <a:ea typeface="微软雅黑"/>
                <a:cs typeface="微软雅黑"/>
              </a:rPr>
              <a:t>经销商</a:t>
            </a:r>
            <a:endParaRPr lang="zh-CN" altLang="en-US" sz="1600">
              <a:solidFill>
                <a:srgbClr val="FFFFFF"/>
              </a:solidFill>
              <a:latin typeface="微软雅黑"/>
              <a:ea typeface="微软雅黑"/>
              <a:cs typeface="微软雅黑"/>
            </a:endParaRPr>
          </a:p>
        </p:txBody>
      </p:sp>
      <p:sp>
        <p:nvSpPr>
          <p:cNvPr id="40" name="文本框 39"/>
          <p:cNvSpPr txBox="1"/>
          <p:nvPr>
            <p:custDataLst>
              <p:tags r:id="rId22"/>
            </p:custDataLst>
          </p:nvPr>
        </p:nvSpPr>
        <p:spPr>
          <a:xfrm>
            <a:off x="8475345" y="5658485"/>
            <a:ext cx="1264920"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600">
                <a:solidFill>
                  <a:srgbClr val="FFFFFF"/>
                </a:solidFill>
                <a:latin typeface="微软雅黑"/>
                <a:ea typeface="微软雅黑"/>
                <a:cs typeface="微软雅黑"/>
              </a:rPr>
              <a:t>终端</a:t>
            </a:r>
            <a:endParaRPr lang="zh-CN" sz="16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600">
                <a:solidFill>
                  <a:srgbClr val="FFFFFF"/>
                </a:solidFill>
                <a:latin typeface="微软雅黑"/>
                <a:ea typeface="微软雅黑"/>
                <a:cs typeface="微软雅黑"/>
              </a:rPr>
              <a:t>消费者</a:t>
            </a:r>
            <a:endParaRPr lang="zh-CN" sz="1600">
              <a:solidFill>
                <a:srgbClr val="FFFFFF"/>
              </a:solidFill>
              <a:latin typeface="微软雅黑"/>
              <a:ea typeface="微软雅黑"/>
              <a:cs typeface="微软雅黑"/>
            </a:endParaRPr>
          </a:p>
        </p:txBody>
      </p:sp>
      <p:cxnSp>
        <p:nvCxnSpPr>
          <p:cNvPr id="42" name="直接连接符 41"/>
          <p:cNvCxnSpPr/>
          <p:nvPr/>
        </p:nvCxnSpPr>
        <p:spPr>
          <a:xfrm>
            <a:off x="2755265" y="5763260"/>
            <a:ext cx="0" cy="368300"/>
          </a:xfrm>
          <a:prstGeom prst="line">
            <a:avLst/>
          </a:prstGeom>
          <a:ln w="28575">
            <a:solidFill>
              <a:srgbClr val="FFFFFF"/>
            </a:solidFill>
          </a:ln>
        </p:spPr>
        <p:style>
          <a:lnRef idx="2">
            <a:srgbClr val="0042FF"/>
          </a:lnRef>
          <a:fillRef idx="0">
            <a:srgbClr val="FFFFFF"/>
          </a:fillRef>
          <a:effectRef idx="0">
            <a:srgbClr val="FFFFFF"/>
          </a:effectRef>
          <a:fontRef idx="minor">
            <a:srgbClr val="383838"/>
          </a:fontRef>
        </p:style>
      </p:cxnSp>
      <p:cxnSp>
        <p:nvCxnSpPr>
          <p:cNvPr id="44" name="直接连接符 43"/>
          <p:cNvCxnSpPr/>
          <p:nvPr/>
        </p:nvCxnSpPr>
        <p:spPr>
          <a:xfrm>
            <a:off x="4628515" y="5763260"/>
            <a:ext cx="0" cy="368300"/>
          </a:xfrm>
          <a:prstGeom prst="line">
            <a:avLst/>
          </a:prstGeom>
          <a:ln w="28575">
            <a:solidFill>
              <a:srgbClr val="FFFFFF"/>
            </a:solidFill>
          </a:ln>
        </p:spPr>
        <p:style>
          <a:lnRef idx="2">
            <a:srgbClr val="0042FF"/>
          </a:lnRef>
          <a:fillRef idx="0">
            <a:srgbClr val="FFFFFF"/>
          </a:fillRef>
          <a:effectRef idx="0">
            <a:srgbClr val="FFFFFF"/>
          </a:effectRef>
          <a:fontRef idx="minor">
            <a:srgbClr val="383838"/>
          </a:fontRef>
        </p:style>
      </p:cxnSp>
      <p:cxnSp>
        <p:nvCxnSpPr>
          <p:cNvPr id="47" name="直接连接符 46"/>
          <p:cNvCxnSpPr/>
          <p:nvPr/>
        </p:nvCxnSpPr>
        <p:spPr>
          <a:xfrm>
            <a:off x="6501765" y="5763260"/>
            <a:ext cx="0" cy="368300"/>
          </a:xfrm>
          <a:prstGeom prst="line">
            <a:avLst/>
          </a:prstGeom>
          <a:ln w="28575">
            <a:solidFill>
              <a:srgbClr val="FFFFFF"/>
            </a:solidFill>
          </a:ln>
        </p:spPr>
        <p:style>
          <a:lnRef idx="2">
            <a:srgbClr val="0042FF"/>
          </a:lnRef>
          <a:fillRef idx="0">
            <a:srgbClr val="FFFFFF"/>
          </a:fillRef>
          <a:effectRef idx="0">
            <a:srgbClr val="FFFFFF"/>
          </a:effectRef>
          <a:fontRef idx="minor">
            <a:srgbClr val="383838"/>
          </a:fontRef>
        </p:style>
      </p:cxnSp>
      <p:cxnSp>
        <p:nvCxnSpPr>
          <p:cNvPr id="48" name="直接连接符 47"/>
          <p:cNvCxnSpPr/>
          <p:nvPr/>
        </p:nvCxnSpPr>
        <p:spPr>
          <a:xfrm>
            <a:off x="8375015" y="5763260"/>
            <a:ext cx="0" cy="368300"/>
          </a:xfrm>
          <a:prstGeom prst="line">
            <a:avLst/>
          </a:prstGeom>
          <a:ln w="28575">
            <a:solidFill>
              <a:srgbClr val="FFFFFF"/>
            </a:solidFill>
          </a:ln>
        </p:spPr>
        <p:style>
          <a:lnRef idx="2">
            <a:srgbClr val="0042FF"/>
          </a:lnRef>
          <a:fillRef idx="0">
            <a:srgbClr val="FFFFFF"/>
          </a:fillRef>
          <a:effectRef idx="0">
            <a:srgbClr val="FFFFFF"/>
          </a:effectRef>
          <a:fontRef idx="minor">
            <a:srgbClr val="383838"/>
          </a:fontRef>
        </p:style>
      </p:cxnSp>
      <p:sp>
        <p:nvSpPr>
          <p:cNvPr id="49" name="文本框 48"/>
          <p:cNvSpPr txBox="1"/>
          <p:nvPr>
            <p:custDataLst>
              <p:tags r:id="rId23"/>
            </p:custDataLst>
          </p:nvPr>
        </p:nvSpPr>
        <p:spPr>
          <a:xfrm>
            <a:off x="2167255" y="4716780"/>
            <a:ext cx="833120"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altLang="zh-CN" sz="1600">
                <a:solidFill>
                  <a:srgbClr val="FFFFFF"/>
                </a:solidFill>
                <a:latin typeface="微软雅黑"/>
                <a:ea typeface="微软雅黑"/>
                <a:cs typeface="微软雅黑"/>
              </a:rPr>
              <a:t>ERP</a:t>
            </a:r>
            <a:endParaRPr lang="en-US" altLang="zh-CN" sz="16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生产</a:t>
            </a:r>
            <a:endParaRPr lang="zh-CN" altLang="en-US" sz="1600">
              <a:solidFill>
                <a:srgbClr val="FFFFFF"/>
              </a:solidFill>
              <a:latin typeface="微软雅黑"/>
              <a:ea typeface="微软雅黑"/>
              <a:cs typeface="微软雅黑"/>
            </a:endParaRPr>
          </a:p>
        </p:txBody>
      </p:sp>
      <p:sp>
        <p:nvSpPr>
          <p:cNvPr id="50" name="文本框 49"/>
          <p:cNvSpPr txBox="1"/>
          <p:nvPr>
            <p:custDataLst>
              <p:tags r:id="rId24"/>
            </p:custDataLst>
          </p:nvPr>
        </p:nvSpPr>
        <p:spPr>
          <a:xfrm>
            <a:off x="3144520" y="4720590"/>
            <a:ext cx="727710"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sz="1600">
                <a:solidFill>
                  <a:srgbClr val="FFFFFF"/>
                </a:solidFill>
                <a:latin typeface="微软雅黑"/>
                <a:ea typeface="微软雅黑"/>
                <a:cs typeface="微软雅黑"/>
              </a:rPr>
              <a:t>WMS</a:t>
            </a:r>
            <a:r>
              <a:rPr lang="zh-CN" altLang="en-US" sz="1600">
                <a:solidFill>
                  <a:srgbClr val="FFFFFF"/>
                </a:solidFill>
                <a:latin typeface="微软雅黑"/>
                <a:ea typeface="微软雅黑"/>
                <a:cs typeface="微软雅黑"/>
              </a:rPr>
              <a:t>仓储</a:t>
            </a:r>
            <a:endParaRPr lang="zh-CN" altLang="en-US" sz="1600">
              <a:solidFill>
                <a:srgbClr val="FFFFFF"/>
              </a:solidFill>
              <a:latin typeface="微软雅黑"/>
              <a:ea typeface="微软雅黑"/>
              <a:cs typeface="微软雅黑"/>
            </a:endParaRPr>
          </a:p>
        </p:txBody>
      </p:sp>
      <p:sp>
        <p:nvSpPr>
          <p:cNvPr id="51" name="文本框 50"/>
          <p:cNvSpPr txBox="1"/>
          <p:nvPr>
            <p:custDataLst>
              <p:tags r:id="rId25"/>
            </p:custDataLst>
          </p:nvPr>
        </p:nvSpPr>
        <p:spPr>
          <a:xfrm>
            <a:off x="4029710" y="4711065"/>
            <a:ext cx="714375"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sz="1600">
                <a:solidFill>
                  <a:srgbClr val="FFFFFF"/>
                </a:solidFill>
                <a:latin typeface="微软雅黑"/>
                <a:ea typeface="微软雅黑"/>
                <a:cs typeface="微软雅黑"/>
              </a:rPr>
              <a:t>CRM</a:t>
            </a:r>
            <a:r>
              <a:rPr lang="zh-CN" altLang="en-US" sz="1600">
                <a:solidFill>
                  <a:srgbClr val="FFFFFF"/>
                </a:solidFill>
                <a:latin typeface="微软雅黑"/>
                <a:ea typeface="微软雅黑"/>
                <a:cs typeface="微软雅黑"/>
              </a:rPr>
              <a:t>客户</a:t>
            </a:r>
            <a:endParaRPr lang="zh-CN" altLang="en-US" sz="1600">
              <a:solidFill>
                <a:srgbClr val="FFFFFF"/>
              </a:solidFill>
              <a:latin typeface="微软雅黑"/>
              <a:ea typeface="微软雅黑"/>
              <a:cs typeface="微软雅黑"/>
            </a:endParaRPr>
          </a:p>
        </p:txBody>
      </p:sp>
      <p:sp>
        <p:nvSpPr>
          <p:cNvPr id="52" name="文本框 51"/>
          <p:cNvSpPr txBox="1"/>
          <p:nvPr>
            <p:custDataLst>
              <p:tags r:id="rId26"/>
            </p:custDataLst>
          </p:nvPr>
        </p:nvSpPr>
        <p:spPr>
          <a:xfrm>
            <a:off x="5428615" y="4761230"/>
            <a:ext cx="1486535"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600">
                <a:solidFill>
                  <a:srgbClr val="FFFFFF"/>
                </a:solidFill>
                <a:latin typeface="微软雅黑"/>
                <a:ea typeface="微软雅黑"/>
                <a:cs typeface="微软雅黑"/>
              </a:rPr>
              <a:t>供应商数据接入系统</a:t>
            </a:r>
            <a:endParaRPr lang="zh-CN" sz="1600">
              <a:solidFill>
                <a:srgbClr val="FFFFFF"/>
              </a:solidFill>
              <a:latin typeface="微软雅黑"/>
              <a:ea typeface="微软雅黑"/>
              <a:cs typeface="微软雅黑"/>
            </a:endParaRPr>
          </a:p>
        </p:txBody>
      </p:sp>
      <p:sp>
        <p:nvSpPr>
          <p:cNvPr id="53" name="文本框 52"/>
          <p:cNvSpPr txBox="1"/>
          <p:nvPr>
            <p:custDataLst>
              <p:tags r:id="rId27"/>
            </p:custDataLst>
          </p:nvPr>
        </p:nvSpPr>
        <p:spPr>
          <a:xfrm>
            <a:off x="7092315" y="4754880"/>
            <a:ext cx="1486535" cy="58356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600">
                <a:solidFill>
                  <a:srgbClr val="FFFFFF"/>
                </a:solidFill>
                <a:latin typeface="微软雅黑"/>
                <a:ea typeface="微软雅黑"/>
                <a:cs typeface="微软雅黑"/>
              </a:rPr>
              <a:t>分销渠道</a:t>
            </a:r>
            <a:endParaRPr lang="zh-CN" sz="16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600">
                <a:solidFill>
                  <a:srgbClr val="FFFFFF"/>
                </a:solidFill>
                <a:latin typeface="微软雅黑"/>
                <a:ea typeface="微软雅黑"/>
                <a:cs typeface="微软雅黑"/>
              </a:rPr>
              <a:t>整合系统</a:t>
            </a:r>
            <a:endParaRPr lang="zh-CN" sz="1600">
              <a:solidFill>
                <a:srgbClr val="FFFFFF"/>
              </a:solidFill>
              <a:latin typeface="微软雅黑"/>
              <a:ea typeface="微软雅黑"/>
              <a:cs typeface="微软雅黑"/>
            </a:endParaRPr>
          </a:p>
        </p:txBody>
      </p:sp>
      <p:sp>
        <p:nvSpPr>
          <p:cNvPr id="54" name="文本框 53"/>
          <p:cNvSpPr txBox="1"/>
          <p:nvPr>
            <p:custDataLst>
              <p:tags r:id="rId28"/>
            </p:custDataLst>
          </p:nvPr>
        </p:nvSpPr>
        <p:spPr>
          <a:xfrm>
            <a:off x="3435668" y="2605405"/>
            <a:ext cx="3747135" cy="306705"/>
          </a:xfrm>
          <a:prstGeom prst="rect">
            <a:avLst/>
          </a:prstGeom>
          <a:noFill/>
        </p:spPr>
        <p:txBody>
          <a:bodyPr wrap="square" rtlCol="0">
            <a:spAutoFit/>
          </a:bodyPr>
          <a:p>
            <a:pPr lvl="0" algn="ctr">
              <a:buClrTx/>
              <a:buSzTx/>
              <a:buFontTx/>
              <a:defRPr>
                <a:latin typeface="微软雅黑"/>
                <a:ea typeface="微软雅黑"/>
                <a:cs typeface="微软雅黑"/>
              </a:defRPr>
            </a:pPr>
            <a:r>
              <a:rPr lang="zh-CN" sz="1400" b="1">
                <a:solidFill>
                  <a:srgbClr val="0042FF"/>
                </a:solidFill>
                <a:effectLst>
                  <a:reflection blurRad="50800" stA="33000" endA="900" endPos="60000" dist="76200" dir="5400000" sy="-100000" algn="bl" rotWithShape="0"/>
                </a:effectLst>
                <a:latin typeface="微软雅黑"/>
                <a:ea typeface="微软雅黑"/>
                <a:cs typeface="微软雅黑"/>
                <a:sym typeface="微软雅黑"/>
              </a:rPr>
              <a:t>区块链供应链溯源系统</a:t>
            </a:r>
            <a:endParaRPr lang="zh-CN" sz="1400" b="1">
              <a:solidFill>
                <a:srgbClr val="0042FF"/>
              </a:solidFill>
              <a:effectLst>
                <a:reflection blurRad="50800" stA="33000" endA="900" endPos="60000" dist="76200" dir="5400000" sy="-100000" algn="bl" rotWithShape="0"/>
              </a:effectLst>
              <a:latin typeface="微软雅黑"/>
              <a:ea typeface="微软雅黑"/>
              <a:cs typeface="微软雅黑"/>
              <a:sym typeface="微软雅黑"/>
            </a:endParaRPr>
          </a:p>
        </p:txBody>
      </p:sp>
      <p:sp>
        <p:nvSpPr>
          <p:cNvPr id="55" name="文本框 54"/>
          <p:cNvSpPr txBox="1"/>
          <p:nvPr>
            <p:custDataLst>
              <p:tags r:id="rId29"/>
            </p:custDataLst>
          </p:nvPr>
        </p:nvSpPr>
        <p:spPr>
          <a:xfrm>
            <a:off x="3435668" y="1972945"/>
            <a:ext cx="3747135" cy="306705"/>
          </a:xfrm>
          <a:prstGeom prst="rect">
            <a:avLst/>
          </a:prstGeom>
          <a:noFill/>
        </p:spPr>
        <p:txBody>
          <a:bodyPr wrap="square" rtlCol="0">
            <a:spAutoFit/>
          </a:bodyPr>
          <a:p>
            <a:pPr lvl="0" algn="ctr">
              <a:buClrTx/>
              <a:buSzTx/>
              <a:buFontTx/>
              <a:defRPr>
                <a:latin typeface="微软雅黑"/>
                <a:ea typeface="微软雅黑"/>
                <a:cs typeface="微软雅黑"/>
              </a:defRPr>
            </a:pPr>
            <a:r>
              <a:rPr lang="zh-CN" sz="1400" b="1">
                <a:solidFill>
                  <a:srgbClr val="0042FF"/>
                </a:solidFill>
                <a:effectLst>
                  <a:reflection blurRad="50800" stA="33000" endA="900" endPos="60000" dist="76200" dir="5400000" sy="-100000" algn="bl" rotWithShape="0"/>
                </a:effectLst>
                <a:latin typeface="微软雅黑"/>
                <a:ea typeface="微软雅黑"/>
                <a:cs typeface="微软雅黑"/>
                <a:sym typeface="微软雅黑"/>
              </a:rPr>
              <a:t>区块链保障供应链数据安全可溯</a:t>
            </a:r>
            <a:endParaRPr lang="zh-CN" sz="1400" b="1">
              <a:solidFill>
                <a:srgbClr val="0042FF"/>
              </a:solidFill>
              <a:effectLst>
                <a:reflection blurRad="50800" stA="33000" endA="900" endPos="60000" dist="76200" dir="5400000" sy="-100000" algn="bl" rotWithShape="0"/>
              </a:effectLst>
              <a:latin typeface="微软雅黑"/>
              <a:ea typeface="微软雅黑"/>
              <a:cs typeface="微软雅黑"/>
              <a:sym typeface="微软雅黑"/>
            </a:endParaRPr>
          </a:p>
        </p:txBody>
      </p:sp>
      <p:sp>
        <p:nvSpPr>
          <p:cNvPr id="56" name="文本框 55"/>
          <p:cNvSpPr txBox="1"/>
          <p:nvPr>
            <p:custDataLst>
              <p:tags r:id="rId30"/>
            </p:custDataLst>
          </p:nvPr>
        </p:nvSpPr>
        <p:spPr>
          <a:xfrm>
            <a:off x="2450465" y="3208020"/>
            <a:ext cx="986155" cy="460375"/>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原材料采购数据</a:t>
            </a:r>
            <a:endParaRPr lang="zh-CN" sz="1200">
              <a:solidFill>
                <a:srgbClr val="383838"/>
              </a:solidFill>
              <a:latin typeface="微软雅黑"/>
              <a:ea typeface="微软雅黑"/>
              <a:cs typeface="微软雅黑"/>
            </a:endParaRPr>
          </a:p>
        </p:txBody>
      </p:sp>
      <p:sp>
        <p:nvSpPr>
          <p:cNvPr id="57" name="文本框 56"/>
          <p:cNvSpPr txBox="1"/>
          <p:nvPr>
            <p:custDataLst>
              <p:tags r:id="rId31"/>
            </p:custDataLst>
          </p:nvPr>
        </p:nvSpPr>
        <p:spPr>
          <a:xfrm>
            <a:off x="4194175" y="3208020"/>
            <a:ext cx="986155" cy="46037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生产制造进度数据</a:t>
            </a:r>
            <a:endParaRPr lang="zh-CN" altLang="en-US" sz="1200">
              <a:solidFill>
                <a:srgbClr val="383838"/>
              </a:solidFill>
              <a:latin typeface="微软雅黑"/>
              <a:ea typeface="微软雅黑"/>
              <a:cs typeface="微软雅黑"/>
            </a:endParaRPr>
          </a:p>
        </p:txBody>
      </p:sp>
      <p:sp>
        <p:nvSpPr>
          <p:cNvPr id="58" name="文本框 57"/>
          <p:cNvSpPr txBox="1"/>
          <p:nvPr>
            <p:custDataLst>
              <p:tags r:id="rId32"/>
            </p:custDataLst>
          </p:nvPr>
        </p:nvSpPr>
        <p:spPr>
          <a:xfrm>
            <a:off x="5937885" y="3208020"/>
            <a:ext cx="986155" cy="46037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物流运输实时信息</a:t>
            </a:r>
            <a:endParaRPr lang="zh-CN" altLang="en-US" sz="1200">
              <a:solidFill>
                <a:srgbClr val="383838"/>
              </a:solidFill>
              <a:latin typeface="微软雅黑"/>
              <a:ea typeface="微软雅黑"/>
              <a:cs typeface="微软雅黑"/>
            </a:endParaRPr>
          </a:p>
        </p:txBody>
      </p:sp>
      <p:sp>
        <p:nvSpPr>
          <p:cNvPr id="59" name="文本框 58"/>
          <p:cNvSpPr txBox="1"/>
          <p:nvPr>
            <p:custDataLst>
              <p:tags r:id="rId33"/>
            </p:custDataLst>
          </p:nvPr>
        </p:nvSpPr>
        <p:spPr>
          <a:xfrm>
            <a:off x="7681595" y="3208020"/>
            <a:ext cx="1187450" cy="46037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库存与销售匹配数据</a:t>
            </a:r>
            <a:endParaRPr lang="zh-CN" altLang="en-US" sz="1200">
              <a:solidFill>
                <a:srgbClr val="383838"/>
              </a:solidFill>
              <a:latin typeface="微软雅黑"/>
              <a:ea typeface="微软雅黑"/>
              <a:cs typeface="微软雅黑"/>
            </a:endParaRPr>
          </a:p>
        </p:txBody>
      </p:sp>
      <p:sp>
        <p:nvSpPr>
          <p:cNvPr id="60" name="文本框 59"/>
          <p:cNvSpPr txBox="1"/>
          <p:nvPr>
            <p:custDataLst>
              <p:tags r:id="rId34"/>
            </p:custDataLst>
          </p:nvPr>
        </p:nvSpPr>
        <p:spPr>
          <a:xfrm>
            <a:off x="1890395" y="3844925"/>
            <a:ext cx="3239135" cy="306705"/>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effectLst>
                  <a:reflection blurRad="50800" stA="33000" endA="900" endPos="60000" dist="76200" dir="5400000" sy="-100000" algn="bl" rotWithShape="0"/>
                </a:effectLst>
                <a:latin typeface="微软雅黑"/>
                <a:ea typeface="微软雅黑"/>
                <a:cs typeface="微软雅黑"/>
              </a:rPr>
              <a:t>企业数据中台</a:t>
            </a:r>
            <a:endParaRPr lang="zh-CN" sz="1400" b="1">
              <a:solidFill>
                <a:srgbClr val="383838"/>
              </a:solidFill>
              <a:effectLst>
                <a:reflection blurRad="50800" stA="33000" endA="900" endPos="60000" dist="76200" dir="5400000" sy="-100000" algn="bl" rotWithShape="0"/>
              </a:effectLst>
              <a:latin typeface="微软雅黑"/>
              <a:ea typeface="微软雅黑"/>
              <a:cs typeface="微软雅黑"/>
            </a:endParaRPr>
          </a:p>
        </p:txBody>
      </p:sp>
      <p:sp>
        <p:nvSpPr>
          <p:cNvPr id="61" name="文本框 60"/>
          <p:cNvSpPr txBox="1"/>
          <p:nvPr>
            <p:custDataLst>
              <p:tags r:id="rId35"/>
            </p:custDataLst>
          </p:nvPr>
        </p:nvSpPr>
        <p:spPr>
          <a:xfrm>
            <a:off x="4728210" y="3844925"/>
            <a:ext cx="374713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effectLst>
                  <a:reflection blurRad="50800" stA="33000" endA="900" endPos="60000" dist="76200" dir="5400000" sy="-100000" algn="bl" rotWithShape="0"/>
                </a:effectLst>
                <a:latin typeface="微软雅黑"/>
                <a:ea typeface="微软雅黑"/>
                <a:cs typeface="微软雅黑"/>
              </a:rPr>
              <a:t>全国统一供应链协同平台</a:t>
            </a:r>
            <a:endParaRPr lang="zh-CN" altLang="en-US" sz="1400" b="1">
              <a:solidFill>
                <a:srgbClr val="383838"/>
              </a:solidFill>
              <a:effectLst>
                <a:reflection blurRad="50800" stA="33000" endA="900" endPos="60000" dist="76200" dir="5400000" sy="-100000" algn="bl" rotWithShape="0"/>
              </a:effectLst>
              <a:latin typeface="微软雅黑"/>
              <a:ea typeface="微软雅黑"/>
              <a:cs typeface="微软雅黑"/>
            </a:endParaRPr>
          </a:p>
        </p:txBody>
      </p:sp>
      <p:sp>
        <p:nvSpPr>
          <p:cNvPr id="68" name="矩形 67"/>
          <p:cNvSpPr/>
          <p:nvPr/>
        </p:nvSpPr>
        <p:spPr>
          <a:xfrm>
            <a:off x="3700780" y="1370330"/>
            <a:ext cx="821055" cy="461010"/>
          </a:xfrm>
          <a:prstGeom prst="rect">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79" name="矩形 78"/>
          <p:cNvSpPr/>
          <p:nvPr/>
        </p:nvSpPr>
        <p:spPr>
          <a:xfrm>
            <a:off x="4950460" y="1275080"/>
            <a:ext cx="821055" cy="461010"/>
          </a:xfrm>
          <a:prstGeom prst="rect">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84" name="矩形 83"/>
          <p:cNvSpPr/>
          <p:nvPr/>
        </p:nvSpPr>
        <p:spPr>
          <a:xfrm>
            <a:off x="6200775" y="1370330"/>
            <a:ext cx="821055" cy="461010"/>
          </a:xfrm>
          <a:prstGeom prst="rect">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87" name="矩形 86"/>
          <p:cNvSpPr/>
          <p:nvPr/>
        </p:nvSpPr>
        <p:spPr>
          <a:xfrm>
            <a:off x="7451090" y="1724660"/>
            <a:ext cx="821055" cy="461010"/>
          </a:xfrm>
          <a:prstGeom prst="rect">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90" name="矩形 89"/>
          <p:cNvSpPr/>
          <p:nvPr/>
        </p:nvSpPr>
        <p:spPr>
          <a:xfrm>
            <a:off x="2450465" y="1710690"/>
            <a:ext cx="821055" cy="461010"/>
          </a:xfrm>
          <a:prstGeom prst="rect">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grpSp>
        <p:nvGrpSpPr>
          <p:cNvPr id="94" name="组合 93"/>
          <p:cNvGrpSpPr/>
          <p:nvPr/>
        </p:nvGrpSpPr>
        <p:grpSpPr>
          <a:xfrm>
            <a:off x="3361690" y="4349750"/>
            <a:ext cx="248920" cy="442595"/>
            <a:chOff x="3859" y="6875"/>
            <a:chExt cx="392" cy="697"/>
          </a:xfrm>
        </p:grpSpPr>
        <p:sp>
          <p:nvSpPr>
            <p:cNvPr id="95" name="菱形 94"/>
            <p:cNvSpPr/>
            <p:nvPr/>
          </p:nvSpPr>
          <p:spPr>
            <a:xfrm>
              <a:off x="3859" y="6875"/>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96" name="菱形 95"/>
            <p:cNvSpPr/>
            <p:nvPr/>
          </p:nvSpPr>
          <p:spPr>
            <a:xfrm>
              <a:off x="3859" y="7044"/>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grpSp>
        <p:nvGrpSpPr>
          <p:cNvPr id="97" name="组合 96"/>
          <p:cNvGrpSpPr/>
          <p:nvPr/>
        </p:nvGrpSpPr>
        <p:grpSpPr>
          <a:xfrm>
            <a:off x="4266565" y="4349750"/>
            <a:ext cx="248920" cy="442595"/>
            <a:chOff x="3859" y="6875"/>
            <a:chExt cx="392" cy="697"/>
          </a:xfrm>
        </p:grpSpPr>
        <p:sp>
          <p:nvSpPr>
            <p:cNvPr id="98" name="菱形 97"/>
            <p:cNvSpPr/>
            <p:nvPr/>
          </p:nvSpPr>
          <p:spPr>
            <a:xfrm>
              <a:off x="3859" y="6875"/>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99" name="菱形 98"/>
            <p:cNvSpPr/>
            <p:nvPr/>
          </p:nvSpPr>
          <p:spPr>
            <a:xfrm>
              <a:off x="3859" y="7044"/>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FFFFFF"/>
                  </a:solidFill>
                  <a:latin typeface="微软雅黑"/>
                  <a:ea typeface="微软雅黑"/>
                  <a:cs typeface="微软雅黑"/>
                </a:defRPr>
              </a:pPr>
              <a:endParaRPr lang="zh-CN" altLang="en-US" kern="0" dirty="0">
                <a:solidFill>
                  <a:srgbClr val="FFFFFF"/>
                </a:solidFill>
                <a:latin typeface="微软雅黑"/>
                <a:ea typeface="微软雅黑"/>
                <a:cs typeface="微软雅黑"/>
              </a:endParaRPr>
            </a:p>
          </p:txBody>
        </p:sp>
      </p:grpSp>
      <p:pic>
        <p:nvPicPr>
          <p:cNvPr id="4" name="图片 3" descr="屋顶资源管理"/>
          <p:cNvPicPr>
            <a:picLocks noChangeAspect="1"/>
          </p:cNvPicPr>
          <p:nvPr/>
        </p:nvPicPr>
        <p:blipFill>
          <a:blip r:embed="rId36">
            <a:extLst>
              <a:ext uri="{96DAC541-7B7A-43D3-8B79-37D633B846F1}">
                <asvg:svgBlip xmlns:asvg="http://schemas.microsoft.com/office/drawing/2016/SVG/main" r:embed="rId37"/>
              </a:ext>
            </a:extLst>
          </a:blip>
          <a:stretch>
            <a:fillRect/>
          </a:stretch>
        </p:blipFill>
        <p:spPr>
          <a:xfrm>
            <a:off x="355600" y="186055"/>
            <a:ext cx="549910" cy="549910"/>
          </a:xfrm>
          <a:prstGeom prst="rect">
            <a:avLst/>
          </a:prstGeom>
        </p:spPr>
      </p:pic>
      <p:grpSp>
        <p:nvGrpSpPr>
          <p:cNvPr id="10" name="组合 9"/>
          <p:cNvGrpSpPr/>
          <p:nvPr/>
        </p:nvGrpSpPr>
        <p:grpSpPr>
          <a:xfrm>
            <a:off x="8738235" y="348615"/>
            <a:ext cx="3219450" cy="332740"/>
            <a:chOff x="13761" y="549"/>
            <a:chExt cx="5070" cy="524"/>
          </a:xfrm>
        </p:grpSpPr>
        <p:pic>
          <p:nvPicPr>
            <p:cNvPr id="27" name="图片 26"/>
            <p:cNvPicPr>
              <a:picLocks noChangeAspect="1"/>
            </p:cNvPicPr>
            <p:nvPr userDrawn="1"/>
          </p:nvPicPr>
          <p:blipFill>
            <a:blip r:embed="rId38"/>
            <a:srcRect l="17002" t="-1765" r="56499" b="-1176"/>
            <a:stretch>
              <a:fillRect/>
            </a:stretch>
          </p:blipFill>
          <p:spPr>
            <a:xfrm>
              <a:off x="13761" y="549"/>
              <a:ext cx="1582" cy="525"/>
            </a:xfrm>
            <a:prstGeom prst="rect">
              <a:avLst/>
            </a:prstGeom>
          </p:spPr>
        </p:pic>
        <p:sp>
          <p:nvSpPr>
            <p:cNvPr id="29" name="文本框 2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31" name="文本框 30"/>
          <p:cNvSpPr txBox="1"/>
          <p:nvPr>
            <p:custDataLst>
              <p:tags r:id="rId39"/>
            </p:custDataLst>
          </p:nvPr>
        </p:nvSpPr>
        <p:spPr>
          <a:xfrm>
            <a:off x="3700780" y="1360170"/>
            <a:ext cx="832485" cy="460375"/>
          </a:xfrm>
          <a:prstGeom prst="rect">
            <a:avLst/>
          </a:prstGeom>
          <a:noFill/>
          <a:effectLst/>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生产过程</a:t>
            </a:r>
            <a:endParaRPr lang="zh-CN" sz="1200">
              <a:solidFill>
                <a:srgbClr val="383838"/>
              </a:solidFill>
              <a:latin typeface="微软雅黑"/>
              <a:ea typeface="微软雅黑"/>
              <a:cs typeface="微软雅黑"/>
            </a:endParaRPr>
          </a:p>
          <a:p>
            <a:pPr algn="ctr">
              <a:defRPr>
                <a:latin typeface="微软雅黑"/>
                <a:ea typeface="微软雅黑"/>
                <a:cs typeface="微软雅黑"/>
              </a:defRPr>
            </a:pPr>
            <a:r>
              <a:rPr lang="zh-CN" sz="1200">
                <a:solidFill>
                  <a:srgbClr val="383838"/>
                </a:solidFill>
                <a:latin typeface="微软雅黑"/>
                <a:ea typeface="微软雅黑"/>
                <a:cs typeface="微软雅黑"/>
              </a:rPr>
              <a:t>存证</a:t>
            </a:r>
            <a:endParaRPr lang="zh-CN" sz="1200">
              <a:solidFill>
                <a:srgbClr val="383838"/>
              </a:solidFill>
              <a:latin typeface="微软雅黑"/>
              <a:ea typeface="微软雅黑"/>
              <a:cs typeface="微软雅黑"/>
            </a:endParaRPr>
          </a:p>
        </p:txBody>
      </p:sp>
      <p:sp>
        <p:nvSpPr>
          <p:cNvPr id="32" name="文本框 31"/>
          <p:cNvSpPr txBox="1"/>
          <p:nvPr>
            <p:custDataLst>
              <p:tags r:id="rId40"/>
            </p:custDataLst>
          </p:nvPr>
        </p:nvSpPr>
        <p:spPr>
          <a:xfrm>
            <a:off x="4950460" y="1264920"/>
            <a:ext cx="832485" cy="460375"/>
          </a:xfrm>
          <a:prstGeom prst="rect">
            <a:avLst/>
          </a:prstGeom>
          <a:noFill/>
          <a:effectLst/>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物流运输</a:t>
            </a:r>
            <a:endParaRPr lang="zh-CN" sz="1200">
              <a:solidFill>
                <a:srgbClr val="383838"/>
              </a:solidFill>
              <a:latin typeface="微软雅黑"/>
              <a:ea typeface="微软雅黑"/>
              <a:cs typeface="微软雅黑"/>
            </a:endParaRPr>
          </a:p>
          <a:p>
            <a:pPr algn="ctr">
              <a:defRPr>
                <a:latin typeface="微软雅黑"/>
                <a:ea typeface="微软雅黑"/>
                <a:cs typeface="微软雅黑"/>
              </a:defRPr>
            </a:pPr>
            <a:r>
              <a:rPr lang="zh-CN" sz="1200">
                <a:solidFill>
                  <a:srgbClr val="383838"/>
                </a:solidFill>
                <a:latin typeface="微软雅黑"/>
                <a:ea typeface="微软雅黑"/>
                <a:cs typeface="微软雅黑"/>
              </a:rPr>
              <a:t>追踪</a:t>
            </a:r>
            <a:endParaRPr lang="zh-CN" sz="1200">
              <a:solidFill>
                <a:srgbClr val="383838"/>
              </a:solidFill>
              <a:latin typeface="微软雅黑"/>
              <a:ea typeface="微软雅黑"/>
              <a:cs typeface="微软雅黑"/>
            </a:endParaRPr>
          </a:p>
        </p:txBody>
      </p:sp>
      <p:sp>
        <p:nvSpPr>
          <p:cNvPr id="33" name="文本框 32"/>
          <p:cNvSpPr txBox="1"/>
          <p:nvPr>
            <p:custDataLst>
              <p:tags r:id="rId41"/>
            </p:custDataLst>
          </p:nvPr>
        </p:nvSpPr>
        <p:spPr>
          <a:xfrm>
            <a:off x="6200775" y="1360170"/>
            <a:ext cx="832485" cy="460375"/>
          </a:xfrm>
          <a:prstGeom prst="rect">
            <a:avLst/>
          </a:prstGeom>
          <a:noFill/>
          <a:effectLst/>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库存数据协同</a:t>
            </a:r>
            <a:endParaRPr lang="zh-CN" sz="1200">
              <a:solidFill>
                <a:srgbClr val="383838"/>
              </a:solidFill>
              <a:latin typeface="微软雅黑"/>
              <a:ea typeface="微软雅黑"/>
              <a:cs typeface="微软雅黑"/>
            </a:endParaRPr>
          </a:p>
        </p:txBody>
      </p:sp>
      <p:sp>
        <p:nvSpPr>
          <p:cNvPr id="62" name="文本框 61"/>
          <p:cNvSpPr txBox="1"/>
          <p:nvPr>
            <p:custDataLst>
              <p:tags r:id="rId42"/>
            </p:custDataLst>
          </p:nvPr>
        </p:nvSpPr>
        <p:spPr>
          <a:xfrm>
            <a:off x="7451090" y="1714500"/>
            <a:ext cx="832485" cy="460375"/>
          </a:xfrm>
          <a:prstGeom prst="rect">
            <a:avLst/>
          </a:prstGeom>
          <a:noFill/>
          <a:effectLst/>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供应链金融风控</a:t>
            </a:r>
            <a:endParaRPr lang="zh-CN" sz="1200">
              <a:solidFill>
                <a:srgbClr val="383838"/>
              </a:solidFill>
              <a:latin typeface="微软雅黑"/>
              <a:ea typeface="微软雅黑"/>
              <a:cs typeface="微软雅黑"/>
            </a:endParaRPr>
          </a:p>
        </p:txBody>
      </p:sp>
      <p:sp>
        <p:nvSpPr>
          <p:cNvPr id="64" name="文本框 63"/>
          <p:cNvSpPr txBox="1"/>
          <p:nvPr>
            <p:custDataLst>
              <p:tags r:id="rId43"/>
            </p:custDataLst>
          </p:nvPr>
        </p:nvSpPr>
        <p:spPr>
          <a:xfrm>
            <a:off x="2450465" y="1700530"/>
            <a:ext cx="832485" cy="460375"/>
          </a:xfrm>
          <a:prstGeom prst="rect">
            <a:avLst/>
          </a:prstGeom>
          <a:noFill/>
          <a:effectLst/>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原材料采购溯源</a:t>
            </a:r>
            <a:endParaRPr lang="zh-CN" sz="1200">
              <a:solidFill>
                <a:srgbClr val="383838"/>
              </a:solidFill>
              <a:latin typeface="微软雅黑"/>
              <a:ea typeface="微软雅黑"/>
              <a:cs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多层平台架构 |</a:t>
            </a:r>
            <a:r>
              <a:rPr sz="2500">
                <a:solidFill>
                  <a:srgbClr val="0042FF"/>
                </a:solidFill>
                <a:latin typeface="微软雅黑"/>
                <a:ea typeface="微软雅黑"/>
                <a:cs typeface="微软雅黑"/>
              </a:rPr>
              <a:t> </a:t>
            </a:r>
            <a:r>
              <a:rPr sz="2500">
                <a:solidFill>
                  <a:srgbClr val="0042FF"/>
                </a:solidFill>
                <a:latin typeface="微软雅黑"/>
                <a:ea typeface="微软雅黑"/>
                <a:cs typeface="微软雅黑"/>
              </a:rPr>
              <a:t>年度营销规划全景图</a:t>
            </a:r>
            <a:endParaRPr sz="2500">
              <a:solidFill>
                <a:srgbClr val="0042FF"/>
              </a:solidFill>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9" name="文本框 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63" name="矩形 62"/>
          <p:cNvSpPr/>
          <p:nvPr/>
        </p:nvSpPr>
        <p:spPr>
          <a:xfrm>
            <a:off x="398887" y="1201829"/>
            <a:ext cx="11496508" cy="2503633"/>
          </a:xfrm>
          <a:prstGeom prst="rect">
            <a:avLst/>
          </a:prstGeom>
          <a:solidFill>
            <a:srgbClr val="FFFFFF">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64" name="矩形 63"/>
          <p:cNvSpPr/>
          <p:nvPr/>
        </p:nvSpPr>
        <p:spPr>
          <a:xfrm>
            <a:off x="401086" y="3814087"/>
            <a:ext cx="11496508" cy="1496566"/>
          </a:xfrm>
          <a:prstGeom prst="rect">
            <a:avLst/>
          </a:prstGeom>
          <a:solidFill>
            <a:srgbClr val="E6E6E6">
              <a:alpha val="4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65" name="矩形 64"/>
          <p:cNvSpPr/>
          <p:nvPr/>
        </p:nvSpPr>
        <p:spPr>
          <a:xfrm>
            <a:off x="401086" y="5434666"/>
            <a:ext cx="11496508" cy="1167099"/>
          </a:xfrm>
          <a:prstGeom prst="rect">
            <a:avLst/>
          </a:prstGeom>
          <a:solidFill>
            <a:srgbClr val="E6E6E6">
              <a:alpha val="4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kumimoji="1" lang="zh-CN" altLang="en-US" noProof="0">
              <a:ln>
                <a:noFill/>
              </a:ln>
              <a:solidFill>
                <a:srgbClr val="FFFFFF"/>
              </a:solidFill>
              <a:effectLst/>
              <a:uLnTx/>
              <a:uFillTx/>
              <a:latin typeface="微软雅黑"/>
              <a:ea typeface="微软雅黑"/>
              <a:cs typeface="微软雅黑"/>
              <a:sym typeface="微软雅黑"/>
            </a:endParaRPr>
          </a:p>
        </p:txBody>
      </p:sp>
      <p:sp>
        <p:nvSpPr>
          <p:cNvPr id="75" name="任意形状 73"/>
          <p:cNvSpPr/>
          <p:nvPr/>
        </p:nvSpPr>
        <p:spPr>
          <a:xfrm>
            <a:off x="1078577" y="5038602"/>
            <a:ext cx="10127672" cy="1553358"/>
          </a:xfrm>
          <a:custGeom>
            <a:avLst/>
            <a:gdLst>
              <a:gd name="connsiteX0" fmla="*/ 5063836 w 10127672"/>
              <a:gd name="connsiteY0" fmla="*/ 0 h 1553358"/>
              <a:gd name="connsiteX1" fmla="*/ 9453597 w 10127672"/>
              <a:gd name="connsiteY1" fmla="*/ 673291 h 1553358"/>
              <a:gd name="connsiteX2" fmla="*/ 10127672 w 10127672"/>
              <a:gd name="connsiteY2" fmla="*/ 673291 h 1553358"/>
              <a:gd name="connsiteX3" fmla="*/ 10127672 w 10127672"/>
              <a:gd name="connsiteY3" fmla="*/ 776679 h 1553358"/>
              <a:gd name="connsiteX4" fmla="*/ 10127672 w 10127672"/>
              <a:gd name="connsiteY4" fmla="*/ 781291 h 1553358"/>
              <a:gd name="connsiteX5" fmla="*/ 10097603 w 10127672"/>
              <a:gd name="connsiteY5" fmla="*/ 781291 h 1553358"/>
              <a:gd name="connsiteX6" fmla="*/ 5063836 w 10127672"/>
              <a:gd name="connsiteY6" fmla="*/ 1553358 h 1553358"/>
              <a:gd name="connsiteX7" fmla="*/ 30070 w 10127672"/>
              <a:gd name="connsiteY7" fmla="*/ 781291 h 1553358"/>
              <a:gd name="connsiteX8" fmla="*/ 0 w 10127672"/>
              <a:gd name="connsiteY8" fmla="*/ 781291 h 1553358"/>
              <a:gd name="connsiteX9" fmla="*/ 0 w 10127672"/>
              <a:gd name="connsiteY9" fmla="*/ 776679 h 1553358"/>
              <a:gd name="connsiteX10" fmla="*/ 0 w 10127672"/>
              <a:gd name="connsiteY10" fmla="*/ 673291 h 1553358"/>
              <a:gd name="connsiteX11" fmla="*/ 674075 w 10127672"/>
              <a:gd name="connsiteY11" fmla="*/ 673291 h 155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27672" h="1553358">
                <a:moveTo>
                  <a:pt x="5063836" y="0"/>
                </a:moveTo>
                <a:lnTo>
                  <a:pt x="9453597" y="673291"/>
                </a:lnTo>
                <a:lnTo>
                  <a:pt x="10127672" y="673291"/>
                </a:lnTo>
                <a:lnTo>
                  <a:pt x="10127672" y="776679"/>
                </a:lnTo>
                <a:lnTo>
                  <a:pt x="10127672" y="781291"/>
                </a:lnTo>
                <a:lnTo>
                  <a:pt x="10097603" y="781291"/>
                </a:lnTo>
                <a:lnTo>
                  <a:pt x="5063836" y="1553358"/>
                </a:lnTo>
                <a:lnTo>
                  <a:pt x="30070" y="781291"/>
                </a:lnTo>
                <a:lnTo>
                  <a:pt x="0" y="781291"/>
                </a:lnTo>
                <a:lnTo>
                  <a:pt x="0" y="776679"/>
                </a:lnTo>
                <a:lnTo>
                  <a:pt x="0" y="673291"/>
                </a:lnTo>
                <a:lnTo>
                  <a:pt x="674075" y="673291"/>
                </a:lnTo>
                <a:close/>
              </a:path>
            </a:pathLst>
          </a:custGeom>
          <a:solidFill>
            <a:srgbClr val="3368FF">
              <a:alpha val="69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6" name="菱形 75"/>
          <p:cNvSpPr/>
          <p:nvPr/>
        </p:nvSpPr>
        <p:spPr>
          <a:xfrm>
            <a:off x="1103818" y="4936975"/>
            <a:ext cx="10127672" cy="1553358"/>
          </a:xfrm>
          <a:prstGeom prst="diamond">
            <a:avLst/>
          </a:prstGeom>
          <a:gradFill>
            <a:gsLst>
              <a:gs pos="84000">
                <a:srgbClr val="0042FF"/>
              </a:gs>
              <a:gs pos="0">
                <a:srgbClr val="3368FF"/>
              </a:gs>
            </a:gsLst>
            <a:lin ang="162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08" name="任意形状 72"/>
          <p:cNvSpPr/>
          <p:nvPr/>
        </p:nvSpPr>
        <p:spPr>
          <a:xfrm>
            <a:off x="2729340" y="3913079"/>
            <a:ext cx="6840000" cy="1218624"/>
          </a:xfrm>
          <a:custGeom>
            <a:avLst/>
            <a:gdLst>
              <a:gd name="connsiteX0" fmla="*/ 3420000 w 6840000"/>
              <a:gd name="connsiteY0" fmla="*/ 0 h 1218624"/>
              <a:gd name="connsiteX1" fmla="*/ 6247296 w 6840000"/>
              <a:gd name="connsiteY1" fmla="*/ 503715 h 1218624"/>
              <a:gd name="connsiteX2" fmla="*/ 6840000 w 6840000"/>
              <a:gd name="connsiteY2" fmla="*/ 503715 h 1218624"/>
              <a:gd name="connsiteX3" fmla="*/ 6840000 w 6840000"/>
              <a:gd name="connsiteY3" fmla="*/ 609312 h 1218624"/>
              <a:gd name="connsiteX4" fmla="*/ 6840000 w 6840000"/>
              <a:gd name="connsiteY4" fmla="*/ 611715 h 1218624"/>
              <a:gd name="connsiteX5" fmla="*/ 6826512 w 6840000"/>
              <a:gd name="connsiteY5" fmla="*/ 611715 h 1218624"/>
              <a:gd name="connsiteX6" fmla="*/ 3420000 w 6840000"/>
              <a:gd name="connsiteY6" fmla="*/ 1218624 h 1218624"/>
              <a:gd name="connsiteX7" fmla="*/ 13488 w 6840000"/>
              <a:gd name="connsiteY7" fmla="*/ 611715 h 1218624"/>
              <a:gd name="connsiteX8" fmla="*/ 0 w 6840000"/>
              <a:gd name="connsiteY8" fmla="*/ 611715 h 1218624"/>
              <a:gd name="connsiteX9" fmla="*/ 0 w 6840000"/>
              <a:gd name="connsiteY9" fmla="*/ 609312 h 1218624"/>
              <a:gd name="connsiteX10" fmla="*/ 0 w 6840000"/>
              <a:gd name="connsiteY10" fmla="*/ 503715 h 1218624"/>
              <a:gd name="connsiteX11" fmla="*/ 592704 w 6840000"/>
              <a:gd name="connsiteY11" fmla="*/ 503715 h 12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40000" h="1218624">
                <a:moveTo>
                  <a:pt x="3420000" y="0"/>
                </a:moveTo>
                <a:lnTo>
                  <a:pt x="6247296" y="503715"/>
                </a:lnTo>
                <a:lnTo>
                  <a:pt x="6840000" y="503715"/>
                </a:lnTo>
                <a:lnTo>
                  <a:pt x="6840000" y="609312"/>
                </a:lnTo>
                <a:lnTo>
                  <a:pt x="6840000" y="611715"/>
                </a:lnTo>
                <a:lnTo>
                  <a:pt x="6826512" y="611715"/>
                </a:lnTo>
                <a:lnTo>
                  <a:pt x="3420000" y="1218624"/>
                </a:lnTo>
                <a:lnTo>
                  <a:pt x="13488" y="611715"/>
                </a:lnTo>
                <a:lnTo>
                  <a:pt x="0" y="611715"/>
                </a:lnTo>
                <a:lnTo>
                  <a:pt x="0" y="609312"/>
                </a:lnTo>
                <a:lnTo>
                  <a:pt x="0" y="503715"/>
                </a:lnTo>
                <a:lnTo>
                  <a:pt x="592704" y="503715"/>
                </a:lnTo>
                <a:close/>
              </a:path>
            </a:pathLst>
          </a:cu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12" name="菱形 111"/>
          <p:cNvSpPr/>
          <p:nvPr/>
        </p:nvSpPr>
        <p:spPr>
          <a:xfrm>
            <a:off x="2729340" y="3814193"/>
            <a:ext cx="6840000" cy="1218624"/>
          </a:xfrm>
          <a:prstGeom prst="diamond">
            <a:avLst/>
          </a:prstGeom>
          <a:gradFill>
            <a:gsLst>
              <a:gs pos="0">
                <a:srgbClr val="668EFF"/>
              </a:gs>
              <a:gs pos="100000">
                <a:srgbClr val="3368FF"/>
              </a:gs>
            </a:gsLst>
            <a:lin ang="162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3" name="任意形状 71"/>
          <p:cNvSpPr/>
          <p:nvPr/>
        </p:nvSpPr>
        <p:spPr>
          <a:xfrm>
            <a:off x="3452451" y="2744635"/>
            <a:ext cx="5348641" cy="1020666"/>
          </a:xfrm>
          <a:custGeom>
            <a:avLst/>
            <a:gdLst>
              <a:gd name="connsiteX0" fmla="*/ 2672576 w 5348641"/>
              <a:gd name="connsiteY0" fmla="*/ 0 h 1020666"/>
              <a:gd name="connsiteX1" fmla="*/ 4764403 w 5348641"/>
              <a:gd name="connsiteY1" fmla="*/ 399438 h 1020666"/>
              <a:gd name="connsiteX2" fmla="*/ 5348641 w 5348641"/>
              <a:gd name="connsiteY2" fmla="*/ 399438 h 1020666"/>
              <a:gd name="connsiteX3" fmla="*/ 5348641 w 5348641"/>
              <a:gd name="connsiteY3" fmla="*/ 507438 h 1020666"/>
              <a:gd name="connsiteX4" fmla="*/ 5329990 w 5348641"/>
              <a:gd name="connsiteY4" fmla="*/ 507438 h 1020666"/>
              <a:gd name="connsiteX5" fmla="*/ 5345151 w 5348641"/>
              <a:gd name="connsiteY5" fmla="*/ 510333 h 1020666"/>
              <a:gd name="connsiteX6" fmla="*/ 2672576 w 5348641"/>
              <a:gd name="connsiteY6" fmla="*/ 1020666 h 1020666"/>
              <a:gd name="connsiteX7" fmla="*/ 0 w 5348641"/>
              <a:gd name="connsiteY7" fmla="*/ 510333 h 1020666"/>
              <a:gd name="connsiteX8" fmla="*/ 15161 w 5348641"/>
              <a:gd name="connsiteY8" fmla="*/ 507438 h 1020666"/>
              <a:gd name="connsiteX9" fmla="*/ 3490 w 5348641"/>
              <a:gd name="connsiteY9" fmla="*/ 507438 h 1020666"/>
              <a:gd name="connsiteX10" fmla="*/ 3490 w 5348641"/>
              <a:gd name="connsiteY10" fmla="*/ 399438 h 1020666"/>
              <a:gd name="connsiteX11" fmla="*/ 580749 w 5348641"/>
              <a:gd name="connsiteY11" fmla="*/ 399438 h 102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48641" h="1020666">
                <a:moveTo>
                  <a:pt x="2672576" y="0"/>
                </a:moveTo>
                <a:lnTo>
                  <a:pt x="4764403" y="399438"/>
                </a:lnTo>
                <a:lnTo>
                  <a:pt x="5348641" y="399438"/>
                </a:lnTo>
                <a:lnTo>
                  <a:pt x="5348641" y="507438"/>
                </a:lnTo>
                <a:lnTo>
                  <a:pt x="5329990" y="507438"/>
                </a:lnTo>
                <a:lnTo>
                  <a:pt x="5345151" y="510333"/>
                </a:lnTo>
                <a:lnTo>
                  <a:pt x="2672576" y="1020666"/>
                </a:lnTo>
                <a:lnTo>
                  <a:pt x="0" y="510333"/>
                </a:lnTo>
                <a:lnTo>
                  <a:pt x="15161" y="507438"/>
                </a:lnTo>
                <a:lnTo>
                  <a:pt x="3490" y="507438"/>
                </a:lnTo>
                <a:lnTo>
                  <a:pt x="3490" y="399438"/>
                </a:lnTo>
                <a:lnTo>
                  <a:pt x="580749" y="399438"/>
                </a:lnTo>
                <a:close/>
              </a:path>
            </a:pathLst>
          </a:cu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14" name="菱形 113"/>
          <p:cNvSpPr/>
          <p:nvPr/>
        </p:nvSpPr>
        <p:spPr>
          <a:xfrm>
            <a:off x="3452451" y="2635256"/>
            <a:ext cx="5345151" cy="1020666"/>
          </a:xfrm>
          <a:prstGeom prst="diamond">
            <a:avLst/>
          </a:prstGeom>
          <a:gradFill>
            <a:gsLst>
              <a:gs pos="0">
                <a:srgbClr val="B3D4FE"/>
              </a:gs>
              <a:gs pos="100000">
                <a:srgbClr val="B3D4FE"/>
              </a:gs>
            </a:gsLst>
            <a:lin ang="162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5" name="文本框 114"/>
          <p:cNvSpPr txBox="1"/>
          <p:nvPr/>
        </p:nvSpPr>
        <p:spPr>
          <a:xfrm>
            <a:off x="757692" y="2033239"/>
            <a:ext cx="2955904" cy="545021"/>
          </a:xfrm>
          <a:prstGeom prst="rect">
            <a:avLst/>
          </a:prstGeom>
          <a:noFill/>
        </p:spPr>
        <p:txBody>
          <a:bodyPr wrap="square" lIns="0" tIns="0" rIns="0" bIns="0" rtlCol="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rPr>
              <a:t>在全貌图中，首先需要企业的年度营销目标，例如提高品牌知名度、增加销售额、扩大市场份额。这些目标应该具有以便于评估营销计划的成果。</a:t>
            </a:r>
            <a:endPar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endParaRPr>
          </a:p>
        </p:txBody>
      </p:sp>
      <p:sp>
        <p:nvSpPr>
          <p:cNvPr id="116" name="文本框 115"/>
          <p:cNvSpPr txBox="1"/>
          <p:nvPr/>
        </p:nvSpPr>
        <p:spPr>
          <a:xfrm>
            <a:off x="757691" y="1541425"/>
            <a:ext cx="2892596" cy="307340"/>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000" b="1" i="0" u="none" strike="noStrike" kern="1200" cap="none" spc="0" normalizeH="0" baseline="0" noProof="0" dirty="0">
                <a:ln>
                  <a:noFill/>
                </a:ln>
                <a:solidFill>
                  <a:srgbClr val="0042FF"/>
                </a:solidFill>
                <a:effectLst/>
                <a:uLnTx/>
                <a:uFillTx/>
                <a:latin typeface="微软雅黑"/>
                <a:ea typeface="微软雅黑"/>
                <a:cs typeface="微软雅黑"/>
              </a:rPr>
              <a:t>营销目标：扩大销售规模</a:t>
            </a:r>
            <a:endParaRPr kumimoji="0" lang="zh-CN" altLang="en-US" sz="20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7" name="文本框 116"/>
          <p:cNvSpPr txBox="1"/>
          <p:nvPr/>
        </p:nvSpPr>
        <p:spPr>
          <a:xfrm flipH="1">
            <a:off x="8612549" y="2033239"/>
            <a:ext cx="3009105" cy="490519"/>
          </a:xfrm>
          <a:prstGeom prst="rect">
            <a:avLst/>
          </a:prstGeom>
          <a:noFill/>
        </p:spPr>
        <p:txBody>
          <a:bodyPr wrap="square" lIns="0" tIns="0" rIns="0" bIns="0" rtlCol="0" anchor="t">
            <a:noAutofit/>
          </a:bodyPr>
          <a:lstStyle/>
          <a:p>
            <a:pPr marL="0" marR="0" lvl="0" indent="0" algn="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rPr>
              <a:t>为各项营销活动制定详细的预算计划，包括广告费用、活动经费、市场调研费用等。合理有助于控制成本的预算分配和制定详细的预算计划提高营销效率。</a:t>
            </a:r>
            <a:endPar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endParaRPr>
          </a:p>
        </p:txBody>
      </p:sp>
      <p:sp>
        <p:nvSpPr>
          <p:cNvPr id="118" name="文本框 117"/>
          <p:cNvSpPr txBox="1"/>
          <p:nvPr/>
        </p:nvSpPr>
        <p:spPr>
          <a:xfrm flipH="1">
            <a:off x="8729059" y="1541425"/>
            <a:ext cx="2892596" cy="307340"/>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000" b="1" i="0" u="none" strike="noStrike" kern="1200" cap="none" spc="0" normalizeH="0" baseline="0" noProof="0" dirty="0">
                <a:ln>
                  <a:noFill/>
                </a:ln>
                <a:solidFill>
                  <a:srgbClr val="0042FF"/>
                </a:solidFill>
                <a:effectLst/>
                <a:uLnTx/>
                <a:uFillTx/>
                <a:latin typeface="微软雅黑"/>
                <a:ea typeface="微软雅黑"/>
                <a:cs typeface="微软雅黑"/>
              </a:rPr>
              <a:t>预算分配：提高营销效果</a:t>
            </a:r>
            <a:endParaRPr kumimoji="0" lang="zh-CN" altLang="en-US" sz="20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9" name="任意形状 46"/>
          <p:cNvSpPr/>
          <p:nvPr/>
        </p:nvSpPr>
        <p:spPr>
          <a:xfrm>
            <a:off x="2183420" y="988943"/>
            <a:ext cx="8004994" cy="6195619"/>
          </a:xfrm>
          <a:custGeom>
            <a:avLst/>
            <a:gdLst>
              <a:gd name="connsiteX0" fmla="*/ 1249732 w 4395559"/>
              <a:gd name="connsiteY0" fmla="*/ 2486912 h 4190933"/>
              <a:gd name="connsiteX1" fmla="*/ 0 w 4395559"/>
              <a:gd name="connsiteY1" fmla="*/ 4190925 h 4190933"/>
              <a:gd name="connsiteX2" fmla="*/ 4395560 w 4395559"/>
              <a:gd name="connsiteY2" fmla="*/ 4190933 h 4190933"/>
              <a:gd name="connsiteX3" fmla="*/ 3053254 w 4395559"/>
              <a:gd name="connsiteY3" fmla="*/ 2486912 h 4190933"/>
              <a:gd name="connsiteX4" fmla="*/ 2566721 w 4395559"/>
              <a:gd name="connsiteY4" fmla="*/ 834686 h 4190933"/>
              <a:gd name="connsiteX5" fmla="*/ 2781042 w 4395559"/>
              <a:gd name="connsiteY5" fmla="*/ 834686 h 4190933"/>
              <a:gd name="connsiteX6" fmla="*/ 2139599 w 4395559"/>
              <a:gd name="connsiteY6" fmla="*/ 0 h 4190933"/>
              <a:gd name="connsiteX7" fmla="*/ 1498155 w 4395559"/>
              <a:gd name="connsiteY7" fmla="*/ 834686 h 4190933"/>
              <a:gd name="connsiteX8" fmla="*/ 1719824 w 4395559"/>
              <a:gd name="connsiteY8" fmla="*/ 834686 h 4190933"/>
              <a:gd name="connsiteX9" fmla="*/ 1249732 w 4395559"/>
              <a:gd name="connsiteY9" fmla="*/ 2486912 h 419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95559" h="4190933">
                <a:moveTo>
                  <a:pt x="1249732" y="2486912"/>
                </a:moveTo>
                <a:cubicBezTo>
                  <a:pt x="908028" y="3176944"/>
                  <a:pt x="0" y="4190925"/>
                  <a:pt x="0" y="4190925"/>
                </a:cubicBezTo>
                <a:lnTo>
                  <a:pt x="4395560" y="4190933"/>
                </a:lnTo>
                <a:cubicBezTo>
                  <a:pt x="4395560" y="4190933"/>
                  <a:pt x="3418629" y="3178565"/>
                  <a:pt x="3053254" y="2486912"/>
                </a:cubicBezTo>
                <a:cubicBezTo>
                  <a:pt x="2733567" y="1881771"/>
                  <a:pt x="2584200" y="949271"/>
                  <a:pt x="2566721" y="834686"/>
                </a:cubicBezTo>
                <a:lnTo>
                  <a:pt x="2781042" y="834686"/>
                </a:lnTo>
                <a:lnTo>
                  <a:pt x="2139599" y="0"/>
                </a:lnTo>
                <a:lnTo>
                  <a:pt x="1498155" y="834686"/>
                </a:lnTo>
                <a:lnTo>
                  <a:pt x="1719824" y="834686"/>
                </a:lnTo>
                <a:cubicBezTo>
                  <a:pt x="1701930" y="949205"/>
                  <a:pt x="1549970" y="1880623"/>
                  <a:pt x="1249732" y="2486912"/>
                </a:cubicBezTo>
                <a:close/>
              </a:path>
            </a:pathLst>
          </a:custGeom>
          <a:gradFill>
            <a:gsLst>
              <a:gs pos="62000">
                <a:srgbClr val="FFFFFF">
                  <a:alpha val="0"/>
                </a:srgbClr>
              </a:gs>
              <a:gs pos="0">
                <a:srgbClr val="3368FF"/>
              </a:gs>
              <a:gs pos="24000">
                <a:srgbClr val="B3D4FE"/>
              </a:gs>
              <a:gs pos="85000">
                <a:srgbClr val="FFFFFF">
                  <a:alpha val="0"/>
                </a:srgbClr>
              </a:gs>
            </a:gsLst>
            <a:lin ang="5400000" scaled="1"/>
          </a:gradFill>
          <a:ln w="831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black"/>
              </a:solidFill>
              <a:effectLst/>
              <a:uLnTx/>
              <a:uFillTx/>
              <a:latin typeface="微软雅黑"/>
              <a:ea typeface="微软雅黑"/>
              <a:cs typeface="微软雅黑"/>
            </a:endParaRPr>
          </a:p>
        </p:txBody>
      </p:sp>
      <p:sp>
        <p:nvSpPr>
          <p:cNvPr id="120" name="文本框 119"/>
          <p:cNvSpPr txBox="1"/>
          <p:nvPr/>
        </p:nvSpPr>
        <p:spPr>
          <a:xfrm>
            <a:off x="5250180" y="1986360"/>
            <a:ext cx="1700264" cy="36830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800" b="1" i="0" u="none" strike="noStrike" kern="1200" cap="none" spc="0" normalizeH="0" baseline="0" noProof="0" dirty="0">
                <a:ln>
                  <a:noFill/>
                </a:ln>
                <a:solidFill>
                  <a:srgbClr val="383838"/>
                </a:solidFill>
                <a:effectLst/>
                <a:uLnTx/>
                <a:uFillTx/>
                <a:latin typeface="微软雅黑"/>
                <a:ea typeface="微软雅黑"/>
                <a:cs typeface="微软雅黑"/>
              </a:rPr>
              <a:t>营销目标</a:t>
            </a:r>
            <a:endParaRPr kumimoji="1" lang="zh-CN" altLang="en-US"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2" name="圆角矩形 121"/>
          <p:cNvSpPr/>
          <p:nvPr/>
        </p:nvSpPr>
        <p:spPr>
          <a:xfrm>
            <a:off x="3841308" y="2316645"/>
            <a:ext cx="1296000" cy="432000"/>
          </a:xfrm>
          <a:prstGeom prst="roundRect">
            <a:avLst>
              <a:gd name="adj" fmla="val 50000"/>
            </a:avLst>
          </a:prstGeom>
          <a:solidFill>
            <a:srgbClr val="FFFFFF"/>
          </a:solidFill>
          <a:ln w="12700" cap="flat" cmpd="sng" algn="ctr">
            <a:solidFill>
              <a:srgbClr val="3368FF"/>
            </a:solidFill>
            <a:prstDash val="solid"/>
            <a:miter lim="800000"/>
          </a:ln>
          <a:effectLst/>
        </p:spPr>
        <p:txBody>
          <a:bodyPr rtlCol="0" anchor="ctr" lIns="0" rIns="0" tIns="0" bIns="0">
            <a:noAutofit/>
          </a:bodyPr>
          <a:lstStyle/>
          <a:p>
            <a:pPr lvl="0" algn="ctr" defTabSz="456565">
              <a:spcBef>
                <a:spcPts val="0"/>
              </a:spcBef>
              <a:spcAft>
                <a:spcPts val="0"/>
              </a:spcAft>
              <a:buClrTx/>
              <a:buSzTx/>
              <a:buFontTx/>
              <a:defRPr>
                <a:latin typeface="微软雅黑"/>
                <a:ea typeface="微软雅黑"/>
                <a:cs typeface="微软雅黑"/>
              </a:defRPr>
            </a:pPr>
            <a:endParaRPr kumimoji="1" lang="zh-CN" altLang="en-US" sz="1000" b="1" kern="0" noProof="0" dirty="0">
              <a:ln>
                <a:noFill/>
              </a:ln>
              <a:solidFill>
                <a:srgbClr val="0042FF"/>
              </a:solidFill>
              <a:effectLst/>
              <a:uLnTx/>
              <a:uFillTx/>
              <a:latin typeface="微软雅黑"/>
              <a:ea typeface="微软雅黑"/>
              <a:cs typeface="微软雅黑"/>
              <a:sym typeface="微软雅黑"/>
            </a:endParaRPr>
          </a:p>
        </p:txBody>
      </p:sp>
      <p:sp>
        <p:nvSpPr>
          <p:cNvPr id="124" name="文本框 123"/>
          <p:cNvSpPr txBox="1"/>
          <p:nvPr/>
        </p:nvSpPr>
        <p:spPr>
          <a:xfrm>
            <a:off x="4181531" y="2382767"/>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市场份额</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5" name="文本框 124"/>
          <p:cNvSpPr txBox="1"/>
          <p:nvPr/>
        </p:nvSpPr>
        <p:spPr>
          <a:xfrm>
            <a:off x="4180730" y="2575088"/>
            <a:ext cx="617157" cy="313690"/>
          </a:xfrm>
          <a:prstGeom prst="rect">
            <a:avLst/>
          </a:prstGeom>
          <a:noFill/>
        </p:spPr>
        <p:txBody>
          <a:bodyPr wrap="square" lIns="0" tIns="0" rIns="0" bIns="0" rtlCol="0" anchor="t">
            <a:noAutofit/>
          </a:bodyPr>
          <a:lstStyle/>
          <a:p>
            <a:pPr marL="0" marR="0" lvl="0" indent="0" algn="l"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b="0" i="0" u="none" strike="noStrike" kern="1200" cap="none" spc="0" normalizeH="0" baseline="0" noProof="0" dirty="0">
                <a:ln>
                  <a:noFill/>
                </a:ln>
                <a:solidFill>
                  <a:srgbClr val="0042FF"/>
                </a:solidFill>
                <a:effectLst/>
                <a:uLnTx/>
                <a:uFillTx/>
                <a:latin typeface="微软雅黑"/>
                <a:ea typeface="微软雅黑"/>
                <a:cs typeface="微软雅黑"/>
              </a:rPr>
              <a:t>Brand marketing</a:t>
            </a:r>
            <a:endParaRPr kumimoji="0" lang="en-US" alt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7" name="圆角矩形 126"/>
          <p:cNvSpPr/>
          <p:nvPr/>
        </p:nvSpPr>
        <p:spPr>
          <a:xfrm>
            <a:off x="5475798" y="2625340"/>
            <a:ext cx="1296000" cy="432000"/>
          </a:xfrm>
          <a:prstGeom prst="roundRect">
            <a:avLst>
              <a:gd name="adj" fmla="val 50000"/>
            </a:avLst>
          </a:prstGeom>
          <a:solidFill>
            <a:srgbClr val="FFFFFF"/>
          </a:solidFill>
          <a:ln w="12700" cap="flat" cmpd="sng" algn="ctr">
            <a:solidFill>
              <a:srgbClr val="3368FF"/>
            </a:solidFill>
            <a:prstDash val="solid"/>
            <a:miter lim="800000"/>
          </a:ln>
          <a:effectLst/>
        </p:spPr>
        <p:txBody>
          <a:bodyPr rtlCol="0" anchor="ctr" lIns="0" rIns="0" tIns="0" bIns="0">
            <a:noAutofit/>
          </a:bodyPr>
          <a:lstStyle/>
          <a:p>
            <a:pPr lvl="0" algn="ctr" defTabSz="456565">
              <a:spcBef>
                <a:spcPts val="0"/>
              </a:spcBef>
              <a:spcAft>
                <a:spcPts val="0"/>
              </a:spcAft>
              <a:buClrTx/>
              <a:buSzTx/>
              <a:buFontTx/>
              <a:defRPr>
                <a:latin typeface="微软雅黑"/>
                <a:ea typeface="微软雅黑"/>
                <a:cs typeface="微软雅黑"/>
              </a:defRPr>
            </a:pPr>
            <a:endParaRPr kumimoji="1" lang="zh-CN" altLang="en-US" sz="1000" b="1" kern="0" noProof="0" dirty="0">
              <a:ln>
                <a:noFill/>
              </a:ln>
              <a:solidFill>
                <a:srgbClr val="0042FF"/>
              </a:solidFill>
              <a:effectLst/>
              <a:uLnTx/>
              <a:uFillTx/>
              <a:latin typeface="微软雅黑"/>
              <a:ea typeface="微软雅黑"/>
              <a:cs typeface="微软雅黑"/>
              <a:sym typeface="微软雅黑"/>
            </a:endParaRPr>
          </a:p>
        </p:txBody>
      </p:sp>
      <p:sp>
        <p:nvSpPr>
          <p:cNvPr id="129" name="文本框 128"/>
          <p:cNvSpPr txBox="1"/>
          <p:nvPr/>
        </p:nvSpPr>
        <p:spPr>
          <a:xfrm>
            <a:off x="5816022" y="2709186"/>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收入规模</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30" name="文本框 129"/>
          <p:cNvSpPr txBox="1"/>
          <p:nvPr/>
        </p:nvSpPr>
        <p:spPr>
          <a:xfrm>
            <a:off x="5815220" y="2901507"/>
            <a:ext cx="617157" cy="313690"/>
          </a:xfrm>
          <a:prstGeom prst="rect">
            <a:avLst/>
          </a:prstGeom>
          <a:noFill/>
        </p:spPr>
        <p:txBody>
          <a:bodyPr wrap="square" lIns="0" tIns="0" rIns="0" bIns="0" rtlCol="0" anchor="t">
            <a:noAutofit/>
          </a:bodyPr>
          <a:lstStyle/>
          <a:p>
            <a:pPr marL="0" marR="0" lvl="0" indent="0" algn="l"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b="0" i="0" u="none" strike="noStrike" kern="1200" cap="none" spc="0" normalizeH="0" baseline="0" noProof="0" dirty="0">
                <a:ln>
                  <a:noFill/>
                </a:ln>
                <a:solidFill>
                  <a:srgbClr val="0042FF"/>
                </a:solidFill>
                <a:effectLst/>
                <a:uLnTx/>
                <a:uFillTx/>
                <a:latin typeface="微软雅黑"/>
                <a:ea typeface="微软雅黑"/>
                <a:cs typeface="微软雅黑"/>
              </a:rPr>
              <a:t>Brand marketing</a:t>
            </a:r>
            <a:endParaRPr kumimoji="0" lang="en-US" alt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31" name="圆角矩形 130"/>
          <p:cNvSpPr/>
          <p:nvPr/>
        </p:nvSpPr>
        <p:spPr>
          <a:xfrm>
            <a:off x="7004910" y="2316645"/>
            <a:ext cx="1296000" cy="432000"/>
          </a:xfrm>
          <a:prstGeom prst="roundRect">
            <a:avLst>
              <a:gd name="adj" fmla="val 50000"/>
            </a:avLst>
          </a:prstGeom>
          <a:solidFill>
            <a:srgbClr val="FFFFFF"/>
          </a:solidFill>
          <a:ln w="12700" cap="flat" cmpd="sng" algn="ctr">
            <a:solidFill>
              <a:srgbClr val="3368FF"/>
            </a:solidFill>
            <a:prstDash val="solid"/>
            <a:miter lim="800000"/>
          </a:ln>
          <a:effectLst/>
        </p:spPr>
        <p:txBody>
          <a:bodyPr rtlCol="0" anchor="ctr" lIns="0" rIns="0" tIns="0" bIns="0">
            <a:noAutofit/>
          </a:bodyPr>
          <a:lstStyle/>
          <a:p>
            <a:pPr lvl="0" algn="ctr" defTabSz="456565">
              <a:spcBef>
                <a:spcPts val="0"/>
              </a:spcBef>
              <a:spcAft>
                <a:spcPts val="0"/>
              </a:spcAft>
              <a:buClrTx/>
              <a:buSzTx/>
              <a:buFontTx/>
              <a:defRPr>
                <a:latin typeface="微软雅黑"/>
                <a:ea typeface="微软雅黑"/>
                <a:cs typeface="微软雅黑"/>
              </a:defRPr>
            </a:pPr>
            <a:endParaRPr kumimoji="1" lang="zh-CN" altLang="en-US" sz="1000" b="1" kern="0" noProof="0" dirty="0">
              <a:ln>
                <a:noFill/>
              </a:ln>
              <a:solidFill>
                <a:srgbClr val="0042FF"/>
              </a:solidFill>
              <a:effectLst/>
              <a:uLnTx/>
              <a:uFillTx/>
              <a:latin typeface="微软雅黑"/>
              <a:ea typeface="微软雅黑"/>
              <a:cs typeface="微软雅黑"/>
              <a:sym typeface="微软雅黑"/>
            </a:endParaRPr>
          </a:p>
        </p:txBody>
      </p:sp>
      <p:sp>
        <p:nvSpPr>
          <p:cNvPr id="134" name="文本框 133"/>
          <p:cNvSpPr txBox="1"/>
          <p:nvPr/>
        </p:nvSpPr>
        <p:spPr>
          <a:xfrm>
            <a:off x="7341873" y="2382767"/>
            <a:ext cx="61555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利润规模</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35" name="文本框 134"/>
          <p:cNvSpPr txBox="1"/>
          <p:nvPr/>
        </p:nvSpPr>
        <p:spPr>
          <a:xfrm>
            <a:off x="7341072" y="2575088"/>
            <a:ext cx="617157" cy="313690"/>
          </a:xfrm>
          <a:prstGeom prst="rect">
            <a:avLst/>
          </a:prstGeom>
          <a:noFill/>
        </p:spPr>
        <p:txBody>
          <a:bodyPr wrap="square" lIns="0" tIns="0" rIns="0" bIns="0" rtlCol="0" anchor="t">
            <a:noAutofit/>
          </a:bodyPr>
          <a:lstStyle/>
          <a:p>
            <a:pPr marL="0" marR="0" lvl="0" indent="0" algn="l"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b="0" i="0" u="none" strike="noStrike" kern="1200" cap="none" spc="0" normalizeH="0" baseline="0" noProof="0" dirty="0">
                <a:ln>
                  <a:noFill/>
                </a:ln>
                <a:solidFill>
                  <a:srgbClr val="0042FF"/>
                </a:solidFill>
                <a:effectLst/>
                <a:uLnTx/>
                <a:uFillTx/>
                <a:latin typeface="微软雅黑"/>
                <a:ea typeface="微软雅黑"/>
                <a:cs typeface="微软雅黑"/>
              </a:rPr>
              <a:t>Brand marketing</a:t>
            </a:r>
            <a:endParaRPr kumimoji="0" lang="en-US" altLang="zh-CN"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36" name="文本框 135"/>
          <p:cNvSpPr txBox="1"/>
          <p:nvPr/>
        </p:nvSpPr>
        <p:spPr>
          <a:xfrm>
            <a:off x="4793777" y="3864143"/>
            <a:ext cx="2689860" cy="33718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600" b="1" i="0" u="none" strike="noStrike" kern="1200" cap="none" spc="0" normalizeH="0" baseline="0" noProof="0" dirty="0">
                <a:ln>
                  <a:noFill/>
                </a:ln>
                <a:solidFill>
                  <a:srgbClr val="383838"/>
                </a:solidFill>
                <a:effectLst/>
                <a:uLnTx/>
                <a:uFillTx/>
                <a:latin typeface="微软雅黑"/>
                <a:ea typeface="微软雅黑"/>
                <a:cs typeface="微软雅黑"/>
              </a:rPr>
              <a:t>营销策略方法</a:t>
            </a:r>
            <a:endParaRPr kumimoji="1" lang="zh-CN" altLang="en-US" sz="16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137" name="组合 136"/>
          <p:cNvGrpSpPr/>
          <p:nvPr/>
        </p:nvGrpSpPr>
        <p:grpSpPr>
          <a:xfrm>
            <a:off x="3052452" y="3672384"/>
            <a:ext cx="682409" cy="682409"/>
            <a:chOff x="3348306" y="4060242"/>
            <a:chExt cx="682409" cy="682409"/>
          </a:xfrm>
        </p:grpSpPr>
        <p:sp>
          <p:nvSpPr>
            <p:cNvPr id="138" name="椭圆 137"/>
            <p:cNvSpPr/>
            <p:nvPr/>
          </p:nvSpPr>
          <p:spPr>
            <a:xfrm>
              <a:off x="3348306" y="4060242"/>
              <a:ext cx="682409" cy="682409"/>
            </a:xfrm>
            <a:prstGeom prst="ellipse">
              <a:avLst/>
            </a:prstGeom>
            <a:gradFill>
              <a:gsLst>
                <a:gs pos="0">
                  <a:srgbClr val="3368FF"/>
                </a:gs>
                <a:gs pos="100000">
                  <a:srgbClr val="0042FF"/>
                </a:gs>
              </a:gsLst>
              <a:lin ang="16200000" scaled="0"/>
            </a:gradFill>
            <a:ln w="38100" cap="flat" cmpd="sng" algn="ctr">
              <a:noFill/>
              <a:prstDash val="solid"/>
              <a:miter lim="800000"/>
            </a:ln>
            <a:effectLst>
              <a:reflection blurRad="6350" stA="52000" endA="300" endPos="28000" dir="5400000" sy="-100000" algn="bl" rotWithShape="0"/>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39" name="文本框 138"/>
            <p:cNvSpPr txBox="1"/>
            <p:nvPr/>
          </p:nvSpPr>
          <p:spPr>
            <a:xfrm>
              <a:off x="3449704" y="4202606"/>
              <a:ext cx="492443" cy="461665"/>
            </a:xfrm>
            <a:prstGeom prst="rect">
              <a:avLst/>
            </a:prstGeom>
            <a:noFill/>
          </p:spPr>
          <p:txBody>
            <a:bodyPr wrap="none" rtlCol="0" lIns="0" rIns="0" tIns="0" bIns="0">
              <a:spAutoFit/>
            </a:bodyPr>
            <a:lstStyle>
              <a:defPPr>
                <a:defRPr lang="zh-CN">
                  <a:solidFill>
                    <a:srgbClr val="FFFFFF"/>
                  </a:solidFill>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媒体</a:t>
              </a:r>
              <a:endParaRPr kumimoji="1" lang="en-US" alt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合作</a:t>
              </a:r>
              <a:endPar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42" name="组合 141"/>
          <p:cNvGrpSpPr/>
          <p:nvPr/>
        </p:nvGrpSpPr>
        <p:grpSpPr>
          <a:xfrm>
            <a:off x="8587620" y="3672384"/>
            <a:ext cx="682409" cy="682409"/>
            <a:chOff x="3348306" y="4060242"/>
            <a:chExt cx="682409" cy="682409"/>
          </a:xfrm>
        </p:grpSpPr>
        <p:sp>
          <p:nvSpPr>
            <p:cNvPr id="143" name="椭圆 142"/>
            <p:cNvSpPr/>
            <p:nvPr/>
          </p:nvSpPr>
          <p:spPr>
            <a:xfrm>
              <a:off x="3348306" y="4060242"/>
              <a:ext cx="682409" cy="682409"/>
            </a:xfrm>
            <a:prstGeom prst="ellipse">
              <a:avLst/>
            </a:prstGeom>
            <a:gradFill>
              <a:gsLst>
                <a:gs pos="0">
                  <a:srgbClr val="3368FF"/>
                </a:gs>
                <a:gs pos="100000">
                  <a:srgbClr val="0042FF"/>
                </a:gs>
              </a:gsLst>
              <a:lin ang="16200000" scaled="0"/>
            </a:gradFill>
            <a:ln w="38100" cap="flat" cmpd="sng" algn="ctr">
              <a:noFill/>
              <a:prstDash val="solid"/>
              <a:miter lim="800000"/>
            </a:ln>
            <a:effectLst>
              <a:reflection blurRad="6350" stA="52000" endA="300" endPos="28000" dir="5400000" sy="-100000" algn="bl" rotWithShape="0"/>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44" name="文本框 143"/>
            <p:cNvSpPr txBox="1"/>
            <p:nvPr/>
          </p:nvSpPr>
          <p:spPr>
            <a:xfrm>
              <a:off x="3449704" y="4202606"/>
              <a:ext cx="492443" cy="461665"/>
            </a:xfrm>
            <a:prstGeom prst="rect">
              <a:avLst/>
            </a:prstGeom>
            <a:noFill/>
          </p:spPr>
          <p:txBody>
            <a:bodyPr wrap="none" rtlCol="0" lIns="0" rIns="0" tIns="0" bIns="0">
              <a:spAutoFit/>
            </a:bodyPr>
            <a:lstStyle>
              <a:defPPr>
                <a:defRPr lang="zh-CN">
                  <a:solidFill>
                    <a:srgbClr val="FFFFFF"/>
                  </a:solidFill>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渠道</a:t>
              </a:r>
              <a:endParaRPr kumimoji="1" lang="en-US" alt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策略</a:t>
              </a:r>
              <a:endPar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45" name="组合 144"/>
          <p:cNvGrpSpPr/>
          <p:nvPr/>
        </p:nvGrpSpPr>
        <p:grpSpPr>
          <a:xfrm>
            <a:off x="7203828" y="3944389"/>
            <a:ext cx="682409" cy="682409"/>
            <a:chOff x="3348306" y="4060242"/>
            <a:chExt cx="682409" cy="682409"/>
          </a:xfrm>
        </p:grpSpPr>
        <p:sp>
          <p:nvSpPr>
            <p:cNvPr id="146" name="椭圆 145"/>
            <p:cNvSpPr/>
            <p:nvPr/>
          </p:nvSpPr>
          <p:spPr>
            <a:xfrm>
              <a:off x="3348306" y="4060242"/>
              <a:ext cx="682409" cy="682409"/>
            </a:xfrm>
            <a:prstGeom prst="ellipse">
              <a:avLst/>
            </a:prstGeom>
            <a:gradFill>
              <a:gsLst>
                <a:gs pos="0">
                  <a:srgbClr val="3368FF"/>
                </a:gs>
                <a:gs pos="100000">
                  <a:srgbClr val="0042FF"/>
                </a:gs>
              </a:gsLst>
              <a:lin ang="16200000" scaled="0"/>
            </a:gradFill>
            <a:ln w="38100" cap="flat" cmpd="sng" algn="ctr">
              <a:noFill/>
              <a:prstDash val="solid"/>
              <a:miter lim="800000"/>
            </a:ln>
            <a:effectLst>
              <a:reflection blurRad="6350" stA="52000" endA="300" endPos="28000" dir="5400000" sy="-100000" algn="bl" rotWithShape="0"/>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47" name="文本框 146"/>
            <p:cNvSpPr txBox="1"/>
            <p:nvPr/>
          </p:nvSpPr>
          <p:spPr>
            <a:xfrm>
              <a:off x="3449702" y="4202606"/>
              <a:ext cx="492444" cy="461665"/>
            </a:xfrm>
            <a:prstGeom prst="rect">
              <a:avLst/>
            </a:prstGeom>
            <a:noFill/>
          </p:spPr>
          <p:txBody>
            <a:bodyPr wrap="none" rtlCol="0" lIns="0" rIns="0" tIns="0" bIns="0">
              <a:spAutoFit/>
            </a:bodyPr>
            <a:lstStyle>
              <a:defPPr>
                <a:defRPr lang="zh-CN">
                  <a:solidFill>
                    <a:srgbClr val="FFFFFF"/>
                  </a:solidFill>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公关</a:t>
              </a:r>
              <a:endParaRPr kumimoji="1" lang="en-US" alt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策略</a:t>
              </a:r>
              <a:endPar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48" name="组合 147"/>
          <p:cNvGrpSpPr/>
          <p:nvPr/>
        </p:nvGrpSpPr>
        <p:grpSpPr>
          <a:xfrm>
            <a:off x="4436244" y="3955022"/>
            <a:ext cx="682409" cy="682409"/>
            <a:chOff x="3348306" y="4060242"/>
            <a:chExt cx="682409" cy="682409"/>
          </a:xfrm>
        </p:grpSpPr>
        <p:sp>
          <p:nvSpPr>
            <p:cNvPr id="149" name="椭圆 148"/>
            <p:cNvSpPr/>
            <p:nvPr/>
          </p:nvSpPr>
          <p:spPr>
            <a:xfrm>
              <a:off x="3348306" y="4060242"/>
              <a:ext cx="682409" cy="682409"/>
            </a:xfrm>
            <a:prstGeom prst="ellipse">
              <a:avLst/>
            </a:prstGeom>
            <a:gradFill>
              <a:gsLst>
                <a:gs pos="0">
                  <a:srgbClr val="3368FF"/>
                </a:gs>
                <a:gs pos="100000">
                  <a:srgbClr val="0042FF"/>
                </a:gs>
              </a:gsLst>
              <a:lin ang="16200000" scaled="0"/>
            </a:gradFill>
            <a:ln w="38100" cap="flat" cmpd="sng" algn="ctr">
              <a:noFill/>
              <a:prstDash val="solid"/>
              <a:miter lim="800000"/>
            </a:ln>
            <a:effectLst>
              <a:reflection blurRad="6350" stA="52000" endA="300" endPos="28000" dir="5400000" sy="-100000" algn="bl" rotWithShape="0"/>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50" name="文本框 149"/>
            <p:cNvSpPr txBox="1"/>
            <p:nvPr/>
          </p:nvSpPr>
          <p:spPr>
            <a:xfrm>
              <a:off x="3449704" y="4202606"/>
              <a:ext cx="492443" cy="461665"/>
            </a:xfrm>
            <a:prstGeom prst="rect">
              <a:avLst/>
            </a:prstGeom>
            <a:noFill/>
          </p:spPr>
          <p:txBody>
            <a:bodyPr wrap="none" rtlCol="0" lIns="0" rIns="0" tIns="0" bIns="0">
              <a:spAutoFit/>
            </a:bodyPr>
            <a:lstStyle>
              <a:defPPr>
                <a:defRPr lang="zh-CN">
                  <a:solidFill>
                    <a:srgbClr val="FFFFFF"/>
                  </a:solidFill>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补贴</a:t>
              </a:r>
              <a:endParaRPr kumimoji="1" lang="en-US" alt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策略</a:t>
              </a:r>
              <a:endPar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51" name="组合 150"/>
          <p:cNvGrpSpPr/>
          <p:nvPr/>
        </p:nvGrpSpPr>
        <p:grpSpPr>
          <a:xfrm>
            <a:off x="5809403" y="4234459"/>
            <a:ext cx="682409" cy="682409"/>
            <a:chOff x="3348306" y="4060242"/>
            <a:chExt cx="682409" cy="682409"/>
          </a:xfrm>
        </p:grpSpPr>
        <p:sp>
          <p:nvSpPr>
            <p:cNvPr id="152" name="椭圆 151"/>
            <p:cNvSpPr/>
            <p:nvPr/>
          </p:nvSpPr>
          <p:spPr>
            <a:xfrm>
              <a:off x="3348306" y="4060242"/>
              <a:ext cx="682409" cy="682409"/>
            </a:xfrm>
            <a:prstGeom prst="ellipse">
              <a:avLst/>
            </a:prstGeom>
            <a:gradFill>
              <a:gsLst>
                <a:gs pos="0">
                  <a:srgbClr val="3368FF"/>
                </a:gs>
                <a:gs pos="100000">
                  <a:srgbClr val="0042FF"/>
                </a:gs>
              </a:gsLst>
              <a:lin ang="16200000" scaled="0"/>
            </a:gradFill>
            <a:ln w="38100" cap="flat" cmpd="sng" algn="ctr">
              <a:noFill/>
              <a:prstDash val="solid"/>
              <a:miter lim="800000"/>
            </a:ln>
            <a:effectLst>
              <a:reflection blurRad="6350" stA="52000" endA="300" endPos="22000" dir="5400000" sy="-100000" algn="bl" rotWithShape="0"/>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53" name="文本框 152"/>
            <p:cNvSpPr txBox="1"/>
            <p:nvPr/>
          </p:nvSpPr>
          <p:spPr>
            <a:xfrm>
              <a:off x="3449703" y="4202606"/>
              <a:ext cx="492444" cy="461665"/>
            </a:xfrm>
            <a:prstGeom prst="rect">
              <a:avLst/>
            </a:prstGeom>
            <a:noFill/>
          </p:spPr>
          <p:txBody>
            <a:bodyPr wrap="none" rtlCol="0" lIns="0" rIns="0" tIns="0" bIns="0">
              <a:spAutoFit/>
            </a:bodyPr>
            <a:lstStyle>
              <a:defPPr>
                <a:defRPr lang="zh-CN">
                  <a:solidFill>
                    <a:srgbClr val="FFFFFF"/>
                  </a:solidFill>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广告</a:t>
              </a:r>
              <a:endParaRPr kumimoji="1" lang="en-US" alt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策略</a:t>
              </a:r>
              <a:endPar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54" name="Rounded Rectangle 67"/>
          <p:cNvSpPr/>
          <p:nvPr/>
        </p:nvSpPr>
        <p:spPr>
          <a:xfrm>
            <a:off x="756144" y="2789522"/>
            <a:ext cx="930046" cy="252000"/>
          </a:xfrm>
          <a:prstGeom prst="roundRect">
            <a:avLst>
              <a:gd name="adj" fmla="val 0"/>
            </a:avLst>
          </a:prstGeom>
          <a:solidFill>
            <a:srgbClr val="B3D4FE"/>
          </a:solidFill>
          <a:ln w="3175" cap="flat" cmpd="sng" algn="ctr">
            <a:noFill/>
            <a:prstDash val="solid"/>
            <a:miter lim="800000"/>
          </a:ln>
          <a:effectLst/>
        </p:spPr>
        <p:txBody>
          <a:bodyPr lIns="0" rIns="0" rtlCol="0" anchor="ctr"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0" cap="none" spc="0" normalizeH="0" baseline="0" noProof="0" dirty="0">
                <a:ln>
                  <a:noFill/>
                </a:ln>
                <a:solidFill>
                  <a:srgbClr val="383838"/>
                </a:solidFill>
                <a:effectLst/>
                <a:uLnTx/>
                <a:uFillTx/>
                <a:latin typeface="微软雅黑"/>
                <a:ea typeface="微软雅黑"/>
                <a:cs typeface="微软雅黑"/>
              </a:rPr>
              <a:t>活动营销执行</a:t>
            </a:r>
            <a:endParaRPr kumimoji="0" lang="zh-CN" altLang="en-US" sz="10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156" name="Rounded Rectangle 67"/>
          <p:cNvSpPr/>
          <p:nvPr/>
        </p:nvSpPr>
        <p:spPr>
          <a:xfrm>
            <a:off x="1758807" y="2789522"/>
            <a:ext cx="630359" cy="252000"/>
          </a:xfrm>
          <a:prstGeom prst="roundRect">
            <a:avLst>
              <a:gd name="adj" fmla="val 0"/>
            </a:avLst>
          </a:prstGeom>
          <a:solidFill>
            <a:srgbClr val="B3D4FE"/>
          </a:solidFill>
          <a:ln w="3175" cap="flat" cmpd="sng" algn="ctr">
            <a:noFill/>
            <a:prstDash val="solid"/>
            <a:miter lim="800000"/>
          </a:ln>
          <a:effectLst/>
        </p:spPr>
        <p:txBody>
          <a:bodyPr lIns="0" rIns="0" rtlCol="0" anchor="ctr"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00" b="1" kern="0" noProof="0" dirty="0">
                <a:ln>
                  <a:noFill/>
                </a:ln>
                <a:solidFill>
                  <a:srgbClr val="383838"/>
                </a:solidFill>
                <a:effectLst/>
                <a:uLnTx/>
                <a:uFillTx/>
                <a:latin typeface="微软雅黑"/>
                <a:ea typeface="微软雅黑"/>
                <a:cs typeface="微软雅黑"/>
                <a:sym typeface="微软雅黑"/>
              </a:rPr>
              <a:t>产品定位</a:t>
            </a:r>
            <a:endParaRPr lang="zh-CN" altLang="en-US" sz="1000" b="1" kern="0" noProof="0" dirty="0">
              <a:ln>
                <a:noFill/>
              </a:ln>
              <a:solidFill>
                <a:srgbClr val="383838"/>
              </a:solidFill>
              <a:effectLst/>
              <a:uLnTx/>
              <a:uFillTx/>
              <a:latin typeface="微软雅黑"/>
              <a:ea typeface="微软雅黑"/>
              <a:cs typeface="微软雅黑"/>
              <a:sym typeface="微软雅黑"/>
            </a:endParaRPr>
          </a:p>
        </p:txBody>
      </p:sp>
      <p:sp>
        <p:nvSpPr>
          <p:cNvPr id="157" name="Rounded Rectangle 67"/>
          <p:cNvSpPr/>
          <p:nvPr/>
        </p:nvSpPr>
        <p:spPr>
          <a:xfrm>
            <a:off x="9974923" y="2715091"/>
            <a:ext cx="930046" cy="252000"/>
          </a:xfrm>
          <a:prstGeom prst="roundRect">
            <a:avLst>
              <a:gd name="adj" fmla="val 0"/>
            </a:avLst>
          </a:prstGeom>
          <a:solidFill>
            <a:srgbClr val="B3D4FE"/>
          </a:solidFill>
          <a:ln w="3175" cap="flat" cmpd="sng" algn="ctr">
            <a:noFill/>
            <a:prstDash val="solid"/>
            <a:miter lim="800000"/>
          </a:ln>
          <a:effectLst/>
        </p:spPr>
        <p:txBody>
          <a:bodyPr lIns="0" rIns="0" rtlCol="0" anchor="ctr"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00" b="1" kern="0" noProof="0" dirty="0">
                <a:ln>
                  <a:noFill/>
                </a:ln>
                <a:solidFill>
                  <a:srgbClr val="383838"/>
                </a:solidFill>
                <a:effectLst/>
                <a:uLnTx/>
                <a:uFillTx/>
                <a:latin typeface="微软雅黑"/>
                <a:ea typeface="微软雅黑"/>
                <a:cs typeface="微软雅黑"/>
                <a:sym typeface="微软雅黑"/>
              </a:rPr>
              <a:t>市场调研经费</a:t>
            </a:r>
            <a:endParaRPr lang="zh-CN" altLang="en-US" sz="1000" b="1" kern="0" noProof="0" dirty="0">
              <a:ln>
                <a:noFill/>
              </a:ln>
              <a:solidFill>
                <a:srgbClr val="383838"/>
              </a:solidFill>
              <a:effectLst/>
              <a:uLnTx/>
              <a:uFillTx/>
              <a:latin typeface="微软雅黑"/>
              <a:ea typeface="微软雅黑"/>
              <a:cs typeface="微软雅黑"/>
              <a:sym typeface="微软雅黑"/>
            </a:endParaRPr>
          </a:p>
        </p:txBody>
      </p:sp>
      <p:sp>
        <p:nvSpPr>
          <p:cNvPr id="158" name="Rounded Rectangle 67"/>
          <p:cNvSpPr/>
          <p:nvPr/>
        </p:nvSpPr>
        <p:spPr>
          <a:xfrm>
            <a:off x="10977586" y="2715091"/>
            <a:ext cx="630359" cy="252000"/>
          </a:xfrm>
          <a:prstGeom prst="roundRect">
            <a:avLst>
              <a:gd name="adj" fmla="val 0"/>
            </a:avLst>
          </a:prstGeom>
          <a:solidFill>
            <a:srgbClr val="B3D4FE"/>
          </a:solidFill>
          <a:ln w="3175" cap="flat" cmpd="sng" algn="ctr">
            <a:noFill/>
            <a:prstDash val="solid"/>
            <a:miter lim="800000"/>
          </a:ln>
          <a:effectLst/>
        </p:spPr>
        <p:txBody>
          <a:bodyPr lIns="0" rIns="0" rtlCol="0" anchor="ctr"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00" b="1" kern="0" noProof="0" dirty="0">
                <a:ln>
                  <a:noFill/>
                </a:ln>
                <a:solidFill>
                  <a:srgbClr val="383838"/>
                </a:solidFill>
                <a:effectLst/>
                <a:uLnTx/>
                <a:uFillTx/>
                <a:latin typeface="微软雅黑"/>
                <a:ea typeface="微软雅黑"/>
                <a:cs typeface="微软雅黑"/>
                <a:sym typeface="微软雅黑"/>
              </a:rPr>
              <a:t>内容运营</a:t>
            </a:r>
            <a:endParaRPr lang="zh-CN" altLang="en-US" sz="1000" b="1" kern="0" noProof="0" dirty="0">
              <a:ln>
                <a:noFill/>
              </a:ln>
              <a:solidFill>
                <a:srgbClr val="383838"/>
              </a:solidFill>
              <a:effectLst/>
              <a:uLnTx/>
              <a:uFillTx/>
              <a:latin typeface="微软雅黑"/>
              <a:ea typeface="微软雅黑"/>
              <a:cs typeface="微软雅黑"/>
              <a:sym typeface="微软雅黑"/>
            </a:endParaRPr>
          </a:p>
        </p:txBody>
      </p:sp>
      <p:grpSp>
        <p:nvGrpSpPr>
          <p:cNvPr id="159" name="组合 158"/>
          <p:cNvGrpSpPr/>
          <p:nvPr/>
        </p:nvGrpSpPr>
        <p:grpSpPr>
          <a:xfrm>
            <a:off x="878397" y="4821562"/>
            <a:ext cx="1872000" cy="1130522"/>
            <a:chOff x="825057" y="4644851"/>
            <a:chExt cx="1872000" cy="1130522"/>
          </a:xfrm>
        </p:grpSpPr>
        <p:sp>
          <p:nvSpPr>
            <p:cNvPr id="160" name="椭圆 159"/>
            <p:cNvSpPr>
              <a:spLocks noChangeAspect="1"/>
            </p:cNvSpPr>
            <p:nvPr/>
          </p:nvSpPr>
          <p:spPr>
            <a:xfrm>
              <a:off x="1576317" y="5415373"/>
              <a:ext cx="360000" cy="3600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61" name="Object25"/>
            <p:cNvSpPr/>
            <p:nvPr/>
          </p:nvSpPr>
          <p:spPr>
            <a:xfrm>
              <a:off x="1602829" y="5497669"/>
              <a:ext cx="306976" cy="175689"/>
            </a:xfrm>
            <a:prstGeom prst="rect">
              <a:avLst/>
            </a:prstGeom>
            <a:noFill/>
            <a:effectLst/>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000" b="0" i="0" u="none" strike="noStrike" kern="1200" cap="none" spc="0" normalizeH="0" baseline="0" noProof="0" dirty="0">
                  <a:ln>
                    <a:noFill/>
                  </a:ln>
                  <a:solidFill>
                    <a:srgbClr val="FFFFFF"/>
                  </a:solidFill>
                  <a:effectLst/>
                  <a:uLnTx/>
                  <a:uFillTx/>
                  <a:latin typeface="微软雅黑"/>
                  <a:ea typeface="微软雅黑"/>
                  <a:cs typeface="微软雅黑"/>
                </a:rPr>
                <a:t>01</a:t>
              </a:r>
              <a:endParaRPr kumimoji="0" lang="en-US"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162" name="直线连接符 150"/>
            <p:cNvCxnSpPr/>
            <p:nvPr/>
          </p:nvCxnSpPr>
          <p:spPr>
            <a:xfrm flipV="1">
              <a:off x="1756317" y="5188151"/>
              <a:ext cx="0" cy="227222"/>
            </a:xfrm>
            <a:prstGeom prst="line">
              <a:avLst/>
            </a:prstGeom>
            <a:ln>
              <a:solidFill>
                <a:srgbClr val="383838"/>
              </a:solidFill>
              <a:prstDash val="solid"/>
              <a:tailEnd type="none"/>
            </a:ln>
          </p:spPr>
          <p:style>
            <a:lnRef idx="1">
              <a:srgbClr val="0042FF"/>
            </a:lnRef>
            <a:fillRef idx="0">
              <a:srgbClr val="0042FF"/>
            </a:fillRef>
            <a:effectRef idx="0">
              <a:srgbClr val="0042FF"/>
            </a:effectRef>
            <a:fontRef idx="minor">
              <a:srgbClr val="383838"/>
            </a:fontRef>
          </p:style>
        </p:cxnSp>
        <p:sp>
          <p:nvSpPr>
            <p:cNvPr id="163" name="矩形: 圆角 707"/>
            <p:cNvSpPr/>
            <p:nvPr/>
          </p:nvSpPr>
          <p:spPr>
            <a:xfrm>
              <a:off x="825057" y="4644851"/>
              <a:ext cx="1872000" cy="576000"/>
            </a:xfrm>
            <a:prstGeom prst="roundRect">
              <a:avLst>
                <a:gd name="adj" fmla="val 50000"/>
              </a:avLst>
            </a:prstGeom>
            <a:solidFill>
              <a:srgbClr val="668EFF"/>
            </a:solidFill>
            <a:ln>
              <a:no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4" name="文本框 163"/>
            <p:cNvSpPr txBox="1"/>
            <p:nvPr/>
          </p:nvSpPr>
          <p:spPr>
            <a:xfrm>
              <a:off x="1241618" y="4699945"/>
              <a:ext cx="1210588" cy="452688"/>
            </a:xfrm>
            <a:prstGeom prst="rect">
              <a:avLst/>
            </a:prstGeom>
            <a:noFill/>
            <a:ln w="9525">
              <a:noFill/>
            </a:ln>
          </p:spPr>
          <p:txBody>
            <a:bodyPr wrap="none" lIns="0" rIns="0" tIns="0" bIns="0">
              <a:spAutoFit/>
            </a:bodyPr>
            <a:lstStyle>
              <a:defPPr>
                <a:defRPr lang="zh-CN">
                  <a:solidFill>
                    <a:srgbClr val="383838"/>
                  </a:solidFill>
                  <a:latin typeface="微软雅黑"/>
                  <a:ea typeface="微软雅黑"/>
                  <a:cs typeface="微软雅黑"/>
                </a:defRPr>
              </a:defPPr>
              <a:lvl1pPr indent="0">
                <a:defRPr sz="1400" b="0">
                  <a:solidFill>
                    <a:srgbClr val="383838"/>
                  </a:solidFill>
                  <a:latin typeface="微软雅黑"/>
                  <a:ea typeface="微软雅黑"/>
                  <a:cs typeface="微软雅黑"/>
                </a:defRPr>
              </a:lvl1pPr>
            </a:lstStyle>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针对春季新品推出</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相应的营销活动</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5" name="flag-pole-with-black-flag_38306"/>
            <p:cNvSpPr>
              <a:spLocks noChangeAspect="1"/>
            </p:cNvSpPr>
            <p:nvPr/>
          </p:nvSpPr>
          <p:spPr>
            <a:xfrm>
              <a:off x="1022698" y="4837461"/>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grpSp>
      <p:grpSp>
        <p:nvGrpSpPr>
          <p:cNvPr id="166" name="组合 165"/>
          <p:cNvGrpSpPr/>
          <p:nvPr/>
        </p:nvGrpSpPr>
        <p:grpSpPr>
          <a:xfrm>
            <a:off x="9553767" y="4830070"/>
            <a:ext cx="1872000" cy="1122055"/>
            <a:chOff x="825057" y="4653318"/>
            <a:chExt cx="1872000" cy="1122055"/>
          </a:xfrm>
        </p:grpSpPr>
        <p:sp>
          <p:nvSpPr>
            <p:cNvPr id="167" name="椭圆 166"/>
            <p:cNvSpPr>
              <a:spLocks noChangeAspect="1"/>
            </p:cNvSpPr>
            <p:nvPr/>
          </p:nvSpPr>
          <p:spPr>
            <a:xfrm>
              <a:off x="1576317" y="5415373"/>
              <a:ext cx="360000" cy="3600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68" name="Object25"/>
            <p:cNvSpPr/>
            <p:nvPr/>
          </p:nvSpPr>
          <p:spPr>
            <a:xfrm>
              <a:off x="1602829" y="5497669"/>
              <a:ext cx="306976" cy="175689"/>
            </a:xfrm>
            <a:prstGeom prst="rect">
              <a:avLst/>
            </a:prstGeom>
            <a:noFill/>
            <a:effectLst/>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000" b="0" i="0" u="none" strike="noStrike" kern="1200" cap="none" spc="0" normalizeH="0" baseline="0" noProof="0" dirty="0">
                  <a:ln>
                    <a:noFill/>
                  </a:ln>
                  <a:solidFill>
                    <a:srgbClr val="FFFFFF"/>
                  </a:solidFill>
                  <a:effectLst/>
                  <a:uLnTx/>
                  <a:uFillTx/>
                  <a:latin typeface="微软雅黑"/>
                  <a:ea typeface="微软雅黑"/>
                  <a:cs typeface="微软雅黑"/>
                </a:rPr>
                <a:t>04</a:t>
              </a:r>
              <a:endParaRPr kumimoji="0" 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169" name="直线连接符 158"/>
            <p:cNvCxnSpPr/>
            <p:nvPr/>
          </p:nvCxnSpPr>
          <p:spPr>
            <a:xfrm flipV="1">
              <a:off x="1756317" y="5188151"/>
              <a:ext cx="0" cy="227222"/>
            </a:xfrm>
            <a:prstGeom prst="line">
              <a:avLst/>
            </a:prstGeom>
            <a:ln>
              <a:solidFill>
                <a:srgbClr val="383838"/>
              </a:solidFill>
              <a:prstDash val="solid"/>
              <a:tailEnd type="none"/>
            </a:ln>
          </p:spPr>
          <p:style>
            <a:lnRef idx="1">
              <a:srgbClr val="0042FF"/>
            </a:lnRef>
            <a:fillRef idx="0">
              <a:srgbClr val="0042FF"/>
            </a:fillRef>
            <a:effectRef idx="0">
              <a:srgbClr val="0042FF"/>
            </a:effectRef>
            <a:fontRef idx="minor">
              <a:srgbClr val="383838"/>
            </a:fontRef>
          </p:style>
        </p:cxnSp>
        <p:sp>
          <p:nvSpPr>
            <p:cNvPr id="170" name="矩形: 圆角 707"/>
            <p:cNvSpPr/>
            <p:nvPr/>
          </p:nvSpPr>
          <p:spPr>
            <a:xfrm>
              <a:off x="825057" y="4653318"/>
              <a:ext cx="1872000" cy="576000"/>
            </a:xfrm>
            <a:prstGeom prst="roundRect">
              <a:avLst>
                <a:gd name="adj" fmla="val 50000"/>
              </a:avLst>
            </a:prstGeom>
            <a:solidFill>
              <a:srgbClr val="668EFF"/>
            </a:solidFill>
            <a:ln>
              <a:no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71" name="文本框 170"/>
            <p:cNvSpPr txBox="1"/>
            <p:nvPr/>
          </p:nvSpPr>
          <p:spPr>
            <a:xfrm>
              <a:off x="1241617" y="4708412"/>
              <a:ext cx="1273389" cy="452688"/>
            </a:xfrm>
            <a:prstGeom prst="rect">
              <a:avLst/>
            </a:prstGeom>
            <a:noFill/>
            <a:ln w="9525">
              <a:noFill/>
            </a:ln>
          </p:spPr>
          <p:txBody>
            <a:bodyPr wrap="square" lIns="0" rIns="0" tIns="0" bIns="0">
              <a:spAutoFit/>
            </a:bodyPr>
            <a:lstStyle>
              <a:defPPr>
                <a:defRPr lang="zh-CN">
                  <a:solidFill>
                    <a:srgbClr val="383838"/>
                  </a:solidFill>
                  <a:latin typeface="微软雅黑"/>
                  <a:ea typeface="微软雅黑"/>
                  <a:cs typeface="微软雅黑"/>
                </a:defRPr>
              </a:defPPr>
              <a:lvl1pPr indent="0">
                <a:defRPr sz="1400" b="0">
                  <a:solidFill>
                    <a:srgbClr val="383838"/>
                  </a:solidFill>
                  <a:latin typeface="微软雅黑"/>
                  <a:ea typeface="微软雅黑"/>
                  <a:cs typeface="微软雅黑"/>
                </a:defRPr>
              </a:lvl1pPr>
            </a:lstStyle>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全年营销活动进行</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总结思考和评估</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73" name="flag-pole-with-black-flag_38306"/>
            <p:cNvSpPr>
              <a:spLocks noChangeAspect="1"/>
            </p:cNvSpPr>
            <p:nvPr/>
          </p:nvSpPr>
          <p:spPr>
            <a:xfrm>
              <a:off x="1022698" y="4845928"/>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grpSp>
      <p:grpSp>
        <p:nvGrpSpPr>
          <p:cNvPr id="174" name="组合 173"/>
          <p:cNvGrpSpPr/>
          <p:nvPr/>
        </p:nvGrpSpPr>
        <p:grpSpPr>
          <a:xfrm>
            <a:off x="7202276" y="5190949"/>
            <a:ext cx="1872000" cy="1138989"/>
            <a:chOff x="825057" y="4636384"/>
            <a:chExt cx="1872000" cy="1138989"/>
          </a:xfrm>
        </p:grpSpPr>
        <p:sp>
          <p:nvSpPr>
            <p:cNvPr id="175" name="椭圆 174"/>
            <p:cNvSpPr>
              <a:spLocks noChangeAspect="1"/>
            </p:cNvSpPr>
            <p:nvPr/>
          </p:nvSpPr>
          <p:spPr>
            <a:xfrm>
              <a:off x="1576317" y="5415373"/>
              <a:ext cx="360000" cy="3600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76" name="Object25"/>
            <p:cNvSpPr/>
            <p:nvPr/>
          </p:nvSpPr>
          <p:spPr>
            <a:xfrm>
              <a:off x="1602829" y="5497669"/>
              <a:ext cx="306976" cy="175689"/>
            </a:xfrm>
            <a:prstGeom prst="rect">
              <a:avLst/>
            </a:prstGeom>
            <a:noFill/>
            <a:effectLst/>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000" b="0" i="0" u="none" strike="noStrike" kern="1200" cap="none" spc="0" normalizeH="0" baseline="0" noProof="0" dirty="0">
                  <a:ln>
                    <a:noFill/>
                  </a:ln>
                  <a:solidFill>
                    <a:srgbClr val="FFFFFF"/>
                  </a:solidFill>
                  <a:effectLst/>
                  <a:uLnTx/>
                  <a:uFillTx/>
                  <a:latin typeface="微软雅黑"/>
                  <a:ea typeface="微软雅黑"/>
                  <a:cs typeface="微软雅黑"/>
                </a:rPr>
                <a:t>03</a:t>
              </a:r>
              <a:endParaRPr kumimoji="0" 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177" name="直线连接符 165"/>
            <p:cNvCxnSpPr/>
            <p:nvPr/>
          </p:nvCxnSpPr>
          <p:spPr>
            <a:xfrm flipV="1">
              <a:off x="1756317" y="5188151"/>
              <a:ext cx="0" cy="227222"/>
            </a:xfrm>
            <a:prstGeom prst="line">
              <a:avLst/>
            </a:prstGeom>
            <a:ln>
              <a:solidFill>
                <a:srgbClr val="FFFFFF"/>
              </a:solidFill>
              <a:prstDash val="solid"/>
              <a:tailEnd type="none"/>
            </a:ln>
          </p:spPr>
          <p:style>
            <a:lnRef idx="1">
              <a:srgbClr val="0042FF"/>
            </a:lnRef>
            <a:fillRef idx="0">
              <a:srgbClr val="0042FF"/>
            </a:fillRef>
            <a:effectRef idx="0">
              <a:srgbClr val="0042FF"/>
            </a:effectRef>
            <a:fontRef idx="minor">
              <a:srgbClr val="383838"/>
            </a:fontRef>
          </p:style>
        </p:cxnSp>
        <p:sp>
          <p:nvSpPr>
            <p:cNvPr id="205" name="矩形: 圆角 707"/>
            <p:cNvSpPr/>
            <p:nvPr/>
          </p:nvSpPr>
          <p:spPr>
            <a:xfrm>
              <a:off x="825057" y="4636384"/>
              <a:ext cx="1872000" cy="576000"/>
            </a:xfrm>
            <a:prstGeom prst="roundRect">
              <a:avLst>
                <a:gd name="adj" fmla="val 50000"/>
              </a:avLst>
            </a:prstGeom>
            <a:solidFill>
              <a:srgbClr val="668EFF"/>
            </a:solidFill>
            <a:ln>
              <a:no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6" name="文本框 205"/>
            <p:cNvSpPr txBox="1"/>
            <p:nvPr/>
          </p:nvSpPr>
          <p:spPr>
            <a:xfrm>
              <a:off x="1241618" y="4691478"/>
              <a:ext cx="1338828" cy="452688"/>
            </a:xfrm>
            <a:prstGeom prst="rect">
              <a:avLst/>
            </a:prstGeom>
            <a:noFill/>
            <a:ln w="9525">
              <a:noFill/>
            </a:ln>
          </p:spPr>
          <p:txBody>
            <a:bodyPr wrap="none" lIns="0" rIns="0" tIns="0" bIns="0">
              <a:spAutoFit/>
            </a:bodyPr>
            <a:lstStyle>
              <a:defPPr>
                <a:defRPr lang="zh-CN">
                  <a:solidFill>
                    <a:srgbClr val="383838"/>
                  </a:solidFill>
                  <a:latin typeface="微软雅黑"/>
                  <a:ea typeface="微软雅黑"/>
                  <a:cs typeface="微软雅黑"/>
                </a:defRPr>
              </a:defPPr>
              <a:lvl1pPr indent="0">
                <a:defRPr sz="1400" b="0">
                  <a:solidFill>
                    <a:srgbClr val="383838"/>
                  </a:solidFill>
                  <a:latin typeface="微软雅黑"/>
                  <a:ea typeface="微软雅黑"/>
                  <a:cs typeface="微软雅黑"/>
                </a:defRPr>
              </a:lvl1pPr>
            </a:lstStyle>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加强品牌宣传和推广</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知名度和美誉度</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7" name="flag-pole-with-black-flag_38306"/>
            <p:cNvSpPr>
              <a:spLocks noChangeAspect="1"/>
            </p:cNvSpPr>
            <p:nvPr/>
          </p:nvSpPr>
          <p:spPr>
            <a:xfrm>
              <a:off x="1022698" y="4828994"/>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grpSp>
      <p:grpSp>
        <p:nvGrpSpPr>
          <p:cNvPr id="208" name="组合 207"/>
          <p:cNvGrpSpPr/>
          <p:nvPr/>
        </p:nvGrpSpPr>
        <p:grpSpPr>
          <a:xfrm>
            <a:off x="3246653" y="5190949"/>
            <a:ext cx="1872000" cy="1138989"/>
            <a:chOff x="825057" y="4636384"/>
            <a:chExt cx="1872000" cy="1138989"/>
          </a:xfrm>
        </p:grpSpPr>
        <p:sp>
          <p:nvSpPr>
            <p:cNvPr id="212" name="椭圆 211"/>
            <p:cNvSpPr>
              <a:spLocks noChangeAspect="1"/>
            </p:cNvSpPr>
            <p:nvPr/>
          </p:nvSpPr>
          <p:spPr>
            <a:xfrm>
              <a:off x="1576317" y="5415373"/>
              <a:ext cx="360000" cy="360000"/>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13" name="Object25"/>
            <p:cNvSpPr/>
            <p:nvPr/>
          </p:nvSpPr>
          <p:spPr>
            <a:xfrm>
              <a:off x="1602829" y="5497669"/>
              <a:ext cx="306976" cy="175689"/>
            </a:xfrm>
            <a:prstGeom prst="rect">
              <a:avLst/>
            </a:prstGeom>
            <a:noFill/>
            <a:effectLst/>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000" b="0" i="0" u="none" strike="noStrike" kern="1200" cap="none" spc="0" normalizeH="0" baseline="0" noProof="0" dirty="0">
                  <a:ln>
                    <a:noFill/>
                  </a:ln>
                  <a:solidFill>
                    <a:srgbClr val="FFFFFF"/>
                  </a:solidFill>
                  <a:effectLst/>
                  <a:uLnTx/>
                  <a:uFillTx/>
                  <a:latin typeface="微软雅黑"/>
                  <a:ea typeface="微软雅黑"/>
                  <a:cs typeface="微软雅黑"/>
                </a:rPr>
                <a:t>02</a:t>
              </a:r>
              <a:endParaRPr kumimoji="0" 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216" name="直线连接符 173"/>
            <p:cNvCxnSpPr/>
            <p:nvPr/>
          </p:nvCxnSpPr>
          <p:spPr>
            <a:xfrm flipV="1">
              <a:off x="1756317" y="5188151"/>
              <a:ext cx="0" cy="227222"/>
            </a:xfrm>
            <a:prstGeom prst="line">
              <a:avLst/>
            </a:prstGeom>
            <a:ln>
              <a:solidFill>
                <a:srgbClr val="FFFFFF"/>
              </a:solidFill>
              <a:prstDash val="solid"/>
              <a:tailEnd type="none"/>
            </a:ln>
          </p:spPr>
          <p:style>
            <a:lnRef idx="1">
              <a:srgbClr val="0042FF"/>
            </a:lnRef>
            <a:fillRef idx="0">
              <a:srgbClr val="0042FF"/>
            </a:fillRef>
            <a:effectRef idx="0">
              <a:srgbClr val="0042FF"/>
            </a:effectRef>
            <a:fontRef idx="minor">
              <a:srgbClr val="383838"/>
            </a:fontRef>
          </p:style>
        </p:cxnSp>
        <p:sp>
          <p:nvSpPr>
            <p:cNvPr id="219" name="矩形: 圆角 707"/>
            <p:cNvSpPr/>
            <p:nvPr/>
          </p:nvSpPr>
          <p:spPr>
            <a:xfrm>
              <a:off x="825057" y="4636384"/>
              <a:ext cx="1872000" cy="576000"/>
            </a:xfrm>
            <a:prstGeom prst="roundRect">
              <a:avLst>
                <a:gd name="adj" fmla="val 50000"/>
              </a:avLst>
            </a:prstGeom>
            <a:solidFill>
              <a:srgbClr val="668EFF"/>
            </a:solidFill>
            <a:ln>
              <a:no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3" name="文本框 232"/>
            <p:cNvSpPr txBox="1"/>
            <p:nvPr/>
          </p:nvSpPr>
          <p:spPr>
            <a:xfrm>
              <a:off x="1241618" y="4691478"/>
              <a:ext cx="1338828" cy="452688"/>
            </a:xfrm>
            <a:prstGeom prst="rect">
              <a:avLst/>
            </a:prstGeom>
            <a:noFill/>
            <a:ln w="9525">
              <a:noFill/>
            </a:ln>
          </p:spPr>
          <p:txBody>
            <a:bodyPr wrap="none" lIns="0" rIns="0" tIns="0" bIns="0">
              <a:spAutoFit/>
            </a:bodyPr>
            <a:lstStyle>
              <a:defPPr>
                <a:defRPr lang="zh-CN">
                  <a:solidFill>
                    <a:srgbClr val="383838"/>
                  </a:solidFill>
                  <a:latin typeface="微软雅黑"/>
                  <a:ea typeface="微软雅黑"/>
                  <a:cs typeface="微软雅黑"/>
                </a:defRPr>
              </a:defPPr>
              <a:lvl1pPr indent="0">
                <a:defRPr sz="1400" b="0">
                  <a:solidFill>
                    <a:srgbClr val="383838"/>
                  </a:solidFill>
                  <a:latin typeface="微软雅黑"/>
                  <a:ea typeface="微软雅黑"/>
                  <a:cs typeface="微软雅黑"/>
                </a:defRPr>
              </a:lvl1pPr>
            </a:lstStyle>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针对夏季产品推出相</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2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应的营销活动</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4" name="flag-pole-with-black-flag_38306"/>
            <p:cNvSpPr>
              <a:spLocks noChangeAspect="1"/>
            </p:cNvSpPr>
            <p:nvPr/>
          </p:nvSpPr>
          <p:spPr>
            <a:xfrm>
              <a:off x="1022698" y="4828994"/>
              <a:ext cx="181452" cy="216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grpSp>
      <p:sp>
        <p:nvSpPr>
          <p:cNvPr id="235" name="文本框 234"/>
          <p:cNvSpPr txBox="1"/>
          <p:nvPr/>
        </p:nvSpPr>
        <p:spPr>
          <a:xfrm>
            <a:off x="4804410" y="5610941"/>
            <a:ext cx="2689860" cy="33718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600" b="1" i="0" u="none" strike="noStrike" kern="1200" cap="none" spc="0" normalizeH="0" baseline="0" noProof="0" dirty="0">
                <a:ln>
                  <a:noFill/>
                </a:ln>
                <a:solidFill>
                  <a:srgbClr val="FFFFFF"/>
                </a:solidFill>
                <a:effectLst/>
                <a:uLnTx/>
                <a:uFillTx/>
                <a:latin typeface="微软雅黑"/>
                <a:ea typeface="微软雅黑"/>
                <a:cs typeface="微软雅黑"/>
              </a:rPr>
              <a:t>营销时间规划</a:t>
            </a:r>
            <a:endParaRPr kumimoji="1" lang="zh-CN" altLang="en-US" sz="16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36" name="文本框 235"/>
          <p:cNvSpPr txBox="1"/>
          <p:nvPr/>
        </p:nvSpPr>
        <p:spPr>
          <a:xfrm>
            <a:off x="4804410" y="5895251"/>
            <a:ext cx="2689860" cy="276999"/>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活动节点</a:t>
            </a:r>
            <a:endParaRPr kumimoji="1"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2" name="直线连接符 91"/>
          <p:cNvCxnSpPr/>
          <p:nvPr/>
        </p:nvCxnSpPr>
        <p:spPr>
          <a:xfrm flipV="1">
            <a:off x="7644392" y="2755297"/>
            <a:ext cx="635" cy="575310"/>
          </a:xfrm>
          <a:prstGeom prst="line">
            <a:avLst/>
          </a:prstGeom>
          <a:ln>
            <a:gradFill>
              <a:gsLst>
                <a:gs pos="32000">
                  <a:srgbClr val="3368FF"/>
                </a:gs>
                <a:gs pos="100000">
                  <a:srgbClr val="3368FF"/>
                </a:gs>
              </a:gsLst>
              <a:lin ang="5400000" scaled="1"/>
            </a:gradFill>
            <a:prstDash val="dash"/>
            <a:tailEnd type="oval"/>
          </a:ln>
        </p:spPr>
        <p:style>
          <a:lnRef idx="1">
            <a:srgbClr val="0042FF"/>
          </a:lnRef>
          <a:fillRef idx="0">
            <a:srgbClr val="0042FF"/>
          </a:fillRef>
          <a:effectRef idx="0">
            <a:srgbClr val="0042FF"/>
          </a:effectRef>
          <a:fontRef idx="minor">
            <a:srgbClr val="383838"/>
          </a:fontRef>
        </p:style>
      </p:cxnSp>
      <p:cxnSp>
        <p:nvCxnSpPr>
          <p:cNvPr id="3" name="直线连接符 95"/>
          <p:cNvCxnSpPr/>
          <p:nvPr/>
        </p:nvCxnSpPr>
        <p:spPr>
          <a:xfrm flipV="1">
            <a:off x="4495315" y="2765347"/>
            <a:ext cx="0" cy="539921"/>
          </a:xfrm>
          <a:prstGeom prst="line">
            <a:avLst/>
          </a:prstGeom>
          <a:ln>
            <a:gradFill>
              <a:gsLst>
                <a:gs pos="32000">
                  <a:srgbClr val="3368FF"/>
                </a:gs>
                <a:gs pos="100000">
                  <a:srgbClr val="3368FF"/>
                </a:gs>
              </a:gsLst>
              <a:lin ang="5400000" scaled="1"/>
            </a:gradFill>
            <a:prstDash val="dash"/>
            <a:tailEnd type="oval"/>
          </a:ln>
        </p:spPr>
        <p:style>
          <a:lnRef idx="1">
            <a:srgbClr val="0042FF"/>
          </a:lnRef>
          <a:fillRef idx="0">
            <a:srgbClr val="0042FF"/>
          </a:fillRef>
          <a:effectRef idx="0">
            <a:srgbClr val="0042FF"/>
          </a:effectRef>
          <a:fontRef idx="minor">
            <a:srgbClr val="383838"/>
          </a:fontRef>
        </p:style>
      </p:cxnSp>
      <p:cxnSp>
        <p:nvCxnSpPr>
          <p:cNvPr id="4" name="直线连接符 97"/>
          <p:cNvCxnSpPr/>
          <p:nvPr/>
        </p:nvCxnSpPr>
        <p:spPr>
          <a:xfrm flipV="1">
            <a:off x="6118771" y="3066901"/>
            <a:ext cx="0" cy="544409"/>
          </a:xfrm>
          <a:prstGeom prst="line">
            <a:avLst/>
          </a:prstGeom>
          <a:ln>
            <a:gradFill>
              <a:gsLst>
                <a:gs pos="32000">
                  <a:srgbClr val="3368FF"/>
                </a:gs>
                <a:gs pos="100000">
                  <a:srgbClr val="3368FF"/>
                </a:gs>
              </a:gsLst>
              <a:lin ang="5400000" scaled="1"/>
            </a:gradFill>
            <a:prstDash val="dash"/>
            <a:tailEnd type="oval"/>
          </a:ln>
        </p:spPr>
        <p:style>
          <a:lnRef idx="1">
            <a:srgbClr val="0042FF"/>
          </a:lnRef>
          <a:fillRef idx="0">
            <a:srgbClr val="0042FF"/>
          </a:fillRef>
          <a:effectRef idx="0">
            <a:srgbClr val="0042FF"/>
          </a:effectRef>
          <a:fontRef idx="minor">
            <a:srgbClr val="383838"/>
          </a:fontRef>
        </p:style>
      </p:cxn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组合 17"/>
          <p:cNvGrpSpPr/>
          <p:nvPr/>
        </p:nvGrpSpPr>
        <p:grpSpPr>
          <a:xfrm>
            <a:off x="4970780" y="3409315"/>
            <a:ext cx="2288540" cy="471170"/>
            <a:chOff x="7729" y="13195"/>
            <a:chExt cx="3604" cy="742"/>
          </a:xfrm>
        </p:grpSpPr>
        <p:sp>
          <p:nvSpPr>
            <p:cNvPr id="19" name="显眼包PPT3-1"/>
            <p:cNvSpPr/>
            <p:nvPr/>
          </p:nvSpPr>
          <p:spPr>
            <a:xfrm>
              <a:off x="7729" y="13727"/>
              <a:ext cx="3604" cy="210"/>
            </a:xfrm>
            <a:prstGeom prst="ellipse">
              <a:avLst/>
            </a:prstGeom>
            <a:gradFill flip="none" rotWithShape="1">
              <a:gsLst>
                <a:gs pos="50000">
                  <a:srgbClr val="B3D4FE">
                    <a:alpha val="0"/>
                  </a:srgbClr>
                </a:gs>
                <a:gs pos="0">
                  <a:srgbClr val="B3D4FE">
                    <a:alpha val="45000"/>
                  </a:srgbClr>
                </a:gs>
                <a:gs pos="100000">
                  <a:srgbClr val="B3D4FE">
                    <a:alpha val="45000"/>
                  </a:srgbClr>
                </a:gs>
              </a:gsLst>
              <a:lin ang="0" scaled="1"/>
              <a:tileRect/>
            </a:gradFill>
            <a:ln w="12700">
              <a:gradFill flip="none" rotWithShape="1">
                <a:gsLst>
                  <a:gs pos="17000">
                    <a:srgbClr val="B3D4FE">
                      <a:alpha val="0"/>
                    </a:srgbClr>
                  </a:gs>
                  <a:gs pos="70000">
                    <a:srgbClr val="B3D4FE"/>
                  </a:gs>
                  <a:gs pos="100000">
                    <a:srgbClr val="B3D4FE"/>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cs typeface="微软雅黑"/>
                <a:latin typeface="微软雅黑"/>
                <a:ea typeface="微软雅黑"/>
              </a:endParaRPr>
            </a:p>
          </p:txBody>
        </p:sp>
        <p:sp>
          <p:nvSpPr>
            <p:cNvPr id="20" name="显眼包PPT3-2"/>
            <p:cNvSpPr/>
            <p:nvPr/>
          </p:nvSpPr>
          <p:spPr>
            <a:xfrm>
              <a:off x="8134" y="13751"/>
              <a:ext cx="3008" cy="124"/>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600">
                <a:cs typeface="微软雅黑"/>
                <a:latin typeface="微软雅黑"/>
                <a:ea typeface="微软雅黑"/>
              </a:endParaRPr>
            </a:p>
          </p:txBody>
        </p:sp>
        <p:sp>
          <p:nvSpPr>
            <p:cNvPr id="21" name="显眼包PPT3-3"/>
            <p:cNvSpPr/>
            <p:nvPr/>
          </p:nvSpPr>
          <p:spPr>
            <a:xfrm>
              <a:off x="7729" y="13195"/>
              <a:ext cx="3604" cy="742"/>
            </a:xfrm>
            <a:custGeom>
              <a:avLst/>
              <a:gdLst>
                <a:gd name="connsiteX0" fmla="*/ 547526 w 1793073"/>
                <a:gd name="connsiteY0" fmla="*/ 1518900 h 1535988"/>
                <a:gd name="connsiteX1" fmla="*/ 547565 w 1793073"/>
                <a:gd name="connsiteY1" fmla="*/ 1518904 h 1535988"/>
                <a:gd name="connsiteX2" fmla="*/ 896538 w 1793073"/>
                <a:gd name="connsiteY2" fmla="*/ 1535988 h 1535988"/>
                <a:gd name="connsiteX3" fmla="*/ 896536 w 1793073"/>
                <a:gd name="connsiteY3" fmla="*/ 1535988 h 1535988"/>
                <a:gd name="connsiteX4" fmla="*/ 547563 w 1793073"/>
                <a:gd name="connsiteY4" fmla="*/ 1518904 h 1535988"/>
                <a:gd name="connsiteX5" fmla="*/ 410383 w 1793073"/>
                <a:gd name="connsiteY5" fmla="*/ 1500850 h 1535988"/>
                <a:gd name="connsiteX6" fmla="*/ 547526 w 1793073"/>
                <a:gd name="connsiteY6" fmla="*/ 1518900 h 1535988"/>
                <a:gd name="connsiteX7" fmla="*/ 431651 w 1793073"/>
                <a:gd name="connsiteY7" fmla="*/ 1504516 h 1535988"/>
                <a:gd name="connsiteX8" fmla="*/ 373009 w 1793073"/>
                <a:gd name="connsiteY8" fmla="*/ 1494407 h 1535988"/>
                <a:gd name="connsiteX9" fmla="*/ 410383 w 1793073"/>
                <a:gd name="connsiteY9" fmla="*/ 1500850 h 1535988"/>
                <a:gd name="connsiteX10" fmla="*/ 395274 w 1793073"/>
                <a:gd name="connsiteY10" fmla="*/ 1498861 h 1535988"/>
                <a:gd name="connsiteX11" fmla="*/ 284671 w 1793073"/>
                <a:gd name="connsiteY11" fmla="*/ 1476733 h 1535988"/>
                <a:gd name="connsiteX12" fmla="*/ 373009 w 1793073"/>
                <a:gd name="connsiteY12" fmla="*/ 1494407 h 1535988"/>
                <a:gd name="connsiteX13" fmla="*/ 326257 w 1793073"/>
                <a:gd name="connsiteY13" fmla="*/ 1486347 h 1535988"/>
                <a:gd name="connsiteX14" fmla="*/ 251635 w 1793073"/>
                <a:gd name="connsiteY14" fmla="*/ 1469096 h 1535988"/>
                <a:gd name="connsiteX15" fmla="*/ 284671 w 1793073"/>
                <a:gd name="connsiteY15" fmla="*/ 1476733 h 1535988"/>
                <a:gd name="connsiteX16" fmla="*/ 262589 w 1793073"/>
                <a:gd name="connsiteY16" fmla="*/ 1472316 h 1535988"/>
                <a:gd name="connsiteX17" fmla="*/ 78869 w 1793073"/>
                <a:gd name="connsiteY17" fmla="*/ 1406974 h 1535988"/>
                <a:gd name="connsiteX18" fmla="*/ 153114 w 1793073"/>
                <a:gd name="connsiteY18" fmla="*/ 1440142 h 1535988"/>
                <a:gd name="connsiteX19" fmla="*/ 251635 w 1793073"/>
                <a:gd name="connsiteY19" fmla="*/ 1469096 h 1535988"/>
                <a:gd name="connsiteX20" fmla="*/ 232904 w 1793073"/>
                <a:gd name="connsiteY20" fmla="*/ 1464766 h 1535988"/>
                <a:gd name="connsiteX21" fmla="*/ 88408 w 1793073"/>
                <a:gd name="connsiteY21" fmla="*/ 1412845 h 1535988"/>
                <a:gd name="connsiteX22" fmla="*/ 61889 w 1793073"/>
                <a:gd name="connsiteY22" fmla="*/ 1396524 h 1535988"/>
                <a:gd name="connsiteX23" fmla="*/ 78869 w 1793073"/>
                <a:gd name="connsiteY23" fmla="*/ 1406974 h 1535988"/>
                <a:gd name="connsiteX24" fmla="*/ 70454 w 1793073"/>
                <a:gd name="connsiteY24" fmla="*/ 1403215 h 1535988"/>
                <a:gd name="connsiteX25" fmla="*/ 27108 w 1793073"/>
                <a:gd name="connsiteY25" fmla="*/ 1369355 h 1535988"/>
                <a:gd name="connsiteX26" fmla="*/ 61889 w 1793073"/>
                <a:gd name="connsiteY26" fmla="*/ 1396524 h 1535988"/>
                <a:gd name="connsiteX27" fmla="*/ 40307 w 1793073"/>
                <a:gd name="connsiteY27" fmla="*/ 1383242 h 1535988"/>
                <a:gd name="connsiteX28" fmla="*/ 13724 w 1793073"/>
                <a:gd name="connsiteY28" fmla="*/ 1355273 h 1535988"/>
                <a:gd name="connsiteX29" fmla="*/ 27108 w 1793073"/>
                <a:gd name="connsiteY29" fmla="*/ 1369355 h 1535988"/>
                <a:gd name="connsiteX30" fmla="*/ 18214 w 1793073"/>
                <a:gd name="connsiteY30" fmla="*/ 1362408 h 1535988"/>
                <a:gd name="connsiteX31" fmla="*/ 9203 w 1793073"/>
                <a:gd name="connsiteY31" fmla="*/ 1348091 h 1535988"/>
                <a:gd name="connsiteX32" fmla="*/ 13724 w 1793073"/>
                <a:gd name="connsiteY32" fmla="*/ 1355273 h 1535988"/>
                <a:gd name="connsiteX33" fmla="*/ 10330 w 1793073"/>
                <a:gd name="connsiteY33" fmla="*/ 1351703 h 1535988"/>
                <a:gd name="connsiteX34" fmla="*/ 0 w 1793073"/>
                <a:gd name="connsiteY34" fmla="*/ 1318596 h 1535988"/>
                <a:gd name="connsiteX35" fmla="*/ 9203 w 1793073"/>
                <a:gd name="connsiteY35" fmla="*/ 1348091 h 1535988"/>
                <a:gd name="connsiteX36" fmla="*/ 4629 w 1793073"/>
                <a:gd name="connsiteY36" fmla="*/ 1340823 h 1535988"/>
                <a:gd name="connsiteX37" fmla="*/ 0 w 1793073"/>
                <a:gd name="connsiteY37" fmla="*/ 1318596 h 1535988"/>
                <a:gd name="connsiteX38" fmla="*/ 1167 w 1793073"/>
                <a:gd name="connsiteY38" fmla="*/ 1312994 h 1535988"/>
                <a:gd name="connsiteX39" fmla="*/ 2328 w 1793073"/>
                <a:gd name="connsiteY39" fmla="*/ 1312994 h 1535988"/>
                <a:gd name="connsiteX40" fmla="*/ 0 w 1793073"/>
                <a:gd name="connsiteY40" fmla="*/ 1318596 h 1535988"/>
                <a:gd name="connsiteX41" fmla="*/ 0 w 1793073"/>
                <a:gd name="connsiteY41" fmla="*/ 0 h 1535988"/>
                <a:gd name="connsiteX42" fmla="*/ 1793073 w 1793073"/>
                <a:gd name="connsiteY42" fmla="*/ 0 h 1535988"/>
                <a:gd name="connsiteX43" fmla="*/ 1793073 w 1793073"/>
                <a:gd name="connsiteY43" fmla="*/ 267653 h 1535988"/>
                <a:gd name="connsiteX44" fmla="*/ 1793073 w 1793073"/>
                <a:gd name="connsiteY44" fmla="*/ 405747 h 1535988"/>
                <a:gd name="connsiteX45" fmla="*/ 1793073 w 1793073"/>
                <a:gd name="connsiteY45" fmla="*/ 535304 h 1535988"/>
                <a:gd name="connsiteX46" fmla="*/ 1793073 w 1793073"/>
                <a:gd name="connsiteY46" fmla="*/ 673400 h 1535988"/>
                <a:gd name="connsiteX47" fmla="*/ 1793073 w 1793073"/>
                <a:gd name="connsiteY47" fmla="*/ 907247 h 1535988"/>
                <a:gd name="connsiteX48" fmla="*/ 1793073 w 1793073"/>
                <a:gd name="connsiteY48" fmla="*/ 941051 h 1535988"/>
                <a:gd name="connsiteX49" fmla="*/ 1793073 w 1793073"/>
                <a:gd name="connsiteY49" fmla="*/ 1312994 h 1535988"/>
                <a:gd name="connsiteX50" fmla="*/ 1790747 w 1793073"/>
                <a:gd name="connsiteY50" fmla="*/ 1312994 h 1535988"/>
                <a:gd name="connsiteX51" fmla="*/ 1774862 w 1793073"/>
                <a:gd name="connsiteY51" fmla="*/ 1274784 h 1535988"/>
                <a:gd name="connsiteX52" fmla="*/ 896538 w 1793073"/>
                <a:gd name="connsiteY52" fmla="*/ 1101203 h 1535988"/>
                <a:gd name="connsiteX53" fmla="*/ 715854 w 1793073"/>
                <a:gd name="connsiteY53" fmla="*/ 1105620 h 1535988"/>
                <a:gd name="connsiteX54" fmla="*/ 588857 w 1793073"/>
                <a:gd name="connsiteY54" fmla="*/ 1115179 h 1535988"/>
                <a:gd name="connsiteX55" fmla="*/ 896538 w 1793073"/>
                <a:gd name="connsiteY55" fmla="*/ 1130241 h 1535988"/>
                <a:gd name="connsiteX56" fmla="*/ 896536 w 1793073"/>
                <a:gd name="connsiteY56" fmla="*/ 1130241 h 1535988"/>
                <a:gd name="connsiteX57" fmla="*/ 715852 w 1793073"/>
                <a:gd name="connsiteY57" fmla="*/ 1125825 h 1535988"/>
                <a:gd name="connsiteX58" fmla="*/ 581638 w 1793073"/>
                <a:gd name="connsiteY58" fmla="*/ 1115722 h 1535988"/>
                <a:gd name="connsiteX59" fmla="*/ 547565 w 1793073"/>
                <a:gd name="connsiteY59" fmla="*/ 1118287 h 1535988"/>
                <a:gd name="connsiteX60" fmla="*/ 4629 w 1793073"/>
                <a:gd name="connsiteY60" fmla="*/ 1296368 h 1535988"/>
                <a:gd name="connsiteX61" fmla="*/ 1167 w 1793073"/>
                <a:gd name="connsiteY61" fmla="*/ 1312994 h 1535988"/>
                <a:gd name="connsiteX62" fmla="*/ 0 w 1793073"/>
                <a:gd name="connsiteY62" fmla="*/ 1312994 h 1535988"/>
                <a:gd name="connsiteX63" fmla="*/ 0 w 1793073"/>
                <a:gd name="connsiteY63" fmla="*/ 941051 h 1535988"/>
                <a:gd name="connsiteX64" fmla="*/ 0 w 1793073"/>
                <a:gd name="connsiteY64" fmla="*/ 912849 h 1535988"/>
                <a:gd name="connsiteX65" fmla="*/ 0 w 1793073"/>
                <a:gd name="connsiteY65" fmla="*/ 907247 h 1535988"/>
                <a:gd name="connsiteX66" fmla="*/ 0 w 1793073"/>
                <a:gd name="connsiteY66" fmla="*/ 673400 h 1535988"/>
                <a:gd name="connsiteX67" fmla="*/ 0 w 1793073"/>
                <a:gd name="connsiteY67" fmla="*/ 535304 h 1535988"/>
                <a:gd name="connsiteX68" fmla="*/ 0 w 1793073"/>
                <a:gd name="connsiteY68" fmla="*/ 405747 h 1535988"/>
                <a:gd name="connsiteX69" fmla="*/ 0 w 1793073"/>
                <a:gd name="connsiteY69" fmla="*/ 267653 h 153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93073" h="1535988">
                  <a:moveTo>
                    <a:pt x="547526" y="1518900"/>
                  </a:moveTo>
                  <a:lnTo>
                    <a:pt x="547565" y="1518904"/>
                  </a:lnTo>
                  <a:lnTo>
                    <a:pt x="896538" y="1535988"/>
                  </a:lnTo>
                  <a:lnTo>
                    <a:pt x="896536" y="1535988"/>
                  </a:lnTo>
                  <a:cubicBezTo>
                    <a:pt x="772750" y="1535988"/>
                    <a:pt x="654823" y="1529905"/>
                    <a:pt x="547563" y="1518904"/>
                  </a:cubicBezTo>
                  <a:close/>
                  <a:moveTo>
                    <a:pt x="410383" y="1500850"/>
                  </a:moveTo>
                  <a:lnTo>
                    <a:pt x="547526" y="1518900"/>
                  </a:lnTo>
                  <a:lnTo>
                    <a:pt x="431651" y="1504516"/>
                  </a:lnTo>
                  <a:close/>
                  <a:moveTo>
                    <a:pt x="373009" y="1494407"/>
                  </a:moveTo>
                  <a:lnTo>
                    <a:pt x="410383" y="1500850"/>
                  </a:lnTo>
                  <a:lnTo>
                    <a:pt x="395274" y="1498861"/>
                  </a:lnTo>
                  <a:close/>
                  <a:moveTo>
                    <a:pt x="284671" y="1476733"/>
                  </a:moveTo>
                  <a:lnTo>
                    <a:pt x="373009" y="1494407"/>
                  </a:lnTo>
                  <a:lnTo>
                    <a:pt x="326257" y="1486347"/>
                  </a:lnTo>
                  <a:close/>
                  <a:moveTo>
                    <a:pt x="251635" y="1469096"/>
                  </a:moveTo>
                  <a:lnTo>
                    <a:pt x="284671" y="1476733"/>
                  </a:lnTo>
                  <a:lnTo>
                    <a:pt x="262589" y="1472316"/>
                  </a:lnTo>
                  <a:close/>
                  <a:moveTo>
                    <a:pt x="78869" y="1406974"/>
                  </a:moveTo>
                  <a:lnTo>
                    <a:pt x="153114" y="1440142"/>
                  </a:lnTo>
                  <a:lnTo>
                    <a:pt x="251635" y="1469096"/>
                  </a:lnTo>
                  <a:lnTo>
                    <a:pt x="232904" y="1464766"/>
                  </a:lnTo>
                  <a:cubicBezTo>
                    <a:pt x="175021" y="1449324"/>
                    <a:pt x="126180" y="1431853"/>
                    <a:pt x="88408" y="1412845"/>
                  </a:cubicBezTo>
                  <a:close/>
                  <a:moveTo>
                    <a:pt x="61889" y="1396524"/>
                  </a:moveTo>
                  <a:lnTo>
                    <a:pt x="78869" y="1406974"/>
                  </a:lnTo>
                  <a:lnTo>
                    <a:pt x="70454" y="1403215"/>
                  </a:lnTo>
                  <a:close/>
                  <a:moveTo>
                    <a:pt x="27108" y="1369355"/>
                  </a:moveTo>
                  <a:lnTo>
                    <a:pt x="61889" y="1396524"/>
                  </a:lnTo>
                  <a:lnTo>
                    <a:pt x="40307" y="1383242"/>
                  </a:lnTo>
                  <a:close/>
                  <a:moveTo>
                    <a:pt x="13724" y="1355273"/>
                  </a:moveTo>
                  <a:lnTo>
                    <a:pt x="27108" y="1369355"/>
                  </a:lnTo>
                  <a:lnTo>
                    <a:pt x="18214" y="1362408"/>
                  </a:lnTo>
                  <a:close/>
                  <a:moveTo>
                    <a:pt x="9203" y="1348091"/>
                  </a:moveTo>
                  <a:lnTo>
                    <a:pt x="13724" y="1355273"/>
                  </a:lnTo>
                  <a:lnTo>
                    <a:pt x="10330" y="1351703"/>
                  </a:lnTo>
                  <a:close/>
                  <a:moveTo>
                    <a:pt x="0" y="1318596"/>
                  </a:moveTo>
                  <a:lnTo>
                    <a:pt x="9203" y="1348091"/>
                  </a:lnTo>
                  <a:lnTo>
                    <a:pt x="4629" y="1340823"/>
                  </a:lnTo>
                  <a:cubicBezTo>
                    <a:pt x="1568" y="1333515"/>
                    <a:pt x="0" y="1326100"/>
                    <a:pt x="0" y="1318596"/>
                  </a:cubicBezTo>
                  <a:close/>
                  <a:moveTo>
                    <a:pt x="1167" y="1312994"/>
                  </a:moveTo>
                  <a:lnTo>
                    <a:pt x="2328" y="1312994"/>
                  </a:lnTo>
                  <a:lnTo>
                    <a:pt x="0" y="1318596"/>
                  </a:lnTo>
                  <a:close/>
                  <a:moveTo>
                    <a:pt x="0" y="0"/>
                  </a:moveTo>
                  <a:lnTo>
                    <a:pt x="1793073" y="0"/>
                  </a:lnTo>
                  <a:lnTo>
                    <a:pt x="1793073" y="267653"/>
                  </a:lnTo>
                  <a:lnTo>
                    <a:pt x="1793073" y="405747"/>
                  </a:lnTo>
                  <a:lnTo>
                    <a:pt x="1793073" y="535304"/>
                  </a:lnTo>
                  <a:lnTo>
                    <a:pt x="1793073" y="673400"/>
                  </a:lnTo>
                  <a:lnTo>
                    <a:pt x="1793073" y="907247"/>
                  </a:lnTo>
                  <a:lnTo>
                    <a:pt x="1793073" y="941051"/>
                  </a:lnTo>
                  <a:lnTo>
                    <a:pt x="1793073" y="1312994"/>
                  </a:lnTo>
                  <a:lnTo>
                    <a:pt x="1790747" y="1312994"/>
                  </a:lnTo>
                  <a:lnTo>
                    <a:pt x="1774862" y="1274784"/>
                  </a:lnTo>
                  <a:cubicBezTo>
                    <a:pt x="1691262" y="1175721"/>
                    <a:pt x="1329787" y="1101203"/>
                    <a:pt x="896538" y="1101203"/>
                  </a:cubicBezTo>
                  <a:cubicBezTo>
                    <a:pt x="834645" y="1101203"/>
                    <a:pt x="774217" y="1102724"/>
                    <a:pt x="715854" y="1105620"/>
                  </a:cubicBezTo>
                  <a:lnTo>
                    <a:pt x="588857" y="1115179"/>
                  </a:lnTo>
                  <a:lnTo>
                    <a:pt x="896538" y="1130241"/>
                  </a:lnTo>
                  <a:lnTo>
                    <a:pt x="896536" y="1130241"/>
                  </a:lnTo>
                  <a:cubicBezTo>
                    <a:pt x="834643" y="1130241"/>
                    <a:pt x="774215" y="1128720"/>
                    <a:pt x="715852" y="1125825"/>
                  </a:cubicBezTo>
                  <a:lnTo>
                    <a:pt x="581638" y="1115722"/>
                  </a:lnTo>
                  <a:lnTo>
                    <a:pt x="547565" y="1118287"/>
                  </a:lnTo>
                  <a:cubicBezTo>
                    <a:pt x="252599" y="1148539"/>
                    <a:pt x="38297" y="1215979"/>
                    <a:pt x="4629" y="1296368"/>
                  </a:cubicBezTo>
                  <a:lnTo>
                    <a:pt x="1167" y="1312994"/>
                  </a:lnTo>
                  <a:lnTo>
                    <a:pt x="0" y="1312994"/>
                  </a:lnTo>
                  <a:lnTo>
                    <a:pt x="0" y="941051"/>
                  </a:lnTo>
                  <a:lnTo>
                    <a:pt x="0" y="912849"/>
                  </a:lnTo>
                  <a:lnTo>
                    <a:pt x="0" y="907247"/>
                  </a:lnTo>
                  <a:lnTo>
                    <a:pt x="0" y="673400"/>
                  </a:lnTo>
                  <a:lnTo>
                    <a:pt x="0" y="535304"/>
                  </a:lnTo>
                  <a:lnTo>
                    <a:pt x="0" y="405747"/>
                  </a:lnTo>
                  <a:lnTo>
                    <a:pt x="0" y="267653"/>
                  </a:lnTo>
                  <a:close/>
                </a:path>
              </a:pathLst>
            </a:custGeom>
            <a:gradFill flip="none" rotWithShape="1">
              <a:gsLst>
                <a:gs pos="100000">
                  <a:srgbClr val="B3D4FE">
                    <a:alpha val="45000"/>
                  </a:srgbClr>
                </a:gs>
                <a:gs pos="22000">
                  <a:srgbClr val="B3D4FE">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600">
                <a:cs typeface="微软雅黑"/>
                <a:latin typeface="微软雅黑"/>
                <a:ea typeface="微软雅黑"/>
              </a:endParaRPr>
            </a:p>
          </p:txBody>
        </p:sp>
      </p:grpSp>
      <p:sp>
        <p:nvSpPr>
          <p:cNvPr id="231" name="矩形: 圆角 501"/>
          <p:cNvSpPr/>
          <p:nvPr/>
        </p:nvSpPr>
        <p:spPr>
          <a:xfrm>
            <a:off x="502920" y="6245225"/>
            <a:ext cx="11520805" cy="439420"/>
          </a:xfrm>
          <a:prstGeom prst="roundRect">
            <a:avLst>
              <a:gd name="adj" fmla="val 5940"/>
            </a:avLst>
          </a:prstGeom>
          <a:gradFill flip="none" rotWithShape="1">
            <a:gsLst>
              <a:gs pos="0">
                <a:srgbClr val="3368FF"/>
              </a:gs>
              <a:gs pos="54000">
                <a:srgbClr val="0042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45720" rIns="91440" bIns="4572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400" dirty="0">
              <a:solidFill>
                <a:srgbClr val="FFFFFF"/>
              </a:solidFill>
              <a:latin typeface="微软雅黑"/>
              <a:ea typeface="微软雅黑"/>
              <a:cs typeface="微软雅黑"/>
              <a:sym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构建</a:t>
            </a:r>
            <a:r>
              <a:rPr lang="zh-CN" altLang="en-US" sz="2500">
                <a:solidFill>
                  <a:srgbClr val="383838"/>
                </a:solidFill>
                <a:effectLst/>
                <a:latin typeface="微软雅黑"/>
                <a:ea typeface="微软雅黑"/>
                <a:cs typeface="微软雅黑"/>
              </a:rPr>
              <a:t>全链路新零售平台</a:t>
            </a:r>
            <a:endParaRPr lang="zh-CN" altLang="en-US" sz="2500">
              <a:solidFill>
                <a:srgbClr val="383838"/>
              </a:solidFill>
              <a:effectLst/>
              <a:latin typeface="微软雅黑"/>
              <a:ea typeface="微软雅黑"/>
              <a:cs typeface="微软雅黑"/>
            </a:endParaRPr>
          </a:p>
        </p:txBody>
      </p:sp>
      <p:pic>
        <p:nvPicPr>
          <p:cNvPr id="2" name="图片 1" descr="黑暗里有星球  描述已自动生成"/>
          <p:cNvPicPr>
            <a:picLocks noChangeAspect="1"/>
          </p:cNvPicPr>
          <p:nvPr/>
        </p:nvPicPr>
        <p:blipFill rotWithShape="1">
          <a:blip r:embed="rId1">
            <a:extLst>
              <a:ext uri="{BEBA8EAE-BF5A-486C-A8C5-ECC9F3942E4B}">
                <a14:imgProps xmlns:a14="http://schemas.microsoft.com/office/drawing/2010/main">
                  <a14:imgLayer r:embed="rId2">
                    <a14:imgEffect>
                      <a14:brightnessContrast bright="20000" contrast="-20000"/>
                    </a14:imgEffect>
                    <a14:imgEffect>
                      <a14:colorTemperature colorTemp="11200"/>
                    </a14:imgEffect>
                    <a14:imgEffect>
                      <a14:saturation sat="400000"/>
                    </a14:imgEffect>
                  </a14:imgLayer>
                </a14:imgProps>
              </a:ext>
              <a:ext uri="{28A0092B-C50C-407E-A947-70E740481C1C}">
                <a14:useLocalDpi xmlns:a14="http://schemas.microsoft.com/office/drawing/2010/main" val="0"/>
              </a:ext>
            </a:extLst>
          </a:blip>
          <a:srcRect l="2555" t="51641" r="4381" b="25101"/>
          <a:stretch>
            <a:fillRect/>
          </a:stretch>
        </p:blipFill>
        <p:spPr>
          <a:xfrm>
            <a:off x="4505326" y="3700212"/>
            <a:ext cx="3038474" cy="215139"/>
          </a:xfrm>
          <a:prstGeom prst="rect">
            <a:avLst/>
          </a:prstGeom>
          <a:effectLst>
            <a:softEdge rad="114300"/>
          </a:effectLst>
        </p:spPr>
      </p:pic>
      <p:sp>
        <p:nvSpPr>
          <p:cNvPr id="94" name="等腰三角形 93"/>
          <p:cNvSpPr/>
          <p:nvPr/>
        </p:nvSpPr>
        <p:spPr>
          <a:xfrm>
            <a:off x="3903345" y="3950335"/>
            <a:ext cx="4504690" cy="1917700"/>
          </a:xfrm>
          <a:prstGeom prst="triangle">
            <a:avLst/>
          </a:prstGeom>
          <a:gradFill flip="none" rotWithShape="1">
            <a:gsLst>
              <a:gs pos="0">
                <a:srgbClr val="3368FF">
                  <a:alpha val="7000"/>
                </a:srgbClr>
              </a:gs>
              <a:gs pos="97345">
                <a:srgbClr val="3368FF">
                  <a:alpha val="0"/>
                </a:srgbClr>
              </a:gs>
              <a:gs pos="83000">
                <a:srgbClr val="3368FF">
                  <a:alpha val="3000"/>
                </a:srgbClr>
              </a:gs>
              <a:gs pos="41000">
                <a:srgbClr val="3368FF">
                  <a:alpha val="15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600" noProof="0" dirty="0">
              <a:ln>
                <a:noFill/>
              </a:ln>
              <a:solidFill>
                <a:srgbClr val="383838"/>
              </a:solidFill>
              <a:effectLst/>
              <a:uLnTx/>
              <a:uFillTx/>
              <a:latin typeface="微软雅黑"/>
              <a:ea typeface="微软雅黑"/>
              <a:cs typeface="微软雅黑"/>
              <a:sym typeface="微软雅黑"/>
            </a:endParaRPr>
          </a:p>
        </p:txBody>
      </p:sp>
      <p:sp>
        <p:nvSpPr>
          <p:cNvPr id="43" name="椭圆 42"/>
          <p:cNvSpPr/>
          <p:nvPr/>
        </p:nvSpPr>
        <p:spPr>
          <a:xfrm>
            <a:off x="4084320" y="5622925"/>
            <a:ext cx="4089400" cy="275590"/>
          </a:xfrm>
          <a:prstGeom prst="ellipse">
            <a:avLst/>
          </a:prstGeom>
          <a:gradFill flip="none" rotWithShape="1">
            <a:gsLst>
              <a:gs pos="0">
                <a:srgbClr val="3368FF">
                  <a:alpha val="50000"/>
                </a:srgbClr>
              </a:gs>
              <a:gs pos="100000">
                <a:srgbClr val="3368FF">
                  <a:alpha val="0"/>
                </a:srgbClr>
              </a:gs>
            </a:gsLst>
            <a:lin ang="16200000" scaled="1"/>
            <a:tileRect/>
          </a:gradFill>
          <a:ln w="6350">
            <a:gradFill flip="none" rotWithShape="1">
              <a:gsLst>
                <a:gs pos="100000">
                  <a:srgbClr val="3368FF">
                    <a:alpha val="0"/>
                  </a:srgbClr>
                </a:gs>
                <a:gs pos="0">
                  <a:srgbClr val="3368FF"/>
                </a:gs>
              </a:gsLst>
              <a:lin ang="162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877570">
              <a:spcBef>
                <a:spcPts val="0"/>
              </a:spcBef>
              <a:spcAft>
                <a:spcPts val="0"/>
              </a:spcAft>
              <a:buClrTx/>
              <a:buSzTx/>
              <a:buFontTx/>
              <a:defRPr>
                <a:latin typeface="微软雅黑"/>
                <a:ea typeface="微软雅黑"/>
                <a:cs typeface="微软雅黑"/>
              </a:defRPr>
            </a:pPr>
            <a:endParaRPr lang="zh-CN" altLang="en-US" sz="1600" noProof="0">
              <a:ln>
                <a:noFill/>
              </a:ln>
              <a:solidFill>
                <a:srgbClr val="383838"/>
              </a:solidFill>
              <a:effectLst/>
              <a:uLnTx/>
              <a:uFillTx/>
              <a:latin typeface="微软雅黑"/>
              <a:ea typeface="微软雅黑"/>
              <a:cs typeface="微软雅黑"/>
              <a:sym typeface="微软雅黑"/>
            </a:endParaRPr>
          </a:p>
        </p:txBody>
      </p:sp>
      <p:sp>
        <p:nvSpPr>
          <p:cNvPr id="47" name="椭圆 46"/>
          <p:cNvSpPr/>
          <p:nvPr/>
        </p:nvSpPr>
        <p:spPr>
          <a:xfrm>
            <a:off x="4733925" y="5010785"/>
            <a:ext cx="2790190" cy="275590"/>
          </a:xfrm>
          <a:prstGeom prst="ellipse">
            <a:avLst/>
          </a:prstGeom>
          <a:gradFill flip="none" rotWithShape="1">
            <a:gsLst>
              <a:gs pos="0">
                <a:srgbClr val="3368FF">
                  <a:alpha val="50000"/>
                </a:srgbClr>
              </a:gs>
              <a:gs pos="100000">
                <a:srgbClr val="3368FF">
                  <a:alpha val="0"/>
                </a:srgbClr>
              </a:gs>
            </a:gsLst>
            <a:lin ang="16200000" scaled="1"/>
            <a:tileRect/>
          </a:gradFill>
          <a:ln w="6350">
            <a:gradFill flip="none" rotWithShape="1">
              <a:gsLst>
                <a:gs pos="100000">
                  <a:srgbClr val="3368FF">
                    <a:alpha val="0"/>
                  </a:srgbClr>
                </a:gs>
                <a:gs pos="0">
                  <a:srgbClr val="3368FF"/>
                </a:gs>
              </a:gsLst>
              <a:lin ang="162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877570">
              <a:spcBef>
                <a:spcPts val="0"/>
              </a:spcBef>
              <a:spcAft>
                <a:spcPts val="0"/>
              </a:spcAft>
              <a:buClrTx/>
              <a:buSzTx/>
              <a:buFontTx/>
              <a:defRPr>
                <a:latin typeface="微软雅黑"/>
                <a:ea typeface="微软雅黑"/>
                <a:cs typeface="微软雅黑"/>
              </a:defRPr>
            </a:pPr>
            <a:endParaRPr lang="zh-CN" altLang="en-US" sz="1600" noProof="0">
              <a:ln>
                <a:noFill/>
              </a:ln>
              <a:solidFill>
                <a:srgbClr val="383838"/>
              </a:solidFill>
              <a:effectLst/>
              <a:uLnTx/>
              <a:uFillTx/>
              <a:latin typeface="微软雅黑"/>
              <a:ea typeface="微软雅黑"/>
              <a:cs typeface="微软雅黑"/>
              <a:sym typeface="微软雅黑"/>
            </a:endParaRPr>
          </a:p>
        </p:txBody>
      </p:sp>
      <p:sp>
        <p:nvSpPr>
          <p:cNvPr id="50" name="椭圆 49"/>
          <p:cNvSpPr/>
          <p:nvPr/>
        </p:nvSpPr>
        <p:spPr>
          <a:xfrm>
            <a:off x="5347335" y="4579620"/>
            <a:ext cx="1563370" cy="123190"/>
          </a:xfrm>
          <a:prstGeom prst="ellipse">
            <a:avLst/>
          </a:prstGeom>
          <a:gradFill flip="none" rotWithShape="1">
            <a:gsLst>
              <a:gs pos="0">
                <a:srgbClr val="3368FF">
                  <a:alpha val="50000"/>
                </a:srgbClr>
              </a:gs>
              <a:gs pos="100000">
                <a:srgbClr val="3368FF">
                  <a:alpha val="0"/>
                </a:srgbClr>
              </a:gs>
            </a:gsLst>
            <a:lin ang="16200000" scaled="1"/>
            <a:tileRect/>
          </a:gradFill>
          <a:ln w="6350">
            <a:gradFill flip="none" rotWithShape="1">
              <a:gsLst>
                <a:gs pos="100000">
                  <a:srgbClr val="3368FF">
                    <a:alpha val="0"/>
                  </a:srgbClr>
                </a:gs>
                <a:gs pos="0">
                  <a:srgbClr val="3368FF"/>
                </a:gs>
              </a:gsLst>
              <a:lin ang="162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877570">
              <a:spcBef>
                <a:spcPts val="0"/>
              </a:spcBef>
              <a:spcAft>
                <a:spcPts val="0"/>
              </a:spcAft>
              <a:buClrTx/>
              <a:buSzTx/>
              <a:buFontTx/>
              <a:defRPr>
                <a:latin typeface="微软雅黑"/>
                <a:ea typeface="微软雅黑"/>
                <a:cs typeface="微软雅黑"/>
              </a:defRPr>
            </a:pPr>
            <a:endParaRPr lang="zh-CN" altLang="en-US" sz="1600" noProof="0">
              <a:ln>
                <a:noFill/>
              </a:ln>
              <a:solidFill>
                <a:srgbClr val="383838"/>
              </a:solidFill>
              <a:effectLst/>
              <a:uLnTx/>
              <a:uFillTx/>
              <a:latin typeface="微软雅黑"/>
              <a:ea typeface="微软雅黑"/>
              <a:cs typeface="微软雅黑"/>
              <a:sym typeface="微软雅黑"/>
            </a:endParaRPr>
          </a:p>
        </p:txBody>
      </p:sp>
      <p:sp>
        <p:nvSpPr>
          <p:cNvPr id="51" name="文本框 50"/>
          <p:cNvSpPr txBox="1"/>
          <p:nvPr/>
        </p:nvSpPr>
        <p:spPr>
          <a:xfrm>
            <a:off x="5110480" y="4380230"/>
            <a:ext cx="1981835"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effectLst>
                  <a:reflection blurRad="76200" stA="44000" endPos="45500" dist="25400" dir="5400000" sy="-100000" algn="bl" rotWithShape="0"/>
                </a:effectLst>
                <a:latin typeface="微软雅黑"/>
                <a:ea typeface="微软雅黑"/>
                <a:cs typeface="微软雅黑"/>
              </a:rPr>
              <a:t>会员中心</a:t>
            </a:r>
            <a:endParaRPr lang="zh-CN" altLang="en-US" sz="1200" dirty="0">
              <a:solidFill>
                <a:srgbClr val="383838"/>
              </a:solidFill>
              <a:effectLst>
                <a:reflection blurRad="76200" stA="44000" endPos="45500" dist="25400" dir="5400000" sy="-100000" algn="bl" rotWithShape="0"/>
              </a:effectLst>
              <a:latin typeface="微软雅黑"/>
              <a:ea typeface="微软雅黑"/>
              <a:cs typeface="微软雅黑"/>
            </a:endParaRPr>
          </a:p>
        </p:txBody>
      </p:sp>
      <p:sp>
        <p:nvSpPr>
          <p:cNvPr id="52" name="文本框 51"/>
          <p:cNvSpPr txBox="1"/>
          <p:nvPr/>
        </p:nvSpPr>
        <p:spPr>
          <a:xfrm>
            <a:off x="5104765" y="4930140"/>
            <a:ext cx="1981835"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effectLst>
                  <a:reflection blurRad="76200" stA="44000" endPos="45500" dist="25400" dir="5400000" sy="-100000" algn="bl" rotWithShape="0"/>
                </a:effectLst>
                <a:latin typeface="微软雅黑"/>
                <a:ea typeface="微软雅黑"/>
                <a:cs typeface="微软雅黑"/>
              </a:rPr>
              <a:t>营销中心</a:t>
            </a:r>
            <a:endParaRPr lang="zh-CN" altLang="en-US" sz="1200" dirty="0">
              <a:solidFill>
                <a:srgbClr val="383838"/>
              </a:solidFill>
              <a:effectLst>
                <a:reflection blurRad="76200" stA="44000" endPos="45500" dist="25400" dir="5400000" sy="-100000" algn="bl" rotWithShape="0"/>
              </a:effectLst>
              <a:latin typeface="微软雅黑"/>
              <a:ea typeface="微软雅黑"/>
              <a:cs typeface="微软雅黑"/>
            </a:endParaRPr>
          </a:p>
        </p:txBody>
      </p:sp>
      <p:sp>
        <p:nvSpPr>
          <p:cNvPr id="53" name="文本框 52"/>
          <p:cNvSpPr txBox="1"/>
          <p:nvPr/>
        </p:nvSpPr>
        <p:spPr>
          <a:xfrm>
            <a:off x="5099050" y="5479415"/>
            <a:ext cx="1981835"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effectLst>
                  <a:reflection blurRad="76200" stA="44000" endPos="45500" dist="25400" dir="5400000" sy="-100000" algn="bl" rotWithShape="0"/>
                </a:effectLst>
                <a:latin typeface="微软雅黑"/>
                <a:ea typeface="微软雅黑"/>
                <a:cs typeface="微软雅黑"/>
              </a:rPr>
              <a:t>结算中心</a:t>
            </a:r>
            <a:endParaRPr lang="zh-CN" altLang="en-US" sz="1200" dirty="0">
              <a:solidFill>
                <a:srgbClr val="383838"/>
              </a:solidFill>
              <a:effectLst>
                <a:reflection blurRad="76200" stA="44000" endPos="45500" dist="25400" dir="5400000" sy="-100000" algn="bl" rotWithShape="0"/>
              </a:effectLst>
              <a:latin typeface="微软雅黑"/>
              <a:ea typeface="微软雅黑"/>
              <a:cs typeface="微软雅黑"/>
            </a:endParaRPr>
          </a:p>
        </p:txBody>
      </p:sp>
      <p:sp>
        <p:nvSpPr>
          <p:cNvPr id="55" name="椭圆 54"/>
          <p:cNvSpPr/>
          <p:nvPr/>
        </p:nvSpPr>
        <p:spPr>
          <a:xfrm flipV="1">
            <a:off x="4053840" y="1916430"/>
            <a:ext cx="4089400" cy="275590"/>
          </a:xfrm>
          <a:prstGeom prst="ellipse">
            <a:avLst/>
          </a:prstGeom>
          <a:gradFill flip="none" rotWithShape="1">
            <a:gsLst>
              <a:gs pos="99000">
                <a:srgbClr val="3368FF">
                  <a:alpha val="50000"/>
                </a:srgbClr>
              </a:gs>
              <a:gs pos="0">
                <a:srgbClr val="3368FF">
                  <a:alpha val="0"/>
                </a:srgbClr>
              </a:gs>
            </a:gsLst>
            <a:lin ang="16200000" scaled="1"/>
            <a:tileRect/>
          </a:gradFill>
          <a:ln w="6350">
            <a:gradFill flip="none" rotWithShape="1">
              <a:gsLst>
                <a:gs pos="0">
                  <a:srgbClr val="3368FF">
                    <a:alpha val="0"/>
                  </a:srgbClr>
                </a:gs>
                <a:gs pos="100000">
                  <a:srgbClr val="3368FF"/>
                </a:gs>
              </a:gsLst>
              <a:lin ang="162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87757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56" name="椭圆 55"/>
          <p:cNvSpPr/>
          <p:nvPr/>
        </p:nvSpPr>
        <p:spPr>
          <a:xfrm flipV="1">
            <a:off x="4703445" y="2527935"/>
            <a:ext cx="2790190" cy="275590"/>
          </a:xfrm>
          <a:prstGeom prst="ellipse">
            <a:avLst/>
          </a:prstGeom>
          <a:gradFill flip="none" rotWithShape="1">
            <a:gsLst>
              <a:gs pos="99000">
                <a:srgbClr val="3368FF">
                  <a:alpha val="50000"/>
                </a:srgbClr>
              </a:gs>
              <a:gs pos="0">
                <a:srgbClr val="3368FF">
                  <a:alpha val="0"/>
                </a:srgbClr>
              </a:gs>
            </a:gsLst>
            <a:lin ang="16200000" scaled="1"/>
            <a:tileRect/>
          </a:gradFill>
          <a:ln w="6350">
            <a:gradFill flip="none" rotWithShape="1">
              <a:gsLst>
                <a:gs pos="0">
                  <a:srgbClr val="3368FF">
                    <a:alpha val="0"/>
                  </a:srgbClr>
                </a:gs>
                <a:gs pos="100000">
                  <a:srgbClr val="3368FF"/>
                </a:gs>
              </a:gsLst>
              <a:lin ang="162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877570">
              <a:spcBef>
                <a:spcPts val="0"/>
              </a:spcBef>
              <a:spcAft>
                <a:spcPts val="0"/>
              </a:spcAft>
              <a:buClrTx/>
              <a:buSzTx/>
              <a:buFontTx/>
              <a:defRPr>
                <a:latin typeface="微软雅黑"/>
                <a:ea typeface="微软雅黑"/>
                <a:cs typeface="微软雅黑"/>
              </a:defRPr>
            </a:pPr>
            <a:endParaRPr lang="zh-CN" altLang="en-US" sz="1600" noProof="0">
              <a:ln>
                <a:noFill/>
              </a:ln>
              <a:solidFill>
                <a:srgbClr val="383838"/>
              </a:solidFill>
              <a:effectLst/>
              <a:uLnTx/>
              <a:uFillTx/>
              <a:latin typeface="微软雅黑"/>
              <a:ea typeface="微软雅黑"/>
              <a:cs typeface="微软雅黑"/>
              <a:sym typeface="微软雅黑"/>
            </a:endParaRPr>
          </a:p>
        </p:txBody>
      </p:sp>
      <p:sp>
        <p:nvSpPr>
          <p:cNvPr id="57" name="椭圆 56"/>
          <p:cNvSpPr/>
          <p:nvPr/>
        </p:nvSpPr>
        <p:spPr>
          <a:xfrm flipV="1">
            <a:off x="5316855" y="3112135"/>
            <a:ext cx="1563370" cy="123190"/>
          </a:xfrm>
          <a:prstGeom prst="ellipse">
            <a:avLst/>
          </a:prstGeom>
          <a:gradFill flip="none" rotWithShape="1">
            <a:gsLst>
              <a:gs pos="99000">
                <a:srgbClr val="3368FF">
                  <a:alpha val="50000"/>
                </a:srgbClr>
              </a:gs>
              <a:gs pos="0">
                <a:srgbClr val="3368FF">
                  <a:alpha val="0"/>
                </a:srgbClr>
              </a:gs>
            </a:gsLst>
            <a:lin ang="16200000" scaled="1"/>
            <a:tileRect/>
          </a:gradFill>
          <a:ln w="6350">
            <a:gradFill flip="none" rotWithShape="1">
              <a:gsLst>
                <a:gs pos="0">
                  <a:srgbClr val="3368FF">
                    <a:alpha val="0"/>
                  </a:srgbClr>
                </a:gs>
                <a:gs pos="100000">
                  <a:srgbClr val="3368FF"/>
                </a:gs>
              </a:gsLst>
              <a:lin ang="162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877570">
              <a:spcBef>
                <a:spcPts val="0"/>
              </a:spcBef>
              <a:spcAft>
                <a:spcPts val="0"/>
              </a:spcAft>
              <a:buClrTx/>
              <a:buSzTx/>
              <a:buFontTx/>
              <a:defRPr>
                <a:latin typeface="微软雅黑"/>
                <a:ea typeface="微软雅黑"/>
                <a:cs typeface="微软雅黑"/>
              </a:defRPr>
            </a:pPr>
            <a:endParaRPr lang="zh-CN" altLang="en-US" sz="1600" noProof="0">
              <a:ln>
                <a:noFill/>
              </a:ln>
              <a:solidFill>
                <a:srgbClr val="383838"/>
              </a:solidFill>
              <a:effectLst/>
              <a:uLnTx/>
              <a:uFillTx/>
              <a:latin typeface="微软雅黑"/>
              <a:ea typeface="微软雅黑"/>
              <a:cs typeface="微软雅黑"/>
              <a:sym typeface="微软雅黑"/>
            </a:endParaRPr>
          </a:p>
        </p:txBody>
      </p:sp>
      <p:sp>
        <p:nvSpPr>
          <p:cNvPr id="75" name="等腰三角形 74"/>
          <p:cNvSpPr/>
          <p:nvPr/>
        </p:nvSpPr>
        <p:spPr>
          <a:xfrm flipV="1">
            <a:off x="3862705" y="1936115"/>
            <a:ext cx="4504690" cy="1917700"/>
          </a:xfrm>
          <a:prstGeom prst="triangle">
            <a:avLst/>
          </a:prstGeom>
          <a:gradFill flip="none" rotWithShape="1">
            <a:gsLst>
              <a:gs pos="0">
                <a:srgbClr val="3368FF">
                  <a:alpha val="7000"/>
                </a:srgbClr>
              </a:gs>
              <a:gs pos="97345">
                <a:srgbClr val="3368FF">
                  <a:alpha val="0"/>
                </a:srgbClr>
              </a:gs>
              <a:gs pos="83000">
                <a:srgbClr val="3368FF">
                  <a:alpha val="3000"/>
                </a:srgbClr>
              </a:gs>
              <a:gs pos="41000">
                <a:srgbClr val="3368FF">
                  <a:alpha val="1500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600" noProof="0" dirty="0">
              <a:ln>
                <a:noFill/>
              </a:ln>
              <a:solidFill>
                <a:srgbClr val="383838"/>
              </a:solidFill>
              <a:effectLst/>
              <a:uLnTx/>
              <a:uFillTx/>
              <a:latin typeface="微软雅黑"/>
              <a:ea typeface="微软雅黑"/>
              <a:cs typeface="微软雅黑"/>
              <a:sym typeface="微软雅黑"/>
            </a:endParaRPr>
          </a:p>
        </p:txBody>
      </p:sp>
      <p:sp>
        <p:nvSpPr>
          <p:cNvPr id="73" name="文本框 72"/>
          <p:cNvSpPr txBox="1"/>
          <p:nvPr/>
        </p:nvSpPr>
        <p:spPr>
          <a:xfrm>
            <a:off x="5124133" y="1922145"/>
            <a:ext cx="1981835"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effectLst>
                  <a:reflection blurRad="76200" stA="44000" endPos="45500" dist="25400" dir="5400000" sy="-100000" algn="bl" rotWithShape="0"/>
                </a:effectLst>
                <a:latin typeface="微软雅黑"/>
                <a:ea typeface="微软雅黑"/>
                <a:cs typeface="微软雅黑"/>
              </a:rPr>
              <a:t>订单中心</a:t>
            </a:r>
            <a:endParaRPr lang="zh-CN" altLang="en-US" sz="1200" dirty="0">
              <a:solidFill>
                <a:srgbClr val="383838"/>
              </a:solidFill>
              <a:effectLst>
                <a:reflection blurRad="76200" stA="44000" endPos="45500" dist="25400" dir="5400000" sy="-100000" algn="bl" rotWithShape="0"/>
              </a:effectLst>
              <a:latin typeface="微软雅黑"/>
              <a:ea typeface="微软雅黑"/>
              <a:cs typeface="微软雅黑"/>
            </a:endParaRPr>
          </a:p>
        </p:txBody>
      </p:sp>
      <p:sp>
        <p:nvSpPr>
          <p:cNvPr id="82" name="文本框 81"/>
          <p:cNvSpPr txBox="1"/>
          <p:nvPr/>
        </p:nvSpPr>
        <p:spPr>
          <a:xfrm>
            <a:off x="5165090" y="2510155"/>
            <a:ext cx="1981835"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effectLst>
                  <a:reflection blurRad="76200" stA="44000" endPos="45500" dist="25400" dir="5400000" sy="-100000" algn="bl" rotWithShape="0"/>
                </a:effectLst>
                <a:latin typeface="微软雅黑"/>
                <a:ea typeface="微软雅黑"/>
                <a:cs typeface="微软雅黑"/>
              </a:rPr>
              <a:t>商品中心</a:t>
            </a:r>
            <a:endParaRPr lang="zh-CN" altLang="en-US" sz="1200" dirty="0">
              <a:solidFill>
                <a:srgbClr val="383838"/>
              </a:solidFill>
              <a:effectLst>
                <a:reflection blurRad="76200" stA="44000" endPos="45500" dist="25400" dir="5400000" sy="-100000" algn="bl" rotWithShape="0"/>
              </a:effectLst>
              <a:latin typeface="微软雅黑"/>
              <a:ea typeface="微软雅黑"/>
              <a:cs typeface="微软雅黑"/>
            </a:endParaRPr>
          </a:p>
        </p:txBody>
      </p:sp>
      <p:sp>
        <p:nvSpPr>
          <p:cNvPr id="86" name="文本框 85"/>
          <p:cNvSpPr txBox="1"/>
          <p:nvPr/>
        </p:nvSpPr>
        <p:spPr>
          <a:xfrm>
            <a:off x="5165090" y="2936875"/>
            <a:ext cx="1981835" cy="275590"/>
          </a:xfrm>
          <a:prstGeom prst="rect">
            <a:avLst/>
          </a:prstGeom>
          <a:noFill/>
        </p:spPr>
        <p:txBody>
          <a:bodyPr wrap="square" rtlCol="0">
            <a:spAutoFit/>
          </a:bodyPr>
          <a:lstStyle/>
          <a:p>
            <a:pPr algn="ctr">
              <a:defRPr>
                <a:latin typeface="微软雅黑"/>
                <a:ea typeface="微软雅黑"/>
                <a:cs typeface="微软雅黑"/>
              </a:defRPr>
            </a:pPr>
            <a:r>
              <a:rPr lang="zh-CN" altLang="en-US" sz="1200" dirty="0">
                <a:solidFill>
                  <a:srgbClr val="383838"/>
                </a:solidFill>
                <a:effectLst>
                  <a:reflection blurRad="76200" stA="44000" endPos="45500" dist="25400" dir="5400000" sy="-100000" algn="bl" rotWithShape="0"/>
                </a:effectLst>
                <a:latin typeface="微软雅黑"/>
                <a:ea typeface="微软雅黑"/>
                <a:cs typeface="微软雅黑"/>
              </a:rPr>
              <a:t>库存中心</a:t>
            </a:r>
            <a:endParaRPr lang="zh-CN" altLang="en-US" sz="1200" dirty="0">
              <a:solidFill>
                <a:srgbClr val="383838"/>
              </a:solidFill>
              <a:effectLst>
                <a:reflection blurRad="76200" stA="44000" endPos="45500" dist="25400" dir="5400000" sy="-100000" algn="bl" rotWithShape="0"/>
              </a:effectLst>
              <a:latin typeface="微软雅黑"/>
              <a:ea typeface="微软雅黑"/>
              <a:cs typeface="微软雅黑"/>
            </a:endParaRPr>
          </a:p>
        </p:txBody>
      </p:sp>
      <p:sp>
        <p:nvSpPr>
          <p:cNvPr id="165" name="任意多边形: 形状 53"/>
          <p:cNvSpPr/>
          <p:nvPr/>
        </p:nvSpPr>
        <p:spPr>
          <a:xfrm rot="5154039" flipH="1" flipV="1">
            <a:off x="8049895" y="2818130"/>
            <a:ext cx="3360420" cy="1775460"/>
          </a:xfrm>
          <a:custGeom>
            <a:avLst/>
            <a:gdLst>
              <a:gd name="connsiteX0" fmla="*/ 3360558 w 3360558"/>
              <a:gd name="connsiteY0" fmla="*/ 519446 h 1775370"/>
              <a:gd name="connsiteX1" fmla="*/ 3192201 w 3360558"/>
              <a:gd name="connsiteY1" fmla="*/ 213714 h 1775370"/>
              <a:gd name="connsiteX2" fmla="*/ 2944385 w 3360558"/>
              <a:gd name="connsiteY2" fmla="*/ 459484 h 1775370"/>
              <a:gd name="connsiteX3" fmla="*/ 3009405 w 3360558"/>
              <a:gd name="connsiteY3" fmla="*/ 468852 h 1775370"/>
              <a:gd name="connsiteX4" fmla="*/ 2954684 w 3360558"/>
              <a:gd name="connsiteY4" fmla="*/ 662970 h 1775370"/>
              <a:gd name="connsiteX5" fmla="*/ 1600554 w 3360558"/>
              <a:gd name="connsiteY5" fmla="*/ 1527183 h 1775370"/>
              <a:gd name="connsiteX6" fmla="*/ 371156 w 3360558"/>
              <a:gd name="connsiteY6" fmla="*/ 493206 h 1775370"/>
              <a:gd name="connsiteX7" fmla="*/ 340139 w 3360558"/>
              <a:gd name="connsiteY7" fmla="*/ 278598 h 1775370"/>
              <a:gd name="connsiteX8" fmla="*/ 420471 w 3360558"/>
              <a:gd name="connsiteY8" fmla="*/ 278598 h 1775370"/>
              <a:gd name="connsiteX9" fmla="*/ 210236 w 3360558"/>
              <a:gd name="connsiteY9" fmla="*/ 0 h 1775370"/>
              <a:gd name="connsiteX10" fmla="*/ 0 w 3360558"/>
              <a:gd name="connsiteY10" fmla="*/ 278598 h 1775370"/>
              <a:gd name="connsiteX11" fmla="*/ 93432 w 3360558"/>
              <a:gd name="connsiteY11" fmla="*/ 278598 h 1775370"/>
              <a:gd name="connsiteX12" fmla="*/ 132795 w 3360558"/>
              <a:gd name="connsiteY12" fmla="*/ 550956 h 1775370"/>
              <a:gd name="connsiteX13" fmla="*/ 1584476 w 3360558"/>
              <a:gd name="connsiteY13" fmla="*/ 1771881 h 1775370"/>
              <a:gd name="connsiteX14" fmla="*/ 3183440 w 3360558"/>
              <a:gd name="connsiteY14" fmla="*/ 751414 h 1775370"/>
              <a:gd name="connsiteX15" fmla="*/ 3253191 w 3360558"/>
              <a:gd name="connsiteY15" fmla="*/ 503976 h 177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60558" h="1775370">
                <a:moveTo>
                  <a:pt x="3360558" y="519446"/>
                </a:moveTo>
                <a:lnTo>
                  <a:pt x="3192201" y="213714"/>
                </a:lnTo>
                <a:lnTo>
                  <a:pt x="2944385" y="459484"/>
                </a:lnTo>
                <a:lnTo>
                  <a:pt x="3009405" y="468852"/>
                </a:lnTo>
                <a:lnTo>
                  <a:pt x="2954684" y="662970"/>
                </a:lnTo>
                <a:cubicBezTo>
                  <a:pt x="2744812" y="1206935"/>
                  <a:pt x="2201411" y="1566665"/>
                  <a:pt x="1600554" y="1527183"/>
                </a:cubicBezTo>
                <a:cubicBezTo>
                  <a:pt x="999698" y="1487701"/>
                  <a:pt x="508043" y="1059956"/>
                  <a:pt x="371156" y="493206"/>
                </a:cubicBezTo>
                <a:lnTo>
                  <a:pt x="340139" y="278598"/>
                </a:lnTo>
                <a:lnTo>
                  <a:pt x="420471" y="278598"/>
                </a:lnTo>
                <a:lnTo>
                  <a:pt x="210236" y="0"/>
                </a:lnTo>
                <a:lnTo>
                  <a:pt x="0" y="278598"/>
                </a:lnTo>
                <a:lnTo>
                  <a:pt x="93432" y="278598"/>
                </a:lnTo>
                <a:lnTo>
                  <a:pt x="132795" y="550956"/>
                </a:lnTo>
                <a:cubicBezTo>
                  <a:pt x="294432" y="1220177"/>
                  <a:pt x="874980" y="1725261"/>
                  <a:pt x="1584476" y="1771881"/>
                </a:cubicBezTo>
                <a:cubicBezTo>
                  <a:pt x="2293971" y="1818503"/>
                  <a:pt x="2935620" y="1393730"/>
                  <a:pt x="3183440" y="751414"/>
                </a:cubicBezTo>
                <a:lnTo>
                  <a:pt x="3253191" y="503976"/>
                </a:lnTo>
                <a:close/>
              </a:path>
            </a:pathLst>
          </a:custGeom>
          <a:gradFill flip="none" rotWithShape="1">
            <a:gsLst>
              <a:gs pos="7000">
                <a:srgbClr val="B3D4FE"/>
              </a:gs>
              <a:gs pos="56000">
                <a:srgbClr val="B3D4FE">
                  <a:alpha val="0"/>
                </a:srgbClr>
              </a:gs>
              <a:gs pos="39000">
                <a:srgbClr val="B3D4FE">
                  <a:alpha val="0"/>
                </a:srgbClr>
              </a:gs>
              <a:gs pos="93000">
                <a:srgbClr val="B3D4FE"/>
              </a:gs>
            </a:gsLst>
            <a:lin ang="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66" name="椭圆 165"/>
          <p:cNvSpPr/>
          <p:nvPr/>
        </p:nvSpPr>
        <p:spPr>
          <a:xfrm flipH="1">
            <a:off x="10010140" y="3296920"/>
            <a:ext cx="855980" cy="855980"/>
          </a:xfrm>
          <a:prstGeom prst="ellipse">
            <a:avLst/>
          </a:prstGeom>
          <a:solidFill>
            <a:srgbClr val="FFFFFF"/>
          </a:solidFill>
          <a:ln>
            <a:gradFill>
              <a:gsLst>
                <a:gs pos="100000">
                  <a:srgbClr val="3368FF"/>
                </a:gs>
                <a:gs pos="0">
                  <a:srgbClr val="B3D4FE"/>
                </a:gs>
              </a:gsLst>
              <a:lin ang="16200000" scaled="1"/>
            </a:gradFill>
          </a:ln>
          <a:effectLst>
            <a:outerShdw blurRad="50800" dist="38100" dir="2700000" algn="tl" rotWithShape="0">
              <a:srgbClr val="668EFF">
                <a:alpha val="2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b="1" noProof="0" dirty="0">
                <a:ln>
                  <a:noFill/>
                </a:ln>
                <a:gradFill>
                  <a:gsLst>
                    <a:gs pos="0">
                      <a:srgbClr val="0042FF"/>
                    </a:gs>
                    <a:gs pos="100000">
                      <a:srgbClr val="0042FF"/>
                    </a:gs>
                  </a:gsLst>
                  <a:lin ang="5400000" scaled="0"/>
                </a:gradFill>
                <a:effectLst/>
                <a:uLnTx/>
                <a:uFillTx/>
                <a:latin typeface="微软雅黑"/>
                <a:ea typeface="微软雅黑"/>
                <a:cs typeface="微软雅黑"/>
                <a:sym typeface="微软雅黑"/>
              </a:rPr>
              <a:t>分销</a:t>
            </a:r>
            <a:endParaRPr lang="zh-CN" altLang="en-US" b="1" noProof="0" dirty="0">
              <a:ln>
                <a:noFill/>
              </a:ln>
              <a:gradFill>
                <a:gsLst>
                  <a:gs pos="0">
                    <a:srgbClr val="0042FF"/>
                  </a:gs>
                  <a:gs pos="100000">
                    <a:srgbClr val="0042FF"/>
                  </a:gs>
                </a:gsLst>
                <a:lin ang="5400000" scaled="0"/>
              </a:gradFill>
              <a:effectLst/>
              <a:uLnTx/>
              <a:uFillTx/>
              <a:latin typeface="微软雅黑"/>
              <a:ea typeface="微软雅黑"/>
              <a:cs typeface="微软雅黑"/>
              <a:sym typeface="微软雅黑"/>
            </a:endParaRPr>
          </a:p>
        </p:txBody>
      </p:sp>
      <p:sp>
        <p:nvSpPr>
          <p:cNvPr id="167" name="矩形: 圆角 55"/>
          <p:cNvSpPr/>
          <p:nvPr/>
        </p:nvSpPr>
        <p:spPr>
          <a:xfrm rot="17830045">
            <a:off x="10537825" y="4333875"/>
            <a:ext cx="525780" cy="45847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营销工具</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68" name="矩形: 圆角 56"/>
          <p:cNvSpPr/>
          <p:nvPr/>
        </p:nvSpPr>
        <p:spPr>
          <a:xfrm rot="18787140">
            <a:off x="10144125" y="4871085"/>
            <a:ext cx="525780" cy="45847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增值服务</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70" name="矩形: 圆角 60"/>
          <p:cNvSpPr/>
          <p:nvPr/>
        </p:nvSpPr>
        <p:spPr>
          <a:xfrm rot="1281494">
            <a:off x="9465945" y="1764665"/>
            <a:ext cx="525780" cy="45847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商家管理</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71" name="矩形: 圆角 61"/>
          <p:cNvSpPr/>
          <p:nvPr/>
        </p:nvSpPr>
        <p:spPr>
          <a:xfrm rot="2464246">
            <a:off x="10094595" y="2105660"/>
            <a:ext cx="525780" cy="45847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授信管理</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72" name="矩形: 圆角 62"/>
          <p:cNvSpPr/>
          <p:nvPr/>
        </p:nvSpPr>
        <p:spPr>
          <a:xfrm rot="4024972">
            <a:off x="10513695" y="2675890"/>
            <a:ext cx="525780" cy="45847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商品管理</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74" name="箭头: 左右 64"/>
          <p:cNvSpPr/>
          <p:nvPr/>
        </p:nvSpPr>
        <p:spPr>
          <a:xfrm>
            <a:off x="8825230" y="3517265"/>
            <a:ext cx="727710" cy="414655"/>
          </a:xfrm>
          <a:prstGeom prst="leftRightArrow">
            <a:avLst>
              <a:gd name="adj1" fmla="val 62258"/>
              <a:gd name="adj2" fmla="val 41190"/>
            </a:avLst>
          </a:prstGeom>
          <a:gradFill flip="none" rotWithShape="1">
            <a:gsLst>
              <a:gs pos="0">
                <a:srgbClr val="3368FF"/>
              </a:gs>
              <a:gs pos="100000">
                <a:srgbClr val="B3D4FE"/>
              </a:gs>
            </a:gsLst>
            <a:lin ang="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94" name="任意多边形: 形状 39"/>
          <p:cNvSpPr/>
          <p:nvPr/>
        </p:nvSpPr>
        <p:spPr>
          <a:xfrm rot="16445961" flipV="1">
            <a:off x="338455" y="2700655"/>
            <a:ext cx="3778250" cy="1995805"/>
          </a:xfrm>
          <a:custGeom>
            <a:avLst/>
            <a:gdLst>
              <a:gd name="connsiteX0" fmla="*/ 3360558 w 3360558"/>
              <a:gd name="connsiteY0" fmla="*/ 519446 h 1775370"/>
              <a:gd name="connsiteX1" fmla="*/ 3192201 w 3360558"/>
              <a:gd name="connsiteY1" fmla="*/ 213714 h 1775370"/>
              <a:gd name="connsiteX2" fmla="*/ 2944385 w 3360558"/>
              <a:gd name="connsiteY2" fmla="*/ 459484 h 1775370"/>
              <a:gd name="connsiteX3" fmla="*/ 3009405 w 3360558"/>
              <a:gd name="connsiteY3" fmla="*/ 468852 h 1775370"/>
              <a:gd name="connsiteX4" fmla="*/ 2954684 w 3360558"/>
              <a:gd name="connsiteY4" fmla="*/ 662970 h 1775370"/>
              <a:gd name="connsiteX5" fmla="*/ 1600554 w 3360558"/>
              <a:gd name="connsiteY5" fmla="*/ 1527183 h 1775370"/>
              <a:gd name="connsiteX6" fmla="*/ 371156 w 3360558"/>
              <a:gd name="connsiteY6" fmla="*/ 493206 h 1775370"/>
              <a:gd name="connsiteX7" fmla="*/ 340139 w 3360558"/>
              <a:gd name="connsiteY7" fmla="*/ 278598 h 1775370"/>
              <a:gd name="connsiteX8" fmla="*/ 420471 w 3360558"/>
              <a:gd name="connsiteY8" fmla="*/ 278598 h 1775370"/>
              <a:gd name="connsiteX9" fmla="*/ 210236 w 3360558"/>
              <a:gd name="connsiteY9" fmla="*/ 0 h 1775370"/>
              <a:gd name="connsiteX10" fmla="*/ 0 w 3360558"/>
              <a:gd name="connsiteY10" fmla="*/ 278598 h 1775370"/>
              <a:gd name="connsiteX11" fmla="*/ 93432 w 3360558"/>
              <a:gd name="connsiteY11" fmla="*/ 278598 h 1775370"/>
              <a:gd name="connsiteX12" fmla="*/ 132795 w 3360558"/>
              <a:gd name="connsiteY12" fmla="*/ 550956 h 1775370"/>
              <a:gd name="connsiteX13" fmla="*/ 1584476 w 3360558"/>
              <a:gd name="connsiteY13" fmla="*/ 1771881 h 1775370"/>
              <a:gd name="connsiteX14" fmla="*/ 3183440 w 3360558"/>
              <a:gd name="connsiteY14" fmla="*/ 751414 h 1775370"/>
              <a:gd name="connsiteX15" fmla="*/ 3253191 w 3360558"/>
              <a:gd name="connsiteY15" fmla="*/ 503976 h 177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60558" h="1775370">
                <a:moveTo>
                  <a:pt x="3360558" y="519446"/>
                </a:moveTo>
                <a:lnTo>
                  <a:pt x="3192201" y="213714"/>
                </a:lnTo>
                <a:lnTo>
                  <a:pt x="2944385" y="459484"/>
                </a:lnTo>
                <a:lnTo>
                  <a:pt x="3009405" y="468852"/>
                </a:lnTo>
                <a:lnTo>
                  <a:pt x="2954684" y="662970"/>
                </a:lnTo>
                <a:cubicBezTo>
                  <a:pt x="2744812" y="1206935"/>
                  <a:pt x="2201411" y="1566665"/>
                  <a:pt x="1600554" y="1527183"/>
                </a:cubicBezTo>
                <a:cubicBezTo>
                  <a:pt x="999698" y="1487701"/>
                  <a:pt x="508043" y="1059956"/>
                  <a:pt x="371156" y="493206"/>
                </a:cubicBezTo>
                <a:lnTo>
                  <a:pt x="340139" y="278598"/>
                </a:lnTo>
                <a:lnTo>
                  <a:pt x="420471" y="278598"/>
                </a:lnTo>
                <a:lnTo>
                  <a:pt x="210236" y="0"/>
                </a:lnTo>
                <a:lnTo>
                  <a:pt x="0" y="278598"/>
                </a:lnTo>
                <a:lnTo>
                  <a:pt x="93432" y="278598"/>
                </a:lnTo>
                <a:lnTo>
                  <a:pt x="132795" y="550956"/>
                </a:lnTo>
                <a:cubicBezTo>
                  <a:pt x="294432" y="1220177"/>
                  <a:pt x="874980" y="1725261"/>
                  <a:pt x="1584476" y="1771881"/>
                </a:cubicBezTo>
                <a:cubicBezTo>
                  <a:pt x="2293971" y="1818503"/>
                  <a:pt x="2935620" y="1393730"/>
                  <a:pt x="3183440" y="751414"/>
                </a:cubicBezTo>
                <a:lnTo>
                  <a:pt x="3253191" y="503976"/>
                </a:lnTo>
                <a:close/>
              </a:path>
            </a:pathLst>
          </a:custGeom>
          <a:gradFill flip="none" rotWithShape="1">
            <a:gsLst>
              <a:gs pos="7000">
                <a:srgbClr val="B3D4FE"/>
              </a:gs>
              <a:gs pos="56000">
                <a:srgbClr val="B3D4FE">
                  <a:alpha val="0"/>
                </a:srgbClr>
              </a:gs>
              <a:gs pos="35000">
                <a:srgbClr val="B3D4FE">
                  <a:alpha val="0"/>
                </a:srgbClr>
              </a:gs>
              <a:gs pos="86000">
                <a:srgbClr val="B3D4FE"/>
              </a:gs>
            </a:gsLst>
            <a:lin ang="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95" name="椭圆 194"/>
          <p:cNvSpPr/>
          <p:nvPr/>
        </p:nvSpPr>
        <p:spPr>
          <a:xfrm>
            <a:off x="944245" y="3260090"/>
            <a:ext cx="962025" cy="962025"/>
          </a:xfrm>
          <a:prstGeom prst="ellipse">
            <a:avLst/>
          </a:prstGeom>
          <a:solidFill>
            <a:srgbClr val="FFFFFF"/>
          </a:solidFill>
          <a:ln>
            <a:gradFill>
              <a:gsLst>
                <a:gs pos="100000">
                  <a:srgbClr val="3368FF"/>
                </a:gs>
                <a:gs pos="0">
                  <a:srgbClr val="B3D4FE"/>
                </a:gs>
              </a:gsLst>
              <a:lin ang="16200000" scaled="1"/>
            </a:gradFill>
          </a:ln>
          <a:effectLst>
            <a:outerShdw blurRad="50800" dist="38100" dir="2700000" algn="tl" rotWithShape="0">
              <a:srgbClr val="668EFF">
                <a:alpha val="2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直</a:t>
            </a:r>
            <a:endParaRPr kumimoji="0" lang="en-US" altLang="zh-CN"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销</a:t>
            </a:r>
            <a:endParaRPr kumimoji="0" lang="zh-CN" altLang="en-US" sz="1800"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sp>
        <p:nvSpPr>
          <p:cNvPr id="196" name="矩形: 圆角 41"/>
          <p:cNvSpPr/>
          <p:nvPr/>
        </p:nvSpPr>
        <p:spPr>
          <a:xfrm rot="17277118">
            <a:off x="768350" y="2708275"/>
            <a:ext cx="528955" cy="51562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品牌</a:t>
            </a:r>
            <a:endParaRPr lang="zh-CN" altLang="en-US" sz="1050" noProof="0" dirty="0">
              <a:ln>
                <a:noFill/>
              </a:ln>
              <a:solidFill>
                <a:srgbClr val="0042FF"/>
              </a:solidFill>
              <a:effectLst/>
              <a:uLnTx/>
              <a:uFillTx/>
              <a:latin typeface="微软雅黑"/>
              <a:ea typeface="微软雅黑"/>
              <a:cs typeface="微软雅黑"/>
              <a:sym typeface="微软雅黑"/>
            </a:endParaRPr>
          </a:p>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建设</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97" name="矩形: 圆角 42"/>
          <p:cNvSpPr/>
          <p:nvPr/>
        </p:nvSpPr>
        <p:spPr>
          <a:xfrm rot="18206740">
            <a:off x="1071880" y="2139315"/>
            <a:ext cx="532765" cy="51562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广告平台</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98" name="矩形: 圆角 45"/>
          <p:cNvSpPr/>
          <p:nvPr/>
        </p:nvSpPr>
        <p:spPr>
          <a:xfrm rot="19612840">
            <a:off x="1546860" y="1679575"/>
            <a:ext cx="545465" cy="51562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智能调度</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199" name="矩形: 圆角 46"/>
          <p:cNvSpPr/>
          <p:nvPr/>
        </p:nvSpPr>
        <p:spPr>
          <a:xfrm rot="21175069">
            <a:off x="2192655" y="1455420"/>
            <a:ext cx="551180" cy="51562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经销管理</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200" name="矩形: 圆角 47"/>
          <p:cNvSpPr/>
          <p:nvPr/>
        </p:nvSpPr>
        <p:spPr>
          <a:xfrm rot="3890123">
            <a:off x="767080" y="4438650"/>
            <a:ext cx="591185" cy="51562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智能分析</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201" name="矩形: 圆角 48"/>
          <p:cNvSpPr/>
          <p:nvPr/>
        </p:nvSpPr>
        <p:spPr>
          <a:xfrm rot="2560476">
            <a:off x="1205865" y="5028565"/>
            <a:ext cx="591185" cy="51562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直营门店</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202" name="矩形: 圆角 49"/>
          <p:cNvSpPr/>
          <p:nvPr/>
        </p:nvSpPr>
        <p:spPr>
          <a:xfrm rot="1524337">
            <a:off x="1838325" y="5464175"/>
            <a:ext cx="591185" cy="515620"/>
          </a:xfrm>
          <a:prstGeom prst="roundRect">
            <a:avLst>
              <a:gd name="adj" fmla="val 12312"/>
            </a:avLst>
          </a:prstGeom>
          <a:solidFill>
            <a:srgbClr val="FFFFFF">
              <a:alpha val="20000"/>
            </a:srgbClr>
          </a:solidFill>
          <a:ln>
            <a:solidFill>
              <a:srgbClr val="B3D4FE">
                <a:alpha val="5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050" noProof="0" dirty="0">
                <a:ln>
                  <a:noFill/>
                </a:ln>
                <a:solidFill>
                  <a:srgbClr val="0042FF"/>
                </a:solidFill>
                <a:effectLst/>
                <a:uLnTx/>
                <a:uFillTx/>
                <a:latin typeface="微软雅黑"/>
                <a:ea typeface="微软雅黑"/>
                <a:cs typeface="微软雅黑"/>
                <a:sym typeface="微软雅黑"/>
              </a:rPr>
              <a:t>线上商城</a:t>
            </a:r>
            <a:endParaRPr lang="zh-CN" altLang="en-US" sz="1050" noProof="0" dirty="0">
              <a:ln>
                <a:noFill/>
              </a:ln>
              <a:solidFill>
                <a:srgbClr val="0042FF"/>
              </a:solidFill>
              <a:effectLst/>
              <a:uLnTx/>
              <a:uFillTx/>
              <a:latin typeface="微软雅黑"/>
              <a:ea typeface="微软雅黑"/>
              <a:cs typeface="微软雅黑"/>
              <a:sym typeface="微软雅黑"/>
            </a:endParaRPr>
          </a:p>
        </p:txBody>
      </p:sp>
      <p:sp>
        <p:nvSpPr>
          <p:cNvPr id="203" name="文本框 202"/>
          <p:cNvSpPr txBox="1"/>
          <p:nvPr/>
        </p:nvSpPr>
        <p:spPr>
          <a:xfrm rot="19016668">
            <a:off x="1637030" y="2383155"/>
            <a:ext cx="558165" cy="275590"/>
          </a:xfrm>
          <a:prstGeom prst="rect">
            <a:avLst/>
          </a:prstGeom>
          <a:noFill/>
        </p:spPr>
        <p:txBody>
          <a:bodyPr wrap="squar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销售</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4" name="文本框 203"/>
          <p:cNvSpPr txBox="1"/>
          <p:nvPr/>
        </p:nvSpPr>
        <p:spPr>
          <a:xfrm rot="2654078">
            <a:off x="1567180" y="4754338"/>
            <a:ext cx="558165" cy="275590"/>
          </a:xfrm>
          <a:prstGeom prst="rect">
            <a:avLst/>
          </a:prstGeom>
          <a:noFill/>
        </p:spPr>
        <p:txBody>
          <a:bodyPr wrap="squar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营销</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5" name="箭头: 左右 63"/>
          <p:cNvSpPr/>
          <p:nvPr/>
        </p:nvSpPr>
        <p:spPr>
          <a:xfrm>
            <a:off x="2377440" y="3471545"/>
            <a:ext cx="817880" cy="466090"/>
          </a:xfrm>
          <a:prstGeom prst="leftRightArrow">
            <a:avLst>
              <a:gd name="adj1" fmla="val 62258"/>
              <a:gd name="adj2" fmla="val 41190"/>
            </a:avLst>
          </a:prstGeom>
          <a:gradFill flip="none" rotWithShape="1">
            <a:gsLst>
              <a:gs pos="0">
                <a:srgbClr val="3368FF"/>
              </a:gs>
              <a:gs pos="100000">
                <a:srgbClr val="B3D4FE"/>
              </a:gs>
            </a:gsLst>
            <a:lin ang="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232" name="梯形 231"/>
          <p:cNvSpPr/>
          <p:nvPr/>
        </p:nvSpPr>
        <p:spPr>
          <a:xfrm>
            <a:off x="503555" y="5737860"/>
            <a:ext cx="11520805" cy="507365"/>
          </a:xfrm>
          <a:prstGeom prst="trapezoid">
            <a:avLst>
              <a:gd name="adj" fmla="val 79397"/>
            </a:avLst>
          </a:prstGeom>
          <a:gradFill>
            <a:gsLst>
              <a:gs pos="0">
                <a:srgbClr val="3368FF">
                  <a:alpha val="58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5" name="文本框 234"/>
          <p:cNvSpPr txBox="1"/>
          <p:nvPr/>
        </p:nvSpPr>
        <p:spPr>
          <a:xfrm>
            <a:off x="4021455" y="6301105"/>
            <a:ext cx="1266825" cy="33718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sz="1600" b="1" dirty="0">
                <a:solidFill>
                  <a:srgbClr val="FFFFFF"/>
                </a:solidFill>
                <a:latin typeface="微软雅黑"/>
                <a:ea typeface="微软雅黑"/>
                <a:cs typeface="微软雅黑"/>
              </a:rPr>
              <a:t>营销数字化</a:t>
            </a:r>
            <a:endParaRPr lang="zh-CN" sz="1600" b="1" dirty="0">
              <a:solidFill>
                <a:srgbClr val="FFFFFF"/>
              </a:solidFill>
              <a:latin typeface="微软雅黑"/>
              <a:ea typeface="微软雅黑"/>
              <a:cs typeface="微软雅黑"/>
            </a:endParaRPr>
          </a:p>
        </p:txBody>
      </p:sp>
      <p:sp>
        <p:nvSpPr>
          <p:cNvPr id="236" name="文本框 235"/>
          <p:cNvSpPr txBox="1"/>
          <p:nvPr/>
        </p:nvSpPr>
        <p:spPr>
          <a:xfrm>
            <a:off x="1335405" y="6301105"/>
            <a:ext cx="1266825" cy="33718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sz="1600" b="1" dirty="0">
                <a:solidFill>
                  <a:srgbClr val="FFFFFF"/>
                </a:solidFill>
                <a:latin typeface="微软雅黑"/>
                <a:ea typeface="微软雅黑"/>
                <a:cs typeface="微软雅黑"/>
              </a:rPr>
              <a:t>业务数字化</a:t>
            </a:r>
            <a:endParaRPr lang="zh-CN" sz="1600" b="1" dirty="0">
              <a:solidFill>
                <a:srgbClr val="FFFFFF"/>
              </a:solidFill>
              <a:latin typeface="微软雅黑"/>
              <a:ea typeface="微软雅黑"/>
              <a:cs typeface="微软雅黑"/>
            </a:endParaRPr>
          </a:p>
        </p:txBody>
      </p:sp>
      <p:sp>
        <p:nvSpPr>
          <p:cNvPr id="237" name="文本框 236"/>
          <p:cNvSpPr txBox="1"/>
          <p:nvPr/>
        </p:nvSpPr>
        <p:spPr>
          <a:xfrm>
            <a:off x="6707505" y="6301105"/>
            <a:ext cx="1266825" cy="33718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sz="1600" b="1" dirty="0">
                <a:solidFill>
                  <a:srgbClr val="FFFFFF"/>
                </a:solidFill>
                <a:latin typeface="微软雅黑"/>
                <a:ea typeface="微软雅黑"/>
                <a:cs typeface="微软雅黑"/>
              </a:rPr>
              <a:t>流程数字化</a:t>
            </a:r>
            <a:endParaRPr lang="zh-CN" sz="1600" b="1" dirty="0">
              <a:solidFill>
                <a:srgbClr val="FFFFFF"/>
              </a:solidFill>
              <a:latin typeface="微软雅黑"/>
              <a:ea typeface="微软雅黑"/>
              <a:cs typeface="微软雅黑"/>
            </a:endParaRPr>
          </a:p>
        </p:txBody>
      </p:sp>
      <p:sp>
        <p:nvSpPr>
          <p:cNvPr id="238" name="文本框 237"/>
          <p:cNvSpPr txBox="1"/>
          <p:nvPr/>
        </p:nvSpPr>
        <p:spPr>
          <a:xfrm>
            <a:off x="9393555" y="6301105"/>
            <a:ext cx="1867535" cy="33718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sz="1600" b="1" dirty="0">
                <a:solidFill>
                  <a:srgbClr val="FFFFFF"/>
                </a:solidFill>
                <a:latin typeface="微软雅黑"/>
                <a:ea typeface="微软雅黑"/>
                <a:cs typeface="微软雅黑"/>
              </a:rPr>
              <a:t>供应链数字化</a:t>
            </a:r>
            <a:endParaRPr lang="zh-CN" sz="1600" b="1" dirty="0">
              <a:solidFill>
                <a:srgbClr val="FFFFFF"/>
              </a:solidFill>
              <a:latin typeface="微软雅黑"/>
              <a:ea typeface="微软雅黑"/>
              <a:cs typeface="微软雅黑"/>
            </a:endParaRPr>
          </a:p>
        </p:txBody>
      </p:sp>
      <p:cxnSp>
        <p:nvCxnSpPr>
          <p:cNvPr id="239" name="直接连接符 238"/>
          <p:cNvCxnSpPr/>
          <p:nvPr/>
        </p:nvCxnSpPr>
        <p:spPr>
          <a:xfrm>
            <a:off x="3259455" y="6263640"/>
            <a:ext cx="0" cy="419100"/>
          </a:xfrm>
          <a:prstGeom prst="line">
            <a:avLst/>
          </a:prstGeom>
          <a:ln>
            <a:solidFill>
              <a:srgbClr val="FFFFFF"/>
            </a:solidFill>
          </a:ln>
        </p:spPr>
        <p:style>
          <a:lnRef idx="2">
            <a:srgbClr val="0042FF"/>
          </a:lnRef>
          <a:fillRef idx="0">
            <a:srgbClr val="FFFFFF"/>
          </a:fillRef>
          <a:effectRef idx="0">
            <a:srgbClr val="FFFFFF"/>
          </a:effectRef>
          <a:fontRef idx="minor">
            <a:srgbClr val="383838"/>
          </a:fontRef>
        </p:style>
      </p:cxnSp>
      <p:cxnSp>
        <p:nvCxnSpPr>
          <p:cNvPr id="240" name="直接连接符 239"/>
          <p:cNvCxnSpPr/>
          <p:nvPr/>
        </p:nvCxnSpPr>
        <p:spPr>
          <a:xfrm>
            <a:off x="6042660" y="6265545"/>
            <a:ext cx="0" cy="419100"/>
          </a:xfrm>
          <a:prstGeom prst="line">
            <a:avLst/>
          </a:prstGeom>
          <a:ln>
            <a:solidFill>
              <a:srgbClr val="FFFFFF"/>
            </a:solidFill>
          </a:ln>
        </p:spPr>
        <p:style>
          <a:lnRef idx="2">
            <a:srgbClr val="0042FF"/>
          </a:lnRef>
          <a:fillRef idx="0">
            <a:srgbClr val="FFFFFF"/>
          </a:fillRef>
          <a:effectRef idx="0">
            <a:srgbClr val="FFFFFF"/>
          </a:effectRef>
          <a:fontRef idx="minor">
            <a:srgbClr val="383838"/>
          </a:fontRef>
        </p:style>
      </p:cxnSp>
      <p:cxnSp>
        <p:nvCxnSpPr>
          <p:cNvPr id="241" name="直接连接符 240"/>
          <p:cNvCxnSpPr/>
          <p:nvPr/>
        </p:nvCxnSpPr>
        <p:spPr>
          <a:xfrm>
            <a:off x="8825865" y="6245225"/>
            <a:ext cx="0" cy="419100"/>
          </a:xfrm>
          <a:prstGeom prst="line">
            <a:avLst/>
          </a:prstGeom>
          <a:ln>
            <a:solidFill>
              <a:srgbClr val="FFFFFF"/>
            </a:solidFill>
          </a:ln>
        </p:spPr>
        <p:style>
          <a:lnRef idx="2">
            <a:srgbClr val="0042FF"/>
          </a:lnRef>
          <a:fillRef idx="0">
            <a:srgbClr val="FFFFFF"/>
          </a:fillRef>
          <a:effectRef idx="0">
            <a:srgbClr val="FFFFFF"/>
          </a:effectRef>
          <a:fontRef idx="minor">
            <a:srgbClr val="383838"/>
          </a:fontRef>
        </p:style>
      </p:cxnSp>
      <p:sp>
        <p:nvSpPr>
          <p:cNvPr id="253" name="不完整圆 235"/>
          <p:cNvSpPr/>
          <p:nvPr/>
        </p:nvSpPr>
        <p:spPr>
          <a:xfrm>
            <a:off x="3477260" y="3508375"/>
            <a:ext cx="5076190" cy="52070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22225" cap="flat" cmpd="sng" algn="ctr">
            <a:gradFill flip="none" rotWithShape="1">
              <a:gsLst>
                <a:gs pos="0">
                  <a:srgbClr val="3368FF">
                    <a:alpha val="0"/>
                  </a:srgbClr>
                </a:gs>
                <a:gs pos="100000">
                  <a:srgbClr val="3368FF"/>
                </a:gs>
              </a:gsLst>
              <a:lin ang="5400000" scaled="1"/>
              <a:tileRect/>
            </a:gra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200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grpSp>
        <p:nvGrpSpPr>
          <p:cNvPr id="271" name="组合 270"/>
          <p:cNvGrpSpPr/>
          <p:nvPr/>
        </p:nvGrpSpPr>
        <p:grpSpPr>
          <a:xfrm>
            <a:off x="3144520" y="1052195"/>
            <a:ext cx="1905000" cy="609600"/>
            <a:chOff x="5372" y="1497"/>
            <a:chExt cx="3000" cy="960"/>
          </a:xfrm>
          <a:solidFill>
            <a:srgbClr val="3368FF"/>
          </a:solidFill>
        </p:grpSpPr>
        <p:sp>
          <p:nvSpPr>
            <p:cNvPr id="269" name="矩形 268"/>
            <p:cNvSpPr/>
            <p:nvPr>
              <p:custDataLst>
                <p:tags r:id="rId3"/>
              </p:custDataLst>
            </p:nvPr>
          </p:nvSpPr>
          <p:spPr>
            <a:xfrm>
              <a:off x="5372" y="1497"/>
              <a:ext cx="3001" cy="961"/>
            </a:xfrm>
            <a:prstGeom prst="rect">
              <a:avLst/>
            </a:prstGeom>
            <a:grp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en-US" altLang="zh-CN" sz="1000" dirty="0">
                <a:solidFill>
                  <a:srgbClr val="FFFFFF"/>
                </a:solidFill>
                <a:latin typeface="微软雅黑"/>
                <a:ea typeface="微软雅黑"/>
                <a:cs typeface="微软雅黑"/>
                <a:sym typeface="微软雅黑"/>
              </a:endParaRPr>
            </a:p>
          </p:txBody>
        </p:sp>
        <p:sp>
          <p:nvSpPr>
            <p:cNvPr id="270" name="文本框 269"/>
            <p:cNvSpPr txBox="1"/>
            <p:nvPr/>
          </p:nvSpPr>
          <p:spPr>
            <a:xfrm>
              <a:off x="5664" y="1613"/>
              <a:ext cx="2485" cy="715"/>
            </a:xfrm>
            <a:prstGeom prst="rect">
              <a:avLst/>
            </a:prstGeom>
            <a:noFill/>
            <a:extLst>
              <a:ext uri="{909E8E84-426E-40DD-AFC4-6F175D3DCCD1}">
                <a14:hiddenFill xmlns:a14="http://schemas.microsoft.com/office/drawing/2010/main">
                  <a:grpFill/>
                </a14:hiddenFill>
              </a:ext>
            </a:extLst>
          </p:spPr>
          <p:txBody>
            <a:bodyPr wrap="square" lIns="0" tIns="0" rIns="0" bIns="0" rtlCol="0">
              <a:noAutofit/>
            </a:bodyPr>
            <a:lstStyle/>
            <a:p>
              <a:pPr algn="ctr">
                <a:lnSpc>
                  <a:spcPct val="120000"/>
                </a:lnSpc>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构建直销互动体系</a:t>
              </a:r>
              <a:endParaRPr lang="zh-CN" altLang="en-US" sz="120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服务车主会员精准营销</a:t>
              </a:r>
              <a:endParaRPr lang="zh-CN" altLang="en-US" sz="120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endParaRPr>
            </a:p>
          </p:txBody>
        </p:sp>
      </p:grpSp>
      <p:grpSp>
        <p:nvGrpSpPr>
          <p:cNvPr id="272" name="组合 271"/>
          <p:cNvGrpSpPr/>
          <p:nvPr/>
        </p:nvGrpSpPr>
        <p:grpSpPr>
          <a:xfrm>
            <a:off x="5238115" y="1052195"/>
            <a:ext cx="1905000" cy="609600"/>
            <a:chOff x="5372" y="1497"/>
            <a:chExt cx="3000" cy="960"/>
          </a:xfrm>
          <a:solidFill>
            <a:srgbClr val="668EFF"/>
          </a:solidFill>
        </p:grpSpPr>
        <p:sp>
          <p:nvSpPr>
            <p:cNvPr id="273" name="矩形 272"/>
            <p:cNvSpPr/>
            <p:nvPr>
              <p:custDataLst>
                <p:tags r:id="rId4"/>
              </p:custDataLst>
            </p:nvPr>
          </p:nvSpPr>
          <p:spPr>
            <a:xfrm>
              <a:off x="5372" y="1497"/>
              <a:ext cx="3001" cy="961"/>
            </a:xfrm>
            <a:prstGeom prst="rect">
              <a:avLst/>
            </a:prstGeom>
            <a:solidFill>
              <a:srgbClr val="3368FF"/>
            </a:soli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en-US" altLang="zh-CN" sz="1000" dirty="0">
                <a:solidFill>
                  <a:srgbClr val="FFFFFF"/>
                </a:solidFill>
                <a:latin typeface="微软雅黑"/>
                <a:ea typeface="微软雅黑"/>
                <a:cs typeface="微软雅黑"/>
                <a:sym typeface="微软雅黑"/>
              </a:endParaRPr>
            </a:p>
          </p:txBody>
        </p:sp>
        <p:sp>
          <p:nvSpPr>
            <p:cNvPr id="275" name="文本框 274"/>
            <p:cNvSpPr txBox="1"/>
            <p:nvPr/>
          </p:nvSpPr>
          <p:spPr>
            <a:xfrm>
              <a:off x="5664" y="1613"/>
              <a:ext cx="2485" cy="715"/>
            </a:xfrm>
            <a:prstGeom prst="rect">
              <a:avLst/>
            </a:prstGeom>
            <a:noFill/>
            <a:extLst>
              <a:ext uri="{909E8E84-426E-40DD-AFC4-6F175D3DCCD1}">
                <a14:hiddenFill xmlns:a14="http://schemas.microsoft.com/office/drawing/2010/main">
                  <a:grpFill/>
                </a14:hiddenFill>
              </a:ext>
            </a:extLst>
          </p:spPr>
          <p:txBody>
            <a:bodyPr wrap="square" lIns="0" tIns="0" rIns="0" bIns="0" rtlCol="0">
              <a:noAutofit/>
            </a:bodyPr>
            <a:lstStyle/>
            <a:p>
              <a:pPr algn="ctr">
                <a:lnSpc>
                  <a:spcPct val="120000"/>
                </a:lnSpc>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实现数字化平台管理</a:t>
              </a:r>
              <a:endParaRPr lang="zh-CN" altLang="en-US" sz="120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精细化运营提升效率</a:t>
              </a:r>
              <a:endParaRPr lang="zh-CN" altLang="en-US" sz="120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endParaRPr>
            </a:p>
          </p:txBody>
        </p:sp>
      </p:grpSp>
      <p:grpSp>
        <p:nvGrpSpPr>
          <p:cNvPr id="276" name="组合 275"/>
          <p:cNvGrpSpPr/>
          <p:nvPr/>
        </p:nvGrpSpPr>
        <p:grpSpPr>
          <a:xfrm>
            <a:off x="7331710" y="1052195"/>
            <a:ext cx="1905000" cy="609600"/>
            <a:chOff x="5372" y="1497"/>
            <a:chExt cx="3000" cy="960"/>
          </a:xfrm>
          <a:solidFill>
            <a:srgbClr val="668EFF"/>
          </a:solidFill>
        </p:grpSpPr>
        <p:sp>
          <p:nvSpPr>
            <p:cNvPr id="277" name="矩形 276"/>
            <p:cNvSpPr/>
            <p:nvPr>
              <p:custDataLst>
                <p:tags r:id="rId5"/>
              </p:custDataLst>
            </p:nvPr>
          </p:nvSpPr>
          <p:spPr>
            <a:xfrm>
              <a:off x="5372" y="1497"/>
              <a:ext cx="3001" cy="961"/>
            </a:xfrm>
            <a:prstGeom prst="rect">
              <a:avLst/>
            </a:prstGeom>
            <a:solidFill>
              <a:srgbClr val="3368FF"/>
            </a:soli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en-US" altLang="zh-CN" sz="1000" dirty="0">
                <a:solidFill>
                  <a:srgbClr val="FFFFFF"/>
                </a:solidFill>
                <a:latin typeface="微软雅黑"/>
                <a:ea typeface="微软雅黑"/>
                <a:cs typeface="微软雅黑"/>
                <a:sym typeface="微软雅黑"/>
              </a:endParaRPr>
            </a:p>
          </p:txBody>
        </p:sp>
        <p:sp>
          <p:nvSpPr>
            <p:cNvPr id="278" name="文本框 277"/>
            <p:cNvSpPr txBox="1"/>
            <p:nvPr/>
          </p:nvSpPr>
          <p:spPr>
            <a:xfrm>
              <a:off x="5664" y="1613"/>
              <a:ext cx="2485" cy="715"/>
            </a:xfrm>
            <a:prstGeom prst="rect">
              <a:avLst/>
            </a:prstGeom>
            <a:noFill/>
            <a:extLst>
              <a:ext uri="{909E8E84-426E-40DD-AFC4-6F175D3DCCD1}">
                <a14:hiddenFill xmlns:a14="http://schemas.microsoft.com/office/drawing/2010/main">
                  <a:grpFill/>
                </a14:hiddenFill>
              </a:ext>
            </a:extLst>
          </p:spPr>
          <p:txBody>
            <a:bodyPr wrap="square" lIns="0" tIns="0" rIns="0" bIns="0" rtlCol="0">
              <a:noAutofit/>
            </a:bodyPr>
            <a:lstStyle/>
            <a:p>
              <a:pPr algn="ctr">
                <a:lnSpc>
                  <a:spcPct val="120000"/>
                </a:lnSpc>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链接渠道</a:t>
              </a:r>
              <a:r>
                <a:rPr lang="en-US" altLang="zh-CN" sz="1200">
                  <a:solidFill>
                    <a:srgbClr val="FFFFFF"/>
                  </a:solidFill>
                  <a:latin typeface="微软雅黑"/>
                  <a:ea typeface="微软雅黑"/>
                  <a:cs typeface="微软雅黑"/>
                </a:rPr>
                <a:t>-</a:t>
              </a:r>
              <a:r>
                <a:rPr lang="zh-CN" altLang="en-US" sz="1200">
                  <a:solidFill>
                    <a:srgbClr val="FFFFFF"/>
                  </a:solidFill>
                  <a:latin typeface="微软雅黑"/>
                  <a:ea typeface="微软雅黑"/>
                  <a:cs typeface="微软雅黑"/>
                </a:rPr>
                <a:t>门店赋能</a:t>
              </a:r>
              <a:endParaRPr lang="zh-CN" altLang="en-US" sz="120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触达用户为门店引流</a:t>
              </a:r>
              <a:endParaRPr lang="zh-CN" altLang="en-US" sz="120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endParaRPr lang="zh-CN" altLang="en-US" sz="1200">
                <a:solidFill>
                  <a:srgbClr val="FFFFFF"/>
                </a:solidFill>
                <a:latin typeface="微软雅黑"/>
                <a:ea typeface="微软雅黑"/>
                <a:cs typeface="微软雅黑"/>
              </a:endParaRPr>
            </a:p>
          </p:txBody>
        </p:sp>
      </p:grpSp>
      <p:pic>
        <p:nvPicPr>
          <p:cNvPr id="4" name="图片 3" descr="屋顶资源管理"/>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55600" y="186055"/>
            <a:ext cx="549910" cy="549910"/>
          </a:xfrm>
          <a:prstGeom prst="rect">
            <a:avLst/>
          </a:prstGeom>
        </p:spPr>
      </p:pic>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8"/>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28" name="组合 27"/>
          <p:cNvGrpSpPr/>
          <p:nvPr/>
        </p:nvGrpSpPr>
        <p:grpSpPr>
          <a:xfrm>
            <a:off x="4591685" y="3776980"/>
            <a:ext cx="502285" cy="443230"/>
            <a:chOff x="7231" y="5948"/>
            <a:chExt cx="791" cy="698"/>
          </a:xfrm>
        </p:grpSpPr>
        <p:sp>
          <p:nvSpPr>
            <p:cNvPr id="260" name="椭圆 259"/>
            <p:cNvSpPr/>
            <p:nvPr>
              <p:custDataLst>
                <p:tags r:id="rId9"/>
              </p:custDataLst>
            </p:nvPr>
          </p:nvSpPr>
          <p:spPr>
            <a:xfrm flipH="1">
              <a:off x="7231" y="5948"/>
              <a:ext cx="699" cy="699"/>
            </a:xfrm>
            <a:prstGeom prst="ellipse">
              <a:avLst/>
            </a:prstGeom>
            <a:gradFill>
              <a:gsLst>
                <a:gs pos="0">
                  <a:srgbClr val="B3D4FE"/>
                </a:gs>
                <a:gs pos="100000">
                  <a:srgbClr val="3368FF"/>
                </a:gs>
              </a:gsLst>
              <a:lin ang="5400000" scaled="0"/>
            </a:gradFill>
            <a:ln w="38100">
              <a:noFill/>
            </a:ln>
            <a:effectLst>
              <a:outerShdw blurRad="411480" dist="123444" dir="5400000" sx="108000" sy="108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8" name="文本框 7"/>
            <p:cNvSpPr txBox="1"/>
            <p:nvPr/>
          </p:nvSpPr>
          <p:spPr>
            <a:xfrm>
              <a:off x="7350" y="6111"/>
              <a:ext cx="672" cy="348"/>
            </a:xfrm>
            <a:prstGeom prst="rect">
              <a:avLst/>
            </a:prstGeom>
            <a:noFill/>
            <a:extLst>
              <a:ext uri="{909E8E84-426E-40DD-AFC4-6F175D3DCCD1}">
                <a14:hiddenFill xmlns:a14="http://schemas.microsoft.com/office/drawing/2010/main">
                  <a:grpFill/>
                </a14:hiddenFill>
              </a:ext>
            </a:extLst>
          </p:spPr>
          <p:txBody>
            <a:bodyPr wrap="square" lIns="0" tIns="0" rIns="0" bIns="0" rtlCol="0">
              <a:spAutoFit/>
            </a:bodyPr>
            <a:lstStyle/>
            <a:p>
              <a:pPr lvl="0" algn="l">
                <a:lnSpc>
                  <a:spcPct val="120000"/>
                </a:lnSpc>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会员</a:t>
              </a:r>
              <a:endParaRPr lang="zh-CN" altLang="en-US" sz="1200" b="1">
                <a:solidFill>
                  <a:srgbClr val="383838"/>
                </a:solidFill>
                <a:latin typeface="微软雅黑"/>
                <a:ea typeface="微软雅黑"/>
                <a:cs typeface="微软雅黑"/>
                <a:sym typeface="微软雅黑"/>
              </a:endParaRPr>
            </a:p>
          </p:txBody>
        </p:sp>
      </p:grpSp>
      <p:grpSp>
        <p:nvGrpSpPr>
          <p:cNvPr id="26" name="组合 25"/>
          <p:cNvGrpSpPr/>
          <p:nvPr/>
        </p:nvGrpSpPr>
        <p:grpSpPr>
          <a:xfrm>
            <a:off x="3780155" y="3319780"/>
            <a:ext cx="502285" cy="443230"/>
            <a:chOff x="5953" y="5304"/>
            <a:chExt cx="791" cy="698"/>
          </a:xfrm>
        </p:grpSpPr>
        <p:sp>
          <p:nvSpPr>
            <p:cNvPr id="256" name="椭圆 255"/>
            <p:cNvSpPr/>
            <p:nvPr>
              <p:custDataLst>
                <p:tags r:id="rId10"/>
              </p:custDataLst>
            </p:nvPr>
          </p:nvSpPr>
          <p:spPr>
            <a:xfrm flipH="1">
              <a:off x="5953" y="5304"/>
              <a:ext cx="699" cy="699"/>
            </a:xfrm>
            <a:prstGeom prst="ellipse">
              <a:avLst/>
            </a:prstGeom>
            <a:gradFill>
              <a:gsLst>
                <a:gs pos="0">
                  <a:srgbClr val="B3D4FE"/>
                </a:gs>
                <a:gs pos="100000">
                  <a:srgbClr val="3368FF"/>
                </a:gs>
              </a:gsLst>
              <a:lin ang="5400000" scaled="0"/>
            </a:gradFill>
            <a:ln w="38100">
              <a:noFill/>
            </a:ln>
            <a:effectLst>
              <a:outerShdw blurRad="411480" dist="123444" dir="5400000" sx="108000" sy="108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9" name="文本框 8"/>
            <p:cNvSpPr txBox="1"/>
            <p:nvPr/>
          </p:nvSpPr>
          <p:spPr>
            <a:xfrm>
              <a:off x="6072" y="5467"/>
              <a:ext cx="672" cy="348"/>
            </a:xfrm>
            <a:prstGeom prst="rect">
              <a:avLst/>
            </a:prstGeom>
            <a:noFill/>
            <a:extLst>
              <a:ext uri="{909E8E84-426E-40DD-AFC4-6F175D3DCCD1}">
                <a14:hiddenFill xmlns:a14="http://schemas.microsoft.com/office/drawing/2010/main">
                  <a:grpFill/>
                </a14:hiddenFill>
              </a:ext>
            </a:extLst>
          </p:spPr>
          <p:txBody>
            <a:bodyPr wrap="square" lIns="0" tIns="0" rIns="0" bIns="0" rtlCol="0">
              <a:spAutoFit/>
            </a:bodyPr>
            <a:lstStyle/>
            <a:p>
              <a:pPr algn="l">
                <a:lnSpc>
                  <a:spcPct val="120000"/>
                </a:lnSpc>
                <a:defRPr>
                  <a:latin typeface="微软雅黑"/>
                  <a:ea typeface="微软雅黑"/>
                  <a:cs typeface="微软雅黑"/>
                </a:defRPr>
              </a:pPr>
              <a:r>
                <a:rPr lang="zh-CN" altLang="en-US" sz="1200" b="1">
                  <a:solidFill>
                    <a:srgbClr val="383838"/>
                  </a:solidFill>
                  <a:latin typeface="微软雅黑"/>
                  <a:ea typeface="微软雅黑"/>
                  <a:cs typeface="微软雅黑"/>
                </a:rPr>
                <a:t>商品</a:t>
              </a:r>
              <a:endParaRPr lang="zh-CN" altLang="en-US" sz="1200" b="1">
                <a:solidFill>
                  <a:srgbClr val="383838"/>
                </a:solidFill>
                <a:latin typeface="微软雅黑"/>
                <a:ea typeface="微软雅黑"/>
                <a:cs typeface="微软雅黑"/>
              </a:endParaRPr>
            </a:p>
          </p:txBody>
        </p:sp>
      </p:grpSp>
      <p:grpSp>
        <p:nvGrpSpPr>
          <p:cNvPr id="29" name="组合 28"/>
          <p:cNvGrpSpPr/>
          <p:nvPr/>
        </p:nvGrpSpPr>
        <p:grpSpPr>
          <a:xfrm>
            <a:off x="7183755" y="3776980"/>
            <a:ext cx="502285" cy="443230"/>
            <a:chOff x="10762" y="6003"/>
            <a:chExt cx="791" cy="698"/>
          </a:xfrm>
        </p:grpSpPr>
        <p:sp>
          <p:nvSpPr>
            <p:cNvPr id="263" name="椭圆 262"/>
            <p:cNvSpPr/>
            <p:nvPr>
              <p:custDataLst>
                <p:tags r:id="rId11"/>
              </p:custDataLst>
            </p:nvPr>
          </p:nvSpPr>
          <p:spPr>
            <a:xfrm flipH="1">
              <a:off x="10762" y="6003"/>
              <a:ext cx="699" cy="699"/>
            </a:xfrm>
            <a:prstGeom prst="ellipse">
              <a:avLst/>
            </a:prstGeom>
            <a:gradFill>
              <a:gsLst>
                <a:gs pos="0">
                  <a:srgbClr val="B3D4FE"/>
                </a:gs>
                <a:gs pos="100000">
                  <a:srgbClr val="3368FF"/>
                </a:gs>
              </a:gsLst>
              <a:lin ang="5400000" scaled="0"/>
            </a:gradFill>
            <a:ln w="38100">
              <a:noFill/>
            </a:ln>
            <a:effectLst>
              <a:outerShdw blurRad="411480" dist="123444" dir="5400000" sx="108000" sy="108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 name="文本框 9"/>
            <p:cNvSpPr txBox="1"/>
            <p:nvPr/>
          </p:nvSpPr>
          <p:spPr>
            <a:xfrm>
              <a:off x="10881" y="6166"/>
              <a:ext cx="672" cy="348"/>
            </a:xfrm>
            <a:prstGeom prst="rect">
              <a:avLst/>
            </a:prstGeom>
            <a:noFill/>
            <a:extLst>
              <a:ext uri="{909E8E84-426E-40DD-AFC4-6F175D3DCCD1}">
                <a14:hiddenFill xmlns:a14="http://schemas.microsoft.com/office/drawing/2010/main">
                  <a:grpFill/>
                </a14:hiddenFill>
              </a:ext>
            </a:extLst>
          </p:spPr>
          <p:txBody>
            <a:bodyPr wrap="square" lIns="0" tIns="0" rIns="0" bIns="0" rtlCol="0">
              <a:spAutoFit/>
            </a:bodyPr>
            <a:lstStyle/>
            <a:p>
              <a:pPr lvl="0" algn="l">
                <a:lnSpc>
                  <a:spcPct val="120000"/>
                </a:lnSpc>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营销</a:t>
              </a:r>
              <a:endParaRPr lang="zh-CN" altLang="en-US" sz="1200" b="1">
                <a:solidFill>
                  <a:srgbClr val="383838"/>
                </a:solidFill>
                <a:latin typeface="微软雅黑"/>
                <a:ea typeface="微软雅黑"/>
                <a:cs typeface="微软雅黑"/>
                <a:sym typeface="微软雅黑"/>
              </a:endParaRPr>
            </a:p>
          </p:txBody>
        </p:sp>
      </p:grpSp>
      <p:grpSp>
        <p:nvGrpSpPr>
          <p:cNvPr id="27" name="组合 26"/>
          <p:cNvGrpSpPr/>
          <p:nvPr/>
        </p:nvGrpSpPr>
        <p:grpSpPr>
          <a:xfrm>
            <a:off x="7671435" y="3319780"/>
            <a:ext cx="502285" cy="443230"/>
            <a:chOff x="12081" y="5228"/>
            <a:chExt cx="791" cy="698"/>
          </a:xfrm>
        </p:grpSpPr>
        <p:sp>
          <p:nvSpPr>
            <p:cNvPr id="266" name="椭圆 265"/>
            <p:cNvSpPr/>
            <p:nvPr>
              <p:custDataLst>
                <p:tags r:id="rId12"/>
              </p:custDataLst>
            </p:nvPr>
          </p:nvSpPr>
          <p:spPr>
            <a:xfrm flipH="1">
              <a:off x="12081" y="5228"/>
              <a:ext cx="699" cy="699"/>
            </a:xfrm>
            <a:prstGeom prst="ellipse">
              <a:avLst/>
            </a:prstGeom>
            <a:gradFill>
              <a:gsLst>
                <a:gs pos="0">
                  <a:srgbClr val="B3D4FE"/>
                </a:gs>
                <a:gs pos="100000">
                  <a:srgbClr val="3368FF"/>
                </a:gs>
              </a:gsLst>
              <a:lin ang="5400000" scaled="0"/>
            </a:gradFill>
            <a:ln w="38100">
              <a:noFill/>
            </a:ln>
            <a:effectLst>
              <a:outerShdw blurRad="411480" dist="123444" dir="5400000" sx="108000" sy="108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 name="文本框 10"/>
            <p:cNvSpPr txBox="1"/>
            <p:nvPr/>
          </p:nvSpPr>
          <p:spPr>
            <a:xfrm>
              <a:off x="12200" y="5391"/>
              <a:ext cx="672" cy="348"/>
            </a:xfrm>
            <a:prstGeom prst="rect">
              <a:avLst/>
            </a:prstGeom>
            <a:noFill/>
            <a:extLst>
              <a:ext uri="{909E8E84-426E-40DD-AFC4-6F175D3DCCD1}">
                <a14:hiddenFill xmlns:a14="http://schemas.microsoft.com/office/drawing/2010/main">
                  <a:grpFill/>
                </a14:hiddenFill>
              </a:ext>
            </a:extLst>
          </p:spPr>
          <p:txBody>
            <a:bodyPr wrap="square" lIns="0" tIns="0" rIns="0" bIns="0" rtlCol="0">
              <a:spAutoFit/>
            </a:bodyPr>
            <a:lstStyle/>
            <a:p>
              <a:pPr lvl="0" algn="l">
                <a:lnSpc>
                  <a:spcPct val="120000"/>
                </a:lnSpc>
                <a:buClrTx/>
                <a:buSzTx/>
                <a:buFontTx/>
                <a:defRPr>
                  <a:latin typeface="微软雅黑"/>
                  <a:ea typeface="微软雅黑"/>
                  <a:cs typeface="微软雅黑"/>
                </a:defRPr>
              </a:pPr>
              <a:r>
                <a:rPr lang="zh-CN" altLang="en-US" sz="1200" b="1">
                  <a:solidFill>
                    <a:srgbClr val="383838"/>
                  </a:solidFill>
                  <a:latin typeface="微软雅黑"/>
                  <a:ea typeface="微软雅黑"/>
                  <a:cs typeface="微软雅黑"/>
                  <a:sym typeface="微软雅黑"/>
                </a:rPr>
                <a:t>服务</a:t>
              </a:r>
              <a:endParaRPr lang="zh-CN" altLang="en-US" sz="1200" b="1">
                <a:solidFill>
                  <a:srgbClr val="383838"/>
                </a:solidFill>
                <a:latin typeface="微软雅黑"/>
                <a:ea typeface="微软雅黑"/>
                <a:cs typeface="微软雅黑"/>
                <a:sym typeface="微软雅黑"/>
              </a:endParaRPr>
            </a:p>
          </p:txBody>
        </p:sp>
      </p:grpSp>
      <p:sp>
        <p:nvSpPr>
          <p:cNvPr id="22" name="文本框 21"/>
          <p:cNvSpPr txBox="1"/>
          <p:nvPr/>
        </p:nvSpPr>
        <p:spPr>
          <a:xfrm rot="2216667">
            <a:off x="9580245" y="2371076"/>
            <a:ext cx="558165" cy="275590"/>
          </a:xfrm>
          <a:prstGeom prst="rect">
            <a:avLst/>
          </a:prstGeom>
          <a:noFill/>
        </p:spPr>
        <p:txBody>
          <a:bodyPr wrap="squar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销售</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 name="文本框 22"/>
          <p:cNvSpPr txBox="1"/>
          <p:nvPr/>
        </p:nvSpPr>
        <p:spPr>
          <a:xfrm rot="19214077">
            <a:off x="9676130" y="4745355"/>
            <a:ext cx="558165" cy="275590"/>
          </a:xfrm>
          <a:prstGeom prst="rect">
            <a:avLst/>
          </a:prstGeom>
          <a:noFill/>
        </p:spPr>
        <p:txBody>
          <a:bodyPr wrap="squar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营销</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 name="文本框 23"/>
          <p:cNvSpPr txBox="1"/>
          <p:nvPr/>
        </p:nvSpPr>
        <p:spPr>
          <a:xfrm rot="19016668">
            <a:off x="1637665" y="2384425"/>
            <a:ext cx="558165" cy="275590"/>
          </a:xfrm>
          <a:prstGeom prst="rect">
            <a:avLst/>
          </a:prstGeom>
          <a:noFill/>
        </p:spPr>
        <p:txBody>
          <a:bodyPr wrap="squar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销售</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0" name="文本框 29"/>
          <p:cNvSpPr txBox="1"/>
          <p:nvPr/>
        </p:nvSpPr>
        <p:spPr>
          <a:xfrm>
            <a:off x="4910270" y="3396405"/>
            <a:ext cx="2500735" cy="398780"/>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sz="6000">
                <a:effectLst>
                  <a:reflection blurRad="76200" stA="48000" endPos="45500" dir="5400000" sy="-100000" algn="bl" rotWithShape="0"/>
                </a:effectLst>
                <a:latin typeface="微软雅黑"/>
                <a:ea typeface="微软雅黑"/>
                <a:cs typeface="微软雅黑"/>
              </a:defRPr>
            </a:lvl1pPr>
          </a:lstStyle>
          <a:p>
            <a:pPr>
              <a:defRPr>
                <a:latin typeface="微软雅黑"/>
                <a:ea typeface="微软雅黑"/>
                <a:cs typeface="微软雅黑"/>
              </a:defRPr>
            </a:pPr>
            <a:r>
              <a:rPr lang="zh-CN" altLang="en-US" sz="2000" b="1" dirty="0">
                <a:gradFill>
                  <a:gsLst>
                    <a:gs pos="0">
                      <a:srgbClr val="0042FF"/>
                    </a:gs>
                    <a:gs pos="100000">
                      <a:srgbClr val="0042FF"/>
                    </a:gs>
                  </a:gsLst>
                  <a:lin ang="5400000" scaled="0"/>
                </a:gradFill>
                <a:latin typeface="微软雅黑"/>
                <a:ea typeface="微软雅黑"/>
                <a:cs typeface="微软雅黑"/>
              </a:rPr>
              <a:t>全链路平台</a:t>
            </a:r>
            <a:endParaRPr lang="zh-CN" altLang="en-US" sz="2000" b="1" dirty="0">
              <a:gradFill>
                <a:gsLst>
                  <a:gs pos="0">
                    <a:srgbClr val="0042FF"/>
                  </a:gs>
                  <a:gs pos="100000">
                    <a:srgbClr val="0042FF"/>
                  </a:gs>
                </a:gsLst>
                <a:lin ang="5400000" scaled="0"/>
              </a:gradFill>
              <a:latin typeface="微软雅黑"/>
              <a:ea typeface="微软雅黑"/>
              <a:cs typeface="微软雅黑"/>
            </a:endParaRPr>
          </a:p>
        </p:txBody>
      </p:sp>
      <p:cxnSp>
        <p:nvCxnSpPr>
          <p:cNvPr id="1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任意多边形: 形状 4"/>
          <p:cNvSpPr/>
          <p:nvPr/>
        </p:nvSpPr>
        <p:spPr>
          <a:xfrm flipH="1" flipV="1">
            <a:off x="2651760" y="3067685"/>
            <a:ext cx="6729095" cy="1041400"/>
          </a:xfrm>
          <a:custGeom>
            <a:avLst/>
            <a:gdLst>
              <a:gd name="connsiteX0" fmla="*/ 5244132 w 5244132"/>
              <a:gd name="connsiteY0" fmla="*/ 2423246 h 2423246"/>
              <a:gd name="connsiteX1" fmla="*/ 2748385 w 5244132"/>
              <a:gd name="connsiteY1" fmla="*/ 2423246 h 2423246"/>
              <a:gd name="connsiteX2" fmla="*/ 2495747 w 5244132"/>
              <a:gd name="connsiteY2" fmla="*/ 2423246 h 2423246"/>
              <a:gd name="connsiteX3" fmla="*/ 0 w 5244132"/>
              <a:gd name="connsiteY3" fmla="*/ 2423246 h 2423246"/>
              <a:gd name="connsiteX4" fmla="*/ 599123 w 5244132"/>
              <a:gd name="connsiteY4" fmla="*/ 1264229 h 2423246"/>
              <a:gd name="connsiteX5" fmla="*/ 1013716 w 5244132"/>
              <a:gd name="connsiteY5" fmla="*/ 0 h 2423246"/>
              <a:gd name="connsiteX6" fmla="*/ 2490416 w 5244132"/>
              <a:gd name="connsiteY6" fmla="*/ 0 h 2423246"/>
              <a:gd name="connsiteX7" fmla="*/ 2753716 w 5244132"/>
              <a:gd name="connsiteY7" fmla="*/ 0 h 2423246"/>
              <a:gd name="connsiteX8" fmla="*/ 4230416 w 5244132"/>
              <a:gd name="connsiteY8" fmla="*/ 0 h 2423246"/>
              <a:gd name="connsiteX9" fmla="*/ 4645009 w 5244132"/>
              <a:gd name="connsiteY9" fmla="*/ 1264229 h 2423246"/>
              <a:gd name="connsiteX10" fmla="*/ 5244132 w 5244132"/>
              <a:gd name="connsiteY10" fmla="*/ 2423246 h 242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4132" h="2423246">
                <a:moveTo>
                  <a:pt x="5244132" y="2423246"/>
                </a:moveTo>
                <a:lnTo>
                  <a:pt x="2748385" y="2423246"/>
                </a:lnTo>
                <a:lnTo>
                  <a:pt x="2495747" y="2423246"/>
                </a:lnTo>
                <a:lnTo>
                  <a:pt x="0" y="2423246"/>
                </a:lnTo>
                <a:cubicBezTo>
                  <a:pt x="240348" y="2062307"/>
                  <a:pt x="282575" y="2031568"/>
                  <a:pt x="599123" y="1264229"/>
                </a:cubicBezTo>
                <a:cubicBezTo>
                  <a:pt x="854161" y="609139"/>
                  <a:pt x="875518" y="421410"/>
                  <a:pt x="1013716" y="0"/>
                </a:cubicBezTo>
                <a:lnTo>
                  <a:pt x="2490416" y="0"/>
                </a:lnTo>
                <a:lnTo>
                  <a:pt x="2753716" y="0"/>
                </a:lnTo>
                <a:lnTo>
                  <a:pt x="4230416" y="0"/>
                </a:lnTo>
                <a:cubicBezTo>
                  <a:pt x="4368614" y="421410"/>
                  <a:pt x="4389971" y="609139"/>
                  <a:pt x="4645009" y="1264229"/>
                </a:cubicBezTo>
                <a:cubicBezTo>
                  <a:pt x="4961557" y="2031568"/>
                  <a:pt x="5003784" y="2062307"/>
                  <a:pt x="5244132" y="2423246"/>
                </a:cubicBezTo>
                <a:close/>
              </a:path>
            </a:pathLst>
          </a:custGeom>
          <a:gradFill>
            <a:gsLst>
              <a:gs pos="0">
                <a:srgbClr val="3368FF">
                  <a:alpha val="0"/>
                </a:srgbClr>
              </a:gs>
              <a:gs pos="32000">
                <a:srgbClr val="3368FF">
                  <a:alpha val="9000"/>
                </a:srgbClr>
              </a:gs>
              <a:gs pos="73000">
                <a:srgbClr val="3368FF">
                  <a:alpha val="9000"/>
                </a:srgbClr>
              </a:gs>
              <a:gs pos="100000">
                <a:srgbClr val="3368FF">
                  <a:alpha val="0"/>
                </a:srgbClr>
              </a:gs>
            </a:gsLst>
            <a:lin ang="5400000" scaled="1"/>
          </a:gradFill>
          <a:ln>
            <a:gradFill>
              <a:gsLst>
                <a:gs pos="5000">
                  <a:srgbClr val="3368FF">
                    <a:alpha val="0"/>
                  </a:srgbClr>
                </a:gs>
                <a:gs pos="39000">
                  <a:srgbClr val="3368FF">
                    <a:alpha val="69000"/>
                  </a:srgbClr>
                </a:gs>
                <a:gs pos="69000">
                  <a:srgbClr val="3368FF">
                    <a:alpha val="69000"/>
                  </a:srgbClr>
                </a:gs>
                <a:gs pos="97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105" name="任意多边形: 形状 4"/>
          <p:cNvSpPr/>
          <p:nvPr/>
        </p:nvSpPr>
        <p:spPr>
          <a:xfrm flipH="1" flipV="1">
            <a:off x="4592320" y="4518025"/>
            <a:ext cx="3096260" cy="969645"/>
          </a:xfrm>
          <a:custGeom>
            <a:avLst/>
            <a:gdLst>
              <a:gd name="connsiteX0" fmla="*/ 5244132 w 5244132"/>
              <a:gd name="connsiteY0" fmla="*/ 2423246 h 2423246"/>
              <a:gd name="connsiteX1" fmla="*/ 2748385 w 5244132"/>
              <a:gd name="connsiteY1" fmla="*/ 2423246 h 2423246"/>
              <a:gd name="connsiteX2" fmla="*/ 2495747 w 5244132"/>
              <a:gd name="connsiteY2" fmla="*/ 2423246 h 2423246"/>
              <a:gd name="connsiteX3" fmla="*/ 0 w 5244132"/>
              <a:gd name="connsiteY3" fmla="*/ 2423246 h 2423246"/>
              <a:gd name="connsiteX4" fmla="*/ 599123 w 5244132"/>
              <a:gd name="connsiteY4" fmla="*/ 1264229 h 2423246"/>
              <a:gd name="connsiteX5" fmla="*/ 1013716 w 5244132"/>
              <a:gd name="connsiteY5" fmla="*/ 0 h 2423246"/>
              <a:gd name="connsiteX6" fmla="*/ 2490416 w 5244132"/>
              <a:gd name="connsiteY6" fmla="*/ 0 h 2423246"/>
              <a:gd name="connsiteX7" fmla="*/ 2753716 w 5244132"/>
              <a:gd name="connsiteY7" fmla="*/ 0 h 2423246"/>
              <a:gd name="connsiteX8" fmla="*/ 4230416 w 5244132"/>
              <a:gd name="connsiteY8" fmla="*/ 0 h 2423246"/>
              <a:gd name="connsiteX9" fmla="*/ 4645009 w 5244132"/>
              <a:gd name="connsiteY9" fmla="*/ 1264229 h 2423246"/>
              <a:gd name="connsiteX10" fmla="*/ 5244132 w 5244132"/>
              <a:gd name="connsiteY10" fmla="*/ 2423246 h 242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4132" h="2423246">
                <a:moveTo>
                  <a:pt x="5244132" y="2423246"/>
                </a:moveTo>
                <a:lnTo>
                  <a:pt x="2748385" y="2423246"/>
                </a:lnTo>
                <a:lnTo>
                  <a:pt x="2495747" y="2423246"/>
                </a:lnTo>
                <a:lnTo>
                  <a:pt x="0" y="2423246"/>
                </a:lnTo>
                <a:cubicBezTo>
                  <a:pt x="240348" y="2062307"/>
                  <a:pt x="282575" y="2031568"/>
                  <a:pt x="599123" y="1264229"/>
                </a:cubicBezTo>
                <a:cubicBezTo>
                  <a:pt x="854161" y="609139"/>
                  <a:pt x="875518" y="421410"/>
                  <a:pt x="1013716" y="0"/>
                </a:cubicBezTo>
                <a:lnTo>
                  <a:pt x="2490416" y="0"/>
                </a:lnTo>
                <a:lnTo>
                  <a:pt x="2753716" y="0"/>
                </a:lnTo>
                <a:lnTo>
                  <a:pt x="4230416" y="0"/>
                </a:lnTo>
                <a:cubicBezTo>
                  <a:pt x="4368614" y="421410"/>
                  <a:pt x="4389971" y="609139"/>
                  <a:pt x="4645009" y="1264229"/>
                </a:cubicBezTo>
                <a:cubicBezTo>
                  <a:pt x="4961557" y="2031568"/>
                  <a:pt x="5003784" y="2062307"/>
                  <a:pt x="5244132" y="2423246"/>
                </a:cubicBezTo>
                <a:close/>
              </a:path>
            </a:pathLst>
          </a:custGeom>
          <a:gradFill>
            <a:gsLst>
              <a:gs pos="0">
                <a:srgbClr val="3368FF">
                  <a:alpha val="0"/>
                </a:srgbClr>
              </a:gs>
              <a:gs pos="32000">
                <a:srgbClr val="3368FF">
                  <a:alpha val="9000"/>
                </a:srgbClr>
              </a:gs>
              <a:gs pos="73000">
                <a:srgbClr val="3368FF">
                  <a:alpha val="9000"/>
                </a:srgbClr>
              </a:gs>
              <a:gs pos="100000">
                <a:srgbClr val="3368FF">
                  <a:alpha val="0"/>
                </a:srgbClr>
              </a:gs>
            </a:gsLst>
            <a:lin ang="5400000" scaled="1"/>
          </a:gradFill>
          <a:ln>
            <a:gradFill>
              <a:gsLst>
                <a:gs pos="5000">
                  <a:srgbClr val="3368FF">
                    <a:alpha val="0"/>
                  </a:srgbClr>
                </a:gs>
                <a:gs pos="39000">
                  <a:srgbClr val="3368FF">
                    <a:alpha val="69000"/>
                  </a:srgbClr>
                </a:gs>
                <a:gs pos="69000">
                  <a:srgbClr val="3368FF">
                    <a:alpha val="69000"/>
                  </a:srgbClr>
                </a:gs>
                <a:gs pos="97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城市数字底座场景建设</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04" name="椭圆 103"/>
          <p:cNvSpPr/>
          <p:nvPr/>
        </p:nvSpPr>
        <p:spPr>
          <a:xfrm>
            <a:off x="1890395" y="1986280"/>
            <a:ext cx="8509635" cy="1498600"/>
          </a:xfrm>
          <a:prstGeom prst="ellipse">
            <a:avLst/>
          </a:prstGeom>
          <a:noFill/>
          <a:ln w="25400">
            <a:gradFill>
              <a:gsLst>
                <a:gs pos="8000">
                  <a:srgbClr val="0042FF">
                    <a:alpha val="0"/>
                  </a:srgbClr>
                </a:gs>
                <a:gs pos="100000">
                  <a:srgbClr val="0042FF"/>
                </a:gs>
              </a:gsLst>
              <a:lin ang="5400000" scaled="1"/>
            </a:grad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dirty="0">
              <a:cs typeface="微软雅黑"/>
              <a:latin typeface="微软雅黑"/>
              <a:ea typeface="微软雅黑"/>
            </a:endParaRPr>
          </a:p>
        </p:txBody>
      </p:sp>
      <p:sp>
        <p:nvSpPr>
          <p:cNvPr id="2" name="椭圆 1"/>
          <p:cNvSpPr/>
          <p:nvPr/>
        </p:nvSpPr>
        <p:spPr>
          <a:xfrm>
            <a:off x="3021965" y="2034540"/>
            <a:ext cx="6118225" cy="823595"/>
          </a:xfrm>
          <a:prstGeom prst="ellipse">
            <a:avLst/>
          </a:prstGeom>
          <a:noFill/>
          <a:ln w="25400">
            <a:gradFill>
              <a:gsLst>
                <a:gs pos="13000">
                  <a:srgbClr val="3368FF">
                    <a:alpha val="0"/>
                  </a:srgbClr>
                </a:gs>
                <a:gs pos="100000">
                  <a:srgbClr val="3368FF"/>
                </a:gs>
              </a:gsLst>
              <a:lin ang="5400000" scaled="1"/>
            </a:grad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dirty="0">
              <a:cs typeface="微软雅黑"/>
              <a:latin typeface="微软雅黑"/>
              <a:ea typeface="微软雅黑"/>
            </a:endParaRPr>
          </a:p>
        </p:txBody>
      </p:sp>
      <p:sp>
        <p:nvSpPr>
          <p:cNvPr id="109" name="椭圆 108"/>
          <p:cNvSpPr/>
          <p:nvPr/>
        </p:nvSpPr>
        <p:spPr>
          <a:xfrm>
            <a:off x="4041775" y="3185795"/>
            <a:ext cx="4077335" cy="1213485"/>
          </a:xfrm>
          <a:prstGeom prst="ellipse">
            <a:avLst/>
          </a:prstGeom>
          <a:gradFill>
            <a:gsLst>
              <a:gs pos="28000">
                <a:srgbClr val="3368FF">
                  <a:alpha val="0"/>
                </a:srgbClr>
              </a:gs>
              <a:gs pos="100000">
                <a:srgbClr val="3368FF">
                  <a:alpha val="23000"/>
                </a:srgbClr>
              </a:gs>
            </a:gsLst>
            <a:lin ang="5400000" scaled="1"/>
          </a:gradFill>
          <a:ln>
            <a:no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10" name="椭圆 109"/>
          <p:cNvSpPr/>
          <p:nvPr/>
        </p:nvSpPr>
        <p:spPr>
          <a:xfrm>
            <a:off x="4375150" y="3122295"/>
            <a:ext cx="3419475" cy="1012190"/>
          </a:xfrm>
          <a:prstGeom prst="ellipse">
            <a:avLst/>
          </a:prstGeom>
          <a:gradFill>
            <a:gsLst>
              <a:gs pos="28000">
                <a:srgbClr val="3368FF">
                  <a:alpha val="0"/>
                </a:srgbClr>
              </a:gs>
              <a:gs pos="100000">
                <a:srgbClr val="3368FF">
                  <a:alpha val="24000"/>
                </a:srgbClr>
              </a:gs>
            </a:gsLst>
            <a:lin ang="5400000" scaled="1"/>
          </a:gradFill>
          <a:ln>
            <a:no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 name="椭圆 3"/>
          <p:cNvSpPr/>
          <p:nvPr/>
        </p:nvSpPr>
        <p:spPr>
          <a:xfrm>
            <a:off x="4759325" y="4262120"/>
            <a:ext cx="2792095" cy="511175"/>
          </a:xfrm>
          <a:prstGeom prst="ellipse">
            <a:avLst/>
          </a:prstGeom>
          <a:noFill/>
          <a:ln w="25400">
            <a:gradFill>
              <a:gsLst>
                <a:gs pos="41000">
                  <a:srgbClr val="3368FF"/>
                </a:gs>
                <a:gs pos="92000">
                  <a:srgbClr val="3368FF">
                    <a:alpha val="0"/>
                  </a:srgbClr>
                </a:gs>
                <a:gs pos="5000">
                  <a:srgbClr val="3368FF">
                    <a:alpha val="0"/>
                  </a:srgbClr>
                </a:gs>
                <a:gs pos="70000">
                  <a:srgbClr val="3368FF"/>
                </a:gs>
              </a:gsLst>
              <a:lin ang="5400000" scaled="1"/>
            </a:gradFill>
          </a:ln>
          <a:scene3d>
            <a:camera prst="orthographicFront">
              <a:rot lat="12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dirty="0">
              <a:cs typeface="微软雅黑"/>
              <a:latin typeface="微软雅黑"/>
              <a:ea typeface="微软雅黑"/>
            </a:endParaRPr>
          </a:p>
        </p:txBody>
      </p:sp>
      <p:sp>
        <p:nvSpPr>
          <p:cNvPr id="6" name="椭圆 5"/>
          <p:cNvSpPr/>
          <p:nvPr/>
        </p:nvSpPr>
        <p:spPr>
          <a:xfrm>
            <a:off x="4592320" y="4899660"/>
            <a:ext cx="3096260" cy="915670"/>
          </a:xfrm>
          <a:prstGeom prst="ellipse">
            <a:avLst/>
          </a:prstGeom>
          <a:gradFill>
            <a:gsLst>
              <a:gs pos="0">
                <a:srgbClr val="3368FF">
                  <a:alpha val="0"/>
                </a:srgbClr>
              </a:gs>
              <a:gs pos="100000">
                <a:srgbClr val="3368FF">
                  <a:alpha val="40000"/>
                </a:srgbClr>
              </a:gs>
            </a:gsLst>
            <a:lin ang="5400000" scaled="1"/>
          </a:gradFill>
          <a:ln>
            <a:no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4" name="任意多边形: 形状 33"/>
          <p:cNvSpPr/>
          <p:nvPr/>
        </p:nvSpPr>
        <p:spPr>
          <a:xfrm>
            <a:off x="4074160" y="5643880"/>
            <a:ext cx="4251325" cy="859790"/>
          </a:xfrm>
          <a:custGeom>
            <a:avLst/>
            <a:gdLst>
              <a:gd name="connsiteX0" fmla="*/ 1429941 w 2859880"/>
              <a:gd name="connsiteY0" fmla="*/ 0 h 578502"/>
              <a:gd name="connsiteX1" fmla="*/ 2852499 w 2859880"/>
              <a:gd name="connsiteY1" fmla="*/ 259677 h 578502"/>
              <a:gd name="connsiteX2" fmla="*/ 2859880 w 2859880"/>
              <a:gd name="connsiteY2" fmla="*/ 289243 h 578502"/>
              <a:gd name="connsiteX3" fmla="*/ 2859880 w 2859880"/>
              <a:gd name="connsiteY3" fmla="*/ 289259 h 578502"/>
              <a:gd name="connsiteX4" fmla="*/ 2852499 w 2859880"/>
              <a:gd name="connsiteY4" fmla="*/ 318825 h 578502"/>
              <a:gd name="connsiteX5" fmla="*/ 1429941 w 2859880"/>
              <a:gd name="connsiteY5" fmla="*/ 578502 h 578502"/>
              <a:gd name="connsiteX6" fmla="*/ 0 w 2859880"/>
              <a:gd name="connsiteY6" fmla="*/ 289251 h 578502"/>
              <a:gd name="connsiteX7" fmla="*/ 1429941 w 2859880"/>
              <a:gd name="connsiteY7" fmla="*/ 0 h 57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9880" h="578502">
                <a:moveTo>
                  <a:pt x="1429941" y="0"/>
                </a:moveTo>
                <a:cubicBezTo>
                  <a:pt x="2170318" y="0"/>
                  <a:pt x="2779272" y="113820"/>
                  <a:pt x="2852499" y="259677"/>
                </a:cubicBezTo>
                <a:lnTo>
                  <a:pt x="2859880" y="289243"/>
                </a:lnTo>
                <a:lnTo>
                  <a:pt x="2859880" y="289259"/>
                </a:lnTo>
                <a:lnTo>
                  <a:pt x="2852499" y="318825"/>
                </a:lnTo>
                <a:cubicBezTo>
                  <a:pt x="2779272" y="464682"/>
                  <a:pt x="2170318" y="578502"/>
                  <a:pt x="1429941" y="578502"/>
                </a:cubicBezTo>
                <a:cubicBezTo>
                  <a:pt x="640206" y="578502"/>
                  <a:pt x="0" y="449000"/>
                  <a:pt x="0" y="289251"/>
                </a:cubicBezTo>
                <a:cubicBezTo>
                  <a:pt x="0" y="129502"/>
                  <a:pt x="640206" y="0"/>
                  <a:pt x="1429941" y="0"/>
                </a:cubicBezTo>
                <a:close/>
              </a:path>
            </a:pathLst>
          </a:custGeom>
          <a:gradFill>
            <a:gsLst>
              <a:gs pos="0">
                <a:srgbClr val="0042FF">
                  <a:alpha val="0"/>
                </a:srgbClr>
              </a:gs>
              <a:gs pos="100000">
                <a:srgbClr val="0042FF">
                  <a:alpha val="20000"/>
                </a:srgbClr>
              </a:gs>
            </a:gsLst>
            <a:lin ang="5400000" scaled="1"/>
          </a:gradFill>
          <a:ln w="6350" cap="flat" cmpd="sng" algn="ctr">
            <a:solidFill>
              <a:srgbClr val="0042FF">
                <a:alpha val="50000"/>
              </a:srgbClr>
            </a:solidFill>
            <a:prstDash val="solid"/>
            <a:miter lim="800000"/>
          </a:ln>
          <a:effectLst/>
        </p:spPr>
        <p:txBody>
          <a:bodyPr wrap="square" rtlCol="0" anchor="ctr" lIns="0" rIns="0" tIns="0" bIns="0">
            <a:noAutofit/>
          </a:bodyPr>
          <a:p>
            <a:pPr algn="ctr" defTabSz="1920240">
              <a:defRPr>
                <a:latin typeface="微软雅黑"/>
                <a:ea typeface="微软雅黑"/>
                <a:cs typeface="微软雅黑"/>
              </a:defRPr>
            </a:pPr>
            <a:endParaRPr lang="zh-CN" altLang="en-US" sz="3780" kern="0">
              <a:solidFill>
                <a:prstClr val="white"/>
              </a:solidFill>
              <a:latin typeface="微软雅黑"/>
              <a:ea typeface="微软雅黑"/>
              <a:cs typeface="微软雅黑"/>
            </a:endParaRPr>
          </a:p>
        </p:txBody>
      </p:sp>
      <p:sp>
        <p:nvSpPr>
          <p:cNvPr id="35" name="任意多边形: 形状 34"/>
          <p:cNvSpPr/>
          <p:nvPr/>
        </p:nvSpPr>
        <p:spPr>
          <a:xfrm>
            <a:off x="4074160" y="6075045"/>
            <a:ext cx="4244975" cy="535940"/>
          </a:xfrm>
          <a:custGeom>
            <a:avLst/>
            <a:gdLst>
              <a:gd name="connsiteX0" fmla="*/ 1 w 2859882"/>
              <a:gd name="connsiteY0" fmla="*/ 0 h 361156"/>
              <a:gd name="connsiteX1" fmla="*/ 1429942 w 2859882"/>
              <a:gd name="connsiteY1" fmla="*/ 289251 h 361156"/>
              <a:gd name="connsiteX2" fmla="*/ 2852500 w 2859882"/>
              <a:gd name="connsiteY2" fmla="*/ 29574 h 361156"/>
              <a:gd name="connsiteX3" fmla="*/ 2859881 w 2859882"/>
              <a:gd name="connsiteY3" fmla="*/ 8 h 361156"/>
              <a:gd name="connsiteX4" fmla="*/ 2859881 w 2859882"/>
              <a:gd name="connsiteY4" fmla="*/ 69524 h 361156"/>
              <a:gd name="connsiteX5" fmla="*/ 2859288 w 2859882"/>
              <a:gd name="connsiteY5" fmla="*/ 69524 h 361156"/>
              <a:gd name="connsiteX6" fmla="*/ 2859882 w 2859882"/>
              <a:gd name="connsiteY6" fmla="*/ 71905 h 361156"/>
              <a:gd name="connsiteX7" fmla="*/ 1429941 w 2859882"/>
              <a:gd name="connsiteY7" fmla="*/ 361156 h 361156"/>
              <a:gd name="connsiteX8" fmla="*/ 0 w 2859882"/>
              <a:gd name="connsiteY8" fmla="*/ 71905 h 361156"/>
              <a:gd name="connsiteX9" fmla="*/ 595 w 2859882"/>
              <a:gd name="connsiteY9" fmla="*/ 69524 h 361156"/>
              <a:gd name="connsiteX10" fmla="*/ 1 w 2859882"/>
              <a:gd name="connsiteY10" fmla="*/ 69524 h 361156"/>
              <a:gd name="connsiteX11" fmla="*/ 1 w 2859882"/>
              <a:gd name="connsiteY11" fmla="*/ 0 h 3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9882" h="361156">
                <a:moveTo>
                  <a:pt x="1" y="0"/>
                </a:moveTo>
                <a:cubicBezTo>
                  <a:pt x="1" y="159749"/>
                  <a:pt x="640207" y="289251"/>
                  <a:pt x="1429942" y="289251"/>
                </a:cubicBezTo>
                <a:cubicBezTo>
                  <a:pt x="2170319" y="289251"/>
                  <a:pt x="2779273" y="175431"/>
                  <a:pt x="2852500" y="29574"/>
                </a:cubicBezTo>
                <a:lnTo>
                  <a:pt x="2859881" y="8"/>
                </a:lnTo>
                <a:lnTo>
                  <a:pt x="2859881" y="69524"/>
                </a:lnTo>
                <a:lnTo>
                  <a:pt x="2859288" y="69524"/>
                </a:lnTo>
                <a:lnTo>
                  <a:pt x="2859882" y="71905"/>
                </a:lnTo>
                <a:cubicBezTo>
                  <a:pt x="2859882" y="231654"/>
                  <a:pt x="2219676" y="361156"/>
                  <a:pt x="1429941" y="361156"/>
                </a:cubicBezTo>
                <a:cubicBezTo>
                  <a:pt x="640206" y="361156"/>
                  <a:pt x="0" y="231654"/>
                  <a:pt x="0" y="71905"/>
                </a:cubicBezTo>
                <a:lnTo>
                  <a:pt x="595" y="69524"/>
                </a:lnTo>
                <a:lnTo>
                  <a:pt x="1" y="69524"/>
                </a:lnTo>
                <a:lnTo>
                  <a:pt x="1" y="0"/>
                </a:lnTo>
                <a:close/>
              </a:path>
            </a:pathLst>
          </a:custGeom>
          <a:solidFill>
            <a:srgbClr val="0042FF"/>
          </a:solidFill>
          <a:ln w="6350" cap="flat" cmpd="sng" algn="ctr">
            <a:gradFill flip="none" rotWithShape="1">
              <a:gsLst>
                <a:gs pos="0">
                  <a:srgbClr val="0042FF">
                    <a:alpha val="0"/>
                  </a:srgbClr>
                </a:gs>
                <a:gs pos="100000">
                  <a:srgbClr val="0042FF"/>
                </a:gs>
              </a:gsLst>
              <a:lin ang="5400000" scaled="1"/>
              <a:tileRect/>
            </a:gradFill>
            <a:prstDash val="solid"/>
            <a:miter lim="800000"/>
          </a:ln>
          <a:effectLst/>
        </p:spPr>
        <p:txBody>
          <a:bodyPr wrap="square" rtlCol="0" anchor="ctr" lIns="0" rIns="0" tIns="0" bIns="0">
            <a:noAutofit/>
          </a:bodyPr>
          <a:p>
            <a:pPr algn="ctr" defTabSz="1920240">
              <a:defRPr>
                <a:solidFill>
                  <a:srgbClr val="383838"/>
                </a:solidFill>
                <a:latin typeface="微软雅黑"/>
                <a:ea typeface="微软雅黑"/>
                <a:cs typeface="微软雅黑"/>
              </a:defRPr>
            </a:pPr>
            <a:endParaRPr lang="zh-CN" altLang="en-US" sz="3780" kern="0" dirty="0">
              <a:solidFill>
                <a:srgbClr val="383838"/>
              </a:solidFill>
              <a:latin typeface="微软雅黑"/>
              <a:ea typeface="微软雅黑"/>
              <a:cs typeface="微软雅黑"/>
            </a:endParaRPr>
          </a:p>
        </p:txBody>
      </p:sp>
      <p:sp>
        <p:nvSpPr>
          <p:cNvPr id="8" name="文本框 7"/>
          <p:cNvSpPr txBox="1"/>
          <p:nvPr/>
        </p:nvSpPr>
        <p:spPr>
          <a:xfrm>
            <a:off x="2406650" y="2533650"/>
            <a:ext cx="649605" cy="306705"/>
          </a:xfrm>
          <a:prstGeom prst="rect">
            <a:avLst/>
          </a:prstGeom>
          <a:noFill/>
        </p:spPr>
        <p:txBody>
          <a:bodyPr wrap="square" rtlCol="0">
            <a:spAutoFit/>
          </a:bodyPr>
          <a:p>
            <a:pPr>
              <a:defRPr>
                <a:latin typeface="微软雅黑"/>
                <a:ea typeface="微软雅黑"/>
                <a:cs typeface="微软雅黑"/>
              </a:defRPr>
            </a:pPr>
            <a:r>
              <a:rPr lang="en-US" altLang="zh-CN" sz="1400">
                <a:solidFill>
                  <a:srgbClr val="0042FF"/>
                </a:solidFill>
                <a:latin typeface="微软雅黑"/>
                <a:ea typeface="微软雅黑"/>
                <a:cs typeface="微软雅黑"/>
              </a:rPr>
              <a:t>……</a:t>
            </a:r>
            <a:endParaRPr lang="en-US" altLang="zh-CN" sz="1400">
              <a:solidFill>
                <a:srgbClr val="0042FF"/>
              </a:solidFill>
              <a:latin typeface="微软雅黑"/>
              <a:ea typeface="微软雅黑"/>
              <a:cs typeface="微软雅黑"/>
            </a:endParaRPr>
          </a:p>
        </p:txBody>
      </p:sp>
      <p:sp>
        <p:nvSpPr>
          <p:cNvPr id="9" name="文本框 8"/>
          <p:cNvSpPr txBox="1"/>
          <p:nvPr/>
        </p:nvSpPr>
        <p:spPr>
          <a:xfrm>
            <a:off x="9380855" y="2533650"/>
            <a:ext cx="649605" cy="306705"/>
          </a:xfrm>
          <a:prstGeom prst="rect">
            <a:avLst/>
          </a:prstGeom>
          <a:noFill/>
        </p:spPr>
        <p:txBody>
          <a:bodyPr wrap="square" rtlCol="0">
            <a:spAutoFit/>
          </a:bodyPr>
          <a:p>
            <a:pPr>
              <a:defRPr>
                <a:latin typeface="微软雅黑"/>
                <a:ea typeface="微软雅黑"/>
                <a:cs typeface="微软雅黑"/>
              </a:defRPr>
            </a:pPr>
            <a:r>
              <a:rPr lang="en-US" altLang="zh-CN" sz="1400">
                <a:solidFill>
                  <a:srgbClr val="0042FF"/>
                </a:solidFill>
                <a:latin typeface="微软雅黑"/>
                <a:ea typeface="微软雅黑"/>
                <a:cs typeface="微软雅黑"/>
              </a:rPr>
              <a:t>……</a:t>
            </a:r>
            <a:endParaRPr lang="en-US" altLang="zh-CN" sz="1400">
              <a:solidFill>
                <a:srgbClr val="0042FF"/>
              </a:solidFill>
              <a:latin typeface="微软雅黑"/>
              <a:ea typeface="微软雅黑"/>
              <a:cs typeface="微软雅黑"/>
            </a:endParaRPr>
          </a:p>
        </p:txBody>
      </p:sp>
      <p:sp>
        <p:nvSpPr>
          <p:cNvPr id="11" name="文本框 10"/>
          <p:cNvSpPr txBox="1"/>
          <p:nvPr/>
        </p:nvSpPr>
        <p:spPr>
          <a:xfrm>
            <a:off x="3212465" y="2659380"/>
            <a:ext cx="982345" cy="275590"/>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经济调节</a:t>
            </a:r>
            <a:endParaRPr lang="zh-CN" altLang="en-US" sz="1200" b="1">
              <a:solidFill>
                <a:srgbClr val="0042FF"/>
              </a:solidFill>
              <a:latin typeface="微软雅黑"/>
              <a:ea typeface="微软雅黑"/>
              <a:cs typeface="微软雅黑"/>
            </a:endParaRPr>
          </a:p>
        </p:txBody>
      </p:sp>
      <p:sp>
        <p:nvSpPr>
          <p:cNvPr id="12" name="文本框 11"/>
          <p:cNvSpPr txBox="1"/>
          <p:nvPr/>
        </p:nvSpPr>
        <p:spPr>
          <a:xfrm>
            <a:off x="4513580" y="2791460"/>
            <a:ext cx="982345" cy="275590"/>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市场监管</a:t>
            </a:r>
            <a:endParaRPr lang="zh-CN" altLang="en-US" sz="1200" b="1">
              <a:solidFill>
                <a:srgbClr val="0042FF"/>
              </a:solidFill>
              <a:latin typeface="微软雅黑"/>
              <a:ea typeface="微软雅黑"/>
              <a:cs typeface="微软雅黑"/>
            </a:endParaRPr>
          </a:p>
        </p:txBody>
      </p:sp>
      <p:sp>
        <p:nvSpPr>
          <p:cNvPr id="13" name="文本框 12"/>
          <p:cNvSpPr txBox="1"/>
          <p:nvPr/>
        </p:nvSpPr>
        <p:spPr>
          <a:xfrm>
            <a:off x="5742305" y="2926080"/>
            <a:ext cx="982345" cy="275590"/>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公共服务</a:t>
            </a:r>
            <a:endParaRPr lang="zh-CN" altLang="en-US" sz="1200" b="1">
              <a:solidFill>
                <a:srgbClr val="0042FF"/>
              </a:solidFill>
              <a:latin typeface="微软雅黑"/>
              <a:ea typeface="微软雅黑"/>
              <a:cs typeface="微软雅黑"/>
            </a:endParaRPr>
          </a:p>
        </p:txBody>
      </p:sp>
      <p:sp>
        <p:nvSpPr>
          <p:cNvPr id="15" name="文本框 14"/>
          <p:cNvSpPr txBox="1"/>
          <p:nvPr/>
        </p:nvSpPr>
        <p:spPr>
          <a:xfrm>
            <a:off x="6981825" y="2795905"/>
            <a:ext cx="982345" cy="275590"/>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社会治理</a:t>
            </a:r>
            <a:endParaRPr lang="zh-CN" altLang="en-US" sz="1200" b="1">
              <a:solidFill>
                <a:srgbClr val="0042FF"/>
              </a:solidFill>
              <a:latin typeface="微软雅黑"/>
              <a:ea typeface="微软雅黑"/>
              <a:cs typeface="微软雅黑"/>
            </a:endParaRPr>
          </a:p>
        </p:txBody>
      </p:sp>
      <p:sp>
        <p:nvSpPr>
          <p:cNvPr id="16" name="文本框 15"/>
          <p:cNvSpPr txBox="1"/>
          <p:nvPr/>
        </p:nvSpPr>
        <p:spPr>
          <a:xfrm>
            <a:off x="8296910" y="2651760"/>
            <a:ext cx="982345" cy="275590"/>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环境保护</a:t>
            </a:r>
            <a:endParaRPr lang="zh-CN" altLang="en-US" sz="1200" b="1">
              <a:solidFill>
                <a:srgbClr val="0042FF"/>
              </a:solidFill>
              <a:latin typeface="微软雅黑"/>
              <a:ea typeface="微软雅黑"/>
              <a:cs typeface="微软雅黑"/>
            </a:endParaRPr>
          </a:p>
        </p:txBody>
      </p:sp>
      <p:sp>
        <p:nvSpPr>
          <p:cNvPr id="17" name="圆角矩形 16"/>
          <p:cNvSpPr/>
          <p:nvPr/>
        </p:nvSpPr>
        <p:spPr>
          <a:xfrm>
            <a:off x="4538345" y="2269490"/>
            <a:ext cx="747395" cy="26162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8" name="圆角矩形 17"/>
          <p:cNvSpPr/>
          <p:nvPr/>
        </p:nvSpPr>
        <p:spPr>
          <a:xfrm>
            <a:off x="5370830" y="2269490"/>
            <a:ext cx="747395" cy="26162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9" name="圆角矩形 18"/>
          <p:cNvSpPr/>
          <p:nvPr/>
        </p:nvSpPr>
        <p:spPr>
          <a:xfrm>
            <a:off x="6203315" y="2269490"/>
            <a:ext cx="747395" cy="26162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0" name="圆角矩形 19"/>
          <p:cNvSpPr/>
          <p:nvPr/>
        </p:nvSpPr>
        <p:spPr>
          <a:xfrm>
            <a:off x="7035800" y="2269490"/>
            <a:ext cx="747395" cy="26162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1" name="文本框 20"/>
          <p:cNvSpPr txBox="1"/>
          <p:nvPr/>
        </p:nvSpPr>
        <p:spPr>
          <a:xfrm>
            <a:off x="4513580" y="2269490"/>
            <a:ext cx="793750" cy="275590"/>
          </a:xfrm>
          <a:prstGeom prst="rect">
            <a:avLst/>
          </a:prstGeom>
          <a:solidFill>
            <a:srgbClr val="FFFFFF"/>
          </a:solidFill>
          <a:ln>
            <a:solidFill>
              <a:srgbClr val="3368FF"/>
            </a:solidFill>
          </a:ln>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智能发现</a:t>
            </a:r>
            <a:endParaRPr lang="zh-CN" altLang="en-US" sz="1200">
              <a:solidFill>
                <a:srgbClr val="0042FF"/>
              </a:solidFill>
              <a:latin typeface="微软雅黑"/>
              <a:ea typeface="微软雅黑"/>
              <a:cs typeface="微软雅黑"/>
            </a:endParaRPr>
          </a:p>
        </p:txBody>
      </p:sp>
      <p:sp>
        <p:nvSpPr>
          <p:cNvPr id="22" name="文本框 21"/>
          <p:cNvSpPr txBox="1"/>
          <p:nvPr/>
        </p:nvSpPr>
        <p:spPr>
          <a:xfrm>
            <a:off x="5358130" y="2269490"/>
            <a:ext cx="793750" cy="275590"/>
          </a:xfrm>
          <a:prstGeom prst="rect">
            <a:avLst/>
          </a:prstGeom>
          <a:solidFill>
            <a:srgbClr val="FFFFFF"/>
          </a:solidFill>
          <a:ln>
            <a:solidFill>
              <a:srgbClr val="3368FF"/>
            </a:solidFill>
          </a:ln>
        </p:spPr>
        <p:txBody>
          <a:bodyPr wrap="square" rtlCol="0">
            <a:spAutoFit/>
          </a:bodyPr>
          <a:p>
            <a:pPr lvl="0" algn="ctr">
              <a:buClrTx/>
              <a:buSzTx/>
              <a:buFontTx/>
              <a:defRPr>
                <a:latin typeface="微软雅黑"/>
                <a:ea typeface="微软雅黑"/>
                <a:cs typeface="微软雅黑"/>
              </a:defRPr>
            </a:pPr>
            <a:r>
              <a:rPr lang="zh-CN" altLang="en-US" sz="1200">
                <a:solidFill>
                  <a:srgbClr val="0042FF"/>
                </a:solidFill>
                <a:latin typeface="微软雅黑"/>
                <a:ea typeface="微软雅黑"/>
                <a:cs typeface="微软雅黑"/>
                <a:sym typeface="微软雅黑"/>
              </a:rPr>
              <a:t>融合调度</a:t>
            </a:r>
            <a:endParaRPr lang="zh-CN" altLang="en-US" sz="1200">
              <a:solidFill>
                <a:srgbClr val="0042FF"/>
              </a:solidFill>
              <a:latin typeface="微软雅黑"/>
              <a:ea typeface="微软雅黑"/>
              <a:cs typeface="微软雅黑"/>
              <a:sym typeface="微软雅黑"/>
            </a:endParaRPr>
          </a:p>
        </p:txBody>
      </p:sp>
      <p:sp>
        <p:nvSpPr>
          <p:cNvPr id="23" name="文本框 22"/>
          <p:cNvSpPr txBox="1"/>
          <p:nvPr/>
        </p:nvSpPr>
        <p:spPr>
          <a:xfrm>
            <a:off x="6181725" y="2269490"/>
            <a:ext cx="793750" cy="275590"/>
          </a:xfrm>
          <a:prstGeom prst="rect">
            <a:avLst/>
          </a:prstGeom>
          <a:solidFill>
            <a:srgbClr val="FFFFFF"/>
          </a:solidFill>
          <a:ln>
            <a:solidFill>
              <a:srgbClr val="3368FF"/>
            </a:solidFill>
          </a:ln>
        </p:spPr>
        <p:txBody>
          <a:bodyPr wrap="square" rtlCol="0">
            <a:spAutoFit/>
          </a:bodyPr>
          <a:p>
            <a:pPr lvl="0" algn="ctr">
              <a:buClrTx/>
              <a:buSzTx/>
              <a:buFontTx/>
              <a:defRPr>
                <a:latin typeface="微软雅黑"/>
                <a:ea typeface="微软雅黑"/>
                <a:cs typeface="微软雅黑"/>
              </a:defRPr>
            </a:pPr>
            <a:r>
              <a:rPr lang="zh-CN" altLang="en-US" sz="1200">
                <a:solidFill>
                  <a:srgbClr val="0042FF"/>
                </a:solidFill>
                <a:latin typeface="微软雅黑"/>
                <a:ea typeface="微软雅黑"/>
                <a:cs typeface="微软雅黑"/>
                <a:sym typeface="微软雅黑"/>
              </a:rPr>
              <a:t>协同处置</a:t>
            </a:r>
            <a:endParaRPr lang="zh-CN" altLang="en-US" sz="1200">
              <a:solidFill>
                <a:srgbClr val="0042FF"/>
              </a:solidFill>
              <a:latin typeface="微软雅黑"/>
              <a:ea typeface="微软雅黑"/>
              <a:cs typeface="微软雅黑"/>
              <a:sym typeface="微软雅黑"/>
            </a:endParaRPr>
          </a:p>
        </p:txBody>
      </p:sp>
      <p:sp>
        <p:nvSpPr>
          <p:cNvPr id="24" name="文本框 23"/>
          <p:cNvSpPr txBox="1"/>
          <p:nvPr/>
        </p:nvSpPr>
        <p:spPr>
          <a:xfrm>
            <a:off x="7009130" y="2269490"/>
            <a:ext cx="793750" cy="275590"/>
          </a:xfrm>
          <a:prstGeom prst="rect">
            <a:avLst/>
          </a:prstGeom>
          <a:solidFill>
            <a:srgbClr val="FFFFFF"/>
          </a:solidFill>
          <a:ln>
            <a:solidFill>
              <a:srgbClr val="3368FF"/>
            </a:solidFill>
          </a:ln>
        </p:spPr>
        <p:txBody>
          <a:bodyPr wrap="square" rtlCol="0">
            <a:spAutoFit/>
          </a:bodyPr>
          <a:p>
            <a:pPr lvl="0" algn="ctr">
              <a:buClrTx/>
              <a:buSzTx/>
              <a:buFontTx/>
              <a:defRPr>
                <a:latin typeface="微软雅黑"/>
                <a:ea typeface="微软雅黑"/>
                <a:cs typeface="微软雅黑"/>
              </a:defRPr>
            </a:pPr>
            <a:r>
              <a:rPr lang="zh-CN" altLang="en-US" sz="1200">
                <a:solidFill>
                  <a:srgbClr val="0042FF"/>
                </a:solidFill>
                <a:latin typeface="微软雅黑"/>
                <a:ea typeface="微软雅黑"/>
                <a:cs typeface="微软雅黑"/>
                <a:sym typeface="微软雅黑"/>
              </a:rPr>
              <a:t>智能分析</a:t>
            </a:r>
            <a:endParaRPr lang="zh-CN" altLang="en-US" sz="1200">
              <a:solidFill>
                <a:srgbClr val="0042FF"/>
              </a:solidFill>
              <a:latin typeface="微软雅黑"/>
              <a:ea typeface="微软雅黑"/>
              <a:cs typeface="微软雅黑"/>
              <a:sym typeface="微软雅黑"/>
            </a:endParaRPr>
          </a:p>
        </p:txBody>
      </p:sp>
      <p:sp>
        <p:nvSpPr>
          <p:cNvPr id="25" name="文本框 24"/>
          <p:cNvSpPr txBox="1"/>
          <p:nvPr/>
        </p:nvSpPr>
        <p:spPr>
          <a:xfrm>
            <a:off x="5710555" y="1873250"/>
            <a:ext cx="982345" cy="306705"/>
          </a:xfrm>
          <a:prstGeom prst="rect">
            <a:avLst/>
          </a:prstGeom>
          <a:noFill/>
        </p:spPr>
        <p:txBody>
          <a:bodyPr wrap="square" rtlCol="0">
            <a:spAutoFit/>
          </a:bodyPr>
          <a:p>
            <a:pPr>
              <a:defRPr>
                <a:latin typeface="微软雅黑"/>
                <a:ea typeface="微软雅黑"/>
                <a:cs typeface="微软雅黑"/>
              </a:defRPr>
            </a:pPr>
            <a:r>
              <a:rPr lang="zh-CN" altLang="en-US" sz="1400" b="1">
                <a:solidFill>
                  <a:srgbClr val="0042FF"/>
                </a:solidFill>
                <a:latin typeface="微软雅黑"/>
                <a:ea typeface="微软雅黑"/>
                <a:cs typeface="微软雅黑"/>
              </a:rPr>
              <a:t>智能应用</a:t>
            </a:r>
            <a:endParaRPr lang="zh-CN" altLang="en-US" sz="1400" b="1">
              <a:solidFill>
                <a:srgbClr val="0042FF"/>
              </a:solidFill>
              <a:latin typeface="微软雅黑"/>
              <a:ea typeface="微软雅黑"/>
              <a:cs typeface="微软雅黑"/>
            </a:endParaRPr>
          </a:p>
        </p:txBody>
      </p:sp>
      <p:sp>
        <p:nvSpPr>
          <p:cNvPr id="253" name="椭圆 252"/>
          <p:cNvSpPr/>
          <p:nvPr/>
        </p:nvSpPr>
        <p:spPr>
          <a:xfrm>
            <a:off x="3223895" y="1731645"/>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b="1" dirty="0">
              <a:solidFill>
                <a:srgbClr val="FFFFFF"/>
              </a:solidFill>
              <a:cs typeface="微软雅黑"/>
              <a:sym typeface="微软雅黑"/>
              <a:latin typeface="微软雅黑"/>
              <a:ea typeface="微软雅黑"/>
            </a:endParaRPr>
          </a:p>
        </p:txBody>
      </p:sp>
      <p:sp>
        <p:nvSpPr>
          <p:cNvPr id="26" name="椭圆 25"/>
          <p:cNvSpPr/>
          <p:nvPr/>
        </p:nvSpPr>
        <p:spPr>
          <a:xfrm>
            <a:off x="3958590" y="1527175"/>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b="1" dirty="0">
              <a:solidFill>
                <a:srgbClr val="FFFFFF"/>
              </a:solidFill>
              <a:cs typeface="微软雅黑"/>
              <a:sym typeface="微软雅黑"/>
              <a:latin typeface="微软雅黑"/>
              <a:ea typeface="微软雅黑"/>
            </a:endParaRPr>
          </a:p>
        </p:txBody>
      </p:sp>
      <p:sp>
        <p:nvSpPr>
          <p:cNvPr id="27" name="椭圆 26"/>
          <p:cNvSpPr/>
          <p:nvPr/>
        </p:nvSpPr>
        <p:spPr>
          <a:xfrm>
            <a:off x="8175625" y="1731645"/>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lIns="0" tIns="0" rIns="0" bIns="0" rtlCol="0" anchor="ctr"/>
          <a:p>
            <a:pPr algn="ctr">
              <a:defRPr>
                <a:solidFill>
                  <a:srgbClr val="FFFFFF"/>
                </a:solidFill>
                <a:latin typeface="微软雅黑"/>
                <a:ea typeface="微软雅黑"/>
                <a:cs typeface="微软雅黑"/>
              </a:defRPr>
            </a:pPr>
            <a:endParaRPr lang="zh-CN" altLang="en-US" b="1" dirty="0">
              <a:solidFill>
                <a:srgbClr val="FFFFFF"/>
              </a:solidFill>
              <a:cs typeface="微软雅黑"/>
              <a:latin typeface="微软雅黑"/>
              <a:ea typeface="微软雅黑"/>
            </a:endParaRPr>
          </a:p>
        </p:txBody>
      </p:sp>
      <p:sp>
        <p:nvSpPr>
          <p:cNvPr id="28" name="椭圆 27"/>
          <p:cNvSpPr/>
          <p:nvPr/>
        </p:nvSpPr>
        <p:spPr>
          <a:xfrm>
            <a:off x="7464425" y="1527175"/>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b="1" dirty="0">
              <a:solidFill>
                <a:srgbClr val="FFFFFF"/>
              </a:solidFill>
              <a:cs typeface="微软雅黑"/>
              <a:sym typeface="微软雅黑"/>
              <a:latin typeface="微软雅黑"/>
              <a:ea typeface="微软雅黑"/>
            </a:endParaRPr>
          </a:p>
        </p:txBody>
      </p:sp>
      <p:sp>
        <p:nvSpPr>
          <p:cNvPr id="29" name="椭圆 28"/>
          <p:cNvSpPr/>
          <p:nvPr/>
        </p:nvSpPr>
        <p:spPr>
          <a:xfrm>
            <a:off x="6753225" y="1292225"/>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b="1" dirty="0">
              <a:solidFill>
                <a:srgbClr val="FFFFFF"/>
              </a:solidFill>
              <a:cs typeface="微软雅黑"/>
              <a:sym typeface="微软雅黑"/>
              <a:latin typeface="微软雅黑"/>
              <a:ea typeface="微软雅黑"/>
            </a:endParaRPr>
          </a:p>
        </p:txBody>
      </p:sp>
      <p:sp>
        <p:nvSpPr>
          <p:cNvPr id="30" name="椭圆 29"/>
          <p:cNvSpPr/>
          <p:nvPr/>
        </p:nvSpPr>
        <p:spPr>
          <a:xfrm>
            <a:off x="6042025" y="1146810"/>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b="1" dirty="0">
              <a:solidFill>
                <a:srgbClr val="FFFFFF"/>
              </a:solidFill>
              <a:cs typeface="微软雅黑"/>
              <a:sym typeface="微软雅黑"/>
              <a:latin typeface="微软雅黑"/>
              <a:ea typeface="微软雅黑"/>
            </a:endParaRPr>
          </a:p>
        </p:txBody>
      </p:sp>
      <p:sp>
        <p:nvSpPr>
          <p:cNvPr id="31" name="椭圆 30"/>
          <p:cNvSpPr/>
          <p:nvPr/>
        </p:nvSpPr>
        <p:spPr>
          <a:xfrm>
            <a:off x="5349240" y="1157605"/>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b="1" dirty="0">
              <a:solidFill>
                <a:srgbClr val="FFFFFF"/>
              </a:solidFill>
              <a:cs typeface="微软雅黑"/>
              <a:sym typeface="微软雅黑"/>
              <a:latin typeface="微软雅黑"/>
              <a:ea typeface="微软雅黑"/>
            </a:endParaRPr>
          </a:p>
        </p:txBody>
      </p:sp>
      <p:sp>
        <p:nvSpPr>
          <p:cNvPr id="32" name="椭圆 31"/>
          <p:cNvSpPr/>
          <p:nvPr/>
        </p:nvSpPr>
        <p:spPr>
          <a:xfrm>
            <a:off x="4666933" y="1296035"/>
            <a:ext cx="623570" cy="623570"/>
          </a:xfrm>
          <a:prstGeom prst="ellipse">
            <a:avLst/>
          </a:prstGeom>
          <a:gradFill>
            <a:gsLst>
              <a:gs pos="37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b="1" dirty="0">
              <a:solidFill>
                <a:srgbClr val="FFFFFF"/>
              </a:solidFill>
              <a:cs typeface="微软雅黑"/>
              <a:sym typeface="微软雅黑"/>
              <a:latin typeface="微软雅黑"/>
              <a:ea typeface="微软雅黑"/>
            </a:endParaRPr>
          </a:p>
        </p:txBody>
      </p:sp>
      <p:sp>
        <p:nvSpPr>
          <p:cNvPr id="33" name="文本框 32"/>
          <p:cNvSpPr txBox="1"/>
          <p:nvPr/>
        </p:nvSpPr>
        <p:spPr>
          <a:xfrm>
            <a:off x="3282633" y="1813243"/>
            <a:ext cx="506095" cy="46037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噪音扰民</a:t>
            </a:r>
            <a:endParaRPr lang="zh-CN" altLang="en-US" sz="1200">
              <a:solidFill>
                <a:srgbClr val="FFFFFF"/>
              </a:solidFill>
              <a:latin typeface="微软雅黑"/>
              <a:ea typeface="微软雅黑"/>
              <a:cs typeface="微软雅黑"/>
            </a:endParaRPr>
          </a:p>
        </p:txBody>
      </p:sp>
      <p:sp>
        <p:nvSpPr>
          <p:cNvPr id="36" name="文本框 35"/>
          <p:cNvSpPr txBox="1"/>
          <p:nvPr/>
        </p:nvSpPr>
        <p:spPr>
          <a:xfrm>
            <a:off x="4048125" y="1654810"/>
            <a:ext cx="444500" cy="368300"/>
          </a:xfrm>
          <a:prstGeom prst="rect">
            <a:avLst/>
          </a:prstGeom>
          <a:noFill/>
        </p:spPr>
        <p:txBody>
          <a:bodyPr wrap="square" rtlCol="0" lIns="0" rIns="0" tIns="0" bIns="0" anchor="ctr">
            <a:noAutofit/>
          </a:bodyPr>
          <a:p>
            <a:pPr algn="ctr">
              <a:defRPr sz="1000">
                <a:solidFill>
                  <a:srgbClr val="FFFFFF"/>
                </a:solidFill>
                <a:latin typeface="微软雅黑"/>
                <a:ea typeface="微软雅黑"/>
                <a:cs typeface="微软雅黑"/>
              </a:defRPr>
              <a:lnSpc>
                <a:spcPct val="105000"/>
              </a:lnSpc>
              <a:spcBef>
                <a:spcPts val="0"/>
              </a:spcBef>
              <a:spcAft>
                <a:spcPts val="0"/>
              </a:spcAft>
            </a:pPr>
            <a:r>
              <a:rPr lang="zh-CN" altLang="en-US" sz="1000">
                <a:solidFill>
                  <a:srgbClr val="FFFFFF"/>
                </a:solidFill>
                <a:latin typeface="微软雅黑"/>
                <a:ea typeface="微软雅黑"/>
                <a:cs typeface="微软雅黑"/>
              </a:rPr>
              <a:t>渣土车</a:t>
            </a:r>
            <a:br/>
            <a:r>
              <a:rPr lang="zh-CN" altLang="en-US" sz="1000">
                <a:solidFill>
                  <a:srgbClr val="FFFFFF"/>
                </a:solidFill>
                <a:latin typeface="微软雅黑"/>
                <a:ea typeface="微软雅黑"/>
                <a:cs typeface="微软雅黑"/>
              </a:rPr>
              <a:t>治理</a:t>
            </a:r>
            <a:endParaRPr lang="zh-CN" altLang="en-US" sz="1000">
              <a:solidFill>
                <a:srgbClr val="FFFFFF"/>
              </a:solidFill>
              <a:latin typeface="微软雅黑"/>
              <a:ea typeface="微软雅黑"/>
              <a:cs typeface="微软雅黑"/>
            </a:endParaRPr>
          </a:p>
        </p:txBody>
      </p:sp>
      <p:sp>
        <p:nvSpPr>
          <p:cNvPr id="37" name="文本框 36"/>
          <p:cNvSpPr txBox="1"/>
          <p:nvPr/>
        </p:nvSpPr>
        <p:spPr>
          <a:xfrm>
            <a:off x="4756468" y="1423670"/>
            <a:ext cx="444500" cy="368300"/>
          </a:xfrm>
          <a:prstGeom prst="rect">
            <a:avLst/>
          </a:prstGeom>
          <a:noFill/>
        </p:spPr>
        <p:txBody>
          <a:bodyPr wrap="square" rtlCol="0" lIns="0" rIns="0" tIns="0" bIns="0" anchor="ctr">
            <a:noAutofit/>
          </a:bodyPr>
          <a:p>
            <a:pPr algn="ctr">
              <a:defRPr sz="1000">
                <a:solidFill>
                  <a:srgbClr val="FFFFFF"/>
                </a:solidFill>
                <a:latin typeface="微软雅黑"/>
                <a:ea typeface="微软雅黑"/>
                <a:cs typeface="微软雅黑"/>
              </a:defRPr>
              <a:lnSpc>
                <a:spcPct val="105000"/>
              </a:lnSpc>
              <a:spcBef>
                <a:spcPts val="0"/>
              </a:spcBef>
              <a:spcAft>
                <a:spcPts val="0"/>
              </a:spcAft>
            </a:pPr>
            <a:r>
              <a:rPr lang="zh-CN" altLang="en-US" sz="1000">
                <a:solidFill>
                  <a:srgbClr val="FFFFFF"/>
                </a:solidFill>
                <a:latin typeface="微软雅黑"/>
                <a:ea typeface="微软雅黑"/>
                <a:cs typeface="微软雅黑"/>
              </a:rPr>
              <a:t>群租房</a:t>
            </a:r>
            <a:br/>
            <a:r>
              <a:rPr lang="zh-CN" altLang="en-US" sz="1000">
                <a:solidFill>
                  <a:srgbClr val="FFFFFF"/>
                </a:solidFill>
                <a:latin typeface="微软雅黑"/>
                <a:ea typeface="微软雅黑"/>
                <a:cs typeface="微软雅黑"/>
              </a:rPr>
              <a:t>治理</a:t>
            </a:r>
            <a:endParaRPr lang="zh-CN" altLang="en-US" sz="1000">
              <a:solidFill>
                <a:srgbClr val="FFFFFF"/>
              </a:solidFill>
              <a:latin typeface="微软雅黑"/>
              <a:ea typeface="微软雅黑"/>
              <a:cs typeface="微软雅黑"/>
            </a:endParaRPr>
          </a:p>
        </p:txBody>
      </p:sp>
      <p:sp>
        <p:nvSpPr>
          <p:cNvPr id="38" name="文本框 37"/>
          <p:cNvSpPr txBox="1"/>
          <p:nvPr/>
        </p:nvSpPr>
        <p:spPr>
          <a:xfrm>
            <a:off x="5407978" y="1239203"/>
            <a:ext cx="506095" cy="46037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违建治理</a:t>
            </a:r>
            <a:endParaRPr lang="zh-CN" altLang="en-US" sz="1200">
              <a:solidFill>
                <a:srgbClr val="FFFFFF"/>
              </a:solidFill>
              <a:latin typeface="微软雅黑"/>
              <a:ea typeface="微软雅黑"/>
              <a:cs typeface="微软雅黑"/>
            </a:endParaRPr>
          </a:p>
        </p:txBody>
      </p:sp>
      <p:sp>
        <p:nvSpPr>
          <p:cNvPr id="39" name="文本框 38"/>
          <p:cNvSpPr txBox="1"/>
          <p:nvPr/>
        </p:nvSpPr>
        <p:spPr>
          <a:xfrm>
            <a:off x="6100763" y="1228408"/>
            <a:ext cx="506095" cy="46037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疫情防控</a:t>
            </a:r>
            <a:endParaRPr lang="zh-CN" altLang="en-US" sz="1200">
              <a:solidFill>
                <a:srgbClr val="FFFFFF"/>
              </a:solidFill>
              <a:latin typeface="微软雅黑"/>
              <a:ea typeface="微软雅黑"/>
              <a:cs typeface="微软雅黑"/>
            </a:endParaRPr>
          </a:p>
        </p:txBody>
      </p:sp>
      <p:sp>
        <p:nvSpPr>
          <p:cNvPr id="40" name="文本框 39"/>
          <p:cNvSpPr txBox="1"/>
          <p:nvPr/>
        </p:nvSpPr>
        <p:spPr>
          <a:xfrm>
            <a:off x="6811963" y="1327468"/>
            <a:ext cx="506095" cy="553085"/>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重大活动保障</a:t>
            </a:r>
            <a:endParaRPr lang="zh-CN" altLang="en-US" sz="1000">
              <a:solidFill>
                <a:srgbClr val="FFFFFF"/>
              </a:solidFill>
              <a:latin typeface="微软雅黑"/>
              <a:ea typeface="微软雅黑"/>
              <a:cs typeface="微软雅黑"/>
            </a:endParaRPr>
          </a:p>
        </p:txBody>
      </p:sp>
      <p:sp>
        <p:nvSpPr>
          <p:cNvPr id="41" name="文本框 40"/>
          <p:cNvSpPr txBox="1"/>
          <p:nvPr/>
        </p:nvSpPr>
        <p:spPr>
          <a:xfrm>
            <a:off x="7523163" y="1608773"/>
            <a:ext cx="506095" cy="46037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防汛防台</a:t>
            </a:r>
            <a:endParaRPr lang="zh-CN" altLang="en-US" sz="1200">
              <a:solidFill>
                <a:srgbClr val="FFFFFF"/>
              </a:solidFill>
              <a:latin typeface="微软雅黑"/>
              <a:ea typeface="微软雅黑"/>
              <a:cs typeface="微软雅黑"/>
            </a:endParaRPr>
          </a:p>
        </p:txBody>
      </p:sp>
      <p:sp>
        <p:nvSpPr>
          <p:cNvPr id="42" name="文本框 41"/>
          <p:cNvSpPr txBox="1"/>
          <p:nvPr/>
        </p:nvSpPr>
        <p:spPr>
          <a:xfrm>
            <a:off x="8242935" y="1873250"/>
            <a:ext cx="506095" cy="275590"/>
          </a:xfrm>
          <a:prstGeom prst="rect">
            <a:avLst/>
          </a:prstGeom>
          <a:noFill/>
        </p:spPr>
        <p:txBody>
          <a:bodyPr wrap="square" rtlCol="0">
            <a:spAutoFit/>
          </a:bodyPr>
          <a:p>
            <a:pPr>
              <a:defRPr>
                <a:solidFill>
                  <a:srgbClr val="FFFFFF"/>
                </a:solidFill>
                <a:latin typeface="微软雅黑"/>
                <a:ea typeface="微软雅黑"/>
                <a:cs typeface="微软雅黑"/>
              </a:defRPr>
            </a:pPr>
            <a:r>
              <a:rPr lang="en-US" altLang="zh-CN" sz="1200">
                <a:solidFill>
                  <a:srgbClr val="FFFFFF"/>
                </a:solidFill>
                <a:latin typeface="微软雅黑"/>
                <a:ea typeface="微软雅黑"/>
                <a:cs typeface="微软雅黑"/>
              </a:rPr>
              <a:t>……</a:t>
            </a:r>
            <a:endParaRPr lang="en-US" altLang="zh-CN" sz="1200">
              <a:solidFill>
                <a:srgbClr val="FFFFFF"/>
              </a:solidFill>
              <a:latin typeface="微软雅黑"/>
              <a:ea typeface="微软雅黑"/>
              <a:cs typeface="微软雅黑"/>
            </a:endParaRPr>
          </a:p>
        </p:txBody>
      </p:sp>
      <p:sp>
        <p:nvSpPr>
          <p:cNvPr id="43" name="文本框 42"/>
          <p:cNvSpPr txBox="1"/>
          <p:nvPr/>
        </p:nvSpPr>
        <p:spPr>
          <a:xfrm>
            <a:off x="5312410" y="3260725"/>
            <a:ext cx="163830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城市数字底座</a:t>
            </a:r>
            <a:endParaRPr lang="zh-CN" altLang="en-US" sz="1600" b="1">
              <a:solidFill>
                <a:srgbClr val="0042FF"/>
              </a:solidFill>
              <a:latin typeface="微软雅黑"/>
              <a:ea typeface="微软雅黑"/>
              <a:cs typeface="微软雅黑"/>
            </a:endParaRPr>
          </a:p>
        </p:txBody>
      </p:sp>
      <p:sp>
        <p:nvSpPr>
          <p:cNvPr id="56" name="文本框 55"/>
          <p:cNvSpPr txBox="1"/>
          <p:nvPr/>
        </p:nvSpPr>
        <p:spPr>
          <a:xfrm>
            <a:off x="5681663" y="4302760"/>
            <a:ext cx="928370" cy="306705"/>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智能中枢</a:t>
            </a:r>
            <a:endParaRPr lang="zh-CN" sz="1400" b="1">
              <a:solidFill>
                <a:srgbClr val="0042FF"/>
              </a:solidFill>
              <a:latin typeface="微软雅黑"/>
              <a:ea typeface="微软雅黑"/>
              <a:cs typeface="微软雅黑"/>
            </a:endParaRPr>
          </a:p>
        </p:txBody>
      </p:sp>
      <p:sp>
        <p:nvSpPr>
          <p:cNvPr id="57" name="文本框 56"/>
          <p:cNvSpPr txBox="1"/>
          <p:nvPr/>
        </p:nvSpPr>
        <p:spPr>
          <a:xfrm>
            <a:off x="5681663" y="5165725"/>
            <a:ext cx="928370" cy="306705"/>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latin typeface="微软雅黑"/>
                <a:ea typeface="微软雅黑"/>
                <a:cs typeface="微软雅黑"/>
              </a:rPr>
              <a:t>智能联接</a:t>
            </a:r>
            <a:endParaRPr lang="zh-CN" sz="1400" b="1">
              <a:solidFill>
                <a:srgbClr val="383838"/>
              </a:solidFill>
              <a:latin typeface="微软雅黑"/>
              <a:ea typeface="微软雅黑"/>
              <a:cs typeface="微软雅黑"/>
            </a:endParaRPr>
          </a:p>
        </p:txBody>
      </p:sp>
      <p:grpSp>
        <p:nvGrpSpPr>
          <p:cNvPr id="1076" name="组合 1075"/>
          <p:cNvGrpSpPr/>
          <p:nvPr/>
        </p:nvGrpSpPr>
        <p:grpSpPr>
          <a:xfrm rot="0">
            <a:off x="5498465" y="6244590"/>
            <a:ext cx="125095" cy="125095"/>
            <a:chOff x="5192730" y="1299604"/>
            <a:chExt cx="176010" cy="176010"/>
          </a:xfrm>
          <a:solidFill>
            <a:srgbClr val="0042FF"/>
          </a:solidFill>
        </p:grpSpPr>
        <p:sp>
          <p:nvSpPr>
            <p:cNvPr id="1074" name="任意多边形: 形状 1073"/>
            <p:cNvSpPr/>
            <p:nvPr/>
          </p:nvSpPr>
          <p:spPr>
            <a:xfrm>
              <a:off x="5192730" y="1299604"/>
              <a:ext cx="176010" cy="176010"/>
            </a:xfrm>
            <a:custGeom>
              <a:avLst/>
              <a:gdLst>
                <a:gd name="connsiteX0" fmla="*/ 14427 w 176010"/>
                <a:gd name="connsiteY0" fmla="*/ 161583 h 176010"/>
                <a:gd name="connsiteX1" fmla="*/ 161583 w 176010"/>
                <a:gd name="connsiteY1" fmla="*/ 161583 h 176010"/>
                <a:gd name="connsiteX2" fmla="*/ 161583 w 176010"/>
                <a:gd name="connsiteY2" fmla="*/ 18755 h 176010"/>
                <a:gd name="connsiteX3" fmla="*/ 157255 w 176010"/>
                <a:gd name="connsiteY3" fmla="*/ 14427 h 176010"/>
                <a:gd name="connsiteX4" fmla="*/ 88005 w 176010"/>
                <a:gd name="connsiteY4" fmla="*/ 14427 h 176010"/>
                <a:gd name="connsiteX5" fmla="*/ 83677 w 176010"/>
                <a:gd name="connsiteY5" fmla="*/ 18755 h 176010"/>
                <a:gd name="connsiteX6" fmla="*/ 83677 w 176010"/>
                <a:gd name="connsiteY6" fmla="*/ 83677 h 176010"/>
                <a:gd name="connsiteX7" fmla="*/ 18755 w 176010"/>
                <a:gd name="connsiteY7" fmla="*/ 83677 h 176010"/>
                <a:gd name="connsiteX8" fmla="*/ 14427 w 176010"/>
                <a:gd name="connsiteY8" fmla="*/ 88005 h 176010"/>
                <a:gd name="connsiteX9" fmla="*/ 14427 w 176010"/>
                <a:gd name="connsiteY9" fmla="*/ 161583 h 176010"/>
                <a:gd name="connsiteX10" fmla="*/ 69250 w 176010"/>
                <a:gd name="connsiteY10" fmla="*/ 69250 h 176010"/>
                <a:gd name="connsiteX11" fmla="*/ 69250 w 176010"/>
                <a:gd name="connsiteY11" fmla="*/ 18755 h 176010"/>
                <a:gd name="connsiteX12" fmla="*/ 88005 w 176010"/>
                <a:gd name="connsiteY12" fmla="*/ 0 h 176010"/>
                <a:gd name="connsiteX13" fmla="*/ 157255 w 176010"/>
                <a:gd name="connsiteY13" fmla="*/ 0 h 176010"/>
                <a:gd name="connsiteX14" fmla="*/ 176010 w 176010"/>
                <a:gd name="connsiteY14" fmla="*/ 18755 h 176010"/>
                <a:gd name="connsiteX15" fmla="*/ 176010 w 176010"/>
                <a:gd name="connsiteY15" fmla="*/ 163026 h 176010"/>
                <a:gd name="connsiteX16" fmla="*/ 163026 w 176010"/>
                <a:gd name="connsiteY16" fmla="*/ 176010 h 176010"/>
                <a:gd name="connsiteX17" fmla="*/ 12984 w 176010"/>
                <a:gd name="connsiteY17" fmla="*/ 176010 h 176010"/>
                <a:gd name="connsiteX18" fmla="*/ 0 w 176010"/>
                <a:gd name="connsiteY18" fmla="*/ 163026 h 176010"/>
                <a:gd name="connsiteX19" fmla="*/ 0 w 176010"/>
                <a:gd name="connsiteY19" fmla="*/ 88005 h 176010"/>
                <a:gd name="connsiteX20" fmla="*/ 18755 w 176010"/>
                <a:gd name="connsiteY20" fmla="*/ 69250 h 176010"/>
                <a:gd name="connsiteX21" fmla="*/ 69250 w 176010"/>
                <a:gd name="connsiteY21" fmla="*/ 69250 h 17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010" h="176010">
                  <a:moveTo>
                    <a:pt x="14427" y="161583"/>
                  </a:moveTo>
                  <a:lnTo>
                    <a:pt x="161583" y="161583"/>
                  </a:lnTo>
                  <a:lnTo>
                    <a:pt x="161583" y="18755"/>
                  </a:lnTo>
                  <a:cubicBezTo>
                    <a:pt x="161583" y="16365"/>
                    <a:pt x="159645" y="14427"/>
                    <a:pt x="157255" y="14427"/>
                  </a:cubicBezTo>
                  <a:lnTo>
                    <a:pt x="88005" y="14427"/>
                  </a:lnTo>
                  <a:cubicBezTo>
                    <a:pt x="85615" y="14427"/>
                    <a:pt x="83677" y="16365"/>
                    <a:pt x="83677" y="18755"/>
                  </a:cubicBezTo>
                  <a:lnTo>
                    <a:pt x="83677" y="83677"/>
                  </a:lnTo>
                  <a:lnTo>
                    <a:pt x="18755" y="83677"/>
                  </a:lnTo>
                  <a:cubicBezTo>
                    <a:pt x="16365" y="83677"/>
                    <a:pt x="14427" y="85615"/>
                    <a:pt x="14427" y="88005"/>
                  </a:cubicBezTo>
                  <a:lnTo>
                    <a:pt x="14427" y="161583"/>
                  </a:lnTo>
                  <a:close/>
                  <a:moveTo>
                    <a:pt x="69250" y="69250"/>
                  </a:moveTo>
                  <a:lnTo>
                    <a:pt x="69250" y="18755"/>
                  </a:lnTo>
                  <a:cubicBezTo>
                    <a:pt x="69250" y="8402"/>
                    <a:pt x="77652" y="0"/>
                    <a:pt x="88005" y="0"/>
                  </a:cubicBezTo>
                  <a:lnTo>
                    <a:pt x="157255" y="0"/>
                  </a:lnTo>
                  <a:cubicBezTo>
                    <a:pt x="167608" y="0"/>
                    <a:pt x="176010" y="8402"/>
                    <a:pt x="176010" y="18755"/>
                  </a:cubicBezTo>
                  <a:lnTo>
                    <a:pt x="176010" y="163026"/>
                  </a:lnTo>
                  <a:cubicBezTo>
                    <a:pt x="176010" y="170193"/>
                    <a:pt x="170193" y="176010"/>
                    <a:pt x="163026" y="176010"/>
                  </a:cubicBezTo>
                  <a:lnTo>
                    <a:pt x="12984" y="176010"/>
                  </a:lnTo>
                  <a:cubicBezTo>
                    <a:pt x="5813" y="176010"/>
                    <a:pt x="0" y="170197"/>
                    <a:pt x="0" y="163026"/>
                  </a:cubicBezTo>
                  <a:lnTo>
                    <a:pt x="0" y="88005"/>
                  </a:lnTo>
                  <a:cubicBezTo>
                    <a:pt x="0" y="77652"/>
                    <a:pt x="8402" y="69250"/>
                    <a:pt x="18755" y="69250"/>
                  </a:cubicBezTo>
                  <a:lnTo>
                    <a:pt x="69250" y="69250"/>
                  </a:lnTo>
                  <a:close/>
                </a:path>
              </a:pathLst>
            </a:custGeom>
            <a:grpFill/>
            <a:ln w="223"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075" name="任意多边形: 形状 1074"/>
            <p:cNvSpPr/>
            <p:nvPr/>
          </p:nvSpPr>
          <p:spPr>
            <a:xfrm>
              <a:off x="5261980" y="1345771"/>
              <a:ext cx="72135" cy="122630"/>
            </a:xfrm>
            <a:custGeom>
              <a:avLst/>
              <a:gdLst>
                <a:gd name="connsiteX0" fmla="*/ 0 w 72135"/>
                <a:gd name="connsiteY0" fmla="*/ 18755 h 122630"/>
                <a:gd name="connsiteX1" fmla="*/ 14427 w 72135"/>
                <a:gd name="connsiteY1" fmla="*/ 18755 h 122630"/>
                <a:gd name="connsiteX2" fmla="*/ 14427 w 72135"/>
                <a:gd name="connsiteY2" fmla="*/ 122630 h 122630"/>
                <a:gd name="connsiteX3" fmla="*/ 0 w 72135"/>
                <a:gd name="connsiteY3" fmla="*/ 122630 h 122630"/>
                <a:gd name="connsiteX4" fmla="*/ 64922 w 72135"/>
                <a:gd name="connsiteY4" fmla="*/ 0 h 122630"/>
                <a:gd name="connsiteX5" fmla="*/ 72135 w 72135"/>
                <a:gd name="connsiteY5" fmla="*/ 7214 h 122630"/>
                <a:gd name="connsiteX6" fmla="*/ 64922 w 72135"/>
                <a:gd name="connsiteY6" fmla="*/ 14427 h 122630"/>
                <a:gd name="connsiteX7" fmla="*/ 41838 w 72135"/>
                <a:gd name="connsiteY7" fmla="*/ 14427 h 122630"/>
                <a:gd name="connsiteX8" fmla="*/ 34625 w 72135"/>
                <a:gd name="connsiteY8" fmla="*/ 7214 h 122630"/>
                <a:gd name="connsiteX9" fmla="*/ 41838 w 72135"/>
                <a:gd name="connsiteY9" fmla="*/ 0 h 122630"/>
                <a:gd name="connsiteX10" fmla="*/ 64922 w 72135"/>
                <a:gd name="connsiteY10" fmla="*/ 0 h 122630"/>
                <a:gd name="connsiteX11" fmla="*/ 64922 w 72135"/>
                <a:gd name="connsiteY11" fmla="*/ 34625 h 122630"/>
                <a:gd name="connsiteX12" fmla="*/ 72135 w 72135"/>
                <a:gd name="connsiteY12" fmla="*/ 41838 h 122630"/>
                <a:gd name="connsiteX13" fmla="*/ 64922 w 72135"/>
                <a:gd name="connsiteY13" fmla="*/ 49052 h 122630"/>
                <a:gd name="connsiteX14" fmla="*/ 41838 w 72135"/>
                <a:gd name="connsiteY14" fmla="*/ 49052 h 122630"/>
                <a:gd name="connsiteX15" fmla="*/ 34625 w 72135"/>
                <a:gd name="connsiteY15" fmla="*/ 41838 h 122630"/>
                <a:gd name="connsiteX16" fmla="*/ 41838 w 72135"/>
                <a:gd name="connsiteY16" fmla="*/ 34625 h 122630"/>
                <a:gd name="connsiteX17" fmla="*/ 64922 w 72135"/>
                <a:gd name="connsiteY17" fmla="*/ 34625 h 122630"/>
                <a:gd name="connsiteX18" fmla="*/ 64922 w 72135"/>
                <a:gd name="connsiteY18" fmla="*/ 69250 h 122630"/>
                <a:gd name="connsiteX19" fmla="*/ 72135 w 72135"/>
                <a:gd name="connsiteY19" fmla="*/ 76463 h 122630"/>
                <a:gd name="connsiteX20" fmla="*/ 64922 w 72135"/>
                <a:gd name="connsiteY20" fmla="*/ 83677 h 122630"/>
                <a:gd name="connsiteX21" fmla="*/ 41838 w 72135"/>
                <a:gd name="connsiteY21" fmla="*/ 83677 h 122630"/>
                <a:gd name="connsiteX22" fmla="*/ 34625 w 72135"/>
                <a:gd name="connsiteY22" fmla="*/ 76463 h 122630"/>
                <a:gd name="connsiteX23" fmla="*/ 41838 w 72135"/>
                <a:gd name="connsiteY23" fmla="*/ 69250 h 122630"/>
                <a:gd name="connsiteX24" fmla="*/ 64922 w 72135"/>
                <a:gd name="connsiteY24" fmla="*/ 69250 h 12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35" h="122630">
                  <a:moveTo>
                    <a:pt x="0" y="18755"/>
                  </a:moveTo>
                  <a:lnTo>
                    <a:pt x="14427" y="18755"/>
                  </a:lnTo>
                  <a:lnTo>
                    <a:pt x="14427" y="122630"/>
                  </a:lnTo>
                  <a:lnTo>
                    <a:pt x="0" y="122630"/>
                  </a:lnTo>
                  <a:close/>
                  <a:moveTo>
                    <a:pt x="64922" y="0"/>
                  </a:moveTo>
                  <a:cubicBezTo>
                    <a:pt x="68906" y="0"/>
                    <a:pt x="72135" y="3230"/>
                    <a:pt x="72135" y="7214"/>
                  </a:cubicBezTo>
                  <a:cubicBezTo>
                    <a:pt x="72135" y="11197"/>
                    <a:pt x="68906" y="14427"/>
                    <a:pt x="64922" y="14427"/>
                  </a:cubicBezTo>
                  <a:lnTo>
                    <a:pt x="41838" y="14427"/>
                  </a:lnTo>
                  <a:cubicBezTo>
                    <a:pt x="37855" y="14427"/>
                    <a:pt x="34625" y="11197"/>
                    <a:pt x="34625" y="7214"/>
                  </a:cubicBezTo>
                  <a:cubicBezTo>
                    <a:pt x="34625" y="3230"/>
                    <a:pt x="37855" y="0"/>
                    <a:pt x="41838" y="0"/>
                  </a:cubicBezTo>
                  <a:lnTo>
                    <a:pt x="64922" y="0"/>
                  </a:lnTo>
                  <a:close/>
                  <a:moveTo>
                    <a:pt x="64922" y="34625"/>
                  </a:moveTo>
                  <a:cubicBezTo>
                    <a:pt x="68906" y="34625"/>
                    <a:pt x="72135" y="37855"/>
                    <a:pt x="72135" y="41838"/>
                  </a:cubicBezTo>
                  <a:cubicBezTo>
                    <a:pt x="72135" y="45822"/>
                    <a:pt x="68906" y="49052"/>
                    <a:pt x="64922" y="49052"/>
                  </a:cubicBezTo>
                  <a:lnTo>
                    <a:pt x="41838" y="49052"/>
                  </a:lnTo>
                  <a:cubicBezTo>
                    <a:pt x="37855" y="49052"/>
                    <a:pt x="34625" y="45822"/>
                    <a:pt x="34625" y="41838"/>
                  </a:cubicBezTo>
                  <a:cubicBezTo>
                    <a:pt x="34625" y="37855"/>
                    <a:pt x="37855" y="34625"/>
                    <a:pt x="41838" y="34625"/>
                  </a:cubicBezTo>
                  <a:lnTo>
                    <a:pt x="64922" y="34625"/>
                  </a:lnTo>
                  <a:close/>
                  <a:moveTo>
                    <a:pt x="64922" y="69250"/>
                  </a:moveTo>
                  <a:cubicBezTo>
                    <a:pt x="68906" y="69250"/>
                    <a:pt x="72135" y="72480"/>
                    <a:pt x="72135" y="76463"/>
                  </a:cubicBezTo>
                  <a:cubicBezTo>
                    <a:pt x="72135" y="80447"/>
                    <a:pt x="68906" y="83677"/>
                    <a:pt x="64922" y="83677"/>
                  </a:cubicBezTo>
                  <a:lnTo>
                    <a:pt x="41838" y="83677"/>
                  </a:lnTo>
                  <a:cubicBezTo>
                    <a:pt x="37855" y="83677"/>
                    <a:pt x="34625" y="80447"/>
                    <a:pt x="34625" y="76463"/>
                  </a:cubicBezTo>
                  <a:cubicBezTo>
                    <a:pt x="34625" y="72480"/>
                    <a:pt x="37855" y="69250"/>
                    <a:pt x="41838" y="69250"/>
                  </a:cubicBezTo>
                  <a:lnTo>
                    <a:pt x="64922" y="69250"/>
                  </a:lnTo>
                  <a:close/>
                </a:path>
              </a:pathLst>
            </a:custGeom>
            <a:grpFill/>
            <a:ln w="223"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grpSp>
        <p:nvGrpSpPr>
          <p:cNvPr id="1085" name="组合 1084"/>
          <p:cNvGrpSpPr/>
          <p:nvPr/>
        </p:nvGrpSpPr>
        <p:grpSpPr>
          <a:xfrm rot="0">
            <a:off x="6725920" y="6247130"/>
            <a:ext cx="137160" cy="133985"/>
            <a:chOff x="5201266" y="1099833"/>
            <a:chExt cx="160257" cy="161181"/>
          </a:xfrm>
          <a:solidFill>
            <a:srgbClr val="0042FF"/>
          </a:solidFill>
        </p:grpSpPr>
        <p:sp>
          <p:nvSpPr>
            <p:cNvPr id="1080" name="任意多边形: 形状 1079"/>
            <p:cNvSpPr/>
            <p:nvPr/>
          </p:nvSpPr>
          <p:spPr>
            <a:xfrm>
              <a:off x="5201266" y="1099833"/>
              <a:ext cx="107366" cy="152380"/>
            </a:xfrm>
            <a:custGeom>
              <a:avLst/>
              <a:gdLst>
                <a:gd name="connsiteX0" fmla="*/ 53683 w 107366"/>
                <a:gd name="connsiteY0" fmla="*/ 51571 h 152380"/>
                <a:gd name="connsiteX1" fmla="*/ 17381 w 107366"/>
                <a:gd name="connsiteY1" fmla="*/ 45147 h 152380"/>
                <a:gd name="connsiteX2" fmla="*/ 0 w 107366"/>
                <a:gd name="connsiteY2" fmla="*/ 25785 h 152380"/>
                <a:gd name="connsiteX3" fmla="*/ 17381 w 107366"/>
                <a:gd name="connsiteY3" fmla="*/ 6424 h 152380"/>
                <a:gd name="connsiteX4" fmla="*/ 53683 w 107366"/>
                <a:gd name="connsiteY4" fmla="*/ 0 h 152380"/>
                <a:gd name="connsiteX5" fmla="*/ 89985 w 107366"/>
                <a:gd name="connsiteY5" fmla="*/ 6424 h 152380"/>
                <a:gd name="connsiteX6" fmla="*/ 107366 w 107366"/>
                <a:gd name="connsiteY6" fmla="*/ 25785 h 152380"/>
                <a:gd name="connsiteX7" fmla="*/ 89985 w 107366"/>
                <a:gd name="connsiteY7" fmla="*/ 45147 h 152380"/>
                <a:gd name="connsiteX8" fmla="*/ 53683 w 107366"/>
                <a:gd name="connsiteY8" fmla="*/ 51571 h 152380"/>
                <a:gd name="connsiteX9" fmla="*/ 53683 w 107366"/>
                <a:gd name="connsiteY9" fmla="*/ 10561 h 152380"/>
                <a:gd name="connsiteX10" fmla="*/ 10561 w 107366"/>
                <a:gd name="connsiteY10" fmla="*/ 25785 h 152380"/>
                <a:gd name="connsiteX11" fmla="*/ 53683 w 107366"/>
                <a:gd name="connsiteY11" fmla="*/ 41010 h 152380"/>
                <a:gd name="connsiteX12" fmla="*/ 96806 w 107366"/>
                <a:gd name="connsiteY12" fmla="*/ 25785 h 152380"/>
                <a:gd name="connsiteX13" fmla="*/ 53683 w 107366"/>
                <a:gd name="connsiteY13" fmla="*/ 10561 h 152380"/>
                <a:gd name="connsiteX14" fmla="*/ 53683 w 107366"/>
                <a:gd name="connsiteY14" fmla="*/ 86597 h 152380"/>
                <a:gd name="connsiteX15" fmla="*/ 17381 w 107366"/>
                <a:gd name="connsiteY15" fmla="*/ 80173 h 152380"/>
                <a:gd name="connsiteX16" fmla="*/ 0 w 107366"/>
                <a:gd name="connsiteY16" fmla="*/ 60811 h 152380"/>
                <a:gd name="connsiteX17" fmla="*/ 5280 w 107366"/>
                <a:gd name="connsiteY17" fmla="*/ 55531 h 152380"/>
                <a:gd name="connsiteX18" fmla="*/ 10561 w 107366"/>
                <a:gd name="connsiteY18" fmla="*/ 60811 h 152380"/>
                <a:gd name="connsiteX19" fmla="*/ 53683 w 107366"/>
                <a:gd name="connsiteY19" fmla="*/ 76036 h 152380"/>
                <a:gd name="connsiteX20" fmla="*/ 60591 w 107366"/>
                <a:gd name="connsiteY20" fmla="*/ 75816 h 152380"/>
                <a:gd name="connsiteX21" fmla="*/ 66180 w 107366"/>
                <a:gd name="connsiteY21" fmla="*/ 80745 h 152380"/>
                <a:gd name="connsiteX22" fmla="*/ 61251 w 107366"/>
                <a:gd name="connsiteY22" fmla="*/ 86333 h 152380"/>
                <a:gd name="connsiteX23" fmla="*/ 53683 w 107366"/>
                <a:gd name="connsiteY23" fmla="*/ 86597 h 152380"/>
                <a:gd name="connsiteX24" fmla="*/ 53683 w 107366"/>
                <a:gd name="connsiteY24" fmla="*/ 119599 h 152380"/>
                <a:gd name="connsiteX25" fmla="*/ 17381 w 107366"/>
                <a:gd name="connsiteY25" fmla="*/ 113174 h 152380"/>
                <a:gd name="connsiteX26" fmla="*/ 0 w 107366"/>
                <a:gd name="connsiteY26" fmla="*/ 93813 h 152380"/>
                <a:gd name="connsiteX27" fmla="*/ 5280 w 107366"/>
                <a:gd name="connsiteY27" fmla="*/ 88533 h 152380"/>
                <a:gd name="connsiteX28" fmla="*/ 10561 w 107366"/>
                <a:gd name="connsiteY28" fmla="*/ 93813 h 152380"/>
                <a:gd name="connsiteX29" fmla="*/ 53683 w 107366"/>
                <a:gd name="connsiteY29" fmla="*/ 109038 h 152380"/>
                <a:gd name="connsiteX30" fmla="*/ 60283 w 107366"/>
                <a:gd name="connsiteY30" fmla="*/ 108862 h 152380"/>
                <a:gd name="connsiteX31" fmla="*/ 65872 w 107366"/>
                <a:gd name="connsiteY31" fmla="*/ 113834 h 152380"/>
                <a:gd name="connsiteX32" fmla="*/ 60899 w 107366"/>
                <a:gd name="connsiteY32" fmla="*/ 119423 h 152380"/>
                <a:gd name="connsiteX33" fmla="*/ 53683 w 107366"/>
                <a:gd name="connsiteY33" fmla="*/ 119599 h 152380"/>
                <a:gd name="connsiteX34" fmla="*/ 53683 w 107366"/>
                <a:gd name="connsiteY34" fmla="*/ 152381 h 152380"/>
                <a:gd name="connsiteX35" fmla="*/ 17381 w 107366"/>
                <a:gd name="connsiteY35" fmla="*/ 145956 h 152380"/>
                <a:gd name="connsiteX36" fmla="*/ 0 w 107366"/>
                <a:gd name="connsiteY36" fmla="*/ 126595 h 152380"/>
                <a:gd name="connsiteX37" fmla="*/ 5280 w 107366"/>
                <a:gd name="connsiteY37" fmla="*/ 121315 h 152380"/>
                <a:gd name="connsiteX38" fmla="*/ 10561 w 107366"/>
                <a:gd name="connsiteY38" fmla="*/ 126595 h 152380"/>
                <a:gd name="connsiteX39" fmla="*/ 53683 w 107366"/>
                <a:gd name="connsiteY39" fmla="*/ 141820 h 152380"/>
                <a:gd name="connsiteX40" fmla="*/ 59139 w 107366"/>
                <a:gd name="connsiteY40" fmla="*/ 141688 h 152380"/>
                <a:gd name="connsiteX41" fmla="*/ 64684 w 107366"/>
                <a:gd name="connsiteY41" fmla="*/ 146704 h 152380"/>
                <a:gd name="connsiteX42" fmla="*/ 59667 w 107366"/>
                <a:gd name="connsiteY42" fmla="*/ 152249 h 152380"/>
                <a:gd name="connsiteX43" fmla="*/ 53683 w 107366"/>
                <a:gd name="connsiteY43" fmla="*/ 152381 h 15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7366" h="152380">
                  <a:moveTo>
                    <a:pt x="53683" y="51571"/>
                  </a:moveTo>
                  <a:cubicBezTo>
                    <a:pt x="40042" y="51571"/>
                    <a:pt x="27150" y="49283"/>
                    <a:pt x="17381" y="45147"/>
                  </a:cubicBezTo>
                  <a:cubicBezTo>
                    <a:pt x="6160" y="40394"/>
                    <a:pt x="0" y="33530"/>
                    <a:pt x="0" y="25785"/>
                  </a:cubicBezTo>
                  <a:cubicBezTo>
                    <a:pt x="0" y="18041"/>
                    <a:pt x="6160" y="11177"/>
                    <a:pt x="17381" y="6424"/>
                  </a:cubicBezTo>
                  <a:cubicBezTo>
                    <a:pt x="27150" y="2288"/>
                    <a:pt x="40042" y="0"/>
                    <a:pt x="53683" y="0"/>
                  </a:cubicBezTo>
                  <a:cubicBezTo>
                    <a:pt x="67324" y="0"/>
                    <a:pt x="80217" y="2288"/>
                    <a:pt x="89985" y="6424"/>
                  </a:cubicBezTo>
                  <a:cubicBezTo>
                    <a:pt x="101206" y="11177"/>
                    <a:pt x="107366" y="18041"/>
                    <a:pt x="107366" y="25785"/>
                  </a:cubicBezTo>
                  <a:cubicBezTo>
                    <a:pt x="107366" y="33530"/>
                    <a:pt x="101206" y="40394"/>
                    <a:pt x="89985" y="45147"/>
                  </a:cubicBezTo>
                  <a:cubicBezTo>
                    <a:pt x="80217" y="49327"/>
                    <a:pt x="67324" y="51571"/>
                    <a:pt x="53683" y="51571"/>
                  </a:cubicBezTo>
                  <a:close/>
                  <a:moveTo>
                    <a:pt x="53683" y="10561"/>
                  </a:moveTo>
                  <a:cubicBezTo>
                    <a:pt x="27370" y="10561"/>
                    <a:pt x="10561" y="19581"/>
                    <a:pt x="10561" y="25785"/>
                  </a:cubicBezTo>
                  <a:cubicBezTo>
                    <a:pt x="10561" y="31990"/>
                    <a:pt x="27370" y="41010"/>
                    <a:pt x="53683" y="41010"/>
                  </a:cubicBezTo>
                  <a:cubicBezTo>
                    <a:pt x="79997" y="41010"/>
                    <a:pt x="96806" y="31990"/>
                    <a:pt x="96806" y="25785"/>
                  </a:cubicBezTo>
                  <a:cubicBezTo>
                    <a:pt x="96806" y="19581"/>
                    <a:pt x="79997" y="10561"/>
                    <a:pt x="53683" y="10561"/>
                  </a:cubicBezTo>
                  <a:close/>
                  <a:moveTo>
                    <a:pt x="53683" y="86597"/>
                  </a:moveTo>
                  <a:cubicBezTo>
                    <a:pt x="40042" y="86597"/>
                    <a:pt x="27150" y="84309"/>
                    <a:pt x="17381" y="80173"/>
                  </a:cubicBezTo>
                  <a:cubicBezTo>
                    <a:pt x="6160" y="75420"/>
                    <a:pt x="0" y="68556"/>
                    <a:pt x="0" y="60811"/>
                  </a:cubicBezTo>
                  <a:cubicBezTo>
                    <a:pt x="0" y="57907"/>
                    <a:pt x="2376" y="55531"/>
                    <a:pt x="5280" y="55531"/>
                  </a:cubicBezTo>
                  <a:cubicBezTo>
                    <a:pt x="8184" y="55531"/>
                    <a:pt x="10561" y="57907"/>
                    <a:pt x="10561" y="60811"/>
                  </a:cubicBezTo>
                  <a:cubicBezTo>
                    <a:pt x="10561" y="67016"/>
                    <a:pt x="27370" y="76036"/>
                    <a:pt x="53683" y="76036"/>
                  </a:cubicBezTo>
                  <a:cubicBezTo>
                    <a:pt x="56015" y="76036"/>
                    <a:pt x="58347" y="75948"/>
                    <a:pt x="60591" y="75816"/>
                  </a:cubicBezTo>
                  <a:cubicBezTo>
                    <a:pt x="63496" y="75640"/>
                    <a:pt x="66004" y="77840"/>
                    <a:pt x="66180" y="80745"/>
                  </a:cubicBezTo>
                  <a:cubicBezTo>
                    <a:pt x="66356" y="83649"/>
                    <a:pt x="64156" y="86157"/>
                    <a:pt x="61251" y="86333"/>
                  </a:cubicBezTo>
                  <a:cubicBezTo>
                    <a:pt x="58787" y="86509"/>
                    <a:pt x="56235" y="86597"/>
                    <a:pt x="53683" y="86597"/>
                  </a:cubicBezTo>
                  <a:close/>
                  <a:moveTo>
                    <a:pt x="53683" y="119599"/>
                  </a:moveTo>
                  <a:cubicBezTo>
                    <a:pt x="40042" y="119599"/>
                    <a:pt x="27150" y="117311"/>
                    <a:pt x="17381" y="113174"/>
                  </a:cubicBezTo>
                  <a:cubicBezTo>
                    <a:pt x="6160" y="108422"/>
                    <a:pt x="0" y="101558"/>
                    <a:pt x="0" y="93813"/>
                  </a:cubicBezTo>
                  <a:cubicBezTo>
                    <a:pt x="0" y="90909"/>
                    <a:pt x="2376" y="88533"/>
                    <a:pt x="5280" y="88533"/>
                  </a:cubicBezTo>
                  <a:cubicBezTo>
                    <a:pt x="8184" y="88533"/>
                    <a:pt x="10561" y="90909"/>
                    <a:pt x="10561" y="93813"/>
                  </a:cubicBezTo>
                  <a:cubicBezTo>
                    <a:pt x="10561" y="100018"/>
                    <a:pt x="27370" y="109038"/>
                    <a:pt x="53683" y="109038"/>
                  </a:cubicBezTo>
                  <a:cubicBezTo>
                    <a:pt x="55883" y="109038"/>
                    <a:pt x="58127" y="108950"/>
                    <a:pt x="60283" y="108862"/>
                  </a:cubicBezTo>
                  <a:cubicBezTo>
                    <a:pt x="63188" y="108686"/>
                    <a:pt x="65696" y="110886"/>
                    <a:pt x="65872" y="113834"/>
                  </a:cubicBezTo>
                  <a:cubicBezTo>
                    <a:pt x="66048" y="116739"/>
                    <a:pt x="63848" y="119247"/>
                    <a:pt x="60899" y="119423"/>
                  </a:cubicBezTo>
                  <a:cubicBezTo>
                    <a:pt x="58567" y="119511"/>
                    <a:pt x="56103" y="119599"/>
                    <a:pt x="53683" y="119599"/>
                  </a:cubicBezTo>
                  <a:close/>
                  <a:moveTo>
                    <a:pt x="53683" y="152381"/>
                  </a:moveTo>
                  <a:cubicBezTo>
                    <a:pt x="40042" y="152381"/>
                    <a:pt x="27150" y="150093"/>
                    <a:pt x="17381" y="145956"/>
                  </a:cubicBezTo>
                  <a:cubicBezTo>
                    <a:pt x="6160" y="141204"/>
                    <a:pt x="0" y="134340"/>
                    <a:pt x="0" y="126595"/>
                  </a:cubicBezTo>
                  <a:cubicBezTo>
                    <a:pt x="0" y="123691"/>
                    <a:pt x="2376" y="121315"/>
                    <a:pt x="5280" y="121315"/>
                  </a:cubicBezTo>
                  <a:cubicBezTo>
                    <a:pt x="8184" y="121315"/>
                    <a:pt x="10561" y="123691"/>
                    <a:pt x="10561" y="126595"/>
                  </a:cubicBezTo>
                  <a:cubicBezTo>
                    <a:pt x="10561" y="132800"/>
                    <a:pt x="27370" y="141820"/>
                    <a:pt x="53683" y="141820"/>
                  </a:cubicBezTo>
                  <a:cubicBezTo>
                    <a:pt x="55531" y="141820"/>
                    <a:pt x="57379" y="141776"/>
                    <a:pt x="59139" y="141688"/>
                  </a:cubicBezTo>
                  <a:cubicBezTo>
                    <a:pt x="62044" y="141556"/>
                    <a:pt x="64552" y="143800"/>
                    <a:pt x="64684" y="146704"/>
                  </a:cubicBezTo>
                  <a:cubicBezTo>
                    <a:pt x="64816" y="149609"/>
                    <a:pt x="62572" y="152117"/>
                    <a:pt x="59667" y="152249"/>
                  </a:cubicBezTo>
                  <a:cubicBezTo>
                    <a:pt x="57731" y="152293"/>
                    <a:pt x="55707" y="152381"/>
                    <a:pt x="53683" y="152381"/>
                  </a:cubicBezTo>
                  <a:close/>
                </a:path>
              </a:pathLst>
            </a:custGeom>
            <a:grpFill/>
            <a:ln w="167"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081" name="任意多边形: 形状 1080"/>
            <p:cNvSpPr/>
            <p:nvPr/>
          </p:nvSpPr>
          <p:spPr>
            <a:xfrm>
              <a:off x="5201266" y="1119942"/>
              <a:ext cx="160257" cy="111326"/>
            </a:xfrm>
            <a:custGeom>
              <a:avLst/>
              <a:gdLst>
                <a:gd name="connsiteX0" fmla="*/ 5280 w 160257"/>
                <a:gd name="connsiteY0" fmla="*/ 111326 h 111326"/>
                <a:gd name="connsiteX1" fmla="*/ 0 w 160257"/>
                <a:gd name="connsiteY1" fmla="*/ 106046 h 111326"/>
                <a:gd name="connsiteX2" fmla="*/ 0 w 160257"/>
                <a:gd name="connsiteY2" fmla="*/ 5280 h 111326"/>
                <a:gd name="connsiteX3" fmla="*/ 5280 w 160257"/>
                <a:gd name="connsiteY3" fmla="*/ 0 h 111326"/>
                <a:gd name="connsiteX4" fmla="*/ 10561 w 160257"/>
                <a:gd name="connsiteY4" fmla="*/ 5280 h 111326"/>
                <a:gd name="connsiteX5" fmla="*/ 10561 w 160257"/>
                <a:gd name="connsiteY5" fmla="*/ 106046 h 111326"/>
                <a:gd name="connsiteX6" fmla="*/ 5280 w 160257"/>
                <a:gd name="connsiteY6" fmla="*/ 111326 h 111326"/>
                <a:gd name="connsiteX7" fmla="*/ 102086 w 160257"/>
                <a:gd name="connsiteY7" fmla="*/ 38590 h 111326"/>
                <a:gd name="connsiteX8" fmla="*/ 96806 w 160257"/>
                <a:gd name="connsiteY8" fmla="*/ 33310 h 111326"/>
                <a:gd name="connsiteX9" fmla="*/ 96806 w 160257"/>
                <a:gd name="connsiteY9" fmla="*/ 5280 h 111326"/>
                <a:gd name="connsiteX10" fmla="*/ 102086 w 160257"/>
                <a:gd name="connsiteY10" fmla="*/ 0 h 111326"/>
                <a:gd name="connsiteX11" fmla="*/ 107366 w 160257"/>
                <a:gd name="connsiteY11" fmla="*/ 5280 h 111326"/>
                <a:gd name="connsiteX12" fmla="*/ 107366 w 160257"/>
                <a:gd name="connsiteY12" fmla="*/ 33310 h 111326"/>
                <a:gd name="connsiteX13" fmla="*/ 102086 w 160257"/>
                <a:gd name="connsiteY13" fmla="*/ 38590 h 111326"/>
                <a:gd name="connsiteX14" fmla="*/ 114627 w 160257"/>
                <a:gd name="connsiteY14" fmla="*/ 86641 h 111326"/>
                <a:gd name="connsiteX15" fmla="*/ 84045 w 160257"/>
                <a:gd name="connsiteY15" fmla="*/ 81229 h 111326"/>
                <a:gd name="connsiteX16" fmla="*/ 68996 w 160257"/>
                <a:gd name="connsiteY16" fmla="*/ 64288 h 111326"/>
                <a:gd name="connsiteX17" fmla="*/ 84045 w 160257"/>
                <a:gd name="connsiteY17" fmla="*/ 47347 h 111326"/>
                <a:gd name="connsiteX18" fmla="*/ 114627 w 160257"/>
                <a:gd name="connsiteY18" fmla="*/ 41934 h 111326"/>
                <a:gd name="connsiteX19" fmla="*/ 145208 w 160257"/>
                <a:gd name="connsiteY19" fmla="*/ 47347 h 111326"/>
                <a:gd name="connsiteX20" fmla="*/ 160257 w 160257"/>
                <a:gd name="connsiteY20" fmla="*/ 64288 h 111326"/>
                <a:gd name="connsiteX21" fmla="*/ 145208 w 160257"/>
                <a:gd name="connsiteY21" fmla="*/ 81229 h 111326"/>
                <a:gd name="connsiteX22" fmla="*/ 114627 w 160257"/>
                <a:gd name="connsiteY22" fmla="*/ 86641 h 111326"/>
                <a:gd name="connsiteX23" fmla="*/ 114627 w 160257"/>
                <a:gd name="connsiteY23" fmla="*/ 52495 h 111326"/>
                <a:gd name="connsiteX24" fmla="*/ 79601 w 160257"/>
                <a:gd name="connsiteY24" fmla="*/ 64288 h 111326"/>
                <a:gd name="connsiteX25" fmla="*/ 114627 w 160257"/>
                <a:gd name="connsiteY25" fmla="*/ 76080 h 111326"/>
                <a:gd name="connsiteX26" fmla="*/ 149653 w 160257"/>
                <a:gd name="connsiteY26" fmla="*/ 64288 h 111326"/>
                <a:gd name="connsiteX27" fmla="*/ 114627 w 160257"/>
                <a:gd name="connsiteY27" fmla="*/ 52495 h 1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0257" h="111326">
                  <a:moveTo>
                    <a:pt x="5280" y="111326"/>
                  </a:moveTo>
                  <a:cubicBezTo>
                    <a:pt x="2376" y="111326"/>
                    <a:pt x="0" y="108950"/>
                    <a:pt x="0" y="106046"/>
                  </a:cubicBezTo>
                  <a:lnTo>
                    <a:pt x="0" y="5280"/>
                  </a:lnTo>
                  <a:cubicBezTo>
                    <a:pt x="0" y="2376"/>
                    <a:pt x="2376" y="0"/>
                    <a:pt x="5280" y="0"/>
                  </a:cubicBezTo>
                  <a:cubicBezTo>
                    <a:pt x="8184" y="0"/>
                    <a:pt x="10561" y="2376"/>
                    <a:pt x="10561" y="5280"/>
                  </a:cubicBezTo>
                  <a:lnTo>
                    <a:pt x="10561" y="106046"/>
                  </a:lnTo>
                  <a:cubicBezTo>
                    <a:pt x="10561" y="108950"/>
                    <a:pt x="8184" y="111326"/>
                    <a:pt x="5280" y="111326"/>
                  </a:cubicBezTo>
                  <a:close/>
                  <a:moveTo>
                    <a:pt x="102086" y="38590"/>
                  </a:moveTo>
                  <a:cubicBezTo>
                    <a:pt x="99182" y="38590"/>
                    <a:pt x="96806" y="36214"/>
                    <a:pt x="96806" y="33310"/>
                  </a:cubicBezTo>
                  <a:lnTo>
                    <a:pt x="96806" y="5280"/>
                  </a:lnTo>
                  <a:cubicBezTo>
                    <a:pt x="96806" y="2376"/>
                    <a:pt x="99182" y="0"/>
                    <a:pt x="102086" y="0"/>
                  </a:cubicBezTo>
                  <a:cubicBezTo>
                    <a:pt x="104990" y="0"/>
                    <a:pt x="107366" y="2376"/>
                    <a:pt x="107366" y="5280"/>
                  </a:cubicBezTo>
                  <a:lnTo>
                    <a:pt x="107366" y="33310"/>
                  </a:lnTo>
                  <a:cubicBezTo>
                    <a:pt x="107366" y="36214"/>
                    <a:pt x="104990" y="38590"/>
                    <a:pt x="102086" y="38590"/>
                  </a:cubicBezTo>
                  <a:close/>
                  <a:moveTo>
                    <a:pt x="114627" y="86641"/>
                  </a:moveTo>
                  <a:cubicBezTo>
                    <a:pt x="103186" y="86641"/>
                    <a:pt x="92317" y="84705"/>
                    <a:pt x="84045" y="81229"/>
                  </a:cubicBezTo>
                  <a:cubicBezTo>
                    <a:pt x="74364" y="77136"/>
                    <a:pt x="68996" y="71108"/>
                    <a:pt x="68996" y="64288"/>
                  </a:cubicBezTo>
                  <a:cubicBezTo>
                    <a:pt x="68996" y="57467"/>
                    <a:pt x="74320" y="51439"/>
                    <a:pt x="84045" y="47347"/>
                  </a:cubicBezTo>
                  <a:cubicBezTo>
                    <a:pt x="92317" y="43870"/>
                    <a:pt x="103142" y="41934"/>
                    <a:pt x="114627" y="41934"/>
                  </a:cubicBezTo>
                  <a:cubicBezTo>
                    <a:pt x="126111" y="41934"/>
                    <a:pt x="136936" y="43870"/>
                    <a:pt x="145208" y="47347"/>
                  </a:cubicBezTo>
                  <a:cubicBezTo>
                    <a:pt x="154889" y="51439"/>
                    <a:pt x="160257" y="57467"/>
                    <a:pt x="160257" y="64288"/>
                  </a:cubicBezTo>
                  <a:cubicBezTo>
                    <a:pt x="160257" y="71108"/>
                    <a:pt x="154933" y="77136"/>
                    <a:pt x="145208" y="81229"/>
                  </a:cubicBezTo>
                  <a:cubicBezTo>
                    <a:pt x="136936" y="84705"/>
                    <a:pt x="126111" y="86641"/>
                    <a:pt x="114627" y="86641"/>
                  </a:cubicBezTo>
                  <a:close/>
                  <a:moveTo>
                    <a:pt x="114627" y="52495"/>
                  </a:moveTo>
                  <a:cubicBezTo>
                    <a:pt x="91965" y="52495"/>
                    <a:pt x="79601" y="60283"/>
                    <a:pt x="79601" y="64288"/>
                  </a:cubicBezTo>
                  <a:cubicBezTo>
                    <a:pt x="79601" y="68292"/>
                    <a:pt x="91965" y="76080"/>
                    <a:pt x="114627" y="76080"/>
                  </a:cubicBezTo>
                  <a:cubicBezTo>
                    <a:pt x="137288" y="76080"/>
                    <a:pt x="149653" y="68292"/>
                    <a:pt x="149653" y="64288"/>
                  </a:cubicBezTo>
                  <a:cubicBezTo>
                    <a:pt x="149653" y="60283"/>
                    <a:pt x="137288" y="52495"/>
                    <a:pt x="114627" y="52495"/>
                  </a:cubicBezTo>
                  <a:close/>
                </a:path>
              </a:pathLst>
            </a:custGeom>
            <a:grpFill/>
            <a:ln w="167"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082" name="任意多边形: 形状 1081"/>
            <p:cNvSpPr/>
            <p:nvPr/>
          </p:nvSpPr>
          <p:spPr>
            <a:xfrm>
              <a:off x="5270262" y="1205879"/>
              <a:ext cx="91173" cy="27633"/>
            </a:xfrm>
            <a:custGeom>
              <a:avLst/>
              <a:gdLst>
                <a:gd name="connsiteX0" fmla="*/ 45631 w 91173"/>
                <a:gd name="connsiteY0" fmla="*/ 27634 h 27633"/>
                <a:gd name="connsiteX1" fmla="*/ 15049 w 91173"/>
                <a:gd name="connsiteY1" fmla="*/ 22221 h 27633"/>
                <a:gd name="connsiteX2" fmla="*/ 0 w 91173"/>
                <a:gd name="connsiteY2" fmla="*/ 5280 h 27633"/>
                <a:gd name="connsiteX3" fmla="*/ 5280 w 91173"/>
                <a:gd name="connsiteY3" fmla="*/ 0 h 27633"/>
                <a:gd name="connsiteX4" fmla="*/ 10561 w 91173"/>
                <a:gd name="connsiteY4" fmla="*/ 5280 h 27633"/>
                <a:gd name="connsiteX5" fmla="*/ 45587 w 91173"/>
                <a:gd name="connsiteY5" fmla="*/ 17073 h 27633"/>
                <a:gd name="connsiteX6" fmla="*/ 80613 w 91173"/>
                <a:gd name="connsiteY6" fmla="*/ 5280 h 27633"/>
                <a:gd name="connsiteX7" fmla="*/ 85893 w 91173"/>
                <a:gd name="connsiteY7" fmla="*/ 0 h 27633"/>
                <a:gd name="connsiteX8" fmla="*/ 91173 w 91173"/>
                <a:gd name="connsiteY8" fmla="*/ 5280 h 27633"/>
                <a:gd name="connsiteX9" fmla="*/ 76124 w 91173"/>
                <a:gd name="connsiteY9" fmla="*/ 22221 h 27633"/>
                <a:gd name="connsiteX10" fmla="*/ 45631 w 91173"/>
                <a:gd name="connsiteY10" fmla="*/ 27634 h 2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73" h="27633">
                  <a:moveTo>
                    <a:pt x="45631" y="27634"/>
                  </a:moveTo>
                  <a:cubicBezTo>
                    <a:pt x="34190" y="27634"/>
                    <a:pt x="23321" y="25697"/>
                    <a:pt x="15049" y="22221"/>
                  </a:cubicBezTo>
                  <a:cubicBezTo>
                    <a:pt x="5368" y="18129"/>
                    <a:pt x="0" y="12101"/>
                    <a:pt x="0" y="5280"/>
                  </a:cubicBezTo>
                  <a:cubicBezTo>
                    <a:pt x="0" y="2376"/>
                    <a:pt x="2376" y="0"/>
                    <a:pt x="5280" y="0"/>
                  </a:cubicBezTo>
                  <a:cubicBezTo>
                    <a:pt x="8184" y="0"/>
                    <a:pt x="10561" y="2376"/>
                    <a:pt x="10561" y="5280"/>
                  </a:cubicBezTo>
                  <a:cubicBezTo>
                    <a:pt x="10561" y="9285"/>
                    <a:pt x="22925" y="17073"/>
                    <a:pt x="45587" y="17073"/>
                  </a:cubicBezTo>
                  <a:cubicBezTo>
                    <a:pt x="68248" y="17073"/>
                    <a:pt x="80613" y="9285"/>
                    <a:pt x="80613" y="5280"/>
                  </a:cubicBezTo>
                  <a:cubicBezTo>
                    <a:pt x="80613" y="2376"/>
                    <a:pt x="82989" y="0"/>
                    <a:pt x="85893" y="0"/>
                  </a:cubicBezTo>
                  <a:cubicBezTo>
                    <a:pt x="88797" y="0"/>
                    <a:pt x="91173" y="2376"/>
                    <a:pt x="91173" y="5280"/>
                  </a:cubicBezTo>
                  <a:cubicBezTo>
                    <a:pt x="91173" y="12101"/>
                    <a:pt x="85849" y="18129"/>
                    <a:pt x="76124" y="22221"/>
                  </a:cubicBezTo>
                  <a:cubicBezTo>
                    <a:pt x="67940" y="25697"/>
                    <a:pt x="57115" y="27634"/>
                    <a:pt x="45631" y="27634"/>
                  </a:cubicBezTo>
                  <a:close/>
                </a:path>
              </a:pathLst>
            </a:custGeom>
            <a:grpFill/>
            <a:ln w="167"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083" name="任意多边形: 形状 1082"/>
            <p:cNvSpPr/>
            <p:nvPr/>
          </p:nvSpPr>
          <p:spPr>
            <a:xfrm>
              <a:off x="5270262" y="1233381"/>
              <a:ext cx="91173" cy="27633"/>
            </a:xfrm>
            <a:custGeom>
              <a:avLst/>
              <a:gdLst>
                <a:gd name="connsiteX0" fmla="*/ 45631 w 91173"/>
                <a:gd name="connsiteY0" fmla="*/ 27634 h 27633"/>
                <a:gd name="connsiteX1" fmla="*/ 15049 w 91173"/>
                <a:gd name="connsiteY1" fmla="*/ 22221 h 27633"/>
                <a:gd name="connsiteX2" fmla="*/ 0 w 91173"/>
                <a:gd name="connsiteY2" fmla="*/ 5280 h 27633"/>
                <a:gd name="connsiteX3" fmla="*/ 5280 w 91173"/>
                <a:gd name="connsiteY3" fmla="*/ 0 h 27633"/>
                <a:gd name="connsiteX4" fmla="*/ 10561 w 91173"/>
                <a:gd name="connsiteY4" fmla="*/ 5280 h 27633"/>
                <a:gd name="connsiteX5" fmla="*/ 45587 w 91173"/>
                <a:gd name="connsiteY5" fmla="*/ 17073 h 27633"/>
                <a:gd name="connsiteX6" fmla="*/ 80613 w 91173"/>
                <a:gd name="connsiteY6" fmla="*/ 5280 h 27633"/>
                <a:gd name="connsiteX7" fmla="*/ 85893 w 91173"/>
                <a:gd name="connsiteY7" fmla="*/ 0 h 27633"/>
                <a:gd name="connsiteX8" fmla="*/ 91173 w 91173"/>
                <a:gd name="connsiteY8" fmla="*/ 5280 h 27633"/>
                <a:gd name="connsiteX9" fmla="*/ 76124 w 91173"/>
                <a:gd name="connsiteY9" fmla="*/ 22221 h 27633"/>
                <a:gd name="connsiteX10" fmla="*/ 45631 w 91173"/>
                <a:gd name="connsiteY10" fmla="*/ 27634 h 2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73" h="27633">
                  <a:moveTo>
                    <a:pt x="45631" y="27634"/>
                  </a:moveTo>
                  <a:cubicBezTo>
                    <a:pt x="34190" y="27634"/>
                    <a:pt x="23321" y="25697"/>
                    <a:pt x="15049" y="22221"/>
                  </a:cubicBezTo>
                  <a:cubicBezTo>
                    <a:pt x="5368" y="18129"/>
                    <a:pt x="0" y="12101"/>
                    <a:pt x="0" y="5280"/>
                  </a:cubicBezTo>
                  <a:cubicBezTo>
                    <a:pt x="0" y="2376"/>
                    <a:pt x="2376" y="0"/>
                    <a:pt x="5280" y="0"/>
                  </a:cubicBezTo>
                  <a:cubicBezTo>
                    <a:pt x="8184" y="0"/>
                    <a:pt x="10561" y="2376"/>
                    <a:pt x="10561" y="5280"/>
                  </a:cubicBezTo>
                  <a:cubicBezTo>
                    <a:pt x="10561" y="9285"/>
                    <a:pt x="22925" y="17073"/>
                    <a:pt x="45587" y="17073"/>
                  </a:cubicBezTo>
                  <a:cubicBezTo>
                    <a:pt x="68248" y="17073"/>
                    <a:pt x="80613" y="9285"/>
                    <a:pt x="80613" y="5280"/>
                  </a:cubicBezTo>
                  <a:cubicBezTo>
                    <a:pt x="80613" y="2376"/>
                    <a:pt x="82989" y="0"/>
                    <a:pt x="85893" y="0"/>
                  </a:cubicBezTo>
                  <a:cubicBezTo>
                    <a:pt x="88797" y="0"/>
                    <a:pt x="91173" y="2376"/>
                    <a:pt x="91173" y="5280"/>
                  </a:cubicBezTo>
                  <a:cubicBezTo>
                    <a:pt x="91173" y="12101"/>
                    <a:pt x="85849" y="18129"/>
                    <a:pt x="76124" y="22221"/>
                  </a:cubicBezTo>
                  <a:cubicBezTo>
                    <a:pt x="67940" y="25697"/>
                    <a:pt x="57115" y="27634"/>
                    <a:pt x="45631" y="27634"/>
                  </a:cubicBezTo>
                  <a:close/>
                </a:path>
              </a:pathLst>
            </a:custGeom>
            <a:grpFill/>
            <a:ln w="167"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084" name="任意多边形: 形状 1083"/>
            <p:cNvSpPr/>
            <p:nvPr/>
          </p:nvSpPr>
          <p:spPr>
            <a:xfrm>
              <a:off x="5270306" y="1176837"/>
              <a:ext cx="91173" cy="67631"/>
            </a:xfrm>
            <a:custGeom>
              <a:avLst/>
              <a:gdLst>
                <a:gd name="connsiteX0" fmla="*/ 5280 w 91173"/>
                <a:gd name="connsiteY0" fmla="*/ 65872 h 67631"/>
                <a:gd name="connsiteX1" fmla="*/ 0 w 91173"/>
                <a:gd name="connsiteY1" fmla="*/ 60591 h 67631"/>
                <a:gd name="connsiteX2" fmla="*/ 0 w 91173"/>
                <a:gd name="connsiteY2" fmla="*/ 5280 h 67631"/>
                <a:gd name="connsiteX3" fmla="*/ 5280 w 91173"/>
                <a:gd name="connsiteY3" fmla="*/ 0 h 67631"/>
                <a:gd name="connsiteX4" fmla="*/ 10561 w 91173"/>
                <a:gd name="connsiteY4" fmla="*/ 5280 h 67631"/>
                <a:gd name="connsiteX5" fmla="*/ 10561 w 91173"/>
                <a:gd name="connsiteY5" fmla="*/ 60591 h 67631"/>
                <a:gd name="connsiteX6" fmla="*/ 5280 w 91173"/>
                <a:gd name="connsiteY6" fmla="*/ 65872 h 67631"/>
                <a:gd name="connsiteX7" fmla="*/ 85893 w 91173"/>
                <a:gd name="connsiteY7" fmla="*/ 67632 h 67631"/>
                <a:gd name="connsiteX8" fmla="*/ 80613 w 91173"/>
                <a:gd name="connsiteY8" fmla="*/ 62352 h 67631"/>
                <a:gd name="connsiteX9" fmla="*/ 80613 w 91173"/>
                <a:gd name="connsiteY9" fmla="*/ 7040 h 67631"/>
                <a:gd name="connsiteX10" fmla="*/ 85893 w 91173"/>
                <a:gd name="connsiteY10" fmla="*/ 1760 h 67631"/>
                <a:gd name="connsiteX11" fmla="*/ 91173 w 91173"/>
                <a:gd name="connsiteY11" fmla="*/ 7040 h 67631"/>
                <a:gd name="connsiteX12" fmla="*/ 91173 w 91173"/>
                <a:gd name="connsiteY12" fmla="*/ 62352 h 67631"/>
                <a:gd name="connsiteX13" fmla="*/ 85893 w 91173"/>
                <a:gd name="connsiteY13" fmla="*/ 67632 h 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1173" h="67631">
                  <a:moveTo>
                    <a:pt x="5280" y="65872"/>
                  </a:moveTo>
                  <a:cubicBezTo>
                    <a:pt x="2376" y="65872"/>
                    <a:pt x="0" y="63496"/>
                    <a:pt x="0" y="60591"/>
                  </a:cubicBezTo>
                  <a:lnTo>
                    <a:pt x="0" y="5280"/>
                  </a:lnTo>
                  <a:cubicBezTo>
                    <a:pt x="0" y="2376"/>
                    <a:pt x="2376" y="0"/>
                    <a:pt x="5280" y="0"/>
                  </a:cubicBezTo>
                  <a:cubicBezTo>
                    <a:pt x="8184" y="0"/>
                    <a:pt x="10561" y="2376"/>
                    <a:pt x="10561" y="5280"/>
                  </a:cubicBezTo>
                  <a:lnTo>
                    <a:pt x="10561" y="60591"/>
                  </a:lnTo>
                  <a:cubicBezTo>
                    <a:pt x="10561" y="63496"/>
                    <a:pt x="8184" y="65872"/>
                    <a:pt x="5280" y="65872"/>
                  </a:cubicBezTo>
                  <a:close/>
                  <a:moveTo>
                    <a:pt x="85893" y="67632"/>
                  </a:moveTo>
                  <a:cubicBezTo>
                    <a:pt x="82989" y="67632"/>
                    <a:pt x="80613" y="65256"/>
                    <a:pt x="80613" y="62352"/>
                  </a:cubicBezTo>
                  <a:lnTo>
                    <a:pt x="80613" y="7040"/>
                  </a:lnTo>
                  <a:cubicBezTo>
                    <a:pt x="80613" y="4136"/>
                    <a:pt x="82989" y="1760"/>
                    <a:pt x="85893" y="1760"/>
                  </a:cubicBezTo>
                  <a:cubicBezTo>
                    <a:pt x="88797" y="1760"/>
                    <a:pt x="91173" y="4136"/>
                    <a:pt x="91173" y="7040"/>
                  </a:cubicBezTo>
                  <a:lnTo>
                    <a:pt x="91173" y="62352"/>
                  </a:lnTo>
                  <a:cubicBezTo>
                    <a:pt x="91173" y="65256"/>
                    <a:pt x="88797" y="67632"/>
                    <a:pt x="85893" y="67632"/>
                  </a:cubicBezTo>
                  <a:close/>
                </a:path>
              </a:pathLst>
            </a:custGeom>
            <a:grpFill/>
            <a:ln w="167"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sp>
        <p:nvSpPr>
          <p:cNvPr id="153" name="图形 151"/>
          <p:cNvSpPr/>
          <p:nvPr/>
        </p:nvSpPr>
        <p:spPr>
          <a:xfrm>
            <a:off x="4359910" y="6038850"/>
            <a:ext cx="102870" cy="128270"/>
          </a:xfrm>
          <a:custGeom>
            <a:avLst/>
            <a:gdLst>
              <a:gd name="connsiteX0" fmla="*/ 48470 w 140406"/>
              <a:gd name="connsiteY0" fmla="*/ 173749 h 175592"/>
              <a:gd name="connsiteX1" fmla="*/ 45310 w 140406"/>
              <a:gd name="connsiteY1" fmla="*/ 172783 h 175592"/>
              <a:gd name="connsiteX2" fmla="*/ 43027 w 140406"/>
              <a:gd name="connsiteY2" fmla="*/ 168306 h 175592"/>
              <a:gd name="connsiteX3" fmla="*/ 43027 w 140406"/>
              <a:gd name="connsiteY3" fmla="*/ 147933 h 175592"/>
              <a:gd name="connsiteX4" fmla="*/ 32754 w 140406"/>
              <a:gd name="connsiteY4" fmla="*/ 147933 h 175592"/>
              <a:gd name="connsiteX5" fmla="*/ 32754 w 140406"/>
              <a:gd name="connsiteY5" fmla="*/ 167864 h 175592"/>
              <a:gd name="connsiteX6" fmla="*/ 30470 w 140406"/>
              <a:gd name="connsiteY6" fmla="*/ 172344 h 175592"/>
              <a:gd name="connsiteX7" fmla="*/ 25465 w 140406"/>
              <a:gd name="connsiteY7" fmla="*/ 173046 h 175592"/>
              <a:gd name="connsiteX8" fmla="*/ 0 w 140406"/>
              <a:gd name="connsiteY8" fmla="*/ 137308 h 175592"/>
              <a:gd name="connsiteX9" fmla="*/ 18527 w 140406"/>
              <a:gd name="connsiteY9" fmla="*/ 104818 h 175592"/>
              <a:gd name="connsiteX10" fmla="*/ 18527 w 140406"/>
              <a:gd name="connsiteY10" fmla="*/ 68467 h 175592"/>
              <a:gd name="connsiteX11" fmla="*/ 0 w 140406"/>
              <a:gd name="connsiteY11" fmla="*/ 35977 h 175592"/>
              <a:gd name="connsiteX12" fmla="*/ 25376 w 140406"/>
              <a:gd name="connsiteY12" fmla="*/ 328 h 175592"/>
              <a:gd name="connsiteX13" fmla="*/ 30381 w 140406"/>
              <a:gd name="connsiteY13" fmla="*/ 1031 h 175592"/>
              <a:gd name="connsiteX14" fmla="*/ 32665 w 140406"/>
              <a:gd name="connsiteY14" fmla="*/ 5510 h 175592"/>
              <a:gd name="connsiteX15" fmla="*/ 32665 w 140406"/>
              <a:gd name="connsiteY15" fmla="*/ 25881 h 175592"/>
              <a:gd name="connsiteX16" fmla="*/ 43025 w 140406"/>
              <a:gd name="connsiteY16" fmla="*/ 25881 h 175592"/>
              <a:gd name="connsiteX17" fmla="*/ 43025 w 140406"/>
              <a:gd name="connsiteY17" fmla="*/ 5509 h 175592"/>
              <a:gd name="connsiteX18" fmla="*/ 45309 w 140406"/>
              <a:gd name="connsiteY18" fmla="*/ 1029 h 175592"/>
              <a:gd name="connsiteX19" fmla="*/ 50314 w 140406"/>
              <a:gd name="connsiteY19" fmla="*/ 327 h 175592"/>
              <a:gd name="connsiteX20" fmla="*/ 75690 w 140406"/>
              <a:gd name="connsiteY20" fmla="*/ 35976 h 175592"/>
              <a:gd name="connsiteX21" fmla="*/ 57163 w 140406"/>
              <a:gd name="connsiteY21" fmla="*/ 68817 h 175592"/>
              <a:gd name="connsiteX22" fmla="*/ 57163 w 140406"/>
              <a:gd name="connsiteY22" fmla="*/ 105258 h 175592"/>
              <a:gd name="connsiteX23" fmla="*/ 75690 w 140406"/>
              <a:gd name="connsiteY23" fmla="*/ 137748 h 175592"/>
              <a:gd name="connsiteX24" fmla="*/ 50314 w 140406"/>
              <a:gd name="connsiteY24" fmla="*/ 173398 h 175592"/>
              <a:gd name="connsiteX25" fmla="*/ 48470 w 140406"/>
              <a:gd name="connsiteY25" fmla="*/ 173749 h 175592"/>
              <a:gd name="connsiteX26" fmla="*/ 27220 w 140406"/>
              <a:gd name="connsiteY26" fmla="*/ 136870 h 175592"/>
              <a:gd name="connsiteX27" fmla="*/ 48469 w 140406"/>
              <a:gd name="connsiteY27" fmla="*/ 136870 h 175592"/>
              <a:gd name="connsiteX28" fmla="*/ 54001 w 140406"/>
              <a:gd name="connsiteY28" fmla="*/ 142402 h 175592"/>
              <a:gd name="connsiteX29" fmla="*/ 54001 w 140406"/>
              <a:gd name="connsiteY29" fmla="*/ 159261 h 175592"/>
              <a:gd name="connsiteX30" fmla="*/ 64802 w 140406"/>
              <a:gd name="connsiteY30" fmla="*/ 137835 h 175592"/>
              <a:gd name="connsiteX31" fmla="*/ 49523 w 140406"/>
              <a:gd name="connsiteY31" fmla="*/ 113688 h 175592"/>
              <a:gd name="connsiteX32" fmla="*/ 46362 w 140406"/>
              <a:gd name="connsiteY32" fmla="*/ 108683 h 175592"/>
              <a:gd name="connsiteX33" fmla="*/ 46362 w 140406"/>
              <a:gd name="connsiteY33" fmla="*/ 65657 h 175592"/>
              <a:gd name="connsiteX34" fmla="*/ 49436 w 140406"/>
              <a:gd name="connsiteY34" fmla="*/ 60740 h 175592"/>
              <a:gd name="connsiteX35" fmla="*/ 64714 w 140406"/>
              <a:gd name="connsiteY35" fmla="*/ 35977 h 175592"/>
              <a:gd name="connsiteX36" fmla="*/ 53913 w 140406"/>
              <a:gd name="connsiteY36" fmla="*/ 14553 h 175592"/>
              <a:gd name="connsiteX37" fmla="*/ 53913 w 140406"/>
              <a:gd name="connsiteY37" fmla="*/ 31412 h 175592"/>
              <a:gd name="connsiteX38" fmla="*/ 48381 w 140406"/>
              <a:gd name="connsiteY38" fmla="*/ 36945 h 175592"/>
              <a:gd name="connsiteX39" fmla="*/ 27220 w 140406"/>
              <a:gd name="connsiteY39" fmla="*/ 36945 h 175592"/>
              <a:gd name="connsiteX40" fmla="*/ 21687 w 140406"/>
              <a:gd name="connsiteY40" fmla="*/ 31412 h 175592"/>
              <a:gd name="connsiteX41" fmla="*/ 21687 w 140406"/>
              <a:gd name="connsiteY41" fmla="*/ 14728 h 175592"/>
              <a:gd name="connsiteX42" fmla="*/ 10974 w 140406"/>
              <a:gd name="connsiteY42" fmla="*/ 35977 h 175592"/>
              <a:gd name="connsiteX43" fmla="*/ 26252 w 140406"/>
              <a:gd name="connsiteY43" fmla="*/ 60125 h 175592"/>
              <a:gd name="connsiteX44" fmla="*/ 29414 w 140406"/>
              <a:gd name="connsiteY44" fmla="*/ 65130 h 175592"/>
              <a:gd name="connsiteX45" fmla="*/ 29414 w 140406"/>
              <a:gd name="connsiteY45" fmla="*/ 108155 h 175592"/>
              <a:gd name="connsiteX46" fmla="*/ 26252 w 140406"/>
              <a:gd name="connsiteY46" fmla="*/ 113160 h 175592"/>
              <a:gd name="connsiteX47" fmla="*/ 10974 w 140406"/>
              <a:gd name="connsiteY47" fmla="*/ 137308 h 175592"/>
              <a:gd name="connsiteX48" fmla="*/ 21775 w 140406"/>
              <a:gd name="connsiteY48" fmla="*/ 158734 h 175592"/>
              <a:gd name="connsiteX49" fmla="*/ 21775 w 140406"/>
              <a:gd name="connsiteY49" fmla="*/ 142402 h 175592"/>
              <a:gd name="connsiteX50" fmla="*/ 27220 w 140406"/>
              <a:gd name="connsiteY50" fmla="*/ 136870 h 175592"/>
              <a:gd name="connsiteX51" fmla="*/ 125741 w 140406"/>
              <a:gd name="connsiteY51" fmla="*/ 175593 h 175592"/>
              <a:gd name="connsiteX52" fmla="*/ 97994 w 140406"/>
              <a:gd name="connsiteY52" fmla="*/ 175593 h 175592"/>
              <a:gd name="connsiteX53" fmla="*/ 83241 w 140406"/>
              <a:gd name="connsiteY53" fmla="*/ 160840 h 175592"/>
              <a:gd name="connsiteX54" fmla="*/ 83241 w 140406"/>
              <a:gd name="connsiteY54" fmla="*/ 100691 h 175592"/>
              <a:gd name="connsiteX55" fmla="*/ 97116 w 140406"/>
              <a:gd name="connsiteY55" fmla="*/ 85939 h 175592"/>
              <a:gd name="connsiteX56" fmla="*/ 97116 w 140406"/>
              <a:gd name="connsiteY56" fmla="*/ 51170 h 175592"/>
              <a:gd name="connsiteX57" fmla="*/ 88423 w 140406"/>
              <a:gd name="connsiteY57" fmla="*/ 33871 h 175592"/>
              <a:gd name="connsiteX58" fmla="*/ 88248 w 140406"/>
              <a:gd name="connsiteY58" fmla="*/ 29393 h 175592"/>
              <a:gd name="connsiteX59" fmla="*/ 97468 w 140406"/>
              <a:gd name="connsiteY59" fmla="*/ 6299 h 175592"/>
              <a:gd name="connsiteX60" fmla="*/ 102561 w 140406"/>
              <a:gd name="connsiteY60" fmla="*/ 2875 h 175592"/>
              <a:gd name="connsiteX61" fmla="*/ 121088 w 140406"/>
              <a:gd name="connsiteY61" fmla="*/ 2875 h 175592"/>
              <a:gd name="connsiteX62" fmla="*/ 126181 w 140406"/>
              <a:gd name="connsiteY62" fmla="*/ 6299 h 175592"/>
              <a:gd name="connsiteX63" fmla="*/ 135401 w 140406"/>
              <a:gd name="connsiteY63" fmla="*/ 29393 h 175592"/>
              <a:gd name="connsiteX64" fmla="*/ 135225 w 140406"/>
              <a:gd name="connsiteY64" fmla="*/ 33871 h 175592"/>
              <a:gd name="connsiteX65" fmla="*/ 126533 w 140406"/>
              <a:gd name="connsiteY65" fmla="*/ 51170 h 175592"/>
              <a:gd name="connsiteX66" fmla="*/ 126533 w 140406"/>
              <a:gd name="connsiteY66" fmla="*/ 86028 h 175592"/>
              <a:gd name="connsiteX67" fmla="*/ 140406 w 140406"/>
              <a:gd name="connsiteY67" fmla="*/ 100781 h 175592"/>
              <a:gd name="connsiteX68" fmla="*/ 140406 w 140406"/>
              <a:gd name="connsiteY68" fmla="*/ 160930 h 175592"/>
              <a:gd name="connsiteX69" fmla="*/ 125741 w 140406"/>
              <a:gd name="connsiteY69" fmla="*/ 175593 h 175592"/>
              <a:gd name="connsiteX70" fmla="*/ 97994 w 140406"/>
              <a:gd name="connsiteY70" fmla="*/ 97004 h 175592"/>
              <a:gd name="connsiteX71" fmla="*/ 94217 w 140406"/>
              <a:gd name="connsiteY71" fmla="*/ 100781 h 175592"/>
              <a:gd name="connsiteX72" fmla="*/ 94217 w 140406"/>
              <a:gd name="connsiteY72" fmla="*/ 160930 h 175592"/>
              <a:gd name="connsiteX73" fmla="*/ 97994 w 140406"/>
              <a:gd name="connsiteY73" fmla="*/ 164704 h 175592"/>
              <a:gd name="connsiteX74" fmla="*/ 125741 w 140406"/>
              <a:gd name="connsiteY74" fmla="*/ 164704 h 175592"/>
              <a:gd name="connsiteX75" fmla="*/ 129517 w 140406"/>
              <a:gd name="connsiteY75" fmla="*/ 160930 h 175592"/>
              <a:gd name="connsiteX76" fmla="*/ 129517 w 140406"/>
              <a:gd name="connsiteY76" fmla="*/ 100781 h 175592"/>
              <a:gd name="connsiteX77" fmla="*/ 125741 w 140406"/>
              <a:gd name="connsiteY77" fmla="*/ 97004 h 175592"/>
              <a:gd name="connsiteX78" fmla="*/ 121088 w 140406"/>
              <a:gd name="connsiteY78" fmla="*/ 97004 h 175592"/>
              <a:gd name="connsiteX79" fmla="*/ 115555 w 140406"/>
              <a:gd name="connsiteY79" fmla="*/ 91561 h 175592"/>
              <a:gd name="connsiteX80" fmla="*/ 115555 w 140406"/>
              <a:gd name="connsiteY80" fmla="*/ 49852 h 175592"/>
              <a:gd name="connsiteX81" fmla="*/ 116170 w 140406"/>
              <a:gd name="connsiteY81" fmla="*/ 47393 h 175592"/>
              <a:gd name="connsiteX82" fmla="*/ 124335 w 140406"/>
              <a:gd name="connsiteY82" fmla="*/ 31060 h 175592"/>
              <a:gd name="connsiteX83" fmla="*/ 117399 w 140406"/>
              <a:gd name="connsiteY83" fmla="*/ 13674 h 175592"/>
              <a:gd name="connsiteX84" fmla="*/ 106336 w 140406"/>
              <a:gd name="connsiteY84" fmla="*/ 13674 h 175592"/>
              <a:gd name="connsiteX85" fmla="*/ 99399 w 140406"/>
              <a:gd name="connsiteY85" fmla="*/ 31060 h 175592"/>
              <a:gd name="connsiteX86" fmla="*/ 107566 w 140406"/>
              <a:gd name="connsiteY86" fmla="*/ 47393 h 175592"/>
              <a:gd name="connsiteX87" fmla="*/ 108181 w 140406"/>
              <a:gd name="connsiteY87" fmla="*/ 49852 h 175592"/>
              <a:gd name="connsiteX88" fmla="*/ 108181 w 140406"/>
              <a:gd name="connsiteY88" fmla="*/ 91473 h 175592"/>
              <a:gd name="connsiteX89" fmla="*/ 102648 w 140406"/>
              <a:gd name="connsiteY89" fmla="*/ 96917 h 175592"/>
              <a:gd name="connsiteX90" fmla="*/ 97994 w 140406"/>
              <a:gd name="connsiteY90" fmla="*/ 96917 h 175592"/>
              <a:gd name="connsiteX91" fmla="*/ 97994 w 140406"/>
              <a:gd name="connsiteY91" fmla="*/ 97004 h 175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40406" h="175592">
                <a:moveTo>
                  <a:pt x="48470" y="173749"/>
                </a:moveTo>
                <a:cubicBezTo>
                  <a:pt x="47329" y="173749"/>
                  <a:pt x="46274" y="173397"/>
                  <a:pt x="45310" y="172783"/>
                </a:cubicBezTo>
                <a:cubicBezTo>
                  <a:pt x="43817" y="171730"/>
                  <a:pt x="43027" y="170062"/>
                  <a:pt x="43027" y="168306"/>
                </a:cubicBezTo>
                <a:lnTo>
                  <a:pt x="43027" y="147933"/>
                </a:lnTo>
                <a:lnTo>
                  <a:pt x="32754" y="147933"/>
                </a:lnTo>
                <a:lnTo>
                  <a:pt x="32754" y="167864"/>
                </a:lnTo>
                <a:cubicBezTo>
                  <a:pt x="32754" y="169620"/>
                  <a:pt x="31876" y="171289"/>
                  <a:pt x="30470" y="172344"/>
                </a:cubicBezTo>
                <a:cubicBezTo>
                  <a:pt x="28977" y="173397"/>
                  <a:pt x="27134" y="173661"/>
                  <a:pt x="25465" y="173046"/>
                </a:cubicBezTo>
                <a:cubicBezTo>
                  <a:pt x="10185" y="167514"/>
                  <a:pt x="0" y="153201"/>
                  <a:pt x="0" y="137308"/>
                </a:cubicBezTo>
                <a:cubicBezTo>
                  <a:pt x="0" y="123873"/>
                  <a:pt x="7112" y="111492"/>
                  <a:pt x="18527" y="104818"/>
                </a:cubicBezTo>
                <a:lnTo>
                  <a:pt x="18527" y="68467"/>
                </a:lnTo>
                <a:cubicBezTo>
                  <a:pt x="7199" y="61793"/>
                  <a:pt x="0" y="49412"/>
                  <a:pt x="0" y="35977"/>
                </a:cubicBezTo>
                <a:cubicBezTo>
                  <a:pt x="0" y="20349"/>
                  <a:pt x="10448" y="5596"/>
                  <a:pt x="25376" y="328"/>
                </a:cubicBezTo>
                <a:cubicBezTo>
                  <a:pt x="27044" y="-287"/>
                  <a:pt x="28888" y="-22"/>
                  <a:pt x="30381" y="1031"/>
                </a:cubicBezTo>
                <a:cubicBezTo>
                  <a:pt x="31874" y="2084"/>
                  <a:pt x="32665" y="3753"/>
                  <a:pt x="32665" y="5510"/>
                </a:cubicBezTo>
                <a:lnTo>
                  <a:pt x="32665" y="25881"/>
                </a:lnTo>
                <a:lnTo>
                  <a:pt x="43025" y="25881"/>
                </a:lnTo>
                <a:lnTo>
                  <a:pt x="43025" y="5509"/>
                </a:lnTo>
                <a:cubicBezTo>
                  <a:pt x="43025" y="3751"/>
                  <a:pt x="43903" y="2084"/>
                  <a:pt x="45309" y="1029"/>
                </a:cubicBezTo>
                <a:cubicBezTo>
                  <a:pt x="46802" y="-24"/>
                  <a:pt x="48645" y="-289"/>
                  <a:pt x="50314" y="327"/>
                </a:cubicBezTo>
                <a:cubicBezTo>
                  <a:pt x="65504" y="5770"/>
                  <a:pt x="75690" y="20084"/>
                  <a:pt x="75690" y="35976"/>
                </a:cubicBezTo>
                <a:cubicBezTo>
                  <a:pt x="75690" y="49235"/>
                  <a:pt x="68491" y="61792"/>
                  <a:pt x="57163" y="68817"/>
                </a:cubicBezTo>
                <a:lnTo>
                  <a:pt x="57163" y="105258"/>
                </a:lnTo>
                <a:cubicBezTo>
                  <a:pt x="68491" y="111844"/>
                  <a:pt x="75690" y="124225"/>
                  <a:pt x="75690" y="137748"/>
                </a:cubicBezTo>
                <a:cubicBezTo>
                  <a:pt x="75690" y="153641"/>
                  <a:pt x="65504" y="168041"/>
                  <a:pt x="50314" y="173398"/>
                </a:cubicBezTo>
                <a:cubicBezTo>
                  <a:pt x="49786" y="173661"/>
                  <a:pt x="49171" y="173749"/>
                  <a:pt x="48470" y="173749"/>
                </a:cubicBezTo>
                <a:close/>
                <a:moveTo>
                  <a:pt x="27220" y="136870"/>
                </a:moveTo>
                <a:lnTo>
                  <a:pt x="48469" y="136870"/>
                </a:lnTo>
                <a:cubicBezTo>
                  <a:pt x="51542" y="136870"/>
                  <a:pt x="54001" y="139328"/>
                  <a:pt x="54001" y="142402"/>
                </a:cubicBezTo>
                <a:lnTo>
                  <a:pt x="54001" y="159261"/>
                </a:lnTo>
                <a:cubicBezTo>
                  <a:pt x="60675" y="154256"/>
                  <a:pt x="64802" y="146442"/>
                  <a:pt x="64802" y="137835"/>
                </a:cubicBezTo>
                <a:cubicBezTo>
                  <a:pt x="64802" y="127562"/>
                  <a:pt x="58656" y="117903"/>
                  <a:pt x="49523" y="113688"/>
                </a:cubicBezTo>
                <a:cubicBezTo>
                  <a:pt x="47592" y="112810"/>
                  <a:pt x="46362" y="110879"/>
                  <a:pt x="46362" y="108683"/>
                </a:cubicBezTo>
                <a:lnTo>
                  <a:pt x="46362" y="65657"/>
                </a:lnTo>
                <a:cubicBezTo>
                  <a:pt x="46362" y="63549"/>
                  <a:pt x="47503" y="61706"/>
                  <a:pt x="49436" y="60740"/>
                </a:cubicBezTo>
                <a:cubicBezTo>
                  <a:pt x="58656" y="55998"/>
                  <a:pt x="64714" y="46250"/>
                  <a:pt x="64714" y="35977"/>
                </a:cubicBezTo>
                <a:cubicBezTo>
                  <a:pt x="64714" y="27285"/>
                  <a:pt x="60675" y="19558"/>
                  <a:pt x="53913" y="14553"/>
                </a:cubicBezTo>
                <a:lnTo>
                  <a:pt x="53913" y="31412"/>
                </a:lnTo>
                <a:cubicBezTo>
                  <a:pt x="53913" y="34486"/>
                  <a:pt x="51455" y="36945"/>
                  <a:pt x="48381" y="36945"/>
                </a:cubicBezTo>
                <a:lnTo>
                  <a:pt x="27220" y="36945"/>
                </a:lnTo>
                <a:cubicBezTo>
                  <a:pt x="24146" y="36945"/>
                  <a:pt x="21687" y="34486"/>
                  <a:pt x="21687" y="31412"/>
                </a:cubicBezTo>
                <a:lnTo>
                  <a:pt x="21687" y="14728"/>
                </a:lnTo>
                <a:cubicBezTo>
                  <a:pt x="15189" y="19734"/>
                  <a:pt x="10974" y="27636"/>
                  <a:pt x="10974" y="35977"/>
                </a:cubicBezTo>
                <a:cubicBezTo>
                  <a:pt x="10974" y="46250"/>
                  <a:pt x="17120" y="55910"/>
                  <a:pt x="26252" y="60125"/>
                </a:cubicBezTo>
                <a:cubicBezTo>
                  <a:pt x="28184" y="61003"/>
                  <a:pt x="29414" y="62934"/>
                  <a:pt x="29414" y="65130"/>
                </a:cubicBezTo>
                <a:lnTo>
                  <a:pt x="29414" y="108155"/>
                </a:lnTo>
                <a:cubicBezTo>
                  <a:pt x="29414" y="110263"/>
                  <a:pt x="28184" y="112282"/>
                  <a:pt x="26252" y="113160"/>
                </a:cubicBezTo>
                <a:cubicBezTo>
                  <a:pt x="17120" y="117375"/>
                  <a:pt x="10974" y="127033"/>
                  <a:pt x="10974" y="137308"/>
                </a:cubicBezTo>
                <a:cubicBezTo>
                  <a:pt x="10974" y="146000"/>
                  <a:pt x="15014" y="153729"/>
                  <a:pt x="21775" y="158734"/>
                </a:cubicBezTo>
                <a:lnTo>
                  <a:pt x="21775" y="142402"/>
                </a:lnTo>
                <a:cubicBezTo>
                  <a:pt x="21776" y="139328"/>
                  <a:pt x="24235" y="136870"/>
                  <a:pt x="27220" y="136870"/>
                </a:cubicBezTo>
                <a:close/>
                <a:moveTo>
                  <a:pt x="125741" y="175593"/>
                </a:moveTo>
                <a:lnTo>
                  <a:pt x="97994" y="175593"/>
                </a:lnTo>
                <a:cubicBezTo>
                  <a:pt x="89827" y="175593"/>
                  <a:pt x="83241" y="169007"/>
                  <a:pt x="83241" y="160840"/>
                </a:cubicBezTo>
                <a:lnTo>
                  <a:pt x="83241" y="100691"/>
                </a:lnTo>
                <a:cubicBezTo>
                  <a:pt x="83241" y="92877"/>
                  <a:pt x="89387" y="86466"/>
                  <a:pt x="97116" y="85939"/>
                </a:cubicBezTo>
                <a:lnTo>
                  <a:pt x="97116" y="51170"/>
                </a:lnTo>
                <a:lnTo>
                  <a:pt x="88423" y="33871"/>
                </a:lnTo>
                <a:cubicBezTo>
                  <a:pt x="87721" y="32465"/>
                  <a:pt x="87633" y="30797"/>
                  <a:pt x="88248" y="29393"/>
                </a:cubicBezTo>
                <a:lnTo>
                  <a:pt x="97468" y="6299"/>
                </a:lnTo>
                <a:cubicBezTo>
                  <a:pt x="98258" y="4193"/>
                  <a:pt x="100277" y="2875"/>
                  <a:pt x="102561" y="2875"/>
                </a:cubicBezTo>
                <a:lnTo>
                  <a:pt x="121088" y="2875"/>
                </a:lnTo>
                <a:cubicBezTo>
                  <a:pt x="123371" y="2875"/>
                  <a:pt x="125390" y="4280"/>
                  <a:pt x="126181" y="6299"/>
                </a:cubicBezTo>
                <a:lnTo>
                  <a:pt x="135401" y="29393"/>
                </a:lnTo>
                <a:cubicBezTo>
                  <a:pt x="136016" y="30886"/>
                  <a:pt x="135928" y="32467"/>
                  <a:pt x="135225" y="33871"/>
                </a:cubicBezTo>
                <a:lnTo>
                  <a:pt x="126533" y="51170"/>
                </a:lnTo>
                <a:lnTo>
                  <a:pt x="126533" y="86028"/>
                </a:lnTo>
                <a:cubicBezTo>
                  <a:pt x="134260" y="86466"/>
                  <a:pt x="140406" y="92877"/>
                  <a:pt x="140406" y="100781"/>
                </a:cubicBezTo>
                <a:lnTo>
                  <a:pt x="140406" y="160930"/>
                </a:lnTo>
                <a:cubicBezTo>
                  <a:pt x="140493" y="169007"/>
                  <a:pt x="133907" y="175593"/>
                  <a:pt x="125741" y="175593"/>
                </a:cubicBezTo>
                <a:close/>
                <a:moveTo>
                  <a:pt x="97994" y="97004"/>
                </a:moveTo>
                <a:cubicBezTo>
                  <a:pt x="95973" y="97004"/>
                  <a:pt x="94217" y="98760"/>
                  <a:pt x="94217" y="100781"/>
                </a:cubicBezTo>
                <a:lnTo>
                  <a:pt x="94217" y="160930"/>
                </a:lnTo>
                <a:cubicBezTo>
                  <a:pt x="94217" y="163036"/>
                  <a:pt x="95885" y="164704"/>
                  <a:pt x="97994" y="164704"/>
                </a:cubicBezTo>
                <a:lnTo>
                  <a:pt x="125741" y="164704"/>
                </a:lnTo>
                <a:cubicBezTo>
                  <a:pt x="127761" y="164704"/>
                  <a:pt x="129517" y="162948"/>
                  <a:pt x="129517" y="160930"/>
                </a:cubicBezTo>
                <a:lnTo>
                  <a:pt x="129517" y="100781"/>
                </a:lnTo>
                <a:cubicBezTo>
                  <a:pt x="129517" y="98760"/>
                  <a:pt x="127761" y="97004"/>
                  <a:pt x="125741" y="97004"/>
                </a:cubicBezTo>
                <a:lnTo>
                  <a:pt x="121088" y="97004"/>
                </a:lnTo>
                <a:cubicBezTo>
                  <a:pt x="118014" y="97004"/>
                  <a:pt x="115555" y="94545"/>
                  <a:pt x="115555" y="91561"/>
                </a:cubicBezTo>
                <a:lnTo>
                  <a:pt x="115555" y="49852"/>
                </a:lnTo>
                <a:cubicBezTo>
                  <a:pt x="115555" y="48974"/>
                  <a:pt x="115731" y="48183"/>
                  <a:pt x="116170" y="47393"/>
                </a:cubicBezTo>
                <a:lnTo>
                  <a:pt x="124335" y="31060"/>
                </a:lnTo>
                <a:lnTo>
                  <a:pt x="117399" y="13674"/>
                </a:lnTo>
                <a:lnTo>
                  <a:pt x="106336" y="13674"/>
                </a:lnTo>
                <a:lnTo>
                  <a:pt x="99399" y="31060"/>
                </a:lnTo>
                <a:lnTo>
                  <a:pt x="107566" y="47393"/>
                </a:lnTo>
                <a:cubicBezTo>
                  <a:pt x="107916" y="48183"/>
                  <a:pt x="108181" y="48974"/>
                  <a:pt x="108181" y="49852"/>
                </a:cubicBezTo>
                <a:lnTo>
                  <a:pt x="108181" y="91473"/>
                </a:lnTo>
                <a:cubicBezTo>
                  <a:pt x="108181" y="94547"/>
                  <a:pt x="105722" y="96917"/>
                  <a:pt x="102648" y="96917"/>
                </a:cubicBezTo>
                <a:lnTo>
                  <a:pt x="97994" y="96917"/>
                </a:lnTo>
                <a:lnTo>
                  <a:pt x="97994" y="97004"/>
                </a:lnTo>
                <a:close/>
              </a:path>
            </a:pathLst>
          </a:custGeom>
          <a:solidFill>
            <a:srgbClr val="0042FF"/>
          </a:solidFill>
          <a:ln w="167"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62" name="图形 160"/>
          <p:cNvSpPr/>
          <p:nvPr/>
        </p:nvSpPr>
        <p:spPr>
          <a:xfrm>
            <a:off x="4759325" y="6162040"/>
            <a:ext cx="146050" cy="112395"/>
          </a:xfrm>
          <a:custGeom>
            <a:avLst/>
            <a:gdLst>
              <a:gd name="connsiteX0" fmla="*/ 155084 w 158389"/>
              <a:gd name="connsiteY0" fmla="*/ 36872 h 121584"/>
              <a:gd name="connsiteX1" fmla="*/ 81878 w 158389"/>
              <a:gd name="connsiteY1" fmla="*/ 618 h 121584"/>
              <a:gd name="connsiteX2" fmla="*/ 76603 w 158389"/>
              <a:gd name="connsiteY2" fmla="*/ 618 h 121584"/>
              <a:gd name="connsiteX3" fmla="*/ 3405 w 158389"/>
              <a:gd name="connsiteY3" fmla="*/ 36872 h 121584"/>
              <a:gd name="connsiteX4" fmla="*/ 718 w 158389"/>
              <a:gd name="connsiteY4" fmla="*/ 44830 h 121584"/>
              <a:gd name="connsiteX5" fmla="*/ 3516 w 158389"/>
              <a:gd name="connsiteY5" fmla="*/ 47571 h 121584"/>
              <a:gd name="connsiteX6" fmla="*/ 32041 w 158389"/>
              <a:gd name="connsiteY6" fmla="*/ 60955 h 121584"/>
              <a:gd name="connsiteX7" fmla="*/ 32041 w 158389"/>
              <a:gd name="connsiteY7" fmla="*/ 103521 h 121584"/>
              <a:gd name="connsiteX8" fmla="*/ 34512 w 158389"/>
              <a:gd name="connsiteY8" fmla="*/ 108336 h 121584"/>
              <a:gd name="connsiteX9" fmla="*/ 79241 w 158389"/>
              <a:gd name="connsiteY9" fmla="*/ 121585 h 121584"/>
              <a:gd name="connsiteX10" fmla="*/ 123969 w 158389"/>
              <a:gd name="connsiteY10" fmla="*/ 108336 h 121584"/>
              <a:gd name="connsiteX11" fmla="*/ 126440 w 158389"/>
              <a:gd name="connsiteY11" fmla="*/ 103521 h 121584"/>
              <a:gd name="connsiteX12" fmla="*/ 126440 w 158389"/>
              <a:gd name="connsiteY12" fmla="*/ 60955 h 121584"/>
              <a:gd name="connsiteX13" fmla="*/ 154973 w 158389"/>
              <a:gd name="connsiteY13" fmla="*/ 47571 h 121584"/>
              <a:gd name="connsiteX14" fmla="*/ 157824 w 158389"/>
              <a:gd name="connsiteY14" fmla="*/ 39670 h 121584"/>
              <a:gd name="connsiteX15" fmla="*/ 155084 w 158389"/>
              <a:gd name="connsiteY15" fmla="*/ 36872 h 121584"/>
              <a:gd name="connsiteX16" fmla="*/ 114561 w 158389"/>
              <a:gd name="connsiteY16" fmla="*/ 100361 h 121584"/>
              <a:gd name="connsiteX17" fmla="*/ 79241 w 158389"/>
              <a:gd name="connsiteY17" fmla="*/ 109714 h 121584"/>
              <a:gd name="connsiteX18" fmla="*/ 43920 w 158389"/>
              <a:gd name="connsiteY18" fmla="*/ 100361 h 121584"/>
              <a:gd name="connsiteX19" fmla="*/ 43920 w 158389"/>
              <a:gd name="connsiteY19" fmla="*/ 66538 h 121584"/>
              <a:gd name="connsiteX20" fmla="*/ 76714 w 158389"/>
              <a:gd name="connsiteY20" fmla="*/ 81925 h 121584"/>
              <a:gd name="connsiteX21" fmla="*/ 81767 w 158389"/>
              <a:gd name="connsiteY21" fmla="*/ 81925 h 121584"/>
              <a:gd name="connsiteX22" fmla="*/ 114561 w 158389"/>
              <a:gd name="connsiteY22" fmla="*/ 66538 h 121584"/>
              <a:gd name="connsiteX23" fmla="*/ 114561 w 158389"/>
              <a:gd name="connsiteY23" fmla="*/ 100361 h 121584"/>
              <a:gd name="connsiteX24" fmla="*/ 79241 w 158389"/>
              <a:gd name="connsiteY24" fmla="*/ 69991 h 121584"/>
              <a:gd name="connsiteX25" fmla="*/ 19711 w 158389"/>
              <a:gd name="connsiteY25" fmla="*/ 42051 h 121584"/>
              <a:gd name="connsiteX26" fmla="*/ 79241 w 158389"/>
              <a:gd name="connsiteY26" fmla="*/ 12568 h 121584"/>
              <a:gd name="connsiteX27" fmla="*/ 138778 w 158389"/>
              <a:gd name="connsiteY27" fmla="*/ 42051 h 121584"/>
              <a:gd name="connsiteX28" fmla="*/ 79241 w 158389"/>
              <a:gd name="connsiteY28" fmla="*/ 69991 h 121584"/>
              <a:gd name="connsiteX29" fmla="*/ 11879 w 158389"/>
              <a:gd name="connsiteY29" fmla="*/ 61897 h 121584"/>
              <a:gd name="connsiteX30" fmla="*/ 11879 w 158389"/>
              <a:gd name="connsiteY30" fmla="*/ 95301 h 121584"/>
              <a:gd name="connsiteX31" fmla="*/ 5936 w 158389"/>
              <a:gd name="connsiteY31" fmla="*/ 101236 h 121584"/>
              <a:gd name="connsiteX32" fmla="*/ 0 w 158389"/>
              <a:gd name="connsiteY32" fmla="*/ 95293 h 121584"/>
              <a:gd name="connsiteX33" fmla="*/ 0 w 158389"/>
              <a:gd name="connsiteY33" fmla="*/ 61889 h 121584"/>
              <a:gd name="connsiteX34" fmla="*/ 5943 w 158389"/>
              <a:gd name="connsiteY34" fmla="*/ 55954 h 121584"/>
              <a:gd name="connsiteX35" fmla="*/ 11879 w 158389"/>
              <a:gd name="connsiteY35" fmla="*/ 61897 h 121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8389" h="121584">
                <a:moveTo>
                  <a:pt x="155084" y="36872"/>
                </a:moveTo>
                <a:lnTo>
                  <a:pt x="81878" y="618"/>
                </a:lnTo>
                <a:cubicBezTo>
                  <a:pt x="80216" y="-206"/>
                  <a:pt x="78265" y="-206"/>
                  <a:pt x="76603" y="618"/>
                </a:cubicBezTo>
                <a:lnTo>
                  <a:pt x="3405" y="36872"/>
                </a:lnTo>
                <a:cubicBezTo>
                  <a:pt x="466" y="38328"/>
                  <a:pt x="-738" y="41891"/>
                  <a:pt x="718" y="44830"/>
                </a:cubicBezTo>
                <a:cubicBezTo>
                  <a:pt x="1314" y="46034"/>
                  <a:pt x="2300" y="47000"/>
                  <a:pt x="3516" y="47571"/>
                </a:cubicBezTo>
                <a:lnTo>
                  <a:pt x="32041" y="60955"/>
                </a:lnTo>
                <a:lnTo>
                  <a:pt x="32041" y="103521"/>
                </a:lnTo>
                <a:cubicBezTo>
                  <a:pt x="32041" y="105429"/>
                  <a:pt x="32960" y="107227"/>
                  <a:pt x="34512" y="108336"/>
                </a:cubicBezTo>
                <a:cubicBezTo>
                  <a:pt x="46391" y="116881"/>
                  <a:pt x="62269" y="121585"/>
                  <a:pt x="79241" y="121585"/>
                </a:cubicBezTo>
                <a:cubicBezTo>
                  <a:pt x="96220" y="121585"/>
                  <a:pt x="112098" y="116881"/>
                  <a:pt x="123969" y="108336"/>
                </a:cubicBezTo>
                <a:cubicBezTo>
                  <a:pt x="125517" y="107220"/>
                  <a:pt x="126436" y="105429"/>
                  <a:pt x="126440" y="103521"/>
                </a:cubicBezTo>
                <a:lnTo>
                  <a:pt x="126440" y="60955"/>
                </a:lnTo>
                <a:lnTo>
                  <a:pt x="154973" y="47571"/>
                </a:lnTo>
                <a:cubicBezTo>
                  <a:pt x="157942" y="46177"/>
                  <a:pt x="159219" y="42639"/>
                  <a:pt x="157824" y="39670"/>
                </a:cubicBezTo>
                <a:cubicBezTo>
                  <a:pt x="157254" y="38454"/>
                  <a:pt x="156287" y="37468"/>
                  <a:pt x="155084" y="36872"/>
                </a:cubicBezTo>
                <a:close/>
                <a:moveTo>
                  <a:pt x="114561" y="100361"/>
                </a:moveTo>
                <a:cubicBezTo>
                  <a:pt x="105050" y="106332"/>
                  <a:pt x="92363" y="109714"/>
                  <a:pt x="79241" y="109714"/>
                </a:cubicBezTo>
                <a:cubicBezTo>
                  <a:pt x="66118" y="109714"/>
                  <a:pt x="53439" y="106332"/>
                  <a:pt x="43920" y="100361"/>
                </a:cubicBezTo>
                <a:lnTo>
                  <a:pt x="43920" y="66538"/>
                </a:lnTo>
                <a:lnTo>
                  <a:pt x="76714" y="81925"/>
                </a:lnTo>
                <a:cubicBezTo>
                  <a:pt x="78312" y="82686"/>
                  <a:pt x="80169" y="82686"/>
                  <a:pt x="81767" y="81925"/>
                </a:cubicBezTo>
                <a:lnTo>
                  <a:pt x="114561" y="66538"/>
                </a:lnTo>
                <a:lnTo>
                  <a:pt x="114561" y="100361"/>
                </a:lnTo>
                <a:close/>
                <a:moveTo>
                  <a:pt x="79241" y="69991"/>
                </a:moveTo>
                <a:lnTo>
                  <a:pt x="19711" y="42051"/>
                </a:lnTo>
                <a:lnTo>
                  <a:pt x="79241" y="12568"/>
                </a:lnTo>
                <a:lnTo>
                  <a:pt x="138778" y="42051"/>
                </a:lnTo>
                <a:lnTo>
                  <a:pt x="79241" y="69991"/>
                </a:lnTo>
                <a:close/>
                <a:moveTo>
                  <a:pt x="11879" y="61897"/>
                </a:moveTo>
                <a:lnTo>
                  <a:pt x="11879" y="95301"/>
                </a:lnTo>
                <a:cubicBezTo>
                  <a:pt x="11877" y="98581"/>
                  <a:pt x="9216" y="101238"/>
                  <a:pt x="5936" y="101236"/>
                </a:cubicBezTo>
                <a:cubicBezTo>
                  <a:pt x="2655" y="101234"/>
                  <a:pt x="-2" y="98573"/>
                  <a:pt x="0" y="95293"/>
                </a:cubicBezTo>
                <a:lnTo>
                  <a:pt x="0" y="61889"/>
                </a:lnTo>
                <a:cubicBezTo>
                  <a:pt x="2" y="58609"/>
                  <a:pt x="2663" y="55951"/>
                  <a:pt x="5943" y="55954"/>
                </a:cubicBezTo>
                <a:cubicBezTo>
                  <a:pt x="9224" y="55956"/>
                  <a:pt x="11881" y="58617"/>
                  <a:pt x="11879" y="61897"/>
                </a:cubicBezTo>
                <a:close/>
              </a:path>
            </a:pathLst>
          </a:custGeom>
          <a:solidFill>
            <a:srgbClr val="0042FF"/>
          </a:solidFill>
          <a:ln w="149"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2" name="图形 163"/>
          <p:cNvSpPr/>
          <p:nvPr/>
        </p:nvSpPr>
        <p:spPr>
          <a:xfrm>
            <a:off x="7713980" y="6125210"/>
            <a:ext cx="110490" cy="110490"/>
          </a:xfrm>
          <a:custGeom>
            <a:avLst/>
            <a:gdLst>
              <a:gd name="connsiteX0" fmla="*/ 85794 w 115491"/>
              <a:gd name="connsiteY0" fmla="*/ 0 h 115491"/>
              <a:gd name="connsiteX1" fmla="*/ 85794 w 115491"/>
              <a:gd name="connsiteY1" fmla="*/ 23098 h 115491"/>
              <a:gd name="connsiteX2" fmla="*/ 115492 w 115491"/>
              <a:gd name="connsiteY2" fmla="*/ 23098 h 115491"/>
              <a:gd name="connsiteX3" fmla="*/ 115492 w 115491"/>
              <a:gd name="connsiteY3" fmla="*/ 115492 h 115491"/>
              <a:gd name="connsiteX4" fmla="*/ 0 w 115491"/>
              <a:gd name="connsiteY4" fmla="*/ 115492 h 115491"/>
              <a:gd name="connsiteX5" fmla="*/ 0 w 115491"/>
              <a:gd name="connsiteY5" fmla="*/ 23098 h 115491"/>
              <a:gd name="connsiteX6" fmla="*/ 29698 w 115491"/>
              <a:gd name="connsiteY6" fmla="*/ 23098 h 115491"/>
              <a:gd name="connsiteX7" fmla="*/ 29698 w 115491"/>
              <a:gd name="connsiteY7" fmla="*/ 0 h 115491"/>
              <a:gd name="connsiteX8" fmla="*/ 85794 w 115491"/>
              <a:gd name="connsiteY8" fmla="*/ 0 h 115491"/>
              <a:gd name="connsiteX9" fmla="*/ 105593 w 115491"/>
              <a:gd name="connsiteY9" fmla="*/ 32998 h 115491"/>
              <a:gd name="connsiteX10" fmla="*/ 9899 w 115491"/>
              <a:gd name="connsiteY10" fmla="*/ 32998 h 115491"/>
              <a:gd name="connsiteX11" fmla="*/ 9899 w 115491"/>
              <a:gd name="connsiteY11" fmla="*/ 105593 h 115491"/>
              <a:gd name="connsiteX12" fmla="*/ 105593 w 115491"/>
              <a:gd name="connsiteY12" fmla="*/ 105593 h 115491"/>
              <a:gd name="connsiteX13" fmla="*/ 105593 w 115491"/>
              <a:gd name="connsiteY13" fmla="*/ 32998 h 115491"/>
              <a:gd name="connsiteX14" fmla="*/ 62673 w 115491"/>
              <a:gd name="connsiteY14" fmla="*/ 46174 h 115491"/>
              <a:gd name="connsiteX15" fmla="*/ 62673 w 115491"/>
              <a:gd name="connsiteY15" fmla="*/ 64346 h 115491"/>
              <a:gd name="connsiteX16" fmla="*/ 80844 w 115491"/>
              <a:gd name="connsiteY16" fmla="*/ 64346 h 115491"/>
              <a:gd name="connsiteX17" fmla="*/ 80844 w 115491"/>
              <a:gd name="connsiteY17" fmla="*/ 74245 h 115491"/>
              <a:gd name="connsiteX18" fmla="*/ 62673 w 115491"/>
              <a:gd name="connsiteY18" fmla="*/ 74245 h 115491"/>
              <a:gd name="connsiteX19" fmla="*/ 62673 w 115491"/>
              <a:gd name="connsiteY19" fmla="*/ 92417 h 115491"/>
              <a:gd name="connsiteX20" fmla="*/ 52773 w 115491"/>
              <a:gd name="connsiteY20" fmla="*/ 92417 h 115491"/>
              <a:gd name="connsiteX21" fmla="*/ 52773 w 115491"/>
              <a:gd name="connsiteY21" fmla="*/ 74245 h 115491"/>
              <a:gd name="connsiteX22" fmla="*/ 34601 w 115491"/>
              <a:gd name="connsiteY22" fmla="*/ 74245 h 115491"/>
              <a:gd name="connsiteX23" fmla="*/ 34601 w 115491"/>
              <a:gd name="connsiteY23" fmla="*/ 64346 h 115491"/>
              <a:gd name="connsiteX24" fmla="*/ 52773 w 115491"/>
              <a:gd name="connsiteY24" fmla="*/ 64346 h 115491"/>
              <a:gd name="connsiteX25" fmla="*/ 52773 w 115491"/>
              <a:gd name="connsiteY25" fmla="*/ 46174 h 115491"/>
              <a:gd name="connsiteX26" fmla="*/ 62673 w 115491"/>
              <a:gd name="connsiteY26" fmla="*/ 46174 h 115491"/>
              <a:gd name="connsiteX27" fmla="*/ 75895 w 115491"/>
              <a:gd name="connsiteY27" fmla="*/ 9899 h 115491"/>
              <a:gd name="connsiteX28" fmla="*/ 39597 w 115491"/>
              <a:gd name="connsiteY28" fmla="*/ 9899 h 115491"/>
              <a:gd name="connsiteX29" fmla="*/ 39597 w 115491"/>
              <a:gd name="connsiteY29" fmla="*/ 23098 h 115491"/>
              <a:gd name="connsiteX30" fmla="*/ 75895 w 115491"/>
              <a:gd name="connsiteY30" fmla="*/ 23098 h 115491"/>
              <a:gd name="connsiteX31" fmla="*/ 75895 w 115491"/>
              <a:gd name="connsiteY31" fmla="*/ 9899 h 115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491" h="115491">
                <a:moveTo>
                  <a:pt x="85794" y="0"/>
                </a:moveTo>
                <a:lnTo>
                  <a:pt x="85794" y="23098"/>
                </a:lnTo>
                <a:lnTo>
                  <a:pt x="115492" y="23098"/>
                </a:lnTo>
                <a:lnTo>
                  <a:pt x="115492" y="115492"/>
                </a:lnTo>
                <a:lnTo>
                  <a:pt x="0" y="115492"/>
                </a:lnTo>
                <a:lnTo>
                  <a:pt x="0" y="23098"/>
                </a:lnTo>
                <a:lnTo>
                  <a:pt x="29698" y="23098"/>
                </a:lnTo>
                <a:lnTo>
                  <a:pt x="29698" y="0"/>
                </a:lnTo>
                <a:lnTo>
                  <a:pt x="85794" y="0"/>
                </a:lnTo>
                <a:close/>
                <a:moveTo>
                  <a:pt x="105593" y="32998"/>
                </a:moveTo>
                <a:lnTo>
                  <a:pt x="9899" y="32998"/>
                </a:lnTo>
                <a:lnTo>
                  <a:pt x="9899" y="105593"/>
                </a:lnTo>
                <a:lnTo>
                  <a:pt x="105593" y="105593"/>
                </a:lnTo>
                <a:lnTo>
                  <a:pt x="105593" y="32998"/>
                </a:lnTo>
                <a:close/>
                <a:moveTo>
                  <a:pt x="62673" y="46174"/>
                </a:moveTo>
                <a:lnTo>
                  <a:pt x="62673" y="64346"/>
                </a:lnTo>
                <a:lnTo>
                  <a:pt x="80844" y="64346"/>
                </a:lnTo>
                <a:lnTo>
                  <a:pt x="80844" y="74245"/>
                </a:lnTo>
                <a:lnTo>
                  <a:pt x="62673" y="74245"/>
                </a:lnTo>
                <a:lnTo>
                  <a:pt x="62673" y="92417"/>
                </a:lnTo>
                <a:lnTo>
                  <a:pt x="52773" y="92417"/>
                </a:lnTo>
                <a:lnTo>
                  <a:pt x="52773" y="74245"/>
                </a:lnTo>
                <a:lnTo>
                  <a:pt x="34601" y="74245"/>
                </a:lnTo>
                <a:lnTo>
                  <a:pt x="34601" y="64346"/>
                </a:lnTo>
                <a:lnTo>
                  <a:pt x="52773" y="64346"/>
                </a:lnTo>
                <a:lnTo>
                  <a:pt x="52773" y="46174"/>
                </a:lnTo>
                <a:lnTo>
                  <a:pt x="62673" y="46174"/>
                </a:lnTo>
                <a:close/>
                <a:moveTo>
                  <a:pt x="75895" y="9899"/>
                </a:moveTo>
                <a:lnTo>
                  <a:pt x="39597" y="9899"/>
                </a:lnTo>
                <a:lnTo>
                  <a:pt x="39597" y="23098"/>
                </a:lnTo>
                <a:lnTo>
                  <a:pt x="75895" y="23098"/>
                </a:lnTo>
                <a:lnTo>
                  <a:pt x="75895" y="9899"/>
                </a:lnTo>
                <a:close/>
              </a:path>
            </a:pathLst>
          </a:custGeom>
          <a:solidFill>
            <a:srgbClr val="0042FF"/>
          </a:solidFill>
          <a:ln w="0" cap="flat">
            <a:solidFill>
              <a:srgbClr val="0042FF"/>
            </a:solid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nvGrpSpPr>
          <p:cNvPr id="63" name="组合 62"/>
          <p:cNvGrpSpPr/>
          <p:nvPr/>
        </p:nvGrpSpPr>
        <p:grpSpPr>
          <a:xfrm rot="0">
            <a:off x="7098665" y="6219190"/>
            <a:ext cx="100965" cy="131445"/>
            <a:chOff x="5522351" y="1661911"/>
            <a:chExt cx="77224" cy="101251"/>
          </a:xfrm>
          <a:solidFill>
            <a:srgbClr val="0042FF"/>
          </a:solidFill>
        </p:grpSpPr>
        <p:sp>
          <p:nvSpPr>
            <p:cNvPr id="64" name="任意多边形: 形状 168"/>
            <p:cNvSpPr/>
            <p:nvPr/>
          </p:nvSpPr>
          <p:spPr>
            <a:xfrm>
              <a:off x="5522351" y="1661911"/>
              <a:ext cx="77224" cy="101251"/>
            </a:xfrm>
            <a:custGeom>
              <a:avLst/>
              <a:gdLst>
                <a:gd name="connsiteX0" fmla="*/ 41096 w 77224"/>
                <a:gd name="connsiteY0" fmla="*/ 909 h 101251"/>
                <a:gd name="connsiteX1" fmla="*/ 36129 w 77224"/>
                <a:gd name="connsiteY1" fmla="*/ 909 h 101251"/>
                <a:gd name="connsiteX2" fmla="*/ 0 w 77224"/>
                <a:gd name="connsiteY2" fmla="*/ 62620 h 101251"/>
                <a:gd name="connsiteX3" fmla="*/ 38613 w 77224"/>
                <a:gd name="connsiteY3" fmla="*/ 101252 h 101251"/>
                <a:gd name="connsiteX4" fmla="*/ 77225 w 77224"/>
                <a:gd name="connsiteY4" fmla="*/ 62639 h 101251"/>
                <a:gd name="connsiteX5" fmla="*/ 41096 w 77224"/>
                <a:gd name="connsiteY5" fmla="*/ 909 h 101251"/>
                <a:gd name="connsiteX6" fmla="*/ 38613 w 77224"/>
                <a:gd name="connsiteY6" fmla="*/ 93553 h 101251"/>
                <a:gd name="connsiteX7" fmla="*/ 7699 w 77224"/>
                <a:gd name="connsiteY7" fmla="*/ 62639 h 101251"/>
                <a:gd name="connsiteX8" fmla="*/ 38613 w 77224"/>
                <a:gd name="connsiteY8" fmla="*/ 9052 h 101251"/>
                <a:gd name="connsiteX9" fmla="*/ 69526 w 77224"/>
                <a:gd name="connsiteY9" fmla="*/ 62639 h 101251"/>
                <a:gd name="connsiteX10" fmla="*/ 38613 w 77224"/>
                <a:gd name="connsiteY10" fmla="*/ 93553 h 10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224" h="101251">
                  <a:moveTo>
                    <a:pt x="41096" y="909"/>
                  </a:moveTo>
                  <a:cubicBezTo>
                    <a:pt x="39652" y="-303"/>
                    <a:pt x="37573" y="-303"/>
                    <a:pt x="36129" y="909"/>
                  </a:cubicBezTo>
                  <a:cubicBezTo>
                    <a:pt x="34647" y="2161"/>
                    <a:pt x="0" y="31707"/>
                    <a:pt x="0" y="62620"/>
                  </a:cubicBezTo>
                  <a:cubicBezTo>
                    <a:pt x="-19" y="83928"/>
                    <a:pt x="17304" y="101252"/>
                    <a:pt x="38613" y="101252"/>
                  </a:cubicBezTo>
                  <a:cubicBezTo>
                    <a:pt x="59901" y="101252"/>
                    <a:pt x="77225" y="83928"/>
                    <a:pt x="77225" y="62639"/>
                  </a:cubicBezTo>
                  <a:cubicBezTo>
                    <a:pt x="77225" y="31726"/>
                    <a:pt x="42558" y="2161"/>
                    <a:pt x="41096" y="909"/>
                  </a:cubicBezTo>
                  <a:close/>
                  <a:moveTo>
                    <a:pt x="38613" y="93553"/>
                  </a:moveTo>
                  <a:cubicBezTo>
                    <a:pt x="21558" y="93553"/>
                    <a:pt x="7699" y="79674"/>
                    <a:pt x="7699" y="62639"/>
                  </a:cubicBezTo>
                  <a:cubicBezTo>
                    <a:pt x="7699" y="39753"/>
                    <a:pt x="30875" y="16251"/>
                    <a:pt x="38613" y="9052"/>
                  </a:cubicBezTo>
                  <a:cubicBezTo>
                    <a:pt x="46350" y="16270"/>
                    <a:pt x="69526" y="39772"/>
                    <a:pt x="69526" y="62639"/>
                  </a:cubicBezTo>
                  <a:cubicBezTo>
                    <a:pt x="69526" y="79674"/>
                    <a:pt x="55647" y="93553"/>
                    <a:pt x="38613" y="93553"/>
                  </a:cubicBezTo>
                  <a:close/>
                </a:path>
              </a:pathLst>
            </a:custGeom>
            <a:grpFill/>
            <a:ln w="112" cap="flat">
              <a:solidFill>
                <a:srgbClr val="0042FF"/>
              </a:solid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5" name="任意多边形: 形状 169"/>
            <p:cNvSpPr/>
            <p:nvPr/>
          </p:nvSpPr>
          <p:spPr>
            <a:xfrm>
              <a:off x="5546598" y="1704291"/>
              <a:ext cx="28402" cy="35484"/>
            </a:xfrm>
            <a:custGeom>
              <a:avLst/>
              <a:gdLst>
                <a:gd name="connsiteX0" fmla="*/ 24605 w 28402"/>
                <a:gd name="connsiteY0" fmla="*/ 13907 h 35484"/>
                <a:gd name="connsiteX1" fmla="*/ 13133 w 28402"/>
                <a:gd name="connsiteY1" fmla="*/ 13888 h 35484"/>
                <a:gd name="connsiteX2" fmla="*/ 20448 w 28402"/>
                <a:gd name="connsiteY2" fmla="*/ 6573 h 35484"/>
                <a:gd name="connsiteX3" fmla="*/ 20448 w 28402"/>
                <a:gd name="connsiteY3" fmla="*/ 1126 h 35484"/>
                <a:gd name="connsiteX4" fmla="*/ 15000 w 28402"/>
                <a:gd name="connsiteY4" fmla="*/ 1126 h 35484"/>
                <a:gd name="connsiteX5" fmla="*/ 1122 w 28402"/>
                <a:gd name="connsiteY5" fmla="*/ 14985 h 35484"/>
                <a:gd name="connsiteX6" fmla="*/ 294 w 28402"/>
                <a:gd name="connsiteY6" fmla="*/ 19181 h 35484"/>
                <a:gd name="connsiteX7" fmla="*/ 3836 w 28402"/>
                <a:gd name="connsiteY7" fmla="*/ 21568 h 35484"/>
                <a:gd name="connsiteX8" fmla="*/ 15308 w 28402"/>
                <a:gd name="connsiteY8" fmla="*/ 21587 h 35484"/>
                <a:gd name="connsiteX9" fmla="*/ 7994 w 28402"/>
                <a:gd name="connsiteY9" fmla="*/ 28902 h 35484"/>
                <a:gd name="connsiteX10" fmla="*/ 7998 w 28402"/>
                <a:gd name="connsiteY10" fmla="*/ 34357 h 35484"/>
                <a:gd name="connsiteX11" fmla="*/ 10708 w 28402"/>
                <a:gd name="connsiteY11" fmla="*/ 35485 h 35484"/>
                <a:gd name="connsiteX12" fmla="*/ 13422 w 28402"/>
                <a:gd name="connsiteY12" fmla="*/ 34349 h 35484"/>
                <a:gd name="connsiteX13" fmla="*/ 27281 w 28402"/>
                <a:gd name="connsiteY13" fmla="*/ 20490 h 35484"/>
                <a:gd name="connsiteX14" fmla="*/ 28109 w 28402"/>
                <a:gd name="connsiteY14" fmla="*/ 16294 h 35484"/>
                <a:gd name="connsiteX15" fmla="*/ 24605 w 28402"/>
                <a:gd name="connsiteY15" fmla="*/ 13907 h 3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02" h="35484">
                  <a:moveTo>
                    <a:pt x="24605" y="13907"/>
                  </a:moveTo>
                  <a:lnTo>
                    <a:pt x="13133" y="13888"/>
                  </a:lnTo>
                  <a:lnTo>
                    <a:pt x="20448" y="6573"/>
                  </a:lnTo>
                  <a:cubicBezTo>
                    <a:pt x="21949" y="5072"/>
                    <a:pt x="21949" y="2627"/>
                    <a:pt x="20448" y="1126"/>
                  </a:cubicBezTo>
                  <a:cubicBezTo>
                    <a:pt x="18946" y="-375"/>
                    <a:pt x="16502" y="-375"/>
                    <a:pt x="15000" y="1126"/>
                  </a:cubicBezTo>
                  <a:lnTo>
                    <a:pt x="1122" y="14985"/>
                  </a:lnTo>
                  <a:cubicBezTo>
                    <a:pt x="25" y="16082"/>
                    <a:pt x="-302" y="17737"/>
                    <a:pt x="294" y="19181"/>
                  </a:cubicBezTo>
                  <a:cubicBezTo>
                    <a:pt x="891" y="20625"/>
                    <a:pt x="2296" y="21549"/>
                    <a:pt x="3836" y="21568"/>
                  </a:cubicBezTo>
                  <a:lnTo>
                    <a:pt x="15308" y="21587"/>
                  </a:lnTo>
                  <a:lnTo>
                    <a:pt x="7994" y="28902"/>
                  </a:lnTo>
                  <a:cubicBezTo>
                    <a:pt x="6489" y="30409"/>
                    <a:pt x="6490" y="32851"/>
                    <a:pt x="7998" y="34357"/>
                  </a:cubicBezTo>
                  <a:cubicBezTo>
                    <a:pt x="8717" y="35075"/>
                    <a:pt x="9691" y="35481"/>
                    <a:pt x="10708" y="35485"/>
                  </a:cubicBezTo>
                  <a:cubicBezTo>
                    <a:pt x="11690" y="35485"/>
                    <a:pt x="12671" y="35100"/>
                    <a:pt x="13422" y="34349"/>
                  </a:cubicBezTo>
                  <a:lnTo>
                    <a:pt x="27281" y="20490"/>
                  </a:lnTo>
                  <a:cubicBezTo>
                    <a:pt x="28378" y="19393"/>
                    <a:pt x="28705" y="17737"/>
                    <a:pt x="28109" y="16294"/>
                  </a:cubicBezTo>
                  <a:cubicBezTo>
                    <a:pt x="27512" y="14850"/>
                    <a:pt x="26164" y="13907"/>
                    <a:pt x="24605" y="13907"/>
                  </a:cubicBezTo>
                  <a:close/>
                </a:path>
              </a:pathLst>
            </a:custGeom>
            <a:grpFill/>
            <a:ln w="112" cap="flat">
              <a:solidFill>
                <a:srgbClr val="0042FF"/>
              </a:solid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grpSp>
        <p:nvGrpSpPr>
          <p:cNvPr id="66" name="组合 65"/>
          <p:cNvGrpSpPr/>
          <p:nvPr/>
        </p:nvGrpSpPr>
        <p:grpSpPr>
          <a:xfrm rot="0">
            <a:off x="6280785" y="6284595"/>
            <a:ext cx="145415" cy="105410"/>
            <a:chOff x="5510166" y="1672770"/>
            <a:chExt cx="106059" cy="76844"/>
          </a:xfrm>
          <a:solidFill>
            <a:srgbClr val="0042FF"/>
          </a:solidFill>
        </p:grpSpPr>
        <p:sp>
          <p:nvSpPr>
            <p:cNvPr id="67" name="任意多边形: 形状 174"/>
            <p:cNvSpPr/>
            <p:nvPr/>
          </p:nvSpPr>
          <p:spPr>
            <a:xfrm>
              <a:off x="5551215" y="1730706"/>
              <a:ext cx="28188" cy="8240"/>
            </a:xfrm>
            <a:custGeom>
              <a:avLst/>
              <a:gdLst>
                <a:gd name="connsiteX0" fmla="*/ 28188 w 28188"/>
                <a:gd name="connsiteY0" fmla="*/ 8240 h 8240"/>
                <a:gd name="connsiteX1" fmla="*/ 0 w 28188"/>
                <a:gd name="connsiteY1" fmla="*/ 8240 h 8240"/>
                <a:gd name="connsiteX2" fmla="*/ 0 w 28188"/>
                <a:gd name="connsiteY2" fmla="*/ 0 h 8240"/>
                <a:gd name="connsiteX3" fmla="*/ 27819 w 28188"/>
                <a:gd name="connsiteY3" fmla="*/ 0 h 8240"/>
              </a:gdLst>
              <a:ahLst/>
              <a:cxnLst>
                <a:cxn ang="0">
                  <a:pos x="connsiteX0" y="connsiteY0"/>
                </a:cxn>
                <a:cxn ang="0">
                  <a:pos x="connsiteX1" y="connsiteY1"/>
                </a:cxn>
                <a:cxn ang="0">
                  <a:pos x="connsiteX2" y="connsiteY2"/>
                </a:cxn>
                <a:cxn ang="0">
                  <a:pos x="connsiteX3" y="connsiteY3"/>
                </a:cxn>
              </a:cxnLst>
              <a:rect l="l" t="t" r="r" b="b"/>
              <a:pathLst>
                <a:path w="28188" h="8240">
                  <a:moveTo>
                    <a:pt x="28188" y="8240"/>
                  </a:moveTo>
                  <a:lnTo>
                    <a:pt x="0" y="8240"/>
                  </a:lnTo>
                  <a:lnTo>
                    <a:pt x="0" y="0"/>
                  </a:lnTo>
                  <a:lnTo>
                    <a:pt x="27819" y="0"/>
                  </a:lnTo>
                </a:path>
              </a:pathLst>
            </a:custGeom>
            <a:grpFill/>
            <a:ln w="112"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8" name="任意多边形: 形状 175"/>
            <p:cNvSpPr/>
            <p:nvPr/>
          </p:nvSpPr>
          <p:spPr>
            <a:xfrm>
              <a:off x="5510166" y="1672770"/>
              <a:ext cx="106059" cy="66177"/>
            </a:xfrm>
            <a:custGeom>
              <a:avLst/>
              <a:gdLst>
                <a:gd name="connsiteX0" fmla="*/ 89301 w 106059"/>
                <a:gd name="connsiteY0" fmla="*/ 57936 h 66177"/>
                <a:gd name="connsiteX1" fmla="*/ 96308 w 106059"/>
                <a:gd name="connsiteY1" fmla="*/ 57936 h 66177"/>
                <a:gd name="connsiteX2" fmla="*/ 97819 w 106059"/>
                <a:gd name="connsiteY2" fmla="*/ 56425 h 66177"/>
                <a:gd name="connsiteX3" fmla="*/ 97819 w 106059"/>
                <a:gd name="connsiteY3" fmla="*/ 32045 h 66177"/>
                <a:gd name="connsiteX4" fmla="*/ 97633 w 106059"/>
                <a:gd name="connsiteY4" fmla="*/ 31549 h 66177"/>
                <a:gd name="connsiteX5" fmla="*/ 77480 w 106059"/>
                <a:gd name="connsiteY5" fmla="*/ 8498 h 66177"/>
                <a:gd name="connsiteX6" fmla="*/ 76913 w 106059"/>
                <a:gd name="connsiteY6" fmla="*/ 8241 h 66177"/>
                <a:gd name="connsiteX7" fmla="*/ 10143 w 106059"/>
                <a:gd name="connsiteY7" fmla="*/ 8241 h 66177"/>
                <a:gd name="connsiteX8" fmla="*/ 8241 w 106059"/>
                <a:gd name="connsiteY8" fmla="*/ 10143 h 66177"/>
                <a:gd name="connsiteX9" fmla="*/ 8241 w 106059"/>
                <a:gd name="connsiteY9" fmla="*/ 55544 h 66177"/>
                <a:gd name="connsiteX10" fmla="*/ 10634 w 106059"/>
                <a:gd name="connsiteY10" fmla="*/ 57937 h 66177"/>
                <a:gd name="connsiteX11" fmla="*/ 19753 w 106059"/>
                <a:gd name="connsiteY11" fmla="*/ 57937 h 66177"/>
                <a:gd name="connsiteX12" fmla="*/ 19753 w 106059"/>
                <a:gd name="connsiteY12" fmla="*/ 66177 h 66177"/>
                <a:gd name="connsiteX13" fmla="*/ 10634 w 106059"/>
                <a:gd name="connsiteY13" fmla="*/ 66177 h 66177"/>
                <a:gd name="connsiteX14" fmla="*/ 0 w 106059"/>
                <a:gd name="connsiteY14" fmla="*/ 55543 h 66177"/>
                <a:gd name="connsiteX15" fmla="*/ 0 w 106059"/>
                <a:gd name="connsiteY15" fmla="*/ 10142 h 66177"/>
                <a:gd name="connsiteX16" fmla="*/ 10142 w 106059"/>
                <a:gd name="connsiteY16" fmla="*/ 0 h 66177"/>
                <a:gd name="connsiteX17" fmla="*/ 76913 w 106059"/>
                <a:gd name="connsiteY17" fmla="*/ 0 h 66177"/>
                <a:gd name="connsiteX18" fmla="*/ 83685 w 106059"/>
                <a:gd name="connsiteY18" fmla="*/ 3074 h 66177"/>
                <a:gd name="connsiteX19" fmla="*/ 103837 w 106059"/>
                <a:gd name="connsiteY19" fmla="*/ 26125 h 66177"/>
                <a:gd name="connsiteX20" fmla="*/ 106060 w 106059"/>
                <a:gd name="connsiteY20" fmla="*/ 32045 h 66177"/>
                <a:gd name="connsiteX21" fmla="*/ 106060 w 106059"/>
                <a:gd name="connsiteY21" fmla="*/ 56425 h 66177"/>
                <a:gd name="connsiteX22" fmla="*/ 96309 w 106059"/>
                <a:gd name="connsiteY22" fmla="*/ 66176 h 66177"/>
                <a:gd name="connsiteX23" fmla="*/ 89672 w 106059"/>
                <a:gd name="connsiteY23" fmla="*/ 66176 h 6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059" h="66177">
                  <a:moveTo>
                    <a:pt x="89301" y="57936"/>
                  </a:moveTo>
                  <a:lnTo>
                    <a:pt x="96308" y="57936"/>
                  </a:lnTo>
                  <a:cubicBezTo>
                    <a:pt x="97141" y="57936"/>
                    <a:pt x="97819" y="57258"/>
                    <a:pt x="97819" y="56425"/>
                  </a:cubicBezTo>
                  <a:lnTo>
                    <a:pt x="97819" y="32045"/>
                  </a:lnTo>
                  <a:cubicBezTo>
                    <a:pt x="97819" y="31863"/>
                    <a:pt x="97752" y="31687"/>
                    <a:pt x="97633" y="31549"/>
                  </a:cubicBezTo>
                  <a:lnTo>
                    <a:pt x="77480" y="8498"/>
                  </a:lnTo>
                  <a:cubicBezTo>
                    <a:pt x="77337" y="8335"/>
                    <a:pt x="77131" y="8241"/>
                    <a:pt x="76913" y="8241"/>
                  </a:cubicBezTo>
                  <a:lnTo>
                    <a:pt x="10143" y="8241"/>
                  </a:lnTo>
                  <a:cubicBezTo>
                    <a:pt x="9095" y="8241"/>
                    <a:pt x="8241" y="9094"/>
                    <a:pt x="8241" y="10143"/>
                  </a:cubicBezTo>
                  <a:lnTo>
                    <a:pt x="8241" y="55544"/>
                  </a:lnTo>
                  <a:cubicBezTo>
                    <a:pt x="8241" y="56864"/>
                    <a:pt x="9315" y="57937"/>
                    <a:pt x="10634" y="57937"/>
                  </a:cubicBezTo>
                  <a:lnTo>
                    <a:pt x="19753" y="57937"/>
                  </a:lnTo>
                  <a:lnTo>
                    <a:pt x="19753" y="66177"/>
                  </a:lnTo>
                  <a:lnTo>
                    <a:pt x="10634" y="66177"/>
                  </a:lnTo>
                  <a:cubicBezTo>
                    <a:pt x="4771" y="66177"/>
                    <a:pt x="0" y="61406"/>
                    <a:pt x="0" y="55543"/>
                  </a:cubicBezTo>
                  <a:lnTo>
                    <a:pt x="0" y="10142"/>
                  </a:lnTo>
                  <a:cubicBezTo>
                    <a:pt x="0" y="4550"/>
                    <a:pt x="4550" y="0"/>
                    <a:pt x="10142" y="0"/>
                  </a:cubicBezTo>
                  <a:lnTo>
                    <a:pt x="76913" y="0"/>
                  </a:lnTo>
                  <a:cubicBezTo>
                    <a:pt x="79508" y="0"/>
                    <a:pt x="81976" y="1121"/>
                    <a:pt x="83685" y="3074"/>
                  </a:cubicBezTo>
                  <a:lnTo>
                    <a:pt x="103837" y="26125"/>
                  </a:lnTo>
                  <a:cubicBezTo>
                    <a:pt x="105270" y="27764"/>
                    <a:pt x="106060" y="29868"/>
                    <a:pt x="106060" y="32045"/>
                  </a:cubicBezTo>
                  <a:lnTo>
                    <a:pt x="106060" y="56425"/>
                  </a:lnTo>
                  <a:cubicBezTo>
                    <a:pt x="106060" y="61802"/>
                    <a:pt x="101685" y="66176"/>
                    <a:pt x="96309" y="66176"/>
                  </a:cubicBezTo>
                  <a:lnTo>
                    <a:pt x="89672" y="66176"/>
                  </a:lnTo>
                </a:path>
              </a:pathLst>
            </a:custGeom>
            <a:grpFill/>
            <a:ln w="112"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9" name="任意多边形: 形状 176"/>
            <p:cNvSpPr/>
            <p:nvPr/>
          </p:nvSpPr>
          <p:spPr>
            <a:xfrm>
              <a:off x="5515108" y="1699465"/>
              <a:ext cx="95027" cy="8240"/>
            </a:xfrm>
            <a:custGeom>
              <a:avLst/>
              <a:gdLst>
                <a:gd name="connsiteX0" fmla="*/ 0 w 95027"/>
                <a:gd name="connsiteY0" fmla="*/ 0 h 8240"/>
                <a:gd name="connsiteX1" fmla="*/ 95027 w 95027"/>
                <a:gd name="connsiteY1" fmla="*/ 0 h 8240"/>
                <a:gd name="connsiteX2" fmla="*/ 95027 w 95027"/>
                <a:gd name="connsiteY2" fmla="*/ 8240 h 8240"/>
                <a:gd name="connsiteX3" fmla="*/ 0 w 95027"/>
                <a:gd name="connsiteY3" fmla="*/ 8240 h 8240"/>
              </a:gdLst>
              <a:ahLst/>
              <a:cxnLst>
                <a:cxn ang="0">
                  <a:pos x="connsiteX0" y="connsiteY0"/>
                </a:cxn>
                <a:cxn ang="0">
                  <a:pos x="connsiteX1" y="connsiteY1"/>
                </a:cxn>
                <a:cxn ang="0">
                  <a:pos x="connsiteX2" y="connsiteY2"/>
                </a:cxn>
                <a:cxn ang="0">
                  <a:pos x="connsiteX3" y="connsiteY3"/>
                </a:cxn>
              </a:cxnLst>
              <a:rect l="l" t="t" r="r" b="b"/>
              <a:pathLst>
                <a:path w="95027" h="8240">
                  <a:moveTo>
                    <a:pt x="0" y="0"/>
                  </a:moveTo>
                  <a:lnTo>
                    <a:pt x="95027" y="0"/>
                  </a:lnTo>
                  <a:lnTo>
                    <a:pt x="95027" y="8240"/>
                  </a:lnTo>
                  <a:lnTo>
                    <a:pt x="0" y="8240"/>
                  </a:lnTo>
                  <a:close/>
                </a:path>
              </a:pathLst>
            </a:custGeom>
            <a:grpFill/>
            <a:ln w="112"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0" name="任意多边形: 形状 177"/>
            <p:cNvSpPr/>
            <p:nvPr/>
          </p:nvSpPr>
          <p:spPr>
            <a:xfrm>
              <a:off x="5541760" y="1676505"/>
              <a:ext cx="40244" cy="27712"/>
            </a:xfrm>
            <a:custGeom>
              <a:avLst/>
              <a:gdLst>
                <a:gd name="connsiteX0" fmla="*/ 0 w 40244"/>
                <a:gd name="connsiteY0" fmla="*/ 0 h 27712"/>
                <a:gd name="connsiteX1" fmla="*/ 8240 w 40244"/>
                <a:gd name="connsiteY1" fmla="*/ 0 h 27712"/>
                <a:gd name="connsiteX2" fmla="*/ 8240 w 40244"/>
                <a:gd name="connsiteY2" fmla="*/ 27712 h 27712"/>
                <a:gd name="connsiteX3" fmla="*/ 0 w 40244"/>
                <a:gd name="connsiteY3" fmla="*/ 27712 h 27712"/>
                <a:gd name="connsiteX4" fmla="*/ 32005 w 40244"/>
                <a:gd name="connsiteY4" fmla="*/ 0 h 27712"/>
                <a:gd name="connsiteX5" fmla="*/ 40245 w 40244"/>
                <a:gd name="connsiteY5" fmla="*/ 0 h 27712"/>
                <a:gd name="connsiteX6" fmla="*/ 40245 w 40244"/>
                <a:gd name="connsiteY6" fmla="*/ 27712 h 27712"/>
                <a:gd name="connsiteX7" fmla="*/ 32005 w 40244"/>
                <a:gd name="connsiteY7" fmla="*/ 27712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244" h="27712">
                  <a:moveTo>
                    <a:pt x="0" y="0"/>
                  </a:moveTo>
                  <a:lnTo>
                    <a:pt x="8240" y="0"/>
                  </a:lnTo>
                  <a:lnTo>
                    <a:pt x="8240" y="27712"/>
                  </a:lnTo>
                  <a:lnTo>
                    <a:pt x="0" y="27712"/>
                  </a:lnTo>
                  <a:close/>
                  <a:moveTo>
                    <a:pt x="32005" y="0"/>
                  </a:moveTo>
                  <a:lnTo>
                    <a:pt x="40245" y="0"/>
                  </a:lnTo>
                  <a:lnTo>
                    <a:pt x="40245" y="27712"/>
                  </a:lnTo>
                  <a:lnTo>
                    <a:pt x="32005" y="27712"/>
                  </a:lnTo>
                  <a:close/>
                </a:path>
              </a:pathLst>
            </a:custGeom>
            <a:grpFill/>
            <a:ln w="112"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1" name="任意多边形: 形状 178"/>
            <p:cNvSpPr/>
            <p:nvPr/>
          </p:nvSpPr>
          <p:spPr>
            <a:xfrm>
              <a:off x="5524610" y="1720694"/>
              <a:ext cx="78484" cy="28920"/>
            </a:xfrm>
            <a:custGeom>
              <a:avLst/>
              <a:gdLst>
                <a:gd name="connsiteX0" fmla="*/ 14460 w 78484"/>
                <a:gd name="connsiteY0" fmla="*/ 28920 h 28920"/>
                <a:gd name="connsiteX1" fmla="*/ 0 w 78484"/>
                <a:gd name="connsiteY1" fmla="*/ 14460 h 28920"/>
                <a:gd name="connsiteX2" fmla="*/ 14460 w 78484"/>
                <a:gd name="connsiteY2" fmla="*/ 0 h 28920"/>
                <a:gd name="connsiteX3" fmla="*/ 28920 w 78484"/>
                <a:gd name="connsiteY3" fmla="*/ 14460 h 28920"/>
                <a:gd name="connsiteX4" fmla="*/ 14460 w 78484"/>
                <a:gd name="connsiteY4" fmla="*/ 28920 h 28920"/>
                <a:gd name="connsiteX5" fmla="*/ 14460 w 78484"/>
                <a:gd name="connsiteY5" fmla="*/ 8241 h 28920"/>
                <a:gd name="connsiteX6" fmla="*/ 8240 w 78484"/>
                <a:gd name="connsiteY6" fmla="*/ 14461 h 28920"/>
                <a:gd name="connsiteX7" fmla="*/ 14460 w 78484"/>
                <a:gd name="connsiteY7" fmla="*/ 20681 h 28920"/>
                <a:gd name="connsiteX8" fmla="*/ 20680 w 78484"/>
                <a:gd name="connsiteY8" fmla="*/ 14461 h 28920"/>
                <a:gd name="connsiteX9" fmla="*/ 14460 w 78484"/>
                <a:gd name="connsiteY9" fmla="*/ 8241 h 28920"/>
                <a:gd name="connsiteX10" fmla="*/ 64024 w 78484"/>
                <a:gd name="connsiteY10" fmla="*/ 28920 h 28920"/>
                <a:gd name="connsiteX11" fmla="*/ 49564 w 78484"/>
                <a:gd name="connsiteY11" fmla="*/ 14460 h 28920"/>
                <a:gd name="connsiteX12" fmla="*/ 64024 w 78484"/>
                <a:gd name="connsiteY12" fmla="*/ 0 h 28920"/>
                <a:gd name="connsiteX13" fmla="*/ 78484 w 78484"/>
                <a:gd name="connsiteY13" fmla="*/ 14460 h 28920"/>
                <a:gd name="connsiteX14" fmla="*/ 64024 w 78484"/>
                <a:gd name="connsiteY14" fmla="*/ 28920 h 28920"/>
                <a:gd name="connsiteX15" fmla="*/ 64024 w 78484"/>
                <a:gd name="connsiteY15" fmla="*/ 8241 h 28920"/>
                <a:gd name="connsiteX16" fmla="*/ 57804 w 78484"/>
                <a:gd name="connsiteY16" fmla="*/ 14461 h 28920"/>
                <a:gd name="connsiteX17" fmla="*/ 64024 w 78484"/>
                <a:gd name="connsiteY17" fmla="*/ 20681 h 28920"/>
                <a:gd name="connsiteX18" fmla="*/ 70244 w 78484"/>
                <a:gd name="connsiteY18" fmla="*/ 14461 h 28920"/>
                <a:gd name="connsiteX19" fmla="*/ 64024 w 78484"/>
                <a:gd name="connsiteY19" fmla="*/ 8241 h 28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484" h="28920">
                  <a:moveTo>
                    <a:pt x="14460" y="28920"/>
                  </a:moveTo>
                  <a:cubicBezTo>
                    <a:pt x="6487" y="28920"/>
                    <a:pt x="0" y="22433"/>
                    <a:pt x="0" y="14460"/>
                  </a:cubicBezTo>
                  <a:cubicBezTo>
                    <a:pt x="0" y="6487"/>
                    <a:pt x="6486" y="0"/>
                    <a:pt x="14460" y="0"/>
                  </a:cubicBezTo>
                  <a:cubicBezTo>
                    <a:pt x="22434" y="0"/>
                    <a:pt x="28920" y="6487"/>
                    <a:pt x="28920" y="14460"/>
                  </a:cubicBezTo>
                  <a:cubicBezTo>
                    <a:pt x="28920" y="22433"/>
                    <a:pt x="22434" y="28920"/>
                    <a:pt x="14460" y="28920"/>
                  </a:cubicBezTo>
                  <a:close/>
                  <a:moveTo>
                    <a:pt x="14460" y="8241"/>
                  </a:moveTo>
                  <a:cubicBezTo>
                    <a:pt x="11030" y="8241"/>
                    <a:pt x="8240" y="11031"/>
                    <a:pt x="8240" y="14461"/>
                  </a:cubicBezTo>
                  <a:cubicBezTo>
                    <a:pt x="8240" y="17891"/>
                    <a:pt x="11030" y="20681"/>
                    <a:pt x="14460" y="20681"/>
                  </a:cubicBezTo>
                  <a:cubicBezTo>
                    <a:pt x="17890" y="20681"/>
                    <a:pt x="20680" y="17891"/>
                    <a:pt x="20680" y="14461"/>
                  </a:cubicBezTo>
                  <a:cubicBezTo>
                    <a:pt x="20680" y="11031"/>
                    <a:pt x="17890" y="8241"/>
                    <a:pt x="14460" y="8241"/>
                  </a:cubicBezTo>
                  <a:close/>
                  <a:moveTo>
                    <a:pt x="64024" y="28920"/>
                  </a:moveTo>
                  <a:cubicBezTo>
                    <a:pt x="56051" y="28920"/>
                    <a:pt x="49564" y="22433"/>
                    <a:pt x="49564" y="14460"/>
                  </a:cubicBezTo>
                  <a:cubicBezTo>
                    <a:pt x="49564" y="6487"/>
                    <a:pt x="56051" y="0"/>
                    <a:pt x="64024" y="0"/>
                  </a:cubicBezTo>
                  <a:cubicBezTo>
                    <a:pt x="71997" y="0"/>
                    <a:pt x="78484" y="6487"/>
                    <a:pt x="78484" y="14460"/>
                  </a:cubicBezTo>
                  <a:cubicBezTo>
                    <a:pt x="78484" y="22433"/>
                    <a:pt x="71998" y="28920"/>
                    <a:pt x="64024" y="28920"/>
                  </a:cubicBezTo>
                  <a:close/>
                  <a:moveTo>
                    <a:pt x="64024" y="8241"/>
                  </a:moveTo>
                  <a:cubicBezTo>
                    <a:pt x="60594" y="8241"/>
                    <a:pt x="57804" y="11031"/>
                    <a:pt x="57804" y="14461"/>
                  </a:cubicBezTo>
                  <a:cubicBezTo>
                    <a:pt x="57804" y="17891"/>
                    <a:pt x="60594" y="20681"/>
                    <a:pt x="64024" y="20681"/>
                  </a:cubicBezTo>
                  <a:cubicBezTo>
                    <a:pt x="67454" y="20681"/>
                    <a:pt x="70244" y="17891"/>
                    <a:pt x="70244" y="14461"/>
                  </a:cubicBezTo>
                  <a:cubicBezTo>
                    <a:pt x="70244" y="11031"/>
                    <a:pt x="67454" y="8241"/>
                    <a:pt x="64024" y="8241"/>
                  </a:cubicBezTo>
                  <a:close/>
                </a:path>
              </a:pathLst>
            </a:custGeom>
            <a:grpFill/>
            <a:ln w="112"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72" name="组合 71"/>
          <p:cNvGrpSpPr/>
          <p:nvPr/>
        </p:nvGrpSpPr>
        <p:grpSpPr>
          <a:xfrm rot="0">
            <a:off x="5889625" y="6269355"/>
            <a:ext cx="139700" cy="130810"/>
            <a:chOff x="6552719" y="1613567"/>
            <a:chExt cx="155926" cy="155584"/>
          </a:xfrm>
          <a:solidFill>
            <a:srgbClr val="0042FF"/>
          </a:solidFill>
        </p:grpSpPr>
        <p:sp>
          <p:nvSpPr>
            <p:cNvPr id="73" name="任意多边形: 形状 183"/>
            <p:cNvSpPr/>
            <p:nvPr/>
          </p:nvSpPr>
          <p:spPr>
            <a:xfrm>
              <a:off x="6552719" y="1613567"/>
              <a:ext cx="155926" cy="155584"/>
            </a:xfrm>
            <a:custGeom>
              <a:avLst/>
              <a:gdLst>
                <a:gd name="connsiteX0" fmla="*/ 77988 w 155926"/>
                <a:gd name="connsiteY0" fmla="*/ 155584 h 155584"/>
                <a:gd name="connsiteX1" fmla="*/ 9249 w 155926"/>
                <a:gd name="connsiteY1" fmla="*/ 123949 h 155584"/>
                <a:gd name="connsiteX2" fmla="*/ 77988 w 155926"/>
                <a:gd name="connsiteY2" fmla="*/ 92355 h 155584"/>
                <a:gd name="connsiteX3" fmla="*/ 146728 w 155926"/>
                <a:gd name="connsiteY3" fmla="*/ 123949 h 155584"/>
                <a:gd name="connsiteX4" fmla="*/ 77988 w 155926"/>
                <a:gd name="connsiteY4" fmla="*/ 155584 h 155584"/>
                <a:gd name="connsiteX5" fmla="*/ 77988 w 155926"/>
                <a:gd name="connsiteY5" fmla="*/ 102900 h 155584"/>
                <a:gd name="connsiteX6" fmla="*/ 20478 w 155926"/>
                <a:gd name="connsiteY6" fmla="*/ 123195 h 155584"/>
                <a:gd name="connsiteX7" fmla="*/ 77988 w 155926"/>
                <a:gd name="connsiteY7" fmla="*/ 144118 h 155584"/>
                <a:gd name="connsiteX8" fmla="*/ 135499 w 155926"/>
                <a:gd name="connsiteY8" fmla="*/ 123195 h 155584"/>
                <a:gd name="connsiteX9" fmla="*/ 77988 w 155926"/>
                <a:gd name="connsiteY9" fmla="*/ 102900 h 155584"/>
                <a:gd name="connsiteX10" fmla="*/ 113625 w 155926"/>
                <a:gd name="connsiteY10" fmla="*/ 50927 h 155584"/>
                <a:gd name="connsiteX11" fmla="*/ 111520 w 155926"/>
                <a:gd name="connsiteY11" fmla="*/ 50927 h 155584"/>
                <a:gd name="connsiteX12" fmla="*/ 92025 w 155926"/>
                <a:gd name="connsiteY12" fmla="*/ 32139 h 155584"/>
                <a:gd name="connsiteX13" fmla="*/ 93389 w 155926"/>
                <a:gd name="connsiteY13" fmla="*/ 14061 h 155584"/>
                <a:gd name="connsiteX14" fmla="*/ 110116 w 155926"/>
                <a:gd name="connsiteY14" fmla="*/ 1256 h 155584"/>
                <a:gd name="connsiteX15" fmla="*/ 153005 w 155926"/>
                <a:gd name="connsiteY15" fmla="*/ 9626 h 155584"/>
                <a:gd name="connsiteX16" fmla="*/ 155774 w 155926"/>
                <a:gd name="connsiteY16" fmla="*/ 15651 h 155584"/>
                <a:gd name="connsiteX17" fmla="*/ 150900 w 155926"/>
                <a:gd name="connsiteY17" fmla="*/ 20171 h 155584"/>
                <a:gd name="connsiteX18" fmla="*/ 129845 w 155926"/>
                <a:gd name="connsiteY18" fmla="*/ 38248 h 155584"/>
                <a:gd name="connsiteX19" fmla="*/ 113703 w 155926"/>
                <a:gd name="connsiteY19" fmla="*/ 50802 h 155584"/>
                <a:gd name="connsiteX20" fmla="*/ 119240 w 155926"/>
                <a:gd name="connsiteY20" fmla="*/ 11048 h 155584"/>
                <a:gd name="connsiteX21" fmla="*/ 112222 w 155926"/>
                <a:gd name="connsiteY21" fmla="*/ 11802 h 155584"/>
                <a:gd name="connsiteX22" fmla="*/ 101694 w 155926"/>
                <a:gd name="connsiteY22" fmla="*/ 19334 h 155584"/>
                <a:gd name="connsiteX23" fmla="*/ 100992 w 155926"/>
                <a:gd name="connsiteY23" fmla="*/ 29209 h 155584"/>
                <a:gd name="connsiteX24" fmla="*/ 112222 w 155926"/>
                <a:gd name="connsiteY24" fmla="*/ 39671 h 155584"/>
                <a:gd name="connsiteX25" fmla="*/ 120643 w 155926"/>
                <a:gd name="connsiteY25" fmla="*/ 32892 h 155584"/>
                <a:gd name="connsiteX26" fmla="*/ 135382 w 155926"/>
                <a:gd name="connsiteY26" fmla="*/ 14814 h 155584"/>
                <a:gd name="connsiteX27" fmla="*/ 119240 w 155926"/>
                <a:gd name="connsiteY27" fmla="*/ 11048 h 155584"/>
                <a:gd name="connsiteX28" fmla="*/ 42897 w 155926"/>
                <a:gd name="connsiteY28" fmla="*/ 65992 h 155584"/>
                <a:gd name="connsiteX29" fmla="*/ 26092 w 155926"/>
                <a:gd name="connsiteY29" fmla="*/ 53940 h 155584"/>
                <a:gd name="connsiteX30" fmla="*/ 4921 w 155926"/>
                <a:gd name="connsiteY30" fmla="*/ 35905 h 155584"/>
                <a:gd name="connsiteX31" fmla="*/ 8 w 155926"/>
                <a:gd name="connsiteY31" fmla="*/ 30632 h 155584"/>
                <a:gd name="connsiteX32" fmla="*/ 2815 w 155926"/>
                <a:gd name="connsiteY32" fmla="*/ 24606 h 155584"/>
                <a:gd name="connsiteX33" fmla="*/ 45704 w 155926"/>
                <a:gd name="connsiteY33" fmla="*/ 16237 h 155584"/>
                <a:gd name="connsiteX34" fmla="*/ 63952 w 155926"/>
                <a:gd name="connsiteY34" fmla="*/ 47078 h 155584"/>
                <a:gd name="connsiteX35" fmla="*/ 44457 w 155926"/>
                <a:gd name="connsiteY35" fmla="*/ 65908 h 155584"/>
                <a:gd name="connsiteX36" fmla="*/ 19503 w 155926"/>
                <a:gd name="connsiteY36" fmla="*/ 29879 h 155584"/>
                <a:gd name="connsiteX37" fmla="*/ 34202 w 155926"/>
                <a:gd name="connsiteY37" fmla="*/ 47915 h 155584"/>
                <a:gd name="connsiteX38" fmla="*/ 42624 w 155926"/>
                <a:gd name="connsiteY38" fmla="*/ 54694 h 155584"/>
                <a:gd name="connsiteX39" fmla="*/ 54594 w 155926"/>
                <a:gd name="connsiteY39" fmla="*/ 44190 h 155584"/>
                <a:gd name="connsiteX40" fmla="*/ 43365 w 155926"/>
                <a:gd name="connsiteY40" fmla="*/ 26866 h 155584"/>
                <a:gd name="connsiteX41" fmla="*/ 19503 w 155926"/>
                <a:gd name="connsiteY41" fmla="*/ 29879 h 155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5926" h="155584">
                  <a:moveTo>
                    <a:pt x="77988" y="155584"/>
                  </a:moveTo>
                  <a:cubicBezTo>
                    <a:pt x="45002" y="155584"/>
                    <a:pt x="9249" y="144286"/>
                    <a:pt x="9249" y="123949"/>
                  </a:cubicBezTo>
                  <a:cubicBezTo>
                    <a:pt x="9249" y="103611"/>
                    <a:pt x="44340" y="92355"/>
                    <a:pt x="77988" y="92355"/>
                  </a:cubicBezTo>
                  <a:cubicBezTo>
                    <a:pt x="111637" y="92355"/>
                    <a:pt x="146728" y="103653"/>
                    <a:pt x="146728" y="123949"/>
                  </a:cubicBezTo>
                  <a:cubicBezTo>
                    <a:pt x="146728" y="144244"/>
                    <a:pt x="110818" y="155584"/>
                    <a:pt x="77988" y="155584"/>
                  </a:cubicBezTo>
                  <a:close/>
                  <a:moveTo>
                    <a:pt x="77988" y="102900"/>
                  </a:moveTo>
                  <a:cubicBezTo>
                    <a:pt x="42897" y="102900"/>
                    <a:pt x="20478" y="114910"/>
                    <a:pt x="20478" y="123195"/>
                  </a:cubicBezTo>
                  <a:cubicBezTo>
                    <a:pt x="20478" y="131481"/>
                    <a:pt x="42897" y="144118"/>
                    <a:pt x="77988" y="144118"/>
                  </a:cubicBezTo>
                  <a:cubicBezTo>
                    <a:pt x="113079" y="144118"/>
                    <a:pt x="135499" y="132067"/>
                    <a:pt x="135499" y="123195"/>
                  </a:cubicBezTo>
                  <a:cubicBezTo>
                    <a:pt x="135499" y="114324"/>
                    <a:pt x="113079" y="102900"/>
                    <a:pt x="77988" y="102900"/>
                  </a:cubicBezTo>
                  <a:close/>
                  <a:moveTo>
                    <a:pt x="113625" y="50927"/>
                  </a:moveTo>
                  <a:lnTo>
                    <a:pt x="111520" y="50927"/>
                  </a:lnTo>
                  <a:cubicBezTo>
                    <a:pt x="102364" y="48844"/>
                    <a:pt x="94936" y="41685"/>
                    <a:pt x="92025" y="32139"/>
                  </a:cubicBezTo>
                  <a:cubicBezTo>
                    <a:pt x="90330" y="26145"/>
                    <a:pt x="90818" y="19684"/>
                    <a:pt x="93389" y="14061"/>
                  </a:cubicBezTo>
                  <a:cubicBezTo>
                    <a:pt x="97077" y="7496"/>
                    <a:pt x="103132" y="2861"/>
                    <a:pt x="110116" y="1256"/>
                  </a:cubicBezTo>
                  <a:cubicBezTo>
                    <a:pt x="121345" y="-1757"/>
                    <a:pt x="135382" y="503"/>
                    <a:pt x="153005" y="9626"/>
                  </a:cubicBezTo>
                  <a:cubicBezTo>
                    <a:pt x="155191" y="10622"/>
                    <a:pt x="156368" y="13184"/>
                    <a:pt x="155774" y="15651"/>
                  </a:cubicBezTo>
                  <a:cubicBezTo>
                    <a:pt x="155298" y="18173"/>
                    <a:pt x="153294" y="20031"/>
                    <a:pt x="150900" y="20171"/>
                  </a:cubicBezTo>
                  <a:cubicBezTo>
                    <a:pt x="143102" y="20924"/>
                    <a:pt x="136084" y="26950"/>
                    <a:pt x="129845" y="38248"/>
                  </a:cubicBezTo>
                  <a:cubicBezTo>
                    <a:pt x="124932" y="48751"/>
                    <a:pt x="117914" y="50802"/>
                    <a:pt x="113703" y="50802"/>
                  </a:cubicBezTo>
                  <a:close/>
                  <a:moveTo>
                    <a:pt x="119240" y="11048"/>
                  </a:moveTo>
                  <a:cubicBezTo>
                    <a:pt x="116878" y="10886"/>
                    <a:pt x="114507" y="11140"/>
                    <a:pt x="112222" y="11802"/>
                  </a:cubicBezTo>
                  <a:cubicBezTo>
                    <a:pt x="106607" y="13308"/>
                    <a:pt x="103098" y="15568"/>
                    <a:pt x="101694" y="19334"/>
                  </a:cubicBezTo>
                  <a:cubicBezTo>
                    <a:pt x="100338" y="22421"/>
                    <a:pt x="100088" y="25937"/>
                    <a:pt x="100992" y="29209"/>
                  </a:cubicBezTo>
                  <a:cubicBezTo>
                    <a:pt x="102916" y="34458"/>
                    <a:pt x="107109" y="38365"/>
                    <a:pt x="112222" y="39671"/>
                  </a:cubicBezTo>
                  <a:cubicBezTo>
                    <a:pt x="113625" y="39671"/>
                    <a:pt x="117134" y="40424"/>
                    <a:pt x="120643" y="32892"/>
                  </a:cubicBezTo>
                  <a:cubicBezTo>
                    <a:pt x="124026" y="25606"/>
                    <a:pt x="129102" y="19380"/>
                    <a:pt x="135382" y="14814"/>
                  </a:cubicBezTo>
                  <a:cubicBezTo>
                    <a:pt x="130245" y="12565"/>
                    <a:pt x="124783" y="11291"/>
                    <a:pt x="119240" y="11048"/>
                  </a:cubicBezTo>
                  <a:close/>
                  <a:moveTo>
                    <a:pt x="42897" y="65992"/>
                  </a:moveTo>
                  <a:cubicBezTo>
                    <a:pt x="37984" y="65992"/>
                    <a:pt x="31668" y="63732"/>
                    <a:pt x="26092" y="53940"/>
                  </a:cubicBezTo>
                  <a:cubicBezTo>
                    <a:pt x="19503" y="42684"/>
                    <a:pt x="13342" y="36658"/>
                    <a:pt x="4921" y="35905"/>
                  </a:cubicBezTo>
                  <a:cubicBezTo>
                    <a:pt x="2522" y="35217"/>
                    <a:pt x="649" y="33206"/>
                    <a:pt x="8" y="30632"/>
                  </a:cubicBezTo>
                  <a:cubicBezTo>
                    <a:pt x="-103" y="28235"/>
                    <a:pt x="962" y="25950"/>
                    <a:pt x="2815" y="24606"/>
                  </a:cubicBezTo>
                  <a:cubicBezTo>
                    <a:pt x="20361" y="15568"/>
                    <a:pt x="34358" y="12555"/>
                    <a:pt x="45704" y="16237"/>
                  </a:cubicBezTo>
                  <a:cubicBezTo>
                    <a:pt x="61300" y="20757"/>
                    <a:pt x="68163" y="32055"/>
                    <a:pt x="63952" y="47078"/>
                  </a:cubicBezTo>
                  <a:cubicBezTo>
                    <a:pt x="61024" y="56621"/>
                    <a:pt x="53606" y="63785"/>
                    <a:pt x="44457" y="65908"/>
                  </a:cubicBezTo>
                  <a:close/>
                  <a:moveTo>
                    <a:pt x="19503" y="29879"/>
                  </a:moveTo>
                  <a:cubicBezTo>
                    <a:pt x="25770" y="34429"/>
                    <a:pt x="30834" y="40643"/>
                    <a:pt x="34202" y="47915"/>
                  </a:cubicBezTo>
                  <a:cubicBezTo>
                    <a:pt x="37711" y="54694"/>
                    <a:pt x="42000" y="54694"/>
                    <a:pt x="42624" y="54694"/>
                  </a:cubicBezTo>
                  <a:cubicBezTo>
                    <a:pt x="47930" y="53405"/>
                    <a:pt x="52363" y="49515"/>
                    <a:pt x="54594" y="44190"/>
                  </a:cubicBezTo>
                  <a:cubicBezTo>
                    <a:pt x="56700" y="35152"/>
                    <a:pt x="53190" y="29879"/>
                    <a:pt x="43365" y="26866"/>
                  </a:cubicBezTo>
                  <a:cubicBezTo>
                    <a:pt x="35306" y="25422"/>
                    <a:pt x="27030" y="26467"/>
                    <a:pt x="19503" y="29879"/>
                  </a:cubicBezTo>
                  <a:close/>
                </a:path>
              </a:pathLst>
            </a:custGeom>
            <a:grpFill/>
            <a:ln w="139"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74" name="任意多边形: 形状 184"/>
            <p:cNvSpPr/>
            <p:nvPr/>
          </p:nvSpPr>
          <p:spPr>
            <a:xfrm>
              <a:off x="6624775" y="1644383"/>
              <a:ext cx="28063" cy="84721"/>
            </a:xfrm>
            <a:custGeom>
              <a:avLst/>
              <a:gdLst>
                <a:gd name="connsiteX0" fmla="*/ 4723 w 28063"/>
                <a:gd name="connsiteY0" fmla="*/ 84722 h 84721"/>
                <a:gd name="connsiteX1" fmla="*/ 200 w 28063"/>
                <a:gd name="connsiteY1" fmla="*/ 81123 h 84721"/>
                <a:gd name="connsiteX2" fmla="*/ 200 w 28063"/>
                <a:gd name="connsiteY2" fmla="*/ 66812 h 84721"/>
                <a:gd name="connsiteX3" fmla="*/ 20514 w 28063"/>
                <a:gd name="connsiteY3" fmla="*/ 570 h 84721"/>
                <a:gd name="connsiteX4" fmla="*/ 27532 w 28063"/>
                <a:gd name="connsiteY4" fmla="*/ 2829 h 84721"/>
                <a:gd name="connsiteX5" fmla="*/ 25427 w 28063"/>
                <a:gd name="connsiteY5" fmla="*/ 10362 h 84721"/>
                <a:gd name="connsiteX6" fmla="*/ 10727 w 28063"/>
                <a:gd name="connsiteY6" fmla="*/ 66059 h 84721"/>
                <a:gd name="connsiteX7" fmla="*/ 10727 w 28063"/>
                <a:gd name="connsiteY7" fmla="*/ 80370 h 84721"/>
                <a:gd name="connsiteX8" fmla="*/ 4723 w 28063"/>
                <a:gd name="connsiteY8" fmla="*/ 84554 h 8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63" h="84721">
                  <a:moveTo>
                    <a:pt x="4723" y="84722"/>
                  </a:moveTo>
                  <a:cubicBezTo>
                    <a:pt x="1916" y="84722"/>
                    <a:pt x="200" y="84722"/>
                    <a:pt x="200" y="81123"/>
                  </a:cubicBezTo>
                  <a:lnTo>
                    <a:pt x="200" y="66812"/>
                  </a:lnTo>
                  <a:cubicBezTo>
                    <a:pt x="-502" y="35929"/>
                    <a:pt x="-502" y="11868"/>
                    <a:pt x="20514" y="570"/>
                  </a:cubicBezTo>
                  <a:cubicBezTo>
                    <a:pt x="23047" y="-724"/>
                    <a:pt x="26081" y="253"/>
                    <a:pt x="27532" y="2829"/>
                  </a:cubicBezTo>
                  <a:cubicBezTo>
                    <a:pt x="28738" y="5548"/>
                    <a:pt x="27828" y="8804"/>
                    <a:pt x="25427" y="10362"/>
                  </a:cubicBezTo>
                  <a:cubicBezTo>
                    <a:pt x="10727" y="17852"/>
                    <a:pt x="10026" y="35176"/>
                    <a:pt x="10727" y="66059"/>
                  </a:cubicBezTo>
                  <a:lnTo>
                    <a:pt x="10727" y="80370"/>
                  </a:lnTo>
                  <a:cubicBezTo>
                    <a:pt x="11429" y="84094"/>
                    <a:pt x="7530" y="84554"/>
                    <a:pt x="4723" y="84554"/>
                  </a:cubicBezTo>
                  <a:close/>
                </a:path>
              </a:pathLst>
            </a:custGeom>
            <a:grpFill/>
            <a:ln w="139"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5" name="任意多边形: 形状 185"/>
            <p:cNvSpPr/>
            <p:nvPr/>
          </p:nvSpPr>
          <p:spPr>
            <a:xfrm>
              <a:off x="6611173" y="1659931"/>
              <a:ext cx="24412" cy="69174"/>
            </a:xfrm>
            <a:custGeom>
              <a:avLst/>
              <a:gdLst>
                <a:gd name="connsiteX0" fmla="*/ 18325 w 24412"/>
                <a:gd name="connsiteY0" fmla="*/ 69174 h 69174"/>
                <a:gd name="connsiteX1" fmla="*/ 13802 w 24412"/>
                <a:gd name="connsiteY1" fmla="*/ 65575 h 69174"/>
                <a:gd name="connsiteX2" fmla="*/ 2573 w 24412"/>
                <a:gd name="connsiteY2" fmla="*/ 10590 h 69174"/>
                <a:gd name="connsiteX3" fmla="*/ 467 w 24412"/>
                <a:gd name="connsiteY3" fmla="*/ 3058 h 69174"/>
                <a:gd name="connsiteX4" fmla="*/ 6926 w 24412"/>
                <a:gd name="connsiteY4" fmla="*/ 475 h 69174"/>
                <a:gd name="connsiteX5" fmla="*/ 7485 w 24412"/>
                <a:gd name="connsiteY5" fmla="*/ 798 h 69174"/>
                <a:gd name="connsiteX6" fmla="*/ 24329 w 24412"/>
                <a:gd name="connsiteY6" fmla="*/ 66287 h 69174"/>
                <a:gd name="connsiteX7" fmla="*/ 18325 w 24412"/>
                <a:gd name="connsiteY7" fmla="*/ 69174 h 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12" h="69174">
                  <a:moveTo>
                    <a:pt x="18325" y="69174"/>
                  </a:moveTo>
                  <a:cubicBezTo>
                    <a:pt x="15517" y="69174"/>
                    <a:pt x="13802" y="69174"/>
                    <a:pt x="13802" y="65575"/>
                  </a:cubicBezTo>
                  <a:cubicBezTo>
                    <a:pt x="13802" y="37706"/>
                    <a:pt x="13802" y="16616"/>
                    <a:pt x="2573" y="10590"/>
                  </a:cubicBezTo>
                  <a:cubicBezTo>
                    <a:pt x="258" y="8962"/>
                    <a:pt x="-630" y="5784"/>
                    <a:pt x="467" y="3058"/>
                  </a:cubicBezTo>
                  <a:cubicBezTo>
                    <a:pt x="1586" y="430"/>
                    <a:pt x="4478" y="-726"/>
                    <a:pt x="6926" y="475"/>
                  </a:cubicBezTo>
                  <a:cubicBezTo>
                    <a:pt x="7119" y="569"/>
                    <a:pt x="7306" y="677"/>
                    <a:pt x="7485" y="798"/>
                  </a:cubicBezTo>
                  <a:cubicBezTo>
                    <a:pt x="24329" y="9837"/>
                    <a:pt x="24329" y="34693"/>
                    <a:pt x="24329" y="66287"/>
                  </a:cubicBezTo>
                  <a:cubicBezTo>
                    <a:pt x="25031" y="68546"/>
                    <a:pt x="21132" y="69174"/>
                    <a:pt x="18325" y="69174"/>
                  </a:cubicBezTo>
                  <a:close/>
                </a:path>
              </a:pathLst>
            </a:custGeom>
            <a:grpFill/>
            <a:ln w="139"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6" name="任意多边形: 形状 186"/>
            <p:cNvSpPr/>
            <p:nvPr/>
          </p:nvSpPr>
          <p:spPr>
            <a:xfrm>
              <a:off x="6605285" y="1726510"/>
              <a:ext cx="50843" cy="12972"/>
            </a:xfrm>
            <a:custGeom>
              <a:avLst/>
              <a:gdLst>
                <a:gd name="connsiteX0" fmla="*/ 0 w 50843"/>
                <a:gd name="connsiteY0" fmla="*/ 6486 h 12972"/>
                <a:gd name="connsiteX1" fmla="*/ 25422 w 50843"/>
                <a:gd name="connsiteY1" fmla="*/ 12972 h 12972"/>
                <a:gd name="connsiteX2" fmla="*/ 50843 w 50843"/>
                <a:gd name="connsiteY2" fmla="*/ 6486 h 12972"/>
                <a:gd name="connsiteX3" fmla="*/ 25422 w 50843"/>
                <a:gd name="connsiteY3" fmla="*/ 0 h 12972"/>
                <a:gd name="connsiteX4" fmla="*/ 0 w 50843"/>
                <a:gd name="connsiteY4" fmla="*/ 6486 h 12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3" h="12972">
                  <a:moveTo>
                    <a:pt x="0" y="6486"/>
                  </a:moveTo>
                  <a:cubicBezTo>
                    <a:pt x="0" y="10068"/>
                    <a:pt x="11382" y="12972"/>
                    <a:pt x="25422" y="12972"/>
                  </a:cubicBezTo>
                  <a:cubicBezTo>
                    <a:pt x="39462" y="12972"/>
                    <a:pt x="50843" y="10068"/>
                    <a:pt x="50843" y="6486"/>
                  </a:cubicBezTo>
                  <a:cubicBezTo>
                    <a:pt x="50843" y="2904"/>
                    <a:pt x="39462" y="0"/>
                    <a:pt x="25422" y="0"/>
                  </a:cubicBezTo>
                  <a:cubicBezTo>
                    <a:pt x="11382" y="0"/>
                    <a:pt x="0" y="2904"/>
                    <a:pt x="0" y="6486"/>
                  </a:cubicBezTo>
                  <a:close/>
                </a:path>
              </a:pathLst>
            </a:custGeom>
            <a:grpFill/>
            <a:ln w="139" cap="flat">
              <a:no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1098" name="组合 1097"/>
          <p:cNvGrpSpPr/>
          <p:nvPr/>
        </p:nvGrpSpPr>
        <p:grpSpPr>
          <a:xfrm rot="0">
            <a:off x="8059420" y="6030595"/>
            <a:ext cx="137795" cy="120015"/>
            <a:chOff x="7644010" y="1545862"/>
            <a:chExt cx="127218" cy="119855"/>
          </a:xfrm>
          <a:solidFill>
            <a:srgbClr val="0042FF"/>
          </a:solidFill>
        </p:grpSpPr>
        <p:sp>
          <p:nvSpPr>
            <p:cNvPr id="1094" name="任意多边形: 形状 1093"/>
            <p:cNvSpPr/>
            <p:nvPr/>
          </p:nvSpPr>
          <p:spPr>
            <a:xfrm>
              <a:off x="7644010" y="1657290"/>
              <a:ext cx="127218" cy="8427"/>
            </a:xfrm>
            <a:custGeom>
              <a:avLst/>
              <a:gdLst>
                <a:gd name="connsiteX0" fmla="*/ 123005 w 127218"/>
                <a:gd name="connsiteY0" fmla="*/ 8427 h 8427"/>
                <a:gd name="connsiteX1" fmla="*/ 4214 w 127218"/>
                <a:gd name="connsiteY1" fmla="*/ 8427 h 8427"/>
                <a:gd name="connsiteX2" fmla="*/ 0 w 127218"/>
                <a:gd name="connsiteY2" fmla="*/ 4214 h 8427"/>
                <a:gd name="connsiteX3" fmla="*/ 4214 w 127218"/>
                <a:gd name="connsiteY3" fmla="*/ 0 h 8427"/>
                <a:gd name="connsiteX4" fmla="*/ 123005 w 127218"/>
                <a:gd name="connsiteY4" fmla="*/ 0 h 8427"/>
                <a:gd name="connsiteX5" fmla="*/ 127219 w 127218"/>
                <a:gd name="connsiteY5" fmla="*/ 4214 h 8427"/>
                <a:gd name="connsiteX6" fmla="*/ 123005 w 127218"/>
                <a:gd name="connsiteY6" fmla="*/ 8427 h 8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218" h="8427">
                  <a:moveTo>
                    <a:pt x="123005" y="8427"/>
                  </a:moveTo>
                  <a:lnTo>
                    <a:pt x="4214" y="8427"/>
                  </a:lnTo>
                  <a:cubicBezTo>
                    <a:pt x="1896" y="8427"/>
                    <a:pt x="0" y="6531"/>
                    <a:pt x="0" y="4214"/>
                  </a:cubicBezTo>
                  <a:cubicBezTo>
                    <a:pt x="0" y="1896"/>
                    <a:pt x="1896" y="0"/>
                    <a:pt x="4214" y="0"/>
                  </a:cubicBezTo>
                  <a:lnTo>
                    <a:pt x="123005" y="0"/>
                  </a:lnTo>
                  <a:cubicBezTo>
                    <a:pt x="125323" y="0"/>
                    <a:pt x="127219" y="1896"/>
                    <a:pt x="127219" y="4214"/>
                  </a:cubicBezTo>
                  <a:cubicBezTo>
                    <a:pt x="127219" y="6531"/>
                    <a:pt x="125358" y="8427"/>
                    <a:pt x="123005" y="8427"/>
                  </a:cubicBezTo>
                  <a:close/>
                </a:path>
              </a:pathLst>
            </a:custGeom>
            <a:grpFill/>
            <a:ln w="3175" cap="flat">
              <a:solidFill>
                <a:srgbClr val="0042FF"/>
              </a:solidFill>
              <a:prstDash val="solid"/>
              <a:miter/>
            </a:ln>
          </p:spPr>
          <p:txBody>
            <a:bodyPr rtlCol="0" anchor="ctr" lIns="0" rIns="0" tIns="0" bIns="0"/>
            <a:p>
              <a:pP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095" name="任意多边形: 形状 1094"/>
            <p:cNvSpPr/>
            <p:nvPr/>
          </p:nvSpPr>
          <p:spPr>
            <a:xfrm>
              <a:off x="7656827" y="1545862"/>
              <a:ext cx="55269" cy="119328"/>
            </a:xfrm>
            <a:custGeom>
              <a:avLst/>
              <a:gdLst>
                <a:gd name="connsiteX0" fmla="*/ 51056 w 55269"/>
                <a:gd name="connsiteY0" fmla="*/ 119329 h 119328"/>
                <a:gd name="connsiteX1" fmla="*/ 46842 w 55269"/>
                <a:gd name="connsiteY1" fmla="*/ 115115 h 119328"/>
                <a:gd name="connsiteX2" fmla="*/ 46842 w 55269"/>
                <a:gd name="connsiteY2" fmla="*/ 9842 h 119328"/>
                <a:gd name="connsiteX3" fmla="*/ 10885 w 55269"/>
                <a:gd name="connsiteY3" fmla="*/ 32140 h 119328"/>
                <a:gd name="connsiteX4" fmla="*/ 8427 w 55269"/>
                <a:gd name="connsiteY4" fmla="*/ 36529 h 119328"/>
                <a:gd name="connsiteX5" fmla="*/ 8427 w 55269"/>
                <a:gd name="connsiteY5" fmla="*/ 114869 h 119328"/>
                <a:gd name="connsiteX6" fmla="*/ 4214 w 55269"/>
                <a:gd name="connsiteY6" fmla="*/ 119083 h 119328"/>
                <a:gd name="connsiteX7" fmla="*/ 0 w 55269"/>
                <a:gd name="connsiteY7" fmla="*/ 114869 h 119328"/>
                <a:gd name="connsiteX8" fmla="*/ 0 w 55269"/>
                <a:gd name="connsiteY8" fmla="*/ 36494 h 119328"/>
                <a:gd name="connsiteX9" fmla="*/ 6426 w 55269"/>
                <a:gd name="connsiteY9" fmla="*/ 24942 h 119328"/>
                <a:gd name="connsiteX10" fmla="*/ 45122 w 55269"/>
                <a:gd name="connsiteY10" fmla="*/ 994 h 119328"/>
                <a:gd name="connsiteX11" fmla="*/ 51864 w 55269"/>
                <a:gd name="connsiteY11" fmla="*/ 853 h 119328"/>
                <a:gd name="connsiteX12" fmla="*/ 55270 w 55269"/>
                <a:gd name="connsiteY12" fmla="*/ 6647 h 119328"/>
                <a:gd name="connsiteX13" fmla="*/ 55270 w 55269"/>
                <a:gd name="connsiteY13" fmla="*/ 115115 h 119328"/>
                <a:gd name="connsiteX14" fmla="*/ 51056 w 55269"/>
                <a:gd name="connsiteY14" fmla="*/ 119329 h 119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69" h="119328">
                  <a:moveTo>
                    <a:pt x="51056" y="119329"/>
                  </a:moveTo>
                  <a:cubicBezTo>
                    <a:pt x="48739" y="119329"/>
                    <a:pt x="46842" y="117433"/>
                    <a:pt x="46842" y="115115"/>
                  </a:cubicBezTo>
                  <a:lnTo>
                    <a:pt x="46842" y="9842"/>
                  </a:lnTo>
                  <a:lnTo>
                    <a:pt x="10885" y="32140"/>
                  </a:lnTo>
                  <a:cubicBezTo>
                    <a:pt x="9340" y="33088"/>
                    <a:pt x="8427" y="34738"/>
                    <a:pt x="8427" y="36529"/>
                  </a:cubicBezTo>
                  <a:lnTo>
                    <a:pt x="8427" y="114869"/>
                  </a:lnTo>
                  <a:cubicBezTo>
                    <a:pt x="8427" y="117187"/>
                    <a:pt x="6531" y="119083"/>
                    <a:pt x="4214" y="119083"/>
                  </a:cubicBezTo>
                  <a:cubicBezTo>
                    <a:pt x="1896" y="119083"/>
                    <a:pt x="0" y="117187"/>
                    <a:pt x="0" y="114869"/>
                  </a:cubicBezTo>
                  <a:lnTo>
                    <a:pt x="0" y="36494"/>
                  </a:lnTo>
                  <a:cubicBezTo>
                    <a:pt x="0" y="31754"/>
                    <a:pt x="2388" y="27435"/>
                    <a:pt x="6426" y="24942"/>
                  </a:cubicBezTo>
                  <a:lnTo>
                    <a:pt x="45122" y="994"/>
                  </a:lnTo>
                  <a:cubicBezTo>
                    <a:pt x="47158" y="-270"/>
                    <a:pt x="49757" y="-341"/>
                    <a:pt x="51864" y="853"/>
                  </a:cubicBezTo>
                  <a:cubicBezTo>
                    <a:pt x="53971" y="2012"/>
                    <a:pt x="55270" y="4259"/>
                    <a:pt x="55270" y="6647"/>
                  </a:cubicBezTo>
                  <a:lnTo>
                    <a:pt x="55270" y="115115"/>
                  </a:lnTo>
                  <a:cubicBezTo>
                    <a:pt x="55270" y="117433"/>
                    <a:pt x="53409" y="119329"/>
                    <a:pt x="51056" y="119329"/>
                  </a:cubicBezTo>
                  <a:close/>
                </a:path>
              </a:pathLst>
            </a:custGeom>
            <a:grpFill/>
            <a:ln w="3175" cap="flat">
              <a:solidFill>
                <a:srgbClr val="0042FF"/>
              </a:solid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096" name="任意多边形: 形状 1095"/>
            <p:cNvSpPr/>
            <p:nvPr/>
          </p:nvSpPr>
          <p:spPr>
            <a:xfrm>
              <a:off x="7671400" y="1559115"/>
              <a:ext cx="89155" cy="105022"/>
            </a:xfrm>
            <a:custGeom>
              <a:avLst/>
              <a:gdLst>
                <a:gd name="connsiteX0" fmla="*/ 84941 w 89155"/>
                <a:gd name="connsiteY0" fmla="*/ 105023 h 105022"/>
                <a:gd name="connsiteX1" fmla="*/ 80728 w 89155"/>
                <a:gd name="connsiteY1" fmla="*/ 100809 h 105022"/>
                <a:gd name="connsiteX2" fmla="*/ 80728 w 89155"/>
                <a:gd name="connsiteY2" fmla="*/ 37674 h 105022"/>
                <a:gd name="connsiteX3" fmla="*/ 78270 w 89155"/>
                <a:gd name="connsiteY3" fmla="*/ 33355 h 105022"/>
                <a:gd name="connsiteX4" fmla="*/ 35395 w 89155"/>
                <a:gd name="connsiteY4" fmla="*/ 7827 h 105022"/>
                <a:gd name="connsiteX5" fmla="*/ 33920 w 89155"/>
                <a:gd name="connsiteY5" fmla="*/ 2068 h 105022"/>
                <a:gd name="connsiteX6" fmla="*/ 39714 w 89155"/>
                <a:gd name="connsiteY6" fmla="*/ 593 h 105022"/>
                <a:gd name="connsiteX7" fmla="*/ 82589 w 89155"/>
                <a:gd name="connsiteY7" fmla="*/ 26086 h 105022"/>
                <a:gd name="connsiteX8" fmla="*/ 89155 w 89155"/>
                <a:gd name="connsiteY8" fmla="*/ 37639 h 105022"/>
                <a:gd name="connsiteX9" fmla="*/ 89155 w 89155"/>
                <a:gd name="connsiteY9" fmla="*/ 100774 h 105022"/>
                <a:gd name="connsiteX10" fmla="*/ 84941 w 89155"/>
                <a:gd name="connsiteY10" fmla="*/ 105023 h 105022"/>
                <a:gd name="connsiteX11" fmla="*/ 22298 w 89155"/>
                <a:gd name="connsiteY11" fmla="*/ 41677 h 105022"/>
                <a:gd name="connsiteX12" fmla="*/ 4214 w 89155"/>
                <a:gd name="connsiteY12" fmla="*/ 41677 h 105022"/>
                <a:gd name="connsiteX13" fmla="*/ 0 w 89155"/>
                <a:gd name="connsiteY13" fmla="*/ 37463 h 105022"/>
                <a:gd name="connsiteX14" fmla="*/ 4214 w 89155"/>
                <a:gd name="connsiteY14" fmla="*/ 33249 h 105022"/>
                <a:gd name="connsiteX15" fmla="*/ 22298 w 89155"/>
                <a:gd name="connsiteY15" fmla="*/ 33249 h 105022"/>
                <a:gd name="connsiteX16" fmla="*/ 26511 w 89155"/>
                <a:gd name="connsiteY16" fmla="*/ 37463 h 105022"/>
                <a:gd name="connsiteX17" fmla="*/ 22298 w 89155"/>
                <a:gd name="connsiteY17" fmla="*/ 41677 h 105022"/>
                <a:gd name="connsiteX18" fmla="*/ 22298 w 89155"/>
                <a:gd name="connsiteY18" fmla="*/ 62605 h 105022"/>
                <a:gd name="connsiteX19" fmla="*/ 4214 w 89155"/>
                <a:gd name="connsiteY19" fmla="*/ 62605 h 105022"/>
                <a:gd name="connsiteX20" fmla="*/ 0 w 89155"/>
                <a:gd name="connsiteY20" fmla="*/ 58391 h 105022"/>
                <a:gd name="connsiteX21" fmla="*/ 4214 w 89155"/>
                <a:gd name="connsiteY21" fmla="*/ 54177 h 105022"/>
                <a:gd name="connsiteX22" fmla="*/ 22298 w 89155"/>
                <a:gd name="connsiteY22" fmla="*/ 54177 h 105022"/>
                <a:gd name="connsiteX23" fmla="*/ 26511 w 89155"/>
                <a:gd name="connsiteY23" fmla="*/ 58391 h 105022"/>
                <a:gd name="connsiteX24" fmla="*/ 22298 w 89155"/>
                <a:gd name="connsiteY24" fmla="*/ 62605 h 105022"/>
                <a:gd name="connsiteX25" fmla="*/ 22298 w 89155"/>
                <a:gd name="connsiteY25" fmla="*/ 83533 h 105022"/>
                <a:gd name="connsiteX26" fmla="*/ 4214 w 89155"/>
                <a:gd name="connsiteY26" fmla="*/ 83533 h 105022"/>
                <a:gd name="connsiteX27" fmla="*/ 0 w 89155"/>
                <a:gd name="connsiteY27" fmla="*/ 79319 h 105022"/>
                <a:gd name="connsiteX28" fmla="*/ 4214 w 89155"/>
                <a:gd name="connsiteY28" fmla="*/ 75106 h 105022"/>
                <a:gd name="connsiteX29" fmla="*/ 22298 w 89155"/>
                <a:gd name="connsiteY29" fmla="*/ 75106 h 105022"/>
                <a:gd name="connsiteX30" fmla="*/ 26511 w 89155"/>
                <a:gd name="connsiteY30" fmla="*/ 79319 h 105022"/>
                <a:gd name="connsiteX31" fmla="*/ 22298 w 89155"/>
                <a:gd name="connsiteY31" fmla="*/ 83533 h 10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155" h="105022">
                  <a:moveTo>
                    <a:pt x="84941" y="105023"/>
                  </a:moveTo>
                  <a:cubicBezTo>
                    <a:pt x="82624" y="105023"/>
                    <a:pt x="80728" y="103127"/>
                    <a:pt x="80728" y="100809"/>
                  </a:cubicBezTo>
                  <a:lnTo>
                    <a:pt x="80728" y="37674"/>
                  </a:lnTo>
                  <a:cubicBezTo>
                    <a:pt x="80728" y="35918"/>
                    <a:pt x="79780" y="34268"/>
                    <a:pt x="78270" y="33355"/>
                  </a:cubicBezTo>
                  <a:lnTo>
                    <a:pt x="35395" y="7827"/>
                  </a:lnTo>
                  <a:cubicBezTo>
                    <a:pt x="33394" y="6633"/>
                    <a:pt x="32726" y="4034"/>
                    <a:pt x="33920" y="2068"/>
                  </a:cubicBezTo>
                  <a:cubicBezTo>
                    <a:pt x="35114" y="66"/>
                    <a:pt x="37713" y="-601"/>
                    <a:pt x="39714" y="593"/>
                  </a:cubicBezTo>
                  <a:lnTo>
                    <a:pt x="82589" y="26086"/>
                  </a:lnTo>
                  <a:cubicBezTo>
                    <a:pt x="86627" y="28509"/>
                    <a:pt x="89155" y="32933"/>
                    <a:pt x="89155" y="37639"/>
                  </a:cubicBezTo>
                  <a:lnTo>
                    <a:pt x="89155" y="100774"/>
                  </a:lnTo>
                  <a:cubicBezTo>
                    <a:pt x="89155" y="103127"/>
                    <a:pt x="87259" y="105023"/>
                    <a:pt x="84941" y="105023"/>
                  </a:cubicBezTo>
                  <a:close/>
                  <a:moveTo>
                    <a:pt x="22298" y="41677"/>
                  </a:moveTo>
                  <a:lnTo>
                    <a:pt x="4214" y="41677"/>
                  </a:lnTo>
                  <a:cubicBezTo>
                    <a:pt x="1896" y="41677"/>
                    <a:pt x="0" y="39781"/>
                    <a:pt x="0" y="37463"/>
                  </a:cubicBezTo>
                  <a:cubicBezTo>
                    <a:pt x="0" y="35146"/>
                    <a:pt x="1896" y="33249"/>
                    <a:pt x="4214" y="33249"/>
                  </a:cubicBezTo>
                  <a:lnTo>
                    <a:pt x="22298" y="33249"/>
                  </a:lnTo>
                  <a:cubicBezTo>
                    <a:pt x="24615" y="33249"/>
                    <a:pt x="26511" y="35146"/>
                    <a:pt x="26511" y="37463"/>
                  </a:cubicBezTo>
                  <a:cubicBezTo>
                    <a:pt x="26511" y="39781"/>
                    <a:pt x="24615" y="41677"/>
                    <a:pt x="22298" y="41677"/>
                  </a:cubicBezTo>
                  <a:close/>
                  <a:moveTo>
                    <a:pt x="22298" y="62605"/>
                  </a:moveTo>
                  <a:lnTo>
                    <a:pt x="4214" y="62605"/>
                  </a:lnTo>
                  <a:cubicBezTo>
                    <a:pt x="1896" y="62605"/>
                    <a:pt x="0" y="60709"/>
                    <a:pt x="0" y="58391"/>
                  </a:cubicBezTo>
                  <a:cubicBezTo>
                    <a:pt x="0" y="56074"/>
                    <a:pt x="1896" y="54177"/>
                    <a:pt x="4214" y="54177"/>
                  </a:cubicBezTo>
                  <a:lnTo>
                    <a:pt x="22298" y="54177"/>
                  </a:lnTo>
                  <a:cubicBezTo>
                    <a:pt x="24615" y="54177"/>
                    <a:pt x="26511" y="56074"/>
                    <a:pt x="26511" y="58391"/>
                  </a:cubicBezTo>
                  <a:cubicBezTo>
                    <a:pt x="26511" y="60709"/>
                    <a:pt x="24615" y="62605"/>
                    <a:pt x="22298" y="62605"/>
                  </a:cubicBezTo>
                  <a:close/>
                  <a:moveTo>
                    <a:pt x="22298" y="83533"/>
                  </a:moveTo>
                  <a:lnTo>
                    <a:pt x="4214" y="83533"/>
                  </a:lnTo>
                  <a:cubicBezTo>
                    <a:pt x="1896" y="83533"/>
                    <a:pt x="0" y="81637"/>
                    <a:pt x="0" y="79319"/>
                  </a:cubicBezTo>
                  <a:cubicBezTo>
                    <a:pt x="0" y="77002"/>
                    <a:pt x="1896" y="75106"/>
                    <a:pt x="4214" y="75106"/>
                  </a:cubicBezTo>
                  <a:lnTo>
                    <a:pt x="22298" y="75106"/>
                  </a:lnTo>
                  <a:cubicBezTo>
                    <a:pt x="24615" y="75106"/>
                    <a:pt x="26511" y="77002"/>
                    <a:pt x="26511" y="79319"/>
                  </a:cubicBezTo>
                  <a:cubicBezTo>
                    <a:pt x="26511" y="81637"/>
                    <a:pt x="24615" y="83533"/>
                    <a:pt x="22298" y="83533"/>
                  </a:cubicBezTo>
                  <a:close/>
                </a:path>
              </a:pathLst>
            </a:custGeom>
            <a:grpFill/>
            <a:ln w="3175" cap="flat">
              <a:solidFill>
                <a:srgbClr val="0042FF"/>
              </a:solid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097" name="任意多边形: 形状 1096"/>
            <p:cNvSpPr/>
            <p:nvPr/>
          </p:nvSpPr>
          <p:spPr>
            <a:xfrm>
              <a:off x="7717153" y="1605813"/>
              <a:ext cx="26511" cy="31111"/>
            </a:xfrm>
            <a:custGeom>
              <a:avLst/>
              <a:gdLst>
                <a:gd name="connsiteX0" fmla="*/ 22298 w 26511"/>
                <a:gd name="connsiteY0" fmla="*/ 8427 h 31111"/>
                <a:gd name="connsiteX1" fmla="*/ 4214 w 26511"/>
                <a:gd name="connsiteY1" fmla="*/ 8427 h 31111"/>
                <a:gd name="connsiteX2" fmla="*/ 0 w 26511"/>
                <a:gd name="connsiteY2" fmla="*/ 4214 h 31111"/>
                <a:gd name="connsiteX3" fmla="*/ 4214 w 26511"/>
                <a:gd name="connsiteY3" fmla="*/ 0 h 31111"/>
                <a:gd name="connsiteX4" fmla="*/ 22298 w 26511"/>
                <a:gd name="connsiteY4" fmla="*/ 0 h 31111"/>
                <a:gd name="connsiteX5" fmla="*/ 26511 w 26511"/>
                <a:gd name="connsiteY5" fmla="*/ 4214 h 31111"/>
                <a:gd name="connsiteX6" fmla="*/ 22298 w 26511"/>
                <a:gd name="connsiteY6" fmla="*/ 8427 h 31111"/>
                <a:gd name="connsiteX7" fmla="*/ 22298 w 26511"/>
                <a:gd name="connsiteY7" fmla="*/ 31111 h 31111"/>
                <a:gd name="connsiteX8" fmla="*/ 4214 w 26511"/>
                <a:gd name="connsiteY8" fmla="*/ 31111 h 31111"/>
                <a:gd name="connsiteX9" fmla="*/ 0 w 26511"/>
                <a:gd name="connsiteY9" fmla="*/ 26898 h 31111"/>
                <a:gd name="connsiteX10" fmla="*/ 4214 w 26511"/>
                <a:gd name="connsiteY10" fmla="*/ 22684 h 31111"/>
                <a:gd name="connsiteX11" fmla="*/ 22298 w 26511"/>
                <a:gd name="connsiteY11" fmla="*/ 22684 h 31111"/>
                <a:gd name="connsiteX12" fmla="*/ 26511 w 26511"/>
                <a:gd name="connsiteY12" fmla="*/ 26898 h 31111"/>
                <a:gd name="connsiteX13" fmla="*/ 22298 w 26511"/>
                <a:gd name="connsiteY13" fmla="*/ 31111 h 31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511" h="31111">
                  <a:moveTo>
                    <a:pt x="22298" y="8427"/>
                  </a:moveTo>
                  <a:lnTo>
                    <a:pt x="4214" y="8427"/>
                  </a:lnTo>
                  <a:cubicBezTo>
                    <a:pt x="1896" y="8427"/>
                    <a:pt x="0" y="6531"/>
                    <a:pt x="0" y="4214"/>
                  </a:cubicBezTo>
                  <a:cubicBezTo>
                    <a:pt x="0" y="1896"/>
                    <a:pt x="1896" y="0"/>
                    <a:pt x="4214" y="0"/>
                  </a:cubicBezTo>
                  <a:lnTo>
                    <a:pt x="22298" y="0"/>
                  </a:lnTo>
                  <a:cubicBezTo>
                    <a:pt x="24615" y="0"/>
                    <a:pt x="26511" y="1896"/>
                    <a:pt x="26511" y="4214"/>
                  </a:cubicBezTo>
                  <a:cubicBezTo>
                    <a:pt x="26511" y="6531"/>
                    <a:pt x="24650" y="8427"/>
                    <a:pt x="22298" y="8427"/>
                  </a:cubicBezTo>
                  <a:close/>
                  <a:moveTo>
                    <a:pt x="22298" y="31111"/>
                  </a:moveTo>
                  <a:lnTo>
                    <a:pt x="4214" y="31111"/>
                  </a:lnTo>
                  <a:cubicBezTo>
                    <a:pt x="1896" y="31111"/>
                    <a:pt x="0" y="29215"/>
                    <a:pt x="0" y="26898"/>
                  </a:cubicBezTo>
                  <a:cubicBezTo>
                    <a:pt x="0" y="24580"/>
                    <a:pt x="1896" y="22684"/>
                    <a:pt x="4214" y="22684"/>
                  </a:cubicBezTo>
                  <a:lnTo>
                    <a:pt x="22298" y="22684"/>
                  </a:lnTo>
                  <a:cubicBezTo>
                    <a:pt x="24615" y="22684"/>
                    <a:pt x="26511" y="24580"/>
                    <a:pt x="26511" y="26898"/>
                  </a:cubicBezTo>
                  <a:cubicBezTo>
                    <a:pt x="26511" y="29215"/>
                    <a:pt x="24650" y="31111"/>
                    <a:pt x="22298" y="31111"/>
                  </a:cubicBezTo>
                  <a:close/>
                </a:path>
              </a:pathLst>
            </a:custGeom>
            <a:grpFill/>
            <a:ln w="3175" cap="flat">
              <a:solidFill>
                <a:srgbClr val="0042FF"/>
              </a:solid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sp>
        <p:nvSpPr>
          <p:cNvPr id="83" name="椭圆 82"/>
          <p:cNvSpPr/>
          <p:nvPr/>
        </p:nvSpPr>
        <p:spPr>
          <a:xfrm>
            <a:off x="5161915" y="5760720"/>
            <a:ext cx="1873885" cy="554355"/>
          </a:xfrm>
          <a:prstGeom prst="ellipse">
            <a:avLst/>
          </a:prstGeom>
          <a:gradFill>
            <a:gsLst>
              <a:gs pos="0">
                <a:srgbClr val="0042FF">
                  <a:alpha val="0"/>
                </a:srgbClr>
              </a:gs>
              <a:gs pos="100000">
                <a:srgbClr val="0042FF">
                  <a:alpha val="50000"/>
                </a:srgbClr>
              </a:gs>
            </a:gsLst>
            <a:lin ang="5400000" scaled="1"/>
          </a:gradFill>
          <a:ln>
            <a:no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4" name="文本框 83"/>
          <p:cNvSpPr txBox="1"/>
          <p:nvPr/>
        </p:nvSpPr>
        <p:spPr>
          <a:xfrm>
            <a:off x="5681663" y="5920740"/>
            <a:ext cx="928370" cy="306705"/>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latin typeface="微软雅黑"/>
                <a:ea typeface="微软雅黑"/>
                <a:cs typeface="微软雅黑"/>
              </a:rPr>
              <a:t>智能交互</a:t>
            </a:r>
            <a:endParaRPr lang="zh-CN" sz="1400" b="1">
              <a:solidFill>
                <a:srgbClr val="383838"/>
              </a:solidFill>
              <a:latin typeface="微软雅黑"/>
              <a:ea typeface="微软雅黑"/>
              <a:cs typeface="微软雅黑"/>
            </a:endParaRPr>
          </a:p>
        </p:txBody>
      </p:sp>
      <p:sp>
        <p:nvSpPr>
          <p:cNvPr id="86" name="椭圆 85"/>
          <p:cNvSpPr/>
          <p:nvPr/>
        </p:nvSpPr>
        <p:spPr>
          <a:xfrm>
            <a:off x="7167176" y="5376958"/>
            <a:ext cx="408728" cy="408728"/>
          </a:xfrm>
          <a:prstGeom prst="ellipse">
            <a:avLst/>
          </a:prstGeom>
          <a:solidFill>
            <a:srgbClr val="FFFFFF"/>
          </a:solidFill>
          <a:ln w="6350">
            <a:solidFill>
              <a:srgbClr val="3368FF">
                <a:alpha val="7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pPr>
            <a:endParaRPr lang="en-US" altLang="zh-CN" sz="1000" dirty="0">
              <a:solidFill>
                <a:srgbClr val="383838"/>
              </a:solidFill>
              <a:cs typeface="微软雅黑"/>
              <a:sym typeface="微软雅黑"/>
              <a:latin typeface="微软雅黑"/>
              <a:ea typeface="微软雅黑"/>
            </a:endParaRPr>
          </a:p>
        </p:txBody>
      </p:sp>
      <p:sp>
        <p:nvSpPr>
          <p:cNvPr id="87" name="椭圆 86"/>
          <p:cNvSpPr/>
          <p:nvPr/>
        </p:nvSpPr>
        <p:spPr>
          <a:xfrm>
            <a:off x="6671876" y="5472208"/>
            <a:ext cx="408728" cy="408728"/>
          </a:xfrm>
          <a:prstGeom prst="ellipse">
            <a:avLst/>
          </a:prstGeom>
          <a:solidFill>
            <a:srgbClr val="FFFFFF"/>
          </a:solidFill>
          <a:ln w="6350">
            <a:solidFill>
              <a:srgbClr val="3368FF">
                <a:alpha val="7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0042FF"/>
                </a:solidFill>
                <a:cs typeface="微软雅黑"/>
                <a:sym typeface="微软雅黑"/>
                <a:latin typeface="微软雅黑"/>
                <a:ea typeface="微软雅黑"/>
              </a:rPr>
              <a:t>F5G</a:t>
            </a:r>
            <a:endParaRPr lang="en-US" altLang="zh-CN" sz="1000" dirty="0">
              <a:solidFill>
                <a:srgbClr val="0042FF"/>
              </a:solidFill>
              <a:cs typeface="微软雅黑"/>
              <a:sym typeface="微软雅黑"/>
              <a:latin typeface="微软雅黑"/>
              <a:ea typeface="微软雅黑"/>
            </a:endParaRPr>
          </a:p>
        </p:txBody>
      </p:sp>
      <p:sp>
        <p:nvSpPr>
          <p:cNvPr id="88" name="椭圆 87"/>
          <p:cNvSpPr/>
          <p:nvPr/>
        </p:nvSpPr>
        <p:spPr>
          <a:xfrm>
            <a:off x="6181656" y="5497608"/>
            <a:ext cx="408728" cy="408728"/>
          </a:xfrm>
          <a:prstGeom prst="ellipse">
            <a:avLst/>
          </a:prstGeom>
          <a:solidFill>
            <a:srgbClr val="FFFFFF"/>
          </a:solidFill>
          <a:ln w="6350">
            <a:solidFill>
              <a:srgbClr val="3368FF">
                <a:alpha val="7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0042FF"/>
                </a:solidFill>
                <a:cs typeface="微软雅黑"/>
                <a:sym typeface="微软雅黑"/>
                <a:latin typeface="微软雅黑"/>
                <a:ea typeface="微软雅黑"/>
              </a:rPr>
              <a:t>5G</a:t>
            </a:r>
            <a:endParaRPr lang="en-US" altLang="zh-CN" sz="1000" dirty="0">
              <a:solidFill>
                <a:srgbClr val="0042FF"/>
              </a:solidFill>
              <a:cs typeface="微软雅黑"/>
              <a:sym typeface="微软雅黑"/>
              <a:latin typeface="微软雅黑"/>
              <a:ea typeface="微软雅黑"/>
            </a:endParaRPr>
          </a:p>
        </p:txBody>
      </p:sp>
      <p:sp>
        <p:nvSpPr>
          <p:cNvPr id="89" name="椭圆 88"/>
          <p:cNvSpPr/>
          <p:nvPr/>
        </p:nvSpPr>
        <p:spPr>
          <a:xfrm>
            <a:off x="5190421" y="5472208"/>
            <a:ext cx="408728" cy="408728"/>
          </a:xfrm>
          <a:prstGeom prst="ellipse">
            <a:avLst/>
          </a:prstGeom>
          <a:solidFill>
            <a:srgbClr val="FFFFFF"/>
          </a:solidFill>
          <a:ln w="6350">
            <a:solidFill>
              <a:srgbClr val="3368FF">
                <a:alpha val="7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0042FF"/>
                </a:solidFill>
                <a:cs typeface="微软雅黑"/>
                <a:sym typeface="微软雅黑"/>
                <a:latin typeface="微软雅黑"/>
                <a:ea typeface="微软雅黑"/>
              </a:rPr>
              <a:t>WIFI6</a:t>
            </a:r>
            <a:endParaRPr lang="en-US" altLang="zh-CN" sz="1000" dirty="0">
              <a:solidFill>
                <a:srgbClr val="0042FF"/>
              </a:solidFill>
              <a:cs typeface="微软雅黑"/>
              <a:sym typeface="微软雅黑"/>
              <a:latin typeface="微软雅黑"/>
              <a:ea typeface="微软雅黑"/>
            </a:endParaRPr>
          </a:p>
        </p:txBody>
      </p:sp>
      <p:sp>
        <p:nvSpPr>
          <p:cNvPr id="90" name="椭圆 89"/>
          <p:cNvSpPr/>
          <p:nvPr/>
        </p:nvSpPr>
        <p:spPr>
          <a:xfrm>
            <a:off x="5685086" y="5487448"/>
            <a:ext cx="408728" cy="408728"/>
          </a:xfrm>
          <a:prstGeom prst="ellipse">
            <a:avLst/>
          </a:prstGeom>
          <a:solidFill>
            <a:srgbClr val="FFFFFF"/>
          </a:solidFill>
          <a:ln w="6350">
            <a:solidFill>
              <a:srgbClr val="3368FF">
                <a:alpha val="7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0042FF"/>
                </a:solidFill>
                <a:cs typeface="微软雅黑"/>
                <a:sym typeface="微软雅黑"/>
                <a:latin typeface="微软雅黑"/>
                <a:ea typeface="微软雅黑"/>
              </a:rPr>
              <a:t>Ipv6</a:t>
            </a:r>
            <a:endParaRPr lang="en-US" altLang="zh-CN" sz="1000" dirty="0">
              <a:solidFill>
                <a:srgbClr val="0042FF"/>
              </a:solidFill>
              <a:cs typeface="微软雅黑"/>
              <a:sym typeface="微软雅黑"/>
              <a:latin typeface="微软雅黑"/>
              <a:ea typeface="微软雅黑"/>
            </a:endParaRPr>
          </a:p>
        </p:txBody>
      </p:sp>
      <p:sp>
        <p:nvSpPr>
          <p:cNvPr id="94" name="图形 145"/>
          <p:cNvSpPr/>
          <p:nvPr/>
        </p:nvSpPr>
        <p:spPr>
          <a:xfrm>
            <a:off x="5136515" y="6219190"/>
            <a:ext cx="133985" cy="116205"/>
          </a:xfrm>
          <a:custGeom>
            <a:avLst/>
            <a:gdLst>
              <a:gd name="connsiteX0" fmla="*/ 30750 w 168653"/>
              <a:gd name="connsiteY0" fmla="*/ 61329 h 145655"/>
              <a:gd name="connsiteX1" fmla="*/ 40627 w 168653"/>
              <a:gd name="connsiteY1" fmla="*/ 127272 h 145655"/>
              <a:gd name="connsiteX2" fmla="*/ 40711 w 168653"/>
              <a:gd name="connsiteY2" fmla="*/ 128407 h 145655"/>
              <a:gd name="connsiteX3" fmla="*/ 43092 w 168653"/>
              <a:gd name="connsiteY3" fmla="*/ 130323 h 145655"/>
              <a:gd name="connsiteX4" fmla="*/ 128492 w 168653"/>
              <a:gd name="connsiteY4" fmla="*/ 130323 h 145655"/>
              <a:gd name="connsiteX5" fmla="*/ 130873 w 168653"/>
              <a:gd name="connsiteY5" fmla="*/ 128407 h 145655"/>
              <a:gd name="connsiteX6" fmla="*/ 130957 w 168653"/>
              <a:gd name="connsiteY6" fmla="*/ 127272 h 145655"/>
              <a:gd name="connsiteX7" fmla="*/ 138074 w 168653"/>
              <a:gd name="connsiteY7" fmla="*/ 79756 h 145655"/>
              <a:gd name="connsiteX8" fmla="*/ 146791 w 168653"/>
              <a:gd name="connsiteY8" fmla="*/ 73310 h 145655"/>
              <a:gd name="connsiteX9" fmla="*/ 153237 w 168653"/>
              <a:gd name="connsiteY9" fmla="*/ 82027 h 145655"/>
              <a:gd name="connsiteX10" fmla="*/ 146192 w 168653"/>
              <a:gd name="connsiteY10" fmla="*/ 129061 h 145655"/>
              <a:gd name="connsiteX11" fmla="*/ 128492 w 168653"/>
              <a:gd name="connsiteY11" fmla="*/ 145656 h 145655"/>
              <a:gd name="connsiteX12" fmla="*/ 43092 w 168653"/>
              <a:gd name="connsiteY12" fmla="*/ 145656 h 145655"/>
              <a:gd name="connsiteX13" fmla="*/ 25392 w 168653"/>
              <a:gd name="connsiteY13" fmla="*/ 129061 h 145655"/>
              <a:gd name="connsiteX14" fmla="*/ 15417 w 168653"/>
              <a:gd name="connsiteY14" fmla="*/ 62464 h 145655"/>
              <a:gd name="connsiteX15" fmla="*/ 15331 w 168653"/>
              <a:gd name="connsiteY15" fmla="*/ 61329 h 145655"/>
              <a:gd name="connsiteX16" fmla="*/ 7666 w 168653"/>
              <a:gd name="connsiteY16" fmla="*/ 61329 h 145655"/>
              <a:gd name="connsiteX17" fmla="*/ 0 w 168653"/>
              <a:gd name="connsiteY17" fmla="*/ 53663 h 145655"/>
              <a:gd name="connsiteX18" fmla="*/ 7666 w 168653"/>
              <a:gd name="connsiteY18" fmla="*/ 45997 h 145655"/>
              <a:gd name="connsiteX19" fmla="*/ 160988 w 168653"/>
              <a:gd name="connsiteY19" fmla="*/ 45997 h 145655"/>
              <a:gd name="connsiteX20" fmla="*/ 168654 w 168653"/>
              <a:gd name="connsiteY20" fmla="*/ 53663 h 145655"/>
              <a:gd name="connsiteX21" fmla="*/ 160988 w 168653"/>
              <a:gd name="connsiteY21" fmla="*/ 61329 h 145655"/>
              <a:gd name="connsiteX22" fmla="*/ 30750 w 168653"/>
              <a:gd name="connsiteY22" fmla="*/ 61329 h 145655"/>
              <a:gd name="connsiteX23" fmla="*/ 111431 w 168653"/>
              <a:gd name="connsiteY23" fmla="*/ 36085 h 145655"/>
              <a:gd name="connsiteX24" fmla="*/ 95168 w 168653"/>
              <a:gd name="connsiteY24" fmla="*/ 19823 h 145655"/>
              <a:gd name="connsiteX25" fmla="*/ 73485 w 168653"/>
              <a:gd name="connsiteY25" fmla="*/ 19823 h 145655"/>
              <a:gd name="connsiteX26" fmla="*/ 57223 w 168653"/>
              <a:gd name="connsiteY26" fmla="*/ 36085 h 145655"/>
              <a:gd name="connsiteX27" fmla="*/ 46382 w 168653"/>
              <a:gd name="connsiteY27" fmla="*/ 36085 h 145655"/>
              <a:gd name="connsiteX28" fmla="*/ 46382 w 168653"/>
              <a:gd name="connsiteY28" fmla="*/ 25244 h 145655"/>
              <a:gd name="connsiteX29" fmla="*/ 62644 w 168653"/>
              <a:gd name="connsiteY29" fmla="*/ 8981 h 145655"/>
              <a:gd name="connsiteX30" fmla="*/ 106010 w 168653"/>
              <a:gd name="connsiteY30" fmla="*/ 8981 h 145655"/>
              <a:gd name="connsiteX31" fmla="*/ 122272 w 168653"/>
              <a:gd name="connsiteY31" fmla="*/ 25244 h 145655"/>
              <a:gd name="connsiteX32" fmla="*/ 122272 w 168653"/>
              <a:gd name="connsiteY32" fmla="*/ 36085 h 145655"/>
              <a:gd name="connsiteX33" fmla="*/ 111431 w 168653"/>
              <a:gd name="connsiteY33" fmla="*/ 36085 h 145655"/>
              <a:gd name="connsiteX34" fmla="*/ 53375 w 168653"/>
              <a:gd name="connsiteY34" fmla="*/ 86580 h 145655"/>
              <a:gd name="connsiteX35" fmla="*/ 61041 w 168653"/>
              <a:gd name="connsiteY35" fmla="*/ 78914 h 145655"/>
              <a:gd name="connsiteX36" fmla="*/ 68707 w 168653"/>
              <a:gd name="connsiteY36" fmla="*/ 86580 h 145655"/>
              <a:gd name="connsiteX37" fmla="*/ 68707 w 168653"/>
              <a:gd name="connsiteY37" fmla="*/ 110917 h 145655"/>
              <a:gd name="connsiteX38" fmla="*/ 61041 w 168653"/>
              <a:gd name="connsiteY38" fmla="*/ 118583 h 145655"/>
              <a:gd name="connsiteX39" fmla="*/ 53375 w 168653"/>
              <a:gd name="connsiteY39" fmla="*/ 110917 h 145655"/>
              <a:gd name="connsiteX40" fmla="*/ 53375 w 168653"/>
              <a:gd name="connsiteY40" fmla="*/ 86580 h 145655"/>
              <a:gd name="connsiteX41" fmla="*/ 80430 w 168653"/>
              <a:gd name="connsiteY41" fmla="*/ 86580 h 145655"/>
              <a:gd name="connsiteX42" fmla="*/ 88096 w 168653"/>
              <a:gd name="connsiteY42" fmla="*/ 78914 h 145655"/>
              <a:gd name="connsiteX43" fmla="*/ 95762 w 168653"/>
              <a:gd name="connsiteY43" fmla="*/ 86580 h 145655"/>
              <a:gd name="connsiteX44" fmla="*/ 95762 w 168653"/>
              <a:gd name="connsiteY44" fmla="*/ 110917 h 145655"/>
              <a:gd name="connsiteX45" fmla="*/ 88096 w 168653"/>
              <a:gd name="connsiteY45" fmla="*/ 118583 h 145655"/>
              <a:gd name="connsiteX46" fmla="*/ 80430 w 168653"/>
              <a:gd name="connsiteY46" fmla="*/ 110917 h 145655"/>
              <a:gd name="connsiteX47" fmla="*/ 80430 w 168653"/>
              <a:gd name="connsiteY47" fmla="*/ 86580 h 145655"/>
              <a:gd name="connsiteX48" fmla="*/ 107485 w 168653"/>
              <a:gd name="connsiteY48" fmla="*/ 86580 h 145655"/>
              <a:gd name="connsiteX49" fmla="*/ 115151 w 168653"/>
              <a:gd name="connsiteY49" fmla="*/ 78914 h 145655"/>
              <a:gd name="connsiteX50" fmla="*/ 122817 w 168653"/>
              <a:gd name="connsiteY50" fmla="*/ 86580 h 145655"/>
              <a:gd name="connsiteX51" fmla="*/ 122817 w 168653"/>
              <a:gd name="connsiteY51" fmla="*/ 110917 h 145655"/>
              <a:gd name="connsiteX52" fmla="*/ 115151 w 168653"/>
              <a:gd name="connsiteY52" fmla="*/ 118583 h 145655"/>
              <a:gd name="connsiteX53" fmla="*/ 107485 w 168653"/>
              <a:gd name="connsiteY53" fmla="*/ 110917 h 145655"/>
              <a:gd name="connsiteX54" fmla="*/ 107485 w 168653"/>
              <a:gd name="connsiteY54" fmla="*/ 86580 h 14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8653" h="145655">
                <a:moveTo>
                  <a:pt x="30750" y="61329"/>
                </a:moveTo>
                <a:lnTo>
                  <a:pt x="40627" y="127272"/>
                </a:lnTo>
                <a:lnTo>
                  <a:pt x="40711" y="128407"/>
                </a:lnTo>
                <a:cubicBezTo>
                  <a:pt x="40711" y="129382"/>
                  <a:pt x="41698" y="130323"/>
                  <a:pt x="43092" y="130323"/>
                </a:cubicBezTo>
                <a:lnTo>
                  <a:pt x="128492" y="130323"/>
                </a:lnTo>
                <a:cubicBezTo>
                  <a:pt x="129886" y="130323"/>
                  <a:pt x="130873" y="129382"/>
                  <a:pt x="130873" y="128407"/>
                </a:cubicBezTo>
                <a:lnTo>
                  <a:pt x="130957" y="127272"/>
                </a:lnTo>
                <a:lnTo>
                  <a:pt x="138074" y="79756"/>
                </a:lnTo>
                <a:cubicBezTo>
                  <a:pt x="138701" y="75569"/>
                  <a:pt x="142604" y="72683"/>
                  <a:pt x="146791" y="73310"/>
                </a:cubicBezTo>
                <a:cubicBezTo>
                  <a:pt x="150978" y="73937"/>
                  <a:pt x="153864" y="77840"/>
                  <a:pt x="153237" y="82027"/>
                </a:cubicBezTo>
                <a:lnTo>
                  <a:pt x="146192" y="129061"/>
                </a:lnTo>
                <a:cubicBezTo>
                  <a:pt x="145839" y="138361"/>
                  <a:pt x="137974" y="145656"/>
                  <a:pt x="128492" y="145656"/>
                </a:cubicBezTo>
                <a:lnTo>
                  <a:pt x="43092" y="145656"/>
                </a:lnTo>
                <a:cubicBezTo>
                  <a:pt x="33610" y="145656"/>
                  <a:pt x="25745" y="138361"/>
                  <a:pt x="25392" y="129061"/>
                </a:cubicBezTo>
                <a:lnTo>
                  <a:pt x="15417" y="62464"/>
                </a:lnTo>
                <a:cubicBezTo>
                  <a:pt x="15360" y="62088"/>
                  <a:pt x="15332" y="61709"/>
                  <a:pt x="15331" y="61329"/>
                </a:cubicBezTo>
                <a:lnTo>
                  <a:pt x="7666" y="61329"/>
                </a:lnTo>
                <a:cubicBezTo>
                  <a:pt x="3432" y="61329"/>
                  <a:pt x="0" y="57897"/>
                  <a:pt x="0" y="53663"/>
                </a:cubicBezTo>
                <a:cubicBezTo>
                  <a:pt x="0" y="49429"/>
                  <a:pt x="3432" y="45997"/>
                  <a:pt x="7666" y="45997"/>
                </a:cubicBezTo>
                <a:lnTo>
                  <a:pt x="160988" y="45997"/>
                </a:lnTo>
                <a:cubicBezTo>
                  <a:pt x="165222" y="45997"/>
                  <a:pt x="168654" y="49429"/>
                  <a:pt x="168654" y="53663"/>
                </a:cubicBezTo>
                <a:cubicBezTo>
                  <a:pt x="168654" y="57897"/>
                  <a:pt x="165222" y="61329"/>
                  <a:pt x="160988" y="61329"/>
                </a:cubicBezTo>
                <a:lnTo>
                  <a:pt x="30750" y="61329"/>
                </a:lnTo>
                <a:close/>
                <a:moveTo>
                  <a:pt x="111431" y="36085"/>
                </a:moveTo>
                <a:lnTo>
                  <a:pt x="95168" y="19823"/>
                </a:lnTo>
                <a:cubicBezTo>
                  <a:pt x="89181" y="13835"/>
                  <a:pt x="79473" y="13835"/>
                  <a:pt x="73485" y="19823"/>
                </a:cubicBezTo>
                <a:lnTo>
                  <a:pt x="57223" y="36085"/>
                </a:lnTo>
                <a:cubicBezTo>
                  <a:pt x="54229" y="39079"/>
                  <a:pt x="49375" y="39079"/>
                  <a:pt x="46382" y="36085"/>
                </a:cubicBezTo>
                <a:cubicBezTo>
                  <a:pt x="43388" y="33091"/>
                  <a:pt x="43388" y="28237"/>
                  <a:pt x="46382" y="25244"/>
                </a:cubicBezTo>
                <a:lnTo>
                  <a:pt x="62644" y="8981"/>
                </a:lnTo>
                <a:cubicBezTo>
                  <a:pt x="74619" y="-2994"/>
                  <a:pt x="94035" y="-2994"/>
                  <a:pt x="106010" y="8981"/>
                </a:cubicBezTo>
                <a:lnTo>
                  <a:pt x="122272" y="25244"/>
                </a:lnTo>
                <a:cubicBezTo>
                  <a:pt x="125266" y="28237"/>
                  <a:pt x="125266" y="33091"/>
                  <a:pt x="122272" y="36085"/>
                </a:cubicBezTo>
                <a:cubicBezTo>
                  <a:pt x="119278" y="39079"/>
                  <a:pt x="114424" y="39079"/>
                  <a:pt x="111431" y="36085"/>
                </a:cubicBezTo>
                <a:close/>
                <a:moveTo>
                  <a:pt x="53375" y="86580"/>
                </a:moveTo>
                <a:cubicBezTo>
                  <a:pt x="53375" y="82347"/>
                  <a:pt x="56807" y="78914"/>
                  <a:pt x="61041" y="78914"/>
                </a:cubicBezTo>
                <a:cubicBezTo>
                  <a:pt x="65275" y="78914"/>
                  <a:pt x="68707" y="82347"/>
                  <a:pt x="68707" y="86580"/>
                </a:cubicBezTo>
                <a:lnTo>
                  <a:pt x="68707" y="110917"/>
                </a:lnTo>
                <a:cubicBezTo>
                  <a:pt x="68707" y="115151"/>
                  <a:pt x="65275" y="118583"/>
                  <a:pt x="61041" y="118583"/>
                </a:cubicBezTo>
                <a:cubicBezTo>
                  <a:pt x="56807" y="118583"/>
                  <a:pt x="53375" y="115151"/>
                  <a:pt x="53375" y="110917"/>
                </a:cubicBezTo>
                <a:lnTo>
                  <a:pt x="53375" y="86580"/>
                </a:lnTo>
                <a:close/>
                <a:moveTo>
                  <a:pt x="80430" y="86580"/>
                </a:moveTo>
                <a:cubicBezTo>
                  <a:pt x="80430" y="82347"/>
                  <a:pt x="83862" y="78914"/>
                  <a:pt x="88096" y="78914"/>
                </a:cubicBezTo>
                <a:cubicBezTo>
                  <a:pt x="92330" y="78914"/>
                  <a:pt x="95762" y="82347"/>
                  <a:pt x="95762" y="86580"/>
                </a:cubicBezTo>
                <a:lnTo>
                  <a:pt x="95762" y="110917"/>
                </a:lnTo>
                <a:cubicBezTo>
                  <a:pt x="95762" y="115151"/>
                  <a:pt x="92330" y="118583"/>
                  <a:pt x="88096" y="118583"/>
                </a:cubicBezTo>
                <a:cubicBezTo>
                  <a:pt x="83862" y="118583"/>
                  <a:pt x="80430" y="115151"/>
                  <a:pt x="80430" y="110917"/>
                </a:cubicBezTo>
                <a:lnTo>
                  <a:pt x="80430" y="86580"/>
                </a:lnTo>
                <a:close/>
                <a:moveTo>
                  <a:pt x="107485" y="86580"/>
                </a:moveTo>
                <a:cubicBezTo>
                  <a:pt x="107485" y="82347"/>
                  <a:pt x="110917" y="78914"/>
                  <a:pt x="115151" y="78914"/>
                </a:cubicBezTo>
                <a:cubicBezTo>
                  <a:pt x="119385" y="78914"/>
                  <a:pt x="122817" y="82347"/>
                  <a:pt x="122817" y="86580"/>
                </a:cubicBezTo>
                <a:lnTo>
                  <a:pt x="122817" y="110917"/>
                </a:lnTo>
                <a:cubicBezTo>
                  <a:pt x="122817" y="115151"/>
                  <a:pt x="119385" y="118583"/>
                  <a:pt x="115151" y="118583"/>
                </a:cubicBezTo>
                <a:cubicBezTo>
                  <a:pt x="110917" y="118583"/>
                  <a:pt x="107485" y="115151"/>
                  <a:pt x="107485" y="110917"/>
                </a:cubicBezTo>
                <a:lnTo>
                  <a:pt x="107485" y="86580"/>
                </a:lnTo>
                <a:close/>
              </a:path>
            </a:pathLst>
          </a:custGeom>
          <a:solidFill>
            <a:srgbClr val="0042FF"/>
          </a:solidFill>
          <a:ln w="177"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04" name="图形 302"/>
          <p:cNvSpPr/>
          <p:nvPr/>
        </p:nvSpPr>
        <p:spPr>
          <a:xfrm>
            <a:off x="7370445" y="6185535"/>
            <a:ext cx="142875" cy="142875"/>
          </a:xfrm>
          <a:custGeom>
            <a:avLst/>
            <a:gdLst>
              <a:gd name="connsiteX0" fmla="*/ 31634 w 129745"/>
              <a:gd name="connsiteY0" fmla="*/ 77968 h 129740"/>
              <a:gd name="connsiteX1" fmla="*/ 5421 w 129745"/>
              <a:gd name="connsiteY1" fmla="*/ 77951 h 129740"/>
              <a:gd name="connsiteX2" fmla="*/ 5437 w 129745"/>
              <a:gd name="connsiteY2" fmla="*/ 51738 h 129740"/>
              <a:gd name="connsiteX3" fmla="*/ 31651 w 129745"/>
              <a:gd name="connsiteY3" fmla="*/ 51754 h 129740"/>
              <a:gd name="connsiteX4" fmla="*/ 35425 w 129745"/>
              <a:gd name="connsiteY4" fmla="*/ 72491 h 129740"/>
              <a:gd name="connsiteX5" fmla="*/ 57242 w 129745"/>
              <a:gd name="connsiteY5" fmla="*/ 94307 h 129740"/>
              <a:gd name="connsiteX6" fmla="*/ 61579 w 129745"/>
              <a:gd name="connsiteY6" fmla="*/ 92954 h 129740"/>
              <a:gd name="connsiteX7" fmla="*/ 61579 w 129745"/>
              <a:gd name="connsiteY7" fmla="*/ 36781 h 129740"/>
              <a:gd name="connsiteX8" fmla="*/ 46624 w 129745"/>
              <a:gd name="connsiteY8" fmla="*/ 15252 h 129740"/>
              <a:gd name="connsiteX9" fmla="*/ 68152 w 129745"/>
              <a:gd name="connsiteY9" fmla="*/ 297 h 129740"/>
              <a:gd name="connsiteX10" fmla="*/ 83108 w 129745"/>
              <a:gd name="connsiteY10" fmla="*/ 21826 h 129740"/>
              <a:gd name="connsiteX11" fmla="*/ 80087 w 129745"/>
              <a:gd name="connsiteY11" fmla="*/ 29117 h 129740"/>
              <a:gd name="connsiteX12" fmla="*/ 100625 w 129745"/>
              <a:gd name="connsiteY12" fmla="*/ 49654 h 129740"/>
              <a:gd name="connsiteX13" fmla="*/ 126426 w 129745"/>
              <a:gd name="connsiteY13" fmla="*/ 54288 h 129740"/>
              <a:gd name="connsiteX14" fmla="*/ 121792 w 129745"/>
              <a:gd name="connsiteY14" fmla="*/ 80089 h 129740"/>
              <a:gd name="connsiteX15" fmla="*/ 95991 w 129745"/>
              <a:gd name="connsiteY15" fmla="*/ 75455 h 129740"/>
              <a:gd name="connsiteX16" fmla="*/ 95991 w 129745"/>
              <a:gd name="connsiteY16" fmla="*/ 54288 h 129740"/>
              <a:gd name="connsiteX17" fmla="*/ 75453 w 129745"/>
              <a:gd name="connsiteY17" fmla="*/ 33741 h 129740"/>
              <a:gd name="connsiteX18" fmla="*/ 68132 w 129745"/>
              <a:gd name="connsiteY18" fmla="*/ 36772 h 129740"/>
              <a:gd name="connsiteX19" fmla="*/ 68132 w 129745"/>
              <a:gd name="connsiteY19" fmla="*/ 92954 h 129740"/>
              <a:gd name="connsiteX20" fmla="*/ 83122 w 129745"/>
              <a:gd name="connsiteY20" fmla="*/ 114459 h 129740"/>
              <a:gd name="connsiteX21" fmla="*/ 61617 w 129745"/>
              <a:gd name="connsiteY21" fmla="*/ 129449 h 129740"/>
              <a:gd name="connsiteX22" fmla="*/ 46627 w 129745"/>
              <a:gd name="connsiteY22" fmla="*/ 107944 h 129740"/>
              <a:gd name="connsiteX23" fmla="*/ 51764 w 129745"/>
              <a:gd name="connsiteY23" fmla="*/ 98098 h 129740"/>
              <a:gd name="connsiteX24" fmla="*/ 31634 w 129745"/>
              <a:gd name="connsiteY24" fmla="*/ 77968 h 129740"/>
              <a:gd name="connsiteX25" fmla="*/ 64869 w 129745"/>
              <a:gd name="connsiteY25" fmla="*/ 27791 h 129740"/>
              <a:gd name="connsiteX26" fmla="*/ 74137 w 129745"/>
              <a:gd name="connsiteY26" fmla="*/ 18523 h 129740"/>
              <a:gd name="connsiteX27" fmla="*/ 64869 w 129745"/>
              <a:gd name="connsiteY27" fmla="*/ 9255 h 129740"/>
              <a:gd name="connsiteX28" fmla="*/ 55601 w 129745"/>
              <a:gd name="connsiteY28" fmla="*/ 18523 h 129740"/>
              <a:gd name="connsiteX29" fmla="*/ 64869 w 129745"/>
              <a:gd name="connsiteY29" fmla="*/ 27791 h 129740"/>
              <a:gd name="connsiteX30" fmla="*/ 111209 w 129745"/>
              <a:gd name="connsiteY30" fmla="*/ 74131 h 129740"/>
              <a:gd name="connsiteX31" fmla="*/ 120477 w 129745"/>
              <a:gd name="connsiteY31" fmla="*/ 64863 h 129740"/>
              <a:gd name="connsiteX32" fmla="*/ 111209 w 129745"/>
              <a:gd name="connsiteY32" fmla="*/ 55595 h 129740"/>
              <a:gd name="connsiteX33" fmla="*/ 101941 w 129745"/>
              <a:gd name="connsiteY33" fmla="*/ 64863 h 129740"/>
              <a:gd name="connsiteX34" fmla="*/ 111209 w 129745"/>
              <a:gd name="connsiteY34" fmla="*/ 74131 h 129740"/>
              <a:gd name="connsiteX35" fmla="*/ 64869 w 129745"/>
              <a:gd name="connsiteY35" fmla="*/ 120471 h 129740"/>
              <a:gd name="connsiteX36" fmla="*/ 74137 w 129745"/>
              <a:gd name="connsiteY36" fmla="*/ 111203 h 129740"/>
              <a:gd name="connsiteX37" fmla="*/ 64869 w 129745"/>
              <a:gd name="connsiteY37" fmla="*/ 101935 h 129740"/>
              <a:gd name="connsiteX38" fmla="*/ 55601 w 129745"/>
              <a:gd name="connsiteY38" fmla="*/ 111203 h 129740"/>
              <a:gd name="connsiteX39" fmla="*/ 64869 w 129745"/>
              <a:gd name="connsiteY39" fmla="*/ 120471 h 129740"/>
              <a:gd name="connsiteX40" fmla="*/ 18530 w 129745"/>
              <a:gd name="connsiteY40" fmla="*/ 74131 h 129740"/>
              <a:gd name="connsiteX41" fmla="*/ 27797 w 129745"/>
              <a:gd name="connsiteY41" fmla="*/ 64863 h 129740"/>
              <a:gd name="connsiteX42" fmla="*/ 18530 w 129745"/>
              <a:gd name="connsiteY42" fmla="*/ 55595 h 129740"/>
              <a:gd name="connsiteX43" fmla="*/ 9262 w 129745"/>
              <a:gd name="connsiteY43" fmla="*/ 64863 h 129740"/>
              <a:gd name="connsiteX44" fmla="*/ 18530 w 129745"/>
              <a:gd name="connsiteY44" fmla="*/ 74131 h 12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9745" h="129740">
                <a:moveTo>
                  <a:pt x="31634" y="77968"/>
                </a:moveTo>
                <a:cubicBezTo>
                  <a:pt x="24391" y="85202"/>
                  <a:pt x="12655" y="85195"/>
                  <a:pt x="5421" y="77951"/>
                </a:cubicBezTo>
                <a:cubicBezTo>
                  <a:pt x="-1813" y="70708"/>
                  <a:pt x="-1806" y="58972"/>
                  <a:pt x="5437" y="51738"/>
                </a:cubicBezTo>
                <a:cubicBezTo>
                  <a:pt x="12681" y="44504"/>
                  <a:pt x="24417" y="44511"/>
                  <a:pt x="31651" y="51754"/>
                </a:cubicBezTo>
                <a:cubicBezTo>
                  <a:pt x="37099" y="57209"/>
                  <a:pt x="38602" y="65466"/>
                  <a:pt x="35425" y="72491"/>
                </a:cubicBezTo>
                <a:lnTo>
                  <a:pt x="57242" y="94307"/>
                </a:lnTo>
                <a:cubicBezTo>
                  <a:pt x="58604" y="93686"/>
                  <a:pt x="60059" y="93232"/>
                  <a:pt x="61579" y="92954"/>
                </a:cubicBezTo>
                <a:lnTo>
                  <a:pt x="61579" y="36781"/>
                </a:lnTo>
                <a:cubicBezTo>
                  <a:pt x="51504" y="34966"/>
                  <a:pt x="44808" y="25327"/>
                  <a:pt x="46624" y="15252"/>
                </a:cubicBezTo>
                <a:cubicBezTo>
                  <a:pt x="48439" y="5178"/>
                  <a:pt x="58077" y="-1518"/>
                  <a:pt x="68152" y="297"/>
                </a:cubicBezTo>
                <a:cubicBezTo>
                  <a:pt x="78227" y="2112"/>
                  <a:pt x="84923" y="11751"/>
                  <a:pt x="83108" y="21826"/>
                </a:cubicBezTo>
                <a:cubicBezTo>
                  <a:pt x="82636" y="24445"/>
                  <a:pt x="81606" y="26931"/>
                  <a:pt x="80087" y="29117"/>
                </a:cubicBezTo>
                <a:lnTo>
                  <a:pt x="100625" y="49654"/>
                </a:lnTo>
                <a:cubicBezTo>
                  <a:pt x="109029" y="43809"/>
                  <a:pt x="120581" y="45884"/>
                  <a:pt x="126426" y="54288"/>
                </a:cubicBezTo>
                <a:cubicBezTo>
                  <a:pt x="132271" y="62693"/>
                  <a:pt x="130196" y="74244"/>
                  <a:pt x="121792" y="80089"/>
                </a:cubicBezTo>
                <a:cubicBezTo>
                  <a:pt x="113387" y="85934"/>
                  <a:pt x="101836" y="83860"/>
                  <a:pt x="95991" y="75455"/>
                </a:cubicBezTo>
                <a:cubicBezTo>
                  <a:pt x="91566" y="69093"/>
                  <a:pt x="91566" y="60650"/>
                  <a:pt x="95991" y="54288"/>
                </a:cubicBezTo>
                <a:lnTo>
                  <a:pt x="75453" y="33741"/>
                </a:lnTo>
                <a:cubicBezTo>
                  <a:pt x="73261" y="35270"/>
                  <a:pt x="70763" y="36304"/>
                  <a:pt x="68132" y="36772"/>
                </a:cubicBezTo>
                <a:lnTo>
                  <a:pt x="68132" y="92954"/>
                </a:lnTo>
                <a:cubicBezTo>
                  <a:pt x="78209" y="94753"/>
                  <a:pt x="84921" y="104381"/>
                  <a:pt x="83122" y="114459"/>
                </a:cubicBezTo>
                <a:cubicBezTo>
                  <a:pt x="81323" y="124537"/>
                  <a:pt x="71695" y="131248"/>
                  <a:pt x="61617" y="129449"/>
                </a:cubicBezTo>
                <a:cubicBezTo>
                  <a:pt x="51539" y="127650"/>
                  <a:pt x="44828" y="118022"/>
                  <a:pt x="46627" y="107944"/>
                </a:cubicBezTo>
                <a:cubicBezTo>
                  <a:pt x="47293" y="104214"/>
                  <a:pt x="49086" y="100778"/>
                  <a:pt x="51764" y="98098"/>
                </a:cubicBezTo>
                <a:lnTo>
                  <a:pt x="31634" y="77968"/>
                </a:lnTo>
                <a:close/>
                <a:moveTo>
                  <a:pt x="64869" y="27791"/>
                </a:moveTo>
                <a:cubicBezTo>
                  <a:pt x="69988" y="27791"/>
                  <a:pt x="74137" y="23642"/>
                  <a:pt x="74137" y="18523"/>
                </a:cubicBezTo>
                <a:cubicBezTo>
                  <a:pt x="74137" y="13405"/>
                  <a:pt x="69988" y="9255"/>
                  <a:pt x="64869" y="9255"/>
                </a:cubicBezTo>
                <a:cubicBezTo>
                  <a:pt x="59751" y="9255"/>
                  <a:pt x="55601" y="13405"/>
                  <a:pt x="55601" y="18523"/>
                </a:cubicBezTo>
                <a:cubicBezTo>
                  <a:pt x="55601" y="23642"/>
                  <a:pt x="59751" y="27791"/>
                  <a:pt x="64869" y="27791"/>
                </a:cubicBezTo>
                <a:close/>
                <a:moveTo>
                  <a:pt x="111209" y="74131"/>
                </a:moveTo>
                <a:cubicBezTo>
                  <a:pt x="116327" y="74131"/>
                  <a:pt x="120477" y="69982"/>
                  <a:pt x="120477" y="64863"/>
                </a:cubicBezTo>
                <a:cubicBezTo>
                  <a:pt x="120477" y="59744"/>
                  <a:pt x="116327" y="55595"/>
                  <a:pt x="111209" y="55595"/>
                </a:cubicBezTo>
                <a:cubicBezTo>
                  <a:pt x="106090" y="55595"/>
                  <a:pt x="101941" y="59744"/>
                  <a:pt x="101941" y="64863"/>
                </a:cubicBezTo>
                <a:cubicBezTo>
                  <a:pt x="101941" y="69982"/>
                  <a:pt x="106090" y="74131"/>
                  <a:pt x="111209" y="74131"/>
                </a:cubicBezTo>
                <a:close/>
                <a:moveTo>
                  <a:pt x="64869" y="120471"/>
                </a:moveTo>
                <a:cubicBezTo>
                  <a:pt x="69988" y="120471"/>
                  <a:pt x="74137" y="116321"/>
                  <a:pt x="74137" y="111203"/>
                </a:cubicBezTo>
                <a:cubicBezTo>
                  <a:pt x="74137" y="106084"/>
                  <a:pt x="69988" y="101935"/>
                  <a:pt x="64869" y="101935"/>
                </a:cubicBezTo>
                <a:cubicBezTo>
                  <a:pt x="59751" y="101935"/>
                  <a:pt x="55601" y="106084"/>
                  <a:pt x="55601" y="111203"/>
                </a:cubicBezTo>
                <a:cubicBezTo>
                  <a:pt x="55601" y="116321"/>
                  <a:pt x="59751" y="120471"/>
                  <a:pt x="64869" y="120471"/>
                </a:cubicBezTo>
                <a:close/>
                <a:moveTo>
                  <a:pt x="18530" y="74131"/>
                </a:moveTo>
                <a:cubicBezTo>
                  <a:pt x="23648" y="74131"/>
                  <a:pt x="27797" y="69982"/>
                  <a:pt x="27797" y="64863"/>
                </a:cubicBezTo>
                <a:cubicBezTo>
                  <a:pt x="27797" y="59744"/>
                  <a:pt x="23648" y="55595"/>
                  <a:pt x="18530" y="55595"/>
                </a:cubicBezTo>
                <a:cubicBezTo>
                  <a:pt x="13411" y="55595"/>
                  <a:pt x="9262" y="59744"/>
                  <a:pt x="9262" y="64863"/>
                </a:cubicBezTo>
                <a:cubicBezTo>
                  <a:pt x="9262" y="69982"/>
                  <a:pt x="13411" y="74131"/>
                  <a:pt x="18530" y="74131"/>
                </a:cubicBezTo>
                <a:close/>
              </a:path>
            </a:pathLst>
          </a:custGeom>
          <a:solidFill>
            <a:srgbClr val="0042FF"/>
          </a:solidFill>
          <a:ln w="121" cap="flat">
            <a:noFill/>
            <a:prstDash val="solid"/>
            <a:miter/>
          </a:ln>
        </p:spPr>
        <p:txBody>
          <a:bodyPr rtlCol="0" anchor="ctr" lIns="0" rIns="0" tIns="0" bIns="0"/>
          <a:p>
            <a:pP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97" name="椭圆 96"/>
          <p:cNvSpPr/>
          <p:nvPr/>
        </p:nvSpPr>
        <p:spPr>
          <a:xfrm>
            <a:off x="4695121" y="5377593"/>
            <a:ext cx="408728" cy="408728"/>
          </a:xfrm>
          <a:prstGeom prst="ellipse">
            <a:avLst/>
          </a:prstGeom>
          <a:solidFill>
            <a:srgbClr val="FFFFFF"/>
          </a:solidFill>
          <a:ln w="6350">
            <a:solidFill>
              <a:srgbClr val="3368FF">
                <a:alpha val="70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0042FF"/>
                </a:solidFill>
                <a:cs typeface="微软雅黑"/>
                <a:sym typeface="微软雅黑"/>
                <a:latin typeface="微软雅黑"/>
                <a:ea typeface="微软雅黑"/>
              </a:rPr>
              <a:t>PLC</a:t>
            </a:r>
            <a:endParaRPr lang="en-US" altLang="zh-CN" sz="1000" dirty="0">
              <a:solidFill>
                <a:srgbClr val="0042FF"/>
              </a:solidFill>
              <a:cs typeface="微软雅黑"/>
              <a:sym typeface="微软雅黑"/>
              <a:latin typeface="微软雅黑"/>
              <a:ea typeface="微软雅黑"/>
            </a:endParaRPr>
          </a:p>
        </p:txBody>
      </p:sp>
      <p:sp>
        <p:nvSpPr>
          <p:cNvPr id="98" name="文本框 97"/>
          <p:cNvSpPr txBox="1"/>
          <p:nvPr/>
        </p:nvSpPr>
        <p:spPr>
          <a:xfrm>
            <a:off x="7098030" y="5472430"/>
            <a:ext cx="526415" cy="21399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altLang="zh-CN" sz="1000">
                <a:solidFill>
                  <a:srgbClr val="0042FF"/>
                </a:solidFill>
                <a:latin typeface="微软雅黑"/>
                <a:ea typeface="微软雅黑"/>
                <a:cs typeface="微软雅黑"/>
              </a:rPr>
              <a:t>NBIOT</a:t>
            </a:r>
            <a:endParaRPr lang="en-US" altLang="zh-CN" sz="1000">
              <a:solidFill>
                <a:srgbClr val="0042FF"/>
              </a:solidFill>
              <a:latin typeface="微软雅黑"/>
              <a:ea typeface="微软雅黑"/>
              <a:cs typeface="微软雅黑"/>
            </a:endParaRPr>
          </a:p>
        </p:txBody>
      </p:sp>
      <p:sp>
        <p:nvSpPr>
          <p:cNvPr id="107" name="椭圆 106"/>
          <p:cNvSpPr/>
          <p:nvPr/>
        </p:nvSpPr>
        <p:spPr>
          <a:xfrm>
            <a:off x="5408295" y="4518025"/>
            <a:ext cx="1567815" cy="554355"/>
          </a:xfrm>
          <a:prstGeom prst="ellipse">
            <a:avLst/>
          </a:prstGeom>
          <a:gradFill>
            <a:gsLst>
              <a:gs pos="0">
                <a:srgbClr val="3368FF">
                  <a:alpha val="0"/>
                </a:srgbClr>
              </a:gs>
              <a:gs pos="100000">
                <a:srgbClr val="3368FF">
                  <a:alpha val="40000"/>
                </a:srgbClr>
              </a:gs>
            </a:gsLst>
            <a:lin ang="5400000" scaled="1"/>
          </a:gradFill>
          <a:ln>
            <a:no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8" name="文本框 107"/>
          <p:cNvSpPr txBox="1"/>
          <p:nvPr/>
        </p:nvSpPr>
        <p:spPr>
          <a:xfrm>
            <a:off x="5654675" y="4573905"/>
            <a:ext cx="982345" cy="245110"/>
          </a:xfrm>
          <a:prstGeom prst="rect">
            <a:avLst/>
          </a:prstGeom>
          <a:noFill/>
        </p:spPr>
        <p:txBody>
          <a:bodyPr wrap="square" rtlCol="0" lIns="0" rIns="0" tIns="0" bIns="0">
            <a:spAutoFit/>
          </a:bodyPr>
          <a:p>
            <a:pPr algn="ctr">
              <a:defRPr>
                <a:latin typeface="微软雅黑"/>
                <a:ea typeface="微软雅黑"/>
                <a:cs typeface="微软雅黑"/>
              </a:defRPr>
            </a:pPr>
            <a:r>
              <a:rPr lang="zh-CN" sz="1000" b="1">
                <a:solidFill>
                  <a:srgbClr val="383838"/>
                </a:solidFill>
                <a:latin typeface="微软雅黑"/>
                <a:ea typeface="微软雅黑"/>
                <a:cs typeface="微软雅黑"/>
              </a:rPr>
              <a:t>云基础设施</a:t>
            </a:r>
            <a:endParaRPr lang="zh-CN" sz="1000" b="1">
              <a:solidFill>
                <a:srgbClr val="383838"/>
              </a:solidFill>
              <a:latin typeface="微软雅黑"/>
              <a:ea typeface="微软雅黑"/>
              <a:cs typeface="微软雅黑"/>
            </a:endParaRPr>
          </a:p>
        </p:txBody>
      </p:sp>
      <p:sp>
        <p:nvSpPr>
          <p:cNvPr id="111" name="文本框 110"/>
          <p:cNvSpPr txBox="1"/>
          <p:nvPr/>
        </p:nvSpPr>
        <p:spPr>
          <a:xfrm>
            <a:off x="5252402" y="4764088"/>
            <a:ext cx="1866900" cy="203200"/>
          </a:xfrm>
          <a:prstGeom prst="rect">
            <a:avLst/>
          </a:prstGeom>
          <a:noFill/>
        </p:spPr>
        <p:txBody>
          <a:bodyPr wrap="none" rtlCol="0" lIns="0" rIns="0" tIns="0" bIns="0" anchor="ctr">
            <a:noAutofit/>
          </a:bodyPr>
          <a:p>
            <a:pPr algn="ctr">
              <a:defRPr sz="1000">
                <a:latin typeface="微软雅黑"/>
                <a:ea typeface="微软雅黑"/>
                <a:cs typeface="微软雅黑"/>
              </a:defRPr>
              <a:lnSpc>
                <a:spcPct val="105000"/>
              </a:lnSpc>
              <a:spcBef>
                <a:spcPts val="0"/>
              </a:spcBef>
              <a:spcAft>
                <a:spcPts val="0"/>
              </a:spcAft>
            </a:pPr>
            <a:r>
              <a:rPr lang="zh-CN" altLang="en-US" sz="1000">
                <a:solidFill>
                  <a:srgbClr val="383838"/>
                </a:solidFill>
                <a:latin typeface="微软雅黑"/>
                <a:ea typeface="微软雅黑"/>
                <a:cs typeface="微软雅黑"/>
              </a:rPr>
              <a:t>计算</a:t>
            </a:r>
            <a:r>
              <a:rPr lang="en-US" altLang="zh-CN" sz="1000">
                <a:solidFill>
                  <a:srgbClr val="383838"/>
                </a:solidFill>
                <a:latin typeface="微软雅黑"/>
                <a:ea typeface="微软雅黑"/>
                <a:cs typeface="微软雅黑"/>
              </a:rPr>
              <a:t> | </a:t>
            </a:r>
            <a:r>
              <a:rPr lang="zh-CN" altLang="en-US" sz="1000">
                <a:solidFill>
                  <a:srgbClr val="383838"/>
                </a:solidFill>
                <a:latin typeface="微软雅黑"/>
                <a:ea typeface="微软雅黑"/>
                <a:cs typeface="微软雅黑"/>
              </a:rPr>
              <a:t>存储</a:t>
            </a:r>
            <a:r>
              <a:rPr lang="en-US" altLang="zh-CN" sz="1000">
                <a:solidFill>
                  <a:srgbClr val="383838"/>
                </a:solidFill>
                <a:latin typeface="微软雅黑"/>
                <a:ea typeface="微软雅黑"/>
                <a:cs typeface="微软雅黑"/>
              </a:rPr>
              <a:t> | </a:t>
            </a:r>
            <a:r>
              <a:rPr lang="zh-CN" altLang="en-US" sz="1000">
                <a:solidFill>
                  <a:srgbClr val="383838"/>
                </a:solidFill>
                <a:latin typeface="微软雅黑"/>
                <a:ea typeface="微软雅黑"/>
                <a:cs typeface="微软雅黑"/>
              </a:rPr>
              <a:t>网络</a:t>
            </a:r>
            <a:r>
              <a:rPr lang="en-US" altLang="zh-CN" sz="1000">
                <a:solidFill>
                  <a:srgbClr val="383838"/>
                </a:solidFill>
                <a:latin typeface="微软雅黑"/>
                <a:ea typeface="微软雅黑"/>
                <a:cs typeface="微软雅黑"/>
              </a:rPr>
              <a:t> | </a:t>
            </a:r>
            <a:r>
              <a:rPr lang="zh-CN" altLang="en-US" sz="1000">
                <a:solidFill>
                  <a:srgbClr val="383838"/>
                </a:solidFill>
                <a:latin typeface="微软雅黑"/>
                <a:ea typeface="微软雅黑"/>
                <a:cs typeface="微软雅黑"/>
              </a:rPr>
              <a:t>安全</a:t>
            </a:r>
            <a:endParaRPr lang="zh-CN" altLang="en-US" sz="1000">
              <a:solidFill>
                <a:srgbClr val="383838"/>
              </a:solidFill>
              <a:latin typeface="微软雅黑"/>
              <a:ea typeface="微软雅黑"/>
              <a:cs typeface="微软雅黑"/>
            </a:endParaRPr>
          </a:p>
        </p:txBody>
      </p:sp>
      <p:sp>
        <p:nvSpPr>
          <p:cNvPr id="113" name="椭圆 112"/>
          <p:cNvSpPr/>
          <p:nvPr/>
        </p:nvSpPr>
        <p:spPr>
          <a:xfrm>
            <a:off x="5322888" y="3484880"/>
            <a:ext cx="1514475" cy="448310"/>
          </a:xfrm>
          <a:prstGeom prst="ellipse">
            <a:avLst/>
          </a:prstGeom>
          <a:gradFill>
            <a:gsLst>
              <a:gs pos="0">
                <a:srgbClr val="3368FF">
                  <a:alpha val="0"/>
                </a:srgbClr>
              </a:gs>
              <a:gs pos="100000">
                <a:srgbClr val="3368FF">
                  <a:alpha val="40000"/>
                </a:srgbClr>
              </a:gs>
            </a:gsLst>
            <a:lin ang="5400000" scaled="1"/>
          </a:gradFill>
          <a:ln>
            <a:noFill/>
          </a:ln>
          <a:scene3d>
            <a:camera prst="orthographicFront">
              <a:rot lat="3000000" lon="0" rev="0"/>
            </a:camera>
            <a:lightRig rig="threePt" dir="t"/>
          </a:scene3d>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nvGrpSpPr>
          <p:cNvPr id="7" name="组合 6"/>
          <p:cNvGrpSpPr/>
          <p:nvPr/>
        </p:nvGrpSpPr>
        <p:grpSpPr>
          <a:xfrm>
            <a:off x="4041775" y="3489960"/>
            <a:ext cx="4133850" cy="718820"/>
            <a:chOff x="6375" y="5488"/>
            <a:chExt cx="6510" cy="1132"/>
          </a:xfrm>
        </p:grpSpPr>
        <p:sp>
          <p:nvSpPr>
            <p:cNvPr id="14" name="文本框 13"/>
            <p:cNvSpPr txBox="1"/>
            <p:nvPr/>
          </p:nvSpPr>
          <p:spPr>
            <a:xfrm>
              <a:off x="7035" y="5488"/>
              <a:ext cx="1547"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solidFill>
                    <a:srgbClr val="383838"/>
                  </a:solidFill>
                  <a:latin typeface="微软雅黑"/>
                  <a:ea typeface="微软雅黑"/>
                  <a:cs typeface="微软雅黑"/>
                </a:rPr>
                <a:t>IOT</a:t>
              </a:r>
              <a:endParaRPr lang="en-US" altLang="zh-CN" sz="1000">
                <a:solidFill>
                  <a:srgbClr val="383838"/>
                </a:solidFill>
                <a:latin typeface="微软雅黑"/>
                <a:ea typeface="微软雅黑"/>
                <a:cs typeface="微软雅黑"/>
              </a:endParaRPr>
            </a:p>
          </p:txBody>
        </p:sp>
        <p:sp>
          <p:nvSpPr>
            <p:cNvPr id="44" name="文本框 43"/>
            <p:cNvSpPr txBox="1"/>
            <p:nvPr/>
          </p:nvSpPr>
          <p:spPr>
            <a:xfrm>
              <a:off x="6375" y="5756"/>
              <a:ext cx="851"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视频</a:t>
              </a:r>
              <a:endParaRPr lang="zh-CN" altLang="en-US" sz="1000">
                <a:solidFill>
                  <a:srgbClr val="383838"/>
                </a:solidFill>
                <a:latin typeface="微软雅黑"/>
                <a:ea typeface="微软雅黑"/>
                <a:cs typeface="微软雅黑"/>
              </a:endParaRPr>
            </a:p>
          </p:txBody>
        </p:sp>
        <p:sp>
          <p:nvSpPr>
            <p:cNvPr id="45" name="文本框 44"/>
            <p:cNvSpPr txBox="1"/>
            <p:nvPr/>
          </p:nvSpPr>
          <p:spPr>
            <a:xfrm>
              <a:off x="6866" y="6077"/>
              <a:ext cx="1182"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solidFill>
                    <a:srgbClr val="383838"/>
                  </a:solidFill>
                  <a:latin typeface="微软雅黑"/>
                  <a:ea typeface="微软雅黑"/>
                  <a:cs typeface="微软雅黑"/>
                </a:rPr>
                <a:t>GIS</a:t>
              </a:r>
              <a:endParaRPr lang="en-US" altLang="zh-CN" sz="1000">
                <a:solidFill>
                  <a:srgbClr val="383838"/>
                </a:solidFill>
                <a:latin typeface="微软雅黑"/>
                <a:ea typeface="微软雅黑"/>
                <a:cs typeface="微软雅黑"/>
              </a:endParaRPr>
            </a:p>
          </p:txBody>
        </p:sp>
        <p:sp>
          <p:nvSpPr>
            <p:cNvPr id="46" name="文本框 45"/>
            <p:cNvSpPr txBox="1"/>
            <p:nvPr/>
          </p:nvSpPr>
          <p:spPr>
            <a:xfrm>
              <a:off x="10971" y="5488"/>
              <a:ext cx="1547"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区块链</a:t>
              </a:r>
              <a:endParaRPr lang="zh-CN" altLang="en-US" sz="1000">
                <a:solidFill>
                  <a:srgbClr val="383838"/>
                </a:solidFill>
                <a:latin typeface="微软雅黑"/>
                <a:ea typeface="微软雅黑"/>
                <a:cs typeface="微软雅黑"/>
              </a:endParaRPr>
            </a:p>
          </p:txBody>
        </p:sp>
        <p:sp>
          <p:nvSpPr>
            <p:cNvPr id="47" name="文本框 46"/>
            <p:cNvSpPr txBox="1"/>
            <p:nvPr/>
          </p:nvSpPr>
          <p:spPr>
            <a:xfrm>
              <a:off x="11721" y="5874"/>
              <a:ext cx="1164"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融合指挥</a:t>
              </a:r>
              <a:endParaRPr lang="zh-CN" altLang="en-US" sz="1000">
                <a:solidFill>
                  <a:srgbClr val="383838"/>
                </a:solidFill>
                <a:latin typeface="微软雅黑"/>
                <a:ea typeface="微软雅黑"/>
                <a:cs typeface="微软雅黑"/>
              </a:endParaRPr>
            </a:p>
          </p:txBody>
        </p:sp>
        <p:sp>
          <p:nvSpPr>
            <p:cNvPr id="48" name="文本框 47"/>
            <p:cNvSpPr txBox="1"/>
            <p:nvPr/>
          </p:nvSpPr>
          <p:spPr>
            <a:xfrm>
              <a:off x="10518" y="6136"/>
              <a:ext cx="1109"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数据使能</a:t>
              </a:r>
              <a:endParaRPr lang="zh-CN" altLang="en-US" sz="1000">
                <a:solidFill>
                  <a:srgbClr val="383838"/>
                </a:solidFill>
                <a:latin typeface="微软雅黑"/>
                <a:ea typeface="微软雅黑"/>
                <a:cs typeface="微软雅黑"/>
              </a:endParaRPr>
            </a:p>
          </p:txBody>
        </p:sp>
        <p:sp>
          <p:nvSpPr>
            <p:cNvPr id="49" name="文本框 48"/>
            <p:cNvSpPr txBox="1"/>
            <p:nvPr/>
          </p:nvSpPr>
          <p:spPr>
            <a:xfrm>
              <a:off x="9053" y="6234"/>
              <a:ext cx="1277" cy="386"/>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使能</a:t>
              </a:r>
              <a:endParaRPr lang="zh-CN" altLang="en-US" sz="1000">
                <a:solidFill>
                  <a:srgbClr val="383838"/>
                </a:solidFill>
                <a:latin typeface="微软雅黑"/>
                <a:ea typeface="微软雅黑"/>
                <a:cs typeface="微软雅黑"/>
              </a:endParaRPr>
            </a:p>
          </p:txBody>
        </p:sp>
        <p:sp>
          <p:nvSpPr>
            <p:cNvPr id="50" name="文本框 49"/>
            <p:cNvSpPr txBox="1"/>
            <p:nvPr/>
          </p:nvSpPr>
          <p:spPr>
            <a:xfrm>
              <a:off x="7880" y="6186"/>
              <a:ext cx="1295"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业务使能</a:t>
              </a:r>
              <a:endParaRPr lang="zh-CN" altLang="en-US" sz="1000">
                <a:solidFill>
                  <a:srgbClr val="383838"/>
                </a:solidFill>
                <a:latin typeface="微软雅黑"/>
                <a:ea typeface="微软雅黑"/>
                <a:cs typeface="微软雅黑"/>
              </a:endParaRPr>
            </a:p>
          </p:txBody>
        </p:sp>
      </p:grpSp>
      <p:sp>
        <p:nvSpPr>
          <p:cNvPr id="54" name="文本框 53"/>
          <p:cNvSpPr txBox="1"/>
          <p:nvPr/>
        </p:nvSpPr>
        <p:spPr>
          <a:xfrm>
            <a:off x="5393690" y="3586480"/>
            <a:ext cx="70993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联接枢纽</a:t>
            </a:r>
            <a:endParaRPr lang="zh-CN" altLang="en-US" sz="1000" b="1">
              <a:solidFill>
                <a:srgbClr val="383838"/>
              </a:solidFill>
              <a:latin typeface="微软雅黑"/>
              <a:ea typeface="微软雅黑"/>
              <a:cs typeface="微软雅黑"/>
            </a:endParaRPr>
          </a:p>
        </p:txBody>
      </p:sp>
      <p:sp>
        <p:nvSpPr>
          <p:cNvPr id="55" name="文本框 54"/>
          <p:cNvSpPr txBox="1"/>
          <p:nvPr/>
        </p:nvSpPr>
        <p:spPr>
          <a:xfrm>
            <a:off x="5977890" y="3572510"/>
            <a:ext cx="98234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运营枢纽</a:t>
            </a:r>
            <a:endParaRPr lang="zh-CN" altLang="en-US" sz="1000" b="1">
              <a:solidFill>
                <a:srgbClr val="383838"/>
              </a:solidFill>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51" name="图片 50"/>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52" name="文本框 5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5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0" name="图片 20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多端数据应用平台架构</a:t>
            </a:r>
            <a:endParaRPr lang="zh-CN" altLang="en-US" sz="2500" dirty="0">
              <a:solidFill>
                <a:srgbClr val="383838"/>
              </a:solidFill>
              <a:effectLst/>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7" name="矩形 6"/>
          <p:cNvSpPr/>
          <p:nvPr/>
        </p:nvSpPr>
        <p:spPr>
          <a:xfrm>
            <a:off x="7890510" y="1116330"/>
            <a:ext cx="1447800" cy="4892040"/>
          </a:xfrm>
          <a:prstGeom prst="rect">
            <a:avLst/>
          </a:prstGeom>
          <a:solidFill>
            <a:srgbClr val="FFFFFF">
              <a:alpha val="38000"/>
            </a:srgbClr>
          </a:solidFill>
          <a:ln>
            <a:gradFill>
              <a:gsLst>
                <a:gs pos="78000">
                  <a:srgbClr val="B3D4FE">
                    <a:alpha val="0"/>
                  </a:srgbClr>
                </a:gs>
                <a:gs pos="25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8" name="圆柱形 7"/>
          <p:cNvSpPr/>
          <p:nvPr/>
        </p:nvSpPr>
        <p:spPr>
          <a:xfrm>
            <a:off x="7890510" y="5932170"/>
            <a:ext cx="1447800" cy="640080"/>
          </a:xfrm>
          <a:prstGeom prst="can">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9" name="圆角矩形 8"/>
          <p:cNvSpPr/>
          <p:nvPr/>
        </p:nvSpPr>
        <p:spPr>
          <a:xfrm>
            <a:off x="8100060" y="1672590"/>
            <a:ext cx="1028700" cy="38862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0" name="圆角矩形 9"/>
          <p:cNvSpPr/>
          <p:nvPr/>
        </p:nvSpPr>
        <p:spPr>
          <a:xfrm>
            <a:off x="8100060" y="2261235"/>
            <a:ext cx="1028700" cy="38862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 name="圆角矩形 10"/>
          <p:cNvSpPr/>
          <p:nvPr/>
        </p:nvSpPr>
        <p:spPr>
          <a:xfrm>
            <a:off x="8100060" y="2849880"/>
            <a:ext cx="1028700" cy="38862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3" name="圆角矩形 12"/>
          <p:cNvSpPr/>
          <p:nvPr/>
        </p:nvSpPr>
        <p:spPr>
          <a:xfrm>
            <a:off x="8100060" y="3438525"/>
            <a:ext cx="1028700" cy="38862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 name="圆角矩形 13"/>
          <p:cNvSpPr/>
          <p:nvPr/>
        </p:nvSpPr>
        <p:spPr>
          <a:xfrm>
            <a:off x="8100060" y="4027170"/>
            <a:ext cx="1028700" cy="38862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 name="圆角矩形 14"/>
          <p:cNvSpPr/>
          <p:nvPr/>
        </p:nvSpPr>
        <p:spPr>
          <a:xfrm>
            <a:off x="8100060" y="4615815"/>
            <a:ext cx="1028700" cy="38862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 name="圆角矩形 15"/>
          <p:cNvSpPr/>
          <p:nvPr/>
        </p:nvSpPr>
        <p:spPr>
          <a:xfrm>
            <a:off x="8100060" y="5204460"/>
            <a:ext cx="1028700" cy="388620"/>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9" name="矩形 18"/>
          <p:cNvSpPr/>
          <p:nvPr/>
        </p:nvSpPr>
        <p:spPr>
          <a:xfrm>
            <a:off x="9492615" y="1116330"/>
            <a:ext cx="2263140" cy="610235"/>
          </a:xfrm>
          <a:prstGeom prst="rect">
            <a:avLst/>
          </a:prstGeom>
          <a:solidFill>
            <a:srgbClr val="FFFFFF">
              <a:alpha val="38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2" name="矩形 21"/>
          <p:cNvSpPr/>
          <p:nvPr/>
        </p:nvSpPr>
        <p:spPr>
          <a:xfrm>
            <a:off x="9492615" y="1864360"/>
            <a:ext cx="2263140" cy="610235"/>
          </a:xfrm>
          <a:prstGeom prst="rect">
            <a:avLst/>
          </a:prstGeom>
          <a:solidFill>
            <a:srgbClr val="FFFFFF">
              <a:alpha val="38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3" name="矩形 22"/>
          <p:cNvSpPr/>
          <p:nvPr/>
        </p:nvSpPr>
        <p:spPr>
          <a:xfrm>
            <a:off x="9492615" y="2612390"/>
            <a:ext cx="2263140" cy="610235"/>
          </a:xfrm>
          <a:prstGeom prst="rect">
            <a:avLst/>
          </a:prstGeom>
          <a:solidFill>
            <a:srgbClr val="FFFFFF">
              <a:alpha val="38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4" name="矩形 23"/>
          <p:cNvSpPr/>
          <p:nvPr/>
        </p:nvSpPr>
        <p:spPr>
          <a:xfrm>
            <a:off x="9492615" y="3360420"/>
            <a:ext cx="2263140" cy="1517015"/>
          </a:xfrm>
          <a:prstGeom prst="rect">
            <a:avLst/>
          </a:prstGeom>
          <a:solidFill>
            <a:srgbClr val="FFFFFF">
              <a:alpha val="38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5" name="矩形 24"/>
          <p:cNvSpPr/>
          <p:nvPr/>
        </p:nvSpPr>
        <p:spPr>
          <a:xfrm>
            <a:off x="9492615" y="5015230"/>
            <a:ext cx="2263140" cy="1517015"/>
          </a:xfrm>
          <a:prstGeom prst="rect">
            <a:avLst/>
          </a:prstGeom>
          <a:solidFill>
            <a:srgbClr val="FFFFFF">
              <a:alpha val="38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64" name="组合 63"/>
          <p:cNvGrpSpPr/>
          <p:nvPr/>
        </p:nvGrpSpPr>
        <p:grpSpPr>
          <a:xfrm>
            <a:off x="2386965" y="5932170"/>
            <a:ext cx="5207000" cy="600075"/>
            <a:chOff x="2882901" y="1515850"/>
            <a:chExt cx="5966353" cy="599944"/>
          </a:xfrm>
        </p:grpSpPr>
        <p:sp>
          <p:nvSpPr>
            <p:cNvPr id="72" name="圆角矩形 359"/>
            <p:cNvSpPr/>
            <p:nvPr/>
          </p:nvSpPr>
          <p:spPr bwMode="auto">
            <a:xfrm>
              <a:off x="2882901" y="1773604"/>
              <a:ext cx="5966353" cy="342190"/>
            </a:xfrm>
            <a:prstGeom prst="roundRect">
              <a:avLst>
                <a:gd name="adj" fmla="val 0"/>
              </a:avLst>
            </a:prstGeom>
            <a:solidFill>
              <a:srgbClr val="E6E6E6">
                <a:alpha val="39000"/>
              </a:srgbClr>
            </a:solidFill>
            <a:ln>
              <a:solidFill>
                <a:srgbClr val="668EFF"/>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noProof="1">
                <a:latin typeface="微软雅黑"/>
                <a:ea typeface="微软雅黑"/>
                <a:cs typeface="微软雅黑"/>
              </a:endParaRPr>
            </a:p>
          </p:txBody>
        </p:sp>
        <p:sp>
          <p:nvSpPr>
            <p:cNvPr id="73" name="梯形 72"/>
            <p:cNvSpPr/>
            <p:nvPr/>
          </p:nvSpPr>
          <p:spPr>
            <a:xfrm>
              <a:off x="2882901" y="1515850"/>
              <a:ext cx="5966353" cy="257754"/>
            </a:xfrm>
            <a:prstGeom prst="trapezoid">
              <a:avLst>
                <a:gd name="adj" fmla="val 158867"/>
              </a:avLst>
            </a:prstGeom>
            <a:gradFill flip="none" rotWithShape="1">
              <a:gsLst>
                <a:gs pos="48000">
                  <a:srgbClr val="E6E6E6">
                    <a:alpha val="0"/>
                  </a:srgbClr>
                </a:gs>
                <a:gs pos="100000">
                  <a:srgbClr val="E6E6E6"/>
                </a:gs>
              </a:gsLst>
              <a:lin ang="5400000" scaled="1"/>
              <a:tileRect/>
            </a:gradFill>
            <a:ln w="9525" cap="rnd">
              <a:gradFill>
                <a:gsLst>
                  <a:gs pos="0">
                    <a:srgbClr val="FFFFFF">
                      <a:alpha val="0"/>
                    </a:srgbClr>
                  </a:gs>
                  <a:gs pos="100000">
                    <a:srgbClr val="3368FF"/>
                  </a:gs>
                </a:gsLst>
                <a:lin ang="5400000" scaled="1"/>
              </a:gradFill>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grpSp>
      <p:sp>
        <p:nvSpPr>
          <p:cNvPr id="94" name="矩形 93"/>
          <p:cNvSpPr/>
          <p:nvPr/>
        </p:nvSpPr>
        <p:spPr>
          <a:xfrm>
            <a:off x="2402205" y="3006725"/>
            <a:ext cx="3601085" cy="2047875"/>
          </a:xfrm>
          <a:prstGeom prst="rect">
            <a:avLst/>
          </a:prstGeom>
          <a:solidFill>
            <a:srgbClr val="E6E6E6">
              <a:alpha val="38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96" name="矩形 95"/>
          <p:cNvSpPr/>
          <p:nvPr/>
        </p:nvSpPr>
        <p:spPr>
          <a:xfrm>
            <a:off x="6089650" y="2995295"/>
            <a:ext cx="1504950" cy="2642870"/>
          </a:xfrm>
          <a:prstGeom prst="rect">
            <a:avLst/>
          </a:prstGeom>
          <a:solidFill>
            <a:srgbClr val="E6E6E6">
              <a:alpha val="38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97" name="矩形 96"/>
          <p:cNvSpPr/>
          <p:nvPr/>
        </p:nvSpPr>
        <p:spPr>
          <a:xfrm>
            <a:off x="2402205" y="5068570"/>
            <a:ext cx="3601085" cy="618490"/>
          </a:xfrm>
          <a:prstGeom prst="rect">
            <a:avLst/>
          </a:prstGeom>
          <a:solidFill>
            <a:srgbClr val="E6E6E6">
              <a:alpha val="38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nvGrpSpPr>
          <p:cNvPr id="98" name="组合 97"/>
          <p:cNvGrpSpPr/>
          <p:nvPr/>
        </p:nvGrpSpPr>
        <p:grpSpPr>
          <a:xfrm>
            <a:off x="2402205" y="2339975"/>
            <a:ext cx="5207000" cy="509905"/>
            <a:chOff x="2882901" y="1515850"/>
            <a:chExt cx="5966353" cy="509794"/>
          </a:xfrm>
        </p:grpSpPr>
        <p:sp>
          <p:nvSpPr>
            <p:cNvPr id="99" name="圆角矩形 359"/>
            <p:cNvSpPr/>
            <p:nvPr/>
          </p:nvSpPr>
          <p:spPr bwMode="auto">
            <a:xfrm>
              <a:off x="2882901" y="1773604"/>
              <a:ext cx="5966353" cy="252040"/>
            </a:xfrm>
            <a:prstGeom prst="roundRect">
              <a:avLst>
                <a:gd name="adj" fmla="val 0"/>
              </a:avLst>
            </a:prstGeom>
            <a:solidFill>
              <a:srgbClr val="E6E6E6">
                <a:alpha val="39000"/>
              </a:srgbClr>
            </a:solidFill>
            <a:ln>
              <a:solidFill>
                <a:srgbClr val="668EFF"/>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noProof="1">
                <a:latin typeface="微软雅黑"/>
                <a:ea typeface="微软雅黑"/>
                <a:cs typeface="微软雅黑"/>
              </a:endParaRPr>
            </a:p>
          </p:txBody>
        </p:sp>
        <p:sp>
          <p:nvSpPr>
            <p:cNvPr id="101" name="梯形 100"/>
            <p:cNvSpPr/>
            <p:nvPr/>
          </p:nvSpPr>
          <p:spPr>
            <a:xfrm>
              <a:off x="2882901" y="1515850"/>
              <a:ext cx="5966353" cy="257754"/>
            </a:xfrm>
            <a:prstGeom prst="trapezoid">
              <a:avLst>
                <a:gd name="adj" fmla="val 158867"/>
              </a:avLst>
            </a:prstGeom>
            <a:gradFill flip="none" rotWithShape="1">
              <a:gsLst>
                <a:gs pos="48000">
                  <a:srgbClr val="E6E6E6">
                    <a:alpha val="0"/>
                  </a:srgbClr>
                </a:gs>
                <a:gs pos="100000">
                  <a:srgbClr val="E6E6E6"/>
                </a:gs>
              </a:gsLst>
              <a:lin ang="5400000" scaled="1"/>
              <a:tileRect/>
            </a:gradFill>
            <a:ln w="9525" cap="rnd">
              <a:gradFill>
                <a:gsLst>
                  <a:gs pos="0">
                    <a:srgbClr val="E6E6E6">
                      <a:alpha val="0"/>
                    </a:srgbClr>
                  </a:gs>
                  <a:gs pos="100000">
                    <a:srgbClr val="3368FF"/>
                  </a:gs>
                </a:gsLst>
                <a:lin ang="5400000" scaled="1"/>
              </a:gradFill>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110" name="圆角矩形 359"/>
          <p:cNvSpPr/>
          <p:nvPr/>
        </p:nvSpPr>
        <p:spPr bwMode="auto">
          <a:xfrm>
            <a:off x="2402205" y="1519555"/>
            <a:ext cx="5207000" cy="252095"/>
          </a:xfrm>
          <a:prstGeom prst="roundRect">
            <a:avLst>
              <a:gd name="adj" fmla="val 0"/>
            </a:avLst>
          </a:prstGeom>
          <a:solidFill>
            <a:srgbClr val="E6E6E6">
              <a:alpha val="39000"/>
            </a:srgbClr>
          </a:solidFill>
          <a:ln>
            <a:solidFill>
              <a:srgbClr val="668E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1" name="梯形 110"/>
          <p:cNvSpPr/>
          <p:nvPr/>
        </p:nvSpPr>
        <p:spPr bwMode="auto">
          <a:xfrm>
            <a:off x="2402205" y="1261745"/>
            <a:ext cx="5207000" cy="257810"/>
          </a:xfrm>
          <a:prstGeom prst="trapezoid">
            <a:avLst>
              <a:gd name="adj" fmla="val 158867"/>
            </a:avLst>
          </a:prstGeom>
          <a:solidFill>
            <a:srgbClr val="E6E6E6">
              <a:alpha val="39000"/>
            </a:srgbClr>
          </a:solidFill>
          <a:ln>
            <a:solidFill>
              <a:srgbClr val="668EFF"/>
            </a:solidFill>
            <a:prstDash val="solid"/>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80" name="紫荆的职场Point22"/>
          <p:cNvSpPr txBox="1"/>
          <p:nvPr/>
        </p:nvSpPr>
        <p:spPr>
          <a:xfrm>
            <a:off x="8065771" y="1235885"/>
            <a:ext cx="1097280" cy="275590"/>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系统运维管控</a:t>
            </a:r>
            <a:endParaRPr lang="zh-CN" altLang="en-US" sz="1200" b="1" dirty="0">
              <a:solidFill>
                <a:srgbClr val="0042FF"/>
              </a:solidFill>
              <a:latin typeface="微软雅黑"/>
              <a:ea typeface="微软雅黑"/>
              <a:cs typeface="微软雅黑"/>
            </a:endParaRPr>
          </a:p>
        </p:txBody>
      </p:sp>
      <p:sp>
        <p:nvSpPr>
          <p:cNvPr id="5" name="紫荆的职场Point22"/>
          <p:cNvSpPr txBox="1"/>
          <p:nvPr/>
        </p:nvSpPr>
        <p:spPr>
          <a:xfrm>
            <a:off x="8141970" y="1733725"/>
            <a:ext cx="944880" cy="24511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数据开放管理</a:t>
            </a:r>
            <a:endParaRPr lang="zh-CN" altLang="en-US" sz="1000" dirty="0">
              <a:solidFill>
                <a:srgbClr val="383838"/>
              </a:solidFill>
              <a:latin typeface="微软雅黑"/>
              <a:ea typeface="微软雅黑"/>
              <a:cs typeface="微软雅黑"/>
            </a:endParaRPr>
          </a:p>
        </p:txBody>
      </p:sp>
      <p:sp>
        <p:nvSpPr>
          <p:cNvPr id="17" name="紫荆的职场Point22"/>
          <p:cNvSpPr txBox="1"/>
          <p:nvPr/>
        </p:nvSpPr>
        <p:spPr>
          <a:xfrm>
            <a:off x="8205470" y="2333165"/>
            <a:ext cx="817880" cy="24511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多用户管理</a:t>
            </a:r>
            <a:endParaRPr lang="zh-CN" altLang="en-US" sz="1000" dirty="0">
              <a:solidFill>
                <a:srgbClr val="383838"/>
              </a:solidFill>
              <a:latin typeface="微软雅黑"/>
              <a:ea typeface="微软雅黑"/>
              <a:cs typeface="微软雅黑"/>
            </a:endParaRPr>
          </a:p>
        </p:txBody>
      </p:sp>
      <p:sp>
        <p:nvSpPr>
          <p:cNvPr id="18" name="紫荆的职场Point22"/>
          <p:cNvSpPr txBox="1"/>
          <p:nvPr/>
        </p:nvSpPr>
        <p:spPr>
          <a:xfrm>
            <a:off x="8293735" y="2921635"/>
            <a:ext cx="641350" cy="245110"/>
          </a:xfrm>
          <a:prstGeom prst="rect">
            <a:avLst/>
          </a:prstGeom>
          <a:noFill/>
        </p:spPr>
        <p:txBody>
          <a:bodyPr wrap="none" lIns="0" rIns="0" tIns="0" bIns="0">
            <a:spAutoFit/>
          </a:bodyPr>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API</a:t>
            </a:r>
            <a:r>
              <a:rPr lang="zh-CN" altLang="en-US" sz="1000" dirty="0">
                <a:solidFill>
                  <a:srgbClr val="383838"/>
                </a:solidFill>
                <a:latin typeface="微软雅黑"/>
                <a:ea typeface="微软雅黑"/>
                <a:cs typeface="微软雅黑"/>
              </a:rPr>
              <a:t>管理</a:t>
            </a:r>
            <a:endParaRPr lang="zh-CN" altLang="en-US" sz="1000" dirty="0">
              <a:solidFill>
                <a:srgbClr val="383838"/>
              </a:solidFill>
              <a:latin typeface="微软雅黑"/>
              <a:ea typeface="微软雅黑"/>
              <a:cs typeface="微软雅黑"/>
            </a:endParaRPr>
          </a:p>
        </p:txBody>
      </p:sp>
      <p:sp>
        <p:nvSpPr>
          <p:cNvPr id="20" name="紫荆的职场Point22"/>
          <p:cNvSpPr txBox="1"/>
          <p:nvPr/>
        </p:nvSpPr>
        <p:spPr>
          <a:xfrm>
            <a:off x="8268970" y="3510280"/>
            <a:ext cx="690880" cy="24511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数据管理</a:t>
            </a:r>
            <a:endParaRPr lang="zh-CN" altLang="en-US" sz="1000" dirty="0">
              <a:solidFill>
                <a:srgbClr val="383838"/>
              </a:solidFill>
              <a:latin typeface="微软雅黑"/>
              <a:ea typeface="微软雅黑"/>
              <a:cs typeface="微软雅黑"/>
            </a:endParaRPr>
          </a:p>
        </p:txBody>
      </p:sp>
      <p:sp>
        <p:nvSpPr>
          <p:cNvPr id="21" name="紫荆的职场Point22"/>
          <p:cNvSpPr txBox="1"/>
          <p:nvPr/>
        </p:nvSpPr>
        <p:spPr>
          <a:xfrm>
            <a:off x="8268970" y="4098925"/>
            <a:ext cx="690880" cy="24511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任务管理</a:t>
            </a:r>
            <a:endParaRPr lang="zh-CN" altLang="en-US" sz="1000" dirty="0">
              <a:solidFill>
                <a:srgbClr val="383838"/>
              </a:solidFill>
              <a:latin typeface="微软雅黑"/>
              <a:ea typeface="微软雅黑"/>
              <a:cs typeface="微软雅黑"/>
            </a:endParaRPr>
          </a:p>
        </p:txBody>
      </p:sp>
      <p:sp>
        <p:nvSpPr>
          <p:cNvPr id="26" name="紫荆的职场Point22"/>
          <p:cNvSpPr txBox="1"/>
          <p:nvPr/>
        </p:nvSpPr>
        <p:spPr>
          <a:xfrm>
            <a:off x="8268970" y="4687570"/>
            <a:ext cx="690880" cy="24511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安全管理</a:t>
            </a:r>
            <a:endParaRPr lang="zh-CN" altLang="en-US" sz="1000" dirty="0">
              <a:solidFill>
                <a:srgbClr val="383838"/>
              </a:solidFill>
              <a:latin typeface="微软雅黑"/>
              <a:ea typeface="微软雅黑"/>
              <a:cs typeface="微软雅黑"/>
            </a:endParaRPr>
          </a:p>
        </p:txBody>
      </p:sp>
      <p:sp>
        <p:nvSpPr>
          <p:cNvPr id="27" name="紫荆的职场Point22"/>
          <p:cNvSpPr txBox="1"/>
          <p:nvPr/>
        </p:nvSpPr>
        <p:spPr>
          <a:xfrm>
            <a:off x="8141970" y="5276215"/>
            <a:ext cx="944880" cy="24511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系统运维管理</a:t>
            </a:r>
            <a:endParaRPr lang="zh-CN" altLang="en-US" sz="1000" dirty="0">
              <a:solidFill>
                <a:srgbClr val="383838"/>
              </a:solidFill>
              <a:latin typeface="微软雅黑"/>
              <a:ea typeface="微软雅黑"/>
              <a:cs typeface="微软雅黑"/>
            </a:endParaRPr>
          </a:p>
        </p:txBody>
      </p:sp>
      <p:sp>
        <p:nvSpPr>
          <p:cNvPr id="28" name="紫荆的职场Point22"/>
          <p:cNvSpPr txBox="1"/>
          <p:nvPr/>
        </p:nvSpPr>
        <p:spPr>
          <a:xfrm>
            <a:off x="9610725" y="5108575"/>
            <a:ext cx="690880" cy="245110"/>
          </a:xfrm>
          <a:prstGeom prst="rect">
            <a:avLst/>
          </a:prstGeom>
          <a:noFill/>
        </p:spPr>
        <p:txBody>
          <a:bodyPr wrap="none" lIns="0" rIns="0" tIns="0" bIns="0">
            <a:spAutoFit/>
          </a:bodyPr>
          <a:lstStyle/>
          <a:p>
            <a:pPr algn="l">
              <a:defRPr>
                <a:latin typeface="微软雅黑"/>
                <a:ea typeface="微软雅黑"/>
                <a:cs typeface="微软雅黑"/>
              </a:defRPr>
            </a:pPr>
            <a:r>
              <a:rPr lang="zh-CN" altLang="en-US" sz="1000" b="1" dirty="0">
                <a:solidFill>
                  <a:srgbClr val="383838"/>
                </a:solidFill>
                <a:latin typeface="微软雅黑"/>
                <a:ea typeface="微软雅黑"/>
                <a:cs typeface="微软雅黑"/>
              </a:rPr>
              <a:t>多端应用</a:t>
            </a:r>
            <a:endParaRPr lang="zh-CN" altLang="en-US" sz="1000" b="1" dirty="0">
              <a:solidFill>
                <a:srgbClr val="383838"/>
              </a:solidFill>
              <a:latin typeface="微软雅黑"/>
              <a:ea typeface="微软雅黑"/>
              <a:cs typeface="微软雅黑"/>
            </a:endParaRPr>
          </a:p>
        </p:txBody>
      </p:sp>
      <p:sp>
        <p:nvSpPr>
          <p:cNvPr id="29" name="紫荆的职场Point22"/>
          <p:cNvSpPr txBox="1"/>
          <p:nvPr/>
        </p:nvSpPr>
        <p:spPr>
          <a:xfrm>
            <a:off x="9613265" y="5353685"/>
            <a:ext cx="2047240" cy="337185"/>
          </a:xfrm>
          <a:prstGeom prst="rect">
            <a:avLst/>
          </a:prstGeom>
          <a:noFill/>
        </p:spPr>
        <p:txBody>
          <a:bodyPr wrap="square" lIns="0" rIns="0" tIns="0" bIns="0" anchor="t">
            <a:noAutofit/>
          </a:bodyPr>
          <a:lstStyle/>
          <a:p>
            <a:pPr algn="l">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满足不同场景，不同角色对象，组织管理及业务管理的诉求。</a:t>
            </a:r>
            <a:endParaRPr lang="zh-CN" altLang="en-US" sz="1000" dirty="0">
              <a:solidFill>
                <a:srgbClr val="383838"/>
              </a:solidFill>
              <a:latin typeface="微软雅黑"/>
              <a:ea typeface="微软雅黑"/>
              <a:cs typeface="微软雅黑"/>
            </a:endParaRPr>
          </a:p>
        </p:txBody>
      </p:sp>
      <p:sp>
        <p:nvSpPr>
          <p:cNvPr id="30" name="圆角矩形 29"/>
          <p:cNvSpPr/>
          <p:nvPr/>
        </p:nvSpPr>
        <p:spPr>
          <a:xfrm>
            <a:off x="9689465" y="5757863"/>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1" name="圆角矩形 30"/>
          <p:cNvSpPr/>
          <p:nvPr/>
        </p:nvSpPr>
        <p:spPr>
          <a:xfrm>
            <a:off x="9689465" y="601218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2" name="圆角矩形 31"/>
          <p:cNvSpPr/>
          <p:nvPr/>
        </p:nvSpPr>
        <p:spPr>
          <a:xfrm>
            <a:off x="9689465" y="626110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3" name="圆角矩形 32"/>
          <p:cNvSpPr/>
          <p:nvPr/>
        </p:nvSpPr>
        <p:spPr>
          <a:xfrm>
            <a:off x="10690225" y="5757863"/>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4" name="圆角矩形 33"/>
          <p:cNvSpPr/>
          <p:nvPr/>
        </p:nvSpPr>
        <p:spPr>
          <a:xfrm>
            <a:off x="10690225" y="601218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5" name="圆角矩形 34"/>
          <p:cNvSpPr/>
          <p:nvPr/>
        </p:nvSpPr>
        <p:spPr>
          <a:xfrm>
            <a:off x="10690225" y="626110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6" name="紫荆的职场Point22"/>
          <p:cNvSpPr txBox="1"/>
          <p:nvPr/>
        </p:nvSpPr>
        <p:spPr>
          <a:xfrm>
            <a:off x="9787255" y="5763578"/>
            <a:ext cx="609600" cy="169545"/>
          </a:xfrm>
          <a:prstGeom prst="rect">
            <a:avLst/>
          </a:prstGeom>
          <a:noFill/>
        </p:spPr>
        <p:txBody>
          <a:bodyPr wrap="square" anchor="ctr" anchorCtr="0" lIns="0" rIns="0" tIns="0" bIns="0">
            <a:noAutofit/>
          </a:bodyPr>
          <a:lstStyle/>
          <a:p>
            <a:pPr algn="l">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移动办公</a:t>
            </a:r>
            <a:endParaRPr lang="zh-CN" altLang="en-US" sz="1000" dirty="0">
              <a:solidFill>
                <a:srgbClr val="383838"/>
              </a:solidFill>
              <a:latin typeface="微软雅黑"/>
              <a:ea typeface="微软雅黑"/>
              <a:cs typeface="微软雅黑"/>
            </a:endParaRPr>
          </a:p>
        </p:txBody>
      </p:sp>
      <p:sp>
        <p:nvSpPr>
          <p:cNvPr id="37" name="紫荆的职场Point22"/>
          <p:cNvSpPr txBox="1"/>
          <p:nvPr/>
        </p:nvSpPr>
        <p:spPr>
          <a:xfrm>
            <a:off x="9726295" y="6017895"/>
            <a:ext cx="726440"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能源驾驶舱</a:t>
            </a:r>
            <a:endParaRPr lang="zh-CN" altLang="en-US" sz="1000" dirty="0">
              <a:solidFill>
                <a:srgbClr val="383838"/>
              </a:solidFill>
              <a:latin typeface="微软雅黑"/>
              <a:ea typeface="微软雅黑"/>
              <a:cs typeface="微软雅黑"/>
            </a:endParaRPr>
          </a:p>
        </p:txBody>
      </p:sp>
      <p:sp>
        <p:nvSpPr>
          <p:cNvPr id="38" name="紫荆的职场Point22"/>
          <p:cNvSpPr txBox="1"/>
          <p:nvPr/>
        </p:nvSpPr>
        <p:spPr>
          <a:xfrm>
            <a:off x="9726295" y="6266815"/>
            <a:ext cx="726440"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电商驾驶舱</a:t>
            </a:r>
            <a:endParaRPr lang="zh-CN" altLang="en-US" sz="1000" dirty="0">
              <a:solidFill>
                <a:srgbClr val="383838"/>
              </a:solidFill>
              <a:latin typeface="微软雅黑"/>
              <a:ea typeface="微软雅黑"/>
              <a:cs typeface="微软雅黑"/>
            </a:endParaRPr>
          </a:p>
        </p:txBody>
      </p:sp>
      <p:sp>
        <p:nvSpPr>
          <p:cNvPr id="39" name="紫荆的职场Point22"/>
          <p:cNvSpPr txBox="1"/>
          <p:nvPr/>
        </p:nvSpPr>
        <p:spPr>
          <a:xfrm>
            <a:off x="10639425" y="5763895"/>
            <a:ext cx="941705"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企业管理驾驶舱</a:t>
            </a:r>
            <a:endParaRPr lang="zh-CN" altLang="en-US" sz="1000" dirty="0">
              <a:solidFill>
                <a:srgbClr val="383838"/>
              </a:solidFill>
              <a:latin typeface="微软雅黑"/>
              <a:ea typeface="微软雅黑"/>
              <a:cs typeface="微软雅黑"/>
            </a:endParaRPr>
          </a:p>
        </p:txBody>
      </p:sp>
      <p:sp>
        <p:nvSpPr>
          <p:cNvPr id="40" name="紫荆的职场Point22"/>
          <p:cNvSpPr txBox="1"/>
          <p:nvPr/>
        </p:nvSpPr>
        <p:spPr>
          <a:xfrm>
            <a:off x="10633710" y="6017895"/>
            <a:ext cx="941705"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设备管理驾驶舱</a:t>
            </a:r>
            <a:endParaRPr lang="zh-CN" altLang="en-US" sz="1000" dirty="0">
              <a:solidFill>
                <a:srgbClr val="383838"/>
              </a:solidFill>
              <a:latin typeface="微软雅黑"/>
              <a:ea typeface="微软雅黑"/>
              <a:cs typeface="微软雅黑"/>
            </a:endParaRPr>
          </a:p>
        </p:txBody>
      </p:sp>
      <p:sp>
        <p:nvSpPr>
          <p:cNvPr id="41" name="紫荆的职场Point22"/>
          <p:cNvSpPr txBox="1"/>
          <p:nvPr/>
        </p:nvSpPr>
        <p:spPr>
          <a:xfrm>
            <a:off x="10788015" y="6241415"/>
            <a:ext cx="609600"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p:txBody>
      </p:sp>
      <p:sp>
        <p:nvSpPr>
          <p:cNvPr id="42" name="紫荆的职场Point22"/>
          <p:cNvSpPr txBox="1"/>
          <p:nvPr/>
        </p:nvSpPr>
        <p:spPr>
          <a:xfrm>
            <a:off x="9610725" y="3452495"/>
            <a:ext cx="944880" cy="245110"/>
          </a:xfrm>
          <a:prstGeom prst="rect">
            <a:avLst/>
          </a:prstGeom>
          <a:noFill/>
        </p:spPr>
        <p:txBody>
          <a:bodyPr wrap="none" lIns="0" rIns="0" tIns="0" bIns="0">
            <a:spAutoFit/>
          </a:bodyPr>
          <a:lstStyle/>
          <a:p>
            <a:pPr algn="l">
              <a:defRPr>
                <a:latin typeface="微软雅黑"/>
                <a:ea typeface="微软雅黑"/>
                <a:cs typeface="微软雅黑"/>
              </a:defRPr>
            </a:pPr>
            <a:r>
              <a:rPr lang="zh-CN" altLang="en-US" sz="1000" b="1" dirty="0">
                <a:solidFill>
                  <a:srgbClr val="383838"/>
                </a:solidFill>
                <a:latin typeface="微软雅黑"/>
                <a:ea typeface="微软雅黑"/>
                <a:cs typeface="微软雅黑"/>
              </a:rPr>
              <a:t>业务管理看板</a:t>
            </a:r>
            <a:endParaRPr lang="zh-CN" altLang="en-US" sz="1000" b="1" dirty="0">
              <a:solidFill>
                <a:srgbClr val="383838"/>
              </a:solidFill>
              <a:latin typeface="微软雅黑"/>
              <a:ea typeface="微软雅黑"/>
              <a:cs typeface="微软雅黑"/>
            </a:endParaRPr>
          </a:p>
        </p:txBody>
      </p:sp>
      <p:sp>
        <p:nvSpPr>
          <p:cNvPr id="43" name="紫荆的职场Point22"/>
          <p:cNvSpPr txBox="1"/>
          <p:nvPr/>
        </p:nvSpPr>
        <p:spPr>
          <a:xfrm>
            <a:off x="9613265" y="3697605"/>
            <a:ext cx="2047240" cy="337185"/>
          </a:xfrm>
          <a:prstGeom prst="rect">
            <a:avLst/>
          </a:prstGeom>
          <a:noFill/>
        </p:spPr>
        <p:txBody>
          <a:bodyPr wrap="square" lIns="0" rIns="0" tIns="0" bIns="0" anchor="t">
            <a:noAutofit/>
          </a:bodyPr>
          <a:lstStyle/>
          <a:p>
            <a:pPr algn="l">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解决历史线下查看数据的滞后性，对业务数据实时掌握</a:t>
            </a:r>
            <a:endParaRPr lang="zh-CN" altLang="en-US" sz="1000" dirty="0">
              <a:solidFill>
                <a:srgbClr val="383838"/>
              </a:solidFill>
              <a:latin typeface="微软雅黑"/>
              <a:ea typeface="微软雅黑"/>
              <a:cs typeface="微软雅黑"/>
            </a:endParaRPr>
          </a:p>
        </p:txBody>
      </p:sp>
      <p:sp>
        <p:nvSpPr>
          <p:cNvPr id="44" name="圆角矩形 43"/>
          <p:cNvSpPr/>
          <p:nvPr/>
        </p:nvSpPr>
        <p:spPr>
          <a:xfrm>
            <a:off x="9689465" y="4101783"/>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5" name="圆角矩形 44"/>
          <p:cNvSpPr/>
          <p:nvPr/>
        </p:nvSpPr>
        <p:spPr>
          <a:xfrm>
            <a:off x="9689465" y="435610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6" name="圆角矩形 45"/>
          <p:cNvSpPr/>
          <p:nvPr/>
        </p:nvSpPr>
        <p:spPr>
          <a:xfrm>
            <a:off x="9689465" y="460502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7" name="圆角矩形 46"/>
          <p:cNvSpPr/>
          <p:nvPr/>
        </p:nvSpPr>
        <p:spPr>
          <a:xfrm>
            <a:off x="10690225" y="4101783"/>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8" name="圆角矩形 47"/>
          <p:cNvSpPr/>
          <p:nvPr/>
        </p:nvSpPr>
        <p:spPr>
          <a:xfrm>
            <a:off x="10690225" y="435610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9" name="圆角矩形 48"/>
          <p:cNvSpPr/>
          <p:nvPr/>
        </p:nvSpPr>
        <p:spPr>
          <a:xfrm>
            <a:off x="10690225" y="4605020"/>
            <a:ext cx="805180" cy="18097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0" name="紫荆的职场Point22"/>
          <p:cNvSpPr txBox="1"/>
          <p:nvPr/>
        </p:nvSpPr>
        <p:spPr>
          <a:xfrm>
            <a:off x="9787255" y="4107498"/>
            <a:ext cx="609600" cy="169545"/>
          </a:xfrm>
          <a:prstGeom prst="rect">
            <a:avLst/>
          </a:prstGeom>
          <a:noFill/>
        </p:spPr>
        <p:txBody>
          <a:bodyPr wrap="square" anchor="ctr" anchorCtr="0" lIns="0" rIns="0" tIns="0" bIns="0">
            <a:noAutofit/>
          </a:bodyPr>
          <a:lstStyle/>
          <a:p>
            <a:pPr algn="l">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计划管理</a:t>
            </a:r>
            <a:endParaRPr lang="zh-CN" altLang="en-US" sz="1000" dirty="0">
              <a:solidFill>
                <a:srgbClr val="383838"/>
              </a:solidFill>
              <a:latin typeface="微软雅黑"/>
              <a:ea typeface="微软雅黑"/>
              <a:cs typeface="微软雅黑"/>
            </a:endParaRPr>
          </a:p>
        </p:txBody>
      </p:sp>
      <p:sp>
        <p:nvSpPr>
          <p:cNvPr id="51" name="紫荆的职场Point22"/>
          <p:cNvSpPr txBox="1"/>
          <p:nvPr/>
        </p:nvSpPr>
        <p:spPr>
          <a:xfrm>
            <a:off x="9726295" y="4361815"/>
            <a:ext cx="726440"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原料管理</a:t>
            </a:r>
            <a:endParaRPr lang="zh-CN" altLang="en-US" sz="1000" dirty="0">
              <a:solidFill>
                <a:srgbClr val="383838"/>
              </a:solidFill>
              <a:latin typeface="微软雅黑"/>
              <a:ea typeface="微软雅黑"/>
              <a:cs typeface="微软雅黑"/>
            </a:endParaRPr>
          </a:p>
        </p:txBody>
      </p:sp>
      <p:sp>
        <p:nvSpPr>
          <p:cNvPr id="52" name="紫荆的职场Point22"/>
          <p:cNvSpPr txBox="1"/>
          <p:nvPr/>
        </p:nvSpPr>
        <p:spPr>
          <a:xfrm>
            <a:off x="9726295" y="4610735"/>
            <a:ext cx="726440"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质量管理</a:t>
            </a:r>
            <a:endParaRPr lang="zh-CN" altLang="en-US" sz="1000" dirty="0">
              <a:solidFill>
                <a:srgbClr val="383838"/>
              </a:solidFill>
              <a:latin typeface="微软雅黑"/>
              <a:ea typeface="微软雅黑"/>
              <a:cs typeface="微软雅黑"/>
            </a:endParaRPr>
          </a:p>
        </p:txBody>
      </p:sp>
      <p:sp>
        <p:nvSpPr>
          <p:cNvPr id="53" name="紫荆的职场Point22"/>
          <p:cNvSpPr txBox="1"/>
          <p:nvPr/>
        </p:nvSpPr>
        <p:spPr>
          <a:xfrm>
            <a:off x="10639425" y="4107815"/>
            <a:ext cx="941705"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库存管理</a:t>
            </a:r>
            <a:endParaRPr lang="zh-CN" altLang="en-US" sz="1000" dirty="0">
              <a:solidFill>
                <a:srgbClr val="383838"/>
              </a:solidFill>
              <a:latin typeface="微软雅黑"/>
              <a:ea typeface="微软雅黑"/>
              <a:cs typeface="微软雅黑"/>
            </a:endParaRPr>
          </a:p>
        </p:txBody>
      </p:sp>
      <p:sp>
        <p:nvSpPr>
          <p:cNvPr id="54" name="紫荆的职场Point22"/>
          <p:cNvSpPr txBox="1"/>
          <p:nvPr/>
        </p:nvSpPr>
        <p:spPr>
          <a:xfrm>
            <a:off x="10633710" y="4361815"/>
            <a:ext cx="941705"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生产日报</a:t>
            </a:r>
            <a:endParaRPr lang="zh-CN" altLang="en-US" sz="1000" dirty="0">
              <a:solidFill>
                <a:srgbClr val="383838"/>
              </a:solidFill>
              <a:latin typeface="微软雅黑"/>
              <a:ea typeface="微软雅黑"/>
              <a:cs typeface="微软雅黑"/>
            </a:endParaRPr>
          </a:p>
        </p:txBody>
      </p:sp>
      <p:sp>
        <p:nvSpPr>
          <p:cNvPr id="55" name="紫荆的职场Point22"/>
          <p:cNvSpPr txBox="1"/>
          <p:nvPr/>
        </p:nvSpPr>
        <p:spPr>
          <a:xfrm>
            <a:off x="10788015" y="4585335"/>
            <a:ext cx="609600" cy="169545"/>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p:txBody>
      </p:sp>
      <p:grpSp>
        <p:nvGrpSpPr>
          <p:cNvPr id="311" name="组合 310"/>
          <p:cNvGrpSpPr/>
          <p:nvPr/>
        </p:nvGrpSpPr>
        <p:grpSpPr>
          <a:xfrm>
            <a:off x="9738360" y="2649855"/>
            <a:ext cx="942340" cy="516890"/>
            <a:chOff x="15089" y="4365"/>
            <a:chExt cx="1484" cy="814"/>
          </a:xfrm>
        </p:grpSpPr>
        <p:sp>
          <p:nvSpPr>
            <p:cNvPr id="56" name="紫荆的职场Point22"/>
            <p:cNvSpPr txBox="1"/>
            <p:nvPr/>
          </p:nvSpPr>
          <p:spPr>
            <a:xfrm>
              <a:off x="15127" y="4365"/>
              <a:ext cx="1408" cy="337"/>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平台活跃用户数</a:t>
              </a:r>
              <a:endParaRPr lang="zh-CN" altLang="en-US" sz="1000" b="1" dirty="0">
                <a:solidFill>
                  <a:srgbClr val="383838"/>
                </a:solidFill>
                <a:latin typeface="微软雅黑"/>
                <a:ea typeface="微软雅黑"/>
                <a:cs typeface="微软雅黑"/>
              </a:endParaRPr>
            </a:p>
          </p:txBody>
        </p:sp>
        <p:sp>
          <p:nvSpPr>
            <p:cNvPr id="57" name="紫荆的职场Point22"/>
            <p:cNvSpPr txBox="1"/>
            <p:nvPr/>
          </p:nvSpPr>
          <p:spPr>
            <a:xfrm>
              <a:off x="15089" y="4599"/>
              <a:ext cx="1484" cy="580"/>
            </a:xfrm>
            <a:prstGeom prst="rect">
              <a:avLst/>
            </a:prstGeom>
            <a:noFill/>
          </p:spPr>
          <p:txBody>
            <a:bodyPr wrap="square" lIns="0" rIns="0" tIns="0" bIns="0">
              <a:spAutoFit/>
            </a:bodyPr>
            <a:lstStyle/>
            <a:p>
              <a:pPr algn="ctr">
                <a:defRPr>
                  <a:latin typeface="微软雅黑"/>
                  <a:ea typeface="微软雅黑"/>
                  <a:cs typeface="微软雅黑"/>
                </a:defRPr>
              </a:pPr>
              <a:r>
                <a:rPr lang="en-US" altLang="zh-CN" b="1" dirty="0">
                  <a:solidFill>
                    <a:srgbClr val="0042FF"/>
                  </a:solidFill>
                  <a:latin typeface="微软雅黑"/>
                  <a:ea typeface="微软雅黑"/>
                  <a:cs typeface="微软雅黑"/>
                </a:rPr>
                <a:t>500+</a:t>
              </a:r>
              <a:endParaRPr lang="en-US" altLang="zh-CN" b="1" dirty="0">
                <a:solidFill>
                  <a:srgbClr val="0042FF"/>
                </a:solidFill>
                <a:latin typeface="微软雅黑"/>
                <a:ea typeface="微软雅黑"/>
                <a:cs typeface="微软雅黑"/>
              </a:endParaRPr>
            </a:p>
          </p:txBody>
        </p:sp>
      </p:grpSp>
      <p:grpSp>
        <p:nvGrpSpPr>
          <p:cNvPr id="310" name="组合 309"/>
          <p:cNvGrpSpPr/>
          <p:nvPr/>
        </p:nvGrpSpPr>
        <p:grpSpPr>
          <a:xfrm>
            <a:off x="9668510" y="1921510"/>
            <a:ext cx="1082040" cy="516890"/>
            <a:chOff x="15113" y="3204"/>
            <a:chExt cx="1704" cy="814"/>
          </a:xfrm>
        </p:grpSpPr>
        <p:sp>
          <p:nvSpPr>
            <p:cNvPr id="58" name="紫荆的职场Point22"/>
            <p:cNvSpPr txBox="1"/>
            <p:nvPr/>
          </p:nvSpPr>
          <p:spPr>
            <a:xfrm>
              <a:off x="15261" y="3204"/>
              <a:ext cx="1408" cy="337"/>
            </a:xfrm>
            <a:prstGeom prst="rect">
              <a:avLst/>
            </a:prstGeom>
            <a:noFill/>
          </p:spPr>
          <p:txBody>
            <a:bodyPr wrap="square" lIns="0" rIns="0" tIns="0" bIns="0" anchor="t">
              <a:noAutofit/>
            </a:bodyPr>
            <a:lstStyle/>
            <a:p>
              <a:pPr algn="l">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平台月均访问量</a:t>
              </a:r>
              <a:endParaRPr lang="zh-CN" altLang="en-US" sz="1000" b="1" dirty="0">
                <a:solidFill>
                  <a:srgbClr val="383838"/>
                </a:solidFill>
                <a:latin typeface="微软雅黑"/>
                <a:ea typeface="微软雅黑"/>
                <a:cs typeface="微软雅黑"/>
              </a:endParaRPr>
            </a:p>
          </p:txBody>
        </p:sp>
        <p:sp>
          <p:nvSpPr>
            <p:cNvPr id="59" name="紫荆的职场Point22"/>
            <p:cNvSpPr txBox="1"/>
            <p:nvPr/>
          </p:nvSpPr>
          <p:spPr>
            <a:xfrm>
              <a:off x="15113" y="3438"/>
              <a:ext cx="1704" cy="580"/>
            </a:xfrm>
            <a:prstGeom prst="rect">
              <a:avLst/>
            </a:prstGeom>
            <a:noFill/>
          </p:spPr>
          <p:txBody>
            <a:bodyPr wrap="square" lIns="0" rIns="0" tIns="0" bIns="0">
              <a:spAutoFit/>
            </a:bodyPr>
            <a:lstStyle/>
            <a:p>
              <a:pPr algn="ctr">
                <a:defRPr>
                  <a:latin typeface="微软雅黑"/>
                  <a:ea typeface="微软雅黑"/>
                  <a:cs typeface="微软雅黑"/>
                </a:defRPr>
              </a:pPr>
              <a:r>
                <a:rPr lang="en-US" altLang="zh-CN" b="1" dirty="0">
                  <a:solidFill>
                    <a:srgbClr val="0042FF"/>
                  </a:solidFill>
                  <a:latin typeface="微软雅黑"/>
                  <a:ea typeface="微软雅黑"/>
                  <a:cs typeface="微软雅黑"/>
                </a:rPr>
                <a:t>30000+</a:t>
              </a:r>
              <a:endParaRPr lang="en-US" altLang="zh-CN" b="1" dirty="0">
                <a:solidFill>
                  <a:srgbClr val="0042FF"/>
                </a:solidFill>
                <a:latin typeface="微软雅黑"/>
                <a:ea typeface="微软雅黑"/>
                <a:cs typeface="微软雅黑"/>
              </a:endParaRPr>
            </a:p>
          </p:txBody>
        </p:sp>
      </p:grpSp>
      <p:grpSp>
        <p:nvGrpSpPr>
          <p:cNvPr id="309" name="组合 308"/>
          <p:cNvGrpSpPr/>
          <p:nvPr/>
        </p:nvGrpSpPr>
        <p:grpSpPr>
          <a:xfrm>
            <a:off x="9813290" y="1163003"/>
            <a:ext cx="792480" cy="516890"/>
            <a:chOff x="15327" y="2012"/>
            <a:chExt cx="1248" cy="814"/>
          </a:xfrm>
        </p:grpSpPr>
        <p:sp>
          <p:nvSpPr>
            <p:cNvPr id="60" name="紫荆的职场Point22"/>
            <p:cNvSpPr txBox="1"/>
            <p:nvPr/>
          </p:nvSpPr>
          <p:spPr>
            <a:xfrm>
              <a:off x="15327" y="2012"/>
              <a:ext cx="1248" cy="337"/>
            </a:xfrm>
            <a:prstGeom prst="rect">
              <a:avLst/>
            </a:prstGeom>
            <a:noFill/>
          </p:spPr>
          <p:txBody>
            <a:bodyPr wrap="square" lIns="0" rIns="0" tIns="0" bIns="0" anchor="t">
              <a:noAutofit/>
            </a:bodyPr>
            <a:lstStyle/>
            <a:p>
              <a:pPr algn="l">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平台报表总量</a:t>
              </a:r>
              <a:endParaRPr lang="zh-CN" altLang="en-US" sz="1000" b="1" dirty="0">
                <a:solidFill>
                  <a:srgbClr val="383838"/>
                </a:solidFill>
                <a:latin typeface="微软雅黑"/>
                <a:ea typeface="微软雅黑"/>
                <a:cs typeface="微软雅黑"/>
              </a:endParaRPr>
            </a:p>
          </p:txBody>
        </p:sp>
        <p:sp>
          <p:nvSpPr>
            <p:cNvPr id="61" name="紫荆的职场Point22"/>
            <p:cNvSpPr txBox="1"/>
            <p:nvPr/>
          </p:nvSpPr>
          <p:spPr>
            <a:xfrm>
              <a:off x="15329" y="2246"/>
              <a:ext cx="1244" cy="580"/>
            </a:xfrm>
            <a:prstGeom prst="rect">
              <a:avLst/>
            </a:prstGeom>
            <a:noFill/>
          </p:spPr>
          <p:txBody>
            <a:bodyPr wrap="square" lIns="0" rIns="0" tIns="0" bIns="0">
              <a:spAutoFit/>
            </a:bodyPr>
            <a:lstStyle/>
            <a:p>
              <a:pPr algn="l">
                <a:defRPr>
                  <a:latin typeface="微软雅黑"/>
                  <a:ea typeface="微软雅黑"/>
                  <a:cs typeface="微软雅黑"/>
                </a:defRPr>
              </a:pPr>
              <a:r>
                <a:rPr lang="en-US" altLang="zh-CN" b="1" dirty="0">
                  <a:solidFill>
                    <a:srgbClr val="0042FF"/>
                  </a:solidFill>
                  <a:latin typeface="微软雅黑"/>
                  <a:ea typeface="微软雅黑"/>
                  <a:cs typeface="微软雅黑"/>
                </a:rPr>
                <a:t>300+</a:t>
              </a:r>
              <a:endParaRPr lang="en-US" altLang="zh-CN" b="1" dirty="0">
                <a:solidFill>
                  <a:srgbClr val="0042FF"/>
                </a:solidFill>
                <a:latin typeface="微软雅黑"/>
                <a:ea typeface="微软雅黑"/>
                <a:cs typeface="微软雅黑"/>
              </a:endParaRPr>
            </a:p>
          </p:txBody>
        </p:sp>
      </p:grpSp>
      <p:grpSp>
        <p:nvGrpSpPr>
          <p:cNvPr id="69" name="组合 68"/>
          <p:cNvGrpSpPr/>
          <p:nvPr/>
        </p:nvGrpSpPr>
        <p:grpSpPr>
          <a:xfrm>
            <a:off x="506095" y="5988685"/>
            <a:ext cx="1706245" cy="452120"/>
            <a:chOff x="328" y="9755"/>
            <a:chExt cx="2687" cy="712"/>
          </a:xfrm>
        </p:grpSpPr>
        <p:grpSp>
          <p:nvGrpSpPr>
            <p:cNvPr id="67" name="组合 66"/>
            <p:cNvGrpSpPr/>
            <p:nvPr/>
          </p:nvGrpSpPr>
          <p:grpSpPr>
            <a:xfrm>
              <a:off x="328" y="9755"/>
              <a:ext cx="1913" cy="712"/>
              <a:chOff x="-2310" y="6539"/>
              <a:chExt cx="2512" cy="825"/>
            </a:xfrm>
          </p:grpSpPr>
          <p:grpSp>
            <p:nvGrpSpPr>
              <p:cNvPr id="62" name="组合 61"/>
              <p:cNvGrpSpPr/>
              <p:nvPr/>
            </p:nvGrpSpPr>
            <p:grpSpPr>
              <a:xfrm>
                <a:off x="-2310" y="6539"/>
                <a:ext cx="2512" cy="825"/>
                <a:chOff x="4274289" y="1858897"/>
                <a:chExt cx="2363227" cy="764679"/>
              </a:xfrm>
            </p:grpSpPr>
            <p:sp>
              <p:nvSpPr>
                <p:cNvPr id="63" name="任意形状 166"/>
                <p:cNvSpPr/>
                <p:nvPr/>
              </p:nvSpPr>
              <p:spPr>
                <a:xfrm>
                  <a:off x="4274289" y="1858897"/>
                  <a:ext cx="2363227" cy="764679"/>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gradFill flip="none" rotWithShape="1">
                  <a:gsLst>
                    <a:gs pos="0">
                      <a:srgbClr val="3368FF"/>
                    </a:gs>
                    <a:gs pos="99000">
                      <a:srgbClr val="3368FF"/>
                    </a:gs>
                  </a:gsLst>
                  <a:lin ang="0" scaled="1"/>
                  <a:tileRect/>
                </a:gradFill>
                <a:ln>
                  <a:noFill/>
                </a:ln>
                <a:effectLst>
                  <a:outerShdw blurRad="1270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65" name="任意形状 171"/>
                <p:cNvSpPr/>
                <p:nvPr/>
              </p:nvSpPr>
              <p:spPr>
                <a:xfrm>
                  <a:off x="4362513" y="1959137"/>
                  <a:ext cx="2186778" cy="564197"/>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noFill/>
                <a:ln w="635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grpSp>
          <p:sp>
            <p:nvSpPr>
              <p:cNvPr id="66" name="文本框 65"/>
              <p:cNvSpPr txBox="1"/>
              <p:nvPr/>
            </p:nvSpPr>
            <p:spPr>
              <a:xfrm>
                <a:off x="-2012" y="6714"/>
                <a:ext cx="1917" cy="47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en-US" altLang="zh-CN" sz="1100" b="1">
                    <a:solidFill>
                      <a:srgbClr val="FFFFFF"/>
                    </a:solidFill>
                    <a:latin typeface="微软雅黑"/>
                    <a:ea typeface="微软雅黑"/>
                    <a:cs typeface="微软雅黑"/>
                  </a:rPr>
                  <a:t>IT</a:t>
                </a:r>
                <a:r>
                  <a:rPr lang="zh-CN" altLang="en-US" sz="1100" b="1">
                    <a:solidFill>
                      <a:srgbClr val="FFFFFF"/>
                    </a:solidFill>
                    <a:latin typeface="微软雅黑"/>
                    <a:ea typeface="微软雅黑"/>
                    <a:cs typeface="微软雅黑"/>
                  </a:rPr>
                  <a:t>基础设施</a:t>
                </a:r>
                <a:endParaRPr lang="zh-CN" altLang="en-US" sz="1100" b="1" dirty="0">
                  <a:solidFill>
                    <a:srgbClr val="FFFFFF"/>
                  </a:solidFill>
                  <a:latin typeface="微软雅黑"/>
                  <a:ea typeface="微软雅黑"/>
                  <a:cs typeface="微软雅黑"/>
                </a:endParaRPr>
              </a:p>
            </p:txBody>
          </p:sp>
        </p:grpSp>
        <p:cxnSp>
          <p:nvCxnSpPr>
            <p:cNvPr id="68" name="直接连接符 67"/>
            <p:cNvCxnSpPr>
              <a:stCxn id="63" idx="3"/>
            </p:cNvCxnSpPr>
            <p:nvPr/>
          </p:nvCxnSpPr>
          <p:spPr>
            <a:xfrm>
              <a:off x="2191" y="10111"/>
              <a:ext cx="824" cy="0"/>
            </a:xfrm>
            <a:prstGeom prst="line">
              <a:avLst/>
            </a:prstGeom>
            <a:ln>
              <a:gradFill>
                <a:gsLst>
                  <a:gs pos="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grpSp>
      <p:grpSp>
        <p:nvGrpSpPr>
          <p:cNvPr id="70" name="组合 69"/>
          <p:cNvGrpSpPr/>
          <p:nvPr/>
        </p:nvGrpSpPr>
        <p:grpSpPr>
          <a:xfrm>
            <a:off x="506095" y="5128895"/>
            <a:ext cx="1706245" cy="452120"/>
            <a:chOff x="328" y="9755"/>
            <a:chExt cx="2687" cy="712"/>
          </a:xfrm>
        </p:grpSpPr>
        <p:grpSp>
          <p:nvGrpSpPr>
            <p:cNvPr id="71" name="组合 70"/>
            <p:cNvGrpSpPr/>
            <p:nvPr/>
          </p:nvGrpSpPr>
          <p:grpSpPr>
            <a:xfrm>
              <a:off x="328" y="9755"/>
              <a:ext cx="1913" cy="712"/>
              <a:chOff x="-2310" y="6539"/>
              <a:chExt cx="2512" cy="825"/>
            </a:xfrm>
          </p:grpSpPr>
          <p:grpSp>
            <p:nvGrpSpPr>
              <p:cNvPr id="74" name="组合 73"/>
              <p:cNvGrpSpPr/>
              <p:nvPr/>
            </p:nvGrpSpPr>
            <p:grpSpPr>
              <a:xfrm>
                <a:off x="-2310" y="6539"/>
                <a:ext cx="2512" cy="825"/>
                <a:chOff x="4274289" y="1858897"/>
                <a:chExt cx="2363227" cy="764679"/>
              </a:xfrm>
            </p:grpSpPr>
            <p:sp>
              <p:nvSpPr>
                <p:cNvPr id="75" name="任意形状 166"/>
                <p:cNvSpPr/>
                <p:nvPr/>
              </p:nvSpPr>
              <p:spPr>
                <a:xfrm>
                  <a:off x="4274289" y="1858897"/>
                  <a:ext cx="2363227" cy="764679"/>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gradFill flip="none" rotWithShape="1">
                  <a:gsLst>
                    <a:gs pos="0">
                      <a:srgbClr val="3368FF"/>
                    </a:gs>
                    <a:gs pos="99000">
                      <a:srgbClr val="3368FF"/>
                    </a:gs>
                  </a:gsLst>
                  <a:lin ang="0" scaled="1"/>
                  <a:tileRect/>
                </a:gradFill>
                <a:ln>
                  <a:noFill/>
                </a:ln>
                <a:effectLst>
                  <a:outerShdw blurRad="1270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76" name="任意形状 171"/>
                <p:cNvSpPr/>
                <p:nvPr/>
              </p:nvSpPr>
              <p:spPr>
                <a:xfrm>
                  <a:off x="4362513" y="1959137"/>
                  <a:ext cx="2186778" cy="564197"/>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noFill/>
                <a:ln w="635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grpSp>
          <p:sp>
            <p:nvSpPr>
              <p:cNvPr id="77" name="文本框 76"/>
              <p:cNvSpPr txBox="1"/>
              <p:nvPr/>
            </p:nvSpPr>
            <p:spPr>
              <a:xfrm>
                <a:off x="-2124" y="6714"/>
                <a:ext cx="2119" cy="47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sz="1100" b="1">
                    <a:solidFill>
                      <a:srgbClr val="FFFFFF"/>
                    </a:solidFill>
                    <a:latin typeface="微软雅黑"/>
                    <a:ea typeface="微软雅黑"/>
                    <a:cs typeface="微软雅黑"/>
                  </a:rPr>
                  <a:t>大数据计算层</a:t>
                </a:r>
                <a:endParaRPr lang="zh-CN" sz="1100" b="1" dirty="0">
                  <a:solidFill>
                    <a:srgbClr val="FFFFFF"/>
                  </a:solidFill>
                  <a:latin typeface="微软雅黑"/>
                  <a:ea typeface="微软雅黑"/>
                  <a:cs typeface="微软雅黑"/>
                </a:endParaRPr>
              </a:p>
            </p:txBody>
          </p:sp>
        </p:grpSp>
        <p:cxnSp>
          <p:nvCxnSpPr>
            <p:cNvPr id="78" name="直接连接符 77"/>
            <p:cNvCxnSpPr>
              <a:stCxn id="75" idx="3"/>
            </p:cNvCxnSpPr>
            <p:nvPr/>
          </p:nvCxnSpPr>
          <p:spPr>
            <a:xfrm>
              <a:off x="2191" y="10111"/>
              <a:ext cx="824" cy="0"/>
            </a:xfrm>
            <a:prstGeom prst="line">
              <a:avLst/>
            </a:prstGeom>
            <a:ln>
              <a:gradFill>
                <a:gsLst>
                  <a:gs pos="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grpSp>
      <p:grpSp>
        <p:nvGrpSpPr>
          <p:cNvPr id="79" name="组合 78"/>
          <p:cNvGrpSpPr/>
          <p:nvPr/>
        </p:nvGrpSpPr>
        <p:grpSpPr>
          <a:xfrm>
            <a:off x="506095" y="3830955"/>
            <a:ext cx="1706245" cy="452120"/>
            <a:chOff x="328" y="9755"/>
            <a:chExt cx="2687" cy="712"/>
          </a:xfrm>
        </p:grpSpPr>
        <p:grpSp>
          <p:nvGrpSpPr>
            <p:cNvPr id="81" name="组合 80"/>
            <p:cNvGrpSpPr/>
            <p:nvPr/>
          </p:nvGrpSpPr>
          <p:grpSpPr>
            <a:xfrm>
              <a:off x="328" y="9755"/>
              <a:ext cx="1913" cy="712"/>
              <a:chOff x="-2310" y="6539"/>
              <a:chExt cx="2512" cy="825"/>
            </a:xfrm>
          </p:grpSpPr>
          <p:grpSp>
            <p:nvGrpSpPr>
              <p:cNvPr id="82" name="组合 81"/>
              <p:cNvGrpSpPr/>
              <p:nvPr/>
            </p:nvGrpSpPr>
            <p:grpSpPr>
              <a:xfrm>
                <a:off x="-2310" y="6539"/>
                <a:ext cx="2512" cy="825"/>
                <a:chOff x="4274289" y="1858897"/>
                <a:chExt cx="2363227" cy="764679"/>
              </a:xfrm>
            </p:grpSpPr>
            <p:sp>
              <p:nvSpPr>
                <p:cNvPr id="83" name="任意形状 166"/>
                <p:cNvSpPr/>
                <p:nvPr/>
              </p:nvSpPr>
              <p:spPr>
                <a:xfrm>
                  <a:off x="4274289" y="1858897"/>
                  <a:ext cx="2363227" cy="764679"/>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gradFill flip="none" rotWithShape="1">
                  <a:gsLst>
                    <a:gs pos="0">
                      <a:srgbClr val="3368FF"/>
                    </a:gs>
                    <a:gs pos="99000">
                      <a:srgbClr val="3368FF"/>
                    </a:gs>
                  </a:gsLst>
                  <a:lin ang="0" scaled="1"/>
                  <a:tileRect/>
                </a:gradFill>
                <a:ln>
                  <a:noFill/>
                </a:ln>
                <a:effectLst>
                  <a:outerShdw blurRad="1270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84" name="任意形状 171"/>
                <p:cNvSpPr/>
                <p:nvPr/>
              </p:nvSpPr>
              <p:spPr>
                <a:xfrm>
                  <a:off x="4362513" y="1959137"/>
                  <a:ext cx="2186778" cy="564197"/>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noFill/>
                <a:ln w="635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grpSp>
          <p:sp>
            <p:nvSpPr>
              <p:cNvPr id="85" name="文本框 84"/>
              <p:cNvSpPr txBox="1"/>
              <p:nvPr/>
            </p:nvSpPr>
            <p:spPr>
              <a:xfrm>
                <a:off x="-2124" y="6714"/>
                <a:ext cx="2119" cy="47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sz="1100" b="1">
                    <a:solidFill>
                      <a:srgbClr val="FFFFFF"/>
                    </a:solidFill>
                    <a:latin typeface="微软雅黑"/>
                    <a:ea typeface="微软雅黑"/>
                    <a:cs typeface="微软雅黑"/>
                  </a:rPr>
                  <a:t>大数据共享层</a:t>
                </a:r>
                <a:endParaRPr lang="zh-CN" sz="1100" b="1" dirty="0">
                  <a:solidFill>
                    <a:srgbClr val="FFFFFF"/>
                  </a:solidFill>
                  <a:latin typeface="微软雅黑"/>
                  <a:ea typeface="微软雅黑"/>
                  <a:cs typeface="微软雅黑"/>
                </a:endParaRPr>
              </a:p>
            </p:txBody>
          </p:sp>
        </p:grpSp>
        <p:cxnSp>
          <p:nvCxnSpPr>
            <p:cNvPr id="86" name="直接连接符 85"/>
            <p:cNvCxnSpPr>
              <a:stCxn id="83" idx="3"/>
            </p:cNvCxnSpPr>
            <p:nvPr/>
          </p:nvCxnSpPr>
          <p:spPr>
            <a:xfrm>
              <a:off x="2191" y="10111"/>
              <a:ext cx="824" cy="0"/>
            </a:xfrm>
            <a:prstGeom prst="line">
              <a:avLst/>
            </a:prstGeom>
            <a:ln>
              <a:gradFill>
                <a:gsLst>
                  <a:gs pos="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grpSp>
      <p:grpSp>
        <p:nvGrpSpPr>
          <p:cNvPr id="87" name="组合 86"/>
          <p:cNvGrpSpPr/>
          <p:nvPr/>
        </p:nvGrpSpPr>
        <p:grpSpPr>
          <a:xfrm>
            <a:off x="506095" y="2332990"/>
            <a:ext cx="1706245" cy="452120"/>
            <a:chOff x="328" y="9755"/>
            <a:chExt cx="2687" cy="712"/>
          </a:xfrm>
        </p:grpSpPr>
        <p:grpSp>
          <p:nvGrpSpPr>
            <p:cNvPr id="88" name="组合 87"/>
            <p:cNvGrpSpPr/>
            <p:nvPr/>
          </p:nvGrpSpPr>
          <p:grpSpPr>
            <a:xfrm>
              <a:off x="328" y="9755"/>
              <a:ext cx="1913" cy="712"/>
              <a:chOff x="-2310" y="6539"/>
              <a:chExt cx="2512" cy="825"/>
            </a:xfrm>
          </p:grpSpPr>
          <p:grpSp>
            <p:nvGrpSpPr>
              <p:cNvPr id="89" name="组合 88"/>
              <p:cNvGrpSpPr/>
              <p:nvPr/>
            </p:nvGrpSpPr>
            <p:grpSpPr>
              <a:xfrm>
                <a:off x="-2310" y="6539"/>
                <a:ext cx="2512" cy="825"/>
                <a:chOff x="4274289" y="1858897"/>
                <a:chExt cx="2363227" cy="764679"/>
              </a:xfrm>
            </p:grpSpPr>
            <p:sp>
              <p:nvSpPr>
                <p:cNvPr id="90" name="任意形状 166"/>
                <p:cNvSpPr/>
                <p:nvPr/>
              </p:nvSpPr>
              <p:spPr>
                <a:xfrm>
                  <a:off x="4274289" y="1858897"/>
                  <a:ext cx="2363227" cy="764679"/>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gradFill flip="none" rotWithShape="1">
                  <a:gsLst>
                    <a:gs pos="0">
                      <a:srgbClr val="3368FF"/>
                    </a:gs>
                    <a:gs pos="99000">
                      <a:srgbClr val="3368FF"/>
                    </a:gs>
                  </a:gsLst>
                  <a:lin ang="0" scaled="1"/>
                  <a:tileRect/>
                </a:gradFill>
                <a:ln>
                  <a:noFill/>
                </a:ln>
                <a:effectLst>
                  <a:outerShdw blurRad="1270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91" name="任意形状 171"/>
                <p:cNvSpPr/>
                <p:nvPr/>
              </p:nvSpPr>
              <p:spPr>
                <a:xfrm>
                  <a:off x="4362513" y="1959137"/>
                  <a:ext cx="2186778" cy="564197"/>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noFill/>
                <a:ln w="635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grpSp>
          <p:sp>
            <p:nvSpPr>
              <p:cNvPr id="92" name="文本框 91"/>
              <p:cNvSpPr txBox="1"/>
              <p:nvPr/>
            </p:nvSpPr>
            <p:spPr>
              <a:xfrm>
                <a:off x="-2124" y="6714"/>
                <a:ext cx="2119" cy="47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sz="1100" b="1">
                    <a:solidFill>
                      <a:srgbClr val="FFFFFF"/>
                    </a:solidFill>
                    <a:latin typeface="微软雅黑"/>
                    <a:ea typeface="微软雅黑"/>
                    <a:cs typeface="微软雅黑"/>
                  </a:rPr>
                  <a:t>数据应用层</a:t>
                </a:r>
                <a:endParaRPr lang="zh-CN" sz="1100" b="1" dirty="0">
                  <a:solidFill>
                    <a:srgbClr val="FFFFFF"/>
                  </a:solidFill>
                  <a:latin typeface="微软雅黑"/>
                  <a:ea typeface="微软雅黑"/>
                  <a:cs typeface="微软雅黑"/>
                </a:endParaRPr>
              </a:p>
            </p:txBody>
          </p:sp>
        </p:grpSp>
        <p:cxnSp>
          <p:nvCxnSpPr>
            <p:cNvPr id="93" name="直接连接符 92"/>
            <p:cNvCxnSpPr>
              <a:stCxn id="90" idx="3"/>
            </p:cNvCxnSpPr>
            <p:nvPr/>
          </p:nvCxnSpPr>
          <p:spPr>
            <a:xfrm>
              <a:off x="2191" y="10111"/>
              <a:ext cx="824" cy="0"/>
            </a:xfrm>
            <a:prstGeom prst="line">
              <a:avLst/>
            </a:prstGeom>
            <a:ln>
              <a:gradFill>
                <a:gsLst>
                  <a:gs pos="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grpSp>
      <p:grpSp>
        <p:nvGrpSpPr>
          <p:cNvPr id="95" name="组合 94"/>
          <p:cNvGrpSpPr/>
          <p:nvPr/>
        </p:nvGrpSpPr>
        <p:grpSpPr>
          <a:xfrm>
            <a:off x="506095" y="1255395"/>
            <a:ext cx="1706245" cy="452120"/>
            <a:chOff x="328" y="9755"/>
            <a:chExt cx="2687" cy="712"/>
          </a:xfrm>
        </p:grpSpPr>
        <p:grpSp>
          <p:nvGrpSpPr>
            <p:cNvPr id="100" name="组合 99"/>
            <p:cNvGrpSpPr/>
            <p:nvPr/>
          </p:nvGrpSpPr>
          <p:grpSpPr>
            <a:xfrm>
              <a:off x="328" y="9755"/>
              <a:ext cx="1913" cy="712"/>
              <a:chOff x="-2310" y="6539"/>
              <a:chExt cx="2512" cy="825"/>
            </a:xfrm>
          </p:grpSpPr>
          <p:grpSp>
            <p:nvGrpSpPr>
              <p:cNvPr id="102" name="组合 101"/>
              <p:cNvGrpSpPr/>
              <p:nvPr/>
            </p:nvGrpSpPr>
            <p:grpSpPr>
              <a:xfrm>
                <a:off x="-2310" y="6539"/>
                <a:ext cx="2512" cy="825"/>
                <a:chOff x="4274289" y="1858897"/>
                <a:chExt cx="2363227" cy="764679"/>
              </a:xfrm>
            </p:grpSpPr>
            <p:sp>
              <p:nvSpPr>
                <p:cNvPr id="103" name="任意形状 166"/>
                <p:cNvSpPr/>
                <p:nvPr/>
              </p:nvSpPr>
              <p:spPr>
                <a:xfrm>
                  <a:off x="4274289" y="1858897"/>
                  <a:ext cx="2363227" cy="764679"/>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gradFill flip="none" rotWithShape="1">
                  <a:gsLst>
                    <a:gs pos="0">
                      <a:srgbClr val="3368FF"/>
                    </a:gs>
                    <a:gs pos="99000">
                      <a:srgbClr val="3368FF"/>
                    </a:gs>
                  </a:gsLst>
                  <a:lin ang="0" scaled="1"/>
                  <a:tileRect/>
                </a:gradFill>
                <a:ln>
                  <a:noFill/>
                </a:ln>
                <a:effectLst>
                  <a:outerShdw blurRad="1270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04" name="任意形状 171"/>
                <p:cNvSpPr/>
                <p:nvPr/>
              </p:nvSpPr>
              <p:spPr>
                <a:xfrm>
                  <a:off x="4362513" y="1959137"/>
                  <a:ext cx="2186778" cy="564197"/>
                </a:xfrm>
                <a:custGeom>
                  <a:avLst/>
                  <a:gdLst>
                    <a:gd name="connsiteX0" fmla="*/ 1 w 4073505"/>
                    <a:gd name="connsiteY0" fmla="*/ 0 h 763469"/>
                    <a:gd name="connsiteX1" fmla="*/ 4073505 w 4073505"/>
                    <a:gd name="connsiteY1" fmla="*/ 0 h 763469"/>
                    <a:gd name="connsiteX2" fmla="*/ 4034181 w 4073505"/>
                    <a:gd name="connsiteY2" fmla="*/ 68168 h 763469"/>
                    <a:gd name="connsiteX3" fmla="*/ 3967214 w 4073505"/>
                    <a:gd name="connsiteY3" fmla="*/ 381734 h 763469"/>
                    <a:gd name="connsiteX4" fmla="*/ 4034181 w 4073505"/>
                    <a:gd name="connsiteY4" fmla="*/ 695301 h 763469"/>
                    <a:gd name="connsiteX5" fmla="*/ 4073505 w 4073505"/>
                    <a:gd name="connsiteY5" fmla="*/ 763469 h 763469"/>
                    <a:gd name="connsiteX6" fmla="*/ 0 w 4073505"/>
                    <a:gd name="connsiteY6" fmla="*/ 763469 h 763469"/>
                    <a:gd name="connsiteX7" fmla="*/ 39324 w 4073505"/>
                    <a:gd name="connsiteY7" fmla="*/ 695301 h 763469"/>
                    <a:gd name="connsiteX8" fmla="*/ 106291 w 4073505"/>
                    <a:gd name="connsiteY8" fmla="*/ 381734 h 763469"/>
                    <a:gd name="connsiteX9" fmla="*/ 39324 w 4073505"/>
                    <a:gd name="connsiteY9" fmla="*/ 68168 h 76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3505" h="763469">
                      <a:moveTo>
                        <a:pt x="1" y="0"/>
                      </a:moveTo>
                      <a:lnTo>
                        <a:pt x="4073505" y="0"/>
                      </a:lnTo>
                      <a:lnTo>
                        <a:pt x="4034181" y="68168"/>
                      </a:lnTo>
                      <a:cubicBezTo>
                        <a:pt x="3991902" y="157677"/>
                        <a:pt x="3967214" y="265582"/>
                        <a:pt x="3967214" y="381734"/>
                      </a:cubicBezTo>
                      <a:cubicBezTo>
                        <a:pt x="3967214" y="497886"/>
                        <a:pt x="3991902" y="605791"/>
                        <a:pt x="4034181" y="695301"/>
                      </a:cubicBezTo>
                      <a:lnTo>
                        <a:pt x="4073505" y="763469"/>
                      </a:lnTo>
                      <a:lnTo>
                        <a:pt x="0" y="763469"/>
                      </a:lnTo>
                      <a:lnTo>
                        <a:pt x="39324" y="695301"/>
                      </a:lnTo>
                      <a:cubicBezTo>
                        <a:pt x="81604" y="605791"/>
                        <a:pt x="106291" y="497886"/>
                        <a:pt x="106291" y="381734"/>
                      </a:cubicBezTo>
                      <a:cubicBezTo>
                        <a:pt x="106291" y="265582"/>
                        <a:pt x="81604" y="157677"/>
                        <a:pt x="39324" y="68168"/>
                      </a:cubicBezTo>
                      <a:close/>
                    </a:path>
                  </a:pathLst>
                </a:custGeom>
                <a:noFill/>
                <a:ln w="635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grpSp>
          <p:sp>
            <p:nvSpPr>
              <p:cNvPr id="105" name="文本框 104"/>
              <p:cNvSpPr txBox="1"/>
              <p:nvPr/>
            </p:nvSpPr>
            <p:spPr>
              <a:xfrm>
                <a:off x="-2124" y="6714"/>
                <a:ext cx="2119" cy="47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sz="1100" b="1">
                    <a:solidFill>
                      <a:srgbClr val="FFFFFF"/>
                    </a:solidFill>
                    <a:latin typeface="微软雅黑"/>
                    <a:ea typeface="微软雅黑"/>
                    <a:cs typeface="微软雅黑"/>
                  </a:rPr>
                  <a:t>用户展示平台</a:t>
                </a:r>
                <a:endParaRPr lang="zh-CN" sz="1100" b="1" dirty="0">
                  <a:solidFill>
                    <a:srgbClr val="FFFFFF"/>
                  </a:solidFill>
                  <a:latin typeface="微软雅黑"/>
                  <a:ea typeface="微软雅黑"/>
                  <a:cs typeface="微软雅黑"/>
                </a:endParaRPr>
              </a:p>
            </p:txBody>
          </p:sp>
        </p:grpSp>
        <p:cxnSp>
          <p:nvCxnSpPr>
            <p:cNvPr id="106" name="直接连接符 105"/>
            <p:cNvCxnSpPr>
              <a:stCxn id="103" idx="3"/>
            </p:cNvCxnSpPr>
            <p:nvPr/>
          </p:nvCxnSpPr>
          <p:spPr>
            <a:xfrm>
              <a:off x="2191" y="10111"/>
              <a:ext cx="824" cy="0"/>
            </a:xfrm>
            <a:prstGeom prst="line">
              <a:avLst/>
            </a:prstGeom>
            <a:ln>
              <a:gradFill>
                <a:gsLst>
                  <a:gs pos="0">
                    <a:srgbClr val="3368FF"/>
                  </a:gs>
                  <a:gs pos="100000">
                    <a:srgbClr val="3368FF">
                      <a:alpha val="0"/>
                    </a:srgbClr>
                  </a:gs>
                </a:gsLst>
                <a:lin ang="10800000" scaled="1"/>
              </a:gradFill>
              <a:tailEnd type="oval"/>
            </a:ln>
          </p:spPr>
          <p:style>
            <a:lnRef idx="2">
              <a:srgbClr val="0042FF"/>
            </a:lnRef>
            <a:fillRef idx="0">
              <a:srgbClr val="FFFFFF"/>
            </a:fillRef>
            <a:effectRef idx="0">
              <a:srgbClr val="FFFFFF"/>
            </a:effectRef>
            <a:fontRef idx="minor">
              <a:srgbClr val="383838"/>
            </a:fontRef>
          </p:style>
        </p:cxnSp>
      </p:grpSp>
      <p:sp>
        <p:nvSpPr>
          <p:cNvPr id="109" name="文本框 108"/>
          <p:cNvSpPr txBox="1"/>
          <p:nvPr/>
        </p:nvSpPr>
        <p:spPr>
          <a:xfrm>
            <a:off x="4275773" y="6238240"/>
            <a:ext cx="1429385" cy="260350"/>
          </a:xfrm>
          <a:prstGeom prst="rect">
            <a:avLst/>
          </a:prstGeom>
          <a:noFill/>
        </p:spPr>
        <p:txBody>
          <a:bodyPr wrap="square" rtlCol="0">
            <a:spAutoFit/>
          </a:bodyPr>
          <a:lstStyle/>
          <a:p>
            <a:pPr algn="ctr">
              <a:defRPr>
                <a:latin typeface="微软雅黑"/>
                <a:ea typeface="微软雅黑"/>
                <a:cs typeface="微软雅黑"/>
              </a:defRPr>
            </a:pPr>
            <a:r>
              <a:rPr lang="zh-CN" altLang="en-US" sz="1100" b="1">
                <a:gradFill>
                  <a:gsLst>
                    <a:gs pos="0">
                      <a:srgbClr val="0042FF"/>
                    </a:gs>
                    <a:gs pos="100000">
                      <a:srgbClr val="0042FF"/>
                    </a:gs>
                  </a:gsLst>
                  <a:lin ang="5400000" scaled="0"/>
                </a:gradFill>
                <a:latin typeface="微软雅黑"/>
                <a:ea typeface="微软雅黑"/>
                <a:cs typeface="微软雅黑"/>
              </a:rPr>
              <a:t>企业</a:t>
            </a:r>
            <a:r>
              <a:rPr lang="en-US" altLang="zh-CN" sz="1100" b="1">
                <a:gradFill>
                  <a:gsLst>
                    <a:gs pos="0">
                      <a:srgbClr val="0042FF"/>
                    </a:gs>
                    <a:gs pos="100000">
                      <a:srgbClr val="0042FF"/>
                    </a:gs>
                  </a:gsLst>
                  <a:lin ang="5400000" scaled="0"/>
                </a:gradFill>
                <a:latin typeface="微软雅黑"/>
                <a:ea typeface="微软雅黑"/>
                <a:cs typeface="微软雅黑"/>
              </a:rPr>
              <a:t>IT</a:t>
            </a:r>
            <a:r>
              <a:rPr lang="zh-CN" altLang="en-US" sz="1100" b="1">
                <a:gradFill>
                  <a:gsLst>
                    <a:gs pos="0">
                      <a:srgbClr val="0042FF"/>
                    </a:gs>
                    <a:gs pos="100000">
                      <a:srgbClr val="0042FF"/>
                    </a:gs>
                  </a:gsLst>
                  <a:lin ang="5400000" scaled="0"/>
                </a:gradFill>
                <a:latin typeface="微软雅黑"/>
                <a:ea typeface="微软雅黑"/>
                <a:cs typeface="微软雅黑"/>
              </a:rPr>
              <a:t>基础设施</a:t>
            </a:r>
            <a:endParaRPr lang="zh-CN" altLang="en-US" sz="1100" b="1" dirty="0">
              <a:gradFill>
                <a:gsLst>
                  <a:gs pos="0">
                    <a:srgbClr val="0042FF"/>
                  </a:gs>
                  <a:gs pos="100000">
                    <a:srgbClr val="0042FF"/>
                  </a:gs>
                </a:gsLst>
                <a:lin ang="5400000" scaled="0"/>
              </a:gradFill>
              <a:latin typeface="微软雅黑"/>
              <a:ea typeface="微软雅黑"/>
              <a:cs typeface="微软雅黑"/>
            </a:endParaRPr>
          </a:p>
        </p:txBody>
      </p:sp>
      <p:grpSp>
        <p:nvGrpSpPr>
          <p:cNvPr id="115" name="组合 114"/>
          <p:cNvGrpSpPr/>
          <p:nvPr/>
        </p:nvGrpSpPr>
        <p:grpSpPr>
          <a:xfrm>
            <a:off x="2592705" y="5842635"/>
            <a:ext cx="805180" cy="180975"/>
            <a:chOff x="4131" y="9498"/>
            <a:chExt cx="1268" cy="285"/>
          </a:xfrm>
        </p:grpSpPr>
        <p:sp>
          <p:nvSpPr>
            <p:cNvPr id="113" name="圆角矩形 112"/>
            <p:cNvSpPr/>
            <p:nvPr/>
          </p:nvSpPr>
          <p:spPr>
            <a:xfrm>
              <a:off x="4131" y="9498"/>
              <a:ext cx="1268" cy="285"/>
            </a:xfrm>
            <a:prstGeom prst="roundRect">
              <a:avLst>
                <a:gd name="adj" fmla="val 50000"/>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4" name="紫荆的职场Point22"/>
            <p:cNvSpPr txBox="1"/>
            <p:nvPr/>
          </p:nvSpPr>
          <p:spPr>
            <a:xfrm>
              <a:off x="4210" y="9507"/>
              <a:ext cx="1110" cy="267"/>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服务器集群</a:t>
              </a:r>
              <a:endParaRPr lang="zh-CN" altLang="en-US" sz="1000" dirty="0">
                <a:solidFill>
                  <a:srgbClr val="383838"/>
                </a:solidFill>
                <a:latin typeface="微软雅黑"/>
                <a:ea typeface="微软雅黑"/>
                <a:cs typeface="微软雅黑"/>
              </a:endParaRPr>
            </a:p>
          </p:txBody>
        </p:sp>
      </p:grpSp>
      <p:grpSp>
        <p:nvGrpSpPr>
          <p:cNvPr id="116" name="组合 115"/>
          <p:cNvGrpSpPr/>
          <p:nvPr/>
        </p:nvGrpSpPr>
        <p:grpSpPr>
          <a:xfrm>
            <a:off x="3573780" y="5842635"/>
            <a:ext cx="805180" cy="180975"/>
            <a:chOff x="4131" y="9498"/>
            <a:chExt cx="1268" cy="285"/>
          </a:xfrm>
        </p:grpSpPr>
        <p:sp>
          <p:nvSpPr>
            <p:cNvPr id="117" name="圆角矩形 116"/>
            <p:cNvSpPr/>
            <p:nvPr/>
          </p:nvSpPr>
          <p:spPr>
            <a:xfrm>
              <a:off x="4131" y="9498"/>
              <a:ext cx="1268" cy="285"/>
            </a:xfrm>
            <a:prstGeom prst="roundRect">
              <a:avLst>
                <a:gd name="adj" fmla="val 50000"/>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8" name="紫荆的职场Point22"/>
            <p:cNvSpPr txBox="1"/>
            <p:nvPr/>
          </p:nvSpPr>
          <p:spPr>
            <a:xfrm>
              <a:off x="4210" y="9507"/>
              <a:ext cx="1110" cy="267"/>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存</a:t>
              </a:r>
              <a:r>
                <a:rPr lang="en-US" altLang="zh-CN" sz="1000" dirty="0">
                  <a:solidFill>
                    <a:srgbClr val="383838"/>
                  </a:solidFill>
                  <a:latin typeface="微软雅黑"/>
                  <a:ea typeface="微软雅黑"/>
                  <a:cs typeface="微软雅黑"/>
                </a:rPr>
                <a:t> </a:t>
              </a:r>
              <a:r>
                <a:rPr lang="zh-CN" altLang="en-US" sz="1000" dirty="0">
                  <a:solidFill>
                    <a:srgbClr val="383838"/>
                  </a:solidFill>
                  <a:latin typeface="微软雅黑"/>
                  <a:ea typeface="微软雅黑"/>
                  <a:cs typeface="微软雅黑"/>
                </a:rPr>
                <a:t>储</a:t>
              </a:r>
              <a:endParaRPr lang="zh-CN" altLang="en-US" sz="1000" dirty="0">
                <a:solidFill>
                  <a:srgbClr val="383838"/>
                </a:solidFill>
                <a:latin typeface="微软雅黑"/>
                <a:ea typeface="微软雅黑"/>
                <a:cs typeface="微软雅黑"/>
              </a:endParaRPr>
            </a:p>
          </p:txBody>
        </p:sp>
      </p:grpSp>
      <p:grpSp>
        <p:nvGrpSpPr>
          <p:cNvPr id="119" name="组合 118"/>
          <p:cNvGrpSpPr/>
          <p:nvPr/>
        </p:nvGrpSpPr>
        <p:grpSpPr>
          <a:xfrm>
            <a:off x="4554855" y="5842635"/>
            <a:ext cx="805180" cy="180975"/>
            <a:chOff x="4131" y="9498"/>
            <a:chExt cx="1268" cy="285"/>
          </a:xfrm>
        </p:grpSpPr>
        <p:sp>
          <p:nvSpPr>
            <p:cNvPr id="120" name="圆角矩形 119"/>
            <p:cNvSpPr/>
            <p:nvPr/>
          </p:nvSpPr>
          <p:spPr>
            <a:xfrm>
              <a:off x="4131" y="9498"/>
              <a:ext cx="1268" cy="285"/>
            </a:xfrm>
            <a:prstGeom prst="roundRect">
              <a:avLst>
                <a:gd name="adj" fmla="val 50000"/>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1" name="紫荆的职场Point22"/>
            <p:cNvSpPr txBox="1"/>
            <p:nvPr/>
          </p:nvSpPr>
          <p:spPr>
            <a:xfrm>
              <a:off x="4210" y="9507"/>
              <a:ext cx="1110" cy="267"/>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网络</a:t>
              </a:r>
              <a:endParaRPr lang="zh-CN" altLang="en-US" sz="1000" dirty="0">
                <a:solidFill>
                  <a:srgbClr val="383838"/>
                </a:solidFill>
                <a:latin typeface="微软雅黑"/>
                <a:ea typeface="微软雅黑"/>
                <a:cs typeface="微软雅黑"/>
              </a:endParaRPr>
            </a:p>
          </p:txBody>
        </p:sp>
      </p:grpSp>
      <p:grpSp>
        <p:nvGrpSpPr>
          <p:cNvPr id="122" name="组合 121"/>
          <p:cNvGrpSpPr/>
          <p:nvPr/>
        </p:nvGrpSpPr>
        <p:grpSpPr>
          <a:xfrm>
            <a:off x="6517005" y="5814060"/>
            <a:ext cx="805180" cy="209550"/>
            <a:chOff x="4131" y="9453"/>
            <a:chExt cx="1268" cy="330"/>
          </a:xfrm>
        </p:grpSpPr>
        <p:sp>
          <p:nvSpPr>
            <p:cNvPr id="123" name="圆角矩形 122"/>
            <p:cNvSpPr/>
            <p:nvPr/>
          </p:nvSpPr>
          <p:spPr>
            <a:xfrm>
              <a:off x="4131" y="9498"/>
              <a:ext cx="1268" cy="285"/>
            </a:xfrm>
            <a:prstGeom prst="roundRect">
              <a:avLst>
                <a:gd name="adj" fmla="val 50000"/>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4" name="紫荆的职场Point22"/>
            <p:cNvSpPr txBox="1"/>
            <p:nvPr/>
          </p:nvSpPr>
          <p:spPr>
            <a:xfrm>
              <a:off x="4210" y="9453"/>
              <a:ext cx="1110" cy="267"/>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p:txBody>
        </p:sp>
      </p:grpSp>
      <p:grpSp>
        <p:nvGrpSpPr>
          <p:cNvPr id="125" name="组合 124"/>
          <p:cNvGrpSpPr/>
          <p:nvPr/>
        </p:nvGrpSpPr>
        <p:grpSpPr>
          <a:xfrm>
            <a:off x="5535930" y="5842635"/>
            <a:ext cx="805180" cy="180975"/>
            <a:chOff x="4131" y="9498"/>
            <a:chExt cx="1268" cy="285"/>
          </a:xfrm>
        </p:grpSpPr>
        <p:sp>
          <p:nvSpPr>
            <p:cNvPr id="126" name="圆角矩形 125"/>
            <p:cNvSpPr/>
            <p:nvPr/>
          </p:nvSpPr>
          <p:spPr>
            <a:xfrm>
              <a:off x="4131" y="9498"/>
              <a:ext cx="1268" cy="285"/>
            </a:xfrm>
            <a:prstGeom prst="roundRect">
              <a:avLst>
                <a:gd name="adj" fmla="val 50000"/>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7" name="紫荆的职场Point22"/>
            <p:cNvSpPr txBox="1"/>
            <p:nvPr/>
          </p:nvSpPr>
          <p:spPr>
            <a:xfrm>
              <a:off x="4210" y="9507"/>
              <a:ext cx="1110" cy="267"/>
            </a:xfrm>
            <a:prstGeom prst="rect">
              <a:avLst/>
            </a:prstGeom>
            <a:noFill/>
          </p:spPr>
          <p:txBody>
            <a:bodyPr wrap="square" anchor="ctr" anchorCtr="0"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网络</a:t>
              </a:r>
              <a:endParaRPr lang="zh-CN" altLang="en-US" sz="1000" dirty="0">
                <a:solidFill>
                  <a:srgbClr val="383838"/>
                </a:solidFill>
                <a:latin typeface="微软雅黑"/>
                <a:ea typeface="微软雅黑"/>
                <a:cs typeface="微软雅黑"/>
              </a:endParaRPr>
            </a:p>
          </p:txBody>
        </p:sp>
      </p:grpSp>
      <p:sp>
        <p:nvSpPr>
          <p:cNvPr id="129" name="文本框 128"/>
          <p:cNvSpPr txBox="1"/>
          <p:nvPr/>
        </p:nvSpPr>
        <p:spPr>
          <a:xfrm>
            <a:off x="3690394" y="5077460"/>
            <a:ext cx="1024708" cy="177800"/>
          </a:xfrm>
          <a:prstGeom prst="rect">
            <a:avLst/>
          </a:prstGeom>
          <a:noFill/>
        </p:spPr>
        <p:txBody>
          <a:bodyPr wrap="none" rtlCol="0" lIns="0" rIns="0" tIns="0" bIns="0" anchor="ctr" vert="horz">
            <a:noAutofit/>
          </a:bodyPr>
          <a:lstStyle/>
          <a:p>
            <a:pPr algn="ctr">
              <a:defRPr sz="1000">
                <a:latin typeface="微软雅黑"/>
                <a:ea typeface="微软雅黑"/>
                <a:cs typeface="微软雅黑"/>
              </a:defRPr>
              <a:lnSpc>
                <a:spcPct val="100000"/>
              </a:lnSpc>
              <a:spcBef>
                <a:spcPts val="0"/>
              </a:spcBef>
              <a:spcAft>
                <a:spcPts val="0"/>
              </a:spcAft>
            </a:pPr>
            <a:r>
              <a:rPr lang="zh-CN" sz="1000" b="1">
                <a:gradFill>
                  <a:gsLst>
                    <a:gs pos="0">
                      <a:srgbClr val="0042FF"/>
                    </a:gs>
                    <a:gs pos="100000">
                      <a:srgbClr val="0042FF"/>
                    </a:gs>
                  </a:gsLst>
                  <a:lin ang="5400000" scaled="0"/>
                </a:gradFill>
                <a:latin typeface="微软雅黑"/>
                <a:ea typeface="微软雅黑"/>
                <a:cs typeface="微软雅黑"/>
              </a:rPr>
              <a:t>统一数据源</a:t>
            </a:r>
            <a:endParaRPr lang="zh-CN" sz="1000" b="1" dirty="0">
              <a:gradFill>
                <a:gsLst>
                  <a:gs pos="0">
                    <a:srgbClr val="0042FF"/>
                  </a:gs>
                  <a:gs pos="100000">
                    <a:srgbClr val="0042FF"/>
                  </a:gs>
                </a:gsLst>
                <a:lin ang="5400000" scaled="0"/>
              </a:gradFill>
              <a:latin typeface="微软雅黑"/>
              <a:ea typeface="微软雅黑"/>
              <a:cs typeface="微软雅黑"/>
            </a:endParaRPr>
          </a:p>
        </p:txBody>
      </p:sp>
      <p:sp>
        <p:nvSpPr>
          <p:cNvPr id="130" name="圆角矩形 129"/>
          <p:cNvSpPr/>
          <p:nvPr/>
        </p:nvSpPr>
        <p:spPr>
          <a:xfrm>
            <a:off x="2476500" y="5274310"/>
            <a:ext cx="787400" cy="38100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32" name="圆角矩形 131"/>
          <p:cNvSpPr/>
          <p:nvPr/>
        </p:nvSpPr>
        <p:spPr>
          <a:xfrm>
            <a:off x="4051300" y="5274310"/>
            <a:ext cx="990600" cy="38100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33" name="圆角矩形 132"/>
          <p:cNvSpPr/>
          <p:nvPr/>
        </p:nvSpPr>
        <p:spPr>
          <a:xfrm>
            <a:off x="5067300" y="5274310"/>
            <a:ext cx="863600" cy="38100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34" name="紫荆的职场Point22"/>
          <p:cNvSpPr txBox="1"/>
          <p:nvPr/>
        </p:nvSpPr>
        <p:spPr>
          <a:xfrm>
            <a:off x="2489200" y="5283200"/>
            <a:ext cx="762000" cy="355600"/>
          </a:xfrm>
          <a:prstGeom prst="rect">
            <a:avLst/>
          </a:prstGeom>
          <a:noFill/>
        </p:spPr>
        <p:txBody>
          <a:bodyPr wrap="square" anchor="ctr" anchorCtr="0" lIns="0" rIns="0" tIns="0" bIns="0" vert="horz">
            <a:noAutofit/>
          </a:bodyPr>
          <a:lstStyle/>
          <a:p>
            <a:pPr algn="ctr">
              <a:defRPr sz="1000">
                <a:solidFill>
                  <a:srgbClr val="FFFFFF"/>
                </a:solidFill>
                <a:latin typeface="微软雅黑"/>
                <a:ea typeface="微软雅黑"/>
                <a:cs typeface="微软雅黑"/>
              </a:defRPr>
              <a:lnSpc>
                <a:spcPct val="83000"/>
              </a:lnSpc>
              <a:spcBef>
                <a:spcPts val="0"/>
              </a:spcBef>
              <a:spcAft>
                <a:spcPts val="0"/>
              </a:spcAft>
            </a:pPr>
            <a:r>
              <a:rPr lang="zh-CN" altLang="en-US" sz="1000" dirty="0">
                <a:solidFill>
                  <a:srgbClr val="FFFFFF"/>
                </a:solidFill>
                <a:latin typeface="微软雅黑"/>
                <a:ea typeface="微软雅黑"/>
                <a:cs typeface="微软雅黑"/>
              </a:rPr>
              <a:t>关系型</a:t>
            </a:r>
            <a:br/>
            <a:r>
              <a:rPr lang="zh-CN" altLang="en-US" sz="1000" dirty="0">
                <a:solidFill>
                  <a:srgbClr val="FFFFFF"/>
                </a:solidFill>
                <a:latin typeface="微软雅黑"/>
                <a:ea typeface="微软雅黑"/>
                <a:cs typeface="微软雅黑"/>
              </a:rPr>
              <a:t>数据库</a:t>
            </a:r>
            <a:endParaRPr lang="zh-CN" altLang="en-US" sz="1000" dirty="0">
              <a:solidFill>
                <a:srgbClr val="FFFFFF"/>
              </a:solidFill>
              <a:latin typeface="微软雅黑"/>
              <a:ea typeface="微软雅黑"/>
              <a:cs typeface="微软雅黑"/>
            </a:endParaRPr>
          </a:p>
        </p:txBody>
      </p:sp>
      <p:sp>
        <p:nvSpPr>
          <p:cNvPr id="136" name="紫荆的职场Point22"/>
          <p:cNvSpPr txBox="1"/>
          <p:nvPr/>
        </p:nvSpPr>
        <p:spPr>
          <a:xfrm>
            <a:off x="4064000" y="5283200"/>
            <a:ext cx="965200" cy="355600"/>
          </a:xfrm>
          <a:prstGeom prst="rect">
            <a:avLst/>
          </a:prstGeom>
          <a:noFill/>
        </p:spPr>
        <p:txBody>
          <a:bodyPr wrap="square" anchor="ctr" anchorCtr="0" lIns="0" rIns="0" tIns="0" bIns="0" vert="horz">
            <a:noAutofit/>
          </a:bodyPr>
          <a:lstStyle/>
          <a:p>
            <a:pPr algn="ctr">
              <a:defRPr sz="1000">
                <a:solidFill>
                  <a:srgbClr val="FFFFFF"/>
                </a:solidFill>
                <a:latin typeface="微软雅黑"/>
                <a:ea typeface="微软雅黑"/>
                <a:cs typeface="微软雅黑"/>
              </a:defRPr>
              <a:lnSpc>
                <a:spcPct val="83000"/>
              </a:lnSpc>
              <a:spcBef>
                <a:spcPts val="0"/>
              </a:spcBef>
              <a:spcAft>
                <a:spcPts val="0"/>
              </a:spcAft>
            </a:pPr>
            <a:r>
              <a:rPr lang="zh-CN" altLang="en-US" sz="1000" dirty="0">
                <a:solidFill>
                  <a:srgbClr val="FFFFFF"/>
                </a:solidFill>
                <a:latin typeface="微软雅黑"/>
                <a:ea typeface="微软雅黑"/>
                <a:cs typeface="微软雅黑"/>
              </a:rPr>
              <a:t>分布式</a:t>
            </a:r>
            <a:r>
              <a:rPr lang="zh-CN" altLang="en-US" sz="1000" dirty="0">
                <a:solidFill>
                  <a:srgbClr val="FFFFFF"/>
                </a:solidFill>
                <a:latin typeface="微软雅黑"/>
                <a:ea typeface="微软雅黑"/>
                <a:cs typeface="微软雅黑"/>
              </a:rPr>
              <a:t>关系型</a:t>
            </a:r>
            <a:br/>
            <a:r>
              <a:rPr lang="zh-CN" altLang="en-US" sz="1000" dirty="0">
                <a:solidFill>
                  <a:srgbClr val="FFFFFF"/>
                </a:solidFill>
                <a:latin typeface="微软雅黑"/>
                <a:ea typeface="微软雅黑"/>
                <a:cs typeface="微软雅黑"/>
              </a:rPr>
              <a:t>数据库</a:t>
            </a:r>
            <a:endParaRPr lang="zh-CN" altLang="en-US" sz="1000" dirty="0">
              <a:solidFill>
                <a:srgbClr val="FFFFFF"/>
              </a:solidFill>
              <a:latin typeface="微软雅黑"/>
              <a:ea typeface="微软雅黑"/>
              <a:cs typeface="微软雅黑"/>
            </a:endParaRPr>
          </a:p>
        </p:txBody>
      </p:sp>
      <p:sp>
        <p:nvSpPr>
          <p:cNvPr id="137" name="紫荆的职场Point22"/>
          <p:cNvSpPr txBox="1"/>
          <p:nvPr/>
        </p:nvSpPr>
        <p:spPr>
          <a:xfrm>
            <a:off x="5080000" y="5283200"/>
            <a:ext cx="838200" cy="355600"/>
          </a:xfrm>
          <a:prstGeom prst="rect">
            <a:avLst/>
          </a:prstGeom>
          <a:noFill/>
        </p:spPr>
        <p:txBody>
          <a:bodyPr wrap="square" anchor="ctr" anchorCtr="0" lIns="0" rIns="0" tIns="0" bIns="0" vert="horz">
            <a:noAutofit/>
          </a:bodyPr>
          <a:lstStyle/>
          <a:p>
            <a:pPr algn="ctr">
              <a:defRPr sz="1000">
                <a:solidFill>
                  <a:srgbClr val="FFFFFF"/>
                </a:solidFill>
                <a:latin typeface="微软雅黑"/>
                <a:ea typeface="微软雅黑"/>
                <a:cs typeface="微软雅黑"/>
              </a:defRPr>
              <a:lnSpc>
                <a:spcPct val="83000"/>
              </a:lnSpc>
              <a:spcBef>
                <a:spcPts val="0"/>
              </a:spcBef>
              <a:spcAft>
                <a:spcPts val="0"/>
              </a:spcAft>
            </a:pPr>
            <a:r>
              <a:rPr lang="zh-CN" altLang="en-US" sz="1000" dirty="0">
                <a:solidFill>
                  <a:srgbClr val="FFFFFF"/>
                </a:solidFill>
                <a:latin typeface="微软雅黑"/>
                <a:ea typeface="微软雅黑"/>
                <a:cs typeface="微软雅黑"/>
              </a:rPr>
              <a:t>分布式</a:t>
            </a:r>
            <a:br/>
            <a:r>
              <a:rPr lang="zh-CN" altLang="en-US" sz="1000" dirty="0">
                <a:solidFill>
                  <a:srgbClr val="FFFFFF"/>
                </a:solidFill>
                <a:latin typeface="微软雅黑"/>
                <a:ea typeface="微软雅黑"/>
                <a:cs typeface="微软雅黑"/>
              </a:rPr>
              <a:t>文件系统</a:t>
            </a:r>
            <a:endParaRPr lang="zh-CN" altLang="en-US" sz="1000" dirty="0">
              <a:solidFill>
                <a:srgbClr val="FFFFFF"/>
              </a:solidFill>
              <a:latin typeface="微软雅黑"/>
              <a:ea typeface="微软雅黑"/>
              <a:cs typeface="微软雅黑"/>
            </a:endParaRPr>
          </a:p>
        </p:txBody>
      </p:sp>
      <p:sp>
        <p:nvSpPr>
          <p:cNvPr id="138" name="文本框 137"/>
          <p:cNvSpPr txBox="1"/>
          <p:nvPr/>
        </p:nvSpPr>
        <p:spPr>
          <a:xfrm>
            <a:off x="3108325" y="3082290"/>
            <a:ext cx="2188845" cy="22987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b="1">
                <a:gradFill>
                  <a:gsLst>
                    <a:gs pos="0">
                      <a:srgbClr val="0042FF"/>
                    </a:gs>
                    <a:gs pos="100000">
                      <a:srgbClr val="0042FF"/>
                    </a:gs>
                  </a:gsLst>
                  <a:lin ang="5400000" scaled="0"/>
                </a:gradFill>
                <a:latin typeface="微软雅黑"/>
                <a:ea typeface="微软雅黑"/>
                <a:cs typeface="微软雅黑"/>
              </a:rPr>
              <a:t>数据共享平台</a:t>
            </a:r>
            <a:r>
              <a:rPr lang="en-US" altLang="zh-CN" sz="1000" b="1">
                <a:gradFill>
                  <a:gsLst>
                    <a:gs pos="0">
                      <a:srgbClr val="0042FF"/>
                    </a:gs>
                    <a:gs pos="100000">
                      <a:srgbClr val="0042FF"/>
                    </a:gs>
                  </a:gsLst>
                  <a:lin ang="5400000" scaled="0"/>
                </a:gradFill>
                <a:latin typeface="微软雅黑"/>
                <a:ea typeface="微软雅黑"/>
                <a:cs typeface="微软雅黑"/>
              </a:rPr>
              <a:t>-</a:t>
            </a:r>
            <a:r>
              <a:rPr lang="zh-CN" altLang="en-US" sz="1000" b="1">
                <a:gradFill>
                  <a:gsLst>
                    <a:gs pos="0">
                      <a:srgbClr val="0042FF"/>
                    </a:gs>
                    <a:gs pos="100000">
                      <a:srgbClr val="0042FF"/>
                    </a:gs>
                  </a:gsLst>
                  <a:lin ang="5400000" scaled="0"/>
                </a:gradFill>
                <a:latin typeface="微软雅黑"/>
                <a:ea typeface="微软雅黑"/>
                <a:cs typeface="微软雅黑"/>
              </a:rPr>
              <a:t>企业服务总线</a:t>
            </a:r>
            <a:r>
              <a:rPr lang="en-US" altLang="zh-CN" sz="1000" b="1">
                <a:gradFill>
                  <a:gsLst>
                    <a:gs pos="0">
                      <a:srgbClr val="0042FF"/>
                    </a:gs>
                    <a:gs pos="100000">
                      <a:srgbClr val="0042FF"/>
                    </a:gs>
                  </a:gsLst>
                  <a:lin ang="5400000" scaled="0"/>
                </a:gradFill>
                <a:latin typeface="微软雅黑"/>
                <a:ea typeface="微软雅黑"/>
                <a:cs typeface="微软雅黑"/>
              </a:rPr>
              <a:t>ESB</a:t>
            </a:r>
            <a:endParaRPr lang="en-US" altLang="zh-CN" sz="1000" b="1" dirty="0">
              <a:gradFill>
                <a:gsLst>
                  <a:gs pos="0">
                    <a:srgbClr val="0042FF"/>
                  </a:gs>
                  <a:gs pos="100000">
                    <a:srgbClr val="0042FF"/>
                  </a:gs>
                </a:gsLst>
                <a:lin ang="5400000" scaled="0"/>
              </a:gradFill>
              <a:latin typeface="微软雅黑"/>
              <a:ea typeface="微软雅黑"/>
              <a:cs typeface="微软雅黑"/>
            </a:endParaRPr>
          </a:p>
        </p:txBody>
      </p:sp>
      <p:sp>
        <p:nvSpPr>
          <p:cNvPr id="4" name="圆角矩形 3"/>
          <p:cNvSpPr/>
          <p:nvPr/>
        </p:nvSpPr>
        <p:spPr>
          <a:xfrm>
            <a:off x="2475230" y="3360420"/>
            <a:ext cx="540000"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cs typeface="微软雅黑"/>
                <a:latin typeface="微软雅黑"/>
                <a:ea typeface="微软雅黑"/>
              </a:rPr>
              <a:t>SQL</a:t>
            </a:r>
            <a:endParaRPr lang="en-US" altLang="zh-CN" sz="1000">
              <a:solidFill>
                <a:srgbClr val="FFFFFF"/>
              </a:solidFill>
              <a:cs typeface="微软雅黑"/>
              <a:latin typeface="微软雅黑"/>
              <a:ea typeface="微软雅黑"/>
            </a:endParaRPr>
          </a:p>
        </p:txBody>
      </p:sp>
      <p:sp>
        <p:nvSpPr>
          <p:cNvPr id="112" name="圆角矩形 111"/>
          <p:cNvSpPr/>
          <p:nvPr/>
        </p:nvSpPr>
        <p:spPr>
          <a:xfrm>
            <a:off x="3059045" y="3360420"/>
            <a:ext cx="539750"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sym typeface="微软雅黑"/>
                <a:latin typeface="微软雅黑"/>
                <a:ea typeface="微软雅黑"/>
              </a:rPr>
              <a:t>文件</a:t>
            </a:r>
            <a:endParaRPr lang="zh-CN" altLang="en-US" sz="1000">
              <a:solidFill>
                <a:srgbClr val="FFFFFF"/>
              </a:solidFill>
              <a:cs typeface="微软雅黑"/>
              <a:sym typeface="微软雅黑"/>
              <a:latin typeface="微软雅黑"/>
              <a:ea typeface="微软雅黑"/>
            </a:endParaRPr>
          </a:p>
        </p:txBody>
      </p:sp>
      <p:sp>
        <p:nvSpPr>
          <p:cNvPr id="128" name="圆角矩形 127"/>
          <p:cNvSpPr/>
          <p:nvPr/>
        </p:nvSpPr>
        <p:spPr>
          <a:xfrm>
            <a:off x="3642610" y="3360420"/>
            <a:ext cx="539750"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cs typeface="微软雅黑"/>
                <a:sym typeface="微软雅黑"/>
                <a:latin typeface="微软雅黑"/>
                <a:ea typeface="微软雅黑"/>
              </a:rPr>
              <a:t>API</a:t>
            </a:r>
            <a:endParaRPr lang="en-US" altLang="zh-CN" sz="1000">
              <a:solidFill>
                <a:srgbClr val="FFFFFF"/>
              </a:solidFill>
              <a:cs typeface="微软雅黑"/>
              <a:sym typeface="微软雅黑"/>
              <a:latin typeface="微软雅黑"/>
              <a:ea typeface="微软雅黑"/>
            </a:endParaRPr>
          </a:p>
        </p:txBody>
      </p:sp>
      <p:sp>
        <p:nvSpPr>
          <p:cNvPr id="139" name="圆角矩形 138"/>
          <p:cNvSpPr/>
          <p:nvPr/>
        </p:nvSpPr>
        <p:spPr>
          <a:xfrm>
            <a:off x="4226175" y="3360420"/>
            <a:ext cx="539750"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cs typeface="微软雅黑"/>
                <a:sym typeface="微软雅黑"/>
                <a:latin typeface="微软雅黑"/>
                <a:ea typeface="微软雅黑"/>
              </a:rPr>
              <a:t>XML</a:t>
            </a:r>
            <a:endParaRPr lang="en-US" altLang="zh-CN" sz="1000">
              <a:solidFill>
                <a:srgbClr val="FFFFFF"/>
              </a:solidFill>
              <a:cs typeface="微软雅黑"/>
              <a:sym typeface="微软雅黑"/>
              <a:latin typeface="微软雅黑"/>
              <a:ea typeface="微软雅黑"/>
            </a:endParaRPr>
          </a:p>
        </p:txBody>
      </p:sp>
      <p:sp>
        <p:nvSpPr>
          <p:cNvPr id="140" name="圆角矩形 139"/>
          <p:cNvSpPr/>
          <p:nvPr/>
        </p:nvSpPr>
        <p:spPr>
          <a:xfrm>
            <a:off x="4809740" y="3360420"/>
            <a:ext cx="539750"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cs typeface="微软雅黑"/>
                <a:sym typeface="微软雅黑"/>
                <a:latin typeface="微软雅黑"/>
                <a:ea typeface="微软雅黑"/>
              </a:rPr>
              <a:t>JSON</a:t>
            </a:r>
            <a:endParaRPr lang="en-US" altLang="zh-CN" sz="1000">
              <a:solidFill>
                <a:srgbClr val="FFFFFF"/>
              </a:solidFill>
              <a:cs typeface="微软雅黑"/>
              <a:sym typeface="微软雅黑"/>
              <a:latin typeface="微软雅黑"/>
              <a:ea typeface="微软雅黑"/>
            </a:endParaRPr>
          </a:p>
        </p:txBody>
      </p:sp>
      <p:sp>
        <p:nvSpPr>
          <p:cNvPr id="141" name="圆角矩形 140"/>
          <p:cNvSpPr/>
          <p:nvPr/>
        </p:nvSpPr>
        <p:spPr>
          <a:xfrm>
            <a:off x="5393305" y="3360420"/>
            <a:ext cx="539750"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cs typeface="微软雅黑"/>
                <a:latin typeface="微软雅黑"/>
                <a:ea typeface="微软雅黑"/>
              </a:rPr>
              <a:t>……</a:t>
            </a:r>
            <a:endParaRPr lang="en-US" altLang="zh-CN" sz="1000">
              <a:solidFill>
                <a:srgbClr val="FFFFFF"/>
              </a:solidFill>
              <a:cs typeface="微软雅黑"/>
              <a:latin typeface="微软雅黑"/>
              <a:ea typeface="微软雅黑"/>
            </a:endParaRPr>
          </a:p>
        </p:txBody>
      </p:sp>
      <p:sp>
        <p:nvSpPr>
          <p:cNvPr id="368" name="@显眼包PPT11"/>
          <p:cNvSpPr/>
          <p:nvPr/>
        </p:nvSpPr>
        <p:spPr>
          <a:xfrm>
            <a:off x="2456180" y="3577590"/>
            <a:ext cx="3530600" cy="1468120"/>
          </a:xfrm>
          <a:prstGeom prst="roundRect">
            <a:avLst>
              <a:gd name="adj" fmla="val 10541"/>
            </a:avLst>
          </a:prstGeom>
          <a:solidFill>
            <a:srgbClr val="FFFFFF"/>
          </a:solidFill>
          <a:ln w="9525">
            <a:gradFill flip="none" rotWithShape="1">
              <a:gsLst>
                <a:gs pos="0">
                  <a:srgbClr val="3368FF">
                    <a:alpha val="0"/>
                  </a:srgbClr>
                </a:gs>
                <a:gs pos="100000">
                  <a:srgbClr val="3368FF"/>
                </a:gs>
              </a:gsLst>
              <a:lin ang="13500000" scaled="1"/>
              <a:tileRect/>
            </a:gradFill>
            <a:prstDash val="solid"/>
          </a:ln>
          <a:effectLst>
            <a:outerShdw blurRad="101600" dist="38100" dir="2700000" algn="tl" rotWithShape="0">
              <a:srgbClr val="DCDCDC">
                <a:alpha val="26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42" name="文本框 141"/>
          <p:cNvSpPr txBox="1"/>
          <p:nvPr/>
        </p:nvSpPr>
        <p:spPr>
          <a:xfrm>
            <a:off x="3107373" y="3577590"/>
            <a:ext cx="2188845" cy="177800"/>
          </a:xfrm>
          <a:prstGeom prst="rect">
            <a:avLst/>
          </a:prstGeom>
          <a:noFill/>
        </p:spPr>
        <p:txBody>
          <a:bodyPr wrap="none" rtlCol="0" lIns="0" rIns="0" tIns="0" bIns="0" anchor="ctr" vert="horz">
            <a:noAutofit/>
          </a:bodyPr>
          <a:lstStyle/>
          <a:p>
            <a:pPr algn="ctr">
              <a:defRPr sz="1000">
                <a:latin typeface="微软雅黑"/>
                <a:ea typeface="微软雅黑"/>
                <a:cs typeface="微软雅黑"/>
              </a:defRPr>
              <a:lnSpc>
                <a:spcPct val="100000"/>
              </a:lnSpc>
              <a:spcBef>
                <a:spcPts val="0"/>
              </a:spcBef>
              <a:spcAft>
                <a:spcPts val="0"/>
              </a:spcAft>
            </a:pPr>
            <a:r>
              <a:rPr lang="zh-CN" sz="1000" b="1">
                <a:gradFill>
                  <a:gsLst>
                    <a:gs pos="0">
                      <a:srgbClr val="0042FF"/>
                    </a:gs>
                    <a:gs pos="100000">
                      <a:srgbClr val="0042FF"/>
                    </a:gs>
                  </a:gsLst>
                  <a:lin ang="5400000" scaled="0"/>
                </a:gradFill>
                <a:latin typeface="微软雅黑"/>
                <a:ea typeface="微软雅黑"/>
                <a:cs typeface="微软雅黑"/>
              </a:rPr>
              <a:t>数据处理服务管理</a:t>
            </a:r>
            <a:endParaRPr lang="zh-CN" sz="1000" b="1" dirty="0">
              <a:gradFill>
                <a:gsLst>
                  <a:gs pos="0">
                    <a:srgbClr val="0042FF"/>
                  </a:gs>
                  <a:gs pos="100000">
                    <a:srgbClr val="0042FF"/>
                  </a:gs>
                </a:gsLst>
                <a:lin ang="5400000" scaled="0"/>
              </a:gradFill>
              <a:latin typeface="微软雅黑"/>
              <a:ea typeface="微软雅黑"/>
              <a:cs typeface="微软雅黑"/>
            </a:endParaRPr>
          </a:p>
        </p:txBody>
      </p:sp>
      <p:sp>
        <p:nvSpPr>
          <p:cNvPr id="143" name="文本框 142"/>
          <p:cNvSpPr txBox="1"/>
          <p:nvPr/>
        </p:nvSpPr>
        <p:spPr>
          <a:xfrm>
            <a:off x="6104890" y="3051810"/>
            <a:ext cx="1504950" cy="22987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b="1">
                <a:gradFill>
                  <a:gsLst>
                    <a:gs pos="0">
                      <a:srgbClr val="0042FF"/>
                    </a:gs>
                    <a:gs pos="100000">
                      <a:srgbClr val="0042FF"/>
                    </a:gs>
                  </a:gsLst>
                  <a:lin ang="5400000" scaled="0"/>
                </a:gradFill>
                <a:latin typeface="微软雅黑"/>
                <a:ea typeface="微软雅黑"/>
                <a:cs typeface="微软雅黑"/>
              </a:rPr>
              <a:t>统一数据治理（</a:t>
            </a:r>
            <a:r>
              <a:rPr lang="en-US" altLang="zh-CN" sz="1000" b="1">
                <a:gradFill>
                  <a:gsLst>
                    <a:gs pos="0">
                      <a:srgbClr val="0042FF"/>
                    </a:gs>
                    <a:gs pos="100000">
                      <a:srgbClr val="0042FF"/>
                    </a:gs>
                  </a:gsLst>
                  <a:lin ang="5400000" scaled="0"/>
                </a:gradFill>
                <a:latin typeface="微软雅黑"/>
                <a:ea typeface="微软雅黑"/>
                <a:cs typeface="微软雅黑"/>
              </a:rPr>
              <a:t>ETL</a:t>
            </a:r>
            <a:r>
              <a:rPr lang="zh-CN" sz="1000" b="1">
                <a:gradFill>
                  <a:gsLst>
                    <a:gs pos="0">
                      <a:srgbClr val="0042FF"/>
                    </a:gs>
                    <a:gs pos="100000">
                      <a:srgbClr val="0042FF"/>
                    </a:gs>
                  </a:gsLst>
                  <a:lin ang="5400000" scaled="0"/>
                </a:gradFill>
                <a:latin typeface="微软雅黑"/>
                <a:ea typeface="微软雅黑"/>
                <a:cs typeface="微软雅黑"/>
              </a:rPr>
              <a:t>）</a:t>
            </a:r>
            <a:endParaRPr lang="zh-CN" sz="1000" b="1" dirty="0">
              <a:gradFill>
                <a:gsLst>
                  <a:gs pos="0">
                    <a:srgbClr val="0042FF"/>
                  </a:gs>
                  <a:gs pos="100000">
                    <a:srgbClr val="0042FF"/>
                  </a:gs>
                </a:gsLst>
                <a:lin ang="5400000" scaled="0"/>
              </a:gradFill>
              <a:latin typeface="微软雅黑"/>
              <a:ea typeface="微软雅黑"/>
              <a:cs typeface="微软雅黑"/>
            </a:endParaRPr>
          </a:p>
        </p:txBody>
      </p:sp>
      <p:sp>
        <p:nvSpPr>
          <p:cNvPr id="146" name="圆角矩形 145"/>
          <p:cNvSpPr/>
          <p:nvPr/>
        </p:nvSpPr>
        <p:spPr>
          <a:xfrm>
            <a:off x="7204710" y="3307080"/>
            <a:ext cx="329565" cy="227393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sz="1000">
                <a:solidFill>
                  <a:srgbClr val="FFFFFF"/>
                </a:solidFill>
                <a:cs typeface="微软雅黑"/>
                <a:latin typeface="微软雅黑"/>
                <a:ea typeface="微软雅黑"/>
              </a:rPr>
              <a:t>数据调度平台</a:t>
            </a:r>
            <a:endParaRPr lang="zh-CN" altLang="en-US" sz="1000">
              <a:solidFill>
                <a:srgbClr val="FFFFFF"/>
              </a:solidFill>
              <a:cs typeface="微软雅黑"/>
              <a:latin typeface="微软雅黑"/>
              <a:ea typeface="微软雅黑"/>
            </a:endParaRPr>
          </a:p>
        </p:txBody>
      </p:sp>
      <p:sp>
        <p:nvSpPr>
          <p:cNvPr id="147" name="圆角矩形 146"/>
          <p:cNvSpPr/>
          <p:nvPr/>
        </p:nvSpPr>
        <p:spPr>
          <a:xfrm>
            <a:off x="6165215" y="3703320"/>
            <a:ext cx="995045" cy="229235"/>
          </a:xfrm>
          <a:prstGeom prst="roundRect">
            <a:avLst>
              <a:gd name="adj" fmla="val 11111"/>
            </a:avLst>
          </a:prstGeom>
          <a:solidFill>
            <a:srgbClr val="E6E6E6">
              <a:alpha val="50000"/>
            </a:srgbClr>
          </a:solidFill>
          <a:ln w="9525">
            <a:solidFill>
              <a:srgbClr val="3368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数据挖掘</a:t>
            </a:r>
            <a:endParaRPr lang="zh-CN" altLang="en-US" sz="1000">
              <a:solidFill>
                <a:srgbClr val="383838"/>
              </a:solidFill>
              <a:cs typeface="微软雅黑"/>
              <a:latin typeface="微软雅黑"/>
              <a:ea typeface="微软雅黑"/>
            </a:endParaRPr>
          </a:p>
        </p:txBody>
      </p:sp>
      <p:sp>
        <p:nvSpPr>
          <p:cNvPr id="148" name="圆角矩形 147"/>
          <p:cNvSpPr/>
          <p:nvPr/>
        </p:nvSpPr>
        <p:spPr>
          <a:xfrm>
            <a:off x="6165215" y="4340860"/>
            <a:ext cx="995045" cy="229235"/>
          </a:xfrm>
          <a:prstGeom prst="roundRect">
            <a:avLst>
              <a:gd name="adj" fmla="val 11111"/>
            </a:avLst>
          </a:prstGeom>
          <a:solidFill>
            <a:srgbClr val="E6E6E6">
              <a:alpha val="50000"/>
            </a:srgbClr>
          </a:solidFill>
          <a:ln w="9525">
            <a:solidFill>
              <a:srgbClr val="3368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数据汇总</a:t>
            </a:r>
            <a:endParaRPr lang="zh-CN" altLang="en-US" sz="1000">
              <a:solidFill>
                <a:srgbClr val="383838"/>
              </a:solidFill>
              <a:cs typeface="微软雅黑"/>
              <a:latin typeface="微软雅黑"/>
              <a:ea typeface="微软雅黑"/>
            </a:endParaRPr>
          </a:p>
        </p:txBody>
      </p:sp>
      <p:sp>
        <p:nvSpPr>
          <p:cNvPr id="149" name="圆角矩形 148"/>
          <p:cNvSpPr/>
          <p:nvPr/>
        </p:nvSpPr>
        <p:spPr>
          <a:xfrm>
            <a:off x="6165215" y="4022090"/>
            <a:ext cx="995045" cy="229235"/>
          </a:xfrm>
          <a:prstGeom prst="roundRect">
            <a:avLst>
              <a:gd name="adj" fmla="val 11111"/>
            </a:avLst>
          </a:prstGeom>
          <a:solidFill>
            <a:srgbClr val="E6E6E6">
              <a:alpha val="50000"/>
            </a:srgbClr>
          </a:solidFill>
          <a:ln w="9525">
            <a:solidFill>
              <a:srgbClr val="3368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数据分发</a:t>
            </a:r>
            <a:endParaRPr lang="zh-CN" altLang="en-US" sz="1000">
              <a:solidFill>
                <a:srgbClr val="383838"/>
              </a:solidFill>
              <a:cs typeface="微软雅黑"/>
              <a:latin typeface="微软雅黑"/>
              <a:ea typeface="微软雅黑"/>
            </a:endParaRPr>
          </a:p>
        </p:txBody>
      </p:sp>
      <p:sp>
        <p:nvSpPr>
          <p:cNvPr id="150" name="圆角矩形 149"/>
          <p:cNvSpPr/>
          <p:nvPr/>
        </p:nvSpPr>
        <p:spPr>
          <a:xfrm>
            <a:off x="6165215" y="4659630"/>
            <a:ext cx="995045" cy="229235"/>
          </a:xfrm>
          <a:prstGeom prst="roundRect">
            <a:avLst>
              <a:gd name="adj" fmla="val 11111"/>
            </a:avLst>
          </a:prstGeom>
          <a:solidFill>
            <a:srgbClr val="E6E6E6">
              <a:alpha val="50000"/>
            </a:srgbClr>
          </a:solidFill>
          <a:ln w="9525">
            <a:solidFill>
              <a:srgbClr val="3368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数据加载</a:t>
            </a:r>
            <a:endParaRPr lang="zh-CN" altLang="en-US" sz="1000">
              <a:solidFill>
                <a:srgbClr val="383838"/>
              </a:solidFill>
              <a:cs typeface="微软雅黑"/>
              <a:latin typeface="微软雅黑"/>
              <a:ea typeface="微软雅黑"/>
            </a:endParaRPr>
          </a:p>
        </p:txBody>
      </p:sp>
      <p:sp>
        <p:nvSpPr>
          <p:cNvPr id="151" name="圆角矩形 150"/>
          <p:cNvSpPr/>
          <p:nvPr/>
        </p:nvSpPr>
        <p:spPr>
          <a:xfrm>
            <a:off x="6165215" y="4978400"/>
            <a:ext cx="995045" cy="229235"/>
          </a:xfrm>
          <a:prstGeom prst="roundRect">
            <a:avLst>
              <a:gd name="adj" fmla="val 11111"/>
            </a:avLst>
          </a:prstGeom>
          <a:solidFill>
            <a:srgbClr val="E6E6E6">
              <a:alpha val="50000"/>
            </a:srgbClr>
          </a:solidFill>
          <a:ln w="9525">
            <a:solidFill>
              <a:srgbClr val="3368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数据转换</a:t>
            </a:r>
            <a:endParaRPr lang="zh-CN" altLang="en-US" sz="1000">
              <a:solidFill>
                <a:srgbClr val="383838"/>
              </a:solidFill>
              <a:cs typeface="微软雅黑"/>
              <a:latin typeface="微软雅黑"/>
              <a:ea typeface="微软雅黑"/>
            </a:endParaRPr>
          </a:p>
        </p:txBody>
      </p:sp>
      <p:sp>
        <p:nvSpPr>
          <p:cNvPr id="152" name="圆角矩形 151"/>
          <p:cNvSpPr/>
          <p:nvPr/>
        </p:nvSpPr>
        <p:spPr>
          <a:xfrm>
            <a:off x="6165215" y="5297170"/>
            <a:ext cx="995045" cy="229235"/>
          </a:xfrm>
          <a:prstGeom prst="roundRect">
            <a:avLst>
              <a:gd name="adj" fmla="val 11111"/>
            </a:avLst>
          </a:prstGeom>
          <a:solidFill>
            <a:srgbClr val="E6E6E6">
              <a:alpha val="50000"/>
            </a:srgbClr>
          </a:solidFill>
          <a:ln w="9525">
            <a:solidFill>
              <a:srgbClr val="3368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cs typeface="微软雅黑"/>
                <a:latin typeface="微软雅黑"/>
                <a:ea typeface="微软雅黑"/>
              </a:rPr>
              <a:t>数据抽取</a:t>
            </a:r>
            <a:endParaRPr lang="zh-CN" altLang="en-US" sz="1000">
              <a:solidFill>
                <a:srgbClr val="383838"/>
              </a:solidFill>
              <a:cs typeface="微软雅黑"/>
              <a:latin typeface="微软雅黑"/>
              <a:ea typeface="微软雅黑"/>
            </a:endParaRPr>
          </a:p>
        </p:txBody>
      </p:sp>
      <p:grpSp>
        <p:nvGrpSpPr>
          <p:cNvPr id="154" name="组合 153"/>
          <p:cNvGrpSpPr/>
          <p:nvPr/>
        </p:nvGrpSpPr>
        <p:grpSpPr>
          <a:xfrm>
            <a:off x="6104890" y="3295650"/>
            <a:ext cx="600710" cy="300990"/>
            <a:chOff x="9654" y="5400"/>
            <a:chExt cx="946" cy="474"/>
          </a:xfrm>
        </p:grpSpPr>
        <p:sp>
          <p:nvSpPr>
            <p:cNvPr id="144" name="圆角矩形 143"/>
            <p:cNvSpPr/>
            <p:nvPr/>
          </p:nvSpPr>
          <p:spPr>
            <a:xfrm>
              <a:off x="9730" y="5416"/>
              <a:ext cx="810" cy="576"/>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53" name="紫荆的职场Point22"/>
            <p:cNvSpPr txBox="1"/>
            <p:nvPr/>
          </p:nvSpPr>
          <p:spPr>
            <a:xfrm>
              <a:off x="9730" y="5420"/>
              <a:ext cx="810" cy="568"/>
            </a:xfrm>
            <a:prstGeom prst="rect">
              <a:avLst/>
            </a:prstGeom>
            <a:noFill/>
          </p:spPr>
          <p:txBody>
            <a:bodyPr wrap="square" anchor="ctr" anchorCtr="0" lIns="0" rIns="0" tIns="0" bIns="0" vert="horz">
              <a:noAutofit/>
            </a:bodyPr>
            <a:lstStyle/>
            <a:p>
              <a:pPr algn="ctr">
                <a:defRPr sz="1000">
                  <a:solidFill>
                    <a:srgbClr val="FFFFFF"/>
                  </a:solidFill>
                  <a:latin typeface="微软雅黑"/>
                  <a:ea typeface="微软雅黑"/>
                  <a:cs typeface="微软雅黑"/>
                </a:defRPr>
                <a:lnSpc>
                  <a:spcPct val="83000"/>
                </a:lnSpc>
                <a:spcBef>
                  <a:spcPts val="0"/>
                </a:spcBef>
                <a:spcAft>
                  <a:spcPts val="0"/>
                </a:spcAft>
              </a:pPr>
              <a:r>
                <a:rPr lang="zh-CN" altLang="en-US" sz="1000" dirty="0">
                  <a:solidFill>
                    <a:srgbClr val="FFFFFF"/>
                  </a:solidFill>
                  <a:latin typeface="微软雅黑"/>
                  <a:ea typeface="微软雅黑"/>
                  <a:cs typeface="微软雅黑"/>
                </a:rPr>
                <a:t>非实时</a:t>
              </a:r>
              <a:br/>
              <a:r>
                <a:rPr lang="zh-CN" altLang="en-US" sz="1000" dirty="0">
                  <a:solidFill>
                    <a:srgbClr val="FFFFFF"/>
                  </a:solidFill>
                  <a:latin typeface="微软雅黑"/>
                  <a:ea typeface="微软雅黑"/>
                  <a:cs typeface="微软雅黑"/>
                </a:rPr>
                <a:t>数据处理</a:t>
              </a:r>
              <a:endParaRPr lang="zh-CN" altLang="en-US" sz="1000" dirty="0">
                <a:solidFill>
                  <a:srgbClr val="FFFFFF"/>
                </a:solidFill>
                <a:latin typeface="微软雅黑"/>
                <a:ea typeface="微软雅黑"/>
                <a:cs typeface="微软雅黑"/>
              </a:endParaRPr>
            </a:p>
          </p:txBody>
        </p:sp>
      </p:grpSp>
      <p:grpSp>
        <p:nvGrpSpPr>
          <p:cNvPr id="155" name="组合 154"/>
          <p:cNvGrpSpPr/>
          <p:nvPr/>
        </p:nvGrpSpPr>
        <p:grpSpPr>
          <a:xfrm>
            <a:off x="6619240" y="3295650"/>
            <a:ext cx="600710" cy="300990"/>
            <a:chOff x="9654" y="5400"/>
            <a:chExt cx="946" cy="474"/>
          </a:xfrm>
        </p:grpSpPr>
        <p:sp>
          <p:nvSpPr>
            <p:cNvPr id="156" name="圆角矩形 155"/>
            <p:cNvSpPr/>
            <p:nvPr/>
          </p:nvSpPr>
          <p:spPr>
            <a:xfrm>
              <a:off x="9750" y="5416"/>
              <a:ext cx="810" cy="576"/>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57" name="紫荆的职场Point22"/>
            <p:cNvSpPr txBox="1"/>
            <p:nvPr/>
          </p:nvSpPr>
          <p:spPr>
            <a:xfrm>
              <a:off x="9750" y="5420"/>
              <a:ext cx="810" cy="568"/>
            </a:xfrm>
            <a:prstGeom prst="rect">
              <a:avLst/>
            </a:prstGeom>
            <a:noFill/>
          </p:spPr>
          <p:txBody>
            <a:bodyPr wrap="square" anchor="ctr" anchorCtr="0" lIns="0" rIns="0" tIns="0" bIns="0" vert="horz">
              <a:noAutofit/>
            </a:bodyPr>
            <a:lstStyle/>
            <a:p>
              <a:pPr algn="ctr">
                <a:defRPr sz="1000">
                  <a:solidFill>
                    <a:srgbClr val="FFFFFF"/>
                  </a:solidFill>
                  <a:latin typeface="微软雅黑"/>
                  <a:ea typeface="微软雅黑"/>
                  <a:cs typeface="微软雅黑"/>
                </a:defRPr>
                <a:lnSpc>
                  <a:spcPct val="83000"/>
                </a:lnSpc>
                <a:spcBef>
                  <a:spcPts val="0"/>
                </a:spcBef>
                <a:spcAft>
                  <a:spcPts val="0"/>
                </a:spcAft>
              </a:pPr>
              <a:r>
                <a:rPr lang="zh-CN" altLang="en-US" sz="1000" dirty="0">
                  <a:solidFill>
                    <a:srgbClr val="FFFFFF"/>
                  </a:solidFill>
                  <a:latin typeface="微软雅黑"/>
                  <a:ea typeface="微软雅黑"/>
                  <a:cs typeface="微软雅黑"/>
                </a:rPr>
                <a:t>实时</a:t>
              </a:r>
              <a:br/>
              <a:r>
                <a:rPr lang="zh-CN" altLang="en-US" sz="1000" dirty="0">
                  <a:solidFill>
                    <a:srgbClr val="FFFFFF"/>
                  </a:solidFill>
                  <a:latin typeface="微软雅黑"/>
                  <a:ea typeface="微软雅黑"/>
                  <a:cs typeface="微软雅黑"/>
                </a:rPr>
                <a:t>数据处理</a:t>
              </a:r>
              <a:endParaRPr lang="zh-CN" altLang="en-US" sz="1000" dirty="0">
                <a:solidFill>
                  <a:srgbClr val="FFFFFF"/>
                </a:solidFill>
                <a:latin typeface="微软雅黑"/>
                <a:ea typeface="微软雅黑"/>
                <a:cs typeface="微软雅黑"/>
              </a:endParaRPr>
            </a:p>
          </p:txBody>
        </p:sp>
      </p:grpSp>
      <p:sp>
        <p:nvSpPr>
          <p:cNvPr id="158" name="圆角矩形 157"/>
          <p:cNvSpPr/>
          <p:nvPr/>
        </p:nvSpPr>
        <p:spPr>
          <a:xfrm>
            <a:off x="3289300" y="5274310"/>
            <a:ext cx="736600" cy="38100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59" name="紫荆的职场Point22"/>
          <p:cNvSpPr txBox="1"/>
          <p:nvPr/>
        </p:nvSpPr>
        <p:spPr>
          <a:xfrm>
            <a:off x="3302000" y="5283200"/>
            <a:ext cx="711200" cy="355600"/>
          </a:xfrm>
          <a:prstGeom prst="rect">
            <a:avLst/>
          </a:prstGeom>
          <a:noFill/>
        </p:spPr>
        <p:txBody>
          <a:bodyPr wrap="square" anchor="ctr" anchorCtr="0" lIns="0" rIns="0" tIns="0" bIns="0" vert="horz">
            <a:noAutofit/>
          </a:bodyPr>
          <a:lstStyle/>
          <a:p>
            <a:pPr algn="ctr">
              <a:defRPr sz="1000">
                <a:solidFill>
                  <a:srgbClr val="FFFFFF"/>
                </a:solidFill>
                <a:latin typeface="微软雅黑"/>
                <a:ea typeface="微软雅黑"/>
                <a:cs typeface="微软雅黑"/>
              </a:defRPr>
              <a:lnSpc>
                <a:spcPct val="83000"/>
              </a:lnSpc>
              <a:spcBef>
                <a:spcPts val="0"/>
              </a:spcBef>
              <a:spcAft>
                <a:spcPts val="0"/>
              </a:spcAft>
            </a:pPr>
            <a:r>
              <a:rPr lang="zh-CN" altLang="en-US" sz="1000" dirty="0">
                <a:solidFill>
                  <a:srgbClr val="FFFFFF"/>
                </a:solidFill>
                <a:latin typeface="微软雅黑"/>
                <a:ea typeface="微软雅黑"/>
                <a:cs typeface="微软雅黑"/>
              </a:rPr>
              <a:t>实时</a:t>
            </a:r>
            <a:br/>
            <a:r>
              <a:rPr lang="zh-CN" altLang="en-US" sz="1000" dirty="0">
                <a:solidFill>
                  <a:srgbClr val="FFFFFF"/>
                </a:solidFill>
                <a:latin typeface="微软雅黑"/>
                <a:ea typeface="微软雅黑"/>
                <a:cs typeface="微软雅黑"/>
              </a:rPr>
              <a:t>数据库</a:t>
            </a:r>
            <a:endParaRPr lang="zh-CN" altLang="en-US" sz="1000" dirty="0">
              <a:solidFill>
                <a:srgbClr val="FFFFFF"/>
              </a:solidFill>
              <a:latin typeface="微软雅黑"/>
              <a:ea typeface="微软雅黑"/>
              <a:cs typeface="微软雅黑"/>
            </a:endParaRPr>
          </a:p>
        </p:txBody>
      </p:sp>
      <p:grpSp>
        <p:nvGrpSpPr>
          <p:cNvPr id="188" name="组合 187"/>
          <p:cNvGrpSpPr/>
          <p:nvPr/>
        </p:nvGrpSpPr>
        <p:grpSpPr>
          <a:xfrm>
            <a:off x="2566035" y="3865245"/>
            <a:ext cx="627380" cy="934085"/>
            <a:chOff x="4041" y="6279"/>
            <a:chExt cx="988" cy="1471"/>
          </a:xfrm>
        </p:grpSpPr>
        <p:sp>
          <p:nvSpPr>
            <p:cNvPr id="160" name="圆角矩形 159"/>
            <p:cNvSpPr/>
            <p:nvPr/>
          </p:nvSpPr>
          <p:spPr>
            <a:xfrm>
              <a:off x="3900" y="6112"/>
              <a:ext cx="1220" cy="1988"/>
            </a:xfrm>
            <a:prstGeom prst="roundRect">
              <a:avLst>
                <a:gd name="adj" fmla="val 8974"/>
              </a:avLst>
            </a:prstGeom>
            <a:noFill/>
            <a:ln w="6350">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164" name="直接连接符 163"/>
            <p:cNvCxnSpPr/>
            <p:nvPr/>
          </p:nvCxnSpPr>
          <p:spPr>
            <a:xfrm>
              <a:off x="3940" y="7572"/>
              <a:ext cx="1140" cy="0"/>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165" name="直接连接符 164"/>
            <p:cNvCxnSpPr/>
            <p:nvPr/>
          </p:nvCxnSpPr>
          <p:spPr>
            <a:xfrm>
              <a:off x="3940" y="7012"/>
              <a:ext cx="1140" cy="0"/>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166" name="直接连接符 165"/>
            <p:cNvCxnSpPr/>
            <p:nvPr/>
          </p:nvCxnSpPr>
          <p:spPr>
            <a:xfrm>
              <a:off x="3900" y="6378"/>
              <a:ext cx="1220" cy="0"/>
            </a:xfrm>
            <a:prstGeom prst="line">
              <a:avLst/>
            </a:prstGeom>
            <a:ln w="6350"/>
          </p:spPr>
          <p:style>
            <a:lnRef idx="2">
              <a:srgbClr val="0042FF"/>
            </a:lnRef>
            <a:fillRef idx="0">
              <a:srgbClr val="FFFFFF"/>
            </a:fillRef>
            <a:effectRef idx="0">
              <a:srgbClr val="FFFFFF"/>
            </a:effectRef>
            <a:fontRef idx="minor">
              <a:srgbClr val="383838"/>
            </a:fontRef>
          </p:style>
        </p:cxnSp>
        <p:sp>
          <p:nvSpPr>
            <p:cNvPr id="182" name="任意多边形 181"/>
            <p:cNvSpPr/>
            <p:nvPr/>
          </p:nvSpPr>
          <p:spPr>
            <a:xfrm>
              <a:off x="3900" y="6112"/>
              <a:ext cx="1220" cy="266"/>
            </a:xfrm>
            <a:custGeom>
              <a:avLst/>
              <a:gdLst>
                <a:gd name="adj" fmla="val 22922"/>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987" h="267">
                  <a:moveTo>
                    <a:pt x="0" y="80"/>
                  </a:moveTo>
                  <a:cubicBezTo>
                    <a:pt x="-1" y="35"/>
                    <a:pt x="40" y="-1"/>
                    <a:pt x="80" y="0"/>
                  </a:cubicBezTo>
                  <a:lnTo>
                    <a:pt x="907" y="0"/>
                  </a:lnTo>
                  <a:cubicBezTo>
                    <a:pt x="952" y="-1"/>
                    <a:pt x="988" y="40"/>
                    <a:pt x="987" y="80"/>
                  </a:cubicBezTo>
                  <a:lnTo>
                    <a:pt x="987" y="267"/>
                  </a:lnTo>
                  <a:lnTo>
                    <a:pt x="0" y="267"/>
                  </a:lnTo>
                  <a:lnTo>
                    <a:pt x="0" y="80"/>
                  </a:lnTo>
                  <a:close/>
                </a:path>
              </a:pathLst>
            </a:cu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85" name="紫荆的职场Point22"/>
            <p:cNvSpPr txBox="1"/>
            <p:nvPr/>
          </p:nvSpPr>
          <p:spPr>
            <a:xfrm>
              <a:off x="3940" y="6592"/>
              <a:ext cx="1140" cy="30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接口路由</a:t>
              </a:r>
              <a:endParaRPr lang="zh-CN" altLang="en-US" sz="1000" dirty="0">
                <a:solidFill>
                  <a:srgbClr val="383838"/>
                </a:solidFill>
                <a:latin typeface="微软雅黑"/>
                <a:ea typeface="微软雅黑"/>
                <a:cs typeface="微软雅黑"/>
              </a:endParaRPr>
            </a:p>
          </p:txBody>
        </p:sp>
        <p:sp>
          <p:nvSpPr>
            <p:cNvPr id="186" name="紫荆的职场Point22"/>
            <p:cNvSpPr txBox="1"/>
            <p:nvPr/>
          </p:nvSpPr>
          <p:spPr>
            <a:xfrm>
              <a:off x="3940" y="7152"/>
              <a:ext cx="1140" cy="30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负载均衡</a:t>
              </a:r>
              <a:endParaRPr lang="zh-CN" altLang="en-US" sz="1000" dirty="0">
                <a:solidFill>
                  <a:srgbClr val="383838"/>
                </a:solidFill>
                <a:latin typeface="微软雅黑"/>
                <a:ea typeface="微软雅黑"/>
                <a:cs typeface="微软雅黑"/>
              </a:endParaRPr>
            </a:p>
          </p:txBody>
        </p:sp>
        <p:sp>
          <p:nvSpPr>
            <p:cNvPr id="187" name="紫荆的职场Point22"/>
            <p:cNvSpPr txBox="1"/>
            <p:nvPr/>
          </p:nvSpPr>
          <p:spPr>
            <a:xfrm>
              <a:off x="3940" y="7712"/>
              <a:ext cx="1140" cy="30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安全管理</a:t>
              </a:r>
              <a:endParaRPr lang="zh-CN" altLang="en-US" sz="1000" dirty="0">
                <a:solidFill>
                  <a:srgbClr val="383838"/>
                </a:solidFill>
                <a:latin typeface="微软雅黑"/>
                <a:ea typeface="微软雅黑"/>
                <a:cs typeface="微软雅黑"/>
              </a:endParaRPr>
            </a:p>
          </p:txBody>
        </p:sp>
      </p:grpSp>
      <p:grpSp>
        <p:nvGrpSpPr>
          <p:cNvPr id="199" name="组合 198"/>
          <p:cNvGrpSpPr/>
          <p:nvPr/>
        </p:nvGrpSpPr>
        <p:grpSpPr>
          <a:xfrm>
            <a:off x="5153025" y="3861435"/>
            <a:ext cx="731520" cy="934085"/>
            <a:chOff x="3959" y="6279"/>
            <a:chExt cx="1152" cy="1471"/>
          </a:xfrm>
        </p:grpSpPr>
        <p:sp>
          <p:nvSpPr>
            <p:cNvPr id="200" name="圆角矩形 199"/>
            <p:cNvSpPr/>
            <p:nvPr/>
          </p:nvSpPr>
          <p:spPr>
            <a:xfrm>
              <a:off x="4044" y="6118"/>
              <a:ext cx="1220" cy="1988"/>
            </a:xfrm>
            <a:prstGeom prst="roundRect">
              <a:avLst>
                <a:gd name="adj" fmla="val 8974"/>
              </a:avLst>
            </a:prstGeom>
            <a:noFill/>
            <a:ln w="6350">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201" name="直接连接符 200"/>
            <p:cNvCxnSpPr/>
            <p:nvPr/>
          </p:nvCxnSpPr>
          <p:spPr>
            <a:xfrm>
              <a:off x="4064" y="7198"/>
              <a:ext cx="1180" cy="0"/>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203" name="直接连接符 202"/>
            <p:cNvCxnSpPr/>
            <p:nvPr/>
          </p:nvCxnSpPr>
          <p:spPr>
            <a:xfrm>
              <a:off x="4044" y="6384"/>
              <a:ext cx="1220" cy="0"/>
            </a:xfrm>
            <a:prstGeom prst="line">
              <a:avLst/>
            </a:prstGeom>
            <a:ln w="6350"/>
          </p:spPr>
          <p:style>
            <a:lnRef idx="2">
              <a:srgbClr val="0042FF"/>
            </a:lnRef>
            <a:fillRef idx="0">
              <a:srgbClr val="FFFFFF"/>
            </a:fillRef>
            <a:effectRef idx="0">
              <a:srgbClr val="FFFFFF"/>
            </a:effectRef>
            <a:fontRef idx="minor">
              <a:srgbClr val="383838"/>
            </a:fontRef>
          </p:style>
        </p:cxnSp>
        <p:sp>
          <p:nvSpPr>
            <p:cNvPr id="204" name="任意多边形 203"/>
            <p:cNvSpPr/>
            <p:nvPr/>
          </p:nvSpPr>
          <p:spPr>
            <a:xfrm>
              <a:off x="4044" y="6118"/>
              <a:ext cx="1220" cy="266"/>
            </a:xfrm>
            <a:custGeom>
              <a:avLst/>
              <a:gdLst>
                <a:gd name="adj" fmla="val 22922"/>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987" h="267">
                  <a:moveTo>
                    <a:pt x="0" y="80"/>
                  </a:moveTo>
                  <a:cubicBezTo>
                    <a:pt x="-1" y="35"/>
                    <a:pt x="40" y="-1"/>
                    <a:pt x="80" y="0"/>
                  </a:cubicBezTo>
                  <a:lnTo>
                    <a:pt x="907" y="0"/>
                  </a:lnTo>
                  <a:cubicBezTo>
                    <a:pt x="952" y="-1"/>
                    <a:pt x="988" y="40"/>
                    <a:pt x="987" y="80"/>
                  </a:cubicBezTo>
                  <a:lnTo>
                    <a:pt x="987" y="267"/>
                  </a:lnTo>
                  <a:lnTo>
                    <a:pt x="0" y="267"/>
                  </a:lnTo>
                  <a:lnTo>
                    <a:pt x="0" y="80"/>
                  </a:lnTo>
                  <a:close/>
                </a:path>
              </a:pathLst>
            </a:cu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205" name="紫荆的职场Point22"/>
            <p:cNvSpPr txBox="1"/>
            <p:nvPr/>
          </p:nvSpPr>
          <p:spPr>
            <a:xfrm>
              <a:off x="4044" y="6118"/>
              <a:ext cx="1220" cy="266"/>
            </a:xfrm>
            <a:prstGeom prst="rect">
              <a:avLst/>
            </a:prstGeom>
            <a:noFill/>
          </p:spPr>
          <p:txBody>
            <a:bodyPr wrap="none" anchor="ctr" anchorCtr="0" lIns="0" rIns="0" tIns="0" bIns="0" vert="horz">
              <a:noAutofit/>
            </a:bodyPr>
            <a:lstStyle/>
            <a:p>
              <a:pPr algn="ctr">
                <a:defRPr sz="1000">
                  <a:solidFill>
                    <a:srgbClr val="FFFFFF"/>
                  </a:solidFill>
                  <a:latin typeface="微软雅黑"/>
                  <a:ea typeface="微软雅黑"/>
                  <a:cs typeface="微软雅黑"/>
                </a:defRPr>
                <a:lnSpc>
                  <a:spcPct val="100000"/>
                </a:lnSpc>
                <a:spcBef>
                  <a:spcPts val="0"/>
                </a:spcBef>
                <a:spcAft>
                  <a:spcPts val="0"/>
                </a:spcAft>
              </a:pPr>
              <a:r>
                <a:rPr lang="zh-CN" altLang="en-US" sz="1000" dirty="0">
                  <a:solidFill>
                    <a:srgbClr val="FFFFFF"/>
                  </a:solidFill>
                  <a:latin typeface="微软雅黑"/>
                  <a:ea typeface="微软雅黑"/>
                  <a:cs typeface="微软雅黑"/>
                </a:rPr>
                <a:t>服务运维管理</a:t>
              </a:r>
              <a:endParaRPr lang="zh-CN" altLang="en-US" sz="1000" dirty="0">
                <a:solidFill>
                  <a:srgbClr val="FFFFFF"/>
                </a:solidFill>
                <a:latin typeface="微软雅黑"/>
                <a:ea typeface="微软雅黑"/>
                <a:cs typeface="微软雅黑"/>
              </a:endParaRPr>
            </a:p>
          </p:txBody>
        </p:sp>
        <p:sp>
          <p:nvSpPr>
            <p:cNvPr id="206" name="紫荆的职场Point22"/>
            <p:cNvSpPr txBox="1"/>
            <p:nvPr/>
          </p:nvSpPr>
          <p:spPr>
            <a:xfrm>
              <a:off x="4064" y="6598"/>
              <a:ext cx="1180" cy="580"/>
            </a:xfrm>
            <a:prstGeom prst="rect">
              <a:avLst/>
            </a:prstGeom>
            <a:noFill/>
          </p:spPr>
          <p:txBody>
            <a:bodyPr wrap="square" anchor="ctr" anchorCtr="0" lIns="0" rIns="0" tIns="0" bIns="0"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dirty="0">
                  <a:solidFill>
                    <a:srgbClr val="383838"/>
                  </a:solidFill>
                  <a:latin typeface="微软雅黑"/>
                  <a:ea typeface="微软雅黑"/>
                  <a:cs typeface="微软雅黑"/>
                </a:rPr>
                <a:t>接口服务</a:t>
              </a:r>
              <a:br/>
              <a:r>
                <a:rPr lang="zh-CN" altLang="en-US" sz="1000" dirty="0">
                  <a:solidFill>
                    <a:srgbClr val="383838"/>
                  </a:solidFill>
                  <a:latin typeface="微软雅黑"/>
                  <a:ea typeface="微软雅黑"/>
                  <a:cs typeface="微软雅黑"/>
                </a:rPr>
                <a:t>状态监控</a:t>
              </a:r>
              <a:endParaRPr lang="zh-CN" altLang="en-US" sz="1000" dirty="0">
                <a:solidFill>
                  <a:srgbClr val="383838"/>
                </a:solidFill>
                <a:latin typeface="微软雅黑"/>
                <a:ea typeface="微软雅黑"/>
                <a:cs typeface="微软雅黑"/>
              </a:endParaRPr>
            </a:p>
          </p:txBody>
        </p:sp>
        <p:sp>
          <p:nvSpPr>
            <p:cNvPr id="208" name="紫荆的职场Point22"/>
            <p:cNvSpPr txBox="1"/>
            <p:nvPr/>
          </p:nvSpPr>
          <p:spPr>
            <a:xfrm>
              <a:off x="4064" y="7378"/>
              <a:ext cx="1180" cy="580"/>
            </a:xfrm>
            <a:prstGeom prst="rect">
              <a:avLst/>
            </a:prstGeom>
            <a:noFill/>
          </p:spPr>
          <p:txBody>
            <a:bodyPr wrap="square" anchor="ctr" anchorCtr="0" lIns="0" rIns="0" tIns="0" bIns="0"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dirty="0">
                  <a:solidFill>
                    <a:srgbClr val="383838"/>
                  </a:solidFill>
                  <a:latin typeface="微软雅黑"/>
                  <a:ea typeface="微软雅黑"/>
                  <a:cs typeface="微软雅黑"/>
                </a:rPr>
                <a:t>接口传输</a:t>
              </a:r>
              <a:br/>
              <a:r>
                <a:rPr lang="zh-CN" altLang="en-US" sz="1000" dirty="0">
                  <a:solidFill>
                    <a:srgbClr val="383838"/>
                  </a:solidFill>
                  <a:latin typeface="微软雅黑"/>
                  <a:ea typeface="微软雅黑"/>
                  <a:cs typeface="微软雅黑"/>
                </a:rPr>
                <a:t>日志管理</a:t>
              </a:r>
              <a:endParaRPr lang="zh-CN" altLang="en-US" sz="1000" dirty="0">
                <a:solidFill>
                  <a:srgbClr val="383838"/>
                </a:solidFill>
                <a:latin typeface="微软雅黑"/>
                <a:ea typeface="微软雅黑"/>
                <a:cs typeface="微软雅黑"/>
              </a:endParaRPr>
            </a:p>
          </p:txBody>
        </p:sp>
      </p:grpSp>
      <p:sp>
        <p:nvSpPr>
          <p:cNvPr id="209" name="紫荆的职场Point22"/>
          <p:cNvSpPr txBox="1"/>
          <p:nvPr/>
        </p:nvSpPr>
        <p:spPr>
          <a:xfrm>
            <a:off x="2476500" y="3759200"/>
            <a:ext cx="774700" cy="168910"/>
          </a:xfrm>
          <a:prstGeom prst="rect">
            <a:avLst/>
          </a:prstGeom>
          <a:noFill/>
        </p:spPr>
        <p:txBody>
          <a:bodyPr wrap="none" anchor="ctr" anchorCtr="0" lIns="0" rIns="0" tIns="0" bIns="0" vert="horz">
            <a:noAutofit/>
          </a:bodyPr>
          <a:lstStyle/>
          <a:p>
            <a:pPr algn="ctr">
              <a:defRPr sz="1000">
                <a:solidFill>
                  <a:srgbClr val="FFFFFF"/>
                </a:solidFill>
                <a:latin typeface="微软雅黑"/>
                <a:ea typeface="微软雅黑"/>
                <a:cs typeface="微软雅黑"/>
              </a:defRPr>
              <a:lnSpc>
                <a:spcPct val="100000"/>
              </a:lnSpc>
              <a:spcBef>
                <a:spcPts val="0"/>
              </a:spcBef>
              <a:spcAft>
                <a:spcPts val="0"/>
              </a:spcAft>
            </a:pPr>
            <a:r>
              <a:rPr lang="zh-CN" altLang="en-US" sz="1000" dirty="0">
                <a:solidFill>
                  <a:srgbClr val="FFFFFF"/>
                </a:solidFill>
                <a:latin typeface="微软雅黑"/>
                <a:ea typeface="微软雅黑"/>
                <a:cs typeface="微软雅黑"/>
              </a:rPr>
              <a:t>服务调度管理</a:t>
            </a:r>
            <a:endParaRPr lang="zh-CN" altLang="en-US" sz="1000" dirty="0">
              <a:solidFill>
                <a:srgbClr val="FFFFFF"/>
              </a:solidFill>
              <a:latin typeface="微软雅黑"/>
              <a:ea typeface="微软雅黑"/>
              <a:cs typeface="微软雅黑"/>
            </a:endParaRPr>
          </a:p>
        </p:txBody>
      </p:sp>
      <p:grpSp>
        <p:nvGrpSpPr>
          <p:cNvPr id="224" name="组合 223"/>
          <p:cNvGrpSpPr/>
          <p:nvPr/>
        </p:nvGrpSpPr>
        <p:grpSpPr>
          <a:xfrm>
            <a:off x="3253105" y="3865245"/>
            <a:ext cx="1910715" cy="455930"/>
            <a:chOff x="5123" y="6279"/>
            <a:chExt cx="3009" cy="718"/>
          </a:xfrm>
        </p:grpSpPr>
        <p:sp>
          <p:nvSpPr>
            <p:cNvPr id="171" name="圆角矩形 170"/>
            <p:cNvSpPr/>
            <p:nvPr/>
          </p:nvSpPr>
          <p:spPr>
            <a:xfrm>
              <a:off x="5160" y="6112"/>
              <a:ext cx="3000" cy="1200"/>
            </a:xfrm>
            <a:prstGeom prst="roundRect">
              <a:avLst>
                <a:gd name="adj" fmla="val 8974"/>
              </a:avLst>
            </a:prstGeom>
            <a:noFill/>
            <a:ln w="6350">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172" name="直接连接符 171"/>
            <p:cNvCxnSpPr/>
            <p:nvPr/>
          </p:nvCxnSpPr>
          <p:spPr>
            <a:xfrm>
              <a:off x="5160" y="6378"/>
              <a:ext cx="3000" cy="0"/>
            </a:xfrm>
            <a:prstGeom prst="line">
              <a:avLst/>
            </a:prstGeom>
            <a:ln w="6350"/>
          </p:spPr>
          <p:style>
            <a:lnRef idx="2">
              <a:srgbClr val="0042FF"/>
            </a:lnRef>
            <a:fillRef idx="0">
              <a:srgbClr val="FFFFFF"/>
            </a:fillRef>
            <a:effectRef idx="0">
              <a:srgbClr val="FFFFFF"/>
            </a:effectRef>
            <a:fontRef idx="minor">
              <a:srgbClr val="383838"/>
            </a:fontRef>
          </p:style>
        </p:cxnSp>
        <p:cxnSp>
          <p:nvCxnSpPr>
            <p:cNvPr id="173" name="直接连接符 172"/>
            <p:cNvCxnSpPr/>
            <p:nvPr/>
          </p:nvCxnSpPr>
          <p:spPr>
            <a:xfrm>
              <a:off x="5160" y="6842"/>
              <a:ext cx="3000" cy="0"/>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174" name="直接连接符 173"/>
            <p:cNvCxnSpPr/>
            <p:nvPr/>
          </p:nvCxnSpPr>
          <p:spPr>
            <a:xfrm>
              <a:off x="6160" y="6378"/>
              <a:ext cx="0" cy="926"/>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175" name="直接连接符 174"/>
            <p:cNvCxnSpPr/>
            <p:nvPr/>
          </p:nvCxnSpPr>
          <p:spPr>
            <a:xfrm>
              <a:off x="7160" y="6378"/>
              <a:ext cx="0" cy="926"/>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sp>
          <p:nvSpPr>
            <p:cNvPr id="212" name="任意多边形 211"/>
            <p:cNvSpPr/>
            <p:nvPr/>
          </p:nvSpPr>
          <p:spPr>
            <a:xfrm>
              <a:off x="5160" y="6112"/>
              <a:ext cx="3000" cy="266"/>
            </a:xfrm>
            <a:custGeom>
              <a:avLst/>
              <a:gdLst>
                <a:gd name="adj" fmla="val 19933"/>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001" h="264">
                  <a:moveTo>
                    <a:pt x="0" y="60"/>
                  </a:moveTo>
                  <a:cubicBezTo>
                    <a:pt x="-1" y="26"/>
                    <a:pt x="30" y="-1"/>
                    <a:pt x="60" y="0"/>
                  </a:cubicBezTo>
                  <a:lnTo>
                    <a:pt x="2941" y="0"/>
                  </a:lnTo>
                  <a:cubicBezTo>
                    <a:pt x="2975" y="-1"/>
                    <a:pt x="3002" y="30"/>
                    <a:pt x="3001" y="60"/>
                  </a:cubicBezTo>
                  <a:lnTo>
                    <a:pt x="3001" y="241"/>
                  </a:lnTo>
                  <a:cubicBezTo>
                    <a:pt x="3001" y="249"/>
                    <a:pt x="2998" y="260"/>
                    <a:pt x="2996" y="264"/>
                  </a:cubicBezTo>
                  <a:lnTo>
                    <a:pt x="5" y="264"/>
                  </a:lnTo>
                  <a:cubicBezTo>
                    <a:pt x="1" y="257"/>
                    <a:pt x="0" y="246"/>
                    <a:pt x="0" y="241"/>
                  </a:cubicBezTo>
                  <a:lnTo>
                    <a:pt x="0" y="60"/>
                  </a:lnTo>
                  <a:close/>
                </a:path>
              </a:pathLst>
            </a:custGeom>
            <a:solidFill>
              <a:srgbClr val="3368FF"/>
            </a:solidFill>
            <a:ln w="6350">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14" name="紫荆的职场Point22"/>
            <p:cNvSpPr txBox="1"/>
            <p:nvPr/>
          </p:nvSpPr>
          <p:spPr>
            <a:xfrm>
              <a:off x="5160" y="6112"/>
              <a:ext cx="3000" cy="266"/>
            </a:xfrm>
            <a:prstGeom prst="rect">
              <a:avLst/>
            </a:prstGeom>
            <a:noFill/>
          </p:spPr>
          <p:txBody>
            <a:bodyPr wrap="none" anchor="ctr" anchorCtr="0" lIns="0" rIns="0" tIns="0" bIns="0" vert="horz">
              <a:noAutofit/>
            </a:bodyPr>
            <a:lstStyle/>
            <a:p>
              <a:pPr algn="ctr">
                <a:defRPr sz="1000">
                  <a:solidFill>
                    <a:srgbClr val="FFFFFF"/>
                  </a:solidFill>
                  <a:latin typeface="微软雅黑"/>
                  <a:ea typeface="微软雅黑"/>
                  <a:cs typeface="微软雅黑"/>
                </a:defRPr>
                <a:lnSpc>
                  <a:spcPct val="100000"/>
                </a:lnSpc>
                <a:spcBef>
                  <a:spcPts val="0"/>
                </a:spcBef>
                <a:spcAft>
                  <a:spcPts val="0"/>
                </a:spcAft>
              </a:pPr>
              <a:r>
                <a:rPr lang="zh-CN" altLang="en-US" sz="1000" dirty="0">
                  <a:solidFill>
                    <a:srgbClr val="FFFFFF"/>
                  </a:solidFill>
                  <a:latin typeface="微软雅黑"/>
                  <a:ea typeface="微软雅黑"/>
                  <a:cs typeface="微软雅黑"/>
                </a:rPr>
                <a:t>数据服务组件</a:t>
              </a:r>
              <a:endParaRPr lang="zh-CN" altLang="en-US" sz="1000" dirty="0">
                <a:solidFill>
                  <a:srgbClr val="FFFFFF"/>
                </a:solidFill>
                <a:latin typeface="微软雅黑"/>
                <a:ea typeface="微软雅黑"/>
                <a:cs typeface="微软雅黑"/>
              </a:endParaRPr>
            </a:p>
          </p:txBody>
        </p:sp>
        <p:sp>
          <p:nvSpPr>
            <p:cNvPr id="215" name="椭圆 214"/>
            <p:cNvSpPr/>
            <p:nvPr/>
          </p:nvSpPr>
          <p:spPr>
            <a:xfrm>
              <a:off x="6131" y="6813"/>
              <a:ext cx="57" cy="57"/>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16" name="椭圆 215"/>
            <p:cNvSpPr/>
            <p:nvPr/>
          </p:nvSpPr>
          <p:spPr>
            <a:xfrm>
              <a:off x="7131" y="6814"/>
              <a:ext cx="57" cy="57"/>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18" name="紫荆的职场Point22"/>
            <p:cNvSpPr txBox="1"/>
            <p:nvPr/>
          </p:nvSpPr>
          <p:spPr>
            <a:xfrm>
              <a:off x="5160" y="6386"/>
              <a:ext cx="1000" cy="460"/>
            </a:xfrm>
            <a:prstGeom prst="rect">
              <a:avLst/>
            </a:prstGeom>
            <a:noFill/>
          </p:spPr>
          <p:txBody>
            <a:bodyPr wrap="square" anchor="ctr" anchorCtr="0" lIns="0" rIns="0" tIns="0" bIns="0"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dirty="0">
                  <a:solidFill>
                    <a:srgbClr val="383838"/>
                  </a:solidFill>
                  <a:latin typeface="微软雅黑"/>
                  <a:ea typeface="微软雅黑"/>
                  <a:cs typeface="微软雅黑"/>
                </a:rPr>
                <a:t>数据处</a:t>
              </a:r>
              <a:r>
                <a:rPr lang="zh-CN" altLang="en-US" sz="1000" dirty="0">
                  <a:solidFill>
                    <a:srgbClr val="383838"/>
                  </a:solidFill>
                  <a:latin typeface="微软雅黑"/>
                  <a:ea typeface="微软雅黑"/>
                  <a:cs typeface="微软雅黑"/>
                </a:rPr>
                <a:t>理</a:t>
              </a:r>
              <a:br/>
              <a:r>
                <a:rPr lang="zh-CN" altLang="en-US" sz="1000" dirty="0">
                  <a:solidFill>
                    <a:srgbClr val="383838"/>
                  </a:solidFill>
                  <a:latin typeface="微软雅黑"/>
                  <a:ea typeface="微软雅黑"/>
                  <a:cs typeface="微软雅黑"/>
                </a:rPr>
                <a:t>组件</a:t>
              </a:r>
              <a:endParaRPr lang="zh-CN" altLang="en-US" sz="1000" dirty="0">
                <a:solidFill>
                  <a:srgbClr val="383838"/>
                </a:solidFill>
                <a:latin typeface="微软雅黑"/>
                <a:ea typeface="微软雅黑"/>
                <a:cs typeface="微软雅黑"/>
              </a:endParaRPr>
            </a:p>
          </p:txBody>
        </p:sp>
        <p:sp>
          <p:nvSpPr>
            <p:cNvPr id="219" name="紫荆的职场Point22"/>
            <p:cNvSpPr txBox="1"/>
            <p:nvPr/>
          </p:nvSpPr>
          <p:spPr>
            <a:xfrm>
              <a:off x="5160" y="6846"/>
              <a:ext cx="1000" cy="460"/>
            </a:xfrm>
            <a:prstGeom prst="rect">
              <a:avLst/>
            </a:prstGeom>
            <a:noFill/>
          </p:spPr>
          <p:txBody>
            <a:bodyPr wrap="square" anchor="ctr" anchorCtr="0" lIns="0" rIns="0" tIns="0" bIns="0"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dirty="0">
                  <a:solidFill>
                    <a:srgbClr val="383838"/>
                  </a:solidFill>
                  <a:latin typeface="微软雅黑"/>
                  <a:ea typeface="微软雅黑"/>
                  <a:cs typeface="微软雅黑"/>
                </a:rPr>
                <a:t>基础功</a:t>
              </a:r>
              <a:r>
                <a:rPr lang="zh-CN" altLang="en-US" sz="1000" dirty="0">
                  <a:solidFill>
                    <a:srgbClr val="383838"/>
                  </a:solidFill>
                  <a:latin typeface="微软雅黑"/>
                  <a:ea typeface="微软雅黑"/>
                  <a:cs typeface="微软雅黑"/>
                </a:rPr>
                <a:t>能</a:t>
              </a:r>
              <a:br/>
              <a:r>
                <a:rPr lang="zh-CN" altLang="en-US" sz="1000" dirty="0">
                  <a:solidFill>
                    <a:srgbClr val="383838"/>
                  </a:solidFill>
                  <a:latin typeface="微软雅黑"/>
                  <a:ea typeface="微软雅黑"/>
                  <a:cs typeface="微软雅黑"/>
                </a:rPr>
                <a:t>组件</a:t>
              </a:r>
              <a:endParaRPr lang="zh-CN" altLang="en-US" sz="1000" dirty="0">
                <a:solidFill>
                  <a:srgbClr val="383838"/>
                </a:solidFill>
                <a:latin typeface="微软雅黑"/>
                <a:ea typeface="微软雅黑"/>
                <a:cs typeface="微软雅黑"/>
              </a:endParaRPr>
            </a:p>
          </p:txBody>
        </p:sp>
        <p:sp>
          <p:nvSpPr>
            <p:cNvPr id="220" name="紫荆的职场Point22"/>
            <p:cNvSpPr txBox="1"/>
            <p:nvPr/>
          </p:nvSpPr>
          <p:spPr>
            <a:xfrm>
              <a:off x="6160" y="6386"/>
              <a:ext cx="1000" cy="460"/>
            </a:xfrm>
            <a:prstGeom prst="rect">
              <a:avLst/>
            </a:prstGeom>
            <a:noFill/>
          </p:spPr>
          <p:txBody>
            <a:bodyPr wrap="square" anchor="ctr" anchorCtr="0" lIns="0" rIns="0" tIns="0" bIns="0"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dirty="0">
                  <a:solidFill>
                    <a:srgbClr val="383838"/>
                  </a:solidFill>
                  <a:latin typeface="微软雅黑"/>
                  <a:ea typeface="微软雅黑"/>
                  <a:cs typeface="微软雅黑"/>
                </a:rPr>
                <a:t>数据查</a:t>
              </a:r>
              <a:r>
                <a:rPr lang="zh-CN" altLang="en-US" sz="1000" dirty="0">
                  <a:solidFill>
                    <a:srgbClr val="383838"/>
                  </a:solidFill>
                  <a:latin typeface="微软雅黑"/>
                  <a:ea typeface="微软雅黑"/>
                  <a:cs typeface="微软雅黑"/>
                </a:rPr>
                <a:t>询</a:t>
              </a:r>
              <a:br/>
              <a:r>
                <a:rPr lang="zh-CN" altLang="en-US" sz="1000" dirty="0">
                  <a:solidFill>
                    <a:srgbClr val="383838"/>
                  </a:solidFill>
                  <a:latin typeface="微软雅黑"/>
                  <a:ea typeface="微软雅黑"/>
                  <a:cs typeface="微软雅黑"/>
                </a:rPr>
                <a:t>组件</a:t>
              </a:r>
              <a:endParaRPr lang="zh-CN" altLang="en-US" sz="1000" dirty="0">
                <a:solidFill>
                  <a:srgbClr val="383838"/>
                </a:solidFill>
                <a:latin typeface="微软雅黑"/>
                <a:ea typeface="微软雅黑"/>
                <a:cs typeface="微软雅黑"/>
              </a:endParaRPr>
            </a:p>
          </p:txBody>
        </p:sp>
        <p:sp>
          <p:nvSpPr>
            <p:cNvPr id="221" name="紫荆的职场Point22"/>
            <p:cNvSpPr txBox="1"/>
            <p:nvPr/>
          </p:nvSpPr>
          <p:spPr>
            <a:xfrm>
              <a:off x="6160" y="6846"/>
              <a:ext cx="1000" cy="460"/>
            </a:xfrm>
            <a:prstGeom prst="rect">
              <a:avLst/>
            </a:prstGeom>
            <a:noFill/>
          </p:spPr>
          <p:txBody>
            <a:bodyPr wrap="square" anchor="ctr" anchorCtr="0" lIns="0" rIns="0" tIns="0" bIns="0"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dirty="0">
                  <a:solidFill>
                    <a:srgbClr val="383838"/>
                  </a:solidFill>
                  <a:latin typeface="微软雅黑"/>
                  <a:ea typeface="微软雅黑"/>
                  <a:cs typeface="微软雅黑"/>
                </a:rPr>
                <a:t>时间报</a:t>
              </a:r>
              <a:r>
                <a:rPr lang="zh-CN" altLang="en-US" sz="1000" dirty="0">
                  <a:solidFill>
                    <a:srgbClr val="383838"/>
                  </a:solidFill>
                  <a:latin typeface="微软雅黑"/>
                  <a:ea typeface="微软雅黑"/>
                  <a:cs typeface="微软雅黑"/>
                </a:rPr>
                <a:t>警</a:t>
              </a:r>
              <a:br/>
              <a:r>
                <a:rPr lang="zh-CN" altLang="en-US" sz="1000" dirty="0">
                  <a:solidFill>
                    <a:srgbClr val="383838"/>
                  </a:solidFill>
                  <a:latin typeface="微软雅黑"/>
                  <a:ea typeface="微软雅黑"/>
                  <a:cs typeface="微软雅黑"/>
                </a:rPr>
                <a:t>组件</a:t>
              </a:r>
              <a:endParaRPr lang="zh-CN" altLang="en-US" sz="1000" dirty="0">
                <a:solidFill>
                  <a:srgbClr val="383838"/>
                </a:solidFill>
                <a:latin typeface="微软雅黑"/>
                <a:ea typeface="微软雅黑"/>
                <a:cs typeface="微软雅黑"/>
              </a:endParaRPr>
            </a:p>
          </p:txBody>
        </p:sp>
        <p:sp>
          <p:nvSpPr>
            <p:cNvPr id="222" name="紫荆的职场Point22"/>
            <p:cNvSpPr txBox="1"/>
            <p:nvPr/>
          </p:nvSpPr>
          <p:spPr>
            <a:xfrm>
              <a:off x="7160" y="6386"/>
              <a:ext cx="1000" cy="460"/>
            </a:xfrm>
            <a:prstGeom prst="rect">
              <a:avLst/>
            </a:prstGeom>
            <a:noFill/>
          </p:spPr>
          <p:txBody>
            <a:bodyPr wrap="square" anchor="ctr" anchorCtr="0" lIns="0" rIns="0" tIns="0" bIns="0"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dirty="0">
                  <a:solidFill>
                    <a:srgbClr val="383838"/>
                  </a:solidFill>
                  <a:latin typeface="微软雅黑"/>
                  <a:ea typeface="微软雅黑"/>
                  <a:cs typeface="微软雅黑"/>
                </a:rPr>
                <a:t>数据可</a:t>
              </a:r>
              <a:r>
                <a:rPr lang="zh-CN" altLang="en-US" sz="1000" dirty="0">
                  <a:solidFill>
                    <a:srgbClr val="383838"/>
                  </a:solidFill>
                  <a:latin typeface="微软雅黑"/>
                  <a:ea typeface="微软雅黑"/>
                  <a:cs typeface="微软雅黑"/>
                </a:rPr>
                <a:t>视</a:t>
              </a:r>
              <a:br/>
              <a:r>
                <a:rPr lang="zh-CN" altLang="en-US" sz="1000" dirty="0">
                  <a:solidFill>
                    <a:srgbClr val="383838"/>
                  </a:solidFill>
                  <a:latin typeface="微软雅黑"/>
                  <a:ea typeface="微软雅黑"/>
                  <a:cs typeface="微软雅黑"/>
                </a:rPr>
                <a:t>组件</a:t>
              </a:r>
              <a:endParaRPr lang="zh-CN" altLang="en-US" sz="1000" dirty="0">
                <a:solidFill>
                  <a:srgbClr val="383838"/>
                </a:solidFill>
                <a:latin typeface="微软雅黑"/>
                <a:ea typeface="微软雅黑"/>
                <a:cs typeface="微软雅黑"/>
              </a:endParaRPr>
            </a:p>
          </p:txBody>
        </p:sp>
        <p:sp>
          <p:nvSpPr>
            <p:cNvPr id="223" name="紫荆的职场Point22"/>
            <p:cNvSpPr txBox="1"/>
            <p:nvPr/>
          </p:nvSpPr>
          <p:spPr>
            <a:xfrm>
              <a:off x="7160" y="6846"/>
              <a:ext cx="1000" cy="46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p:txBody>
        </p:sp>
      </p:grpSp>
      <p:grpSp>
        <p:nvGrpSpPr>
          <p:cNvPr id="241" name="组合 240"/>
          <p:cNvGrpSpPr/>
          <p:nvPr/>
        </p:nvGrpSpPr>
        <p:grpSpPr>
          <a:xfrm>
            <a:off x="3253105" y="4343400"/>
            <a:ext cx="1910715" cy="456565"/>
            <a:chOff x="5123" y="6279"/>
            <a:chExt cx="3009" cy="719"/>
          </a:xfrm>
        </p:grpSpPr>
        <p:sp>
          <p:nvSpPr>
            <p:cNvPr id="242" name="圆角矩形 241"/>
            <p:cNvSpPr/>
            <p:nvPr/>
          </p:nvSpPr>
          <p:spPr>
            <a:xfrm>
              <a:off x="5160" y="6579"/>
              <a:ext cx="3000" cy="768"/>
            </a:xfrm>
            <a:prstGeom prst="roundRect">
              <a:avLst>
                <a:gd name="adj" fmla="val 8974"/>
              </a:avLst>
            </a:prstGeom>
            <a:noFill/>
            <a:ln w="6350">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243" name="直接连接符 242"/>
            <p:cNvCxnSpPr/>
            <p:nvPr/>
          </p:nvCxnSpPr>
          <p:spPr>
            <a:xfrm>
              <a:off x="5160" y="6845"/>
              <a:ext cx="3000" cy="0"/>
            </a:xfrm>
            <a:prstGeom prst="line">
              <a:avLst/>
            </a:prstGeom>
            <a:ln w="6350"/>
          </p:spPr>
          <p:style>
            <a:lnRef idx="2">
              <a:srgbClr val="0042FF"/>
            </a:lnRef>
            <a:fillRef idx="0">
              <a:srgbClr val="FFFFFF"/>
            </a:fillRef>
            <a:effectRef idx="0">
              <a:srgbClr val="FFFFFF"/>
            </a:effectRef>
            <a:fontRef idx="minor">
              <a:srgbClr val="383838"/>
            </a:fontRef>
          </p:style>
        </p:cxnSp>
        <p:cxnSp>
          <p:nvCxnSpPr>
            <p:cNvPr id="244" name="直接连接符 243"/>
            <p:cNvCxnSpPr/>
            <p:nvPr/>
          </p:nvCxnSpPr>
          <p:spPr>
            <a:xfrm>
              <a:off x="5160" y="7093"/>
              <a:ext cx="3000" cy="0"/>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245" name="直接连接符 244"/>
            <p:cNvCxnSpPr/>
            <p:nvPr/>
          </p:nvCxnSpPr>
          <p:spPr>
            <a:xfrm>
              <a:off x="6160" y="6845"/>
              <a:ext cx="0" cy="498"/>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246" name="直接连接符 245"/>
            <p:cNvCxnSpPr/>
            <p:nvPr/>
          </p:nvCxnSpPr>
          <p:spPr>
            <a:xfrm>
              <a:off x="7160" y="6845"/>
              <a:ext cx="0" cy="498"/>
            </a:xfrm>
            <a:prstGeom prst="line">
              <a:avLst/>
            </a:prstGeom>
            <a:ln w="6350">
              <a:solidFill>
                <a:srgbClr val="668EFF"/>
              </a:solidFill>
              <a:prstDash val="sysDash"/>
            </a:ln>
          </p:spPr>
          <p:style>
            <a:lnRef idx="2">
              <a:srgbClr val="0042FF"/>
            </a:lnRef>
            <a:fillRef idx="0">
              <a:srgbClr val="FFFFFF"/>
            </a:fillRef>
            <a:effectRef idx="0">
              <a:srgbClr val="FFFFFF"/>
            </a:effectRef>
            <a:fontRef idx="minor">
              <a:srgbClr val="383838"/>
            </a:fontRef>
          </p:style>
        </p:cxnSp>
        <p:sp>
          <p:nvSpPr>
            <p:cNvPr id="247" name="任意多边形 246"/>
            <p:cNvSpPr/>
            <p:nvPr/>
          </p:nvSpPr>
          <p:spPr>
            <a:xfrm>
              <a:off x="5160" y="6579"/>
              <a:ext cx="3000" cy="266"/>
            </a:xfrm>
            <a:custGeom>
              <a:avLst/>
              <a:gdLst>
                <a:gd name="adj" fmla="val 19933"/>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001" h="264">
                  <a:moveTo>
                    <a:pt x="0" y="60"/>
                  </a:moveTo>
                  <a:cubicBezTo>
                    <a:pt x="-1" y="26"/>
                    <a:pt x="30" y="-1"/>
                    <a:pt x="60" y="0"/>
                  </a:cubicBezTo>
                  <a:lnTo>
                    <a:pt x="2941" y="0"/>
                  </a:lnTo>
                  <a:cubicBezTo>
                    <a:pt x="2975" y="-1"/>
                    <a:pt x="3002" y="30"/>
                    <a:pt x="3001" y="60"/>
                  </a:cubicBezTo>
                  <a:lnTo>
                    <a:pt x="3001" y="241"/>
                  </a:lnTo>
                  <a:cubicBezTo>
                    <a:pt x="3001" y="249"/>
                    <a:pt x="2998" y="260"/>
                    <a:pt x="2996" y="264"/>
                  </a:cubicBezTo>
                  <a:lnTo>
                    <a:pt x="5" y="264"/>
                  </a:lnTo>
                  <a:cubicBezTo>
                    <a:pt x="1" y="257"/>
                    <a:pt x="0" y="246"/>
                    <a:pt x="0" y="241"/>
                  </a:cubicBezTo>
                  <a:lnTo>
                    <a:pt x="0" y="60"/>
                  </a:lnTo>
                  <a:close/>
                </a:path>
              </a:pathLst>
            </a:custGeom>
            <a:solidFill>
              <a:srgbClr val="3368FF"/>
            </a:solidFill>
            <a:ln w="6350">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48" name="紫荆的职场Point22"/>
            <p:cNvSpPr txBox="1"/>
            <p:nvPr/>
          </p:nvSpPr>
          <p:spPr>
            <a:xfrm>
              <a:off x="5160" y="6579"/>
              <a:ext cx="3000" cy="266"/>
            </a:xfrm>
            <a:prstGeom prst="rect">
              <a:avLst/>
            </a:prstGeom>
            <a:noFill/>
          </p:spPr>
          <p:txBody>
            <a:bodyPr wrap="none" anchor="ctr" anchorCtr="0" lIns="0" rIns="0" tIns="0" bIns="0" vert="horz">
              <a:noAutofit/>
            </a:bodyPr>
            <a:lstStyle/>
            <a:p>
              <a:pPr algn="ctr">
                <a:defRPr sz="1000">
                  <a:solidFill>
                    <a:srgbClr val="FFFFFF"/>
                  </a:solidFill>
                  <a:latin typeface="微软雅黑"/>
                  <a:ea typeface="微软雅黑"/>
                  <a:cs typeface="微软雅黑"/>
                </a:defRPr>
                <a:lnSpc>
                  <a:spcPct val="100000"/>
                </a:lnSpc>
                <a:spcBef>
                  <a:spcPts val="0"/>
                </a:spcBef>
                <a:spcAft>
                  <a:spcPts val="0"/>
                </a:spcAft>
              </a:pPr>
              <a:r>
                <a:rPr lang="zh-CN" altLang="en-US" sz="1000" dirty="0">
                  <a:solidFill>
                    <a:srgbClr val="FFFFFF"/>
                  </a:solidFill>
                  <a:latin typeface="微软雅黑"/>
                  <a:ea typeface="微软雅黑"/>
                  <a:cs typeface="微软雅黑"/>
                </a:rPr>
                <a:t>接口资源服务管理</a:t>
              </a:r>
              <a:endParaRPr lang="zh-CN" altLang="en-US" sz="1000" dirty="0">
                <a:solidFill>
                  <a:srgbClr val="FFFFFF"/>
                </a:solidFill>
                <a:latin typeface="微软雅黑"/>
                <a:ea typeface="微软雅黑"/>
                <a:cs typeface="微软雅黑"/>
              </a:endParaRPr>
            </a:p>
          </p:txBody>
        </p:sp>
        <p:sp>
          <p:nvSpPr>
            <p:cNvPr id="249" name="椭圆 248"/>
            <p:cNvSpPr/>
            <p:nvPr/>
          </p:nvSpPr>
          <p:spPr>
            <a:xfrm>
              <a:off x="6131" y="7064"/>
              <a:ext cx="57" cy="57"/>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50" name="椭圆 249"/>
            <p:cNvSpPr/>
            <p:nvPr/>
          </p:nvSpPr>
          <p:spPr>
            <a:xfrm>
              <a:off x="7131" y="7064"/>
              <a:ext cx="57" cy="57"/>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251" name="紫荆的职场Point22"/>
            <p:cNvSpPr txBox="1"/>
            <p:nvPr/>
          </p:nvSpPr>
          <p:spPr>
            <a:xfrm>
              <a:off x="5160" y="6841"/>
              <a:ext cx="1000" cy="26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注</a:t>
              </a:r>
              <a:r>
                <a:rPr lang="en-US" altLang="zh-CN" sz="1000" dirty="0">
                  <a:solidFill>
                    <a:srgbClr val="383838"/>
                  </a:solidFill>
                  <a:latin typeface="微软雅黑"/>
                  <a:ea typeface="微软雅黑"/>
                  <a:cs typeface="微软雅黑"/>
                </a:rPr>
                <a:t> </a:t>
              </a:r>
              <a:r>
                <a:rPr lang="zh-CN" altLang="en-US" sz="1000" dirty="0">
                  <a:solidFill>
                    <a:srgbClr val="383838"/>
                  </a:solidFill>
                  <a:latin typeface="微软雅黑"/>
                  <a:ea typeface="微软雅黑"/>
                  <a:cs typeface="微软雅黑"/>
                </a:rPr>
                <a:t>册</a:t>
              </a:r>
              <a:endParaRPr lang="zh-CN" altLang="en-US" sz="1000" dirty="0">
                <a:solidFill>
                  <a:srgbClr val="383838"/>
                </a:solidFill>
                <a:latin typeface="微软雅黑"/>
                <a:ea typeface="微软雅黑"/>
                <a:cs typeface="微软雅黑"/>
              </a:endParaRPr>
            </a:p>
          </p:txBody>
        </p:sp>
        <p:sp>
          <p:nvSpPr>
            <p:cNvPr id="252" name="紫荆的职场Point22"/>
            <p:cNvSpPr txBox="1"/>
            <p:nvPr/>
          </p:nvSpPr>
          <p:spPr>
            <a:xfrm>
              <a:off x="5160" y="7091"/>
              <a:ext cx="1000" cy="26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上</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下线</a:t>
              </a:r>
              <a:endParaRPr lang="zh-CN" altLang="en-US" sz="1000" dirty="0">
                <a:solidFill>
                  <a:srgbClr val="383838"/>
                </a:solidFill>
                <a:latin typeface="微软雅黑"/>
                <a:ea typeface="微软雅黑"/>
                <a:cs typeface="微软雅黑"/>
              </a:endParaRPr>
            </a:p>
          </p:txBody>
        </p:sp>
        <p:sp>
          <p:nvSpPr>
            <p:cNvPr id="253" name="紫荆的职场Point22"/>
            <p:cNvSpPr txBox="1"/>
            <p:nvPr/>
          </p:nvSpPr>
          <p:spPr>
            <a:xfrm>
              <a:off x="6160" y="6841"/>
              <a:ext cx="1000" cy="26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发</a:t>
              </a:r>
              <a:r>
                <a:rPr lang="en-US" altLang="zh-CN" sz="1000" dirty="0">
                  <a:solidFill>
                    <a:srgbClr val="383838"/>
                  </a:solidFill>
                  <a:latin typeface="微软雅黑"/>
                  <a:ea typeface="微软雅黑"/>
                  <a:cs typeface="微软雅黑"/>
                </a:rPr>
                <a:t> </a:t>
              </a:r>
              <a:r>
                <a:rPr lang="zh-CN" altLang="en-US" sz="1000" dirty="0">
                  <a:solidFill>
                    <a:srgbClr val="383838"/>
                  </a:solidFill>
                  <a:latin typeface="微软雅黑"/>
                  <a:ea typeface="微软雅黑"/>
                  <a:cs typeface="微软雅黑"/>
                </a:rPr>
                <a:t>布</a:t>
              </a:r>
              <a:endParaRPr lang="zh-CN" altLang="en-US" sz="1000" dirty="0">
                <a:solidFill>
                  <a:srgbClr val="383838"/>
                </a:solidFill>
                <a:latin typeface="微软雅黑"/>
                <a:ea typeface="微软雅黑"/>
                <a:cs typeface="微软雅黑"/>
              </a:endParaRPr>
            </a:p>
          </p:txBody>
        </p:sp>
        <p:sp>
          <p:nvSpPr>
            <p:cNvPr id="254" name="紫荆的职场Point22"/>
            <p:cNvSpPr txBox="1"/>
            <p:nvPr/>
          </p:nvSpPr>
          <p:spPr>
            <a:xfrm>
              <a:off x="6160" y="7091"/>
              <a:ext cx="1000" cy="26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注</a:t>
              </a:r>
              <a:r>
                <a:rPr lang="en-US" altLang="zh-CN" sz="1000" dirty="0">
                  <a:solidFill>
                    <a:srgbClr val="383838"/>
                  </a:solidFill>
                  <a:latin typeface="微软雅黑"/>
                  <a:ea typeface="微软雅黑"/>
                  <a:cs typeface="微软雅黑"/>
                </a:rPr>
                <a:t> </a:t>
              </a:r>
              <a:r>
                <a:rPr lang="zh-CN" altLang="en-US" sz="1000" dirty="0">
                  <a:solidFill>
                    <a:srgbClr val="383838"/>
                  </a:solidFill>
                  <a:latin typeface="微软雅黑"/>
                  <a:ea typeface="微软雅黑"/>
                  <a:cs typeface="微软雅黑"/>
                </a:rPr>
                <a:t>销</a:t>
              </a:r>
              <a:endParaRPr lang="zh-CN" altLang="en-US" sz="1000" dirty="0">
                <a:solidFill>
                  <a:srgbClr val="383838"/>
                </a:solidFill>
                <a:latin typeface="微软雅黑"/>
                <a:ea typeface="微软雅黑"/>
                <a:cs typeface="微软雅黑"/>
              </a:endParaRPr>
            </a:p>
          </p:txBody>
        </p:sp>
        <p:sp>
          <p:nvSpPr>
            <p:cNvPr id="255" name="紫荆的职场Point22"/>
            <p:cNvSpPr txBox="1"/>
            <p:nvPr/>
          </p:nvSpPr>
          <p:spPr>
            <a:xfrm>
              <a:off x="7160" y="6841"/>
              <a:ext cx="1000" cy="26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latin typeface="微软雅黑"/>
                  <a:ea typeface="微软雅黑"/>
                  <a:cs typeface="微软雅黑"/>
                </a:rPr>
                <a:t>权</a:t>
              </a:r>
              <a:r>
                <a:rPr lang="en-US" altLang="zh-CN" sz="1000" dirty="0">
                  <a:solidFill>
                    <a:srgbClr val="383838"/>
                  </a:solidFill>
                  <a:latin typeface="微软雅黑"/>
                  <a:ea typeface="微软雅黑"/>
                  <a:cs typeface="微软雅黑"/>
                </a:rPr>
                <a:t> </a:t>
              </a:r>
              <a:r>
                <a:rPr lang="zh-CN" altLang="en-US" sz="1000" dirty="0">
                  <a:solidFill>
                    <a:srgbClr val="383838"/>
                  </a:solidFill>
                  <a:latin typeface="微软雅黑"/>
                  <a:ea typeface="微软雅黑"/>
                  <a:cs typeface="微软雅黑"/>
                </a:rPr>
                <a:t>限</a:t>
              </a:r>
              <a:endParaRPr lang="zh-CN" altLang="en-US" sz="1000" dirty="0">
                <a:solidFill>
                  <a:srgbClr val="383838"/>
                </a:solidFill>
                <a:latin typeface="微软雅黑"/>
                <a:ea typeface="微软雅黑"/>
                <a:cs typeface="微软雅黑"/>
              </a:endParaRPr>
            </a:p>
          </p:txBody>
        </p:sp>
        <p:sp>
          <p:nvSpPr>
            <p:cNvPr id="256" name="紫荆的职场Point22"/>
            <p:cNvSpPr txBox="1"/>
            <p:nvPr/>
          </p:nvSpPr>
          <p:spPr>
            <a:xfrm>
              <a:off x="7160" y="7091"/>
              <a:ext cx="1000" cy="260"/>
            </a:xfrm>
            <a:prstGeom prst="rect">
              <a:avLst/>
            </a:prstGeom>
            <a:noFill/>
          </p:spPr>
          <p:txBody>
            <a:bodyPr wrap="none" anchor="ctr" anchorCtr="0" lIns="0" rIns="0" tIns="0" bIns="0" vert="horz">
              <a:noAutofit/>
            </a:bodyPr>
            <a:lstStyle/>
            <a:p>
              <a:pPr algn="ctr">
                <a:defRPr sz="1000">
                  <a:latin typeface="微软雅黑"/>
                  <a:ea typeface="微软雅黑"/>
                  <a:cs typeface="微软雅黑"/>
                </a:defRPr>
                <a:lnSpc>
                  <a:spcPct val="100000"/>
                </a:lnSpc>
                <a:spcBef>
                  <a:spcPts val="0"/>
                </a:spcBef>
                <a:spcAft>
                  <a:spcPts val="0"/>
                </a:spcAft>
              </a:pP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p:txBody>
        </p:sp>
      </p:grpSp>
      <p:sp>
        <p:nvSpPr>
          <p:cNvPr id="257" name="圆角矩形 256"/>
          <p:cNvSpPr/>
          <p:nvPr/>
        </p:nvSpPr>
        <p:spPr>
          <a:xfrm>
            <a:off x="2621915" y="2332990"/>
            <a:ext cx="2819400"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cs typeface="微软雅黑"/>
                <a:latin typeface="微软雅黑"/>
                <a:ea typeface="微软雅黑"/>
              </a:rPr>
              <a:t>业务场景</a:t>
            </a:r>
            <a:endParaRPr lang="zh-CN" altLang="en-US" sz="1000" b="1">
              <a:solidFill>
                <a:srgbClr val="FFFFFF"/>
              </a:solidFill>
              <a:cs typeface="微软雅黑"/>
              <a:latin typeface="微软雅黑"/>
              <a:ea typeface="微软雅黑"/>
            </a:endParaRPr>
          </a:p>
        </p:txBody>
      </p:sp>
      <p:sp>
        <p:nvSpPr>
          <p:cNvPr id="259" name="圆角矩形 258"/>
          <p:cNvSpPr/>
          <p:nvPr/>
        </p:nvSpPr>
        <p:spPr>
          <a:xfrm>
            <a:off x="5541010" y="2332990"/>
            <a:ext cx="1851025" cy="19748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cs typeface="微软雅黑"/>
                <a:latin typeface="微软雅黑"/>
                <a:ea typeface="微软雅黑"/>
              </a:rPr>
              <a:t>管理平台</a:t>
            </a:r>
            <a:endParaRPr lang="zh-CN" altLang="en-US" sz="1000" b="1">
              <a:solidFill>
                <a:srgbClr val="FFFFFF"/>
              </a:solidFill>
              <a:cs typeface="微软雅黑"/>
              <a:latin typeface="微软雅黑"/>
              <a:ea typeface="微软雅黑"/>
            </a:endParaRPr>
          </a:p>
        </p:txBody>
      </p:sp>
      <p:sp>
        <p:nvSpPr>
          <p:cNvPr id="262" name="文本框 261"/>
          <p:cNvSpPr txBox="1"/>
          <p:nvPr/>
        </p:nvSpPr>
        <p:spPr>
          <a:xfrm>
            <a:off x="3974465" y="2600960"/>
            <a:ext cx="2115185" cy="260350"/>
          </a:xfrm>
          <a:prstGeom prst="rect">
            <a:avLst/>
          </a:prstGeom>
          <a:noFill/>
        </p:spPr>
        <p:txBody>
          <a:bodyPr wrap="square" rtlCol="0">
            <a:spAutoFit/>
          </a:bodyPr>
          <a:lstStyle/>
          <a:p>
            <a:pPr algn="ctr">
              <a:defRPr>
                <a:latin typeface="微软雅黑"/>
                <a:ea typeface="微软雅黑"/>
                <a:cs typeface="微软雅黑"/>
              </a:defRPr>
            </a:pPr>
            <a:r>
              <a:rPr lang="zh-CN" sz="1100" b="1">
                <a:gradFill>
                  <a:gsLst>
                    <a:gs pos="0">
                      <a:srgbClr val="0042FF"/>
                    </a:gs>
                    <a:gs pos="100000">
                      <a:srgbClr val="0042FF"/>
                    </a:gs>
                  </a:gsLst>
                  <a:lin ang="5400000" scaled="0"/>
                </a:gradFill>
                <a:latin typeface="微软雅黑"/>
                <a:ea typeface="微软雅黑"/>
                <a:cs typeface="微软雅黑"/>
              </a:rPr>
              <a:t>成果增值应用，辅助决策</a:t>
            </a:r>
            <a:endParaRPr lang="zh-CN" sz="1100" b="1" dirty="0">
              <a:gradFill>
                <a:gsLst>
                  <a:gs pos="0">
                    <a:srgbClr val="0042FF"/>
                  </a:gs>
                  <a:gs pos="100000">
                    <a:srgbClr val="0042FF"/>
                  </a:gs>
                </a:gsLst>
                <a:lin ang="5400000" scaled="0"/>
              </a:gradFill>
              <a:latin typeface="微软雅黑"/>
              <a:ea typeface="微软雅黑"/>
              <a:cs typeface="微软雅黑"/>
            </a:endParaRPr>
          </a:p>
        </p:txBody>
      </p:sp>
      <p:grpSp>
        <p:nvGrpSpPr>
          <p:cNvPr id="292" name="组合 291"/>
          <p:cNvGrpSpPr/>
          <p:nvPr/>
        </p:nvGrpSpPr>
        <p:grpSpPr>
          <a:xfrm>
            <a:off x="2654300" y="1921510"/>
            <a:ext cx="2304415" cy="467360"/>
            <a:chOff x="4147" y="3128"/>
            <a:chExt cx="3629" cy="736"/>
          </a:xfrm>
        </p:grpSpPr>
        <p:grpSp>
          <p:nvGrpSpPr>
            <p:cNvPr id="264" name="组合 263"/>
            <p:cNvGrpSpPr/>
            <p:nvPr/>
          </p:nvGrpSpPr>
          <p:grpSpPr>
            <a:xfrm>
              <a:off x="4147" y="3128"/>
              <a:ext cx="326" cy="736"/>
              <a:chOff x="4147" y="3128"/>
              <a:chExt cx="326" cy="736"/>
            </a:xfrm>
          </p:grpSpPr>
          <p:sp>
            <p:nvSpPr>
              <p:cNvPr id="260" name="圆角矩形 259"/>
              <p:cNvSpPr/>
              <p:nvPr/>
            </p:nvSpPr>
            <p:spPr>
              <a:xfrm>
                <a:off x="4127" y="306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63" name="紫荆的职场Point22"/>
              <p:cNvSpPr txBox="1"/>
              <p:nvPr/>
            </p:nvSpPr>
            <p:spPr>
              <a:xfrm>
                <a:off x="4127" y="306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zh-CN" altLang="en-US" sz="1000" b="1" dirty="0">
                    <a:solidFill>
                      <a:srgbClr val="0042FF"/>
                    </a:solidFill>
                    <a:latin typeface="微软雅黑"/>
                    <a:ea typeface="微软雅黑"/>
                    <a:cs typeface="微软雅黑"/>
                  </a:rPr>
                  <a:t>员工</a:t>
                </a:r>
                <a:r>
                  <a:rPr lang="zh-CN" altLang="en-US" sz="1000" b="1" dirty="0">
                    <a:solidFill>
                      <a:srgbClr val="0042FF"/>
                    </a:solidFill>
                    <a:latin typeface="微软雅黑"/>
                    <a:ea typeface="微软雅黑"/>
                    <a:cs typeface="微软雅黑"/>
                  </a:rPr>
                  <a:t>自助</a:t>
                </a:r>
                <a:endParaRPr lang="zh-CN" altLang="en-US" sz="1000" b="1" dirty="0">
                  <a:solidFill>
                    <a:srgbClr val="0042FF"/>
                  </a:solidFill>
                  <a:latin typeface="微软雅黑"/>
                  <a:ea typeface="微软雅黑"/>
                  <a:cs typeface="微软雅黑"/>
                </a:endParaRPr>
              </a:p>
            </p:txBody>
          </p:sp>
        </p:grpSp>
        <p:grpSp>
          <p:nvGrpSpPr>
            <p:cNvPr id="265" name="组合 264"/>
            <p:cNvGrpSpPr/>
            <p:nvPr/>
          </p:nvGrpSpPr>
          <p:grpSpPr>
            <a:xfrm>
              <a:off x="4514" y="3128"/>
              <a:ext cx="326" cy="736"/>
              <a:chOff x="4147" y="3128"/>
              <a:chExt cx="326" cy="736"/>
            </a:xfrm>
          </p:grpSpPr>
          <p:sp>
            <p:nvSpPr>
              <p:cNvPr id="266" name="圆角矩形 265"/>
              <p:cNvSpPr/>
              <p:nvPr/>
            </p:nvSpPr>
            <p:spPr>
              <a:xfrm>
                <a:off x="4640" y="306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67" name="紫荆的职场Point22"/>
              <p:cNvSpPr txBox="1"/>
              <p:nvPr/>
            </p:nvSpPr>
            <p:spPr>
              <a:xfrm>
                <a:off x="4640" y="306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zh-CN" altLang="en-US" sz="1000" b="1" dirty="0">
                    <a:solidFill>
                      <a:srgbClr val="0042FF"/>
                    </a:solidFill>
                    <a:latin typeface="微软雅黑"/>
                    <a:ea typeface="微软雅黑"/>
                    <a:cs typeface="微软雅黑"/>
                  </a:rPr>
                  <a:t>物流</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68" name="组合 267"/>
            <p:cNvGrpSpPr/>
            <p:nvPr/>
          </p:nvGrpSpPr>
          <p:grpSpPr>
            <a:xfrm>
              <a:off x="4881" y="3128"/>
              <a:ext cx="326" cy="736"/>
              <a:chOff x="4147" y="3128"/>
              <a:chExt cx="326" cy="736"/>
            </a:xfrm>
          </p:grpSpPr>
          <p:sp>
            <p:nvSpPr>
              <p:cNvPr id="269" name="圆角矩形 268"/>
              <p:cNvSpPr/>
              <p:nvPr/>
            </p:nvSpPr>
            <p:spPr>
              <a:xfrm>
                <a:off x="5153" y="306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70" name="紫荆的职场Point22"/>
              <p:cNvSpPr txBox="1"/>
              <p:nvPr/>
            </p:nvSpPr>
            <p:spPr>
              <a:xfrm>
                <a:off x="5153" y="306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OA</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71" name="组合 270"/>
            <p:cNvGrpSpPr/>
            <p:nvPr/>
          </p:nvGrpSpPr>
          <p:grpSpPr>
            <a:xfrm>
              <a:off x="5248" y="3128"/>
              <a:ext cx="326" cy="736"/>
              <a:chOff x="4147" y="3128"/>
              <a:chExt cx="326" cy="736"/>
            </a:xfrm>
          </p:grpSpPr>
          <p:sp>
            <p:nvSpPr>
              <p:cNvPr id="272" name="圆角矩形 271"/>
              <p:cNvSpPr/>
              <p:nvPr/>
            </p:nvSpPr>
            <p:spPr>
              <a:xfrm>
                <a:off x="5666" y="306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73" name="紫荆的职场Point22"/>
              <p:cNvSpPr txBox="1"/>
              <p:nvPr/>
            </p:nvSpPr>
            <p:spPr>
              <a:xfrm>
                <a:off x="5666" y="306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HR</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74" name="组合 273"/>
            <p:cNvGrpSpPr/>
            <p:nvPr/>
          </p:nvGrpSpPr>
          <p:grpSpPr>
            <a:xfrm>
              <a:off x="5615" y="3128"/>
              <a:ext cx="326" cy="736"/>
              <a:chOff x="4147" y="3128"/>
              <a:chExt cx="326" cy="736"/>
            </a:xfrm>
          </p:grpSpPr>
          <p:sp>
            <p:nvSpPr>
              <p:cNvPr id="275" name="圆角矩形 274"/>
              <p:cNvSpPr/>
              <p:nvPr/>
            </p:nvSpPr>
            <p:spPr>
              <a:xfrm>
                <a:off x="6179" y="306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76" name="紫荆的职场Point22"/>
              <p:cNvSpPr txBox="1"/>
              <p:nvPr/>
            </p:nvSpPr>
            <p:spPr>
              <a:xfrm>
                <a:off x="6179" y="306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ERP</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77" name="组合 276"/>
            <p:cNvGrpSpPr/>
            <p:nvPr/>
          </p:nvGrpSpPr>
          <p:grpSpPr>
            <a:xfrm>
              <a:off x="5982" y="3128"/>
              <a:ext cx="326" cy="736"/>
              <a:chOff x="4147" y="3128"/>
              <a:chExt cx="326" cy="736"/>
            </a:xfrm>
          </p:grpSpPr>
          <p:sp>
            <p:nvSpPr>
              <p:cNvPr id="278" name="圆角矩形 277"/>
              <p:cNvSpPr/>
              <p:nvPr/>
            </p:nvSpPr>
            <p:spPr>
              <a:xfrm>
                <a:off x="2292" y="338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79" name="紫荆的职场Point22"/>
              <p:cNvSpPr txBox="1"/>
              <p:nvPr/>
            </p:nvSpPr>
            <p:spPr>
              <a:xfrm>
                <a:off x="2292" y="338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zh-CN" altLang="en-US" sz="1000" b="1" dirty="0">
                    <a:solidFill>
                      <a:srgbClr val="0042FF"/>
                    </a:solidFill>
                    <a:latin typeface="微软雅黑"/>
                    <a:ea typeface="微软雅黑"/>
                    <a:cs typeface="微软雅黑"/>
                  </a:rPr>
                  <a:t>电商</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80" name="组合 279"/>
            <p:cNvGrpSpPr/>
            <p:nvPr/>
          </p:nvGrpSpPr>
          <p:grpSpPr>
            <a:xfrm>
              <a:off x="6349" y="3128"/>
              <a:ext cx="326" cy="736"/>
              <a:chOff x="4147" y="3128"/>
              <a:chExt cx="326" cy="736"/>
            </a:xfrm>
          </p:grpSpPr>
          <p:sp>
            <p:nvSpPr>
              <p:cNvPr id="281" name="圆角矩形 280"/>
              <p:cNvSpPr/>
              <p:nvPr/>
            </p:nvSpPr>
            <p:spPr>
              <a:xfrm>
                <a:off x="2805" y="338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82" name="紫荆的职场Point22"/>
              <p:cNvSpPr txBox="1"/>
              <p:nvPr/>
            </p:nvSpPr>
            <p:spPr>
              <a:xfrm>
                <a:off x="2805" y="338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zh-CN" altLang="en-US" sz="1000" b="1" dirty="0">
                    <a:solidFill>
                      <a:srgbClr val="0042FF"/>
                    </a:solidFill>
                    <a:latin typeface="微软雅黑"/>
                    <a:ea typeface="微软雅黑"/>
                    <a:cs typeface="微软雅黑"/>
                  </a:rPr>
                  <a:t>考勤</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83" name="组合 282"/>
            <p:cNvGrpSpPr/>
            <p:nvPr/>
          </p:nvGrpSpPr>
          <p:grpSpPr>
            <a:xfrm>
              <a:off x="6716" y="3128"/>
              <a:ext cx="326" cy="736"/>
              <a:chOff x="4147" y="3128"/>
              <a:chExt cx="326" cy="736"/>
            </a:xfrm>
          </p:grpSpPr>
          <p:sp>
            <p:nvSpPr>
              <p:cNvPr id="284" name="圆角矩形 283"/>
              <p:cNvSpPr/>
              <p:nvPr/>
            </p:nvSpPr>
            <p:spPr>
              <a:xfrm>
                <a:off x="3318" y="338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85" name="紫荆的职场Point22"/>
              <p:cNvSpPr txBox="1"/>
              <p:nvPr/>
            </p:nvSpPr>
            <p:spPr>
              <a:xfrm>
                <a:off x="3318" y="338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zh-CN" altLang="en-US" sz="1000" b="1" dirty="0">
                    <a:solidFill>
                      <a:srgbClr val="0042FF"/>
                    </a:solidFill>
                    <a:latin typeface="微软雅黑"/>
                    <a:ea typeface="微软雅黑"/>
                    <a:cs typeface="微软雅黑"/>
                  </a:rPr>
                  <a:t>设备</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86" name="组合 285"/>
            <p:cNvGrpSpPr/>
            <p:nvPr/>
          </p:nvGrpSpPr>
          <p:grpSpPr>
            <a:xfrm>
              <a:off x="7083" y="3128"/>
              <a:ext cx="326" cy="736"/>
              <a:chOff x="4147" y="3128"/>
              <a:chExt cx="326" cy="736"/>
            </a:xfrm>
          </p:grpSpPr>
          <p:sp>
            <p:nvSpPr>
              <p:cNvPr id="287" name="圆角矩形 286"/>
              <p:cNvSpPr/>
              <p:nvPr/>
            </p:nvSpPr>
            <p:spPr>
              <a:xfrm>
                <a:off x="3831" y="338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88" name="紫荆的职场Point22"/>
              <p:cNvSpPr txBox="1"/>
              <p:nvPr/>
            </p:nvSpPr>
            <p:spPr>
              <a:xfrm>
                <a:off x="3831" y="338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zh-CN" altLang="en-US" sz="1000" b="1" dirty="0">
                    <a:solidFill>
                      <a:srgbClr val="0042FF"/>
                    </a:solidFill>
                    <a:latin typeface="微软雅黑"/>
                    <a:ea typeface="微软雅黑"/>
                    <a:cs typeface="微软雅黑"/>
                  </a:rPr>
                  <a:t>能源</a:t>
                </a:r>
                <a:r>
                  <a:rPr lang="zh-CN" altLang="en-US" sz="1000" b="1" dirty="0">
                    <a:solidFill>
                      <a:srgbClr val="0042FF"/>
                    </a:solidFill>
                    <a:latin typeface="微软雅黑"/>
                    <a:ea typeface="微软雅黑"/>
                    <a:cs typeface="微软雅黑"/>
                  </a:rPr>
                  <a:t>系统</a:t>
                </a:r>
                <a:endParaRPr lang="zh-CN" altLang="en-US" sz="1000" b="1" dirty="0">
                  <a:solidFill>
                    <a:srgbClr val="0042FF"/>
                  </a:solidFill>
                  <a:latin typeface="微软雅黑"/>
                  <a:ea typeface="微软雅黑"/>
                  <a:cs typeface="微软雅黑"/>
                </a:endParaRPr>
              </a:p>
            </p:txBody>
          </p:sp>
        </p:grpSp>
        <p:grpSp>
          <p:nvGrpSpPr>
            <p:cNvPr id="289" name="组合 288"/>
            <p:cNvGrpSpPr/>
            <p:nvPr/>
          </p:nvGrpSpPr>
          <p:grpSpPr>
            <a:xfrm>
              <a:off x="7450" y="3128"/>
              <a:ext cx="326" cy="736"/>
              <a:chOff x="4147" y="3128"/>
              <a:chExt cx="326" cy="736"/>
            </a:xfrm>
          </p:grpSpPr>
          <p:sp>
            <p:nvSpPr>
              <p:cNvPr id="290" name="圆角矩形 289"/>
              <p:cNvSpPr/>
              <p:nvPr/>
            </p:nvSpPr>
            <p:spPr>
              <a:xfrm>
                <a:off x="4344" y="3382"/>
                <a:ext cx="840" cy="280"/>
              </a:xfrm>
              <a:prstGeom prst="roundRect">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en-US" altLang="zh-CN" sz="1000">
                  <a:cs typeface="微软雅黑"/>
                  <a:latin typeface="微软雅黑"/>
                  <a:ea typeface="微软雅黑"/>
                </a:endParaRPr>
              </a:p>
            </p:txBody>
          </p:sp>
          <p:sp>
            <p:nvSpPr>
              <p:cNvPr id="291" name="紫荆的职场Point22"/>
              <p:cNvSpPr txBox="1"/>
              <p:nvPr/>
            </p:nvSpPr>
            <p:spPr>
              <a:xfrm>
                <a:off x="4344" y="3382"/>
                <a:ext cx="840" cy="280"/>
              </a:xfrm>
              <a:prstGeom prst="rect">
                <a:avLst/>
              </a:prstGeom>
              <a:noFill/>
            </p:spPr>
            <p:txBody>
              <a:bodyPr vert="horz" wrap="none" anchor="ctr" anchorCtr="0" lIns="0" rIns="0" tIns="0" bIns="0">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a:t>
                </a:r>
                <a:endParaRPr lang="en-US" altLang="zh-CN" sz="1000" b="1" dirty="0">
                  <a:solidFill>
                    <a:srgbClr val="0042FF"/>
                  </a:solidFill>
                  <a:latin typeface="微软雅黑"/>
                  <a:ea typeface="微软雅黑"/>
                  <a:cs typeface="微软雅黑"/>
                </a:endParaRPr>
              </a:p>
            </p:txBody>
          </p:sp>
        </p:grpSp>
      </p:grpSp>
      <p:sp>
        <p:nvSpPr>
          <p:cNvPr id="293" name="椭圆 292"/>
          <p:cNvSpPr/>
          <p:nvPr/>
        </p:nvSpPr>
        <p:spPr>
          <a:xfrm>
            <a:off x="5562600" y="1879600"/>
            <a:ext cx="482600" cy="482600"/>
          </a:xfrm>
          <a:prstGeom prst="ellipse">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4" name="椭圆 293"/>
          <p:cNvSpPr/>
          <p:nvPr/>
        </p:nvSpPr>
        <p:spPr>
          <a:xfrm>
            <a:off x="6858000" y="1879600"/>
            <a:ext cx="482600" cy="482600"/>
          </a:xfrm>
          <a:prstGeom prst="ellipse">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5" name="椭圆 294"/>
          <p:cNvSpPr/>
          <p:nvPr/>
        </p:nvSpPr>
        <p:spPr>
          <a:xfrm>
            <a:off x="6210300" y="1879600"/>
            <a:ext cx="482600" cy="482600"/>
          </a:xfrm>
          <a:prstGeom prst="ellipse">
            <a:avLst/>
          </a:prstGeom>
          <a:gradFill>
            <a:gsLst>
              <a:gs pos="82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6" name="文本框 295"/>
          <p:cNvSpPr txBox="1"/>
          <p:nvPr/>
        </p:nvSpPr>
        <p:spPr>
          <a:xfrm>
            <a:off x="5562600" y="1930400"/>
            <a:ext cx="482600" cy="368300"/>
          </a:xfrm>
          <a:prstGeom prst="rect">
            <a:avLst/>
          </a:prstGeom>
          <a:noFill/>
        </p:spPr>
        <p:txBody>
          <a:bodyPr wrap="square" rtlCol="0" lIns="0" rIns="0" tIns="0" bIns="0" anchor="ctr" vert="horz">
            <a:noAutofit/>
          </a:bodyPr>
          <a:lstStyle/>
          <a:p>
            <a:pPr algn="ctr">
              <a:defRPr sz="1000">
                <a:latin typeface="微软雅黑"/>
                <a:ea typeface="微软雅黑"/>
                <a:cs typeface="微软雅黑"/>
              </a:defRPr>
              <a:lnSpc>
                <a:spcPct val="83000"/>
              </a:lnSpc>
              <a:spcBef>
                <a:spcPts val="0"/>
              </a:spcBef>
              <a:spcAft>
                <a:spcPts val="0"/>
              </a:spcAft>
            </a:pPr>
            <a:r>
              <a:rPr lang="zh-CN" sz="1000" b="1">
                <a:solidFill>
                  <a:srgbClr val="0042FF"/>
                </a:solidFill>
                <a:latin typeface="微软雅黑"/>
                <a:ea typeface="微软雅黑"/>
                <a:cs typeface="微软雅黑"/>
              </a:rPr>
              <a:t>智能运</a:t>
            </a:r>
            <a:br/>
            <a:r>
              <a:rPr lang="zh-CN" sz="1000" b="1">
                <a:solidFill>
                  <a:srgbClr val="0042FF"/>
                </a:solidFill>
                <a:latin typeface="微软雅黑"/>
                <a:ea typeface="微软雅黑"/>
                <a:cs typeface="微软雅黑"/>
              </a:rPr>
              <a:t>营平台</a:t>
            </a:r>
            <a:endParaRPr lang="zh-CN" sz="1000" b="1" dirty="0">
              <a:solidFill>
                <a:srgbClr val="0042FF"/>
              </a:solidFill>
              <a:latin typeface="微软雅黑"/>
              <a:ea typeface="微软雅黑"/>
              <a:cs typeface="微软雅黑"/>
            </a:endParaRPr>
          </a:p>
        </p:txBody>
      </p:sp>
      <p:sp>
        <p:nvSpPr>
          <p:cNvPr id="297" name="文本框 296"/>
          <p:cNvSpPr txBox="1"/>
          <p:nvPr/>
        </p:nvSpPr>
        <p:spPr>
          <a:xfrm>
            <a:off x="6210300" y="1930400"/>
            <a:ext cx="482600" cy="368300"/>
          </a:xfrm>
          <a:prstGeom prst="rect">
            <a:avLst/>
          </a:prstGeom>
          <a:noFill/>
        </p:spPr>
        <p:txBody>
          <a:bodyPr wrap="square" rtlCol="0" lIns="0" rIns="0" tIns="0" bIns="0" anchor="ctr"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b="1" dirty="0">
                <a:solidFill>
                  <a:srgbClr val="0042FF"/>
                </a:solidFill>
                <a:latin typeface="微软雅黑"/>
                <a:ea typeface="微软雅黑"/>
                <a:cs typeface="微软雅黑"/>
              </a:rPr>
              <a:t>精准营</a:t>
            </a:r>
            <a:br/>
            <a:r>
              <a:rPr lang="zh-CN" altLang="en-US" sz="1000" b="1" dirty="0">
                <a:solidFill>
                  <a:srgbClr val="0042FF"/>
                </a:solidFill>
                <a:latin typeface="微软雅黑"/>
                <a:ea typeface="微软雅黑"/>
                <a:cs typeface="微软雅黑"/>
              </a:rPr>
              <a:t>销平台</a:t>
            </a:r>
            <a:endParaRPr lang="zh-CN" altLang="en-US" sz="1000" b="1" dirty="0">
              <a:solidFill>
                <a:srgbClr val="0042FF"/>
              </a:solidFill>
              <a:latin typeface="微软雅黑"/>
              <a:ea typeface="微软雅黑"/>
              <a:cs typeface="微软雅黑"/>
            </a:endParaRPr>
          </a:p>
        </p:txBody>
      </p:sp>
      <p:sp>
        <p:nvSpPr>
          <p:cNvPr id="298" name="文本框 297"/>
          <p:cNvSpPr txBox="1"/>
          <p:nvPr/>
        </p:nvSpPr>
        <p:spPr>
          <a:xfrm>
            <a:off x="6858000" y="1930400"/>
            <a:ext cx="482600" cy="368300"/>
          </a:xfrm>
          <a:prstGeom prst="rect">
            <a:avLst/>
          </a:prstGeom>
          <a:noFill/>
        </p:spPr>
        <p:txBody>
          <a:bodyPr wrap="square" rtlCol="0" lIns="0" rIns="0" tIns="0" bIns="0" anchor="ctr" vert="horz">
            <a:noAutofit/>
          </a:bodyPr>
          <a:lstStyle/>
          <a:p>
            <a:pPr algn="ctr">
              <a:defRPr sz="1000">
                <a:latin typeface="微软雅黑"/>
                <a:ea typeface="微软雅黑"/>
                <a:cs typeface="微软雅黑"/>
              </a:defRPr>
              <a:lnSpc>
                <a:spcPct val="83000"/>
              </a:lnSpc>
              <a:spcBef>
                <a:spcPts val="0"/>
              </a:spcBef>
              <a:spcAft>
                <a:spcPts val="0"/>
              </a:spcAft>
            </a:pPr>
            <a:r>
              <a:rPr lang="zh-CN" altLang="en-US" sz="1000" b="1" dirty="0">
                <a:solidFill>
                  <a:srgbClr val="0042FF"/>
                </a:solidFill>
                <a:latin typeface="微软雅黑"/>
                <a:ea typeface="微软雅黑"/>
                <a:cs typeface="微软雅黑"/>
              </a:rPr>
              <a:t>智能决</a:t>
            </a:r>
            <a:br/>
            <a:r>
              <a:rPr lang="zh-CN" altLang="en-US" sz="1000" b="1" dirty="0">
                <a:solidFill>
                  <a:srgbClr val="0042FF"/>
                </a:solidFill>
                <a:latin typeface="微软雅黑"/>
                <a:ea typeface="微软雅黑"/>
                <a:cs typeface="微软雅黑"/>
              </a:rPr>
              <a:t>策分析</a:t>
            </a:r>
            <a:endParaRPr lang="zh-CN" altLang="en-US" sz="1000" b="1" dirty="0">
              <a:solidFill>
                <a:srgbClr val="0042FF"/>
              </a:solidFill>
              <a:latin typeface="微软雅黑"/>
              <a:ea typeface="微软雅黑"/>
              <a:cs typeface="微软雅黑"/>
            </a:endParaRPr>
          </a:p>
        </p:txBody>
      </p:sp>
      <p:sp>
        <p:nvSpPr>
          <p:cNvPr id="299" name="圆角矩形 298"/>
          <p:cNvSpPr/>
          <p:nvPr/>
        </p:nvSpPr>
        <p:spPr>
          <a:xfrm>
            <a:off x="2642870" y="1116330"/>
            <a:ext cx="755015" cy="24066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均衡负载</a:t>
            </a:r>
            <a:endParaRPr lang="zh-CN" altLang="en-US" sz="1000">
              <a:solidFill>
                <a:srgbClr val="FFFFFF"/>
              </a:solidFill>
              <a:cs typeface="微软雅黑"/>
              <a:latin typeface="微软雅黑"/>
              <a:ea typeface="微软雅黑"/>
            </a:endParaRPr>
          </a:p>
        </p:txBody>
      </p:sp>
      <p:sp>
        <p:nvSpPr>
          <p:cNvPr id="300" name="圆角矩形 299"/>
          <p:cNvSpPr/>
          <p:nvPr/>
        </p:nvSpPr>
        <p:spPr>
          <a:xfrm>
            <a:off x="3427095" y="1116330"/>
            <a:ext cx="755015" cy="24066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域名服务</a:t>
            </a:r>
            <a:endParaRPr lang="zh-CN" altLang="en-US" sz="1000">
              <a:solidFill>
                <a:srgbClr val="FFFFFF"/>
              </a:solidFill>
              <a:cs typeface="微软雅黑"/>
              <a:latin typeface="微软雅黑"/>
              <a:ea typeface="微软雅黑"/>
            </a:endParaRPr>
          </a:p>
        </p:txBody>
      </p:sp>
      <p:sp>
        <p:nvSpPr>
          <p:cNvPr id="301" name="圆角矩形 300"/>
          <p:cNvSpPr/>
          <p:nvPr/>
        </p:nvSpPr>
        <p:spPr>
          <a:xfrm>
            <a:off x="4225925" y="1116330"/>
            <a:ext cx="755015" cy="24066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权限管理</a:t>
            </a:r>
            <a:endParaRPr lang="zh-CN" altLang="en-US" sz="1000">
              <a:solidFill>
                <a:srgbClr val="FFFFFF"/>
              </a:solidFill>
              <a:cs typeface="微软雅黑"/>
              <a:latin typeface="微软雅黑"/>
              <a:ea typeface="微软雅黑"/>
            </a:endParaRPr>
          </a:p>
        </p:txBody>
      </p:sp>
      <p:sp>
        <p:nvSpPr>
          <p:cNvPr id="302" name="圆角矩形 301"/>
          <p:cNvSpPr/>
          <p:nvPr/>
        </p:nvSpPr>
        <p:spPr>
          <a:xfrm>
            <a:off x="5033010" y="1116330"/>
            <a:ext cx="755015" cy="24066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统一认证</a:t>
            </a:r>
            <a:endParaRPr lang="zh-CN" altLang="en-US" sz="1000">
              <a:solidFill>
                <a:srgbClr val="FFFFFF"/>
              </a:solidFill>
              <a:cs typeface="微软雅黑"/>
              <a:latin typeface="微软雅黑"/>
              <a:ea typeface="微软雅黑"/>
            </a:endParaRPr>
          </a:p>
        </p:txBody>
      </p:sp>
      <p:sp>
        <p:nvSpPr>
          <p:cNvPr id="303" name="圆角矩形 302"/>
          <p:cNvSpPr/>
          <p:nvPr/>
        </p:nvSpPr>
        <p:spPr>
          <a:xfrm>
            <a:off x="5832475" y="1116330"/>
            <a:ext cx="755015" cy="24066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用户注册</a:t>
            </a:r>
            <a:endParaRPr lang="zh-CN" altLang="en-US" sz="1000">
              <a:solidFill>
                <a:srgbClr val="FFFFFF"/>
              </a:solidFill>
              <a:cs typeface="微软雅黑"/>
              <a:latin typeface="微软雅黑"/>
              <a:ea typeface="微软雅黑"/>
            </a:endParaRPr>
          </a:p>
        </p:txBody>
      </p:sp>
      <p:sp>
        <p:nvSpPr>
          <p:cNvPr id="304" name="圆角矩形 303"/>
          <p:cNvSpPr/>
          <p:nvPr/>
        </p:nvSpPr>
        <p:spPr>
          <a:xfrm>
            <a:off x="6619240" y="1116330"/>
            <a:ext cx="755015" cy="240665"/>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wrap="square">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cs typeface="微软雅黑"/>
                <a:latin typeface="微软雅黑"/>
                <a:ea typeface="微软雅黑"/>
              </a:rPr>
              <a:t>门户发布</a:t>
            </a:r>
            <a:endParaRPr lang="zh-CN" altLang="en-US" sz="1000">
              <a:solidFill>
                <a:srgbClr val="FFFFFF"/>
              </a:solidFill>
              <a:cs typeface="微软雅黑"/>
              <a:latin typeface="微软雅黑"/>
              <a:ea typeface="微软雅黑"/>
            </a:endParaRPr>
          </a:p>
        </p:txBody>
      </p:sp>
      <p:sp>
        <p:nvSpPr>
          <p:cNvPr id="305" name="文本框 304"/>
          <p:cNvSpPr txBox="1"/>
          <p:nvPr/>
        </p:nvSpPr>
        <p:spPr>
          <a:xfrm>
            <a:off x="4079240" y="1511935"/>
            <a:ext cx="2115185" cy="260350"/>
          </a:xfrm>
          <a:prstGeom prst="rect">
            <a:avLst/>
          </a:prstGeom>
          <a:noFill/>
        </p:spPr>
        <p:txBody>
          <a:bodyPr wrap="square" rtlCol="0">
            <a:spAutoFit/>
          </a:bodyPr>
          <a:lstStyle/>
          <a:p>
            <a:pPr algn="ctr">
              <a:defRPr>
                <a:latin typeface="微软雅黑"/>
                <a:ea typeface="微软雅黑"/>
                <a:cs typeface="微软雅黑"/>
              </a:defRPr>
            </a:pPr>
            <a:r>
              <a:rPr lang="zh-CN" sz="1100" b="1">
                <a:gradFill>
                  <a:gsLst>
                    <a:gs pos="0">
                      <a:srgbClr val="0042FF"/>
                    </a:gs>
                    <a:gs pos="100000">
                      <a:srgbClr val="0042FF"/>
                    </a:gs>
                  </a:gsLst>
                  <a:lin ang="5400000" scaled="0"/>
                </a:gradFill>
                <a:latin typeface="微软雅黑"/>
                <a:ea typeface="微软雅黑"/>
                <a:cs typeface="微软雅黑"/>
              </a:rPr>
              <a:t>统一门户管理</a:t>
            </a:r>
            <a:endParaRPr lang="zh-CN" sz="1100" b="1" dirty="0">
              <a:gradFill>
                <a:gsLst>
                  <a:gs pos="0">
                    <a:srgbClr val="0042FF"/>
                  </a:gs>
                  <a:gs pos="100000">
                    <a:srgbClr val="0042FF"/>
                  </a:gs>
                </a:gsLst>
                <a:lin ang="5400000" scaled="0"/>
              </a:gradFill>
              <a:latin typeface="微软雅黑"/>
              <a:ea typeface="微软雅黑"/>
              <a:cs typeface="微软雅黑"/>
            </a:endParaRPr>
          </a:p>
        </p:txBody>
      </p:sp>
      <p:pic>
        <p:nvPicPr>
          <p:cNvPr id="306" name="图片 305" descr="用户访问量"/>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978833" y="1978660"/>
            <a:ext cx="387985" cy="387985"/>
          </a:xfrm>
          <a:prstGeom prst="rect">
            <a:avLst/>
          </a:prstGeom>
        </p:spPr>
      </p:pic>
      <p:pic>
        <p:nvPicPr>
          <p:cNvPr id="307" name="图片 306" descr="1-1报表"/>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965498" y="1219835"/>
            <a:ext cx="414655" cy="403225"/>
          </a:xfrm>
          <a:prstGeom prst="rect">
            <a:avLst/>
          </a:prstGeom>
        </p:spPr>
      </p:pic>
      <p:pic>
        <p:nvPicPr>
          <p:cNvPr id="308" name="图片 307" descr="活跃用户"/>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925175" y="2671445"/>
            <a:ext cx="495300" cy="495300"/>
          </a:xfrm>
          <a:prstGeom prst="rect">
            <a:avLst/>
          </a:prstGeom>
        </p:spPr>
      </p:pic>
      <p:sp>
        <p:nvSpPr>
          <p:cNvPr id="108" name="文本框 107"/>
          <p:cNvSpPr txBox="1"/>
          <p:nvPr/>
        </p:nvSpPr>
        <p:spPr>
          <a:xfrm>
            <a:off x="7899718" y="6205855"/>
            <a:ext cx="1429385" cy="260350"/>
          </a:xfrm>
          <a:prstGeom prst="rect">
            <a:avLst/>
          </a:prstGeom>
          <a:noFill/>
        </p:spPr>
        <p:txBody>
          <a:bodyPr wrap="square" rtlCol="0">
            <a:spAutoFit/>
          </a:bodyPr>
          <a:lstStyle/>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rPr>
              <a:t>应用场景</a:t>
            </a:r>
            <a:endParaRPr lang="zh-CN" altLang="en-US" sz="1100" b="1" dirty="0">
              <a:solidFill>
                <a:srgbClr val="383838"/>
              </a:solidFill>
              <a:latin typeface="微软雅黑"/>
              <a:ea typeface="微软雅黑"/>
              <a:cs typeface="微软雅黑"/>
            </a:endParaRPr>
          </a:p>
        </p:txBody>
      </p:sp>
      <p:cxnSp>
        <p:nvCxnSpPr>
          <p:cNvPr id="10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供应链运营数字化架构</a:t>
            </a:r>
            <a:endParaRPr sz="2500" b="0">
              <a:solidFill>
                <a:srgbClr val="383838"/>
              </a:solidFill>
              <a:effectLst/>
              <a:latin typeface="微软雅黑"/>
              <a:ea typeface="微软雅黑"/>
              <a:cs typeface="微软雅黑"/>
            </a:endParaRPr>
          </a:p>
        </p:txBody>
      </p:sp>
      <p:sp>
        <p:nvSpPr>
          <p:cNvPr id="27" name="紫荆的职场Point13"/>
          <p:cNvSpPr/>
          <p:nvPr/>
        </p:nvSpPr>
        <p:spPr>
          <a:xfrm>
            <a:off x="304801" y="1081617"/>
            <a:ext cx="1487714" cy="795438"/>
          </a:xfrm>
          <a:prstGeom prst="rect">
            <a:avLst/>
          </a:prstGeom>
          <a:gradFill>
            <a:gsLst>
              <a:gs pos="0">
                <a:srgbClr val="3368FF"/>
              </a:gs>
              <a:gs pos="80000">
                <a:srgbClr val="0042FF"/>
              </a:gs>
            </a:gsLst>
            <a:lin ang="5400000" scaled="1"/>
          </a:gradFill>
          <a:ln>
            <a:noFill/>
          </a:ln>
          <a:effectLst>
            <a:outerShdw blurRad="114300" dist="76200" algn="l" rotWithShape="0">
              <a:srgbClr val="3368FF">
                <a:alpha val="4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38" name="紫荆的职场Point14"/>
          <p:cNvSpPr/>
          <p:nvPr/>
        </p:nvSpPr>
        <p:spPr>
          <a:xfrm>
            <a:off x="304801" y="1948574"/>
            <a:ext cx="1487714" cy="679155"/>
          </a:xfrm>
          <a:prstGeom prst="rect">
            <a:avLst/>
          </a:prstGeom>
          <a:gradFill>
            <a:gsLst>
              <a:gs pos="0">
                <a:srgbClr val="3368FF"/>
              </a:gs>
              <a:gs pos="80000">
                <a:srgbClr val="0042FF"/>
              </a:gs>
            </a:gsLst>
            <a:lin ang="5400000" scaled="1"/>
          </a:gradFill>
          <a:ln>
            <a:noFill/>
          </a:ln>
          <a:effectLst>
            <a:outerShdw blurRad="114300" dist="76200" algn="l" rotWithShape="0">
              <a:srgbClr val="3368FF">
                <a:alpha val="4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39" name="紫荆的职场Point15"/>
          <p:cNvSpPr/>
          <p:nvPr/>
        </p:nvSpPr>
        <p:spPr>
          <a:xfrm>
            <a:off x="304801" y="2705603"/>
            <a:ext cx="1487714" cy="3221904"/>
          </a:xfrm>
          <a:prstGeom prst="rect">
            <a:avLst/>
          </a:prstGeom>
          <a:gradFill>
            <a:gsLst>
              <a:gs pos="0">
                <a:srgbClr val="B3D4FE"/>
              </a:gs>
              <a:gs pos="80000">
                <a:srgbClr val="3368FF"/>
              </a:gs>
            </a:gsLst>
            <a:lin ang="5400000" scaled="1"/>
          </a:gradFill>
          <a:ln>
            <a:noFill/>
          </a:ln>
          <a:effectLst>
            <a:outerShdw blurRad="114300" dist="76200" algn="l" rotWithShape="0">
              <a:srgbClr val="B3D4FE">
                <a:alpha val="4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40" name="紫荆的职场Point16"/>
          <p:cNvSpPr/>
          <p:nvPr/>
        </p:nvSpPr>
        <p:spPr>
          <a:xfrm>
            <a:off x="304800" y="5997575"/>
            <a:ext cx="1487805" cy="659130"/>
          </a:xfrm>
          <a:prstGeom prst="rect">
            <a:avLst/>
          </a:prstGeom>
          <a:gradFill>
            <a:gsLst>
              <a:gs pos="0">
                <a:srgbClr val="3368FF"/>
              </a:gs>
              <a:gs pos="80000">
                <a:srgbClr val="0042FF"/>
              </a:gs>
            </a:gsLst>
            <a:lin ang="5400000" scaled="1"/>
          </a:gradFill>
          <a:ln>
            <a:noFill/>
          </a:ln>
          <a:effectLst>
            <a:outerShdw blurRad="114300" dist="76200" algn="l" rotWithShape="0">
              <a:srgbClr val="3368FF">
                <a:alpha val="4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41" name="紫荆的职场Point17"/>
          <p:cNvSpPr txBox="1"/>
          <p:nvPr/>
        </p:nvSpPr>
        <p:spPr>
          <a:xfrm>
            <a:off x="417716" y="1239734"/>
            <a:ext cx="1261884" cy="317130"/>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供应链控制塔</a:t>
            </a:r>
            <a:endParaRPr lang="zh-CN" altLang="en-US" sz="1400" b="1" dirty="0">
              <a:solidFill>
                <a:srgbClr val="FFFFFF"/>
              </a:solidFill>
              <a:latin typeface="微软雅黑"/>
              <a:ea typeface="微软雅黑"/>
              <a:cs typeface="微软雅黑"/>
            </a:endParaRPr>
          </a:p>
        </p:txBody>
      </p:sp>
      <p:sp>
        <p:nvSpPr>
          <p:cNvPr id="42" name="紫荆的职场Point18"/>
          <p:cNvSpPr txBox="1"/>
          <p:nvPr/>
        </p:nvSpPr>
        <p:spPr>
          <a:xfrm>
            <a:off x="507484" y="2035964"/>
            <a:ext cx="1082348" cy="317130"/>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400" b="1" dirty="0">
                <a:solidFill>
                  <a:srgbClr val="E6E6E6"/>
                </a:solidFill>
                <a:latin typeface="微软雅黑"/>
                <a:ea typeface="微软雅黑"/>
                <a:cs typeface="微软雅黑"/>
              </a:rPr>
              <a:t>供应链计划</a:t>
            </a:r>
            <a:endParaRPr lang="zh-CN" altLang="en-US" sz="1400" b="1" dirty="0">
              <a:solidFill>
                <a:srgbClr val="E6E6E6"/>
              </a:solidFill>
              <a:latin typeface="微软雅黑"/>
              <a:ea typeface="微软雅黑"/>
              <a:cs typeface="微软雅黑"/>
            </a:endParaRPr>
          </a:p>
        </p:txBody>
      </p:sp>
      <p:sp>
        <p:nvSpPr>
          <p:cNvPr id="77" name="紫荆的职场Point19"/>
          <p:cNvSpPr txBox="1"/>
          <p:nvPr/>
        </p:nvSpPr>
        <p:spPr>
          <a:xfrm>
            <a:off x="507484" y="3810331"/>
            <a:ext cx="1082348" cy="317130"/>
          </a:xfrm>
          <a:prstGeom prst="rect">
            <a:avLst/>
          </a:prstGeom>
          <a:noFill/>
        </p:spPr>
        <p:txBody>
          <a:bodyPr wrap="none">
            <a:spAutoFit/>
          </a:bodyPr>
          <a:lstStyle/>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rPr>
              <a:t>供应链运营</a:t>
            </a:r>
            <a:endParaRPr lang="zh-CN" altLang="en-US" sz="1400" b="1" dirty="0">
              <a:solidFill>
                <a:srgbClr val="383838"/>
              </a:solidFill>
              <a:latin typeface="微软雅黑"/>
              <a:ea typeface="微软雅黑"/>
              <a:cs typeface="微软雅黑"/>
            </a:endParaRPr>
          </a:p>
        </p:txBody>
      </p:sp>
      <p:sp>
        <p:nvSpPr>
          <p:cNvPr id="78" name="紫荆的职场Point20"/>
          <p:cNvSpPr txBox="1"/>
          <p:nvPr/>
        </p:nvSpPr>
        <p:spPr>
          <a:xfrm>
            <a:off x="597252" y="6051724"/>
            <a:ext cx="902811" cy="317130"/>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资源集成</a:t>
            </a:r>
            <a:endParaRPr lang="zh-CN" altLang="en-US" sz="1400" b="1" dirty="0">
              <a:solidFill>
                <a:srgbClr val="FFFFFF"/>
              </a:solidFill>
              <a:latin typeface="微软雅黑"/>
              <a:ea typeface="微软雅黑"/>
              <a:cs typeface="微软雅黑"/>
            </a:endParaRPr>
          </a:p>
        </p:txBody>
      </p:sp>
      <p:sp>
        <p:nvSpPr>
          <p:cNvPr id="210" name="紫荆的职场Point61"/>
          <p:cNvSpPr txBox="1"/>
          <p:nvPr/>
        </p:nvSpPr>
        <p:spPr>
          <a:xfrm>
            <a:off x="411436" y="4093114"/>
            <a:ext cx="1274445" cy="313690"/>
          </a:xfrm>
          <a:prstGeom prst="rect">
            <a:avLst/>
          </a:prstGeom>
          <a:noFill/>
        </p:spPr>
        <p:txBody>
          <a:bodyPr wrap="square" lIns="0" rIns="0" tIns="0" bIns="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Supply chain operations</a:t>
            </a:r>
            <a:endParaRPr lang="en-US" altLang="zh-CN" sz="1000" dirty="0">
              <a:solidFill>
                <a:srgbClr val="383838"/>
              </a:solidFill>
              <a:latin typeface="微软雅黑"/>
              <a:ea typeface="微软雅黑"/>
              <a:cs typeface="微软雅黑"/>
            </a:endParaRPr>
          </a:p>
        </p:txBody>
      </p:sp>
      <p:sp>
        <p:nvSpPr>
          <p:cNvPr id="275" name="紫荆的职场Point126"/>
          <p:cNvSpPr txBox="1"/>
          <p:nvPr/>
        </p:nvSpPr>
        <p:spPr>
          <a:xfrm>
            <a:off x="454616" y="2284554"/>
            <a:ext cx="1188085" cy="342900"/>
          </a:xfrm>
          <a:prstGeom prst="rect">
            <a:avLst/>
          </a:prstGeom>
          <a:noFill/>
        </p:spPr>
        <p:txBody>
          <a:bodyPr wrap="square" lIns="0" rIns="0" tIns="0" bIns="0" anchor="ctr">
            <a:noAutofit/>
          </a:bodyPr>
          <a:lstStyle/>
          <a:p>
            <a:pPr algn="ctr">
              <a:defRPr sz="1000">
                <a:solidFill>
                  <a:srgbClr val="FFFFFF"/>
                </a:solidFill>
                <a:latin typeface="微软雅黑"/>
                <a:ea typeface="微软雅黑"/>
                <a:cs typeface="微软雅黑"/>
              </a:defRPr>
              <a:lnSpc>
                <a:spcPct val="102000"/>
              </a:lnSpc>
              <a:spcBef>
                <a:spcPts val="0"/>
              </a:spcBef>
              <a:spcAft>
                <a:spcPts val="0"/>
              </a:spcAft>
            </a:pPr>
            <a:r>
              <a:rPr lang="en-US" altLang="zh-CN" sz="1000" dirty="0">
                <a:solidFill>
                  <a:srgbClr val="E6E6E6"/>
                </a:solidFill>
                <a:latin typeface="微软雅黑"/>
                <a:ea typeface="微软雅黑"/>
                <a:cs typeface="微软雅黑"/>
              </a:rPr>
              <a:t>Supply</a:t>
            </a:r>
            <a:r>
              <a:rPr lang="en-US" altLang="zh-CN" sz="1000" b="1" dirty="0">
                <a:solidFill>
                  <a:srgbClr val="E6E6E6"/>
                </a:solidFill>
                <a:latin typeface="微软雅黑"/>
                <a:ea typeface="微软雅黑"/>
                <a:cs typeface="微软雅黑"/>
              </a:rPr>
              <a:t> </a:t>
            </a:r>
            <a:r>
              <a:rPr lang="en-US" altLang="zh-CN" sz="1000" dirty="0">
                <a:solidFill>
                  <a:srgbClr val="E6E6E6"/>
                </a:solidFill>
                <a:latin typeface="微软雅黑"/>
                <a:ea typeface="微软雅黑"/>
                <a:cs typeface="微软雅黑"/>
              </a:rPr>
              <a:t>chain</a:t>
            </a:r>
            <a:r>
              <a:rPr lang="en-US" altLang="zh-CN" sz="1000" b="1" dirty="0">
                <a:solidFill>
                  <a:srgbClr val="E6E6E6"/>
                </a:solidFill>
                <a:latin typeface="微软雅黑"/>
                <a:ea typeface="微软雅黑"/>
                <a:cs typeface="微软雅黑"/>
              </a:rPr>
              <a:t> </a:t>
            </a:r>
            <a:br/>
            <a:r>
              <a:rPr lang="en-US" altLang="zh-CN" sz="1000" dirty="0">
                <a:solidFill>
                  <a:srgbClr val="E6E6E6"/>
                </a:solidFill>
                <a:latin typeface="微软雅黑"/>
                <a:ea typeface="微软雅黑"/>
                <a:cs typeface="微软雅黑"/>
              </a:rPr>
              <a:t>planning</a:t>
            </a:r>
            <a:endParaRPr lang="en-US" altLang="zh-CN" sz="1000" dirty="0">
              <a:solidFill>
                <a:srgbClr val="E6E6E6"/>
              </a:solidFill>
              <a:latin typeface="微软雅黑"/>
              <a:ea typeface="微软雅黑"/>
              <a:cs typeface="微软雅黑"/>
            </a:endParaRPr>
          </a:p>
        </p:txBody>
      </p:sp>
      <p:sp>
        <p:nvSpPr>
          <p:cNvPr id="276" name="紫荆的职场Point127"/>
          <p:cNvSpPr txBox="1"/>
          <p:nvPr/>
        </p:nvSpPr>
        <p:spPr>
          <a:xfrm>
            <a:off x="325711" y="1471071"/>
            <a:ext cx="1445895" cy="313690"/>
          </a:xfrm>
          <a:prstGeom prst="rect">
            <a:avLst/>
          </a:prstGeom>
          <a:noFill/>
        </p:spPr>
        <p:txBody>
          <a:bodyPr wrap="square" lIns="0" rIns="0" tIns="0" bIns="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dirty="0">
                <a:solidFill>
                  <a:srgbClr val="FFFFFF"/>
                </a:solidFill>
                <a:latin typeface="微软雅黑"/>
                <a:ea typeface="微软雅黑"/>
                <a:cs typeface="微软雅黑"/>
              </a:rPr>
              <a:t>Supply chain control towers</a:t>
            </a:r>
            <a:endParaRPr lang="en-US" altLang="zh-CN" sz="1000" dirty="0">
              <a:solidFill>
                <a:srgbClr val="FFFFFF"/>
              </a:solidFill>
              <a:latin typeface="微软雅黑"/>
              <a:ea typeface="微软雅黑"/>
              <a:cs typeface="微软雅黑"/>
            </a:endParaRPr>
          </a:p>
        </p:txBody>
      </p:sp>
      <p:sp>
        <p:nvSpPr>
          <p:cNvPr id="277" name="紫荆的职场Point128"/>
          <p:cNvSpPr txBox="1"/>
          <p:nvPr/>
        </p:nvSpPr>
        <p:spPr>
          <a:xfrm>
            <a:off x="483504" y="6226810"/>
            <a:ext cx="1130300" cy="313690"/>
          </a:xfrm>
          <a:prstGeom prst="rect">
            <a:avLst/>
          </a:prstGeom>
          <a:noFill/>
        </p:spPr>
        <p:txBody>
          <a:bodyPr wrap="square" lIns="0" rIns="0" tIns="0" bIns="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rPr>
              <a:t>Resource integration</a:t>
            </a:r>
            <a:endParaRPr lang="en-US" altLang="zh-CN" sz="1000" dirty="0">
              <a:solidFill>
                <a:srgbClr val="FFFFFF"/>
              </a:solidFill>
              <a:latin typeface="微软雅黑"/>
              <a:ea typeface="微软雅黑"/>
              <a:cs typeface="微软雅黑"/>
            </a:endParaRPr>
          </a:p>
        </p:txBody>
      </p:sp>
      <p:pic>
        <p:nvPicPr>
          <p:cNvPr id="4" name="图片 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9" name="组合 8"/>
          <p:cNvGrpSpPr/>
          <p:nvPr/>
        </p:nvGrpSpPr>
        <p:grpSpPr>
          <a:xfrm>
            <a:off x="8715375" y="348615"/>
            <a:ext cx="3220085" cy="333375"/>
            <a:chOff x="13761" y="549"/>
            <a:chExt cx="5071" cy="525"/>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93" name="组合 92"/>
          <p:cNvGrpSpPr/>
          <p:nvPr/>
        </p:nvGrpSpPr>
        <p:grpSpPr>
          <a:xfrm>
            <a:off x="10410825" y="1029970"/>
            <a:ext cx="1811020" cy="5641975"/>
            <a:chOff x="16395" y="1622"/>
            <a:chExt cx="2852" cy="8885"/>
          </a:xfrm>
        </p:grpSpPr>
        <p:sp>
          <p:nvSpPr>
            <p:cNvPr id="47" name="@显眼包PPT4"/>
            <p:cNvSpPr/>
            <p:nvPr/>
          </p:nvSpPr>
          <p:spPr>
            <a:xfrm>
              <a:off x="16395" y="1743"/>
              <a:ext cx="2435" cy="8740"/>
            </a:xfrm>
            <a:prstGeom prst="rect">
              <a:avLst/>
            </a:prstGeom>
            <a:solidFill>
              <a:srgbClr val="FFFFFF">
                <a:alpha val="18000"/>
              </a:srgbClr>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8" name="@显眼包PPT2"/>
            <p:cNvSpPr/>
            <p:nvPr/>
          </p:nvSpPr>
          <p:spPr>
            <a:xfrm rot="16200000" flipV="1">
              <a:off x="14538" y="5949"/>
              <a:ext cx="8850" cy="266"/>
            </a:xfrm>
            <a:prstGeom prst="parallelogram">
              <a:avLst>
                <a:gd name="adj" fmla="val 23743"/>
              </a:avLst>
            </a:prstGeom>
            <a:gradFill flip="none" rotWithShape="1">
              <a:gsLst>
                <a:gs pos="0">
                  <a:srgbClr val="3368FF">
                    <a:alpha val="80000"/>
                  </a:srgbClr>
                </a:gs>
                <a:gs pos="100000">
                  <a:srgbClr val="E6E6E6">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9" name="@显眼包PPT3"/>
            <p:cNvSpPr/>
            <p:nvPr/>
          </p:nvSpPr>
          <p:spPr>
            <a:xfrm>
              <a:off x="16395" y="1622"/>
              <a:ext cx="2852" cy="121"/>
            </a:xfrm>
            <a:prstGeom prst="parallelogram">
              <a:avLst>
                <a:gd name="adj" fmla="val 429697"/>
              </a:avLst>
            </a:prstGeom>
            <a:gradFill>
              <a:gsLst>
                <a:gs pos="0">
                  <a:srgbClr val="3368FF">
                    <a:alpha val="80000"/>
                  </a:srgbClr>
                </a:gs>
                <a:gs pos="100000">
                  <a:srgbClr val="E6E6E6">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50" name="组合 49"/>
            <p:cNvGrpSpPr/>
            <p:nvPr/>
          </p:nvGrpSpPr>
          <p:grpSpPr>
            <a:xfrm rot="0">
              <a:off x="16533" y="2032"/>
              <a:ext cx="2112" cy="3600"/>
              <a:chOff x="16533" y="2019"/>
              <a:chExt cx="2112" cy="3600"/>
            </a:xfrm>
          </p:grpSpPr>
          <p:sp>
            <p:nvSpPr>
              <p:cNvPr id="51" name="@显眼包PPT4"/>
              <p:cNvSpPr/>
              <p:nvPr/>
            </p:nvSpPr>
            <p:spPr>
              <a:xfrm>
                <a:off x="16533" y="2317"/>
                <a:ext cx="2112" cy="3302"/>
              </a:xfrm>
              <a:prstGeom prst="roundRect">
                <a:avLst>
                  <a:gd name="adj" fmla="val 3714"/>
                </a:avLst>
              </a:prstGeom>
              <a:gradFill>
                <a:gsLst>
                  <a:gs pos="0">
                    <a:srgbClr val="3368FF">
                      <a:alpha val="17000"/>
                    </a:srgbClr>
                  </a:gs>
                  <a:gs pos="100000">
                    <a:srgbClr val="3368FF">
                      <a:alpha val="0"/>
                    </a:srgbClr>
                  </a:gs>
                </a:gsLst>
                <a:lin ang="5400000" scaled="1"/>
              </a:gradFill>
              <a:ln w="15875">
                <a:noFill/>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52" name="@显眼包PPT5"/>
              <p:cNvSpPr/>
              <p:nvPr/>
            </p:nvSpPr>
            <p:spPr>
              <a:xfrm>
                <a:off x="16533" y="2019"/>
                <a:ext cx="2112" cy="478"/>
              </a:xfrm>
              <a:prstGeom prst="rect">
                <a:avLst/>
              </a:prstGeom>
              <a:gradFill flip="none" rotWithShape="1">
                <a:gsLst>
                  <a:gs pos="0">
                    <a:srgbClr val="3368FF"/>
                  </a:gs>
                  <a:gs pos="50000">
                    <a:srgbClr val="0042FF"/>
                  </a:gs>
                </a:gsLst>
                <a:path path="circle">
                  <a:fillToRect r="100000" b="100000"/>
                </a:path>
                <a:tileRect l="-100000" t="-100000"/>
              </a:gradFill>
              <a:ln>
                <a:noFill/>
              </a:ln>
              <a:effectLst>
                <a:outerShdw blurRad="165100" dist="63500" dir="5400000" algn="t" rotWithShape="0">
                  <a:srgbClr val="3368FF">
                    <a:alpha val="3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dirty="0">
                    <a:ln>
                      <a:noFill/>
                    </a:ln>
                    <a:solidFill>
                      <a:srgbClr val="FFFFFF"/>
                    </a:solidFill>
                    <a:effectLst>
                      <a:outerShdw blurRad="50800" dist="38100" dir="2700000" algn="tl">
                        <a:srgbClr val="0042FF">
                          <a:alpha val="36000"/>
                        </a:srgbClr>
                      </a:outerShdw>
                    </a:effectLst>
                    <a:uLnTx/>
                    <a:uFillTx/>
                    <a:latin typeface="微软雅黑"/>
                    <a:ea typeface="微软雅黑"/>
                    <a:cs typeface="微软雅黑"/>
                  </a:rPr>
                  <a:t>算法平台</a:t>
                </a:r>
                <a:endParaRPr kumimoji="0" lang="zh-CN" altLang="en-US" sz="1400" b="1" i="0" u="none" strike="noStrike" kern="1200" cap="none" spc="0" normalizeH="0" baseline="0" noProof="0" dirty="0">
                  <a:ln>
                    <a:noFill/>
                  </a:ln>
                  <a:solidFill>
                    <a:srgbClr val="FFFFFF"/>
                  </a:solidFill>
                  <a:effectLst>
                    <a:outerShdw blurRad="50800" dist="38100" dir="2700000" algn="tl">
                      <a:srgbClr val="0042FF">
                        <a:alpha val="36000"/>
                      </a:srgbClr>
                    </a:outerShdw>
                  </a:effectLst>
                  <a:uLnTx/>
                  <a:uFillTx/>
                  <a:latin typeface="微软雅黑"/>
                  <a:ea typeface="微软雅黑"/>
                  <a:cs typeface="微软雅黑"/>
                </a:endParaRPr>
              </a:p>
            </p:txBody>
          </p:sp>
          <p:sp>
            <p:nvSpPr>
              <p:cNvPr id="53" name="紫荆的职场Point115"/>
              <p:cNvSpPr txBox="1"/>
              <p:nvPr/>
            </p:nvSpPr>
            <p:spPr>
              <a:xfrm>
                <a:off x="16879" y="2727"/>
                <a:ext cx="1422" cy="499"/>
              </a:xfrm>
              <a:prstGeom prst="rect">
                <a:avLst/>
              </a:prstGeom>
              <a:noFill/>
            </p:spPr>
            <p:txBody>
              <a:bodyPr wrap="none">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深度学习</a:t>
                </a:r>
                <a:endParaRPr lang="zh-CN" altLang="en-US" sz="1400" dirty="0">
                  <a:solidFill>
                    <a:srgbClr val="383838"/>
                  </a:solidFill>
                  <a:latin typeface="微软雅黑"/>
                  <a:ea typeface="微软雅黑"/>
                  <a:cs typeface="微软雅黑"/>
                </a:endParaRPr>
              </a:p>
            </p:txBody>
          </p:sp>
          <p:sp>
            <p:nvSpPr>
              <p:cNvPr id="54" name="紫荆的职场Point116"/>
              <p:cNvSpPr txBox="1"/>
              <p:nvPr/>
            </p:nvSpPr>
            <p:spPr>
              <a:xfrm>
                <a:off x="16879" y="3277"/>
                <a:ext cx="1422" cy="499"/>
              </a:xfrm>
              <a:prstGeom prst="rect">
                <a:avLst/>
              </a:prstGeom>
              <a:noFill/>
            </p:spPr>
            <p:txBody>
              <a:bodyPr wrap="none">
                <a:spAutoFit/>
              </a:bodyPr>
              <a:lstStyle/>
              <a:p>
                <a:pPr algn="ctr">
                  <a:defRPr>
                    <a:latin typeface="微软雅黑"/>
                    <a:ea typeface="微软雅黑"/>
                    <a:cs typeface="微软雅黑"/>
                  </a:defRPr>
                </a:pPr>
                <a:r>
                  <a:rPr lang="zh-CN" altLang="en-US" sz="1400">
                    <a:solidFill>
                      <a:srgbClr val="383838"/>
                    </a:solidFill>
                    <a:latin typeface="微软雅黑"/>
                    <a:ea typeface="微软雅黑"/>
                    <a:cs typeface="微软雅黑"/>
                  </a:rPr>
                  <a:t>分层建模</a:t>
                </a:r>
                <a:endParaRPr lang="zh-CN" altLang="en-US" sz="1400" dirty="0">
                  <a:solidFill>
                    <a:srgbClr val="383838"/>
                  </a:solidFill>
                  <a:latin typeface="微软雅黑"/>
                  <a:ea typeface="微软雅黑"/>
                  <a:cs typeface="微软雅黑"/>
                </a:endParaRPr>
              </a:p>
            </p:txBody>
          </p:sp>
          <p:sp>
            <p:nvSpPr>
              <p:cNvPr id="55" name="紫荆的职场Point117"/>
              <p:cNvSpPr txBox="1"/>
              <p:nvPr/>
            </p:nvSpPr>
            <p:spPr>
              <a:xfrm>
                <a:off x="16737" y="3828"/>
                <a:ext cx="1704" cy="499"/>
              </a:xfrm>
              <a:prstGeom prst="rect">
                <a:avLst/>
              </a:prstGeom>
              <a:noFill/>
            </p:spPr>
            <p:txBody>
              <a:bodyPr wrap="none">
                <a:spAutoFit/>
              </a:bodyPr>
              <a:lstStyle/>
              <a:p>
                <a:pPr algn="ctr">
                  <a:defRPr>
                    <a:latin typeface="微软雅黑"/>
                    <a:ea typeface="微软雅黑"/>
                    <a:cs typeface="微软雅黑"/>
                  </a:defRPr>
                </a:pPr>
                <a:r>
                  <a:rPr lang="zh-CN" altLang="en-US" sz="1400">
                    <a:solidFill>
                      <a:srgbClr val="383838"/>
                    </a:solidFill>
                    <a:latin typeface="微软雅黑"/>
                    <a:ea typeface="微软雅黑"/>
                    <a:cs typeface="微软雅黑"/>
                  </a:rPr>
                  <a:t>分时段建模</a:t>
                </a:r>
                <a:endParaRPr lang="zh-CN" altLang="en-US" sz="1400" dirty="0">
                  <a:solidFill>
                    <a:srgbClr val="383838"/>
                  </a:solidFill>
                  <a:latin typeface="微软雅黑"/>
                  <a:ea typeface="微软雅黑"/>
                  <a:cs typeface="微软雅黑"/>
                </a:endParaRPr>
              </a:p>
            </p:txBody>
          </p:sp>
          <p:sp>
            <p:nvSpPr>
              <p:cNvPr id="56" name="紫荆的职场Point118"/>
              <p:cNvSpPr txBox="1"/>
              <p:nvPr/>
            </p:nvSpPr>
            <p:spPr>
              <a:xfrm>
                <a:off x="16737" y="4378"/>
                <a:ext cx="1704" cy="499"/>
              </a:xfrm>
              <a:prstGeom prst="rect">
                <a:avLst/>
              </a:prstGeom>
              <a:noFill/>
            </p:spPr>
            <p:txBody>
              <a:bodyPr wrap="none">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多阶段决策</a:t>
                </a:r>
                <a:endParaRPr lang="zh-CN" altLang="en-US" sz="1400" dirty="0">
                  <a:solidFill>
                    <a:srgbClr val="383838"/>
                  </a:solidFill>
                  <a:latin typeface="微软雅黑"/>
                  <a:ea typeface="微软雅黑"/>
                  <a:cs typeface="微软雅黑"/>
                </a:endParaRPr>
              </a:p>
            </p:txBody>
          </p:sp>
          <p:sp>
            <p:nvSpPr>
              <p:cNvPr id="57" name="紫荆的职场Point125"/>
              <p:cNvSpPr txBox="1"/>
              <p:nvPr/>
            </p:nvSpPr>
            <p:spPr>
              <a:xfrm>
                <a:off x="17161" y="4928"/>
                <a:ext cx="856" cy="499"/>
              </a:xfrm>
              <a:prstGeom prst="rect">
                <a:avLst/>
              </a:prstGeom>
              <a:noFill/>
            </p:spPr>
            <p:txBody>
              <a:bodyPr wrap="none">
                <a:spAutoFit/>
              </a:bodyPr>
              <a:lstStyle/>
              <a:p>
                <a:pPr algn="ctr">
                  <a:defRPr>
                    <a:latin typeface="微软雅黑"/>
                    <a:ea typeface="微软雅黑"/>
                    <a:cs typeface="微软雅黑"/>
                  </a:defRPr>
                </a:pPr>
                <a:r>
                  <a:rPr lang="en-US" altLang="zh-CN" sz="1400" dirty="0">
                    <a:solidFill>
                      <a:srgbClr val="383838"/>
                    </a:solidFill>
                    <a:latin typeface="微软雅黑"/>
                    <a:ea typeface="微软雅黑"/>
                    <a:cs typeface="微软雅黑"/>
                  </a:rPr>
                  <a:t>……</a:t>
                </a:r>
                <a:endParaRPr lang="en-US" altLang="zh-CN" sz="1400" dirty="0">
                  <a:solidFill>
                    <a:srgbClr val="383838"/>
                  </a:solidFill>
                  <a:latin typeface="微软雅黑"/>
                  <a:ea typeface="微软雅黑"/>
                  <a:cs typeface="微软雅黑"/>
                </a:endParaRPr>
              </a:p>
            </p:txBody>
          </p:sp>
        </p:grpSp>
        <p:grpSp>
          <p:nvGrpSpPr>
            <p:cNvPr id="58" name="组合 57"/>
            <p:cNvGrpSpPr/>
            <p:nvPr/>
          </p:nvGrpSpPr>
          <p:grpSpPr>
            <a:xfrm rot="0">
              <a:off x="16533" y="6611"/>
              <a:ext cx="2112" cy="2777"/>
              <a:chOff x="16533" y="2019"/>
              <a:chExt cx="2112" cy="2777"/>
            </a:xfrm>
          </p:grpSpPr>
          <p:sp>
            <p:nvSpPr>
              <p:cNvPr id="59" name="@显眼包PPT4"/>
              <p:cNvSpPr/>
              <p:nvPr/>
            </p:nvSpPr>
            <p:spPr>
              <a:xfrm>
                <a:off x="16533" y="2317"/>
                <a:ext cx="2112" cy="2479"/>
              </a:xfrm>
              <a:prstGeom prst="roundRect">
                <a:avLst>
                  <a:gd name="adj" fmla="val 3714"/>
                </a:avLst>
              </a:prstGeom>
              <a:gradFill>
                <a:gsLst>
                  <a:gs pos="0">
                    <a:srgbClr val="3368FF">
                      <a:alpha val="17000"/>
                    </a:srgbClr>
                  </a:gs>
                  <a:gs pos="100000">
                    <a:srgbClr val="3368FF">
                      <a:alpha val="0"/>
                    </a:srgbClr>
                  </a:gs>
                </a:gsLst>
                <a:lin ang="5400000" scaled="1"/>
              </a:gradFill>
              <a:ln w="15875">
                <a:noFill/>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60" name="@显眼包PPT5"/>
              <p:cNvSpPr/>
              <p:nvPr/>
            </p:nvSpPr>
            <p:spPr>
              <a:xfrm>
                <a:off x="16533" y="2019"/>
                <a:ext cx="2112" cy="478"/>
              </a:xfrm>
              <a:prstGeom prst="rect">
                <a:avLst/>
              </a:prstGeom>
              <a:gradFill flip="none" rotWithShape="1">
                <a:gsLst>
                  <a:gs pos="0">
                    <a:srgbClr val="3368FF"/>
                  </a:gs>
                  <a:gs pos="50000">
                    <a:srgbClr val="0042FF"/>
                  </a:gs>
                </a:gsLst>
                <a:path path="circle">
                  <a:fillToRect r="100000" b="100000"/>
                </a:path>
                <a:tileRect l="-100000" t="-100000"/>
              </a:gradFill>
              <a:ln>
                <a:noFill/>
              </a:ln>
              <a:effectLst>
                <a:outerShdw blurRad="165100" dist="63500" dir="5400000" algn="t" rotWithShape="0">
                  <a:srgbClr val="3368FF">
                    <a:alpha val="3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dirty="0">
                    <a:ln>
                      <a:noFill/>
                    </a:ln>
                    <a:solidFill>
                      <a:srgbClr val="FFFFFF"/>
                    </a:solidFill>
                    <a:effectLst>
                      <a:outerShdw blurRad="50800" dist="38100" dir="2700000" algn="tl">
                        <a:srgbClr val="0042FF">
                          <a:alpha val="36000"/>
                        </a:srgbClr>
                      </a:outerShdw>
                    </a:effectLst>
                    <a:uLnTx/>
                    <a:uFillTx/>
                    <a:latin typeface="微软雅黑"/>
                    <a:ea typeface="微软雅黑"/>
                    <a:cs typeface="微软雅黑"/>
                  </a:rPr>
                  <a:t>仿真平台</a:t>
                </a:r>
                <a:endParaRPr kumimoji="0" lang="zh-CN" altLang="en-US" sz="1400" b="1" i="0" u="none" strike="noStrike" kern="1200" cap="none" spc="0" normalizeH="0" baseline="0" noProof="0" dirty="0">
                  <a:ln>
                    <a:noFill/>
                  </a:ln>
                  <a:solidFill>
                    <a:srgbClr val="FFFFFF"/>
                  </a:solidFill>
                  <a:effectLst>
                    <a:outerShdw blurRad="50800" dist="38100" dir="2700000" algn="tl">
                      <a:srgbClr val="0042FF">
                        <a:alpha val="36000"/>
                      </a:srgbClr>
                    </a:outerShdw>
                  </a:effectLst>
                  <a:uLnTx/>
                  <a:uFillTx/>
                  <a:latin typeface="微软雅黑"/>
                  <a:ea typeface="微软雅黑"/>
                  <a:cs typeface="微软雅黑"/>
                </a:endParaRPr>
              </a:p>
            </p:txBody>
          </p:sp>
          <p:sp>
            <p:nvSpPr>
              <p:cNvPr id="61" name="紫荆的职场Point115"/>
              <p:cNvSpPr txBox="1"/>
              <p:nvPr/>
            </p:nvSpPr>
            <p:spPr>
              <a:xfrm>
                <a:off x="16746" y="2727"/>
                <a:ext cx="1688" cy="483"/>
              </a:xfrm>
              <a:prstGeom prst="rect">
                <a:avLst/>
              </a:prstGeom>
              <a:noFill/>
            </p:spPr>
            <p:txBody>
              <a:bodyPr wrap="none">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多场景仿真</a:t>
                </a:r>
                <a:endParaRPr lang="zh-CN" altLang="en-US" sz="1400" dirty="0">
                  <a:solidFill>
                    <a:srgbClr val="383838"/>
                  </a:solidFill>
                  <a:latin typeface="微软雅黑"/>
                  <a:ea typeface="微软雅黑"/>
                  <a:cs typeface="微软雅黑"/>
                </a:endParaRPr>
              </a:p>
            </p:txBody>
          </p:sp>
          <p:sp>
            <p:nvSpPr>
              <p:cNvPr id="62" name="紫荆的职场Point116"/>
              <p:cNvSpPr txBox="1"/>
              <p:nvPr/>
            </p:nvSpPr>
            <p:spPr>
              <a:xfrm>
                <a:off x="16886" y="3277"/>
                <a:ext cx="1408" cy="483"/>
              </a:xfrm>
              <a:prstGeom prst="rect">
                <a:avLst/>
              </a:prstGeom>
              <a:noFill/>
            </p:spPr>
            <p:txBody>
              <a:bodyPr wrap="none">
                <a:spAutoFit/>
              </a:bodyPr>
              <a:lstStyle/>
              <a:p>
                <a:pPr algn="ctr">
                  <a:defRPr>
                    <a:latin typeface="微软雅黑"/>
                    <a:ea typeface="微软雅黑"/>
                    <a:cs typeface="微软雅黑"/>
                  </a:defRPr>
                </a:pPr>
                <a:r>
                  <a:rPr lang="zh-CN" altLang="en-US" sz="1400">
                    <a:solidFill>
                      <a:srgbClr val="383838"/>
                    </a:solidFill>
                    <a:latin typeface="微软雅黑"/>
                    <a:ea typeface="微软雅黑"/>
                    <a:cs typeface="微软雅黑"/>
                  </a:rPr>
                  <a:t>仿真模型</a:t>
                </a:r>
                <a:endParaRPr lang="zh-CN" altLang="en-US" sz="1400" dirty="0">
                  <a:solidFill>
                    <a:srgbClr val="383838"/>
                  </a:solidFill>
                  <a:latin typeface="微软雅黑"/>
                  <a:ea typeface="微软雅黑"/>
                  <a:cs typeface="微软雅黑"/>
                </a:endParaRPr>
              </a:p>
            </p:txBody>
          </p:sp>
          <p:sp>
            <p:nvSpPr>
              <p:cNvPr id="63" name="紫荆的职场Point125"/>
              <p:cNvSpPr txBox="1"/>
              <p:nvPr/>
            </p:nvSpPr>
            <p:spPr>
              <a:xfrm>
                <a:off x="17162" y="3837"/>
                <a:ext cx="856" cy="499"/>
              </a:xfrm>
              <a:prstGeom prst="rect">
                <a:avLst/>
              </a:prstGeom>
              <a:noFill/>
            </p:spPr>
            <p:txBody>
              <a:bodyPr wrap="none">
                <a:spAutoFit/>
              </a:bodyPr>
              <a:lstStyle/>
              <a:p>
                <a:pPr algn="ctr">
                  <a:defRPr>
                    <a:latin typeface="微软雅黑"/>
                    <a:ea typeface="微软雅黑"/>
                    <a:cs typeface="微软雅黑"/>
                  </a:defRPr>
                </a:pPr>
                <a:r>
                  <a:rPr lang="en-US" altLang="zh-CN" sz="1400" dirty="0">
                    <a:solidFill>
                      <a:srgbClr val="383838"/>
                    </a:solidFill>
                    <a:latin typeface="微软雅黑"/>
                    <a:ea typeface="微软雅黑"/>
                    <a:cs typeface="微软雅黑"/>
                  </a:rPr>
                  <a:t>……</a:t>
                </a:r>
                <a:endParaRPr lang="en-US" altLang="zh-CN" sz="1400" dirty="0">
                  <a:solidFill>
                    <a:srgbClr val="383838"/>
                  </a:solidFill>
                  <a:latin typeface="微软雅黑"/>
                  <a:ea typeface="微软雅黑"/>
                  <a:cs typeface="微软雅黑"/>
                </a:endParaRPr>
              </a:p>
            </p:txBody>
          </p:sp>
        </p:grpSp>
      </p:grpSp>
      <p:grpSp>
        <p:nvGrpSpPr>
          <p:cNvPr id="128" name="组合 127"/>
          <p:cNvGrpSpPr/>
          <p:nvPr/>
        </p:nvGrpSpPr>
        <p:grpSpPr>
          <a:xfrm>
            <a:off x="1949872" y="1029324"/>
            <a:ext cx="8427933" cy="1623106"/>
            <a:chOff x="3001" y="11063"/>
            <a:chExt cx="11668" cy="4535"/>
          </a:xfrm>
        </p:grpSpPr>
        <p:sp>
          <p:nvSpPr>
            <p:cNvPr id="94" name="@显眼包PPT6"/>
            <p:cNvSpPr/>
            <p:nvPr/>
          </p:nvSpPr>
          <p:spPr>
            <a:xfrm>
              <a:off x="3001" y="11209"/>
              <a:ext cx="11457" cy="4327"/>
            </a:xfrm>
            <a:prstGeom prst="rect">
              <a:avLst/>
            </a:prstGeom>
            <a:solidFill>
              <a:srgbClr val="E6E6E6">
                <a:alpha val="50000"/>
              </a:srgbClr>
            </a:solidFill>
            <a:ln>
              <a:solidFill>
                <a:srgbClr val="668E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7" name="@显眼包PPT43"/>
            <p:cNvSpPr/>
            <p:nvPr/>
          </p:nvSpPr>
          <p:spPr>
            <a:xfrm rot="16200000" flipV="1">
              <a:off x="12296" y="13225"/>
              <a:ext cx="4535" cy="210"/>
            </a:xfrm>
            <a:prstGeom prst="parallelogram">
              <a:avLst>
                <a:gd name="adj" fmla="val 34130"/>
              </a:avLst>
            </a:prstGeom>
            <a:gradFill>
              <a:gsLst>
                <a:gs pos="0">
                  <a:srgbClr val="E6E6E6"/>
                </a:gs>
                <a:gs pos="100000">
                  <a:srgbClr val="E6E6E6">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sp>
        <p:nvSpPr>
          <p:cNvPr id="129" name="紫荆的职场Point22"/>
          <p:cNvSpPr txBox="1"/>
          <p:nvPr/>
        </p:nvSpPr>
        <p:spPr>
          <a:xfrm>
            <a:off x="5542916" y="1115870"/>
            <a:ext cx="1101090" cy="275590"/>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供应链控制塔</a:t>
            </a:r>
            <a:endParaRPr lang="zh-CN" altLang="en-US" sz="1200" b="1" dirty="0">
              <a:solidFill>
                <a:srgbClr val="0042FF"/>
              </a:solidFill>
              <a:latin typeface="微软雅黑"/>
              <a:ea typeface="微软雅黑"/>
              <a:cs typeface="微软雅黑"/>
            </a:endParaRPr>
          </a:p>
        </p:txBody>
      </p:sp>
      <p:sp>
        <p:nvSpPr>
          <p:cNvPr id="130" name="紫荆的职场Point23"/>
          <p:cNvSpPr/>
          <p:nvPr/>
        </p:nvSpPr>
        <p:spPr>
          <a:xfrm>
            <a:off x="2148205" y="1410335"/>
            <a:ext cx="1487805" cy="400685"/>
          </a:xfrm>
          <a:prstGeom prst="roundRect">
            <a:avLst/>
          </a:prstGeom>
          <a:solidFill>
            <a:srgbClr val="3368FF"/>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数据大屏</a:t>
            </a:r>
            <a:endParaRPr lang="zh-CN" altLang="en-US" sz="1400" b="1" dirty="0">
              <a:solidFill>
                <a:srgbClr val="FFFFFF"/>
              </a:solidFill>
              <a:effectLst/>
              <a:latin typeface="微软雅黑"/>
              <a:ea typeface="微软雅黑"/>
              <a:cs typeface="微软雅黑"/>
              <a:sym typeface="微软雅黑"/>
            </a:endParaRPr>
          </a:p>
        </p:txBody>
      </p:sp>
      <p:sp>
        <p:nvSpPr>
          <p:cNvPr id="131" name="紫荆的职场Point24"/>
          <p:cNvSpPr/>
          <p:nvPr/>
        </p:nvSpPr>
        <p:spPr>
          <a:xfrm>
            <a:off x="3749040" y="1410335"/>
            <a:ext cx="1487805" cy="400685"/>
          </a:xfrm>
          <a:prstGeom prst="roundRect">
            <a:avLst/>
          </a:prstGeom>
          <a:solidFill>
            <a:srgbClr val="3368FF"/>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执行监控</a:t>
            </a:r>
            <a:endParaRPr lang="zh-CN" altLang="en-US" sz="1400" b="1" dirty="0">
              <a:solidFill>
                <a:srgbClr val="FFFFFF"/>
              </a:solidFill>
              <a:effectLst/>
              <a:latin typeface="微软雅黑"/>
              <a:ea typeface="微软雅黑"/>
              <a:cs typeface="微软雅黑"/>
              <a:sym typeface="微软雅黑"/>
            </a:endParaRPr>
          </a:p>
        </p:txBody>
      </p:sp>
      <p:sp>
        <p:nvSpPr>
          <p:cNvPr id="132" name="紫荆的职场Point25"/>
          <p:cNvSpPr/>
          <p:nvPr/>
        </p:nvSpPr>
        <p:spPr>
          <a:xfrm>
            <a:off x="5349875" y="1410335"/>
            <a:ext cx="1487805" cy="400685"/>
          </a:xfrm>
          <a:prstGeom prst="roundRect">
            <a:avLst/>
          </a:prstGeom>
          <a:solidFill>
            <a:srgbClr val="3368FF"/>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异常预警</a:t>
            </a:r>
            <a:endParaRPr lang="zh-CN" altLang="en-US" sz="1400" b="1" dirty="0">
              <a:solidFill>
                <a:srgbClr val="FFFFFF"/>
              </a:solidFill>
              <a:effectLst/>
              <a:latin typeface="微软雅黑"/>
              <a:ea typeface="微软雅黑"/>
              <a:cs typeface="微软雅黑"/>
              <a:sym typeface="微软雅黑"/>
            </a:endParaRPr>
          </a:p>
        </p:txBody>
      </p:sp>
      <p:sp>
        <p:nvSpPr>
          <p:cNvPr id="135" name="紫荆的职场Point26"/>
          <p:cNvSpPr/>
          <p:nvPr/>
        </p:nvSpPr>
        <p:spPr>
          <a:xfrm>
            <a:off x="6950075" y="1410335"/>
            <a:ext cx="1487805" cy="400685"/>
          </a:xfrm>
          <a:prstGeom prst="roundRect">
            <a:avLst/>
          </a:prstGeom>
          <a:solidFill>
            <a:srgbClr val="3368FF"/>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指标分析</a:t>
            </a:r>
            <a:endParaRPr lang="zh-CN" altLang="en-US" sz="1400" b="1" dirty="0">
              <a:solidFill>
                <a:srgbClr val="FFFFFF"/>
              </a:solidFill>
              <a:effectLst/>
              <a:latin typeface="微软雅黑"/>
              <a:ea typeface="微软雅黑"/>
              <a:cs typeface="微软雅黑"/>
              <a:sym typeface="微软雅黑"/>
            </a:endParaRPr>
          </a:p>
        </p:txBody>
      </p:sp>
      <p:sp>
        <p:nvSpPr>
          <p:cNvPr id="136" name="紫荆的职场Point27"/>
          <p:cNvSpPr/>
          <p:nvPr/>
        </p:nvSpPr>
        <p:spPr>
          <a:xfrm>
            <a:off x="8550910" y="1410335"/>
            <a:ext cx="1487805" cy="400685"/>
          </a:xfrm>
          <a:prstGeom prst="roundRect">
            <a:avLst/>
          </a:prstGeom>
          <a:solidFill>
            <a:srgbClr val="3368FF"/>
          </a:solidFill>
          <a:ln w="10859">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优化建议</a:t>
            </a:r>
            <a:endParaRPr lang="zh-CN" altLang="en-US" sz="1400" b="1" dirty="0">
              <a:solidFill>
                <a:srgbClr val="FFFFFF"/>
              </a:solidFill>
              <a:effectLst/>
              <a:latin typeface="微软雅黑"/>
              <a:ea typeface="微软雅黑"/>
              <a:cs typeface="微软雅黑"/>
              <a:sym typeface="微软雅黑"/>
            </a:endParaRPr>
          </a:p>
        </p:txBody>
      </p:sp>
      <p:grpSp>
        <p:nvGrpSpPr>
          <p:cNvPr id="140" name="组合 139"/>
          <p:cNvGrpSpPr/>
          <p:nvPr/>
        </p:nvGrpSpPr>
        <p:grpSpPr>
          <a:xfrm>
            <a:off x="1950720" y="2674686"/>
            <a:ext cx="8427720" cy="3253507"/>
            <a:chOff x="3001" y="11127"/>
            <a:chExt cx="11668" cy="4425"/>
          </a:xfrm>
        </p:grpSpPr>
        <p:sp>
          <p:nvSpPr>
            <p:cNvPr id="142" name="@显眼包PPT6"/>
            <p:cNvSpPr/>
            <p:nvPr/>
          </p:nvSpPr>
          <p:spPr>
            <a:xfrm>
              <a:off x="3001" y="11209"/>
              <a:ext cx="11457" cy="4327"/>
            </a:xfrm>
            <a:prstGeom prst="rect">
              <a:avLst/>
            </a:prstGeom>
            <a:solidFill>
              <a:srgbClr val="FFFFFF">
                <a:alpha val="50000"/>
              </a:srgbClr>
            </a:solidFill>
            <a:ln>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43" name="@显眼包PPT43"/>
            <p:cNvSpPr/>
            <p:nvPr/>
          </p:nvSpPr>
          <p:spPr>
            <a:xfrm rot="16200000" flipV="1">
              <a:off x="12351" y="13234"/>
              <a:ext cx="4425" cy="210"/>
            </a:xfrm>
            <a:prstGeom prst="parallelogram">
              <a:avLst>
                <a:gd name="adj" fmla="val 34130"/>
              </a:avLst>
            </a:prstGeom>
            <a:gradFill>
              <a:gsLst>
                <a:gs pos="0">
                  <a:srgbClr val="FFFFFF"/>
                </a:gs>
                <a:gs pos="100000">
                  <a:srgbClr val="FFFF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sp>
        <p:nvSpPr>
          <p:cNvPr id="145" name="紫荆的职场Point3"/>
          <p:cNvSpPr/>
          <p:nvPr/>
        </p:nvSpPr>
        <p:spPr>
          <a:xfrm>
            <a:off x="7633304" y="3055023"/>
            <a:ext cx="2458131" cy="1383809"/>
          </a:xfrm>
          <a:prstGeom prst="roundRect">
            <a:avLst>
              <a:gd name="adj" fmla="val 2622"/>
            </a:avLst>
          </a:prstGeom>
          <a:solidFill>
            <a:srgbClr val="B3D4FE">
              <a:alpha val="3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6" name="紫荆的职场Point4"/>
          <p:cNvSpPr/>
          <p:nvPr/>
        </p:nvSpPr>
        <p:spPr>
          <a:xfrm>
            <a:off x="4921099" y="3055023"/>
            <a:ext cx="2458131" cy="1383809"/>
          </a:xfrm>
          <a:prstGeom prst="roundRect">
            <a:avLst>
              <a:gd name="adj" fmla="val 2622"/>
            </a:avLst>
          </a:prstGeom>
          <a:solidFill>
            <a:srgbClr val="B3D4FE">
              <a:alpha val="3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9" name="紫荆的职场Point5"/>
          <p:cNvSpPr/>
          <p:nvPr/>
        </p:nvSpPr>
        <p:spPr>
          <a:xfrm>
            <a:off x="4990771"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渠道库存</a:t>
            </a:r>
            <a:endParaRPr lang="zh-CN" altLang="en-US" sz="1000">
              <a:solidFill>
                <a:srgbClr val="383838"/>
              </a:solidFill>
              <a:effectLst/>
              <a:latin typeface="微软雅黑"/>
              <a:ea typeface="微软雅黑"/>
              <a:cs typeface="微软雅黑"/>
              <a:sym typeface="微软雅黑"/>
            </a:endParaRPr>
          </a:p>
        </p:txBody>
      </p:sp>
      <p:sp>
        <p:nvSpPr>
          <p:cNvPr id="151" name="紫荆的职场Point6"/>
          <p:cNvSpPr/>
          <p:nvPr/>
        </p:nvSpPr>
        <p:spPr>
          <a:xfrm>
            <a:off x="5776806"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逻辑库存</a:t>
            </a:r>
            <a:endParaRPr lang="zh-CN" altLang="en-US" sz="1000">
              <a:solidFill>
                <a:srgbClr val="383838"/>
              </a:solidFill>
              <a:effectLst/>
              <a:latin typeface="微软雅黑"/>
              <a:ea typeface="微软雅黑"/>
              <a:cs typeface="微软雅黑"/>
              <a:sym typeface="微软雅黑"/>
            </a:endParaRPr>
          </a:p>
        </p:txBody>
      </p:sp>
      <p:sp>
        <p:nvSpPr>
          <p:cNvPr id="152" name="紫荆的职场Point7"/>
          <p:cNvSpPr/>
          <p:nvPr/>
        </p:nvSpPr>
        <p:spPr>
          <a:xfrm>
            <a:off x="6562840"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实物库存</a:t>
            </a:r>
            <a:endParaRPr lang="zh-CN" altLang="en-US" sz="1000">
              <a:solidFill>
                <a:srgbClr val="383838"/>
              </a:solidFill>
              <a:effectLst/>
              <a:latin typeface="微软雅黑"/>
              <a:ea typeface="微软雅黑"/>
              <a:cs typeface="微软雅黑"/>
              <a:sym typeface="微软雅黑"/>
            </a:endParaRPr>
          </a:p>
        </p:txBody>
      </p:sp>
      <p:sp>
        <p:nvSpPr>
          <p:cNvPr id="154" name="紫荆的职场Point8"/>
          <p:cNvSpPr/>
          <p:nvPr/>
        </p:nvSpPr>
        <p:spPr>
          <a:xfrm>
            <a:off x="4990771"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货权管理</a:t>
            </a:r>
            <a:endParaRPr lang="zh-CN" altLang="en-US" sz="1000">
              <a:solidFill>
                <a:srgbClr val="383838"/>
              </a:solidFill>
              <a:effectLst/>
              <a:latin typeface="微软雅黑"/>
              <a:ea typeface="微软雅黑"/>
              <a:cs typeface="微软雅黑"/>
              <a:sym typeface="微软雅黑"/>
            </a:endParaRPr>
          </a:p>
        </p:txBody>
      </p:sp>
      <p:sp>
        <p:nvSpPr>
          <p:cNvPr id="155" name="紫荆的职场Point9"/>
          <p:cNvSpPr/>
          <p:nvPr/>
        </p:nvSpPr>
        <p:spPr>
          <a:xfrm>
            <a:off x="5776806"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订单匹配</a:t>
            </a:r>
            <a:endParaRPr lang="zh-CN" altLang="en-US" sz="1000">
              <a:solidFill>
                <a:srgbClr val="383838"/>
              </a:solidFill>
              <a:effectLst/>
              <a:latin typeface="微软雅黑"/>
              <a:ea typeface="微软雅黑"/>
              <a:cs typeface="微软雅黑"/>
              <a:sym typeface="微软雅黑"/>
            </a:endParaRPr>
          </a:p>
        </p:txBody>
      </p:sp>
      <p:sp>
        <p:nvSpPr>
          <p:cNvPr id="158" name="紫荆的职场Point10"/>
          <p:cNvSpPr/>
          <p:nvPr/>
        </p:nvSpPr>
        <p:spPr>
          <a:xfrm>
            <a:off x="6562840"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库存补调</a:t>
            </a:r>
            <a:endParaRPr lang="zh-CN" altLang="en-US" sz="1000">
              <a:solidFill>
                <a:srgbClr val="383838"/>
              </a:solidFill>
              <a:effectLst/>
              <a:latin typeface="微软雅黑"/>
              <a:ea typeface="微软雅黑"/>
              <a:cs typeface="微软雅黑"/>
              <a:sym typeface="微软雅黑"/>
            </a:endParaRPr>
          </a:p>
        </p:txBody>
      </p:sp>
      <p:sp>
        <p:nvSpPr>
          <p:cNvPr id="160" name="紫荆的职场Point11"/>
          <p:cNvSpPr/>
          <p:nvPr/>
        </p:nvSpPr>
        <p:spPr>
          <a:xfrm>
            <a:off x="2220232" y="3055023"/>
            <a:ext cx="2458131" cy="1383809"/>
          </a:xfrm>
          <a:prstGeom prst="roundRect">
            <a:avLst>
              <a:gd name="adj" fmla="val 2622"/>
            </a:avLst>
          </a:prstGeom>
          <a:solidFill>
            <a:srgbClr val="B3D4FE">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61" name="紫荆的职场Point40"/>
          <p:cNvSpPr txBox="1"/>
          <p:nvPr/>
        </p:nvSpPr>
        <p:spPr>
          <a:xfrm>
            <a:off x="5325928" y="2785346"/>
            <a:ext cx="1800494" cy="317130"/>
          </a:xfrm>
          <a:prstGeom prst="rect">
            <a:avLst/>
          </a:prstGeom>
          <a:noFill/>
        </p:spPr>
        <p:txBody>
          <a:bodyPr wrap="none">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供应链协同运营平台</a:t>
            </a:r>
            <a:endParaRPr lang="zh-CN" altLang="en-US" sz="1400" b="1" dirty="0">
              <a:solidFill>
                <a:srgbClr val="0042FF"/>
              </a:solidFill>
              <a:latin typeface="微软雅黑"/>
              <a:ea typeface="微软雅黑"/>
              <a:cs typeface="微软雅黑"/>
            </a:endParaRPr>
          </a:p>
        </p:txBody>
      </p:sp>
      <p:sp>
        <p:nvSpPr>
          <p:cNvPr id="163" name="紫荆的职场Point41"/>
          <p:cNvSpPr/>
          <p:nvPr/>
        </p:nvSpPr>
        <p:spPr>
          <a:xfrm>
            <a:off x="2289903" y="3110480"/>
            <a:ext cx="2318788" cy="431006"/>
          </a:xfrm>
          <a:prstGeom prst="roundRect">
            <a:avLst/>
          </a:prstGeom>
          <a:solidFill>
            <a:srgbClr val="3368FF">
              <a:alpha val="80000"/>
            </a:srgbClr>
          </a:solidFill>
          <a:ln w="10859">
            <a:noFill/>
            <a:prstDash val="dash"/>
          </a:ln>
          <a:effectLst>
            <a:outerShdw blurRad="190500" dist="50800" dir="2700000" sx="99000" sy="99000" algn="tl" rotWithShape="0">
              <a:srgbClr val="FF4200">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订单中心</a:t>
            </a:r>
            <a:endParaRPr lang="zh-CN" altLang="en-US" sz="1400" b="1" dirty="0">
              <a:solidFill>
                <a:srgbClr val="FFFFFF"/>
              </a:solidFill>
              <a:effectLst/>
              <a:latin typeface="微软雅黑"/>
              <a:ea typeface="微软雅黑"/>
              <a:cs typeface="微软雅黑"/>
              <a:sym typeface="微软雅黑"/>
            </a:endParaRPr>
          </a:p>
        </p:txBody>
      </p:sp>
      <p:sp>
        <p:nvSpPr>
          <p:cNvPr id="164" name="紫荆的职场Point42"/>
          <p:cNvSpPr/>
          <p:nvPr/>
        </p:nvSpPr>
        <p:spPr>
          <a:xfrm>
            <a:off x="4990770" y="3110480"/>
            <a:ext cx="2318788" cy="431006"/>
          </a:xfrm>
          <a:prstGeom prst="roundRect">
            <a:avLst/>
          </a:prstGeom>
          <a:solidFill>
            <a:srgbClr val="3368FF">
              <a:alpha val="80000"/>
            </a:srgbClr>
          </a:solidFill>
          <a:ln w="10859">
            <a:noFill/>
            <a:prstDash val="dash"/>
          </a:ln>
          <a:effectLst>
            <a:outerShdw blurRad="190500" dist="50800" dir="2700000" sx="99000" sy="99000" algn="tl" rotWithShape="0">
              <a:srgbClr val="FF4200">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库存中心</a:t>
            </a:r>
            <a:endParaRPr lang="zh-CN" altLang="en-US" sz="1400" b="1" dirty="0">
              <a:solidFill>
                <a:srgbClr val="FFFFFF"/>
              </a:solidFill>
              <a:effectLst/>
              <a:latin typeface="微软雅黑"/>
              <a:ea typeface="微软雅黑"/>
              <a:cs typeface="微软雅黑"/>
              <a:sym typeface="微软雅黑"/>
            </a:endParaRPr>
          </a:p>
        </p:txBody>
      </p:sp>
      <p:sp>
        <p:nvSpPr>
          <p:cNvPr id="165" name="紫荆的职场Point43"/>
          <p:cNvSpPr/>
          <p:nvPr/>
        </p:nvSpPr>
        <p:spPr>
          <a:xfrm>
            <a:off x="7702975" y="3110480"/>
            <a:ext cx="2318788" cy="431006"/>
          </a:xfrm>
          <a:prstGeom prst="roundRect">
            <a:avLst/>
          </a:prstGeom>
          <a:solidFill>
            <a:srgbClr val="3368FF">
              <a:alpha val="80000"/>
            </a:srgbClr>
          </a:solidFill>
          <a:ln w="10859">
            <a:noFill/>
            <a:prstDash val="dash"/>
          </a:ln>
          <a:effectLst>
            <a:outerShdw blurRad="190500" dist="50800" dir="2700000" sx="99000" sy="99000" algn="tl" rotWithShape="0">
              <a:srgbClr val="FF4200">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78181" tIns="39091" rIns="78181" bIns="39091"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sym typeface="微软雅黑"/>
              </a:rPr>
              <a:t>对账中心</a:t>
            </a:r>
            <a:endParaRPr lang="zh-CN" altLang="en-US" sz="1400" b="1" dirty="0">
              <a:solidFill>
                <a:srgbClr val="FFFFFF"/>
              </a:solidFill>
              <a:effectLst/>
              <a:latin typeface="微软雅黑"/>
              <a:ea typeface="微软雅黑"/>
              <a:cs typeface="微软雅黑"/>
              <a:sym typeface="微软雅黑"/>
            </a:endParaRPr>
          </a:p>
        </p:txBody>
      </p:sp>
      <p:sp>
        <p:nvSpPr>
          <p:cNvPr id="166" name="紫荆的职场Point44"/>
          <p:cNvSpPr/>
          <p:nvPr/>
        </p:nvSpPr>
        <p:spPr>
          <a:xfrm>
            <a:off x="2289904"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订单接收</a:t>
            </a:r>
            <a:endParaRPr lang="zh-CN" altLang="en-US" sz="1000">
              <a:solidFill>
                <a:srgbClr val="383838"/>
              </a:solidFill>
              <a:effectLst/>
              <a:latin typeface="微软雅黑"/>
              <a:ea typeface="微软雅黑"/>
              <a:cs typeface="微软雅黑"/>
              <a:sym typeface="微软雅黑"/>
            </a:endParaRPr>
          </a:p>
        </p:txBody>
      </p:sp>
      <p:sp>
        <p:nvSpPr>
          <p:cNvPr id="167" name="紫荆的职场Point45"/>
          <p:cNvSpPr/>
          <p:nvPr/>
        </p:nvSpPr>
        <p:spPr>
          <a:xfrm>
            <a:off x="3075939"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订单处理</a:t>
            </a:r>
            <a:endParaRPr lang="zh-CN" altLang="en-US" sz="1000">
              <a:solidFill>
                <a:srgbClr val="383838"/>
              </a:solidFill>
              <a:effectLst/>
              <a:latin typeface="微软雅黑"/>
              <a:ea typeface="微软雅黑"/>
              <a:cs typeface="微软雅黑"/>
              <a:sym typeface="微软雅黑"/>
            </a:endParaRPr>
          </a:p>
        </p:txBody>
      </p:sp>
      <p:sp>
        <p:nvSpPr>
          <p:cNvPr id="168" name="紫荆的职场Point46"/>
          <p:cNvSpPr/>
          <p:nvPr/>
        </p:nvSpPr>
        <p:spPr>
          <a:xfrm>
            <a:off x="3861973"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智能寻源</a:t>
            </a:r>
            <a:endParaRPr lang="zh-CN" altLang="en-US" sz="1000">
              <a:solidFill>
                <a:srgbClr val="383838"/>
              </a:solidFill>
              <a:effectLst/>
              <a:latin typeface="微软雅黑"/>
              <a:ea typeface="微软雅黑"/>
              <a:cs typeface="微软雅黑"/>
              <a:sym typeface="微软雅黑"/>
            </a:endParaRPr>
          </a:p>
        </p:txBody>
      </p:sp>
      <p:sp>
        <p:nvSpPr>
          <p:cNvPr id="169" name="紫荆的职场Point47"/>
          <p:cNvSpPr/>
          <p:nvPr/>
        </p:nvSpPr>
        <p:spPr>
          <a:xfrm>
            <a:off x="2289904"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执行管控</a:t>
            </a:r>
            <a:endParaRPr lang="zh-CN" altLang="en-US" sz="1000">
              <a:solidFill>
                <a:srgbClr val="383838"/>
              </a:solidFill>
              <a:effectLst/>
              <a:latin typeface="微软雅黑"/>
              <a:ea typeface="微软雅黑"/>
              <a:cs typeface="微软雅黑"/>
              <a:sym typeface="微软雅黑"/>
            </a:endParaRPr>
          </a:p>
        </p:txBody>
      </p:sp>
      <p:sp>
        <p:nvSpPr>
          <p:cNvPr id="170" name="紫荆的职场Point48"/>
          <p:cNvSpPr/>
          <p:nvPr/>
        </p:nvSpPr>
        <p:spPr>
          <a:xfrm>
            <a:off x="3075939"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订单拦截</a:t>
            </a:r>
            <a:endParaRPr lang="zh-CN" altLang="en-US" sz="1000">
              <a:solidFill>
                <a:srgbClr val="383838"/>
              </a:solidFill>
              <a:effectLst/>
              <a:latin typeface="微软雅黑"/>
              <a:ea typeface="微软雅黑"/>
              <a:cs typeface="微软雅黑"/>
              <a:sym typeface="微软雅黑"/>
            </a:endParaRPr>
          </a:p>
        </p:txBody>
      </p:sp>
      <p:sp>
        <p:nvSpPr>
          <p:cNvPr id="171" name="紫荆的职场Point49"/>
          <p:cNvSpPr/>
          <p:nvPr/>
        </p:nvSpPr>
        <p:spPr>
          <a:xfrm>
            <a:off x="3861973"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信息推送</a:t>
            </a:r>
            <a:endParaRPr lang="zh-CN" altLang="en-US" sz="1000">
              <a:solidFill>
                <a:srgbClr val="383838"/>
              </a:solidFill>
              <a:effectLst/>
              <a:latin typeface="微软雅黑"/>
              <a:ea typeface="微软雅黑"/>
              <a:cs typeface="微软雅黑"/>
              <a:sym typeface="微软雅黑"/>
            </a:endParaRPr>
          </a:p>
        </p:txBody>
      </p:sp>
      <p:sp>
        <p:nvSpPr>
          <p:cNvPr id="172" name="紫荆的职场Point50"/>
          <p:cNvSpPr/>
          <p:nvPr/>
        </p:nvSpPr>
        <p:spPr>
          <a:xfrm>
            <a:off x="7702976"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销售对账</a:t>
            </a:r>
            <a:endParaRPr lang="zh-CN" altLang="en-US" sz="1000">
              <a:solidFill>
                <a:srgbClr val="383838"/>
              </a:solidFill>
              <a:effectLst/>
              <a:latin typeface="微软雅黑"/>
              <a:ea typeface="微软雅黑"/>
              <a:cs typeface="微软雅黑"/>
              <a:sym typeface="微软雅黑"/>
            </a:endParaRPr>
          </a:p>
        </p:txBody>
      </p:sp>
      <p:sp>
        <p:nvSpPr>
          <p:cNvPr id="173" name="紫荆的职场Point51"/>
          <p:cNvSpPr/>
          <p:nvPr/>
        </p:nvSpPr>
        <p:spPr>
          <a:xfrm>
            <a:off x="8489011"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退货对账</a:t>
            </a:r>
            <a:endParaRPr lang="zh-CN" altLang="en-US" sz="1000">
              <a:solidFill>
                <a:srgbClr val="383838"/>
              </a:solidFill>
              <a:effectLst/>
              <a:latin typeface="微软雅黑"/>
              <a:ea typeface="微软雅黑"/>
              <a:cs typeface="微软雅黑"/>
              <a:sym typeface="微软雅黑"/>
            </a:endParaRPr>
          </a:p>
        </p:txBody>
      </p:sp>
      <p:sp>
        <p:nvSpPr>
          <p:cNvPr id="174" name="紫荆的职场Point52"/>
          <p:cNvSpPr/>
          <p:nvPr/>
        </p:nvSpPr>
        <p:spPr>
          <a:xfrm>
            <a:off x="9275045" y="3649826"/>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账单调整</a:t>
            </a:r>
            <a:endParaRPr lang="zh-CN" altLang="en-US" sz="1000">
              <a:solidFill>
                <a:srgbClr val="383838"/>
              </a:solidFill>
              <a:effectLst/>
              <a:latin typeface="微软雅黑"/>
              <a:ea typeface="微软雅黑"/>
              <a:cs typeface="微软雅黑"/>
              <a:sym typeface="微软雅黑"/>
            </a:endParaRPr>
          </a:p>
        </p:txBody>
      </p:sp>
      <p:sp>
        <p:nvSpPr>
          <p:cNvPr id="175" name="紫荆的职场Point53"/>
          <p:cNvSpPr/>
          <p:nvPr/>
        </p:nvSpPr>
        <p:spPr>
          <a:xfrm>
            <a:off x="7702976"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费用分摊</a:t>
            </a:r>
            <a:endParaRPr lang="zh-CN" altLang="en-US" sz="1000">
              <a:solidFill>
                <a:srgbClr val="383838"/>
              </a:solidFill>
              <a:effectLst/>
              <a:latin typeface="微软雅黑"/>
              <a:ea typeface="微软雅黑"/>
              <a:cs typeface="微软雅黑"/>
              <a:sym typeface="微软雅黑"/>
            </a:endParaRPr>
          </a:p>
        </p:txBody>
      </p:sp>
      <p:sp>
        <p:nvSpPr>
          <p:cNvPr id="177" name="紫荆的职场Point54"/>
          <p:cNvSpPr/>
          <p:nvPr/>
        </p:nvSpPr>
        <p:spPr>
          <a:xfrm>
            <a:off x="8489011"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自动核销</a:t>
            </a:r>
            <a:endParaRPr lang="zh-CN" altLang="en-US" sz="1000">
              <a:solidFill>
                <a:srgbClr val="383838"/>
              </a:solidFill>
              <a:effectLst/>
              <a:latin typeface="微软雅黑"/>
              <a:ea typeface="微软雅黑"/>
              <a:cs typeface="微软雅黑"/>
              <a:sym typeface="微软雅黑"/>
            </a:endParaRPr>
          </a:p>
        </p:txBody>
      </p:sp>
      <p:sp>
        <p:nvSpPr>
          <p:cNvPr id="178" name="紫荆的职场Point55"/>
          <p:cNvSpPr/>
          <p:nvPr/>
        </p:nvSpPr>
        <p:spPr>
          <a:xfrm>
            <a:off x="9275045" y="4029287"/>
            <a:ext cx="746718" cy="326797"/>
          </a:xfrm>
          <a:prstGeom prst="roundRect">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报表管理</a:t>
            </a:r>
            <a:endParaRPr lang="zh-CN" altLang="en-US" sz="1000">
              <a:solidFill>
                <a:srgbClr val="383838"/>
              </a:solidFill>
              <a:effectLst/>
              <a:latin typeface="微软雅黑"/>
              <a:ea typeface="微软雅黑"/>
              <a:cs typeface="微软雅黑"/>
              <a:sym typeface="微软雅黑"/>
            </a:endParaRPr>
          </a:p>
        </p:txBody>
      </p:sp>
      <p:sp>
        <p:nvSpPr>
          <p:cNvPr id="181" name="紫荆的职场Point56"/>
          <p:cNvSpPr/>
          <p:nvPr/>
        </p:nvSpPr>
        <p:spPr>
          <a:xfrm>
            <a:off x="1950720" y="4501515"/>
            <a:ext cx="8275955" cy="487045"/>
          </a:xfrm>
          <a:prstGeom prst="roundRect">
            <a:avLst>
              <a:gd name="adj" fmla="val 0"/>
            </a:avLst>
          </a:prstGeom>
          <a:solidFill>
            <a:srgbClr val="3368FF">
              <a:alpha val="80000"/>
            </a:srgbClr>
          </a:solidFill>
          <a:ln w="12700" cap="flat">
            <a:solidFill>
              <a:srgbClr val="3368FF">
                <a:alpha val="50000"/>
              </a:srgbClr>
            </a:solidFill>
            <a:prstDash val="solid"/>
            <a:miter lim="800000"/>
          </a:ln>
          <a:effectLst/>
          <a:sp3d/>
        </p:spPr>
        <p:txBody>
          <a:bodyPr rot="0" spcFirstLastPara="1" vertOverflow="overflow" horzOverflow="overflow" vert="horz" wrap="square" lIns="0" tIns="0" rIns="0" bIns="0" numCol="1" spcCol="38100" rtlCol="0" fromWordArt="0" anchor="ctr" anchorCtr="0" forceAA="0" compatLnSpc="0">
            <a:noAutofit/>
          </a:bodyPr>
          <a:lstStyle/>
          <a:p>
            <a:pPr lvl="0" algn="l" hangingPunct="0">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82" name="紫荆的职场Point57"/>
          <p:cNvSpPr/>
          <p:nvPr/>
        </p:nvSpPr>
        <p:spPr>
          <a:xfrm>
            <a:off x="2306335" y="4612848"/>
            <a:ext cx="817009" cy="265649"/>
          </a:xfrm>
          <a:prstGeom prst="roundRect">
            <a:avLst>
              <a:gd name="adj" fmla="val 50000"/>
            </a:avLst>
          </a:prstGeom>
          <a:solidFill>
            <a:srgbClr val="FFFFFF">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83" name="紫荆的职场Point58"/>
          <p:cNvSpPr txBox="1"/>
          <p:nvPr/>
        </p:nvSpPr>
        <p:spPr>
          <a:xfrm>
            <a:off x="2314730" y="4602964"/>
            <a:ext cx="800219" cy="285417"/>
          </a:xfrm>
          <a:prstGeom prst="rect">
            <a:avLst/>
          </a:prstGeom>
          <a:noFill/>
          <a:extLst>
            <a:ext uri="{909E8E84-426E-40DD-AFC4-6F175D3DCCD1}">
              <a14:hiddenFill xmlns:a14="http://schemas.microsoft.com/office/drawing/2010/main">
                <a:solidFill>
                  <a:srgbClr val="DCDCDC">
                    <a:alpha val="20000"/>
                  </a:srgbClr>
                </a:solidFill>
              </a14:hiddenFill>
            </a:ext>
          </a:extLst>
        </p:spPr>
        <p:txBody>
          <a:bodyPr wrap="none">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基础中心</a:t>
            </a:r>
            <a:endParaRPr lang="zh-CN" altLang="en-US" sz="1200" b="1" dirty="0">
              <a:solidFill>
                <a:srgbClr val="383838"/>
              </a:solidFill>
              <a:latin typeface="微软雅黑"/>
              <a:ea typeface="微软雅黑"/>
              <a:cs typeface="微软雅黑"/>
            </a:endParaRPr>
          </a:p>
        </p:txBody>
      </p:sp>
      <p:grpSp>
        <p:nvGrpSpPr>
          <p:cNvPr id="184" name="紫荆的职场Point59"/>
          <p:cNvGrpSpPr/>
          <p:nvPr/>
        </p:nvGrpSpPr>
        <p:grpSpPr>
          <a:xfrm>
            <a:off x="3336140" y="4610712"/>
            <a:ext cx="6600533" cy="268650"/>
            <a:chOff x="3291055" y="4754056"/>
            <a:chExt cx="6600533" cy="260727"/>
          </a:xfrm>
        </p:grpSpPr>
        <p:sp>
          <p:nvSpPr>
            <p:cNvPr id="185" name="紫荆的职场Point59-1"/>
            <p:cNvSpPr/>
            <p:nvPr/>
          </p:nvSpPr>
          <p:spPr>
            <a:xfrm>
              <a:off x="3291055" y="4754056"/>
              <a:ext cx="746718" cy="260727"/>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商品中心</a:t>
              </a:r>
              <a:endParaRPr lang="zh-CN" altLang="en-US" sz="1000" dirty="0">
                <a:solidFill>
                  <a:srgbClr val="383838"/>
                </a:solidFill>
                <a:latin typeface="微软雅黑"/>
                <a:ea typeface="微软雅黑"/>
                <a:cs typeface="微软雅黑"/>
              </a:endParaRPr>
            </a:p>
          </p:txBody>
        </p:sp>
        <p:sp>
          <p:nvSpPr>
            <p:cNvPr id="186" name="紫荆的职场Point59-2"/>
            <p:cNvSpPr/>
            <p:nvPr/>
          </p:nvSpPr>
          <p:spPr>
            <a:xfrm>
              <a:off x="4266691" y="4754056"/>
              <a:ext cx="746718" cy="260727"/>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活动中心</a:t>
              </a:r>
              <a:endParaRPr lang="zh-CN" altLang="en-US" sz="1000" dirty="0">
                <a:solidFill>
                  <a:srgbClr val="383838"/>
                </a:solidFill>
                <a:latin typeface="微软雅黑"/>
                <a:ea typeface="微软雅黑"/>
                <a:cs typeface="微软雅黑"/>
              </a:endParaRPr>
            </a:p>
          </p:txBody>
        </p:sp>
        <p:sp>
          <p:nvSpPr>
            <p:cNvPr id="278" name="紫荆的职场Point59-3"/>
            <p:cNvSpPr/>
            <p:nvPr/>
          </p:nvSpPr>
          <p:spPr>
            <a:xfrm>
              <a:off x="5242327" y="4754056"/>
              <a:ext cx="746718" cy="260727"/>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策略中心</a:t>
              </a:r>
              <a:endParaRPr lang="zh-CN" altLang="en-US" sz="1000" dirty="0">
                <a:solidFill>
                  <a:srgbClr val="383838"/>
                </a:solidFill>
                <a:latin typeface="微软雅黑"/>
                <a:ea typeface="微软雅黑"/>
                <a:cs typeface="微软雅黑"/>
              </a:endParaRPr>
            </a:p>
          </p:txBody>
        </p:sp>
        <p:sp>
          <p:nvSpPr>
            <p:cNvPr id="279" name="紫荆的职场Point59-4"/>
            <p:cNvSpPr/>
            <p:nvPr/>
          </p:nvSpPr>
          <p:spPr>
            <a:xfrm>
              <a:off x="6217963" y="4754056"/>
              <a:ext cx="746718" cy="260727"/>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账户中心</a:t>
              </a:r>
              <a:endParaRPr lang="zh-CN" altLang="en-US" sz="1000" dirty="0">
                <a:solidFill>
                  <a:srgbClr val="383838"/>
                </a:solidFill>
                <a:latin typeface="微软雅黑"/>
                <a:ea typeface="微软雅黑"/>
                <a:cs typeface="微软雅黑"/>
              </a:endParaRPr>
            </a:p>
          </p:txBody>
        </p:sp>
        <p:sp>
          <p:nvSpPr>
            <p:cNvPr id="280" name="紫荆的职场Point59-5"/>
            <p:cNvSpPr/>
            <p:nvPr/>
          </p:nvSpPr>
          <p:spPr>
            <a:xfrm>
              <a:off x="7193599" y="4754056"/>
              <a:ext cx="746718" cy="260727"/>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权限中心</a:t>
              </a:r>
              <a:endParaRPr lang="zh-CN" altLang="en-US" sz="1000" dirty="0">
                <a:solidFill>
                  <a:srgbClr val="383838"/>
                </a:solidFill>
                <a:latin typeface="微软雅黑"/>
                <a:ea typeface="微软雅黑"/>
                <a:cs typeface="微软雅黑"/>
              </a:endParaRPr>
            </a:p>
          </p:txBody>
        </p:sp>
        <p:sp>
          <p:nvSpPr>
            <p:cNvPr id="281" name="紫荆的职场Point59-6"/>
            <p:cNvSpPr/>
            <p:nvPr/>
          </p:nvSpPr>
          <p:spPr>
            <a:xfrm>
              <a:off x="8169235" y="4754056"/>
              <a:ext cx="746718" cy="260727"/>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配置中心</a:t>
              </a:r>
              <a:endParaRPr lang="zh-CN" altLang="en-US" sz="1000" dirty="0">
                <a:solidFill>
                  <a:srgbClr val="383838"/>
                </a:solidFill>
                <a:latin typeface="微软雅黑"/>
                <a:ea typeface="微软雅黑"/>
                <a:cs typeface="微软雅黑"/>
              </a:endParaRPr>
            </a:p>
          </p:txBody>
        </p:sp>
        <p:sp>
          <p:nvSpPr>
            <p:cNvPr id="282" name="紫荆的职场Point59-7"/>
            <p:cNvSpPr/>
            <p:nvPr/>
          </p:nvSpPr>
          <p:spPr>
            <a:xfrm>
              <a:off x="9144870" y="4754056"/>
              <a:ext cx="746718" cy="260727"/>
            </a:xfrm>
            <a:prstGeom prst="round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接口中心</a:t>
              </a:r>
              <a:endParaRPr lang="zh-CN" altLang="en-US" sz="1000" dirty="0">
                <a:solidFill>
                  <a:srgbClr val="383838"/>
                </a:solidFill>
                <a:latin typeface="微软雅黑"/>
                <a:ea typeface="微软雅黑"/>
                <a:cs typeface="微软雅黑"/>
              </a:endParaRPr>
            </a:p>
          </p:txBody>
        </p:sp>
      </p:grpSp>
      <p:sp>
        <p:nvSpPr>
          <p:cNvPr id="283" name="紫荆的职场Point63"/>
          <p:cNvSpPr/>
          <p:nvPr/>
        </p:nvSpPr>
        <p:spPr>
          <a:xfrm>
            <a:off x="2185670" y="5330190"/>
            <a:ext cx="1897380" cy="579120"/>
          </a:xfrm>
          <a:prstGeom prst="roundRect">
            <a:avLst>
              <a:gd name="adj" fmla="val 4370"/>
            </a:avLst>
          </a:prstGeom>
          <a:noFill/>
          <a:ln w="9525">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84" name="紫荆的职场Point64"/>
          <p:cNvSpPr/>
          <p:nvPr/>
        </p:nvSpPr>
        <p:spPr>
          <a:xfrm>
            <a:off x="2741377" y="5234460"/>
            <a:ext cx="786036" cy="216000"/>
          </a:xfrm>
          <a:prstGeom prst="roundRect">
            <a:avLst/>
          </a:prstGeom>
          <a:solidFill>
            <a:srgbClr val="FFFFFF"/>
          </a:solidFill>
          <a:ln w="10859">
            <a:solidFill>
              <a:srgbClr val="B3D4FE"/>
            </a:solidFill>
            <a:prstDash val="solid"/>
          </a:ln>
          <a:effectLst>
            <a:outerShdw blurRad="190500" dist="50800" dir="2700000" sx="99000" sy="99000" algn="tl"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销售</a:t>
            </a:r>
            <a:endParaRPr lang="zh-CN" altLang="en-US" sz="1000" b="1" dirty="0">
              <a:solidFill>
                <a:srgbClr val="0042FF"/>
              </a:solidFill>
              <a:latin typeface="微软雅黑"/>
              <a:ea typeface="微软雅黑"/>
              <a:cs typeface="微软雅黑"/>
            </a:endParaRPr>
          </a:p>
        </p:txBody>
      </p:sp>
      <p:sp>
        <p:nvSpPr>
          <p:cNvPr id="285" name="紫荆的职场Point65"/>
          <p:cNvSpPr/>
          <p:nvPr/>
        </p:nvSpPr>
        <p:spPr>
          <a:xfrm>
            <a:off x="2227543"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CRM</a:t>
            </a:r>
            <a:endParaRPr lang="en-US" altLang="zh-CN" sz="1000" dirty="0">
              <a:solidFill>
                <a:srgbClr val="383838"/>
              </a:solidFill>
              <a:latin typeface="微软雅黑"/>
              <a:ea typeface="微软雅黑"/>
              <a:cs typeface="微软雅黑"/>
            </a:endParaRPr>
          </a:p>
        </p:txBody>
      </p:sp>
      <p:sp>
        <p:nvSpPr>
          <p:cNvPr id="286" name="紫荆的职场Point66"/>
          <p:cNvSpPr/>
          <p:nvPr/>
        </p:nvSpPr>
        <p:spPr>
          <a:xfrm>
            <a:off x="2689228"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ERP</a:t>
            </a:r>
            <a:endParaRPr lang="en-US" altLang="zh-CN" sz="1000" dirty="0">
              <a:solidFill>
                <a:srgbClr val="383838"/>
              </a:solidFill>
              <a:latin typeface="微软雅黑"/>
              <a:ea typeface="微软雅黑"/>
              <a:cs typeface="微软雅黑"/>
              <a:sym typeface="微软雅黑"/>
            </a:endParaRPr>
          </a:p>
        </p:txBody>
      </p:sp>
      <p:sp>
        <p:nvSpPr>
          <p:cNvPr id="289" name="紫荆的职场Point67"/>
          <p:cNvSpPr/>
          <p:nvPr/>
        </p:nvSpPr>
        <p:spPr>
          <a:xfrm>
            <a:off x="3150913"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SRM</a:t>
            </a:r>
            <a:endParaRPr lang="en-US" altLang="zh-CN" sz="1000" dirty="0">
              <a:solidFill>
                <a:srgbClr val="383838"/>
              </a:solidFill>
              <a:latin typeface="微软雅黑"/>
              <a:ea typeface="微软雅黑"/>
              <a:cs typeface="微软雅黑"/>
              <a:sym typeface="微软雅黑"/>
            </a:endParaRPr>
          </a:p>
        </p:txBody>
      </p:sp>
      <p:sp>
        <p:nvSpPr>
          <p:cNvPr id="290" name="紫荆的职场Point68"/>
          <p:cNvSpPr/>
          <p:nvPr/>
        </p:nvSpPr>
        <p:spPr>
          <a:xfrm>
            <a:off x="3612598"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POS</a:t>
            </a:r>
            <a:endParaRPr lang="en-US" altLang="zh-CN" sz="1000" dirty="0">
              <a:solidFill>
                <a:srgbClr val="383838"/>
              </a:solidFill>
              <a:latin typeface="微软雅黑"/>
              <a:ea typeface="微软雅黑"/>
              <a:cs typeface="微软雅黑"/>
              <a:sym typeface="微软雅黑"/>
            </a:endParaRPr>
          </a:p>
        </p:txBody>
      </p:sp>
      <p:sp>
        <p:nvSpPr>
          <p:cNvPr id="291" name="紫荆的职场Point69"/>
          <p:cNvSpPr/>
          <p:nvPr/>
        </p:nvSpPr>
        <p:spPr>
          <a:xfrm>
            <a:off x="4258945" y="5329555"/>
            <a:ext cx="974725" cy="579755"/>
          </a:xfrm>
          <a:prstGeom prst="roundRect">
            <a:avLst>
              <a:gd name="adj" fmla="val 4370"/>
            </a:avLst>
          </a:prstGeom>
          <a:noFill/>
          <a:ln w="9525">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92" name="紫荆的职场Point70"/>
          <p:cNvSpPr/>
          <p:nvPr/>
        </p:nvSpPr>
        <p:spPr>
          <a:xfrm>
            <a:off x="4353190" y="5234460"/>
            <a:ext cx="786036" cy="216000"/>
          </a:xfrm>
          <a:prstGeom prst="roundRect">
            <a:avLst/>
          </a:prstGeom>
          <a:solidFill>
            <a:srgbClr val="FFFFFF"/>
          </a:solidFill>
          <a:ln w="10859">
            <a:solidFill>
              <a:srgbClr val="B3D4FE"/>
            </a:solidFill>
            <a:prstDash val="solid"/>
          </a:ln>
          <a:effectLst>
            <a:outerShdw blurRad="190500" dist="50800" dir="2700000" sx="99000" sy="99000" algn="tl"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b="1" dirty="0">
                <a:solidFill>
                  <a:srgbClr val="0042FF"/>
                </a:solidFill>
                <a:latin typeface="微软雅黑"/>
                <a:ea typeface="微软雅黑"/>
                <a:cs typeface="微软雅黑"/>
                <a:sym typeface="微软雅黑"/>
              </a:rPr>
              <a:t>制造</a:t>
            </a:r>
            <a:endParaRPr lang="zh-CN" altLang="en-US" sz="1000" b="1" dirty="0">
              <a:solidFill>
                <a:srgbClr val="0042FF"/>
              </a:solidFill>
              <a:latin typeface="微软雅黑"/>
              <a:ea typeface="微软雅黑"/>
              <a:cs typeface="微软雅黑"/>
              <a:sym typeface="微软雅黑"/>
            </a:endParaRPr>
          </a:p>
        </p:txBody>
      </p:sp>
      <p:sp>
        <p:nvSpPr>
          <p:cNvPr id="293" name="紫荆的职场Point71"/>
          <p:cNvSpPr/>
          <p:nvPr/>
        </p:nvSpPr>
        <p:spPr>
          <a:xfrm>
            <a:off x="4300608"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MES</a:t>
            </a:r>
            <a:endParaRPr lang="en-US" altLang="zh-CN" sz="1000" dirty="0">
              <a:solidFill>
                <a:srgbClr val="383838"/>
              </a:solidFill>
              <a:latin typeface="微软雅黑"/>
              <a:ea typeface="微软雅黑"/>
              <a:cs typeface="微软雅黑"/>
              <a:sym typeface="微软雅黑"/>
            </a:endParaRPr>
          </a:p>
        </p:txBody>
      </p:sp>
      <p:sp>
        <p:nvSpPr>
          <p:cNvPr id="294" name="紫荆的职场Point72"/>
          <p:cNvSpPr/>
          <p:nvPr/>
        </p:nvSpPr>
        <p:spPr>
          <a:xfrm>
            <a:off x="4762293"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sym typeface="微软雅黑"/>
              </a:rPr>
              <a:t>LES</a:t>
            </a:r>
            <a:endParaRPr lang="en-US" altLang="zh-CN" sz="1000" dirty="0">
              <a:solidFill>
                <a:srgbClr val="383838"/>
              </a:solidFill>
              <a:latin typeface="微软雅黑"/>
              <a:ea typeface="微软雅黑"/>
              <a:cs typeface="微软雅黑"/>
              <a:sym typeface="微软雅黑"/>
            </a:endParaRPr>
          </a:p>
        </p:txBody>
      </p:sp>
      <p:sp>
        <p:nvSpPr>
          <p:cNvPr id="295" name="紫荆的职场Point73"/>
          <p:cNvSpPr/>
          <p:nvPr/>
        </p:nvSpPr>
        <p:spPr>
          <a:xfrm>
            <a:off x="5409565" y="5329555"/>
            <a:ext cx="1442720" cy="579755"/>
          </a:xfrm>
          <a:prstGeom prst="roundRect">
            <a:avLst>
              <a:gd name="adj" fmla="val 4370"/>
            </a:avLst>
          </a:prstGeom>
          <a:noFill/>
          <a:ln w="9525">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96" name="紫荆的职场Point74"/>
          <p:cNvSpPr/>
          <p:nvPr/>
        </p:nvSpPr>
        <p:spPr>
          <a:xfrm>
            <a:off x="5737762" y="5234460"/>
            <a:ext cx="786036" cy="216000"/>
          </a:xfrm>
          <a:prstGeom prst="roundRect">
            <a:avLst/>
          </a:prstGeom>
          <a:solidFill>
            <a:srgbClr val="FFFFFF"/>
          </a:solidFill>
          <a:ln w="10859">
            <a:solidFill>
              <a:srgbClr val="B3D4FE"/>
            </a:solidFill>
            <a:prstDash val="solid"/>
          </a:ln>
          <a:effectLst>
            <a:outerShdw blurRad="190500" dist="50800" dir="2700000" sx="99000" sy="99000" algn="tl"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b="1" dirty="0">
                <a:solidFill>
                  <a:srgbClr val="0042FF"/>
                </a:solidFill>
                <a:latin typeface="微软雅黑"/>
                <a:ea typeface="微软雅黑"/>
                <a:cs typeface="微软雅黑"/>
                <a:sym typeface="微软雅黑"/>
              </a:rPr>
              <a:t>仓储</a:t>
            </a:r>
            <a:endParaRPr lang="zh-CN" altLang="en-US" sz="1000" b="1" dirty="0">
              <a:solidFill>
                <a:srgbClr val="0042FF"/>
              </a:solidFill>
              <a:latin typeface="微软雅黑"/>
              <a:ea typeface="微软雅黑"/>
              <a:cs typeface="微软雅黑"/>
              <a:sym typeface="微软雅黑"/>
            </a:endParaRPr>
          </a:p>
        </p:txBody>
      </p:sp>
      <p:sp>
        <p:nvSpPr>
          <p:cNvPr id="297" name="紫荆的职场Point75"/>
          <p:cNvSpPr/>
          <p:nvPr/>
        </p:nvSpPr>
        <p:spPr>
          <a:xfrm>
            <a:off x="5451167"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WMS</a:t>
            </a:r>
            <a:endParaRPr lang="en-US" altLang="zh-CN" sz="1000" dirty="0">
              <a:solidFill>
                <a:srgbClr val="383838"/>
              </a:solidFill>
              <a:latin typeface="微软雅黑"/>
              <a:ea typeface="微软雅黑"/>
              <a:cs typeface="微软雅黑"/>
            </a:endParaRPr>
          </a:p>
        </p:txBody>
      </p:sp>
      <p:sp>
        <p:nvSpPr>
          <p:cNvPr id="298" name="紫荆的职场Point76"/>
          <p:cNvSpPr/>
          <p:nvPr/>
        </p:nvSpPr>
        <p:spPr>
          <a:xfrm>
            <a:off x="5912852"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WES</a:t>
            </a:r>
            <a:endParaRPr lang="en-US" altLang="zh-CN" sz="1000" dirty="0">
              <a:solidFill>
                <a:srgbClr val="383838"/>
              </a:solidFill>
              <a:latin typeface="微软雅黑"/>
              <a:ea typeface="微软雅黑"/>
              <a:cs typeface="微软雅黑"/>
            </a:endParaRPr>
          </a:p>
        </p:txBody>
      </p:sp>
      <p:sp>
        <p:nvSpPr>
          <p:cNvPr id="299" name="紫荆的职场Point77"/>
          <p:cNvSpPr/>
          <p:nvPr/>
        </p:nvSpPr>
        <p:spPr>
          <a:xfrm>
            <a:off x="6379199"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WCS</a:t>
            </a:r>
            <a:endParaRPr lang="en-US" altLang="zh-CN" sz="1000" dirty="0">
              <a:solidFill>
                <a:srgbClr val="383838"/>
              </a:solidFill>
              <a:latin typeface="微软雅黑"/>
              <a:ea typeface="微软雅黑"/>
              <a:cs typeface="微软雅黑"/>
            </a:endParaRPr>
          </a:p>
        </p:txBody>
      </p:sp>
      <p:sp>
        <p:nvSpPr>
          <p:cNvPr id="300" name="紫荆的职场Point78"/>
          <p:cNvSpPr/>
          <p:nvPr/>
        </p:nvSpPr>
        <p:spPr>
          <a:xfrm>
            <a:off x="7028180" y="5329555"/>
            <a:ext cx="1442720" cy="579755"/>
          </a:xfrm>
          <a:prstGeom prst="roundRect">
            <a:avLst>
              <a:gd name="adj" fmla="val 4370"/>
            </a:avLst>
          </a:prstGeom>
          <a:noFill/>
          <a:ln w="9525">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301" name="紫荆的职场Point79"/>
          <p:cNvSpPr/>
          <p:nvPr/>
        </p:nvSpPr>
        <p:spPr>
          <a:xfrm>
            <a:off x="7356347" y="5234460"/>
            <a:ext cx="786036" cy="216000"/>
          </a:xfrm>
          <a:prstGeom prst="roundRect">
            <a:avLst/>
          </a:prstGeom>
          <a:solidFill>
            <a:srgbClr val="FFFFFF"/>
          </a:solidFill>
          <a:ln w="10859">
            <a:solidFill>
              <a:srgbClr val="B3D4FE"/>
            </a:solidFill>
            <a:prstDash val="solid"/>
          </a:ln>
          <a:effectLst>
            <a:outerShdw blurRad="190500" dist="50800" dir="2700000" sx="99000" sy="99000" algn="tl"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b="1" dirty="0">
                <a:solidFill>
                  <a:srgbClr val="0042FF"/>
                </a:solidFill>
                <a:latin typeface="微软雅黑"/>
                <a:ea typeface="微软雅黑"/>
                <a:cs typeface="微软雅黑"/>
                <a:sym typeface="微软雅黑"/>
              </a:rPr>
              <a:t>运输</a:t>
            </a:r>
            <a:endParaRPr lang="zh-CN" altLang="en-US" sz="1000" b="1" dirty="0">
              <a:solidFill>
                <a:srgbClr val="0042FF"/>
              </a:solidFill>
              <a:latin typeface="微软雅黑"/>
              <a:ea typeface="微软雅黑"/>
              <a:cs typeface="微软雅黑"/>
              <a:sym typeface="微软雅黑"/>
            </a:endParaRPr>
          </a:p>
        </p:txBody>
      </p:sp>
      <p:sp>
        <p:nvSpPr>
          <p:cNvPr id="302" name="紫荆的职场Point80"/>
          <p:cNvSpPr/>
          <p:nvPr/>
        </p:nvSpPr>
        <p:spPr>
          <a:xfrm>
            <a:off x="7069752"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TMS</a:t>
            </a:r>
            <a:endParaRPr lang="en-US" altLang="zh-CN" sz="1000" dirty="0">
              <a:solidFill>
                <a:srgbClr val="383838"/>
              </a:solidFill>
              <a:latin typeface="微软雅黑"/>
              <a:ea typeface="微软雅黑"/>
              <a:cs typeface="微软雅黑"/>
            </a:endParaRPr>
          </a:p>
        </p:txBody>
      </p:sp>
      <p:sp>
        <p:nvSpPr>
          <p:cNvPr id="304" name="紫荆的职场Point81"/>
          <p:cNvSpPr/>
          <p:nvPr/>
        </p:nvSpPr>
        <p:spPr>
          <a:xfrm>
            <a:off x="7531437"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DMS</a:t>
            </a:r>
            <a:endParaRPr lang="en-US" altLang="zh-CN" sz="1000" dirty="0">
              <a:solidFill>
                <a:srgbClr val="383838"/>
              </a:solidFill>
              <a:latin typeface="微软雅黑"/>
              <a:ea typeface="微软雅黑"/>
              <a:cs typeface="微软雅黑"/>
            </a:endParaRPr>
          </a:p>
        </p:txBody>
      </p:sp>
      <p:sp>
        <p:nvSpPr>
          <p:cNvPr id="306" name="紫荆的职场Point82"/>
          <p:cNvSpPr/>
          <p:nvPr/>
        </p:nvSpPr>
        <p:spPr>
          <a:xfrm>
            <a:off x="7997784"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p:txBody>
      </p:sp>
      <p:sp>
        <p:nvSpPr>
          <p:cNvPr id="317" name="紫荆的职场Point83"/>
          <p:cNvSpPr/>
          <p:nvPr/>
        </p:nvSpPr>
        <p:spPr>
          <a:xfrm>
            <a:off x="8646795" y="5330190"/>
            <a:ext cx="1442720" cy="579120"/>
          </a:xfrm>
          <a:prstGeom prst="roundRect">
            <a:avLst>
              <a:gd name="adj" fmla="val 4370"/>
            </a:avLst>
          </a:prstGeom>
          <a:noFill/>
          <a:ln w="9525">
            <a:gradFill flip="none" rotWithShape="1">
              <a:gsLst>
                <a:gs pos="0">
                  <a:srgbClr val="B3D4FE"/>
                </a:gs>
                <a:gs pos="100000">
                  <a:srgbClr val="B3D4FE">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318" name="紫荆的职场Point84"/>
          <p:cNvSpPr/>
          <p:nvPr/>
        </p:nvSpPr>
        <p:spPr>
          <a:xfrm>
            <a:off x="8974931" y="5234460"/>
            <a:ext cx="786036" cy="216000"/>
          </a:xfrm>
          <a:prstGeom prst="roundRect">
            <a:avLst/>
          </a:prstGeom>
          <a:solidFill>
            <a:srgbClr val="FFFFFF"/>
          </a:solidFill>
          <a:ln w="10859">
            <a:solidFill>
              <a:srgbClr val="B3D4FE"/>
            </a:solidFill>
            <a:prstDash val="solid"/>
          </a:ln>
          <a:effectLst>
            <a:outerShdw blurRad="190500" dist="50800" dir="2700000" sx="99000" sy="99000" algn="tl"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b="1" dirty="0">
                <a:solidFill>
                  <a:srgbClr val="0042FF"/>
                </a:solidFill>
                <a:latin typeface="微软雅黑"/>
                <a:ea typeface="微软雅黑"/>
                <a:cs typeface="微软雅黑"/>
                <a:sym typeface="微软雅黑"/>
              </a:rPr>
              <a:t>财务</a:t>
            </a:r>
            <a:endParaRPr lang="zh-CN" altLang="en-US" sz="1000" b="1" dirty="0">
              <a:solidFill>
                <a:srgbClr val="0042FF"/>
              </a:solidFill>
              <a:latin typeface="微软雅黑"/>
              <a:ea typeface="微软雅黑"/>
              <a:cs typeface="微软雅黑"/>
              <a:sym typeface="微软雅黑"/>
            </a:endParaRPr>
          </a:p>
        </p:txBody>
      </p:sp>
      <p:sp>
        <p:nvSpPr>
          <p:cNvPr id="319" name="紫荆的职场Point85"/>
          <p:cNvSpPr/>
          <p:nvPr/>
        </p:nvSpPr>
        <p:spPr>
          <a:xfrm>
            <a:off x="8688336"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BMS</a:t>
            </a:r>
            <a:endParaRPr lang="en-US" altLang="zh-CN" sz="1000" dirty="0">
              <a:solidFill>
                <a:srgbClr val="383838"/>
              </a:solidFill>
              <a:latin typeface="微软雅黑"/>
              <a:ea typeface="微软雅黑"/>
              <a:cs typeface="微软雅黑"/>
            </a:endParaRPr>
          </a:p>
        </p:txBody>
      </p:sp>
      <p:sp>
        <p:nvSpPr>
          <p:cNvPr id="320" name="紫荆的职场Point86"/>
          <p:cNvSpPr/>
          <p:nvPr/>
        </p:nvSpPr>
        <p:spPr>
          <a:xfrm>
            <a:off x="9150021" y="5584595"/>
            <a:ext cx="422860" cy="242821"/>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FMS</a:t>
            </a:r>
            <a:endParaRPr lang="en-US" altLang="zh-CN" sz="1000" dirty="0">
              <a:solidFill>
                <a:srgbClr val="383838"/>
              </a:solidFill>
              <a:latin typeface="微软雅黑"/>
              <a:ea typeface="微软雅黑"/>
              <a:cs typeface="微软雅黑"/>
            </a:endParaRPr>
          </a:p>
        </p:txBody>
      </p:sp>
      <p:sp>
        <p:nvSpPr>
          <p:cNvPr id="321" name="紫荆的职场Point87"/>
          <p:cNvSpPr/>
          <p:nvPr/>
        </p:nvSpPr>
        <p:spPr>
          <a:xfrm>
            <a:off x="9603740" y="5584825"/>
            <a:ext cx="413385" cy="234950"/>
          </a:xfrm>
          <a:prstGeom prst="roundRect">
            <a:avLst/>
          </a:prstGeom>
          <a:solidFill>
            <a:srgbClr val="FFFFFF">
              <a:alpha val="80000"/>
            </a:srgbClr>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ERP</a:t>
            </a:r>
            <a:endParaRPr lang="en-US" altLang="zh-CN" sz="1000" dirty="0">
              <a:solidFill>
                <a:srgbClr val="383838"/>
              </a:solidFill>
              <a:latin typeface="微软雅黑"/>
              <a:ea typeface="微软雅黑"/>
              <a:cs typeface="微软雅黑"/>
            </a:endParaRPr>
          </a:p>
        </p:txBody>
      </p:sp>
      <p:sp>
        <p:nvSpPr>
          <p:cNvPr id="322" name="紫荆的职场Point62"/>
          <p:cNvSpPr txBox="1"/>
          <p:nvPr/>
        </p:nvSpPr>
        <p:spPr>
          <a:xfrm>
            <a:off x="5599113" y="4977218"/>
            <a:ext cx="1254125" cy="275590"/>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供应链执行系统</a:t>
            </a:r>
            <a:endParaRPr lang="zh-CN" altLang="en-US" sz="1200" b="1" dirty="0">
              <a:solidFill>
                <a:srgbClr val="0042FF"/>
              </a:solidFill>
              <a:latin typeface="微软雅黑"/>
              <a:ea typeface="微软雅黑"/>
              <a:cs typeface="微软雅黑"/>
            </a:endParaRPr>
          </a:p>
        </p:txBody>
      </p:sp>
      <p:grpSp>
        <p:nvGrpSpPr>
          <p:cNvPr id="323" name="组合 322"/>
          <p:cNvGrpSpPr/>
          <p:nvPr/>
        </p:nvGrpSpPr>
        <p:grpSpPr>
          <a:xfrm>
            <a:off x="1951355" y="5950024"/>
            <a:ext cx="8426998" cy="729655"/>
            <a:chOff x="3001" y="10759"/>
            <a:chExt cx="11667" cy="5468"/>
          </a:xfrm>
        </p:grpSpPr>
        <p:sp>
          <p:nvSpPr>
            <p:cNvPr id="324" name="@显眼包PPT6"/>
            <p:cNvSpPr/>
            <p:nvPr/>
          </p:nvSpPr>
          <p:spPr>
            <a:xfrm>
              <a:off x="3001" y="11211"/>
              <a:ext cx="11457" cy="4954"/>
            </a:xfrm>
            <a:prstGeom prst="rect">
              <a:avLst/>
            </a:prstGeom>
            <a:solidFill>
              <a:srgbClr val="E6E6E6">
                <a:alpha val="50000"/>
              </a:srgbClr>
            </a:solidFill>
            <a:ln>
              <a:solidFill>
                <a:srgbClr val="668E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25" name="@显眼包PPT43"/>
            <p:cNvSpPr/>
            <p:nvPr/>
          </p:nvSpPr>
          <p:spPr>
            <a:xfrm rot="16200000" flipV="1">
              <a:off x="11829" y="13388"/>
              <a:ext cx="5468" cy="210"/>
            </a:xfrm>
            <a:prstGeom prst="parallelogram">
              <a:avLst>
                <a:gd name="adj" fmla="val 34130"/>
              </a:avLst>
            </a:prstGeom>
            <a:gradFill>
              <a:gsLst>
                <a:gs pos="0">
                  <a:srgbClr val="E6E6E6"/>
                </a:gs>
                <a:gs pos="100000">
                  <a:srgbClr val="E6E6E6">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altLang="zh-CN"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358" name="组合 357"/>
          <p:cNvGrpSpPr/>
          <p:nvPr/>
        </p:nvGrpSpPr>
        <p:grpSpPr>
          <a:xfrm>
            <a:off x="2108835" y="6062980"/>
            <a:ext cx="889000" cy="502920"/>
            <a:chOff x="3321" y="9512"/>
            <a:chExt cx="1400" cy="792"/>
          </a:xfrm>
        </p:grpSpPr>
        <p:sp>
          <p:nvSpPr>
            <p:cNvPr id="326" name="紫荆的职场Point88"/>
            <p:cNvSpPr/>
            <p:nvPr/>
          </p:nvSpPr>
          <p:spPr>
            <a:xfrm>
              <a:off x="3321"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327" name="紫荆的职场Point89"/>
            <p:cNvSpPr/>
            <p:nvPr/>
          </p:nvSpPr>
          <p:spPr>
            <a:xfrm>
              <a:off x="3323"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349" name="紫荆的职场Point106"/>
            <p:cNvSpPr txBox="1"/>
            <p:nvPr/>
          </p:nvSpPr>
          <p:spPr>
            <a:xfrm>
              <a:off x="3418" y="9738"/>
              <a:ext cx="1260" cy="449"/>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自营工厂</a:t>
              </a:r>
              <a:endParaRPr lang="zh-CN" altLang="en-US" sz="1200" b="1" dirty="0">
                <a:solidFill>
                  <a:srgbClr val="FFFFFF"/>
                </a:solidFill>
                <a:latin typeface="微软雅黑"/>
                <a:ea typeface="微软雅黑"/>
                <a:cs typeface="微软雅黑"/>
              </a:endParaRPr>
            </a:p>
          </p:txBody>
        </p:sp>
      </p:grpSp>
      <p:grpSp>
        <p:nvGrpSpPr>
          <p:cNvPr id="360" name="组合 359"/>
          <p:cNvGrpSpPr/>
          <p:nvPr/>
        </p:nvGrpSpPr>
        <p:grpSpPr>
          <a:xfrm>
            <a:off x="3112135" y="6062980"/>
            <a:ext cx="902335" cy="502920"/>
            <a:chOff x="4796" y="9512"/>
            <a:chExt cx="1421" cy="792"/>
          </a:xfrm>
        </p:grpSpPr>
        <p:sp>
          <p:nvSpPr>
            <p:cNvPr id="328" name="紫荆的职场Point90"/>
            <p:cNvSpPr/>
            <p:nvPr/>
          </p:nvSpPr>
          <p:spPr>
            <a:xfrm>
              <a:off x="4796"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329" name="紫荆的职场Point91"/>
            <p:cNvSpPr/>
            <p:nvPr/>
          </p:nvSpPr>
          <p:spPr>
            <a:xfrm>
              <a:off x="4798"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50" name="紫荆的职场Point107"/>
            <p:cNvSpPr txBox="1"/>
            <p:nvPr/>
          </p:nvSpPr>
          <p:spPr>
            <a:xfrm>
              <a:off x="4861" y="9738"/>
              <a:ext cx="1356" cy="449"/>
            </a:xfrm>
            <a:prstGeom prst="rect">
              <a:avLst/>
            </a:prstGeom>
            <a:noFill/>
          </p:spPr>
          <p:txBody>
            <a:bodyPr wrap="none">
              <a:spAutoFit/>
            </a:bodyPr>
            <a:lstStyle/>
            <a:p>
              <a:pPr algn="ctr">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rPr>
                <a:t>ODM</a:t>
              </a:r>
              <a:r>
                <a:rPr lang="zh-CN" altLang="en-US" sz="1200" b="1" dirty="0">
                  <a:solidFill>
                    <a:srgbClr val="FFFFFF"/>
                  </a:solidFill>
                  <a:latin typeface="微软雅黑"/>
                  <a:ea typeface="微软雅黑"/>
                  <a:cs typeface="微软雅黑"/>
                </a:rPr>
                <a:t>工厂</a:t>
              </a:r>
              <a:endParaRPr lang="zh-CN" altLang="en-US" sz="1200" b="1" dirty="0">
                <a:solidFill>
                  <a:srgbClr val="FFFFFF"/>
                </a:solidFill>
                <a:latin typeface="微软雅黑"/>
                <a:ea typeface="微软雅黑"/>
                <a:cs typeface="微软雅黑"/>
              </a:endParaRPr>
            </a:p>
          </p:txBody>
        </p:sp>
      </p:grpSp>
      <p:grpSp>
        <p:nvGrpSpPr>
          <p:cNvPr id="361" name="组合 360"/>
          <p:cNvGrpSpPr/>
          <p:nvPr/>
        </p:nvGrpSpPr>
        <p:grpSpPr>
          <a:xfrm>
            <a:off x="4128770" y="6062980"/>
            <a:ext cx="889000" cy="502920"/>
            <a:chOff x="6271" y="9512"/>
            <a:chExt cx="1400" cy="792"/>
          </a:xfrm>
        </p:grpSpPr>
        <p:sp>
          <p:nvSpPr>
            <p:cNvPr id="330" name="紫荆的职场Point92"/>
            <p:cNvSpPr/>
            <p:nvPr/>
          </p:nvSpPr>
          <p:spPr>
            <a:xfrm>
              <a:off x="6271"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331" name="紫荆的职场Point93"/>
            <p:cNvSpPr/>
            <p:nvPr/>
          </p:nvSpPr>
          <p:spPr>
            <a:xfrm>
              <a:off x="6272"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51" name="紫荆的职场Point108"/>
            <p:cNvSpPr txBox="1"/>
            <p:nvPr/>
          </p:nvSpPr>
          <p:spPr>
            <a:xfrm>
              <a:off x="6462" y="9738"/>
              <a:ext cx="1018" cy="449"/>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供应商</a:t>
              </a:r>
              <a:endParaRPr lang="zh-CN" altLang="en-US" sz="1200" b="1" dirty="0">
                <a:solidFill>
                  <a:srgbClr val="FFFFFF"/>
                </a:solidFill>
                <a:latin typeface="微软雅黑"/>
                <a:ea typeface="微软雅黑"/>
                <a:cs typeface="微软雅黑"/>
              </a:endParaRPr>
            </a:p>
          </p:txBody>
        </p:sp>
      </p:grpSp>
      <p:grpSp>
        <p:nvGrpSpPr>
          <p:cNvPr id="363" name="组合 362"/>
          <p:cNvGrpSpPr/>
          <p:nvPr/>
        </p:nvGrpSpPr>
        <p:grpSpPr>
          <a:xfrm>
            <a:off x="5132070" y="6062980"/>
            <a:ext cx="889000" cy="502920"/>
            <a:chOff x="7745" y="9512"/>
            <a:chExt cx="1400" cy="792"/>
          </a:xfrm>
        </p:grpSpPr>
        <p:sp>
          <p:nvSpPr>
            <p:cNvPr id="332" name="紫荆的职场Point94"/>
            <p:cNvSpPr/>
            <p:nvPr/>
          </p:nvSpPr>
          <p:spPr>
            <a:xfrm>
              <a:off x="7745"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333" name="紫荆的职场Point95"/>
            <p:cNvSpPr/>
            <p:nvPr/>
          </p:nvSpPr>
          <p:spPr>
            <a:xfrm>
              <a:off x="7747"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52" name="紫荆的职场Point109"/>
            <p:cNvSpPr txBox="1"/>
            <p:nvPr/>
          </p:nvSpPr>
          <p:spPr>
            <a:xfrm>
              <a:off x="7963" y="9738"/>
              <a:ext cx="1018" cy="449"/>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自营仓</a:t>
              </a:r>
              <a:endParaRPr lang="zh-CN" altLang="en-US" sz="1200" b="1" dirty="0">
                <a:solidFill>
                  <a:srgbClr val="FFFFFF"/>
                </a:solidFill>
                <a:latin typeface="微软雅黑"/>
                <a:ea typeface="微软雅黑"/>
                <a:cs typeface="微软雅黑"/>
              </a:endParaRPr>
            </a:p>
          </p:txBody>
        </p:sp>
      </p:grpSp>
      <p:grpSp>
        <p:nvGrpSpPr>
          <p:cNvPr id="364" name="组合 363"/>
          <p:cNvGrpSpPr/>
          <p:nvPr/>
        </p:nvGrpSpPr>
        <p:grpSpPr>
          <a:xfrm>
            <a:off x="6135370" y="6062980"/>
            <a:ext cx="949960" cy="502920"/>
            <a:chOff x="10670" y="9512"/>
            <a:chExt cx="1496" cy="792"/>
          </a:xfrm>
        </p:grpSpPr>
        <p:sp>
          <p:nvSpPr>
            <p:cNvPr id="336" name="紫荆的职场Point98"/>
            <p:cNvSpPr/>
            <p:nvPr/>
          </p:nvSpPr>
          <p:spPr>
            <a:xfrm>
              <a:off x="10692"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337" name="紫荆的职场Point99"/>
            <p:cNvSpPr/>
            <p:nvPr/>
          </p:nvSpPr>
          <p:spPr>
            <a:xfrm>
              <a:off x="10693"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54" name="紫荆的职场Point111"/>
            <p:cNvSpPr txBox="1"/>
            <p:nvPr/>
          </p:nvSpPr>
          <p:spPr>
            <a:xfrm>
              <a:off x="10670" y="9738"/>
              <a:ext cx="1497" cy="425"/>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rPr>
                <a:t>渠道</a:t>
              </a:r>
              <a:r>
                <a:rPr lang="en-US" altLang="zh-CN" sz="1050" b="1" dirty="0">
                  <a:solidFill>
                    <a:srgbClr val="FFFFFF"/>
                  </a:solidFill>
                  <a:latin typeface="微软雅黑"/>
                  <a:ea typeface="微软雅黑"/>
                  <a:cs typeface="微软雅黑"/>
                </a:rPr>
                <a:t>/</a:t>
              </a:r>
              <a:r>
                <a:rPr lang="zh-CN" altLang="en-US" sz="1050" b="1" dirty="0">
                  <a:solidFill>
                    <a:srgbClr val="FFFFFF"/>
                  </a:solidFill>
                  <a:latin typeface="微软雅黑"/>
                  <a:ea typeface="微软雅黑"/>
                  <a:cs typeface="微软雅黑"/>
                </a:rPr>
                <a:t>门店仓</a:t>
              </a:r>
              <a:endParaRPr lang="zh-CN" altLang="en-US" sz="1050" b="1" dirty="0">
                <a:solidFill>
                  <a:srgbClr val="FFFFFF"/>
                </a:solidFill>
                <a:latin typeface="微软雅黑"/>
                <a:ea typeface="微软雅黑"/>
                <a:cs typeface="微软雅黑"/>
              </a:endParaRPr>
            </a:p>
          </p:txBody>
        </p:sp>
      </p:grpSp>
      <p:grpSp>
        <p:nvGrpSpPr>
          <p:cNvPr id="365" name="组合 364"/>
          <p:cNvGrpSpPr/>
          <p:nvPr/>
        </p:nvGrpSpPr>
        <p:grpSpPr>
          <a:xfrm>
            <a:off x="7199630" y="6062980"/>
            <a:ext cx="889000" cy="502920"/>
            <a:chOff x="12170" y="9512"/>
            <a:chExt cx="1400" cy="792"/>
          </a:xfrm>
        </p:grpSpPr>
        <p:sp>
          <p:nvSpPr>
            <p:cNvPr id="338" name="紫荆的职场Point100"/>
            <p:cNvSpPr/>
            <p:nvPr/>
          </p:nvSpPr>
          <p:spPr>
            <a:xfrm>
              <a:off x="12170"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344" name="紫荆的职场Point101"/>
            <p:cNvSpPr/>
            <p:nvPr/>
          </p:nvSpPr>
          <p:spPr>
            <a:xfrm>
              <a:off x="12171"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55" name="紫荆的职场Point112"/>
            <p:cNvSpPr txBox="1"/>
            <p:nvPr/>
          </p:nvSpPr>
          <p:spPr>
            <a:xfrm>
              <a:off x="12433" y="9738"/>
              <a:ext cx="927" cy="412"/>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rPr>
                <a:t>经销商</a:t>
              </a:r>
              <a:endParaRPr lang="zh-CN" altLang="en-US" sz="1050" b="1" dirty="0">
                <a:solidFill>
                  <a:srgbClr val="FFFFFF"/>
                </a:solidFill>
                <a:latin typeface="微软雅黑"/>
                <a:ea typeface="微软雅黑"/>
                <a:cs typeface="微软雅黑"/>
              </a:endParaRPr>
            </a:p>
          </p:txBody>
        </p:sp>
      </p:grpSp>
      <p:grpSp>
        <p:nvGrpSpPr>
          <p:cNvPr id="366" name="组合 365"/>
          <p:cNvGrpSpPr/>
          <p:nvPr/>
        </p:nvGrpSpPr>
        <p:grpSpPr>
          <a:xfrm>
            <a:off x="8202930" y="6062980"/>
            <a:ext cx="889000" cy="502920"/>
            <a:chOff x="13645" y="9512"/>
            <a:chExt cx="1400" cy="792"/>
          </a:xfrm>
        </p:grpSpPr>
        <p:sp>
          <p:nvSpPr>
            <p:cNvPr id="345" name="紫荆的职场Point102"/>
            <p:cNvSpPr/>
            <p:nvPr/>
          </p:nvSpPr>
          <p:spPr>
            <a:xfrm>
              <a:off x="13645"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346" name="紫荆的职场Point103"/>
            <p:cNvSpPr/>
            <p:nvPr/>
          </p:nvSpPr>
          <p:spPr>
            <a:xfrm>
              <a:off x="13646"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56" name="紫荆的职场Point113"/>
            <p:cNvSpPr txBox="1"/>
            <p:nvPr/>
          </p:nvSpPr>
          <p:spPr>
            <a:xfrm>
              <a:off x="13802" y="9738"/>
              <a:ext cx="1139" cy="412"/>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rPr>
                <a:t>电商平台</a:t>
              </a:r>
              <a:endParaRPr lang="zh-CN" altLang="en-US" sz="1050" b="1" dirty="0">
                <a:solidFill>
                  <a:srgbClr val="FFFFFF"/>
                </a:solidFill>
                <a:latin typeface="微软雅黑"/>
                <a:ea typeface="微软雅黑"/>
                <a:cs typeface="微软雅黑"/>
              </a:endParaRPr>
            </a:p>
          </p:txBody>
        </p:sp>
      </p:grpSp>
      <p:grpSp>
        <p:nvGrpSpPr>
          <p:cNvPr id="367" name="组合 366"/>
          <p:cNvGrpSpPr/>
          <p:nvPr/>
        </p:nvGrpSpPr>
        <p:grpSpPr>
          <a:xfrm>
            <a:off x="9206230" y="6062980"/>
            <a:ext cx="889000" cy="502920"/>
            <a:chOff x="15119" y="9512"/>
            <a:chExt cx="1400" cy="792"/>
          </a:xfrm>
        </p:grpSpPr>
        <p:sp>
          <p:nvSpPr>
            <p:cNvPr id="347" name="紫荆的职场Point104"/>
            <p:cNvSpPr/>
            <p:nvPr/>
          </p:nvSpPr>
          <p:spPr>
            <a:xfrm>
              <a:off x="15119" y="9512"/>
              <a:ext cx="1401" cy="88"/>
            </a:xfrm>
            <a:prstGeom prst="trapezoid">
              <a:avLst>
                <a:gd name="adj" fmla="val 164557"/>
              </a:avLst>
            </a:prstGeom>
            <a:gradFill>
              <a:gsLst>
                <a:gs pos="0">
                  <a:srgbClr val="668EFF">
                    <a:alpha val="0"/>
                  </a:srgbClr>
                </a:gs>
                <a:gs pos="100000">
                  <a:srgbClr val="668E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348" name="紫荆的职场Point105"/>
            <p:cNvSpPr/>
            <p:nvPr/>
          </p:nvSpPr>
          <p:spPr>
            <a:xfrm>
              <a:off x="15121" y="9600"/>
              <a:ext cx="1394" cy="704"/>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57" name="紫荆的职场Point114"/>
            <p:cNvSpPr txBox="1"/>
            <p:nvPr/>
          </p:nvSpPr>
          <p:spPr>
            <a:xfrm>
              <a:off x="15383" y="9738"/>
              <a:ext cx="927" cy="412"/>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rPr>
                <a:t>零售商</a:t>
              </a:r>
              <a:endParaRPr lang="zh-CN" altLang="en-US" sz="1050" b="1" dirty="0">
                <a:solidFill>
                  <a:srgbClr val="FFFFFF"/>
                </a:solidFill>
                <a:latin typeface="微软雅黑"/>
                <a:ea typeface="微软雅黑"/>
                <a:cs typeface="微软雅黑"/>
              </a:endParaRPr>
            </a:p>
          </p:txBody>
        </p:sp>
      </p:grpSp>
      <p:sp>
        <p:nvSpPr>
          <p:cNvPr id="368" name="@显眼包PPT11"/>
          <p:cNvSpPr/>
          <p:nvPr/>
        </p:nvSpPr>
        <p:spPr>
          <a:xfrm>
            <a:off x="2066925" y="1877060"/>
            <a:ext cx="8028940" cy="645795"/>
          </a:xfrm>
          <a:prstGeom prst="roundRect">
            <a:avLst>
              <a:gd name="adj" fmla="val 15981"/>
            </a:avLst>
          </a:prstGeom>
          <a:solidFill>
            <a:srgbClr val="FFFFFF"/>
          </a:solidFill>
          <a:ln w="9525">
            <a:gradFill flip="none" rotWithShape="1">
              <a:gsLst>
                <a:gs pos="0">
                  <a:srgbClr val="3368FF">
                    <a:alpha val="0"/>
                  </a:srgbClr>
                </a:gs>
                <a:gs pos="100000">
                  <a:srgbClr val="3368FF"/>
                </a:gs>
              </a:gsLst>
              <a:lin ang="13500000" scaled="1"/>
              <a:tileRect/>
            </a:gradFill>
            <a:prstDash val="solid"/>
          </a:ln>
          <a:effectLst>
            <a:outerShdw blurRad="101600" dist="38100" dir="2700000" algn="tl" rotWithShape="0">
              <a:srgbClr val="DCDCDC">
                <a:alpha val="26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381" name="组合 380"/>
          <p:cNvGrpSpPr/>
          <p:nvPr/>
        </p:nvGrpSpPr>
        <p:grpSpPr>
          <a:xfrm>
            <a:off x="2216785" y="2157730"/>
            <a:ext cx="7788910" cy="262890"/>
            <a:chOff x="3383" y="3374"/>
            <a:chExt cx="12425" cy="414"/>
          </a:xfrm>
        </p:grpSpPr>
        <p:sp>
          <p:nvSpPr>
            <p:cNvPr id="369" name="紫荆的职场Point30"/>
            <p:cNvSpPr/>
            <p:nvPr/>
          </p:nvSpPr>
          <p:spPr>
            <a:xfrm>
              <a:off x="3383"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经营计划</a:t>
              </a:r>
              <a:endParaRPr lang="zh-CN" altLang="en-US" sz="1000" dirty="0">
                <a:solidFill>
                  <a:srgbClr val="383838"/>
                </a:solidFill>
                <a:latin typeface="微软雅黑"/>
                <a:ea typeface="微软雅黑"/>
                <a:cs typeface="微软雅黑"/>
              </a:endParaRPr>
            </a:p>
          </p:txBody>
        </p:sp>
        <p:sp>
          <p:nvSpPr>
            <p:cNvPr id="370" name="紫荆的职场Point31"/>
            <p:cNvSpPr/>
            <p:nvPr/>
          </p:nvSpPr>
          <p:spPr>
            <a:xfrm>
              <a:off x="4632"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网络规划</a:t>
              </a:r>
              <a:endParaRPr lang="zh-CN" altLang="en-US" sz="1000" dirty="0">
                <a:solidFill>
                  <a:srgbClr val="383838"/>
                </a:solidFill>
                <a:latin typeface="微软雅黑"/>
                <a:ea typeface="微软雅黑"/>
                <a:cs typeface="微软雅黑"/>
              </a:endParaRPr>
            </a:p>
          </p:txBody>
        </p:sp>
        <p:sp>
          <p:nvSpPr>
            <p:cNvPr id="371" name="紫荆的职场Point32"/>
            <p:cNvSpPr/>
            <p:nvPr/>
          </p:nvSpPr>
          <p:spPr>
            <a:xfrm>
              <a:off x="5881"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品类规划</a:t>
              </a:r>
              <a:endParaRPr lang="zh-CN" altLang="en-US" sz="1000" dirty="0">
                <a:solidFill>
                  <a:srgbClr val="383838"/>
                </a:solidFill>
                <a:latin typeface="微软雅黑"/>
                <a:ea typeface="微软雅黑"/>
                <a:cs typeface="微软雅黑"/>
              </a:endParaRPr>
            </a:p>
          </p:txBody>
        </p:sp>
        <p:sp>
          <p:nvSpPr>
            <p:cNvPr id="372" name="紫荆的职场Point33"/>
            <p:cNvSpPr/>
            <p:nvPr/>
          </p:nvSpPr>
          <p:spPr>
            <a:xfrm>
              <a:off x="7130"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需求计划</a:t>
              </a:r>
              <a:endParaRPr lang="zh-CN" altLang="en-US" sz="1000" dirty="0">
                <a:solidFill>
                  <a:srgbClr val="383838"/>
                </a:solidFill>
                <a:latin typeface="微软雅黑"/>
                <a:ea typeface="微软雅黑"/>
                <a:cs typeface="微软雅黑"/>
              </a:endParaRPr>
            </a:p>
          </p:txBody>
        </p:sp>
        <p:sp>
          <p:nvSpPr>
            <p:cNvPr id="373" name="紫荆的职场Point34"/>
            <p:cNvSpPr/>
            <p:nvPr/>
          </p:nvSpPr>
          <p:spPr>
            <a:xfrm>
              <a:off x="8379"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销售计划</a:t>
              </a:r>
              <a:endParaRPr lang="zh-CN" altLang="en-US" sz="1000" dirty="0">
                <a:solidFill>
                  <a:srgbClr val="383838"/>
                </a:solidFill>
                <a:latin typeface="微软雅黑"/>
                <a:ea typeface="微软雅黑"/>
                <a:cs typeface="微软雅黑"/>
              </a:endParaRPr>
            </a:p>
          </p:txBody>
        </p:sp>
        <p:sp>
          <p:nvSpPr>
            <p:cNvPr id="374" name="紫荆的职场Point35"/>
            <p:cNvSpPr/>
            <p:nvPr/>
          </p:nvSpPr>
          <p:spPr>
            <a:xfrm>
              <a:off x="9628"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补货计划</a:t>
              </a:r>
              <a:endParaRPr lang="zh-CN" altLang="en-US" sz="1000" dirty="0">
                <a:solidFill>
                  <a:srgbClr val="383838"/>
                </a:solidFill>
                <a:latin typeface="微软雅黑"/>
                <a:ea typeface="微软雅黑"/>
                <a:cs typeface="微软雅黑"/>
              </a:endParaRPr>
            </a:p>
          </p:txBody>
        </p:sp>
        <p:sp>
          <p:nvSpPr>
            <p:cNvPr id="375" name="紫荆的职场Point36"/>
            <p:cNvSpPr/>
            <p:nvPr/>
          </p:nvSpPr>
          <p:spPr>
            <a:xfrm>
              <a:off x="10877"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调拨计划</a:t>
              </a:r>
              <a:endParaRPr lang="zh-CN" altLang="en-US" sz="1000" dirty="0">
                <a:solidFill>
                  <a:srgbClr val="383838"/>
                </a:solidFill>
                <a:latin typeface="微软雅黑"/>
                <a:ea typeface="微软雅黑"/>
                <a:cs typeface="微软雅黑"/>
              </a:endParaRPr>
            </a:p>
          </p:txBody>
        </p:sp>
        <p:sp>
          <p:nvSpPr>
            <p:cNvPr id="376" name="紫荆的职场Point37"/>
            <p:cNvSpPr/>
            <p:nvPr/>
          </p:nvSpPr>
          <p:spPr>
            <a:xfrm>
              <a:off x="12126"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资源排程</a:t>
              </a:r>
              <a:endParaRPr lang="zh-CN" altLang="en-US" sz="1000" dirty="0">
                <a:solidFill>
                  <a:srgbClr val="383838"/>
                </a:solidFill>
                <a:latin typeface="微软雅黑"/>
                <a:ea typeface="微软雅黑"/>
                <a:cs typeface="微软雅黑"/>
              </a:endParaRPr>
            </a:p>
          </p:txBody>
        </p:sp>
        <p:sp>
          <p:nvSpPr>
            <p:cNvPr id="377" name="紫荆的职场Point38"/>
            <p:cNvSpPr/>
            <p:nvPr/>
          </p:nvSpPr>
          <p:spPr>
            <a:xfrm>
              <a:off x="13375"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生产计划</a:t>
              </a:r>
              <a:endParaRPr lang="zh-CN" altLang="en-US" sz="1000" dirty="0">
                <a:solidFill>
                  <a:srgbClr val="383838"/>
                </a:solidFill>
                <a:latin typeface="微软雅黑"/>
                <a:ea typeface="微软雅黑"/>
                <a:cs typeface="微软雅黑"/>
              </a:endParaRPr>
            </a:p>
          </p:txBody>
        </p:sp>
        <p:sp>
          <p:nvSpPr>
            <p:cNvPr id="378" name="紫荆的职场Point39"/>
            <p:cNvSpPr/>
            <p:nvPr/>
          </p:nvSpPr>
          <p:spPr>
            <a:xfrm>
              <a:off x="14624" y="3374"/>
              <a:ext cx="1185" cy="415"/>
            </a:xfrm>
            <a:prstGeom prst="rect">
              <a:avLst/>
            </a:prstGeom>
            <a:solidFill>
              <a:srgbClr val="FFFFFF"/>
            </a:solidFill>
            <a:ln w="1143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采购计划</a:t>
              </a:r>
              <a:endParaRPr lang="zh-CN" altLang="en-US" sz="1000" dirty="0">
                <a:solidFill>
                  <a:srgbClr val="383838"/>
                </a:solidFill>
                <a:latin typeface="微软雅黑"/>
                <a:ea typeface="微软雅黑"/>
                <a:cs typeface="微软雅黑"/>
              </a:endParaRPr>
            </a:p>
          </p:txBody>
        </p:sp>
      </p:grpSp>
      <p:sp>
        <p:nvSpPr>
          <p:cNvPr id="382" name="紫荆的职场Point22"/>
          <p:cNvSpPr txBox="1"/>
          <p:nvPr/>
        </p:nvSpPr>
        <p:spPr>
          <a:xfrm>
            <a:off x="5697221" y="1863265"/>
            <a:ext cx="792480" cy="275590"/>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协同计划</a:t>
            </a:r>
            <a:endParaRPr lang="zh-CN" altLang="en-US" sz="1200" b="1" dirty="0">
              <a:solidFill>
                <a:srgbClr val="0042FF"/>
              </a:solidFill>
              <a:latin typeface="微软雅黑"/>
              <a:ea typeface="微软雅黑"/>
              <a:cs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 name="矩形 146"/>
          <p:cNvSpPr/>
          <p:nvPr/>
        </p:nvSpPr>
        <p:spPr>
          <a:xfrm>
            <a:off x="2333671" y="3275391"/>
            <a:ext cx="4582800" cy="1948498"/>
          </a:xfrm>
          <a:prstGeom prst="rect">
            <a:avLst/>
          </a:prstGeom>
          <a:solidFill>
            <a:srgbClr val="FFFFFF"/>
          </a:solidFill>
          <a:ln>
            <a:solidFill>
              <a:srgbClr val="3368FF">
                <a:alpha val="50000"/>
              </a:srgbClr>
            </a:solidFill>
          </a:ln>
        </p:spPr>
        <p:style>
          <a:lnRef idx="2">
            <a:srgbClr val="3368FF"/>
          </a:lnRef>
          <a:fillRef idx="2">
            <a:srgbClr val="3368FF"/>
          </a:fillRef>
          <a:effectRef idx="0">
            <a:srgbClr val="FFFFFF"/>
          </a:effectRef>
          <a:fontRef idx="minor">
            <a:srgbClr val="383838"/>
          </a:fontRef>
        </p:style>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多层平台架构 | </a:t>
            </a:r>
            <a:r>
              <a:rPr lang="zh-CN" altLang="en-US" sz="2500" dirty="0">
                <a:solidFill>
                  <a:srgbClr val="383838"/>
                </a:solidFill>
                <a:effectLst/>
                <a:latin typeface="微软雅黑"/>
                <a:ea typeface="微软雅黑"/>
                <a:cs typeface="微软雅黑"/>
              </a:rPr>
              <a:t>公司数字化转型系统架构</a:t>
            </a:r>
            <a:endParaRPr lang="zh-CN" altLang="en-US" sz="2500" b="0" dirty="0">
              <a:solidFill>
                <a:srgbClr val="383838"/>
              </a:solidFill>
              <a:effectLst/>
              <a:latin typeface="微软雅黑"/>
              <a:ea typeface="微软雅黑"/>
              <a:cs typeface="微软雅黑"/>
            </a:endParaRPr>
          </a:p>
        </p:txBody>
      </p:sp>
      <p:sp>
        <p:nvSpPr>
          <p:cNvPr id="139" name="梯形 138"/>
          <p:cNvSpPr/>
          <p:nvPr/>
        </p:nvSpPr>
        <p:spPr>
          <a:xfrm>
            <a:off x="299720" y="5897245"/>
            <a:ext cx="11648440" cy="523875"/>
          </a:xfrm>
          <a:prstGeom prst="trapezoid">
            <a:avLst>
              <a:gd name="adj" fmla="val 119447"/>
            </a:avLst>
          </a:prstGeom>
          <a:noFill/>
          <a:ln>
            <a:solidFill>
              <a:srgbClr val="3368FF"/>
            </a:solidFill>
          </a:ln>
        </p:spPr>
        <p:style>
          <a:lnRef idx="2">
            <a:srgbClr val="383838"/>
          </a:lnRef>
          <a:fillRef idx="2">
            <a:srgbClr val="383838"/>
          </a:fillRef>
          <a:effectRef idx="0">
            <a:srgbClr val="FFFF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40" name="矩形 139"/>
          <p:cNvSpPr/>
          <p:nvPr/>
        </p:nvSpPr>
        <p:spPr>
          <a:xfrm>
            <a:off x="299720" y="6421120"/>
            <a:ext cx="11648440" cy="109220"/>
          </a:xfrm>
          <a:prstGeom prst="rect">
            <a:avLst/>
          </a:prstGeom>
          <a:gradFill>
            <a:gsLst>
              <a:gs pos="0">
                <a:srgbClr val="3368FF"/>
              </a:gs>
              <a:gs pos="88000">
                <a:srgbClr val="0042FF"/>
              </a:gs>
            </a:gsLst>
            <a:lin ang="81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41" name="矩形 140"/>
          <p:cNvSpPr/>
          <p:nvPr>
            <p:custDataLst>
              <p:tags r:id="rId1"/>
            </p:custDataLst>
          </p:nvPr>
        </p:nvSpPr>
        <p:spPr>
          <a:xfrm>
            <a:off x="623888" y="5378828"/>
            <a:ext cx="1588056" cy="649800"/>
          </a:xfrm>
          <a:prstGeom prst="rect">
            <a:avLst/>
          </a:prstGeom>
          <a:gradFill>
            <a:gsLst>
              <a:gs pos="0">
                <a:srgbClr val="3368FF"/>
              </a:gs>
              <a:gs pos="88000">
                <a:srgbClr val="0042FF"/>
              </a:gs>
            </a:gsLst>
            <a:lin ang="0" scaled="0"/>
          </a:gradFill>
          <a:effectLst>
            <a:outerShdw blurRad="50800" dist="38100" dir="2700000" algn="tl" rotWithShape="0">
              <a:srgbClr val="668EFF">
                <a:alpha val="40000"/>
              </a:srgbClr>
            </a:outerShdw>
          </a:effectLst>
        </p:spPr>
        <p:style>
          <a:lnRef idx="0">
            <a:srgbClr val="FFFFFF"/>
          </a:lnRef>
          <a:fillRef idx="1">
            <a:srgbClr val="668EFF"/>
          </a:fillRef>
          <a:effectRef idx="0">
            <a:srgbClr val="FFFFFF"/>
          </a:effectRef>
          <a:fontRef idx="minor">
            <a:srgbClr val="383838"/>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500" b="1" dirty="0">
              <a:solidFill>
                <a:srgbClr val="FFFFFF"/>
              </a:solidFill>
              <a:latin typeface="微软雅黑"/>
              <a:ea typeface="微软雅黑"/>
              <a:cs typeface="微软雅黑"/>
              <a:sym typeface="微软雅黑"/>
            </a:endParaRPr>
          </a:p>
        </p:txBody>
      </p:sp>
      <p:sp>
        <p:nvSpPr>
          <p:cNvPr id="142" name="矩形 141"/>
          <p:cNvSpPr/>
          <p:nvPr>
            <p:custDataLst>
              <p:tags r:id="rId2"/>
            </p:custDataLst>
          </p:nvPr>
        </p:nvSpPr>
        <p:spPr>
          <a:xfrm>
            <a:off x="623888" y="2010472"/>
            <a:ext cx="1588056" cy="1128077"/>
          </a:xfrm>
          <a:prstGeom prst="rect">
            <a:avLst/>
          </a:prstGeom>
          <a:gradFill>
            <a:gsLst>
              <a:gs pos="0">
                <a:srgbClr val="668EFF"/>
              </a:gs>
              <a:gs pos="88000">
                <a:srgbClr val="3368FF"/>
              </a:gs>
            </a:gsLst>
            <a:lin ang="0" scaled="0"/>
          </a:gradFill>
          <a:effectLst>
            <a:outerShdw blurRad="50800" dist="38100" dir="2700000" algn="tl" rotWithShape="0">
              <a:srgbClr val="668EFF">
                <a:alpha val="40000"/>
              </a:srgbClr>
            </a:outerShdw>
          </a:effectLst>
        </p:spPr>
        <p:style>
          <a:lnRef idx="0">
            <a:srgbClr val="FFFFFF"/>
          </a:lnRef>
          <a:fillRef idx="1">
            <a:srgbClr val="668EFF"/>
          </a:fillRef>
          <a:effectRef idx="0">
            <a:srgbClr val="FFFF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应用层</a:t>
            </a:r>
            <a:endParaRPr lang="zh-CN" altLang="en-US" sz="15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en-US" altLang="zh-CN" sz="1000" b="1" dirty="0">
                <a:solidFill>
                  <a:srgbClr val="FFFFFF"/>
                </a:solidFill>
                <a:latin typeface="微软雅黑"/>
                <a:ea typeface="微软雅黑"/>
                <a:cs typeface="微软雅黑"/>
                <a:sym typeface="微软雅黑"/>
              </a:rPr>
              <a:t>Application Layer</a:t>
            </a:r>
            <a:endParaRPr lang="en-US" altLang="zh-CN" sz="1000" b="1" dirty="0">
              <a:solidFill>
                <a:srgbClr val="FFFFFF"/>
              </a:solidFill>
              <a:latin typeface="微软雅黑"/>
              <a:ea typeface="微软雅黑"/>
              <a:cs typeface="微软雅黑"/>
              <a:sym typeface="微软雅黑"/>
            </a:endParaRPr>
          </a:p>
        </p:txBody>
      </p:sp>
      <p:sp>
        <p:nvSpPr>
          <p:cNvPr id="143" name="矩形 142"/>
          <p:cNvSpPr/>
          <p:nvPr>
            <p:custDataLst>
              <p:tags r:id="rId3"/>
            </p:custDataLst>
          </p:nvPr>
        </p:nvSpPr>
        <p:spPr>
          <a:xfrm>
            <a:off x="623888" y="1222118"/>
            <a:ext cx="1588056" cy="649800"/>
          </a:xfrm>
          <a:prstGeom prst="rect">
            <a:avLst/>
          </a:prstGeom>
          <a:gradFill>
            <a:gsLst>
              <a:gs pos="0">
                <a:srgbClr val="668EFF"/>
              </a:gs>
              <a:gs pos="88000">
                <a:srgbClr val="3368FF"/>
              </a:gs>
            </a:gsLst>
            <a:lin ang="0" scaled="0"/>
          </a:gradFill>
          <a:effectLst>
            <a:outerShdw blurRad="50800" dist="38100" dir="2700000" algn="tl" rotWithShape="0">
              <a:srgbClr val="668EFF">
                <a:alpha val="40000"/>
              </a:srgbClr>
            </a:outerShdw>
          </a:effectLst>
        </p:spPr>
        <p:style>
          <a:lnRef idx="0">
            <a:srgbClr val="FFFFFF"/>
          </a:lnRef>
          <a:fillRef idx="1">
            <a:srgbClr val="668EFF"/>
          </a:fillRef>
          <a:effectRef idx="0">
            <a:srgbClr val="FFFF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触点</a:t>
            </a:r>
            <a:endParaRPr lang="zh-CN" altLang="en-US" sz="1500" b="1"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Touch point</a:t>
            </a:r>
            <a:endParaRPr lang="zh-CN" altLang="en-US" sz="1000" b="1" dirty="0">
              <a:solidFill>
                <a:srgbClr val="FFFFFF"/>
              </a:solidFill>
              <a:latin typeface="微软雅黑"/>
              <a:ea typeface="微软雅黑"/>
              <a:cs typeface="微软雅黑"/>
              <a:sym typeface="微软雅黑"/>
            </a:endParaRPr>
          </a:p>
        </p:txBody>
      </p:sp>
      <p:sp>
        <p:nvSpPr>
          <p:cNvPr id="144" name="文本框 143"/>
          <p:cNvSpPr txBox="1"/>
          <p:nvPr/>
        </p:nvSpPr>
        <p:spPr>
          <a:xfrm>
            <a:off x="732474" y="5456761"/>
            <a:ext cx="1503601" cy="321626"/>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520" dirty="0">
                <a:solidFill>
                  <a:srgbClr val="FFFFFF"/>
                </a:solidFill>
                <a:latin typeface="微软雅黑"/>
                <a:ea typeface="微软雅黑"/>
                <a:cs typeface="微软雅黑"/>
              </a:rPr>
              <a:t>云平台</a:t>
            </a:r>
            <a:endParaRPr lang="zh-CN" altLang="en-US" sz="1520" dirty="0">
              <a:solidFill>
                <a:srgbClr val="FFFFFF"/>
              </a:solidFill>
              <a:latin typeface="微软雅黑"/>
              <a:ea typeface="微软雅黑"/>
              <a:cs typeface="微软雅黑"/>
            </a:endParaRPr>
          </a:p>
        </p:txBody>
      </p:sp>
      <p:sp>
        <p:nvSpPr>
          <p:cNvPr id="145" name="文本框 144"/>
          <p:cNvSpPr txBox="1"/>
          <p:nvPr/>
        </p:nvSpPr>
        <p:spPr>
          <a:xfrm>
            <a:off x="732473" y="5718930"/>
            <a:ext cx="1346970" cy="240030"/>
          </a:xfrm>
          <a:prstGeom prst="rect">
            <a:avLst/>
          </a:prstGeom>
          <a:noFill/>
          <a:effectLst/>
        </p:spPr>
        <p:txBody>
          <a:bodyPr wrap="square" lIns="0" tIns="0" rIns="0" bIns="0">
            <a:spAutoFit/>
          </a:bodyPr>
          <a:lstStyle/>
          <a:p>
            <a:pPr marL="0" marR="0" lvl="0" indent="0" algn="ctr" defTabSz="914400" rtl="0" eaLnBrk="1" fontAlgn="auto" latinLnBrk="0" hangingPunct="1">
              <a:lnSpc>
                <a:spcPct val="100000"/>
              </a:lnSpc>
              <a:spcBef>
                <a:spcPts val="0"/>
              </a:spcBef>
              <a:buClrTx/>
              <a:buSzTx/>
              <a:buFontTx/>
              <a:buNone/>
              <a:defRPr>
                <a:solidFill>
                  <a:srgbClr val="FFFFFF"/>
                </a:solidFill>
                <a:latin typeface="微软雅黑"/>
                <a:ea typeface="微软雅黑"/>
                <a:cs typeface="微软雅黑"/>
              </a:defRPr>
            </a:pPr>
            <a:r>
              <a:rPr kumimoji="0" lang="en-US" altLang="zh-CN" sz="1000" b="1" u="none" strike="noStrike" kern="1200" cap="none" spc="0" normalizeH="0" baseline="0" noProof="0" dirty="0">
                <a:ln>
                  <a:noFill/>
                </a:ln>
                <a:solidFill>
                  <a:srgbClr val="FFFFFF"/>
                </a:solidFill>
                <a:effectLst/>
                <a:uLnTx/>
                <a:uFillTx/>
                <a:latin typeface="微软雅黑"/>
                <a:ea typeface="微软雅黑"/>
                <a:cs typeface="微软雅黑"/>
              </a:rPr>
              <a:t>Cloud Platform</a:t>
            </a:r>
            <a:endParaRPr kumimoji="0" lang="en-US" altLang="zh-CN" sz="1000" b="1"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6" name="矩形 145"/>
          <p:cNvSpPr/>
          <p:nvPr/>
        </p:nvSpPr>
        <p:spPr>
          <a:xfrm>
            <a:off x="2337118" y="5378828"/>
            <a:ext cx="9265920" cy="649800"/>
          </a:xfrm>
          <a:prstGeom prst="rect">
            <a:avLst/>
          </a:prstGeom>
          <a:gradFill>
            <a:gsLst>
              <a:gs pos="0">
                <a:srgbClr val="3368FF"/>
              </a:gs>
              <a:gs pos="88000">
                <a:srgbClr val="0042FF"/>
              </a:gs>
            </a:gsLst>
            <a:lin ang="0" scaled="0"/>
          </a:gradFill>
          <a:effectLst>
            <a:outerShdw blurRad="50800" dist="38100" dir="2700000" algn="tl" rotWithShape="0">
              <a:srgbClr val="668EFF">
                <a:alpha val="40000"/>
              </a:srgbClr>
            </a:outerShdw>
          </a:effectLst>
        </p:spPr>
        <p:style>
          <a:lnRef idx="0">
            <a:srgbClr val="FFFFFF"/>
          </a:lnRef>
          <a:fillRef idx="1">
            <a:srgbClr val="668EFF"/>
          </a:fillRef>
          <a:effectRef idx="0">
            <a:srgbClr val="FFFFFF"/>
          </a:effectRef>
          <a:fontRef idx="minor">
            <a:srgbClr val="383838"/>
          </a:fontRef>
        </p:style>
        <p:txBody>
          <a:bodyPr spcFirstLastPara="0"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500" b="1" dirty="0">
              <a:solidFill>
                <a:srgbClr val="FFFFFF"/>
              </a:solidFill>
              <a:latin typeface="微软雅黑"/>
              <a:ea typeface="微软雅黑"/>
              <a:cs typeface="微软雅黑"/>
              <a:sym typeface="微软雅黑"/>
            </a:endParaRPr>
          </a:p>
        </p:txBody>
      </p:sp>
      <p:sp>
        <p:nvSpPr>
          <p:cNvPr id="149" name="矩形 148"/>
          <p:cNvSpPr/>
          <p:nvPr/>
        </p:nvSpPr>
        <p:spPr>
          <a:xfrm>
            <a:off x="7013614" y="3275391"/>
            <a:ext cx="4582800" cy="1948498"/>
          </a:xfrm>
          <a:prstGeom prst="rect">
            <a:avLst/>
          </a:prstGeom>
          <a:solidFill>
            <a:srgbClr val="FFFFFF"/>
          </a:solidFill>
          <a:ln>
            <a:solidFill>
              <a:srgbClr val="3368FF">
                <a:alpha val="50000"/>
              </a:srgbClr>
            </a:solidFill>
          </a:ln>
        </p:spPr>
        <p:style>
          <a:lnRef idx="2">
            <a:srgbClr val="3368FF"/>
          </a:lnRef>
          <a:fillRef idx="2">
            <a:srgbClr val="3368FF"/>
          </a:fillRef>
          <a:effectRef idx="0">
            <a:srgbClr val="FFFFFF"/>
          </a:effectRef>
          <a:fontRef idx="minor">
            <a:srgbClr val="383838"/>
          </a:fontRef>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buClrTx/>
              <a:buSzTx/>
              <a:buFontTx/>
              <a:defRPr>
                <a:latin typeface="微软雅黑"/>
                <a:ea typeface="微软雅黑"/>
                <a:cs typeface="微软雅黑"/>
              </a:defRPr>
            </a:pPr>
            <a:endParaRPr lang="zh-CN" altLang="en-US">
              <a:solidFill>
                <a:srgbClr val="383838">
                  <a:alpha val="80000"/>
                </a:srgbClr>
              </a:solidFill>
              <a:latin typeface="微软雅黑"/>
              <a:ea typeface="微软雅黑"/>
              <a:cs typeface="微软雅黑"/>
              <a:sym typeface="微软雅黑"/>
            </a:endParaRPr>
          </a:p>
        </p:txBody>
      </p:sp>
      <p:sp>
        <p:nvSpPr>
          <p:cNvPr id="151" name="矩形 150"/>
          <p:cNvSpPr/>
          <p:nvPr>
            <p:custDataLst>
              <p:tags r:id="rId4"/>
            </p:custDataLst>
          </p:nvPr>
        </p:nvSpPr>
        <p:spPr>
          <a:xfrm>
            <a:off x="4671060" y="2003577"/>
            <a:ext cx="2257200" cy="513000"/>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52" name="矩形 151"/>
          <p:cNvSpPr/>
          <p:nvPr>
            <p:custDataLst>
              <p:tags r:id="rId5"/>
            </p:custDataLst>
          </p:nvPr>
        </p:nvSpPr>
        <p:spPr>
          <a:xfrm>
            <a:off x="7008449" y="2003577"/>
            <a:ext cx="2257200" cy="513000"/>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53" name="矩形 152"/>
          <p:cNvSpPr/>
          <p:nvPr>
            <p:custDataLst>
              <p:tags r:id="rId6"/>
            </p:custDataLst>
          </p:nvPr>
        </p:nvSpPr>
        <p:spPr>
          <a:xfrm>
            <a:off x="9345839" y="2003577"/>
            <a:ext cx="2257200" cy="513000"/>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54" name="矩形 153"/>
          <p:cNvSpPr/>
          <p:nvPr>
            <p:custDataLst>
              <p:tags r:id="rId7"/>
            </p:custDataLst>
          </p:nvPr>
        </p:nvSpPr>
        <p:spPr>
          <a:xfrm>
            <a:off x="2333886" y="2618892"/>
            <a:ext cx="2257200" cy="513000"/>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55" name="矩形 154"/>
          <p:cNvSpPr/>
          <p:nvPr>
            <p:custDataLst>
              <p:tags r:id="rId8"/>
            </p:custDataLst>
          </p:nvPr>
        </p:nvSpPr>
        <p:spPr>
          <a:xfrm>
            <a:off x="4671060" y="2618892"/>
            <a:ext cx="2257200" cy="513000"/>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56" name="矩形 155"/>
          <p:cNvSpPr/>
          <p:nvPr>
            <p:custDataLst>
              <p:tags r:id="rId9"/>
            </p:custDataLst>
          </p:nvPr>
        </p:nvSpPr>
        <p:spPr>
          <a:xfrm>
            <a:off x="6968285" y="2618892"/>
            <a:ext cx="2257200" cy="513000"/>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58" name="矩形 157"/>
          <p:cNvSpPr/>
          <p:nvPr>
            <p:custDataLst>
              <p:tags r:id="rId10"/>
            </p:custDataLst>
          </p:nvPr>
        </p:nvSpPr>
        <p:spPr>
          <a:xfrm>
            <a:off x="9345839" y="2618892"/>
            <a:ext cx="2257200" cy="513000"/>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59" name="矩形 158"/>
          <p:cNvSpPr/>
          <p:nvPr/>
        </p:nvSpPr>
        <p:spPr>
          <a:xfrm>
            <a:off x="2333671"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0" name="矩形 159"/>
          <p:cNvSpPr/>
          <p:nvPr/>
        </p:nvSpPr>
        <p:spPr>
          <a:xfrm>
            <a:off x="3267865"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1" name="矩形 160"/>
          <p:cNvSpPr/>
          <p:nvPr/>
        </p:nvSpPr>
        <p:spPr>
          <a:xfrm>
            <a:off x="4202059"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2" name="矩形 161"/>
          <p:cNvSpPr/>
          <p:nvPr/>
        </p:nvSpPr>
        <p:spPr>
          <a:xfrm>
            <a:off x="5136252"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3" name="矩形 162"/>
          <p:cNvSpPr/>
          <p:nvPr/>
        </p:nvSpPr>
        <p:spPr>
          <a:xfrm>
            <a:off x="6070446"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4" name="矩形 163"/>
          <p:cNvSpPr/>
          <p:nvPr/>
        </p:nvSpPr>
        <p:spPr>
          <a:xfrm>
            <a:off x="7004640"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5" name="矩形 164"/>
          <p:cNvSpPr/>
          <p:nvPr/>
        </p:nvSpPr>
        <p:spPr>
          <a:xfrm>
            <a:off x="7938833"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6" name="矩形 165"/>
          <p:cNvSpPr/>
          <p:nvPr/>
        </p:nvSpPr>
        <p:spPr>
          <a:xfrm>
            <a:off x="8873028"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7" name="矩形 166"/>
          <p:cNvSpPr/>
          <p:nvPr/>
        </p:nvSpPr>
        <p:spPr>
          <a:xfrm>
            <a:off x="9807222"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8" name="矩形 167"/>
          <p:cNvSpPr/>
          <p:nvPr/>
        </p:nvSpPr>
        <p:spPr>
          <a:xfrm>
            <a:off x="10744726" y="1221256"/>
            <a:ext cx="855000" cy="628242"/>
          </a:xfrm>
          <a:prstGeom prst="rect">
            <a:avLst/>
          </a:prstGeom>
          <a:solidFill>
            <a:srgbClr val="FFFFFF"/>
          </a:solidFill>
          <a:ln>
            <a:solidFill>
              <a:srgbClr val="3368FF"/>
            </a:solidFill>
          </a:ln>
          <a:effectLst>
            <a:outerShdw blurRad="50800" dist="38100" dir="5400000" algn="ctr" rotWithShape="0">
              <a:srgbClr val="668EFF">
                <a:alpha val="40000"/>
              </a:srgbClr>
            </a:outerShdw>
          </a:effectLst>
        </p:spPr>
        <p:style>
          <a:lnRef idx="2">
            <a:srgbClr val="383838"/>
          </a:lnRef>
          <a:fillRef idx="1">
            <a:srgbClr val="FFFFFF"/>
          </a:fillRef>
          <a:effectRef idx="0">
            <a:srgbClr val="383838"/>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9" name="文本框 168"/>
          <p:cNvSpPr txBox="1"/>
          <p:nvPr/>
        </p:nvSpPr>
        <p:spPr>
          <a:xfrm>
            <a:off x="2478882" y="3371421"/>
            <a:ext cx="1503601" cy="319405"/>
          </a:xfrm>
          <a:prstGeom prst="rect">
            <a:avLst/>
          </a:prstGeom>
          <a:noFill/>
          <a:effectLst/>
        </p:spPr>
        <p:txBody>
          <a:bodyPr wrap="square" lIns="0" tIns="0" rIns="0" bIns="0" rtlCol="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defRPr>
                <a:latin typeface="微软雅黑"/>
                <a:ea typeface="微软雅黑"/>
                <a:cs typeface="微软雅黑"/>
              </a:defRPr>
            </a:pPr>
            <a:r>
              <a:rPr lang="zh-CN" altLang="en-US" sz="1520" b="1" dirty="0">
                <a:solidFill>
                  <a:srgbClr val="383838"/>
                </a:solidFill>
                <a:latin typeface="微软雅黑"/>
                <a:ea typeface="微软雅黑"/>
                <a:cs typeface="微软雅黑"/>
              </a:rPr>
              <a:t>业务中台</a:t>
            </a:r>
            <a:endParaRPr lang="zh-CN" altLang="en-US" sz="1520" b="1" dirty="0">
              <a:solidFill>
                <a:srgbClr val="383838"/>
              </a:solidFill>
              <a:latin typeface="微软雅黑"/>
              <a:ea typeface="微软雅黑"/>
              <a:cs typeface="微软雅黑"/>
            </a:endParaRPr>
          </a:p>
        </p:txBody>
      </p:sp>
      <p:sp>
        <p:nvSpPr>
          <p:cNvPr id="170" name="文本框 169"/>
          <p:cNvSpPr txBox="1"/>
          <p:nvPr/>
        </p:nvSpPr>
        <p:spPr>
          <a:xfrm>
            <a:off x="3369310" y="3425190"/>
            <a:ext cx="2195195" cy="260985"/>
          </a:xfrm>
          <a:prstGeom prst="rect">
            <a:avLst/>
          </a:prstGeom>
          <a:noFill/>
          <a:effectLst/>
        </p:spPr>
        <p:txBody>
          <a:bodyPr wrap="square" lIns="0" tIns="0" rIns="0" bIns="0">
            <a:spAutoFit/>
          </a:bodyPr>
          <a:lstStyle/>
          <a:p>
            <a:pPr marL="0" marR="0" lvl="0" indent="0"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140" u="none" strike="noStrike" kern="1200" cap="none" spc="0" normalizeH="0" baseline="0" noProof="0" dirty="0">
                <a:ln>
                  <a:noFill/>
                </a:ln>
                <a:solidFill>
                  <a:srgbClr val="383838"/>
                </a:solidFill>
                <a:effectLst/>
                <a:uLnTx/>
                <a:uFillTx/>
                <a:latin typeface="微软雅黑"/>
                <a:ea typeface="微软雅黑"/>
                <a:cs typeface="微软雅黑"/>
              </a:rPr>
              <a:t>Business Middle Platform</a:t>
            </a:r>
            <a:endParaRPr kumimoji="0" lang="en-US" altLang="zh-CN" sz="114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71" name="文本框 170"/>
          <p:cNvSpPr txBox="1"/>
          <p:nvPr/>
        </p:nvSpPr>
        <p:spPr>
          <a:xfrm>
            <a:off x="7153209" y="3371421"/>
            <a:ext cx="1503601" cy="319405"/>
          </a:xfrm>
          <a:prstGeom prst="rect">
            <a:avLst/>
          </a:prstGeom>
          <a:noFill/>
          <a:effectLst/>
        </p:spPr>
        <p:txBody>
          <a:bodyPr wrap="square" lIns="0" tIns="0" rIns="0" bIns="0" rtlCol="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defRPr>
                <a:latin typeface="微软雅黑"/>
                <a:ea typeface="微软雅黑"/>
                <a:cs typeface="微软雅黑"/>
              </a:defRPr>
            </a:pPr>
            <a:r>
              <a:rPr lang="zh-CN" altLang="en-US" sz="1520" b="1" dirty="0">
                <a:solidFill>
                  <a:srgbClr val="383838"/>
                </a:solidFill>
                <a:latin typeface="微软雅黑"/>
                <a:ea typeface="微软雅黑"/>
                <a:cs typeface="微软雅黑"/>
              </a:rPr>
              <a:t>数据中台</a:t>
            </a:r>
            <a:endParaRPr lang="zh-CN" altLang="en-US" sz="1520" b="1" dirty="0">
              <a:solidFill>
                <a:srgbClr val="383838"/>
              </a:solidFill>
              <a:latin typeface="微软雅黑"/>
              <a:ea typeface="微软雅黑"/>
              <a:cs typeface="微软雅黑"/>
            </a:endParaRPr>
          </a:p>
        </p:txBody>
      </p:sp>
      <p:sp>
        <p:nvSpPr>
          <p:cNvPr id="172" name="文本框 171"/>
          <p:cNvSpPr txBox="1"/>
          <p:nvPr/>
        </p:nvSpPr>
        <p:spPr>
          <a:xfrm>
            <a:off x="8043545" y="3425190"/>
            <a:ext cx="1924050" cy="260985"/>
          </a:xfrm>
          <a:prstGeom prst="rect">
            <a:avLst/>
          </a:prstGeom>
          <a:noFill/>
          <a:effectLst/>
        </p:spPr>
        <p:txBody>
          <a:bodyPr wrap="square" lIns="0" tIns="0" rIns="0" bIns="0">
            <a:spAutoFit/>
          </a:bodyPr>
          <a:lstStyle/>
          <a:p>
            <a:pPr marL="0" marR="0" lvl="0" indent="0"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140" u="none" strike="noStrike" kern="1200" cap="none" spc="0" normalizeH="0" baseline="0" noProof="0" dirty="0">
                <a:ln>
                  <a:noFill/>
                </a:ln>
                <a:solidFill>
                  <a:srgbClr val="383838"/>
                </a:solidFill>
                <a:effectLst/>
                <a:uLnTx/>
                <a:uFillTx/>
                <a:latin typeface="微软雅黑"/>
                <a:ea typeface="微软雅黑"/>
                <a:cs typeface="微软雅黑"/>
              </a:rPr>
              <a:t>Data Middle Platform</a:t>
            </a:r>
            <a:endParaRPr kumimoji="0" lang="en-US" altLang="zh-CN" sz="114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73" name="矩形: 圆角 452"/>
          <p:cNvSpPr/>
          <p:nvPr>
            <p:custDataLst>
              <p:tags r:id="rId11"/>
            </p:custDataLst>
          </p:nvPr>
        </p:nvSpPr>
        <p:spPr>
          <a:xfrm>
            <a:off x="2561884" y="3805953"/>
            <a:ext cx="1109924" cy="271059"/>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lIns="0" tIns="0" rIns="0" bIns="0" rtlCol="0" anchor="ct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用户中心</a:t>
            </a:r>
            <a:endParaRPr lang="zh-CN" altLang="en-US" sz="1000" dirty="0">
              <a:solidFill>
                <a:srgbClr val="383838"/>
              </a:solidFill>
              <a:effectLst/>
              <a:latin typeface="微软雅黑"/>
              <a:ea typeface="微软雅黑"/>
              <a:cs typeface="微软雅黑"/>
            </a:endParaRPr>
          </a:p>
        </p:txBody>
      </p:sp>
      <p:sp>
        <p:nvSpPr>
          <p:cNvPr id="174" name="文本框 173"/>
          <p:cNvSpPr txBox="1"/>
          <p:nvPr/>
        </p:nvSpPr>
        <p:spPr>
          <a:xfrm>
            <a:off x="1119696" y="4370501"/>
            <a:ext cx="947752" cy="263149"/>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140" dirty="0">
                <a:solidFill>
                  <a:srgbClr val="383838"/>
                </a:solidFill>
                <a:latin typeface="微软雅黑"/>
                <a:ea typeface="微软雅黑"/>
                <a:cs typeface="微软雅黑"/>
              </a:rPr>
              <a:t>库存中心</a:t>
            </a:r>
            <a:endParaRPr lang="zh-CN" altLang="en-US" sz="1140" dirty="0">
              <a:solidFill>
                <a:srgbClr val="383838"/>
              </a:solidFill>
              <a:effectLst/>
              <a:latin typeface="微软雅黑"/>
              <a:ea typeface="微软雅黑"/>
              <a:cs typeface="微软雅黑"/>
            </a:endParaRPr>
          </a:p>
        </p:txBody>
      </p:sp>
      <p:sp>
        <p:nvSpPr>
          <p:cNvPr id="175" name="文本框 174"/>
          <p:cNvSpPr txBox="1"/>
          <p:nvPr/>
        </p:nvSpPr>
        <p:spPr>
          <a:xfrm>
            <a:off x="1119696" y="4839313"/>
            <a:ext cx="947752" cy="263149"/>
          </a:xfrm>
          <a:prstGeom prst="rect">
            <a:avLst/>
          </a:prstGeom>
          <a:noFill/>
          <a:effectLst/>
        </p:spPr>
        <p:txBody>
          <a:bodyPr wrap="square" lIns="86868" tIns="43434" rIns="86868" bIns="43434" rtlCol="0">
            <a:spAutoFit/>
          </a:bodyPr>
          <a:lstStyle/>
          <a:p>
            <a:pPr algn="ctr">
              <a:defRPr>
                <a:solidFill>
                  <a:srgbClr val="383838"/>
                </a:solidFill>
                <a:latin typeface="微软雅黑"/>
                <a:ea typeface="微软雅黑"/>
                <a:cs typeface="微软雅黑"/>
              </a:defRPr>
            </a:pPr>
            <a:r>
              <a:rPr lang="zh-CN" altLang="en-US" sz="1140" dirty="0">
                <a:solidFill>
                  <a:srgbClr val="383838"/>
                </a:solidFill>
                <a:latin typeface="微软雅黑"/>
                <a:ea typeface="微软雅黑"/>
                <a:cs typeface="微软雅黑"/>
              </a:rPr>
              <a:t>生产中心</a:t>
            </a:r>
            <a:endParaRPr lang="zh-CN" altLang="en-US" sz="1140" dirty="0">
              <a:solidFill>
                <a:srgbClr val="383838"/>
              </a:solidFill>
              <a:effectLst/>
              <a:latin typeface="微软雅黑"/>
              <a:ea typeface="微软雅黑"/>
              <a:cs typeface="微软雅黑"/>
            </a:endParaRPr>
          </a:p>
        </p:txBody>
      </p:sp>
      <p:sp>
        <p:nvSpPr>
          <p:cNvPr id="177" name="矩形 176"/>
          <p:cNvSpPr/>
          <p:nvPr/>
        </p:nvSpPr>
        <p:spPr>
          <a:xfrm>
            <a:off x="7250981" y="3842446"/>
            <a:ext cx="583252" cy="1230630"/>
          </a:xfrm>
          <a:prstGeom prst="rect">
            <a:avLst/>
          </a:prstGeom>
          <a:ln>
            <a:solidFill>
              <a:srgbClr val="B3D4FE"/>
            </a:solidFill>
            <a:prstDash val="sysDash"/>
          </a:ln>
        </p:spPr>
        <p:style>
          <a:lnRef idx="2">
            <a:srgbClr val="3368FF"/>
          </a:lnRef>
          <a:fillRef idx="1">
            <a:srgbClr val="FFFFFF"/>
          </a:fillRef>
          <a:effectRef idx="0">
            <a:srgbClr val="3368FF"/>
          </a:effectRef>
          <a:fontRef idx="minor">
            <a:srgbClr val="383838"/>
          </a:fontRef>
        </p:style>
        <p:txBody>
          <a:bodyPr lIns="91440" tIns="45720" rIns="91440" bIns="45720" rtlCol="0" anchor="ctr">
            <a:noAutofit/>
          </a:bodyPr>
          <a:lstStyle/>
          <a:p>
            <a:pPr lvl="0" algn="l">
              <a:buClrTx/>
              <a:buSzTx/>
              <a:buFontTx/>
              <a:defRPr>
                <a:latin typeface="微软雅黑"/>
                <a:ea typeface="微软雅黑"/>
                <a:cs typeface="微软雅黑"/>
              </a:defRPr>
            </a:pPr>
            <a:endParaRPr kumimoji="1" lang="zh-CN" altLang="en-US" sz="1400" dirty="0">
              <a:solidFill>
                <a:srgbClr val="383838"/>
              </a:solidFill>
              <a:latin typeface="微软雅黑"/>
              <a:ea typeface="微软雅黑"/>
              <a:cs typeface="微软雅黑"/>
              <a:sym typeface="微软雅黑"/>
            </a:endParaRPr>
          </a:p>
        </p:txBody>
      </p:sp>
      <p:sp>
        <p:nvSpPr>
          <p:cNvPr id="178" name="矩形 177"/>
          <p:cNvSpPr/>
          <p:nvPr/>
        </p:nvSpPr>
        <p:spPr>
          <a:xfrm>
            <a:off x="7902488" y="4714142"/>
            <a:ext cx="1759591" cy="358934"/>
          </a:xfrm>
          <a:prstGeom prst="rect">
            <a:avLst/>
          </a:prstGeom>
          <a:ln>
            <a:solidFill>
              <a:srgbClr val="B3D4FE"/>
            </a:solidFill>
            <a:prstDash val="sysDash"/>
          </a:ln>
        </p:spPr>
        <p:style>
          <a:lnRef idx="2">
            <a:srgbClr val="3368FF"/>
          </a:lnRef>
          <a:fillRef idx="1">
            <a:srgbClr val="FFFFFF"/>
          </a:fillRef>
          <a:effectRef idx="0">
            <a:srgbClr val="3368FF"/>
          </a:effectRef>
          <a:fontRef idx="minor">
            <a:srgbClr val="383838"/>
          </a:fontRef>
        </p:style>
        <p:txBody>
          <a:bodyPr lIns="91440" tIns="45720" rIns="91440" bIns="45720" rtlCol="0" anchor="ctr">
            <a:noAutofit/>
          </a:bodyPr>
          <a:lstStyle/>
          <a:p>
            <a:pPr lvl="0" algn="l">
              <a:buClrTx/>
              <a:buSzTx/>
              <a:buFontTx/>
              <a:defRPr>
                <a:latin typeface="微软雅黑"/>
                <a:ea typeface="微软雅黑"/>
                <a:cs typeface="微软雅黑"/>
              </a:defRPr>
            </a:pPr>
            <a:endParaRPr kumimoji="1" lang="zh-CN" altLang="en-US" sz="1400">
              <a:solidFill>
                <a:srgbClr val="383838"/>
              </a:solidFill>
              <a:latin typeface="微软雅黑"/>
              <a:ea typeface="微软雅黑"/>
              <a:cs typeface="微软雅黑"/>
              <a:sym typeface="微软雅黑"/>
            </a:endParaRPr>
          </a:p>
        </p:txBody>
      </p:sp>
      <p:sp>
        <p:nvSpPr>
          <p:cNvPr id="179" name="矩形 178"/>
          <p:cNvSpPr/>
          <p:nvPr/>
        </p:nvSpPr>
        <p:spPr>
          <a:xfrm>
            <a:off x="9721287" y="4714142"/>
            <a:ext cx="1759591" cy="358934"/>
          </a:xfrm>
          <a:prstGeom prst="rect">
            <a:avLst/>
          </a:prstGeom>
          <a:ln>
            <a:solidFill>
              <a:srgbClr val="B3D4FE"/>
            </a:solidFill>
            <a:prstDash val="sysDash"/>
          </a:ln>
        </p:spPr>
        <p:style>
          <a:lnRef idx="2">
            <a:srgbClr val="3368FF"/>
          </a:lnRef>
          <a:fillRef idx="1">
            <a:srgbClr val="FFFFFF"/>
          </a:fillRef>
          <a:effectRef idx="0">
            <a:srgbClr val="3368FF"/>
          </a:effectRef>
          <a:fontRef idx="minor">
            <a:srgbClr val="383838"/>
          </a:fontRef>
        </p:style>
        <p:txBody>
          <a:bodyPr lIns="91440" tIns="45720" rIns="91440" bIns="45720" rtlCol="0" anchor="ctr">
            <a:noAutofit/>
          </a:bodyPr>
          <a:lstStyle/>
          <a:p>
            <a:pPr lvl="0" algn="l">
              <a:buClrTx/>
              <a:buSzTx/>
              <a:buFontTx/>
              <a:defRPr>
                <a:latin typeface="微软雅黑"/>
                <a:ea typeface="微软雅黑"/>
                <a:cs typeface="微软雅黑"/>
              </a:defRPr>
            </a:pPr>
            <a:endParaRPr kumimoji="1" lang="zh-CN" altLang="en-US" sz="1400">
              <a:solidFill>
                <a:srgbClr val="383838"/>
              </a:solidFill>
              <a:latin typeface="微软雅黑"/>
              <a:ea typeface="微软雅黑"/>
              <a:cs typeface="微软雅黑"/>
              <a:sym typeface="微软雅黑"/>
            </a:endParaRPr>
          </a:p>
        </p:txBody>
      </p:sp>
      <p:sp>
        <p:nvSpPr>
          <p:cNvPr id="181" name="矩形 180"/>
          <p:cNvSpPr/>
          <p:nvPr/>
        </p:nvSpPr>
        <p:spPr>
          <a:xfrm>
            <a:off x="7902488" y="4274373"/>
            <a:ext cx="3569342" cy="358934"/>
          </a:xfrm>
          <a:prstGeom prst="rect">
            <a:avLst/>
          </a:prstGeom>
          <a:ln>
            <a:solidFill>
              <a:srgbClr val="B3D4FE"/>
            </a:solidFill>
            <a:prstDash val="sysDash"/>
          </a:ln>
        </p:spPr>
        <p:style>
          <a:lnRef idx="2">
            <a:srgbClr val="3368FF"/>
          </a:lnRef>
          <a:fillRef idx="1">
            <a:srgbClr val="FFFFFF"/>
          </a:fillRef>
          <a:effectRef idx="0">
            <a:srgbClr val="3368FF"/>
          </a:effectRef>
          <a:fontRef idx="minor">
            <a:srgbClr val="383838"/>
          </a:fontRef>
        </p:style>
        <p:txBody>
          <a:bodyPr lIns="91440" tIns="45720" rIns="91440" bIns="45720" rtlCol="0" anchor="ctr">
            <a:noAutofit/>
          </a:bodyPr>
          <a:lstStyle/>
          <a:p>
            <a:pPr lvl="0" algn="l">
              <a:buClrTx/>
              <a:buSzTx/>
              <a:buFontTx/>
              <a:defRPr>
                <a:latin typeface="微软雅黑"/>
                <a:ea typeface="微软雅黑"/>
                <a:cs typeface="微软雅黑"/>
              </a:defRPr>
            </a:pPr>
            <a:endParaRPr kumimoji="1" lang="zh-CN" altLang="en-US" sz="1400">
              <a:solidFill>
                <a:srgbClr val="383838"/>
              </a:solidFill>
              <a:latin typeface="微软雅黑"/>
              <a:ea typeface="微软雅黑"/>
              <a:cs typeface="微软雅黑"/>
              <a:sym typeface="微软雅黑"/>
            </a:endParaRPr>
          </a:p>
        </p:txBody>
      </p:sp>
      <p:sp>
        <p:nvSpPr>
          <p:cNvPr id="182" name="矩形 181"/>
          <p:cNvSpPr/>
          <p:nvPr/>
        </p:nvSpPr>
        <p:spPr>
          <a:xfrm>
            <a:off x="7902488" y="3844859"/>
            <a:ext cx="3569342" cy="358934"/>
          </a:xfrm>
          <a:prstGeom prst="rect">
            <a:avLst/>
          </a:prstGeom>
          <a:ln>
            <a:solidFill>
              <a:srgbClr val="B3D4FE"/>
            </a:solidFill>
            <a:prstDash val="sysDash"/>
          </a:ln>
        </p:spPr>
        <p:style>
          <a:lnRef idx="2">
            <a:srgbClr val="3368FF"/>
          </a:lnRef>
          <a:fillRef idx="1">
            <a:srgbClr val="FFFFFF"/>
          </a:fillRef>
          <a:effectRef idx="0">
            <a:srgbClr val="3368FF"/>
          </a:effectRef>
          <a:fontRef idx="minor">
            <a:srgbClr val="383838"/>
          </a:fontRef>
        </p:style>
        <p:txBody>
          <a:bodyPr lIns="91440" tIns="45720" rIns="91440" bIns="45720" rtlCol="0" anchor="ctr">
            <a:noAutofit/>
          </a:bodyPr>
          <a:lstStyle/>
          <a:p>
            <a:pPr lvl="0" algn="l">
              <a:buClrTx/>
              <a:buSzTx/>
              <a:buFontTx/>
              <a:defRPr>
                <a:latin typeface="微软雅黑"/>
                <a:ea typeface="微软雅黑"/>
                <a:cs typeface="微软雅黑"/>
              </a:defRPr>
            </a:pPr>
            <a:endParaRPr kumimoji="1" lang="zh-CN" altLang="en-US" sz="1400">
              <a:solidFill>
                <a:srgbClr val="383838"/>
              </a:solidFill>
              <a:latin typeface="微软雅黑"/>
              <a:ea typeface="微软雅黑"/>
              <a:cs typeface="微软雅黑"/>
              <a:sym typeface="微软雅黑"/>
            </a:endParaRPr>
          </a:p>
        </p:txBody>
      </p:sp>
      <p:sp>
        <p:nvSpPr>
          <p:cNvPr id="183" name="文本框 182"/>
          <p:cNvSpPr txBox="1"/>
          <p:nvPr/>
        </p:nvSpPr>
        <p:spPr>
          <a:xfrm>
            <a:off x="7392703" y="3950109"/>
            <a:ext cx="323897" cy="1052596"/>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045" dirty="0">
                <a:solidFill>
                  <a:srgbClr val="383838"/>
                </a:solidFill>
                <a:effectLst/>
                <a:latin typeface="微软雅黑"/>
                <a:ea typeface="微软雅黑"/>
                <a:cs typeface="微软雅黑"/>
              </a:rPr>
              <a:t>数据运营体系</a:t>
            </a:r>
            <a:endParaRPr lang="zh-CN" altLang="en-US" sz="1045" dirty="0">
              <a:solidFill>
                <a:srgbClr val="383838"/>
              </a:solidFill>
              <a:effectLst/>
              <a:latin typeface="微软雅黑"/>
              <a:ea typeface="微软雅黑"/>
              <a:cs typeface="微软雅黑"/>
            </a:endParaRPr>
          </a:p>
        </p:txBody>
      </p:sp>
      <p:sp>
        <p:nvSpPr>
          <p:cNvPr id="184" name="文本框 183"/>
          <p:cNvSpPr txBox="1"/>
          <p:nvPr/>
        </p:nvSpPr>
        <p:spPr>
          <a:xfrm>
            <a:off x="7980871" y="3904866"/>
            <a:ext cx="966358" cy="248529"/>
          </a:xfrm>
          <a:prstGeom prst="rect">
            <a:avLst/>
          </a:prstGeom>
          <a:noFill/>
          <a:effectLst/>
        </p:spPr>
        <p:txBody>
          <a:bodyPr wrap="square" lIns="0" tIns="0" rIns="0" bIns="0" rtlCol="0">
            <a:spAutoFit/>
          </a:bodyPr>
          <a:lstStyle/>
          <a:p>
            <a:pP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数据资产管理</a:t>
            </a:r>
            <a:endParaRPr lang="zh-CN" altLang="en-US" sz="1000" dirty="0">
              <a:solidFill>
                <a:srgbClr val="383838"/>
              </a:solidFill>
              <a:effectLst/>
              <a:latin typeface="微软雅黑"/>
              <a:ea typeface="微软雅黑"/>
              <a:cs typeface="微软雅黑"/>
            </a:endParaRPr>
          </a:p>
        </p:txBody>
      </p:sp>
      <p:sp>
        <p:nvSpPr>
          <p:cNvPr id="185" name="文本框 184"/>
          <p:cNvSpPr txBox="1"/>
          <p:nvPr/>
        </p:nvSpPr>
        <p:spPr>
          <a:xfrm>
            <a:off x="7980871" y="4339206"/>
            <a:ext cx="966358" cy="248529"/>
          </a:xfrm>
          <a:prstGeom prst="rect">
            <a:avLst/>
          </a:prstGeom>
          <a:noFill/>
          <a:ln>
            <a:noFill/>
          </a:ln>
          <a:effectLst/>
        </p:spPr>
        <p:txBody>
          <a:bodyPr wrap="square" lIns="0" tIns="0" rIns="0" bIns="0" rtlCol="0">
            <a:spAutoFit/>
          </a:bodyPr>
          <a:lstStyle/>
          <a:p>
            <a:pP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数据资产体系</a:t>
            </a:r>
            <a:endParaRPr lang="zh-CN" altLang="en-US" sz="1000" dirty="0">
              <a:solidFill>
                <a:srgbClr val="383838"/>
              </a:solidFill>
              <a:effectLst/>
              <a:latin typeface="微软雅黑"/>
              <a:ea typeface="微软雅黑"/>
              <a:cs typeface="微软雅黑"/>
            </a:endParaRPr>
          </a:p>
        </p:txBody>
      </p:sp>
      <p:sp>
        <p:nvSpPr>
          <p:cNvPr id="186" name="文本框 185"/>
          <p:cNvSpPr txBox="1"/>
          <p:nvPr/>
        </p:nvSpPr>
        <p:spPr>
          <a:xfrm>
            <a:off x="8315675" y="4773546"/>
            <a:ext cx="966358" cy="248529"/>
          </a:xfrm>
          <a:prstGeom prst="rect">
            <a:avLst/>
          </a:prstGeom>
          <a:noFill/>
          <a:effectLst/>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数据汇集</a:t>
            </a:r>
            <a:endParaRPr lang="zh-CN" altLang="en-US" sz="1000" dirty="0">
              <a:solidFill>
                <a:srgbClr val="383838"/>
              </a:solidFill>
              <a:effectLst/>
              <a:latin typeface="微软雅黑"/>
              <a:ea typeface="微软雅黑"/>
              <a:cs typeface="微软雅黑"/>
            </a:endParaRPr>
          </a:p>
        </p:txBody>
      </p:sp>
      <p:sp>
        <p:nvSpPr>
          <p:cNvPr id="187" name="文本框 186"/>
          <p:cNvSpPr txBox="1"/>
          <p:nvPr/>
        </p:nvSpPr>
        <p:spPr>
          <a:xfrm>
            <a:off x="10125425" y="4773546"/>
            <a:ext cx="966358" cy="248529"/>
          </a:xfrm>
          <a:prstGeom prst="rect">
            <a:avLst/>
          </a:prstGeom>
          <a:noFill/>
          <a:effectLst/>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数据开发</a:t>
            </a:r>
            <a:endParaRPr lang="zh-CN" altLang="en-US" sz="1000" dirty="0">
              <a:solidFill>
                <a:srgbClr val="383838"/>
              </a:solidFill>
              <a:effectLst/>
              <a:latin typeface="微软雅黑"/>
              <a:ea typeface="微软雅黑"/>
              <a:cs typeface="微软雅黑"/>
            </a:endParaRPr>
          </a:p>
        </p:txBody>
      </p:sp>
      <p:sp>
        <p:nvSpPr>
          <p:cNvPr id="207" name="矩形: 圆角 518"/>
          <p:cNvSpPr/>
          <p:nvPr>
            <p:custDataLst>
              <p:tags r:id="rId12"/>
            </p:custDataLst>
          </p:nvPr>
        </p:nvSpPr>
        <p:spPr>
          <a:xfrm>
            <a:off x="8968332" y="3923683"/>
            <a:ext cx="724705" cy="176983"/>
          </a:xfrm>
          <a:prstGeom prst="roundRect">
            <a:avLst>
              <a:gd name="adj" fmla="val 50000"/>
            </a:avLst>
          </a:prstGeom>
          <a:solidFill>
            <a:srgbClr val="FFFFFF">
              <a:alpha val="50000"/>
            </a:srgbClr>
          </a:solidFill>
          <a:ln>
            <a:solidFill>
              <a:srgbClr val="B3D4FE"/>
            </a:solidFill>
          </a:ln>
        </p:spPr>
        <p:style>
          <a:lnRef idx="2">
            <a:srgbClr val="0042FF"/>
          </a:lnRef>
          <a:fillRef idx="1">
            <a:srgbClr val="3368FF"/>
          </a:fillRef>
          <a:effectRef idx="0">
            <a:srgbClr val="3368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元数据管理</a:t>
            </a:r>
            <a:endParaRPr lang="zh-CN" altLang="en-US" sz="1000" dirty="0">
              <a:solidFill>
                <a:srgbClr val="383838"/>
              </a:solidFill>
              <a:effectLst/>
              <a:latin typeface="微软雅黑"/>
              <a:ea typeface="微软雅黑"/>
              <a:cs typeface="微软雅黑"/>
            </a:endParaRPr>
          </a:p>
        </p:txBody>
      </p:sp>
      <p:sp>
        <p:nvSpPr>
          <p:cNvPr id="214" name="文本框 213"/>
          <p:cNvSpPr txBox="1"/>
          <p:nvPr/>
        </p:nvSpPr>
        <p:spPr>
          <a:xfrm>
            <a:off x="3215244" y="5573603"/>
            <a:ext cx="2050396" cy="319405"/>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520" b="1" dirty="0">
                <a:solidFill>
                  <a:srgbClr val="FFFFFF"/>
                </a:solidFill>
                <a:latin typeface="微软雅黑"/>
                <a:ea typeface="微软雅黑"/>
                <a:cs typeface="微软雅黑"/>
              </a:rPr>
              <a:t>私有云</a:t>
            </a:r>
            <a:r>
              <a:rPr lang="en-US" altLang="zh-CN" sz="1520" b="1" dirty="0">
                <a:solidFill>
                  <a:srgbClr val="FFFFFF"/>
                </a:solidFill>
                <a:latin typeface="微软雅黑"/>
                <a:ea typeface="微软雅黑"/>
                <a:cs typeface="微软雅黑"/>
              </a:rPr>
              <a:t>/</a:t>
            </a:r>
            <a:r>
              <a:rPr lang="zh-CN" altLang="en-US" sz="1520" b="1" dirty="0">
                <a:solidFill>
                  <a:srgbClr val="FFFFFF"/>
                </a:solidFill>
                <a:latin typeface="微软雅黑"/>
                <a:ea typeface="微软雅黑"/>
                <a:cs typeface="微软雅黑"/>
              </a:rPr>
              <a:t>共有云平台</a:t>
            </a:r>
            <a:endParaRPr lang="zh-CN" altLang="en-US" sz="1520" b="1" dirty="0">
              <a:solidFill>
                <a:srgbClr val="FFFFFF"/>
              </a:solidFill>
              <a:latin typeface="微软雅黑"/>
              <a:ea typeface="微软雅黑"/>
              <a:cs typeface="微软雅黑"/>
            </a:endParaRPr>
          </a:p>
        </p:txBody>
      </p:sp>
      <p:sp>
        <p:nvSpPr>
          <p:cNvPr id="215" name="文本框 214"/>
          <p:cNvSpPr txBox="1"/>
          <p:nvPr/>
        </p:nvSpPr>
        <p:spPr>
          <a:xfrm>
            <a:off x="5221002" y="5627393"/>
            <a:ext cx="966358" cy="24852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dirty="0">
                <a:solidFill>
                  <a:srgbClr val="FFFFFF"/>
                </a:solidFill>
                <a:effectLst/>
                <a:latin typeface="微软雅黑"/>
                <a:ea typeface="微软雅黑"/>
                <a:cs typeface="微软雅黑"/>
              </a:rPr>
              <a:t>监控服务体系</a:t>
            </a:r>
            <a:endParaRPr lang="zh-CN" altLang="en-US" sz="1000" dirty="0">
              <a:solidFill>
                <a:srgbClr val="FFFFFF"/>
              </a:solidFill>
              <a:effectLst/>
              <a:latin typeface="微软雅黑"/>
              <a:ea typeface="微软雅黑"/>
              <a:cs typeface="微软雅黑"/>
            </a:endParaRPr>
          </a:p>
        </p:txBody>
      </p:sp>
      <p:cxnSp>
        <p:nvCxnSpPr>
          <p:cNvPr id="216" name="直接连接符 215"/>
          <p:cNvCxnSpPr/>
          <p:nvPr/>
        </p:nvCxnSpPr>
        <p:spPr>
          <a:xfrm>
            <a:off x="6265783" y="5650927"/>
            <a:ext cx="0" cy="216000"/>
          </a:xfrm>
          <a:prstGeom prst="line">
            <a:avLst/>
          </a:prstGeom>
          <a:ln w="12700">
            <a:solidFill>
              <a:srgbClr val="FFFFFF"/>
            </a:solidFill>
          </a:ln>
          <a:effectLst/>
        </p:spPr>
        <p:style>
          <a:lnRef idx="1">
            <a:srgbClr val="0042FF"/>
          </a:lnRef>
          <a:fillRef idx="0">
            <a:srgbClr val="0042FF"/>
          </a:fillRef>
          <a:effectRef idx="0">
            <a:srgbClr val="0042FF"/>
          </a:effectRef>
          <a:fontRef idx="minor">
            <a:srgbClr val="383838"/>
          </a:fontRef>
        </p:style>
      </p:cxnSp>
      <p:sp>
        <p:nvSpPr>
          <p:cNvPr id="217" name="文本框 216"/>
          <p:cNvSpPr txBox="1"/>
          <p:nvPr/>
        </p:nvSpPr>
        <p:spPr>
          <a:xfrm>
            <a:off x="6408340" y="5627392"/>
            <a:ext cx="965835" cy="241220"/>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dirty="0">
                <a:solidFill>
                  <a:srgbClr val="FFFFFF"/>
                </a:solidFill>
                <a:effectLst/>
                <a:latin typeface="微软雅黑"/>
                <a:ea typeface="微软雅黑"/>
                <a:cs typeface="微软雅黑"/>
              </a:rPr>
              <a:t>日志服务体系</a:t>
            </a:r>
            <a:endParaRPr lang="zh-CN" altLang="en-US" sz="1000" dirty="0">
              <a:solidFill>
                <a:srgbClr val="FFFFFF"/>
              </a:solidFill>
              <a:effectLst/>
              <a:latin typeface="微软雅黑"/>
              <a:ea typeface="微软雅黑"/>
              <a:cs typeface="微软雅黑"/>
            </a:endParaRPr>
          </a:p>
        </p:txBody>
      </p:sp>
      <p:cxnSp>
        <p:nvCxnSpPr>
          <p:cNvPr id="218" name="直接连接符 217"/>
          <p:cNvCxnSpPr/>
          <p:nvPr/>
        </p:nvCxnSpPr>
        <p:spPr>
          <a:xfrm>
            <a:off x="7490381" y="5650927"/>
            <a:ext cx="0" cy="216000"/>
          </a:xfrm>
          <a:prstGeom prst="line">
            <a:avLst/>
          </a:prstGeom>
          <a:ln w="12700">
            <a:solidFill>
              <a:srgbClr val="FFFFFF"/>
            </a:solidFill>
          </a:ln>
          <a:effectLst/>
        </p:spPr>
        <p:style>
          <a:lnRef idx="1">
            <a:srgbClr val="0042FF"/>
          </a:lnRef>
          <a:fillRef idx="0">
            <a:srgbClr val="0042FF"/>
          </a:fillRef>
          <a:effectRef idx="0">
            <a:srgbClr val="0042FF"/>
          </a:effectRef>
          <a:fontRef idx="minor">
            <a:srgbClr val="383838"/>
          </a:fontRef>
        </p:style>
      </p:cxnSp>
      <p:sp>
        <p:nvSpPr>
          <p:cNvPr id="219" name="文本框 218"/>
          <p:cNvSpPr txBox="1"/>
          <p:nvPr/>
        </p:nvSpPr>
        <p:spPr>
          <a:xfrm>
            <a:off x="7595155" y="5627393"/>
            <a:ext cx="965835" cy="24852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dirty="0">
                <a:solidFill>
                  <a:srgbClr val="FFFFFF"/>
                </a:solidFill>
                <a:effectLst/>
                <a:latin typeface="微软雅黑"/>
                <a:ea typeface="微软雅黑"/>
                <a:cs typeface="微软雅黑"/>
              </a:rPr>
              <a:t>元数据库</a:t>
            </a:r>
            <a:endParaRPr lang="zh-CN" altLang="en-US" sz="1000" dirty="0">
              <a:solidFill>
                <a:srgbClr val="FFFFFF"/>
              </a:solidFill>
              <a:effectLst/>
              <a:latin typeface="微软雅黑"/>
              <a:ea typeface="微软雅黑"/>
              <a:cs typeface="微软雅黑"/>
            </a:endParaRPr>
          </a:p>
        </p:txBody>
      </p:sp>
      <p:cxnSp>
        <p:nvCxnSpPr>
          <p:cNvPr id="220" name="直接连接符 219"/>
          <p:cNvCxnSpPr/>
          <p:nvPr/>
        </p:nvCxnSpPr>
        <p:spPr>
          <a:xfrm>
            <a:off x="8714978" y="5650927"/>
            <a:ext cx="0" cy="216000"/>
          </a:xfrm>
          <a:prstGeom prst="line">
            <a:avLst/>
          </a:prstGeom>
          <a:ln w="12700">
            <a:solidFill>
              <a:srgbClr val="FFFFFF"/>
            </a:solidFill>
          </a:ln>
          <a:effectLst/>
        </p:spPr>
        <p:style>
          <a:lnRef idx="1">
            <a:srgbClr val="0042FF"/>
          </a:lnRef>
          <a:fillRef idx="0">
            <a:srgbClr val="0042FF"/>
          </a:fillRef>
          <a:effectRef idx="0">
            <a:srgbClr val="0042FF"/>
          </a:effectRef>
          <a:fontRef idx="minor">
            <a:srgbClr val="383838"/>
          </a:fontRef>
        </p:style>
      </p:cxnSp>
      <p:sp>
        <p:nvSpPr>
          <p:cNvPr id="221" name="文本框 220"/>
          <p:cNvSpPr txBox="1"/>
          <p:nvPr/>
        </p:nvSpPr>
        <p:spPr>
          <a:xfrm>
            <a:off x="8781970" y="5627393"/>
            <a:ext cx="965835" cy="24852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dirty="0">
                <a:solidFill>
                  <a:srgbClr val="FFFFFF"/>
                </a:solidFill>
                <a:effectLst/>
                <a:latin typeface="微软雅黑"/>
                <a:ea typeface="微软雅黑"/>
                <a:cs typeface="微软雅黑"/>
              </a:rPr>
              <a:t>平台负载均衡</a:t>
            </a:r>
            <a:endParaRPr lang="zh-CN" altLang="en-US" sz="1000" dirty="0">
              <a:solidFill>
                <a:srgbClr val="FFFFFF"/>
              </a:solidFill>
              <a:effectLst/>
              <a:latin typeface="微软雅黑"/>
              <a:ea typeface="微软雅黑"/>
              <a:cs typeface="微软雅黑"/>
            </a:endParaRPr>
          </a:p>
        </p:txBody>
      </p:sp>
      <p:cxnSp>
        <p:nvCxnSpPr>
          <p:cNvPr id="222" name="直接连接符 221"/>
          <p:cNvCxnSpPr/>
          <p:nvPr/>
        </p:nvCxnSpPr>
        <p:spPr>
          <a:xfrm>
            <a:off x="9939575" y="5650927"/>
            <a:ext cx="0" cy="216000"/>
          </a:xfrm>
          <a:prstGeom prst="line">
            <a:avLst/>
          </a:prstGeom>
          <a:ln w="12700">
            <a:solidFill>
              <a:srgbClr val="FFFFFF"/>
            </a:solidFill>
          </a:ln>
          <a:effectLst/>
        </p:spPr>
        <p:style>
          <a:lnRef idx="1">
            <a:srgbClr val="0042FF"/>
          </a:lnRef>
          <a:fillRef idx="0">
            <a:srgbClr val="0042FF"/>
          </a:fillRef>
          <a:effectRef idx="0">
            <a:srgbClr val="0042FF"/>
          </a:effectRef>
          <a:fontRef idx="minor">
            <a:srgbClr val="383838"/>
          </a:fontRef>
        </p:style>
      </p:cxnSp>
      <p:sp>
        <p:nvSpPr>
          <p:cNvPr id="223" name="文本框 222"/>
          <p:cNvSpPr txBox="1"/>
          <p:nvPr/>
        </p:nvSpPr>
        <p:spPr>
          <a:xfrm>
            <a:off x="9968785" y="5627393"/>
            <a:ext cx="965835" cy="24852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dirty="0">
                <a:solidFill>
                  <a:srgbClr val="FFFFFF"/>
                </a:solidFill>
                <a:effectLst/>
                <a:latin typeface="微软雅黑"/>
                <a:ea typeface="微软雅黑"/>
                <a:cs typeface="微软雅黑"/>
              </a:rPr>
              <a:t>中间件</a:t>
            </a:r>
            <a:endParaRPr lang="zh-CN" altLang="en-US" sz="1000" dirty="0">
              <a:solidFill>
                <a:srgbClr val="FFFFFF"/>
              </a:solidFill>
              <a:effectLst/>
              <a:latin typeface="微软雅黑"/>
              <a:ea typeface="微软雅黑"/>
              <a:cs typeface="微软雅黑"/>
            </a:endParaRPr>
          </a:p>
        </p:txBody>
      </p:sp>
      <p:grpSp>
        <p:nvGrpSpPr>
          <p:cNvPr id="7" name="组合 6"/>
          <p:cNvGrpSpPr/>
          <p:nvPr/>
        </p:nvGrpSpPr>
        <p:grpSpPr>
          <a:xfrm>
            <a:off x="2333886" y="2003425"/>
            <a:ext cx="2256790" cy="513080"/>
            <a:chOff x="3738" y="3155"/>
            <a:chExt cx="3554" cy="808"/>
          </a:xfrm>
        </p:grpSpPr>
        <p:sp>
          <p:nvSpPr>
            <p:cNvPr id="150" name="矩形 149"/>
            <p:cNvSpPr/>
            <p:nvPr>
              <p:custDataLst>
                <p:tags r:id="rId13"/>
              </p:custDataLst>
            </p:nvPr>
          </p:nvSpPr>
          <p:spPr>
            <a:xfrm>
              <a:off x="3738" y="3155"/>
              <a:ext cx="3555" cy="808"/>
            </a:xfrm>
            <a:prstGeom prst="rect">
              <a:avLst/>
            </a:prstGeom>
            <a:solidFill>
              <a:srgbClr val="E6E6E6">
                <a:alpha val="50000"/>
              </a:srgbClr>
            </a:solidFill>
            <a:ln>
              <a:solidFill>
                <a:srgbClr val="3368FF"/>
              </a:solidFill>
            </a:ln>
          </p:spPr>
          <p:style>
            <a:lnRef idx="0">
              <a:srgbClr val="FFFFFF"/>
            </a:lnRef>
            <a:fillRef idx="3">
              <a:srgbClr val="668EFF"/>
            </a:fillRef>
            <a:effectRef idx="0">
              <a:srgbClr val="FFFF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grpSp>
          <p:nvGrpSpPr>
            <p:cNvPr id="4" name="组合 3"/>
            <p:cNvGrpSpPr/>
            <p:nvPr/>
          </p:nvGrpSpPr>
          <p:grpSpPr>
            <a:xfrm>
              <a:off x="3757" y="3263"/>
              <a:ext cx="3517" cy="639"/>
              <a:chOff x="4224" y="-1663"/>
              <a:chExt cx="3517" cy="639"/>
            </a:xfrm>
          </p:grpSpPr>
          <p:sp>
            <p:nvSpPr>
              <p:cNvPr id="224" name="文本框 223"/>
              <p:cNvSpPr txBox="1"/>
              <p:nvPr/>
            </p:nvSpPr>
            <p:spPr>
              <a:xfrm>
                <a:off x="4937" y="-1663"/>
                <a:ext cx="2129" cy="414"/>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140" dirty="0">
                    <a:solidFill>
                      <a:srgbClr val="383838"/>
                    </a:solidFill>
                    <a:effectLst/>
                    <a:latin typeface="微软雅黑"/>
                    <a:ea typeface="微软雅黑"/>
                    <a:cs typeface="微软雅黑"/>
                  </a:rPr>
                  <a:t>营销管理系统</a:t>
                </a:r>
                <a:endParaRPr lang="zh-CN" altLang="en-US" sz="1140" dirty="0">
                  <a:solidFill>
                    <a:srgbClr val="383838"/>
                  </a:solidFill>
                  <a:effectLst/>
                  <a:latin typeface="微软雅黑"/>
                  <a:ea typeface="微软雅黑"/>
                  <a:cs typeface="微软雅黑"/>
                </a:endParaRPr>
              </a:p>
            </p:txBody>
          </p:sp>
          <p:sp>
            <p:nvSpPr>
              <p:cNvPr id="225" name="文本框 224"/>
              <p:cNvSpPr txBox="1"/>
              <p:nvPr/>
            </p:nvSpPr>
            <p:spPr>
              <a:xfrm>
                <a:off x="4224" y="-1402"/>
                <a:ext cx="3517" cy="378"/>
              </a:xfrm>
              <a:prstGeom prst="rect">
                <a:avLst/>
              </a:prstGeom>
              <a:noFill/>
              <a:effectLst/>
            </p:spPr>
            <p:txBody>
              <a:bodyPr wrap="square" lIns="0" tIns="0" rIns="0" bIns="0">
                <a:spAutoFit/>
              </a:bodyPr>
              <a:lstStyle/>
              <a:p>
                <a:pPr marL="0" marR="0" lvl="0" indent="0"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rPr>
                  <a:t>Marketing Management System</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sp>
        <p:nvSpPr>
          <p:cNvPr id="226" name="文本框 225"/>
          <p:cNvSpPr txBox="1"/>
          <p:nvPr/>
        </p:nvSpPr>
        <p:spPr>
          <a:xfrm>
            <a:off x="9691734" y="2670551"/>
            <a:ext cx="1565410" cy="260985"/>
          </a:xfrm>
          <a:prstGeom prst="rect">
            <a:avLst/>
          </a:prstGeom>
          <a:noFill/>
          <a:effectLst/>
        </p:spPr>
        <p:txBody>
          <a:bodyPr wrap="square" lIns="86868" tIns="43434" rIns="86868" bIns="43434" rtlCol="0">
            <a:spAutoFit/>
          </a:bodyPr>
          <a:lstStyle/>
          <a:p>
            <a:pPr>
              <a:defRPr>
                <a:latin typeface="微软雅黑"/>
                <a:ea typeface="微软雅黑"/>
                <a:cs typeface="微软雅黑"/>
              </a:defRPr>
            </a:pPr>
            <a:r>
              <a:rPr lang="en-US" altLang="zh-CN" sz="1140" dirty="0">
                <a:solidFill>
                  <a:srgbClr val="383838"/>
                </a:solidFill>
                <a:latin typeface="微软雅黑"/>
                <a:ea typeface="微软雅黑"/>
                <a:cs typeface="微软雅黑"/>
              </a:rPr>
              <a:t>MES</a:t>
            </a:r>
            <a:r>
              <a:rPr lang="zh-CN" altLang="en-US" sz="1140" dirty="0">
                <a:solidFill>
                  <a:srgbClr val="383838"/>
                </a:solidFill>
                <a:latin typeface="微软雅黑"/>
                <a:ea typeface="微软雅黑"/>
                <a:cs typeface="微软雅黑"/>
              </a:rPr>
              <a:t>生产管理系统</a:t>
            </a:r>
            <a:endParaRPr lang="zh-CN" altLang="en-US" sz="1140" dirty="0">
              <a:solidFill>
                <a:srgbClr val="383838"/>
              </a:solidFill>
              <a:effectLst/>
              <a:latin typeface="微软雅黑"/>
              <a:ea typeface="微软雅黑"/>
              <a:cs typeface="微软雅黑"/>
            </a:endParaRPr>
          </a:p>
        </p:txBody>
      </p:sp>
      <p:sp>
        <p:nvSpPr>
          <p:cNvPr id="227" name="文本框 226"/>
          <p:cNvSpPr txBox="1"/>
          <p:nvPr/>
        </p:nvSpPr>
        <p:spPr>
          <a:xfrm>
            <a:off x="9379699" y="2836545"/>
            <a:ext cx="2189480" cy="240030"/>
          </a:xfrm>
          <a:prstGeom prst="rect">
            <a:avLst/>
          </a:prstGeom>
          <a:noFill/>
          <a:effectLst/>
        </p:spPr>
        <p:txBody>
          <a:bodyPr wrap="square" lIns="0" tIns="0" rIns="0" bIns="0">
            <a:spAutoFit/>
          </a:bodyPr>
          <a:lstStyle/>
          <a:p>
            <a:pPr marL="0" marR="0" lvl="0" indent="0"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rPr>
              <a:t>Manufacturing Execution System</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8" name="矩形 237"/>
          <p:cNvSpPr/>
          <p:nvPr>
            <p:custDataLst>
              <p:tags r:id="rId14"/>
            </p:custDataLst>
          </p:nvPr>
        </p:nvSpPr>
        <p:spPr>
          <a:xfrm>
            <a:off x="647700" y="3290570"/>
            <a:ext cx="1588135" cy="1934210"/>
          </a:xfrm>
          <a:prstGeom prst="rect">
            <a:avLst/>
          </a:prstGeom>
          <a:gradFill>
            <a:gsLst>
              <a:gs pos="0">
                <a:srgbClr val="B3D4FE"/>
              </a:gs>
              <a:gs pos="88000">
                <a:srgbClr val="3368FF"/>
              </a:gs>
            </a:gsLst>
            <a:lin ang="8100000" scaled="0"/>
          </a:gradFill>
          <a:effectLst>
            <a:outerShdw blurRad="50800" dist="38100" dir="2700000" algn="tl" rotWithShape="0">
              <a:srgbClr val="B3D4FE">
                <a:alpha val="40000"/>
              </a:srgbClr>
            </a:outerShdw>
          </a:effectLst>
        </p:spPr>
        <p:style>
          <a:lnRef idx="0">
            <a:srgbClr val="FFFFFF"/>
          </a:lnRef>
          <a:fillRef idx="1">
            <a:srgbClr val="3368FF"/>
          </a:fillRef>
          <a:effectRef idx="0">
            <a:srgbClr val="FFFF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双平台</a:t>
            </a:r>
            <a:endParaRPr lang="zh-CN" altLang="en-US" sz="1500" b="1"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Dual-Platform</a:t>
            </a:r>
            <a:endParaRPr lang="zh-CN" altLang="en-US" sz="1000" b="1" dirty="0">
              <a:solidFill>
                <a:srgbClr val="383838"/>
              </a:solidFill>
              <a:latin typeface="微软雅黑"/>
              <a:ea typeface="微软雅黑"/>
              <a:cs typeface="微软雅黑"/>
              <a:sym typeface="微软雅黑"/>
            </a:endParaRPr>
          </a:p>
        </p:txBody>
      </p:sp>
      <p:sp>
        <p:nvSpPr>
          <p:cNvPr id="239" name="文本框 238"/>
          <p:cNvSpPr txBox="1"/>
          <p:nvPr/>
        </p:nvSpPr>
        <p:spPr>
          <a:xfrm>
            <a:off x="5123635" y="2057903"/>
            <a:ext cx="1352050" cy="260985"/>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140" dirty="0">
                <a:solidFill>
                  <a:srgbClr val="383838"/>
                </a:solidFill>
                <a:effectLst/>
                <a:latin typeface="微软雅黑"/>
                <a:ea typeface="微软雅黑"/>
                <a:cs typeface="微软雅黑"/>
              </a:rPr>
              <a:t>微信小程序</a:t>
            </a:r>
            <a:endParaRPr lang="zh-CN" altLang="en-US" sz="1140" dirty="0">
              <a:solidFill>
                <a:srgbClr val="383838"/>
              </a:solidFill>
              <a:effectLst/>
              <a:latin typeface="微软雅黑"/>
              <a:ea typeface="微软雅黑"/>
              <a:cs typeface="微软雅黑"/>
            </a:endParaRPr>
          </a:p>
        </p:txBody>
      </p:sp>
      <p:sp>
        <p:nvSpPr>
          <p:cNvPr id="240" name="文本框 239"/>
          <p:cNvSpPr txBox="1"/>
          <p:nvPr/>
        </p:nvSpPr>
        <p:spPr>
          <a:xfrm>
            <a:off x="4774770" y="2223770"/>
            <a:ext cx="2049780" cy="240030"/>
          </a:xfrm>
          <a:prstGeom prst="rect">
            <a:avLst/>
          </a:prstGeom>
          <a:noFill/>
          <a:effectLst/>
        </p:spPr>
        <p:txBody>
          <a:bodyPr wrap="square" lIns="0" tIns="0" rIns="0" bIns="0">
            <a:spAutoFit/>
          </a:bodyPr>
          <a:lstStyle/>
          <a:p>
            <a:pPr marL="0" marR="0" lvl="0" indent="0" algn="ctr"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rPr>
              <a:t>WeChat Mini Program</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1" name="文本框 240"/>
          <p:cNvSpPr txBox="1"/>
          <p:nvPr/>
        </p:nvSpPr>
        <p:spPr>
          <a:xfrm>
            <a:off x="7461024" y="2089653"/>
            <a:ext cx="1352050" cy="260985"/>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en-US" altLang="zh-CN" sz="1140" dirty="0">
                <a:solidFill>
                  <a:srgbClr val="383838"/>
                </a:solidFill>
                <a:effectLst/>
                <a:latin typeface="微软雅黑"/>
                <a:ea typeface="微软雅黑"/>
                <a:cs typeface="微软雅黑"/>
              </a:rPr>
              <a:t>OMS</a:t>
            </a:r>
            <a:r>
              <a:rPr lang="zh-CN" altLang="en-US" sz="1140" dirty="0">
                <a:solidFill>
                  <a:srgbClr val="383838"/>
                </a:solidFill>
                <a:effectLst/>
                <a:latin typeface="微软雅黑"/>
                <a:ea typeface="微软雅黑"/>
                <a:cs typeface="微软雅黑"/>
              </a:rPr>
              <a:t>管理系统</a:t>
            </a:r>
            <a:endParaRPr lang="zh-CN" altLang="en-US" sz="1140" dirty="0">
              <a:solidFill>
                <a:srgbClr val="383838"/>
              </a:solidFill>
              <a:effectLst/>
              <a:latin typeface="微软雅黑"/>
              <a:ea typeface="微软雅黑"/>
              <a:cs typeface="微软雅黑"/>
            </a:endParaRPr>
          </a:p>
        </p:txBody>
      </p:sp>
      <p:sp>
        <p:nvSpPr>
          <p:cNvPr id="242" name="文本框 241"/>
          <p:cNvSpPr txBox="1"/>
          <p:nvPr/>
        </p:nvSpPr>
        <p:spPr>
          <a:xfrm>
            <a:off x="7112159" y="2255520"/>
            <a:ext cx="2049780" cy="240030"/>
          </a:xfrm>
          <a:prstGeom prst="rect">
            <a:avLst/>
          </a:prstGeom>
          <a:noFill/>
          <a:effectLst/>
        </p:spPr>
        <p:txBody>
          <a:bodyPr wrap="square" lIns="0" tIns="0" rIns="0" bIns="0">
            <a:spAutoFit/>
          </a:bodyPr>
          <a:lstStyle/>
          <a:p>
            <a:pPr marL="0" marR="0" lvl="0" indent="0" algn="ctr"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rPr>
              <a:t>Order Management System </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3" name="文本框 242"/>
          <p:cNvSpPr txBox="1"/>
          <p:nvPr/>
        </p:nvSpPr>
        <p:spPr>
          <a:xfrm>
            <a:off x="9780044" y="2071873"/>
            <a:ext cx="1352050" cy="260985"/>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sz="1140" dirty="0">
                <a:solidFill>
                  <a:srgbClr val="383838"/>
                </a:solidFill>
                <a:effectLst/>
                <a:latin typeface="微软雅黑"/>
                <a:ea typeface="微软雅黑"/>
                <a:cs typeface="微软雅黑"/>
              </a:rPr>
              <a:t>在线营销系统</a:t>
            </a:r>
            <a:endParaRPr lang="zh-CN" sz="1140" dirty="0">
              <a:solidFill>
                <a:srgbClr val="383838"/>
              </a:solidFill>
              <a:effectLst/>
              <a:latin typeface="微软雅黑"/>
              <a:ea typeface="微软雅黑"/>
              <a:cs typeface="微软雅黑"/>
            </a:endParaRPr>
          </a:p>
        </p:txBody>
      </p:sp>
      <p:sp>
        <p:nvSpPr>
          <p:cNvPr id="244" name="文本框 243"/>
          <p:cNvSpPr txBox="1"/>
          <p:nvPr/>
        </p:nvSpPr>
        <p:spPr>
          <a:xfrm>
            <a:off x="9431179" y="2237740"/>
            <a:ext cx="2049780" cy="240030"/>
          </a:xfrm>
          <a:prstGeom prst="rect">
            <a:avLst/>
          </a:prstGeom>
          <a:noFill/>
          <a:effectLst/>
        </p:spPr>
        <p:txBody>
          <a:bodyPr wrap="square" lIns="0" tIns="0" rIns="0" bIns="0">
            <a:spAutoFit/>
          </a:bodyPr>
          <a:lstStyle/>
          <a:p>
            <a:pPr marL="0" marR="0" lvl="0" indent="0" algn="ctr"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rPr>
              <a:t>Internet Marketing System</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5" name="文本框 244"/>
          <p:cNvSpPr txBox="1"/>
          <p:nvPr/>
        </p:nvSpPr>
        <p:spPr>
          <a:xfrm>
            <a:off x="2786461" y="2694173"/>
            <a:ext cx="1352050" cy="260985"/>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en-US" altLang="zh-CN" sz="1140" dirty="0">
                <a:solidFill>
                  <a:srgbClr val="383838"/>
                </a:solidFill>
                <a:effectLst/>
                <a:latin typeface="微软雅黑"/>
                <a:ea typeface="微软雅黑"/>
                <a:cs typeface="微软雅黑"/>
              </a:rPr>
              <a:t>ERP</a:t>
            </a:r>
            <a:r>
              <a:rPr lang="zh-CN" altLang="en-US" sz="1140" dirty="0">
                <a:solidFill>
                  <a:srgbClr val="383838"/>
                </a:solidFill>
                <a:effectLst/>
                <a:latin typeface="微软雅黑"/>
                <a:ea typeface="微软雅黑"/>
                <a:cs typeface="微软雅黑"/>
              </a:rPr>
              <a:t>管理系统</a:t>
            </a:r>
            <a:endParaRPr lang="zh-CN" altLang="en-US" sz="1140" dirty="0">
              <a:solidFill>
                <a:srgbClr val="383838"/>
              </a:solidFill>
              <a:effectLst/>
              <a:latin typeface="微软雅黑"/>
              <a:ea typeface="微软雅黑"/>
              <a:cs typeface="微软雅黑"/>
            </a:endParaRPr>
          </a:p>
        </p:txBody>
      </p:sp>
      <p:sp>
        <p:nvSpPr>
          <p:cNvPr id="246" name="文本框 245"/>
          <p:cNvSpPr txBox="1"/>
          <p:nvPr/>
        </p:nvSpPr>
        <p:spPr>
          <a:xfrm>
            <a:off x="2437596" y="2860040"/>
            <a:ext cx="2049780" cy="240030"/>
          </a:xfrm>
          <a:prstGeom prst="rect">
            <a:avLst/>
          </a:prstGeom>
          <a:noFill/>
          <a:effectLst/>
        </p:spPr>
        <p:txBody>
          <a:bodyPr wrap="square" lIns="0" tIns="0" rIns="0" bIns="0">
            <a:spAutoFit/>
          </a:bodyPr>
          <a:lstStyle/>
          <a:p>
            <a:pPr marL="0" marR="0" lvl="0" indent="0" algn="ctr"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a:ln>
                  <a:noFill/>
                </a:ln>
                <a:solidFill>
                  <a:srgbClr val="383838"/>
                </a:solidFill>
                <a:effectLst/>
                <a:uLnTx/>
                <a:uFillTx/>
                <a:latin typeface="微软雅黑"/>
                <a:ea typeface="微软雅黑"/>
                <a:cs typeface="微软雅黑"/>
              </a:rPr>
              <a:t>ERP System</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7" name="文本框 246"/>
          <p:cNvSpPr txBox="1"/>
          <p:nvPr/>
        </p:nvSpPr>
        <p:spPr>
          <a:xfrm>
            <a:off x="5002735" y="2694305"/>
            <a:ext cx="1593850" cy="260985"/>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en-US" sz="1140" dirty="0">
                <a:solidFill>
                  <a:srgbClr val="383838"/>
                </a:solidFill>
                <a:effectLst/>
                <a:latin typeface="微软雅黑"/>
                <a:ea typeface="微软雅黑"/>
                <a:cs typeface="微软雅黑"/>
              </a:rPr>
              <a:t>CRM</a:t>
            </a:r>
            <a:r>
              <a:rPr lang="zh-CN" altLang="en-US" sz="1140" dirty="0">
                <a:solidFill>
                  <a:srgbClr val="383838"/>
                </a:solidFill>
                <a:effectLst/>
                <a:latin typeface="微软雅黑"/>
                <a:ea typeface="微软雅黑"/>
                <a:cs typeface="微软雅黑"/>
              </a:rPr>
              <a:t>客户管理系统</a:t>
            </a:r>
            <a:endParaRPr lang="zh-CN" altLang="en-US" sz="1140" dirty="0">
              <a:solidFill>
                <a:srgbClr val="383838"/>
              </a:solidFill>
              <a:effectLst/>
              <a:latin typeface="微软雅黑"/>
              <a:ea typeface="微软雅黑"/>
              <a:cs typeface="微软雅黑"/>
            </a:endParaRPr>
          </a:p>
        </p:txBody>
      </p:sp>
      <p:sp>
        <p:nvSpPr>
          <p:cNvPr id="248" name="文本框 247"/>
          <p:cNvSpPr txBox="1"/>
          <p:nvPr/>
        </p:nvSpPr>
        <p:spPr>
          <a:xfrm>
            <a:off x="4774770" y="2860040"/>
            <a:ext cx="2049780" cy="240030"/>
          </a:xfrm>
          <a:prstGeom prst="rect">
            <a:avLst/>
          </a:prstGeom>
          <a:noFill/>
          <a:effectLst/>
        </p:spPr>
        <p:txBody>
          <a:bodyPr wrap="square" lIns="0" tIns="0" rIns="0" bIns="0">
            <a:spAutoFit/>
          </a:bodyPr>
          <a:lstStyle/>
          <a:p>
            <a:pPr marL="0" marR="0" lvl="0" indent="0" algn="ctr"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rPr>
              <a:t>CRM System</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9" name="文本框 248"/>
          <p:cNvSpPr txBox="1"/>
          <p:nvPr/>
        </p:nvSpPr>
        <p:spPr>
          <a:xfrm>
            <a:off x="7299960" y="2676525"/>
            <a:ext cx="1593850" cy="260985"/>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en-US" altLang="zh-CN" sz="1140" dirty="0">
                <a:solidFill>
                  <a:srgbClr val="383838"/>
                </a:solidFill>
                <a:effectLst/>
                <a:latin typeface="微软雅黑"/>
                <a:ea typeface="微软雅黑"/>
                <a:cs typeface="微软雅黑"/>
              </a:rPr>
              <a:t>WMS</a:t>
            </a:r>
            <a:r>
              <a:rPr lang="zh-CN" altLang="en-US" sz="1140" dirty="0">
                <a:solidFill>
                  <a:srgbClr val="383838"/>
                </a:solidFill>
                <a:effectLst/>
                <a:latin typeface="微软雅黑"/>
                <a:ea typeface="微软雅黑"/>
                <a:cs typeface="微软雅黑"/>
              </a:rPr>
              <a:t>仓储管理系统</a:t>
            </a:r>
            <a:endParaRPr lang="zh-CN" altLang="en-US" sz="1140" dirty="0">
              <a:solidFill>
                <a:srgbClr val="383838"/>
              </a:solidFill>
              <a:effectLst/>
              <a:latin typeface="微软雅黑"/>
              <a:ea typeface="微软雅黑"/>
              <a:cs typeface="微软雅黑"/>
            </a:endParaRPr>
          </a:p>
        </p:txBody>
      </p:sp>
      <p:sp>
        <p:nvSpPr>
          <p:cNvPr id="250" name="文本框 249"/>
          <p:cNvSpPr txBox="1"/>
          <p:nvPr/>
        </p:nvSpPr>
        <p:spPr>
          <a:xfrm>
            <a:off x="6927850" y="2842260"/>
            <a:ext cx="2338070" cy="240030"/>
          </a:xfrm>
          <a:prstGeom prst="rect">
            <a:avLst/>
          </a:prstGeom>
          <a:noFill/>
          <a:effectLst/>
        </p:spPr>
        <p:txBody>
          <a:bodyPr wrap="square" lIns="0" tIns="0" rIns="0" bIns="0">
            <a:spAutoFit/>
          </a:bodyPr>
          <a:lstStyle/>
          <a:p>
            <a:pPr marL="0" marR="0" lvl="0" indent="0" algn="ctr" defTabSz="914400" rtl="0" eaLnBrk="1" fontAlgn="auto" latinLnBrk="0" hangingPunct="1">
              <a:lnSpc>
                <a:spcPct val="100000"/>
              </a:lnSpc>
              <a:spcBef>
                <a:spcPts val="0"/>
              </a:spcBef>
              <a:buClrTx/>
              <a:buSzTx/>
              <a:buFontTx/>
              <a:buNone/>
              <a:defRPr>
                <a:latin typeface="微软雅黑"/>
                <a:ea typeface="微软雅黑"/>
                <a:cs typeface="微软雅黑"/>
              </a:defRPr>
            </a:pPr>
            <a:r>
              <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rPr>
              <a:t>Warehouse Management System</a:t>
            </a:r>
            <a:endParaRPr kumimoji="0"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51" name="矩形: 圆角 452"/>
          <p:cNvSpPr/>
          <p:nvPr>
            <p:custDataLst>
              <p:tags r:id="rId15"/>
            </p:custDataLst>
          </p:nvPr>
        </p:nvSpPr>
        <p:spPr>
          <a:xfrm>
            <a:off x="4024868" y="3805953"/>
            <a:ext cx="1109345" cy="271059"/>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商品中心</a:t>
            </a:r>
            <a:endParaRPr lang="zh-CN" altLang="en-US" sz="1000" dirty="0">
              <a:solidFill>
                <a:srgbClr val="383838"/>
              </a:solidFill>
              <a:effectLst/>
              <a:latin typeface="微软雅黑"/>
              <a:ea typeface="微软雅黑"/>
              <a:cs typeface="微软雅黑"/>
              <a:sym typeface="微软雅黑"/>
            </a:endParaRPr>
          </a:p>
        </p:txBody>
      </p:sp>
      <p:sp>
        <p:nvSpPr>
          <p:cNvPr id="252" name="矩形: 圆角 452"/>
          <p:cNvSpPr/>
          <p:nvPr>
            <p:custDataLst>
              <p:tags r:id="rId16"/>
            </p:custDataLst>
          </p:nvPr>
        </p:nvSpPr>
        <p:spPr>
          <a:xfrm>
            <a:off x="5487273" y="3805953"/>
            <a:ext cx="1109345" cy="271059"/>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lIns="0" tIns="0" rIns="0" bIns="0" rtlCol="0" anchor="ctr"/>
          <a:lstStyle/>
          <a:p>
            <a:pPr algn="ctr">
              <a:defRPr>
                <a:latin typeface="微软雅黑"/>
                <a:ea typeface="微软雅黑"/>
                <a:cs typeface="微软雅黑"/>
              </a:defRPr>
            </a:pPr>
            <a:r>
              <a:rPr lang="zh-CN" altLang="en-US" sz="1000">
                <a:solidFill>
                  <a:srgbClr val="383838"/>
                </a:solidFill>
                <a:effectLst/>
                <a:latin typeface="微软雅黑"/>
                <a:ea typeface="微软雅黑"/>
                <a:cs typeface="微软雅黑"/>
              </a:rPr>
              <a:t>交易中心</a:t>
            </a:r>
            <a:endParaRPr lang="zh-CN" altLang="en-US" sz="1000">
              <a:solidFill>
                <a:srgbClr val="383838"/>
              </a:solidFill>
              <a:effectLst/>
              <a:latin typeface="微软雅黑"/>
              <a:ea typeface="微软雅黑"/>
              <a:cs typeface="微软雅黑"/>
            </a:endParaRPr>
          </a:p>
        </p:txBody>
      </p:sp>
      <p:sp>
        <p:nvSpPr>
          <p:cNvPr id="253" name="矩形: 圆角 452"/>
          <p:cNvSpPr/>
          <p:nvPr>
            <p:custDataLst>
              <p:tags r:id="rId17"/>
            </p:custDataLst>
          </p:nvPr>
        </p:nvSpPr>
        <p:spPr>
          <a:xfrm>
            <a:off x="2561884" y="4278942"/>
            <a:ext cx="1109924" cy="270510"/>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计划中心</a:t>
            </a:r>
            <a:endParaRPr lang="zh-CN" altLang="en-US" sz="1000" dirty="0">
              <a:solidFill>
                <a:srgbClr val="383838"/>
              </a:solidFill>
              <a:effectLst/>
              <a:latin typeface="微软雅黑"/>
              <a:ea typeface="微软雅黑"/>
              <a:cs typeface="微软雅黑"/>
              <a:sym typeface="微软雅黑"/>
            </a:endParaRPr>
          </a:p>
        </p:txBody>
      </p:sp>
      <p:sp>
        <p:nvSpPr>
          <p:cNvPr id="254" name="矩形: 圆角 452"/>
          <p:cNvSpPr/>
          <p:nvPr>
            <p:custDataLst>
              <p:tags r:id="rId18"/>
            </p:custDataLst>
          </p:nvPr>
        </p:nvSpPr>
        <p:spPr>
          <a:xfrm>
            <a:off x="4024868" y="4278942"/>
            <a:ext cx="1109345" cy="270510"/>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渠道中心</a:t>
            </a:r>
            <a:endParaRPr lang="zh-CN" altLang="en-US" sz="1000" dirty="0">
              <a:solidFill>
                <a:srgbClr val="383838"/>
              </a:solidFill>
              <a:effectLst/>
              <a:latin typeface="微软雅黑"/>
              <a:ea typeface="微软雅黑"/>
              <a:cs typeface="微软雅黑"/>
              <a:sym typeface="微软雅黑"/>
            </a:endParaRPr>
          </a:p>
        </p:txBody>
      </p:sp>
      <p:sp>
        <p:nvSpPr>
          <p:cNvPr id="255" name="矩形: 圆角 452"/>
          <p:cNvSpPr/>
          <p:nvPr>
            <p:custDataLst>
              <p:tags r:id="rId19"/>
            </p:custDataLst>
          </p:nvPr>
        </p:nvSpPr>
        <p:spPr>
          <a:xfrm>
            <a:off x="5487273" y="4278942"/>
            <a:ext cx="1109345" cy="270510"/>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lIns="0" tIns="0" rIns="0" bIns="0" rtlCol="0" anchor="ctr"/>
          <a:lstStyle/>
          <a:p>
            <a:pPr algn="ctr">
              <a:defRPr>
                <a:latin typeface="微软雅黑"/>
                <a:ea typeface="微软雅黑"/>
                <a:cs typeface="微软雅黑"/>
              </a:defRPr>
            </a:pPr>
            <a:r>
              <a:rPr lang="zh-CN" altLang="en-US" sz="1000">
                <a:solidFill>
                  <a:srgbClr val="383838"/>
                </a:solidFill>
                <a:effectLst/>
                <a:latin typeface="微软雅黑"/>
                <a:ea typeface="微软雅黑"/>
                <a:cs typeface="微软雅黑"/>
              </a:rPr>
              <a:t>库存中心</a:t>
            </a:r>
            <a:endParaRPr lang="zh-CN" altLang="en-US" sz="1000">
              <a:solidFill>
                <a:srgbClr val="383838"/>
              </a:solidFill>
              <a:effectLst/>
              <a:latin typeface="微软雅黑"/>
              <a:ea typeface="微软雅黑"/>
              <a:cs typeface="微软雅黑"/>
            </a:endParaRPr>
          </a:p>
        </p:txBody>
      </p:sp>
      <p:sp>
        <p:nvSpPr>
          <p:cNvPr id="256" name="矩形: 圆角 452"/>
          <p:cNvSpPr/>
          <p:nvPr>
            <p:custDataLst>
              <p:tags r:id="rId20"/>
            </p:custDataLst>
          </p:nvPr>
        </p:nvSpPr>
        <p:spPr>
          <a:xfrm>
            <a:off x="2561884" y="4751382"/>
            <a:ext cx="1109924" cy="270510"/>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000">
                <a:solidFill>
                  <a:srgbClr val="383838"/>
                </a:solidFill>
                <a:effectLst/>
                <a:latin typeface="微软雅黑"/>
                <a:ea typeface="微软雅黑"/>
                <a:cs typeface="微软雅黑"/>
                <a:sym typeface="微软雅黑"/>
              </a:rPr>
              <a:t>数据中心</a:t>
            </a:r>
            <a:endParaRPr lang="zh-CN" altLang="en-US" sz="1000">
              <a:solidFill>
                <a:srgbClr val="383838"/>
              </a:solidFill>
              <a:effectLst/>
              <a:latin typeface="微软雅黑"/>
              <a:ea typeface="微软雅黑"/>
              <a:cs typeface="微软雅黑"/>
              <a:sym typeface="微软雅黑"/>
            </a:endParaRPr>
          </a:p>
        </p:txBody>
      </p:sp>
      <p:sp>
        <p:nvSpPr>
          <p:cNvPr id="257" name="矩形: 圆角 452"/>
          <p:cNvSpPr/>
          <p:nvPr>
            <p:custDataLst>
              <p:tags r:id="rId21"/>
            </p:custDataLst>
          </p:nvPr>
        </p:nvSpPr>
        <p:spPr>
          <a:xfrm>
            <a:off x="4024868" y="4751382"/>
            <a:ext cx="1109345" cy="270510"/>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lIns="0" tIns="0" rIns="0" bIns="0" rtlCol="0" anchor="ctr"/>
          <a:lstStyle/>
          <a:p>
            <a:pPr algn="ctr">
              <a:defRPr>
                <a:latin typeface="微软雅黑"/>
                <a:ea typeface="微软雅黑"/>
                <a:cs typeface="微软雅黑"/>
              </a:defRPr>
            </a:pPr>
            <a:r>
              <a:rPr lang="zh-CN" altLang="en-US" sz="1000">
                <a:solidFill>
                  <a:srgbClr val="383838"/>
                </a:solidFill>
                <a:effectLst/>
                <a:latin typeface="微软雅黑"/>
                <a:ea typeface="微软雅黑"/>
                <a:cs typeface="微软雅黑"/>
              </a:rPr>
              <a:t>物流中心</a:t>
            </a:r>
            <a:endParaRPr lang="zh-CN" altLang="en-US" sz="1000">
              <a:solidFill>
                <a:srgbClr val="383838"/>
              </a:solidFill>
              <a:effectLst/>
              <a:latin typeface="微软雅黑"/>
              <a:ea typeface="微软雅黑"/>
              <a:cs typeface="微软雅黑"/>
            </a:endParaRPr>
          </a:p>
        </p:txBody>
      </p:sp>
      <p:sp>
        <p:nvSpPr>
          <p:cNvPr id="258" name="矩形: 圆角 452"/>
          <p:cNvSpPr/>
          <p:nvPr>
            <p:custDataLst>
              <p:tags r:id="rId22"/>
            </p:custDataLst>
          </p:nvPr>
        </p:nvSpPr>
        <p:spPr>
          <a:xfrm>
            <a:off x="5487273" y="4751382"/>
            <a:ext cx="1109345" cy="270510"/>
          </a:xfrm>
          <a:prstGeom prst="roundRect">
            <a:avLst>
              <a:gd name="adj" fmla="val 50000"/>
            </a:avLst>
          </a:prstGeom>
          <a:ln>
            <a:solidFill>
              <a:srgbClr val="B3D4FE"/>
            </a:solidFill>
          </a:ln>
        </p:spPr>
        <p:style>
          <a:lnRef idx="2">
            <a:srgbClr val="3368FF"/>
          </a:lnRef>
          <a:fillRef idx="1">
            <a:srgbClr val="FFFFFF"/>
          </a:fillRef>
          <a:effectRef idx="0">
            <a:srgbClr val="3368FF"/>
          </a:effectRef>
          <a:fontRef idx="minor">
            <a:srgbClr val="383838"/>
          </a:fontRef>
        </p:style>
        <p:txBody>
          <a:bodyPr lIns="0" tIns="0" rIns="0" bIns="0" rtlCol="0" anchor="ctr"/>
          <a:lstStyle/>
          <a:p>
            <a:pPr algn="ctr">
              <a:defRPr>
                <a:latin typeface="微软雅黑"/>
                <a:ea typeface="微软雅黑"/>
                <a:cs typeface="微软雅黑"/>
              </a:defRPr>
            </a:pPr>
            <a:r>
              <a:rPr lang="zh-CN" altLang="en-US" sz="1000">
                <a:solidFill>
                  <a:srgbClr val="383838"/>
                </a:solidFill>
                <a:effectLst/>
                <a:latin typeface="微软雅黑"/>
                <a:ea typeface="微软雅黑"/>
                <a:cs typeface="微软雅黑"/>
              </a:rPr>
              <a:t>生产中心</a:t>
            </a:r>
            <a:endParaRPr lang="zh-CN" altLang="en-US" sz="1000">
              <a:solidFill>
                <a:srgbClr val="383838"/>
              </a:solidFill>
              <a:effectLst/>
              <a:latin typeface="微软雅黑"/>
              <a:ea typeface="微软雅黑"/>
              <a:cs typeface="微软雅黑"/>
            </a:endParaRPr>
          </a:p>
        </p:txBody>
      </p:sp>
      <p:sp>
        <p:nvSpPr>
          <p:cNvPr id="259" name="矩形: 圆角 518"/>
          <p:cNvSpPr/>
          <p:nvPr>
            <p:custDataLst>
              <p:tags r:id="rId23"/>
            </p:custDataLst>
          </p:nvPr>
        </p:nvSpPr>
        <p:spPr>
          <a:xfrm>
            <a:off x="9805262" y="3923683"/>
            <a:ext cx="724705" cy="176983"/>
          </a:xfrm>
          <a:prstGeom prst="roundRect">
            <a:avLst>
              <a:gd name="adj" fmla="val 50000"/>
            </a:avLst>
          </a:prstGeom>
          <a:solidFill>
            <a:srgbClr val="FFFFFF">
              <a:alpha val="50000"/>
            </a:srgbClr>
          </a:solidFill>
          <a:ln>
            <a:solidFill>
              <a:srgbClr val="B3D4FE"/>
            </a:solidFill>
          </a:ln>
        </p:spPr>
        <p:style>
          <a:lnRef idx="2">
            <a:srgbClr val="0042FF"/>
          </a:lnRef>
          <a:fillRef idx="1">
            <a:srgbClr val="3368FF"/>
          </a:fillRef>
          <a:effectRef idx="0">
            <a:srgbClr val="3368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数据血缘</a:t>
            </a:r>
            <a:endParaRPr lang="zh-CN" altLang="en-US" sz="1000" dirty="0">
              <a:solidFill>
                <a:srgbClr val="383838"/>
              </a:solidFill>
              <a:effectLst/>
              <a:latin typeface="微软雅黑"/>
              <a:ea typeface="微软雅黑"/>
              <a:cs typeface="微软雅黑"/>
            </a:endParaRPr>
          </a:p>
        </p:txBody>
      </p:sp>
      <p:sp>
        <p:nvSpPr>
          <p:cNvPr id="260" name="矩形: 圆角 518"/>
          <p:cNvSpPr/>
          <p:nvPr>
            <p:custDataLst>
              <p:tags r:id="rId24"/>
            </p:custDataLst>
          </p:nvPr>
        </p:nvSpPr>
        <p:spPr>
          <a:xfrm>
            <a:off x="10658702" y="3923683"/>
            <a:ext cx="724705" cy="176983"/>
          </a:xfrm>
          <a:prstGeom prst="roundRect">
            <a:avLst>
              <a:gd name="adj" fmla="val 50000"/>
            </a:avLst>
          </a:prstGeom>
          <a:solidFill>
            <a:srgbClr val="FFFFFF">
              <a:alpha val="50000"/>
            </a:srgbClr>
          </a:solidFill>
          <a:ln>
            <a:solidFill>
              <a:srgbClr val="B3D4FE"/>
            </a:solidFill>
          </a:ln>
        </p:spPr>
        <p:style>
          <a:lnRef idx="2">
            <a:srgbClr val="0042FF"/>
          </a:lnRef>
          <a:fillRef idx="1">
            <a:srgbClr val="3368FF"/>
          </a:fillRef>
          <a:effectRef idx="0">
            <a:srgbClr val="3368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数据质量</a:t>
            </a:r>
            <a:endParaRPr lang="zh-CN" altLang="en-US" sz="1000" dirty="0">
              <a:solidFill>
                <a:srgbClr val="383838"/>
              </a:solidFill>
              <a:effectLst/>
              <a:latin typeface="微软雅黑"/>
              <a:ea typeface="微软雅黑"/>
              <a:cs typeface="微软雅黑"/>
            </a:endParaRPr>
          </a:p>
        </p:txBody>
      </p:sp>
      <p:sp>
        <p:nvSpPr>
          <p:cNvPr id="261" name="矩形: 圆角 518"/>
          <p:cNvSpPr/>
          <p:nvPr>
            <p:custDataLst>
              <p:tags r:id="rId25"/>
            </p:custDataLst>
          </p:nvPr>
        </p:nvSpPr>
        <p:spPr>
          <a:xfrm>
            <a:off x="8968967" y="4363738"/>
            <a:ext cx="724705" cy="176983"/>
          </a:xfrm>
          <a:prstGeom prst="roundRect">
            <a:avLst>
              <a:gd name="adj" fmla="val 50000"/>
            </a:avLst>
          </a:prstGeom>
          <a:solidFill>
            <a:srgbClr val="FFFFFF">
              <a:alpha val="50000"/>
            </a:srgbClr>
          </a:solidFill>
          <a:ln>
            <a:solidFill>
              <a:srgbClr val="B3D4FE"/>
            </a:solidFill>
          </a:ln>
        </p:spPr>
        <p:style>
          <a:lnRef idx="2">
            <a:srgbClr val="0042FF"/>
          </a:lnRef>
          <a:fillRef idx="1">
            <a:srgbClr val="3368FF"/>
          </a:fillRef>
          <a:effectRef idx="0">
            <a:srgbClr val="3368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主题域</a:t>
            </a:r>
            <a:endParaRPr lang="zh-CN" altLang="en-US" sz="1000" dirty="0">
              <a:solidFill>
                <a:srgbClr val="383838"/>
              </a:solidFill>
              <a:effectLst/>
              <a:latin typeface="微软雅黑"/>
              <a:ea typeface="微软雅黑"/>
              <a:cs typeface="微软雅黑"/>
            </a:endParaRPr>
          </a:p>
        </p:txBody>
      </p:sp>
      <p:sp>
        <p:nvSpPr>
          <p:cNvPr id="262" name="矩形: 圆角 518"/>
          <p:cNvSpPr/>
          <p:nvPr>
            <p:custDataLst>
              <p:tags r:id="rId26"/>
            </p:custDataLst>
          </p:nvPr>
        </p:nvSpPr>
        <p:spPr>
          <a:xfrm>
            <a:off x="9814322" y="4363738"/>
            <a:ext cx="724535" cy="176983"/>
          </a:xfrm>
          <a:prstGeom prst="roundRect">
            <a:avLst>
              <a:gd name="adj" fmla="val 50000"/>
            </a:avLst>
          </a:prstGeom>
          <a:solidFill>
            <a:srgbClr val="FFFFFF">
              <a:alpha val="50000"/>
            </a:srgbClr>
          </a:solidFill>
          <a:ln>
            <a:solidFill>
              <a:srgbClr val="B3D4FE"/>
            </a:solidFill>
          </a:ln>
        </p:spPr>
        <p:style>
          <a:lnRef idx="2">
            <a:srgbClr val="0042FF"/>
          </a:lnRef>
          <a:fillRef idx="1">
            <a:srgbClr val="3368FF"/>
          </a:fillRef>
          <a:effectRef idx="0">
            <a:srgbClr val="3368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effectLst/>
                <a:latin typeface="微软雅黑"/>
                <a:ea typeface="微软雅黑"/>
                <a:cs typeface="微软雅黑"/>
                <a:sym typeface="微软雅黑"/>
              </a:rPr>
              <a:t>ODS</a:t>
            </a:r>
            <a:endParaRPr lang="en-US" altLang="zh-CN" sz="1000" dirty="0">
              <a:solidFill>
                <a:srgbClr val="383838"/>
              </a:solidFill>
              <a:effectLst/>
              <a:latin typeface="微软雅黑"/>
              <a:ea typeface="微软雅黑"/>
              <a:cs typeface="微软雅黑"/>
              <a:sym typeface="微软雅黑"/>
            </a:endParaRPr>
          </a:p>
        </p:txBody>
      </p:sp>
      <p:sp>
        <p:nvSpPr>
          <p:cNvPr id="263" name="矩形: 圆角 518"/>
          <p:cNvSpPr/>
          <p:nvPr>
            <p:custDataLst>
              <p:tags r:id="rId27"/>
            </p:custDataLst>
          </p:nvPr>
        </p:nvSpPr>
        <p:spPr>
          <a:xfrm>
            <a:off x="10659507" y="4363738"/>
            <a:ext cx="724535" cy="176983"/>
          </a:xfrm>
          <a:prstGeom prst="roundRect">
            <a:avLst>
              <a:gd name="adj" fmla="val 50000"/>
            </a:avLst>
          </a:prstGeom>
          <a:solidFill>
            <a:srgbClr val="FFFFFF">
              <a:alpha val="50000"/>
            </a:srgbClr>
          </a:solidFill>
          <a:ln>
            <a:solidFill>
              <a:srgbClr val="B3D4FE"/>
            </a:solidFill>
          </a:ln>
        </p:spPr>
        <p:style>
          <a:lnRef idx="2">
            <a:srgbClr val="0042FF"/>
          </a:lnRef>
          <a:fillRef idx="1">
            <a:srgbClr val="3368FF"/>
          </a:fillRef>
          <a:effectRef idx="0">
            <a:srgbClr val="3368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effectLst/>
                <a:latin typeface="微软雅黑"/>
                <a:ea typeface="微软雅黑"/>
                <a:cs typeface="微软雅黑"/>
                <a:sym typeface="微软雅黑"/>
              </a:rPr>
              <a:t>ODW</a:t>
            </a:r>
            <a:endParaRPr lang="en-US" altLang="zh-CN" sz="1000" dirty="0">
              <a:solidFill>
                <a:srgbClr val="383838"/>
              </a:solidFill>
              <a:effectLst/>
              <a:latin typeface="微软雅黑"/>
              <a:ea typeface="微软雅黑"/>
              <a:cs typeface="微软雅黑"/>
              <a:sym typeface="微软雅黑"/>
            </a:endParaRPr>
          </a:p>
        </p:txBody>
      </p:sp>
      <p:sp>
        <p:nvSpPr>
          <p:cNvPr id="2" name="椭圆 1"/>
          <p:cNvSpPr/>
          <p:nvPr/>
        </p:nvSpPr>
        <p:spPr>
          <a:xfrm>
            <a:off x="5265420" y="6156325"/>
            <a:ext cx="2037080" cy="154305"/>
          </a:xfrm>
          <a:prstGeom prst="ellipse">
            <a:avLst/>
          </a:prstGeom>
          <a:solidFill>
            <a:srgbClr val="0042FF">
              <a:alpha val="21000"/>
            </a:srgbClr>
          </a:solidFill>
          <a:ln>
            <a:noFill/>
          </a:ln>
          <a:effectLst>
            <a:softEdge rad="63500"/>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383838"/>
              </a:solidFill>
              <a:cs typeface="微软雅黑"/>
              <a:latin typeface="微软雅黑"/>
              <a:ea typeface="微软雅黑"/>
            </a:endParaRPr>
          </a:p>
        </p:txBody>
      </p:sp>
      <p:pic>
        <p:nvPicPr>
          <p:cNvPr id="3" name="图片 2" descr="屋顶资源管理"/>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355600" y="186055"/>
            <a:ext cx="549910" cy="549910"/>
          </a:xfrm>
          <a:prstGeom prst="rect">
            <a:avLst/>
          </a:prstGeom>
        </p:spPr>
      </p:pic>
      <p:pic>
        <p:nvPicPr>
          <p:cNvPr id="6" name="图片 5" descr="云平台"/>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2787015" y="5456555"/>
            <a:ext cx="480695" cy="480695"/>
          </a:xfrm>
          <a:prstGeom prst="rect">
            <a:avLst/>
          </a:prstGeom>
        </p:spPr>
      </p:pic>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32"/>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41" name="文本框 40"/>
          <p:cNvSpPr txBox="1"/>
          <p:nvPr/>
        </p:nvSpPr>
        <p:spPr>
          <a:xfrm>
            <a:off x="2372995"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latin typeface="微软雅黑"/>
                <a:ea typeface="微软雅黑"/>
                <a:cs typeface="微软雅黑"/>
              </a:rPr>
              <a:t>电商</a:t>
            </a:r>
            <a:endParaRPr lang="en-US" altLang="zh-CN"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latin typeface="微软雅黑"/>
                <a:ea typeface="微软雅黑"/>
                <a:cs typeface="微软雅黑"/>
              </a:rPr>
              <a:t>平台</a:t>
            </a:r>
            <a:endParaRPr lang="zh-CN" altLang="en-US" sz="1300" dirty="0">
              <a:solidFill>
                <a:srgbClr val="383838"/>
              </a:solidFill>
              <a:effectLst/>
              <a:latin typeface="微软雅黑"/>
              <a:ea typeface="微软雅黑"/>
              <a:cs typeface="微软雅黑"/>
            </a:endParaRPr>
          </a:p>
        </p:txBody>
      </p:sp>
      <p:sp>
        <p:nvSpPr>
          <p:cNvPr id="42" name="文本框 41"/>
          <p:cNvSpPr txBox="1"/>
          <p:nvPr/>
        </p:nvSpPr>
        <p:spPr>
          <a:xfrm>
            <a:off x="3307715"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sz="1300" dirty="0">
                <a:solidFill>
                  <a:srgbClr val="383838"/>
                </a:solidFill>
                <a:effectLst/>
                <a:latin typeface="微软雅黑"/>
                <a:ea typeface="微软雅黑"/>
                <a:cs typeface="微软雅黑"/>
              </a:rPr>
              <a:t>微信</a:t>
            </a:r>
            <a:endParaRPr lang="zh-CN" sz="1300" dirty="0">
              <a:solidFill>
                <a:srgbClr val="383838"/>
              </a:solidFill>
              <a:effectLst/>
              <a:latin typeface="微软雅黑"/>
              <a:ea typeface="微软雅黑"/>
              <a:cs typeface="微软雅黑"/>
            </a:endParaRPr>
          </a:p>
          <a:p>
            <a:pPr algn="ctr">
              <a:defRPr>
                <a:latin typeface="微软雅黑"/>
                <a:ea typeface="微软雅黑"/>
                <a:cs typeface="微软雅黑"/>
              </a:defRPr>
            </a:pPr>
            <a:r>
              <a:rPr lang="zh-CN" sz="1300" dirty="0">
                <a:solidFill>
                  <a:srgbClr val="383838"/>
                </a:solidFill>
                <a:effectLst/>
                <a:latin typeface="微软雅黑"/>
                <a:ea typeface="微软雅黑"/>
                <a:cs typeface="微软雅黑"/>
              </a:rPr>
              <a:t>公众号</a:t>
            </a:r>
            <a:endParaRPr lang="zh-CN" sz="1300" dirty="0">
              <a:solidFill>
                <a:srgbClr val="383838"/>
              </a:solidFill>
              <a:effectLst/>
              <a:latin typeface="微软雅黑"/>
              <a:ea typeface="微软雅黑"/>
              <a:cs typeface="微软雅黑"/>
            </a:endParaRPr>
          </a:p>
        </p:txBody>
      </p:sp>
      <p:sp>
        <p:nvSpPr>
          <p:cNvPr id="43" name="文本框 42"/>
          <p:cNvSpPr txBox="1"/>
          <p:nvPr/>
        </p:nvSpPr>
        <p:spPr>
          <a:xfrm>
            <a:off x="4242435"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latin typeface="微软雅黑"/>
                <a:ea typeface="微软雅黑"/>
                <a:cs typeface="微软雅黑"/>
              </a:rPr>
              <a:t>小红书</a:t>
            </a:r>
            <a:endParaRPr lang="en-US" altLang="zh-CN"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effectLst/>
                <a:latin typeface="微软雅黑"/>
                <a:ea typeface="微软雅黑"/>
                <a:cs typeface="微软雅黑"/>
              </a:rPr>
              <a:t>微</a:t>
            </a:r>
            <a:r>
              <a:rPr lang="zh-CN" altLang="en-US" sz="1300" dirty="0">
                <a:solidFill>
                  <a:srgbClr val="383838"/>
                </a:solidFill>
                <a:effectLst/>
                <a:latin typeface="微软雅黑"/>
                <a:ea typeface="微软雅黑"/>
                <a:cs typeface="微软雅黑"/>
              </a:rPr>
              <a:t>博等</a:t>
            </a:r>
            <a:endParaRPr lang="zh-CN" altLang="en-US" sz="1300" dirty="0">
              <a:solidFill>
                <a:srgbClr val="383838"/>
              </a:solidFill>
              <a:effectLst/>
              <a:latin typeface="微软雅黑"/>
              <a:ea typeface="微软雅黑"/>
              <a:cs typeface="微软雅黑"/>
            </a:endParaRPr>
          </a:p>
        </p:txBody>
      </p:sp>
      <p:sp>
        <p:nvSpPr>
          <p:cNvPr id="44" name="文本框 43"/>
          <p:cNvSpPr txBox="1"/>
          <p:nvPr/>
        </p:nvSpPr>
        <p:spPr>
          <a:xfrm>
            <a:off x="5176520"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latin typeface="微软雅黑"/>
                <a:ea typeface="微软雅黑"/>
                <a:cs typeface="微软雅黑"/>
              </a:rPr>
              <a:t>线下</a:t>
            </a:r>
            <a:endParaRPr lang="en-US" altLang="zh-CN"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effectLst/>
                <a:latin typeface="微软雅黑"/>
                <a:ea typeface="微软雅黑"/>
                <a:cs typeface="微软雅黑"/>
              </a:rPr>
              <a:t>门</a:t>
            </a:r>
            <a:r>
              <a:rPr lang="zh-CN" altLang="en-US" sz="1300" dirty="0">
                <a:solidFill>
                  <a:srgbClr val="383838"/>
                </a:solidFill>
                <a:effectLst/>
                <a:latin typeface="微软雅黑"/>
                <a:ea typeface="微软雅黑"/>
                <a:cs typeface="微软雅黑"/>
              </a:rPr>
              <a:t>店</a:t>
            </a:r>
            <a:endParaRPr lang="zh-CN" altLang="en-US" sz="1300" dirty="0">
              <a:solidFill>
                <a:srgbClr val="383838"/>
              </a:solidFill>
              <a:effectLst/>
              <a:latin typeface="微软雅黑"/>
              <a:ea typeface="微软雅黑"/>
              <a:cs typeface="微软雅黑"/>
            </a:endParaRPr>
          </a:p>
        </p:txBody>
      </p:sp>
      <p:sp>
        <p:nvSpPr>
          <p:cNvPr id="45" name="文本框 44"/>
          <p:cNvSpPr txBox="1"/>
          <p:nvPr/>
        </p:nvSpPr>
        <p:spPr>
          <a:xfrm>
            <a:off x="6111240"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latin typeface="微软雅黑"/>
                <a:ea typeface="微软雅黑"/>
                <a:cs typeface="微软雅黑"/>
              </a:rPr>
              <a:t>地推</a:t>
            </a:r>
            <a:endParaRPr lang="en-US" altLang="zh-CN"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effectLst/>
                <a:latin typeface="微软雅黑"/>
                <a:ea typeface="微软雅黑"/>
                <a:cs typeface="微软雅黑"/>
              </a:rPr>
              <a:t>广告</a:t>
            </a:r>
            <a:endParaRPr lang="zh-CN" altLang="en-US" sz="1300" dirty="0">
              <a:solidFill>
                <a:srgbClr val="383838"/>
              </a:solidFill>
              <a:effectLst/>
              <a:latin typeface="微软雅黑"/>
              <a:ea typeface="微软雅黑"/>
              <a:cs typeface="微软雅黑"/>
            </a:endParaRPr>
          </a:p>
        </p:txBody>
      </p:sp>
      <p:sp>
        <p:nvSpPr>
          <p:cNvPr id="46" name="文本框 45"/>
          <p:cNvSpPr txBox="1"/>
          <p:nvPr/>
        </p:nvSpPr>
        <p:spPr>
          <a:xfrm>
            <a:off x="7045960"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latin typeface="微软雅黑"/>
                <a:ea typeface="微软雅黑"/>
                <a:cs typeface="微软雅黑"/>
              </a:rPr>
              <a:t>会展</a:t>
            </a:r>
            <a:endParaRPr lang="en-US" altLang="zh-CN"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effectLst/>
                <a:latin typeface="微软雅黑"/>
                <a:ea typeface="微软雅黑"/>
                <a:cs typeface="微软雅黑"/>
              </a:rPr>
              <a:t>展览</a:t>
            </a:r>
            <a:endParaRPr lang="zh-CN" altLang="en-US" sz="1300" dirty="0">
              <a:solidFill>
                <a:srgbClr val="383838"/>
              </a:solidFill>
              <a:effectLst/>
              <a:latin typeface="微软雅黑"/>
              <a:ea typeface="微软雅黑"/>
              <a:cs typeface="微软雅黑"/>
            </a:endParaRPr>
          </a:p>
        </p:txBody>
      </p:sp>
      <p:sp>
        <p:nvSpPr>
          <p:cNvPr id="47" name="文本框 46"/>
          <p:cNvSpPr txBox="1"/>
          <p:nvPr/>
        </p:nvSpPr>
        <p:spPr>
          <a:xfrm>
            <a:off x="7980680"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latin typeface="微软雅黑"/>
                <a:ea typeface="微软雅黑"/>
                <a:cs typeface="微软雅黑"/>
              </a:rPr>
              <a:t>异业</a:t>
            </a:r>
            <a:endParaRPr lang="en-US" altLang="zh-CN"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effectLst/>
                <a:latin typeface="微软雅黑"/>
                <a:ea typeface="微软雅黑"/>
                <a:cs typeface="微软雅黑"/>
              </a:rPr>
              <a:t>合作</a:t>
            </a:r>
            <a:endParaRPr lang="zh-CN" altLang="en-US" sz="1300" dirty="0">
              <a:solidFill>
                <a:srgbClr val="383838"/>
              </a:solidFill>
              <a:effectLst/>
              <a:latin typeface="微软雅黑"/>
              <a:ea typeface="微软雅黑"/>
              <a:cs typeface="微软雅黑"/>
            </a:endParaRPr>
          </a:p>
        </p:txBody>
      </p:sp>
      <p:sp>
        <p:nvSpPr>
          <p:cNvPr id="48" name="文本框 47"/>
          <p:cNvSpPr txBox="1"/>
          <p:nvPr/>
        </p:nvSpPr>
        <p:spPr>
          <a:xfrm>
            <a:off x="8914765"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effectLst/>
                <a:latin typeface="微软雅黑"/>
                <a:ea typeface="微软雅黑"/>
                <a:cs typeface="微软雅黑"/>
              </a:rPr>
              <a:t>官方</a:t>
            </a:r>
            <a:endParaRPr lang="en-US" altLang="zh-CN" sz="1300">
              <a:solidFill>
                <a:srgbClr val="383838"/>
              </a:solidFill>
              <a:effectLst/>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latin typeface="微软雅黑"/>
                <a:ea typeface="微软雅黑"/>
                <a:cs typeface="微软雅黑"/>
              </a:rPr>
              <a:t>网站</a:t>
            </a:r>
            <a:endParaRPr lang="zh-CN" altLang="en-US" sz="1300" dirty="0">
              <a:solidFill>
                <a:srgbClr val="383838"/>
              </a:solidFill>
              <a:effectLst/>
              <a:latin typeface="微软雅黑"/>
              <a:ea typeface="微软雅黑"/>
              <a:cs typeface="微软雅黑"/>
            </a:endParaRPr>
          </a:p>
        </p:txBody>
      </p:sp>
      <p:sp>
        <p:nvSpPr>
          <p:cNvPr id="49" name="文本框 48"/>
          <p:cNvSpPr txBox="1"/>
          <p:nvPr/>
        </p:nvSpPr>
        <p:spPr>
          <a:xfrm>
            <a:off x="9849485"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effectLst/>
                <a:latin typeface="微软雅黑"/>
                <a:ea typeface="微软雅黑"/>
                <a:cs typeface="微软雅黑"/>
              </a:rPr>
              <a:t>电视</a:t>
            </a:r>
            <a:endParaRPr lang="en-US" altLang="zh-CN" sz="1300">
              <a:solidFill>
                <a:srgbClr val="383838"/>
              </a:solidFill>
              <a:effectLst/>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effectLst/>
                <a:latin typeface="微软雅黑"/>
                <a:ea typeface="微软雅黑"/>
                <a:cs typeface="微软雅黑"/>
              </a:rPr>
              <a:t>广告</a:t>
            </a:r>
            <a:endParaRPr lang="zh-CN" altLang="en-US" sz="1300" dirty="0">
              <a:solidFill>
                <a:srgbClr val="383838"/>
              </a:solidFill>
              <a:effectLst/>
              <a:latin typeface="微软雅黑"/>
              <a:ea typeface="微软雅黑"/>
              <a:cs typeface="微软雅黑"/>
            </a:endParaRPr>
          </a:p>
        </p:txBody>
      </p:sp>
      <p:sp>
        <p:nvSpPr>
          <p:cNvPr id="50" name="文本框 49"/>
          <p:cNvSpPr txBox="1"/>
          <p:nvPr/>
        </p:nvSpPr>
        <p:spPr>
          <a:xfrm>
            <a:off x="10784205" y="1271905"/>
            <a:ext cx="775970" cy="486410"/>
          </a:xfrm>
          <a:prstGeom prst="rect">
            <a:avLst/>
          </a:prstGeom>
          <a:noFill/>
          <a:effectLst/>
        </p:spPr>
        <p:txBody>
          <a:bodyPr wrap="square" lIns="86868" tIns="43434" rIns="86868" bIns="43434" rtlCol="0">
            <a:spAutoFit/>
          </a:bodyPr>
          <a:lstStyle/>
          <a:p>
            <a:pPr algn="ctr">
              <a:defRPr>
                <a:latin typeface="微软雅黑"/>
                <a:ea typeface="微软雅黑"/>
                <a:cs typeface="微软雅黑"/>
              </a:defRPr>
            </a:pPr>
            <a:r>
              <a:rPr lang="zh-CN" altLang="en-US" sz="1300" dirty="0">
                <a:solidFill>
                  <a:srgbClr val="383838"/>
                </a:solidFill>
                <a:latin typeface="微软雅黑"/>
                <a:ea typeface="微软雅黑"/>
                <a:cs typeface="微软雅黑"/>
              </a:rPr>
              <a:t>垂直</a:t>
            </a:r>
            <a:endParaRPr lang="en-US" altLang="zh-CN"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latin typeface="微软雅黑"/>
                <a:ea typeface="微软雅黑"/>
                <a:cs typeface="微软雅黑"/>
              </a:rPr>
              <a:t>媒体</a:t>
            </a:r>
            <a:endParaRPr lang="zh-CN" altLang="en-US" sz="1300" dirty="0">
              <a:solidFill>
                <a:srgbClr val="383838"/>
              </a:solidFill>
              <a:effectLst/>
              <a:latin typeface="微软雅黑"/>
              <a:ea typeface="微软雅黑"/>
              <a:cs typeface="微软雅黑"/>
            </a:endParaRPr>
          </a:p>
        </p:txBody>
      </p: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组织系统管理系统平台</a:t>
            </a:r>
            <a:endParaRPr sz="2500" b="0">
              <a:solidFill>
                <a:srgbClr val="383838"/>
              </a:solidFill>
              <a:effectLst/>
              <a:latin typeface="微软雅黑"/>
              <a:ea typeface="微软雅黑"/>
              <a:cs typeface="微软雅黑"/>
            </a:endParaRPr>
          </a:p>
        </p:txBody>
      </p:sp>
      <p:sp>
        <p:nvSpPr>
          <p:cNvPr id="12" name="任意多边形: 形状 5"/>
          <p:cNvSpPr/>
          <p:nvPr/>
        </p:nvSpPr>
        <p:spPr>
          <a:xfrm>
            <a:off x="2419985" y="1414145"/>
            <a:ext cx="7439660" cy="2867660"/>
          </a:xfrm>
          <a:custGeom>
            <a:avLst/>
            <a:gdLst>
              <a:gd name="connsiteX0" fmla="*/ 1479550 w 1530350"/>
              <a:gd name="connsiteY0" fmla="*/ 0 h 2673350"/>
              <a:gd name="connsiteX1" fmla="*/ 1530350 w 1530350"/>
              <a:gd name="connsiteY1" fmla="*/ 0 h 2673350"/>
              <a:gd name="connsiteX2" fmla="*/ 1530350 w 1530350"/>
              <a:gd name="connsiteY2" fmla="*/ 2673350 h 2673350"/>
              <a:gd name="connsiteX3" fmla="*/ 1479550 w 1530350"/>
              <a:gd name="connsiteY3" fmla="*/ 2673350 h 2673350"/>
              <a:gd name="connsiteX4" fmla="*/ 50800 w 1530350"/>
              <a:gd name="connsiteY4" fmla="*/ 2673350 h 2673350"/>
              <a:gd name="connsiteX5" fmla="*/ 0 w 1530350"/>
              <a:gd name="connsiteY5" fmla="*/ 2673350 h 2673350"/>
              <a:gd name="connsiteX6" fmla="*/ 0 w 1530350"/>
              <a:gd name="connsiteY6" fmla="*/ 0 h 2673350"/>
              <a:gd name="connsiteX7" fmla="*/ 50800 w 1530350"/>
              <a:gd name="connsiteY7" fmla="*/ 0 h 267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0350" h="2673350">
                <a:moveTo>
                  <a:pt x="1479550" y="0"/>
                </a:moveTo>
                <a:cubicBezTo>
                  <a:pt x="1507606" y="0"/>
                  <a:pt x="1530350" y="0"/>
                  <a:pt x="1530350" y="0"/>
                </a:cubicBezTo>
                <a:lnTo>
                  <a:pt x="1530350" y="2673350"/>
                </a:lnTo>
                <a:cubicBezTo>
                  <a:pt x="1530350" y="2673350"/>
                  <a:pt x="1507606" y="2673350"/>
                  <a:pt x="1479550" y="2673350"/>
                </a:cubicBezTo>
                <a:lnTo>
                  <a:pt x="50800" y="2673350"/>
                </a:lnTo>
                <a:cubicBezTo>
                  <a:pt x="22744" y="2673350"/>
                  <a:pt x="0" y="2673350"/>
                  <a:pt x="0" y="2673350"/>
                </a:cubicBezTo>
                <a:lnTo>
                  <a:pt x="0" y="0"/>
                </a:lnTo>
                <a:cubicBezTo>
                  <a:pt x="0" y="0"/>
                  <a:pt x="22744" y="0"/>
                  <a:pt x="50800" y="0"/>
                </a:cubicBezTo>
                <a:close/>
              </a:path>
            </a:pathLst>
          </a:custGeom>
          <a:solidFill>
            <a:srgbClr val="FFFFFF">
              <a:alpha val="20000"/>
            </a:srgbClr>
          </a:solidFill>
          <a:ln>
            <a:solidFill>
              <a:srgbClr val="B3D4FE">
                <a:alpha val="50000"/>
              </a:srgbClr>
            </a:solidFill>
            <a:prstDash val="solid"/>
          </a:ln>
        </p:spPr>
        <p:style>
          <a:lnRef idx="1">
            <a:srgbClr val="0042FF"/>
          </a:lnRef>
          <a:fillRef idx="0">
            <a:srgbClr val="0042FF"/>
          </a:fillRef>
          <a:effectRef idx="0">
            <a:srgbClr val="0042FF"/>
          </a:effectRef>
          <a:fontRef idx="minor">
            <a:srgbClr val="383838"/>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3" name="任意多边形: 形状 2"/>
          <p:cNvSpPr/>
          <p:nvPr/>
        </p:nvSpPr>
        <p:spPr>
          <a:xfrm>
            <a:off x="572770" y="1413510"/>
            <a:ext cx="1642110" cy="2868295"/>
          </a:xfrm>
          <a:custGeom>
            <a:avLst/>
            <a:gdLst>
              <a:gd name="connsiteX0" fmla="*/ 1479550 w 1530350"/>
              <a:gd name="connsiteY0" fmla="*/ 0 h 2673350"/>
              <a:gd name="connsiteX1" fmla="*/ 1530350 w 1530350"/>
              <a:gd name="connsiteY1" fmla="*/ 0 h 2673350"/>
              <a:gd name="connsiteX2" fmla="*/ 1530350 w 1530350"/>
              <a:gd name="connsiteY2" fmla="*/ 2673350 h 2673350"/>
              <a:gd name="connsiteX3" fmla="*/ 1479550 w 1530350"/>
              <a:gd name="connsiteY3" fmla="*/ 2673350 h 2673350"/>
              <a:gd name="connsiteX4" fmla="*/ 50800 w 1530350"/>
              <a:gd name="connsiteY4" fmla="*/ 2673350 h 2673350"/>
              <a:gd name="connsiteX5" fmla="*/ 0 w 1530350"/>
              <a:gd name="connsiteY5" fmla="*/ 2673350 h 2673350"/>
              <a:gd name="connsiteX6" fmla="*/ 0 w 1530350"/>
              <a:gd name="connsiteY6" fmla="*/ 0 h 2673350"/>
              <a:gd name="connsiteX7" fmla="*/ 50800 w 1530350"/>
              <a:gd name="connsiteY7" fmla="*/ 0 h 267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0350" h="2673350">
                <a:moveTo>
                  <a:pt x="1479550" y="0"/>
                </a:moveTo>
                <a:cubicBezTo>
                  <a:pt x="1507606" y="0"/>
                  <a:pt x="1530350" y="0"/>
                  <a:pt x="1530350" y="0"/>
                </a:cubicBezTo>
                <a:lnTo>
                  <a:pt x="1530350" y="2673350"/>
                </a:lnTo>
                <a:cubicBezTo>
                  <a:pt x="1530350" y="2673350"/>
                  <a:pt x="1507606" y="2673350"/>
                  <a:pt x="1479550" y="2673350"/>
                </a:cubicBezTo>
                <a:lnTo>
                  <a:pt x="50800" y="2673350"/>
                </a:lnTo>
                <a:cubicBezTo>
                  <a:pt x="22744" y="2673350"/>
                  <a:pt x="0" y="2673350"/>
                  <a:pt x="0" y="2673350"/>
                </a:cubicBezTo>
                <a:lnTo>
                  <a:pt x="0" y="0"/>
                </a:lnTo>
                <a:cubicBezTo>
                  <a:pt x="0" y="0"/>
                  <a:pt x="22744" y="0"/>
                  <a:pt x="50800" y="0"/>
                </a:cubicBezTo>
                <a:close/>
              </a:path>
            </a:pathLst>
          </a:custGeom>
          <a:solidFill>
            <a:srgbClr val="E6E6E6">
              <a:alpha val="50000"/>
            </a:srgbClr>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4" name="任意多边形: 形状 5"/>
          <p:cNvSpPr/>
          <p:nvPr/>
        </p:nvSpPr>
        <p:spPr>
          <a:xfrm>
            <a:off x="10063480" y="1413510"/>
            <a:ext cx="1642110" cy="2868295"/>
          </a:xfrm>
          <a:custGeom>
            <a:avLst/>
            <a:gdLst>
              <a:gd name="connsiteX0" fmla="*/ 1479550 w 1530350"/>
              <a:gd name="connsiteY0" fmla="*/ 0 h 2673350"/>
              <a:gd name="connsiteX1" fmla="*/ 1530350 w 1530350"/>
              <a:gd name="connsiteY1" fmla="*/ 0 h 2673350"/>
              <a:gd name="connsiteX2" fmla="*/ 1530350 w 1530350"/>
              <a:gd name="connsiteY2" fmla="*/ 2673350 h 2673350"/>
              <a:gd name="connsiteX3" fmla="*/ 1479550 w 1530350"/>
              <a:gd name="connsiteY3" fmla="*/ 2673350 h 2673350"/>
              <a:gd name="connsiteX4" fmla="*/ 50800 w 1530350"/>
              <a:gd name="connsiteY4" fmla="*/ 2673350 h 2673350"/>
              <a:gd name="connsiteX5" fmla="*/ 0 w 1530350"/>
              <a:gd name="connsiteY5" fmla="*/ 2673350 h 2673350"/>
              <a:gd name="connsiteX6" fmla="*/ 0 w 1530350"/>
              <a:gd name="connsiteY6" fmla="*/ 0 h 2673350"/>
              <a:gd name="connsiteX7" fmla="*/ 50800 w 1530350"/>
              <a:gd name="connsiteY7" fmla="*/ 0 h 267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0350" h="2673350">
                <a:moveTo>
                  <a:pt x="1479550" y="0"/>
                </a:moveTo>
                <a:cubicBezTo>
                  <a:pt x="1507606" y="0"/>
                  <a:pt x="1530350" y="0"/>
                  <a:pt x="1530350" y="0"/>
                </a:cubicBezTo>
                <a:lnTo>
                  <a:pt x="1530350" y="2673350"/>
                </a:lnTo>
                <a:cubicBezTo>
                  <a:pt x="1530350" y="2673350"/>
                  <a:pt x="1507606" y="2673350"/>
                  <a:pt x="1479550" y="2673350"/>
                </a:cubicBezTo>
                <a:lnTo>
                  <a:pt x="50800" y="2673350"/>
                </a:lnTo>
                <a:cubicBezTo>
                  <a:pt x="22744" y="2673350"/>
                  <a:pt x="0" y="2673350"/>
                  <a:pt x="0" y="2673350"/>
                </a:cubicBezTo>
                <a:lnTo>
                  <a:pt x="0" y="0"/>
                </a:lnTo>
                <a:cubicBezTo>
                  <a:pt x="0" y="0"/>
                  <a:pt x="22744" y="0"/>
                  <a:pt x="50800" y="0"/>
                </a:cubicBezTo>
                <a:close/>
              </a:path>
            </a:pathLst>
          </a:custGeom>
          <a:solidFill>
            <a:srgbClr val="E6E6E6">
              <a:alpha val="50000"/>
            </a:srgbClr>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8" name="矩形: 圆角 6"/>
          <p:cNvSpPr/>
          <p:nvPr/>
        </p:nvSpPr>
        <p:spPr>
          <a:xfrm>
            <a:off x="893445" y="2094865"/>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9" name="矩形: 圆角 8"/>
          <p:cNvSpPr/>
          <p:nvPr/>
        </p:nvSpPr>
        <p:spPr>
          <a:xfrm>
            <a:off x="10384155" y="2094865"/>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0" name="矩形: 圆角 14"/>
          <p:cNvSpPr/>
          <p:nvPr/>
        </p:nvSpPr>
        <p:spPr>
          <a:xfrm>
            <a:off x="893445" y="2626360"/>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1" name="矩形: 圆角 15"/>
          <p:cNvSpPr/>
          <p:nvPr/>
        </p:nvSpPr>
        <p:spPr>
          <a:xfrm>
            <a:off x="10384155" y="2626360"/>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1" name="矩形: 圆角 16"/>
          <p:cNvSpPr/>
          <p:nvPr/>
        </p:nvSpPr>
        <p:spPr>
          <a:xfrm>
            <a:off x="893445" y="3157855"/>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2" name="矩形: 圆角 21"/>
          <p:cNvSpPr/>
          <p:nvPr/>
        </p:nvSpPr>
        <p:spPr>
          <a:xfrm>
            <a:off x="10384155" y="3157855"/>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5" name="矩形: 圆角 22"/>
          <p:cNvSpPr/>
          <p:nvPr/>
        </p:nvSpPr>
        <p:spPr>
          <a:xfrm>
            <a:off x="893445" y="3689350"/>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6" name="矩形: 圆角 23"/>
          <p:cNvSpPr/>
          <p:nvPr/>
        </p:nvSpPr>
        <p:spPr>
          <a:xfrm>
            <a:off x="10384155" y="3689350"/>
            <a:ext cx="995045" cy="422275"/>
          </a:xfrm>
          <a:prstGeom prst="roundRect">
            <a:avLst>
              <a:gd name="adj" fmla="val 8000"/>
            </a:avLst>
          </a:prstGeom>
          <a:solidFill>
            <a:srgbClr val="FFFFFF"/>
          </a:solidFill>
          <a:ln w="6350" cap="flat">
            <a:solidFill>
              <a:srgbClr val="3368FF"/>
            </a:solidFill>
            <a:prstDash val="solid"/>
            <a:miter/>
          </a:ln>
          <a:effectLst>
            <a:outerShdw blurRad="254000" dist="127000" dir="5400000" sx="80000" sy="80000" algn="t" rotWithShape="0">
              <a:srgbClr val="0042FF">
                <a:alpha val="10000"/>
              </a:srgbClr>
            </a:outerShdw>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7" name="矩形: 圆角 24"/>
          <p:cNvSpPr/>
          <p:nvPr/>
        </p:nvSpPr>
        <p:spPr>
          <a:xfrm>
            <a:off x="572770" y="1413510"/>
            <a:ext cx="1642110" cy="511175"/>
          </a:xfrm>
          <a:prstGeom prst="roundRect">
            <a:avLst>
              <a:gd name="adj" fmla="val 0"/>
            </a:avLst>
          </a:prstGeom>
          <a:solidFill>
            <a:srgbClr val="0042FF"/>
          </a:solidFill>
          <a:ln>
            <a:noFill/>
          </a:ln>
          <a:effectLst>
            <a:outerShdw blurRad="50800" dist="38100" dir="2700000" algn="tl" rotWithShape="0">
              <a:srgbClr val="3368FF">
                <a:alpha val="40000"/>
              </a:srgbClr>
            </a:outerShdw>
          </a:effectLst>
        </p:spPr>
        <p:txBody>
          <a:bodyPr rot="0"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78" name="矩形: 圆角 25"/>
          <p:cNvSpPr/>
          <p:nvPr/>
        </p:nvSpPr>
        <p:spPr>
          <a:xfrm>
            <a:off x="2419350" y="1413510"/>
            <a:ext cx="7440295" cy="511175"/>
          </a:xfrm>
          <a:prstGeom prst="roundRect">
            <a:avLst>
              <a:gd name="adj" fmla="val 0"/>
            </a:avLst>
          </a:prstGeom>
          <a:solidFill>
            <a:srgbClr val="3368FF"/>
          </a:solidFill>
          <a:ln>
            <a:noFill/>
          </a:ln>
          <a:effectLst>
            <a:outerShdw blurRad="50800" dist="38100" dir="2700000" algn="tl" rotWithShape="0">
              <a:srgbClr val="B3D4FE">
                <a:alpha val="40000"/>
              </a:srgbClr>
            </a:outerShdw>
          </a:effectLst>
        </p:spPr>
        <p:txBody>
          <a:bodyPr rot="0"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79" name="矩形: 圆角 26"/>
          <p:cNvSpPr/>
          <p:nvPr/>
        </p:nvSpPr>
        <p:spPr>
          <a:xfrm>
            <a:off x="572770" y="5848985"/>
            <a:ext cx="11132820" cy="511175"/>
          </a:xfrm>
          <a:prstGeom prst="roundRect">
            <a:avLst>
              <a:gd name="adj" fmla="val 8000"/>
            </a:avLst>
          </a:prstGeom>
          <a:solidFill>
            <a:srgbClr val="0042FF"/>
          </a:solidFill>
          <a:ln>
            <a:noFill/>
          </a:ln>
          <a:effectLst>
            <a:outerShdw blurRad="50800" dist="38100" dir="2700000" algn="tl" rotWithShape="0">
              <a:srgbClr val="3368FF">
                <a:alpha val="40000"/>
              </a:srgbClr>
            </a:outerShdw>
          </a:effectLst>
        </p:spPr>
        <p:style>
          <a:lnRef idx="0">
            <a:scrgbClr r="0" g="0" b="0"/>
          </a:lnRef>
          <a:fillRef idx="0">
            <a:scrgbClr r="0" g="0" b="0"/>
          </a:fillRef>
          <a:effectRef idx="0">
            <a:scrgbClr r="0" g="0" b="0"/>
          </a:effectRef>
          <a:fontRef idx="minor">
            <a:srgbClr val="FFFFFF"/>
          </a:fontRef>
        </p:style>
        <p:txBody>
          <a:bodyPr rot="0" spcFirstLastPara="0" vert="horz" wrap="square" lIns="0" tIns="0" rIns="0" bIns="0" numCol="1" spcCol="0" rtlCol="0" fromWordArt="0" anchor="ctr" anchorCtr="0" forceAA="0" compatLnSpc="1">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solidFill>
                <a:srgbClr val="FFFFFF"/>
              </a:solidFill>
              <a:latin typeface="微软雅黑"/>
              <a:ea typeface="微软雅黑"/>
              <a:cs typeface="微软雅黑"/>
            </a:endParaRPr>
          </a:p>
        </p:txBody>
      </p:sp>
      <p:sp>
        <p:nvSpPr>
          <p:cNvPr id="80" name="矩形: 圆角 27"/>
          <p:cNvSpPr/>
          <p:nvPr/>
        </p:nvSpPr>
        <p:spPr>
          <a:xfrm>
            <a:off x="10063480" y="1413510"/>
            <a:ext cx="1642110" cy="511175"/>
          </a:xfrm>
          <a:prstGeom prst="roundRect">
            <a:avLst>
              <a:gd name="adj" fmla="val 0"/>
            </a:avLst>
          </a:prstGeom>
          <a:solidFill>
            <a:srgbClr val="0042FF"/>
          </a:solidFill>
          <a:ln>
            <a:noFill/>
          </a:ln>
          <a:effectLst>
            <a:outerShdw blurRad="50800" dist="38100" dir="2700000" algn="tl" rotWithShape="0">
              <a:srgbClr val="3368FF">
                <a:alpha val="40000"/>
              </a:srgbClr>
            </a:outerShdw>
          </a:effectLst>
        </p:spPr>
        <p:txBody>
          <a:bodyPr rot="0" spcFirstLastPara="1" vert="horz" wrap="square" lIns="0" tIns="0" rIns="0" bIns="0" numCol="1" spcCol="0" rtlCol="0" fromWordArt="0" anchor="ctr" anchorCtr="0" forceAA="0" compatLnSpc="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83" name="任意多边形: 形状 28"/>
          <p:cNvSpPr/>
          <p:nvPr/>
        </p:nvSpPr>
        <p:spPr>
          <a:xfrm>
            <a:off x="2570480" y="2128520"/>
            <a:ext cx="1444625" cy="2044065"/>
          </a:xfrm>
          <a:custGeom>
            <a:avLst/>
            <a:gdLst>
              <a:gd name="connsiteX0" fmla="*/ 1295400 w 1346200"/>
              <a:gd name="connsiteY0" fmla="*/ 0 h 2012950"/>
              <a:gd name="connsiteX1" fmla="*/ 1346200 w 1346200"/>
              <a:gd name="connsiteY1" fmla="*/ 0 h 2012950"/>
              <a:gd name="connsiteX2" fmla="*/ 1346200 w 1346200"/>
              <a:gd name="connsiteY2" fmla="*/ 2012950 h 2012950"/>
              <a:gd name="connsiteX3" fmla="*/ 1295400 w 1346200"/>
              <a:gd name="connsiteY3" fmla="*/ 2012950 h 2012950"/>
              <a:gd name="connsiteX4" fmla="*/ 50800 w 1346200"/>
              <a:gd name="connsiteY4" fmla="*/ 2012950 h 2012950"/>
              <a:gd name="connsiteX5" fmla="*/ 0 w 1346200"/>
              <a:gd name="connsiteY5" fmla="*/ 2012950 h 2012950"/>
              <a:gd name="connsiteX6" fmla="*/ 0 w 1346200"/>
              <a:gd name="connsiteY6" fmla="*/ 0 h 2012950"/>
              <a:gd name="connsiteX7" fmla="*/ 50800 w 1346200"/>
              <a:gd name="connsiteY7" fmla="*/ 0 h 201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2012950">
                <a:moveTo>
                  <a:pt x="1295400" y="0"/>
                </a:moveTo>
                <a:cubicBezTo>
                  <a:pt x="1323456" y="0"/>
                  <a:pt x="1346200" y="0"/>
                  <a:pt x="1346200" y="0"/>
                </a:cubicBezTo>
                <a:lnTo>
                  <a:pt x="1346200" y="2012950"/>
                </a:lnTo>
                <a:cubicBezTo>
                  <a:pt x="1346200" y="2012950"/>
                  <a:pt x="1323456" y="2012950"/>
                  <a:pt x="1295400" y="2012950"/>
                </a:cubicBezTo>
                <a:lnTo>
                  <a:pt x="50800" y="2012950"/>
                </a:lnTo>
                <a:cubicBezTo>
                  <a:pt x="22744" y="2012950"/>
                  <a:pt x="0" y="2012950"/>
                  <a:pt x="0" y="2012950"/>
                </a:cubicBezTo>
                <a:lnTo>
                  <a:pt x="0" y="0"/>
                </a:lnTo>
                <a:cubicBezTo>
                  <a:pt x="0" y="0"/>
                  <a:pt x="22744" y="0"/>
                  <a:pt x="50800" y="0"/>
                </a:cubicBezTo>
                <a:close/>
              </a:path>
            </a:pathLst>
          </a:custGeom>
          <a:gradFill>
            <a:gsLst>
              <a:gs pos="81000">
                <a:srgbClr val="FFFFFF">
                  <a:alpha val="0"/>
                </a:srgbClr>
              </a:gs>
              <a:gs pos="0">
                <a:srgbClr val="FFFFFF">
                  <a:alpha val="100000"/>
                </a:srgbClr>
              </a:gs>
            </a:gsLst>
            <a:lin ang="16200000" scaled="0"/>
          </a:gradFill>
          <a:ln w="6350" cap="flat">
            <a:solidFill>
              <a:srgbClr val="B3D4FE">
                <a:alpha val="70000"/>
              </a:srgbClr>
            </a:solidFill>
            <a:custDash>
              <a:ds d="600000" sp="600000"/>
            </a:custDash>
            <a:miter/>
          </a:ln>
        </p:spPr>
        <p:txBody>
          <a:bodyPr rtlCol="0" anchor="ctr" lIns="0" rIns="0" tIns="0" bIns="0">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89" name="任意多边形: 形状 29"/>
          <p:cNvSpPr/>
          <p:nvPr/>
        </p:nvSpPr>
        <p:spPr>
          <a:xfrm>
            <a:off x="5417185" y="2128520"/>
            <a:ext cx="1444625" cy="2044065"/>
          </a:xfrm>
          <a:custGeom>
            <a:avLst/>
            <a:gdLst>
              <a:gd name="connsiteX0" fmla="*/ 1295400 w 1346200"/>
              <a:gd name="connsiteY0" fmla="*/ 0 h 1905000"/>
              <a:gd name="connsiteX1" fmla="*/ 1346200 w 1346200"/>
              <a:gd name="connsiteY1" fmla="*/ 0 h 1905000"/>
              <a:gd name="connsiteX2" fmla="*/ 1346200 w 1346200"/>
              <a:gd name="connsiteY2" fmla="*/ 1905000 h 1905000"/>
              <a:gd name="connsiteX3" fmla="*/ 1295400 w 1346200"/>
              <a:gd name="connsiteY3" fmla="*/ 1905000 h 1905000"/>
              <a:gd name="connsiteX4" fmla="*/ 50800 w 1346200"/>
              <a:gd name="connsiteY4" fmla="*/ 1905000 h 1905000"/>
              <a:gd name="connsiteX5" fmla="*/ 0 w 1346200"/>
              <a:gd name="connsiteY5" fmla="*/ 1905000 h 1905000"/>
              <a:gd name="connsiteX6" fmla="*/ 0 w 1346200"/>
              <a:gd name="connsiteY6" fmla="*/ 0 h 1905000"/>
              <a:gd name="connsiteX7" fmla="*/ 50800 w 1346200"/>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1905000">
                <a:moveTo>
                  <a:pt x="1295400" y="0"/>
                </a:moveTo>
                <a:cubicBezTo>
                  <a:pt x="1323456" y="0"/>
                  <a:pt x="1346200" y="0"/>
                  <a:pt x="1346200" y="0"/>
                </a:cubicBezTo>
                <a:lnTo>
                  <a:pt x="1346200" y="1905000"/>
                </a:lnTo>
                <a:cubicBezTo>
                  <a:pt x="1346200" y="1905000"/>
                  <a:pt x="1323456" y="1905000"/>
                  <a:pt x="1295400" y="1905000"/>
                </a:cubicBezTo>
                <a:lnTo>
                  <a:pt x="50800" y="1905000"/>
                </a:lnTo>
                <a:cubicBezTo>
                  <a:pt x="22744" y="1905000"/>
                  <a:pt x="0" y="1905000"/>
                  <a:pt x="0" y="1905000"/>
                </a:cubicBezTo>
                <a:lnTo>
                  <a:pt x="0" y="0"/>
                </a:lnTo>
                <a:cubicBezTo>
                  <a:pt x="0" y="0"/>
                  <a:pt x="22744" y="0"/>
                  <a:pt x="50800" y="0"/>
                </a:cubicBezTo>
                <a:close/>
              </a:path>
            </a:pathLst>
          </a:custGeom>
          <a:gradFill>
            <a:gsLst>
              <a:gs pos="81000">
                <a:srgbClr val="FFFFFF">
                  <a:alpha val="0"/>
                </a:srgbClr>
              </a:gs>
              <a:gs pos="0">
                <a:srgbClr val="FFFFFF">
                  <a:alpha val="100000"/>
                </a:srgbClr>
              </a:gs>
            </a:gsLst>
            <a:lin ang="16200000" scaled="0"/>
          </a:gradFill>
          <a:ln w="6350" cap="flat">
            <a:solidFill>
              <a:srgbClr val="B3D4FE">
                <a:alpha val="70000"/>
              </a:srgbClr>
            </a:solidFill>
            <a:custDash>
              <a:ds d="600000" sp="600000"/>
            </a:custDash>
            <a:miter/>
          </a:ln>
        </p:spPr>
        <p:txBody>
          <a:bodyPr rtlCol="0" anchor="ctr" lIns="0" rIns="0" tIns="0" bIns="0">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90" name="任意多边形: 形状 30"/>
          <p:cNvSpPr/>
          <p:nvPr/>
        </p:nvSpPr>
        <p:spPr>
          <a:xfrm>
            <a:off x="8281670" y="2128520"/>
            <a:ext cx="1444625" cy="2044065"/>
          </a:xfrm>
          <a:custGeom>
            <a:avLst/>
            <a:gdLst>
              <a:gd name="connsiteX0" fmla="*/ 1295400 w 1346200"/>
              <a:gd name="connsiteY0" fmla="*/ 0 h 1905000"/>
              <a:gd name="connsiteX1" fmla="*/ 1346200 w 1346200"/>
              <a:gd name="connsiteY1" fmla="*/ 0 h 1905000"/>
              <a:gd name="connsiteX2" fmla="*/ 1346200 w 1346200"/>
              <a:gd name="connsiteY2" fmla="*/ 1905000 h 1905000"/>
              <a:gd name="connsiteX3" fmla="*/ 1295400 w 1346200"/>
              <a:gd name="connsiteY3" fmla="*/ 1905000 h 1905000"/>
              <a:gd name="connsiteX4" fmla="*/ 50800 w 1346200"/>
              <a:gd name="connsiteY4" fmla="*/ 1905000 h 1905000"/>
              <a:gd name="connsiteX5" fmla="*/ 0 w 1346200"/>
              <a:gd name="connsiteY5" fmla="*/ 1905000 h 1905000"/>
              <a:gd name="connsiteX6" fmla="*/ 0 w 1346200"/>
              <a:gd name="connsiteY6" fmla="*/ 0 h 1905000"/>
              <a:gd name="connsiteX7" fmla="*/ 50800 w 1346200"/>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1905000">
                <a:moveTo>
                  <a:pt x="1295400" y="0"/>
                </a:moveTo>
                <a:cubicBezTo>
                  <a:pt x="1323456" y="0"/>
                  <a:pt x="1346200" y="0"/>
                  <a:pt x="1346200" y="0"/>
                </a:cubicBezTo>
                <a:lnTo>
                  <a:pt x="1346200" y="1905000"/>
                </a:lnTo>
                <a:cubicBezTo>
                  <a:pt x="1346200" y="1905000"/>
                  <a:pt x="1323456" y="1905000"/>
                  <a:pt x="1295400" y="1905000"/>
                </a:cubicBezTo>
                <a:lnTo>
                  <a:pt x="50800" y="1905000"/>
                </a:lnTo>
                <a:cubicBezTo>
                  <a:pt x="22744" y="1905000"/>
                  <a:pt x="0" y="1905000"/>
                  <a:pt x="0" y="1905000"/>
                </a:cubicBezTo>
                <a:lnTo>
                  <a:pt x="0" y="0"/>
                </a:lnTo>
                <a:cubicBezTo>
                  <a:pt x="0" y="0"/>
                  <a:pt x="22744" y="0"/>
                  <a:pt x="50800" y="0"/>
                </a:cubicBezTo>
                <a:close/>
              </a:path>
            </a:pathLst>
          </a:custGeom>
          <a:gradFill>
            <a:gsLst>
              <a:gs pos="81000">
                <a:srgbClr val="FFFFFF">
                  <a:alpha val="0"/>
                </a:srgbClr>
              </a:gs>
              <a:gs pos="0">
                <a:srgbClr val="FFFFFF">
                  <a:alpha val="100000"/>
                </a:srgbClr>
              </a:gs>
            </a:gsLst>
            <a:lin ang="16200000" scaled="0"/>
          </a:gradFill>
          <a:ln w="6350" cap="flat">
            <a:solidFill>
              <a:srgbClr val="B3D4FE">
                <a:alpha val="70000"/>
              </a:srgbClr>
            </a:solidFill>
            <a:custDash>
              <a:ds d="600000" sp="600000"/>
            </a:custDash>
            <a:miter/>
          </a:ln>
        </p:spPr>
        <p:txBody>
          <a:bodyPr rtlCol="0" anchor="ctr" lIns="0" rIns="0" tIns="0" bIns="0">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91" name="矩形: 圆角 31"/>
          <p:cNvSpPr/>
          <p:nvPr/>
        </p:nvSpPr>
        <p:spPr>
          <a:xfrm>
            <a:off x="2707005" y="253174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92" name="矩形: 圆角 32"/>
          <p:cNvSpPr/>
          <p:nvPr/>
        </p:nvSpPr>
        <p:spPr>
          <a:xfrm>
            <a:off x="5553710" y="258508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93" name="矩形: 圆角 33"/>
          <p:cNvSpPr/>
          <p:nvPr/>
        </p:nvSpPr>
        <p:spPr>
          <a:xfrm>
            <a:off x="8418195" y="258508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94" name="矩形: 圆角 34"/>
          <p:cNvSpPr/>
          <p:nvPr/>
        </p:nvSpPr>
        <p:spPr>
          <a:xfrm>
            <a:off x="2707005" y="2858770"/>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95" name="矩形: 圆角 35"/>
          <p:cNvSpPr/>
          <p:nvPr/>
        </p:nvSpPr>
        <p:spPr>
          <a:xfrm>
            <a:off x="5553710" y="2912110"/>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96" name="矩形: 圆角 36"/>
          <p:cNvSpPr/>
          <p:nvPr/>
        </p:nvSpPr>
        <p:spPr>
          <a:xfrm>
            <a:off x="8418195" y="2912110"/>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97" name="矩形: 圆角 37"/>
          <p:cNvSpPr/>
          <p:nvPr/>
        </p:nvSpPr>
        <p:spPr>
          <a:xfrm>
            <a:off x="2707005" y="318579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98" name="矩形: 圆角 38"/>
          <p:cNvSpPr/>
          <p:nvPr/>
        </p:nvSpPr>
        <p:spPr>
          <a:xfrm>
            <a:off x="5553710" y="323913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99" name="矩形: 圆角 39"/>
          <p:cNvSpPr/>
          <p:nvPr/>
        </p:nvSpPr>
        <p:spPr>
          <a:xfrm>
            <a:off x="8418195" y="323913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100" name="矩形: 圆角 40"/>
          <p:cNvSpPr/>
          <p:nvPr/>
        </p:nvSpPr>
        <p:spPr>
          <a:xfrm>
            <a:off x="2707005" y="3512820"/>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01" name="矩形: 圆角 41"/>
          <p:cNvSpPr/>
          <p:nvPr/>
        </p:nvSpPr>
        <p:spPr>
          <a:xfrm>
            <a:off x="2707005" y="383984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02" name="矩形: 圆角 42"/>
          <p:cNvSpPr/>
          <p:nvPr/>
        </p:nvSpPr>
        <p:spPr>
          <a:xfrm>
            <a:off x="5553710" y="3566160"/>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03" name="矩形: 圆角 43"/>
          <p:cNvSpPr/>
          <p:nvPr/>
        </p:nvSpPr>
        <p:spPr>
          <a:xfrm>
            <a:off x="5553710" y="389318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04" name="矩形: 圆角 44"/>
          <p:cNvSpPr/>
          <p:nvPr/>
        </p:nvSpPr>
        <p:spPr>
          <a:xfrm>
            <a:off x="8418195" y="3566160"/>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105" name="矩形: 圆角 45"/>
          <p:cNvSpPr/>
          <p:nvPr/>
        </p:nvSpPr>
        <p:spPr>
          <a:xfrm>
            <a:off x="8418195" y="3893185"/>
            <a:ext cx="1178560" cy="211455"/>
          </a:xfrm>
          <a:prstGeom prst="roundRect">
            <a:avLst>
              <a:gd name="adj" fmla="val 8000"/>
            </a:avLst>
          </a:prstGeom>
          <a:solidFill>
            <a:srgbClr val="FFFFFF"/>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106" name="任意多边形: 形状 46"/>
          <p:cNvSpPr/>
          <p:nvPr/>
        </p:nvSpPr>
        <p:spPr>
          <a:xfrm>
            <a:off x="4102100" y="3056255"/>
            <a:ext cx="265430" cy="188595"/>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rgbClr val="B3D4FE">
                  <a:alpha val="0"/>
                </a:srgbClr>
              </a:gs>
              <a:gs pos="84000">
                <a:srgbClr val="B3D4FE"/>
              </a:gs>
            </a:gsLst>
            <a:lin ang="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sz="1000">
              <a:solidFill>
                <a:srgbClr val="0042FF"/>
              </a:solidFill>
              <a:latin typeface="微软雅黑"/>
              <a:ea typeface="微软雅黑"/>
              <a:cs typeface="微软雅黑"/>
              <a:sym typeface="微软雅黑"/>
            </a:endParaRPr>
          </a:p>
        </p:txBody>
      </p:sp>
      <p:sp>
        <p:nvSpPr>
          <p:cNvPr id="107" name="任意多边形: 形状 47"/>
          <p:cNvSpPr/>
          <p:nvPr/>
        </p:nvSpPr>
        <p:spPr>
          <a:xfrm>
            <a:off x="6971030" y="3056255"/>
            <a:ext cx="265430" cy="188595"/>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rgbClr val="B3D4FE">
                  <a:alpha val="0"/>
                </a:srgbClr>
              </a:gs>
              <a:gs pos="84000">
                <a:srgbClr val="B3D4FE"/>
              </a:gs>
            </a:gsLst>
            <a:lin ang="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sz="1000">
              <a:solidFill>
                <a:srgbClr val="0042FF"/>
              </a:solidFill>
              <a:latin typeface="微软雅黑"/>
              <a:ea typeface="微软雅黑"/>
              <a:cs typeface="微软雅黑"/>
              <a:sym typeface="微软雅黑"/>
            </a:endParaRPr>
          </a:p>
        </p:txBody>
      </p:sp>
      <p:sp>
        <p:nvSpPr>
          <p:cNvPr id="108" name="矩形: 圆角 48"/>
          <p:cNvSpPr/>
          <p:nvPr/>
        </p:nvSpPr>
        <p:spPr>
          <a:xfrm>
            <a:off x="4504055" y="2128520"/>
            <a:ext cx="476885" cy="2044065"/>
          </a:xfrm>
          <a:prstGeom prst="roundRect">
            <a:avLst>
              <a:gd name="adj" fmla="val 8000"/>
            </a:avLst>
          </a:prstGeom>
          <a:solidFill>
            <a:srgbClr val="FFFFFF"/>
          </a:solidFill>
          <a:ln w="12700" cap="flat">
            <a:solidFill>
              <a:srgbClr val="B3D4FE"/>
            </a:solidFill>
            <a:custDash>
              <a:ds d="600000" sp="600000"/>
            </a:custDash>
            <a:miter/>
          </a:ln>
          <a:extLst>
            <a:ext uri="{909E8E84-426E-40DD-AFC4-6F175D3DCCD1}">
              <a14:hiddenFill xmlns:a14="http://schemas.microsoft.com/office/drawing/2010/main">
                <a:solidFill>
                  <a:srgbClr val="668EFF">
                    <a:alpha val="20000"/>
                  </a:srgbClr>
                </a:solidFill>
              </a14:hiddenFill>
            </a:ext>
          </a:extLst>
        </p:spPr>
        <p:txBody>
          <a:bodyPr rot="0" spcFirstLastPara="0" vert="horz" wrap="square" lIns="0" tIns="0" rIns="0" bIns="0" numCol="1" spcCol="0" rtlCol="0" fromWordArt="0" anchor="ctr" anchorCtr="0" forceAA="0" compatLnSpc="0">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109" name="矩形: 圆角 49"/>
          <p:cNvSpPr/>
          <p:nvPr/>
        </p:nvSpPr>
        <p:spPr>
          <a:xfrm>
            <a:off x="7332980" y="2128520"/>
            <a:ext cx="476885" cy="2044065"/>
          </a:xfrm>
          <a:prstGeom prst="roundRect">
            <a:avLst>
              <a:gd name="adj" fmla="val 8000"/>
            </a:avLst>
          </a:prstGeom>
          <a:solidFill>
            <a:srgbClr val="FFFFFF"/>
          </a:solidFill>
          <a:ln w="12700" cap="flat">
            <a:solidFill>
              <a:srgbClr val="B3D4FE"/>
            </a:solidFill>
            <a:custDash>
              <a:ds d="600000" sp="600000"/>
            </a:custDash>
            <a:miter/>
          </a:ln>
          <a:extLst>
            <a:ext uri="{909E8E84-426E-40DD-AFC4-6F175D3DCCD1}">
              <a14:hiddenFill xmlns:a14="http://schemas.microsoft.com/office/drawing/2010/main">
                <a:solidFill>
                  <a:srgbClr val="668EFF">
                    <a:alpha val="20000"/>
                  </a:srgbClr>
                </a:solidFill>
              </a14:hiddenFill>
            </a:ext>
          </a:extLst>
        </p:spPr>
        <p:txBody>
          <a:bodyPr rot="0" spcFirstLastPara="0" vert="horz" wrap="square" lIns="0" tIns="0" rIns="0" bIns="0" numCol="1" spcCol="0" rtlCol="0" fromWordArt="0" anchor="ctr" anchorCtr="0" forceAA="0" compatLnSpc="0">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110" name="任意多边形: 形状 50"/>
          <p:cNvSpPr/>
          <p:nvPr/>
        </p:nvSpPr>
        <p:spPr>
          <a:xfrm>
            <a:off x="5081905" y="3056255"/>
            <a:ext cx="265430" cy="188595"/>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rgbClr val="B3D4FE">
                  <a:alpha val="0"/>
                </a:srgbClr>
              </a:gs>
              <a:gs pos="84000">
                <a:srgbClr val="B3D4FE"/>
              </a:gs>
            </a:gsLst>
            <a:lin ang="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sz="1000">
              <a:solidFill>
                <a:srgbClr val="0042FF"/>
              </a:solidFill>
              <a:latin typeface="微软雅黑"/>
              <a:ea typeface="微软雅黑"/>
              <a:cs typeface="微软雅黑"/>
              <a:sym typeface="微软雅黑"/>
            </a:endParaRPr>
          </a:p>
        </p:txBody>
      </p:sp>
      <p:sp>
        <p:nvSpPr>
          <p:cNvPr id="111" name="任意多边形: 形状 51"/>
          <p:cNvSpPr/>
          <p:nvPr/>
        </p:nvSpPr>
        <p:spPr>
          <a:xfrm>
            <a:off x="7878445" y="3048635"/>
            <a:ext cx="265430" cy="188595"/>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rgbClr val="B3D4FE">
                  <a:alpha val="0"/>
                </a:srgbClr>
              </a:gs>
              <a:gs pos="84000">
                <a:srgbClr val="B3D4FE"/>
              </a:gs>
            </a:gsLst>
            <a:lin ang="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sz="1000">
              <a:solidFill>
                <a:srgbClr val="0042FF"/>
              </a:solidFill>
              <a:latin typeface="微软雅黑"/>
              <a:ea typeface="微软雅黑"/>
              <a:cs typeface="微软雅黑"/>
              <a:sym typeface="微软雅黑"/>
            </a:endParaRPr>
          </a:p>
        </p:txBody>
      </p:sp>
      <p:sp>
        <p:nvSpPr>
          <p:cNvPr id="112" name="矩形: 圆角 52"/>
          <p:cNvSpPr/>
          <p:nvPr/>
        </p:nvSpPr>
        <p:spPr>
          <a:xfrm>
            <a:off x="572770" y="5222240"/>
            <a:ext cx="1512570" cy="422275"/>
          </a:xfrm>
          <a:prstGeom prst="roundRect">
            <a:avLst>
              <a:gd name="adj" fmla="val 8000"/>
            </a:avLst>
          </a:prstGeom>
          <a:solidFill>
            <a:srgbClr val="E6E6E6"/>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13" name="矩形: 圆角 53"/>
          <p:cNvSpPr/>
          <p:nvPr/>
        </p:nvSpPr>
        <p:spPr>
          <a:xfrm>
            <a:off x="2174240" y="5222240"/>
            <a:ext cx="1512570" cy="422275"/>
          </a:xfrm>
          <a:prstGeom prst="roundRect">
            <a:avLst>
              <a:gd name="adj" fmla="val 8000"/>
            </a:avLst>
          </a:prstGeom>
          <a:solidFill>
            <a:srgbClr val="E6E6E6"/>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14" name="矩形: 圆角 54"/>
          <p:cNvSpPr/>
          <p:nvPr/>
        </p:nvSpPr>
        <p:spPr>
          <a:xfrm>
            <a:off x="3782060" y="5222240"/>
            <a:ext cx="1512570" cy="422275"/>
          </a:xfrm>
          <a:prstGeom prst="roundRect">
            <a:avLst>
              <a:gd name="adj" fmla="val 8000"/>
            </a:avLst>
          </a:prstGeom>
          <a:solidFill>
            <a:srgbClr val="E6E6E6"/>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15" name="矩形: 圆角 55"/>
          <p:cNvSpPr/>
          <p:nvPr/>
        </p:nvSpPr>
        <p:spPr>
          <a:xfrm>
            <a:off x="5382895" y="5222240"/>
            <a:ext cx="1512570" cy="422275"/>
          </a:xfrm>
          <a:prstGeom prst="roundRect">
            <a:avLst>
              <a:gd name="adj" fmla="val 8000"/>
            </a:avLst>
          </a:prstGeom>
          <a:solidFill>
            <a:srgbClr val="E6E6E6"/>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16" name="矩形: 圆角 56"/>
          <p:cNvSpPr/>
          <p:nvPr/>
        </p:nvSpPr>
        <p:spPr>
          <a:xfrm>
            <a:off x="6984365" y="5222240"/>
            <a:ext cx="1512570" cy="422275"/>
          </a:xfrm>
          <a:prstGeom prst="roundRect">
            <a:avLst>
              <a:gd name="adj" fmla="val 8000"/>
            </a:avLst>
          </a:prstGeom>
          <a:solidFill>
            <a:srgbClr val="E6E6E6"/>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17" name="矩形: 圆角 57"/>
          <p:cNvSpPr/>
          <p:nvPr/>
        </p:nvSpPr>
        <p:spPr>
          <a:xfrm>
            <a:off x="8592185" y="5222240"/>
            <a:ext cx="1512570" cy="422275"/>
          </a:xfrm>
          <a:prstGeom prst="roundRect">
            <a:avLst>
              <a:gd name="adj" fmla="val 8000"/>
            </a:avLst>
          </a:prstGeom>
          <a:solidFill>
            <a:srgbClr val="E6E6E6"/>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18" name="矩形: 圆角 58"/>
          <p:cNvSpPr/>
          <p:nvPr/>
        </p:nvSpPr>
        <p:spPr>
          <a:xfrm>
            <a:off x="10193020" y="5222240"/>
            <a:ext cx="1512570" cy="422275"/>
          </a:xfrm>
          <a:prstGeom prst="roundRect">
            <a:avLst>
              <a:gd name="adj" fmla="val 8000"/>
            </a:avLst>
          </a:prstGeom>
          <a:solidFill>
            <a:srgbClr val="E6E6E6"/>
          </a:solidFill>
          <a:ln>
            <a:solidFill>
              <a:srgbClr val="0042FF">
                <a:alpha val="50000"/>
              </a:srgbClr>
            </a:solidFill>
            <a:prstDash val="solid"/>
          </a:ln>
        </p:spPr>
        <p:style>
          <a:lnRef idx="1">
            <a:srgbClr val="0042FF"/>
          </a:lnRef>
          <a:fillRef idx="0">
            <a:srgbClr val="0042FF"/>
          </a:fillRef>
          <a:effectRef idx="0">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0042FF"/>
              </a:solidFill>
              <a:latin typeface="微软雅黑"/>
              <a:ea typeface="微软雅黑"/>
              <a:cs typeface="微软雅黑"/>
              <a:sym typeface="微软雅黑"/>
            </a:endParaRPr>
          </a:p>
        </p:txBody>
      </p:sp>
      <p:sp>
        <p:nvSpPr>
          <p:cNvPr id="119" name="矩形: 圆角 60"/>
          <p:cNvSpPr/>
          <p:nvPr/>
        </p:nvSpPr>
        <p:spPr>
          <a:xfrm>
            <a:off x="572770" y="4486275"/>
            <a:ext cx="11132820" cy="531495"/>
          </a:xfrm>
          <a:prstGeom prst="roundRect">
            <a:avLst>
              <a:gd name="adj" fmla="val 8000"/>
            </a:avLst>
          </a:prstGeom>
          <a:pattFill prst="wdDnDiag">
            <a:fgClr>
              <a:srgbClr val="FFFFFF"/>
            </a:fgClr>
            <a:bgClr>
              <a:srgbClr val="E6E6E6"/>
            </a:bgClr>
          </a:pattFill>
          <a:ln>
            <a:solidFill>
              <a:srgbClr val="668EFF">
                <a:alpha val="50000"/>
              </a:srgbClr>
            </a:solidFill>
          </a:ln>
        </p:spPr>
        <p:txBody>
          <a:bodyPr rot="0" spcFirstLastPara="1" vert="horz" wrap="square" lIns="0" tIns="0" rIns="0" bIns="0" numCol="1" spcCol="0" rtlCol="0" fromWordArt="0" anchor="ctr" anchorCtr="0" forceAA="0" compatLnSpc="0">
            <a:noAutofit/>
          </a:bodyPr>
          <a:lstStyle/>
          <a:p>
            <a:pPr lvl="0" algn="ctr">
              <a:spcBef>
                <a:spcPts val="0"/>
              </a:spcBef>
              <a:spcAft>
                <a:spcPts val="0"/>
              </a:spcAft>
              <a:buClr>
                <a:srgbClr val="383838"/>
              </a:buClr>
              <a:buSzPts val="1100"/>
              <a:buFont typeface="微软雅黑"/>
              <a:defRPr>
                <a:latin typeface="微软雅黑"/>
                <a:ea typeface="微软雅黑"/>
                <a:cs typeface="微软雅黑"/>
              </a:defRPr>
            </a:pPr>
            <a:endParaRPr sz="1100">
              <a:solidFill>
                <a:srgbClr val="383838"/>
              </a:solidFill>
              <a:latin typeface="微软雅黑"/>
              <a:ea typeface="微软雅黑"/>
              <a:cs typeface="微软雅黑"/>
              <a:sym typeface="微软雅黑"/>
            </a:endParaRPr>
          </a:p>
        </p:txBody>
      </p:sp>
      <p:sp>
        <p:nvSpPr>
          <p:cNvPr id="120" name="文本框 283"/>
          <p:cNvSpPr txBox="1"/>
          <p:nvPr/>
        </p:nvSpPr>
        <p:spPr>
          <a:xfrm>
            <a:off x="1036320" y="1561465"/>
            <a:ext cx="715645" cy="200025"/>
          </a:xfrm>
          <a:prstGeom prst="rect">
            <a:avLst/>
          </a:prstGeom>
          <a:noFill/>
        </p:spPr>
        <p:txBody>
          <a:bodyPr wrap="square" lIns="0" tIns="0" rIns="0" bIns="0" rtlCol="0">
            <a:sp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300" b="1" dirty="0">
                <a:solidFill>
                  <a:srgbClr val="FFFFFF"/>
                </a:solidFill>
                <a:effectLst/>
                <a:latin typeface="微软雅黑"/>
                <a:ea typeface="微软雅黑"/>
                <a:cs typeface="微软雅黑"/>
              </a:rPr>
              <a:t>个体成长</a:t>
            </a:r>
            <a:endParaRPr lang="zh-CN" altLang="en-US" sz="1300" b="1" dirty="0">
              <a:solidFill>
                <a:srgbClr val="FFFFFF"/>
              </a:solidFill>
              <a:effectLst/>
              <a:latin typeface="微软雅黑"/>
              <a:ea typeface="微软雅黑"/>
              <a:cs typeface="微软雅黑"/>
            </a:endParaRPr>
          </a:p>
        </p:txBody>
      </p:sp>
      <p:sp>
        <p:nvSpPr>
          <p:cNvPr id="121" name="文本框 284"/>
          <p:cNvSpPr txBox="1"/>
          <p:nvPr/>
        </p:nvSpPr>
        <p:spPr>
          <a:xfrm>
            <a:off x="4886960" y="1561465"/>
            <a:ext cx="2504440" cy="200025"/>
          </a:xfrm>
          <a:prstGeom prst="rect">
            <a:avLst/>
          </a:prstGeom>
          <a:noFill/>
        </p:spPr>
        <p:txBody>
          <a:bodyPr wrap="square" lIns="0" tIns="0" rIns="0" bIns="0" rtlCol="0">
            <a:sp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300" b="1" dirty="0">
                <a:solidFill>
                  <a:srgbClr val="FFFFFF"/>
                </a:solidFill>
                <a:effectLst/>
                <a:latin typeface="微软雅黑"/>
                <a:ea typeface="微软雅黑"/>
                <a:cs typeface="微软雅黑"/>
              </a:rPr>
              <a:t>去中心化组织目标协同管理系统</a:t>
            </a:r>
            <a:endParaRPr lang="zh-CN" altLang="en-US" sz="1300" b="1" dirty="0">
              <a:solidFill>
                <a:srgbClr val="FFFFFF"/>
              </a:solidFill>
              <a:effectLst/>
              <a:latin typeface="微软雅黑"/>
              <a:ea typeface="微软雅黑"/>
              <a:cs typeface="微软雅黑"/>
            </a:endParaRPr>
          </a:p>
        </p:txBody>
      </p:sp>
      <p:sp>
        <p:nvSpPr>
          <p:cNvPr id="122" name="文本框 286"/>
          <p:cNvSpPr txBox="1"/>
          <p:nvPr/>
        </p:nvSpPr>
        <p:spPr>
          <a:xfrm>
            <a:off x="10527030" y="1561465"/>
            <a:ext cx="715645" cy="200025"/>
          </a:xfrm>
          <a:prstGeom prst="rect">
            <a:avLst/>
          </a:prstGeom>
          <a:noFill/>
        </p:spPr>
        <p:txBody>
          <a:bodyPr wrap="square" lIns="0" tIns="0" rIns="0" bIns="0" rtlCol="0">
            <a:sp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sz="1300" b="1" dirty="0">
                <a:solidFill>
                  <a:srgbClr val="FFFFFF"/>
                </a:solidFill>
                <a:effectLst/>
                <a:latin typeface="微软雅黑"/>
                <a:ea typeface="微软雅黑"/>
                <a:cs typeface="微软雅黑"/>
              </a:rPr>
              <a:t>企业成长</a:t>
            </a:r>
            <a:endParaRPr lang="zh-CN" altLang="en-US" sz="1300" b="1" dirty="0">
              <a:solidFill>
                <a:srgbClr val="FFFFFF"/>
              </a:solidFill>
              <a:effectLst/>
              <a:latin typeface="微软雅黑"/>
              <a:ea typeface="微软雅黑"/>
              <a:cs typeface="微软雅黑"/>
            </a:endParaRPr>
          </a:p>
        </p:txBody>
      </p:sp>
      <p:sp>
        <p:nvSpPr>
          <p:cNvPr id="123" name="文本框 287"/>
          <p:cNvSpPr txBox="1"/>
          <p:nvPr/>
        </p:nvSpPr>
        <p:spPr>
          <a:xfrm>
            <a:off x="3863340" y="5996940"/>
            <a:ext cx="4013200" cy="276860"/>
          </a:xfrm>
          <a:prstGeom prst="rect">
            <a:avLst/>
          </a:prstGeom>
          <a:noFill/>
        </p:spPr>
        <p:txBody>
          <a:bodyPr wrap="square" lIns="0" tIns="0" rIns="0" bIns="0" rtlCol="0">
            <a:sp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altLang="en-US" b="1" dirty="0">
                <a:solidFill>
                  <a:srgbClr val="FFFFFF"/>
                </a:solidFill>
                <a:effectLst/>
                <a:latin typeface="微软雅黑"/>
                <a:ea typeface="微软雅黑"/>
                <a:cs typeface="微软雅黑"/>
              </a:rPr>
              <a:t>去中心化组织目标协同管理系统</a:t>
            </a:r>
            <a:endParaRPr lang="zh-CN" altLang="en-US" b="1" dirty="0">
              <a:solidFill>
                <a:srgbClr val="FFFFFF"/>
              </a:solidFill>
              <a:effectLst/>
              <a:latin typeface="微软雅黑"/>
              <a:ea typeface="微软雅黑"/>
              <a:cs typeface="微软雅黑"/>
            </a:endParaRPr>
          </a:p>
        </p:txBody>
      </p:sp>
      <p:sp>
        <p:nvSpPr>
          <p:cNvPr id="124" name="文本框 288"/>
          <p:cNvSpPr txBox="1"/>
          <p:nvPr/>
        </p:nvSpPr>
        <p:spPr>
          <a:xfrm>
            <a:off x="4342765" y="4625340"/>
            <a:ext cx="3435350" cy="253365"/>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a:lnSpc>
                <a:spcPct val="110000"/>
              </a:lnSpc>
              <a:defRPr sz="1000">
                <a:solidFill>
                  <a:srgbClr val="0042FF"/>
                </a:solidFill>
                <a:effectLst/>
                <a:latin typeface="微软雅黑"/>
                <a:ea typeface="微软雅黑"/>
                <a:cs typeface="微软雅黑"/>
              </a:defRPr>
            </a:lvl1pPr>
          </a:lstStyle>
          <a:p>
            <a:pPr>
              <a:defRPr>
                <a:latin typeface="微软雅黑"/>
                <a:ea typeface="微软雅黑"/>
                <a:cs typeface="微软雅黑"/>
              </a:defRPr>
            </a:pPr>
            <a:r>
              <a:rPr lang="zh-CN" altLang="en-US" sz="1500" b="1" dirty="0">
                <a:solidFill>
                  <a:srgbClr val="0042FF"/>
                </a:solidFill>
                <a:latin typeface="微软雅黑"/>
                <a:ea typeface="微软雅黑"/>
                <a:cs typeface="微软雅黑"/>
              </a:rPr>
              <a:t>大数据基础设施（计算和储存平台）</a:t>
            </a:r>
            <a:endParaRPr lang="zh-CN" altLang="en-US" sz="1500" b="1" dirty="0">
              <a:solidFill>
                <a:srgbClr val="0042FF"/>
              </a:solidFill>
              <a:latin typeface="微软雅黑"/>
              <a:ea typeface="微软雅黑"/>
              <a:cs typeface="微软雅黑"/>
            </a:endParaRPr>
          </a:p>
        </p:txBody>
      </p:sp>
      <p:sp>
        <p:nvSpPr>
          <p:cNvPr id="125" name="文本框 289"/>
          <p:cNvSpPr txBox="1"/>
          <p:nvPr/>
        </p:nvSpPr>
        <p:spPr>
          <a:xfrm>
            <a:off x="1115060" y="2223770"/>
            <a:ext cx="550545"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共振对话</a:t>
            </a:r>
            <a:endParaRPr lang="zh-CN" altLang="en-US" sz="1000" dirty="0">
              <a:solidFill>
                <a:srgbClr val="383838"/>
              </a:solidFill>
              <a:effectLst/>
              <a:latin typeface="微软雅黑"/>
              <a:ea typeface="微软雅黑"/>
              <a:cs typeface="微软雅黑"/>
            </a:endParaRPr>
          </a:p>
        </p:txBody>
      </p:sp>
      <p:sp>
        <p:nvSpPr>
          <p:cNvPr id="126" name="文本框 290"/>
          <p:cNvSpPr txBox="1"/>
          <p:nvPr/>
        </p:nvSpPr>
        <p:spPr>
          <a:xfrm>
            <a:off x="1115060" y="2755265"/>
            <a:ext cx="550545"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协同挑战</a:t>
            </a:r>
            <a:endParaRPr lang="zh-CN" altLang="en-US" sz="1000" dirty="0">
              <a:solidFill>
                <a:srgbClr val="383838"/>
              </a:solidFill>
              <a:effectLst/>
              <a:latin typeface="微软雅黑"/>
              <a:ea typeface="微软雅黑"/>
              <a:cs typeface="微软雅黑"/>
            </a:endParaRPr>
          </a:p>
        </p:txBody>
      </p:sp>
      <p:sp>
        <p:nvSpPr>
          <p:cNvPr id="127" name="文本框 291"/>
          <p:cNvSpPr txBox="1"/>
          <p:nvPr/>
        </p:nvSpPr>
        <p:spPr>
          <a:xfrm>
            <a:off x="1115060" y="3286760"/>
            <a:ext cx="550545"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团队赋能</a:t>
            </a:r>
            <a:endParaRPr lang="zh-CN" altLang="en-US" sz="1000" dirty="0">
              <a:solidFill>
                <a:srgbClr val="383838"/>
              </a:solidFill>
              <a:effectLst/>
              <a:latin typeface="微软雅黑"/>
              <a:ea typeface="微软雅黑"/>
              <a:cs typeface="微软雅黑"/>
            </a:endParaRPr>
          </a:p>
        </p:txBody>
      </p:sp>
      <p:sp>
        <p:nvSpPr>
          <p:cNvPr id="128" name="文本框 292"/>
          <p:cNvSpPr txBox="1"/>
          <p:nvPr/>
        </p:nvSpPr>
        <p:spPr>
          <a:xfrm>
            <a:off x="1115060" y="3818255"/>
            <a:ext cx="550545"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肯定认可</a:t>
            </a:r>
            <a:endParaRPr lang="zh-CN" altLang="en-US" sz="1000" dirty="0">
              <a:solidFill>
                <a:srgbClr val="383838"/>
              </a:solidFill>
              <a:effectLst/>
              <a:latin typeface="微软雅黑"/>
              <a:ea typeface="微软雅黑"/>
              <a:cs typeface="微软雅黑"/>
            </a:endParaRPr>
          </a:p>
        </p:txBody>
      </p:sp>
      <p:sp>
        <p:nvSpPr>
          <p:cNvPr id="129" name="文本框 293"/>
          <p:cNvSpPr txBox="1"/>
          <p:nvPr/>
        </p:nvSpPr>
        <p:spPr>
          <a:xfrm>
            <a:off x="10674985" y="2223770"/>
            <a:ext cx="412750"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去中心</a:t>
            </a:r>
            <a:endParaRPr lang="zh-CN" altLang="en-US" sz="1000" dirty="0">
              <a:solidFill>
                <a:srgbClr val="383838"/>
              </a:solidFill>
              <a:effectLst/>
              <a:latin typeface="微软雅黑"/>
              <a:ea typeface="微软雅黑"/>
              <a:cs typeface="微软雅黑"/>
            </a:endParaRPr>
          </a:p>
        </p:txBody>
      </p:sp>
      <p:sp>
        <p:nvSpPr>
          <p:cNvPr id="130" name="文本框 294"/>
          <p:cNvSpPr txBox="1"/>
          <p:nvPr/>
        </p:nvSpPr>
        <p:spPr>
          <a:xfrm>
            <a:off x="10605770" y="2755265"/>
            <a:ext cx="550545"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目标协同</a:t>
            </a:r>
            <a:endParaRPr lang="zh-CN" altLang="en-US" sz="1000" dirty="0">
              <a:solidFill>
                <a:srgbClr val="383838"/>
              </a:solidFill>
              <a:effectLst/>
              <a:latin typeface="微软雅黑"/>
              <a:ea typeface="微软雅黑"/>
              <a:cs typeface="微软雅黑"/>
            </a:endParaRPr>
          </a:p>
        </p:txBody>
      </p:sp>
      <p:sp>
        <p:nvSpPr>
          <p:cNvPr id="131" name="文本框 295"/>
          <p:cNvSpPr txBox="1"/>
          <p:nvPr/>
        </p:nvSpPr>
        <p:spPr>
          <a:xfrm>
            <a:off x="10605770" y="3286760"/>
            <a:ext cx="550545"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信息同频</a:t>
            </a:r>
            <a:endParaRPr lang="zh-CN" altLang="en-US" sz="1000" dirty="0">
              <a:solidFill>
                <a:srgbClr val="383838"/>
              </a:solidFill>
              <a:effectLst/>
              <a:latin typeface="微软雅黑"/>
              <a:ea typeface="微软雅黑"/>
              <a:cs typeface="微软雅黑"/>
            </a:endParaRPr>
          </a:p>
        </p:txBody>
      </p:sp>
      <p:sp>
        <p:nvSpPr>
          <p:cNvPr id="132" name="文本框 296"/>
          <p:cNvSpPr txBox="1"/>
          <p:nvPr/>
        </p:nvSpPr>
        <p:spPr>
          <a:xfrm>
            <a:off x="10605770" y="3818255"/>
            <a:ext cx="550545"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成果展现</a:t>
            </a:r>
            <a:endParaRPr lang="zh-CN" altLang="en-US" sz="1000" dirty="0">
              <a:solidFill>
                <a:srgbClr val="383838"/>
              </a:solidFill>
              <a:effectLst/>
              <a:latin typeface="微软雅黑"/>
              <a:ea typeface="微软雅黑"/>
              <a:cs typeface="微软雅黑"/>
            </a:endParaRPr>
          </a:p>
        </p:txBody>
      </p:sp>
      <p:sp>
        <p:nvSpPr>
          <p:cNvPr id="143" name="文本框 307"/>
          <p:cNvSpPr txBox="1"/>
          <p:nvPr/>
        </p:nvSpPr>
        <p:spPr>
          <a:xfrm>
            <a:off x="3103880" y="2577465"/>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目标对齐</a:t>
            </a:r>
            <a:endParaRPr lang="zh-CN" altLang="en-US" sz="1000" dirty="0">
              <a:solidFill>
                <a:srgbClr val="383838"/>
              </a:solidFill>
              <a:effectLst/>
              <a:latin typeface="微软雅黑"/>
              <a:ea typeface="微软雅黑"/>
              <a:cs typeface="微软雅黑"/>
            </a:endParaRPr>
          </a:p>
        </p:txBody>
      </p:sp>
      <p:sp>
        <p:nvSpPr>
          <p:cNvPr id="144" name="文本框 308"/>
          <p:cNvSpPr txBox="1"/>
          <p:nvPr/>
        </p:nvSpPr>
        <p:spPr>
          <a:xfrm>
            <a:off x="3103880" y="2904490"/>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同步协同</a:t>
            </a:r>
            <a:endParaRPr lang="zh-CN" altLang="en-US" sz="1000" dirty="0">
              <a:solidFill>
                <a:srgbClr val="383838"/>
              </a:solidFill>
              <a:effectLst/>
              <a:latin typeface="微软雅黑"/>
              <a:ea typeface="微软雅黑"/>
              <a:cs typeface="微软雅黑"/>
            </a:endParaRPr>
          </a:p>
        </p:txBody>
      </p:sp>
      <p:sp>
        <p:nvSpPr>
          <p:cNvPr id="145" name="文本框 309"/>
          <p:cNvSpPr txBox="1"/>
          <p:nvPr/>
        </p:nvSpPr>
        <p:spPr>
          <a:xfrm>
            <a:off x="3103880" y="3232150"/>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动态沟通</a:t>
            </a:r>
            <a:endParaRPr lang="zh-CN" altLang="en-US" sz="1000" dirty="0">
              <a:solidFill>
                <a:srgbClr val="383838"/>
              </a:solidFill>
              <a:effectLst/>
              <a:latin typeface="微软雅黑"/>
              <a:ea typeface="微软雅黑"/>
              <a:cs typeface="微软雅黑"/>
            </a:endParaRPr>
          </a:p>
        </p:txBody>
      </p:sp>
      <p:sp>
        <p:nvSpPr>
          <p:cNvPr id="146" name="文本框 310"/>
          <p:cNvSpPr txBox="1"/>
          <p:nvPr/>
        </p:nvSpPr>
        <p:spPr>
          <a:xfrm>
            <a:off x="3103880" y="3559175"/>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执行优化</a:t>
            </a:r>
            <a:endParaRPr lang="zh-CN" altLang="en-US" sz="1000" dirty="0">
              <a:solidFill>
                <a:srgbClr val="383838"/>
              </a:solidFill>
              <a:effectLst/>
              <a:latin typeface="微软雅黑"/>
              <a:ea typeface="微软雅黑"/>
              <a:cs typeface="微软雅黑"/>
            </a:endParaRPr>
          </a:p>
        </p:txBody>
      </p:sp>
      <p:sp>
        <p:nvSpPr>
          <p:cNvPr id="147" name="文本框 311"/>
          <p:cNvSpPr txBox="1"/>
          <p:nvPr/>
        </p:nvSpPr>
        <p:spPr>
          <a:xfrm>
            <a:off x="3103880" y="3886200"/>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结果反馈</a:t>
            </a:r>
            <a:endParaRPr lang="zh-CN" altLang="en-US" sz="1000" dirty="0">
              <a:solidFill>
                <a:srgbClr val="383838"/>
              </a:solidFill>
              <a:effectLst/>
              <a:latin typeface="微软雅黑"/>
              <a:ea typeface="微软雅黑"/>
              <a:cs typeface="微软雅黑"/>
            </a:endParaRPr>
          </a:p>
        </p:txBody>
      </p:sp>
      <p:sp>
        <p:nvSpPr>
          <p:cNvPr id="148" name="文本框 312"/>
          <p:cNvSpPr txBox="1"/>
          <p:nvPr/>
        </p:nvSpPr>
        <p:spPr>
          <a:xfrm>
            <a:off x="5853430" y="2630805"/>
            <a:ext cx="57785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关键目标</a:t>
            </a:r>
            <a:r>
              <a:rPr lang="en-US" altLang="zh-CN" sz="1000" dirty="0">
                <a:solidFill>
                  <a:srgbClr val="383838"/>
                </a:solidFill>
                <a:effectLst/>
                <a:latin typeface="微软雅黑"/>
                <a:ea typeface="微软雅黑"/>
                <a:cs typeface="微软雅黑"/>
              </a:rPr>
              <a:t>KR1</a:t>
            </a:r>
            <a:endParaRPr lang="en-US" altLang="zh-CN" sz="1000" dirty="0">
              <a:solidFill>
                <a:srgbClr val="383838"/>
              </a:solidFill>
              <a:effectLst/>
              <a:latin typeface="微软雅黑"/>
              <a:ea typeface="微软雅黑"/>
              <a:cs typeface="微软雅黑"/>
            </a:endParaRPr>
          </a:p>
        </p:txBody>
      </p:sp>
      <p:sp>
        <p:nvSpPr>
          <p:cNvPr id="149" name="文本框 313"/>
          <p:cNvSpPr txBox="1"/>
          <p:nvPr/>
        </p:nvSpPr>
        <p:spPr>
          <a:xfrm>
            <a:off x="5853430" y="2957830"/>
            <a:ext cx="57785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关键目标</a:t>
            </a:r>
            <a:r>
              <a:rPr lang="en-US" altLang="zh-CN" sz="1000" dirty="0">
                <a:solidFill>
                  <a:srgbClr val="383838"/>
                </a:solidFill>
                <a:effectLst/>
                <a:latin typeface="微软雅黑"/>
                <a:ea typeface="微软雅黑"/>
                <a:cs typeface="微软雅黑"/>
              </a:rPr>
              <a:t>KR2</a:t>
            </a:r>
            <a:endParaRPr lang="en-US" altLang="zh-CN" sz="1000" dirty="0">
              <a:solidFill>
                <a:srgbClr val="383838"/>
              </a:solidFill>
              <a:effectLst/>
              <a:latin typeface="微软雅黑"/>
              <a:ea typeface="微软雅黑"/>
              <a:cs typeface="微软雅黑"/>
            </a:endParaRPr>
          </a:p>
        </p:txBody>
      </p:sp>
      <p:sp>
        <p:nvSpPr>
          <p:cNvPr id="150" name="文本框 314"/>
          <p:cNvSpPr txBox="1"/>
          <p:nvPr/>
        </p:nvSpPr>
        <p:spPr>
          <a:xfrm>
            <a:off x="5853430" y="3285490"/>
            <a:ext cx="57785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关键目标</a:t>
            </a:r>
            <a:r>
              <a:rPr lang="en-US" altLang="zh-CN" sz="1000" dirty="0">
                <a:solidFill>
                  <a:srgbClr val="383838"/>
                </a:solidFill>
                <a:effectLst/>
                <a:latin typeface="微软雅黑"/>
                <a:ea typeface="微软雅黑"/>
                <a:cs typeface="微软雅黑"/>
              </a:rPr>
              <a:t>KR3</a:t>
            </a:r>
            <a:endParaRPr lang="en-US" altLang="zh-CN" sz="1000" dirty="0">
              <a:solidFill>
                <a:srgbClr val="383838"/>
              </a:solidFill>
              <a:effectLst/>
              <a:latin typeface="微软雅黑"/>
              <a:ea typeface="微软雅黑"/>
              <a:cs typeface="微软雅黑"/>
            </a:endParaRPr>
          </a:p>
        </p:txBody>
      </p:sp>
      <p:sp>
        <p:nvSpPr>
          <p:cNvPr id="151" name="文本框 315"/>
          <p:cNvSpPr txBox="1"/>
          <p:nvPr/>
        </p:nvSpPr>
        <p:spPr>
          <a:xfrm>
            <a:off x="5853430" y="3612515"/>
            <a:ext cx="57785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关键目标</a:t>
            </a:r>
            <a:r>
              <a:rPr lang="en-US" altLang="zh-CN" sz="1000" dirty="0">
                <a:solidFill>
                  <a:srgbClr val="383838"/>
                </a:solidFill>
                <a:effectLst/>
                <a:latin typeface="微软雅黑"/>
                <a:ea typeface="微软雅黑"/>
                <a:cs typeface="微软雅黑"/>
              </a:rPr>
              <a:t>KR4</a:t>
            </a:r>
            <a:endParaRPr lang="en-US" altLang="zh-CN" sz="1000" dirty="0">
              <a:solidFill>
                <a:srgbClr val="383838"/>
              </a:solidFill>
              <a:effectLst/>
              <a:latin typeface="微软雅黑"/>
              <a:ea typeface="微软雅黑"/>
              <a:cs typeface="微软雅黑"/>
            </a:endParaRPr>
          </a:p>
        </p:txBody>
      </p:sp>
      <p:sp>
        <p:nvSpPr>
          <p:cNvPr id="152" name="文本框 316"/>
          <p:cNvSpPr txBox="1"/>
          <p:nvPr/>
        </p:nvSpPr>
        <p:spPr>
          <a:xfrm>
            <a:off x="5853430" y="3939540"/>
            <a:ext cx="577850" cy="313690"/>
          </a:xfrm>
          <a:prstGeom prst="rect">
            <a:avLst/>
          </a:prstGeom>
          <a:noFill/>
          <a:effectLst/>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关键目标</a:t>
            </a:r>
            <a:r>
              <a:rPr lang="en-US" altLang="zh-CN" sz="1000" dirty="0">
                <a:solidFill>
                  <a:srgbClr val="383838"/>
                </a:solidFill>
                <a:effectLst/>
                <a:latin typeface="微软雅黑"/>
                <a:ea typeface="微软雅黑"/>
                <a:cs typeface="微软雅黑"/>
              </a:rPr>
              <a:t>KR5</a:t>
            </a:r>
            <a:endParaRPr lang="en-US" altLang="zh-CN" sz="1000" dirty="0">
              <a:solidFill>
                <a:srgbClr val="383838"/>
              </a:solidFill>
              <a:effectLst/>
              <a:latin typeface="微软雅黑"/>
              <a:ea typeface="微软雅黑"/>
              <a:cs typeface="微软雅黑"/>
            </a:endParaRPr>
          </a:p>
        </p:txBody>
      </p:sp>
      <p:sp>
        <p:nvSpPr>
          <p:cNvPr id="153" name="文本框 317"/>
          <p:cNvSpPr txBox="1"/>
          <p:nvPr/>
        </p:nvSpPr>
        <p:spPr>
          <a:xfrm>
            <a:off x="8815070" y="2630805"/>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目标拆解</a:t>
            </a:r>
            <a:endParaRPr lang="zh-CN" altLang="en-US" sz="1000" dirty="0">
              <a:solidFill>
                <a:srgbClr val="383838"/>
              </a:solidFill>
              <a:effectLst/>
              <a:latin typeface="微软雅黑"/>
              <a:ea typeface="微软雅黑"/>
              <a:cs typeface="微软雅黑"/>
            </a:endParaRPr>
          </a:p>
        </p:txBody>
      </p:sp>
      <p:sp>
        <p:nvSpPr>
          <p:cNvPr id="154" name="文本框 318"/>
          <p:cNvSpPr txBox="1"/>
          <p:nvPr/>
        </p:nvSpPr>
        <p:spPr>
          <a:xfrm>
            <a:off x="8815070" y="2957830"/>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进展跟踪</a:t>
            </a:r>
            <a:endParaRPr lang="zh-CN" altLang="en-US" sz="1000" dirty="0">
              <a:solidFill>
                <a:srgbClr val="383838"/>
              </a:solidFill>
              <a:effectLst/>
              <a:latin typeface="微软雅黑"/>
              <a:ea typeface="微软雅黑"/>
              <a:cs typeface="微软雅黑"/>
            </a:endParaRPr>
          </a:p>
        </p:txBody>
      </p:sp>
      <p:sp>
        <p:nvSpPr>
          <p:cNvPr id="155" name="文本框 319"/>
          <p:cNvSpPr txBox="1"/>
          <p:nvPr/>
        </p:nvSpPr>
        <p:spPr>
          <a:xfrm>
            <a:off x="8815070" y="3285490"/>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同频调整</a:t>
            </a:r>
            <a:endParaRPr lang="zh-CN" altLang="en-US" sz="1000" dirty="0">
              <a:solidFill>
                <a:srgbClr val="383838"/>
              </a:solidFill>
              <a:effectLst/>
              <a:latin typeface="微软雅黑"/>
              <a:ea typeface="微软雅黑"/>
              <a:cs typeface="微软雅黑"/>
            </a:endParaRPr>
          </a:p>
        </p:txBody>
      </p:sp>
      <p:sp>
        <p:nvSpPr>
          <p:cNvPr id="156" name="文本框 320"/>
          <p:cNvSpPr txBox="1"/>
          <p:nvPr/>
        </p:nvSpPr>
        <p:spPr>
          <a:xfrm>
            <a:off x="8815070" y="3612515"/>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执行优化</a:t>
            </a:r>
            <a:endParaRPr lang="zh-CN" altLang="en-US" sz="1000" dirty="0">
              <a:solidFill>
                <a:srgbClr val="383838"/>
              </a:solidFill>
              <a:effectLst/>
              <a:latin typeface="微软雅黑"/>
              <a:ea typeface="微软雅黑"/>
              <a:cs typeface="微软雅黑"/>
            </a:endParaRPr>
          </a:p>
        </p:txBody>
      </p:sp>
      <p:sp>
        <p:nvSpPr>
          <p:cNvPr id="157" name="文本框 321"/>
          <p:cNvSpPr txBox="1"/>
          <p:nvPr/>
        </p:nvSpPr>
        <p:spPr>
          <a:xfrm>
            <a:off x="8815070" y="3939540"/>
            <a:ext cx="384810" cy="313690"/>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结果反馈</a:t>
            </a:r>
            <a:endParaRPr lang="zh-CN" altLang="en-US" sz="1000" dirty="0">
              <a:solidFill>
                <a:srgbClr val="383838"/>
              </a:solidFill>
              <a:effectLst/>
              <a:latin typeface="微软雅黑"/>
              <a:ea typeface="微软雅黑"/>
              <a:cs typeface="微软雅黑"/>
            </a:endParaRPr>
          </a:p>
        </p:txBody>
      </p:sp>
      <p:sp>
        <p:nvSpPr>
          <p:cNvPr id="158" name="文本框 323"/>
          <p:cNvSpPr txBox="1"/>
          <p:nvPr/>
        </p:nvSpPr>
        <p:spPr>
          <a:xfrm>
            <a:off x="4603750" y="2919730"/>
            <a:ext cx="278765" cy="461645"/>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500" b="1" dirty="0">
                <a:solidFill>
                  <a:srgbClr val="0042FF"/>
                </a:solidFill>
                <a:effectLst/>
                <a:latin typeface="微软雅黑"/>
                <a:ea typeface="微软雅黑"/>
                <a:cs typeface="微软雅黑"/>
              </a:rPr>
              <a:t>目标</a:t>
            </a:r>
            <a:endParaRPr lang="zh-CN" altLang="en-US" sz="1500" b="1" dirty="0">
              <a:solidFill>
                <a:srgbClr val="0042FF"/>
              </a:solidFill>
              <a:effectLst/>
              <a:latin typeface="微软雅黑"/>
              <a:ea typeface="微软雅黑"/>
              <a:cs typeface="微软雅黑"/>
            </a:endParaRPr>
          </a:p>
        </p:txBody>
      </p:sp>
      <p:sp>
        <p:nvSpPr>
          <p:cNvPr id="159" name="文本框 324"/>
          <p:cNvSpPr txBox="1"/>
          <p:nvPr/>
        </p:nvSpPr>
        <p:spPr>
          <a:xfrm>
            <a:off x="7432675" y="2919730"/>
            <a:ext cx="278765" cy="461645"/>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500" b="1" dirty="0">
                <a:solidFill>
                  <a:srgbClr val="0042FF"/>
                </a:solidFill>
                <a:effectLst/>
                <a:latin typeface="微软雅黑"/>
                <a:ea typeface="微软雅黑"/>
                <a:cs typeface="微软雅黑"/>
              </a:rPr>
              <a:t>目标</a:t>
            </a:r>
            <a:endParaRPr lang="zh-CN" altLang="en-US" sz="1500" b="1" dirty="0">
              <a:solidFill>
                <a:srgbClr val="0042FF"/>
              </a:solidFill>
              <a:effectLst/>
              <a:latin typeface="微软雅黑"/>
              <a:ea typeface="微软雅黑"/>
              <a:cs typeface="微软雅黑"/>
            </a:endParaRPr>
          </a:p>
        </p:txBody>
      </p:sp>
      <p:pic>
        <p:nvPicPr>
          <p:cNvPr id="4" name="图片 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文本框 297"/>
          <p:cNvSpPr txBox="1"/>
          <p:nvPr/>
        </p:nvSpPr>
        <p:spPr>
          <a:xfrm>
            <a:off x="930275" y="5341303"/>
            <a:ext cx="797560" cy="18415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dirty="0">
                <a:solidFill>
                  <a:srgbClr val="383838"/>
                </a:solidFill>
                <a:effectLst/>
                <a:latin typeface="微软雅黑"/>
                <a:ea typeface="微软雅黑"/>
                <a:cs typeface="微软雅黑"/>
              </a:rPr>
              <a:t>目标驱动</a:t>
            </a:r>
            <a:endParaRPr lang="zh-CN" altLang="en-US" sz="1200" dirty="0">
              <a:solidFill>
                <a:srgbClr val="383838"/>
              </a:solidFill>
              <a:effectLst/>
              <a:latin typeface="微软雅黑"/>
              <a:ea typeface="微软雅黑"/>
              <a:cs typeface="微软雅黑"/>
            </a:endParaRPr>
          </a:p>
        </p:txBody>
      </p:sp>
      <p:sp>
        <p:nvSpPr>
          <p:cNvPr id="3" name="文本框 298"/>
          <p:cNvSpPr txBox="1"/>
          <p:nvPr/>
        </p:nvSpPr>
        <p:spPr>
          <a:xfrm>
            <a:off x="2561908" y="5341303"/>
            <a:ext cx="737235" cy="18415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dirty="0">
                <a:solidFill>
                  <a:srgbClr val="383838"/>
                </a:solidFill>
                <a:effectLst/>
                <a:latin typeface="微软雅黑"/>
                <a:ea typeface="微软雅黑"/>
                <a:cs typeface="微软雅黑"/>
              </a:rPr>
              <a:t>快速反馈</a:t>
            </a:r>
            <a:endParaRPr lang="zh-CN" altLang="en-US" sz="1200" dirty="0">
              <a:solidFill>
                <a:srgbClr val="383838"/>
              </a:solidFill>
              <a:effectLst/>
              <a:latin typeface="微软雅黑"/>
              <a:ea typeface="微软雅黑"/>
              <a:cs typeface="微软雅黑"/>
            </a:endParaRPr>
          </a:p>
        </p:txBody>
      </p:sp>
      <p:sp>
        <p:nvSpPr>
          <p:cNvPr id="6" name="文本框 299"/>
          <p:cNvSpPr txBox="1"/>
          <p:nvPr/>
        </p:nvSpPr>
        <p:spPr>
          <a:xfrm>
            <a:off x="4170045" y="5341303"/>
            <a:ext cx="736600" cy="18415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dirty="0">
                <a:solidFill>
                  <a:srgbClr val="383838"/>
                </a:solidFill>
                <a:effectLst/>
                <a:latin typeface="微软雅黑"/>
                <a:ea typeface="微软雅黑"/>
                <a:cs typeface="微软雅黑"/>
              </a:rPr>
              <a:t>信息同频</a:t>
            </a:r>
            <a:endParaRPr lang="zh-CN" altLang="en-US" sz="1200" dirty="0">
              <a:solidFill>
                <a:srgbClr val="383838"/>
              </a:solidFill>
              <a:effectLst/>
              <a:latin typeface="微软雅黑"/>
              <a:ea typeface="微软雅黑"/>
              <a:cs typeface="微软雅黑"/>
            </a:endParaRPr>
          </a:p>
        </p:txBody>
      </p:sp>
      <p:sp>
        <p:nvSpPr>
          <p:cNvPr id="7" name="文本框 300"/>
          <p:cNvSpPr txBox="1"/>
          <p:nvPr/>
        </p:nvSpPr>
        <p:spPr>
          <a:xfrm>
            <a:off x="5723255" y="5341303"/>
            <a:ext cx="831850" cy="18415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dirty="0">
                <a:solidFill>
                  <a:srgbClr val="383838"/>
                </a:solidFill>
                <a:effectLst/>
                <a:latin typeface="微软雅黑"/>
                <a:ea typeface="微软雅黑"/>
                <a:cs typeface="微软雅黑"/>
              </a:rPr>
              <a:t>进度协同</a:t>
            </a:r>
            <a:endParaRPr lang="zh-CN" altLang="en-US" sz="1200" dirty="0">
              <a:solidFill>
                <a:srgbClr val="383838"/>
              </a:solidFill>
              <a:effectLst/>
              <a:latin typeface="微软雅黑"/>
              <a:ea typeface="微软雅黑"/>
              <a:cs typeface="微软雅黑"/>
            </a:endParaRPr>
          </a:p>
        </p:txBody>
      </p:sp>
      <p:sp>
        <p:nvSpPr>
          <p:cNvPr id="8" name="文本框 301"/>
          <p:cNvSpPr txBox="1"/>
          <p:nvPr/>
        </p:nvSpPr>
        <p:spPr>
          <a:xfrm>
            <a:off x="7337743" y="5341303"/>
            <a:ext cx="805815" cy="18415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dirty="0">
                <a:solidFill>
                  <a:srgbClr val="383838"/>
                </a:solidFill>
                <a:effectLst/>
                <a:latin typeface="微软雅黑"/>
                <a:ea typeface="微软雅黑"/>
                <a:cs typeface="微软雅黑"/>
              </a:rPr>
              <a:t>激发潜能</a:t>
            </a:r>
            <a:endParaRPr lang="zh-CN" altLang="en-US" sz="1200" dirty="0">
              <a:solidFill>
                <a:srgbClr val="383838"/>
              </a:solidFill>
              <a:effectLst/>
              <a:latin typeface="微软雅黑"/>
              <a:ea typeface="微软雅黑"/>
              <a:cs typeface="微软雅黑"/>
            </a:endParaRPr>
          </a:p>
        </p:txBody>
      </p:sp>
      <p:sp>
        <p:nvSpPr>
          <p:cNvPr id="9" name="文本框 302"/>
          <p:cNvSpPr txBox="1"/>
          <p:nvPr/>
        </p:nvSpPr>
        <p:spPr>
          <a:xfrm>
            <a:off x="8834755" y="5341303"/>
            <a:ext cx="1027430" cy="18415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dirty="0">
                <a:solidFill>
                  <a:srgbClr val="383838"/>
                </a:solidFill>
                <a:effectLst/>
                <a:latin typeface="微软雅黑"/>
                <a:ea typeface="微软雅黑"/>
                <a:cs typeface="微软雅黑"/>
              </a:rPr>
              <a:t>集体赋能</a:t>
            </a:r>
            <a:endParaRPr lang="zh-CN" altLang="en-US" sz="1200" dirty="0">
              <a:solidFill>
                <a:srgbClr val="383838"/>
              </a:solidFill>
              <a:effectLst/>
              <a:latin typeface="微软雅黑"/>
              <a:ea typeface="微软雅黑"/>
              <a:cs typeface="微软雅黑"/>
            </a:endParaRPr>
          </a:p>
        </p:txBody>
      </p:sp>
      <p:sp>
        <p:nvSpPr>
          <p:cNvPr id="10" name="文本框 303"/>
          <p:cNvSpPr txBox="1"/>
          <p:nvPr/>
        </p:nvSpPr>
        <p:spPr>
          <a:xfrm>
            <a:off x="10501948" y="5341303"/>
            <a:ext cx="894715" cy="184150"/>
          </a:xfrm>
          <a:prstGeom prst="rect">
            <a:avLst/>
          </a:prstGeom>
          <a:noFill/>
          <a:ln>
            <a:noFill/>
          </a:ln>
          <a:extLst>
            <a:ext uri="{909E8E84-426E-40DD-AFC4-6F175D3DCCD1}">
              <a14:hiddenFill xmlns:a14="http://schemas.microsoft.com/office/drawing/2010/main">
                <a:solidFill>
                  <a:srgbClr val="E6E6E6"/>
                </a:solidFill>
              </a14:hiddenFill>
            </a:ext>
          </a:extLst>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200" dirty="0">
                <a:solidFill>
                  <a:srgbClr val="383838"/>
                </a:solidFill>
                <a:effectLst/>
                <a:latin typeface="微软雅黑"/>
                <a:ea typeface="微软雅黑"/>
                <a:cs typeface="微软雅黑"/>
              </a:rPr>
              <a:t>动态优化</a:t>
            </a:r>
            <a:endParaRPr lang="zh-CN" altLang="en-US" sz="1200" dirty="0">
              <a:solidFill>
                <a:srgbClr val="383838"/>
              </a:solidFill>
              <a:effectLst/>
              <a:latin typeface="微软雅黑"/>
              <a:ea typeface="微软雅黑"/>
              <a:cs typeface="微软雅黑"/>
            </a:endParaRPr>
          </a:p>
        </p:txBody>
      </p:sp>
      <p:sp>
        <p:nvSpPr>
          <p:cNvPr id="11" name="矩形: 圆角 31"/>
          <p:cNvSpPr/>
          <p:nvPr/>
        </p:nvSpPr>
        <p:spPr>
          <a:xfrm>
            <a:off x="2562225" y="2128520"/>
            <a:ext cx="1452880" cy="299085"/>
          </a:xfrm>
          <a:prstGeom prst="roundRect">
            <a:avLst>
              <a:gd name="adj" fmla="val 8000"/>
            </a:avLst>
          </a:prstGeom>
          <a:solidFill>
            <a:srgbClr val="B3D4FE"/>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 name="文本框 304"/>
          <p:cNvSpPr txBox="1"/>
          <p:nvPr/>
        </p:nvSpPr>
        <p:spPr>
          <a:xfrm>
            <a:off x="2861310" y="2200910"/>
            <a:ext cx="825500"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组织超级个体</a:t>
            </a:r>
            <a:endParaRPr lang="zh-CN" altLang="en-US" sz="1000" b="1" dirty="0">
              <a:solidFill>
                <a:srgbClr val="383838"/>
              </a:solidFill>
              <a:effectLst/>
              <a:latin typeface="微软雅黑"/>
              <a:ea typeface="微软雅黑"/>
              <a:cs typeface="微软雅黑"/>
            </a:endParaRPr>
          </a:p>
        </p:txBody>
      </p:sp>
      <p:sp>
        <p:nvSpPr>
          <p:cNvPr id="16" name="矩形: 圆角 31"/>
          <p:cNvSpPr/>
          <p:nvPr/>
        </p:nvSpPr>
        <p:spPr>
          <a:xfrm>
            <a:off x="5408930" y="2128520"/>
            <a:ext cx="1452880" cy="299085"/>
          </a:xfrm>
          <a:prstGeom prst="roundRect">
            <a:avLst>
              <a:gd name="adj" fmla="val 8000"/>
            </a:avLst>
          </a:prstGeom>
          <a:solidFill>
            <a:srgbClr val="B3D4FE"/>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7" name="文本框 304"/>
          <p:cNvSpPr txBox="1"/>
          <p:nvPr/>
        </p:nvSpPr>
        <p:spPr>
          <a:xfrm>
            <a:off x="5723255" y="2200910"/>
            <a:ext cx="825500"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组织超级个体</a:t>
            </a:r>
            <a:endParaRPr lang="zh-CN" altLang="en-US" sz="1000" b="1" dirty="0">
              <a:solidFill>
                <a:srgbClr val="383838"/>
              </a:solidFill>
              <a:effectLst/>
              <a:latin typeface="微软雅黑"/>
              <a:ea typeface="微软雅黑"/>
              <a:cs typeface="微软雅黑"/>
            </a:endParaRPr>
          </a:p>
        </p:txBody>
      </p:sp>
      <p:sp>
        <p:nvSpPr>
          <p:cNvPr id="22" name="矩形: 圆角 31"/>
          <p:cNvSpPr/>
          <p:nvPr/>
        </p:nvSpPr>
        <p:spPr>
          <a:xfrm>
            <a:off x="8281670" y="2128520"/>
            <a:ext cx="1452880" cy="299085"/>
          </a:xfrm>
          <a:prstGeom prst="roundRect">
            <a:avLst>
              <a:gd name="adj" fmla="val 8000"/>
            </a:avLst>
          </a:prstGeom>
          <a:solidFill>
            <a:srgbClr val="B3D4FE"/>
          </a:solidFill>
          <a:ln w="6350" cap="flat">
            <a:solidFill>
              <a:srgbClr val="B3D4FE"/>
            </a:solidFill>
            <a:prstDash val="solid"/>
            <a:miter/>
          </a:ln>
          <a:effectLst/>
        </p:spPr>
        <p:txBody>
          <a:bodyPr rot="0" spcFirstLastPara="0" vert="horz" wrap="square" lIns="0" tIns="0" rIns="0" bIns="0" numCol="1" spcCol="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 name="文本框 304"/>
          <p:cNvSpPr txBox="1"/>
          <p:nvPr/>
        </p:nvSpPr>
        <p:spPr>
          <a:xfrm>
            <a:off x="8595995" y="2200910"/>
            <a:ext cx="825500" cy="153670"/>
          </a:xfrm>
          <a:prstGeom prst="rect">
            <a:avLst/>
          </a:prstGeom>
          <a:noFill/>
        </p:spPr>
        <p:txBody>
          <a:bodyPr wrap="square" lIns="0" tIns="0" rIns="0" bIns="0" rtlCol="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组织超级个体</a:t>
            </a:r>
            <a:endParaRPr lang="zh-CN" altLang="en-US" sz="1000" b="1" dirty="0">
              <a:solidFill>
                <a:srgbClr val="383838"/>
              </a:solidFill>
              <a:effectLst/>
              <a:latin typeface="微软雅黑"/>
              <a:ea typeface="微软雅黑"/>
              <a:cs typeface="微软雅黑"/>
            </a:endParaRPr>
          </a:p>
        </p:txBody>
      </p:sp>
      <p:grpSp>
        <p:nvGrpSpPr>
          <p:cNvPr id="24" name="组合 23"/>
          <p:cNvGrpSpPr/>
          <p:nvPr/>
        </p:nvGrpSpPr>
        <p:grpSpPr>
          <a:xfrm>
            <a:off x="8715375" y="348615"/>
            <a:ext cx="3219450" cy="332740"/>
            <a:chOff x="13761" y="549"/>
            <a:chExt cx="5070" cy="524"/>
          </a:xfrm>
        </p:grpSpPr>
        <p:pic>
          <p:nvPicPr>
            <p:cNvPr id="25" name="图片 24"/>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26" name="文本框 2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zh-CN" altLang="en-US" sz="2500">
                <a:solidFill>
                  <a:srgbClr val="383838"/>
                </a:solidFill>
                <a:effectLst/>
                <a:latin typeface="微软雅黑"/>
                <a:ea typeface="微软雅黑"/>
                <a:cs typeface="微软雅黑"/>
              </a:rPr>
              <a:t>在线化签约平台架构</a:t>
            </a:r>
            <a:endParaRPr lang="zh-CN" altLang="en-US" sz="2500" b="0">
              <a:solidFill>
                <a:srgbClr val="383838"/>
              </a:solidFill>
              <a:effectLst/>
              <a:latin typeface="微软雅黑"/>
              <a:ea typeface="微软雅黑"/>
              <a:cs typeface="微软雅黑"/>
            </a:endParaRPr>
          </a:p>
        </p:txBody>
      </p:sp>
      <p:sp>
        <p:nvSpPr>
          <p:cNvPr id="2" name="矩形: 圆角 39"/>
          <p:cNvSpPr/>
          <p:nvPr/>
        </p:nvSpPr>
        <p:spPr>
          <a:xfrm>
            <a:off x="5723890" y="1714500"/>
            <a:ext cx="1454150" cy="1031240"/>
          </a:xfrm>
          <a:prstGeom prst="roundRect">
            <a:avLst>
              <a:gd name="adj" fmla="val 2000"/>
            </a:avLst>
          </a:prstGeom>
          <a:ln>
            <a:solidFill>
              <a:srgbClr val="3368FF">
                <a:alpha val="5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8" name="矩形: 圆角 41"/>
          <p:cNvSpPr/>
          <p:nvPr/>
        </p:nvSpPr>
        <p:spPr>
          <a:xfrm>
            <a:off x="7283450" y="1714500"/>
            <a:ext cx="1454150" cy="1031240"/>
          </a:xfrm>
          <a:prstGeom prst="roundRect">
            <a:avLst>
              <a:gd name="adj" fmla="val 2000"/>
            </a:avLst>
          </a:prstGeom>
          <a:ln>
            <a:solidFill>
              <a:srgbClr val="3368FF">
                <a:alpha val="5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2" name="矩形: 圆角 42"/>
          <p:cNvSpPr/>
          <p:nvPr/>
        </p:nvSpPr>
        <p:spPr>
          <a:xfrm>
            <a:off x="8843010" y="1714500"/>
            <a:ext cx="1454150" cy="1031240"/>
          </a:xfrm>
          <a:prstGeom prst="roundRect">
            <a:avLst>
              <a:gd name="adj" fmla="val 2000"/>
            </a:avLst>
          </a:prstGeom>
          <a:ln>
            <a:solidFill>
              <a:srgbClr val="3368FF">
                <a:alpha val="5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3" name="矩形: 圆角 43"/>
          <p:cNvSpPr/>
          <p:nvPr/>
        </p:nvSpPr>
        <p:spPr>
          <a:xfrm>
            <a:off x="10402570" y="1714500"/>
            <a:ext cx="1454150" cy="1031240"/>
          </a:xfrm>
          <a:prstGeom prst="roundRect">
            <a:avLst>
              <a:gd name="adj" fmla="val 2000"/>
            </a:avLst>
          </a:prstGeom>
          <a:ln>
            <a:solidFill>
              <a:srgbClr val="3368FF">
                <a:alpha val="5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4" name="矩形: 圆角 38"/>
          <p:cNvSpPr/>
          <p:nvPr/>
        </p:nvSpPr>
        <p:spPr>
          <a:xfrm>
            <a:off x="4163695" y="1714500"/>
            <a:ext cx="1454150" cy="1031240"/>
          </a:xfrm>
          <a:prstGeom prst="roundRect">
            <a:avLst>
              <a:gd name="adj" fmla="val 2000"/>
            </a:avLst>
          </a:prstGeom>
          <a:ln>
            <a:solidFill>
              <a:srgbClr val="3368FF">
                <a:alpha val="5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8" name="任意多边形: 形状 2"/>
          <p:cNvSpPr/>
          <p:nvPr/>
        </p:nvSpPr>
        <p:spPr>
          <a:xfrm>
            <a:off x="8354060" y="4216400"/>
            <a:ext cx="3497580" cy="1344930"/>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FFFFF">
              <a:alpha val="20000"/>
            </a:srgbClr>
          </a:solidFill>
          <a:ln w="6350" cap="flat">
            <a:solidFill>
              <a:srgbClr val="0042FF"/>
            </a:solidFill>
            <a:custDash>
              <a:ds d="600000" sp="600000"/>
            </a:custDash>
            <a:miter/>
          </a:ln>
        </p:spPr>
        <p:txBody>
          <a:bodyPr rtlCol="0" anchor="ctr" lIns="0" rIns="0" tIns="0" bIns="0"/>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9" name="矩形: 圆角 9"/>
          <p:cNvSpPr/>
          <p:nvPr/>
        </p:nvSpPr>
        <p:spPr>
          <a:xfrm>
            <a:off x="8571865" y="4603115"/>
            <a:ext cx="859155" cy="396240"/>
          </a:xfrm>
          <a:prstGeom prst="roundRect">
            <a:avLst>
              <a:gd name="adj" fmla="val 12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0" name="矩形: 圆角 6"/>
          <p:cNvSpPr/>
          <p:nvPr/>
        </p:nvSpPr>
        <p:spPr>
          <a:xfrm>
            <a:off x="8571865" y="5118100"/>
            <a:ext cx="859155" cy="396240"/>
          </a:xfrm>
          <a:prstGeom prst="roundRect">
            <a:avLst>
              <a:gd name="adj" fmla="val 12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3" name="矩形: 圆角 8"/>
          <p:cNvSpPr/>
          <p:nvPr/>
        </p:nvSpPr>
        <p:spPr>
          <a:xfrm>
            <a:off x="9735185" y="4624070"/>
            <a:ext cx="859155" cy="396240"/>
          </a:xfrm>
          <a:prstGeom prst="roundRect">
            <a:avLst>
              <a:gd name="adj" fmla="val 12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4" name="矩形: 圆角 21"/>
          <p:cNvSpPr/>
          <p:nvPr/>
        </p:nvSpPr>
        <p:spPr>
          <a:xfrm>
            <a:off x="10878185" y="4603115"/>
            <a:ext cx="859155" cy="396240"/>
          </a:xfrm>
          <a:prstGeom prst="roundRect">
            <a:avLst>
              <a:gd name="adj" fmla="val 12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5" name="矩形: 圆角 25"/>
          <p:cNvSpPr/>
          <p:nvPr/>
        </p:nvSpPr>
        <p:spPr>
          <a:xfrm>
            <a:off x="9735185" y="5118100"/>
            <a:ext cx="859155" cy="396240"/>
          </a:xfrm>
          <a:prstGeom prst="roundRect">
            <a:avLst>
              <a:gd name="adj" fmla="val 12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6" name="矩形: 圆角 29"/>
          <p:cNvSpPr/>
          <p:nvPr/>
        </p:nvSpPr>
        <p:spPr>
          <a:xfrm>
            <a:off x="10878185" y="5118100"/>
            <a:ext cx="859155" cy="396240"/>
          </a:xfrm>
          <a:prstGeom prst="roundRect">
            <a:avLst>
              <a:gd name="adj" fmla="val 12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7" name="矩形: 圆角 35"/>
          <p:cNvSpPr/>
          <p:nvPr/>
        </p:nvSpPr>
        <p:spPr>
          <a:xfrm>
            <a:off x="1044575" y="1714500"/>
            <a:ext cx="1454150" cy="1031240"/>
          </a:xfrm>
          <a:prstGeom prst="roundRect">
            <a:avLst>
              <a:gd name="adj" fmla="val 2000"/>
            </a:avLst>
          </a:prstGeom>
          <a:ln>
            <a:solidFill>
              <a:srgbClr val="3368FF">
                <a:alpha val="5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8" name="矩形: 圆角 37"/>
          <p:cNvSpPr/>
          <p:nvPr/>
        </p:nvSpPr>
        <p:spPr>
          <a:xfrm>
            <a:off x="2604135" y="1714500"/>
            <a:ext cx="1454150" cy="1031240"/>
          </a:xfrm>
          <a:prstGeom prst="roundRect">
            <a:avLst>
              <a:gd name="adj" fmla="val 2000"/>
            </a:avLst>
          </a:prstGeom>
          <a:ln>
            <a:solidFill>
              <a:srgbClr val="3368FF">
                <a:alpha val="5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9" name="任意多边形: 形状 45"/>
          <p:cNvSpPr/>
          <p:nvPr/>
        </p:nvSpPr>
        <p:spPr>
          <a:xfrm>
            <a:off x="1044575" y="2897505"/>
            <a:ext cx="3522345" cy="1149985"/>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6" y="0"/>
                  <a:pt x="3384550" y="0"/>
                  <a:pt x="3384550" y="0"/>
                </a:cubicBezTo>
                <a:lnTo>
                  <a:pt x="3384550" y="1104900"/>
                </a:lnTo>
                <a:cubicBezTo>
                  <a:pt x="3384550" y="1104900"/>
                  <a:pt x="3361806" y="1104900"/>
                  <a:pt x="3333750" y="1104900"/>
                </a:cubicBezTo>
                <a:lnTo>
                  <a:pt x="50800" y="1104900"/>
                </a:lnTo>
                <a:cubicBezTo>
                  <a:pt x="22744" y="1104900"/>
                  <a:pt x="0" y="1104900"/>
                  <a:pt x="0" y="1104900"/>
                </a:cubicBezTo>
                <a:lnTo>
                  <a:pt x="0" y="0"/>
                </a:lnTo>
                <a:cubicBezTo>
                  <a:pt x="0" y="0"/>
                  <a:pt x="22744" y="0"/>
                  <a:pt x="50800" y="0"/>
                </a:cubicBezTo>
                <a:close/>
              </a:path>
            </a:pathLst>
          </a:custGeom>
          <a:ln>
            <a:solidFill>
              <a:srgbClr val="0042FF">
                <a:alpha val="7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40" name="任意多边形: 形状 46"/>
          <p:cNvSpPr/>
          <p:nvPr/>
        </p:nvSpPr>
        <p:spPr>
          <a:xfrm>
            <a:off x="1044575" y="4212590"/>
            <a:ext cx="6694805" cy="1348105"/>
          </a:xfrm>
          <a:custGeom>
            <a:avLst/>
            <a:gdLst>
              <a:gd name="connsiteX0" fmla="*/ 6381750 w 6432550"/>
              <a:gd name="connsiteY0" fmla="*/ 0 h 1295400"/>
              <a:gd name="connsiteX1" fmla="*/ 6432550 w 6432550"/>
              <a:gd name="connsiteY1" fmla="*/ 0 h 1295400"/>
              <a:gd name="connsiteX2" fmla="*/ 6432550 w 6432550"/>
              <a:gd name="connsiteY2" fmla="*/ 1295400 h 1295400"/>
              <a:gd name="connsiteX3" fmla="*/ 6381750 w 6432550"/>
              <a:gd name="connsiteY3" fmla="*/ 1295400 h 1295400"/>
              <a:gd name="connsiteX4" fmla="*/ 50800 w 6432550"/>
              <a:gd name="connsiteY4" fmla="*/ 1295400 h 1295400"/>
              <a:gd name="connsiteX5" fmla="*/ 0 w 6432550"/>
              <a:gd name="connsiteY5" fmla="*/ 1295400 h 1295400"/>
              <a:gd name="connsiteX6" fmla="*/ 0 w 6432550"/>
              <a:gd name="connsiteY6" fmla="*/ 0 h 1295400"/>
              <a:gd name="connsiteX7" fmla="*/ 50800 w 6432550"/>
              <a:gd name="connsiteY7"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32550" h="1295400">
                <a:moveTo>
                  <a:pt x="6381750" y="0"/>
                </a:moveTo>
                <a:cubicBezTo>
                  <a:pt x="6409807" y="0"/>
                  <a:pt x="6432550" y="0"/>
                  <a:pt x="6432550" y="0"/>
                </a:cubicBezTo>
                <a:lnTo>
                  <a:pt x="6432550" y="1295400"/>
                </a:lnTo>
                <a:cubicBezTo>
                  <a:pt x="6432550" y="1295400"/>
                  <a:pt x="6409807" y="1295400"/>
                  <a:pt x="6381750" y="1295400"/>
                </a:cubicBezTo>
                <a:lnTo>
                  <a:pt x="50800" y="1295400"/>
                </a:lnTo>
                <a:cubicBezTo>
                  <a:pt x="22744" y="1295400"/>
                  <a:pt x="0" y="1295400"/>
                  <a:pt x="0" y="1295400"/>
                </a:cubicBezTo>
                <a:lnTo>
                  <a:pt x="0" y="0"/>
                </a:lnTo>
                <a:cubicBezTo>
                  <a:pt x="0" y="0"/>
                  <a:pt x="22744" y="0"/>
                  <a:pt x="50800" y="0"/>
                </a:cubicBezTo>
                <a:close/>
              </a:path>
            </a:pathLst>
          </a:custGeom>
          <a:solidFill>
            <a:srgbClr val="FFFFFF">
              <a:alpha val="20000"/>
            </a:srgbClr>
          </a:solidFill>
          <a:ln w="6350" cap="flat">
            <a:solidFill>
              <a:srgbClr val="0042FF"/>
            </a:solidFill>
            <a:custDash>
              <a:ds d="600000" sp="600000"/>
            </a:custDash>
            <a:miter/>
          </a:ln>
        </p:spPr>
        <p:txBody>
          <a:bodyPr rtlCol="0" anchor="ctr" lIns="0" rIns="0" tIns="0" bIns="0"/>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41" name="任意多边形: 形状 47"/>
          <p:cNvSpPr/>
          <p:nvPr/>
        </p:nvSpPr>
        <p:spPr>
          <a:xfrm>
            <a:off x="1044575" y="5732780"/>
            <a:ext cx="10831830" cy="654050"/>
          </a:xfrm>
          <a:custGeom>
            <a:avLst/>
            <a:gdLst>
              <a:gd name="connsiteX0" fmla="*/ 10356850 w 10407650"/>
              <a:gd name="connsiteY0" fmla="*/ 0 h 628650"/>
              <a:gd name="connsiteX1" fmla="*/ 10407650 w 10407650"/>
              <a:gd name="connsiteY1" fmla="*/ 0 h 628650"/>
              <a:gd name="connsiteX2" fmla="*/ 10407650 w 10407650"/>
              <a:gd name="connsiteY2" fmla="*/ 628650 h 628650"/>
              <a:gd name="connsiteX3" fmla="*/ 10356850 w 10407650"/>
              <a:gd name="connsiteY3" fmla="*/ 628650 h 628650"/>
              <a:gd name="connsiteX4" fmla="*/ 50800 w 10407650"/>
              <a:gd name="connsiteY4" fmla="*/ 628650 h 628650"/>
              <a:gd name="connsiteX5" fmla="*/ 0 w 10407650"/>
              <a:gd name="connsiteY5" fmla="*/ 628650 h 628650"/>
              <a:gd name="connsiteX6" fmla="*/ 0 w 10407650"/>
              <a:gd name="connsiteY6" fmla="*/ 0 h 628650"/>
              <a:gd name="connsiteX7" fmla="*/ 50800 w 10407650"/>
              <a:gd name="connsiteY7" fmla="*/ 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07650" h="628650">
                <a:moveTo>
                  <a:pt x="10356850" y="0"/>
                </a:moveTo>
                <a:cubicBezTo>
                  <a:pt x="10384906" y="0"/>
                  <a:pt x="10407650" y="0"/>
                  <a:pt x="10407650" y="0"/>
                </a:cubicBezTo>
                <a:lnTo>
                  <a:pt x="10407650" y="628650"/>
                </a:lnTo>
                <a:cubicBezTo>
                  <a:pt x="10407650" y="628650"/>
                  <a:pt x="10384906" y="628650"/>
                  <a:pt x="10356850" y="628650"/>
                </a:cubicBezTo>
                <a:lnTo>
                  <a:pt x="50800" y="628650"/>
                </a:lnTo>
                <a:cubicBezTo>
                  <a:pt x="22744" y="628650"/>
                  <a:pt x="0" y="628650"/>
                  <a:pt x="0" y="628650"/>
                </a:cubicBezTo>
                <a:lnTo>
                  <a:pt x="0" y="0"/>
                </a:lnTo>
                <a:cubicBezTo>
                  <a:pt x="0" y="0"/>
                  <a:pt x="22744" y="0"/>
                  <a:pt x="50800" y="0"/>
                </a:cubicBezTo>
                <a:close/>
              </a:path>
            </a:pathLst>
          </a:custGeom>
          <a:solidFill>
            <a:srgbClr val="FFFFFF">
              <a:alpha val="20000"/>
            </a:srgbClr>
          </a:solidFill>
          <a:ln w="6350" cap="flat">
            <a:solidFill>
              <a:srgbClr val="0042FF"/>
            </a:solidFill>
            <a:custDash>
              <a:ds d="600000" sp="600000"/>
            </a:custDash>
            <a:miter/>
          </a:ln>
        </p:spPr>
        <p:txBody>
          <a:bodyPr rtlCol="0" anchor="ctr" lIns="0" rIns="0" tIns="0" bIns="0">
            <a:noAutofit/>
          </a:body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42" name="任意多边形: 形状 49"/>
          <p:cNvSpPr/>
          <p:nvPr/>
        </p:nvSpPr>
        <p:spPr>
          <a:xfrm>
            <a:off x="4699000" y="2897505"/>
            <a:ext cx="3522345" cy="1149985"/>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ln>
            <a:solidFill>
              <a:srgbClr val="0042FF">
                <a:alpha val="7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7" name="任意多边形: 形状 50"/>
          <p:cNvSpPr/>
          <p:nvPr/>
        </p:nvSpPr>
        <p:spPr>
          <a:xfrm>
            <a:off x="8354060" y="2897505"/>
            <a:ext cx="3497580" cy="1149985"/>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ln>
            <a:solidFill>
              <a:srgbClr val="0042FF">
                <a:alpha val="70000"/>
              </a:srgbClr>
            </a:solidFill>
            <a:prstDash val="dash"/>
          </a:ln>
        </p:spPr>
        <p:style>
          <a:lnRef idx="2">
            <a:srgbClr val="383838"/>
          </a:lnRef>
          <a:fillRef idx="1">
            <a:srgbClr val="FFFFFF"/>
          </a:fillRef>
          <a:effectRef idx="0">
            <a:srgbClr val="383838"/>
          </a:effectRef>
          <a:fontRef idx="minor">
            <a:srgbClr val="383838"/>
          </a:fontRef>
        </p:style>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8" name="矩形: 圆角 53"/>
          <p:cNvSpPr/>
          <p:nvPr/>
        </p:nvSpPr>
        <p:spPr>
          <a:xfrm>
            <a:off x="1044575" y="1390650"/>
            <a:ext cx="1454150" cy="277495"/>
          </a:xfrm>
          <a:prstGeom prst="roundRect">
            <a:avLst>
              <a:gd name="adj" fmla="val 8000"/>
            </a:avLst>
          </a:prstGeom>
          <a:solidFill>
            <a:srgbClr val="E6E6E6">
              <a:alpha val="50000"/>
            </a:srgbClr>
          </a:solidFill>
          <a:ln>
            <a:solidFill>
              <a:srgbClr val="3368FF"/>
            </a:solidFill>
          </a:ln>
        </p:spPr>
        <p:style>
          <a:lnRef idx="1">
            <a:srgbClr val="DCDCDC"/>
          </a:lnRef>
          <a:fillRef idx="2">
            <a:srgbClr val="DCDCDC"/>
          </a:fillRef>
          <a:effectRef idx="1">
            <a:srgbClr val="DCDCDC"/>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79" name="矩形: 圆角 58"/>
          <p:cNvSpPr/>
          <p:nvPr/>
        </p:nvSpPr>
        <p:spPr>
          <a:xfrm>
            <a:off x="2055495" y="3069590"/>
            <a:ext cx="1493520" cy="290830"/>
          </a:xfrm>
          <a:prstGeom prst="roundRect">
            <a:avLst>
              <a:gd name="adj" fmla="val 8000"/>
            </a:avLst>
          </a:prstGeom>
          <a:ln>
            <a:solidFill>
              <a:srgbClr val="0042FF"/>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80" name="矩形: 圆角 62"/>
          <p:cNvSpPr/>
          <p:nvPr/>
        </p:nvSpPr>
        <p:spPr>
          <a:xfrm>
            <a:off x="5710555" y="3069590"/>
            <a:ext cx="1493520" cy="290830"/>
          </a:xfrm>
          <a:prstGeom prst="roundRect">
            <a:avLst>
              <a:gd name="adj" fmla="val 8000"/>
            </a:avLst>
          </a:prstGeom>
          <a:ln>
            <a:solidFill>
              <a:srgbClr val="0042FF"/>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83" name="矩形: 圆角 35"/>
          <p:cNvSpPr/>
          <p:nvPr/>
        </p:nvSpPr>
        <p:spPr>
          <a:xfrm>
            <a:off x="9471025" y="3069590"/>
            <a:ext cx="1493520" cy="290830"/>
          </a:xfrm>
          <a:prstGeom prst="roundRect">
            <a:avLst>
              <a:gd name="adj" fmla="val 8000"/>
            </a:avLst>
          </a:prstGeom>
          <a:ln>
            <a:solidFill>
              <a:srgbClr val="0042FF"/>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89" name="矩形: 圆角 36"/>
          <p:cNvSpPr/>
          <p:nvPr/>
        </p:nvSpPr>
        <p:spPr>
          <a:xfrm>
            <a:off x="2604135" y="1390650"/>
            <a:ext cx="1454150" cy="277495"/>
          </a:xfrm>
          <a:prstGeom prst="roundRect">
            <a:avLst>
              <a:gd name="adj" fmla="val 8000"/>
            </a:avLst>
          </a:prstGeom>
          <a:solidFill>
            <a:srgbClr val="E6E6E6">
              <a:alpha val="50000"/>
            </a:srgbClr>
          </a:solidFill>
          <a:ln>
            <a:solidFill>
              <a:srgbClr val="3368FF"/>
            </a:solidFill>
          </a:ln>
        </p:spPr>
        <p:style>
          <a:lnRef idx="1">
            <a:srgbClr val="DCDCDC"/>
          </a:lnRef>
          <a:fillRef idx="2">
            <a:srgbClr val="DCDCDC"/>
          </a:fillRef>
          <a:effectRef idx="1">
            <a:srgbClr val="DCDCDC"/>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90" name="矩形: 圆角 42"/>
          <p:cNvSpPr/>
          <p:nvPr/>
        </p:nvSpPr>
        <p:spPr>
          <a:xfrm>
            <a:off x="1176655" y="4464050"/>
            <a:ext cx="905510" cy="317500"/>
          </a:xfrm>
          <a:prstGeom prst="roundRect">
            <a:avLst>
              <a:gd name="adj" fmla="val 12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91" name="矩形: 圆角 43"/>
          <p:cNvSpPr/>
          <p:nvPr/>
        </p:nvSpPr>
        <p:spPr>
          <a:xfrm>
            <a:off x="1176655" y="4999355"/>
            <a:ext cx="6430645" cy="317500"/>
          </a:xfrm>
          <a:prstGeom prst="roundRect">
            <a:avLst>
              <a:gd name="adj" fmla="val 12000"/>
            </a:avLst>
          </a:prstGeom>
          <a:solidFill>
            <a:srgbClr val="FFFFFF"/>
          </a:solidFill>
          <a:ln>
            <a:solidFill>
              <a:srgbClr val="3368FF"/>
            </a:solid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09" name="矩形: 圆角 44"/>
          <p:cNvSpPr/>
          <p:nvPr/>
        </p:nvSpPr>
        <p:spPr>
          <a:xfrm>
            <a:off x="3370580" y="4464050"/>
            <a:ext cx="905510" cy="317500"/>
          </a:xfrm>
          <a:prstGeom prst="roundRect">
            <a:avLst>
              <a:gd name="adj" fmla="val 12000"/>
            </a:avLst>
          </a:prstGeom>
          <a:solidFill>
            <a:srgbClr val="FFFFFF"/>
          </a:solidFill>
          <a:ln w="6350" cap="flat">
            <a:solidFill>
              <a:srgbClr val="0042FF"/>
            </a:solidFill>
            <a:prstDash val="solid"/>
            <a:miter/>
          </a:ln>
          <a:effectLst>
            <a:outerShdw blurRad="254000" dist="63500" dir="5400000" algn="t" rotWithShape="0">
              <a:srgbClr val="0042FF">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10" name="矩形: 圆角 45"/>
          <p:cNvSpPr/>
          <p:nvPr/>
        </p:nvSpPr>
        <p:spPr>
          <a:xfrm>
            <a:off x="5591175" y="4464050"/>
            <a:ext cx="905510" cy="317500"/>
          </a:xfrm>
          <a:prstGeom prst="roundRect">
            <a:avLst>
              <a:gd name="adj" fmla="val 12000"/>
            </a:avLst>
          </a:prstGeom>
          <a:solidFill>
            <a:srgbClr val="FFFFFF"/>
          </a:solidFill>
          <a:ln w="6350" cap="flat">
            <a:solidFill>
              <a:srgbClr val="0042FF"/>
            </a:solidFill>
            <a:prstDash val="solid"/>
            <a:miter/>
          </a:ln>
          <a:effectLst>
            <a:outerShdw blurRad="254000" dist="63500" dir="5400000" algn="t" rotWithShape="0">
              <a:srgbClr val="0042FF">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11" name="矩形: 圆角 46"/>
          <p:cNvSpPr/>
          <p:nvPr/>
        </p:nvSpPr>
        <p:spPr>
          <a:xfrm>
            <a:off x="2287270" y="4464050"/>
            <a:ext cx="905510" cy="317500"/>
          </a:xfrm>
          <a:prstGeom prst="roundRect">
            <a:avLst>
              <a:gd name="adj" fmla="val 12000"/>
            </a:avLst>
          </a:prstGeom>
          <a:solidFill>
            <a:srgbClr val="FFFFFF"/>
          </a:solidFill>
          <a:ln w="6350" cap="flat">
            <a:solidFill>
              <a:srgbClr val="0042FF"/>
            </a:solidFill>
            <a:prstDash val="solid"/>
            <a:miter/>
          </a:ln>
          <a:effectLst>
            <a:outerShdw blurRad="254000" dist="63500" dir="5400000" algn="t" rotWithShape="0">
              <a:srgbClr val="0042FF">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12" name="矩形: 圆角 47"/>
          <p:cNvSpPr/>
          <p:nvPr/>
        </p:nvSpPr>
        <p:spPr>
          <a:xfrm>
            <a:off x="4481195" y="4464050"/>
            <a:ext cx="905510" cy="317500"/>
          </a:xfrm>
          <a:prstGeom prst="roundRect">
            <a:avLst>
              <a:gd name="adj" fmla="val 12000"/>
            </a:avLst>
          </a:prstGeom>
          <a:solidFill>
            <a:srgbClr val="FFFFFF"/>
          </a:solidFill>
          <a:ln w="6350" cap="flat">
            <a:solidFill>
              <a:srgbClr val="0042FF"/>
            </a:solidFill>
            <a:prstDash val="solid"/>
            <a:miter/>
          </a:ln>
          <a:effectLst>
            <a:outerShdw blurRad="254000" dist="63500" dir="5400000" algn="t" rotWithShape="0">
              <a:srgbClr val="0042FF">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13" name="矩形: 圆角 48"/>
          <p:cNvSpPr/>
          <p:nvPr/>
        </p:nvSpPr>
        <p:spPr>
          <a:xfrm>
            <a:off x="6701790" y="4464050"/>
            <a:ext cx="905510" cy="317500"/>
          </a:xfrm>
          <a:prstGeom prst="roundRect">
            <a:avLst>
              <a:gd name="adj" fmla="val 12000"/>
            </a:avLst>
          </a:prstGeom>
          <a:solidFill>
            <a:srgbClr val="FFFFFF"/>
          </a:solidFill>
          <a:ln w="6350" cap="flat">
            <a:solidFill>
              <a:srgbClr val="0042FF"/>
            </a:solidFill>
            <a:prstDash val="solid"/>
            <a:miter/>
          </a:ln>
          <a:effectLst>
            <a:outerShdw blurRad="254000" dist="63500" dir="5400000" algn="t" rotWithShape="0">
              <a:srgbClr val="0042FF">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31" name="矩形: 圆角 49"/>
          <p:cNvSpPr/>
          <p:nvPr/>
        </p:nvSpPr>
        <p:spPr>
          <a:xfrm>
            <a:off x="509270" y="1384300"/>
            <a:ext cx="416560" cy="1361440"/>
          </a:xfrm>
          <a:prstGeom prst="roundRect">
            <a:avLst>
              <a:gd name="adj" fmla="val 8000"/>
            </a:avLst>
          </a:prstGeom>
          <a:solidFill>
            <a:srgbClr val="3368FF"/>
          </a:solidFill>
          <a:ln>
            <a:solidFill>
              <a:srgbClr val="3368FF"/>
            </a:solidFill>
          </a:ln>
        </p:spPr>
        <p:style>
          <a:lnRef idx="1">
            <a:srgbClr val="0042FF"/>
          </a:lnRef>
          <a:fillRef idx="3">
            <a:srgbClr val="0042FF"/>
          </a:fillRef>
          <a:effectRef idx="2">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solidFill>
                <a:srgbClr val="FFFFFF"/>
              </a:solidFill>
              <a:latin typeface="微软雅黑"/>
              <a:ea typeface="微软雅黑"/>
              <a:cs typeface="微软雅黑"/>
            </a:endParaRPr>
          </a:p>
        </p:txBody>
      </p:sp>
      <p:sp>
        <p:nvSpPr>
          <p:cNvPr id="135" name="矩形: 圆角 50"/>
          <p:cNvSpPr/>
          <p:nvPr/>
        </p:nvSpPr>
        <p:spPr>
          <a:xfrm>
            <a:off x="509270" y="2897505"/>
            <a:ext cx="416560" cy="1149985"/>
          </a:xfrm>
          <a:prstGeom prst="roundRect">
            <a:avLst>
              <a:gd name="adj" fmla="val 8000"/>
            </a:avLst>
          </a:prstGeom>
          <a:solidFill>
            <a:srgbClr val="0042FF"/>
          </a:solidFill>
          <a:ln>
            <a:solidFill>
              <a:srgbClr val="0042FF"/>
            </a:solidFill>
          </a:ln>
        </p:spPr>
        <p:style>
          <a:lnRef idx="1">
            <a:srgbClr val="668EFF"/>
          </a:lnRef>
          <a:fillRef idx="3">
            <a:srgbClr val="668EFF"/>
          </a:fillRef>
          <a:effectRef idx="2">
            <a:srgbClr val="668E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solidFill>
                <a:srgbClr val="FFFFFF"/>
              </a:solidFill>
              <a:latin typeface="微软雅黑"/>
              <a:ea typeface="微软雅黑"/>
              <a:cs typeface="微软雅黑"/>
            </a:endParaRPr>
          </a:p>
        </p:txBody>
      </p:sp>
      <p:sp>
        <p:nvSpPr>
          <p:cNvPr id="148" name="矩形: 圆角 51"/>
          <p:cNvSpPr/>
          <p:nvPr/>
        </p:nvSpPr>
        <p:spPr>
          <a:xfrm>
            <a:off x="509270" y="4199890"/>
            <a:ext cx="409575" cy="2193925"/>
          </a:xfrm>
          <a:prstGeom prst="roundRect">
            <a:avLst>
              <a:gd name="adj" fmla="val 8000"/>
            </a:avLst>
          </a:prstGeom>
          <a:solidFill>
            <a:srgbClr val="3368FF"/>
          </a:solidFill>
        </p:spPr>
        <p:style>
          <a:lnRef idx="1">
            <a:srgbClr val="3368FF"/>
          </a:lnRef>
          <a:fillRef idx="3">
            <a:srgbClr val="3368FF"/>
          </a:fillRef>
          <a:effectRef idx="2">
            <a:srgbClr val="3368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solidFill>
                <a:srgbClr val="FFFFFF"/>
              </a:solidFill>
              <a:latin typeface="微软雅黑"/>
              <a:ea typeface="微软雅黑"/>
              <a:cs typeface="微软雅黑"/>
            </a:endParaRPr>
          </a:p>
        </p:txBody>
      </p:sp>
      <p:sp>
        <p:nvSpPr>
          <p:cNvPr id="157" name="矩形: 圆角 52"/>
          <p:cNvSpPr/>
          <p:nvPr/>
        </p:nvSpPr>
        <p:spPr>
          <a:xfrm>
            <a:off x="1189990"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61" name="任意多边形: 形状 53"/>
          <p:cNvSpPr/>
          <p:nvPr/>
        </p:nvSpPr>
        <p:spPr>
          <a:xfrm>
            <a:off x="1784985"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5" name="矩形: 圆角 54"/>
          <p:cNvSpPr/>
          <p:nvPr/>
        </p:nvSpPr>
        <p:spPr>
          <a:xfrm>
            <a:off x="2082165"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69" name="任意多边形: 形状 55"/>
          <p:cNvSpPr/>
          <p:nvPr/>
        </p:nvSpPr>
        <p:spPr>
          <a:xfrm>
            <a:off x="2677160"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172" name="矩形: 圆角 56"/>
          <p:cNvSpPr/>
          <p:nvPr/>
        </p:nvSpPr>
        <p:spPr>
          <a:xfrm>
            <a:off x="2974340"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76" name="任意多边形: 形状 57"/>
          <p:cNvSpPr/>
          <p:nvPr/>
        </p:nvSpPr>
        <p:spPr>
          <a:xfrm>
            <a:off x="3569335"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180" name="矩形: 圆角 58"/>
          <p:cNvSpPr/>
          <p:nvPr/>
        </p:nvSpPr>
        <p:spPr>
          <a:xfrm>
            <a:off x="3866515"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88" name="矩形: 圆角 60"/>
          <p:cNvSpPr/>
          <p:nvPr/>
        </p:nvSpPr>
        <p:spPr>
          <a:xfrm>
            <a:off x="4791710"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89" name="任意多边形: 形状 61"/>
          <p:cNvSpPr/>
          <p:nvPr/>
        </p:nvSpPr>
        <p:spPr>
          <a:xfrm>
            <a:off x="5386705"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190" name="矩形: 圆角 63"/>
          <p:cNvSpPr/>
          <p:nvPr/>
        </p:nvSpPr>
        <p:spPr>
          <a:xfrm>
            <a:off x="5683885"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91" name="任意多边形: 形状 64"/>
          <p:cNvSpPr/>
          <p:nvPr/>
        </p:nvSpPr>
        <p:spPr>
          <a:xfrm>
            <a:off x="6278880"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192" name="矩形: 圆角 65"/>
          <p:cNvSpPr/>
          <p:nvPr/>
        </p:nvSpPr>
        <p:spPr>
          <a:xfrm>
            <a:off x="6576060"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93" name="任意多边形: 形状 66"/>
          <p:cNvSpPr/>
          <p:nvPr/>
        </p:nvSpPr>
        <p:spPr>
          <a:xfrm>
            <a:off x="7171055"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194" name="任意多边形: 形状 72"/>
          <p:cNvSpPr/>
          <p:nvPr/>
        </p:nvSpPr>
        <p:spPr>
          <a:xfrm>
            <a:off x="7964170" y="4516755"/>
            <a:ext cx="257810" cy="182880"/>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95" name="任意多边形: 形状 73"/>
          <p:cNvSpPr/>
          <p:nvPr/>
        </p:nvSpPr>
        <p:spPr>
          <a:xfrm>
            <a:off x="10072370" y="3981450"/>
            <a:ext cx="182880" cy="25781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96" name="任意多边形: 形状 80"/>
          <p:cNvSpPr/>
          <p:nvPr/>
        </p:nvSpPr>
        <p:spPr>
          <a:xfrm>
            <a:off x="7065010" y="3981450"/>
            <a:ext cx="182880" cy="25781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97" name="任意多边形: 形状 81"/>
          <p:cNvSpPr/>
          <p:nvPr/>
        </p:nvSpPr>
        <p:spPr>
          <a:xfrm>
            <a:off x="5948045" y="3981450"/>
            <a:ext cx="182880" cy="25781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98" name="任意多边形: 形状 83"/>
          <p:cNvSpPr/>
          <p:nvPr/>
        </p:nvSpPr>
        <p:spPr>
          <a:xfrm>
            <a:off x="4838065" y="3981450"/>
            <a:ext cx="182880" cy="25781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199" name="任意多边形: 形状 84"/>
          <p:cNvSpPr/>
          <p:nvPr/>
        </p:nvSpPr>
        <p:spPr>
          <a:xfrm>
            <a:off x="3701415" y="3981450"/>
            <a:ext cx="182880" cy="25781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200" name="任意多边形: 形状 85"/>
          <p:cNvSpPr/>
          <p:nvPr/>
        </p:nvSpPr>
        <p:spPr>
          <a:xfrm>
            <a:off x="2644140" y="3981450"/>
            <a:ext cx="182880" cy="25781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201" name="任意多边形: 形状 86"/>
          <p:cNvSpPr/>
          <p:nvPr/>
        </p:nvSpPr>
        <p:spPr>
          <a:xfrm>
            <a:off x="1533525" y="3981450"/>
            <a:ext cx="182880" cy="25781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endParaRPr>
          </a:p>
        </p:txBody>
      </p:sp>
      <p:sp>
        <p:nvSpPr>
          <p:cNvPr id="202" name="任意多边形: 形状 87"/>
          <p:cNvSpPr/>
          <p:nvPr/>
        </p:nvSpPr>
        <p:spPr>
          <a:xfrm>
            <a:off x="7964170" y="5052060"/>
            <a:ext cx="257810" cy="182880"/>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rgbClr val="B3D4FE">
                  <a:alpha val="0"/>
                </a:srgbClr>
              </a:gs>
              <a:gs pos="84000">
                <a:srgbClr val="B3D4FE"/>
              </a:gs>
            </a:gsLst>
            <a:lin ang="16200000" scaled="1"/>
            <a:tileRect/>
          </a:gradFill>
          <a:ln>
            <a:noFill/>
          </a:ln>
          <a:effectLst/>
        </p:spPr>
        <p:style>
          <a:lnRef idx="0">
            <a:scrgbClr r="0" g="0" b="0"/>
          </a:lnRef>
          <a:fillRef idx="0">
            <a:scrgbClr r="0" g="0" b="0"/>
          </a:fillRef>
          <a:effectRef idx="0">
            <a:scrgbClr r="0" g="0" b="0"/>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gradFill flip="none" rotWithShape="1">
                <a:gsLst>
                  <a:gs pos="0">
                    <a:srgbClr val="0042FF"/>
                  </a:gs>
                  <a:gs pos="100000">
                    <a:srgbClr val="0042FF"/>
                  </a:gs>
                </a:gsLst>
                <a:lin ang="16200000" scaled="1"/>
                <a:tileRect/>
              </a:gradFill>
              <a:latin typeface="微软雅黑"/>
              <a:ea typeface="微软雅黑"/>
              <a:cs typeface="微软雅黑"/>
              <a:sym typeface="微软雅黑"/>
            </a:endParaRPr>
          </a:p>
        </p:txBody>
      </p:sp>
      <p:sp>
        <p:nvSpPr>
          <p:cNvPr id="203" name="矩形: 圆角 91"/>
          <p:cNvSpPr/>
          <p:nvPr/>
        </p:nvSpPr>
        <p:spPr>
          <a:xfrm>
            <a:off x="7468235" y="3604895"/>
            <a:ext cx="661035"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04" name="矩形: 圆角 92"/>
          <p:cNvSpPr/>
          <p:nvPr/>
        </p:nvSpPr>
        <p:spPr>
          <a:xfrm>
            <a:off x="8552180"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05" name="任意多边形: 形状 93"/>
          <p:cNvSpPr/>
          <p:nvPr/>
        </p:nvSpPr>
        <p:spPr>
          <a:xfrm>
            <a:off x="9147175"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06" name="矩形: 圆角 94"/>
          <p:cNvSpPr/>
          <p:nvPr/>
        </p:nvSpPr>
        <p:spPr>
          <a:xfrm>
            <a:off x="9444355"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07" name="任意多边形: 形状 95"/>
          <p:cNvSpPr/>
          <p:nvPr/>
        </p:nvSpPr>
        <p:spPr>
          <a:xfrm>
            <a:off x="10039350"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08" name="矩形: 圆角 96"/>
          <p:cNvSpPr/>
          <p:nvPr/>
        </p:nvSpPr>
        <p:spPr>
          <a:xfrm>
            <a:off x="10336530" y="3604895"/>
            <a:ext cx="44958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09" name="任意多边形: 形状 97"/>
          <p:cNvSpPr/>
          <p:nvPr/>
        </p:nvSpPr>
        <p:spPr>
          <a:xfrm>
            <a:off x="10825480" y="3645535"/>
            <a:ext cx="257810" cy="182880"/>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solidFill>
            <a:srgbClr val="E6E6E6"/>
          </a:solidFill>
          <a:ln>
            <a:solidFill>
              <a:srgbClr val="0042FF"/>
            </a:solidFill>
          </a:ln>
        </p:spPr>
        <p:style>
          <a:lnRef idx="1">
            <a:srgbClr val="0042FF"/>
          </a:lnRef>
          <a:fillRef idx="2">
            <a:srgbClr val="0042FF"/>
          </a:fillRef>
          <a:effectRef idx="1">
            <a:srgbClr val="0042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10" name="矩形: 圆角 98"/>
          <p:cNvSpPr/>
          <p:nvPr/>
        </p:nvSpPr>
        <p:spPr>
          <a:xfrm>
            <a:off x="11123295" y="3604895"/>
            <a:ext cx="554990" cy="264160"/>
          </a:xfrm>
          <a:prstGeom prst="roundRect">
            <a:avLst>
              <a:gd name="adj" fmla="val 12000"/>
            </a:avLst>
          </a:prstGeom>
          <a:ln>
            <a:solidFill>
              <a:srgbClr val="0042FF">
                <a:alpha val="70000"/>
              </a:srgbClr>
            </a:solidFill>
          </a:ln>
        </p:spPr>
        <p:style>
          <a:lnRef idx="2">
            <a:srgbClr val="668EFF"/>
          </a:lnRef>
          <a:fillRef idx="1">
            <a:srgbClr val="FFFFFF"/>
          </a:fillRef>
          <a:effectRef idx="0">
            <a:srgbClr val="668E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11" name="矩形: 圆角 99"/>
          <p:cNvSpPr/>
          <p:nvPr/>
        </p:nvSpPr>
        <p:spPr>
          <a:xfrm>
            <a:off x="4130675" y="5858510"/>
            <a:ext cx="1830705" cy="409575"/>
          </a:xfrm>
          <a:prstGeom prst="roundRect">
            <a:avLst>
              <a:gd name="adj" fmla="val 8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12" name="矩形: 圆角 100"/>
          <p:cNvSpPr/>
          <p:nvPr/>
        </p:nvSpPr>
        <p:spPr>
          <a:xfrm>
            <a:off x="6939915" y="5858510"/>
            <a:ext cx="1830705" cy="409575"/>
          </a:xfrm>
          <a:prstGeom prst="roundRect">
            <a:avLst>
              <a:gd name="adj" fmla="val 8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13" name="矩形: 圆角 101"/>
          <p:cNvSpPr/>
          <p:nvPr/>
        </p:nvSpPr>
        <p:spPr>
          <a:xfrm>
            <a:off x="9649460" y="5858510"/>
            <a:ext cx="1830705" cy="409575"/>
          </a:xfrm>
          <a:prstGeom prst="roundRect">
            <a:avLst>
              <a:gd name="adj" fmla="val 8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a:solidFill>
                <a:srgbClr val="0042FF"/>
              </a:solidFill>
              <a:latin typeface="微软雅黑"/>
              <a:ea typeface="微软雅黑"/>
              <a:cs typeface="微软雅黑"/>
              <a:sym typeface="微软雅黑"/>
            </a:endParaRPr>
          </a:p>
        </p:txBody>
      </p:sp>
      <p:sp>
        <p:nvSpPr>
          <p:cNvPr id="214" name="矩形: 圆角 102"/>
          <p:cNvSpPr/>
          <p:nvPr/>
        </p:nvSpPr>
        <p:spPr>
          <a:xfrm>
            <a:off x="1467485" y="5858510"/>
            <a:ext cx="1830705" cy="409575"/>
          </a:xfrm>
          <a:prstGeom prst="roundRect">
            <a:avLst>
              <a:gd name="adj" fmla="val 8000"/>
            </a:avLst>
          </a:prstGeom>
          <a:ln>
            <a:solidFill>
              <a:srgbClr val="0042FF"/>
            </a:solidFill>
          </a:ln>
        </p:spPr>
        <p:style>
          <a:lnRef idx="2">
            <a:srgbClr val="3368FF"/>
          </a:lnRef>
          <a:fillRef idx="1">
            <a:srgbClr val="FFFFFF"/>
          </a:fillRef>
          <a:effectRef idx="0">
            <a:srgbClr val="3368FF"/>
          </a:effectRef>
          <a:fontRef idx="minor">
            <a:srgbClr val="383838"/>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215" name="文本框 214"/>
          <p:cNvSpPr txBox="1"/>
          <p:nvPr/>
        </p:nvSpPr>
        <p:spPr>
          <a:xfrm>
            <a:off x="605155" y="1584325"/>
            <a:ext cx="225425" cy="92329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rPr>
              <a:t>行业化应用</a:t>
            </a:r>
            <a:endParaRPr lang="zh-CN" altLang="en-US" sz="1200" b="1" dirty="0">
              <a:solidFill>
                <a:srgbClr val="FFFFFF"/>
              </a:solidFill>
              <a:effectLst/>
              <a:latin typeface="微软雅黑"/>
              <a:ea typeface="微软雅黑"/>
              <a:cs typeface="微软雅黑"/>
            </a:endParaRPr>
          </a:p>
        </p:txBody>
      </p:sp>
      <p:sp>
        <p:nvSpPr>
          <p:cNvPr id="216" name="文本框 215"/>
          <p:cNvSpPr txBox="1"/>
          <p:nvPr/>
        </p:nvSpPr>
        <p:spPr>
          <a:xfrm>
            <a:off x="605155" y="3088005"/>
            <a:ext cx="225425" cy="738505"/>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rPr>
              <a:t>通用场景</a:t>
            </a:r>
            <a:endParaRPr lang="zh-CN" altLang="en-US" sz="1200" b="1" dirty="0">
              <a:solidFill>
                <a:srgbClr val="FFFFFF"/>
              </a:solidFill>
              <a:effectLst/>
              <a:latin typeface="微软雅黑"/>
              <a:ea typeface="微软雅黑"/>
              <a:cs typeface="微软雅黑"/>
            </a:endParaRPr>
          </a:p>
        </p:txBody>
      </p:sp>
      <p:sp>
        <p:nvSpPr>
          <p:cNvPr id="217" name="文本框 216"/>
          <p:cNvSpPr txBox="1"/>
          <p:nvPr/>
        </p:nvSpPr>
        <p:spPr>
          <a:xfrm>
            <a:off x="601980" y="4624070"/>
            <a:ext cx="225425" cy="1292225"/>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rPr>
              <a:t>在线化签约平台</a:t>
            </a:r>
            <a:endParaRPr lang="zh-CN" altLang="en-US" sz="1200" b="1" dirty="0">
              <a:solidFill>
                <a:srgbClr val="FFFFFF"/>
              </a:solidFill>
              <a:effectLst/>
              <a:latin typeface="微软雅黑"/>
              <a:ea typeface="微软雅黑"/>
              <a:cs typeface="微软雅黑"/>
            </a:endParaRPr>
          </a:p>
        </p:txBody>
      </p:sp>
      <p:sp>
        <p:nvSpPr>
          <p:cNvPr id="220" name="文本框 219"/>
          <p:cNvSpPr txBox="1"/>
          <p:nvPr/>
        </p:nvSpPr>
        <p:spPr>
          <a:xfrm>
            <a:off x="2376805" y="3138170"/>
            <a:ext cx="85090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人力资源场景</a:t>
            </a:r>
            <a:endParaRPr lang="zh-CN" altLang="en-US" sz="1000" b="1" dirty="0">
              <a:solidFill>
                <a:srgbClr val="0042FF"/>
              </a:solidFill>
              <a:effectLst/>
              <a:latin typeface="微软雅黑"/>
              <a:ea typeface="微软雅黑"/>
              <a:cs typeface="微软雅黑"/>
            </a:endParaRPr>
          </a:p>
        </p:txBody>
      </p:sp>
      <p:sp>
        <p:nvSpPr>
          <p:cNvPr id="221" name="文本框 220"/>
          <p:cNvSpPr txBox="1"/>
          <p:nvPr/>
        </p:nvSpPr>
        <p:spPr>
          <a:xfrm>
            <a:off x="5953125" y="3138170"/>
            <a:ext cx="100838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采购供应链场景</a:t>
            </a:r>
            <a:endParaRPr lang="zh-CN" altLang="en-US" sz="1000" b="1" dirty="0">
              <a:solidFill>
                <a:srgbClr val="0042FF"/>
              </a:solidFill>
              <a:effectLst/>
              <a:latin typeface="微软雅黑"/>
              <a:ea typeface="微软雅黑"/>
              <a:cs typeface="微软雅黑"/>
            </a:endParaRPr>
          </a:p>
        </p:txBody>
      </p:sp>
      <p:sp>
        <p:nvSpPr>
          <p:cNvPr id="222" name="文本框 221"/>
          <p:cNvSpPr txBox="1"/>
          <p:nvPr/>
        </p:nvSpPr>
        <p:spPr>
          <a:xfrm>
            <a:off x="9884410" y="3138170"/>
            <a:ext cx="66675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数据汇集</a:t>
            </a:r>
            <a:endParaRPr lang="zh-CN" altLang="en-US" sz="1000" b="1" dirty="0">
              <a:solidFill>
                <a:srgbClr val="0042FF"/>
              </a:solidFill>
              <a:effectLst/>
              <a:latin typeface="微软雅黑"/>
              <a:ea typeface="微软雅黑"/>
              <a:cs typeface="微软雅黑"/>
            </a:endParaRPr>
          </a:p>
        </p:txBody>
      </p:sp>
      <p:sp>
        <p:nvSpPr>
          <p:cNvPr id="223" name="文本框 222"/>
          <p:cNvSpPr txBox="1"/>
          <p:nvPr/>
        </p:nvSpPr>
        <p:spPr>
          <a:xfrm>
            <a:off x="1254125"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入职场景</a:t>
            </a:r>
            <a:endParaRPr lang="zh-CN" altLang="en-US" sz="1000" dirty="0">
              <a:solidFill>
                <a:srgbClr val="383838"/>
              </a:solidFill>
              <a:effectLst/>
              <a:latin typeface="微软雅黑"/>
              <a:ea typeface="微软雅黑"/>
              <a:cs typeface="微软雅黑"/>
            </a:endParaRPr>
          </a:p>
        </p:txBody>
      </p:sp>
      <p:sp>
        <p:nvSpPr>
          <p:cNvPr id="224" name="文本框 223"/>
          <p:cNvSpPr txBox="1"/>
          <p:nvPr/>
        </p:nvSpPr>
        <p:spPr>
          <a:xfrm>
            <a:off x="2146300"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转岗场景</a:t>
            </a:r>
            <a:endParaRPr lang="zh-CN" altLang="en-US" sz="1000" dirty="0">
              <a:solidFill>
                <a:srgbClr val="383838"/>
              </a:solidFill>
              <a:effectLst/>
              <a:latin typeface="微软雅黑"/>
              <a:ea typeface="微软雅黑"/>
              <a:cs typeface="微软雅黑"/>
            </a:endParaRPr>
          </a:p>
        </p:txBody>
      </p:sp>
      <p:sp>
        <p:nvSpPr>
          <p:cNvPr id="225" name="文本框 224"/>
          <p:cNvSpPr txBox="1"/>
          <p:nvPr/>
        </p:nvSpPr>
        <p:spPr>
          <a:xfrm>
            <a:off x="3038475" y="3672840"/>
            <a:ext cx="426720" cy="313690"/>
          </a:xfrm>
          <a:prstGeom prst="rect">
            <a:avLst/>
          </a:prstGeom>
          <a:noFill/>
          <a:effectLst>
            <a:outerShdw blurRad="254000" dist="63500" dir="5400000" algn="t" rotWithShape="0">
              <a:srgbClr val="0042FF">
                <a:alpha val="10000"/>
              </a:srgbClr>
            </a:outerShdw>
          </a:effectLst>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调岗场景</a:t>
            </a:r>
            <a:endParaRPr lang="zh-CN" altLang="en-US" sz="1000" dirty="0">
              <a:solidFill>
                <a:srgbClr val="383838"/>
              </a:solidFill>
              <a:effectLst/>
              <a:latin typeface="微软雅黑"/>
              <a:ea typeface="微软雅黑"/>
              <a:cs typeface="微软雅黑"/>
            </a:endParaRPr>
          </a:p>
        </p:txBody>
      </p:sp>
      <p:sp>
        <p:nvSpPr>
          <p:cNvPr id="226" name="文本框 225"/>
          <p:cNvSpPr txBox="1"/>
          <p:nvPr/>
        </p:nvSpPr>
        <p:spPr>
          <a:xfrm>
            <a:off x="3930650"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离职场景</a:t>
            </a:r>
            <a:endParaRPr lang="zh-CN" altLang="en-US" sz="1000" dirty="0">
              <a:solidFill>
                <a:srgbClr val="383838"/>
              </a:solidFill>
              <a:effectLst/>
              <a:latin typeface="微软雅黑"/>
              <a:ea typeface="微软雅黑"/>
              <a:cs typeface="微软雅黑"/>
            </a:endParaRPr>
          </a:p>
        </p:txBody>
      </p:sp>
      <p:sp>
        <p:nvSpPr>
          <p:cNvPr id="227" name="文本框 226"/>
          <p:cNvSpPr txBox="1"/>
          <p:nvPr/>
        </p:nvSpPr>
        <p:spPr>
          <a:xfrm>
            <a:off x="4855845"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战略合作</a:t>
            </a:r>
            <a:endParaRPr lang="zh-CN" altLang="en-US" sz="1000" dirty="0">
              <a:solidFill>
                <a:srgbClr val="383838"/>
              </a:solidFill>
              <a:effectLst/>
              <a:latin typeface="微软雅黑"/>
              <a:ea typeface="微软雅黑"/>
              <a:cs typeface="微软雅黑"/>
            </a:endParaRPr>
          </a:p>
        </p:txBody>
      </p:sp>
      <p:sp>
        <p:nvSpPr>
          <p:cNvPr id="228" name="文本框 227"/>
          <p:cNvSpPr txBox="1"/>
          <p:nvPr/>
        </p:nvSpPr>
        <p:spPr>
          <a:xfrm>
            <a:off x="5734685"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采集协议</a:t>
            </a:r>
            <a:endParaRPr lang="zh-CN" altLang="en-US" sz="1000" dirty="0">
              <a:solidFill>
                <a:srgbClr val="383838"/>
              </a:solidFill>
              <a:effectLst/>
              <a:latin typeface="微软雅黑"/>
              <a:ea typeface="微软雅黑"/>
              <a:cs typeface="微软雅黑"/>
            </a:endParaRPr>
          </a:p>
        </p:txBody>
      </p:sp>
      <p:sp>
        <p:nvSpPr>
          <p:cNvPr id="229" name="文本框 228"/>
          <p:cNvSpPr txBox="1"/>
          <p:nvPr/>
        </p:nvSpPr>
        <p:spPr>
          <a:xfrm>
            <a:off x="6640195"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采购协议</a:t>
            </a:r>
            <a:endParaRPr lang="zh-CN" altLang="en-US" sz="1000" dirty="0">
              <a:solidFill>
                <a:srgbClr val="383838"/>
              </a:solidFill>
              <a:effectLst/>
              <a:latin typeface="微软雅黑"/>
              <a:ea typeface="微软雅黑"/>
              <a:cs typeface="微软雅黑"/>
            </a:endParaRPr>
          </a:p>
        </p:txBody>
      </p:sp>
      <p:sp>
        <p:nvSpPr>
          <p:cNvPr id="230" name="文本框 229"/>
          <p:cNvSpPr txBox="1"/>
          <p:nvPr/>
        </p:nvSpPr>
        <p:spPr>
          <a:xfrm>
            <a:off x="7531735" y="3672840"/>
            <a:ext cx="534035"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供应链金融</a:t>
            </a:r>
            <a:endParaRPr lang="zh-CN" altLang="en-US" sz="1000" dirty="0">
              <a:solidFill>
                <a:srgbClr val="383838"/>
              </a:solidFill>
              <a:effectLst/>
              <a:latin typeface="微软雅黑"/>
              <a:ea typeface="微软雅黑"/>
              <a:cs typeface="微软雅黑"/>
            </a:endParaRPr>
          </a:p>
        </p:txBody>
      </p:sp>
      <p:sp>
        <p:nvSpPr>
          <p:cNvPr id="231" name="文本框 230"/>
          <p:cNvSpPr txBox="1"/>
          <p:nvPr/>
        </p:nvSpPr>
        <p:spPr>
          <a:xfrm>
            <a:off x="8616315"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销售协议</a:t>
            </a:r>
            <a:endParaRPr lang="zh-CN" altLang="en-US" sz="1000" dirty="0">
              <a:solidFill>
                <a:srgbClr val="383838"/>
              </a:solidFill>
              <a:effectLst/>
              <a:latin typeface="微软雅黑"/>
              <a:ea typeface="微软雅黑"/>
              <a:cs typeface="微软雅黑"/>
            </a:endParaRPr>
          </a:p>
        </p:txBody>
      </p:sp>
      <p:sp>
        <p:nvSpPr>
          <p:cNvPr id="232" name="文本框 231"/>
          <p:cNvSpPr txBox="1"/>
          <p:nvPr/>
        </p:nvSpPr>
        <p:spPr>
          <a:xfrm>
            <a:off x="9508490"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销售订单</a:t>
            </a:r>
            <a:endParaRPr lang="zh-CN" altLang="en-US" sz="1000" dirty="0">
              <a:solidFill>
                <a:srgbClr val="383838"/>
              </a:solidFill>
              <a:effectLst/>
              <a:latin typeface="微软雅黑"/>
              <a:ea typeface="微软雅黑"/>
              <a:cs typeface="微软雅黑"/>
            </a:endParaRPr>
          </a:p>
        </p:txBody>
      </p:sp>
      <p:sp>
        <p:nvSpPr>
          <p:cNvPr id="233" name="文本框 232"/>
          <p:cNvSpPr txBox="1"/>
          <p:nvPr/>
        </p:nvSpPr>
        <p:spPr>
          <a:xfrm>
            <a:off x="10401300" y="3672840"/>
            <a:ext cx="320675"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对账单</a:t>
            </a:r>
            <a:endParaRPr lang="zh-CN" altLang="en-US" sz="1000" dirty="0">
              <a:solidFill>
                <a:srgbClr val="383838"/>
              </a:solidFill>
              <a:effectLst/>
              <a:latin typeface="微软雅黑"/>
              <a:ea typeface="微软雅黑"/>
              <a:cs typeface="微软雅黑"/>
            </a:endParaRPr>
          </a:p>
        </p:txBody>
      </p:sp>
      <p:sp>
        <p:nvSpPr>
          <p:cNvPr id="234" name="文本框 233"/>
          <p:cNvSpPr txBox="1"/>
          <p:nvPr/>
        </p:nvSpPr>
        <p:spPr>
          <a:xfrm>
            <a:off x="11186795" y="3672840"/>
            <a:ext cx="426720" cy="31369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物流场景</a:t>
            </a:r>
            <a:endParaRPr lang="zh-CN" altLang="en-US" sz="1000" dirty="0">
              <a:solidFill>
                <a:srgbClr val="383838"/>
              </a:solidFill>
              <a:effectLst/>
              <a:latin typeface="微软雅黑"/>
              <a:ea typeface="微软雅黑"/>
              <a:cs typeface="微软雅黑"/>
            </a:endParaRPr>
          </a:p>
        </p:txBody>
      </p:sp>
      <p:sp>
        <p:nvSpPr>
          <p:cNvPr id="235" name="文本框 234"/>
          <p:cNvSpPr txBox="1"/>
          <p:nvPr/>
        </p:nvSpPr>
        <p:spPr>
          <a:xfrm>
            <a:off x="1347153" y="4550410"/>
            <a:ext cx="56451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实名认证</a:t>
            </a:r>
            <a:endParaRPr lang="zh-CN" altLang="en-US" sz="1000" dirty="0">
              <a:solidFill>
                <a:srgbClr val="0042FF"/>
              </a:solidFill>
              <a:effectLst/>
              <a:latin typeface="微软雅黑"/>
              <a:ea typeface="微软雅黑"/>
              <a:cs typeface="微软雅黑"/>
            </a:endParaRPr>
          </a:p>
        </p:txBody>
      </p:sp>
      <p:sp>
        <p:nvSpPr>
          <p:cNvPr id="236" name="文本框 235"/>
          <p:cNvSpPr txBox="1"/>
          <p:nvPr/>
        </p:nvSpPr>
        <p:spPr>
          <a:xfrm>
            <a:off x="2457768" y="4550410"/>
            <a:ext cx="56451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电子文件</a:t>
            </a:r>
            <a:endParaRPr lang="zh-CN" altLang="en-US" sz="1000" dirty="0">
              <a:solidFill>
                <a:srgbClr val="0042FF"/>
              </a:solidFill>
              <a:effectLst/>
              <a:latin typeface="微软雅黑"/>
              <a:ea typeface="微软雅黑"/>
              <a:cs typeface="微软雅黑"/>
            </a:endParaRPr>
          </a:p>
        </p:txBody>
      </p:sp>
      <p:sp>
        <p:nvSpPr>
          <p:cNvPr id="237" name="文本框 236"/>
          <p:cNvSpPr txBox="1"/>
          <p:nvPr/>
        </p:nvSpPr>
        <p:spPr>
          <a:xfrm>
            <a:off x="3541078" y="4550410"/>
            <a:ext cx="56451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签署服务</a:t>
            </a:r>
            <a:endParaRPr lang="zh-CN" altLang="en-US" sz="1000" dirty="0">
              <a:solidFill>
                <a:srgbClr val="0042FF"/>
              </a:solidFill>
              <a:effectLst/>
              <a:latin typeface="微软雅黑"/>
              <a:ea typeface="微软雅黑"/>
              <a:cs typeface="微软雅黑"/>
            </a:endParaRPr>
          </a:p>
        </p:txBody>
      </p:sp>
      <p:sp>
        <p:nvSpPr>
          <p:cNvPr id="238" name="文本框 237"/>
          <p:cNvSpPr txBox="1"/>
          <p:nvPr/>
        </p:nvSpPr>
        <p:spPr>
          <a:xfrm>
            <a:off x="4651693" y="4550410"/>
            <a:ext cx="56451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存证出征</a:t>
            </a:r>
            <a:endParaRPr lang="zh-CN" altLang="en-US" sz="1000" dirty="0">
              <a:solidFill>
                <a:srgbClr val="0042FF"/>
              </a:solidFill>
              <a:effectLst/>
              <a:latin typeface="微软雅黑"/>
              <a:ea typeface="微软雅黑"/>
              <a:cs typeface="微软雅黑"/>
            </a:endParaRPr>
          </a:p>
        </p:txBody>
      </p:sp>
      <p:sp>
        <p:nvSpPr>
          <p:cNvPr id="239" name="文本框 238"/>
          <p:cNvSpPr txBox="1"/>
          <p:nvPr/>
        </p:nvSpPr>
        <p:spPr>
          <a:xfrm>
            <a:off x="5761673" y="4550410"/>
            <a:ext cx="56451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印章管理</a:t>
            </a:r>
            <a:endParaRPr lang="zh-CN" altLang="en-US" sz="1000" dirty="0">
              <a:solidFill>
                <a:srgbClr val="0042FF"/>
              </a:solidFill>
              <a:effectLst/>
              <a:latin typeface="微软雅黑"/>
              <a:ea typeface="微软雅黑"/>
              <a:cs typeface="微软雅黑"/>
            </a:endParaRPr>
          </a:p>
        </p:txBody>
      </p:sp>
      <p:sp>
        <p:nvSpPr>
          <p:cNvPr id="240" name="文本框 239"/>
          <p:cNvSpPr txBox="1"/>
          <p:nvPr/>
        </p:nvSpPr>
        <p:spPr>
          <a:xfrm>
            <a:off x="6872288" y="4550410"/>
            <a:ext cx="56451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法律服务</a:t>
            </a:r>
            <a:endParaRPr lang="zh-CN" altLang="en-US" sz="1000" dirty="0">
              <a:solidFill>
                <a:srgbClr val="0042FF"/>
              </a:solidFill>
              <a:effectLst/>
              <a:latin typeface="微软雅黑"/>
              <a:ea typeface="微软雅黑"/>
              <a:cs typeface="微软雅黑"/>
            </a:endParaRPr>
          </a:p>
        </p:txBody>
      </p:sp>
      <p:sp>
        <p:nvSpPr>
          <p:cNvPr id="241" name="文本框 240"/>
          <p:cNvSpPr txBox="1"/>
          <p:nvPr/>
        </p:nvSpPr>
        <p:spPr>
          <a:xfrm>
            <a:off x="3790950" y="5085715"/>
            <a:ext cx="141160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电子合同签约服务平台</a:t>
            </a:r>
            <a:endParaRPr lang="zh-CN" altLang="en-US" sz="1000" b="1" dirty="0">
              <a:solidFill>
                <a:srgbClr val="0042FF"/>
              </a:solidFill>
              <a:effectLst/>
              <a:latin typeface="微软雅黑"/>
              <a:ea typeface="微软雅黑"/>
              <a:cs typeface="微软雅黑"/>
            </a:endParaRPr>
          </a:p>
        </p:txBody>
      </p:sp>
      <p:sp>
        <p:nvSpPr>
          <p:cNvPr id="242" name="文本框 241"/>
          <p:cNvSpPr txBox="1"/>
          <p:nvPr/>
        </p:nvSpPr>
        <p:spPr>
          <a:xfrm>
            <a:off x="8772525" y="4728845"/>
            <a:ext cx="53848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en-US" altLang="zh-CN" sz="1000" dirty="0">
                <a:solidFill>
                  <a:srgbClr val="0042FF"/>
                </a:solidFill>
                <a:effectLst/>
                <a:latin typeface="微软雅黑"/>
                <a:ea typeface="微软雅黑"/>
                <a:cs typeface="微软雅黑"/>
              </a:rPr>
              <a:t>ERP</a:t>
            </a:r>
            <a:r>
              <a:rPr lang="zh-CN" altLang="en-US" sz="1000" dirty="0">
                <a:solidFill>
                  <a:srgbClr val="0042FF"/>
                </a:solidFill>
                <a:effectLst/>
                <a:latin typeface="微软雅黑"/>
                <a:ea typeface="微软雅黑"/>
                <a:cs typeface="微软雅黑"/>
              </a:rPr>
              <a:t>系统</a:t>
            </a:r>
            <a:endParaRPr lang="zh-CN" altLang="en-US" sz="1000" dirty="0">
              <a:solidFill>
                <a:srgbClr val="0042FF"/>
              </a:solidFill>
              <a:effectLst/>
              <a:latin typeface="微软雅黑"/>
              <a:ea typeface="微软雅黑"/>
              <a:cs typeface="微软雅黑"/>
            </a:endParaRPr>
          </a:p>
        </p:txBody>
      </p:sp>
      <p:sp>
        <p:nvSpPr>
          <p:cNvPr id="243" name="文本框 242"/>
          <p:cNvSpPr txBox="1"/>
          <p:nvPr/>
        </p:nvSpPr>
        <p:spPr>
          <a:xfrm>
            <a:off x="9954260" y="4728845"/>
            <a:ext cx="49339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en-US" altLang="zh-CN" sz="1000" dirty="0">
                <a:solidFill>
                  <a:srgbClr val="0042FF"/>
                </a:solidFill>
                <a:effectLst/>
                <a:latin typeface="微软雅黑"/>
                <a:ea typeface="微软雅黑"/>
                <a:cs typeface="微软雅黑"/>
              </a:rPr>
              <a:t>OA</a:t>
            </a:r>
            <a:r>
              <a:rPr lang="zh-CN" altLang="en-US" sz="1000" dirty="0">
                <a:solidFill>
                  <a:srgbClr val="0042FF"/>
                </a:solidFill>
                <a:effectLst/>
                <a:latin typeface="微软雅黑"/>
                <a:ea typeface="微软雅黑"/>
                <a:cs typeface="微软雅黑"/>
              </a:rPr>
              <a:t>系统</a:t>
            </a:r>
            <a:endParaRPr lang="zh-CN" altLang="en-US" sz="1000" dirty="0">
              <a:solidFill>
                <a:srgbClr val="0042FF"/>
              </a:solidFill>
              <a:effectLst/>
              <a:latin typeface="微软雅黑"/>
              <a:ea typeface="微软雅黑"/>
              <a:cs typeface="微软雅黑"/>
            </a:endParaRPr>
          </a:p>
        </p:txBody>
      </p:sp>
      <p:sp>
        <p:nvSpPr>
          <p:cNvPr id="244" name="文本框 243"/>
          <p:cNvSpPr txBox="1"/>
          <p:nvPr/>
        </p:nvSpPr>
        <p:spPr>
          <a:xfrm>
            <a:off x="11056620" y="4728845"/>
            <a:ext cx="55626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en-US" altLang="zh-CN" sz="1000" dirty="0">
                <a:solidFill>
                  <a:srgbClr val="0042FF"/>
                </a:solidFill>
                <a:effectLst/>
                <a:latin typeface="微软雅黑"/>
                <a:ea typeface="微软雅黑"/>
                <a:cs typeface="微软雅黑"/>
              </a:rPr>
              <a:t>SRM</a:t>
            </a:r>
            <a:r>
              <a:rPr lang="zh-CN" altLang="en-US" sz="1000" dirty="0">
                <a:solidFill>
                  <a:srgbClr val="0042FF"/>
                </a:solidFill>
                <a:effectLst/>
                <a:latin typeface="微软雅黑"/>
                <a:ea typeface="微软雅黑"/>
                <a:cs typeface="微软雅黑"/>
              </a:rPr>
              <a:t>系统</a:t>
            </a:r>
            <a:endParaRPr lang="zh-CN" altLang="en-US" sz="1000" dirty="0">
              <a:solidFill>
                <a:srgbClr val="0042FF"/>
              </a:solidFill>
              <a:effectLst/>
              <a:latin typeface="微软雅黑"/>
              <a:ea typeface="微软雅黑"/>
              <a:cs typeface="微软雅黑"/>
            </a:endParaRPr>
          </a:p>
        </p:txBody>
      </p:sp>
      <p:sp>
        <p:nvSpPr>
          <p:cNvPr id="245" name="文本框 244"/>
          <p:cNvSpPr txBox="1"/>
          <p:nvPr/>
        </p:nvSpPr>
        <p:spPr>
          <a:xfrm>
            <a:off x="8797290" y="5244465"/>
            <a:ext cx="47942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en-US" altLang="zh-CN" sz="1000" dirty="0">
                <a:solidFill>
                  <a:srgbClr val="0042FF"/>
                </a:solidFill>
                <a:effectLst/>
                <a:latin typeface="微软雅黑"/>
                <a:ea typeface="微软雅黑"/>
                <a:cs typeface="微软雅黑"/>
              </a:rPr>
              <a:t>HR</a:t>
            </a:r>
            <a:r>
              <a:rPr lang="zh-CN" altLang="en-US" sz="1000" dirty="0">
                <a:solidFill>
                  <a:srgbClr val="0042FF"/>
                </a:solidFill>
                <a:effectLst/>
                <a:latin typeface="微软雅黑"/>
                <a:ea typeface="微软雅黑"/>
                <a:cs typeface="微软雅黑"/>
              </a:rPr>
              <a:t>系统</a:t>
            </a:r>
            <a:endParaRPr lang="zh-CN" altLang="en-US" sz="1000" dirty="0">
              <a:solidFill>
                <a:srgbClr val="0042FF"/>
              </a:solidFill>
              <a:effectLst/>
              <a:latin typeface="微软雅黑"/>
              <a:ea typeface="微软雅黑"/>
              <a:cs typeface="微软雅黑"/>
            </a:endParaRPr>
          </a:p>
        </p:txBody>
      </p:sp>
      <p:sp>
        <p:nvSpPr>
          <p:cNvPr id="246" name="文本框 245"/>
          <p:cNvSpPr txBox="1"/>
          <p:nvPr/>
        </p:nvSpPr>
        <p:spPr>
          <a:xfrm>
            <a:off x="9907905" y="5244465"/>
            <a:ext cx="60388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en-US" altLang="zh-CN" sz="1000" dirty="0">
                <a:solidFill>
                  <a:srgbClr val="0042FF"/>
                </a:solidFill>
                <a:effectLst/>
                <a:latin typeface="微软雅黑"/>
                <a:ea typeface="微软雅黑"/>
                <a:cs typeface="微软雅黑"/>
              </a:rPr>
              <a:t>CRM</a:t>
            </a:r>
            <a:r>
              <a:rPr lang="zh-CN" altLang="en-US" sz="1000" dirty="0">
                <a:solidFill>
                  <a:srgbClr val="0042FF"/>
                </a:solidFill>
                <a:effectLst/>
                <a:latin typeface="微软雅黑"/>
                <a:ea typeface="微软雅黑"/>
                <a:cs typeface="微软雅黑"/>
              </a:rPr>
              <a:t>系统</a:t>
            </a:r>
            <a:endParaRPr lang="zh-CN" altLang="en-US" sz="1000" dirty="0">
              <a:solidFill>
                <a:srgbClr val="0042FF"/>
              </a:solidFill>
              <a:effectLst/>
              <a:latin typeface="微软雅黑"/>
              <a:ea typeface="微软雅黑"/>
              <a:cs typeface="微软雅黑"/>
            </a:endParaRPr>
          </a:p>
        </p:txBody>
      </p:sp>
      <p:sp>
        <p:nvSpPr>
          <p:cNvPr id="247" name="文本框 246"/>
          <p:cNvSpPr txBox="1"/>
          <p:nvPr/>
        </p:nvSpPr>
        <p:spPr>
          <a:xfrm>
            <a:off x="11067415" y="5244465"/>
            <a:ext cx="53276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其他系统</a:t>
            </a:r>
            <a:endParaRPr lang="zh-CN" altLang="en-US" sz="1000" dirty="0">
              <a:solidFill>
                <a:srgbClr val="0042FF"/>
              </a:solidFill>
              <a:effectLst/>
              <a:latin typeface="微软雅黑"/>
              <a:ea typeface="微软雅黑"/>
              <a:cs typeface="微软雅黑"/>
            </a:endParaRPr>
          </a:p>
        </p:txBody>
      </p:sp>
      <p:sp>
        <p:nvSpPr>
          <p:cNvPr id="248" name="文本框 247"/>
          <p:cNvSpPr txBox="1"/>
          <p:nvPr/>
        </p:nvSpPr>
        <p:spPr>
          <a:xfrm>
            <a:off x="9757410" y="4335145"/>
            <a:ext cx="1120140" cy="18415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200" b="1" dirty="0">
                <a:solidFill>
                  <a:srgbClr val="0042FF">
                    <a:alpha val="80000"/>
                  </a:srgbClr>
                </a:solidFill>
                <a:effectLst/>
                <a:latin typeface="微软雅黑"/>
                <a:ea typeface="微软雅黑"/>
                <a:cs typeface="微软雅黑"/>
              </a:rPr>
              <a:t>企业业务系统</a:t>
            </a:r>
            <a:endParaRPr lang="zh-CN" altLang="en-US" sz="1200" b="1" dirty="0">
              <a:solidFill>
                <a:srgbClr val="0042FF">
                  <a:alpha val="80000"/>
                </a:srgbClr>
              </a:solidFill>
              <a:effectLst/>
              <a:latin typeface="微软雅黑"/>
              <a:ea typeface="微软雅黑"/>
              <a:cs typeface="微软雅黑"/>
            </a:endParaRPr>
          </a:p>
        </p:txBody>
      </p:sp>
      <p:sp>
        <p:nvSpPr>
          <p:cNvPr id="249" name="文本框 248"/>
          <p:cNvSpPr txBox="1"/>
          <p:nvPr/>
        </p:nvSpPr>
        <p:spPr>
          <a:xfrm>
            <a:off x="7129780" y="5986780"/>
            <a:ext cx="1703705" cy="153670"/>
          </a:xfrm>
          <a:prstGeom prst="rect">
            <a:avLst/>
          </a:prstGeom>
          <a:noFill/>
        </p:spPr>
        <p:txBody>
          <a:bodyPr wrap="square" lIns="0" tIns="0" rIns="0" bIns="0" rtlCol="0" anchor="ctr">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可信电子签（独立存储）</a:t>
            </a:r>
            <a:endParaRPr lang="zh-CN" altLang="en-US" sz="1000" dirty="0">
              <a:solidFill>
                <a:srgbClr val="0042FF"/>
              </a:solidFill>
              <a:effectLst/>
              <a:latin typeface="微软雅黑"/>
              <a:ea typeface="微软雅黑"/>
              <a:cs typeface="微软雅黑"/>
            </a:endParaRPr>
          </a:p>
        </p:txBody>
      </p:sp>
      <p:sp>
        <p:nvSpPr>
          <p:cNvPr id="250" name="文本框 249"/>
          <p:cNvSpPr txBox="1"/>
          <p:nvPr/>
        </p:nvSpPr>
        <p:spPr>
          <a:xfrm>
            <a:off x="4518660" y="5986780"/>
            <a:ext cx="1238250" cy="153670"/>
          </a:xfrm>
          <a:prstGeom prst="rect">
            <a:avLst/>
          </a:prstGeom>
          <a:noFill/>
        </p:spPr>
        <p:txBody>
          <a:bodyPr wrap="square" lIns="0" tIns="0" rIns="0" bIns="0" rtlCol="0" anchor="ctr">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可信电子签约平台</a:t>
            </a:r>
            <a:endParaRPr lang="zh-CN" altLang="en-US" sz="1000" dirty="0">
              <a:solidFill>
                <a:srgbClr val="0042FF"/>
              </a:solidFill>
              <a:effectLst/>
              <a:latin typeface="微软雅黑"/>
              <a:ea typeface="微软雅黑"/>
              <a:cs typeface="微软雅黑"/>
            </a:endParaRPr>
          </a:p>
        </p:txBody>
      </p:sp>
      <p:sp>
        <p:nvSpPr>
          <p:cNvPr id="251" name="文本框 250"/>
          <p:cNvSpPr txBox="1"/>
          <p:nvPr/>
        </p:nvSpPr>
        <p:spPr>
          <a:xfrm>
            <a:off x="2209165" y="5986780"/>
            <a:ext cx="407035" cy="153670"/>
          </a:xfrm>
          <a:prstGeom prst="rect">
            <a:avLst/>
          </a:prstGeom>
          <a:noFill/>
        </p:spPr>
        <p:txBody>
          <a:bodyPr wrap="square" lIns="0" tIns="0" rIns="0" bIns="0" rtlCol="0" anchor="ctr">
            <a:spAutoFit/>
          </a:bodyPr>
          <a:lstStyle/>
          <a:p>
            <a:pPr algn="ctr">
              <a:defRPr>
                <a:latin typeface="微软雅黑"/>
                <a:ea typeface="微软雅黑"/>
                <a:cs typeface="微软雅黑"/>
              </a:defRPr>
            </a:pPr>
            <a:r>
              <a:rPr lang="en-US" altLang="zh-CN" sz="1000" dirty="0">
                <a:solidFill>
                  <a:srgbClr val="0042FF"/>
                </a:solidFill>
                <a:effectLst/>
                <a:latin typeface="微软雅黑"/>
                <a:ea typeface="微软雅黑"/>
                <a:cs typeface="微软雅黑"/>
              </a:rPr>
              <a:t>SAAS</a:t>
            </a:r>
            <a:endParaRPr lang="en-US" altLang="zh-CN" sz="1000" dirty="0">
              <a:solidFill>
                <a:srgbClr val="0042FF"/>
              </a:solidFill>
              <a:effectLst/>
              <a:latin typeface="微软雅黑"/>
              <a:ea typeface="微软雅黑"/>
              <a:cs typeface="微软雅黑"/>
            </a:endParaRPr>
          </a:p>
        </p:txBody>
      </p:sp>
      <p:sp>
        <p:nvSpPr>
          <p:cNvPr id="252" name="文本框 251"/>
          <p:cNvSpPr txBox="1"/>
          <p:nvPr/>
        </p:nvSpPr>
        <p:spPr>
          <a:xfrm>
            <a:off x="10234930" y="5986780"/>
            <a:ext cx="774065" cy="153670"/>
          </a:xfrm>
          <a:prstGeom prst="rect">
            <a:avLst/>
          </a:prstGeom>
          <a:noFill/>
        </p:spPr>
        <p:txBody>
          <a:bodyPr wrap="square" lIns="0" tIns="0" rIns="0" bIns="0" rtlCol="0" anchor="ctr">
            <a:spAutoFit/>
          </a:bodyPr>
          <a:lstStyle/>
          <a:p>
            <a:pPr algn="ctr">
              <a:defRPr>
                <a:latin typeface="微软雅黑"/>
                <a:ea typeface="微软雅黑"/>
                <a:cs typeface="微软雅黑"/>
              </a:defRPr>
            </a:pPr>
            <a:r>
              <a:rPr lang="zh-CN" altLang="en-US" sz="1000" dirty="0">
                <a:solidFill>
                  <a:srgbClr val="0042FF"/>
                </a:solidFill>
                <a:effectLst/>
                <a:latin typeface="微软雅黑"/>
                <a:ea typeface="微软雅黑"/>
                <a:cs typeface="微软雅黑"/>
              </a:rPr>
              <a:t>私有化部署</a:t>
            </a:r>
            <a:endParaRPr lang="zh-CN" altLang="en-US" sz="1000" dirty="0">
              <a:solidFill>
                <a:srgbClr val="0042FF"/>
              </a:solidFill>
              <a:effectLst/>
              <a:latin typeface="微软雅黑"/>
              <a:ea typeface="微软雅黑"/>
              <a:cs typeface="微软雅黑"/>
            </a:endParaRPr>
          </a:p>
        </p:txBody>
      </p:sp>
      <p:sp>
        <p:nvSpPr>
          <p:cNvPr id="253" name="文本框 252"/>
          <p:cNvSpPr txBox="1"/>
          <p:nvPr/>
        </p:nvSpPr>
        <p:spPr>
          <a:xfrm>
            <a:off x="10808335" y="1875790"/>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入驻协议</a:t>
            </a:r>
            <a:endParaRPr lang="zh-CN" altLang="en-US" sz="1000" dirty="0">
              <a:solidFill>
                <a:srgbClr val="383838"/>
              </a:solidFill>
              <a:effectLst/>
              <a:latin typeface="微软雅黑"/>
              <a:ea typeface="微软雅黑"/>
              <a:cs typeface="微软雅黑"/>
            </a:endParaRPr>
          </a:p>
        </p:txBody>
      </p:sp>
      <p:sp>
        <p:nvSpPr>
          <p:cNvPr id="254" name="文本框 253"/>
          <p:cNvSpPr txBox="1"/>
          <p:nvPr/>
        </p:nvSpPr>
        <p:spPr>
          <a:xfrm>
            <a:off x="10820718" y="2110105"/>
            <a:ext cx="61785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en-US" altLang="zh-CN" sz="1000" dirty="0">
                <a:solidFill>
                  <a:srgbClr val="383838"/>
                </a:solidFill>
                <a:effectLst/>
                <a:latin typeface="微软雅黑"/>
                <a:ea typeface="微软雅黑"/>
                <a:cs typeface="微软雅黑"/>
              </a:rPr>
              <a:t>B2B</a:t>
            </a:r>
            <a:r>
              <a:rPr lang="zh-CN" altLang="en-US" sz="1000" dirty="0">
                <a:solidFill>
                  <a:srgbClr val="383838"/>
                </a:solidFill>
                <a:effectLst/>
                <a:latin typeface="微软雅黑"/>
                <a:ea typeface="微软雅黑"/>
                <a:cs typeface="微软雅黑"/>
              </a:rPr>
              <a:t>电商</a:t>
            </a:r>
            <a:endParaRPr lang="zh-CN" altLang="en-US" sz="1000" dirty="0">
              <a:solidFill>
                <a:srgbClr val="383838"/>
              </a:solidFill>
              <a:latin typeface="微软雅黑"/>
              <a:ea typeface="微软雅黑"/>
              <a:cs typeface="微软雅黑"/>
            </a:endParaRPr>
          </a:p>
        </p:txBody>
      </p:sp>
      <p:sp>
        <p:nvSpPr>
          <p:cNvPr id="255" name="文本框 254"/>
          <p:cNvSpPr txBox="1"/>
          <p:nvPr/>
        </p:nvSpPr>
        <p:spPr>
          <a:xfrm>
            <a:off x="9248775" y="1791970"/>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分期贷款</a:t>
            </a:r>
            <a:endParaRPr lang="zh-CN" altLang="en-US" sz="1000" dirty="0">
              <a:solidFill>
                <a:srgbClr val="383838"/>
              </a:solidFill>
              <a:effectLst/>
              <a:latin typeface="微软雅黑"/>
              <a:ea typeface="微软雅黑"/>
              <a:cs typeface="微软雅黑"/>
            </a:endParaRPr>
          </a:p>
        </p:txBody>
      </p:sp>
      <p:sp>
        <p:nvSpPr>
          <p:cNvPr id="256" name="文本框 255"/>
          <p:cNvSpPr txBox="1"/>
          <p:nvPr/>
        </p:nvSpPr>
        <p:spPr>
          <a:xfrm>
            <a:off x="9248775" y="202628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汽车金融</a:t>
            </a:r>
            <a:endParaRPr lang="zh-CN" altLang="en-US" sz="1000" dirty="0">
              <a:solidFill>
                <a:srgbClr val="383838"/>
              </a:solidFill>
              <a:effectLst/>
              <a:latin typeface="微软雅黑"/>
              <a:ea typeface="微软雅黑"/>
              <a:cs typeface="微软雅黑"/>
            </a:endParaRPr>
          </a:p>
        </p:txBody>
      </p:sp>
      <p:sp>
        <p:nvSpPr>
          <p:cNvPr id="257" name="文本框 256"/>
          <p:cNvSpPr txBox="1"/>
          <p:nvPr/>
        </p:nvSpPr>
        <p:spPr>
          <a:xfrm>
            <a:off x="9328468" y="2259965"/>
            <a:ext cx="48323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经销商</a:t>
            </a:r>
            <a:endParaRPr lang="zh-CN" altLang="en-US" sz="1000" dirty="0">
              <a:solidFill>
                <a:srgbClr val="383838"/>
              </a:solidFill>
              <a:effectLst/>
              <a:latin typeface="微软雅黑"/>
              <a:ea typeface="微软雅黑"/>
              <a:cs typeface="微软雅黑"/>
            </a:endParaRPr>
          </a:p>
        </p:txBody>
      </p:sp>
      <p:sp>
        <p:nvSpPr>
          <p:cNvPr id="258" name="文本框 257"/>
          <p:cNvSpPr txBox="1"/>
          <p:nvPr/>
        </p:nvSpPr>
        <p:spPr>
          <a:xfrm>
            <a:off x="9167813" y="2493645"/>
            <a:ext cx="80454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采购供应链</a:t>
            </a:r>
            <a:endParaRPr lang="zh-CN" altLang="en-US" sz="1000" dirty="0">
              <a:solidFill>
                <a:srgbClr val="383838"/>
              </a:solidFill>
              <a:effectLst/>
              <a:latin typeface="微软雅黑"/>
              <a:ea typeface="微软雅黑"/>
              <a:cs typeface="微软雅黑"/>
            </a:endParaRPr>
          </a:p>
        </p:txBody>
      </p:sp>
      <p:sp>
        <p:nvSpPr>
          <p:cNvPr id="259" name="文本框 258"/>
          <p:cNvSpPr txBox="1"/>
          <p:nvPr/>
        </p:nvSpPr>
        <p:spPr>
          <a:xfrm>
            <a:off x="7768908" y="1791970"/>
            <a:ext cx="48323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经销商</a:t>
            </a:r>
            <a:endParaRPr lang="zh-CN" altLang="en-US" sz="1000" dirty="0">
              <a:solidFill>
                <a:srgbClr val="383838"/>
              </a:solidFill>
              <a:effectLst/>
              <a:latin typeface="微软雅黑"/>
              <a:ea typeface="微软雅黑"/>
              <a:cs typeface="微软雅黑"/>
            </a:endParaRPr>
          </a:p>
        </p:txBody>
      </p:sp>
      <p:sp>
        <p:nvSpPr>
          <p:cNvPr id="260" name="文本框 259"/>
          <p:cNvSpPr txBox="1"/>
          <p:nvPr/>
        </p:nvSpPr>
        <p:spPr>
          <a:xfrm>
            <a:off x="7608253" y="2026285"/>
            <a:ext cx="80454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采购供应链</a:t>
            </a:r>
            <a:endParaRPr lang="zh-CN" altLang="en-US" sz="1000" dirty="0">
              <a:solidFill>
                <a:srgbClr val="383838"/>
              </a:solidFill>
              <a:effectLst/>
              <a:latin typeface="微软雅黑"/>
              <a:ea typeface="微软雅黑"/>
              <a:cs typeface="微软雅黑"/>
            </a:endParaRPr>
          </a:p>
        </p:txBody>
      </p:sp>
      <p:sp>
        <p:nvSpPr>
          <p:cNvPr id="261" name="文本框 260"/>
          <p:cNvSpPr txBox="1"/>
          <p:nvPr/>
        </p:nvSpPr>
        <p:spPr>
          <a:xfrm>
            <a:off x="7689215" y="225996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人力资源</a:t>
            </a:r>
            <a:endParaRPr lang="zh-CN" altLang="en-US" sz="1000" dirty="0">
              <a:solidFill>
                <a:srgbClr val="383838"/>
              </a:solidFill>
              <a:effectLst/>
              <a:latin typeface="微软雅黑"/>
              <a:ea typeface="微软雅黑"/>
              <a:cs typeface="微软雅黑"/>
            </a:endParaRPr>
          </a:p>
        </p:txBody>
      </p:sp>
      <p:sp>
        <p:nvSpPr>
          <p:cNvPr id="262" name="文本框 261"/>
          <p:cNvSpPr txBox="1"/>
          <p:nvPr/>
        </p:nvSpPr>
        <p:spPr>
          <a:xfrm>
            <a:off x="7689215" y="249364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连锁加盟</a:t>
            </a:r>
            <a:endParaRPr lang="zh-CN" altLang="en-US" sz="1000" dirty="0">
              <a:solidFill>
                <a:srgbClr val="383838"/>
              </a:solidFill>
              <a:effectLst/>
              <a:latin typeface="微软雅黑"/>
              <a:ea typeface="微软雅黑"/>
              <a:cs typeface="微软雅黑"/>
            </a:endParaRPr>
          </a:p>
        </p:txBody>
      </p:sp>
      <p:sp>
        <p:nvSpPr>
          <p:cNvPr id="263" name="文本框 262"/>
          <p:cNvSpPr txBox="1"/>
          <p:nvPr/>
        </p:nvSpPr>
        <p:spPr>
          <a:xfrm>
            <a:off x="6129655" y="1791970"/>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电子证照</a:t>
            </a:r>
            <a:endParaRPr lang="zh-CN" altLang="en-US" sz="1000" dirty="0">
              <a:solidFill>
                <a:srgbClr val="383838"/>
              </a:solidFill>
              <a:effectLst/>
              <a:latin typeface="微软雅黑"/>
              <a:ea typeface="微软雅黑"/>
              <a:cs typeface="微软雅黑"/>
            </a:endParaRPr>
          </a:p>
        </p:txBody>
      </p:sp>
      <p:sp>
        <p:nvSpPr>
          <p:cNvPr id="264" name="文本框 263"/>
          <p:cNvSpPr txBox="1"/>
          <p:nvPr/>
        </p:nvSpPr>
        <p:spPr>
          <a:xfrm>
            <a:off x="6129655" y="202628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公文流转</a:t>
            </a:r>
            <a:endParaRPr lang="zh-CN" altLang="en-US" sz="1000" dirty="0">
              <a:solidFill>
                <a:srgbClr val="383838"/>
              </a:solidFill>
              <a:effectLst/>
              <a:latin typeface="微软雅黑"/>
              <a:ea typeface="微软雅黑"/>
              <a:cs typeface="微软雅黑"/>
            </a:endParaRPr>
          </a:p>
        </p:txBody>
      </p:sp>
      <p:sp>
        <p:nvSpPr>
          <p:cNvPr id="265" name="文本框 264"/>
          <p:cNvSpPr txBox="1"/>
          <p:nvPr/>
        </p:nvSpPr>
        <p:spPr>
          <a:xfrm>
            <a:off x="6129655" y="225996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政务服务</a:t>
            </a:r>
            <a:endParaRPr lang="zh-CN" altLang="en-US" sz="1000" dirty="0">
              <a:solidFill>
                <a:srgbClr val="383838"/>
              </a:solidFill>
              <a:effectLst/>
              <a:latin typeface="微软雅黑"/>
              <a:ea typeface="微软雅黑"/>
              <a:cs typeface="微软雅黑"/>
            </a:endParaRPr>
          </a:p>
        </p:txBody>
      </p:sp>
      <p:sp>
        <p:nvSpPr>
          <p:cNvPr id="266" name="文本框 265"/>
          <p:cNvSpPr txBox="1"/>
          <p:nvPr/>
        </p:nvSpPr>
        <p:spPr>
          <a:xfrm>
            <a:off x="6129655" y="249364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政府采购</a:t>
            </a:r>
            <a:endParaRPr lang="zh-CN" altLang="en-US" sz="1000" dirty="0">
              <a:solidFill>
                <a:srgbClr val="383838"/>
              </a:solidFill>
              <a:effectLst/>
              <a:latin typeface="微软雅黑"/>
              <a:ea typeface="微软雅黑"/>
              <a:cs typeface="微软雅黑"/>
            </a:endParaRPr>
          </a:p>
        </p:txBody>
      </p:sp>
      <p:sp>
        <p:nvSpPr>
          <p:cNvPr id="267" name="文本框 266"/>
          <p:cNvSpPr txBox="1"/>
          <p:nvPr/>
        </p:nvSpPr>
        <p:spPr>
          <a:xfrm>
            <a:off x="4569460" y="1791970"/>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投资协议</a:t>
            </a:r>
            <a:endParaRPr lang="zh-CN" altLang="en-US" sz="1000" dirty="0">
              <a:solidFill>
                <a:srgbClr val="383838"/>
              </a:solidFill>
              <a:effectLst/>
              <a:latin typeface="微软雅黑"/>
              <a:ea typeface="微软雅黑"/>
              <a:cs typeface="微软雅黑"/>
            </a:endParaRPr>
          </a:p>
        </p:txBody>
      </p:sp>
      <p:sp>
        <p:nvSpPr>
          <p:cNvPr id="268" name="文本框 267"/>
          <p:cNvSpPr txBox="1"/>
          <p:nvPr/>
        </p:nvSpPr>
        <p:spPr>
          <a:xfrm>
            <a:off x="4649153" y="2026285"/>
            <a:ext cx="48323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担保函</a:t>
            </a:r>
            <a:endParaRPr lang="zh-CN" altLang="en-US" sz="1000" dirty="0">
              <a:solidFill>
                <a:srgbClr val="383838"/>
              </a:solidFill>
              <a:effectLst/>
              <a:latin typeface="微软雅黑"/>
              <a:ea typeface="微软雅黑"/>
              <a:cs typeface="微软雅黑"/>
            </a:endParaRPr>
          </a:p>
        </p:txBody>
      </p:sp>
      <p:sp>
        <p:nvSpPr>
          <p:cNvPr id="269" name="文本框 268"/>
          <p:cNvSpPr txBox="1"/>
          <p:nvPr/>
        </p:nvSpPr>
        <p:spPr>
          <a:xfrm>
            <a:off x="4569460" y="225996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借贷协议</a:t>
            </a:r>
            <a:endParaRPr lang="zh-CN" altLang="en-US" sz="1000" dirty="0">
              <a:solidFill>
                <a:srgbClr val="383838"/>
              </a:solidFill>
              <a:effectLst/>
              <a:latin typeface="微软雅黑"/>
              <a:ea typeface="微软雅黑"/>
              <a:cs typeface="微软雅黑"/>
            </a:endParaRPr>
          </a:p>
        </p:txBody>
      </p:sp>
      <p:sp>
        <p:nvSpPr>
          <p:cNvPr id="270" name="文本框 269"/>
          <p:cNvSpPr txBox="1"/>
          <p:nvPr/>
        </p:nvSpPr>
        <p:spPr>
          <a:xfrm>
            <a:off x="4569460" y="249364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抵押合同</a:t>
            </a:r>
            <a:endParaRPr lang="zh-CN" altLang="en-US" sz="1000" dirty="0">
              <a:solidFill>
                <a:srgbClr val="383838"/>
              </a:solidFill>
              <a:effectLst/>
              <a:latin typeface="微软雅黑"/>
              <a:ea typeface="微软雅黑"/>
              <a:cs typeface="微软雅黑"/>
            </a:endParaRPr>
          </a:p>
        </p:txBody>
      </p:sp>
      <p:sp>
        <p:nvSpPr>
          <p:cNvPr id="271" name="文本框 270"/>
          <p:cNvSpPr txBox="1"/>
          <p:nvPr/>
        </p:nvSpPr>
        <p:spPr>
          <a:xfrm>
            <a:off x="3009900" y="1791970"/>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生产质检</a:t>
            </a:r>
            <a:endParaRPr lang="zh-CN" altLang="en-US" sz="1000" dirty="0">
              <a:solidFill>
                <a:srgbClr val="383838"/>
              </a:solidFill>
              <a:effectLst/>
              <a:latin typeface="微软雅黑"/>
              <a:ea typeface="微软雅黑"/>
              <a:cs typeface="微软雅黑"/>
            </a:endParaRPr>
          </a:p>
        </p:txBody>
      </p:sp>
      <p:sp>
        <p:nvSpPr>
          <p:cNvPr id="272" name="文本框 271"/>
          <p:cNvSpPr txBox="1"/>
          <p:nvPr/>
        </p:nvSpPr>
        <p:spPr>
          <a:xfrm>
            <a:off x="3009900" y="202628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仓储管理</a:t>
            </a:r>
            <a:endParaRPr lang="zh-CN" altLang="en-US" sz="1000" dirty="0">
              <a:solidFill>
                <a:srgbClr val="383838"/>
              </a:solidFill>
              <a:effectLst/>
              <a:latin typeface="微软雅黑"/>
              <a:ea typeface="微软雅黑"/>
              <a:cs typeface="微软雅黑"/>
            </a:endParaRPr>
          </a:p>
        </p:txBody>
      </p:sp>
      <p:sp>
        <p:nvSpPr>
          <p:cNvPr id="273" name="文本框 272"/>
          <p:cNvSpPr txBox="1"/>
          <p:nvPr/>
        </p:nvSpPr>
        <p:spPr>
          <a:xfrm>
            <a:off x="3009900" y="225996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物流配送</a:t>
            </a:r>
            <a:endParaRPr lang="zh-CN" altLang="en-US" sz="1000" dirty="0">
              <a:solidFill>
                <a:srgbClr val="383838"/>
              </a:solidFill>
              <a:effectLst/>
              <a:latin typeface="微软雅黑"/>
              <a:ea typeface="微软雅黑"/>
              <a:cs typeface="微软雅黑"/>
            </a:endParaRPr>
          </a:p>
        </p:txBody>
      </p:sp>
      <p:sp>
        <p:nvSpPr>
          <p:cNvPr id="274" name="文本框 273"/>
          <p:cNvSpPr txBox="1"/>
          <p:nvPr/>
        </p:nvSpPr>
        <p:spPr>
          <a:xfrm>
            <a:off x="3009900" y="2493645"/>
            <a:ext cx="64262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人力资源</a:t>
            </a:r>
            <a:endParaRPr lang="zh-CN" altLang="en-US" sz="1000" dirty="0">
              <a:solidFill>
                <a:srgbClr val="383838"/>
              </a:solidFill>
              <a:effectLst/>
              <a:latin typeface="微软雅黑"/>
              <a:ea typeface="微软雅黑"/>
              <a:cs typeface="微软雅黑"/>
            </a:endParaRPr>
          </a:p>
        </p:txBody>
      </p:sp>
      <p:sp>
        <p:nvSpPr>
          <p:cNvPr id="275" name="文本框 274"/>
          <p:cNvSpPr txBox="1"/>
          <p:nvPr/>
        </p:nvSpPr>
        <p:spPr>
          <a:xfrm>
            <a:off x="1435418" y="1791970"/>
            <a:ext cx="61658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地产开发</a:t>
            </a:r>
            <a:endParaRPr lang="zh-CN" altLang="en-US" sz="1000" dirty="0">
              <a:solidFill>
                <a:srgbClr val="383838"/>
              </a:solidFill>
              <a:effectLst/>
              <a:latin typeface="微软雅黑"/>
              <a:ea typeface="微软雅黑"/>
              <a:cs typeface="微软雅黑"/>
            </a:endParaRPr>
          </a:p>
        </p:txBody>
      </p:sp>
      <p:sp>
        <p:nvSpPr>
          <p:cNvPr id="276" name="文本框 275"/>
          <p:cNvSpPr txBox="1"/>
          <p:nvPr/>
        </p:nvSpPr>
        <p:spPr>
          <a:xfrm>
            <a:off x="1435418" y="2026285"/>
            <a:ext cx="61658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地产销售</a:t>
            </a:r>
            <a:endParaRPr lang="zh-CN" altLang="en-US" sz="1000" dirty="0">
              <a:solidFill>
                <a:srgbClr val="383838"/>
              </a:solidFill>
              <a:effectLst/>
              <a:latin typeface="微软雅黑"/>
              <a:ea typeface="微软雅黑"/>
              <a:cs typeface="微软雅黑"/>
            </a:endParaRPr>
          </a:p>
        </p:txBody>
      </p:sp>
      <p:sp>
        <p:nvSpPr>
          <p:cNvPr id="277" name="文本框 276"/>
          <p:cNvSpPr txBox="1"/>
          <p:nvPr/>
        </p:nvSpPr>
        <p:spPr>
          <a:xfrm>
            <a:off x="1435418" y="2259965"/>
            <a:ext cx="61658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地产租赁</a:t>
            </a:r>
            <a:endParaRPr lang="zh-CN" altLang="en-US" sz="1000" dirty="0">
              <a:solidFill>
                <a:srgbClr val="383838"/>
              </a:solidFill>
              <a:effectLst/>
              <a:latin typeface="微软雅黑"/>
              <a:ea typeface="微软雅黑"/>
              <a:cs typeface="微软雅黑"/>
            </a:endParaRPr>
          </a:p>
        </p:txBody>
      </p:sp>
      <p:sp>
        <p:nvSpPr>
          <p:cNvPr id="278" name="文本框 277"/>
          <p:cNvSpPr txBox="1"/>
          <p:nvPr/>
        </p:nvSpPr>
        <p:spPr>
          <a:xfrm>
            <a:off x="1435418" y="2493645"/>
            <a:ext cx="61658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rPr>
              <a:t>物业服务</a:t>
            </a:r>
            <a:endParaRPr lang="zh-CN" altLang="en-US" sz="1000" dirty="0">
              <a:solidFill>
                <a:srgbClr val="383838"/>
              </a:solidFill>
              <a:effectLst/>
              <a:latin typeface="微软雅黑"/>
              <a:ea typeface="微软雅黑"/>
              <a:cs typeface="微软雅黑"/>
            </a:endParaRPr>
          </a:p>
        </p:txBody>
      </p:sp>
      <p:sp>
        <p:nvSpPr>
          <p:cNvPr id="279" name="矩形: 圆角 138"/>
          <p:cNvSpPr/>
          <p:nvPr/>
        </p:nvSpPr>
        <p:spPr>
          <a:xfrm>
            <a:off x="4163695" y="1390650"/>
            <a:ext cx="1454150" cy="277495"/>
          </a:xfrm>
          <a:prstGeom prst="roundRect">
            <a:avLst>
              <a:gd name="adj" fmla="val 8000"/>
            </a:avLst>
          </a:prstGeom>
          <a:solidFill>
            <a:srgbClr val="E6E6E6">
              <a:alpha val="50000"/>
            </a:srgbClr>
          </a:solidFill>
          <a:ln>
            <a:solidFill>
              <a:srgbClr val="3368FF"/>
            </a:solidFill>
          </a:ln>
        </p:spPr>
        <p:style>
          <a:lnRef idx="1">
            <a:srgbClr val="DCDCDC"/>
          </a:lnRef>
          <a:fillRef idx="2">
            <a:srgbClr val="DCDCDC"/>
          </a:fillRef>
          <a:effectRef idx="1">
            <a:srgbClr val="DCDCDC"/>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80" name="矩形: 圆角 141"/>
          <p:cNvSpPr/>
          <p:nvPr/>
        </p:nvSpPr>
        <p:spPr>
          <a:xfrm>
            <a:off x="5723890" y="1390650"/>
            <a:ext cx="1454150" cy="277495"/>
          </a:xfrm>
          <a:prstGeom prst="roundRect">
            <a:avLst>
              <a:gd name="adj" fmla="val 8000"/>
            </a:avLst>
          </a:prstGeom>
          <a:solidFill>
            <a:srgbClr val="E6E6E6">
              <a:alpha val="50000"/>
            </a:srgbClr>
          </a:solidFill>
          <a:ln>
            <a:solidFill>
              <a:srgbClr val="3368FF"/>
            </a:solidFill>
          </a:ln>
        </p:spPr>
        <p:style>
          <a:lnRef idx="1">
            <a:srgbClr val="DCDCDC"/>
          </a:lnRef>
          <a:fillRef idx="2">
            <a:srgbClr val="DCDCDC"/>
          </a:fillRef>
          <a:effectRef idx="1">
            <a:srgbClr val="DCDCDC"/>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81" name="矩形: 圆角 145"/>
          <p:cNvSpPr/>
          <p:nvPr/>
        </p:nvSpPr>
        <p:spPr>
          <a:xfrm>
            <a:off x="7283450" y="1390650"/>
            <a:ext cx="1454150" cy="277495"/>
          </a:xfrm>
          <a:prstGeom prst="roundRect">
            <a:avLst>
              <a:gd name="adj" fmla="val 8000"/>
            </a:avLst>
          </a:prstGeom>
          <a:solidFill>
            <a:srgbClr val="E6E6E6">
              <a:alpha val="50000"/>
            </a:srgbClr>
          </a:solidFill>
          <a:ln>
            <a:solidFill>
              <a:srgbClr val="3368FF"/>
            </a:solidFill>
          </a:ln>
        </p:spPr>
        <p:style>
          <a:lnRef idx="1">
            <a:srgbClr val="DCDCDC"/>
          </a:lnRef>
          <a:fillRef idx="2">
            <a:srgbClr val="DCDCDC"/>
          </a:fillRef>
          <a:effectRef idx="1">
            <a:srgbClr val="DCDCDC"/>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82" name="矩形: 圆角 149"/>
          <p:cNvSpPr/>
          <p:nvPr/>
        </p:nvSpPr>
        <p:spPr>
          <a:xfrm>
            <a:off x="8843010" y="1390650"/>
            <a:ext cx="1454150" cy="277495"/>
          </a:xfrm>
          <a:prstGeom prst="roundRect">
            <a:avLst>
              <a:gd name="adj" fmla="val 8000"/>
            </a:avLst>
          </a:prstGeom>
          <a:solidFill>
            <a:srgbClr val="E6E6E6">
              <a:alpha val="50000"/>
            </a:srgbClr>
          </a:solidFill>
          <a:ln>
            <a:solidFill>
              <a:srgbClr val="3368FF"/>
            </a:solidFill>
          </a:ln>
        </p:spPr>
        <p:style>
          <a:lnRef idx="1">
            <a:srgbClr val="DCDCDC"/>
          </a:lnRef>
          <a:fillRef idx="2">
            <a:srgbClr val="DCDCDC"/>
          </a:fillRef>
          <a:effectRef idx="1">
            <a:srgbClr val="DCDCDC"/>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83" name="矩形: 圆角 153"/>
          <p:cNvSpPr/>
          <p:nvPr/>
        </p:nvSpPr>
        <p:spPr>
          <a:xfrm>
            <a:off x="10402570" y="1390650"/>
            <a:ext cx="1454150" cy="277495"/>
          </a:xfrm>
          <a:prstGeom prst="roundRect">
            <a:avLst>
              <a:gd name="adj" fmla="val 8000"/>
            </a:avLst>
          </a:prstGeom>
          <a:solidFill>
            <a:srgbClr val="E6E6E6">
              <a:alpha val="50000"/>
            </a:srgbClr>
          </a:solidFill>
          <a:ln>
            <a:solidFill>
              <a:srgbClr val="3368FF"/>
            </a:solidFill>
          </a:ln>
        </p:spPr>
        <p:style>
          <a:lnRef idx="1">
            <a:srgbClr val="DCDCDC"/>
          </a:lnRef>
          <a:fillRef idx="2">
            <a:srgbClr val="DCDCDC"/>
          </a:fillRef>
          <a:effectRef idx="1">
            <a:srgbClr val="DCDCDC"/>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sp>
        <p:nvSpPr>
          <p:cNvPr id="288" name="文本框 287"/>
          <p:cNvSpPr txBox="1"/>
          <p:nvPr/>
        </p:nvSpPr>
        <p:spPr>
          <a:xfrm>
            <a:off x="10827703" y="1457960"/>
            <a:ext cx="603885"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互联网</a:t>
            </a:r>
            <a:endParaRPr lang="zh-CN" altLang="en-US" sz="1000" b="1" dirty="0">
              <a:solidFill>
                <a:srgbClr val="0042FF"/>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4" name="文本框 3"/>
          <p:cNvSpPr txBox="1"/>
          <p:nvPr/>
        </p:nvSpPr>
        <p:spPr>
          <a:xfrm>
            <a:off x="1072515" y="1452563"/>
            <a:ext cx="1398270" cy="153670"/>
          </a:xfrm>
          <a:prstGeom prst="rect">
            <a:avLst/>
          </a:prstGeom>
          <a:noFill/>
          <a:ln>
            <a:noFill/>
          </a:ln>
          <a:extLst>
            <a:ext uri="{909E8E84-426E-40DD-AFC4-6F175D3DCCD1}">
              <a14:hiddenFill xmlns:a14="http://schemas.microsoft.com/office/drawing/2010/main">
                <a:solidFill>
                  <a:srgbClr val="B3D4FE"/>
                </a:solidFill>
              </a14:hiddenFill>
            </a:ext>
          </a:extLst>
        </p:spPr>
        <p:txBody>
          <a:bodyPr rot="0" spcFirstLastPara="0" vert="horz" wrap="square" lIns="0" tIns="0" rIns="0" bIns="0" numCol="1" spcCol="0" rtlCol="0" fromWordArt="0" anchor="t" anchorCtr="0" forceAA="0" compatLnSpc="0">
            <a:spAutoFit/>
          </a:bodyPr>
          <a:lstStyle/>
          <a:p>
            <a:pPr lvl="0" algn="ctr">
              <a:buClrTx/>
              <a:buSzTx/>
              <a:buFontTx/>
              <a:defRPr>
                <a:latin typeface="微软雅黑"/>
                <a:ea typeface="微软雅黑"/>
                <a:cs typeface="微软雅黑"/>
              </a:defRPr>
            </a:pPr>
            <a:r>
              <a:rPr lang="zh-CN" altLang="en-US" sz="1000" b="1" dirty="0">
                <a:solidFill>
                  <a:srgbClr val="0042FF"/>
                </a:solidFill>
                <a:effectLst/>
                <a:latin typeface="微软雅黑"/>
                <a:ea typeface="微软雅黑"/>
                <a:cs typeface="微软雅黑"/>
                <a:sym typeface="微软雅黑"/>
              </a:rPr>
              <a:t>房地产</a:t>
            </a:r>
            <a:endParaRPr lang="zh-CN" altLang="en-US" sz="1000" b="1" dirty="0">
              <a:solidFill>
                <a:srgbClr val="0042FF"/>
              </a:solidFill>
              <a:effectLst/>
              <a:latin typeface="微软雅黑"/>
              <a:ea typeface="微软雅黑"/>
              <a:cs typeface="微软雅黑"/>
              <a:sym typeface="微软雅黑"/>
            </a:endParaRPr>
          </a:p>
        </p:txBody>
      </p:sp>
      <p:sp>
        <p:nvSpPr>
          <p:cNvPr id="6" name="文本框 5"/>
          <p:cNvSpPr txBox="1"/>
          <p:nvPr/>
        </p:nvSpPr>
        <p:spPr>
          <a:xfrm>
            <a:off x="2876233" y="1457960"/>
            <a:ext cx="909955" cy="153670"/>
          </a:xfrm>
          <a:prstGeom prst="rect">
            <a:avLst/>
          </a:prstGeom>
          <a:noFill/>
          <a:ln>
            <a:noFill/>
          </a:ln>
          <a:extLst>
            <a:ext uri="{909E8E84-426E-40DD-AFC4-6F175D3DCCD1}">
              <a14:hiddenFill xmlns:a14="http://schemas.microsoft.com/office/drawing/2010/main">
                <a:solidFill>
                  <a:srgbClr val="B3D4FE"/>
                </a:solidFill>
              </a14:hiddenFill>
            </a:ext>
          </a:extLst>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制造业</a:t>
            </a:r>
            <a:endParaRPr lang="zh-CN" altLang="en-US" sz="1000" b="1" dirty="0">
              <a:solidFill>
                <a:srgbClr val="0042FF"/>
              </a:solidFill>
              <a:effectLst/>
              <a:latin typeface="微软雅黑"/>
              <a:ea typeface="微软雅黑"/>
              <a:cs typeface="微软雅黑"/>
            </a:endParaRPr>
          </a:p>
        </p:txBody>
      </p:sp>
      <p:sp>
        <p:nvSpPr>
          <p:cNvPr id="7" name="文本框 6"/>
          <p:cNvSpPr txBox="1"/>
          <p:nvPr/>
        </p:nvSpPr>
        <p:spPr>
          <a:xfrm>
            <a:off x="4688840" y="1456690"/>
            <a:ext cx="40386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金融</a:t>
            </a:r>
            <a:endParaRPr lang="zh-CN" altLang="en-US" sz="1000" b="1" dirty="0">
              <a:solidFill>
                <a:srgbClr val="0042FF"/>
              </a:solidFill>
              <a:effectLst/>
              <a:latin typeface="微软雅黑"/>
              <a:ea typeface="微软雅黑"/>
              <a:cs typeface="微软雅黑"/>
            </a:endParaRPr>
          </a:p>
        </p:txBody>
      </p:sp>
      <p:sp>
        <p:nvSpPr>
          <p:cNvPr id="11" name="文本框 10"/>
          <p:cNvSpPr txBox="1"/>
          <p:nvPr/>
        </p:nvSpPr>
        <p:spPr>
          <a:xfrm>
            <a:off x="6249035" y="1457960"/>
            <a:ext cx="40386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政务</a:t>
            </a:r>
            <a:endParaRPr lang="zh-CN" altLang="en-US" sz="1000" b="1" dirty="0">
              <a:solidFill>
                <a:srgbClr val="0042FF"/>
              </a:solidFill>
              <a:effectLst/>
              <a:latin typeface="微软雅黑"/>
              <a:ea typeface="微软雅黑"/>
              <a:cs typeface="微软雅黑"/>
            </a:endParaRPr>
          </a:p>
        </p:txBody>
      </p:sp>
      <p:sp>
        <p:nvSpPr>
          <p:cNvPr id="15" name="文本框 14"/>
          <p:cNvSpPr txBox="1"/>
          <p:nvPr/>
        </p:nvSpPr>
        <p:spPr>
          <a:xfrm>
            <a:off x="7607300" y="1457960"/>
            <a:ext cx="80645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连锁零售</a:t>
            </a:r>
            <a:endParaRPr lang="zh-CN" altLang="en-US" sz="1000" b="1" dirty="0">
              <a:solidFill>
                <a:srgbClr val="0042FF"/>
              </a:solidFill>
              <a:effectLst/>
              <a:latin typeface="微软雅黑"/>
              <a:ea typeface="微软雅黑"/>
              <a:cs typeface="微软雅黑"/>
            </a:endParaRPr>
          </a:p>
        </p:txBody>
      </p:sp>
      <p:sp>
        <p:nvSpPr>
          <p:cNvPr id="17" name="文本框 16"/>
          <p:cNvSpPr txBox="1"/>
          <p:nvPr/>
        </p:nvSpPr>
        <p:spPr>
          <a:xfrm>
            <a:off x="9368155" y="1457960"/>
            <a:ext cx="403860" cy="15367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000" b="1" dirty="0">
                <a:solidFill>
                  <a:srgbClr val="0042FF"/>
                </a:solidFill>
                <a:effectLst/>
                <a:latin typeface="微软雅黑"/>
                <a:ea typeface="微软雅黑"/>
                <a:cs typeface="微软雅黑"/>
              </a:rPr>
              <a:t>汽车</a:t>
            </a:r>
            <a:endParaRPr lang="zh-CN" altLang="en-US" sz="1000" b="1" dirty="0">
              <a:solidFill>
                <a:srgbClr val="0042FF"/>
              </a:solidFill>
              <a:effectLst/>
              <a:latin typeface="微软雅黑"/>
              <a:ea typeface="微软雅黑"/>
              <a:cs typeface="微软雅黑"/>
            </a:endParaRPr>
          </a:p>
        </p:txBody>
      </p:sp>
      <p:cxnSp>
        <p:nvCxnSpPr>
          <p:cNvPr id="2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1078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人货场运营流转图</a:t>
            </a:r>
            <a:endParaRPr sz="2500" b="0">
              <a:solidFill>
                <a:srgbClr val="383838"/>
              </a:solidFill>
              <a:effectLst/>
              <a:latin typeface="微软雅黑"/>
              <a:ea typeface="微软雅黑"/>
              <a:cs typeface="微软雅黑"/>
            </a:endParaRPr>
          </a:p>
        </p:txBody>
      </p:sp>
      <p:sp>
        <p:nvSpPr>
          <p:cNvPr id="7" name="圆角矩形 11"/>
          <p:cNvSpPr/>
          <p:nvPr/>
        </p:nvSpPr>
        <p:spPr>
          <a:xfrm>
            <a:off x="905510" y="5958205"/>
            <a:ext cx="9826625" cy="184150"/>
          </a:xfrm>
          <a:prstGeom prst="roundRect">
            <a:avLst>
              <a:gd name="adj" fmla="val 3659"/>
            </a:avLst>
          </a:prstGeom>
          <a:solidFill>
            <a:srgbClr val="DCDCDC"/>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13" name="圆角矩形 11"/>
          <p:cNvSpPr/>
          <p:nvPr/>
        </p:nvSpPr>
        <p:spPr>
          <a:xfrm>
            <a:off x="905510" y="4294505"/>
            <a:ext cx="9826625" cy="184150"/>
          </a:xfrm>
          <a:prstGeom prst="roundRect">
            <a:avLst>
              <a:gd name="adj" fmla="val 3659"/>
            </a:avLst>
          </a:prstGeom>
          <a:solidFill>
            <a:srgbClr val="DCDCDC"/>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18" name="圆角矩形 11"/>
          <p:cNvSpPr/>
          <p:nvPr/>
        </p:nvSpPr>
        <p:spPr>
          <a:xfrm>
            <a:off x="905510" y="2687955"/>
            <a:ext cx="9826625" cy="184150"/>
          </a:xfrm>
          <a:prstGeom prst="roundRect">
            <a:avLst>
              <a:gd name="adj" fmla="val 3659"/>
            </a:avLst>
          </a:prstGeom>
          <a:solidFill>
            <a:srgbClr val="DCDCDC"/>
          </a:solidFill>
          <a:ln w="381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6" name="Rectangle: Top Corners Rounded 32"/>
          <p:cNvSpPr/>
          <p:nvPr/>
        </p:nvSpPr>
        <p:spPr>
          <a:xfrm>
            <a:off x="1480819" y="2173755"/>
            <a:ext cx="2885318" cy="288000"/>
          </a:xfrm>
          <a:prstGeom prst="round2SameRect">
            <a:avLst>
              <a:gd name="adj1" fmla="val 6470"/>
              <a:gd name="adj2" fmla="val 12821"/>
            </a:avLst>
          </a:prstGeom>
          <a:solidFill>
            <a:srgbClr val="0042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线上渠道</a:t>
            </a:r>
            <a:endParaRPr lang="zh-CN" altLang="en-US" sz="1200" kern="0" dirty="0">
              <a:solidFill>
                <a:srgbClr val="FFFFFF"/>
              </a:solidFill>
              <a:latin typeface="微软雅黑"/>
              <a:ea typeface="微软雅黑"/>
              <a:cs typeface="微软雅黑"/>
              <a:sym typeface="微软雅黑"/>
            </a:endParaRPr>
          </a:p>
        </p:txBody>
      </p:sp>
      <p:sp>
        <p:nvSpPr>
          <p:cNvPr id="27" name="Rectangle: Top Corners Rounded 32"/>
          <p:cNvSpPr/>
          <p:nvPr/>
        </p:nvSpPr>
        <p:spPr>
          <a:xfrm>
            <a:off x="4663441" y="2173755"/>
            <a:ext cx="2885318" cy="288000"/>
          </a:xfrm>
          <a:prstGeom prst="round2SameRect">
            <a:avLst>
              <a:gd name="adj1" fmla="val 6470"/>
              <a:gd name="adj2" fmla="val 12821"/>
            </a:avLst>
          </a:prstGeom>
          <a:solidFill>
            <a:srgbClr val="0042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线上渠道</a:t>
            </a:r>
            <a:endParaRPr lang="zh-CN" altLang="en-US" sz="1200" kern="0" dirty="0">
              <a:solidFill>
                <a:srgbClr val="FFFFFF"/>
              </a:solidFill>
              <a:latin typeface="微软雅黑"/>
              <a:ea typeface="微软雅黑"/>
              <a:cs typeface="微软雅黑"/>
              <a:sym typeface="微软雅黑"/>
            </a:endParaRPr>
          </a:p>
        </p:txBody>
      </p:sp>
      <p:sp>
        <p:nvSpPr>
          <p:cNvPr id="28" name="Rectangle: Top Corners Rounded 32"/>
          <p:cNvSpPr/>
          <p:nvPr/>
        </p:nvSpPr>
        <p:spPr>
          <a:xfrm>
            <a:off x="7846063" y="2173755"/>
            <a:ext cx="2885318" cy="288000"/>
          </a:xfrm>
          <a:prstGeom prst="round2SameRect">
            <a:avLst>
              <a:gd name="adj1" fmla="val 6470"/>
              <a:gd name="adj2" fmla="val 12821"/>
            </a:avLst>
          </a:prstGeom>
          <a:solidFill>
            <a:srgbClr val="0042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线上渠道</a:t>
            </a:r>
            <a:endParaRPr lang="zh-CN" altLang="en-US" sz="1200" kern="0" dirty="0">
              <a:solidFill>
                <a:srgbClr val="FFFFFF"/>
              </a:solidFill>
              <a:latin typeface="微软雅黑"/>
              <a:ea typeface="微软雅黑"/>
              <a:cs typeface="微软雅黑"/>
              <a:sym typeface="微软雅黑"/>
            </a:endParaRPr>
          </a:p>
        </p:txBody>
      </p:sp>
      <p:sp>
        <p:nvSpPr>
          <p:cNvPr id="29" name="Rectangle: Top Corners Rounded 32"/>
          <p:cNvSpPr/>
          <p:nvPr/>
        </p:nvSpPr>
        <p:spPr>
          <a:xfrm>
            <a:off x="4663441" y="3923174"/>
            <a:ext cx="2885318" cy="288000"/>
          </a:xfrm>
          <a:prstGeom prst="round2SameRect">
            <a:avLst>
              <a:gd name="adj1" fmla="val 6470"/>
              <a:gd name="adj2" fmla="val 12821"/>
            </a:avLst>
          </a:prstGeom>
          <a:solidFill>
            <a:srgbClr val="FFFFFF"/>
          </a:solidFill>
          <a:ln w="9525" cap="flat" cmpd="sng" algn="ctr">
            <a:solidFill>
              <a:srgbClr val="3368FF"/>
            </a:solidFill>
            <a:prstDash val="solid"/>
            <a:miter lim="800000"/>
          </a:ln>
          <a:effectLst/>
        </p:spPr>
        <p:txBody>
          <a:bodyPr rtlCol="0" anchor="ctr"/>
          <a:lstStyle/>
          <a:p>
            <a:pPr algn="ctr">
              <a:defRPr>
                <a:latin typeface="微软雅黑"/>
                <a:ea typeface="微软雅黑"/>
                <a:cs typeface="微软雅黑"/>
              </a:defRPr>
            </a:pPr>
            <a:r>
              <a:rPr lang="zh-CN" altLang="en-US" sz="1200" b="1" kern="0" dirty="0">
                <a:solidFill>
                  <a:srgbClr val="0042FF"/>
                </a:solidFill>
                <a:latin typeface="微软雅黑"/>
                <a:ea typeface="微软雅黑"/>
                <a:cs typeface="微软雅黑"/>
                <a:sym typeface="微软雅黑"/>
              </a:rPr>
              <a:t>库存共享机制</a:t>
            </a:r>
            <a:endParaRPr lang="zh-CN" altLang="en-US" sz="1200" b="1" kern="0" dirty="0">
              <a:solidFill>
                <a:srgbClr val="0042FF"/>
              </a:solidFill>
              <a:latin typeface="微软雅黑"/>
              <a:ea typeface="微软雅黑"/>
              <a:cs typeface="微软雅黑"/>
              <a:sym typeface="微软雅黑"/>
            </a:endParaRPr>
          </a:p>
        </p:txBody>
      </p:sp>
      <p:sp>
        <p:nvSpPr>
          <p:cNvPr id="30" name="文本框 29"/>
          <p:cNvSpPr txBox="1"/>
          <p:nvPr/>
        </p:nvSpPr>
        <p:spPr>
          <a:xfrm>
            <a:off x="4895790" y="2872105"/>
            <a:ext cx="2420620" cy="306705"/>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0042FF"/>
                </a:solidFill>
                <a:latin typeface="微软雅黑"/>
                <a:ea typeface="微软雅黑"/>
                <a:cs typeface="微软雅黑"/>
              </a:rPr>
              <a:t>就近响应</a:t>
            </a:r>
            <a:r>
              <a:rPr lang="en-US" altLang="zh-CN" sz="1400" dirty="0">
                <a:solidFill>
                  <a:srgbClr val="0042FF"/>
                </a:solidFill>
                <a:latin typeface="微软雅黑"/>
                <a:ea typeface="微软雅黑"/>
                <a:cs typeface="微软雅黑"/>
              </a:rPr>
              <a:t>        </a:t>
            </a:r>
            <a:r>
              <a:rPr lang="zh-CN" altLang="en-US" sz="1400" dirty="0">
                <a:solidFill>
                  <a:srgbClr val="0042FF"/>
                </a:solidFill>
                <a:latin typeface="微软雅黑"/>
                <a:ea typeface="微软雅黑"/>
                <a:cs typeface="微软雅黑"/>
              </a:rPr>
              <a:t>    用户直达</a:t>
            </a:r>
            <a:endParaRPr lang="zh-CN" altLang="en-US" sz="1400" dirty="0">
              <a:solidFill>
                <a:srgbClr val="0042FF"/>
              </a:solidFill>
              <a:latin typeface="微软雅黑"/>
              <a:ea typeface="微软雅黑"/>
              <a:cs typeface="微软雅黑"/>
            </a:endParaRPr>
          </a:p>
        </p:txBody>
      </p:sp>
      <p:sp>
        <p:nvSpPr>
          <p:cNvPr id="31" name="文本框 30"/>
          <p:cNvSpPr txBox="1"/>
          <p:nvPr/>
        </p:nvSpPr>
        <p:spPr>
          <a:xfrm>
            <a:off x="5598576" y="1331716"/>
            <a:ext cx="1015049" cy="306705"/>
          </a:xfrm>
          <a:prstGeom prst="rect">
            <a:avLst/>
          </a:prstGeom>
          <a:noFill/>
        </p:spPr>
        <p:txBody>
          <a:bodyPr wrap="square" rtlCol="0">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门店</a:t>
            </a:r>
            <a:endParaRPr lang="zh-CN" altLang="en-US" sz="1400" b="1" dirty="0">
              <a:solidFill>
                <a:srgbClr val="0042FF"/>
              </a:solidFill>
              <a:latin typeface="微软雅黑"/>
              <a:ea typeface="微软雅黑"/>
              <a:cs typeface="微软雅黑"/>
            </a:endParaRPr>
          </a:p>
        </p:txBody>
      </p:sp>
      <p:sp>
        <p:nvSpPr>
          <p:cNvPr id="32" name="文本框 31"/>
          <p:cNvSpPr txBox="1"/>
          <p:nvPr/>
        </p:nvSpPr>
        <p:spPr>
          <a:xfrm>
            <a:off x="8781198" y="1331716"/>
            <a:ext cx="1015049" cy="306705"/>
          </a:xfrm>
          <a:prstGeom prst="rect">
            <a:avLst/>
          </a:prstGeom>
          <a:noFill/>
        </p:spPr>
        <p:txBody>
          <a:bodyPr wrap="square" rtlCol="0">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经销商</a:t>
            </a:r>
            <a:endParaRPr lang="zh-CN" altLang="en-US" sz="1400" b="1" dirty="0">
              <a:solidFill>
                <a:srgbClr val="0042FF"/>
              </a:solidFill>
              <a:latin typeface="微软雅黑"/>
              <a:ea typeface="微软雅黑"/>
              <a:cs typeface="微软雅黑"/>
            </a:endParaRPr>
          </a:p>
        </p:txBody>
      </p:sp>
      <p:sp>
        <p:nvSpPr>
          <p:cNvPr id="33" name="文本框 32"/>
          <p:cNvSpPr txBox="1"/>
          <p:nvPr/>
        </p:nvSpPr>
        <p:spPr>
          <a:xfrm>
            <a:off x="2415954" y="1331716"/>
            <a:ext cx="1015049" cy="306705"/>
          </a:xfrm>
          <a:prstGeom prst="rect">
            <a:avLst/>
          </a:prstGeom>
          <a:noFill/>
        </p:spPr>
        <p:txBody>
          <a:bodyPr wrap="square" rtlCol="0">
            <a:spAutoFit/>
          </a:bodyP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多渠道</a:t>
            </a:r>
            <a:endParaRPr lang="zh-CN" altLang="en-US" sz="1400" b="1" dirty="0">
              <a:solidFill>
                <a:srgbClr val="0042FF"/>
              </a:solidFill>
              <a:latin typeface="微软雅黑"/>
              <a:ea typeface="微软雅黑"/>
              <a:cs typeface="微软雅黑"/>
            </a:endParaRPr>
          </a:p>
        </p:txBody>
      </p:sp>
      <p:sp>
        <p:nvSpPr>
          <p:cNvPr id="34" name="文本框 33"/>
          <p:cNvSpPr txBox="1"/>
          <p:nvPr/>
        </p:nvSpPr>
        <p:spPr>
          <a:xfrm>
            <a:off x="830775" y="1495302"/>
            <a:ext cx="436809" cy="1077218"/>
          </a:xfrm>
          <a:prstGeom prst="rect">
            <a:avLst/>
          </a:prstGeom>
          <a:noFill/>
        </p:spPr>
        <p:txBody>
          <a:bodyPr wrap="square" rtlCol="0">
            <a:spAutoFit/>
          </a:bodyPr>
          <a:lstStyle/>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销售渠道</a:t>
            </a:r>
            <a:endParaRPr lang="zh-CN" altLang="en-US" sz="1600" b="1" dirty="0">
              <a:solidFill>
                <a:srgbClr val="383838"/>
              </a:solidFill>
              <a:latin typeface="微软雅黑"/>
              <a:ea typeface="微软雅黑"/>
              <a:cs typeface="微软雅黑"/>
            </a:endParaRPr>
          </a:p>
        </p:txBody>
      </p:sp>
      <p:sp>
        <p:nvSpPr>
          <p:cNvPr id="35" name="文本框 34"/>
          <p:cNvSpPr txBox="1"/>
          <p:nvPr/>
        </p:nvSpPr>
        <p:spPr>
          <a:xfrm>
            <a:off x="830775" y="3060916"/>
            <a:ext cx="436809" cy="1077218"/>
          </a:xfrm>
          <a:prstGeom prst="rect">
            <a:avLst/>
          </a:prstGeom>
          <a:noFill/>
        </p:spPr>
        <p:txBody>
          <a:bodyPr wrap="square" rtlCol="0">
            <a:spAutoFit/>
          </a:bodyPr>
          <a:lstStyle/>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库存中心</a:t>
            </a:r>
            <a:endParaRPr lang="zh-CN" altLang="en-US" sz="1600" b="1" dirty="0">
              <a:solidFill>
                <a:srgbClr val="383838"/>
              </a:solidFill>
              <a:latin typeface="微软雅黑"/>
              <a:ea typeface="微软雅黑"/>
              <a:cs typeface="微软雅黑"/>
            </a:endParaRPr>
          </a:p>
        </p:txBody>
      </p:sp>
      <p:sp>
        <p:nvSpPr>
          <p:cNvPr id="36" name="Rectangle: Top Corners Rounded 32"/>
          <p:cNvSpPr/>
          <p:nvPr/>
        </p:nvSpPr>
        <p:spPr>
          <a:xfrm>
            <a:off x="2051050" y="4955540"/>
            <a:ext cx="415290" cy="415290"/>
          </a:xfrm>
          <a:prstGeom prst="ellipse">
            <a:avLst/>
          </a:prstGeom>
          <a:solidFill>
            <a:srgbClr val="3368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endParaRPr lang="en-US" sz="1600" kern="0" dirty="0">
              <a:solidFill>
                <a:srgbClr val="FFFFFF"/>
              </a:solidFill>
              <a:latin typeface="微软雅黑"/>
              <a:ea typeface="微软雅黑"/>
              <a:cs typeface="微软雅黑"/>
              <a:sym typeface="微软雅黑"/>
            </a:endParaRPr>
          </a:p>
        </p:txBody>
      </p:sp>
      <p:sp>
        <p:nvSpPr>
          <p:cNvPr id="37" name="Rectangle: Top Corners Rounded 32"/>
          <p:cNvSpPr/>
          <p:nvPr/>
        </p:nvSpPr>
        <p:spPr>
          <a:xfrm>
            <a:off x="7126605" y="4955540"/>
            <a:ext cx="415290" cy="415290"/>
          </a:xfrm>
          <a:prstGeom prst="ellipse">
            <a:avLst/>
          </a:prstGeom>
          <a:solidFill>
            <a:srgbClr val="3368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endParaRPr lang="en-US" sz="1600" kern="0" dirty="0">
              <a:solidFill>
                <a:srgbClr val="FFFFFF"/>
              </a:solidFill>
              <a:latin typeface="微软雅黑"/>
              <a:ea typeface="微软雅黑"/>
              <a:cs typeface="微软雅黑"/>
              <a:sym typeface="微软雅黑"/>
            </a:endParaRPr>
          </a:p>
        </p:txBody>
      </p:sp>
      <p:sp>
        <p:nvSpPr>
          <p:cNvPr id="38" name="Rectangle: Top Corners Rounded 32"/>
          <p:cNvSpPr/>
          <p:nvPr/>
        </p:nvSpPr>
        <p:spPr>
          <a:xfrm>
            <a:off x="4588510" y="4955540"/>
            <a:ext cx="415290" cy="415290"/>
          </a:xfrm>
          <a:prstGeom prst="ellipse">
            <a:avLst/>
          </a:prstGeom>
          <a:solidFill>
            <a:srgbClr val="3368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endParaRPr lang="en-US" sz="1600" kern="0" dirty="0">
              <a:solidFill>
                <a:srgbClr val="FFFFFF"/>
              </a:solidFill>
              <a:latin typeface="微软雅黑"/>
              <a:ea typeface="微软雅黑"/>
              <a:cs typeface="微软雅黑"/>
              <a:sym typeface="微软雅黑"/>
            </a:endParaRPr>
          </a:p>
        </p:txBody>
      </p:sp>
      <p:sp>
        <p:nvSpPr>
          <p:cNvPr id="39" name="Rectangle: Top Corners Rounded 32"/>
          <p:cNvSpPr/>
          <p:nvPr/>
        </p:nvSpPr>
        <p:spPr>
          <a:xfrm>
            <a:off x="9664700" y="4955540"/>
            <a:ext cx="415290" cy="415290"/>
          </a:xfrm>
          <a:prstGeom prst="ellipse">
            <a:avLst/>
          </a:prstGeom>
          <a:solidFill>
            <a:srgbClr val="3368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endParaRPr lang="en-US" sz="1600" kern="0" dirty="0">
              <a:solidFill>
                <a:srgbClr val="FFFFFF"/>
              </a:solidFill>
              <a:latin typeface="微软雅黑"/>
              <a:ea typeface="微软雅黑"/>
              <a:cs typeface="微软雅黑"/>
              <a:sym typeface="微软雅黑"/>
            </a:endParaRPr>
          </a:p>
        </p:txBody>
      </p:sp>
      <p:sp>
        <p:nvSpPr>
          <p:cNvPr id="40" name="文本框 39"/>
          <p:cNvSpPr txBox="1"/>
          <p:nvPr/>
        </p:nvSpPr>
        <p:spPr>
          <a:xfrm>
            <a:off x="830775" y="4730626"/>
            <a:ext cx="436809" cy="1077218"/>
          </a:xfrm>
          <a:prstGeom prst="rect">
            <a:avLst/>
          </a:prstGeom>
          <a:noFill/>
        </p:spPr>
        <p:txBody>
          <a:bodyPr wrap="square" rtlCol="0">
            <a:spAutoFit/>
          </a:bodyPr>
          <a:lstStyle/>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仓库管理</a:t>
            </a:r>
            <a:endParaRPr lang="zh-CN" altLang="en-US" sz="1600" b="1" dirty="0">
              <a:solidFill>
                <a:srgbClr val="383838"/>
              </a:solidFill>
              <a:latin typeface="微软雅黑"/>
              <a:ea typeface="微软雅黑"/>
              <a:cs typeface="微软雅黑"/>
            </a:endParaRPr>
          </a:p>
        </p:txBody>
      </p:sp>
      <p:sp>
        <p:nvSpPr>
          <p:cNvPr id="41" name="文本框 40"/>
          <p:cNvSpPr txBox="1"/>
          <p:nvPr/>
        </p:nvSpPr>
        <p:spPr>
          <a:xfrm>
            <a:off x="10996066" y="2199142"/>
            <a:ext cx="436809" cy="2800767"/>
          </a:xfrm>
          <a:prstGeom prst="rect">
            <a:avLst/>
          </a:prstGeom>
          <a:noFill/>
        </p:spPr>
        <p:txBody>
          <a:bodyPr wrap="square" rtlCol="0">
            <a:spAutoFit/>
          </a:bodyPr>
          <a:lstStyle/>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库存与销售数据全程贯通</a:t>
            </a:r>
            <a:endParaRPr lang="zh-CN" altLang="en-US" sz="1600" b="1" dirty="0">
              <a:solidFill>
                <a:srgbClr val="383838"/>
              </a:solidFill>
              <a:latin typeface="微软雅黑"/>
              <a:ea typeface="微软雅黑"/>
              <a:cs typeface="微软雅黑"/>
            </a:endParaRPr>
          </a:p>
        </p:txBody>
      </p:sp>
      <p:sp>
        <p:nvSpPr>
          <p:cNvPr id="42" name="文本框 41"/>
          <p:cNvSpPr txBox="1"/>
          <p:nvPr/>
        </p:nvSpPr>
        <p:spPr>
          <a:xfrm>
            <a:off x="8643773" y="6278557"/>
            <a:ext cx="798414" cy="307777"/>
          </a:xfrm>
          <a:prstGeom prst="rect">
            <a:avLst/>
          </a:prstGeom>
          <a:noFill/>
          <a:ln>
            <a:noFill/>
          </a:ln>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信息流</a:t>
            </a:r>
            <a:endParaRPr lang="zh-CN" altLang="en-US" sz="1400" dirty="0">
              <a:solidFill>
                <a:srgbClr val="383838"/>
              </a:solidFill>
              <a:latin typeface="微软雅黑"/>
              <a:ea typeface="微软雅黑"/>
              <a:cs typeface="微软雅黑"/>
            </a:endParaRPr>
          </a:p>
        </p:txBody>
      </p:sp>
      <p:sp>
        <p:nvSpPr>
          <p:cNvPr id="43" name="文本框 42"/>
          <p:cNvSpPr txBox="1"/>
          <p:nvPr/>
        </p:nvSpPr>
        <p:spPr>
          <a:xfrm>
            <a:off x="9969024" y="6278557"/>
            <a:ext cx="798414" cy="307777"/>
          </a:xfrm>
          <a:prstGeom prst="rect">
            <a:avLst/>
          </a:prstGeom>
          <a:noFill/>
          <a:ln>
            <a:noFill/>
          </a:ln>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货品流</a:t>
            </a:r>
            <a:endParaRPr lang="zh-CN" altLang="en-US" sz="1400" dirty="0">
              <a:solidFill>
                <a:srgbClr val="383838"/>
              </a:solidFill>
              <a:latin typeface="微软雅黑"/>
              <a:ea typeface="微软雅黑"/>
              <a:cs typeface="微软雅黑"/>
            </a:endParaRPr>
          </a:p>
        </p:txBody>
      </p:sp>
      <p:sp>
        <p:nvSpPr>
          <p:cNvPr id="44" name="文本框 43"/>
          <p:cNvSpPr txBox="1"/>
          <p:nvPr/>
        </p:nvSpPr>
        <p:spPr>
          <a:xfrm>
            <a:off x="5105934" y="4761011"/>
            <a:ext cx="2000333" cy="430887"/>
          </a:xfrm>
          <a:prstGeom prst="rect">
            <a:avLst/>
          </a:prstGeom>
          <a:noFill/>
        </p:spPr>
        <p:txBody>
          <a:bodyPr wrap="square" rtlCol="0">
            <a:spAutoFit/>
          </a:bodyPr>
          <a:lstStyle/>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统一预测线上下需求</a:t>
            </a:r>
            <a:endParaRPr lang="en-US" altLang="zh-CN" sz="105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50" dirty="0">
                <a:solidFill>
                  <a:srgbClr val="383838"/>
                </a:solidFill>
                <a:latin typeface="微软雅黑"/>
                <a:ea typeface="微软雅黑"/>
                <a:cs typeface="微软雅黑"/>
              </a:rPr>
              <a:t>统筹规划分仓布货</a:t>
            </a:r>
            <a:endParaRPr lang="zh-CN" altLang="en-US" sz="1050" dirty="0">
              <a:solidFill>
                <a:srgbClr val="383838"/>
              </a:solidFill>
              <a:latin typeface="微软雅黑"/>
              <a:ea typeface="微软雅黑"/>
              <a:cs typeface="微软雅黑"/>
            </a:endParaRPr>
          </a:p>
        </p:txBody>
      </p:sp>
      <p:sp>
        <p:nvSpPr>
          <p:cNvPr id="45" name="文本框 44"/>
          <p:cNvSpPr txBox="1"/>
          <p:nvPr/>
        </p:nvSpPr>
        <p:spPr>
          <a:xfrm>
            <a:off x="8780471" y="4515718"/>
            <a:ext cx="1015049" cy="307777"/>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在途库存</a:t>
            </a:r>
            <a:endParaRPr lang="zh-CN" altLang="en-US" sz="1400" dirty="0">
              <a:solidFill>
                <a:srgbClr val="383838"/>
              </a:solidFill>
              <a:latin typeface="微软雅黑"/>
              <a:ea typeface="微软雅黑"/>
              <a:cs typeface="微软雅黑"/>
            </a:endParaRPr>
          </a:p>
        </p:txBody>
      </p:sp>
      <p:sp>
        <p:nvSpPr>
          <p:cNvPr id="46" name="文本框 45"/>
          <p:cNvSpPr txBox="1"/>
          <p:nvPr/>
        </p:nvSpPr>
        <p:spPr>
          <a:xfrm>
            <a:off x="3083437" y="4823529"/>
            <a:ext cx="1015049" cy="307777"/>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库存调拨</a:t>
            </a:r>
            <a:endParaRPr lang="zh-CN" altLang="en-US" sz="1400" dirty="0">
              <a:solidFill>
                <a:srgbClr val="383838"/>
              </a:solidFill>
              <a:latin typeface="微软雅黑"/>
              <a:ea typeface="微软雅黑"/>
              <a:cs typeface="微软雅黑"/>
            </a:endParaRPr>
          </a:p>
        </p:txBody>
      </p:sp>
      <p:grpSp>
        <p:nvGrpSpPr>
          <p:cNvPr id="47" name="组合 46"/>
          <p:cNvGrpSpPr/>
          <p:nvPr/>
        </p:nvGrpSpPr>
        <p:grpSpPr>
          <a:xfrm>
            <a:off x="1587975" y="1734963"/>
            <a:ext cx="2671007" cy="356711"/>
            <a:chOff x="1716107" y="1977813"/>
            <a:chExt cx="2671007" cy="356711"/>
          </a:xfrm>
          <a:solidFill>
            <a:srgbClr val="0042FF"/>
          </a:solidFill>
        </p:grpSpPr>
        <p:sp>
          <p:nvSpPr>
            <p:cNvPr id="48" name="矩形: 圆角 2062"/>
            <p:cNvSpPr/>
            <p:nvPr/>
          </p:nvSpPr>
          <p:spPr>
            <a:xfrm>
              <a:off x="1716107" y="2046524"/>
              <a:ext cx="609529" cy="288000"/>
            </a:xfrm>
            <a:prstGeom prst="roundRect">
              <a:avLst>
                <a:gd name="adj" fmla="val 9340"/>
              </a:avLst>
            </a:prstGeom>
            <a:grp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京东</a:t>
              </a:r>
              <a:endParaRPr lang="zh-CN" altLang="en-US" sz="1200" dirty="0">
                <a:solidFill>
                  <a:srgbClr val="FFFFFF"/>
                </a:solidFill>
                <a:latin typeface="微软雅黑"/>
                <a:ea typeface="微软雅黑"/>
                <a:cs typeface="微软雅黑"/>
              </a:endParaRPr>
            </a:p>
          </p:txBody>
        </p:sp>
        <p:sp>
          <p:nvSpPr>
            <p:cNvPr id="49" name="矩形: 圆角 2062"/>
            <p:cNvSpPr/>
            <p:nvPr/>
          </p:nvSpPr>
          <p:spPr>
            <a:xfrm>
              <a:off x="2431189" y="2046524"/>
              <a:ext cx="609529" cy="288000"/>
            </a:xfrm>
            <a:prstGeom prst="roundRect">
              <a:avLst>
                <a:gd name="adj" fmla="val 9340"/>
              </a:avLst>
            </a:prstGeom>
            <a:grp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天猫</a:t>
              </a:r>
              <a:endParaRPr lang="zh-CN" altLang="en-US" sz="1200" dirty="0">
                <a:solidFill>
                  <a:srgbClr val="FFFFFF"/>
                </a:solidFill>
                <a:latin typeface="微软雅黑"/>
                <a:ea typeface="微软雅黑"/>
                <a:cs typeface="微软雅黑"/>
              </a:endParaRPr>
            </a:p>
          </p:txBody>
        </p:sp>
        <p:sp>
          <p:nvSpPr>
            <p:cNvPr id="50" name="矩形: 圆角 2062"/>
            <p:cNvSpPr/>
            <p:nvPr/>
          </p:nvSpPr>
          <p:spPr>
            <a:xfrm>
              <a:off x="3146271" y="2046524"/>
              <a:ext cx="775288" cy="288000"/>
            </a:xfrm>
            <a:prstGeom prst="roundRect">
              <a:avLst>
                <a:gd name="adj" fmla="val 9340"/>
              </a:avLst>
            </a:prstGeom>
            <a:grp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小红书</a:t>
              </a:r>
              <a:endParaRPr lang="zh-CN" altLang="en-US" sz="1200" dirty="0">
                <a:solidFill>
                  <a:srgbClr val="FFFFFF"/>
                </a:solidFill>
                <a:latin typeface="微软雅黑"/>
                <a:ea typeface="微软雅黑"/>
                <a:cs typeface="微软雅黑"/>
              </a:endParaRPr>
            </a:p>
          </p:txBody>
        </p:sp>
        <p:sp>
          <p:nvSpPr>
            <p:cNvPr id="51" name="文本框 50"/>
            <p:cNvSpPr txBox="1"/>
            <p:nvPr/>
          </p:nvSpPr>
          <p:spPr>
            <a:xfrm>
              <a:off x="4027113" y="1977813"/>
              <a:ext cx="360001" cy="307777"/>
            </a:xfrm>
            <a:prstGeom prst="rect">
              <a:avLst/>
            </a:prstGeom>
            <a:noFill/>
            <a:extLst>
              <a:ext uri="{909E8E84-426E-40DD-AFC4-6F175D3DCCD1}">
                <a14:hiddenFill xmlns:a14="http://schemas.microsoft.com/office/drawing/2010/main">
                  <a:grpFill/>
                </a14:hiddenFill>
              </a:ext>
            </a:extLst>
          </p:spPr>
          <p:txBody>
            <a:bodyPr wrap="square" rtlCol="0">
              <a:spAutoFit/>
            </a:bodyPr>
            <a:lstStyle/>
            <a:p>
              <a:pPr algn="ctr">
                <a:defRPr>
                  <a:latin typeface="微软雅黑"/>
                  <a:ea typeface="微软雅黑"/>
                  <a:cs typeface="微软雅黑"/>
                </a:defRPr>
              </a:pPr>
              <a:r>
                <a:rPr lang="en-US" altLang="zh-CN" sz="1400" b="1" dirty="0">
                  <a:solidFill>
                    <a:srgbClr val="0042FF"/>
                  </a:solidFill>
                  <a:latin typeface="微软雅黑"/>
                  <a:ea typeface="微软雅黑"/>
                  <a:cs typeface="微软雅黑"/>
                </a:rPr>
                <a:t>…</a:t>
              </a:r>
              <a:endParaRPr lang="en-US" altLang="zh-CN" sz="1400" b="1" dirty="0">
                <a:solidFill>
                  <a:srgbClr val="0042FF"/>
                </a:solidFill>
                <a:latin typeface="微软雅黑"/>
                <a:ea typeface="微软雅黑"/>
                <a:cs typeface="微软雅黑"/>
              </a:endParaRPr>
            </a:p>
          </p:txBody>
        </p:sp>
      </p:grpSp>
      <p:sp>
        <p:nvSpPr>
          <p:cNvPr id="52" name="Rectangle: Top Corners Rounded 32"/>
          <p:cNvSpPr/>
          <p:nvPr/>
        </p:nvSpPr>
        <p:spPr>
          <a:xfrm>
            <a:off x="5904865" y="3011170"/>
            <a:ext cx="400685" cy="400685"/>
          </a:xfrm>
          <a:prstGeom prst="ellipse">
            <a:avLst/>
          </a:prstGeom>
          <a:solidFill>
            <a:srgbClr val="3368FF"/>
          </a:solidFill>
          <a:ln w="9525"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endParaRPr lang="en-US" sz="1600" kern="0" dirty="0">
              <a:solidFill>
                <a:srgbClr val="FFFFFF"/>
              </a:solidFill>
              <a:latin typeface="微软雅黑"/>
              <a:ea typeface="微软雅黑"/>
              <a:cs typeface="微软雅黑"/>
              <a:sym typeface="微软雅黑"/>
            </a:endParaRPr>
          </a:p>
        </p:txBody>
      </p:sp>
      <p:sp>
        <p:nvSpPr>
          <p:cNvPr id="53" name="Rectangle: Top Corners Rounded 32"/>
          <p:cNvSpPr/>
          <p:nvPr/>
        </p:nvSpPr>
        <p:spPr>
          <a:xfrm>
            <a:off x="2722245" y="3011170"/>
            <a:ext cx="400685" cy="400685"/>
          </a:xfrm>
          <a:prstGeom prst="ellipse">
            <a:avLst/>
          </a:prstGeom>
          <a:solidFill>
            <a:srgbClr val="3368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endParaRPr lang="en-US" sz="1600" kern="0" dirty="0">
              <a:solidFill>
                <a:srgbClr val="FFFFFF"/>
              </a:solidFill>
              <a:latin typeface="微软雅黑"/>
              <a:ea typeface="微软雅黑"/>
              <a:cs typeface="微软雅黑"/>
              <a:sym typeface="微软雅黑"/>
            </a:endParaRPr>
          </a:p>
        </p:txBody>
      </p:sp>
      <p:sp>
        <p:nvSpPr>
          <p:cNvPr id="54" name="Rectangle: Top Corners Rounded 32"/>
          <p:cNvSpPr/>
          <p:nvPr/>
        </p:nvSpPr>
        <p:spPr>
          <a:xfrm>
            <a:off x="9087485" y="3011170"/>
            <a:ext cx="400685" cy="400685"/>
          </a:xfrm>
          <a:prstGeom prst="ellipse">
            <a:avLst/>
          </a:prstGeom>
          <a:solidFill>
            <a:srgbClr val="3368FF"/>
          </a:solidFill>
          <a:ln w="9525"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endParaRPr lang="en-US" sz="1600" kern="0" dirty="0">
              <a:solidFill>
                <a:srgbClr val="FFFFFF"/>
              </a:solidFill>
              <a:latin typeface="微软雅黑"/>
              <a:ea typeface="微软雅黑"/>
              <a:cs typeface="微软雅黑"/>
              <a:sym typeface="微软雅黑"/>
            </a:endParaRPr>
          </a:p>
        </p:txBody>
      </p:sp>
      <p:sp>
        <p:nvSpPr>
          <p:cNvPr id="55" name="Rectangle: Top Corners Rounded 32"/>
          <p:cNvSpPr/>
          <p:nvPr/>
        </p:nvSpPr>
        <p:spPr>
          <a:xfrm>
            <a:off x="1484125" y="5406769"/>
            <a:ext cx="1599312" cy="288000"/>
          </a:xfrm>
          <a:prstGeom prst="round2SameRect">
            <a:avLst>
              <a:gd name="adj1" fmla="val 6470"/>
              <a:gd name="adj2" fmla="val 12821"/>
            </a:avLst>
          </a:prstGeom>
          <a:solidFill>
            <a:srgbClr val="3368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区域仓</a:t>
            </a:r>
            <a:endParaRPr lang="zh-CN" altLang="en-US" sz="1200" kern="0" dirty="0">
              <a:solidFill>
                <a:srgbClr val="FFFFFF"/>
              </a:solidFill>
              <a:latin typeface="微软雅黑"/>
              <a:ea typeface="微软雅黑"/>
              <a:cs typeface="微软雅黑"/>
              <a:sym typeface="微软雅黑"/>
            </a:endParaRPr>
          </a:p>
        </p:txBody>
      </p:sp>
      <p:sp>
        <p:nvSpPr>
          <p:cNvPr id="56" name="Rectangle: Top Corners Rounded 32"/>
          <p:cNvSpPr/>
          <p:nvPr/>
        </p:nvSpPr>
        <p:spPr>
          <a:xfrm>
            <a:off x="4019271" y="5406769"/>
            <a:ext cx="1599312" cy="288000"/>
          </a:xfrm>
          <a:prstGeom prst="round2SameRect">
            <a:avLst>
              <a:gd name="adj1" fmla="val 6470"/>
              <a:gd name="adj2" fmla="val 12821"/>
            </a:avLst>
          </a:prstGeom>
          <a:solidFill>
            <a:srgbClr val="3368FF"/>
          </a:solidFill>
          <a:ln w="9525"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主仓</a:t>
            </a:r>
            <a:endParaRPr lang="zh-CN" altLang="en-US" sz="1200" kern="0" dirty="0">
              <a:solidFill>
                <a:srgbClr val="FFFFFF"/>
              </a:solidFill>
              <a:latin typeface="微软雅黑"/>
              <a:ea typeface="微软雅黑"/>
              <a:cs typeface="微软雅黑"/>
              <a:sym typeface="微软雅黑"/>
            </a:endParaRPr>
          </a:p>
        </p:txBody>
      </p:sp>
      <p:sp>
        <p:nvSpPr>
          <p:cNvPr id="57" name="Rectangle: Top Corners Rounded 32"/>
          <p:cNvSpPr/>
          <p:nvPr/>
        </p:nvSpPr>
        <p:spPr>
          <a:xfrm>
            <a:off x="6554417" y="5406769"/>
            <a:ext cx="1599312" cy="288000"/>
          </a:xfrm>
          <a:prstGeom prst="round2SameRect">
            <a:avLst>
              <a:gd name="adj1" fmla="val 6470"/>
              <a:gd name="adj2" fmla="val 12821"/>
            </a:avLst>
          </a:prstGeom>
          <a:solidFill>
            <a:srgbClr val="3368FF"/>
          </a:solidFill>
          <a:ln w="9525"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门店仓</a:t>
            </a:r>
            <a:endParaRPr lang="zh-CN" altLang="en-US" sz="1200" kern="0" dirty="0">
              <a:solidFill>
                <a:srgbClr val="FFFFFF"/>
              </a:solidFill>
              <a:latin typeface="微软雅黑"/>
              <a:ea typeface="微软雅黑"/>
              <a:cs typeface="微软雅黑"/>
              <a:sym typeface="微软雅黑"/>
            </a:endParaRPr>
          </a:p>
        </p:txBody>
      </p:sp>
      <p:sp>
        <p:nvSpPr>
          <p:cNvPr id="58" name="Rectangle: Top Corners Rounded 32"/>
          <p:cNvSpPr/>
          <p:nvPr/>
        </p:nvSpPr>
        <p:spPr>
          <a:xfrm>
            <a:off x="9089563" y="5406769"/>
            <a:ext cx="1599312" cy="288000"/>
          </a:xfrm>
          <a:prstGeom prst="round2SameRect">
            <a:avLst>
              <a:gd name="adj1" fmla="val 6470"/>
              <a:gd name="adj2" fmla="val 12821"/>
            </a:avLst>
          </a:prstGeom>
          <a:solidFill>
            <a:srgbClr val="3368FF"/>
          </a:solidFill>
          <a:ln w="9525"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电商仓</a:t>
            </a:r>
            <a:endParaRPr lang="zh-CN" altLang="en-US" sz="1200" kern="0" dirty="0">
              <a:solidFill>
                <a:srgbClr val="FFFFFF"/>
              </a:solidFill>
              <a:latin typeface="微软雅黑"/>
              <a:ea typeface="微软雅黑"/>
              <a:cs typeface="微软雅黑"/>
              <a:sym typeface="微软雅黑"/>
            </a:endParaRPr>
          </a:p>
        </p:txBody>
      </p:sp>
      <p:sp>
        <p:nvSpPr>
          <p:cNvPr id="59" name="矩形: 圆角 2062"/>
          <p:cNvSpPr/>
          <p:nvPr/>
        </p:nvSpPr>
        <p:spPr>
          <a:xfrm>
            <a:off x="1703254" y="3587441"/>
            <a:ext cx="2440448" cy="288000"/>
          </a:xfrm>
          <a:prstGeom prst="roundRect">
            <a:avLst>
              <a:gd name="adj" fmla="val 934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智能库存分配</a:t>
            </a:r>
            <a:endParaRPr lang="zh-CN" altLang="en-US" sz="1200" dirty="0">
              <a:solidFill>
                <a:srgbClr val="FFFFFF"/>
              </a:solidFill>
              <a:latin typeface="微软雅黑"/>
              <a:ea typeface="微软雅黑"/>
              <a:cs typeface="微软雅黑"/>
            </a:endParaRPr>
          </a:p>
        </p:txBody>
      </p:sp>
      <p:sp>
        <p:nvSpPr>
          <p:cNvPr id="61" name="矩形: 圆角 2062"/>
          <p:cNvSpPr/>
          <p:nvPr/>
        </p:nvSpPr>
        <p:spPr>
          <a:xfrm>
            <a:off x="8068498" y="3587441"/>
            <a:ext cx="2440448" cy="288000"/>
          </a:xfrm>
          <a:prstGeom prst="roundRect">
            <a:avLst>
              <a:gd name="adj" fmla="val 934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库存配额</a:t>
            </a:r>
            <a:endParaRPr lang="zh-CN" altLang="en-US" sz="1200" dirty="0">
              <a:solidFill>
                <a:srgbClr val="FFFFFF"/>
              </a:solidFill>
              <a:latin typeface="微软雅黑"/>
              <a:ea typeface="微软雅黑"/>
              <a:cs typeface="微软雅黑"/>
            </a:endParaRPr>
          </a:p>
        </p:txBody>
      </p:sp>
      <p:sp>
        <p:nvSpPr>
          <p:cNvPr id="62" name="矩形: 圆角 2062"/>
          <p:cNvSpPr/>
          <p:nvPr/>
        </p:nvSpPr>
        <p:spPr>
          <a:xfrm>
            <a:off x="4885876" y="3587441"/>
            <a:ext cx="2440448" cy="288000"/>
          </a:xfrm>
          <a:prstGeom prst="roundRect">
            <a:avLst>
              <a:gd name="adj" fmla="val 934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全渠道库存</a:t>
            </a:r>
            <a:endParaRPr lang="zh-CN" altLang="en-US" sz="1200" dirty="0">
              <a:solidFill>
                <a:srgbClr val="FFFFFF"/>
              </a:solidFill>
              <a:latin typeface="微软雅黑"/>
              <a:ea typeface="微软雅黑"/>
              <a:cs typeface="微软雅黑"/>
            </a:endParaRPr>
          </a:p>
        </p:txBody>
      </p:sp>
      <p:cxnSp>
        <p:nvCxnSpPr>
          <p:cNvPr id="64" name="直接箭头连接符 51"/>
          <p:cNvCxnSpPr>
            <a:stCxn id="28" idx="1"/>
            <a:endCxn id="54" idx="0"/>
          </p:cNvCxnSpPr>
          <p:nvPr/>
        </p:nvCxnSpPr>
        <p:spPr>
          <a:xfrm flipH="1">
            <a:off x="9287871" y="2461755"/>
            <a:ext cx="851" cy="549431"/>
          </a:xfrm>
          <a:prstGeom prst="straightConnector1">
            <a:avLst/>
          </a:prstGeom>
          <a:ln>
            <a:solidFill>
              <a:srgbClr val="3368FF"/>
            </a:solidFill>
            <a:headEnd type="triangle" w="med" len="med"/>
            <a:tailEnd type="triangle" w="med" len="med"/>
          </a:ln>
        </p:spPr>
        <p:style>
          <a:lnRef idx="1">
            <a:srgbClr val="0042FF"/>
          </a:lnRef>
          <a:fillRef idx="0">
            <a:srgbClr val="0042FF"/>
          </a:fillRef>
          <a:effectRef idx="0">
            <a:srgbClr val="0042FF"/>
          </a:effectRef>
          <a:fontRef idx="minor">
            <a:srgbClr val="383838"/>
          </a:fontRef>
        </p:style>
      </p:cxnSp>
      <p:cxnSp>
        <p:nvCxnSpPr>
          <p:cNvPr id="65" name="直接箭头连接符 53"/>
          <p:cNvCxnSpPr>
            <a:stCxn id="26" idx="1"/>
            <a:endCxn id="53" idx="0"/>
          </p:cNvCxnSpPr>
          <p:nvPr/>
        </p:nvCxnSpPr>
        <p:spPr>
          <a:xfrm flipH="1">
            <a:off x="2922627" y="2461755"/>
            <a:ext cx="851" cy="549431"/>
          </a:xfrm>
          <a:prstGeom prst="straightConnector1">
            <a:avLst/>
          </a:prstGeom>
          <a:ln>
            <a:solidFill>
              <a:srgbClr val="3368FF"/>
            </a:solidFill>
            <a:headEnd type="triangle" w="med" len="med"/>
            <a:tailEnd type="triangle" w="med" len="med"/>
          </a:ln>
        </p:spPr>
        <p:style>
          <a:lnRef idx="1">
            <a:srgbClr val="0042FF"/>
          </a:lnRef>
          <a:fillRef idx="0">
            <a:srgbClr val="0042FF"/>
          </a:fillRef>
          <a:effectRef idx="0">
            <a:srgbClr val="0042FF"/>
          </a:effectRef>
          <a:fontRef idx="minor">
            <a:srgbClr val="383838"/>
          </a:fontRef>
        </p:style>
      </p:cxnSp>
      <p:cxnSp>
        <p:nvCxnSpPr>
          <p:cNvPr id="66" name="直接箭头连接符 55"/>
          <p:cNvCxnSpPr>
            <a:stCxn id="27" idx="1"/>
            <a:endCxn id="52" idx="0"/>
          </p:cNvCxnSpPr>
          <p:nvPr/>
        </p:nvCxnSpPr>
        <p:spPr>
          <a:xfrm flipH="1">
            <a:off x="6105465" y="2461755"/>
            <a:ext cx="635" cy="549275"/>
          </a:xfrm>
          <a:prstGeom prst="straightConnector1">
            <a:avLst/>
          </a:prstGeom>
          <a:ln>
            <a:solidFill>
              <a:srgbClr val="3368FF"/>
            </a:solidFill>
            <a:headEnd type="triangle" w="med" len="med"/>
            <a:tailEnd type="triangle" w="med" len="med"/>
          </a:ln>
        </p:spPr>
        <p:style>
          <a:lnRef idx="1">
            <a:srgbClr val="0042FF"/>
          </a:lnRef>
          <a:fillRef idx="0">
            <a:srgbClr val="0042FF"/>
          </a:fillRef>
          <a:effectRef idx="0">
            <a:srgbClr val="0042FF"/>
          </a:effectRef>
          <a:fontRef idx="minor">
            <a:srgbClr val="383838"/>
          </a:fontRef>
        </p:style>
      </p:cxnSp>
      <p:cxnSp>
        <p:nvCxnSpPr>
          <p:cNvPr id="67" name="直接箭头连接符 57"/>
          <p:cNvCxnSpPr>
            <a:stCxn id="53" idx="6"/>
            <a:endCxn id="52" idx="2"/>
          </p:cNvCxnSpPr>
          <p:nvPr/>
        </p:nvCxnSpPr>
        <p:spPr>
          <a:xfrm>
            <a:off x="3122957" y="3211517"/>
            <a:ext cx="2781961" cy="0"/>
          </a:xfrm>
          <a:prstGeom prst="straightConnector1">
            <a:avLst/>
          </a:prstGeom>
          <a:ln>
            <a:solidFill>
              <a:srgbClr val="3368FF"/>
            </a:solidFill>
            <a:prstDash val="lgDash"/>
            <a:headEnd type="triangle" w="med" len="med"/>
            <a:tailEnd type="triangle" w="med" len="med"/>
          </a:ln>
        </p:spPr>
        <p:style>
          <a:lnRef idx="1">
            <a:srgbClr val="0042FF"/>
          </a:lnRef>
          <a:fillRef idx="0">
            <a:srgbClr val="0042FF"/>
          </a:fillRef>
          <a:effectRef idx="0">
            <a:srgbClr val="0042FF"/>
          </a:effectRef>
          <a:fontRef idx="minor">
            <a:srgbClr val="383838"/>
          </a:fontRef>
        </p:style>
      </p:cxnSp>
      <p:cxnSp>
        <p:nvCxnSpPr>
          <p:cNvPr id="71" name="直接箭头连接符 59"/>
          <p:cNvCxnSpPr>
            <a:stCxn id="52" idx="6"/>
            <a:endCxn id="54" idx="2"/>
          </p:cNvCxnSpPr>
          <p:nvPr/>
        </p:nvCxnSpPr>
        <p:spPr>
          <a:xfrm>
            <a:off x="6305579" y="3211517"/>
            <a:ext cx="2781961" cy="0"/>
          </a:xfrm>
          <a:prstGeom prst="straightConnector1">
            <a:avLst/>
          </a:prstGeom>
          <a:ln>
            <a:solidFill>
              <a:srgbClr val="3368FF"/>
            </a:solidFill>
            <a:prstDash val="lgDash"/>
            <a:headEnd type="triangle" w="med" len="med"/>
            <a:tailEnd type="triangle" w="med" len="med"/>
          </a:ln>
        </p:spPr>
        <p:style>
          <a:lnRef idx="1">
            <a:srgbClr val="0042FF"/>
          </a:lnRef>
          <a:fillRef idx="0">
            <a:srgbClr val="0042FF"/>
          </a:fillRef>
          <a:effectRef idx="0">
            <a:srgbClr val="0042FF"/>
          </a:effectRef>
          <a:fontRef idx="minor">
            <a:srgbClr val="383838"/>
          </a:fontRef>
        </p:style>
      </p:cxnSp>
      <p:cxnSp>
        <p:nvCxnSpPr>
          <p:cNvPr id="72" name="直接箭头连接符 61"/>
          <p:cNvCxnSpPr>
            <a:stCxn id="36" idx="6"/>
            <a:endCxn id="38" idx="2"/>
          </p:cNvCxnSpPr>
          <p:nvPr/>
        </p:nvCxnSpPr>
        <p:spPr>
          <a:xfrm>
            <a:off x="2466505" y="5162923"/>
            <a:ext cx="2122170" cy="0"/>
          </a:xfrm>
          <a:prstGeom prst="straightConnector1">
            <a:avLst/>
          </a:prstGeom>
          <a:ln>
            <a:solidFill>
              <a:srgbClr val="3368FF"/>
            </a:solidFill>
            <a:tailEnd type="triangle"/>
          </a:ln>
        </p:spPr>
        <p:style>
          <a:lnRef idx="1">
            <a:srgbClr val="0042FF"/>
          </a:lnRef>
          <a:fillRef idx="0">
            <a:srgbClr val="0042FF"/>
          </a:fillRef>
          <a:effectRef idx="0">
            <a:srgbClr val="0042FF"/>
          </a:effectRef>
          <a:fontRef idx="minor">
            <a:srgbClr val="383838"/>
          </a:fontRef>
        </p:style>
      </p:cxnSp>
      <p:cxnSp>
        <p:nvCxnSpPr>
          <p:cNvPr id="73" name="直接箭头连接符 255"/>
          <p:cNvCxnSpPr>
            <a:stCxn id="38" idx="6"/>
            <a:endCxn id="37" idx="2"/>
          </p:cNvCxnSpPr>
          <p:nvPr/>
        </p:nvCxnSpPr>
        <p:spPr>
          <a:xfrm>
            <a:off x="5003917" y="5162923"/>
            <a:ext cx="2122805" cy="0"/>
          </a:xfrm>
          <a:prstGeom prst="straightConnector1">
            <a:avLst/>
          </a:prstGeom>
          <a:ln>
            <a:solidFill>
              <a:srgbClr val="3368FF"/>
            </a:solidFill>
            <a:headEnd type="triangle" w="med" len="med"/>
            <a:tailEnd type="triangle" w="med" len="med"/>
          </a:ln>
        </p:spPr>
        <p:style>
          <a:lnRef idx="1">
            <a:srgbClr val="0042FF"/>
          </a:lnRef>
          <a:fillRef idx="0">
            <a:srgbClr val="0042FF"/>
          </a:fillRef>
          <a:effectRef idx="0">
            <a:srgbClr val="0042FF"/>
          </a:effectRef>
          <a:fontRef idx="minor">
            <a:srgbClr val="383838"/>
          </a:fontRef>
        </p:style>
      </p:cxnSp>
      <p:cxnSp>
        <p:nvCxnSpPr>
          <p:cNvPr id="74" name="直接箭头连接符 259"/>
          <p:cNvCxnSpPr>
            <a:stCxn id="36" idx="0"/>
            <a:endCxn id="29" idx="1"/>
          </p:cNvCxnSpPr>
          <p:nvPr/>
        </p:nvCxnSpPr>
        <p:spPr>
          <a:xfrm flipV="1">
            <a:off x="2258941" y="4211138"/>
            <a:ext cx="3847465" cy="744220"/>
          </a:xfrm>
          <a:prstGeom prst="straightConnector1">
            <a:avLst/>
          </a:prstGeom>
          <a:ln>
            <a:solidFill>
              <a:srgbClr val="3368FF"/>
            </a:solidFill>
            <a:prstDash val="lgDash"/>
            <a:tailEnd type="triangle"/>
          </a:ln>
        </p:spPr>
        <p:style>
          <a:lnRef idx="1">
            <a:srgbClr val="0042FF"/>
          </a:lnRef>
          <a:fillRef idx="0">
            <a:srgbClr val="0042FF"/>
          </a:fillRef>
          <a:effectRef idx="0">
            <a:srgbClr val="0042FF"/>
          </a:effectRef>
          <a:fontRef idx="minor">
            <a:srgbClr val="383838"/>
          </a:fontRef>
        </p:style>
      </p:cxnSp>
      <p:cxnSp>
        <p:nvCxnSpPr>
          <p:cNvPr id="85" name="直接箭头连接符 261"/>
          <p:cNvCxnSpPr>
            <a:stCxn id="38" idx="0"/>
            <a:endCxn id="29" idx="1"/>
          </p:cNvCxnSpPr>
          <p:nvPr/>
        </p:nvCxnSpPr>
        <p:spPr>
          <a:xfrm flipV="1">
            <a:off x="4796353" y="4211138"/>
            <a:ext cx="1310005" cy="744220"/>
          </a:xfrm>
          <a:prstGeom prst="straightConnector1">
            <a:avLst/>
          </a:prstGeom>
          <a:ln>
            <a:solidFill>
              <a:srgbClr val="3368FF"/>
            </a:solidFill>
            <a:prstDash val="lgDash"/>
            <a:tailEnd type="triangle"/>
          </a:ln>
        </p:spPr>
        <p:style>
          <a:lnRef idx="1">
            <a:srgbClr val="0042FF"/>
          </a:lnRef>
          <a:fillRef idx="0">
            <a:srgbClr val="0042FF"/>
          </a:fillRef>
          <a:effectRef idx="0">
            <a:srgbClr val="0042FF"/>
          </a:effectRef>
          <a:fontRef idx="minor">
            <a:srgbClr val="383838"/>
          </a:fontRef>
        </p:style>
      </p:cxnSp>
      <p:cxnSp>
        <p:nvCxnSpPr>
          <p:cNvPr id="87" name="直接箭头连接符 263"/>
          <p:cNvCxnSpPr>
            <a:stCxn id="37" idx="0"/>
            <a:endCxn id="29" idx="1"/>
          </p:cNvCxnSpPr>
          <p:nvPr/>
        </p:nvCxnSpPr>
        <p:spPr>
          <a:xfrm flipH="1" flipV="1">
            <a:off x="6106310" y="4211138"/>
            <a:ext cx="1228090" cy="744220"/>
          </a:xfrm>
          <a:prstGeom prst="straightConnector1">
            <a:avLst/>
          </a:prstGeom>
          <a:ln>
            <a:solidFill>
              <a:srgbClr val="3368FF"/>
            </a:solidFill>
            <a:prstDash val="lgDash"/>
            <a:tailEnd type="triangle"/>
          </a:ln>
        </p:spPr>
        <p:style>
          <a:lnRef idx="1">
            <a:srgbClr val="0042FF"/>
          </a:lnRef>
          <a:fillRef idx="0">
            <a:srgbClr val="0042FF"/>
          </a:fillRef>
          <a:effectRef idx="0">
            <a:srgbClr val="0042FF"/>
          </a:effectRef>
          <a:fontRef idx="minor">
            <a:srgbClr val="383838"/>
          </a:fontRef>
        </p:style>
      </p:cxnSp>
      <p:cxnSp>
        <p:nvCxnSpPr>
          <p:cNvPr id="88" name="直接箭头连接符 269"/>
          <p:cNvCxnSpPr>
            <a:stCxn id="39" idx="0"/>
            <a:endCxn id="29" idx="1"/>
          </p:cNvCxnSpPr>
          <p:nvPr/>
        </p:nvCxnSpPr>
        <p:spPr>
          <a:xfrm flipH="1" flipV="1">
            <a:off x="6106261" y="4211138"/>
            <a:ext cx="3766185" cy="744220"/>
          </a:xfrm>
          <a:prstGeom prst="straightConnector1">
            <a:avLst/>
          </a:prstGeom>
          <a:ln>
            <a:solidFill>
              <a:srgbClr val="3368FF"/>
            </a:solidFill>
            <a:prstDash val="lgDash"/>
            <a:tailEnd type="triangle"/>
          </a:ln>
        </p:spPr>
        <p:style>
          <a:lnRef idx="1">
            <a:srgbClr val="0042FF"/>
          </a:lnRef>
          <a:fillRef idx="0">
            <a:srgbClr val="0042FF"/>
          </a:fillRef>
          <a:effectRef idx="0">
            <a:srgbClr val="0042FF"/>
          </a:effectRef>
          <a:fontRef idx="minor">
            <a:srgbClr val="383838"/>
          </a:fontRef>
        </p:style>
      </p:cxnSp>
      <p:cxnSp>
        <p:nvCxnSpPr>
          <p:cNvPr id="90" name="直接箭头连接符 271"/>
          <p:cNvCxnSpPr/>
          <p:nvPr/>
        </p:nvCxnSpPr>
        <p:spPr>
          <a:xfrm>
            <a:off x="8153726" y="6501025"/>
            <a:ext cx="490047" cy="1"/>
          </a:xfrm>
          <a:prstGeom prst="straightConnector1">
            <a:avLst/>
          </a:prstGeom>
          <a:ln>
            <a:solidFill>
              <a:srgbClr val="3368FF"/>
            </a:solidFill>
            <a:prstDash val="lgDash"/>
            <a:tailEnd type="triangle"/>
          </a:ln>
        </p:spPr>
        <p:style>
          <a:lnRef idx="1">
            <a:srgbClr val="0042FF"/>
          </a:lnRef>
          <a:fillRef idx="0">
            <a:srgbClr val="0042FF"/>
          </a:fillRef>
          <a:effectRef idx="0">
            <a:srgbClr val="0042FF"/>
          </a:effectRef>
          <a:fontRef idx="minor">
            <a:srgbClr val="383838"/>
          </a:fontRef>
        </p:style>
      </p:cxnSp>
      <p:cxnSp>
        <p:nvCxnSpPr>
          <p:cNvPr id="91" name="直接箭头连接符 272"/>
          <p:cNvCxnSpPr/>
          <p:nvPr/>
        </p:nvCxnSpPr>
        <p:spPr>
          <a:xfrm>
            <a:off x="9470483" y="6346720"/>
            <a:ext cx="490047" cy="1"/>
          </a:xfrm>
          <a:prstGeom prst="straightConnector1">
            <a:avLst/>
          </a:prstGeom>
          <a:ln>
            <a:solidFill>
              <a:srgbClr val="3368FF"/>
            </a:solidFill>
            <a:tailEnd type="triangle"/>
          </a:ln>
        </p:spPr>
        <p:style>
          <a:lnRef idx="1">
            <a:srgbClr val="0042FF"/>
          </a:lnRef>
          <a:fillRef idx="0">
            <a:srgbClr val="0042FF"/>
          </a:fillRef>
          <a:effectRef idx="0">
            <a:srgbClr val="0042FF"/>
          </a:effectRef>
          <a:fontRef idx="minor">
            <a:srgbClr val="383838"/>
          </a:fontRef>
        </p:style>
      </p:cxnSp>
      <p:cxnSp>
        <p:nvCxnSpPr>
          <p:cNvPr id="93" name="直接箭头连接符 277"/>
          <p:cNvCxnSpPr/>
          <p:nvPr/>
        </p:nvCxnSpPr>
        <p:spPr>
          <a:xfrm flipH="1" flipV="1">
            <a:off x="11214470" y="1671392"/>
            <a:ext cx="1" cy="527750"/>
          </a:xfrm>
          <a:prstGeom prst="straightConnector1">
            <a:avLst/>
          </a:prstGeom>
          <a:solidFill>
            <a:srgbClr val="0042FF"/>
          </a:solidFill>
          <a:ln>
            <a:solidFill>
              <a:srgbClr val="383838"/>
            </a:solidFill>
            <a:tailEnd type="triangle"/>
          </a:ln>
        </p:spPr>
        <p:style>
          <a:lnRef idx="1">
            <a:srgbClr val="0042FF"/>
          </a:lnRef>
          <a:fillRef idx="0">
            <a:srgbClr val="0042FF"/>
          </a:fillRef>
          <a:effectRef idx="0">
            <a:srgbClr val="0042FF"/>
          </a:effectRef>
          <a:fontRef idx="minor">
            <a:srgbClr val="383838"/>
          </a:fontRef>
        </p:style>
      </p:cxnSp>
      <p:cxnSp>
        <p:nvCxnSpPr>
          <p:cNvPr id="94" name="直接箭头连接符 279"/>
          <p:cNvCxnSpPr/>
          <p:nvPr/>
        </p:nvCxnSpPr>
        <p:spPr>
          <a:xfrm flipH="1">
            <a:off x="11214470" y="4999909"/>
            <a:ext cx="1" cy="539999"/>
          </a:xfrm>
          <a:prstGeom prst="straightConnector1">
            <a:avLst/>
          </a:prstGeom>
          <a:ln>
            <a:solidFill>
              <a:srgbClr val="383838"/>
            </a:solidFill>
            <a:tailEnd type="triangle"/>
          </a:ln>
        </p:spPr>
        <p:style>
          <a:lnRef idx="1">
            <a:srgbClr val="0042FF"/>
          </a:lnRef>
          <a:fillRef idx="0">
            <a:srgbClr val="0042FF"/>
          </a:fillRef>
          <a:effectRef idx="0">
            <a:srgbClr val="0042FF"/>
          </a:effectRef>
          <a:fontRef idx="minor">
            <a:srgbClr val="383838"/>
          </a:fontRef>
        </p:style>
      </p:cxnSp>
      <p:pic>
        <p:nvPicPr>
          <p:cNvPr id="96" name="图片 95" descr="我的门店"/>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5003800" y="1720850"/>
            <a:ext cx="360000" cy="360000"/>
          </a:xfrm>
          <a:prstGeom prst="rect">
            <a:avLst/>
          </a:prstGeom>
        </p:spPr>
      </p:pic>
      <p:pic>
        <p:nvPicPr>
          <p:cNvPr id="109" name="图片 108" descr="我的门店"/>
          <p:cNvPicPr>
            <a:picLocks noChangeAspect="1"/>
          </p:cNvPicPr>
          <p:nvPr/>
        </p:nvPicPr>
        <p:blipFill>
          <a:blip r:embed="rId1">
            <a:extLst>
              <a:ext uri="{96DAC541-7B7A-43D3-8B79-37D633B846F1}">
                <asvg:svgBlip xmlns:asvg="http://schemas.microsoft.com/office/drawing/2016/SVG/main" r:embed="rId3"/>
              </a:ext>
            </a:extLst>
          </a:blip>
          <a:stretch>
            <a:fillRect/>
          </a:stretch>
        </p:blipFill>
        <p:spPr>
          <a:xfrm>
            <a:off x="6349320" y="1720850"/>
            <a:ext cx="359410" cy="360000"/>
          </a:xfrm>
          <a:prstGeom prst="rect">
            <a:avLst/>
          </a:prstGeom>
        </p:spPr>
      </p:pic>
      <p:pic>
        <p:nvPicPr>
          <p:cNvPr id="110" name="图片 109" descr="我的门店"/>
          <p:cNvPicPr>
            <a:picLocks noChangeAspect="1"/>
          </p:cNvPicPr>
          <p:nvPr/>
        </p:nvPicPr>
        <p:blipFill>
          <a:blip r:embed="rId1">
            <a:extLst>
              <a:ext uri="{96DAC541-7B7A-43D3-8B79-37D633B846F1}">
                <asvg:svgBlip xmlns:asvg="http://schemas.microsoft.com/office/drawing/2016/SVG/main" r:embed="rId4"/>
              </a:ext>
            </a:extLst>
          </a:blip>
          <a:stretch>
            <a:fillRect/>
          </a:stretch>
        </p:blipFill>
        <p:spPr>
          <a:xfrm>
            <a:off x="5676855" y="1720850"/>
            <a:ext cx="359410" cy="360000"/>
          </a:xfrm>
          <a:prstGeom prst="rect">
            <a:avLst/>
          </a:prstGeom>
        </p:spPr>
      </p:pic>
      <p:sp>
        <p:nvSpPr>
          <p:cNvPr id="111" name="文本框 110"/>
          <p:cNvSpPr txBox="1"/>
          <p:nvPr/>
        </p:nvSpPr>
        <p:spPr>
          <a:xfrm>
            <a:off x="6966666" y="1734963"/>
            <a:ext cx="360001" cy="307777"/>
          </a:xfrm>
          <a:prstGeom prst="rect">
            <a:avLst/>
          </a:prstGeom>
          <a:noFill/>
          <a:extLst>
            <a:ext uri="{909E8E84-426E-40DD-AFC4-6F175D3DCCD1}">
              <a14:hiddenFill xmlns:a14="http://schemas.microsoft.com/office/drawing/2010/main">
                <a:solidFill>
                  <a:srgbClr val="0042FF"/>
                </a:solidFill>
              </a14:hiddenFill>
            </a:ext>
          </a:extLst>
        </p:spPr>
        <p:txBody>
          <a:bodyPr wrap="square" rtlCol="0">
            <a:spAutoFit/>
          </a:bodyPr>
          <a:lstStyle/>
          <a:p>
            <a:pPr algn="ctr">
              <a:defRPr>
                <a:latin typeface="微软雅黑"/>
                <a:ea typeface="微软雅黑"/>
                <a:cs typeface="微软雅黑"/>
              </a:defRPr>
            </a:pPr>
            <a:r>
              <a:rPr lang="en-US" altLang="zh-CN" sz="1400" b="1" dirty="0">
                <a:solidFill>
                  <a:srgbClr val="0042FF"/>
                </a:solidFill>
                <a:latin typeface="微软雅黑"/>
                <a:ea typeface="微软雅黑"/>
                <a:cs typeface="微软雅黑"/>
              </a:rPr>
              <a:t>…</a:t>
            </a:r>
            <a:endParaRPr lang="en-US" altLang="zh-CN" sz="1400" b="1" dirty="0">
              <a:solidFill>
                <a:srgbClr val="0042FF"/>
              </a:solidFill>
              <a:latin typeface="微软雅黑"/>
              <a:ea typeface="微软雅黑"/>
              <a:cs typeface="微软雅黑"/>
            </a:endParaRPr>
          </a:p>
        </p:txBody>
      </p:sp>
      <p:pic>
        <p:nvPicPr>
          <p:cNvPr id="112" name="图片 111" descr="B01-经销商"/>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154035" y="1697355"/>
            <a:ext cx="412115" cy="345440"/>
          </a:xfrm>
          <a:prstGeom prst="rect">
            <a:avLst/>
          </a:prstGeom>
        </p:spPr>
      </p:pic>
      <p:pic>
        <p:nvPicPr>
          <p:cNvPr id="113" name="图片 112" descr="B01-经销商"/>
          <p:cNvPicPr>
            <a:picLocks noChangeAspect="1"/>
          </p:cNvPicPr>
          <p:nvPr/>
        </p:nvPicPr>
        <p:blipFill>
          <a:blip r:embed="rId5">
            <a:extLst>
              <a:ext uri="{96DAC541-7B7A-43D3-8B79-37D633B846F1}">
                <asvg:svgBlip xmlns:asvg="http://schemas.microsoft.com/office/drawing/2016/SVG/main" r:embed="rId7"/>
              </a:ext>
            </a:extLst>
          </a:blip>
          <a:stretch>
            <a:fillRect/>
          </a:stretch>
        </p:blipFill>
        <p:spPr>
          <a:xfrm>
            <a:off x="8924925" y="1697355"/>
            <a:ext cx="412115" cy="345440"/>
          </a:xfrm>
          <a:prstGeom prst="rect">
            <a:avLst/>
          </a:prstGeom>
        </p:spPr>
      </p:pic>
      <p:pic>
        <p:nvPicPr>
          <p:cNvPr id="114" name="图片 113" descr="B01-经销商"/>
          <p:cNvPicPr>
            <a:picLocks noChangeAspect="1"/>
          </p:cNvPicPr>
          <p:nvPr/>
        </p:nvPicPr>
        <p:blipFill>
          <a:blip r:embed="rId5">
            <a:extLst>
              <a:ext uri="{96DAC541-7B7A-43D3-8B79-37D633B846F1}">
                <asvg:svgBlip xmlns:asvg="http://schemas.microsoft.com/office/drawing/2016/SVG/main" r:embed="rId8"/>
              </a:ext>
            </a:extLst>
          </a:blip>
          <a:stretch>
            <a:fillRect/>
          </a:stretch>
        </p:blipFill>
        <p:spPr>
          <a:xfrm>
            <a:off x="9695815" y="1697355"/>
            <a:ext cx="412115" cy="345440"/>
          </a:xfrm>
          <a:prstGeom prst="rect">
            <a:avLst/>
          </a:prstGeom>
        </p:spPr>
      </p:pic>
      <p:sp>
        <p:nvSpPr>
          <p:cNvPr id="115" name="文本框 114"/>
          <p:cNvSpPr txBox="1"/>
          <p:nvPr/>
        </p:nvSpPr>
        <p:spPr>
          <a:xfrm>
            <a:off x="10198816" y="1734963"/>
            <a:ext cx="360001" cy="307777"/>
          </a:xfrm>
          <a:prstGeom prst="rect">
            <a:avLst/>
          </a:prstGeom>
          <a:noFill/>
          <a:extLst>
            <a:ext uri="{909E8E84-426E-40DD-AFC4-6F175D3DCCD1}">
              <a14:hiddenFill xmlns:a14="http://schemas.microsoft.com/office/drawing/2010/main">
                <a:solidFill>
                  <a:srgbClr val="0042FF"/>
                </a:solidFill>
              </a14:hiddenFill>
            </a:ext>
          </a:extLst>
        </p:spPr>
        <p:txBody>
          <a:bodyPr wrap="square" rtlCol="0">
            <a:spAutoFit/>
          </a:bodyPr>
          <a:lstStyle/>
          <a:p>
            <a:pPr algn="ctr">
              <a:defRPr>
                <a:latin typeface="微软雅黑"/>
                <a:ea typeface="微软雅黑"/>
                <a:cs typeface="微软雅黑"/>
              </a:defRPr>
            </a:pPr>
            <a:r>
              <a:rPr lang="en-US" altLang="zh-CN" sz="1400" b="1" dirty="0">
                <a:solidFill>
                  <a:srgbClr val="0042FF"/>
                </a:solidFill>
                <a:latin typeface="微软雅黑"/>
                <a:ea typeface="微软雅黑"/>
                <a:cs typeface="微软雅黑"/>
              </a:rPr>
              <a:t>…</a:t>
            </a:r>
            <a:endParaRPr lang="en-US" altLang="zh-CN" sz="1400" b="1" dirty="0">
              <a:solidFill>
                <a:srgbClr val="0042FF"/>
              </a:solidFill>
              <a:latin typeface="微软雅黑"/>
              <a:ea typeface="微软雅黑"/>
              <a:cs typeface="微软雅黑"/>
            </a:endParaRPr>
          </a:p>
        </p:txBody>
      </p:sp>
      <p:pic>
        <p:nvPicPr>
          <p:cNvPr id="116" name="图片 115" descr="配额"/>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116695" y="3032125"/>
            <a:ext cx="358140" cy="358140"/>
          </a:xfrm>
          <a:prstGeom prst="rect">
            <a:avLst/>
          </a:prstGeom>
        </p:spPr>
      </p:pic>
      <p:pic>
        <p:nvPicPr>
          <p:cNvPr id="117" name="图片 116" descr="智能云"/>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2784475" y="3077210"/>
            <a:ext cx="284480" cy="213360"/>
          </a:xfrm>
          <a:prstGeom prst="rect">
            <a:avLst/>
          </a:prstGeom>
        </p:spPr>
      </p:pic>
      <p:pic>
        <p:nvPicPr>
          <p:cNvPr id="118" name="图片 117" descr="智能优化"/>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5951855" y="3060700"/>
            <a:ext cx="308610" cy="308610"/>
          </a:xfrm>
          <a:prstGeom prst="rect">
            <a:avLst/>
          </a:prstGeom>
        </p:spPr>
      </p:pic>
      <p:pic>
        <p:nvPicPr>
          <p:cNvPr id="119" name="图片 118" descr="行政区域"/>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4679315" y="5037455"/>
            <a:ext cx="233680" cy="233680"/>
          </a:xfrm>
          <a:prstGeom prst="rect">
            <a:avLst/>
          </a:prstGeom>
        </p:spPr>
      </p:pic>
      <p:pic>
        <p:nvPicPr>
          <p:cNvPr id="121" name="图片 120" descr="主仓库"/>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7201535" y="4999990"/>
            <a:ext cx="271145" cy="271145"/>
          </a:xfrm>
          <a:prstGeom prst="rect">
            <a:avLst/>
          </a:prstGeom>
        </p:spPr>
      </p:pic>
      <p:pic>
        <p:nvPicPr>
          <p:cNvPr id="122" name="图片 121" descr="入库"/>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2131060" y="5024755"/>
            <a:ext cx="253365" cy="253365"/>
          </a:xfrm>
          <a:prstGeom prst="rect">
            <a:avLst/>
          </a:prstGeom>
        </p:spPr>
      </p:pic>
      <p:pic>
        <p:nvPicPr>
          <p:cNvPr id="124" name="图片 123" descr="中烟-移动后台_B2B订货"/>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9760585" y="5037455"/>
            <a:ext cx="233680" cy="233680"/>
          </a:xfrm>
          <a:prstGeom prst="rect">
            <a:avLst/>
          </a:prstGeom>
        </p:spPr>
      </p:pic>
      <p:pic>
        <p:nvPicPr>
          <p:cNvPr id="4" name="图片 3" descr="屋顶资源管理"/>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355600" y="186055"/>
            <a:ext cx="549910" cy="549910"/>
          </a:xfrm>
          <a:prstGeom prst="rect">
            <a:avLst/>
          </a:prstGeom>
        </p:spPr>
      </p:pic>
      <p:grpSp>
        <p:nvGrpSpPr>
          <p:cNvPr id="9" name="组合 8"/>
          <p:cNvGrpSpPr/>
          <p:nvPr/>
        </p:nvGrpSpPr>
        <p:grpSpPr>
          <a:xfrm>
            <a:off x="8715375" y="348615"/>
            <a:ext cx="3219450" cy="332740"/>
            <a:chOff x="13761" y="549"/>
            <a:chExt cx="5070" cy="524"/>
          </a:xfrm>
        </p:grpSpPr>
        <p:pic>
          <p:nvPicPr>
            <p:cNvPr id="10" name="图片 9"/>
            <p:cNvPicPr>
              <a:picLocks noChangeAspect="1"/>
            </p:cNvPicPr>
            <p:nvPr userDrawn="1"/>
          </p:nvPicPr>
          <p:blipFill>
            <a:blip r:embed="rId25"/>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 name="直接箭头连接符 271"/>
          <p:cNvCxnSpPr/>
          <p:nvPr/>
        </p:nvCxnSpPr>
        <p:spPr>
          <a:xfrm>
            <a:off x="8153091" y="6346720"/>
            <a:ext cx="490047" cy="1"/>
          </a:xfrm>
          <a:prstGeom prst="straightConnector1">
            <a:avLst/>
          </a:prstGeom>
          <a:ln>
            <a:solidFill>
              <a:srgbClr val="3368FF"/>
            </a:solidFill>
            <a:prstDash val="lgDash"/>
            <a:tailEnd type="triangle"/>
          </a:ln>
        </p:spPr>
        <p:style>
          <a:lnRef idx="1">
            <a:srgbClr val="0042FF"/>
          </a:lnRef>
          <a:fillRef idx="0">
            <a:srgbClr val="0042FF"/>
          </a:fillRef>
          <a:effectRef idx="0">
            <a:srgbClr val="0042FF"/>
          </a:effectRef>
          <a:fontRef idx="minor">
            <a:srgbClr val="383838"/>
          </a:fontRef>
        </p:style>
      </p:cxnSp>
      <p:cxnSp>
        <p:nvCxnSpPr>
          <p:cNvPr id="3" name="直接箭头连接符 272"/>
          <p:cNvCxnSpPr/>
          <p:nvPr/>
        </p:nvCxnSpPr>
        <p:spPr>
          <a:xfrm>
            <a:off x="9470483" y="6501025"/>
            <a:ext cx="490047" cy="1"/>
          </a:xfrm>
          <a:prstGeom prst="straightConnector1">
            <a:avLst/>
          </a:prstGeom>
          <a:ln>
            <a:solidFill>
              <a:srgbClr val="3368FF"/>
            </a:solidFill>
            <a:tailEnd type="triangle"/>
          </a:ln>
        </p:spPr>
        <p:style>
          <a:lnRef idx="1">
            <a:srgbClr val="0042FF"/>
          </a:lnRef>
          <a:fillRef idx="0">
            <a:srgbClr val="0042FF"/>
          </a:fillRef>
          <a:effectRef idx="0">
            <a:srgbClr val="0042FF"/>
          </a:effectRef>
          <a:fontRef idx="minor">
            <a:srgbClr val="383838"/>
          </a:fontRef>
        </p:style>
      </p:cxnSp>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天蝎PPT1"/>
          <p:cNvPicPr>
            <a:picLocks noChangeAspect="1"/>
          </p:cNvPicPr>
          <p:nvPr/>
        </p:nvPicPr>
        <p:blipFill rotWithShape="1">
          <a:blip r:embed="rId1" cstate="email"/>
          <a:srcRect/>
          <a:stretch>
            <a:fillRect/>
          </a:stretch>
        </p:blipFill>
        <p:spPr>
          <a:xfrm flipH="1">
            <a:off x="4431665" y="1270"/>
            <a:ext cx="7755825" cy="6858000"/>
          </a:xfrm>
          <a:prstGeom prst="rect">
            <a:avLst/>
          </a:prstGeom>
        </p:spPr>
      </p:pic>
      <p:sp>
        <p:nvSpPr>
          <p:cNvPr id="36" name="矩形 35"/>
          <p:cNvSpPr/>
          <p:nvPr/>
        </p:nvSpPr>
        <p:spPr>
          <a:xfrm>
            <a:off x="0" y="1270"/>
            <a:ext cx="12268200" cy="6858000"/>
          </a:xfrm>
          <a:prstGeom prst="rect">
            <a:avLst/>
          </a:prstGeom>
          <a:gradFill>
            <a:gsLst>
              <a:gs pos="0">
                <a:srgbClr val="FFFFFF"/>
              </a:gs>
              <a:gs pos="100000">
                <a:srgbClr val="DCDCDC">
                  <a:alpha val="50000"/>
                </a:srgbClr>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0" y="-5080"/>
            <a:ext cx="5048250" cy="6865620"/>
          </a:xfrm>
          <a:prstGeom prst="rect">
            <a:avLst/>
          </a:prstGeom>
          <a:gradFill>
            <a:gsLst>
              <a:gs pos="0">
                <a:srgbClr val="E6E6E6"/>
              </a:gs>
              <a:gs pos="100000">
                <a:srgbClr val="E6E6E6"/>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 name="文本框 5"/>
          <p:cNvSpPr txBox="1"/>
          <p:nvPr/>
        </p:nvSpPr>
        <p:spPr>
          <a:xfrm>
            <a:off x="585470" y="1805940"/>
            <a:ext cx="3877310" cy="583565"/>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altLang="en-US" sz="3200" b="1" spc="-150" noProof="0" dirty="0">
                <a:ln>
                  <a:noFill/>
                </a:ln>
                <a:solidFill>
                  <a:srgbClr val="0042FF"/>
                </a:solidFill>
                <a:effectLst/>
                <a:uLnTx/>
                <a:uFillTx/>
                <a:latin typeface="微软雅黑"/>
                <a:ea typeface="微软雅黑"/>
                <a:cs typeface="微软雅黑"/>
                <a:sym typeface="微软雅黑"/>
              </a:rPr>
              <a:t>中心发散架构</a:t>
            </a:r>
            <a:endParaRPr lang="zh-CN" altLang="en-US" sz="3200" b="1" spc="-150" noProof="0" dirty="0">
              <a:ln>
                <a:noFill/>
              </a:ln>
              <a:solidFill>
                <a:srgbClr val="0042FF"/>
              </a:solidFill>
              <a:effectLst/>
              <a:uLnTx/>
              <a:uFillTx/>
              <a:latin typeface="微软雅黑"/>
              <a:ea typeface="微软雅黑"/>
              <a:cs typeface="微软雅黑"/>
              <a:sym typeface="微软雅黑"/>
            </a:endParaRPr>
          </a:p>
        </p:txBody>
      </p:sp>
      <p:sp>
        <p:nvSpPr>
          <p:cNvPr id="9" name="文本框 8"/>
          <p:cNvSpPr txBox="1"/>
          <p:nvPr/>
        </p:nvSpPr>
        <p:spPr>
          <a:xfrm>
            <a:off x="819150" y="2650490"/>
            <a:ext cx="3409950" cy="3371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en-US" altLang="zh-CN" sz="1600">
                <a:solidFill>
                  <a:srgbClr val="383838"/>
                </a:solidFill>
                <a:latin typeface="微软雅黑"/>
                <a:ea typeface="微软雅黑"/>
                <a:cs typeface="微软雅黑"/>
                <a:sym typeface="微软雅黑"/>
              </a:rPr>
              <a:t>Radial Core Framework</a:t>
            </a:r>
            <a:endParaRPr lang="en-US" altLang="zh-CN" sz="1600">
              <a:solidFill>
                <a:srgbClr val="383838"/>
              </a:solidFill>
              <a:latin typeface="微软雅黑"/>
              <a:ea typeface="微软雅黑"/>
              <a:cs typeface="微软雅黑"/>
              <a:sym typeface="微软雅黑"/>
            </a:endParaRPr>
          </a:p>
        </p:txBody>
      </p:sp>
      <p:sp>
        <p:nvSpPr>
          <p:cNvPr id="12" name="矩形 11"/>
          <p:cNvSpPr/>
          <p:nvPr/>
        </p:nvSpPr>
        <p:spPr>
          <a:xfrm>
            <a:off x="1339215" y="2403475"/>
            <a:ext cx="396240" cy="36195"/>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0" name="文本框 29"/>
          <p:cNvSpPr txBox="1"/>
          <p:nvPr/>
        </p:nvSpPr>
        <p:spPr>
          <a:xfrm>
            <a:off x="2000885" y="833755"/>
            <a:ext cx="1046480" cy="860425"/>
          </a:xfrm>
          <a:prstGeom prst="rect">
            <a:avLst/>
          </a:prstGeom>
          <a:noFill/>
        </p:spPr>
        <p:txBody>
          <a:bodyPr wrap="square" rtlCol="0" anchor="ctr" anchorCtr="0">
            <a:noAutofit/>
          </a:bodyPr>
          <a:lstStyle/>
          <a:p>
            <a:pPr lvl="0" algn="ctr" fontAlgn="ctr">
              <a:buClrTx/>
              <a:buSzTx/>
              <a:buFontTx/>
              <a:defRPr>
                <a:latin typeface="微软雅黑"/>
                <a:ea typeface="微软雅黑"/>
                <a:cs typeface="微软雅黑"/>
              </a:defRPr>
            </a:pPr>
            <a:r>
              <a:rPr lang="en-US" altLang="zh-CN" sz="5000" b="1">
                <a:solidFill>
                  <a:srgbClr val="383838"/>
                </a:solidFill>
                <a:latin typeface="微软雅黑"/>
                <a:ea typeface="微软雅黑"/>
                <a:cs typeface="微软雅黑"/>
                <a:sym typeface="微软雅黑"/>
              </a:rPr>
              <a:t>③</a:t>
            </a:r>
            <a:endParaRPr lang="en-US" altLang="zh-CN" sz="5000" b="1">
              <a:solidFill>
                <a:srgbClr val="383838"/>
              </a:solidFill>
              <a:latin typeface="微软雅黑"/>
              <a:ea typeface="微软雅黑"/>
              <a:cs typeface="微软雅黑"/>
              <a:sym typeface="微软雅黑"/>
            </a:endParaRPr>
          </a:p>
        </p:txBody>
      </p:sp>
      <p:sp>
        <p:nvSpPr>
          <p:cNvPr id="2" name="文本框 1"/>
          <p:cNvSpPr txBox="1"/>
          <p:nvPr/>
        </p:nvSpPr>
        <p:spPr>
          <a:xfrm>
            <a:off x="5697220" y="2187575"/>
            <a:ext cx="5712460" cy="2353310"/>
          </a:xfrm>
          <a:prstGeom prst="rect">
            <a:avLst/>
          </a:prstGeom>
          <a:noFill/>
        </p:spPr>
        <p:txBody>
          <a:bodyPr wrap="square" rtlCol="0">
            <a:spAutoFit/>
          </a:bodyPr>
          <a:lstStyle/>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设计元素：</a:t>
            </a:r>
            <a:r>
              <a:rPr lang="zh-CN" altLang="en-US" sz="1400">
                <a:solidFill>
                  <a:srgbClr val="383838"/>
                </a:solidFill>
                <a:latin typeface="微软雅黑"/>
                <a:ea typeface="微软雅黑"/>
                <a:cs typeface="微软雅黑"/>
              </a:rPr>
              <a:t>主要由中心节点、分支逻辑、子节点组成，围绕中心向外延伸</a:t>
            </a:r>
            <a:r>
              <a:rPr lang="en-US" altLang="zh-CN" sz="1400">
                <a:solidFill>
                  <a:srgbClr val="383838"/>
                </a:solidFill>
                <a:latin typeface="微软雅黑"/>
                <a:ea typeface="微软雅黑"/>
                <a:cs typeface="微软雅黑"/>
              </a:rPr>
              <a:t>3-5</a:t>
            </a:r>
            <a:r>
              <a:rPr lang="zh-CN" altLang="en-US" sz="1400">
                <a:solidFill>
                  <a:srgbClr val="383838"/>
                </a:solidFill>
                <a:latin typeface="微软雅黑"/>
                <a:ea typeface="微软雅黑"/>
                <a:cs typeface="微软雅黑"/>
              </a:rPr>
              <a:t>层分支，通过线条粗细、虚实</a:t>
            </a:r>
            <a:r>
              <a:rPr lang="zh-CN" sz="1400">
                <a:solidFill>
                  <a:srgbClr val="383838"/>
                </a:solidFill>
                <a:latin typeface="微软雅黑"/>
                <a:ea typeface="微软雅黑"/>
                <a:cs typeface="微软雅黑"/>
              </a:rPr>
              <a:t>线</a:t>
            </a:r>
            <a:r>
              <a:rPr lang="zh-CN" altLang="en-US" sz="1400">
                <a:solidFill>
                  <a:srgbClr val="383838"/>
                </a:solidFill>
                <a:latin typeface="微软雅黑"/>
                <a:ea typeface="微软雅黑"/>
                <a:cs typeface="微软雅黑"/>
              </a:rPr>
              <a:t>或箭头区分逻辑关系，避免信息交叉混乱。</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应用场景：</a:t>
            </a:r>
            <a:r>
              <a:rPr lang="zh-CN" altLang="en-US" sz="1400">
                <a:solidFill>
                  <a:srgbClr val="383838"/>
                </a:solidFill>
                <a:latin typeface="微软雅黑"/>
                <a:ea typeface="微软雅黑"/>
                <a:cs typeface="微软雅黑"/>
              </a:rPr>
              <a:t>主要应用在技术方案拆解、基于核心指标的业务分析、市场分析等场景中，通过中心发散方式平衡</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逻辑严谨性</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与</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视觉感染力</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，降低复杂信息的认知门槛，深化场景适配性</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0042FF"/>
                </a:solidFill>
                <a:latin typeface="微软雅黑"/>
                <a:ea typeface="微软雅黑"/>
                <a:cs typeface="微软雅黑"/>
              </a:rPr>
              <a:t>核心关键词：</a:t>
            </a:r>
            <a:r>
              <a:rPr lang="zh-CN" altLang="en-US" sz="1400">
                <a:solidFill>
                  <a:srgbClr val="383838"/>
                </a:solidFill>
                <a:latin typeface="微软雅黑"/>
                <a:ea typeface="微软雅黑"/>
                <a:cs typeface="微软雅黑"/>
              </a:rPr>
              <a:t>「聚焦核心、逻辑清晰、层次分明</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a:t>
            </a:r>
            <a:endParaRPr lang="zh-CN" altLang="en-US" sz="1400">
              <a:solidFill>
                <a:srgbClr val="383838"/>
              </a:solidFill>
              <a:latin typeface="微软雅黑"/>
              <a:ea typeface="微软雅黑"/>
              <a:cs typeface="微软雅黑"/>
            </a:endParaRPr>
          </a:p>
        </p:txBody>
      </p:sp>
      <p:grpSp>
        <p:nvGrpSpPr>
          <p:cNvPr id="158" name="组合 157"/>
          <p:cNvGrpSpPr/>
          <p:nvPr>
            <p:custDataLst>
              <p:tags r:id="rId2"/>
            </p:custDataLst>
          </p:nvPr>
        </p:nvGrpSpPr>
        <p:grpSpPr>
          <a:xfrm>
            <a:off x="983615" y="3743325"/>
            <a:ext cx="3157220" cy="1411605"/>
            <a:chOff x="1978" y="9485"/>
            <a:chExt cx="4539" cy="2029"/>
          </a:xfrm>
        </p:grpSpPr>
        <p:sp>
          <p:nvSpPr>
            <p:cNvPr id="4" name="Shape"/>
            <p:cNvSpPr/>
            <p:nvPr>
              <p:custDataLst>
                <p:tags r:id="rId3"/>
              </p:custDataLst>
            </p:nvPr>
          </p:nvSpPr>
          <p:spPr>
            <a:xfrm>
              <a:off x="3454" y="10131"/>
              <a:ext cx="699" cy="737"/>
            </a:xfrm>
            <a:custGeom>
              <a:avLst/>
              <a:gdLst/>
              <a:ahLst/>
              <a:cxnLst>
                <a:cxn ang="0">
                  <a:pos x="wd2" y="hd2"/>
                </a:cxn>
                <a:cxn ang="5400000">
                  <a:pos x="wd2" y="hd2"/>
                </a:cxn>
                <a:cxn ang="10800000">
                  <a:pos x="wd2" y="hd2"/>
                </a:cxn>
                <a:cxn ang="16200000">
                  <a:pos x="wd2" y="hd2"/>
                </a:cxn>
              </a:cxnLst>
              <a:rect l="0" t="0" r="r" b="b"/>
              <a:pathLst>
                <a:path w="21600" h="21600" extrusionOk="0">
                  <a:moveTo>
                    <a:pt x="11375" y="0"/>
                  </a:moveTo>
                  <a:cubicBezTo>
                    <a:pt x="8463" y="0"/>
                    <a:pt x="5552" y="1056"/>
                    <a:pt x="3331" y="3165"/>
                  </a:cubicBezTo>
                  <a:cubicBezTo>
                    <a:pt x="1110" y="5274"/>
                    <a:pt x="0" y="8038"/>
                    <a:pt x="0" y="10801"/>
                  </a:cubicBezTo>
                  <a:cubicBezTo>
                    <a:pt x="0" y="13565"/>
                    <a:pt x="1110" y="16329"/>
                    <a:pt x="3331" y="18438"/>
                  </a:cubicBezTo>
                  <a:cubicBezTo>
                    <a:pt x="5552" y="20546"/>
                    <a:pt x="8463" y="21600"/>
                    <a:pt x="11375" y="21600"/>
                  </a:cubicBezTo>
                  <a:cubicBezTo>
                    <a:pt x="14286" y="21600"/>
                    <a:pt x="17197" y="20546"/>
                    <a:pt x="19418" y="18438"/>
                  </a:cubicBezTo>
                  <a:cubicBezTo>
                    <a:pt x="20341" y="17562"/>
                    <a:pt x="21061" y="16569"/>
                    <a:pt x="21600" y="15513"/>
                  </a:cubicBezTo>
                  <a:cubicBezTo>
                    <a:pt x="21198" y="15286"/>
                    <a:pt x="20815" y="15014"/>
                    <a:pt x="20469" y="14686"/>
                  </a:cubicBezTo>
                  <a:cubicBezTo>
                    <a:pt x="18210" y="12541"/>
                    <a:pt x="18210" y="9061"/>
                    <a:pt x="20469" y="6917"/>
                  </a:cubicBezTo>
                  <a:cubicBezTo>
                    <a:pt x="20815" y="6588"/>
                    <a:pt x="21198" y="6317"/>
                    <a:pt x="21600" y="6089"/>
                  </a:cubicBezTo>
                  <a:cubicBezTo>
                    <a:pt x="21061" y="5034"/>
                    <a:pt x="20341" y="4041"/>
                    <a:pt x="19418" y="3165"/>
                  </a:cubicBezTo>
                  <a:cubicBezTo>
                    <a:pt x="17197" y="1056"/>
                    <a:pt x="14286" y="0"/>
                    <a:pt x="11375" y="0"/>
                  </a:cubicBezTo>
                  <a:close/>
                </a:path>
              </a:pathLst>
            </a:custGeom>
            <a:solidFill>
              <a:srgbClr val="3368FF"/>
            </a:solidFill>
            <a:ln w="12700">
              <a:miter lim="400000"/>
            </a:ln>
          </p:spPr>
          <p:txBody>
            <a:bodyPr lIns="0" tIns="0" rIns="0" bIns="0" anchor="ctr"/>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0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5" name="Shape"/>
            <p:cNvSpPr/>
            <p:nvPr>
              <p:custDataLst>
                <p:tags r:id="rId4"/>
              </p:custDataLst>
            </p:nvPr>
          </p:nvSpPr>
          <p:spPr>
            <a:xfrm>
              <a:off x="4345" y="10131"/>
              <a:ext cx="700" cy="737"/>
            </a:xfrm>
            <a:custGeom>
              <a:avLst/>
              <a:gdLst/>
              <a:ahLst/>
              <a:cxnLst>
                <a:cxn ang="0">
                  <a:pos x="wd2" y="hd2"/>
                </a:cxn>
                <a:cxn ang="5400000">
                  <a:pos x="wd2" y="hd2"/>
                </a:cxn>
                <a:cxn ang="10800000">
                  <a:pos x="wd2" y="hd2"/>
                </a:cxn>
                <a:cxn ang="16200000">
                  <a:pos x="wd2" y="hd2"/>
                </a:cxn>
              </a:cxnLst>
              <a:rect l="0" t="0" r="r" b="b"/>
              <a:pathLst>
                <a:path w="21600" h="21600" extrusionOk="0">
                  <a:moveTo>
                    <a:pt x="10224" y="0"/>
                  </a:moveTo>
                  <a:cubicBezTo>
                    <a:pt x="7313" y="0"/>
                    <a:pt x="4403" y="1056"/>
                    <a:pt x="2182" y="3165"/>
                  </a:cubicBezTo>
                  <a:cubicBezTo>
                    <a:pt x="1259" y="4041"/>
                    <a:pt x="539" y="5034"/>
                    <a:pt x="0" y="6089"/>
                  </a:cubicBezTo>
                  <a:cubicBezTo>
                    <a:pt x="402" y="6317"/>
                    <a:pt x="784" y="6588"/>
                    <a:pt x="1130" y="6917"/>
                  </a:cubicBezTo>
                  <a:cubicBezTo>
                    <a:pt x="3389" y="9061"/>
                    <a:pt x="3389" y="12541"/>
                    <a:pt x="1130" y="14686"/>
                  </a:cubicBezTo>
                  <a:cubicBezTo>
                    <a:pt x="784" y="15014"/>
                    <a:pt x="402" y="15286"/>
                    <a:pt x="0" y="15513"/>
                  </a:cubicBezTo>
                  <a:cubicBezTo>
                    <a:pt x="539" y="16569"/>
                    <a:pt x="1259" y="17562"/>
                    <a:pt x="2182" y="18438"/>
                  </a:cubicBezTo>
                  <a:cubicBezTo>
                    <a:pt x="4403" y="20546"/>
                    <a:pt x="7313" y="21600"/>
                    <a:pt x="10224" y="21600"/>
                  </a:cubicBezTo>
                  <a:cubicBezTo>
                    <a:pt x="13135" y="21600"/>
                    <a:pt x="16046" y="20546"/>
                    <a:pt x="18267" y="18438"/>
                  </a:cubicBezTo>
                  <a:cubicBezTo>
                    <a:pt x="20488" y="16329"/>
                    <a:pt x="21600" y="13565"/>
                    <a:pt x="21600" y="10801"/>
                  </a:cubicBezTo>
                  <a:cubicBezTo>
                    <a:pt x="21600" y="8038"/>
                    <a:pt x="20488" y="5274"/>
                    <a:pt x="18267" y="3165"/>
                  </a:cubicBezTo>
                  <a:cubicBezTo>
                    <a:pt x="16046" y="1056"/>
                    <a:pt x="13135" y="0"/>
                    <a:pt x="10224" y="0"/>
                  </a:cubicBezTo>
                  <a:close/>
                </a:path>
              </a:pathLst>
            </a:custGeom>
            <a:solidFill>
              <a:srgbClr val="3368FF"/>
            </a:solidFill>
            <a:ln w="12700">
              <a:miter lim="400000"/>
            </a:ln>
          </p:spPr>
          <p:txBody>
            <a:bodyPr lIns="0" tIns="0" rIns="0" bIns="0" anchor="ctr">
              <a:noAutofit/>
            </a:bodyPr>
            <a:p>
              <a:pPr lvl="0" algn="ctr">
                <a:spcBef>
                  <a:spcPts val="0"/>
                </a:spcBef>
                <a:spcAft>
                  <a:spcPts val="0"/>
                </a:spcAft>
                <a:buClrTx/>
                <a:buSzTx/>
                <a:buFontTx/>
                <a:defRPr>
                  <a:solidFill>
                    <a:srgbClr val="FFFFFF"/>
                  </a:solidFill>
                  <a:latin typeface="微软雅黑"/>
                  <a:ea typeface="微软雅黑"/>
                  <a:cs typeface="微软雅黑"/>
                </a:defRPr>
              </a:pPr>
              <a:endParaRPr sz="1000" noProof="0">
                <a:ln>
                  <a:noFill/>
                </a:ln>
                <a:solidFill>
                  <a:srgbClr val="FFFFFF"/>
                </a:solidFill>
                <a:effectLst/>
                <a:uLnTx/>
                <a:uFillTx/>
                <a:latin typeface="微软雅黑"/>
                <a:ea typeface="微软雅黑"/>
                <a:cs typeface="微软雅黑"/>
                <a:sym typeface="微软雅黑"/>
              </a:endParaRPr>
            </a:p>
          </p:txBody>
        </p:sp>
        <p:sp>
          <p:nvSpPr>
            <p:cNvPr id="7" name="Circle"/>
            <p:cNvSpPr/>
            <p:nvPr>
              <p:custDataLst>
                <p:tags r:id="rId5"/>
              </p:custDataLst>
            </p:nvPr>
          </p:nvSpPr>
          <p:spPr>
            <a:xfrm>
              <a:off x="4093" y="10343"/>
              <a:ext cx="312" cy="312"/>
            </a:xfrm>
            <a:prstGeom prst="ellipse">
              <a:avLst/>
            </a:prstGeom>
            <a:solidFill>
              <a:srgbClr val="3368FF"/>
            </a:solidFill>
            <a:ln w="12700" cap="flat">
              <a:noFill/>
              <a:miter lim="400000"/>
            </a:ln>
            <a:effectLst/>
          </p:spPr>
          <p:txBody>
            <a:bodyPr wrap="square" lIns="0" tIns="0" rIns="0" bIns="0" numCol="1" anchor="ctr">
              <a:noAutofit/>
            </a:bodyPr>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8" name="Circle"/>
            <p:cNvSpPr/>
            <p:nvPr>
              <p:custDataLst>
                <p:tags r:id="rId6"/>
              </p:custDataLst>
            </p:nvPr>
          </p:nvSpPr>
          <p:spPr>
            <a:xfrm>
              <a:off x="6037" y="9485"/>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11" name="Circle"/>
            <p:cNvSpPr/>
            <p:nvPr>
              <p:custDataLst>
                <p:tags r:id="rId7"/>
              </p:custDataLst>
            </p:nvPr>
          </p:nvSpPr>
          <p:spPr>
            <a:xfrm>
              <a:off x="6037" y="10002"/>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13" name="Circle"/>
            <p:cNvSpPr/>
            <p:nvPr>
              <p:custDataLst>
                <p:tags r:id="rId8"/>
              </p:custDataLst>
            </p:nvPr>
          </p:nvSpPr>
          <p:spPr>
            <a:xfrm>
              <a:off x="6037" y="10518"/>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14" name="Circle"/>
            <p:cNvSpPr/>
            <p:nvPr>
              <p:custDataLst>
                <p:tags r:id="rId9"/>
              </p:custDataLst>
            </p:nvPr>
          </p:nvSpPr>
          <p:spPr>
            <a:xfrm>
              <a:off x="6037" y="11034"/>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16" name="Circle"/>
            <p:cNvSpPr/>
            <p:nvPr>
              <p:custDataLst>
                <p:tags r:id="rId10"/>
              </p:custDataLst>
            </p:nvPr>
          </p:nvSpPr>
          <p:spPr>
            <a:xfrm>
              <a:off x="1978" y="9485"/>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17" name="Circle"/>
            <p:cNvSpPr/>
            <p:nvPr>
              <p:custDataLst>
                <p:tags r:id="rId11"/>
              </p:custDataLst>
            </p:nvPr>
          </p:nvSpPr>
          <p:spPr>
            <a:xfrm>
              <a:off x="1978" y="10002"/>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18" name="Circle"/>
            <p:cNvSpPr/>
            <p:nvPr>
              <p:custDataLst>
                <p:tags r:id="rId12"/>
              </p:custDataLst>
            </p:nvPr>
          </p:nvSpPr>
          <p:spPr>
            <a:xfrm>
              <a:off x="1978" y="10518"/>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19" name="Circle"/>
            <p:cNvSpPr/>
            <p:nvPr>
              <p:custDataLst>
                <p:tags r:id="rId13"/>
              </p:custDataLst>
            </p:nvPr>
          </p:nvSpPr>
          <p:spPr>
            <a:xfrm>
              <a:off x="1978" y="11034"/>
              <a:ext cx="480" cy="480"/>
            </a:xfrm>
            <a:prstGeom prst="ellipse">
              <a:avLst/>
            </a:prstGeom>
            <a:solidFill>
              <a:srgbClr val="668EFF"/>
            </a:solidFill>
            <a:ln w="12700" cap="flat">
              <a:noFill/>
              <a:miter lim="400000"/>
            </a:ln>
            <a:effectLst/>
          </p:spPr>
          <p:txBody>
            <a:bodyPr wrap="square" lIns="0" tIns="0" rIns="0" bIns="0" numCol="1" anchor="ctr">
              <a:noAutofit/>
            </a:bodyPr>
            <a:p>
              <a:pPr lvl="0" algn="ctr">
                <a:spcBef>
                  <a:spcPts val="0"/>
                </a:spcBef>
                <a:spcAft>
                  <a:spcPts val="0"/>
                </a:spcAft>
                <a:buClrTx/>
                <a:buSzTx/>
                <a:buFontTx/>
                <a:defRPr>
                  <a:solidFill>
                    <a:srgbClr val="383838"/>
                  </a:solidFill>
                  <a:latin typeface="微软雅黑"/>
                  <a:ea typeface="微软雅黑"/>
                  <a:cs typeface="微软雅黑"/>
                </a:defRPr>
              </a:pPr>
              <a:endParaRPr sz="1000" noProof="0">
                <a:ln>
                  <a:noFill/>
                </a:ln>
                <a:solidFill>
                  <a:srgbClr val="383838"/>
                </a:solidFill>
                <a:effectLst/>
                <a:uLnTx/>
                <a:uFillTx/>
                <a:latin typeface="微软雅黑"/>
                <a:ea typeface="微软雅黑"/>
                <a:cs typeface="微软雅黑"/>
                <a:sym typeface="微软雅黑"/>
              </a:endParaRPr>
            </a:p>
          </p:txBody>
        </p:sp>
        <p:sp>
          <p:nvSpPr>
            <p:cNvPr id="20" name="Line"/>
            <p:cNvSpPr/>
            <p:nvPr>
              <p:custDataLst>
                <p:tags r:id="rId14"/>
              </p:custDataLst>
            </p:nvPr>
          </p:nvSpPr>
          <p:spPr>
            <a:xfrm flipH="1" flipV="1">
              <a:off x="2479" y="9810"/>
              <a:ext cx="971" cy="383"/>
            </a:xfrm>
            <a:prstGeom prst="line">
              <a:avLst/>
            </a:prstGeom>
            <a:ln w="38100">
              <a:solidFill>
                <a:srgbClr val="3368FF"/>
              </a:solidFill>
              <a:custDash>
                <a:ds d="200000" sp="200000"/>
              </a:custDash>
              <a:miter lim="400000"/>
              <a:tailEnd type="triangle"/>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1" name="Line"/>
            <p:cNvSpPr/>
            <p:nvPr>
              <p:custDataLst>
                <p:tags r:id="rId15"/>
              </p:custDataLst>
            </p:nvPr>
          </p:nvSpPr>
          <p:spPr>
            <a:xfrm flipH="1" flipV="1">
              <a:off x="2491" y="10286"/>
              <a:ext cx="858" cy="107"/>
            </a:xfrm>
            <a:prstGeom prst="line">
              <a:avLst/>
            </a:prstGeom>
            <a:ln w="38100">
              <a:solidFill>
                <a:srgbClr val="3368FF"/>
              </a:solidFill>
              <a:custDash>
                <a:ds d="200000" sp="200000"/>
              </a:custDash>
              <a:miter lim="400000"/>
              <a:tailEnd type="triangle"/>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2" name="Line"/>
            <p:cNvSpPr/>
            <p:nvPr>
              <p:custDataLst>
                <p:tags r:id="rId16"/>
              </p:custDataLst>
            </p:nvPr>
          </p:nvSpPr>
          <p:spPr>
            <a:xfrm flipH="1">
              <a:off x="2488" y="10621"/>
              <a:ext cx="865" cy="106"/>
            </a:xfrm>
            <a:prstGeom prst="line">
              <a:avLst/>
            </a:prstGeom>
            <a:ln w="38100">
              <a:solidFill>
                <a:srgbClr val="3368FF"/>
              </a:solidFill>
              <a:custDash>
                <a:ds d="200000" sp="200000"/>
              </a:custDash>
              <a:miter lim="400000"/>
              <a:tailEnd type="triangle"/>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3" name="Line"/>
            <p:cNvSpPr/>
            <p:nvPr>
              <p:custDataLst>
                <p:tags r:id="rId17"/>
              </p:custDataLst>
            </p:nvPr>
          </p:nvSpPr>
          <p:spPr>
            <a:xfrm flipH="1">
              <a:off x="2478" y="10805"/>
              <a:ext cx="977" cy="370"/>
            </a:xfrm>
            <a:prstGeom prst="line">
              <a:avLst/>
            </a:prstGeom>
            <a:ln w="38100">
              <a:solidFill>
                <a:srgbClr val="3368FF"/>
              </a:solidFill>
              <a:custDash>
                <a:ds d="200000" sp="200000"/>
              </a:custDash>
              <a:miter lim="400000"/>
              <a:tailEnd type="triangle"/>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4" name="Line"/>
            <p:cNvSpPr/>
            <p:nvPr>
              <p:custDataLst>
                <p:tags r:id="rId18"/>
              </p:custDataLst>
            </p:nvPr>
          </p:nvSpPr>
          <p:spPr>
            <a:xfrm>
              <a:off x="5029" y="10802"/>
              <a:ext cx="986" cy="376"/>
            </a:xfrm>
            <a:prstGeom prst="line">
              <a:avLst/>
            </a:prstGeom>
            <a:ln w="38100">
              <a:solidFill>
                <a:srgbClr val="3368FF"/>
              </a:solidFill>
              <a:custDash>
                <a:ds d="200000" sp="200000"/>
              </a:custDash>
              <a:miter lim="400000"/>
              <a:tailEnd type="triangle"/>
            </a:ln>
          </p:spPr>
          <p:txBody>
            <a:bodyPr lIns="0" tIns="0" rIns="0" bIns="0">
              <a:noAutofit/>
            </a:bodyPr>
            <a:p>
              <a:pPr lvl="0" algn="ctr">
                <a:spcBef>
                  <a:spcPts val="0"/>
                </a:spcBef>
                <a:spcAft>
                  <a:spcPts val="0"/>
                </a:spcAft>
                <a:buClrTx/>
                <a:buSzTx/>
                <a:buFontTx/>
                <a:defRPr>
                  <a:latin typeface="微软雅黑"/>
                  <a:ea typeface="微软雅黑"/>
                  <a:cs typeface="微软雅黑"/>
                </a:defRPr>
              </a:pPr>
              <a:endParaRPr sz="1000" noProof="0">
                <a:ln>
                  <a:noFill/>
                </a:ln>
                <a:solidFill>
                  <a:prstClr val="black"/>
                </a:solidFill>
                <a:effectLst/>
                <a:uLnTx/>
                <a:uFillTx/>
                <a:latin typeface="微软雅黑"/>
                <a:cs typeface="微软雅黑"/>
                <a:sym typeface="微软雅黑"/>
                <a:ea typeface="微软雅黑"/>
              </a:endParaRPr>
            </a:p>
          </p:txBody>
        </p:sp>
        <p:sp>
          <p:nvSpPr>
            <p:cNvPr id="25" name="Line"/>
            <p:cNvSpPr/>
            <p:nvPr>
              <p:custDataLst>
                <p:tags r:id="rId19"/>
              </p:custDataLst>
            </p:nvPr>
          </p:nvSpPr>
          <p:spPr>
            <a:xfrm>
              <a:off x="5127" y="10611"/>
              <a:ext cx="875" cy="111"/>
            </a:xfrm>
            <a:prstGeom prst="line">
              <a:avLst/>
            </a:prstGeom>
            <a:ln w="38100">
              <a:solidFill>
                <a:srgbClr val="3368FF"/>
              </a:solidFill>
              <a:custDash>
                <a:ds d="200000" sp="200000"/>
              </a:custDash>
              <a:miter lim="400000"/>
              <a:tailEnd type="triangle"/>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6" name="Line"/>
            <p:cNvSpPr/>
            <p:nvPr>
              <p:custDataLst>
                <p:tags r:id="rId20"/>
              </p:custDataLst>
            </p:nvPr>
          </p:nvSpPr>
          <p:spPr>
            <a:xfrm flipV="1">
              <a:off x="5128" y="10281"/>
              <a:ext cx="877" cy="114"/>
            </a:xfrm>
            <a:prstGeom prst="line">
              <a:avLst/>
            </a:prstGeom>
            <a:ln w="38100">
              <a:solidFill>
                <a:srgbClr val="3368FF"/>
              </a:solidFill>
              <a:custDash>
                <a:ds d="200000" sp="200000"/>
              </a:custDash>
              <a:miter lim="400000"/>
              <a:tailEnd type="triangle"/>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7" name="Line"/>
            <p:cNvSpPr/>
            <p:nvPr>
              <p:custDataLst>
                <p:tags r:id="rId21"/>
              </p:custDataLst>
            </p:nvPr>
          </p:nvSpPr>
          <p:spPr>
            <a:xfrm flipV="1">
              <a:off x="5030" y="9821"/>
              <a:ext cx="984" cy="378"/>
            </a:xfrm>
            <a:prstGeom prst="line">
              <a:avLst/>
            </a:prstGeom>
            <a:ln w="38100">
              <a:solidFill>
                <a:srgbClr val="3368FF"/>
              </a:solidFill>
              <a:custDash>
                <a:ds d="200000" sp="200000"/>
              </a:custDash>
              <a:miter lim="400000"/>
              <a:tailEnd type="triangle"/>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8" name="Line"/>
            <p:cNvSpPr/>
            <p:nvPr>
              <p:custDataLst>
                <p:tags r:id="rId22"/>
              </p:custDataLst>
            </p:nvPr>
          </p:nvSpPr>
          <p:spPr>
            <a:xfrm>
              <a:off x="3337" y="10034"/>
              <a:ext cx="467" cy="932"/>
            </a:xfrm>
            <a:custGeom>
              <a:avLst/>
              <a:gdLst/>
              <a:ahLst/>
              <a:cxnLst>
                <a:cxn ang="0">
                  <a:pos x="wd2" y="hd2"/>
                </a:cxn>
                <a:cxn ang="5400000">
                  <a:pos x="wd2" y="hd2"/>
                </a:cxn>
                <a:cxn ang="10800000">
                  <a:pos x="wd2" y="hd2"/>
                </a:cxn>
                <a:cxn ang="16200000">
                  <a:pos x="wd2" y="hd2"/>
                </a:cxn>
              </a:cxnLst>
              <a:rect l="0" t="0" r="r" b="b"/>
              <a:pathLst>
                <a:path w="21592" h="21592" extrusionOk="0">
                  <a:moveTo>
                    <a:pt x="21483" y="0"/>
                  </a:moveTo>
                  <a:cubicBezTo>
                    <a:pt x="9601" y="20"/>
                    <a:pt x="-8" y="4851"/>
                    <a:pt x="0" y="10801"/>
                  </a:cubicBezTo>
                  <a:cubicBezTo>
                    <a:pt x="9" y="16768"/>
                    <a:pt x="9678" y="21600"/>
                    <a:pt x="21592" y="21592"/>
                  </a:cubicBezTo>
                </a:path>
              </a:pathLst>
            </a:custGeom>
            <a:ln w="38100">
              <a:solidFill>
                <a:srgbClr val="3368FF"/>
              </a:solidFill>
            </a:ln>
          </p:spPr>
          <p:txBody>
            <a:bodyPr lIns="0" tIns="0" rIns="0" bIns="0"/>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0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9" name="Line"/>
            <p:cNvSpPr/>
            <p:nvPr>
              <p:custDataLst>
                <p:tags r:id="rId23"/>
              </p:custDataLst>
            </p:nvPr>
          </p:nvSpPr>
          <p:spPr>
            <a:xfrm>
              <a:off x="4694" y="10033"/>
              <a:ext cx="448" cy="933"/>
            </a:xfrm>
            <a:custGeom>
              <a:avLst/>
              <a:gdLst/>
              <a:ahLst/>
              <a:cxnLst>
                <a:cxn ang="0">
                  <a:pos x="wd2" y="hd2"/>
                </a:cxn>
                <a:cxn ang="5400000">
                  <a:pos x="wd2" y="hd2"/>
                </a:cxn>
                <a:cxn ang="10800000">
                  <a:pos x="wd2" y="hd2"/>
                </a:cxn>
                <a:cxn ang="16200000">
                  <a:pos x="wd2" y="hd2"/>
                </a:cxn>
              </a:cxnLst>
              <a:rect l="0" t="0" r="r" b="b"/>
              <a:pathLst>
                <a:path w="20753" h="21600" extrusionOk="0">
                  <a:moveTo>
                    <a:pt x="0" y="0"/>
                  </a:moveTo>
                  <a:cubicBezTo>
                    <a:pt x="12246" y="292"/>
                    <a:pt x="21600" y="5577"/>
                    <a:pt x="20692" y="11690"/>
                  </a:cubicBezTo>
                  <a:cubicBezTo>
                    <a:pt x="19881" y="17155"/>
                    <a:pt x="10952" y="21431"/>
                    <a:pt x="0" y="21600"/>
                  </a:cubicBezTo>
                </a:path>
              </a:pathLst>
            </a:custGeom>
            <a:ln w="38100">
              <a:solidFill>
                <a:srgbClr val="3368FF"/>
              </a:solidFill>
            </a:ln>
          </p:spPr>
          <p:txBody>
            <a:bodyPr lIns="0" tIns="0" rIns="0" bIns="0">
              <a:noAutofit/>
            </a:bodyPr>
            <a:p>
              <a:pPr lvl="0" algn="ctr">
                <a:spcBef>
                  <a:spcPts val="0"/>
                </a:spcBef>
                <a:spcAft>
                  <a:spcPts val="0"/>
                </a:spcAft>
                <a:buClrTx/>
                <a:buSzTx/>
                <a:buFontTx/>
                <a:defRPr>
                  <a:solidFill>
                    <a:srgbClr val="FFFFFF"/>
                  </a:solidFill>
                  <a:latin typeface="微软雅黑"/>
                  <a:ea typeface="微软雅黑"/>
                  <a:cs typeface="微软雅黑"/>
                </a:defRPr>
              </a:pPr>
              <a:endParaRPr sz="1000" noProof="0">
                <a:ln>
                  <a:noFill/>
                </a:ln>
                <a:solidFill>
                  <a:srgbClr val="FFFFFF"/>
                </a:solidFill>
                <a:effectLst/>
                <a:uLnTx/>
                <a:uFillTx/>
                <a:latin typeface="微软雅黑"/>
                <a:ea typeface="微软雅黑"/>
                <a:cs typeface="微软雅黑"/>
                <a:sym typeface="微软雅黑"/>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猫爪PPT-26"/>
          <p:cNvSpPr>
            <a:spLocks noChangeAspect="1"/>
          </p:cNvSpPr>
          <p:nvPr/>
        </p:nvSpPr>
        <p:spPr>
          <a:xfrm>
            <a:off x="1300480" y="1089660"/>
            <a:ext cx="9719310" cy="4949190"/>
          </a:xfrm>
          <a:custGeom>
            <a:avLst/>
            <a:gdLst>
              <a:gd name="connsiteX0" fmla="*/ 4836448 w 9672896"/>
              <a:gd name="connsiteY0" fmla="*/ 0 h 4857654"/>
              <a:gd name="connsiteX1" fmla="*/ 9672896 w 9672896"/>
              <a:gd name="connsiteY1" fmla="*/ 4836448 h 4857654"/>
              <a:gd name="connsiteX2" fmla="*/ 9672360 w 9672896"/>
              <a:gd name="connsiteY2" fmla="*/ 4857654 h 4857654"/>
              <a:gd name="connsiteX3" fmla="*/ 536 w 9672896"/>
              <a:gd name="connsiteY3" fmla="*/ 4857654 h 4857654"/>
              <a:gd name="connsiteX4" fmla="*/ 0 w 9672896"/>
              <a:gd name="connsiteY4" fmla="*/ 4836448 h 4857654"/>
              <a:gd name="connsiteX5" fmla="*/ 4836448 w 9672896"/>
              <a:gd name="connsiteY5" fmla="*/ 0 h 4857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2896" h="4857654">
                <a:moveTo>
                  <a:pt x="4836448" y="0"/>
                </a:moveTo>
                <a:cubicBezTo>
                  <a:pt x="7507544" y="0"/>
                  <a:pt x="9672896" y="2165352"/>
                  <a:pt x="9672896" y="4836448"/>
                </a:cubicBezTo>
                <a:lnTo>
                  <a:pt x="9672360" y="4857654"/>
                </a:lnTo>
                <a:lnTo>
                  <a:pt x="536" y="4857654"/>
                </a:lnTo>
                <a:lnTo>
                  <a:pt x="0" y="4836448"/>
                </a:lnTo>
                <a:cubicBezTo>
                  <a:pt x="0" y="2165352"/>
                  <a:pt x="2165352" y="0"/>
                  <a:pt x="4836448" y="0"/>
                </a:cubicBezTo>
                <a:close/>
              </a:path>
            </a:pathLst>
          </a:custGeom>
          <a:solidFill>
            <a:srgbClr val="E6E6E6">
              <a:alpha val="50000"/>
            </a:srgbClr>
          </a:solidFill>
          <a:ln>
            <a:solidFill>
              <a:srgbClr val="668E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326" name="猫爪PPT-27-1"/>
          <p:cNvSpPr/>
          <p:nvPr/>
        </p:nvSpPr>
        <p:spPr bwMode="auto">
          <a:xfrm>
            <a:off x="2261235" y="1923415"/>
            <a:ext cx="7849235" cy="4001135"/>
          </a:xfrm>
          <a:custGeom>
            <a:avLst/>
            <a:gdLst>
              <a:gd name="connsiteX0" fmla="*/ 3939049 w 7878098"/>
              <a:gd name="connsiteY0" fmla="*/ 0 h 3960256"/>
              <a:gd name="connsiteX1" fmla="*/ 7878098 w 7878098"/>
              <a:gd name="connsiteY1" fmla="*/ 3939049 h 3960256"/>
              <a:gd name="connsiteX2" fmla="*/ 7877562 w 7878098"/>
              <a:gd name="connsiteY2" fmla="*/ 3960256 h 3960256"/>
              <a:gd name="connsiteX3" fmla="*/ 536 w 7878098"/>
              <a:gd name="connsiteY3" fmla="*/ 3960256 h 3960256"/>
              <a:gd name="connsiteX4" fmla="*/ 0 w 7878098"/>
              <a:gd name="connsiteY4" fmla="*/ 3939049 h 3960256"/>
              <a:gd name="connsiteX5" fmla="*/ 3939049 w 7878098"/>
              <a:gd name="connsiteY5" fmla="*/ 0 h 396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3" h="6063">
                <a:moveTo>
                  <a:pt x="5945" y="0"/>
                </a:moveTo>
                <a:cubicBezTo>
                  <a:pt x="9281" y="-104"/>
                  <a:pt x="11971" y="2994"/>
                  <a:pt x="11889" y="6028"/>
                </a:cubicBezTo>
                <a:lnTo>
                  <a:pt x="11888" y="6060"/>
                </a:lnTo>
                <a:lnTo>
                  <a:pt x="1" y="6060"/>
                </a:lnTo>
                <a:lnTo>
                  <a:pt x="0" y="6028"/>
                </a:lnTo>
                <a:cubicBezTo>
                  <a:pt x="-102" y="2644"/>
                  <a:pt x="2953" y="-83"/>
                  <a:pt x="5945" y="0"/>
                </a:cubicBezTo>
                <a:close/>
              </a:path>
            </a:pathLst>
          </a:custGeom>
          <a:solidFill>
            <a:srgbClr val="FFFFFF"/>
          </a:solidFill>
          <a:ln w="25400">
            <a:solidFill>
              <a:srgbClr val="E6E6E6"/>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200" noProof="0">
              <a:ln>
                <a:noFill/>
              </a:ln>
              <a:solidFill>
                <a:srgbClr val="FFFFFF"/>
              </a:solidFill>
              <a:effectLst/>
              <a:uLnTx/>
              <a:uFillTx/>
              <a:latin typeface="微软雅黑"/>
              <a:sym typeface="微软雅黑"/>
              <a:ea typeface="微软雅黑"/>
              <a:cs typeface="微软雅黑"/>
            </a:endParaRPr>
          </a:p>
        </p:txBody>
      </p:sp>
      <p:sp>
        <p:nvSpPr>
          <p:cNvPr id="77" name="猫爪PPT-27-1"/>
          <p:cNvSpPr/>
          <p:nvPr/>
        </p:nvSpPr>
        <p:spPr>
          <a:xfrm>
            <a:off x="2728913" y="2367598"/>
            <a:ext cx="6977380" cy="3556635"/>
          </a:xfrm>
          <a:custGeom>
            <a:avLst/>
            <a:gdLst>
              <a:gd name="connsiteX0" fmla="*/ 3939049 w 7878098"/>
              <a:gd name="connsiteY0" fmla="*/ 0 h 3960256"/>
              <a:gd name="connsiteX1" fmla="*/ 7878098 w 7878098"/>
              <a:gd name="connsiteY1" fmla="*/ 3939049 h 3960256"/>
              <a:gd name="connsiteX2" fmla="*/ 7877562 w 7878098"/>
              <a:gd name="connsiteY2" fmla="*/ 3960256 h 3960256"/>
              <a:gd name="connsiteX3" fmla="*/ 536 w 7878098"/>
              <a:gd name="connsiteY3" fmla="*/ 3960256 h 3960256"/>
              <a:gd name="connsiteX4" fmla="*/ 0 w 7878098"/>
              <a:gd name="connsiteY4" fmla="*/ 3939049 h 3960256"/>
              <a:gd name="connsiteX5" fmla="*/ 3939049 w 7878098"/>
              <a:gd name="connsiteY5" fmla="*/ 0 h 396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3" h="6063">
                <a:moveTo>
                  <a:pt x="5945" y="0"/>
                </a:moveTo>
                <a:cubicBezTo>
                  <a:pt x="9281" y="-104"/>
                  <a:pt x="11971" y="2994"/>
                  <a:pt x="11889" y="6028"/>
                </a:cubicBezTo>
                <a:lnTo>
                  <a:pt x="11888" y="6060"/>
                </a:lnTo>
                <a:lnTo>
                  <a:pt x="1" y="6060"/>
                </a:lnTo>
                <a:lnTo>
                  <a:pt x="0" y="6028"/>
                </a:lnTo>
                <a:cubicBezTo>
                  <a:pt x="-102" y="2644"/>
                  <a:pt x="2953" y="-83"/>
                  <a:pt x="5945" y="0"/>
                </a:cubicBezTo>
                <a:close/>
              </a:path>
            </a:pathLst>
          </a:cu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92" name="空心弧 91"/>
          <p:cNvSpPr/>
          <p:nvPr/>
        </p:nvSpPr>
        <p:spPr>
          <a:xfrm>
            <a:off x="2729230" y="2375535"/>
            <a:ext cx="6969760" cy="6932930"/>
          </a:xfrm>
          <a:prstGeom prst="blockArc">
            <a:avLst>
              <a:gd name="adj1" fmla="val 10756009"/>
              <a:gd name="adj2" fmla="val 12800037"/>
              <a:gd name="adj3" fmla="val 22717"/>
            </a:avLst>
          </a:prstGeom>
          <a:gradFill>
            <a:gsLst>
              <a:gs pos="100000">
                <a:srgbClr val="3368FF"/>
              </a:gs>
              <a:gs pos="0">
                <a:srgbClr val="0042FF"/>
              </a:gs>
            </a:gsLst>
            <a:lin ang="5400000" scaled="0"/>
          </a:gradFill>
          <a:ln w="254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94" name="空心弧 93"/>
          <p:cNvSpPr/>
          <p:nvPr/>
        </p:nvSpPr>
        <p:spPr>
          <a:xfrm>
            <a:off x="2739390" y="2375535"/>
            <a:ext cx="6969760" cy="6932930"/>
          </a:xfrm>
          <a:prstGeom prst="blockArc">
            <a:avLst>
              <a:gd name="adj1" fmla="val 14961354"/>
              <a:gd name="adj2" fmla="val 17300336"/>
              <a:gd name="adj3" fmla="val 22359"/>
            </a:avLst>
          </a:prstGeom>
          <a:gradFill>
            <a:gsLst>
              <a:gs pos="100000">
                <a:srgbClr val="B3D4FE"/>
              </a:gs>
              <a:gs pos="13000">
                <a:srgbClr val="3368FF"/>
              </a:gs>
            </a:gsLst>
            <a:lin ang="5400000" scaled="0"/>
          </a:gradFill>
          <a:ln w="254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96" name="空心弧 95"/>
          <p:cNvSpPr/>
          <p:nvPr/>
        </p:nvSpPr>
        <p:spPr>
          <a:xfrm>
            <a:off x="2729230" y="2375535"/>
            <a:ext cx="6969760" cy="6932930"/>
          </a:xfrm>
          <a:prstGeom prst="blockArc">
            <a:avLst>
              <a:gd name="adj1" fmla="val 17301104"/>
              <a:gd name="adj2" fmla="val 19602469"/>
              <a:gd name="adj3" fmla="val 21937"/>
            </a:avLst>
          </a:prstGeom>
          <a:gradFill>
            <a:gsLst>
              <a:gs pos="100000">
                <a:srgbClr val="3368FF"/>
              </a:gs>
              <a:gs pos="0">
                <a:srgbClr val="0042FF"/>
              </a:gs>
            </a:gsLst>
            <a:lin ang="5400000" scaled="0"/>
          </a:gradFill>
          <a:ln w="254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97" name="空心弧 96"/>
          <p:cNvSpPr/>
          <p:nvPr/>
        </p:nvSpPr>
        <p:spPr>
          <a:xfrm>
            <a:off x="2739390" y="2375535"/>
            <a:ext cx="6969760" cy="6932930"/>
          </a:xfrm>
          <a:prstGeom prst="blockArc">
            <a:avLst>
              <a:gd name="adj1" fmla="val 19574558"/>
              <a:gd name="adj2" fmla="val 18001"/>
              <a:gd name="adj3" fmla="val 22127"/>
            </a:avLst>
          </a:prstGeom>
          <a:gradFill>
            <a:gsLst>
              <a:gs pos="100000">
                <a:srgbClr val="3368FF"/>
              </a:gs>
              <a:gs pos="0">
                <a:srgbClr val="0042FF"/>
              </a:gs>
            </a:gsLst>
            <a:lin ang="5400000" scaled="0"/>
          </a:gradFill>
          <a:ln w="254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9" name="猫爪PPT-27-3"/>
          <p:cNvSpPr/>
          <p:nvPr/>
        </p:nvSpPr>
        <p:spPr>
          <a:xfrm>
            <a:off x="4232275" y="3893820"/>
            <a:ext cx="3965575" cy="2030730"/>
          </a:xfrm>
          <a:custGeom>
            <a:avLst/>
            <a:gdLst>
              <a:gd name="connsiteX0" fmla="*/ 2068924 w 4137848"/>
              <a:gd name="connsiteY0" fmla="*/ 0 h 2090131"/>
              <a:gd name="connsiteX1" fmla="*/ 4137848 w 4137848"/>
              <a:gd name="connsiteY1" fmla="*/ 2068924 h 2090131"/>
              <a:gd name="connsiteX2" fmla="*/ 4136777 w 4137848"/>
              <a:gd name="connsiteY2" fmla="*/ 2090131 h 2090131"/>
              <a:gd name="connsiteX3" fmla="*/ 1071 w 4137848"/>
              <a:gd name="connsiteY3" fmla="*/ 2090131 h 2090131"/>
              <a:gd name="connsiteX4" fmla="*/ 0 w 4137848"/>
              <a:gd name="connsiteY4" fmla="*/ 2068924 h 2090131"/>
              <a:gd name="connsiteX5" fmla="*/ 2068924 w 4137848"/>
              <a:gd name="connsiteY5" fmla="*/ 0 h 20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7848" h="2090131">
                <a:moveTo>
                  <a:pt x="2068924" y="0"/>
                </a:moveTo>
                <a:cubicBezTo>
                  <a:pt x="3211559" y="0"/>
                  <a:pt x="4137848" y="926289"/>
                  <a:pt x="4137848" y="2068924"/>
                </a:cubicBezTo>
                <a:lnTo>
                  <a:pt x="4136777" y="2090131"/>
                </a:lnTo>
                <a:lnTo>
                  <a:pt x="1071" y="2090131"/>
                </a:lnTo>
                <a:lnTo>
                  <a:pt x="0" y="2068924"/>
                </a:lnTo>
                <a:cubicBezTo>
                  <a:pt x="0" y="926289"/>
                  <a:pt x="926289" y="0"/>
                  <a:pt x="2068924" y="0"/>
                </a:cubicBezTo>
                <a:close/>
              </a:path>
            </a:pathLst>
          </a:custGeom>
          <a:solidFill>
            <a:srgbClr val="B3D4FE"/>
          </a:soli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cs typeface="微软雅黑"/>
              <a:ea typeface="微软雅黑"/>
            </a:endParaRPr>
          </a:p>
        </p:txBody>
      </p:sp>
      <p:sp>
        <p:nvSpPr>
          <p:cNvPr id="40" name="任意多边形 39"/>
          <p:cNvSpPr/>
          <p:nvPr/>
        </p:nvSpPr>
        <p:spPr>
          <a:xfrm>
            <a:off x="513080" y="5834380"/>
            <a:ext cx="11403965" cy="990600"/>
          </a:xfrm>
          <a:custGeom>
            <a:avLst/>
            <a:gdLst>
              <a:gd name="adj" fmla="val 1666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7959" h="1560">
                <a:moveTo>
                  <a:pt x="0" y="299"/>
                </a:moveTo>
                <a:cubicBezTo>
                  <a:pt x="-5" y="131"/>
                  <a:pt x="149" y="-4"/>
                  <a:pt x="299" y="0"/>
                </a:cubicBezTo>
                <a:lnTo>
                  <a:pt x="17660" y="0"/>
                </a:lnTo>
                <a:cubicBezTo>
                  <a:pt x="17828" y="-5"/>
                  <a:pt x="17963" y="149"/>
                  <a:pt x="17959" y="299"/>
                </a:cubicBezTo>
                <a:lnTo>
                  <a:pt x="17959" y="1497"/>
                </a:lnTo>
                <a:cubicBezTo>
                  <a:pt x="17960" y="1518"/>
                  <a:pt x="17953" y="1561"/>
                  <a:pt x="17952" y="1560"/>
                </a:cubicBezTo>
                <a:lnTo>
                  <a:pt x="7" y="1560"/>
                </a:lnTo>
                <a:cubicBezTo>
                  <a:pt x="4" y="1551"/>
                  <a:pt x="-1" y="1504"/>
                  <a:pt x="0" y="1497"/>
                </a:cubicBezTo>
                <a:lnTo>
                  <a:pt x="0" y="299"/>
                </a:lnTo>
                <a:close/>
              </a:path>
            </a:pathLst>
          </a:custGeom>
          <a:gradFill flip="none" rotWithShape="1">
            <a:gsLst>
              <a:gs pos="100000">
                <a:srgbClr val="0042FF"/>
              </a:gs>
              <a:gs pos="0">
                <a:srgbClr val="0042FF"/>
              </a:gs>
              <a:gs pos="54000">
                <a:srgbClr val="3368FF"/>
              </a:gs>
            </a:gsLst>
            <a:lin ang="0" scaled="1"/>
            <a:tileRect/>
          </a:gradFill>
          <a:ln w="25400">
            <a:solidFill>
              <a:srgbClr val="FFFF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98" name="猫爪PPT-27-4"/>
          <p:cNvSpPr/>
          <p:nvPr/>
        </p:nvSpPr>
        <p:spPr>
          <a:xfrm>
            <a:off x="4672013" y="4281488"/>
            <a:ext cx="2998470" cy="1552575"/>
          </a:xfrm>
          <a:custGeom>
            <a:avLst/>
            <a:gdLst>
              <a:gd name="connsiteX0" fmla="*/ 1008003 w 2016006"/>
              <a:gd name="connsiteY0" fmla="*/ 0 h 1029210"/>
              <a:gd name="connsiteX1" fmla="*/ 2016006 w 2016006"/>
              <a:gd name="connsiteY1" fmla="*/ 1008003 h 1029210"/>
              <a:gd name="connsiteX2" fmla="*/ 2014935 w 2016006"/>
              <a:gd name="connsiteY2" fmla="*/ 1029210 h 1029210"/>
              <a:gd name="connsiteX3" fmla="*/ 1071 w 2016006"/>
              <a:gd name="connsiteY3" fmla="*/ 1029210 h 1029210"/>
              <a:gd name="connsiteX4" fmla="*/ 0 w 2016006"/>
              <a:gd name="connsiteY4" fmla="*/ 1008003 h 1029210"/>
              <a:gd name="connsiteX5" fmla="*/ 1008003 w 2016006"/>
              <a:gd name="connsiteY5" fmla="*/ 0 h 1029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006" h="1029210">
                <a:moveTo>
                  <a:pt x="1008003" y="0"/>
                </a:moveTo>
                <a:cubicBezTo>
                  <a:pt x="1564708" y="0"/>
                  <a:pt x="2016006" y="451298"/>
                  <a:pt x="2016006" y="1008003"/>
                </a:cubicBezTo>
                <a:lnTo>
                  <a:pt x="2014935" y="1029210"/>
                </a:lnTo>
                <a:lnTo>
                  <a:pt x="1071" y="1029210"/>
                </a:lnTo>
                <a:lnTo>
                  <a:pt x="0" y="1008003"/>
                </a:lnTo>
                <a:cubicBezTo>
                  <a:pt x="0" y="451298"/>
                  <a:pt x="451298" y="0"/>
                  <a:pt x="1008003" y="0"/>
                </a:cubicBezTo>
                <a:close/>
              </a:path>
            </a:pathLst>
          </a:custGeom>
          <a:solidFill>
            <a:srgbClr val="FFFFFF"/>
          </a:solidFill>
          <a:ln w="9525">
            <a:noFill/>
          </a:ln>
          <a:effectLst>
            <a:outerShdw blurRad="571500" dist="241300" dir="16200000" algn="t" rotWithShape="0">
              <a:srgbClr val="FF4200">
                <a:alpha val="6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dirty="0">
              <a:ln>
                <a:noFill/>
              </a:ln>
              <a:solidFill>
                <a:prstClr val="white"/>
              </a:solidFill>
              <a:effectLst/>
              <a:uLnTx/>
              <a:uFillTx/>
              <a:latin typeface="微软雅黑"/>
              <a:cs typeface="微软雅黑"/>
              <a:ea typeface="微软雅黑"/>
            </a:endParaRPr>
          </a:p>
        </p:txBody>
      </p:sp>
      <p:sp>
        <p:nvSpPr>
          <p:cNvPr id="113" name="空心弧 112"/>
          <p:cNvSpPr/>
          <p:nvPr/>
        </p:nvSpPr>
        <p:spPr>
          <a:xfrm>
            <a:off x="2729230" y="2375535"/>
            <a:ext cx="6969760" cy="6932930"/>
          </a:xfrm>
          <a:prstGeom prst="blockArc">
            <a:avLst>
              <a:gd name="adj1" fmla="val 12810332"/>
              <a:gd name="adj2" fmla="val 14973968"/>
              <a:gd name="adj3" fmla="val 21953"/>
            </a:avLst>
          </a:prstGeom>
          <a:gradFill>
            <a:gsLst>
              <a:gs pos="100000">
                <a:srgbClr val="3368FF"/>
              </a:gs>
              <a:gs pos="0">
                <a:srgbClr val="0042FF"/>
              </a:gs>
            </a:gsLst>
            <a:lin ang="5400000" scaled="0"/>
          </a:gradFill>
          <a:ln w="254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cxnSp>
        <p:nvCxnSpPr>
          <p:cNvPr id="114" name="猫爪PPT-28-5"/>
          <p:cNvCxnSpPr/>
          <p:nvPr/>
        </p:nvCxnSpPr>
        <p:spPr>
          <a:xfrm flipH="1" flipV="1">
            <a:off x="3317240" y="3931920"/>
            <a:ext cx="1596390" cy="1043305"/>
          </a:xfrm>
          <a:prstGeom prst="line">
            <a:avLst/>
          </a:prstGeom>
          <a:ln w="25400" cap="rnd">
            <a:solidFill>
              <a:srgbClr val="FFFFFF"/>
            </a:solidFill>
            <a:round/>
          </a:ln>
        </p:spPr>
        <p:style>
          <a:lnRef idx="1">
            <a:srgbClr val="0042FF"/>
          </a:lnRef>
          <a:fillRef idx="0">
            <a:srgbClr val="0042FF"/>
          </a:fillRef>
          <a:effectRef idx="0">
            <a:srgbClr val="0042FF"/>
          </a:effectRef>
          <a:fontRef idx="minor">
            <a:srgbClr val="383838"/>
          </a:fontRef>
        </p:style>
      </p:cxnSp>
      <p:cxnSp>
        <p:nvCxnSpPr>
          <p:cNvPr id="117" name="猫爪PPT-28-1"/>
          <p:cNvCxnSpPr/>
          <p:nvPr/>
        </p:nvCxnSpPr>
        <p:spPr>
          <a:xfrm flipV="1">
            <a:off x="7467600" y="3934460"/>
            <a:ext cx="1617345" cy="1076325"/>
          </a:xfrm>
          <a:prstGeom prst="line">
            <a:avLst/>
          </a:prstGeom>
          <a:ln w="25400" cap="rnd">
            <a:solidFill>
              <a:srgbClr val="FFFFFF"/>
            </a:solidFill>
            <a:round/>
          </a:ln>
        </p:spPr>
        <p:style>
          <a:lnRef idx="1">
            <a:srgbClr val="0042FF"/>
          </a:lnRef>
          <a:fillRef idx="0">
            <a:srgbClr val="0042FF"/>
          </a:fillRef>
          <a:effectRef idx="0">
            <a:srgbClr val="0042FF"/>
          </a:effectRef>
          <a:fontRef idx="minor">
            <a:srgbClr val="383838"/>
          </a:fontRef>
        </p:style>
      </p:cxnSp>
      <p:cxnSp>
        <p:nvCxnSpPr>
          <p:cNvPr id="119" name="猫爪PPT-28-5"/>
          <p:cNvCxnSpPr/>
          <p:nvPr/>
        </p:nvCxnSpPr>
        <p:spPr>
          <a:xfrm flipH="1" flipV="1">
            <a:off x="4998720" y="2591435"/>
            <a:ext cx="663575" cy="1779905"/>
          </a:xfrm>
          <a:prstGeom prst="line">
            <a:avLst/>
          </a:prstGeom>
          <a:ln w="25400" cap="rnd">
            <a:solidFill>
              <a:srgbClr val="FFFFFF"/>
            </a:solidFill>
            <a:round/>
          </a:ln>
        </p:spPr>
        <p:style>
          <a:lnRef idx="1">
            <a:srgbClr val="0042FF"/>
          </a:lnRef>
          <a:fillRef idx="0">
            <a:srgbClr val="0042FF"/>
          </a:fillRef>
          <a:effectRef idx="0">
            <a:srgbClr val="0042FF"/>
          </a:effectRef>
          <a:fontRef idx="minor">
            <a:srgbClr val="383838"/>
          </a:fontRef>
        </p:style>
      </p:cxnSp>
      <p:cxnSp>
        <p:nvCxnSpPr>
          <p:cNvPr id="120" name="猫爪PPT-28-5"/>
          <p:cNvCxnSpPr/>
          <p:nvPr/>
        </p:nvCxnSpPr>
        <p:spPr>
          <a:xfrm flipV="1">
            <a:off x="6706235" y="2569845"/>
            <a:ext cx="593725" cy="1791335"/>
          </a:xfrm>
          <a:prstGeom prst="line">
            <a:avLst/>
          </a:prstGeom>
          <a:ln w="25400" cap="rnd">
            <a:solidFill>
              <a:srgbClr val="FFFFFF"/>
            </a:solidFill>
            <a:round/>
          </a:ln>
        </p:spPr>
        <p:style>
          <a:lnRef idx="1">
            <a:srgbClr val="0042FF"/>
          </a:lnRef>
          <a:fillRef idx="0">
            <a:srgbClr val="0042FF"/>
          </a:fillRef>
          <a:effectRef idx="0">
            <a:srgbClr val="0042FF"/>
          </a:effectRef>
          <a:fontRef idx="minor">
            <a:srgbClr val="383838"/>
          </a:fontRef>
        </p:style>
      </p:cxnSp>
      <p:sp>
        <p:nvSpPr>
          <p:cNvPr id="1146" name="显眼包PPT7"/>
          <p:cNvSpPr/>
          <p:nvPr/>
        </p:nvSpPr>
        <p:spPr>
          <a:xfrm>
            <a:off x="5408059" y="5051849"/>
            <a:ext cx="1573833" cy="1579369"/>
          </a:xfrm>
          <a:prstGeom prst="ellipse">
            <a:avLst/>
          </a:prstGeom>
          <a:gradFill>
            <a:gsLst>
              <a:gs pos="0">
                <a:srgbClr val="FFFFFF">
                  <a:alpha val="26000"/>
                </a:srgbClr>
              </a:gs>
              <a:gs pos="100000">
                <a:srgbClr val="FFFFFF">
                  <a:alpha val="10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21" name="组合 20"/>
          <p:cNvGrpSpPr/>
          <p:nvPr/>
        </p:nvGrpSpPr>
        <p:grpSpPr>
          <a:xfrm rot="0">
            <a:off x="5577205" y="5220970"/>
            <a:ext cx="1234440" cy="1234440"/>
            <a:chOff x="5424157" y="2173228"/>
            <a:chExt cx="1815804" cy="1815804"/>
          </a:xfrm>
        </p:grpSpPr>
        <p:sp>
          <p:nvSpPr>
            <p:cNvPr id="22" name="显眼包PPT-1"/>
            <p:cNvSpPr/>
            <p:nvPr/>
          </p:nvSpPr>
          <p:spPr>
            <a:xfrm>
              <a:off x="5424157" y="2173228"/>
              <a:ext cx="1815804" cy="1815804"/>
            </a:xfrm>
            <a:prstGeom prst="ellipse">
              <a:avLst/>
            </a:prstGeom>
            <a:gradFill>
              <a:gsLst>
                <a:gs pos="0">
                  <a:srgbClr val="FFFFFF"/>
                </a:gs>
                <a:gs pos="100000">
                  <a:srgbClr val="FFFFFF"/>
                </a:gs>
              </a:gsLst>
              <a:lin ang="2700000" scaled="1"/>
            </a:gradFill>
            <a:ln w="25400">
              <a:noFill/>
            </a:ln>
            <a:effectLst>
              <a:outerShdw blurRad="381000" dist="127000" dir="7080000" sx="104000" sy="104000" algn="tl" rotWithShape="0">
                <a:srgbClr val="668E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24" name="显眼包PPT-2"/>
            <p:cNvSpPr/>
            <p:nvPr/>
          </p:nvSpPr>
          <p:spPr>
            <a:xfrm>
              <a:off x="5458485" y="2207556"/>
              <a:ext cx="1747148" cy="1747149"/>
            </a:xfrm>
            <a:prstGeom prst="ellipse">
              <a:avLst/>
            </a:prstGeom>
            <a:noFill/>
            <a:ln w="19050" cap="rnd">
              <a:gradFill>
                <a:gsLst>
                  <a:gs pos="0">
                    <a:srgbClr val="B3D4FE">
                      <a:alpha val="0"/>
                    </a:srgbClr>
                  </a:gs>
                  <a:gs pos="54000">
                    <a:srgbClr val="3368FF"/>
                  </a:gs>
                  <a:gs pos="100000">
                    <a:srgbClr val="B3D4FE">
                      <a:alpha val="0"/>
                    </a:srgbClr>
                  </a:gs>
                </a:gsLst>
                <a:lin ang="5400000" scaled="1"/>
              </a:gradFill>
              <a:prstDash val="sysDot"/>
              <a:round/>
            </a:ln>
            <a:effectLst>
              <a:outerShdw blurRad="63500" sx="102000" sy="102000" algn="ctr" rotWithShape="0">
                <a:srgbClr val="FFFF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grpSp>
      <p:sp>
        <p:nvSpPr>
          <p:cNvPr id="29" name="显眼包PPT-3"/>
          <p:cNvSpPr/>
          <p:nvPr/>
        </p:nvSpPr>
        <p:spPr>
          <a:xfrm>
            <a:off x="5628593" y="5272358"/>
            <a:ext cx="1131663" cy="1131663"/>
          </a:xfrm>
          <a:prstGeom prst="ellipse">
            <a:avLst/>
          </a:prstGeom>
          <a:gradFill flip="none" rotWithShape="1">
            <a:gsLst>
              <a:gs pos="11000">
                <a:srgbClr val="B3D4FE"/>
              </a:gs>
              <a:gs pos="67000">
                <a:srgbClr val="3368FF"/>
              </a:gs>
            </a:gsLst>
            <a:path path="circle">
              <a:fillToRect r="100000" b="100000"/>
            </a:path>
            <a:tileRect l="-100000" t="-100000"/>
          </a:gradFill>
          <a:ln w="25400">
            <a:noFill/>
          </a:ln>
          <a:effectLst>
            <a:innerShdw blurRad="4572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30" name="显眼包PPT-4"/>
          <p:cNvSpPr txBox="1"/>
          <p:nvPr/>
        </p:nvSpPr>
        <p:spPr>
          <a:xfrm>
            <a:off x="5813425" y="5929289"/>
            <a:ext cx="762000" cy="230505"/>
          </a:xfrm>
          <a:prstGeom prst="rect">
            <a:avLst/>
          </a:prstGeom>
          <a:noFill/>
        </p:spPr>
        <p:txBody>
          <a:bodyPr wrap="none" lIns="0" tIns="0" rIns="0" bIns="0" rtlCol="0">
            <a:spAutoFit/>
            <a:scene3d>
              <a:camera prst="orthographicFront"/>
              <a:lightRig rig="glow" dir="t"/>
            </a:scene3d>
          </a:bodyPr>
          <a:lstStyle/>
          <a:p>
            <a:pPr algn="ctr">
              <a:defRPr>
                <a:solidFill>
                  <a:srgbClr val="FFFFFF"/>
                </a:solidFill>
                <a:latin typeface="微软雅黑"/>
                <a:ea typeface="微软雅黑"/>
                <a:cs typeface="微软雅黑"/>
              </a:defRPr>
            </a:pPr>
            <a:r>
              <a:rPr lang="zh-CN" altLang="en-US" sz="1500" b="1">
                <a:solidFill>
                  <a:srgbClr val="FFFFFF"/>
                </a:solidFill>
                <a:effectLst>
                  <a:outerShdw blurRad="317500" sx="102000" sy="102000" algn="ctr" rotWithShape="0">
                    <a:srgbClr val="0042FF">
                      <a:alpha val="28000"/>
                    </a:srgbClr>
                  </a:outerShdw>
                </a:effectLst>
                <a:latin typeface="微软雅黑"/>
                <a:ea typeface="微软雅黑"/>
                <a:cs typeface="微软雅黑"/>
              </a:rPr>
              <a:t>核心技术</a:t>
            </a:r>
            <a:endParaRPr lang="zh-CN" altLang="en-US" sz="1500" b="1" dirty="0">
              <a:solidFill>
                <a:srgbClr val="FFFFFF"/>
              </a:solidFill>
              <a:effectLst>
                <a:outerShdw blurRad="317500" sx="102000" sy="102000" algn="ctr" rotWithShape="0">
                  <a:srgbClr val="0042FF">
                    <a:alpha val="28000"/>
                  </a:srgbClr>
                </a:outerShdw>
              </a:effectLst>
              <a:latin typeface="微软雅黑"/>
              <a:ea typeface="微软雅黑"/>
              <a:cs typeface="微软雅黑"/>
            </a:endParaRPr>
          </a:p>
        </p:txBody>
      </p:sp>
      <p:pic>
        <p:nvPicPr>
          <p:cNvPr id="34" name="图片 33" descr="核心价值观"/>
          <p:cNvPicPr>
            <a:picLocks noChangeAspect="1"/>
          </p:cNvPicPr>
          <p:nvPr/>
        </p:nvPicPr>
        <p:blipFill>
          <a:blip/>
          <a:stretch>
            <a:fillRect/>
          </a:stretch>
        </p:blipFill>
        <p:spPr>
          <a:xfrm>
            <a:off x="5979795" y="5488305"/>
            <a:ext cx="429260" cy="379730"/>
          </a:xfrm>
          <a:prstGeom prst="rect">
            <a:avLst/>
          </a:prstGeom>
        </p:spPr>
      </p:pic>
      <p:sp>
        <p:nvSpPr>
          <p:cNvPr id="47" name="猫爪PPT-27-3"/>
          <p:cNvSpPr/>
          <p:nvPr/>
        </p:nvSpPr>
        <p:spPr>
          <a:xfrm>
            <a:off x="4934903" y="4522470"/>
            <a:ext cx="2560320" cy="1311275"/>
          </a:xfrm>
          <a:custGeom>
            <a:avLst/>
            <a:gdLst>
              <a:gd name="connsiteX0" fmla="*/ 2068924 w 4137848"/>
              <a:gd name="connsiteY0" fmla="*/ 0 h 2090131"/>
              <a:gd name="connsiteX1" fmla="*/ 4137848 w 4137848"/>
              <a:gd name="connsiteY1" fmla="*/ 2068924 h 2090131"/>
              <a:gd name="connsiteX2" fmla="*/ 4136777 w 4137848"/>
              <a:gd name="connsiteY2" fmla="*/ 2090131 h 2090131"/>
              <a:gd name="connsiteX3" fmla="*/ 1071 w 4137848"/>
              <a:gd name="connsiteY3" fmla="*/ 2090131 h 2090131"/>
              <a:gd name="connsiteX4" fmla="*/ 0 w 4137848"/>
              <a:gd name="connsiteY4" fmla="*/ 2068924 h 2090131"/>
              <a:gd name="connsiteX5" fmla="*/ 2068924 w 4137848"/>
              <a:gd name="connsiteY5" fmla="*/ 0 h 20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7848" h="2090131">
                <a:moveTo>
                  <a:pt x="2068924" y="0"/>
                </a:moveTo>
                <a:cubicBezTo>
                  <a:pt x="3211559" y="0"/>
                  <a:pt x="4137848" y="926289"/>
                  <a:pt x="4137848" y="2068924"/>
                </a:cubicBezTo>
                <a:lnTo>
                  <a:pt x="4136777" y="2090131"/>
                </a:lnTo>
                <a:lnTo>
                  <a:pt x="1071" y="2090131"/>
                </a:lnTo>
                <a:lnTo>
                  <a:pt x="0" y="2068924"/>
                </a:lnTo>
                <a:cubicBezTo>
                  <a:pt x="0" y="926289"/>
                  <a:pt x="926289" y="0"/>
                  <a:pt x="2068924" y="0"/>
                </a:cubicBezTo>
                <a:close/>
              </a:path>
            </a:pathLst>
          </a:custGeom>
          <a:noFill/>
          <a:ln>
            <a:gradFill>
              <a:gsLst>
                <a:gs pos="10000">
                  <a:srgbClr val="B3D4FE">
                    <a:alpha val="0"/>
                  </a:srgbClr>
                </a:gs>
                <a:gs pos="99000">
                  <a:srgbClr val="FF4200">
                    <a:alpha val="0"/>
                  </a:srgbClr>
                </a:gs>
                <a:gs pos="76000">
                  <a:srgbClr val="B3D4FE"/>
                </a:gs>
              </a:gsLst>
              <a:lin ang="5400000" scaled="1"/>
            </a:gradFill>
            <a:prstDash val="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48" name="猫爪PPT-27-3"/>
          <p:cNvSpPr/>
          <p:nvPr/>
        </p:nvSpPr>
        <p:spPr>
          <a:xfrm>
            <a:off x="5178108" y="4771390"/>
            <a:ext cx="2073910" cy="1062355"/>
          </a:xfrm>
          <a:custGeom>
            <a:avLst/>
            <a:gdLst>
              <a:gd name="connsiteX0" fmla="*/ 2068924 w 4137848"/>
              <a:gd name="connsiteY0" fmla="*/ 0 h 2090131"/>
              <a:gd name="connsiteX1" fmla="*/ 4137848 w 4137848"/>
              <a:gd name="connsiteY1" fmla="*/ 2068924 h 2090131"/>
              <a:gd name="connsiteX2" fmla="*/ 4136777 w 4137848"/>
              <a:gd name="connsiteY2" fmla="*/ 2090131 h 2090131"/>
              <a:gd name="connsiteX3" fmla="*/ 1071 w 4137848"/>
              <a:gd name="connsiteY3" fmla="*/ 2090131 h 2090131"/>
              <a:gd name="connsiteX4" fmla="*/ 0 w 4137848"/>
              <a:gd name="connsiteY4" fmla="*/ 2068924 h 2090131"/>
              <a:gd name="connsiteX5" fmla="*/ 2068924 w 4137848"/>
              <a:gd name="connsiteY5" fmla="*/ 0 h 20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7848" h="2090131">
                <a:moveTo>
                  <a:pt x="2068924" y="0"/>
                </a:moveTo>
                <a:cubicBezTo>
                  <a:pt x="3211559" y="0"/>
                  <a:pt x="4137848" y="926289"/>
                  <a:pt x="4137848" y="2068924"/>
                </a:cubicBezTo>
                <a:lnTo>
                  <a:pt x="4136777" y="2090131"/>
                </a:lnTo>
                <a:lnTo>
                  <a:pt x="1071" y="2090131"/>
                </a:lnTo>
                <a:lnTo>
                  <a:pt x="0" y="2068924"/>
                </a:lnTo>
                <a:cubicBezTo>
                  <a:pt x="0" y="926289"/>
                  <a:pt x="926289" y="0"/>
                  <a:pt x="2068924" y="0"/>
                </a:cubicBezTo>
                <a:close/>
              </a:path>
            </a:pathLst>
          </a:custGeom>
          <a:noFill/>
          <a:ln>
            <a:gradFill>
              <a:gsLst>
                <a:gs pos="10000">
                  <a:srgbClr val="B3D4FE">
                    <a:alpha val="0"/>
                  </a:srgbClr>
                </a:gs>
                <a:gs pos="99000">
                  <a:srgbClr val="FF4200">
                    <a:alpha val="0"/>
                  </a:srgbClr>
                </a:gs>
                <a:gs pos="66000">
                  <a:srgbClr val="B3D4FE"/>
                </a:gs>
              </a:gsLst>
              <a:lin ang="5400000" scaled="1"/>
            </a:gradFill>
            <a:prstDash val="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49" name="猫爪PPT-27-3"/>
          <p:cNvSpPr/>
          <p:nvPr/>
        </p:nvSpPr>
        <p:spPr>
          <a:xfrm>
            <a:off x="5424805" y="5010785"/>
            <a:ext cx="1580515" cy="809625"/>
          </a:xfrm>
          <a:custGeom>
            <a:avLst/>
            <a:gdLst>
              <a:gd name="connsiteX0" fmla="*/ 2068924 w 4137848"/>
              <a:gd name="connsiteY0" fmla="*/ 0 h 2090131"/>
              <a:gd name="connsiteX1" fmla="*/ 4137848 w 4137848"/>
              <a:gd name="connsiteY1" fmla="*/ 2068924 h 2090131"/>
              <a:gd name="connsiteX2" fmla="*/ 4136777 w 4137848"/>
              <a:gd name="connsiteY2" fmla="*/ 2090131 h 2090131"/>
              <a:gd name="connsiteX3" fmla="*/ 1071 w 4137848"/>
              <a:gd name="connsiteY3" fmla="*/ 2090131 h 2090131"/>
              <a:gd name="connsiteX4" fmla="*/ 0 w 4137848"/>
              <a:gd name="connsiteY4" fmla="*/ 2068924 h 2090131"/>
              <a:gd name="connsiteX5" fmla="*/ 2068924 w 4137848"/>
              <a:gd name="connsiteY5" fmla="*/ 0 h 20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7848" h="2090131">
                <a:moveTo>
                  <a:pt x="2068924" y="0"/>
                </a:moveTo>
                <a:cubicBezTo>
                  <a:pt x="3211559" y="0"/>
                  <a:pt x="4137848" y="926289"/>
                  <a:pt x="4137848" y="2068924"/>
                </a:cubicBezTo>
                <a:lnTo>
                  <a:pt x="4136777" y="2090131"/>
                </a:lnTo>
                <a:lnTo>
                  <a:pt x="1071" y="2090131"/>
                </a:lnTo>
                <a:lnTo>
                  <a:pt x="0" y="2068924"/>
                </a:lnTo>
                <a:cubicBezTo>
                  <a:pt x="0" y="926289"/>
                  <a:pt x="926289" y="0"/>
                  <a:pt x="2068924" y="0"/>
                </a:cubicBezTo>
                <a:close/>
              </a:path>
            </a:pathLst>
          </a:custGeom>
          <a:noFill/>
          <a:ln>
            <a:gradFill>
              <a:gsLst>
                <a:gs pos="18000">
                  <a:srgbClr val="B3D4FE">
                    <a:alpha val="0"/>
                  </a:srgbClr>
                </a:gs>
                <a:gs pos="99000">
                  <a:srgbClr val="FF4200">
                    <a:alpha val="0"/>
                  </a:srgbClr>
                </a:gs>
                <a:gs pos="69000">
                  <a:srgbClr val="B3D4FE"/>
                </a:gs>
              </a:gsLst>
              <a:lin ang="5400000" scaled="1"/>
            </a:gradFill>
            <a:prstDash val="dash"/>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grpSp>
        <p:nvGrpSpPr>
          <p:cNvPr id="50" name="组合 49"/>
          <p:cNvGrpSpPr/>
          <p:nvPr/>
        </p:nvGrpSpPr>
        <p:grpSpPr>
          <a:xfrm>
            <a:off x="5315268" y="4572635"/>
            <a:ext cx="1761490" cy="2033270"/>
            <a:chOff x="8327" y="7852"/>
            <a:chExt cx="2774" cy="3202"/>
          </a:xfrm>
        </p:grpSpPr>
        <p:sp>
          <p:nvSpPr>
            <p:cNvPr id="52" name="文本框 51"/>
            <p:cNvSpPr txBox="1"/>
            <p:nvPr/>
          </p:nvSpPr>
          <p:spPr>
            <a:xfrm>
              <a:off x="8327" y="7852"/>
              <a:ext cx="2768"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业人财融合的劳动力账户</a:t>
              </a:r>
              <a:endParaRPr lang="zh-CN" altLang="en-US" sz="1000">
                <a:solidFill>
                  <a:srgbClr val="383838"/>
                </a:solidFill>
                <a:latin typeface="微软雅黑"/>
                <a:ea typeface="微软雅黑"/>
                <a:cs typeface="微软雅黑"/>
              </a:endParaRPr>
            </a:p>
          </p:txBody>
        </p:sp>
        <p:sp>
          <p:nvSpPr>
            <p:cNvPr id="53" name="文本框 52"/>
            <p:cNvSpPr txBox="1"/>
            <p:nvPr/>
          </p:nvSpPr>
          <p:spPr>
            <a:xfrm>
              <a:off x="8327" y="8284"/>
              <a:ext cx="2768"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en-US" altLang="zh-CN" sz="1000">
                  <a:solidFill>
                    <a:srgbClr val="FFFFFF"/>
                  </a:solidFill>
                  <a:latin typeface="微软雅黑"/>
                  <a:ea typeface="微软雅黑"/>
                  <a:cs typeface="微软雅黑"/>
                </a:rPr>
                <a:t>AL+ML </a:t>
              </a:r>
              <a:r>
                <a:rPr lang="zh-CN" altLang="en-US" sz="1000">
                  <a:solidFill>
                    <a:srgbClr val="FFFFFF"/>
                  </a:solidFill>
                  <a:latin typeface="微软雅黑"/>
                  <a:ea typeface="微软雅黑"/>
                  <a:cs typeface="微软雅黑"/>
                </a:rPr>
                <a:t>智能决策引擎</a:t>
              </a:r>
              <a:endParaRPr lang="zh-CN" altLang="en-US" sz="1000">
                <a:solidFill>
                  <a:srgbClr val="FFFFFF"/>
                </a:solidFill>
                <a:latin typeface="微软雅黑"/>
                <a:ea typeface="微软雅黑"/>
                <a:cs typeface="微软雅黑"/>
              </a:endParaRPr>
            </a:p>
          </p:txBody>
        </p:sp>
        <p:sp>
          <p:nvSpPr>
            <p:cNvPr id="54" name="文本框 53"/>
            <p:cNvSpPr txBox="1"/>
            <p:nvPr/>
          </p:nvSpPr>
          <p:spPr>
            <a:xfrm>
              <a:off x="8333" y="8700"/>
              <a:ext cx="2768"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sz="1000">
                  <a:solidFill>
                    <a:srgbClr val="FFFFFF"/>
                  </a:solidFill>
                  <a:latin typeface="微软雅黑"/>
                  <a:ea typeface="微软雅黑"/>
                  <a:cs typeface="微软雅黑"/>
                </a:rPr>
                <a:t>实时可量化人效</a:t>
              </a:r>
              <a:endParaRPr lang="zh-CN" sz="1000">
                <a:solidFill>
                  <a:srgbClr val="FFFFFF"/>
                </a:solidFill>
                <a:latin typeface="微软雅黑"/>
                <a:ea typeface="微软雅黑"/>
                <a:cs typeface="微软雅黑"/>
              </a:endParaRPr>
            </a:p>
          </p:txBody>
        </p:sp>
      </p:grpSp>
      <p:sp>
        <p:nvSpPr>
          <p:cNvPr id="56" name="文本框 55"/>
          <p:cNvSpPr txBox="1"/>
          <p:nvPr/>
        </p:nvSpPr>
        <p:spPr>
          <a:xfrm>
            <a:off x="5317808" y="4174490"/>
            <a:ext cx="1757680" cy="1494790"/>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能力中台</a:t>
            </a:r>
            <a:endParaRPr lang="zh-CN" altLang="en-US" sz="1400" b="1">
              <a:solidFill>
                <a:srgbClr val="383838"/>
              </a:solidFill>
              <a:latin typeface="微软雅黑"/>
              <a:ea typeface="微软雅黑"/>
              <a:cs typeface="微软雅黑"/>
            </a:endParaRPr>
          </a:p>
        </p:txBody>
      </p:sp>
      <p:sp>
        <p:nvSpPr>
          <p:cNvPr id="57" name="文本框 56"/>
          <p:cNvSpPr txBox="1"/>
          <p:nvPr/>
        </p:nvSpPr>
        <p:spPr>
          <a:xfrm rot="17160000">
            <a:off x="4206240" y="4843780"/>
            <a:ext cx="2202815" cy="1494790"/>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合规管理中心</a:t>
            </a:r>
            <a:endParaRPr lang="zh-CN" altLang="en-US" sz="1000">
              <a:solidFill>
                <a:srgbClr val="383838"/>
              </a:solidFill>
              <a:latin typeface="微软雅黑"/>
              <a:ea typeface="微软雅黑"/>
              <a:cs typeface="微软雅黑"/>
            </a:endParaRPr>
          </a:p>
        </p:txBody>
      </p:sp>
      <p:sp>
        <p:nvSpPr>
          <p:cNvPr id="58" name="文本框 57"/>
          <p:cNvSpPr txBox="1"/>
          <p:nvPr/>
        </p:nvSpPr>
        <p:spPr>
          <a:xfrm rot="19260000">
            <a:off x="4514215" y="4349115"/>
            <a:ext cx="2202815" cy="1494790"/>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信息安全中心</a:t>
            </a:r>
            <a:endParaRPr lang="zh-CN" altLang="en-US" sz="1000">
              <a:solidFill>
                <a:srgbClr val="383838"/>
              </a:solidFill>
              <a:latin typeface="微软雅黑"/>
              <a:ea typeface="微软雅黑"/>
              <a:cs typeface="微软雅黑"/>
            </a:endParaRPr>
          </a:p>
        </p:txBody>
      </p:sp>
      <p:sp>
        <p:nvSpPr>
          <p:cNvPr id="61" name="文本框 60"/>
          <p:cNvSpPr txBox="1"/>
          <p:nvPr/>
        </p:nvSpPr>
        <p:spPr>
          <a:xfrm rot="2340000">
            <a:off x="5661025" y="4366895"/>
            <a:ext cx="2202815" cy="1494790"/>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数据资源中心</a:t>
            </a:r>
            <a:endParaRPr lang="zh-CN" altLang="en-US" sz="1000">
              <a:solidFill>
                <a:srgbClr val="383838"/>
              </a:solidFill>
              <a:latin typeface="微软雅黑"/>
              <a:ea typeface="微软雅黑"/>
              <a:cs typeface="微软雅黑"/>
            </a:endParaRPr>
          </a:p>
        </p:txBody>
      </p:sp>
      <p:sp>
        <p:nvSpPr>
          <p:cNvPr id="62" name="文本框 61"/>
          <p:cNvSpPr txBox="1"/>
          <p:nvPr/>
        </p:nvSpPr>
        <p:spPr>
          <a:xfrm rot="4500000">
            <a:off x="5979795" y="4836160"/>
            <a:ext cx="2202815" cy="1494790"/>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产研调度中心</a:t>
            </a:r>
            <a:endParaRPr lang="zh-CN" altLang="en-US" sz="1000">
              <a:solidFill>
                <a:srgbClr val="383838"/>
              </a:solidFill>
              <a:latin typeface="微软雅黑"/>
              <a:ea typeface="微软雅黑"/>
              <a:cs typeface="微软雅黑"/>
            </a:endParaRPr>
          </a:p>
        </p:txBody>
      </p:sp>
      <p:grpSp>
        <p:nvGrpSpPr>
          <p:cNvPr id="67" name="组合 66"/>
          <p:cNvGrpSpPr/>
          <p:nvPr/>
        </p:nvGrpSpPr>
        <p:grpSpPr>
          <a:xfrm>
            <a:off x="3267710" y="4166870"/>
            <a:ext cx="2200910" cy="2480310"/>
            <a:chOff x="5146" y="6562"/>
            <a:chExt cx="3466" cy="3906"/>
          </a:xfrm>
        </p:grpSpPr>
        <p:sp>
          <p:nvSpPr>
            <p:cNvPr id="63" name="文本框 62"/>
            <p:cNvSpPr txBox="1"/>
            <p:nvPr/>
          </p:nvSpPr>
          <p:spPr>
            <a:xfrm rot="17460000">
              <a:off x="4589" y="7119"/>
              <a:ext cx="3469"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需要多少人</a:t>
              </a:r>
              <a:endParaRPr lang="zh-CN" altLang="en-US" b="1">
                <a:solidFill>
                  <a:srgbClr val="FFFFFF"/>
                </a:solidFill>
                <a:latin typeface="微软雅黑"/>
                <a:ea typeface="微软雅黑"/>
                <a:cs typeface="微软雅黑"/>
              </a:endParaRPr>
            </a:p>
          </p:txBody>
        </p:sp>
        <p:sp>
          <p:nvSpPr>
            <p:cNvPr id="64" name="文本框 63"/>
            <p:cNvSpPr txBox="1"/>
            <p:nvPr/>
          </p:nvSpPr>
          <p:spPr>
            <a:xfrm rot="17280000">
              <a:off x="5005" y="728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200">
                  <a:solidFill>
                    <a:srgbClr val="FFFFFF">
                      <a:alpha val="80000"/>
                    </a:srgbClr>
                  </a:solidFill>
                  <a:latin typeface="微软雅黑"/>
                  <a:ea typeface="微软雅黑"/>
                  <a:cs typeface="微软雅黑"/>
                </a:rPr>
                <a:t>劳动力规划</a:t>
              </a:r>
              <a:endParaRPr lang="zh-CN" altLang="en-US" sz="1200">
                <a:solidFill>
                  <a:srgbClr val="FFFFFF">
                    <a:alpha val="80000"/>
                  </a:srgbClr>
                </a:solidFill>
                <a:latin typeface="微软雅黑"/>
                <a:ea typeface="微软雅黑"/>
                <a:cs typeface="微软雅黑"/>
              </a:endParaRPr>
            </a:p>
          </p:txBody>
        </p:sp>
        <p:sp>
          <p:nvSpPr>
            <p:cNvPr id="65" name="文本框 64"/>
            <p:cNvSpPr txBox="1"/>
            <p:nvPr/>
          </p:nvSpPr>
          <p:spPr>
            <a:xfrm rot="17280000">
              <a:off x="5349" y="7410"/>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智能排班云</a:t>
              </a:r>
              <a:endParaRPr lang="zh-CN" altLang="en-US" sz="1200">
                <a:solidFill>
                  <a:srgbClr val="383838"/>
                </a:solidFill>
                <a:latin typeface="微软雅黑"/>
                <a:ea typeface="微软雅黑"/>
                <a:cs typeface="微软雅黑"/>
              </a:endParaRPr>
            </a:p>
          </p:txBody>
        </p:sp>
        <p:sp>
          <p:nvSpPr>
            <p:cNvPr id="66" name="文本框 65"/>
            <p:cNvSpPr txBox="1"/>
            <p:nvPr/>
          </p:nvSpPr>
          <p:spPr>
            <a:xfrm rot="17280000">
              <a:off x="5701" y="755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人效轻咨询</a:t>
              </a:r>
              <a:endParaRPr lang="zh-CN" altLang="en-US" sz="1200">
                <a:solidFill>
                  <a:srgbClr val="383838"/>
                </a:solidFill>
                <a:latin typeface="微软雅黑"/>
                <a:ea typeface="微软雅黑"/>
                <a:cs typeface="微软雅黑"/>
              </a:endParaRPr>
            </a:p>
          </p:txBody>
        </p:sp>
      </p:grpSp>
      <p:grpSp>
        <p:nvGrpSpPr>
          <p:cNvPr id="69" name="组合 68"/>
          <p:cNvGrpSpPr/>
          <p:nvPr/>
        </p:nvGrpSpPr>
        <p:grpSpPr>
          <a:xfrm rot="1920000">
            <a:off x="4008701" y="3123660"/>
            <a:ext cx="1999615" cy="2374900"/>
            <a:chOff x="5147" y="6562"/>
            <a:chExt cx="3149" cy="3740"/>
          </a:xfrm>
        </p:grpSpPr>
        <p:sp>
          <p:nvSpPr>
            <p:cNvPr id="70" name="文本框 69"/>
            <p:cNvSpPr txBox="1"/>
            <p:nvPr/>
          </p:nvSpPr>
          <p:spPr>
            <a:xfrm rot="17460000">
              <a:off x="4589" y="7119"/>
              <a:ext cx="3469"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实际多少人</a:t>
              </a:r>
              <a:endParaRPr lang="zh-CN" altLang="en-US" b="1">
                <a:solidFill>
                  <a:srgbClr val="FFFFFF"/>
                </a:solidFill>
                <a:latin typeface="微软雅黑"/>
                <a:ea typeface="微软雅黑"/>
                <a:cs typeface="微软雅黑"/>
              </a:endParaRPr>
            </a:p>
          </p:txBody>
        </p:sp>
        <p:sp>
          <p:nvSpPr>
            <p:cNvPr id="71" name="文本框 70"/>
            <p:cNvSpPr txBox="1"/>
            <p:nvPr/>
          </p:nvSpPr>
          <p:spPr>
            <a:xfrm rot="17280000">
              <a:off x="5005" y="728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200">
                  <a:solidFill>
                    <a:srgbClr val="FFFFFF">
                      <a:alpha val="80000"/>
                    </a:srgbClr>
                  </a:solidFill>
                  <a:latin typeface="微软雅黑"/>
                  <a:ea typeface="微软雅黑"/>
                  <a:cs typeface="微软雅黑"/>
                </a:rPr>
                <a:t>实时考勤云</a:t>
              </a:r>
              <a:endParaRPr lang="zh-CN" altLang="en-US" sz="1200">
                <a:solidFill>
                  <a:srgbClr val="FFFFFF">
                    <a:alpha val="80000"/>
                  </a:srgbClr>
                </a:solidFill>
                <a:latin typeface="微软雅黑"/>
                <a:ea typeface="微软雅黑"/>
                <a:cs typeface="微软雅黑"/>
              </a:endParaRPr>
            </a:p>
          </p:txBody>
        </p:sp>
        <p:sp>
          <p:nvSpPr>
            <p:cNvPr id="72" name="文本框 71"/>
            <p:cNvSpPr txBox="1"/>
            <p:nvPr/>
          </p:nvSpPr>
          <p:spPr>
            <a:xfrm rot="17280000">
              <a:off x="5384" y="7390"/>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en-US" altLang="zh-CN" sz="1200">
                  <a:solidFill>
                    <a:srgbClr val="383838"/>
                  </a:solidFill>
                  <a:latin typeface="微软雅黑"/>
                  <a:ea typeface="微软雅黑"/>
                  <a:cs typeface="微软雅黑"/>
                </a:rPr>
                <a:t>HRSSC</a:t>
              </a:r>
              <a:r>
                <a:rPr lang="zh-CN" altLang="en-US" sz="1200">
                  <a:solidFill>
                    <a:srgbClr val="383838"/>
                  </a:solidFill>
                  <a:latin typeface="微软雅黑"/>
                  <a:ea typeface="微软雅黑"/>
                  <a:cs typeface="微软雅黑"/>
                </a:rPr>
                <a:t>外包服务</a:t>
              </a:r>
              <a:endParaRPr lang="zh-CN" altLang="en-US" sz="1200">
                <a:solidFill>
                  <a:srgbClr val="383838"/>
                </a:solidFill>
                <a:latin typeface="微软雅黑"/>
                <a:ea typeface="微软雅黑"/>
                <a:cs typeface="微软雅黑"/>
              </a:endParaRPr>
            </a:p>
          </p:txBody>
        </p:sp>
      </p:grpSp>
      <p:grpSp>
        <p:nvGrpSpPr>
          <p:cNvPr id="74" name="组合 73"/>
          <p:cNvGrpSpPr/>
          <p:nvPr/>
        </p:nvGrpSpPr>
        <p:grpSpPr>
          <a:xfrm rot="6660000">
            <a:off x="6194425" y="3117850"/>
            <a:ext cx="2200910" cy="2480310"/>
            <a:chOff x="5146" y="6562"/>
            <a:chExt cx="3466" cy="3906"/>
          </a:xfrm>
        </p:grpSpPr>
        <p:sp>
          <p:nvSpPr>
            <p:cNvPr id="75" name="文本框 74"/>
            <p:cNvSpPr txBox="1"/>
            <p:nvPr/>
          </p:nvSpPr>
          <p:spPr>
            <a:xfrm rot="17460000">
              <a:off x="4589" y="7119"/>
              <a:ext cx="3469"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b="1">
                  <a:solidFill>
                    <a:srgbClr val="383838"/>
                  </a:solidFill>
                  <a:latin typeface="微软雅黑"/>
                  <a:ea typeface="微软雅黑"/>
                  <a:cs typeface="微软雅黑"/>
                </a:rPr>
                <a:t>干的怎么样</a:t>
              </a:r>
              <a:endParaRPr lang="zh-CN" altLang="en-US" b="1">
                <a:solidFill>
                  <a:srgbClr val="383838"/>
                </a:solidFill>
                <a:latin typeface="微软雅黑"/>
                <a:ea typeface="微软雅黑"/>
                <a:cs typeface="微软雅黑"/>
              </a:endParaRPr>
            </a:p>
          </p:txBody>
        </p:sp>
        <p:sp>
          <p:nvSpPr>
            <p:cNvPr id="76" name="文本框 75"/>
            <p:cNvSpPr txBox="1"/>
            <p:nvPr/>
          </p:nvSpPr>
          <p:spPr>
            <a:xfrm rot="17280000">
              <a:off x="5005" y="728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技能管理云</a:t>
              </a:r>
              <a:endParaRPr lang="zh-CN" altLang="en-US" sz="1200">
                <a:solidFill>
                  <a:srgbClr val="383838"/>
                </a:solidFill>
                <a:latin typeface="微软雅黑"/>
                <a:ea typeface="微软雅黑"/>
                <a:cs typeface="微软雅黑"/>
              </a:endParaRPr>
            </a:p>
          </p:txBody>
        </p:sp>
        <p:sp>
          <p:nvSpPr>
            <p:cNvPr id="78" name="文本框 77"/>
            <p:cNvSpPr txBox="1"/>
            <p:nvPr/>
          </p:nvSpPr>
          <p:spPr>
            <a:xfrm rot="17280000">
              <a:off x="5349" y="7410"/>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200">
                  <a:solidFill>
                    <a:srgbClr val="FFFFFF">
                      <a:alpha val="80000"/>
                    </a:srgbClr>
                  </a:solidFill>
                  <a:latin typeface="微软雅黑"/>
                  <a:ea typeface="微软雅黑"/>
                  <a:cs typeface="微软雅黑"/>
                </a:rPr>
                <a:t>激励薪酬云</a:t>
              </a:r>
              <a:endParaRPr lang="zh-CN" altLang="en-US" sz="1200">
                <a:solidFill>
                  <a:srgbClr val="FFFFFF">
                    <a:alpha val="80000"/>
                  </a:srgbClr>
                </a:solidFill>
                <a:latin typeface="微软雅黑"/>
                <a:ea typeface="微软雅黑"/>
                <a:cs typeface="微软雅黑"/>
              </a:endParaRPr>
            </a:p>
          </p:txBody>
        </p:sp>
        <p:sp>
          <p:nvSpPr>
            <p:cNvPr id="79" name="文本框 78"/>
            <p:cNvSpPr txBox="1"/>
            <p:nvPr/>
          </p:nvSpPr>
          <p:spPr>
            <a:xfrm rot="17340000">
              <a:off x="5701" y="755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200">
                  <a:solidFill>
                    <a:srgbClr val="FFFFFF">
                      <a:alpha val="80000"/>
                    </a:srgbClr>
                  </a:solidFill>
                  <a:latin typeface="微软雅黑"/>
                  <a:ea typeface="微软雅黑"/>
                  <a:cs typeface="微软雅黑"/>
                </a:rPr>
                <a:t>日薪周薪发放服务</a:t>
              </a:r>
              <a:endParaRPr lang="zh-CN" altLang="en-US" sz="1200">
                <a:solidFill>
                  <a:srgbClr val="FFFFFF">
                    <a:alpha val="80000"/>
                  </a:srgbClr>
                </a:solidFill>
                <a:latin typeface="微软雅黑"/>
                <a:ea typeface="微软雅黑"/>
                <a:cs typeface="微软雅黑"/>
              </a:endParaRPr>
            </a:p>
          </p:txBody>
        </p:sp>
      </p:grpSp>
      <p:grpSp>
        <p:nvGrpSpPr>
          <p:cNvPr id="80" name="组合 79"/>
          <p:cNvGrpSpPr/>
          <p:nvPr/>
        </p:nvGrpSpPr>
        <p:grpSpPr>
          <a:xfrm rot="9120000">
            <a:off x="6866890" y="4006850"/>
            <a:ext cx="2200910" cy="2480310"/>
            <a:chOff x="5146" y="6562"/>
            <a:chExt cx="3466" cy="3906"/>
          </a:xfrm>
        </p:grpSpPr>
        <p:sp>
          <p:nvSpPr>
            <p:cNvPr id="81" name="文本框 80"/>
            <p:cNvSpPr txBox="1"/>
            <p:nvPr/>
          </p:nvSpPr>
          <p:spPr>
            <a:xfrm rot="17460000">
              <a:off x="4589" y="7119"/>
              <a:ext cx="3469"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b="1">
                  <a:solidFill>
                    <a:srgbClr val="383838"/>
                  </a:solidFill>
                  <a:latin typeface="微软雅黑"/>
                  <a:ea typeface="微软雅黑"/>
                  <a:cs typeface="微软雅黑"/>
                </a:rPr>
                <a:t>怎样找到人</a:t>
              </a:r>
              <a:endParaRPr lang="zh-CN" altLang="en-US" b="1">
                <a:solidFill>
                  <a:srgbClr val="383838"/>
                </a:solidFill>
                <a:latin typeface="微软雅黑"/>
                <a:ea typeface="微软雅黑"/>
                <a:cs typeface="微软雅黑"/>
              </a:endParaRPr>
            </a:p>
          </p:txBody>
        </p:sp>
        <p:sp>
          <p:nvSpPr>
            <p:cNvPr id="82" name="文本框 81"/>
            <p:cNvSpPr txBox="1"/>
            <p:nvPr/>
          </p:nvSpPr>
          <p:spPr>
            <a:xfrm rot="17280000">
              <a:off x="5005" y="728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200">
                  <a:solidFill>
                    <a:srgbClr val="FFFFFF">
                      <a:alpha val="80000"/>
                    </a:srgbClr>
                  </a:solidFill>
                  <a:latin typeface="微软雅黑"/>
                  <a:ea typeface="微软雅黑"/>
                  <a:cs typeface="微软雅黑"/>
                </a:rPr>
                <a:t>零工管家云</a:t>
              </a:r>
              <a:endParaRPr lang="zh-CN" altLang="en-US" sz="1200">
                <a:solidFill>
                  <a:srgbClr val="FFFFFF">
                    <a:alpha val="80000"/>
                  </a:srgbClr>
                </a:solidFill>
                <a:latin typeface="微软雅黑"/>
                <a:ea typeface="微软雅黑"/>
                <a:cs typeface="微软雅黑"/>
              </a:endParaRPr>
            </a:p>
          </p:txBody>
        </p:sp>
        <p:sp>
          <p:nvSpPr>
            <p:cNvPr id="83" name="文本框 82"/>
            <p:cNvSpPr txBox="1"/>
            <p:nvPr/>
          </p:nvSpPr>
          <p:spPr>
            <a:xfrm rot="17280000">
              <a:off x="5349" y="7410"/>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en-US" altLang="zh-CN" sz="1200">
                  <a:solidFill>
                    <a:srgbClr val="FFFFFF">
                      <a:alpha val="80000"/>
                    </a:srgbClr>
                  </a:solidFill>
                  <a:latin typeface="微软雅黑"/>
                  <a:ea typeface="微软雅黑"/>
                  <a:cs typeface="微软雅黑"/>
                </a:rPr>
                <a:t>RPO+BPO</a:t>
              </a:r>
              <a:r>
                <a:rPr lang="zh-CN" altLang="en-US" sz="1200">
                  <a:solidFill>
                    <a:srgbClr val="FFFFFF">
                      <a:alpha val="80000"/>
                    </a:srgbClr>
                  </a:solidFill>
                  <a:latin typeface="微软雅黑"/>
                  <a:ea typeface="微软雅黑"/>
                  <a:cs typeface="微软雅黑"/>
                </a:rPr>
                <a:t>服务</a:t>
              </a:r>
              <a:endParaRPr lang="zh-CN" altLang="en-US" sz="1200">
                <a:solidFill>
                  <a:srgbClr val="FFFFFF">
                    <a:alpha val="80000"/>
                  </a:srgbClr>
                </a:solidFill>
                <a:latin typeface="微软雅黑"/>
                <a:ea typeface="微软雅黑"/>
                <a:cs typeface="微软雅黑"/>
              </a:endParaRPr>
            </a:p>
          </p:txBody>
        </p:sp>
        <p:sp>
          <p:nvSpPr>
            <p:cNvPr id="84" name="文本框 83"/>
            <p:cNvSpPr txBox="1"/>
            <p:nvPr/>
          </p:nvSpPr>
          <p:spPr>
            <a:xfrm rot="17340000">
              <a:off x="5701" y="755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endParaRPr lang="zh-CN" altLang="en-US" sz="1200">
                <a:solidFill>
                  <a:srgbClr val="FFFFFF">
                    <a:alpha val="80000"/>
                  </a:srgbClr>
                </a:solidFill>
                <a:latin typeface="微软雅黑"/>
                <a:ea typeface="微软雅黑"/>
                <a:cs typeface="微软雅黑"/>
              </a:endParaRPr>
            </a:p>
          </p:txBody>
        </p:sp>
      </p:grpSp>
      <p:grpSp>
        <p:nvGrpSpPr>
          <p:cNvPr id="85" name="组合 84"/>
          <p:cNvGrpSpPr/>
          <p:nvPr/>
        </p:nvGrpSpPr>
        <p:grpSpPr>
          <a:xfrm rot="4140000">
            <a:off x="5087620" y="2739390"/>
            <a:ext cx="2200910" cy="2480310"/>
            <a:chOff x="5146" y="6562"/>
            <a:chExt cx="3466" cy="3906"/>
          </a:xfrm>
        </p:grpSpPr>
        <p:sp>
          <p:nvSpPr>
            <p:cNvPr id="86" name="文本框 85"/>
            <p:cNvSpPr txBox="1"/>
            <p:nvPr/>
          </p:nvSpPr>
          <p:spPr>
            <a:xfrm rot="17460000">
              <a:off x="4589" y="7119"/>
              <a:ext cx="3469" cy="2354"/>
            </a:xfrm>
            <a:prstGeom prst="rect">
              <a:avLst/>
            </a:prstGeom>
            <a:noFill/>
          </p:spPr>
          <p:txBody>
            <a:bodyPr wrap="square" rtlCol="0" lIns="0" rIns="0" tIns="0" bIns="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精益人效</a:t>
              </a:r>
              <a:endParaRPr lang="zh-CN" altLang="en-US" b="1">
                <a:solidFill>
                  <a:srgbClr val="FFFFFF"/>
                </a:solidFill>
                <a:latin typeface="微软雅黑"/>
                <a:ea typeface="微软雅黑"/>
                <a:cs typeface="微软雅黑"/>
              </a:endParaRPr>
            </a:p>
          </p:txBody>
        </p:sp>
        <p:sp>
          <p:nvSpPr>
            <p:cNvPr id="87" name="文本框 86"/>
            <p:cNvSpPr txBox="1"/>
            <p:nvPr/>
          </p:nvSpPr>
          <p:spPr>
            <a:xfrm rot="17460000">
              <a:off x="5005" y="728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数据驱动为核心</a:t>
              </a:r>
              <a:endParaRPr lang="zh-CN" altLang="en-US" sz="1200">
                <a:solidFill>
                  <a:srgbClr val="383838"/>
                </a:solidFill>
                <a:latin typeface="微软雅黑"/>
                <a:ea typeface="微软雅黑"/>
                <a:cs typeface="微软雅黑"/>
              </a:endParaRPr>
            </a:p>
          </p:txBody>
        </p:sp>
        <p:sp>
          <p:nvSpPr>
            <p:cNvPr id="88" name="文本框 87"/>
            <p:cNvSpPr txBox="1"/>
            <p:nvPr/>
          </p:nvSpPr>
          <p:spPr>
            <a:xfrm rot="17460000">
              <a:off x="5349" y="7410"/>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实时可量化为核心</a:t>
              </a:r>
              <a:endParaRPr lang="zh-CN" altLang="en-US" sz="1200">
                <a:solidFill>
                  <a:srgbClr val="383838"/>
                </a:solidFill>
                <a:latin typeface="微软雅黑"/>
                <a:ea typeface="微软雅黑"/>
                <a:cs typeface="微软雅黑"/>
              </a:endParaRPr>
            </a:p>
          </p:txBody>
        </p:sp>
        <p:sp>
          <p:nvSpPr>
            <p:cNvPr id="89" name="文本框 88"/>
            <p:cNvSpPr txBox="1"/>
            <p:nvPr/>
          </p:nvSpPr>
          <p:spPr>
            <a:xfrm rot="17460000">
              <a:off x="5701" y="7557"/>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劳动力全周期管理</a:t>
              </a:r>
              <a:endParaRPr lang="zh-CN" altLang="en-US" sz="1200">
                <a:solidFill>
                  <a:srgbClr val="383838"/>
                </a:solidFill>
                <a:latin typeface="微软雅黑"/>
                <a:ea typeface="微软雅黑"/>
                <a:cs typeface="微软雅黑"/>
              </a:endParaRPr>
            </a:p>
          </p:txBody>
        </p:sp>
      </p:grpSp>
      <p:sp>
        <p:nvSpPr>
          <p:cNvPr id="91" name="文本框 90"/>
          <p:cNvSpPr txBox="1"/>
          <p:nvPr/>
        </p:nvSpPr>
        <p:spPr>
          <a:xfrm rot="21600000">
            <a:off x="5089525" y="2235835"/>
            <a:ext cx="2202815" cy="681355"/>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软件</a:t>
            </a:r>
            <a:r>
              <a:rPr lang="en-US" altLang="zh-CN" sz="1400" b="1">
                <a:solidFill>
                  <a:srgbClr val="FFFFFF"/>
                </a:solidFill>
                <a:latin typeface="微软雅黑"/>
                <a:ea typeface="微软雅黑"/>
                <a:cs typeface="微软雅黑"/>
              </a:rPr>
              <a:t>+</a:t>
            </a:r>
            <a:r>
              <a:rPr lang="zh-CN" altLang="en-US" sz="1400" b="1">
                <a:solidFill>
                  <a:srgbClr val="FFFFFF"/>
                </a:solidFill>
                <a:latin typeface="微软雅黑"/>
                <a:ea typeface="微软雅黑"/>
                <a:cs typeface="微软雅黑"/>
              </a:rPr>
              <a:t>服务全面提效方案</a:t>
            </a:r>
            <a:endParaRPr lang="zh-CN" altLang="en-US" sz="1400" b="1">
              <a:solidFill>
                <a:srgbClr val="FFFFFF"/>
              </a:solidFill>
              <a:latin typeface="微软雅黑"/>
              <a:ea typeface="微软雅黑"/>
              <a:cs typeface="微软雅黑"/>
            </a:endParaRPr>
          </a:p>
        </p:txBody>
      </p:sp>
      <p:grpSp>
        <p:nvGrpSpPr>
          <p:cNvPr id="118" name="组合 117"/>
          <p:cNvGrpSpPr/>
          <p:nvPr/>
        </p:nvGrpSpPr>
        <p:grpSpPr>
          <a:xfrm rot="7020000">
            <a:off x="6640706" y="1849782"/>
            <a:ext cx="3588385" cy="4449445"/>
            <a:chOff x="2635" y="3475"/>
            <a:chExt cx="5651" cy="7007"/>
          </a:xfrm>
        </p:grpSpPr>
        <p:grpSp>
          <p:nvGrpSpPr>
            <p:cNvPr id="101" name="组合 100"/>
            <p:cNvGrpSpPr/>
            <p:nvPr/>
          </p:nvGrpSpPr>
          <p:grpSpPr>
            <a:xfrm>
              <a:off x="2635" y="6917"/>
              <a:ext cx="2741" cy="3565"/>
              <a:chOff x="2635" y="6917"/>
              <a:chExt cx="2741" cy="3565"/>
            </a:xfrm>
          </p:grpSpPr>
          <p:sp>
            <p:nvSpPr>
              <p:cNvPr id="95" name="文本框 94"/>
              <p:cNvSpPr txBox="1"/>
              <p:nvPr/>
            </p:nvSpPr>
            <p:spPr>
              <a:xfrm rot="16620000">
                <a:off x="2077" y="7474"/>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公众平台</a:t>
                </a:r>
                <a:endParaRPr lang="zh-CN" altLang="en-US" sz="1400" b="1">
                  <a:solidFill>
                    <a:srgbClr val="383838"/>
                  </a:solidFill>
                  <a:latin typeface="微软雅黑"/>
                  <a:ea typeface="微软雅黑"/>
                  <a:cs typeface="微软雅黑"/>
                </a:endParaRPr>
              </a:p>
            </p:txBody>
          </p:sp>
          <p:sp>
            <p:nvSpPr>
              <p:cNvPr id="100" name="文本框 99"/>
              <p:cNvSpPr txBox="1"/>
              <p:nvPr/>
            </p:nvSpPr>
            <p:spPr>
              <a:xfrm rot="16500000">
                <a:off x="2464" y="7570"/>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人资在线学院</a:t>
                </a:r>
                <a:endParaRPr lang="zh-CN" altLang="en-US" sz="1200">
                  <a:solidFill>
                    <a:srgbClr val="383838"/>
                  </a:solidFill>
                  <a:latin typeface="微软雅黑"/>
                  <a:ea typeface="微软雅黑"/>
                  <a:cs typeface="微软雅黑"/>
                </a:endParaRPr>
              </a:p>
            </p:txBody>
          </p:sp>
        </p:grpSp>
        <p:grpSp>
          <p:nvGrpSpPr>
            <p:cNvPr id="102" name="组合 101"/>
            <p:cNvGrpSpPr/>
            <p:nvPr/>
          </p:nvGrpSpPr>
          <p:grpSpPr>
            <a:xfrm rot="1260000">
              <a:off x="2945" y="5186"/>
              <a:ext cx="2885" cy="3552"/>
              <a:chOff x="2452" y="6835"/>
              <a:chExt cx="2885" cy="3552"/>
            </a:xfrm>
          </p:grpSpPr>
          <p:sp>
            <p:nvSpPr>
              <p:cNvPr id="103" name="文本框 102"/>
              <p:cNvSpPr txBox="1"/>
              <p:nvPr/>
            </p:nvSpPr>
            <p:spPr>
              <a:xfrm rot="16440000">
                <a:off x="1894" y="7392"/>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主题大会</a:t>
                </a:r>
                <a:endParaRPr lang="zh-CN" altLang="en-US" sz="1400" b="1">
                  <a:solidFill>
                    <a:srgbClr val="FFFFFF"/>
                  </a:solidFill>
                  <a:latin typeface="微软雅黑"/>
                  <a:ea typeface="微软雅黑"/>
                  <a:cs typeface="微软雅黑"/>
                </a:endParaRPr>
              </a:p>
            </p:txBody>
          </p:sp>
          <p:sp>
            <p:nvSpPr>
              <p:cNvPr id="105" name="文本框 104"/>
              <p:cNvSpPr txBox="1"/>
              <p:nvPr/>
            </p:nvSpPr>
            <p:spPr>
              <a:xfrm rot="16380000">
                <a:off x="2425" y="7475"/>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劳动力管理大会</a:t>
                </a:r>
                <a:endParaRPr lang="zh-CN" altLang="en-US" sz="1200">
                  <a:solidFill>
                    <a:srgbClr val="FFFFFF"/>
                  </a:solidFill>
                  <a:latin typeface="微软雅黑"/>
                  <a:ea typeface="微软雅黑"/>
                  <a:cs typeface="微软雅黑"/>
                </a:endParaRPr>
              </a:p>
            </p:txBody>
          </p:sp>
        </p:grpSp>
        <p:grpSp>
          <p:nvGrpSpPr>
            <p:cNvPr id="109" name="组合 108"/>
            <p:cNvGrpSpPr/>
            <p:nvPr/>
          </p:nvGrpSpPr>
          <p:grpSpPr>
            <a:xfrm rot="2100000">
              <a:off x="3951" y="3649"/>
              <a:ext cx="2790" cy="3595"/>
              <a:chOff x="2475" y="6841"/>
              <a:chExt cx="2790" cy="3595"/>
            </a:xfrm>
          </p:grpSpPr>
          <p:sp>
            <p:nvSpPr>
              <p:cNvPr id="110" name="文本框 109"/>
              <p:cNvSpPr txBox="1"/>
              <p:nvPr/>
            </p:nvSpPr>
            <p:spPr>
              <a:xfrm rot="16620000">
                <a:off x="1917" y="7398"/>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高峰论坛</a:t>
                </a:r>
                <a:endParaRPr lang="zh-CN" altLang="en-US" sz="1400" b="1">
                  <a:solidFill>
                    <a:srgbClr val="383838"/>
                  </a:solidFill>
                  <a:latin typeface="微软雅黑"/>
                  <a:ea typeface="微软雅黑"/>
                  <a:cs typeface="微软雅黑"/>
                </a:endParaRPr>
              </a:p>
            </p:txBody>
          </p:sp>
          <p:sp>
            <p:nvSpPr>
              <p:cNvPr id="111" name="文本框 110"/>
              <p:cNvSpPr txBox="1"/>
              <p:nvPr/>
            </p:nvSpPr>
            <p:spPr>
              <a:xfrm rot="16560000">
                <a:off x="2353" y="7524"/>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人力资源论坛</a:t>
                </a:r>
                <a:endParaRPr lang="zh-CN" altLang="en-US" sz="1200">
                  <a:solidFill>
                    <a:srgbClr val="383838"/>
                  </a:solidFill>
                  <a:latin typeface="微软雅黑"/>
                  <a:ea typeface="微软雅黑"/>
                  <a:cs typeface="微软雅黑"/>
                </a:endParaRPr>
              </a:p>
            </p:txBody>
          </p:sp>
        </p:grpSp>
        <p:sp>
          <p:nvSpPr>
            <p:cNvPr id="116" name="文本框 115"/>
            <p:cNvSpPr txBox="1"/>
            <p:nvPr/>
          </p:nvSpPr>
          <p:spPr>
            <a:xfrm rot="19740000">
              <a:off x="4817" y="3475"/>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人效研究院</a:t>
              </a:r>
              <a:endParaRPr lang="zh-CN" altLang="en-US" sz="1200">
                <a:solidFill>
                  <a:srgbClr val="383838"/>
                </a:solidFill>
                <a:latin typeface="微软雅黑"/>
                <a:ea typeface="微软雅黑"/>
                <a:cs typeface="微软雅黑"/>
              </a:endParaRPr>
            </a:p>
          </p:txBody>
        </p:sp>
      </p:grpSp>
      <p:grpSp>
        <p:nvGrpSpPr>
          <p:cNvPr id="128" name="组合 127"/>
          <p:cNvGrpSpPr/>
          <p:nvPr/>
        </p:nvGrpSpPr>
        <p:grpSpPr>
          <a:xfrm>
            <a:off x="1804670" y="1927225"/>
            <a:ext cx="3684270" cy="4653280"/>
            <a:chOff x="2802" y="2785"/>
            <a:chExt cx="5802" cy="7328"/>
          </a:xfrm>
        </p:grpSpPr>
        <p:grpSp>
          <p:nvGrpSpPr>
            <p:cNvPr id="129" name="组合 128"/>
            <p:cNvGrpSpPr/>
            <p:nvPr/>
          </p:nvGrpSpPr>
          <p:grpSpPr>
            <a:xfrm>
              <a:off x="2802" y="6514"/>
              <a:ext cx="2721" cy="3599"/>
              <a:chOff x="2802" y="6514"/>
              <a:chExt cx="2721" cy="3599"/>
            </a:xfrm>
          </p:grpSpPr>
          <p:sp>
            <p:nvSpPr>
              <p:cNvPr id="130" name="文本框 129"/>
              <p:cNvSpPr txBox="1"/>
              <p:nvPr/>
            </p:nvSpPr>
            <p:spPr>
              <a:xfrm rot="16620000">
                <a:off x="2244" y="7071"/>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latin typeface="微软雅黑"/>
                    <a:ea typeface="微软雅黑"/>
                    <a:cs typeface="微软雅黑"/>
                  </a:defRPr>
                </a:pPr>
                <a:r>
                  <a:rPr lang="zh-CN" altLang="en-US" sz="1400" b="1">
                    <a:solidFill>
                      <a:srgbClr val="0042FF"/>
                    </a:solidFill>
                    <a:latin typeface="微软雅黑"/>
                    <a:ea typeface="微软雅黑"/>
                    <a:cs typeface="微软雅黑"/>
                  </a:rPr>
                  <a:t>战略</a:t>
                </a:r>
                <a:endParaRPr lang="zh-CN" altLang="en-US" sz="1400" b="1">
                  <a:solidFill>
                    <a:srgbClr val="0042FF"/>
                  </a:solidFill>
                  <a:latin typeface="微软雅黑"/>
                  <a:ea typeface="微软雅黑"/>
                  <a:cs typeface="微软雅黑"/>
                </a:endParaRPr>
              </a:p>
            </p:txBody>
          </p:sp>
          <p:sp>
            <p:nvSpPr>
              <p:cNvPr id="131" name="文本框 130"/>
              <p:cNvSpPr txBox="1"/>
              <p:nvPr/>
            </p:nvSpPr>
            <p:spPr>
              <a:xfrm rot="16740000">
                <a:off x="2611" y="7201"/>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战略聚焦</a:t>
                </a:r>
                <a:endParaRPr lang="zh-CN" altLang="en-US" sz="1200">
                  <a:solidFill>
                    <a:srgbClr val="FFFFFF"/>
                  </a:solidFill>
                  <a:latin typeface="微软雅黑"/>
                  <a:ea typeface="微软雅黑"/>
                  <a:cs typeface="微软雅黑"/>
                </a:endParaRPr>
              </a:p>
            </p:txBody>
          </p:sp>
        </p:grpSp>
        <p:grpSp>
          <p:nvGrpSpPr>
            <p:cNvPr id="132" name="组合 131"/>
            <p:cNvGrpSpPr/>
            <p:nvPr/>
          </p:nvGrpSpPr>
          <p:grpSpPr>
            <a:xfrm rot="1260000">
              <a:off x="3268" y="4989"/>
              <a:ext cx="2764" cy="3503"/>
              <a:chOff x="2678" y="6558"/>
              <a:chExt cx="2764" cy="3503"/>
            </a:xfrm>
          </p:grpSpPr>
          <p:sp>
            <p:nvSpPr>
              <p:cNvPr id="133" name="文本框 132"/>
              <p:cNvSpPr txBox="1"/>
              <p:nvPr/>
            </p:nvSpPr>
            <p:spPr>
              <a:xfrm rot="16620000">
                <a:off x="2120" y="7149"/>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组织</a:t>
                </a:r>
                <a:endParaRPr lang="zh-CN" altLang="en-US" sz="1400" b="1">
                  <a:solidFill>
                    <a:srgbClr val="383838"/>
                  </a:solidFill>
                  <a:latin typeface="微软雅黑"/>
                  <a:ea typeface="微软雅黑"/>
                  <a:cs typeface="微软雅黑"/>
                </a:endParaRPr>
              </a:p>
            </p:txBody>
          </p:sp>
          <p:sp>
            <p:nvSpPr>
              <p:cNvPr id="134" name="文本框 133"/>
              <p:cNvSpPr txBox="1"/>
              <p:nvPr/>
            </p:nvSpPr>
            <p:spPr>
              <a:xfrm rot="16500000">
                <a:off x="2530" y="7115"/>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流程驱动</a:t>
                </a:r>
                <a:endParaRPr lang="zh-CN" altLang="en-US" sz="1200">
                  <a:solidFill>
                    <a:srgbClr val="383838"/>
                  </a:solidFill>
                  <a:latin typeface="微软雅黑"/>
                  <a:ea typeface="微软雅黑"/>
                  <a:cs typeface="微软雅黑"/>
                </a:endParaRPr>
              </a:p>
            </p:txBody>
          </p:sp>
        </p:grpSp>
        <p:grpSp>
          <p:nvGrpSpPr>
            <p:cNvPr id="135" name="组合 134"/>
            <p:cNvGrpSpPr/>
            <p:nvPr/>
          </p:nvGrpSpPr>
          <p:grpSpPr>
            <a:xfrm rot="2100000">
              <a:off x="4161" y="3504"/>
              <a:ext cx="2776" cy="3504"/>
              <a:chOff x="2539" y="6614"/>
              <a:chExt cx="2776" cy="3504"/>
            </a:xfrm>
          </p:grpSpPr>
          <p:sp>
            <p:nvSpPr>
              <p:cNvPr id="136" name="文本框 135"/>
              <p:cNvSpPr txBox="1"/>
              <p:nvPr/>
            </p:nvSpPr>
            <p:spPr>
              <a:xfrm rot="16620000">
                <a:off x="1981" y="7171"/>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人才</a:t>
                </a:r>
                <a:endParaRPr lang="zh-CN" altLang="en-US" sz="1400" b="1">
                  <a:solidFill>
                    <a:srgbClr val="383838"/>
                  </a:solidFill>
                  <a:latin typeface="微软雅黑"/>
                  <a:ea typeface="微软雅黑"/>
                  <a:cs typeface="微软雅黑"/>
                </a:endParaRPr>
              </a:p>
            </p:txBody>
          </p:sp>
          <p:sp>
            <p:nvSpPr>
              <p:cNvPr id="137" name="文本框 136"/>
              <p:cNvSpPr txBox="1"/>
              <p:nvPr/>
            </p:nvSpPr>
            <p:spPr>
              <a:xfrm rot="16560000">
                <a:off x="2403" y="7206"/>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激活人才</a:t>
                </a:r>
                <a:endParaRPr lang="zh-CN" altLang="en-US" sz="1200">
                  <a:solidFill>
                    <a:srgbClr val="383838"/>
                  </a:solidFill>
                  <a:latin typeface="微软雅黑"/>
                  <a:ea typeface="微软雅黑"/>
                  <a:cs typeface="微软雅黑"/>
                </a:endParaRPr>
              </a:p>
            </p:txBody>
          </p:sp>
        </p:grpSp>
        <p:grpSp>
          <p:nvGrpSpPr>
            <p:cNvPr id="138" name="组合 137"/>
            <p:cNvGrpSpPr/>
            <p:nvPr/>
          </p:nvGrpSpPr>
          <p:grpSpPr>
            <a:xfrm rot="3300000">
              <a:off x="5465" y="2450"/>
              <a:ext cx="2804" cy="3474"/>
              <a:chOff x="2455" y="6477"/>
              <a:chExt cx="2804" cy="3474"/>
            </a:xfrm>
          </p:grpSpPr>
          <p:sp>
            <p:nvSpPr>
              <p:cNvPr id="139" name="文本框 138"/>
              <p:cNvSpPr txBox="1"/>
              <p:nvPr/>
            </p:nvSpPr>
            <p:spPr>
              <a:xfrm rot="16620000">
                <a:off x="1897" y="7039"/>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人效</a:t>
                </a:r>
                <a:endParaRPr lang="zh-CN" altLang="en-US" sz="1400" b="1">
                  <a:solidFill>
                    <a:srgbClr val="383838"/>
                  </a:solidFill>
                  <a:latin typeface="微软雅黑"/>
                  <a:ea typeface="微软雅黑"/>
                  <a:cs typeface="微软雅黑"/>
                </a:endParaRPr>
              </a:p>
            </p:txBody>
          </p:sp>
          <p:sp>
            <p:nvSpPr>
              <p:cNvPr id="140" name="文本框 139"/>
              <p:cNvSpPr txBox="1"/>
              <p:nvPr/>
            </p:nvSpPr>
            <p:spPr>
              <a:xfrm rot="16440000">
                <a:off x="2347" y="7034"/>
                <a:ext cx="3469" cy="2354"/>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solidFill>
                      <a:srgbClr val="383838"/>
                    </a:solidFill>
                    <a:latin typeface="微软雅黑"/>
                    <a:ea typeface="微软雅黑"/>
                    <a:cs typeface="微软雅黑"/>
                  </a:defRPr>
                </a:pPr>
                <a:r>
                  <a:rPr lang="zh-CN" altLang="en-US" sz="1200">
                    <a:solidFill>
                      <a:srgbClr val="383838"/>
                    </a:solidFill>
                    <a:latin typeface="微软雅黑"/>
                    <a:ea typeface="微软雅黑"/>
                    <a:cs typeface="微软雅黑"/>
                  </a:rPr>
                  <a:t>精益人效</a:t>
                </a:r>
                <a:endParaRPr lang="zh-CN" altLang="en-US" sz="1200">
                  <a:solidFill>
                    <a:srgbClr val="383838"/>
                  </a:solidFill>
                  <a:latin typeface="微软雅黑"/>
                  <a:ea typeface="微软雅黑"/>
                  <a:cs typeface="微软雅黑"/>
                </a:endParaRPr>
              </a:p>
            </p:txBody>
          </p:sp>
        </p:grpSp>
      </p:grpSp>
      <p:sp>
        <p:nvSpPr>
          <p:cNvPr id="157" name="文本框 156"/>
          <p:cNvSpPr txBox="1"/>
          <p:nvPr/>
        </p:nvSpPr>
        <p:spPr>
          <a:xfrm rot="26940000">
            <a:off x="8646736" y="4562304"/>
            <a:ext cx="2202815" cy="1494790"/>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latin typeface="微软雅黑"/>
                <a:ea typeface="微软雅黑"/>
                <a:cs typeface="微软雅黑"/>
              </a:defRPr>
            </a:pPr>
            <a:r>
              <a:rPr lang="zh-CN" altLang="en-US" sz="1400" b="1">
                <a:solidFill>
                  <a:srgbClr val="0042FF"/>
                </a:solidFill>
                <a:latin typeface="微软雅黑"/>
                <a:ea typeface="微软雅黑"/>
                <a:cs typeface="微软雅黑"/>
              </a:rPr>
              <a:t>研究机构</a:t>
            </a:r>
            <a:endParaRPr lang="zh-CN" altLang="en-US" sz="1400" b="1">
              <a:solidFill>
                <a:srgbClr val="0042FF"/>
              </a:solidFill>
              <a:latin typeface="微软雅黑"/>
              <a:ea typeface="微软雅黑"/>
              <a:cs typeface="微软雅黑"/>
            </a:endParaRPr>
          </a:p>
        </p:txBody>
      </p:sp>
      <p:sp>
        <p:nvSpPr>
          <p:cNvPr id="161" name="猫爪PPT-44"/>
          <p:cNvSpPr/>
          <p:nvPr/>
        </p:nvSpPr>
        <p:spPr>
          <a:xfrm rot="8423277" flipH="1">
            <a:off x="9672955" y="2632710"/>
            <a:ext cx="182880" cy="146050"/>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62" name="猫爪PPT-45"/>
          <p:cNvSpPr/>
          <p:nvPr/>
        </p:nvSpPr>
        <p:spPr>
          <a:xfrm rot="9994677" flipH="1">
            <a:off x="10872470" y="5139690"/>
            <a:ext cx="169545" cy="157480"/>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64" name="猫爪PPT-39"/>
          <p:cNvSpPr/>
          <p:nvPr/>
        </p:nvSpPr>
        <p:spPr>
          <a:xfrm rot="2662887" flipH="1">
            <a:off x="2567305" y="2526030"/>
            <a:ext cx="182880" cy="146050"/>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65" name="猫爪PPT-40"/>
          <p:cNvSpPr/>
          <p:nvPr/>
        </p:nvSpPr>
        <p:spPr>
          <a:xfrm rot="625972" flipH="1">
            <a:off x="1281430" y="5167630"/>
            <a:ext cx="169545" cy="157480"/>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1200" cap="none" spc="0" normalizeH="0" baseline="0" noProof="0">
              <a:ln>
                <a:noFill/>
              </a:ln>
              <a:solidFill>
                <a:srgbClr val="FFFFFF"/>
              </a:solidFill>
              <a:effectLst/>
              <a:uLnTx/>
              <a:uFillTx/>
              <a:latin typeface="微软雅黑"/>
              <a:cs typeface="微软雅黑"/>
              <a:ea typeface="微软雅黑"/>
            </a:endParaRPr>
          </a:p>
        </p:txBody>
      </p:sp>
      <p:cxnSp>
        <p:nvCxnSpPr>
          <p:cNvPr id="167" name="猫爪PPT-34"/>
          <p:cNvCxnSpPr/>
          <p:nvPr/>
        </p:nvCxnSpPr>
        <p:spPr>
          <a:xfrm flipH="1" flipV="1">
            <a:off x="3204845" y="2148205"/>
            <a:ext cx="532765" cy="652780"/>
          </a:xfrm>
          <a:prstGeom prst="line">
            <a:avLst/>
          </a:prstGeom>
          <a:ln w="22225">
            <a:solidFill>
              <a:srgbClr val="0042FF"/>
            </a:solidFill>
            <a:prstDash val="dash"/>
            <a:tailEnd type="none"/>
          </a:ln>
        </p:spPr>
        <p:style>
          <a:lnRef idx="1">
            <a:srgbClr val="0042FF"/>
          </a:lnRef>
          <a:fillRef idx="0">
            <a:srgbClr val="0042FF"/>
          </a:fillRef>
          <a:effectRef idx="0">
            <a:srgbClr val="0042FF"/>
          </a:effectRef>
          <a:fontRef idx="minor">
            <a:srgbClr val="383838"/>
          </a:fontRef>
        </p:style>
      </p:cxnSp>
      <p:sp>
        <p:nvSpPr>
          <p:cNvPr id="168" name="猫爪PPT-43"/>
          <p:cNvSpPr>
            <a:spLocks noChangeAspect="1"/>
          </p:cNvSpPr>
          <p:nvPr/>
        </p:nvSpPr>
        <p:spPr>
          <a:xfrm>
            <a:off x="3134995" y="2045335"/>
            <a:ext cx="127635" cy="138430"/>
          </a:xfrm>
          <a:prstGeom prst="flowChartConnector">
            <a:avLst/>
          </a:prstGeom>
          <a:solidFill>
            <a:srgbClr val="FFFFFF"/>
          </a:solidFill>
          <a:ln w="15240">
            <a:solidFill>
              <a:srgbClr val="0042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169" name="猫爪PPT-33"/>
          <p:cNvCxnSpPr/>
          <p:nvPr/>
        </p:nvCxnSpPr>
        <p:spPr>
          <a:xfrm flipH="1" flipV="1">
            <a:off x="2261235" y="3165475"/>
            <a:ext cx="668020" cy="471805"/>
          </a:xfrm>
          <a:prstGeom prst="line">
            <a:avLst/>
          </a:prstGeom>
          <a:ln w="22225">
            <a:solidFill>
              <a:srgbClr val="0042FF"/>
            </a:solidFill>
            <a:prstDash val="dash"/>
            <a:tailEnd type="none"/>
          </a:ln>
        </p:spPr>
        <p:style>
          <a:lnRef idx="1">
            <a:srgbClr val="0042FF"/>
          </a:lnRef>
          <a:fillRef idx="0">
            <a:srgbClr val="0042FF"/>
          </a:fillRef>
          <a:effectRef idx="0">
            <a:srgbClr val="0042FF"/>
          </a:effectRef>
          <a:fontRef idx="minor">
            <a:srgbClr val="383838"/>
          </a:fontRef>
        </p:style>
      </p:cxnSp>
      <p:sp>
        <p:nvSpPr>
          <p:cNvPr id="170" name="猫爪PPT-43"/>
          <p:cNvSpPr>
            <a:spLocks noChangeAspect="1"/>
          </p:cNvSpPr>
          <p:nvPr/>
        </p:nvSpPr>
        <p:spPr>
          <a:xfrm>
            <a:off x="2153285" y="3078480"/>
            <a:ext cx="127635" cy="138430"/>
          </a:xfrm>
          <a:prstGeom prst="flowChartConnector">
            <a:avLst/>
          </a:prstGeom>
          <a:solidFill>
            <a:srgbClr val="FFFFFF"/>
          </a:solidFill>
          <a:ln w="15240">
            <a:solidFill>
              <a:srgbClr val="0042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71" name="猫爪PPT-43"/>
          <p:cNvSpPr>
            <a:spLocks noChangeAspect="1"/>
          </p:cNvSpPr>
          <p:nvPr/>
        </p:nvSpPr>
        <p:spPr>
          <a:xfrm>
            <a:off x="1440180" y="4493895"/>
            <a:ext cx="127635" cy="138430"/>
          </a:xfrm>
          <a:prstGeom prst="flowChartConnector">
            <a:avLst/>
          </a:prstGeom>
          <a:solidFill>
            <a:srgbClr val="FFFFFF"/>
          </a:solidFill>
          <a:ln w="15240">
            <a:solidFill>
              <a:srgbClr val="0042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172" name="猫爪PPT-33"/>
          <p:cNvCxnSpPr/>
          <p:nvPr/>
        </p:nvCxnSpPr>
        <p:spPr>
          <a:xfrm flipH="1" flipV="1">
            <a:off x="1567815" y="4591685"/>
            <a:ext cx="819150" cy="282575"/>
          </a:xfrm>
          <a:prstGeom prst="line">
            <a:avLst/>
          </a:prstGeom>
          <a:ln w="22225">
            <a:solidFill>
              <a:srgbClr val="0042FF"/>
            </a:solidFill>
            <a:prstDash val="dash"/>
            <a:tailEnd type="none"/>
          </a:ln>
        </p:spPr>
        <p:style>
          <a:lnRef idx="1">
            <a:srgbClr val="0042FF"/>
          </a:lnRef>
          <a:fillRef idx="0">
            <a:srgbClr val="0042FF"/>
          </a:fillRef>
          <a:effectRef idx="0">
            <a:srgbClr val="0042FF"/>
          </a:effectRef>
          <a:fontRef idx="minor">
            <a:srgbClr val="383838"/>
          </a:fontRef>
        </p:style>
      </p:cxnSp>
      <p:cxnSp>
        <p:nvCxnSpPr>
          <p:cNvPr id="174" name="猫爪PPT-37"/>
          <p:cNvCxnSpPr>
            <a:stCxn id="173" idx="3"/>
          </p:cNvCxnSpPr>
          <p:nvPr/>
        </p:nvCxnSpPr>
        <p:spPr>
          <a:xfrm flipH="1">
            <a:off x="8639810" y="2166620"/>
            <a:ext cx="507365" cy="615950"/>
          </a:xfrm>
          <a:prstGeom prst="line">
            <a:avLst/>
          </a:prstGeom>
          <a:ln w="22225">
            <a:solidFill>
              <a:srgbClr val="0042FF"/>
            </a:solidFill>
            <a:prstDash val="dash"/>
            <a:headEnd type="none"/>
            <a:tailEnd type="none"/>
          </a:ln>
        </p:spPr>
        <p:style>
          <a:lnRef idx="1">
            <a:srgbClr val="0042FF"/>
          </a:lnRef>
          <a:fillRef idx="0">
            <a:srgbClr val="0042FF"/>
          </a:fillRef>
          <a:effectRef idx="0">
            <a:srgbClr val="0042FF"/>
          </a:effectRef>
          <a:fontRef idx="minor">
            <a:srgbClr val="383838"/>
          </a:fontRef>
        </p:style>
      </p:cxnSp>
      <p:cxnSp>
        <p:nvCxnSpPr>
          <p:cNvPr id="175" name="猫爪PPT-37"/>
          <p:cNvCxnSpPr/>
          <p:nvPr/>
        </p:nvCxnSpPr>
        <p:spPr>
          <a:xfrm flipH="1">
            <a:off x="9459595" y="3216910"/>
            <a:ext cx="710565" cy="469265"/>
          </a:xfrm>
          <a:prstGeom prst="line">
            <a:avLst/>
          </a:prstGeom>
          <a:ln w="22225">
            <a:solidFill>
              <a:srgbClr val="0042FF"/>
            </a:solidFill>
            <a:prstDash val="dash"/>
            <a:headEnd type="none"/>
            <a:tailEnd type="none"/>
          </a:ln>
        </p:spPr>
        <p:style>
          <a:lnRef idx="1">
            <a:srgbClr val="0042FF"/>
          </a:lnRef>
          <a:fillRef idx="0">
            <a:srgbClr val="0042FF"/>
          </a:fillRef>
          <a:effectRef idx="0">
            <a:srgbClr val="0042FF"/>
          </a:effectRef>
          <a:fontRef idx="minor">
            <a:srgbClr val="383838"/>
          </a:fontRef>
        </p:style>
      </p:cxnSp>
      <p:sp>
        <p:nvSpPr>
          <p:cNvPr id="176" name="猫爪PPT-43"/>
          <p:cNvSpPr>
            <a:spLocks noChangeAspect="1"/>
          </p:cNvSpPr>
          <p:nvPr/>
        </p:nvSpPr>
        <p:spPr>
          <a:xfrm>
            <a:off x="10110470" y="3149600"/>
            <a:ext cx="127635" cy="138430"/>
          </a:xfrm>
          <a:prstGeom prst="flowChartConnector">
            <a:avLst/>
          </a:prstGeom>
          <a:solidFill>
            <a:srgbClr val="FFFFFF"/>
          </a:solidFill>
          <a:ln w="15240">
            <a:solidFill>
              <a:srgbClr val="0042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177" name="猫爪PPT-38"/>
          <p:cNvCxnSpPr/>
          <p:nvPr/>
        </p:nvCxnSpPr>
        <p:spPr>
          <a:xfrm flipH="1">
            <a:off x="9977120" y="4610100"/>
            <a:ext cx="809625" cy="212725"/>
          </a:xfrm>
          <a:prstGeom prst="line">
            <a:avLst/>
          </a:prstGeom>
          <a:ln w="22225">
            <a:solidFill>
              <a:srgbClr val="0042FF"/>
            </a:solidFill>
            <a:prstDash val="dash"/>
            <a:headEnd type="none"/>
            <a:tailEnd type="none"/>
          </a:ln>
        </p:spPr>
        <p:style>
          <a:lnRef idx="1">
            <a:srgbClr val="0042FF"/>
          </a:lnRef>
          <a:fillRef idx="0">
            <a:srgbClr val="0042FF"/>
          </a:fillRef>
          <a:effectRef idx="0">
            <a:srgbClr val="0042FF"/>
          </a:effectRef>
          <a:fontRef idx="minor">
            <a:srgbClr val="383838"/>
          </a:fontRef>
        </p:style>
      </p:cxnSp>
      <p:sp>
        <p:nvSpPr>
          <p:cNvPr id="178" name="猫爪PPT-43"/>
          <p:cNvSpPr>
            <a:spLocks noChangeAspect="1"/>
          </p:cNvSpPr>
          <p:nvPr/>
        </p:nvSpPr>
        <p:spPr>
          <a:xfrm>
            <a:off x="10768330" y="4522470"/>
            <a:ext cx="127635" cy="138430"/>
          </a:xfrm>
          <a:prstGeom prst="flowChartConnector">
            <a:avLst/>
          </a:prstGeom>
          <a:solidFill>
            <a:srgbClr val="FFFFFF"/>
          </a:solidFill>
          <a:ln w="15240">
            <a:solidFill>
              <a:srgbClr val="0042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6" name="空心弧 5"/>
          <p:cNvSpPr/>
          <p:nvPr/>
        </p:nvSpPr>
        <p:spPr>
          <a:xfrm>
            <a:off x="1300480" y="1089660"/>
            <a:ext cx="9693275" cy="9735820"/>
          </a:xfrm>
          <a:prstGeom prst="blockArc">
            <a:avLst>
              <a:gd name="adj1" fmla="val 15035096"/>
              <a:gd name="adj2" fmla="val 17295059"/>
              <a:gd name="adj3" fmla="val 8547"/>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6" name="空心弧 15"/>
          <p:cNvSpPr/>
          <p:nvPr/>
        </p:nvSpPr>
        <p:spPr>
          <a:xfrm>
            <a:off x="1300480" y="1089660"/>
            <a:ext cx="9693275" cy="9735820"/>
          </a:xfrm>
          <a:prstGeom prst="blockArc">
            <a:avLst>
              <a:gd name="adj1" fmla="val 15035096"/>
              <a:gd name="adj2" fmla="val 17314762"/>
              <a:gd name="adj3" fmla="val 8660"/>
            </a:avLst>
          </a:prstGeom>
          <a:solidFill>
            <a:srgbClr val="FFFFFF">
              <a:alpha val="50000"/>
            </a:srgbClr>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7" name="文本框 16"/>
          <p:cNvSpPr txBox="1"/>
          <p:nvPr/>
        </p:nvSpPr>
        <p:spPr>
          <a:xfrm rot="21600000">
            <a:off x="5049520" y="1633220"/>
            <a:ext cx="2202815" cy="681355"/>
          </a:xfrm>
          <a:prstGeom prst="rect">
            <a:avLst/>
          </a:prstGeom>
          <a:noFill/>
        </p:spPr>
        <p:txBody>
          <a:bodyPr wrap="square" rtlCol="0">
            <a:prstTxWarp prst="textArchUp">
              <a:avLst>
                <a:gd name="adj" fmla="val 10148498"/>
              </a:avLst>
            </a:prstTxWarp>
            <a:noAutofit/>
          </a:bodyPr>
          <a:p>
            <a:pPr indent="0" algn="ctr" fontAlgn="auto">
              <a:lnSpc>
                <a:spcPct val="200000"/>
              </a:lnSpc>
              <a:spcBef>
                <a:spcPts val="0"/>
              </a:spcBef>
              <a:spcAft>
                <a:spcPts val="0"/>
              </a:spcAft>
              <a:defRPr>
                <a:latin typeface="微软雅黑"/>
                <a:ea typeface="微软雅黑"/>
                <a:cs typeface="微软雅黑"/>
              </a:defRPr>
            </a:pPr>
            <a:r>
              <a:rPr lang="zh-CN" sz="2000" b="1">
                <a:solidFill>
                  <a:srgbClr val="0042FF"/>
                </a:solidFill>
                <a:latin typeface="微软雅黑"/>
                <a:ea typeface="微软雅黑"/>
                <a:cs typeface="微软雅黑"/>
              </a:rPr>
              <a:t>人效理念矩阵</a:t>
            </a:r>
            <a:endParaRPr lang="zh-CN" sz="2000" b="1">
              <a:solidFill>
                <a:srgbClr val="0042FF"/>
              </a:solidFill>
              <a:latin typeface="微软雅黑"/>
              <a:ea typeface="微软雅黑"/>
              <a:cs typeface="微软雅黑"/>
            </a:endParaRPr>
          </a:p>
        </p:txBody>
      </p:sp>
      <p:cxnSp>
        <p:nvCxnSpPr>
          <p:cNvPr id="18" name="猫爪PPT-35"/>
          <p:cNvCxnSpPr/>
          <p:nvPr/>
        </p:nvCxnSpPr>
        <p:spPr>
          <a:xfrm flipH="1" flipV="1">
            <a:off x="4511040" y="1377950"/>
            <a:ext cx="466725" cy="1166495"/>
          </a:xfrm>
          <a:prstGeom prst="line">
            <a:avLst/>
          </a:prstGeom>
          <a:ln w="22225">
            <a:solidFill>
              <a:srgbClr val="3368FF"/>
            </a:solidFill>
            <a:prstDash val="dash"/>
            <a:tailEnd type="none"/>
          </a:ln>
        </p:spPr>
        <p:style>
          <a:lnRef idx="1">
            <a:srgbClr val="0042FF"/>
          </a:lnRef>
          <a:fillRef idx="0">
            <a:srgbClr val="0042FF"/>
          </a:fillRef>
          <a:effectRef idx="0">
            <a:srgbClr val="0042FF"/>
          </a:effectRef>
          <a:fontRef idx="minor">
            <a:srgbClr val="383838"/>
          </a:fontRef>
        </p:style>
      </p:cxnSp>
      <p:sp>
        <p:nvSpPr>
          <p:cNvPr id="19" name="猫爪PPT-43"/>
          <p:cNvSpPr>
            <a:spLocks noChangeAspect="1"/>
          </p:cNvSpPr>
          <p:nvPr/>
        </p:nvSpPr>
        <p:spPr>
          <a:xfrm>
            <a:off x="4461510" y="1310640"/>
            <a:ext cx="127635" cy="138430"/>
          </a:xfrm>
          <a:prstGeom prst="flowChartConnector">
            <a:avLst/>
          </a:prstGeom>
          <a:solidFill>
            <a:srgbClr val="FFFFFF"/>
          </a:solidFill>
          <a:ln w="15240">
            <a:solidFill>
              <a:srgbClr val="3368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25" name="猫爪PPT-39"/>
          <p:cNvSpPr/>
          <p:nvPr/>
        </p:nvSpPr>
        <p:spPr>
          <a:xfrm rot="19522886" flipH="1">
            <a:off x="6029325" y="1003300"/>
            <a:ext cx="182880" cy="146050"/>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1200" cap="none" spc="0" normalizeH="0" baseline="0" noProof="0">
              <a:ln>
                <a:noFill/>
              </a:ln>
              <a:solidFill>
                <a:srgbClr val="FFFFFF"/>
              </a:solidFill>
              <a:effectLst/>
              <a:uLnTx/>
              <a:uFillTx/>
              <a:latin typeface="微软雅黑"/>
              <a:cs typeface="微软雅黑"/>
              <a:ea typeface="微软雅黑"/>
            </a:endParaRPr>
          </a:p>
        </p:txBody>
      </p:sp>
      <p:cxnSp>
        <p:nvCxnSpPr>
          <p:cNvPr id="26" name="猫爪PPT-36"/>
          <p:cNvCxnSpPr/>
          <p:nvPr/>
        </p:nvCxnSpPr>
        <p:spPr>
          <a:xfrm flipV="1">
            <a:off x="7317105" y="1352550"/>
            <a:ext cx="377825" cy="1181100"/>
          </a:xfrm>
          <a:prstGeom prst="line">
            <a:avLst/>
          </a:prstGeom>
          <a:ln w="22225">
            <a:solidFill>
              <a:srgbClr val="3368FF"/>
            </a:solidFill>
            <a:prstDash val="dash"/>
            <a:headEnd type="none"/>
            <a:tailEnd type="none"/>
          </a:ln>
        </p:spPr>
        <p:style>
          <a:lnRef idx="1">
            <a:srgbClr val="0042FF"/>
          </a:lnRef>
          <a:fillRef idx="0">
            <a:srgbClr val="0042FF"/>
          </a:fillRef>
          <a:effectRef idx="0">
            <a:srgbClr val="0042FF"/>
          </a:effectRef>
          <a:fontRef idx="minor">
            <a:srgbClr val="383838"/>
          </a:fontRef>
        </p:style>
      </p:cxnSp>
      <p:sp>
        <p:nvSpPr>
          <p:cNvPr id="27" name="猫爪PPT-43"/>
          <p:cNvSpPr>
            <a:spLocks noChangeAspect="1"/>
          </p:cNvSpPr>
          <p:nvPr/>
        </p:nvSpPr>
        <p:spPr>
          <a:xfrm>
            <a:off x="7629525" y="1285240"/>
            <a:ext cx="127635" cy="138430"/>
          </a:xfrm>
          <a:prstGeom prst="flowChartConnector">
            <a:avLst/>
          </a:prstGeom>
          <a:solidFill>
            <a:srgbClr val="FFFFFF"/>
          </a:solidFill>
          <a:ln w="15240">
            <a:solidFill>
              <a:srgbClr val="3368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31" name="椭圆 30"/>
          <p:cNvSpPr/>
          <p:nvPr/>
        </p:nvSpPr>
        <p:spPr>
          <a:xfrm>
            <a:off x="2479040" y="2186940"/>
            <a:ext cx="7453630" cy="7453630"/>
          </a:xfrm>
          <a:prstGeom prst="ellipse">
            <a:avLst/>
          </a:prstGeom>
          <a:noFill/>
          <a:ln>
            <a:gradFill>
              <a:gsLst>
                <a:gs pos="3000">
                  <a:srgbClr val="383838">
                    <a:alpha val="0"/>
                  </a:srgbClr>
                </a:gs>
                <a:gs pos="6000">
                  <a:srgbClr val="383838">
                    <a:alpha val="80000"/>
                  </a:srgbClr>
                </a:gs>
                <a:gs pos="37000">
                  <a:srgbClr val="383838">
                    <a:alpha val="100000"/>
                  </a:srgbClr>
                </a:gs>
                <a:gs pos="50000">
                  <a:srgbClr val="383838">
                    <a:alpha val="0"/>
                  </a:srgbClr>
                </a:gs>
              </a:gsLst>
              <a:lin ang="5400000" scaled="1"/>
            </a:gradFill>
            <a:prstDash val="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2" name="猫爪PPT-39"/>
          <p:cNvSpPr/>
          <p:nvPr/>
        </p:nvSpPr>
        <p:spPr>
          <a:xfrm rot="4162886" flipH="1">
            <a:off x="4762500" y="2411095"/>
            <a:ext cx="110490" cy="88265"/>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cs typeface="微软雅黑"/>
              <a:ea typeface="微软雅黑"/>
            </a:endParaRPr>
          </a:p>
        </p:txBody>
      </p:sp>
      <p:sp>
        <p:nvSpPr>
          <p:cNvPr id="33" name="猫爪PPT-39"/>
          <p:cNvSpPr/>
          <p:nvPr/>
        </p:nvSpPr>
        <p:spPr>
          <a:xfrm rot="3442884" flipH="1">
            <a:off x="2439035" y="5640705"/>
            <a:ext cx="110490" cy="88265"/>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cs typeface="微软雅黑"/>
              <a:ea typeface="微软雅黑"/>
            </a:endParaRPr>
          </a:p>
        </p:txBody>
      </p:sp>
      <p:sp>
        <p:nvSpPr>
          <p:cNvPr id="35" name="矩形 34"/>
          <p:cNvSpPr/>
          <p:nvPr/>
        </p:nvSpPr>
        <p:spPr>
          <a:xfrm rot="18180000">
            <a:off x="2704465" y="3770630"/>
            <a:ext cx="748030" cy="238125"/>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alpha val="80000"/>
                  </a:srgbClr>
                </a:solidFill>
                <a:latin typeface="微软雅黑"/>
                <a:ea typeface="微软雅黑"/>
                <a:cs typeface="微软雅黑"/>
              </a:rPr>
              <a:t>课程</a:t>
            </a:r>
            <a:endParaRPr lang="zh-CN" altLang="en-US" sz="1400">
              <a:solidFill>
                <a:srgbClr val="383838">
                  <a:alpha val="80000"/>
                </a:srgbClr>
              </a:solidFill>
              <a:latin typeface="微软雅黑"/>
              <a:ea typeface="微软雅黑"/>
              <a:cs typeface="微软雅黑"/>
            </a:endParaRPr>
          </a:p>
        </p:txBody>
      </p:sp>
      <p:sp>
        <p:nvSpPr>
          <p:cNvPr id="36" name="猫爪PPT-39"/>
          <p:cNvSpPr/>
          <p:nvPr/>
        </p:nvSpPr>
        <p:spPr>
          <a:xfrm rot="3442884" flipH="1">
            <a:off x="9881235" y="5610860"/>
            <a:ext cx="110490" cy="88265"/>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cs typeface="微软雅黑"/>
              <a:ea typeface="微软雅黑"/>
            </a:endParaRPr>
          </a:p>
        </p:txBody>
      </p:sp>
      <p:sp>
        <p:nvSpPr>
          <p:cNvPr id="37" name="猫爪PPT-39"/>
          <p:cNvSpPr/>
          <p:nvPr/>
        </p:nvSpPr>
        <p:spPr>
          <a:xfrm rot="3442884" flipH="1">
            <a:off x="7479665" y="2368550"/>
            <a:ext cx="110490" cy="88265"/>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cs typeface="微软雅黑"/>
              <a:ea typeface="微软雅黑"/>
            </a:endParaRPr>
          </a:p>
        </p:txBody>
      </p:sp>
      <p:sp>
        <p:nvSpPr>
          <p:cNvPr id="38" name="矩形 37"/>
          <p:cNvSpPr/>
          <p:nvPr/>
        </p:nvSpPr>
        <p:spPr>
          <a:xfrm rot="3120000">
            <a:off x="8750300" y="3505835"/>
            <a:ext cx="748030" cy="238125"/>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alpha val="80000"/>
                  </a:srgbClr>
                </a:solidFill>
                <a:latin typeface="微软雅黑"/>
                <a:ea typeface="微软雅黑"/>
                <a:cs typeface="微软雅黑"/>
              </a:rPr>
              <a:t>赋能</a:t>
            </a:r>
            <a:endParaRPr lang="zh-CN" altLang="en-US" sz="1400">
              <a:solidFill>
                <a:srgbClr val="383838">
                  <a:alpha val="80000"/>
                </a:srgbClr>
              </a:solidFill>
              <a:latin typeface="微软雅黑"/>
              <a:ea typeface="微软雅黑"/>
              <a:cs typeface="微软雅黑"/>
            </a:endParaRPr>
          </a:p>
        </p:txBody>
      </p:sp>
      <p:sp>
        <p:nvSpPr>
          <p:cNvPr id="8"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中心发散架构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精益人效管理全景图</a:t>
            </a:r>
            <a:endParaRPr lang="zh-CN" altLang="en-US" sz="2500" dirty="0">
              <a:solidFill>
                <a:srgbClr val="383838"/>
              </a:solidFill>
              <a:effectLst/>
              <a:latin typeface="微软雅黑"/>
              <a:ea typeface="微软雅黑"/>
              <a:cs typeface="微软雅黑"/>
            </a:endParaRPr>
          </a:p>
        </p:txBody>
      </p:sp>
      <p:grpSp>
        <p:nvGrpSpPr>
          <p:cNvPr id="12" name="组合 11"/>
          <p:cNvGrpSpPr/>
          <p:nvPr/>
        </p:nvGrpSpPr>
        <p:grpSpPr>
          <a:xfrm>
            <a:off x="717550" y="5989955"/>
            <a:ext cx="4750435" cy="702310"/>
            <a:chOff x="1130" y="9353"/>
            <a:chExt cx="7481" cy="1106"/>
          </a:xfrm>
        </p:grpSpPr>
        <p:sp>
          <p:nvSpPr>
            <p:cNvPr id="14" name="文本框 13"/>
            <p:cNvSpPr txBox="1"/>
            <p:nvPr/>
          </p:nvSpPr>
          <p:spPr>
            <a:xfrm>
              <a:off x="1130" y="9977"/>
              <a:ext cx="1996" cy="483"/>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统一数据中台</a:t>
              </a:r>
              <a:endParaRPr lang="zh-CN" altLang="en-US" sz="1400">
                <a:solidFill>
                  <a:srgbClr val="FFFFFF"/>
                </a:solidFill>
                <a:latin typeface="微软雅黑"/>
                <a:ea typeface="微软雅黑"/>
                <a:cs typeface="微软雅黑"/>
              </a:endParaRPr>
            </a:p>
          </p:txBody>
        </p:sp>
        <p:sp>
          <p:nvSpPr>
            <p:cNvPr id="15" name="文本框 14"/>
            <p:cNvSpPr txBox="1"/>
            <p:nvPr/>
          </p:nvSpPr>
          <p:spPr>
            <a:xfrm>
              <a:off x="3126" y="9977"/>
              <a:ext cx="1735" cy="483"/>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altLang="zh-CN" sz="1400">
                  <a:solidFill>
                    <a:srgbClr val="FFFFFF"/>
                  </a:solidFill>
                  <a:latin typeface="微软雅黑"/>
                  <a:ea typeface="微软雅黑"/>
                  <a:cs typeface="微软雅黑"/>
                </a:rPr>
                <a:t>AI</a:t>
              </a:r>
              <a:r>
                <a:rPr lang="zh-CN" altLang="en-US" sz="1400">
                  <a:solidFill>
                    <a:srgbClr val="FFFFFF"/>
                  </a:solidFill>
                  <a:latin typeface="微软雅黑"/>
                  <a:ea typeface="微软雅黑"/>
                  <a:cs typeface="微软雅黑"/>
                </a:rPr>
                <a:t>智能引擎</a:t>
              </a:r>
              <a:endParaRPr lang="zh-CN" altLang="en-US" sz="1400">
                <a:solidFill>
                  <a:srgbClr val="FFFFFF"/>
                </a:solidFill>
                <a:latin typeface="微软雅黑"/>
                <a:ea typeface="微软雅黑"/>
                <a:cs typeface="微软雅黑"/>
              </a:endParaRPr>
            </a:p>
          </p:txBody>
        </p:sp>
        <p:sp>
          <p:nvSpPr>
            <p:cNvPr id="20" name="文本框 19"/>
            <p:cNvSpPr txBox="1"/>
            <p:nvPr/>
          </p:nvSpPr>
          <p:spPr>
            <a:xfrm>
              <a:off x="4861" y="9977"/>
              <a:ext cx="2016" cy="483"/>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协同办公集成</a:t>
              </a:r>
              <a:endParaRPr lang="zh-CN" altLang="en-US" sz="1400">
                <a:solidFill>
                  <a:srgbClr val="FFFFFF"/>
                </a:solidFill>
                <a:latin typeface="微软雅黑"/>
                <a:ea typeface="微软雅黑"/>
                <a:cs typeface="微软雅黑"/>
              </a:endParaRPr>
            </a:p>
          </p:txBody>
        </p:sp>
        <p:sp>
          <p:nvSpPr>
            <p:cNvPr id="23" name="文本框 22"/>
            <p:cNvSpPr txBox="1"/>
            <p:nvPr/>
          </p:nvSpPr>
          <p:spPr>
            <a:xfrm>
              <a:off x="6877" y="9977"/>
              <a:ext cx="1735" cy="483"/>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流程自动化</a:t>
              </a:r>
              <a:endParaRPr lang="zh-CN" altLang="en-US" sz="1400">
                <a:solidFill>
                  <a:srgbClr val="FFFFFF"/>
                </a:solidFill>
                <a:latin typeface="微软雅黑"/>
                <a:ea typeface="微软雅黑"/>
                <a:cs typeface="微软雅黑"/>
              </a:endParaRPr>
            </a:p>
          </p:txBody>
        </p:sp>
        <p:pic>
          <p:nvPicPr>
            <p:cNvPr id="2" name="图片 1" descr="AI_智能"/>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745" y="9428"/>
              <a:ext cx="494" cy="494"/>
            </a:xfrm>
            <a:prstGeom prst="rect">
              <a:avLst/>
            </a:prstGeom>
          </p:spPr>
        </p:pic>
        <p:pic>
          <p:nvPicPr>
            <p:cNvPr id="4" name="图片 3" descr="流程自动化"/>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416" y="9380"/>
              <a:ext cx="589" cy="589"/>
            </a:xfrm>
            <a:prstGeom prst="rect">
              <a:avLst/>
            </a:prstGeom>
          </p:spPr>
        </p:pic>
        <p:pic>
          <p:nvPicPr>
            <p:cNvPr id="5" name="图片 4" descr="积分管理"/>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819" y="9366"/>
              <a:ext cx="618" cy="618"/>
            </a:xfrm>
            <a:prstGeom prst="rect">
              <a:avLst/>
            </a:prstGeom>
          </p:spPr>
        </p:pic>
        <p:pic>
          <p:nvPicPr>
            <p:cNvPr id="7" name="图片 6" descr="系统办公"/>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603" y="9353"/>
              <a:ext cx="644" cy="644"/>
            </a:xfrm>
            <a:prstGeom prst="rect">
              <a:avLst/>
            </a:prstGeom>
          </p:spPr>
        </p:pic>
      </p:grpSp>
      <p:sp>
        <p:nvSpPr>
          <p:cNvPr id="28" name="文本框 27"/>
          <p:cNvSpPr txBox="1"/>
          <p:nvPr/>
        </p:nvSpPr>
        <p:spPr>
          <a:xfrm>
            <a:off x="7005320" y="6386195"/>
            <a:ext cx="126746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rPr>
              <a:t>门户入口</a:t>
            </a:r>
            <a:endParaRPr lang="zh-CN" sz="1400">
              <a:solidFill>
                <a:srgbClr val="FFFFFF"/>
              </a:solidFill>
              <a:latin typeface="微软雅黑"/>
              <a:ea typeface="微软雅黑"/>
              <a:cs typeface="微软雅黑"/>
            </a:endParaRPr>
          </a:p>
        </p:txBody>
      </p:sp>
      <p:sp>
        <p:nvSpPr>
          <p:cNvPr id="41" name="文本框 40"/>
          <p:cNvSpPr txBox="1"/>
          <p:nvPr/>
        </p:nvSpPr>
        <p:spPr>
          <a:xfrm>
            <a:off x="8272780" y="6386195"/>
            <a:ext cx="110172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rPr>
              <a:t>薪酬管理</a:t>
            </a:r>
            <a:endParaRPr lang="zh-CN" sz="1400">
              <a:solidFill>
                <a:srgbClr val="FFFFFF"/>
              </a:solidFill>
              <a:latin typeface="微软雅黑"/>
              <a:ea typeface="微软雅黑"/>
              <a:cs typeface="微软雅黑"/>
            </a:endParaRPr>
          </a:p>
        </p:txBody>
      </p:sp>
      <p:sp>
        <p:nvSpPr>
          <p:cNvPr id="42" name="文本框 41"/>
          <p:cNvSpPr txBox="1"/>
          <p:nvPr/>
        </p:nvSpPr>
        <p:spPr>
          <a:xfrm>
            <a:off x="9374505" y="6386195"/>
            <a:ext cx="128016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员工体验</a:t>
            </a:r>
            <a:endParaRPr lang="zh-CN" altLang="en-US" sz="1400">
              <a:solidFill>
                <a:srgbClr val="FFFFFF"/>
              </a:solidFill>
              <a:latin typeface="微软雅黑"/>
              <a:ea typeface="微软雅黑"/>
              <a:cs typeface="微软雅黑"/>
            </a:endParaRPr>
          </a:p>
        </p:txBody>
      </p:sp>
      <p:sp>
        <p:nvSpPr>
          <p:cNvPr id="43" name="文本框 42"/>
          <p:cNvSpPr txBox="1"/>
          <p:nvPr/>
        </p:nvSpPr>
        <p:spPr>
          <a:xfrm>
            <a:off x="10654665" y="6386195"/>
            <a:ext cx="110172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硬件设备</a:t>
            </a:r>
            <a:endParaRPr lang="zh-CN" altLang="en-US" sz="1400">
              <a:solidFill>
                <a:srgbClr val="FFFFFF"/>
              </a:solidFill>
              <a:latin typeface="微软雅黑"/>
              <a:ea typeface="微软雅黑"/>
              <a:cs typeface="微软雅黑"/>
            </a:endParaRPr>
          </a:p>
        </p:txBody>
      </p:sp>
      <p:pic>
        <p:nvPicPr>
          <p:cNvPr id="55" name="图片 54" descr="NLB网络负载均衡-官网"/>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379970" y="5929630"/>
            <a:ext cx="518795" cy="518795"/>
          </a:xfrm>
          <a:prstGeom prst="rect">
            <a:avLst/>
          </a:prstGeom>
        </p:spPr>
      </p:pic>
      <p:pic>
        <p:nvPicPr>
          <p:cNvPr id="59" name="图片 58" descr="薪酬管理"/>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614410" y="5928995"/>
            <a:ext cx="495300" cy="495300"/>
          </a:xfrm>
          <a:prstGeom prst="rect">
            <a:avLst/>
          </a:prstGeom>
        </p:spPr>
      </p:pic>
      <p:pic>
        <p:nvPicPr>
          <p:cNvPr id="60" name="图片 59" descr="活动"/>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813925" y="5998210"/>
            <a:ext cx="400685" cy="400685"/>
          </a:xfrm>
          <a:prstGeom prst="rect">
            <a:avLst/>
          </a:prstGeom>
        </p:spPr>
      </p:pic>
      <p:pic>
        <p:nvPicPr>
          <p:cNvPr id="68" name="图片 67" descr="硬件"/>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1019790" y="6027420"/>
            <a:ext cx="360680" cy="360680"/>
          </a:xfrm>
          <a:prstGeom prst="rect">
            <a:avLst/>
          </a:prstGeom>
        </p:spPr>
      </p:pic>
      <p:grpSp>
        <p:nvGrpSpPr>
          <p:cNvPr id="93" name="组合 92"/>
          <p:cNvGrpSpPr/>
          <p:nvPr/>
        </p:nvGrpSpPr>
        <p:grpSpPr>
          <a:xfrm>
            <a:off x="182245" y="1262380"/>
            <a:ext cx="4696460" cy="1614170"/>
            <a:chOff x="480" y="2001"/>
            <a:chExt cx="7396" cy="2542"/>
          </a:xfrm>
        </p:grpSpPr>
        <p:sp>
          <p:nvSpPr>
            <p:cNvPr id="403" name="猫爪PPT-20"/>
            <p:cNvSpPr/>
            <p:nvPr/>
          </p:nvSpPr>
          <p:spPr>
            <a:xfrm flipH="1" flipV="1">
              <a:off x="480" y="2001"/>
              <a:ext cx="7396" cy="2542"/>
            </a:xfrm>
            <a:prstGeom prst="roundRect">
              <a:avLst>
                <a:gd name="adj" fmla="val 0"/>
              </a:avLst>
            </a:prstGeom>
            <a:gradFill flip="none" rotWithShape="1">
              <a:gsLst>
                <a:gs pos="33000">
                  <a:srgbClr val="E6E6E6">
                    <a:alpha val="30000"/>
                  </a:srgbClr>
                </a:gs>
                <a:gs pos="66000">
                  <a:srgbClr val="E6E6E6">
                    <a:alpha val="0"/>
                  </a:srgbClr>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25" name="猫爪PPT-24"/>
            <p:cNvSpPr txBox="1"/>
            <p:nvPr/>
          </p:nvSpPr>
          <p:spPr>
            <a:xfrm>
              <a:off x="753" y="2601"/>
              <a:ext cx="4376" cy="630"/>
            </a:xfrm>
            <a:prstGeom prst="rect">
              <a:avLst/>
            </a:prstGeom>
            <a:noFill/>
          </p:spPr>
          <p:txBody>
            <a:bodyPr wrap="square" lIns="0" tIns="0" rIns="0" bIns="0" rtlCol="0">
              <a:spAutoFit/>
            </a:bodyPr>
            <a:lstStyle/>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现代企业的人效提升不仅依赖技术工具，还需配套的服务支持，形成系统化、闭环式的管理方案。</a:t>
              </a:r>
              <a:endParaRPr lang="zh-CN" altLang="en-US" sz="1000" dirty="0">
                <a:solidFill>
                  <a:srgbClr val="383838"/>
                </a:solidFill>
                <a:latin typeface="微软雅黑"/>
                <a:ea typeface="微软雅黑"/>
                <a:cs typeface="微软雅黑"/>
              </a:endParaRPr>
            </a:p>
          </p:txBody>
        </p:sp>
      </p:grpSp>
      <p:grpSp>
        <p:nvGrpSpPr>
          <p:cNvPr id="106" name="组合 105"/>
          <p:cNvGrpSpPr/>
          <p:nvPr/>
        </p:nvGrpSpPr>
        <p:grpSpPr>
          <a:xfrm>
            <a:off x="417830" y="1149350"/>
            <a:ext cx="2142490" cy="382270"/>
            <a:chOff x="630" y="1797"/>
            <a:chExt cx="3374" cy="602"/>
          </a:xfrm>
        </p:grpSpPr>
        <p:sp>
          <p:nvSpPr>
            <p:cNvPr id="99" name="猫爪PPT-21"/>
            <p:cNvSpPr/>
            <p:nvPr/>
          </p:nvSpPr>
          <p:spPr>
            <a:xfrm>
              <a:off x="630" y="1797"/>
              <a:ext cx="3375" cy="603"/>
            </a:xfrm>
            <a:prstGeom prst="roundRect">
              <a:avLst>
                <a:gd name="adj" fmla="val 50000"/>
              </a:avLst>
            </a:prstGeom>
            <a:gradFill>
              <a:gsLst>
                <a:gs pos="100000">
                  <a:srgbClr val="3368FF"/>
                </a:gs>
                <a:gs pos="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04" name="猫爪PPT-22"/>
            <p:cNvSpPr txBox="1"/>
            <p:nvPr/>
          </p:nvSpPr>
          <p:spPr>
            <a:xfrm>
              <a:off x="736" y="1954"/>
              <a:ext cx="3163" cy="290"/>
            </a:xfrm>
            <a:prstGeom prst="rect">
              <a:avLst/>
            </a:prstGeom>
            <a:noFill/>
          </p:spPr>
          <p:txBody>
            <a:bodyPr wrap="none" lIns="0" tIns="0" rIns="0" bIns="0" rtlCol="0" anchor="ctr">
              <a:noAutofit/>
            </a:bodyPr>
            <a:lstStyle/>
            <a:p>
              <a:pPr algn="ctr">
                <a:defRPr sz="1100">
                  <a:solidFill>
                    <a:srgbClr val="FFFFFF"/>
                  </a:solidFill>
                  <a:latin typeface="微软雅黑"/>
                  <a:ea typeface="微软雅黑"/>
                  <a:cs typeface="微软雅黑"/>
                </a:defRPr>
                <a:lnSpc>
                  <a:spcPct val="100000"/>
                </a:lnSpc>
                <a:spcBef>
                  <a:spcPts val="0"/>
                </a:spcBef>
                <a:spcAft>
                  <a:spcPts val="0"/>
                </a:spcAft>
              </a:pPr>
              <a:r>
                <a:rPr lang="en-US" altLang="zh-CN" sz="1100" b="1" dirty="0">
                  <a:solidFill>
                    <a:srgbClr val="FFFFFF"/>
                  </a:solidFill>
                  <a:latin typeface="微软雅黑"/>
                  <a:ea typeface="微软雅黑"/>
                  <a:cs typeface="微软雅黑"/>
                </a:rPr>
                <a:t>“</a:t>
              </a:r>
              <a:r>
                <a:rPr lang="zh-CN" altLang="en-US" sz="1100" b="1" dirty="0">
                  <a:solidFill>
                    <a:srgbClr val="FFFFFF"/>
                  </a:solidFill>
                  <a:latin typeface="微软雅黑"/>
                  <a:ea typeface="微软雅黑"/>
                  <a:cs typeface="微软雅黑"/>
                </a:rPr>
                <a:t>软件</a:t>
              </a:r>
              <a:r>
                <a:rPr lang="en-US" altLang="zh-CN" sz="1100" b="1" dirty="0">
                  <a:solidFill>
                    <a:srgbClr val="FFFFFF"/>
                  </a:solidFill>
                  <a:latin typeface="微软雅黑"/>
                  <a:ea typeface="微软雅黑"/>
                  <a:cs typeface="微软雅黑"/>
                </a:rPr>
                <a:t>+</a:t>
              </a:r>
              <a:r>
                <a:rPr lang="zh-CN" altLang="en-US" sz="1100" b="1" dirty="0">
                  <a:solidFill>
                    <a:srgbClr val="FFFFFF"/>
                  </a:solidFill>
                  <a:latin typeface="微软雅黑"/>
                  <a:ea typeface="微软雅黑"/>
                  <a:cs typeface="微软雅黑"/>
                </a:rPr>
                <a:t>服务</a:t>
              </a:r>
              <a:r>
                <a:rPr lang="en-US" altLang="zh-CN" sz="1100" b="1" dirty="0">
                  <a:solidFill>
                    <a:srgbClr val="FFFFFF"/>
                  </a:solidFill>
                  <a:latin typeface="微软雅黑"/>
                  <a:ea typeface="微软雅黑"/>
                  <a:cs typeface="微软雅黑"/>
                </a:rPr>
                <a:t>”</a:t>
              </a:r>
              <a:r>
                <a:rPr lang="zh-CN" altLang="en-US" sz="1100" b="1" dirty="0">
                  <a:solidFill>
                    <a:srgbClr val="FFFFFF"/>
                  </a:solidFill>
                  <a:latin typeface="微软雅黑"/>
                  <a:ea typeface="微软雅黑"/>
                  <a:cs typeface="微软雅黑"/>
                </a:rPr>
                <a:t>实现全面提效</a:t>
              </a:r>
              <a:endParaRPr lang="zh-CN" altLang="en-US" sz="1100" b="1" dirty="0">
                <a:solidFill>
                  <a:srgbClr val="FFFFFF"/>
                </a:solidFill>
                <a:latin typeface="微软雅黑"/>
                <a:ea typeface="微软雅黑"/>
                <a:cs typeface="微软雅黑"/>
              </a:endParaRPr>
            </a:p>
          </p:txBody>
        </p:sp>
      </p:grpSp>
      <p:sp>
        <p:nvSpPr>
          <p:cNvPr id="107" name="猫爪PPT-24"/>
          <p:cNvSpPr txBox="1"/>
          <p:nvPr/>
        </p:nvSpPr>
        <p:spPr>
          <a:xfrm>
            <a:off x="352425" y="2128520"/>
            <a:ext cx="2123440" cy="600075"/>
          </a:xfrm>
          <a:prstGeom prst="rect">
            <a:avLst/>
          </a:prstGeom>
          <a:noFill/>
        </p:spPr>
        <p:txBody>
          <a:bodyPr wrap="square" lIns="0" tIns="0" rIns="0" bIns="0" rtlCol="0">
            <a:spAutoFit/>
          </a:bodyPr>
          <a:lstStyle/>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构建一个涵盖</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数据采集</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流程</a:t>
            </a:r>
            <a:endParaRPr lang="zh-CN" altLang="en-US" sz="1000" dirty="0">
              <a:solidFill>
                <a:srgbClr val="383838"/>
              </a:solidFill>
              <a:latin typeface="微软雅黑"/>
              <a:ea typeface="微软雅黑"/>
              <a:cs typeface="微软雅黑"/>
            </a:endParaRPr>
          </a:p>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优化</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人才激活</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服务落地</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的全</a:t>
            </a:r>
            <a:endParaRPr lang="zh-CN" altLang="en-US" sz="1000" dirty="0">
              <a:solidFill>
                <a:srgbClr val="383838"/>
              </a:solidFill>
              <a:latin typeface="微软雅黑"/>
              <a:ea typeface="微软雅黑"/>
              <a:cs typeface="微软雅黑"/>
            </a:endParaRPr>
          </a:p>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链条体系。</a:t>
            </a:r>
            <a:endParaRPr lang="zh-CN" altLang="en-US" sz="1000" dirty="0">
              <a:solidFill>
                <a:srgbClr val="383838"/>
              </a:solidFill>
              <a:latin typeface="微软雅黑"/>
              <a:ea typeface="微软雅黑"/>
              <a:cs typeface="微软雅黑"/>
            </a:endParaRPr>
          </a:p>
        </p:txBody>
      </p:sp>
      <p:sp>
        <p:nvSpPr>
          <p:cNvPr id="156" name="猫爪PPT-43"/>
          <p:cNvSpPr>
            <a:spLocks noChangeAspect="1"/>
          </p:cNvSpPr>
          <p:nvPr/>
        </p:nvSpPr>
        <p:spPr>
          <a:xfrm flipH="1">
            <a:off x="9109710" y="2091055"/>
            <a:ext cx="127635" cy="138430"/>
          </a:xfrm>
          <a:prstGeom prst="flowChartConnector">
            <a:avLst/>
          </a:prstGeom>
          <a:solidFill>
            <a:srgbClr val="FFFFFF"/>
          </a:solidFill>
          <a:ln w="15240">
            <a:solidFill>
              <a:srgbClr val="0042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1200" cap="none" spc="0" normalizeH="0" baseline="0" noProof="0">
              <a:ln>
                <a:noFill/>
              </a:ln>
              <a:solidFill>
                <a:prstClr val="white"/>
              </a:solidFill>
              <a:effectLst/>
              <a:uLnTx/>
              <a:uFillTx/>
              <a:latin typeface="微软雅黑"/>
              <a:ea typeface="微软雅黑"/>
              <a:cs typeface="微软雅黑"/>
            </a:endParaRPr>
          </a:p>
        </p:txBody>
      </p:sp>
      <p:grpSp>
        <p:nvGrpSpPr>
          <p:cNvPr id="158" name="组合 157"/>
          <p:cNvGrpSpPr/>
          <p:nvPr/>
        </p:nvGrpSpPr>
        <p:grpSpPr>
          <a:xfrm rot="0" flipH="1">
            <a:off x="7337425" y="1215390"/>
            <a:ext cx="4696460" cy="1614170"/>
            <a:chOff x="480" y="2001"/>
            <a:chExt cx="7396" cy="2542"/>
          </a:xfrm>
        </p:grpSpPr>
        <p:sp>
          <p:nvSpPr>
            <p:cNvPr id="159" name="猫爪PPT-20"/>
            <p:cNvSpPr/>
            <p:nvPr/>
          </p:nvSpPr>
          <p:spPr>
            <a:xfrm flipH="1" flipV="1">
              <a:off x="480" y="2001"/>
              <a:ext cx="7396" cy="2542"/>
            </a:xfrm>
            <a:prstGeom prst="roundRect">
              <a:avLst>
                <a:gd name="adj" fmla="val 0"/>
              </a:avLst>
            </a:prstGeom>
            <a:gradFill flip="none" rotWithShape="1">
              <a:gsLst>
                <a:gs pos="33000">
                  <a:srgbClr val="E6E6E6">
                    <a:alpha val="30000"/>
                  </a:srgbClr>
                </a:gs>
                <a:gs pos="66000">
                  <a:srgbClr val="E6E6E6">
                    <a:alpha val="0"/>
                  </a:srgbClr>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60" name="猫爪PPT-24"/>
            <p:cNvSpPr txBox="1"/>
            <p:nvPr/>
          </p:nvSpPr>
          <p:spPr>
            <a:xfrm>
              <a:off x="650" y="2601"/>
              <a:ext cx="4376" cy="630"/>
            </a:xfrm>
            <a:prstGeom prst="rect">
              <a:avLst/>
            </a:prstGeom>
            <a:noFill/>
          </p:spPr>
          <p:txBody>
            <a:bodyPr wrap="square" lIns="0" tIns="0" rIns="0" bIns="0" rtlCol="0">
              <a:spAutoFit/>
            </a:bodyPr>
            <a:lstStyle/>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关注人的成长与激励，通过技能管理、激励薪酬、课程培训等方式激发员工潜能。</a:t>
              </a:r>
              <a:endParaRPr lang="zh-CN" altLang="en-US" sz="1000" dirty="0">
                <a:solidFill>
                  <a:srgbClr val="383838"/>
                </a:solidFill>
                <a:latin typeface="微软雅黑"/>
                <a:ea typeface="微软雅黑"/>
                <a:cs typeface="微软雅黑"/>
              </a:endParaRPr>
            </a:p>
          </p:txBody>
        </p:sp>
      </p:grpSp>
      <p:grpSp>
        <p:nvGrpSpPr>
          <p:cNvPr id="163" name="组合 162"/>
          <p:cNvGrpSpPr/>
          <p:nvPr/>
        </p:nvGrpSpPr>
        <p:grpSpPr>
          <a:xfrm rot="0" flipH="1">
            <a:off x="9655175" y="1102360"/>
            <a:ext cx="2143125" cy="382905"/>
            <a:chOff x="630" y="1797"/>
            <a:chExt cx="3375" cy="603"/>
          </a:xfrm>
        </p:grpSpPr>
        <p:sp>
          <p:nvSpPr>
            <p:cNvPr id="166" name="猫爪PPT-21"/>
            <p:cNvSpPr/>
            <p:nvPr/>
          </p:nvSpPr>
          <p:spPr>
            <a:xfrm>
              <a:off x="630" y="1797"/>
              <a:ext cx="3375" cy="603"/>
            </a:xfrm>
            <a:prstGeom prst="roundRect">
              <a:avLst>
                <a:gd name="adj" fmla="val 50000"/>
              </a:avLst>
            </a:prstGeom>
            <a:gradFill>
              <a:gsLst>
                <a:gs pos="100000">
                  <a:srgbClr val="3368FF"/>
                </a:gs>
                <a:gs pos="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9" name="猫爪PPT-22"/>
            <p:cNvSpPr txBox="1"/>
            <p:nvPr/>
          </p:nvSpPr>
          <p:spPr>
            <a:xfrm>
              <a:off x="736" y="1954"/>
              <a:ext cx="3163" cy="29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en-US" altLang="zh-CN" sz="1200" b="1" dirty="0">
                  <a:solidFill>
                    <a:srgbClr val="FFFFFF"/>
                  </a:solidFill>
                  <a:latin typeface="微软雅黑"/>
                  <a:ea typeface="微软雅黑"/>
                  <a:cs typeface="微软雅黑"/>
                  <a:sym typeface="微软雅黑"/>
                </a:rPr>
                <a:t>“</a:t>
              </a:r>
              <a:r>
                <a:rPr lang="zh-CN" altLang="en-US" sz="1200" b="1" dirty="0">
                  <a:solidFill>
                    <a:srgbClr val="FFFFFF"/>
                  </a:solidFill>
                  <a:latin typeface="微软雅黑"/>
                  <a:ea typeface="微软雅黑"/>
                  <a:cs typeface="微软雅黑"/>
                  <a:sym typeface="微软雅黑"/>
                </a:rPr>
                <a:t>数据驱动</a:t>
              </a:r>
              <a:r>
                <a:rPr lang="en-US" altLang="zh-CN" sz="1200" b="1" dirty="0">
                  <a:solidFill>
                    <a:srgbClr val="FFFFFF"/>
                  </a:solidFill>
                  <a:latin typeface="微软雅黑"/>
                  <a:ea typeface="微软雅黑"/>
                  <a:cs typeface="微软雅黑"/>
                  <a:sym typeface="微软雅黑"/>
                </a:rPr>
                <a:t>”</a:t>
              </a:r>
              <a:r>
                <a:rPr lang="zh-CN" altLang="en-US" sz="1200" b="1" dirty="0">
                  <a:solidFill>
                    <a:srgbClr val="FFFFFF"/>
                  </a:solidFill>
                  <a:latin typeface="微软雅黑"/>
                  <a:ea typeface="微软雅黑"/>
                  <a:cs typeface="微软雅黑"/>
                  <a:sym typeface="微软雅黑"/>
                </a:rPr>
                <a:t>与</a:t>
              </a:r>
              <a:r>
                <a:rPr lang="en-US" altLang="zh-CN" sz="1200" b="1" dirty="0">
                  <a:solidFill>
                    <a:srgbClr val="FFFFFF"/>
                  </a:solidFill>
                  <a:latin typeface="微软雅黑"/>
                  <a:ea typeface="微软雅黑"/>
                  <a:cs typeface="微软雅黑"/>
                  <a:sym typeface="微软雅黑"/>
                </a:rPr>
                <a:t>“</a:t>
              </a:r>
              <a:r>
                <a:rPr lang="zh-CN" altLang="en-US" sz="1200" b="1" dirty="0">
                  <a:solidFill>
                    <a:srgbClr val="FFFFFF"/>
                  </a:solidFill>
                  <a:latin typeface="微软雅黑"/>
                  <a:ea typeface="微软雅黑"/>
                  <a:cs typeface="微软雅黑"/>
                  <a:sym typeface="微软雅黑"/>
                </a:rPr>
                <a:t>人才激活</a:t>
              </a:r>
              <a:r>
                <a:rPr lang="en-US" altLang="zh-CN" sz="1200" b="1" dirty="0">
                  <a:solidFill>
                    <a:srgbClr val="FFFFFF"/>
                  </a:solidFill>
                  <a:latin typeface="微软雅黑"/>
                  <a:ea typeface="微软雅黑"/>
                  <a:cs typeface="微软雅黑"/>
                  <a:sym typeface="微软雅黑"/>
                </a:rPr>
                <a:t>”</a:t>
              </a:r>
              <a:endParaRPr lang="zh-CN" altLang="en-US" sz="1200" b="1" dirty="0">
                <a:solidFill>
                  <a:srgbClr val="FFFFFF"/>
                </a:solidFill>
                <a:latin typeface="微软雅黑"/>
                <a:ea typeface="微软雅黑"/>
                <a:cs typeface="微软雅黑"/>
              </a:endParaRPr>
            </a:p>
          </p:txBody>
        </p:sp>
      </p:grpSp>
      <p:sp>
        <p:nvSpPr>
          <p:cNvPr id="180" name="猫爪PPT-24"/>
          <p:cNvSpPr txBox="1"/>
          <p:nvPr/>
        </p:nvSpPr>
        <p:spPr>
          <a:xfrm flipH="1">
            <a:off x="9655810" y="2081530"/>
            <a:ext cx="2207895" cy="600075"/>
          </a:xfrm>
          <a:prstGeom prst="rect">
            <a:avLst/>
          </a:prstGeom>
          <a:noFill/>
        </p:spPr>
        <p:txBody>
          <a:bodyPr wrap="square" lIns="0" tIns="0" rIns="0" bIns="0" rtlCol="0">
            <a:spAutoFit/>
          </a:bodyPr>
          <a:lstStyle/>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将量化管理与人才发展相结合，实现</a:t>
            </a:r>
            <a:endParaRPr lang="zh-CN" altLang="en-US" sz="1000" dirty="0">
              <a:solidFill>
                <a:srgbClr val="383838"/>
              </a:solidFill>
              <a:latin typeface="微软雅黑"/>
              <a:ea typeface="微软雅黑"/>
              <a:cs typeface="微软雅黑"/>
            </a:endParaRPr>
          </a:p>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 </a:t>
            </a:r>
            <a:r>
              <a:rPr lang="en-US" altLang="zh-CN" sz="1000" dirty="0">
                <a:solidFill>
                  <a:srgbClr val="383838"/>
                </a:solidFill>
                <a:latin typeface="微软雅黑"/>
                <a:ea typeface="微软雅黑"/>
                <a:cs typeface="微软雅黑"/>
              </a:rPr>
              <a:t>   “</a:t>
            </a:r>
            <a:r>
              <a:rPr lang="zh-CN" altLang="en-US" sz="1000" dirty="0">
                <a:solidFill>
                  <a:srgbClr val="383838"/>
                </a:solidFill>
                <a:latin typeface="微软雅黑"/>
                <a:ea typeface="微软雅黑"/>
                <a:cs typeface="微软雅黑"/>
              </a:rPr>
              <a:t>管控</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与</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激活</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的双重目标，</a:t>
            </a:r>
            <a:endParaRPr lang="zh-CN" altLang="en-US" sz="1000" dirty="0">
              <a:solidFill>
                <a:srgbClr val="383838"/>
              </a:solidFill>
              <a:latin typeface="微软雅黑"/>
              <a:ea typeface="微软雅黑"/>
              <a:cs typeface="微软雅黑"/>
            </a:endParaRPr>
          </a:p>
          <a:p>
            <a:pPr algn="just">
              <a:lnSpc>
                <a:spcPct val="13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 </a:t>
            </a:r>
            <a:r>
              <a:rPr lang="en-US" altLang="zh-CN" sz="1000" dirty="0">
                <a:solidFill>
                  <a:srgbClr val="383838"/>
                </a:solidFill>
                <a:latin typeface="微软雅黑"/>
                <a:ea typeface="微软雅黑"/>
                <a:cs typeface="微软雅黑"/>
              </a:rPr>
              <a:t>       </a:t>
            </a:r>
            <a:r>
              <a:rPr lang="zh-CN" altLang="en-US" sz="1000" dirty="0">
                <a:solidFill>
                  <a:srgbClr val="383838"/>
                </a:solidFill>
                <a:latin typeface="微软雅黑"/>
                <a:ea typeface="微软雅黑"/>
                <a:cs typeface="微软雅黑"/>
              </a:rPr>
              <a:t>推动组织持续发展。</a:t>
            </a:r>
            <a:endParaRPr lang="zh-CN" altLang="en-US" sz="1000" dirty="0">
              <a:solidFill>
                <a:srgbClr val="383838"/>
              </a:solidFill>
              <a:latin typeface="微软雅黑"/>
              <a:ea typeface="微软雅黑"/>
              <a:cs typeface="微软雅黑"/>
            </a:endParaRPr>
          </a:p>
        </p:txBody>
      </p:sp>
      <p:pic>
        <p:nvPicPr>
          <p:cNvPr id="3" name="图片 2" descr="屋顶资源管理"/>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355600" y="186055"/>
            <a:ext cx="549910" cy="549910"/>
          </a:xfrm>
          <a:prstGeom prst="rect">
            <a:avLst/>
          </a:prstGeom>
        </p:spPr>
      </p:pic>
      <p:pic>
        <p:nvPicPr>
          <p:cNvPr id="13" name="图片 12" descr="核心价值观"/>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5960428" y="5488305"/>
            <a:ext cx="471170" cy="417195"/>
          </a:xfrm>
          <a:prstGeom prst="rect">
            <a:avLst/>
          </a:prstGeom>
        </p:spPr>
      </p:pic>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0" name="组合 9"/>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21"/>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fill="hold"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64413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业务流程架构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互联网产品项目全局规划图</a:t>
            </a:r>
            <a:endParaRPr lang="zh-CN" altLang="en-US" sz="2500" dirty="0">
              <a:solidFill>
                <a:srgbClr val="383838"/>
              </a:solidFill>
              <a:effectLst/>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105" name="直线连接符 7"/>
          <p:cNvCxnSpPr/>
          <p:nvPr userDrawn="1"/>
        </p:nvCxnSpPr>
        <p:spPr>
          <a:xfrm>
            <a:off x="368935" y="839470"/>
            <a:ext cx="11459845"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2" name="任意多边形 1"/>
          <p:cNvSpPr/>
          <p:nvPr/>
        </p:nvSpPr>
        <p:spPr>
          <a:xfrm>
            <a:off x="2589530" y="2982595"/>
            <a:ext cx="7057390" cy="3621405"/>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1311" h="5805">
                <a:moveTo>
                  <a:pt x="0" y="5654"/>
                </a:moveTo>
                <a:cubicBezTo>
                  <a:pt x="-97" y="2480"/>
                  <a:pt x="2808" y="-78"/>
                  <a:pt x="5654" y="0"/>
                </a:cubicBezTo>
                <a:cubicBezTo>
                  <a:pt x="8827" y="-97"/>
                  <a:pt x="11385" y="2808"/>
                  <a:pt x="11307" y="5654"/>
                </a:cubicBezTo>
                <a:lnTo>
                  <a:pt x="11305" y="5802"/>
                </a:lnTo>
                <a:lnTo>
                  <a:pt x="11305" y="5803"/>
                </a:lnTo>
                <a:lnTo>
                  <a:pt x="2" y="5803"/>
                </a:lnTo>
                <a:lnTo>
                  <a:pt x="2" y="5802"/>
                </a:lnTo>
                <a:lnTo>
                  <a:pt x="0" y="5654"/>
                </a:lnTo>
                <a:close/>
              </a:path>
            </a:pathLst>
          </a:custGeom>
          <a:gradFill flip="none" rotWithShape="1">
            <a:gsLst>
              <a:gs pos="100000">
                <a:srgbClr val="3368FF">
                  <a:alpha val="26000"/>
                </a:srgbClr>
              </a:gs>
              <a:gs pos="0">
                <a:srgbClr val="3368FF">
                  <a:alpha val="0"/>
                </a:srgbClr>
              </a:gs>
            </a:gsLst>
            <a:lin ang="16200000" scaled="1"/>
            <a:tileRect/>
          </a:gradFill>
          <a:ln>
            <a:noFill/>
          </a:ln>
          <a:effectLst>
            <a:outerShdw blurRad="266700" dir="1440000" sx="102000" sy="102000" algn="ctr" rotWithShape="0">
              <a:srgbClr val="3368FF">
                <a:alpha val="2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27" name="任意多边形 126"/>
          <p:cNvSpPr/>
          <p:nvPr/>
        </p:nvSpPr>
        <p:spPr>
          <a:xfrm>
            <a:off x="4304665" y="4779010"/>
            <a:ext cx="3652520" cy="187452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1311" h="5805">
                <a:moveTo>
                  <a:pt x="0" y="5654"/>
                </a:moveTo>
                <a:cubicBezTo>
                  <a:pt x="-97" y="2480"/>
                  <a:pt x="2808" y="-78"/>
                  <a:pt x="5654" y="0"/>
                </a:cubicBezTo>
                <a:cubicBezTo>
                  <a:pt x="8827" y="-97"/>
                  <a:pt x="11385" y="2808"/>
                  <a:pt x="11307" y="5654"/>
                </a:cubicBezTo>
                <a:lnTo>
                  <a:pt x="11305" y="5802"/>
                </a:lnTo>
                <a:lnTo>
                  <a:pt x="11305" y="5803"/>
                </a:lnTo>
                <a:lnTo>
                  <a:pt x="2" y="5803"/>
                </a:lnTo>
                <a:lnTo>
                  <a:pt x="2" y="5802"/>
                </a:lnTo>
                <a:lnTo>
                  <a:pt x="0" y="5654"/>
                </a:lnTo>
                <a:close/>
              </a:path>
            </a:pathLst>
          </a:custGeom>
          <a:solidFill>
            <a:srgbClr val="FFFFFF"/>
          </a:solidFill>
          <a:ln>
            <a:noFill/>
          </a:ln>
          <a:effectLst>
            <a:outerShdw blurRad="266700" dir="1440000" sx="102000" sy="102000" algn="ctr" rotWithShape="0">
              <a:srgbClr val="3368FF">
                <a:alpha val="2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 name="任意多边形 7"/>
          <p:cNvSpPr/>
          <p:nvPr/>
        </p:nvSpPr>
        <p:spPr>
          <a:xfrm>
            <a:off x="3087370" y="3480435"/>
            <a:ext cx="6062345" cy="606171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9717" h="9717">
                <a:moveTo>
                  <a:pt x="0" y="4857"/>
                </a:moveTo>
                <a:cubicBezTo>
                  <a:pt x="-84" y="2131"/>
                  <a:pt x="2412" y="-67"/>
                  <a:pt x="4857" y="0"/>
                </a:cubicBezTo>
                <a:cubicBezTo>
                  <a:pt x="7582" y="-84"/>
                  <a:pt x="9780" y="2412"/>
                  <a:pt x="9713" y="4857"/>
                </a:cubicBezTo>
                <a:cubicBezTo>
                  <a:pt x="9797" y="7582"/>
                  <a:pt x="7301" y="9780"/>
                  <a:pt x="4857" y="9713"/>
                </a:cubicBezTo>
                <a:cubicBezTo>
                  <a:pt x="2131" y="9797"/>
                  <a:pt x="-67" y="7301"/>
                  <a:pt x="0" y="4857"/>
                </a:cubicBezTo>
                <a:close/>
                <a:moveTo>
                  <a:pt x="196" y="4857"/>
                </a:moveTo>
                <a:cubicBezTo>
                  <a:pt x="115" y="2240"/>
                  <a:pt x="2511" y="131"/>
                  <a:pt x="4857" y="196"/>
                </a:cubicBezTo>
                <a:cubicBezTo>
                  <a:pt x="7473" y="115"/>
                  <a:pt x="9582" y="2511"/>
                  <a:pt x="9518" y="4857"/>
                </a:cubicBezTo>
                <a:cubicBezTo>
                  <a:pt x="9598" y="7473"/>
                  <a:pt x="7202" y="9582"/>
                  <a:pt x="4857" y="9518"/>
                </a:cubicBezTo>
                <a:cubicBezTo>
                  <a:pt x="2240" y="9598"/>
                  <a:pt x="131" y="7202"/>
                  <a:pt x="196" y="4857"/>
                </a:cubicBezTo>
                <a:close/>
              </a:path>
            </a:pathLst>
          </a:custGeom>
          <a:gradFill flip="none" rotWithShape="1">
            <a:gsLst>
              <a:gs pos="100000">
                <a:srgbClr val="3368FF">
                  <a:alpha val="88000"/>
                </a:srgbClr>
              </a:gs>
              <a:gs pos="49000">
                <a:srgbClr val="3368FF">
                  <a:alpha val="0"/>
                </a:srgbClr>
              </a:gs>
            </a:gsLst>
            <a:lin ang="16200000" scaled="1"/>
            <a:tileRect/>
          </a:gradFill>
          <a:ln>
            <a:gradFill>
              <a:gsLst>
                <a:gs pos="0">
                  <a:srgbClr val="3368FF"/>
                </a:gs>
                <a:gs pos="51000">
                  <a:srgbClr val="3368FF">
                    <a:alpha val="0"/>
                  </a:srgbClr>
                </a:gs>
              </a:gsLst>
              <a:lin ang="5400000" scaled="1"/>
            </a:gradFill>
          </a:ln>
          <a:effectLst>
            <a:outerShdw blurRad="266700" dir="1440000" sx="102000" sy="102000" algn="ctr" rotWithShape="0">
              <a:srgbClr val="3368FF">
                <a:alpha val="2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9" name="空心弧 8"/>
          <p:cNvSpPr/>
          <p:nvPr/>
        </p:nvSpPr>
        <p:spPr>
          <a:xfrm>
            <a:off x="3260725" y="3683000"/>
            <a:ext cx="5673090" cy="5673090"/>
          </a:xfrm>
          <a:prstGeom prst="blockArc">
            <a:avLst>
              <a:gd name="adj1" fmla="val 10760302"/>
              <a:gd name="adj2" fmla="val 12541201"/>
              <a:gd name="adj3" fmla="val 19907"/>
            </a:avLst>
          </a:prstGeom>
          <a:gradFill>
            <a:gsLst>
              <a:gs pos="0">
                <a:srgbClr val="3368FF"/>
              </a:gs>
              <a:gs pos="100000">
                <a:srgbClr val="668E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5" name="空心弧 14"/>
          <p:cNvSpPr/>
          <p:nvPr/>
        </p:nvSpPr>
        <p:spPr>
          <a:xfrm>
            <a:off x="3263265" y="3670300"/>
            <a:ext cx="5673090" cy="5673090"/>
          </a:xfrm>
          <a:prstGeom prst="blockArc">
            <a:avLst>
              <a:gd name="adj1" fmla="val 12616891"/>
              <a:gd name="adj2" fmla="val 14346251"/>
              <a:gd name="adj3" fmla="val 19769"/>
            </a:avLst>
          </a:prstGeom>
          <a:gradFill>
            <a:gsLst>
              <a:gs pos="0">
                <a:srgbClr val="B3D4FE"/>
              </a:gs>
              <a:gs pos="100000">
                <a:srgbClr val="B3D4FE"/>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6" name="空心弧 15"/>
          <p:cNvSpPr/>
          <p:nvPr/>
        </p:nvSpPr>
        <p:spPr>
          <a:xfrm>
            <a:off x="3290570" y="3653155"/>
            <a:ext cx="5673090" cy="5673090"/>
          </a:xfrm>
          <a:prstGeom prst="blockArc">
            <a:avLst>
              <a:gd name="adj1" fmla="val 14413753"/>
              <a:gd name="adj2" fmla="val 16252537"/>
              <a:gd name="adj3" fmla="val 19765"/>
            </a:avLst>
          </a:prstGeom>
          <a:gradFill>
            <a:gsLst>
              <a:gs pos="0">
                <a:srgbClr val="0042FF"/>
              </a:gs>
              <a:gs pos="100000">
                <a:srgbClr val="3368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7" name="空心弧 16"/>
          <p:cNvSpPr/>
          <p:nvPr/>
        </p:nvSpPr>
        <p:spPr>
          <a:xfrm>
            <a:off x="3310255" y="3653155"/>
            <a:ext cx="5673090" cy="5673090"/>
          </a:xfrm>
          <a:prstGeom prst="blockArc">
            <a:avLst>
              <a:gd name="adj1" fmla="val 16312734"/>
              <a:gd name="adj2" fmla="val 17947537"/>
              <a:gd name="adj3" fmla="val 19826"/>
            </a:avLst>
          </a:prstGeom>
          <a:gradFill>
            <a:gsLst>
              <a:gs pos="0">
                <a:srgbClr val="3368FF"/>
              </a:gs>
              <a:gs pos="100000">
                <a:srgbClr val="B3D4FE"/>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8" name="空心弧 17"/>
          <p:cNvSpPr/>
          <p:nvPr/>
        </p:nvSpPr>
        <p:spPr>
          <a:xfrm>
            <a:off x="3290570" y="3672840"/>
            <a:ext cx="5673090" cy="5673090"/>
          </a:xfrm>
          <a:prstGeom prst="blockArc">
            <a:avLst>
              <a:gd name="adj1" fmla="val 18048409"/>
              <a:gd name="adj2" fmla="val 19770217"/>
              <a:gd name="adj3" fmla="val 19932"/>
            </a:avLst>
          </a:prstGeom>
          <a:gradFill>
            <a:gsLst>
              <a:gs pos="0">
                <a:srgbClr val="3368FF"/>
              </a:gs>
              <a:gs pos="100000">
                <a:srgbClr val="668E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9" name="空心弧 18"/>
          <p:cNvSpPr/>
          <p:nvPr/>
        </p:nvSpPr>
        <p:spPr>
          <a:xfrm>
            <a:off x="3270885" y="3702685"/>
            <a:ext cx="5673090" cy="5673090"/>
          </a:xfrm>
          <a:prstGeom prst="blockArc">
            <a:avLst>
              <a:gd name="adj1" fmla="val 19851090"/>
              <a:gd name="adj2" fmla="val 21523198"/>
              <a:gd name="adj3" fmla="val 19959"/>
            </a:avLst>
          </a:prstGeom>
          <a:gradFill>
            <a:gsLst>
              <a:gs pos="0">
                <a:srgbClr val="B3D4FE"/>
              </a:gs>
              <a:gs pos="100000">
                <a:srgbClr val="B3D4FE"/>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nvGrpSpPr>
          <p:cNvPr id="26" name="组合 25"/>
          <p:cNvGrpSpPr/>
          <p:nvPr/>
        </p:nvGrpSpPr>
        <p:grpSpPr>
          <a:xfrm rot="0">
            <a:off x="4665345" y="5041900"/>
            <a:ext cx="2894330" cy="2882265"/>
            <a:chOff x="5279" y="5893"/>
            <a:chExt cx="9127" cy="9090"/>
          </a:xfrm>
        </p:grpSpPr>
        <p:sp>
          <p:nvSpPr>
            <p:cNvPr id="20" name="空心弧 19"/>
            <p:cNvSpPr/>
            <p:nvPr/>
          </p:nvSpPr>
          <p:spPr>
            <a:xfrm>
              <a:off x="5279" y="5893"/>
              <a:ext cx="9090" cy="9090"/>
            </a:xfrm>
            <a:prstGeom prst="blockArc">
              <a:avLst>
                <a:gd name="adj1" fmla="val 10760302"/>
                <a:gd name="adj2" fmla="val 12541247"/>
                <a:gd name="adj3" fmla="val 3667"/>
              </a:avLst>
            </a:prstGeom>
            <a:gradFill>
              <a:gsLst>
                <a:gs pos="0">
                  <a:srgbClr val="B3D4FE"/>
                </a:gs>
                <a:gs pos="100000">
                  <a:srgbClr val="B3D4FE">
                    <a:alpha val="0"/>
                  </a:srgbClr>
                </a:gs>
              </a:gsLst>
              <a:lin ang="5400000" scaled="0"/>
            </a:gradFill>
            <a:ln w="12700" cmpd="sng">
              <a:solidFill>
                <a:srgbClr val="FFFFFF"/>
              </a:solidFill>
              <a:prstDash val="soli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1" name="空心弧 20"/>
            <p:cNvSpPr/>
            <p:nvPr/>
          </p:nvSpPr>
          <p:spPr>
            <a:xfrm>
              <a:off x="5279" y="5893"/>
              <a:ext cx="9090" cy="9090"/>
            </a:xfrm>
            <a:prstGeom prst="blockArc">
              <a:avLst>
                <a:gd name="adj1" fmla="val 12616891"/>
                <a:gd name="adj2" fmla="val 14340237"/>
                <a:gd name="adj3" fmla="val 3872"/>
              </a:avLst>
            </a:prstGeom>
            <a:gradFill>
              <a:gsLst>
                <a:gs pos="0">
                  <a:srgbClr val="B3D4FE"/>
                </a:gs>
                <a:gs pos="100000">
                  <a:srgbClr val="B3D4FE"/>
                </a:gs>
              </a:gsLst>
              <a:lin ang="5400000" scaled="0"/>
            </a:gradFill>
            <a:ln w="12700" cmpd="sng">
              <a:solidFill>
                <a:srgbClr val="FFFFFF"/>
              </a:solidFill>
              <a:prstDash val="soli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2" name="空心弧 21"/>
            <p:cNvSpPr/>
            <p:nvPr/>
          </p:nvSpPr>
          <p:spPr>
            <a:xfrm>
              <a:off x="5316" y="5893"/>
              <a:ext cx="9090" cy="9090"/>
            </a:xfrm>
            <a:prstGeom prst="blockArc">
              <a:avLst>
                <a:gd name="adj1" fmla="val 14413753"/>
                <a:gd name="adj2" fmla="val 16156219"/>
                <a:gd name="adj3" fmla="val 4088"/>
              </a:avLst>
            </a:prstGeom>
            <a:gradFill>
              <a:gsLst>
                <a:gs pos="0">
                  <a:srgbClr val="3368FF"/>
                </a:gs>
                <a:gs pos="100000">
                  <a:srgbClr val="B3D4FE"/>
                </a:gs>
              </a:gsLst>
              <a:lin ang="5400000" scaled="0"/>
            </a:gradFill>
            <a:ln w="12700" cmpd="sng">
              <a:solidFill>
                <a:srgbClr val="FFFFFF"/>
              </a:solidFill>
              <a:prstDash val="solid"/>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 name="空心弧 22"/>
            <p:cNvSpPr/>
            <p:nvPr/>
          </p:nvSpPr>
          <p:spPr>
            <a:xfrm>
              <a:off x="5279" y="5893"/>
              <a:ext cx="9090" cy="9090"/>
            </a:xfrm>
            <a:prstGeom prst="blockArc">
              <a:avLst>
                <a:gd name="adj1" fmla="val 16312734"/>
                <a:gd name="adj2" fmla="val 17943433"/>
                <a:gd name="adj3" fmla="val 3898"/>
              </a:avLst>
            </a:prstGeom>
            <a:gradFill>
              <a:gsLst>
                <a:gs pos="0">
                  <a:srgbClr val="3368FF"/>
                </a:gs>
                <a:gs pos="100000">
                  <a:srgbClr val="B3D4FE"/>
                </a:gs>
              </a:gsLst>
              <a:lin ang="5400000" scaled="0"/>
            </a:gradFill>
            <a:ln w="12700" cmpd="sng">
              <a:solidFill>
                <a:srgbClr val="FFFFFF"/>
              </a:solidFill>
              <a:prstDash val="soli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4" name="空心弧 23"/>
            <p:cNvSpPr/>
            <p:nvPr/>
          </p:nvSpPr>
          <p:spPr>
            <a:xfrm>
              <a:off x="5279" y="5893"/>
              <a:ext cx="9090" cy="9090"/>
            </a:xfrm>
            <a:prstGeom prst="blockArc">
              <a:avLst>
                <a:gd name="adj1" fmla="val 18048409"/>
                <a:gd name="adj2" fmla="val 19787826"/>
                <a:gd name="adj3" fmla="val 3296"/>
              </a:avLst>
            </a:prstGeom>
            <a:gradFill>
              <a:gsLst>
                <a:gs pos="0">
                  <a:srgbClr val="B3D4FE"/>
                </a:gs>
                <a:gs pos="100000">
                  <a:srgbClr val="B3D4FE"/>
                </a:gs>
              </a:gsLst>
              <a:lin ang="5400000" scaled="0"/>
            </a:gradFill>
            <a:ln w="12700" cmpd="sng">
              <a:solidFill>
                <a:srgbClr val="FFFFFF"/>
              </a:solidFill>
              <a:prstDash val="soli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 name="空心弧 24"/>
            <p:cNvSpPr/>
            <p:nvPr/>
          </p:nvSpPr>
          <p:spPr>
            <a:xfrm>
              <a:off x="5279" y="5893"/>
              <a:ext cx="9090" cy="9090"/>
            </a:xfrm>
            <a:prstGeom prst="blockArc">
              <a:avLst>
                <a:gd name="adj1" fmla="val 19851090"/>
                <a:gd name="adj2" fmla="val 21525035"/>
                <a:gd name="adj3" fmla="val 3323"/>
              </a:avLst>
            </a:prstGeom>
            <a:gradFill>
              <a:gsLst>
                <a:gs pos="0">
                  <a:srgbClr val="B3D4FE"/>
                </a:gs>
                <a:gs pos="100000">
                  <a:srgbClr val="B3D4FE">
                    <a:alpha val="0"/>
                  </a:srgbClr>
                </a:gs>
              </a:gsLst>
              <a:lin ang="5400000" scaled="0"/>
            </a:gradFill>
            <a:ln w="12700" cmpd="sng">
              <a:solidFill>
                <a:srgbClr val="FFFFFF"/>
              </a:solidFill>
              <a:prstDash val="soli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4" name="右中括号 3"/>
          <p:cNvSpPr/>
          <p:nvPr/>
        </p:nvSpPr>
        <p:spPr>
          <a:xfrm>
            <a:off x="2387600" y="4794250"/>
            <a:ext cx="139700" cy="1809750"/>
          </a:xfrm>
          <a:prstGeom prst="rightBracket">
            <a:avLst>
              <a:gd name="adj" fmla="val 55803"/>
            </a:avLst>
          </a:prstGeom>
          <a:ln w="25400">
            <a:solidFill>
              <a:srgbClr val="3368FF"/>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50" name="组合 49"/>
          <p:cNvGrpSpPr/>
          <p:nvPr/>
        </p:nvGrpSpPr>
        <p:grpSpPr>
          <a:xfrm rot="0">
            <a:off x="2540000" y="5542915"/>
            <a:ext cx="598170" cy="193675"/>
            <a:chOff x="3897" y="8477"/>
            <a:chExt cx="958" cy="310"/>
          </a:xfrm>
        </p:grpSpPr>
        <p:cxnSp>
          <p:nvCxnSpPr>
            <p:cNvPr id="7" name="直接连接符 6"/>
            <p:cNvCxnSpPr/>
            <p:nvPr/>
          </p:nvCxnSpPr>
          <p:spPr>
            <a:xfrm>
              <a:off x="3897" y="8481"/>
              <a:ext cx="293" cy="0"/>
            </a:xfrm>
            <a:prstGeom prst="line">
              <a:avLst/>
            </a:prstGeom>
            <a:ln w="19050">
              <a:solidFill>
                <a:srgbClr val="3368FF"/>
              </a:solidFill>
            </a:ln>
          </p:spPr>
          <p:style>
            <a:lnRef idx="2">
              <a:srgbClr val="0042FF"/>
            </a:lnRef>
            <a:fillRef idx="0">
              <a:srgbClr val="FFFFFF"/>
            </a:fillRef>
            <a:effectRef idx="0">
              <a:srgbClr val="FFFFFF"/>
            </a:effectRef>
            <a:fontRef idx="minor">
              <a:srgbClr val="383838"/>
            </a:fontRef>
          </p:style>
        </p:cxnSp>
        <p:cxnSp>
          <p:nvCxnSpPr>
            <p:cNvPr id="12" name="直接箭头连接符 11"/>
            <p:cNvCxnSpPr/>
            <p:nvPr/>
          </p:nvCxnSpPr>
          <p:spPr>
            <a:xfrm>
              <a:off x="4179" y="8477"/>
              <a:ext cx="677" cy="310"/>
            </a:xfrm>
            <a:prstGeom prst="straightConnector1">
              <a:avLst/>
            </a:prstGeom>
            <a:ln w="19050">
              <a:solidFill>
                <a:srgbClr val="3368FF"/>
              </a:solidFill>
              <a:headEnd type="none"/>
              <a:tailEnd type="triangle"/>
            </a:ln>
          </p:spPr>
          <p:style>
            <a:lnRef idx="2">
              <a:srgbClr val="0042FF"/>
            </a:lnRef>
            <a:fillRef idx="0">
              <a:srgbClr val="FFFFFF"/>
            </a:fillRef>
            <a:effectRef idx="0">
              <a:srgbClr val="FFFFFF"/>
            </a:effectRef>
            <a:fontRef idx="minor">
              <a:srgbClr val="383838"/>
            </a:fontRef>
          </p:style>
        </p:cxnSp>
      </p:grpSp>
      <p:sp>
        <p:nvSpPr>
          <p:cNvPr id="14" name="右中括号 13"/>
          <p:cNvSpPr/>
          <p:nvPr/>
        </p:nvSpPr>
        <p:spPr>
          <a:xfrm>
            <a:off x="5468620" y="1098550"/>
            <a:ext cx="139700" cy="1983740"/>
          </a:xfrm>
          <a:prstGeom prst="rightBracket">
            <a:avLst>
              <a:gd name="adj" fmla="val 68750"/>
            </a:avLst>
          </a:prstGeom>
          <a:ln w="25400">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0" name="椭圆 29"/>
          <p:cNvSpPr/>
          <p:nvPr/>
        </p:nvSpPr>
        <p:spPr>
          <a:xfrm>
            <a:off x="4521200" y="4914265"/>
            <a:ext cx="3193415" cy="3193415"/>
          </a:xfrm>
          <a:prstGeom prst="ellipse">
            <a:avLst/>
          </a:prstGeom>
          <a:noFill/>
          <a:ln w="19050">
            <a:gradFill>
              <a:gsLst>
                <a:gs pos="0">
                  <a:srgbClr val="B3D4FE"/>
                </a:gs>
                <a:gs pos="55000">
                  <a:srgbClr val="B3D4FE">
                    <a:alpha val="0"/>
                  </a:srgbClr>
                </a:gs>
              </a:gsLst>
              <a:lin ang="5400000" scaled="1"/>
            </a:gradFill>
            <a:prstDash val="dashDot"/>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08" name="显眼包PPT82"/>
          <p:cNvSpPr/>
          <p:nvPr/>
        </p:nvSpPr>
        <p:spPr>
          <a:xfrm>
            <a:off x="5032375" y="5998845"/>
            <a:ext cx="2178050" cy="444500"/>
          </a:xfrm>
          <a:prstGeom prst="ellipse">
            <a:avLst/>
          </a:prstGeom>
          <a:gradFill>
            <a:gsLst>
              <a:gs pos="17000">
                <a:srgbClr val="FFFFFF">
                  <a:alpha val="16000"/>
                </a:srgbClr>
              </a:gs>
              <a:gs pos="80000">
                <a:srgbClr val="B3D4FE"/>
              </a:gs>
            </a:gsLst>
            <a:lin ang="5400000" scaled="0"/>
          </a:gradFill>
          <a:ln>
            <a:gradFill>
              <a:gsLst>
                <a:gs pos="62000">
                  <a:srgbClr val="B3D4FE"/>
                </a:gs>
                <a:gs pos="0">
                  <a:srgbClr val="FFFF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grpSp>
        <p:nvGrpSpPr>
          <p:cNvPr id="158" name="组合 157"/>
          <p:cNvGrpSpPr/>
          <p:nvPr/>
        </p:nvGrpSpPr>
        <p:grpSpPr>
          <a:xfrm rot="0">
            <a:off x="596900" y="2687320"/>
            <a:ext cx="2440305" cy="775335"/>
            <a:chOff x="471744" y="2027338"/>
            <a:chExt cx="2750227" cy="709743"/>
          </a:xfrm>
          <a:scene3d>
            <a:camera prst="orthographicFront"/>
            <a:lightRig rig="glow" dir="t"/>
          </a:scene3d>
        </p:grpSpPr>
        <p:grpSp>
          <p:nvGrpSpPr>
            <p:cNvPr id="151" name="组合 150"/>
            <p:cNvGrpSpPr/>
            <p:nvPr/>
          </p:nvGrpSpPr>
          <p:grpSpPr>
            <a:xfrm flipH="1">
              <a:off x="471744" y="2027338"/>
              <a:ext cx="2750227" cy="709743"/>
              <a:chOff x="9308353" y="2003165"/>
              <a:chExt cx="2750227" cy="972368"/>
            </a:xfrm>
          </p:grpSpPr>
          <p:sp>
            <p:nvSpPr>
              <p:cNvPr id="155" name="显眼包PPT-1"/>
              <p:cNvSpPr/>
              <p:nvPr>
                <p:custDataLst>
                  <p:tags r:id="rId3"/>
                </p:custDataLst>
              </p:nvPr>
            </p:nvSpPr>
            <p:spPr>
              <a:xfrm flipV="1">
                <a:off x="9308353" y="2003165"/>
                <a:ext cx="2750227" cy="972368"/>
              </a:xfrm>
              <a:prstGeom prst="snip2DiagRect">
                <a:avLst>
                  <a:gd name="adj1" fmla="val 0"/>
                  <a:gd name="adj2" fmla="val 16421"/>
                </a:avLst>
              </a:prstGeom>
              <a:gradFill>
                <a:gsLst>
                  <a:gs pos="0">
                    <a:srgbClr val="FFFFFF">
                      <a:alpha val="0"/>
                    </a:srgbClr>
                  </a:gs>
                  <a:gs pos="100000">
                    <a:srgbClr val="FFFFFF"/>
                  </a:gs>
                </a:gsLst>
                <a:lin ang="0" scaled="1"/>
              </a:gradFill>
              <a:ln w="9525">
                <a:gradFill flip="none" rotWithShape="1">
                  <a:gsLst>
                    <a:gs pos="14000">
                      <a:srgbClr val="B3D4FE"/>
                    </a:gs>
                    <a:gs pos="100000">
                      <a:srgbClr val="B3D4FE"/>
                    </a:gs>
                  </a:gsLst>
                  <a:lin ang="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156" name="显眼包PPT-2"/>
              <p:cNvSpPr/>
              <p:nvPr>
                <p:custDataLst>
                  <p:tags r:id="rId4"/>
                </p:custDataLst>
              </p:nvPr>
            </p:nvSpPr>
            <p:spPr>
              <a:xfrm flipH="1">
                <a:off x="11961514" y="2862822"/>
                <a:ext cx="97063" cy="112711"/>
              </a:xfrm>
              <a:prstGeom prst="rtTriangle">
                <a:avLst/>
              </a:prstGeom>
              <a:solidFill>
                <a:srgbClr val="B3D4FE"/>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153" name="显眼包PPT-3"/>
            <p:cNvSpPr txBox="1"/>
            <p:nvPr>
              <p:custDataLst>
                <p:tags r:id="rId5"/>
              </p:custDataLst>
            </p:nvPr>
          </p:nvSpPr>
          <p:spPr>
            <a:xfrm flipH="1">
              <a:off x="762239" y="2085232"/>
              <a:ext cx="2148791" cy="168613"/>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200" b="1" dirty="0">
                  <a:solidFill>
                    <a:srgbClr val="0042FF"/>
                  </a:solidFill>
                  <a:effectLst/>
                  <a:latin typeface="微软雅黑"/>
                  <a:ea typeface="微软雅黑"/>
                  <a:cs typeface="微软雅黑"/>
                </a:rPr>
                <a:t>技术选型与可扩展性设计</a:t>
              </a:r>
              <a:endParaRPr lang="zh-CN" altLang="en-US" sz="1200" b="1" dirty="0">
                <a:solidFill>
                  <a:srgbClr val="0042FF"/>
                </a:solidFill>
                <a:effectLst/>
                <a:latin typeface="微软雅黑"/>
                <a:ea typeface="微软雅黑"/>
                <a:cs typeface="微软雅黑"/>
              </a:endParaRPr>
            </a:p>
          </p:txBody>
        </p:sp>
      </p:grpSp>
      <p:sp>
        <p:nvSpPr>
          <p:cNvPr id="45" name="显眼包PPT-4"/>
          <p:cNvSpPr/>
          <p:nvPr/>
        </p:nvSpPr>
        <p:spPr>
          <a:xfrm>
            <a:off x="556895" y="4865370"/>
            <a:ext cx="1805305" cy="382905"/>
          </a:xfrm>
          <a:prstGeom prst="snip2DiagRect">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痛点挖掘与用户画像</a:t>
            </a:r>
            <a:endParaRPr lang="zh-CN" altLang="en-US" sz="1200" b="1">
              <a:solidFill>
                <a:srgbClr val="0042FF"/>
              </a:solidFill>
              <a:latin typeface="微软雅黑"/>
              <a:ea typeface="微软雅黑"/>
              <a:cs typeface="微软雅黑"/>
              <a:sym typeface="微软雅黑"/>
            </a:endParaRPr>
          </a:p>
        </p:txBody>
      </p:sp>
      <p:sp>
        <p:nvSpPr>
          <p:cNvPr id="47" name="显眼包PPT-4"/>
          <p:cNvSpPr/>
          <p:nvPr/>
        </p:nvSpPr>
        <p:spPr>
          <a:xfrm>
            <a:off x="556895" y="5300980"/>
            <a:ext cx="1805305" cy="382905"/>
          </a:xfrm>
          <a:prstGeom prst="snip2DiagRect">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竞品分析与差异定位</a:t>
            </a:r>
            <a:endParaRPr lang="zh-CN" altLang="en-US" sz="1200" b="1">
              <a:solidFill>
                <a:srgbClr val="0042FF"/>
              </a:solidFill>
              <a:latin typeface="微软雅黑"/>
              <a:ea typeface="微软雅黑"/>
              <a:cs typeface="微软雅黑"/>
              <a:sym typeface="微软雅黑"/>
            </a:endParaRPr>
          </a:p>
        </p:txBody>
      </p:sp>
      <p:sp>
        <p:nvSpPr>
          <p:cNvPr id="48" name="显眼包PPT-4"/>
          <p:cNvSpPr/>
          <p:nvPr/>
        </p:nvSpPr>
        <p:spPr>
          <a:xfrm>
            <a:off x="556895" y="5736590"/>
            <a:ext cx="1805305" cy="382905"/>
          </a:xfrm>
          <a:prstGeom prst="snip2DiagRect">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200" b="1">
                <a:solidFill>
                  <a:srgbClr val="0042FF"/>
                </a:solidFill>
                <a:latin typeface="微软雅黑"/>
                <a:ea typeface="微软雅黑"/>
                <a:cs typeface="微软雅黑"/>
                <a:sym typeface="微软雅黑"/>
              </a:rPr>
              <a:t>MVP</a:t>
            </a:r>
            <a:r>
              <a:rPr lang="zh-CN" altLang="en-US" sz="1200" b="1">
                <a:solidFill>
                  <a:srgbClr val="0042FF"/>
                </a:solidFill>
                <a:latin typeface="微软雅黑"/>
                <a:ea typeface="微软雅黑"/>
                <a:cs typeface="微软雅黑"/>
                <a:sym typeface="微软雅黑"/>
              </a:rPr>
              <a:t>路径规划</a:t>
            </a:r>
            <a:endParaRPr lang="zh-CN" altLang="en-US" sz="1200" b="1">
              <a:solidFill>
                <a:srgbClr val="0042FF"/>
              </a:solidFill>
              <a:latin typeface="微软雅黑"/>
              <a:ea typeface="微软雅黑"/>
              <a:cs typeface="微软雅黑"/>
              <a:sym typeface="微软雅黑"/>
            </a:endParaRPr>
          </a:p>
        </p:txBody>
      </p:sp>
      <p:sp>
        <p:nvSpPr>
          <p:cNvPr id="49" name="显眼包PPT-4"/>
          <p:cNvSpPr/>
          <p:nvPr/>
        </p:nvSpPr>
        <p:spPr>
          <a:xfrm>
            <a:off x="556895" y="6172200"/>
            <a:ext cx="1805305" cy="382905"/>
          </a:xfrm>
          <a:prstGeom prst="snip2DiagRect">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商业模式初步假设</a:t>
            </a:r>
            <a:endParaRPr lang="zh-CN" altLang="en-US" sz="1200" b="1">
              <a:solidFill>
                <a:srgbClr val="0042FF"/>
              </a:solidFill>
              <a:latin typeface="微软雅黑"/>
              <a:ea typeface="微软雅黑"/>
              <a:cs typeface="微软雅黑"/>
              <a:sym typeface="微软雅黑"/>
            </a:endParaRPr>
          </a:p>
        </p:txBody>
      </p:sp>
      <p:sp>
        <p:nvSpPr>
          <p:cNvPr id="52" name="右中括号 51"/>
          <p:cNvSpPr/>
          <p:nvPr/>
        </p:nvSpPr>
        <p:spPr>
          <a:xfrm>
            <a:off x="3037205" y="2632710"/>
            <a:ext cx="139700" cy="1809750"/>
          </a:xfrm>
          <a:prstGeom prst="rightBracket">
            <a:avLst>
              <a:gd name="adj" fmla="val 55803"/>
            </a:avLst>
          </a:prstGeom>
          <a:ln w="25400">
            <a:solidFill>
              <a:srgbClr val="B3D4FE"/>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54" name="组合 53"/>
          <p:cNvGrpSpPr/>
          <p:nvPr/>
        </p:nvGrpSpPr>
        <p:grpSpPr>
          <a:xfrm rot="0" flipH="1">
            <a:off x="596900" y="3590925"/>
            <a:ext cx="2440305" cy="775335"/>
            <a:chOff x="9308353" y="2003165"/>
            <a:chExt cx="2750227" cy="972368"/>
          </a:xfrm>
          <a:scene3d>
            <a:camera prst="orthographicFront"/>
            <a:lightRig rig="glow" dir="t"/>
          </a:scene3d>
        </p:grpSpPr>
        <p:sp>
          <p:nvSpPr>
            <p:cNvPr id="55" name="显眼包PPT-1"/>
            <p:cNvSpPr/>
            <p:nvPr>
              <p:custDataLst>
                <p:tags r:id="rId6"/>
              </p:custDataLst>
            </p:nvPr>
          </p:nvSpPr>
          <p:spPr>
            <a:xfrm flipV="1">
              <a:off x="9308353" y="2003165"/>
              <a:ext cx="2750227" cy="972368"/>
            </a:xfrm>
            <a:prstGeom prst="snip2DiagRect">
              <a:avLst>
                <a:gd name="adj1" fmla="val 0"/>
                <a:gd name="adj2" fmla="val 16421"/>
              </a:avLst>
            </a:prstGeom>
            <a:gradFill>
              <a:gsLst>
                <a:gs pos="0">
                  <a:srgbClr val="FFFFFF">
                    <a:alpha val="0"/>
                  </a:srgbClr>
                </a:gs>
                <a:gs pos="100000">
                  <a:srgbClr val="FFFFFF"/>
                </a:gs>
              </a:gsLst>
              <a:lin ang="0" scaled="1"/>
            </a:gradFill>
            <a:ln w="9525">
              <a:gradFill flip="none" rotWithShape="1">
                <a:gsLst>
                  <a:gs pos="14000">
                    <a:srgbClr val="B3D4FE"/>
                  </a:gs>
                  <a:gs pos="100000">
                    <a:srgbClr val="B3D4FE"/>
                  </a:gs>
                </a:gsLst>
                <a:lin ang="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56" name="显眼包PPT-2"/>
            <p:cNvSpPr/>
            <p:nvPr>
              <p:custDataLst>
                <p:tags r:id="rId7"/>
              </p:custDataLst>
            </p:nvPr>
          </p:nvSpPr>
          <p:spPr>
            <a:xfrm flipH="1">
              <a:off x="11961514" y="2862822"/>
              <a:ext cx="97063" cy="112711"/>
            </a:xfrm>
            <a:prstGeom prst="rtTriangle">
              <a:avLst/>
            </a:prstGeom>
            <a:solidFill>
              <a:srgbClr val="B3D4FE"/>
            </a:solid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59" name="显眼包PPT-4"/>
          <p:cNvSpPr/>
          <p:nvPr/>
        </p:nvSpPr>
        <p:spPr>
          <a:xfrm>
            <a:off x="3383915" y="1175385"/>
            <a:ext cx="2084705" cy="382905"/>
          </a:xfrm>
          <a:prstGeom prst="snip2DiagRect">
            <a:avLst/>
          </a:prstGeom>
          <a:gradFill>
            <a:gsLst>
              <a:gs pos="0">
                <a:srgbClr val="3368FF">
                  <a:alpha val="0"/>
                </a:srgbClr>
              </a:gs>
              <a:gs pos="53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r">
              <a:buClrTx/>
              <a:buSzTx/>
              <a:buFontTx/>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项目冷启动策略</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0" name="显眼包PPT-4"/>
          <p:cNvSpPr/>
          <p:nvPr/>
        </p:nvSpPr>
        <p:spPr>
          <a:xfrm>
            <a:off x="3383915" y="1659255"/>
            <a:ext cx="2084705" cy="382905"/>
          </a:xfrm>
          <a:prstGeom prst="snip2DiagRect">
            <a:avLst/>
          </a:prstGeom>
          <a:gradFill>
            <a:gsLst>
              <a:gs pos="0">
                <a:srgbClr val="3368FF">
                  <a:alpha val="0"/>
                </a:srgbClr>
              </a:gs>
              <a:gs pos="63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r">
              <a:buClrTx/>
              <a:buSzTx/>
              <a:buFontTx/>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AARRR</a:t>
            </a: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增长模型应用</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1" name="显眼包PPT-4"/>
          <p:cNvSpPr/>
          <p:nvPr/>
        </p:nvSpPr>
        <p:spPr>
          <a:xfrm>
            <a:off x="3383915" y="2142490"/>
            <a:ext cx="2084705" cy="382905"/>
          </a:xfrm>
          <a:prstGeom prst="snip2DiagRect">
            <a:avLst/>
          </a:prstGeom>
          <a:gradFill>
            <a:gsLst>
              <a:gs pos="0">
                <a:srgbClr val="3368FF">
                  <a:alpha val="0"/>
                </a:srgbClr>
              </a:gs>
              <a:gs pos="53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r">
              <a:buClrTx/>
              <a:buSzTx/>
              <a:buFontTx/>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内容与社区生态建设</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2" name="显眼包PPT-4"/>
          <p:cNvSpPr/>
          <p:nvPr/>
        </p:nvSpPr>
        <p:spPr>
          <a:xfrm>
            <a:off x="3383915" y="2626360"/>
            <a:ext cx="2084705" cy="382905"/>
          </a:xfrm>
          <a:prstGeom prst="snip2DiagRect">
            <a:avLst/>
          </a:prstGeom>
          <a:gradFill>
            <a:gsLst>
              <a:gs pos="0">
                <a:srgbClr val="3368FF">
                  <a:alpha val="0"/>
                </a:srgbClr>
              </a:gs>
              <a:gs pos="53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r">
              <a:buClrTx/>
              <a:buSzTx/>
              <a:buFontTx/>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渠道拓展与</a:t>
            </a: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ASO</a:t>
            </a: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优化</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3" name="右中括号 62"/>
          <p:cNvSpPr/>
          <p:nvPr/>
        </p:nvSpPr>
        <p:spPr>
          <a:xfrm flipH="1">
            <a:off x="6741795" y="1098550"/>
            <a:ext cx="139700" cy="1983740"/>
          </a:xfrm>
          <a:prstGeom prst="rightBracket">
            <a:avLst>
              <a:gd name="adj" fmla="val 68750"/>
            </a:avLst>
          </a:prstGeom>
          <a:ln w="25400">
            <a:solidFill>
              <a:srgbClr val="B3D4FE"/>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4" name="显眼包PPT-4"/>
          <p:cNvSpPr/>
          <p:nvPr/>
        </p:nvSpPr>
        <p:spPr>
          <a:xfrm flipH="1">
            <a:off x="6972935" y="1098550"/>
            <a:ext cx="2237740" cy="382905"/>
          </a:xfrm>
          <a:prstGeom prst="snip2DiagRect">
            <a:avLst/>
          </a:prstGeom>
          <a:gradFill>
            <a:gsLst>
              <a:gs pos="0">
                <a:srgbClr val="B3D4FE">
                  <a:alpha val="0"/>
                </a:srgbClr>
              </a:gs>
              <a:gs pos="53000">
                <a:srgbClr val="B3D4FE"/>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l">
              <a:buClrTx/>
              <a:buSzTx/>
              <a:buFontTx/>
              <a:defRPr>
                <a:latin typeface="微软雅黑"/>
                <a:ea typeface="微软雅黑"/>
                <a:cs typeface="微软雅黑"/>
              </a:defRPr>
            </a:pPr>
            <a:r>
              <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关键角色配置（铁三角）</a:t>
            </a:r>
            <a:endPar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5" name="显眼包PPT-4"/>
          <p:cNvSpPr/>
          <p:nvPr/>
        </p:nvSpPr>
        <p:spPr>
          <a:xfrm flipH="1">
            <a:off x="6972935" y="1607820"/>
            <a:ext cx="2237740" cy="382905"/>
          </a:xfrm>
          <a:prstGeom prst="snip2DiagRect">
            <a:avLst/>
          </a:prstGeom>
          <a:gradFill>
            <a:gsLst>
              <a:gs pos="0">
                <a:srgbClr val="B3D4FE">
                  <a:alpha val="0"/>
                </a:srgbClr>
              </a:gs>
              <a:gs pos="53000">
                <a:srgbClr val="B3D4FE"/>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l">
              <a:buClrTx/>
              <a:buSzTx/>
              <a:buFontTx/>
              <a:defRPr>
                <a:latin typeface="微软雅黑"/>
                <a:ea typeface="微软雅黑"/>
                <a:cs typeface="微软雅黑"/>
              </a:defRPr>
            </a:pPr>
            <a:r>
              <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目标对齐与</a:t>
            </a:r>
            <a:r>
              <a:rPr lang="en-US" altLang="zh-CN"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 OKR </a:t>
            </a:r>
            <a:r>
              <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管理</a:t>
            </a:r>
            <a:endPar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6" name="显眼包PPT-4"/>
          <p:cNvSpPr/>
          <p:nvPr/>
        </p:nvSpPr>
        <p:spPr>
          <a:xfrm flipH="1">
            <a:off x="6972935" y="2117090"/>
            <a:ext cx="2237740" cy="382905"/>
          </a:xfrm>
          <a:prstGeom prst="snip2DiagRect">
            <a:avLst/>
          </a:prstGeom>
          <a:gradFill>
            <a:gsLst>
              <a:gs pos="0">
                <a:srgbClr val="B3D4FE">
                  <a:alpha val="0"/>
                </a:srgbClr>
              </a:gs>
              <a:gs pos="53000">
                <a:srgbClr val="B3D4FE"/>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l">
              <a:buClrTx/>
              <a:buSzTx/>
              <a:buFontTx/>
              <a:defRPr>
                <a:latin typeface="微软雅黑"/>
                <a:ea typeface="微软雅黑"/>
                <a:cs typeface="微软雅黑"/>
              </a:defRPr>
            </a:pPr>
            <a:r>
              <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高效沟通与文档沉淀</a:t>
            </a:r>
            <a:endParaRPr lang="en-US" altLang="zh-CN"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7" name="显眼包PPT-4"/>
          <p:cNvSpPr/>
          <p:nvPr/>
        </p:nvSpPr>
        <p:spPr>
          <a:xfrm flipH="1">
            <a:off x="6972935" y="2626360"/>
            <a:ext cx="2177415" cy="382905"/>
          </a:xfrm>
          <a:prstGeom prst="snip2DiagRect">
            <a:avLst/>
          </a:prstGeom>
          <a:gradFill>
            <a:gsLst>
              <a:gs pos="0">
                <a:srgbClr val="B3D4FE">
                  <a:alpha val="0"/>
                </a:srgbClr>
              </a:gs>
              <a:gs pos="53000">
                <a:srgbClr val="B3D4FE"/>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l">
              <a:buClrTx/>
              <a:buSzTx/>
              <a:buFontTx/>
              <a:defRPr>
                <a:latin typeface="微软雅黑"/>
                <a:ea typeface="微软雅黑"/>
                <a:cs typeface="微软雅黑"/>
              </a:defRPr>
            </a:pPr>
            <a:r>
              <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rPr>
              <a:t>激励机制与文化建设</a:t>
            </a:r>
            <a:endParaRPr lang="zh-CN" altLang="en-US" sz="1400" b="1">
              <a:solidFill>
                <a:srgbClr val="383838"/>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68" name="右中括号 67"/>
          <p:cNvSpPr/>
          <p:nvPr/>
        </p:nvSpPr>
        <p:spPr>
          <a:xfrm flipH="1">
            <a:off x="9646920" y="4794250"/>
            <a:ext cx="139700" cy="1809750"/>
          </a:xfrm>
          <a:prstGeom prst="rightBracket">
            <a:avLst>
              <a:gd name="adj" fmla="val 55803"/>
            </a:avLst>
          </a:prstGeom>
          <a:ln w="25400">
            <a:solidFill>
              <a:srgbClr val="B3D4FE"/>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69" name="显眼包PPT-4"/>
          <p:cNvSpPr/>
          <p:nvPr/>
        </p:nvSpPr>
        <p:spPr>
          <a:xfrm flipH="1">
            <a:off x="9864090" y="4794250"/>
            <a:ext cx="1876425" cy="382905"/>
          </a:xfrm>
          <a:prstGeom prst="snip2DiagRect">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北极星指标的确立</a:t>
            </a:r>
            <a:endParaRPr lang="zh-CN" altLang="en-US" sz="1200" b="1">
              <a:solidFill>
                <a:srgbClr val="0042FF"/>
              </a:solidFill>
              <a:latin typeface="微软雅黑"/>
              <a:ea typeface="微软雅黑"/>
              <a:cs typeface="微软雅黑"/>
              <a:sym typeface="微软雅黑"/>
            </a:endParaRPr>
          </a:p>
        </p:txBody>
      </p:sp>
      <p:sp>
        <p:nvSpPr>
          <p:cNvPr id="70" name="显眼包PPT-4"/>
          <p:cNvSpPr/>
          <p:nvPr/>
        </p:nvSpPr>
        <p:spPr>
          <a:xfrm flipH="1">
            <a:off x="9864090" y="5269865"/>
            <a:ext cx="1876425" cy="382905"/>
          </a:xfrm>
          <a:prstGeom prst="snip2DiagRect">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200" b="1">
                <a:solidFill>
                  <a:srgbClr val="0042FF"/>
                </a:solidFill>
                <a:latin typeface="微软雅黑"/>
                <a:ea typeface="微软雅黑"/>
                <a:cs typeface="微软雅黑"/>
                <a:sym typeface="微软雅黑"/>
              </a:rPr>
              <a:t>A/B </a:t>
            </a:r>
            <a:r>
              <a:rPr lang="zh-CN" altLang="en-US" sz="1200" b="1">
                <a:solidFill>
                  <a:srgbClr val="0042FF"/>
                </a:solidFill>
                <a:latin typeface="微软雅黑"/>
                <a:ea typeface="微软雅黑"/>
                <a:cs typeface="微软雅黑"/>
                <a:sym typeface="微软雅黑"/>
              </a:rPr>
              <a:t>测试与转化率优化</a:t>
            </a:r>
            <a:endParaRPr lang="zh-CN" altLang="en-US" sz="1200" b="1">
              <a:solidFill>
                <a:srgbClr val="0042FF"/>
              </a:solidFill>
              <a:latin typeface="微软雅黑"/>
              <a:ea typeface="微软雅黑"/>
              <a:cs typeface="微软雅黑"/>
              <a:sym typeface="微软雅黑"/>
            </a:endParaRPr>
          </a:p>
        </p:txBody>
      </p:sp>
      <p:sp>
        <p:nvSpPr>
          <p:cNvPr id="71" name="显眼包PPT-4"/>
          <p:cNvSpPr/>
          <p:nvPr/>
        </p:nvSpPr>
        <p:spPr>
          <a:xfrm flipH="1">
            <a:off x="9864090" y="5745480"/>
            <a:ext cx="1876425" cy="382905"/>
          </a:xfrm>
          <a:prstGeom prst="snip2DiagRect">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用户反馈与需求管理</a:t>
            </a:r>
            <a:endParaRPr lang="zh-CN" altLang="en-US" sz="1200" b="1">
              <a:solidFill>
                <a:srgbClr val="0042FF"/>
              </a:solidFill>
              <a:latin typeface="微软雅黑"/>
              <a:ea typeface="微软雅黑"/>
              <a:cs typeface="微软雅黑"/>
              <a:sym typeface="微软雅黑"/>
            </a:endParaRPr>
          </a:p>
        </p:txBody>
      </p:sp>
      <p:sp>
        <p:nvSpPr>
          <p:cNvPr id="72" name="显眼包PPT-4"/>
          <p:cNvSpPr/>
          <p:nvPr/>
        </p:nvSpPr>
        <p:spPr>
          <a:xfrm flipH="1">
            <a:off x="9864090" y="6221095"/>
            <a:ext cx="1876425" cy="382905"/>
          </a:xfrm>
          <a:prstGeom prst="snip2DiagRect">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产全生命周期规划</a:t>
            </a:r>
            <a:endParaRPr lang="zh-CN" altLang="en-US" sz="1200" b="1">
              <a:solidFill>
                <a:srgbClr val="0042FF"/>
              </a:solidFill>
              <a:latin typeface="微软雅黑"/>
              <a:ea typeface="微软雅黑"/>
              <a:cs typeface="微软雅黑"/>
              <a:sym typeface="微软雅黑"/>
            </a:endParaRPr>
          </a:p>
        </p:txBody>
      </p:sp>
      <p:grpSp>
        <p:nvGrpSpPr>
          <p:cNvPr id="77" name="组合 76"/>
          <p:cNvGrpSpPr/>
          <p:nvPr/>
        </p:nvGrpSpPr>
        <p:grpSpPr>
          <a:xfrm rot="0">
            <a:off x="5610225" y="1771650"/>
            <a:ext cx="279400" cy="1651635"/>
            <a:chOff x="8828" y="2053"/>
            <a:chExt cx="448" cy="3255"/>
          </a:xfrm>
        </p:grpSpPr>
        <p:cxnSp>
          <p:nvCxnSpPr>
            <p:cNvPr id="73" name="直接箭头连接符 72"/>
            <p:cNvCxnSpPr/>
            <p:nvPr/>
          </p:nvCxnSpPr>
          <p:spPr>
            <a:xfrm>
              <a:off x="9261" y="2056"/>
              <a:ext cx="14" cy="3252"/>
            </a:xfrm>
            <a:prstGeom prst="straightConnector1">
              <a:avLst/>
            </a:prstGeom>
            <a:ln w="19050">
              <a:solidFill>
                <a:srgbClr val="3368FF"/>
              </a:solidFill>
              <a:headEnd type="none"/>
              <a:tailEnd type="triangle"/>
            </a:ln>
          </p:spPr>
          <p:style>
            <a:lnRef idx="2">
              <a:srgbClr val="0042FF"/>
            </a:lnRef>
            <a:fillRef idx="0">
              <a:srgbClr val="FFFFFF"/>
            </a:fillRef>
            <a:effectRef idx="0">
              <a:srgbClr val="FFFFFF"/>
            </a:effectRef>
            <a:fontRef idx="minor">
              <a:srgbClr val="383838"/>
            </a:fontRef>
          </p:style>
        </p:cxnSp>
        <p:cxnSp>
          <p:nvCxnSpPr>
            <p:cNvPr id="74" name="直接连接符 73"/>
            <p:cNvCxnSpPr/>
            <p:nvPr/>
          </p:nvCxnSpPr>
          <p:spPr>
            <a:xfrm flipH="1">
              <a:off x="8828" y="2053"/>
              <a:ext cx="448" cy="1"/>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78" name="组合 77"/>
          <p:cNvGrpSpPr/>
          <p:nvPr/>
        </p:nvGrpSpPr>
        <p:grpSpPr>
          <a:xfrm rot="0" flipH="1">
            <a:off x="6469380" y="1769745"/>
            <a:ext cx="279400" cy="1651635"/>
            <a:chOff x="8828" y="2053"/>
            <a:chExt cx="448" cy="3255"/>
          </a:xfrm>
        </p:grpSpPr>
        <p:cxnSp>
          <p:nvCxnSpPr>
            <p:cNvPr id="79" name="直接箭头连接符 78"/>
            <p:cNvCxnSpPr/>
            <p:nvPr/>
          </p:nvCxnSpPr>
          <p:spPr>
            <a:xfrm>
              <a:off x="9261" y="2056"/>
              <a:ext cx="14" cy="3252"/>
            </a:xfrm>
            <a:prstGeom prst="straightConnector1">
              <a:avLst/>
            </a:prstGeom>
            <a:ln w="19050">
              <a:solidFill>
                <a:srgbClr val="B3D4FE"/>
              </a:solidFill>
              <a:headEnd type="none"/>
              <a:tailEnd type="triangle"/>
            </a:ln>
          </p:spPr>
          <p:style>
            <a:lnRef idx="2">
              <a:srgbClr val="0042FF"/>
            </a:lnRef>
            <a:fillRef idx="0">
              <a:srgbClr val="FFFFFF"/>
            </a:fillRef>
            <a:effectRef idx="0">
              <a:srgbClr val="FFFFFF"/>
            </a:effectRef>
            <a:fontRef idx="minor">
              <a:srgbClr val="383838"/>
            </a:fontRef>
          </p:style>
        </p:cxnSp>
        <p:cxnSp>
          <p:nvCxnSpPr>
            <p:cNvPr id="80" name="直接连接符 79"/>
            <p:cNvCxnSpPr/>
            <p:nvPr/>
          </p:nvCxnSpPr>
          <p:spPr>
            <a:xfrm flipH="1">
              <a:off x="8828" y="2053"/>
              <a:ext cx="448" cy="1"/>
            </a:xfrm>
            <a:prstGeom prst="line">
              <a:avLst/>
            </a:prstGeom>
            <a:ln w="25400">
              <a:solidFill>
                <a:srgbClr val="B3D4FE"/>
              </a:solidFill>
            </a:ln>
          </p:spPr>
          <p:style>
            <a:lnRef idx="2">
              <a:srgbClr val="0042FF"/>
            </a:lnRef>
            <a:fillRef idx="0">
              <a:srgbClr val="FFFFFF"/>
            </a:fillRef>
            <a:effectRef idx="0">
              <a:srgbClr val="FFFFFF"/>
            </a:effectRef>
            <a:fontRef idx="minor">
              <a:srgbClr val="383838"/>
            </a:fontRef>
          </p:style>
        </p:cxnSp>
      </p:grpSp>
      <p:grpSp>
        <p:nvGrpSpPr>
          <p:cNvPr id="81" name="组合 80"/>
          <p:cNvGrpSpPr/>
          <p:nvPr/>
        </p:nvGrpSpPr>
        <p:grpSpPr>
          <a:xfrm rot="0" flipH="1">
            <a:off x="9058275" y="5459730"/>
            <a:ext cx="598170" cy="193675"/>
            <a:chOff x="3897" y="8477"/>
            <a:chExt cx="958" cy="310"/>
          </a:xfrm>
        </p:grpSpPr>
        <p:cxnSp>
          <p:nvCxnSpPr>
            <p:cNvPr id="82" name="直接连接符 81"/>
            <p:cNvCxnSpPr/>
            <p:nvPr/>
          </p:nvCxnSpPr>
          <p:spPr>
            <a:xfrm>
              <a:off x="3897" y="8481"/>
              <a:ext cx="293" cy="0"/>
            </a:xfrm>
            <a:prstGeom prst="line">
              <a:avLst/>
            </a:prstGeom>
            <a:ln w="19050">
              <a:solidFill>
                <a:srgbClr val="B3D4FE"/>
              </a:solidFill>
            </a:ln>
          </p:spPr>
          <p:style>
            <a:lnRef idx="2">
              <a:srgbClr val="0042FF"/>
            </a:lnRef>
            <a:fillRef idx="0">
              <a:srgbClr val="FFFFFF"/>
            </a:fillRef>
            <a:effectRef idx="0">
              <a:srgbClr val="FFFFFF"/>
            </a:effectRef>
            <a:fontRef idx="minor">
              <a:srgbClr val="383838"/>
            </a:fontRef>
          </p:style>
        </p:cxnSp>
        <p:cxnSp>
          <p:nvCxnSpPr>
            <p:cNvPr id="83" name="直接箭头连接符 82"/>
            <p:cNvCxnSpPr/>
            <p:nvPr/>
          </p:nvCxnSpPr>
          <p:spPr>
            <a:xfrm>
              <a:off x="4179" y="8477"/>
              <a:ext cx="677" cy="310"/>
            </a:xfrm>
            <a:prstGeom prst="straightConnector1">
              <a:avLst/>
            </a:prstGeom>
            <a:ln w="19050">
              <a:solidFill>
                <a:srgbClr val="B3D4FE"/>
              </a:solidFill>
              <a:headEnd type="none"/>
              <a:tailEnd type="triangle"/>
            </a:ln>
          </p:spPr>
          <p:style>
            <a:lnRef idx="2">
              <a:srgbClr val="0042FF"/>
            </a:lnRef>
            <a:fillRef idx="0">
              <a:srgbClr val="FFFFFF"/>
            </a:fillRef>
            <a:effectRef idx="0">
              <a:srgbClr val="FFFFFF"/>
            </a:effectRef>
            <a:fontRef idx="minor">
              <a:srgbClr val="383838"/>
            </a:fontRef>
          </p:style>
        </p:cxnSp>
      </p:grpSp>
      <p:grpSp>
        <p:nvGrpSpPr>
          <p:cNvPr id="86" name="组合 85"/>
          <p:cNvGrpSpPr/>
          <p:nvPr/>
        </p:nvGrpSpPr>
        <p:grpSpPr>
          <a:xfrm rot="0">
            <a:off x="3177540" y="3402965"/>
            <a:ext cx="941070" cy="723900"/>
            <a:chOff x="4930" y="5276"/>
            <a:chExt cx="1508" cy="1160"/>
          </a:xfrm>
        </p:grpSpPr>
        <p:cxnSp>
          <p:nvCxnSpPr>
            <p:cNvPr id="84" name="直接箭头连接符 83"/>
            <p:cNvCxnSpPr/>
            <p:nvPr/>
          </p:nvCxnSpPr>
          <p:spPr>
            <a:xfrm>
              <a:off x="5650" y="5276"/>
              <a:ext cx="788" cy="1160"/>
            </a:xfrm>
            <a:prstGeom prst="straightConnector1">
              <a:avLst/>
            </a:prstGeom>
            <a:ln w="19050">
              <a:solidFill>
                <a:srgbClr val="B3D4FE"/>
              </a:solidFill>
              <a:headEnd type="none"/>
              <a:tailEnd type="triangle"/>
            </a:ln>
          </p:spPr>
          <p:style>
            <a:lnRef idx="2">
              <a:srgbClr val="0042FF"/>
            </a:lnRef>
            <a:fillRef idx="0">
              <a:srgbClr val="FFFFFF"/>
            </a:fillRef>
            <a:effectRef idx="0">
              <a:srgbClr val="FFFFFF"/>
            </a:effectRef>
            <a:fontRef idx="minor">
              <a:srgbClr val="383838"/>
            </a:fontRef>
          </p:style>
        </p:cxnSp>
        <p:cxnSp>
          <p:nvCxnSpPr>
            <p:cNvPr id="85" name="直接连接符 84"/>
            <p:cNvCxnSpPr/>
            <p:nvPr/>
          </p:nvCxnSpPr>
          <p:spPr>
            <a:xfrm flipH="1" flipV="1">
              <a:off x="4930" y="5277"/>
              <a:ext cx="736" cy="4"/>
            </a:xfrm>
            <a:prstGeom prst="line">
              <a:avLst/>
            </a:prstGeom>
            <a:ln w="25400">
              <a:solidFill>
                <a:srgbClr val="B3D4FE"/>
              </a:solidFill>
            </a:ln>
          </p:spPr>
          <p:style>
            <a:lnRef idx="2">
              <a:srgbClr val="0042FF"/>
            </a:lnRef>
            <a:fillRef idx="0">
              <a:srgbClr val="FFFFFF"/>
            </a:fillRef>
            <a:effectRef idx="0">
              <a:srgbClr val="FFFFFF"/>
            </a:effectRef>
            <a:fontRef idx="minor">
              <a:srgbClr val="383838"/>
            </a:fontRef>
          </p:style>
        </p:cxnSp>
      </p:grpSp>
      <p:grpSp>
        <p:nvGrpSpPr>
          <p:cNvPr id="87" name="组合 86"/>
          <p:cNvGrpSpPr/>
          <p:nvPr/>
        </p:nvGrpSpPr>
        <p:grpSpPr>
          <a:xfrm rot="0" flipH="1">
            <a:off x="8208645" y="3491230"/>
            <a:ext cx="941070" cy="723900"/>
            <a:chOff x="4930" y="5276"/>
            <a:chExt cx="1508" cy="1160"/>
          </a:xfrm>
        </p:grpSpPr>
        <p:cxnSp>
          <p:nvCxnSpPr>
            <p:cNvPr id="88" name="直接箭头连接符 87"/>
            <p:cNvCxnSpPr/>
            <p:nvPr/>
          </p:nvCxnSpPr>
          <p:spPr>
            <a:xfrm>
              <a:off x="5650" y="5276"/>
              <a:ext cx="788" cy="1160"/>
            </a:xfrm>
            <a:prstGeom prst="straightConnector1">
              <a:avLst/>
            </a:prstGeom>
            <a:ln w="19050">
              <a:solidFill>
                <a:srgbClr val="3368FF"/>
              </a:solidFill>
              <a:headEnd type="none"/>
              <a:tailEnd type="triangle"/>
            </a:ln>
          </p:spPr>
          <p:style>
            <a:lnRef idx="2">
              <a:srgbClr val="0042FF"/>
            </a:lnRef>
            <a:fillRef idx="0">
              <a:srgbClr val="FFFFFF"/>
            </a:fillRef>
            <a:effectRef idx="0">
              <a:srgbClr val="FFFFFF"/>
            </a:effectRef>
            <a:fontRef idx="minor">
              <a:srgbClr val="383838"/>
            </a:fontRef>
          </p:style>
        </p:cxnSp>
        <p:cxnSp>
          <p:nvCxnSpPr>
            <p:cNvPr id="89" name="直接连接符 88"/>
            <p:cNvCxnSpPr/>
            <p:nvPr/>
          </p:nvCxnSpPr>
          <p:spPr>
            <a:xfrm flipH="1" flipV="1">
              <a:off x="4930" y="5277"/>
              <a:ext cx="736" cy="4"/>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grpSp>
        <p:nvGrpSpPr>
          <p:cNvPr id="101" name="组合 100"/>
          <p:cNvGrpSpPr/>
          <p:nvPr/>
        </p:nvGrpSpPr>
        <p:grpSpPr>
          <a:xfrm rot="0" flipH="1">
            <a:off x="9210040" y="2712720"/>
            <a:ext cx="2580005" cy="1809750"/>
            <a:chOff x="14739" y="2450"/>
            <a:chExt cx="4134" cy="2900"/>
          </a:xfrm>
        </p:grpSpPr>
        <p:grpSp>
          <p:nvGrpSpPr>
            <p:cNvPr id="91" name="组合 90"/>
            <p:cNvGrpSpPr/>
            <p:nvPr/>
          </p:nvGrpSpPr>
          <p:grpSpPr>
            <a:xfrm rot="0" flipH="1">
              <a:off x="14739" y="2538"/>
              <a:ext cx="3910" cy="1242"/>
              <a:chOff x="9308353" y="2003165"/>
              <a:chExt cx="2750227" cy="972368"/>
            </a:xfrm>
            <a:scene3d>
              <a:camera prst="orthographicFront"/>
              <a:lightRig rig="glow" dir="t"/>
            </a:scene3d>
          </p:grpSpPr>
          <p:sp>
            <p:nvSpPr>
              <p:cNvPr id="92" name="显眼包PPT-1"/>
              <p:cNvSpPr/>
              <p:nvPr>
                <p:custDataLst>
                  <p:tags r:id="rId8"/>
                </p:custDataLst>
              </p:nvPr>
            </p:nvSpPr>
            <p:spPr>
              <a:xfrm flipV="1">
                <a:off x="9308353" y="2003165"/>
                <a:ext cx="2750227" cy="972368"/>
              </a:xfrm>
              <a:prstGeom prst="snip2DiagRect">
                <a:avLst>
                  <a:gd name="adj1" fmla="val 0"/>
                  <a:gd name="adj2" fmla="val 16421"/>
                </a:avLst>
              </a:prstGeom>
              <a:gradFill>
                <a:gsLst>
                  <a:gs pos="0">
                    <a:srgbClr val="FFFFFF">
                      <a:alpha val="0"/>
                    </a:srgbClr>
                  </a:gs>
                  <a:gs pos="100000">
                    <a:srgbClr val="FFFFFF"/>
                  </a:gs>
                </a:gsLst>
                <a:lin ang="0" scaled="1"/>
              </a:gradFill>
              <a:ln w="952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93" name="显眼包PPT-2"/>
              <p:cNvSpPr/>
              <p:nvPr>
                <p:custDataLst>
                  <p:tags r:id="rId9"/>
                </p:custDataLst>
              </p:nvPr>
            </p:nvSpPr>
            <p:spPr>
              <a:xfrm flipH="1">
                <a:off x="11961514" y="2862822"/>
                <a:ext cx="97063" cy="112711"/>
              </a:xfrm>
              <a:prstGeom prst="rtTriangle">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sp>
          <p:nvSpPr>
            <p:cNvPr id="95" name="右中括号 94"/>
            <p:cNvSpPr/>
            <p:nvPr/>
          </p:nvSpPr>
          <p:spPr>
            <a:xfrm>
              <a:off x="18649" y="2450"/>
              <a:ext cx="224" cy="2900"/>
            </a:xfrm>
            <a:prstGeom prst="rightBracket">
              <a:avLst>
                <a:gd name="adj" fmla="val 55803"/>
              </a:avLst>
            </a:prstGeom>
            <a:ln w="25400">
              <a:solidFill>
                <a:srgbClr val="3368FF"/>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97" name="组合 96"/>
            <p:cNvGrpSpPr/>
            <p:nvPr/>
          </p:nvGrpSpPr>
          <p:grpSpPr>
            <a:xfrm rot="0" flipH="1">
              <a:off x="14739" y="3985"/>
              <a:ext cx="3910" cy="1242"/>
              <a:chOff x="9308353" y="2003165"/>
              <a:chExt cx="2750227" cy="972368"/>
            </a:xfrm>
            <a:scene3d>
              <a:camera prst="orthographicFront"/>
              <a:lightRig rig="glow" dir="t"/>
            </a:scene3d>
          </p:grpSpPr>
          <p:sp>
            <p:nvSpPr>
              <p:cNvPr id="98" name="显眼包PPT-1"/>
              <p:cNvSpPr/>
              <p:nvPr>
                <p:custDataLst>
                  <p:tags r:id="rId10"/>
                </p:custDataLst>
              </p:nvPr>
            </p:nvSpPr>
            <p:spPr>
              <a:xfrm flipV="1">
                <a:off x="9308353" y="2003165"/>
                <a:ext cx="2750227" cy="972368"/>
              </a:xfrm>
              <a:prstGeom prst="snip2DiagRect">
                <a:avLst>
                  <a:gd name="adj1" fmla="val 0"/>
                  <a:gd name="adj2" fmla="val 16421"/>
                </a:avLst>
              </a:prstGeom>
              <a:gradFill>
                <a:gsLst>
                  <a:gs pos="0">
                    <a:srgbClr val="FFFFFF">
                      <a:alpha val="0"/>
                    </a:srgbClr>
                  </a:gs>
                  <a:gs pos="100000">
                    <a:srgbClr val="FFFFFF"/>
                  </a:gs>
                </a:gsLst>
                <a:lin ang="0" scaled="1"/>
              </a:gradFill>
              <a:ln w="952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99" name="显眼包PPT-2"/>
              <p:cNvSpPr/>
              <p:nvPr>
                <p:custDataLst>
                  <p:tags r:id="rId11"/>
                </p:custDataLst>
              </p:nvPr>
            </p:nvSpPr>
            <p:spPr>
              <a:xfrm flipH="1">
                <a:off x="11961514" y="2862822"/>
                <a:ext cx="97063" cy="112711"/>
              </a:xfrm>
              <a:prstGeom prst="rtTriangle">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grpSp>
      <p:sp>
        <p:nvSpPr>
          <p:cNvPr id="102" name="显眼包PPT83"/>
          <p:cNvSpPr/>
          <p:nvPr/>
        </p:nvSpPr>
        <p:spPr>
          <a:xfrm>
            <a:off x="5549900" y="6129655"/>
            <a:ext cx="1143635" cy="18351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3" name="文本框 102"/>
          <p:cNvSpPr txBox="1"/>
          <p:nvPr/>
        </p:nvSpPr>
        <p:spPr>
          <a:xfrm>
            <a:off x="5109210" y="5699125"/>
            <a:ext cx="2018030" cy="429895"/>
          </a:xfrm>
          <a:prstGeom prst="rect">
            <a:avLst/>
          </a:prstGeom>
          <a:noFill/>
        </p:spPr>
        <p:txBody>
          <a:bodyPr wrap="square" rtlCol="0">
            <a:spAutoFit/>
          </a:bodyPr>
          <a:p>
            <a:pPr algn="ctr">
              <a:defRPr>
                <a:latin typeface="微软雅黑"/>
                <a:ea typeface="微软雅黑"/>
                <a:cs typeface="微软雅黑"/>
              </a:defRPr>
            </a:pPr>
            <a:r>
              <a:rPr lang="zh-CN" altLang="en-US" sz="2200" b="1">
                <a:gradFill>
                  <a:gsLst>
                    <a:gs pos="100000">
                      <a:srgbClr val="0042FF"/>
                    </a:gs>
                    <a:gs pos="0">
                      <a:srgbClr val="0042FF"/>
                    </a:gs>
                  </a:gsLst>
                  <a:lin ang="5400000" scaled="0"/>
                </a:gradFill>
                <a:latin typeface="微软雅黑"/>
                <a:ea typeface="微软雅黑"/>
                <a:cs typeface="微软雅黑"/>
              </a:rPr>
              <a:t>项目全局规划</a:t>
            </a:r>
            <a:endParaRPr lang="zh-CN" altLang="en-US" sz="2200" b="1">
              <a:gradFill>
                <a:gsLst>
                  <a:gs pos="100000">
                    <a:srgbClr val="0042FF"/>
                  </a:gs>
                  <a:gs pos="0">
                    <a:srgbClr val="0042FF"/>
                  </a:gs>
                </a:gsLst>
                <a:lin ang="5400000" scaled="0"/>
              </a:gradFill>
              <a:latin typeface="微软雅黑"/>
              <a:ea typeface="微软雅黑"/>
              <a:cs typeface="微软雅黑"/>
            </a:endParaRPr>
          </a:p>
        </p:txBody>
      </p:sp>
      <p:sp>
        <p:nvSpPr>
          <p:cNvPr id="106" name="显眼包PPT-3"/>
          <p:cNvSpPr txBox="1"/>
          <p:nvPr>
            <p:custDataLst>
              <p:tags r:id="rId12"/>
            </p:custDataLst>
          </p:nvPr>
        </p:nvSpPr>
        <p:spPr>
          <a:xfrm rot="16980000" flipH="1">
            <a:off x="3286125" y="5829935"/>
            <a:ext cx="894080" cy="245745"/>
          </a:xfrm>
          <a:prstGeom prst="rect">
            <a:avLst/>
          </a:prstGeom>
          <a:noFill/>
          <a:scene3d>
            <a:camera prst="orthographicFront"/>
            <a:lightRig rig="glow" dir="t"/>
          </a:scene3d>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产品定义</a:t>
            </a:r>
            <a:endParaRPr lang="zh-CN" altLang="en-US" sz="1600" b="1" dirty="0">
              <a:solidFill>
                <a:srgbClr val="FFFFFF"/>
              </a:solidFill>
              <a:effectLst/>
              <a:latin typeface="微软雅黑"/>
              <a:ea typeface="微软雅黑"/>
              <a:cs typeface="微软雅黑"/>
            </a:endParaRPr>
          </a:p>
        </p:txBody>
      </p:sp>
      <p:sp>
        <p:nvSpPr>
          <p:cNvPr id="107" name="显眼包PPT-3"/>
          <p:cNvSpPr txBox="1"/>
          <p:nvPr>
            <p:custDataLst>
              <p:tags r:id="rId13"/>
            </p:custDataLst>
          </p:nvPr>
        </p:nvSpPr>
        <p:spPr>
          <a:xfrm rot="16980000" flipH="1">
            <a:off x="3498850" y="5919470"/>
            <a:ext cx="967105" cy="184150"/>
          </a:xfrm>
          <a:prstGeom prst="rect">
            <a:avLst/>
          </a:prstGeom>
          <a:noFill/>
          <a:scene3d>
            <a:camera prst="orthographicFront"/>
            <a:lightRig rig="glow" dir="t"/>
          </a:scene3d>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做好市场验证</a:t>
            </a:r>
            <a:endParaRPr lang="zh-CN" altLang="en-US" sz="1200" dirty="0">
              <a:solidFill>
                <a:srgbClr val="FFFFFF"/>
              </a:solidFill>
              <a:effectLst/>
              <a:latin typeface="微软雅黑"/>
              <a:ea typeface="微软雅黑"/>
              <a:cs typeface="微软雅黑"/>
            </a:endParaRPr>
          </a:p>
        </p:txBody>
      </p:sp>
      <p:sp>
        <p:nvSpPr>
          <p:cNvPr id="108" name="显眼包PPT-3"/>
          <p:cNvSpPr txBox="1"/>
          <p:nvPr>
            <p:custDataLst>
              <p:tags r:id="rId14"/>
            </p:custDataLst>
          </p:nvPr>
        </p:nvSpPr>
        <p:spPr>
          <a:xfrm rot="18900000" flipH="1">
            <a:off x="3905885" y="4700905"/>
            <a:ext cx="894080" cy="245745"/>
          </a:xfrm>
          <a:prstGeom prst="rect">
            <a:avLst/>
          </a:prstGeom>
          <a:noFill/>
          <a:scene3d>
            <a:camera prst="orthographicFront"/>
            <a:lightRig rig="glow" dir="t"/>
          </a:scene3d>
        </p:spPr>
        <p:txBody>
          <a:bodyPr wrap="square" lIns="0" tIns="0" rIns="0" bIns="0" rtlCol="0">
            <a:spAutoFit/>
          </a:bodyPr>
          <a:lstStyle/>
          <a:p>
            <a:pPr algn="ctr">
              <a:defRPr>
                <a:latin typeface="微软雅黑"/>
                <a:ea typeface="微软雅黑"/>
                <a:cs typeface="微软雅黑"/>
              </a:defRPr>
            </a:pPr>
            <a:r>
              <a:rPr lang="zh-CN" altLang="en-US" sz="1600" b="1" dirty="0">
                <a:solidFill>
                  <a:srgbClr val="383838"/>
                </a:solidFill>
                <a:effectLst/>
                <a:latin typeface="微软雅黑"/>
                <a:ea typeface="微软雅黑"/>
                <a:cs typeface="微软雅黑"/>
              </a:rPr>
              <a:t>研发管理</a:t>
            </a:r>
            <a:endParaRPr lang="zh-CN" altLang="en-US" sz="1600" b="1" dirty="0">
              <a:solidFill>
                <a:srgbClr val="383838"/>
              </a:solidFill>
              <a:effectLst/>
              <a:latin typeface="微软雅黑"/>
              <a:ea typeface="微软雅黑"/>
              <a:cs typeface="微软雅黑"/>
            </a:endParaRPr>
          </a:p>
        </p:txBody>
      </p:sp>
      <p:sp>
        <p:nvSpPr>
          <p:cNvPr id="109" name="显眼包PPT-3"/>
          <p:cNvSpPr txBox="1"/>
          <p:nvPr>
            <p:custDataLst>
              <p:tags r:id="rId15"/>
            </p:custDataLst>
          </p:nvPr>
        </p:nvSpPr>
        <p:spPr>
          <a:xfrm rot="18960000" flipH="1">
            <a:off x="4079240" y="4880610"/>
            <a:ext cx="956945" cy="207645"/>
          </a:xfrm>
          <a:prstGeom prst="rect">
            <a:avLst/>
          </a:prstGeom>
          <a:noFill/>
          <a:scene3d>
            <a:camera prst="orthographicFront"/>
            <a:lightRig rig="glow" dir="t"/>
          </a:scene3d>
        </p:spPr>
        <p:txBody>
          <a:bodyPr wrap="square" lIns="0" tIns="0" rIns="0" bIns="0" rtlCol="0">
            <a:no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技术架构支撑</a:t>
            </a:r>
            <a:endParaRPr lang="zh-CN" altLang="en-US" sz="1200" dirty="0">
              <a:solidFill>
                <a:srgbClr val="383838"/>
              </a:solidFill>
              <a:effectLst/>
              <a:latin typeface="微软雅黑"/>
              <a:ea typeface="微软雅黑"/>
              <a:cs typeface="微软雅黑"/>
            </a:endParaRPr>
          </a:p>
        </p:txBody>
      </p:sp>
      <p:sp>
        <p:nvSpPr>
          <p:cNvPr id="110" name="显眼包PPT-3"/>
          <p:cNvSpPr txBox="1"/>
          <p:nvPr>
            <p:custDataLst>
              <p:tags r:id="rId16"/>
            </p:custDataLst>
          </p:nvPr>
        </p:nvSpPr>
        <p:spPr>
          <a:xfrm rot="21000000" flipH="1">
            <a:off x="5085080" y="4018915"/>
            <a:ext cx="894080" cy="245745"/>
          </a:xfrm>
          <a:prstGeom prst="rect">
            <a:avLst/>
          </a:prstGeom>
          <a:noFill/>
          <a:scene3d>
            <a:camera prst="orthographicFront"/>
            <a:lightRig rig="glow" dir="t"/>
          </a:scene3d>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600" b="1" dirty="0">
                <a:solidFill>
                  <a:srgbClr val="FFFFFF"/>
                </a:solidFill>
                <a:effectLst/>
                <a:latin typeface="微软雅黑"/>
                <a:ea typeface="微软雅黑"/>
                <a:cs typeface="微软雅黑"/>
              </a:rPr>
              <a:t>运营策略</a:t>
            </a:r>
            <a:endParaRPr lang="zh-CN" altLang="en-US" sz="1600" b="1" dirty="0">
              <a:solidFill>
                <a:srgbClr val="FFFFFF"/>
              </a:solidFill>
              <a:effectLst/>
              <a:latin typeface="微软雅黑"/>
              <a:ea typeface="微软雅黑"/>
              <a:cs typeface="微软雅黑"/>
            </a:endParaRPr>
          </a:p>
        </p:txBody>
      </p:sp>
      <p:sp>
        <p:nvSpPr>
          <p:cNvPr id="111" name="显眼包PPT-3"/>
          <p:cNvSpPr txBox="1"/>
          <p:nvPr>
            <p:custDataLst>
              <p:tags r:id="rId17"/>
            </p:custDataLst>
          </p:nvPr>
        </p:nvSpPr>
        <p:spPr>
          <a:xfrm rot="21060000" flipH="1">
            <a:off x="5125720" y="4321175"/>
            <a:ext cx="956945" cy="207645"/>
          </a:xfrm>
          <a:prstGeom prst="rect">
            <a:avLst/>
          </a:prstGeom>
          <a:noFill/>
          <a:scene3d>
            <a:camera prst="orthographicFront"/>
            <a:lightRig rig="glow" dir="t"/>
          </a:scene3d>
        </p:spPr>
        <p:txBody>
          <a:bodyPr wrap="square" lIns="0" tIns="0" rIns="0" bIns="0" rtlCol="0">
            <a:no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推动用户增长</a:t>
            </a:r>
            <a:endParaRPr lang="zh-CN" altLang="en-US" sz="1200" dirty="0">
              <a:solidFill>
                <a:srgbClr val="FFFFFF"/>
              </a:solidFill>
              <a:effectLst/>
              <a:latin typeface="微软雅黑"/>
              <a:ea typeface="微软雅黑"/>
              <a:cs typeface="微软雅黑"/>
            </a:endParaRPr>
          </a:p>
        </p:txBody>
      </p:sp>
      <p:sp>
        <p:nvSpPr>
          <p:cNvPr id="112" name="显眼包PPT-3"/>
          <p:cNvSpPr txBox="1"/>
          <p:nvPr>
            <p:custDataLst>
              <p:tags r:id="rId18"/>
            </p:custDataLst>
          </p:nvPr>
        </p:nvSpPr>
        <p:spPr>
          <a:xfrm rot="600000">
            <a:off x="6347460" y="4018915"/>
            <a:ext cx="894080" cy="245745"/>
          </a:xfrm>
          <a:prstGeom prst="rect">
            <a:avLst/>
          </a:prstGeom>
          <a:noFill/>
          <a:scene3d>
            <a:camera prst="orthographicFront"/>
            <a:lightRig rig="glow" dir="t"/>
          </a:scene3d>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600" b="1" dirty="0">
                <a:solidFill>
                  <a:srgbClr val="FFFFFF"/>
                </a:solidFill>
                <a:effectLst/>
                <a:latin typeface="微软雅黑"/>
                <a:ea typeface="微软雅黑"/>
                <a:cs typeface="微软雅黑"/>
              </a:rPr>
              <a:t>团队协作</a:t>
            </a:r>
            <a:endParaRPr lang="zh-CN" altLang="en-US" sz="1600" b="1" dirty="0">
              <a:solidFill>
                <a:srgbClr val="FFFFFF"/>
              </a:solidFill>
              <a:effectLst/>
              <a:latin typeface="微软雅黑"/>
              <a:ea typeface="微软雅黑"/>
              <a:cs typeface="微软雅黑"/>
            </a:endParaRPr>
          </a:p>
        </p:txBody>
      </p:sp>
      <p:sp>
        <p:nvSpPr>
          <p:cNvPr id="113" name="显眼包PPT-3"/>
          <p:cNvSpPr txBox="1"/>
          <p:nvPr>
            <p:custDataLst>
              <p:tags r:id="rId19"/>
            </p:custDataLst>
          </p:nvPr>
        </p:nvSpPr>
        <p:spPr>
          <a:xfrm rot="660000">
            <a:off x="6245860" y="4329430"/>
            <a:ext cx="956945" cy="207645"/>
          </a:xfrm>
          <a:prstGeom prst="rect">
            <a:avLst/>
          </a:prstGeom>
          <a:noFill/>
          <a:scene3d>
            <a:camera prst="orthographicFront"/>
            <a:lightRig rig="glow" dir="t"/>
          </a:scene3d>
        </p:spPr>
        <p:txBody>
          <a:bodyPr wrap="square" lIns="0" tIns="0" rIns="0" bIns="0" rtlCol="0">
            <a:noAutofit/>
          </a:bodyPr>
          <a:lstStyle/>
          <a:p>
            <a:pPr algn="ctr">
              <a:defRPr>
                <a:solidFill>
                  <a:srgbClr val="FFFFFF"/>
                </a:solidFill>
                <a:latin typeface="微软雅黑"/>
                <a:ea typeface="微软雅黑"/>
                <a:cs typeface="微软雅黑"/>
              </a:defRPr>
            </a:pPr>
            <a:r>
              <a:rPr lang="zh-CN" altLang="en-US" sz="1200" dirty="0">
                <a:solidFill>
                  <a:srgbClr val="FFFFFF"/>
                </a:solidFill>
                <a:effectLst/>
                <a:latin typeface="微软雅黑"/>
                <a:ea typeface="微软雅黑"/>
                <a:cs typeface="微软雅黑"/>
              </a:rPr>
              <a:t>建组织架构</a:t>
            </a:r>
            <a:endParaRPr lang="zh-CN" altLang="en-US" sz="1200" dirty="0">
              <a:solidFill>
                <a:srgbClr val="FFFFFF"/>
              </a:solidFill>
              <a:effectLst/>
              <a:latin typeface="微软雅黑"/>
              <a:ea typeface="微软雅黑"/>
              <a:cs typeface="微软雅黑"/>
            </a:endParaRPr>
          </a:p>
        </p:txBody>
      </p:sp>
      <p:sp>
        <p:nvSpPr>
          <p:cNvPr id="114" name="显眼包PPT-3"/>
          <p:cNvSpPr txBox="1"/>
          <p:nvPr>
            <p:custDataLst>
              <p:tags r:id="rId20"/>
            </p:custDataLst>
          </p:nvPr>
        </p:nvSpPr>
        <p:spPr>
          <a:xfrm rot="2700000">
            <a:off x="7446645" y="4646295"/>
            <a:ext cx="894080" cy="245745"/>
          </a:xfrm>
          <a:prstGeom prst="rect">
            <a:avLst/>
          </a:prstGeom>
          <a:noFill/>
          <a:scene3d>
            <a:camera prst="orthographicFront"/>
            <a:lightRig rig="glow" dir="t"/>
          </a:scene3d>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600" b="1" dirty="0">
                <a:solidFill>
                  <a:srgbClr val="FFFFFF"/>
                </a:solidFill>
                <a:effectLst/>
                <a:latin typeface="微软雅黑"/>
                <a:ea typeface="微软雅黑"/>
                <a:cs typeface="微软雅黑"/>
              </a:rPr>
              <a:t>风险控制</a:t>
            </a:r>
            <a:endParaRPr lang="zh-CN" altLang="en-US" sz="1600" b="1" dirty="0">
              <a:solidFill>
                <a:srgbClr val="FFFFFF"/>
              </a:solidFill>
              <a:effectLst/>
              <a:latin typeface="微软雅黑"/>
              <a:ea typeface="微软雅黑"/>
              <a:cs typeface="微软雅黑"/>
            </a:endParaRPr>
          </a:p>
        </p:txBody>
      </p:sp>
      <p:sp>
        <p:nvSpPr>
          <p:cNvPr id="115" name="显眼包PPT-3"/>
          <p:cNvSpPr txBox="1"/>
          <p:nvPr>
            <p:custDataLst>
              <p:tags r:id="rId21"/>
            </p:custDataLst>
          </p:nvPr>
        </p:nvSpPr>
        <p:spPr>
          <a:xfrm rot="2640000">
            <a:off x="7194550" y="4906010"/>
            <a:ext cx="956945" cy="207645"/>
          </a:xfrm>
          <a:prstGeom prst="rect">
            <a:avLst/>
          </a:prstGeom>
          <a:noFill/>
          <a:scene3d>
            <a:camera prst="orthographicFront"/>
            <a:lightRig rig="glow" dir="t"/>
          </a:scene3d>
        </p:spPr>
        <p:txBody>
          <a:bodyPr wrap="square" lIns="0" tIns="0" rIns="0" bIns="0" rtlCol="0">
            <a:noAutofit/>
          </a:bodyPr>
          <a:lstStyle/>
          <a:p>
            <a:pPr algn="ctr">
              <a:defRPr>
                <a:solidFill>
                  <a:srgbClr val="FFFFFF"/>
                </a:solidFill>
                <a:latin typeface="微软雅黑"/>
                <a:ea typeface="微软雅黑"/>
                <a:cs typeface="微软雅黑"/>
              </a:defRPr>
            </a:pPr>
            <a:r>
              <a:rPr lang="zh-CN" altLang="en-US" sz="1200" dirty="0">
                <a:solidFill>
                  <a:srgbClr val="FFFFFF"/>
                </a:solidFill>
                <a:effectLst/>
                <a:latin typeface="微软雅黑"/>
                <a:ea typeface="微软雅黑"/>
                <a:cs typeface="微软雅黑"/>
              </a:rPr>
              <a:t>做好法务合规</a:t>
            </a:r>
            <a:endParaRPr lang="zh-CN" altLang="en-US" sz="1200" dirty="0">
              <a:solidFill>
                <a:srgbClr val="FFFFFF"/>
              </a:solidFill>
              <a:effectLst/>
              <a:latin typeface="微软雅黑"/>
              <a:ea typeface="微软雅黑"/>
              <a:cs typeface="微软雅黑"/>
            </a:endParaRPr>
          </a:p>
        </p:txBody>
      </p:sp>
      <p:sp>
        <p:nvSpPr>
          <p:cNvPr id="116" name="显眼包PPT-3"/>
          <p:cNvSpPr txBox="1"/>
          <p:nvPr>
            <p:custDataLst>
              <p:tags r:id="rId22"/>
            </p:custDataLst>
          </p:nvPr>
        </p:nvSpPr>
        <p:spPr>
          <a:xfrm rot="4620000">
            <a:off x="7995285" y="5801995"/>
            <a:ext cx="894080" cy="245745"/>
          </a:xfrm>
          <a:prstGeom prst="rect">
            <a:avLst/>
          </a:prstGeom>
          <a:noFill/>
          <a:scene3d>
            <a:camera prst="orthographicFront"/>
            <a:lightRig rig="glow" dir="t"/>
          </a:scene3d>
        </p:spPr>
        <p:txBody>
          <a:bodyPr wrap="square" lIns="0" tIns="0" rIns="0" bIns="0" rtlCol="0">
            <a:spAutoFit/>
          </a:bodyPr>
          <a:lstStyle/>
          <a:p>
            <a:pPr algn="ctr">
              <a:defRPr>
                <a:latin typeface="微软雅黑"/>
                <a:ea typeface="微软雅黑"/>
                <a:cs typeface="微软雅黑"/>
              </a:defRPr>
            </a:pPr>
            <a:r>
              <a:rPr lang="zh-CN" altLang="en-US" sz="1600" b="1" dirty="0">
                <a:solidFill>
                  <a:srgbClr val="383838"/>
                </a:solidFill>
                <a:effectLst/>
                <a:latin typeface="微软雅黑"/>
                <a:ea typeface="微软雅黑"/>
                <a:cs typeface="微软雅黑"/>
              </a:rPr>
              <a:t>迭代进化</a:t>
            </a:r>
            <a:endParaRPr lang="zh-CN" altLang="en-US" sz="1600" b="1" dirty="0">
              <a:solidFill>
                <a:srgbClr val="383838"/>
              </a:solidFill>
              <a:effectLst/>
              <a:latin typeface="微软雅黑"/>
              <a:ea typeface="微软雅黑"/>
              <a:cs typeface="微软雅黑"/>
            </a:endParaRPr>
          </a:p>
        </p:txBody>
      </p:sp>
      <p:sp>
        <p:nvSpPr>
          <p:cNvPr id="117" name="显眼包PPT-3"/>
          <p:cNvSpPr txBox="1"/>
          <p:nvPr>
            <p:custDataLst>
              <p:tags r:id="rId23"/>
            </p:custDataLst>
          </p:nvPr>
        </p:nvSpPr>
        <p:spPr>
          <a:xfrm rot="4620000">
            <a:off x="7646670" y="5901055"/>
            <a:ext cx="967105" cy="184150"/>
          </a:xfrm>
          <a:prstGeom prst="rect">
            <a:avLst/>
          </a:prstGeom>
          <a:noFill/>
          <a:scene3d>
            <a:camera prst="orthographicFront"/>
            <a:lightRig rig="glow" dir="t"/>
          </a:scene3d>
        </p:spPr>
        <p:txBody>
          <a:bodyPr wrap="square" lIns="0" tIns="0" rIns="0" bIns="0" rtlCol="0">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通过数据驱动</a:t>
            </a:r>
            <a:endParaRPr lang="zh-CN" altLang="en-US" sz="1200" dirty="0">
              <a:solidFill>
                <a:srgbClr val="383838"/>
              </a:solidFill>
              <a:effectLst/>
              <a:latin typeface="微软雅黑"/>
              <a:ea typeface="微软雅黑"/>
              <a:cs typeface="微软雅黑"/>
            </a:endParaRPr>
          </a:p>
        </p:txBody>
      </p:sp>
      <p:sp>
        <p:nvSpPr>
          <p:cNvPr id="118" name="显眼包PPT-3"/>
          <p:cNvSpPr txBox="1"/>
          <p:nvPr>
            <p:custDataLst>
              <p:tags r:id="rId24"/>
            </p:custDataLst>
          </p:nvPr>
        </p:nvSpPr>
        <p:spPr>
          <a:xfrm flipH="1">
            <a:off x="765175" y="2982595"/>
            <a:ext cx="2103755" cy="455930"/>
          </a:xfrm>
          <a:prstGeom prst="rect">
            <a:avLst/>
          </a:prstGeom>
          <a:noFill/>
          <a:scene3d>
            <a:camera prst="orthographicFront"/>
            <a:lightRig rig="glow" dir="t"/>
          </a:scene3d>
        </p:spPr>
        <p:txBody>
          <a:bodyPr wrap="square" lIns="0" tIns="0" rIns="0" bIns="0" rtlCol="0" anchor="t">
            <a:noAutofit/>
          </a:bodyPr>
          <a:lstStyle/>
          <a:p>
            <a:pPr algn="l">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确定前端框架、后端语言及数据库。在设计初期就要考虑微服务拆分、负载均衡以及缓存策略。</a:t>
            </a:r>
            <a:endParaRPr lang="zh-CN" altLang="en-US" sz="1000" dirty="0">
              <a:solidFill>
                <a:srgbClr val="383838"/>
              </a:solidFill>
              <a:effectLst/>
              <a:latin typeface="微软雅黑"/>
              <a:ea typeface="微软雅黑"/>
              <a:cs typeface="微软雅黑"/>
            </a:endParaRPr>
          </a:p>
        </p:txBody>
      </p:sp>
      <p:sp>
        <p:nvSpPr>
          <p:cNvPr id="120" name="显眼包PPT-3"/>
          <p:cNvSpPr txBox="1"/>
          <p:nvPr>
            <p:custDataLst>
              <p:tags r:id="rId25"/>
            </p:custDataLst>
          </p:nvPr>
        </p:nvSpPr>
        <p:spPr>
          <a:xfrm flipH="1">
            <a:off x="727075" y="3886835"/>
            <a:ext cx="2230755" cy="598170"/>
          </a:xfrm>
          <a:prstGeom prst="rect">
            <a:avLst/>
          </a:prstGeom>
          <a:noFill/>
          <a:scene3d>
            <a:camera prst="orthographicFront"/>
            <a:lightRig rig="glow" dir="t"/>
          </a:scene3d>
        </p:spPr>
        <p:txBody>
          <a:bodyPr wrap="square" lIns="0" tIns="0" rIns="0" bIns="0" rtlCol="0" anchor="t">
            <a:noAutofit/>
          </a:bodyPr>
          <a:lstStyle/>
          <a:p>
            <a:pPr algn="l">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effectLst/>
                <a:latin typeface="微软雅黑"/>
                <a:ea typeface="微软雅黑"/>
                <a:cs typeface="微软雅黑"/>
              </a:rPr>
              <a:t>建立双周或月度的迭代。利用工具管理需求池。确保产品、设计、开发、测试的口径一致，保持</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小步快跑</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的节奏。</a:t>
            </a:r>
            <a:endParaRPr lang="zh-CN" altLang="en-US" sz="1000" dirty="0">
              <a:solidFill>
                <a:srgbClr val="383838"/>
              </a:solidFill>
              <a:effectLst/>
              <a:latin typeface="微软雅黑"/>
              <a:ea typeface="微软雅黑"/>
              <a:cs typeface="微软雅黑"/>
            </a:endParaRPr>
          </a:p>
        </p:txBody>
      </p:sp>
      <p:sp>
        <p:nvSpPr>
          <p:cNvPr id="121" name="显眼包PPT-3"/>
          <p:cNvSpPr txBox="1"/>
          <p:nvPr>
            <p:custDataLst>
              <p:tags r:id="rId26"/>
            </p:custDataLst>
          </p:nvPr>
        </p:nvSpPr>
        <p:spPr>
          <a:xfrm flipH="1">
            <a:off x="864235" y="3672840"/>
            <a:ext cx="1906905" cy="184150"/>
          </a:xfrm>
          <a:prstGeom prst="rect">
            <a:avLst/>
          </a:prstGeom>
          <a:noFill/>
          <a:scene3d>
            <a:camera prst="orthographicFront"/>
            <a:lightRig rig="glow" dir="t"/>
          </a:scene3d>
        </p:spPr>
        <p:txBody>
          <a:bodyPr wrap="square" lIns="0" tIns="0" rIns="0" bIns="0" rtlCol="0">
            <a:spAutoFit/>
          </a:bodyPr>
          <a:lstStyle/>
          <a:p>
            <a:pPr algn="ctr">
              <a:defRPr>
                <a:latin typeface="微软雅黑"/>
                <a:ea typeface="微软雅黑"/>
                <a:cs typeface="微软雅黑"/>
              </a:defRPr>
            </a:pPr>
            <a:r>
              <a:rPr lang="zh-CN" altLang="en-US" sz="1200" b="1" dirty="0">
                <a:solidFill>
                  <a:srgbClr val="0042FF"/>
                </a:solidFill>
                <a:effectLst/>
                <a:latin typeface="微软雅黑"/>
                <a:ea typeface="微软雅黑"/>
                <a:cs typeface="微软雅黑"/>
              </a:rPr>
              <a:t>敏捷开发与迭代节奏</a:t>
            </a:r>
            <a:endParaRPr lang="zh-CN" altLang="en-US" sz="1200" b="1" dirty="0">
              <a:solidFill>
                <a:srgbClr val="0042FF"/>
              </a:solidFill>
              <a:effectLst/>
              <a:latin typeface="微软雅黑"/>
              <a:ea typeface="微软雅黑"/>
              <a:cs typeface="微软雅黑"/>
            </a:endParaRPr>
          </a:p>
        </p:txBody>
      </p:sp>
      <p:sp>
        <p:nvSpPr>
          <p:cNvPr id="122" name="显眼包PPT-3"/>
          <p:cNvSpPr txBox="1"/>
          <p:nvPr>
            <p:custDataLst>
              <p:tags r:id="rId27"/>
            </p:custDataLst>
          </p:nvPr>
        </p:nvSpPr>
        <p:spPr>
          <a:xfrm flipH="1">
            <a:off x="9547225" y="2893695"/>
            <a:ext cx="1906905" cy="184150"/>
          </a:xfrm>
          <a:prstGeom prst="rect">
            <a:avLst/>
          </a:prstGeom>
          <a:noFill/>
          <a:scene3d>
            <a:camera prst="orthographicFront"/>
            <a:lightRig rig="glow" dir="t"/>
          </a:scene3d>
        </p:spPr>
        <p:txBody>
          <a:bodyPr wrap="square" lIns="0" tIns="0" rIns="0" bIns="0" rtlCol="0">
            <a:spAutoFit/>
          </a:bodyPr>
          <a:lstStyle/>
          <a:p>
            <a:pPr algn="ctr">
              <a:defRPr>
                <a:latin typeface="微软雅黑"/>
                <a:ea typeface="微软雅黑"/>
                <a:cs typeface="微软雅黑"/>
              </a:defRPr>
            </a:pPr>
            <a:r>
              <a:rPr lang="zh-CN" altLang="en-US" sz="1200" b="1" dirty="0">
                <a:solidFill>
                  <a:srgbClr val="0042FF"/>
                </a:solidFill>
                <a:effectLst/>
                <a:latin typeface="微软雅黑"/>
                <a:ea typeface="微软雅黑"/>
                <a:cs typeface="微软雅黑"/>
              </a:rPr>
              <a:t>数据隐私与网络安全合规</a:t>
            </a:r>
            <a:endParaRPr lang="zh-CN" altLang="en-US" sz="1200" b="1" dirty="0">
              <a:solidFill>
                <a:srgbClr val="0042FF"/>
              </a:solidFill>
              <a:effectLst/>
              <a:latin typeface="微软雅黑"/>
              <a:ea typeface="微软雅黑"/>
              <a:cs typeface="微软雅黑"/>
            </a:endParaRPr>
          </a:p>
        </p:txBody>
      </p:sp>
      <p:sp>
        <p:nvSpPr>
          <p:cNvPr id="123" name="显眼包PPT-3"/>
          <p:cNvSpPr txBox="1"/>
          <p:nvPr>
            <p:custDataLst>
              <p:tags r:id="rId28"/>
            </p:custDataLst>
          </p:nvPr>
        </p:nvSpPr>
        <p:spPr>
          <a:xfrm flipH="1">
            <a:off x="9479915" y="3144520"/>
            <a:ext cx="2103755" cy="455930"/>
          </a:xfrm>
          <a:prstGeom prst="rect">
            <a:avLst/>
          </a:prstGeom>
          <a:noFill/>
          <a:scene3d>
            <a:camera prst="orthographicFront"/>
            <a:lightRig rig="glow" dir="t"/>
          </a:scene3d>
        </p:spPr>
        <p:txBody>
          <a:bodyPr wrap="square" lIns="0" tIns="0" rIns="0" bIns="0" rtlCol="0" anchor="t">
            <a:noAutofit/>
          </a:bodyPr>
          <a:lstStyle/>
          <a:p>
            <a:pPr algn="l">
              <a:defRPr>
                <a:latin typeface="微软雅黑"/>
                <a:ea typeface="微软雅黑"/>
                <a:cs typeface="微软雅黑"/>
              </a:defRPr>
              <a:lnSpc>
                <a:spcPts val="1120"/>
              </a:lnSpc>
              <a:spcBef>
                <a:spcPts val="0"/>
              </a:spcBef>
              <a:spcAft>
                <a:spcPts val="0"/>
              </a:spcAft>
            </a:pPr>
            <a:r>
              <a:rPr lang="zh-CN" altLang="en-US" sz="1000" dirty="0">
                <a:solidFill>
                  <a:srgbClr val="383838"/>
                </a:solidFill>
                <a:effectLst/>
                <a:latin typeface="微软雅黑"/>
                <a:ea typeface="微软雅黑"/>
                <a:cs typeface="微软雅黑"/>
              </a:rPr>
              <a:t>明确隐私政策弹窗，遵循</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最小必要</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原则收集数据。服务器部署需符合等保要求。</a:t>
            </a:r>
            <a:endParaRPr lang="zh-CN" altLang="en-US" sz="1000" dirty="0">
              <a:solidFill>
                <a:srgbClr val="383838"/>
              </a:solidFill>
              <a:effectLst/>
              <a:latin typeface="微软雅黑"/>
              <a:ea typeface="微软雅黑"/>
              <a:cs typeface="微软雅黑"/>
            </a:endParaRPr>
          </a:p>
        </p:txBody>
      </p:sp>
      <p:sp>
        <p:nvSpPr>
          <p:cNvPr id="124" name="显眼包PPT-3"/>
          <p:cNvSpPr txBox="1"/>
          <p:nvPr>
            <p:custDataLst>
              <p:tags r:id="rId29"/>
            </p:custDataLst>
          </p:nvPr>
        </p:nvSpPr>
        <p:spPr>
          <a:xfrm flipH="1">
            <a:off x="9613900" y="3772535"/>
            <a:ext cx="1906905" cy="184150"/>
          </a:xfrm>
          <a:prstGeom prst="rect">
            <a:avLst/>
          </a:prstGeom>
          <a:noFill/>
          <a:scene3d>
            <a:camera prst="orthographicFront"/>
            <a:lightRig rig="glow" dir="t"/>
          </a:scene3d>
        </p:spPr>
        <p:txBody>
          <a:bodyPr wrap="square" lIns="0" tIns="0" rIns="0" bIns="0" rtlCol="0">
            <a:spAutoFit/>
          </a:bodyPr>
          <a:lstStyle/>
          <a:p>
            <a:pPr algn="ctr">
              <a:defRPr>
                <a:latin typeface="微软雅黑"/>
                <a:ea typeface="微软雅黑"/>
                <a:cs typeface="微软雅黑"/>
              </a:defRPr>
            </a:pPr>
            <a:r>
              <a:rPr lang="zh-CN" altLang="en-US" sz="1200" b="1" dirty="0">
                <a:solidFill>
                  <a:srgbClr val="0042FF"/>
                </a:solidFill>
                <a:effectLst/>
                <a:latin typeface="微软雅黑"/>
                <a:ea typeface="微软雅黑"/>
                <a:cs typeface="微软雅黑"/>
              </a:rPr>
              <a:t>内容审核与舆情风控</a:t>
            </a:r>
            <a:endParaRPr lang="zh-CN" altLang="en-US" sz="1200" b="1" dirty="0">
              <a:solidFill>
                <a:srgbClr val="0042FF"/>
              </a:solidFill>
              <a:effectLst/>
              <a:latin typeface="微软雅黑"/>
              <a:ea typeface="微软雅黑"/>
              <a:cs typeface="微软雅黑"/>
            </a:endParaRPr>
          </a:p>
        </p:txBody>
      </p:sp>
      <p:sp>
        <p:nvSpPr>
          <p:cNvPr id="125" name="显眼包PPT-3"/>
          <p:cNvSpPr txBox="1"/>
          <p:nvPr>
            <p:custDataLst>
              <p:tags r:id="rId30"/>
            </p:custDataLst>
          </p:nvPr>
        </p:nvSpPr>
        <p:spPr>
          <a:xfrm flipH="1">
            <a:off x="9509125" y="4023360"/>
            <a:ext cx="2230755" cy="469900"/>
          </a:xfrm>
          <a:prstGeom prst="rect">
            <a:avLst/>
          </a:prstGeom>
          <a:noFill/>
          <a:scene3d>
            <a:camera prst="orthographicFront"/>
            <a:lightRig rig="glow" dir="t"/>
          </a:scene3d>
        </p:spPr>
        <p:txBody>
          <a:bodyPr wrap="square" lIns="0" tIns="0" rIns="0" bIns="0" rtlCol="0" anchor="t">
            <a:noAutofit/>
          </a:bodyPr>
          <a:lstStyle/>
          <a:p>
            <a:pPr algn="l">
              <a:defRPr sz="1000">
                <a:latin typeface="微软雅黑"/>
                <a:ea typeface="微软雅黑"/>
                <a:cs typeface="微软雅黑"/>
              </a:defRPr>
              <a:lnSpc>
                <a:spcPct val="100000"/>
              </a:lnSpc>
              <a:spcBef>
                <a:spcPts val="0"/>
              </a:spcBef>
              <a:spcAft>
                <a:spcPts val="0"/>
              </a:spcAft>
            </a:pPr>
            <a:r>
              <a:rPr lang="zh-CN" altLang="en-US" sz="1000" dirty="0">
                <a:solidFill>
                  <a:srgbClr val="383838"/>
                </a:solidFill>
                <a:effectLst/>
                <a:latin typeface="微软雅黑"/>
                <a:ea typeface="微软雅黑"/>
                <a:cs typeface="微软雅黑"/>
              </a:rPr>
              <a:t>建立敏感词库和人工审核团队，或接入第三方内容审核</a:t>
            </a:r>
            <a:r>
              <a:rPr lang="en-US" altLang="zh-CN" sz="1000" dirty="0">
                <a:solidFill>
                  <a:srgbClr val="383838"/>
                </a:solidFill>
                <a:effectLst/>
                <a:latin typeface="微软雅黑"/>
                <a:ea typeface="微软雅黑"/>
                <a:cs typeface="微软雅黑"/>
              </a:rPr>
              <a:t> API</a:t>
            </a:r>
            <a:r>
              <a:rPr lang="zh-CN" altLang="en-US" sz="1000" dirty="0">
                <a:solidFill>
                  <a:srgbClr val="383838"/>
                </a:solidFill>
                <a:effectLst/>
                <a:latin typeface="微软雅黑"/>
                <a:ea typeface="微软雅黑"/>
                <a:cs typeface="微软雅黑"/>
              </a:rPr>
              <a:t>。制定紧急舆情预案。</a:t>
            </a:r>
            <a:endParaRPr lang="zh-CN" altLang="en-US" sz="1000" dirty="0">
              <a:solidFill>
                <a:srgbClr val="383838"/>
              </a:solidFill>
              <a:effectLst/>
              <a:latin typeface="微软雅黑"/>
              <a:ea typeface="微软雅黑"/>
              <a:cs typeface="微软雅黑"/>
            </a:endParaRPr>
          </a:p>
        </p:txBody>
      </p:sp>
    </p:spTree>
  </p:cSld>
  <p:clrMapOvr>
    <a:masterClrMapping/>
  </p:clrMapOvr>
  <p:timing>
    <p:tnLst>
      <p:par>
        <p:cTn id="1" dur="indefinite" restart="never" fill="hold"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lang="zh-CN" altLang="en-US" sz="2500">
                <a:solidFill>
                  <a:srgbClr val="383838"/>
                </a:solidFill>
                <a:effectLst/>
                <a:latin typeface="微软雅黑"/>
                <a:ea typeface="微软雅黑"/>
                <a:cs typeface="微软雅黑"/>
              </a:rPr>
              <a:t>年度核心工作成果总结</a:t>
            </a:r>
            <a:endParaRPr lang="en-US" altLang="zh-CN"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267" name="子陵职场PPT2"/>
          <p:cNvGrpSpPr/>
          <p:nvPr>
            <p:custDataLst>
              <p:tags r:id="rId3"/>
            </p:custDataLst>
          </p:nvPr>
        </p:nvGrpSpPr>
        <p:grpSpPr>
          <a:xfrm>
            <a:off x="1932940" y="2955290"/>
            <a:ext cx="8326120" cy="3695700"/>
            <a:chOff x="2150008" y="2464414"/>
            <a:chExt cx="7891983" cy="3502908"/>
          </a:xfrm>
        </p:grpSpPr>
        <p:sp>
          <p:nvSpPr>
            <p:cNvPr id="2" name="子陵职场PPT2-1"/>
            <p:cNvSpPr/>
            <p:nvPr>
              <p:custDataLst>
                <p:tags r:id="rId4"/>
              </p:custDataLst>
            </p:nvPr>
          </p:nvSpPr>
          <p:spPr>
            <a:xfrm>
              <a:off x="3251487" y="4016299"/>
              <a:ext cx="1886576" cy="1672725"/>
            </a:xfrm>
            <a:custGeom>
              <a:avLst/>
              <a:gdLst>
                <a:gd name="connsiteX0" fmla="*/ 1886577 w 1886576"/>
                <a:gd name="connsiteY0" fmla="*/ 975512 h 1672725"/>
                <a:gd name="connsiteX1" fmla="*/ 543416 w 1886576"/>
                <a:gd name="connsiteY1" fmla="*/ 0 h 1672725"/>
                <a:gd name="connsiteX2" fmla="*/ 0 w 1886576"/>
                <a:gd name="connsiteY2" fmla="*/ 1672725 h 1672725"/>
                <a:gd name="connsiteX3" fmla="*/ 1661008 w 1886576"/>
                <a:gd name="connsiteY3" fmla="*/ 1672725 h 1672725"/>
                <a:gd name="connsiteX4" fmla="*/ 1886577 w 1886576"/>
                <a:gd name="connsiteY4" fmla="*/ 975512 h 1672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576" h="1672725">
                  <a:moveTo>
                    <a:pt x="1886577" y="975512"/>
                  </a:moveTo>
                  <a:lnTo>
                    <a:pt x="543416" y="0"/>
                  </a:lnTo>
                  <a:cubicBezTo>
                    <a:pt x="202133" y="468715"/>
                    <a:pt x="0" y="1047284"/>
                    <a:pt x="0" y="1672725"/>
                  </a:cubicBezTo>
                  <a:lnTo>
                    <a:pt x="1661008" y="1672725"/>
                  </a:lnTo>
                  <a:cubicBezTo>
                    <a:pt x="1659543" y="1410538"/>
                    <a:pt x="1744497" y="1170322"/>
                    <a:pt x="1886577" y="975512"/>
                  </a:cubicBezTo>
                  <a:close/>
                </a:path>
              </a:pathLst>
            </a:custGeom>
            <a:gradFill>
              <a:gsLst>
                <a:gs pos="0">
                  <a:srgbClr val="0042FF"/>
                </a:gs>
                <a:gs pos="100000">
                  <a:srgbClr val="3368FF"/>
                </a:gs>
              </a:gsLst>
              <a:lin ang="16200000" scaled="0"/>
            </a:gradFill>
            <a:ln w="1464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3" name="子陵职场PPT2-2"/>
            <p:cNvSpPr/>
            <p:nvPr>
              <p:custDataLst>
                <p:tags r:id="rId5"/>
              </p:custDataLst>
            </p:nvPr>
          </p:nvSpPr>
          <p:spPr>
            <a:xfrm>
              <a:off x="3761215" y="2942649"/>
              <a:ext cx="1968601" cy="2049161"/>
            </a:xfrm>
            <a:custGeom>
              <a:avLst/>
              <a:gdLst>
                <a:gd name="connsiteX0" fmla="*/ 1442762 w 1968601"/>
                <a:gd name="connsiteY0" fmla="*/ 0 h 2049161"/>
                <a:gd name="connsiteX1" fmla="*/ 0 w 1968601"/>
                <a:gd name="connsiteY1" fmla="*/ 1048749 h 2049161"/>
                <a:gd name="connsiteX2" fmla="*/ 1376849 w 1968601"/>
                <a:gd name="connsiteY2" fmla="*/ 2049162 h 2049161"/>
                <a:gd name="connsiteX3" fmla="*/ 1968602 w 1968601"/>
                <a:gd name="connsiteY3" fmla="*/ 1618530 h 2049161"/>
                <a:gd name="connsiteX4" fmla="*/ 1442762 w 1968601"/>
                <a:gd name="connsiteY4" fmla="*/ 0 h 2049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8601" h="2049161">
                  <a:moveTo>
                    <a:pt x="1442762" y="0"/>
                  </a:moveTo>
                  <a:cubicBezTo>
                    <a:pt x="858334" y="190415"/>
                    <a:pt x="354465" y="562458"/>
                    <a:pt x="0" y="1048749"/>
                  </a:cubicBezTo>
                  <a:lnTo>
                    <a:pt x="1376849" y="2049162"/>
                  </a:lnTo>
                  <a:cubicBezTo>
                    <a:pt x="1521858" y="1849959"/>
                    <a:pt x="1728385" y="1696162"/>
                    <a:pt x="1968602" y="1618530"/>
                  </a:cubicBezTo>
                  <a:lnTo>
                    <a:pt x="1442762" y="0"/>
                  </a:lnTo>
                  <a:close/>
                </a:path>
              </a:pathLst>
            </a:custGeom>
            <a:gradFill>
              <a:gsLst>
                <a:gs pos="0">
                  <a:srgbClr val="3368FF"/>
                </a:gs>
                <a:gs pos="100000">
                  <a:srgbClr val="668EFF"/>
                </a:gs>
              </a:gsLst>
              <a:lin ang="16200000" scaled="0"/>
            </a:gradFill>
            <a:ln w="1464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 name="子陵职场PPT2-3"/>
            <p:cNvSpPr/>
            <p:nvPr>
              <p:custDataLst>
                <p:tags r:id="rId6"/>
              </p:custDataLst>
            </p:nvPr>
          </p:nvSpPr>
          <p:spPr>
            <a:xfrm>
              <a:off x="7053935" y="3921091"/>
              <a:ext cx="2047697" cy="1766468"/>
            </a:xfrm>
            <a:custGeom>
              <a:avLst/>
              <a:gdLst>
                <a:gd name="connsiteX0" fmla="*/ 1473522 w 2047697"/>
                <a:gd name="connsiteY0" fmla="*/ 0 h 1766468"/>
                <a:gd name="connsiteX1" fmla="*/ 0 w 2047697"/>
                <a:gd name="connsiteY1" fmla="*/ 1070720 h 1766468"/>
                <a:gd name="connsiteX2" fmla="*/ 227034 w 2047697"/>
                <a:gd name="connsiteY2" fmla="*/ 1766468 h 1766468"/>
                <a:gd name="connsiteX3" fmla="*/ 2047698 w 2047697"/>
                <a:gd name="connsiteY3" fmla="*/ 1766468 h 1766468"/>
                <a:gd name="connsiteX4" fmla="*/ 1473522 w 2047697"/>
                <a:gd name="connsiteY4" fmla="*/ 0 h 1766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7697" h="1766468">
                  <a:moveTo>
                    <a:pt x="1473522" y="0"/>
                  </a:moveTo>
                  <a:lnTo>
                    <a:pt x="0" y="1070720"/>
                  </a:lnTo>
                  <a:cubicBezTo>
                    <a:pt x="142079" y="1265530"/>
                    <a:pt x="227034" y="1507211"/>
                    <a:pt x="227034" y="1766468"/>
                  </a:cubicBezTo>
                  <a:lnTo>
                    <a:pt x="2047698" y="1766468"/>
                  </a:lnTo>
                  <a:cubicBezTo>
                    <a:pt x="2047698" y="1105874"/>
                    <a:pt x="1833846" y="496545"/>
                    <a:pt x="1473522" y="0"/>
                  </a:cubicBezTo>
                  <a:close/>
                </a:path>
              </a:pathLst>
            </a:custGeom>
            <a:gradFill>
              <a:gsLst>
                <a:gs pos="0">
                  <a:srgbClr val="0042FF"/>
                </a:gs>
                <a:gs pos="100000">
                  <a:srgbClr val="3368FF"/>
                </a:gs>
              </a:gsLst>
              <a:lin ang="16200000" scaled="0"/>
            </a:gradFill>
            <a:ln w="14643"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9" name="子陵职场PPT2-4"/>
            <p:cNvSpPr/>
            <p:nvPr>
              <p:custDataLst>
                <p:tags r:id="rId7"/>
              </p:custDataLst>
            </p:nvPr>
          </p:nvSpPr>
          <p:spPr>
            <a:xfrm>
              <a:off x="6462183" y="2865018"/>
              <a:ext cx="2034514" cy="2126792"/>
            </a:xfrm>
            <a:custGeom>
              <a:avLst/>
              <a:gdLst>
                <a:gd name="connsiteX0" fmla="*/ 550740 w 2034514"/>
                <a:gd name="connsiteY0" fmla="*/ 0 h 2126792"/>
                <a:gd name="connsiteX1" fmla="*/ 0 w 2034514"/>
                <a:gd name="connsiteY1" fmla="*/ 1696161 h 2126792"/>
                <a:gd name="connsiteX2" fmla="*/ 591752 w 2034514"/>
                <a:gd name="connsiteY2" fmla="*/ 2126793 h 2126792"/>
                <a:gd name="connsiteX3" fmla="*/ 2034515 w 2034514"/>
                <a:gd name="connsiteY3" fmla="*/ 1078044 h 2126792"/>
                <a:gd name="connsiteX4" fmla="*/ 550740 w 2034514"/>
                <a:gd name="connsiteY4" fmla="*/ 0 h 2126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514" h="2126792">
                  <a:moveTo>
                    <a:pt x="550740" y="0"/>
                  </a:moveTo>
                  <a:lnTo>
                    <a:pt x="0" y="1696161"/>
                  </a:lnTo>
                  <a:cubicBezTo>
                    <a:pt x="240216" y="1773792"/>
                    <a:pt x="446744" y="1926124"/>
                    <a:pt x="591752" y="2126793"/>
                  </a:cubicBezTo>
                  <a:lnTo>
                    <a:pt x="2034515" y="1078044"/>
                  </a:lnTo>
                  <a:cubicBezTo>
                    <a:pt x="1669796" y="577105"/>
                    <a:pt x="1152745" y="194809"/>
                    <a:pt x="550740" y="0"/>
                  </a:cubicBezTo>
                  <a:close/>
                </a:path>
              </a:pathLst>
            </a:custGeom>
            <a:gradFill>
              <a:gsLst>
                <a:gs pos="0">
                  <a:srgbClr val="3368FF"/>
                </a:gs>
                <a:gs pos="100000">
                  <a:srgbClr val="668EFF"/>
                </a:gs>
              </a:gsLst>
              <a:lin ang="16200000" scaled="0"/>
            </a:gradFill>
            <a:ln w="14643"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2" name="子陵职场PPT2-5"/>
            <p:cNvSpPr/>
            <p:nvPr>
              <p:custDataLst>
                <p:tags r:id="rId8"/>
              </p:custDataLst>
            </p:nvPr>
          </p:nvSpPr>
          <p:spPr>
            <a:xfrm>
              <a:off x="5190794" y="2761022"/>
              <a:ext cx="1810410" cy="1800157"/>
            </a:xfrm>
            <a:custGeom>
              <a:avLst/>
              <a:gdLst>
                <a:gd name="connsiteX0" fmla="*/ 905205 w 1810410"/>
                <a:gd name="connsiteY0" fmla="*/ 0 h 1800157"/>
                <a:gd name="connsiteX1" fmla="*/ 0 w 1810410"/>
                <a:gd name="connsiteY1" fmla="*/ 142079 h 1800157"/>
                <a:gd name="connsiteX2" fmla="*/ 539022 w 1810410"/>
                <a:gd name="connsiteY2" fmla="*/ 1800157 h 1800157"/>
                <a:gd name="connsiteX3" fmla="*/ 905205 w 1810410"/>
                <a:gd name="connsiteY3" fmla="*/ 1741568 h 1800157"/>
                <a:gd name="connsiteX4" fmla="*/ 1271388 w 1810410"/>
                <a:gd name="connsiteY4" fmla="*/ 1800157 h 1800157"/>
                <a:gd name="connsiteX5" fmla="*/ 1810410 w 1810410"/>
                <a:gd name="connsiteY5" fmla="*/ 142079 h 1800157"/>
                <a:gd name="connsiteX6" fmla="*/ 905205 w 1810410"/>
                <a:gd name="connsiteY6" fmla="*/ 0 h 180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0410" h="1800157">
                  <a:moveTo>
                    <a:pt x="905205" y="0"/>
                  </a:moveTo>
                  <a:cubicBezTo>
                    <a:pt x="588823" y="0"/>
                    <a:pt x="285623" y="49801"/>
                    <a:pt x="0" y="142079"/>
                  </a:cubicBezTo>
                  <a:lnTo>
                    <a:pt x="539022" y="1800157"/>
                  </a:lnTo>
                  <a:cubicBezTo>
                    <a:pt x="654736" y="1762074"/>
                    <a:pt x="777773" y="1741568"/>
                    <a:pt x="905205" y="1741568"/>
                  </a:cubicBezTo>
                  <a:cubicBezTo>
                    <a:pt x="1032637" y="1741568"/>
                    <a:pt x="1155675" y="1762074"/>
                    <a:pt x="1271388" y="1800157"/>
                  </a:cubicBezTo>
                  <a:lnTo>
                    <a:pt x="1810410" y="142079"/>
                  </a:lnTo>
                  <a:cubicBezTo>
                    <a:pt x="1524787" y="49801"/>
                    <a:pt x="1221588" y="0"/>
                    <a:pt x="905205" y="0"/>
                  </a:cubicBezTo>
                  <a:close/>
                </a:path>
              </a:pathLst>
            </a:custGeom>
            <a:gradFill>
              <a:gsLst>
                <a:gs pos="0">
                  <a:srgbClr val="3368FF"/>
                </a:gs>
                <a:gs pos="100000">
                  <a:srgbClr val="B3D4FE"/>
                </a:gs>
              </a:gsLst>
              <a:lin ang="16200000" scaled="0"/>
            </a:gradFill>
            <a:ln w="14643" cap="flat">
              <a:noFill/>
              <a:prstDash val="solid"/>
              <a:miter/>
            </a:ln>
          </p:spPr>
          <p:txBody>
            <a:bodyPr rtlCol="0" anchor="ctr" lIns="0" rIns="0" tIns="0" bIns="0"/>
            <a:lstStyle/>
            <a:p>
              <a:pPr>
                <a:defRPr>
                  <a:latin typeface="微软雅黑"/>
                  <a:ea typeface="微软雅黑"/>
                  <a:cs typeface="微软雅黑"/>
                </a:defRPr>
              </a:pPr>
              <a:endParaRPr lang="zh-CN" altLang="en-US" dirty="0">
                <a:latin typeface="微软雅黑"/>
                <a:ea typeface="微软雅黑"/>
                <a:cs typeface="微软雅黑"/>
              </a:endParaRPr>
            </a:p>
          </p:txBody>
        </p:sp>
        <p:sp>
          <p:nvSpPr>
            <p:cNvPr id="56" name="子陵职场PPT2-6"/>
            <p:cNvSpPr txBox="1"/>
            <p:nvPr>
              <p:custDataLst>
                <p:tags r:id="rId9"/>
              </p:custDataLst>
            </p:nvPr>
          </p:nvSpPr>
          <p:spPr>
            <a:xfrm>
              <a:off x="4103175" y="4960343"/>
              <a:ext cx="651245" cy="557336"/>
            </a:xfrm>
            <a:prstGeom prst="rect">
              <a:avLst/>
            </a:prstGeom>
            <a:noFill/>
          </p:spPr>
          <p:txBody>
            <a:bodyPr wrap="none" rtlCol="0">
              <a:spAutoFit/>
            </a:bodyPr>
            <a:lstStyle/>
            <a:p>
              <a:pPr algn="l">
                <a:defRPr>
                  <a:solidFill>
                    <a:srgbClr val="FFFFFF"/>
                  </a:solidFill>
                  <a:latin typeface="微软雅黑"/>
                  <a:ea typeface="微软雅黑"/>
                  <a:cs typeface="微软雅黑"/>
                </a:defRPr>
              </a:pPr>
              <a:r>
                <a:rPr lang="zh-CN" altLang="en-US" sz="3230" spc="0" baseline="0" dirty="0">
                  <a:solidFill>
                    <a:srgbClr val="FFFFFF"/>
                  </a:solidFill>
                  <a:latin typeface="微软雅黑"/>
                  <a:ea typeface="微软雅黑"/>
                  <a:cs typeface="微软雅黑"/>
                  <a:rtl val="0"/>
                </a:rPr>
                <a:t>01</a:t>
              </a:r>
              <a:endParaRPr lang="zh-CN" altLang="en-US" sz="3230" spc="0" baseline="0" dirty="0">
                <a:solidFill>
                  <a:srgbClr val="FFFFFF"/>
                </a:solidFill>
                <a:latin typeface="微软雅黑"/>
                <a:ea typeface="微软雅黑"/>
                <a:cs typeface="微软雅黑"/>
                <a:rtl val="0"/>
              </a:endParaRPr>
            </a:p>
          </p:txBody>
        </p:sp>
        <p:sp>
          <p:nvSpPr>
            <p:cNvPr id="60" name="子陵职场PPT2-7"/>
            <p:cNvSpPr/>
            <p:nvPr>
              <p:custDataLst>
                <p:tags r:id="rId10"/>
              </p:custDataLst>
            </p:nvPr>
          </p:nvSpPr>
          <p:spPr>
            <a:xfrm>
              <a:off x="3002300" y="4557185"/>
              <a:ext cx="245858" cy="423477"/>
            </a:xfrm>
            <a:custGeom>
              <a:avLst/>
              <a:gdLst>
                <a:gd name="connsiteX0" fmla="*/ 145192 w 245858"/>
                <a:gd name="connsiteY0" fmla="*/ 393614 h 423477"/>
                <a:gd name="connsiteX1" fmla="*/ 117362 w 245858"/>
                <a:gd name="connsiteY1" fmla="*/ 421443 h 423477"/>
                <a:gd name="connsiteX2" fmla="*/ 64631 w 245858"/>
                <a:gd name="connsiteY2" fmla="*/ 393614 h 423477"/>
                <a:gd name="connsiteX3" fmla="*/ 1648 w 245858"/>
                <a:gd name="connsiteY3" fmla="*/ 191481 h 423477"/>
                <a:gd name="connsiteX4" fmla="*/ 14830 w 245858"/>
                <a:gd name="connsiteY4" fmla="*/ 146074 h 423477"/>
                <a:gd name="connsiteX5" fmla="*/ 177416 w 245858"/>
                <a:gd name="connsiteY5" fmla="*/ 9853 h 423477"/>
                <a:gd name="connsiteX6" fmla="*/ 236005 w 245858"/>
                <a:gd name="connsiteY6" fmla="*/ 15713 h 423477"/>
                <a:gd name="connsiteX7" fmla="*/ 230146 w 245858"/>
                <a:gd name="connsiteY7" fmla="*/ 74302 h 423477"/>
                <a:gd name="connsiteX8" fmla="*/ 89532 w 245858"/>
                <a:gd name="connsiteY8" fmla="*/ 191481 h 423477"/>
                <a:gd name="connsiteX9" fmla="*/ 145192 w 245858"/>
                <a:gd name="connsiteY9" fmla="*/ 367249 h 423477"/>
                <a:gd name="connsiteX10" fmla="*/ 145192 w 245858"/>
                <a:gd name="connsiteY10" fmla="*/ 393614 h 42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858" h="423477">
                  <a:moveTo>
                    <a:pt x="145192" y="393614"/>
                  </a:moveTo>
                  <a:cubicBezTo>
                    <a:pt x="140797" y="406796"/>
                    <a:pt x="132009" y="417049"/>
                    <a:pt x="117362" y="421443"/>
                  </a:cubicBezTo>
                  <a:cubicBezTo>
                    <a:pt x="95391" y="428767"/>
                    <a:pt x="71955" y="415585"/>
                    <a:pt x="64631" y="393614"/>
                  </a:cubicBezTo>
                  <a:lnTo>
                    <a:pt x="1648" y="191481"/>
                  </a:lnTo>
                  <a:cubicBezTo>
                    <a:pt x="-2746" y="175368"/>
                    <a:pt x="1648" y="157791"/>
                    <a:pt x="14830" y="146074"/>
                  </a:cubicBezTo>
                  <a:lnTo>
                    <a:pt x="177416" y="9853"/>
                  </a:lnTo>
                  <a:cubicBezTo>
                    <a:pt x="194993" y="-4794"/>
                    <a:pt x="221358" y="-3329"/>
                    <a:pt x="236005" y="15713"/>
                  </a:cubicBezTo>
                  <a:cubicBezTo>
                    <a:pt x="250652" y="33289"/>
                    <a:pt x="249188" y="59655"/>
                    <a:pt x="230146" y="74302"/>
                  </a:cubicBezTo>
                  <a:lnTo>
                    <a:pt x="89532" y="191481"/>
                  </a:lnTo>
                  <a:lnTo>
                    <a:pt x="145192" y="367249"/>
                  </a:lnTo>
                  <a:cubicBezTo>
                    <a:pt x="146656" y="377501"/>
                    <a:pt x="146656" y="384825"/>
                    <a:pt x="145192" y="393614"/>
                  </a:cubicBezTo>
                  <a:close/>
                </a:path>
              </a:pathLst>
            </a:custGeom>
            <a:gradFill>
              <a:gsLst>
                <a:gs pos="0">
                  <a:srgbClr val="0042FF"/>
                </a:gs>
                <a:gs pos="100000">
                  <a:srgbClr val="3368FF"/>
                </a:gs>
              </a:gsLst>
              <a:lin ang="16200000" scaled="0"/>
            </a:gradFill>
            <a:ln w="14643"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3" name="子陵职场PPT2-8"/>
            <p:cNvSpPr/>
            <p:nvPr/>
          </p:nvSpPr>
          <p:spPr>
            <a:xfrm>
              <a:off x="2150008" y="5856003"/>
              <a:ext cx="1578982" cy="111319"/>
            </a:xfrm>
            <a:custGeom>
              <a:avLst/>
              <a:gdLst>
                <a:gd name="connsiteX0" fmla="*/ 1578983 w 1578982"/>
                <a:gd name="connsiteY0" fmla="*/ 0 h 111319"/>
                <a:gd name="connsiteX1" fmla="*/ 55660 w 1578982"/>
                <a:gd name="connsiteY1" fmla="*/ 0 h 111319"/>
                <a:gd name="connsiteX2" fmla="*/ 0 w 1578982"/>
                <a:gd name="connsiteY2" fmla="*/ 55660 h 111319"/>
                <a:gd name="connsiteX3" fmla="*/ 0 w 1578982"/>
                <a:gd name="connsiteY3" fmla="*/ 55660 h 111319"/>
                <a:gd name="connsiteX4" fmla="*/ 55660 w 1578982"/>
                <a:gd name="connsiteY4" fmla="*/ 111320 h 111319"/>
                <a:gd name="connsiteX5" fmla="*/ 1578983 w 1578982"/>
                <a:gd name="connsiteY5" fmla="*/ 111320 h 111319"/>
                <a:gd name="connsiteX6" fmla="*/ 1578983 w 1578982"/>
                <a:gd name="connsiteY6" fmla="*/ 0 h 11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8982" h="111319">
                  <a:moveTo>
                    <a:pt x="1578983" y="0"/>
                  </a:moveTo>
                  <a:lnTo>
                    <a:pt x="55660" y="0"/>
                  </a:lnTo>
                  <a:cubicBezTo>
                    <a:pt x="24901" y="0"/>
                    <a:pt x="0" y="24901"/>
                    <a:pt x="0" y="55660"/>
                  </a:cubicBezTo>
                  <a:lnTo>
                    <a:pt x="0" y="55660"/>
                  </a:lnTo>
                  <a:cubicBezTo>
                    <a:pt x="0" y="86420"/>
                    <a:pt x="24901" y="111320"/>
                    <a:pt x="55660" y="111320"/>
                  </a:cubicBezTo>
                  <a:lnTo>
                    <a:pt x="1578983" y="111320"/>
                  </a:lnTo>
                  <a:lnTo>
                    <a:pt x="1578983" y="0"/>
                  </a:lnTo>
                  <a:close/>
                </a:path>
              </a:pathLst>
            </a:custGeom>
            <a:solidFill>
              <a:srgbClr val="0042FF"/>
            </a:solidFill>
            <a:ln w="1464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8" name="子陵职场PPT2-9"/>
            <p:cNvSpPr/>
            <p:nvPr>
              <p:custDataLst>
                <p:tags r:id="rId11"/>
              </p:custDataLst>
            </p:nvPr>
          </p:nvSpPr>
          <p:spPr>
            <a:xfrm>
              <a:off x="4079056" y="3080255"/>
              <a:ext cx="369197" cy="293625"/>
            </a:xfrm>
            <a:custGeom>
              <a:avLst/>
              <a:gdLst>
                <a:gd name="connsiteX0" fmla="*/ 67383 w 369197"/>
                <a:gd name="connsiteY0" fmla="*/ 285702 h 293625"/>
                <a:gd name="connsiteX1" fmla="*/ 27835 w 369197"/>
                <a:gd name="connsiteY1" fmla="*/ 291561 h 293625"/>
                <a:gd name="connsiteX2" fmla="*/ 2935 w 369197"/>
                <a:gd name="connsiteY2" fmla="*/ 237366 h 293625"/>
                <a:gd name="connsiteX3" fmla="*/ 74707 w 369197"/>
                <a:gd name="connsiteY3" fmla="*/ 38162 h 293625"/>
                <a:gd name="connsiteX4" fmla="*/ 112790 w 369197"/>
                <a:gd name="connsiteY4" fmla="*/ 10332 h 293625"/>
                <a:gd name="connsiteX5" fmla="*/ 325176 w 369197"/>
                <a:gd name="connsiteY5" fmla="*/ 79 h 293625"/>
                <a:gd name="connsiteX6" fmla="*/ 369118 w 369197"/>
                <a:gd name="connsiteY6" fmla="*/ 39627 h 293625"/>
                <a:gd name="connsiteX7" fmla="*/ 329570 w 369197"/>
                <a:gd name="connsiteY7" fmla="*/ 83569 h 293625"/>
                <a:gd name="connsiteX8" fmla="*/ 146479 w 369197"/>
                <a:gd name="connsiteY8" fmla="*/ 92358 h 293625"/>
                <a:gd name="connsiteX9" fmla="*/ 83495 w 369197"/>
                <a:gd name="connsiteY9" fmla="*/ 265196 h 293625"/>
                <a:gd name="connsiteX10" fmla="*/ 67383 w 369197"/>
                <a:gd name="connsiteY10" fmla="*/ 285702 h 29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9197" h="293625">
                  <a:moveTo>
                    <a:pt x="67383" y="285702"/>
                  </a:moveTo>
                  <a:cubicBezTo>
                    <a:pt x="57130" y="293026"/>
                    <a:pt x="42483" y="295955"/>
                    <a:pt x="27835" y="291561"/>
                  </a:cubicBezTo>
                  <a:cubicBezTo>
                    <a:pt x="5864" y="284238"/>
                    <a:pt x="-5854" y="259337"/>
                    <a:pt x="2935" y="237366"/>
                  </a:cubicBezTo>
                  <a:lnTo>
                    <a:pt x="74707" y="38162"/>
                  </a:lnTo>
                  <a:cubicBezTo>
                    <a:pt x="80566" y="22050"/>
                    <a:pt x="95213" y="11797"/>
                    <a:pt x="112790" y="10332"/>
                  </a:cubicBezTo>
                  <a:lnTo>
                    <a:pt x="325176" y="79"/>
                  </a:lnTo>
                  <a:cubicBezTo>
                    <a:pt x="348612" y="-1386"/>
                    <a:pt x="367653" y="17656"/>
                    <a:pt x="369118" y="39627"/>
                  </a:cubicBezTo>
                  <a:cubicBezTo>
                    <a:pt x="370583" y="63063"/>
                    <a:pt x="351541" y="82104"/>
                    <a:pt x="329570" y="83569"/>
                  </a:cubicBezTo>
                  <a:lnTo>
                    <a:pt x="146479" y="92358"/>
                  </a:lnTo>
                  <a:lnTo>
                    <a:pt x="83495" y="265196"/>
                  </a:lnTo>
                  <a:cubicBezTo>
                    <a:pt x="79101" y="273984"/>
                    <a:pt x="74707" y="281308"/>
                    <a:pt x="67383" y="285702"/>
                  </a:cubicBezTo>
                  <a:close/>
                </a:path>
              </a:pathLst>
            </a:custGeom>
            <a:gradFill>
              <a:gsLst>
                <a:gs pos="0">
                  <a:srgbClr val="3368FF"/>
                </a:gs>
                <a:gs pos="100000">
                  <a:srgbClr val="668EFF"/>
                </a:gs>
              </a:gsLst>
              <a:lin ang="16200000" scaled="0"/>
            </a:gradFill>
            <a:ln w="14643"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12" name="子陵职场PPT2-10"/>
            <p:cNvSpPr/>
            <p:nvPr/>
          </p:nvSpPr>
          <p:spPr>
            <a:xfrm>
              <a:off x="3728990" y="5856004"/>
              <a:ext cx="1577517" cy="109855"/>
            </a:xfrm>
            <a:custGeom>
              <a:avLst/>
              <a:gdLst>
                <a:gd name="connsiteX0" fmla="*/ 0 w 1577517"/>
                <a:gd name="connsiteY0" fmla="*/ 0 h 109855"/>
                <a:gd name="connsiteX1" fmla="*/ 1577518 w 1577517"/>
                <a:gd name="connsiteY1" fmla="*/ 0 h 109855"/>
                <a:gd name="connsiteX2" fmla="*/ 1577518 w 1577517"/>
                <a:gd name="connsiteY2" fmla="*/ 109855 h 109855"/>
                <a:gd name="connsiteX3" fmla="*/ 0 w 1577517"/>
                <a:gd name="connsiteY3" fmla="*/ 109855 h 109855"/>
              </a:gdLst>
              <a:ahLst/>
              <a:cxnLst>
                <a:cxn ang="0">
                  <a:pos x="connsiteX0" y="connsiteY0"/>
                </a:cxn>
                <a:cxn ang="0">
                  <a:pos x="connsiteX1" y="connsiteY1"/>
                </a:cxn>
                <a:cxn ang="0">
                  <a:pos x="connsiteX2" y="connsiteY2"/>
                </a:cxn>
                <a:cxn ang="0">
                  <a:pos x="connsiteX3" y="connsiteY3"/>
                </a:cxn>
              </a:cxnLst>
              <a:rect l="l" t="t" r="r" b="b"/>
              <a:pathLst>
                <a:path w="1577517" h="109855">
                  <a:moveTo>
                    <a:pt x="0" y="0"/>
                  </a:moveTo>
                  <a:lnTo>
                    <a:pt x="1577518" y="0"/>
                  </a:lnTo>
                  <a:lnTo>
                    <a:pt x="1577518" y="109855"/>
                  </a:lnTo>
                  <a:lnTo>
                    <a:pt x="0" y="109855"/>
                  </a:lnTo>
                  <a:close/>
                </a:path>
              </a:pathLst>
            </a:custGeom>
            <a:solidFill>
              <a:srgbClr val="3368FF"/>
            </a:solidFill>
            <a:ln w="1464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36" name="子陵职场PPT2-11"/>
            <p:cNvSpPr txBox="1"/>
            <p:nvPr>
              <p:custDataLst>
                <p:tags r:id="rId12"/>
              </p:custDataLst>
            </p:nvPr>
          </p:nvSpPr>
          <p:spPr>
            <a:xfrm>
              <a:off x="5729937" y="3742227"/>
              <a:ext cx="621730" cy="558524"/>
            </a:xfrm>
            <a:prstGeom prst="rect">
              <a:avLst/>
            </a:prstGeom>
            <a:noFill/>
          </p:spPr>
          <p:txBody>
            <a:bodyPr wrap="none" rtlCol="0">
              <a:spAutoFit/>
            </a:bodyPr>
            <a:lstStyle/>
            <a:p>
              <a:pPr algn="l">
                <a:defRPr>
                  <a:solidFill>
                    <a:srgbClr val="383838"/>
                  </a:solidFill>
                  <a:latin typeface="微软雅黑"/>
                  <a:ea typeface="微软雅黑"/>
                  <a:cs typeface="微软雅黑"/>
                </a:defRPr>
              </a:pPr>
              <a:r>
                <a:rPr lang="zh-CN" altLang="en-US" sz="3230" spc="0" baseline="0" dirty="0">
                  <a:solidFill>
                    <a:srgbClr val="383838"/>
                  </a:solidFill>
                  <a:latin typeface="微软雅黑"/>
                  <a:ea typeface="微软雅黑"/>
                  <a:cs typeface="微软雅黑"/>
                  <a:rtl val="0"/>
                </a:rPr>
                <a:t>03</a:t>
              </a:r>
              <a:endParaRPr lang="zh-CN" altLang="en-US" sz="3230" spc="0" baseline="0" dirty="0">
                <a:solidFill>
                  <a:srgbClr val="383838"/>
                </a:solidFill>
                <a:latin typeface="微软雅黑"/>
                <a:ea typeface="微软雅黑"/>
                <a:cs typeface="微软雅黑"/>
                <a:rtl val="0"/>
              </a:endParaRPr>
            </a:p>
          </p:txBody>
        </p:sp>
        <p:sp>
          <p:nvSpPr>
            <p:cNvPr id="139" name="子陵职场PPT2-12"/>
            <p:cNvSpPr/>
            <p:nvPr>
              <p:custDataLst>
                <p:tags r:id="rId13"/>
              </p:custDataLst>
            </p:nvPr>
          </p:nvSpPr>
          <p:spPr>
            <a:xfrm>
              <a:off x="5877968" y="2464414"/>
              <a:ext cx="436062" cy="202865"/>
            </a:xfrm>
            <a:custGeom>
              <a:avLst/>
              <a:gdLst>
                <a:gd name="connsiteX0" fmla="*/ 42263 w 436062"/>
                <a:gd name="connsiteY0" fmla="*/ 202866 h 202865"/>
                <a:gd name="connsiteX1" fmla="*/ 7110 w 436062"/>
                <a:gd name="connsiteY1" fmla="*/ 183824 h 202865"/>
                <a:gd name="connsiteX2" fmla="*/ 18827 w 436062"/>
                <a:gd name="connsiteY2" fmla="*/ 125235 h 202865"/>
                <a:gd name="connsiteX3" fmla="*/ 194595 w 436062"/>
                <a:gd name="connsiteY3" fmla="*/ 6591 h 202865"/>
                <a:gd name="connsiteX4" fmla="*/ 241467 w 436062"/>
                <a:gd name="connsiteY4" fmla="*/ 6591 h 202865"/>
                <a:gd name="connsiteX5" fmla="*/ 417235 w 436062"/>
                <a:gd name="connsiteY5" fmla="*/ 125235 h 202865"/>
                <a:gd name="connsiteX6" fmla="*/ 428953 w 436062"/>
                <a:gd name="connsiteY6" fmla="*/ 183824 h 202865"/>
                <a:gd name="connsiteX7" fmla="*/ 370363 w 436062"/>
                <a:gd name="connsiteY7" fmla="*/ 195542 h 202865"/>
                <a:gd name="connsiteX8" fmla="*/ 218031 w 436062"/>
                <a:gd name="connsiteY8" fmla="*/ 93011 h 202865"/>
                <a:gd name="connsiteX9" fmla="*/ 65699 w 436062"/>
                <a:gd name="connsiteY9" fmla="*/ 195542 h 202865"/>
                <a:gd name="connsiteX10" fmla="*/ 42263 w 436062"/>
                <a:gd name="connsiteY10" fmla="*/ 202866 h 20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6062" h="202865">
                  <a:moveTo>
                    <a:pt x="42263" y="202866"/>
                  </a:moveTo>
                  <a:cubicBezTo>
                    <a:pt x="29081" y="202866"/>
                    <a:pt x="15898" y="197007"/>
                    <a:pt x="7110" y="183824"/>
                  </a:cubicBezTo>
                  <a:cubicBezTo>
                    <a:pt x="-6073" y="164782"/>
                    <a:pt x="-214" y="138417"/>
                    <a:pt x="18827" y="125235"/>
                  </a:cubicBezTo>
                  <a:lnTo>
                    <a:pt x="194595" y="6591"/>
                  </a:lnTo>
                  <a:cubicBezTo>
                    <a:pt x="209243" y="-2197"/>
                    <a:pt x="226820" y="-2197"/>
                    <a:pt x="241467" y="6591"/>
                  </a:cubicBezTo>
                  <a:lnTo>
                    <a:pt x="417235" y="125235"/>
                  </a:lnTo>
                  <a:cubicBezTo>
                    <a:pt x="436276" y="138417"/>
                    <a:pt x="442135" y="164782"/>
                    <a:pt x="428953" y="183824"/>
                  </a:cubicBezTo>
                  <a:cubicBezTo>
                    <a:pt x="415770" y="202866"/>
                    <a:pt x="389405" y="208724"/>
                    <a:pt x="370363" y="195542"/>
                  </a:cubicBezTo>
                  <a:lnTo>
                    <a:pt x="218031" y="93011"/>
                  </a:lnTo>
                  <a:lnTo>
                    <a:pt x="65699" y="195542"/>
                  </a:lnTo>
                  <a:cubicBezTo>
                    <a:pt x="58375" y="201401"/>
                    <a:pt x="49587" y="202866"/>
                    <a:pt x="42263" y="202866"/>
                  </a:cubicBezTo>
                  <a:close/>
                </a:path>
              </a:pathLst>
            </a:custGeom>
            <a:gradFill>
              <a:gsLst>
                <a:gs pos="0">
                  <a:srgbClr val="3368FF"/>
                </a:gs>
                <a:gs pos="100000">
                  <a:srgbClr val="B3D4FE"/>
                </a:gs>
              </a:gsLst>
              <a:lin ang="16200000" scaled="0"/>
            </a:gradFill>
            <a:ln w="14643"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52" name="子陵职场PPT2-13"/>
            <p:cNvSpPr/>
            <p:nvPr/>
          </p:nvSpPr>
          <p:spPr>
            <a:xfrm>
              <a:off x="5306508" y="5856004"/>
              <a:ext cx="1577517" cy="109855"/>
            </a:xfrm>
            <a:custGeom>
              <a:avLst/>
              <a:gdLst>
                <a:gd name="connsiteX0" fmla="*/ 0 w 1577517"/>
                <a:gd name="connsiteY0" fmla="*/ 0 h 109855"/>
                <a:gd name="connsiteX1" fmla="*/ 1577518 w 1577517"/>
                <a:gd name="connsiteY1" fmla="*/ 0 h 109855"/>
                <a:gd name="connsiteX2" fmla="*/ 1577518 w 1577517"/>
                <a:gd name="connsiteY2" fmla="*/ 109855 h 109855"/>
                <a:gd name="connsiteX3" fmla="*/ 0 w 1577517"/>
                <a:gd name="connsiteY3" fmla="*/ 109855 h 109855"/>
              </a:gdLst>
              <a:ahLst/>
              <a:cxnLst>
                <a:cxn ang="0">
                  <a:pos x="connsiteX0" y="connsiteY0"/>
                </a:cxn>
                <a:cxn ang="0">
                  <a:pos x="connsiteX1" y="connsiteY1"/>
                </a:cxn>
                <a:cxn ang="0">
                  <a:pos x="connsiteX2" y="connsiteY2"/>
                </a:cxn>
                <a:cxn ang="0">
                  <a:pos x="connsiteX3" y="connsiteY3"/>
                </a:cxn>
              </a:cxnLst>
              <a:rect l="l" t="t" r="r" b="b"/>
              <a:pathLst>
                <a:path w="1577517" h="109855">
                  <a:moveTo>
                    <a:pt x="0" y="0"/>
                  </a:moveTo>
                  <a:lnTo>
                    <a:pt x="1577518" y="0"/>
                  </a:lnTo>
                  <a:lnTo>
                    <a:pt x="1577518" y="109855"/>
                  </a:lnTo>
                  <a:lnTo>
                    <a:pt x="0" y="109855"/>
                  </a:lnTo>
                  <a:close/>
                </a:path>
              </a:pathLst>
            </a:custGeom>
            <a:solidFill>
              <a:srgbClr val="3368FF"/>
            </a:solidFill>
            <a:ln w="1464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6" name="子陵职场PPT2-14"/>
            <p:cNvSpPr txBox="1"/>
            <p:nvPr>
              <p:custDataLst>
                <p:tags r:id="rId14"/>
              </p:custDataLst>
            </p:nvPr>
          </p:nvSpPr>
          <p:spPr>
            <a:xfrm>
              <a:off x="6761270" y="4048561"/>
              <a:ext cx="621730" cy="558524"/>
            </a:xfrm>
            <a:prstGeom prst="rect">
              <a:avLst/>
            </a:prstGeom>
            <a:noFill/>
          </p:spPr>
          <p:txBody>
            <a:bodyPr wrap="none" rtlCol="0">
              <a:spAutoFit/>
            </a:bodyPr>
            <a:lstStyle/>
            <a:p>
              <a:pPr algn="l">
                <a:defRPr>
                  <a:solidFill>
                    <a:srgbClr val="FFFFFF"/>
                  </a:solidFill>
                  <a:latin typeface="微软雅黑"/>
                  <a:ea typeface="微软雅黑"/>
                  <a:cs typeface="微软雅黑"/>
                </a:defRPr>
              </a:pPr>
              <a:r>
                <a:rPr lang="zh-CN" altLang="en-US" sz="3230" spc="0" baseline="0">
                  <a:solidFill>
                    <a:srgbClr val="FFFFFF"/>
                  </a:solidFill>
                  <a:latin typeface="微软雅黑"/>
                  <a:ea typeface="微软雅黑"/>
                  <a:cs typeface="微软雅黑"/>
                  <a:rtl val="0"/>
                </a:rPr>
                <a:t>04</a:t>
              </a:r>
              <a:endParaRPr lang="zh-CN" altLang="en-US" sz="3230" spc="0" baseline="0">
                <a:solidFill>
                  <a:srgbClr val="FFFFFF"/>
                </a:solidFill>
                <a:latin typeface="微软雅黑"/>
                <a:ea typeface="微软雅黑"/>
                <a:cs typeface="微软雅黑"/>
                <a:rtl val="0"/>
              </a:endParaRPr>
            </a:p>
          </p:txBody>
        </p:sp>
        <p:sp>
          <p:nvSpPr>
            <p:cNvPr id="179" name="子陵职场PPT2-15"/>
            <p:cNvSpPr/>
            <p:nvPr>
              <p:custDataLst>
                <p:tags r:id="rId15"/>
              </p:custDataLst>
            </p:nvPr>
          </p:nvSpPr>
          <p:spPr>
            <a:xfrm>
              <a:off x="7770730" y="3009833"/>
              <a:ext cx="368527" cy="292447"/>
            </a:xfrm>
            <a:custGeom>
              <a:avLst/>
              <a:gdLst>
                <a:gd name="connsiteX0" fmla="*/ 17577 w 368527"/>
                <a:gd name="connsiteY0" fmla="*/ 74787 h 292447"/>
                <a:gd name="connsiteX1" fmla="*/ 0 w 368527"/>
                <a:gd name="connsiteY1" fmla="*/ 39633 h 292447"/>
                <a:gd name="connsiteX2" fmla="*/ 43942 w 368527"/>
                <a:gd name="connsiteY2" fmla="*/ 85 h 292447"/>
                <a:gd name="connsiteX3" fmla="*/ 256328 w 368527"/>
                <a:gd name="connsiteY3" fmla="*/ 8874 h 292447"/>
                <a:gd name="connsiteX4" fmla="*/ 294411 w 368527"/>
                <a:gd name="connsiteY4" fmla="*/ 36704 h 292447"/>
                <a:gd name="connsiteX5" fmla="*/ 366183 w 368527"/>
                <a:gd name="connsiteY5" fmla="*/ 235907 h 292447"/>
                <a:gd name="connsiteX6" fmla="*/ 341283 w 368527"/>
                <a:gd name="connsiteY6" fmla="*/ 290103 h 292447"/>
                <a:gd name="connsiteX7" fmla="*/ 287087 w 368527"/>
                <a:gd name="connsiteY7" fmla="*/ 265202 h 292447"/>
                <a:gd name="connsiteX8" fmla="*/ 224104 w 368527"/>
                <a:gd name="connsiteY8" fmla="*/ 92364 h 292447"/>
                <a:gd name="connsiteX9" fmla="*/ 41012 w 368527"/>
                <a:gd name="connsiteY9" fmla="*/ 85040 h 292447"/>
                <a:gd name="connsiteX10" fmla="*/ 17577 w 368527"/>
                <a:gd name="connsiteY10" fmla="*/ 74787 h 29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527" h="292447">
                  <a:moveTo>
                    <a:pt x="17577" y="74787"/>
                  </a:moveTo>
                  <a:cubicBezTo>
                    <a:pt x="7324" y="67463"/>
                    <a:pt x="0" y="54280"/>
                    <a:pt x="0" y="39633"/>
                  </a:cubicBezTo>
                  <a:cubicBezTo>
                    <a:pt x="1464" y="16197"/>
                    <a:pt x="20506" y="-1380"/>
                    <a:pt x="43942" y="85"/>
                  </a:cubicBezTo>
                  <a:lnTo>
                    <a:pt x="256328" y="8874"/>
                  </a:lnTo>
                  <a:cubicBezTo>
                    <a:pt x="273905" y="10338"/>
                    <a:pt x="288552" y="20591"/>
                    <a:pt x="294411" y="36704"/>
                  </a:cubicBezTo>
                  <a:lnTo>
                    <a:pt x="366183" y="235907"/>
                  </a:lnTo>
                  <a:cubicBezTo>
                    <a:pt x="373507" y="257878"/>
                    <a:pt x="363254" y="281314"/>
                    <a:pt x="341283" y="290103"/>
                  </a:cubicBezTo>
                  <a:cubicBezTo>
                    <a:pt x="319312" y="297426"/>
                    <a:pt x="295876" y="287173"/>
                    <a:pt x="287087" y="265202"/>
                  </a:cubicBezTo>
                  <a:lnTo>
                    <a:pt x="224104" y="92364"/>
                  </a:lnTo>
                  <a:lnTo>
                    <a:pt x="41012" y="85040"/>
                  </a:lnTo>
                  <a:cubicBezTo>
                    <a:pt x="32224" y="82110"/>
                    <a:pt x="24900" y="79181"/>
                    <a:pt x="17577" y="74787"/>
                  </a:cubicBezTo>
                  <a:close/>
                </a:path>
              </a:pathLst>
            </a:custGeom>
            <a:gradFill>
              <a:gsLst>
                <a:gs pos="0">
                  <a:srgbClr val="3368FF"/>
                </a:gs>
                <a:gs pos="100000">
                  <a:srgbClr val="668EFF"/>
                </a:gs>
              </a:gsLst>
              <a:lin ang="16200000" scaled="0"/>
            </a:gradFill>
            <a:ln w="14643"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93" name="子陵职场PPT2-16"/>
            <p:cNvSpPr/>
            <p:nvPr/>
          </p:nvSpPr>
          <p:spPr>
            <a:xfrm>
              <a:off x="6885491" y="5856004"/>
              <a:ext cx="1577517" cy="109855"/>
            </a:xfrm>
            <a:custGeom>
              <a:avLst/>
              <a:gdLst>
                <a:gd name="connsiteX0" fmla="*/ 0 w 1577517"/>
                <a:gd name="connsiteY0" fmla="*/ 0 h 109855"/>
                <a:gd name="connsiteX1" fmla="*/ 1577518 w 1577517"/>
                <a:gd name="connsiteY1" fmla="*/ 0 h 109855"/>
                <a:gd name="connsiteX2" fmla="*/ 1577518 w 1577517"/>
                <a:gd name="connsiteY2" fmla="*/ 109855 h 109855"/>
                <a:gd name="connsiteX3" fmla="*/ -1 w 1577517"/>
                <a:gd name="connsiteY3" fmla="*/ 109855 h 109855"/>
              </a:gdLst>
              <a:ahLst/>
              <a:cxnLst>
                <a:cxn ang="0">
                  <a:pos x="connsiteX0" y="connsiteY0"/>
                </a:cxn>
                <a:cxn ang="0">
                  <a:pos x="connsiteX1" y="connsiteY1"/>
                </a:cxn>
                <a:cxn ang="0">
                  <a:pos x="connsiteX2" y="connsiteY2"/>
                </a:cxn>
                <a:cxn ang="0">
                  <a:pos x="connsiteX3" y="connsiteY3"/>
                </a:cxn>
              </a:cxnLst>
              <a:rect l="l" t="t" r="r" b="b"/>
              <a:pathLst>
                <a:path w="1577517" h="109855">
                  <a:moveTo>
                    <a:pt x="0" y="0"/>
                  </a:moveTo>
                  <a:lnTo>
                    <a:pt x="1577518" y="0"/>
                  </a:lnTo>
                  <a:lnTo>
                    <a:pt x="1577518" y="109855"/>
                  </a:lnTo>
                  <a:lnTo>
                    <a:pt x="-1" y="109855"/>
                  </a:lnTo>
                  <a:close/>
                </a:path>
              </a:pathLst>
            </a:custGeom>
            <a:solidFill>
              <a:srgbClr val="3368FF"/>
            </a:solidFill>
            <a:ln w="1464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7" name="子陵职场PPT2-17"/>
            <p:cNvSpPr txBox="1"/>
            <p:nvPr>
              <p:custDataLst>
                <p:tags r:id="rId16"/>
              </p:custDataLst>
            </p:nvPr>
          </p:nvSpPr>
          <p:spPr>
            <a:xfrm>
              <a:off x="7475489" y="4960343"/>
              <a:ext cx="621730" cy="558524"/>
            </a:xfrm>
            <a:prstGeom prst="rect">
              <a:avLst/>
            </a:prstGeom>
            <a:noFill/>
          </p:spPr>
          <p:txBody>
            <a:bodyPr wrap="none" rtlCol="0">
              <a:spAutoFit/>
            </a:bodyPr>
            <a:lstStyle/>
            <a:p>
              <a:pPr algn="l">
                <a:defRPr>
                  <a:solidFill>
                    <a:srgbClr val="FFFFFF"/>
                  </a:solidFill>
                  <a:latin typeface="微软雅黑"/>
                  <a:ea typeface="微软雅黑"/>
                  <a:cs typeface="微软雅黑"/>
                </a:defRPr>
              </a:pPr>
              <a:r>
                <a:rPr lang="zh-CN" altLang="en-US" sz="3230" spc="0" baseline="0">
                  <a:solidFill>
                    <a:srgbClr val="FFFFFF"/>
                  </a:solidFill>
                  <a:latin typeface="微软雅黑"/>
                  <a:ea typeface="微软雅黑"/>
                  <a:cs typeface="微软雅黑"/>
                  <a:rtl val="0"/>
                </a:rPr>
                <a:t>05</a:t>
              </a:r>
              <a:endParaRPr lang="zh-CN" altLang="en-US" sz="3230" spc="0" baseline="0">
                <a:solidFill>
                  <a:srgbClr val="FFFFFF"/>
                </a:solidFill>
                <a:latin typeface="微软雅黑"/>
                <a:ea typeface="微软雅黑"/>
                <a:cs typeface="微软雅黑"/>
                <a:rtl val="0"/>
              </a:endParaRPr>
            </a:p>
          </p:txBody>
        </p:sp>
        <p:sp>
          <p:nvSpPr>
            <p:cNvPr id="231" name="子陵职场PPT2-18"/>
            <p:cNvSpPr/>
            <p:nvPr>
              <p:custDataLst>
                <p:tags r:id="rId17"/>
              </p:custDataLst>
            </p:nvPr>
          </p:nvSpPr>
          <p:spPr>
            <a:xfrm>
              <a:off x="9071980" y="4567913"/>
              <a:ext cx="247435" cy="421537"/>
            </a:xfrm>
            <a:custGeom>
              <a:avLst/>
              <a:gdLst>
                <a:gd name="connsiteX0" fmla="*/ 2019 w 247435"/>
                <a:gd name="connsiteY0" fmla="*/ 54785 h 421537"/>
                <a:gd name="connsiteX1" fmla="*/ 9342 w 247435"/>
                <a:gd name="connsiteY1" fmla="*/ 15237 h 421537"/>
                <a:gd name="connsiteX2" fmla="*/ 67932 w 247435"/>
                <a:gd name="connsiteY2" fmla="*/ 9378 h 421537"/>
                <a:gd name="connsiteX3" fmla="*/ 231982 w 247435"/>
                <a:gd name="connsiteY3" fmla="*/ 142669 h 421537"/>
                <a:gd name="connsiteX4" fmla="*/ 245165 w 247435"/>
                <a:gd name="connsiteY4" fmla="*/ 188076 h 421537"/>
                <a:gd name="connsiteX5" fmla="*/ 183646 w 247435"/>
                <a:gd name="connsiteY5" fmla="*/ 391674 h 421537"/>
                <a:gd name="connsiteX6" fmla="*/ 130915 w 247435"/>
                <a:gd name="connsiteY6" fmla="*/ 419504 h 421537"/>
                <a:gd name="connsiteX7" fmla="*/ 103086 w 247435"/>
                <a:gd name="connsiteY7" fmla="*/ 366773 h 421537"/>
                <a:gd name="connsiteX8" fmla="*/ 155816 w 247435"/>
                <a:gd name="connsiteY8" fmla="*/ 191005 h 421537"/>
                <a:gd name="connsiteX9" fmla="*/ 13736 w 247435"/>
                <a:gd name="connsiteY9" fmla="*/ 75291 h 421537"/>
                <a:gd name="connsiteX10" fmla="*/ 2019 w 247435"/>
                <a:gd name="connsiteY10" fmla="*/ 54785 h 42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435" h="421537">
                  <a:moveTo>
                    <a:pt x="2019" y="54785"/>
                  </a:moveTo>
                  <a:cubicBezTo>
                    <a:pt x="-2375" y="41603"/>
                    <a:pt x="554" y="26955"/>
                    <a:pt x="9342" y="15237"/>
                  </a:cubicBezTo>
                  <a:cubicBezTo>
                    <a:pt x="23990" y="-2339"/>
                    <a:pt x="50355" y="-5269"/>
                    <a:pt x="67932" y="9378"/>
                  </a:cubicBezTo>
                  <a:lnTo>
                    <a:pt x="231982" y="142669"/>
                  </a:lnTo>
                  <a:cubicBezTo>
                    <a:pt x="245165" y="152922"/>
                    <a:pt x="251023" y="170499"/>
                    <a:pt x="245165" y="188076"/>
                  </a:cubicBezTo>
                  <a:lnTo>
                    <a:pt x="183646" y="391674"/>
                  </a:lnTo>
                  <a:cubicBezTo>
                    <a:pt x="176322" y="413645"/>
                    <a:pt x="152886" y="426827"/>
                    <a:pt x="130915" y="419504"/>
                  </a:cubicBezTo>
                  <a:cubicBezTo>
                    <a:pt x="108944" y="412180"/>
                    <a:pt x="95762" y="388744"/>
                    <a:pt x="103086" y="366773"/>
                  </a:cubicBezTo>
                  <a:lnTo>
                    <a:pt x="155816" y="191005"/>
                  </a:lnTo>
                  <a:lnTo>
                    <a:pt x="13736" y="75291"/>
                  </a:lnTo>
                  <a:cubicBezTo>
                    <a:pt x="9342" y="69432"/>
                    <a:pt x="4948" y="62109"/>
                    <a:pt x="2019" y="54785"/>
                  </a:cubicBezTo>
                  <a:close/>
                </a:path>
              </a:pathLst>
            </a:custGeom>
            <a:gradFill>
              <a:gsLst>
                <a:gs pos="0">
                  <a:srgbClr val="0042FF"/>
                </a:gs>
                <a:gs pos="100000">
                  <a:srgbClr val="3368FF"/>
                </a:gs>
              </a:gsLst>
              <a:lin ang="16200000" scaled="0"/>
            </a:gradFill>
            <a:ln w="14643"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44" name="子陵职场PPT2-19"/>
            <p:cNvSpPr/>
            <p:nvPr/>
          </p:nvSpPr>
          <p:spPr>
            <a:xfrm>
              <a:off x="8463008" y="5856003"/>
              <a:ext cx="1578983" cy="109855"/>
            </a:xfrm>
            <a:custGeom>
              <a:avLst/>
              <a:gdLst>
                <a:gd name="connsiteX0" fmla="*/ 1523323 w 1578983"/>
                <a:gd name="connsiteY0" fmla="*/ 0 h 109855"/>
                <a:gd name="connsiteX1" fmla="*/ 0 w 1578983"/>
                <a:gd name="connsiteY1" fmla="*/ 0 h 109855"/>
                <a:gd name="connsiteX2" fmla="*/ 0 w 1578983"/>
                <a:gd name="connsiteY2" fmla="*/ 109855 h 109855"/>
                <a:gd name="connsiteX3" fmla="*/ 1523323 w 1578983"/>
                <a:gd name="connsiteY3" fmla="*/ 109855 h 109855"/>
                <a:gd name="connsiteX4" fmla="*/ 1578983 w 1578983"/>
                <a:gd name="connsiteY4" fmla="*/ 54195 h 109855"/>
                <a:gd name="connsiteX5" fmla="*/ 1578983 w 1578983"/>
                <a:gd name="connsiteY5" fmla="*/ 54195 h 109855"/>
                <a:gd name="connsiteX6" fmla="*/ 1523323 w 1578983"/>
                <a:gd name="connsiteY6" fmla="*/ 0 h 1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8983" h="109855">
                  <a:moveTo>
                    <a:pt x="1523323" y="0"/>
                  </a:moveTo>
                  <a:lnTo>
                    <a:pt x="0" y="0"/>
                  </a:lnTo>
                  <a:lnTo>
                    <a:pt x="0" y="109855"/>
                  </a:lnTo>
                  <a:lnTo>
                    <a:pt x="1523323" y="109855"/>
                  </a:lnTo>
                  <a:cubicBezTo>
                    <a:pt x="1554083" y="109855"/>
                    <a:pt x="1578983" y="84955"/>
                    <a:pt x="1578983" y="54195"/>
                  </a:cubicBezTo>
                  <a:lnTo>
                    <a:pt x="1578983" y="54195"/>
                  </a:lnTo>
                  <a:cubicBezTo>
                    <a:pt x="1577518" y="23436"/>
                    <a:pt x="1552617" y="0"/>
                    <a:pt x="1523323" y="0"/>
                  </a:cubicBezTo>
                  <a:close/>
                </a:path>
              </a:pathLst>
            </a:custGeom>
            <a:solidFill>
              <a:srgbClr val="0042FF"/>
            </a:solidFill>
            <a:ln w="1464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7" name="子陵职场PPT2-20"/>
            <p:cNvSpPr txBox="1"/>
            <p:nvPr>
              <p:custDataLst>
                <p:tags r:id="rId18"/>
              </p:custDataLst>
            </p:nvPr>
          </p:nvSpPr>
          <p:spPr>
            <a:xfrm>
              <a:off x="4747862" y="4055379"/>
              <a:ext cx="621730" cy="558524"/>
            </a:xfrm>
            <a:prstGeom prst="rect">
              <a:avLst/>
            </a:prstGeom>
            <a:noFill/>
          </p:spPr>
          <p:txBody>
            <a:bodyPr wrap="none" rtlCol="0">
              <a:spAutoFit/>
            </a:bodyPr>
            <a:lstStyle/>
            <a:p>
              <a:pPr algn="l">
                <a:defRPr>
                  <a:solidFill>
                    <a:srgbClr val="FFFFFF"/>
                  </a:solidFill>
                  <a:latin typeface="微软雅黑"/>
                  <a:ea typeface="微软雅黑"/>
                  <a:cs typeface="微软雅黑"/>
                </a:defRPr>
              </a:pPr>
              <a:r>
                <a:rPr lang="zh-CN" altLang="en-US" sz="3230" spc="0" baseline="0" dirty="0">
                  <a:solidFill>
                    <a:srgbClr val="FFFFFF"/>
                  </a:solidFill>
                  <a:latin typeface="微软雅黑"/>
                  <a:ea typeface="微软雅黑"/>
                  <a:cs typeface="微软雅黑"/>
                  <a:rtl val="0"/>
                </a:rPr>
                <a:t>02</a:t>
              </a:r>
              <a:endParaRPr lang="zh-CN" altLang="en-US" sz="3230" spc="0" baseline="0" dirty="0">
                <a:solidFill>
                  <a:srgbClr val="FFFFFF"/>
                </a:solidFill>
                <a:latin typeface="微软雅黑"/>
                <a:ea typeface="微软雅黑"/>
                <a:cs typeface="微软雅黑"/>
                <a:rtl val="0"/>
              </a:endParaRPr>
            </a:p>
          </p:txBody>
        </p:sp>
        <p:sp>
          <p:nvSpPr>
            <p:cNvPr id="260" name="子陵职场PPT2-21"/>
            <p:cNvSpPr/>
            <p:nvPr>
              <p:custDataLst>
                <p:tags r:id="rId19"/>
              </p:custDataLst>
            </p:nvPr>
          </p:nvSpPr>
          <p:spPr>
            <a:xfrm>
              <a:off x="5889500" y="3165329"/>
              <a:ext cx="428012" cy="330948"/>
            </a:xfrm>
            <a:custGeom>
              <a:avLst/>
              <a:gdLst>
                <a:gd name="connsiteX0" fmla="*/ 403050 w 567641"/>
                <a:gd name="connsiteY0" fmla="*/ 204216 h 438912"/>
                <a:gd name="connsiteX1" fmla="*/ 499062 w 567641"/>
                <a:gd name="connsiteY1" fmla="*/ 120396 h 438912"/>
                <a:gd name="connsiteX2" fmla="*/ 499062 w 567641"/>
                <a:gd name="connsiteY2" fmla="*/ 438912 h 438912"/>
                <a:gd name="connsiteX3" fmla="*/ 403050 w 567641"/>
                <a:gd name="connsiteY3" fmla="*/ 438912 h 438912"/>
                <a:gd name="connsiteX4" fmla="*/ 403050 w 567641"/>
                <a:gd name="connsiteY4" fmla="*/ 204216 h 438912"/>
                <a:gd name="connsiteX5" fmla="*/ 281130 w 567641"/>
                <a:gd name="connsiteY5" fmla="*/ 438912 h 438912"/>
                <a:gd name="connsiteX6" fmla="*/ 377142 w 567641"/>
                <a:gd name="connsiteY6" fmla="*/ 438912 h 438912"/>
                <a:gd name="connsiteX7" fmla="*/ 377142 w 567641"/>
                <a:gd name="connsiteY7" fmla="*/ 225552 h 438912"/>
                <a:gd name="connsiteX8" fmla="*/ 281130 w 567641"/>
                <a:gd name="connsiteY8" fmla="*/ 309372 h 438912"/>
                <a:gd name="connsiteX9" fmla="*/ 281130 w 567641"/>
                <a:gd name="connsiteY9" fmla="*/ 438912 h 438912"/>
                <a:gd name="connsiteX10" fmla="*/ 160734 w 567641"/>
                <a:gd name="connsiteY10" fmla="*/ 438912 h 438912"/>
                <a:gd name="connsiteX11" fmla="*/ 256745 w 567641"/>
                <a:gd name="connsiteY11" fmla="*/ 438912 h 438912"/>
                <a:gd name="connsiteX12" fmla="*/ 256745 w 567641"/>
                <a:gd name="connsiteY12" fmla="*/ 309372 h 438912"/>
                <a:gd name="connsiteX13" fmla="*/ 160734 w 567641"/>
                <a:gd name="connsiteY13" fmla="*/ 207264 h 438912"/>
                <a:gd name="connsiteX14" fmla="*/ 160734 w 567641"/>
                <a:gd name="connsiteY14" fmla="*/ 438912 h 438912"/>
                <a:gd name="connsiteX15" fmla="*/ 38814 w 567641"/>
                <a:gd name="connsiteY15" fmla="*/ 438912 h 438912"/>
                <a:gd name="connsiteX16" fmla="*/ 134825 w 567641"/>
                <a:gd name="connsiteY16" fmla="*/ 438912 h 438912"/>
                <a:gd name="connsiteX17" fmla="*/ 134825 w 567641"/>
                <a:gd name="connsiteY17" fmla="*/ 195072 h 438912"/>
                <a:gd name="connsiteX18" fmla="*/ 38814 w 567641"/>
                <a:gd name="connsiteY18" fmla="*/ 272796 h 438912"/>
                <a:gd name="connsiteX19" fmla="*/ 38814 w 567641"/>
                <a:gd name="connsiteY19" fmla="*/ 438912 h 438912"/>
                <a:gd name="connsiteX20" fmla="*/ 555450 w 567641"/>
                <a:gd name="connsiteY20" fmla="*/ 0 h 438912"/>
                <a:gd name="connsiteX21" fmla="*/ 464010 w 567641"/>
                <a:gd name="connsiteY21" fmla="*/ 0 h 438912"/>
                <a:gd name="connsiteX22" fmla="*/ 456390 w 567641"/>
                <a:gd name="connsiteY22" fmla="*/ 15240 h 438912"/>
                <a:gd name="connsiteX23" fmla="*/ 483822 w 567641"/>
                <a:gd name="connsiteY23" fmla="*/ 47244 h 438912"/>
                <a:gd name="connsiteX24" fmla="*/ 268938 w 567641"/>
                <a:gd name="connsiteY24" fmla="*/ 233172 h 438912"/>
                <a:gd name="connsiteX25" fmla="*/ 156162 w 567641"/>
                <a:gd name="connsiteY25" fmla="*/ 114300 h 438912"/>
                <a:gd name="connsiteX26" fmla="*/ 131778 w 567641"/>
                <a:gd name="connsiteY26" fmla="*/ 112776 h 438912"/>
                <a:gd name="connsiteX27" fmla="*/ 6809 w 567641"/>
                <a:gd name="connsiteY27" fmla="*/ 214884 h 438912"/>
                <a:gd name="connsiteX28" fmla="*/ 3762 w 567641"/>
                <a:gd name="connsiteY28" fmla="*/ 240792 h 438912"/>
                <a:gd name="connsiteX29" fmla="*/ 29669 w 567641"/>
                <a:gd name="connsiteY29" fmla="*/ 243840 h 438912"/>
                <a:gd name="connsiteX30" fmla="*/ 142445 w 567641"/>
                <a:gd name="connsiteY30" fmla="*/ 152400 h 438912"/>
                <a:gd name="connsiteX31" fmla="*/ 255222 w 567641"/>
                <a:gd name="connsiteY31" fmla="*/ 271272 h 438912"/>
                <a:gd name="connsiteX32" fmla="*/ 268938 w 567641"/>
                <a:gd name="connsiteY32" fmla="*/ 277368 h 438912"/>
                <a:gd name="connsiteX33" fmla="*/ 281130 w 567641"/>
                <a:gd name="connsiteY33" fmla="*/ 272796 h 438912"/>
                <a:gd name="connsiteX34" fmla="*/ 509730 w 567641"/>
                <a:gd name="connsiteY34" fmla="*/ 76200 h 438912"/>
                <a:gd name="connsiteX35" fmla="*/ 538685 w 567641"/>
                <a:gd name="connsiteY35" fmla="*/ 109728 h 438912"/>
                <a:gd name="connsiteX36" fmla="*/ 555450 w 567641"/>
                <a:gd name="connsiteY36" fmla="*/ 105156 h 438912"/>
                <a:gd name="connsiteX37" fmla="*/ 567642 w 567641"/>
                <a:gd name="connsiteY37" fmla="*/ 13716 h 438912"/>
                <a:gd name="connsiteX38" fmla="*/ 555450 w 567641"/>
                <a:gd name="connsiteY38" fmla="*/ 0 h 438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67641" h="438912">
                  <a:moveTo>
                    <a:pt x="403050" y="204216"/>
                  </a:moveTo>
                  <a:lnTo>
                    <a:pt x="499062" y="120396"/>
                  </a:lnTo>
                  <a:lnTo>
                    <a:pt x="499062" y="438912"/>
                  </a:lnTo>
                  <a:lnTo>
                    <a:pt x="403050" y="438912"/>
                  </a:lnTo>
                  <a:lnTo>
                    <a:pt x="403050" y="204216"/>
                  </a:lnTo>
                  <a:close/>
                  <a:moveTo>
                    <a:pt x="281130" y="438912"/>
                  </a:moveTo>
                  <a:lnTo>
                    <a:pt x="377142" y="438912"/>
                  </a:lnTo>
                  <a:lnTo>
                    <a:pt x="377142" y="225552"/>
                  </a:lnTo>
                  <a:lnTo>
                    <a:pt x="281130" y="309372"/>
                  </a:lnTo>
                  <a:lnTo>
                    <a:pt x="281130" y="438912"/>
                  </a:lnTo>
                  <a:close/>
                  <a:moveTo>
                    <a:pt x="160734" y="438912"/>
                  </a:moveTo>
                  <a:lnTo>
                    <a:pt x="256745" y="438912"/>
                  </a:lnTo>
                  <a:lnTo>
                    <a:pt x="256745" y="309372"/>
                  </a:lnTo>
                  <a:lnTo>
                    <a:pt x="160734" y="207264"/>
                  </a:lnTo>
                  <a:lnTo>
                    <a:pt x="160734" y="438912"/>
                  </a:lnTo>
                  <a:close/>
                  <a:moveTo>
                    <a:pt x="38814" y="438912"/>
                  </a:moveTo>
                  <a:lnTo>
                    <a:pt x="134825" y="438912"/>
                  </a:lnTo>
                  <a:lnTo>
                    <a:pt x="134825" y="195072"/>
                  </a:lnTo>
                  <a:lnTo>
                    <a:pt x="38814" y="272796"/>
                  </a:lnTo>
                  <a:lnTo>
                    <a:pt x="38814" y="438912"/>
                  </a:lnTo>
                  <a:close/>
                  <a:moveTo>
                    <a:pt x="555450" y="0"/>
                  </a:moveTo>
                  <a:lnTo>
                    <a:pt x="464010" y="0"/>
                  </a:lnTo>
                  <a:cubicBezTo>
                    <a:pt x="456390" y="0"/>
                    <a:pt x="451818" y="9144"/>
                    <a:pt x="456390" y="15240"/>
                  </a:cubicBezTo>
                  <a:lnTo>
                    <a:pt x="483822" y="47244"/>
                  </a:lnTo>
                  <a:lnTo>
                    <a:pt x="268938" y="233172"/>
                  </a:lnTo>
                  <a:lnTo>
                    <a:pt x="156162" y="114300"/>
                  </a:lnTo>
                  <a:cubicBezTo>
                    <a:pt x="150065" y="108204"/>
                    <a:pt x="139398" y="106680"/>
                    <a:pt x="131778" y="112776"/>
                  </a:cubicBezTo>
                  <a:lnTo>
                    <a:pt x="6809" y="214884"/>
                  </a:lnTo>
                  <a:cubicBezTo>
                    <a:pt x="-811" y="220980"/>
                    <a:pt x="-2335" y="231648"/>
                    <a:pt x="3762" y="240792"/>
                  </a:cubicBezTo>
                  <a:cubicBezTo>
                    <a:pt x="9858" y="248412"/>
                    <a:pt x="20525" y="249936"/>
                    <a:pt x="29669" y="243840"/>
                  </a:cubicBezTo>
                  <a:lnTo>
                    <a:pt x="142445" y="152400"/>
                  </a:lnTo>
                  <a:lnTo>
                    <a:pt x="255222" y="271272"/>
                  </a:lnTo>
                  <a:cubicBezTo>
                    <a:pt x="258269" y="274320"/>
                    <a:pt x="262842" y="277368"/>
                    <a:pt x="268938" y="277368"/>
                  </a:cubicBezTo>
                  <a:cubicBezTo>
                    <a:pt x="273510" y="277368"/>
                    <a:pt x="276558" y="275844"/>
                    <a:pt x="281130" y="272796"/>
                  </a:cubicBezTo>
                  <a:lnTo>
                    <a:pt x="509730" y="76200"/>
                  </a:lnTo>
                  <a:lnTo>
                    <a:pt x="538685" y="109728"/>
                  </a:lnTo>
                  <a:cubicBezTo>
                    <a:pt x="543258" y="115824"/>
                    <a:pt x="553925" y="112776"/>
                    <a:pt x="555450" y="105156"/>
                  </a:cubicBezTo>
                  <a:lnTo>
                    <a:pt x="567642" y="13716"/>
                  </a:lnTo>
                  <a:cubicBezTo>
                    <a:pt x="564594" y="6096"/>
                    <a:pt x="561545" y="0"/>
                    <a:pt x="555450" y="0"/>
                  </a:cubicBezTo>
                  <a:close/>
                </a:path>
              </a:pathLst>
            </a:custGeom>
            <a:solidFill>
              <a:srgbClr val="FFFFFF"/>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261" name="子陵职场PPT2-22"/>
            <p:cNvSpPr/>
            <p:nvPr>
              <p:custDataLst>
                <p:tags r:id="rId20"/>
              </p:custDataLst>
            </p:nvPr>
          </p:nvSpPr>
          <p:spPr>
            <a:xfrm>
              <a:off x="7305852" y="3617352"/>
              <a:ext cx="379211" cy="379211"/>
            </a:xfrm>
            <a:custGeom>
              <a:avLst/>
              <a:gdLst>
                <a:gd name="connsiteX0" fmla="*/ 195072 w 502920"/>
                <a:gd name="connsiteY0" fmla="*/ 103632 h 502920"/>
                <a:gd name="connsiteX1" fmla="*/ 251460 w 502920"/>
                <a:gd name="connsiteY1" fmla="*/ 47244 h 502920"/>
                <a:gd name="connsiteX2" fmla="*/ 307848 w 502920"/>
                <a:gd name="connsiteY2" fmla="*/ 103632 h 502920"/>
                <a:gd name="connsiteX3" fmla="*/ 251460 w 502920"/>
                <a:gd name="connsiteY3" fmla="*/ 160020 h 502920"/>
                <a:gd name="connsiteX4" fmla="*/ 195072 w 502920"/>
                <a:gd name="connsiteY4" fmla="*/ 103632 h 502920"/>
                <a:gd name="connsiteX5" fmla="*/ 324612 w 502920"/>
                <a:gd name="connsiteY5" fmla="*/ 184404 h 502920"/>
                <a:gd name="connsiteX6" fmla="*/ 176784 w 502920"/>
                <a:gd name="connsiteY6" fmla="*/ 184404 h 502920"/>
                <a:gd name="connsiteX7" fmla="*/ 156972 w 502920"/>
                <a:gd name="connsiteY7" fmla="*/ 204216 h 502920"/>
                <a:gd name="connsiteX8" fmla="*/ 156972 w 502920"/>
                <a:gd name="connsiteY8" fmla="*/ 330708 h 502920"/>
                <a:gd name="connsiteX9" fmla="*/ 176784 w 502920"/>
                <a:gd name="connsiteY9" fmla="*/ 350520 h 502920"/>
                <a:gd name="connsiteX10" fmla="*/ 195072 w 502920"/>
                <a:gd name="connsiteY10" fmla="*/ 350520 h 502920"/>
                <a:gd name="connsiteX11" fmla="*/ 195072 w 502920"/>
                <a:gd name="connsiteY11" fmla="*/ 483108 h 502920"/>
                <a:gd name="connsiteX12" fmla="*/ 214884 w 502920"/>
                <a:gd name="connsiteY12" fmla="*/ 502920 h 502920"/>
                <a:gd name="connsiteX13" fmla="*/ 288036 w 502920"/>
                <a:gd name="connsiteY13" fmla="*/ 502920 h 502920"/>
                <a:gd name="connsiteX14" fmla="*/ 307848 w 502920"/>
                <a:gd name="connsiteY14" fmla="*/ 483108 h 502920"/>
                <a:gd name="connsiteX15" fmla="*/ 307848 w 502920"/>
                <a:gd name="connsiteY15" fmla="*/ 350520 h 502920"/>
                <a:gd name="connsiteX16" fmla="*/ 326136 w 502920"/>
                <a:gd name="connsiteY16" fmla="*/ 350520 h 502920"/>
                <a:gd name="connsiteX17" fmla="*/ 345948 w 502920"/>
                <a:gd name="connsiteY17" fmla="*/ 330708 h 502920"/>
                <a:gd name="connsiteX18" fmla="*/ 345948 w 502920"/>
                <a:gd name="connsiteY18" fmla="*/ 204216 h 502920"/>
                <a:gd name="connsiteX19" fmla="*/ 324612 w 502920"/>
                <a:gd name="connsiteY19" fmla="*/ 184404 h 502920"/>
                <a:gd name="connsiteX20" fmla="*/ 416052 w 502920"/>
                <a:gd name="connsiteY20" fmla="*/ 103632 h 502920"/>
                <a:gd name="connsiteX21" fmla="*/ 467868 w 502920"/>
                <a:gd name="connsiteY21" fmla="*/ 51816 h 502920"/>
                <a:gd name="connsiteX22" fmla="*/ 416052 w 502920"/>
                <a:gd name="connsiteY22" fmla="*/ 0 h 502920"/>
                <a:gd name="connsiteX23" fmla="*/ 364236 w 502920"/>
                <a:gd name="connsiteY23" fmla="*/ 51816 h 502920"/>
                <a:gd name="connsiteX24" fmla="*/ 416052 w 502920"/>
                <a:gd name="connsiteY24" fmla="*/ 103632 h 502920"/>
                <a:gd name="connsiteX25" fmla="*/ 484632 w 502920"/>
                <a:gd name="connsiteY25" fmla="*/ 126492 h 502920"/>
                <a:gd name="connsiteX26" fmla="*/ 347472 w 502920"/>
                <a:gd name="connsiteY26" fmla="*/ 126492 h 502920"/>
                <a:gd name="connsiteX27" fmla="*/ 329184 w 502920"/>
                <a:gd name="connsiteY27" fmla="*/ 144780 h 502920"/>
                <a:gd name="connsiteX28" fmla="*/ 329184 w 502920"/>
                <a:gd name="connsiteY28" fmla="*/ 146304 h 502920"/>
                <a:gd name="connsiteX29" fmla="*/ 381000 w 502920"/>
                <a:gd name="connsiteY29" fmla="*/ 202692 h 502920"/>
                <a:gd name="connsiteX30" fmla="*/ 381000 w 502920"/>
                <a:gd name="connsiteY30" fmla="*/ 329184 h 502920"/>
                <a:gd name="connsiteX31" fmla="*/ 362712 w 502920"/>
                <a:gd name="connsiteY31" fmla="*/ 370332 h 502920"/>
                <a:gd name="connsiteX32" fmla="*/ 362712 w 502920"/>
                <a:gd name="connsiteY32" fmla="*/ 402336 h 502920"/>
                <a:gd name="connsiteX33" fmla="*/ 381000 w 502920"/>
                <a:gd name="connsiteY33" fmla="*/ 420624 h 502920"/>
                <a:gd name="connsiteX34" fmla="*/ 449580 w 502920"/>
                <a:gd name="connsiteY34" fmla="*/ 420624 h 502920"/>
                <a:gd name="connsiteX35" fmla="*/ 467868 w 502920"/>
                <a:gd name="connsiteY35" fmla="*/ 402336 h 502920"/>
                <a:gd name="connsiteX36" fmla="*/ 467868 w 502920"/>
                <a:gd name="connsiteY36" fmla="*/ 278892 h 502920"/>
                <a:gd name="connsiteX37" fmla="*/ 484632 w 502920"/>
                <a:gd name="connsiteY37" fmla="*/ 278892 h 502920"/>
                <a:gd name="connsiteX38" fmla="*/ 502920 w 502920"/>
                <a:gd name="connsiteY38" fmla="*/ 260604 h 502920"/>
                <a:gd name="connsiteX39" fmla="*/ 502920 w 502920"/>
                <a:gd name="connsiteY39" fmla="*/ 143256 h 502920"/>
                <a:gd name="connsiteX40" fmla="*/ 484632 w 502920"/>
                <a:gd name="connsiteY40" fmla="*/ 126492 h 502920"/>
                <a:gd name="connsiteX41" fmla="*/ 138684 w 502920"/>
                <a:gd name="connsiteY41" fmla="*/ 51816 h 502920"/>
                <a:gd name="connsiteX42" fmla="*/ 86868 w 502920"/>
                <a:gd name="connsiteY42" fmla="*/ 0 h 502920"/>
                <a:gd name="connsiteX43" fmla="*/ 35052 w 502920"/>
                <a:gd name="connsiteY43" fmla="*/ 51816 h 502920"/>
                <a:gd name="connsiteX44" fmla="*/ 86868 w 502920"/>
                <a:gd name="connsiteY44" fmla="*/ 103632 h 502920"/>
                <a:gd name="connsiteX45" fmla="*/ 138684 w 502920"/>
                <a:gd name="connsiteY45" fmla="*/ 51816 h 502920"/>
                <a:gd name="connsiteX46" fmla="*/ 0 w 502920"/>
                <a:gd name="connsiteY46" fmla="*/ 144780 h 502920"/>
                <a:gd name="connsiteX47" fmla="*/ 0 w 502920"/>
                <a:gd name="connsiteY47" fmla="*/ 262128 h 502920"/>
                <a:gd name="connsiteX48" fmla="*/ 18288 w 502920"/>
                <a:gd name="connsiteY48" fmla="*/ 280416 h 502920"/>
                <a:gd name="connsiteX49" fmla="*/ 35052 w 502920"/>
                <a:gd name="connsiteY49" fmla="*/ 280416 h 502920"/>
                <a:gd name="connsiteX50" fmla="*/ 35052 w 502920"/>
                <a:gd name="connsiteY50" fmla="*/ 403860 h 502920"/>
                <a:gd name="connsiteX51" fmla="*/ 53340 w 502920"/>
                <a:gd name="connsiteY51" fmla="*/ 422148 h 502920"/>
                <a:gd name="connsiteX52" fmla="*/ 121920 w 502920"/>
                <a:gd name="connsiteY52" fmla="*/ 422148 h 502920"/>
                <a:gd name="connsiteX53" fmla="*/ 140208 w 502920"/>
                <a:gd name="connsiteY53" fmla="*/ 403860 h 502920"/>
                <a:gd name="connsiteX54" fmla="*/ 140208 w 502920"/>
                <a:gd name="connsiteY54" fmla="*/ 371856 h 502920"/>
                <a:gd name="connsiteX55" fmla="*/ 121920 w 502920"/>
                <a:gd name="connsiteY55" fmla="*/ 330708 h 502920"/>
                <a:gd name="connsiteX56" fmla="*/ 121920 w 502920"/>
                <a:gd name="connsiteY56" fmla="*/ 204216 h 502920"/>
                <a:gd name="connsiteX57" fmla="*/ 173736 w 502920"/>
                <a:gd name="connsiteY57" fmla="*/ 147828 h 502920"/>
                <a:gd name="connsiteX58" fmla="*/ 173736 w 502920"/>
                <a:gd name="connsiteY58" fmla="*/ 146304 h 502920"/>
                <a:gd name="connsiteX59" fmla="*/ 155448 w 502920"/>
                <a:gd name="connsiteY59" fmla="*/ 128016 h 502920"/>
                <a:gd name="connsiteX60" fmla="*/ 18288 w 502920"/>
                <a:gd name="connsiteY60" fmla="*/ 128016 h 502920"/>
                <a:gd name="connsiteX61" fmla="*/ 0 w 502920"/>
                <a:gd name="connsiteY61" fmla="*/ 144780 h 50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2920" h="502920">
                  <a:moveTo>
                    <a:pt x="195072" y="103632"/>
                  </a:moveTo>
                  <a:cubicBezTo>
                    <a:pt x="195072" y="73152"/>
                    <a:pt x="219456" y="47244"/>
                    <a:pt x="251460" y="47244"/>
                  </a:cubicBezTo>
                  <a:cubicBezTo>
                    <a:pt x="281940" y="47244"/>
                    <a:pt x="307848" y="71628"/>
                    <a:pt x="307848" y="103632"/>
                  </a:cubicBezTo>
                  <a:cubicBezTo>
                    <a:pt x="307848" y="135636"/>
                    <a:pt x="283464" y="160020"/>
                    <a:pt x="251460" y="160020"/>
                  </a:cubicBezTo>
                  <a:cubicBezTo>
                    <a:pt x="219456" y="160020"/>
                    <a:pt x="195072" y="135636"/>
                    <a:pt x="195072" y="103632"/>
                  </a:cubicBezTo>
                  <a:close/>
                  <a:moveTo>
                    <a:pt x="324612" y="184404"/>
                  </a:moveTo>
                  <a:lnTo>
                    <a:pt x="176784" y="184404"/>
                  </a:lnTo>
                  <a:cubicBezTo>
                    <a:pt x="166116" y="184404"/>
                    <a:pt x="156972" y="193548"/>
                    <a:pt x="156972" y="204216"/>
                  </a:cubicBezTo>
                  <a:lnTo>
                    <a:pt x="156972" y="330708"/>
                  </a:lnTo>
                  <a:cubicBezTo>
                    <a:pt x="156972" y="341376"/>
                    <a:pt x="166116" y="350520"/>
                    <a:pt x="176784" y="350520"/>
                  </a:cubicBezTo>
                  <a:lnTo>
                    <a:pt x="195072" y="350520"/>
                  </a:lnTo>
                  <a:lnTo>
                    <a:pt x="195072" y="483108"/>
                  </a:lnTo>
                  <a:cubicBezTo>
                    <a:pt x="195072" y="493776"/>
                    <a:pt x="204216" y="502920"/>
                    <a:pt x="214884" y="502920"/>
                  </a:cubicBezTo>
                  <a:lnTo>
                    <a:pt x="288036" y="502920"/>
                  </a:lnTo>
                  <a:cubicBezTo>
                    <a:pt x="298704" y="502920"/>
                    <a:pt x="307848" y="493776"/>
                    <a:pt x="307848" y="483108"/>
                  </a:cubicBezTo>
                  <a:lnTo>
                    <a:pt x="307848" y="350520"/>
                  </a:lnTo>
                  <a:lnTo>
                    <a:pt x="326136" y="350520"/>
                  </a:lnTo>
                  <a:cubicBezTo>
                    <a:pt x="336804" y="350520"/>
                    <a:pt x="345948" y="341376"/>
                    <a:pt x="345948" y="330708"/>
                  </a:cubicBezTo>
                  <a:lnTo>
                    <a:pt x="345948" y="204216"/>
                  </a:lnTo>
                  <a:cubicBezTo>
                    <a:pt x="344424" y="192024"/>
                    <a:pt x="335280" y="184404"/>
                    <a:pt x="324612" y="184404"/>
                  </a:cubicBezTo>
                  <a:close/>
                  <a:moveTo>
                    <a:pt x="416052" y="103632"/>
                  </a:moveTo>
                  <a:cubicBezTo>
                    <a:pt x="445008" y="103632"/>
                    <a:pt x="467868" y="80772"/>
                    <a:pt x="467868" y="51816"/>
                  </a:cubicBezTo>
                  <a:cubicBezTo>
                    <a:pt x="467868" y="22860"/>
                    <a:pt x="445008" y="0"/>
                    <a:pt x="416052" y="0"/>
                  </a:cubicBezTo>
                  <a:cubicBezTo>
                    <a:pt x="387096" y="0"/>
                    <a:pt x="364236" y="22860"/>
                    <a:pt x="364236" y="51816"/>
                  </a:cubicBezTo>
                  <a:cubicBezTo>
                    <a:pt x="364236" y="80772"/>
                    <a:pt x="387096" y="103632"/>
                    <a:pt x="416052" y="103632"/>
                  </a:cubicBezTo>
                  <a:close/>
                  <a:moveTo>
                    <a:pt x="484632" y="126492"/>
                  </a:moveTo>
                  <a:lnTo>
                    <a:pt x="347472" y="126492"/>
                  </a:lnTo>
                  <a:cubicBezTo>
                    <a:pt x="338328" y="126492"/>
                    <a:pt x="329184" y="134112"/>
                    <a:pt x="329184" y="144780"/>
                  </a:cubicBezTo>
                  <a:lnTo>
                    <a:pt x="329184" y="146304"/>
                  </a:lnTo>
                  <a:cubicBezTo>
                    <a:pt x="358140" y="149352"/>
                    <a:pt x="381000" y="173736"/>
                    <a:pt x="381000" y="202692"/>
                  </a:cubicBezTo>
                  <a:lnTo>
                    <a:pt x="381000" y="329184"/>
                  </a:lnTo>
                  <a:cubicBezTo>
                    <a:pt x="381000" y="345948"/>
                    <a:pt x="373380" y="359664"/>
                    <a:pt x="362712" y="370332"/>
                  </a:cubicBezTo>
                  <a:lnTo>
                    <a:pt x="362712" y="402336"/>
                  </a:lnTo>
                  <a:cubicBezTo>
                    <a:pt x="362712" y="411480"/>
                    <a:pt x="370332" y="420624"/>
                    <a:pt x="381000" y="420624"/>
                  </a:cubicBezTo>
                  <a:lnTo>
                    <a:pt x="449580" y="420624"/>
                  </a:lnTo>
                  <a:cubicBezTo>
                    <a:pt x="458724" y="420624"/>
                    <a:pt x="467868" y="413004"/>
                    <a:pt x="467868" y="402336"/>
                  </a:cubicBezTo>
                  <a:lnTo>
                    <a:pt x="467868" y="278892"/>
                  </a:lnTo>
                  <a:lnTo>
                    <a:pt x="484632" y="278892"/>
                  </a:lnTo>
                  <a:cubicBezTo>
                    <a:pt x="493776" y="278892"/>
                    <a:pt x="502920" y="271272"/>
                    <a:pt x="502920" y="260604"/>
                  </a:cubicBezTo>
                  <a:lnTo>
                    <a:pt x="502920" y="143256"/>
                  </a:lnTo>
                  <a:cubicBezTo>
                    <a:pt x="502920" y="134112"/>
                    <a:pt x="495300" y="126492"/>
                    <a:pt x="484632" y="126492"/>
                  </a:cubicBezTo>
                  <a:close/>
                  <a:moveTo>
                    <a:pt x="138684" y="51816"/>
                  </a:moveTo>
                  <a:cubicBezTo>
                    <a:pt x="138684" y="22860"/>
                    <a:pt x="115824" y="0"/>
                    <a:pt x="86868" y="0"/>
                  </a:cubicBezTo>
                  <a:cubicBezTo>
                    <a:pt x="57912" y="0"/>
                    <a:pt x="35052" y="22860"/>
                    <a:pt x="35052" y="51816"/>
                  </a:cubicBezTo>
                  <a:cubicBezTo>
                    <a:pt x="35052" y="80772"/>
                    <a:pt x="57912" y="103632"/>
                    <a:pt x="86868" y="103632"/>
                  </a:cubicBezTo>
                  <a:cubicBezTo>
                    <a:pt x="115824" y="103632"/>
                    <a:pt x="138684" y="80772"/>
                    <a:pt x="138684" y="51816"/>
                  </a:cubicBezTo>
                  <a:close/>
                  <a:moveTo>
                    <a:pt x="0" y="144780"/>
                  </a:moveTo>
                  <a:lnTo>
                    <a:pt x="0" y="262128"/>
                  </a:lnTo>
                  <a:cubicBezTo>
                    <a:pt x="0" y="271272"/>
                    <a:pt x="7620" y="280416"/>
                    <a:pt x="18288" y="280416"/>
                  </a:cubicBezTo>
                  <a:lnTo>
                    <a:pt x="35052" y="280416"/>
                  </a:lnTo>
                  <a:lnTo>
                    <a:pt x="35052" y="403860"/>
                  </a:lnTo>
                  <a:cubicBezTo>
                    <a:pt x="35052" y="413004"/>
                    <a:pt x="42672" y="422148"/>
                    <a:pt x="53340" y="422148"/>
                  </a:cubicBezTo>
                  <a:lnTo>
                    <a:pt x="121920" y="422148"/>
                  </a:lnTo>
                  <a:cubicBezTo>
                    <a:pt x="131064" y="422148"/>
                    <a:pt x="140208" y="414528"/>
                    <a:pt x="140208" y="403860"/>
                  </a:cubicBezTo>
                  <a:lnTo>
                    <a:pt x="140208" y="371856"/>
                  </a:lnTo>
                  <a:cubicBezTo>
                    <a:pt x="129540" y="361188"/>
                    <a:pt x="121920" y="345948"/>
                    <a:pt x="121920" y="330708"/>
                  </a:cubicBezTo>
                  <a:lnTo>
                    <a:pt x="121920" y="204216"/>
                  </a:lnTo>
                  <a:cubicBezTo>
                    <a:pt x="121920" y="173736"/>
                    <a:pt x="144780" y="149352"/>
                    <a:pt x="173736" y="147828"/>
                  </a:cubicBezTo>
                  <a:lnTo>
                    <a:pt x="173736" y="146304"/>
                  </a:lnTo>
                  <a:cubicBezTo>
                    <a:pt x="173736" y="137160"/>
                    <a:pt x="166116" y="128016"/>
                    <a:pt x="155448" y="128016"/>
                  </a:cubicBezTo>
                  <a:lnTo>
                    <a:pt x="18288" y="128016"/>
                  </a:lnTo>
                  <a:cubicBezTo>
                    <a:pt x="7620" y="126492"/>
                    <a:pt x="0" y="134112"/>
                    <a:pt x="0" y="144780"/>
                  </a:cubicBezTo>
                  <a:close/>
                </a:path>
              </a:pathLst>
            </a:custGeom>
            <a:solidFill>
              <a:srgbClr val="FFFFFF"/>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264" name="子陵职场PPT2-23"/>
            <p:cNvSpPr/>
            <p:nvPr>
              <p:custDataLst>
                <p:tags r:id="rId21"/>
              </p:custDataLst>
            </p:nvPr>
          </p:nvSpPr>
          <p:spPr>
            <a:xfrm>
              <a:off x="4486744" y="3544082"/>
              <a:ext cx="435517" cy="437816"/>
            </a:xfrm>
            <a:custGeom>
              <a:avLst/>
              <a:gdLst>
                <a:gd name="connsiteX0" fmla="*/ 577596 w 577595"/>
                <a:gd name="connsiteY0" fmla="*/ 89916 h 580644"/>
                <a:gd name="connsiteX1" fmla="*/ 505968 w 577595"/>
                <a:gd name="connsiteY1" fmla="*/ 71628 h 580644"/>
                <a:gd name="connsiteX2" fmla="*/ 486156 w 577595"/>
                <a:gd name="connsiteY2" fmla="*/ 0 h 580644"/>
                <a:gd name="connsiteX3" fmla="*/ 403860 w 577595"/>
                <a:gd name="connsiteY3" fmla="*/ 111252 h 580644"/>
                <a:gd name="connsiteX4" fmla="*/ 409956 w 577595"/>
                <a:gd name="connsiteY4" fmla="*/ 147828 h 580644"/>
                <a:gd name="connsiteX5" fmla="*/ 233172 w 577595"/>
                <a:gd name="connsiteY5" fmla="*/ 324612 h 580644"/>
                <a:gd name="connsiteX6" fmla="*/ 233172 w 577595"/>
                <a:gd name="connsiteY6" fmla="*/ 348996 h 580644"/>
                <a:gd name="connsiteX7" fmla="*/ 245364 w 577595"/>
                <a:gd name="connsiteY7" fmla="*/ 353568 h 580644"/>
                <a:gd name="connsiteX8" fmla="*/ 257556 w 577595"/>
                <a:gd name="connsiteY8" fmla="*/ 348996 h 580644"/>
                <a:gd name="connsiteX9" fmla="*/ 435864 w 577595"/>
                <a:gd name="connsiteY9" fmla="*/ 170688 h 580644"/>
                <a:gd name="connsiteX10" fmla="*/ 470916 w 577595"/>
                <a:gd name="connsiteY10" fmla="*/ 175260 h 580644"/>
                <a:gd name="connsiteX11" fmla="*/ 577596 w 577595"/>
                <a:gd name="connsiteY11" fmla="*/ 89916 h 580644"/>
                <a:gd name="connsiteX12" fmla="*/ 364236 w 577595"/>
                <a:gd name="connsiteY12" fmla="*/ 288036 h 580644"/>
                <a:gd name="connsiteX13" fmla="*/ 390144 w 577595"/>
                <a:gd name="connsiteY13" fmla="*/ 262128 h 580644"/>
                <a:gd name="connsiteX14" fmla="*/ 408432 w 577595"/>
                <a:gd name="connsiteY14" fmla="*/ 336804 h 580644"/>
                <a:gd name="connsiteX15" fmla="*/ 243840 w 577595"/>
                <a:gd name="connsiteY15" fmla="*/ 501396 h 580644"/>
                <a:gd name="connsiteX16" fmla="*/ 79248 w 577595"/>
                <a:gd name="connsiteY16" fmla="*/ 336804 h 580644"/>
                <a:gd name="connsiteX17" fmla="*/ 243840 w 577595"/>
                <a:gd name="connsiteY17" fmla="*/ 172212 h 580644"/>
                <a:gd name="connsiteX18" fmla="*/ 318516 w 577595"/>
                <a:gd name="connsiteY18" fmla="*/ 190500 h 580644"/>
                <a:gd name="connsiteX19" fmla="*/ 292608 w 577595"/>
                <a:gd name="connsiteY19" fmla="*/ 216408 h 580644"/>
                <a:gd name="connsiteX20" fmla="*/ 243840 w 577595"/>
                <a:gd name="connsiteY20" fmla="*/ 207264 h 580644"/>
                <a:gd name="connsiteX21" fmla="*/ 114300 w 577595"/>
                <a:gd name="connsiteY21" fmla="*/ 336804 h 580644"/>
                <a:gd name="connsiteX22" fmla="*/ 243840 w 577595"/>
                <a:gd name="connsiteY22" fmla="*/ 466344 h 580644"/>
                <a:gd name="connsiteX23" fmla="*/ 373380 w 577595"/>
                <a:gd name="connsiteY23" fmla="*/ 336804 h 580644"/>
                <a:gd name="connsiteX24" fmla="*/ 364236 w 577595"/>
                <a:gd name="connsiteY24" fmla="*/ 288036 h 580644"/>
                <a:gd name="connsiteX25" fmla="*/ 297180 w 577595"/>
                <a:gd name="connsiteY25" fmla="*/ 353568 h 580644"/>
                <a:gd name="connsiteX26" fmla="*/ 332232 w 577595"/>
                <a:gd name="connsiteY26" fmla="*/ 318516 h 580644"/>
                <a:gd name="connsiteX27" fmla="*/ 333756 w 577595"/>
                <a:gd name="connsiteY27" fmla="*/ 335280 h 580644"/>
                <a:gd name="connsiteX28" fmla="*/ 242316 w 577595"/>
                <a:gd name="connsiteY28" fmla="*/ 426720 h 580644"/>
                <a:gd name="connsiteX29" fmla="*/ 150876 w 577595"/>
                <a:gd name="connsiteY29" fmla="*/ 335280 h 580644"/>
                <a:gd name="connsiteX30" fmla="*/ 242316 w 577595"/>
                <a:gd name="connsiteY30" fmla="*/ 243840 h 580644"/>
                <a:gd name="connsiteX31" fmla="*/ 259080 w 577595"/>
                <a:gd name="connsiteY31" fmla="*/ 245364 h 580644"/>
                <a:gd name="connsiteX32" fmla="*/ 224028 w 577595"/>
                <a:gd name="connsiteY32" fmla="*/ 280416 h 580644"/>
                <a:gd name="connsiteX33" fmla="*/ 185928 w 577595"/>
                <a:gd name="connsiteY33" fmla="*/ 333756 h 580644"/>
                <a:gd name="connsiteX34" fmla="*/ 242316 w 577595"/>
                <a:gd name="connsiteY34" fmla="*/ 390144 h 580644"/>
                <a:gd name="connsiteX35" fmla="*/ 297180 w 577595"/>
                <a:gd name="connsiteY35" fmla="*/ 353568 h 580644"/>
                <a:gd name="connsiteX36" fmla="*/ 449580 w 577595"/>
                <a:gd name="connsiteY36" fmla="*/ 207264 h 580644"/>
                <a:gd name="connsiteX37" fmla="*/ 487680 w 577595"/>
                <a:gd name="connsiteY37" fmla="*/ 336804 h 580644"/>
                <a:gd name="connsiteX38" fmla="*/ 243840 w 577595"/>
                <a:gd name="connsiteY38" fmla="*/ 580644 h 580644"/>
                <a:gd name="connsiteX39" fmla="*/ 0 w 577595"/>
                <a:gd name="connsiteY39" fmla="*/ 336804 h 580644"/>
                <a:gd name="connsiteX40" fmla="*/ 243840 w 577595"/>
                <a:gd name="connsiteY40" fmla="*/ 92964 h 580644"/>
                <a:gd name="connsiteX41" fmla="*/ 371856 w 577595"/>
                <a:gd name="connsiteY41" fmla="*/ 129540 h 580644"/>
                <a:gd name="connsiteX42" fmla="*/ 373380 w 577595"/>
                <a:gd name="connsiteY42" fmla="*/ 135636 h 580644"/>
                <a:gd name="connsiteX43" fmla="*/ 352044 w 577595"/>
                <a:gd name="connsiteY43" fmla="*/ 156972 h 580644"/>
                <a:gd name="connsiteX44" fmla="*/ 245364 w 577595"/>
                <a:gd name="connsiteY44" fmla="*/ 126492 h 580644"/>
                <a:gd name="connsiteX45" fmla="*/ 36576 w 577595"/>
                <a:gd name="connsiteY45" fmla="*/ 335280 h 580644"/>
                <a:gd name="connsiteX46" fmla="*/ 245364 w 577595"/>
                <a:gd name="connsiteY46" fmla="*/ 544068 h 580644"/>
                <a:gd name="connsiteX47" fmla="*/ 454152 w 577595"/>
                <a:gd name="connsiteY47" fmla="*/ 335280 h 580644"/>
                <a:gd name="connsiteX48" fmla="*/ 423672 w 577595"/>
                <a:gd name="connsiteY48" fmla="*/ 227076 h 580644"/>
                <a:gd name="connsiteX49" fmla="*/ 446532 w 577595"/>
                <a:gd name="connsiteY49" fmla="*/ 204216 h 580644"/>
                <a:gd name="connsiteX50" fmla="*/ 449580 w 577595"/>
                <a:gd name="connsiteY50" fmla="*/ 207264 h 58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77595" h="580644">
                  <a:moveTo>
                    <a:pt x="577596" y="89916"/>
                  </a:moveTo>
                  <a:lnTo>
                    <a:pt x="505968" y="71628"/>
                  </a:lnTo>
                  <a:lnTo>
                    <a:pt x="486156" y="0"/>
                  </a:lnTo>
                  <a:lnTo>
                    <a:pt x="403860" y="111252"/>
                  </a:lnTo>
                  <a:lnTo>
                    <a:pt x="409956" y="147828"/>
                  </a:lnTo>
                  <a:lnTo>
                    <a:pt x="233172" y="324612"/>
                  </a:lnTo>
                  <a:cubicBezTo>
                    <a:pt x="227076" y="330708"/>
                    <a:pt x="227076" y="341376"/>
                    <a:pt x="233172" y="348996"/>
                  </a:cubicBezTo>
                  <a:cubicBezTo>
                    <a:pt x="236220" y="352044"/>
                    <a:pt x="240792" y="353568"/>
                    <a:pt x="245364" y="353568"/>
                  </a:cubicBezTo>
                  <a:cubicBezTo>
                    <a:pt x="249936" y="353568"/>
                    <a:pt x="254508" y="352044"/>
                    <a:pt x="257556" y="348996"/>
                  </a:cubicBezTo>
                  <a:lnTo>
                    <a:pt x="435864" y="170688"/>
                  </a:lnTo>
                  <a:lnTo>
                    <a:pt x="470916" y="175260"/>
                  </a:lnTo>
                  <a:lnTo>
                    <a:pt x="577596" y="89916"/>
                  </a:lnTo>
                  <a:close/>
                  <a:moveTo>
                    <a:pt x="364236" y="288036"/>
                  </a:moveTo>
                  <a:lnTo>
                    <a:pt x="390144" y="262128"/>
                  </a:lnTo>
                  <a:cubicBezTo>
                    <a:pt x="400812" y="284988"/>
                    <a:pt x="408432" y="309372"/>
                    <a:pt x="408432" y="336804"/>
                  </a:cubicBezTo>
                  <a:cubicBezTo>
                    <a:pt x="408432" y="426720"/>
                    <a:pt x="335280" y="501396"/>
                    <a:pt x="243840" y="501396"/>
                  </a:cubicBezTo>
                  <a:cubicBezTo>
                    <a:pt x="153924" y="501396"/>
                    <a:pt x="79248" y="428244"/>
                    <a:pt x="79248" y="336804"/>
                  </a:cubicBezTo>
                  <a:cubicBezTo>
                    <a:pt x="79248" y="246888"/>
                    <a:pt x="152400" y="172212"/>
                    <a:pt x="243840" y="172212"/>
                  </a:cubicBezTo>
                  <a:cubicBezTo>
                    <a:pt x="269748" y="172212"/>
                    <a:pt x="295656" y="178308"/>
                    <a:pt x="318516" y="190500"/>
                  </a:cubicBezTo>
                  <a:lnTo>
                    <a:pt x="292608" y="216408"/>
                  </a:lnTo>
                  <a:cubicBezTo>
                    <a:pt x="277368" y="210312"/>
                    <a:pt x="262128" y="207264"/>
                    <a:pt x="243840" y="207264"/>
                  </a:cubicBezTo>
                  <a:cubicBezTo>
                    <a:pt x="172212" y="207264"/>
                    <a:pt x="114300" y="265176"/>
                    <a:pt x="114300" y="336804"/>
                  </a:cubicBezTo>
                  <a:cubicBezTo>
                    <a:pt x="114300" y="408432"/>
                    <a:pt x="172212" y="466344"/>
                    <a:pt x="243840" y="466344"/>
                  </a:cubicBezTo>
                  <a:cubicBezTo>
                    <a:pt x="315468" y="466344"/>
                    <a:pt x="373380" y="408432"/>
                    <a:pt x="373380" y="336804"/>
                  </a:cubicBezTo>
                  <a:cubicBezTo>
                    <a:pt x="373380" y="318516"/>
                    <a:pt x="368808" y="301752"/>
                    <a:pt x="364236" y="288036"/>
                  </a:cubicBezTo>
                  <a:close/>
                  <a:moveTo>
                    <a:pt x="297180" y="353568"/>
                  </a:moveTo>
                  <a:lnTo>
                    <a:pt x="332232" y="318516"/>
                  </a:lnTo>
                  <a:cubicBezTo>
                    <a:pt x="333756" y="324612"/>
                    <a:pt x="333756" y="329184"/>
                    <a:pt x="333756" y="335280"/>
                  </a:cubicBezTo>
                  <a:cubicBezTo>
                    <a:pt x="333756" y="385572"/>
                    <a:pt x="292608" y="426720"/>
                    <a:pt x="242316" y="426720"/>
                  </a:cubicBezTo>
                  <a:cubicBezTo>
                    <a:pt x="192024" y="426720"/>
                    <a:pt x="150876" y="385572"/>
                    <a:pt x="150876" y="335280"/>
                  </a:cubicBezTo>
                  <a:cubicBezTo>
                    <a:pt x="150876" y="284988"/>
                    <a:pt x="192024" y="243840"/>
                    <a:pt x="242316" y="243840"/>
                  </a:cubicBezTo>
                  <a:cubicBezTo>
                    <a:pt x="248412" y="243840"/>
                    <a:pt x="254508" y="243840"/>
                    <a:pt x="259080" y="245364"/>
                  </a:cubicBezTo>
                  <a:lnTo>
                    <a:pt x="224028" y="280416"/>
                  </a:lnTo>
                  <a:cubicBezTo>
                    <a:pt x="201168" y="288036"/>
                    <a:pt x="185928" y="309372"/>
                    <a:pt x="185928" y="333756"/>
                  </a:cubicBezTo>
                  <a:cubicBezTo>
                    <a:pt x="185928" y="365760"/>
                    <a:pt x="211836" y="390144"/>
                    <a:pt x="242316" y="390144"/>
                  </a:cubicBezTo>
                  <a:cubicBezTo>
                    <a:pt x="268224" y="393192"/>
                    <a:pt x="289560" y="376428"/>
                    <a:pt x="297180" y="353568"/>
                  </a:cubicBezTo>
                  <a:close/>
                  <a:moveTo>
                    <a:pt x="449580" y="207264"/>
                  </a:moveTo>
                  <a:cubicBezTo>
                    <a:pt x="473964" y="245364"/>
                    <a:pt x="487680" y="289560"/>
                    <a:pt x="487680" y="336804"/>
                  </a:cubicBezTo>
                  <a:cubicBezTo>
                    <a:pt x="487680" y="470916"/>
                    <a:pt x="377952" y="580644"/>
                    <a:pt x="243840" y="580644"/>
                  </a:cubicBezTo>
                  <a:cubicBezTo>
                    <a:pt x="109728" y="580644"/>
                    <a:pt x="0" y="470916"/>
                    <a:pt x="0" y="336804"/>
                  </a:cubicBezTo>
                  <a:cubicBezTo>
                    <a:pt x="0" y="202692"/>
                    <a:pt x="109728" y="92964"/>
                    <a:pt x="243840" y="92964"/>
                  </a:cubicBezTo>
                  <a:cubicBezTo>
                    <a:pt x="291084" y="92964"/>
                    <a:pt x="333756" y="106680"/>
                    <a:pt x="371856" y="129540"/>
                  </a:cubicBezTo>
                  <a:lnTo>
                    <a:pt x="373380" y="135636"/>
                  </a:lnTo>
                  <a:lnTo>
                    <a:pt x="352044" y="156972"/>
                  </a:lnTo>
                  <a:cubicBezTo>
                    <a:pt x="320040" y="138684"/>
                    <a:pt x="283464" y="126492"/>
                    <a:pt x="245364" y="126492"/>
                  </a:cubicBezTo>
                  <a:cubicBezTo>
                    <a:pt x="129540" y="126492"/>
                    <a:pt x="36576" y="220980"/>
                    <a:pt x="36576" y="335280"/>
                  </a:cubicBezTo>
                  <a:cubicBezTo>
                    <a:pt x="36576" y="451104"/>
                    <a:pt x="131064" y="544068"/>
                    <a:pt x="245364" y="544068"/>
                  </a:cubicBezTo>
                  <a:cubicBezTo>
                    <a:pt x="361188" y="544068"/>
                    <a:pt x="454152" y="449580"/>
                    <a:pt x="454152" y="335280"/>
                  </a:cubicBezTo>
                  <a:cubicBezTo>
                    <a:pt x="454152" y="295656"/>
                    <a:pt x="443484" y="259080"/>
                    <a:pt x="423672" y="227076"/>
                  </a:cubicBezTo>
                  <a:lnTo>
                    <a:pt x="446532" y="204216"/>
                  </a:lnTo>
                  <a:lnTo>
                    <a:pt x="449580" y="207264"/>
                  </a:lnTo>
                  <a:close/>
                </a:path>
              </a:pathLst>
            </a:custGeom>
            <a:solidFill>
              <a:srgbClr val="FFFFFF"/>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265" name="子陵职场PPT2-24"/>
            <p:cNvSpPr/>
            <p:nvPr>
              <p:custDataLst>
                <p:tags r:id="rId22"/>
              </p:custDataLst>
            </p:nvPr>
          </p:nvSpPr>
          <p:spPr>
            <a:xfrm>
              <a:off x="8153659" y="4845359"/>
              <a:ext cx="541237" cy="319456"/>
            </a:xfrm>
            <a:custGeom>
              <a:avLst/>
              <a:gdLst>
                <a:gd name="connsiteX0" fmla="*/ 166115 w 717803"/>
                <a:gd name="connsiteY0" fmla="*/ 278892 h 423672"/>
                <a:gd name="connsiteX1" fmla="*/ 150875 w 717803"/>
                <a:gd name="connsiteY1" fmla="*/ 271272 h 423672"/>
                <a:gd name="connsiteX2" fmla="*/ 146304 w 717803"/>
                <a:gd name="connsiteY2" fmla="*/ 257556 h 423672"/>
                <a:gd name="connsiteX3" fmla="*/ 153924 w 717803"/>
                <a:gd name="connsiteY3" fmla="*/ 243840 h 423672"/>
                <a:gd name="connsiteX4" fmla="*/ 217932 w 717803"/>
                <a:gd name="connsiteY4" fmla="*/ 190500 h 423672"/>
                <a:gd name="connsiteX5" fmla="*/ 230124 w 717803"/>
                <a:gd name="connsiteY5" fmla="*/ 185928 h 423672"/>
                <a:gd name="connsiteX6" fmla="*/ 245364 w 717803"/>
                <a:gd name="connsiteY6" fmla="*/ 193548 h 423672"/>
                <a:gd name="connsiteX7" fmla="*/ 249935 w 717803"/>
                <a:gd name="connsiteY7" fmla="*/ 207264 h 423672"/>
                <a:gd name="connsiteX8" fmla="*/ 242315 w 717803"/>
                <a:gd name="connsiteY8" fmla="*/ 220980 h 423672"/>
                <a:gd name="connsiteX9" fmla="*/ 178307 w 717803"/>
                <a:gd name="connsiteY9" fmla="*/ 274320 h 423672"/>
                <a:gd name="connsiteX10" fmla="*/ 166115 w 717803"/>
                <a:gd name="connsiteY10" fmla="*/ 278892 h 423672"/>
                <a:gd name="connsiteX11" fmla="*/ 214884 w 717803"/>
                <a:gd name="connsiteY11" fmla="*/ 327660 h 423672"/>
                <a:gd name="connsiteX12" fmla="*/ 297180 w 717803"/>
                <a:gd name="connsiteY12" fmla="*/ 259080 h 423672"/>
                <a:gd name="connsiteX13" fmla="*/ 300227 w 717803"/>
                <a:gd name="connsiteY13" fmla="*/ 231648 h 423672"/>
                <a:gd name="connsiteX14" fmla="*/ 284987 w 717803"/>
                <a:gd name="connsiteY14" fmla="*/ 224028 h 423672"/>
                <a:gd name="connsiteX15" fmla="*/ 272795 w 717803"/>
                <a:gd name="connsiteY15" fmla="*/ 228600 h 423672"/>
                <a:gd name="connsiteX16" fmla="*/ 190500 w 717803"/>
                <a:gd name="connsiteY16" fmla="*/ 297180 h 423672"/>
                <a:gd name="connsiteX17" fmla="*/ 187452 w 717803"/>
                <a:gd name="connsiteY17" fmla="*/ 324612 h 423672"/>
                <a:gd name="connsiteX18" fmla="*/ 202692 w 717803"/>
                <a:gd name="connsiteY18" fmla="*/ 332232 h 423672"/>
                <a:gd name="connsiteX19" fmla="*/ 214884 w 717803"/>
                <a:gd name="connsiteY19" fmla="*/ 327660 h 423672"/>
                <a:gd name="connsiteX20" fmla="*/ 262127 w 717803"/>
                <a:gd name="connsiteY20" fmla="*/ 371856 h 423672"/>
                <a:gd name="connsiteX21" fmla="*/ 321564 w 717803"/>
                <a:gd name="connsiteY21" fmla="*/ 323088 h 423672"/>
                <a:gd name="connsiteX22" fmla="*/ 324612 w 717803"/>
                <a:gd name="connsiteY22" fmla="*/ 295656 h 423672"/>
                <a:gd name="connsiteX23" fmla="*/ 309372 w 717803"/>
                <a:gd name="connsiteY23" fmla="*/ 288036 h 423672"/>
                <a:gd name="connsiteX24" fmla="*/ 297180 w 717803"/>
                <a:gd name="connsiteY24" fmla="*/ 292608 h 423672"/>
                <a:gd name="connsiteX25" fmla="*/ 237744 w 717803"/>
                <a:gd name="connsiteY25" fmla="*/ 341376 h 423672"/>
                <a:gd name="connsiteX26" fmla="*/ 234695 w 717803"/>
                <a:gd name="connsiteY26" fmla="*/ 368808 h 423672"/>
                <a:gd name="connsiteX27" fmla="*/ 249935 w 717803"/>
                <a:gd name="connsiteY27" fmla="*/ 376428 h 423672"/>
                <a:gd name="connsiteX28" fmla="*/ 262127 w 717803"/>
                <a:gd name="connsiteY28" fmla="*/ 371856 h 423672"/>
                <a:gd name="connsiteX29" fmla="*/ 304800 w 717803"/>
                <a:gd name="connsiteY29" fmla="*/ 419100 h 423672"/>
                <a:gd name="connsiteX30" fmla="*/ 339852 w 717803"/>
                <a:gd name="connsiteY30" fmla="*/ 390144 h 423672"/>
                <a:gd name="connsiteX31" fmla="*/ 342900 w 717803"/>
                <a:gd name="connsiteY31" fmla="*/ 362712 h 423672"/>
                <a:gd name="connsiteX32" fmla="*/ 327660 w 717803"/>
                <a:gd name="connsiteY32" fmla="*/ 355092 h 423672"/>
                <a:gd name="connsiteX33" fmla="*/ 315467 w 717803"/>
                <a:gd name="connsiteY33" fmla="*/ 359664 h 423672"/>
                <a:gd name="connsiteX34" fmla="*/ 280415 w 717803"/>
                <a:gd name="connsiteY34" fmla="*/ 388620 h 423672"/>
                <a:gd name="connsiteX35" fmla="*/ 277367 w 717803"/>
                <a:gd name="connsiteY35" fmla="*/ 416052 h 423672"/>
                <a:gd name="connsiteX36" fmla="*/ 292607 w 717803"/>
                <a:gd name="connsiteY36" fmla="*/ 423672 h 423672"/>
                <a:gd name="connsiteX37" fmla="*/ 304800 w 717803"/>
                <a:gd name="connsiteY37" fmla="*/ 419100 h 423672"/>
                <a:gd name="connsiteX38" fmla="*/ 637032 w 717803"/>
                <a:gd name="connsiteY38" fmla="*/ 172212 h 423672"/>
                <a:gd name="connsiteX39" fmla="*/ 717804 w 717803"/>
                <a:gd name="connsiteY39" fmla="*/ 129540 h 423672"/>
                <a:gd name="connsiteX40" fmla="*/ 658367 w 717803"/>
                <a:gd name="connsiteY40" fmla="*/ 16764 h 423672"/>
                <a:gd name="connsiteX41" fmla="*/ 571500 w 717803"/>
                <a:gd name="connsiteY41" fmla="*/ 62484 h 423672"/>
                <a:gd name="connsiteX42" fmla="*/ 633984 w 717803"/>
                <a:gd name="connsiteY42" fmla="*/ 169164 h 423672"/>
                <a:gd name="connsiteX43" fmla="*/ 637032 w 717803"/>
                <a:gd name="connsiteY43" fmla="*/ 172212 h 423672"/>
                <a:gd name="connsiteX44" fmla="*/ 565404 w 717803"/>
                <a:gd name="connsiteY44" fmla="*/ 216408 h 423672"/>
                <a:gd name="connsiteX45" fmla="*/ 577595 w 717803"/>
                <a:gd name="connsiteY45" fmla="*/ 199644 h 423672"/>
                <a:gd name="connsiteX46" fmla="*/ 612647 w 717803"/>
                <a:gd name="connsiteY46" fmla="*/ 176784 h 423672"/>
                <a:gd name="connsiteX47" fmla="*/ 550164 w 717803"/>
                <a:gd name="connsiteY47" fmla="*/ 68580 h 423672"/>
                <a:gd name="connsiteX48" fmla="*/ 385572 w 717803"/>
                <a:gd name="connsiteY48" fmla="*/ 38100 h 423672"/>
                <a:gd name="connsiteX49" fmla="*/ 347472 w 717803"/>
                <a:gd name="connsiteY49" fmla="*/ 39624 h 423672"/>
                <a:gd name="connsiteX50" fmla="*/ 345947 w 717803"/>
                <a:gd name="connsiteY50" fmla="*/ 39624 h 423672"/>
                <a:gd name="connsiteX51" fmla="*/ 336804 w 717803"/>
                <a:gd name="connsiteY51" fmla="*/ 41148 h 423672"/>
                <a:gd name="connsiteX52" fmla="*/ 225552 w 717803"/>
                <a:gd name="connsiteY52" fmla="*/ 97536 h 423672"/>
                <a:gd name="connsiteX53" fmla="*/ 216407 w 717803"/>
                <a:gd name="connsiteY53" fmla="*/ 108204 h 423672"/>
                <a:gd name="connsiteX54" fmla="*/ 217932 w 717803"/>
                <a:gd name="connsiteY54" fmla="*/ 123444 h 423672"/>
                <a:gd name="connsiteX55" fmla="*/ 234695 w 717803"/>
                <a:gd name="connsiteY55" fmla="*/ 134112 h 423672"/>
                <a:gd name="connsiteX56" fmla="*/ 243840 w 717803"/>
                <a:gd name="connsiteY56" fmla="*/ 132588 h 423672"/>
                <a:gd name="connsiteX57" fmla="*/ 356615 w 717803"/>
                <a:gd name="connsiteY57" fmla="*/ 76200 h 423672"/>
                <a:gd name="connsiteX58" fmla="*/ 359664 w 717803"/>
                <a:gd name="connsiteY58" fmla="*/ 74676 h 423672"/>
                <a:gd name="connsiteX59" fmla="*/ 362712 w 717803"/>
                <a:gd name="connsiteY59" fmla="*/ 76200 h 423672"/>
                <a:gd name="connsiteX60" fmla="*/ 547115 w 717803"/>
                <a:gd name="connsiteY60" fmla="*/ 240792 h 423672"/>
                <a:gd name="connsiteX61" fmla="*/ 565404 w 717803"/>
                <a:gd name="connsiteY61" fmla="*/ 216408 h 423672"/>
                <a:gd name="connsiteX62" fmla="*/ 377952 w 717803"/>
                <a:gd name="connsiteY62" fmla="*/ 417576 h 423672"/>
                <a:gd name="connsiteX63" fmla="*/ 387095 w 717803"/>
                <a:gd name="connsiteY63" fmla="*/ 391668 h 423672"/>
                <a:gd name="connsiteX64" fmla="*/ 371855 w 717803"/>
                <a:gd name="connsiteY64" fmla="*/ 377952 h 423672"/>
                <a:gd name="connsiteX65" fmla="*/ 356615 w 717803"/>
                <a:gd name="connsiteY65" fmla="*/ 406908 h 423672"/>
                <a:gd name="connsiteX66" fmla="*/ 355092 w 717803"/>
                <a:gd name="connsiteY66" fmla="*/ 408432 h 423672"/>
                <a:gd name="connsiteX67" fmla="*/ 368807 w 717803"/>
                <a:gd name="connsiteY67" fmla="*/ 419100 h 423672"/>
                <a:gd name="connsiteX68" fmla="*/ 377952 w 717803"/>
                <a:gd name="connsiteY68" fmla="*/ 417576 h 423672"/>
                <a:gd name="connsiteX69" fmla="*/ 437387 w 717803"/>
                <a:gd name="connsiteY69" fmla="*/ 387096 h 423672"/>
                <a:gd name="connsiteX70" fmla="*/ 446532 w 717803"/>
                <a:gd name="connsiteY70" fmla="*/ 364236 h 423672"/>
                <a:gd name="connsiteX71" fmla="*/ 445007 w 717803"/>
                <a:gd name="connsiteY71" fmla="*/ 361188 h 423672"/>
                <a:gd name="connsiteX72" fmla="*/ 402335 w 717803"/>
                <a:gd name="connsiteY72" fmla="*/ 316992 h 423672"/>
                <a:gd name="connsiteX73" fmla="*/ 423672 w 717803"/>
                <a:gd name="connsiteY73" fmla="*/ 300228 h 423672"/>
                <a:gd name="connsiteX74" fmla="*/ 472440 w 717803"/>
                <a:gd name="connsiteY74" fmla="*/ 348996 h 423672"/>
                <a:gd name="connsiteX75" fmla="*/ 477012 w 717803"/>
                <a:gd name="connsiteY75" fmla="*/ 352044 h 423672"/>
                <a:gd name="connsiteX76" fmla="*/ 492252 w 717803"/>
                <a:gd name="connsiteY76" fmla="*/ 361188 h 423672"/>
                <a:gd name="connsiteX77" fmla="*/ 501395 w 717803"/>
                <a:gd name="connsiteY77" fmla="*/ 359664 h 423672"/>
                <a:gd name="connsiteX78" fmla="*/ 512064 w 717803"/>
                <a:gd name="connsiteY78" fmla="*/ 342900 h 423672"/>
                <a:gd name="connsiteX79" fmla="*/ 507492 w 717803"/>
                <a:gd name="connsiteY79" fmla="*/ 330708 h 423672"/>
                <a:gd name="connsiteX80" fmla="*/ 457200 w 717803"/>
                <a:gd name="connsiteY80" fmla="*/ 277368 h 423672"/>
                <a:gd name="connsiteX81" fmla="*/ 478535 w 717803"/>
                <a:gd name="connsiteY81" fmla="*/ 262128 h 423672"/>
                <a:gd name="connsiteX82" fmla="*/ 528827 w 717803"/>
                <a:gd name="connsiteY82" fmla="*/ 313944 h 423672"/>
                <a:gd name="connsiteX83" fmla="*/ 530352 w 717803"/>
                <a:gd name="connsiteY83" fmla="*/ 315468 h 423672"/>
                <a:gd name="connsiteX84" fmla="*/ 547115 w 717803"/>
                <a:gd name="connsiteY84" fmla="*/ 326136 h 423672"/>
                <a:gd name="connsiteX85" fmla="*/ 556260 w 717803"/>
                <a:gd name="connsiteY85" fmla="*/ 324612 h 423672"/>
                <a:gd name="connsiteX86" fmla="*/ 563880 w 717803"/>
                <a:gd name="connsiteY86" fmla="*/ 298704 h 423672"/>
                <a:gd name="connsiteX87" fmla="*/ 518160 w 717803"/>
                <a:gd name="connsiteY87" fmla="*/ 248412 h 423672"/>
                <a:gd name="connsiteX88" fmla="*/ 356615 w 717803"/>
                <a:gd name="connsiteY88" fmla="*/ 103632 h 423672"/>
                <a:gd name="connsiteX89" fmla="*/ 254507 w 717803"/>
                <a:gd name="connsiteY89" fmla="*/ 155448 h 423672"/>
                <a:gd name="connsiteX90" fmla="*/ 233172 w 717803"/>
                <a:gd name="connsiteY90" fmla="*/ 160020 h 423672"/>
                <a:gd name="connsiteX91" fmla="*/ 198120 w 717803"/>
                <a:gd name="connsiteY91" fmla="*/ 141732 h 423672"/>
                <a:gd name="connsiteX92" fmla="*/ 192024 w 717803"/>
                <a:gd name="connsiteY92" fmla="*/ 105156 h 423672"/>
                <a:gd name="connsiteX93" fmla="*/ 214884 w 717803"/>
                <a:gd name="connsiteY93" fmla="*/ 76200 h 423672"/>
                <a:gd name="connsiteX94" fmla="*/ 225552 w 717803"/>
                <a:gd name="connsiteY94" fmla="*/ 71628 h 423672"/>
                <a:gd name="connsiteX95" fmla="*/ 175260 w 717803"/>
                <a:gd name="connsiteY95" fmla="*/ 76200 h 423672"/>
                <a:gd name="connsiteX96" fmla="*/ 88392 w 717803"/>
                <a:gd name="connsiteY96" fmla="*/ 166116 h 423672"/>
                <a:gd name="connsiteX97" fmla="*/ 140207 w 717803"/>
                <a:gd name="connsiteY97" fmla="*/ 225552 h 423672"/>
                <a:gd name="connsiteX98" fmla="*/ 205740 w 717803"/>
                <a:gd name="connsiteY98" fmla="*/ 172212 h 423672"/>
                <a:gd name="connsiteX99" fmla="*/ 233172 w 717803"/>
                <a:gd name="connsiteY99" fmla="*/ 161544 h 423672"/>
                <a:gd name="connsiteX100" fmla="*/ 266700 w 717803"/>
                <a:gd name="connsiteY100" fmla="*/ 176784 h 423672"/>
                <a:gd name="connsiteX101" fmla="*/ 275844 w 717803"/>
                <a:gd name="connsiteY101" fmla="*/ 201168 h 423672"/>
                <a:gd name="connsiteX102" fmla="*/ 286512 w 717803"/>
                <a:gd name="connsiteY102" fmla="*/ 199644 h 423672"/>
                <a:gd name="connsiteX103" fmla="*/ 320040 w 717803"/>
                <a:gd name="connsiteY103" fmla="*/ 214884 h 423672"/>
                <a:gd name="connsiteX104" fmla="*/ 323087 w 717803"/>
                <a:gd name="connsiteY104" fmla="*/ 265176 h 423672"/>
                <a:gd name="connsiteX105" fmla="*/ 342900 w 717803"/>
                <a:gd name="connsiteY105" fmla="*/ 278892 h 423672"/>
                <a:gd name="connsiteX106" fmla="*/ 342900 w 717803"/>
                <a:gd name="connsiteY106" fmla="*/ 333756 h 423672"/>
                <a:gd name="connsiteX107" fmla="*/ 359664 w 717803"/>
                <a:gd name="connsiteY107" fmla="*/ 345948 h 423672"/>
                <a:gd name="connsiteX108" fmla="*/ 368807 w 717803"/>
                <a:gd name="connsiteY108" fmla="*/ 339852 h 423672"/>
                <a:gd name="connsiteX109" fmla="*/ 408432 w 717803"/>
                <a:gd name="connsiteY109" fmla="*/ 376428 h 423672"/>
                <a:gd name="connsiteX110" fmla="*/ 416052 w 717803"/>
                <a:gd name="connsiteY110" fmla="*/ 382524 h 423672"/>
                <a:gd name="connsiteX111" fmla="*/ 428244 w 717803"/>
                <a:gd name="connsiteY111" fmla="*/ 388620 h 423672"/>
                <a:gd name="connsiteX112" fmla="*/ 437387 w 717803"/>
                <a:gd name="connsiteY112" fmla="*/ 387096 h 423672"/>
                <a:gd name="connsiteX113" fmla="*/ 62484 w 717803"/>
                <a:gd name="connsiteY113" fmla="*/ 155448 h 423672"/>
                <a:gd name="connsiteX114" fmla="*/ 153924 w 717803"/>
                <a:gd name="connsiteY114" fmla="*/ 60960 h 423672"/>
                <a:gd name="connsiteX115" fmla="*/ 92964 w 717803"/>
                <a:gd name="connsiteY115" fmla="*/ 0 h 423672"/>
                <a:gd name="connsiteX116" fmla="*/ 0 w 717803"/>
                <a:gd name="connsiteY116" fmla="*/ 92964 h 423672"/>
                <a:gd name="connsiteX117" fmla="*/ 62484 w 717803"/>
                <a:gd name="connsiteY117" fmla="*/ 155448 h 423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17803" h="423672">
                  <a:moveTo>
                    <a:pt x="166115" y="278892"/>
                  </a:moveTo>
                  <a:cubicBezTo>
                    <a:pt x="160020" y="278892"/>
                    <a:pt x="155447" y="275844"/>
                    <a:pt x="150875" y="271272"/>
                  </a:cubicBezTo>
                  <a:cubicBezTo>
                    <a:pt x="147827" y="266700"/>
                    <a:pt x="146304" y="262128"/>
                    <a:pt x="146304" y="257556"/>
                  </a:cubicBezTo>
                  <a:cubicBezTo>
                    <a:pt x="146304" y="252984"/>
                    <a:pt x="149352" y="248412"/>
                    <a:pt x="153924" y="243840"/>
                  </a:cubicBezTo>
                  <a:lnTo>
                    <a:pt x="217932" y="190500"/>
                  </a:lnTo>
                  <a:cubicBezTo>
                    <a:pt x="220980" y="187452"/>
                    <a:pt x="225552" y="185928"/>
                    <a:pt x="230124" y="185928"/>
                  </a:cubicBezTo>
                  <a:cubicBezTo>
                    <a:pt x="236220" y="185928"/>
                    <a:pt x="240792" y="188976"/>
                    <a:pt x="245364" y="193548"/>
                  </a:cubicBezTo>
                  <a:cubicBezTo>
                    <a:pt x="248412" y="198120"/>
                    <a:pt x="249935" y="202692"/>
                    <a:pt x="249935" y="207264"/>
                  </a:cubicBezTo>
                  <a:cubicBezTo>
                    <a:pt x="249935" y="211836"/>
                    <a:pt x="246887" y="216408"/>
                    <a:pt x="242315" y="220980"/>
                  </a:cubicBezTo>
                  <a:lnTo>
                    <a:pt x="178307" y="274320"/>
                  </a:lnTo>
                  <a:cubicBezTo>
                    <a:pt x="175260" y="277368"/>
                    <a:pt x="170687" y="278892"/>
                    <a:pt x="166115" y="278892"/>
                  </a:cubicBezTo>
                  <a:close/>
                  <a:moveTo>
                    <a:pt x="214884" y="327660"/>
                  </a:moveTo>
                  <a:lnTo>
                    <a:pt x="297180" y="259080"/>
                  </a:lnTo>
                  <a:cubicBezTo>
                    <a:pt x="304800" y="252984"/>
                    <a:pt x="306324" y="239268"/>
                    <a:pt x="300227" y="231648"/>
                  </a:cubicBezTo>
                  <a:cubicBezTo>
                    <a:pt x="297180" y="227076"/>
                    <a:pt x="291084" y="224028"/>
                    <a:pt x="284987" y="224028"/>
                  </a:cubicBezTo>
                  <a:cubicBezTo>
                    <a:pt x="280415" y="224028"/>
                    <a:pt x="275844" y="225552"/>
                    <a:pt x="272795" y="228600"/>
                  </a:cubicBezTo>
                  <a:lnTo>
                    <a:pt x="190500" y="297180"/>
                  </a:lnTo>
                  <a:cubicBezTo>
                    <a:pt x="182880" y="303276"/>
                    <a:pt x="181355" y="316992"/>
                    <a:pt x="187452" y="324612"/>
                  </a:cubicBezTo>
                  <a:cubicBezTo>
                    <a:pt x="190500" y="329184"/>
                    <a:pt x="196595" y="332232"/>
                    <a:pt x="202692" y="332232"/>
                  </a:cubicBezTo>
                  <a:cubicBezTo>
                    <a:pt x="207264" y="332232"/>
                    <a:pt x="211835" y="330708"/>
                    <a:pt x="214884" y="327660"/>
                  </a:cubicBezTo>
                  <a:close/>
                  <a:moveTo>
                    <a:pt x="262127" y="371856"/>
                  </a:moveTo>
                  <a:lnTo>
                    <a:pt x="321564" y="323088"/>
                  </a:lnTo>
                  <a:cubicBezTo>
                    <a:pt x="329184" y="316992"/>
                    <a:pt x="330707" y="303276"/>
                    <a:pt x="324612" y="295656"/>
                  </a:cubicBezTo>
                  <a:cubicBezTo>
                    <a:pt x="321564" y="291084"/>
                    <a:pt x="315467" y="288036"/>
                    <a:pt x="309372" y="288036"/>
                  </a:cubicBezTo>
                  <a:cubicBezTo>
                    <a:pt x="304800" y="288036"/>
                    <a:pt x="300227" y="289560"/>
                    <a:pt x="297180" y="292608"/>
                  </a:cubicBezTo>
                  <a:lnTo>
                    <a:pt x="237744" y="341376"/>
                  </a:lnTo>
                  <a:cubicBezTo>
                    <a:pt x="230124" y="347472"/>
                    <a:pt x="228600" y="361188"/>
                    <a:pt x="234695" y="368808"/>
                  </a:cubicBezTo>
                  <a:cubicBezTo>
                    <a:pt x="237744" y="373380"/>
                    <a:pt x="243840" y="376428"/>
                    <a:pt x="249935" y="376428"/>
                  </a:cubicBezTo>
                  <a:cubicBezTo>
                    <a:pt x="254507" y="376428"/>
                    <a:pt x="259080" y="374904"/>
                    <a:pt x="262127" y="371856"/>
                  </a:cubicBezTo>
                  <a:close/>
                  <a:moveTo>
                    <a:pt x="304800" y="419100"/>
                  </a:moveTo>
                  <a:lnTo>
                    <a:pt x="339852" y="390144"/>
                  </a:lnTo>
                  <a:cubicBezTo>
                    <a:pt x="347472" y="384048"/>
                    <a:pt x="348995" y="370332"/>
                    <a:pt x="342900" y="362712"/>
                  </a:cubicBezTo>
                  <a:cubicBezTo>
                    <a:pt x="339852" y="358140"/>
                    <a:pt x="333755" y="355092"/>
                    <a:pt x="327660" y="355092"/>
                  </a:cubicBezTo>
                  <a:cubicBezTo>
                    <a:pt x="323087" y="355092"/>
                    <a:pt x="318515" y="356616"/>
                    <a:pt x="315467" y="359664"/>
                  </a:cubicBezTo>
                  <a:lnTo>
                    <a:pt x="280415" y="388620"/>
                  </a:lnTo>
                  <a:cubicBezTo>
                    <a:pt x="272795" y="394716"/>
                    <a:pt x="271272" y="408432"/>
                    <a:pt x="277367" y="416052"/>
                  </a:cubicBezTo>
                  <a:cubicBezTo>
                    <a:pt x="280415" y="420624"/>
                    <a:pt x="286512" y="423672"/>
                    <a:pt x="292607" y="423672"/>
                  </a:cubicBezTo>
                  <a:cubicBezTo>
                    <a:pt x="297180" y="423672"/>
                    <a:pt x="301752" y="422148"/>
                    <a:pt x="304800" y="419100"/>
                  </a:cubicBezTo>
                  <a:close/>
                  <a:moveTo>
                    <a:pt x="637032" y="172212"/>
                  </a:moveTo>
                  <a:lnTo>
                    <a:pt x="717804" y="129540"/>
                  </a:lnTo>
                  <a:lnTo>
                    <a:pt x="658367" y="16764"/>
                  </a:lnTo>
                  <a:cubicBezTo>
                    <a:pt x="624840" y="33528"/>
                    <a:pt x="586740" y="54864"/>
                    <a:pt x="571500" y="62484"/>
                  </a:cubicBezTo>
                  <a:cubicBezTo>
                    <a:pt x="580644" y="76200"/>
                    <a:pt x="597407" y="106680"/>
                    <a:pt x="633984" y="169164"/>
                  </a:cubicBezTo>
                  <a:lnTo>
                    <a:pt x="637032" y="172212"/>
                  </a:lnTo>
                  <a:close/>
                  <a:moveTo>
                    <a:pt x="565404" y="216408"/>
                  </a:moveTo>
                  <a:cubicBezTo>
                    <a:pt x="569975" y="208788"/>
                    <a:pt x="574547" y="202692"/>
                    <a:pt x="577595" y="199644"/>
                  </a:cubicBezTo>
                  <a:cubicBezTo>
                    <a:pt x="583692" y="195072"/>
                    <a:pt x="600455" y="184404"/>
                    <a:pt x="612647" y="176784"/>
                  </a:cubicBezTo>
                  <a:cubicBezTo>
                    <a:pt x="600455" y="156972"/>
                    <a:pt x="563880" y="92964"/>
                    <a:pt x="550164" y="68580"/>
                  </a:cubicBezTo>
                  <a:cubicBezTo>
                    <a:pt x="484632" y="42672"/>
                    <a:pt x="425195" y="38100"/>
                    <a:pt x="385572" y="38100"/>
                  </a:cubicBezTo>
                  <a:cubicBezTo>
                    <a:pt x="373380" y="38100"/>
                    <a:pt x="359664" y="38100"/>
                    <a:pt x="347472" y="39624"/>
                  </a:cubicBezTo>
                  <a:lnTo>
                    <a:pt x="345947" y="39624"/>
                  </a:lnTo>
                  <a:cubicBezTo>
                    <a:pt x="342900" y="39624"/>
                    <a:pt x="339852" y="39624"/>
                    <a:pt x="336804" y="41148"/>
                  </a:cubicBezTo>
                  <a:lnTo>
                    <a:pt x="225552" y="97536"/>
                  </a:lnTo>
                  <a:cubicBezTo>
                    <a:pt x="220980" y="100584"/>
                    <a:pt x="217932" y="103632"/>
                    <a:pt x="216407" y="108204"/>
                  </a:cubicBezTo>
                  <a:cubicBezTo>
                    <a:pt x="214884" y="112776"/>
                    <a:pt x="214884" y="118872"/>
                    <a:pt x="217932" y="123444"/>
                  </a:cubicBezTo>
                  <a:cubicBezTo>
                    <a:pt x="220980" y="129540"/>
                    <a:pt x="228600" y="134112"/>
                    <a:pt x="234695" y="134112"/>
                  </a:cubicBezTo>
                  <a:cubicBezTo>
                    <a:pt x="237744" y="134112"/>
                    <a:pt x="240792" y="134112"/>
                    <a:pt x="243840" y="132588"/>
                  </a:cubicBezTo>
                  <a:lnTo>
                    <a:pt x="356615" y="76200"/>
                  </a:lnTo>
                  <a:lnTo>
                    <a:pt x="359664" y="74676"/>
                  </a:lnTo>
                  <a:lnTo>
                    <a:pt x="362712" y="76200"/>
                  </a:lnTo>
                  <a:cubicBezTo>
                    <a:pt x="434340" y="124968"/>
                    <a:pt x="527304" y="219456"/>
                    <a:pt x="547115" y="240792"/>
                  </a:cubicBezTo>
                  <a:cubicBezTo>
                    <a:pt x="551687" y="237744"/>
                    <a:pt x="559307" y="225552"/>
                    <a:pt x="565404" y="216408"/>
                  </a:cubicBezTo>
                  <a:close/>
                  <a:moveTo>
                    <a:pt x="377952" y="417576"/>
                  </a:moveTo>
                  <a:cubicBezTo>
                    <a:pt x="387095" y="413004"/>
                    <a:pt x="391667" y="402336"/>
                    <a:pt x="387095" y="391668"/>
                  </a:cubicBezTo>
                  <a:lnTo>
                    <a:pt x="371855" y="377952"/>
                  </a:lnTo>
                  <a:cubicBezTo>
                    <a:pt x="370332" y="390144"/>
                    <a:pt x="365760" y="399288"/>
                    <a:pt x="356615" y="406908"/>
                  </a:cubicBezTo>
                  <a:lnTo>
                    <a:pt x="355092" y="408432"/>
                  </a:lnTo>
                  <a:cubicBezTo>
                    <a:pt x="361187" y="414528"/>
                    <a:pt x="367284" y="419100"/>
                    <a:pt x="368807" y="419100"/>
                  </a:cubicBezTo>
                  <a:cubicBezTo>
                    <a:pt x="371855" y="419100"/>
                    <a:pt x="374904" y="419100"/>
                    <a:pt x="377952" y="417576"/>
                  </a:cubicBezTo>
                  <a:close/>
                  <a:moveTo>
                    <a:pt x="437387" y="387096"/>
                  </a:moveTo>
                  <a:cubicBezTo>
                    <a:pt x="446532" y="382524"/>
                    <a:pt x="449580" y="373380"/>
                    <a:pt x="446532" y="364236"/>
                  </a:cubicBezTo>
                  <a:cubicBezTo>
                    <a:pt x="446532" y="362712"/>
                    <a:pt x="445007" y="361188"/>
                    <a:pt x="445007" y="361188"/>
                  </a:cubicBezTo>
                  <a:lnTo>
                    <a:pt x="402335" y="316992"/>
                  </a:lnTo>
                  <a:lnTo>
                    <a:pt x="423672" y="300228"/>
                  </a:lnTo>
                  <a:lnTo>
                    <a:pt x="472440" y="348996"/>
                  </a:lnTo>
                  <a:lnTo>
                    <a:pt x="477012" y="352044"/>
                  </a:lnTo>
                  <a:cubicBezTo>
                    <a:pt x="484632" y="358140"/>
                    <a:pt x="486155" y="361188"/>
                    <a:pt x="492252" y="361188"/>
                  </a:cubicBezTo>
                  <a:cubicBezTo>
                    <a:pt x="495300" y="361188"/>
                    <a:pt x="498347" y="361188"/>
                    <a:pt x="501395" y="359664"/>
                  </a:cubicBezTo>
                  <a:cubicBezTo>
                    <a:pt x="507492" y="356616"/>
                    <a:pt x="512064" y="350520"/>
                    <a:pt x="512064" y="342900"/>
                  </a:cubicBezTo>
                  <a:cubicBezTo>
                    <a:pt x="512064" y="338328"/>
                    <a:pt x="510540" y="335280"/>
                    <a:pt x="507492" y="330708"/>
                  </a:cubicBezTo>
                  <a:lnTo>
                    <a:pt x="457200" y="277368"/>
                  </a:lnTo>
                  <a:lnTo>
                    <a:pt x="478535" y="262128"/>
                  </a:lnTo>
                  <a:lnTo>
                    <a:pt x="528827" y="313944"/>
                  </a:lnTo>
                  <a:lnTo>
                    <a:pt x="530352" y="315468"/>
                  </a:lnTo>
                  <a:cubicBezTo>
                    <a:pt x="537972" y="323088"/>
                    <a:pt x="541020" y="326136"/>
                    <a:pt x="547115" y="326136"/>
                  </a:cubicBezTo>
                  <a:cubicBezTo>
                    <a:pt x="550164" y="326136"/>
                    <a:pt x="553212" y="326136"/>
                    <a:pt x="556260" y="324612"/>
                  </a:cubicBezTo>
                  <a:cubicBezTo>
                    <a:pt x="565404" y="320040"/>
                    <a:pt x="569975" y="309372"/>
                    <a:pt x="563880" y="298704"/>
                  </a:cubicBezTo>
                  <a:lnTo>
                    <a:pt x="518160" y="248412"/>
                  </a:lnTo>
                  <a:cubicBezTo>
                    <a:pt x="489204" y="219456"/>
                    <a:pt x="417575" y="146304"/>
                    <a:pt x="356615" y="103632"/>
                  </a:cubicBezTo>
                  <a:lnTo>
                    <a:pt x="254507" y="155448"/>
                  </a:lnTo>
                  <a:cubicBezTo>
                    <a:pt x="248412" y="158496"/>
                    <a:pt x="242315" y="160020"/>
                    <a:pt x="233172" y="160020"/>
                  </a:cubicBezTo>
                  <a:cubicBezTo>
                    <a:pt x="219455" y="160020"/>
                    <a:pt x="205740" y="152400"/>
                    <a:pt x="198120" y="141732"/>
                  </a:cubicBezTo>
                  <a:cubicBezTo>
                    <a:pt x="190500" y="131064"/>
                    <a:pt x="187452" y="117348"/>
                    <a:pt x="192024" y="105156"/>
                  </a:cubicBezTo>
                  <a:cubicBezTo>
                    <a:pt x="195072" y="92964"/>
                    <a:pt x="204215" y="82296"/>
                    <a:pt x="214884" y="76200"/>
                  </a:cubicBezTo>
                  <a:lnTo>
                    <a:pt x="225552" y="71628"/>
                  </a:lnTo>
                  <a:lnTo>
                    <a:pt x="175260" y="76200"/>
                  </a:lnTo>
                  <a:lnTo>
                    <a:pt x="88392" y="166116"/>
                  </a:lnTo>
                  <a:lnTo>
                    <a:pt x="140207" y="225552"/>
                  </a:lnTo>
                  <a:cubicBezTo>
                    <a:pt x="140207" y="225552"/>
                    <a:pt x="205740" y="172212"/>
                    <a:pt x="205740" y="172212"/>
                  </a:cubicBezTo>
                  <a:cubicBezTo>
                    <a:pt x="213360" y="166116"/>
                    <a:pt x="224027" y="161544"/>
                    <a:pt x="233172" y="161544"/>
                  </a:cubicBezTo>
                  <a:cubicBezTo>
                    <a:pt x="246887" y="161544"/>
                    <a:pt x="259080" y="167640"/>
                    <a:pt x="266700" y="176784"/>
                  </a:cubicBezTo>
                  <a:cubicBezTo>
                    <a:pt x="272795" y="182880"/>
                    <a:pt x="275844" y="192024"/>
                    <a:pt x="275844" y="201168"/>
                  </a:cubicBezTo>
                  <a:cubicBezTo>
                    <a:pt x="278892" y="199644"/>
                    <a:pt x="283464" y="199644"/>
                    <a:pt x="286512" y="199644"/>
                  </a:cubicBezTo>
                  <a:cubicBezTo>
                    <a:pt x="300227" y="199644"/>
                    <a:pt x="312420" y="205740"/>
                    <a:pt x="320040" y="214884"/>
                  </a:cubicBezTo>
                  <a:cubicBezTo>
                    <a:pt x="332232" y="228600"/>
                    <a:pt x="333755" y="249936"/>
                    <a:pt x="323087" y="265176"/>
                  </a:cubicBezTo>
                  <a:cubicBezTo>
                    <a:pt x="330707" y="268224"/>
                    <a:pt x="338327" y="272796"/>
                    <a:pt x="342900" y="278892"/>
                  </a:cubicBezTo>
                  <a:cubicBezTo>
                    <a:pt x="356615" y="295656"/>
                    <a:pt x="356615" y="318516"/>
                    <a:pt x="342900" y="333756"/>
                  </a:cubicBezTo>
                  <a:cubicBezTo>
                    <a:pt x="348995" y="336804"/>
                    <a:pt x="355092" y="339852"/>
                    <a:pt x="359664" y="345948"/>
                  </a:cubicBezTo>
                  <a:lnTo>
                    <a:pt x="368807" y="339852"/>
                  </a:lnTo>
                  <a:lnTo>
                    <a:pt x="408432" y="376428"/>
                  </a:lnTo>
                  <a:cubicBezTo>
                    <a:pt x="411480" y="377952"/>
                    <a:pt x="413004" y="381000"/>
                    <a:pt x="416052" y="382524"/>
                  </a:cubicBezTo>
                  <a:cubicBezTo>
                    <a:pt x="422147" y="387096"/>
                    <a:pt x="423672" y="388620"/>
                    <a:pt x="428244" y="388620"/>
                  </a:cubicBezTo>
                  <a:cubicBezTo>
                    <a:pt x="431292" y="388620"/>
                    <a:pt x="434340" y="388620"/>
                    <a:pt x="437387" y="387096"/>
                  </a:cubicBezTo>
                  <a:close/>
                  <a:moveTo>
                    <a:pt x="62484" y="155448"/>
                  </a:moveTo>
                  <a:lnTo>
                    <a:pt x="153924" y="60960"/>
                  </a:lnTo>
                  <a:lnTo>
                    <a:pt x="92964" y="0"/>
                  </a:lnTo>
                  <a:lnTo>
                    <a:pt x="0" y="92964"/>
                  </a:lnTo>
                  <a:lnTo>
                    <a:pt x="62484" y="155448"/>
                  </a:lnTo>
                  <a:close/>
                </a:path>
              </a:pathLst>
            </a:custGeom>
            <a:solidFill>
              <a:srgbClr val="FFFFFF"/>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266" name="子陵职场PPT2-25"/>
            <p:cNvSpPr/>
            <p:nvPr>
              <p:custDataLst>
                <p:tags r:id="rId23"/>
              </p:custDataLst>
            </p:nvPr>
          </p:nvSpPr>
          <p:spPr>
            <a:xfrm>
              <a:off x="3712387" y="4740023"/>
              <a:ext cx="296473" cy="427473"/>
            </a:xfrm>
            <a:custGeom>
              <a:avLst/>
              <a:gdLst>
                <a:gd name="connsiteX0" fmla="*/ 179832 w 393191"/>
                <a:gd name="connsiteY0" fmla="*/ 278892 h 566927"/>
                <a:gd name="connsiteX1" fmla="*/ 213360 w 393191"/>
                <a:gd name="connsiteY1" fmla="*/ 278892 h 566927"/>
                <a:gd name="connsiteX2" fmla="*/ 213360 w 393191"/>
                <a:gd name="connsiteY2" fmla="*/ 449580 h 566927"/>
                <a:gd name="connsiteX3" fmla="*/ 179832 w 393191"/>
                <a:gd name="connsiteY3" fmla="*/ 449580 h 566927"/>
                <a:gd name="connsiteX4" fmla="*/ 179832 w 393191"/>
                <a:gd name="connsiteY4" fmla="*/ 278892 h 566927"/>
                <a:gd name="connsiteX5" fmla="*/ 196596 w 393191"/>
                <a:gd name="connsiteY5" fmla="*/ 0 h 566927"/>
                <a:gd name="connsiteX6" fmla="*/ 0 w 393191"/>
                <a:gd name="connsiteY6" fmla="*/ 198120 h 566927"/>
                <a:gd name="connsiteX7" fmla="*/ 39624 w 393191"/>
                <a:gd name="connsiteY7" fmla="*/ 316992 h 566927"/>
                <a:gd name="connsiteX8" fmla="*/ 85344 w 393191"/>
                <a:gd name="connsiteY8" fmla="*/ 408432 h 566927"/>
                <a:gd name="connsiteX9" fmla="*/ 124968 w 393191"/>
                <a:gd name="connsiteY9" fmla="*/ 448056 h 566927"/>
                <a:gd name="connsiteX10" fmla="*/ 147828 w 393191"/>
                <a:gd name="connsiteY10" fmla="*/ 448056 h 566927"/>
                <a:gd name="connsiteX11" fmla="*/ 147828 w 393191"/>
                <a:gd name="connsiteY11" fmla="*/ 277368 h 566927"/>
                <a:gd name="connsiteX12" fmla="*/ 120396 w 393191"/>
                <a:gd name="connsiteY12" fmla="*/ 277368 h 566927"/>
                <a:gd name="connsiteX13" fmla="*/ 62484 w 393191"/>
                <a:gd name="connsiteY13" fmla="*/ 219456 h 566927"/>
                <a:gd name="connsiteX14" fmla="*/ 120396 w 393191"/>
                <a:gd name="connsiteY14" fmla="*/ 161544 h 566927"/>
                <a:gd name="connsiteX15" fmla="*/ 178308 w 393191"/>
                <a:gd name="connsiteY15" fmla="*/ 219456 h 566927"/>
                <a:gd name="connsiteX16" fmla="*/ 170688 w 393191"/>
                <a:gd name="connsiteY16" fmla="*/ 246888 h 566927"/>
                <a:gd name="connsiteX17" fmla="*/ 224028 w 393191"/>
                <a:gd name="connsiteY17" fmla="*/ 246888 h 566927"/>
                <a:gd name="connsiteX18" fmla="*/ 216408 w 393191"/>
                <a:gd name="connsiteY18" fmla="*/ 219456 h 566927"/>
                <a:gd name="connsiteX19" fmla="*/ 274320 w 393191"/>
                <a:gd name="connsiteY19" fmla="*/ 161544 h 566927"/>
                <a:gd name="connsiteX20" fmla="*/ 332232 w 393191"/>
                <a:gd name="connsiteY20" fmla="*/ 219456 h 566927"/>
                <a:gd name="connsiteX21" fmla="*/ 274320 w 393191"/>
                <a:gd name="connsiteY21" fmla="*/ 277368 h 566927"/>
                <a:gd name="connsiteX22" fmla="*/ 245364 w 393191"/>
                <a:gd name="connsiteY22" fmla="*/ 277368 h 566927"/>
                <a:gd name="connsiteX23" fmla="*/ 245364 w 393191"/>
                <a:gd name="connsiteY23" fmla="*/ 448056 h 566927"/>
                <a:gd name="connsiteX24" fmla="*/ 268224 w 393191"/>
                <a:gd name="connsiteY24" fmla="*/ 448056 h 566927"/>
                <a:gd name="connsiteX25" fmla="*/ 307848 w 393191"/>
                <a:gd name="connsiteY25" fmla="*/ 408432 h 566927"/>
                <a:gd name="connsiteX26" fmla="*/ 353568 w 393191"/>
                <a:gd name="connsiteY26" fmla="*/ 316992 h 566927"/>
                <a:gd name="connsiteX27" fmla="*/ 393192 w 393191"/>
                <a:gd name="connsiteY27" fmla="*/ 198120 h 566927"/>
                <a:gd name="connsiteX28" fmla="*/ 196596 w 393191"/>
                <a:gd name="connsiteY28" fmla="*/ 0 h 566927"/>
                <a:gd name="connsiteX29" fmla="*/ 92964 w 393191"/>
                <a:gd name="connsiteY29" fmla="*/ 220980 h 566927"/>
                <a:gd name="connsiteX30" fmla="*/ 120396 w 393191"/>
                <a:gd name="connsiteY30" fmla="*/ 248412 h 566927"/>
                <a:gd name="connsiteX31" fmla="*/ 147828 w 393191"/>
                <a:gd name="connsiteY31" fmla="*/ 220980 h 566927"/>
                <a:gd name="connsiteX32" fmla="*/ 120396 w 393191"/>
                <a:gd name="connsiteY32" fmla="*/ 193548 h 566927"/>
                <a:gd name="connsiteX33" fmla="*/ 92964 w 393191"/>
                <a:gd name="connsiteY33" fmla="*/ 220980 h 566927"/>
                <a:gd name="connsiteX34" fmla="*/ 300228 w 393191"/>
                <a:gd name="connsiteY34" fmla="*/ 220980 h 566927"/>
                <a:gd name="connsiteX35" fmla="*/ 272796 w 393191"/>
                <a:gd name="connsiteY35" fmla="*/ 193548 h 566927"/>
                <a:gd name="connsiteX36" fmla="*/ 245364 w 393191"/>
                <a:gd name="connsiteY36" fmla="*/ 220980 h 566927"/>
                <a:gd name="connsiteX37" fmla="*/ 272796 w 393191"/>
                <a:gd name="connsiteY37" fmla="*/ 248412 h 566927"/>
                <a:gd name="connsiteX38" fmla="*/ 300228 w 393191"/>
                <a:gd name="connsiteY38" fmla="*/ 220980 h 566927"/>
                <a:gd name="connsiteX39" fmla="*/ 289560 w 393191"/>
                <a:gd name="connsiteY39" fmla="*/ 495300 h 566927"/>
                <a:gd name="connsiteX40" fmla="*/ 274320 w 393191"/>
                <a:gd name="connsiteY40" fmla="*/ 480060 h 566927"/>
                <a:gd name="connsiteX41" fmla="*/ 120396 w 393191"/>
                <a:gd name="connsiteY41" fmla="*/ 480060 h 566927"/>
                <a:gd name="connsiteX42" fmla="*/ 105156 w 393191"/>
                <a:gd name="connsiteY42" fmla="*/ 495300 h 566927"/>
                <a:gd name="connsiteX43" fmla="*/ 120396 w 393191"/>
                <a:gd name="connsiteY43" fmla="*/ 510540 h 566927"/>
                <a:gd name="connsiteX44" fmla="*/ 274320 w 393191"/>
                <a:gd name="connsiteY44" fmla="*/ 510540 h 566927"/>
                <a:gd name="connsiteX45" fmla="*/ 289560 w 393191"/>
                <a:gd name="connsiteY45" fmla="*/ 495300 h 566927"/>
                <a:gd name="connsiteX46" fmla="*/ 269748 w 393191"/>
                <a:gd name="connsiteY46" fmla="*/ 551688 h 566927"/>
                <a:gd name="connsiteX47" fmla="*/ 254508 w 393191"/>
                <a:gd name="connsiteY47" fmla="*/ 536448 h 566927"/>
                <a:gd name="connsiteX48" fmla="*/ 138684 w 393191"/>
                <a:gd name="connsiteY48" fmla="*/ 536448 h 566927"/>
                <a:gd name="connsiteX49" fmla="*/ 123444 w 393191"/>
                <a:gd name="connsiteY49" fmla="*/ 551688 h 566927"/>
                <a:gd name="connsiteX50" fmla="*/ 138684 w 393191"/>
                <a:gd name="connsiteY50" fmla="*/ 566928 h 566927"/>
                <a:gd name="connsiteX51" fmla="*/ 254508 w 393191"/>
                <a:gd name="connsiteY51" fmla="*/ 566928 h 566927"/>
                <a:gd name="connsiteX52" fmla="*/ 269748 w 393191"/>
                <a:gd name="connsiteY52" fmla="*/ 551688 h 566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93191" h="566927">
                  <a:moveTo>
                    <a:pt x="179832" y="278892"/>
                  </a:moveTo>
                  <a:lnTo>
                    <a:pt x="213360" y="278892"/>
                  </a:lnTo>
                  <a:lnTo>
                    <a:pt x="213360" y="449580"/>
                  </a:lnTo>
                  <a:lnTo>
                    <a:pt x="179832" y="449580"/>
                  </a:lnTo>
                  <a:lnTo>
                    <a:pt x="179832" y="278892"/>
                  </a:lnTo>
                  <a:close/>
                  <a:moveTo>
                    <a:pt x="196596" y="0"/>
                  </a:moveTo>
                  <a:cubicBezTo>
                    <a:pt x="88392" y="1524"/>
                    <a:pt x="0" y="89916"/>
                    <a:pt x="0" y="198120"/>
                  </a:cubicBezTo>
                  <a:cubicBezTo>
                    <a:pt x="0" y="242316"/>
                    <a:pt x="15240" y="284988"/>
                    <a:pt x="39624" y="316992"/>
                  </a:cubicBezTo>
                  <a:cubicBezTo>
                    <a:pt x="74676" y="364236"/>
                    <a:pt x="85344" y="384048"/>
                    <a:pt x="85344" y="408432"/>
                  </a:cubicBezTo>
                  <a:cubicBezTo>
                    <a:pt x="85344" y="429768"/>
                    <a:pt x="103632" y="448056"/>
                    <a:pt x="124968" y="448056"/>
                  </a:cubicBezTo>
                  <a:lnTo>
                    <a:pt x="147828" y="448056"/>
                  </a:lnTo>
                  <a:lnTo>
                    <a:pt x="147828" y="277368"/>
                  </a:lnTo>
                  <a:lnTo>
                    <a:pt x="120396" y="277368"/>
                  </a:lnTo>
                  <a:cubicBezTo>
                    <a:pt x="88392" y="277368"/>
                    <a:pt x="62484" y="251460"/>
                    <a:pt x="62484" y="219456"/>
                  </a:cubicBezTo>
                  <a:cubicBezTo>
                    <a:pt x="62484" y="187452"/>
                    <a:pt x="88392" y="161544"/>
                    <a:pt x="120396" y="161544"/>
                  </a:cubicBezTo>
                  <a:cubicBezTo>
                    <a:pt x="152400" y="161544"/>
                    <a:pt x="178308" y="187452"/>
                    <a:pt x="178308" y="219456"/>
                  </a:cubicBezTo>
                  <a:cubicBezTo>
                    <a:pt x="178308" y="228600"/>
                    <a:pt x="175260" y="237744"/>
                    <a:pt x="170688" y="246888"/>
                  </a:cubicBezTo>
                  <a:lnTo>
                    <a:pt x="224028" y="246888"/>
                  </a:lnTo>
                  <a:cubicBezTo>
                    <a:pt x="219456" y="239268"/>
                    <a:pt x="216408" y="230124"/>
                    <a:pt x="216408" y="219456"/>
                  </a:cubicBezTo>
                  <a:cubicBezTo>
                    <a:pt x="216408" y="187452"/>
                    <a:pt x="242316" y="161544"/>
                    <a:pt x="274320" y="161544"/>
                  </a:cubicBezTo>
                  <a:cubicBezTo>
                    <a:pt x="306324" y="161544"/>
                    <a:pt x="332232" y="187452"/>
                    <a:pt x="332232" y="219456"/>
                  </a:cubicBezTo>
                  <a:cubicBezTo>
                    <a:pt x="332232" y="251460"/>
                    <a:pt x="306324" y="277368"/>
                    <a:pt x="274320" y="277368"/>
                  </a:cubicBezTo>
                  <a:lnTo>
                    <a:pt x="245364" y="277368"/>
                  </a:lnTo>
                  <a:lnTo>
                    <a:pt x="245364" y="448056"/>
                  </a:lnTo>
                  <a:lnTo>
                    <a:pt x="268224" y="448056"/>
                  </a:lnTo>
                  <a:cubicBezTo>
                    <a:pt x="289560" y="448056"/>
                    <a:pt x="307848" y="429768"/>
                    <a:pt x="307848" y="408432"/>
                  </a:cubicBezTo>
                  <a:cubicBezTo>
                    <a:pt x="307848" y="384048"/>
                    <a:pt x="318516" y="364236"/>
                    <a:pt x="353568" y="316992"/>
                  </a:cubicBezTo>
                  <a:cubicBezTo>
                    <a:pt x="377952" y="283464"/>
                    <a:pt x="393192" y="242316"/>
                    <a:pt x="393192" y="198120"/>
                  </a:cubicBezTo>
                  <a:cubicBezTo>
                    <a:pt x="393192" y="89916"/>
                    <a:pt x="306324" y="1524"/>
                    <a:pt x="196596" y="0"/>
                  </a:cubicBezTo>
                  <a:close/>
                  <a:moveTo>
                    <a:pt x="92964" y="220980"/>
                  </a:moveTo>
                  <a:cubicBezTo>
                    <a:pt x="92964" y="236220"/>
                    <a:pt x="105156" y="248412"/>
                    <a:pt x="120396" y="248412"/>
                  </a:cubicBezTo>
                  <a:cubicBezTo>
                    <a:pt x="135636" y="248412"/>
                    <a:pt x="147828" y="236220"/>
                    <a:pt x="147828" y="220980"/>
                  </a:cubicBezTo>
                  <a:cubicBezTo>
                    <a:pt x="147828" y="205740"/>
                    <a:pt x="135636" y="193548"/>
                    <a:pt x="120396" y="193548"/>
                  </a:cubicBezTo>
                  <a:cubicBezTo>
                    <a:pt x="105156" y="195072"/>
                    <a:pt x="92964" y="205740"/>
                    <a:pt x="92964" y="220980"/>
                  </a:cubicBezTo>
                  <a:close/>
                  <a:moveTo>
                    <a:pt x="300228" y="220980"/>
                  </a:moveTo>
                  <a:cubicBezTo>
                    <a:pt x="300228" y="205740"/>
                    <a:pt x="288036" y="193548"/>
                    <a:pt x="272796" y="193548"/>
                  </a:cubicBezTo>
                  <a:cubicBezTo>
                    <a:pt x="257556" y="193548"/>
                    <a:pt x="245364" y="205740"/>
                    <a:pt x="245364" y="220980"/>
                  </a:cubicBezTo>
                  <a:cubicBezTo>
                    <a:pt x="245364" y="236220"/>
                    <a:pt x="257556" y="248412"/>
                    <a:pt x="272796" y="248412"/>
                  </a:cubicBezTo>
                  <a:cubicBezTo>
                    <a:pt x="288036" y="248412"/>
                    <a:pt x="300228" y="236220"/>
                    <a:pt x="300228" y="220980"/>
                  </a:cubicBezTo>
                  <a:close/>
                  <a:moveTo>
                    <a:pt x="289560" y="495300"/>
                  </a:moveTo>
                  <a:cubicBezTo>
                    <a:pt x="289560" y="486156"/>
                    <a:pt x="281940" y="480060"/>
                    <a:pt x="274320" y="480060"/>
                  </a:cubicBezTo>
                  <a:lnTo>
                    <a:pt x="120396" y="480060"/>
                  </a:lnTo>
                  <a:cubicBezTo>
                    <a:pt x="111252" y="480060"/>
                    <a:pt x="105156" y="487680"/>
                    <a:pt x="105156" y="495300"/>
                  </a:cubicBezTo>
                  <a:cubicBezTo>
                    <a:pt x="105156" y="502920"/>
                    <a:pt x="112776" y="510540"/>
                    <a:pt x="120396" y="510540"/>
                  </a:cubicBezTo>
                  <a:lnTo>
                    <a:pt x="274320" y="510540"/>
                  </a:lnTo>
                  <a:cubicBezTo>
                    <a:pt x="281940" y="512064"/>
                    <a:pt x="289560" y="504444"/>
                    <a:pt x="289560" y="495300"/>
                  </a:cubicBezTo>
                  <a:close/>
                  <a:moveTo>
                    <a:pt x="269748" y="551688"/>
                  </a:moveTo>
                  <a:cubicBezTo>
                    <a:pt x="269748" y="542544"/>
                    <a:pt x="262128" y="536448"/>
                    <a:pt x="254508" y="536448"/>
                  </a:cubicBezTo>
                  <a:lnTo>
                    <a:pt x="138684" y="536448"/>
                  </a:lnTo>
                  <a:cubicBezTo>
                    <a:pt x="129540" y="536448"/>
                    <a:pt x="123444" y="544068"/>
                    <a:pt x="123444" y="551688"/>
                  </a:cubicBezTo>
                  <a:cubicBezTo>
                    <a:pt x="123444" y="559308"/>
                    <a:pt x="131064" y="566928"/>
                    <a:pt x="138684" y="566928"/>
                  </a:cubicBezTo>
                  <a:lnTo>
                    <a:pt x="254508" y="566928"/>
                  </a:lnTo>
                  <a:cubicBezTo>
                    <a:pt x="263652" y="566928"/>
                    <a:pt x="269748" y="560832"/>
                    <a:pt x="269748" y="551688"/>
                  </a:cubicBezTo>
                  <a:close/>
                </a:path>
              </a:pathLst>
            </a:custGeom>
            <a:solidFill>
              <a:srgbClr val="FFFFFF"/>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grpSp>
      <p:cxnSp>
        <p:nvCxnSpPr>
          <p:cNvPr id="3" name="子陵职场PPT3"/>
          <p:cNvCxnSpPr/>
          <p:nvPr/>
        </p:nvCxnSpPr>
        <p:spPr>
          <a:xfrm>
            <a:off x="1288415" y="2884170"/>
            <a:ext cx="3810000" cy="2735580"/>
          </a:xfrm>
          <a:prstGeom prst="line">
            <a:avLst/>
          </a:prstGeom>
          <a:ln w="25400">
            <a:gradFill>
              <a:gsLst>
                <a:gs pos="0">
                  <a:srgbClr val="0042FF">
                    <a:alpha val="0"/>
                  </a:srgbClr>
                </a:gs>
                <a:gs pos="41000">
                  <a:srgbClr val="0042FF"/>
                </a:gs>
                <a:gs pos="64000">
                  <a:srgbClr val="FFFFFF"/>
                </a:gs>
              </a:gsLst>
              <a:lin ang="5400000" scaled="1"/>
            </a:gradFill>
          </a:ln>
        </p:spPr>
        <p:style>
          <a:lnRef idx="2">
            <a:srgbClr val="0042FF"/>
          </a:lnRef>
          <a:fillRef idx="0">
            <a:srgbClr val="0042FF"/>
          </a:fillRef>
          <a:effectRef idx="1">
            <a:srgbClr val="0042FF"/>
          </a:effectRef>
          <a:fontRef idx="minor">
            <a:srgbClr val="383838"/>
          </a:fontRef>
        </p:style>
      </p:cxnSp>
      <p:cxnSp>
        <p:nvCxnSpPr>
          <p:cNvPr id="4" name="子陵职场PPT4"/>
          <p:cNvCxnSpPr/>
          <p:nvPr/>
        </p:nvCxnSpPr>
        <p:spPr>
          <a:xfrm>
            <a:off x="4481195" y="1482090"/>
            <a:ext cx="1228725" cy="3685540"/>
          </a:xfrm>
          <a:prstGeom prst="line">
            <a:avLst/>
          </a:prstGeom>
          <a:ln w="25400">
            <a:gradFill>
              <a:gsLst>
                <a:gs pos="0">
                  <a:srgbClr val="3368FF">
                    <a:alpha val="0"/>
                  </a:srgbClr>
                </a:gs>
                <a:gs pos="38000">
                  <a:srgbClr val="3368FF"/>
                </a:gs>
                <a:gs pos="58000">
                  <a:srgbClr val="FFFFFF"/>
                </a:gs>
              </a:gsLst>
              <a:lin ang="5400000" scaled="1"/>
            </a:gradFill>
          </a:ln>
        </p:spPr>
        <p:style>
          <a:lnRef idx="2">
            <a:srgbClr val="0042FF"/>
          </a:lnRef>
          <a:fillRef idx="0">
            <a:srgbClr val="0042FF"/>
          </a:fillRef>
          <a:effectRef idx="1">
            <a:srgbClr val="0042FF"/>
          </a:effectRef>
          <a:fontRef idx="minor">
            <a:srgbClr val="383838"/>
          </a:fontRef>
        </p:style>
      </p:cxnSp>
      <p:cxnSp>
        <p:nvCxnSpPr>
          <p:cNvPr id="6" name="子陵职场PPT5"/>
          <p:cNvCxnSpPr/>
          <p:nvPr/>
        </p:nvCxnSpPr>
        <p:spPr>
          <a:xfrm flipH="1">
            <a:off x="6482080" y="1306830"/>
            <a:ext cx="1275080" cy="3860800"/>
          </a:xfrm>
          <a:prstGeom prst="line">
            <a:avLst/>
          </a:prstGeom>
          <a:ln w="25400">
            <a:gradFill>
              <a:gsLst>
                <a:gs pos="0">
                  <a:srgbClr val="3368FF">
                    <a:alpha val="0"/>
                  </a:srgbClr>
                </a:gs>
                <a:gs pos="38000">
                  <a:srgbClr val="3368FF"/>
                </a:gs>
                <a:gs pos="58000">
                  <a:srgbClr val="FFFFFF"/>
                </a:gs>
              </a:gsLst>
              <a:lin ang="5400000" scaled="1"/>
            </a:gradFill>
          </a:ln>
        </p:spPr>
        <p:style>
          <a:lnRef idx="2">
            <a:srgbClr val="0042FF"/>
          </a:lnRef>
          <a:fillRef idx="0">
            <a:srgbClr val="0042FF"/>
          </a:fillRef>
          <a:effectRef idx="1">
            <a:srgbClr val="0042FF"/>
          </a:effectRef>
          <a:fontRef idx="minor">
            <a:srgbClr val="383838"/>
          </a:fontRef>
        </p:style>
      </p:cxnSp>
      <p:cxnSp>
        <p:nvCxnSpPr>
          <p:cNvPr id="7" name="子陵职场PPT6"/>
          <p:cNvCxnSpPr/>
          <p:nvPr/>
        </p:nvCxnSpPr>
        <p:spPr>
          <a:xfrm flipH="1">
            <a:off x="7106285" y="2984500"/>
            <a:ext cx="3704590" cy="2617470"/>
          </a:xfrm>
          <a:prstGeom prst="line">
            <a:avLst/>
          </a:prstGeom>
          <a:ln w="25400">
            <a:gradFill>
              <a:gsLst>
                <a:gs pos="0">
                  <a:srgbClr val="0042FF">
                    <a:alpha val="0"/>
                  </a:srgbClr>
                </a:gs>
                <a:gs pos="41000">
                  <a:srgbClr val="0042FF"/>
                </a:gs>
                <a:gs pos="59000">
                  <a:srgbClr val="FFFFFF"/>
                </a:gs>
              </a:gsLst>
              <a:lin ang="5400000" scaled="1"/>
            </a:gradFill>
          </a:ln>
        </p:spPr>
        <p:style>
          <a:lnRef idx="2">
            <a:srgbClr val="0042FF"/>
          </a:lnRef>
          <a:fillRef idx="0">
            <a:srgbClr val="0042FF"/>
          </a:fillRef>
          <a:effectRef idx="1">
            <a:srgbClr val="0042FF"/>
          </a:effectRef>
          <a:fontRef idx="minor">
            <a:srgbClr val="383838"/>
          </a:fontRef>
        </p:style>
      </p:cxnSp>
      <p:sp>
        <p:nvSpPr>
          <p:cNvPr id="8" name="子陵职场PPT7"/>
          <p:cNvSpPr txBox="1"/>
          <p:nvPr/>
        </p:nvSpPr>
        <p:spPr>
          <a:xfrm>
            <a:off x="5137150" y="5585460"/>
            <a:ext cx="1905000" cy="838835"/>
          </a:xfrm>
          <a:prstGeom prst="rect">
            <a:avLst/>
          </a:prstGeom>
          <a:noFill/>
        </p:spPr>
        <p:txBody>
          <a:bodyPr wrap="square" rtlCol="0">
            <a:spAutoFit/>
          </a:bodyPr>
          <a:lstStyle/>
          <a:p>
            <a:pPr algn="l">
              <a:lnSpc>
                <a:spcPct val="90000"/>
              </a:lnSpc>
              <a:buClrTx/>
              <a:buSzTx/>
              <a:buFontTx/>
              <a:defRPr>
                <a:latin typeface="微软雅黑"/>
                <a:ea typeface="微软雅黑"/>
                <a:cs typeface="微软雅黑"/>
              </a:defRPr>
            </a:pPr>
            <a:r>
              <a:rPr lang="en-US" altLang="zh-CN" sz="5400" b="1">
                <a:solidFill>
                  <a:srgbClr val="0042FF"/>
                </a:solidFill>
                <a:effectLst/>
                <a:latin typeface="微软雅黑"/>
                <a:ea typeface="微软雅黑"/>
                <a:cs typeface="微软雅黑"/>
                <a:sym typeface="微软雅黑"/>
              </a:rPr>
              <a:t>2026</a:t>
            </a:r>
            <a:endParaRPr lang="en-US" altLang="zh-CN" sz="5400" b="1">
              <a:solidFill>
                <a:srgbClr val="0042FF"/>
              </a:solidFill>
              <a:effectLst/>
              <a:latin typeface="微软雅黑"/>
              <a:ea typeface="微软雅黑"/>
              <a:cs typeface="微软雅黑"/>
              <a:sym typeface="微软雅黑"/>
            </a:endParaRPr>
          </a:p>
        </p:txBody>
      </p:sp>
      <p:sp>
        <p:nvSpPr>
          <p:cNvPr id="97" name="子陵职场PPT8"/>
          <p:cNvSpPr txBox="1"/>
          <p:nvPr/>
        </p:nvSpPr>
        <p:spPr>
          <a:xfrm>
            <a:off x="232410" y="3967480"/>
            <a:ext cx="2350135" cy="423545"/>
          </a:xfrm>
          <a:prstGeom prst="rect">
            <a:avLst/>
          </a:prstGeom>
          <a:noFill/>
        </p:spPr>
        <p:txBody>
          <a:bodyPr wrap="square" rtlCol="0">
            <a:spAutoFit/>
          </a:bodyPr>
          <a:lstStyle/>
          <a:p>
            <a:pPr lvl="0" algn="l">
              <a:lnSpc>
                <a:spcPct val="90000"/>
              </a:lnSpc>
              <a:buClrTx/>
              <a:buSzTx/>
              <a:buFontTx/>
              <a:defRPr>
                <a:latin typeface="微软雅黑"/>
                <a:ea typeface="微软雅黑"/>
                <a:cs typeface="微软雅黑"/>
              </a:defRPr>
            </a:pPr>
            <a:r>
              <a:rPr lang="zh-CN" altLang="en-US" sz="2400" b="1" noProof="0" dirty="0">
                <a:ln>
                  <a:noFill/>
                </a:ln>
                <a:solidFill>
                  <a:srgbClr val="0042FF"/>
                </a:solidFill>
                <a:effectLst/>
                <a:uLnTx/>
                <a:uFillTx/>
                <a:latin typeface="微软雅黑"/>
                <a:ea typeface="微软雅黑"/>
                <a:cs typeface="微软雅黑"/>
                <a:sym typeface="微软雅黑"/>
              </a:rPr>
              <a:t>人才招聘与配置</a:t>
            </a:r>
            <a:endParaRPr lang="zh-CN" altLang="en-US" sz="2400" b="1" noProof="0" dirty="0">
              <a:ln>
                <a:noFill/>
              </a:ln>
              <a:solidFill>
                <a:srgbClr val="0042FF"/>
              </a:solidFill>
              <a:effectLst/>
              <a:uLnTx/>
              <a:uFillTx/>
              <a:latin typeface="微软雅黑"/>
              <a:ea typeface="微软雅黑"/>
              <a:cs typeface="微软雅黑"/>
              <a:sym typeface="微软雅黑"/>
            </a:endParaRPr>
          </a:p>
        </p:txBody>
      </p:sp>
      <p:sp>
        <p:nvSpPr>
          <p:cNvPr id="65" name="子陵职场PPT9"/>
          <p:cNvSpPr txBox="1"/>
          <p:nvPr>
            <p:custDataLst>
              <p:tags r:id="rId24"/>
            </p:custDataLst>
          </p:nvPr>
        </p:nvSpPr>
        <p:spPr>
          <a:xfrm>
            <a:off x="313055" y="5014595"/>
            <a:ext cx="2269490" cy="929640"/>
          </a:xfrm>
          <a:prstGeom prst="rect">
            <a:avLst/>
          </a:prstGeom>
          <a:noFill/>
        </p:spPr>
        <p:txBody>
          <a:bodyPr wrap="square" rtlCol="0" anchor="t">
            <a:spAutoFit/>
          </a:bodyPr>
          <a:lstStyle/>
          <a:p>
            <a:pPr lvl="0" algn="l">
              <a:lnSpc>
                <a:spcPct val="130000"/>
              </a:lnSpc>
              <a:spcBef>
                <a:spcPts val="0"/>
              </a:spcBef>
              <a:spcAft>
                <a:spcPts val="0"/>
              </a:spcAft>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单次招聘成本降低了</a:t>
            </a:r>
            <a:r>
              <a:rPr lang="zh-CN" altLang="en-US" sz="1200" dirty="0">
                <a:solidFill>
                  <a:srgbClr val="383838"/>
                </a:solidFill>
                <a:latin typeface="微软雅黑"/>
                <a:ea typeface="微软雅黑"/>
                <a:cs typeface="微软雅黑"/>
                <a:sym typeface="微软雅黑"/>
              </a:rPr>
              <a:t>20%</a:t>
            </a:r>
            <a:r>
              <a:rPr lang="zh-CN" altLang="en-US" sz="1200" dirty="0">
                <a:solidFill>
                  <a:srgbClr val="383838"/>
                </a:solidFill>
                <a:latin typeface="微软雅黑"/>
                <a:ea typeface="微软雅黑"/>
                <a:cs typeface="微软雅黑"/>
                <a:sym typeface="微软雅黑"/>
              </a:rPr>
              <a:t>，通过内部推荐成功入职</a:t>
            </a:r>
            <a:r>
              <a:rPr lang="zh-CN" altLang="en-US" sz="1200" dirty="0">
                <a:solidFill>
                  <a:srgbClr val="383838"/>
                </a:solidFill>
                <a:latin typeface="微软雅黑"/>
                <a:ea typeface="微软雅黑"/>
                <a:cs typeface="微软雅黑"/>
                <a:sym typeface="微软雅黑"/>
              </a:rPr>
              <a:t>3</a:t>
            </a:r>
            <a:r>
              <a:rPr lang="zh-CN" altLang="en-US" sz="1200" dirty="0">
                <a:solidFill>
                  <a:srgbClr val="383838"/>
                </a:solidFill>
                <a:latin typeface="微软雅黑"/>
                <a:ea typeface="微软雅黑"/>
                <a:cs typeface="微软雅黑"/>
                <a:sym typeface="微软雅黑"/>
              </a:rPr>
              <a:t>人，提升了团队稳定性。</a:t>
            </a:r>
            <a:endParaRPr lang="zh-CN" altLang="en-US" sz="1200" dirty="0">
              <a:solidFill>
                <a:srgbClr val="383838"/>
              </a:solidFill>
              <a:latin typeface="微软雅黑"/>
              <a:ea typeface="微软雅黑"/>
              <a:cs typeface="微软雅黑"/>
              <a:sym typeface="微软雅黑"/>
            </a:endParaRPr>
          </a:p>
        </p:txBody>
      </p:sp>
      <p:sp>
        <p:nvSpPr>
          <p:cNvPr id="66" name="子陵职场PPT10"/>
          <p:cNvSpPr txBox="1"/>
          <p:nvPr>
            <p:custDataLst>
              <p:tags r:id="rId25"/>
            </p:custDataLst>
          </p:nvPr>
        </p:nvSpPr>
        <p:spPr>
          <a:xfrm>
            <a:off x="440690" y="4391660"/>
            <a:ext cx="2391410" cy="607695"/>
          </a:xfrm>
          <a:prstGeom prst="rect">
            <a:avLst/>
          </a:prstGeom>
          <a:noFill/>
        </p:spPr>
        <p:txBody>
          <a:bodyPr wrap="square" rtlCol="0">
            <a:spAutoFit/>
          </a:bodyPr>
          <a:lstStyle/>
          <a:p>
            <a:pPr lvl="0" algn="l">
              <a:lnSpc>
                <a:spcPct val="120000"/>
              </a:lnSpc>
              <a:buClrTx/>
              <a:buSzTx/>
              <a:buFontTx/>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优化招聘渠道与流程，高效支撑业务扩张</a:t>
            </a:r>
            <a:endParaRPr lang="zh-CN" altLang="en-US" sz="1400" dirty="0">
              <a:solidFill>
                <a:srgbClr val="0042FF"/>
              </a:solidFill>
              <a:latin typeface="微软雅黑"/>
              <a:ea typeface="微软雅黑"/>
              <a:cs typeface="微软雅黑"/>
              <a:sym typeface="微软雅黑"/>
            </a:endParaRPr>
          </a:p>
        </p:txBody>
      </p:sp>
      <p:sp>
        <p:nvSpPr>
          <p:cNvPr id="67" name="子陵职场PPT11"/>
          <p:cNvSpPr/>
          <p:nvPr>
            <p:custDataLst>
              <p:tags r:id="rId26"/>
            </p:custDataLst>
          </p:nvPr>
        </p:nvSpPr>
        <p:spPr>
          <a:xfrm>
            <a:off x="337185" y="4497705"/>
            <a:ext cx="129540" cy="129540"/>
          </a:xfrm>
          <a:prstGeom prst="rect">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grpSp>
        <p:nvGrpSpPr>
          <p:cNvPr id="9" name="子陵职场PPT12"/>
          <p:cNvGrpSpPr/>
          <p:nvPr/>
        </p:nvGrpSpPr>
        <p:grpSpPr>
          <a:xfrm>
            <a:off x="1654175" y="1544955"/>
            <a:ext cx="2612390" cy="1624330"/>
            <a:chOff x="383" y="6184"/>
            <a:chExt cx="4114" cy="2558"/>
          </a:xfrm>
        </p:grpSpPr>
        <p:sp>
          <p:nvSpPr>
            <p:cNvPr id="11" name="子陵职场PPT12-1"/>
            <p:cNvSpPr txBox="1"/>
            <p:nvPr/>
          </p:nvSpPr>
          <p:spPr>
            <a:xfrm>
              <a:off x="383" y="6184"/>
              <a:ext cx="3748" cy="667"/>
            </a:xfrm>
            <a:prstGeom prst="rect">
              <a:avLst/>
            </a:prstGeom>
            <a:noFill/>
          </p:spPr>
          <p:txBody>
            <a:bodyPr wrap="square" rtlCol="0">
              <a:spAutoFit/>
            </a:bodyPr>
            <a:lstStyle/>
            <a:p>
              <a:pPr lvl="0" algn="l">
                <a:lnSpc>
                  <a:spcPct val="90000"/>
                </a:lnSpc>
                <a:buClrTx/>
                <a:buSzTx/>
                <a:buFontTx/>
                <a:defRPr>
                  <a:latin typeface="微软雅黑"/>
                  <a:ea typeface="微软雅黑"/>
                  <a:cs typeface="微软雅黑"/>
                </a:defRPr>
              </a:pPr>
              <a:r>
                <a:rPr lang="zh-CN" altLang="en-US" sz="2400" b="1" noProof="0" dirty="0">
                  <a:ln>
                    <a:noFill/>
                  </a:ln>
                  <a:solidFill>
                    <a:srgbClr val="0042FF"/>
                  </a:solidFill>
                  <a:effectLst/>
                  <a:uLnTx/>
                  <a:uFillTx/>
                  <a:latin typeface="微软雅黑"/>
                  <a:ea typeface="微软雅黑"/>
                  <a:cs typeface="微软雅黑"/>
                  <a:sym typeface="微软雅黑"/>
                </a:rPr>
                <a:t>培训与发展体系</a:t>
              </a:r>
              <a:endParaRPr lang="zh-CN" altLang="en-US" sz="2400" b="1" noProof="0" dirty="0">
                <a:ln>
                  <a:noFill/>
                </a:ln>
                <a:solidFill>
                  <a:srgbClr val="0042FF"/>
                </a:solidFill>
                <a:effectLst/>
                <a:uLnTx/>
                <a:uFillTx/>
                <a:latin typeface="微软雅黑"/>
                <a:ea typeface="微软雅黑"/>
                <a:cs typeface="微软雅黑"/>
                <a:sym typeface="微软雅黑"/>
              </a:endParaRPr>
            </a:p>
          </p:txBody>
        </p:sp>
        <p:sp>
          <p:nvSpPr>
            <p:cNvPr id="12" name="子陵职场PPT12-2"/>
            <p:cNvSpPr txBox="1"/>
            <p:nvPr>
              <p:custDataLst>
                <p:tags r:id="rId27"/>
              </p:custDataLst>
            </p:nvPr>
          </p:nvSpPr>
          <p:spPr>
            <a:xfrm>
              <a:off x="531" y="7843"/>
              <a:ext cx="3966" cy="899"/>
            </a:xfrm>
            <a:prstGeom prst="rect">
              <a:avLst/>
            </a:prstGeom>
            <a:noFill/>
          </p:spPr>
          <p:txBody>
            <a:bodyPr wrap="square" rtlCol="0" anchor="t">
              <a:spAutoFit/>
            </a:bodyPr>
            <a:lstStyle/>
            <a:p>
              <a:pPr algn="l">
                <a:lnSpc>
                  <a:spcPct val="130000"/>
                </a:lnSpc>
                <a:spcBef>
                  <a:spcPts val="0"/>
                </a:spcBef>
                <a:spcAft>
                  <a:spcPts val="0"/>
                </a:spcAft>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新员工试用期留存率提升至</a:t>
              </a:r>
              <a:r>
                <a:rPr lang="en-US" altLang="zh-CN" sz="1200" dirty="0">
                  <a:solidFill>
                    <a:srgbClr val="383838"/>
                  </a:solidFill>
                  <a:latin typeface="微软雅黑"/>
                  <a:ea typeface="微软雅黑"/>
                  <a:cs typeface="微软雅黑"/>
                  <a:sym typeface="微软雅黑"/>
                </a:rPr>
                <a:t>85%</a:t>
              </a:r>
              <a:r>
                <a:rPr lang="zh-CN" altLang="en-US" sz="1200" dirty="0">
                  <a:solidFill>
                    <a:srgbClr val="383838"/>
                  </a:solidFill>
                  <a:latin typeface="微软雅黑"/>
                  <a:ea typeface="微软雅黑"/>
                  <a:cs typeface="微软雅黑"/>
                  <a:sym typeface="微软雅黑"/>
                </a:rPr>
                <a:t>以上，显著降低了重复招聘成本。</a:t>
              </a:r>
              <a:endParaRPr lang="zh-CN" altLang="en-US" sz="1200" dirty="0">
                <a:solidFill>
                  <a:srgbClr val="383838"/>
                </a:solidFill>
                <a:latin typeface="微软雅黑"/>
                <a:ea typeface="微软雅黑"/>
                <a:cs typeface="微软雅黑"/>
                <a:sym typeface="微软雅黑"/>
              </a:endParaRPr>
            </a:p>
          </p:txBody>
        </p:sp>
        <p:sp>
          <p:nvSpPr>
            <p:cNvPr id="14" name="子陵职场PPT12-3"/>
            <p:cNvSpPr txBox="1"/>
            <p:nvPr>
              <p:custDataLst>
                <p:tags r:id="rId28"/>
              </p:custDataLst>
            </p:nvPr>
          </p:nvSpPr>
          <p:spPr>
            <a:xfrm>
              <a:off x="694" y="6862"/>
              <a:ext cx="3501" cy="957"/>
            </a:xfrm>
            <a:prstGeom prst="rect">
              <a:avLst/>
            </a:prstGeom>
            <a:noFill/>
          </p:spPr>
          <p:txBody>
            <a:bodyPr wrap="square" rtlCol="0" lIns="0" rIns="0" tIns="0" bIns="0" anchor="t">
              <a:noAutofit/>
            </a:bodyPr>
            <a:lstStyle/>
            <a:p>
              <a:pPr indent="0" algn="l" fontAlgn="auto">
                <a:lnSpc>
                  <a:spcPct val="108000"/>
                </a:lnSpc>
                <a:buClrTx/>
                <a:buSzTx/>
                <a:buFontTx/>
                <a:defRPr sz="1200">
                  <a:latin typeface="微软雅黑"/>
                  <a:ea typeface="微软雅黑"/>
                  <a:cs typeface="微软雅黑"/>
                </a:defRPr>
                <a:spcBef>
                  <a:spcPts val="0"/>
                </a:spcBef>
                <a:spcAft>
                  <a:spcPts val="0"/>
                </a:spcAft>
              </a:pPr>
              <a:r>
                <a:rPr lang="zh-CN" altLang="en-US" sz="1200" dirty="0">
                  <a:solidFill>
                    <a:srgbClr val="0042FF"/>
                  </a:solidFill>
                  <a:latin typeface="微软雅黑"/>
                  <a:ea typeface="微软雅黑"/>
                  <a:cs typeface="微软雅黑"/>
                  <a:sym typeface="微软雅黑"/>
                </a:rPr>
                <a:t>构建新员工“90天融入计划”与管理层领导力项目</a:t>
              </a:r>
              <a:endParaRPr lang="zh-CN" altLang="en-US" sz="1200" dirty="0">
                <a:solidFill>
                  <a:srgbClr val="0042FF"/>
                </a:solidFill>
                <a:latin typeface="微软雅黑"/>
                <a:ea typeface="微软雅黑"/>
                <a:cs typeface="微软雅黑"/>
                <a:sym typeface="微软雅黑"/>
              </a:endParaRPr>
            </a:p>
          </p:txBody>
        </p:sp>
        <p:sp>
          <p:nvSpPr>
            <p:cNvPr id="15" name="子陵职场PPT12-4"/>
            <p:cNvSpPr/>
            <p:nvPr>
              <p:custDataLst>
                <p:tags r:id="rId29"/>
              </p:custDataLst>
            </p:nvPr>
          </p:nvSpPr>
          <p:spPr>
            <a:xfrm>
              <a:off x="531" y="7029"/>
              <a:ext cx="204" cy="204"/>
            </a:xfrm>
            <a:prstGeom prst="rect">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grpSp>
      <p:sp>
        <p:nvSpPr>
          <p:cNvPr id="18" name="子陵职场PPT13"/>
          <p:cNvSpPr txBox="1"/>
          <p:nvPr/>
        </p:nvSpPr>
        <p:spPr>
          <a:xfrm>
            <a:off x="4892040" y="1080770"/>
            <a:ext cx="2367280" cy="423545"/>
          </a:xfrm>
          <a:prstGeom prst="rect">
            <a:avLst/>
          </a:prstGeom>
          <a:noFill/>
        </p:spPr>
        <p:txBody>
          <a:bodyPr wrap="square" rtlCol="0">
            <a:spAutoFit/>
          </a:bodyPr>
          <a:lstStyle/>
          <a:p>
            <a:pPr algn="l">
              <a:lnSpc>
                <a:spcPct val="90000"/>
              </a:lnSpc>
              <a:buClrTx/>
              <a:buSzTx/>
              <a:buFontTx/>
              <a:defRPr>
                <a:latin typeface="微软雅黑"/>
                <a:ea typeface="微软雅黑"/>
                <a:cs typeface="微软雅黑"/>
              </a:defRPr>
            </a:pPr>
            <a:r>
              <a:rPr lang="zh-CN" altLang="en-US" sz="2400" b="1" noProof="0" dirty="0">
                <a:ln>
                  <a:noFill/>
                </a:ln>
                <a:solidFill>
                  <a:srgbClr val="0042FF"/>
                </a:solidFill>
                <a:effectLst/>
                <a:uLnTx/>
                <a:uFillTx/>
                <a:latin typeface="微软雅黑"/>
                <a:ea typeface="微软雅黑"/>
                <a:cs typeface="微软雅黑"/>
                <a:sym typeface="微软雅黑"/>
              </a:rPr>
              <a:t>绩效与薪酬管理</a:t>
            </a:r>
            <a:endParaRPr lang="zh-CN" altLang="en-US" sz="2400" b="1" noProof="0" dirty="0">
              <a:ln>
                <a:noFill/>
              </a:ln>
              <a:solidFill>
                <a:srgbClr val="0042FF"/>
              </a:solidFill>
              <a:effectLst/>
              <a:uLnTx/>
              <a:uFillTx/>
              <a:latin typeface="微软雅黑"/>
              <a:ea typeface="微软雅黑"/>
              <a:cs typeface="微软雅黑"/>
              <a:sym typeface="微软雅黑"/>
            </a:endParaRPr>
          </a:p>
        </p:txBody>
      </p:sp>
      <p:sp>
        <p:nvSpPr>
          <p:cNvPr id="20" name="子陵职场PPT14"/>
          <p:cNvSpPr txBox="1"/>
          <p:nvPr>
            <p:custDataLst>
              <p:tags r:id="rId30"/>
            </p:custDataLst>
          </p:nvPr>
        </p:nvSpPr>
        <p:spPr>
          <a:xfrm>
            <a:off x="5013325" y="2112010"/>
            <a:ext cx="2269490" cy="810260"/>
          </a:xfrm>
          <a:prstGeom prst="rect">
            <a:avLst/>
          </a:prstGeom>
          <a:noFill/>
        </p:spPr>
        <p:txBody>
          <a:bodyPr wrap="square" rtlCol="0" anchor="t">
            <a:spAutoFit/>
          </a:bodyPr>
          <a:lstStyle/>
          <a:p>
            <a:pPr algn="l">
              <a:lnSpc>
                <a:spcPct val="130000"/>
              </a:lnSpc>
              <a:spcBef>
                <a:spcPts val="0"/>
              </a:spcBef>
              <a:spcAft>
                <a:spcPts val="0"/>
              </a:spcAft>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年度薪酬调研显示，员工对薪酬公平性的满意度从</a:t>
            </a:r>
            <a:r>
              <a:rPr lang="en-US" altLang="zh-CN" sz="1200" dirty="0">
                <a:solidFill>
                  <a:srgbClr val="383838"/>
                </a:solidFill>
                <a:latin typeface="微软雅黑"/>
                <a:ea typeface="微软雅黑"/>
                <a:cs typeface="微软雅黑"/>
                <a:sym typeface="微软雅黑"/>
              </a:rPr>
              <a:t>60%</a:t>
            </a:r>
            <a:r>
              <a:rPr lang="zh-CN" altLang="en-US" sz="1200" dirty="0">
                <a:solidFill>
                  <a:srgbClr val="383838"/>
                </a:solidFill>
                <a:latin typeface="微软雅黑"/>
                <a:ea typeface="微软雅黑"/>
                <a:cs typeface="微软雅黑"/>
                <a:sym typeface="微软雅黑"/>
              </a:rPr>
              <a:t>提升至</a:t>
            </a:r>
            <a:r>
              <a:rPr lang="en-US" altLang="zh-CN" sz="1200" dirty="0">
                <a:solidFill>
                  <a:srgbClr val="383838"/>
                </a:solidFill>
                <a:latin typeface="微软雅黑"/>
                <a:ea typeface="微软雅黑"/>
                <a:cs typeface="微软雅黑"/>
                <a:sym typeface="微软雅黑"/>
              </a:rPr>
              <a:t>88%</a:t>
            </a:r>
            <a:r>
              <a:rPr lang="zh-CN" altLang="en-US" sz="1200" dirty="0">
                <a:solidFill>
                  <a:srgbClr val="383838"/>
                </a:solidFill>
                <a:latin typeface="微软雅黑"/>
                <a:ea typeface="微软雅黑"/>
                <a:cs typeface="微软雅黑"/>
                <a:sym typeface="微软雅黑"/>
              </a:rPr>
              <a:t>，提升</a:t>
            </a:r>
            <a:r>
              <a:rPr lang="en-US" altLang="zh-CN" sz="1200" dirty="0">
                <a:solidFill>
                  <a:srgbClr val="383838"/>
                </a:solidFill>
                <a:latin typeface="微软雅黑"/>
                <a:ea typeface="微软雅黑"/>
                <a:cs typeface="微软雅黑"/>
                <a:sym typeface="微软雅黑"/>
              </a:rPr>
              <a:t>+28%</a:t>
            </a:r>
            <a:r>
              <a:rPr lang="zh-CN" altLang="en-US" sz="1200" dirty="0">
                <a:solidFill>
                  <a:srgbClr val="383838"/>
                </a:solidFill>
                <a:latin typeface="微软雅黑"/>
                <a:ea typeface="微软雅黑"/>
                <a:cs typeface="微软雅黑"/>
                <a:sym typeface="微软雅黑"/>
              </a:rPr>
              <a:t>。</a:t>
            </a:r>
            <a:endParaRPr lang="zh-CN" altLang="en-US" sz="1200" dirty="0">
              <a:solidFill>
                <a:srgbClr val="383838"/>
              </a:solidFill>
              <a:latin typeface="微软雅黑"/>
              <a:ea typeface="微软雅黑"/>
              <a:cs typeface="微软雅黑"/>
              <a:sym typeface="微软雅黑"/>
            </a:endParaRPr>
          </a:p>
        </p:txBody>
      </p:sp>
      <p:sp>
        <p:nvSpPr>
          <p:cNvPr id="21" name="子陵职场PPT15"/>
          <p:cNvSpPr txBox="1"/>
          <p:nvPr>
            <p:custDataLst>
              <p:tags r:id="rId31"/>
            </p:custDataLst>
          </p:nvPr>
        </p:nvSpPr>
        <p:spPr>
          <a:xfrm>
            <a:off x="5116830" y="1504315"/>
            <a:ext cx="2141855" cy="607695"/>
          </a:xfrm>
          <a:prstGeom prst="rect">
            <a:avLst/>
          </a:prstGeom>
          <a:noFill/>
        </p:spPr>
        <p:txBody>
          <a:bodyPr wrap="square" rtlCol="0">
            <a:spAutoFit/>
          </a:bodyPr>
          <a:lstStyle/>
          <a:p>
            <a:pPr algn="l" fontAlgn="auto">
              <a:lnSpc>
                <a:spcPct val="120000"/>
              </a:lnSpc>
              <a:buClrTx/>
              <a:buSzTx/>
              <a:buFontTx/>
              <a:defRPr>
                <a:latin typeface="微软雅黑"/>
                <a:ea typeface="微软雅黑"/>
                <a:cs typeface="微软雅黑"/>
              </a:defRPr>
            </a:pPr>
            <a:r>
              <a:rPr lang="zh-CN" altLang="en-US" sz="1400">
                <a:solidFill>
                  <a:srgbClr val="0042FF"/>
                </a:solidFill>
                <a:effectLst/>
                <a:latin typeface="微软雅黑"/>
                <a:ea typeface="微软雅黑"/>
                <a:cs typeface="微软雅黑"/>
                <a:sym typeface="微软雅黑"/>
              </a:rPr>
              <a:t>优化绩效考核体系，实现薪酬与业绩强挂钩</a:t>
            </a:r>
            <a:endParaRPr lang="zh-CN" altLang="en-US" sz="1400">
              <a:solidFill>
                <a:srgbClr val="0042FF"/>
              </a:solidFill>
              <a:effectLst/>
              <a:latin typeface="微软雅黑"/>
              <a:ea typeface="微软雅黑"/>
              <a:cs typeface="微软雅黑"/>
              <a:sym typeface="微软雅黑"/>
            </a:endParaRPr>
          </a:p>
        </p:txBody>
      </p:sp>
      <p:sp>
        <p:nvSpPr>
          <p:cNvPr id="23" name="子陵职场PPT16"/>
          <p:cNvSpPr/>
          <p:nvPr>
            <p:custDataLst>
              <p:tags r:id="rId32"/>
            </p:custDataLst>
          </p:nvPr>
        </p:nvSpPr>
        <p:spPr>
          <a:xfrm>
            <a:off x="5013325" y="1651000"/>
            <a:ext cx="129540" cy="129540"/>
          </a:xfrm>
          <a:prstGeom prst="rect">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grpSp>
        <p:nvGrpSpPr>
          <p:cNvPr id="24" name="子陵职场PPT17"/>
          <p:cNvGrpSpPr/>
          <p:nvPr/>
        </p:nvGrpSpPr>
        <p:grpSpPr>
          <a:xfrm>
            <a:off x="7920990" y="1497330"/>
            <a:ext cx="3067050" cy="1613535"/>
            <a:chOff x="328" y="6109"/>
            <a:chExt cx="4830" cy="2541"/>
          </a:xfrm>
        </p:grpSpPr>
        <p:sp>
          <p:nvSpPr>
            <p:cNvPr id="25" name="子陵职场PPT17-1"/>
            <p:cNvSpPr txBox="1"/>
            <p:nvPr/>
          </p:nvSpPr>
          <p:spPr>
            <a:xfrm>
              <a:off x="328" y="6109"/>
              <a:ext cx="4830" cy="667"/>
            </a:xfrm>
            <a:prstGeom prst="rect">
              <a:avLst/>
            </a:prstGeom>
            <a:noFill/>
          </p:spPr>
          <p:txBody>
            <a:bodyPr wrap="square" rtlCol="0">
              <a:spAutoFit/>
            </a:bodyPr>
            <a:lstStyle/>
            <a:p>
              <a:pPr lvl="0" algn="l">
                <a:lnSpc>
                  <a:spcPct val="90000"/>
                </a:lnSpc>
                <a:buClrTx/>
                <a:buSzTx/>
                <a:buFontTx/>
                <a:defRPr>
                  <a:latin typeface="微软雅黑"/>
                  <a:ea typeface="微软雅黑"/>
                  <a:cs typeface="微软雅黑"/>
                </a:defRPr>
              </a:pPr>
              <a:r>
                <a:rPr lang="zh-CN" altLang="en-US" sz="2400" b="1" noProof="0" dirty="0">
                  <a:ln>
                    <a:noFill/>
                  </a:ln>
                  <a:solidFill>
                    <a:srgbClr val="0042FF"/>
                  </a:solidFill>
                  <a:effectLst/>
                  <a:uLnTx/>
                  <a:uFillTx/>
                  <a:latin typeface="微软雅黑"/>
                  <a:ea typeface="微软雅黑"/>
                  <a:cs typeface="微软雅黑"/>
                  <a:sym typeface="微软雅黑"/>
                </a:rPr>
                <a:t>员工关系与企业文化</a:t>
              </a:r>
              <a:endParaRPr lang="zh-CN" altLang="en-US" sz="2400" b="1" noProof="0" dirty="0">
                <a:ln>
                  <a:noFill/>
                </a:ln>
                <a:solidFill>
                  <a:srgbClr val="0042FF"/>
                </a:solidFill>
                <a:effectLst/>
                <a:uLnTx/>
                <a:uFillTx/>
                <a:latin typeface="微软雅黑"/>
                <a:ea typeface="微软雅黑"/>
                <a:cs typeface="微软雅黑"/>
                <a:sym typeface="微软雅黑"/>
              </a:endParaRPr>
            </a:p>
          </p:txBody>
        </p:sp>
        <p:sp>
          <p:nvSpPr>
            <p:cNvPr id="26" name="子陵职场PPT17-2"/>
            <p:cNvSpPr txBox="1"/>
            <p:nvPr>
              <p:custDataLst>
                <p:tags r:id="rId33"/>
              </p:custDataLst>
            </p:nvPr>
          </p:nvSpPr>
          <p:spPr>
            <a:xfrm>
              <a:off x="493" y="7751"/>
              <a:ext cx="4386" cy="899"/>
            </a:xfrm>
            <a:prstGeom prst="rect">
              <a:avLst/>
            </a:prstGeom>
            <a:noFill/>
          </p:spPr>
          <p:txBody>
            <a:bodyPr wrap="square" rtlCol="0" anchor="t">
              <a:spAutoFit/>
            </a:bodyPr>
            <a:lstStyle/>
            <a:p>
              <a:pPr lvl="0" algn="l">
                <a:lnSpc>
                  <a:spcPct val="130000"/>
                </a:lnSpc>
                <a:spcBef>
                  <a:spcPts val="0"/>
                </a:spcBef>
                <a:spcAft>
                  <a:spcPts val="0"/>
                </a:spcAft>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员工主动提出合理化建议的数量同比增长</a:t>
              </a:r>
              <a:r>
                <a:rPr lang="zh-CN" altLang="en-US" sz="1200" dirty="0">
                  <a:solidFill>
                    <a:srgbClr val="383838"/>
                  </a:solidFill>
                  <a:latin typeface="微软雅黑"/>
                  <a:ea typeface="微软雅黑"/>
                  <a:cs typeface="微软雅黑"/>
                  <a:sym typeface="微软雅黑"/>
                </a:rPr>
                <a:t>50%</a:t>
              </a:r>
              <a:r>
                <a:rPr lang="zh-CN" altLang="en-US" sz="1200" dirty="0">
                  <a:solidFill>
                    <a:srgbClr val="383838"/>
                  </a:solidFill>
                  <a:latin typeface="微软雅黑"/>
                  <a:ea typeface="微软雅黑"/>
                  <a:cs typeface="微软雅黑"/>
                  <a:sym typeface="微软雅黑"/>
                </a:rPr>
                <a:t>，团队离职率同比下降了</a:t>
              </a:r>
              <a:r>
                <a:rPr lang="zh-CN" altLang="en-US" sz="1200" dirty="0">
                  <a:solidFill>
                    <a:srgbClr val="383838"/>
                  </a:solidFill>
                  <a:latin typeface="微软雅黑"/>
                  <a:ea typeface="微软雅黑"/>
                  <a:cs typeface="微软雅黑"/>
                  <a:sym typeface="微软雅黑"/>
                </a:rPr>
                <a:t>5%</a:t>
              </a:r>
              <a:r>
                <a:rPr lang="zh-CN" altLang="en-US" sz="1200" dirty="0">
                  <a:solidFill>
                    <a:srgbClr val="383838"/>
                  </a:solidFill>
                  <a:latin typeface="微软雅黑"/>
                  <a:ea typeface="微软雅黑"/>
                  <a:cs typeface="微软雅黑"/>
                  <a:sym typeface="微软雅黑"/>
                </a:rPr>
                <a:t>。</a:t>
              </a:r>
              <a:endParaRPr lang="zh-CN" altLang="en-US" sz="1200" dirty="0">
                <a:solidFill>
                  <a:srgbClr val="383838"/>
                </a:solidFill>
                <a:latin typeface="微软雅黑"/>
                <a:ea typeface="微软雅黑"/>
                <a:cs typeface="微软雅黑"/>
                <a:sym typeface="微软雅黑"/>
              </a:endParaRPr>
            </a:p>
          </p:txBody>
        </p:sp>
        <p:sp>
          <p:nvSpPr>
            <p:cNvPr id="27" name="子陵职场PPT17-3"/>
            <p:cNvSpPr txBox="1"/>
            <p:nvPr>
              <p:custDataLst>
                <p:tags r:id="rId34"/>
              </p:custDataLst>
            </p:nvPr>
          </p:nvSpPr>
          <p:spPr>
            <a:xfrm>
              <a:off x="694" y="6862"/>
              <a:ext cx="4311" cy="957"/>
            </a:xfrm>
            <a:prstGeom prst="rect">
              <a:avLst/>
            </a:prstGeom>
            <a:noFill/>
          </p:spPr>
          <p:txBody>
            <a:bodyPr wrap="square" rtlCol="0">
              <a:spAutoFit/>
            </a:bodyPr>
            <a:lstStyle/>
            <a:p>
              <a:pPr lvl="0" algn="l">
                <a:lnSpc>
                  <a:spcPct val="120000"/>
                </a:lnSpc>
                <a:buClrTx/>
                <a:buSzTx/>
                <a:buFontTx/>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打造</a:t>
              </a:r>
              <a:r>
                <a:rPr lang="zh-CN" altLang="en-US" sz="1400" dirty="0">
                  <a:solidFill>
                    <a:srgbClr val="0042FF"/>
                  </a:solidFill>
                  <a:latin typeface="微软雅黑"/>
                  <a:ea typeface="微软雅黑"/>
                  <a:cs typeface="微软雅黑"/>
                  <a:sym typeface="微软雅黑"/>
                </a:rPr>
                <a:t>“</a:t>
              </a:r>
              <a:r>
                <a:rPr lang="zh-CN" altLang="en-US" sz="1400" dirty="0">
                  <a:solidFill>
                    <a:srgbClr val="0042FF"/>
                  </a:solidFill>
                  <a:latin typeface="微软雅黑"/>
                  <a:ea typeface="微软雅黑"/>
                  <a:cs typeface="微软雅黑"/>
                  <a:sym typeface="微软雅黑"/>
                </a:rPr>
                <a:t>幸福职场</a:t>
              </a:r>
              <a:r>
                <a:rPr lang="zh-CN" altLang="en-US" sz="1400" dirty="0">
                  <a:solidFill>
                    <a:srgbClr val="0042FF"/>
                  </a:solidFill>
                  <a:latin typeface="微软雅黑"/>
                  <a:ea typeface="微软雅黑"/>
                  <a:cs typeface="微软雅黑"/>
                  <a:sym typeface="微软雅黑"/>
                </a:rPr>
                <a:t>”</a:t>
              </a:r>
              <a:r>
                <a:rPr lang="zh-CN" altLang="en-US" sz="1400" dirty="0">
                  <a:solidFill>
                    <a:srgbClr val="0042FF"/>
                  </a:solidFill>
                  <a:latin typeface="微软雅黑"/>
                  <a:ea typeface="微软雅黑"/>
                  <a:cs typeface="微软雅黑"/>
                  <a:sym typeface="微软雅黑"/>
                </a:rPr>
                <a:t>文化品牌，提升员工敬业度</a:t>
              </a:r>
              <a:endParaRPr lang="zh-CN" altLang="en-US" sz="1400" dirty="0">
                <a:solidFill>
                  <a:srgbClr val="0042FF"/>
                </a:solidFill>
                <a:latin typeface="微软雅黑"/>
                <a:ea typeface="微软雅黑"/>
                <a:cs typeface="微软雅黑"/>
                <a:sym typeface="微软雅黑"/>
              </a:endParaRPr>
            </a:p>
          </p:txBody>
        </p:sp>
        <p:sp>
          <p:nvSpPr>
            <p:cNvPr id="28" name="子陵职场PPT17-4"/>
            <p:cNvSpPr/>
            <p:nvPr>
              <p:custDataLst>
                <p:tags r:id="rId35"/>
              </p:custDataLst>
            </p:nvPr>
          </p:nvSpPr>
          <p:spPr>
            <a:xfrm>
              <a:off x="531" y="7029"/>
              <a:ext cx="204" cy="204"/>
            </a:xfrm>
            <a:prstGeom prst="rect">
              <a:avLst/>
            </a:prstGeom>
            <a:solidFill>
              <a:srgbClr val="3368FF"/>
            </a:solidFill>
            <a:ln>
              <a:noFill/>
            </a:ln>
            <a:effectLst>
              <a:outerShdw blurRad="254000" dist="127000" dir="5400000" sx="90000" sy="90000" algn="ctr" rotWithShape="0">
                <a:srgbClr val="668E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grpSp>
      <p:grpSp>
        <p:nvGrpSpPr>
          <p:cNvPr id="29" name="子陵职场PPT18"/>
          <p:cNvGrpSpPr/>
          <p:nvPr/>
        </p:nvGrpSpPr>
        <p:grpSpPr>
          <a:xfrm>
            <a:off x="9528810" y="4272915"/>
            <a:ext cx="2506345" cy="1564005"/>
            <a:chOff x="392" y="6199"/>
            <a:chExt cx="3947" cy="2463"/>
          </a:xfrm>
        </p:grpSpPr>
        <p:sp>
          <p:nvSpPr>
            <p:cNvPr id="30" name="子陵职场PPT18-1"/>
            <p:cNvSpPr txBox="1"/>
            <p:nvPr/>
          </p:nvSpPr>
          <p:spPr>
            <a:xfrm>
              <a:off x="392" y="6199"/>
              <a:ext cx="3947" cy="667"/>
            </a:xfrm>
            <a:prstGeom prst="rect">
              <a:avLst/>
            </a:prstGeom>
            <a:noFill/>
          </p:spPr>
          <p:txBody>
            <a:bodyPr wrap="square" rtlCol="0">
              <a:spAutoFit/>
            </a:bodyPr>
            <a:lstStyle/>
            <a:p>
              <a:pPr lvl="0" algn="l">
                <a:lnSpc>
                  <a:spcPct val="90000"/>
                </a:lnSpc>
                <a:buClrTx/>
                <a:buSzTx/>
                <a:buFontTx/>
                <a:defRPr>
                  <a:latin typeface="微软雅黑"/>
                  <a:ea typeface="微软雅黑"/>
                  <a:cs typeface="微软雅黑"/>
                </a:defRPr>
              </a:pPr>
              <a:r>
                <a:rPr lang="zh-CN" altLang="en-US" sz="2400" b="1" noProof="0" dirty="0">
                  <a:ln>
                    <a:noFill/>
                  </a:ln>
                  <a:solidFill>
                    <a:srgbClr val="0042FF"/>
                  </a:solidFill>
                  <a:effectLst/>
                  <a:uLnTx/>
                  <a:uFillTx/>
                  <a:latin typeface="微软雅黑"/>
                  <a:ea typeface="微软雅黑"/>
                  <a:cs typeface="微软雅黑"/>
                  <a:sym typeface="微软雅黑"/>
                </a:rPr>
                <a:t>HR体系优化</a:t>
              </a:r>
              <a:endParaRPr lang="zh-CN" altLang="en-US" sz="2400" b="1" noProof="0" dirty="0">
                <a:ln>
                  <a:noFill/>
                </a:ln>
                <a:solidFill>
                  <a:srgbClr val="0042FF"/>
                </a:solidFill>
                <a:effectLst/>
                <a:uLnTx/>
                <a:uFillTx/>
                <a:latin typeface="微软雅黑"/>
                <a:ea typeface="微软雅黑"/>
                <a:cs typeface="微软雅黑"/>
                <a:sym typeface="微软雅黑"/>
              </a:endParaRPr>
            </a:p>
          </p:txBody>
        </p:sp>
        <p:sp>
          <p:nvSpPr>
            <p:cNvPr id="31" name="子陵职场PPT18-2"/>
            <p:cNvSpPr txBox="1"/>
            <p:nvPr>
              <p:custDataLst>
                <p:tags r:id="rId36"/>
              </p:custDataLst>
            </p:nvPr>
          </p:nvSpPr>
          <p:spPr>
            <a:xfrm>
              <a:off x="493" y="7763"/>
              <a:ext cx="3574" cy="899"/>
            </a:xfrm>
            <a:prstGeom prst="rect">
              <a:avLst/>
            </a:prstGeom>
            <a:noFill/>
          </p:spPr>
          <p:txBody>
            <a:bodyPr wrap="square" rtlCol="0" anchor="t">
              <a:spAutoFit/>
            </a:bodyPr>
            <a:lstStyle/>
            <a:p>
              <a:pPr lvl="0" algn="l">
                <a:lnSpc>
                  <a:spcPct val="130000"/>
                </a:lnSpc>
                <a:spcBef>
                  <a:spcPts val="0"/>
                </a:spcBef>
                <a:spcAft>
                  <a:spcPts val="0"/>
                </a:spcAft>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人事基础事务处理时间减少了</a:t>
              </a:r>
              <a:r>
                <a:rPr lang="zh-CN" altLang="en-US" sz="1200" dirty="0">
                  <a:solidFill>
                    <a:srgbClr val="383838"/>
                  </a:solidFill>
                  <a:latin typeface="微软雅黑"/>
                  <a:ea typeface="微软雅黑"/>
                  <a:cs typeface="微软雅黑"/>
                  <a:sym typeface="微软雅黑"/>
                </a:rPr>
                <a:t>40%</a:t>
              </a:r>
              <a:r>
                <a:rPr lang="zh-CN" altLang="en-US" sz="1200" dirty="0">
                  <a:solidFill>
                    <a:srgbClr val="383838"/>
                  </a:solidFill>
                  <a:latin typeface="微软雅黑"/>
                  <a:ea typeface="微软雅黑"/>
                  <a:cs typeface="微软雅黑"/>
                  <a:sym typeface="微软雅黑"/>
                </a:rPr>
                <a:t>，数据准确率达到</a:t>
              </a:r>
              <a:r>
                <a:rPr lang="zh-CN" altLang="en-US" sz="1200" dirty="0">
                  <a:solidFill>
                    <a:srgbClr val="383838"/>
                  </a:solidFill>
                  <a:latin typeface="微软雅黑"/>
                  <a:ea typeface="微软雅黑"/>
                  <a:cs typeface="微软雅黑"/>
                  <a:sym typeface="微软雅黑"/>
                </a:rPr>
                <a:t>100%</a:t>
              </a:r>
              <a:r>
                <a:rPr lang="zh-CN" altLang="en-US" sz="1200" dirty="0">
                  <a:solidFill>
                    <a:srgbClr val="383838"/>
                  </a:solidFill>
                  <a:latin typeface="微软雅黑"/>
                  <a:ea typeface="微软雅黑"/>
                  <a:cs typeface="微软雅黑"/>
                  <a:sym typeface="微软雅黑"/>
                </a:rPr>
                <a:t>。</a:t>
              </a:r>
              <a:endParaRPr lang="zh-CN" altLang="en-US" sz="1200" dirty="0">
                <a:solidFill>
                  <a:srgbClr val="383838"/>
                </a:solidFill>
                <a:latin typeface="微软雅黑"/>
                <a:ea typeface="微软雅黑"/>
                <a:cs typeface="微软雅黑"/>
                <a:sym typeface="微软雅黑"/>
              </a:endParaRPr>
            </a:p>
          </p:txBody>
        </p:sp>
        <p:sp>
          <p:nvSpPr>
            <p:cNvPr id="32" name="子陵职场PPT18-3"/>
            <p:cNvSpPr txBox="1"/>
            <p:nvPr>
              <p:custDataLst>
                <p:tags r:id="rId37"/>
              </p:custDataLst>
            </p:nvPr>
          </p:nvSpPr>
          <p:spPr>
            <a:xfrm>
              <a:off x="694" y="6862"/>
              <a:ext cx="3373" cy="957"/>
            </a:xfrm>
            <a:prstGeom prst="rect">
              <a:avLst/>
            </a:prstGeom>
            <a:noFill/>
          </p:spPr>
          <p:txBody>
            <a:bodyPr wrap="square" rtlCol="0">
              <a:spAutoFit/>
            </a:bodyPr>
            <a:lstStyle/>
            <a:p>
              <a:pPr lvl="0" algn="l">
                <a:lnSpc>
                  <a:spcPct val="120000"/>
                </a:lnSpc>
                <a:buClrTx/>
                <a:buSzTx/>
                <a:buFontTx/>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推进人力资源数字化转型与合规化建设</a:t>
              </a:r>
              <a:endParaRPr lang="zh-CN" altLang="en-US" sz="1400" dirty="0">
                <a:solidFill>
                  <a:srgbClr val="0042FF"/>
                </a:solidFill>
                <a:latin typeface="微软雅黑"/>
                <a:ea typeface="微软雅黑"/>
                <a:cs typeface="微软雅黑"/>
                <a:sym typeface="微软雅黑"/>
              </a:endParaRPr>
            </a:p>
          </p:txBody>
        </p:sp>
        <p:sp>
          <p:nvSpPr>
            <p:cNvPr id="33" name="子陵职场PPT18-4"/>
            <p:cNvSpPr/>
            <p:nvPr>
              <p:custDataLst>
                <p:tags r:id="rId38"/>
              </p:custDataLst>
            </p:nvPr>
          </p:nvSpPr>
          <p:spPr>
            <a:xfrm>
              <a:off x="531" y="7029"/>
              <a:ext cx="204" cy="204"/>
            </a:xfrm>
            <a:prstGeom prst="rect">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grpSp>
      <p:grpSp>
        <p:nvGrpSpPr>
          <p:cNvPr id="17" name="组合 16"/>
          <p:cNvGrpSpPr/>
          <p:nvPr/>
        </p:nvGrpSpPr>
        <p:grpSpPr>
          <a:xfrm>
            <a:off x="8738235" y="348615"/>
            <a:ext cx="3219450" cy="332740"/>
            <a:chOff x="13761" y="549"/>
            <a:chExt cx="5070" cy="524"/>
          </a:xfrm>
        </p:grpSpPr>
        <p:pic>
          <p:nvPicPr>
            <p:cNvPr id="34" name="图片 33"/>
            <p:cNvPicPr>
              <a:picLocks noChangeAspect="1"/>
            </p:cNvPicPr>
            <p:nvPr userDrawn="1"/>
          </p:nvPicPr>
          <p:blipFill>
            <a:blip r:embed="rId39"/>
            <a:srcRect l="17002" t="-1765" r="56499" b="-1176"/>
            <a:stretch>
              <a:fillRect/>
            </a:stretch>
          </p:blipFill>
          <p:spPr>
            <a:xfrm>
              <a:off x="13761" y="549"/>
              <a:ext cx="1582" cy="525"/>
            </a:xfrm>
            <a:prstGeom prst="rect">
              <a:avLst/>
            </a:prstGeom>
          </p:spPr>
        </p:pic>
        <p:sp>
          <p:nvSpPr>
            <p:cNvPr id="35" name="文本框 3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椭圆 58"/>
          <p:cNvSpPr/>
          <p:nvPr/>
        </p:nvSpPr>
        <p:spPr>
          <a:xfrm>
            <a:off x="635" y="560070"/>
            <a:ext cx="12219940" cy="11412220"/>
          </a:xfrm>
          <a:prstGeom prst="ellipse">
            <a:avLst/>
          </a:prstGeom>
          <a:noFill/>
          <a:ln w="12700">
            <a:gradFill>
              <a:gsLst>
                <a:gs pos="0">
                  <a:srgbClr val="668EFF">
                    <a:alpha val="0"/>
                  </a:srgbClr>
                </a:gs>
                <a:gs pos="17000">
                  <a:srgbClr val="668EFF"/>
                </a:gs>
                <a:gs pos="100000">
                  <a:srgbClr val="668EFF">
                    <a:alpha val="0"/>
                  </a:srgbClr>
                </a:gs>
                <a:gs pos="55000">
                  <a:srgbClr val="668EFF">
                    <a:alpha val="60000"/>
                  </a:srgbClr>
                </a:gs>
              </a:gsLst>
              <a:lin ang="5400000" scaled="1"/>
            </a:gradFill>
            <a:prstDash val="sysDot"/>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61" name="椭圆 60"/>
          <p:cNvSpPr/>
          <p:nvPr/>
        </p:nvSpPr>
        <p:spPr>
          <a:xfrm>
            <a:off x="2138045" y="2155190"/>
            <a:ext cx="7914640" cy="7914640"/>
          </a:xfrm>
          <a:prstGeom prst="ellipse">
            <a:avLst/>
          </a:prstGeom>
          <a:gradFill>
            <a:gsLst>
              <a:gs pos="0">
                <a:srgbClr val="E6E6E6">
                  <a:alpha val="0"/>
                </a:srgbClr>
              </a:gs>
              <a:gs pos="100000">
                <a:srgbClr val="E6E6E6">
                  <a:alpha val="3000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64" name="弧形 63"/>
          <p:cNvSpPr/>
          <p:nvPr/>
        </p:nvSpPr>
        <p:spPr>
          <a:xfrm>
            <a:off x="754380" y="1536065"/>
            <a:ext cx="10682605" cy="10682605"/>
          </a:xfrm>
          <a:prstGeom prst="arc">
            <a:avLst>
              <a:gd name="adj1" fmla="val 11249441"/>
              <a:gd name="adj2" fmla="val 21200904"/>
            </a:avLst>
          </a:prstGeom>
          <a:noFill/>
          <a:ln w="50800">
            <a:gradFill flip="none" rotWithShape="1">
              <a:gsLst>
                <a:gs pos="29000">
                  <a:srgbClr val="3368FF">
                    <a:alpha val="53000"/>
                  </a:srgbClr>
                </a:gs>
                <a:gs pos="51000">
                  <a:srgbClr val="3368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68" name="椭圆 67"/>
          <p:cNvSpPr/>
          <p:nvPr/>
        </p:nvSpPr>
        <p:spPr>
          <a:xfrm>
            <a:off x="-29210" y="5235575"/>
            <a:ext cx="12249785" cy="1431925"/>
          </a:xfrm>
          <a:prstGeom prst="ellipse">
            <a:avLst/>
          </a:prstGeom>
          <a:gradFill flip="none" rotWithShape="1">
            <a:gsLst>
              <a:gs pos="0">
                <a:srgbClr val="3368FF">
                  <a:alpha val="0"/>
                </a:srgbClr>
              </a:gs>
              <a:gs pos="100000">
                <a:srgbClr val="3368FF">
                  <a:alpha val="30000"/>
                </a:srgbClr>
              </a:gs>
            </a:gsLst>
            <a:lin ang="5400000" scaled="0"/>
            <a:tileRect/>
          </a:gradFill>
          <a:ln w="28575">
            <a:gradFill>
              <a:gsLst>
                <a:gs pos="0">
                  <a:srgbClr val="FFFF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69" name="椭圆 68"/>
          <p:cNvSpPr/>
          <p:nvPr/>
        </p:nvSpPr>
        <p:spPr>
          <a:xfrm>
            <a:off x="1654810" y="5320665"/>
            <a:ext cx="8881745" cy="1038225"/>
          </a:xfrm>
          <a:prstGeom prst="ellipse">
            <a:avLst/>
          </a:prstGeom>
          <a:gradFill flip="none" rotWithShape="1">
            <a:gsLst>
              <a:gs pos="0">
                <a:srgbClr val="3368FF">
                  <a:alpha val="0"/>
                </a:srgbClr>
              </a:gs>
              <a:gs pos="100000">
                <a:srgbClr val="3368FF">
                  <a:alpha val="30000"/>
                </a:srgbClr>
              </a:gs>
            </a:gsLst>
            <a:lin ang="5400000" scaled="0"/>
            <a:tileRect/>
          </a:gradFill>
          <a:ln w="19050">
            <a:gradFill>
              <a:gsLst>
                <a:gs pos="0">
                  <a:srgbClr val="FFFF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0" name="椭圆 69"/>
          <p:cNvSpPr/>
          <p:nvPr>
            <p:custDataLst>
              <p:tags r:id="rId1"/>
            </p:custDataLst>
          </p:nvPr>
        </p:nvSpPr>
        <p:spPr>
          <a:xfrm>
            <a:off x="4767263" y="1142365"/>
            <a:ext cx="877570" cy="877570"/>
          </a:xfrm>
          <a:prstGeom prst="ellipse">
            <a:avLst/>
          </a:prstGeom>
          <a:solidFill>
            <a:srgbClr val="FFFFFF">
              <a:alpha val="50000"/>
            </a:srgbClr>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spcBef>
                <a:spcPts val="0"/>
              </a:spcBef>
              <a:spcAft>
                <a:spcPts val="0"/>
              </a:spcAft>
              <a:buClrTx/>
              <a:buSzTx/>
              <a:buFontTx/>
              <a:defRPr>
                <a:latin typeface="微软雅黑"/>
                <a:ea typeface="微软雅黑"/>
                <a:cs typeface="微软雅黑"/>
              </a:defRPr>
            </a:pPr>
            <a:endParaRPr lang="zh-CN" altLang="en-US" sz="2000" noProof="0" dirty="0">
              <a:ln>
                <a:noFill/>
              </a:ln>
              <a:solidFill>
                <a:prstClr val="white"/>
              </a:solidFill>
              <a:effectLst/>
              <a:uLnTx/>
              <a:uFillTx/>
              <a:latin typeface="微软雅黑"/>
              <a:ea typeface="微软雅黑"/>
              <a:cs typeface="微软雅黑"/>
              <a:sym typeface="微软雅黑"/>
            </a:endParaRPr>
          </a:p>
        </p:txBody>
      </p:sp>
      <p:sp>
        <p:nvSpPr>
          <p:cNvPr id="71" name="椭圆 70"/>
          <p:cNvSpPr/>
          <p:nvPr>
            <p:custDataLst>
              <p:tags r:id="rId2"/>
            </p:custDataLst>
          </p:nvPr>
        </p:nvSpPr>
        <p:spPr>
          <a:xfrm>
            <a:off x="4866323" y="1241425"/>
            <a:ext cx="679450" cy="679450"/>
          </a:xfrm>
          <a:prstGeom prst="ellipse">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spcBef>
                <a:spcPts val="0"/>
              </a:spcBef>
              <a:spcAft>
                <a:spcPts val="0"/>
              </a:spcAft>
              <a:buClrTx/>
              <a:buSzTx/>
              <a:buFontTx/>
              <a:defRPr>
                <a:latin typeface="微软雅黑"/>
                <a:ea typeface="微软雅黑"/>
                <a:cs typeface="微软雅黑"/>
              </a:defRPr>
            </a:pPr>
            <a:endParaRPr lang="zh-CN" altLang="en-US" sz="2000" noProof="0" dirty="0">
              <a:ln>
                <a:noFill/>
              </a:ln>
              <a:solidFill>
                <a:prstClr val="white"/>
              </a:solidFill>
              <a:effectLst/>
              <a:uLnTx/>
              <a:uFillTx/>
              <a:latin typeface="微软雅黑"/>
              <a:ea typeface="微软雅黑"/>
              <a:cs typeface="微软雅黑"/>
              <a:sym typeface="微软雅黑"/>
            </a:endParaRPr>
          </a:p>
        </p:txBody>
      </p:sp>
      <p:sp>
        <p:nvSpPr>
          <p:cNvPr id="74" name="椭圆 73"/>
          <p:cNvSpPr/>
          <p:nvPr>
            <p:custDataLst>
              <p:tags r:id="rId3"/>
            </p:custDataLst>
          </p:nvPr>
        </p:nvSpPr>
        <p:spPr>
          <a:xfrm>
            <a:off x="6552883" y="1142365"/>
            <a:ext cx="877570" cy="877570"/>
          </a:xfrm>
          <a:prstGeom prst="ellipse">
            <a:avLst/>
          </a:prstGeom>
          <a:solidFill>
            <a:srgbClr val="FFFFFF">
              <a:alpha val="50000"/>
            </a:srgbClr>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spcBef>
                <a:spcPts val="0"/>
              </a:spcBef>
              <a:spcAft>
                <a:spcPts val="0"/>
              </a:spcAft>
              <a:buClrTx/>
              <a:buSzTx/>
              <a:buFontTx/>
              <a:defRPr>
                <a:latin typeface="微软雅黑"/>
                <a:ea typeface="微软雅黑"/>
                <a:cs typeface="微软雅黑"/>
              </a:defRPr>
            </a:pPr>
            <a:endParaRPr lang="zh-CN" altLang="en-US" sz="2000" noProof="0" dirty="0">
              <a:ln>
                <a:noFill/>
              </a:ln>
              <a:solidFill>
                <a:prstClr val="white"/>
              </a:solidFill>
              <a:effectLst/>
              <a:uLnTx/>
              <a:uFillTx/>
              <a:latin typeface="微软雅黑"/>
              <a:ea typeface="微软雅黑"/>
              <a:cs typeface="微软雅黑"/>
              <a:sym typeface="微软雅黑"/>
            </a:endParaRPr>
          </a:p>
        </p:txBody>
      </p:sp>
      <p:sp>
        <p:nvSpPr>
          <p:cNvPr id="75" name="椭圆 74"/>
          <p:cNvSpPr/>
          <p:nvPr>
            <p:custDataLst>
              <p:tags r:id="rId4"/>
            </p:custDataLst>
          </p:nvPr>
        </p:nvSpPr>
        <p:spPr>
          <a:xfrm>
            <a:off x="6651943" y="1241425"/>
            <a:ext cx="679450" cy="679450"/>
          </a:xfrm>
          <a:prstGeom prst="ellipse">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spcBef>
                <a:spcPts val="0"/>
              </a:spcBef>
              <a:spcAft>
                <a:spcPts val="0"/>
              </a:spcAft>
              <a:buClrTx/>
              <a:buSzTx/>
              <a:buFontTx/>
              <a:defRPr>
                <a:latin typeface="微软雅黑"/>
                <a:ea typeface="微软雅黑"/>
                <a:cs typeface="微软雅黑"/>
              </a:defRPr>
            </a:pPr>
            <a:endParaRPr lang="zh-CN" altLang="en-US" sz="2000" noProof="0" dirty="0">
              <a:ln>
                <a:noFill/>
              </a:ln>
              <a:solidFill>
                <a:prstClr val="white"/>
              </a:solidFill>
              <a:effectLst/>
              <a:uLnTx/>
              <a:uFillTx/>
              <a:latin typeface="微软雅黑"/>
              <a:ea typeface="微软雅黑"/>
              <a:cs typeface="微软雅黑"/>
              <a:sym typeface="微软雅黑"/>
            </a:endParaRPr>
          </a:p>
        </p:txBody>
      </p:sp>
      <p:sp>
        <p:nvSpPr>
          <p:cNvPr id="77" name="椭圆 76"/>
          <p:cNvSpPr/>
          <p:nvPr>
            <p:custDataLst>
              <p:tags r:id="rId5"/>
            </p:custDataLst>
          </p:nvPr>
        </p:nvSpPr>
        <p:spPr>
          <a:xfrm>
            <a:off x="2922905" y="1760855"/>
            <a:ext cx="877570" cy="877570"/>
          </a:xfrm>
          <a:prstGeom prst="ellipse">
            <a:avLst/>
          </a:prstGeom>
          <a:solidFill>
            <a:srgbClr val="E6E6E6">
              <a:alpha val="50000"/>
            </a:srgbClr>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spcBef>
                <a:spcPts val="0"/>
              </a:spcBef>
              <a:spcAft>
                <a:spcPts val="0"/>
              </a:spcAft>
              <a:buClrTx/>
              <a:buSzTx/>
              <a:buFontTx/>
              <a:defRPr>
                <a:solidFill>
                  <a:srgbClr val="FFFFFF"/>
                </a:solidFill>
                <a:latin typeface="微软雅黑"/>
                <a:ea typeface="微软雅黑"/>
                <a:cs typeface="微软雅黑"/>
              </a:defRPr>
            </a:pPr>
            <a:endParaRPr lang="zh-CN" altLang="en-US" sz="2000" noProof="0" dirty="0">
              <a:ln>
                <a:noFill/>
              </a:ln>
              <a:solidFill>
                <a:srgbClr val="FFFFFF"/>
              </a:solidFill>
              <a:effectLst/>
              <a:uLnTx/>
              <a:uFillTx/>
              <a:latin typeface="微软雅黑"/>
              <a:ea typeface="微软雅黑"/>
              <a:cs typeface="微软雅黑"/>
              <a:sym typeface="微软雅黑"/>
            </a:endParaRPr>
          </a:p>
        </p:txBody>
      </p:sp>
      <p:sp>
        <p:nvSpPr>
          <p:cNvPr id="78" name="椭圆 77"/>
          <p:cNvSpPr/>
          <p:nvPr>
            <p:custDataLst>
              <p:tags r:id="rId6"/>
            </p:custDataLst>
          </p:nvPr>
        </p:nvSpPr>
        <p:spPr>
          <a:xfrm>
            <a:off x="3021965" y="1859915"/>
            <a:ext cx="679450" cy="679450"/>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l">
              <a:spcBef>
                <a:spcPts val="0"/>
              </a:spcBef>
              <a:spcAft>
                <a:spcPts val="0"/>
              </a:spcAft>
              <a:buClrTx/>
              <a:buSzTx/>
              <a:buFontTx/>
              <a:defRPr>
                <a:solidFill>
                  <a:srgbClr val="FFFFFF"/>
                </a:solidFill>
                <a:latin typeface="微软雅黑"/>
                <a:ea typeface="微软雅黑"/>
                <a:cs typeface="微软雅黑"/>
              </a:defRPr>
            </a:pPr>
            <a:endParaRPr lang="zh-CN" altLang="en-US" sz="2000" noProof="0" dirty="0">
              <a:ln>
                <a:noFill/>
              </a:ln>
              <a:solidFill>
                <a:srgbClr val="FFFFFF"/>
              </a:solidFill>
              <a:effectLst/>
              <a:uLnTx/>
              <a:uFillTx/>
              <a:latin typeface="微软雅黑"/>
              <a:ea typeface="微软雅黑"/>
              <a:cs typeface="微软雅黑"/>
              <a:sym typeface="微软雅黑"/>
            </a:endParaRPr>
          </a:p>
        </p:txBody>
      </p:sp>
      <p:sp>
        <p:nvSpPr>
          <p:cNvPr id="81" name="椭圆 80"/>
          <p:cNvSpPr/>
          <p:nvPr>
            <p:custDataLst>
              <p:tags r:id="rId7"/>
            </p:custDataLst>
          </p:nvPr>
        </p:nvSpPr>
        <p:spPr>
          <a:xfrm>
            <a:off x="8391525" y="1760855"/>
            <a:ext cx="877570" cy="877570"/>
          </a:xfrm>
          <a:prstGeom prst="ellipse">
            <a:avLst/>
          </a:prstGeom>
          <a:solidFill>
            <a:srgbClr val="E6E6E6">
              <a:alpha val="50000"/>
            </a:srgbClr>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spcBef>
                <a:spcPts val="0"/>
              </a:spcBef>
              <a:spcAft>
                <a:spcPts val="0"/>
              </a:spcAft>
              <a:buClrTx/>
              <a:buSzTx/>
              <a:buFontTx/>
              <a:defRPr>
                <a:solidFill>
                  <a:srgbClr val="FFFFFF"/>
                </a:solidFill>
                <a:latin typeface="微软雅黑"/>
                <a:ea typeface="微软雅黑"/>
                <a:cs typeface="微软雅黑"/>
              </a:defRPr>
            </a:pPr>
            <a:endParaRPr lang="zh-CN" altLang="en-US" sz="2000" noProof="0" dirty="0">
              <a:ln>
                <a:noFill/>
              </a:ln>
              <a:solidFill>
                <a:srgbClr val="FFFFFF"/>
              </a:solidFill>
              <a:effectLst/>
              <a:uLnTx/>
              <a:uFillTx/>
              <a:latin typeface="微软雅黑"/>
              <a:ea typeface="微软雅黑"/>
              <a:cs typeface="微软雅黑"/>
              <a:sym typeface="微软雅黑"/>
            </a:endParaRPr>
          </a:p>
        </p:txBody>
      </p:sp>
      <p:sp>
        <p:nvSpPr>
          <p:cNvPr id="82" name="椭圆 81"/>
          <p:cNvSpPr/>
          <p:nvPr>
            <p:custDataLst>
              <p:tags r:id="rId8"/>
            </p:custDataLst>
          </p:nvPr>
        </p:nvSpPr>
        <p:spPr>
          <a:xfrm>
            <a:off x="8490585" y="1859915"/>
            <a:ext cx="679450" cy="679450"/>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l">
              <a:spcBef>
                <a:spcPts val="0"/>
              </a:spcBef>
              <a:spcAft>
                <a:spcPts val="0"/>
              </a:spcAft>
              <a:buClrTx/>
              <a:buSzTx/>
              <a:buFontTx/>
              <a:defRPr>
                <a:solidFill>
                  <a:srgbClr val="FFFFFF"/>
                </a:solidFill>
                <a:latin typeface="微软雅黑"/>
                <a:ea typeface="微软雅黑"/>
                <a:cs typeface="微软雅黑"/>
              </a:defRPr>
            </a:pPr>
            <a:endParaRPr lang="zh-CN" altLang="en-US" sz="2000" noProof="0" dirty="0">
              <a:ln>
                <a:noFill/>
              </a:ln>
              <a:solidFill>
                <a:srgbClr val="FFFFFF"/>
              </a:solidFill>
              <a:effectLst/>
              <a:uLnTx/>
              <a:uFillTx/>
              <a:latin typeface="微软雅黑"/>
              <a:ea typeface="微软雅黑"/>
              <a:cs typeface="微软雅黑"/>
              <a:sym typeface="微软雅黑"/>
            </a:endParaRPr>
          </a:p>
        </p:txBody>
      </p:sp>
      <p:sp>
        <p:nvSpPr>
          <p:cNvPr id="84" name="椭圆 83"/>
          <p:cNvSpPr/>
          <p:nvPr>
            <p:custDataLst>
              <p:tags r:id="rId9"/>
            </p:custDataLst>
          </p:nvPr>
        </p:nvSpPr>
        <p:spPr>
          <a:xfrm>
            <a:off x="1426210" y="2945765"/>
            <a:ext cx="877570" cy="877570"/>
          </a:xfrm>
          <a:prstGeom prst="ellipse">
            <a:avLst/>
          </a:prstGeom>
          <a:solidFill>
            <a:srgbClr val="E6E6E6">
              <a:alpha val="50000"/>
            </a:srgbClr>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2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85" name="椭圆 84"/>
          <p:cNvSpPr/>
          <p:nvPr>
            <p:custDataLst>
              <p:tags r:id="rId10"/>
            </p:custDataLst>
          </p:nvPr>
        </p:nvSpPr>
        <p:spPr>
          <a:xfrm>
            <a:off x="1525270" y="3044825"/>
            <a:ext cx="679450" cy="679450"/>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2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86" name="矩形 85"/>
          <p:cNvSpPr/>
          <p:nvPr>
            <p:custDataLst>
              <p:tags r:id="rId11"/>
            </p:custDataLst>
          </p:nvPr>
        </p:nvSpPr>
        <p:spPr>
          <a:xfrm>
            <a:off x="965835" y="4072890"/>
            <a:ext cx="1337945" cy="36830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100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体系筑基</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7" name="椭圆 86"/>
          <p:cNvSpPr/>
          <p:nvPr>
            <p:custDataLst>
              <p:tags r:id="rId12"/>
            </p:custDataLst>
          </p:nvPr>
        </p:nvSpPr>
        <p:spPr>
          <a:xfrm>
            <a:off x="9903460" y="2945765"/>
            <a:ext cx="877570" cy="877570"/>
          </a:xfrm>
          <a:prstGeom prst="ellipse">
            <a:avLst/>
          </a:prstGeom>
          <a:solidFill>
            <a:srgbClr val="E6E6E6">
              <a:alpha val="50000"/>
            </a:srgbClr>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a:spcBef>
                <a:spcPts val="0"/>
              </a:spcBef>
              <a:spcAft>
                <a:spcPts val="0"/>
              </a:spcAft>
              <a:buClrTx/>
              <a:buSzTx/>
              <a:buFontTx/>
              <a:defRPr>
                <a:solidFill>
                  <a:srgbClr val="FFFFFF"/>
                </a:solidFill>
                <a:latin typeface="微软雅黑"/>
                <a:ea typeface="微软雅黑"/>
                <a:cs typeface="微软雅黑"/>
              </a:defRPr>
            </a:pPr>
            <a:endParaRPr lang="zh-CN" altLang="en-US" sz="2000" noProof="0" dirty="0">
              <a:ln>
                <a:noFill/>
              </a:ln>
              <a:solidFill>
                <a:srgbClr val="FFFFFF"/>
              </a:solidFill>
              <a:effectLst/>
              <a:uLnTx/>
              <a:uFillTx/>
              <a:latin typeface="微软雅黑"/>
              <a:ea typeface="微软雅黑"/>
              <a:cs typeface="微软雅黑"/>
              <a:sym typeface="微软雅黑"/>
            </a:endParaRPr>
          </a:p>
        </p:txBody>
      </p:sp>
      <p:sp>
        <p:nvSpPr>
          <p:cNvPr id="88" name="椭圆 87"/>
          <p:cNvSpPr/>
          <p:nvPr>
            <p:custDataLst>
              <p:tags r:id="rId13"/>
            </p:custDataLst>
          </p:nvPr>
        </p:nvSpPr>
        <p:spPr>
          <a:xfrm>
            <a:off x="10001885" y="3044825"/>
            <a:ext cx="679450" cy="679450"/>
          </a:xfrm>
          <a:prstGeom prst="ellipse">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l">
              <a:spcBef>
                <a:spcPts val="0"/>
              </a:spcBef>
              <a:spcAft>
                <a:spcPts val="0"/>
              </a:spcAft>
              <a:buClrTx/>
              <a:buSzTx/>
              <a:buFontTx/>
              <a:defRPr>
                <a:solidFill>
                  <a:srgbClr val="FFFFFF"/>
                </a:solidFill>
                <a:latin typeface="微软雅黑"/>
                <a:ea typeface="微软雅黑"/>
                <a:cs typeface="微软雅黑"/>
              </a:defRPr>
            </a:pPr>
            <a:endParaRPr lang="zh-CN" altLang="en-US" sz="2000" noProof="0" dirty="0">
              <a:ln>
                <a:noFill/>
              </a:ln>
              <a:solidFill>
                <a:srgbClr val="FFFFFF"/>
              </a:solidFill>
              <a:effectLst/>
              <a:uLnTx/>
              <a:uFillTx/>
              <a:latin typeface="微软雅黑"/>
              <a:ea typeface="微软雅黑"/>
              <a:cs typeface="微软雅黑"/>
              <a:sym typeface="微软雅黑"/>
            </a:endParaRPr>
          </a:p>
        </p:txBody>
      </p:sp>
      <p:sp>
        <p:nvSpPr>
          <p:cNvPr id="90" name="弦形 89"/>
          <p:cNvSpPr/>
          <p:nvPr/>
        </p:nvSpPr>
        <p:spPr>
          <a:xfrm>
            <a:off x="4207828" y="3856990"/>
            <a:ext cx="3813810" cy="3813810"/>
          </a:xfrm>
          <a:prstGeom prst="chord">
            <a:avLst>
              <a:gd name="adj1" fmla="val 10767491"/>
              <a:gd name="adj2" fmla="val 35771"/>
            </a:avLst>
          </a:prstGeom>
          <a:gradFill>
            <a:gsLst>
              <a:gs pos="0">
                <a:srgbClr val="3368FF"/>
              </a:gs>
              <a:gs pos="100000">
                <a:srgbClr val="B3D4FE"/>
              </a:gs>
            </a:gsLst>
            <a:lin ang="5400000" scaled="0"/>
          </a:gradFill>
          <a:ln w="38100">
            <a:noFill/>
          </a:ln>
          <a:effectLst>
            <a:outerShdw blurRad="228600" dist="38100" dir="2700000" algn="tl" rotWithShape="0">
              <a:srgbClr val="B3D4FE">
                <a:alpha val="40000"/>
              </a:srgbClr>
            </a:outerShdw>
            <a:reflection blurRad="241300" stA="73000" endPos="35000" dir="5400000" sy="-100000" algn="bl" rotWithShape="0"/>
          </a:effectLst>
        </p:spPr>
        <p:style>
          <a:lnRef idx="2">
            <a:srgbClr val="0042FF"/>
          </a:lnRef>
          <a:fillRef idx="1">
            <a:srgbClr val="0042FF"/>
          </a:fillRef>
          <a:effectRef idx="0">
            <a:srgbClr val="0042FF"/>
          </a:effectRef>
          <a:fontRef idx="minor">
            <a:srgbClr val="FFFFFF"/>
          </a:fontRef>
        </p:style>
        <p:txBody>
          <a:bodyPr rot="0" spcFirstLastPara="0"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20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91" name="文本框 90"/>
          <p:cNvSpPr txBox="1"/>
          <p:nvPr/>
        </p:nvSpPr>
        <p:spPr>
          <a:xfrm>
            <a:off x="4948555" y="4531995"/>
            <a:ext cx="2292985" cy="107632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3200" b="1"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3200" b="1" i="0" u="none" strike="noStrike" kern="1200" cap="none" spc="0" normalizeH="0" baseline="0" noProof="0" dirty="0">
                <a:ln>
                  <a:noFill/>
                </a:ln>
                <a:solidFill>
                  <a:srgbClr val="383838"/>
                </a:solidFill>
                <a:effectLst/>
                <a:uLnTx/>
                <a:uFillTx/>
                <a:latin typeface="微软雅黑"/>
                <a:ea typeface="微软雅黑"/>
                <a:cs typeface="微软雅黑"/>
              </a:rPr>
              <a:t>年</a:t>
            </a:r>
            <a:endParaRPr kumimoji="0" lang="zh-CN" altLang="en-US" sz="3200" b="1"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3200" b="1" i="0" u="none" strike="noStrike" kern="1200" cap="none" spc="0" normalizeH="0" baseline="0" noProof="0" dirty="0">
                <a:ln>
                  <a:noFill/>
                </a:ln>
                <a:solidFill>
                  <a:srgbClr val="383838"/>
                </a:solidFill>
                <a:effectLst/>
                <a:uLnTx/>
                <a:uFillTx/>
                <a:latin typeface="微软雅黑"/>
                <a:ea typeface="微软雅黑"/>
                <a:cs typeface="微软雅黑"/>
              </a:rPr>
              <a:t>工作目标</a:t>
            </a:r>
            <a:endParaRPr kumimoji="0" lang="zh-CN" altLang="en-US" sz="3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0" name="标题 2"/>
          <p:cNvSpPr>
            <a:spLocks noGrp="1"/>
          </p:cNvSpPr>
          <p:nvPr/>
        </p:nvSpPr>
        <p:spPr>
          <a:xfrm>
            <a:off x="1105535" y="348298"/>
            <a:ext cx="763333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lang="zh-CN" altLang="en-US" sz="2500">
                <a:solidFill>
                  <a:srgbClr val="383838"/>
                </a:solidFill>
                <a:effectLst/>
                <a:latin typeface="微软雅黑"/>
                <a:ea typeface="微软雅黑"/>
                <a:cs typeface="微软雅黑"/>
              </a:rPr>
              <a:t>新媒体行业年度工作规划</a:t>
            </a:r>
            <a:endParaRPr lang="en-US" altLang="zh-CN" sz="2500">
              <a:solidFill>
                <a:srgbClr val="383838"/>
              </a:solidFill>
              <a:effectLst/>
              <a:latin typeface="微软雅黑"/>
              <a:ea typeface="微软雅黑"/>
              <a:cs typeface="微软雅黑"/>
            </a:endParaRPr>
          </a:p>
        </p:txBody>
      </p:sp>
      <p:pic>
        <p:nvPicPr>
          <p:cNvPr id="111" name="图片 110" descr="屋顶资源管理"/>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355600" y="186055"/>
            <a:ext cx="549910" cy="549910"/>
          </a:xfrm>
          <a:prstGeom prst="rect">
            <a:avLst/>
          </a:prstGeom>
        </p:spPr>
      </p:pic>
      <p:grpSp>
        <p:nvGrpSpPr>
          <p:cNvPr id="113" name="组合 112"/>
          <p:cNvGrpSpPr/>
          <p:nvPr/>
        </p:nvGrpSpPr>
        <p:grpSpPr>
          <a:xfrm>
            <a:off x="8738235" y="348615"/>
            <a:ext cx="3219450" cy="332740"/>
            <a:chOff x="13761" y="549"/>
            <a:chExt cx="5070" cy="524"/>
          </a:xfrm>
        </p:grpSpPr>
        <p:pic>
          <p:nvPicPr>
            <p:cNvPr id="114" name="图片 113"/>
            <p:cNvPicPr>
              <a:picLocks noChangeAspect="1"/>
            </p:cNvPicPr>
            <p:nvPr userDrawn="1"/>
          </p:nvPicPr>
          <p:blipFill>
            <a:blip r:embed="rId16"/>
            <a:srcRect l="17002" t="-1765" r="56499" b="-1176"/>
            <a:stretch>
              <a:fillRect/>
            </a:stretch>
          </p:blipFill>
          <p:spPr>
            <a:xfrm>
              <a:off x="13761" y="549"/>
              <a:ext cx="1582" cy="525"/>
            </a:xfrm>
            <a:prstGeom prst="rect">
              <a:avLst/>
            </a:prstGeom>
          </p:spPr>
        </p:pic>
        <p:sp>
          <p:nvSpPr>
            <p:cNvPr id="115" name="文本框 11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1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17" name="矩形 116"/>
          <p:cNvSpPr/>
          <p:nvPr>
            <p:custDataLst>
              <p:tags r:id="rId17"/>
            </p:custDataLst>
          </p:nvPr>
        </p:nvSpPr>
        <p:spPr>
          <a:xfrm>
            <a:off x="2871470" y="2712720"/>
            <a:ext cx="1337945" cy="36830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100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流量试水</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8" name="文本框 117"/>
          <p:cNvSpPr txBox="1"/>
          <p:nvPr>
            <p:custDataLst>
              <p:tags r:id="rId18"/>
            </p:custDataLst>
          </p:nvPr>
        </p:nvSpPr>
        <p:spPr>
          <a:xfrm>
            <a:off x="2814955" y="3111500"/>
            <a:ext cx="1597660" cy="814705"/>
          </a:xfrm>
          <a:prstGeom prst="rect">
            <a:avLst/>
          </a:prstGeom>
          <a:noFill/>
        </p:spPr>
        <p:txBody>
          <a:bodyPr wrap="square">
            <a:spAutoFit/>
          </a:bodyPr>
          <a:lstStyle/>
          <a:p>
            <a:pPr indent="0" fontAlgn="auto">
              <a:lnSpc>
                <a:spcPts val="1880"/>
              </a:lnSpc>
              <a:defRPr>
                <a:latin typeface="微软雅黑"/>
                <a:ea typeface="微软雅黑"/>
                <a:cs typeface="微软雅黑"/>
              </a:defRPr>
            </a:pPr>
            <a:r>
              <a:rPr lang="zh-CN" altLang="en-US" sz="1200" dirty="0">
                <a:solidFill>
                  <a:srgbClr val="383838"/>
                </a:solidFill>
                <a:latin typeface="微软雅黑"/>
                <a:ea typeface="微软雅黑"/>
                <a:cs typeface="微软雅黑"/>
              </a:rPr>
              <a:t>选择</a:t>
            </a:r>
            <a:r>
              <a:rPr lang="en-US" altLang="zh-CN" sz="1200" dirty="0">
                <a:solidFill>
                  <a:srgbClr val="383838"/>
                </a:solidFill>
                <a:latin typeface="微软雅黑"/>
                <a:ea typeface="微软雅黑"/>
                <a:cs typeface="微软雅黑"/>
              </a:rPr>
              <a:t>2-3</a:t>
            </a:r>
            <a:r>
              <a:rPr lang="zh-CN" altLang="en-US" sz="1200" dirty="0">
                <a:solidFill>
                  <a:srgbClr val="383838"/>
                </a:solidFill>
                <a:latin typeface="微软雅黑"/>
                <a:ea typeface="微软雅黑"/>
                <a:cs typeface="微软雅黑"/>
              </a:rPr>
              <a:t>个新平台进行低成本内容测试，筛选最优渠道。</a:t>
            </a:r>
            <a:endParaRPr lang="zh-CN" altLang="en-US" sz="1200" dirty="0">
              <a:solidFill>
                <a:srgbClr val="383838"/>
              </a:solidFill>
              <a:latin typeface="微软雅黑"/>
              <a:ea typeface="微软雅黑"/>
              <a:cs typeface="微软雅黑"/>
            </a:endParaRPr>
          </a:p>
        </p:txBody>
      </p:sp>
      <p:sp>
        <p:nvSpPr>
          <p:cNvPr id="119" name="矩形 118"/>
          <p:cNvSpPr/>
          <p:nvPr>
            <p:custDataLst>
              <p:tags r:id="rId19"/>
            </p:custDataLst>
          </p:nvPr>
        </p:nvSpPr>
        <p:spPr>
          <a:xfrm>
            <a:off x="4537075" y="2101850"/>
            <a:ext cx="1337945" cy="36830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100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爆品打造</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0" name="文本框 119"/>
          <p:cNvSpPr txBox="1"/>
          <p:nvPr>
            <p:custDataLst>
              <p:tags r:id="rId20"/>
            </p:custDataLst>
          </p:nvPr>
        </p:nvSpPr>
        <p:spPr>
          <a:xfrm>
            <a:off x="4516755" y="2481580"/>
            <a:ext cx="1661795" cy="814705"/>
          </a:xfrm>
          <a:prstGeom prst="rect">
            <a:avLst/>
          </a:prstGeom>
          <a:noFill/>
        </p:spPr>
        <p:txBody>
          <a:bodyPr wrap="square">
            <a:spAutoFit/>
          </a:bodyPr>
          <a:lstStyle/>
          <a:p>
            <a:pPr indent="0" fontAlgn="auto">
              <a:lnSpc>
                <a:spcPts val="1880"/>
              </a:lnSpc>
              <a:defRPr>
                <a:latin typeface="微软雅黑"/>
                <a:ea typeface="微软雅黑"/>
                <a:cs typeface="微软雅黑"/>
              </a:defRPr>
            </a:pPr>
            <a:r>
              <a:rPr lang="zh-CN" altLang="en-US" sz="1200" dirty="0">
                <a:solidFill>
                  <a:srgbClr val="383838"/>
                </a:solidFill>
                <a:latin typeface="微软雅黑"/>
                <a:ea typeface="微软雅黑"/>
                <a:cs typeface="微软雅黑"/>
              </a:rPr>
              <a:t>借力五一、母亲节、</a:t>
            </a:r>
            <a:r>
              <a:rPr lang="en-US" altLang="zh-CN" sz="1200" dirty="0">
                <a:solidFill>
                  <a:srgbClr val="383838"/>
                </a:solidFill>
                <a:latin typeface="微软雅黑"/>
                <a:ea typeface="微软雅黑"/>
                <a:cs typeface="微软雅黑"/>
              </a:rPr>
              <a:t>618</a:t>
            </a:r>
            <a:r>
              <a:rPr lang="zh-CN" altLang="en-US" sz="1200" dirty="0">
                <a:solidFill>
                  <a:srgbClr val="383838"/>
                </a:solidFill>
                <a:latin typeface="微软雅黑"/>
                <a:ea typeface="微软雅黑"/>
                <a:cs typeface="微软雅黑"/>
              </a:rPr>
              <a:t>等策划话题活动，获取平台流量。</a:t>
            </a:r>
            <a:endParaRPr lang="zh-CN" altLang="en-US" sz="1200" dirty="0">
              <a:solidFill>
                <a:srgbClr val="383838"/>
              </a:solidFill>
              <a:latin typeface="微软雅黑"/>
              <a:ea typeface="微软雅黑"/>
              <a:cs typeface="微软雅黑"/>
            </a:endParaRPr>
          </a:p>
        </p:txBody>
      </p:sp>
      <p:sp>
        <p:nvSpPr>
          <p:cNvPr id="121" name="矩形 120"/>
          <p:cNvSpPr/>
          <p:nvPr>
            <p:custDataLst>
              <p:tags r:id="rId21"/>
            </p:custDataLst>
          </p:nvPr>
        </p:nvSpPr>
        <p:spPr>
          <a:xfrm>
            <a:off x="6322695" y="2101850"/>
            <a:ext cx="1337945" cy="36830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100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私域沉淀</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2" name="矩形 121"/>
          <p:cNvSpPr/>
          <p:nvPr>
            <p:custDataLst>
              <p:tags r:id="rId22"/>
            </p:custDataLst>
          </p:nvPr>
        </p:nvSpPr>
        <p:spPr>
          <a:xfrm>
            <a:off x="8161020" y="2774315"/>
            <a:ext cx="1337945" cy="36830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100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变现提效</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3" name="矩形 122"/>
          <p:cNvSpPr/>
          <p:nvPr>
            <p:custDataLst>
              <p:tags r:id="rId23"/>
            </p:custDataLst>
          </p:nvPr>
        </p:nvSpPr>
        <p:spPr>
          <a:xfrm>
            <a:off x="9674860" y="3957320"/>
            <a:ext cx="1337945" cy="36830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100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rPr>
              <a:t>收官布局</a:t>
            </a:r>
            <a:endParaRPr kumimoji="0" lang="zh-CN" altLang="en-US"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4" name="文本框 123"/>
          <p:cNvSpPr txBox="1"/>
          <p:nvPr>
            <p:custDataLst>
              <p:tags r:id="rId24"/>
            </p:custDataLst>
          </p:nvPr>
        </p:nvSpPr>
        <p:spPr>
          <a:xfrm>
            <a:off x="6224270" y="2481580"/>
            <a:ext cx="1661795" cy="814705"/>
          </a:xfrm>
          <a:prstGeom prst="rect">
            <a:avLst/>
          </a:prstGeom>
          <a:noFill/>
        </p:spPr>
        <p:txBody>
          <a:bodyPr wrap="square">
            <a:spAutoFit/>
          </a:bodyPr>
          <a:lstStyle/>
          <a:p>
            <a:pPr indent="0" fontAlgn="auto">
              <a:lnSpc>
                <a:spcPts val="1880"/>
              </a:lnSpc>
              <a:defRPr>
                <a:latin typeface="微软雅黑"/>
                <a:ea typeface="微软雅黑"/>
                <a:cs typeface="微软雅黑"/>
              </a:defRPr>
            </a:pPr>
            <a:r>
              <a:rPr lang="zh-CN" altLang="en-US" sz="1200" dirty="0">
                <a:solidFill>
                  <a:srgbClr val="383838"/>
                </a:solidFill>
                <a:latin typeface="微软雅黑"/>
                <a:ea typeface="微软雅黑"/>
                <a:cs typeface="微软雅黑"/>
              </a:rPr>
              <a:t>优化主页钩子（报告</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福利），引导公域用户进入企微或社群。</a:t>
            </a:r>
            <a:endParaRPr lang="zh-CN" altLang="en-US" sz="1200" dirty="0">
              <a:solidFill>
                <a:srgbClr val="383838"/>
              </a:solidFill>
              <a:latin typeface="微软雅黑"/>
              <a:ea typeface="微软雅黑"/>
              <a:cs typeface="微软雅黑"/>
            </a:endParaRPr>
          </a:p>
        </p:txBody>
      </p:sp>
      <p:sp>
        <p:nvSpPr>
          <p:cNvPr id="125" name="文本框 124"/>
          <p:cNvSpPr txBox="1"/>
          <p:nvPr>
            <p:custDataLst>
              <p:tags r:id="rId25"/>
            </p:custDataLst>
          </p:nvPr>
        </p:nvSpPr>
        <p:spPr>
          <a:xfrm>
            <a:off x="8013065" y="3142615"/>
            <a:ext cx="1661795" cy="814705"/>
          </a:xfrm>
          <a:prstGeom prst="rect">
            <a:avLst/>
          </a:prstGeom>
          <a:noFill/>
        </p:spPr>
        <p:txBody>
          <a:bodyPr wrap="square">
            <a:spAutoFit/>
          </a:bodyPr>
          <a:lstStyle/>
          <a:p>
            <a:pPr indent="0" fontAlgn="auto">
              <a:lnSpc>
                <a:spcPts val="1880"/>
              </a:lnSpc>
              <a:defRPr>
                <a:latin typeface="微软雅黑"/>
                <a:ea typeface="微软雅黑"/>
                <a:cs typeface="微软雅黑"/>
              </a:defRPr>
            </a:pPr>
            <a:r>
              <a:rPr lang="zh-CN" altLang="en-US" sz="1200" dirty="0">
                <a:solidFill>
                  <a:srgbClr val="383838"/>
                </a:solidFill>
                <a:latin typeface="微软雅黑"/>
                <a:ea typeface="微软雅黑"/>
                <a:cs typeface="微软雅黑"/>
              </a:rPr>
              <a:t>加大用户证言、案例拆解、直播频次，制作</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临门一脚</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物料。</a:t>
            </a:r>
            <a:endParaRPr lang="en-US" altLang="zh-CN" sz="1200" dirty="0">
              <a:solidFill>
                <a:srgbClr val="383838"/>
              </a:solidFill>
              <a:latin typeface="微软雅黑"/>
              <a:ea typeface="微软雅黑"/>
              <a:cs typeface="微软雅黑"/>
            </a:endParaRPr>
          </a:p>
        </p:txBody>
      </p:sp>
      <p:sp>
        <p:nvSpPr>
          <p:cNvPr id="127" name="文本框 126"/>
          <p:cNvSpPr txBox="1"/>
          <p:nvPr>
            <p:custDataLst>
              <p:tags r:id="rId26"/>
            </p:custDataLst>
          </p:nvPr>
        </p:nvSpPr>
        <p:spPr>
          <a:xfrm>
            <a:off x="9512935" y="4327525"/>
            <a:ext cx="1661795" cy="814705"/>
          </a:xfrm>
          <a:prstGeom prst="rect">
            <a:avLst/>
          </a:prstGeom>
          <a:noFill/>
        </p:spPr>
        <p:txBody>
          <a:bodyPr wrap="square">
            <a:spAutoFit/>
          </a:bodyPr>
          <a:lstStyle/>
          <a:p>
            <a:pPr indent="0" fontAlgn="auto">
              <a:lnSpc>
                <a:spcPts val="1880"/>
              </a:lnSpc>
              <a:defRPr>
                <a:latin typeface="微软雅黑"/>
                <a:ea typeface="微软雅黑"/>
                <a:cs typeface="微软雅黑"/>
              </a:defRPr>
            </a:pPr>
            <a:r>
              <a:rPr lang="zh-CN" altLang="en-US" sz="1200" dirty="0">
                <a:solidFill>
                  <a:srgbClr val="383838"/>
                </a:solidFill>
                <a:latin typeface="微软雅黑"/>
                <a:ea typeface="微软雅黑"/>
                <a:cs typeface="微软雅黑"/>
              </a:rPr>
              <a:t>双十一</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双旦提前蓄水，直播带货与短视频种草密集配合。</a:t>
            </a:r>
            <a:endParaRPr lang="zh-CN" altLang="en-US" sz="1200" dirty="0">
              <a:solidFill>
                <a:srgbClr val="383838"/>
              </a:solidFill>
              <a:latin typeface="微软雅黑"/>
              <a:ea typeface="微软雅黑"/>
              <a:cs typeface="微软雅黑"/>
            </a:endParaRPr>
          </a:p>
        </p:txBody>
      </p:sp>
      <p:sp>
        <p:nvSpPr>
          <p:cNvPr id="128" name="文本框 127"/>
          <p:cNvSpPr txBox="1"/>
          <p:nvPr>
            <p:custDataLst>
              <p:tags r:id="rId27"/>
            </p:custDataLst>
          </p:nvPr>
        </p:nvSpPr>
        <p:spPr>
          <a:xfrm>
            <a:off x="918210" y="4420870"/>
            <a:ext cx="1597660" cy="814705"/>
          </a:xfrm>
          <a:prstGeom prst="rect">
            <a:avLst/>
          </a:prstGeom>
          <a:noFill/>
        </p:spPr>
        <p:txBody>
          <a:bodyPr wrap="square">
            <a:spAutoFit/>
          </a:bodyPr>
          <a:lstStyle/>
          <a:p>
            <a:pPr indent="0" fontAlgn="auto">
              <a:lnSpc>
                <a:spcPts val="1880"/>
              </a:lnSpc>
              <a:defRPr>
                <a:latin typeface="微软雅黑"/>
                <a:ea typeface="微软雅黑"/>
                <a:cs typeface="微软雅黑"/>
              </a:defRPr>
            </a:pPr>
            <a:r>
              <a:rPr lang="zh-CN" altLang="en-US" sz="1200" dirty="0">
                <a:solidFill>
                  <a:srgbClr val="383838"/>
                </a:solidFill>
                <a:latin typeface="微软雅黑"/>
                <a:ea typeface="微软雅黑"/>
                <a:cs typeface="微软雅黑"/>
              </a:rPr>
              <a:t>分析上年度数据，确定高潜力渠道与爆款内容模型。</a:t>
            </a:r>
            <a:endParaRPr lang="zh-CN" altLang="en-US" sz="1200" dirty="0">
              <a:solidFill>
                <a:srgbClr val="383838"/>
              </a:solidFill>
              <a:latin typeface="微软雅黑"/>
              <a:ea typeface="微软雅黑"/>
              <a:cs typeface="微软雅黑"/>
            </a:endParaRPr>
          </a:p>
        </p:txBody>
      </p:sp>
      <p:pic>
        <p:nvPicPr>
          <p:cNvPr id="130" name="图片 129" descr="建筑基地"/>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1656080" y="3175635"/>
            <a:ext cx="417830" cy="417830"/>
          </a:xfrm>
          <a:prstGeom prst="rect">
            <a:avLst/>
          </a:prstGeom>
        </p:spPr>
      </p:pic>
      <p:pic>
        <p:nvPicPr>
          <p:cNvPr id="131" name="图片 130" descr="流量"/>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3186113" y="2024063"/>
            <a:ext cx="351155" cy="351155"/>
          </a:xfrm>
          <a:prstGeom prst="rect">
            <a:avLst/>
          </a:prstGeom>
        </p:spPr>
      </p:pic>
      <p:pic>
        <p:nvPicPr>
          <p:cNvPr id="132" name="图片 131" descr="爆品"/>
          <p:cNvPicPr>
            <a:picLocks noChangeAspect="1"/>
          </p:cNvPicPr>
          <p:nvPr/>
        </p:nvPicPr>
        <p:blipFill>
          <a:blip r:embed="rId32">
            <a:extLst>
              <a:ext uri="{96DAC541-7B7A-43D3-8B79-37D633B846F1}">
                <asvg:svgBlip xmlns:asvg="http://schemas.microsoft.com/office/drawing/2016/SVG/main" r:embed="rId33"/>
              </a:ext>
            </a:extLst>
          </a:blip>
          <a:stretch>
            <a:fillRect/>
          </a:stretch>
        </p:blipFill>
        <p:spPr>
          <a:xfrm>
            <a:off x="4977130" y="1352233"/>
            <a:ext cx="457835" cy="457835"/>
          </a:xfrm>
          <a:prstGeom prst="rect">
            <a:avLst/>
          </a:prstGeom>
        </p:spPr>
      </p:pic>
      <p:pic>
        <p:nvPicPr>
          <p:cNvPr id="133" name="图片 132" descr="私域设置"/>
          <p:cNvPicPr>
            <a:picLocks noChangeAspect="1"/>
          </p:cNvPicPr>
          <p:nvPr/>
        </p:nvPicPr>
        <p:blipFill>
          <a:blip r:embed="rId34">
            <a:extLst>
              <a:ext uri="{96DAC541-7B7A-43D3-8B79-37D633B846F1}">
                <asvg:svgBlip xmlns:asvg="http://schemas.microsoft.com/office/drawing/2016/SVG/main" r:embed="rId35"/>
              </a:ext>
            </a:extLst>
          </a:blip>
          <a:stretch>
            <a:fillRect/>
          </a:stretch>
        </p:blipFill>
        <p:spPr>
          <a:xfrm>
            <a:off x="6793548" y="1383030"/>
            <a:ext cx="396240" cy="396240"/>
          </a:xfrm>
          <a:prstGeom prst="rect">
            <a:avLst/>
          </a:prstGeom>
        </p:spPr>
      </p:pic>
      <p:pic>
        <p:nvPicPr>
          <p:cNvPr id="134" name="图片 133" descr="变现"/>
          <p:cNvPicPr>
            <a:picLocks noChangeAspect="1"/>
          </p:cNvPicPr>
          <p:nvPr/>
        </p:nvPicPr>
        <p:blipFill>
          <a:blip r:embed="rId36">
            <a:extLst>
              <a:ext uri="{96DAC541-7B7A-43D3-8B79-37D633B846F1}">
                <asvg:svgBlip xmlns:asvg="http://schemas.microsoft.com/office/drawing/2016/SVG/main" r:embed="rId37"/>
              </a:ext>
            </a:extLst>
          </a:blip>
          <a:stretch>
            <a:fillRect/>
          </a:stretch>
        </p:blipFill>
        <p:spPr>
          <a:xfrm>
            <a:off x="8654733" y="2024063"/>
            <a:ext cx="351155" cy="351155"/>
          </a:xfrm>
          <a:prstGeom prst="rect">
            <a:avLst/>
          </a:prstGeom>
        </p:spPr>
      </p:pic>
      <p:pic>
        <p:nvPicPr>
          <p:cNvPr id="135" name="图片 134" descr="收官"/>
          <p:cNvPicPr>
            <a:picLocks noChangeAspect="1"/>
          </p:cNvPicPr>
          <p:nvPr/>
        </p:nvPicPr>
        <p:blipFill>
          <a:blip r:embed="rId38">
            <a:extLst>
              <a:ext uri="{96DAC541-7B7A-43D3-8B79-37D633B846F1}">
                <asvg:svgBlip xmlns:asvg="http://schemas.microsoft.com/office/drawing/2016/SVG/main" r:embed="rId39"/>
              </a:ext>
            </a:extLst>
          </a:blip>
          <a:stretch>
            <a:fillRect/>
          </a:stretch>
        </p:blipFill>
        <p:spPr>
          <a:xfrm>
            <a:off x="10171113" y="3214053"/>
            <a:ext cx="340995" cy="340995"/>
          </a:xfrm>
          <a:prstGeom prst="rect">
            <a:avLst/>
          </a:prstGeom>
        </p:spPr>
      </p:pic>
      <p:grpSp>
        <p:nvGrpSpPr>
          <p:cNvPr id="144" name="组合 143"/>
          <p:cNvGrpSpPr/>
          <p:nvPr/>
        </p:nvGrpSpPr>
        <p:grpSpPr>
          <a:xfrm>
            <a:off x="3765550" y="3555365"/>
            <a:ext cx="4652645" cy="4306570"/>
            <a:chOff x="5966" y="5599"/>
            <a:chExt cx="7327" cy="6782"/>
          </a:xfrm>
        </p:grpSpPr>
        <p:sp>
          <p:nvSpPr>
            <p:cNvPr id="126" name="弧形 125"/>
            <p:cNvSpPr/>
            <p:nvPr/>
          </p:nvSpPr>
          <p:spPr>
            <a:xfrm>
              <a:off x="5966" y="5607"/>
              <a:ext cx="7327" cy="6774"/>
            </a:xfrm>
            <a:prstGeom prst="arc">
              <a:avLst>
                <a:gd name="adj1" fmla="val 10822587"/>
                <a:gd name="adj2" fmla="val 21596595"/>
              </a:avLst>
            </a:prstGeom>
            <a:noFill/>
            <a:ln w="19050" cap="rnd">
              <a:gradFill>
                <a:gsLst>
                  <a:gs pos="0">
                    <a:srgbClr val="FFFFFF"/>
                  </a:gs>
                  <a:gs pos="100000">
                    <a:srgbClr val="FFFFFF"/>
                  </a:gs>
                </a:gsLst>
                <a:lin ang="5400000" scaled="1"/>
              </a:gradFill>
              <a:prstDash val="sys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234" name="椭圆 233"/>
            <p:cNvSpPr/>
            <p:nvPr/>
          </p:nvSpPr>
          <p:spPr>
            <a:xfrm flipV="1">
              <a:off x="5985" y="8007"/>
              <a:ext cx="252" cy="238"/>
            </a:xfrm>
            <a:prstGeom prst="ellipse">
              <a:avLst/>
            </a:prstGeom>
            <a:solidFill>
              <a:srgbClr val="B3D4FE"/>
            </a:solidFill>
            <a:ln w="381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7" name="椭圆 136"/>
            <p:cNvSpPr/>
            <p:nvPr/>
          </p:nvSpPr>
          <p:spPr>
            <a:xfrm flipV="1">
              <a:off x="6893" y="6476"/>
              <a:ext cx="252" cy="238"/>
            </a:xfrm>
            <a:prstGeom prst="ellipse">
              <a:avLst/>
            </a:prstGeom>
            <a:solidFill>
              <a:srgbClr val="B3D4FE"/>
            </a:solidFill>
            <a:ln w="381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8" name="椭圆 137"/>
            <p:cNvSpPr/>
            <p:nvPr/>
          </p:nvSpPr>
          <p:spPr>
            <a:xfrm flipV="1">
              <a:off x="8420" y="5627"/>
              <a:ext cx="252" cy="238"/>
            </a:xfrm>
            <a:prstGeom prst="ellipse">
              <a:avLst/>
            </a:prstGeom>
            <a:solidFill>
              <a:srgbClr val="B3D4FE"/>
            </a:solidFill>
            <a:ln w="381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0" name="椭圆 139"/>
            <p:cNvSpPr/>
            <p:nvPr/>
          </p:nvSpPr>
          <p:spPr>
            <a:xfrm flipV="1">
              <a:off x="10320" y="5599"/>
              <a:ext cx="252" cy="238"/>
            </a:xfrm>
            <a:prstGeom prst="ellipse">
              <a:avLst/>
            </a:prstGeom>
            <a:solidFill>
              <a:srgbClr val="B3D4FE"/>
            </a:solidFill>
            <a:ln w="381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1" name="椭圆 140"/>
            <p:cNvSpPr/>
            <p:nvPr/>
          </p:nvSpPr>
          <p:spPr>
            <a:xfrm flipV="1">
              <a:off x="13041" y="8141"/>
              <a:ext cx="252" cy="238"/>
            </a:xfrm>
            <a:prstGeom prst="ellipse">
              <a:avLst/>
            </a:prstGeom>
            <a:solidFill>
              <a:srgbClr val="B3D4FE"/>
            </a:solidFill>
            <a:ln w="381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3" name="椭圆 142"/>
            <p:cNvSpPr/>
            <p:nvPr/>
          </p:nvSpPr>
          <p:spPr>
            <a:xfrm flipV="1">
              <a:off x="12278" y="6657"/>
              <a:ext cx="252" cy="238"/>
            </a:xfrm>
            <a:prstGeom prst="ellipse">
              <a:avLst/>
            </a:prstGeom>
            <a:solidFill>
              <a:srgbClr val="B3D4FE"/>
            </a:solidFill>
            <a:ln w="381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品牌战略成长阶段</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3" name="任意多边形: 形状 15"/>
          <p:cNvSpPr/>
          <p:nvPr/>
        </p:nvSpPr>
        <p:spPr>
          <a:xfrm>
            <a:off x="1144905" y="1489075"/>
            <a:ext cx="9776460" cy="5054600"/>
          </a:xfrm>
          <a:custGeom>
            <a:avLst/>
            <a:gdLst>
              <a:gd name="connsiteX0" fmla="*/ 2386084 w 4772168"/>
              <a:gd name="connsiteY0" fmla="*/ 0 h 2454838"/>
              <a:gd name="connsiteX1" fmla="*/ 4772168 w 4772168"/>
              <a:gd name="connsiteY1" fmla="*/ 2386084 h 2454838"/>
              <a:gd name="connsiteX2" fmla="*/ 4768696 w 4772168"/>
              <a:gd name="connsiteY2" fmla="*/ 2454838 h 2454838"/>
              <a:gd name="connsiteX3" fmla="*/ 3472 w 4772168"/>
              <a:gd name="connsiteY3" fmla="*/ 2454838 h 2454838"/>
              <a:gd name="connsiteX4" fmla="*/ 0 w 4772168"/>
              <a:gd name="connsiteY4" fmla="*/ 2386084 h 2454838"/>
              <a:gd name="connsiteX5" fmla="*/ 2386084 w 4772168"/>
              <a:gd name="connsiteY5" fmla="*/ 0 h 245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2168" h="2454838">
                <a:moveTo>
                  <a:pt x="2386084" y="0"/>
                </a:moveTo>
                <a:cubicBezTo>
                  <a:pt x="3703882" y="0"/>
                  <a:pt x="4772168" y="1068286"/>
                  <a:pt x="4772168" y="2386084"/>
                </a:cubicBezTo>
                <a:lnTo>
                  <a:pt x="4768696" y="2454838"/>
                </a:lnTo>
                <a:lnTo>
                  <a:pt x="3472" y="2454838"/>
                </a:lnTo>
                <a:lnTo>
                  <a:pt x="0" y="2386084"/>
                </a:lnTo>
                <a:cubicBezTo>
                  <a:pt x="0" y="1068286"/>
                  <a:pt x="1068286" y="0"/>
                  <a:pt x="2386084" y="0"/>
                </a:cubicBezTo>
                <a:close/>
              </a:path>
            </a:pathLst>
          </a:custGeom>
          <a:gradFill>
            <a:gsLst>
              <a:gs pos="0">
                <a:srgbClr val="E6E6E6">
                  <a:alpha val="50000"/>
                </a:srgbClr>
              </a:gs>
              <a:gs pos="100000">
                <a:srgbClr val="E6E6E6">
                  <a:alpha val="0"/>
                </a:srgbClr>
              </a:gs>
            </a:gsLst>
            <a:lin ang="5580000" scaled="1"/>
          </a:gradFill>
          <a:ln>
            <a:solidFill>
              <a:srgbClr val="3368FF">
                <a:alpha val="6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 name="任意多边形: 形状 15"/>
          <p:cNvSpPr/>
          <p:nvPr/>
        </p:nvSpPr>
        <p:spPr>
          <a:xfrm>
            <a:off x="3137535" y="3491865"/>
            <a:ext cx="5791200" cy="3044825"/>
          </a:xfrm>
          <a:custGeom>
            <a:avLst/>
            <a:gdLst>
              <a:gd name="connsiteX0" fmla="*/ 2386084 w 4772168"/>
              <a:gd name="connsiteY0" fmla="*/ 0 h 2454838"/>
              <a:gd name="connsiteX1" fmla="*/ 4772168 w 4772168"/>
              <a:gd name="connsiteY1" fmla="*/ 2386084 h 2454838"/>
              <a:gd name="connsiteX2" fmla="*/ 4768696 w 4772168"/>
              <a:gd name="connsiteY2" fmla="*/ 2454838 h 2454838"/>
              <a:gd name="connsiteX3" fmla="*/ 3472 w 4772168"/>
              <a:gd name="connsiteY3" fmla="*/ 2454838 h 2454838"/>
              <a:gd name="connsiteX4" fmla="*/ 0 w 4772168"/>
              <a:gd name="connsiteY4" fmla="*/ 2386084 h 2454838"/>
              <a:gd name="connsiteX5" fmla="*/ 2386084 w 4772168"/>
              <a:gd name="connsiteY5" fmla="*/ 0 h 245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2168" h="2454838">
                <a:moveTo>
                  <a:pt x="2386084" y="0"/>
                </a:moveTo>
                <a:cubicBezTo>
                  <a:pt x="3703882" y="0"/>
                  <a:pt x="4772168" y="1068286"/>
                  <a:pt x="4772168" y="2386084"/>
                </a:cubicBezTo>
                <a:lnTo>
                  <a:pt x="4768696" y="2454838"/>
                </a:lnTo>
                <a:lnTo>
                  <a:pt x="3472" y="2454838"/>
                </a:lnTo>
                <a:lnTo>
                  <a:pt x="0" y="2386084"/>
                </a:lnTo>
                <a:cubicBezTo>
                  <a:pt x="0" y="1068286"/>
                  <a:pt x="1068286" y="0"/>
                  <a:pt x="2386084" y="0"/>
                </a:cubicBezTo>
                <a:close/>
              </a:path>
            </a:pathLst>
          </a:custGeom>
          <a:gradFill>
            <a:gsLst>
              <a:gs pos="0">
                <a:srgbClr val="668EFF"/>
              </a:gs>
              <a:gs pos="100000">
                <a:srgbClr val="3368FF"/>
              </a:gs>
            </a:gsLst>
            <a:lin ang="558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 name="任意多边形: 形状 16"/>
          <p:cNvSpPr/>
          <p:nvPr/>
        </p:nvSpPr>
        <p:spPr>
          <a:xfrm>
            <a:off x="4022090" y="4394835"/>
            <a:ext cx="4022090" cy="2157095"/>
          </a:xfrm>
          <a:custGeom>
            <a:avLst/>
            <a:gdLst>
              <a:gd name="connsiteX0" fmla="*/ 1596785 w 3193570"/>
              <a:gd name="connsiteY0" fmla="*/ 0 h 1665539"/>
              <a:gd name="connsiteX1" fmla="*/ 3193570 w 3193570"/>
              <a:gd name="connsiteY1" fmla="*/ 1596785 h 1665539"/>
              <a:gd name="connsiteX2" fmla="*/ 3190098 w 3193570"/>
              <a:gd name="connsiteY2" fmla="*/ 1665539 h 1665539"/>
              <a:gd name="connsiteX3" fmla="*/ 3472 w 3193570"/>
              <a:gd name="connsiteY3" fmla="*/ 1665539 h 1665539"/>
              <a:gd name="connsiteX4" fmla="*/ 0 w 3193570"/>
              <a:gd name="connsiteY4" fmla="*/ 1596785 h 1665539"/>
              <a:gd name="connsiteX5" fmla="*/ 1596785 w 3193570"/>
              <a:gd name="connsiteY5" fmla="*/ 0 h 166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3570" h="1665539">
                <a:moveTo>
                  <a:pt x="1596785" y="0"/>
                </a:moveTo>
                <a:cubicBezTo>
                  <a:pt x="2478665" y="0"/>
                  <a:pt x="3193570" y="714905"/>
                  <a:pt x="3193570" y="1596785"/>
                </a:cubicBezTo>
                <a:lnTo>
                  <a:pt x="3190098" y="1665539"/>
                </a:lnTo>
                <a:lnTo>
                  <a:pt x="3472" y="1665539"/>
                </a:lnTo>
                <a:lnTo>
                  <a:pt x="0" y="1596785"/>
                </a:lnTo>
                <a:cubicBezTo>
                  <a:pt x="0" y="714905"/>
                  <a:pt x="714905" y="0"/>
                  <a:pt x="1596785" y="0"/>
                </a:cubicBezTo>
                <a:close/>
              </a:path>
            </a:pathLst>
          </a:custGeom>
          <a:gradFill>
            <a:gsLst>
              <a:gs pos="0">
                <a:srgbClr val="3368FF"/>
              </a:gs>
              <a:gs pos="100000">
                <a:srgbClr val="0042FF"/>
              </a:gs>
            </a:gsLst>
            <a:lin ang="5400000" scaled="0"/>
          </a:gradFill>
          <a:ln w="12700" cap="flat" cmpd="sng" algn="ctr">
            <a:solidFill>
              <a:srgbClr val="FFFFFF"/>
            </a:solidFill>
            <a:prstDash val="solid"/>
            <a:miter lim="800000"/>
          </a:ln>
          <a:effectLst/>
        </p:spPr>
        <p:txBody>
          <a:bodyPr wrap="square" rtlCol="0" anchor="ctr">
            <a:noAutofit/>
          </a:bodyPr>
          <a:lstStyle/>
          <a:p>
            <a:pPr algn="ctr">
              <a:defRPr>
                <a:solidFill>
                  <a:srgbClr val="FFFFFF"/>
                </a:solidFill>
                <a:latin typeface="微软雅黑"/>
                <a:ea typeface="微软雅黑"/>
                <a:cs typeface="微软雅黑"/>
              </a:defRPr>
            </a:pPr>
            <a:endParaRPr lang="zh-CN" altLang="en-US" sz="2000">
              <a:solidFill>
                <a:srgbClr val="FFFFFF"/>
              </a:solidFill>
              <a:latin typeface="微软雅黑"/>
              <a:ea typeface="微软雅黑"/>
              <a:cs typeface="微软雅黑"/>
            </a:endParaRPr>
          </a:p>
        </p:txBody>
      </p:sp>
      <p:sp>
        <p:nvSpPr>
          <p:cNvPr id="30" name="文本框 29"/>
          <p:cNvSpPr txBox="1"/>
          <p:nvPr/>
        </p:nvSpPr>
        <p:spPr>
          <a:xfrm>
            <a:off x="4241165" y="6228080"/>
            <a:ext cx="591185" cy="184150"/>
          </a:xfrm>
          <a:prstGeom prst="rect">
            <a:avLst/>
          </a:prstGeom>
          <a:noFill/>
        </p:spPr>
        <p:txBody>
          <a:bodyPr wrap="square" lIns="0" tIns="0" rIns="0" bIns="0" rtlCol="0">
            <a:spAutoFit/>
          </a:bodyPr>
          <a:lstStyle/>
          <a:p>
            <a:pP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初创期</a:t>
            </a:r>
            <a:endParaRPr lang="zh-CN" altLang="en-US" sz="1200" dirty="0">
              <a:solidFill>
                <a:srgbClr val="FFFFFF"/>
              </a:solidFill>
              <a:latin typeface="微软雅黑"/>
              <a:ea typeface="微软雅黑"/>
              <a:cs typeface="微软雅黑"/>
            </a:endParaRPr>
          </a:p>
        </p:txBody>
      </p:sp>
      <p:sp>
        <p:nvSpPr>
          <p:cNvPr id="31" name="文本框 30"/>
          <p:cNvSpPr txBox="1"/>
          <p:nvPr/>
        </p:nvSpPr>
        <p:spPr>
          <a:xfrm>
            <a:off x="4337170" y="5750674"/>
            <a:ext cx="457200" cy="18415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传播期</a:t>
            </a:r>
            <a:endParaRPr lang="zh-CN" sz="1200" dirty="0">
              <a:solidFill>
                <a:srgbClr val="FFFFFF"/>
              </a:solidFill>
              <a:latin typeface="微软雅黑"/>
              <a:ea typeface="微软雅黑"/>
              <a:cs typeface="微软雅黑"/>
            </a:endParaRPr>
          </a:p>
        </p:txBody>
      </p:sp>
      <p:sp>
        <p:nvSpPr>
          <p:cNvPr id="33" name="文本框 32"/>
          <p:cNvSpPr txBox="1"/>
          <p:nvPr/>
        </p:nvSpPr>
        <p:spPr>
          <a:xfrm>
            <a:off x="4794027" y="5087902"/>
            <a:ext cx="457200" cy="368935"/>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新品</a:t>
            </a:r>
            <a:endParaRPr 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发布期</a:t>
            </a:r>
            <a:endParaRPr lang="zh-CN" sz="1200" dirty="0">
              <a:solidFill>
                <a:srgbClr val="FFFFFF"/>
              </a:solidFill>
              <a:latin typeface="微软雅黑"/>
              <a:ea typeface="微软雅黑"/>
              <a:cs typeface="微软雅黑"/>
            </a:endParaRPr>
          </a:p>
        </p:txBody>
      </p:sp>
      <p:sp>
        <p:nvSpPr>
          <p:cNvPr id="36" name="文本框 35"/>
          <p:cNvSpPr txBox="1"/>
          <p:nvPr/>
        </p:nvSpPr>
        <p:spPr>
          <a:xfrm>
            <a:off x="7362926" y="6270084"/>
            <a:ext cx="609600" cy="184150"/>
          </a:xfrm>
          <a:prstGeom prst="rect">
            <a:avLst/>
          </a:prstGeom>
          <a:noFill/>
        </p:spPr>
        <p:txBody>
          <a:bodyPr wrap="none" lIns="0" tIns="0" rIns="0" bIns="0" rtlCol="0">
            <a:spAutoFit/>
          </a:bodyPr>
          <a:lstStyle/>
          <a:p>
            <a:pP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第二曲线</a:t>
            </a:r>
            <a:endParaRPr lang="zh-CN" altLang="en-US" sz="1200" dirty="0">
              <a:solidFill>
                <a:srgbClr val="FFFFFF"/>
              </a:solidFill>
              <a:latin typeface="微软雅黑"/>
              <a:ea typeface="微软雅黑"/>
              <a:cs typeface="微软雅黑"/>
            </a:endParaRPr>
          </a:p>
        </p:txBody>
      </p:sp>
      <p:cxnSp>
        <p:nvCxnSpPr>
          <p:cNvPr id="2" name="直接连接符 1"/>
          <p:cNvCxnSpPr/>
          <p:nvPr/>
        </p:nvCxnSpPr>
        <p:spPr>
          <a:xfrm flipH="1" flipV="1">
            <a:off x="3211302" y="5819737"/>
            <a:ext cx="2896235" cy="720725"/>
          </a:xfrm>
          <a:prstGeom prst="line">
            <a:avLst/>
          </a:prstGeom>
          <a:noFill/>
          <a:ln w="9525" cap="flat" cmpd="sng" algn="ctr">
            <a:solidFill>
              <a:srgbClr val="FFFFFF"/>
            </a:solidFill>
            <a:prstDash val="dash"/>
            <a:miter lim="800000"/>
          </a:ln>
          <a:effectLst/>
        </p:spPr>
      </p:cxnSp>
      <p:cxnSp>
        <p:nvCxnSpPr>
          <p:cNvPr id="81" name="直接连接符 80"/>
          <p:cNvCxnSpPr/>
          <p:nvPr/>
        </p:nvCxnSpPr>
        <p:spPr>
          <a:xfrm flipH="1" flipV="1">
            <a:off x="3653361" y="4786825"/>
            <a:ext cx="2466975" cy="1760220"/>
          </a:xfrm>
          <a:prstGeom prst="line">
            <a:avLst/>
          </a:prstGeom>
          <a:noFill/>
          <a:ln w="9525" cap="flat" cmpd="sng" algn="ctr">
            <a:solidFill>
              <a:srgbClr val="FFFFFF"/>
            </a:solidFill>
            <a:prstDash val="dash"/>
            <a:miter lim="800000"/>
          </a:ln>
          <a:effectLst/>
        </p:spPr>
      </p:cxnSp>
      <p:cxnSp>
        <p:nvCxnSpPr>
          <p:cNvPr id="82" name="直接连接符 81"/>
          <p:cNvCxnSpPr/>
          <p:nvPr/>
        </p:nvCxnSpPr>
        <p:spPr>
          <a:xfrm flipH="1" flipV="1">
            <a:off x="4722942" y="3807160"/>
            <a:ext cx="1377950" cy="2713990"/>
          </a:xfrm>
          <a:prstGeom prst="line">
            <a:avLst/>
          </a:prstGeom>
          <a:noFill/>
          <a:ln w="9525" cap="flat" cmpd="sng" algn="ctr">
            <a:solidFill>
              <a:srgbClr val="FFFFFF"/>
            </a:solidFill>
            <a:prstDash val="dash"/>
            <a:miter lim="800000"/>
          </a:ln>
          <a:effectLst/>
        </p:spPr>
      </p:cxnSp>
      <p:cxnSp>
        <p:nvCxnSpPr>
          <p:cNvPr id="3" name="直接连接符 2"/>
          <p:cNvCxnSpPr/>
          <p:nvPr/>
        </p:nvCxnSpPr>
        <p:spPr>
          <a:xfrm flipV="1">
            <a:off x="6145497" y="5877701"/>
            <a:ext cx="2693670" cy="643890"/>
          </a:xfrm>
          <a:prstGeom prst="line">
            <a:avLst/>
          </a:prstGeom>
          <a:noFill/>
          <a:ln w="9525" cap="flat" cmpd="sng" algn="ctr">
            <a:solidFill>
              <a:srgbClr val="FFFFFF"/>
            </a:solidFill>
            <a:prstDash val="dash"/>
            <a:miter lim="800000"/>
          </a:ln>
          <a:effectLst/>
        </p:spPr>
      </p:cxnSp>
      <p:cxnSp>
        <p:nvCxnSpPr>
          <p:cNvPr id="84" name="直接连接符 83"/>
          <p:cNvCxnSpPr/>
          <p:nvPr/>
        </p:nvCxnSpPr>
        <p:spPr>
          <a:xfrm flipV="1">
            <a:off x="6094599" y="4838439"/>
            <a:ext cx="2387600" cy="1695450"/>
          </a:xfrm>
          <a:prstGeom prst="line">
            <a:avLst/>
          </a:prstGeom>
          <a:noFill/>
          <a:ln w="9525" cap="flat" cmpd="sng" algn="ctr">
            <a:solidFill>
              <a:srgbClr val="FFFFFF"/>
            </a:solidFill>
            <a:prstDash val="dash"/>
            <a:miter lim="800000"/>
          </a:ln>
          <a:effectLst/>
        </p:spPr>
      </p:cxnSp>
      <p:cxnSp>
        <p:nvCxnSpPr>
          <p:cNvPr id="85" name="直接连接符 84"/>
          <p:cNvCxnSpPr/>
          <p:nvPr/>
        </p:nvCxnSpPr>
        <p:spPr>
          <a:xfrm flipV="1">
            <a:off x="6114043" y="3889255"/>
            <a:ext cx="1368425" cy="2632075"/>
          </a:xfrm>
          <a:prstGeom prst="line">
            <a:avLst/>
          </a:prstGeom>
          <a:noFill/>
          <a:ln w="9525" cap="flat" cmpd="sng" algn="ctr">
            <a:solidFill>
              <a:srgbClr val="FFFFFF"/>
            </a:solidFill>
            <a:prstDash val="dash"/>
            <a:miter lim="800000"/>
          </a:ln>
          <a:effectLst/>
        </p:spPr>
      </p:cxnSp>
      <p:cxnSp>
        <p:nvCxnSpPr>
          <p:cNvPr id="86" name="直接连接符 85"/>
          <p:cNvCxnSpPr/>
          <p:nvPr/>
        </p:nvCxnSpPr>
        <p:spPr>
          <a:xfrm flipH="1" flipV="1">
            <a:off x="6088192" y="3469975"/>
            <a:ext cx="8255" cy="3082290"/>
          </a:xfrm>
          <a:prstGeom prst="line">
            <a:avLst/>
          </a:prstGeom>
          <a:noFill/>
          <a:ln w="9525" cap="flat" cmpd="sng" algn="ctr">
            <a:solidFill>
              <a:srgbClr val="FFFFFF"/>
            </a:solidFill>
            <a:prstDash val="dash"/>
            <a:miter lim="800000"/>
          </a:ln>
          <a:effectLst/>
        </p:spPr>
      </p:cxnSp>
      <p:sp>
        <p:nvSpPr>
          <p:cNvPr id="90" name="任意多边形: 形状 17"/>
          <p:cNvSpPr/>
          <p:nvPr/>
        </p:nvSpPr>
        <p:spPr>
          <a:xfrm>
            <a:off x="4925219" y="5323745"/>
            <a:ext cx="2215832" cy="1211603"/>
          </a:xfrm>
          <a:custGeom>
            <a:avLst/>
            <a:gdLst>
              <a:gd name="connsiteX0" fmla="*/ 980364 w 1960728"/>
              <a:gd name="connsiteY0" fmla="*/ 0 h 1049118"/>
              <a:gd name="connsiteX1" fmla="*/ 1960728 w 1960728"/>
              <a:gd name="connsiteY1" fmla="*/ 980364 h 1049118"/>
              <a:gd name="connsiteX2" fmla="*/ 1953797 w 1960728"/>
              <a:gd name="connsiteY2" fmla="*/ 1049118 h 1049118"/>
              <a:gd name="connsiteX3" fmla="*/ 6931 w 1960728"/>
              <a:gd name="connsiteY3" fmla="*/ 1049118 h 1049118"/>
              <a:gd name="connsiteX4" fmla="*/ 0 w 1960728"/>
              <a:gd name="connsiteY4" fmla="*/ 980364 h 1049118"/>
              <a:gd name="connsiteX5" fmla="*/ 980364 w 1960728"/>
              <a:gd name="connsiteY5" fmla="*/ 0 h 1049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0728" h="1049118">
                <a:moveTo>
                  <a:pt x="980364" y="0"/>
                </a:moveTo>
                <a:cubicBezTo>
                  <a:pt x="1521804" y="0"/>
                  <a:pt x="1960728" y="438924"/>
                  <a:pt x="1960728" y="980364"/>
                </a:cubicBezTo>
                <a:lnTo>
                  <a:pt x="1953797" y="1049118"/>
                </a:lnTo>
                <a:lnTo>
                  <a:pt x="6931" y="1049118"/>
                </a:lnTo>
                <a:lnTo>
                  <a:pt x="0" y="980364"/>
                </a:lnTo>
                <a:cubicBezTo>
                  <a:pt x="0" y="438924"/>
                  <a:pt x="438924" y="0"/>
                  <a:pt x="980364" y="0"/>
                </a:cubicBezTo>
                <a:close/>
              </a:path>
            </a:pathLst>
          </a:custGeom>
          <a:gradFill>
            <a:gsLst>
              <a:gs pos="0">
                <a:srgbClr val="B3D4FE"/>
              </a:gs>
              <a:gs pos="100000">
                <a:srgbClr val="3368FF"/>
              </a:gs>
            </a:gsLst>
            <a:lin ang="5400000" scaled="0"/>
          </a:gradFill>
          <a:ln w="12700" cap="flat" cmpd="sng" algn="ctr">
            <a:solidFill>
              <a:srgbClr val="FFFFFF"/>
            </a:solidFill>
            <a:prstDash val="solid"/>
            <a:miter lim="800000"/>
          </a:ln>
          <a:effectLst/>
        </p:spPr>
        <p:txBody>
          <a:bodyPr wrap="square" rtlCol="0" anchor="ctr">
            <a:noAutofit/>
          </a:body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91" name="文本框 90"/>
          <p:cNvSpPr txBox="1"/>
          <p:nvPr/>
        </p:nvSpPr>
        <p:spPr>
          <a:xfrm>
            <a:off x="5571687" y="5756190"/>
            <a:ext cx="1016000" cy="615315"/>
          </a:xfrm>
          <a:prstGeom prst="rect">
            <a:avLst/>
          </a:prstGeom>
          <a:noFill/>
        </p:spPr>
        <p:txBody>
          <a:bodyPr wrap="none" lIns="0" tIns="0" rIns="0" bIns="0" rtlCol="0">
            <a:spAutoFit/>
          </a:bodyPr>
          <a:lstStyle/>
          <a:p>
            <a:pPr algn="ctr">
              <a:defRPr>
                <a:latin typeface="微软雅黑"/>
                <a:ea typeface="微软雅黑"/>
                <a:cs typeface="微软雅黑"/>
              </a:defRPr>
            </a:pPr>
            <a:r>
              <a:rPr lang="zh-CN" sz="2000" b="1" dirty="0">
                <a:solidFill>
                  <a:srgbClr val="383838"/>
                </a:solidFill>
                <a:latin typeface="微软雅黑"/>
                <a:ea typeface="微软雅黑"/>
                <a:cs typeface="微软雅黑"/>
              </a:rPr>
              <a:t>品牌战略</a:t>
            </a:r>
            <a:endParaRPr lang="zh-CN" sz="2000" b="1" dirty="0">
              <a:solidFill>
                <a:srgbClr val="383838"/>
              </a:solidFill>
              <a:latin typeface="微软雅黑"/>
              <a:ea typeface="微软雅黑"/>
              <a:cs typeface="微软雅黑"/>
            </a:endParaRPr>
          </a:p>
          <a:p>
            <a:pPr algn="ctr">
              <a:defRPr>
                <a:latin typeface="微软雅黑"/>
                <a:ea typeface="微软雅黑"/>
                <a:cs typeface="微软雅黑"/>
              </a:defRPr>
            </a:pPr>
            <a:r>
              <a:rPr lang="zh-CN" sz="2000" b="1" dirty="0">
                <a:solidFill>
                  <a:srgbClr val="383838"/>
                </a:solidFill>
                <a:latin typeface="微软雅黑"/>
                <a:ea typeface="微软雅黑"/>
                <a:cs typeface="微软雅黑"/>
              </a:rPr>
              <a:t>成长阶段</a:t>
            </a:r>
            <a:endParaRPr lang="zh-CN" sz="2000" b="1" dirty="0">
              <a:solidFill>
                <a:srgbClr val="383838"/>
              </a:solidFill>
              <a:latin typeface="微软雅黑"/>
              <a:ea typeface="微软雅黑"/>
              <a:cs typeface="微软雅黑"/>
            </a:endParaRPr>
          </a:p>
        </p:txBody>
      </p:sp>
      <p:sp>
        <p:nvSpPr>
          <p:cNvPr id="95" name="文本框 94"/>
          <p:cNvSpPr txBox="1"/>
          <p:nvPr/>
        </p:nvSpPr>
        <p:spPr>
          <a:xfrm>
            <a:off x="5526525" y="4841989"/>
            <a:ext cx="457200" cy="18415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成长期</a:t>
            </a:r>
            <a:endParaRPr lang="zh-CN" sz="1200" dirty="0">
              <a:solidFill>
                <a:srgbClr val="FFFFFF"/>
              </a:solidFill>
              <a:latin typeface="微软雅黑"/>
              <a:ea typeface="微软雅黑"/>
              <a:cs typeface="微软雅黑"/>
            </a:endParaRPr>
          </a:p>
        </p:txBody>
      </p:sp>
      <p:sp>
        <p:nvSpPr>
          <p:cNvPr id="99" name="文本框 98"/>
          <p:cNvSpPr txBox="1"/>
          <p:nvPr/>
        </p:nvSpPr>
        <p:spPr>
          <a:xfrm>
            <a:off x="3300095" y="6311900"/>
            <a:ext cx="591185" cy="15367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阶段</a:t>
            </a:r>
            <a:r>
              <a:rPr lang="en-US" altLang="zh-CN" sz="1000" b="1" dirty="0">
                <a:solidFill>
                  <a:srgbClr val="FFFFFF"/>
                </a:solidFill>
                <a:latin typeface="微软雅黑"/>
                <a:ea typeface="微软雅黑"/>
                <a:cs typeface="微软雅黑"/>
              </a:rPr>
              <a:t> </a:t>
            </a:r>
            <a:r>
              <a:rPr lang="zh-CN" altLang="en-US" sz="1000" b="1" dirty="0">
                <a:solidFill>
                  <a:srgbClr val="FFFFFF"/>
                </a:solidFill>
                <a:latin typeface="微软雅黑"/>
                <a:ea typeface="微软雅黑"/>
                <a:cs typeface="微软雅黑"/>
              </a:rPr>
              <a:t>I</a:t>
            </a:r>
            <a:endParaRPr lang="zh-CN" altLang="en-US" sz="1000" b="1" dirty="0">
              <a:solidFill>
                <a:srgbClr val="FFFFFF"/>
              </a:solidFill>
              <a:latin typeface="微软雅黑"/>
              <a:ea typeface="微软雅黑"/>
              <a:cs typeface="微软雅黑"/>
            </a:endParaRPr>
          </a:p>
        </p:txBody>
      </p:sp>
      <p:sp>
        <p:nvSpPr>
          <p:cNvPr id="101" name="文本框 100"/>
          <p:cNvSpPr txBox="1"/>
          <p:nvPr/>
        </p:nvSpPr>
        <p:spPr>
          <a:xfrm>
            <a:off x="3479800" y="5596890"/>
            <a:ext cx="591185" cy="15367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阶段</a:t>
            </a:r>
            <a:r>
              <a:rPr lang="en-US" altLang="zh-CN" sz="1000" b="1" dirty="0">
                <a:solidFill>
                  <a:srgbClr val="FFFFFF"/>
                </a:solidFill>
                <a:latin typeface="微软雅黑"/>
                <a:ea typeface="微软雅黑"/>
                <a:cs typeface="微软雅黑"/>
              </a:rPr>
              <a:t> </a:t>
            </a:r>
            <a:r>
              <a:rPr lang="zh-CN" altLang="en-US" sz="1000" b="1" dirty="0">
                <a:solidFill>
                  <a:srgbClr val="FFFFFF"/>
                </a:solidFill>
                <a:latin typeface="微软雅黑"/>
                <a:ea typeface="微软雅黑"/>
                <a:cs typeface="微软雅黑"/>
              </a:rPr>
              <a:t>II</a:t>
            </a:r>
            <a:endParaRPr lang="zh-CN" altLang="en-US" sz="1000" b="1" dirty="0">
              <a:solidFill>
                <a:srgbClr val="FFFFFF"/>
              </a:solidFill>
              <a:latin typeface="微软雅黑"/>
              <a:ea typeface="微软雅黑"/>
              <a:cs typeface="微软雅黑"/>
            </a:endParaRPr>
          </a:p>
        </p:txBody>
      </p:sp>
      <p:sp>
        <p:nvSpPr>
          <p:cNvPr id="103" name="文本框 102"/>
          <p:cNvSpPr txBox="1"/>
          <p:nvPr/>
        </p:nvSpPr>
        <p:spPr>
          <a:xfrm>
            <a:off x="4149725" y="4747895"/>
            <a:ext cx="591185" cy="15367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阶段</a:t>
            </a:r>
            <a:r>
              <a:rPr lang="en-US" altLang="zh-CN" sz="1000" b="1" dirty="0">
                <a:solidFill>
                  <a:srgbClr val="FFFFFF"/>
                </a:solidFill>
                <a:latin typeface="微软雅黑"/>
                <a:ea typeface="微软雅黑"/>
                <a:cs typeface="微软雅黑"/>
              </a:rPr>
              <a:t> </a:t>
            </a:r>
            <a:r>
              <a:rPr lang="zh-CN" altLang="en-US" sz="1000" b="1" dirty="0">
                <a:solidFill>
                  <a:srgbClr val="FFFFFF"/>
                </a:solidFill>
                <a:latin typeface="微软雅黑"/>
                <a:ea typeface="微软雅黑"/>
                <a:cs typeface="微软雅黑"/>
              </a:rPr>
              <a:t>III</a:t>
            </a:r>
            <a:endParaRPr lang="zh-CN" altLang="en-US" sz="1000" b="1" dirty="0">
              <a:solidFill>
                <a:srgbClr val="FFFFFF"/>
              </a:solidFill>
              <a:latin typeface="微软雅黑"/>
              <a:ea typeface="微软雅黑"/>
              <a:cs typeface="微软雅黑"/>
            </a:endParaRPr>
          </a:p>
        </p:txBody>
      </p:sp>
      <p:sp>
        <p:nvSpPr>
          <p:cNvPr id="106" name="文本框 105"/>
          <p:cNvSpPr txBox="1"/>
          <p:nvPr/>
        </p:nvSpPr>
        <p:spPr>
          <a:xfrm>
            <a:off x="5299075" y="4192270"/>
            <a:ext cx="591185" cy="15367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阶段</a:t>
            </a:r>
            <a:r>
              <a:rPr lang="en-US" altLang="zh-CN" sz="1000" b="1" dirty="0">
                <a:solidFill>
                  <a:srgbClr val="FFFFFF"/>
                </a:solidFill>
                <a:latin typeface="微软雅黑"/>
                <a:ea typeface="微软雅黑"/>
                <a:cs typeface="微软雅黑"/>
              </a:rPr>
              <a:t> </a:t>
            </a:r>
            <a:r>
              <a:rPr lang="zh-CN" altLang="en-US" sz="1000" b="1" dirty="0">
                <a:solidFill>
                  <a:srgbClr val="FFFFFF"/>
                </a:solidFill>
                <a:latin typeface="微软雅黑"/>
                <a:ea typeface="微软雅黑"/>
                <a:cs typeface="微软雅黑"/>
              </a:rPr>
              <a:t>IV</a:t>
            </a:r>
            <a:endParaRPr lang="zh-CN" altLang="en-US" sz="1000" b="1" dirty="0">
              <a:solidFill>
                <a:srgbClr val="FFFFFF"/>
              </a:solidFill>
              <a:latin typeface="微软雅黑"/>
              <a:ea typeface="微软雅黑"/>
              <a:cs typeface="微软雅黑"/>
            </a:endParaRPr>
          </a:p>
        </p:txBody>
      </p:sp>
      <p:sp>
        <p:nvSpPr>
          <p:cNvPr id="107" name="文本框 106"/>
          <p:cNvSpPr txBox="1"/>
          <p:nvPr/>
        </p:nvSpPr>
        <p:spPr>
          <a:xfrm>
            <a:off x="6277730" y="4748009"/>
            <a:ext cx="457200" cy="368935"/>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价值</a:t>
            </a:r>
            <a:endParaRPr 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产出期</a:t>
            </a:r>
            <a:endParaRPr lang="zh-CN" sz="1200" dirty="0">
              <a:solidFill>
                <a:srgbClr val="FFFFFF"/>
              </a:solidFill>
              <a:latin typeface="微软雅黑"/>
              <a:ea typeface="微软雅黑"/>
              <a:cs typeface="微软雅黑"/>
            </a:endParaRPr>
          </a:p>
        </p:txBody>
      </p:sp>
      <p:sp>
        <p:nvSpPr>
          <p:cNvPr id="108" name="文本框 107"/>
          <p:cNvSpPr txBox="1"/>
          <p:nvPr/>
        </p:nvSpPr>
        <p:spPr>
          <a:xfrm>
            <a:off x="6942575" y="5259819"/>
            <a:ext cx="457200" cy="18415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成熟期</a:t>
            </a:r>
            <a:endParaRPr lang="zh-CN" sz="1200" dirty="0">
              <a:solidFill>
                <a:srgbClr val="FFFFFF"/>
              </a:solidFill>
              <a:latin typeface="微软雅黑"/>
              <a:ea typeface="微软雅黑"/>
              <a:cs typeface="微软雅黑"/>
            </a:endParaRPr>
          </a:p>
        </p:txBody>
      </p:sp>
      <p:sp>
        <p:nvSpPr>
          <p:cNvPr id="109" name="文本框 108"/>
          <p:cNvSpPr txBox="1"/>
          <p:nvPr/>
        </p:nvSpPr>
        <p:spPr>
          <a:xfrm>
            <a:off x="7317225" y="5781789"/>
            <a:ext cx="457200" cy="18415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衰退期</a:t>
            </a:r>
            <a:endParaRPr lang="zh-CN" sz="1200" dirty="0">
              <a:solidFill>
                <a:srgbClr val="FFFFFF"/>
              </a:solidFill>
              <a:latin typeface="微软雅黑"/>
              <a:ea typeface="微软雅黑"/>
              <a:cs typeface="微软雅黑"/>
            </a:endParaRPr>
          </a:p>
        </p:txBody>
      </p:sp>
      <p:sp>
        <p:nvSpPr>
          <p:cNvPr id="111" name="文本框 110"/>
          <p:cNvSpPr txBox="1"/>
          <p:nvPr/>
        </p:nvSpPr>
        <p:spPr>
          <a:xfrm>
            <a:off x="6377305" y="4192270"/>
            <a:ext cx="591185" cy="153670"/>
          </a:xfrm>
          <a:prstGeom prst="rect">
            <a:avLst/>
          </a:prstGeom>
          <a:noFill/>
        </p:spPr>
        <p:txBody>
          <a:bodyPr wrap="square" lIns="0" tIns="0" rIns="0" bIns="0" rtlCol="0">
            <a:spAutoFit/>
          </a:bodyPr>
          <a:lstStyle/>
          <a:p>
            <a:pPr algn="ctr">
              <a:defRPr>
                <a:solidFill>
                  <a:srgbClr val="383838"/>
                </a:solidFill>
                <a:latin typeface="微软雅黑"/>
                <a:ea typeface="微软雅黑"/>
                <a:cs typeface="微软雅黑"/>
              </a:defRPr>
            </a:pPr>
            <a:r>
              <a:rPr lang="zh-CN" altLang="en-US" sz="1000" b="1" dirty="0">
                <a:solidFill>
                  <a:srgbClr val="383838"/>
                </a:solidFill>
                <a:latin typeface="微软雅黑"/>
                <a:ea typeface="微软雅黑"/>
                <a:cs typeface="微软雅黑"/>
              </a:rPr>
              <a:t>阶段</a:t>
            </a:r>
            <a:r>
              <a:rPr lang="en-US" altLang="zh-CN" sz="1000" b="1" dirty="0">
                <a:solidFill>
                  <a:srgbClr val="383838"/>
                </a:solidFill>
                <a:latin typeface="微软雅黑"/>
                <a:ea typeface="微软雅黑"/>
                <a:cs typeface="微软雅黑"/>
              </a:rPr>
              <a:t> V</a:t>
            </a:r>
            <a:endParaRPr lang="en-US" altLang="zh-CN" sz="1000" b="1" dirty="0">
              <a:solidFill>
                <a:srgbClr val="383838"/>
              </a:solidFill>
              <a:latin typeface="微软雅黑"/>
              <a:ea typeface="微软雅黑"/>
              <a:cs typeface="微软雅黑"/>
            </a:endParaRPr>
          </a:p>
        </p:txBody>
      </p:sp>
      <p:sp>
        <p:nvSpPr>
          <p:cNvPr id="113" name="文本框 112"/>
          <p:cNvSpPr txBox="1"/>
          <p:nvPr/>
        </p:nvSpPr>
        <p:spPr>
          <a:xfrm>
            <a:off x="7477760" y="4747895"/>
            <a:ext cx="591185" cy="15367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阶段</a:t>
            </a:r>
            <a:r>
              <a:rPr lang="en-US" altLang="zh-CN" sz="1000" b="1" dirty="0">
                <a:solidFill>
                  <a:srgbClr val="FFFFFF"/>
                </a:solidFill>
                <a:latin typeface="微软雅黑"/>
                <a:ea typeface="微软雅黑"/>
                <a:cs typeface="微软雅黑"/>
              </a:rPr>
              <a:t> VI</a:t>
            </a:r>
            <a:endParaRPr lang="en-US" altLang="zh-CN" sz="1000" b="1" dirty="0">
              <a:solidFill>
                <a:srgbClr val="FFFFFF"/>
              </a:solidFill>
              <a:latin typeface="微软雅黑"/>
              <a:ea typeface="微软雅黑"/>
              <a:cs typeface="微软雅黑"/>
            </a:endParaRPr>
          </a:p>
        </p:txBody>
      </p:sp>
      <p:sp>
        <p:nvSpPr>
          <p:cNvPr id="115" name="文本框 114"/>
          <p:cNvSpPr txBox="1"/>
          <p:nvPr/>
        </p:nvSpPr>
        <p:spPr>
          <a:xfrm>
            <a:off x="8075295" y="5674995"/>
            <a:ext cx="591185" cy="15367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阶段</a:t>
            </a:r>
            <a:r>
              <a:rPr lang="en-US" altLang="zh-CN" sz="1000" dirty="0">
                <a:solidFill>
                  <a:srgbClr val="FFFFFF"/>
                </a:solidFill>
                <a:latin typeface="微软雅黑"/>
                <a:ea typeface="微软雅黑"/>
                <a:cs typeface="微软雅黑"/>
              </a:rPr>
              <a:t> VII</a:t>
            </a:r>
            <a:endParaRPr lang="en-US" altLang="zh-CN" sz="1000" dirty="0">
              <a:solidFill>
                <a:srgbClr val="FFFFFF"/>
              </a:solidFill>
              <a:latin typeface="微软雅黑"/>
              <a:ea typeface="微软雅黑"/>
              <a:cs typeface="微软雅黑"/>
            </a:endParaRPr>
          </a:p>
        </p:txBody>
      </p:sp>
      <p:sp>
        <p:nvSpPr>
          <p:cNvPr id="117" name="文本框 116"/>
          <p:cNvSpPr txBox="1"/>
          <p:nvPr/>
        </p:nvSpPr>
        <p:spPr>
          <a:xfrm>
            <a:off x="8224520" y="6311900"/>
            <a:ext cx="591185" cy="153670"/>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rPr>
              <a:t>阶段</a:t>
            </a:r>
            <a:r>
              <a:rPr lang="en-US" altLang="zh-CN" sz="1000" b="1" dirty="0">
                <a:solidFill>
                  <a:srgbClr val="FFFFFF"/>
                </a:solidFill>
                <a:latin typeface="微软雅黑"/>
                <a:ea typeface="微软雅黑"/>
                <a:cs typeface="微软雅黑"/>
              </a:rPr>
              <a:t> VIII</a:t>
            </a:r>
            <a:endParaRPr lang="en-US" altLang="zh-CN" sz="1000" b="1" dirty="0">
              <a:solidFill>
                <a:srgbClr val="FFFFFF"/>
              </a:solidFill>
              <a:latin typeface="微软雅黑"/>
              <a:ea typeface="微软雅黑"/>
              <a:cs typeface="微软雅黑"/>
            </a:endParaRPr>
          </a:p>
        </p:txBody>
      </p:sp>
      <p:sp>
        <p:nvSpPr>
          <p:cNvPr id="122" name="KMA6C131B21"/>
          <p:cNvSpPr>
            <a:spLocks noChangeArrowheads="1"/>
          </p:cNvSpPr>
          <p:nvPr>
            <p:custDataLst>
              <p:tags r:id="rId3"/>
            </p:custDataLst>
          </p:nvPr>
        </p:nvSpPr>
        <p:spPr bwMode="gray">
          <a:xfrm>
            <a:off x="2421255" y="2967355"/>
            <a:ext cx="1979930" cy="89281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sp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新品订单促进成交</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专注潜客运营，激励销售转化场景，赋能产品成交</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维系首批保客的用户口碑</a:t>
            </a:r>
            <a:endParaRPr lang="zh-CN" altLang="en-US" sz="1000" dirty="0">
              <a:solidFill>
                <a:srgbClr val="383838"/>
              </a:solidFill>
              <a:latin typeface="微软雅黑"/>
              <a:ea typeface="微软雅黑"/>
              <a:cs typeface="微软雅黑"/>
            </a:endParaRPr>
          </a:p>
        </p:txBody>
      </p:sp>
      <p:sp>
        <p:nvSpPr>
          <p:cNvPr id="125" name="KMA6C131B21"/>
          <p:cNvSpPr>
            <a:spLocks noChangeArrowheads="1"/>
          </p:cNvSpPr>
          <p:nvPr>
            <p:custDataLst>
              <p:tags r:id="rId4"/>
            </p:custDataLst>
          </p:nvPr>
        </p:nvSpPr>
        <p:spPr bwMode="gray">
          <a:xfrm>
            <a:off x="5947410" y="2096135"/>
            <a:ext cx="2082165" cy="10928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sp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促进保有客户的有效活跃，引导客户的衍生消费场景产出</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引导保有客户推荐购及增再购</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激励保有客户的口碑传播与品牌形象的进一步提升。</a:t>
            </a:r>
            <a:endParaRPr lang="zh-CN" altLang="en-US" sz="1000" dirty="0">
              <a:solidFill>
                <a:srgbClr val="383838"/>
              </a:solidFill>
              <a:latin typeface="微软雅黑"/>
              <a:ea typeface="微软雅黑"/>
              <a:cs typeface="微软雅黑"/>
            </a:endParaRPr>
          </a:p>
        </p:txBody>
      </p:sp>
      <p:sp>
        <p:nvSpPr>
          <p:cNvPr id="129" name="KMA6C131B21"/>
          <p:cNvSpPr>
            <a:spLocks noChangeArrowheads="1"/>
          </p:cNvSpPr>
          <p:nvPr>
            <p:custDataLst>
              <p:tags r:id="rId5"/>
            </p:custDataLst>
          </p:nvPr>
        </p:nvSpPr>
        <p:spPr bwMode="gray">
          <a:xfrm>
            <a:off x="7745730" y="2981325"/>
            <a:ext cx="2082165" cy="10928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sp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全生命周期完整运营</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实现客户全生命周期用户运营场景的</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完整布局和精益运营</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聚焦保客高价值场景的激励</a:t>
            </a:r>
            <a:endParaRPr lang="zh-CN" altLang="en-US" sz="1000" dirty="0">
              <a:solidFill>
                <a:srgbClr val="383838"/>
              </a:solidFill>
              <a:latin typeface="微软雅黑"/>
              <a:ea typeface="微软雅黑"/>
              <a:cs typeface="微软雅黑"/>
            </a:endParaRPr>
          </a:p>
        </p:txBody>
      </p:sp>
      <p:sp>
        <p:nvSpPr>
          <p:cNvPr id="131" name="KMA6C131B21"/>
          <p:cNvSpPr>
            <a:spLocks noChangeArrowheads="1"/>
          </p:cNvSpPr>
          <p:nvPr>
            <p:custDataLst>
              <p:tags r:id="rId6"/>
            </p:custDataLst>
          </p:nvPr>
        </p:nvSpPr>
        <p:spPr bwMode="gray">
          <a:xfrm>
            <a:off x="8885555" y="5828665"/>
            <a:ext cx="2277110" cy="69278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sp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维系高价值客户；</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引导保客向新品牌转化</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培养新粉丝基盘；</a:t>
            </a:r>
            <a:endParaRPr lang="zh-CN" altLang="en-US" sz="1000" dirty="0">
              <a:solidFill>
                <a:srgbClr val="383838"/>
              </a:solidFill>
              <a:latin typeface="微软雅黑"/>
              <a:ea typeface="微软雅黑"/>
              <a:cs typeface="微软雅黑"/>
            </a:endParaRPr>
          </a:p>
        </p:txBody>
      </p:sp>
      <p:sp>
        <p:nvSpPr>
          <p:cNvPr id="17" name="KMA6C131B21"/>
          <p:cNvSpPr>
            <a:spLocks noChangeArrowheads="1"/>
          </p:cNvSpPr>
          <p:nvPr>
            <p:custDataLst>
              <p:tags r:id="rId7"/>
            </p:custDataLst>
          </p:nvPr>
        </p:nvSpPr>
        <p:spPr bwMode="gray">
          <a:xfrm>
            <a:off x="4149725" y="2040890"/>
            <a:ext cx="1833880" cy="129286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sp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帮助品牌获得稳定流量，让品牌活跃在用户视野里</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曝光为主，获得热度比传播品牌价值更为重要</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通过打造价值观，与消费者建立更深度的关系</a:t>
            </a:r>
            <a:endParaRPr lang="zh-CN" altLang="en-US" sz="1000" dirty="0">
              <a:solidFill>
                <a:srgbClr val="383838"/>
              </a:solidFill>
              <a:latin typeface="微软雅黑"/>
              <a:ea typeface="微软雅黑"/>
              <a:cs typeface="微软雅黑"/>
            </a:endParaRPr>
          </a:p>
        </p:txBody>
      </p:sp>
      <p:sp>
        <p:nvSpPr>
          <p:cNvPr id="135" name="KMA6C131B21"/>
          <p:cNvSpPr>
            <a:spLocks noChangeArrowheads="1"/>
          </p:cNvSpPr>
          <p:nvPr>
            <p:custDataLst>
              <p:tags r:id="rId8"/>
            </p:custDataLst>
          </p:nvPr>
        </p:nvSpPr>
        <p:spPr bwMode="gray">
          <a:xfrm>
            <a:off x="8616315" y="4549140"/>
            <a:ext cx="1932305" cy="10928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sp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进入衰退期出现老用户流失，新用户承接不上问题；</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从根本上优化产品和品牌实现品牌焕新，以便重新进入受众视野。</a:t>
            </a:r>
            <a:endParaRPr lang="zh-CN" altLang="en-US" sz="1000" dirty="0">
              <a:solidFill>
                <a:srgbClr val="383838"/>
              </a:solidFill>
              <a:latin typeface="微软雅黑"/>
              <a:ea typeface="微软雅黑"/>
              <a:cs typeface="微软雅黑"/>
            </a:endParaRPr>
          </a:p>
        </p:txBody>
      </p:sp>
      <p:pic>
        <p:nvPicPr>
          <p:cNvPr id="52" name="图片 51" descr="1初创期"/>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479800" y="6015990"/>
            <a:ext cx="220980" cy="220980"/>
          </a:xfrm>
          <a:prstGeom prst="rect">
            <a:avLst/>
          </a:prstGeom>
        </p:spPr>
      </p:pic>
      <p:pic>
        <p:nvPicPr>
          <p:cNvPr id="53" name="图片 52" descr="单点重建"/>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397240" y="6015990"/>
            <a:ext cx="245745" cy="245745"/>
          </a:xfrm>
          <a:prstGeom prst="rect">
            <a:avLst/>
          </a:prstGeom>
        </p:spPr>
      </p:pic>
      <p:pic>
        <p:nvPicPr>
          <p:cNvPr id="55" name="图片 54" descr="3"/>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629660" y="5153660"/>
            <a:ext cx="591820" cy="479425"/>
          </a:xfrm>
          <a:prstGeom prst="rect">
            <a:avLst/>
          </a:prstGeom>
        </p:spPr>
      </p:pic>
      <p:pic>
        <p:nvPicPr>
          <p:cNvPr id="56" name="图片 55" descr="最新上架"/>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4271010" y="4300855"/>
            <a:ext cx="349250" cy="337820"/>
          </a:xfrm>
          <a:prstGeom prst="rect">
            <a:avLst/>
          </a:prstGeom>
        </p:spPr>
      </p:pic>
      <p:pic>
        <p:nvPicPr>
          <p:cNvPr id="57" name="图片 56" descr="成长期（点亮后）"/>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5448935" y="3742055"/>
            <a:ext cx="320040" cy="320040"/>
          </a:xfrm>
          <a:prstGeom prst="rect">
            <a:avLst/>
          </a:prstGeom>
        </p:spPr>
      </p:pic>
      <p:pic>
        <p:nvPicPr>
          <p:cNvPr id="58" name="图片 57" descr="业绩"/>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6461125" y="3726815"/>
            <a:ext cx="408305" cy="408305"/>
          </a:xfrm>
          <a:prstGeom prst="rect">
            <a:avLst/>
          </a:prstGeom>
        </p:spPr>
      </p:pic>
      <p:pic>
        <p:nvPicPr>
          <p:cNvPr id="59" name="图片 58" descr="成熟期"/>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0640000">
            <a:off x="7637145" y="4324350"/>
            <a:ext cx="321310" cy="321310"/>
          </a:xfrm>
          <a:prstGeom prst="rect">
            <a:avLst/>
          </a:prstGeom>
        </p:spPr>
      </p:pic>
      <p:pic>
        <p:nvPicPr>
          <p:cNvPr id="61" name="图片 60" descr="损失"/>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8144510" y="5213350"/>
            <a:ext cx="408940" cy="408940"/>
          </a:xfrm>
          <a:prstGeom prst="rect">
            <a:avLst/>
          </a:prstGeom>
        </p:spPr>
      </p:pic>
      <p:sp>
        <p:nvSpPr>
          <p:cNvPr id="105" name="文本框 104"/>
          <p:cNvSpPr txBox="1"/>
          <p:nvPr/>
        </p:nvSpPr>
        <p:spPr>
          <a:xfrm rot="1740000" flipH="1">
            <a:off x="7383780" y="1103630"/>
            <a:ext cx="1072515" cy="681355"/>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a:lnSpc>
                <a:spcPct val="120000"/>
              </a:lnSpc>
              <a:defRPr sz="2400" spc="15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sz="1600" spc="0" dirty="0">
                <a:latin typeface="微软雅黑"/>
                <a:ea typeface="微软雅黑"/>
                <a:cs typeface="微软雅黑"/>
                <a:sym typeface="微软雅黑"/>
              </a:rPr>
              <a:t>保客</a:t>
            </a:r>
            <a:endParaRPr lang="zh-CN" altLang="en-US" sz="1600" spc="0" dirty="0">
              <a:latin typeface="微软雅黑"/>
              <a:ea typeface="微软雅黑"/>
              <a:cs typeface="微软雅黑"/>
              <a:sym typeface="微软雅黑"/>
            </a:endParaRPr>
          </a:p>
          <a:p>
            <a:pPr>
              <a:defRPr>
                <a:latin typeface="微软雅黑"/>
                <a:ea typeface="微软雅黑"/>
                <a:cs typeface="微软雅黑"/>
              </a:defRPr>
            </a:pPr>
            <a:r>
              <a:rPr lang="zh-CN" altLang="en-US" sz="1600" spc="0" dirty="0">
                <a:latin typeface="微软雅黑"/>
                <a:ea typeface="微软雅黑"/>
                <a:cs typeface="微软雅黑"/>
                <a:sym typeface="微软雅黑"/>
              </a:rPr>
              <a:t>激励</a:t>
            </a:r>
            <a:endParaRPr lang="zh-CN" altLang="en-US" sz="1600" spc="0" dirty="0">
              <a:latin typeface="微软雅黑"/>
              <a:ea typeface="微软雅黑"/>
              <a:cs typeface="微软雅黑"/>
              <a:sym typeface="微软雅黑"/>
            </a:endParaRPr>
          </a:p>
        </p:txBody>
      </p:sp>
      <p:cxnSp>
        <p:nvCxnSpPr>
          <p:cNvPr id="138" name="直接连接符 137"/>
          <p:cNvCxnSpPr/>
          <p:nvPr/>
        </p:nvCxnSpPr>
        <p:spPr>
          <a:xfrm flipH="1" flipV="1">
            <a:off x="1269472" y="5342217"/>
            <a:ext cx="1917700" cy="466725"/>
          </a:xfrm>
          <a:prstGeom prst="line">
            <a:avLst/>
          </a:prstGeom>
          <a:noFill/>
          <a:ln w="9525" cap="flat" cmpd="sng" algn="ctr">
            <a:solidFill>
              <a:srgbClr val="668EFF"/>
            </a:solidFill>
            <a:prstDash val="dash"/>
            <a:miter lim="800000"/>
          </a:ln>
          <a:effectLst/>
        </p:spPr>
      </p:cxnSp>
      <p:cxnSp>
        <p:nvCxnSpPr>
          <p:cNvPr id="140" name="直接连接符 139"/>
          <p:cNvCxnSpPr/>
          <p:nvPr/>
        </p:nvCxnSpPr>
        <p:spPr>
          <a:xfrm flipH="1" flipV="1">
            <a:off x="2030936" y="3622235"/>
            <a:ext cx="1610360" cy="1149350"/>
          </a:xfrm>
          <a:prstGeom prst="line">
            <a:avLst/>
          </a:prstGeom>
          <a:noFill/>
          <a:ln w="9525" cap="flat" cmpd="sng" algn="ctr">
            <a:solidFill>
              <a:srgbClr val="668EFF"/>
            </a:solidFill>
            <a:prstDash val="dash"/>
            <a:miter lim="800000"/>
          </a:ln>
          <a:effectLst/>
        </p:spPr>
      </p:cxnSp>
      <p:cxnSp>
        <p:nvCxnSpPr>
          <p:cNvPr id="152" name="直接连接符 151"/>
          <p:cNvCxnSpPr/>
          <p:nvPr/>
        </p:nvCxnSpPr>
        <p:spPr>
          <a:xfrm flipH="1" flipV="1">
            <a:off x="3826716" y="2016955"/>
            <a:ext cx="899795" cy="1786255"/>
          </a:xfrm>
          <a:prstGeom prst="line">
            <a:avLst/>
          </a:prstGeom>
          <a:noFill/>
          <a:ln w="9525" cap="flat" cmpd="sng" algn="ctr">
            <a:solidFill>
              <a:srgbClr val="668EFF"/>
            </a:solidFill>
            <a:prstDash val="dash"/>
            <a:miter lim="800000"/>
          </a:ln>
          <a:effectLst/>
        </p:spPr>
      </p:cxnSp>
      <p:cxnSp>
        <p:nvCxnSpPr>
          <p:cNvPr id="153" name="直接连接符 152"/>
          <p:cNvCxnSpPr/>
          <p:nvPr/>
        </p:nvCxnSpPr>
        <p:spPr>
          <a:xfrm flipV="1">
            <a:off x="6088586" y="1483555"/>
            <a:ext cx="9525" cy="2024380"/>
          </a:xfrm>
          <a:prstGeom prst="line">
            <a:avLst/>
          </a:prstGeom>
          <a:noFill/>
          <a:ln w="9525" cap="flat" cmpd="sng" algn="ctr">
            <a:solidFill>
              <a:srgbClr val="668EFF"/>
            </a:solidFill>
            <a:prstDash val="dash"/>
            <a:miter lim="800000"/>
          </a:ln>
          <a:effectLst/>
        </p:spPr>
      </p:cxnSp>
      <p:sp>
        <p:nvSpPr>
          <p:cNvPr id="157" name="KMA6C131B21"/>
          <p:cNvSpPr>
            <a:spLocks noChangeArrowheads="1"/>
          </p:cNvSpPr>
          <p:nvPr>
            <p:custDataLst>
              <p:tags r:id="rId25"/>
            </p:custDataLst>
          </p:nvPr>
        </p:nvSpPr>
        <p:spPr bwMode="gray">
          <a:xfrm>
            <a:off x="1448435" y="4330700"/>
            <a:ext cx="1979930" cy="119634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no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互动传播美誉度提升</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对基盘用户有效促活，传递产品设计理念</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培养第一批种子用户，为新品上市销售预热准备</a:t>
            </a:r>
            <a:endParaRPr lang="zh-CN" altLang="en-US" sz="1000" dirty="0">
              <a:solidFill>
                <a:srgbClr val="383838"/>
              </a:solidFill>
              <a:latin typeface="微软雅黑"/>
              <a:ea typeface="微软雅黑"/>
              <a:cs typeface="微软雅黑"/>
            </a:endParaRPr>
          </a:p>
          <a:p>
            <a:pPr marL="171450" marR="0" lvl="1" indent="0" algn="l" defTabSz="981075" rtl="0" eaLnBrk="0" fontAlgn="auto" latinLnBrk="0" hangingPunct="0">
              <a:lnSpc>
                <a:spcPct val="130000"/>
              </a:lnSpc>
              <a:spcBef>
                <a:spcPts val="0"/>
              </a:spcBef>
              <a:spcAft>
                <a:spcPts val="0"/>
              </a:spcAft>
              <a:buClrTx/>
              <a:buSzPct val="100000"/>
              <a:buFont typeface="微软雅黑"/>
              <a:buNone/>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1" name="KMA6C131B21"/>
          <p:cNvSpPr>
            <a:spLocks noChangeArrowheads="1"/>
          </p:cNvSpPr>
          <p:nvPr>
            <p:custDataLst>
              <p:tags r:id="rId26"/>
            </p:custDataLst>
          </p:nvPr>
        </p:nvSpPr>
        <p:spPr bwMode="gray">
          <a:xfrm>
            <a:off x="1041400" y="5683250"/>
            <a:ext cx="1819910" cy="86931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E6E6E6"/>
                  </a:outerShdw>
                </a:effectLst>
              </a14:hiddenEffects>
            </a:ext>
          </a:extLst>
        </p:spPr>
        <p:txBody>
          <a:bodyPr wrap="square" lIns="0" tIns="0" rIns="0" bIns="0">
            <a:noAutofit/>
          </a:bodyPr>
          <a:lstStyle/>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配合新品牌宣传，通过公私域传递品牌理念</a:t>
            </a:r>
            <a:endParaRPr lang="zh-CN" altLang="en-US" sz="1000" dirty="0">
              <a:solidFill>
                <a:srgbClr val="383838"/>
              </a:solidFill>
              <a:latin typeface="微软雅黑"/>
              <a:ea typeface="微软雅黑"/>
              <a:cs typeface="微软雅黑"/>
            </a:endParaRPr>
          </a:p>
          <a:p>
            <a:pPr marL="285750" marR="0" lvl="1" indent="-114300" algn="l" defTabSz="981075" rtl="0" eaLnBrk="0" fontAlgn="auto" latinLnBrk="0" hangingPunct="0">
              <a:lnSpc>
                <a:spcPct val="130000"/>
              </a:lnSpc>
              <a:spcBef>
                <a:spcPts val="0"/>
              </a:spcBef>
              <a:spcAft>
                <a:spcPts val="0"/>
              </a:spcAft>
              <a:buClrTx/>
              <a:buSzPct val="100000"/>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专注粉丝拉新，构建用户运营基本盘</a:t>
            </a:r>
            <a:endParaRPr lang="zh-CN" altLang="en-US" sz="1000" dirty="0">
              <a:solidFill>
                <a:srgbClr val="383838"/>
              </a:solidFill>
              <a:latin typeface="微软雅黑"/>
              <a:ea typeface="微软雅黑"/>
              <a:cs typeface="微软雅黑"/>
            </a:endParaRPr>
          </a:p>
          <a:p>
            <a:pPr marL="171450" marR="0" lvl="1" indent="0" algn="l" defTabSz="981075" rtl="0" eaLnBrk="0" fontAlgn="auto" latinLnBrk="0" hangingPunct="0">
              <a:lnSpc>
                <a:spcPct val="130000"/>
              </a:lnSpc>
              <a:spcBef>
                <a:spcPts val="0"/>
              </a:spcBef>
              <a:spcAft>
                <a:spcPts val="0"/>
              </a:spcAft>
              <a:buClrTx/>
              <a:buSzPct val="100000"/>
              <a:buFont typeface="微软雅黑"/>
              <a:buNone/>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sp>
        <p:nvSpPr>
          <p:cNvPr id="167" name="泪滴形 13"/>
          <p:cNvSpPr/>
          <p:nvPr/>
        </p:nvSpPr>
        <p:spPr>
          <a:xfrm rot="6645395">
            <a:off x="2479675" y="2024380"/>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69" name="文本框 168"/>
          <p:cNvSpPr txBox="1"/>
          <p:nvPr/>
        </p:nvSpPr>
        <p:spPr>
          <a:xfrm rot="20100000">
            <a:off x="2299970" y="2092325"/>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新品</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促销</a:t>
            </a:r>
            <a:endParaRPr lang="zh-CN" altLang="en-US" sz="1300" spc="0" dirty="0">
              <a:solidFill>
                <a:srgbClr val="FFFFFF"/>
              </a:solidFill>
              <a:latin typeface="微软雅黑"/>
              <a:ea typeface="微软雅黑"/>
              <a:cs typeface="微软雅黑"/>
              <a:sym typeface="微软雅黑"/>
            </a:endParaRPr>
          </a:p>
        </p:txBody>
      </p:sp>
      <p:sp>
        <p:nvSpPr>
          <p:cNvPr id="171" name="泪滴形 13"/>
          <p:cNvSpPr/>
          <p:nvPr/>
        </p:nvSpPr>
        <p:spPr>
          <a:xfrm rot="5565395">
            <a:off x="1097280" y="3659505"/>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72" name="文本框 171"/>
          <p:cNvSpPr txBox="1"/>
          <p:nvPr/>
        </p:nvSpPr>
        <p:spPr>
          <a:xfrm rot="19020000">
            <a:off x="918845" y="3721735"/>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培育</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美誉</a:t>
            </a:r>
            <a:endParaRPr lang="zh-CN" altLang="en-US" sz="1300" spc="0" dirty="0">
              <a:solidFill>
                <a:srgbClr val="FFFFFF"/>
              </a:solidFill>
              <a:latin typeface="微软雅黑"/>
              <a:ea typeface="微软雅黑"/>
              <a:cs typeface="微软雅黑"/>
              <a:sym typeface="微软雅黑"/>
            </a:endParaRPr>
          </a:p>
        </p:txBody>
      </p:sp>
      <p:sp>
        <p:nvSpPr>
          <p:cNvPr id="174" name="泪滴形 13"/>
          <p:cNvSpPr/>
          <p:nvPr/>
        </p:nvSpPr>
        <p:spPr>
          <a:xfrm rot="4665395">
            <a:off x="448310" y="5463540"/>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75" name="文本框 174"/>
          <p:cNvSpPr txBox="1"/>
          <p:nvPr/>
        </p:nvSpPr>
        <p:spPr>
          <a:xfrm rot="18120000">
            <a:off x="269875" y="5520690"/>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品牌</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传播</a:t>
            </a:r>
            <a:endParaRPr lang="zh-CN" altLang="en-US" sz="1300" spc="0" dirty="0">
              <a:solidFill>
                <a:srgbClr val="FFFFFF"/>
              </a:solidFill>
              <a:latin typeface="微软雅黑"/>
              <a:ea typeface="微软雅黑"/>
              <a:cs typeface="微软雅黑"/>
              <a:sym typeface="微软雅黑"/>
            </a:endParaRPr>
          </a:p>
        </p:txBody>
      </p:sp>
      <p:sp>
        <p:nvSpPr>
          <p:cNvPr id="177" name="泪滴形 13"/>
          <p:cNvSpPr/>
          <p:nvPr/>
        </p:nvSpPr>
        <p:spPr>
          <a:xfrm rot="8145395">
            <a:off x="4766310" y="1031875"/>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78" name="文本框 177"/>
          <p:cNvSpPr txBox="1"/>
          <p:nvPr/>
        </p:nvSpPr>
        <p:spPr>
          <a:xfrm>
            <a:off x="4582795" y="1106170"/>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稳定</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声量</a:t>
            </a:r>
            <a:endParaRPr lang="zh-CN" altLang="en-US" sz="1300" spc="0" dirty="0">
              <a:solidFill>
                <a:srgbClr val="FFFFFF"/>
              </a:solidFill>
              <a:latin typeface="微软雅黑"/>
              <a:ea typeface="微软雅黑"/>
              <a:cs typeface="微软雅黑"/>
              <a:sym typeface="微软雅黑"/>
            </a:endParaRPr>
          </a:p>
        </p:txBody>
      </p:sp>
      <p:sp>
        <p:nvSpPr>
          <p:cNvPr id="180" name="泪滴形 13"/>
          <p:cNvSpPr/>
          <p:nvPr/>
        </p:nvSpPr>
        <p:spPr>
          <a:xfrm rot="15345396" flipH="1">
            <a:off x="9157970" y="2239645"/>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81" name="文本框 180"/>
          <p:cNvSpPr txBox="1"/>
          <p:nvPr/>
        </p:nvSpPr>
        <p:spPr>
          <a:xfrm rot="1800000" flipH="1">
            <a:off x="8944610" y="2305685"/>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客户</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运营</a:t>
            </a:r>
            <a:endParaRPr lang="zh-CN" altLang="en-US" sz="1300" spc="0" dirty="0">
              <a:solidFill>
                <a:srgbClr val="FFFFFF"/>
              </a:solidFill>
              <a:latin typeface="微软雅黑"/>
              <a:ea typeface="微软雅黑"/>
              <a:cs typeface="微软雅黑"/>
              <a:sym typeface="微软雅黑"/>
            </a:endParaRPr>
          </a:p>
        </p:txBody>
      </p:sp>
      <p:sp>
        <p:nvSpPr>
          <p:cNvPr id="193" name="泪滴形 13"/>
          <p:cNvSpPr/>
          <p:nvPr/>
        </p:nvSpPr>
        <p:spPr>
          <a:xfrm rot="16365395" flipH="1">
            <a:off x="10499725" y="3944620"/>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98" name="文本框 197"/>
          <p:cNvSpPr txBox="1"/>
          <p:nvPr/>
        </p:nvSpPr>
        <p:spPr>
          <a:xfrm rot="2820000" flipH="1">
            <a:off x="10285730" y="4005580"/>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承上</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启下</a:t>
            </a:r>
            <a:endParaRPr lang="zh-CN" altLang="en-US" sz="1300" spc="0" dirty="0">
              <a:solidFill>
                <a:srgbClr val="FFFFFF"/>
              </a:solidFill>
              <a:latin typeface="微软雅黑"/>
              <a:ea typeface="微软雅黑"/>
              <a:cs typeface="微软雅黑"/>
              <a:sym typeface="微软雅黑"/>
            </a:endParaRPr>
          </a:p>
        </p:txBody>
      </p:sp>
      <p:sp>
        <p:nvSpPr>
          <p:cNvPr id="201" name="泪滴形 13"/>
          <p:cNvSpPr/>
          <p:nvPr/>
        </p:nvSpPr>
        <p:spPr>
          <a:xfrm rot="17025395" flipH="1">
            <a:off x="10864850" y="5522595"/>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02" name="文本框 201"/>
          <p:cNvSpPr txBox="1"/>
          <p:nvPr/>
        </p:nvSpPr>
        <p:spPr>
          <a:xfrm rot="3480000" flipH="1">
            <a:off x="10651490" y="5579745"/>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二次</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创业</a:t>
            </a:r>
            <a:endParaRPr lang="zh-CN" altLang="en-US" sz="1300" spc="0" dirty="0">
              <a:solidFill>
                <a:srgbClr val="FFFFFF"/>
              </a:solidFill>
              <a:latin typeface="微软雅黑"/>
              <a:ea typeface="微软雅黑"/>
              <a:cs typeface="微软雅黑"/>
              <a:sym typeface="微软雅黑"/>
            </a:endParaRPr>
          </a:p>
        </p:txBody>
      </p:sp>
      <p:sp>
        <p:nvSpPr>
          <p:cNvPr id="204" name="泪滴形 13"/>
          <p:cNvSpPr/>
          <p:nvPr/>
        </p:nvSpPr>
        <p:spPr>
          <a:xfrm rot="18854606" flipH="1" flipV="1">
            <a:off x="6796405" y="1031875"/>
            <a:ext cx="680085" cy="694690"/>
          </a:xfrm>
          <a:prstGeom prst="teardrop">
            <a:avLst/>
          </a:prstGeom>
          <a:gradFill>
            <a:gsLst>
              <a:gs pos="100000">
                <a:srgbClr val="3368FF"/>
              </a:gs>
              <a:gs pos="0">
                <a:srgbClr val="0042FF"/>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05" name="文本框 204"/>
          <p:cNvSpPr txBox="1"/>
          <p:nvPr/>
        </p:nvSpPr>
        <p:spPr>
          <a:xfrm flipH="1">
            <a:off x="6587490" y="1106170"/>
            <a:ext cx="1072515" cy="570865"/>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2400" spc="15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老客</a:t>
            </a:r>
            <a:endParaRPr lang="zh-CN" altLang="en-US" sz="1300" spc="0" dirty="0">
              <a:solidFill>
                <a:srgbClr val="FFFFFF"/>
              </a:solidFill>
              <a:latin typeface="微软雅黑"/>
              <a:ea typeface="微软雅黑"/>
              <a:cs typeface="微软雅黑"/>
              <a:sym typeface="微软雅黑"/>
            </a:endParaRPr>
          </a:p>
          <a:p>
            <a:pPr>
              <a:defRPr>
                <a:solidFill>
                  <a:srgbClr val="FFFFFF"/>
                </a:solidFill>
                <a:latin typeface="微软雅黑"/>
                <a:ea typeface="微软雅黑"/>
                <a:cs typeface="微软雅黑"/>
              </a:defRPr>
            </a:pPr>
            <a:r>
              <a:rPr lang="zh-CN" altLang="en-US" sz="1300" spc="0" dirty="0">
                <a:solidFill>
                  <a:srgbClr val="FFFFFF"/>
                </a:solidFill>
                <a:latin typeface="微软雅黑"/>
                <a:ea typeface="微软雅黑"/>
                <a:cs typeface="微软雅黑"/>
                <a:sym typeface="微软雅黑"/>
              </a:rPr>
              <a:t>带新</a:t>
            </a:r>
            <a:endParaRPr lang="zh-CN" altLang="en-US" sz="1300" spc="0" dirty="0">
              <a:solidFill>
                <a:srgbClr val="FFFFFF"/>
              </a:solidFill>
              <a:latin typeface="微软雅黑"/>
              <a:ea typeface="微软雅黑"/>
              <a:cs typeface="微软雅黑"/>
              <a:sym typeface="微软雅黑"/>
            </a:endParaRPr>
          </a:p>
        </p:txBody>
      </p:sp>
      <p:cxnSp>
        <p:nvCxnSpPr>
          <p:cNvPr id="208" name="直接连接符 207"/>
          <p:cNvCxnSpPr/>
          <p:nvPr/>
        </p:nvCxnSpPr>
        <p:spPr>
          <a:xfrm flipV="1">
            <a:off x="7477966" y="2105220"/>
            <a:ext cx="930275" cy="1784350"/>
          </a:xfrm>
          <a:prstGeom prst="line">
            <a:avLst/>
          </a:prstGeom>
          <a:noFill/>
          <a:ln w="9525" cap="flat" cmpd="sng" algn="ctr">
            <a:solidFill>
              <a:srgbClr val="668EFF"/>
            </a:solidFill>
            <a:prstDash val="dash"/>
            <a:miter lim="800000"/>
          </a:ln>
          <a:effectLst/>
        </p:spPr>
      </p:cxnSp>
      <p:cxnSp>
        <p:nvCxnSpPr>
          <p:cNvPr id="219" name="直接连接符 218"/>
          <p:cNvCxnSpPr/>
          <p:nvPr/>
        </p:nvCxnSpPr>
        <p:spPr>
          <a:xfrm flipV="1">
            <a:off x="8473011" y="3691450"/>
            <a:ext cx="1640840" cy="1150620"/>
          </a:xfrm>
          <a:prstGeom prst="line">
            <a:avLst/>
          </a:prstGeom>
          <a:noFill/>
          <a:ln w="9525" cap="flat" cmpd="sng" algn="ctr">
            <a:solidFill>
              <a:srgbClr val="668EFF"/>
            </a:solidFill>
            <a:prstDash val="dash"/>
            <a:miter lim="800000"/>
          </a:ln>
          <a:effectLst/>
        </p:spPr>
      </p:cxnSp>
      <p:cxnSp>
        <p:nvCxnSpPr>
          <p:cNvPr id="220" name="直接连接符 219"/>
          <p:cNvCxnSpPr/>
          <p:nvPr/>
        </p:nvCxnSpPr>
        <p:spPr>
          <a:xfrm flipV="1">
            <a:off x="8890206" y="5412935"/>
            <a:ext cx="1920240" cy="459105"/>
          </a:xfrm>
          <a:prstGeom prst="line">
            <a:avLst/>
          </a:prstGeom>
          <a:noFill/>
          <a:ln w="9525" cap="flat" cmpd="sng" algn="ctr">
            <a:solidFill>
              <a:srgbClr val="668EFF"/>
            </a:solidFill>
            <a:prstDash val="dash"/>
            <a:miter lim="800000"/>
          </a:ln>
          <a:effectLst/>
        </p:spPr>
      </p:cxnSp>
      <p:cxnSp>
        <p:nvCxnSpPr>
          <p:cNvPr id="223" name="Grey bottom line"/>
          <p:cNvCxnSpPr/>
          <p:nvPr/>
        </p:nvCxnSpPr>
        <p:spPr>
          <a:xfrm>
            <a:off x="-22138" y="6536149"/>
            <a:ext cx="12236277" cy="0"/>
          </a:xfrm>
          <a:prstGeom prst="line">
            <a:avLst/>
          </a:prstGeom>
          <a:noFill/>
          <a:ln w="22225" cap="flat" cmpd="sng" algn="ctr">
            <a:solidFill>
              <a:srgbClr val="383838">
                <a:alpha val="50000"/>
              </a:srgbClr>
            </a:solidFill>
            <a:prstDash val="solid"/>
            <a:miter lim="800000"/>
          </a:ln>
          <a:effectLst/>
        </p:spPr>
      </p:cxnSp>
      <p:grpSp>
        <p:nvGrpSpPr>
          <p:cNvPr id="4" name="组合 3"/>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27"/>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 name="Grey bottom line"/>
          <p:cNvCxnSpPr/>
          <p:nvPr/>
        </p:nvCxnSpPr>
        <p:spPr>
          <a:xfrm>
            <a:off x="-22138" y="6543769"/>
            <a:ext cx="12236277" cy="0"/>
          </a:xfrm>
          <a:prstGeom prst="line">
            <a:avLst/>
          </a:prstGeom>
          <a:ln w="12700">
            <a:solidFill>
              <a:srgbClr val="DCDCDC"/>
            </a:solidFill>
          </a:ln>
          <a:effectLst/>
        </p:spPr>
        <p:style>
          <a:lnRef idx="2">
            <a:srgbClr val="0042FF"/>
          </a:lnRef>
          <a:fillRef idx="0">
            <a:srgbClr val="0042FF"/>
          </a:fillRef>
          <a:effectRef idx="1">
            <a:srgbClr val="0042FF"/>
          </a:effectRef>
          <a:fontRef idx="minor">
            <a:srgbClr val="383838"/>
          </a:fontRef>
        </p:style>
      </p:cxn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产品开发实施周期图</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94" name="任意多边形: 形状 193"/>
          <p:cNvSpPr>
            <a:spLocks noChangeAspect="1"/>
          </p:cNvSpPr>
          <p:nvPr/>
        </p:nvSpPr>
        <p:spPr>
          <a:xfrm>
            <a:off x="1508295" y="2231072"/>
            <a:ext cx="9175410" cy="4320000"/>
          </a:xfrm>
          <a:custGeom>
            <a:avLst/>
            <a:gdLst>
              <a:gd name="connsiteX0" fmla="*/ 4836448 w 9672896"/>
              <a:gd name="connsiteY0" fmla="*/ 0 h 4857654"/>
              <a:gd name="connsiteX1" fmla="*/ 9672896 w 9672896"/>
              <a:gd name="connsiteY1" fmla="*/ 4836448 h 4857654"/>
              <a:gd name="connsiteX2" fmla="*/ 9672360 w 9672896"/>
              <a:gd name="connsiteY2" fmla="*/ 4857654 h 4857654"/>
              <a:gd name="connsiteX3" fmla="*/ 536 w 9672896"/>
              <a:gd name="connsiteY3" fmla="*/ 4857654 h 4857654"/>
              <a:gd name="connsiteX4" fmla="*/ 0 w 9672896"/>
              <a:gd name="connsiteY4" fmla="*/ 4836448 h 4857654"/>
              <a:gd name="connsiteX5" fmla="*/ 4836448 w 9672896"/>
              <a:gd name="connsiteY5" fmla="*/ 0 h 4857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2896" h="4857654">
                <a:moveTo>
                  <a:pt x="4836448" y="0"/>
                </a:moveTo>
                <a:cubicBezTo>
                  <a:pt x="7507544" y="0"/>
                  <a:pt x="9672896" y="2165352"/>
                  <a:pt x="9672896" y="4836448"/>
                </a:cubicBezTo>
                <a:lnTo>
                  <a:pt x="9672360" y="4857654"/>
                </a:lnTo>
                <a:lnTo>
                  <a:pt x="536" y="4857654"/>
                </a:lnTo>
                <a:lnTo>
                  <a:pt x="0" y="4836448"/>
                </a:lnTo>
                <a:cubicBezTo>
                  <a:pt x="0" y="2165352"/>
                  <a:pt x="2165352" y="0"/>
                  <a:pt x="4836448" y="0"/>
                </a:cubicBezTo>
                <a:close/>
              </a:path>
            </a:pathLst>
          </a:custGeom>
          <a:noFill/>
          <a:ln w="38100">
            <a:gradFill>
              <a:gsLst>
                <a:gs pos="100000">
                  <a:srgbClr val="0042FF">
                    <a:alpha val="0"/>
                  </a:srgbClr>
                </a:gs>
                <a:gs pos="0">
                  <a:srgbClr val="0042FF"/>
                </a:gs>
                <a:gs pos="100000">
                  <a:srgbClr val="0042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solidFill>
                <a:prstClr val="white"/>
              </a:solidFill>
              <a:latin typeface="微软雅黑"/>
              <a:ea typeface="微软雅黑"/>
              <a:cs typeface="微软雅黑"/>
            </a:endParaRPr>
          </a:p>
        </p:txBody>
      </p:sp>
      <p:grpSp>
        <p:nvGrpSpPr>
          <p:cNvPr id="6" name="组合 5"/>
          <p:cNvGrpSpPr/>
          <p:nvPr/>
        </p:nvGrpSpPr>
        <p:grpSpPr>
          <a:xfrm>
            <a:off x="2846070" y="3496310"/>
            <a:ext cx="6499860" cy="3060065"/>
            <a:chOff x="4261967" y="4096608"/>
            <a:chExt cx="5015170" cy="2361258"/>
          </a:xfrm>
        </p:grpSpPr>
        <p:grpSp>
          <p:nvGrpSpPr>
            <p:cNvPr id="80" name="组合 79"/>
            <p:cNvGrpSpPr/>
            <p:nvPr/>
          </p:nvGrpSpPr>
          <p:grpSpPr>
            <a:xfrm>
              <a:off x="4261967" y="4096608"/>
              <a:ext cx="5015170" cy="2361258"/>
              <a:chOff x="4261967" y="4096608"/>
              <a:chExt cx="5015170" cy="2361258"/>
            </a:xfrm>
          </p:grpSpPr>
          <p:grpSp>
            <p:nvGrpSpPr>
              <p:cNvPr id="79" name="组合 78"/>
              <p:cNvGrpSpPr/>
              <p:nvPr/>
            </p:nvGrpSpPr>
            <p:grpSpPr>
              <a:xfrm>
                <a:off x="4261967" y="4096608"/>
                <a:ext cx="5015170" cy="2361258"/>
                <a:chOff x="4261967" y="4096608"/>
                <a:chExt cx="5015170" cy="2361258"/>
              </a:xfrm>
            </p:grpSpPr>
            <p:grpSp>
              <p:nvGrpSpPr>
                <p:cNvPr id="78" name="组合 77"/>
                <p:cNvGrpSpPr/>
                <p:nvPr/>
              </p:nvGrpSpPr>
              <p:grpSpPr>
                <a:xfrm>
                  <a:off x="4261967" y="4096608"/>
                  <a:ext cx="5015170" cy="2361258"/>
                  <a:chOff x="4261967" y="4096608"/>
                  <a:chExt cx="5015170" cy="2361258"/>
                </a:xfrm>
              </p:grpSpPr>
              <p:sp>
                <p:nvSpPr>
                  <p:cNvPr id="8" name="任意多边形: 形状 62"/>
                  <p:cNvSpPr/>
                  <p:nvPr/>
                </p:nvSpPr>
                <p:spPr>
                  <a:xfrm>
                    <a:off x="4261967" y="4096608"/>
                    <a:ext cx="5015170" cy="2361258"/>
                  </a:xfrm>
                  <a:custGeom>
                    <a:avLst/>
                    <a:gdLst>
                      <a:gd name="connsiteX0" fmla="*/ 4836448 w 9672896"/>
                      <a:gd name="connsiteY0" fmla="*/ 0 h 4857654"/>
                      <a:gd name="connsiteX1" fmla="*/ 9672896 w 9672896"/>
                      <a:gd name="connsiteY1" fmla="*/ 4836448 h 4857654"/>
                      <a:gd name="connsiteX2" fmla="*/ 9672360 w 9672896"/>
                      <a:gd name="connsiteY2" fmla="*/ 4857654 h 4857654"/>
                      <a:gd name="connsiteX3" fmla="*/ 536 w 9672896"/>
                      <a:gd name="connsiteY3" fmla="*/ 4857654 h 4857654"/>
                      <a:gd name="connsiteX4" fmla="*/ 0 w 9672896"/>
                      <a:gd name="connsiteY4" fmla="*/ 4836448 h 4857654"/>
                      <a:gd name="connsiteX5" fmla="*/ 4836448 w 9672896"/>
                      <a:gd name="connsiteY5" fmla="*/ 0 h 4857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2896" h="4857654">
                        <a:moveTo>
                          <a:pt x="4836448" y="0"/>
                        </a:moveTo>
                        <a:cubicBezTo>
                          <a:pt x="7507544" y="0"/>
                          <a:pt x="9672896" y="2165352"/>
                          <a:pt x="9672896" y="4836448"/>
                        </a:cubicBezTo>
                        <a:lnTo>
                          <a:pt x="9672360" y="4857654"/>
                        </a:lnTo>
                        <a:lnTo>
                          <a:pt x="536" y="4857654"/>
                        </a:lnTo>
                        <a:lnTo>
                          <a:pt x="0" y="4836448"/>
                        </a:lnTo>
                        <a:cubicBezTo>
                          <a:pt x="0" y="2165352"/>
                          <a:pt x="2165352" y="0"/>
                          <a:pt x="4836448" y="0"/>
                        </a:cubicBezTo>
                        <a:close/>
                      </a:path>
                    </a:pathLst>
                  </a:custGeom>
                  <a:solidFill>
                    <a:srgbClr val="E6E6E6"/>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4" name="任意多边形: 形状 63"/>
                  <p:cNvSpPr/>
                  <p:nvPr/>
                </p:nvSpPr>
                <p:spPr>
                  <a:xfrm>
                    <a:off x="4727248" y="4532824"/>
                    <a:ext cx="4084609" cy="1925042"/>
                  </a:xfrm>
                  <a:custGeom>
                    <a:avLst/>
                    <a:gdLst>
                      <a:gd name="connsiteX0" fmla="*/ 3939049 w 7878098"/>
                      <a:gd name="connsiteY0" fmla="*/ 0 h 3960256"/>
                      <a:gd name="connsiteX1" fmla="*/ 7878098 w 7878098"/>
                      <a:gd name="connsiteY1" fmla="*/ 3939049 h 3960256"/>
                      <a:gd name="connsiteX2" fmla="*/ 7877562 w 7878098"/>
                      <a:gd name="connsiteY2" fmla="*/ 3960256 h 3960256"/>
                      <a:gd name="connsiteX3" fmla="*/ 536 w 7878098"/>
                      <a:gd name="connsiteY3" fmla="*/ 3960256 h 3960256"/>
                      <a:gd name="connsiteX4" fmla="*/ 0 w 7878098"/>
                      <a:gd name="connsiteY4" fmla="*/ 3939049 h 3960256"/>
                      <a:gd name="connsiteX5" fmla="*/ 3939049 w 7878098"/>
                      <a:gd name="connsiteY5" fmla="*/ 0 h 396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098" h="3960256">
                        <a:moveTo>
                          <a:pt x="3939049" y="0"/>
                        </a:moveTo>
                        <a:cubicBezTo>
                          <a:pt x="6114526" y="0"/>
                          <a:pt x="7878098" y="1763572"/>
                          <a:pt x="7878098" y="3939049"/>
                        </a:cubicBezTo>
                        <a:lnTo>
                          <a:pt x="7877562" y="3960256"/>
                        </a:lnTo>
                        <a:lnTo>
                          <a:pt x="536" y="3960256"/>
                        </a:lnTo>
                        <a:lnTo>
                          <a:pt x="0" y="3939049"/>
                        </a:lnTo>
                        <a:cubicBezTo>
                          <a:pt x="0" y="1763572"/>
                          <a:pt x="1763572" y="0"/>
                          <a:pt x="3939049" y="0"/>
                        </a:cubicBezTo>
                        <a:close/>
                      </a:path>
                    </a:pathLst>
                  </a:custGeom>
                  <a:solidFill>
                    <a:srgbClr val="668EFF"/>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65" name="任意多边形: 形状 64"/>
                <p:cNvSpPr/>
                <p:nvPr/>
              </p:nvSpPr>
              <p:spPr>
                <a:xfrm>
                  <a:off x="5189288" y="4966004"/>
                  <a:ext cx="3160529" cy="1491862"/>
                </a:xfrm>
                <a:custGeom>
                  <a:avLst/>
                  <a:gdLst>
                    <a:gd name="connsiteX0" fmla="*/ 3047899 w 6095798"/>
                    <a:gd name="connsiteY0" fmla="*/ 0 h 3069106"/>
                    <a:gd name="connsiteX1" fmla="*/ 6095798 w 6095798"/>
                    <a:gd name="connsiteY1" fmla="*/ 3047899 h 3069106"/>
                    <a:gd name="connsiteX2" fmla="*/ 6095262 w 6095798"/>
                    <a:gd name="connsiteY2" fmla="*/ 3069106 h 3069106"/>
                    <a:gd name="connsiteX3" fmla="*/ 536 w 6095798"/>
                    <a:gd name="connsiteY3" fmla="*/ 3069106 h 3069106"/>
                    <a:gd name="connsiteX4" fmla="*/ 0 w 6095798"/>
                    <a:gd name="connsiteY4" fmla="*/ 3047899 h 3069106"/>
                    <a:gd name="connsiteX5" fmla="*/ 3047899 w 6095798"/>
                    <a:gd name="connsiteY5" fmla="*/ 0 h 306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5798" h="3069106">
                      <a:moveTo>
                        <a:pt x="3047899" y="0"/>
                      </a:moveTo>
                      <a:cubicBezTo>
                        <a:pt x="4731207" y="0"/>
                        <a:pt x="6095798" y="1364591"/>
                        <a:pt x="6095798" y="3047899"/>
                      </a:cubicBezTo>
                      <a:lnTo>
                        <a:pt x="6095262" y="3069106"/>
                      </a:lnTo>
                      <a:lnTo>
                        <a:pt x="536" y="3069106"/>
                      </a:lnTo>
                      <a:lnTo>
                        <a:pt x="0" y="3047899"/>
                      </a:lnTo>
                      <a:cubicBezTo>
                        <a:pt x="0" y="1364591"/>
                        <a:pt x="1364591" y="0"/>
                        <a:pt x="3047899" y="0"/>
                      </a:cubicBezTo>
                      <a:close/>
                    </a:path>
                  </a:pathLst>
                </a:custGeom>
                <a:solidFill>
                  <a:srgbClr val="3368FF"/>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9" name="任意多边形: 形状 67"/>
              <p:cNvSpPr/>
              <p:nvPr/>
            </p:nvSpPr>
            <p:spPr>
              <a:xfrm>
                <a:off x="5696864" y="5441874"/>
                <a:ext cx="2145377" cy="1015992"/>
              </a:xfrm>
              <a:custGeom>
                <a:avLst/>
                <a:gdLst>
                  <a:gd name="connsiteX0" fmla="*/ 2068924 w 4137848"/>
                  <a:gd name="connsiteY0" fmla="*/ 0 h 2090131"/>
                  <a:gd name="connsiteX1" fmla="*/ 4137848 w 4137848"/>
                  <a:gd name="connsiteY1" fmla="*/ 2068924 h 2090131"/>
                  <a:gd name="connsiteX2" fmla="*/ 4136777 w 4137848"/>
                  <a:gd name="connsiteY2" fmla="*/ 2090131 h 2090131"/>
                  <a:gd name="connsiteX3" fmla="*/ 1071 w 4137848"/>
                  <a:gd name="connsiteY3" fmla="*/ 2090131 h 2090131"/>
                  <a:gd name="connsiteX4" fmla="*/ 0 w 4137848"/>
                  <a:gd name="connsiteY4" fmla="*/ 2068924 h 2090131"/>
                  <a:gd name="connsiteX5" fmla="*/ 2068924 w 4137848"/>
                  <a:gd name="connsiteY5" fmla="*/ 0 h 20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7848" h="2090131">
                    <a:moveTo>
                      <a:pt x="2068924" y="0"/>
                    </a:moveTo>
                    <a:cubicBezTo>
                      <a:pt x="3211559" y="0"/>
                      <a:pt x="4137848" y="926289"/>
                      <a:pt x="4137848" y="2068924"/>
                    </a:cubicBezTo>
                    <a:lnTo>
                      <a:pt x="4136777" y="2090131"/>
                    </a:lnTo>
                    <a:lnTo>
                      <a:pt x="1071" y="2090131"/>
                    </a:lnTo>
                    <a:lnTo>
                      <a:pt x="0" y="2068924"/>
                    </a:lnTo>
                    <a:cubicBezTo>
                      <a:pt x="0" y="926289"/>
                      <a:pt x="926289" y="0"/>
                      <a:pt x="2068924" y="0"/>
                    </a:cubicBezTo>
                    <a:close/>
                  </a:path>
                </a:pathLst>
              </a:custGeom>
              <a:solidFill>
                <a:srgbClr val="0042FF"/>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67" name="任意多边形: 形状 66"/>
            <p:cNvSpPr/>
            <p:nvPr/>
          </p:nvSpPr>
          <p:spPr>
            <a:xfrm>
              <a:off x="6246926" y="5957578"/>
              <a:ext cx="1045252" cy="500288"/>
            </a:xfrm>
            <a:custGeom>
              <a:avLst/>
              <a:gdLst>
                <a:gd name="connsiteX0" fmla="*/ 1008003 w 2016006"/>
                <a:gd name="connsiteY0" fmla="*/ 0 h 1029210"/>
                <a:gd name="connsiteX1" fmla="*/ 2016006 w 2016006"/>
                <a:gd name="connsiteY1" fmla="*/ 1008003 h 1029210"/>
                <a:gd name="connsiteX2" fmla="*/ 2014935 w 2016006"/>
                <a:gd name="connsiteY2" fmla="*/ 1029210 h 1029210"/>
                <a:gd name="connsiteX3" fmla="*/ 1071 w 2016006"/>
                <a:gd name="connsiteY3" fmla="*/ 1029210 h 1029210"/>
                <a:gd name="connsiteX4" fmla="*/ 0 w 2016006"/>
                <a:gd name="connsiteY4" fmla="*/ 1008003 h 1029210"/>
                <a:gd name="connsiteX5" fmla="*/ 1008003 w 2016006"/>
                <a:gd name="connsiteY5" fmla="*/ 0 h 1029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006" h="1029210">
                  <a:moveTo>
                    <a:pt x="1008003" y="0"/>
                  </a:moveTo>
                  <a:cubicBezTo>
                    <a:pt x="1564708" y="0"/>
                    <a:pt x="2016006" y="451298"/>
                    <a:pt x="2016006" y="1008003"/>
                  </a:cubicBezTo>
                  <a:lnTo>
                    <a:pt x="2014935" y="1029210"/>
                  </a:lnTo>
                  <a:lnTo>
                    <a:pt x="1071" y="1029210"/>
                  </a:lnTo>
                  <a:lnTo>
                    <a:pt x="0" y="1008003"/>
                  </a:lnTo>
                  <a:cubicBezTo>
                    <a:pt x="0" y="451298"/>
                    <a:pt x="451298" y="0"/>
                    <a:pt x="1008003" y="0"/>
                  </a:cubicBezTo>
                  <a:close/>
                </a:path>
              </a:pathLst>
            </a:custGeom>
            <a:gradFill>
              <a:gsLst>
                <a:gs pos="81000">
                  <a:srgbClr val="3368FF"/>
                </a:gs>
                <a:gs pos="0">
                  <a:srgbClr val="B3D4FE"/>
                </a:gs>
              </a:gsLst>
              <a:lin ang="5400000" scaled="0"/>
            </a:gradFill>
            <a:ln w="9525">
              <a:noFill/>
            </a:ln>
            <a:effectLst>
              <a:outerShdw blurRad="571500" dist="241300" dir="16200000" algn="t" rotWithShape="0">
                <a:srgbClr val="0042FF">
                  <a:alpha val="6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grpSp>
        <p:nvGrpSpPr>
          <p:cNvPr id="141" name="组合 140"/>
          <p:cNvGrpSpPr/>
          <p:nvPr/>
        </p:nvGrpSpPr>
        <p:grpSpPr>
          <a:xfrm>
            <a:off x="3263900" y="3496310"/>
            <a:ext cx="5570855" cy="2764155"/>
            <a:chOff x="3150449" y="3496393"/>
            <a:chExt cx="5570785" cy="2763853"/>
          </a:xfrm>
        </p:grpSpPr>
        <p:cxnSp>
          <p:nvCxnSpPr>
            <p:cNvPr id="124" name="直接连接符 123"/>
            <p:cNvCxnSpPr/>
            <p:nvPr/>
          </p:nvCxnSpPr>
          <p:spPr>
            <a:xfrm flipV="1">
              <a:off x="6509656" y="4860371"/>
              <a:ext cx="2211578" cy="1276855"/>
            </a:xfrm>
            <a:prstGeom prst="line">
              <a:avLst/>
            </a:prstGeom>
            <a:ln w="25400" cap="rnd">
              <a:solidFill>
                <a:srgbClr val="FFFFFF">
                  <a:alpha val="80000"/>
                </a:srgbClr>
              </a:solidFill>
              <a:round/>
            </a:ln>
          </p:spPr>
          <p:style>
            <a:lnRef idx="1">
              <a:srgbClr val="0042FF"/>
            </a:lnRef>
            <a:fillRef idx="0">
              <a:srgbClr val="0042FF"/>
            </a:fillRef>
            <a:effectRef idx="0">
              <a:srgbClr val="0042FF"/>
            </a:effectRef>
            <a:fontRef idx="minor">
              <a:srgbClr val="383838"/>
            </a:fontRef>
          </p:style>
        </p:cxnSp>
        <p:cxnSp>
          <p:nvCxnSpPr>
            <p:cNvPr id="11" name="直接连接符 10"/>
            <p:cNvCxnSpPr/>
            <p:nvPr/>
          </p:nvCxnSpPr>
          <p:spPr>
            <a:xfrm flipV="1">
              <a:off x="6251245" y="3853889"/>
              <a:ext cx="1224441" cy="2092199"/>
            </a:xfrm>
            <a:prstGeom prst="line">
              <a:avLst/>
            </a:prstGeom>
            <a:ln w="25400" cap="rnd">
              <a:solidFill>
                <a:srgbClr val="FFFFFF">
                  <a:alpha val="80000"/>
                </a:srgbClr>
              </a:solidFill>
              <a:round/>
            </a:ln>
          </p:spPr>
          <p:style>
            <a:lnRef idx="1">
              <a:srgbClr val="0042FF"/>
            </a:lnRef>
            <a:fillRef idx="0">
              <a:srgbClr val="0042FF"/>
            </a:fillRef>
            <a:effectRef idx="0">
              <a:srgbClr val="0042FF"/>
            </a:effectRef>
            <a:fontRef idx="minor">
              <a:srgbClr val="383838"/>
            </a:fontRef>
          </p:style>
        </p:cxnSp>
        <p:cxnSp>
          <p:nvCxnSpPr>
            <p:cNvPr id="130" name="直接连接符 129"/>
            <p:cNvCxnSpPr/>
            <p:nvPr/>
          </p:nvCxnSpPr>
          <p:spPr>
            <a:xfrm flipV="1">
              <a:off x="5948985" y="3496393"/>
              <a:ext cx="8762" cy="2401915"/>
            </a:xfrm>
            <a:prstGeom prst="line">
              <a:avLst/>
            </a:prstGeom>
            <a:ln w="25400" cap="rnd">
              <a:solidFill>
                <a:srgbClr val="FFFFFF">
                  <a:alpha val="80000"/>
                </a:srgbClr>
              </a:solidFill>
              <a:round/>
            </a:ln>
          </p:spPr>
          <p:style>
            <a:lnRef idx="1">
              <a:srgbClr val="0042FF"/>
            </a:lnRef>
            <a:fillRef idx="0">
              <a:srgbClr val="0042FF"/>
            </a:fillRef>
            <a:effectRef idx="0">
              <a:srgbClr val="0042FF"/>
            </a:effectRef>
            <a:fontRef idx="minor">
              <a:srgbClr val="383838"/>
            </a:fontRef>
          </p:style>
        </p:cxnSp>
        <p:cxnSp>
          <p:nvCxnSpPr>
            <p:cNvPr id="132" name="直接连接符 131"/>
            <p:cNvCxnSpPr/>
            <p:nvPr/>
          </p:nvCxnSpPr>
          <p:spPr>
            <a:xfrm flipH="1" flipV="1">
              <a:off x="4380194" y="3899476"/>
              <a:ext cx="1207264" cy="2123109"/>
            </a:xfrm>
            <a:prstGeom prst="line">
              <a:avLst/>
            </a:prstGeom>
            <a:ln w="25400" cap="rnd">
              <a:solidFill>
                <a:srgbClr val="FFFFFF">
                  <a:alpha val="80000"/>
                </a:srgbClr>
              </a:solidFill>
              <a:round/>
            </a:ln>
          </p:spPr>
          <p:style>
            <a:lnRef idx="1">
              <a:srgbClr val="0042FF"/>
            </a:lnRef>
            <a:fillRef idx="0">
              <a:srgbClr val="0042FF"/>
            </a:fillRef>
            <a:effectRef idx="0">
              <a:srgbClr val="0042FF"/>
            </a:effectRef>
            <a:fontRef idx="minor">
              <a:srgbClr val="383838"/>
            </a:fontRef>
          </p:style>
        </p:cxnSp>
        <p:cxnSp>
          <p:nvCxnSpPr>
            <p:cNvPr id="136" name="直接连接符 135"/>
            <p:cNvCxnSpPr/>
            <p:nvPr/>
          </p:nvCxnSpPr>
          <p:spPr>
            <a:xfrm flipH="1" flipV="1">
              <a:off x="3150449" y="4988900"/>
              <a:ext cx="2213123" cy="1271346"/>
            </a:xfrm>
            <a:prstGeom prst="line">
              <a:avLst/>
            </a:prstGeom>
            <a:ln w="25400" cap="rnd">
              <a:solidFill>
                <a:srgbClr val="FFFFFF">
                  <a:alpha val="80000"/>
                </a:srgbClr>
              </a:solidFill>
              <a:round/>
            </a:ln>
          </p:spPr>
          <p:style>
            <a:lnRef idx="1">
              <a:srgbClr val="0042FF"/>
            </a:lnRef>
            <a:fillRef idx="0">
              <a:srgbClr val="0042FF"/>
            </a:fillRef>
            <a:effectRef idx="0">
              <a:srgbClr val="0042FF"/>
            </a:effectRef>
            <a:fontRef idx="minor">
              <a:srgbClr val="383838"/>
            </a:fontRef>
          </p:style>
        </p:cxnSp>
      </p:grpSp>
      <p:cxnSp>
        <p:nvCxnSpPr>
          <p:cNvPr id="237" name="直线连接符 55"/>
          <p:cNvCxnSpPr/>
          <p:nvPr/>
        </p:nvCxnSpPr>
        <p:spPr>
          <a:xfrm flipH="1" flipV="1">
            <a:off x="1702756" y="5294023"/>
            <a:ext cx="1223666" cy="482139"/>
          </a:xfrm>
          <a:prstGeom prst="line">
            <a:avLst/>
          </a:prstGeom>
          <a:ln w="22225">
            <a:solidFill>
              <a:srgbClr val="0042FF"/>
            </a:solidFill>
            <a:prstDash val="dash"/>
            <a:tailEnd type="oval"/>
          </a:ln>
        </p:spPr>
        <p:style>
          <a:lnRef idx="1">
            <a:srgbClr val="0042FF"/>
          </a:lnRef>
          <a:fillRef idx="0">
            <a:srgbClr val="0042FF"/>
          </a:fillRef>
          <a:effectRef idx="0">
            <a:srgbClr val="0042FF"/>
          </a:effectRef>
          <a:fontRef idx="minor">
            <a:srgbClr val="383838"/>
          </a:fontRef>
        </p:style>
      </p:cxnSp>
      <p:cxnSp>
        <p:nvCxnSpPr>
          <p:cNvPr id="244" name="直线连接符 75"/>
          <p:cNvCxnSpPr/>
          <p:nvPr/>
        </p:nvCxnSpPr>
        <p:spPr>
          <a:xfrm flipH="1" flipV="1">
            <a:off x="2802158" y="3534737"/>
            <a:ext cx="921418" cy="873459"/>
          </a:xfrm>
          <a:prstGeom prst="line">
            <a:avLst/>
          </a:prstGeom>
          <a:ln w="22225">
            <a:solidFill>
              <a:srgbClr val="0042FF"/>
            </a:solidFill>
            <a:prstDash val="dash"/>
            <a:tailEnd type="oval"/>
          </a:ln>
        </p:spPr>
        <p:style>
          <a:lnRef idx="1">
            <a:srgbClr val="0042FF"/>
          </a:lnRef>
          <a:fillRef idx="0">
            <a:srgbClr val="0042FF"/>
          </a:fillRef>
          <a:effectRef idx="0">
            <a:srgbClr val="0042FF"/>
          </a:effectRef>
          <a:fontRef idx="minor">
            <a:srgbClr val="383838"/>
          </a:fontRef>
        </p:style>
      </p:cxnSp>
      <p:cxnSp>
        <p:nvCxnSpPr>
          <p:cNvPr id="257" name="直线连接符 75"/>
          <p:cNvCxnSpPr/>
          <p:nvPr/>
        </p:nvCxnSpPr>
        <p:spPr>
          <a:xfrm flipH="1" flipV="1">
            <a:off x="4739132" y="2404711"/>
            <a:ext cx="425413" cy="1219196"/>
          </a:xfrm>
          <a:prstGeom prst="line">
            <a:avLst/>
          </a:prstGeom>
          <a:ln w="22225">
            <a:solidFill>
              <a:srgbClr val="0042FF"/>
            </a:solidFill>
            <a:prstDash val="dash"/>
            <a:tailEnd type="oval"/>
          </a:ln>
        </p:spPr>
        <p:style>
          <a:lnRef idx="1">
            <a:srgbClr val="0042FF"/>
          </a:lnRef>
          <a:fillRef idx="0">
            <a:srgbClr val="0042FF"/>
          </a:fillRef>
          <a:effectRef idx="0">
            <a:srgbClr val="0042FF"/>
          </a:effectRef>
          <a:fontRef idx="minor">
            <a:srgbClr val="383838"/>
          </a:fontRef>
        </p:style>
      </p:cxnSp>
      <p:cxnSp>
        <p:nvCxnSpPr>
          <p:cNvPr id="259" name="直线连接符 75"/>
          <p:cNvCxnSpPr/>
          <p:nvPr/>
        </p:nvCxnSpPr>
        <p:spPr>
          <a:xfrm flipV="1">
            <a:off x="6941571" y="2428359"/>
            <a:ext cx="515287" cy="1145676"/>
          </a:xfrm>
          <a:prstGeom prst="line">
            <a:avLst/>
          </a:prstGeom>
          <a:ln w="22225">
            <a:solidFill>
              <a:srgbClr val="0042FF"/>
            </a:solidFill>
            <a:prstDash val="dash"/>
            <a:headEnd type="none"/>
            <a:tailEnd type="oval"/>
          </a:ln>
        </p:spPr>
        <p:style>
          <a:lnRef idx="1">
            <a:srgbClr val="0042FF"/>
          </a:lnRef>
          <a:fillRef idx="0">
            <a:srgbClr val="0042FF"/>
          </a:fillRef>
          <a:effectRef idx="0">
            <a:srgbClr val="0042FF"/>
          </a:effectRef>
          <a:fontRef idx="minor">
            <a:srgbClr val="383838"/>
          </a:fontRef>
        </p:style>
      </p:cxnSp>
      <p:cxnSp>
        <p:nvCxnSpPr>
          <p:cNvPr id="261" name="直线连接符 75"/>
          <p:cNvCxnSpPr/>
          <p:nvPr/>
        </p:nvCxnSpPr>
        <p:spPr>
          <a:xfrm flipH="1">
            <a:off x="8425475" y="3564078"/>
            <a:ext cx="964966" cy="844118"/>
          </a:xfrm>
          <a:prstGeom prst="line">
            <a:avLst/>
          </a:prstGeom>
          <a:ln w="22225">
            <a:solidFill>
              <a:srgbClr val="0042FF"/>
            </a:solidFill>
            <a:prstDash val="dash"/>
            <a:headEnd type="oval"/>
          </a:ln>
        </p:spPr>
        <p:style>
          <a:lnRef idx="1">
            <a:srgbClr val="0042FF"/>
          </a:lnRef>
          <a:fillRef idx="0">
            <a:srgbClr val="0042FF"/>
          </a:fillRef>
          <a:effectRef idx="0">
            <a:srgbClr val="0042FF"/>
          </a:effectRef>
          <a:fontRef idx="minor">
            <a:srgbClr val="383838"/>
          </a:fontRef>
        </p:style>
      </p:cxnSp>
      <p:cxnSp>
        <p:nvCxnSpPr>
          <p:cNvPr id="264" name="直线连接符 55"/>
          <p:cNvCxnSpPr/>
          <p:nvPr/>
        </p:nvCxnSpPr>
        <p:spPr>
          <a:xfrm flipH="1">
            <a:off x="9261872" y="5331546"/>
            <a:ext cx="1215655" cy="458450"/>
          </a:xfrm>
          <a:prstGeom prst="line">
            <a:avLst/>
          </a:prstGeom>
          <a:ln w="22225">
            <a:solidFill>
              <a:srgbClr val="0042FF"/>
            </a:solidFill>
            <a:prstDash val="dash"/>
            <a:headEnd type="oval"/>
          </a:ln>
        </p:spPr>
        <p:style>
          <a:lnRef idx="1">
            <a:srgbClr val="0042FF"/>
          </a:lnRef>
          <a:fillRef idx="0">
            <a:srgbClr val="0042FF"/>
          </a:fillRef>
          <a:effectRef idx="0">
            <a:srgbClr val="0042FF"/>
          </a:effectRef>
          <a:fontRef idx="minor">
            <a:srgbClr val="383838"/>
          </a:fontRef>
        </p:style>
      </p:cxnSp>
      <p:sp>
        <p:nvSpPr>
          <p:cNvPr id="284" name="等腰三角形 283"/>
          <p:cNvSpPr/>
          <p:nvPr/>
        </p:nvSpPr>
        <p:spPr>
          <a:xfrm rot="3742887" flipH="1">
            <a:off x="3486322" y="2869001"/>
            <a:ext cx="166687" cy="143696"/>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86" name="等腰三角形 285"/>
          <p:cNvSpPr/>
          <p:nvPr/>
        </p:nvSpPr>
        <p:spPr>
          <a:xfrm rot="2065973" flipH="1">
            <a:off x="2045526" y="4292742"/>
            <a:ext cx="166687" cy="143696"/>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94" name="流程图: 接点 293"/>
          <p:cNvSpPr>
            <a:spLocks noChangeAspect="1"/>
          </p:cNvSpPr>
          <p:nvPr/>
        </p:nvSpPr>
        <p:spPr>
          <a:xfrm>
            <a:off x="4667124" y="2354771"/>
            <a:ext cx="126000" cy="126000"/>
          </a:xfrm>
          <a:prstGeom prst="flowChartConnector">
            <a:avLst/>
          </a:prstGeom>
          <a:solidFill>
            <a:srgbClr val="FFFFFF"/>
          </a:solidFill>
          <a:ln w="15240">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95" name="流程图: 接点 294"/>
          <p:cNvSpPr>
            <a:spLocks noChangeAspect="1"/>
          </p:cNvSpPr>
          <p:nvPr/>
        </p:nvSpPr>
        <p:spPr>
          <a:xfrm>
            <a:off x="7393858" y="2375017"/>
            <a:ext cx="126000" cy="126000"/>
          </a:xfrm>
          <a:prstGeom prst="flowChartConnector">
            <a:avLst/>
          </a:prstGeom>
          <a:solidFill>
            <a:srgbClr val="FFFFFF"/>
          </a:solidFill>
          <a:ln w="15240">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96" name="流程图: 接点 295"/>
          <p:cNvSpPr>
            <a:spLocks noChangeAspect="1"/>
          </p:cNvSpPr>
          <p:nvPr/>
        </p:nvSpPr>
        <p:spPr>
          <a:xfrm>
            <a:off x="9333781" y="3496525"/>
            <a:ext cx="126000" cy="126000"/>
          </a:xfrm>
          <a:prstGeom prst="flowChartConnector">
            <a:avLst/>
          </a:prstGeom>
          <a:solidFill>
            <a:srgbClr val="FFFFFF"/>
          </a:solidFill>
          <a:ln w="15240">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97" name="流程图: 接点 296"/>
          <p:cNvSpPr>
            <a:spLocks noChangeAspect="1"/>
          </p:cNvSpPr>
          <p:nvPr/>
        </p:nvSpPr>
        <p:spPr>
          <a:xfrm>
            <a:off x="10439793" y="5249353"/>
            <a:ext cx="126000" cy="126000"/>
          </a:xfrm>
          <a:prstGeom prst="flowChartConnector">
            <a:avLst/>
          </a:prstGeom>
          <a:solidFill>
            <a:srgbClr val="FFFFFF"/>
          </a:solidFill>
          <a:ln w="15240">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98" name="流程图: 接点 297"/>
          <p:cNvSpPr>
            <a:spLocks noChangeAspect="1"/>
          </p:cNvSpPr>
          <p:nvPr/>
        </p:nvSpPr>
        <p:spPr>
          <a:xfrm>
            <a:off x="2739704" y="3471737"/>
            <a:ext cx="126000" cy="126000"/>
          </a:xfrm>
          <a:prstGeom prst="flowChartConnector">
            <a:avLst/>
          </a:prstGeom>
          <a:solidFill>
            <a:srgbClr val="FFFFFF"/>
          </a:solidFill>
          <a:ln w="15240">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99" name="流程图: 接点 298"/>
          <p:cNvSpPr>
            <a:spLocks noChangeAspect="1"/>
          </p:cNvSpPr>
          <p:nvPr/>
        </p:nvSpPr>
        <p:spPr>
          <a:xfrm>
            <a:off x="1621440" y="5238580"/>
            <a:ext cx="126000" cy="126000"/>
          </a:xfrm>
          <a:prstGeom prst="flowChartConnector">
            <a:avLst/>
          </a:prstGeom>
          <a:solidFill>
            <a:srgbClr val="FFFFFF"/>
          </a:solidFill>
          <a:ln w="15240">
            <a:solidFill>
              <a:srgbClr val="0042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00" name="等腰三角形 299"/>
          <p:cNvSpPr/>
          <p:nvPr/>
        </p:nvSpPr>
        <p:spPr>
          <a:xfrm rot="5639598" flipH="1">
            <a:off x="5939458" y="2164640"/>
            <a:ext cx="166687" cy="143696"/>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01" name="等腰三角形 300"/>
          <p:cNvSpPr/>
          <p:nvPr/>
        </p:nvSpPr>
        <p:spPr>
          <a:xfrm rot="6983277" flipH="1">
            <a:off x="8555597" y="2869001"/>
            <a:ext cx="166687" cy="143696"/>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02" name="等腰三角形 301"/>
          <p:cNvSpPr/>
          <p:nvPr/>
        </p:nvSpPr>
        <p:spPr>
          <a:xfrm rot="8854677" flipH="1">
            <a:off x="10048425" y="4399129"/>
            <a:ext cx="166687" cy="143696"/>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45" name="文本框 144"/>
          <p:cNvSpPr txBox="1"/>
          <p:nvPr/>
        </p:nvSpPr>
        <p:spPr>
          <a:xfrm>
            <a:off x="5128629" y="6172195"/>
            <a:ext cx="1866162" cy="327025"/>
          </a:xfrm>
          <a:prstGeom prst="rect">
            <a:avLst/>
          </a:prstGeom>
          <a:noFill/>
        </p:spPr>
        <p:txBody>
          <a:bodyPr wrap="square">
            <a:spAutoFit/>
          </a:bodyPr>
          <a:lstStyle/>
          <a:p>
            <a:pPr marL="498475" indent="-349885" algn="ctr" rtl="0" eaLnBrk="0">
              <a:lnSpc>
                <a:spcPct val="96000"/>
              </a:lnSpc>
              <a:spcBef>
                <a:spcPts val="5"/>
              </a:spcBef>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产品开发</a:t>
            </a:r>
            <a:endParaRPr lang="zh-CN" altLang="en-US" sz="1600" b="1" dirty="0">
              <a:solidFill>
                <a:srgbClr val="FFFFFF"/>
              </a:solidFill>
              <a:latin typeface="微软雅黑"/>
              <a:ea typeface="微软雅黑"/>
              <a:cs typeface="微软雅黑"/>
            </a:endParaRPr>
          </a:p>
        </p:txBody>
      </p:sp>
      <p:sp>
        <p:nvSpPr>
          <p:cNvPr id="12" name="小智PPT58"/>
          <p:cNvSpPr/>
          <p:nvPr/>
        </p:nvSpPr>
        <p:spPr>
          <a:xfrm flipH="1">
            <a:off x="10955015" y="5551166"/>
            <a:ext cx="1134672" cy="654070"/>
          </a:xfrm>
          <a:prstGeom prst="roundRect">
            <a:avLst>
              <a:gd name="adj" fmla="val 0"/>
            </a:avLst>
          </a:prstGeom>
          <a:solidFill>
            <a:srgbClr val="DCDCDC">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3" name="小智PPT59"/>
          <p:cNvSpPr/>
          <p:nvPr/>
        </p:nvSpPr>
        <p:spPr>
          <a:xfrm flipH="1">
            <a:off x="10946139" y="5480265"/>
            <a:ext cx="1140582" cy="301408"/>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 name="小智PPT60"/>
          <p:cNvSpPr/>
          <p:nvPr/>
        </p:nvSpPr>
        <p:spPr>
          <a:xfrm flipH="1">
            <a:off x="10390611" y="3987100"/>
            <a:ext cx="1681902" cy="745694"/>
          </a:xfrm>
          <a:prstGeom prst="roundRect">
            <a:avLst>
              <a:gd name="adj" fmla="val 0"/>
            </a:avLst>
          </a:prstGeom>
          <a:solidFill>
            <a:srgbClr val="DCDCDC">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5" name="小智PPT61"/>
          <p:cNvSpPr/>
          <p:nvPr/>
        </p:nvSpPr>
        <p:spPr>
          <a:xfrm flipH="1">
            <a:off x="10381736" y="3978061"/>
            <a:ext cx="1681902" cy="360625"/>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8" name="小智PPT62"/>
          <p:cNvSpPr/>
          <p:nvPr/>
        </p:nvSpPr>
        <p:spPr>
          <a:xfrm flipH="1">
            <a:off x="8914420" y="2027009"/>
            <a:ext cx="2302911" cy="945220"/>
          </a:xfrm>
          <a:prstGeom prst="roundRect">
            <a:avLst>
              <a:gd name="adj" fmla="val 0"/>
            </a:avLst>
          </a:prstGeom>
          <a:solidFill>
            <a:srgbClr val="DCDCDC">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9" name="小智PPT63"/>
          <p:cNvSpPr/>
          <p:nvPr/>
        </p:nvSpPr>
        <p:spPr>
          <a:xfrm flipH="1">
            <a:off x="8905545" y="2017971"/>
            <a:ext cx="2302911" cy="360625"/>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0" name="小智PPT64"/>
          <p:cNvSpPr/>
          <p:nvPr/>
        </p:nvSpPr>
        <p:spPr>
          <a:xfrm flipH="1">
            <a:off x="4485640" y="1189990"/>
            <a:ext cx="3296920" cy="892810"/>
          </a:xfrm>
          <a:prstGeom prst="roundRect">
            <a:avLst>
              <a:gd name="adj" fmla="val 0"/>
            </a:avLst>
          </a:prstGeom>
          <a:solidFill>
            <a:srgbClr val="DCDCDC">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21" name="小智PPT65"/>
          <p:cNvSpPr/>
          <p:nvPr/>
        </p:nvSpPr>
        <p:spPr>
          <a:xfrm flipH="1">
            <a:off x="4476736" y="1049612"/>
            <a:ext cx="3296647" cy="391242"/>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2" name="小智PPT66"/>
          <p:cNvSpPr/>
          <p:nvPr/>
        </p:nvSpPr>
        <p:spPr>
          <a:xfrm flipH="1">
            <a:off x="909578" y="2072729"/>
            <a:ext cx="2302911" cy="945220"/>
          </a:xfrm>
          <a:prstGeom prst="roundRect">
            <a:avLst>
              <a:gd name="adj" fmla="val 0"/>
            </a:avLst>
          </a:prstGeom>
          <a:solidFill>
            <a:srgbClr val="DCDCDC">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32" name="小智PPT67"/>
          <p:cNvSpPr/>
          <p:nvPr/>
        </p:nvSpPr>
        <p:spPr>
          <a:xfrm flipH="1">
            <a:off x="900703" y="2063691"/>
            <a:ext cx="2302911" cy="360625"/>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4" name="小智PPT68"/>
          <p:cNvSpPr/>
          <p:nvPr/>
        </p:nvSpPr>
        <p:spPr>
          <a:xfrm flipH="1">
            <a:off x="149080" y="5565093"/>
            <a:ext cx="1134672" cy="654070"/>
          </a:xfrm>
          <a:prstGeom prst="roundRect">
            <a:avLst>
              <a:gd name="adj" fmla="val 0"/>
            </a:avLst>
          </a:prstGeom>
          <a:solidFill>
            <a:srgbClr val="DCDCDC">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39" name="小智PPT69"/>
          <p:cNvSpPr/>
          <p:nvPr/>
        </p:nvSpPr>
        <p:spPr>
          <a:xfrm flipH="1">
            <a:off x="140204" y="5487824"/>
            <a:ext cx="1140582" cy="307776"/>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0" name="小智PPT70"/>
          <p:cNvSpPr/>
          <p:nvPr/>
        </p:nvSpPr>
        <p:spPr>
          <a:xfrm flipH="1">
            <a:off x="136967" y="3991988"/>
            <a:ext cx="1681902" cy="745694"/>
          </a:xfrm>
          <a:prstGeom prst="roundRect">
            <a:avLst>
              <a:gd name="adj" fmla="val 0"/>
            </a:avLst>
          </a:prstGeom>
          <a:solidFill>
            <a:srgbClr val="DCDCDC">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41" name="小智PPT71"/>
          <p:cNvSpPr/>
          <p:nvPr/>
        </p:nvSpPr>
        <p:spPr>
          <a:xfrm flipH="1">
            <a:off x="128092" y="3982949"/>
            <a:ext cx="1681902" cy="360625"/>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2" name="小智PPT72"/>
          <p:cNvSpPr txBox="1"/>
          <p:nvPr/>
        </p:nvSpPr>
        <p:spPr>
          <a:xfrm flipH="1">
            <a:off x="4560570" y="1109980"/>
            <a:ext cx="3097530" cy="30670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产品洞察销售分析</a:t>
            </a:r>
            <a:r>
              <a:rPr kumimoji="0" lang="en-US" altLang="zh-CN" sz="1400" b="0" i="0" u="none" strike="noStrike" kern="1200" cap="none" spc="0" normalizeH="0" baseline="0" noProof="0">
                <a:ln>
                  <a:noFill/>
                </a:ln>
                <a:solidFill>
                  <a:srgbClr val="FFFFFF"/>
                </a:solidFill>
                <a:effectLst/>
                <a:uLnTx/>
                <a:uFillTx/>
                <a:latin typeface="微软雅黑"/>
                <a:ea typeface="微软雅黑"/>
                <a:cs typeface="微软雅黑"/>
              </a:rPr>
              <a:t>+</a:t>
            </a: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信息整合梳理</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3" name="小智PPT73"/>
          <p:cNvSpPr txBox="1"/>
          <p:nvPr/>
        </p:nvSpPr>
        <p:spPr>
          <a:xfrm flipH="1">
            <a:off x="4540749" y="1499926"/>
            <a:ext cx="3117230" cy="466153"/>
          </a:xfrm>
          <a:prstGeom prst="rect">
            <a:avLst/>
          </a:prstGeom>
          <a:noFill/>
        </p:spPr>
        <p:txBody>
          <a:bodyPr wrap="square" rtlCol="0" lIns="0" rIns="0" tIns="0" bIns="0">
            <a:spAutoFit/>
          </a:body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找到用户心理满足的驱动力，洞察需求背后用户心理诉求，产品是随着用户的使用会进行演化</a:t>
            </a:r>
            <a:endPar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endParaRPr>
          </a:p>
        </p:txBody>
      </p:sp>
      <p:sp>
        <p:nvSpPr>
          <p:cNvPr id="50" name="小智PPT74"/>
          <p:cNvSpPr txBox="1"/>
          <p:nvPr/>
        </p:nvSpPr>
        <p:spPr>
          <a:xfrm flipH="1">
            <a:off x="1320109" y="2110751"/>
            <a:ext cx="1440582" cy="307777"/>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产品结构化分析</a:t>
            </a:r>
            <a:endPar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51" name="小智PPT75"/>
          <p:cNvSpPr txBox="1"/>
          <p:nvPr/>
        </p:nvSpPr>
        <p:spPr>
          <a:xfrm flipH="1">
            <a:off x="951020" y="2480143"/>
            <a:ext cx="2280197" cy="466153"/>
          </a:xfrm>
          <a:prstGeom prst="rect">
            <a:avLst/>
          </a:prstGeom>
          <a:noFill/>
        </p:spPr>
        <p:txBody>
          <a:bodyPr wrap="square" rtlCol="0" lIns="0" rIns="0" tIns="0" bIns="0">
            <a:spAutoFit/>
          </a:body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深入梳理业务场景，用户的问题和痛点驱动出</a:t>
            </a:r>
            <a:r>
              <a:rPr kumimoji="0" lang="en-US" altLang="zh-CN"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a:t>
            </a: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系统能力”</a:t>
            </a:r>
            <a:endPar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endParaRPr>
          </a:p>
        </p:txBody>
      </p:sp>
      <p:sp>
        <p:nvSpPr>
          <p:cNvPr id="54" name="小智PPT76"/>
          <p:cNvSpPr txBox="1"/>
          <p:nvPr/>
        </p:nvSpPr>
        <p:spPr>
          <a:xfrm flipH="1">
            <a:off x="218710" y="4019998"/>
            <a:ext cx="1440582" cy="307777"/>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信息方案设计</a:t>
            </a:r>
            <a:endPar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62" name="小智PPT77"/>
          <p:cNvSpPr txBox="1"/>
          <p:nvPr/>
        </p:nvSpPr>
        <p:spPr>
          <a:xfrm flipH="1">
            <a:off x="117384" y="4393798"/>
            <a:ext cx="1723048" cy="273793"/>
          </a:xfrm>
          <a:prstGeom prst="rect">
            <a:avLst/>
          </a:prstGeom>
          <a:noFill/>
        </p:spPr>
        <p:txBody>
          <a:bodyPr wrap="square" rtlCol="0" lIns="0" rIns="0" tIns="0" bIns="0">
            <a:spAutoFit/>
          </a:body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设计方案，抽象出能力需求</a:t>
            </a:r>
            <a:endPar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endParaRPr>
          </a:p>
        </p:txBody>
      </p:sp>
      <p:sp>
        <p:nvSpPr>
          <p:cNvPr id="66" name="小智PPT78"/>
          <p:cNvSpPr txBox="1"/>
          <p:nvPr/>
        </p:nvSpPr>
        <p:spPr>
          <a:xfrm flipH="1">
            <a:off x="245110" y="5495290"/>
            <a:ext cx="903605" cy="30670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产品需求</a:t>
            </a:r>
            <a:endPar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1" name="小智PPT79"/>
          <p:cNvSpPr txBox="1"/>
          <p:nvPr/>
        </p:nvSpPr>
        <p:spPr>
          <a:xfrm flipH="1">
            <a:off x="10566400" y="4020185"/>
            <a:ext cx="1273175" cy="30670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战略分解</a:t>
            </a:r>
            <a:endPar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2" name="小智PPT80"/>
          <p:cNvSpPr txBox="1"/>
          <p:nvPr/>
        </p:nvSpPr>
        <p:spPr>
          <a:xfrm flipH="1">
            <a:off x="10537825" y="4406265"/>
            <a:ext cx="1538605" cy="283210"/>
          </a:xfrm>
          <a:prstGeom prst="rect">
            <a:avLst/>
          </a:prstGeom>
          <a:noFill/>
        </p:spPr>
        <p:txBody>
          <a:bodyPr wrap="square" rtlCol="0" lIns="0" rIns="0" tIns="0" bIns="0">
            <a:spAutoFit/>
          </a:body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实现业务和企业目标</a:t>
            </a:r>
            <a:endPar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endParaRPr>
          </a:p>
        </p:txBody>
      </p:sp>
      <p:sp>
        <p:nvSpPr>
          <p:cNvPr id="73" name="小智PPT81"/>
          <p:cNvSpPr txBox="1"/>
          <p:nvPr/>
        </p:nvSpPr>
        <p:spPr>
          <a:xfrm>
            <a:off x="10952976" y="5856078"/>
            <a:ext cx="1102058" cy="273793"/>
          </a:xfrm>
          <a:prstGeom prst="rect">
            <a:avLst/>
          </a:prstGeom>
          <a:noFill/>
        </p:spPr>
        <p:txBody>
          <a:bodyPr wrap="square" rtlCol="0" lIns="0" rIns="0" tIns="0" bIns="0">
            <a:spAutoFit/>
          </a:bodyPr>
          <a:lstStyle>
            <a:defPPr>
              <a:defRPr lang="zh-CN">
                <a:latin typeface="微软雅黑"/>
                <a:ea typeface="微软雅黑"/>
                <a:cs typeface="微软雅黑"/>
              </a:defRPr>
            </a:defPPr>
            <a:lvl1pPr>
              <a:lnSpc>
                <a:spcPct val="125000"/>
              </a:lnSpc>
              <a:defRPr sz="1000">
                <a:solidFill>
                  <a:srgbClr val="383838">
                    <a:alpha val="80000"/>
                  </a:srgbClr>
                </a:solidFill>
                <a:latin typeface="微软雅黑"/>
                <a:ea typeface="微软雅黑"/>
                <a:cs typeface="微软雅黑"/>
              </a:defRPr>
            </a:lvl1p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聚合信息，任务</a:t>
            </a:r>
            <a:endParaRPr kumimoji="0" lang="zh-CN" altLang="en-US" sz="1000" b="0" i="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sp>
        <p:nvSpPr>
          <p:cNvPr id="74" name="小智PPT82"/>
          <p:cNvSpPr txBox="1"/>
          <p:nvPr/>
        </p:nvSpPr>
        <p:spPr>
          <a:xfrm flipH="1">
            <a:off x="9384567" y="2065031"/>
            <a:ext cx="1440582" cy="30670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用户体验反馈</a:t>
            </a:r>
            <a:endParaRPr kumimoji="0" lang="en-US" altLang="zh-CN" sz="1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5" name="小智PPT83"/>
          <p:cNvSpPr txBox="1"/>
          <p:nvPr/>
        </p:nvSpPr>
        <p:spPr>
          <a:xfrm flipH="1">
            <a:off x="8950731" y="2434423"/>
            <a:ext cx="2223458" cy="466153"/>
          </a:xfrm>
          <a:prstGeom prst="rect">
            <a:avLst/>
          </a:prstGeom>
          <a:noFill/>
        </p:spPr>
        <p:txBody>
          <a:bodyPr wrap="square" rtlCol="0" lIns="0" rIns="0" tIns="0" bIns="0">
            <a:spAutoFit/>
          </a:body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直接融入用户体验反饮收排动能形成问题必集和处理的团环</a:t>
            </a:r>
            <a:endPar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endParaRPr>
          </a:p>
        </p:txBody>
      </p:sp>
      <p:sp>
        <p:nvSpPr>
          <p:cNvPr id="76" name="小智PPT84"/>
          <p:cNvSpPr txBox="1"/>
          <p:nvPr/>
        </p:nvSpPr>
        <p:spPr>
          <a:xfrm flipH="1">
            <a:off x="111760" y="5855970"/>
            <a:ext cx="1358900" cy="283210"/>
          </a:xfrm>
          <a:prstGeom prst="rect">
            <a:avLst/>
          </a:prstGeom>
          <a:noFill/>
        </p:spPr>
        <p:txBody>
          <a:bodyPr wrap="square" rtlCol="0" lIns="0" rIns="0" tIns="0" bIns="0">
            <a:spAutoFit/>
          </a:body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rPr>
              <a:t>满足方案设计需求</a:t>
            </a:r>
            <a:endParaRPr kumimoji="0" lang="zh-CN" altLang="en-US" sz="1000" b="0" i="0" u="none" strike="noStrike" kern="1200" cap="none" spc="0" normalizeH="0" baseline="0" noProof="0">
              <a:ln>
                <a:noFill/>
              </a:ln>
              <a:solidFill>
                <a:srgbClr val="383838">
                  <a:alpha val="80000"/>
                </a:srgbClr>
              </a:solidFill>
              <a:effectLst/>
              <a:uLnTx/>
              <a:uFillTx/>
              <a:latin typeface="微软雅黑"/>
              <a:ea typeface="微软雅黑"/>
              <a:cs typeface="微软雅黑"/>
            </a:endParaRPr>
          </a:p>
        </p:txBody>
      </p:sp>
      <p:sp>
        <p:nvSpPr>
          <p:cNvPr id="77" name="小智PPT85"/>
          <p:cNvSpPr txBox="1"/>
          <p:nvPr/>
        </p:nvSpPr>
        <p:spPr>
          <a:xfrm flipH="1">
            <a:off x="10941685" y="5488305"/>
            <a:ext cx="1124585" cy="306705"/>
          </a:xfrm>
          <a:prstGeom prst="rect">
            <a:avLst/>
          </a:prstGeom>
          <a:noFill/>
          <a:extLst>
            <a:ext uri="{909E8E84-426E-40DD-AFC4-6F175D3DCCD1}">
              <a14:hiddenFill xmlns:a14="http://schemas.microsoft.com/office/drawing/2010/main">
                <a:solidFill>
                  <a:srgbClr val="383838"/>
                </a:solidFill>
              </a14:hiddenFill>
            </a:ext>
          </a:extLst>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rPr>
              <a:t>分析本质</a:t>
            </a:r>
            <a:endParaRPr kumimoji="0" lang="zh-CN" altLang="en-US" sz="14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nvGrpSpPr>
          <p:cNvPr id="92" name="组合 91"/>
          <p:cNvGrpSpPr/>
          <p:nvPr/>
        </p:nvGrpSpPr>
        <p:grpSpPr>
          <a:xfrm>
            <a:off x="1849755" y="5744210"/>
            <a:ext cx="670560" cy="670560"/>
            <a:chOff x="2346" y="19367"/>
            <a:chExt cx="1056" cy="1056"/>
          </a:xfrm>
        </p:grpSpPr>
        <p:sp>
          <p:nvSpPr>
            <p:cNvPr id="88" name="小智PPT31"/>
            <p:cNvSpPr/>
            <p:nvPr/>
          </p:nvSpPr>
          <p:spPr>
            <a:xfrm rot="19620000" flipH="1">
              <a:off x="2346" y="19367"/>
              <a:ext cx="1057" cy="1057"/>
            </a:xfrm>
            <a:prstGeom prst="ellipse">
              <a:avLst/>
            </a:prstGeom>
            <a:solidFill>
              <a:srgbClr val="DCDCDC">
                <a:alpha val="40000"/>
              </a:srgbClr>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89" name="小智PPT56"/>
            <p:cNvSpPr/>
            <p:nvPr/>
          </p:nvSpPr>
          <p:spPr>
            <a:xfrm>
              <a:off x="2617" y="19628"/>
              <a:ext cx="567" cy="552"/>
            </a:xfrm>
            <a:custGeom>
              <a:avLst/>
              <a:gdLst>
                <a:gd name="connsiteX0" fmla="*/ 1682923 w 1885533"/>
                <a:gd name="connsiteY0" fmla="*/ 446526 h 1837057"/>
                <a:gd name="connsiteX1" fmla="*/ 1651898 w 1885533"/>
                <a:gd name="connsiteY1" fmla="*/ 401350 h 1837057"/>
                <a:gd name="connsiteX2" fmla="*/ 858602 w 1885533"/>
                <a:gd name="connsiteY2" fmla="*/ 4838 h 1837057"/>
                <a:gd name="connsiteX3" fmla="*/ 818053 w 1885533"/>
                <a:gd name="connsiteY3" fmla="*/ 4838 h 1837057"/>
                <a:gd name="connsiteX4" fmla="*/ 25164 w 1885533"/>
                <a:gd name="connsiteY4" fmla="*/ 401350 h 1837057"/>
                <a:gd name="connsiteX5" fmla="*/ 263 w 1885533"/>
                <a:gd name="connsiteY5" fmla="*/ 468025 h 1837057"/>
                <a:gd name="connsiteX6" fmla="*/ 263 w 1885533"/>
                <a:gd name="connsiteY6" fmla="*/ 1314389 h 1837057"/>
                <a:gd name="connsiteX7" fmla="*/ 22035 w 1885533"/>
                <a:gd name="connsiteY7" fmla="*/ 1353034 h 1837057"/>
                <a:gd name="connsiteX8" fmla="*/ 811249 w 1885533"/>
                <a:gd name="connsiteY8" fmla="*/ 1827923 h 1837057"/>
                <a:gd name="connsiteX9" fmla="*/ 868399 w 1885533"/>
                <a:gd name="connsiteY9" fmla="*/ 1831189 h 1837057"/>
                <a:gd name="connsiteX10" fmla="*/ 1126663 w 1885533"/>
                <a:gd name="connsiteY10" fmla="*/ 1681782 h 1837057"/>
                <a:gd name="connsiteX11" fmla="*/ 1147618 w 1885533"/>
                <a:gd name="connsiteY11" fmla="*/ 1615379 h 1837057"/>
                <a:gd name="connsiteX12" fmla="*/ 1093597 w 1885533"/>
                <a:gd name="connsiteY12" fmla="*/ 1575782 h 1837057"/>
                <a:gd name="connsiteX13" fmla="*/ 901056 w 1885533"/>
                <a:gd name="connsiteY13" fmla="*/ 1691035 h 1837057"/>
                <a:gd name="connsiteX14" fmla="*/ 901056 w 1885533"/>
                <a:gd name="connsiteY14" fmla="*/ 918149 h 1837057"/>
                <a:gd name="connsiteX15" fmla="*/ 1585223 w 1885533"/>
                <a:gd name="connsiteY15" fmla="*/ 519732 h 1837057"/>
                <a:gd name="connsiteX16" fmla="*/ 1657205 w 1885533"/>
                <a:gd name="connsiteY16" fmla="*/ 476189 h 1837057"/>
                <a:gd name="connsiteX17" fmla="*/ 1682787 w 1885533"/>
                <a:gd name="connsiteY17" fmla="*/ 446526 h 1837057"/>
                <a:gd name="connsiteX18" fmla="*/ 778048 w 1885533"/>
                <a:gd name="connsiteY18" fmla="*/ 1681646 h 1837057"/>
                <a:gd name="connsiteX19" fmla="*/ 118646 w 1885533"/>
                <a:gd name="connsiteY19" fmla="*/ 1279691 h 1837057"/>
                <a:gd name="connsiteX20" fmla="*/ 118646 w 1885533"/>
                <a:gd name="connsiteY20" fmla="*/ 539871 h 1837057"/>
                <a:gd name="connsiteX21" fmla="*/ 777912 w 1885533"/>
                <a:gd name="connsiteY21" fmla="*/ 918421 h 1837057"/>
                <a:gd name="connsiteX22" fmla="*/ 777912 w 1885533"/>
                <a:gd name="connsiteY22" fmla="*/ 1681510 h 1837057"/>
                <a:gd name="connsiteX23" fmla="*/ 838327 w 1885533"/>
                <a:gd name="connsiteY23" fmla="*/ 795141 h 1837057"/>
                <a:gd name="connsiteX24" fmla="*/ 211174 w 1885533"/>
                <a:gd name="connsiteY24" fmla="*/ 439586 h 1837057"/>
                <a:gd name="connsiteX25" fmla="*/ 838327 w 1885533"/>
                <a:gd name="connsiteY25" fmla="*/ 126213 h 1837057"/>
                <a:gd name="connsiteX26" fmla="*/ 1465344 w 1885533"/>
                <a:gd name="connsiteY26" fmla="*/ 439586 h 1837057"/>
                <a:gd name="connsiteX27" fmla="*/ 838327 w 1885533"/>
                <a:gd name="connsiteY27" fmla="*/ 795141 h 1837057"/>
                <a:gd name="connsiteX28" fmla="*/ 1869477 w 1885533"/>
                <a:gd name="connsiteY28" fmla="*/ 1419981 h 1837057"/>
                <a:gd name="connsiteX29" fmla="*/ 1517052 w 1885533"/>
                <a:gd name="connsiteY29" fmla="*/ 1631572 h 1837057"/>
                <a:gd name="connsiteX30" fmla="*/ 1476502 w 1885533"/>
                <a:gd name="connsiteY30" fmla="*/ 1629939 h 1837057"/>
                <a:gd name="connsiteX31" fmla="*/ 1125574 w 1885533"/>
                <a:gd name="connsiteY31" fmla="*/ 1419981 h 1837057"/>
                <a:gd name="connsiteX32" fmla="*/ 1109110 w 1885533"/>
                <a:gd name="connsiteY32" fmla="*/ 1390997 h 1837057"/>
                <a:gd name="connsiteX33" fmla="*/ 1109110 w 1885533"/>
                <a:gd name="connsiteY33" fmla="*/ 1012719 h 1837057"/>
                <a:gd name="connsiteX34" fmla="*/ 1140406 w 1885533"/>
                <a:gd name="connsiteY34" fmla="*/ 969448 h 1837057"/>
                <a:gd name="connsiteX35" fmla="*/ 1482353 w 1885533"/>
                <a:gd name="connsiteY35" fmla="*/ 780309 h 1837057"/>
                <a:gd name="connsiteX36" fmla="*/ 1512289 w 1885533"/>
                <a:gd name="connsiteY36" fmla="*/ 780309 h 1837057"/>
                <a:gd name="connsiteX37" fmla="*/ 1854645 w 1885533"/>
                <a:gd name="connsiteY37" fmla="*/ 969448 h 1837057"/>
                <a:gd name="connsiteX38" fmla="*/ 1851923 w 1885533"/>
                <a:gd name="connsiteY38" fmla="*/ 969448 h 1837057"/>
                <a:gd name="connsiteX39" fmla="*/ 1855189 w 1885533"/>
                <a:gd name="connsiteY39" fmla="*/ 969992 h 1837057"/>
                <a:gd name="connsiteX40" fmla="*/ 1864034 w 1885533"/>
                <a:gd name="connsiteY40" fmla="*/ 974483 h 1837057"/>
                <a:gd name="connsiteX41" fmla="*/ 1885533 w 1885533"/>
                <a:gd name="connsiteY41" fmla="*/ 1003058 h 1837057"/>
                <a:gd name="connsiteX42" fmla="*/ 1885533 w 1885533"/>
                <a:gd name="connsiteY42" fmla="*/ 1390861 h 1837057"/>
                <a:gd name="connsiteX43" fmla="*/ 1869477 w 1885533"/>
                <a:gd name="connsiteY43" fmla="*/ 1419981 h 1837057"/>
                <a:gd name="connsiteX44" fmla="*/ 1241235 w 1885533"/>
                <a:gd name="connsiteY44" fmla="*/ 1006051 h 1837057"/>
                <a:gd name="connsiteX45" fmla="*/ 1495416 w 1885533"/>
                <a:gd name="connsiteY45" fmla="*/ 1148790 h 1837057"/>
                <a:gd name="connsiteX46" fmla="*/ 1753272 w 1885533"/>
                <a:gd name="connsiteY46" fmla="*/ 1006051 h 1837057"/>
                <a:gd name="connsiteX47" fmla="*/ 1495416 w 1885533"/>
                <a:gd name="connsiteY47" fmla="*/ 863993 h 1837057"/>
                <a:gd name="connsiteX48" fmla="*/ 1241235 w 1885533"/>
                <a:gd name="connsiteY48" fmla="*/ 1006051 h 1837057"/>
                <a:gd name="connsiteX49" fmla="*/ 1546035 w 1885533"/>
                <a:gd name="connsiteY49" fmla="*/ 1523123 h 1837057"/>
                <a:gd name="connsiteX50" fmla="*/ 1805931 w 1885533"/>
                <a:gd name="connsiteY50" fmla="*/ 1366368 h 1837057"/>
                <a:gd name="connsiteX51" fmla="*/ 1805931 w 1885533"/>
                <a:gd name="connsiteY51" fmla="*/ 1084156 h 1837057"/>
                <a:gd name="connsiteX52" fmla="*/ 1546035 w 1885533"/>
                <a:gd name="connsiteY52" fmla="*/ 1231522 h 1837057"/>
                <a:gd name="connsiteX53" fmla="*/ 1546035 w 1885533"/>
                <a:gd name="connsiteY53" fmla="*/ 1522987 h 1837057"/>
                <a:gd name="connsiteX54" fmla="*/ 1453915 w 1885533"/>
                <a:gd name="connsiteY54" fmla="*/ 1518496 h 1837057"/>
                <a:gd name="connsiteX55" fmla="*/ 1453915 w 1885533"/>
                <a:gd name="connsiteY55" fmla="*/ 1232882 h 1837057"/>
                <a:gd name="connsiteX56" fmla="*/ 1199053 w 1885533"/>
                <a:gd name="connsiteY56" fmla="*/ 1088647 h 1837057"/>
                <a:gd name="connsiteX57" fmla="*/ 1199053 w 1885533"/>
                <a:gd name="connsiteY57" fmla="*/ 1364872 h 1837057"/>
                <a:gd name="connsiteX58" fmla="*/ 1453915 w 1885533"/>
                <a:gd name="connsiteY58" fmla="*/ 1518632 h 183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85533" h="1837057">
                  <a:moveTo>
                    <a:pt x="1682923" y="446526"/>
                  </a:moveTo>
                  <a:cubicBezTo>
                    <a:pt x="1684692" y="428972"/>
                    <a:pt x="1669860" y="410467"/>
                    <a:pt x="1651898" y="401350"/>
                  </a:cubicBezTo>
                  <a:lnTo>
                    <a:pt x="858602" y="4838"/>
                  </a:lnTo>
                  <a:cubicBezTo>
                    <a:pt x="845855" y="-1613"/>
                    <a:pt x="830800" y="-1613"/>
                    <a:pt x="818053" y="4838"/>
                  </a:cubicBezTo>
                  <a:lnTo>
                    <a:pt x="25164" y="401350"/>
                  </a:lnTo>
                  <a:cubicBezTo>
                    <a:pt x="-4363" y="420672"/>
                    <a:pt x="263" y="463535"/>
                    <a:pt x="263" y="468025"/>
                  </a:cubicBezTo>
                  <a:lnTo>
                    <a:pt x="263" y="1314389"/>
                  </a:lnTo>
                  <a:cubicBezTo>
                    <a:pt x="263" y="1330037"/>
                    <a:pt x="8428" y="1344733"/>
                    <a:pt x="22035" y="1353034"/>
                  </a:cubicBezTo>
                  <a:cubicBezTo>
                    <a:pt x="22035" y="1353034"/>
                    <a:pt x="797914" y="1821936"/>
                    <a:pt x="811249" y="1827923"/>
                  </a:cubicBezTo>
                  <a:cubicBezTo>
                    <a:pt x="838463" y="1841394"/>
                    <a:pt x="855608" y="1837720"/>
                    <a:pt x="868399" y="1831189"/>
                  </a:cubicBezTo>
                  <a:lnTo>
                    <a:pt x="1126663" y="1681782"/>
                  </a:lnTo>
                  <a:cubicBezTo>
                    <a:pt x="1148706" y="1668855"/>
                    <a:pt x="1150475" y="1649261"/>
                    <a:pt x="1147618" y="1615379"/>
                  </a:cubicBezTo>
                  <a:cubicBezTo>
                    <a:pt x="1144760" y="1581634"/>
                    <a:pt x="1115233" y="1563264"/>
                    <a:pt x="1093597" y="1575782"/>
                  </a:cubicBezTo>
                  <a:cubicBezTo>
                    <a:pt x="1071826" y="1588165"/>
                    <a:pt x="901056" y="1691035"/>
                    <a:pt x="901056" y="1691035"/>
                  </a:cubicBezTo>
                  <a:lnTo>
                    <a:pt x="901056" y="918149"/>
                  </a:lnTo>
                  <a:lnTo>
                    <a:pt x="1585223" y="519732"/>
                  </a:lnTo>
                  <a:lnTo>
                    <a:pt x="1657205" y="476189"/>
                  </a:lnTo>
                  <a:cubicBezTo>
                    <a:pt x="1671493" y="466936"/>
                    <a:pt x="1680882" y="455098"/>
                    <a:pt x="1682787" y="446526"/>
                  </a:cubicBezTo>
                  <a:close/>
                  <a:moveTo>
                    <a:pt x="778048" y="1681646"/>
                  </a:moveTo>
                  <a:lnTo>
                    <a:pt x="118646" y="1279691"/>
                  </a:lnTo>
                  <a:lnTo>
                    <a:pt x="118646" y="539871"/>
                  </a:lnTo>
                  <a:lnTo>
                    <a:pt x="777912" y="918421"/>
                  </a:lnTo>
                  <a:lnTo>
                    <a:pt x="777912" y="1681510"/>
                  </a:lnTo>
                  <a:close/>
                  <a:moveTo>
                    <a:pt x="838327" y="795141"/>
                  </a:moveTo>
                  <a:lnTo>
                    <a:pt x="211174" y="439586"/>
                  </a:lnTo>
                  <a:lnTo>
                    <a:pt x="838327" y="126213"/>
                  </a:lnTo>
                  <a:lnTo>
                    <a:pt x="1465344" y="439586"/>
                  </a:lnTo>
                  <a:lnTo>
                    <a:pt x="838327" y="795141"/>
                  </a:lnTo>
                  <a:close/>
                  <a:moveTo>
                    <a:pt x="1869477" y="1419981"/>
                  </a:moveTo>
                  <a:lnTo>
                    <a:pt x="1517052" y="1631572"/>
                  </a:lnTo>
                  <a:cubicBezTo>
                    <a:pt x="1497321" y="1645315"/>
                    <a:pt x="1476502" y="1629939"/>
                    <a:pt x="1476502" y="1629939"/>
                  </a:cubicBezTo>
                  <a:cubicBezTo>
                    <a:pt x="1474597" y="1629531"/>
                    <a:pt x="1125574" y="1419981"/>
                    <a:pt x="1125574" y="1419981"/>
                  </a:cubicBezTo>
                  <a:cubicBezTo>
                    <a:pt x="1115364" y="1413894"/>
                    <a:pt x="1109110" y="1402884"/>
                    <a:pt x="1109110" y="1390997"/>
                  </a:cubicBezTo>
                  <a:lnTo>
                    <a:pt x="1109110" y="1012719"/>
                  </a:lnTo>
                  <a:cubicBezTo>
                    <a:pt x="1109110" y="1000472"/>
                    <a:pt x="1115369" y="979109"/>
                    <a:pt x="1140406" y="969448"/>
                  </a:cubicBezTo>
                  <a:lnTo>
                    <a:pt x="1482353" y="780309"/>
                  </a:lnTo>
                  <a:cubicBezTo>
                    <a:pt x="1491832" y="775841"/>
                    <a:pt x="1502811" y="775841"/>
                    <a:pt x="1512289" y="780309"/>
                  </a:cubicBezTo>
                  <a:lnTo>
                    <a:pt x="1854645" y="969448"/>
                  </a:lnTo>
                  <a:lnTo>
                    <a:pt x="1851923" y="969448"/>
                  </a:lnTo>
                  <a:cubicBezTo>
                    <a:pt x="1852876" y="969448"/>
                    <a:pt x="1854237" y="969448"/>
                    <a:pt x="1855189" y="969992"/>
                  </a:cubicBezTo>
                  <a:lnTo>
                    <a:pt x="1864034" y="974483"/>
                  </a:lnTo>
                  <a:cubicBezTo>
                    <a:pt x="1875192" y="979790"/>
                    <a:pt x="1885533" y="989451"/>
                    <a:pt x="1885533" y="1003058"/>
                  </a:cubicBezTo>
                  <a:lnTo>
                    <a:pt x="1885533" y="1390861"/>
                  </a:lnTo>
                  <a:cubicBezTo>
                    <a:pt x="1885560" y="1402687"/>
                    <a:pt x="1879492" y="1413692"/>
                    <a:pt x="1869477" y="1419981"/>
                  </a:cubicBezTo>
                  <a:close/>
                  <a:moveTo>
                    <a:pt x="1241235" y="1006051"/>
                  </a:moveTo>
                  <a:lnTo>
                    <a:pt x="1495416" y="1148790"/>
                  </a:lnTo>
                  <a:lnTo>
                    <a:pt x="1753272" y="1006051"/>
                  </a:lnTo>
                  <a:lnTo>
                    <a:pt x="1495416" y="863993"/>
                  </a:lnTo>
                  <a:lnTo>
                    <a:pt x="1241235" y="1006051"/>
                  </a:lnTo>
                  <a:close/>
                  <a:moveTo>
                    <a:pt x="1546035" y="1523123"/>
                  </a:moveTo>
                  <a:lnTo>
                    <a:pt x="1805931" y="1366368"/>
                  </a:lnTo>
                  <a:lnTo>
                    <a:pt x="1805931" y="1084156"/>
                  </a:lnTo>
                  <a:lnTo>
                    <a:pt x="1546035" y="1231522"/>
                  </a:lnTo>
                  <a:lnTo>
                    <a:pt x="1546035" y="1522987"/>
                  </a:lnTo>
                  <a:close/>
                  <a:moveTo>
                    <a:pt x="1453915" y="1518496"/>
                  </a:moveTo>
                  <a:lnTo>
                    <a:pt x="1453915" y="1232882"/>
                  </a:lnTo>
                  <a:lnTo>
                    <a:pt x="1199053" y="1088647"/>
                  </a:lnTo>
                  <a:lnTo>
                    <a:pt x="1199053" y="1364872"/>
                  </a:lnTo>
                  <a:lnTo>
                    <a:pt x="1453915" y="1518632"/>
                  </a:lnTo>
                  <a:close/>
                </a:path>
              </a:pathLst>
            </a:custGeom>
            <a:solidFill>
              <a:srgbClr val="0042FF"/>
            </a:solid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94" name="小智PPT31"/>
          <p:cNvSpPr/>
          <p:nvPr/>
        </p:nvSpPr>
        <p:spPr>
          <a:xfrm rot="19620000" flipH="1">
            <a:off x="2148205" y="4688205"/>
            <a:ext cx="671195" cy="671195"/>
          </a:xfrm>
          <a:prstGeom prst="ellipse">
            <a:avLst/>
          </a:prstGeom>
          <a:solidFill>
            <a:srgbClr val="DCDCDC">
              <a:alpha val="40000"/>
            </a:srgbClr>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97" name="小智PPT30"/>
          <p:cNvSpPr txBox="1"/>
          <p:nvPr/>
        </p:nvSpPr>
        <p:spPr>
          <a:xfrm rot="18365675" flipH="1">
            <a:off x="2540383" y="4173028"/>
            <a:ext cx="781050" cy="454025"/>
          </a:xfrm>
          <a:prstGeom prst="rect">
            <a:avLst/>
          </a:prstGeom>
          <a:noFill/>
          <a:effectLst/>
        </p:spPr>
        <p:txBody>
          <a:bodyPr wrap="none" lIns="0" tIns="0" rIns="0" bIns="0" rtlCol="0">
            <a:spAutoFit/>
          </a:bodyPr>
          <a:lstStyle>
            <a:defPPr>
              <a:defRPr lang="zh-CN">
                <a:latin typeface="微软雅黑"/>
                <a:ea typeface="微软雅黑"/>
                <a:cs typeface="微软雅黑"/>
              </a:defRPr>
            </a:defPPr>
            <a:lvl1pPr marR="0" lvl="0" fontAlgn="auto">
              <a:lnSpc>
                <a:spcPct val="100000"/>
              </a:lnSpc>
              <a:spcBef>
                <a:spcPts val="0"/>
              </a:spcBef>
              <a:spcAft>
                <a:spcPts val="0"/>
              </a:spcAft>
              <a:buClrTx/>
              <a:buSzTx/>
              <a:defRPr kumimoji="0" sz="1200" i="0" u="none" strike="noStrike" cap="none" spc="0" normalizeH="0" baseline="0">
                <a:ln>
                  <a:noFill/>
                </a:ln>
                <a:solidFill>
                  <a:srgbClr val="383838"/>
                </a:solidFill>
                <a:effectLst/>
                <a:uLnTx/>
                <a:uFillTx/>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0" i="0" u="none" strike="noStrike" kern="1200" cap="none" spc="0" normalizeH="0" baseline="0" noProof="0">
                <a:ln>
                  <a:noFill/>
                </a:ln>
                <a:solidFill>
                  <a:srgbClr val="383838"/>
                </a:solidFill>
                <a:effectLst/>
                <a:uLnTx/>
                <a:uFillTx/>
                <a:latin typeface="微软雅黑"/>
                <a:ea typeface="微软雅黑"/>
                <a:cs typeface="微软雅黑"/>
              </a:rPr>
              <a:t>分析维度</a:t>
            </a:r>
            <a:endParaRPr kumimoji="0" lang="en-US" altLang="zh-CN" b="0" i="0" u="none" strike="noStrike" kern="1200" cap="none" spc="0" normalizeH="0" baseline="0" noProof="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0" i="0" u="none" strike="noStrike" kern="1200" cap="none" spc="0" normalizeH="0" baseline="0" noProof="0">
                <a:ln>
                  <a:noFill/>
                </a:ln>
                <a:solidFill>
                  <a:srgbClr val="383838"/>
                </a:solidFill>
                <a:effectLst/>
                <a:uLnTx/>
                <a:uFillTx/>
                <a:latin typeface="微软雅黑"/>
                <a:ea typeface="微软雅黑"/>
                <a:cs typeface="微软雅黑"/>
              </a:rPr>
              <a:t>整理收集</a:t>
            </a:r>
            <a:endParaRPr kumimoji="0" lang="zh-CN" altLang="en-US" b="0" i="0" u="none" strike="noStrike" kern="1200" cap="none" spc="0" normalizeH="0" baseline="0" noProof="0" dirty="0">
              <a:ln>
                <a:noFill/>
              </a:ln>
              <a:solidFill>
                <a:srgbClr val="383838"/>
              </a:solidFill>
              <a:effectLst/>
              <a:uLnTx/>
              <a:uFillTx/>
              <a:latin typeface="微软雅黑"/>
              <a:ea typeface="微软雅黑"/>
              <a:cs typeface="微软雅黑"/>
            </a:endParaRPr>
          </a:p>
        </p:txBody>
      </p:sp>
      <p:pic>
        <p:nvPicPr>
          <p:cNvPr id="100" name="图片 99" descr="数据分析"/>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44102" y="4884103"/>
            <a:ext cx="279400" cy="279400"/>
          </a:xfrm>
          <a:prstGeom prst="rect">
            <a:avLst/>
          </a:prstGeom>
        </p:spPr>
      </p:pic>
      <p:sp>
        <p:nvSpPr>
          <p:cNvPr id="102" name="小智PPT31"/>
          <p:cNvSpPr/>
          <p:nvPr/>
        </p:nvSpPr>
        <p:spPr>
          <a:xfrm rot="19620000" flipH="1">
            <a:off x="3295650" y="3343910"/>
            <a:ext cx="671195" cy="671195"/>
          </a:xfrm>
          <a:prstGeom prst="ellipse">
            <a:avLst/>
          </a:prstGeom>
          <a:solidFill>
            <a:srgbClr val="DCDCDC">
              <a:alpha val="40000"/>
            </a:srgbClr>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10" name="小智PPT31"/>
          <p:cNvSpPr/>
          <p:nvPr/>
        </p:nvSpPr>
        <p:spPr>
          <a:xfrm rot="19620000" flipH="1">
            <a:off x="5133340" y="2623820"/>
            <a:ext cx="671195" cy="671195"/>
          </a:xfrm>
          <a:prstGeom prst="ellipse">
            <a:avLst/>
          </a:prstGeom>
          <a:solidFill>
            <a:srgbClr val="DCDCDC">
              <a:alpha val="40000"/>
            </a:srgbClr>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14" name="小智PPT31"/>
          <p:cNvSpPr/>
          <p:nvPr/>
        </p:nvSpPr>
        <p:spPr>
          <a:xfrm rot="19620000" flipH="1">
            <a:off x="7294245" y="2894965"/>
            <a:ext cx="671195" cy="671195"/>
          </a:xfrm>
          <a:prstGeom prst="ellipse">
            <a:avLst/>
          </a:prstGeom>
          <a:solidFill>
            <a:srgbClr val="DCDCDC">
              <a:alpha val="40000"/>
            </a:srgbClr>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18" name="小智PPT31"/>
          <p:cNvSpPr/>
          <p:nvPr/>
        </p:nvSpPr>
        <p:spPr>
          <a:xfrm rot="19620000" flipH="1">
            <a:off x="8854440" y="4041140"/>
            <a:ext cx="671195" cy="671195"/>
          </a:xfrm>
          <a:prstGeom prst="ellipse">
            <a:avLst/>
          </a:prstGeom>
          <a:solidFill>
            <a:srgbClr val="DCDCDC">
              <a:alpha val="40000"/>
            </a:srgbClr>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20" name="小智PPT31"/>
          <p:cNvSpPr/>
          <p:nvPr/>
        </p:nvSpPr>
        <p:spPr>
          <a:xfrm rot="19620000" flipH="1">
            <a:off x="9610090" y="5777865"/>
            <a:ext cx="671195" cy="671195"/>
          </a:xfrm>
          <a:prstGeom prst="ellipse">
            <a:avLst/>
          </a:prstGeom>
          <a:solidFill>
            <a:srgbClr val="DCDCDC">
              <a:alpha val="40000"/>
            </a:srgbClr>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43" name="小智PPT26"/>
          <p:cNvSpPr txBox="1"/>
          <p:nvPr/>
        </p:nvSpPr>
        <p:spPr>
          <a:xfrm rot="19826236" flipH="1">
            <a:off x="3961800" y="3065605"/>
            <a:ext cx="789140" cy="456125"/>
          </a:xfrm>
          <a:prstGeom prst="rect">
            <a:avLst/>
          </a:prstGeom>
          <a:noFill/>
          <a:effectLst/>
        </p:spPr>
        <p:txBody>
          <a:bodyPr wrap="none" lIns="0" tIns="0" rIns="0" bIns="0" rtlCol="0">
            <a:spAutoFit/>
          </a:bodyPr>
          <a:lstStyle>
            <a:defPPr>
              <a:defRPr lang="zh-CN">
                <a:latin typeface="微软雅黑"/>
                <a:ea typeface="微软雅黑"/>
                <a:cs typeface="微软雅黑"/>
              </a:defRPr>
            </a:defPPr>
            <a:lvl1pPr marR="0" lvl="0" fontAlgn="auto">
              <a:lnSpc>
                <a:spcPct val="100000"/>
              </a:lnSpc>
              <a:spcBef>
                <a:spcPts val="0"/>
              </a:spcBef>
              <a:spcAft>
                <a:spcPts val="0"/>
              </a:spcAft>
              <a:buClrTx/>
              <a:buSzTx/>
              <a:defRPr kumimoji="0" sz="1200" i="0" u="none" strike="noStrike" cap="none" spc="0" normalizeH="0" baseline="0">
                <a:ln>
                  <a:noFill/>
                </a:ln>
                <a:solidFill>
                  <a:srgbClr val="383838"/>
                </a:solidFill>
                <a:effectLst/>
                <a:uLnTx/>
                <a:uFillTx/>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确定目标</a:t>
            </a:r>
            <a:endParaRPr kumimoji="0" lang="en-US" altLang="zh-CN" sz="1200" b="0" i="0" u="none" strike="noStrike" kern="1200" cap="none" spc="0" normalizeH="0" baseline="0" noProof="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选择竞品</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7" name="小智PPT28"/>
          <p:cNvSpPr txBox="1"/>
          <p:nvPr/>
        </p:nvSpPr>
        <p:spPr>
          <a:xfrm rot="2060980">
            <a:off x="4895374" y="3792475"/>
            <a:ext cx="5492012" cy="1710595"/>
          </a:xfrm>
          <a:prstGeom prst="rect">
            <a:avLst/>
          </a:prstGeom>
          <a:noFill/>
          <a:effectLst/>
        </p:spPr>
        <p:txBody>
          <a:bodyPr wrap="none" lIns="0" tIns="0" rIns="0" bIns="0" rtlCol="0">
            <a:prstTxWarp prst="textArchUp">
              <a:avLst>
                <a:gd name="adj" fmla="val 11450686"/>
              </a:avLst>
            </a:prstTxWarp>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l" defTabSz="914400" rtl="0" eaLnBrk="1" fontAlgn="auto" latinLnBrk="0" hangingPunct="1">
              <a:lnSpc>
                <a:spcPct val="13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了解用户活跃群体</a:t>
            </a:r>
            <a:endParaRPr kumimoji="0" lang="en-US" altLang="zh-CN" sz="1200" b="0" i="0" u="none" strike="noStrike" kern="1200" cap="none" spc="0" normalizeH="0" baseline="0" noProof="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3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理解产品特征</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5" name="小智PPT33"/>
          <p:cNvSpPr txBox="1"/>
          <p:nvPr/>
        </p:nvSpPr>
        <p:spPr>
          <a:xfrm rot="2434639" flipH="1">
            <a:off x="7903399" y="3361935"/>
            <a:ext cx="789140" cy="456125"/>
          </a:xfrm>
          <a:prstGeom prst="rect">
            <a:avLst/>
          </a:prstGeom>
          <a:noFill/>
          <a:effectLst/>
        </p:spPr>
        <p:txBody>
          <a:bodyPr wrap="none" lIns="0" tIns="0" rIns="0" bIns="0" rtlCol="0">
            <a:spAutoFit/>
          </a:bodyPr>
          <a:lstStyle>
            <a:defPPr>
              <a:defRPr lang="zh-CN">
                <a:latin typeface="微软雅黑"/>
                <a:ea typeface="微软雅黑"/>
                <a:cs typeface="微软雅黑"/>
              </a:defRPr>
            </a:defPPr>
            <a:lvl1pPr marR="0" lvl="0" fontAlgn="auto">
              <a:lnSpc>
                <a:spcPct val="100000"/>
              </a:lnSpc>
              <a:spcBef>
                <a:spcPts val="0"/>
              </a:spcBef>
              <a:spcAft>
                <a:spcPts val="0"/>
              </a:spcAft>
              <a:buClrTx/>
              <a:buSzTx/>
              <a:defRPr kumimoji="0" sz="1200" i="0" u="none" strike="noStrike" cap="none" spc="0" normalizeH="0" baseline="0">
                <a:ln>
                  <a:noFill/>
                </a:ln>
                <a:solidFill>
                  <a:srgbClr val="383838"/>
                </a:solidFill>
                <a:effectLst/>
                <a:uLnTx/>
                <a:uFillTx/>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品牌调性</a:t>
            </a:r>
            <a:endParaRPr kumimoji="0" lang="en-US" altLang="zh-CN" sz="1200" b="0" i="0" u="none" strike="noStrike" kern="1200" cap="none" spc="0" normalizeH="0" baseline="0" noProof="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内容特征</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8" name="小智PPT35"/>
          <p:cNvSpPr txBox="1"/>
          <p:nvPr/>
        </p:nvSpPr>
        <p:spPr>
          <a:xfrm rot="3772799" flipH="1">
            <a:off x="9185206" y="4796789"/>
            <a:ext cx="789140" cy="456125"/>
          </a:xfrm>
          <a:prstGeom prst="rect">
            <a:avLst/>
          </a:prstGeom>
          <a:noFill/>
          <a:effectLst/>
        </p:spPr>
        <p:txBody>
          <a:bodyPr wrap="none" lIns="0" tIns="0" rIns="0" bIns="0" rtlCol="0">
            <a:spAutoFit/>
          </a:bodyPr>
          <a:lstStyle>
            <a:defPPr>
              <a:defRPr lang="zh-CN">
                <a:latin typeface="微软雅黑"/>
                <a:ea typeface="微软雅黑"/>
                <a:cs typeface="微软雅黑"/>
              </a:defRPr>
            </a:defPPr>
            <a:lvl1pPr marR="0" lvl="0" fontAlgn="auto">
              <a:lnSpc>
                <a:spcPct val="100000"/>
              </a:lnSpc>
              <a:spcBef>
                <a:spcPts val="0"/>
              </a:spcBef>
              <a:spcAft>
                <a:spcPts val="0"/>
              </a:spcAft>
              <a:buClrTx/>
              <a:buSzTx/>
              <a:defRPr kumimoji="0" sz="1200" i="0" u="none" strike="noStrike" cap="none" spc="0" normalizeH="0" baseline="0">
                <a:ln>
                  <a:noFill/>
                </a:ln>
                <a:solidFill>
                  <a:srgbClr val="383838"/>
                </a:solidFill>
                <a:effectLst/>
                <a:uLnTx/>
                <a:uFillTx/>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平台优势</a:t>
            </a:r>
            <a:endParaRPr kumimoji="0" lang="en-US" altLang="zh-CN" sz="1200" b="0" i="0" u="none" strike="noStrike" kern="1200" cap="none" spc="0" normalizeH="0" baseline="0" noProof="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a:ln>
                  <a:noFill/>
                </a:ln>
                <a:solidFill>
                  <a:srgbClr val="383838"/>
                </a:solidFill>
                <a:effectLst/>
                <a:uLnTx/>
                <a:uFillTx/>
                <a:latin typeface="微软雅黑"/>
                <a:ea typeface="微软雅黑"/>
                <a:cs typeface="微软雅黑"/>
              </a:rPr>
              <a:t>把握市场</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pic>
        <p:nvPicPr>
          <p:cNvPr id="183" name="图片 182" descr="竞品"/>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408045" y="3456305"/>
            <a:ext cx="446405" cy="446405"/>
          </a:xfrm>
          <a:prstGeom prst="rect">
            <a:avLst/>
          </a:prstGeom>
        </p:spPr>
      </p:pic>
      <p:pic>
        <p:nvPicPr>
          <p:cNvPr id="184" name="图片 183" descr="用户中心"/>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261928" y="2752408"/>
            <a:ext cx="414020" cy="414020"/>
          </a:xfrm>
          <a:prstGeom prst="rect">
            <a:avLst/>
          </a:prstGeom>
        </p:spPr>
      </p:pic>
      <p:pic>
        <p:nvPicPr>
          <p:cNvPr id="185" name="图片 184" descr="数字媒体类"/>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384415" y="2985135"/>
            <a:ext cx="490855" cy="490855"/>
          </a:xfrm>
          <a:prstGeom prst="rect">
            <a:avLst/>
          </a:prstGeom>
        </p:spPr>
      </p:pic>
      <p:pic>
        <p:nvPicPr>
          <p:cNvPr id="191" name="图片 190" descr="技术市场"/>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024620" y="4199255"/>
            <a:ext cx="360045" cy="360045"/>
          </a:xfrm>
          <a:prstGeom prst="rect">
            <a:avLst/>
          </a:prstGeom>
        </p:spPr>
      </p:pic>
      <p:pic>
        <p:nvPicPr>
          <p:cNvPr id="192" name="图片 191" descr="爱心"/>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739630" y="5946140"/>
            <a:ext cx="412750" cy="412750"/>
          </a:xfrm>
          <a:prstGeom prst="rect">
            <a:avLst/>
          </a:prstGeom>
        </p:spPr>
      </p:pic>
      <p:grpSp>
        <p:nvGrpSpPr>
          <p:cNvPr id="2" name="组合 1"/>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15"/>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96" name="组合 195"/>
          <p:cNvGrpSpPr/>
          <p:nvPr/>
        </p:nvGrpSpPr>
        <p:grpSpPr>
          <a:xfrm>
            <a:off x="3112770" y="3849370"/>
            <a:ext cx="5839460" cy="4714240"/>
            <a:chOff x="4902" y="6062"/>
            <a:chExt cx="9196" cy="7424"/>
          </a:xfrm>
        </p:grpSpPr>
        <p:grpSp>
          <p:nvGrpSpPr>
            <p:cNvPr id="197" name="组合 196"/>
            <p:cNvGrpSpPr/>
            <p:nvPr/>
          </p:nvGrpSpPr>
          <p:grpSpPr>
            <a:xfrm>
              <a:off x="4902" y="6062"/>
              <a:ext cx="9196" cy="7425"/>
              <a:chOff x="3030686" y="3768035"/>
              <a:chExt cx="5839375" cy="4715169"/>
            </a:xfrm>
          </p:grpSpPr>
          <p:sp>
            <p:nvSpPr>
              <p:cNvPr id="198" name="文本框 197"/>
              <p:cNvSpPr txBox="1"/>
              <p:nvPr/>
            </p:nvSpPr>
            <p:spPr>
              <a:xfrm rot="1131988">
                <a:off x="3783974" y="3773068"/>
                <a:ext cx="3955695" cy="3955695"/>
              </a:xfrm>
              <a:prstGeom prst="rect">
                <a:avLst/>
              </a:prstGeom>
              <a:noFill/>
            </p:spPr>
            <p:txBody>
              <a:bodyPr wrap="square" rtlCol="0">
                <a:prstTxWarp prst="textArchUp">
                  <a:avLst>
                    <a:gd name="adj" fmla="val 13539527"/>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品牌价值</a:t>
                </a:r>
                <a:endParaRPr lang="zh-CN" altLang="en-US" sz="1600" dirty="0">
                  <a:solidFill>
                    <a:srgbClr val="FFFFFF"/>
                  </a:solidFill>
                  <a:latin typeface="微软雅黑"/>
                  <a:ea typeface="微软雅黑"/>
                  <a:cs typeface="微软雅黑"/>
                </a:endParaRPr>
              </a:p>
            </p:txBody>
          </p:sp>
          <p:grpSp>
            <p:nvGrpSpPr>
              <p:cNvPr id="199" name="组合 198"/>
              <p:cNvGrpSpPr/>
              <p:nvPr/>
            </p:nvGrpSpPr>
            <p:grpSpPr>
              <a:xfrm>
                <a:off x="3030686" y="3768035"/>
                <a:ext cx="5839375" cy="4715169"/>
                <a:chOff x="3030686" y="3768035"/>
                <a:chExt cx="5839375" cy="4715169"/>
              </a:xfrm>
            </p:grpSpPr>
            <p:sp>
              <p:nvSpPr>
                <p:cNvPr id="200" name="文本框 199"/>
                <p:cNvSpPr txBox="1"/>
                <p:nvPr/>
              </p:nvSpPr>
              <p:spPr>
                <a:xfrm rot="1131988">
                  <a:off x="4140630" y="3768035"/>
                  <a:ext cx="3955695" cy="3955695"/>
                </a:xfrm>
                <a:prstGeom prst="rect">
                  <a:avLst/>
                </a:prstGeom>
                <a:noFill/>
              </p:spPr>
              <p:txBody>
                <a:bodyPr wrap="square" rtlCol="0">
                  <a:prstTxWarp prst="textArchUp">
                    <a:avLst>
                      <a:gd name="adj" fmla="val 15365318"/>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用户触达</a:t>
                  </a:r>
                  <a:endParaRPr lang="zh-CN" altLang="en-US" sz="1600" dirty="0">
                    <a:solidFill>
                      <a:srgbClr val="FFFFFF"/>
                    </a:solidFill>
                    <a:latin typeface="微软雅黑"/>
                    <a:ea typeface="微软雅黑"/>
                    <a:cs typeface="微软雅黑"/>
                  </a:endParaRPr>
                </a:p>
              </p:txBody>
            </p:sp>
            <p:grpSp>
              <p:nvGrpSpPr>
                <p:cNvPr id="201" name="组合 200"/>
                <p:cNvGrpSpPr/>
                <p:nvPr/>
              </p:nvGrpSpPr>
              <p:grpSpPr>
                <a:xfrm>
                  <a:off x="3030686" y="3961852"/>
                  <a:ext cx="5839375" cy="4521352"/>
                  <a:chOff x="-9521627" y="6609468"/>
                  <a:chExt cx="12023570" cy="9309692"/>
                </a:xfrm>
              </p:grpSpPr>
              <p:sp>
                <p:nvSpPr>
                  <p:cNvPr id="202" name="文本框 201"/>
                  <p:cNvSpPr txBox="1"/>
                  <p:nvPr/>
                </p:nvSpPr>
                <p:spPr>
                  <a:xfrm rot="21310916">
                    <a:off x="-9521627" y="7774184"/>
                    <a:ext cx="8144977" cy="8144976"/>
                  </a:xfrm>
                  <a:prstGeom prst="rect">
                    <a:avLst/>
                  </a:prstGeom>
                  <a:noFill/>
                </p:spPr>
                <p:txBody>
                  <a:bodyPr wrap="square" rtlCol="0">
                    <a:prstTxWarp prst="textArchUp">
                      <a:avLst>
                        <a:gd name="adj" fmla="val 11551436"/>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资源整合</a:t>
                    </a:r>
                    <a:endParaRPr lang="zh-CN" altLang="en-US" sz="1600" dirty="0">
                      <a:solidFill>
                        <a:srgbClr val="FFFFFF"/>
                      </a:solidFill>
                      <a:latin typeface="微软雅黑"/>
                      <a:ea typeface="微软雅黑"/>
                      <a:cs typeface="微软雅黑"/>
                    </a:endParaRPr>
                  </a:p>
                </p:txBody>
              </p:sp>
              <p:sp>
                <p:nvSpPr>
                  <p:cNvPr id="203" name="文本框 202"/>
                  <p:cNvSpPr txBox="1"/>
                  <p:nvPr/>
                </p:nvSpPr>
                <p:spPr>
                  <a:xfrm rot="20150042">
                    <a:off x="-8848853" y="6672523"/>
                    <a:ext cx="8144977" cy="8144976"/>
                  </a:xfrm>
                  <a:prstGeom prst="rect">
                    <a:avLst/>
                  </a:prstGeom>
                  <a:noFill/>
                </p:spPr>
                <p:txBody>
                  <a:bodyPr wrap="square" rtlCol="0">
                    <a:prstTxWarp prst="textArchUp">
                      <a:avLst>
                        <a:gd name="adj" fmla="val 14301844"/>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业务现状</a:t>
                    </a:r>
                    <a:endParaRPr lang="zh-CN" altLang="en-US" sz="1600" dirty="0">
                      <a:solidFill>
                        <a:srgbClr val="FFFFFF"/>
                      </a:solidFill>
                      <a:latin typeface="微软雅黑"/>
                      <a:ea typeface="微软雅黑"/>
                      <a:cs typeface="微软雅黑"/>
                    </a:endParaRPr>
                  </a:p>
                </p:txBody>
              </p:sp>
              <p:sp>
                <p:nvSpPr>
                  <p:cNvPr id="204" name="文本框 203"/>
                  <p:cNvSpPr txBox="1"/>
                  <p:nvPr/>
                </p:nvSpPr>
                <p:spPr>
                  <a:xfrm rot="1131988">
                    <a:off x="-6227179" y="6609468"/>
                    <a:ext cx="8144977" cy="8144976"/>
                  </a:xfrm>
                  <a:prstGeom prst="rect">
                    <a:avLst/>
                  </a:prstGeom>
                  <a:noFill/>
                </p:spPr>
                <p:txBody>
                  <a:bodyPr wrap="square" rtlCol="0">
                    <a:prstTxWarp prst="textArchUp">
                      <a:avLst>
                        <a:gd name="adj" fmla="val 16912373"/>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经营目标</a:t>
                    </a:r>
                    <a:endParaRPr lang="zh-CN" altLang="en-US" sz="1600" dirty="0">
                      <a:solidFill>
                        <a:srgbClr val="FFFFFF"/>
                      </a:solidFill>
                      <a:latin typeface="微软雅黑"/>
                      <a:ea typeface="微软雅黑"/>
                      <a:cs typeface="微软雅黑"/>
                    </a:endParaRPr>
                  </a:p>
                </p:txBody>
              </p:sp>
              <p:sp>
                <p:nvSpPr>
                  <p:cNvPr id="205" name="文本框 204"/>
                  <p:cNvSpPr txBox="1"/>
                  <p:nvPr/>
                </p:nvSpPr>
                <p:spPr>
                  <a:xfrm rot="326965">
                    <a:off x="-5643034" y="7568574"/>
                    <a:ext cx="8144977" cy="8144976"/>
                  </a:xfrm>
                  <a:prstGeom prst="rect">
                    <a:avLst/>
                  </a:prstGeom>
                  <a:noFill/>
                </p:spPr>
                <p:txBody>
                  <a:bodyPr wrap="square" rtlCol="0">
                    <a:prstTxWarp prst="textArchUp">
                      <a:avLst>
                        <a:gd name="adj" fmla="val 19571195"/>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需求痛点</a:t>
                    </a:r>
                    <a:endParaRPr lang="zh-CN" altLang="en-US" sz="1600" dirty="0">
                      <a:solidFill>
                        <a:srgbClr val="FFFFFF"/>
                      </a:solidFill>
                      <a:latin typeface="微软雅黑"/>
                      <a:ea typeface="微软雅黑"/>
                      <a:cs typeface="微软雅黑"/>
                    </a:endParaRPr>
                  </a:p>
                </p:txBody>
              </p:sp>
            </p:grpSp>
          </p:grpSp>
        </p:grpSp>
        <p:grpSp>
          <p:nvGrpSpPr>
            <p:cNvPr id="206" name="组合 205"/>
            <p:cNvGrpSpPr/>
            <p:nvPr/>
          </p:nvGrpSpPr>
          <p:grpSpPr>
            <a:xfrm>
              <a:off x="5825" y="6931"/>
              <a:ext cx="7400" cy="6398"/>
              <a:chOff x="5825" y="6931"/>
              <a:chExt cx="7400" cy="6398"/>
            </a:xfrm>
          </p:grpSpPr>
          <p:grpSp>
            <p:nvGrpSpPr>
              <p:cNvPr id="207" name="组合 206"/>
              <p:cNvGrpSpPr/>
              <p:nvPr/>
            </p:nvGrpSpPr>
            <p:grpSpPr>
              <a:xfrm>
                <a:off x="5825" y="6931"/>
                <a:ext cx="7401" cy="6398"/>
                <a:chOff x="3333537" y="3682227"/>
                <a:chExt cx="5175507" cy="4473698"/>
              </a:xfrm>
            </p:grpSpPr>
            <p:grpSp>
              <p:nvGrpSpPr>
                <p:cNvPr id="208" name="组合 207"/>
                <p:cNvGrpSpPr/>
                <p:nvPr/>
              </p:nvGrpSpPr>
              <p:grpSpPr>
                <a:xfrm>
                  <a:off x="3333537" y="3682227"/>
                  <a:ext cx="5175507" cy="4473698"/>
                  <a:chOff x="3333537" y="3682227"/>
                  <a:chExt cx="5175507" cy="4473698"/>
                </a:xfrm>
              </p:grpSpPr>
              <p:grpSp>
                <p:nvGrpSpPr>
                  <p:cNvPr id="209" name="组合 208"/>
                  <p:cNvGrpSpPr/>
                  <p:nvPr/>
                </p:nvGrpSpPr>
                <p:grpSpPr>
                  <a:xfrm>
                    <a:off x="3333537" y="3759084"/>
                    <a:ext cx="5175507" cy="4396841"/>
                    <a:chOff x="-8898042" y="6191958"/>
                    <a:chExt cx="10656633" cy="9053319"/>
                  </a:xfrm>
                </p:grpSpPr>
                <p:sp>
                  <p:nvSpPr>
                    <p:cNvPr id="210" name="文本框 209"/>
                    <p:cNvSpPr txBox="1"/>
                    <p:nvPr/>
                  </p:nvSpPr>
                  <p:spPr>
                    <a:xfrm rot="1131988">
                      <a:off x="-6957493" y="6191958"/>
                      <a:ext cx="8144976" cy="8144975"/>
                    </a:xfrm>
                    <a:prstGeom prst="rect">
                      <a:avLst/>
                    </a:prstGeom>
                    <a:noFill/>
                  </p:spPr>
                  <p:txBody>
                    <a:bodyPr wrap="square" rtlCol="0">
                      <a:prstTxWarp prst="textArchUp">
                        <a:avLst>
                          <a:gd name="adj" fmla="val 17050514"/>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分析梳理</a:t>
                      </a:r>
                      <a:endParaRPr lang="zh-CN" altLang="en-US" sz="1600" dirty="0">
                        <a:solidFill>
                          <a:srgbClr val="FFFFFF"/>
                        </a:solidFill>
                        <a:latin typeface="微软雅黑"/>
                        <a:ea typeface="微软雅黑"/>
                        <a:cs typeface="微软雅黑"/>
                      </a:endParaRPr>
                    </a:p>
                  </p:txBody>
                </p:sp>
                <p:sp>
                  <p:nvSpPr>
                    <p:cNvPr id="211" name="文本框 210"/>
                    <p:cNvSpPr txBox="1"/>
                    <p:nvPr/>
                  </p:nvSpPr>
                  <p:spPr>
                    <a:xfrm rot="21310916">
                      <a:off x="-8898042" y="7100302"/>
                      <a:ext cx="8144978" cy="8144975"/>
                    </a:xfrm>
                    <a:prstGeom prst="rect">
                      <a:avLst/>
                    </a:prstGeom>
                    <a:noFill/>
                  </p:spPr>
                  <p:txBody>
                    <a:bodyPr wrap="square" rtlCol="0">
                      <a:prstTxWarp prst="textArchUp">
                        <a:avLst>
                          <a:gd name="adj" fmla="val 11551436"/>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终端智能</a:t>
                      </a:r>
                      <a:endParaRPr lang="zh-CN" altLang="en-US" sz="1600" dirty="0">
                        <a:solidFill>
                          <a:srgbClr val="FFFFFF"/>
                        </a:solidFill>
                        <a:latin typeface="微软雅黑"/>
                        <a:ea typeface="微软雅黑"/>
                        <a:cs typeface="微软雅黑"/>
                      </a:endParaRPr>
                    </a:p>
                  </p:txBody>
                </p:sp>
                <p:sp>
                  <p:nvSpPr>
                    <p:cNvPr id="212" name="文本框 211"/>
                    <p:cNvSpPr txBox="1"/>
                    <p:nvPr/>
                  </p:nvSpPr>
                  <p:spPr>
                    <a:xfrm rot="20150042">
                      <a:off x="-8485306" y="6292561"/>
                      <a:ext cx="8144978" cy="8144975"/>
                    </a:xfrm>
                    <a:prstGeom prst="rect">
                      <a:avLst/>
                    </a:prstGeom>
                    <a:noFill/>
                  </p:spPr>
                  <p:txBody>
                    <a:bodyPr wrap="square" rtlCol="0">
                      <a:prstTxWarp prst="textArchUp">
                        <a:avLst>
                          <a:gd name="adj" fmla="val 14301844"/>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信息整合</a:t>
                      </a:r>
                      <a:endParaRPr lang="zh-CN" altLang="en-US" sz="1600" dirty="0">
                        <a:solidFill>
                          <a:srgbClr val="FFFFFF"/>
                        </a:solidFill>
                        <a:latin typeface="微软雅黑"/>
                        <a:ea typeface="微软雅黑"/>
                        <a:cs typeface="微软雅黑"/>
                      </a:endParaRPr>
                    </a:p>
                  </p:txBody>
                </p:sp>
                <p:sp>
                  <p:nvSpPr>
                    <p:cNvPr id="213" name="文本框 212"/>
                    <p:cNvSpPr txBox="1"/>
                    <p:nvPr/>
                  </p:nvSpPr>
                  <p:spPr>
                    <a:xfrm>
                      <a:off x="-6386385" y="6772683"/>
                      <a:ext cx="8144976" cy="8144975"/>
                    </a:xfrm>
                    <a:prstGeom prst="rect">
                      <a:avLst/>
                    </a:prstGeom>
                    <a:noFill/>
                  </p:spPr>
                  <p:txBody>
                    <a:bodyPr wrap="square" rtlCol="0">
                      <a:prstTxWarp prst="textArchUp">
                        <a:avLst>
                          <a:gd name="adj" fmla="val 19874847"/>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迭代更新</a:t>
                      </a:r>
                      <a:endParaRPr lang="zh-CN" altLang="en-US" sz="1600" dirty="0">
                        <a:solidFill>
                          <a:srgbClr val="FFFFFF"/>
                        </a:solidFill>
                        <a:latin typeface="微软雅黑"/>
                        <a:ea typeface="微软雅黑"/>
                        <a:cs typeface="微软雅黑"/>
                      </a:endParaRPr>
                    </a:p>
                  </p:txBody>
                </p:sp>
              </p:grpSp>
              <p:sp>
                <p:nvSpPr>
                  <p:cNvPr id="214" name="文本框 213"/>
                  <p:cNvSpPr txBox="1"/>
                  <p:nvPr/>
                </p:nvSpPr>
                <p:spPr>
                  <a:xfrm rot="1131988">
                    <a:off x="4013147" y="3682227"/>
                    <a:ext cx="3955694" cy="3955695"/>
                  </a:xfrm>
                  <a:prstGeom prst="rect">
                    <a:avLst/>
                  </a:prstGeom>
                  <a:noFill/>
                </p:spPr>
                <p:txBody>
                  <a:bodyPr wrap="square" rtlCol="0">
                    <a:prstTxWarp prst="textArchUp">
                      <a:avLst>
                        <a:gd name="adj" fmla="val 15325252"/>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关键信息</a:t>
                    </a:r>
                    <a:endParaRPr lang="zh-CN" altLang="en-US" sz="1600" dirty="0">
                      <a:solidFill>
                        <a:srgbClr val="FFFFFF"/>
                      </a:solidFill>
                      <a:latin typeface="微软雅黑"/>
                      <a:ea typeface="微软雅黑"/>
                      <a:cs typeface="微软雅黑"/>
                    </a:endParaRPr>
                  </a:p>
                </p:txBody>
              </p:sp>
            </p:grpSp>
            <p:sp>
              <p:nvSpPr>
                <p:cNvPr id="215" name="文本框 214"/>
                <p:cNvSpPr txBox="1"/>
                <p:nvPr/>
              </p:nvSpPr>
              <p:spPr>
                <a:xfrm rot="1131988">
                  <a:off x="3749013" y="3708799"/>
                  <a:ext cx="3955695" cy="3955695"/>
                </a:xfrm>
                <a:prstGeom prst="rect">
                  <a:avLst/>
                </a:prstGeom>
                <a:noFill/>
              </p:spPr>
              <p:txBody>
                <a:bodyPr wrap="square" rtlCol="0">
                  <a:prstTxWarp prst="textArchUp">
                    <a:avLst>
                      <a:gd name="adj" fmla="val 13625182"/>
                    </a:avLst>
                  </a:prstTxWarp>
                  <a:spAutoFit/>
                </a:bodyPr>
                <a:lstStyle/>
                <a:p>
                  <a:pP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忠诚程度</a:t>
                  </a:r>
                  <a:endParaRPr lang="zh-CN" altLang="en-US" sz="1600" dirty="0">
                    <a:solidFill>
                      <a:srgbClr val="FFFFFF"/>
                    </a:solidFill>
                    <a:latin typeface="微软雅黑"/>
                    <a:ea typeface="微软雅黑"/>
                    <a:cs typeface="微软雅黑"/>
                  </a:endParaRPr>
                </a:p>
              </p:txBody>
            </p:sp>
          </p:grpSp>
          <p:grpSp>
            <p:nvGrpSpPr>
              <p:cNvPr id="216" name="组合 215"/>
              <p:cNvGrpSpPr/>
              <p:nvPr/>
            </p:nvGrpSpPr>
            <p:grpSpPr>
              <a:xfrm>
                <a:off x="6837" y="7808"/>
                <a:ext cx="5512" cy="5442"/>
                <a:chOff x="6837" y="7808"/>
                <a:chExt cx="5512" cy="5442"/>
              </a:xfrm>
            </p:grpSpPr>
            <p:grpSp>
              <p:nvGrpSpPr>
                <p:cNvPr id="217" name="组合 216"/>
                <p:cNvGrpSpPr/>
                <p:nvPr/>
              </p:nvGrpSpPr>
              <p:grpSpPr>
                <a:xfrm>
                  <a:off x="6837" y="7808"/>
                  <a:ext cx="5513" cy="5442"/>
                  <a:chOff x="5700847" y="8918153"/>
                  <a:chExt cx="3500988" cy="3455966"/>
                </a:xfrm>
              </p:grpSpPr>
              <p:sp>
                <p:nvSpPr>
                  <p:cNvPr id="218" name="文本框 217"/>
                  <p:cNvSpPr txBox="1"/>
                  <p:nvPr/>
                </p:nvSpPr>
                <p:spPr>
                  <a:xfrm rot="1131988">
                    <a:off x="5700847" y="8945502"/>
                    <a:ext cx="3181772" cy="3215721"/>
                  </a:xfrm>
                  <a:prstGeom prst="rect">
                    <a:avLst/>
                  </a:prstGeom>
                  <a:noFill/>
                </p:spPr>
                <p:txBody>
                  <a:bodyPr wrap="square" rtlCol="0">
                    <a:prstTxWarp prst="textArchUp">
                      <a:avLst>
                        <a:gd name="adj" fmla="val 13949542"/>
                      </a:avLst>
                    </a:prstTxWarp>
                    <a:spAutoFit/>
                  </a:bodyPr>
                  <a:lstStyle/>
                  <a:p>
                    <a:pP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价值</a:t>
                    </a:r>
                    <a:endParaRPr lang="zh-CN" altLang="en-US" sz="1400" dirty="0">
                      <a:solidFill>
                        <a:srgbClr val="FFFFFF"/>
                      </a:solidFill>
                      <a:latin typeface="微软雅黑"/>
                      <a:ea typeface="微软雅黑"/>
                      <a:cs typeface="微软雅黑"/>
                    </a:endParaRPr>
                  </a:p>
                </p:txBody>
              </p:sp>
              <p:grpSp>
                <p:nvGrpSpPr>
                  <p:cNvPr id="219" name="组合 218"/>
                  <p:cNvGrpSpPr/>
                  <p:nvPr/>
                </p:nvGrpSpPr>
                <p:grpSpPr>
                  <a:xfrm>
                    <a:off x="5711880" y="8918153"/>
                    <a:ext cx="3489955" cy="3455966"/>
                    <a:chOff x="4312051" y="7154904"/>
                    <a:chExt cx="3489955" cy="3455966"/>
                  </a:xfrm>
                </p:grpSpPr>
                <p:grpSp>
                  <p:nvGrpSpPr>
                    <p:cNvPr id="220" name="组合 219"/>
                    <p:cNvGrpSpPr/>
                    <p:nvPr/>
                  </p:nvGrpSpPr>
                  <p:grpSpPr>
                    <a:xfrm>
                      <a:off x="4312051" y="7168579"/>
                      <a:ext cx="3489955" cy="3442291"/>
                      <a:chOff x="4221572" y="2771377"/>
                      <a:chExt cx="3489955" cy="3442291"/>
                    </a:xfrm>
                  </p:grpSpPr>
                  <p:sp>
                    <p:nvSpPr>
                      <p:cNvPr id="221" name="文本框 220"/>
                      <p:cNvSpPr txBox="1"/>
                      <p:nvPr/>
                    </p:nvSpPr>
                    <p:spPr>
                      <a:xfrm rot="1131988">
                        <a:off x="4457186" y="2771377"/>
                        <a:ext cx="3181770" cy="3215720"/>
                      </a:xfrm>
                      <a:prstGeom prst="rect">
                        <a:avLst/>
                      </a:prstGeom>
                      <a:noFill/>
                    </p:spPr>
                    <p:txBody>
                      <a:bodyPr wrap="square" rtlCol="0">
                        <a:prstTxWarp prst="textArchUp">
                          <a:avLst>
                            <a:gd name="adj" fmla="val 17228668"/>
                          </a:avLst>
                        </a:prstTxWarp>
                        <a:spAutoFit/>
                      </a:bodyPr>
                      <a:lstStyle/>
                      <a:p>
                        <a:pP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链条</a:t>
                        </a:r>
                        <a:endParaRPr lang="zh-CN" altLang="en-US" sz="1400" dirty="0">
                          <a:solidFill>
                            <a:srgbClr val="FFFFFF"/>
                          </a:solidFill>
                          <a:latin typeface="微软雅黑"/>
                          <a:ea typeface="微软雅黑"/>
                          <a:cs typeface="微软雅黑"/>
                        </a:endParaRPr>
                      </a:p>
                    </p:txBody>
                  </p:sp>
                  <p:grpSp>
                    <p:nvGrpSpPr>
                      <p:cNvPr id="222" name="组合 221"/>
                      <p:cNvGrpSpPr/>
                      <p:nvPr/>
                    </p:nvGrpSpPr>
                    <p:grpSpPr>
                      <a:xfrm>
                        <a:off x="4221572" y="2822903"/>
                        <a:ext cx="3489955" cy="3390765"/>
                        <a:chOff x="4210447" y="2823428"/>
                        <a:chExt cx="3489955" cy="3390765"/>
                      </a:xfrm>
                    </p:grpSpPr>
                    <p:sp>
                      <p:nvSpPr>
                        <p:cNvPr id="223" name="文本框 222"/>
                        <p:cNvSpPr txBox="1"/>
                        <p:nvPr/>
                      </p:nvSpPr>
                      <p:spPr>
                        <a:xfrm rot="20150042">
                          <a:off x="4324871" y="2823428"/>
                          <a:ext cx="3181771" cy="3215720"/>
                        </a:xfrm>
                        <a:prstGeom prst="rect">
                          <a:avLst/>
                        </a:prstGeom>
                        <a:noFill/>
                      </p:spPr>
                      <p:txBody>
                        <a:bodyPr wrap="square" rtlCol="0">
                          <a:prstTxWarp prst="textArchUp">
                            <a:avLst>
                              <a:gd name="adj" fmla="val 14504022"/>
                            </a:avLst>
                          </a:prstTxWarp>
                          <a:spAutoFit/>
                        </a:bodyPr>
                        <a:lstStyle/>
                        <a:p>
                          <a:pP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数据</a:t>
                          </a:r>
                          <a:endParaRPr lang="zh-CN" altLang="en-US" sz="1400" dirty="0">
                            <a:solidFill>
                              <a:srgbClr val="FFFFFF"/>
                            </a:solidFill>
                            <a:latin typeface="微软雅黑"/>
                            <a:ea typeface="微软雅黑"/>
                            <a:cs typeface="微软雅黑"/>
                          </a:endParaRPr>
                        </a:p>
                      </p:txBody>
                    </p:sp>
                    <p:sp>
                      <p:nvSpPr>
                        <p:cNvPr id="224" name="文本框 223"/>
                        <p:cNvSpPr txBox="1"/>
                        <p:nvPr/>
                      </p:nvSpPr>
                      <p:spPr>
                        <a:xfrm>
                          <a:off x="4518632" y="2985445"/>
                          <a:ext cx="3181770" cy="3215720"/>
                        </a:xfrm>
                        <a:prstGeom prst="rect">
                          <a:avLst/>
                        </a:prstGeom>
                        <a:noFill/>
                      </p:spPr>
                      <p:txBody>
                        <a:bodyPr wrap="square" rtlCol="0">
                          <a:prstTxWarp prst="textArchUp">
                            <a:avLst>
                              <a:gd name="adj" fmla="val 19900854"/>
                            </a:avLst>
                          </a:prstTxWarp>
                          <a:spAutoFit/>
                        </a:bodyPr>
                        <a:lstStyle/>
                        <a:p>
                          <a:pP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优化</a:t>
                          </a:r>
                          <a:endParaRPr lang="zh-CN" altLang="en-US" sz="1400" dirty="0">
                            <a:solidFill>
                              <a:srgbClr val="FFFFFF"/>
                            </a:solidFill>
                            <a:latin typeface="微软雅黑"/>
                            <a:ea typeface="微软雅黑"/>
                            <a:cs typeface="微软雅黑"/>
                          </a:endParaRPr>
                        </a:p>
                      </p:txBody>
                    </p:sp>
                    <p:sp>
                      <p:nvSpPr>
                        <p:cNvPr id="225" name="文本框 224"/>
                        <p:cNvSpPr txBox="1"/>
                        <p:nvPr/>
                      </p:nvSpPr>
                      <p:spPr>
                        <a:xfrm rot="21272399">
                          <a:off x="4210447" y="2998473"/>
                          <a:ext cx="3181771" cy="3215720"/>
                        </a:xfrm>
                        <a:prstGeom prst="rect">
                          <a:avLst/>
                        </a:prstGeom>
                        <a:noFill/>
                      </p:spPr>
                      <p:txBody>
                        <a:bodyPr wrap="square" rtlCol="0">
                          <a:prstTxWarp prst="textArchUp">
                            <a:avLst>
                              <a:gd name="adj" fmla="val 12007820"/>
                            </a:avLst>
                          </a:prstTxWarp>
                          <a:spAutoFit/>
                        </a:bodyPr>
                        <a:lstStyle/>
                        <a:p>
                          <a:pP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智能</a:t>
                          </a:r>
                          <a:endParaRPr lang="zh-CN" altLang="en-US" sz="1400" dirty="0">
                            <a:solidFill>
                              <a:srgbClr val="FFFFFF"/>
                            </a:solidFill>
                            <a:latin typeface="微软雅黑"/>
                            <a:ea typeface="微软雅黑"/>
                            <a:cs typeface="微软雅黑"/>
                          </a:endParaRPr>
                        </a:p>
                      </p:txBody>
                    </p:sp>
                  </p:grpSp>
                </p:grpSp>
                <p:sp>
                  <p:nvSpPr>
                    <p:cNvPr id="226" name="文本框 225"/>
                    <p:cNvSpPr txBox="1"/>
                    <p:nvPr/>
                  </p:nvSpPr>
                  <p:spPr>
                    <a:xfrm rot="1131988">
                      <a:off x="4424257" y="7154904"/>
                      <a:ext cx="3181769" cy="3215720"/>
                    </a:xfrm>
                    <a:prstGeom prst="rect">
                      <a:avLst/>
                    </a:prstGeom>
                    <a:noFill/>
                  </p:spPr>
                  <p:txBody>
                    <a:bodyPr wrap="square" rtlCol="0">
                      <a:prstTxWarp prst="textArchUp">
                        <a:avLst>
                          <a:gd name="adj" fmla="val 15630733"/>
                        </a:avLst>
                      </a:prstTxWarp>
                      <a:spAutoFit/>
                    </a:bodyPr>
                    <a:lstStyle/>
                    <a:p>
                      <a:pP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赋能</a:t>
                      </a:r>
                      <a:endParaRPr lang="zh-CN" altLang="en-US" sz="1400" dirty="0">
                        <a:solidFill>
                          <a:srgbClr val="FFFFFF"/>
                        </a:solidFill>
                        <a:latin typeface="微软雅黑"/>
                        <a:ea typeface="微软雅黑"/>
                        <a:cs typeface="微软雅黑"/>
                      </a:endParaRPr>
                    </a:p>
                  </p:txBody>
                </p:sp>
              </p:grpSp>
            </p:grpSp>
            <p:grpSp>
              <p:nvGrpSpPr>
                <p:cNvPr id="227" name="组合 226"/>
                <p:cNvGrpSpPr/>
                <p:nvPr/>
              </p:nvGrpSpPr>
              <p:grpSpPr>
                <a:xfrm>
                  <a:off x="7556" y="8628"/>
                  <a:ext cx="3900" cy="4342"/>
                  <a:chOff x="7556" y="8628"/>
                  <a:chExt cx="3900" cy="4342"/>
                </a:xfrm>
              </p:grpSpPr>
              <p:grpSp>
                <p:nvGrpSpPr>
                  <p:cNvPr id="228" name="组合 227"/>
                  <p:cNvGrpSpPr/>
                  <p:nvPr/>
                </p:nvGrpSpPr>
                <p:grpSpPr>
                  <a:xfrm>
                    <a:off x="7556" y="8628"/>
                    <a:ext cx="3900" cy="4342"/>
                    <a:chOff x="7574" y="8624"/>
                    <a:chExt cx="3900" cy="4342"/>
                  </a:xfrm>
                </p:grpSpPr>
                <p:grpSp>
                  <p:nvGrpSpPr>
                    <p:cNvPr id="229" name="组合 228"/>
                    <p:cNvGrpSpPr/>
                    <p:nvPr/>
                  </p:nvGrpSpPr>
                  <p:grpSpPr>
                    <a:xfrm>
                      <a:off x="7574" y="8664"/>
                      <a:ext cx="3900" cy="4303"/>
                      <a:chOff x="4750950" y="5499605"/>
                      <a:chExt cx="2476715" cy="2732541"/>
                    </a:xfrm>
                  </p:grpSpPr>
                  <p:sp>
                    <p:nvSpPr>
                      <p:cNvPr id="230" name="文本框 229"/>
                      <p:cNvSpPr txBox="1"/>
                      <p:nvPr/>
                    </p:nvSpPr>
                    <p:spPr>
                      <a:xfrm rot="21310916">
                        <a:off x="4801408" y="5704982"/>
                        <a:ext cx="2309495" cy="2527164"/>
                      </a:xfrm>
                      <a:prstGeom prst="rect">
                        <a:avLst/>
                      </a:prstGeom>
                      <a:noFill/>
                    </p:spPr>
                    <p:txBody>
                      <a:bodyPr wrap="square" rtlCol="0">
                        <a:prstTxWarp prst="textArchUp">
                          <a:avLst>
                            <a:gd name="adj" fmla="val 12554832"/>
                          </a:avLst>
                        </a:prstTxWarp>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技术</a:t>
                        </a:r>
                        <a:endParaRPr lang="zh-CN" altLang="en-US" sz="1200" dirty="0">
                          <a:solidFill>
                            <a:srgbClr val="383838"/>
                          </a:solidFill>
                          <a:latin typeface="微软雅黑"/>
                          <a:ea typeface="微软雅黑"/>
                          <a:cs typeface="微软雅黑"/>
                        </a:endParaRPr>
                      </a:p>
                    </p:txBody>
                  </p:sp>
                  <p:sp>
                    <p:nvSpPr>
                      <p:cNvPr id="231" name="文本框 230"/>
                      <p:cNvSpPr txBox="1"/>
                      <p:nvPr/>
                    </p:nvSpPr>
                    <p:spPr>
                      <a:xfrm rot="20150042">
                        <a:off x="4850894" y="5584584"/>
                        <a:ext cx="2309495" cy="2527164"/>
                      </a:xfrm>
                      <a:prstGeom prst="rect">
                        <a:avLst/>
                      </a:prstGeom>
                      <a:noFill/>
                    </p:spPr>
                    <p:txBody>
                      <a:bodyPr wrap="square" rtlCol="0">
                        <a:prstTxWarp prst="textArchUp">
                          <a:avLst>
                            <a:gd name="adj" fmla="val 15072121"/>
                          </a:avLst>
                        </a:prstTxWarp>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业务</a:t>
                        </a:r>
                        <a:endParaRPr lang="zh-CN" altLang="en-US" sz="1200" dirty="0">
                          <a:solidFill>
                            <a:srgbClr val="383838"/>
                          </a:solidFill>
                          <a:latin typeface="微软雅黑"/>
                          <a:ea typeface="微软雅黑"/>
                          <a:cs typeface="微软雅黑"/>
                        </a:endParaRPr>
                      </a:p>
                    </p:txBody>
                  </p:sp>
                  <p:sp>
                    <p:nvSpPr>
                      <p:cNvPr id="232" name="文本框 231"/>
                      <p:cNvSpPr txBox="1"/>
                      <p:nvPr/>
                    </p:nvSpPr>
                    <p:spPr>
                      <a:xfrm>
                        <a:off x="4918170" y="5641615"/>
                        <a:ext cx="2309495" cy="2527164"/>
                      </a:xfrm>
                      <a:prstGeom prst="rect">
                        <a:avLst/>
                      </a:prstGeom>
                      <a:noFill/>
                    </p:spPr>
                    <p:txBody>
                      <a:bodyPr wrap="square" rtlCol="0">
                        <a:prstTxWarp prst="textArchUp">
                          <a:avLst>
                            <a:gd name="adj" fmla="val 19414911"/>
                          </a:avLst>
                        </a:prstTxWarp>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模块</a:t>
                        </a:r>
                        <a:endParaRPr lang="zh-CN" altLang="en-US" sz="1200" dirty="0">
                          <a:solidFill>
                            <a:srgbClr val="383838"/>
                          </a:solidFill>
                          <a:latin typeface="微软雅黑"/>
                          <a:ea typeface="微软雅黑"/>
                          <a:cs typeface="微软雅黑"/>
                        </a:endParaRPr>
                      </a:p>
                    </p:txBody>
                  </p:sp>
                  <p:sp>
                    <p:nvSpPr>
                      <p:cNvPr id="233" name="文本框 232"/>
                      <p:cNvSpPr txBox="1"/>
                      <p:nvPr/>
                    </p:nvSpPr>
                    <p:spPr>
                      <a:xfrm rot="1131988">
                        <a:off x="4750950" y="5499605"/>
                        <a:ext cx="2309495" cy="2527165"/>
                      </a:xfrm>
                      <a:prstGeom prst="rect">
                        <a:avLst/>
                      </a:prstGeom>
                      <a:noFill/>
                    </p:spPr>
                    <p:txBody>
                      <a:bodyPr wrap="square" rtlCol="0">
                        <a:prstTxWarp prst="textArchUp">
                          <a:avLst>
                            <a:gd name="adj" fmla="val 14013715"/>
                          </a:avLst>
                        </a:prstTxWarp>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品牌</a:t>
                        </a:r>
                        <a:endParaRPr lang="zh-CN" altLang="en-US" sz="1200" dirty="0">
                          <a:solidFill>
                            <a:srgbClr val="383838"/>
                          </a:solidFill>
                          <a:latin typeface="微软雅黑"/>
                          <a:ea typeface="微软雅黑"/>
                          <a:cs typeface="微软雅黑"/>
                        </a:endParaRPr>
                      </a:p>
                    </p:txBody>
                  </p:sp>
                </p:grpSp>
                <p:sp>
                  <p:nvSpPr>
                    <p:cNvPr id="234" name="文本框 233"/>
                    <p:cNvSpPr txBox="1"/>
                    <p:nvPr/>
                  </p:nvSpPr>
                  <p:spPr>
                    <a:xfrm rot="1131988">
                      <a:off x="7775" y="8624"/>
                      <a:ext cx="3637" cy="3980"/>
                    </a:xfrm>
                    <a:prstGeom prst="rect">
                      <a:avLst/>
                    </a:prstGeom>
                    <a:noFill/>
                  </p:spPr>
                  <p:txBody>
                    <a:bodyPr wrap="square" rtlCol="0">
                      <a:prstTxWarp prst="textArchUp">
                        <a:avLst>
                          <a:gd name="adj" fmla="val 15325097"/>
                        </a:avLst>
                      </a:prstTxWarp>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市场</a:t>
                      </a:r>
                      <a:endParaRPr lang="zh-CN" altLang="en-US" sz="1200" dirty="0">
                        <a:solidFill>
                          <a:srgbClr val="383838"/>
                        </a:solidFill>
                        <a:latin typeface="微软雅黑"/>
                        <a:ea typeface="微软雅黑"/>
                        <a:cs typeface="微软雅黑"/>
                      </a:endParaRPr>
                    </a:p>
                  </p:txBody>
                </p:sp>
              </p:grpSp>
              <p:sp>
                <p:nvSpPr>
                  <p:cNvPr id="235" name="文本框 234"/>
                  <p:cNvSpPr txBox="1"/>
                  <p:nvPr/>
                </p:nvSpPr>
                <p:spPr>
                  <a:xfrm rot="1131988">
                    <a:off x="7757" y="8640"/>
                    <a:ext cx="3637" cy="3980"/>
                  </a:xfrm>
                  <a:prstGeom prst="rect">
                    <a:avLst/>
                  </a:prstGeom>
                  <a:noFill/>
                </p:spPr>
                <p:txBody>
                  <a:bodyPr wrap="square" rtlCol="0">
                    <a:prstTxWarp prst="textArchUp">
                      <a:avLst>
                        <a:gd name="adj" fmla="val 16819973"/>
                      </a:avLst>
                    </a:prstTxWarp>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资源</a:t>
                    </a:r>
                    <a:endParaRPr lang="zh-CN" altLang="en-US" sz="1200" dirty="0">
                      <a:solidFill>
                        <a:srgbClr val="383838"/>
                      </a:solidFill>
                      <a:latin typeface="微软雅黑"/>
                      <a:ea typeface="微软雅黑"/>
                      <a:cs typeface="微软雅黑"/>
                    </a:endParaRPr>
                  </a:p>
                </p:txBody>
              </p:sp>
            </p:grpSp>
          </p:grpSp>
        </p:gr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数智化管理系统架构</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95" name="线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1056640" y="1517015"/>
            <a:ext cx="9843135" cy="49212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16072"/>
                  <a:pt x="1054" y="10544"/>
                  <a:pt x="3163" y="6326"/>
                </a:cubicBezTo>
                <a:cubicBezTo>
                  <a:pt x="5272" y="2109"/>
                  <a:pt x="8036" y="0"/>
                  <a:pt x="10800" y="0"/>
                </a:cubicBezTo>
                <a:cubicBezTo>
                  <a:pt x="13564" y="0"/>
                  <a:pt x="16328" y="2109"/>
                  <a:pt x="18437" y="6326"/>
                </a:cubicBezTo>
                <a:cubicBezTo>
                  <a:pt x="20545" y="10544"/>
                  <a:pt x="21600" y="16072"/>
                  <a:pt x="21600" y="21600"/>
                </a:cubicBezTo>
              </a:path>
            </a:pathLst>
          </a:custGeom>
          <a:gradFill>
            <a:gsLst>
              <a:gs pos="0">
                <a:srgbClr val="3368FF">
                  <a:alpha val="0"/>
                </a:srgbClr>
              </a:gs>
              <a:gs pos="99000">
                <a:srgbClr val="3368FF">
                  <a:alpha val="20000"/>
                </a:srgbClr>
              </a:gs>
            </a:gsLst>
            <a:lin ang="16200000"/>
          </a:gradFill>
          <a:ln w="25400">
            <a:noFill/>
            <a:miter lim="400000"/>
          </a:ln>
        </p:spPr>
        <p:txBody>
          <a:bodyPr lIns="25400" tIns="25400" rIns="25400" bIns="25400" anchor="ctr"/>
          <a:lstStyle/>
          <a:p>
            <a:pP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296" name="线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1659255" y="2118995"/>
            <a:ext cx="8639175" cy="431927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16072"/>
                  <a:pt x="1054" y="10544"/>
                  <a:pt x="3163" y="6326"/>
                </a:cubicBezTo>
                <a:cubicBezTo>
                  <a:pt x="5272" y="2109"/>
                  <a:pt x="8036" y="0"/>
                  <a:pt x="10800" y="0"/>
                </a:cubicBezTo>
                <a:cubicBezTo>
                  <a:pt x="13564" y="0"/>
                  <a:pt x="16328" y="2109"/>
                  <a:pt x="18437" y="6326"/>
                </a:cubicBezTo>
                <a:cubicBezTo>
                  <a:pt x="20545" y="10544"/>
                  <a:pt x="21600" y="16072"/>
                  <a:pt x="21600" y="21600"/>
                </a:cubicBezTo>
              </a:path>
            </a:pathLst>
          </a:custGeom>
          <a:gradFill>
            <a:gsLst>
              <a:gs pos="0">
                <a:srgbClr val="668EFF">
                  <a:alpha val="0"/>
                </a:srgbClr>
              </a:gs>
              <a:gs pos="100000">
                <a:srgbClr val="668EFF">
                  <a:alpha val="70000"/>
                </a:srgbClr>
              </a:gs>
            </a:gsLst>
            <a:lin ang="16200000"/>
          </a:gradFill>
          <a:ln w="12700">
            <a:miter lim="400000"/>
          </a:ln>
        </p:spPr>
        <p:txBody>
          <a:bodyPr lIns="25400" tIns="25400" rIns="25400" bIns="25400" anchor="ctr"/>
          <a:lstStyle/>
          <a:p>
            <a:pP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297" name="线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4895850" y="5364480"/>
            <a:ext cx="2147570" cy="107378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16072"/>
                  <a:pt x="1054" y="10544"/>
                  <a:pt x="3163" y="6326"/>
                </a:cubicBezTo>
                <a:cubicBezTo>
                  <a:pt x="5272" y="2109"/>
                  <a:pt x="8036" y="0"/>
                  <a:pt x="10800" y="0"/>
                </a:cubicBezTo>
                <a:cubicBezTo>
                  <a:pt x="13564" y="0"/>
                  <a:pt x="16328" y="2109"/>
                  <a:pt x="18437" y="6326"/>
                </a:cubicBezTo>
                <a:cubicBezTo>
                  <a:pt x="20545" y="10544"/>
                  <a:pt x="21600" y="16072"/>
                  <a:pt x="21600" y="21600"/>
                </a:cubicBezTo>
              </a:path>
            </a:pathLst>
          </a:custGeom>
          <a:gradFill>
            <a:gsLst>
              <a:gs pos="0">
                <a:srgbClr val="3368FF"/>
              </a:gs>
              <a:gs pos="90000">
                <a:srgbClr val="B3D4FE"/>
              </a:gs>
            </a:gsLst>
            <a:lin ang="5400000" scaled="0"/>
          </a:gradFill>
          <a:ln w="12700">
            <a:miter lim="400000"/>
          </a:ln>
        </p:spPr>
        <p:txBody>
          <a:bodyPr lIns="25400" tIns="25400" rIns="25400" bIns="25400" anchor="ctr"/>
          <a:lstStyle/>
          <a:p>
            <a:pP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299" name="线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1056640" y="1529080"/>
            <a:ext cx="9843135" cy="49212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16072"/>
                  <a:pt x="1054" y="10544"/>
                  <a:pt x="3163" y="6326"/>
                </a:cubicBezTo>
                <a:cubicBezTo>
                  <a:pt x="5272" y="2109"/>
                  <a:pt x="8036" y="0"/>
                  <a:pt x="10800" y="0"/>
                </a:cubicBezTo>
                <a:cubicBezTo>
                  <a:pt x="13564" y="0"/>
                  <a:pt x="16328" y="2109"/>
                  <a:pt x="18437" y="6326"/>
                </a:cubicBezTo>
                <a:cubicBezTo>
                  <a:pt x="20545" y="10544"/>
                  <a:pt x="21600" y="16072"/>
                  <a:pt x="21600" y="21600"/>
                </a:cubicBezTo>
              </a:path>
            </a:pathLst>
          </a:custGeom>
          <a:noFill/>
          <a:ln>
            <a:gradFill>
              <a:gsLst>
                <a:gs pos="0">
                  <a:srgbClr val="3368FF"/>
                </a:gs>
                <a:gs pos="100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11"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402840" y="3600450"/>
            <a:ext cx="1620520" cy="1553210"/>
          </a:xfrm>
          <a:prstGeom prst="roundRect">
            <a:avLst>
              <a:gd name="adj" fmla="val 10447"/>
            </a:avLst>
          </a:prstGeom>
          <a:solidFill>
            <a:srgbClr val="FFFFFF"/>
          </a:solidFill>
          <a:ln w="25400">
            <a:solidFill>
              <a:srgbClr val="0042FF"/>
            </a:solidFill>
            <a:miter lim="400000"/>
          </a:ln>
        </p:spPr>
        <p:txBody>
          <a:bodyPr lIns="25400" tIns="25400" rIns="25400" bIns="25400" anchor="ctr"/>
          <a:lstStyle/>
          <a:p>
            <a:pPr algn="ct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312"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4240530" y="3600450"/>
            <a:ext cx="1620520" cy="1553210"/>
          </a:xfrm>
          <a:prstGeom prst="roundRect">
            <a:avLst>
              <a:gd name="adj" fmla="val 10447"/>
            </a:avLst>
          </a:prstGeom>
          <a:solidFill>
            <a:srgbClr val="FFFFFF"/>
          </a:solidFill>
          <a:ln w="25400">
            <a:solidFill>
              <a:srgbClr val="0042FF"/>
            </a:solidFill>
            <a:miter lim="400000"/>
          </a:ln>
        </p:spPr>
        <p:txBody>
          <a:bodyPr lIns="25400" tIns="25400" rIns="25400" bIns="25400" anchor="ctr">
            <a:noAutofit/>
          </a:bodyPr>
          <a:lstStyle/>
          <a:p>
            <a:pPr lvl="0" algn="ctr" defTabSz="412750">
              <a:buClrTx/>
              <a:buSzTx/>
              <a:buFontTx/>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313"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6078220" y="3600450"/>
            <a:ext cx="1620520" cy="1553210"/>
          </a:xfrm>
          <a:prstGeom prst="roundRect">
            <a:avLst>
              <a:gd name="adj" fmla="val 10447"/>
            </a:avLst>
          </a:prstGeom>
          <a:solidFill>
            <a:srgbClr val="FFFFFF"/>
          </a:solidFill>
          <a:ln w="25400">
            <a:solidFill>
              <a:srgbClr val="0042FF"/>
            </a:solidFill>
            <a:miter lim="400000"/>
          </a:ln>
        </p:spPr>
        <p:txBody>
          <a:bodyPr lIns="25400" tIns="25400" rIns="25400" bIns="25400" anchor="ctr">
            <a:noAutofit/>
          </a:bodyPr>
          <a:lstStyle/>
          <a:p>
            <a:pPr lvl="0" algn="ctr" defTabSz="412750">
              <a:buClrTx/>
              <a:buSzTx/>
              <a:buFontTx/>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314"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7916545" y="3600450"/>
            <a:ext cx="1620520" cy="1553210"/>
          </a:xfrm>
          <a:prstGeom prst="roundRect">
            <a:avLst>
              <a:gd name="adj" fmla="val 10447"/>
            </a:avLst>
          </a:prstGeom>
          <a:solidFill>
            <a:srgbClr val="FFFFFF"/>
          </a:solidFill>
          <a:ln w="25400">
            <a:solidFill>
              <a:srgbClr val="0042FF"/>
            </a:solidFill>
            <a:miter lim="400000"/>
          </a:ln>
        </p:spPr>
        <p:txBody>
          <a:bodyPr lIns="25400" tIns="25400" rIns="25400" bIns="25400" anchor="ctr">
            <a:noAutofit/>
          </a:bodyPr>
          <a:lstStyle/>
          <a:p>
            <a:pPr lvl="0" algn="ctr" defTabSz="412750">
              <a:buClrTx/>
              <a:buSzTx/>
              <a:buFontTx/>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315"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1896110" y="5372100"/>
            <a:ext cx="2738120" cy="853440"/>
          </a:xfrm>
          <a:prstGeom prst="roundRect">
            <a:avLst>
              <a:gd name="adj" fmla="val 19017"/>
            </a:avLst>
          </a:prstGeom>
          <a:solidFill>
            <a:srgbClr val="FFFFFF"/>
          </a:solidFill>
          <a:ln w="25400">
            <a:solidFill>
              <a:srgbClr val="3368FF"/>
            </a:solidFill>
            <a:miter lim="400000"/>
          </a:ln>
        </p:spPr>
        <p:txBody>
          <a:bodyPr lIns="25400" tIns="25400" rIns="25400" bIns="25400" anchor="ctr"/>
          <a:lstStyle/>
          <a:p>
            <a:pP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316"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7305675" y="5372100"/>
            <a:ext cx="2738120" cy="853440"/>
          </a:xfrm>
          <a:prstGeom prst="roundRect">
            <a:avLst>
              <a:gd name="adj" fmla="val 19017"/>
            </a:avLst>
          </a:prstGeom>
          <a:solidFill>
            <a:srgbClr val="FFFFFF"/>
          </a:solidFill>
          <a:ln w="25400">
            <a:solidFill>
              <a:srgbClr val="3368FF"/>
            </a:solidFill>
            <a:miter lim="400000"/>
          </a:ln>
        </p:spPr>
        <p:txBody>
          <a:bodyPr lIns="25400" tIns="25400" rIns="25400" bIns="25400" anchor="ctr"/>
          <a:lstStyle/>
          <a:p>
            <a:pP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317" name="数据服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5551805" y="5988050"/>
            <a:ext cx="874395" cy="304800"/>
          </a:xfrm>
          <a:prstGeom prst="rect">
            <a:avLst/>
          </a:prstGeom>
          <a:ln w="12700">
            <a:miter lim="400000"/>
          </a:ln>
        </p:spPr>
        <p:txBody>
          <a:bodyPr wrap="none" lIns="25400" tIns="25400" rIns="25400" bIns="25400" anchor="ctr">
            <a:spAutoFit/>
          </a:bodyPr>
          <a:lstStyle>
            <a:lvl1pPr>
              <a:defRPr sz="270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sz="1350" b="1">
                <a:solidFill>
                  <a:srgbClr val="383838"/>
                </a:solidFill>
                <a:latin typeface="微软雅黑"/>
                <a:ea typeface="微软雅黑"/>
                <a:cs typeface="微软雅黑"/>
                <a:sym typeface="微软雅黑"/>
              </a:rPr>
              <a:t>数据服务</a:t>
            </a:r>
            <a:endParaRPr sz="1350" b="1">
              <a:solidFill>
                <a:srgbClr val="383838"/>
              </a:solidFill>
              <a:latin typeface="微软雅黑"/>
              <a:ea typeface="微软雅黑"/>
              <a:cs typeface="微软雅黑"/>
              <a:sym typeface="微软雅黑"/>
            </a:endParaRPr>
          </a:p>
        </p:txBody>
      </p:sp>
      <p:sp>
        <p:nvSpPr>
          <p:cNvPr id="318" name="日历"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5843270" y="5607050"/>
            <a:ext cx="270510" cy="298450"/>
          </a:xfrm>
          <a:custGeom>
            <a:avLst/>
            <a:gdLst/>
            <a:ahLst/>
            <a:cxnLst>
              <a:cxn ang="0">
                <a:pos x="wd2" y="hd2"/>
              </a:cxn>
              <a:cxn ang="5400000">
                <a:pos x="wd2" y="hd2"/>
              </a:cxn>
              <a:cxn ang="10800000">
                <a:pos x="wd2" y="hd2"/>
              </a:cxn>
              <a:cxn ang="16200000">
                <a:pos x="wd2" y="hd2"/>
              </a:cxn>
            </a:cxnLst>
            <a:rect l="0" t="0" r="r" b="b"/>
            <a:pathLst>
              <a:path w="21600" h="21600" extrusionOk="0">
                <a:moveTo>
                  <a:pt x="4289" y="0"/>
                </a:moveTo>
                <a:cubicBezTo>
                  <a:pt x="4152" y="0"/>
                  <a:pt x="4034" y="103"/>
                  <a:pt x="4034" y="233"/>
                </a:cubicBezTo>
                <a:lnTo>
                  <a:pt x="4034" y="1151"/>
                </a:lnTo>
                <a:lnTo>
                  <a:pt x="4034" y="2953"/>
                </a:lnTo>
                <a:lnTo>
                  <a:pt x="6428" y="2953"/>
                </a:lnTo>
                <a:lnTo>
                  <a:pt x="6433" y="1151"/>
                </a:lnTo>
                <a:lnTo>
                  <a:pt x="6433" y="233"/>
                </a:lnTo>
                <a:cubicBezTo>
                  <a:pt x="6433" y="109"/>
                  <a:pt x="6321" y="0"/>
                  <a:pt x="6178" y="0"/>
                </a:cubicBezTo>
                <a:lnTo>
                  <a:pt x="4289" y="0"/>
                </a:lnTo>
                <a:close/>
                <a:moveTo>
                  <a:pt x="15422" y="0"/>
                </a:moveTo>
                <a:cubicBezTo>
                  <a:pt x="15279" y="0"/>
                  <a:pt x="15167" y="109"/>
                  <a:pt x="15167" y="233"/>
                </a:cubicBezTo>
                <a:lnTo>
                  <a:pt x="15167" y="1151"/>
                </a:lnTo>
                <a:lnTo>
                  <a:pt x="15172" y="2953"/>
                </a:lnTo>
                <a:lnTo>
                  <a:pt x="17566" y="2953"/>
                </a:lnTo>
                <a:lnTo>
                  <a:pt x="17566" y="1151"/>
                </a:lnTo>
                <a:lnTo>
                  <a:pt x="17566" y="233"/>
                </a:lnTo>
                <a:cubicBezTo>
                  <a:pt x="17566" y="103"/>
                  <a:pt x="17448" y="0"/>
                  <a:pt x="17311" y="0"/>
                </a:cubicBezTo>
                <a:lnTo>
                  <a:pt x="15422" y="0"/>
                </a:lnTo>
                <a:close/>
                <a:moveTo>
                  <a:pt x="1031" y="2150"/>
                </a:moveTo>
                <a:cubicBezTo>
                  <a:pt x="465" y="2150"/>
                  <a:pt x="0" y="2565"/>
                  <a:pt x="0" y="3083"/>
                </a:cubicBezTo>
                <a:lnTo>
                  <a:pt x="0" y="20665"/>
                </a:lnTo>
                <a:cubicBezTo>
                  <a:pt x="0" y="21178"/>
                  <a:pt x="459" y="21600"/>
                  <a:pt x="1031" y="21600"/>
                </a:cubicBezTo>
                <a:lnTo>
                  <a:pt x="20569" y="21600"/>
                </a:lnTo>
                <a:cubicBezTo>
                  <a:pt x="21135" y="21600"/>
                  <a:pt x="21600" y="21184"/>
                  <a:pt x="21600" y="20665"/>
                </a:cubicBezTo>
                <a:lnTo>
                  <a:pt x="21600" y="3083"/>
                </a:lnTo>
                <a:cubicBezTo>
                  <a:pt x="21600" y="2570"/>
                  <a:pt x="21135" y="2150"/>
                  <a:pt x="20569" y="2150"/>
                </a:cubicBezTo>
                <a:lnTo>
                  <a:pt x="18329" y="2150"/>
                </a:lnTo>
                <a:lnTo>
                  <a:pt x="18329" y="3088"/>
                </a:lnTo>
                <a:cubicBezTo>
                  <a:pt x="18329" y="3396"/>
                  <a:pt x="18049" y="3650"/>
                  <a:pt x="17710" y="3650"/>
                </a:cubicBezTo>
                <a:lnTo>
                  <a:pt x="15018" y="3650"/>
                </a:lnTo>
                <a:cubicBezTo>
                  <a:pt x="14678" y="3650"/>
                  <a:pt x="14398" y="3396"/>
                  <a:pt x="14398" y="3088"/>
                </a:cubicBezTo>
                <a:lnTo>
                  <a:pt x="14398" y="2150"/>
                </a:lnTo>
                <a:lnTo>
                  <a:pt x="7202" y="2150"/>
                </a:lnTo>
                <a:lnTo>
                  <a:pt x="7202" y="3088"/>
                </a:lnTo>
                <a:cubicBezTo>
                  <a:pt x="7202" y="3396"/>
                  <a:pt x="6922" y="3650"/>
                  <a:pt x="6582" y="3650"/>
                </a:cubicBezTo>
                <a:lnTo>
                  <a:pt x="3890" y="3650"/>
                </a:lnTo>
                <a:cubicBezTo>
                  <a:pt x="3551" y="3650"/>
                  <a:pt x="3271" y="3396"/>
                  <a:pt x="3271" y="3088"/>
                </a:cubicBezTo>
                <a:lnTo>
                  <a:pt x="3271" y="2150"/>
                </a:lnTo>
                <a:lnTo>
                  <a:pt x="1031" y="2150"/>
                </a:lnTo>
                <a:close/>
                <a:moveTo>
                  <a:pt x="1508" y="6389"/>
                </a:moveTo>
                <a:lnTo>
                  <a:pt x="20092" y="6389"/>
                </a:lnTo>
                <a:lnTo>
                  <a:pt x="20092" y="19565"/>
                </a:lnTo>
                <a:lnTo>
                  <a:pt x="1508" y="19565"/>
                </a:lnTo>
                <a:lnTo>
                  <a:pt x="1508" y="6389"/>
                </a:lnTo>
                <a:close/>
                <a:moveTo>
                  <a:pt x="3807" y="8451"/>
                </a:moveTo>
                <a:cubicBezTo>
                  <a:pt x="3777" y="8451"/>
                  <a:pt x="3747" y="8478"/>
                  <a:pt x="3747" y="8505"/>
                </a:cubicBezTo>
                <a:lnTo>
                  <a:pt x="3747" y="10493"/>
                </a:lnTo>
                <a:cubicBezTo>
                  <a:pt x="3747" y="10525"/>
                  <a:pt x="3777" y="10547"/>
                  <a:pt x="3807" y="10547"/>
                </a:cubicBezTo>
                <a:lnTo>
                  <a:pt x="5999" y="10547"/>
                </a:lnTo>
                <a:cubicBezTo>
                  <a:pt x="6029" y="10547"/>
                  <a:pt x="6059" y="10525"/>
                  <a:pt x="6059" y="10493"/>
                </a:cubicBezTo>
                <a:lnTo>
                  <a:pt x="6059" y="8505"/>
                </a:lnTo>
                <a:cubicBezTo>
                  <a:pt x="6059" y="8478"/>
                  <a:pt x="6029" y="8451"/>
                  <a:pt x="5999" y="8451"/>
                </a:cubicBezTo>
                <a:lnTo>
                  <a:pt x="3807" y="8451"/>
                </a:lnTo>
                <a:close/>
                <a:moveTo>
                  <a:pt x="7654" y="8451"/>
                </a:moveTo>
                <a:cubicBezTo>
                  <a:pt x="7618" y="8451"/>
                  <a:pt x="7595" y="8478"/>
                  <a:pt x="7595" y="8505"/>
                </a:cubicBezTo>
                <a:lnTo>
                  <a:pt x="7595" y="10493"/>
                </a:lnTo>
                <a:cubicBezTo>
                  <a:pt x="7595" y="10525"/>
                  <a:pt x="7618" y="10547"/>
                  <a:pt x="7654" y="10547"/>
                </a:cubicBezTo>
                <a:lnTo>
                  <a:pt x="9847" y="10547"/>
                </a:lnTo>
                <a:cubicBezTo>
                  <a:pt x="9877" y="10547"/>
                  <a:pt x="9907" y="10525"/>
                  <a:pt x="9907" y="10493"/>
                </a:cubicBezTo>
                <a:lnTo>
                  <a:pt x="9907" y="8505"/>
                </a:lnTo>
                <a:cubicBezTo>
                  <a:pt x="9907" y="8478"/>
                  <a:pt x="9877" y="8451"/>
                  <a:pt x="9847" y="8451"/>
                </a:cubicBezTo>
                <a:lnTo>
                  <a:pt x="7654" y="8451"/>
                </a:lnTo>
                <a:close/>
                <a:moveTo>
                  <a:pt x="11753" y="8451"/>
                </a:moveTo>
                <a:cubicBezTo>
                  <a:pt x="11723" y="8451"/>
                  <a:pt x="11693" y="8478"/>
                  <a:pt x="11693" y="8505"/>
                </a:cubicBezTo>
                <a:lnTo>
                  <a:pt x="11693" y="10493"/>
                </a:lnTo>
                <a:cubicBezTo>
                  <a:pt x="11693" y="10525"/>
                  <a:pt x="11723" y="10547"/>
                  <a:pt x="11753" y="10547"/>
                </a:cubicBezTo>
                <a:lnTo>
                  <a:pt x="13946" y="10547"/>
                </a:lnTo>
                <a:cubicBezTo>
                  <a:pt x="13976" y="10547"/>
                  <a:pt x="14005" y="10525"/>
                  <a:pt x="14005" y="10493"/>
                </a:cubicBezTo>
                <a:lnTo>
                  <a:pt x="14005" y="8505"/>
                </a:lnTo>
                <a:cubicBezTo>
                  <a:pt x="14005" y="8478"/>
                  <a:pt x="13976" y="8451"/>
                  <a:pt x="13946" y="8451"/>
                </a:cubicBezTo>
                <a:lnTo>
                  <a:pt x="11753" y="8451"/>
                </a:lnTo>
                <a:close/>
                <a:moveTo>
                  <a:pt x="15601" y="8451"/>
                </a:moveTo>
                <a:cubicBezTo>
                  <a:pt x="15565" y="8451"/>
                  <a:pt x="15541" y="8478"/>
                  <a:pt x="15541" y="8505"/>
                </a:cubicBezTo>
                <a:lnTo>
                  <a:pt x="15541" y="10493"/>
                </a:lnTo>
                <a:cubicBezTo>
                  <a:pt x="15541" y="10525"/>
                  <a:pt x="15565" y="10547"/>
                  <a:pt x="15601" y="10547"/>
                </a:cubicBezTo>
                <a:lnTo>
                  <a:pt x="17793" y="10547"/>
                </a:lnTo>
                <a:cubicBezTo>
                  <a:pt x="17829" y="10547"/>
                  <a:pt x="17853" y="10525"/>
                  <a:pt x="17853" y="10493"/>
                </a:cubicBezTo>
                <a:lnTo>
                  <a:pt x="17853" y="8505"/>
                </a:lnTo>
                <a:cubicBezTo>
                  <a:pt x="17853" y="8478"/>
                  <a:pt x="17829" y="8451"/>
                  <a:pt x="17793" y="8451"/>
                </a:cubicBezTo>
                <a:lnTo>
                  <a:pt x="15601" y="8451"/>
                </a:lnTo>
                <a:close/>
                <a:moveTo>
                  <a:pt x="3771" y="12086"/>
                </a:moveTo>
                <a:cubicBezTo>
                  <a:pt x="3736" y="12086"/>
                  <a:pt x="3712" y="12107"/>
                  <a:pt x="3712" y="12140"/>
                </a:cubicBezTo>
                <a:lnTo>
                  <a:pt x="3712" y="14126"/>
                </a:lnTo>
                <a:cubicBezTo>
                  <a:pt x="3712" y="14153"/>
                  <a:pt x="3736" y="14180"/>
                  <a:pt x="3771" y="14180"/>
                </a:cubicBezTo>
                <a:lnTo>
                  <a:pt x="5964" y="14180"/>
                </a:lnTo>
                <a:cubicBezTo>
                  <a:pt x="5994" y="14180"/>
                  <a:pt x="6024" y="14153"/>
                  <a:pt x="6024" y="14126"/>
                </a:cubicBezTo>
                <a:lnTo>
                  <a:pt x="6024" y="12140"/>
                </a:lnTo>
                <a:cubicBezTo>
                  <a:pt x="6024" y="12107"/>
                  <a:pt x="5994" y="12086"/>
                  <a:pt x="5964" y="12086"/>
                </a:cubicBezTo>
                <a:lnTo>
                  <a:pt x="3771" y="12086"/>
                </a:lnTo>
                <a:close/>
                <a:moveTo>
                  <a:pt x="7619" y="12086"/>
                </a:moveTo>
                <a:cubicBezTo>
                  <a:pt x="7583" y="12086"/>
                  <a:pt x="7559" y="12107"/>
                  <a:pt x="7559" y="12140"/>
                </a:cubicBezTo>
                <a:lnTo>
                  <a:pt x="7559" y="14126"/>
                </a:lnTo>
                <a:cubicBezTo>
                  <a:pt x="7559" y="14153"/>
                  <a:pt x="7583" y="14180"/>
                  <a:pt x="7619" y="14180"/>
                </a:cubicBezTo>
                <a:lnTo>
                  <a:pt x="9812" y="14180"/>
                </a:lnTo>
                <a:cubicBezTo>
                  <a:pt x="9841" y="14180"/>
                  <a:pt x="9871" y="14153"/>
                  <a:pt x="9871" y="14126"/>
                </a:cubicBezTo>
                <a:lnTo>
                  <a:pt x="9871" y="12140"/>
                </a:lnTo>
                <a:cubicBezTo>
                  <a:pt x="9871" y="12107"/>
                  <a:pt x="9841" y="12086"/>
                  <a:pt x="9812" y="12086"/>
                </a:cubicBezTo>
                <a:lnTo>
                  <a:pt x="7619" y="12086"/>
                </a:lnTo>
                <a:close/>
                <a:moveTo>
                  <a:pt x="11788" y="12086"/>
                </a:moveTo>
                <a:cubicBezTo>
                  <a:pt x="11759" y="12086"/>
                  <a:pt x="11729" y="12107"/>
                  <a:pt x="11729" y="12140"/>
                </a:cubicBezTo>
                <a:lnTo>
                  <a:pt x="11729" y="14126"/>
                </a:lnTo>
                <a:cubicBezTo>
                  <a:pt x="11729" y="14153"/>
                  <a:pt x="11759" y="14180"/>
                  <a:pt x="11788" y="14180"/>
                </a:cubicBezTo>
                <a:lnTo>
                  <a:pt x="13981" y="14180"/>
                </a:lnTo>
                <a:cubicBezTo>
                  <a:pt x="14011" y="14180"/>
                  <a:pt x="14041" y="14153"/>
                  <a:pt x="14041" y="14126"/>
                </a:cubicBezTo>
                <a:lnTo>
                  <a:pt x="14041" y="12140"/>
                </a:lnTo>
                <a:cubicBezTo>
                  <a:pt x="14041" y="12107"/>
                  <a:pt x="14011" y="12086"/>
                  <a:pt x="13981" y="12086"/>
                </a:cubicBezTo>
                <a:lnTo>
                  <a:pt x="11788" y="12086"/>
                </a:lnTo>
                <a:close/>
                <a:moveTo>
                  <a:pt x="15636" y="12086"/>
                </a:moveTo>
                <a:cubicBezTo>
                  <a:pt x="15600" y="12086"/>
                  <a:pt x="15576" y="12107"/>
                  <a:pt x="15576" y="12140"/>
                </a:cubicBezTo>
                <a:lnTo>
                  <a:pt x="15576" y="14126"/>
                </a:lnTo>
                <a:cubicBezTo>
                  <a:pt x="15576" y="14153"/>
                  <a:pt x="15600" y="14180"/>
                  <a:pt x="15636" y="14180"/>
                </a:cubicBezTo>
                <a:lnTo>
                  <a:pt x="17829" y="14180"/>
                </a:lnTo>
                <a:cubicBezTo>
                  <a:pt x="17864" y="14180"/>
                  <a:pt x="17888" y="14153"/>
                  <a:pt x="17888" y="14126"/>
                </a:cubicBezTo>
                <a:lnTo>
                  <a:pt x="17888" y="12140"/>
                </a:lnTo>
                <a:cubicBezTo>
                  <a:pt x="17888" y="12107"/>
                  <a:pt x="17864" y="12086"/>
                  <a:pt x="17829" y="12086"/>
                </a:cubicBezTo>
                <a:lnTo>
                  <a:pt x="15636" y="12086"/>
                </a:lnTo>
                <a:close/>
                <a:moveTo>
                  <a:pt x="3771" y="15866"/>
                </a:moveTo>
                <a:cubicBezTo>
                  <a:pt x="3736" y="15866"/>
                  <a:pt x="3712" y="15893"/>
                  <a:pt x="3712" y="15920"/>
                </a:cubicBezTo>
                <a:lnTo>
                  <a:pt x="3712" y="17906"/>
                </a:lnTo>
                <a:cubicBezTo>
                  <a:pt x="3712" y="17933"/>
                  <a:pt x="3736" y="17960"/>
                  <a:pt x="3771" y="17960"/>
                </a:cubicBezTo>
                <a:lnTo>
                  <a:pt x="5964" y="17960"/>
                </a:lnTo>
                <a:cubicBezTo>
                  <a:pt x="5994" y="17960"/>
                  <a:pt x="6024" y="17933"/>
                  <a:pt x="6024" y="17906"/>
                </a:cubicBezTo>
                <a:lnTo>
                  <a:pt x="6024" y="15920"/>
                </a:lnTo>
                <a:cubicBezTo>
                  <a:pt x="6024" y="15893"/>
                  <a:pt x="5994" y="15866"/>
                  <a:pt x="5964" y="15866"/>
                </a:cubicBezTo>
                <a:lnTo>
                  <a:pt x="3771" y="15866"/>
                </a:lnTo>
                <a:close/>
                <a:moveTo>
                  <a:pt x="7619" y="15866"/>
                </a:moveTo>
                <a:cubicBezTo>
                  <a:pt x="7583" y="15866"/>
                  <a:pt x="7559" y="15893"/>
                  <a:pt x="7559" y="15920"/>
                </a:cubicBezTo>
                <a:lnTo>
                  <a:pt x="7559" y="17906"/>
                </a:lnTo>
                <a:cubicBezTo>
                  <a:pt x="7559" y="17933"/>
                  <a:pt x="7583" y="17960"/>
                  <a:pt x="7619" y="17960"/>
                </a:cubicBezTo>
                <a:lnTo>
                  <a:pt x="9812" y="17960"/>
                </a:lnTo>
                <a:cubicBezTo>
                  <a:pt x="9841" y="17960"/>
                  <a:pt x="9871" y="17933"/>
                  <a:pt x="9871" y="17906"/>
                </a:cubicBezTo>
                <a:lnTo>
                  <a:pt x="9871" y="15920"/>
                </a:lnTo>
                <a:cubicBezTo>
                  <a:pt x="9871" y="15893"/>
                  <a:pt x="9841" y="15866"/>
                  <a:pt x="9812" y="15866"/>
                </a:cubicBezTo>
                <a:lnTo>
                  <a:pt x="7619" y="15866"/>
                </a:lnTo>
                <a:close/>
                <a:moveTo>
                  <a:pt x="11788" y="15866"/>
                </a:moveTo>
                <a:cubicBezTo>
                  <a:pt x="11759" y="15866"/>
                  <a:pt x="11729" y="15893"/>
                  <a:pt x="11729" y="15920"/>
                </a:cubicBezTo>
                <a:lnTo>
                  <a:pt x="11729" y="17906"/>
                </a:lnTo>
                <a:cubicBezTo>
                  <a:pt x="11729" y="17933"/>
                  <a:pt x="11759" y="17960"/>
                  <a:pt x="11788" y="17960"/>
                </a:cubicBezTo>
                <a:lnTo>
                  <a:pt x="13981" y="17960"/>
                </a:lnTo>
                <a:cubicBezTo>
                  <a:pt x="14011" y="17960"/>
                  <a:pt x="14041" y="17933"/>
                  <a:pt x="14041" y="17906"/>
                </a:cubicBezTo>
                <a:lnTo>
                  <a:pt x="14041" y="15920"/>
                </a:lnTo>
                <a:cubicBezTo>
                  <a:pt x="14041" y="15893"/>
                  <a:pt x="14011" y="15866"/>
                  <a:pt x="13981" y="15866"/>
                </a:cubicBezTo>
                <a:lnTo>
                  <a:pt x="11788" y="15866"/>
                </a:lnTo>
                <a:close/>
                <a:moveTo>
                  <a:pt x="15636" y="15866"/>
                </a:moveTo>
                <a:cubicBezTo>
                  <a:pt x="15600" y="15866"/>
                  <a:pt x="15576" y="15893"/>
                  <a:pt x="15576" y="15920"/>
                </a:cubicBezTo>
                <a:lnTo>
                  <a:pt x="15576" y="17906"/>
                </a:lnTo>
                <a:cubicBezTo>
                  <a:pt x="15576" y="17933"/>
                  <a:pt x="15600" y="17960"/>
                  <a:pt x="15636" y="17960"/>
                </a:cubicBezTo>
                <a:lnTo>
                  <a:pt x="17829" y="17960"/>
                </a:lnTo>
                <a:cubicBezTo>
                  <a:pt x="17864" y="17960"/>
                  <a:pt x="17888" y="17933"/>
                  <a:pt x="17888" y="17906"/>
                </a:cubicBezTo>
                <a:lnTo>
                  <a:pt x="17888" y="15920"/>
                </a:lnTo>
                <a:cubicBezTo>
                  <a:pt x="17888" y="15893"/>
                  <a:pt x="17864" y="15866"/>
                  <a:pt x="17829" y="15866"/>
                </a:cubicBezTo>
                <a:lnTo>
                  <a:pt x="15636" y="15866"/>
                </a:lnTo>
                <a:close/>
              </a:path>
            </a:pathLst>
          </a:custGeom>
          <a:solidFill>
            <a:srgbClr val="FFFFFF"/>
          </a:solidFill>
          <a:ln w="12700">
            <a:miter lim="400000"/>
          </a:ln>
        </p:spPr>
        <p:txBody>
          <a:bodyPr lIns="25400" tIns="25400" rIns="25400" bIns="25400" anchor="ctr"/>
          <a:lstStyle/>
          <a:p>
            <a:pP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319" name="成本中心…"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7443470" y="5483225"/>
            <a:ext cx="887730" cy="630555"/>
          </a:xfrm>
          <a:prstGeom prst="rect">
            <a:avLst/>
          </a:prstGeom>
          <a:solidFill>
            <a:srgbClr val="FFFFFF"/>
          </a:solidFill>
          <a:ln w="12700">
            <a:miter lim="400000"/>
          </a:ln>
        </p:spPr>
        <p:txBody>
          <a:bodyPr wrap="none" lIns="25400" tIns="25400" rIns="25400" bIns="25400" anchor="ctr">
            <a:spAutoFit/>
          </a:bodyPr>
          <a:lstStyle/>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成本中心</a:t>
            </a:r>
            <a:endParaRPr sz="1050">
              <a:solidFill>
                <a:srgbClr val="383838"/>
              </a:solidFill>
              <a:latin typeface="微软雅黑"/>
              <a:ea typeface="微软雅黑"/>
              <a:cs typeface="微软雅黑"/>
              <a:sym typeface="微软雅黑"/>
            </a:endParaRPr>
          </a:p>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产品成本</a:t>
            </a:r>
            <a:endParaRPr sz="1050">
              <a:solidFill>
                <a:srgbClr val="383838"/>
              </a:solidFill>
              <a:latin typeface="微软雅黑"/>
              <a:ea typeface="微软雅黑"/>
              <a:cs typeface="微软雅黑"/>
              <a:sym typeface="微软雅黑"/>
            </a:endParaRPr>
          </a:p>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专项成本</a:t>
            </a:r>
            <a:endParaRPr sz="1050">
              <a:solidFill>
                <a:srgbClr val="383838"/>
              </a:solidFill>
              <a:latin typeface="微软雅黑"/>
              <a:ea typeface="微软雅黑"/>
              <a:cs typeface="微软雅黑"/>
              <a:sym typeface="微软雅黑"/>
            </a:endParaRPr>
          </a:p>
        </p:txBody>
      </p:sp>
      <p:sp>
        <p:nvSpPr>
          <p:cNvPr id="320" name="成本估算…"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8392795" y="5483225"/>
            <a:ext cx="887730" cy="630555"/>
          </a:xfrm>
          <a:prstGeom prst="rect">
            <a:avLst/>
          </a:prstGeom>
          <a:ln w="12700">
            <a:miter lim="400000"/>
          </a:ln>
        </p:spPr>
        <p:txBody>
          <a:bodyPr wrap="none" lIns="25400" tIns="25400" rIns="25400" bIns="25400" anchor="ctr">
            <a:spAutoFit/>
          </a:bodyPr>
          <a:lstStyle/>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成本估算</a:t>
            </a:r>
            <a:endParaRPr sz="1050">
              <a:solidFill>
                <a:srgbClr val="383838"/>
              </a:solidFill>
              <a:latin typeface="微软雅黑"/>
              <a:ea typeface="微软雅黑"/>
              <a:cs typeface="微软雅黑"/>
              <a:sym typeface="微软雅黑"/>
            </a:endParaRPr>
          </a:p>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盈利分析</a:t>
            </a:r>
            <a:endParaRPr sz="1050">
              <a:solidFill>
                <a:srgbClr val="383838"/>
              </a:solidFill>
              <a:latin typeface="微软雅黑"/>
              <a:ea typeface="微软雅黑"/>
              <a:cs typeface="微软雅黑"/>
              <a:sym typeface="微软雅黑"/>
            </a:endParaRPr>
          </a:p>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责任会计</a:t>
            </a:r>
            <a:endParaRPr sz="1050">
              <a:solidFill>
                <a:srgbClr val="383838"/>
              </a:solidFill>
              <a:latin typeface="微软雅黑"/>
              <a:ea typeface="微软雅黑"/>
              <a:cs typeface="微软雅黑"/>
              <a:sym typeface="微软雅黑"/>
            </a:endParaRPr>
          </a:p>
        </p:txBody>
      </p:sp>
      <p:sp>
        <p:nvSpPr>
          <p:cNvPr id="321" name="管理…"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9361170" y="5523865"/>
            <a:ext cx="467360" cy="548640"/>
          </a:xfrm>
          <a:prstGeom prst="rect">
            <a:avLst/>
          </a:prstGeom>
          <a:ln w="12700">
            <a:miter lim="400000"/>
          </a:ln>
        </p:spPr>
        <p:txBody>
          <a:bodyPr wrap="none" lIns="25400" tIns="25400" rIns="25400" bIns="25400" anchor="ctr">
            <a:spAutoFit/>
          </a:bodyPr>
          <a:lstStyle/>
          <a:p>
            <a:pPr>
              <a:defRPr sz="2700">
                <a:solidFill>
                  <a:srgbClr val="0042FF"/>
                </a:solidFill>
                <a:latin typeface="微软雅黑"/>
                <a:ea typeface="微软雅黑"/>
                <a:cs typeface="微软雅黑"/>
                <a:sym typeface="微软雅黑"/>
              </a:defRPr>
            </a:pPr>
            <a:r>
              <a:rPr sz="1350" b="1">
                <a:solidFill>
                  <a:srgbClr val="0042FF"/>
                </a:solidFill>
                <a:latin typeface="微软雅黑"/>
                <a:ea typeface="微软雅黑"/>
                <a:cs typeface="微软雅黑"/>
                <a:sym typeface="微软雅黑"/>
              </a:rPr>
              <a:t>管理</a:t>
            </a:r>
            <a:endParaRPr sz="1350" b="1">
              <a:solidFill>
                <a:srgbClr val="0042FF"/>
              </a:solidFill>
              <a:latin typeface="微软雅黑"/>
              <a:ea typeface="微软雅黑"/>
              <a:cs typeface="微软雅黑"/>
              <a:sym typeface="微软雅黑"/>
            </a:endParaRPr>
          </a:p>
          <a:p>
            <a:pPr>
              <a:defRPr sz="2700">
                <a:solidFill>
                  <a:srgbClr val="0042FF"/>
                </a:solidFill>
                <a:latin typeface="微软雅黑"/>
                <a:ea typeface="微软雅黑"/>
                <a:cs typeface="微软雅黑"/>
                <a:sym typeface="微软雅黑"/>
              </a:defRPr>
            </a:pPr>
            <a:r>
              <a:rPr sz="1350" b="1">
                <a:solidFill>
                  <a:srgbClr val="0042FF"/>
                </a:solidFill>
                <a:latin typeface="微软雅黑"/>
                <a:ea typeface="微软雅黑"/>
                <a:cs typeface="微软雅黑"/>
                <a:sym typeface="微软雅黑"/>
              </a:rPr>
              <a:t>会计</a:t>
            </a:r>
            <a:endParaRPr sz="1350" b="1">
              <a:solidFill>
                <a:srgbClr val="0042FF"/>
              </a:solidFill>
              <a:latin typeface="微软雅黑"/>
              <a:ea typeface="微软雅黑"/>
              <a:cs typeface="微软雅黑"/>
              <a:sym typeface="微软雅黑"/>
            </a:endParaRPr>
          </a:p>
        </p:txBody>
      </p:sp>
      <p:sp>
        <p:nvSpPr>
          <p:cNvPr id="322" name="管理…"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2111375" y="5523865"/>
            <a:ext cx="467360" cy="548640"/>
          </a:xfrm>
          <a:prstGeom prst="rect">
            <a:avLst/>
          </a:prstGeom>
          <a:ln w="12700">
            <a:miter lim="400000"/>
          </a:ln>
        </p:spPr>
        <p:txBody>
          <a:bodyPr wrap="none" lIns="25400" tIns="25400" rIns="25400" bIns="25400" anchor="ctr">
            <a:spAutoFit/>
          </a:bodyPr>
          <a:lstStyle/>
          <a:p>
            <a:pPr>
              <a:defRPr sz="2700">
                <a:solidFill>
                  <a:srgbClr val="0042FF"/>
                </a:solidFill>
                <a:latin typeface="微软雅黑"/>
                <a:ea typeface="微软雅黑"/>
                <a:cs typeface="微软雅黑"/>
                <a:sym typeface="微软雅黑"/>
              </a:defRPr>
            </a:pPr>
            <a:r>
              <a:rPr sz="1350" b="1">
                <a:solidFill>
                  <a:srgbClr val="0042FF"/>
                </a:solidFill>
                <a:latin typeface="微软雅黑"/>
                <a:ea typeface="微软雅黑"/>
                <a:cs typeface="微软雅黑"/>
                <a:sym typeface="微软雅黑"/>
              </a:rPr>
              <a:t>管理</a:t>
            </a:r>
            <a:endParaRPr sz="1350" b="1">
              <a:solidFill>
                <a:srgbClr val="0042FF"/>
              </a:solidFill>
              <a:latin typeface="微软雅黑"/>
              <a:ea typeface="微软雅黑"/>
              <a:cs typeface="微软雅黑"/>
              <a:sym typeface="微软雅黑"/>
            </a:endParaRPr>
          </a:p>
          <a:p>
            <a:pPr>
              <a:defRPr sz="2700">
                <a:solidFill>
                  <a:srgbClr val="0042FF"/>
                </a:solidFill>
                <a:latin typeface="微软雅黑"/>
                <a:ea typeface="微软雅黑"/>
                <a:cs typeface="微软雅黑"/>
                <a:sym typeface="微软雅黑"/>
              </a:defRPr>
            </a:pPr>
            <a:r>
              <a:rPr sz="1350" b="1">
                <a:solidFill>
                  <a:srgbClr val="0042FF"/>
                </a:solidFill>
                <a:latin typeface="微软雅黑"/>
                <a:ea typeface="微软雅黑"/>
                <a:cs typeface="微软雅黑"/>
                <a:sym typeface="微软雅黑"/>
              </a:rPr>
              <a:t>会计</a:t>
            </a:r>
            <a:endParaRPr sz="1350" b="1">
              <a:solidFill>
                <a:srgbClr val="0042FF"/>
              </a:solidFill>
              <a:latin typeface="微软雅黑"/>
              <a:ea typeface="微软雅黑"/>
              <a:cs typeface="微软雅黑"/>
              <a:sym typeface="微软雅黑"/>
            </a:endParaRPr>
          </a:p>
        </p:txBody>
      </p:sp>
      <p:sp>
        <p:nvSpPr>
          <p:cNvPr id="323" name="总账…"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2695575" y="5578475"/>
            <a:ext cx="887730" cy="440055"/>
          </a:xfrm>
          <a:prstGeom prst="rect">
            <a:avLst/>
          </a:prstGeom>
          <a:ln w="12700">
            <a:miter lim="400000"/>
          </a:ln>
        </p:spPr>
        <p:txBody>
          <a:bodyPr wrap="none" lIns="25400" tIns="25400" rIns="25400" bIns="25400" anchor="ctr">
            <a:spAutoFit/>
          </a:bodyPr>
          <a:lstStyle/>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总账</a:t>
            </a:r>
            <a:endParaRPr sz="1050">
              <a:solidFill>
                <a:srgbClr val="383838"/>
              </a:solidFill>
              <a:latin typeface="微软雅黑"/>
              <a:ea typeface="微软雅黑"/>
              <a:cs typeface="微软雅黑"/>
              <a:sym typeface="微软雅黑"/>
            </a:endParaRPr>
          </a:p>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固定资产</a:t>
            </a:r>
            <a:endParaRPr sz="1050">
              <a:solidFill>
                <a:srgbClr val="383838"/>
              </a:solidFill>
              <a:latin typeface="微软雅黑"/>
              <a:ea typeface="微软雅黑"/>
              <a:cs typeface="微软雅黑"/>
              <a:sym typeface="微软雅黑"/>
            </a:endParaRPr>
          </a:p>
        </p:txBody>
      </p:sp>
      <p:sp>
        <p:nvSpPr>
          <p:cNvPr id="324" name="应收管理…"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3644900" y="5483225"/>
            <a:ext cx="887730" cy="630555"/>
          </a:xfrm>
          <a:prstGeom prst="rect">
            <a:avLst/>
          </a:prstGeom>
          <a:ln w="12700">
            <a:miter lim="400000"/>
          </a:ln>
        </p:spPr>
        <p:txBody>
          <a:bodyPr wrap="none" lIns="25400" tIns="25400" rIns="25400" bIns="25400" anchor="ctr">
            <a:spAutoFit/>
          </a:bodyPr>
          <a:lstStyle/>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应收管理</a:t>
            </a:r>
            <a:endParaRPr sz="1050">
              <a:solidFill>
                <a:srgbClr val="383838"/>
              </a:solidFill>
              <a:latin typeface="微软雅黑"/>
              <a:ea typeface="微软雅黑"/>
              <a:cs typeface="微软雅黑"/>
              <a:sym typeface="微软雅黑"/>
            </a:endParaRPr>
          </a:p>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应付管理</a:t>
            </a:r>
            <a:endParaRPr sz="1050">
              <a:solidFill>
                <a:srgbClr val="383838"/>
              </a:solidFill>
              <a:latin typeface="微软雅黑"/>
              <a:ea typeface="微软雅黑"/>
              <a:cs typeface="微软雅黑"/>
              <a:sym typeface="微软雅黑"/>
            </a:endParaRPr>
          </a:p>
          <a:p>
            <a:pPr marL="133350" indent="-133350">
              <a:buSzPct val="123000"/>
              <a:buChar char="•"/>
              <a:defRPr sz="2100">
                <a:latin typeface="微软雅黑"/>
                <a:ea typeface="微软雅黑"/>
                <a:cs typeface="微软雅黑"/>
                <a:sym typeface="微软雅黑"/>
              </a:defRPr>
            </a:pPr>
            <a:r>
              <a:rPr sz="1050">
                <a:solidFill>
                  <a:srgbClr val="383838"/>
                </a:solidFill>
                <a:latin typeface="微软雅黑"/>
                <a:ea typeface="微软雅黑"/>
                <a:cs typeface="微软雅黑"/>
                <a:sym typeface="微软雅黑"/>
              </a:rPr>
              <a:t>存货核算</a:t>
            </a:r>
            <a:endParaRPr sz="1050">
              <a:solidFill>
                <a:srgbClr val="383838"/>
              </a:solidFill>
              <a:latin typeface="微软雅黑"/>
              <a:ea typeface="微软雅黑"/>
              <a:cs typeface="微软雅黑"/>
              <a:sym typeface="微软雅黑"/>
            </a:endParaRPr>
          </a:p>
        </p:txBody>
      </p:sp>
      <p:sp>
        <p:nvSpPr>
          <p:cNvPr id="325" name="全球司库"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2775903" y="3771265"/>
            <a:ext cx="874395" cy="304800"/>
          </a:xfrm>
          <a:prstGeom prst="rect">
            <a:avLst/>
          </a:prstGeom>
          <a:ln w="12700">
            <a:miter lim="400000"/>
          </a:ln>
        </p:spPr>
        <p:txBody>
          <a:bodyPr wrap="none" lIns="25400" tIns="25400" rIns="25400" bIns="25400" anchor="ctr">
            <a:spAutoFit/>
          </a:bodyPr>
          <a:lstStyle>
            <a:lvl1pPr>
              <a:defRPr sz="27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sz="1350" b="1">
                <a:solidFill>
                  <a:srgbClr val="0042FF"/>
                </a:solidFill>
                <a:latin typeface="微软雅黑"/>
                <a:ea typeface="微软雅黑"/>
                <a:cs typeface="微软雅黑"/>
                <a:sym typeface="微软雅黑"/>
              </a:rPr>
              <a:t>全球司库</a:t>
            </a:r>
            <a:endParaRPr sz="1350" b="1">
              <a:solidFill>
                <a:srgbClr val="0042FF"/>
              </a:solidFill>
              <a:latin typeface="微软雅黑"/>
              <a:ea typeface="微软雅黑"/>
              <a:cs typeface="微软雅黑"/>
              <a:sym typeface="微软雅黑"/>
            </a:endParaRPr>
          </a:p>
        </p:txBody>
      </p:sp>
      <p:sp>
        <p:nvSpPr>
          <p:cNvPr id="326" name="账户管理/资金计划…"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2545715" y="4222750"/>
            <a:ext cx="1334770" cy="711835"/>
          </a:xfrm>
          <a:prstGeom prst="rect">
            <a:avLst/>
          </a:prstGeom>
          <a:ln w="12700">
            <a:miter lim="400000"/>
          </a:ln>
        </p:spPr>
        <p:txBody>
          <a:bodyPr wrap="square" lIns="0" tIns="0" rIns="0" bIns="0" anchor="ctr">
            <a:noAutofit/>
          </a:bodyPr>
          <a:lstStyle/>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账户管理/资金计划</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现金管理/资金结算</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商业汇票/资金调度</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结算中心/投融资管理</a:t>
            </a:r>
            <a:endParaRPr sz="1000">
              <a:solidFill>
                <a:srgbClr val="383838"/>
              </a:solidFill>
              <a:latin typeface="微软雅黑"/>
              <a:ea typeface="微软雅黑"/>
              <a:cs typeface="微软雅黑"/>
              <a:sym typeface="微软雅黑"/>
            </a:endParaRPr>
          </a:p>
        </p:txBody>
      </p:sp>
      <p:sp>
        <p:nvSpPr>
          <p:cNvPr id="327" name="费控服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4613593" y="3771265"/>
            <a:ext cx="874395" cy="304800"/>
          </a:xfrm>
          <a:prstGeom prst="rect">
            <a:avLst/>
          </a:prstGeom>
          <a:ln w="12700">
            <a:miter lim="400000"/>
          </a:ln>
        </p:spPr>
        <p:txBody>
          <a:bodyPr wrap="none" lIns="25400" tIns="25400" rIns="25400" bIns="25400" anchor="ctr">
            <a:spAutoFit/>
          </a:bodyPr>
          <a:lstStyle>
            <a:lvl1pPr>
              <a:defRPr sz="27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sz="1350" b="1">
                <a:solidFill>
                  <a:srgbClr val="0042FF"/>
                </a:solidFill>
                <a:latin typeface="微软雅黑"/>
                <a:ea typeface="微软雅黑"/>
                <a:cs typeface="微软雅黑"/>
                <a:sym typeface="微软雅黑"/>
              </a:rPr>
              <a:t>费控服务</a:t>
            </a:r>
            <a:endParaRPr sz="1350" b="1">
              <a:solidFill>
                <a:srgbClr val="0042FF"/>
              </a:solidFill>
              <a:latin typeface="微软雅黑"/>
              <a:ea typeface="微软雅黑"/>
              <a:cs typeface="微软雅黑"/>
              <a:sym typeface="微软雅黑"/>
            </a:endParaRPr>
          </a:p>
        </p:txBody>
      </p:sp>
      <p:sp>
        <p:nvSpPr>
          <p:cNvPr id="328" name="账户管理/资金计划…"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4383405" y="4222750"/>
            <a:ext cx="1334770" cy="711835"/>
          </a:xfrm>
          <a:prstGeom prst="rect">
            <a:avLst/>
          </a:prstGeom>
          <a:ln w="12700">
            <a:miter lim="400000"/>
          </a:ln>
        </p:spPr>
        <p:txBody>
          <a:bodyPr wrap="square" lIns="0" tIns="0" rIns="0" bIns="0" anchor="ctr">
            <a:noAutofit/>
          </a:bodyPr>
          <a:lstStyle/>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账户管理/资金计划</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现金管理/资金结算</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商业汇票/资金调度</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结算中心/投融资管理</a:t>
            </a:r>
            <a:endParaRPr sz="1000">
              <a:solidFill>
                <a:srgbClr val="383838"/>
              </a:solidFill>
              <a:latin typeface="微软雅黑"/>
              <a:ea typeface="微软雅黑"/>
              <a:cs typeface="微软雅黑"/>
              <a:sym typeface="微软雅黑"/>
            </a:endParaRPr>
          </a:p>
        </p:txBody>
      </p:sp>
      <p:sp>
        <p:nvSpPr>
          <p:cNvPr id="329" name="税务服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6451283" y="3771265"/>
            <a:ext cx="874395" cy="304800"/>
          </a:xfrm>
          <a:prstGeom prst="rect">
            <a:avLst/>
          </a:prstGeom>
          <a:ln w="12700">
            <a:miter lim="400000"/>
          </a:ln>
        </p:spPr>
        <p:txBody>
          <a:bodyPr wrap="none" lIns="25400" tIns="25400" rIns="25400" bIns="25400" anchor="ctr">
            <a:spAutoFit/>
          </a:bodyPr>
          <a:lstStyle>
            <a:lvl1pPr>
              <a:defRPr sz="27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sz="1350" b="1">
                <a:solidFill>
                  <a:srgbClr val="0042FF"/>
                </a:solidFill>
                <a:latin typeface="微软雅黑"/>
                <a:ea typeface="微软雅黑"/>
                <a:cs typeface="微软雅黑"/>
                <a:sym typeface="微软雅黑"/>
              </a:rPr>
              <a:t>税务服务</a:t>
            </a:r>
            <a:endParaRPr sz="1350" b="1">
              <a:solidFill>
                <a:srgbClr val="0042FF"/>
              </a:solidFill>
              <a:latin typeface="微软雅黑"/>
              <a:ea typeface="微软雅黑"/>
              <a:cs typeface="微软雅黑"/>
              <a:sym typeface="微软雅黑"/>
            </a:endParaRPr>
          </a:p>
        </p:txBody>
      </p:sp>
      <p:sp>
        <p:nvSpPr>
          <p:cNvPr id="330" name="账户管理/资金计划…"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6221095" y="4222750"/>
            <a:ext cx="1334770" cy="711835"/>
          </a:xfrm>
          <a:prstGeom prst="rect">
            <a:avLst/>
          </a:prstGeom>
          <a:ln w="12700">
            <a:miter lim="400000"/>
          </a:ln>
        </p:spPr>
        <p:txBody>
          <a:bodyPr wrap="square" lIns="0" tIns="0" rIns="0" bIns="0" anchor="ctr">
            <a:noAutofit/>
          </a:bodyPr>
          <a:lstStyle/>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账户管理/资金计划</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现金管理/资金结算</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商业汇票/资金调度</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结算中心/投融资管理</a:t>
            </a:r>
            <a:endParaRPr sz="1000">
              <a:solidFill>
                <a:srgbClr val="383838"/>
              </a:solidFill>
              <a:latin typeface="微软雅黑"/>
              <a:ea typeface="微软雅黑"/>
              <a:cs typeface="微软雅黑"/>
              <a:sym typeface="微软雅黑"/>
            </a:endParaRPr>
          </a:p>
        </p:txBody>
      </p:sp>
      <p:sp>
        <p:nvSpPr>
          <p:cNvPr id="331" name="档案服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8289608" y="3771265"/>
            <a:ext cx="874395" cy="304800"/>
          </a:xfrm>
          <a:prstGeom prst="rect">
            <a:avLst/>
          </a:prstGeom>
          <a:ln w="12700">
            <a:miter lim="400000"/>
          </a:ln>
        </p:spPr>
        <p:txBody>
          <a:bodyPr wrap="none" lIns="25400" tIns="25400" rIns="25400" bIns="25400" anchor="ctr">
            <a:spAutoFit/>
          </a:bodyPr>
          <a:lstStyle>
            <a:lvl1pPr>
              <a:defRPr sz="27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sz="1350" b="1">
                <a:solidFill>
                  <a:srgbClr val="0042FF"/>
                </a:solidFill>
                <a:latin typeface="微软雅黑"/>
                <a:ea typeface="微软雅黑"/>
                <a:cs typeface="微软雅黑"/>
                <a:sym typeface="微软雅黑"/>
              </a:rPr>
              <a:t>档案服务</a:t>
            </a:r>
            <a:endParaRPr sz="1350" b="1">
              <a:solidFill>
                <a:srgbClr val="0042FF"/>
              </a:solidFill>
              <a:latin typeface="微软雅黑"/>
              <a:ea typeface="微软雅黑"/>
              <a:cs typeface="微软雅黑"/>
              <a:sym typeface="微软雅黑"/>
            </a:endParaRPr>
          </a:p>
        </p:txBody>
      </p:sp>
      <p:sp>
        <p:nvSpPr>
          <p:cNvPr id="332" name="账户管理/资金计划…"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8059420" y="4222750"/>
            <a:ext cx="1334770" cy="711835"/>
          </a:xfrm>
          <a:prstGeom prst="rect">
            <a:avLst/>
          </a:prstGeom>
          <a:ln w="12700">
            <a:miter lim="400000"/>
          </a:ln>
        </p:spPr>
        <p:txBody>
          <a:bodyPr wrap="square" lIns="0" tIns="0" rIns="0" bIns="0" anchor="ctr">
            <a:noAutofit/>
          </a:bodyPr>
          <a:lstStyle/>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账户管理/资金计划</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现金管理/资金结算</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商业汇票/资金调度</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结算中心/投融资管理</a:t>
            </a:r>
            <a:endParaRPr sz="1000">
              <a:solidFill>
                <a:srgbClr val="383838"/>
              </a:solidFill>
              <a:latin typeface="微软雅黑"/>
              <a:ea typeface="微软雅黑"/>
              <a:cs typeface="微软雅黑"/>
              <a:sym typeface="微软雅黑"/>
            </a:endParaRPr>
          </a:p>
        </p:txBody>
      </p:sp>
      <p:sp>
        <p:nvSpPr>
          <p:cNvPr id="352" name="监管机构"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148590" y="5411788"/>
            <a:ext cx="764540"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监管机构</a:t>
            </a:r>
            <a:endParaRPr sz="1400" b="1">
              <a:solidFill>
                <a:srgbClr val="383838"/>
              </a:solidFill>
              <a:latin typeface="微软雅黑"/>
              <a:ea typeface="微软雅黑"/>
              <a:cs typeface="微软雅黑"/>
              <a:sym typeface="微软雅黑"/>
            </a:endParaRPr>
          </a:p>
        </p:txBody>
      </p:sp>
      <p:sp>
        <p:nvSpPr>
          <p:cNvPr id="353" name="TMC平台"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11089005" y="5451793"/>
            <a:ext cx="787400"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TMC平台</a:t>
            </a:r>
            <a:endParaRPr sz="1400" b="1">
              <a:solidFill>
                <a:srgbClr val="383838"/>
              </a:solidFill>
              <a:latin typeface="微软雅黑"/>
              <a:ea typeface="微软雅黑"/>
              <a:cs typeface="微软雅黑"/>
              <a:sym typeface="微软雅黑"/>
            </a:endParaRPr>
          </a:p>
        </p:txBody>
      </p:sp>
      <p:sp>
        <p:nvSpPr>
          <p:cNvPr id="354" name="影像服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10748645" y="4254183"/>
            <a:ext cx="764540"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影像服务</a:t>
            </a:r>
            <a:endParaRPr sz="1400" b="1">
              <a:solidFill>
                <a:srgbClr val="383838"/>
              </a:solidFill>
              <a:latin typeface="微软雅黑"/>
              <a:ea typeface="微软雅黑"/>
              <a:cs typeface="微软雅黑"/>
              <a:sym typeface="微软雅黑"/>
            </a:endParaRPr>
          </a:p>
        </p:txBody>
      </p:sp>
      <p:sp>
        <p:nvSpPr>
          <p:cNvPr id="355" name="制造"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10186035" y="3248343"/>
            <a:ext cx="407670"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制造</a:t>
            </a:r>
            <a:endParaRPr sz="1400" b="1">
              <a:solidFill>
                <a:srgbClr val="383838"/>
              </a:solidFill>
              <a:latin typeface="微软雅黑"/>
              <a:ea typeface="微软雅黑"/>
              <a:cs typeface="微软雅黑"/>
              <a:sym typeface="微软雅黑"/>
            </a:endParaRPr>
          </a:p>
        </p:txBody>
      </p:sp>
      <p:sp>
        <p:nvSpPr>
          <p:cNvPr id="356" name="资产/项目"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9126855" y="2264728"/>
            <a:ext cx="836295"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资产/项目</a:t>
            </a:r>
            <a:endParaRPr sz="1400" b="1">
              <a:solidFill>
                <a:srgbClr val="383838"/>
              </a:solidFill>
              <a:latin typeface="微软雅黑"/>
              <a:ea typeface="微软雅黑"/>
              <a:cs typeface="微软雅黑"/>
              <a:sym typeface="微软雅黑"/>
            </a:endParaRPr>
          </a:p>
        </p:txBody>
      </p:sp>
      <p:sp>
        <p:nvSpPr>
          <p:cNvPr id="357" name="供应链"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7830820" y="1516698"/>
            <a:ext cx="586105"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供应链</a:t>
            </a:r>
            <a:endParaRPr sz="1400" b="1">
              <a:solidFill>
                <a:srgbClr val="383838"/>
              </a:solidFill>
              <a:latin typeface="微软雅黑"/>
              <a:ea typeface="微软雅黑"/>
              <a:cs typeface="微软雅黑"/>
              <a:sym typeface="微软雅黑"/>
            </a:endParaRPr>
          </a:p>
        </p:txBody>
      </p:sp>
      <p:sp>
        <p:nvSpPr>
          <p:cNvPr id="358" name="营销/采购"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5583555" y="1048703"/>
            <a:ext cx="836295"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营销/采购</a:t>
            </a:r>
            <a:endParaRPr sz="1400" b="1">
              <a:solidFill>
                <a:srgbClr val="383838"/>
              </a:solidFill>
              <a:latin typeface="微软雅黑"/>
              <a:ea typeface="微软雅黑"/>
              <a:cs typeface="微软雅黑"/>
              <a:sym typeface="微软雅黑"/>
            </a:endParaRPr>
          </a:p>
        </p:txBody>
      </p:sp>
      <p:sp>
        <p:nvSpPr>
          <p:cNvPr id="359" name="电商"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3832860" y="1399858"/>
            <a:ext cx="407670"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电商</a:t>
            </a:r>
            <a:endParaRPr sz="1400" b="1">
              <a:solidFill>
                <a:srgbClr val="383838"/>
              </a:solidFill>
              <a:latin typeface="微软雅黑"/>
              <a:ea typeface="微软雅黑"/>
              <a:cs typeface="微软雅黑"/>
              <a:sym typeface="微软雅黑"/>
            </a:endParaRPr>
          </a:p>
        </p:txBody>
      </p:sp>
      <p:sp>
        <p:nvSpPr>
          <p:cNvPr id="360" name="商旅"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2367915" y="2248853"/>
            <a:ext cx="407670"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商旅</a:t>
            </a:r>
            <a:endParaRPr sz="1400" b="1">
              <a:solidFill>
                <a:srgbClr val="383838"/>
              </a:solidFill>
              <a:latin typeface="微软雅黑"/>
              <a:ea typeface="微软雅黑"/>
              <a:cs typeface="微软雅黑"/>
              <a:sym typeface="微软雅黑"/>
            </a:endParaRPr>
          </a:p>
        </p:txBody>
      </p:sp>
      <p:sp>
        <p:nvSpPr>
          <p:cNvPr id="361" name="银行/金融"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1056640" y="3279458"/>
            <a:ext cx="836295"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银行/金融</a:t>
            </a:r>
            <a:endParaRPr sz="1400" b="1">
              <a:solidFill>
                <a:srgbClr val="383838"/>
              </a:solidFill>
              <a:latin typeface="微软雅黑"/>
              <a:ea typeface="微软雅黑"/>
              <a:cs typeface="微软雅黑"/>
              <a:sym typeface="微软雅黑"/>
            </a:endParaRPr>
          </a:p>
        </p:txBody>
      </p:sp>
      <p:sp>
        <p:nvSpPr>
          <p:cNvPr id="362" name="税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761365" y="4306253"/>
            <a:ext cx="407670" cy="266065"/>
          </a:xfrm>
          <a:prstGeom prst="rect">
            <a:avLst/>
          </a:prstGeom>
          <a:ln w="12700">
            <a:miter lim="400000"/>
          </a:ln>
        </p:spPr>
        <p:txBody>
          <a:bodyPr wrap="none" lIns="25400" tIns="25400" rIns="25400" bIns="25400" anchor="ctr">
            <a:spAutoFit/>
          </a:bodyPr>
          <a:lstStyle>
            <a:lvl1pPr>
              <a:defRPr sz="21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sz="1400" b="1">
                <a:solidFill>
                  <a:srgbClr val="383838"/>
                </a:solidFill>
                <a:latin typeface="微软雅黑"/>
                <a:ea typeface="微软雅黑"/>
                <a:cs typeface="微软雅黑"/>
                <a:sym typeface="微软雅黑"/>
              </a:rPr>
              <a:t>税务</a:t>
            </a:r>
            <a:endParaRPr sz="1400" b="1">
              <a:solidFill>
                <a:srgbClr val="383838"/>
              </a:solidFill>
              <a:latin typeface="微软雅黑"/>
              <a:ea typeface="微软雅黑"/>
              <a:cs typeface="微软雅黑"/>
              <a:sym typeface="微软雅黑"/>
            </a:endParaRPr>
          </a:p>
        </p:txBody>
      </p:sp>
      <p:grpSp>
        <p:nvGrpSpPr>
          <p:cNvPr id="538" name="组合 537"/>
          <p:cNvGrpSpPr/>
          <p:nvPr/>
        </p:nvGrpSpPr>
        <p:grpSpPr>
          <a:xfrm>
            <a:off x="963930" y="5339715"/>
            <a:ext cx="411480" cy="411480"/>
            <a:chOff x="2168" y="11353"/>
            <a:chExt cx="648" cy="648"/>
          </a:xfrm>
        </p:grpSpPr>
        <p:sp>
          <p:nvSpPr>
            <p:cNvPr id="539" name="椭圆 538"/>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40"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42" name="组合 541"/>
          <p:cNvGrpSpPr/>
          <p:nvPr/>
        </p:nvGrpSpPr>
        <p:grpSpPr>
          <a:xfrm>
            <a:off x="1283970" y="4251325"/>
            <a:ext cx="411480" cy="411480"/>
            <a:chOff x="2168" y="11353"/>
            <a:chExt cx="648" cy="648"/>
          </a:xfrm>
        </p:grpSpPr>
        <p:sp>
          <p:nvSpPr>
            <p:cNvPr id="543" name="椭圆 542"/>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44"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45" name="组合 544"/>
          <p:cNvGrpSpPr/>
          <p:nvPr/>
        </p:nvGrpSpPr>
        <p:grpSpPr>
          <a:xfrm>
            <a:off x="1905000" y="3215005"/>
            <a:ext cx="411480" cy="411480"/>
            <a:chOff x="2168" y="11353"/>
            <a:chExt cx="648" cy="648"/>
          </a:xfrm>
        </p:grpSpPr>
        <p:sp>
          <p:nvSpPr>
            <p:cNvPr id="546" name="椭圆 545"/>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47"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48" name="组合 547"/>
          <p:cNvGrpSpPr/>
          <p:nvPr/>
        </p:nvGrpSpPr>
        <p:grpSpPr>
          <a:xfrm>
            <a:off x="2905125" y="2243455"/>
            <a:ext cx="411480" cy="411480"/>
            <a:chOff x="2168" y="11353"/>
            <a:chExt cx="648" cy="648"/>
          </a:xfrm>
        </p:grpSpPr>
        <p:sp>
          <p:nvSpPr>
            <p:cNvPr id="549" name="椭圆 548"/>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50"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51" name="组合 550"/>
          <p:cNvGrpSpPr/>
          <p:nvPr/>
        </p:nvGrpSpPr>
        <p:grpSpPr>
          <a:xfrm>
            <a:off x="4180840" y="1588135"/>
            <a:ext cx="411480" cy="411480"/>
            <a:chOff x="2168" y="11353"/>
            <a:chExt cx="648" cy="648"/>
          </a:xfrm>
        </p:grpSpPr>
        <p:sp>
          <p:nvSpPr>
            <p:cNvPr id="552" name="椭圆 551"/>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53"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54" name="组合 553"/>
          <p:cNvGrpSpPr/>
          <p:nvPr/>
        </p:nvGrpSpPr>
        <p:grpSpPr>
          <a:xfrm>
            <a:off x="5772785" y="1318895"/>
            <a:ext cx="411480" cy="411480"/>
            <a:chOff x="2168" y="11353"/>
            <a:chExt cx="648" cy="648"/>
          </a:xfrm>
        </p:grpSpPr>
        <p:sp>
          <p:nvSpPr>
            <p:cNvPr id="555" name="椭圆 554"/>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56"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57" name="组合 556"/>
          <p:cNvGrpSpPr/>
          <p:nvPr/>
        </p:nvGrpSpPr>
        <p:grpSpPr>
          <a:xfrm>
            <a:off x="7398385" y="1591945"/>
            <a:ext cx="411480" cy="411480"/>
            <a:chOff x="2168" y="11353"/>
            <a:chExt cx="648" cy="648"/>
          </a:xfrm>
        </p:grpSpPr>
        <p:sp>
          <p:nvSpPr>
            <p:cNvPr id="558" name="椭圆 557"/>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59"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60" name="组合 559"/>
          <p:cNvGrpSpPr/>
          <p:nvPr/>
        </p:nvGrpSpPr>
        <p:grpSpPr>
          <a:xfrm>
            <a:off x="8621395" y="2240280"/>
            <a:ext cx="411480" cy="411480"/>
            <a:chOff x="2168" y="11353"/>
            <a:chExt cx="648" cy="648"/>
          </a:xfrm>
        </p:grpSpPr>
        <p:sp>
          <p:nvSpPr>
            <p:cNvPr id="561" name="椭圆 560"/>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62"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63" name="组合 562"/>
          <p:cNvGrpSpPr/>
          <p:nvPr/>
        </p:nvGrpSpPr>
        <p:grpSpPr>
          <a:xfrm>
            <a:off x="9636125" y="3211830"/>
            <a:ext cx="411480" cy="411480"/>
            <a:chOff x="2168" y="11353"/>
            <a:chExt cx="648" cy="648"/>
          </a:xfrm>
        </p:grpSpPr>
        <p:sp>
          <p:nvSpPr>
            <p:cNvPr id="564" name="椭圆 563"/>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65"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66" name="组合 565"/>
          <p:cNvGrpSpPr/>
          <p:nvPr/>
        </p:nvGrpSpPr>
        <p:grpSpPr>
          <a:xfrm>
            <a:off x="10266680" y="4255135"/>
            <a:ext cx="411480" cy="411480"/>
            <a:chOff x="2168" y="11353"/>
            <a:chExt cx="648" cy="648"/>
          </a:xfrm>
        </p:grpSpPr>
        <p:sp>
          <p:nvSpPr>
            <p:cNvPr id="567" name="椭圆 566"/>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68"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grpSp>
        <p:nvGrpSpPr>
          <p:cNvPr id="569" name="组合 568"/>
          <p:cNvGrpSpPr/>
          <p:nvPr/>
        </p:nvGrpSpPr>
        <p:grpSpPr>
          <a:xfrm>
            <a:off x="10594340" y="5408930"/>
            <a:ext cx="411480" cy="411480"/>
            <a:chOff x="2168" y="11353"/>
            <a:chExt cx="648" cy="648"/>
          </a:xfrm>
        </p:grpSpPr>
        <p:sp>
          <p:nvSpPr>
            <p:cNvPr id="570" name="椭圆 569"/>
            <p:cNvSpPr/>
            <p:nvPr/>
          </p:nvSpPr>
          <p:spPr>
            <a:xfrm>
              <a:off x="2168" y="11353"/>
              <a:ext cx="648" cy="648"/>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endParaRPr>
            </a:p>
          </p:txBody>
        </p:sp>
        <p:sp>
          <p:nvSpPr>
            <p:cNvPr id="571" name="圆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2173" y="11358"/>
              <a:ext cx="637" cy="637"/>
            </a:xfrm>
            <a:prstGeom prst="ellipse">
              <a:avLst/>
            </a:prstGeom>
            <a:gradFill>
              <a:gsLst>
                <a:gs pos="13000">
                  <a:srgbClr val="3368FF">
                    <a:alpha val="50000"/>
                  </a:srgbClr>
                </a:gs>
                <a:gs pos="86000">
                  <a:srgbClr val="3368FF"/>
                </a:gs>
              </a:gsLst>
              <a:path path="circle">
                <a:fillToRect r="100000" b="100000"/>
              </a:path>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100" b="1" dirty="0">
                <a:solidFill>
                  <a:srgbClr val="FFFFFF"/>
                </a:solidFill>
                <a:latin typeface="微软雅黑"/>
                <a:ea typeface="微软雅黑"/>
                <a:cs typeface="微软雅黑"/>
                <a:sym typeface="微软雅黑"/>
              </a:endParaRPr>
            </a:p>
          </p:txBody>
        </p:sp>
      </p:grpSp>
      <p:pic>
        <p:nvPicPr>
          <p:cNvPr id="576" name="图片 575" descr="电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75455" y="1646555"/>
            <a:ext cx="247650" cy="247650"/>
          </a:xfrm>
          <a:prstGeom prst="rect">
            <a:avLst/>
          </a:prstGeom>
        </p:spPr>
      </p:pic>
      <p:pic>
        <p:nvPicPr>
          <p:cNvPr id="578" name="图片 577" descr="营销 (1)"/>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877560" y="1409700"/>
            <a:ext cx="196850" cy="196850"/>
          </a:xfrm>
          <a:prstGeom prst="rect">
            <a:avLst/>
          </a:prstGeom>
        </p:spPr>
      </p:pic>
      <p:pic>
        <p:nvPicPr>
          <p:cNvPr id="579" name="图片 578" descr="商旅服务"/>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976245" y="2291080"/>
            <a:ext cx="292100" cy="292100"/>
          </a:xfrm>
          <a:prstGeom prst="rect">
            <a:avLst/>
          </a:prstGeom>
        </p:spPr>
      </p:pic>
      <p:pic>
        <p:nvPicPr>
          <p:cNvPr id="580" name="图片 579" descr="供应链服务"/>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468870" y="1646555"/>
            <a:ext cx="271145" cy="271145"/>
          </a:xfrm>
          <a:prstGeom prst="rect">
            <a:avLst/>
          </a:prstGeom>
        </p:spPr>
      </p:pic>
      <p:pic>
        <p:nvPicPr>
          <p:cNvPr id="582" name="图片 581" descr="银行"/>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936750" y="3218180"/>
            <a:ext cx="347980" cy="347980"/>
          </a:xfrm>
          <a:prstGeom prst="rect">
            <a:avLst/>
          </a:prstGeom>
        </p:spPr>
      </p:pic>
      <p:pic>
        <p:nvPicPr>
          <p:cNvPr id="583" name="图片 582" descr="设计生产"/>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8705850" y="2324735"/>
            <a:ext cx="241935" cy="241935"/>
          </a:xfrm>
          <a:prstGeom prst="rect">
            <a:avLst/>
          </a:prstGeom>
        </p:spPr>
      </p:pic>
      <p:pic>
        <p:nvPicPr>
          <p:cNvPr id="584" name="图片 583" descr="制造业"/>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739630" y="3296920"/>
            <a:ext cx="221615" cy="221615"/>
          </a:xfrm>
          <a:prstGeom prst="rect">
            <a:avLst/>
          </a:prstGeom>
        </p:spPr>
      </p:pic>
      <p:sp>
        <p:nvSpPr>
          <p:cNvPr id="585" name="电影胶片"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10369550" y="4375150"/>
            <a:ext cx="205105" cy="172085"/>
          </a:xfrm>
          <a:custGeom>
            <a:avLst/>
            <a:gdLst/>
            <a:ahLst/>
            <a:cxnLst>
              <a:cxn ang="0">
                <a:pos x="wd2" y="hd2"/>
              </a:cxn>
              <a:cxn ang="5400000">
                <a:pos x="wd2" y="hd2"/>
              </a:cxn>
              <a:cxn ang="10800000">
                <a:pos x="wd2" y="hd2"/>
              </a:cxn>
              <a:cxn ang="16200000">
                <a:pos x="wd2" y="hd2"/>
              </a:cxn>
            </a:cxnLst>
            <a:rect l="0" t="0" r="r" b="b"/>
            <a:pathLst>
              <a:path w="21600" h="21600" extrusionOk="0">
                <a:moveTo>
                  <a:pt x="557" y="0"/>
                </a:moveTo>
                <a:cubicBezTo>
                  <a:pt x="249" y="0"/>
                  <a:pt x="0" y="296"/>
                  <a:pt x="0" y="663"/>
                </a:cubicBezTo>
                <a:lnTo>
                  <a:pt x="0" y="20939"/>
                </a:lnTo>
                <a:cubicBezTo>
                  <a:pt x="0" y="21306"/>
                  <a:pt x="249" y="21600"/>
                  <a:pt x="557" y="21600"/>
                </a:cubicBezTo>
                <a:lnTo>
                  <a:pt x="21045" y="21600"/>
                </a:lnTo>
                <a:cubicBezTo>
                  <a:pt x="21353" y="21600"/>
                  <a:pt x="21600" y="21306"/>
                  <a:pt x="21600" y="20939"/>
                </a:cubicBezTo>
                <a:lnTo>
                  <a:pt x="21600" y="657"/>
                </a:lnTo>
                <a:cubicBezTo>
                  <a:pt x="21600" y="297"/>
                  <a:pt x="21353" y="0"/>
                  <a:pt x="21045" y="0"/>
                </a:cubicBezTo>
                <a:lnTo>
                  <a:pt x="557" y="0"/>
                </a:lnTo>
                <a:close/>
                <a:moveTo>
                  <a:pt x="1733" y="1317"/>
                </a:moveTo>
                <a:lnTo>
                  <a:pt x="3352" y="1317"/>
                </a:lnTo>
                <a:lnTo>
                  <a:pt x="3352" y="3246"/>
                </a:lnTo>
                <a:lnTo>
                  <a:pt x="1733" y="3246"/>
                </a:lnTo>
                <a:lnTo>
                  <a:pt x="1733" y="1317"/>
                </a:lnTo>
                <a:close/>
                <a:moveTo>
                  <a:pt x="5863" y="1317"/>
                </a:moveTo>
                <a:lnTo>
                  <a:pt x="7482" y="1317"/>
                </a:lnTo>
                <a:lnTo>
                  <a:pt x="7482" y="3246"/>
                </a:lnTo>
                <a:lnTo>
                  <a:pt x="5863" y="3246"/>
                </a:lnTo>
                <a:lnTo>
                  <a:pt x="5863" y="1317"/>
                </a:lnTo>
                <a:close/>
                <a:moveTo>
                  <a:pt x="9993" y="1317"/>
                </a:moveTo>
                <a:lnTo>
                  <a:pt x="11612" y="1317"/>
                </a:lnTo>
                <a:lnTo>
                  <a:pt x="11612" y="3246"/>
                </a:lnTo>
                <a:lnTo>
                  <a:pt x="9993" y="3246"/>
                </a:lnTo>
                <a:lnTo>
                  <a:pt x="9993" y="1317"/>
                </a:lnTo>
                <a:close/>
                <a:moveTo>
                  <a:pt x="14123" y="1317"/>
                </a:moveTo>
                <a:lnTo>
                  <a:pt x="15742" y="1317"/>
                </a:lnTo>
                <a:lnTo>
                  <a:pt x="15742" y="3246"/>
                </a:lnTo>
                <a:lnTo>
                  <a:pt x="14123" y="3246"/>
                </a:lnTo>
                <a:lnTo>
                  <a:pt x="14123" y="1317"/>
                </a:lnTo>
                <a:close/>
                <a:moveTo>
                  <a:pt x="18253" y="1317"/>
                </a:moveTo>
                <a:lnTo>
                  <a:pt x="19872" y="1317"/>
                </a:lnTo>
                <a:lnTo>
                  <a:pt x="19872" y="3246"/>
                </a:lnTo>
                <a:lnTo>
                  <a:pt x="18253" y="3246"/>
                </a:lnTo>
                <a:lnTo>
                  <a:pt x="18253" y="1317"/>
                </a:lnTo>
                <a:close/>
                <a:moveTo>
                  <a:pt x="1733" y="4563"/>
                </a:moveTo>
                <a:lnTo>
                  <a:pt x="19872" y="4563"/>
                </a:lnTo>
                <a:lnTo>
                  <a:pt x="19872" y="17031"/>
                </a:lnTo>
                <a:lnTo>
                  <a:pt x="1733" y="17031"/>
                </a:lnTo>
                <a:lnTo>
                  <a:pt x="1733" y="4563"/>
                </a:lnTo>
                <a:close/>
                <a:moveTo>
                  <a:pt x="1733" y="18348"/>
                </a:moveTo>
                <a:lnTo>
                  <a:pt x="3352" y="18348"/>
                </a:lnTo>
                <a:lnTo>
                  <a:pt x="3352" y="20276"/>
                </a:lnTo>
                <a:lnTo>
                  <a:pt x="1733" y="20276"/>
                </a:lnTo>
                <a:lnTo>
                  <a:pt x="1733" y="18348"/>
                </a:lnTo>
                <a:close/>
                <a:moveTo>
                  <a:pt x="5863" y="18348"/>
                </a:moveTo>
                <a:lnTo>
                  <a:pt x="7482" y="18348"/>
                </a:lnTo>
                <a:lnTo>
                  <a:pt x="7482" y="20276"/>
                </a:lnTo>
                <a:lnTo>
                  <a:pt x="5863" y="20276"/>
                </a:lnTo>
                <a:lnTo>
                  <a:pt x="5863" y="18348"/>
                </a:lnTo>
                <a:close/>
                <a:moveTo>
                  <a:pt x="9993" y="18348"/>
                </a:moveTo>
                <a:lnTo>
                  <a:pt x="11612" y="18348"/>
                </a:lnTo>
                <a:lnTo>
                  <a:pt x="11612" y="20276"/>
                </a:lnTo>
                <a:lnTo>
                  <a:pt x="9993" y="20276"/>
                </a:lnTo>
                <a:lnTo>
                  <a:pt x="9993" y="18348"/>
                </a:lnTo>
                <a:close/>
                <a:moveTo>
                  <a:pt x="14123" y="18348"/>
                </a:moveTo>
                <a:lnTo>
                  <a:pt x="15742" y="18348"/>
                </a:lnTo>
                <a:lnTo>
                  <a:pt x="15742" y="20276"/>
                </a:lnTo>
                <a:lnTo>
                  <a:pt x="14123" y="20276"/>
                </a:lnTo>
                <a:lnTo>
                  <a:pt x="14123" y="18348"/>
                </a:lnTo>
                <a:close/>
                <a:moveTo>
                  <a:pt x="18253" y="18348"/>
                </a:moveTo>
                <a:lnTo>
                  <a:pt x="19872" y="18348"/>
                </a:lnTo>
                <a:lnTo>
                  <a:pt x="19872" y="20276"/>
                </a:lnTo>
                <a:lnTo>
                  <a:pt x="18253" y="20276"/>
                </a:lnTo>
                <a:lnTo>
                  <a:pt x="18253" y="18348"/>
                </a:lnTo>
                <a:close/>
              </a:path>
            </a:pathLst>
          </a:custGeom>
          <a:solidFill>
            <a:srgbClr val="FFFFFF"/>
          </a:solidFill>
          <a:ln w="12700">
            <a:miter lim="400000"/>
          </a:ln>
        </p:spPr>
        <p:txBody>
          <a:bodyPr lIns="25400" tIns="25400" rIns="25400" bIns="25400" anchor="ctr"/>
          <a:lstStyle/>
          <a:p>
            <a:pPr defTabSz="412750">
              <a:defRPr sz="320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586" name="世界"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10692130" y="5501640"/>
            <a:ext cx="216535" cy="216535"/>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4845" y="0"/>
                  <a:pt x="0" y="4845"/>
                  <a:pt x="0" y="10800"/>
                </a:cubicBezTo>
                <a:cubicBezTo>
                  <a:pt x="0" y="16755"/>
                  <a:pt x="4845" y="21600"/>
                  <a:pt x="10800" y="21600"/>
                </a:cubicBezTo>
                <a:cubicBezTo>
                  <a:pt x="16755" y="21600"/>
                  <a:pt x="21600" y="16755"/>
                  <a:pt x="21600" y="10800"/>
                </a:cubicBezTo>
                <a:cubicBezTo>
                  <a:pt x="21600" y="4845"/>
                  <a:pt x="16755" y="0"/>
                  <a:pt x="10800" y="0"/>
                </a:cubicBezTo>
                <a:close/>
                <a:moveTo>
                  <a:pt x="11993" y="938"/>
                </a:moveTo>
                <a:cubicBezTo>
                  <a:pt x="14122" y="1194"/>
                  <a:pt x="16044" y="2125"/>
                  <a:pt x="17542" y="3512"/>
                </a:cubicBezTo>
                <a:cubicBezTo>
                  <a:pt x="16898" y="4108"/>
                  <a:pt x="16188" y="4611"/>
                  <a:pt x="15429" y="5012"/>
                </a:cubicBezTo>
                <a:cubicBezTo>
                  <a:pt x="15343" y="4850"/>
                  <a:pt x="15255" y="4689"/>
                  <a:pt x="15162" y="4531"/>
                </a:cubicBezTo>
                <a:cubicBezTo>
                  <a:pt x="14347" y="3140"/>
                  <a:pt x="13267" y="1918"/>
                  <a:pt x="11993" y="938"/>
                </a:cubicBezTo>
                <a:close/>
                <a:moveTo>
                  <a:pt x="9560" y="943"/>
                </a:moveTo>
                <a:cubicBezTo>
                  <a:pt x="8289" y="1922"/>
                  <a:pt x="7211" y="3142"/>
                  <a:pt x="6397" y="4531"/>
                </a:cubicBezTo>
                <a:cubicBezTo>
                  <a:pt x="6308" y="4684"/>
                  <a:pt x="6222" y="4839"/>
                  <a:pt x="6139" y="4995"/>
                </a:cubicBezTo>
                <a:cubicBezTo>
                  <a:pt x="5392" y="4597"/>
                  <a:pt x="4693" y="4100"/>
                  <a:pt x="4058" y="3512"/>
                </a:cubicBezTo>
                <a:cubicBezTo>
                  <a:pt x="5545" y="2136"/>
                  <a:pt x="7450" y="1207"/>
                  <a:pt x="9560" y="943"/>
                </a:cubicBezTo>
                <a:close/>
                <a:moveTo>
                  <a:pt x="10366" y="1421"/>
                </a:moveTo>
                <a:lnTo>
                  <a:pt x="10366" y="6141"/>
                </a:lnTo>
                <a:cubicBezTo>
                  <a:pt x="9165" y="6090"/>
                  <a:pt x="8002" y="5827"/>
                  <a:pt x="6920" y="5368"/>
                </a:cubicBezTo>
                <a:cubicBezTo>
                  <a:pt x="6992" y="5234"/>
                  <a:pt x="7066" y="5100"/>
                  <a:pt x="7143" y="4968"/>
                </a:cubicBezTo>
                <a:cubicBezTo>
                  <a:pt x="7960" y="3575"/>
                  <a:pt x="9062" y="2365"/>
                  <a:pt x="10366" y="1421"/>
                </a:cubicBezTo>
                <a:close/>
                <a:moveTo>
                  <a:pt x="11234" y="1451"/>
                </a:moveTo>
                <a:cubicBezTo>
                  <a:pt x="12520" y="2391"/>
                  <a:pt x="13607" y="3589"/>
                  <a:pt x="14415" y="4968"/>
                </a:cubicBezTo>
                <a:cubicBezTo>
                  <a:pt x="14495" y="5104"/>
                  <a:pt x="14572" y="5244"/>
                  <a:pt x="14646" y="5383"/>
                </a:cubicBezTo>
                <a:cubicBezTo>
                  <a:pt x="13574" y="5833"/>
                  <a:pt x="12424" y="6090"/>
                  <a:pt x="11234" y="6141"/>
                </a:cubicBezTo>
                <a:lnTo>
                  <a:pt x="11234" y="1451"/>
                </a:lnTo>
                <a:close/>
                <a:moveTo>
                  <a:pt x="3448" y="4128"/>
                </a:moveTo>
                <a:cubicBezTo>
                  <a:pt x="4152" y="4783"/>
                  <a:pt x="4928" y="5335"/>
                  <a:pt x="5759" y="5775"/>
                </a:cubicBezTo>
                <a:cubicBezTo>
                  <a:pt x="5120" y="7219"/>
                  <a:pt x="4759" y="8779"/>
                  <a:pt x="4701" y="10368"/>
                </a:cubicBezTo>
                <a:lnTo>
                  <a:pt x="876" y="10368"/>
                </a:lnTo>
                <a:cubicBezTo>
                  <a:pt x="979" y="7972"/>
                  <a:pt x="1935" y="5793"/>
                  <a:pt x="3448" y="4128"/>
                </a:cubicBezTo>
                <a:close/>
                <a:moveTo>
                  <a:pt x="18152" y="4128"/>
                </a:moveTo>
                <a:cubicBezTo>
                  <a:pt x="19665" y="5793"/>
                  <a:pt x="20621" y="7972"/>
                  <a:pt x="20724" y="10368"/>
                </a:cubicBezTo>
                <a:lnTo>
                  <a:pt x="16858" y="10368"/>
                </a:lnTo>
                <a:cubicBezTo>
                  <a:pt x="16800" y="8785"/>
                  <a:pt x="16441" y="7231"/>
                  <a:pt x="15807" y="5792"/>
                </a:cubicBezTo>
                <a:cubicBezTo>
                  <a:pt x="16650" y="5349"/>
                  <a:pt x="17439" y="4792"/>
                  <a:pt x="18152" y="4128"/>
                </a:cubicBezTo>
                <a:close/>
                <a:moveTo>
                  <a:pt x="6541" y="6148"/>
                </a:moveTo>
                <a:cubicBezTo>
                  <a:pt x="7739" y="6662"/>
                  <a:pt x="9031" y="6956"/>
                  <a:pt x="10366" y="7008"/>
                </a:cubicBezTo>
                <a:lnTo>
                  <a:pt x="10366" y="10368"/>
                </a:lnTo>
                <a:lnTo>
                  <a:pt x="5569" y="10368"/>
                </a:lnTo>
                <a:cubicBezTo>
                  <a:pt x="5626" y="8908"/>
                  <a:pt x="5956" y="7475"/>
                  <a:pt x="6541" y="6148"/>
                </a:cubicBezTo>
                <a:close/>
                <a:moveTo>
                  <a:pt x="15024" y="6163"/>
                </a:moveTo>
                <a:cubicBezTo>
                  <a:pt x="15604" y="7486"/>
                  <a:pt x="15934" y="8914"/>
                  <a:pt x="15991" y="10368"/>
                </a:cubicBezTo>
                <a:lnTo>
                  <a:pt x="11234" y="10368"/>
                </a:lnTo>
                <a:lnTo>
                  <a:pt x="11234" y="7008"/>
                </a:lnTo>
                <a:cubicBezTo>
                  <a:pt x="12557" y="6956"/>
                  <a:pt x="13835" y="6668"/>
                  <a:pt x="15024" y="6163"/>
                </a:cubicBezTo>
                <a:close/>
                <a:moveTo>
                  <a:pt x="876" y="11234"/>
                </a:moveTo>
                <a:lnTo>
                  <a:pt x="4700" y="11234"/>
                </a:lnTo>
                <a:cubicBezTo>
                  <a:pt x="4753" y="12849"/>
                  <a:pt x="5119" y="14437"/>
                  <a:pt x="5773" y="15903"/>
                </a:cubicBezTo>
                <a:cubicBezTo>
                  <a:pt x="4953" y="16335"/>
                  <a:pt x="4185" y="16876"/>
                  <a:pt x="3488" y="17518"/>
                </a:cubicBezTo>
                <a:cubicBezTo>
                  <a:pt x="1952" y="15847"/>
                  <a:pt x="980" y="13652"/>
                  <a:pt x="876" y="11234"/>
                </a:cubicBezTo>
                <a:close/>
                <a:moveTo>
                  <a:pt x="5567" y="11234"/>
                </a:moveTo>
                <a:lnTo>
                  <a:pt x="10366" y="11234"/>
                </a:lnTo>
                <a:lnTo>
                  <a:pt x="10366" y="14676"/>
                </a:lnTo>
                <a:cubicBezTo>
                  <a:pt x="9036" y="14728"/>
                  <a:pt x="7749" y="15021"/>
                  <a:pt x="6554" y="15532"/>
                </a:cubicBezTo>
                <a:cubicBezTo>
                  <a:pt x="5955" y="14182"/>
                  <a:pt x="5619" y="12720"/>
                  <a:pt x="5567" y="11234"/>
                </a:cubicBezTo>
                <a:close/>
                <a:moveTo>
                  <a:pt x="11234" y="11234"/>
                </a:moveTo>
                <a:lnTo>
                  <a:pt x="15992" y="11234"/>
                </a:lnTo>
                <a:cubicBezTo>
                  <a:pt x="15940" y="12714"/>
                  <a:pt x="15605" y="14169"/>
                  <a:pt x="15010" y="15515"/>
                </a:cubicBezTo>
                <a:cubicBezTo>
                  <a:pt x="13825" y="15013"/>
                  <a:pt x="12552" y="14728"/>
                  <a:pt x="11234" y="14676"/>
                </a:cubicBezTo>
                <a:lnTo>
                  <a:pt x="11234" y="11234"/>
                </a:lnTo>
                <a:close/>
                <a:moveTo>
                  <a:pt x="16860" y="11234"/>
                </a:moveTo>
                <a:lnTo>
                  <a:pt x="20724" y="11234"/>
                </a:lnTo>
                <a:cubicBezTo>
                  <a:pt x="20620" y="13652"/>
                  <a:pt x="19648" y="15847"/>
                  <a:pt x="18112" y="17518"/>
                </a:cubicBezTo>
                <a:cubicBezTo>
                  <a:pt x="17406" y="16867"/>
                  <a:pt x="16627" y="16321"/>
                  <a:pt x="15795" y="15886"/>
                </a:cubicBezTo>
                <a:cubicBezTo>
                  <a:pt x="16444" y="14425"/>
                  <a:pt x="16807" y="12842"/>
                  <a:pt x="16860" y="11234"/>
                </a:cubicBezTo>
                <a:close/>
                <a:moveTo>
                  <a:pt x="10366" y="15544"/>
                </a:moveTo>
                <a:lnTo>
                  <a:pt x="10366" y="20226"/>
                </a:lnTo>
                <a:cubicBezTo>
                  <a:pt x="9026" y="19256"/>
                  <a:pt x="7899" y="18005"/>
                  <a:pt x="7077" y="16566"/>
                </a:cubicBezTo>
                <a:cubicBezTo>
                  <a:pt x="7029" y="16481"/>
                  <a:pt x="6982" y="16396"/>
                  <a:pt x="6936" y="16310"/>
                </a:cubicBezTo>
                <a:cubicBezTo>
                  <a:pt x="8013" y="15855"/>
                  <a:pt x="9170" y="15594"/>
                  <a:pt x="10366" y="15544"/>
                </a:cubicBezTo>
                <a:close/>
                <a:moveTo>
                  <a:pt x="11234" y="15544"/>
                </a:moveTo>
                <a:cubicBezTo>
                  <a:pt x="12418" y="15594"/>
                  <a:pt x="13563" y="15849"/>
                  <a:pt x="14631" y="16295"/>
                </a:cubicBezTo>
                <a:cubicBezTo>
                  <a:pt x="14582" y="16386"/>
                  <a:pt x="14532" y="16476"/>
                  <a:pt x="14480" y="16566"/>
                </a:cubicBezTo>
                <a:cubicBezTo>
                  <a:pt x="13667" y="17990"/>
                  <a:pt x="12556" y="19230"/>
                  <a:pt x="11234" y="20196"/>
                </a:cubicBezTo>
                <a:lnTo>
                  <a:pt x="11234" y="15544"/>
                </a:lnTo>
                <a:close/>
                <a:moveTo>
                  <a:pt x="15415" y="16666"/>
                </a:moveTo>
                <a:cubicBezTo>
                  <a:pt x="16162" y="17059"/>
                  <a:pt x="16861" y="17548"/>
                  <a:pt x="17498" y="18131"/>
                </a:cubicBezTo>
                <a:cubicBezTo>
                  <a:pt x="16023" y="19479"/>
                  <a:pt x="14143" y="20390"/>
                  <a:pt x="12062" y="20655"/>
                </a:cubicBezTo>
                <a:cubicBezTo>
                  <a:pt x="13343" y="19655"/>
                  <a:pt x="14426" y="18410"/>
                  <a:pt x="15233" y="16997"/>
                </a:cubicBezTo>
                <a:cubicBezTo>
                  <a:pt x="15295" y="16887"/>
                  <a:pt x="15356" y="16777"/>
                  <a:pt x="15415" y="16666"/>
                </a:cubicBezTo>
                <a:close/>
                <a:moveTo>
                  <a:pt x="6153" y="16683"/>
                </a:moveTo>
                <a:cubicBezTo>
                  <a:pt x="6209" y="16788"/>
                  <a:pt x="6267" y="16893"/>
                  <a:pt x="6326" y="16997"/>
                </a:cubicBezTo>
                <a:cubicBezTo>
                  <a:pt x="7132" y="18407"/>
                  <a:pt x="8212" y="19649"/>
                  <a:pt x="9489" y="20648"/>
                </a:cubicBezTo>
                <a:cubicBezTo>
                  <a:pt x="7428" y="20375"/>
                  <a:pt x="5565" y="19468"/>
                  <a:pt x="4102" y="18131"/>
                </a:cubicBezTo>
                <a:cubicBezTo>
                  <a:pt x="4730" y="17557"/>
                  <a:pt x="5418" y="17073"/>
                  <a:pt x="6153" y="16683"/>
                </a:cubicBezTo>
                <a:close/>
              </a:path>
            </a:pathLst>
          </a:custGeom>
          <a:solidFill>
            <a:srgbClr val="FFFFFF"/>
          </a:solidFill>
          <a:ln w="12700">
            <a:miter lim="400000"/>
          </a:ln>
        </p:spPr>
        <p:txBody>
          <a:bodyPr lIns="25400" tIns="25400" rIns="25400" bIns="25400" anchor="ctr"/>
          <a:lstStyle/>
          <a:p>
            <a:pPr defTabSz="412750">
              <a:defRPr sz="320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587" name="组织"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1393508" y="4357370"/>
            <a:ext cx="192405" cy="165100"/>
          </a:xfrm>
          <a:custGeom>
            <a:avLst/>
            <a:gdLst/>
            <a:ahLst/>
            <a:cxnLst>
              <a:cxn ang="0">
                <a:pos x="wd2" y="hd2"/>
              </a:cxn>
              <a:cxn ang="5400000">
                <a:pos x="wd2" y="hd2"/>
              </a:cxn>
              <a:cxn ang="10800000">
                <a:pos x="wd2" y="hd2"/>
              </a:cxn>
              <a:cxn ang="16200000">
                <a:pos x="wd2" y="hd2"/>
              </a:cxn>
            </a:cxnLst>
            <a:rect l="0" t="0" r="r" b="b"/>
            <a:pathLst>
              <a:path w="21600" h="21600" extrusionOk="0">
                <a:moveTo>
                  <a:pt x="7974" y="0"/>
                </a:moveTo>
                <a:cubicBezTo>
                  <a:pt x="7706" y="0"/>
                  <a:pt x="7487" y="255"/>
                  <a:pt x="7487" y="566"/>
                </a:cubicBezTo>
                <a:lnTo>
                  <a:pt x="7487" y="3615"/>
                </a:lnTo>
                <a:cubicBezTo>
                  <a:pt x="7487" y="3926"/>
                  <a:pt x="7706" y="4181"/>
                  <a:pt x="7974" y="4181"/>
                </a:cubicBezTo>
                <a:lnTo>
                  <a:pt x="10530" y="4181"/>
                </a:lnTo>
                <a:lnTo>
                  <a:pt x="10530" y="7322"/>
                </a:lnTo>
                <a:lnTo>
                  <a:pt x="3210" y="7322"/>
                </a:lnTo>
                <a:cubicBezTo>
                  <a:pt x="3102" y="7322"/>
                  <a:pt x="3015" y="7425"/>
                  <a:pt x="3015" y="7550"/>
                </a:cubicBezTo>
                <a:lnTo>
                  <a:pt x="3015" y="10705"/>
                </a:lnTo>
                <a:lnTo>
                  <a:pt x="974" y="10705"/>
                </a:lnTo>
                <a:cubicBezTo>
                  <a:pt x="706" y="10705"/>
                  <a:pt x="487" y="10960"/>
                  <a:pt x="487" y="11271"/>
                </a:cubicBezTo>
                <a:lnTo>
                  <a:pt x="487" y="13737"/>
                </a:lnTo>
                <a:cubicBezTo>
                  <a:pt x="487" y="14049"/>
                  <a:pt x="706" y="14304"/>
                  <a:pt x="974" y="14304"/>
                </a:cubicBezTo>
                <a:lnTo>
                  <a:pt x="3015" y="14304"/>
                </a:lnTo>
                <a:lnTo>
                  <a:pt x="3015" y="17244"/>
                </a:lnTo>
                <a:lnTo>
                  <a:pt x="1350" y="17244"/>
                </a:lnTo>
                <a:cubicBezTo>
                  <a:pt x="1243" y="17244"/>
                  <a:pt x="1156" y="17345"/>
                  <a:pt x="1156" y="17470"/>
                </a:cubicBezTo>
                <a:lnTo>
                  <a:pt x="1156" y="19454"/>
                </a:lnTo>
                <a:lnTo>
                  <a:pt x="274" y="19454"/>
                </a:lnTo>
                <a:cubicBezTo>
                  <a:pt x="124" y="19454"/>
                  <a:pt x="0" y="19598"/>
                  <a:pt x="0" y="19773"/>
                </a:cubicBezTo>
                <a:lnTo>
                  <a:pt x="0" y="21281"/>
                </a:lnTo>
                <a:cubicBezTo>
                  <a:pt x="0" y="21456"/>
                  <a:pt x="124" y="21600"/>
                  <a:pt x="274" y="21600"/>
                </a:cubicBezTo>
                <a:lnTo>
                  <a:pt x="2579" y="21600"/>
                </a:lnTo>
                <a:cubicBezTo>
                  <a:pt x="2729" y="21600"/>
                  <a:pt x="2853" y="21456"/>
                  <a:pt x="2853" y="21281"/>
                </a:cubicBezTo>
                <a:lnTo>
                  <a:pt x="2853" y="19773"/>
                </a:lnTo>
                <a:cubicBezTo>
                  <a:pt x="2853" y="19599"/>
                  <a:pt x="2729" y="19454"/>
                  <a:pt x="2579" y="19454"/>
                </a:cubicBezTo>
                <a:lnTo>
                  <a:pt x="1697" y="19454"/>
                </a:lnTo>
                <a:lnTo>
                  <a:pt x="1697" y="18111"/>
                </a:lnTo>
                <a:cubicBezTo>
                  <a:pt x="1697" y="17987"/>
                  <a:pt x="1784" y="17885"/>
                  <a:pt x="1891" y="17885"/>
                </a:cubicBezTo>
                <a:lnTo>
                  <a:pt x="4629" y="17885"/>
                </a:lnTo>
                <a:cubicBezTo>
                  <a:pt x="4736" y="17885"/>
                  <a:pt x="4824" y="17987"/>
                  <a:pt x="4824" y="18111"/>
                </a:cubicBezTo>
                <a:lnTo>
                  <a:pt x="4824" y="19454"/>
                </a:lnTo>
                <a:lnTo>
                  <a:pt x="3941" y="19454"/>
                </a:lnTo>
                <a:cubicBezTo>
                  <a:pt x="3791" y="19454"/>
                  <a:pt x="3668" y="19598"/>
                  <a:pt x="3668" y="19773"/>
                </a:cubicBezTo>
                <a:lnTo>
                  <a:pt x="3668" y="21281"/>
                </a:lnTo>
                <a:cubicBezTo>
                  <a:pt x="3668" y="21456"/>
                  <a:pt x="3791" y="21600"/>
                  <a:pt x="3941" y="21600"/>
                </a:cubicBezTo>
                <a:lnTo>
                  <a:pt x="6247" y="21600"/>
                </a:lnTo>
                <a:cubicBezTo>
                  <a:pt x="6397" y="21600"/>
                  <a:pt x="6519" y="21456"/>
                  <a:pt x="6519" y="21281"/>
                </a:cubicBezTo>
                <a:lnTo>
                  <a:pt x="6519" y="19773"/>
                </a:lnTo>
                <a:cubicBezTo>
                  <a:pt x="6519" y="19599"/>
                  <a:pt x="6397" y="19454"/>
                  <a:pt x="6247" y="19454"/>
                </a:cubicBezTo>
                <a:lnTo>
                  <a:pt x="5365" y="19454"/>
                </a:lnTo>
                <a:lnTo>
                  <a:pt x="5365" y="17470"/>
                </a:lnTo>
                <a:cubicBezTo>
                  <a:pt x="5365" y="17345"/>
                  <a:pt x="5277" y="17244"/>
                  <a:pt x="5170" y="17244"/>
                </a:cubicBezTo>
                <a:lnTo>
                  <a:pt x="3556" y="17244"/>
                </a:lnTo>
                <a:lnTo>
                  <a:pt x="3556" y="14304"/>
                </a:lnTo>
                <a:lnTo>
                  <a:pt x="5549" y="14304"/>
                </a:lnTo>
                <a:cubicBezTo>
                  <a:pt x="5816" y="14304"/>
                  <a:pt x="6035" y="14049"/>
                  <a:pt x="6035" y="13737"/>
                </a:cubicBezTo>
                <a:lnTo>
                  <a:pt x="6035" y="11271"/>
                </a:lnTo>
                <a:cubicBezTo>
                  <a:pt x="6035" y="10960"/>
                  <a:pt x="5816" y="10705"/>
                  <a:pt x="5549" y="10705"/>
                </a:cubicBezTo>
                <a:lnTo>
                  <a:pt x="3556" y="10705"/>
                </a:lnTo>
                <a:lnTo>
                  <a:pt x="3556" y="8179"/>
                </a:lnTo>
                <a:cubicBezTo>
                  <a:pt x="3556" y="8055"/>
                  <a:pt x="3643" y="7951"/>
                  <a:pt x="3750" y="7951"/>
                </a:cubicBezTo>
                <a:lnTo>
                  <a:pt x="10530" y="7951"/>
                </a:lnTo>
                <a:lnTo>
                  <a:pt x="10530" y="10705"/>
                </a:lnTo>
                <a:lnTo>
                  <a:pt x="8513" y="10705"/>
                </a:lnTo>
                <a:cubicBezTo>
                  <a:pt x="8246" y="10705"/>
                  <a:pt x="8026" y="10960"/>
                  <a:pt x="8026" y="11271"/>
                </a:cubicBezTo>
                <a:lnTo>
                  <a:pt x="8026" y="13737"/>
                </a:lnTo>
                <a:cubicBezTo>
                  <a:pt x="8026" y="14049"/>
                  <a:pt x="8246" y="14304"/>
                  <a:pt x="8513" y="14304"/>
                </a:cubicBezTo>
                <a:lnTo>
                  <a:pt x="10530" y="14304"/>
                </a:lnTo>
                <a:lnTo>
                  <a:pt x="10530" y="17244"/>
                </a:lnTo>
                <a:lnTo>
                  <a:pt x="8890" y="17244"/>
                </a:lnTo>
                <a:cubicBezTo>
                  <a:pt x="8783" y="17244"/>
                  <a:pt x="8696" y="17345"/>
                  <a:pt x="8696" y="17470"/>
                </a:cubicBezTo>
                <a:lnTo>
                  <a:pt x="8696" y="19454"/>
                </a:lnTo>
                <a:lnTo>
                  <a:pt x="7790" y="19454"/>
                </a:lnTo>
                <a:cubicBezTo>
                  <a:pt x="7640" y="19454"/>
                  <a:pt x="7516" y="19598"/>
                  <a:pt x="7516" y="19773"/>
                </a:cubicBezTo>
                <a:lnTo>
                  <a:pt x="7516" y="21281"/>
                </a:lnTo>
                <a:cubicBezTo>
                  <a:pt x="7516" y="21456"/>
                  <a:pt x="7640" y="21600"/>
                  <a:pt x="7790" y="21600"/>
                </a:cubicBezTo>
                <a:lnTo>
                  <a:pt x="10095" y="21600"/>
                </a:lnTo>
                <a:cubicBezTo>
                  <a:pt x="10245" y="21600"/>
                  <a:pt x="10367" y="21456"/>
                  <a:pt x="10367" y="21281"/>
                </a:cubicBezTo>
                <a:lnTo>
                  <a:pt x="10367" y="19773"/>
                </a:lnTo>
                <a:cubicBezTo>
                  <a:pt x="10367" y="19599"/>
                  <a:pt x="10245" y="19454"/>
                  <a:pt x="10095" y="19454"/>
                </a:cubicBezTo>
                <a:lnTo>
                  <a:pt x="9237" y="19454"/>
                </a:lnTo>
                <a:lnTo>
                  <a:pt x="9237" y="18111"/>
                </a:lnTo>
                <a:cubicBezTo>
                  <a:pt x="9237" y="17987"/>
                  <a:pt x="9324" y="17885"/>
                  <a:pt x="9431" y="17885"/>
                </a:cubicBezTo>
                <a:lnTo>
                  <a:pt x="12169" y="17885"/>
                </a:lnTo>
                <a:cubicBezTo>
                  <a:pt x="12276" y="17885"/>
                  <a:pt x="12363" y="17987"/>
                  <a:pt x="12363" y="18111"/>
                </a:cubicBezTo>
                <a:lnTo>
                  <a:pt x="12363" y="19454"/>
                </a:lnTo>
                <a:lnTo>
                  <a:pt x="11505" y="19454"/>
                </a:lnTo>
                <a:cubicBezTo>
                  <a:pt x="11355" y="19454"/>
                  <a:pt x="11233" y="19599"/>
                  <a:pt x="11233" y="19773"/>
                </a:cubicBezTo>
                <a:lnTo>
                  <a:pt x="11233" y="21281"/>
                </a:lnTo>
                <a:cubicBezTo>
                  <a:pt x="11233" y="21456"/>
                  <a:pt x="11355" y="21600"/>
                  <a:pt x="11505" y="21600"/>
                </a:cubicBezTo>
                <a:lnTo>
                  <a:pt x="13810" y="21600"/>
                </a:lnTo>
                <a:cubicBezTo>
                  <a:pt x="13960" y="21600"/>
                  <a:pt x="14084" y="21456"/>
                  <a:pt x="14084" y="21281"/>
                </a:cubicBezTo>
                <a:lnTo>
                  <a:pt x="14084" y="19773"/>
                </a:lnTo>
                <a:cubicBezTo>
                  <a:pt x="14084" y="19599"/>
                  <a:pt x="13960" y="19454"/>
                  <a:pt x="13810" y="19454"/>
                </a:cubicBezTo>
                <a:lnTo>
                  <a:pt x="12904" y="19454"/>
                </a:lnTo>
                <a:lnTo>
                  <a:pt x="12904" y="17470"/>
                </a:lnTo>
                <a:cubicBezTo>
                  <a:pt x="12904" y="17345"/>
                  <a:pt x="12817" y="17244"/>
                  <a:pt x="12710" y="17244"/>
                </a:cubicBezTo>
                <a:lnTo>
                  <a:pt x="11070" y="17244"/>
                </a:lnTo>
                <a:lnTo>
                  <a:pt x="11070" y="14304"/>
                </a:lnTo>
                <a:lnTo>
                  <a:pt x="13087" y="14304"/>
                </a:lnTo>
                <a:cubicBezTo>
                  <a:pt x="13354" y="14304"/>
                  <a:pt x="13574" y="14049"/>
                  <a:pt x="13574" y="13737"/>
                </a:cubicBezTo>
                <a:lnTo>
                  <a:pt x="13574" y="11271"/>
                </a:lnTo>
                <a:cubicBezTo>
                  <a:pt x="13574" y="10960"/>
                  <a:pt x="13354" y="10705"/>
                  <a:pt x="13087" y="10705"/>
                </a:cubicBezTo>
                <a:lnTo>
                  <a:pt x="11070" y="10705"/>
                </a:lnTo>
                <a:lnTo>
                  <a:pt x="11070" y="7951"/>
                </a:lnTo>
                <a:lnTo>
                  <a:pt x="17850" y="7951"/>
                </a:lnTo>
                <a:cubicBezTo>
                  <a:pt x="17957" y="7951"/>
                  <a:pt x="18044" y="8055"/>
                  <a:pt x="18044" y="8179"/>
                </a:cubicBezTo>
                <a:lnTo>
                  <a:pt x="18044" y="10705"/>
                </a:lnTo>
                <a:lnTo>
                  <a:pt x="16051" y="10705"/>
                </a:lnTo>
                <a:cubicBezTo>
                  <a:pt x="15784" y="10705"/>
                  <a:pt x="15565" y="10960"/>
                  <a:pt x="15565" y="11271"/>
                </a:cubicBezTo>
                <a:lnTo>
                  <a:pt x="15565" y="13737"/>
                </a:lnTo>
                <a:cubicBezTo>
                  <a:pt x="15565" y="14049"/>
                  <a:pt x="15784" y="14304"/>
                  <a:pt x="16051" y="14304"/>
                </a:cubicBezTo>
                <a:lnTo>
                  <a:pt x="18044" y="14304"/>
                </a:lnTo>
                <a:lnTo>
                  <a:pt x="18044" y="17244"/>
                </a:lnTo>
                <a:lnTo>
                  <a:pt x="16430" y="17244"/>
                </a:lnTo>
                <a:cubicBezTo>
                  <a:pt x="16323" y="17244"/>
                  <a:pt x="16235" y="17345"/>
                  <a:pt x="16235" y="17470"/>
                </a:cubicBezTo>
                <a:lnTo>
                  <a:pt x="16235" y="19454"/>
                </a:lnTo>
                <a:lnTo>
                  <a:pt x="15353" y="19454"/>
                </a:lnTo>
                <a:cubicBezTo>
                  <a:pt x="15203" y="19454"/>
                  <a:pt x="15079" y="19599"/>
                  <a:pt x="15079" y="19773"/>
                </a:cubicBezTo>
                <a:lnTo>
                  <a:pt x="15079" y="21281"/>
                </a:lnTo>
                <a:cubicBezTo>
                  <a:pt x="15079" y="21456"/>
                  <a:pt x="15203" y="21600"/>
                  <a:pt x="15353" y="21600"/>
                </a:cubicBezTo>
                <a:lnTo>
                  <a:pt x="17659" y="21600"/>
                </a:lnTo>
                <a:cubicBezTo>
                  <a:pt x="17809" y="21600"/>
                  <a:pt x="17931" y="21456"/>
                  <a:pt x="17931" y="21281"/>
                </a:cubicBezTo>
                <a:lnTo>
                  <a:pt x="17931" y="19773"/>
                </a:lnTo>
                <a:cubicBezTo>
                  <a:pt x="17931" y="19599"/>
                  <a:pt x="17809" y="19454"/>
                  <a:pt x="17659" y="19454"/>
                </a:cubicBezTo>
                <a:lnTo>
                  <a:pt x="16776" y="19454"/>
                </a:lnTo>
                <a:lnTo>
                  <a:pt x="16776" y="18111"/>
                </a:lnTo>
                <a:cubicBezTo>
                  <a:pt x="16776" y="17987"/>
                  <a:pt x="16864" y="17885"/>
                  <a:pt x="16971" y="17885"/>
                </a:cubicBezTo>
                <a:lnTo>
                  <a:pt x="19709" y="17885"/>
                </a:lnTo>
                <a:cubicBezTo>
                  <a:pt x="19816" y="17885"/>
                  <a:pt x="19903" y="17987"/>
                  <a:pt x="19903" y="18111"/>
                </a:cubicBezTo>
                <a:lnTo>
                  <a:pt x="19903" y="19454"/>
                </a:lnTo>
                <a:lnTo>
                  <a:pt x="19021" y="19454"/>
                </a:lnTo>
                <a:cubicBezTo>
                  <a:pt x="18871" y="19454"/>
                  <a:pt x="18747" y="19599"/>
                  <a:pt x="18747" y="19773"/>
                </a:cubicBezTo>
                <a:lnTo>
                  <a:pt x="18747" y="21281"/>
                </a:lnTo>
                <a:cubicBezTo>
                  <a:pt x="18747" y="21456"/>
                  <a:pt x="18871" y="21600"/>
                  <a:pt x="19021" y="21600"/>
                </a:cubicBezTo>
                <a:lnTo>
                  <a:pt x="21326" y="21600"/>
                </a:lnTo>
                <a:cubicBezTo>
                  <a:pt x="21476" y="21600"/>
                  <a:pt x="21600" y="21456"/>
                  <a:pt x="21600" y="21281"/>
                </a:cubicBezTo>
                <a:lnTo>
                  <a:pt x="21600" y="19773"/>
                </a:lnTo>
                <a:cubicBezTo>
                  <a:pt x="21600" y="19599"/>
                  <a:pt x="21476" y="19454"/>
                  <a:pt x="21326" y="19454"/>
                </a:cubicBezTo>
                <a:lnTo>
                  <a:pt x="20444" y="19454"/>
                </a:lnTo>
                <a:lnTo>
                  <a:pt x="20444" y="17470"/>
                </a:lnTo>
                <a:cubicBezTo>
                  <a:pt x="20444" y="17345"/>
                  <a:pt x="20357" y="17244"/>
                  <a:pt x="20250" y="17244"/>
                </a:cubicBezTo>
                <a:lnTo>
                  <a:pt x="18585" y="17244"/>
                </a:lnTo>
                <a:lnTo>
                  <a:pt x="18585" y="14304"/>
                </a:lnTo>
                <a:lnTo>
                  <a:pt x="20626" y="14304"/>
                </a:lnTo>
                <a:cubicBezTo>
                  <a:pt x="20894" y="14304"/>
                  <a:pt x="21113" y="14049"/>
                  <a:pt x="21113" y="13737"/>
                </a:cubicBezTo>
                <a:lnTo>
                  <a:pt x="21113" y="11271"/>
                </a:lnTo>
                <a:cubicBezTo>
                  <a:pt x="21113" y="10960"/>
                  <a:pt x="20894" y="10705"/>
                  <a:pt x="20626" y="10705"/>
                </a:cubicBezTo>
                <a:lnTo>
                  <a:pt x="18585" y="10705"/>
                </a:lnTo>
                <a:lnTo>
                  <a:pt x="18585" y="7550"/>
                </a:lnTo>
                <a:cubicBezTo>
                  <a:pt x="18585" y="7425"/>
                  <a:pt x="18498" y="7322"/>
                  <a:pt x="18390" y="7322"/>
                </a:cubicBezTo>
                <a:lnTo>
                  <a:pt x="11070" y="7322"/>
                </a:lnTo>
                <a:lnTo>
                  <a:pt x="11070" y="4181"/>
                </a:lnTo>
                <a:lnTo>
                  <a:pt x="13626" y="4181"/>
                </a:lnTo>
                <a:cubicBezTo>
                  <a:pt x="13894" y="4181"/>
                  <a:pt x="14113" y="3926"/>
                  <a:pt x="14113" y="3615"/>
                </a:cubicBezTo>
                <a:lnTo>
                  <a:pt x="14113" y="566"/>
                </a:lnTo>
                <a:cubicBezTo>
                  <a:pt x="14113" y="255"/>
                  <a:pt x="13894" y="0"/>
                  <a:pt x="13626" y="0"/>
                </a:cubicBezTo>
                <a:lnTo>
                  <a:pt x="10800" y="0"/>
                </a:lnTo>
                <a:lnTo>
                  <a:pt x="7974" y="0"/>
                </a:lnTo>
                <a:close/>
              </a:path>
            </a:pathLst>
          </a:custGeom>
          <a:solidFill>
            <a:srgbClr val="FFFFFF"/>
          </a:solidFill>
          <a:ln w="12700">
            <a:miter lim="400000"/>
          </a:ln>
        </p:spPr>
        <p:txBody>
          <a:bodyPr lIns="25400" tIns="25400" rIns="25400" bIns="25400" anchor="ctr"/>
          <a:lstStyle/>
          <a:p>
            <a:pPr defTabSz="412750">
              <a:defRPr sz="320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pic>
        <p:nvPicPr>
          <p:cNvPr id="588" name="图片 587" descr="4监管"/>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056640" y="5452110"/>
            <a:ext cx="227330" cy="211455"/>
          </a:xfrm>
          <a:prstGeom prst="rect">
            <a:avLst/>
          </a:prstGeom>
        </p:spPr>
      </p:pic>
      <p:sp>
        <p:nvSpPr>
          <p:cNvPr id="596" name="Freeform 55"/>
          <p:cNvSpPr/>
          <p:nvPr/>
        </p:nvSpPr>
        <p:spPr>
          <a:xfrm>
            <a:off x="3495675" y="2306955"/>
            <a:ext cx="4956175" cy="1045845"/>
          </a:xfrm>
          <a:custGeom>
            <a:avLst/>
            <a:gdLst>
              <a:gd name="connsiteX0" fmla="*/ 2478142 w 4979143"/>
              <a:gd name="connsiteY0" fmla="*/ 0 h 1045575"/>
              <a:gd name="connsiteX1" fmla="*/ 4979143 w 4979143"/>
              <a:gd name="connsiteY1" fmla="*/ 1020364 h 1045575"/>
              <a:gd name="connsiteX2" fmla="*/ 4946658 w 4979143"/>
              <a:gd name="connsiteY2" fmla="*/ 985161 h 1045575"/>
              <a:gd name="connsiteX3" fmla="*/ 4920201 w 4979143"/>
              <a:gd name="connsiteY3" fmla="*/ 1045575 h 1045575"/>
              <a:gd name="connsiteX4" fmla="*/ 36082 w 4979143"/>
              <a:gd name="connsiteY4" fmla="*/ 1045575 h 1045575"/>
              <a:gd name="connsiteX5" fmla="*/ 9625 w 4979143"/>
              <a:gd name="connsiteY5" fmla="*/ 985161 h 1045575"/>
              <a:gd name="connsiteX6" fmla="*/ 2478142 w 4979143"/>
              <a:gd name="connsiteY6" fmla="*/ 0 h 1045575"/>
              <a:gd name="connsiteX0-1" fmla="*/ 2478142 w 4979143"/>
              <a:gd name="connsiteY0-2" fmla="*/ 0 h 1045575"/>
              <a:gd name="connsiteX1-3" fmla="*/ 4979143 w 4979143"/>
              <a:gd name="connsiteY1-4" fmla="*/ 1020364 h 1045575"/>
              <a:gd name="connsiteX2-5" fmla="*/ 4946658 w 4979143"/>
              <a:gd name="connsiteY2-6" fmla="*/ 985161 h 1045575"/>
              <a:gd name="connsiteX3-7" fmla="*/ 4920201 w 4979143"/>
              <a:gd name="connsiteY3-8" fmla="*/ 1045575 h 1045575"/>
              <a:gd name="connsiteX4-9" fmla="*/ 36082 w 4979143"/>
              <a:gd name="connsiteY4-10" fmla="*/ 1045575 h 1045575"/>
              <a:gd name="connsiteX5-11" fmla="*/ 9625 w 4979143"/>
              <a:gd name="connsiteY5-12" fmla="*/ 985161 h 1045575"/>
              <a:gd name="connsiteX6-13" fmla="*/ 2478142 w 4979143"/>
              <a:gd name="connsiteY6-14" fmla="*/ 0 h 1045575"/>
              <a:gd name="connsiteX0-15" fmla="*/ 2478142 w 4979143"/>
              <a:gd name="connsiteY0-16" fmla="*/ 82 h 1045657"/>
              <a:gd name="connsiteX1-17" fmla="*/ 4979143 w 4979143"/>
              <a:gd name="connsiteY1-18" fmla="*/ 1020446 h 1045657"/>
              <a:gd name="connsiteX2-19" fmla="*/ 4946658 w 4979143"/>
              <a:gd name="connsiteY2-20" fmla="*/ 985243 h 1045657"/>
              <a:gd name="connsiteX3-21" fmla="*/ 4920201 w 4979143"/>
              <a:gd name="connsiteY3-22" fmla="*/ 1045657 h 1045657"/>
              <a:gd name="connsiteX4-23" fmla="*/ 36082 w 4979143"/>
              <a:gd name="connsiteY4-24" fmla="*/ 1045657 h 1045657"/>
              <a:gd name="connsiteX5-25" fmla="*/ 9625 w 4979143"/>
              <a:gd name="connsiteY5-26" fmla="*/ 985243 h 1045657"/>
              <a:gd name="connsiteX6-27" fmla="*/ 2478142 w 4979143"/>
              <a:gd name="connsiteY6-28" fmla="*/ 82 h 1045657"/>
              <a:gd name="connsiteX0-29" fmla="*/ 2478142 w 4956283"/>
              <a:gd name="connsiteY0-30" fmla="*/ 0 h 1045575"/>
              <a:gd name="connsiteX1-31" fmla="*/ 4946658 w 4956283"/>
              <a:gd name="connsiteY1-32" fmla="*/ 985161 h 1045575"/>
              <a:gd name="connsiteX2-33" fmla="*/ 4920201 w 4956283"/>
              <a:gd name="connsiteY2-34" fmla="*/ 1045575 h 1045575"/>
              <a:gd name="connsiteX3-35" fmla="*/ 36082 w 4956283"/>
              <a:gd name="connsiteY3-36" fmla="*/ 1045575 h 1045575"/>
              <a:gd name="connsiteX4-37" fmla="*/ 9625 w 4956283"/>
              <a:gd name="connsiteY4-38" fmla="*/ 985161 h 1045575"/>
              <a:gd name="connsiteX5-39" fmla="*/ 2478142 w 4956283"/>
              <a:gd name="connsiteY5-40" fmla="*/ 0 h 1045575"/>
              <a:gd name="connsiteX0-41" fmla="*/ 2478142 w 4956283"/>
              <a:gd name="connsiteY0-42" fmla="*/ 0 h 1045575"/>
              <a:gd name="connsiteX1-43" fmla="*/ 4946658 w 4956283"/>
              <a:gd name="connsiteY1-44" fmla="*/ 985161 h 1045575"/>
              <a:gd name="connsiteX2-45" fmla="*/ 4920201 w 4956283"/>
              <a:gd name="connsiteY2-46" fmla="*/ 1045575 h 1045575"/>
              <a:gd name="connsiteX3-47" fmla="*/ 36082 w 4956283"/>
              <a:gd name="connsiteY3-48" fmla="*/ 1045575 h 1045575"/>
              <a:gd name="connsiteX4-49" fmla="*/ 9625 w 4956283"/>
              <a:gd name="connsiteY4-50" fmla="*/ 985161 h 1045575"/>
              <a:gd name="connsiteX5-51" fmla="*/ 2478142 w 4956283"/>
              <a:gd name="connsiteY5-52" fmla="*/ 0 h 1045575"/>
              <a:gd name="connsiteX0-53" fmla="*/ 2478142 w 4956283"/>
              <a:gd name="connsiteY0-54" fmla="*/ 9574 h 1055149"/>
              <a:gd name="connsiteX1-55" fmla="*/ 4946658 w 4956283"/>
              <a:gd name="connsiteY1-56" fmla="*/ 994735 h 1055149"/>
              <a:gd name="connsiteX2-57" fmla="*/ 4920201 w 4956283"/>
              <a:gd name="connsiteY2-58" fmla="*/ 1055149 h 1055149"/>
              <a:gd name="connsiteX3-59" fmla="*/ 36082 w 4956283"/>
              <a:gd name="connsiteY3-60" fmla="*/ 1055149 h 1055149"/>
              <a:gd name="connsiteX4-61" fmla="*/ 9625 w 4956283"/>
              <a:gd name="connsiteY4-62" fmla="*/ 994735 h 1055149"/>
              <a:gd name="connsiteX5-63" fmla="*/ 2478142 w 4956283"/>
              <a:gd name="connsiteY5-64" fmla="*/ 9574 h 1055149"/>
              <a:gd name="connsiteX0-65" fmla="*/ 2478142 w 4956283"/>
              <a:gd name="connsiteY0-66" fmla="*/ 330 h 1045905"/>
              <a:gd name="connsiteX1-67" fmla="*/ 4946658 w 4956283"/>
              <a:gd name="connsiteY1-68" fmla="*/ 985491 h 1045905"/>
              <a:gd name="connsiteX2-69" fmla="*/ 4920201 w 4956283"/>
              <a:gd name="connsiteY2-70" fmla="*/ 1045905 h 1045905"/>
              <a:gd name="connsiteX3-71" fmla="*/ 36082 w 4956283"/>
              <a:gd name="connsiteY3-72" fmla="*/ 1045905 h 1045905"/>
              <a:gd name="connsiteX4-73" fmla="*/ 9625 w 4956283"/>
              <a:gd name="connsiteY4-74" fmla="*/ 985491 h 1045905"/>
              <a:gd name="connsiteX5-75" fmla="*/ 2478142 w 4956283"/>
              <a:gd name="connsiteY5-76" fmla="*/ 330 h 1045905"/>
              <a:gd name="connsiteX0-77" fmla="*/ 2478142 w 4956283"/>
              <a:gd name="connsiteY0-78" fmla="*/ 53 h 1045628"/>
              <a:gd name="connsiteX1-79" fmla="*/ 4946658 w 4956283"/>
              <a:gd name="connsiteY1-80" fmla="*/ 985214 h 1045628"/>
              <a:gd name="connsiteX2-81" fmla="*/ 4920201 w 4956283"/>
              <a:gd name="connsiteY2-82" fmla="*/ 1045628 h 1045628"/>
              <a:gd name="connsiteX3-83" fmla="*/ 36082 w 4956283"/>
              <a:gd name="connsiteY3-84" fmla="*/ 1045628 h 1045628"/>
              <a:gd name="connsiteX4-85" fmla="*/ 9625 w 4956283"/>
              <a:gd name="connsiteY4-86" fmla="*/ 985214 h 1045628"/>
              <a:gd name="connsiteX5-87" fmla="*/ 2478142 w 4956283"/>
              <a:gd name="connsiteY5-88" fmla="*/ 53 h 1045628"/>
              <a:gd name="connsiteX0-89" fmla="*/ 2478142 w 4956283"/>
              <a:gd name="connsiteY0-90" fmla="*/ 53 h 1045628"/>
              <a:gd name="connsiteX1-91" fmla="*/ 4946658 w 4956283"/>
              <a:gd name="connsiteY1-92" fmla="*/ 985214 h 1045628"/>
              <a:gd name="connsiteX2-93" fmla="*/ 4920201 w 4956283"/>
              <a:gd name="connsiteY2-94" fmla="*/ 1045628 h 1045628"/>
              <a:gd name="connsiteX3-95" fmla="*/ 36082 w 4956283"/>
              <a:gd name="connsiteY3-96" fmla="*/ 1045628 h 1045628"/>
              <a:gd name="connsiteX4-97" fmla="*/ 9625 w 4956283"/>
              <a:gd name="connsiteY4-98" fmla="*/ 985214 h 1045628"/>
              <a:gd name="connsiteX5-99" fmla="*/ 2478142 w 4956283"/>
              <a:gd name="connsiteY5-100" fmla="*/ 53 h 1045628"/>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4956283" h="1045628">
                <a:moveTo>
                  <a:pt x="2478142" y="53"/>
                </a:moveTo>
                <a:cubicBezTo>
                  <a:pt x="3152814" y="4286"/>
                  <a:pt x="4129014" y="239452"/>
                  <a:pt x="4946658" y="985214"/>
                </a:cubicBezTo>
                <a:cubicBezTo>
                  <a:pt x="4967954" y="1008292"/>
                  <a:pt x="4951604" y="1045628"/>
                  <a:pt x="4920201" y="1045628"/>
                </a:cubicBezTo>
                <a:lnTo>
                  <a:pt x="36082" y="1045628"/>
                </a:lnTo>
                <a:cubicBezTo>
                  <a:pt x="4680" y="1045628"/>
                  <a:pt x="-11670" y="1008292"/>
                  <a:pt x="9625" y="985214"/>
                </a:cubicBezTo>
                <a:cubicBezTo>
                  <a:pt x="790130" y="246194"/>
                  <a:pt x="1803470" y="-4180"/>
                  <a:pt x="2478142" y="53"/>
                </a:cubicBezTo>
                <a:close/>
              </a:path>
            </a:pathLst>
          </a:custGeom>
          <a:solidFill>
            <a:srgbClr val="FFFFFF"/>
          </a:solidFill>
          <a:ln w="12700">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97"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6086475" y="2690178"/>
            <a:ext cx="1049020" cy="268605"/>
          </a:xfrm>
          <a:prstGeom prst="roundRect">
            <a:avLst>
              <a:gd name="adj" fmla="val 41667"/>
            </a:avLst>
          </a:prstGeom>
          <a:solidFill>
            <a:srgbClr val="E6E6E6">
              <a:alpha val="40000"/>
            </a:srgbClr>
          </a:solidFill>
          <a:ln w="12700">
            <a:solidFill>
              <a:srgbClr val="3368FF"/>
            </a:solidFill>
            <a:miter lim="400000"/>
          </a:ln>
        </p:spPr>
        <p:txBody>
          <a:bodyPr lIns="25400" tIns="25400" rIns="25400" bIns="25400" anchor="ctr">
            <a:noAutofit/>
          </a:bodyPr>
          <a:lstStyle/>
          <a:p>
            <a:pPr lvl="0" algn="ctr" defTabSz="412750">
              <a:buClrTx/>
              <a:buSzTx/>
              <a:buFontTx/>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598" name="企业绩效服务"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5312410" y="2385695"/>
            <a:ext cx="1282065" cy="304800"/>
          </a:xfrm>
          <a:prstGeom prst="rect">
            <a:avLst/>
          </a:prstGeom>
          <a:ln w="12700">
            <a:miter lim="400000"/>
          </a:ln>
        </p:spPr>
        <p:txBody>
          <a:bodyPr wrap="none" lIns="25400" tIns="25400" rIns="25400" bIns="25400" anchor="ctr">
            <a:spAutoFit/>
          </a:bodyPr>
          <a:lstStyle>
            <a:lvl1pPr>
              <a:defRPr sz="2700">
                <a:solidFill>
                  <a:srgbClr val="0042FF"/>
                </a:solidFill>
                <a:latin typeface="微软雅黑"/>
                <a:ea typeface="微软雅黑"/>
                <a:cs typeface="微软雅黑"/>
                <a:sym typeface="微软雅黑"/>
              </a:defRPr>
            </a:lvl1pPr>
          </a:lstStyle>
          <a:p>
            <a:pPr>
              <a:defRPr>
                <a:latin typeface="微软雅黑"/>
                <a:ea typeface="微软雅黑"/>
                <a:cs typeface="微软雅黑"/>
              </a:defRPr>
            </a:pPr>
            <a:r>
              <a:rPr sz="1350" b="1">
                <a:solidFill>
                  <a:srgbClr val="0042FF"/>
                </a:solidFill>
                <a:latin typeface="微软雅黑"/>
                <a:ea typeface="微软雅黑"/>
                <a:cs typeface="微软雅黑"/>
                <a:sym typeface="微软雅黑"/>
              </a:rPr>
              <a:t>企业绩效服务</a:t>
            </a:r>
            <a:endParaRPr sz="1350" b="1">
              <a:solidFill>
                <a:srgbClr val="0042FF"/>
              </a:solidFill>
              <a:latin typeface="微软雅黑"/>
              <a:ea typeface="微软雅黑"/>
              <a:cs typeface="微软雅黑"/>
              <a:sym typeface="微软雅黑"/>
            </a:endParaRPr>
          </a:p>
        </p:txBody>
      </p:sp>
      <p:sp>
        <p:nvSpPr>
          <p:cNvPr id="599" name="圆角矩形"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p:nvPr/>
        </p:nvSpPr>
        <p:spPr>
          <a:xfrm>
            <a:off x="4723765" y="2680970"/>
            <a:ext cx="1049020" cy="268605"/>
          </a:xfrm>
          <a:prstGeom prst="roundRect">
            <a:avLst>
              <a:gd name="adj" fmla="val 41667"/>
            </a:avLst>
          </a:prstGeom>
          <a:solidFill>
            <a:srgbClr val="E6E6E6">
              <a:alpha val="40000"/>
            </a:srgbClr>
          </a:solidFill>
          <a:ln w="12700">
            <a:solidFill>
              <a:srgbClr val="3368FF"/>
            </a:solidFill>
            <a:miter lim="400000"/>
          </a:ln>
        </p:spPr>
        <p:txBody>
          <a:bodyPr lIns="25400" tIns="25400" rIns="25400" bIns="25400" anchor="ctr"/>
          <a:lstStyle/>
          <a:p>
            <a:pPr algn="ctr" defTabSz="412750">
              <a:defRPr sz="320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600" name="计划预算"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4901565" y="2690178"/>
            <a:ext cx="693420" cy="250190"/>
          </a:xfrm>
          <a:prstGeom prst="rect">
            <a:avLst/>
          </a:prstGeom>
          <a:ln w="12700">
            <a:miter lim="400000"/>
          </a:ln>
        </p:spPr>
        <p:txBody>
          <a:bodyPr wrap="none" lIns="25400" tIns="25400" rIns="25400" bIns="25400" anchor="ctr">
            <a:spAutoFit/>
          </a:bodyPr>
          <a:lstStyle>
            <a:lvl1pPr>
              <a:defRPr sz="21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sz="1050" b="1">
                <a:solidFill>
                  <a:srgbClr val="0042FF"/>
                </a:solidFill>
                <a:latin typeface="微软雅黑"/>
                <a:ea typeface="微软雅黑"/>
                <a:cs typeface="微软雅黑"/>
                <a:sym typeface="微软雅黑"/>
              </a:rPr>
              <a:t>计划预算</a:t>
            </a:r>
            <a:endParaRPr sz="1050" b="1">
              <a:solidFill>
                <a:srgbClr val="0042FF"/>
              </a:solidFill>
              <a:latin typeface="微软雅黑"/>
              <a:ea typeface="微软雅黑"/>
              <a:cs typeface="微软雅黑"/>
              <a:sym typeface="微软雅黑"/>
            </a:endParaRPr>
          </a:p>
        </p:txBody>
      </p:sp>
      <p:sp>
        <p:nvSpPr>
          <p:cNvPr id="601" name="报告及合并"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6184900" y="2699385"/>
            <a:ext cx="852170" cy="250190"/>
          </a:xfrm>
          <a:prstGeom prst="rect">
            <a:avLst/>
          </a:prstGeom>
          <a:ln w="12700">
            <a:miter lim="400000"/>
          </a:ln>
        </p:spPr>
        <p:txBody>
          <a:bodyPr wrap="none" lIns="25400" tIns="25400" rIns="25400" bIns="25400" anchor="ctr">
            <a:spAutoFit/>
          </a:bodyPr>
          <a:lstStyle>
            <a:lvl1pPr>
              <a:defRPr sz="21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sz="1050" b="1">
                <a:solidFill>
                  <a:srgbClr val="0042FF"/>
                </a:solidFill>
                <a:latin typeface="微软雅黑"/>
                <a:ea typeface="微软雅黑"/>
                <a:cs typeface="微软雅黑"/>
                <a:sym typeface="微软雅黑"/>
              </a:rPr>
              <a:t>报告及合并</a:t>
            </a:r>
            <a:endParaRPr sz="1050" b="1">
              <a:solidFill>
                <a:srgbClr val="0042FF"/>
              </a:solidFill>
              <a:latin typeface="微软雅黑"/>
              <a:ea typeface="微软雅黑"/>
              <a:cs typeface="微软雅黑"/>
              <a:sym typeface="微软雅黑"/>
            </a:endParaRPr>
          </a:p>
        </p:txBody>
      </p:sp>
      <p:sp>
        <p:nvSpPr>
          <p:cNvPr id="602" name="计划预算…"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4265295" y="2971165"/>
            <a:ext cx="874395" cy="386080"/>
          </a:xfrm>
          <a:prstGeom prst="rect">
            <a:avLst/>
          </a:prstGeom>
          <a:ln w="12700">
            <a:miter lim="400000"/>
          </a:ln>
        </p:spPr>
        <p:txBody>
          <a:bodyPr wrap="square" lIns="0" tIns="0" rIns="0" bIns="0" anchor="ctr">
            <a:noAutofit/>
          </a:bodyPr>
          <a:lstStyle/>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计划预算</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预算执行控制</a:t>
            </a:r>
            <a:endParaRPr sz="1000">
              <a:solidFill>
                <a:srgbClr val="383838"/>
              </a:solidFill>
              <a:latin typeface="微软雅黑"/>
              <a:ea typeface="微软雅黑"/>
              <a:cs typeface="微软雅黑"/>
              <a:sym typeface="微软雅黑"/>
            </a:endParaRPr>
          </a:p>
        </p:txBody>
      </p:sp>
      <p:sp>
        <p:nvSpPr>
          <p:cNvPr id="603" name="多维报告与合并…"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5410835" y="3002280"/>
            <a:ext cx="1010285" cy="386080"/>
          </a:xfrm>
          <a:prstGeom prst="rect">
            <a:avLst/>
          </a:prstGeom>
          <a:ln w="12700">
            <a:miter lim="400000"/>
          </a:ln>
        </p:spPr>
        <p:txBody>
          <a:bodyPr wrap="square" lIns="0" tIns="0" rIns="0" bIns="0" anchor="ctr">
            <a:noAutofit/>
          </a:bodyPr>
          <a:lstStyle/>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多维报告与合并</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EPM数据集成</a:t>
            </a:r>
            <a:endParaRPr sz="1000">
              <a:solidFill>
                <a:srgbClr val="383838"/>
              </a:solidFill>
              <a:latin typeface="微软雅黑"/>
              <a:ea typeface="微软雅黑"/>
              <a:cs typeface="微软雅黑"/>
              <a:sym typeface="微软雅黑"/>
            </a:endParaRPr>
          </a:p>
        </p:txBody>
      </p:sp>
      <p:sp>
        <p:nvSpPr>
          <p:cNvPr id="604" name="企业报告…" descr="e7d195523061f1c095cec9a2ce4aaba5ae6dbab02ffed52dD56A2562765E9123B0E230B2A550F729BA37EAA647666F3E180B0741AFED0988FDE5D2D695A9D370D9F0B555F564B53FA22D9A65ED86F38999DD4860987E56A3C9CA447454F7ED9A97188E372AC38DE1820C9CBFE822C42E86D671751EDAE1101A567FBD84A77E35C1C24ADB3A1F17C8EB0F14635EB835BA"/>
          <p:cNvSpPr txBox="1"/>
          <p:nvPr/>
        </p:nvSpPr>
        <p:spPr>
          <a:xfrm>
            <a:off x="6692265" y="2988945"/>
            <a:ext cx="874395" cy="386080"/>
          </a:xfrm>
          <a:prstGeom prst="rect">
            <a:avLst/>
          </a:prstGeom>
          <a:ln w="12700">
            <a:miter lim="400000"/>
          </a:ln>
        </p:spPr>
        <p:txBody>
          <a:bodyPr wrap="square" lIns="0" tIns="0" rIns="0" bIns="0" anchor="ctr">
            <a:noAutofit/>
          </a:bodyPr>
          <a:lstStyle/>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企业报告</a:t>
            </a:r>
            <a:endParaRPr sz="1000">
              <a:solidFill>
                <a:srgbClr val="383838"/>
              </a:solidFill>
              <a:latin typeface="微软雅黑"/>
              <a:ea typeface="微软雅黑"/>
              <a:cs typeface="微软雅黑"/>
              <a:sym typeface="微软雅黑"/>
            </a:endParaRPr>
          </a:p>
          <a:p>
            <a:pPr algn="ctr">
              <a:defRPr sz="1800">
                <a:latin typeface="微软雅黑"/>
                <a:ea typeface="微软雅黑"/>
                <a:cs typeface="微软雅黑"/>
                <a:sym typeface="微软雅黑"/>
              </a:defRPr>
              <a:lnSpc>
                <a:spcPts val="1120"/>
              </a:lnSpc>
              <a:spcBef>
                <a:spcPts val="0"/>
              </a:spcBef>
              <a:spcAft>
                <a:spcPts val="0"/>
              </a:spcAft>
            </a:pPr>
            <a:r>
              <a:rPr sz="1000">
                <a:solidFill>
                  <a:srgbClr val="383838"/>
                </a:solidFill>
                <a:latin typeface="微软雅黑"/>
                <a:ea typeface="微软雅黑"/>
                <a:cs typeface="微软雅黑"/>
                <a:sym typeface="微软雅黑"/>
              </a:rPr>
              <a:t>企业绩效平台</a:t>
            </a:r>
            <a:endParaRPr sz="1000">
              <a:solidFill>
                <a:srgbClr val="383838"/>
              </a:solidFill>
              <a:latin typeface="微软雅黑"/>
              <a:ea typeface="微软雅黑"/>
              <a:cs typeface="微软雅黑"/>
              <a:sym typeface="微软雅黑"/>
            </a:endParaRPr>
          </a:p>
        </p:txBody>
      </p: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19"/>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用户品牌心智链路</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95" name="任意多边形: 形状 151"/>
          <p:cNvSpPr/>
          <p:nvPr/>
        </p:nvSpPr>
        <p:spPr>
          <a:xfrm>
            <a:off x="1298721" y="1144907"/>
            <a:ext cx="9613321" cy="6565195"/>
          </a:xfrm>
          <a:custGeom>
            <a:avLst/>
            <a:gdLst>
              <a:gd name="connsiteX0" fmla="*/ 4805103 w 9613321"/>
              <a:gd name="connsiteY0" fmla="*/ 0 h 6565195"/>
              <a:gd name="connsiteX1" fmla="*/ 9613321 w 9613321"/>
              <a:gd name="connsiteY1" fmla="*/ 1865928 h 6565195"/>
              <a:gd name="connsiteX2" fmla="*/ 7472864 w 9613321"/>
              <a:gd name="connsiteY2" fmla="*/ 3364719 h 6565195"/>
              <a:gd name="connsiteX3" fmla="*/ 5718613 w 9613321"/>
              <a:gd name="connsiteY3" fmla="*/ 5266805 h 6565195"/>
              <a:gd name="connsiteX4" fmla="*/ 5704262 w 9613321"/>
              <a:gd name="connsiteY4" fmla="*/ 5288739 h 6565195"/>
              <a:gd name="connsiteX5" fmla="*/ 5704262 w 9613321"/>
              <a:gd name="connsiteY5" fmla="*/ 6565195 h 6565195"/>
              <a:gd name="connsiteX6" fmla="*/ 3914566 w 9613321"/>
              <a:gd name="connsiteY6" fmla="*/ 6565195 h 6565195"/>
              <a:gd name="connsiteX7" fmla="*/ 3914566 w 9613321"/>
              <a:gd name="connsiteY7" fmla="*/ 5288739 h 6565195"/>
              <a:gd name="connsiteX8" fmla="*/ 3900228 w 9613321"/>
              <a:gd name="connsiteY8" fmla="*/ 5266805 h 6565195"/>
              <a:gd name="connsiteX9" fmla="*/ 2145995 w 9613321"/>
              <a:gd name="connsiteY9" fmla="*/ 3364719 h 6565195"/>
              <a:gd name="connsiteX10" fmla="*/ 0 w 9613321"/>
              <a:gd name="connsiteY10" fmla="*/ 1863065 h 6565195"/>
              <a:gd name="connsiteX11" fmla="*/ 4805103 w 9613321"/>
              <a:gd name="connsiteY11" fmla="*/ 0 h 656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613321" h="6565195">
                <a:moveTo>
                  <a:pt x="4805103" y="0"/>
                </a:moveTo>
                <a:cubicBezTo>
                  <a:pt x="6657968" y="0"/>
                  <a:pt x="8345734" y="706990"/>
                  <a:pt x="9613321" y="1865928"/>
                </a:cubicBezTo>
                <a:cubicBezTo>
                  <a:pt x="8925299" y="2225491"/>
                  <a:pt x="8161204" y="2769730"/>
                  <a:pt x="7472864" y="3364719"/>
                </a:cubicBezTo>
                <a:cubicBezTo>
                  <a:pt x="6750615" y="3988994"/>
                  <a:pt x="6106090" y="4673949"/>
                  <a:pt x="5718613" y="5266805"/>
                </a:cubicBezTo>
                <a:lnTo>
                  <a:pt x="5704262" y="5288739"/>
                </a:lnTo>
                <a:lnTo>
                  <a:pt x="5704262" y="6565195"/>
                </a:lnTo>
                <a:lnTo>
                  <a:pt x="3914566" y="6565195"/>
                </a:lnTo>
                <a:lnTo>
                  <a:pt x="3914566" y="5288739"/>
                </a:lnTo>
                <a:lnTo>
                  <a:pt x="3900228" y="5266805"/>
                </a:lnTo>
                <a:cubicBezTo>
                  <a:pt x="3512719" y="4673949"/>
                  <a:pt x="2868244" y="3988994"/>
                  <a:pt x="2145995" y="3364719"/>
                </a:cubicBezTo>
                <a:cubicBezTo>
                  <a:pt x="1455794" y="2768149"/>
                  <a:pt x="689489" y="2222595"/>
                  <a:pt x="0" y="1863065"/>
                </a:cubicBezTo>
                <a:cubicBezTo>
                  <a:pt x="1267237" y="705828"/>
                  <a:pt x="2953742" y="0"/>
                  <a:pt x="4805103" y="0"/>
                </a:cubicBezTo>
                <a:close/>
              </a:path>
            </a:pathLst>
          </a:custGeom>
          <a:gradFill>
            <a:gsLst>
              <a:gs pos="100000">
                <a:srgbClr val="E6E6E6">
                  <a:alpha val="0"/>
                </a:srgbClr>
              </a:gs>
              <a:gs pos="21000">
                <a:srgbClr val="3368FF">
                  <a:alpha val="20000"/>
                </a:srgbClr>
              </a:gs>
            </a:gsLst>
            <a:lin ang="5400000" scaled="0"/>
          </a:gradFill>
          <a:ln w="6350"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196" name="任意多边形: 形状 149"/>
          <p:cNvSpPr/>
          <p:nvPr/>
        </p:nvSpPr>
        <p:spPr>
          <a:xfrm>
            <a:off x="1276738" y="1144905"/>
            <a:ext cx="9635294" cy="6211920"/>
          </a:xfrm>
          <a:custGeom>
            <a:avLst/>
            <a:gdLst>
              <a:gd name="connsiteX0" fmla="*/ 5718423 w 9635294"/>
              <a:gd name="connsiteY0" fmla="*/ 6194553 h 6211920"/>
              <a:gd name="connsiteX1" fmla="*/ 5721598 w 9635294"/>
              <a:gd name="connsiteY1" fmla="*/ 6194553 h 6211920"/>
              <a:gd name="connsiteX2" fmla="*/ 5721598 w 9635294"/>
              <a:gd name="connsiteY2" fmla="*/ 6211920 h 6211920"/>
              <a:gd name="connsiteX3" fmla="*/ 5718423 w 9635294"/>
              <a:gd name="connsiteY3" fmla="*/ 6211920 h 6211920"/>
              <a:gd name="connsiteX4" fmla="*/ 5708898 w 9635294"/>
              <a:gd name="connsiteY4" fmla="*/ 6194553 h 6211920"/>
              <a:gd name="connsiteX5" fmla="*/ 5712073 w 9635294"/>
              <a:gd name="connsiteY5" fmla="*/ 6194553 h 6211920"/>
              <a:gd name="connsiteX6" fmla="*/ 5712073 w 9635294"/>
              <a:gd name="connsiteY6" fmla="*/ 6211920 h 6211920"/>
              <a:gd name="connsiteX7" fmla="*/ 5708898 w 9635294"/>
              <a:gd name="connsiteY7" fmla="*/ 6211920 h 6211920"/>
              <a:gd name="connsiteX8" fmla="*/ 3928727 w 9635294"/>
              <a:gd name="connsiteY8" fmla="*/ 6194553 h 6211920"/>
              <a:gd name="connsiteX9" fmla="*/ 3931901 w 9635294"/>
              <a:gd name="connsiteY9" fmla="*/ 6194553 h 6211920"/>
              <a:gd name="connsiteX10" fmla="*/ 3931901 w 9635294"/>
              <a:gd name="connsiteY10" fmla="*/ 6211920 h 6211920"/>
              <a:gd name="connsiteX11" fmla="*/ 3928727 w 9635294"/>
              <a:gd name="connsiteY11" fmla="*/ 6211920 h 6211920"/>
              <a:gd name="connsiteX12" fmla="*/ 3919202 w 9635294"/>
              <a:gd name="connsiteY12" fmla="*/ 6194553 h 6211920"/>
              <a:gd name="connsiteX13" fmla="*/ 3922376 w 9635294"/>
              <a:gd name="connsiteY13" fmla="*/ 6194553 h 6211920"/>
              <a:gd name="connsiteX14" fmla="*/ 3922376 w 9635294"/>
              <a:gd name="connsiteY14" fmla="*/ 6211920 h 6211920"/>
              <a:gd name="connsiteX15" fmla="*/ 3919202 w 9635294"/>
              <a:gd name="connsiteY15" fmla="*/ 6211920 h 6211920"/>
              <a:gd name="connsiteX16" fmla="*/ 5718423 w 9635294"/>
              <a:gd name="connsiteY16" fmla="*/ 6143880 h 6211920"/>
              <a:gd name="connsiteX17" fmla="*/ 5721598 w 9635294"/>
              <a:gd name="connsiteY17" fmla="*/ 6143880 h 6211920"/>
              <a:gd name="connsiteX18" fmla="*/ 5721598 w 9635294"/>
              <a:gd name="connsiteY18" fmla="*/ 6169217 h 6211920"/>
              <a:gd name="connsiteX19" fmla="*/ 5718423 w 9635294"/>
              <a:gd name="connsiteY19" fmla="*/ 6169217 h 6211920"/>
              <a:gd name="connsiteX20" fmla="*/ 5708898 w 9635294"/>
              <a:gd name="connsiteY20" fmla="*/ 6143880 h 6211920"/>
              <a:gd name="connsiteX21" fmla="*/ 5712073 w 9635294"/>
              <a:gd name="connsiteY21" fmla="*/ 6143880 h 6211920"/>
              <a:gd name="connsiteX22" fmla="*/ 5712073 w 9635294"/>
              <a:gd name="connsiteY22" fmla="*/ 6169217 h 6211920"/>
              <a:gd name="connsiteX23" fmla="*/ 5708898 w 9635294"/>
              <a:gd name="connsiteY23" fmla="*/ 6169217 h 6211920"/>
              <a:gd name="connsiteX24" fmla="*/ 3928727 w 9635294"/>
              <a:gd name="connsiteY24" fmla="*/ 6143880 h 6211920"/>
              <a:gd name="connsiteX25" fmla="*/ 3931901 w 9635294"/>
              <a:gd name="connsiteY25" fmla="*/ 6143880 h 6211920"/>
              <a:gd name="connsiteX26" fmla="*/ 3931901 w 9635294"/>
              <a:gd name="connsiteY26" fmla="*/ 6169217 h 6211920"/>
              <a:gd name="connsiteX27" fmla="*/ 3928727 w 9635294"/>
              <a:gd name="connsiteY27" fmla="*/ 6169217 h 6211920"/>
              <a:gd name="connsiteX28" fmla="*/ 3919202 w 9635294"/>
              <a:gd name="connsiteY28" fmla="*/ 6143880 h 6211920"/>
              <a:gd name="connsiteX29" fmla="*/ 3922376 w 9635294"/>
              <a:gd name="connsiteY29" fmla="*/ 6143880 h 6211920"/>
              <a:gd name="connsiteX30" fmla="*/ 3922376 w 9635294"/>
              <a:gd name="connsiteY30" fmla="*/ 6169217 h 6211920"/>
              <a:gd name="connsiteX31" fmla="*/ 3919202 w 9635294"/>
              <a:gd name="connsiteY31" fmla="*/ 6169217 h 6211920"/>
              <a:gd name="connsiteX32" fmla="*/ 5718423 w 9635294"/>
              <a:gd name="connsiteY32" fmla="*/ 6093208 h 6211920"/>
              <a:gd name="connsiteX33" fmla="*/ 5721598 w 9635294"/>
              <a:gd name="connsiteY33" fmla="*/ 6093208 h 6211920"/>
              <a:gd name="connsiteX34" fmla="*/ 5721598 w 9635294"/>
              <a:gd name="connsiteY34" fmla="*/ 6118544 h 6211920"/>
              <a:gd name="connsiteX35" fmla="*/ 5718423 w 9635294"/>
              <a:gd name="connsiteY35" fmla="*/ 6118544 h 6211920"/>
              <a:gd name="connsiteX36" fmla="*/ 5708898 w 9635294"/>
              <a:gd name="connsiteY36" fmla="*/ 6093208 h 6211920"/>
              <a:gd name="connsiteX37" fmla="*/ 5712073 w 9635294"/>
              <a:gd name="connsiteY37" fmla="*/ 6093208 h 6211920"/>
              <a:gd name="connsiteX38" fmla="*/ 5712073 w 9635294"/>
              <a:gd name="connsiteY38" fmla="*/ 6118544 h 6211920"/>
              <a:gd name="connsiteX39" fmla="*/ 5708898 w 9635294"/>
              <a:gd name="connsiteY39" fmla="*/ 6118544 h 6211920"/>
              <a:gd name="connsiteX40" fmla="*/ 3928727 w 9635294"/>
              <a:gd name="connsiteY40" fmla="*/ 6093208 h 6211920"/>
              <a:gd name="connsiteX41" fmla="*/ 3931901 w 9635294"/>
              <a:gd name="connsiteY41" fmla="*/ 6093208 h 6211920"/>
              <a:gd name="connsiteX42" fmla="*/ 3931901 w 9635294"/>
              <a:gd name="connsiteY42" fmla="*/ 6118544 h 6211920"/>
              <a:gd name="connsiteX43" fmla="*/ 3928727 w 9635294"/>
              <a:gd name="connsiteY43" fmla="*/ 6118544 h 6211920"/>
              <a:gd name="connsiteX44" fmla="*/ 3919202 w 9635294"/>
              <a:gd name="connsiteY44" fmla="*/ 6093208 h 6211920"/>
              <a:gd name="connsiteX45" fmla="*/ 3922376 w 9635294"/>
              <a:gd name="connsiteY45" fmla="*/ 6093208 h 6211920"/>
              <a:gd name="connsiteX46" fmla="*/ 3922376 w 9635294"/>
              <a:gd name="connsiteY46" fmla="*/ 6118544 h 6211920"/>
              <a:gd name="connsiteX47" fmla="*/ 3919202 w 9635294"/>
              <a:gd name="connsiteY47" fmla="*/ 6118544 h 6211920"/>
              <a:gd name="connsiteX48" fmla="*/ 5718423 w 9635294"/>
              <a:gd name="connsiteY48" fmla="*/ 6042533 h 6211920"/>
              <a:gd name="connsiteX49" fmla="*/ 5721598 w 9635294"/>
              <a:gd name="connsiteY49" fmla="*/ 6042533 h 6211920"/>
              <a:gd name="connsiteX50" fmla="*/ 5721598 w 9635294"/>
              <a:gd name="connsiteY50" fmla="*/ 6067869 h 6211920"/>
              <a:gd name="connsiteX51" fmla="*/ 5718423 w 9635294"/>
              <a:gd name="connsiteY51" fmla="*/ 6067869 h 6211920"/>
              <a:gd name="connsiteX52" fmla="*/ 5708898 w 9635294"/>
              <a:gd name="connsiteY52" fmla="*/ 6042533 h 6211920"/>
              <a:gd name="connsiteX53" fmla="*/ 5712073 w 9635294"/>
              <a:gd name="connsiteY53" fmla="*/ 6042533 h 6211920"/>
              <a:gd name="connsiteX54" fmla="*/ 5712073 w 9635294"/>
              <a:gd name="connsiteY54" fmla="*/ 6067869 h 6211920"/>
              <a:gd name="connsiteX55" fmla="*/ 5708898 w 9635294"/>
              <a:gd name="connsiteY55" fmla="*/ 6067869 h 6211920"/>
              <a:gd name="connsiteX56" fmla="*/ 3928727 w 9635294"/>
              <a:gd name="connsiteY56" fmla="*/ 6042533 h 6211920"/>
              <a:gd name="connsiteX57" fmla="*/ 3931901 w 9635294"/>
              <a:gd name="connsiteY57" fmla="*/ 6042533 h 6211920"/>
              <a:gd name="connsiteX58" fmla="*/ 3931901 w 9635294"/>
              <a:gd name="connsiteY58" fmla="*/ 6067869 h 6211920"/>
              <a:gd name="connsiteX59" fmla="*/ 3928727 w 9635294"/>
              <a:gd name="connsiteY59" fmla="*/ 6067869 h 6211920"/>
              <a:gd name="connsiteX60" fmla="*/ 3919202 w 9635294"/>
              <a:gd name="connsiteY60" fmla="*/ 6042533 h 6211920"/>
              <a:gd name="connsiteX61" fmla="*/ 3922376 w 9635294"/>
              <a:gd name="connsiteY61" fmla="*/ 6042533 h 6211920"/>
              <a:gd name="connsiteX62" fmla="*/ 3922376 w 9635294"/>
              <a:gd name="connsiteY62" fmla="*/ 6067869 h 6211920"/>
              <a:gd name="connsiteX63" fmla="*/ 3919202 w 9635294"/>
              <a:gd name="connsiteY63" fmla="*/ 6067869 h 6211920"/>
              <a:gd name="connsiteX64" fmla="*/ 5718423 w 9635294"/>
              <a:gd name="connsiteY64" fmla="*/ 5991860 h 6211920"/>
              <a:gd name="connsiteX65" fmla="*/ 5721598 w 9635294"/>
              <a:gd name="connsiteY65" fmla="*/ 5991860 h 6211920"/>
              <a:gd name="connsiteX66" fmla="*/ 5721598 w 9635294"/>
              <a:gd name="connsiteY66" fmla="*/ 6017197 h 6211920"/>
              <a:gd name="connsiteX67" fmla="*/ 5718423 w 9635294"/>
              <a:gd name="connsiteY67" fmla="*/ 6017197 h 6211920"/>
              <a:gd name="connsiteX68" fmla="*/ 5708898 w 9635294"/>
              <a:gd name="connsiteY68" fmla="*/ 5991860 h 6211920"/>
              <a:gd name="connsiteX69" fmla="*/ 5712073 w 9635294"/>
              <a:gd name="connsiteY69" fmla="*/ 5991860 h 6211920"/>
              <a:gd name="connsiteX70" fmla="*/ 5712073 w 9635294"/>
              <a:gd name="connsiteY70" fmla="*/ 6017197 h 6211920"/>
              <a:gd name="connsiteX71" fmla="*/ 5708898 w 9635294"/>
              <a:gd name="connsiteY71" fmla="*/ 6017197 h 6211920"/>
              <a:gd name="connsiteX72" fmla="*/ 3928727 w 9635294"/>
              <a:gd name="connsiteY72" fmla="*/ 5991860 h 6211920"/>
              <a:gd name="connsiteX73" fmla="*/ 3931901 w 9635294"/>
              <a:gd name="connsiteY73" fmla="*/ 5991860 h 6211920"/>
              <a:gd name="connsiteX74" fmla="*/ 3931901 w 9635294"/>
              <a:gd name="connsiteY74" fmla="*/ 6017197 h 6211920"/>
              <a:gd name="connsiteX75" fmla="*/ 3928727 w 9635294"/>
              <a:gd name="connsiteY75" fmla="*/ 6017197 h 6211920"/>
              <a:gd name="connsiteX76" fmla="*/ 3919202 w 9635294"/>
              <a:gd name="connsiteY76" fmla="*/ 5991860 h 6211920"/>
              <a:gd name="connsiteX77" fmla="*/ 3922376 w 9635294"/>
              <a:gd name="connsiteY77" fmla="*/ 5991860 h 6211920"/>
              <a:gd name="connsiteX78" fmla="*/ 3922376 w 9635294"/>
              <a:gd name="connsiteY78" fmla="*/ 6017197 h 6211920"/>
              <a:gd name="connsiteX79" fmla="*/ 3919202 w 9635294"/>
              <a:gd name="connsiteY79" fmla="*/ 6017197 h 6211920"/>
              <a:gd name="connsiteX80" fmla="*/ 5718423 w 9635294"/>
              <a:gd name="connsiteY80" fmla="*/ 5941187 h 6211920"/>
              <a:gd name="connsiteX81" fmla="*/ 5721598 w 9635294"/>
              <a:gd name="connsiteY81" fmla="*/ 5941187 h 6211920"/>
              <a:gd name="connsiteX82" fmla="*/ 5721598 w 9635294"/>
              <a:gd name="connsiteY82" fmla="*/ 5966524 h 6211920"/>
              <a:gd name="connsiteX83" fmla="*/ 5718423 w 9635294"/>
              <a:gd name="connsiteY83" fmla="*/ 5966524 h 6211920"/>
              <a:gd name="connsiteX84" fmla="*/ 5708898 w 9635294"/>
              <a:gd name="connsiteY84" fmla="*/ 5941187 h 6211920"/>
              <a:gd name="connsiteX85" fmla="*/ 5712073 w 9635294"/>
              <a:gd name="connsiteY85" fmla="*/ 5941187 h 6211920"/>
              <a:gd name="connsiteX86" fmla="*/ 5712073 w 9635294"/>
              <a:gd name="connsiteY86" fmla="*/ 5966524 h 6211920"/>
              <a:gd name="connsiteX87" fmla="*/ 5708898 w 9635294"/>
              <a:gd name="connsiteY87" fmla="*/ 5966524 h 6211920"/>
              <a:gd name="connsiteX88" fmla="*/ 3928727 w 9635294"/>
              <a:gd name="connsiteY88" fmla="*/ 5941187 h 6211920"/>
              <a:gd name="connsiteX89" fmla="*/ 3931901 w 9635294"/>
              <a:gd name="connsiteY89" fmla="*/ 5941187 h 6211920"/>
              <a:gd name="connsiteX90" fmla="*/ 3931901 w 9635294"/>
              <a:gd name="connsiteY90" fmla="*/ 5966524 h 6211920"/>
              <a:gd name="connsiteX91" fmla="*/ 3928727 w 9635294"/>
              <a:gd name="connsiteY91" fmla="*/ 5966524 h 6211920"/>
              <a:gd name="connsiteX92" fmla="*/ 3919202 w 9635294"/>
              <a:gd name="connsiteY92" fmla="*/ 5941187 h 6211920"/>
              <a:gd name="connsiteX93" fmla="*/ 3922376 w 9635294"/>
              <a:gd name="connsiteY93" fmla="*/ 5941187 h 6211920"/>
              <a:gd name="connsiteX94" fmla="*/ 3922376 w 9635294"/>
              <a:gd name="connsiteY94" fmla="*/ 5966524 h 6211920"/>
              <a:gd name="connsiteX95" fmla="*/ 3919202 w 9635294"/>
              <a:gd name="connsiteY95" fmla="*/ 5966524 h 6211920"/>
              <a:gd name="connsiteX96" fmla="*/ 5718423 w 9635294"/>
              <a:gd name="connsiteY96" fmla="*/ 5890515 h 6211920"/>
              <a:gd name="connsiteX97" fmla="*/ 5721598 w 9635294"/>
              <a:gd name="connsiteY97" fmla="*/ 5890515 h 6211920"/>
              <a:gd name="connsiteX98" fmla="*/ 5721598 w 9635294"/>
              <a:gd name="connsiteY98" fmla="*/ 5915851 h 6211920"/>
              <a:gd name="connsiteX99" fmla="*/ 5718423 w 9635294"/>
              <a:gd name="connsiteY99" fmla="*/ 5915851 h 6211920"/>
              <a:gd name="connsiteX100" fmla="*/ 5708898 w 9635294"/>
              <a:gd name="connsiteY100" fmla="*/ 5890515 h 6211920"/>
              <a:gd name="connsiteX101" fmla="*/ 5712073 w 9635294"/>
              <a:gd name="connsiteY101" fmla="*/ 5890515 h 6211920"/>
              <a:gd name="connsiteX102" fmla="*/ 5712073 w 9635294"/>
              <a:gd name="connsiteY102" fmla="*/ 5915851 h 6211920"/>
              <a:gd name="connsiteX103" fmla="*/ 5708898 w 9635294"/>
              <a:gd name="connsiteY103" fmla="*/ 5915851 h 6211920"/>
              <a:gd name="connsiteX104" fmla="*/ 3928727 w 9635294"/>
              <a:gd name="connsiteY104" fmla="*/ 5890515 h 6211920"/>
              <a:gd name="connsiteX105" fmla="*/ 3931901 w 9635294"/>
              <a:gd name="connsiteY105" fmla="*/ 5890515 h 6211920"/>
              <a:gd name="connsiteX106" fmla="*/ 3931901 w 9635294"/>
              <a:gd name="connsiteY106" fmla="*/ 5915851 h 6211920"/>
              <a:gd name="connsiteX107" fmla="*/ 3928727 w 9635294"/>
              <a:gd name="connsiteY107" fmla="*/ 5915851 h 6211920"/>
              <a:gd name="connsiteX108" fmla="*/ 3919202 w 9635294"/>
              <a:gd name="connsiteY108" fmla="*/ 5890515 h 6211920"/>
              <a:gd name="connsiteX109" fmla="*/ 3922376 w 9635294"/>
              <a:gd name="connsiteY109" fmla="*/ 5890515 h 6211920"/>
              <a:gd name="connsiteX110" fmla="*/ 3922376 w 9635294"/>
              <a:gd name="connsiteY110" fmla="*/ 5915851 h 6211920"/>
              <a:gd name="connsiteX111" fmla="*/ 3919202 w 9635294"/>
              <a:gd name="connsiteY111" fmla="*/ 5915851 h 6211920"/>
              <a:gd name="connsiteX112" fmla="*/ 5718423 w 9635294"/>
              <a:gd name="connsiteY112" fmla="*/ 5839842 h 6211920"/>
              <a:gd name="connsiteX113" fmla="*/ 5721598 w 9635294"/>
              <a:gd name="connsiteY113" fmla="*/ 5839842 h 6211920"/>
              <a:gd name="connsiteX114" fmla="*/ 5721598 w 9635294"/>
              <a:gd name="connsiteY114" fmla="*/ 5865178 h 6211920"/>
              <a:gd name="connsiteX115" fmla="*/ 5718423 w 9635294"/>
              <a:gd name="connsiteY115" fmla="*/ 5865178 h 6211920"/>
              <a:gd name="connsiteX116" fmla="*/ 5708898 w 9635294"/>
              <a:gd name="connsiteY116" fmla="*/ 5839842 h 6211920"/>
              <a:gd name="connsiteX117" fmla="*/ 5712073 w 9635294"/>
              <a:gd name="connsiteY117" fmla="*/ 5839842 h 6211920"/>
              <a:gd name="connsiteX118" fmla="*/ 5712073 w 9635294"/>
              <a:gd name="connsiteY118" fmla="*/ 5865178 h 6211920"/>
              <a:gd name="connsiteX119" fmla="*/ 5708898 w 9635294"/>
              <a:gd name="connsiteY119" fmla="*/ 5865178 h 6211920"/>
              <a:gd name="connsiteX120" fmla="*/ 3928727 w 9635294"/>
              <a:gd name="connsiteY120" fmla="*/ 5839842 h 6211920"/>
              <a:gd name="connsiteX121" fmla="*/ 3931901 w 9635294"/>
              <a:gd name="connsiteY121" fmla="*/ 5839842 h 6211920"/>
              <a:gd name="connsiteX122" fmla="*/ 3931901 w 9635294"/>
              <a:gd name="connsiteY122" fmla="*/ 5865178 h 6211920"/>
              <a:gd name="connsiteX123" fmla="*/ 3928727 w 9635294"/>
              <a:gd name="connsiteY123" fmla="*/ 5865178 h 6211920"/>
              <a:gd name="connsiteX124" fmla="*/ 3919202 w 9635294"/>
              <a:gd name="connsiteY124" fmla="*/ 5839842 h 6211920"/>
              <a:gd name="connsiteX125" fmla="*/ 3922376 w 9635294"/>
              <a:gd name="connsiteY125" fmla="*/ 5839842 h 6211920"/>
              <a:gd name="connsiteX126" fmla="*/ 3922376 w 9635294"/>
              <a:gd name="connsiteY126" fmla="*/ 5865178 h 6211920"/>
              <a:gd name="connsiteX127" fmla="*/ 3919202 w 9635294"/>
              <a:gd name="connsiteY127" fmla="*/ 5865178 h 6211920"/>
              <a:gd name="connsiteX128" fmla="*/ 5718423 w 9635294"/>
              <a:gd name="connsiteY128" fmla="*/ 5789170 h 6211920"/>
              <a:gd name="connsiteX129" fmla="*/ 5721598 w 9635294"/>
              <a:gd name="connsiteY129" fmla="*/ 5789170 h 6211920"/>
              <a:gd name="connsiteX130" fmla="*/ 5721598 w 9635294"/>
              <a:gd name="connsiteY130" fmla="*/ 5814506 h 6211920"/>
              <a:gd name="connsiteX131" fmla="*/ 5718423 w 9635294"/>
              <a:gd name="connsiteY131" fmla="*/ 5814506 h 6211920"/>
              <a:gd name="connsiteX132" fmla="*/ 5708898 w 9635294"/>
              <a:gd name="connsiteY132" fmla="*/ 5789170 h 6211920"/>
              <a:gd name="connsiteX133" fmla="*/ 5712073 w 9635294"/>
              <a:gd name="connsiteY133" fmla="*/ 5789170 h 6211920"/>
              <a:gd name="connsiteX134" fmla="*/ 5712073 w 9635294"/>
              <a:gd name="connsiteY134" fmla="*/ 5814506 h 6211920"/>
              <a:gd name="connsiteX135" fmla="*/ 5708898 w 9635294"/>
              <a:gd name="connsiteY135" fmla="*/ 5814506 h 6211920"/>
              <a:gd name="connsiteX136" fmla="*/ 3928727 w 9635294"/>
              <a:gd name="connsiteY136" fmla="*/ 5789170 h 6211920"/>
              <a:gd name="connsiteX137" fmla="*/ 3931901 w 9635294"/>
              <a:gd name="connsiteY137" fmla="*/ 5789170 h 6211920"/>
              <a:gd name="connsiteX138" fmla="*/ 3931901 w 9635294"/>
              <a:gd name="connsiteY138" fmla="*/ 5814506 h 6211920"/>
              <a:gd name="connsiteX139" fmla="*/ 3928727 w 9635294"/>
              <a:gd name="connsiteY139" fmla="*/ 5814506 h 6211920"/>
              <a:gd name="connsiteX140" fmla="*/ 3919202 w 9635294"/>
              <a:gd name="connsiteY140" fmla="*/ 5789170 h 6211920"/>
              <a:gd name="connsiteX141" fmla="*/ 3922376 w 9635294"/>
              <a:gd name="connsiteY141" fmla="*/ 5789170 h 6211920"/>
              <a:gd name="connsiteX142" fmla="*/ 3922376 w 9635294"/>
              <a:gd name="connsiteY142" fmla="*/ 5814506 h 6211920"/>
              <a:gd name="connsiteX143" fmla="*/ 3919202 w 9635294"/>
              <a:gd name="connsiteY143" fmla="*/ 5814506 h 6211920"/>
              <a:gd name="connsiteX144" fmla="*/ 5718423 w 9635294"/>
              <a:gd name="connsiteY144" fmla="*/ 5738495 h 6211920"/>
              <a:gd name="connsiteX145" fmla="*/ 5721598 w 9635294"/>
              <a:gd name="connsiteY145" fmla="*/ 5738495 h 6211920"/>
              <a:gd name="connsiteX146" fmla="*/ 5721598 w 9635294"/>
              <a:gd name="connsiteY146" fmla="*/ 5763831 h 6211920"/>
              <a:gd name="connsiteX147" fmla="*/ 5718423 w 9635294"/>
              <a:gd name="connsiteY147" fmla="*/ 5763831 h 6211920"/>
              <a:gd name="connsiteX148" fmla="*/ 5708898 w 9635294"/>
              <a:gd name="connsiteY148" fmla="*/ 5738495 h 6211920"/>
              <a:gd name="connsiteX149" fmla="*/ 5712073 w 9635294"/>
              <a:gd name="connsiteY149" fmla="*/ 5738495 h 6211920"/>
              <a:gd name="connsiteX150" fmla="*/ 5712073 w 9635294"/>
              <a:gd name="connsiteY150" fmla="*/ 5763831 h 6211920"/>
              <a:gd name="connsiteX151" fmla="*/ 5708898 w 9635294"/>
              <a:gd name="connsiteY151" fmla="*/ 5763831 h 6211920"/>
              <a:gd name="connsiteX152" fmla="*/ 3928727 w 9635294"/>
              <a:gd name="connsiteY152" fmla="*/ 5738495 h 6211920"/>
              <a:gd name="connsiteX153" fmla="*/ 3931901 w 9635294"/>
              <a:gd name="connsiteY153" fmla="*/ 5738495 h 6211920"/>
              <a:gd name="connsiteX154" fmla="*/ 3931901 w 9635294"/>
              <a:gd name="connsiteY154" fmla="*/ 5763831 h 6211920"/>
              <a:gd name="connsiteX155" fmla="*/ 3928727 w 9635294"/>
              <a:gd name="connsiteY155" fmla="*/ 5763831 h 6211920"/>
              <a:gd name="connsiteX156" fmla="*/ 3919202 w 9635294"/>
              <a:gd name="connsiteY156" fmla="*/ 5738495 h 6211920"/>
              <a:gd name="connsiteX157" fmla="*/ 3922376 w 9635294"/>
              <a:gd name="connsiteY157" fmla="*/ 5738495 h 6211920"/>
              <a:gd name="connsiteX158" fmla="*/ 3922376 w 9635294"/>
              <a:gd name="connsiteY158" fmla="*/ 5763831 h 6211920"/>
              <a:gd name="connsiteX159" fmla="*/ 3919202 w 9635294"/>
              <a:gd name="connsiteY159" fmla="*/ 5763831 h 6211920"/>
              <a:gd name="connsiteX160" fmla="*/ 5718423 w 9635294"/>
              <a:gd name="connsiteY160" fmla="*/ 5687822 h 6211920"/>
              <a:gd name="connsiteX161" fmla="*/ 5721598 w 9635294"/>
              <a:gd name="connsiteY161" fmla="*/ 5687822 h 6211920"/>
              <a:gd name="connsiteX162" fmla="*/ 5721598 w 9635294"/>
              <a:gd name="connsiteY162" fmla="*/ 5713159 h 6211920"/>
              <a:gd name="connsiteX163" fmla="*/ 5718423 w 9635294"/>
              <a:gd name="connsiteY163" fmla="*/ 5713159 h 6211920"/>
              <a:gd name="connsiteX164" fmla="*/ 5708898 w 9635294"/>
              <a:gd name="connsiteY164" fmla="*/ 5687822 h 6211920"/>
              <a:gd name="connsiteX165" fmla="*/ 5712073 w 9635294"/>
              <a:gd name="connsiteY165" fmla="*/ 5687822 h 6211920"/>
              <a:gd name="connsiteX166" fmla="*/ 5712073 w 9635294"/>
              <a:gd name="connsiteY166" fmla="*/ 5713159 h 6211920"/>
              <a:gd name="connsiteX167" fmla="*/ 5708898 w 9635294"/>
              <a:gd name="connsiteY167" fmla="*/ 5713159 h 6211920"/>
              <a:gd name="connsiteX168" fmla="*/ 3928727 w 9635294"/>
              <a:gd name="connsiteY168" fmla="*/ 5687822 h 6211920"/>
              <a:gd name="connsiteX169" fmla="*/ 3931901 w 9635294"/>
              <a:gd name="connsiteY169" fmla="*/ 5687822 h 6211920"/>
              <a:gd name="connsiteX170" fmla="*/ 3931901 w 9635294"/>
              <a:gd name="connsiteY170" fmla="*/ 5713159 h 6211920"/>
              <a:gd name="connsiteX171" fmla="*/ 3928727 w 9635294"/>
              <a:gd name="connsiteY171" fmla="*/ 5713159 h 6211920"/>
              <a:gd name="connsiteX172" fmla="*/ 3919202 w 9635294"/>
              <a:gd name="connsiteY172" fmla="*/ 5687822 h 6211920"/>
              <a:gd name="connsiteX173" fmla="*/ 3922376 w 9635294"/>
              <a:gd name="connsiteY173" fmla="*/ 5687822 h 6211920"/>
              <a:gd name="connsiteX174" fmla="*/ 3922376 w 9635294"/>
              <a:gd name="connsiteY174" fmla="*/ 5713159 h 6211920"/>
              <a:gd name="connsiteX175" fmla="*/ 3919202 w 9635294"/>
              <a:gd name="connsiteY175" fmla="*/ 5713159 h 6211920"/>
              <a:gd name="connsiteX176" fmla="*/ 5718423 w 9635294"/>
              <a:gd name="connsiteY176" fmla="*/ 5637149 h 6211920"/>
              <a:gd name="connsiteX177" fmla="*/ 5721598 w 9635294"/>
              <a:gd name="connsiteY177" fmla="*/ 5637149 h 6211920"/>
              <a:gd name="connsiteX178" fmla="*/ 5721598 w 9635294"/>
              <a:gd name="connsiteY178" fmla="*/ 5662486 h 6211920"/>
              <a:gd name="connsiteX179" fmla="*/ 5718423 w 9635294"/>
              <a:gd name="connsiteY179" fmla="*/ 5662486 h 6211920"/>
              <a:gd name="connsiteX180" fmla="*/ 5708898 w 9635294"/>
              <a:gd name="connsiteY180" fmla="*/ 5637149 h 6211920"/>
              <a:gd name="connsiteX181" fmla="*/ 5712073 w 9635294"/>
              <a:gd name="connsiteY181" fmla="*/ 5637149 h 6211920"/>
              <a:gd name="connsiteX182" fmla="*/ 5712073 w 9635294"/>
              <a:gd name="connsiteY182" fmla="*/ 5662486 h 6211920"/>
              <a:gd name="connsiteX183" fmla="*/ 5708898 w 9635294"/>
              <a:gd name="connsiteY183" fmla="*/ 5662486 h 6211920"/>
              <a:gd name="connsiteX184" fmla="*/ 3928727 w 9635294"/>
              <a:gd name="connsiteY184" fmla="*/ 5637149 h 6211920"/>
              <a:gd name="connsiteX185" fmla="*/ 3931901 w 9635294"/>
              <a:gd name="connsiteY185" fmla="*/ 5637149 h 6211920"/>
              <a:gd name="connsiteX186" fmla="*/ 3931901 w 9635294"/>
              <a:gd name="connsiteY186" fmla="*/ 5662486 h 6211920"/>
              <a:gd name="connsiteX187" fmla="*/ 3928727 w 9635294"/>
              <a:gd name="connsiteY187" fmla="*/ 5662486 h 6211920"/>
              <a:gd name="connsiteX188" fmla="*/ 3919202 w 9635294"/>
              <a:gd name="connsiteY188" fmla="*/ 5637149 h 6211920"/>
              <a:gd name="connsiteX189" fmla="*/ 3922376 w 9635294"/>
              <a:gd name="connsiteY189" fmla="*/ 5637149 h 6211920"/>
              <a:gd name="connsiteX190" fmla="*/ 3922376 w 9635294"/>
              <a:gd name="connsiteY190" fmla="*/ 5662486 h 6211920"/>
              <a:gd name="connsiteX191" fmla="*/ 3919202 w 9635294"/>
              <a:gd name="connsiteY191" fmla="*/ 5662486 h 6211920"/>
              <a:gd name="connsiteX192" fmla="*/ 5718423 w 9635294"/>
              <a:gd name="connsiteY192" fmla="*/ 5586476 h 6211920"/>
              <a:gd name="connsiteX193" fmla="*/ 5721598 w 9635294"/>
              <a:gd name="connsiteY193" fmla="*/ 5586476 h 6211920"/>
              <a:gd name="connsiteX194" fmla="*/ 5721598 w 9635294"/>
              <a:gd name="connsiteY194" fmla="*/ 5611813 h 6211920"/>
              <a:gd name="connsiteX195" fmla="*/ 5718423 w 9635294"/>
              <a:gd name="connsiteY195" fmla="*/ 5611813 h 6211920"/>
              <a:gd name="connsiteX196" fmla="*/ 5708898 w 9635294"/>
              <a:gd name="connsiteY196" fmla="*/ 5586476 h 6211920"/>
              <a:gd name="connsiteX197" fmla="*/ 5712073 w 9635294"/>
              <a:gd name="connsiteY197" fmla="*/ 5586476 h 6211920"/>
              <a:gd name="connsiteX198" fmla="*/ 5712073 w 9635294"/>
              <a:gd name="connsiteY198" fmla="*/ 5611813 h 6211920"/>
              <a:gd name="connsiteX199" fmla="*/ 5708898 w 9635294"/>
              <a:gd name="connsiteY199" fmla="*/ 5611813 h 6211920"/>
              <a:gd name="connsiteX200" fmla="*/ 3928727 w 9635294"/>
              <a:gd name="connsiteY200" fmla="*/ 5586476 h 6211920"/>
              <a:gd name="connsiteX201" fmla="*/ 3931901 w 9635294"/>
              <a:gd name="connsiteY201" fmla="*/ 5586476 h 6211920"/>
              <a:gd name="connsiteX202" fmla="*/ 3931901 w 9635294"/>
              <a:gd name="connsiteY202" fmla="*/ 5611813 h 6211920"/>
              <a:gd name="connsiteX203" fmla="*/ 3928727 w 9635294"/>
              <a:gd name="connsiteY203" fmla="*/ 5611813 h 6211920"/>
              <a:gd name="connsiteX204" fmla="*/ 3919202 w 9635294"/>
              <a:gd name="connsiteY204" fmla="*/ 5586476 h 6211920"/>
              <a:gd name="connsiteX205" fmla="*/ 3922376 w 9635294"/>
              <a:gd name="connsiteY205" fmla="*/ 5586476 h 6211920"/>
              <a:gd name="connsiteX206" fmla="*/ 3922376 w 9635294"/>
              <a:gd name="connsiteY206" fmla="*/ 5611813 h 6211920"/>
              <a:gd name="connsiteX207" fmla="*/ 3919202 w 9635294"/>
              <a:gd name="connsiteY207" fmla="*/ 5611813 h 6211920"/>
              <a:gd name="connsiteX208" fmla="*/ 5718423 w 9635294"/>
              <a:gd name="connsiteY208" fmla="*/ 5535804 h 6211920"/>
              <a:gd name="connsiteX209" fmla="*/ 5721598 w 9635294"/>
              <a:gd name="connsiteY209" fmla="*/ 5535804 h 6211920"/>
              <a:gd name="connsiteX210" fmla="*/ 5721598 w 9635294"/>
              <a:gd name="connsiteY210" fmla="*/ 5561140 h 6211920"/>
              <a:gd name="connsiteX211" fmla="*/ 5718423 w 9635294"/>
              <a:gd name="connsiteY211" fmla="*/ 5561140 h 6211920"/>
              <a:gd name="connsiteX212" fmla="*/ 5708898 w 9635294"/>
              <a:gd name="connsiteY212" fmla="*/ 5535804 h 6211920"/>
              <a:gd name="connsiteX213" fmla="*/ 5712073 w 9635294"/>
              <a:gd name="connsiteY213" fmla="*/ 5535804 h 6211920"/>
              <a:gd name="connsiteX214" fmla="*/ 5712073 w 9635294"/>
              <a:gd name="connsiteY214" fmla="*/ 5561140 h 6211920"/>
              <a:gd name="connsiteX215" fmla="*/ 5708898 w 9635294"/>
              <a:gd name="connsiteY215" fmla="*/ 5561140 h 6211920"/>
              <a:gd name="connsiteX216" fmla="*/ 3928727 w 9635294"/>
              <a:gd name="connsiteY216" fmla="*/ 5535804 h 6211920"/>
              <a:gd name="connsiteX217" fmla="*/ 3931901 w 9635294"/>
              <a:gd name="connsiteY217" fmla="*/ 5535804 h 6211920"/>
              <a:gd name="connsiteX218" fmla="*/ 3931901 w 9635294"/>
              <a:gd name="connsiteY218" fmla="*/ 5561140 h 6211920"/>
              <a:gd name="connsiteX219" fmla="*/ 3928727 w 9635294"/>
              <a:gd name="connsiteY219" fmla="*/ 5561140 h 6211920"/>
              <a:gd name="connsiteX220" fmla="*/ 3919202 w 9635294"/>
              <a:gd name="connsiteY220" fmla="*/ 5535804 h 6211920"/>
              <a:gd name="connsiteX221" fmla="*/ 3922376 w 9635294"/>
              <a:gd name="connsiteY221" fmla="*/ 5535804 h 6211920"/>
              <a:gd name="connsiteX222" fmla="*/ 3922376 w 9635294"/>
              <a:gd name="connsiteY222" fmla="*/ 5561140 h 6211920"/>
              <a:gd name="connsiteX223" fmla="*/ 3919202 w 9635294"/>
              <a:gd name="connsiteY223" fmla="*/ 5561140 h 6211920"/>
              <a:gd name="connsiteX224" fmla="*/ 5718423 w 9635294"/>
              <a:gd name="connsiteY224" fmla="*/ 5485131 h 6211920"/>
              <a:gd name="connsiteX225" fmla="*/ 5721598 w 9635294"/>
              <a:gd name="connsiteY225" fmla="*/ 5485131 h 6211920"/>
              <a:gd name="connsiteX226" fmla="*/ 5721598 w 9635294"/>
              <a:gd name="connsiteY226" fmla="*/ 5510468 h 6211920"/>
              <a:gd name="connsiteX227" fmla="*/ 5718423 w 9635294"/>
              <a:gd name="connsiteY227" fmla="*/ 5510468 h 6211920"/>
              <a:gd name="connsiteX228" fmla="*/ 5708898 w 9635294"/>
              <a:gd name="connsiteY228" fmla="*/ 5485131 h 6211920"/>
              <a:gd name="connsiteX229" fmla="*/ 5712073 w 9635294"/>
              <a:gd name="connsiteY229" fmla="*/ 5485131 h 6211920"/>
              <a:gd name="connsiteX230" fmla="*/ 5712073 w 9635294"/>
              <a:gd name="connsiteY230" fmla="*/ 5510468 h 6211920"/>
              <a:gd name="connsiteX231" fmla="*/ 5708898 w 9635294"/>
              <a:gd name="connsiteY231" fmla="*/ 5510468 h 6211920"/>
              <a:gd name="connsiteX232" fmla="*/ 3928727 w 9635294"/>
              <a:gd name="connsiteY232" fmla="*/ 5485131 h 6211920"/>
              <a:gd name="connsiteX233" fmla="*/ 3931901 w 9635294"/>
              <a:gd name="connsiteY233" fmla="*/ 5485131 h 6211920"/>
              <a:gd name="connsiteX234" fmla="*/ 3931901 w 9635294"/>
              <a:gd name="connsiteY234" fmla="*/ 5510468 h 6211920"/>
              <a:gd name="connsiteX235" fmla="*/ 3928727 w 9635294"/>
              <a:gd name="connsiteY235" fmla="*/ 5510468 h 6211920"/>
              <a:gd name="connsiteX236" fmla="*/ 3919202 w 9635294"/>
              <a:gd name="connsiteY236" fmla="*/ 5485131 h 6211920"/>
              <a:gd name="connsiteX237" fmla="*/ 3922376 w 9635294"/>
              <a:gd name="connsiteY237" fmla="*/ 5485131 h 6211920"/>
              <a:gd name="connsiteX238" fmla="*/ 3922376 w 9635294"/>
              <a:gd name="connsiteY238" fmla="*/ 5510468 h 6211920"/>
              <a:gd name="connsiteX239" fmla="*/ 3919202 w 9635294"/>
              <a:gd name="connsiteY239" fmla="*/ 5510468 h 6211920"/>
              <a:gd name="connsiteX240" fmla="*/ 5718423 w 9635294"/>
              <a:gd name="connsiteY240" fmla="*/ 5434457 h 6211920"/>
              <a:gd name="connsiteX241" fmla="*/ 5721598 w 9635294"/>
              <a:gd name="connsiteY241" fmla="*/ 5434457 h 6211920"/>
              <a:gd name="connsiteX242" fmla="*/ 5721598 w 9635294"/>
              <a:gd name="connsiteY242" fmla="*/ 5459795 h 6211920"/>
              <a:gd name="connsiteX243" fmla="*/ 5718423 w 9635294"/>
              <a:gd name="connsiteY243" fmla="*/ 5459795 h 6211920"/>
              <a:gd name="connsiteX244" fmla="*/ 5708898 w 9635294"/>
              <a:gd name="connsiteY244" fmla="*/ 5434457 h 6211920"/>
              <a:gd name="connsiteX245" fmla="*/ 5712073 w 9635294"/>
              <a:gd name="connsiteY245" fmla="*/ 5434457 h 6211920"/>
              <a:gd name="connsiteX246" fmla="*/ 5712073 w 9635294"/>
              <a:gd name="connsiteY246" fmla="*/ 5459795 h 6211920"/>
              <a:gd name="connsiteX247" fmla="*/ 5708898 w 9635294"/>
              <a:gd name="connsiteY247" fmla="*/ 5459795 h 6211920"/>
              <a:gd name="connsiteX248" fmla="*/ 3928727 w 9635294"/>
              <a:gd name="connsiteY248" fmla="*/ 5434457 h 6211920"/>
              <a:gd name="connsiteX249" fmla="*/ 3931901 w 9635294"/>
              <a:gd name="connsiteY249" fmla="*/ 5434457 h 6211920"/>
              <a:gd name="connsiteX250" fmla="*/ 3931901 w 9635294"/>
              <a:gd name="connsiteY250" fmla="*/ 5459795 h 6211920"/>
              <a:gd name="connsiteX251" fmla="*/ 3928727 w 9635294"/>
              <a:gd name="connsiteY251" fmla="*/ 5459795 h 6211920"/>
              <a:gd name="connsiteX252" fmla="*/ 3919202 w 9635294"/>
              <a:gd name="connsiteY252" fmla="*/ 5434457 h 6211920"/>
              <a:gd name="connsiteX253" fmla="*/ 3922376 w 9635294"/>
              <a:gd name="connsiteY253" fmla="*/ 5434457 h 6211920"/>
              <a:gd name="connsiteX254" fmla="*/ 3922376 w 9635294"/>
              <a:gd name="connsiteY254" fmla="*/ 5459795 h 6211920"/>
              <a:gd name="connsiteX255" fmla="*/ 3919202 w 9635294"/>
              <a:gd name="connsiteY255" fmla="*/ 5459795 h 6211920"/>
              <a:gd name="connsiteX256" fmla="*/ 5718423 w 9635294"/>
              <a:gd name="connsiteY256" fmla="*/ 5383784 h 6211920"/>
              <a:gd name="connsiteX257" fmla="*/ 5721598 w 9635294"/>
              <a:gd name="connsiteY257" fmla="*/ 5383784 h 6211920"/>
              <a:gd name="connsiteX258" fmla="*/ 5721598 w 9635294"/>
              <a:gd name="connsiteY258" fmla="*/ 5409122 h 6211920"/>
              <a:gd name="connsiteX259" fmla="*/ 5718423 w 9635294"/>
              <a:gd name="connsiteY259" fmla="*/ 5409122 h 6211920"/>
              <a:gd name="connsiteX260" fmla="*/ 5708898 w 9635294"/>
              <a:gd name="connsiteY260" fmla="*/ 5383784 h 6211920"/>
              <a:gd name="connsiteX261" fmla="*/ 5712073 w 9635294"/>
              <a:gd name="connsiteY261" fmla="*/ 5383784 h 6211920"/>
              <a:gd name="connsiteX262" fmla="*/ 5712073 w 9635294"/>
              <a:gd name="connsiteY262" fmla="*/ 5409122 h 6211920"/>
              <a:gd name="connsiteX263" fmla="*/ 5708898 w 9635294"/>
              <a:gd name="connsiteY263" fmla="*/ 5409122 h 6211920"/>
              <a:gd name="connsiteX264" fmla="*/ 3928727 w 9635294"/>
              <a:gd name="connsiteY264" fmla="*/ 5383784 h 6211920"/>
              <a:gd name="connsiteX265" fmla="*/ 3931901 w 9635294"/>
              <a:gd name="connsiteY265" fmla="*/ 5383784 h 6211920"/>
              <a:gd name="connsiteX266" fmla="*/ 3931901 w 9635294"/>
              <a:gd name="connsiteY266" fmla="*/ 5409122 h 6211920"/>
              <a:gd name="connsiteX267" fmla="*/ 3928727 w 9635294"/>
              <a:gd name="connsiteY267" fmla="*/ 5409122 h 6211920"/>
              <a:gd name="connsiteX268" fmla="*/ 3919202 w 9635294"/>
              <a:gd name="connsiteY268" fmla="*/ 5383784 h 6211920"/>
              <a:gd name="connsiteX269" fmla="*/ 3922376 w 9635294"/>
              <a:gd name="connsiteY269" fmla="*/ 5383784 h 6211920"/>
              <a:gd name="connsiteX270" fmla="*/ 3922376 w 9635294"/>
              <a:gd name="connsiteY270" fmla="*/ 5409122 h 6211920"/>
              <a:gd name="connsiteX271" fmla="*/ 3919202 w 9635294"/>
              <a:gd name="connsiteY271" fmla="*/ 5409122 h 6211920"/>
              <a:gd name="connsiteX272" fmla="*/ 5718423 w 9635294"/>
              <a:gd name="connsiteY272" fmla="*/ 5333092 h 6211920"/>
              <a:gd name="connsiteX273" fmla="*/ 5721598 w 9635294"/>
              <a:gd name="connsiteY273" fmla="*/ 5333092 h 6211920"/>
              <a:gd name="connsiteX274" fmla="*/ 5721598 w 9635294"/>
              <a:gd name="connsiteY274" fmla="*/ 5358429 h 6211920"/>
              <a:gd name="connsiteX275" fmla="*/ 5718423 w 9635294"/>
              <a:gd name="connsiteY275" fmla="*/ 5358429 h 6211920"/>
              <a:gd name="connsiteX276" fmla="*/ 5708898 w 9635294"/>
              <a:gd name="connsiteY276" fmla="*/ 5333092 h 6211920"/>
              <a:gd name="connsiteX277" fmla="*/ 5712073 w 9635294"/>
              <a:gd name="connsiteY277" fmla="*/ 5333092 h 6211920"/>
              <a:gd name="connsiteX278" fmla="*/ 5712073 w 9635294"/>
              <a:gd name="connsiteY278" fmla="*/ 5358429 h 6211920"/>
              <a:gd name="connsiteX279" fmla="*/ 5708898 w 9635294"/>
              <a:gd name="connsiteY279" fmla="*/ 5358429 h 6211920"/>
              <a:gd name="connsiteX280" fmla="*/ 3928727 w 9635294"/>
              <a:gd name="connsiteY280" fmla="*/ 5333092 h 6211920"/>
              <a:gd name="connsiteX281" fmla="*/ 3931901 w 9635294"/>
              <a:gd name="connsiteY281" fmla="*/ 5333092 h 6211920"/>
              <a:gd name="connsiteX282" fmla="*/ 3931901 w 9635294"/>
              <a:gd name="connsiteY282" fmla="*/ 5358429 h 6211920"/>
              <a:gd name="connsiteX283" fmla="*/ 3928727 w 9635294"/>
              <a:gd name="connsiteY283" fmla="*/ 5358429 h 6211920"/>
              <a:gd name="connsiteX284" fmla="*/ 3919202 w 9635294"/>
              <a:gd name="connsiteY284" fmla="*/ 5333092 h 6211920"/>
              <a:gd name="connsiteX285" fmla="*/ 3922376 w 9635294"/>
              <a:gd name="connsiteY285" fmla="*/ 5333092 h 6211920"/>
              <a:gd name="connsiteX286" fmla="*/ 3922376 w 9635294"/>
              <a:gd name="connsiteY286" fmla="*/ 5358429 h 6211920"/>
              <a:gd name="connsiteX287" fmla="*/ 3919202 w 9635294"/>
              <a:gd name="connsiteY287" fmla="*/ 5358429 h 6211920"/>
              <a:gd name="connsiteX288" fmla="*/ 5721598 w 9635294"/>
              <a:gd name="connsiteY288" fmla="*/ 5297000 h 6211920"/>
              <a:gd name="connsiteX289" fmla="*/ 5721598 w 9635294"/>
              <a:gd name="connsiteY289" fmla="*/ 5307756 h 6211920"/>
              <a:gd name="connsiteX290" fmla="*/ 5718423 w 9635294"/>
              <a:gd name="connsiteY290" fmla="*/ 5307756 h 6211920"/>
              <a:gd name="connsiteX291" fmla="*/ 5718423 w 9635294"/>
              <a:gd name="connsiteY291" fmla="*/ 5297160 h 6211920"/>
              <a:gd name="connsiteX292" fmla="*/ 5720582 w 9635294"/>
              <a:gd name="connsiteY292" fmla="*/ 5298568 h 6211920"/>
              <a:gd name="connsiteX293" fmla="*/ 3919202 w 9635294"/>
              <a:gd name="connsiteY293" fmla="*/ 5296984 h 6211920"/>
              <a:gd name="connsiteX294" fmla="*/ 3920237 w 9635294"/>
              <a:gd name="connsiteY294" fmla="*/ 5298568 h 6211920"/>
              <a:gd name="connsiteX295" fmla="*/ 3922376 w 9635294"/>
              <a:gd name="connsiteY295" fmla="*/ 5297168 h 6211920"/>
              <a:gd name="connsiteX296" fmla="*/ 3922376 w 9635294"/>
              <a:gd name="connsiteY296" fmla="*/ 5307762 h 6211920"/>
              <a:gd name="connsiteX297" fmla="*/ 3919202 w 9635294"/>
              <a:gd name="connsiteY297" fmla="*/ 5307762 h 6211920"/>
              <a:gd name="connsiteX298" fmla="*/ 5718423 w 9635294"/>
              <a:gd name="connsiteY298" fmla="*/ 5295088 h 6211920"/>
              <a:gd name="connsiteX299" fmla="*/ 5719043 w 9635294"/>
              <a:gd name="connsiteY299" fmla="*/ 5295088 h 6211920"/>
              <a:gd name="connsiteX300" fmla="*/ 5718423 w 9635294"/>
              <a:gd name="connsiteY300" fmla="*/ 5296044 h 6211920"/>
              <a:gd name="connsiteX301" fmla="*/ 3921756 w 9635294"/>
              <a:gd name="connsiteY301" fmla="*/ 5295088 h 6211920"/>
              <a:gd name="connsiteX302" fmla="*/ 3922376 w 9635294"/>
              <a:gd name="connsiteY302" fmla="*/ 5295088 h 6211920"/>
              <a:gd name="connsiteX303" fmla="*/ 3922376 w 9635294"/>
              <a:gd name="connsiteY303" fmla="*/ 5296038 h 6211920"/>
              <a:gd name="connsiteX304" fmla="*/ 5715085 w 9635294"/>
              <a:gd name="connsiteY304" fmla="*/ 5294984 h 6211920"/>
              <a:gd name="connsiteX305" fmla="*/ 5715244 w 9635294"/>
              <a:gd name="connsiteY305" fmla="*/ 5295088 h 6211920"/>
              <a:gd name="connsiteX306" fmla="*/ 5717915 w 9635294"/>
              <a:gd name="connsiteY306" fmla="*/ 5296827 h 6211920"/>
              <a:gd name="connsiteX307" fmla="*/ 5718423 w 9635294"/>
              <a:gd name="connsiteY307" fmla="*/ 5296044 h 6211920"/>
              <a:gd name="connsiteX308" fmla="*/ 5718423 w 9635294"/>
              <a:gd name="connsiteY308" fmla="*/ 5297160 h 6211920"/>
              <a:gd name="connsiteX309" fmla="*/ 5715244 w 9635294"/>
              <a:gd name="connsiteY309" fmla="*/ 5295088 h 6211920"/>
              <a:gd name="connsiteX310" fmla="*/ 5712581 w 9635294"/>
              <a:gd name="connsiteY310" fmla="*/ 5293354 h 6211920"/>
              <a:gd name="connsiteX311" fmla="*/ 5713647 w 9635294"/>
              <a:gd name="connsiteY311" fmla="*/ 5294047 h 6211920"/>
              <a:gd name="connsiteX312" fmla="*/ 5715085 w 9635294"/>
              <a:gd name="connsiteY312" fmla="*/ 5294984 h 6211920"/>
              <a:gd name="connsiteX313" fmla="*/ 3928206 w 9635294"/>
              <a:gd name="connsiteY313" fmla="*/ 5293354 h 6211920"/>
              <a:gd name="connsiteX314" fmla="*/ 3928207 w 9635294"/>
              <a:gd name="connsiteY314" fmla="*/ 5293355 h 6211920"/>
              <a:gd name="connsiteX315" fmla="*/ 3925556 w 9635294"/>
              <a:gd name="connsiteY315" fmla="*/ 5295088 h 6211920"/>
              <a:gd name="connsiteX316" fmla="*/ 3922376 w 9635294"/>
              <a:gd name="connsiteY316" fmla="*/ 5297168 h 6211920"/>
              <a:gd name="connsiteX317" fmla="*/ 3922376 w 9635294"/>
              <a:gd name="connsiteY317" fmla="*/ 5296038 h 6211920"/>
              <a:gd name="connsiteX318" fmla="*/ 3922892 w 9635294"/>
              <a:gd name="connsiteY318" fmla="*/ 5296827 h 6211920"/>
              <a:gd name="connsiteX319" fmla="*/ 3925553 w 9635294"/>
              <a:gd name="connsiteY319" fmla="*/ 5295088 h 6211920"/>
              <a:gd name="connsiteX320" fmla="*/ 3928206 w 9635294"/>
              <a:gd name="connsiteY320" fmla="*/ 5293354 h 6211920"/>
              <a:gd name="connsiteX321" fmla="*/ 3928206 w 9635294"/>
              <a:gd name="connsiteY321" fmla="*/ 5293354 h 6211920"/>
              <a:gd name="connsiteX322" fmla="*/ 3925552 w 9635294"/>
              <a:gd name="connsiteY322" fmla="*/ 5295088 h 6211920"/>
              <a:gd name="connsiteX323" fmla="*/ 5712583 w 9635294"/>
              <a:gd name="connsiteY323" fmla="*/ 5293352 h 6211920"/>
              <a:gd name="connsiteX324" fmla="*/ 5715248 w 9635294"/>
              <a:gd name="connsiteY324" fmla="*/ 5295088 h 6211920"/>
              <a:gd name="connsiteX325" fmla="*/ 5713647 w 9635294"/>
              <a:gd name="connsiteY325" fmla="*/ 5294047 h 6211920"/>
              <a:gd name="connsiteX326" fmla="*/ 5712582 w 9635294"/>
              <a:gd name="connsiteY326" fmla="*/ 5293353 h 6211920"/>
              <a:gd name="connsiteX327" fmla="*/ 5709914 w 9635294"/>
              <a:gd name="connsiteY327" fmla="*/ 5291615 h 6211920"/>
              <a:gd name="connsiteX328" fmla="*/ 5712582 w 9635294"/>
              <a:gd name="connsiteY328" fmla="*/ 5293353 h 6211920"/>
              <a:gd name="connsiteX329" fmla="*/ 5712581 w 9635294"/>
              <a:gd name="connsiteY329" fmla="*/ 5293354 h 6211920"/>
              <a:gd name="connsiteX330" fmla="*/ 5712073 w 9635294"/>
              <a:gd name="connsiteY330" fmla="*/ 5294149 h 6211920"/>
              <a:gd name="connsiteX331" fmla="*/ 5712073 w 9635294"/>
              <a:gd name="connsiteY331" fmla="*/ 5295088 h 6211920"/>
              <a:gd name="connsiteX332" fmla="*/ 5712073 w 9635294"/>
              <a:gd name="connsiteY332" fmla="*/ 5307756 h 6211920"/>
              <a:gd name="connsiteX333" fmla="*/ 5708898 w 9635294"/>
              <a:gd name="connsiteY333" fmla="*/ 5307756 h 6211920"/>
              <a:gd name="connsiteX334" fmla="*/ 5708898 w 9635294"/>
              <a:gd name="connsiteY334" fmla="*/ 5295088 h 6211920"/>
              <a:gd name="connsiteX335" fmla="*/ 5708898 w 9635294"/>
              <a:gd name="connsiteY335" fmla="*/ 5293203 h 6211920"/>
              <a:gd name="connsiteX336" fmla="*/ 3930866 w 9635294"/>
              <a:gd name="connsiteY336" fmla="*/ 5291615 h 6211920"/>
              <a:gd name="connsiteX337" fmla="*/ 3931901 w 9635294"/>
              <a:gd name="connsiteY337" fmla="*/ 5293203 h 6211920"/>
              <a:gd name="connsiteX338" fmla="*/ 3931901 w 9635294"/>
              <a:gd name="connsiteY338" fmla="*/ 5295088 h 6211920"/>
              <a:gd name="connsiteX339" fmla="*/ 3931901 w 9635294"/>
              <a:gd name="connsiteY339" fmla="*/ 5307762 h 6211920"/>
              <a:gd name="connsiteX340" fmla="*/ 3928727 w 9635294"/>
              <a:gd name="connsiteY340" fmla="*/ 5307762 h 6211920"/>
              <a:gd name="connsiteX341" fmla="*/ 3928727 w 9635294"/>
              <a:gd name="connsiteY341" fmla="*/ 5295088 h 6211920"/>
              <a:gd name="connsiteX342" fmla="*/ 3928727 w 9635294"/>
              <a:gd name="connsiteY342" fmla="*/ 5294149 h 6211920"/>
              <a:gd name="connsiteX343" fmla="*/ 3928207 w 9635294"/>
              <a:gd name="connsiteY343" fmla="*/ 5293355 h 6211920"/>
              <a:gd name="connsiteX344" fmla="*/ 3919310 w 9635294"/>
              <a:gd name="connsiteY344" fmla="*/ 5291343 h 6211920"/>
              <a:gd name="connsiteX345" fmla="*/ 3921756 w 9635294"/>
              <a:gd name="connsiteY345" fmla="*/ 5295088 h 6211920"/>
              <a:gd name="connsiteX346" fmla="*/ 3919202 w 9635294"/>
              <a:gd name="connsiteY346" fmla="*/ 5295088 h 6211920"/>
              <a:gd name="connsiteX347" fmla="*/ 3919202 w 9635294"/>
              <a:gd name="connsiteY347" fmla="*/ 5296984 h 6211920"/>
              <a:gd name="connsiteX348" fmla="*/ 3916650 w 9635294"/>
              <a:gd name="connsiteY348" fmla="*/ 5293082 h 6211920"/>
              <a:gd name="connsiteX349" fmla="*/ 5719768 w 9635294"/>
              <a:gd name="connsiteY349" fmla="*/ 5290219 h 6211920"/>
              <a:gd name="connsiteX350" fmla="*/ 5724138 w 9635294"/>
              <a:gd name="connsiteY350" fmla="*/ 5293082 h 6211920"/>
              <a:gd name="connsiteX351" fmla="*/ 5721598 w 9635294"/>
              <a:gd name="connsiteY351" fmla="*/ 5297000 h 6211920"/>
              <a:gd name="connsiteX352" fmla="*/ 5721598 w 9635294"/>
              <a:gd name="connsiteY352" fmla="*/ 5295088 h 6211920"/>
              <a:gd name="connsiteX353" fmla="*/ 5719043 w 9635294"/>
              <a:gd name="connsiteY353" fmla="*/ 5295088 h 6211920"/>
              <a:gd name="connsiteX354" fmla="*/ 5721471 w 9635294"/>
              <a:gd name="connsiteY354" fmla="*/ 5291341 h 6211920"/>
              <a:gd name="connsiteX355" fmla="*/ 5716201 w 9635294"/>
              <a:gd name="connsiteY355" fmla="*/ 5287868 h 6211920"/>
              <a:gd name="connsiteX356" fmla="*/ 5719768 w 9635294"/>
              <a:gd name="connsiteY356" fmla="*/ 5290219 h 6211920"/>
              <a:gd name="connsiteX357" fmla="*/ 5716194 w 9635294"/>
              <a:gd name="connsiteY357" fmla="*/ 5287878 h 6211920"/>
              <a:gd name="connsiteX358" fmla="*/ 3924624 w 9635294"/>
              <a:gd name="connsiteY358" fmla="*/ 5287868 h 6211920"/>
              <a:gd name="connsiteX359" fmla="*/ 3924625 w 9635294"/>
              <a:gd name="connsiteY359" fmla="*/ 5287869 h 6211920"/>
              <a:gd name="connsiteX360" fmla="*/ 3919310 w 9635294"/>
              <a:gd name="connsiteY360" fmla="*/ 5291343 h 6211920"/>
              <a:gd name="connsiteX361" fmla="*/ 3919310 w 9635294"/>
              <a:gd name="connsiteY361" fmla="*/ 5291341 h 6211920"/>
              <a:gd name="connsiteX362" fmla="*/ 5713533 w 9635294"/>
              <a:gd name="connsiteY362" fmla="*/ 5286134 h 6211920"/>
              <a:gd name="connsiteX363" fmla="*/ 5716194 w 9635294"/>
              <a:gd name="connsiteY363" fmla="*/ 5287878 h 6211920"/>
              <a:gd name="connsiteX364" fmla="*/ 5712583 w 9635294"/>
              <a:gd name="connsiteY364" fmla="*/ 5293352 h 6211920"/>
              <a:gd name="connsiteX365" fmla="*/ 5709914 w 9635294"/>
              <a:gd name="connsiteY365" fmla="*/ 5291615 h 6211920"/>
              <a:gd name="connsiteX366" fmla="*/ 3927280 w 9635294"/>
              <a:gd name="connsiteY366" fmla="*/ 5286134 h 6211920"/>
              <a:gd name="connsiteX367" fmla="*/ 3930866 w 9635294"/>
              <a:gd name="connsiteY367" fmla="*/ 5291615 h 6211920"/>
              <a:gd name="connsiteX368" fmla="*/ 3928206 w 9635294"/>
              <a:gd name="connsiteY368" fmla="*/ 5293354 h 6211920"/>
              <a:gd name="connsiteX369" fmla="*/ 3924625 w 9635294"/>
              <a:gd name="connsiteY369" fmla="*/ 5287869 h 6211920"/>
              <a:gd name="connsiteX370" fmla="*/ 5725900 w 9635294"/>
              <a:gd name="connsiteY370" fmla="*/ 5278565 h 6211920"/>
              <a:gd name="connsiteX371" fmla="*/ 5728650 w 9635294"/>
              <a:gd name="connsiteY371" fmla="*/ 5280368 h 6211920"/>
              <a:gd name="connsiteX372" fmla="*/ 5728646 w 9635294"/>
              <a:gd name="connsiteY372" fmla="*/ 5280374 h 6211920"/>
              <a:gd name="connsiteX373" fmla="*/ 3917454 w 9635294"/>
              <a:gd name="connsiteY373" fmla="*/ 5276899 h 6211920"/>
              <a:gd name="connsiteX374" fmla="*/ 3917455 w 9635294"/>
              <a:gd name="connsiteY374" fmla="*/ 5276901 h 6211920"/>
              <a:gd name="connsiteX375" fmla="*/ 3912141 w 9635294"/>
              <a:gd name="connsiteY375" fmla="*/ 5280374 h 6211920"/>
              <a:gd name="connsiteX376" fmla="*/ 3912140 w 9635294"/>
              <a:gd name="connsiteY376" fmla="*/ 5280374 h 6211920"/>
              <a:gd name="connsiteX377" fmla="*/ 5739173 w 9635294"/>
              <a:gd name="connsiteY377" fmla="*/ 5264358 h 6211920"/>
              <a:gd name="connsiteX378" fmla="*/ 5741791 w 9635294"/>
              <a:gd name="connsiteY378" fmla="*/ 5266082 h 6211920"/>
              <a:gd name="connsiteX379" fmla="*/ 5734933 w 9635294"/>
              <a:gd name="connsiteY379" fmla="*/ 5276628 h 6211920"/>
              <a:gd name="connsiteX380" fmla="*/ 5731314 w 9635294"/>
              <a:gd name="connsiteY380" fmla="*/ 5282114 h 6211920"/>
              <a:gd name="connsiteX381" fmla="*/ 5728650 w 9635294"/>
              <a:gd name="connsiteY381" fmla="*/ 5280368 h 6211920"/>
              <a:gd name="connsiteX382" fmla="*/ 5732265 w 9635294"/>
              <a:gd name="connsiteY382" fmla="*/ 5274891 h 6211920"/>
              <a:gd name="connsiteX383" fmla="*/ 5732265 w 9635294"/>
              <a:gd name="connsiteY383" fmla="*/ 5274891 h 6211920"/>
              <a:gd name="connsiteX384" fmla="*/ 5732266 w 9635294"/>
              <a:gd name="connsiteY384" fmla="*/ 5274888 h 6211920"/>
              <a:gd name="connsiteX385" fmla="*/ 3901638 w 9635294"/>
              <a:gd name="connsiteY385" fmla="*/ 5264342 h 6211920"/>
              <a:gd name="connsiteX386" fmla="*/ 3908553 w 9635294"/>
              <a:gd name="connsiteY386" fmla="*/ 5274888 h 6211920"/>
              <a:gd name="connsiteX387" fmla="*/ 3908555 w 9635294"/>
              <a:gd name="connsiteY387" fmla="*/ 5274892 h 6211920"/>
              <a:gd name="connsiteX388" fmla="*/ 3908555 w 9635294"/>
              <a:gd name="connsiteY388" fmla="*/ 5274892 h 6211920"/>
              <a:gd name="connsiteX389" fmla="*/ 3912140 w 9635294"/>
              <a:gd name="connsiteY389" fmla="*/ 5280374 h 6211920"/>
              <a:gd name="connsiteX390" fmla="*/ 3909479 w 9635294"/>
              <a:gd name="connsiteY390" fmla="*/ 5282114 h 6211920"/>
              <a:gd name="connsiteX391" fmla="*/ 3905899 w 9635294"/>
              <a:gd name="connsiteY391" fmla="*/ 5276628 h 6211920"/>
              <a:gd name="connsiteX392" fmla="*/ 3898984 w 9635294"/>
              <a:gd name="connsiteY392" fmla="*/ 5266088 h 6211920"/>
              <a:gd name="connsiteX393" fmla="*/ 5733854 w 9635294"/>
              <a:gd name="connsiteY393" fmla="*/ 5260849 h 6211920"/>
              <a:gd name="connsiteX394" fmla="*/ 5739188 w 9635294"/>
              <a:gd name="connsiteY394" fmla="*/ 5264335 h 6211920"/>
              <a:gd name="connsiteX395" fmla="*/ 5739173 w 9635294"/>
              <a:gd name="connsiteY395" fmla="*/ 5264358 h 6211920"/>
              <a:gd name="connsiteX396" fmla="*/ 5733850 w 9635294"/>
              <a:gd name="connsiteY396" fmla="*/ 5260855 h 6211920"/>
              <a:gd name="connsiteX397" fmla="*/ 3906940 w 9635294"/>
              <a:gd name="connsiteY397" fmla="*/ 5260849 h 6211920"/>
              <a:gd name="connsiteX398" fmla="*/ 3906943 w 9635294"/>
              <a:gd name="connsiteY398" fmla="*/ 5260852 h 6211920"/>
              <a:gd name="connsiteX399" fmla="*/ 3901638 w 9635294"/>
              <a:gd name="connsiteY399" fmla="*/ 5264342 h 6211920"/>
              <a:gd name="connsiteX400" fmla="*/ 3901638 w 9635294"/>
              <a:gd name="connsiteY400" fmla="*/ 5264341 h 6211920"/>
              <a:gd name="connsiteX401" fmla="*/ 3909594 w 9635294"/>
              <a:gd name="connsiteY401" fmla="*/ 5259108 h 6211920"/>
              <a:gd name="connsiteX402" fmla="*/ 3916528 w 9635294"/>
              <a:gd name="connsiteY402" fmla="*/ 5269681 h 6211920"/>
              <a:gd name="connsiteX403" fmla="*/ 3920110 w 9635294"/>
              <a:gd name="connsiteY403" fmla="*/ 5275162 h 6211920"/>
              <a:gd name="connsiteX404" fmla="*/ 3917454 w 9635294"/>
              <a:gd name="connsiteY404" fmla="*/ 5276899 h 6211920"/>
              <a:gd name="connsiteX405" fmla="*/ 3913870 w 9635294"/>
              <a:gd name="connsiteY405" fmla="*/ 5271419 h 6211920"/>
              <a:gd name="connsiteX406" fmla="*/ 3913868 w 9635294"/>
              <a:gd name="connsiteY406" fmla="*/ 5271415 h 6211920"/>
              <a:gd name="connsiteX407" fmla="*/ 3906943 w 9635294"/>
              <a:gd name="connsiteY407" fmla="*/ 5260852 h 6211920"/>
              <a:gd name="connsiteX408" fmla="*/ 5731186 w 9635294"/>
              <a:gd name="connsiteY408" fmla="*/ 5259102 h 6211920"/>
              <a:gd name="connsiteX409" fmla="*/ 5733850 w 9635294"/>
              <a:gd name="connsiteY409" fmla="*/ 5260855 h 6211920"/>
              <a:gd name="connsiteX410" fmla="*/ 5726932 w 9635294"/>
              <a:gd name="connsiteY410" fmla="*/ 5271415 h 6211920"/>
              <a:gd name="connsiteX411" fmla="*/ 5726931 w 9635294"/>
              <a:gd name="connsiteY411" fmla="*/ 5271417 h 6211920"/>
              <a:gd name="connsiteX412" fmla="*/ 5723376 w 9635294"/>
              <a:gd name="connsiteY412" fmla="*/ 5276901 h 6211920"/>
              <a:gd name="connsiteX413" fmla="*/ 5725900 w 9635294"/>
              <a:gd name="connsiteY413" fmla="*/ 5278565 h 6211920"/>
              <a:gd name="connsiteX414" fmla="*/ 5720709 w 9635294"/>
              <a:gd name="connsiteY414" fmla="*/ 5275162 h 6211920"/>
              <a:gd name="connsiteX415" fmla="*/ 5724265 w 9635294"/>
              <a:gd name="connsiteY415" fmla="*/ 5269681 h 6211920"/>
              <a:gd name="connsiteX416" fmla="*/ 5731186 w 9635294"/>
              <a:gd name="connsiteY416" fmla="*/ 5259102 h 6211920"/>
              <a:gd name="connsiteX417" fmla="*/ 5749811 w 9635294"/>
              <a:gd name="connsiteY417" fmla="*/ 5240950 h 6211920"/>
              <a:gd name="connsiteX418" fmla="*/ 5753165 w 9635294"/>
              <a:gd name="connsiteY418" fmla="*/ 5243173 h 6211920"/>
              <a:gd name="connsiteX419" fmla="*/ 5753157 w 9635294"/>
              <a:gd name="connsiteY419" fmla="*/ 5243184 h 6211920"/>
              <a:gd name="connsiteX420" fmla="*/ 5767373 w 9635294"/>
              <a:gd name="connsiteY420" fmla="*/ 5221963 h 6211920"/>
              <a:gd name="connsiteX421" fmla="*/ 5769985 w 9635294"/>
              <a:gd name="connsiteY421" fmla="*/ 5223721 h 6211920"/>
              <a:gd name="connsiteX422" fmla="*/ 5755824 w 9635294"/>
              <a:gd name="connsiteY422" fmla="*/ 5244936 h 6211920"/>
              <a:gd name="connsiteX423" fmla="*/ 5753165 w 9635294"/>
              <a:gd name="connsiteY423" fmla="*/ 5243173 h 6211920"/>
              <a:gd name="connsiteX424" fmla="*/ 3878702 w 9635294"/>
              <a:gd name="connsiteY424" fmla="*/ 5218405 h 6211920"/>
              <a:gd name="connsiteX425" fmla="*/ 3873431 w 9635294"/>
              <a:gd name="connsiteY425" fmla="*/ 5221949 h 6211920"/>
              <a:gd name="connsiteX426" fmla="*/ 3887643 w 9635294"/>
              <a:gd name="connsiteY426" fmla="*/ 5243184 h 6211920"/>
              <a:gd name="connsiteX427" fmla="*/ 3892925 w 9635294"/>
              <a:gd name="connsiteY427" fmla="*/ 5239665 h 6211920"/>
              <a:gd name="connsiteX428" fmla="*/ 3878702 w 9635294"/>
              <a:gd name="connsiteY428" fmla="*/ 5218405 h 6211920"/>
              <a:gd name="connsiteX429" fmla="*/ 5762111 w 9635294"/>
              <a:gd name="connsiteY429" fmla="*/ 5218399 h 6211920"/>
              <a:gd name="connsiteX430" fmla="*/ 5767382 w 9635294"/>
              <a:gd name="connsiteY430" fmla="*/ 5221949 h 6211920"/>
              <a:gd name="connsiteX431" fmla="*/ 5767373 w 9635294"/>
              <a:gd name="connsiteY431" fmla="*/ 5221963 h 6211920"/>
              <a:gd name="connsiteX432" fmla="*/ 5762100 w 9635294"/>
              <a:gd name="connsiteY432" fmla="*/ 5218415 h 6211920"/>
              <a:gd name="connsiteX433" fmla="*/ 5759444 w 9635294"/>
              <a:gd name="connsiteY433" fmla="*/ 5216627 h 6211920"/>
              <a:gd name="connsiteX434" fmla="*/ 5762100 w 9635294"/>
              <a:gd name="connsiteY434" fmla="*/ 5218415 h 6211920"/>
              <a:gd name="connsiteX435" fmla="*/ 5747887 w 9635294"/>
              <a:gd name="connsiteY435" fmla="*/ 5239665 h 6211920"/>
              <a:gd name="connsiteX436" fmla="*/ 5749811 w 9635294"/>
              <a:gd name="connsiteY436" fmla="*/ 5240950 h 6211920"/>
              <a:gd name="connsiteX437" fmla="*/ 5745220 w 9635294"/>
              <a:gd name="connsiteY437" fmla="*/ 5237907 h 6211920"/>
              <a:gd name="connsiteX438" fmla="*/ 5759444 w 9635294"/>
              <a:gd name="connsiteY438" fmla="*/ 5216627 h 6211920"/>
              <a:gd name="connsiteX439" fmla="*/ 3881336 w 9635294"/>
              <a:gd name="connsiteY439" fmla="*/ 5216627 h 6211920"/>
              <a:gd name="connsiteX440" fmla="*/ 3895573 w 9635294"/>
              <a:gd name="connsiteY440" fmla="*/ 5237907 h 6211920"/>
              <a:gd name="connsiteX441" fmla="*/ 3885001 w 9635294"/>
              <a:gd name="connsiteY441" fmla="*/ 5244942 h 6211920"/>
              <a:gd name="connsiteX442" fmla="*/ 3870796 w 9635294"/>
              <a:gd name="connsiteY442" fmla="*/ 5223721 h 6211920"/>
              <a:gd name="connsiteX443" fmla="*/ 5778989 w 9635294"/>
              <a:gd name="connsiteY443" fmla="*/ 5199225 h 6211920"/>
              <a:gd name="connsiteX444" fmla="*/ 5781551 w 9635294"/>
              <a:gd name="connsiteY444" fmla="*/ 5200962 h 6211920"/>
              <a:gd name="connsiteX445" fmla="*/ 5781542 w 9635294"/>
              <a:gd name="connsiteY445" fmla="*/ 5200975 h 6211920"/>
              <a:gd name="connsiteX446" fmla="*/ 3847870 w 9635294"/>
              <a:gd name="connsiteY446" fmla="*/ 5177935 h 6211920"/>
              <a:gd name="connsiteX447" fmla="*/ 3844883 w 9635294"/>
              <a:gd name="connsiteY447" fmla="*/ 5179990 h 6211920"/>
              <a:gd name="connsiteX448" fmla="*/ 3844882 w 9635294"/>
              <a:gd name="connsiteY448" fmla="*/ 5179988 h 6211920"/>
              <a:gd name="connsiteX449" fmla="*/ 5788082 w 9635294"/>
              <a:gd name="connsiteY449" fmla="*/ 5174591 h 6211920"/>
              <a:gd name="connsiteX450" fmla="*/ 5798560 w 9635294"/>
              <a:gd name="connsiteY450" fmla="*/ 5181784 h 6211920"/>
              <a:gd name="connsiteX451" fmla="*/ 5784209 w 9635294"/>
              <a:gd name="connsiteY451" fmla="*/ 5202766 h 6211920"/>
              <a:gd name="connsiteX452" fmla="*/ 5781551 w 9635294"/>
              <a:gd name="connsiteY452" fmla="*/ 5200962 h 6211920"/>
              <a:gd name="connsiteX453" fmla="*/ 5795893 w 9635294"/>
              <a:gd name="connsiteY453" fmla="*/ 5179988 h 6211920"/>
              <a:gd name="connsiteX454" fmla="*/ 5790686 w 9635294"/>
              <a:gd name="connsiteY454" fmla="*/ 5176387 h 6211920"/>
              <a:gd name="connsiteX455" fmla="*/ 5776335 w 9635294"/>
              <a:gd name="connsiteY455" fmla="*/ 5197406 h 6211920"/>
              <a:gd name="connsiteX456" fmla="*/ 5778989 w 9635294"/>
              <a:gd name="connsiteY456" fmla="*/ 5199225 h 6211920"/>
              <a:gd name="connsiteX457" fmla="*/ 5773668 w 9635294"/>
              <a:gd name="connsiteY457" fmla="*/ 5195616 h 6211920"/>
              <a:gd name="connsiteX458" fmla="*/ 5788082 w 9635294"/>
              <a:gd name="connsiteY458" fmla="*/ 5174591 h 6211920"/>
              <a:gd name="connsiteX459" fmla="*/ 3852729 w 9635294"/>
              <a:gd name="connsiteY459" fmla="*/ 5174591 h 6211920"/>
              <a:gd name="connsiteX460" fmla="*/ 3867113 w 9635294"/>
              <a:gd name="connsiteY460" fmla="*/ 5195621 h 6211920"/>
              <a:gd name="connsiteX461" fmla="*/ 3856617 w 9635294"/>
              <a:gd name="connsiteY461" fmla="*/ 5202766 h 6211920"/>
              <a:gd name="connsiteX462" fmla="*/ 3842266 w 9635294"/>
              <a:gd name="connsiteY462" fmla="*/ 5181792 h 6211920"/>
              <a:gd name="connsiteX463" fmla="*/ 3844883 w 9635294"/>
              <a:gd name="connsiteY463" fmla="*/ 5179990 h 6211920"/>
              <a:gd name="connsiteX464" fmla="*/ 3859239 w 9635294"/>
              <a:gd name="connsiteY464" fmla="*/ 5200981 h 6211920"/>
              <a:gd name="connsiteX465" fmla="*/ 3864490 w 9635294"/>
              <a:gd name="connsiteY465" fmla="*/ 5197406 h 6211920"/>
              <a:gd name="connsiteX466" fmla="*/ 3850113 w 9635294"/>
              <a:gd name="connsiteY466" fmla="*/ 5176394 h 6211920"/>
              <a:gd name="connsiteX467" fmla="*/ 3847870 w 9635294"/>
              <a:gd name="connsiteY467" fmla="*/ 5177935 h 6211920"/>
              <a:gd name="connsiteX468" fmla="*/ 3832869 w 9635294"/>
              <a:gd name="connsiteY468" fmla="*/ 5157260 h 6211920"/>
              <a:gd name="connsiteX469" fmla="*/ 3830365 w 9635294"/>
              <a:gd name="connsiteY469" fmla="*/ 5159001 h 6211920"/>
              <a:gd name="connsiteX470" fmla="*/ 3830364 w 9635294"/>
              <a:gd name="connsiteY470" fmla="*/ 5158999 h 6211920"/>
              <a:gd name="connsiteX471" fmla="*/ 5805230 w 9635294"/>
              <a:gd name="connsiteY471" fmla="*/ 5155373 h 6211920"/>
              <a:gd name="connsiteX472" fmla="*/ 5807831 w 9635294"/>
              <a:gd name="connsiteY472" fmla="*/ 5157185 h 6211920"/>
              <a:gd name="connsiteX473" fmla="*/ 5805228 w 9635294"/>
              <a:gd name="connsiteY473" fmla="*/ 5155375 h 6211920"/>
              <a:gd name="connsiteX474" fmla="*/ 5822376 w 9635294"/>
              <a:gd name="connsiteY474" fmla="*/ 5136445 h 6211920"/>
              <a:gd name="connsiteX475" fmla="*/ 5827516 w 9635294"/>
              <a:gd name="connsiteY475" fmla="*/ 5140071 h 6211920"/>
              <a:gd name="connsiteX476" fmla="*/ 5813038 w 9635294"/>
              <a:gd name="connsiteY476" fmla="*/ 5160810 h 6211920"/>
              <a:gd name="connsiteX477" fmla="*/ 5807831 w 9635294"/>
              <a:gd name="connsiteY477" fmla="*/ 5157185 h 6211920"/>
              <a:gd name="connsiteX478" fmla="*/ 5810434 w 9635294"/>
              <a:gd name="connsiteY478" fmla="*/ 5158994 h 6211920"/>
              <a:gd name="connsiteX479" fmla="*/ 5824913 w 9635294"/>
              <a:gd name="connsiteY479" fmla="*/ 5138242 h 6211920"/>
              <a:gd name="connsiteX480" fmla="*/ 5819769 w 9635294"/>
              <a:gd name="connsiteY480" fmla="*/ 5134598 h 6211920"/>
              <a:gd name="connsiteX481" fmla="*/ 5822376 w 9635294"/>
              <a:gd name="connsiteY481" fmla="*/ 5136445 h 6211920"/>
              <a:gd name="connsiteX482" fmla="*/ 5819766 w 9635294"/>
              <a:gd name="connsiteY482" fmla="*/ 5134604 h 6211920"/>
              <a:gd name="connsiteX483" fmla="*/ 3823659 w 9635294"/>
              <a:gd name="connsiteY483" fmla="*/ 5132775 h 6211920"/>
              <a:gd name="connsiteX484" fmla="*/ 3838188 w 9635294"/>
              <a:gd name="connsiteY484" fmla="*/ 5153566 h 6211920"/>
              <a:gd name="connsiteX485" fmla="*/ 3832869 w 9635294"/>
              <a:gd name="connsiteY485" fmla="*/ 5157260 h 6211920"/>
              <a:gd name="connsiteX486" fmla="*/ 3835578 w 9635294"/>
              <a:gd name="connsiteY486" fmla="*/ 5155375 h 6211920"/>
              <a:gd name="connsiteX487" fmla="*/ 3821062 w 9635294"/>
              <a:gd name="connsiteY487" fmla="*/ 5134598 h 6211920"/>
              <a:gd name="connsiteX488" fmla="*/ 3815863 w 9635294"/>
              <a:gd name="connsiteY488" fmla="*/ 5138250 h 6211920"/>
              <a:gd name="connsiteX489" fmla="*/ 3830364 w 9635294"/>
              <a:gd name="connsiteY489" fmla="*/ 5158999 h 6211920"/>
              <a:gd name="connsiteX490" fmla="*/ 3827756 w 9635294"/>
              <a:gd name="connsiteY490" fmla="*/ 5160810 h 6211920"/>
              <a:gd name="connsiteX491" fmla="*/ 3813265 w 9635294"/>
              <a:gd name="connsiteY491" fmla="*/ 5140071 h 6211920"/>
              <a:gd name="connsiteX492" fmla="*/ 5817166 w 9635294"/>
              <a:gd name="connsiteY492" fmla="*/ 5132770 h 6211920"/>
              <a:gd name="connsiteX493" fmla="*/ 5819766 w 9635294"/>
              <a:gd name="connsiteY493" fmla="*/ 5134604 h 6211920"/>
              <a:gd name="connsiteX494" fmla="*/ 5805230 w 9635294"/>
              <a:gd name="connsiteY494" fmla="*/ 5155373 h 6211920"/>
              <a:gd name="connsiteX495" fmla="*/ 5802624 w 9635294"/>
              <a:gd name="connsiteY495" fmla="*/ 5153559 h 6211920"/>
              <a:gd name="connsiteX496" fmla="*/ 5817166 w 9635294"/>
              <a:gd name="connsiteY496" fmla="*/ 5132770 h 6211920"/>
              <a:gd name="connsiteX497" fmla="*/ 3806355 w 9635294"/>
              <a:gd name="connsiteY497" fmla="*/ 5113757 h 6211920"/>
              <a:gd name="connsiteX498" fmla="*/ 3806356 w 9635294"/>
              <a:gd name="connsiteY498" fmla="*/ 5113758 h 6211920"/>
              <a:gd name="connsiteX499" fmla="*/ 3805027 w 9635294"/>
              <a:gd name="connsiteY499" fmla="*/ 5114698 h 6211920"/>
              <a:gd name="connsiteX500" fmla="*/ 5834441 w 9635294"/>
              <a:gd name="connsiteY500" fmla="*/ 5113754 h 6211920"/>
              <a:gd name="connsiteX501" fmla="*/ 5839645 w 9635294"/>
              <a:gd name="connsiteY501" fmla="*/ 5117426 h 6211920"/>
              <a:gd name="connsiteX502" fmla="*/ 5839644 w 9635294"/>
              <a:gd name="connsiteY502" fmla="*/ 5117427 h 6211920"/>
              <a:gd name="connsiteX503" fmla="*/ 5834438 w 9635294"/>
              <a:gd name="connsiteY503" fmla="*/ 5113758 h 6211920"/>
              <a:gd name="connsiteX504" fmla="*/ 3786408 w 9635294"/>
              <a:gd name="connsiteY504" fmla="*/ 5096712 h 6211920"/>
              <a:gd name="connsiteX505" fmla="*/ 3801174 w 9635294"/>
              <a:gd name="connsiteY505" fmla="*/ 5117427 h 6211920"/>
              <a:gd name="connsiteX506" fmla="*/ 3805027 w 9635294"/>
              <a:gd name="connsiteY506" fmla="*/ 5114698 h 6211920"/>
              <a:gd name="connsiteX507" fmla="*/ 3798584 w 9635294"/>
              <a:gd name="connsiteY507" fmla="*/ 5119269 h 6211920"/>
              <a:gd name="connsiteX508" fmla="*/ 3783826 w 9635294"/>
              <a:gd name="connsiteY508" fmla="*/ 5098561 h 6211920"/>
              <a:gd name="connsiteX509" fmla="*/ 5851885 w 9635294"/>
              <a:gd name="connsiteY509" fmla="*/ 5094917 h 6211920"/>
              <a:gd name="connsiteX510" fmla="*/ 5856980 w 9635294"/>
              <a:gd name="connsiteY510" fmla="*/ 5098555 h 6211920"/>
              <a:gd name="connsiteX511" fmla="*/ 5842248 w 9635294"/>
              <a:gd name="connsiteY511" fmla="*/ 5119263 h 6211920"/>
              <a:gd name="connsiteX512" fmla="*/ 5839645 w 9635294"/>
              <a:gd name="connsiteY512" fmla="*/ 5117426 h 6211920"/>
              <a:gd name="connsiteX513" fmla="*/ 5854377 w 9635294"/>
              <a:gd name="connsiteY513" fmla="*/ 5096708 h 6211920"/>
              <a:gd name="connsiteX514" fmla="*/ 5849233 w 9635294"/>
              <a:gd name="connsiteY514" fmla="*/ 5093011 h 6211920"/>
              <a:gd name="connsiteX515" fmla="*/ 5851885 w 9635294"/>
              <a:gd name="connsiteY515" fmla="*/ 5094917 h 6211920"/>
              <a:gd name="connsiteX516" fmla="*/ 5849228 w 9635294"/>
              <a:gd name="connsiteY516" fmla="*/ 5093019 h 6211920"/>
              <a:gd name="connsiteX517" fmla="*/ 3791567 w 9635294"/>
              <a:gd name="connsiteY517" fmla="*/ 5093011 h 6211920"/>
              <a:gd name="connsiteX518" fmla="*/ 3791569 w 9635294"/>
              <a:gd name="connsiteY518" fmla="*/ 5093015 h 6211920"/>
              <a:gd name="connsiteX519" fmla="*/ 3786408 w 9635294"/>
              <a:gd name="connsiteY519" fmla="*/ 5096712 h 6211920"/>
              <a:gd name="connsiteX520" fmla="*/ 3786405 w 9635294"/>
              <a:gd name="connsiteY520" fmla="*/ 5096708 h 6211920"/>
              <a:gd name="connsiteX521" fmla="*/ 5846630 w 9635294"/>
              <a:gd name="connsiteY521" fmla="*/ 5091164 h 6211920"/>
              <a:gd name="connsiteX522" fmla="*/ 5849228 w 9635294"/>
              <a:gd name="connsiteY522" fmla="*/ 5093019 h 6211920"/>
              <a:gd name="connsiteX523" fmla="*/ 5834441 w 9635294"/>
              <a:gd name="connsiteY523" fmla="*/ 5113754 h 6211920"/>
              <a:gd name="connsiteX524" fmla="*/ 5831834 w 9635294"/>
              <a:gd name="connsiteY524" fmla="*/ 5111915 h 6211920"/>
              <a:gd name="connsiteX525" fmla="*/ 5846630 w 9635294"/>
              <a:gd name="connsiteY525" fmla="*/ 5091164 h 6211920"/>
              <a:gd name="connsiteX526" fmla="*/ 3794151 w 9635294"/>
              <a:gd name="connsiteY526" fmla="*/ 5091164 h 6211920"/>
              <a:gd name="connsiteX527" fmla="*/ 3808941 w 9635294"/>
              <a:gd name="connsiteY527" fmla="*/ 5111922 h 6211920"/>
              <a:gd name="connsiteX528" fmla="*/ 3806355 w 9635294"/>
              <a:gd name="connsiteY528" fmla="*/ 5113757 h 6211920"/>
              <a:gd name="connsiteX529" fmla="*/ 3791569 w 9635294"/>
              <a:gd name="connsiteY529" fmla="*/ 5093015 h 6211920"/>
              <a:gd name="connsiteX530" fmla="*/ 3776738 w 9635294"/>
              <a:gd name="connsiteY530" fmla="*/ 5072405 h 6211920"/>
              <a:gd name="connsiteX531" fmla="*/ 3776740 w 9635294"/>
              <a:gd name="connsiteY531" fmla="*/ 5072407 h 6211920"/>
              <a:gd name="connsiteX532" fmla="*/ 3771597 w 9635294"/>
              <a:gd name="connsiteY532" fmla="*/ 5076120 h 6211920"/>
              <a:gd name="connsiteX533" fmla="*/ 3771596 w 9635294"/>
              <a:gd name="connsiteY533" fmla="*/ 5076119 h 6211920"/>
              <a:gd name="connsiteX534" fmla="*/ 3756600 w 9635294"/>
              <a:gd name="connsiteY534" fmla="*/ 5055481 h 6211920"/>
              <a:gd name="connsiteX535" fmla="*/ 3771596 w 9635294"/>
              <a:gd name="connsiteY535" fmla="*/ 5076119 h 6211920"/>
              <a:gd name="connsiteX536" fmla="*/ 3769018 w 9635294"/>
              <a:gd name="connsiteY536" fmla="*/ 5077982 h 6211920"/>
              <a:gd name="connsiteX537" fmla="*/ 3754038 w 9635294"/>
              <a:gd name="connsiteY537" fmla="*/ 5057350 h 6211920"/>
              <a:gd name="connsiteX538" fmla="*/ 5881650 w 9635294"/>
              <a:gd name="connsiteY538" fmla="*/ 5053607 h 6211920"/>
              <a:gd name="connsiteX539" fmla="*/ 5884221 w 9635294"/>
              <a:gd name="connsiteY539" fmla="*/ 5055477 h 6211920"/>
              <a:gd name="connsiteX540" fmla="*/ 5884215 w 9635294"/>
              <a:gd name="connsiteY540" fmla="*/ 5055486 h 6211920"/>
              <a:gd name="connsiteX541" fmla="*/ 3761306 w 9635294"/>
              <a:gd name="connsiteY541" fmla="*/ 5052044 h 6211920"/>
              <a:gd name="connsiteX542" fmla="*/ 3756600 w 9635294"/>
              <a:gd name="connsiteY542" fmla="*/ 5055481 h 6211920"/>
              <a:gd name="connsiteX543" fmla="*/ 3756597 w 9635294"/>
              <a:gd name="connsiteY543" fmla="*/ 5055477 h 6211920"/>
              <a:gd name="connsiteX544" fmla="*/ 5876538 w 9635294"/>
              <a:gd name="connsiteY544" fmla="*/ 5049864 h 6211920"/>
              <a:gd name="connsiteX545" fmla="*/ 5881650 w 9635294"/>
              <a:gd name="connsiteY545" fmla="*/ 5053607 h 6211920"/>
              <a:gd name="connsiteX546" fmla="*/ 5879078 w 9635294"/>
              <a:gd name="connsiteY546" fmla="*/ 5051737 h 6211920"/>
              <a:gd name="connsiteX547" fmla="*/ 5864092 w 9635294"/>
              <a:gd name="connsiteY547" fmla="*/ 5072399 h 6211920"/>
              <a:gd name="connsiteX548" fmla="*/ 5869235 w 9635294"/>
              <a:gd name="connsiteY548" fmla="*/ 5076120 h 6211920"/>
              <a:gd name="connsiteX549" fmla="*/ 5884215 w 9635294"/>
              <a:gd name="connsiteY549" fmla="*/ 5055486 h 6211920"/>
              <a:gd name="connsiteX550" fmla="*/ 5886761 w 9635294"/>
              <a:gd name="connsiteY550" fmla="*/ 5057350 h 6211920"/>
              <a:gd name="connsiteX551" fmla="*/ 5871776 w 9635294"/>
              <a:gd name="connsiteY551" fmla="*/ 5077982 h 6211920"/>
              <a:gd name="connsiteX552" fmla="*/ 5861489 w 9635294"/>
              <a:gd name="connsiteY552" fmla="*/ 5070539 h 6211920"/>
              <a:gd name="connsiteX553" fmla="*/ 5876538 w 9635294"/>
              <a:gd name="connsiteY553" fmla="*/ 5049864 h 6211920"/>
              <a:gd name="connsiteX554" fmla="*/ 3764294 w 9635294"/>
              <a:gd name="connsiteY554" fmla="*/ 5049864 h 6211920"/>
              <a:gd name="connsiteX555" fmla="*/ 3779312 w 9635294"/>
              <a:gd name="connsiteY555" fmla="*/ 5070545 h 6211920"/>
              <a:gd name="connsiteX556" fmla="*/ 3776738 w 9635294"/>
              <a:gd name="connsiteY556" fmla="*/ 5072405 h 6211920"/>
              <a:gd name="connsiteX557" fmla="*/ 3761729 w 9635294"/>
              <a:gd name="connsiteY557" fmla="*/ 5051737 h 6211920"/>
              <a:gd name="connsiteX558" fmla="*/ 3761306 w 9635294"/>
              <a:gd name="connsiteY558" fmla="*/ 5052044 h 6211920"/>
              <a:gd name="connsiteX559" fmla="*/ 3746710 w 9635294"/>
              <a:gd name="connsiteY559" fmla="*/ 5031238 h 6211920"/>
              <a:gd name="connsiteX560" fmla="*/ 3746711 w 9635294"/>
              <a:gd name="connsiteY560" fmla="*/ 5031239 h 6211920"/>
              <a:gd name="connsiteX561" fmla="*/ 3744302 w 9635294"/>
              <a:gd name="connsiteY561" fmla="*/ 5033011 h 6211920"/>
              <a:gd name="connsiteX562" fmla="*/ 3729390 w 9635294"/>
              <a:gd name="connsiteY562" fmla="*/ 5012435 h 6211920"/>
              <a:gd name="connsiteX563" fmla="*/ 3726498 w 9635294"/>
              <a:gd name="connsiteY563" fmla="*/ 5014583 h 6211920"/>
              <a:gd name="connsiteX564" fmla="*/ 3741593 w 9635294"/>
              <a:gd name="connsiteY564" fmla="*/ 5035005 h 6211920"/>
              <a:gd name="connsiteX565" fmla="*/ 3744302 w 9635294"/>
              <a:gd name="connsiteY565" fmla="*/ 5033011 h 6211920"/>
              <a:gd name="connsiteX566" fmla="*/ 3739040 w 9635294"/>
              <a:gd name="connsiteY566" fmla="*/ 5036884 h 6211920"/>
              <a:gd name="connsiteX567" fmla="*/ 3723946 w 9635294"/>
              <a:gd name="connsiteY567" fmla="*/ 5016475 h 6211920"/>
              <a:gd name="connsiteX568" fmla="*/ 5909241 w 9635294"/>
              <a:gd name="connsiteY568" fmla="*/ 5010798 h 6211920"/>
              <a:gd name="connsiteX569" fmla="*/ 5914320 w 9635294"/>
              <a:gd name="connsiteY569" fmla="*/ 5014583 h 6211920"/>
              <a:gd name="connsiteX570" fmla="*/ 5914315 w 9635294"/>
              <a:gd name="connsiteY570" fmla="*/ 5014591 h 6211920"/>
              <a:gd name="connsiteX571" fmla="*/ 5909224 w 9635294"/>
              <a:gd name="connsiteY571" fmla="*/ 5010822 h 6211920"/>
              <a:gd name="connsiteX572" fmla="*/ 3731592 w 9635294"/>
              <a:gd name="connsiteY572" fmla="*/ 5010798 h 6211920"/>
              <a:gd name="connsiteX573" fmla="*/ 3731593 w 9635294"/>
              <a:gd name="connsiteY573" fmla="*/ 5010800 h 6211920"/>
              <a:gd name="connsiteX574" fmla="*/ 3729390 w 9635294"/>
              <a:gd name="connsiteY574" fmla="*/ 5012435 h 6211920"/>
              <a:gd name="connsiteX575" fmla="*/ 5906637 w 9635294"/>
              <a:gd name="connsiteY575" fmla="*/ 5008906 h 6211920"/>
              <a:gd name="connsiteX576" fmla="*/ 5909224 w 9635294"/>
              <a:gd name="connsiteY576" fmla="*/ 5010822 h 6211920"/>
              <a:gd name="connsiteX577" fmla="*/ 5894128 w 9635294"/>
              <a:gd name="connsiteY577" fmla="*/ 5031239 h 6211920"/>
              <a:gd name="connsiteX578" fmla="*/ 5899207 w 9635294"/>
              <a:gd name="connsiteY578" fmla="*/ 5035005 h 6211920"/>
              <a:gd name="connsiteX579" fmla="*/ 5914315 w 9635294"/>
              <a:gd name="connsiteY579" fmla="*/ 5014591 h 6211920"/>
              <a:gd name="connsiteX580" fmla="*/ 5916860 w 9635294"/>
              <a:gd name="connsiteY580" fmla="*/ 5016475 h 6211920"/>
              <a:gd name="connsiteX581" fmla="*/ 5901747 w 9635294"/>
              <a:gd name="connsiteY581" fmla="*/ 5036884 h 6211920"/>
              <a:gd name="connsiteX582" fmla="*/ 5891524 w 9635294"/>
              <a:gd name="connsiteY582" fmla="*/ 5029353 h 6211920"/>
              <a:gd name="connsiteX583" fmla="*/ 5906637 w 9635294"/>
              <a:gd name="connsiteY583" fmla="*/ 5008906 h 6211920"/>
              <a:gd name="connsiteX584" fmla="*/ 3734144 w 9635294"/>
              <a:gd name="connsiteY584" fmla="*/ 5008906 h 6211920"/>
              <a:gd name="connsiteX585" fmla="*/ 3749263 w 9635294"/>
              <a:gd name="connsiteY585" fmla="*/ 5029360 h 6211920"/>
              <a:gd name="connsiteX586" fmla="*/ 3746710 w 9635294"/>
              <a:gd name="connsiteY586" fmla="*/ 5031238 h 6211920"/>
              <a:gd name="connsiteX587" fmla="*/ 3731593 w 9635294"/>
              <a:gd name="connsiteY587" fmla="*/ 5010800 h 6211920"/>
              <a:gd name="connsiteX588" fmla="*/ 5924482 w 9635294"/>
              <a:gd name="connsiteY588" fmla="*/ 4990306 h 6211920"/>
              <a:gd name="connsiteX589" fmla="*/ 5926939 w 9635294"/>
              <a:gd name="connsiteY589" fmla="*/ 4992148 h 6211920"/>
              <a:gd name="connsiteX590" fmla="*/ 5924481 w 9635294"/>
              <a:gd name="connsiteY590" fmla="*/ 4990307 h 6211920"/>
              <a:gd name="connsiteX591" fmla="*/ 3716312 w 9635294"/>
              <a:gd name="connsiteY591" fmla="*/ 4990305 h 6211920"/>
              <a:gd name="connsiteX592" fmla="*/ 3716314 w 9635294"/>
              <a:gd name="connsiteY592" fmla="*/ 4990307 h 6211920"/>
              <a:gd name="connsiteX593" fmla="*/ 3711227 w 9635294"/>
              <a:gd name="connsiteY593" fmla="*/ 4994116 h 6211920"/>
              <a:gd name="connsiteX594" fmla="*/ 3711225 w 9635294"/>
              <a:gd name="connsiteY594" fmla="*/ 4994114 h 6211920"/>
              <a:gd name="connsiteX595" fmla="*/ 3699046 w 9635294"/>
              <a:gd name="connsiteY595" fmla="*/ 4971554 h 6211920"/>
              <a:gd name="connsiteX596" fmla="*/ 3695992 w 9635294"/>
              <a:gd name="connsiteY596" fmla="*/ 4973860 h 6211920"/>
              <a:gd name="connsiteX597" fmla="*/ 3711225 w 9635294"/>
              <a:gd name="connsiteY597" fmla="*/ 4994114 h 6211920"/>
              <a:gd name="connsiteX598" fmla="*/ 3708686 w 9635294"/>
              <a:gd name="connsiteY598" fmla="*/ 4996016 h 6211920"/>
              <a:gd name="connsiteX599" fmla="*/ 3693459 w 9635294"/>
              <a:gd name="connsiteY599" fmla="*/ 4975771 h 6211920"/>
              <a:gd name="connsiteX600" fmla="*/ 3701061 w 9635294"/>
              <a:gd name="connsiteY600" fmla="*/ 4970032 h 6211920"/>
              <a:gd name="connsiteX601" fmla="*/ 3701061 w 9635294"/>
              <a:gd name="connsiteY601" fmla="*/ 4970032 h 6211920"/>
              <a:gd name="connsiteX602" fmla="*/ 3699046 w 9635294"/>
              <a:gd name="connsiteY602" fmla="*/ 4971554 h 6211920"/>
              <a:gd name="connsiteX603" fmla="*/ 5937181 w 9635294"/>
              <a:gd name="connsiteY603" fmla="*/ 4968119 h 6211920"/>
              <a:gd name="connsiteX604" fmla="*/ 5947341 w 9635294"/>
              <a:gd name="connsiteY604" fmla="*/ 4975771 h 6211920"/>
              <a:gd name="connsiteX605" fmla="*/ 5932101 w 9635294"/>
              <a:gd name="connsiteY605" fmla="*/ 4996016 h 6211920"/>
              <a:gd name="connsiteX606" fmla="*/ 5926939 w 9635294"/>
              <a:gd name="connsiteY606" fmla="*/ 4992148 h 6211920"/>
              <a:gd name="connsiteX607" fmla="*/ 5929560 w 9635294"/>
              <a:gd name="connsiteY607" fmla="*/ 4994111 h 6211920"/>
              <a:gd name="connsiteX608" fmla="*/ 5944801 w 9635294"/>
              <a:gd name="connsiteY608" fmla="*/ 4973860 h 6211920"/>
              <a:gd name="connsiteX609" fmla="*/ 5939720 w 9635294"/>
              <a:gd name="connsiteY609" fmla="*/ 4970032 h 6211920"/>
              <a:gd name="connsiteX610" fmla="*/ 5924482 w 9635294"/>
              <a:gd name="connsiteY610" fmla="*/ 4990306 h 6211920"/>
              <a:gd name="connsiteX611" fmla="*/ 5921941 w 9635294"/>
              <a:gd name="connsiteY611" fmla="*/ 4988402 h 6211920"/>
              <a:gd name="connsiteX612" fmla="*/ 5937181 w 9635294"/>
              <a:gd name="connsiteY612" fmla="*/ 4968119 h 6211920"/>
              <a:gd name="connsiteX613" fmla="*/ 3703595 w 9635294"/>
              <a:gd name="connsiteY613" fmla="*/ 4968119 h 6211920"/>
              <a:gd name="connsiteX614" fmla="*/ 3718852 w 9635294"/>
              <a:gd name="connsiteY614" fmla="*/ 4988402 h 6211920"/>
              <a:gd name="connsiteX615" fmla="*/ 3716312 w 9635294"/>
              <a:gd name="connsiteY615" fmla="*/ 4990305 h 6211920"/>
              <a:gd name="connsiteX616" fmla="*/ 3701061 w 9635294"/>
              <a:gd name="connsiteY616" fmla="*/ 4970032 h 6211920"/>
              <a:gd name="connsiteX617" fmla="*/ 3685687 w 9635294"/>
              <a:gd name="connsiteY617" fmla="*/ 4949762 h 6211920"/>
              <a:gd name="connsiteX618" fmla="*/ 3685688 w 9635294"/>
              <a:gd name="connsiteY618" fmla="*/ 4949763 h 6211920"/>
              <a:gd name="connsiteX619" fmla="*/ 3680633 w 9635294"/>
              <a:gd name="connsiteY619" fmla="*/ 4953610 h 6211920"/>
              <a:gd name="connsiteX620" fmla="*/ 3680632 w 9635294"/>
              <a:gd name="connsiteY620" fmla="*/ 4953610 h 6211920"/>
              <a:gd name="connsiteX621" fmla="*/ 5955106 w 9635294"/>
              <a:gd name="connsiteY621" fmla="*/ 4949739 h 6211920"/>
              <a:gd name="connsiteX622" fmla="*/ 5960173 w 9635294"/>
              <a:gd name="connsiteY622" fmla="*/ 4953598 h 6211920"/>
              <a:gd name="connsiteX623" fmla="*/ 5960168 w 9635294"/>
              <a:gd name="connsiteY623" fmla="*/ 4953604 h 6211920"/>
              <a:gd name="connsiteX624" fmla="*/ 5955088 w 9635294"/>
              <a:gd name="connsiteY624" fmla="*/ 4949763 h 6211920"/>
              <a:gd name="connsiteX625" fmla="*/ 3668263 w 9635294"/>
              <a:gd name="connsiteY625" fmla="*/ 4930891 h 6211920"/>
              <a:gd name="connsiteX626" fmla="*/ 3665114 w 9635294"/>
              <a:gd name="connsiteY626" fmla="*/ 4933310 h 6211920"/>
              <a:gd name="connsiteX627" fmla="*/ 3680632 w 9635294"/>
              <a:gd name="connsiteY627" fmla="*/ 4953610 h 6211920"/>
              <a:gd name="connsiteX628" fmla="*/ 3678105 w 9635294"/>
              <a:gd name="connsiteY628" fmla="*/ 4955534 h 6211920"/>
              <a:gd name="connsiteX629" fmla="*/ 3662592 w 9635294"/>
              <a:gd name="connsiteY629" fmla="*/ 4935240 h 6211920"/>
              <a:gd name="connsiteX630" fmla="*/ 5972351 w 9635294"/>
              <a:gd name="connsiteY630" fmla="*/ 4930758 h 6211920"/>
              <a:gd name="connsiteX631" fmla="*/ 5978202 w 9635294"/>
              <a:gd name="connsiteY631" fmla="*/ 4935240 h 6211920"/>
              <a:gd name="connsiteX632" fmla="*/ 5962707 w 9635294"/>
              <a:gd name="connsiteY632" fmla="*/ 4955528 h 6211920"/>
              <a:gd name="connsiteX633" fmla="*/ 5960173 w 9635294"/>
              <a:gd name="connsiteY633" fmla="*/ 4953598 h 6211920"/>
              <a:gd name="connsiteX634" fmla="*/ 5975661 w 9635294"/>
              <a:gd name="connsiteY634" fmla="*/ 4933310 h 6211920"/>
              <a:gd name="connsiteX635" fmla="*/ 5970645 w 9635294"/>
              <a:gd name="connsiteY635" fmla="*/ 4929442 h 6211920"/>
              <a:gd name="connsiteX636" fmla="*/ 5972351 w 9635294"/>
              <a:gd name="connsiteY636" fmla="*/ 4930758 h 6211920"/>
              <a:gd name="connsiteX637" fmla="*/ 5970641 w 9635294"/>
              <a:gd name="connsiteY637" fmla="*/ 4929448 h 6211920"/>
              <a:gd name="connsiteX638" fmla="*/ 3670148 w 9635294"/>
              <a:gd name="connsiteY638" fmla="*/ 4929442 h 6211920"/>
              <a:gd name="connsiteX639" fmla="*/ 3670150 w 9635294"/>
              <a:gd name="connsiteY639" fmla="*/ 4929444 h 6211920"/>
              <a:gd name="connsiteX640" fmla="*/ 3668263 w 9635294"/>
              <a:gd name="connsiteY640" fmla="*/ 4930891 h 6211920"/>
              <a:gd name="connsiteX641" fmla="*/ 3672670 w 9635294"/>
              <a:gd name="connsiteY641" fmla="*/ 4927512 h 6211920"/>
              <a:gd name="connsiteX642" fmla="*/ 3688214 w 9635294"/>
              <a:gd name="connsiteY642" fmla="*/ 4947838 h 6211920"/>
              <a:gd name="connsiteX643" fmla="*/ 3685687 w 9635294"/>
              <a:gd name="connsiteY643" fmla="*/ 4949762 h 6211920"/>
              <a:gd name="connsiteX644" fmla="*/ 3670150 w 9635294"/>
              <a:gd name="connsiteY644" fmla="*/ 4929444 h 6211920"/>
              <a:gd name="connsiteX645" fmla="*/ 5968105 w 9635294"/>
              <a:gd name="connsiteY645" fmla="*/ 4927505 h 6211920"/>
              <a:gd name="connsiteX646" fmla="*/ 5970641 w 9635294"/>
              <a:gd name="connsiteY646" fmla="*/ 4929448 h 6211920"/>
              <a:gd name="connsiteX647" fmla="*/ 5955106 w 9635294"/>
              <a:gd name="connsiteY647" fmla="*/ 4949739 h 6211920"/>
              <a:gd name="connsiteX648" fmla="*/ 5952611 w 9635294"/>
              <a:gd name="connsiteY648" fmla="*/ 4947838 h 6211920"/>
              <a:gd name="connsiteX649" fmla="*/ 5968105 w 9635294"/>
              <a:gd name="connsiteY649" fmla="*/ 4927505 h 6211920"/>
              <a:gd name="connsiteX650" fmla="*/ 3654684 w 9635294"/>
              <a:gd name="connsiteY650" fmla="*/ 4909373 h 6211920"/>
              <a:gd name="connsiteX651" fmla="*/ 3654686 w 9635294"/>
              <a:gd name="connsiteY651" fmla="*/ 4909377 h 6211920"/>
              <a:gd name="connsiteX652" fmla="*/ 3649664 w 9635294"/>
              <a:gd name="connsiteY652" fmla="*/ 4913256 h 6211920"/>
              <a:gd name="connsiteX653" fmla="*/ 3649663 w 9635294"/>
              <a:gd name="connsiteY653" fmla="*/ 4913255 h 6211920"/>
              <a:gd name="connsiteX654" fmla="*/ 3636567 w 9635294"/>
              <a:gd name="connsiteY654" fmla="*/ 4891219 h 6211920"/>
              <a:gd name="connsiteX655" fmla="*/ 3634062 w 9635294"/>
              <a:gd name="connsiteY655" fmla="*/ 4893172 h 6211920"/>
              <a:gd name="connsiteX656" fmla="*/ 3649663 w 9635294"/>
              <a:gd name="connsiteY656" fmla="*/ 4913255 h 6211920"/>
              <a:gd name="connsiteX657" fmla="*/ 3647149 w 9635294"/>
              <a:gd name="connsiteY657" fmla="*/ 4915199 h 6211920"/>
              <a:gd name="connsiteX658" fmla="*/ 3631560 w 9635294"/>
              <a:gd name="connsiteY658" fmla="*/ 4895120 h 6211920"/>
              <a:gd name="connsiteX659" fmla="*/ 6001760 w 9635294"/>
              <a:gd name="connsiteY659" fmla="*/ 4889266 h 6211920"/>
              <a:gd name="connsiteX660" fmla="*/ 6004226 w 9635294"/>
              <a:gd name="connsiteY660" fmla="*/ 4891210 h 6211920"/>
              <a:gd name="connsiteX661" fmla="*/ 6001747 w 9635294"/>
              <a:gd name="connsiteY661" fmla="*/ 4889282 h 6211920"/>
              <a:gd name="connsiteX662" fmla="*/ 3639072 w 9635294"/>
              <a:gd name="connsiteY662" fmla="*/ 4889266 h 6211920"/>
              <a:gd name="connsiteX663" fmla="*/ 3639072 w 9635294"/>
              <a:gd name="connsiteY663" fmla="*/ 4889266 h 6211920"/>
              <a:gd name="connsiteX664" fmla="*/ 3636567 w 9635294"/>
              <a:gd name="connsiteY664" fmla="*/ 4891219 h 6211920"/>
              <a:gd name="connsiteX665" fmla="*/ 5999220 w 9635294"/>
              <a:gd name="connsiteY665" fmla="*/ 4887317 h 6211920"/>
              <a:gd name="connsiteX666" fmla="*/ 6001747 w 9635294"/>
              <a:gd name="connsiteY666" fmla="*/ 4889282 h 6211920"/>
              <a:gd name="connsiteX667" fmla="*/ 5986139 w 9635294"/>
              <a:gd name="connsiteY667" fmla="*/ 4909370 h 6211920"/>
              <a:gd name="connsiteX668" fmla="*/ 5991156 w 9635294"/>
              <a:gd name="connsiteY668" fmla="*/ 4913256 h 6211920"/>
              <a:gd name="connsiteX669" fmla="*/ 6006713 w 9635294"/>
              <a:gd name="connsiteY669" fmla="*/ 4893172 h 6211920"/>
              <a:gd name="connsiteX670" fmla="*/ 6004226 w 9635294"/>
              <a:gd name="connsiteY670" fmla="*/ 4891210 h 6211920"/>
              <a:gd name="connsiteX671" fmla="*/ 6009253 w 9635294"/>
              <a:gd name="connsiteY671" fmla="*/ 4895120 h 6211920"/>
              <a:gd name="connsiteX672" fmla="*/ 5993632 w 9635294"/>
              <a:gd name="connsiteY672" fmla="*/ 4915199 h 6211920"/>
              <a:gd name="connsiteX673" fmla="*/ 5983599 w 9635294"/>
              <a:gd name="connsiteY673" fmla="*/ 4907426 h 6211920"/>
              <a:gd name="connsiteX674" fmla="*/ 5999220 w 9635294"/>
              <a:gd name="connsiteY674" fmla="*/ 4887317 h 6211920"/>
              <a:gd name="connsiteX675" fmla="*/ 3641574 w 9635294"/>
              <a:gd name="connsiteY675" fmla="*/ 4887317 h 6211920"/>
              <a:gd name="connsiteX676" fmla="*/ 3657194 w 9635294"/>
              <a:gd name="connsiteY676" fmla="*/ 4907432 h 6211920"/>
              <a:gd name="connsiteX677" fmla="*/ 3654684 w 9635294"/>
              <a:gd name="connsiteY677" fmla="*/ 4909373 h 6211920"/>
              <a:gd name="connsiteX678" fmla="*/ 3639072 w 9635294"/>
              <a:gd name="connsiteY678" fmla="*/ 4889266 h 6211920"/>
              <a:gd name="connsiteX679" fmla="*/ 3620558 w 9635294"/>
              <a:gd name="connsiteY679" fmla="*/ 4871306 h 6211920"/>
              <a:gd name="connsiteX680" fmla="*/ 3618327 w 9635294"/>
              <a:gd name="connsiteY680" fmla="*/ 4873061 h 6211920"/>
              <a:gd name="connsiteX681" fmla="*/ 3618325 w 9635294"/>
              <a:gd name="connsiteY681" fmla="*/ 4873059 h 6211920"/>
              <a:gd name="connsiteX682" fmla="*/ 6019974 w 9635294"/>
              <a:gd name="connsiteY682" fmla="*/ 4871090 h 6211920"/>
              <a:gd name="connsiteX683" fmla="*/ 6022473 w 9635294"/>
              <a:gd name="connsiteY683" fmla="*/ 4873045 h 6211920"/>
              <a:gd name="connsiteX684" fmla="*/ 6022461 w 9635294"/>
              <a:gd name="connsiteY684" fmla="*/ 4873061 h 6211920"/>
              <a:gd name="connsiteX685" fmla="*/ 6038143 w 9635294"/>
              <a:gd name="connsiteY685" fmla="*/ 4853175 h 6211920"/>
              <a:gd name="connsiteX686" fmla="*/ 6040622 w 9635294"/>
              <a:gd name="connsiteY686" fmla="*/ 4855148 h 6211920"/>
              <a:gd name="connsiteX687" fmla="*/ 6025001 w 9635294"/>
              <a:gd name="connsiteY687" fmla="*/ 4875023 h 6211920"/>
              <a:gd name="connsiteX688" fmla="*/ 6022473 w 9635294"/>
              <a:gd name="connsiteY688" fmla="*/ 4873045 h 6211920"/>
              <a:gd name="connsiteX689" fmla="*/ 3605134 w 9635294"/>
              <a:gd name="connsiteY689" fmla="*/ 4851210 h 6211920"/>
              <a:gd name="connsiteX690" fmla="*/ 3602648 w 9635294"/>
              <a:gd name="connsiteY690" fmla="*/ 4853178 h 6211920"/>
              <a:gd name="connsiteX691" fmla="*/ 3618325 w 9635294"/>
              <a:gd name="connsiteY691" fmla="*/ 4873059 h 6211920"/>
              <a:gd name="connsiteX692" fmla="*/ 3615825 w 9635294"/>
              <a:gd name="connsiteY692" fmla="*/ 4875023 h 6211920"/>
              <a:gd name="connsiteX693" fmla="*/ 3600158 w 9635294"/>
              <a:gd name="connsiteY693" fmla="*/ 4855148 h 6211920"/>
              <a:gd name="connsiteX694" fmla="*/ 6033193 w 9635294"/>
              <a:gd name="connsiteY694" fmla="*/ 4849235 h 6211920"/>
              <a:gd name="connsiteX695" fmla="*/ 6038145 w 9635294"/>
              <a:gd name="connsiteY695" fmla="*/ 4853173 h 6211920"/>
              <a:gd name="connsiteX696" fmla="*/ 6038143 w 9635294"/>
              <a:gd name="connsiteY696" fmla="*/ 4853175 h 6211920"/>
              <a:gd name="connsiteX697" fmla="*/ 6033192 w 9635294"/>
              <a:gd name="connsiteY697" fmla="*/ 4849237 h 6211920"/>
              <a:gd name="connsiteX698" fmla="*/ 3607627 w 9635294"/>
              <a:gd name="connsiteY698" fmla="*/ 4849235 h 6211920"/>
              <a:gd name="connsiteX699" fmla="*/ 3607627 w 9635294"/>
              <a:gd name="connsiteY699" fmla="*/ 4849236 h 6211920"/>
              <a:gd name="connsiteX700" fmla="*/ 3605134 w 9635294"/>
              <a:gd name="connsiteY700" fmla="*/ 4851210 h 6211920"/>
              <a:gd name="connsiteX701" fmla="*/ 6030716 w 9635294"/>
              <a:gd name="connsiteY701" fmla="*/ 4847267 h 6211920"/>
              <a:gd name="connsiteX702" fmla="*/ 6033192 w 9635294"/>
              <a:gd name="connsiteY702" fmla="*/ 4849237 h 6211920"/>
              <a:gd name="connsiteX703" fmla="*/ 6017508 w 9635294"/>
              <a:gd name="connsiteY703" fmla="*/ 4869136 h 6211920"/>
              <a:gd name="connsiteX704" fmla="*/ 6019974 w 9635294"/>
              <a:gd name="connsiteY704" fmla="*/ 4871090 h 6211920"/>
              <a:gd name="connsiteX705" fmla="*/ 6014968 w 9635294"/>
              <a:gd name="connsiteY705" fmla="*/ 4867174 h 6211920"/>
              <a:gd name="connsiteX706" fmla="*/ 6030716 w 9635294"/>
              <a:gd name="connsiteY706" fmla="*/ 4847267 h 6211920"/>
              <a:gd name="connsiteX707" fmla="*/ 3610115 w 9635294"/>
              <a:gd name="connsiteY707" fmla="*/ 4847267 h 6211920"/>
              <a:gd name="connsiteX708" fmla="*/ 3625813 w 9635294"/>
              <a:gd name="connsiteY708" fmla="*/ 4867180 h 6211920"/>
              <a:gd name="connsiteX709" fmla="*/ 3620558 w 9635294"/>
              <a:gd name="connsiteY709" fmla="*/ 4871306 h 6211920"/>
              <a:gd name="connsiteX710" fmla="*/ 3623317 w 9635294"/>
              <a:gd name="connsiteY710" fmla="*/ 4869136 h 6211920"/>
              <a:gd name="connsiteX711" fmla="*/ 3607627 w 9635294"/>
              <a:gd name="connsiteY711" fmla="*/ 4849236 h 6211920"/>
              <a:gd name="connsiteX712" fmla="*/ 6051481 w 9635294"/>
              <a:gd name="connsiteY712" fmla="*/ 4831272 h 6211920"/>
              <a:gd name="connsiteX713" fmla="*/ 6053959 w 9635294"/>
              <a:gd name="connsiteY713" fmla="*/ 4833251 h 6211920"/>
              <a:gd name="connsiteX714" fmla="*/ 6053957 w 9635294"/>
              <a:gd name="connsiteY714" fmla="*/ 4833253 h 6211920"/>
              <a:gd name="connsiteX715" fmla="*/ 3591789 w 9635294"/>
              <a:gd name="connsiteY715" fmla="*/ 4829296 h 6211920"/>
              <a:gd name="connsiteX716" fmla="*/ 3591790 w 9635294"/>
              <a:gd name="connsiteY716" fmla="*/ 4829296 h 6211920"/>
              <a:gd name="connsiteX717" fmla="*/ 3589307 w 9635294"/>
              <a:gd name="connsiteY717" fmla="*/ 4831274 h 6211920"/>
              <a:gd name="connsiteX718" fmla="*/ 3570879 w 9635294"/>
              <a:gd name="connsiteY718" fmla="*/ 4813320 h 6211920"/>
              <a:gd name="connsiteX719" fmla="*/ 3586824 w 9635294"/>
              <a:gd name="connsiteY719" fmla="*/ 4833253 h 6211920"/>
              <a:gd name="connsiteX720" fmla="*/ 3589307 w 9635294"/>
              <a:gd name="connsiteY720" fmla="*/ 4831274 h 6211920"/>
              <a:gd name="connsiteX721" fmla="*/ 3584341 w 9635294"/>
              <a:gd name="connsiteY721" fmla="*/ 4835233 h 6211920"/>
              <a:gd name="connsiteX722" fmla="*/ 3568403 w 9635294"/>
              <a:gd name="connsiteY722" fmla="*/ 4815308 h 6211920"/>
              <a:gd name="connsiteX723" fmla="*/ 6069894 w 9635294"/>
              <a:gd name="connsiteY723" fmla="*/ 4813318 h 6211920"/>
              <a:gd name="connsiteX724" fmla="*/ 6072372 w 9635294"/>
              <a:gd name="connsiteY724" fmla="*/ 4815308 h 6211920"/>
              <a:gd name="connsiteX725" fmla="*/ 6056433 w 9635294"/>
              <a:gd name="connsiteY725" fmla="*/ 4835228 h 6211920"/>
              <a:gd name="connsiteX726" fmla="*/ 6053959 w 9635294"/>
              <a:gd name="connsiteY726" fmla="*/ 4833251 h 6211920"/>
              <a:gd name="connsiteX727" fmla="*/ 6069895 w 9635294"/>
              <a:gd name="connsiteY727" fmla="*/ 4813319 h 6211920"/>
              <a:gd name="connsiteX728" fmla="*/ 3575831 w 9635294"/>
              <a:gd name="connsiteY728" fmla="*/ 4809346 h 6211920"/>
              <a:gd name="connsiteX729" fmla="*/ 3570879 w 9635294"/>
              <a:gd name="connsiteY729" fmla="*/ 4813320 h 6211920"/>
              <a:gd name="connsiteX730" fmla="*/ 3570879 w 9635294"/>
              <a:gd name="connsiteY730" fmla="*/ 4813319 h 6211920"/>
              <a:gd name="connsiteX731" fmla="*/ 6064943 w 9635294"/>
              <a:gd name="connsiteY731" fmla="*/ 4809344 h 6211920"/>
              <a:gd name="connsiteX732" fmla="*/ 6069894 w 9635294"/>
              <a:gd name="connsiteY732" fmla="*/ 4813318 h 6211920"/>
              <a:gd name="connsiteX733" fmla="*/ 6064943 w 9635294"/>
              <a:gd name="connsiteY733" fmla="*/ 4809345 h 6211920"/>
              <a:gd name="connsiteX734" fmla="*/ 6062466 w 9635294"/>
              <a:gd name="connsiteY734" fmla="*/ 4807357 h 6211920"/>
              <a:gd name="connsiteX735" fmla="*/ 6064943 w 9635294"/>
              <a:gd name="connsiteY735" fmla="*/ 4809345 h 6211920"/>
              <a:gd name="connsiteX736" fmla="*/ 6049004 w 9635294"/>
              <a:gd name="connsiteY736" fmla="*/ 4829291 h 6211920"/>
              <a:gd name="connsiteX737" fmla="*/ 6051481 w 9635294"/>
              <a:gd name="connsiteY737" fmla="*/ 4831272 h 6211920"/>
              <a:gd name="connsiteX738" fmla="*/ 6046528 w 9635294"/>
              <a:gd name="connsiteY738" fmla="*/ 4827315 h 6211920"/>
              <a:gd name="connsiteX739" fmla="*/ 6062466 w 9635294"/>
              <a:gd name="connsiteY739" fmla="*/ 4807357 h 6211920"/>
              <a:gd name="connsiteX740" fmla="*/ 3578308 w 9635294"/>
              <a:gd name="connsiteY740" fmla="*/ 4807357 h 6211920"/>
              <a:gd name="connsiteX741" fmla="*/ 3594273 w 9635294"/>
              <a:gd name="connsiteY741" fmla="*/ 4827315 h 6211920"/>
              <a:gd name="connsiteX742" fmla="*/ 3591789 w 9635294"/>
              <a:gd name="connsiteY742" fmla="*/ 4829296 h 6211920"/>
              <a:gd name="connsiteX743" fmla="*/ 3575833 w 9635294"/>
              <a:gd name="connsiteY743" fmla="*/ 4809344 h 6211920"/>
              <a:gd name="connsiteX744" fmla="*/ 3575831 w 9635294"/>
              <a:gd name="connsiteY744" fmla="*/ 4809346 h 6211920"/>
              <a:gd name="connsiteX745" fmla="*/ 3557569 w 9635294"/>
              <a:gd name="connsiteY745" fmla="*/ 4791510 h 6211920"/>
              <a:gd name="connsiteX746" fmla="*/ 3554991 w 9635294"/>
              <a:gd name="connsiteY746" fmla="*/ 4793596 h 6211920"/>
              <a:gd name="connsiteX747" fmla="*/ 3554990 w 9635294"/>
              <a:gd name="connsiteY747" fmla="*/ 4793595 h 6211920"/>
              <a:gd name="connsiteX748" fmla="*/ 3538961 w 9635294"/>
              <a:gd name="connsiteY748" fmla="*/ 4773833 h 6211920"/>
              <a:gd name="connsiteX749" fmla="*/ 3554990 w 9635294"/>
              <a:gd name="connsiteY749" fmla="*/ 4793595 h 6211920"/>
              <a:gd name="connsiteX750" fmla="*/ 3552521 w 9635294"/>
              <a:gd name="connsiteY750" fmla="*/ 4795590 h 6211920"/>
              <a:gd name="connsiteX751" fmla="*/ 3536499 w 9635294"/>
              <a:gd name="connsiteY751" fmla="*/ 4775836 h 6211920"/>
              <a:gd name="connsiteX752" fmla="*/ 6096946 w 9635294"/>
              <a:gd name="connsiteY752" fmla="*/ 4769823 h 6211920"/>
              <a:gd name="connsiteX753" fmla="*/ 6099165 w 9635294"/>
              <a:gd name="connsiteY753" fmla="*/ 4771641 h 6211920"/>
              <a:gd name="connsiteX754" fmla="*/ 6096941 w 9635294"/>
              <a:gd name="connsiteY754" fmla="*/ 4769829 h 6211920"/>
              <a:gd name="connsiteX755" fmla="*/ 3543885 w 9635294"/>
              <a:gd name="connsiteY755" fmla="*/ 4769823 h 6211920"/>
              <a:gd name="connsiteX756" fmla="*/ 3543887 w 9635294"/>
              <a:gd name="connsiteY756" fmla="*/ 4769825 h 6211920"/>
              <a:gd name="connsiteX757" fmla="*/ 3538961 w 9635294"/>
              <a:gd name="connsiteY757" fmla="*/ 4773833 h 6211920"/>
              <a:gd name="connsiteX758" fmla="*/ 3538958 w 9635294"/>
              <a:gd name="connsiteY758" fmla="*/ 4773829 h 6211920"/>
              <a:gd name="connsiteX759" fmla="*/ 3546349 w 9635294"/>
              <a:gd name="connsiteY759" fmla="*/ 4767823 h 6211920"/>
              <a:gd name="connsiteX760" fmla="*/ 3562395 w 9635294"/>
              <a:gd name="connsiteY760" fmla="*/ 4787609 h 6211920"/>
              <a:gd name="connsiteX761" fmla="*/ 3557569 w 9635294"/>
              <a:gd name="connsiteY761" fmla="*/ 4791510 h 6211920"/>
              <a:gd name="connsiteX762" fmla="*/ 3559926 w 9635294"/>
              <a:gd name="connsiteY762" fmla="*/ 4789603 h 6211920"/>
              <a:gd name="connsiteX763" fmla="*/ 3543887 w 9635294"/>
              <a:gd name="connsiteY763" fmla="*/ 4769825 h 6211920"/>
              <a:gd name="connsiteX764" fmla="*/ 6094470 w 9635294"/>
              <a:gd name="connsiteY764" fmla="*/ 4767815 h 6211920"/>
              <a:gd name="connsiteX765" fmla="*/ 6096941 w 9635294"/>
              <a:gd name="connsiteY765" fmla="*/ 4769829 h 6211920"/>
              <a:gd name="connsiteX766" fmla="*/ 6080881 w 9635294"/>
              <a:gd name="connsiteY766" fmla="*/ 4789603 h 6211920"/>
              <a:gd name="connsiteX767" fmla="*/ 6085834 w 9635294"/>
              <a:gd name="connsiteY767" fmla="*/ 4793590 h 6211920"/>
              <a:gd name="connsiteX768" fmla="*/ 6101836 w 9635294"/>
              <a:gd name="connsiteY768" fmla="*/ 4773829 h 6211920"/>
              <a:gd name="connsiteX769" fmla="*/ 6099165 w 9635294"/>
              <a:gd name="connsiteY769" fmla="*/ 4771641 h 6211920"/>
              <a:gd name="connsiteX770" fmla="*/ 6104313 w 9635294"/>
              <a:gd name="connsiteY770" fmla="*/ 4775836 h 6211920"/>
              <a:gd name="connsiteX771" fmla="*/ 6088310 w 9635294"/>
              <a:gd name="connsiteY771" fmla="*/ 4795590 h 6211920"/>
              <a:gd name="connsiteX772" fmla="*/ 6078405 w 9635294"/>
              <a:gd name="connsiteY772" fmla="*/ 4787609 h 6211920"/>
              <a:gd name="connsiteX773" fmla="*/ 6094470 w 9635294"/>
              <a:gd name="connsiteY773" fmla="*/ 4767815 h 6211920"/>
              <a:gd name="connsiteX774" fmla="*/ 6115521 w 9635294"/>
              <a:gd name="connsiteY774" fmla="*/ 4752055 h 6211920"/>
              <a:gd name="connsiteX775" fmla="*/ 6117972 w 9635294"/>
              <a:gd name="connsiteY775" fmla="*/ 4754060 h 6211920"/>
              <a:gd name="connsiteX776" fmla="*/ 6117965 w 9635294"/>
              <a:gd name="connsiteY776" fmla="*/ 4754067 h 6211920"/>
              <a:gd name="connsiteX777" fmla="*/ 3526090 w 9635294"/>
              <a:gd name="connsiteY777" fmla="*/ 4751388 h 6211920"/>
              <a:gd name="connsiteX778" fmla="*/ 3522822 w 9635294"/>
              <a:gd name="connsiteY778" fmla="*/ 4754067 h 6211920"/>
              <a:gd name="connsiteX779" fmla="*/ 3522822 w 9635294"/>
              <a:gd name="connsiteY779" fmla="*/ 4754067 h 6211920"/>
              <a:gd name="connsiteX780" fmla="*/ 6134082 w 9635294"/>
              <a:gd name="connsiteY780" fmla="*/ 4734512 h 6211920"/>
              <a:gd name="connsiteX781" fmla="*/ 6136507 w 9635294"/>
              <a:gd name="connsiteY781" fmla="*/ 4736517 h 6211920"/>
              <a:gd name="connsiteX782" fmla="*/ 6120442 w 9635294"/>
              <a:gd name="connsiteY782" fmla="*/ 4756080 h 6211920"/>
              <a:gd name="connsiteX783" fmla="*/ 6117972 w 9635294"/>
              <a:gd name="connsiteY783" fmla="*/ 4754060 h 6211920"/>
              <a:gd name="connsiteX784" fmla="*/ 3509180 w 9635294"/>
              <a:gd name="connsiteY784" fmla="*/ 4732475 h 6211920"/>
              <a:gd name="connsiteX785" fmla="*/ 3506731 w 9635294"/>
              <a:gd name="connsiteY785" fmla="*/ 4734498 h 6211920"/>
              <a:gd name="connsiteX786" fmla="*/ 3522822 w 9635294"/>
              <a:gd name="connsiteY786" fmla="*/ 4754067 h 6211920"/>
              <a:gd name="connsiteX787" fmla="*/ 3520365 w 9635294"/>
              <a:gd name="connsiteY787" fmla="*/ 4756080 h 6211920"/>
              <a:gd name="connsiteX788" fmla="*/ 3504280 w 9635294"/>
              <a:gd name="connsiteY788" fmla="*/ 4736517 h 6211920"/>
              <a:gd name="connsiteX789" fmla="*/ 6129205 w 9635294"/>
              <a:gd name="connsiteY789" fmla="*/ 4730453 h 6211920"/>
              <a:gd name="connsiteX790" fmla="*/ 6134094 w 9635294"/>
              <a:gd name="connsiteY790" fmla="*/ 4734498 h 6211920"/>
              <a:gd name="connsiteX791" fmla="*/ 6134082 w 9635294"/>
              <a:gd name="connsiteY791" fmla="*/ 4734512 h 6211920"/>
              <a:gd name="connsiteX792" fmla="*/ 6129191 w 9635294"/>
              <a:gd name="connsiteY792" fmla="*/ 4730470 h 6211920"/>
              <a:gd name="connsiteX793" fmla="*/ 3511628 w 9635294"/>
              <a:gd name="connsiteY793" fmla="*/ 4730453 h 6211920"/>
              <a:gd name="connsiteX794" fmla="*/ 3511629 w 9635294"/>
              <a:gd name="connsiteY794" fmla="*/ 4730454 h 6211920"/>
              <a:gd name="connsiteX795" fmla="*/ 3509180 w 9635294"/>
              <a:gd name="connsiteY795" fmla="*/ 4732475 h 6211920"/>
              <a:gd name="connsiteX796" fmla="*/ 6126728 w 9635294"/>
              <a:gd name="connsiteY796" fmla="*/ 4728434 h 6211920"/>
              <a:gd name="connsiteX797" fmla="*/ 6129191 w 9635294"/>
              <a:gd name="connsiteY797" fmla="*/ 4730470 h 6211920"/>
              <a:gd name="connsiteX798" fmla="*/ 6113076 w 9635294"/>
              <a:gd name="connsiteY798" fmla="*/ 4750043 h 6211920"/>
              <a:gd name="connsiteX799" fmla="*/ 6115521 w 9635294"/>
              <a:gd name="connsiteY799" fmla="*/ 4752055 h 6211920"/>
              <a:gd name="connsiteX800" fmla="*/ 6110599 w 9635294"/>
              <a:gd name="connsiteY800" fmla="*/ 4748029 h 6211920"/>
              <a:gd name="connsiteX801" fmla="*/ 6126728 w 9635294"/>
              <a:gd name="connsiteY801" fmla="*/ 4728434 h 6211920"/>
              <a:gd name="connsiteX802" fmla="*/ 3514079 w 9635294"/>
              <a:gd name="connsiteY802" fmla="*/ 4728434 h 6211920"/>
              <a:gd name="connsiteX803" fmla="*/ 3530188 w 9635294"/>
              <a:gd name="connsiteY803" fmla="*/ 4748029 h 6211920"/>
              <a:gd name="connsiteX804" fmla="*/ 3526090 w 9635294"/>
              <a:gd name="connsiteY804" fmla="*/ 4751388 h 6211920"/>
              <a:gd name="connsiteX805" fmla="*/ 3527731 w 9635294"/>
              <a:gd name="connsiteY805" fmla="*/ 4750043 h 6211920"/>
              <a:gd name="connsiteX806" fmla="*/ 3511629 w 9635294"/>
              <a:gd name="connsiteY806" fmla="*/ 4730454 h 6211920"/>
              <a:gd name="connsiteX807" fmla="*/ 3495396 w 9635294"/>
              <a:gd name="connsiteY807" fmla="*/ 4710836 h 6211920"/>
              <a:gd name="connsiteX808" fmla="*/ 3495396 w 9635294"/>
              <a:gd name="connsiteY808" fmla="*/ 4710837 h 6211920"/>
              <a:gd name="connsiteX809" fmla="*/ 3490514 w 9635294"/>
              <a:gd name="connsiteY809" fmla="*/ 4714895 h 6211920"/>
              <a:gd name="connsiteX810" fmla="*/ 3490511 w 9635294"/>
              <a:gd name="connsiteY810" fmla="*/ 4714892 h 6211920"/>
              <a:gd name="connsiteX811" fmla="*/ 6145412 w 9635294"/>
              <a:gd name="connsiteY811" fmla="*/ 4710820 h 6211920"/>
              <a:gd name="connsiteX812" fmla="*/ 6150298 w 9635294"/>
              <a:gd name="connsiteY812" fmla="*/ 4714875 h 6211920"/>
              <a:gd name="connsiteX813" fmla="*/ 6150286 w 9635294"/>
              <a:gd name="connsiteY813" fmla="*/ 4714888 h 6211920"/>
              <a:gd name="connsiteX814" fmla="*/ 6145397 w 9635294"/>
              <a:gd name="connsiteY814" fmla="*/ 4710837 h 6211920"/>
              <a:gd name="connsiteX815" fmla="*/ 3474182 w 9635294"/>
              <a:gd name="connsiteY815" fmla="*/ 4695280 h 6211920"/>
              <a:gd name="connsiteX816" fmla="*/ 3490511 w 9635294"/>
              <a:gd name="connsiteY816" fmla="*/ 4714892 h 6211920"/>
              <a:gd name="connsiteX817" fmla="*/ 3488069 w 9635294"/>
              <a:gd name="connsiteY817" fmla="*/ 4716920 h 6211920"/>
              <a:gd name="connsiteX818" fmla="*/ 3471742 w 9635294"/>
              <a:gd name="connsiteY818" fmla="*/ 4697317 h 6211920"/>
              <a:gd name="connsiteX819" fmla="*/ 6164182 w 9635294"/>
              <a:gd name="connsiteY819" fmla="*/ 4693235 h 6211920"/>
              <a:gd name="connsiteX820" fmla="*/ 6169082 w 9635294"/>
              <a:gd name="connsiteY820" fmla="*/ 4697317 h 6211920"/>
              <a:gd name="connsiteX821" fmla="*/ 6152763 w 9635294"/>
              <a:gd name="connsiteY821" fmla="*/ 4716920 h 6211920"/>
              <a:gd name="connsiteX822" fmla="*/ 6150298 w 9635294"/>
              <a:gd name="connsiteY822" fmla="*/ 4714875 h 6211920"/>
              <a:gd name="connsiteX823" fmla="*/ 6166606 w 9635294"/>
              <a:gd name="connsiteY823" fmla="*/ 4695279 h 6211920"/>
              <a:gd name="connsiteX824" fmla="*/ 6161780 w 9635294"/>
              <a:gd name="connsiteY824" fmla="*/ 4691210 h 6211920"/>
              <a:gd name="connsiteX825" fmla="*/ 6164182 w 9635294"/>
              <a:gd name="connsiteY825" fmla="*/ 4693235 h 6211920"/>
              <a:gd name="connsiteX826" fmla="*/ 6161768 w 9635294"/>
              <a:gd name="connsiteY826" fmla="*/ 4691224 h 6211920"/>
              <a:gd name="connsiteX827" fmla="*/ 3479051 w 9635294"/>
              <a:gd name="connsiteY827" fmla="*/ 4691210 h 6211920"/>
              <a:gd name="connsiteX828" fmla="*/ 3479054 w 9635294"/>
              <a:gd name="connsiteY828" fmla="*/ 4691212 h 6211920"/>
              <a:gd name="connsiteX829" fmla="*/ 3474182 w 9635294"/>
              <a:gd name="connsiteY829" fmla="*/ 4695280 h 6211920"/>
              <a:gd name="connsiteX830" fmla="*/ 3474181 w 9635294"/>
              <a:gd name="connsiteY830" fmla="*/ 4695279 h 6211920"/>
              <a:gd name="connsiteX831" fmla="*/ 3481490 w 9635294"/>
              <a:gd name="connsiteY831" fmla="*/ 4689178 h 6211920"/>
              <a:gd name="connsiteX832" fmla="*/ 3497841 w 9635294"/>
              <a:gd name="connsiteY832" fmla="*/ 4708805 h 6211920"/>
              <a:gd name="connsiteX833" fmla="*/ 3495396 w 9635294"/>
              <a:gd name="connsiteY833" fmla="*/ 4710836 h 6211920"/>
              <a:gd name="connsiteX834" fmla="*/ 3479054 w 9635294"/>
              <a:gd name="connsiteY834" fmla="*/ 4691212 h 6211920"/>
              <a:gd name="connsiteX835" fmla="*/ 6159304 w 9635294"/>
              <a:gd name="connsiteY835" fmla="*/ 4689172 h 6211920"/>
              <a:gd name="connsiteX836" fmla="*/ 6161768 w 9635294"/>
              <a:gd name="connsiteY836" fmla="*/ 4691224 h 6211920"/>
              <a:gd name="connsiteX837" fmla="*/ 6145412 w 9635294"/>
              <a:gd name="connsiteY837" fmla="*/ 4710820 h 6211920"/>
              <a:gd name="connsiteX838" fmla="*/ 6142984 w 9635294"/>
              <a:gd name="connsiteY838" fmla="*/ 4708805 h 6211920"/>
              <a:gd name="connsiteX839" fmla="*/ 6159304 w 9635294"/>
              <a:gd name="connsiteY839" fmla="*/ 4689172 h 6211920"/>
              <a:gd name="connsiteX840" fmla="*/ 3458069 w 9635294"/>
              <a:gd name="connsiteY840" fmla="*/ 4675724 h 6211920"/>
              <a:gd name="connsiteX841" fmla="*/ 3457905 w 9635294"/>
              <a:gd name="connsiteY841" fmla="*/ 4675862 h 6211920"/>
              <a:gd name="connsiteX842" fmla="*/ 3457905 w 9635294"/>
              <a:gd name="connsiteY842" fmla="*/ 4675861 h 6211920"/>
              <a:gd name="connsiteX843" fmla="*/ 6178040 w 9635294"/>
              <a:gd name="connsiteY843" fmla="*/ 4671767 h 6211920"/>
              <a:gd name="connsiteX844" fmla="*/ 6179831 w 9635294"/>
              <a:gd name="connsiteY844" fmla="*/ 4673273 h 6211920"/>
              <a:gd name="connsiteX845" fmla="*/ 6178036 w 9635294"/>
              <a:gd name="connsiteY845" fmla="*/ 4671771 h 6211920"/>
              <a:gd name="connsiteX846" fmla="*/ 6199301 w 9635294"/>
              <a:gd name="connsiteY846" fmla="*/ 4656420 h 6211920"/>
              <a:gd name="connsiteX847" fmla="*/ 6201721 w 9635294"/>
              <a:gd name="connsiteY847" fmla="*/ 4658463 h 6211920"/>
              <a:gd name="connsiteX848" fmla="*/ 6185338 w 9635294"/>
              <a:gd name="connsiteY848" fmla="*/ 4677905 h 6211920"/>
              <a:gd name="connsiteX849" fmla="*/ 6179831 w 9635294"/>
              <a:gd name="connsiteY849" fmla="*/ 4673273 h 6211920"/>
              <a:gd name="connsiteX850" fmla="*/ 6182925 w 9635294"/>
              <a:gd name="connsiteY850" fmla="*/ 4675862 h 6211920"/>
              <a:gd name="connsiteX851" fmla="*/ 6196276 w 9635294"/>
              <a:gd name="connsiteY851" fmla="*/ 4653867 h 6211920"/>
              <a:gd name="connsiteX852" fmla="*/ 6199308 w 9635294"/>
              <a:gd name="connsiteY852" fmla="*/ 4656412 h 6211920"/>
              <a:gd name="connsiteX853" fmla="*/ 6199301 w 9635294"/>
              <a:gd name="connsiteY853" fmla="*/ 4656420 h 6211920"/>
              <a:gd name="connsiteX854" fmla="*/ 6192006 w 9635294"/>
              <a:gd name="connsiteY854" fmla="*/ 4650265 h 6211920"/>
              <a:gd name="connsiteX855" fmla="*/ 6196276 w 9635294"/>
              <a:gd name="connsiteY855" fmla="*/ 4653867 h 6211920"/>
              <a:gd name="connsiteX856" fmla="*/ 6194419 w 9635294"/>
              <a:gd name="connsiteY856" fmla="*/ 4652310 h 6211920"/>
              <a:gd name="connsiteX857" fmla="*/ 6178040 w 9635294"/>
              <a:gd name="connsiteY857" fmla="*/ 4671767 h 6211920"/>
              <a:gd name="connsiteX858" fmla="*/ 6175623 w 9635294"/>
              <a:gd name="connsiteY858" fmla="*/ 4669733 h 6211920"/>
              <a:gd name="connsiteX859" fmla="*/ 6192006 w 9635294"/>
              <a:gd name="connsiteY859" fmla="*/ 4650265 h 6211920"/>
              <a:gd name="connsiteX860" fmla="*/ 3448774 w 9635294"/>
              <a:gd name="connsiteY860" fmla="*/ 4650265 h 6211920"/>
              <a:gd name="connsiteX861" fmla="*/ 3465196 w 9635294"/>
              <a:gd name="connsiteY861" fmla="*/ 4669733 h 6211920"/>
              <a:gd name="connsiteX862" fmla="*/ 3458069 w 9635294"/>
              <a:gd name="connsiteY862" fmla="*/ 4675724 h 6211920"/>
              <a:gd name="connsiteX863" fmla="*/ 3462763 w 9635294"/>
              <a:gd name="connsiteY863" fmla="*/ 4671771 h 6211920"/>
              <a:gd name="connsiteX864" fmla="*/ 3446355 w 9635294"/>
              <a:gd name="connsiteY864" fmla="*/ 4652315 h 6211920"/>
              <a:gd name="connsiteX865" fmla="*/ 3441505 w 9635294"/>
              <a:gd name="connsiteY865" fmla="*/ 4656412 h 6211920"/>
              <a:gd name="connsiteX866" fmla="*/ 3457905 w 9635294"/>
              <a:gd name="connsiteY866" fmla="*/ 4675861 h 6211920"/>
              <a:gd name="connsiteX867" fmla="*/ 3455474 w 9635294"/>
              <a:gd name="connsiteY867" fmla="*/ 4677905 h 6211920"/>
              <a:gd name="connsiteX868" fmla="*/ 3439079 w 9635294"/>
              <a:gd name="connsiteY868" fmla="*/ 4658463 h 6211920"/>
              <a:gd name="connsiteX869" fmla="*/ 6213251 w 9635294"/>
              <a:gd name="connsiteY869" fmla="*/ 4634755 h 6211920"/>
              <a:gd name="connsiteX870" fmla="*/ 6215820 w 9635294"/>
              <a:gd name="connsiteY870" fmla="*/ 4636947 h 6211920"/>
              <a:gd name="connsiteX871" fmla="*/ 6215819 w 9635294"/>
              <a:gd name="connsiteY871" fmla="*/ 4636949 h 6211920"/>
              <a:gd name="connsiteX872" fmla="*/ 3429819 w 9635294"/>
              <a:gd name="connsiteY872" fmla="*/ 4632832 h 6211920"/>
              <a:gd name="connsiteX873" fmla="*/ 3429821 w 9635294"/>
              <a:gd name="connsiteY873" fmla="*/ 4632833 h 6211920"/>
              <a:gd name="connsiteX874" fmla="*/ 3424988 w 9635294"/>
              <a:gd name="connsiteY874" fmla="*/ 4636949 h 6211920"/>
              <a:gd name="connsiteX875" fmla="*/ 3424986 w 9635294"/>
              <a:gd name="connsiteY875" fmla="*/ 4636947 h 6211920"/>
              <a:gd name="connsiteX876" fmla="*/ 3408536 w 9635294"/>
              <a:gd name="connsiteY876" fmla="*/ 4617678 h 6211920"/>
              <a:gd name="connsiteX877" fmla="*/ 3424986 w 9635294"/>
              <a:gd name="connsiteY877" fmla="*/ 4636947 h 6211920"/>
              <a:gd name="connsiteX878" fmla="*/ 3422569 w 9635294"/>
              <a:gd name="connsiteY878" fmla="*/ 4639005 h 6211920"/>
              <a:gd name="connsiteX879" fmla="*/ 3406129 w 9635294"/>
              <a:gd name="connsiteY879" fmla="*/ 4619741 h 6211920"/>
              <a:gd name="connsiteX880" fmla="*/ 6229852 w 9635294"/>
              <a:gd name="connsiteY880" fmla="*/ 4615609 h 6211920"/>
              <a:gd name="connsiteX881" fmla="*/ 6234678 w 9635294"/>
              <a:gd name="connsiteY881" fmla="*/ 4619741 h 6211920"/>
              <a:gd name="connsiteX882" fmla="*/ 6218232 w 9635294"/>
              <a:gd name="connsiteY882" fmla="*/ 4639005 h 6211920"/>
              <a:gd name="connsiteX883" fmla="*/ 6215820 w 9635294"/>
              <a:gd name="connsiteY883" fmla="*/ 4636947 h 6211920"/>
              <a:gd name="connsiteX884" fmla="*/ 6232265 w 9635294"/>
              <a:gd name="connsiteY884" fmla="*/ 4617676 h 6211920"/>
              <a:gd name="connsiteX885" fmla="*/ 3411328 w 9635294"/>
              <a:gd name="connsiteY885" fmla="*/ 4615287 h 6211920"/>
              <a:gd name="connsiteX886" fmla="*/ 3408536 w 9635294"/>
              <a:gd name="connsiteY886" fmla="*/ 4617678 h 6211920"/>
              <a:gd name="connsiteX887" fmla="*/ 3408535 w 9635294"/>
              <a:gd name="connsiteY887" fmla="*/ 4617676 h 6211920"/>
              <a:gd name="connsiteX888" fmla="*/ 6227439 w 9635294"/>
              <a:gd name="connsiteY888" fmla="*/ 4613542 h 6211920"/>
              <a:gd name="connsiteX889" fmla="*/ 6229852 w 9635294"/>
              <a:gd name="connsiteY889" fmla="*/ 4615609 h 6211920"/>
              <a:gd name="connsiteX890" fmla="*/ 6227439 w 9635294"/>
              <a:gd name="connsiteY890" fmla="*/ 4613543 h 6211920"/>
              <a:gd name="connsiteX891" fmla="*/ 6225026 w 9635294"/>
              <a:gd name="connsiteY891" fmla="*/ 4611478 h 6211920"/>
              <a:gd name="connsiteX892" fmla="*/ 6227439 w 9635294"/>
              <a:gd name="connsiteY892" fmla="*/ 4613543 h 6211920"/>
              <a:gd name="connsiteX893" fmla="*/ 6210993 w 9635294"/>
              <a:gd name="connsiteY893" fmla="*/ 4632828 h 6211920"/>
              <a:gd name="connsiteX894" fmla="*/ 6213251 w 9635294"/>
              <a:gd name="connsiteY894" fmla="*/ 4634755 h 6211920"/>
              <a:gd name="connsiteX895" fmla="*/ 6208580 w 9635294"/>
              <a:gd name="connsiteY895" fmla="*/ 4630770 h 6211920"/>
              <a:gd name="connsiteX896" fmla="*/ 6225026 w 9635294"/>
              <a:gd name="connsiteY896" fmla="*/ 4611478 h 6211920"/>
              <a:gd name="connsiteX897" fmla="*/ 3415775 w 9635294"/>
              <a:gd name="connsiteY897" fmla="*/ 4611478 h 6211920"/>
              <a:gd name="connsiteX898" fmla="*/ 3432240 w 9635294"/>
              <a:gd name="connsiteY898" fmla="*/ 4630770 h 6211920"/>
              <a:gd name="connsiteX899" fmla="*/ 3429819 w 9635294"/>
              <a:gd name="connsiteY899" fmla="*/ 4632832 h 6211920"/>
              <a:gd name="connsiteX900" fmla="*/ 3413361 w 9635294"/>
              <a:gd name="connsiteY900" fmla="*/ 4613548 h 6211920"/>
              <a:gd name="connsiteX901" fmla="*/ 3411328 w 9635294"/>
              <a:gd name="connsiteY901" fmla="*/ 4615287 h 6211920"/>
              <a:gd name="connsiteX902" fmla="*/ 6260713 w 9635294"/>
              <a:gd name="connsiteY902" fmla="*/ 4574909 h 6211920"/>
              <a:gd name="connsiteX903" fmla="*/ 6265539 w 9635294"/>
              <a:gd name="connsiteY903" fmla="*/ 4579068 h 6211920"/>
              <a:gd name="connsiteX904" fmla="*/ 6265520 w 9635294"/>
              <a:gd name="connsiteY904" fmla="*/ 4579090 h 6211920"/>
              <a:gd name="connsiteX905" fmla="*/ 6260708 w 9635294"/>
              <a:gd name="connsiteY905" fmla="*/ 4574915 h 6211920"/>
              <a:gd name="connsiteX906" fmla="*/ 3380087 w 9635294"/>
              <a:gd name="connsiteY906" fmla="*/ 4574909 h 6211920"/>
              <a:gd name="connsiteX907" fmla="*/ 3380087 w 9635294"/>
              <a:gd name="connsiteY907" fmla="*/ 4574910 h 6211920"/>
              <a:gd name="connsiteX908" fmla="*/ 3378461 w 9635294"/>
              <a:gd name="connsiteY908" fmla="*/ 4576318 h 6211920"/>
              <a:gd name="connsiteX909" fmla="*/ 3382487 w 9635294"/>
              <a:gd name="connsiteY909" fmla="*/ 4572832 h 6211920"/>
              <a:gd name="connsiteX910" fmla="*/ 3399187 w 9635294"/>
              <a:gd name="connsiteY910" fmla="*/ 4592168 h 6211920"/>
              <a:gd name="connsiteX911" fmla="*/ 3389567 w 9635294"/>
              <a:gd name="connsiteY911" fmla="*/ 4600455 h 6211920"/>
              <a:gd name="connsiteX912" fmla="*/ 3372885 w 9635294"/>
              <a:gd name="connsiteY912" fmla="*/ 4581145 h 6211920"/>
              <a:gd name="connsiteX913" fmla="*/ 3378461 w 9635294"/>
              <a:gd name="connsiteY913" fmla="*/ 4576318 h 6211920"/>
              <a:gd name="connsiteX914" fmla="*/ 3375287 w 9635294"/>
              <a:gd name="connsiteY914" fmla="*/ 4579068 h 6211920"/>
              <a:gd name="connsiteX915" fmla="*/ 3391967 w 9635294"/>
              <a:gd name="connsiteY915" fmla="*/ 4598385 h 6211920"/>
              <a:gd name="connsiteX916" fmla="*/ 3396781 w 9635294"/>
              <a:gd name="connsiteY916" fmla="*/ 4594238 h 6211920"/>
              <a:gd name="connsiteX917" fmla="*/ 3380087 w 9635294"/>
              <a:gd name="connsiteY917" fmla="*/ 4574910 h 6211920"/>
              <a:gd name="connsiteX918" fmla="*/ 6258300 w 9635294"/>
              <a:gd name="connsiteY918" fmla="*/ 4572826 h 6211920"/>
              <a:gd name="connsiteX919" fmla="*/ 6260708 w 9635294"/>
              <a:gd name="connsiteY919" fmla="*/ 4574915 h 6211920"/>
              <a:gd name="connsiteX920" fmla="*/ 6244012 w 9635294"/>
              <a:gd name="connsiteY920" fmla="*/ 4594238 h 6211920"/>
              <a:gd name="connsiteX921" fmla="*/ 6248838 w 9635294"/>
              <a:gd name="connsiteY921" fmla="*/ 4598378 h 6211920"/>
              <a:gd name="connsiteX922" fmla="*/ 6265520 w 9635294"/>
              <a:gd name="connsiteY922" fmla="*/ 4579090 h 6211920"/>
              <a:gd name="connsiteX923" fmla="*/ 6267888 w 9635294"/>
              <a:gd name="connsiteY923" fmla="*/ 4581145 h 6211920"/>
              <a:gd name="connsiteX924" fmla="*/ 6251251 w 9635294"/>
              <a:gd name="connsiteY924" fmla="*/ 4600455 h 6211920"/>
              <a:gd name="connsiteX925" fmla="*/ 6241599 w 9635294"/>
              <a:gd name="connsiteY925" fmla="*/ 4592168 h 6211920"/>
              <a:gd name="connsiteX926" fmla="*/ 6258300 w 9635294"/>
              <a:gd name="connsiteY926" fmla="*/ 4572826 h 6211920"/>
              <a:gd name="connsiteX927" fmla="*/ 3346711 w 9635294"/>
              <a:gd name="connsiteY927" fmla="*/ 4536599 h 6211920"/>
              <a:gd name="connsiteX928" fmla="*/ 3341936 w 9635294"/>
              <a:gd name="connsiteY928" fmla="*/ 4540784 h 6211920"/>
              <a:gd name="connsiteX929" fmla="*/ 3358663 w 9635294"/>
              <a:gd name="connsiteY929" fmla="*/ 4559924 h 6211920"/>
              <a:gd name="connsiteX930" fmla="*/ 3363449 w 9635294"/>
              <a:gd name="connsiteY930" fmla="*/ 4555750 h 6211920"/>
              <a:gd name="connsiteX931" fmla="*/ 3346711 w 9635294"/>
              <a:gd name="connsiteY931" fmla="*/ 4536599 h 6211920"/>
              <a:gd name="connsiteX932" fmla="*/ 6294114 w 9635294"/>
              <a:gd name="connsiteY932" fmla="*/ 4536593 h 6211920"/>
              <a:gd name="connsiteX933" fmla="*/ 6298876 w 9635294"/>
              <a:gd name="connsiteY933" fmla="*/ 4540778 h 6211920"/>
              <a:gd name="connsiteX934" fmla="*/ 6298861 w 9635294"/>
              <a:gd name="connsiteY934" fmla="*/ 4540795 h 6211920"/>
              <a:gd name="connsiteX935" fmla="*/ 6294099 w 9635294"/>
              <a:gd name="connsiteY935" fmla="*/ 4536611 h 6211920"/>
              <a:gd name="connsiteX936" fmla="*/ 6291701 w 9635294"/>
              <a:gd name="connsiteY936" fmla="*/ 4534504 h 6211920"/>
              <a:gd name="connsiteX937" fmla="*/ 6294099 w 9635294"/>
              <a:gd name="connsiteY937" fmla="*/ 4536611 h 6211920"/>
              <a:gd name="connsiteX938" fmla="*/ 6277350 w 9635294"/>
              <a:gd name="connsiteY938" fmla="*/ 4555750 h 6211920"/>
              <a:gd name="connsiteX939" fmla="*/ 6282176 w 9635294"/>
              <a:gd name="connsiteY939" fmla="*/ 4559924 h 6211920"/>
              <a:gd name="connsiteX940" fmla="*/ 6298861 w 9635294"/>
              <a:gd name="connsiteY940" fmla="*/ 4540795 h 6211920"/>
              <a:gd name="connsiteX941" fmla="*/ 6301226 w 9635294"/>
              <a:gd name="connsiteY941" fmla="*/ 4542874 h 6211920"/>
              <a:gd name="connsiteX942" fmla="*/ 6284525 w 9635294"/>
              <a:gd name="connsiteY942" fmla="*/ 4562012 h 6211920"/>
              <a:gd name="connsiteX943" fmla="*/ 6274937 w 9635294"/>
              <a:gd name="connsiteY943" fmla="*/ 4553669 h 6211920"/>
              <a:gd name="connsiteX944" fmla="*/ 6291701 w 9635294"/>
              <a:gd name="connsiteY944" fmla="*/ 4534504 h 6211920"/>
              <a:gd name="connsiteX945" fmla="*/ 3349099 w 9635294"/>
              <a:gd name="connsiteY945" fmla="*/ 4534504 h 6211920"/>
              <a:gd name="connsiteX946" fmla="*/ 3365844 w 9635294"/>
              <a:gd name="connsiteY946" fmla="*/ 4553669 h 6211920"/>
              <a:gd name="connsiteX947" fmla="*/ 3356268 w 9635294"/>
              <a:gd name="connsiteY947" fmla="*/ 4562012 h 6211920"/>
              <a:gd name="connsiteX948" fmla="*/ 3339548 w 9635294"/>
              <a:gd name="connsiteY948" fmla="*/ 4542874 h 6211920"/>
              <a:gd name="connsiteX949" fmla="*/ 6312877 w 9635294"/>
              <a:gd name="connsiteY949" fmla="*/ 4519128 h 6211920"/>
              <a:gd name="connsiteX950" fmla="*/ 6315713 w 9635294"/>
              <a:gd name="connsiteY950" fmla="*/ 4521610 h 6211920"/>
              <a:gd name="connsiteX951" fmla="*/ 6315704 w 9635294"/>
              <a:gd name="connsiteY951" fmla="*/ 4521619 h 6211920"/>
              <a:gd name="connsiteX952" fmla="*/ 3329862 w 9635294"/>
              <a:gd name="connsiteY952" fmla="*/ 4517420 h 6211920"/>
              <a:gd name="connsiteX953" fmla="*/ 3329865 w 9635294"/>
              <a:gd name="connsiteY953" fmla="*/ 4517422 h 6211920"/>
              <a:gd name="connsiteX954" fmla="*/ 3325096 w 9635294"/>
              <a:gd name="connsiteY954" fmla="*/ 4521619 h 6211920"/>
              <a:gd name="connsiteX955" fmla="*/ 3325095 w 9635294"/>
              <a:gd name="connsiteY955" fmla="*/ 4521619 h 6211920"/>
              <a:gd name="connsiteX956" fmla="*/ 6332520 w 9635294"/>
              <a:gd name="connsiteY956" fmla="*/ 4502610 h 6211920"/>
              <a:gd name="connsiteX957" fmla="*/ 6334881 w 9635294"/>
              <a:gd name="connsiteY957" fmla="*/ 4504698 h 6211920"/>
              <a:gd name="connsiteX958" fmla="*/ 6318117 w 9635294"/>
              <a:gd name="connsiteY958" fmla="*/ 4523715 h 6211920"/>
              <a:gd name="connsiteX959" fmla="*/ 6315713 w 9635294"/>
              <a:gd name="connsiteY959" fmla="*/ 4521610 h 6211920"/>
              <a:gd name="connsiteX960" fmla="*/ 6327769 w 9635294"/>
              <a:gd name="connsiteY960" fmla="*/ 4498386 h 6211920"/>
              <a:gd name="connsiteX961" fmla="*/ 6332532 w 9635294"/>
              <a:gd name="connsiteY961" fmla="*/ 4502596 h 6211920"/>
              <a:gd name="connsiteX962" fmla="*/ 6332520 w 9635294"/>
              <a:gd name="connsiteY962" fmla="*/ 4502610 h 6211920"/>
              <a:gd name="connsiteX963" fmla="*/ 6327757 w 9635294"/>
              <a:gd name="connsiteY963" fmla="*/ 4498400 h 6211920"/>
              <a:gd name="connsiteX964" fmla="*/ 6325356 w 9635294"/>
              <a:gd name="connsiteY964" fmla="*/ 4496277 h 6211920"/>
              <a:gd name="connsiteX965" fmla="*/ 6327757 w 9635294"/>
              <a:gd name="connsiteY965" fmla="*/ 4498400 h 6211920"/>
              <a:gd name="connsiteX966" fmla="*/ 6310942 w 9635294"/>
              <a:gd name="connsiteY966" fmla="*/ 4517422 h 6211920"/>
              <a:gd name="connsiteX967" fmla="*/ 6312877 w 9635294"/>
              <a:gd name="connsiteY967" fmla="*/ 4519128 h 6211920"/>
              <a:gd name="connsiteX968" fmla="*/ 6308528 w 9635294"/>
              <a:gd name="connsiteY968" fmla="*/ 4515320 h 6211920"/>
              <a:gd name="connsiteX969" fmla="*/ 6325356 w 9635294"/>
              <a:gd name="connsiteY969" fmla="*/ 4496277 h 6211920"/>
              <a:gd name="connsiteX970" fmla="*/ 3315425 w 9635294"/>
              <a:gd name="connsiteY970" fmla="*/ 4496277 h 6211920"/>
              <a:gd name="connsiteX971" fmla="*/ 3332245 w 9635294"/>
              <a:gd name="connsiteY971" fmla="*/ 4515320 h 6211920"/>
              <a:gd name="connsiteX972" fmla="*/ 3329862 w 9635294"/>
              <a:gd name="connsiteY972" fmla="*/ 4517420 h 6211920"/>
              <a:gd name="connsiteX973" fmla="*/ 3313043 w 9635294"/>
              <a:gd name="connsiteY973" fmla="*/ 4498386 h 6211920"/>
              <a:gd name="connsiteX974" fmla="*/ 3308294 w 9635294"/>
              <a:gd name="connsiteY974" fmla="*/ 4502596 h 6211920"/>
              <a:gd name="connsiteX975" fmla="*/ 3325095 w 9635294"/>
              <a:gd name="connsiteY975" fmla="*/ 4521619 h 6211920"/>
              <a:gd name="connsiteX976" fmla="*/ 3322714 w 9635294"/>
              <a:gd name="connsiteY976" fmla="*/ 4523715 h 6211920"/>
              <a:gd name="connsiteX977" fmla="*/ 3305912 w 9635294"/>
              <a:gd name="connsiteY977" fmla="*/ 4504698 h 6211920"/>
              <a:gd name="connsiteX978" fmla="*/ 6346980 w 9635294"/>
              <a:gd name="connsiteY978" fmla="*/ 4481458 h 6211920"/>
              <a:gd name="connsiteX979" fmla="*/ 6349373 w 9635294"/>
              <a:gd name="connsiteY979" fmla="*/ 4483581 h 6211920"/>
              <a:gd name="connsiteX980" fmla="*/ 6349359 w 9635294"/>
              <a:gd name="connsiteY980" fmla="*/ 4483596 h 6211920"/>
              <a:gd name="connsiteX981" fmla="*/ 6366369 w 9635294"/>
              <a:gd name="connsiteY981" fmla="*/ 4464593 h 6211920"/>
              <a:gd name="connsiteX982" fmla="*/ 6368726 w 9635294"/>
              <a:gd name="connsiteY982" fmla="*/ 4466705 h 6211920"/>
              <a:gd name="connsiteX983" fmla="*/ 6351772 w 9635294"/>
              <a:gd name="connsiteY983" fmla="*/ 4485710 h 6211920"/>
              <a:gd name="connsiteX984" fmla="*/ 6349373 w 9635294"/>
              <a:gd name="connsiteY984" fmla="*/ 4483581 h 6211920"/>
              <a:gd name="connsiteX985" fmla="*/ 6363996 w 9635294"/>
              <a:gd name="connsiteY985" fmla="*/ 4462466 h 6211920"/>
              <a:gd name="connsiteX986" fmla="*/ 6366377 w 9635294"/>
              <a:gd name="connsiteY986" fmla="*/ 4464584 h 6211920"/>
              <a:gd name="connsiteX987" fmla="*/ 6366369 w 9635294"/>
              <a:gd name="connsiteY987" fmla="*/ 4464593 h 6211920"/>
              <a:gd name="connsiteX988" fmla="*/ 3279172 w 9635294"/>
              <a:gd name="connsiteY988" fmla="*/ 4460348 h 6211920"/>
              <a:gd name="connsiteX989" fmla="*/ 3274442 w 9635294"/>
              <a:gd name="connsiteY989" fmla="*/ 4464584 h 6211920"/>
              <a:gd name="connsiteX990" fmla="*/ 3291416 w 9635294"/>
              <a:gd name="connsiteY990" fmla="*/ 4483596 h 6211920"/>
              <a:gd name="connsiteX991" fmla="*/ 3296158 w 9635294"/>
              <a:gd name="connsiteY991" fmla="*/ 4479373 h 6211920"/>
              <a:gd name="connsiteX992" fmla="*/ 3279172 w 9635294"/>
              <a:gd name="connsiteY992" fmla="*/ 4460348 h 6211920"/>
              <a:gd name="connsiteX993" fmla="*/ 6359265 w 9635294"/>
              <a:gd name="connsiteY993" fmla="*/ 4458227 h 6211920"/>
              <a:gd name="connsiteX994" fmla="*/ 6363996 w 9635294"/>
              <a:gd name="connsiteY994" fmla="*/ 4462466 h 6211920"/>
              <a:gd name="connsiteX995" fmla="*/ 6361614 w 9635294"/>
              <a:gd name="connsiteY995" fmla="*/ 4460348 h 6211920"/>
              <a:gd name="connsiteX996" fmla="*/ 6344660 w 9635294"/>
              <a:gd name="connsiteY996" fmla="*/ 4479373 h 6211920"/>
              <a:gd name="connsiteX997" fmla="*/ 6346980 w 9635294"/>
              <a:gd name="connsiteY997" fmla="*/ 4481458 h 6211920"/>
              <a:gd name="connsiteX998" fmla="*/ 6342247 w 9635294"/>
              <a:gd name="connsiteY998" fmla="*/ 4477259 h 6211920"/>
              <a:gd name="connsiteX999" fmla="*/ 6359265 w 9635294"/>
              <a:gd name="connsiteY999" fmla="*/ 4458227 h 6211920"/>
              <a:gd name="connsiteX1000" fmla="*/ 3281534 w 9635294"/>
              <a:gd name="connsiteY1000" fmla="*/ 4458227 h 6211920"/>
              <a:gd name="connsiteX1001" fmla="*/ 3298534 w 9635294"/>
              <a:gd name="connsiteY1001" fmla="*/ 4477265 h 6211920"/>
              <a:gd name="connsiteX1002" fmla="*/ 3289046 w 9635294"/>
              <a:gd name="connsiteY1002" fmla="*/ 4485710 h 6211920"/>
              <a:gd name="connsiteX1003" fmla="*/ 3272074 w 9635294"/>
              <a:gd name="connsiteY1003" fmla="*/ 4466705 h 6211920"/>
              <a:gd name="connsiteX1004" fmla="*/ 3262177 w 9635294"/>
              <a:gd name="connsiteY1004" fmla="*/ 4441422 h 6211920"/>
              <a:gd name="connsiteX1005" fmla="*/ 3262180 w 9635294"/>
              <a:gd name="connsiteY1005" fmla="*/ 4441425 h 6211920"/>
              <a:gd name="connsiteX1006" fmla="*/ 3257456 w 9635294"/>
              <a:gd name="connsiteY1006" fmla="*/ 4445674 h 6211920"/>
              <a:gd name="connsiteX1007" fmla="*/ 3257455 w 9635294"/>
              <a:gd name="connsiteY1007" fmla="*/ 4445673 h 6211920"/>
              <a:gd name="connsiteX1008" fmla="*/ 6395650 w 9635294"/>
              <a:gd name="connsiteY1008" fmla="*/ 4422560 h 6211920"/>
              <a:gd name="connsiteX1009" fmla="*/ 6378632 w 9635294"/>
              <a:gd name="connsiteY1009" fmla="*/ 4441419 h 6211920"/>
              <a:gd name="connsiteX1010" fmla="*/ 6383332 w 9635294"/>
              <a:gd name="connsiteY1010" fmla="*/ 4445668 h 6211920"/>
              <a:gd name="connsiteX1011" fmla="*/ 6400349 w 9635294"/>
              <a:gd name="connsiteY1011" fmla="*/ 4426821 h 6211920"/>
              <a:gd name="connsiteX1012" fmla="*/ 6393301 w 9635294"/>
              <a:gd name="connsiteY1012" fmla="*/ 4420426 h 6211920"/>
              <a:gd name="connsiteX1013" fmla="*/ 6402699 w 9635294"/>
              <a:gd name="connsiteY1013" fmla="*/ 4428947 h 6211920"/>
              <a:gd name="connsiteX1014" fmla="*/ 6385681 w 9635294"/>
              <a:gd name="connsiteY1014" fmla="*/ 4447795 h 6211920"/>
              <a:gd name="connsiteX1015" fmla="*/ 6376282 w 9635294"/>
              <a:gd name="connsiteY1015" fmla="*/ 4439298 h 6211920"/>
              <a:gd name="connsiteX1016" fmla="*/ 6393301 w 9635294"/>
              <a:gd name="connsiteY1016" fmla="*/ 4420426 h 6211920"/>
              <a:gd name="connsiteX1017" fmla="*/ 3247506 w 9635294"/>
              <a:gd name="connsiteY1017" fmla="*/ 4420426 h 6211920"/>
              <a:gd name="connsiteX1018" fmla="*/ 3264536 w 9635294"/>
              <a:gd name="connsiteY1018" fmla="*/ 4439298 h 6211920"/>
              <a:gd name="connsiteX1019" fmla="*/ 3262177 w 9635294"/>
              <a:gd name="connsiteY1019" fmla="*/ 4441422 h 6211920"/>
              <a:gd name="connsiteX1020" fmla="*/ 3245149 w 9635294"/>
              <a:gd name="connsiteY1020" fmla="*/ 4422560 h 6211920"/>
              <a:gd name="connsiteX1021" fmla="*/ 3240445 w 9635294"/>
              <a:gd name="connsiteY1021" fmla="*/ 4426821 h 6211920"/>
              <a:gd name="connsiteX1022" fmla="*/ 3257455 w 9635294"/>
              <a:gd name="connsiteY1022" fmla="*/ 4445673 h 6211920"/>
              <a:gd name="connsiteX1023" fmla="*/ 3255100 w 9635294"/>
              <a:gd name="connsiteY1023" fmla="*/ 4447795 h 6211920"/>
              <a:gd name="connsiteX1024" fmla="*/ 3238087 w 9635294"/>
              <a:gd name="connsiteY1024" fmla="*/ 4428947 h 6211920"/>
              <a:gd name="connsiteX1025" fmla="*/ 3228022 w 9635294"/>
              <a:gd name="connsiteY1025" fmla="*/ 4403680 h 6211920"/>
              <a:gd name="connsiteX1026" fmla="*/ 3228024 w 9635294"/>
              <a:gd name="connsiteY1026" fmla="*/ 4403681 h 6211920"/>
              <a:gd name="connsiteX1027" fmla="*/ 3223331 w 9635294"/>
              <a:gd name="connsiteY1027" fmla="*/ 4407954 h 6211920"/>
              <a:gd name="connsiteX1028" fmla="*/ 3223329 w 9635294"/>
              <a:gd name="connsiteY1028" fmla="*/ 4407952 h 6211920"/>
              <a:gd name="connsiteX1029" fmla="*/ 6412797 w 9635294"/>
              <a:gd name="connsiteY1029" fmla="*/ 4403679 h 6211920"/>
              <a:gd name="connsiteX1030" fmla="*/ 6415525 w 9635294"/>
              <a:gd name="connsiteY1030" fmla="*/ 4406161 h 6211920"/>
              <a:gd name="connsiteX1031" fmla="*/ 6412795 w 9635294"/>
              <a:gd name="connsiteY1031" fmla="*/ 4403681 h 6211920"/>
              <a:gd name="connsiteX1032" fmla="*/ 3207969 w 9635294"/>
              <a:gd name="connsiteY1032" fmla="*/ 4387509 h 6211920"/>
              <a:gd name="connsiteX1033" fmla="*/ 3206180 w 9635294"/>
              <a:gd name="connsiteY1033" fmla="*/ 4389147 h 6211920"/>
              <a:gd name="connsiteX1034" fmla="*/ 3223329 w 9635294"/>
              <a:gd name="connsiteY1034" fmla="*/ 4407952 h 6211920"/>
              <a:gd name="connsiteX1035" fmla="*/ 3220981 w 9635294"/>
              <a:gd name="connsiteY1035" fmla="*/ 4410089 h 6211920"/>
              <a:gd name="connsiteX1036" fmla="*/ 3203837 w 9635294"/>
              <a:gd name="connsiteY1036" fmla="*/ 4391287 h 6211920"/>
              <a:gd name="connsiteX1037" fmla="*/ 6432367 w 9635294"/>
              <a:gd name="connsiteY1037" fmla="*/ 4387073 h 6211920"/>
              <a:gd name="connsiteX1038" fmla="*/ 6436989 w 9635294"/>
              <a:gd name="connsiteY1038" fmla="*/ 4391287 h 6211920"/>
              <a:gd name="connsiteX1039" fmla="*/ 6419844 w 9635294"/>
              <a:gd name="connsiteY1039" fmla="*/ 4410089 h 6211920"/>
              <a:gd name="connsiteX1040" fmla="*/ 6415525 w 9635294"/>
              <a:gd name="connsiteY1040" fmla="*/ 4406161 h 6211920"/>
              <a:gd name="connsiteX1041" fmla="*/ 6417494 w 9635294"/>
              <a:gd name="connsiteY1041" fmla="*/ 4407949 h 6211920"/>
              <a:gd name="connsiteX1042" fmla="*/ 6434639 w 9635294"/>
              <a:gd name="connsiteY1042" fmla="*/ 4389147 h 6211920"/>
              <a:gd name="connsiteX1043" fmla="*/ 6429940 w 9635294"/>
              <a:gd name="connsiteY1043" fmla="*/ 4384860 h 6211920"/>
              <a:gd name="connsiteX1044" fmla="*/ 6432367 w 9635294"/>
              <a:gd name="connsiteY1044" fmla="*/ 4387073 h 6211920"/>
              <a:gd name="connsiteX1045" fmla="*/ 6429939 w 9635294"/>
              <a:gd name="connsiteY1045" fmla="*/ 4384861 h 6211920"/>
              <a:gd name="connsiteX1046" fmla="*/ 3210866 w 9635294"/>
              <a:gd name="connsiteY1046" fmla="*/ 4384860 h 6211920"/>
              <a:gd name="connsiteX1047" fmla="*/ 3210867 w 9635294"/>
              <a:gd name="connsiteY1047" fmla="*/ 4384861 h 6211920"/>
              <a:gd name="connsiteX1048" fmla="*/ 3207969 w 9635294"/>
              <a:gd name="connsiteY1048" fmla="*/ 4387509 h 6211920"/>
              <a:gd name="connsiteX1049" fmla="*/ 6427591 w 9635294"/>
              <a:gd name="connsiteY1049" fmla="*/ 4382720 h 6211920"/>
              <a:gd name="connsiteX1050" fmla="*/ 6429939 w 9635294"/>
              <a:gd name="connsiteY1050" fmla="*/ 4384861 h 6211920"/>
              <a:gd name="connsiteX1051" fmla="*/ 6412797 w 9635294"/>
              <a:gd name="connsiteY1051" fmla="*/ 4403679 h 6211920"/>
              <a:gd name="connsiteX1052" fmla="*/ 6410446 w 9635294"/>
              <a:gd name="connsiteY1052" fmla="*/ 4401541 h 6211920"/>
              <a:gd name="connsiteX1053" fmla="*/ 6427591 w 9635294"/>
              <a:gd name="connsiteY1053" fmla="*/ 4382720 h 6211920"/>
              <a:gd name="connsiteX1054" fmla="*/ 3213209 w 9635294"/>
              <a:gd name="connsiteY1054" fmla="*/ 4382720 h 6211920"/>
              <a:gd name="connsiteX1055" fmla="*/ 3230372 w 9635294"/>
              <a:gd name="connsiteY1055" fmla="*/ 4401541 h 6211920"/>
              <a:gd name="connsiteX1056" fmla="*/ 3228022 w 9635294"/>
              <a:gd name="connsiteY1056" fmla="*/ 4403680 h 6211920"/>
              <a:gd name="connsiteX1057" fmla="*/ 3210867 w 9635294"/>
              <a:gd name="connsiteY1057" fmla="*/ 4384861 h 6211920"/>
              <a:gd name="connsiteX1058" fmla="*/ 3189277 w 9635294"/>
              <a:gd name="connsiteY1058" fmla="*/ 4370203 h 6211920"/>
              <a:gd name="connsiteX1059" fmla="*/ 3189028 w 9635294"/>
              <a:gd name="connsiteY1059" fmla="*/ 4370432 h 6211920"/>
              <a:gd name="connsiteX1060" fmla="*/ 3189028 w 9635294"/>
              <a:gd name="connsiteY1060" fmla="*/ 4370432 h 6211920"/>
              <a:gd name="connsiteX1061" fmla="*/ 6449070 w 9635294"/>
              <a:gd name="connsiteY1061" fmla="*/ 4367949 h 6211920"/>
              <a:gd name="connsiteX1062" fmla="*/ 6451785 w 9635294"/>
              <a:gd name="connsiteY1062" fmla="*/ 4370431 h 6211920"/>
              <a:gd name="connsiteX1063" fmla="*/ 6451784 w 9635294"/>
              <a:gd name="connsiteY1063" fmla="*/ 4370432 h 6211920"/>
              <a:gd name="connsiteX1064" fmla="*/ 3171785 w 9635294"/>
              <a:gd name="connsiteY1064" fmla="*/ 4351710 h 6211920"/>
              <a:gd name="connsiteX1065" fmla="*/ 3189028 w 9635294"/>
              <a:gd name="connsiteY1065" fmla="*/ 4370432 h 6211920"/>
              <a:gd name="connsiteX1066" fmla="*/ 3186692 w 9635294"/>
              <a:gd name="connsiteY1066" fmla="*/ 4372579 h 6211920"/>
              <a:gd name="connsiteX1067" fmla="*/ 3169452 w 9635294"/>
              <a:gd name="connsiteY1067" fmla="*/ 4353865 h 6211920"/>
              <a:gd name="connsiteX1068" fmla="*/ 6467202 w 9635294"/>
              <a:gd name="connsiteY1068" fmla="*/ 4350043 h 6211920"/>
              <a:gd name="connsiteX1069" fmla="*/ 6471343 w 9635294"/>
              <a:gd name="connsiteY1069" fmla="*/ 4353865 h 6211920"/>
              <a:gd name="connsiteX1070" fmla="*/ 6454134 w 9635294"/>
              <a:gd name="connsiteY1070" fmla="*/ 4372579 h 6211920"/>
              <a:gd name="connsiteX1071" fmla="*/ 6451785 w 9635294"/>
              <a:gd name="connsiteY1071" fmla="*/ 4370431 h 6211920"/>
              <a:gd name="connsiteX1072" fmla="*/ 6468993 w 9635294"/>
              <a:gd name="connsiteY1072" fmla="*/ 4351707 h 6211920"/>
              <a:gd name="connsiteX1073" fmla="*/ 6464357 w 9635294"/>
              <a:gd name="connsiteY1073" fmla="*/ 4347401 h 6211920"/>
              <a:gd name="connsiteX1074" fmla="*/ 6467202 w 9635294"/>
              <a:gd name="connsiteY1074" fmla="*/ 4350043 h 6211920"/>
              <a:gd name="connsiteX1075" fmla="*/ 6464349 w 9635294"/>
              <a:gd name="connsiteY1075" fmla="*/ 4347410 h 6211920"/>
              <a:gd name="connsiteX1076" fmla="*/ 3176449 w 9635294"/>
              <a:gd name="connsiteY1076" fmla="*/ 4347401 h 6211920"/>
              <a:gd name="connsiteX1077" fmla="*/ 3176449 w 9635294"/>
              <a:gd name="connsiteY1077" fmla="*/ 4347402 h 6211920"/>
              <a:gd name="connsiteX1078" fmla="*/ 3171785 w 9635294"/>
              <a:gd name="connsiteY1078" fmla="*/ 4351710 h 6211920"/>
              <a:gd name="connsiteX1079" fmla="*/ 3171782 w 9635294"/>
              <a:gd name="connsiteY1079" fmla="*/ 4351707 h 6211920"/>
              <a:gd name="connsiteX1080" fmla="*/ 6462007 w 9635294"/>
              <a:gd name="connsiteY1080" fmla="*/ 4345248 h 6211920"/>
              <a:gd name="connsiteX1081" fmla="*/ 6464349 w 9635294"/>
              <a:gd name="connsiteY1081" fmla="*/ 4347410 h 6211920"/>
              <a:gd name="connsiteX1082" fmla="*/ 6447085 w 9635294"/>
              <a:gd name="connsiteY1082" fmla="*/ 4366133 h 6211920"/>
              <a:gd name="connsiteX1083" fmla="*/ 6449070 w 9635294"/>
              <a:gd name="connsiteY1083" fmla="*/ 4367949 h 6211920"/>
              <a:gd name="connsiteX1084" fmla="*/ 6444736 w 9635294"/>
              <a:gd name="connsiteY1084" fmla="*/ 4363988 h 6211920"/>
              <a:gd name="connsiteX1085" fmla="*/ 6462007 w 9635294"/>
              <a:gd name="connsiteY1085" fmla="*/ 4345248 h 6211920"/>
              <a:gd name="connsiteX1086" fmla="*/ 3178779 w 9635294"/>
              <a:gd name="connsiteY1086" fmla="*/ 4345248 h 6211920"/>
              <a:gd name="connsiteX1087" fmla="*/ 3196045 w 9635294"/>
              <a:gd name="connsiteY1087" fmla="*/ 4363988 h 6211920"/>
              <a:gd name="connsiteX1088" fmla="*/ 3189277 w 9635294"/>
              <a:gd name="connsiteY1088" fmla="*/ 4370203 h 6211920"/>
              <a:gd name="connsiteX1089" fmla="*/ 3193701 w 9635294"/>
              <a:gd name="connsiteY1089" fmla="*/ 4366133 h 6211920"/>
              <a:gd name="connsiteX1090" fmla="*/ 3176449 w 9635294"/>
              <a:gd name="connsiteY1090" fmla="*/ 4347402 h 6211920"/>
              <a:gd name="connsiteX1091" fmla="*/ 6483935 w 9635294"/>
              <a:gd name="connsiteY1091" fmla="*/ 4330773 h 6211920"/>
              <a:gd name="connsiteX1092" fmla="*/ 6486337 w 9635294"/>
              <a:gd name="connsiteY1092" fmla="*/ 4332996 h 6211920"/>
              <a:gd name="connsiteX1093" fmla="*/ 6486328 w 9635294"/>
              <a:gd name="connsiteY1093" fmla="*/ 4333005 h 6211920"/>
              <a:gd name="connsiteX1094" fmla="*/ 3159119 w 9635294"/>
              <a:gd name="connsiteY1094" fmla="*/ 4328687 h 6211920"/>
              <a:gd name="connsiteX1095" fmla="*/ 3159120 w 9635294"/>
              <a:gd name="connsiteY1095" fmla="*/ 4328688 h 6211920"/>
              <a:gd name="connsiteX1096" fmla="*/ 3156417 w 9635294"/>
              <a:gd name="connsiteY1096" fmla="*/ 4331195 h 6211920"/>
              <a:gd name="connsiteX1097" fmla="*/ 3137189 w 9635294"/>
              <a:gd name="connsiteY1097" fmla="*/ 4314434 h 6211920"/>
              <a:gd name="connsiteX1098" fmla="*/ 3154465 w 9635294"/>
              <a:gd name="connsiteY1098" fmla="*/ 4333005 h 6211920"/>
              <a:gd name="connsiteX1099" fmla="*/ 3156417 w 9635294"/>
              <a:gd name="connsiteY1099" fmla="*/ 4331195 h 6211920"/>
              <a:gd name="connsiteX1100" fmla="*/ 3152140 w 9635294"/>
              <a:gd name="connsiteY1100" fmla="*/ 4335165 h 6211920"/>
              <a:gd name="connsiteX1101" fmla="*/ 3134870 w 9635294"/>
              <a:gd name="connsiteY1101" fmla="*/ 4316597 h 6211920"/>
              <a:gd name="connsiteX1102" fmla="*/ 3139863 w 9635294"/>
              <a:gd name="connsiteY1102" fmla="*/ 4311938 h 6211920"/>
              <a:gd name="connsiteX1103" fmla="*/ 3137189 w 9635294"/>
              <a:gd name="connsiteY1103" fmla="*/ 4314434 h 6211920"/>
              <a:gd name="connsiteX1104" fmla="*/ 3137187 w 9635294"/>
              <a:gd name="connsiteY1104" fmla="*/ 4314431 h 6211920"/>
              <a:gd name="connsiteX1105" fmla="*/ 3144153 w 9635294"/>
              <a:gd name="connsiteY1105" fmla="*/ 4307935 h 6211920"/>
              <a:gd name="connsiteX1106" fmla="*/ 3161451 w 9635294"/>
              <a:gd name="connsiteY1106" fmla="*/ 4326522 h 6211920"/>
              <a:gd name="connsiteX1107" fmla="*/ 3159119 w 9635294"/>
              <a:gd name="connsiteY1107" fmla="*/ 4328687 h 6211920"/>
              <a:gd name="connsiteX1108" fmla="*/ 3141835 w 9635294"/>
              <a:gd name="connsiteY1108" fmla="*/ 4310101 h 6211920"/>
              <a:gd name="connsiteX1109" fmla="*/ 3139863 w 9635294"/>
              <a:gd name="connsiteY1109" fmla="*/ 4311938 h 6211920"/>
              <a:gd name="connsiteX1110" fmla="*/ 6496679 w 9635294"/>
              <a:gd name="connsiteY1110" fmla="*/ 4307929 h 6211920"/>
              <a:gd name="connsiteX1111" fmla="*/ 6505950 w 9635294"/>
              <a:gd name="connsiteY1111" fmla="*/ 4316592 h 6211920"/>
              <a:gd name="connsiteX1112" fmla="*/ 6488678 w 9635294"/>
              <a:gd name="connsiteY1112" fmla="*/ 4335165 h 6211920"/>
              <a:gd name="connsiteX1113" fmla="*/ 6486337 w 9635294"/>
              <a:gd name="connsiteY1113" fmla="*/ 4332996 h 6211920"/>
              <a:gd name="connsiteX1114" fmla="*/ 6503600 w 9635294"/>
              <a:gd name="connsiteY1114" fmla="*/ 4314426 h 6211920"/>
              <a:gd name="connsiteX1115" fmla="*/ 6498965 w 9635294"/>
              <a:gd name="connsiteY1115" fmla="*/ 4310095 h 6211920"/>
              <a:gd name="connsiteX1116" fmla="*/ 6481693 w 9635294"/>
              <a:gd name="connsiteY1116" fmla="*/ 4328682 h 6211920"/>
              <a:gd name="connsiteX1117" fmla="*/ 6483935 w 9635294"/>
              <a:gd name="connsiteY1117" fmla="*/ 4330773 h 6211920"/>
              <a:gd name="connsiteX1118" fmla="*/ 6479344 w 9635294"/>
              <a:gd name="connsiteY1118" fmla="*/ 4326522 h 6211920"/>
              <a:gd name="connsiteX1119" fmla="*/ 6496679 w 9635294"/>
              <a:gd name="connsiteY1119" fmla="*/ 4307929 h 6211920"/>
              <a:gd name="connsiteX1120" fmla="*/ 6536129 w 9635294"/>
              <a:gd name="connsiteY1120" fmla="*/ 4275064 h 6211920"/>
              <a:gd name="connsiteX1121" fmla="*/ 6538462 w 9635294"/>
              <a:gd name="connsiteY1121" fmla="*/ 4277252 h 6211920"/>
              <a:gd name="connsiteX1122" fmla="*/ 6538454 w 9635294"/>
              <a:gd name="connsiteY1122" fmla="*/ 4277262 h 6211920"/>
              <a:gd name="connsiteX1123" fmla="*/ 3105343 w 9635294"/>
              <a:gd name="connsiteY1123" fmla="*/ 4274443 h 6211920"/>
              <a:gd name="connsiteX1124" fmla="*/ 3102358 w 9635294"/>
              <a:gd name="connsiteY1124" fmla="*/ 4277254 h 6211920"/>
              <a:gd name="connsiteX1125" fmla="*/ 3102356 w 9635294"/>
              <a:gd name="connsiteY1125" fmla="*/ 4277252 h 6211920"/>
              <a:gd name="connsiteX1126" fmla="*/ 6531540 w 9635294"/>
              <a:gd name="connsiteY1126" fmla="*/ 4270725 h 6211920"/>
              <a:gd name="connsiteX1127" fmla="*/ 6536129 w 9635294"/>
              <a:gd name="connsiteY1127" fmla="*/ 4275064 h 6211920"/>
              <a:gd name="connsiteX1128" fmla="*/ 6533826 w 9635294"/>
              <a:gd name="connsiteY1128" fmla="*/ 4272903 h 6211920"/>
              <a:gd name="connsiteX1129" fmla="*/ 6516364 w 9635294"/>
              <a:gd name="connsiteY1129" fmla="*/ 4291503 h 6211920"/>
              <a:gd name="connsiteX1130" fmla="*/ 6520999 w 9635294"/>
              <a:gd name="connsiteY1130" fmla="*/ 4295845 h 6211920"/>
              <a:gd name="connsiteX1131" fmla="*/ 6538454 w 9635294"/>
              <a:gd name="connsiteY1131" fmla="*/ 4277262 h 6211920"/>
              <a:gd name="connsiteX1132" fmla="*/ 6540748 w 9635294"/>
              <a:gd name="connsiteY1132" fmla="*/ 4279432 h 6211920"/>
              <a:gd name="connsiteX1133" fmla="*/ 6523285 w 9635294"/>
              <a:gd name="connsiteY1133" fmla="*/ 4298018 h 6211920"/>
              <a:gd name="connsiteX1134" fmla="*/ 6514014 w 9635294"/>
              <a:gd name="connsiteY1134" fmla="*/ 4289331 h 6211920"/>
              <a:gd name="connsiteX1135" fmla="*/ 6531540 w 9635294"/>
              <a:gd name="connsiteY1135" fmla="*/ 4270725 h 6211920"/>
              <a:gd name="connsiteX1136" fmla="*/ 3109292 w 9635294"/>
              <a:gd name="connsiteY1136" fmla="*/ 4270725 h 6211920"/>
              <a:gd name="connsiteX1137" fmla="*/ 3126773 w 9635294"/>
              <a:gd name="connsiteY1137" fmla="*/ 4289331 h 6211920"/>
              <a:gd name="connsiteX1138" fmla="*/ 3117502 w 9635294"/>
              <a:gd name="connsiteY1138" fmla="*/ 4298018 h 6211920"/>
              <a:gd name="connsiteX1139" fmla="*/ 3100045 w 9635294"/>
              <a:gd name="connsiteY1139" fmla="*/ 4279432 h 6211920"/>
              <a:gd name="connsiteX1140" fmla="*/ 3102358 w 9635294"/>
              <a:gd name="connsiteY1140" fmla="*/ 4277254 h 6211920"/>
              <a:gd name="connsiteX1141" fmla="*/ 3119819 w 9635294"/>
              <a:gd name="connsiteY1141" fmla="*/ 4295845 h 6211920"/>
              <a:gd name="connsiteX1142" fmla="*/ 3124454 w 9635294"/>
              <a:gd name="connsiteY1142" fmla="*/ 4291503 h 6211920"/>
              <a:gd name="connsiteX1143" fmla="*/ 3106980 w 9635294"/>
              <a:gd name="connsiteY1143" fmla="*/ 4272903 h 6211920"/>
              <a:gd name="connsiteX1144" fmla="*/ 3105343 w 9635294"/>
              <a:gd name="connsiteY1144" fmla="*/ 4274443 h 6211920"/>
              <a:gd name="connsiteX1145" fmla="*/ 3089553 w 9635294"/>
              <a:gd name="connsiteY1145" fmla="*/ 4254435 h 6211920"/>
              <a:gd name="connsiteX1146" fmla="*/ 3089556 w 9635294"/>
              <a:gd name="connsiteY1146" fmla="*/ 4254437 h 6211920"/>
              <a:gd name="connsiteX1147" fmla="*/ 3084938 w 9635294"/>
              <a:gd name="connsiteY1147" fmla="*/ 4258799 h 6211920"/>
              <a:gd name="connsiteX1148" fmla="*/ 3084938 w 9635294"/>
              <a:gd name="connsiteY1148" fmla="*/ 4258799 h 6211920"/>
              <a:gd name="connsiteX1149" fmla="*/ 6551235 w 9635294"/>
              <a:gd name="connsiteY1149" fmla="*/ 4254427 h 6211920"/>
              <a:gd name="connsiteX1150" fmla="*/ 6554099 w 9635294"/>
              <a:gd name="connsiteY1150" fmla="*/ 4257141 h 6211920"/>
              <a:gd name="connsiteX1151" fmla="*/ 6551225 w 9635294"/>
              <a:gd name="connsiteY1151" fmla="*/ 4254437 h 6211920"/>
              <a:gd name="connsiteX1152" fmla="*/ 3067452 w 9635294"/>
              <a:gd name="connsiteY1152" fmla="*/ 4240353 h 6211920"/>
              <a:gd name="connsiteX1153" fmla="*/ 3084938 w 9635294"/>
              <a:gd name="connsiteY1153" fmla="*/ 4258799 h 6211920"/>
              <a:gd name="connsiteX1154" fmla="*/ 3082634 w 9635294"/>
              <a:gd name="connsiteY1154" fmla="*/ 4260977 h 6211920"/>
              <a:gd name="connsiteX1155" fmla="*/ 3065153 w 9635294"/>
              <a:gd name="connsiteY1155" fmla="*/ 4242537 h 6211920"/>
              <a:gd name="connsiteX1156" fmla="*/ 3072055 w 9635294"/>
              <a:gd name="connsiteY1156" fmla="*/ 4235977 h 6211920"/>
              <a:gd name="connsiteX1157" fmla="*/ 3072057 w 9635294"/>
              <a:gd name="connsiteY1157" fmla="*/ 4235980 h 6211920"/>
              <a:gd name="connsiteX1158" fmla="*/ 3067452 w 9635294"/>
              <a:gd name="connsiteY1158" fmla="*/ 4240353 h 6211920"/>
              <a:gd name="connsiteX1159" fmla="*/ 3067452 w 9635294"/>
              <a:gd name="connsiteY1159" fmla="*/ 4240352 h 6211920"/>
              <a:gd name="connsiteX1160" fmla="*/ 3074360 w 9635294"/>
              <a:gd name="connsiteY1160" fmla="*/ 4233793 h 6211920"/>
              <a:gd name="connsiteX1161" fmla="*/ 3091861 w 9635294"/>
              <a:gd name="connsiteY1161" fmla="*/ 4252252 h 6211920"/>
              <a:gd name="connsiteX1162" fmla="*/ 3089553 w 9635294"/>
              <a:gd name="connsiteY1162" fmla="*/ 4254435 h 6211920"/>
              <a:gd name="connsiteX1163" fmla="*/ 3072057 w 9635294"/>
              <a:gd name="connsiteY1163" fmla="*/ 4235980 h 6211920"/>
              <a:gd name="connsiteX1164" fmla="*/ 6566465 w 9635294"/>
              <a:gd name="connsiteY1164" fmla="*/ 4233786 h 6211920"/>
              <a:gd name="connsiteX1165" fmla="*/ 6575673 w 9635294"/>
              <a:gd name="connsiteY1165" fmla="*/ 4242537 h 6211920"/>
              <a:gd name="connsiteX1166" fmla="*/ 6558147 w 9635294"/>
              <a:gd name="connsiteY1166" fmla="*/ 4260977 h 6211920"/>
              <a:gd name="connsiteX1167" fmla="*/ 6554099 w 9635294"/>
              <a:gd name="connsiteY1167" fmla="*/ 4257141 h 6211920"/>
              <a:gd name="connsiteX1168" fmla="*/ 6555861 w 9635294"/>
              <a:gd name="connsiteY1168" fmla="*/ 4258799 h 6211920"/>
              <a:gd name="connsiteX1169" fmla="*/ 6573323 w 9635294"/>
              <a:gd name="connsiteY1169" fmla="*/ 4240352 h 6211920"/>
              <a:gd name="connsiteX1170" fmla="*/ 6568751 w 9635294"/>
              <a:gd name="connsiteY1170" fmla="*/ 4235977 h 6211920"/>
              <a:gd name="connsiteX1171" fmla="*/ 6551235 w 9635294"/>
              <a:gd name="connsiteY1171" fmla="*/ 4254427 h 6211920"/>
              <a:gd name="connsiteX1172" fmla="*/ 6548939 w 9635294"/>
              <a:gd name="connsiteY1172" fmla="*/ 4252252 h 6211920"/>
              <a:gd name="connsiteX1173" fmla="*/ 6566465 w 9635294"/>
              <a:gd name="connsiteY1173" fmla="*/ 4233786 h 6211920"/>
              <a:gd name="connsiteX1174" fmla="*/ 6588605 w 9635294"/>
              <a:gd name="connsiteY1174" fmla="*/ 4219684 h 6211920"/>
              <a:gd name="connsiteX1175" fmla="*/ 6590914 w 9635294"/>
              <a:gd name="connsiteY1175" fmla="*/ 4221899 h 6211920"/>
              <a:gd name="connsiteX1176" fmla="*/ 6590913 w 9635294"/>
              <a:gd name="connsiteY1176" fmla="*/ 4221900 h 6211920"/>
              <a:gd name="connsiteX1177" fmla="*/ 3054468 w 9635294"/>
              <a:gd name="connsiteY1177" fmla="*/ 4217514 h 6211920"/>
              <a:gd name="connsiteX1178" fmla="*/ 3054472 w 9635294"/>
              <a:gd name="connsiteY1178" fmla="*/ 4217518 h 6211920"/>
              <a:gd name="connsiteX1179" fmla="*/ 3049990 w 9635294"/>
              <a:gd name="connsiteY1179" fmla="*/ 4221791 h 6211920"/>
              <a:gd name="connsiteX1180" fmla="*/ 6608500 w 9635294"/>
              <a:gd name="connsiteY1180" fmla="*/ 4203532 h 6211920"/>
              <a:gd name="connsiteX1181" fmla="*/ 6610788 w 9635294"/>
              <a:gd name="connsiteY1181" fmla="*/ 4205732 h 6211920"/>
              <a:gd name="connsiteX1182" fmla="*/ 6593199 w 9635294"/>
              <a:gd name="connsiteY1182" fmla="*/ 4224090 h 6211920"/>
              <a:gd name="connsiteX1183" fmla="*/ 6590914 w 9635294"/>
              <a:gd name="connsiteY1183" fmla="*/ 4221899 h 6211920"/>
              <a:gd name="connsiteX1184" fmla="*/ 3035150 w 9635294"/>
              <a:gd name="connsiteY1184" fmla="*/ 4200801 h 6211920"/>
              <a:gd name="connsiteX1185" fmla="*/ 3032303 w 9635294"/>
              <a:gd name="connsiteY1185" fmla="*/ 4203536 h 6211920"/>
              <a:gd name="connsiteX1186" fmla="*/ 3049875 w 9635294"/>
              <a:gd name="connsiteY1186" fmla="*/ 4221900 h 6211920"/>
              <a:gd name="connsiteX1187" fmla="*/ 3049990 w 9635294"/>
              <a:gd name="connsiteY1187" fmla="*/ 4221791 h 6211920"/>
              <a:gd name="connsiteX1188" fmla="*/ 3047581 w 9635294"/>
              <a:gd name="connsiteY1188" fmla="*/ 4224090 h 6211920"/>
              <a:gd name="connsiteX1189" fmla="*/ 3030012 w 9635294"/>
              <a:gd name="connsiteY1189" fmla="*/ 4205732 h 6211920"/>
              <a:gd name="connsiteX1190" fmla="*/ 6603931 w 9635294"/>
              <a:gd name="connsiteY1190" fmla="*/ 4199135 h 6211920"/>
              <a:gd name="connsiteX1191" fmla="*/ 6608502 w 9635294"/>
              <a:gd name="connsiteY1191" fmla="*/ 4203530 h 6211920"/>
              <a:gd name="connsiteX1192" fmla="*/ 6608500 w 9635294"/>
              <a:gd name="connsiteY1192" fmla="*/ 4203532 h 6211920"/>
              <a:gd name="connsiteX1193" fmla="*/ 6603930 w 9635294"/>
              <a:gd name="connsiteY1193" fmla="*/ 4199136 h 6211920"/>
              <a:gd name="connsiteX1194" fmla="*/ 3036883 w 9635294"/>
              <a:gd name="connsiteY1194" fmla="*/ 4199135 h 6211920"/>
              <a:gd name="connsiteX1195" fmla="*/ 3036884 w 9635294"/>
              <a:gd name="connsiteY1195" fmla="*/ 4199136 h 6211920"/>
              <a:gd name="connsiteX1196" fmla="*/ 3035150 w 9635294"/>
              <a:gd name="connsiteY1196" fmla="*/ 4200801 h 6211920"/>
              <a:gd name="connsiteX1197" fmla="*/ 6601644 w 9635294"/>
              <a:gd name="connsiteY1197" fmla="*/ 4196937 h 6211920"/>
              <a:gd name="connsiteX1198" fmla="*/ 6603930 w 9635294"/>
              <a:gd name="connsiteY1198" fmla="*/ 4199136 h 6211920"/>
              <a:gd name="connsiteX1199" fmla="*/ 6586341 w 9635294"/>
              <a:gd name="connsiteY1199" fmla="*/ 4217511 h 6211920"/>
              <a:gd name="connsiteX1200" fmla="*/ 6588605 w 9635294"/>
              <a:gd name="connsiteY1200" fmla="*/ 4219684 h 6211920"/>
              <a:gd name="connsiteX1201" fmla="*/ 6584055 w 9635294"/>
              <a:gd name="connsiteY1201" fmla="*/ 4215322 h 6211920"/>
              <a:gd name="connsiteX1202" fmla="*/ 6601644 w 9635294"/>
              <a:gd name="connsiteY1202" fmla="*/ 4196937 h 6211920"/>
              <a:gd name="connsiteX1203" fmla="*/ 3039174 w 9635294"/>
              <a:gd name="connsiteY1203" fmla="*/ 4196937 h 6211920"/>
              <a:gd name="connsiteX1204" fmla="*/ 3056763 w 9635294"/>
              <a:gd name="connsiteY1204" fmla="*/ 4215322 h 6211920"/>
              <a:gd name="connsiteX1205" fmla="*/ 3054468 w 9635294"/>
              <a:gd name="connsiteY1205" fmla="*/ 4217514 h 6211920"/>
              <a:gd name="connsiteX1206" fmla="*/ 3036884 w 9635294"/>
              <a:gd name="connsiteY1206" fmla="*/ 4199136 h 6211920"/>
              <a:gd name="connsiteX1207" fmla="*/ 3019267 w 9635294"/>
              <a:gd name="connsiteY1207" fmla="*/ 4180814 h 6211920"/>
              <a:gd name="connsiteX1208" fmla="*/ 3019268 w 9635294"/>
              <a:gd name="connsiteY1208" fmla="*/ 4180815 h 6211920"/>
              <a:gd name="connsiteX1209" fmla="*/ 3014696 w 9635294"/>
              <a:gd name="connsiteY1209" fmla="*/ 4185223 h 6211920"/>
              <a:gd name="connsiteX1210" fmla="*/ 3014693 w 9635294"/>
              <a:gd name="connsiteY1210" fmla="*/ 4185220 h 6211920"/>
              <a:gd name="connsiteX1211" fmla="*/ 6621521 w 9635294"/>
              <a:gd name="connsiteY1211" fmla="*/ 4180814 h 6211920"/>
              <a:gd name="connsiteX1212" fmla="*/ 6624175 w 9635294"/>
              <a:gd name="connsiteY1212" fmla="*/ 4183371 h 6211920"/>
              <a:gd name="connsiteX1213" fmla="*/ 6621519 w 9635294"/>
              <a:gd name="connsiteY1213" fmla="*/ 4180815 h 6211920"/>
              <a:gd name="connsiteX1214" fmla="*/ 2997012 w 9635294"/>
              <a:gd name="connsiteY1214" fmla="*/ 4166904 h 6211920"/>
              <a:gd name="connsiteX1215" fmla="*/ 3014693 w 9635294"/>
              <a:gd name="connsiteY1215" fmla="*/ 4185220 h 6211920"/>
              <a:gd name="connsiteX1216" fmla="*/ 3012409 w 9635294"/>
              <a:gd name="connsiteY1216" fmla="*/ 4187419 h 6211920"/>
              <a:gd name="connsiteX1217" fmla="*/ 2994731 w 9635294"/>
              <a:gd name="connsiteY1217" fmla="*/ 4169112 h 6211920"/>
              <a:gd name="connsiteX1218" fmla="*/ 6643807 w 9635294"/>
              <a:gd name="connsiteY1218" fmla="*/ 4166903 h 6211920"/>
              <a:gd name="connsiteX1219" fmla="*/ 6646094 w 9635294"/>
              <a:gd name="connsiteY1219" fmla="*/ 4169112 h 6211920"/>
              <a:gd name="connsiteX1220" fmla="*/ 6628378 w 9635294"/>
              <a:gd name="connsiteY1220" fmla="*/ 4187419 h 6211920"/>
              <a:gd name="connsiteX1221" fmla="*/ 6624175 w 9635294"/>
              <a:gd name="connsiteY1221" fmla="*/ 4183371 h 6211920"/>
              <a:gd name="connsiteX1222" fmla="*/ 6626092 w 9635294"/>
              <a:gd name="connsiteY1222" fmla="*/ 4185215 h 6211920"/>
              <a:gd name="connsiteX1223" fmla="*/ 2999019 w 9635294"/>
              <a:gd name="connsiteY1223" fmla="*/ 4164961 h 6211920"/>
              <a:gd name="connsiteX1224" fmla="*/ 2997012 w 9635294"/>
              <a:gd name="connsiteY1224" fmla="*/ 4166904 h 6211920"/>
              <a:gd name="connsiteX1225" fmla="*/ 2997010 w 9635294"/>
              <a:gd name="connsiteY1225" fmla="*/ 4166902 h 6211920"/>
              <a:gd name="connsiteX1226" fmla="*/ 6641522 w 9635294"/>
              <a:gd name="connsiteY1226" fmla="*/ 4164696 h 6211920"/>
              <a:gd name="connsiteX1227" fmla="*/ 6643808 w 9635294"/>
              <a:gd name="connsiteY1227" fmla="*/ 4166902 h 6211920"/>
              <a:gd name="connsiteX1228" fmla="*/ 6643807 w 9635294"/>
              <a:gd name="connsiteY1228" fmla="*/ 4166903 h 6211920"/>
              <a:gd name="connsiteX1229" fmla="*/ 6636950 w 9635294"/>
              <a:gd name="connsiteY1229" fmla="*/ 4160279 h 6211920"/>
              <a:gd name="connsiteX1230" fmla="*/ 6641522 w 9635294"/>
              <a:gd name="connsiteY1230" fmla="*/ 4164696 h 6211920"/>
              <a:gd name="connsiteX1231" fmla="*/ 6639236 w 9635294"/>
              <a:gd name="connsiteY1231" fmla="*/ 4162489 h 6211920"/>
              <a:gd name="connsiteX1232" fmla="*/ 6621521 w 9635294"/>
              <a:gd name="connsiteY1232" fmla="*/ 4180814 h 6211920"/>
              <a:gd name="connsiteX1233" fmla="*/ 6619234 w 9635294"/>
              <a:gd name="connsiteY1233" fmla="*/ 4178611 h 6211920"/>
              <a:gd name="connsiteX1234" fmla="*/ 6636950 w 9635294"/>
              <a:gd name="connsiteY1234" fmla="*/ 4160279 h 6211920"/>
              <a:gd name="connsiteX1235" fmla="*/ 3003856 w 9635294"/>
              <a:gd name="connsiteY1235" fmla="*/ 4160279 h 6211920"/>
              <a:gd name="connsiteX1236" fmla="*/ 3021554 w 9635294"/>
              <a:gd name="connsiteY1236" fmla="*/ 4178611 h 6211920"/>
              <a:gd name="connsiteX1237" fmla="*/ 3019267 w 9635294"/>
              <a:gd name="connsiteY1237" fmla="*/ 4180814 h 6211920"/>
              <a:gd name="connsiteX1238" fmla="*/ 3001577 w 9635294"/>
              <a:gd name="connsiteY1238" fmla="*/ 4162489 h 6211920"/>
              <a:gd name="connsiteX1239" fmla="*/ 2999019 w 9635294"/>
              <a:gd name="connsiteY1239" fmla="*/ 4164961 h 6211920"/>
              <a:gd name="connsiteX1240" fmla="*/ 6659239 w 9635294"/>
              <a:gd name="connsiteY1240" fmla="*/ 4146411 h 6211920"/>
              <a:gd name="connsiteX1241" fmla="*/ 6661527 w 9635294"/>
              <a:gd name="connsiteY1241" fmla="*/ 4148626 h 6211920"/>
              <a:gd name="connsiteX1242" fmla="*/ 6661525 w 9635294"/>
              <a:gd name="connsiteY1242" fmla="*/ 4148627 h 6211920"/>
              <a:gd name="connsiteX1243" fmla="*/ 2983831 w 9635294"/>
              <a:gd name="connsiteY1243" fmla="*/ 4144198 h 6211920"/>
              <a:gd name="connsiteX1244" fmla="*/ 2983834 w 9635294"/>
              <a:gd name="connsiteY1244" fmla="*/ 4144202 h 6211920"/>
              <a:gd name="connsiteX1245" fmla="*/ 2979281 w 9635294"/>
              <a:gd name="connsiteY1245" fmla="*/ 4148627 h 6211920"/>
              <a:gd name="connsiteX1246" fmla="*/ 2979278 w 9635294"/>
              <a:gd name="connsiteY1246" fmla="*/ 4148624 h 6211920"/>
              <a:gd name="connsiteX1247" fmla="*/ 2963466 w 9635294"/>
              <a:gd name="connsiteY1247" fmla="*/ 4128581 h 6211920"/>
              <a:gd name="connsiteX1248" fmla="*/ 2961564 w 9635294"/>
              <a:gd name="connsiteY1248" fmla="*/ 4130440 h 6211920"/>
              <a:gd name="connsiteX1249" fmla="*/ 2979278 w 9635294"/>
              <a:gd name="connsiteY1249" fmla="*/ 4148624 h 6211920"/>
              <a:gd name="connsiteX1250" fmla="*/ 2977002 w 9635294"/>
              <a:gd name="connsiteY1250" fmla="*/ 4150836 h 6211920"/>
              <a:gd name="connsiteX1251" fmla="*/ 2959292 w 9635294"/>
              <a:gd name="connsiteY1251" fmla="*/ 4132656 h 6211920"/>
              <a:gd name="connsiteX1252" fmla="*/ 2966105 w 9635294"/>
              <a:gd name="connsiteY1252" fmla="*/ 4126001 h 6211920"/>
              <a:gd name="connsiteX1253" fmla="*/ 2966107 w 9635294"/>
              <a:gd name="connsiteY1253" fmla="*/ 4126003 h 6211920"/>
              <a:gd name="connsiteX1254" fmla="*/ 2963466 w 9635294"/>
              <a:gd name="connsiteY1254" fmla="*/ 4128581 h 6211920"/>
              <a:gd name="connsiteX1255" fmla="*/ 6672447 w 9635294"/>
              <a:gd name="connsiteY1255" fmla="*/ 4123785 h 6211920"/>
              <a:gd name="connsiteX1256" fmla="*/ 6681527 w 9635294"/>
              <a:gd name="connsiteY1256" fmla="*/ 4132656 h 6211920"/>
              <a:gd name="connsiteX1257" fmla="*/ 6663811 w 9635294"/>
              <a:gd name="connsiteY1257" fmla="*/ 4150836 h 6211920"/>
              <a:gd name="connsiteX1258" fmla="*/ 6661527 w 9635294"/>
              <a:gd name="connsiteY1258" fmla="*/ 4148626 h 6211920"/>
              <a:gd name="connsiteX1259" fmla="*/ 6679242 w 9635294"/>
              <a:gd name="connsiteY1259" fmla="*/ 4130440 h 6211920"/>
              <a:gd name="connsiteX1260" fmla="*/ 6674669 w 9635294"/>
              <a:gd name="connsiteY1260" fmla="*/ 4126001 h 6211920"/>
              <a:gd name="connsiteX1261" fmla="*/ 6656953 w 9635294"/>
              <a:gd name="connsiteY1261" fmla="*/ 4144194 h 6211920"/>
              <a:gd name="connsiteX1262" fmla="*/ 6659239 w 9635294"/>
              <a:gd name="connsiteY1262" fmla="*/ 4146411 h 6211920"/>
              <a:gd name="connsiteX1263" fmla="*/ 6654667 w 9635294"/>
              <a:gd name="connsiteY1263" fmla="*/ 4141985 h 6211920"/>
              <a:gd name="connsiteX1264" fmla="*/ 6672447 w 9635294"/>
              <a:gd name="connsiteY1264" fmla="*/ 4123785 h 6211920"/>
              <a:gd name="connsiteX1265" fmla="*/ 2968378 w 9635294"/>
              <a:gd name="connsiteY1265" fmla="*/ 4123785 h 6211920"/>
              <a:gd name="connsiteX1266" fmla="*/ 2986107 w 9635294"/>
              <a:gd name="connsiteY1266" fmla="*/ 4141985 h 6211920"/>
              <a:gd name="connsiteX1267" fmla="*/ 2983831 w 9635294"/>
              <a:gd name="connsiteY1267" fmla="*/ 4144198 h 6211920"/>
              <a:gd name="connsiteX1268" fmla="*/ 2966107 w 9635294"/>
              <a:gd name="connsiteY1268" fmla="*/ 4126003 h 6211920"/>
              <a:gd name="connsiteX1269" fmla="*/ 6694722 w 9635294"/>
              <a:gd name="connsiteY1269" fmla="*/ 4109987 h 6211920"/>
              <a:gd name="connsiteX1270" fmla="*/ 6697029 w 9635294"/>
              <a:gd name="connsiteY1270" fmla="*/ 4112246 h 6211920"/>
              <a:gd name="connsiteX1271" fmla="*/ 6697021 w 9635294"/>
              <a:gd name="connsiteY1271" fmla="*/ 4112254 h 6211920"/>
              <a:gd name="connsiteX1272" fmla="*/ 2948306 w 9635294"/>
              <a:gd name="connsiteY1272" fmla="*/ 4107809 h 6211920"/>
              <a:gd name="connsiteX1273" fmla="*/ 2948307 w 9635294"/>
              <a:gd name="connsiteY1273" fmla="*/ 4107809 h 6211920"/>
              <a:gd name="connsiteX1274" fmla="*/ 2943772 w 9635294"/>
              <a:gd name="connsiteY1274" fmla="*/ 4112254 h 6211920"/>
              <a:gd name="connsiteX1275" fmla="*/ 2943771 w 9635294"/>
              <a:gd name="connsiteY1275" fmla="*/ 4112254 h 6211920"/>
              <a:gd name="connsiteX1276" fmla="*/ 6714913 w 9635294"/>
              <a:gd name="connsiteY1276" fmla="*/ 4094090 h 6211920"/>
              <a:gd name="connsiteX1277" fmla="*/ 6717151 w 9635294"/>
              <a:gd name="connsiteY1277" fmla="*/ 4096302 h 6211920"/>
              <a:gd name="connsiteX1278" fmla="*/ 6699307 w 9635294"/>
              <a:gd name="connsiteY1278" fmla="*/ 4114477 h 6211920"/>
              <a:gd name="connsiteX1279" fmla="*/ 6697029 w 9635294"/>
              <a:gd name="connsiteY1279" fmla="*/ 4112246 h 6211920"/>
              <a:gd name="connsiteX1280" fmla="*/ 2925897 w 9635294"/>
              <a:gd name="connsiteY1280" fmla="*/ 4094075 h 6211920"/>
              <a:gd name="connsiteX1281" fmla="*/ 2943771 w 9635294"/>
              <a:gd name="connsiteY1281" fmla="*/ 4112254 h 6211920"/>
              <a:gd name="connsiteX1282" fmla="*/ 2941504 w 9635294"/>
              <a:gd name="connsiteY1282" fmla="*/ 4114477 h 6211920"/>
              <a:gd name="connsiteX1283" fmla="*/ 2923637 w 9635294"/>
              <a:gd name="connsiteY1283" fmla="*/ 4096302 h 6211920"/>
              <a:gd name="connsiteX1284" fmla="*/ 2927588 w 9635294"/>
              <a:gd name="connsiteY1284" fmla="*/ 4092409 h 6211920"/>
              <a:gd name="connsiteX1285" fmla="*/ 2925897 w 9635294"/>
              <a:gd name="connsiteY1285" fmla="*/ 4094075 h 6211920"/>
              <a:gd name="connsiteX1286" fmla="*/ 2925897 w 9635294"/>
              <a:gd name="connsiteY1286" fmla="*/ 4094074 h 6211920"/>
              <a:gd name="connsiteX1287" fmla="*/ 6712677 w 9635294"/>
              <a:gd name="connsiteY1287" fmla="*/ 4091879 h 6211920"/>
              <a:gd name="connsiteX1288" fmla="*/ 6714928 w 9635294"/>
              <a:gd name="connsiteY1288" fmla="*/ 4094074 h 6211920"/>
              <a:gd name="connsiteX1289" fmla="*/ 6714913 w 9635294"/>
              <a:gd name="connsiteY1289" fmla="*/ 4094090 h 6211920"/>
              <a:gd name="connsiteX1290" fmla="*/ 6708134 w 9635294"/>
              <a:gd name="connsiteY1290" fmla="*/ 4087388 h 6211920"/>
              <a:gd name="connsiteX1291" fmla="*/ 6712677 w 9635294"/>
              <a:gd name="connsiteY1291" fmla="*/ 4091879 h 6211920"/>
              <a:gd name="connsiteX1292" fmla="*/ 6710357 w 9635294"/>
              <a:gd name="connsiteY1292" fmla="*/ 4089616 h 6211920"/>
              <a:gd name="connsiteX1293" fmla="*/ 6692513 w 9635294"/>
              <a:gd name="connsiteY1293" fmla="*/ 4107809 h 6211920"/>
              <a:gd name="connsiteX1294" fmla="*/ 6694722 w 9635294"/>
              <a:gd name="connsiteY1294" fmla="*/ 4109987 h 6211920"/>
              <a:gd name="connsiteX1295" fmla="*/ 6690227 w 9635294"/>
              <a:gd name="connsiteY1295" fmla="*/ 4105586 h 6211920"/>
              <a:gd name="connsiteX1296" fmla="*/ 6708134 w 9635294"/>
              <a:gd name="connsiteY1296" fmla="*/ 4087388 h 6211920"/>
              <a:gd name="connsiteX1297" fmla="*/ 2932685 w 9635294"/>
              <a:gd name="connsiteY1297" fmla="*/ 4087388 h 6211920"/>
              <a:gd name="connsiteX1298" fmla="*/ 2950572 w 9635294"/>
              <a:gd name="connsiteY1298" fmla="*/ 4105586 h 6211920"/>
              <a:gd name="connsiteX1299" fmla="*/ 2948306 w 9635294"/>
              <a:gd name="connsiteY1299" fmla="*/ 4107809 h 6211920"/>
              <a:gd name="connsiteX1300" fmla="*/ 2930425 w 9635294"/>
              <a:gd name="connsiteY1300" fmla="*/ 4089616 h 6211920"/>
              <a:gd name="connsiteX1301" fmla="*/ 2927588 w 9635294"/>
              <a:gd name="connsiteY1301" fmla="*/ 4092409 h 6211920"/>
              <a:gd name="connsiteX1302" fmla="*/ 6728217 w 9635294"/>
              <a:gd name="connsiteY1302" fmla="*/ 4071528 h 6211920"/>
              <a:gd name="connsiteX1303" fmla="*/ 6732723 w 9635294"/>
              <a:gd name="connsiteY1303" fmla="*/ 4075993 h 6211920"/>
              <a:gd name="connsiteX1304" fmla="*/ 6732708 w 9635294"/>
              <a:gd name="connsiteY1304" fmla="*/ 4076008 h 6211920"/>
              <a:gd name="connsiteX1305" fmla="*/ 6728200 w 9635294"/>
              <a:gd name="connsiteY1305" fmla="*/ 4071545 h 6211920"/>
              <a:gd name="connsiteX1306" fmla="*/ 2892419 w 9635294"/>
              <a:gd name="connsiteY1306" fmla="*/ 4055717 h 6211920"/>
              <a:gd name="connsiteX1307" fmla="*/ 2890166 w 9635294"/>
              <a:gd name="connsiteY1307" fmla="*/ 4057956 h 6211920"/>
              <a:gd name="connsiteX1308" fmla="*/ 2890166 w 9635294"/>
              <a:gd name="connsiteY1308" fmla="*/ 4057955 h 6211920"/>
              <a:gd name="connsiteX1309" fmla="*/ 6743884 w 9635294"/>
              <a:gd name="connsiteY1309" fmla="*/ 4051244 h 6211920"/>
              <a:gd name="connsiteX1310" fmla="*/ 6752901 w 9635294"/>
              <a:gd name="connsiteY1310" fmla="*/ 4060190 h 6211920"/>
              <a:gd name="connsiteX1311" fmla="*/ 6734994 w 9635294"/>
              <a:gd name="connsiteY1311" fmla="*/ 4078244 h 6211920"/>
              <a:gd name="connsiteX1312" fmla="*/ 6732723 w 9635294"/>
              <a:gd name="connsiteY1312" fmla="*/ 4075993 h 6211920"/>
              <a:gd name="connsiteX1313" fmla="*/ 6750615 w 9635294"/>
              <a:gd name="connsiteY1313" fmla="*/ 4057955 h 6211920"/>
              <a:gd name="connsiteX1314" fmla="*/ 6746106 w 9635294"/>
              <a:gd name="connsiteY1314" fmla="*/ 4053478 h 6211920"/>
              <a:gd name="connsiteX1315" fmla="*/ 6728217 w 9635294"/>
              <a:gd name="connsiteY1315" fmla="*/ 4071528 h 6211920"/>
              <a:gd name="connsiteX1316" fmla="*/ 6725977 w 9635294"/>
              <a:gd name="connsiteY1316" fmla="*/ 4069309 h 6211920"/>
              <a:gd name="connsiteX1317" fmla="*/ 6743884 w 9635294"/>
              <a:gd name="connsiteY1317" fmla="*/ 4051244 h 6211920"/>
              <a:gd name="connsiteX1318" fmla="*/ 2896921 w 9635294"/>
              <a:gd name="connsiteY1318" fmla="*/ 4051244 h 6211920"/>
              <a:gd name="connsiteX1319" fmla="*/ 2914841 w 9635294"/>
              <a:gd name="connsiteY1319" fmla="*/ 4069309 h 6211920"/>
              <a:gd name="connsiteX1320" fmla="*/ 2905811 w 9635294"/>
              <a:gd name="connsiteY1320" fmla="*/ 4078244 h 6211920"/>
              <a:gd name="connsiteX1321" fmla="*/ 2887918 w 9635294"/>
              <a:gd name="connsiteY1321" fmla="*/ 4060190 h 6211920"/>
              <a:gd name="connsiteX1322" fmla="*/ 2890166 w 9635294"/>
              <a:gd name="connsiteY1322" fmla="*/ 4057956 h 6211920"/>
              <a:gd name="connsiteX1323" fmla="*/ 2908065 w 9635294"/>
              <a:gd name="connsiteY1323" fmla="*/ 4076008 h 6211920"/>
              <a:gd name="connsiteX1324" fmla="*/ 2912580 w 9635294"/>
              <a:gd name="connsiteY1324" fmla="*/ 4071545 h 6211920"/>
              <a:gd name="connsiteX1325" fmla="*/ 2894673 w 9635294"/>
              <a:gd name="connsiteY1325" fmla="*/ 4053478 h 6211920"/>
              <a:gd name="connsiteX1326" fmla="*/ 2892419 w 9635294"/>
              <a:gd name="connsiteY1326" fmla="*/ 4055717 h 6211920"/>
              <a:gd name="connsiteX1327" fmla="*/ 6766093 w 9635294"/>
              <a:gd name="connsiteY1327" fmla="*/ 4037388 h 6211920"/>
              <a:gd name="connsiteX1328" fmla="*/ 6768603 w 9635294"/>
              <a:gd name="connsiteY1328" fmla="*/ 4039886 h 6211920"/>
              <a:gd name="connsiteX1329" fmla="*/ 6768586 w 9635294"/>
              <a:gd name="connsiteY1329" fmla="*/ 4039903 h 6211920"/>
              <a:gd name="connsiteX1330" fmla="*/ 2876690 w 9635294"/>
              <a:gd name="connsiteY1330" fmla="*/ 4035419 h 6211920"/>
              <a:gd name="connsiteX1331" fmla="*/ 2876690 w 9635294"/>
              <a:gd name="connsiteY1331" fmla="*/ 4035420 h 6211920"/>
              <a:gd name="connsiteX1332" fmla="*/ 2872194 w 9635294"/>
              <a:gd name="connsiteY1332" fmla="*/ 4039903 h 6211920"/>
              <a:gd name="connsiteX1333" fmla="*/ 2872194 w 9635294"/>
              <a:gd name="connsiteY1333" fmla="*/ 4039902 h 6211920"/>
              <a:gd name="connsiteX1334" fmla="*/ 2856372 w 9635294"/>
              <a:gd name="connsiteY1334" fmla="*/ 4019759 h 6211920"/>
              <a:gd name="connsiteX1335" fmla="*/ 2854217 w 9635294"/>
              <a:gd name="connsiteY1335" fmla="*/ 4021919 h 6211920"/>
              <a:gd name="connsiteX1336" fmla="*/ 2872194 w 9635294"/>
              <a:gd name="connsiteY1336" fmla="*/ 4039902 h 6211920"/>
              <a:gd name="connsiteX1337" fmla="*/ 2869946 w 9635294"/>
              <a:gd name="connsiteY1337" fmla="*/ 4042143 h 6211920"/>
              <a:gd name="connsiteX1338" fmla="*/ 2851971 w 9635294"/>
              <a:gd name="connsiteY1338" fmla="*/ 4024168 h 6211920"/>
              <a:gd name="connsiteX1339" fmla="*/ 2858702 w 9635294"/>
              <a:gd name="connsiteY1339" fmla="*/ 4017424 h 6211920"/>
              <a:gd name="connsiteX1340" fmla="*/ 2858703 w 9635294"/>
              <a:gd name="connsiteY1340" fmla="*/ 4017425 h 6211920"/>
              <a:gd name="connsiteX1341" fmla="*/ 2856372 w 9635294"/>
              <a:gd name="connsiteY1341" fmla="*/ 4019759 h 6211920"/>
              <a:gd name="connsiteX1342" fmla="*/ 2860942 w 9635294"/>
              <a:gd name="connsiteY1342" fmla="*/ 4015182 h 6211920"/>
              <a:gd name="connsiteX1343" fmla="*/ 2878938 w 9635294"/>
              <a:gd name="connsiteY1343" fmla="*/ 4033178 h 6211920"/>
              <a:gd name="connsiteX1344" fmla="*/ 2876690 w 9635294"/>
              <a:gd name="connsiteY1344" fmla="*/ 4035419 h 6211920"/>
              <a:gd name="connsiteX1345" fmla="*/ 2858703 w 9635294"/>
              <a:gd name="connsiteY1345" fmla="*/ 4017425 h 6211920"/>
              <a:gd name="connsiteX1346" fmla="*/ 6779889 w 9635294"/>
              <a:gd name="connsiteY1346" fmla="*/ 4015175 h 6211920"/>
              <a:gd name="connsiteX1347" fmla="*/ 6788843 w 9635294"/>
              <a:gd name="connsiteY1347" fmla="*/ 4024168 h 6211920"/>
              <a:gd name="connsiteX1348" fmla="*/ 6770872 w 9635294"/>
              <a:gd name="connsiteY1348" fmla="*/ 4042143 h 6211920"/>
              <a:gd name="connsiteX1349" fmla="*/ 6768603 w 9635294"/>
              <a:gd name="connsiteY1349" fmla="*/ 4039886 h 6211920"/>
              <a:gd name="connsiteX1350" fmla="*/ 6786557 w 9635294"/>
              <a:gd name="connsiteY1350" fmla="*/ 4021919 h 6211920"/>
              <a:gd name="connsiteX1351" fmla="*/ 6782111 w 9635294"/>
              <a:gd name="connsiteY1351" fmla="*/ 4017424 h 6211920"/>
              <a:gd name="connsiteX1352" fmla="*/ 6764141 w 9635294"/>
              <a:gd name="connsiteY1352" fmla="*/ 4035420 h 6211920"/>
              <a:gd name="connsiteX1353" fmla="*/ 6766093 w 9635294"/>
              <a:gd name="connsiteY1353" fmla="*/ 4037388 h 6211920"/>
              <a:gd name="connsiteX1354" fmla="*/ 6761855 w 9635294"/>
              <a:gd name="connsiteY1354" fmla="*/ 4033171 h 6211920"/>
              <a:gd name="connsiteX1355" fmla="*/ 6779889 w 9635294"/>
              <a:gd name="connsiteY1355" fmla="*/ 4015175 h 6211920"/>
              <a:gd name="connsiteX1356" fmla="*/ 2840692 w 9635294"/>
              <a:gd name="connsiteY1356" fmla="*/ 3999484 h 6211920"/>
              <a:gd name="connsiteX1357" fmla="*/ 2840693 w 9635294"/>
              <a:gd name="connsiteY1357" fmla="*/ 3999485 h 6211920"/>
              <a:gd name="connsiteX1358" fmla="*/ 2836215 w 9635294"/>
              <a:gd name="connsiteY1358" fmla="*/ 4003993 h 6211920"/>
              <a:gd name="connsiteX1359" fmla="*/ 2836212 w 9635294"/>
              <a:gd name="connsiteY1359" fmla="*/ 4003990 h 6211920"/>
              <a:gd name="connsiteX1360" fmla="*/ 6800088 w 9635294"/>
              <a:gd name="connsiteY1360" fmla="*/ 3999478 h 6211920"/>
              <a:gd name="connsiteX1361" fmla="*/ 6801996 w 9635294"/>
              <a:gd name="connsiteY1361" fmla="*/ 4001397 h 6211920"/>
              <a:gd name="connsiteX1362" fmla="*/ 6800081 w 9635294"/>
              <a:gd name="connsiteY1362" fmla="*/ 3999485 h 6211920"/>
              <a:gd name="connsiteX1363" fmla="*/ 6822681 w 9635294"/>
              <a:gd name="connsiteY1363" fmla="*/ 3986075 h 6211920"/>
              <a:gd name="connsiteX1364" fmla="*/ 6824910 w 9635294"/>
              <a:gd name="connsiteY1364" fmla="*/ 3988322 h 6211920"/>
              <a:gd name="connsiteX1365" fmla="*/ 6806813 w 9635294"/>
              <a:gd name="connsiteY1365" fmla="*/ 4006240 h 6211920"/>
              <a:gd name="connsiteX1366" fmla="*/ 6801996 w 9635294"/>
              <a:gd name="connsiteY1366" fmla="*/ 4001397 h 6211920"/>
              <a:gd name="connsiteX1367" fmla="*/ 6804590 w 9635294"/>
              <a:gd name="connsiteY1367" fmla="*/ 4003987 h 6211920"/>
              <a:gd name="connsiteX1368" fmla="*/ 2820034 w 9635294"/>
              <a:gd name="connsiteY1368" fmla="*/ 3984155 h 6211920"/>
              <a:gd name="connsiteX1369" fmla="*/ 2818143 w 9635294"/>
              <a:gd name="connsiteY1369" fmla="*/ 3986067 h 6211920"/>
              <a:gd name="connsiteX1370" fmla="*/ 2836212 w 9635294"/>
              <a:gd name="connsiteY1370" fmla="*/ 4003990 h 6211920"/>
              <a:gd name="connsiteX1371" fmla="*/ 2833974 w 9635294"/>
              <a:gd name="connsiteY1371" fmla="*/ 4006240 h 6211920"/>
              <a:gd name="connsiteX1372" fmla="*/ 2815908 w 9635294"/>
              <a:gd name="connsiteY1372" fmla="*/ 3988322 h 6211920"/>
              <a:gd name="connsiteX1373" fmla="*/ 6820252 w 9635294"/>
              <a:gd name="connsiteY1373" fmla="*/ 3983628 h 6211920"/>
              <a:gd name="connsiteX1374" fmla="*/ 6822688 w 9635294"/>
              <a:gd name="connsiteY1374" fmla="*/ 3986067 h 6211920"/>
              <a:gd name="connsiteX1375" fmla="*/ 6822681 w 9635294"/>
              <a:gd name="connsiteY1375" fmla="*/ 3986075 h 6211920"/>
              <a:gd name="connsiteX1376" fmla="*/ 2822607 w 9635294"/>
              <a:gd name="connsiteY1376" fmla="*/ 3981552 h 6211920"/>
              <a:gd name="connsiteX1377" fmla="*/ 2822609 w 9635294"/>
              <a:gd name="connsiteY1377" fmla="*/ 3981554 h 6211920"/>
              <a:gd name="connsiteX1378" fmla="*/ 2820034 w 9635294"/>
              <a:gd name="connsiteY1378" fmla="*/ 3984155 h 6211920"/>
              <a:gd name="connsiteX1379" fmla="*/ 6815956 w 9635294"/>
              <a:gd name="connsiteY1379" fmla="*/ 3979299 h 6211920"/>
              <a:gd name="connsiteX1380" fmla="*/ 6820252 w 9635294"/>
              <a:gd name="connsiteY1380" fmla="*/ 3983628 h 6211920"/>
              <a:gd name="connsiteX1381" fmla="*/ 6818180 w 9635294"/>
              <a:gd name="connsiteY1381" fmla="*/ 3981552 h 6211920"/>
              <a:gd name="connsiteX1382" fmla="*/ 6800088 w 9635294"/>
              <a:gd name="connsiteY1382" fmla="*/ 3999478 h 6211920"/>
              <a:gd name="connsiteX1383" fmla="*/ 6797859 w 9635294"/>
              <a:gd name="connsiteY1383" fmla="*/ 3997236 h 6211920"/>
              <a:gd name="connsiteX1384" fmla="*/ 6815956 w 9635294"/>
              <a:gd name="connsiteY1384" fmla="*/ 3979299 h 6211920"/>
              <a:gd name="connsiteX1385" fmla="*/ 2824843 w 9635294"/>
              <a:gd name="connsiteY1385" fmla="*/ 3979299 h 6211920"/>
              <a:gd name="connsiteX1386" fmla="*/ 2842927 w 9635294"/>
              <a:gd name="connsiteY1386" fmla="*/ 3997236 h 6211920"/>
              <a:gd name="connsiteX1387" fmla="*/ 2840692 w 9635294"/>
              <a:gd name="connsiteY1387" fmla="*/ 3999484 h 6211920"/>
              <a:gd name="connsiteX1388" fmla="*/ 2822609 w 9635294"/>
              <a:gd name="connsiteY1388" fmla="*/ 3981554 h 6211920"/>
              <a:gd name="connsiteX1389" fmla="*/ 2804478 w 9635294"/>
              <a:gd name="connsiteY1389" fmla="*/ 3963645 h 6211920"/>
              <a:gd name="connsiteX1390" fmla="*/ 2804478 w 9635294"/>
              <a:gd name="connsiteY1390" fmla="*/ 3963645 h 6211920"/>
              <a:gd name="connsiteX1391" fmla="*/ 2800020 w 9635294"/>
              <a:gd name="connsiteY1391" fmla="*/ 3968166 h 6211920"/>
              <a:gd name="connsiteX1392" fmla="*/ 2800020 w 9635294"/>
              <a:gd name="connsiteY1392" fmla="*/ 3968166 h 6211920"/>
              <a:gd name="connsiteX1393" fmla="*/ 6836341 w 9635294"/>
              <a:gd name="connsiteY1393" fmla="*/ 3963645 h 6211920"/>
              <a:gd name="connsiteX1394" fmla="*/ 6840785 w 9635294"/>
              <a:gd name="connsiteY1394" fmla="*/ 3968166 h 6211920"/>
              <a:gd name="connsiteX1395" fmla="*/ 6840785 w 9635294"/>
              <a:gd name="connsiteY1395" fmla="*/ 3968166 h 6211920"/>
              <a:gd name="connsiteX1396" fmla="*/ 6836340 w 9635294"/>
              <a:gd name="connsiteY1396" fmla="*/ 3963645 h 6211920"/>
              <a:gd name="connsiteX1397" fmla="*/ 2781918 w 9635294"/>
              <a:gd name="connsiteY1397" fmla="*/ 3950363 h 6211920"/>
              <a:gd name="connsiteX1398" fmla="*/ 2800020 w 9635294"/>
              <a:gd name="connsiteY1398" fmla="*/ 3968166 h 6211920"/>
              <a:gd name="connsiteX1399" fmla="*/ 2797791 w 9635294"/>
              <a:gd name="connsiteY1399" fmla="*/ 3970426 h 6211920"/>
              <a:gd name="connsiteX1400" fmla="*/ 2779694 w 9635294"/>
              <a:gd name="connsiteY1400" fmla="*/ 3952627 h 6211920"/>
              <a:gd name="connsiteX1401" fmla="*/ 6854831 w 9635294"/>
              <a:gd name="connsiteY1401" fmla="*/ 3946228 h 6211920"/>
              <a:gd name="connsiteX1402" fmla="*/ 6861106 w 9635294"/>
              <a:gd name="connsiteY1402" fmla="*/ 3952627 h 6211920"/>
              <a:gd name="connsiteX1403" fmla="*/ 6843007 w 9635294"/>
              <a:gd name="connsiteY1403" fmla="*/ 3970426 h 6211920"/>
              <a:gd name="connsiteX1404" fmla="*/ 6840785 w 9635294"/>
              <a:gd name="connsiteY1404" fmla="*/ 3968166 h 6211920"/>
              <a:gd name="connsiteX1405" fmla="*/ 6858882 w 9635294"/>
              <a:gd name="connsiteY1405" fmla="*/ 3950361 h 6211920"/>
              <a:gd name="connsiteX1406" fmla="*/ 6854438 w 9635294"/>
              <a:gd name="connsiteY1406" fmla="*/ 3945827 h 6211920"/>
              <a:gd name="connsiteX1407" fmla="*/ 6854831 w 9635294"/>
              <a:gd name="connsiteY1407" fmla="*/ 3946228 h 6211920"/>
              <a:gd name="connsiteX1408" fmla="*/ 6854438 w 9635294"/>
              <a:gd name="connsiteY1408" fmla="*/ 3945827 h 6211920"/>
              <a:gd name="connsiteX1409" fmla="*/ 2786368 w 9635294"/>
              <a:gd name="connsiteY1409" fmla="*/ 3945827 h 6211920"/>
              <a:gd name="connsiteX1410" fmla="*/ 2786370 w 9635294"/>
              <a:gd name="connsiteY1410" fmla="*/ 3945829 h 6211920"/>
              <a:gd name="connsiteX1411" fmla="*/ 2781918 w 9635294"/>
              <a:gd name="connsiteY1411" fmla="*/ 3950363 h 6211920"/>
              <a:gd name="connsiteX1412" fmla="*/ 2781916 w 9635294"/>
              <a:gd name="connsiteY1412" fmla="*/ 3950361 h 6211920"/>
              <a:gd name="connsiteX1413" fmla="*/ 2788590 w 9635294"/>
              <a:gd name="connsiteY1413" fmla="*/ 3943566 h 6211920"/>
              <a:gd name="connsiteX1414" fmla="*/ 2806707 w 9635294"/>
              <a:gd name="connsiteY1414" fmla="*/ 3961384 h 6211920"/>
              <a:gd name="connsiteX1415" fmla="*/ 2804478 w 9635294"/>
              <a:gd name="connsiteY1415" fmla="*/ 3963645 h 6211920"/>
              <a:gd name="connsiteX1416" fmla="*/ 2786370 w 9635294"/>
              <a:gd name="connsiteY1416" fmla="*/ 3945829 h 6211920"/>
              <a:gd name="connsiteX1417" fmla="*/ 6852215 w 9635294"/>
              <a:gd name="connsiteY1417" fmla="*/ 3943560 h 6211920"/>
              <a:gd name="connsiteX1418" fmla="*/ 6854438 w 9635294"/>
              <a:gd name="connsiteY1418" fmla="*/ 3945827 h 6211920"/>
              <a:gd name="connsiteX1419" fmla="*/ 6836341 w 9635294"/>
              <a:gd name="connsiteY1419" fmla="*/ 3963645 h 6211920"/>
              <a:gd name="connsiteX1420" fmla="*/ 6834118 w 9635294"/>
              <a:gd name="connsiteY1420" fmla="*/ 3961384 h 6211920"/>
              <a:gd name="connsiteX1421" fmla="*/ 6852215 w 9635294"/>
              <a:gd name="connsiteY1421" fmla="*/ 3943560 h 6211920"/>
              <a:gd name="connsiteX1422" fmla="*/ 6872600 w 9635294"/>
              <a:gd name="connsiteY1422" fmla="*/ 3928020 h 6211920"/>
              <a:gd name="connsiteX1423" fmla="*/ 6877046 w 9635294"/>
              <a:gd name="connsiteY1423" fmla="*/ 3932561 h 6211920"/>
              <a:gd name="connsiteX1424" fmla="*/ 6877044 w 9635294"/>
              <a:gd name="connsiteY1424" fmla="*/ 3932562 h 6211920"/>
              <a:gd name="connsiteX1425" fmla="*/ 6872599 w 9635294"/>
              <a:gd name="connsiteY1425" fmla="*/ 3928022 h 6211920"/>
              <a:gd name="connsiteX1426" fmla="*/ 2768185 w 9635294"/>
              <a:gd name="connsiteY1426" fmla="*/ 3928019 h 6211920"/>
              <a:gd name="connsiteX1427" fmla="*/ 2768187 w 9635294"/>
              <a:gd name="connsiteY1427" fmla="*/ 3928022 h 6211920"/>
              <a:gd name="connsiteX1428" fmla="*/ 2763749 w 9635294"/>
              <a:gd name="connsiteY1428" fmla="*/ 3932562 h 6211920"/>
              <a:gd name="connsiteX1429" fmla="*/ 2763746 w 9635294"/>
              <a:gd name="connsiteY1429" fmla="*/ 3932559 h 6211920"/>
              <a:gd name="connsiteX1430" fmla="*/ 6893118 w 9635294"/>
              <a:gd name="connsiteY1430" fmla="*/ 3912534 h 6211920"/>
              <a:gd name="connsiteX1431" fmla="*/ 6897491 w 9635294"/>
              <a:gd name="connsiteY1431" fmla="*/ 3917042 h 6211920"/>
              <a:gd name="connsiteX1432" fmla="*/ 6879267 w 9635294"/>
              <a:gd name="connsiteY1432" fmla="*/ 3934830 h 6211920"/>
              <a:gd name="connsiteX1433" fmla="*/ 6877046 w 9635294"/>
              <a:gd name="connsiteY1433" fmla="*/ 3932561 h 6211920"/>
              <a:gd name="connsiteX1434" fmla="*/ 6895269 w 9635294"/>
              <a:gd name="connsiteY1434" fmla="*/ 3914770 h 6211920"/>
              <a:gd name="connsiteX1435" fmla="*/ 6890887 w 9635294"/>
              <a:gd name="connsiteY1435" fmla="*/ 3910217 h 6211920"/>
              <a:gd name="connsiteX1436" fmla="*/ 6893118 w 9635294"/>
              <a:gd name="connsiteY1436" fmla="*/ 3912534 h 6211920"/>
              <a:gd name="connsiteX1437" fmla="*/ 6890878 w 9635294"/>
              <a:gd name="connsiteY1437" fmla="*/ 3910225 h 6211920"/>
              <a:gd name="connsiteX1438" fmla="*/ 6888664 w 9635294"/>
              <a:gd name="connsiteY1438" fmla="*/ 3907943 h 6211920"/>
              <a:gd name="connsiteX1439" fmla="*/ 6890878 w 9635294"/>
              <a:gd name="connsiteY1439" fmla="*/ 3910225 h 6211920"/>
              <a:gd name="connsiteX1440" fmla="*/ 6872600 w 9635294"/>
              <a:gd name="connsiteY1440" fmla="*/ 3928020 h 6211920"/>
              <a:gd name="connsiteX1441" fmla="*/ 6870376 w 9635294"/>
              <a:gd name="connsiteY1441" fmla="*/ 3925748 h 6211920"/>
              <a:gd name="connsiteX1442" fmla="*/ 6888664 w 9635294"/>
              <a:gd name="connsiteY1442" fmla="*/ 3907943 h 6211920"/>
              <a:gd name="connsiteX1443" fmla="*/ 2752154 w 9635294"/>
              <a:gd name="connsiteY1443" fmla="*/ 3907943 h 6211920"/>
              <a:gd name="connsiteX1444" fmla="*/ 2770404 w 9635294"/>
              <a:gd name="connsiteY1444" fmla="*/ 3925748 h 6211920"/>
              <a:gd name="connsiteX1445" fmla="*/ 2768185 w 9635294"/>
              <a:gd name="connsiteY1445" fmla="*/ 3928019 h 6211920"/>
              <a:gd name="connsiteX1446" fmla="*/ 2749944 w 9635294"/>
              <a:gd name="connsiteY1446" fmla="*/ 3910217 h 6211920"/>
              <a:gd name="connsiteX1447" fmla="*/ 2745512 w 9635294"/>
              <a:gd name="connsiteY1447" fmla="*/ 3914770 h 6211920"/>
              <a:gd name="connsiteX1448" fmla="*/ 2763746 w 9635294"/>
              <a:gd name="connsiteY1448" fmla="*/ 3932559 h 6211920"/>
              <a:gd name="connsiteX1449" fmla="*/ 2761527 w 9635294"/>
              <a:gd name="connsiteY1449" fmla="*/ 3934830 h 6211920"/>
              <a:gd name="connsiteX1450" fmla="*/ 2743297 w 9635294"/>
              <a:gd name="connsiteY1450" fmla="*/ 3917042 h 6211920"/>
              <a:gd name="connsiteX1451" fmla="*/ 6911317 w 9635294"/>
              <a:gd name="connsiteY1451" fmla="*/ 3894795 h 6211920"/>
              <a:gd name="connsiteX1452" fmla="*/ 6913501 w 9635294"/>
              <a:gd name="connsiteY1452" fmla="*/ 3897052 h 6211920"/>
              <a:gd name="connsiteX1453" fmla="*/ 6913493 w 9635294"/>
              <a:gd name="connsiteY1453" fmla="*/ 3897059 h 6211920"/>
              <a:gd name="connsiteX1454" fmla="*/ 2731713 w 9635294"/>
              <a:gd name="connsiteY1454" fmla="*/ 3892499 h 6211920"/>
              <a:gd name="connsiteX1455" fmla="*/ 2731713 w 9635294"/>
              <a:gd name="connsiteY1455" fmla="*/ 3892499 h 6211920"/>
              <a:gd name="connsiteX1456" fmla="*/ 2729761 w 9635294"/>
              <a:gd name="connsiteY1456" fmla="*/ 3894511 h 6211920"/>
              <a:gd name="connsiteX1457" fmla="*/ 6925177 w 9635294"/>
              <a:gd name="connsiteY1457" fmla="*/ 3872529 h 6211920"/>
              <a:gd name="connsiteX1458" fmla="*/ 6934003 w 9635294"/>
              <a:gd name="connsiteY1458" fmla="*/ 3881666 h 6211920"/>
              <a:gd name="connsiteX1459" fmla="*/ 6915715 w 9635294"/>
              <a:gd name="connsiteY1459" fmla="*/ 3899339 h 6211920"/>
              <a:gd name="connsiteX1460" fmla="*/ 6913501 w 9635294"/>
              <a:gd name="connsiteY1460" fmla="*/ 3897052 h 6211920"/>
              <a:gd name="connsiteX1461" fmla="*/ 6931781 w 9635294"/>
              <a:gd name="connsiteY1461" fmla="*/ 3879381 h 6211920"/>
              <a:gd name="connsiteX1462" fmla="*/ 6927336 w 9635294"/>
              <a:gd name="connsiteY1462" fmla="*/ 3874814 h 6211920"/>
              <a:gd name="connsiteX1463" fmla="*/ 6909111 w 9635294"/>
              <a:gd name="connsiteY1463" fmla="*/ 3892499 h 6211920"/>
              <a:gd name="connsiteX1464" fmla="*/ 6911317 w 9635294"/>
              <a:gd name="connsiteY1464" fmla="*/ 3894795 h 6211920"/>
              <a:gd name="connsiteX1465" fmla="*/ 6906889 w 9635294"/>
              <a:gd name="connsiteY1465" fmla="*/ 3890221 h 6211920"/>
              <a:gd name="connsiteX1466" fmla="*/ 6925177 w 9635294"/>
              <a:gd name="connsiteY1466" fmla="*/ 3872529 h 6211920"/>
              <a:gd name="connsiteX1467" fmla="*/ 2715641 w 9635294"/>
              <a:gd name="connsiteY1467" fmla="*/ 3872529 h 6211920"/>
              <a:gd name="connsiteX1468" fmla="*/ 2733924 w 9635294"/>
              <a:gd name="connsiteY1468" fmla="*/ 3890221 h 6211920"/>
              <a:gd name="connsiteX1469" fmla="*/ 2731713 w 9635294"/>
              <a:gd name="connsiteY1469" fmla="*/ 3892499 h 6211920"/>
              <a:gd name="connsiteX1470" fmla="*/ 2713438 w 9635294"/>
              <a:gd name="connsiteY1470" fmla="*/ 3874814 h 6211920"/>
              <a:gd name="connsiteX1471" fmla="*/ 2709025 w 9635294"/>
              <a:gd name="connsiteY1471" fmla="*/ 3879381 h 6211920"/>
              <a:gd name="connsiteX1472" fmla="*/ 2727287 w 9635294"/>
              <a:gd name="connsiteY1472" fmla="*/ 3897059 h 6211920"/>
              <a:gd name="connsiteX1473" fmla="*/ 2729761 w 9635294"/>
              <a:gd name="connsiteY1473" fmla="*/ 3894511 h 6211920"/>
              <a:gd name="connsiteX1474" fmla="*/ 2725077 w 9635294"/>
              <a:gd name="connsiteY1474" fmla="*/ 3899339 h 6211920"/>
              <a:gd name="connsiteX1475" fmla="*/ 2706815 w 9635294"/>
              <a:gd name="connsiteY1475" fmla="*/ 3881666 h 6211920"/>
              <a:gd name="connsiteX1476" fmla="*/ 2695099 w 9635294"/>
              <a:gd name="connsiteY1476" fmla="*/ 3857136 h 6211920"/>
              <a:gd name="connsiteX1477" fmla="*/ 2695100 w 9635294"/>
              <a:gd name="connsiteY1477" fmla="*/ 3857136 h 6211920"/>
              <a:gd name="connsiteX1478" fmla="*/ 2693462 w 9635294"/>
              <a:gd name="connsiteY1478" fmla="*/ 3858837 h 6211920"/>
              <a:gd name="connsiteX1479" fmla="*/ 6945705 w 9635294"/>
              <a:gd name="connsiteY1479" fmla="*/ 3857119 h 6211920"/>
              <a:gd name="connsiteX1480" fmla="*/ 6947909 w 9635294"/>
              <a:gd name="connsiteY1480" fmla="*/ 3859422 h 6211920"/>
              <a:gd name="connsiteX1481" fmla="*/ 6945687 w 9635294"/>
              <a:gd name="connsiteY1481" fmla="*/ 3857136 h 6211920"/>
              <a:gd name="connsiteX1482" fmla="*/ 6968468 w 9635294"/>
              <a:gd name="connsiteY1482" fmla="*/ 3844103 h 6211920"/>
              <a:gd name="connsiteX1483" fmla="*/ 6970643 w 9635294"/>
              <a:gd name="connsiteY1483" fmla="*/ 3846379 h 6211920"/>
              <a:gd name="connsiteX1484" fmla="*/ 6952292 w 9635294"/>
              <a:gd name="connsiteY1484" fmla="*/ 3864001 h 6211920"/>
              <a:gd name="connsiteX1485" fmla="*/ 6947909 w 9635294"/>
              <a:gd name="connsiteY1485" fmla="*/ 3859422 h 6211920"/>
              <a:gd name="connsiteX1486" fmla="*/ 6950132 w 9635294"/>
              <a:gd name="connsiteY1486" fmla="*/ 3861708 h 6211920"/>
              <a:gd name="connsiteX1487" fmla="*/ 6964102 w 9635294"/>
              <a:gd name="connsiteY1487" fmla="*/ 3839503 h 6211920"/>
              <a:gd name="connsiteX1488" fmla="*/ 6968484 w 9635294"/>
              <a:gd name="connsiteY1488" fmla="*/ 3844087 h 6211920"/>
              <a:gd name="connsiteX1489" fmla="*/ 6968468 w 9635294"/>
              <a:gd name="connsiteY1489" fmla="*/ 3844103 h 6211920"/>
              <a:gd name="connsiteX1490" fmla="*/ 6964086 w 9635294"/>
              <a:gd name="connsiteY1490" fmla="*/ 3839518 h 6211920"/>
              <a:gd name="connsiteX1491" fmla="*/ 6961880 w 9635294"/>
              <a:gd name="connsiteY1491" fmla="*/ 3837210 h 6211920"/>
              <a:gd name="connsiteX1492" fmla="*/ 6964086 w 9635294"/>
              <a:gd name="connsiteY1492" fmla="*/ 3839518 h 6211920"/>
              <a:gd name="connsiteX1493" fmla="*/ 6945705 w 9635294"/>
              <a:gd name="connsiteY1493" fmla="*/ 3857119 h 6211920"/>
              <a:gd name="connsiteX1494" fmla="*/ 6943528 w 9635294"/>
              <a:gd name="connsiteY1494" fmla="*/ 3854844 h 6211920"/>
              <a:gd name="connsiteX1495" fmla="*/ 6961880 w 9635294"/>
              <a:gd name="connsiteY1495" fmla="*/ 3837210 h 6211920"/>
              <a:gd name="connsiteX1496" fmla="*/ 2678926 w 9635294"/>
              <a:gd name="connsiteY1496" fmla="*/ 3837210 h 6211920"/>
              <a:gd name="connsiteX1497" fmla="*/ 2697296 w 9635294"/>
              <a:gd name="connsiteY1497" fmla="*/ 3854851 h 6211920"/>
              <a:gd name="connsiteX1498" fmla="*/ 2695099 w 9635294"/>
              <a:gd name="connsiteY1498" fmla="*/ 3857136 h 6211920"/>
              <a:gd name="connsiteX1499" fmla="*/ 2676736 w 9635294"/>
              <a:gd name="connsiteY1499" fmla="*/ 3839503 h 6211920"/>
              <a:gd name="connsiteX1500" fmla="*/ 2672341 w 9635294"/>
              <a:gd name="connsiteY1500" fmla="*/ 3844087 h 6211920"/>
              <a:gd name="connsiteX1501" fmla="*/ 2690692 w 9635294"/>
              <a:gd name="connsiteY1501" fmla="*/ 3861714 h 6211920"/>
              <a:gd name="connsiteX1502" fmla="*/ 2693462 w 9635294"/>
              <a:gd name="connsiteY1502" fmla="*/ 3858837 h 6211920"/>
              <a:gd name="connsiteX1503" fmla="*/ 2688495 w 9635294"/>
              <a:gd name="connsiteY1503" fmla="*/ 3864001 h 6211920"/>
              <a:gd name="connsiteX1504" fmla="*/ 2670144 w 9635294"/>
              <a:gd name="connsiteY1504" fmla="*/ 3846379 h 6211920"/>
              <a:gd name="connsiteX1505" fmla="*/ 2658363 w 9635294"/>
              <a:gd name="connsiteY1505" fmla="*/ 3821931 h 6211920"/>
              <a:gd name="connsiteX1506" fmla="*/ 2658364 w 9635294"/>
              <a:gd name="connsiteY1506" fmla="*/ 3821932 h 6211920"/>
              <a:gd name="connsiteX1507" fmla="*/ 2655816 w 9635294"/>
              <a:gd name="connsiteY1507" fmla="*/ 3824599 h 6211920"/>
              <a:gd name="connsiteX1508" fmla="*/ 2635556 w 9635294"/>
              <a:gd name="connsiteY1508" fmla="*/ 3808979 h 6211920"/>
              <a:gd name="connsiteX1509" fmla="*/ 2653977 w 9635294"/>
              <a:gd name="connsiteY1509" fmla="*/ 3826523 h 6211920"/>
              <a:gd name="connsiteX1510" fmla="*/ 2655816 w 9635294"/>
              <a:gd name="connsiteY1510" fmla="*/ 3824599 h 6211920"/>
              <a:gd name="connsiteX1511" fmla="*/ 2651786 w 9635294"/>
              <a:gd name="connsiteY1511" fmla="*/ 3828821 h 6211920"/>
              <a:gd name="connsiteX1512" fmla="*/ 2633371 w 9635294"/>
              <a:gd name="connsiteY1512" fmla="*/ 3811277 h 6211920"/>
              <a:gd name="connsiteX1513" fmla="*/ 7003127 w 9635294"/>
              <a:gd name="connsiteY1513" fmla="*/ 3806747 h 6211920"/>
              <a:gd name="connsiteX1514" fmla="*/ 7005250 w 9635294"/>
              <a:gd name="connsiteY1514" fmla="*/ 3808979 h 6211920"/>
              <a:gd name="connsiteX1515" fmla="*/ 7005243 w 9635294"/>
              <a:gd name="connsiteY1515" fmla="*/ 3808985 h 6211920"/>
              <a:gd name="connsiteX1516" fmla="*/ 2639931 w 9635294"/>
              <a:gd name="connsiteY1516" fmla="*/ 3804375 h 6211920"/>
              <a:gd name="connsiteX1517" fmla="*/ 2639933 w 9635294"/>
              <a:gd name="connsiteY1517" fmla="*/ 3804377 h 6211920"/>
              <a:gd name="connsiteX1518" fmla="*/ 2635556 w 9635294"/>
              <a:gd name="connsiteY1518" fmla="*/ 3808979 h 6211920"/>
              <a:gd name="connsiteX1519" fmla="*/ 2635556 w 9635294"/>
              <a:gd name="connsiteY1519" fmla="*/ 3808979 h 6211920"/>
              <a:gd name="connsiteX1520" fmla="*/ 6998710 w 9635294"/>
              <a:gd name="connsiteY1520" fmla="*/ 3802076 h 6211920"/>
              <a:gd name="connsiteX1521" fmla="*/ 7003127 w 9635294"/>
              <a:gd name="connsiteY1521" fmla="*/ 3806747 h 6211920"/>
              <a:gd name="connsiteX1522" fmla="*/ 7000869 w 9635294"/>
              <a:gd name="connsiteY1522" fmla="*/ 3804375 h 6211920"/>
              <a:gd name="connsiteX1523" fmla="*/ 6982454 w 9635294"/>
              <a:gd name="connsiteY1523" fmla="*/ 3821932 h 6211920"/>
              <a:gd name="connsiteX1524" fmla="*/ 6986835 w 9635294"/>
              <a:gd name="connsiteY1524" fmla="*/ 3826523 h 6211920"/>
              <a:gd name="connsiteX1525" fmla="*/ 7005243 w 9635294"/>
              <a:gd name="connsiteY1525" fmla="*/ 3808985 h 6211920"/>
              <a:gd name="connsiteX1526" fmla="*/ 7007409 w 9635294"/>
              <a:gd name="connsiteY1526" fmla="*/ 3811277 h 6211920"/>
              <a:gd name="connsiteX1527" fmla="*/ 6988994 w 9635294"/>
              <a:gd name="connsiteY1527" fmla="*/ 3828821 h 6211920"/>
              <a:gd name="connsiteX1528" fmla="*/ 6980232 w 9635294"/>
              <a:gd name="connsiteY1528" fmla="*/ 3819634 h 6211920"/>
              <a:gd name="connsiteX1529" fmla="*/ 6998710 w 9635294"/>
              <a:gd name="connsiteY1529" fmla="*/ 3802076 h 6211920"/>
              <a:gd name="connsiteX1530" fmla="*/ 2642121 w 9635294"/>
              <a:gd name="connsiteY1530" fmla="*/ 3802076 h 6211920"/>
              <a:gd name="connsiteX1531" fmla="*/ 2660555 w 9635294"/>
              <a:gd name="connsiteY1531" fmla="*/ 3819634 h 6211920"/>
              <a:gd name="connsiteX1532" fmla="*/ 2658363 w 9635294"/>
              <a:gd name="connsiteY1532" fmla="*/ 3821931 h 6211920"/>
              <a:gd name="connsiteX1533" fmla="*/ 2639933 w 9635294"/>
              <a:gd name="connsiteY1533" fmla="*/ 3804377 h 6211920"/>
              <a:gd name="connsiteX1534" fmla="*/ 2621446 w 9635294"/>
              <a:gd name="connsiteY1534" fmla="*/ 3786829 h 6211920"/>
              <a:gd name="connsiteX1535" fmla="*/ 2621446 w 9635294"/>
              <a:gd name="connsiteY1535" fmla="*/ 3786829 h 6211920"/>
              <a:gd name="connsiteX1536" fmla="*/ 2617077 w 9635294"/>
              <a:gd name="connsiteY1536" fmla="*/ 3791440 h 6211920"/>
              <a:gd name="connsiteX1537" fmla="*/ 2617077 w 9635294"/>
              <a:gd name="connsiteY1537" fmla="*/ 3791439 h 6211920"/>
              <a:gd name="connsiteX1538" fmla="*/ 7019356 w 9635294"/>
              <a:gd name="connsiteY1538" fmla="*/ 3786821 h 6211920"/>
              <a:gd name="connsiteX1539" fmla="*/ 7021538 w 9635294"/>
              <a:gd name="connsiteY1539" fmla="*/ 3789134 h 6211920"/>
              <a:gd name="connsiteX1540" fmla="*/ 7019347 w 9635294"/>
              <a:gd name="connsiteY1540" fmla="*/ 3786829 h 6211920"/>
              <a:gd name="connsiteX1541" fmla="*/ 7042198 w 9635294"/>
              <a:gd name="connsiteY1541" fmla="*/ 3773998 h 6211920"/>
              <a:gd name="connsiteX1542" fmla="*/ 7044367 w 9635294"/>
              <a:gd name="connsiteY1542" fmla="*/ 3776302 h 6211920"/>
              <a:gd name="connsiteX1543" fmla="*/ 7025888 w 9635294"/>
              <a:gd name="connsiteY1543" fmla="*/ 3793744 h 6211920"/>
              <a:gd name="connsiteX1544" fmla="*/ 7021538 w 9635294"/>
              <a:gd name="connsiteY1544" fmla="*/ 3789134 h 6211920"/>
              <a:gd name="connsiteX1545" fmla="*/ 7023729 w 9635294"/>
              <a:gd name="connsiteY1545" fmla="*/ 3791440 h 6211920"/>
              <a:gd name="connsiteX1546" fmla="*/ 2598618 w 9635294"/>
              <a:gd name="connsiteY1546" fmla="*/ 3773990 h 6211920"/>
              <a:gd name="connsiteX1547" fmla="*/ 2617077 w 9635294"/>
              <a:gd name="connsiteY1547" fmla="*/ 3791439 h 6211920"/>
              <a:gd name="connsiteX1548" fmla="*/ 2614893 w 9635294"/>
              <a:gd name="connsiteY1548" fmla="*/ 3793744 h 6211920"/>
              <a:gd name="connsiteX1549" fmla="*/ 2596439 w 9635294"/>
              <a:gd name="connsiteY1549" fmla="*/ 3776302 h 6211920"/>
              <a:gd name="connsiteX1550" fmla="*/ 2600263 w 9635294"/>
              <a:gd name="connsiteY1550" fmla="*/ 3772246 h 6211920"/>
              <a:gd name="connsiteX1551" fmla="*/ 2598618 w 9635294"/>
              <a:gd name="connsiteY1551" fmla="*/ 3773990 h 6211920"/>
              <a:gd name="connsiteX1552" fmla="*/ 2598617 w 9635294"/>
              <a:gd name="connsiteY1552" fmla="*/ 3773990 h 6211920"/>
              <a:gd name="connsiteX1553" fmla="*/ 7040089 w 9635294"/>
              <a:gd name="connsiteY1553" fmla="*/ 3771758 h 6211920"/>
              <a:gd name="connsiteX1554" fmla="*/ 7042207 w 9635294"/>
              <a:gd name="connsiteY1554" fmla="*/ 3773990 h 6211920"/>
              <a:gd name="connsiteX1555" fmla="*/ 7042198 w 9635294"/>
              <a:gd name="connsiteY1555" fmla="*/ 3773998 h 6211920"/>
              <a:gd name="connsiteX1556" fmla="*/ 7035667 w 9635294"/>
              <a:gd name="connsiteY1556" fmla="*/ 3767061 h 6211920"/>
              <a:gd name="connsiteX1557" fmla="*/ 7040089 w 9635294"/>
              <a:gd name="connsiteY1557" fmla="*/ 3771758 h 6211920"/>
              <a:gd name="connsiteX1558" fmla="*/ 7037826 w 9635294"/>
              <a:gd name="connsiteY1558" fmla="*/ 3769373 h 6211920"/>
              <a:gd name="connsiteX1559" fmla="*/ 7019356 w 9635294"/>
              <a:gd name="connsiteY1559" fmla="*/ 3786821 h 6211920"/>
              <a:gd name="connsiteX1560" fmla="*/ 7017188 w 9635294"/>
              <a:gd name="connsiteY1560" fmla="*/ 3784524 h 6211920"/>
              <a:gd name="connsiteX1561" fmla="*/ 7035667 w 9635294"/>
              <a:gd name="connsiteY1561" fmla="*/ 3767061 h 6211920"/>
              <a:gd name="connsiteX1562" fmla="*/ 2605151 w 9635294"/>
              <a:gd name="connsiteY1562" fmla="*/ 3767061 h 6211920"/>
              <a:gd name="connsiteX1563" fmla="*/ 2623630 w 9635294"/>
              <a:gd name="connsiteY1563" fmla="*/ 3784524 h 6211920"/>
              <a:gd name="connsiteX1564" fmla="*/ 2621446 w 9635294"/>
              <a:gd name="connsiteY1564" fmla="*/ 3786829 h 6211920"/>
              <a:gd name="connsiteX1565" fmla="*/ 2602974 w 9635294"/>
              <a:gd name="connsiteY1565" fmla="*/ 3769373 h 6211920"/>
              <a:gd name="connsiteX1566" fmla="*/ 2600263 w 9635294"/>
              <a:gd name="connsiteY1566" fmla="*/ 3772246 h 6211920"/>
              <a:gd name="connsiteX1567" fmla="*/ 2582097 w 9635294"/>
              <a:gd name="connsiteY1567" fmla="*/ 3754438 h 6211920"/>
              <a:gd name="connsiteX1568" fmla="*/ 2580107 w 9635294"/>
              <a:gd name="connsiteY1568" fmla="*/ 3756559 h 6211920"/>
              <a:gd name="connsiteX1569" fmla="*/ 2580105 w 9635294"/>
              <a:gd name="connsiteY1569" fmla="*/ 3756556 h 6211920"/>
              <a:gd name="connsiteX1570" fmla="*/ 2563540 w 9635294"/>
              <a:gd name="connsiteY1570" fmla="*/ 3737004 h 6211920"/>
              <a:gd name="connsiteX1571" fmla="*/ 2561540 w 9635294"/>
              <a:gd name="connsiteY1571" fmla="*/ 3739140 h 6211920"/>
              <a:gd name="connsiteX1572" fmla="*/ 2580105 w 9635294"/>
              <a:gd name="connsiteY1572" fmla="*/ 3756556 h 6211920"/>
              <a:gd name="connsiteX1573" fmla="*/ 2577929 w 9635294"/>
              <a:gd name="connsiteY1573" fmla="*/ 3758871 h 6211920"/>
              <a:gd name="connsiteX1574" fmla="*/ 2559369 w 9635294"/>
              <a:gd name="connsiteY1574" fmla="*/ 3741459 h 6211920"/>
              <a:gd name="connsiteX1575" fmla="*/ 7077030 w 9635294"/>
              <a:gd name="connsiteY1575" fmla="*/ 3736748 h 6211920"/>
              <a:gd name="connsiteX1576" fmla="*/ 7079292 w 9635294"/>
              <a:gd name="connsiteY1576" fmla="*/ 3739140 h 6211920"/>
              <a:gd name="connsiteX1577" fmla="*/ 7079283 w 9635294"/>
              <a:gd name="connsiteY1577" fmla="*/ 3739149 h 6211920"/>
              <a:gd name="connsiteX1578" fmla="*/ 2565877 w 9635294"/>
              <a:gd name="connsiteY1578" fmla="*/ 3734505 h 6211920"/>
              <a:gd name="connsiteX1579" fmla="*/ 2565878 w 9635294"/>
              <a:gd name="connsiteY1579" fmla="*/ 3734506 h 6211920"/>
              <a:gd name="connsiteX1580" fmla="*/ 2563540 w 9635294"/>
              <a:gd name="connsiteY1580" fmla="*/ 3737004 h 6211920"/>
              <a:gd name="connsiteX1581" fmla="*/ 7072751 w 9635294"/>
              <a:gd name="connsiteY1581" fmla="*/ 3732188 h 6211920"/>
              <a:gd name="connsiteX1582" fmla="*/ 7077030 w 9635294"/>
              <a:gd name="connsiteY1582" fmla="*/ 3736748 h 6211920"/>
              <a:gd name="connsiteX1583" fmla="*/ 7074910 w 9635294"/>
              <a:gd name="connsiteY1583" fmla="*/ 3734505 h 6211920"/>
              <a:gd name="connsiteX1584" fmla="*/ 7056368 w 9635294"/>
              <a:gd name="connsiteY1584" fmla="*/ 3751929 h 6211920"/>
              <a:gd name="connsiteX1585" fmla="*/ 7060686 w 9635294"/>
              <a:gd name="connsiteY1585" fmla="*/ 3756559 h 6211920"/>
              <a:gd name="connsiteX1586" fmla="*/ 7079283 w 9635294"/>
              <a:gd name="connsiteY1586" fmla="*/ 3739149 h 6211920"/>
              <a:gd name="connsiteX1587" fmla="*/ 7081450 w 9635294"/>
              <a:gd name="connsiteY1587" fmla="*/ 3741459 h 6211920"/>
              <a:gd name="connsiteX1588" fmla="*/ 7062844 w 9635294"/>
              <a:gd name="connsiteY1588" fmla="*/ 3758871 h 6211920"/>
              <a:gd name="connsiteX1589" fmla="*/ 7054145 w 9635294"/>
              <a:gd name="connsiteY1589" fmla="*/ 3749619 h 6211920"/>
              <a:gd name="connsiteX1590" fmla="*/ 7072751 w 9635294"/>
              <a:gd name="connsiteY1590" fmla="*/ 3732188 h 6211920"/>
              <a:gd name="connsiteX1591" fmla="*/ 2568049 w 9635294"/>
              <a:gd name="connsiteY1591" fmla="*/ 3732188 h 6211920"/>
              <a:gd name="connsiteX1592" fmla="*/ 2586628 w 9635294"/>
              <a:gd name="connsiteY1592" fmla="*/ 3749619 h 6211920"/>
              <a:gd name="connsiteX1593" fmla="*/ 2582097 w 9635294"/>
              <a:gd name="connsiteY1593" fmla="*/ 3754438 h 6211920"/>
              <a:gd name="connsiteX1594" fmla="*/ 2584450 w 9635294"/>
              <a:gd name="connsiteY1594" fmla="*/ 3751929 h 6211920"/>
              <a:gd name="connsiteX1595" fmla="*/ 2565878 w 9635294"/>
              <a:gd name="connsiteY1595" fmla="*/ 3734506 h 6211920"/>
              <a:gd name="connsiteX1596" fmla="*/ 2547277 w 9635294"/>
              <a:gd name="connsiteY1596" fmla="*/ 3717131 h 6211920"/>
              <a:gd name="connsiteX1597" fmla="*/ 2547277 w 9635294"/>
              <a:gd name="connsiteY1597" fmla="*/ 3717131 h 6211920"/>
              <a:gd name="connsiteX1598" fmla="*/ 2546443 w 9635294"/>
              <a:gd name="connsiteY1598" fmla="*/ 3718025 h 6211920"/>
              <a:gd name="connsiteX1599" fmla="*/ 7093516 w 9635294"/>
              <a:gd name="connsiteY1599" fmla="*/ 3717130 h 6211920"/>
              <a:gd name="connsiteX1600" fmla="*/ 7096844 w 9635294"/>
              <a:gd name="connsiteY1600" fmla="*/ 3720710 h 6211920"/>
              <a:gd name="connsiteX1601" fmla="*/ 7093515 w 9635294"/>
              <a:gd name="connsiteY1601" fmla="*/ 3717131 h 6211920"/>
              <a:gd name="connsiteX1602" fmla="*/ 7114419 w 9635294"/>
              <a:gd name="connsiteY1602" fmla="*/ 3702280 h 6211920"/>
              <a:gd name="connsiteX1603" fmla="*/ 7118598 w 9635294"/>
              <a:gd name="connsiteY1603" fmla="*/ 3706782 h 6211920"/>
              <a:gd name="connsiteX1604" fmla="*/ 7099993 w 9635294"/>
              <a:gd name="connsiteY1604" fmla="*/ 3724097 h 6211920"/>
              <a:gd name="connsiteX1605" fmla="*/ 7096844 w 9635294"/>
              <a:gd name="connsiteY1605" fmla="*/ 3720710 h 6211920"/>
              <a:gd name="connsiteX1606" fmla="*/ 7097833 w 9635294"/>
              <a:gd name="connsiteY1606" fmla="*/ 3721773 h 6211920"/>
              <a:gd name="connsiteX1607" fmla="*/ 7116439 w 9635294"/>
              <a:gd name="connsiteY1607" fmla="*/ 3704457 h 6211920"/>
              <a:gd name="connsiteX1608" fmla="*/ 2526711 w 9635294"/>
              <a:gd name="connsiteY1608" fmla="*/ 3701911 h 6211920"/>
              <a:gd name="connsiteX1609" fmla="*/ 2524348 w 9635294"/>
              <a:gd name="connsiteY1609" fmla="*/ 3704457 h 6211920"/>
              <a:gd name="connsiteX1610" fmla="*/ 2542947 w 9635294"/>
              <a:gd name="connsiteY1610" fmla="*/ 3721773 h 6211920"/>
              <a:gd name="connsiteX1611" fmla="*/ 2546443 w 9635294"/>
              <a:gd name="connsiteY1611" fmla="*/ 3718025 h 6211920"/>
              <a:gd name="connsiteX1612" fmla="*/ 2540782 w 9635294"/>
              <a:gd name="connsiteY1612" fmla="*/ 3724097 h 6211920"/>
              <a:gd name="connsiteX1613" fmla="*/ 2522182 w 9635294"/>
              <a:gd name="connsiteY1613" fmla="*/ 3706782 h 6211920"/>
              <a:gd name="connsiteX1614" fmla="*/ 7112121 w 9635294"/>
              <a:gd name="connsiteY1614" fmla="*/ 3699802 h 6211920"/>
              <a:gd name="connsiteX1615" fmla="*/ 7114419 w 9635294"/>
              <a:gd name="connsiteY1615" fmla="*/ 3702280 h 6211920"/>
              <a:gd name="connsiteX1616" fmla="*/ 7112120 w 9635294"/>
              <a:gd name="connsiteY1616" fmla="*/ 3699803 h 6211920"/>
              <a:gd name="connsiteX1617" fmla="*/ 2528666 w 9635294"/>
              <a:gd name="connsiteY1617" fmla="*/ 3699802 h 6211920"/>
              <a:gd name="connsiteX1618" fmla="*/ 2528669 w 9635294"/>
              <a:gd name="connsiteY1618" fmla="*/ 3699805 h 6211920"/>
              <a:gd name="connsiteX1619" fmla="*/ 2526711 w 9635294"/>
              <a:gd name="connsiteY1619" fmla="*/ 3701911 h 6211920"/>
              <a:gd name="connsiteX1620" fmla="*/ 7109962 w 9635294"/>
              <a:gd name="connsiteY1620" fmla="*/ 3697479 h 6211920"/>
              <a:gd name="connsiteX1621" fmla="*/ 7112120 w 9635294"/>
              <a:gd name="connsiteY1621" fmla="*/ 3699803 h 6211920"/>
              <a:gd name="connsiteX1622" fmla="*/ 7093516 w 9635294"/>
              <a:gd name="connsiteY1622" fmla="*/ 3717130 h 6211920"/>
              <a:gd name="connsiteX1623" fmla="*/ 7091357 w 9635294"/>
              <a:gd name="connsiteY1623" fmla="*/ 3714808 h 6211920"/>
              <a:gd name="connsiteX1624" fmla="*/ 7109962 w 9635294"/>
              <a:gd name="connsiteY1624" fmla="*/ 3697479 h 6211920"/>
              <a:gd name="connsiteX1625" fmla="*/ 2530831 w 9635294"/>
              <a:gd name="connsiteY1625" fmla="*/ 3697479 h 6211920"/>
              <a:gd name="connsiteX1626" fmla="*/ 2549443 w 9635294"/>
              <a:gd name="connsiteY1626" fmla="*/ 3714808 h 6211920"/>
              <a:gd name="connsiteX1627" fmla="*/ 2547277 w 9635294"/>
              <a:gd name="connsiteY1627" fmla="*/ 3717131 h 6211920"/>
              <a:gd name="connsiteX1628" fmla="*/ 2528669 w 9635294"/>
              <a:gd name="connsiteY1628" fmla="*/ 3699805 h 6211920"/>
              <a:gd name="connsiteX1629" fmla="*/ 2508457 w 9635294"/>
              <a:gd name="connsiteY1629" fmla="*/ 3684171 h 6211920"/>
              <a:gd name="connsiteX1630" fmla="*/ 2505691 w 9635294"/>
              <a:gd name="connsiteY1630" fmla="*/ 3687160 h 6211920"/>
              <a:gd name="connsiteX1631" fmla="*/ 2505690 w 9635294"/>
              <a:gd name="connsiteY1631" fmla="*/ 3687160 h 6211920"/>
              <a:gd name="connsiteX1632" fmla="*/ 7130791 w 9635294"/>
              <a:gd name="connsiteY1632" fmla="*/ 3682498 h 6211920"/>
              <a:gd name="connsiteX1633" fmla="*/ 7134461 w 9635294"/>
              <a:gd name="connsiteY1633" fmla="*/ 3686457 h 6211920"/>
              <a:gd name="connsiteX1634" fmla="*/ 7130790 w 9635294"/>
              <a:gd name="connsiteY1634" fmla="*/ 3682499 h 6211920"/>
              <a:gd name="connsiteX1635" fmla="*/ 2486982 w 9635294"/>
              <a:gd name="connsiteY1635" fmla="*/ 3669879 h 6211920"/>
              <a:gd name="connsiteX1636" fmla="*/ 2505690 w 9635294"/>
              <a:gd name="connsiteY1636" fmla="*/ 3687160 h 6211920"/>
              <a:gd name="connsiteX1637" fmla="*/ 2503532 w 9635294"/>
              <a:gd name="connsiteY1637" fmla="*/ 3689490 h 6211920"/>
              <a:gd name="connsiteX1638" fmla="*/ 2484832 w 9635294"/>
              <a:gd name="connsiteY1638" fmla="*/ 3672213 h 6211920"/>
              <a:gd name="connsiteX1639" fmla="*/ 2491284 w 9635294"/>
              <a:gd name="connsiteY1639" fmla="*/ 3665208 h 6211920"/>
              <a:gd name="connsiteX1640" fmla="*/ 2491284 w 9635294"/>
              <a:gd name="connsiteY1640" fmla="*/ 3665208 h 6211920"/>
              <a:gd name="connsiteX1641" fmla="*/ 2486982 w 9635294"/>
              <a:gd name="connsiteY1641" fmla="*/ 3669879 h 6211920"/>
              <a:gd name="connsiteX1642" fmla="*/ 2486978 w 9635294"/>
              <a:gd name="connsiteY1642" fmla="*/ 3669875 h 6211920"/>
              <a:gd name="connsiteX1643" fmla="*/ 7147363 w 9635294"/>
              <a:gd name="connsiteY1643" fmla="*/ 3662872 h 6211920"/>
              <a:gd name="connsiteX1644" fmla="*/ 7155999 w 9635294"/>
              <a:gd name="connsiteY1644" fmla="*/ 3672205 h 6211920"/>
              <a:gd name="connsiteX1645" fmla="*/ 7137267 w 9635294"/>
              <a:gd name="connsiteY1645" fmla="*/ 3689483 h 6211920"/>
              <a:gd name="connsiteX1646" fmla="*/ 7134461 w 9635294"/>
              <a:gd name="connsiteY1646" fmla="*/ 3686457 h 6211920"/>
              <a:gd name="connsiteX1647" fmla="*/ 7135107 w 9635294"/>
              <a:gd name="connsiteY1647" fmla="*/ 3687153 h 6211920"/>
              <a:gd name="connsiteX1648" fmla="*/ 7153840 w 9635294"/>
              <a:gd name="connsiteY1648" fmla="*/ 3669875 h 6211920"/>
              <a:gd name="connsiteX1649" fmla="*/ 7149522 w 9635294"/>
              <a:gd name="connsiteY1649" fmla="*/ 3665208 h 6211920"/>
              <a:gd name="connsiteX1650" fmla="*/ 7130791 w 9635294"/>
              <a:gd name="connsiteY1650" fmla="*/ 3682498 h 6211920"/>
              <a:gd name="connsiteX1651" fmla="*/ 7128631 w 9635294"/>
              <a:gd name="connsiteY1651" fmla="*/ 3680169 h 6211920"/>
              <a:gd name="connsiteX1652" fmla="*/ 7147363 w 9635294"/>
              <a:gd name="connsiteY1652" fmla="*/ 3662872 h 6211920"/>
              <a:gd name="connsiteX1653" fmla="*/ 2493437 w 9635294"/>
              <a:gd name="connsiteY1653" fmla="*/ 3662872 h 6211920"/>
              <a:gd name="connsiteX1654" fmla="*/ 2512162 w 9635294"/>
              <a:gd name="connsiteY1654" fmla="*/ 3680169 h 6211920"/>
              <a:gd name="connsiteX1655" fmla="*/ 2508457 w 9635294"/>
              <a:gd name="connsiteY1655" fmla="*/ 3684171 h 6211920"/>
              <a:gd name="connsiteX1656" fmla="*/ 2510003 w 9635294"/>
              <a:gd name="connsiteY1656" fmla="*/ 3682499 h 6211920"/>
              <a:gd name="connsiteX1657" fmla="*/ 2491284 w 9635294"/>
              <a:gd name="connsiteY1657" fmla="*/ 3665208 h 6211920"/>
              <a:gd name="connsiteX1658" fmla="*/ 2472551 w 9635294"/>
              <a:gd name="connsiteY1658" fmla="*/ 3648028 h 6211920"/>
              <a:gd name="connsiteX1659" fmla="*/ 2468290 w 9635294"/>
              <a:gd name="connsiteY1659" fmla="*/ 3652674 h 6211920"/>
              <a:gd name="connsiteX1660" fmla="*/ 2468287 w 9635294"/>
              <a:gd name="connsiteY1660" fmla="*/ 3652670 h 6211920"/>
              <a:gd name="connsiteX1661" fmla="*/ 7168217 w 9635294"/>
              <a:gd name="connsiteY1661" fmla="*/ 3647971 h 6211920"/>
              <a:gd name="connsiteX1662" fmla="*/ 7172516 w 9635294"/>
              <a:gd name="connsiteY1662" fmla="*/ 3652660 h 6211920"/>
              <a:gd name="connsiteX1663" fmla="*/ 7172509 w 9635294"/>
              <a:gd name="connsiteY1663" fmla="*/ 3652666 h 6211920"/>
              <a:gd name="connsiteX1664" fmla="*/ 7168192 w 9635294"/>
              <a:gd name="connsiteY1664" fmla="*/ 3647994 h 6211920"/>
              <a:gd name="connsiteX1665" fmla="*/ 7189057 w 9635294"/>
              <a:gd name="connsiteY1665" fmla="*/ 3633077 h 6211920"/>
              <a:gd name="connsiteX1666" fmla="*/ 7193401 w 9635294"/>
              <a:gd name="connsiteY1666" fmla="*/ 3637826 h 6211920"/>
              <a:gd name="connsiteX1667" fmla="*/ 7174669 w 9635294"/>
              <a:gd name="connsiteY1667" fmla="*/ 3655010 h 6211920"/>
              <a:gd name="connsiteX1668" fmla="*/ 7172516 w 9635294"/>
              <a:gd name="connsiteY1668" fmla="*/ 3652660 h 6211920"/>
              <a:gd name="connsiteX1669" fmla="*/ 7191242 w 9635294"/>
              <a:gd name="connsiteY1669" fmla="*/ 3635483 h 6211920"/>
              <a:gd name="connsiteX1670" fmla="*/ 7186987 w 9635294"/>
              <a:gd name="connsiteY1670" fmla="*/ 3630797 h 6211920"/>
              <a:gd name="connsiteX1671" fmla="*/ 7189057 w 9635294"/>
              <a:gd name="connsiteY1671" fmla="*/ 3633077 h 6211920"/>
              <a:gd name="connsiteX1672" fmla="*/ 7186979 w 9635294"/>
              <a:gd name="connsiteY1672" fmla="*/ 3630805 h 6211920"/>
              <a:gd name="connsiteX1673" fmla="*/ 7184828 w 9635294"/>
              <a:gd name="connsiteY1673" fmla="*/ 3628453 h 6211920"/>
              <a:gd name="connsiteX1674" fmla="*/ 7186979 w 9635294"/>
              <a:gd name="connsiteY1674" fmla="*/ 3630805 h 6211920"/>
              <a:gd name="connsiteX1675" fmla="*/ 7168217 w 9635294"/>
              <a:gd name="connsiteY1675" fmla="*/ 3647971 h 6211920"/>
              <a:gd name="connsiteX1676" fmla="*/ 7166096 w 9635294"/>
              <a:gd name="connsiteY1676" fmla="*/ 3645656 h 6211920"/>
              <a:gd name="connsiteX1677" fmla="*/ 7184828 w 9635294"/>
              <a:gd name="connsiteY1677" fmla="*/ 3628453 h 6211920"/>
              <a:gd name="connsiteX1678" fmla="*/ 2455971 w 9635294"/>
              <a:gd name="connsiteY1678" fmla="*/ 3628453 h 6211920"/>
              <a:gd name="connsiteX1679" fmla="*/ 2474730 w 9635294"/>
              <a:gd name="connsiteY1679" fmla="*/ 3645656 h 6211920"/>
              <a:gd name="connsiteX1680" fmla="*/ 2472551 w 9635294"/>
              <a:gd name="connsiteY1680" fmla="*/ 3648028 h 6211920"/>
              <a:gd name="connsiteX1681" fmla="*/ 2472582 w 9635294"/>
              <a:gd name="connsiteY1681" fmla="*/ 3647994 h 6211920"/>
              <a:gd name="connsiteX1682" fmla="*/ 2453831 w 9635294"/>
              <a:gd name="connsiteY1682" fmla="*/ 3630797 h 6211920"/>
              <a:gd name="connsiteX1683" fmla="*/ 2449546 w 9635294"/>
              <a:gd name="connsiteY1683" fmla="*/ 3635483 h 6211920"/>
              <a:gd name="connsiteX1684" fmla="*/ 2468287 w 9635294"/>
              <a:gd name="connsiteY1684" fmla="*/ 3652670 h 6211920"/>
              <a:gd name="connsiteX1685" fmla="*/ 2466137 w 9635294"/>
              <a:gd name="connsiteY1685" fmla="*/ 3655010 h 6211920"/>
              <a:gd name="connsiteX1686" fmla="*/ 2447399 w 9635294"/>
              <a:gd name="connsiteY1686" fmla="*/ 3637826 h 6211920"/>
              <a:gd name="connsiteX1687" fmla="*/ 7208258 w 9635294"/>
              <a:gd name="connsiteY1687" fmla="*/ 3616350 h 6211920"/>
              <a:gd name="connsiteX1688" fmla="*/ 7210045 w 9635294"/>
              <a:gd name="connsiteY1688" fmla="*/ 3618307 h 6211920"/>
              <a:gd name="connsiteX1689" fmla="*/ 7210038 w 9635294"/>
              <a:gd name="connsiteY1689" fmla="*/ 3618314 h 6211920"/>
              <a:gd name="connsiteX1690" fmla="*/ 2435025 w 9635294"/>
              <a:gd name="connsiteY1690" fmla="*/ 3613623 h 6211920"/>
              <a:gd name="connsiteX1691" fmla="*/ 2435029 w 9635294"/>
              <a:gd name="connsiteY1691" fmla="*/ 3613627 h 6211920"/>
              <a:gd name="connsiteX1692" fmla="*/ 2430750 w 9635294"/>
              <a:gd name="connsiteY1692" fmla="*/ 3618320 h 6211920"/>
              <a:gd name="connsiteX1693" fmla="*/ 2430747 w 9635294"/>
              <a:gd name="connsiteY1693" fmla="*/ 3618317 h 6211920"/>
              <a:gd name="connsiteX1694" fmla="*/ 7228880 w 9635294"/>
              <a:gd name="connsiteY1694" fmla="*/ 3601209 h 6211920"/>
              <a:gd name="connsiteX1695" fmla="*/ 7230993 w 9635294"/>
              <a:gd name="connsiteY1695" fmla="*/ 3603544 h 6211920"/>
              <a:gd name="connsiteX1696" fmla="*/ 7212197 w 9635294"/>
              <a:gd name="connsiteY1696" fmla="*/ 3620662 h 6211920"/>
              <a:gd name="connsiteX1697" fmla="*/ 7210045 w 9635294"/>
              <a:gd name="connsiteY1697" fmla="*/ 3618307 h 6211920"/>
              <a:gd name="connsiteX1698" fmla="*/ 2411938 w 9635294"/>
              <a:gd name="connsiteY1698" fmla="*/ 3601196 h 6211920"/>
              <a:gd name="connsiteX1699" fmla="*/ 2430747 w 9635294"/>
              <a:gd name="connsiteY1699" fmla="*/ 3618317 h 6211920"/>
              <a:gd name="connsiteX1700" fmla="*/ 2428609 w 9635294"/>
              <a:gd name="connsiteY1700" fmla="*/ 3620662 h 6211920"/>
              <a:gd name="connsiteX1701" fmla="*/ 2409800 w 9635294"/>
              <a:gd name="connsiteY1701" fmla="*/ 3603550 h 6211920"/>
              <a:gd name="connsiteX1702" fmla="*/ 7226703 w 9635294"/>
              <a:gd name="connsiteY1702" fmla="*/ 3598805 h 6211920"/>
              <a:gd name="connsiteX1703" fmla="*/ 7228897 w 9635294"/>
              <a:gd name="connsiteY1703" fmla="*/ 3601193 h 6211920"/>
              <a:gd name="connsiteX1704" fmla="*/ 7228880 w 9635294"/>
              <a:gd name="connsiteY1704" fmla="*/ 3601209 h 6211920"/>
              <a:gd name="connsiteX1705" fmla="*/ 2416201 w 9635294"/>
              <a:gd name="connsiteY1705" fmla="*/ 3596494 h 6211920"/>
              <a:gd name="connsiteX1706" fmla="*/ 2416205 w 9635294"/>
              <a:gd name="connsiteY1706" fmla="*/ 3596498 h 6211920"/>
              <a:gd name="connsiteX1707" fmla="*/ 2411938 w 9635294"/>
              <a:gd name="connsiteY1707" fmla="*/ 3601196 h 6211920"/>
              <a:gd name="connsiteX1708" fmla="*/ 2411934 w 9635294"/>
              <a:gd name="connsiteY1708" fmla="*/ 3601193 h 6211920"/>
              <a:gd name="connsiteX1709" fmla="*/ 7222484 w 9635294"/>
              <a:gd name="connsiteY1709" fmla="*/ 3594145 h 6211920"/>
              <a:gd name="connsiteX1710" fmla="*/ 7226703 w 9635294"/>
              <a:gd name="connsiteY1710" fmla="*/ 3598805 h 6211920"/>
              <a:gd name="connsiteX1711" fmla="*/ 7224580 w 9635294"/>
              <a:gd name="connsiteY1711" fmla="*/ 3596494 h 6211920"/>
              <a:gd name="connsiteX1712" fmla="*/ 7205783 w 9635294"/>
              <a:gd name="connsiteY1712" fmla="*/ 3613621 h 6211920"/>
              <a:gd name="connsiteX1713" fmla="*/ 7208258 w 9635294"/>
              <a:gd name="connsiteY1713" fmla="*/ 3616350 h 6211920"/>
              <a:gd name="connsiteX1714" fmla="*/ 7203624 w 9635294"/>
              <a:gd name="connsiteY1714" fmla="*/ 3611278 h 6211920"/>
              <a:gd name="connsiteX1715" fmla="*/ 7222484 w 9635294"/>
              <a:gd name="connsiteY1715" fmla="*/ 3594145 h 6211920"/>
              <a:gd name="connsiteX1716" fmla="*/ 2418341 w 9635294"/>
              <a:gd name="connsiteY1716" fmla="*/ 3594145 h 6211920"/>
              <a:gd name="connsiteX1717" fmla="*/ 2437162 w 9635294"/>
              <a:gd name="connsiteY1717" fmla="*/ 3611278 h 6211920"/>
              <a:gd name="connsiteX1718" fmla="*/ 2435025 w 9635294"/>
              <a:gd name="connsiteY1718" fmla="*/ 3613623 h 6211920"/>
              <a:gd name="connsiteX1719" fmla="*/ 2416205 w 9635294"/>
              <a:gd name="connsiteY1719" fmla="*/ 3596498 h 6211920"/>
              <a:gd name="connsiteX1720" fmla="*/ 2394831 w 9635294"/>
              <a:gd name="connsiteY1720" fmla="*/ 3582210 h 6211920"/>
              <a:gd name="connsiteX1721" fmla="*/ 2393100 w 9635294"/>
              <a:gd name="connsiteY1721" fmla="*/ 3584124 h 6211920"/>
              <a:gd name="connsiteX1722" fmla="*/ 2393100 w 9635294"/>
              <a:gd name="connsiteY1722" fmla="*/ 3584124 h 6211920"/>
              <a:gd name="connsiteX1723" fmla="*/ 7245654 w 9635294"/>
              <a:gd name="connsiteY1723" fmla="*/ 3581863 h 6211920"/>
              <a:gd name="connsiteX1724" fmla="*/ 7247701 w 9635294"/>
              <a:gd name="connsiteY1724" fmla="*/ 3584112 h 6211920"/>
              <a:gd name="connsiteX1725" fmla="*/ 7247694 w 9635294"/>
              <a:gd name="connsiteY1725" fmla="*/ 3584119 h 6211920"/>
              <a:gd name="connsiteX1726" fmla="*/ 7264458 w 9635294"/>
              <a:gd name="connsiteY1726" fmla="*/ 3564709 h 6211920"/>
              <a:gd name="connsiteX1727" fmla="*/ 7268712 w 9635294"/>
              <a:gd name="connsiteY1727" fmla="*/ 3569424 h 6211920"/>
              <a:gd name="connsiteX1728" fmla="*/ 7249852 w 9635294"/>
              <a:gd name="connsiteY1728" fmla="*/ 3586474 h 6211920"/>
              <a:gd name="connsiteX1729" fmla="*/ 7247701 w 9635294"/>
              <a:gd name="connsiteY1729" fmla="*/ 3584112 h 6211920"/>
              <a:gd name="connsiteX1730" fmla="*/ 7266553 w 9635294"/>
              <a:gd name="connsiteY1730" fmla="*/ 3567069 h 6211920"/>
              <a:gd name="connsiteX1731" fmla="*/ 7262362 w 9635294"/>
              <a:gd name="connsiteY1731" fmla="*/ 3562350 h 6211920"/>
              <a:gd name="connsiteX1732" fmla="*/ 7264458 w 9635294"/>
              <a:gd name="connsiteY1732" fmla="*/ 3564709 h 6211920"/>
              <a:gd name="connsiteX1733" fmla="*/ 7262344 w 9635294"/>
              <a:gd name="connsiteY1733" fmla="*/ 3562367 h 6211920"/>
              <a:gd name="connsiteX1734" fmla="*/ 7260203 w 9635294"/>
              <a:gd name="connsiteY1734" fmla="*/ 3559995 h 6211920"/>
              <a:gd name="connsiteX1735" fmla="*/ 7262344 w 9635294"/>
              <a:gd name="connsiteY1735" fmla="*/ 3562367 h 6211920"/>
              <a:gd name="connsiteX1736" fmla="*/ 7243439 w 9635294"/>
              <a:gd name="connsiteY1736" fmla="*/ 3579413 h 6211920"/>
              <a:gd name="connsiteX1737" fmla="*/ 7245654 w 9635294"/>
              <a:gd name="connsiteY1737" fmla="*/ 3581863 h 6211920"/>
              <a:gd name="connsiteX1738" fmla="*/ 7241280 w 9635294"/>
              <a:gd name="connsiteY1738" fmla="*/ 3577058 h 6211920"/>
              <a:gd name="connsiteX1739" fmla="*/ 7260203 w 9635294"/>
              <a:gd name="connsiteY1739" fmla="*/ 3559995 h 6211920"/>
              <a:gd name="connsiteX1740" fmla="*/ 2380597 w 9635294"/>
              <a:gd name="connsiteY1740" fmla="*/ 3559995 h 6211920"/>
              <a:gd name="connsiteX1741" fmla="*/ 2399494 w 9635294"/>
              <a:gd name="connsiteY1741" fmla="*/ 3577058 h 6211920"/>
              <a:gd name="connsiteX1742" fmla="*/ 2394831 w 9635294"/>
              <a:gd name="connsiteY1742" fmla="*/ 3582210 h 6211920"/>
              <a:gd name="connsiteX1743" fmla="*/ 2397360 w 9635294"/>
              <a:gd name="connsiteY1743" fmla="*/ 3579413 h 6211920"/>
              <a:gd name="connsiteX1744" fmla="*/ 2378476 w 9635294"/>
              <a:gd name="connsiteY1744" fmla="*/ 3562350 h 6211920"/>
              <a:gd name="connsiteX1745" fmla="*/ 2374221 w 9635294"/>
              <a:gd name="connsiteY1745" fmla="*/ 3567069 h 6211920"/>
              <a:gd name="connsiteX1746" fmla="*/ 2393100 w 9635294"/>
              <a:gd name="connsiteY1746" fmla="*/ 3584124 h 6211920"/>
              <a:gd name="connsiteX1747" fmla="*/ 2390972 w 9635294"/>
              <a:gd name="connsiteY1747" fmla="*/ 3586474 h 6211920"/>
              <a:gd name="connsiteX1748" fmla="*/ 2372094 w 9635294"/>
              <a:gd name="connsiteY1748" fmla="*/ 3569424 h 6211920"/>
              <a:gd name="connsiteX1749" fmla="*/ 2359540 w 9635294"/>
              <a:gd name="connsiteY1749" fmla="*/ 3545313 h 6211920"/>
              <a:gd name="connsiteX1750" fmla="*/ 2359540 w 9635294"/>
              <a:gd name="connsiteY1750" fmla="*/ 3545313 h 6211920"/>
              <a:gd name="connsiteX1751" fmla="*/ 2355298 w 9635294"/>
              <a:gd name="connsiteY1751" fmla="*/ 3550037 h 6211920"/>
              <a:gd name="connsiteX1752" fmla="*/ 2355296 w 9635294"/>
              <a:gd name="connsiteY1752" fmla="*/ 3550036 h 6211920"/>
              <a:gd name="connsiteX1753" fmla="*/ 7300207 w 9635294"/>
              <a:gd name="connsiteY1753" fmla="*/ 3528339 h 6211920"/>
              <a:gd name="connsiteX1754" fmla="*/ 7302123 w 9635294"/>
              <a:gd name="connsiteY1754" fmla="*/ 3530501 h 6211920"/>
              <a:gd name="connsiteX1755" fmla="*/ 7300191 w 9635294"/>
              <a:gd name="connsiteY1755" fmla="*/ 3528354 h 6211920"/>
              <a:gd name="connsiteX1756" fmla="*/ 7298049 w 9635294"/>
              <a:gd name="connsiteY1756" fmla="*/ 3525971 h 6211920"/>
              <a:gd name="connsiteX1757" fmla="*/ 7300191 w 9635294"/>
              <a:gd name="connsiteY1757" fmla="*/ 3528354 h 6211920"/>
              <a:gd name="connsiteX1758" fmla="*/ 7281285 w 9635294"/>
              <a:gd name="connsiteY1758" fmla="*/ 3545313 h 6211920"/>
              <a:gd name="connsiteX1759" fmla="*/ 7285539 w 9635294"/>
              <a:gd name="connsiteY1759" fmla="*/ 3550037 h 6211920"/>
              <a:gd name="connsiteX1760" fmla="*/ 7304399 w 9635294"/>
              <a:gd name="connsiteY1760" fmla="*/ 3533070 h 6211920"/>
              <a:gd name="connsiteX1761" fmla="*/ 7302123 w 9635294"/>
              <a:gd name="connsiteY1761" fmla="*/ 3530501 h 6211920"/>
              <a:gd name="connsiteX1762" fmla="*/ 7306557 w 9635294"/>
              <a:gd name="connsiteY1762" fmla="*/ 3535433 h 6211920"/>
              <a:gd name="connsiteX1763" fmla="*/ 7287635 w 9635294"/>
              <a:gd name="connsiteY1763" fmla="*/ 3552393 h 6211920"/>
              <a:gd name="connsiteX1764" fmla="*/ 7279126 w 9635294"/>
              <a:gd name="connsiteY1764" fmla="*/ 3542951 h 6211920"/>
              <a:gd name="connsiteX1765" fmla="*/ 7298049 w 9635294"/>
              <a:gd name="connsiteY1765" fmla="*/ 3525971 h 6211920"/>
              <a:gd name="connsiteX1766" fmla="*/ 2342725 w 9635294"/>
              <a:gd name="connsiteY1766" fmla="*/ 3525971 h 6211920"/>
              <a:gd name="connsiteX1767" fmla="*/ 2361661 w 9635294"/>
              <a:gd name="connsiteY1767" fmla="*/ 3542951 h 6211920"/>
              <a:gd name="connsiteX1768" fmla="*/ 2359540 w 9635294"/>
              <a:gd name="connsiteY1768" fmla="*/ 3545313 h 6211920"/>
              <a:gd name="connsiteX1769" fmla="*/ 2340610 w 9635294"/>
              <a:gd name="connsiteY1769" fmla="*/ 3528339 h 6211920"/>
              <a:gd name="connsiteX1770" fmla="*/ 2336375 w 9635294"/>
              <a:gd name="connsiteY1770" fmla="*/ 3533070 h 6211920"/>
              <a:gd name="connsiteX1771" fmla="*/ 2355296 w 9635294"/>
              <a:gd name="connsiteY1771" fmla="*/ 3550036 h 6211920"/>
              <a:gd name="connsiteX1772" fmla="*/ 2353171 w 9635294"/>
              <a:gd name="connsiteY1772" fmla="*/ 3552401 h 6211920"/>
              <a:gd name="connsiteX1773" fmla="*/ 2334254 w 9635294"/>
              <a:gd name="connsiteY1773" fmla="*/ 3535439 h 6211920"/>
              <a:gd name="connsiteX1774" fmla="*/ 2319519 w 9635294"/>
              <a:gd name="connsiteY1774" fmla="*/ 3513757 h 6211920"/>
              <a:gd name="connsiteX1775" fmla="*/ 2317408 w 9635294"/>
              <a:gd name="connsiteY1775" fmla="*/ 3516129 h 6211920"/>
              <a:gd name="connsiteX1776" fmla="*/ 2317406 w 9635294"/>
              <a:gd name="connsiteY1776" fmla="*/ 3516128 h 6211920"/>
              <a:gd name="connsiteX1777" fmla="*/ 2298397 w 9635294"/>
              <a:gd name="connsiteY1777" fmla="*/ 3499207 h 6211920"/>
              <a:gd name="connsiteX1778" fmla="*/ 2317406 w 9635294"/>
              <a:gd name="connsiteY1778" fmla="*/ 3516128 h 6211920"/>
              <a:gd name="connsiteX1779" fmla="*/ 2315293 w 9635294"/>
              <a:gd name="connsiteY1779" fmla="*/ 3518497 h 6211920"/>
              <a:gd name="connsiteX1780" fmla="*/ 2296289 w 9635294"/>
              <a:gd name="connsiteY1780" fmla="*/ 3501581 h 6211920"/>
              <a:gd name="connsiteX1781" fmla="*/ 2300342 w 9635294"/>
              <a:gd name="connsiteY1781" fmla="*/ 3497017 h 6211920"/>
              <a:gd name="connsiteX1782" fmla="*/ 2298397 w 9635294"/>
              <a:gd name="connsiteY1782" fmla="*/ 3499207 h 6211920"/>
              <a:gd name="connsiteX1783" fmla="*/ 2298396 w 9635294"/>
              <a:gd name="connsiteY1783" fmla="*/ 3499207 h 6211920"/>
              <a:gd name="connsiteX1784" fmla="*/ 7339909 w 9635294"/>
              <a:gd name="connsiteY1784" fmla="*/ 3496386 h 6211920"/>
              <a:gd name="connsiteX1785" fmla="*/ 7342435 w 9635294"/>
              <a:gd name="connsiteY1785" fmla="*/ 3499207 h 6211920"/>
              <a:gd name="connsiteX1786" fmla="*/ 7342426 w 9635294"/>
              <a:gd name="connsiteY1786" fmla="*/ 3499215 h 6211920"/>
              <a:gd name="connsiteX1787" fmla="*/ 7336085 w 9635294"/>
              <a:gd name="connsiteY1787" fmla="*/ 3492087 h 6211920"/>
              <a:gd name="connsiteX1788" fmla="*/ 7339909 w 9635294"/>
              <a:gd name="connsiteY1788" fmla="*/ 3496386 h 6211920"/>
              <a:gd name="connsiteX1789" fmla="*/ 7338181 w 9635294"/>
              <a:gd name="connsiteY1789" fmla="*/ 3494456 h 6211920"/>
              <a:gd name="connsiteX1790" fmla="*/ 7319194 w 9635294"/>
              <a:gd name="connsiteY1790" fmla="*/ 3511386 h 6211920"/>
              <a:gd name="connsiteX1791" fmla="*/ 7323385 w 9635294"/>
              <a:gd name="connsiteY1791" fmla="*/ 3516123 h 6211920"/>
              <a:gd name="connsiteX1792" fmla="*/ 7342426 w 9635294"/>
              <a:gd name="connsiteY1792" fmla="*/ 3499215 h 6211920"/>
              <a:gd name="connsiteX1793" fmla="*/ 7344531 w 9635294"/>
              <a:gd name="connsiteY1793" fmla="*/ 3501581 h 6211920"/>
              <a:gd name="connsiteX1794" fmla="*/ 7325481 w 9635294"/>
              <a:gd name="connsiteY1794" fmla="*/ 3518497 h 6211920"/>
              <a:gd name="connsiteX1795" fmla="*/ 7317035 w 9635294"/>
              <a:gd name="connsiteY1795" fmla="*/ 3509018 h 6211920"/>
              <a:gd name="connsiteX1796" fmla="*/ 7336085 w 9635294"/>
              <a:gd name="connsiteY1796" fmla="*/ 3492087 h 6211920"/>
              <a:gd name="connsiteX1797" fmla="*/ 2304720 w 9635294"/>
              <a:gd name="connsiteY1797" fmla="*/ 3492087 h 6211920"/>
              <a:gd name="connsiteX1798" fmla="*/ 2323745 w 9635294"/>
              <a:gd name="connsiteY1798" fmla="*/ 3509018 h 6211920"/>
              <a:gd name="connsiteX1799" fmla="*/ 2319519 w 9635294"/>
              <a:gd name="connsiteY1799" fmla="*/ 3513757 h 6211920"/>
              <a:gd name="connsiteX1800" fmla="*/ 2321630 w 9635294"/>
              <a:gd name="connsiteY1800" fmla="*/ 3511386 h 6211920"/>
              <a:gd name="connsiteX1801" fmla="*/ 2302612 w 9635294"/>
              <a:gd name="connsiteY1801" fmla="*/ 3494463 h 6211920"/>
              <a:gd name="connsiteX1802" fmla="*/ 2300342 w 9635294"/>
              <a:gd name="connsiteY1802" fmla="*/ 3497017 h 6211920"/>
              <a:gd name="connsiteX1803" fmla="*/ 7376281 w 9635294"/>
              <a:gd name="connsiteY1803" fmla="*/ 3460731 h 6211920"/>
              <a:gd name="connsiteX1804" fmla="*/ 7378830 w 9635294"/>
              <a:gd name="connsiteY1804" fmla="*/ 3463628 h 6211920"/>
              <a:gd name="connsiteX1805" fmla="*/ 7376281 w 9635294"/>
              <a:gd name="connsiteY1805" fmla="*/ 3460732 h 6211920"/>
              <a:gd name="connsiteX1806" fmla="*/ 2264506 w 9635294"/>
              <a:gd name="connsiteY1806" fmla="*/ 3460731 h 6211920"/>
              <a:gd name="connsiteX1807" fmla="*/ 2264508 w 9635294"/>
              <a:gd name="connsiteY1807" fmla="*/ 3460732 h 6211920"/>
              <a:gd name="connsiteX1808" fmla="*/ 2261685 w 9635294"/>
              <a:gd name="connsiteY1808" fmla="*/ 3463933 h 6211920"/>
              <a:gd name="connsiteX1809" fmla="*/ 7374185 w 9635294"/>
              <a:gd name="connsiteY1809" fmla="*/ 3458351 h 6211920"/>
              <a:gd name="connsiteX1810" fmla="*/ 7376281 w 9635294"/>
              <a:gd name="connsiteY1810" fmla="*/ 3460732 h 6211920"/>
              <a:gd name="connsiteX1811" fmla="*/ 7357231 w 9635294"/>
              <a:gd name="connsiteY1811" fmla="*/ 3477572 h 6211920"/>
              <a:gd name="connsiteX1812" fmla="*/ 7361422 w 9635294"/>
              <a:gd name="connsiteY1812" fmla="*/ 3482327 h 6211920"/>
              <a:gd name="connsiteX1813" fmla="*/ 7380472 w 9635294"/>
              <a:gd name="connsiteY1813" fmla="*/ 3465494 h 6211920"/>
              <a:gd name="connsiteX1814" fmla="*/ 7378830 w 9635294"/>
              <a:gd name="connsiteY1814" fmla="*/ 3463628 h 6211920"/>
              <a:gd name="connsiteX1815" fmla="*/ 7382568 w 9635294"/>
              <a:gd name="connsiteY1815" fmla="*/ 3467875 h 6211920"/>
              <a:gd name="connsiteX1816" fmla="*/ 7363518 w 9635294"/>
              <a:gd name="connsiteY1816" fmla="*/ 3484709 h 6211920"/>
              <a:gd name="connsiteX1817" fmla="*/ 7355135 w 9635294"/>
              <a:gd name="connsiteY1817" fmla="*/ 3475197 h 6211920"/>
              <a:gd name="connsiteX1818" fmla="*/ 7374185 w 9635294"/>
              <a:gd name="connsiteY1818" fmla="*/ 3458351 h 6211920"/>
              <a:gd name="connsiteX1819" fmla="*/ 2266608 w 9635294"/>
              <a:gd name="connsiteY1819" fmla="*/ 3458351 h 6211920"/>
              <a:gd name="connsiteX1820" fmla="*/ 2285677 w 9635294"/>
              <a:gd name="connsiteY1820" fmla="*/ 3475197 h 6211920"/>
              <a:gd name="connsiteX1821" fmla="*/ 2277257 w 9635294"/>
              <a:gd name="connsiteY1821" fmla="*/ 3484709 h 6211920"/>
              <a:gd name="connsiteX1822" fmla="*/ 2258207 w 9635294"/>
              <a:gd name="connsiteY1822" fmla="*/ 3467875 h 6211920"/>
              <a:gd name="connsiteX1823" fmla="*/ 2261685 w 9635294"/>
              <a:gd name="connsiteY1823" fmla="*/ 3463933 h 6211920"/>
              <a:gd name="connsiteX1824" fmla="*/ 2260308 w 9635294"/>
              <a:gd name="connsiteY1824" fmla="*/ 3465494 h 6211920"/>
              <a:gd name="connsiteX1825" fmla="*/ 2279365 w 9635294"/>
              <a:gd name="connsiteY1825" fmla="*/ 3482327 h 6211920"/>
              <a:gd name="connsiteX1826" fmla="*/ 2283568 w 9635294"/>
              <a:gd name="connsiteY1826" fmla="*/ 3477578 h 6211920"/>
              <a:gd name="connsiteX1827" fmla="*/ 2264508 w 9635294"/>
              <a:gd name="connsiteY1827" fmla="*/ 3460732 h 6211920"/>
              <a:gd name="connsiteX1828" fmla="*/ 2245405 w 9635294"/>
              <a:gd name="connsiteY1828" fmla="*/ 3443916 h 6211920"/>
              <a:gd name="connsiteX1829" fmla="*/ 2245405 w 9635294"/>
              <a:gd name="connsiteY1829" fmla="*/ 3443917 h 6211920"/>
              <a:gd name="connsiteX1830" fmla="*/ 2243266 w 9635294"/>
              <a:gd name="connsiteY1830" fmla="*/ 3446351 h 6211920"/>
              <a:gd name="connsiteX1831" fmla="*/ 7395396 w 9635294"/>
              <a:gd name="connsiteY1831" fmla="*/ 3443915 h 6211920"/>
              <a:gd name="connsiteX1832" fmla="*/ 7399587 w 9635294"/>
              <a:gd name="connsiteY1832" fmla="*/ 3448684 h 6211920"/>
              <a:gd name="connsiteX1833" fmla="*/ 7399585 w 9635294"/>
              <a:gd name="connsiteY1833" fmla="*/ 3448685 h 6211920"/>
              <a:gd name="connsiteX1834" fmla="*/ 7395394 w 9635294"/>
              <a:gd name="connsiteY1834" fmla="*/ 3443917 h 6211920"/>
              <a:gd name="connsiteX1835" fmla="*/ 2222076 w 9635294"/>
              <a:gd name="connsiteY1835" fmla="*/ 3431903 h 6211920"/>
              <a:gd name="connsiteX1836" fmla="*/ 2241214 w 9635294"/>
              <a:gd name="connsiteY1836" fmla="*/ 3448685 h 6211920"/>
              <a:gd name="connsiteX1837" fmla="*/ 2243266 w 9635294"/>
              <a:gd name="connsiteY1837" fmla="*/ 3446351 h 6211920"/>
              <a:gd name="connsiteX1838" fmla="*/ 2239118 w 9635294"/>
              <a:gd name="connsiteY1838" fmla="*/ 3451073 h 6211920"/>
              <a:gd name="connsiteX1839" fmla="*/ 2219986 w 9635294"/>
              <a:gd name="connsiteY1839" fmla="*/ 3434290 h 6211920"/>
              <a:gd name="connsiteX1840" fmla="*/ 2222396 w 9635294"/>
              <a:gd name="connsiteY1840" fmla="*/ 3431537 h 6211920"/>
              <a:gd name="connsiteX1841" fmla="*/ 2222076 w 9635294"/>
              <a:gd name="connsiteY1841" fmla="*/ 3431903 h 6211920"/>
              <a:gd name="connsiteX1842" fmla="*/ 2222075 w 9635294"/>
              <a:gd name="connsiteY1842" fmla="*/ 3431902 h 6211920"/>
              <a:gd name="connsiteX1843" fmla="*/ 7416666 w 9635294"/>
              <a:gd name="connsiteY1843" fmla="*/ 3429547 h 6211920"/>
              <a:gd name="connsiteX1844" fmla="*/ 7420794 w 9635294"/>
              <a:gd name="connsiteY1844" fmla="*/ 3434290 h 6211920"/>
              <a:gd name="connsiteX1845" fmla="*/ 7401681 w 9635294"/>
              <a:gd name="connsiteY1845" fmla="*/ 3451067 h 6211920"/>
              <a:gd name="connsiteX1846" fmla="*/ 7399587 w 9635294"/>
              <a:gd name="connsiteY1846" fmla="*/ 3448684 h 6211920"/>
              <a:gd name="connsiteX1847" fmla="*/ 7418699 w 9635294"/>
              <a:gd name="connsiteY1847" fmla="*/ 3431902 h 6211920"/>
              <a:gd name="connsiteX1848" fmla="*/ 7414571 w 9635294"/>
              <a:gd name="connsiteY1848" fmla="*/ 3427120 h 6211920"/>
              <a:gd name="connsiteX1849" fmla="*/ 7416666 w 9635294"/>
              <a:gd name="connsiteY1849" fmla="*/ 3429547 h 6211920"/>
              <a:gd name="connsiteX1850" fmla="*/ 7414561 w 9635294"/>
              <a:gd name="connsiteY1850" fmla="*/ 3427129 h 6211920"/>
              <a:gd name="connsiteX1851" fmla="*/ 7412476 w 9635294"/>
              <a:gd name="connsiteY1851" fmla="*/ 3424733 h 6211920"/>
              <a:gd name="connsiteX1852" fmla="*/ 7414561 w 9635294"/>
              <a:gd name="connsiteY1852" fmla="*/ 3427129 h 6211920"/>
              <a:gd name="connsiteX1853" fmla="*/ 7395396 w 9635294"/>
              <a:gd name="connsiteY1853" fmla="*/ 3443915 h 6211920"/>
              <a:gd name="connsiteX1854" fmla="*/ 7393299 w 9635294"/>
              <a:gd name="connsiteY1854" fmla="*/ 3441530 h 6211920"/>
              <a:gd name="connsiteX1855" fmla="*/ 7412476 w 9635294"/>
              <a:gd name="connsiteY1855" fmla="*/ 3424733 h 6211920"/>
              <a:gd name="connsiteX1856" fmla="*/ 2228349 w 9635294"/>
              <a:gd name="connsiteY1856" fmla="*/ 3424733 h 6211920"/>
              <a:gd name="connsiteX1857" fmla="*/ 2247500 w 9635294"/>
              <a:gd name="connsiteY1857" fmla="*/ 3441530 h 6211920"/>
              <a:gd name="connsiteX1858" fmla="*/ 2245405 w 9635294"/>
              <a:gd name="connsiteY1858" fmla="*/ 3443916 h 6211920"/>
              <a:gd name="connsiteX1859" fmla="*/ 2226260 w 9635294"/>
              <a:gd name="connsiteY1859" fmla="*/ 3427128 h 6211920"/>
              <a:gd name="connsiteX1860" fmla="*/ 2222396 w 9635294"/>
              <a:gd name="connsiteY1860" fmla="*/ 3431537 h 6211920"/>
              <a:gd name="connsiteX1861" fmla="*/ 7433686 w 9635294"/>
              <a:gd name="connsiteY1861" fmla="*/ 3410388 h 6211920"/>
              <a:gd name="connsiteX1862" fmla="*/ 7435081 w 9635294"/>
              <a:gd name="connsiteY1862" fmla="*/ 3411981 h 6211920"/>
              <a:gd name="connsiteX1863" fmla="*/ 7433685 w 9635294"/>
              <a:gd name="connsiteY1863" fmla="*/ 3410388 h 6211920"/>
              <a:gd name="connsiteX1864" fmla="*/ 2207106 w 9635294"/>
              <a:gd name="connsiteY1864" fmla="*/ 3410386 h 6211920"/>
              <a:gd name="connsiteX1865" fmla="*/ 2207109 w 9635294"/>
              <a:gd name="connsiteY1865" fmla="*/ 3410388 h 6211920"/>
              <a:gd name="connsiteX1866" fmla="*/ 2202931 w 9635294"/>
              <a:gd name="connsiteY1866" fmla="*/ 3415176 h 6211920"/>
              <a:gd name="connsiteX1867" fmla="*/ 2202930 w 9635294"/>
              <a:gd name="connsiteY1867" fmla="*/ 3415176 h 6211920"/>
              <a:gd name="connsiteX1868" fmla="*/ 7450830 w 9635294"/>
              <a:gd name="connsiteY1868" fmla="*/ 3391282 h 6211920"/>
              <a:gd name="connsiteX1869" fmla="*/ 7459148 w 9635294"/>
              <a:gd name="connsiteY1869" fmla="*/ 3400870 h 6211920"/>
              <a:gd name="connsiteX1870" fmla="*/ 7439971 w 9635294"/>
              <a:gd name="connsiteY1870" fmla="*/ 3417565 h 6211920"/>
              <a:gd name="connsiteX1871" fmla="*/ 7435081 w 9635294"/>
              <a:gd name="connsiteY1871" fmla="*/ 3411981 h 6211920"/>
              <a:gd name="connsiteX1872" fmla="*/ 7437876 w 9635294"/>
              <a:gd name="connsiteY1872" fmla="*/ 3415170 h 6211920"/>
              <a:gd name="connsiteX1873" fmla="*/ 7457053 w 9635294"/>
              <a:gd name="connsiteY1873" fmla="*/ 3398470 h 6211920"/>
              <a:gd name="connsiteX1874" fmla="*/ 7452862 w 9635294"/>
              <a:gd name="connsiteY1874" fmla="*/ 3393675 h 6211920"/>
              <a:gd name="connsiteX1875" fmla="*/ 7433686 w 9635294"/>
              <a:gd name="connsiteY1875" fmla="*/ 3410388 h 6211920"/>
              <a:gd name="connsiteX1876" fmla="*/ 7431589 w 9635294"/>
              <a:gd name="connsiteY1876" fmla="*/ 3407994 h 6211920"/>
              <a:gd name="connsiteX1877" fmla="*/ 7450830 w 9635294"/>
              <a:gd name="connsiteY1877" fmla="*/ 3391282 h 6211920"/>
              <a:gd name="connsiteX1878" fmla="*/ 2190001 w 9635294"/>
              <a:gd name="connsiteY1878" fmla="*/ 3391282 h 6211920"/>
              <a:gd name="connsiteX1879" fmla="*/ 2209191 w 9635294"/>
              <a:gd name="connsiteY1879" fmla="*/ 3407994 h 6211920"/>
              <a:gd name="connsiteX1880" fmla="*/ 2207106 w 9635294"/>
              <a:gd name="connsiteY1880" fmla="*/ 3410386 h 6211920"/>
              <a:gd name="connsiteX1881" fmla="*/ 2187919 w 9635294"/>
              <a:gd name="connsiteY1881" fmla="*/ 3393681 h 6211920"/>
              <a:gd name="connsiteX1882" fmla="*/ 2183753 w 9635294"/>
              <a:gd name="connsiteY1882" fmla="*/ 3398476 h 6211920"/>
              <a:gd name="connsiteX1883" fmla="*/ 2202930 w 9635294"/>
              <a:gd name="connsiteY1883" fmla="*/ 3415176 h 6211920"/>
              <a:gd name="connsiteX1884" fmla="*/ 2200847 w 9635294"/>
              <a:gd name="connsiteY1884" fmla="*/ 3417565 h 6211920"/>
              <a:gd name="connsiteX1885" fmla="*/ 2181670 w 9635294"/>
              <a:gd name="connsiteY1885" fmla="*/ 3400870 h 6211920"/>
              <a:gd name="connsiteX1886" fmla="*/ 2166523 w 9635294"/>
              <a:gd name="connsiteY1886" fmla="*/ 3379499 h 6211920"/>
              <a:gd name="connsiteX1887" fmla="*/ 2164531 w 9635294"/>
              <a:gd name="connsiteY1887" fmla="*/ 3381802 h 6211920"/>
              <a:gd name="connsiteX1888" fmla="*/ 2164529 w 9635294"/>
              <a:gd name="connsiteY1888" fmla="*/ 3381800 h 6211920"/>
              <a:gd name="connsiteX1889" fmla="*/ 7472121 w 9635294"/>
              <a:gd name="connsiteY1889" fmla="*/ 3376978 h 6211920"/>
              <a:gd name="connsiteX1890" fmla="*/ 7474196 w 9635294"/>
              <a:gd name="connsiteY1890" fmla="*/ 3379392 h 6211920"/>
              <a:gd name="connsiteX1891" fmla="*/ 7472102 w 9635294"/>
              <a:gd name="connsiteY1891" fmla="*/ 3376994 h 6211920"/>
              <a:gd name="connsiteX1892" fmla="*/ 2147193 w 9635294"/>
              <a:gd name="connsiteY1892" fmla="*/ 3363107 h 6211920"/>
              <a:gd name="connsiteX1893" fmla="*/ 2145361 w 9635294"/>
              <a:gd name="connsiteY1893" fmla="*/ 3365234 h 6211920"/>
              <a:gd name="connsiteX1894" fmla="*/ 2154905 w 9635294"/>
              <a:gd name="connsiteY1894" fmla="*/ 3373469 h 6211920"/>
              <a:gd name="connsiteX1895" fmla="*/ 2154905 w 9635294"/>
              <a:gd name="connsiteY1895" fmla="*/ 3373469 h 6211920"/>
              <a:gd name="connsiteX1896" fmla="*/ 2154905 w 9635294"/>
              <a:gd name="connsiteY1896" fmla="*/ 3373470 h 6211920"/>
              <a:gd name="connsiteX1897" fmla="*/ 2164529 w 9635294"/>
              <a:gd name="connsiteY1897" fmla="*/ 3381800 h 6211920"/>
              <a:gd name="connsiteX1898" fmla="*/ 2162449 w 9635294"/>
              <a:gd name="connsiteY1898" fmla="*/ 3384202 h 6211920"/>
              <a:gd name="connsiteX1899" fmla="*/ 2152828 w 9635294"/>
              <a:gd name="connsiteY1899" fmla="*/ 3375870 h 6211920"/>
              <a:gd name="connsiteX1900" fmla="*/ 2143284 w 9635294"/>
              <a:gd name="connsiteY1900" fmla="*/ 3367634 h 6211920"/>
              <a:gd name="connsiteX1901" fmla="*/ 7493386 w 9635294"/>
              <a:gd name="connsiteY1901" fmla="*/ 3362896 h 6211920"/>
              <a:gd name="connsiteX1902" fmla="*/ 7497502 w 9635294"/>
              <a:gd name="connsiteY1902" fmla="*/ 3367653 h 6211920"/>
              <a:gd name="connsiteX1903" fmla="*/ 7487977 w 9635294"/>
              <a:gd name="connsiteY1903" fmla="*/ 3375870 h 6211920"/>
              <a:gd name="connsiteX1904" fmla="*/ 7478325 w 9635294"/>
              <a:gd name="connsiteY1904" fmla="*/ 3384194 h 6211920"/>
              <a:gd name="connsiteX1905" fmla="*/ 7474196 w 9635294"/>
              <a:gd name="connsiteY1905" fmla="*/ 3379392 h 6211920"/>
              <a:gd name="connsiteX1906" fmla="*/ 7476294 w 9635294"/>
              <a:gd name="connsiteY1906" fmla="*/ 3381794 h 6211920"/>
              <a:gd name="connsiteX1907" fmla="*/ 7485881 w 9635294"/>
              <a:gd name="connsiteY1907" fmla="*/ 3373470 h 6211920"/>
              <a:gd name="connsiteX1908" fmla="*/ 7485891 w 9635294"/>
              <a:gd name="connsiteY1908" fmla="*/ 3373461 h 6211920"/>
              <a:gd name="connsiteX1909" fmla="*/ 7485899 w 9635294"/>
              <a:gd name="connsiteY1909" fmla="*/ 3373454 h 6211920"/>
              <a:gd name="connsiteX1910" fmla="*/ 7495406 w 9635294"/>
              <a:gd name="connsiteY1910" fmla="*/ 3365253 h 6211920"/>
              <a:gd name="connsiteX1911" fmla="*/ 7491280 w 9635294"/>
              <a:gd name="connsiteY1911" fmla="*/ 3360439 h 6211920"/>
              <a:gd name="connsiteX1912" fmla="*/ 7493386 w 9635294"/>
              <a:gd name="connsiteY1912" fmla="*/ 3362896 h 6211920"/>
              <a:gd name="connsiteX1913" fmla="*/ 7491269 w 9635294"/>
              <a:gd name="connsiteY1913" fmla="*/ 3360449 h 6211920"/>
              <a:gd name="connsiteX1914" fmla="*/ 2149507 w 9635294"/>
              <a:gd name="connsiteY1914" fmla="*/ 3360420 h 6211920"/>
              <a:gd name="connsiteX1915" fmla="*/ 2149510 w 9635294"/>
              <a:gd name="connsiteY1915" fmla="*/ 3360423 h 6211920"/>
              <a:gd name="connsiteX1916" fmla="*/ 2147193 w 9635294"/>
              <a:gd name="connsiteY1916" fmla="*/ 3363107 h 6211920"/>
              <a:gd name="connsiteX1917" fmla="*/ 7489184 w 9635294"/>
              <a:gd name="connsiteY1917" fmla="*/ 3358039 h 6211920"/>
              <a:gd name="connsiteX1918" fmla="*/ 7491269 w 9635294"/>
              <a:gd name="connsiteY1918" fmla="*/ 3360449 h 6211920"/>
              <a:gd name="connsiteX1919" fmla="*/ 7481755 w 9635294"/>
              <a:gd name="connsiteY1919" fmla="*/ 3368669 h 6211920"/>
              <a:gd name="connsiteX1920" fmla="*/ 7481748 w 9635294"/>
              <a:gd name="connsiteY1920" fmla="*/ 3368675 h 6211920"/>
              <a:gd name="connsiteX1921" fmla="*/ 7472121 w 9635294"/>
              <a:gd name="connsiteY1921" fmla="*/ 3376978 h 6211920"/>
              <a:gd name="connsiteX1922" fmla="*/ 7470070 w 9635294"/>
              <a:gd name="connsiteY1922" fmla="*/ 3374593 h 6211920"/>
              <a:gd name="connsiteX1923" fmla="*/ 7479659 w 9635294"/>
              <a:gd name="connsiteY1923" fmla="*/ 3366263 h 6211920"/>
              <a:gd name="connsiteX1924" fmla="*/ 7489184 w 9635294"/>
              <a:gd name="connsiteY1924" fmla="*/ 3358039 h 6211920"/>
              <a:gd name="connsiteX1925" fmla="*/ 2151585 w 9635294"/>
              <a:gd name="connsiteY1925" fmla="*/ 3358020 h 6211920"/>
              <a:gd name="connsiteX1926" fmla="*/ 2161134 w 9635294"/>
              <a:gd name="connsiteY1926" fmla="*/ 3366263 h 6211920"/>
              <a:gd name="connsiteX1927" fmla="*/ 2170767 w 9635294"/>
              <a:gd name="connsiteY1927" fmla="*/ 3374601 h 6211920"/>
              <a:gd name="connsiteX1928" fmla="*/ 2166523 w 9635294"/>
              <a:gd name="connsiteY1928" fmla="*/ 3379499 h 6211920"/>
              <a:gd name="connsiteX1929" fmla="*/ 2168684 w 9635294"/>
              <a:gd name="connsiteY1929" fmla="*/ 3377001 h 6211920"/>
              <a:gd name="connsiteX1930" fmla="*/ 2159058 w 9635294"/>
              <a:gd name="connsiteY1930" fmla="*/ 3368669 h 6211920"/>
              <a:gd name="connsiteX1931" fmla="*/ 2159056 w 9635294"/>
              <a:gd name="connsiteY1931" fmla="*/ 3368667 h 6211920"/>
              <a:gd name="connsiteX1932" fmla="*/ 2149510 w 9635294"/>
              <a:gd name="connsiteY1932" fmla="*/ 3360423 h 6211920"/>
              <a:gd name="connsiteX1933" fmla="*/ 7510348 w 9635294"/>
              <a:gd name="connsiteY1933" fmla="*/ 3343997 h 6211920"/>
              <a:gd name="connsiteX1934" fmla="*/ 7514474 w 9635294"/>
              <a:gd name="connsiteY1934" fmla="*/ 3348810 h 6211920"/>
              <a:gd name="connsiteX1935" fmla="*/ 7514456 w 9635294"/>
              <a:gd name="connsiteY1935" fmla="*/ 3348825 h 6211920"/>
              <a:gd name="connsiteX1936" fmla="*/ 7510330 w 9635294"/>
              <a:gd name="connsiteY1936" fmla="*/ 3344013 h 6211920"/>
              <a:gd name="connsiteX1937" fmla="*/ 2130387 w 9635294"/>
              <a:gd name="connsiteY1937" fmla="*/ 3343955 h 6211920"/>
              <a:gd name="connsiteX1938" fmla="*/ 2130388 w 9635294"/>
              <a:gd name="connsiteY1938" fmla="*/ 3343956 h 6211920"/>
              <a:gd name="connsiteX1939" fmla="*/ 2128317 w 9635294"/>
              <a:gd name="connsiteY1939" fmla="*/ 3346362 h 6211920"/>
              <a:gd name="connsiteX1940" fmla="*/ 2107098 w 9635294"/>
              <a:gd name="connsiteY1940" fmla="*/ 3332336 h 6211920"/>
              <a:gd name="connsiteX1941" fmla="*/ 2126247 w 9635294"/>
              <a:gd name="connsiteY1941" fmla="*/ 3348768 h 6211920"/>
              <a:gd name="connsiteX1942" fmla="*/ 2128317 w 9635294"/>
              <a:gd name="connsiteY1942" fmla="*/ 3346362 h 6211920"/>
              <a:gd name="connsiteX1943" fmla="*/ 2124177 w 9635294"/>
              <a:gd name="connsiteY1943" fmla="*/ 3351176 h 6211920"/>
              <a:gd name="connsiteX1944" fmla="*/ 2105032 w 9635294"/>
              <a:gd name="connsiteY1944" fmla="*/ 3334747 h 6211920"/>
              <a:gd name="connsiteX1945" fmla="*/ 2108865 w 9635294"/>
              <a:gd name="connsiteY1945" fmla="*/ 3330272 h 6211920"/>
              <a:gd name="connsiteX1946" fmla="*/ 2107098 w 9635294"/>
              <a:gd name="connsiteY1946" fmla="*/ 3332336 h 6211920"/>
              <a:gd name="connsiteX1947" fmla="*/ 2107096 w 9635294"/>
              <a:gd name="connsiteY1947" fmla="*/ 3332334 h 6211920"/>
              <a:gd name="connsiteX1948" fmla="*/ 7527411 w 9635294"/>
              <a:gd name="connsiteY1948" fmla="*/ 3325197 h 6211920"/>
              <a:gd name="connsiteX1949" fmla="*/ 7535666 w 9635294"/>
              <a:gd name="connsiteY1949" fmla="*/ 3334842 h 6211920"/>
              <a:gd name="connsiteX1950" fmla="*/ 7516552 w 9635294"/>
              <a:gd name="connsiteY1950" fmla="*/ 3351232 h 6211920"/>
              <a:gd name="connsiteX1951" fmla="*/ 7514474 w 9635294"/>
              <a:gd name="connsiteY1951" fmla="*/ 3348810 h 6211920"/>
              <a:gd name="connsiteX1952" fmla="*/ 7533570 w 9635294"/>
              <a:gd name="connsiteY1952" fmla="*/ 3332430 h 6211920"/>
              <a:gd name="connsiteX1953" fmla="*/ 7529443 w 9635294"/>
              <a:gd name="connsiteY1953" fmla="*/ 3327611 h 6211920"/>
              <a:gd name="connsiteX1954" fmla="*/ 7510348 w 9635294"/>
              <a:gd name="connsiteY1954" fmla="*/ 3343997 h 6211920"/>
              <a:gd name="connsiteX1955" fmla="*/ 7508297 w 9635294"/>
              <a:gd name="connsiteY1955" fmla="*/ 3341605 h 6211920"/>
              <a:gd name="connsiteX1956" fmla="*/ 7527411 w 9635294"/>
              <a:gd name="connsiteY1956" fmla="*/ 3325197 h 6211920"/>
              <a:gd name="connsiteX1957" fmla="*/ 2113293 w 9635294"/>
              <a:gd name="connsiteY1957" fmla="*/ 3325101 h 6211920"/>
              <a:gd name="connsiteX1958" fmla="*/ 2132458 w 9635294"/>
              <a:gd name="connsiteY1958" fmla="*/ 3341548 h 6211920"/>
              <a:gd name="connsiteX1959" fmla="*/ 2130387 w 9635294"/>
              <a:gd name="connsiteY1959" fmla="*/ 3343955 h 6211920"/>
              <a:gd name="connsiteX1960" fmla="*/ 2111230 w 9635294"/>
              <a:gd name="connsiteY1960" fmla="*/ 3327514 h 6211920"/>
              <a:gd name="connsiteX1961" fmla="*/ 2108865 w 9635294"/>
              <a:gd name="connsiteY1961" fmla="*/ 3330272 h 6211920"/>
              <a:gd name="connsiteX1962" fmla="*/ 2089908 w 9635294"/>
              <a:gd name="connsiteY1962" fmla="*/ 3313593 h 6211920"/>
              <a:gd name="connsiteX1963" fmla="*/ 2087912 w 9635294"/>
              <a:gd name="connsiteY1963" fmla="*/ 3315932 h 6211920"/>
              <a:gd name="connsiteX1964" fmla="*/ 2087911 w 9635294"/>
              <a:gd name="connsiteY1964" fmla="*/ 3315931 h 6211920"/>
              <a:gd name="connsiteX1965" fmla="*/ 2069259 w 9635294"/>
              <a:gd name="connsiteY1965" fmla="*/ 3298929 h 6211920"/>
              <a:gd name="connsiteX1966" fmla="*/ 2068710 w 9635294"/>
              <a:gd name="connsiteY1966" fmla="*/ 3299574 h 6211920"/>
              <a:gd name="connsiteX1967" fmla="*/ 2087911 w 9635294"/>
              <a:gd name="connsiteY1967" fmla="*/ 3315931 h 6211920"/>
              <a:gd name="connsiteX1968" fmla="*/ 2085848 w 9635294"/>
              <a:gd name="connsiteY1968" fmla="*/ 3318346 h 6211920"/>
              <a:gd name="connsiteX1969" fmla="*/ 2066652 w 9635294"/>
              <a:gd name="connsiteY1969" fmla="*/ 3301995 h 6211920"/>
              <a:gd name="connsiteX1970" fmla="*/ 7567797 w 9635294"/>
              <a:gd name="connsiteY1970" fmla="*/ 3294907 h 6211920"/>
              <a:gd name="connsiteX1971" fmla="*/ 7569983 w 9635294"/>
              <a:gd name="connsiteY1971" fmla="*/ 3297510 h 6211920"/>
              <a:gd name="connsiteX1972" fmla="*/ 7567776 w 9635294"/>
              <a:gd name="connsiteY1972" fmla="*/ 3294925 h 6211920"/>
              <a:gd name="connsiteX1973" fmla="*/ 2072824 w 9635294"/>
              <a:gd name="connsiteY1973" fmla="*/ 3294736 h 6211920"/>
              <a:gd name="connsiteX1974" fmla="*/ 2072824 w 9635294"/>
              <a:gd name="connsiteY1974" fmla="*/ 3294736 h 6211920"/>
              <a:gd name="connsiteX1975" fmla="*/ 2069259 w 9635294"/>
              <a:gd name="connsiteY1975" fmla="*/ 3298929 h 6211920"/>
              <a:gd name="connsiteX1976" fmla="*/ 7565701 w 9635294"/>
              <a:gd name="connsiteY1976" fmla="*/ 3292494 h 6211920"/>
              <a:gd name="connsiteX1977" fmla="*/ 7567776 w 9635294"/>
              <a:gd name="connsiteY1977" fmla="*/ 3294925 h 6211920"/>
              <a:gd name="connsiteX1978" fmla="*/ 7548619 w 9635294"/>
              <a:gd name="connsiteY1978" fmla="*/ 3311239 h 6211920"/>
              <a:gd name="connsiteX1979" fmla="*/ 7552747 w 9635294"/>
              <a:gd name="connsiteY1979" fmla="*/ 3316066 h 6211920"/>
              <a:gd name="connsiteX1980" fmla="*/ 7571861 w 9635294"/>
              <a:gd name="connsiteY1980" fmla="*/ 3299746 h 6211920"/>
              <a:gd name="connsiteX1981" fmla="*/ 7569983 w 9635294"/>
              <a:gd name="connsiteY1981" fmla="*/ 3297510 h 6211920"/>
              <a:gd name="connsiteX1982" fmla="*/ 7573957 w 9635294"/>
              <a:gd name="connsiteY1982" fmla="*/ 3302165 h 6211920"/>
              <a:gd name="connsiteX1983" fmla="*/ 7554780 w 9635294"/>
              <a:gd name="connsiteY1983" fmla="*/ 3318478 h 6211920"/>
              <a:gd name="connsiteX1984" fmla="*/ 7546524 w 9635294"/>
              <a:gd name="connsiteY1984" fmla="*/ 3308820 h 6211920"/>
              <a:gd name="connsiteX1985" fmla="*/ 7565701 w 9635294"/>
              <a:gd name="connsiteY1985" fmla="*/ 3292494 h 6211920"/>
              <a:gd name="connsiteX1986" fmla="*/ 2074882 w 9635294"/>
              <a:gd name="connsiteY1986" fmla="*/ 3292316 h 6211920"/>
              <a:gd name="connsiteX1987" fmla="*/ 2094097 w 9635294"/>
              <a:gd name="connsiteY1987" fmla="*/ 3308688 h 6211920"/>
              <a:gd name="connsiteX1988" fmla="*/ 2089908 w 9635294"/>
              <a:gd name="connsiteY1988" fmla="*/ 3313593 h 6211920"/>
              <a:gd name="connsiteX1989" fmla="*/ 2092033 w 9635294"/>
              <a:gd name="connsiteY1989" fmla="*/ 3311100 h 6211920"/>
              <a:gd name="connsiteX1990" fmla="*/ 2072824 w 9635294"/>
              <a:gd name="connsiteY1990" fmla="*/ 3294736 h 6211920"/>
              <a:gd name="connsiteX1991" fmla="*/ 7586985 w 9635294"/>
              <a:gd name="connsiteY1991" fmla="*/ 3278604 h 6211920"/>
              <a:gd name="connsiteX1992" fmla="*/ 7589437 w 9635294"/>
              <a:gd name="connsiteY1992" fmla="*/ 3281505 h 6211920"/>
              <a:gd name="connsiteX1993" fmla="*/ 7586974 w 9635294"/>
              <a:gd name="connsiteY1993" fmla="*/ 3278613 h 6211920"/>
              <a:gd name="connsiteX1994" fmla="*/ 2034307 w 9635294"/>
              <a:gd name="connsiteY1994" fmla="*/ 3262091 h 6211920"/>
              <a:gd name="connsiteX1995" fmla="*/ 2030210 w 9635294"/>
              <a:gd name="connsiteY1995" fmla="*/ 3266948 h 6211920"/>
              <a:gd name="connsiteX1996" fmla="*/ 2049477 w 9635294"/>
              <a:gd name="connsiteY1996" fmla="*/ 3283242 h 6211920"/>
              <a:gd name="connsiteX1997" fmla="*/ 2053584 w 9635294"/>
              <a:gd name="connsiteY1997" fmla="*/ 3278398 h 6211920"/>
              <a:gd name="connsiteX1998" fmla="*/ 2034307 w 9635294"/>
              <a:gd name="connsiteY1998" fmla="*/ 3262091 h 6211920"/>
              <a:gd name="connsiteX1999" fmla="*/ 7604182 w 9635294"/>
              <a:gd name="connsiteY1999" fmla="*/ 3259919 h 6211920"/>
              <a:gd name="connsiteX2000" fmla="*/ 7612374 w 9635294"/>
              <a:gd name="connsiteY2000" fmla="*/ 3269622 h 6211920"/>
              <a:gd name="connsiteX2001" fmla="*/ 7593133 w 9635294"/>
              <a:gd name="connsiteY2001" fmla="*/ 3285878 h 6211920"/>
              <a:gd name="connsiteX2002" fmla="*/ 7589437 w 9635294"/>
              <a:gd name="connsiteY2002" fmla="*/ 3281505 h 6211920"/>
              <a:gd name="connsiteX2003" fmla="*/ 7591101 w 9635294"/>
              <a:gd name="connsiteY2003" fmla="*/ 3283459 h 6211920"/>
              <a:gd name="connsiteX2004" fmla="*/ 7610278 w 9635294"/>
              <a:gd name="connsiteY2004" fmla="*/ 3267197 h 6211920"/>
              <a:gd name="connsiteX2005" fmla="*/ 7606214 w 9635294"/>
              <a:gd name="connsiteY2005" fmla="*/ 3262344 h 6211920"/>
              <a:gd name="connsiteX2006" fmla="*/ 7586985 w 9635294"/>
              <a:gd name="connsiteY2006" fmla="*/ 3278604 h 6211920"/>
              <a:gd name="connsiteX2007" fmla="*/ 7584942 w 9635294"/>
              <a:gd name="connsiteY2007" fmla="*/ 3276188 h 6211920"/>
              <a:gd name="connsiteX2008" fmla="*/ 7604182 w 9635294"/>
              <a:gd name="connsiteY2008" fmla="*/ 3259919 h 6211920"/>
              <a:gd name="connsiteX2009" fmla="*/ 2036350 w 9635294"/>
              <a:gd name="connsiteY2009" fmla="*/ 3259666 h 6211920"/>
              <a:gd name="connsiteX2010" fmla="*/ 2055635 w 9635294"/>
              <a:gd name="connsiteY2010" fmla="*/ 3275979 h 6211920"/>
              <a:gd name="connsiteX2011" fmla="*/ 2047424 w 9635294"/>
              <a:gd name="connsiteY2011" fmla="*/ 3285669 h 6211920"/>
              <a:gd name="connsiteX2012" fmla="*/ 2028159 w 9635294"/>
              <a:gd name="connsiteY2012" fmla="*/ 3269375 h 6211920"/>
              <a:gd name="connsiteX2013" fmla="*/ 7625465 w 9635294"/>
              <a:gd name="connsiteY2013" fmla="*/ 3246106 h 6211920"/>
              <a:gd name="connsiteX2014" fmla="*/ 7629546 w 9635294"/>
              <a:gd name="connsiteY2014" fmla="*/ 3250949 h 6211920"/>
              <a:gd name="connsiteX2015" fmla="*/ 7629519 w 9635294"/>
              <a:gd name="connsiteY2015" fmla="*/ 3250971 h 6211920"/>
              <a:gd name="connsiteX2016" fmla="*/ 7625455 w 9635294"/>
              <a:gd name="connsiteY2016" fmla="*/ 3246114 h 6211920"/>
              <a:gd name="connsiteX2017" fmla="*/ 7645160 w 9635294"/>
              <a:gd name="connsiteY2017" fmla="*/ 3230402 h 6211920"/>
              <a:gd name="connsiteX2018" fmla="*/ 7650855 w 9635294"/>
              <a:gd name="connsiteY2018" fmla="*/ 3237217 h 6211920"/>
              <a:gd name="connsiteX2019" fmla="*/ 7631614 w 9635294"/>
              <a:gd name="connsiteY2019" fmla="*/ 3253403 h 6211920"/>
              <a:gd name="connsiteX2020" fmla="*/ 7629546 w 9635294"/>
              <a:gd name="connsiteY2020" fmla="*/ 3250949 h 6211920"/>
              <a:gd name="connsiteX2021" fmla="*/ 7648823 w 9635294"/>
              <a:gd name="connsiteY2021" fmla="*/ 3234786 h 6211920"/>
              <a:gd name="connsiteX2022" fmla="*/ 7644759 w 9635294"/>
              <a:gd name="connsiteY2022" fmla="*/ 3229921 h 6211920"/>
              <a:gd name="connsiteX2023" fmla="*/ 7645160 w 9635294"/>
              <a:gd name="connsiteY2023" fmla="*/ 3230402 h 6211920"/>
              <a:gd name="connsiteX2024" fmla="*/ 7644759 w 9635294"/>
              <a:gd name="connsiteY2024" fmla="*/ 3229922 h 6211920"/>
              <a:gd name="connsiteX2025" fmla="*/ 1995672 w 9635294"/>
              <a:gd name="connsiteY2025" fmla="*/ 3229599 h 6211920"/>
              <a:gd name="connsiteX2026" fmla="*/ 1991595 w 9635294"/>
              <a:gd name="connsiteY2026" fmla="*/ 3234462 h 6211920"/>
              <a:gd name="connsiteX2027" fmla="*/ 2010912 w 9635294"/>
              <a:gd name="connsiteY2027" fmla="*/ 3250686 h 6211920"/>
              <a:gd name="connsiteX2028" fmla="*/ 2015001 w 9635294"/>
              <a:gd name="connsiteY2028" fmla="*/ 3245828 h 6211920"/>
              <a:gd name="connsiteX2029" fmla="*/ 1995672 w 9635294"/>
              <a:gd name="connsiteY2029" fmla="*/ 3229599 h 6211920"/>
              <a:gd name="connsiteX2030" fmla="*/ 7642727 w 9635294"/>
              <a:gd name="connsiteY2030" fmla="*/ 3227489 h 6211920"/>
              <a:gd name="connsiteX2031" fmla="*/ 7644759 w 9635294"/>
              <a:gd name="connsiteY2031" fmla="*/ 3229922 h 6211920"/>
              <a:gd name="connsiteX2032" fmla="*/ 7625465 w 9635294"/>
              <a:gd name="connsiteY2032" fmla="*/ 3246106 h 6211920"/>
              <a:gd name="connsiteX2033" fmla="*/ 7623423 w 9635294"/>
              <a:gd name="connsiteY2033" fmla="*/ 3243683 h 6211920"/>
              <a:gd name="connsiteX2034" fmla="*/ 7642727 w 9635294"/>
              <a:gd name="connsiteY2034" fmla="*/ 3227489 h 6211920"/>
              <a:gd name="connsiteX2035" fmla="*/ 1997711 w 9635294"/>
              <a:gd name="connsiteY2035" fmla="*/ 3227159 h 6211920"/>
              <a:gd name="connsiteX2036" fmla="*/ 2017047 w 9635294"/>
              <a:gd name="connsiteY2036" fmla="*/ 3243396 h 6211920"/>
              <a:gd name="connsiteX2037" fmla="*/ 2008874 w 9635294"/>
              <a:gd name="connsiteY2037" fmla="*/ 3253118 h 6211920"/>
              <a:gd name="connsiteX2038" fmla="*/ 1989557 w 9635294"/>
              <a:gd name="connsiteY2038" fmla="*/ 3236894 h 6211920"/>
              <a:gd name="connsiteX2039" fmla="*/ 1973118 w 9635294"/>
              <a:gd name="connsiteY2039" fmla="*/ 3217218 h 6211920"/>
              <a:gd name="connsiteX2040" fmla="*/ 1972240 w 9635294"/>
              <a:gd name="connsiteY2040" fmla="*/ 3218269 h 6211920"/>
              <a:gd name="connsiteX2041" fmla="*/ 1972240 w 9635294"/>
              <a:gd name="connsiteY2041" fmla="*/ 3218269 h 6211920"/>
              <a:gd name="connsiteX2042" fmla="*/ 7664064 w 9635294"/>
              <a:gd name="connsiteY2042" fmla="*/ 3213754 h 6211920"/>
              <a:gd name="connsiteX2043" fmla="*/ 7668129 w 9635294"/>
              <a:gd name="connsiteY2043" fmla="*/ 3218630 h 6211920"/>
              <a:gd name="connsiteX2044" fmla="*/ 7668127 w 9635294"/>
              <a:gd name="connsiteY2044" fmla="*/ 3218632 h 6211920"/>
              <a:gd name="connsiteX2045" fmla="*/ 7664063 w 9635294"/>
              <a:gd name="connsiteY2045" fmla="*/ 3213754 h 6211920"/>
              <a:gd name="connsiteX2046" fmla="*/ 7686776 w 9635294"/>
              <a:gd name="connsiteY2046" fmla="*/ 3201646 h 6211920"/>
              <a:gd name="connsiteX2047" fmla="*/ 7689526 w 9635294"/>
              <a:gd name="connsiteY2047" fmla="*/ 3204947 h 6211920"/>
              <a:gd name="connsiteX2048" fmla="*/ 7670159 w 9635294"/>
              <a:gd name="connsiteY2048" fmla="*/ 3221063 h 6211920"/>
              <a:gd name="connsiteX2049" fmla="*/ 7668129 w 9635294"/>
              <a:gd name="connsiteY2049" fmla="*/ 3218630 h 6211920"/>
              <a:gd name="connsiteX2050" fmla="*/ 7687494 w 9635294"/>
              <a:gd name="connsiteY2050" fmla="*/ 3202508 h 6211920"/>
              <a:gd name="connsiteX2051" fmla="*/ 1954508 w 9635294"/>
              <a:gd name="connsiteY2051" fmla="*/ 3200126 h 6211920"/>
              <a:gd name="connsiteX2052" fmla="*/ 1952860 w 9635294"/>
              <a:gd name="connsiteY2052" fmla="*/ 3202108 h 6211920"/>
              <a:gd name="connsiteX2053" fmla="*/ 1972240 w 9635294"/>
              <a:gd name="connsiteY2053" fmla="*/ 3218269 h 6211920"/>
              <a:gd name="connsiteX2054" fmla="*/ 1970208 w 9635294"/>
              <a:gd name="connsiteY2054" fmla="*/ 3220702 h 6211920"/>
              <a:gd name="connsiteX2055" fmla="*/ 1950829 w 9635294"/>
              <a:gd name="connsiteY2055" fmla="*/ 3204547 h 6211920"/>
              <a:gd name="connsiteX2056" fmla="*/ 7683431 w 9635294"/>
              <a:gd name="connsiteY2056" fmla="*/ 3197625 h 6211920"/>
              <a:gd name="connsiteX2057" fmla="*/ 7686776 w 9635294"/>
              <a:gd name="connsiteY2057" fmla="*/ 3201646 h 6211920"/>
              <a:gd name="connsiteX2058" fmla="*/ 7683429 w 9635294"/>
              <a:gd name="connsiteY2058" fmla="*/ 3197627 h 6211920"/>
              <a:gd name="connsiteX2059" fmla="*/ 1956918 w 9635294"/>
              <a:gd name="connsiteY2059" fmla="*/ 3197225 h 6211920"/>
              <a:gd name="connsiteX2060" fmla="*/ 1956920 w 9635294"/>
              <a:gd name="connsiteY2060" fmla="*/ 3197227 h 6211920"/>
              <a:gd name="connsiteX2061" fmla="*/ 1954508 w 9635294"/>
              <a:gd name="connsiteY2061" fmla="*/ 3200126 h 6211920"/>
              <a:gd name="connsiteX2062" fmla="*/ 7681398 w 9635294"/>
              <a:gd name="connsiteY2062" fmla="*/ 3195187 h 6211920"/>
              <a:gd name="connsiteX2063" fmla="*/ 7683429 w 9635294"/>
              <a:gd name="connsiteY2063" fmla="*/ 3197627 h 6211920"/>
              <a:gd name="connsiteX2064" fmla="*/ 7664064 w 9635294"/>
              <a:gd name="connsiteY2064" fmla="*/ 3213754 h 6211920"/>
              <a:gd name="connsiteX2065" fmla="*/ 7662031 w 9635294"/>
              <a:gd name="connsiteY2065" fmla="*/ 3211316 h 6211920"/>
              <a:gd name="connsiteX2066" fmla="*/ 7681398 w 9635294"/>
              <a:gd name="connsiteY2066" fmla="*/ 3195187 h 6211920"/>
              <a:gd name="connsiteX2067" fmla="*/ 1958950 w 9635294"/>
              <a:gd name="connsiteY2067" fmla="*/ 3194787 h 6211920"/>
              <a:gd name="connsiteX2068" fmla="*/ 1978349 w 9635294"/>
              <a:gd name="connsiteY2068" fmla="*/ 3210955 h 6211920"/>
              <a:gd name="connsiteX2069" fmla="*/ 1973118 w 9635294"/>
              <a:gd name="connsiteY2069" fmla="*/ 3217218 h 6211920"/>
              <a:gd name="connsiteX2070" fmla="*/ 1976311 w 9635294"/>
              <a:gd name="connsiteY2070" fmla="*/ 3213393 h 6211920"/>
              <a:gd name="connsiteX2071" fmla="*/ 1956920 w 9635294"/>
              <a:gd name="connsiteY2071" fmla="*/ 3197227 h 6211920"/>
              <a:gd name="connsiteX2072" fmla="*/ 7704746 w 9635294"/>
              <a:gd name="connsiteY2072" fmla="*/ 3183916 h 6211920"/>
              <a:gd name="connsiteX2073" fmla="*/ 7706808 w 9635294"/>
              <a:gd name="connsiteY2073" fmla="*/ 3186416 h 6211920"/>
              <a:gd name="connsiteX2074" fmla="*/ 7706798 w 9635294"/>
              <a:gd name="connsiteY2074" fmla="*/ 3186424 h 6211920"/>
              <a:gd name="connsiteX2075" fmla="*/ 1937506 w 9635294"/>
              <a:gd name="connsiteY2075" fmla="*/ 3181096 h 6211920"/>
              <a:gd name="connsiteX2076" fmla="*/ 1937506 w 9635294"/>
              <a:gd name="connsiteY2076" fmla="*/ 3181096 h 6211920"/>
              <a:gd name="connsiteX2077" fmla="*/ 1935543 w 9635294"/>
              <a:gd name="connsiteY2077" fmla="*/ 3183462 h 6211920"/>
              <a:gd name="connsiteX2078" fmla="*/ 1914015 w 9635294"/>
              <a:gd name="connsiteY2078" fmla="*/ 3169898 h 6211920"/>
              <a:gd name="connsiteX2079" fmla="*/ 1933449 w 9635294"/>
              <a:gd name="connsiteY2079" fmla="*/ 3185986 h 6211920"/>
              <a:gd name="connsiteX2080" fmla="*/ 1935543 w 9635294"/>
              <a:gd name="connsiteY2080" fmla="*/ 3183462 h 6211920"/>
              <a:gd name="connsiteX2081" fmla="*/ 1931424 w 9635294"/>
              <a:gd name="connsiteY2081" fmla="*/ 3188430 h 6211920"/>
              <a:gd name="connsiteX2082" fmla="*/ 1911992 w 9635294"/>
              <a:gd name="connsiteY2082" fmla="*/ 3172346 h 6211920"/>
              <a:gd name="connsiteX2083" fmla="*/ 7725606 w 9635294"/>
              <a:gd name="connsiteY2083" fmla="*/ 3169620 h 6211920"/>
              <a:gd name="connsiteX2084" fmla="*/ 7728261 w 9635294"/>
              <a:gd name="connsiteY2084" fmla="*/ 3172816 h 6211920"/>
              <a:gd name="connsiteX2085" fmla="*/ 7708831 w 9635294"/>
              <a:gd name="connsiteY2085" fmla="*/ 3188869 h 6211920"/>
              <a:gd name="connsiteX2086" fmla="*/ 7706808 w 9635294"/>
              <a:gd name="connsiteY2086" fmla="*/ 3186416 h 6211920"/>
              <a:gd name="connsiteX2087" fmla="*/ 7726230 w 9635294"/>
              <a:gd name="connsiteY2087" fmla="*/ 3170371 h 6211920"/>
              <a:gd name="connsiteX2088" fmla="*/ 7722165 w 9635294"/>
              <a:gd name="connsiteY2088" fmla="*/ 3165475 h 6211920"/>
              <a:gd name="connsiteX2089" fmla="*/ 7725606 w 9635294"/>
              <a:gd name="connsiteY2089" fmla="*/ 3169620 h 6211920"/>
              <a:gd name="connsiteX2090" fmla="*/ 7722164 w 9635294"/>
              <a:gd name="connsiteY2090" fmla="*/ 3165476 h 6211920"/>
              <a:gd name="connsiteX2091" fmla="*/ 1918056 w 9635294"/>
              <a:gd name="connsiteY2091" fmla="*/ 3164999 h 6211920"/>
              <a:gd name="connsiteX2092" fmla="*/ 1918060 w 9635294"/>
              <a:gd name="connsiteY2092" fmla="*/ 3165002 h 6211920"/>
              <a:gd name="connsiteX2093" fmla="*/ 1914015 w 9635294"/>
              <a:gd name="connsiteY2093" fmla="*/ 3169898 h 6211920"/>
              <a:gd name="connsiteX2094" fmla="*/ 1914011 w 9635294"/>
              <a:gd name="connsiteY2094" fmla="*/ 3169895 h 6211920"/>
              <a:gd name="connsiteX2095" fmla="*/ 7720133 w 9635294"/>
              <a:gd name="connsiteY2095" fmla="*/ 3163030 h 6211920"/>
              <a:gd name="connsiteX2096" fmla="*/ 7722164 w 9635294"/>
              <a:gd name="connsiteY2096" fmla="*/ 3165476 h 6211920"/>
              <a:gd name="connsiteX2097" fmla="*/ 7702798 w 9635294"/>
              <a:gd name="connsiteY2097" fmla="*/ 3181534 h 6211920"/>
              <a:gd name="connsiteX2098" fmla="*/ 7704746 w 9635294"/>
              <a:gd name="connsiteY2098" fmla="*/ 3183916 h 6211920"/>
              <a:gd name="connsiteX2099" fmla="*/ 7700766 w 9635294"/>
              <a:gd name="connsiteY2099" fmla="*/ 3179089 h 6211920"/>
              <a:gd name="connsiteX2100" fmla="*/ 7720133 w 9635294"/>
              <a:gd name="connsiteY2100" fmla="*/ 3163030 h 6211920"/>
              <a:gd name="connsiteX2101" fmla="*/ 1920083 w 9635294"/>
              <a:gd name="connsiteY2101" fmla="*/ 3162554 h 6211920"/>
              <a:gd name="connsiteX2102" fmla="*/ 1939532 w 9635294"/>
              <a:gd name="connsiteY2102" fmla="*/ 3178651 h 6211920"/>
              <a:gd name="connsiteX2103" fmla="*/ 1937506 w 9635294"/>
              <a:gd name="connsiteY2103" fmla="*/ 3181096 h 6211920"/>
              <a:gd name="connsiteX2104" fmla="*/ 1918060 w 9635294"/>
              <a:gd name="connsiteY2104" fmla="*/ 3165002 h 6211920"/>
              <a:gd name="connsiteX2105" fmla="*/ 1895919 w 9635294"/>
              <a:gd name="connsiteY2105" fmla="*/ 3152176 h 6211920"/>
              <a:gd name="connsiteX2106" fmla="*/ 1894548 w 9635294"/>
              <a:gd name="connsiteY2106" fmla="*/ 3153842 h 6211920"/>
              <a:gd name="connsiteX2107" fmla="*/ 1894548 w 9635294"/>
              <a:gd name="connsiteY2107" fmla="*/ 3153842 h 6211920"/>
              <a:gd name="connsiteX2108" fmla="*/ 7761027 w 9635294"/>
              <a:gd name="connsiteY2108" fmla="*/ 3133458 h 6211920"/>
              <a:gd name="connsiteX2109" fmla="*/ 7741596 w 9635294"/>
              <a:gd name="connsiteY2109" fmla="*/ 3149448 h 6211920"/>
              <a:gd name="connsiteX2110" fmla="*/ 7745660 w 9635294"/>
              <a:gd name="connsiteY2110" fmla="*/ 3154350 h 6211920"/>
              <a:gd name="connsiteX2111" fmla="*/ 7765092 w 9635294"/>
              <a:gd name="connsiteY2111" fmla="*/ 3138367 h 6211920"/>
              <a:gd name="connsiteX2112" fmla="*/ 7759059 w 9635294"/>
              <a:gd name="connsiteY2112" fmla="*/ 3131007 h 6211920"/>
              <a:gd name="connsiteX2113" fmla="*/ 7767123 w 9635294"/>
              <a:gd name="connsiteY2113" fmla="*/ 3140824 h 6211920"/>
              <a:gd name="connsiteX2114" fmla="*/ 7747629 w 9635294"/>
              <a:gd name="connsiteY2114" fmla="*/ 3156801 h 6211920"/>
              <a:gd name="connsiteX2115" fmla="*/ 7739564 w 9635294"/>
              <a:gd name="connsiteY2115" fmla="*/ 3146997 h 6211920"/>
              <a:gd name="connsiteX2116" fmla="*/ 7759059 w 9635294"/>
              <a:gd name="connsiteY2116" fmla="*/ 3131007 h 6211920"/>
              <a:gd name="connsiteX2117" fmla="*/ 1881092 w 9635294"/>
              <a:gd name="connsiteY2117" fmla="*/ 3130455 h 6211920"/>
              <a:gd name="connsiteX2118" fmla="*/ 1900601 w 9635294"/>
              <a:gd name="connsiteY2118" fmla="*/ 3146489 h 6211920"/>
              <a:gd name="connsiteX2119" fmla="*/ 1895919 w 9635294"/>
              <a:gd name="connsiteY2119" fmla="*/ 3152176 h 6211920"/>
              <a:gd name="connsiteX2120" fmla="*/ 1898580 w 9635294"/>
              <a:gd name="connsiteY2120" fmla="*/ 3148940 h 6211920"/>
              <a:gd name="connsiteX2121" fmla="*/ 1879080 w 9635294"/>
              <a:gd name="connsiteY2121" fmla="*/ 3132912 h 6211920"/>
              <a:gd name="connsiteX2122" fmla="*/ 1875054 w 9635294"/>
              <a:gd name="connsiteY2122" fmla="*/ 3137821 h 6211920"/>
              <a:gd name="connsiteX2123" fmla="*/ 1894548 w 9635294"/>
              <a:gd name="connsiteY2123" fmla="*/ 3153842 h 6211920"/>
              <a:gd name="connsiteX2124" fmla="*/ 1892529 w 9635294"/>
              <a:gd name="connsiteY2124" fmla="*/ 3156293 h 6211920"/>
              <a:gd name="connsiteX2125" fmla="*/ 1873034 w 9635294"/>
              <a:gd name="connsiteY2125" fmla="*/ 3140278 h 6211920"/>
              <a:gd name="connsiteX2126" fmla="*/ 7780540 w 9635294"/>
              <a:gd name="connsiteY2126" fmla="*/ 3117486 h 6211920"/>
              <a:gd name="connsiteX2127" fmla="*/ 7782570 w 9635294"/>
              <a:gd name="connsiteY2127" fmla="*/ 3119981 h 6211920"/>
              <a:gd name="connsiteX2128" fmla="*/ 7780522 w 9635294"/>
              <a:gd name="connsiteY2128" fmla="*/ 3117501 h 6211920"/>
              <a:gd name="connsiteX2129" fmla="*/ 1859547 w 9635294"/>
              <a:gd name="connsiteY2129" fmla="*/ 3116917 h 6211920"/>
              <a:gd name="connsiteX2130" fmla="*/ 1859547 w 9635294"/>
              <a:gd name="connsiteY2130" fmla="*/ 3116917 h 6211920"/>
              <a:gd name="connsiteX2131" fmla="*/ 1858296 w 9635294"/>
              <a:gd name="connsiteY2131" fmla="*/ 3118449 h 6211920"/>
              <a:gd name="connsiteX2132" fmla="*/ 7804063 w 9635294"/>
              <a:gd name="connsiteY2132" fmla="*/ 3106524 h 6211920"/>
              <a:gd name="connsiteX2133" fmla="*/ 7806049 w 9635294"/>
              <a:gd name="connsiteY2133" fmla="*/ 3108967 h 6211920"/>
              <a:gd name="connsiteX2134" fmla="*/ 7786555 w 9635294"/>
              <a:gd name="connsiteY2134" fmla="*/ 3124880 h 6211920"/>
              <a:gd name="connsiteX2135" fmla="*/ 7782570 w 9635294"/>
              <a:gd name="connsiteY2135" fmla="*/ 3119981 h 6211920"/>
              <a:gd name="connsiteX2136" fmla="*/ 7784586 w 9635294"/>
              <a:gd name="connsiteY2136" fmla="*/ 3122422 h 6211920"/>
              <a:gd name="connsiteX2137" fmla="*/ 7800080 w 9635294"/>
              <a:gd name="connsiteY2137" fmla="*/ 3101581 h 6211920"/>
              <a:gd name="connsiteX2138" fmla="*/ 7804081 w 9635294"/>
              <a:gd name="connsiteY2138" fmla="*/ 3106509 h 6211920"/>
              <a:gd name="connsiteX2139" fmla="*/ 7804063 w 9635294"/>
              <a:gd name="connsiteY2139" fmla="*/ 3106524 h 6211920"/>
              <a:gd name="connsiteX2140" fmla="*/ 7800059 w 9635294"/>
              <a:gd name="connsiteY2140" fmla="*/ 3101598 h 6211920"/>
              <a:gd name="connsiteX2141" fmla="*/ 7798048 w 9635294"/>
              <a:gd name="connsiteY2141" fmla="*/ 3099124 h 6211920"/>
              <a:gd name="connsiteX2142" fmla="*/ 7800059 w 9635294"/>
              <a:gd name="connsiteY2142" fmla="*/ 3101598 h 6211920"/>
              <a:gd name="connsiteX2143" fmla="*/ 7780540 w 9635294"/>
              <a:gd name="connsiteY2143" fmla="*/ 3117486 h 6211920"/>
              <a:gd name="connsiteX2144" fmla="*/ 7778553 w 9635294"/>
              <a:gd name="connsiteY2144" fmla="*/ 3115043 h 6211920"/>
              <a:gd name="connsiteX2145" fmla="*/ 7798048 w 9635294"/>
              <a:gd name="connsiteY2145" fmla="*/ 3099124 h 6211920"/>
              <a:gd name="connsiteX2146" fmla="*/ 1841989 w 9635294"/>
              <a:gd name="connsiteY2146" fmla="*/ 3098502 h 6211920"/>
              <a:gd name="connsiteX2147" fmla="*/ 1861554 w 9635294"/>
              <a:gd name="connsiteY2147" fmla="*/ 3114459 h 6211920"/>
              <a:gd name="connsiteX2148" fmla="*/ 1859547 w 9635294"/>
              <a:gd name="connsiteY2148" fmla="*/ 3116917 h 6211920"/>
              <a:gd name="connsiteX2149" fmla="*/ 1839989 w 9635294"/>
              <a:gd name="connsiteY2149" fmla="*/ 3100965 h 6211920"/>
              <a:gd name="connsiteX2150" fmla="*/ 1835976 w 9635294"/>
              <a:gd name="connsiteY2150" fmla="*/ 3105887 h 6211920"/>
              <a:gd name="connsiteX2151" fmla="*/ 1855527 w 9635294"/>
              <a:gd name="connsiteY2151" fmla="*/ 3121838 h 6211920"/>
              <a:gd name="connsiteX2152" fmla="*/ 1858296 w 9635294"/>
              <a:gd name="connsiteY2152" fmla="*/ 3118449 h 6211920"/>
              <a:gd name="connsiteX2153" fmla="*/ 1853522 w 9635294"/>
              <a:gd name="connsiteY2153" fmla="*/ 3124295 h 6211920"/>
              <a:gd name="connsiteX2154" fmla="*/ 1833969 w 9635294"/>
              <a:gd name="connsiteY2154" fmla="*/ 3108351 h 6211920"/>
              <a:gd name="connsiteX2155" fmla="*/ 7819593 w 9635294"/>
              <a:gd name="connsiteY2155" fmla="*/ 3085679 h 6211920"/>
              <a:gd name="connsiteX2156" fmla="*/ 7823594 w 9635294"/>
              <a:gd name="connsiteY2156" fmla="*/ 3090613 h 6211920"/>
              <a:gd name="connsiteX2157" fmla="*/ 7823575 w 9635294"/>
              <a:gd name="connsiteY2157" fmla="*/ 3090628 h 6211920"/>
              <a:gd name="connsiteX2158" fmla="*/ 7819574 w 9635294"/>
              <a:gd name="connsiteY2158" fmla="*/ 3085694 h 6211920"/>
              <a:gd name="connsiteX2159" fmla="*/ 7840972 w 9635294"/>
              <a:gd name="connsiteY2159" fmla="*/ 3072074 h 6211920"/>
              <a:gd name="connsiteX2160" fmla="*/ 7845165 w 9635294"/>
              <a:gd name="connsiteY2160" fmla="*/ 3077248 h 6211920"/>
              <a:gd name="connsiteX2161" fmla="*/ 7825606 w 9635294"/>
              <a:gd name="connsiteY2161" fmla="*/ 3093092 h 6211920"/>
              <a:gd name="connsiteX2162" fmla="*/ 7823594 w 9635294"/>
              <a:gd name="connsiteY2162" fmla="*/ 3090613 h 6211920"/>
              <a:gd name="connsiteX2163" fmla="*/ 7843132 w 9635294"/>
              <a:gd name="connsiteY2163" fmla="*/ 3074785 h 6211920"/>
              <a:gd name="connsiteX2164" fmla="*/ 7839196 w 9635294"/>
              <a:gd name="connsiteY2164" fmla="*/ 3069844 h 6211920"/>
              <a:gd name="connsiteX2165" fmla="*/ 7840972 w 9635294"/>
              <a:gd name="connsiteY2165" fmla="*/ 3072074 h 6211920"/>
              <a:gd name="connsiteX2166" fmla="*/ 7839177 w 9635294"/>
              <a:gd name="connsiteY2166" fmla="*/ 3069859 h 6211920"/>
              <a:gd name="connsiteX2167" fmla="*/ 1800778 w 9635294"/>
              <a:gd name="connsiteY2167" fmla="*/ 3069152 h 6211920"/>
              <a:gd name="connsiteX2168" fmla="*/ 1796784 w 9635294"/>
              <a:gd name="connsiteY2168" fmla="*/ 3074092 h 6211920"/>
              <a:gd name="connsiteX2169" fmla="*/ 1816392 w 9635294"/>
              <a:gd name="connsiteY2169" fmla="*/ 3089974 h 6211920"/>
              <a:gd name="connsiteX2170" fmla="*/ 1820394 w 9635294"/>
              <a:gd name="connsiteY2170" fmla="*/ 3085040 h 6211920"/>
              <a:gd name="connsiteX2171" fmla="*/ 1800778 w 9635294"/>
              <a:gd name="connsiteY2171" fmla="*/ 3069152 h 6211920"/>
              <a:gd name="connsiteX2172" fmla="*/ 7837164 w 9635294"/>
              <a:gd name="connsiteY2172" fmla="*/ 3067374 h 6211920"/>
              <a:gd name="connsiteX2173" fmla="*/ 7839177 w 9635294"/>
              <a:gd name="connsiteY2173" fmla="*/ 3069859 h 6211920"/>
              <a:gd name="connsiteX2174" fmla="*/ 7819593 w 9635294"/>
              <a:gd name="connsiteY2174" fmla="*/ 3085679 h 6211920"/>
              <a:gd name="connsiteX2175" fmla="*/ 7817606 w 9635294"/>
              <a:gd name="connsiteY2175" fmla="*/ 3083230 h 6211920"/>
              <a:gd name="connsiteX2176" fmla="*/ 7837164 w 9635294"/>
              <a:gd name="connsiteY2176" fmla="*/ 3067374 h 6211920"/>
              <a:gd name="connsiteX2177" fmla="*/ 1802772 w 9635294"/>
              <a:gd name="connsiteY2177" fmla="*/ 3066682 h 6211920"/>
              <a:gd name="connsiteX2178" fmla="*/ 1822400 w 9635294"/>
              <a:gd name="connsiteY2178" fmla="*/ 3082576 h 6211920"/>
              <a:gd name="connsiteX2179" fmla="*/ 1814392 w 9635294"/>
              <a:gd name="connsiteY2179" fmla="*/ 3092437 h 6211920"/>
              <a:gd name="connsiteX2180" fmla="*/ 1794790 w 9635294"/>
              <a:gd name="connsiteY2180" fmla="*/ 3076556 h 6211920"/>
              <a:gd name="connsiteX2181" fmla="*/ 7858763 w 9635294"/>
              <a:gd name="connsiteY2181" fmla="*/ 3054020 h 6211920"/>
              <a:gd name="connsiteX2182" fmla="*/ 7860676 w 9635294"/>
              <a:gd name="connsiteY2182" fmla="*/ 3056403 h 6211920"/>
              <a:gd name="connsiteX2183" fmla="*/ 7858754 w 9635294"/>
              <a:gd name="connsiteY2183" fmla="*/ 3054026 h 6211920"/>
              <a:gd name="connsiteX2184" fmla="*/ 1781131 w 9635294"/>
              <a:gd name="connsiteY2184" fmla="*/ 3053303 h 6211920"/>
              <a:gd name="connsiteX2185" fmla="*/ 1781131 w 9635294"/>
              <a:gd name="connsiteY2185" fmla="*/ 3053303 h 6211920"/>
              <a:gd name="connsiteX2186" fmla="*/ 1779312 w 9635294"/>
              <a:gd name="connsiteY2186" fmla="*/ 3055560 h 6211920"/>
              <a:gd name="connsiteX2187" fmla="*/ 7882365 w 9635294"/>
              <a:gd name="connsiteY2187" fmla="*/ 3043209 h 6211920"/>
              <a:gd name="connsiteX2188" fmla="*/ 7884344 w 9635294"/>
              <a:gd name="connsiteY2188" fmla="*/ 3045676 h 6211920"/>
              <a:gd name="connsiteX2189" fmla="*/ 7864723 w 9635294"/>
              <a:gd name="connsiteY2189" fmla="*/ 3061443 h 6211920"/>
              <a:gd name="connsiteX2190" fmla="*/ 7860676 w 9635294"/>
              <a:gd name="connsiteY2190" fmla="*/ 3056403 h 6211920"/>
              <a:gd name="connsiteX2191" fmla="*/ 7862755 w 9635294"/>
              <a:gd name="connsiteY2191" fmla="*/ 3058973 h 6211920"/>
              <a:gd name="connsiteX2192" fmla="*/ 7880379 w 9635294"/>
              <a:gd name="connsiteY2192" fmla="*/ 3040731 h 6211920"/>
              <a:gd name="connsiteX2193" fmla="*/ 7882376 w 9635294"/>
              <a:gd name="connsiteY2193" fmla="*/ 3043200 h 6211920"/>
              <a:gd name="connsiteX2194" fmla="*/ 7882365 w 9635294"/>
              <a:gd name="connsiteY2194" fmla="*/ 3043209 h 6211920"/>
              <a:gd name="connsiteX2195" fmla="*/ 1759433 w 9635294"/>
              <a:gd name="connsiteY2195" fmla="*/ 3040013 h 6211920"/>
              <a:gd name="connsiteX2196" fmla="*/ 1757490 w 9635294"/>
              <a:gd name="connsiteY2196" fmla="*/ 3042438 h 6211920"/>
              <a:gd name="connsiteX2197" fmla="*/ 1777149 w 9635294"/>
              <a:gd name="connsiteY2197" fmla="*/ 3058243 h 6211920"/>
              <a:gd name="connsiteX2198" fmla="*/ 1779312 w 9635294"/>
              <a:gd name="connsiteY2198" fmla="*/ 3055560 h 6211920"/>
              <a:gd name="connsiteX2199" fmla="*/ 1775156 w 9635294"/>
              <a:gd name="connsiteY2199" fmla="*/ 3060719 h 6211920"/>
              <a:gd name="connsiteX2200" fmla="*/ 1755503 w 9635294"/>
              <a:gd name="connsiteY2200" fmla="*/ 3044914 h 6211920"/>
              <a:gd name="connsiteX2201" fmla="*/ 1761458 w 9635294"/>
              <a:gd name="connsiteY2201" fmla="*/ 3037484 h 6211920"/>
              <a:gd name="connsiteX2202" fmla="*/ 1761460 w 9635294"/>
              <a:gd name="connsiteY2202" fmla="*/ 3037486 h 6211920"/>
              <a:gd name="connsiteX2203" fmla="*/ 1759433 w 9635294"/>
              <a:gd name="connsiteY2203" fmla="*/ 3040013 h 6211920"/>
              <a:gd name="connsiteX2204" fmla="*/ 7876406 w 9635294"/>
              <a:gd name="connsiteY2204" fmla="*/ 3035776 h 6211920"/>
              <a:gd name="connsiteX2205" fmla="*/ 7880379 w 9635294"/>
              <a:gd name="connsiteY2205" fmla="*/ 3040731 h 6211920"/>
              <a:gd name="connsiteX2206" fmla="*/ 7878375 w 9635294"/>
              <a:gd name="connsiteY2206" fmla="*/ 3038253 h 6211920"/>
              <a:gd name="connsiteX2207" fmla="*/ 7858763 w 9635294"/>
              <a:gd name="connsiteY2207" fmla="*/ 3054020 h 6211920"/>
              <a:gd name="connsiteX2208" fmla="*/ 7856785 w 9635294"/>
              <a:gd name="connsiteY2208" fmla="*/ 3051556 h 6211920"/>
              <a:gd name="connsiteX2209" fmla="*/ 7876406 w 9635294"/>
              <a:gd name="connsiteY2209" fmla="*/ 3035776 h 6211920"/>
              <a:gd name="connsiteX2210" fmla="*/ 1763446 w 9635294"/>
              <a:gd name="connsiteY2210" fmla="*/ 3035008 h 6211920"/>
              <a:gd name="connsiteX2211" fmla="*/ 1783126 w 9635294"/>
              <a:gd name="connsiteY2211" fmla="*/ 3050826 h 6211920"/>
              <a:gd name="connsiteX2212" fmla="*/ 1781131 w 9635294"/>
              <a:gd name="connsiteY2212" fmla="*/ 3053303 h 6211920"/>
              <a:gd name="connsiteX2213" fmla="*/ 1761460 w 9635294"/>
              <a:gd name="connsiteY2213" fmla="*/ 3037486 h 6211920"/>
              <a:gd name="connsiteX2214" fmla="*/ 1719686 w 9635294"/>
              <a:gd name="connsiteY2214" fmla="*/ 3008887 h 6211920"/>
              <a:gd name="connsiteX2215" fmla="*/ 1718064 w 9635294"/>
              <a:gd name="connsiteY2215" fmla="*/ 3010924 h 6211920"/>
              <a:gd name="connsiteX2216" fmla="*/ 1718063 w 9635294"/>
              <a:gd name="connsiteY2216" fmla="*/ 3010923 h 6211920"/>
              <a:gd name="connsiteX2217" fmla="*/ 7917745 w 9635294"/>
              <a:gd name="connsiteY2217" fmla="*/ 3006789 h 6211920"/>
              <a:gd name="connsiteX2218" fmla="*/ 7898060 w 9635294"/>
              <a:gd name="connsiteY2218" fmla="*/ 3022499 h 6211920"/>
              <a:gd name="connsiteX2219" fmla="*/ 7901997 w 9635294"/>
              <a:gd name="connsiteY2219" fmla="*/ 3027458 h 6211920"/>
              <a:gd name="connsiteX2220" fmla="*/ 7921682 w 9635294"/>
              <a:gd name="connsiteY2220" fmla="*/ 3011754 h 6211920"/>
              <a:gd name="connsiteX2221" fmla="*/ 7915777 w 9635294"/>
              <a:gd name="connsiteY2221" fmla="*/ 3004306 h 6211920"/>
              <a:gd name="connsiteX2222" fmla="*/ 7923651 w 9635294"/>
              <a:gd name="connsiteY2222" fmla="*/ 3014237 h 6211920"/>
              <a:gd name="connsiteX2223" fmla="*/ 7903966 w 9635294"/>
              <a:gd name="connsiteY2223" fmla="*/ 3029941 h 6211920"/>
              <a:gd name="connsiteX2224" fmla="*/ 7896092 w 9635294"/>
              <a:gd name="connsiteY2224" fmla="*/ 3020022 h 6211920"/>
              <a:gd name="connsiteX2225" fmla="*/ 7915777 w 9635294"/>
              <a:gd name="connsiteY2225" fmla="*/ 3004306 h 6211920"/>
              <a:gd name="connsiteX2226" fmla="*/ 1724000 w 9635294"/>
              <a:gd name="connsiteY2226" fmla="*/ 3003468 h 6211920"/>
              <a:gd name="connsiteX2227" fmla="*/ 1743736 w 9635294"/>
              <a:gd name="connsiteY2227" fmla="*/ 3019222 h 6211920"/>
              <a:gd name="connsiteX2228" fmla="*/ 1735804 w 9635294"/>
              <a:gd name="connsiteY2228" fmla="*/ 3029141 h 6211920"/>
              <a:gd name="connsiteX2229" fmla="*/ 1716088 w 9635294"/>
              <a:gd name="connsiteY2229" fmla="*/ 3013405 h 6211920"/>
              <a:gd name="connsiteX2230" fmla="*/ 1718064 w 9635294"/>
              <a:gd name="connsiteY2230" fmla="*/ 3010924 h 6211920"/>
              <a:gd name="connsiteX2231" fmla="*/ 1737786 w 9635294"/>
              <a:gd name="connsiteY2231" fmla="*/ 3026658 h 6211920"/>
              <a:gd name="connsiteX2232" fmla="*/ 1741754 w 9635294"/>
              <a:gd name="connsiteY2232" fmla="*/ 3021698 h 6211920"/>
              <a:gd name="connsiteX2233" fmla="*/ 1722026 w 9635294"/>
              <a:gd name="connsiteY2233" fmla="*/ 3005950 h 6211920"/>
              <a:gd name="connsiteX2234" fmla="*/ 1719686 w 9635294"/>
              <a:gd name="connsiteY2234" fmla="*/ 3008887 h 6211920"/>
              <a:gd name="connsiteX2235" fmla="*/ 7937431 w 9635294"/>
              <a:gd name="connsiteY2235" fmla="*/ 2991117 h 6211920"/>
              <a:gd name="connsiteX2236" fmla="*/ 7938585 w 9635294"/>
              <a:gd name="connsiteY2236" fmla="*/ 2992575 h 6211920"/>
              <a:gd name="connsiteX2237" fmla="*/ 7937431 w 9635294"/>
              <a:gd name="connsiteY2237" fmla="*/ 2991117 h 6211920"/>
              <a:gd name="connsiteX2238" fmla="*/ 1702270 w 9635294"/>
              <a:gd name="connsiteY2238" fmla="*/ 2990247 h 6211920"/>
              <a:gd name="connsiteX2239" fmla="*/ 1702270 w 9635294"/>
              <a:gd name="connsiteY2239" fmla="*/ 2990247 h 6211920"/>
              <a:gd name="connsiteX2240" fmla="*/ 1700913 w 9635294"/>
              <a:gd name="connsiteY2240" fmla="*/ 2991956 h 6211920"/>
              <a:gd name="connsiteX2241" fmla="*/ 1678543 w 9635294"/>
              <a:gd name="connsiteY2241" fmla="*/ 2979550 h 6211920"/>
              <a:gd name="connsiteX2242" fmla="*/ 1698321 w 9635294"/>
              <a:gd name="connsiteY2242" fmla="*/ 2995219 h 6211920"/>
              <a:gd name="connsiteX2243" fmla="*/ 1700913 w 9635294"/>
              <a:gd name="connsiteY2243" fmla="*/ 2991956 h 6211920"/>
              <a:gd name="connsiteX2244" fmla="*/ 1696346 w 9635294"/>
              <a:gd name="connsiteY2244" fmla="*/ 2997708 h 6211920"/>
              <a:gd name="connsiteX2245" fmla="*/ 1676572 w 9635294"/>
              <a:gd name="connsiteY2245" fmla="*/ 2982043 h 6211920"/>
              <a:gd name="connsiteX2246" fmla="*/ 1682477 w 9635294"/>
              <a:gd name="connsiteY2246" fmla="*/ 2974569 h 6211920"/>
              <a:gd name="connsiteX2247" fmla="*/ 1682479 w 9635294"/>
              <a:gd name="connsiteY2247" fmla="*/ 2974570 h 6211920"/>
              <a:gd name="connsiteX2248" fmla="*/ 1678543 w 9635294"/>
              <a:gd name="connsiteY2248" fmla="*/ 2979550 h 6211920"/>
              <a:gd name="connsiteX2249" fmla="*/ 1678540 w 9635294"/>
              <a:gd name="connsiteY2249" fmla="*/ 2979547 h 6211920"/>
              <a:gd name="connsiteX2250" fmla="*/ 7955210 w 9635294"/>
              <a:gd name="connsiteY2250" fmla="*/ 2972981 h 6211920"/>
              <a:gd name="connsiteX2251" fmla="*/ 7963084 w 9635294"/>
              <a:gd name="connsiteY2251" fmla="*/ 2982944 h 6211920"/>
              <a:gd name="connsiteX2252" fmla="*/ 7943336 w 9635294"/>
              <a:gd name="connsiteY2252" fmla="*/ 2998578 h 6211920"/>
              <a:gd name="connsiteX2253" fmla="*/ 7938585 w 9635294"/>
              <a:gd name="connsiteY2253" fmla="*/ 2992575 h 6211920"/>
              <a:gd name="connsiteX2254" fmla="*/ 7941368 w 9635294"/>
              <a:gd name="connsiteY2254" fmla="*/ 2996089 h 6211920"/>
              <a:gd name="connsiteX2255" fmla="*/ 7961116 w 9635294"/>
              <a:gd name="connsiteY2255" fmla="*/ 2980455 h 6211920"/>
              <a:gd name="connsiteX2256" fmla="*/ 7957179 w 9635294"/>
              <a:gd name="connsiteY2256" fmla="*/ 2975477 h 6211920"/>
              <a:gd name="connsiteX2257" fmla="*/ 7937431 w 9635294"/>
              <a:gd name="connsiteY2257" fmla="*/ 2991117 h 6211920"/>
              <a:gd name="connsiteX2258" fmla="*/ 7935462 w 9635294"/>
              <a:gd name="connsiteY2258" fmla="*/ 2988628 h 6211920"/>
              <a:gd name="connsiteX2259" fmla="*/ 7955210 w 9635294"/>
              <a:gd name="connsiteY2259" fmla="*/ 2972981 h 6211920"/>
              <a:gd name="connsiteX2260" fmla="*/ 1684446 w 9635294"/>
              <a:gd name="connsiteY2260" fmla="*/ 2972080 h 6211920"/>
              <a:gd name="connsiteX2261" fmla="*/ 1704245 w 9635294"/>
              <a:gd name="connsiteY2261" fmla="*/ 2987758 h 6211920"/>
              <a:gd name="connsiteX2262" fmla="*/ 1702270 w 9635294"/>
              <a:gd name="connsiteY2262" fmla="*/ 2990247 h 6211920"/>
              <a:gd name="connsiteX2263" fmla="*/ 1682479 w 9635294"/>
              <a:gd name="connsiteY2263" fmla="*/ 2974570 h 6211920"/>
              <a:gd name="connsiteX2264" fmla="*/ 7976928 w 9635294"/>
              <a:gd name="connsiteY2264" fmla="*/ 2959868 h 6211920"/>
              <a:gd name="connsiteX2265" fmla="*/ 7978437 w 9635294"/>
              <a:gd name="connsiteY2265" fmla="*/ 2961780 h 6211920"/>
              <a:gd name="connsiteX2266" fmla="*/ 7976927 w 9635294"/>
              <a:gd name="connsiteY2266" fmla="*/ 2959868 h 6211920"/>
              <a:gd name="connsiteX2267" fmla="*/ 1662657 w 9635294"/>
              <a:gd name="connsiteY2267" fmla="*/ 2958928 h 6211920"/>
              <a:gd name="connsiteX2268" fmla="*/ 1662659 w 9635294"/>
              <a:gd name="connsiteY2268" fmla="*/ 2958929 h 6211920"/>
              <a:gd name="connsiteX2269" fmla="*/ 1660694 w 9635294"/>
              <a:gd name="connsiteY2269" fmla="*/ 2961421 h 6211920"/>
              <a:gd name="connsiteX2270" fmla="*/ 1640927 w 9635294"/>
              <a:gd name="connsiteY2270" fmla="*/ 2945736 h 6211920"/>
              <a:gd name="connsiteX2271" fmla="*/ 1638897 w 9635294"/>
              <a:gd name="connsiteY2271" fmla="*/ 2948324 h 6211920"/>
              <a:gd name="connsiteX2272" fmla="*/ 1658728 w 9635294"/>
              <a:gd name="connsiteY2272" fmla="*/ 2963913 h 6211920"/>
              <a:gd name="connsiteX2273" fmla="*/ 1660694 w 9635294"/>
              <a:gd name="connsiteY2273" fmla="*/ 2961421 h 6211920"/>
              <a:gd name="connsiteX2274" fmla="*/ 1656766 w 9635294"/>
              <a:gd name="connsiteY2274" fmla="*/ 2966409 h 6211920"/>
              <a:gd name="connsiteX2275" fmla="*/ 1636935 w 9635294"/>
              <a:gd name="connsiteY2275" fmla="*/ 2950820 h 6211920"/>
              <a:gd name="connsiteX2276" fmla="*/ 1642815 w 9635294"/>
              <a:gd name="connsiteY2276" fmla="*/ 2943327 h 6211920"/>
              <a:gd name="connsiteX2277" fmla="*/ 1642817 w 9635294"/>
              <a:gd name="connsiteY2277" fmla="*/ 2943329 h 6211920"/>
              <a:gd name="connsiteX2278" fmla="*/ 1640927 w 9635294"/>
              <a:gd name="connsiteY2278" fmla="*/ 2945736 h 6211920"/>
              <a:gd name="connsiteX2279" fmla="*/ 7994771 w 9635294"/>
              <a:gd name="connsiteY2279" fmla="*/ 2941803 h 6211920"/>
              <a:gd name="connsiteX2280" fmla="*/ 8002644 w 9635294"/>
              <a:gd name="connsiteY2280" fmla="*/ 2951791 h 6211920"/>
              <a:gd name="connsiteX2281" fmla="*/ 7982832 w 9635294"/>
              <a:gd name="connsiteY2281" fmla="*/ 2967349 h 6211920"/>
              <a:gd name="connsiteX2282" fmla="*/ 7978437 w 9635294"/>
              <a:gd name="connsiteY2282" fmla="*/ 2961780 h 6211920"/>
              <a:gd name="connsiteX2283" fmla="*/ 7980864 w 9635294"/>
              <a:gd name="connsiteY2283" fmla="*/ 2964853 h 6211920"/>
              <a:gd name="connsiteX2284" fmla="*/ 8000676 w 9635294"/>
              <a:gd name="connsiteY2284" fmla="*/ 2949296 h 6211920"/>
              <a:gd name="connsiteX2285" fmla="*/ 7996739 w 9635294"/>
              <a:gd name="connsiteY2285" fmla="*/ 2944305 h 6211920"/>
              <a:gd name="connsiteX2286" fmla="*/ 7976928 w 9635294"/>
              <a:gd name="connsiteY2286" fmla="*/ 2959868 h 6211920"/>
              <a:gd name="connsiteX2287" fmla="*/ 7974959 w 9635294"/>
              <a:gd name="connsiteY2287" fmla="*/ 2957373 h 6211920"/>
              <a:gd name="connsiteX2288" fmla="*/ 7994771 w 9635294"/>
              <a:gd name="connsiteY2288" fmla="*/ 2941803 h 6211920"/>
              <a:gd name="connsiteX2289" fmla="*/ 1644777 w 9635294"/>
              <a:gd name="connsiteY2289" fmla="*/ 2940831 h 6211920"/>
              <a:gd name="connsiteX2290" fmla="*/ 1664621 w 9635294"/>
              <a:gd name="connsiteY2290" fmla="*/ 2956433 h 6211920"/>
              <a:gd name="connsiteX2291" fmla="*/ 1662657 w 9635294"/>
              <a:gd name="connsiteY2291" fmla="*/ 2958928 h 6211920"/>
              <a:gd name="connsiteX2292" fmla="*/ 1642817 w 9635294"/>
              <a:gd name="connsiteY2292" fmla="*/ 2943329 h 6211920"/>
              <a:gd name="connsiteX2293" fmla="*/ 8016552 w 9635294"/>
              <a:gd name="connsiteY2293" fmla="*/ 2928773 h 6211920"/>
              <a:gd name="connsiteX2294" fmla="*/ 8017945 w 9635294"/>
              <a:gd name="connsiteY2294" fmla="*/ 2930543 h 6211920"/>
              <a:gd name="connsiteX2295" fmla="*/ 8016551 w 9635294"/>
              <a:gd name="connsiteY2295" fmla="*/ 2928773 h 6211920"/>
              <a:gd name="connsiteX2296" fmla="*/ 8038638 w 9635294"/>
              <a:gd name="connsiteY2296" fmla="*/ 2916127 h 6211920"/>
              <a:gd name="connsiteX2297" fmla="*/ 8042269 w 9635294"/>
              <a:gd name="connsiteY2297" fmla="*/ 2920784 h 6211920"/>
              <a:gd name="connsiteX2298" fmla="*/ 8022456 w 9635294"/>
              <a:gd name="connsiteY2298" fmla="*/ 2936272 h 6211920"/>
              <a:gd name="connsiteX2299" fmla="*/ 8017945 w 9635294"/>
              <a:gd name="connsiteY2299" fmla="*/ 2930543 h 6211920"/>
              <a:gd name="connsiteX2300" fmla="*/ 8020488 w 9635294"/>
              <a:gd name="connsiteY2300" fmla="*/ 2933770 h 6211920"/>
              <a:gd name="connsiteX2301" fmla="*/ 8040300 w 9635294"/>
              <a:gd name="connsiteY2301" fmla="*/ 2918276 h 6211920"/>
              <a:gd name="connsiteX2302" fmla="*/ 8036427 w 9635294"/>
              <a:gd name="connsiteY2302" fmla="*/ 2913266 h 6211920"/>
              <a:gd name="connsiteX2303" fmla="*/ 8038638 w 9635294"/>
              <a:gd name="connsiteY2303" fmla="*/ 2916127 h 6211920"/>
              <a:gd name="connsiteX2304" fmla="*/ 8036415 w 9635294"/>
              <a:gd name="connsiteY2304" fmla="*/ 2913275 h 6211920"/>
              <a:gd name="connsiteX2305" fmla="*/ 1603039 w 9635294"/>
              <a:gd name="connsiteY2305" fmla="*/ 2912224 h 6211920"/>
              <a:gd name="connsiteX2306" fmla="*/ 1603039 w 9635294"/>
              <a:gd name="connsiteY2306" fmla="*/ 2912224 h 6211920"/>
              <a:gd name="connsiteX2307" fmla="*/ 1599135 w 9635294"/>
              <a:gd name="connsiteY2307" fmla="*/ 2917235 h 6211920"/>
              <a:gd name="connsiteX2308" fmla="*/ 1599134 w 9635294"/>
              <a:gd name="connsiteY2308" fmla="*/ 2917234 h 6211920"/>
              <a:gd name="connsiteX2309" fmla="*/ 8034458 w 9635294"/>
              <a:gd name="connsiteY2309" fmla="*/ 2910764 h 6211920"/>
              <a:gd name="connsiteX2310" fmla="*/ 8036415 w 9635294"/>
              <a:gd name="connsiteY2310" fmla="*/ 2913275 h 6211920"/>
              <a:gd name="connsiteX2311" fmla="*/ 8016552 w 9635294"/>
              <a:gd name="connsiteY2311" fmla="*/ 2928773 h 6211920"/>
              <a:gd name="connsiteX2312" fmla="*/ 8014582 w 9635294"/>
              <a:gd name="connsiteY2312" fmla="*/ 2926271 h 6211920"/>
              <a:gd name="connsiteX2313" fmla="*/ 8034458 w 9635294"/>
              <a:gd name="connsiteY2313" fmla="*/ 2910764 h 6211920"/>
              <a:gd name="connsiteX2314" fmla="*/ 1604988 w 9635294"/>
              <a:gd name="connsiteY2314" fmla="*/ 2909723 h 6211920"/>
              <a:gd name="connsiteX2315" fmla="*/ 1624902 w 9635294"/>
              <a:gd name="connsiteY2315" fmla="*/ 2925261 h 6211920"/>
              <a:gd name="connsiteX2316" fmla="*/ 1617079 w 9635294"/>
              <a:gd name="connsiteY2316" fmla="*/ 2935269 h 6211920"/>
              <a:gd name="connsiteX2317" fmla="*/ 1597184 w 9635294"/>
              <a:gd name="connsiteY2317" fmla="*/ 2919737 h 6211920"/>
              <a:gd name="connsiteX2318" fmla="*/ 1599135 w 9635294"/>
              <a:gd name="connsiteY2318" fmla="*/ 2917235 h 6211920"/>
              <a:gd name="connsiteX2319" fmla="*/ 1619034 w 9635294"/>
              <a:gd name="connsiteY2319" fmla="*/ 2932767 h 6211920"/>
              <a:gd name="connsiteX2320" fmla="*/ 1622946 w 9635294"/>
              <a:gd name="connsiteY2320" fmla="*/ 2927763 h 6211920"/>
              <a:gd name="connsiteX2321" fmla="*/ 1603039 w 9635294"/>
              <a:gd name="connsiteY2321" fmla="*/ 2912224 h 6211920"/>
              <a:gd name="connsiteX2322" fmla="*/ 8058284 w 9635294"/>
              <a:gd name="connsiteY2322" fmla="*/ 2900377 h 6211920"/>
              <a:gd name="connsiteX2323" fmla="*/ 8060185 w 9635294"/>
              <a:gd name="connsiteY2323" fmla="*/ 2902819 h 6211920"/>
              <a:gd name="connsiteX2324" fmla="*/ 8060176 w 9635294"/>
              <a:gd name="connsiteY2324" fmla="*/ 2902826 h 6211920"/>
              <a:gd name="connsiteX2325" fmla="*/ 1583111 w 9635294"/>
              <a:gd name="connsiteY2325" fmla="*/ 2896729 h 6211920"/>
              <a:gd name="connsiteX2326" fmla="*/ 1583113 w 9635294"/>
              <a:gd name="connsiteY2326" fmla="*/ 2896730 h 6211920"/>
              <a:gd name="connsiteX2327" fmla="*/ 1579221 w 9635294"/>
              <a:gd name="connsiteY2327" fmla="*/ 2901747 h 6211920"/>
              <a:gd name="connsiteX2328" fmla="*/ 1579218 w 9635294"/>
              <a:gd name="connsiteY2328" fmla="*/ 2901746 h 6211920"/>
              <a:gd name="connsiteX2329" fmla="*/ 8080093 w 9635294"/>
              <a:gd name="connsiteY2329" fmla="*/ 2887432 h 6211920"/>
              <a:gd name="connsiteX2330" fmla="*/ 8082019 w 9635294"/>
              <a:gd name="connsiteY2330" fmla="*/ 2889930 h 6211920"/>
              <a:gd name="connsiteX2331" fmla="*/ 8062144 w 9635294"/>
              <a:gd name="connsiteY2331" fmla="*/ 2905335 h 6211920"/>
              <a:gd name="connsiteX2332" fmla="*/ 8060185 w 9635294"/>
              <a:gd name="connsiteY2332" fmla="*/ 2902819 h 6211920"/>
              <a:gd name="connsiteX2333" fmla="*/ 1559283 w 9635294"/>
              <a:gd name="connsiteY2333" fmla="*/ 2886305 h 6211920"/>
              <a:gd name="connsiteX2334" fmla="*/ 1579218 w 9635294"/>
              <a:gd name="connsiteY2334" fmla="*/ 2901746 h 6211920"/>
              <a:gd name="connsiteX2335" fmla="*/ 1577271 w 9635294"/>
              <a:gd name="connsiteY2335" fmla="*/ 2904255 h 6211920"/>
              <a:gd name="connsiteX2336" fmla="*/ 1557338 w 9635294"/>
              <a:gd name="connsiteY2336" fmla="*/ 2888818 h 6211920"/>
              <a:gd name="connsiteX2337" fmla="*/ 8077957 w 9635294"/>
              <a:gd name="connsiteY2337" fmla="*/ 2884662 h 6211920"/>
              <a:gd name="connsiteX2338" fmla="*/ 8080115 w 9635294"/>
              <a:gd name="connsiteY2338" fmla="*/ 2887415 h 6211920"/>
              <a:gd name="connsiteX2339" fmla="*/ 8080093 w 9635294"/>
              <a:gd name="connsiteY2339" fmla="*/ 2887432 h 6211920"/>
              <a:gd name="connsiteX2340" fmla="*/ 1563167 w 9635294"/>
              <a:gd name="connsiteY2340" fmla="*/ 2881281 h 6211920"/>
              <a:gd name="connsiteX2341" fmla="*/ 1563169 w 9635294"/>
              <a:gd name="connsiteY2341" fmla="*/ 2881282 h 6211920"/>
              <a:gd name="connsiteX2342" fmla="*/ 1559283 w 9635294"/>
              <a:gd name="connsiteY2342" fmla="*/ 2886305 h 6211920"/>
              <a:gd name="connsiteX2343" fmla="*/ 1559281 w 9635294"/>
              <a:gd name="connsiteY2343" fmla="*/ 2886304 h 6211920"/>
              <a:gd name="connsiteX2344" fmla="*/ 8074273 w 9635294"/>
              <a:gd name="connsiteY2344" fmla="*/ 2879884 h 6211920"/>
              <a:gd name="connsiteX2345" fmla="*/ 8077957 w 9635294"/>
              <a:gd name="connsiteY2345" fmla="*/ 2884662 h 6211920"/>
              <a:gd name="connsiteX2346" fmla="*/ 8076178 w 9635294"/>
              <a:gd name="connsiteY2346" fmla="*/ 2882392 h 6211920"/>
              <a:gd name="connsiteX2347" fmla="*/ 8056302 w 9635294"/>
              <a:gd name="connsiteY2347" fmla="*/ 2897810 h 6211920"/>
              <a:gd name="connsiteX2348" fmla="*/ 8058284 w 9635294"/>
              <a:gd name="connsiteY2348" fmla="*/ 2900377 h 6211920"/>
              <a:gd name="connsiteX2349" fmla="*/ 8054334 w 9635294"/>
              <a:gd name="connsiteY2349" fmla="*/ 2895302 h 6211920"/>
              <a:gd name="connsiteX2350" fmla="*/ 8074273 w 9635294"/>
              <a:gd name="connsiteY2350" fmla="*/ 2879884 h 6211920"/>
              <a:gd name="connsiteX2351" fmla="*/ 1565110 w 9635294"/>
              <a:gd name="connsiteY2351" fmla="*/ 2878772 h 6211920"/>
              <a:gd name="connsiteX2352" fmla="*/ 1585055 w 9635294"/>
              <a:gd name="connsiteY2352" fmla="*/ 2894222 h 6211920"/>
              <a:gd name="connsiteX2353" fmla="*/ 1583111 w 9635294"/>
              <a:gd name="connsiteY2353" fmla="*/ 2896729 h 6211920"/>
              <a:gd name="connsiteX2354" fmla="*/ 1563169 w 9635294"/>
              <a:gd name="connsiteY2354" fmla="*/ 2881282 h 6211920"/>
              <a:gd name="connsiteX2355" fmla="*/ 8096136 w 9635294"/>
              <a:gd name="connsiteY2355" fmla="*/ 2866979 h 6211920"/>
              <a:gd name="connsiteX2356" fmla="*/ 8098057 w 9635294"/>
              <a:gd name="connsiteY2356" fmla="*/ 2869475 h 6211920"/>
              <a:gd name="connsiteX2357" fmla="*/ 8096117 w 9635294"/>
              <a:gd name="connsiteY2357" fmla="*/ 2866993 h 6211920"/>
              <a:gd name="connsiteX2358" fmla="*/ 8119982 w 9635294"/>
              <a:gd name="connsiteY2358" fmla="*/ 2856690 h 6211920"/>
              <a:gd name="connsiteX2359" fmla="*/ 8121898 w 9635294"/>
              <a:gd name="connsiteY2359" fmla="*/ 2859202 h 6211920"/>
              <a:gd name="connsiteX2360" fmla="*/ 8101959 w 9635294"/>
              <a:gd name="connsiteY2360" fmla="*/ 2874544 h 6211920"/>
              <a:gd name="connsiteX2361" fmla="*/ 8098057 w 9635294"/>
              <a:gd name="connsiteY2361" fmla="*/ 2869475 h 6211920"/>
              <a:gd name="connsiteX2362" fmla="*/ 8100054 w 9635294"/>
              <a:gd name="connsiteY2362" fmla="*/ 2872029 h 6211920"/>
              <a:gd name="connsiteX2363" fmla="*/ 8118016 w 9635294"/>
              <a:gd name="connsiteY2363" fmla="*/ 2854112 h 6211920"/>
              <a:gd name="connsiteX2364" fmla="*/ 8119993 w 9635294"/>
              <a:gd name="connsiteY2364" fmla="*/ 2856681 h 6211920"/>
              <a:gd name="connsiteX2365" fmla="*/ 8119982 w 9635294"/>
              <a:gd name="connsiteY2365" fmla="*/ 2856690 h 6211920"/>
              <a:gd name="connsiteX2366" fmla="*/ 1521265 w 9635294"/>
              <a:gd name="connsiteY2366" fmla="*/ 2852919 h 6211920"/>
              <a:gd name="connsiteX2367" fmla="*/ 1519284 w 9635294"/>
              <a:gd name="connsiteY2367" fmla="*/ 2855502 h 6211920"/>
              <a:gd name="connsiteX2368" fmla="*/ 1519282 w 9635294"/>
              <a:gd name="connsiteY2368" fmla="*/ 2855500 h 6211920"/>
              <a:gd name="connsiteX2369" fmla="*/ 8114214 w 9635294"/>
              <a:gd name="connsiteY2369" fmla="*/ 2849125 h 6211920"/>
              <a:gd name="connsiteX2370" fmla="*/ 8118016 w 9635294"/>
              <a:gd name="connsiteY2370" fmla="*/ 2854112 h 6211920"/>
              <a:gd name="connsiteX2371" fmla="*/ 8116119 w 9635294"/>
              <a:gd name="connsiteY2371" fmla="*/ 2851645 h 6211920"/>
              <a:gd name="connsiteX2372" fmla="*/ 8096136 w 9635294"/>
              <a:gd name="connsiteY2372" fmla="*/ 2866979 h 6211920"/>
              <a:gd name="connsiteX2373" fmla="*/ 8094212 w 9635294"/>
              <a:gd name="connsiteY2373" fmla="*/ 2864479 h 6211920"/>
              <a:gd name="connsiteX2374" fmla="*/ 8114214 w 9635294"/>
              <a:gd name="connsiteY2374" fmla="*/ 2849125 h 6211920"/>
              <a:gd name="connsiteX2375" fmla="*/ 1525080 w 9635294"/>
              <a:gd name="connsiteY2375" fmla="*/ 2847943 h 6211920"/>
              <a:gd name="connsiteX2376" fmla="*/ 1545108 w 9635294"/>
              <a:gd name="connsiteY2376" fmla="*/ 2863336 h 6211920"/>
              <a:gd name="connsiteX2377" fmla="*/ 1537355 w 9635294"/>
              <a:gd name="connsiteY2377" fmla="*/ 2873401 h 6211920"/>
              <a:gd name="connsiteX2378" fmla="*/ 1517352 w 9635294"/>
              <a:gd name="connsiteY2378" fmla="*/ 2858021 h 6211920"/>
              <a:gd name="connsiteX2379" fmla="*/ 1519284 w 9635294"/>
              <a:gd name="connsiteY2379" fmla="*/ 2855502 h 6211920"/>
              <a:gd name="connsiteX2380" fmla="*/ 1539291 w 9635294"/>
              <a:gd name="connsiteY2380" fmla="*/ 2870880 h 6211920"/>
              <a:gd name="connsiteX2381" fmla="*/ 1543165 w 9635294"/>
              <a:gd name="connsiteY2381" fmla="*/ 2865850 h 6211920"/>
              <a:gd name="connsiteX2382" fmla="*/ 1523149 w 9635294"/>
              <a:gd name="connsiteY2382" fmla="*/ 2850465 h 6211920"/>
              <a:gd name="connsiteX2383" fmla="*/ 1521265 w 9635294"/>
              <a:gd name="connsiteY2383" fmla="*/ 2852919 h 6211920"/>
              <a:gd name="connsiteX2384" fmla="*/ 8138018 w 9635294"/>
              <a:gd name="connsiteY2384" fmla="*/ 2838849 h 6211920"/>
              <a:gd name="connsiteX2385" fmla="*/ 8139952 w 9635294"/>
              <a:gd name="connsiteY2385" fmla="*/ 2841368 h 6211920"/>
              <a:gd name="connsiteX2386" fmla="*/ 8139931 w 9635294"/>
              <a:gd name="connsiteY2386" fmla="*/ 2841384 h 6211920"/>
              <a:gd name="connsiteX2387" fmla="*/ 1501478 w 9635294"/>
              <a:gd name="connsiteY2387" fmla="*/ 2837268 h 6211920"/>
              <a:gd name="connsiteX2388" fmla="*/ 1499261 w 9635294"/>
              <a:gd name="connsiteY2388" fmla="*/ 2840171 h 6211920"/>
              <a:gd name="connsiteX2389" fmla="*/ 1499259 w 9635294"/>
              <a:gd name="connsiteY2389" fmla="*/ 2840170 h 6211920"/>
              <a:gd name="connsiteX2390" fmla="*/ 8159987 w 9635294"/>
              <a:gd name="connsiteY2390" fmla="*/ 2826115 h 6211920"/>
              <a:gd name="connsiteX2391" fmla="*/ 8161903 w 9635294"/>
              <a:gd name="connsiteY2391" fmla="*/ 2828633 h 6211920"/>
              <a:gd name="connsiteX2392" fmla="*/ 8141900 w 9635294"/>
              <a:gd name="connsiteY2392" fmla="*/ 2843905 h 6211920"/>
              <a:gd name="connsiteX2393" fmla="*/ 8139952 w 9635294"/>
              <a:gd name="connsiteY2393" fmla="*/ 2841368 h 6211920"/>
              <a:gd name="connsiteX2394" fmla="*/ 1479196 w 9635294"/>
              <a:gd name="connsiteY2394" fmla="*/ 2824862 h 6211920"/>
              <a:gd name="connsiteX2395" fmla="*/ 1499259 w 9635294"/>
              <a:gd name="connsiteY2395" fmla="*/ 2840170 h 6211920"/>
              <a:gd name="connsiteX2396" fmla="*/ 1497330 w 9635294"/>
              <a:gd name="connsiteY2396" fmla="*/ 2842692 h 6211920"/>
              <a:gd name="connsiteX2397" fmla="*/ 1477271 w 9635294"/>
              <a:gd name="connsiteY2397" fmla="*/ 2827388 h 6211920"/>
              <a:gd name="connsiteX2398" fmla="*/ 8158051 w 9635294"/>
              <a:gd name="connsiteY2398" fmla="*/ 2823569 h 6211920"/>
              <a:gd name="connsiteX2399" fmla="*/ 8159998 w 9635294"/>
              <a:gd name="connsiteY2399" fmla="*/ 2826106 h 6211920"/>
              <a:gd name="connsiteX2400" fmla="*/ 8159987 w 9635294"/>
              <a:gd name="connsiteY2400" fmla="*/ 2826115 h 6211920"/>
              <a:gd name="connsiteX2401" fmla="*/ 1481119 w 9635294"/>
              <a:gd name="connsiteY2401" fmla="*/ 2822337 h 6211920"/>
              <a:gd name="connsiteX2402" fmla="*/ 1479196 w 9635294"/>
              <a:gd name="connsiteY2402" fmla="*/ 2824862 h 6211920"/>
              <a:gd name="connsiteX2403" fmla="*/ 1479195 w 9635294"/>
              <a:gd name="connsiteY2403" fmla="*/ 2824861 h 6211920"/>
              <a:gd name="connsiteX2404" fmla="*/ 8154219 w 9635294"/>
              <a:gd name="connsiteY2404" fmla="*/ 2818530 h 6211920"/>
              <a:gd name="connsiteX2405" fmla="*/ 8158051 w 9635294"/>
              <a:gd name="connsiteY2405" fmla="*/ 2823569 h 6211920"/>
              <a:gd name="connsiteX2406" fmla="*/ 8156124 w 9635294"/>
              <a:gd name="connsiteY2406" fmla="*/ 2821057 h 6211920"/>
              <a:gd name="connsiteX2407" fmla="*/ 8136122 w 9635294"/>
              <a:gd name="connsiteY2407" fmla="*/ 2836336 h 6211920"/>
              <a:gd name="connsiteX2408" fmla="*/ 8138018 w 9635294"/>
              <a:gd name="connsiteY2408" fmla="*/ 2838849 h 6211920"/>
              <a:gd name="connsiteX2409" fmla="*/ 8134153 w 9635294"/>
              <a:gd name="connsiteY2409" fmla="*/ 2833815 h 6211920"/>
              <a:gd name="connsiteX2410" fmla="*/ 8154219 w 9635294"/>
              <a:gd name="connsiteY2410" fmla="*/ 2818530 h 6211920"/>
              <a:gd name="connsiteX2411" fmla="*/ 1484968 w 9635294"/>
              <a:gd name="connsiteY2411" fmla="*/ 2817286 h 6211920"/>
              <a:gd name="connsiteX2412" fmla="*/ 1505045 w 9635294"/>
              <a:gd name="connsiteY2412" fmla="*/ 2832602 h 6211920"/>
              <a:gd name="connsiteX2413" fmla="*/ 1501478 w 9635294"/>
              <a:gd name="connsiteY2413" fmla="*/ 2837268 h 6211920"/>
              <a:gd name="connsiteX2414" fmla="*/ 1503115 w 9635294"/>
              <a:gd name="connsiteY2414" fmla="*/ 2835123 h 6211920"/>
              <a:gd name="connsiteX2415" fmla="*/ 1483043 w 9635294"/>
              <a:gd name="connsiteY2415" fmla="*/ 2819813 h 6211920"/>
              <a:gd name="connsiteX2416" fmla="*/ 1481119 w 9635294"/>
              <a:gd name="connsiteY2416" fmla="*/ 2822337 h 6211920"/>
              <a:gd name="connsiteX2417" fmla="*/ 8176202 w 9635294"/>
              <a:gd name="connsiteY2417" fmla="*/ 2805802 h 6211920"/>
              <a:gd name="connsiteX2418" fmla="*/ 8180029 w 9635294"/>
              <a:gd name="connsiteY2418" fmla="*/ 2810844 h 6211920"/>
              <a:gd name="connsiteX2419" fmla="*/ 8180000 w 9635294"/>
              <a:gd name="connsiteY2419" fmla="*/ 2810866 h 6211920"/>
              <a:gd name="connsiteX2420" fmla="*/ 8176190 w 9635294"/>
              <a:gd name="connsiteY2420" fmla="*/ 2805811 h 6211920"/>
              <a:gd name="connsiteX2421" fmla="*/ 1462931 w 9635294"/>
              <a:gd name="connsiteY2421" fmla="*/ 2804534 h 6211920"/>
              <a:gd name="connsiteX2422" fmla="*/ 1462932 w 9635294"/>
              <a:gd name="connsiteY2422" fmla="*/ 2804535 h 6211920"/>
              <a:gd name="connsiteX2423" fmla="*/ 1461015 w 9635294"/>
              <a:gd name="connsiteY2423" fmla="*/ 2807062 h 6211920"/>
              <a:gd name="connsiteX2424" fmla="*/ 8200066 w 9635294"/>
              <a:gd name="connsiteY2424" fmla="*/ 2795677 h 6211920"/>
              <a:gd name="connsiteX2425" fmla="*/ 8201971 w 9635294"/>
              <a:gd name="connsiteY2425" fmla="*/ 2798210 h 6211920"/>
              <a:gd name="connsiteX2426" fmla="*/ 8181969 w 9635294"/>
              <a:gd name="connsiteY2426" fmla="*/ 2813399 h 6211920"/>
              <a:gd name="connsiteX2427" fmla="*/ 8180029 w 9635294"/>
              <a:gd name="connsiteY2427" fmla="*/ 2810844 h 6211920"/>
              <a:gd name="connsiteX2428" fmla="*/ 1440784 w 9635294"/>
              <a:gd name="connsiteY2428" fmla="*/ 2791987 h 6211920"/>
              <a:gd name="connsiteX2429" fmla="*/ 1438987 w 9635294"/>
              <a:gd name="connsiteY2429" fmla="*/ 2794368 h 6211920"/>
              <a:gd name="connsiteX2430" fmla="*/ 1459098 w 9635294"/>
              <a:gd name="connsiteY2430" fmla="*/ 2809589 h 6211920"/>
              <a:gd name="connsiteX2431" fmla="*/ 1461015 w 9635294"/>
              <a:gd name="connsiteY2431" fmla="*/ 2807062 h 6211920"/>
              <a:gd name="connsiteX2432" fmla="*/ 1457179 w 9635294"/>
              <a:gd name="connsiteY2432" fmla="*/ 2812123 h 6211920"/>
              <a:gd name="connsiteX2433" fmla="*/ 1437069 w 9635294"/>
              <a:gd name="connsiteY2433" fmla="*/ 2796902 h 6211920"/>
              <a:gd name="connsiteX2434" fmla="*/ 8196257 w 9635294"/>
              <a:gd name="connsiteY2434" fmla="*/ 2790609 h 6211920"/>
              <a:gd name="connsiteX2435" fmla="*/ 8200067 w 9635294"/>
              <a:gd name="connsiteY2435" fmla="*/ 2795676 h 6211920"/>
              <a:gd name="connsiteX2436" fmla="*/ 8200066 w 9635294"/>
              <a:gd name="connsiteY2436" fmla="*/ 2795677 h 6211920"/>
              <a:gd name="connsiteX2437" fmla="*/ 8196256 w 9635294"/>
              <a:gd name="connsiteY2437" fmla="*/ 2790610 h 6211920"/>
              <a:gd name="connsiteX2438" fmla="*/ 1442810 w 9635294"/>
              <a:gd name="connsiteY2438" fmla="*/ 2789301 h 6211920"/>
              <a:gd name="connsiteX2439" fmla="*/ 1442812 w 9635294"/>
              <a:gd name="connsiteY2439" fmla="*/ 2789303 h 6211920"/>
              <a:gd name="connsiteX2440" fmla="*/ 1440784 w 9635294"/>
              <a:gd name="connsiteY2440" fmla="*/ 2791987 h 6211920"/>
              <a:gd name="connsiteX2441" fmla="*/ 8194351 w 9635294"/>
              <a:gd name="connsiteY2441" fmla="*/ 2788076 h 6211920"/>
              <a:gd name="connsiteX2442" fmla="*/ 8196256 w 9635294"/>
              <a:gd name="connsiteY2442" fmla="*/ 2790610 h 6211920"/>
              <a:gd name="connsiteX2443" fmla="*/ 8176202 w 9635294"/>
              <a:gd name="connsiteY2443" fmla="*/ 2805802 h 6211920"/>
              <a:gd name="connsiteX2444" fmla="*/ 8174285 w 9635294"/>
              <a:gd name="connsiteY2444" fmla="*/ 2803277 h 6211920"/>
              <a:gd name="connsiteX2445" fmla="*/ 8194351 w 9635294"/>
              <a:gd name="connsiteY2445" fmla="*/ 2788076 h 6211920"/>
              <a:gd name="connsiteX2446" fmla="*/ 1444727 w 9635294"/>
              <a:gd name="connsiteY2446" fmla="*/ 2786768 h 6211920"/>
              <a:gd name="connsiteX2447" fmla="*/ 1464851 w 9635294"/>
              <a:gd name="connsiteY2447" fmla="*/ 2802001 h 6211920"/>
              <a:gd name="connsiteX2448" fmla="*/ 1462931 w 9635294"/>
              <a:gd name="connsiteY2448" fmla="*/ 2804534 h 6211920"/>
              <a:gd name="connsiteX2449" fmla="*/ 1442812 w 9635294"/>
              <a:gd name="connsiteY2449" fmla="*/ 2789303 h 6211920"/>
              <a:gd name="connsiteX2450" fmla="*/ 8216331 w 9635294"/>
              <a:gd name="connsiteY2450" fmla="*/ 2775445 h 6211920"/>
              <a:gd name="connsiteX2451" fmla="*/ 8218010 w 9635294"/>
              <a:gd name="connsiteY2451" fmla="*/ 2777662 h 6211920"/>
              <a:gd name="connsiteX2452" fmla="*/ 8216322 w 9635294"/>
              <a:gd name="connsiteY2452" fmla="*/ 2775452 h 6211920"/>
              <a:gd name="connsiteX2453" fmla="*/ 1422326 w 9635294"/>
              <a:gd name="connsiteY2453" fmla="*/ 2774567 h 6211920"/>
              <a:gd name="connsiteX2454" fmla="*/ 1418851 w 9635294"/>
              <a:gd name="connsiteY2454" fmla="*/ 2779186 h 6211920"/>
              <a:gd name="connsiteX2455" fmla="*/ 1418851 w 9635294"/>
              <a:gd name="connsiteY2455" fmla="*/ 2779186 h 6211920"/>
              <a:gd name="connsiteX2456" fmla="*/ 8234610 w 9635294"/>
              <a:gd name="connsiteY2456" fmla="*/ 2757773 h 6211920"/>
              <a:gd name="connsiteX2457" fmla="*/ 8242231 w 9635294"/>
              <a:gd name="connsiteY2457" fmla="*/ 2767933 h 6211920"/>
              <a:gd name="connsiteX2458" fmla="*/ 8222101 w 9635294"/>
              <a:gd name="connsiteY2458" fmla="*/ 2783066 h 6211920"/>
              <a:gd name="connsiteX2459" fmla="*/ 8218010 w 9635294"/>
              <a:gd name="connsiteY2459" fmla="*/ 2777662 h 6211920"/>
              <a:gd name="connsiteX2460" fmla="*/ 8220196 w 9635294"/>
              <a:gd name="connsiteY2460" fmla="*/ 2780525 h 6211920"/>
              <a:gd name="connsiteX2461" fmla="*/ 8240325 w 9635294"/>
              <a:gd name="connsiteY2461" fmla="*/ 2765393 h 6211920"/>
              <a:gd name="connsiteX2462" fmla="*/ 8236515 w 9635294"/>
              <a:gd name="connsiteY2462" fmla="*/ 2760313 h 6211920"/>
              <a:gd name="connsiteX2463" fmla="*/ 8216331 w 9635294"/>
              <a:gd name="connsiteY2463" fmla="*/ 2775445 h 6211920"/>
              <a:gd name="connsiteX2464" fmla="*/ 8214418 w 9635294"/>
              <a:gd name="connsiteY2464" fmla="*/ 2772918 h 6211920"/>
              <a:gd name="connsiteX2465" fmla="*/ 8234610 w 9635294"/>
              <a:gd name="connsiteY2465" fmla="*/ 2757773 h 6211920"/>
              <a:gd name="connsiteX2466" fmla="*/ 1404366 w 9635294"/>
              <a:gd name="connsiteY2466" fmla="*/ 2756395 h 6211920"/>
              <a:gd name="connsiteX2467" fmla="*/ 1424578 w 9635294"/>
              <a:gd name="connsiteY2467" fmla="*/ 2771572 h 6211920"/>
              <a:gd name="connsiteX2468" fmla="*/ 1422326 w 9635294"/>
              <a:gd name="connsiteY2468" fmla="*/ 2774567 h 6211920"/>
              <a:gd name="connsiteX2469" fmla="*/ 1422667 w 9635294"/>
              <a:gd name="connsiteY2469" fmla="*/ 2774112 h 6211920"/>
              <a:gd name="connsiteX2470" fmla="*/ 1402462 w 9635294"/>
              <a:gd name="connsiteY2470" fmla="*/ 2758942 h 6211920"/>
              <a:gd name="connsiteX2471" fmla="*/ 1398658 w 9635294"/>
              <a:gd name="connsiteY2471" fmla="*/ 2764022 h 6211920"/>
              <a:gd name="connsiteX2472" fmla="*/ 1418851 w 9635294"/>
              <a:gd name="connsiteY2472" fmla="*/ 2779186 h 6211920"/>
              <a:gd name="connsiteX2473" fmla="*/ 1416940 w 9635294"/>
              <a:gd name="connsiteY2473" fmla="*/ 2781726 h 6211920"/>
              <a:gd name="connsiteX2474" fmla="*/ 1396754 w 9635294"/>
              <a:gd name="connsiteY2474" fmla="*/ 2766562 h 6211920"/>
              <a:gd name="connsiteX2475" fmla="*/ 1380449 w 9635294"/>
              <a:gd name="connsiteY2475" fmla="*/ 2746231 h 6211920"/>
              <a:gd name="connsiteX2476" fmla="*/ 1378453 w 9635294"/>
              <a:gd name="connsiteY2476" fmla="*/ 2748909 h 6211920"/>
              <a:gd name="connsiteX2477" fmla="*/ 1378451 w 9635294"/>
              <a:gd name="connsiteY2477" fmla="*/ 2748908 h 6211920"/>
              <a:gd name="connsiteX2478" fmla="*/ 8256645 w 9635294"/>
              <a:gd name="connsiteY2478" fmla="*/ 2745225 h 6211920"/>
              <a:gd name="connsiteX2479" fmla="*/ 8259272 w 9635294"/>
              <a:gd name="connsiteY2479" fmla="*/ 2748733 h 6211920"/>
              <a:gd name="connsiteX2480" fmla="*/ 8256644 w 9635294"/>
              <a:gd name="connsiteY2480" fmla="*/ 2745226 h 6211920"/>
              <a:gd name="connsiteX2481" fmla="*/ 8280648 w 9635294"/>
              <a:gd name="connsiteY2481" fmla="*/ 2735282 h 6211920"/>
              <a:gd name="connsiteX2482" fmla="*/ 8282553 w 9635294"/>
              <a:gd name="connsiteY2482" fmla="*/ 2737828 h 6211920"/>
              <a:gd name="connsiteX2483" fmla="*/ 8262360 w 9635294"/>
              <a:gd name="connsiteY2483" fmla="*/ 2752858 h 6211920"/>
              <a:gd name="connsiteX2484" fmla="*/ 8259272 w 9635294"/>
              <a:gd name="connsiteY2484" fmla="*/ 2748733 h 6211920"/>
              <a:gd name="connsiteX2485" fmla="*/ 8260455 w 9635294"/>
              <a:gd name="connsiteY2485" fmla="*/ 2750312 h 6211920"/>
              <a:gd name="connsiteX2486" fmla="*/ 1358235 w 9635294"/>
              <a:gd name="connsiteY2486" fmla="*/ 2733848 h 6211920"/>
              <a:gd name="connsiteX2487" fmla="*/ 1378451 w 9635294"/>
              <a:gd name="connsiteY2487" fmla="*/ 2748908 h 6211920"/>
              <a:gd name="connsiteX2488" fmla="*/ 1376553 w 9635294"/>
              <a:gd name="connsiteY2488" fmla="*/ 2751449 h 6211920"/>
              <a:gd name="connsiteX2489" fmla="*/ 1356341 w 9635294"/>
              <a:gd name="connsiteY2489" fmla="*/ 2736393 h 6211920"/>
              <a:gd name="connsiteX2490" fmla="*/ 8276838 w 9635294"/>
              <a:gd name="connsiteY2490" fmla="*/ 2730189 h 6211920"/>
              <a:gd name="connsiteX2491" fmla="*/ 8280648 w 9635294"/>
              <a:gd name="connsiteY2491" fmla="*/ 2735282 h 6211920"/>
              <a:gd name="connsiteX2492" fmla="*/ 8280648 w 9635294"/>
              <a:gd name="connsiteY2492" fmla="*/ 2735282 h 6211920"/>
              <a:gd name="connsiteX2493" fmla="*/ 8276837 w 9635294"/>
              <a:gd name="connsiteY2493" fmla="*/ 2730190 h 6211920"/>
              <a:gd name="connsiteX2494" fmla="*/ 1362025 w 9635294"/>
              <a:gd name="connsiteY2494" fmla="*/ 2728748 h 6211920"/>
              <a:gd name="connsiteX2495" fmla="*/ 1362028 w 9635294"/>
              <a:gd name="connsiteY2495" fmla="*/ 2728750 h 6211920"/>
              <a:gd name="connsiteX2496" fmla="*/ 1358235 w 9635294"/>
              <a:gd name="connsiteY2496" fmla="*/ 2733848 h 6211920"/>
              <a:gd name="connsiteX2497" fmla="*/ 1358233 w 9635294"/>
              <a:gd name="connsiteY2497" fmla="*/ 2733846 h 6211920"/>
              <a:gd name="connsiteX2498" fmla="*/ 8274932 w 9635294"/>
              <a:gd name="connsiteY2498" fmla="*/ 2727643 h 6211920"/>
              <a:gd name="connsiteX2499" fmla="*/ 8276837 w 9635294"/>
              <a:gd name="connsiteY2499" fmla="*/ 2730190 h 6211920"/>
              <a:gd name="connsiteX2500" fmla="*/ 8256645 w 9635294"/>
              <a:gd name="connsiteY2500" fmla="*/ 2745225 h 6211920"/>
              <a:gd name="connsiteX2501" fmla="*/ 8254740 w 9635294"/>
              <a:gd name="connsiteY2501" fmla="*/ 2742680 h 6211920"/>
              <a:gd name="connsiteX2502" fmla="*/ 8274932 w 9635294"/>
              <a:gd name="connsiteY2502" fmla="*/ 2727643 h 6211920"/>
              <a:gd name="connsiteX2503" fmla="*/ 1363924 w 9635294"/>
              <a:gd name="connsiteY2503" fmla="*/ 2726201 h 6211920"/>
              <a:gd name="connsiteX2504" fmla="*/ 1384148 w 9635294"/>
              <a:gd name="connsiteY2504" fmla="*/ 2741276 h 6211920"/>
              <a:gd name="connsiteX2505" fmla="*/ 1380449 w 9635294"/>
              <a:gd name="connsiteY2505" fmla="*/ 2746231 h 6211920"/>
              <a:gd name="connsiteX2506" fmla="*/ 1382249 w 9635294"/>
              <a:gd name="connsiteY2506" fmla="*/ 2743816 h 6211920"/>
              <a:gd name="connsiteX2507" fmla="*/ 1362028 w 9635294"/>
              <a:gd name="connsiteY2507" fmla="*/ 2728750 h 6211920"/>
              <a:gd name="connsiteX2508" fmla="*/ 8298935 w 9635294"/>
              <a:gd name="connsiteY2508" fmla="*/ 2717670 h 6211920"/>
              <a:gd name="connsiteX2509" fmla="*/ 8300851 w 9635294"/>
              <a:gd name="connsiteY2509" fmla="*/ 2720257 h 6211920"/>
              <a:gd name="connsiteX2510" fmla="*/ 8300841 w 9635294"/>
              <a:gd name="connsiteY2510" fmla="*/ 2720264 h 6211920"/>
              <a:gd name="connsiteX2511" fmla="*/ 8319233 w 9635294"/>
              <a:gd name="connsiteY2511" fmla="*/ 2702754 h 6211920"/>
              <a:gd name="connsiteX2512" fmla="*/ 8323002 w 9635294"/>
              <a:gd name="connsiteY2512" fmla="*/ 2707850 h 6211920"/>
              <a:gd name="connsiteX2513" fmla="*/ 8302746 w 9635294"/>
              <a:gd name="connsiteY2513" fmla="*/ 2722816 h 6211920"/>
              <a:gd name="connsiteX2514" fmla="*/ 8300851 w 9635294"/>
              <a:gd name="connsiteY2514" fmla="*/ 2720257 h 6211920"/>
              <a:gd name="connsiteX2515" fmla="*/ 8321097 w 9635294"/>
              <a:gd name="connsiteY2515" fmla="*/ 2705297 h 6211920"/>
              <a:gd name="connsiteX2516" fmla="*/ 8317351 w 9635294"/>
              <a:gd name="connsiteY2516" fmla="*/ 2700185 h 6211920"/>
              <a:gd name="connsiteX2517" fmla="*/ 8319233 w 9635294"/>
              <a:gd name="connsiteY2517" fmla="*/ 2702754 h 6211920"/>
              <a:gd name="connsiteX2518" fmla="*/ 8317340 w 9635294"/>
              <a:gd name="connsiteY2518" fmla="*/ 2700193 h 6211920"/>
              <a:gd name="connsiteX2519" fmla="*/ 1321429 w 9635294"/>
              <a:gd name="connsiteY2519" fmla="*/ 2698680 h 6211920"/>
              <a:gd name="connsiteX2520" fmla="*/ 1321431 w 9635294"/>
              <a:gd name="connsiteY2520" fmla="*/ 2698682 h 6211920"/>
              <a:gd name="connsiteX2521" fmla="*/ 1319384 w 9635294"/>
              <a:gd name="connsiteY2521" fmla="*/ 2701456 h 6211920"/>
              <a:gd name="connsiteX2522" fmla="*/ 8315446 w 9635294"/>
              <a:gd name="connsiteY2522" fmla="*/ 2697632 h 6211920"/>
              <a:gd name="connsiteX2523" fmla="*/ 8317340 w 9635294"/>
              <a:gd name="connsiteY2523" fmla="*/ 2700193 h 6211920"/>
              <a:gd name="connsiteX2524" fmla="*/ 8297094 w 9635294"/>
              <a:gd name="connsiteY2524" fmla="*/ 2715165 h 6211920"/>
              <a:gd name="connsiteX2525" fmla="*/ 8298935 w 9635294"/>
              <a:gd name="connsiteY2525" fmla="*/ 2717670 h 6211920"/>
              <a:gd name="connsiteX2526" fmla="*/ 8295189 w 9635294"/>
              <a:gd name="connsiteY2526" fmla="*/ 2712612 h 6211920"/>
              <a:gd name="connsiteX2527" fmla="*/ 8315446 w 9635294"/>
              <a:gd name="connsiteY2527" fmla="*/ 2697632 h 6211920"/>
              <a:gd name="connsiteX2528" fmla="*/ 1323315 w 9635294"/>
              <a:gd name="connsiteY2528" fmla="*/ 2696127 h 6211920"/>
              <a:gd name="connsiteX2529" fmla="*/ 1343629 w 9635294"/>
              <a:gd name="connsiteY2529" fmla="*/ 2711139 h 6211920"/>
              <a:gd name="connsiteX2530" fmla="*/ 1336072 w 9635294"/>
              <a:gd name="connsiteY2530" fmla="*/ 2721350 h 6211920"/>
              <a:gd name="connsiteX2531" fmla="*/ 1315778 w 9635294"/>
              <a:gd name="connsiteY2531" fmla="*/ 2706345 h 6211920"/>
              <a:gd name="connsiteX2532" fmla="*/ 1319384 w 9635294"/>
              <a:gd name="connsiteY2532" fmla="*/ 2701456 h 6211920"/>
              <a:gd name="connsiteX2533" fmla="*/ 1317663 w 9635294"/>
              <a:gd name="connsiteY2533" fmla="*/ 2703792 h 6211920"/>
              <a:gd name="connsiteX2534" fmla="*/ 1337958 w 9635294"/>
              <a:gd name="connsiteY2534" fmla="*/ 2718797 h 6211920"/>
              <a:gd name="connsiteX2535" fmla="*/ 1341737 w 9635294"/>
              <a:gd name="connsiteY2535" fmla="*/ 2713692 h 6211920"/>
              <a:gd name="connsiteX2536" fmla="*/ 1321431 w 9635294"/>
              <a:gd name="connsiteY2536" fmla="*/ 2698682 h 6211920"/>
              <a:gd name="connsiteX2537" fmla="*/ 8339410 w 9635294"/>
              <a:gd name="connsiteY2537" fmla="*/ 2687723 h 6211920"/>
              <a:gd name="connsiteX2538" fmla="*/ 8341364 w 9635294"/>
              <a:gd name="connsiteY2538" fmla="*/ 2690368 h 6211920"/>
              <a:gd name="connsiteX2539" fmla="*/ 8341354 w 9635294"/>
              <a:gd name="connsiteY2539" fmla="*/ 2690375 h 6211920"/>
              <a:gd name="connsiteX2540" fmla="*/ 1299236 w 9635294"/>
              <a:gd name="connsiteY2540" fmla="*/ 2686285 h 6211920"/>
              <a:gd name="connsiteX2541" fmla="*/ 1297357 w 9635294"/>
              <a:gd name="connsiteY2541" fmla="*/ 2688844 h 6211920"/>
              <a:gd name="connsiteX2542" fmla="*/ 1297356 w 9635294"/>
              <a:gd name="connsiteY2542" fmla="*/ 2688844 h 6211920"/>
              <a:gd name="connsiteX2543" fmla="*/ 8361655 w 9635294"/>
              <a:gd name="connsiteY2543" fmla="*/ 2675505 h 6211920"/>
              <a:gd name="connsiteX2544" fmla="*/ 8363515 w 9635294"/>
              <a:gd name="connsiteY2544" fmla="*/ 2678049 h 6211920"/>
              <a:gd name="connsiteX2545" fmla="*/ 8343259 w 9635294"/>
              <a:gd name="connsiteY2545" fmla="*/ 2692933 h 6211920"/>
              <a:gd name="connsiteX2546" fmla="*/ 8341364 w 9635294"/>
              <a:gd name="connsiteY2546" fmla="*/ 2690368 h 6211920"/>
              <a:gd name="connsiteX2547" fmla="*/ 8357927 w 9635294"/>
              <a:gd name="connsiteY2547" fmla="*/ 2670366 h 6211920"/>
              <a:gd name="connsiteX2548" fmla="*/ 8361674 w 9635294"/>
              <a:gd name="connsiteY2548" fmla="*/ 2675490 h 6211920"/>
              <a:gd name="connsiteX2549" fmla="*/ 8361655 w 9635294"/>
              <a:gd name="connsiteY2549" fmla="*/ 2675505 h 6211920"/>
              <a:gd name="connsiteX2550" fmla="*/ 8357908 w 9635294"/>
              <a:gd name="connsiteY2550" fmla="*/ 2670380 h 6211920"/>
              <a:gd name="connsiteX2551" fmla="*/ 1280190 w 9635294"/>
              <a:gd name="connsiteY2551" fmla="*/ 2669573 h 6211920"/>
              <a:gd name="connsiteX2552" fmla="*/ 1277011 w 9635294"/>
              <a:gd name="connsiteY2552" fmla="*/ 2673922 h 6211920"/>
              <a:gd name="connsiteX2553" fmla="*/ 1297356 w 9635294"/>
              <a:gd name="connsiteY2553" fmla="*/ 2688844 h 6211920"/>
              <a:gd name="connsiteX2554" fmla="*/ 1295476 w 9635294"/>
              <a:gd name="connsiteY2554" fmla="*/ 2691403 h 6211920"/>
              <a:gd name="connsiteX2555" fmla="*/ 1275131 w 9635294"/>
              <a:gd name="connsiteY2555" fmla="*/ 2676487 h 6211920"/>
              <a:gd name="connsiteX2556" fmla="*/ 1280757 w 9635294"/>
              <a:gd name="connsiteY2556" fmla="*/ 2668797 h 6211920"/>
              <a:gd name="connsiteX2557" fmla="*/ 1280758 w 9635294"/>
              <a:gd name="connsiteY2557" fmla="*/ 2668798 h 6211920"/>
              <a:gd name="connsiteX2558" fmla="*/ 1280190 w 9635294"/>
              <a:gd name="connsiteY2558" fmla="*/ 2669573 h 6211920"/>
              <a:gd name="connsiteX2559" fmla="*/ 8356022 w 9635294"/>
              <a:gd name="connsiteY2559" fmla="*/ 2667800 h 6211920"/>
              <a:gd name="connsiteX2560" fmla="*/ 8357908 w 9635294"/>
              <a:gd name="connsiteY2560" fmla="*/ 2670380 h 6211920"/>
              <a:gd name="connsiteX2561" fmla="*/ 8337607 w 9635294"/>
              <a:gd name="connsiteY2561" fmla="*/ 2685263 h 6211920"/>
              <a:gd name="connsiteX2562" fmla="*/ 8339410 w 9635294"/>
              <a:gd name="connsiteY2562" fmla="*/ 2687723 h 6211920"/>
              <a:gd name="connsiteX2563" fmla="*/ 8335702 w 9635294"/>
              <a:gd name="connsiteY2563" fmla="*/ 2682704 h 6211920"/>
              <a:gd name="connsiteX2564" fmla="*/ 8356022 w 9635294"/>
              <a:gd name="connsiteY2564" fmla="*/ 2667800 h 6211920"/>
              <a:gd name="connsiteX2565" fmla="*/ 1282630 w 9635294"/>
              <a:gd name="connsiteY2565" fmla="*/ 2666238 h 6211920"/>
              <a:gd name="connsiteX2566" fmla="*/ 1302996 w 9635294"/>
              <a:gd name="connsiteY2566" fmla="*/ 2681167 h 6211920"/>
              <a:gd name="connsiteX2567" fmla="*/ 1299236 w 9635294"/>
              <a:gd name="connsiteY2567" fmla="*/ 2686285 h 6211920"/>
              <a:gd name="connsiteX2568" fmla="*/ 1301115 w 9635294"/>
              <a:gd name="connsiteY2568" fmla="*/ 2683726 h 6211920"/>
              <a:gd name="connsiteX2569" fmla="*/ 1280758 w 9635294"/>
              <a:gd name="connsiteY2569" fmla="*/ 2668798 h 6211920"/>
              <a:gd name="connsiteX2570" fmla="*/ 8378258 w 9635294"/>
              <a:gd name="connsiteY2570" fmla="*/ 2655487 h 6211920"/>
              <a:gd name="connsiteX2571" fmla="*/ 8380130 w 9635294"/>
              <a:gd name="connsiteY2571" fmla="*/ 2658073 h 6211920"/>
              <a:gd name="connsiteX2572" fmla="*/ 8378247 w 9635294"/>
              <a:gd name="connsiteY2572" fmla="*/ 2655494 h 6211920"/>
              <a:gd name="connsiteX2573" fmla="*/ 8400472 w 9635294"/>
              <a:gd name="connsiteY2573" fmla="*/ 2643255 h 6211920"/>
              <a:gd name="connsiteX2574" fmla="*/ 8404219 w 9635294"/>
              <a:gd name="connsiteY2574" fmla="*/ 2648395 h 6211920"/>
              <a:gd name="connsiteX2575" fmla="*/ 8383835 w 9635294"/>
              <a:gd name="connsiteY2575" fmla="*/ 2663190 h 6211920"/>
              <a:gd name="connsiteX2576" fmla="*/ 8380130 w 9635294"/>
              <a:gd name="connsiteY2576" fmla="*/ 2658073 h 6211920"/>
              <a:gd name="connsiteX2577" fmla="*/ 8381994 w 9635294"/>
              <a:gd name="connsiteY2577" fmla="*/ 2660625 h 6211920"/>
              <a:gd name="connsiteX2578" fmla="*/ 8402314 w 9635294"/>
              <a:gd name="connsiteY2578" fmla="*/ 2645823 h 6211920"/>
              <a:gd name="connsiteX2579" fmla="*/ 8398631 w 9635294"/>
              <a:gd name="connsiteY2579" fmla="*/ 2640686 h 6211920"/>
              <a:gd name="connsiteX2580" fmla="*/ 8400472 w 9635294"/>
              <a:gd name="connsiteY2580" fmla="*/ 2643255 h 6211920"/>
              <a:gd name="connsiteX2581" fmla="*/ 8398611 w 9635294"/>
              <a:gd name="connsiteY2581" fmla="*/ 2640701 h 6211920"/>
              <a:gd name="connsiteX2582" fmla="*/ 1239946 w 9635294"/>
              <a:gd name="connsiteY2582" fmla="*/ 2639054 h 6211920"/>
              <a:gd name="connsiteX2583" fmla="*/ 1239949 w 9635294"/>
              <a:gd name="connsiteY2583" fmla="*/ 2639056 h 6211920"/>
              <a:gd name="connsiteX2584" fmla="*/ 1238039 w 9635294"/>
              <a:gd name="connsiteY2584" fmla="*/ 2641686 h 6211920"/>
              <a:gd name="connsiteX2585" fmla="*/ 8396726 w 9635294"/>
              <a:gd name="connsiteY2585" fmla="*/ 2638114 h 6211920"/>
              <a:gd name="connsiteX2586" fmla="*/ 8398611 w 9635294"/>
              <a:gd name="connsiteY2586" fmla="*/ 2640701 h 6211920"/>
              <a:gd name="connsiteX2587" fmla="*/ 8378258 w 9635294"/>
              <a:gd name="connsiteY2587" fmla="*/ 2655487 h 6211920"/>
              <a:gd name="connsiteX2588" fmla="*/ 8376406 w 9635294"/>
              <a:gd name="connsiteY2588" fmla="*/ 2652929 h 6211920"/>
              <a:gd name="connsiteX2589" fmla="*/ 8396726 w 9635294"/>
              <a:gd name="connsiteY2589" fmla="*/ 2638114 h 6211920"/>
              <a:gd name="connsiteX2590" fmla="*/ 1241813 w 9635294"/>
              <a:gd name="connsiteY2590" fmla="*/ 2636488 h 6211920"/>
              <a:gd name="connsiteX2591" fmla="*/ 1262228 w 9635294"/>
              <a:gd name="connsiteY2591" fmla="*/ 2651335 h 6211920"/>
              <a:gd name="connsiteX2592" fmla="*/ 1254748 w 9635294"/>
              <a:gd name="connsiteY2592" fmla="*/ 2661596 h 6211920"/>
              <a:gd name="connsiteX2593" fmla="*/ 1234351 w 9635294"/>
              <a:gd name="connsiteY2593" fmla="*/ 2646763 h 6211920"/>
              <a:gd name="connsiteX2594" fmla="*/ 1238039 w 9635294"/>
              <a:gd name="connsiteY2594" fmla="*/ 2641686 h 6211920"/>
              <a:gd name="connsiteX2595" fmla="*/ 1236218 w 9635294"/>
              <a:gd name="connsiteY2595" fmla="*/ 2644197 h 6211920"/>
              <a:gd name="connsiteX2596" fmla="*/ 1256614 w 9635294"/>
              <a:gd name="connsiteY2596" fmla="*/ 2659031 h 6211920"/>
              <a:gd name="connsiteX2597" fmla="*/ 1260355 w 9635294"/>
              <a:gd name="connsiteY2597" fmla="*/ 2653900 h 6211920"/>
              <a:gd name="connsiteX2598" fmla="*/ 1239949 w 9635294"/>
              <a:gd name="connsiteY2598" fmla="*/ 2639056 h 6211920"/>
              <a:gd name="connsiteX2599" fmla="*/ 1219522 w 9635294"/>
              <a:gd name="connsiteY2599" fmla="*/ 2624263 h 6211920"/>
              <a:gd name="connsiteX2600" fmla="*/ 1219524 w 9635294"/>
              <a:gd name="connsiteY2600" fmla="*/ 2624265 h 6211920"/>
              <a:gd name="connsiteX2601" fmla="*/ 1216820 w 9635294"/>
              <a:gd name="connsiteY2601" fmla="*/ 2628004 h 6211920"/>
              <a:gd name="connsiteX2602" fmla="*/ 1195313 w 9635294"/>
              <a:gd name="connsiteY2602" fmla="*/ 2614633 h 6211920"/>
              <a:gd name="connsiteX2603" fmla="*/ 1215803 w 9635294"/>
              <a:gd name="connsiteY2603" fmla="*/ 2629408 h 6211920"/>
              <a:gd name="connsiteX2604" fmla="*/ 1216820 w 9635294"/>
              <a:gd name="connsiteY2604" fmla="*/ 2628004 h 6211920"/>
              <a:gd name="connsiteX2605" fmla="*/ 1213942 w 9635294"/>
              <a:gd name="connsiteY2605" fmla="*/ 2631986 h 6211920"/>
              <a:gd name="connsiteX2606" fmla="*/ 1193457 w 9635294"/>
              <a:gd name="connsiteY2606" fmla="*/ 2617210 h 6211920"/>
              <a:gd name="connsiteX2607" fmla="*/ 8439461 w 9635294"/>
              <a:gd name="connsiteY2607" fmla="*/ 2611164 h 6211920"/>
              <a:gd name="connsiteX2608" fmla="*/ 8443144 w 9635294"/>
              <a:gd name="connsiteY2608" fmla="*/ 2616321 h 6211920"/>
              <a:gd name="connsiteX2609" fmla="*/ 8443136 w 9635294"/>
              <a:gd name="connsiteY2609" fmla="*/ 2616327 h 6211920"/>
              <a:gd name="connsiteX2610" fmla="*/ 8439430 w 9635294"/>
              <a:gd name="connsiteY2610" fmla="*/ 2611186 h 6211920"/>
              <a:gd name="connsiteX2611" fmla="*/ 1199020 w 9635294"/>
              <a:gd name="connsiteY2611" fmla="*/ 2609475 h 6211920"/>
              <a:gd name="connsiteX2612" fmla="*/ 1199023 w 9635294"/>
              <a:gd name="connsiteY2612" fmla="*/ 2609477 h 6211920"/>
              <a:gd name="connsiteX2613" fmla="*/ 1195313 w 9635294"/>
              <a:gd name="connsiteY2613" fmla="*/ 2614633 h 6211920"/>
              <a:gd name="connsiteX2614" fmla="*/ 1195312 w 9635294"/>
              <a:gd name="connsiteY2614" fmla="*/ 2614632 h 6211920"/>
              <a:gd name="connsiteX2615" fmla="*/ 8437557 w 9635294"/>
              <a:gd name="connsiteY2615" fmla="*/ 2608587 h 6211920"/>
              <a:gd name="connsiteX2616" fmla="*/ 8439430 w 9635294"/>
              <a:gd name="connsiteY2616" fmla="*/ 2611186 h 6211920"/>
              <a:gd name="connsiteX2617" fmla="*/ 8419014 w 9635294"/>
              <a:gd name="connsiteY2617" fmla="*/ 2625922 h 6211920"/>
              <a:gd name="connsiteX2618" fmla="*/ 8422697 w 9635294"/>
              <a:gd name="connsiteY2618" fmla="*/ 2631065 h 6211920"/>
              <a:gd name="connsiteX2619" fmla="*/ 8443136 w 9635294"/>
              <a:gd name="connsiteY2619" fmla="*/ 2616327 h 6211920"/>
              <a:gd name="connsiteX2620" fmla="*/ 8444986 w 9635294"/>
              <a:gd name="connsiteY2620" fmla="*/ 2618893 h 6211920"/>
              <a:gd name="connsiteX2621" fmla="*/ 8424539 w 9635294"/>
              <a:gd name="connsiteY2621" fmla="*/ 2633637 h 6211920"/>
              <a:gd name="connsiteX2622" fmla="*/ 8417109 w 9635294"/>
              <a:gd name="connsiteY2622" fmla="*/ 2623350 h 6211920"/>
              <a:gd name="connsiteX2623" fmla="*/ 8437557 w 9635294"/>
              <a:gd name="connsiteY2623" fmla="*/ 2608587 h 6211920"/>
              <a:gd name="connsiteX2624" fmla="*/ 1200874 w 9635294"/>
              <a:gd name="connsiteY2624" fmla="*/ 2606904 h 6211920"/>
              <a:gd name="connsiteX2625" fmla="*/ 1221379 w 9635294"/>
              <a:gd name="connsiteY2625" fmla="*/ 2621693 h 6211920"/>
              <a:gd name="connsiteX2626" fmla="*/ 1219522 w 9635294"/>
              <a:gd name="connsiteY2626" fmla="*/ 2624263 h 6211920"/>
              <a:gd name="connsiteX2627" fmla="*/ 1199023 w 9635294"/>
              <a:gd name="connsiteY2627" fmla="*/ 2609477 h 6211920"/>
              <a:gd name="connsiteX2628" fmla="*/ 8459910 w 9635294"/>
              <a:gd name="connsiteY2628" fmla="*/ 2596470 h 6211920"/>
              <a:gd name="connsiteX2629" fmla="*/ 8461692 w 9635294"/>
              <a:gd name="connsiteY2629" fmla="*/ 2598968 h 6211920"/>
              <a:gd name="connsiteX2630" fmla="*/ 8459908 w 9635294"/>
              <a:gd name="connsiteY2630" fmla="*/ 2596471 h 6211920"/>
              <a:gd name="connsiteX2631" fmla="*/ 1178516 w 9635294"/>
              <a:gd name="connsiteY2631" fmla="*/ 2594750 h 6211920"/>
              <a:gd name="connsiteX2632" fmla="*/ 1178516 w 9635294"/>
              <a:gd name="connsiteY2632" fmla="*/ 2594750 h 6211920"/>
              <a:gd name="connsiteX2633" fmla="*/ 1177399 w 9635294"/>
              <a:gd name="connsiteY2633" fmla="*/ 2596308 h 6211920"/>
              <a:gd name="connsiteX2634" fmla="*/ 8484037 w 9635294"/>
              <a:gd name="connsiteY2634" fmla="*/ 2586997 h 6211920"/>
              <a:gd name="connsiteX2635" fmla="*/ 8485880 w 9635294"/>
              <a:gd name="connsiteY2635" fmla="*/ 2589581 h 6211920"/>
              <a:gd name="connsiteX2636" fmla="*/ 8465432 w 9635294"/>
              <a:gd name="connsiteY2636" fmla="*/ 2604211 h 6211920"/>
              <a:gd name="connsiteX2637" fmla="*/ 8461692 w 9635294"/>
              <a:gd name="connsiteY2637" fmla="*/ 2598968 h 6211920"/>
              <a:gd name="connsiteX2638" fmla="*/ 8463592 w 9635294"/>
              <a:gd name="connsiteY2638" fmla="*/ 2601627 h 6211920"/>
              <a:gd name="connsiteX2639" fmla="*/ 1154319 w 9635294"/>
              <a:gd name="connsiteY2639" fmla="*/ 2585252 h 6211920"/>
              <a:gd name="connsiteX2640" fmla="*/ 1174814 w 9635294"/>
              <a:gd name="connsiteY2640" fmla="*/ 2599912 h 6211920"/>
              <a:gd name="connsiteX2641" fmla="*/ 1177399 w 9635294"/>
              <a:gd name="connsiteY2641" fmla="*/ 2596308 h 6211920"/>
              <a:gd name="connsiteX2642" fmla="*/ 1172967 w 9635294"/>
              <a:gd name="connsiteY2642" fmla="*/ 2602490 h 6211920"/>
              <a:gd name="connsiteX2643" fmla="*/ 1152475 w 9635294"/>
              <a:gd name="connsiteY2643" fmla="*/ 2587835 h 6211920"/>
              <a:gd name="connsiteX2644" fmla="*/ 8481512 w 9635294"/>
              <a:gd name="connsiteY2644" fmla="*/ 2583455 h 6211920"/>
              <a:gd name="connsiteX2645" fmla="*/ 8484038 w 9635294"/>
              <a:gd name="connsiteY2645" fmla="*/ 2586996 h 6211920"/>
              <a:gd name="connsiteX2646" fmla="*/ 8484037 w 9635294"/>
              <a:gd name="connsiteY2646" fmla="*/ 2586997 h 6211920"/>
              <a:gd name="connsiteX2647" fmla="*/ 1158006 w 9635294"/>
              <a:gd name="connsiteY2647" fmla="*/ 2580081 h 6211920"/>
              <a:gd name="connsiteX2648" fmla="*/ 1158008 w 9635294"/>
              <a:gd name="connsiteY2648" fmla="*/ 2580083 h 6211920"/>
              <a:gd name="connsiteX2649" fmla="*/ 1154319 w 9635294"/>
              <a:gd name="connsiteY2649" fmla="*/ 2585252 h 6211920"/>
              <a:gd name="connsiteX2650" fmla="*/ 1154317 w 9635294"/>
              <a:gd name="connsiteY2650" fmla="*/ 2585250 h 6211920"/>
              <a:gd name="connsiteX2651" fmla="*/ 8478514 w 9635294"/>
              <a:gd name="connsiteY2651" fmla="*/ 2579250 h 6211920"/>
              <a:gd name="connsiteX2652" fmla="*/ 8481512 w 9635294"/>
              <a:gd name="connsiteY2652" fmla="*/ 2583455 h 6211920"/>
              <a:gd name="connsiteX2653" fmla="*/ 8480356 w 9635294"/>
              <a:gd name="connsiteY2653" fmla="*/ 2581834 h 6211920"/>
              <a:gd name="connsiteX2654" fmla="*/ 8459910 w 9635294"/>
              <a:gd name="connsiteY2654" fmla="*/ 2596470 h 6211920"/>
              <a:gd name="connsiteX2655" fmla="*/ 8458067 w 9635294"/>
              <a:gd name="connsiteY2655" fmla="*/ 2593886 h 6211920"/>
              <a:gd name="connsiteX2656" fmla="*/ 8478514 w 9635294"/>
              <a:gd name="connsiteY2656" fmla="*/ 2579250 h 6211920"/>
              <a:gd name="connsiteX2657" fmla="*/ 1159853 w 9635294"/>
              <a:gd name="connsiteY2657" fmla="*/ 2577497 h 6211920"/>
              <a:gd name="connsiteX2658" fmla="*/ 1180364 w 9635294"/>
              <a:gd name="connsiteY2658" fmla="*/ 2592172 h 6211920"/>
              <a:gd name="connsiteX2659" fmla="*/ 1178516 w 9635294"/>
              <a:gd name="connsiteY2659" fmla="*/ 2594750 h 6211920"/>
              <a:gd name="connsiteX2660" fmla="*/ 1158008 w 9635294"/>
              <a:gd name="connsiteY2660" fmla="*/ 2580083 h 6211920"/>
              <a:gd name="connsiteX2661" fmla="*/ 8500867 w 9635294"/>
              <a:gd name="connsiteY2661" fmla="*/ 2567203 h 6211920"/>
              <a:gd name="connsiteX2662" fmla="*/ 8504550 w 9635294"/>
              <a:gd name="connsiteY2662" fmla="*/ 2572378 h 6211920"/>
              <a:gd name="connsiteX2663" fmla="*/ 8504549 w 9635294"/>
              <a:gd name="connsiteY2663" fmla="*/ 2572379 h 6211920"/>
              <a:gd name="connsiteX2664" fmla="*/ 8500866 w 9635294"/>
              <a:gd name="connsiteY2664" fmla="*/ 2567204 h 6211920"/>
              <a:gd name="connsiteX2665" fmla="*/ 1137425 w 9635294"/>
              <a:gd name="connsiteY2665" fmla="*/ 2565426 h 6211920"/>
              <a:gd name="connsiteX2666" fmla="*/ 1137426 w 9635294"/>
              <a:gd name="connsiteY2666" fmla="*/ 2565426 h 6211920"/>
              <a:gd name="connsiteX2667" fmla="*/ 1133748 w 9635294"/>
              <a:gd name="connsiteY2667" fmla="*/ 2570601 h 6211920"/>
              <a:gd name="connsiteX2668" fmla="*/ 1133748 w 9635294"/>
              <a:gd name="connsiteY2668" fmla="*/ 2570601 h 6211920"/>
              <a:gd name="connsiteX2669" fmla="*/ 8525091 w 9635294"/>
              <a:gd name="connsiteY2669" fmla="*/ 2557829 h 6211920"/>
              <a:gd name="connsiteX2670" fmla="*/ 8526901 w 9635294"/>
              <a:gd name="connsiteY2670" fmla="*/ 2560396 h 6211920"/>
              <a:gd name="connsiteX2671" fmla="*/ 8506390 w 9635294"/>
              <a:gd name="connsiteY2671" fmla="*/ 2574963 h 6211920"/>
              <a:gd name="connsiteX2672" fmla="*/ 8504550 w 9635294"/>
              <a:gd name="connsiteY2672" fmla="*/ 2572378 h 6211920"/>
              <a:gd name="connsiteX2673" fmla="*/ 1115093 w 9635294"/>
              <a:gd name="connsiteY2673" fmla="*/ 2553259 h 6211920"/>
              <a:gd name="connsiteX2674" fmla="*/ 1113155 w 9635294"/>
              <a:gd name="connsiteY2674" fmla="*/ 2556002 h 6211920"/>
              <a:gd name="connsiteX2675" fmla="*/ 1133748 w 9635294"/>
              <a:gd name="connsiteY2675" fmla="*/ 2570601 h 6211920"/>
              <a:gd name="connsiteX2676" fmla="*/ 1131907 w 9635294"/>
              <a:gd name="connsiteY2676" fmla="*/ 2573192 h 6211920"/>
              <a:gd name="connsiteX2677" fmla="*/ 1111320 w 9635294"/>
              <a:gd name="connsiteY2677" fmla="*/ 2558593 h 6211920"/>
              <a:gd name="connsiteX2678" fmla="*/ 8521440 w 9635294"/>
              <a:gd name="connsiteY2678" fmla="*/ 2552624 h 6211920"/>
              <a:gd name="connsiteX2679" fmla="*/ 8525123 w 9635294"/>
              <a:gd name="connsiteY2679" fmla="*/ 2557806 h 6211920"/>
              <a:gd name="connsiteX2680" fmla="*/ 8525091 w 9635294"/>
              <a:gd name="connsiteY2680" fmla="*/ 2557829 h 6211920"/>
              <a:gd name="connsiteX2681" fmla="*/ 8521429 w 9635294"/>
              <a:gd name="connsiteY2681" fmla="*/ 2552632 h 6211920"/>
              <a:gd name="connsiteX2682" fmla="*/ 1116820 w 9635294"/>
              <a:gd name="connsiteY2682" fmla="*/ 2550814 h 6211920"/>
              <a:gd name="connsiteX2683" fmla="*/ 1116821 w 9635294"/>
              <a:gd name="connsiteY2683" fmla="*/ 2550815 h 6211920"/>
              <a:gd name="connsiteX2684" fmla="*/ 1115093 w 9635294"/>
              <a:gd name="connsiteY2684" fmla="*/ 2553259 h 6211920"/>
              <a:gd name="connsiteX2685" fmla="*/ 8519598 w 9635294"/>
              <a:gd name="connsiteY2685" fmla="*/ 2550033 h 6211920"/>
              <a:gd name="connsiteX2686" fmla="*/ 8521429 w 9635294"/>
              <a:gd name="connsiteY2686" fmla="*/ 2552632 h 6211920"/>
              <a:gd name="connsiteX2687" fmla="*/ 8500867 w 9635294"/>
              <a:gd name="connsiteY2687" fmla="*/ 2567203 h 6211920"/>
              <a:gd name="connsiteX2688" fmla="*/ 8499024 w 9635294"/>
              <a:gd name="connsiteY2688" fmla="*/ 2564613 h 6211920"/>
              <a:gd name="connsiteX2689" fmla="*/ 8519598 w 9635294"/>
              <a:gd name="connsiteY2689" fmla="*/ 2550033 h 6211920"/>
              <a:gd name="connsiteX2690" fmla="*/ 1118654 w 9635294"/>
              <a:gd name="connsiteY2690" fmla="*/ 2548223 h 6211920"/>
              <a:gd name="connsiteX2691" fmla="*/ 1139266 w 9635294"/>
              <a:gd name="connsiteY2691" fmla="*/ 2562835 h 6211920"/>
              <a:gd name="connsiteX2692" fmla="*/ 1137425 w 9635294"/>
              <a:gd name="connsiteY2692" fmla="*/ 2565426 h 6211920"/>
              <a:gd name="connsiteX2693" fmla="*/ 1116821 w 9635294"/>
              <a:gd name="connsiteY2693" fmla="*/ 2550815 h 6211920"/>
              <a:gd name="connsiteX2694" fmla="*/ 1094391 w 9635294"/>
              <a:gd name="connsiteY2694" fmla="*/ 2538864 h 6211920"/>
              <a:gd name="connsiteX2695" fmla="*/ 1092563 w 9635294"/>
              <a:gd name="connsiteY2695" fmla="*/ 2541461 h 6211920"/>
              <a:gd name="connsiteX2696" fmla="*/ 1092561 w 9635294"/>
              <a:gd name="connsiteY2696" fmla="*/ 2541460 h 6211920"/>
              <a:gd name="connsiteX2697" fmla="*/ 8541980 w 9635294"/>
              <a:gd name="connsiteY2697" fmla="*/ 2538080 h 6211920"/>
              <a:gd name="connsiteX2698" fmla="*/ 8545645 w 9635294"/>
              <a:gd name="connsiteY2698" fmla="*/ 2543288 h 6211920"/>
              <a:gd name="connsiteX2699" fmla="*/ 8545633 w 9635294"/>
              <a:gd name="connsiteY2699" fmla="*/ 2543296 h 6211920"/>
              <a:gd name="connsiteX2700" fmla="*/ 8541950 w 9635294"/>
              <a:gd name="connsiteY2700" fmla="*/ 2538101 h 6211920"/>
              <a:gd name="connsiteX2701" fmla="*/ 1071919 w 9635294"/>
              <a:gd name="connsiteY2701" fmla="*/ 2526952 h 6211920"/>
              <a:gd name="connsiteX2702" fmla="*/ 1092561 w 9635294"/>
              <a:gd name="connsiteY2702" fmla="*/ 2541460 h 6211920"/>
              <a:gd name="connsiteX2703" fmla="*/ 1090733 w 9635294"/>
              <a:gd name="connsiteY2703" fmla="*/ 2544051 h 6211920"/>
              <a:gd name="connsiteX2704" fmla="*/ 1070096 w 9635294"/>
              <a:gd name="connsiteY2704" fmla="*/ 2529548 h 6211920"/>
              <a:gd name="connsiteX2705" fmla="*/ 8564137 w 9635294"/>
              <a:gd name="connsiteY2705" fmla="*/ 2525841 h 6211920"/>
              <a:gd name="connsiteX2706" fmla="*/ 8568049 w 9635294"/>
              <a:gd name="connsiteY2706" fmla="*/ 2531408 h 6211920"/>
              <a:gd name="connsiteX2707" fmla="*/ 8547475 w 9635294"/>
              <a:gd name="connsiteY2707" fmla="*/ 2545887 h 6211920"/>
              <a:gd name="connsiteX2708" fmla="*/ 8545645 w 9635294"/>
              <a:gd name="connsiteY2708" fmla="*/ 2543288 h 6211920"/>
              <a:gd name="connsiteX2709" fmla="*/ 8566207 w 9635294"/>
              <a:gd name="connsiteY2709" fmla="*/ 2528811 h 6211920"/>
              <a:gd name="connsiteX2710" fmla="*/ 1073744 w 9635294"/>
              <a:gd name="connsiteY2710" fmla="*/ 2524351 h 6211920"/>
              <a:gd name="connsiteX2711" fmla="*/ 1071919 w 9635294"/>
              <a:gd name="connsiteY2711" fmla="*/ 2526952 h 6211920"/>
              <a:gd name="connsiteX2712" fmla="*/ 1071918 w 9635294"/>
              <a:gd name="connsiteY2712" fmla="*/ 2526951 h 6211920"/>
              <a:gd name="connsiteX2713" fmla="*/ 8562588 w 9635294"/>
              <a:gd name="connsiteY2713" fmla="*/ 2523617 h 6211920"/>
              <a:gd name="connsiteX2714" fmla="*/ 8564137 w 9635294"/>
              <a:gd name="connsiteY2714" fmla="*/ 2525841 h 6211920"/>
              <a:gd name="connsiteX2715" fmla="*/ 8562579 w 9635294"/>
              <a:gd name="connsiteY2715" fmla="*/ 2523623 h 6211920"/>
              <a:gd name="connsiteX2716" fmla="*/ 8560746 w 9635294"/>
              <a:gd name="connsiteY2716" fmla="*/ 2521014 h 6211920"/>
              <a:gd name="connsiteX2717" fmla="*/ 8562579 w 9635294"/>
              <a:gd name="connsiteY2717" fmla="*/ 2523623 h 6211920"/>
              <a:gd name="connsiteX2718" fmla="*/ 8541980 w 9635294"/>
              <a:gd name="connsiteY2718" fmla="*/ 2538080 h 6211920"/>
              <a:gd name="connsiteX2719" fmla="*/ 8540172 w 9635294"/>
              <a:gd name="connsiteY2719" fmla="*/ 2535511 h 6211920"/>
              <a:gd name="connsiteX2720" fmla="*/ 8560746 w 9635294"/>
              <a:gd name="connsiteY2720" fmla="*/ 2521014 h 6211920"/>
              <a:gd name="connsiteX2721" fmla="*/ 1077393 w 9635294"/>
              <a:gd name="connsiteY2721" fmla="*/ 2519153 h 6211920"/>
              <a:gd name="connsiteX2722" fmla="*/ 1098050 w 9635294"/>
              <a:gd name="connsiteY2722" fmla="*/ 2533676 h 6211920"/>
              <a:gd name="connsiteX2723" fmla="*/ 1094391 w 9635294"/>
              <a:gd name="connsiteY2723" fmla="*/ 2538864 h 6211920"/>
              <a:gd name="connsiteX2724" fmla="*/ 1096220 w 9635294"/>
              <a:gd name="connsiteY2724" fmla="*/ 2536266 h 6211920"/>
              <a:gd name="connsiteX2725" fmla="*/ 1075571 w 9635294"/>
              <a:gd name="connsiteY2725" fmla="*/ 2521750 h 6211920"/>
              <a:gd name="connsiteX2726" fmla="*/ 1073744 w 9635294"/>
              <a:gd name="connsiteY2726" fmla="*/ 2524351 h 6211920"/>
              <a:gd name="connsiteX2727" fmla="*/ 8584934 w 9635294"/>
              <a:gd name="connsiteY2727" fmla="*/ 2511611 h 6211920"/>
              <a:gd name="connsiteX2728" fmla="*/ 8586855 w 9635294"/>
              <a:gd name="connsiteY2728" fmla="*/ 2514352 h 6211920"/>
              <a:gd name="connsiteX2729" fmla="*/ 8586844 w 9635294"/>
              <a:gd name="connsiteY2729" fmla="*/ 2514359 h 6211920"/>
              <a:gd name="connsiteX2730" fmla="*/ 1052906 w 9635294"/>
              <a:gd name="connsiteY2730" fmla="*/ 2510065 h 6211920"/>
              <a:gd name="connsiteX2731" fmla="*/ 1051231 w 9635294"/>
              <a:gd name="connsiteY2731" fmla="*/ 2512467 h 6211920"/>
              <a:gd name="connsiteX2732" fmla="*/ 1051228 w 9635294"/>
              <a:gd name="connsiteY2732" fmla="*/ 2512466 h 6211920"/>
              <a:gd name="connsiteX2733" fmla="*/ 1030539 w 9635294"/>
              <a:gd name="connsiteY2733" fmla="*/ 2498049 h 6211920"/>
              <a:gd name="connsiteX2734" fmla="*/ 1051228 w 9635294"/>
              <a:gd name="connsiteY2734" fmla="*/ 2512466 h 6211920"/>
              <a:gd name="connsiteX2735" fmla="*/ 1049408 w 9635294"/>
              <a:gd name="connsiteY2735" fmla="*/ 2515070 h 6211920"/>
              <a:gd name="connsiteX2736" fmla="*/ 1028726 w 9635294"/>
              <a:gd name="connsiteY2736" fmla="*/ 2500656 h 6211920"/>
              <a:gd name="connsiteX2737" fmla="*/ 1034161 w 9635294"/>
              <a:gd name="connsiteY2737" fmla="*/ 2492832 h 6211920"/>
              <a:gd name="connsiteX2738" fmla="*/ 1034165 w 9635294"/>
              <a:gd name="connsiteY2738" fmla="*/ 2492835 h 6211920"/>
              <a:gd name="connsiteX2739" fmla="*/ 1030539 w 9635294"/>
              <a:gd name="connsiteY2739" fmla="*/ 2498049 h 6211920"/>
              <a:gd name="connsiteX2740" fmla="*/ 1030535 w 9635294"/>
              <a:gd name="connsiteY2740" fmla="*/ 2498046 h 6211920"/>
              <a:gd name="connsiteX2741" fmla="*/ 8602085 w 9635294"/>
              <a:gd name="connsiteY2741" fmla="*/ 2492153 h 6211920"/>
              <a:gd name="connsiteX2742" fmla="*/ 8609324 w 9635294"/>
              <a:gd name="connsiteY2742" fmla="*/ 2502573 h 6211920"/>
              <a:gd name="connsiteX2743" fmla="*/ 8588686 w 9635294"/>
              <a:gd name="connsiteY2743" fmla="*/ 2516962 h 6211920"/>
              <a:gd name="connsiteX2744" fmla="*/ 8586855 w 9635294"/>
              <a:gd name="connsiteY2744" fmla="*/ 2514352 h 6211920"/>
              <a:gd name="connsiteX2745" fmla="*/ 8607482 w 9635294"/>
              <a:gd name="connsiteY2745" fmla="*/ 2499970 h 6211920"/>
              <a:gd name="connsiteX2746" fmla="*/ 8603863 w 9635294"/>
              <a:gd name="connsiteY2746" fmla="*/ 2494756 h 6211920"/>
              <a:gd name="connsiteX2747" fmla="*/ 8583225 w 9635294"/>
              <a:gd name="connsiteY2747" fmla="*/ 2509152 h 6211920"/>
              <a:gd name="connsiteX2748" fmla="*/ 8584934 w 9635294"/>
              <a:gd name="connsiteY2748" fmla="*/ 2511611 h 6211920"/>
              <a:gd name="connsiteX2749" fmla="*/ 8581384 w 9635294"/>
              <a:gd name="connsiteY2749" fmla="*/ 2506548 h 6211920"/>
              <a:gd name="connsiteX2750" fmla="*/ 8602085 w 9635294"/>
              <a:gd name="connsiteY2750" fmla="*/ 2492153 h 6211920"/>
              <a:gd name="connsiteX2751" fmla="*/ 1035977 w 9635294"/>
              <a:gd name="connsiteY2751" fmla="*/ 2490229 h 6211920"/>
              <a:gd name="connsiteX2752" fmla="*/ 1056685 w 9635294"/>
              <a:gd name="connsiteY2752" fmla="*/ 2504656 h 6211920"/>
              <a:gd name="connsiteX2753" fmla="*/ 1052906 w 9635294"/>
              <a:gd name="connsiteY2753" fmla="*/ 2510065 h 6211920"/>
              <a:gd name="connsiteX2754" fmla="*/ 1054862 w 9635294"/>
              <a:gd name="connsiteY2754" fmla="*/ 2507259 h 6211920"/>
              <a:gd name="connsiteX2755" fmla="*/ 1034165 w 9635294"/>
              <a:gd name="connsiteY2755" fmla="*/ 2492835 h 6211920"/>
              <a:gd name="connsiteX2756" fmla="*/ 8645265 w 9635294"/>
              <a:gd name="connsiteY2756" fmla="*/ 2466067 h 6211920"/>
              <a:gd name="connsiteX2757" fmla="*/ 8624564 w 9635294"/>
              <a:gd name="connsiteY2757" fmla="*/ 2480412 h 6211920"/>
              <a:gd name="connsiteX2758" fmla="*/ 8628183 w 9635294"/>
              <a:gd name="connsiteY2758" fmla="*/ 2485631 h 6211920"/>
              <a:gd name="connsiteX2759" fmla="*/ 8648884 w 9635294"/>
              <a:gd name="connsiteY2759" fmla="*/ 2471300 h 6211920"/>
              <a:gd name="connsiteX2760" fmla="*/ 992639 w 9635294"/>
              <a:gd name="connsiteY2760" fmla="*/ 2464092 h 6211920"/>
              <a:gd name="connsiteX2761" fmla="*/ 992640 w 9635294"/>
              <a:gd name="connsiteY2761" fmla="*/ 2464092 h 6211920"/>
              <a:gd name="connsiteX2762" fmla="*/ 989039 w 9635294"/>
              <a:gd name="connsiteY2762" fmla="*/ 2469318 h 6211920"/>
              <a:gd name="connsiteX2763" fmla="*/ 989039 w 9635294"/>
              <a:gd name="connsiteY2763" fmla="*/ 2469318 h 6211920"/>
              <a:gd name="connsiteX2764" fmla="*/ 8643487 w 9635294"/>
              <a:gd name="connsiteY2764" fmla="*/ 2463457 h 6211920"/>
              <a:gd name="connsiteX2765" fmla="*/ 8650726 w 9635294"/>
              <a:gd name="connsiteY2765" fmla="*/ 2473909 h 6211920"/>
              <a:gd name="connsiteX2766" fmla="*/ 8629961 w 9635294"/>
              <a:gd name="connsiteY2766" fmla="*/ 2488241 h 6211920"/>
              <a:gd name="connsiteX2767" fmla="*/ 8622722 w 9635294"/>
              <a:gd name="connsiteY2767" fmla="*/ 2477802 h 6211920"/>
              <a:gd name="connsiteX2768" fmla="*/ 8643487 w 9635294"/>
              <a:gd name="connsiteY2768" fmla="*/ 2463457 h 6211920"/>
              <a:gd name="connsiteX2769" fmla="*/ 994442 w 9635294"/>
              <a:gd name="connsiteY2769" fmla="*/ 2461476 h 6211920"/>
              <a:gd name="connsiteX2770" fmla="*/ 1015251 w 9635294"/>
              <a:gd name="connsiteY2770" fmla="*/ 2475852 h 6211920"/>
              <a:gd name="connsiteX2771" fmla="*/ 1008026 w 9635294"/>
              <a:gd name="connsiteY2771" fmla="*/ 2486292 h 6211920"/>
              <a:gd name="connsiteX2772" fmla="*/ 987235 w 9635294"/>
              <a:gd name="connsiteY2772" fmla="*/ 2471935 h 6211920"/>
              <a:gd name="connsiteX2773" fmla="*/ 989039 w 9635294"/>
              <a:gd name="connsiteY2773" fmla="*/ 2469318 h 6211920"/>
              <a:gd name="connsiteX2774" fmla="*/ 1009828 w 9635294"/>
              <a:gd name="connsiteY2774" fmla="*/ 2483682 h 6211920"/>
              <a:gd name="connsiteX2775" fmla="*/ 1013441 w 9635294"/>
              <a:gd name="connsiteY2775" fmla="*/ 2478462 h 6211920"/>
              <a:gd name="connsiteX2776" fmla="*/ 992640 w 9635294"/>
              <a:gd name="connsiteY2776" fmla="*/ 2464092 h 6211920"/>
              <a:gd name="connsiteX2777" fmla="*/ 969988 w 9635294"/>
              <a:gd name="connsiteY2777" fmla="*/ 2452491 h 6211920"/>
              <a:gd name="connsiteX2778" fmla="*/ 968248 w 9635294"/>
              <a:gd name="connsiteY2778" fmla="*/ 2455031 h 6211920"/>
              <a:gd name="connsiteX2779" fmla="*/ 968247 w 9635294"/>
              <a:gd name="connsiteY2779" fmla="*/ 2455030 h 6211920"/>
              <a:gd name="connsiteX2780" fmla="*/ 8666041 w 9635294"/>
              <a:gd name="connsiteY2780" fmla="*/ 2451792 h 6211920"/>
              <a:gd name="connsiteX2781" fmla="*/ 8667810 w 9635294"/>
              <a:gd name="connsiteY2781" fmla="*/ 2454373 h 6211920"/>
              <a:gd name="connsiteX2782" fmla="*/ 8666030 w 9635294"/>
              <a:gd name="connsiteY2782" fmla="*/ 2451799 h 6211920"/>
              <a:gd name="connsiteX2783" fmla="*/ 8690349 w 9635294"/>
              <a:gd name="connsiteY2783" fmla="*/ 2442833 h 6211920"/>
              <a:gd name="connsiteX2784" fmla="*/ 8692128 w 9635294"/>
              <a:gd name="connsiteY2784" fmla="*/ 2445455 h 6211920"/>
              <a:gd name="connsiteX2785" fmla="*/ 8671427 w 9635294"/>
              <a:gd name="connsiteY2785" fmla="*/ 2459647 h 6211920"/>
              <a:gd name="connsiteX2786" fmla="*/ 8667810 w 9635294"/>
              <a:gd name="connsiteY2786" fmla="*/ 2454373 h 6211920"/>
              <a:gd name="connsiteX2787" fmla="*/ 8669649 w 9635294"/>
              <a:gd name="connsiteY2787" fmla="*/ 2457031 h 6211920"/>
              <a:gd name="connsiteX2788" fmla="*/ 947460 w 9635294"/>
              <a:gd name="connsiteY2788" fmla="*/ 2440801 h 6211920"/>
              <a:gd name="connsiteX2789" fmla="*/ 968247 w 9635294"/>
              <a:gd name="connsiteY2789" fmla="*/ 2455030 h 6211920"/>
              <a:gd name="connsiteX2790" fmla="*/ 966451 w 9635294"/>
              <a:gd name="connsiteY2790" fmla="*/ 2457647 h 6211920"/>
              <a:gd name="connsiteX2791" fmla="*/ 945668 w 9635294"/>
              <a:gd name="connsiteY2791" fmla="*/ 2443423 h 6211920"/>
              <a:gd name="connsiteX2792" fmla="*/ 8688572 w 9635294"/>
              <a:gd name="connsiteY2792" fmla="*/ 2440213 h 6211920"/>
              <a:gd name="connsiteX2793" fmla="*/ 8690350 w 9635294"/>
              <a:gd name="connsiteY2793" fmla="*/ 2442832 h 6211920"/>
              <a:gd name="connsiteX2794" fmla="*/ 8690349 w 9635294"/>
              <a:gd name="connsiteY2794" fmla="*/ 2442833 h 6211920"/>
              <a:gd name="connsiteX2795" fmla="*/ 949926 w 9635294"/>
              <a:gd name="connsiteY2795" fmla="*/ 2437192 h 6211920"/>
              <a:gd name="connsiteX2796" fmla="*/ 947460 w 9635294"/>
              <a:gd name="connsiteY2796" fmla="*/ 2440801 h 6211920"/>
              <a:gd name="connsiteX2797" fmla="*/ 947458 w 9635294"/>
              <a:gd name="connsiteY2797" fmla="*/ 2440800 h 6211920"/>
              <a:gd name="connsiteX2798" fmla="*/ 8685016 w 9635294"/>
              <a:gd name="connsiteY2798" fmla="*/ 2434971 h 6211920"/>
              <a:gd name="connsiteX2799" fmla="*/ 8688572 w 9635294"/>
              <a:gd name="connsiteY2799" fmla="*/ 2440213 h 6211920"/>
              <a:gd name="connsiteX2800" fmla="*/ 8686794 w 9635294"/>
              <a:gd name="connsiteY2800" fmla="*/ 2437594 h 6211920"/>
              <a:gd name="connsiteX2801" fmla="*/ 8666041 w 9635294"/>
              <a:gd name="connsiteY2801" fmla="*/ 2451792 h 6211920"/>
              <a:gd name="connsiteX2802" fmla="*/ 8664251 w 9635294"/>
              <a:gd name="connsiteY2802" fmla="*/ 2449182 h 6211920"/>
              <a:gd name="connsiteX2803" fmla="*/ 8685016 w 9635294"/>
              <a:gd name="connsiteY2803" fmla="*/ 2434971 h 6211920"/>
              <a:gd name="connsiteX2804" fmla="*/ 952831 w 9635294"/>
              <a:gd name="connsiteY2804" fmla="*/ 2432939 h 6211920"/>
              <a:gd name="connsiteX2805" fmla="*/ 973633 w 9635294"/>
              <a:gd name="connsiteY2805" fmla="*/ 2447176 h 6211920"/>
              <a:gd name="connsiteX2806" fmla="*/ 969988 w 9635294"/>
              <a:gd name="connsiteY2806" fmla="*/ 2452491 h 6211920"/>
              <a:gd name="connsiteX2807" fmla="*/ 971836 w 9635294"/>
              <a:gd name="connsiteY2807" fmla="*/ 2449792 h 6211920"/>
              <a:gd name="connsiteX2808" fmla="*/ 951040 w 9635294"/>
              <a:gd name="connsiteY2808" fmla="*/ 2435562 h 6211920"/>
              <a:gd name="connsiteX2809" fmla="*/ 949926 w 9635294"/>
              <a:gd name="connsiteY2809" fmla="*/ 2437192 h 6211920"/>
              <a:gd name="connsiteX2810" fmla="*/ 8709303 w 9635294"/>
              <a:gd name="connsiteY2810" fmla="*/ 2425866 h 6211920"/>
              <a:gd name="connsiteX2811" fmla="*/ 8711179 w 9635294"/>
              <a:gd name="connsiteY2811" fmla="*/ 2428634 h 6211920"/>
              <a:gd name="connsiteX2812" fmla="*/ 8711178 w 9635294"/>
              <a:gd name="connsiteY2812" fmla="*/ 2428634 h 6211920"/>
              <a:gd name="connsiteX2813" fmla="*/ 930141 w 9635294"/>
              <a:gd name="connsiteY2813" fmla="*/ 2421324 h 6211920"/>
              <a:gd name="connsiteX2814" fmla="*/ 930142 w 9635294"/>
              <a:gd name="connsiteY2814" fmla="*/ 2421325 h 6211920"/>
              <a:gd name="connsiteX2815" fmla="*/ 926573 w 9635294"/>
              <a:gd name="connsiteY2815" fmla="*/ 2426576 h 6211920"/>
              <a:gd name="connsiteX2816" fmla="*/ 926572 w 9635294"/>
              <a:gd name="connsiteY2816" fmla="*/ 2426576 h 6211920"/>
              <a:gd name="connsiteX2817" fmla="*/ 8732059 w 9635294"/>
              <a:gd name="connsiteY2817" fmla="*/ 2414506 h 6211920"/>
              <a:gd name="connsiteX2818" fmla="*/ 8733847 w 9635294"/>
              <a:gd name="connsiteY2818" fmla="*/ 2417128 h 6211920"/>
              <a:gd name="connsiteX2819" fmla="*/ 8712956 w 9635294"/>
              <a:gd name="connsiteY2819" fmla="*/ 2431256 h 6211920"/>
              <a:gd name="connsiteX2820" fmla="*/ 8711179 w 9635294"/>
              <a:gd name="connsiteY2820" fmla="*/ 2428634 h 6211920"/>
              <a:gd name="connsiteX2821" fmla="*/ 905683 w 9635294"/>
              <a:gd name="connsiteY2821" fmla="*/ 2412410 h 6211920"/>
              <a:gd name="connsiteX2822" fmla="*/ 926572 w 9635294"/>
              <a:gd name="connsiteY2822" fmla="*/ 2426576 h 6211920"/>
              <a:gd name="connsiteX2823" fmla="*/ 924789 w 9635294"/>
              <a:gd name="connsiteY2823" fmla="*/ 2429199 h 6211920"/>
              <a:gd name="connsiteX2824" fmla="*/ 903905 w 9635294"/>
              <a:gd name="connsiteY2824" fmla="*/ 2415038 h 6211920"/>
              <a:gd name="connsiteX2825" fmla="*/ 8730210 w 9635294"/>
              <a:gd name="connsiteY2825" fmla="*/ 2411795 h 6211920"/>
              <a:gd name="connsiteX2826" fmla="*/ 8732069 w 9635294"/>
              <a:gd name="connsiteY2826" fmla="*/ 2414499 h 6211920"/>
              <a:gd name="connsiteX2827" fmla="*/ 8732059 w 9635294"/>
              <a:gd name="connsiteY2827" fmla="*/ 2414506 h 6211920"/>
              <a:gd name="connsiteX2828" fmla="*/ 908582 w 9635294"/>
              <a:gd name="connsiteY2828" fmla="*/ 2408123 h 6211920"/>
              <a:gd name="connsiteX2829" fmla="*/ 905683 w 9635294"/>
              <a:gd name="connsiteY2829" fmla="*/ 2412410 h 6211920"/>
              <a:gd name="connsiteX2830" fmla="*/ 905682 w 9635294"/>
              <a:gd name="connsiteY2830" fmla="*/ 2412409 h 6211920"/>
              <a:gd name="connsiteX2831" fmla="*/ 8726672 w 9635294"/>
              <a:gd name="connsiteY2831" fmla="*/ 2406606 h 6211920"/>
              <a:gd name="connsiteX2832" fmla="*/ 8730210 w 9635294"/>
              <a:gd name="connsiteY2832" fmla="*/ 2411795 h 6211920"/>
              <a:gd name="connsiteX2833" fmla="*/ 8728450 w 9635294"/>
              <a:gd name="connsiteY2833" fmla="*/ 2409234 h 6211920"/>
              <a:gd name="connsiteX2834" fmla="*/ 8707622 w 9635294"/>
              <a:gd name="connsiteY2834" fmla="*/ 2423382 h 6211920"/>
              <a:gd name="connsiteX2835" fmla="*/ 8709303 w 9635294"/>
              <a:gd name="connsiteY2835" fmla="*/ 2425866 h 6211920"/>
              <a:gd name="connsiteX2836" fmla="*/ 8705844 w 9635294"/>
              <a:gd name="connsiteY2836" fmla="*/ 2420760 h 6211920"/>
              <a:gd name="connsiteX2837" fmla="*/ 8726672 w 9635294"/>
              <a:gd name="connsiteY2837" fmla="*/ 2406606 h 6211920"/>
              <a:gd name="connsiteX2838" fmla="*/ 911016 w 9635294"/>
              <a:gd name="connsiteY2838" fmla="*/ 2404523 h 6211920"/>
              <a:gd name="connsiteX2839" fmla="*/ 931926 w 9635294"/>
              <a:gd name="connsiteY2839" fmla="*/ 2418696 h 6211920"/>
              <a:gd name="connsiteX2840" fmla="*/ 930141 w 9635294"/>
              <a:gd name="connsiteY2840" fmla="*/ 2421324 h 6211920"/>
              <a:gd name="connsiteX2841" fmla="*/ 909238 w 9635294"/>
              <a:gd name="connsiteY2841" fmla="*/ 2407152 h 6211920"/>
              <a:gd name="connsiteX2842" fmla="*/ 908582 w 9635294"/>
              <a:gd name="connsiteY2842" fmla="*/ 2408123 h 6211920"/>
              <a:gd name="connsiteX2843" fmla="*/ 885456 w 9635294"/>
              <a:gd name="connsiteY2843" fmla="*/ 2397338 h 6211920"/>
              <a:gd name="connsiteX2844" fmla="*/ 884796 w 9635294"/>
              <a:gd name="connsiteY2844" fmla="*/ 2398319 h 6211920"/>
              <a:gd name="connsiteX2845" fmla="*/ 884796 w 9635294"/>
              <a:gd name="connsiteY2845" fmla="*/ 2398319 h 6211920"/>
              <a:gd name="connsiteX2846" fmla="*/ 863836 w 9635294"/>
              <a:gd name="connsiteY2846" fmla="*/ 2384242 h 6211920"/>
              <a:gd name="connsiteX2847" fmla="*/ 884796 w 9635294"/>
              <a:gd name="connsiteY2847" fmla="*/ 2398319 h 6211920"/>
              <a:gd name="connsiteX2848" fmla="*/ 883025 w 9635294"/>
              <a:gd name="connsiteY2848" fmla="*/ 2400948 h 6211920"/>
              <a:gd name="connsiteX2849" fmla="*/ 862070 w 9635294"/>
              <a:gd name="connsiteY2849" fmla="*/ 2386876 h 6211920"/>
              <a:gd name="connsiteX2850" fmla="*/ 8770232 w 9635294"/>
              <a:gd name="connsiteY2850" fmla="*/ 2381104 h 6211920"/>
              <a:gd name="connsiteX2851" fmla="*/ 8773789 w 9635294"/>
              <a:gd name="connsiteY2851" fmla="*/ 2386375 h 6211920"/>
              <a:gd name="connsiteX2852" fmla="*/ 8773787 w 9635294"/>
              <a:gd name="connsiteY2852" fmla="*/ 2386377 h 6211920"/>
              <a:gd name="connsiteX2853" fmla="*/ 8770232 w 9635294"/>
              <a:gd name="connsiteY2853" fmla="*/ 2381104 h 6211920"/>
              <a:gd name="connsiteX2854" fmla="*/ 867372 w 9635294"/>
              <a:gd name="connsiteY2854" fmla="*/ 2378964 h 6211920"/>
              <a:gd name="connsiteX2855" fmla="*/ 867372 w 9635294"/>
              <a:gd name="connsiteY2855" fmla="*/ 2378964 h 6211920"/>
              <a:gd name="connsiteX2856" fmla="*/ 863836 w 9635294"/>
              <a:gd name="connsiteY2856" fmla="*/ 2384242 h 6211920"/>
              <a:gd name="connsiteX2857" fmla="*/ 863835 w 9635294"/>
              <a:gd name="connsiteY2857" fmla="*/ 2384241 h 6211920"/>
              <a:gd name="connsiteX2858" fmla="*/ 8768455 w 9635294"/>
              <a:gd name="connsiteY2858" fmla="*/ 2378469 h 6211920"/>
              <a:gd name="connsiteX2859" fmla="*/ 8770232 w 9635294"/>
              <a:gd name="connsiteY2859" fmla="*/ 2381104 h 6211920"/>
              <a:gd name="connsiteX2860" fmla="*/ 8749342 w 9635294"/>
              <a:gd name="connsiteY2860" fmla="*/ 2395163 h 6211920"/>
              <a:gd name="connsiteX2861" fmla="*/ 8752897 w 9635294"/>
              <a:gd name="connsiteY2861" fmla="*/ 2400427 h 6211920"/>
              <a:gd name="connsiteX2862" fmla="*/ 8773787 w 9635294"/>
              <a:gd name="connsiteY2862" fmla="*/ 2386377 h 6211920"/>
              <a:gd name="connsiteX2863" fmla="*/ 8775567 w 9635294"/>
              <a:gd name="connsiteY2863" fmla="*/ 2389016 h 6211920"/>
              <a:gd name="connsiteX2864" fmla="*/ 8754612 w 9635294"/>
              <a:gd name="connsiteY2864" fmla="*/ 2403062 h 6211920"/>
              <a:gd name="connsiteX2865" fmla="*/ 8747563 w 9635294"/>
              <a:gd name="connsiteY2865" fmla="*/ 2392528 h 6211920"/>
              <a:gd name="connsiteX2866" fmla="*/ 8768455 w 9635294"/>
              <a:gd name="connsiteY2866" fmla="*/ 2378469 h 6211920"/>
              <a:gd name="connsiteX2867" fmla="*/ 869138 w 9635294"/>
              <a:gd name="connsiteY2867" fmla="*/ 2376329 h 6211920"/>
              <a:gd name="connsiteX2868" fmla="*/ 890119 w 9635294"/>
              <a:gd name="connsiteY2868" fmla="*/ 2390413 h 6211920"/>
              <a:gd name="connsiteX2869" fmla="*/ 885456 w 9635294"/>
              <a:gd name="connsiteY2869" fmla="*/ 2397338 h 6211920"/>
              <a:gd name="connsiteX2870" fmla="*/ 888340 w 9635294"/>
              <a:gd name="connsiteY2870" fmla="*/ 2393048 h 6211920"/>
              <a:gd name="connsiteX2871" fmla="*/ 867372 w 9635294"/>
              <a:gd name="connsiteY2871" fmla="*/ 2378964 h 6211920"/>
              <a:gd name="connsiteX2872" fmla="*/ 846366 w 9635294"/>
              <a:gd name="connsiteY2872" fmla="*/ 2364924 h 6211920"/>
              <a:gd name="connsiteX2873" fmla="*/ 846366 w 9635294"/>
              <a:gd name="connsiteY2873" fmla="*/ 2364924 h 6211920"/>
              <a:gd name="connsiteX2874" fmla="*/ 845065 w 9635294"/>
              <a:gd name="connsiteY2874" fmla="*/ 2366876 h 6211920"/>
              <a:gd name="connsiteX2875" fmla="*/ 821858 w 9635294"/>
              <a:gd name="connsiteY2875" fmla="*/ 2356246 h 6211920"/>
              <a:gd name="connsiteX2876" fmla="*/ 842842 w 9635294"/>
              <a:gd name="connsiteY2876" fmla="*/ 2370207 h 6211920"/>
              <a:gd name="connsiteX2877" fmla="*/ 845065 w 9635294"/>
              <a:gd name="connsiteY2877" fmla="*/ 2366876 h 6211920"/>
              <a:gd name="connsiteX2878" fmla="*/ 841084 w 9635294"/>
              <a:gd name="connsiteY2878" fmla="*/ 2372849 h 6211920"/>
              <a:gd name="connsiteX2879" fmla="*/ 820103 w 9635294"/>
              <a:gd name="connsiteY2879" fmla="*/ 2358892 h 6211920"/>
              <a:gd name="connsiteX2880" fmla="*/ 8812143 w 9635294"/>
              <a:gd name="connsiteY2880" fmla="*/ 2353145 h 6211920"/>
              <a:gd name="connsiteX2881" fmla="*/ 8814146 w 9635294"/>
              <a:gd name="connsiteY2881" fmla="*/ 2356178 h 6211920"/>
              <a:gd name="connsiteX2882" fmla="*/ 8812130 w 9635294"/>
              <a:gd name="connsiteY2882" fmla="*/ 2353154 h 6211920"/>
              <a:gd name="connsiteX2883" fmla="*/ 823964 w 9635294"/>
              <a:gd name="connsiteY2883" fmla="*/ 2353068 h 6211920"/>
              <a:gd name="connsiteX2884" fmla="*/ 821858 w 9635294"/>
              <a:gd name="connsiteY2884" fmla="*/ 2356246 h 6211920"/>
              <a:gd name="connsiteX2885" fmla="*/ 821855 w 9635294"/>
              <a:gd name="connsiteY2885" fmla="*/ 2356244 h 6211920"/>
              <a:gd name="connsiteX2886" fmla="*/ 8810365 w 9635294"/>
              <a:gd name="connsiteY2886" fmla="*/ 2350504 h 6211920"/>
              <a:gd name="connsiteX2887" fmla="*/ 8812130 w 9635294"/>
              <a:gd name="connsiteY2887" fmla="*/ 2353154 h 6211920"/>
              <a:gd name="connsiteX2888" fmla="*/ 8791188 w 9635294"/>
              <a:gd name="connsiteY2888" fmla="*/ 2367090 h 6211920"/>
              <a:gd name="connsiteX2889" fmla="*/ 8794744 w 9635294"/>
              <a:gd name="connsiteY2889" fmla="*/ 2372373 h 6211920"/>
              <a:gd name="connsiteX2890" fmla="*/ 8815635 w 9635294"/>
              <a:gd name="connsiteY2890" fmla="*/ 2358434 h 6211920"/>
              <a:gd name="connsiteX2891" fmla="*/ 8814146 w 9635294"/>
              <a:gd name="connsiteY2891" fmla="*/ 2356178 h 6211920"/>
              <a:gd name="connsiteX2892" fmla="*/ 8817413 w 9635294"/>
              <a:gd name="connsiteY2892" fmla="*/ 2361082 h 6211920"/>
              <a:gd name="connsiteX2893" fmla="*/ 8796458 w 9635294"/>
              <a:gd name="connsiteY2893" fmla="*/ 2375008 h 6211920"/>
              <a:gd name="connsiteX2894" fmla="*/ 8789410 w 9635294"/>
              <a:gd name="connsiteY2894" fmla="*/ 2364448 h 6211920"/>
              <a:gd name="connsiteX2895" fmla="*/ 8810365 w 9635294"/>
              <a:gd name="connsiteY2895" fmla="*/ 2350504 h 6211920"/>
              <a:gd name="connsiteX2896" fmla="*/ 827120 w 9635294"/>
              <a:gd name="connsiteY2896" fmla="*/ 2348306 h 6211920"/>
              <a:gd name="connsiteX2897" fmla="*/ 848125 w 9635294"/>
              <a:gd name="connsiteY2897" fmla="*/ 2362283 h 6211920"/>
              <a:gd name="connsiteX2898" fmla="*/ 846366 w 9635294"/>
              <a:gd name="connsiteY2898" fmla="*/ 2364924 h 6211920"/>
              <a:gd name="connsiteX2899" fmla="*/ 825368 w 9635294"/>
              <a:gd name="connsiteY2899" fmla="*/ 2350954 h 6211920"/>
              <a:gd name="connsiteX2900" fmla="*/ 823964 w 9635294"/>
              <a:gd name="connsiteY2900" fmla="*/ 2353068 h 6211920"/>
              <a:gd name="connsiteX2901" fmla="*/ 8833119 w 9635294"/>
              <a:gd name="connsiteY2901" fmla="*/ 2339224 h 6211920"/>
              <a:gd name="connsiteX2902" fmla="*/ 8834876 w 9635294"/>
              <a:gd name="connsiteY2902" fmla="*/ 2341890 h 6211920"/>
              <a:gd name="connsiteX2903" fmla="*/ 8833098 w 9635294"/>
              <a:gd name="connsiteY2903" fmla="*/ 2339238 h 6211920"/>
              <a:gd name="connsiteX2904" fmla="*/ 8857660 w 9635294"/>
              <a:gd name="connsiteY2904" fmla="*/ 2330674 h 6211920"/>
              <a:gd name="connsiteX2905" fmla="*/ 8859387 w 9635294"/>
              <a:gd name="connsiteY2905" fmla="*/ 2333320 h 6211920"/>
              <a:gd name="connsiteX2906" fmla="*/ 8838369 w 9635294"/>
              <a:gd name="connsiteY2906" fmla="*/ 2347189 h 6211920"/>
              <a:gd name="connsiteX2907" fmla="*/ 8834876 w 9635294"/>
              <a:gd name="connsiteY2907" fmla="*/ 2341890 h 6211920"/>
              <a:gd name="connsiteX2908" fmla="*/ 8836654 w 9635294"/>
              <a:gd name="connsiteY2908" fmla="*/ 2344541 h 6211920"/>
              <a:gd name="connsiteX2909" fmla="*/ 8855660 w 9635294"/>
              <a:gd name="connsiteY2909" fmla="*/ 2327608 h 6211920"/>
              <a:gd name="connsiteX2910" fmla="*/ 8857672 w 9635294"/>
              <a:gd name="connsiteY2910" fmla="*/ 2330666 h 6211920"/>
              <a:gd name="connsiteX2911" fmla="*/ 8857660 w 9635294"/>
              <a:gd name="connsiteY2911" fmla="*/ 2330674 h 6211920"/>
              <a:gd name="connsiteX2912" fmla="*/ 783209 w 9635294"/>
              <a:gd name="connsiteY2912" fmla="*/ 2323116 h 6211920"/>
              <a:gd name="connsiteX2913" fmla="*/ 783213 w 9635294"/>
              <a:gd name="connsiteY2913" fmla="*/ 2323118 h 6211920"/>
              <a:gd name="connsiteX2914" fmla="*/ 780213 w 9635294"/>
              <a:gd name="connsiteY2914" fmla="*/ 2327680 h 6211920"/>
              <a:gd name="connsiteX2915" fmla="*/ 8852465 w 9635294"/>
              <a:gd name="connsiteY2915" fmla="*/ 2322710 h 6211920"/>
              <a:gd name="connsiteX2916" fmla="*/ 8855660 w 9635294"/>
              <a:gd name="connsiteY2916" fmla="*/ 2327608 h 6211920"/>
              <a:gd name="connsiteX2917" fmla="*/ 8854180 w 9635294"/>
              <a:gd name="connsiteY2917" fmla="*/ 2325357 h 6211920"/>
              <a:gd name="connsiteX2918" fmla="*/ 8833119 w 9635294"/>
              <a:gd name="connsiteY2918" fmla="*/ 2339224 h 6211920"/>
              <a:gd name="connsiteX2919" fmla="*/ 8831383 w 9635294"/>
              <a:gd name="connsiteY2919" fmla="*/ 2336590 h 6211920"/>
              <a:gd name="connsiteX2920" fmla="*/ 8852465 w 9635294"/>
              <a:gd name="connsiteY2920" fmla="*/ 2322710 h 6211920"/>
              <a:gd name="connsiteX2921" fmla="*/ 784955 w 9635294"/>
              <a:gd name="connsiteY2921" fmla="*/ 2320468 h 6211920"/>
              <a:gd name="connsiteX2922" fmla="*/ 806076 w 9635294"/>
              <a:gd name="connsiteY2922" fmla="*/ 2334374 h 6211920"/>
              <a:gd name="connsiteX2923" fmla="*/ 799078 w 9635294"/>
              <a:gd name="connsiteY2923" fmla="*/ 2344972 h 6211920"/>
              <a:gd name="connsiteX2924" fmla="*/ 777977 w 9635294"/>
              <a:gd name="connsiteY2924" fmla="*/ 2331079 h 6211920"/>
              <a:gd name="connsiteX2925" fmla="*/ 780213 w 9635294"/>
              <a:gd name="connsiteY2925" fmla="*/ 2327680 h 6211920"/>
              <a:gd name="connsiteX2926" fmla="*/ 779723 w 9635294"/>
              <a:gd name="connsiteY2926" fmla="*/ 2328425 h 6211920"/>
              <a:gd name="connsiteX2927" fmla="*/ 800824 w 9635294"/>
              <a:gd name="connsiteY2927" fmla="*/ 2342325 h 6211920"/>
              <a:gd name="connsiteX2928" fmla="*/ 804323 w 9635294"/>
              <a:gd name="connsiteY2928" fmla="*/ 2337022 h 6211920"/>
              <a:gd name="connsiteX2929" fmla="*/ 783213 w 9635294"/>
              <a:gd name="connsiteY2929" fmla="*/ 2323118 h 6211920"/>
              <a:gd name="connsiteX2930" fmla="*/ 8875222 w 9635294"/>
              <a:gd name="connsiteY2930" fmla="*/ 2311544 h 6211920"/>
              <a:gd name="connsiteX2931" fmla="*/ 8878712 w 9635294"/>
              <a:gd name="connsiteY2931" fmla="*/ 2316855 h 6211920"/>
              <a:gd name="connsiteX2932" fmla="*/ 8878691 w 9635294"/>
              <a:gd name="connsiteY2932" fmla="*/ 2316868 h 6211920"/>
              <a:gd name="connsiteX2933" fmla="*/ 8875198 w 9635294"/>
              <a:gd name="connsiteY2933" fmla="*/ 2311559 h 6211920"/>
              <a:gd name="connsiteX2934" fmla="*/ 762108 w 9635294"/>
              <a:gd name="connsiteY2934" fmla="*/ 2309292 h 6211920"/>
              <a:gd name="connsiteX2935" fmla="*/ 762108 w 9635294"/>
              <a:gd name="connsiteY2935" fmla="*/ 2309292 h 6211920"/>
              <a:gd name="connsiteX2936" fmla="*/ 758635 w 9635294"/>
              <a:gd name="connsiteY2936" fmla="*/ 2314607 h 6211920"/>
              <a:gd name="connsiteX2937" fmla="*/ 758633 w 9635294"/>
              <a:gd name="connsiteY2937" fmla="*/ 2314606 h 6211920"/>
              <a:gd name="connsiteX2938" fmla="*/ 8899762 w 9635294"/>
              <a:gd name="connsiteY2938" fmla="*/ 2303140 h 6211920"/>
              <a:gd name="connsiteX2939" fmla="*/ 8901487 w 9635294"/>
              <a:gd name="connsiteY2939" fmla="*/ 2305793 h 6211920"/>
              <a:gd name="connsiteX2940" fmla="*/ 8880469 w 9635294"/>
              <a:gd name="connsiteY2940" fmla="*/ 2319528 h 6211920"/>
              <a:gd name="connsiteX2941" fmla="*/ 8878712 w 9635294"/>
              <a:gd name="connsiteY2941" fmla="*/ 2316855 h 6211920"/>
              <a:gd name="connsiteX2942" fmla="*/ 8897980 w 9635294"/>
              <a:gd name="connsiteY2942" fmla="*/ 2300401 h 6211920"/>
              <a:gd name="connsiteX2943" fmla="*/ 8899773 w 9635294"/>
              <a:gd name="connsiteY2943" fmla="*/ 2303132 h 6211920"/>
              <a:gd name="connsiteX2944" fmla="*/ 8899762 w 9635294"/>
              <a:gd name="connsiteY2944" fmla="*/ 2303140 h 6211920"/>
              <a:gd name="connsiteX2945" fmla="*/ 8894566 w 9635294"/>
              <a:gd name="connsiteY2945" fmla="*/ 2295150 h 6211920"/>
              <a:gd name="connsiteX2946" fmla="*/ 8897980 w 9635294"/>
              <a:gd name="connsiteY2946" fmla="*/ 2300401 h 6211920"/>
              <a:gd name="connsiteX2947" fmla="*/ 8896281 w 9635294"/>
              <a:gd name="connsiteY2947" fmla="*/ 2297811 h 6211920"/>
              <a:gd name="connsiteX2948" fmla="*/ 8875222 w 9635294"/>
              <a:gd name="connsiteY2948" fmla="*/ 2311544 h 6211920"/>
              <a:gd name="connsiteX2949" fmla="*/ 8873484 w 9635294"/>
              <a:gd name="connsiteY2949" fmla="*/ 2308898 h 6211920"/>
              <a:gd name="connsiteX2950" fmla="*/ 8894566 w 9635294"/>
              <a:gd name="connsiteY2950" fmla="*/ 2295150 h 6211920"/>
              <a:gd name="connsiteX2951" fmla="*/ 742722 w 9635294"/>
              <a:gd name="connsiteY2951" fmla="*/ 2292858 h 6211920"/>
              <a:gd name="connsiteX2952" fmla="*/ 763848 w 9635294"/>
              <a:gd name="connsiteY2952" fmla="*/ 2306631 h 6211920"/>
              <a:gd name="connsiteX2953" fmla="*/ 762108 w 9635294"/>
              <a:gd name="connsiteY2953" fmla="*/ 2309292 h 6211920"/>
              <a:gd name="connsiteX2954" fmla="*/ 740994 w 9635294"/>
              <a:gd name="connsiteY2954" fmla="*/ 2295519 h 6211920"/>
              <a:gd name="connsiteX2955" fmla="*/ 737534 w 9635294"/>
              <a:gd name="connsiteY2955" fmla="*/ 2300847 h 6211920"/>
              <a:gd name="connsiteX2956" fmla="*/ 758633 w 9635294"/>
              <a:gd name="connsiteY2956" fmla="*/ 2314606 h 6211920"/>
              <a:gd name="connsiteX2957" fmla="*/ 756895 w 9635294"/>
              <a:gd name="connsiteY2957" fmla="*/ 2317261 h 6211920"/>
              <a:gd name="connsiteX2958" fmla="*/ 735800 w 9635294"/>
              <a:gd name="connsiteY2958" fmla="*/ 2303507 h 6211920"/>
              <a:gd name="connsiteX2959" fmla="*/ 8917438 w 9635294"/>
              <a:gd name="connsiteY2959" fmla="*/ 2284063 h 6211920"/>
              <a:gd name="connsiteX2960" fmla="*/ 8919058 w 9635294"/>
              <a:gd name="connsiteY2960" fmla="*/ 2286560 h 6211920"/>
              <a:gd name="connsiteX2961" fmla="*/ 8917426 w 9635294"/>
              <a:gd name="connsiteY2961" fmla="*/ 2284070 h 6211920"/>
              <a:gd name="connsiteX2962" fmla="*/ 719771 w 9635294"/>
              <a:gd name="connsiteY2962" fmla="*/ 2281751 h 6211920"/>
              <a:gd name="connsiteX2963" fmla="*/ 719773 w 9635294"/>
              <a:gd name="connsiteY2963" fmla="*/ 2281752 h 6211920"/>
              <a:gd name="connsiteX2964" fmla="*/ 718325 w 9635294"/>
              <a:gd name="connsiteY2964" fmla="*/ 2283988 h 6211920"/>
              <a:gd name="connsiteX2965" fmla="*/ 8942053 w 9635294"/>
              <a:gd name="connsiteY2965" fmla="*/ 2275753 h 6211920"/>
              <a:gd name="connsiteX2966" fmla="*/ 8943778 w 9635294"/>
              <a:gd name="connsiteY2966" fmla="*/ 2278412 h 6211920"/>
              <a:gd name="connsiteX2967" fmla="*/ 8922632 w 9635294"/>
              <a:gd name="connsiteY2967" fmla="*/ 2292064 h 6211920"/>
              <a:gd name="connsiteX2968" fmla="*/ 8919058 w 9635294"/>
              <a:gd name="connsiteY2968" fmla="*/ 2286560 h 6211920"/>
              <a:gd name="connsiteX2969" fmla="*/ 8920919 w 9635294"/>
              <a:gd name="connsiteY2969" fmla="*/ 2289397 h 6211920"/>
              <a:gd name="connsiteX2970" fmla="*/ 8938635 w 9635294"/>
              <a:gd name="connsiteY2970" fmla="*/ 2270405 h 6211920"/>
              <a:gd name="connsiteX2971" fmla="*/ 8942064 w 9635294"/>
              <a:gd name="connsiteY2971" fmla="*/ 2275745 h 6211920"/>
              <a:gd name="connsiteX2972" fmla="*/ 8942053 w 9635294"/>
              <a:gd name="connsiteY2972" fmla="*/ 2275753 h 6211920"/>
              <a:gd name="connsiteX2973" fmla="*/ 8938600 w 9635294"/>
              <a:gd name="connsiteY2973" fmla="*/ 2270428 h 6211920"/>
              <a:gd name="connsiteX2974" fmla="*/ 8936856 w 9635294"/>
              <a:gd name="connsiteY2974" fmla="*/ 2267738 h 6211920"/>
              <a:gd name="connsiteX2975" fmla="*/ 8938600 w 9635294"/>
              <a:gd name="connsiteY2975" fmla="*/ 2270428 h 6211920"/>
              <a:gd name="connsiteX2976" fmla="*/ 8917438 w 9635294"/>
              <a:gd name="connsiteY2976" fmla="*/ 2284063 h 6211920"/>
              <a:gd name="connsiteX2977" fmla="*/ 8915711 w 9635294"/>
              <a:gd name="connsiteY2977" fmla="*/ 2281403 h 6211920"/>
              <a:gd name="connsiteX2978" fmla="*/ 8936856 w 9635294"/>
              <a:gd name="connsiteY2978" fmla="*/ 2267738 h 6211920"/>
              <a:gd name="connsiteX2979" fmla="*/ 700278 w 9635294"/>
              <a:gd name="connsiteY2979" fmla="*/ 2265394 h 6211920"/>
              <a:gd name="connsiteX2980" fmla="*/ 721494 w 9635294"/>
              <a:gd name="connsiteY2980" fmla="*/ 2279085 h 6211920"/>
              <a:gd name="connsiteX2981" fmla="*/ 719771 w 9635294"/>
              <a:gd name="connsiteY2981" fmla="*/ 2281751 h 6211920"/>
              <a:gd name="connsiteX2982" fmla="*/ 698564 w 9635294"/>
              <a:gd name="connsiteY2982" fmla="*/ 2268068 h 6211920"/>
              <a:gd name="connsiteX2983" fmla="*/ 695128 w 9635294"/>
              <a:gd name="connsiteY2983" fmla="*/ 2273408 h 6211920"/>
              <a:gd name="connsiteX2984" fmla="*/ 716318 w 9635294"/>
              <a:gd name="connsiteY2984" fmla="*/ 2287086 h 6211920"/>
              <a:gd name="connsiteX2985" fmla="*/ 718325 w 9635294"/>
              <a:gd name="connsiteY2985" fmla="*/ 2283988 h 6211920"/>
              <a:gd name="connsiteX2986" fmla="*/ 714598 w 9635294"/>
              <a:gd name="connsiteY2986" fmla="*/ 2289753 h 6211920"/>
              <a:gd name="connsiteX2987" fmla="*/ 693408 w 9635294"/>
              <a:gd name="connsiteY2987" fmla="*/ 2276075 h 6211920"/>
              <a:gd name="connsiteX2988" fmla="*/ 8980989 w 9635294"/>
              <a:gd name="connsiteY2988" fmla="*/ 2243227 h 6211920"/>
              <a:gd name="connsiteX2989" fmla="*/ 8959717 w 9635294"/>
              <a:gd name="connsiteY2989" fmla="*/ 2256822 h 6211920"/>
              <a:gd name="connsiteX2990" fmla="*/ 8963146 w 9635294"/>
              <a:gd name="connsiteY2990" fmla="*/ 2262169 h 6211920"/>
              <a:gd name="connsiteX2991" fmla="*/ 8984419 w 9635294"/>
              <a:gd name="connsiteY2991" fmla="*/ 2248580 h 6211920"/>
              <a:gd name="connsiteX2992" fmla="*/ 656038 w 9635294"/>
              <a:gd name="connsiteY2992" fmla="*/ 2240839 h 6211920"/>
              <a:gd name="connsiteX2993" fmla="*/ 656040 w 9635294"/>
              <a:gd name="connsiteY2993" fmla="*/ 2240840 h 6211920"/>
              <a:gd name="connsiteX2994" fmla="*/ 652629 w 9635294"/>
              <a:gd name="connsiteY2994" fmla="*/ 2246198 h 6211920"/>
              <a:gd name="connsiteX2995" fmla="*/ 652628 w 9635294"/>
              <a:gd name="connsiteY2995" fmla="*/ 2246198 h 6211920"/>
              <a:gd name="connsiteX2996" fmla="*/ 8979338 w 9635294"/>
              <a:gd name="connsiteY2996" fmla="*/ 2240547 h 6211920"/>
              <a:gd name="connsiteX2997" fmla="*/ 8986132 w 9635294"/>
              <a:gd name="connsiteY2997" fmla="*/ 2251259 h 6211920"/>
              <a:gd name="connsiteX2998" fmla="*/ 8964860 w 9635294"/>
              <a:gd name="connsiteY2998" fmla="*/ 2264842 h 6211920"/>
              <a:gd name="connsiteX2999" fmla="*/ 8958002 w 9635294"/>
              <a:gd name="connsiteY2999" fmla="*/ 2254149 h 6211920"/>
              <a:gd name="connsiteX3000" fmla="*/ 8979338 w 9635294"/>
              <a:gd name="connsiteY3000" fmla="*/ 2240547 h 6211920"/>
              <a:gd name="connsiteX3001" fmla="*/ 657746 w 9635294"/>
              <a:gd name="connsiteY3001" fmla="*/ 2238159 h 6211920"/>
              <a:gd name="connsiteX3002" fmla="*/ 679082 w 9635294"/>
              <a:gd name="connsiteY3002" fmla="*/ 2251786 h 6211920"/>
              <a:gd name="connsiteX3003" fmla="*/ 672237 w 9635294"/>
              <a:gd name="connsiteY3003" fmla="*/ 2262480 h 6211920"/>
              <a:gd name="connsiteX3004" fmla="*/ 650926 w 9635294"/>
              <a:gd name="connsiteY3004" fmla="*/ 2248872 h 6211920"/>
              <a:gd name="connsiteX3005" fmla="*/ 652629 w 9635294"/>
              <a:gd name="connsiteY3005" fmla="*/ 2246198 h 6211920"/>
              <a:gd name="connsiteX3006" fmla="*/ 673945 w 9635294"/>
              <a:gd name="connsiteY3006" fmla="*/ 2259806 h 6211920"/>
              <a:gd name="connsiteX3007" fmla="*/ 677367 w 9635294"/>
              <a:gd name="connsiteY3007" fmla="*/ 2254460 h 6211920"/>
              <a:gd name="connsiteX3008" fmla="*/ 656040 w 9635294"/>
              <a:gd name="connsiteY3008" fmla="*/ 2240840 h 6211920"/>
              <a:gd name="connsiteX3009" fmla="*/ 9004339 w 9635294"/>
              <a:gd name="connsiteY3009" fmla="*/ 2232958 h 6211920"/>
              <a:gd name="connsiteX3010" fmla="*/ 9005692 w 9635294"/>
              <a:gd name="connsiteY3010" fmla="*/ 2235073 h 6211920"/>
              <a:gd name="connsiteX3011" fmla="*/ 9005691 w 9635294"/>
              <a:gd name="connsiteY3011" fmla="*/ 2235073 h 6211920"/>
              <a:gd name="connsiteX3012" fmla="*/ 9025278 w 9635294"/>
              <a:gd name="connsiteY3012" fmla="*/ 2219060 h 6211920"/>
              <a:gd name="connsiteX3013" fmla="*/ 9028614 w 9635294"/>
              <a:gd name="connsiteY3013" fmla="*/ 2224335 h 6211920"/>
              <a:gd name="connsiteX3014" fmla="*/ 9007406 w 9635294"/>
              <a:gd name="connsiteY3014" fmla="*/ 2237753 h 6211920"/>
              <a:gd name="connsiteX3015" fmla="*/ 9005692 w 9635294"/>
              <a:gd name="connsiteY3015" fmla="*/ 2235073 h 6211920"/>
              <a:gd name="connsiteX3016" fmla="*/ 9026900 w 9635294"/>
              <a:gd name="connsiteY3016" fmla="*/ 2221649 h 6211920"/>
              <a:gd name="connsiteX3017" fmla="*/ 9023534 w 9635294"/>
              <a:gd name="connsiteY3017" fmla="*/ 2216277 h 6211920"/>
              <a:gd name="connsiteX3018" fmla="*/ 9025278 w 9635294"/>
              <a:gd name="connsiteY3018" fmla="*/ 2219060 h 6211920"/>
              <a:gd name="connsiteX3019" fmla="*/ 9023522 w 9635294"/>
              <a:gd name="connsiteY3019" fmla="*/ 2216285 h 6211920"/>
              <a:gd name="connsiteX3020" fmla="*/ 613429 w 9635294"/>
              <a:gd name="connsiteY3020" fmla="*/ 2213845 h 6211920"/>
              <a:gd name="connsiteX3021" fmla="*/ 610045 w 9635294"/>
              <a:gd name="connsiteY3021" fmla="*/ 2219217 h 6211920"/>
              <a:gd name="connsiteX3022" fmla="*/ 631324 w 9635294"/>
              <a:gd name="connsiteY3022" fmla="*/ 2232667 h 6211920"/>
              <a:gd name="connsiteX3023" fmla="*/ 634721 w 9635294"/>
              <a:gd name="connsiteY3023" fmla="*/ 2227301 h 6211920"/>
              <a:gd name="connsiteX3024" fmla="*/ 613429 w 9635294"/>
              <a:gd name="connsiteY3024" fmla="*/ 2213845 h 6211920"/>
              <a:gd name="connsiteX3025" fmla="*/ 9021819 w 9635294"/>
              <a:gd name="connsiteY3025" fmla="*/ 2213591 h 6211920"/>
              <a:gd name="connsiteX3026" fmla="*/ 9023522 w 9635294"/>
              <a:gd name="connsiteY3026" fmla="*/ 2216285 h 6211920"/>
              <a:gd name="connsiteX3027" fmla="*/ 9002262 w 9635294"/>
              <a:gd name="connsiteY3027" fmla="*/ 2229707 h 6211920"/>
              <a:gd name="connsiteX3028" fmla="*/ 9004339 w 9635294"/>
              <a:gd name="connsiteY3028" fmla="*/ 2232958 h 6211920"/>
              <a:gd name="connsiteX3029" fmla="*/ 9000547 w 9635294"/>
              <a:gd name="connsiteY3029" fmla="*/ 2227028 h 6211920"/>
              <a:gd name="connsiteX3030" fmla="*/ 9021819 w 9635294"/>
              <a:gd name="connsiteY3030" fmla="*/ 2213591 h 6211920"/>
              <a:gd name="connsiteX3031" fmla="*/ 615118 w 9635294"/>
              <a:gd name="connsiteY3031" fmla="*/ 2211159 h 6211920"/>
              <a:gd name="connsiteX3032" fmla="*/ 636423 w 9635294"/>
              <a:gd name="connsiteY3032" fmla="*/ 2224621 h 6211920"/>
              <a:gd name="connsiteX3033" fmla="*/ 629628 w 9635294"/>
              <a:gd name="connsiteY3033" fmla="*/ 2235346 h 6211920"/>
              <a:gd name="connsiteX3034" fmla="*/ 608349 w 9635294"/>
              <a:gd name="connsiteY3034" fmla="*/ 2221903 h 6211920"/>
              <a:gd name="connsiteX3035" fmla="*/ 9044894 w 9635294"/>
              <a:gd name="connsiteY3035" fmla="*/ 2202833 h 6211920"/>
              <a:gd name="connsiteX3036" fmla="*/ 9048258 w 9635294"/>
              <a:gd name="connsiteY3036" fmla="*/ 2208212 h 6211920"/>
              <a:gd name="connsiteX3037" fmla="*/ 9048236 w 9635294"/>
              <a:gd name="connsiteY3037" fmla="*/ 2208225 h 6211920"/>
              <a:gd name="connsiteX3038" fmla="*/ 9044870 w 9635294"/>
              <a:gd name="connsiteY3038" fmla="*/ 2202847 h 6211920"/>
              <a:gd name="connsiteX3039" fmla="*/ 9069613 w 9635294"/>
              <a:gd name="connsiteY3039" fmla="*/ 2194885 h 6211920"/>
              <a:gd name="connsiteX3040" fmla="*/ 9071286 w 9635294"/>
              <a:gd name="connsiteY3040" fmla="*/ 2197564 h 6211920"/>
              <a:gd name="connsiteX3041" fmla="*/ 9049950 w 9635294"/>
              <a:gd name="connsiteY3041" fmla="*/ 2210918 h 6211920"/>
              <a:gd name="connsiteX3042" fmla="*/ 9048258 w 9635294"/>
              <a:gd name="connsiteY3042" fmla="*/ 2208212 h 6211920"/>
              <a:gd name="connsiteX3043" fmla="*/ 9066269 w 9635294"/>
              <a:gd name="connsiteY3043" fmla="*/ 2189480 h 6211920"/>
              <a:gd name="connsiteX3044" fmla="*/ 9069635 w 9635294"/>
              <a:gd name="connsiteY3044" fmla="*/ 2194871 h 6211920"/>
              <a:gd name="connsiteX3045" fmla="*/ 9069613 w 9635294"/>
              <a:gd name="connsiteY3045" fmla="*/ 2194885 h 6211920"/>
              <a:gd name="connsiteX3046" fmla="*/ 9066246 w 9635294"/>
              <a:gd name="connsiteY3046" fmla="*/ 2189495 h 6211920"/>
              <a:gd name="connsiteX3047" fmla="*/ 570586 w 9635294"/>
              <a:gd name="connsiteY3047" fmla="*/ 2187010 h 6211920"/>
              <a:gd name="connsiteX3048" fmla="*/ 570587 w 9635294"/>
              <a:gd name="connsiteY3048" fmla="*/ 2187011 h 6211920"/>
              <a:gd name="connsiteX3049" fmla="*/ 567230 w 9635294"/>
              <a:gd name="connsiteY3049" fmla="*/ 2192397 h 6211920"/>
              <a:gd name="connsiteX3050" fmla="*/ 567227 w 9635294"/>
              <a:gd name="connsiteY3050" fmla="*/ 2192395 h 6211920"/>
              <a:gd name="connsiteX3051" fmla="*/ 9064556 w 9635294"/>
              <a:gd name="connsiteY3051" fmla="*/ 2186788 h 6211920"/>
              <a:gd name="connsiteX3052" fmla="*/ 9066246 w 9635294"/>
              <a:gd name="connsiteY3052" fmla="*/ 2189495 h 6211920"/>
              <a:gd name="connsiteX3053" fmla="*/ 9044894 w 9635294"/>
              <a:gd name="connsiteY3053" fmla="*/ 2202833 h 6211920"/>
              <a:gd name="connsiteX3054" fmla="*/ 9043219 w 9635294"/>
              <a:gd name="connsiteY3054" fmla="*/ 2200154 h 6211920"/>
              <a:gd name="connsiteX3055" fmla="*/ 9064556 w 9635294"/>
              <a:gd name="connsiteY3055" fmla="*/ 2186788 h 6211920"/>
              <a:gd name="connsiteX3056" fmla="*/ 572269 w 9635294"/>
              <a:gd name="connsiteY3056" fmla="*/ 2184311 h 6211920"/>
              <a:gd name="connsiteX3057" fmla="*/ 593700 w 9635294"/>
              <a:gd name="connsiteY3057" fmla="*/ 2197703 h 6211920"/>
              <a:gd name="connsiteX3058" fmla="*/ 586956 w 9635294"/>
              <a:gd name="connsiteY3058" fmla="*/ 2208467 h 6211920"/>
              <a:gd name="connsiteX3059" fmla="*/ 565550 w 9635294"/>
              <a:gd name="connsiteY3059" fmla="*/ 2195093 h 6211920"/>
              <a:gd name="connsiteX3060" fmla="*/ 567230 w 9635294"/>
              <a:gd name="connsiteY3060" fmla="*/ 2192397 h 6211920"/>
              <a:gd name="connsiteX3061" fmla="*/ 588639 w 9635294"/>
              <a:gd name="connsiteY3061" fmla="*/ 2205774 h 6211920"/>
              <a:gd name="connsiteX3062" fmla="*/ 592011 w 9635294"/>
              <a:gd name="connsiteY3062" fmla="*/ 2200396 h 6211920"/>
              <a:gd name="connsiteX3063" fmla="*/ 570587 w 9635294"/>
              <a:gd name="connsiteY3063" fmla="*/ 2187011 h 6211920"/>
              <a:gd name="connsiteX3064" fmla="*/ 9089230 w 9635294"/>
              <a:gd name="connsiteY3064" fmla="*/ 2178861 h 6211920"/>
              <a:gd name="connsiteX3065" fmla="*/ 9090930 w 9635294"/>
              <a:gd name="connsiteY3065" fmla="*/ 2181586 h 6211920"/>
              <a:gd name="connsiteX3066" fmla="*/ 9090907 w 9635294"/>
              <a:gd name="connsiteY3066" fmla="*/ 2181600 h 6211920"/>
              <a:gd name="connsiteX3067" fmla="*/ 549185 w 9635294"/>
              <a:gd name="connsiteY3067" fmla="*/ 2173713 h 6211920"/>
              <a:gd name="connsiteX3068" fmla="*/ 549186 w 9635294"/>
              <a:gd name="connsiteY3068" fmla="*/ 2173713 h 6211920"/>
              <a:gd name="connsiteX3069" fmla="*/ 547164 w 9635294"/>
              <a:gd name="connsiteY3069" fmla="*/ 2176977 h 6211920"/>
              <a:gd name="connsiteX3070" fmla="*/ 9112361 w 9635294"/>
              <a:gd name="connsiteY3070" fmla="*/ 2168360 h 6211920"/>
              <a:gd name="connsiteX3071" fmla="*/ 9114022 w 9635294"/>
              <a:gd name="connsiteY3071" fmla="*/ 2171052 h 6211920"/>
              <a:gd name="connsiteX3072" fmla="*/ 9092622 w 9635294"/>
              <a:gd name="connsiteY3072" fmla="*/ 2184299 h 6211920"/>
              <a:gd name="connsiteX3073" fmla="*/ 9090930 w 9635294"/>
              <a:gd name="connsiteY3073" fmla="*/ 2181586 h 6211920"/>
              <a:gd name="connsiteX3074" fmla="*/ 524354 w 9635294"/>
              <a:gd name="connsiteY3074" fmla="*/ 2165841 h 6211920"/>
              <a:gd name="connsiteX3075" fmla="*/ 545840 w 9635294"/>
              <a:gd name="connsiteY3075" fmla="*/ 2179111 h 6211920"/>
              <a:gd name="connsiteX3076" fmla="*/ 547164 w 9635294"/>
              <a:gd name="connsiteY3076" fmla="*/ 2176977 h 6211920"/>
              <a:gd name="connsiteX3077" fmla="*/ 544170 w 9635294"/>
              <a:gd name="connsiteY3077" fmla="*/ 2181809 h 6211920"/>
              <a:gd name="connsiteX3078" fmla="*/ 522688 w 9635294"/>
              <a:gd name="connsiteY3078" fmla="*/ 2168544 h 6211920"/>
              <a:gd name="connsiteX3079" fmla="*/ 9110680 w 9635294"/>
              <a:gd name="connsiteY3079" fmla="*/ 2165635 h 6211920"/>
              <a:gd name="connsiteX3080" fmla="*/ 9112371 w 9635294"/>
              <a:gd name="connsiteY3080" fmla="*/ 2168354 h 6211920"/>
              <a:gd name="connsiteX3081" fmla="*/ 9112361 w 9635294"/>
              <a:gd name="connsiteY3081" fmla="*/ 2168360 h 6211920"/>
              <a:gd name="connsiteX3082" fmla="*/ 527685 w 9635294"/>
              <a:gd name="connsiteY3082" fmla="*/ 2160429 h 6211920"/>
              <a:gd name="connsiteX3083" fmla="*/ 527686 w 9635294"/>
              <a:gd name="connsiteY3083" fmla="*/ 2160430 h 6211920"/>
              <a:gd name="connsiteX3084" fmla="*/ 524354 w 9635294"/>
              <a:gd name="connsiteY3084" fmla="*/ 2165841 h 6211920"/>
              <a:gd name="connsiteX3085" fmla="*/ 524351 w 9635294"/>
              <a:gd name="connsiteY3085" fmla="*/ 2165839 h 6211920"/>
              <a:gd name="connsiteX3086" fmla="*/ 9107355 w 9635294"/>
              <a:gd name="connsiteY3086" fmla="*/ 2160245 h 6211920"/>
              <a:gd name="connsiteX3087" fmla="*/ 9110680 w 9635294"/>
              <a:gd name="connsiteY3087" fmla="*/ 2165635 h 6211920"/>
              <a:gd name="connsiteX3088" fmla="*/ 9109006 w 9635294"/>
              <a:gd name="connsiteY3088" fmla="*/ 2162943 h 6211920"/>
              <a:gd name="connsiteX3089" fmla="*/ 9087606 w 9635294"/>
              <a:gd name="connsiteY3089" fmla="*/ 2176209 h 6211920"/>
              <a:gd name="connsiteX3090" fmla="*/ 9089230 w 9635294"/>
              <a:gd name="connsiteY3090" fmla="*/ 2178861 h 6211920"/>
              <a:gd name="connsiteX3091" fmla="*/ 9085892 w 9635294"/>
              <a:gd name="connsiteY3091" fmla="*/ 2173510 h 6211920"/>
              <a:gd name="connsiteX3092" fmla="*/ 9107355 w 9635294"/>
              <a:gd name="connsiteY3092" fmla="*/ 2160245 h 6211920"/>
              <a:gd name="connsiteX3093" fmla="*/ 529349 w 9635294"/>
              <a:gd name="connsiteY3093" fmla="*/ 2157730 h 6211920"/>
              <a:gd name="connsiteX3094" fmla="*/ 550856 w 9635294"/>
              <a:gd name="connsiteY3094" fmla="*/ 2171014 h 6211920"/>
              <a:gd name="connsiteX3095" fmla="*/ 549185 w 9635294"/>
              <a:gd name="connsiteY3095" fmla="*/ 2173713 h 6211920"/>
              <a:gd name="connsiteX3096" fmla="*/ 527686 w 9635294"/>
              <a:gd name="connsiteY3096" fmla="*/ 2160430 h 6211920"/>
              <a:gd name="connsiteX3097" fmla="*/ 9131106 w 9635294"/>
              <a:gd name="connsiteY3097" fmla="*/ 2150685 h 6211920"/>
              <a:gd name="connsiteX3098" fmla="*/ 9133834 w 9635294"/>
              <a:gd name="connsiteY3098" fmla="*/ 2155158 h 6211920"/>
              <a:gd name="connsiteX3099" fmla="*/ 9133834 w 9635294"/>
              <a:gd name="connsiteY3099" fmla="*/ 2155158 h 6211920"/>
              <a:gd name="connsiteX3100" fmla="*/ 506145 w 9635294"/>
              <a:gd name="connsiteY3100" fmla="*/ 2147207 h 6211920"/>
              <a:gd name="connsiteX3101" fmla="*/ 506146 w 9635294"/>
              <a:gd name="connsiteY3101" fmla="*/ 2147208 h 6211920"/>
              <a:gd name="connsiteX3102" fmla="*/ 504739 w 9635294"/>
              <a:gd name="connsiteY3102" fmla="*/ 2149505 h 6211920"/>
              <a:gd name="connsiteX3103" fmla="*/ 481333 w 9635294"/>
              <a:gd name="connsiteY3103" fmla="*/ 2139495 h 6211920"/>
              <a:gd name="connsiteX3104" fmla="*/ 502831 w 9635294"/>
              <a:gd name="connsiteY3104" fmla="*/ 2152618 h 6211920"/>
              <a:gd name="connsiteX3105" fmla="*/ 504739 w 9635294"/>
              <a:gd name="connsiteY3105" fmla="*/ 2149505 h 6211920"/>
              <a:gd name="connsiteX3106" fmla="*/ 501174 w 9635294"/>
              <a:gd name="connsiteY3106" fmla="*/ 2155330 h 6211920"/>
              <a:gd name="connsiteX3107" fmla="*/ 479679 w 9635294"/>
              <a:gd name="connsiteY3107" fmla="*/ 2142211 h 6211920"/>
              <a:gd name="connsiteX3108" fmla="*/ 484632 w 9635294"/>
              <a:gd name="connsiteY3108" fmla="*/ 2134070 h 6211920"/>
              <a:gd name="connsiteX3109" fmla="*/ 484633 w 9635294"/>
              <a:gd name="connsiteY3109" fmla="*/ 2134071 h 6211920"/>
              <a:gd name="connsiteX3110" fmla="*/ 481333 w 9635294"/>
              <a:gd name="connsiteY3110" fmla="*/ 2139495 h 6211920"/>
              <a:gd name="connsiteX3111" fmla="*/ 481330 w 9635294"/>
              <a:gd name="connsiteY3111" fmla="*/ 2139493 h 6211920"/>
              <a:gd name="connsiteX3112" fmla="*/ 9150344 w 9635294"/>
              <a:gd name="connsiteY3112" fmla="*/ 2133918 h 6211920"/>
              <a:gd name="connsiteX3113" fmla="*/ 9156948 w 9635294"/>
              <a:gd name="connsiteY3113" fmla="*/ 2144763 h 6211920"/>
              <a:gd name="connsiteX3114" fmla="*/ 9135485 w 9635294"/>
              <a:gd name="connsiteY3114" fmla="*/ 2157864 h 6211920"/>
              <a:gd name="connsiteX3115" fmla="*/ 9133834 w 9635294"/>
              <a:gd name="connsiteY3115" fmla="*/ 2155158 h 6211920"/>
              <a:gd name="connsiteX3116" fmla="*/ 9155297 w 9635294"/>
              <a:gd name="connsiteY3116" fmla="*/ 2142052 h 6211920"/>
              <a:gd name="connsiteX3117" fmla="*/ 9151994 w 9635294"/>
              <a:gd name="connsiteY3117" fmla="*/ 2136629 h 6211920"/>
              <a:gd name="connsiteX3118" fmla="*/ 9130531 w 9635294"/>
              <a:gd name="connsiteY3118" fmla="*/ 2149742 h 6211920"/>
              <a:gd name="connsiteX3119" fmla="*/ 9131106 w 9635294"/>
              <a:gd name="connsiteY3119" fmla="*/ 2150685 h 6211920"/>
              <a:gd name="connsiteX3120" fmla="*/ 9128881 w 9635294"/>
              <a:gd name="connsiteY3120" fmla="*/ 2147037 h 6211920"/>
              <a:gd name="connsiteX3121" fmla="*/ 9150344 w 9635294"/>
              <a:gd name="connsiteY3121" fmla="*/ 2133918 h 6211920"/>
              <a:gd name="connsiteX3122" fmla="*/ 486283 w 9635294"/>
              <a:gd name="connsiteY3122" fmla="*/ 2131359 h 6211920"/>
              <a:gd name="connsiteX3123" fmla="*/ 507803 w 9635294"/>
              <a:gd name="connsiteY3123" fmla="*/ 2144497 h 6211920"/>
              <a:gd name="connsiteX3124" fmla="*/ 506145 w 9635294"/>
              <a:gd name="connsiteY3124" fmla="*/ 2147207 h 6211920"/>
              <a:gd name="connsiteX3125" fmla="*/ 484633 w 9635294"/>
              <a:gd name="connsiteY3125" fmla="*/ 2134071 h 6211920"/>
              <a:gd name="connsiteX3126" fmla="*/ 461249 w 9635294"/>
              <a:gd name="connsiteY3126" fmla="*/ 2123940 h 6211920"/>
              <a:gd name="connsiteX3127" fmla="*/ 459759 w 9635294"/>
              <a:gd name="connsiteY3127" fmla="*/ 2126406 h 6211920"/>
              <a:gd name="connsiteX3128" fmla="*/ 459758 w 9635294"/>
              <a:gd name="connsiteY3128" fmla="*/ 2126406 h 6211920"/>
              <a:gd name="connsiteX3129" fmla="*/ 9195111 w 9635294"/>
              <a:gd name="connsiteY3129" fmla="*/ 2110505 h 6211920"/>
              <a:gd name="connsiteX3130" fmla="*/ 9196724 w 9635294"/>
              <a:gd name="connsiteY3130" fmla="*/ 2113215 h 6211920"/>
              <a:gd name="connsiteX3131" fmla="*/ 9195099 w 9635294"/>
              <a:gd name="connsiteY3131" fmla="*/ 2110513 h 6211920"/>
              <a:gd name="connsiteX3132" fmla="*/ 9193460 w 9635294"/>
              <a:gd name="connsiteY3132" fmla="*/ 2107787 h 6211920"/>
              <a:gd name="connsiteX3133" fmla="*/ 9195099 w 9635294"/>
              <a:gd name="connsiteY3133" fmla="*/ 2110513 h 6211920"/>
              <a:gd name="connsiteX3134" fmla="*/ 9173521 w 9635294"/>
              <a:gd name="connsiteY3134" fmla="*/ 2123548 h 6211920"/>
              <a:gd name="connsiteX3135" fmla="*/ 9176823 w 9635294"/>
              <a:gd name="connsiteY3135" fmla="*/ 2128977 h 6211920"/>
              <a:gd name="connsiteX3136" fmla="*/ 9198350 w 9635294"/>
              <a:gd name="connsiteY3136" fmla="*/ 2115947 h 6211920"/>
              <a:gd name="connsiteX3137" fmla="*/ 9196724 w 9635294"/>
              <a:gd name="connsiteY3137" fmla="*/ 2113215 h 6211920"/>
              <a:gd name="connsiteX3138" fmla="*/ 9200001 w 9635294"/>
              <a:gd name="connsiteY3138" fmla="*/ 2118665 h 6211920"/>
              <a:gd name="connsiteX3139" fmla="*/ 9178411 w 9635294"/>
              <a:gd name="connsiteY3139" fmla="*/ 2131695 h 6211920"/>
              <a:gd name="connsiteX3140" fmla="*/ 9171870 w 9635294"/>
              <a:gd name="connsiteY3140" fmla="*/ 2120830 h 6211920"/>
              <a:gd name="connsiteX3141" fmla="*/ 9193460 w 9635294"/>
              <a:gd name="connsiteY3141" fmla="*/ 2107787 h 6211920"/>
              <a:gd name="connsiteX3142" fmla="*/ 443033 w 9635294"/>
              <a:gd name="connsiteY3142" fmla="*/ 2105190 h 6211920"/>
              <a:gd name="connsiteX3143" fmla="*/ 464687 w 9635294"/>
              <a:gd name="connsiteY3143" fmla="*/ 2118252 h 6211920"/>
              <a:gd name="connsiteX3144" fmla="*/ 461249 w 9635294"/>
              <a:gd name="connsiteY3144" fmla="*/ 2123940 h 6211920"/>
              <a:gd name="connsiteX3145" fmla="*/ 463042 w 9635294"/>
              <a:gd name="connsiteY3145" fmla="*/ 2120970 h 6211920"/>
              <a:gd name="connsiteX3146" fmla="*/ 441395 w 9635294"/>
              <a:gd name="connsiteY3146" fmla="*/ 2107914 h 6211920"/>
              <a:gd name="connsiteX3147" fmla="*/ 438125 w 9635294"/>
              <a:gd name="connsiteY3147" fmla="*/ 2113356 h 6211920"/>
              <a:gd name="connsiteX3148" fmla="*/ 459758 w 9635294"/>
              <a:gd name="connsiteY3148" fmla="*/ 2126406 h 6211920"/>
              <a:gd name="connsiteX3149" fmla="*/ 458115 w 9635294"/>
              <a:gd name="connsiteY3149" fmla="*/ 2129123 h 6211920"/>
              <a:gd name="connsiteX3150" fmla="*/ 436487 w 9635294"/>
              <a:gd name="connsiteY3150" fmla="*/ 2116074 h 6211920"/>
              <a:gd name="connsiteX3151" fmla="*/ 9216661 w 9635294"/>
              <a:gd name="connsiteY3151" fmla="*/ 2097551 h 6211920"/>
              <a:gd name="connsiteX3152" fmla="*/ 9218259 w 9635294"/>
              <a:gd name="connsiteY3152" fmla="*/ 2100239 h 6211920"/>
              <a:gd name="connsiteX3153" fmla="*/ 9216638 w 9635294"/>
              <a:gd name="connsiteY3153" fmla="*/ 2097564 h 6211920"/>
              <a:gd name="connsiteX3154" fmla="*/ 419772 w 9635294"/>
              <a:gd name="connsiteY3154" fmla="*/ 2094948 h 6211920"/>
              <a:gd name="connsiteX3155" fmla="*/ 419773 w 9635294"/>
              <a:gd name="connsiteY3155" fmla="*/ 2094948 h 6211920"/>
              <a:gd name="connsiteX3156" fmla="*/ 416516 w 9635294"/>
              <a:gd name="connsiteY3156" fmla="*/ 2100402 h 6211920"/>
              <a:gd name="connsiteX3157" fmla="*/ 416513 w 9635294"/>
              <a:gd name="connsiteY3157" fmla="*/ 2100401 h 6211920"/>
              <a:gd name="connsiteX3158" fmla="*/ 9239955 w 9635294"/>
              <a:gd name="connsiteY3158" fmla="*/ 2087470 h 6211920"/>
              <a:gd name="connsiteX3159" fmla="*/ 9243181 w 9635294"/>
              <a:gd name="connsiteY3159" fmla="*/ 2092852 h 6211920"/>
              <a:gd name="connsiteX3160" fmla="*/ 9221527 w 9635294"/>
              <a:gd name="connsiteY3160" fmla="*/ 2105736 h 6211920"/>
              <a:gd name="connsiteX3161" fmla="*/ 9218259 w 9635294"/>
              <a:gd name="connsiteY3161" fmla="*/ 2100239 h 6211920"/>
              <a:gd name="connsiteX3162" fmla="*/ 9219940 w 9635294"/>
              <a:gd name="connsiteY3162" fmla="*/ 2103012 h 6211920"/>
              <a:gd name="connsiteX3163" fmla="*/ 9241530 w 9635294"/>
              <a:gd name="connsiteY3163" fmla="*/ 2090122 h 6211920"/>
              <a:gd name="connsiteX3164" fmla="*/ 9238292 w 9635294"/>
              <a:gd name="connsiteY3164" fmla="*/ 2084667 h 6211920"/>
              <a:gd name="connsiteX3165" fmla="*/ 9239955 w 9635294"/>
              <a:gd name="connsiteY3165" fmla="*/ 2087470 h 6211920"/>
              <a:gd name="connsiteX3166" fmla="*/ 9238280 w 9635294"/>
              <a:gd name="connsiteY3166" fmla="*/ 2084674 h 6211920"/>
              <a:gd name="connsiteX3167" fmla="*/ 396594 w 9635294"/>
              <a:gd name="connsiteY3167" fmla="*/ 2084553 h 6211920"/>
              <a:gd name="connsiteX3168" fmla="*/ 394850 w 9635294"/>
              <a:gd name="connsiteY3168" fmla="*/ 2087493 h 6211920"/>
              <a:gd name="connsiteX3169" fmla="*/ 416513 w 9635294"/>
              <a:gd name="connsiteY3169" fmla="*/ 2100401 h 6211920"/>
              <a:gd name="connsiteX3170" fmla="*/ 414884 w 9635294"/>
              <a:gd name="connsiteY3170" fmla="*/ 2103126 h 6211920"/>
              <a:gd name="connsiteX3171" fmla="*/ 393224 w 9635294"/>
              <a:gd name="connsiteY3171" fmla="*/ 2090223 h 6211920"/>
              <a:gd name="connsiteX3172" fmla="*/ 398088 w 9635294"/>
              <a:gd name="connsiteY3172" fmla="*/ 2082032 h 6211920"/>
              <a:gd name="connsiteX3173" fmla="*/ 398091 w 9635294"/>
              <a:gd name="connsiteY3173" fmla="*/ 2082034 h 6211920"/>
              <a:gd name="connsiteX3174" fmla="*/ 396594 w 9635294"/>
              <a:gd name="connsiteY3174" fmla="*/ 2084553 h 6211920"/>
              <a:gd name="connsiteX3175" fmla="*/ 9236640 w 9635294"/>
              <a:gd name="connsiteY3175" fmla="*/ 2081937 h 6211920"/>
              <a:gd name="connsiteX3176" fmla="*/ 9238280 w 9635294"/>
              <a:gd name="connsiteY3176" fmla="*/ 2084674 h 6211920"/>
              <a:gd name="connsiteX3177" fmla="*/ 9216661 w 9635294"/>
              <a:gd name="connsiteY3177" fmla="*/ 2097551 h 6211920"/>
              <a:gd name="connsiteX3178" fmla="*/ 9215050 w 9635294"/>
              <a:gd name="connsiteY3178" fmla="*/ 2094840 h 6211920"/>
              <a:gd name="connsiteX3179" fmla="*/ 9236640 w 9635294"/>
              <a:gd name="connsiteY3179" fmla="*/ 2081937 h 6211920"/>
              <a:gd name="connsiteX3180" fmla="*/ 399714 w 9635294"/>
              <a:gd name="connsiteY3180" fmla="*/ 2079301 h 6211920"/>
              <a:gd name="connsiteX3181" fmla="*/ 421399 w 9635294"/>
              <a:gd name="connsiteY3181" fmla="*/ 2092224 h 6211920"/>
              <a:gd name="connsiteX3182" fmla="*/ 419772 w 9635294"/>
              <a:gd name="connsiteY3182" fmla="*/ 2094948 h 6211920"/>
              <a:gd name="connsiteX3183" fmla="*/ 398091 w 9635294"/>
              <a:gd name="connsiteY3183" fmla="*/ 2082034 h 6211920"/>
              <a:gd name="connsiteX3184" fmla="*/ 9283123 w 9635294"/>
              <a:gd name="connsiteY3184" fmla="*/ 2061503 h 6211920"/>
              <a:gd name="connsiteX3185" fmla="*/ 9284900 w 9635294"/>
              <a:gd name="connsiteY3185" fmla="*/ 2064506 h 6211920"/>
              <a:gd name="connsiteX3186" fmla="*/ 9284887 w 9635294"/>
              <a:gd name="connsiteY3186" fmla="*/ 2064514 h 6211920"/>
              <a:gd name="connsiteX3187" fmla="*/ 354591 w 9635294"/>
              <a:gd name="connsiteY3187" fmla="*/ 2056365 h 6211920"/>
              <a:gd name="connsiteX3188" fmla="*/ 354591 w 9635294"/>
              <a:gd name="connsiteY3188" fmla="*/ 2056366 h 6211920"/>
              <a:gd name="connsiteX3189" fmla="*/ 353733 w 9635294"/>
              <a:gd name="connsiteY3189" fmla="*/ 2057829 h 6211920"/>
              <a:gd name="connsiteX3190" fmla="*/ 9280074 w 9635294"/>
              <a:gd name="connsiteY3190" fmla="*/ 2056295 h 6211920"/>
              <a:gd name="connsiteX3191" fmla="*/ 9283123 w 9635294"/>
              <a:gd name="connsiteY3191" fmla="*/ 2061503 h 6211920"/>
              <a:gd name="connsiteX3192" fmla="*/ 9281662 w 9635294"/>
              <a:gd name="connsiteY3192" fmla="*/ 2059032 h 6211920"/>
              <a:gd name="connsiteX3193" fmla="*/ 9260008 w 9635294"/>
              <a:gd name="connsiteY3193" fmla="*/ 2071796 h 6211920"/>
              <a:gd name="connsiteX3194" fmla="*/ 9263247 w 9635294"/>
              <a:gd name="connsiteY3194" fmla="*/ 2077263 h 6211920"/>
              <a:gd name="connsiteX3195" fmla="*/ 9284887 w 9635294"/>
              <a:gd name="connsiteY3195" fmla="*/ 2064514 h 6211920"/>
              <a:gd name="connsiteX3196" fmla="*/ 9286488 w 9635294"/>
              <a:gd name="connsiteY3196" fmla="*/ 2067249 h 6211920"/>
              <a:gd name="connsiteX3197" fmla="*/ 9264834 w 9635294"/>
              <a:gd name="connsiteY3197" fmla="*/ 2080000 h 6211920"/>
              <a:gd name="connsiteX3198" fmla="*/ 9258357 w 9635294"/>
              <a:gd name="connsiteY3198" fmla="*/ 2069065 h 6211920"/>
              <a:gd name="connsiteX3199" fmla="*/ 9280074 w 9635294"/>
              <a:gd name="connsiteY3199" fmla="*/ 2056295 h 6211920"/>
              <a:gd name="connsiteX3200" fmla="*/ 356197 w 9635294"/>
              <a:gd name="connsiteY3200" fmla="*/ 2053628 h 6211920"/>
              <a:gd name="connsiteX3201" fmla="*/ 377940 w 9635294"/>
              <a:gd name="connsiteY3201" fmla="*/ 2066411 h 6211920"/>
              <a:gd name="connsiteX3202" fmla="*/ 371482 w 9635294"/>
              <a:gd name="connsiteY3202" fmla="*/ 2077352 h 6211920"/>
              <a:gd name="connsiteX3203" fmla="*/ 349771 w 9635294"/>
              <a:gd name="connsiteY3203" fmla="*/ 2064582 h 6211920"/>
              <a:gd name="connsiteX3204" fmla="*/ 353733 w 9635294"/>
              <a:gd name="connsiteY3204" fmla="*/ 2057829 h 6211920"/>
              <a:gd name="connsiteX3205" fmla="*/ 351377 w 9635294"/>
              <a:gd name="connsiteY3205" fmla="*/ 2061845 h 6211920"/>
              <a:gd name="connsiteX3206" fmla="*/ 373095 w 9635294"/>
              <a:gd name="connsiteY3206" fmla="*/ 2074615 h 6211920"/>
              <a:gd name="connsiteX3207" fmla="*/ 376320 w 9635294"/>
              <a:gd name="connsiteY3207" fmla="*/ 2069148 h 6211920"/>
              <a:gd name="connsiteX3208" fmla="*/ 354591 w 9635294"/>
              <a:gd name="connsiteY3208" fmla="*/ 2056366 h 6211920"/>
              <a:gd name="connsiteX3209" fmla="*/ 9303391 w 9635294"/>
              <a:gd name="connsiteY3209" fmla="*/ 2046312 h 6211920"/>
              <a:gd name="connsiteX3210" fmla="*/ 9304992 w 9635294"/>
              <a:gd name="connsiteY3210" fmla="*/ 2049051 h 6211920"/>
              <a:gd name="connsiteX3211" fmla="*/ 9303379 w 9635294"/>
              <a:gd name="connsiteY3211" fmla="*/ 2046319 h 6211920"/>
              <a:gd name="connsiteX3212" fmla="*/ 332808 w 9635294"/>
              <a:gd name="connsiteY3212" fmla="*/ 2043639 h 6211920"/>
              <a:gd name="connsiteX3213" fmla="*/ 332810 w 9635294"/>
              <a:gd name="connsiteY3213" fmla="*/ 2043640 h 6211920"/>
              <a:gd name="connsiteX3214" fmla="*/ 331035 w 9635294"/>
              <a:gd name="connsiteY3214" fmla="*/ 2046684 h 6211920"/>
              <a:gd name="connsiteX3215" fmla="*/ 9328397 w 9635294"/>
              <a:gd name="connsiteY3215" fmla="*/ 2039132 h 6211920"/>
              <a:gd name="connsiteX3216" fmla="*/ 9329985 w 9635294"/>
              <a:gd name="connsiteY3216" fmla="*/ 2041881 h 6211920"/>
              <a:gd name="connsiteX3217" fmla="*/ 9308205 w 9635294"/>
              <a:gd name="connsiteY3217" fmla="*/ 2054549 h 6211920"/>
              <a:gd name="connsiteX3218" fmla="*/ 9304992 w 9635294"/>
              <a:gd name="connsiteY3218" fmla="*/ 2049051 h 6211920"/>
              <a:gd name="connsiteX3219" fmla="*/ 9306618 w 9635294"/>
              <a:gd name="connsiteY3219" fmla="*/ 2051806 h 6211920"/>
              <a:gd name="connsiteX3220" fmla="*/ 307749 w 9635294"/>
              <a:gd name="connsiteY3220" fmla="*/ 2036433 h 6211920"/>
              <a:gd name="connsiteX3221" fmla="*/ 329610 w 9635294"/>
              <a:gd name="connsiteY3221" fmla="*/ 2049126 h 6211920"/>
              <a:gd name="connsiteX3222" fmla="*/ 331035 w 9635294"/>
              <a:gd name="connsiteY3222" fmla="*/ 2046684 h 6211920"/>
              <a:gd name="connsiteX3223" fmla="*/ 328016 w 9635294"/>
              <a:gd name="connsiteY3223" fmla="*/ 2051869 h 6211920"/>
              <a:gd name="connsiteX3224" fmla="*/ 306159 w 9635294"/>
              <a:gd name="connsiteY3224" fmla="*/ 2039182 h 6211920"/>
              <a:gd name="connsiteX3225" fmla="*/ 9325223 w 9635294"/>
              <a:gd name="connsiteY3225" fmla="*/ 2033638 h 6211920"/>
              <a:gd name="connsiteX3226" fmla="*/ 9328398 w 9635294"/>
              <a:gd name="connsiteY3226" fmla="*/ 2039131 h 6211920"/>
              <a:gd name="connsiteX3227" fmla="*/ 9328397 w 9635294"/>
              <a:gd name="connsiteY3227" fmla="*/ 2039132 h 6211920"/>
              <a:gd name="connsiteX3228" fmla="*/ 9325223 w 9635294"/>
              <a:gd name="connsiteY3228" fmla="*/ 2033638 h 6211920"/>
              <a:gd name="connsiteX3229" fmla="*/ 310928 w 9635294"/>
              <a:gd name="connsiteY3229" fmla="*/ 2030933 h 6211920"/>
              <a:gd name="connsiteX3230" fmla="*/ 310930 w 9635294"/>
              <a:gd name="connsiteY3230" fmla="*/ 2030934 h 6211920"/>
              <a:gd name="connsiteX3231" fmla="*/ 307749 w 9635294"/>
              <a:gd name="connsiteY3231" fmla="*/ 2036433 h 6211920"/>
              <a:gd name="connsiteX3232" fmla="*/ 307747 w 9635294"/>
              <a:gd name="connsiteY3232" fmla="*/ 2036432 h 6211920"/>
              <a:gd name="connsiteX3233" fmla="*/ 9323635 w 9635294"/>
              <a:gd name="connsiteY3233" fmla="*/ 2030889 h 6211920"/>
              <a:gd name="connsiteX3234" fmla="*/ 9325223 w 9635294"/>
              <a:gd name="connsiteY3234" fmla="*/ 2033638 h 6211920"/>
              <a:gd name="connsiteX3235" fmla="*/ 9303391 w 9635294"/>
              <a:gd name="connsiteY3235" fmla="*/ 2046312 h 6211920"/>
              <a:gd name="connsiteX3236" fmla="*/ 9301792 w 9635294"/>
              <a:gd name="connsiteY3236" fmla="*/ 2043576 h 6211920"/>
              <a:gd name="connsiteX3237" fmla="*/ 9323635 w 9635294"/>
              <a:gd name="connsiteY3237" fmla="*/ 2030889 h 6211920"/>
              <a:gd name="connsiteX3238" fmla="*/ 312516 w 9635294"/>
              <a:gd name="connsiteY3238" fmla="*/ 2028190 h 6211920"/>
              <a:gd name="connsiteX3239" fmla="*/ 334404 w 9635294"/>
              <a:gd name="connsiteY3239" fmla="*/ 2040896 h 6211920"/>
              <a:gd name="connsiteX3240" fmla="*/ 332808 w 9635294"/>
              <a:gd name="connsiteY3240" fmla="*/ 2043639 h 6211920"/>
              <a:gd name="connsiteX3241" fmla="*/ 310930 w 9635294"/>
              <a:gd name="connsiteY3241" fmla="*/ 2030934 h 6211920"/>
              <a:gd name="connsiteX3242" fmla="*/ 9347005 w 9635294"/>
              <a:gd name="connsiteY3242" fmla="*/ 2021058 h 6211920"/>
              <a:gd name="connsiteX3243" fmla="*/ 9350180 w 9635294"/>
              <a:gd name="connsiteY3243" fmla="*/ 2026564 h 6211920"/>
              <a:gd name="connsiteX3244" fmla="*/ 9350178 w 9635294"/>
              <a:gd name="connsiteY3244" fmla="*/ 2026565 h 6211920"/>
              <a:gd name="connsiteX3245" fmla="*/ 9347003 w 9635294"/>
              <a:gd name="connsiteY3245" fmla="*/ 2021059 h 6211920"/>
              <a:gd name="connsiteX3246" fmla="*/ 289077 w 9635294"/>
              <a:gd name="connsiteY3246" fmla="*/ 2018341 h 6211920"/>
              <a:gd name="connsiteX3247" fmla="*/ 289078 w 9635294"/>
              <a:gd name="connsiteY3247" fmla="*/ 2018341 h 6211920"/>
              <a:gd name="connsiteX3248" fmla="*/ 287305 w 9635294"/>
              <a:gd name="connsiteY3248" fmla="*/ 2021428 h 6211920"/>
              <a:gd name="connsiteX3249" fmla="*/ 9370403 w 9635294"/>
              <a:gd name="connsiteY3249" fmla="*/ 2011299 h 6211920"/>
              <a:gd name="connsiteX3250" fmla="*/ 9373546 w 9635294"/>
              <a:gd name="connsiteY3250" fmla="*/ 2016811 h 6211920"/>
              <a:gd name="connsiteX3251" fmla="*/ 9351766 w 9635294"/>
              <a:gd name="connsiteY3251" fmla="*/ 2029314 h 6211920"/>
              <a:gd name="connsiteX3252" fmla="*/ 9350180 w 9635294"/>
              <a:gd name="connsiteY3252" fmla="*/ 2026564 h 6211920"/>
              <a:gd name="connsiteX3253" fmla="*/ 9371959 w 9635294"/>
              <a:gd name="connsiteY3253" fmla="*/ 2014055 h 6211920"/>
              <a:gd name="connsiteX3254" fmla="*/ 9368847 w 9635294"/>
              <a:gd name="connsiteY3254" fmla="*/ 2008543 h 6211920"/>
              <a:gd name="connsiteX3255" fmla="*/ 9370403 w 9635294"/>
              <a:gd name="connsiteY3255" fmla="*/ 2011299 h 6211920"/>
              <a:gd name="connsiteX3256" fmla="*/ 9368835 w 9635294"/>
              <a:gd name="connsiteY3256" fmla="*/ 2008550 h 6211920"/>
              <a:gd name="connsiteX3257" fmla="*/ 9367260 w 9635294"/>
              <a:gd name="connsiteY3257" fmla="*/ 2005787 h 6211920"/>
              <a:gd name="connsiteX3258" fmla="*/ 9368835 w 9635294"/>
              <a:gd name="connsiteY3258" fmla="*/ 2008550 h 6211920"/>
              <a:gd name="connsiteX3259" fmla="*/ 9347005 w 9635294"/>
              <a:gd name="connsiteY3259" fmla="*/ 2021058 h 6211920"/>
              <a:gd name="connsiteX3260" fmla="*/ 9345416 w 9635294"/>
              <a:gd name="connsiteY3260" fmla="*/ 2018303 h 6211920"/>
              <a:gd name="connsiteX3261" fmla="*/ 9367260 w 9635294"/>
              <a:gd name="connsiteY3261" fmla="*/ 2005787 h 6211920"/>
              <a:gd name="connsiteX3262" fmla="*/ 268764 w 9635294"/>
              <a:gd name="connsiteY3262" fmla="*/ 2003050 h 6211920"/>
              <a:gd name="connsiteX3263" fmla="*/ 290659 w 9635294"/>
              <a:gd name="connsiteY3263" fmla="*/ 2015585 h 6211920"/>
              <a:gd name="connsiteX3264" fmla="*/ 289077 w 9635294"/>
              <a:gd name="connsiteY3264" fmla="*/ 2018341 h 6211920"/>
              <a:gd name="connsiteX3265" fmla="*/ 267196 w 9635294"/>
              <a:gd name="connsiteY3265" fmla="*/ 2005813 h 6211920"/>
              <a:gd name="connsiteX3266" fmla="*/ 264046 w 9635294"/>
              <a:gd name="connsiteY3266" fmla="*/ 2011324 h 6211920"/>
              <a:gd name="connsiteX3267" fmla="*/ 285915 w 9635294"/>
              <a:gd name="connsiteY3267" fmla="*/ 2023847 h 6211920"/>
              <a:gd name="connsiteX3268" fmla="*/ 287305 w 9635294"/>
              <a:gd name="connsiteY3268" fmla="*/ 2021428 h 6211920"/>
              <a:gd name="connsiteX3269" fmla="*/ 284334 w 9635294"/>
              <a:gd name="connsiteY3269" fmla="*/ 2026603 h 6211920"/>
              <a:gd name="connsiteX3270" fmla="*/ 262471 w 9635294"/>
              <a:gd name="connsiteY3270" fmla="*/ 2014080 h 6211920"/>
              <a:gd name="connsiteX3271" fmla="*/ 9392311 w 9635294"/>
              <a:gd name="connsiteY3271" fmla="*/ 1998809 h 6211920"/>
              <a:gd name="connsiteX3272" fmla="*/ 9393879 w 9635294"/>
              <a:gd name="connsiteY3272" fmla="*/ 2001565 h 6211920"/>
              <a:gd name="connsiteX3273" fmla="*/ 9393867 w 9635294"/>
              <a:gd name="connsiteY3273" fmla="*/ 2001571 h 6211920"/>
              <a:gd name="connsiteX3274" fmla="*/ 245192 w 9635294"/>
              <a:gd name="connsiteY3274" fmla="*/ 1993303 h 6211920"/>
              <a:gd name="connsiteX3275" fmla="*/ 245193 w 9635294"/>
              <a:gd name="connsiteY3275" fmla="*/ 1993303 h 6211920"/>
              <a:gd name="connsiteX3276" fmla="*/ 243481 w 9635294"/>
              <a:gd name="connsiteY3276" fmla="*/ 1996326 h 6211920"/>
              <a:gd name="connsiteX3277" fmla="*/ 9414392 w 9635294"/>
              <a:gd name="connsiteY3277" fmla="*/ 1986739 h 6211920"/>
              <a:gd name="connsiteX3278" fmla="*/ 9417361 w 9635294"/>
              <a:gd name="connsiteY3278" fmla="*/ 1991963 h 6211920"/>
              <a:gd name="connsiteX3279" fmla="*/ 9395454 w 9635294"/>
              <a:gd name="connsiteY3279" fmla="*/ 2004333 h 6211920"/>
              <a:gd name="connsiteX3280" fmla="*/ 9393879 w 9635294"/>
              <a:gd name="connsiteY3280" fmla="*/ 2001565 h 6211920"/>
              <a:gd name="connsiteX3281" fmla="*/ 9415774 w 9635294"/>
              <a:gd name="connsiteY3281" fmla="*/ 1989195 h 6211920"/>
              <a:gd name="connsiteX3282" fmla="*/ 220119 w 9635294"/>
              <a:gd name="connsiteY3282" fmla="*/ 1986440 h 6211920"/>
              <a:gd name="connsiteX3283" fmla="*/ 242062 w 9635294"/>
              <a:gd name="connsiteY3283" fmla="*/ 1998828 h 6211920"/>
              <a:gd name="connsiteX3284" fmla="*/ 243481 w 9635294"/>
              <a:gd name="connsiteY3284" fmla="*/ 1996326 h 6211920"/>
              <a:gd name="connsiteX3285" fmla="*/ 240500 w 9635294"/>
              <a:gd name="connsiteY3285" fmla="*/ 2001590 h 6211920"/>
              <a:gd name="connsiteX3286" fmla="*/ 218561 w 9635294"/>
              <a:gd name="connsiteY3286" fmla="*/ 1989207 h 6211920"/>
              <a:gd name="connsiteX3287" fmla="*/ 9412662 w 9635294"/>
              <a:gd name="connsiteY3287" fmla="*/ 1983664 h 6211920"/>
              <a:gd name="connsiteX3288" fmla="*/ 9414392 w 9635294"/>
              <a:gd name="connsiteY3288" fmla="*/ 1986739 h 6211920"/>
              <a:gd name="connsiteX3289" fmla="*/ 9412649 w 9635294"/>
              <a:gd name="connsiteY3289" fmla="*/ 1983672 h 6211920"/>
              <a:gd name="connsiteX3290" fmla="*/ 222914 w 9635294"/>
              <a:gd name="connsiteY3290" fmla="*/ 1981474 h 6211920"/>
              <a:gd name="connsiteX3291" fmla="*/ 220119 w 9635294"/>
              <a:gd name="connsiteY3291" fmla="*/ 1986440 h 6211920"/>
              <a:gd name="connsiteX3292" fmla="*/ 220117 w 9635294"/>
              <a:gd name="connsiteY3292" fmla="*/ 1986439 h 6211920"/>
              <a:gd name="connsiteX3293" fmla="*/ 9411075 w 9635294"/>
              <a:gd name="connsiteY3293" fmla="*/ 1980902 h 6211920"/>
              <a:gd name="connsiteX3294" fmla="*/ 9412649 w 9635294"/>
              <a:gd name="connsiteY3294" fmla="*/ 1983672 h 6211920"/>
              <a:gd name="connsiteX3295" fmla="*/ 9390755 w 9635294"/>
              <a:gd name="connsiteY3295" fmla="*/ 1996046 h 6211920"/>
              <a:gd name="connsiteX3296" fmla="*/ 9392311 w 9635294"/>
              <a:gd name="connsiteY3296" fmla="*/ 1998809 h 6211920"/>
              <a:gd name="connsiteX3297" fmla="*/ 9389168 w 9635294"/>
              <a:gd name="connsiteY3297" fmla="*/ 1993284 h 6211920"/>
              <a:gd name="connsiteX3298" fmla="*/ 9411075 w 9635294"/>
              <a:gd name="connsiteY3298" fmla="*/ 1980902 h 6211920"/>
              <a:gd name="connsiteX3299" fmla="*/ 224790 w 9635294"/>
              <a:gd name="connsiteY3299" fmla="*/ 1978139 h 6211920"/>
              <a:gd name="connsiteX3300" fmla="*/ 246755 w 9635294"/>
              <a:gd name="connsiteY3300" fmla="*/ 1990541 h 6211920"/>
              <a:gd name="connsiteX3301" fmla="*/ 245192 w 9635294"/>
              <a:gd name="connsiteY3301" fmla="*/ 1993303 h 6211920"/>
              <a:gd name="connsiteX3302" fmla="*/ 223235 w 9635294"/>
              <a:gd name="connsiteY3302" fmla="*/ 1980902 h 6211920"/>
              <a:gd name="connsiteX3303" fmla="*/ 222914 w 9635294"/>
              <a:gd name="connsiteY3303" fmla="*/ 1981474 h 6211920"/>
              <a:gd name="connsiteX3304" fmla="*/ 9436064 w 9635294"/>
              <a:gd name="connsiteY3304" fmla="*/ 1973954 h 6211920"/>
              <a:gd name="connsiteX3305" fmla="*/ 9437707 w 9635294"/>
              <a:gd name="connsiteY3305" fmla="*/ 1976881 h 6211920"/>
              <a:gd name="connsiteX3306" fmla="*/ 9437682 w 9635294"/>
              <a:gd name="connsiteY3306" fmla="*/ 1976895 h 6211920"/>
              <a:gd name="connsiteX3307" fmla="*/ 198774 w 9635294"/>
              <a:gd name="connsiteY3307" fmla="*/ 1972982 h 6211920"/>
              <a:gd name="connsiteX3308" fmla="*/ 198139 w 9635294"/>
              <a:gd name="connsiteY3308" fmla="*/ 1974120 h 6211920"/>
              <a:gd name="connsiteX3309" fmla="*/ 198139 w 9635294"/>
              <a:gd name="connsiteY3309" fmla="*/ 1974120 h 6211920"/>
              <a:gd name="connsiteX3310" fmla="*/ 176036 w 9635294"/>
              <a:gd name="connsiteY3310" fmla="*/ 1961827 h 6211920"/>
              <a:gd name="connsiteX3311" fmla="*/ 198139 w 9635294"/>
              <a:gd name="connsiteY3311" fmla="*/ 1974120 h 6211920"/>
              <a:gd name="connsiteX3312" fmla="*/ 196590 w 9635294"/>
              <a:gd name="connsiteY3312" fmla="*/ 1976895 h 6211920"/>
              <a:gd name="connsiteX3313" fmla="*/ 174498 w 9635294"/>
              <a:gd name="connsiteY3313" fmla="*/ 1964601 h 6211920"/>
              <a:gd name="connsiteX3314" fmla="*/ 176476 w 9635294"/>
              <a:gd name="connsiteY3314" fmla="*/ 1961033 h 6211920"/>
              <a:gd name="connsiteX3315" fmla="*/ 176036 w 9635294"/>
              <a:gd name="connsiteY3315" fmla="*/ 1961827 h 6211920"/>
              <a:gd name="connsiteX3316" fmla="*/ 176035 w 9635294"/>
              <a:gd name="connsiteY3316" fmla="*/ 1961826 h 6211920"/>
              <a:gd name="connsiteX3317" fmla="*/ 9455144 w 9635294"/>
              <a:gd name="connsiteY3317" fmla="*/ 1956283 h 6211920"/>
              <a:gd name="connsiteX3318" fmla="*/ 9461303 w 9635294"/>
              <a:gd name="connsiteY3318" fmla="*/ 1967389 h 6211920"/>
              <a:gd name="connsiteX3319" fmla="*/ 9439269 w 9635294"/>
              <a:gd name="connsiteY3319" fmla="*/ 1979663 h 6211920"/>
              <a:gd name="connsiteX3320" fmla="*/ 9437707 w 9635294"/>
              <a:gd name="connsiteY3320" fmla="*/ 1976881 h 6211920"/>
              <a:gd name="connsiteX3321" fmla="*/ 9459716 w 9635294"/>
              <a:gd name="connsiteY3321" fmla="*/ 1964614 h 6211920"/>
              <a:gd name="connsiteX3322" fmla="*/ 9456668 w 9635294"/>
              <a:gd name="connsiteY3322" fmla="*/ 1959058 h 6211920"/>
              <a:gd name="connsiteX3323" fmla="*/ 9434633 w 9635294"/>
              <a:gd name="connsiteY3323" fmla="*/ 1971351 h 6211920"/>
              <a:gd name="connsiteX3324" fmla="*/ 9436064 w 9635294"/>
              <a:gd name="connsiteY3324" fmla="*/ 1973954 h 6211920"/>
              <a:gd name="connsiteX3325" fmla="*/ 9433046 w 9635294"/>
              <a:gd name="connsiteY3325" fmla="*/ 1968576 h 6211920"/>
              <a:gd name="connsiteX3326" fmla="*/ 9455144 w 9635294"/>
              <a:gd name="connsiteY3326" fmla="*/ 1956283 h 6211920"/>
              <a:gd name="connsiteX3327" fmla="*/ 180651 w 9635294"/>
              <a:gd name="connsiteY3327" fmla="*/ 1953495 h 6211920"/>
              <a:gd name="connsiteX3328" fmla="*/ 202781 w 9635294"/>
              <a:gd name="connsiteY3328" fmla="*/ 1965801 h 6211920"/>
              <a:gd name="connsiteX3329" fmla="*/ 198774 w 9635294"/>
              <a:gd name="connsiteY3329" fmla="*/ 1972982 h 6211920"/>
              <a:gd name="connsiteX3330" fmla="*/ 201232 w 9635294"/>
              <a:gd name="connsiteY3330" fmla="*/ 1968576 h 6211920"/>
              <a:gd name="connsiteX3331" fmla="*/ 179115 w 9635294"/>
              <a:gd name="connsiteY3331" fmla="*/ 1956270 h 6211920"/>
              <a:gd name="connsiteX3332" fmla="*/ 176476 w 9635294"/>
              <a:gd name="connsiteY3332" fmla="*/ 1961033 h 6211920"/>
              <a:gd name="connsiteX3333" fmla="*/ 9500737 w 9635294"/>
              <a:gd name="connsiteY3333" fmla="*/ 1934775 h 6211920"/>
              <a:gd name="connsiteX3334" fmla="*/ 9502495 w 9635294"/>
              <a:gd name="connsiteY3334" fmla="*/ 1937992 h 6211920"/>
              <a:gd name="connsiteX3335" fmla="*/ 9500736 w 9635294"/>
              <a:gd name="connsiteY3335" fmla="*/ 1934776 h 6211920"/>
              <a:gd name="connsiteX3336" fmla="*/ 9499213 w 9635294"/>
              <a:gd name="connsiteY3336" fmla="*/ 1931994 h 6211920"/>
              <a:gd name="connsiteX3337" fmla="*/ 9500736 w 9635294"/>
              <a:gd name="connsiteY3337" fmla="*/ 1934776 h 6211920"/>
              <a:gd name="connsiteX3338" fmla="*/ 9478702 w 9635294"/>
              <a:gd name="connsiteY3338" fmla="*/ 1946885 h 6211920"/>
              <a:gd name="connsiteX3339" fmla="*/ 9481750 w 9635294"/>
              <a:gd name="connsiteY3339" fmla="*/ 1952447 h 6211920"/>
              <a:gd name="connsiteX3340" fmla="*/ 9503785 w 9635294"/>
              <a:gd name="connsiteY3340" fmla="*/ 1940350 h 6211920"/>
              <a:gd name="connsiteX3341" fmla="*/ 9502495 w 9635294"/>
              <a:gd name="connsiteY3341" fmla="*/ 1937992 h 6211920"/>
              <a:gd name="connsiteX3342" fmla="*/ 9505309 w 9635294"/>
              <a:gd name="connsiteY3342" fmla="*/ 1943132 h 6211920"/>
              <a:gd name="connsiteX3343" fmla="*/ 9483274 w 9635294"/>
              <a:gd name="connsiteY3343" fmla="*/ 1955229 h 6211920"/>
              <a:gd name="connsiteX3344" fmla="*/ 9477115 w 9635294"/>
              <a:gd name="connsiteY3344" fmla="*/ 1944103 h 6211920"/>
              <a:gd name="connsiteX3345" fmla="*/ 9499213 w 9635294"/>
              <a:gd name="connsiteY3345" fmla="*/ 1931994 h 6211920"/>
              <a:gd name="connsiteX3346" fmla="*/ 134919 w 9635294"/>
              <a:gd name="connsiteY3346" fmla="*/ 1931962 h 6211920"/>
              <a:gd name="connsiteX3347" fmla="*/ 134922 w 9635294"/>
              <a:gd name="connsiteY3347" fmla="*/ 1931964 h 6211920"/>
              <a:gd name="connsiteX3348" fmla="*/ 131880 w 9635294"/>
              <a:gd name="connsiteY3348" fmla="*/ 1937539 h 6211920"/>
              <a:gd name="connsiteX3349" fmla="*/ 131877 w 9635294"/>
              <a:gd name="connsiteY3349" fmla="*/ 1937537 h 6211920"/>
              <a:gd name="connsiteX3350" fmla="*/ 136443 w 9635294"/>
              <a:gd name="connsiteY3350" fmla="*/ 1929175 h 6211920"/>
              <a:gd name="connsiteX3351" fmla="*/ 158573 w 9635294"/>
              <a:gd name="connsiteY3351" fmla="*/ 1941303 h 6211920"/>
              <a:gd name="connsiteX3352" fmla="*/ 152451 w 9635294"/>
              <a:gd name="connsiteY3352" fmla="*/ 1952428 h 6211920"/>
              <a:gd name="connsiteX3353" fmla="*/ 130359 w 9635294"/>
              <a:gd name="connsiteY3353" fmla="*/ 1940325 h 6211920"/>
              <a:gd name="connsiteX3354" fmla="*/ 131880 w 9635294"/>
              <a:gd name="connsiteY3354" fmla="*/ 1937539 h 6211920"/>
              <a:gd name="connsiteX3355" fmla="*/ 153981 w 9635294"/>
              <a:gd name="connsiteY3355" fmla="*/ 1949647 h 6211920"/>
              <a:gd name="connsiteX3356" fmla="*/ 157042 w 9635294"/>
              <a:gd name="connsiteY3356" fmla="*/ 1944084 h 6211920"/>
              <a:gd name="connsiteX3357" fmla="*/ 134922 w 9635294"/>
              <a:gd name="connsiteY3357" fmla="*/ 1931964 h 6211920"/>
              <a:gd name="connsiteX3358" fmla="*/ 112686 w 9635294"/>
              <a:gd name="connsiteY3358" fmla="*/ 1919878 h 6211920"/>
              <a:gd name="connsiteX3359" fmla="*/ 112687 w 9635294"/>
              <a:gd name="connsiteY3359" fmla="*/ 1919878 h 6211920"/>
              <a:gd name="connsiteX3360" fmla="*/ 111538 w 9635294"/>
              <a:gd name="connsiteY3360" fmla="*/ 1921996 h 6211920"/>
              <a:gd name="connsiteX3361" fmla="*/ 87656 w 9635294"/>
              <a:gd name="connsiteY3361" fmla="*/ 1913196 h 6211920"/>
              <a:gd name="connsiteX3362" fmla="*/ 87491 w 9635294"/>
              <a:gd name="connsiteY3362" fmla="*/ 1913503 h 6211920"/>
              <a:gd name="connsiteX3363" fmla="*/ 109658 w 9635294"/>
              <a:gd name="connsiteY3363" fmla="*/ 1925460 h 6211920"/>
              <a:gd name="connsiteX3364" fmla="*/ 111538 w 9635294"/>
              <a:gd name="connsiteY3364" fmla="*/ 1921996 h 6211920"/>
              <a:gd name="connsiteX3365" fmla="*/ 108147 w 9635294"/>
              <a:gd name="connsiteY3365" fmla="*/ 1928254 h 6211920"/>
              <a:gd name="connsiteX3366" fmla="*/ 85986 w 9635294"/>
              <a:gd name="connsiteY3366" fmla="*/ 1916303 h 6211920"/>
              <a:gd name="connsiteX3367" fmla="*/ 9545060 w 9635294"/>
              <a:gd name="connsiteY3367" fmla="*/ 1910747 h 6211920"/>
              <a:gd name="connsiteX3368" fmla="*/ 9546329 w 9635294"/>
              <a:gd name="connsiteY3368" fmla="*/ 1913123 h 6211920"/>
              <a:gd name="connsiteX3369" fmla="*/ 9545050 w 9635294"/>
              <a:gd name="connsiteY3369" fmla="*/ 1910753 h 6211920"/>
              <a:gd name="connsiteX3370" fmla="*/ 9543536 w 9635294"/>
              <a:gd name="connsiteY3370" fmla="*/ 1907946 h 6211920"/>
              <a:gd name="connsiteX3371" fmla="*/ 9545050 w 9635294"/>
              <a:gd name="connsiteY3371" fmla="*/ 1910753 h 6211920"/>
              <a:gd name="connsiteX3372" fmla="*/ 9522898 w 9635294"/>
              <a:gd name="connsiteY3372" fmla="*/ 1922697 h 6211920"/>
              <a:gd name="connsiteX3373" fmla="*/ 9525946 w 9635294"/>
              <a:gd name="connsiteY3373" fmla="*/ 1928279 h 6211920"/>
              <a:gd name="connsiteX3374" fmla="*/ 9548044 w 9635294"/>
              <a:gd name="connsiteY3374" fmla="*/ 1916335 h 6211920"/>
              <a:gd name="connsiteX3375" fmla="*/ 9546329 w 9635294"/>
              <a:gd name="connsiteY3375" fmla="*/ 1913123 h 6211920"/>
              <a:gd name="connsiteX3376" fmla="*/ 9549569 w 9635294"/>
              <a:gd name="connsiteY3376" fmla="*/ 1919129 h 6211920"/>
              <a:gd name="connsiteX3377" fmla="*/ 9527470 w 9635294"/>
              <a:gd name="connsiteY3377" fmla="*/ 1931073 h 6211920"/>
              <a:gd name="connsiteX3378" fmla="*/ 9521374 w 9635294"/>
              <a:gd name="connsiteY3378" fmla="*/ 1919910 h 6211920"/>
              <a:gd name="connsiteX3379" fmla="*/ 9543536 w 9635294"/>
              <a:gd name="connsiteY3379" fmla="*/ 1907946 h 6211920"/>
              <a:gd name="connsiteX3380" fmla="*/ 90494 w 9635294"/>
              <a:gd name="connsiteY3380" fmla="*/ 1907908 h 6211920"/>
              <a:gd name="connsiteX3381" fmla="*/ 90497 w 9635294"/>
              <a:gd name="connsiteY3381" fmla="*/ 1907910 h 6211920"/>
              <a:gd name="connsiteX3382" fmla="*/ 87656 w 9635294"/>
              <a:gd name="connsiteY3382" fmla="*/ 1913196 h 6211920"/>
              <a:gd name="connsiteX3383" fmla="*/ 91999 w 9635294"/>
              <a:gd name="connsiteY3383" fmla="*/ 1905114 h 6211920"/>
              <a:gd name="connsiteX3384" fmla="*/ 114199 w 9635294"/>
              <a:gd name="connsiteY3384" fmla="*/ 1917084 h 6211920"/>
              <a:gd name="connsiteX3385" fmla="*/ 112686 w 9635294"/>
              <a:gd name="connsiteY3385" fmla="*/ 1919878 h 6211920"/>
              <a:gd name="connsiteX3386" fmla="*/ 90497 w 9635294"/>
              <a:gd name="connsiteY3386" fmla="*/ 1907910 h 6211920"/>
              <a:gd name="connsiteX3387" fmla="*/ 9568719 w 9635294"/>
              <a:gd name="connsiteY3387" fmla="*/ 1901665 h 6211920"/>
              <a:gd name="connsiteX3388" fmla="*/ 9570218 w 9635294"/>
              <a:gd name="connsiteY3388" fmla="*/ 1904448 h 6211920"/>
              <a:gd name="connsiteX3389" fmla="*/ 9570206 w 9635294"/>
              <a:gd name="connsiteY3389" fmla="*/ 1904454 h 6211920"/>
              <a:gd name="connsiteX3390" fmla="*/ 9592482 w 9635294"/>
              <a:gd name="connsiteY3390" fmla="*/ 1892624 h 6211920"/>
              <a:gd name="connsiteX3391" fmla="*/ 9593955 w 9635294"/>
              <a:gd name="connsiteY3391" fmla="*/ 1895424 h 6211920"/>
              <a:gd name="connsiteX3392" fmla="*/ 9571730 w 9635294"/>
              <a:gd name="connsiteY3392" fmla="*/ 1907254 h 6211920"/>
              <a:gd name="connsiteX3393" fmla="*/ 9570218 w 9635294"/>
              <a:gd name="connsiteY3393" fmla="*/ 1904448 h 6211920"/>
              <a:gd name="connsiteX3394" fmla="*/ 9590996 w 9635294"/>
              <a:gd name="connsiteY3394" fmla="*/ 1889800 h 6211920"/>
              <a:gd name="connsiteX3395" fmla="*/ 9592494 w 9635294"/>
              <a:gd name="connsiteY3395" fmla="*/ 1892617 h 6211920"/>
              <a:gd name="connsiteX3396" fmla="*/ 9592482 w 9635294"/>
              <a:gd name="connsiteY3396" fmla="*/ 1892624 h 6211920"/>
              <a:gd name="connsiteX3397" fmla="*/ 9588049 w 9635294"/>
              <a:gd name="connsiteY3397" fmla="*/ 1884197 h 6211920"/>
              <a:gd name="connsiteX3398" fmla="*/ 9590996 w 9635294"/>
              <a:gd name="connsiteY3398" fmla="*/ 1889800 h 6211920"/>
              <a:gd name="connsiteX3399" fmla="*/ 9589510 w 9635294"/>
              <a:gd name="connsiteY3399" fmla="*/ 1887004 h 6211920"/>
              <a:gd name="connsiteX3400" fmla="*/ 9567221 w 9635294"/>
              <a:gd name="connsiteY3400" fmla="*/ 1898853 h 6211920"/>
              <a:gd name="connsiteX3401" fmla="*/ 9568719 w 9635294"/>
              <a:gd name="connsiteY3401" fmla="*/ 1901665 h 6211920"/>
              <a:gd name="connsiteX3402" fmla="*/ 9565697 w 9635294"/>
              <a:gd name="connsiteY3402" fmla="*/ 1896053 h 6211920"/>
              <a:gd name="connsiteX3403" fmla="*/ 9588049 w 9635294"/>
              <a:gd name="connsiteY3403" fmla="*/ 1884197 h 6211920"/>
              <a:gd name="connsiteX3404" fmla="*/ 45892 w 9635294"/>
              <a:gd name="connsiteY3404" fmla="*/ 1884147 h 6211920"/>
              <a:gd name="connsiteX3405" fmla="*/ 42926 w 9635294"/>
              <a:gd name="connsiteY3405" fmla="*/ 1889766 h 6211920"/>
              <a:gd name="connsiteX3406" fmla="*/ 65259 w 9635294"/>
              <a:gd name="connsiteY3406" fmla="*/ 1901609 h 6211920"/>
              <a:gd name="connsiteX3407" fmla="*/ 68244 w 9635294"/>
              <a:gd name="connsiteY3407" fmla="*/ 1896009 h 6211920"/>
              <a:gd name="connsiteX3408" fmla="*/ 45892 w 9635294"/>
              <a:gd name="connsiteY3408" fmla="*/ 1884147 h 6211920"/>
              <a:gd name="connsiteX3409" fmla="*/ 47371 w 9635294"/>
              <a:gd name="connsiteY3409" fmla="*/ 1881340 h 6211920"/>
              <a:gd name="connsiteX3410" fmla="*/ 69736 w 9635294"/>
              <a:gd name="connsiteY3410" fmla="*/ 1893208 h 6211920"/>
              <a:gd name="connsiteX3411" fmla="*/ 63767 w 9635294"/>
              <a:gd name="connsiteY3411" fmla="*/ 1904416 h 6211920"/>
              <a:gd name="connsiteX3412" fmla="*/ 41440 w 9635294"/>
              <a:gd name="connsiteY3412" fmla="*/ 1892573 h 6211920"/>
              <a:gd name="connsiteX3413" fmla="*/ 9611748 w 9635294"/>
              <a:gd name="connsiteY3413" fmla="*/ 1875276 h 6211920"/>
              <a:gd name="connsiteX3414" fmla="*/ 9613221 w 9635294"/>
              <a:gd name="connsiteY3414" fmla="*/ 1878082 h 6211920"/>
              <a:gd name="connsiteX3415" fmla="*/ 9611735 w 9635294"/>
              <a:gd name="connsiteY3415" fmla="*/ 1875282 h 6211920"/>
              <a:gd name="connsiteX3416" fmla="*/ 9625794 w 9635294"/>
              <a:gd name="connsiteY3416" fmla="*/ 1875080 h 6211920"/>
              <a:gd name="connsiteX3417" fmla="*/ 9627293 w 9635294"/>
              <a:gd name="connsiteY3417" fmla="*/ 1877905 h 6211920"/>
              <a:gd name="connsiteX3418" fmla="*/ 9616180 w 9635294"/>
              <a:gd name="connsiteY3418" fmla="*/ 1883715 h 6211920"/>
              <a:gd name="connsiteX3419" fmla="*/ 9613221 w 9635294"/>
              <a:gd name="connsiteY3419" fmla="*/ 1878082 h 6211920"/>
              <a:gd name="connsiteX3420" fmla="*/ 9614719 w 9635294"/>
              <a:gd name="connsiteY3420" fmla="*/ 1880902 h 6211920"/>
              <a:gd name="connsiteX3421" fmla="*/ 9625769 w 9635294"/>
              <a:gd name="connsiteY3421" fmla="*/ 1875092 h 6211920"/>
              <a:gd name="connsiteX3422" fmla="*/ 23584 w 9635294"/>
              <a:gd name="connsiteY3422" fmla="*/ 1872418 h 6211920"/>
              <a:gd name="connsiteX3423" fmla="*/ 23584 w 9635294"/>
              <a:gd name="connsiteY3423" fmla="*/ 1872418 h 6211920"/>
              <a:gd name="connsiteX3424" fmla="*/ 20638 w 9635294"/>
              <a:gd name="connsiteY3424" fmla="*/ 1878044 h 6211920"/>
              <a:gd name="connsiteX3425" fmla="*/ 20638 w 9635294"/>
              <a:gd name="connsiteY3425" fmla="*/ 1878044 h 6211920"/>
              <a:gd name="connsiteX3426" fmla="*/ 9624319 w 9635294"/>
              <a:gd name="connsiteY3426" fmla="*/ 1872301 h 6211920"/>
              <a:gd name="connsiteX3427" fmla="*/ 9624349 w 9635294"/>
              <a:gd name="connsiteY3427" fmla="*/ 1872357 h 6211920"/>
              <a:gd name="connsiteX3428" fmla="*/ 9625769 w 9635294"/>
              <a:gd name="connsiteY3428" fmla="*/ 1875092 h 6211920"/>
              <a:gd name="connsiteX3429" fmla="*/ 9624319 w 9635294"/>
              <a:gd name="connsiteY3429" fmla="*/ 1872302 h 6211920"/>
              <a:gd name="connsiteX3430" fmla="*/ 9624319 w 9635294"/>
              <a:gd name="connsiteY3430" fmla="*/ 1872301 h 6211920"/>
              <a:gd name="connsiteX3431" fmla="*/ 9624319 w 9635294"/>
              <a:gd name="connsiteY3431" fmla="*/ 1872302 h 6211920"/>
              <a:gd name="connsiteX3432" fmla="*/ 9622212 w 9635294"/>
              <a:gd name="connsiteY3432" fmla="*/ 1874622 h 6211920"/>
              <a:gd name="connsiteX3433" fmla="*/ 9622203 w 9635294"/>
              <a:gd name="connsiteY3433" fmla="*/ 1874614 h 6211920"/>
              <a:gd name="connsiteX3434" fmla="*/ 9624319 w 9635294"/>
              <a:gd name="connsiteY3434" fmla="*/ 1872301 h 6211920"/>
              <a:gd name="connsiteX3435" fmla="*/ 9624320 w 9635294"/>
              <a:gd name="connsiteY3435" fmla="*/ 1872301 h 6211920"/>
              <a:gd name="connsiteX3436" fmla="*/ 9624319 w 9635294"/>
              <a:gd name="connsiteY3436" fmla="*/ 1872301 h 6211920"/>
              <a:gd name="connsiteX3437" fmla="*/ 9624319 w 9635294"/>
              <a:gd name="connsiteY3437" fmla="*/ 1872301 h 6211920"/>
              <a:gd name="connsiteX3438" fmla="*/ 9624340 w 9635294"/>
              <a:gd name="connsiteY3438" fmla="*/ 1872279 h 6211920"/>
              <a:gd name="connsiteX3439" fmla="*/ 9625807 w 9635294"/>
              <a:gd name="connsiteY3439" fmla="*/ 1875073 h 6211920"/>
              <a:gd name="connsiteX3440" fmla="*/ 9625794 w 9635294"/>
              <a:gd name="connsiteY3440" fmla="*/ 1875080 h 6211920"/>
              <a:gd name="connsiteX3441" fmla="*/ 9624349 w 9635294"/>
              <a:gd name="connsiteY3441" fmla="*/ 1872357 h 6211920"/>
              <a:gd name="connsiteX3442" fmla="*/ 9624320 w 9635294"/>
              <a:gd name="connsiteY3442" fmla="*/ 1872301 h 6211920"/>
              <a:gd name="connsiteX3443" fmla="*/ 9624307 w 9635294"/>
              <a:gd name="connsiteY3443" fmla="*/ 1872278 h 6211920"/>
              <a:gd name="connsiteX3444" fmla="*/ 9624319 w 9635294"/>
              <a:gd name="connsiteY3444" fmla="*/ 1872301 h 6211920"/>
              <a:gd name="connsiteX3445" fmla="*/ 9624319 w 9635294"/>
              <a:gd name="connsiteY3445" fmla="*/ 1872301 h 6211920"/>
              <a:gd name="connsiteX3446" fmla="*/ 9624308 w 9635294"/>
              <a:gd name="connsiteY3446" fmla="*/ 1872278 h 6211920"/>
              <a:gd name="connsiteX3447" fmla="*/ 9624308 w 9635294"/>
              <a:gd name="connsiteY3447" fmla="*/ 1872278 h 6211920"/>
              <a:gd name="connsiteX3448" fmla="*/ 9624307 w 9635294"/>
              <a:gd name="connsiteY3448" fmla="*/ 1872278 h 6211920"/>
              <a:gd name="connsiteX3449" fmla="*/ 9624353 w 9635294"/>
              <a:gd name="connsiteY3449" fmla="*/ 1872264 h 6211920"/>
              <a:gd name="connsiteX3450" fmla="*/ 9624340 w 9635294"/>
              <a:gd name="connsiteY3450" fmla="*/ 1872279 h 6211920"/>
              <a:gd name="connsiteX3451" fmla="*/ 9624340 w 9635294"/>
              <a:gd name="connsiteY3451" fmla="*/ 1872279 h 6211920"/>
              <a:gd name="connsiteX3452" fmla="*/ 9624328 w 9635294"/>
              <a:gd name="connsiteY3452" fmla="*/ 1872256 h 6211920"/>
              <a:gd name="connsiteX3453" fmla="*/ 9624340 w 9635294"/>
              <a:gd name="connsiteY3453" fmla="*/ 1872279 h 6211920"/>
              <a:gd name="connsiteX3454" fmla="*/ 9624319 w 9635294"/>
              <a:gd name="connsiteY3454" fmla="*/ 1872301 h 6211920"/>
              <a:gd name="connsiteX3455" fmla="*/ 9624308 w 9635294"/>
              <a:gd name="connsiteY3455" fmla="*/ 1872278 h 6211920"/>
              <a:gd name="connsiteX3456" fmla="*/ 9518 w 9635294"/>
              <a:gd name="connsiteY3456" fmla="*/ 1872228 h 6211920"/>
              <a:gd name="connsiteX3457" fmla="*/ 9519 w 9635294"/>
              <a:gd name="connsiteY3457" fmla="*/ 1872228 h 6211920"/>
              <a:gd name="connsiteX3458" fmla="*/ 20638 w 9635294"/>
              <a:gd name="connsiteY3458" fmla="*/ 1878044 h 6211920"/>
              <a:gd name="connsiteX3459" fmla="*/ 19165 w 9635294"/>
              <a:gd name="connsiteY3459" fmla="*/ 1880857 h 6211920"/>
              <a:gd name="connsiteX3460" fmla="*/ 8046 w 9635294"/>
              <a:gd name="connsiteY3460" fmla="*/ 1875047 h 6211920"/>
              <a:gd name="connsiteX3461" fmla="*/ 9618845 w 9635294"/>
              <a:gd name="connsiteY3461" fmla="*/ 1871560 h 6211920"/>
              <a:gd name="connsiteX3462" fmla="*/ 9622203 w 9635294"/>
              <a:gd name="connsiteY3462" fmla="*/ 1874614 h 6211920"/>
              <a:gd name="connsiteX3463" fmla="*/ 9620053 w 9635294"/>
              <a:gd name="connsiteY3463" fmla="*/ 1876965 h 6211920"/>
              <a:gd name="connsiteX3464" fmla="*/ 9615840 w 9635294"/>
              <a:gd name="connsiteY3464" fmla="*/ 1873133 h 6211920"/>
              <a:gd name="connsiteX3465" fmla="*/ 9613344 w 9635294"/>
              <a:gd name="connsiteY3465" fmla="*/ 1870863 h 6211920"/>
              <a:gd name="connsiteX3466" fmla="*/ 9615840 w 9635294"/>
              <a:gd name="connsiteY3466" fmla="*/ 1873133 h 6211920"/>
              <a:gd name="connsiteX3467" fmla="*/ 9611748 w 9635294"/>
              <a:gd name="connsiteY3467" fmla="*/ 1875276 h 6211920"/>
              <a:gd name="connsiteX3468" fmla="*/ 9610274 w 9635294"/>
              <a:gd name="connsiteY3468" fmla="*/ 1872469 h 6211920"/>
              <a:gd name="connsiteX3469" fmla="*/ 9626467 w 9635294"/>
              <a:gd name="connsiteY3469" fmla="*/ 1869935 h 6211920"/>
              <a:gd name="connsiteX3470" fmla="*/ 9626476 w 9635294"/>
              <a:gd name="connsiteY3470" fmla="*/ 1869943 h 6211920"/>
              <a:gd name="connsiteX3471" fmla="*/ 9624353 w 9635294"/>
              <a:gd name="connsiteY3471" fmla="*/ 1872264 h 6211920"/>
              <a:gd name="connsiteX3472" fmla="*/ 9626467 w 9635294"/>
              <a:gd name="connsiteY3472" fmla="*/ 1869935 h 6211920"/>
              <a:gd name="connsiteX3473" fmla="*/ 9626467 w 9635294"/>
              <a:gd name="connsiteY3473" fmla="*/ 1869935 h 6211920"/>
              <a:gd name="connsiteX3474" fmla="*/ 9624328 w 9635294"/>
              <a:gd name="connsiteY3474" fmla="*/ 1872256 h 6211920"/>
              <a:gd name="connsiteX3475" fmla="*/ 9624328 w 9635294"/>
              <a:gd name="connsiteY3475" fmla="*/ 1872256 h 6211920"/>
              <a:gd name="connsiteX3476" fmla="*/ 10986 w 9635294"/>
              <a:gd name="connsiteY3476" fmla="*/ 1869415 h 6211920"/>
              <a:gd name="connsiteX3477" fmla="*/ 10986 w 9635294"/>
              <a:gd name="connsiteY3477" fmla="*/ 1869415 h 6211920"/>
              <a:gd name="connsiteX3478" fmla="*/ 9519 w 9635294"/>
              <a:gd name="connsiteY3478" fmla="*/ 1872228 h 6211920"/>
              <a:gd name="connsiteX3479" fmla="*/ 10926 w 9635294"/>
              <a:gd name="connsiteY3479" fmla="*/ 1869532 h 6211920"/>
              <a:gd name="connsiteX3480" fmla="*/ 10986 w 9635294"/>
              <a:gd name="connsiteY3480" fmla="*/ 1869415 h 6211920"/>
              <a:gd name="connsiteX3481" fmla="*/ 10986 w 9635294"/>
              <a:gd name="connsiteY3481" fmla="*/ 1869415 h 6211920"/>
              <a:gd name="connsiteX3482" fmla="*/ 10986 w 9635294"/>
              <a:gd name="connsiteY3482" fmla="*/ 1869415 h 6211920"/>
              <a:gd name="connsiteX3483" fmla="*/ 10986 w 9635294"/>
              <a:gd name="connsiteY3483" fmla="*/ 1869415 h 6211920"/>
              <a:gd name="connsiteX3484" fmla="*/ 10986 w 9635294"/>
              <a:gd name="connsiteY3484" fmla="*/ 1869415 h 6211920"/>
              <a:gd name="connsiteX3485" fmla="*/ 12532 w 9635294"/>
              <a:gd name="connsiteY3485" fmla="*/ 1871107 h 6211920"/>
              <a:gd name="connsiteX3486" fmla="*/ 10986 w 9635294"/>
              <a:gd name="connsiteY3486" fmla="*/ 1869415 h 6211920"/>
              <a:gd name="connsiteX3487" fmla="*/ 10986 w 9635294"/>
              <a:gd name="connsiteY3487" fmla="*/ 1869415 h 6211920"/>
              <a:gd name="connsiteX3488" fmla="*/ 10986 w 9635294"/>
              <a:gd name="connsiteY3488" fmla="*/ 1869415 h 6211920"/>
              <a:gd name="connsiteX3489" fmla="*/ 10984 w 9635294"/>
              <a:gd name="connsiteY3489" fmla="*/ 1869413 h 6211920"/>
              <a:gd name="connsiteX3490" fmla="*/ 10986 w 9635294"/>
              <a:gd name="connsiteY3490" fmla="*/ 1869415 h 6211920"/>
              <a:gd name="connsiteX3491" fmla="*/ 10926 w 9635294"/>
              <a:gd name="connsiteY3491" fmla="*/ 1869532 h 6211920"/>
              <a:gd name="connsiteX3492" fmla="*/ 9518 w 9635294"/>
              <a:gd name="connsiteY3492" fmla="*/ 1872228 h 6211920"/>
              <a:gd name="connsiteX3493" fmla="*/ 9517 w 9635294"/>
              <a:gd name="connsiteY3493" fmla="*/ 1872227 h 6211920"/>
              <a:gd name="connsiteX3494" fmla="*/ 10984 w 9635294"/>
              <a:gd name="connsiteY3494" fmla="*/ 1869413 h 6211920"/>
              <a:gd name="connsiteX3495" fmla="*/ 10986 w 9635294"/>
              <a:gd name="connsiteY3495" fmla="*/ 1869415 h 6211920"/>
              <a:gd name="connsiteX3496" fmla="*/ 10986 w 9635294"/>
              <a:gd name="connsiteY3496" fmla="*/ 1869415 h 6211920"/>
              <a:gd name="connsiteX3497" fmla="*/ 10984 w 9635294"/>
              <a:gd name="connsiteY3497" fmla="*/ 1869413 h 6211920"/>
              <a:gd name="connsiteX3498" fmla="*/ 16477 w 9635294"/>
              <a:gd name="connsiteY3498" fmla="*/ 1868705 h 6211920"/>
              <a:gd name="connsiteX3499" fmla="*/ 19472 w 9635294"/>
              <a:gd name="connsiteY3499" fmla="*/ 1870270 h 6211920"/>
              <a:gd name="connsiteX3500" fmla="*/ 15266 w 9635294"/>
              <a:gd name="connsiteY3500" fmla="*/ 1874101 h 6211920"/>
              <a:gd name="connsiteX3501" fmla="*/ 12532 w 9635294"/>
              <a:gd name="connsiteY3501" fmla="*/ 1871107 h 6211920"/>
              <a:gd name="connsiteX3502" fmla="*/ 13126 w 9635294"/>
              <a:gd name="connsiteY3502" fmla="*/ 1871758 h 6211920"/>
              <a:gd name="connsiteX3503" fmla="*/ 21972 w 9635294"/>
              <a:gd name="connsiteY3503" fmla="*/ 1867992 h 6211920"/>
              <a:gd name="connsiteX3504" fmla="*/ 25057 w 9635294"/>
              <a:gd name="connsiteY3504" fmla="*/ 1869605 h 6211920"/>
              <a:gd name="connsiteX3505" fmla="*/ 23584 w 9635294"/>
              <a:gd name="connsiteY3505" fmla="*/ 1872418 h 6211920"/>
              <a:gd name="connsiteX3506" fmla="*/ 19472 w 9635294"/>
              <a:gd name="connsiteY3506" fmla="*/ 1870270 h 6211920"/>
              <a:gd name="connsiteX3507" fmla="*/ 9628626 w 9635294"/>
              <a:gd name="connsiteY3507" fmla="*/ 1867592 h 6211920"/>
              <a:gd name="connsiteX3508" fmla="*/ 9635294 w 9635294"/>
              <a:gd name="connsiteY3508" fmla="*/ 1873707 h 6211920"/>
              <a:gd name="connsiteX3509" fmla="*/ 9627293 w 9635294"/>
              <a:gd name="connsiteY3509" fmla="*/ 1877905 h 6211920"/>
              <a:gd name="connsiteX3510" fmla="*/ 9625807 w 9635294"/>
              <a:gd name="connsiteY3510" fmla="*/ 1875073 h 6211920"/>
              <a:gd name="connsiteX3511" fmla="*/ 9629832 w 9635294"/>
              <a:gd name="connsiteY3511" fmla="*/ 1872996 h 6211920"/>
              <a:gd name="connsiteX3512" fmla="*/ 9626476 w 9635294"/>
              <a:gd name="connsiteY3512" fmla="*/ 1869943 h 6211920"/>
              <a:gd name="connsiteX3513" fmla="*/ 8846 w 9635294"/>
              <a:gd name="connsiteY3513" fmla="*/ 1867072 h 6211920"/>
              <a:gd name="connsiteX3514" fmla="*/ 10984 w 9635294"/>
              <a:gd name="connsiteY3514" fmla="*/ 1869413 h 6211920"/>
              <a:gd name="connsiteX3515" fmla="*/ 10984 w 9635294"/>
              <a:gd name="connsiteY3515" fmla="*/ 1869413 h 6211920"/>
              <a:gd name="connsiteX3516" fmla="*/ 8846 w 9635294"/>
              <a:gd name="connsiteY3516" fmla="*/ 1867072 h 6211920"/>
              <a:gd name="connsiteX3517" fmla="*/ 10984 w 9635294"/>
              <a:gd name="connsiteY3517" fmla="*/ 1869413 h 6211920"/>
              <a:gd name="connsiteX3518" fmla="*/ 10984 w 9635294"/>
              <a:gd name="connsiteY3518" fmla="*/ 1869413 h 6211920"/>
              <a:gd name="connsiteX3519" fmla="*/ 8846 w 9635294"/>
              <a:gd name="connsiteY3519" fmla="*/ 1867072 h 6211920"/>
              <a:gd name="connsiteX3520" fmla="*/ 9621387 w 9635294"/>
              <a:gd name="connsiteY3520" fmla="*/ 1866652 h 6211920"/>
              <a:gd name="connsiteX3521" fmla="*/ 9624328 w 9635294"/>
              <a:gd name="connsiteY3521" fmla="*/ 1872256 h 6211920"/>
              <a:gd name="connsiteX3522" fmla="*/ 9624308 w 9635294"/>
              <a:gd name="connsiteY3522" fmla="*/ 1872278 h 6211920"/>
              <a:gd name="connsiteX3523" fmla="*/ 9622847 w 9635294"/>
              <a:gd name="connsiteY3523" fmla="*/ 1869465 h 6211920"/>
              <a:gd name="connsiteX3524" fmla="*/ 9618845 w 9635294"/>
              <a:gd name="connsiteY3524" fmla="*/ 1871560 h 6211920"/>
              <a:gd name="connsiteX3525" fmla="*/ 9616348 w 9635294"/>
              <a:gd name="connsiteY3525" fmla="*/ 1869290 h 6211920"/>
              <a:gd name="connsiteX3526" fmla="*/ 6700 w 9635294"/>
              <a:gd name="connsiteY3526" fmla="*/ 1864722 h 6211920"/>
              <a:gd name="connsiteX3527" fmla="*/ 8846 w 9635294"/>
              <a:gd name="connsiteY3527" fmla="*/ 1867072 h 6211920"/>
              <a:gd name="connsiteX3528" fmla="*/ 8846 w 9635294"/>
              <a:gd name="connsiteY3528" fmla="*/ 1867072 h 6211920"/>
              <a:gd name="connsiteX3529" fmla="*/ 5493 w 9635294"/>
              <a:gd name="connsiteY3529" fmla="*/ 1870132 h 6211920"/>
              <a:gd name="connsiteX3530" fmla="*/ 9517 w 9635294"/>
              <a:gd name="connsiteY3530" fmla="*/ 1872227 h 6211920"/>
              <a:gd name="connsiteX3531" fmla="*/ 8046 w 9635294"/>
              <a:gd name="connsiteY3531" fmla="*/ 1875047 h 6211920"/>
              <a:gd name="connsiteX3532" fmla="*/ 0 w 9635294"/>
              <a:gd name="connsiteY3532" fmla="*/ 1870850 h 6211920"/>
              <a:gd name="connsiteX3533" fmla="*/ 13920 w 9635294"/>
              <a:gd name="connsiteY3533" fmla="*/ 1863782 h 6211920"/>
              <a:gd name="connsiteX3534" fmla="*/ 18977 w 9635294"/>
              <a:gd name="connsiteY3534" fmla="*/ 1866426 h 6211920"/>
              <a:gd name="connsiteX3535" fmla="*/ 16477 w 9635294"/>
              <a:gd name="connsiteY3535" fmla="*/ 1868705 h 6211920"/>
              <a:gd name="connsiteX3536" fmla="*/ 12453 w 9635294"/>
              <a:gd name="connsiteY3536" fmla="*/ 1866602 h 6211920"/>
              <a:gd name="connsiteX3537" fmla="*/ 10986 w 9635294"/>
              <a:gd name="connsiteY3537" fmla="*/ 1869415 h 6211920"/>
              <a:gd name="connsiteX3538" fmla="*/ 10984 w 9635294"/>
              <a:gd name="connsiteY3538" fmla="*/ 1869413 h 6211920"/>
              <a:gd name="connsiteX3539" fmla="*/ 9615294 w 9635294"/>
              <a:gd name="connsiteY3539" fmla="*/ 1863340 h 6211920"/>
              <a:gd name="connsiteX3540" fmla="*/ 9612814 w 9635294"/>
              <a:gd name="connsiteY3540" fmla="*/ 1866075 h 6211920"/>
              <a:gd name="connsiteX3541" fmla="*/ 9616348 w 9635294"/>
              <a:gd name="connsiteY3541" fmla="*/ 1869290 h 6211920"/>
              <a:gd name="connsiteX3542" fmla="*/ 9613344 w 9635294"/>
              <a:gd name="connsiteY3542" fmla="*/ 1870863 h 6211920"/>
              <a:gd name="connsiteX3543" fmla="*/ 9610656 w 9635294"/>
              <a:gd name="connsiteY3543" fmla="*/ 1868418 h 6211920"/>
              <a:gd name="connsiteX3544" fmla="*/ 22490 w 9635294"/>
              <a:gd name="connsiteY3544" fmla="*/ 1863225 h 6211920"/>
              <a:gd name="connsiteX3545" fmla="*/ 24626 w 9635294"/>
              <a:gd name="connsiteY3545" fmla="*/ 1865573 h 6211920"/>
              <a:gd name="connsiteX3546" fmla="*/ 21972 w 9635294"/>
              <a:gd name="connsiteY3546" fmla="*/ 1867992 h 6211920"/>
              <a:gd name="connsiteX3547" fmla="*/ 18977 w 9635294"/>
              <a:gd name="connsiteY3547" fmla="*/ 1866426 h 6211920"/>
              <a:gd name="connsiteX3548" fmla="*/ 9617069 w 9635294"/>
              <a:gd name="connsiteY3548" fmla="*/ 1861382 h 6211920"/>
              <a:gd name="connsiteX3549" fmla="*/ 9617076 w 9635294"/>
              <a:gd name="connsiteY3549" fmla="*/ 1861389 h 6211920"/>
              <a:gd name="connsiteX3550" fmla="*/ 9615294 w 9635294"/>
              <a:gd name="connsiteY3550" fmla="*/ 1863340 h 6211920"/>
              <a:gd name="connsiteX3551" fmla="*/ 20040 w 9635294"/>
              <a:gd name="connsiteY3551" fmla="*/ 1860531 h 6211920"/>
              <a:gd name="connsiteX3552" fmla="*/ 22492 w 9635294"/>
              <a:gd name="connsiteY3552" fmla="*/ 1863223 h 6211920"/>
              <a:gd name="connsiteX3553" fmla="*/ 22490 w 9635294"/>
              <a:gd name="connsiteY3553" fmla="*/ 1863225 h 6211920"/>
              <a:gd name="connsiteX3554" fmla="*/ 9619228 w 9635294"/>
              <a:gd name="connsiteY3554" fmla="*/ 1859032 h 6211920"/>
              <a:gd name="connsiteX3555" fmla="*/ 9628626 w 9635294"/>
              <a:gd name="connsiteY3555" fmla="*/ 1867592 h 6211920"/>
              <a:gd name="connsiteX3556" fmla="*/ 9626467 w 9635294"/>
              <a:gd name="connsiteY3556" fmla="*/ 1869935 h 6211920"/>
              <a:gd name="connsiteX3557" fmla="*/ 9617076 w 9635294"/>
              <a:gd name="connsiteY3557" fmla="*/ 1861389 h 6211920"/>
              <a:gd name="connsiteX3558" fmla="*/ 16078 w 9635294"/>
              <a:gd name="connsiteY3558" fmla="*/ 1856175 h 6211920"/>
              <a:gd name="connsiteX3559" fmla="*/ 20040 w 9635294"/>
              <a:gd name="connsiteY3559" fmla="*/ 1860531 h 6211920"/>
              <a:gd name="connsiteX3560" fmla="*/ 18212 w 9635294"/>
              <a:gd name="connsiteY3560" fmla="*/ 1858524 h 6211920"/>
              <a:gd name="connsiteX3561" fmla="*/ 8846 w 9635294"/>
              <a:gd name="connsiteY3561" fmla="*/ 1867072 h 6211920"/>
              <a:gd name="connsiteX3562" fmla="*/ 6700 w 9635294"/>
              <a:gd name="connsiteY3562" fmla="*/ 1864722 h 6211920"/>
              <a:gd name="connsiteX3563" fmla="*/ 16078 w 9635294"/>
              <a:gd name="connsiteY3563" fmla="*/ 1856175 h 6211920"/>
              <a:gd name="connsiteX3564" fmla="*/ 9579413 w 9635294"/>
              <a:gd name="connsiteY3564" fmla="*/ 1827321 h 6211920"/>
              <a:gd name="connsiteX3565" fmla="*/ 9579430 w 9635294"/>
              <a:gd name="connsiteY3565" fmla="*/ 1827337 h 6211920"/>
              <a:gd name="connsiteX3566" fmla="*/ 9577352 w 9635294"/>
              <a:gd name="connsiteY3566" fmla="*/ 1829645 h 6211920"/>
              <a:gd name="connsiteX3567" fmla="*/ 9581572 w 9635294"/>
              <a:gd name="connsiteY3567" fmla="*/ 1824958 h 6211920"/>
              <a:gd name="connsiteX3568" fmla="*/ 9600431 w 9635294"/>
              <a:gd name="connsiteY3568" fmla="*/ 1841964 h 6211920"/>
              <a:gd name="connsiteX3569" fmla="*/ 9591923 w 9635294"/>
              <a:gd name="connsiteY3569" fmla="*/ 1851381 h 6211920"/>
              <a:gd name="connsiteX3570" fmla="*/ 9573063 w 9635294"/>
              <a:gd name="connsiteY3570" fmla="*/ 1834407 h 6211920"/>
              <a:gd name="connsiteX3571" fmla="*/ 9577352 w 9635294"/>
              <a:gd name="connsiteY3571" fmla="*/ 1829645 h 6211920"/>
              <a:gd name="connsiteX3572" fmla="*/ 9575222 w 9635294"/>
              <a:gd name="connsiteY3572" fmla="*/ 1832045 h 6211920"/>
              <a:gd name="connsiteX3573" fmla="*/ 9594019 w 9635294"/>
              <a:gd name="connsiteY3573" fmla="*/ 1849025 h 6211920"/>
              <a:gd name="connsiteX3574" fmla="*/ 9598273 w 9635294"/>
              <a:gd name="connsiteY3574" fmla="*/ 1844319 h 6211920"/>
              <a:gd name="connsiteX3575" fmla="*/ 9579430 w 9635294"/>
              <a:gd name="connsiteY3575" fmla="*/ 1827337 h 6211920"/>
              <a:gd name="connsiteX3576" fmla="*/ 55855 w 9635294"/>
              <a:gd name="connsiteY3576" fmla="*/ 1824520 h 6211920"/>
              <a:gd name="connsiteX3577" fmla="*/ 37008 w 9635294"/>
              <a:gd name="connsiteY3577" fmla="*/ 1841487 h 6211920"/>
              <a:gd name="connsiteX3578" fmla="*/ 41263 w 9635294"/>
              <a:gd name="connsiteY3578" fmla="*/ 1846199 h 6211920"/>
              <a:gd name="connsiteX3579" fmla="*/ 60097 w 9635294"/>
              <a:gd name="connsiteY3579" fmla="*/ 1829245 h 6211920"/>
              <a:gd name="connsiteX3580" fmla="*/ 53734 w 9635294"/>
              <a:gd name="connsiteY3580" fmla="*/ 1822152 h 6211920"/>
              <a:gd name="connsiteX3581" fmla="*/ 62218 w 9635294"/>
              <a:gd name="connsiteY3581" fmla="*/ 1831607 h 6211920"/>
              <a:gd name="connsiteX3582" fmla="*/ 43390 w 9635294"/>
              <a:gd name="connsiteY3582" fmla="*/ 1848555 h 6211920"/>
              <a:gd name="connsiteX3583" fmla="*/ 34874 w 9635294"/>
              <a:gd name="connsiteY3583" fmla="*/ 1839132 h 6211920"/>
              <a:gd name="connsiteX3584" fmla="*/ 53734 w 9635294"/>
              <a:gd name="connsiteY3584" fmla="*/ 1822152 h 6211920"/>
              <a:gd name="connsiteX3585" fmla="*/ 9560545 w 9635294"/>
              <a:gd name="connsiteY3585" fmla="*/ 1810383 h 6211920"/>
              <a:gd name="connsiteX3586" fmla="*/ 9560554 w 9635294"/>
              <a:gd name="connsiteY3586" fmla="*/ 1810391 h 6211920"/>
              <a:gd name="connsiteX3587" fmla="*/ 9558493 w 9635294"/>
              <a:gd name="connsiteY3587" fmla="*/ 1812686 h 6211920"/>
              <a:gd name="connsiteX3588" fmla="*/ 74766 w 9635294"/>
              <a:gd name="connsiteY3588" fmla="*/ 1807610 h 6211920"/>
              <a:gd name="connsiteX3589" fmla="*/ 78991 w 9635294"/>
              <a:gd name="connsiteY3589" fmla="*/ 1812352 h 6211920"/>
              <a:gd name="connsiteX3590" fmla="*/ 78988 w 9635294"/>
              <a:gd name="connsiteY3590" fmla="*/ 1812354 h 6211920"/>
              <a:gd name="connsiteX3591" fmla="*/ 74765 w 9635294"/>
              <a:gd name="connsiteY3591" fmla="*/ 1807610 h 6211920"/>
              <a:gd name="connsiteX3592" fmla="*/ 9537321 w 9635294"/>
              <a:gd name="connsiteY3592" fmla="*/ 1798290 h 6211920"/>
              <a:gd name="connsiteX3593" fmla="*/ 9556299 w 9635294"/>
              <a:gd name="connsiteY3593" fmla="*/ 1815128 h 6211920"/>
              <a:gd name="connsiteX3594" fmla="*/ 9558493 w 9635294"/>
              <a:gd name="connsiteY3594" fmla="*/ 1812686 h 6211920"/>
              <a:gd name="connsiteX3595" fmla="*/ 9554204 w 9635294"/>
              <a:gd name="connsiteY3595" fmla="*/ 1817497 h 6211920"/>
              <a:gd name="connsiteX3596" fmla="*/ 9535218 w 9635294"/>
              <a:gd name="connsiteY3596" fmla="*/ 1800657 h 6211920"/>
              <a:gd name="connsiteX3597" fmla="*/ 9539441 w 9635294"/>
              <a:gd name="connsiteY3597" fmla="*/ 1795904 h 6211920"/>
              <a:gd name="connsiteX3598" fmla="*/ 9537321 w 9635294"/>
              <a:gd name="connsiteY3598" fmla="*/ 1798290 h 6211920"/>
              <a:gd name="connsiteX3599" fmla="*/ 9537313 w 9635294"/>
              <a:gd name="connsiteY3599" fmla="*/ 1798282 h 6211920"/>
              <a:gd name="connsiteX3600" fmla="*/ 95313 w 9635294"/>
              <a:gd name="connsiteY3600" fmla="*/ 1792550 h 6211920"/>
              <a:gd name="connsiteX3601" fmla="*/ 100051 w 9635294"/>
              <a:gd name="connsiteY3601" fmla="*/ 1797907 h 6211920"/>
              <a:gd name="connsiteX3602" fmla="*/ 81102 w 9635294"/>
              <a:gd name="connsiteY3602" fmla="*/ 1814722 h 6211920"/>
              <a:gd name="connsiteX3603" fmla="*/ 78991 w 9635294"/>
              <a:gd name="connsiteY3603" fmla="*/ 1812352 h 6211920"/>
              <a:gd name="connsiteX3604" fmla="*/ 97943 w 9635294"/>
              <a:gd name="connsiteY3604" fmla="*/ 1795526 h 6211920"/>
              <a:gd name="connsiteX3605" fmla="*/ 9543663 w 9635294"/>
              <a:gd name="connsiteY3605" fmla="*/ 1791151 h 6211920"/>
              <a:gd name="connsiteX3606" fmla="*/ 9562649 w 9635294"/>
              <a:gd name="connsiteY3606" fmla="*/ 1808023 h 6211920"/>
              <a:gd name="connsiteX3607" fmla="*/ 9560545 w 9635294"/>
              <a:gd name="connsiteY3607" fmla="*/ 1810383 h 6211920"/>
              <a:gd name="connsiteX3608" fmla="*/ 9541568 w 9635294"/>
              <a:gd name="connsiteY3608" fmla="*/ 1793526 h 6211920"/>
              <a:gd name="connsiteX3609" fmla="*/ 9539441 w 9635294"/>
              <a:gd name="connsiteY3609" fmla="*/ 1795904 h 6211920"/>
              <a:gd name="connsiteX3610" fmla="*/ 93739 w 9635294"/>
              <a:gd name="connsiteY3610" fmla="*/ 1790770 h 6211920"/>
              <a:gd name="connsiteX3611" fmla="*/ 95313 w 9635294"/>
              <a:gd name="connsiteY3611" fmla="*/ 1792550 h 6211920"/>
              <a:gd name="connsiteX3612" fmla="*/ 93739 w 9635294"/>
              <a:gd name="connsiteY3612" fmla="*/ 1790771 h 6211920"/>
              <a:gd name="connsiteX3613" fmla="*/ 91637 w 9635294"/>
              <a:gd name="connsiteY3613" fmla="*/ 1788395 h 6211920"/>
              <a:gd name="connsiteX3614" fmla="*/ 93739 w 9635294"/>
              <a:gd name="connsiteY3614" fmla="*/ 1790771 h 6211920"/>
              <a:gd name="connsiteX3615" fmla="*/ 74766 w 9635294"/>
              <a:gd name="connsiteY3615" fmla="*/ 1807610 h 6211920"/>
              <a:gd name="connsiteX3616" fmla="*/ 72657 w 9635294"/>
              <a:gd name="connsiteY3616" fmla="*/ 1805242 h 6211920"/>
              <a:gd name="connsiteX3617" fmla="*/ 91637 w 9635294"/>
              <a:gd name="connsiteY3617" fmla="*/ 1788395 h 6211920"/>
              <a:gd name="connsiteX3618" fmla="*/ 9522517 w 9635294"/>
              <a:gd name="connsiteY3618" fmla="*/ 1776730 h 6211920"/>
              <a:gd name="connsiteX3619" fmla="*/ 9522518 w 9635294"/>
              <a:gd name="connsiteY3619" fmla="*/ 1776730 h 6211920"/>
              <a:gd name="connsiteX3620" fmla="*/ 9520922 w 9635294"/>
              <a:gd name="connsiteY3620" fmla="*/ 1778546 h 6211920"/>
              <a:gd name="connsiteX3621" fmla="*/ 112771 w 9635294"/>
              <a:gd name="connsiteY3621" fmla="*/ 1774000 h 6211920"/>
              <a:gd name="connsiteX3622" fmla="*/ 114328 w 9635294"/>
              <a:gd name="connsiteY3622" fmla="*/ 1775772 h 6211920"/>
              <a:gd name="connsiteX3623" fmla="*/ 112770 w 9635294"/>
              <a:gd name="connsiteY3623" fmla="*/ 1774000 h 6211920"/>
              <a:gd name="connsiteX3624" fmla="*/ 9499238 w 9635294"/>
              <a:gd name="connsiteY3624" fmla="*/ 1764808 h 6211920"/>
              <a:gd name="connsiteX3625" fmla="*/ 9518326 w 9635294"/>
              <a:gd name="connsiteY3625" fmla="*/ 1781499 h 6211920"/>
              <a:gd name="connsiteX3626" fmla="*/ 9520922 w 9635294"/>
              <a:gd name="connsiteY3626" fmla="*/ 1778546 h 6211920"/>
              <a:gd name="connsiteX3627" fmla="*/ 9516231 w 9635294"/>
              <a:gd name="connsiteY3627" fmla="*/ 1783887 h 6211920"/>
              <a:gd name="connsiteX3628" fmla="*/ 9497181 w 9635294"/>
              <a:gd name="connsiteY3628" fmla="*/ 1767173 h 6211920"/>
              <a:gd name="connsiteX3629" fmla="*/ 136034 w 9635294"/>
              <a:gd name="connsiteY3629" fmla="*/ 1762083 h 6211920"/>
              <a:gd name="connsiteX3630" fmla="*/ 138119 w 9635294"/>
              <a:gd name="connsiteY3630" fmla="*/ 1764475 h 6211920"/>
              <a:gd name="connsiteX3631" fmla="*/ 119056 w 9635294"/>
              <a:gd name="connsiteY3631" fmla="*/ 1781156 h 6211920"/>
              <a:gd name="connsiteX3632" fmla="*/ 114328 w 9635294"/>
              <a:gd name="connsiteY3632" fmla="*/ 1775772 h 6211920"/>
              <a:gd name="connsiteX3633" fmla="*/ 116961 w 9635294"/>
              <a:gd name="connsiteY3633" fmla="*/ 1778768 h 6211920"/>
              <a:gd name="connsiteX3634" fmla="*/ 9503404 w 9635294"/>
              <a:gd name="connsiteY3634" fmla="*/ 1759998 h 6211920"/>
              <a:gd name="connsiteX3635" fmla="*/ 9503414 w 9635294"/>
              <a:gd name="connsiteY3635" fmla="*/ 1760007 h 6211920"/>
              <a:gd name="connsiteX3636" fmla="*/ 9499238 w 9635294"/>
              <a:gd name="connsiteY3636" fmla="*/ 1764808 h 6211920"/>
              <a:gd name="connsiteX3637" fmla="*/ 9499213 w 9635294"/>
              <a:gd name="connsiteY3637" fmla="*/ 1764786 h 6211920"/>
              <a:gd name="connsiteX3638" fmla="*/ 9505499 w 9635294"/>
              <a:gd name="connsiteY3638" fmla="*/ 1757610 h 6211920"/>
              <a:gd name="connsiteX3639" fmla="*/ 9524613 w 9635294"/>
              <a:gd name="connsiteY3639" fmla="*/ 1774343 h 6211920"/>
              <a:gd name="connsiteX3640" fmla="*/ 9522517 w 9635294"/>
              <a:gd name="connsiteY3640" fmla="*/ 1776730 h 6211920"/>
              <a:gd name="connsiteX3641" fmla="*/ 9503414 w 9635294"/>
              <a:gd name="connsiteY3641" fmla="*/ 1760007 h 6211920"/>
              <a:gd name="connsiteX3642" fmla="*/ 131864 w 9635294"/>
              <a:gd name="connsiteY3642" fmla="*/ 1757293 h 6211920"/>
              <a:gd name="connsiteX3643" fmla="*/ 136036 w 9635294"/>
              <a:gd name="connsiteY3643" fmla="*/ 1762081 h 6211920"/>
              <a:gd name="connsiteX3644" fmla="*/ 136034 w 9635294"/>
              <a:gd name="connsiteY3644" fmla="*/ 1762083 h 6211920"/>
              <a:gd name="connsiteX3645" fmla="*/ 131860 w 9635294"/>
              <a:gd name="connsiteY3645" fmla="*/ 1757297 h 6211920"/>
              <a:gd name="connsiteX3646" fmla="*/ 129775 w 9635294"/>
              <a:gd name="connsiteY3646" fmla="*/ 1754905 h 6211920"/>
              <a:gd name="connsiteX3647" fmla="*/ 131860 w 9635294"/>
              <a:gd name="connsiteY3647" fmla="*/ 1757297 h 6211920"/>
              <a:gd name="connsiteX3648" fmla="*/ 112771 w 9635294"/>
              <a:gd name="connsiteY3648" fmla="*/ 1774000 h 6211920"/>
              <a:gd name="connsiteX3649" fmla="*/ 110674 w 9635294"/>
              <a:gd name="connsiteY3649" fmla="*/ 1771612 h 6211920"/>
              <a:gd name="connsiteX3650" fmla="*/ 129775 w 9635294"/>
              <a:gd name="connsiteY3650" fmla="*/ 1754905 h 6211920"/>
              <a:gd name="connsiteX3651" fmla="*/ 153365 w 9635294"/>
              <a:gd name="connsiteY3651" fmla="*/ 1743385 h 6211920"/>
              <a:gd name="connsiteX3652" fmla="*/ 155165 w 9635294"/>
              <a:gd name="connsiteY3652" fmla="*/ 1745462 h 6211920"/>
              <a:gd name="connsiteX3653" fmla="*/ 155163 w 9635294"/>
              <a:gd name="connsiteY3653" fmla="*/ 1745463 h 6211920"/>
              <a:gd name="connsiteX3654" fmla="*/ 9484263 w 9635294"/>
              <a:gd name="connsiteY3654" fmla="*/ 1743319 h 6211920"/>
              <a:gd name="connsiteX3655" fmla="*/ 9484290 w 9635294"/>
              <a:gd name="connsiteY3655" fmla="*/ 1743342 h 6211920"/>
              <a:gd name="connsiteX3656" fmla="*/ 9480099 w 9635294"/>
              <a:gd name="connsiteY3656" fmla="*/ 1748142 h 6211920"/>
              <a:gd name="connsiteX3657" fmla="*/ 9480090 w 9635294"/>
              <a:gd name="connsiteY3657" fmla="*/ 1748135 h 6211920"/>
              <a:gd name="connsiteX3658" fmla="*/ 9463032 w 9635294"/>
              <a:gd name="connsiteY3658" fmla="*/ 1729102 h 6211920"/>
              <a:gd name="connsiteX3659" fmla="*/ 9460922 w 9635294"/>
              <a:gd name="connsiteY3659" fmla="*/ 1731563 h 6211920"/>
              <a:gd name="connsiteX3660" fmla="*/ 9480090 w 9635294"/>
              <a:gd name="connsiteY3660" fmla="*/ 1748135 h 6211920"/>
              <a:gd name="connsiteX3661" fmla="*/ 9478004 w 9635294"/>
              <a:gd name="connsiteY3661" fmla="*/ 1750543 h 6211920"/>
              <a:gd name="connsiteX3662" fmla="*/ 9458827 w 9635294"/>
              <a:gd name="connsiteY3662" fmla="*/ 1733969 h 6211920"/>
              <a:gd name="connsiteX3663" fmla="*/ 174352 w 9635294"/>
              <a:gd name="connsiteY3663" fmla="*/ 1728908 h 6211920"/>
              <a:gd name="connsiteX3664" fmla="*/ 176422 w 9635294"/>
              <a:gd name="connsiteY3664" fmla="*/ 1731315 h 6211920"/>
              <a:gd name="connsiteX3665" fmla="*/ 157245 w 9635294"/>
              <a:gd name="connsiteY3665" fmla="*/ 1747863 h 6211920"/>
              <a:gd name="connsiteX3666" fmla="*/ 155165 w 9635294"/>
              <a:gd name="connsiteY3666" fmla="*/ 1745462 h 6211920"/>
              <a:gd name="connsiteX3667" fmla="*/ 9465050 w 9635294"/>
              <a:gd name="connsiteY3667" fmla="*/ 1726749 h 6211920"/>
              <a:gd name="connsiteX3668" fmla="*/ 9465059 w 9635294"/>
              <a:gd name="connsiteY3668" fmla="*/ 1726757 h 6211920"/>
              <a:gd name="connsiteX3669" fmla="*/ 9463032 w 9635294"/>
              <a:gd name="connsiteY3669" fmla="*/ 1729102 h 6211920"/>
              <a:gd name="connsiteX3670" fmla="*/ 172282 w 9635294"/>
              <a:gd name="connsiteY3670" fmla="*/ 1726502 h 6211920"/>
              <a:gd name="connsiteX3671" fmla="*/ 174352 w 9635294"/>
              <a:gd name="connsiteY3671" fmla="*/ 1728908 h 6211920"/>
              <a:gd name="connsiteX3672" fmla="*/ 174352 w 9635294"/>
              <a:gd name="connsiteY3672" fmla="*/ 1728908 h 6211920"/>
              <a:gd name="connsiteX3673" fmla="*/ 9467145 w 9635294"/>
              <a:gd name="connsiteY3673" fmla="*/ 1724342 h 6211920"/>
              <a:gd name="connsiteX3674" fmla="*/ 9486322 w 9635294"/>
              <a:gd name="connsiteY3674" fmla="*/ 1740941 h 6211920"/>
              <a:gd name="connsiteX3675" fmla="*/ 9484263 w 9635294"/>
              <a:gd name="connsiteY3675" fmla="*/ 1743319 h 6211920"/>
              <a:gd name="connsiteX3676" fmla="*/ 9465059 w 9635294"/>
              <a:gd name="connsiteY3676" fmla="*/ 1726757 h 6211920"/>
              <a:gd name="connsiteX3677" fmla="*/ 168142 w 9635294"/>
              <a:gd name="connsiteY3677" fmla="*/ 1721688 h 6211920"/>
              <a:gd name="connsiteX3678" fmla="*/ 172282 w 9635294"/>
              <a:gd name="connsiteY3678" fmla="*/ 1726502 h 6211920"/>
              <a:gd name="connsiteX3679" fmla="*/ 170212 w 9635294"/>
              <a:gd name="connsiteY3679" fmla="*/ 1724095 h 6211920"/>
              <a:gd name="connsiteX3680" fmla="*/ 151010 w 9635294"/>
              <a:gd name="connsiteY3680" fmla="*/ 1740662 h 6211920"/>
              <a:gd name="connsiteX3681" fmla="*/ 153365 w 9635294"/>
              <a:gd name="connsiteY3681" fmla="*/ 1743385 h 6211920"/>
              <a:gd name="connsiteX3682" fmla="*/ 148927 w 9635294"/>
              <a:gd name="connsiteY3682" fmla="*/ 1738262 h 6211920"/>
              <a:gd name="connsiteX3683" fmla="*/ 168142 w 9635294"/>
              <a:gd name="connsiteY3683" fmla="*/ 1721688 h 6211920"/>
              <a:gd name="connsiteX3684" fmla="*/ 9445791 w 9635294"/>
              <a:gd name="connsiteY3684" fmla="*/ 1710211 h 6211920"/>
              <a:gd name="connsiteX3685" fmla="*/ 9445809 w 9635294"/>
              <a:gd name="connsiteY3685" fmla="*/ 1710226 h 6211920"/>
              <a:gd name="connsiteX3686" fmla="*/ 9441681 w 9635294"/>
              <a:gd name="connsiteY3686" fmla="*/ 1715053 h 6211920"/>
              <a:gd name="connsiteX3687" fmla="*/ 9441663 w 9635294"/>
              <a:gd name="connsiteY3687" fmla="*/ 1715038 h 6211920"/>
              <a:gd name="connsiteX3688" fmla="*/ 189479 w 9635294"/>
              <a:gd name="connsiteY3688" fmla="*/ 1707590 h 6211920"/>
              <a:gd name="connsiteX3689" fmla="*/ 193602 w 9635294"/>
              <a:gd name="connsiteY3689" fmla="*/ 1712422 h 6211920"/>
              <a:gd name="connsiteX3690" fmla="*/ 193599 w 9635294"/>
              <a:gd name="connsiteY3690" fmla="*/ 1712424 h 6211920"/>
              <a:gd name="connsiteX3691" fmla="*/ 189478 w 9635294"/>
              <a:gd name="connsiteY3691" fmla="*/ 1707591 h 6211920"/>
              <a:gd name="connsiteX3692" fmla="*/ 9422323 w 9635294"/>
              <a:gd name="connsiteY3692" fmla="*/ 1698620 h 6211920"/>
              <a:gd name="connsiteX3693" fmla="*/ 9441663 w 9635294"/>
              <a:gd name="connsiteY3693" fmla="*/ 1715038 h 6211920"/>
              <a:gd name="connsiteX3694" fmla="*/ 9439586 w 9635294"/>
              <a:gd name="connsiteY3694" fmla="*/ 1717466 h 6211920"/>
              <a:gd name="connsiteX3695" fmla="*/ 9420282 w 9635294"/>
              <a:gd name="connsiteY3695" fmla="*/ 1701032 h 6211920"/>
              <a:gd name="connsiteX3696" fmla="*/ 9424412 w 9635294"/>
              <a:gd name="connsiteY3696" fmla="*/ 1696150 h 6211920"/>
              <a:gd name="connsiteX3697" fmla="*/ 9422323 w 9635294"/>
              <a:gd name="connsiteY3697" fmla="*/ 1698620 h 6211920"/>
              <a:gd name="connsiteX3698" fmla="*/ 9422314 w 9635294"/>
              <a:gd name="connsiteY3698" fmla="*/ 1698612 h 6211920"/>
              <a:gd name="connsiteX3699" fmla="*/ 9428474 w 9635294"/>
              <a:gd name="connsiteY3699" fmla="*/ 1691348 h 6211920"/>
              <a:gd name="connsiteX3700" fmla="*/ 9447842 w 9635294"/>
              <a:gd name="connsiteY3700" fmla="*/ 1707813 h 6211920"/>
              <a:gd name="connsiteX3701" fmla="*/ 9445791 w 9635294"/>
              <a:gd name="connsiteY3701" fmla="*/ 1710211 h 6211920"/>
              <a:gd name="connsiteX3702" fmla="*/ 9426442 w 9635294"/>
              <a:gd name="connsiteY3702" fmla="*/ 1693767 h 6211920"/>
              <a:gd name="connsiteX3703" fmla="*/ 9424412 w 9635294"/>
              <a:gd name="connsiteY3703" fmla="*/ 1696150 h 6211920"/>
              <a:gd name="connsiteX3704" fmla="*/ 206750 w 9635294"/>
              <a:gd name="connsiteY3704" fmla="*/ 1688738 h 6211920"/>
              <a:gd name="connsiteX3705" fmla="*/ 214960 w 9635294"/>
              <a:gd name="connsiteY3705" fmla="*/ 1698428 h 6211920"/>
              <a:gd name="connsiteX3706" fmla="*/ 195663 w 9635294"/>
              <a:gd name="connsiteY3706" fmla="*/ 1714837 h 6211920"/>
              <a:gd name="connsiteX3707" fmla="*/ 193602 w 9635294"/>
              <a:gd name="connsiteY3707" fmla="*/ 1712422 h 6211920"/>
              <a:gd name="connsiteX3708" fmla="*/ 212909 w 9635294"/>
              <a:gd name="connsiteY3708" fmla="*/ 1696009 h 6211920"/>
              <a:gd name="connsiteX3709" fmla="*/ 208801 w 9635294"/>
              <a:gd name="connsiteY3709" fmla="*/ 1691164 h 6211920"/>
              <a:gd name="connsiteX3710" fmla="*/ 189479 w 9635294"/>
              <a:gd name="connsiteY3710" fmla="*/ 1707590 h 6211920"/>
              <a:gd name="connsiteX3711" fmla="*/ 187421 w 9635294"/>
              <a:gd name="connsiteY3711" fmla="*/ 1705178 h 6211920"/>
              <a:gd name="connsiteX3712" fmla="*/ 206750 w 9635294"/>
              <a:gd name="connsiteY3712" fmla="*/ 1688738 h 6211920"/>
              <a:gd name="connsiteX3713" fmla="*/ 9407067 w 9635294"/>
              <a:gd name="connsiteY3713" fmla="*/ 1677372 h 6211920"/>
              <a:gd name="connsiteX3714" fmla="*/ 9407074 w 9635294"/>
              <a:gd name="connsiteY3714" fmla="*/ 1677378 h 6211920"/>
              <a:gd name="connsiteX3715" fmla="*/ 9405418 w 9635294"/>
              <a:gd name="connsiteY3715" fmla="*/ 1679328 h 6211920"/>
              <a:gd name="connsiteX3716" fmla="*/ 229895 w 9635294"/>
              <a:gd name="connsiteY3716" fmla="*/ 1676824 h 6211920"/>
              <a:gd name="connsiteX3717" fmla="*/ 232279 w 9635294"/>
              <a:gd name="connsiteY3717" fmla="*/ 1679657 h 6211920"/>
              <a:gd name="connsiteX3718" fmla="*/ 232277 w 9635294"/>
              <a:gd name="connsiteY3718" fmla="*/ 1679658 h 6211920"/>
              <a:gd name="connsiteX3719" fmla="*/ 9383527 w 9635294"/>
              <a:gd name="connsiteY3719" fmla="*/ 1665938 h 6211920"/>
              <a:gd name="connsiteX3720" fmla="*/ 9402947 w 9635294"/>
              <a:gd name="connsiteY3720" fmla="*/ 1682236 h 6211920"/>
              <a:gd name="connsiteX3721" fmla="*/ 9405418 w 9635294"/>
              <a:gd name="connsiteY3721" fmla="*/ 1679328 h 6211920"/>
              <a:gd name="connsiteX3722" fmla="*/ 9400915 w 9635294"/>
              <a:gd name="connsiteY3722" fmla="*/ 1684668 h 6211920"/>
              <a:gd name="connsiteX3723" fmla="*/ 9381484 w 9635294"/>
              <a:gd name="connsiteY3723" fmla="*/ 1668367 h 6211920"/>
              <a:gd name="connsiteX3724" fmla="*/ 251700 w 9635294"/>
              <a:gd name="connsiteY3724" fmla="*/ 1663372 h 6211920"/>
              <a:gd name="connsiteX3725" fmla="*/ 253734 w 9635294"/>
              <a:gd name="connsiteY3725" fmla="*/ 1665808 h 6211920"/>
              <a:gd name="connsiteX3726" fmla="*/ 234322 w 9635294"/>
              <a:gd name="connsiteY3726" fmla="*/ 1682083 h 6211920"/>
              <a:gd name="connsiteX3727" fmla="*/ 232279 w 9635294"/>
              <a:gd name="connsiteY3727" fmla="*/ 1679657 h 6211920"/>
              <a:gd name="connsiteX3728" fmla="*/ 9387580 w 9635294"/>
              <a:gd name="connsiteY3728" fmla="*/ 1661059 h 6211920"/>
              <a:gd name="connsiteX3729" fmla="*/ 9387609 w 9635294"/>
              <a:gd name="connsiteY3729" fmla="*/ 1661084 h 6211920"/>
              <a:gd name="connsiteX3730" fmla="*/ 9383527 w 9635294"/>
              <a:gd name="connsiteY3730" fmla="*/ 1665938 h 6211920"/>
              <a:gd name="connsiteX3731" fmla="*/ 9383516 w 9635294"/>
              <a:gd name="connsiteY3731" fmla="*/ 1665929 h 6211920"/>
              <a:gd name="connsiteX3732" fmla="*/ 9389675 w 9635294"/>
              <a:gd name="connsiteY3732" fmla="*/ 1658626 h 6211920"/>
              <a:gd name="connsiteX3733" fmla="*/ 9409107 w 9635294"/>
              <a:gd name="connsiteY3733" fmla="*/ 1674952 h 6211920"/>
              <a:gd name="connsiteX3734" fmla="*/ 9407067 w 9635294"/>
              <a:gd name="connsiteY3734" fmla="*/ 1677372 h 6211920"/>
              <a:gd name="connsiteX3735" fmla="*/ 9387609 w 9635294"/>
              <a:gd name="connsiteY3735" fmla="*/ 1661084 h 6211920"/>
              <a:gd name="connsiteX3736" fmla="*/ 247631 w 9635294"/>
              <a:gd name="connsiteY3736" fmla="*/ 1658499 h 6211920"/>
              <a:gd name="connsiteX3737" fmla="*/ 251702 w 9635294"/>
              <a:gd name="connsiteY3737" fmla="*/ 1663370 h 6211920"/>
              <a:gd name="connsiteX3738" fmla="*/ 251700 w 9635294"/>
              <a:gd name="connsiteY3738" fmla="*/ 1663372 h 6211920"/>
              <a:gd name="connsiteX3739" fmla="*/ 247630 w 9635294"/>
              <a:gd name="connsiteY3739" fmla="*/ 1658500 h 6211920"/>
              <a:gd name="connsiteX3740" fmla="*/ 245593 w 9635294"/>
              <a:gd name="connsiteY3740" fmla="*/ 1656061 h 6211920"/>
              <a:gd name="connsiteX3741" fmla="*/ 247630 w 9635294"/>
              <a:gd name="connsiteY3741" fmla="*/ 1658500 h 6211920"/>
              <a:gd name="connsiteX3742" fmla="*/ 228188 w 9635294"/>
              <a:gd name="connsiteY3742" fmla="*/ 1674794 h 6211920"/>
              <a:gd name="connsiteX3743" fmla="*/ 229895 w 9635294"/>
              <a:gd name="connsiteY3743" fmla="*/ 1676824 h 6211920"/>
              <a:gd name="connsiteX3744" fmla="*/ 226143 w 9635294"/>
              <a:gd name="connsiteY3744" fmla="*/ 1672368 h 6211920"/>
              <a:gd name="connsiteX3745" fmla="*/ 245593 w 9635294"/>
              <a:gd name="connsiteY3745" fmla="*/ 1656061 h 6211920"/>
              <a:gd name="connsiteX3746" fmla="*/ 267954 w 9635294"/>
              <a:gd name="connsiteY3746" fmla="*/ 1643274 h 6211920"/>
              <a:gd name="connsiteX3747" fmla="*/ 271178 w 9635294"/>
              <a:gd name="connsiteY3747" fmla="*/ 1647165 h 6211920"/>
              <a:gd name="connsiteX3748" fmla="*/ 271177 w 9635294"/>
              <a:gd name="connsiteY3748" fmla="*/ 1647165 h 6211920"/>
              <a:gd name="connsiteX3749" fmla="*/ 290713 w 9635294"/>
              <a:gd name="connsiteY3749" fmla="*/ 1631026 h 6211920"/>
              <a:gd name="connsiteX3750" fmla="*/ 292729 w 9635294"/>
              <a:gd name="connsiteY3750" fmla="*/ 1633474 h 6211920"/>
              <a:gd name="connsiteX3751" fmla="*/ 273203 w 9635294"/>
              <a:gd name="connsiteY3751" fmla="*/ 1649609 h 6211920"/>
              <a:gd name="connsiteX3752" fmla="*/ 271178 w 9635294"/>
              <a:gd name="connsiteY3752" fmla="*/ 1647165 h 6211920"/>
              <a:gd name="connsiteX3753" fmla="*/ 9348527 w 9635294"/>
              <a:gd name="connsiteY3753" fmla="*/ 1628635 h 6211920"/>
              <a:gd name="connsiteX3754" fmla="*/ 9348536 w 9635294"/>
              <a:gd name="connsiteY3754" fmla="*/ 1628643 h 6211920"/>
              <a:gd name="connsiteX3755" fmla="*/ 9346584 w 9635294"/>
              <a:gd name="connsiteY3755" fmla="*/ 1631013 h 6211920"/>
              <a:gd name="connsiteX3756" fmla="*/ 9350559 w 9635294"/>
              <a:gd name="connsiteY3756" fmla="*/ 1626184 h 6211920"/>
              <a:gd name="connsiteX3757" fmla="*/ 9370118 w 9635294"/>
              <a:gd name="connsiteY3757" fmla="*/ 1642370 h 6211920"/>
              <a:gd name="connsiteX3758" fmla="*/ 9362053 w 9635294"/>
              <a:gd name="connsiteY3758" fmla="*/ 1652143 h 6211920"/>
              <a:gd name="connsiteX3759" fmla="*/ 9342494 w 9635294"/>
              <a:gd name="connsiteY3759" fmla="*/ 1635982 h 6211920"/>
              <a:gd name="connsiteX3760" fmla="*/ 9346584 w 9635294"/>
              <a:gd name="connsiteY3760" fmla="*/ 1631013 h 6211920"/>
              <a:gd name="connsiteX3761" fmla="*/ 9344527 w 9635294"/>
              <a:gd name="connsiteY3761" fmla="*/ 1633531 h 6211920"/>
              <a:gd name="connsiteX3762" fmla="*/ 9364021 w 9635294"/>
              <a:gd name="connsiteY3762" fmla="*/ 1649698 h 6211920"/>
              <a:gd name="connsiteX3763" fmla="*/ 9368085 w 9635294"/>
              <a:gd name="connsiteY3763" fmla="*/ 1644809 h 6211920"/>
              <a:gd name="connsiteX3764" fmla="*/ 9348536 w 9635294"/>
              <a:gd name="connsiteY3764" fmla="*/ 1628643 h 6211920"/>
              <a:gd name="connsiteX3765" fmla="*/ 286677 w 9635294"/>
              <a:gd name="connsiteY3765" fmla="*/ 1626121 h 6211920"/>
              <a:gd name="connsiteX3766" fmla="*/ 290716 w 9635294"/>
              <a:gd name="connsiteY3766" fmla="*/ 1631023 h 6211920"/>
              <a:gd name="connsiteX3767" fmla="*/ 290713 w 9635294"/>
              <a:gd name="connsiteY3767" fmla="*/ 1631026 h 6211920"/>
              <a:gd name="connsiteX3768" fmla="*/ 286677 w 9635294"/>
              <a:gd name="connsiteY3768" fmla="*/ 1626122 h 6211920"/>
              <a:gd name="connsiteX3769" fmla="*/ 284658 w 9635294"/>
              <a:gd name="connsiteY3769" fmla="*/ 1623670 h 6211920"/>
              <a:gd name="connsiteX3770" fmla="*/ 286677 w 9635294"/>
              <a:gd name="connsiteY3770" fmla="*/ 1626122 h 6211920"/>
              <a:gd name="connsiteX3771" fmla="*/ 267126 w 9635294"/>
              <a:gd name="connsiteY3771" fmla="*/ 1642275 h 6211920"/>
              <a:gd name="connsiteX3772" fmla="*/ 267954 w 9635294"/>
              <a:gd name="connsiteY3772" fmla="*/ 1643274 h 6211920"/>
              <a:gd name="connsiteX3773" fmla="*/ 265100 w 9635294"/>
              <a:gd name="connsiteY3773" fmla="*/ 1639830 h 6211920"/>
              <a:gd name="connsiteX3774" fmla="*/ 284658 w 9635294"/>
              <a:gd name="connsiteY3774" fmla="*/ 1623670 h 6211920"/>
              <a:gd name="connsiteX3775" fmla="*/ 9326981 w 9635294"/>
              <a:gd name="connsiteY3775" fmla="*/ 1614888 h 6211920"/>
              <a:gd name="connsiteX3776" fmla="*/ 9324906 w 9635294"/>
              <a:gd name="connsiteY3776" fmla="*/ 1617434 h 6211920"/>
              <a:gd name="connsiteX3777" fmla="*/ 9324897 w 9635294"/>
              <a:gd name="connsiteY3777" fmla="*/ 1617427 h 6211920"/>
              <a:gd name="connsiteX3778" fmla="*/ 306291 w 9635294"/>
              <a:gd name="connsiteY3778" fmla="*/ 1610033 h 6211920"/>
              <a:gd name="connsiteX3779" fmla="*/ 310309 w 9635294"/>
              <a:gd name="connsiteY3779" fmla="*/ 1614949 h 6211920"/>
              <a:gd name="connsiteX3780" fmla="*/ 310306 w 9635294"/>
              <a:gd name="connsiteY3780" fmla="*/ 1614951 h 6211920"/>
              <a:gd name="connsiteX3781" fmla="*/ 306286 w 9635294"/>
              <a:gd name="connsiteY3781" fmla="*/ 1610036 h 6211920"/>
              <a:gd name="connsiteX3782" fmla="*/ 9305239 w 9635294"/>
              <a:gd name="connsiteY3782" fmla="*/ 1601423 h 6211920"/>
              <a:gd name="connsiteX3783" fmla="*/ 9324897 w 9635294"/>
              <a:gd name="connsiteY3783" fmla="*/ 1617427 h 6211920"/>
              <a:gd name="connsiteX3784" fmla="*/ 9322873 w 9635294"/>
              <a:gd name="connsiteY3784" fmla="*/ 1619891 h 6211920"/>
              <a:gd name="connsiteX3785" fmla="*/ 9303252 w 9635294"/>
              <a:gd name="connsiteY3785" fmla="*/ 1603870 h 6211920"/>
              <a:gd name="connsiteX3786" fmla="*/ 329957 w 9635294"/>
              <a:gd name="connsiteY3786" fmla="*/ 1598945 h 6211920"/>
              <a:gd name="connsiteX3787" fmla="*/ 331959 w 9635294"/>
              <a:gd name="connsiteY3787" fmla="*/ 1601413 h 6211920"/>
              <a:gd name="connsiteX3788" fmla="*/ 312319 w 9635294"/>
              <a:gd name="connsiteY3788" fmla="*/ 1617409 h 6211920"/>
              <a:gd name="connsiteX3789" fmla="*/ 310309 w 9635294"/>
              <a:gd name="connsiteY3789" fmla="*/ 1614949 h 6211920"/>
              <a:gd name="connsiteX3790" fmla="*/ 9307259 w 9635294"/>
              <a:gd name="connsiteY3790" fmla="*/ 1598935 h 6211920"/>
              <a:gd name="connsiteX3791" fmla="*/ 9305239 w 9635294"/>
              <a:gd name="connsiteY3791" fmla="*/ 1601423 h 6211920"/>
              <a:gd name="connsiteX3792" fmla="*/ 9305220 w 9635294"/>
              <a:gd name="connsiteY3792" fmla="*/ 1601407 h 6211920"/>
              <a:gd name="connsiteX3793" fmla="*/ 9311253 w 9635294"/>
              <a:gd name="connsiteY3793" fmla="*/ 1594015 h 6211920"/>
              <a:gd name="connsiteX3794" fmla="*/ 9330938 w 9635294"/>
              <a:gd name="connsiteY3794" fmla="*/ 1610068 h 6211920"/>
              <a:gd name="connsiteX3795" fmla="*/ 9326981 w 9635294"/>
              <a:gd name="connsiteY3795" fmla="*/ 1614888 h 6211920"/>
              <a:gd name="connsiteX3796" fmla="*/ 9328906 w 9635294"/>
              <a:gd name="connsiteY3796" fmla="*/ 1612525 h 6211920"/>
              <a:gd name="connsiteX3797" fmla="*/ 9309284 w 9635294"/>
              <a:gd name="connsiteY3797" fmla="*/ 1596479 h 6211920"/>
              <a:gd name="connsiteX3798" fmla="*/ 9307259 w 9635294"/>
              <a:gd name="connsiteY3798" fmla="*/ 1598935 h 6211920"/>
              <a:gd name="connsiteX3799" fmla="*/ 325959 w 9635294"/>
              <a:gd name="connsiteY3799" fmla="*/ 1594015 h 6211920"/>
              <a:gd name="connsiteX3800" fmla="*/ 329959 w 9635294"/>
              <a:gd name="connsiteY3800" fmla="*/ 1598943 h 6211920"/>
              <a:gd name="connsiteX3801" fmla="*/ 329957 w 9635294"/>
              <a:gd name="connsiteY3801" fmla="*/ 1598945 h 6211920"/>
              <a:gd name="connsiteX3802" fmla="*/ 325958 w 9635294"/>
              <a:gd name="connsiteY3802" fmla="*/ 1594016 h 6211920"/>
              <a:gd name="connsiteX3803" fmla="*/ 323958 w 9635294"/>
              <a:gd name="connsiteY3803" fmla="*/ 1591551 h 6211920"/>
              <a:gd name="connsiteX3804" fmla="*/ 325958 w 9635294"/>
              <a:gd name="connsiteY3804" fmla="*/ 1594016 h 6211920"/>
              <a:gd name="connsiteX3805" fmla="*/ 306291 w 9635294"/>
              <a:gd name="connsiteY3805" fmla="*/ 1610033 h 6211920"/>
              <a:gd name="connsiteX3806" fmla="*/ 304280 w 9635294"/>
              <a:gd name="connsiteY3806" fmla="*/ 1607572 h 6211920"/>
              <a:gd name="connsiteX3807" fmla="*/ 323958 w 9635294"/>
              <a:gd name="connsiteY3807" fmla="*/ 1591551 h 6211920"/>
              <a:gd name="connsiteX3808" fmla="*/ 9289527 w 9635294"/>
              <a:gd name="connsiteY3808" fmla="*/ 1580502 h 6211920"/>
              <a:gd name="connsiteX3809" fmla="*/ 9289536 w 9635294"/>
              <a:gd name="connsiteY3809" fmla="*/ 1580509 h 6211920"/>
              <a:gd name="connsiteX3810" fmla="*/ 9287589 w 9635294"/>
              <a:gd name="connsiteY3810" fmla="*/ 1582914 h 6211920"/>
              <a:gd name="connsiteX3811" fmla="*/ 345683 w 9635294"/>
              <a:gd name="connsiteY3811" fmla="*/ 1578064 h 6211920"/>
              <a:gd name="connsiteX3812" fmla="*/ 347676 w 9635294"/>
              <a:gd name="connsiteY3812" fmla="*/ 1580538 h 6211920"/>
              <a:gd name="connsiteX3813" fmla="*/ 345682 w 9635294"/>
              <a:gd name="connsiteY3813" fmla="*/ 1578064 h 6211920"/>
              <a:gd name="connsiteX3814" fmla="*/ 369435 w 9635294"/>
              <a:gd name="connsiteY3814" fmla="*/ 1567145 h 6211920"/>
              <a:gd name="connsiteX3815" fmla="*/ 371418 w 9635294"/>
              <a:gd name="connsiteY3815" fmla="*/ 1569625 h 6211920"/>
              <a:gd name="connsiteX3816" fmla="*/ 351657 w 9635294"/>
              <a:gd name="connsiteY3816" fmla="*/ 1585481 h 6211920"/>
              <a:gd name="connsiteX3817" fmla="*/ 347676 w 9635294"/>
              <a:gd name="connsiteY3817" fmla="*/ 1580538 h 6211920"/>
              <a:gd name="connsiteX3818" fmla="*/ 349669 w 9635294"/>
              <a:gd name="connsiteY3818" fmla="*/ 1583011 h 6211920"/>
              <a:gd name="connsiteX3819" fmla="*/ 365468 w 9635294"/>
              <a:gd name="connsiteY3819" fmla="*/ 1562183 h 6211920"/>
              <a:gd name="connsiteX3820" fmla="*/ 369437 w 9635294"/>
              <a:gd name="connsiteY3820" fmla="*/ 1567142 h 6211920"/>
              <a:gd name="connsiteX3821" fmla="*/ 369435 w 9635294"/>
              <a:gd name="connsiteY3821" fmla="*/ 1567145 h 6211920"/>
              <a:gd name="connsiteX3822" fmla="*/ 365468 w 9635294"/>
              <a:gd name="connsiteY3822" fmla="*/ 1562184 h 6211920"/>
              <a:gd name="connsiteX3823" fmla="*/ 9271693 w 9635294"/>
              <a:gd name="connsiteY3823" fmla="*/ 1562125 h 6211920"/>
              <a:gd name="connsiteX3824" fmla="*/ 9291505 w 9635294"/>
              <a:gd name="connsiteY3824" fmla="*/ 1578039 h 6211920"/>
              <a:gd name="connsiteX3825" fmla="*/ 9289527 w 9635294"/>
              <a:gd name="connsiteY3825" fmla="*/ 1580502 h 6211920"/>
              <a:gd name="connsiteX3826" fmla="*/ 9269724 w 9635294"/>
              <a:gd name="connsiteY3826" fmla="*/ 1564602 h 6211920"/>
              <a:gd name="connsiteX3827" fmla="*/ 9265787 w 9635294"/>
              <a:gd name="connsiteY3827" fmla="*/ 1569561 h 6211920"/>
              <a:gd name="connsiteX3828" fmla="*/ 9285535 w 9635294"/>
              <a:gd name="connsiteY3828" fmla="*/ 1585449 h 6211920"/>
              <a:gd name="connsiteX3829" fmla="*/ 9287589 w 9635294"/>
              <a:gd name="connsiteY3829" fmla="*/ 1582914 h 6211920"/>
              <a:gd name="connsiteX3830" fmla="*/ 9283567 w 9635294"/>
              <a:gd name="connsiteY3830" fmla="*/ 1587919 h 6211920"/>
              <a:gd name="connsiteX3831" fmla="*/ 9263755 w 9635294"/>
              <a:gd name="connsiteY3831" fmla="*/ 1572038 h 6211920"/>
              <a:gd name="connsiteX3832" fmla="*/ 363487 w 9635294"/>
              <a:gd name="connsiteY3832" fmla="*/ 1559706 h 6211920"/>
              <a:gd name="connsiteX3833" fmla="*/ 365468 w 9635294"/>
              <a:gd name="connsiteY3833" fmla="*/ 1562184 h 6211920"/>
              <a:gd name="connsiteX3834" fmla="*/ 345683 w 9635294"/>
              <a:gd name="connsiteY3834" fmla="*/ 1578064 h 6211920"/>
              <a:gd name="connsiteX3835" fmla="*/ 343694 w 9635294"/>
              <a:gd name="connsiteY3835" fmla="*/ 1575594 h 6211920"/>
              <a:gd name="connsiteX3836" fmla="*/ 363487 w 9635294"/>
              <a:gd name="connsiteY3836" fmla="*/ 1559706 h 6211920"/>
              <a:gd name="connsiteX3837" fmla="*/ 9249904 w 9635294"/>
              <a:gd name="connsiteY3837" fmla="*/ 1548765 h 6211920"/>
              <a:gd name="connsiteX3838" fmla="*/ 9249912 w 9635294"/>
              <a:gd name="connsiteY3838" fmla="*/ 1548771 h 6211920"/>
              <a:gd name="connsiteX3839" fmla="*/ 9248019 w 9635294"/>
              <a:gd name="connsiteY3839" fmla="*/ 1551124 h 6211920"/>
              <a:gd name="connsiteX3840" fmla="*/ 385308 w 9635294"/>
              <a:gd name="connsiteY3840" fmla="*/ 1546376 h 6211920"/>
              <a:gd name="connsiteX3841" fmla="*/ 389257 w 9635294"/>
              <a:gd name="connsiteY3841" fmla="*/ 1551349 h 6211920"/>
              <a:gd name="connsiteX3842" fmla="*/ 389255 w 9635294"/>
              <a:gd name="connsiteY3842" fmla="*/ 1551350 h 6211920"/>
              <a:gd name="connsiteX3843" fmla="*/ 385306 w 9635294"/>
              <a:gd name="connsiteY3843" fmla="*/ 1546377 h 6211920"/>
              <a:gd name="connsiteX3844" fmla="*/ 9226038 w 9635294"/>
              <a:gd name="connsiteY3844" fmla="*/ 1537998 h 6211920"/>
              <a:gd name="connsiteX3845" fmla="*/ 9245911 w 9635294"/>
              <a:gd name="connsiteY3845" fmla="*/ 1553743 h 6211920"/>
              <a:gd name="connsiteX3846" fmla="*/ 9248019 w 9635294"/>
              <a:gd name="connsiteY3846" fmla="*/ 1551124 h 6211920"/>
              <a:gd name="connsiteX3847" fmla="*/ 9243943 w 9635294"/>
              <a:gd name="connsiteY3847" fmla="*/ 1556226 h 6211920"/>
              <a:gd name="connsiteX3848" fmla="*/ 9224068 w 9635294"/>
              <a:gd name="connsiteY3848" fmla="*/ 1540491 h 6211920"/>
              <a:gd name="connsiteX3849" fmla="*/ 9229973 w 9635294"/>
              <a:gd name="connsiteY3849" fmla="*/ 1533011 h 6211920"/>
              <a:gd name="connsiteX3850" fmla="*/ 9229975 w 9635294"/>
              <a:gd name="connsiteY3850" fmla="*/ 1533013 h 6211920"/>
              <a:gd name="connsiteX3851" fmla="*/ 9226038 w 9635294"/>
              <a:gd name="connsiteY3851" fmla="*/ 1537998 h 6211920"/>
              <a:gd name="connsiteX3852" fmla="*/ 9226036 w 9635294"/>
              <a:gd name="connsiteY3852" fmla="*/ 1537996 h 6211920"/>
              <a:gd name="connsiteX3853" fmla="*/ 9231942 w 9635294"/>
              <a:gd name="connsiteY3853" fmla="*/ 1530522 h 6211920"/>
              <a:gd name="connsiteX3854" fmla="*/ 9251881 w 9635294"/>
              <a:gd name="connsiteY3854" fmla="*/ 1546289 h 6211920"/>
              <a:gd name="connsiteX3855" fmla="*/ 9249904 w 9635294"/>
              <a:gd name="connsiteY3855" fmla="*/ 1548765 h 6211920"/>
              <a:gd name="connsiteX3856" fmla="*/ 9229975 w 9635294"/>
              <a:gd name="connsiteY3856" fmla="*/ 1533013 h 6211920"/>
              <a:gd name="connsiteX3857" fmla="*/ 403232 w 9635294"/>
              <a:gd name="connsiteY3857" fmla="*/ 1528147 h 6211920"/>
              <a:gd name="connsiteX3858" fmla="*/ 411093 w 9635294"/>
              <a:gd name="connsiteY3858" fmla="*/ 1538122 h 6211920"/>
              <a:gd name="connsiteX3859" fmla="*/ 391230 w 9635294"/>
              <a:gd name="connsiteY3859" fmla="*/ 1553832 h 6211920"/>
              <a:gd name="connsiteX3860" fmla="*/ 389257 w 9635294"/>
              <a:gd name="connsiteY3860" fmla="*/ 1551349 h 6211920"/>
              <a:gd name="connsiteX3861" fmla="*/ 409124 w 9635294"/>
              <a:gd name="connsiteY3861" fmla="*/ 1535627 h 6211920"/>
              <a:gd name="connsiteX3862" fmla="*/ 405194 w 9635294"/>
              <a:gd name="connsiteY3862" fmla="*/ 1530642 h 6211920"/>
              <a:gd name="connsiteX3863" fmla="*/ 385308 w 9635294"/>
              <a:gd name="connsiteY3863" fmla="*/ 1546376 h 6211920"/>
              <a:gd name="connsiteX3864" fmla="*/ 383331 w 9635294"/>
              <a:gd name="connsiteY3864" fmla="*/ 1543888 h 6211920"/>
              <a:gd name="connsiteX3865" fmla="*/ 403232 w 9635294"/>
              <a:gd name="connsiteY3865" fmla="*/ 1528147 h 6211920"/>
              <a:gd name="connsiteX3866" fmla="*/ 9210032 w 9635294"/>
              <a:gd name="connsiteY3866" fmla="*/ 1517325 h 6211920"/>
              <a:gd name="connsiteX3867" fmla="*/ 9210034 w 9635294"/>
              <a:gd name="connsiteY3867" fmla="*/ 1517326 h 6211920"/>
              <a:gd name="connsiteX3868" fmla="*/ 9206097 w 9635294"/>
              <a:gd name="connsiteY3868" fmla="*/ 1522324 h 6211920"/>
              <a:gd name="connsiteX3869" fmla="*/ 9206095 w 9635294"/>
              <a:gd name="connsiteY3869" fmla="*/ 1522323 h 6211920"/>
              <a:gd name="connsiteX3870" fmla="*/ 425147 w 9635294"/>
              <a:gd name="connsiteY3870" fmla="*/ 1514976 h 6211920"/>
              <a:gd name="connsiteX3871" fmla="*/ 427624 w 9635294"/>
              <a:gd name="connsiteY3871" fmla="*/ 1518144 h 6211920"/>
              <a:gd name="connsiteX3872" fmla="*/ 425145 w 9635294"/>
              <a:gd name="connsiteY3872" fmla="*/ 1514977 h 6211920"/>
              <a:gd name="connsiteX3873" fmla="*/ 9186115 w 9635294"/>
              <a:gd name="connsiteY3873" fmla="*/ 1506732 h 6211920"/>
              <a:gd name="connsiteX3874" fmla="*/ 9206095 w 9635294"/>
              <a:gd name="connsiteY3874" fmla="*/ 1522323 h 6211920"/>
              <a:gd name="connsiteX3875" fmla="*/ 9204128 w 9635294"/>
              <a:gd name="connsiteY3875" fmla="*/ 1524819 h 6211920"/>
              <a:gd name="connsiteX3876" fmla="*/ 9184189 w 9635294"/>
              <a:gd name="connsiteY3876" fmla="*/ 1509224 h 6211920"/>
              <a:gd name="connsiteX3877" fmla="*/ 449041 w 9635294"/>
              <a:gd name="connsiteY3877" fmla="*/ 1504392 h 6211920"/>
              <a:gd name="connsiteX3878" fmla="*/ 450990 w 9635294"/>
              <a:gd name="connsiteY3878" fmla="*/ 1506900 h 6211920"/>
              <a:gd name="connsiteX3879" fmla="*/ 431013 w 9635294"/>
              <a:gd name="connsiteY3879" fmla="*/ 1522476 h 6211920"/>
              <a:gd name="connsiteX3880" fmla="*/ 427624 w 9635294"/>
              <a:gd name="connsiteY3880" fmla="*/ 1518144 h 6211920"/>
              <a:gd name="connsiteX3881" fmla="*/ 429057 w 9635294"/>
              <a:gd name="connsiteY3881" fmla="*/ 1519974 h 6211920"/>
              <a:gd name="connsiteX3882" fmla="*/ 9188064 w 9635294"/>
              <a:gd name="connsiteY3882" fmla="*/ 1504209 h 6211920"/>
              <a:gd name="connsiteX3883" fmla="*/ 9186115 w 9635294"/>
              <a:gd name="connsiteY3883" fmla="*/ 1506732 h 6211920"/>
              <a:gd name="connsiteX3884" fmla="*/ 9186094 w 9635294"/>
              <a:gd name="connsiteY3884" fmla="*/ 1506715 h 6211920"/>
              <a:gd name="connsiteX3885" fmla="*/ 445148 w 9635294"/>
              <a:gd name="connsiteY3885" fmla="*/ 1499381 h 6211920"/>
              <a:gd name="connsiteX3886" fmla="*/ 449041 w 9635294"/>
              <a:gd name="connsiteY3886" fmla="*/ 1504391 h 6211920"/>
              <a:gd name="connsiteX3887" fmla="*/ 449041 w 9635294"/>
              <a:gd name="connsiteY3887" fmla="*/ 1504392 h 6211920"/>
              <a:gd name="connsiteX3888" fmla="*/ 445148 w 9635294"/>
              <a:gd name="connsiteY3888" fmla="*/ 1499382 h 6211920"/>
              <a:gd name="connsiteX3889" fmla="*/ 9191936 w 9635294"/>
              <a:gd name="connsiteY3889" fmla="*/ 1499197 h 6211920"/>
              <a:gd name="connsiteX3890" fmla="*/ 9212002 w 9635294"/>
              <a:gd name="connsiteY3890" fmla="*/ 1514824 h 6211920"/>
              <a:gd name="connsiteX3891" fmla="*/ 9210032 w 9635294"/>
              <a:gd name="connsiteY3891" fmla="*/ 1517325 h 6211920"/>
              <a:gd name="connsiteX3892" fmla="*/ 9190032 w 9635294"/>
              <a:gd name="connsiteY3892" fmla="*/ 1501705 h 6211920"/>
              <a:gd name="connsiteX3893" fmla="*/ 9188064 w 9635294"/>
              <a:gd name="connsiteY3893" fmla="*/ 1504209 h 6211920"/>
              <a:gd name="connsiteX3894" fmla="*/ 443198 w 9635294"/>
              <a:gd name="connsiteY3894" fmla="*/ 1496873 h 6211920"/>
              <a:gd name="connsiteX3895" fmla="*/ 445148 w 9635294"/>
              <a:gd name="connsiteY3895" fmla="*/ 1499382 h 6211920"/>
              <a:gd name="connsiteX3896" fmla="*/ 425147 w 9635294"/>
              <a:gd name="connsiteY3896" fmla="*/ 1514976 h 6211920"/>
              <a:gd name="connsiteX3897" fmla="*/ 423190 w 9635294"/>
              <a:gd name="connsiteY3897" fmla="*/ 1512475 h 6211920"/>
              <a:gd name="connsiteX3898" fmla="*/ 443198 w 9635294"/>
              <a:gd name="connsiteY3898" fmla="*/ 1496873 h 6211920"/>
              <a:gd name="connsiteX3899" fmla="*/ 9169945 w 9635294"/>
              <a:gd name="connsiteY3899" fmla="*/ 1486139 h 6211920"/>
              <a:gd name="connsiteX3900" fmla="*/ 9169965 w 9635294"/>
              <a:gd name="connsiteY3900" fmla="*/ 1486154 h 6211920"/>
              <a:gd name="connsiteX3901" fmla="*/ 9166092 w 9635294"/>
              <a:gd name="connsiteY3901" fmla="*/ 1491177 h 6211920"/>
              <a:gd name="connsiteX3902" fmla="*/ 9166072 w 9635294"/>
              <a:gd name="connsiteY3902" fmla="*/ 1491162 h 6211920"/>
              <a:gd name="connsiteX3903" fmla="*/ 465209 w 9635294"/>
              <a:gd name="connsiteY3903" fmla="*/ 1483849 h 6211920"/>
              <a:gd name="connsiteX3904" fmla="*/ 466637 w 9635294"/>
              <a:gd name="connsiteY3904" fmla="*/ 1485701 h 6211920"/>
              <a:gd name="connsiteX3905" fmla="*/ 465208 w 9635294"/>
              <a:gd name="connsiteY3905" fmla="*/ 1483849 h 6211920"/>
              <a:gd name="connsiteX3906" fmla="*/ 9145972 w 9635294"/>
              <a:gd name="connsiteY3906" fmla="*/ 1475723 h 6211920"/>
              <a:gd name="connsiteX3907" fmla="*/ 9166072 w 9635294"/>
              <a:gd name="connsiteY3907" fmla="*/ 1491162 h 6211920"/>
              <a:gd name="connsiteX3908" fmla="*/ 9164123 w 9635294"/>
              <a:gd name="connsiteY3908" fmla="*/ 1493691 h 6211920"/>
              <a:gd name="connsiteX3909" fmla="*/ 9144057 w 9635294"/>
              <a:gd name="connsiteY3909" fmla="*/ 1478236 h 6211920"/>
              <a:gd name="connsiteX3910" fmla="*/ 9147899 w 9635294"/>
              <a:gd name="connsiteY3910" fmla="*/ 1473194 h 6211920"/>
              <a:gd name="connsiteX3911" fmla="*/ 9145972 w 9635294"/>
              <a:gd name="connsiteY3911" fmla="*/ 1475723 h 6211920"/>
              <a:gd name="connsiteX3912" fmla="*/ 9145962 w 9635294"/>
              <a:gd name="connsiteY3912" fmla="*/ 1475715 h 6211920"/>
              <a:gd name="connsiteX3913" fmla="*/ 9151741 w 9635294"/>
              <a:gd name="connsiteY3913" fmla="*/ 1468152 h 6211920"/>
              <a:gd name="connsiteX3914" fmla="*/ 9171870 w 9635294"/>
              <a:gd name="connsiteY3914" fmla="*/ 1483640 h 6211920"/>
              <a:gd name="connsiteX3915" fmla="*/ 9169945 w 9635294"/>
              <a:gd name="connsiteY3915" fmla="*/ 1486139 h 6211920"/>
              <a:gd name="connsiteX3916" fmla="*/ 9149836 w 9635294"/>
              <a:gd name="connsiteY3916" fmla="*/ 1470673 h 6211920"/>
              <a:gd name="connsiteX3917" fmla="*/ 9147899 w 9635294"/>
              <a:gd name="connsiteY3917" fmla="*/ 1473194 h 6211920"/>
              <a:gd name="connsiteX3918" fmla="*/ 483394 w 9635294"/>
              <a:gd name="connsiteY3918" fmla="*/ 1465872 h 6211920"/>
              <a:gd name="connsiteX3919" fmla="*/ 491116 w 9635294"/>
              <a:gd name="connsiteY3919" fmla="*/ 1475956 h 6211920"/>
              <a:gd name="connsiteX3920" fmla="*/ 471024 w 9635294"/>
              <a:gd name="connsiteY3920" fmla="*/ 1491393 h 6211920"/>
              <a:gd name="connsiteX3921" fmla="*/ 466637 w 9635294"/>
              <a:gd name="connsiteY3921" fmla="*/ 1485701 h 6211920"/>
              <a:gd name="connsiteX3922" fmla="*/ 469088 w 9635294"/>
              <a:gd name="connsiteY3922" fmla="*/ 1488878 h 6211920"/>
              <a:gd name="connsiteX3923" fmla="*/ 489185 w 9635294"/>
              <a:gd name="connsiteY3923" fmla="*/ 1473435 h 6211920"/>
              <a:gd name="connsiteX3924" fmla="*/ 485324 w 9635294"/>
              <a:gd name="connsiteY3924" fmla="*/ 1468393 h 6211920"/>
              <a:gd name="connsiteX3925" fmla="*/ 465209 w 9635294"/>
              <a:gd name="connsiteY3925" fmla="*/ 1483849 h 6211920"/>
              <a:gd name="connsiteX3926" fmla="*/ 463271 w 9635294"/>
              <a:gd name="connsiteY3926" fmla="*/ 1481334 h 6211920"/>
              <a:gd name="connsiteX3927" fmla="*/ 483394 w 9635294"/>
              <a:gd name="connsiteY3927" fmla="*/ 1465872 h 6211920"/>
              <a:gd name="connsiteX3928" fmla="*/ 9129632 w 9635294"/>
              <a:gd name="connsiteY3928" fmla="*/ 1455260 h 6211920"/>
              <a:gd name="connsiteX3929" fmla="*/ 9129643 w 9635294"/>
              <a:gd name="connsiteY3929" fmla="*/ 1455268 h 6211920"/>
              <a:gd name="connsiteX3930" fmla="*/ 9127667 w 9635294"/>
              <a:gd name="connsiteY3930" fmla="*/ 1457843 h 6211920"/>
              <a:gd name="connsiteX3931" fmla="*/ 505501 w 9635294"/>
              <a:gd name="connsiteY3931" fmla="*/ 1453006 h 6211920"/>
              <a:gd name="connsiteX3932" fmla="*/ 509343 w 9635294"/>
              <a:gd name="connsiteY3932" fmla="*/ 1458061 h 6211920"/>
              <a:gd name="connsiteX3933" fmla="*/ 509340 w 9635294"/>
              <a:gd name="connsiteY3933" fmla="*/ 1458062 h 6211920"/>
              <a:gd name="connsiteX3934" fmla="*/ 505498 w 9635294"/>
              <a:gd name="connsiteY3934" fmla="*/ 1453007 h 6211920"/>
              <a:gd name="connsiteX3935" fmla="*/ 9105586 w 9635294"/>
              <a:gd name="connsiteY3935" fmla="*/ 1445008 h 6211920"/>
              <a:gd name="connsiteX3936" fmla="*/ 9125769 w 9635294"/>
              <a:gd name="connsiteY3936" fmla="*/ 1460316 h 6211920"/>
              <a:gd name="connsiteX3937" fmla="*/ 9127667 w 9635294"/>
              <a:gd name="connsiteY3937" fmla="*/ 1457843 h 6211920"/>
              <a:gd name="connsiteX3938" fmla="*/ 9123864 w 9635294"/>
              <a:gd name="connsiteY3938" fmla="*/ 1462843 h 6211920"/>
              <a:gd name="connsiteX3939" fmla="*/ 9103671 w 9635294"/>
              <a:gd name="connsiteY3939" fmla="*/ 1447533 h 6211920"/>
              <a:gd name="connsiteX3940" fmla="*/ 9109386 w 9635294"/>
              <a:gd name="connsiteY3940" fmla="*/ 1439932 h 6211920"/>
              <a:gd name="connsiteX3941" fmla="*/ 9109417 w 9635294"/>
              <a:gd name="connsiteY3941" fmla="*/ 1439956 h 6211920"/>
              <a:gd name="connsiteX3942" fmla="*/ 9105586 w 9635294"/>
              <a:gd name="connsiteY3942" fmla="*/ 1445008 h 6211920"/>
              <a:gd name="connsiteX3943" fmla="*/ 9105576 w 9635294"/>
              <a:gd name="connsiteY3943" fmla="*/ 1445000 h 6211920"/>
              <a:gd name="connsiteX3944" fmla="*/ 9111355 w 9635294"/>
              <a:gd name="connsiteY3944" fmla="*/ 1437399 h 6211920"/>
              <a:gd name="connsiteX3945" fmla="*/ 9131548 w 9635294"/>
              <a:gd name="connsiteY3945" fmla="*/ 1452740 h 6211920"/>
              <a:gd name="connsiteX3946" fmla="*/ 9129632 w 9635294"/>
              <a:gd name="connsiteY3946" fmla="*/ 1455260 h 6211920"/>
              <a:gd name="connsiteX3947" fmla="*/ 9109417 w 9635294"/>
              <a:gd name="connsiteY3947" fmla="*/ 1439956 h 6211920"/>
              <a:gd name="connsiteX3948" fmla="*/ 523805 w 9635294"/>
              <a:gd name="connsiteY3948" fmla="*/ 1435164 h 6211920"/>
              <a:gd name="connsiteX3949" fmla="*/ 531451 w 9635294"/>
              <a:gd name="connsiteY3949" fmla="*/ 1445304 h 6211920"/>
              <a:gd name="connsiteX3950" fmla="*/ 511264 w 9635294"/>
              <a:gd name="connsiteY3950" fmla="*/ 1460589 h 6211920"/>
              <a:gd name="connsiteX3951" fmla="*/ 509343 w 9635294"/>
              <a:gd name="connsiteY3951" fmla="*/ 1458061 h 6211920"/>
              <a:gd name="connsiteX3952" fmla="*/ 529539 w 9635294"/>
              <a:gd name="connsiteY3952" fmla="*/ 1442771 h 6211920"/>
              <a:gd name="connsiteX3953" fmla="*/ 525717 w 9635294"/>
              <a:gd name="connsiteY3953" fmla="*/ 1437704 h 6211920"/>
              <a:gd name="connsiteX3954" fmla="*/ 505501 w 9635294"/>
              <a:gd name="connsiteY3954" fmla="*/ 1453006 h 6211920"/>
              <a:gd name="connsiteX3955" fmla="*/ 503581 w 9635294"/>
              <a:gd name="connsiteY3955" fmla="*/ 1450480 h 6211920"/>
              <a:gd name="connsiteX3956" fmla="*/ 523805 w 9635294"/>
              <a:gd name="connsiteY3956" fmla="*/ 1435164 h 6211920"/>
              <a:gd name="connsiteX3957" fmla="*/ 566325 w 9635294"/>
              <a:gd name="connsiteY3957" fmla="*/ 1407293 h 6211920"/>
              <a:gd name="connsiteX3958" fmla="*/ 570110 w 9635294"/>
              <a:gd name="connsiteY3958" fmla="*/ 1412393 h 6211920"/>
              <a:gd name="connsiteX3959" fmla="*/ 570110 w 9635294"/>
              <a:gd name="connsiteY3959" fmla="*/ 1412393 h 6211920"/>
              <a:gd name="connsiteX3960" fmla="*/ 566321 w 9635294"/>
              <a:gd name="connsiteY3960" fmla="*/ 1407297 h 6211920"/>
              <a:gd name="connsiteX3961" fmla="*/ 9070715 w 9635294"/>
              <a:gd name="connsiteY3961" fmla="*/ 1406938 h 6211920"/>
              <a:gd name="connsiteX3962" fmla="*/ 9091035 w 9635294"/>
              <a:gd name="connsiteY3962" fmla="*/ 1422133 h 6211920"/>
              <a:gd name="connsiteX3963" fmla="*/ 9089130 w 9635294"/>
              <a:gd name="connsiteY3963" fmla="*/ 1424673 h 6211920"/>
              <a:gd name="connsiteX3964" fmla="*/ 9068810 w 9635294"/>
              <a:gd name="connsiteY3964" fmla="*/ 1409484 h 6211920"/>
              <a:gd name="connsiteX3965" fmla="*/ 9065000 w 9635294"/>
              <a:gd name="connsiteY3965" fmla="*/ 1414577 h 6211920"/>
              <a:gd name="connsiteX3966" fmla="*/ 9085319 w 9635294"/>
              <a:gd name="connsiteY3966" fmla="*/ 1429753 h 6211920"/>
              <a:gd name="connsiteX3967" fmla="*/ 9089130 w 9635294"/>
              <a:gd name="connsiteY3967" fmla="*/ 1424673 h 6211920"/>
              <a:gd name="connsiteX3968" fmla="*/ 9083415 w 9635294"/>
              <a:gd name="connsiteY3968" fmla="*/ 1432293 h 6211920"/>
              <a:gd name="connsiteX3969" fmla="*/ 9063094 w 9635294"/>
              <a:gd name="connsiteY3969" fmla="*/ 1417123 h 6211920"/>
              <a:gd name="connsiteX3970" fmla="*/ 564426 w 9635294"/>
              <a:gd name="connsiteY3970" fmla="*/ 1404747 h 6211920"/>
              <a:gd name="connsiteX3971" fmla="*/ 566321 w 9635294"/>
              <a:gd name="connsiteY3971" fmla="*/ 1407297 h 6211920"/>
              <a:gd name="connsiteX3972" fmla="*/ 545992 w 9635294"/>
              <a:gd name="connsiteY3972" fmla="*/ 1422464 h 6211920"/>
              <a:gd name="connsiteX3973" fmla="*/ 549796 w 9635294"/>
              <a:gd name="connsiteY3973" fmla="*/ 1427544 h 6211920"/>
              <a:gd name="connsiteX3974" fmla="*/ 570110 w 9635294"/>
              <a:gd name="connsiteY3974" fmla="*/ 1412393 h 6211920"/>
              <a:gd name="connsiteX3975" fmla="*/ 572002 w 9635294"/>
              <a:gd name="connsiteY3975" fmla="*/ 1414939 h 6211920"/>
              <a:gd name="connsiteX3976" fmla="*/ 551701 w 9635294"/>
              <a:gd name="connsiteY3976" fmla="*/ 1430090 h 6211920"/>
              <a:gd name="connsiteX3977" fmla="*/ 544087 w 9635294"/>
              <a:gd name="connsiteY3977" fmla="*/ 1419923 h 6211920"/>
              <a:gd name="connsiteX3978" fmla="*/ 564426 w 9635294"/>
              <a:gd name="connsiteY3978" fmla="*/ 1404747 h 6211920"/>
              <a:gd name="connsiteX3979" fmla="*/ 9048396 w 9635294"/>
              <a:gd name="connsiteY3979" fmla="*/ 1394343 h 6211920"/>
              <a:gd name="connsiteX3980" fmla="*/ 9048426 w 9635294"/>
              <a:gd name="connsiteY3980" fmla="*/ 1394365 h 6211920"/>
              <a:gd name="connsiteX3981" fmla="*/ 9044617 w 9635294"/>
              <a:gd name="connsiteY3981" fmla="*/ 1399470 h 6211920"/>
              <a:gd name="connsiteX3982" fmla="*/ 9044608 w 9635294"/>
              <a:gd name="connsiteY3982" fmla="*/ 1399464 h 6211920"/>
              <a:gd name="connsiteX3983" fmla="*/ 9024189 w 9635294"/>
              <a:gd name="connsiteY3983" fmla="*/ 1384455 h 6211920"/>
              <a:gd name="connsiteX3984" fmla="*/ 9044608 w 9635294"/>
              <a:gd name="connsiteY3984" fmla="*/ 1399464 h 6211920"/>
              <a:gd name="connsiteX3985" fmla="*/ 9042711 w 9635294"/>
              <a:gd name="connsiteY3985" fmla="*/ 1402029 h 6211920"/>
              <a:gd name="connsiteX3986" fmla="*/ 9022328 w 9635294"/>
              <a:gd name="connsiteY3986" fmla="*/ 1386999 h 6211920"/>
              <a:gd name="connsiteX3987" fmla="*/ 9026066 w 9635294"/>
              <a:gd name="connsiteY3987" fmla="*/ 1381890 h 6211920"/>
              <a:gd name="connsiteX3988" fmla="*/ 9024189 w 9635294"/>
              <a:gd name="connsiteY3988" fmla="*/ 1384455 h 6211920"/>
              <a:gd name="connsiteX3989" fmla="*/ 9024169 w 9635294"/>
              <a:gd name="connsiteY3989" fmla="*/ 1384440 h 6211920"/>
              <a:gd name="connsiteX3990" fmla="*/ 608837 w 9635294"/>
              <a:gd name="connsiteY3990" fmla="*/ 1379477 h 6211920"/>
              <a:gd name="connsiteX3991" fmla="*/ 610902 w 9635294"/>
              <a:gd name="connsiteY3991" fmla="*/ 1382293 h 6211920"/>
              <a:gd name="connsiteX3992" fmla="*/ 610899 w 9635294"/>
              <a:gd name="connsiteY3992" fmla="*/ 1382296 h 6211920"/>
              <a:gd name="connsiteX3993" fmla="*/ 9029821 w 9635294"/>
              <a:gd name="connsiteY3993" fmla="*/ 1376756 h 6211920"/>
              <a:gd name="connsiteX3994" fmla="*/ 9050268 w 9635294"/>
              <a:gd name="connsiteY3994" fmla="*/ 1391812 h 6211920"/>
              <a:gd name="connsiteX3995" fmla="*/ 9048396 w 9635294"/>
              <a:gd name="connsiteY3995" fmla="*/ 1394343 h 6211920"/>
              <a:gd name="connsiteX3996" fmla="*/ 9027980 w 9635294"/>
              <a:gd name="connsiteY3996" fmla="*/ 1379315 h 6211920"/>
              <a:gd name="connsiteX3997" fmla="*/ 9026066 w 9635294"/>
              <a:gd name="connsiteY3997" fmla="*/ 1381890 h 6211920"/>
              <a:gd name="connsiteX3998" fmla="*/ 605276 w 9635294"/>
              <a:gd name="connsiteY3998" fmla="*/ 1374610 h 6211920"/>
              <a:gd name="connsiteX3999" fmla="*/ 608837 w 9635294"/>
              <a:gd name="connsiteY3999" fmla="*/ 1379477 h 6211920"/>
              <a:gd name="connsiteX4000" fmla="*/ 607149 w 9635294"/>
              <a:gd name="connsiteY4000" fmla="*/ 1377175 h 6211920"/>
              <a:gd name="connsiteX4001" fmla="*/ 586708 w 9635294"/>
              <a:gd name="connsiteY4001" fmla="*/ 1392199 h 6211920"/>
              <a:gd name="connsiteX4002" fmla="*/ 590480 w 9635294"/>
              <a:gd name="connsiteY4002" fmla="*/ 1397311 h 6211920"/>
              <a:gd name="connsiteX4003" fmla="*/ 610899 w 9635294"/>
              <a:gd name="connsiteY4003" fmla="*/ 1382296 h 6211920"/>
              <a:gd name="connsiteX4004" fmla="*/ 612775 w 9635294"/>
              <a:gd name="connsiteY4004" fmla="*/ 1384859 h 6211920"/>
              <a:gd name="connsiteX4005" fmla="*/ 592360 w 9635294"/>
              <a:gd name="connsiteY4005" fmla="*/ 1399864 h 6211920"/>
              <a:gd name="connsiteX4006" fmla="*/ 584823 w 9635294"/>
              <a:gd name="connsiteY4006" fmla="*/ 1389647 h 6211920"/>
              <a:gd name="connsiteX4007" fmla="*/ 605276 w 9635294"/>
              <a:gd name="connsiteY4007" fmla="*/ 1374610 h 6211920"/>
              <a:gd name="connsiteX4008" fmla="*/ 9007446 w 9635294"/>
              <a:gd name="connsiteY4008" fmla="*/ 1364325 h 6211920"/>
              <a:gd name="connsiteX4009" fmla="*/ 9007469 w 9635294"/>
              <a:gd name="connsiteY4009" fmla="*/ 1364342 h 6211920"/>
              <a:gd name="connsiteX4010" fmla="*/ 9003722 w 9635294"/>
              <a:gd name="connsiteY4010" fmla="*/ 1369473 h 6211920"/>
              <a:gd name="connsiteX4011" fmla="*/ 9003701 w 9635294"/>
              <a:gd name="connsiteY4011" fmla="*/ 1369458 h 6211920"/>
              <a:gd name="connsiteX4012" fmla="*/ 627649 w 9635294"/>
              <a:gd name="connsiteY4012" fmla="*/ 1362220 h 6211920"/>
              <a:gd name="connsiteX4013" fmla="*/ 629514 w 9635294"/>
              <a:gd name="connsiteY4013" fmla="*/ 1364787 h 6211920"/>
              <a:gd name="connsiteX4014" fmla="*/ 627647 w 9635294"/>
              <a:gd name="connsiteY4014" fmla="*/ 1362221 h 6211920"/>
              <a:gd name="connsiteX4015" fmla="*/ 8983157 w 9635294"/>
              <a:gd name="connsiteY4015" fmla="*/ 1354596 h 6211920"/>
              <a:gd name="connsiteX4016" fmla="*/ 9003701 w 9635294"/>
              <a:gd name="connsiteY4016" fmla="*/ 1369458 h 6211920"/>
              <a:gd name="connsiteX4017" fmla="*/ 9001818 w 9635294"/>
              <a:gd name="connsiteY4017" fmla="*/ 1372038 h 6211920"/>
              <a:gd name="connsiteX4018" fmla="*/ 8981306 w 9635294"/>
              <a:gd name="connsiteY4018" fmla="*/ 1357160 h 6211920"/>
              <a:gd name="connsiteX4019" fmla="*/ 651904 w 9635294"/>
              <a:gd name="connsiteY4019" fmla="*/ 1352494 h 6211920"/>
              <a:gd name="connsiteX4020" fmla="*/ 653758 w 9635294"/>
              <a:gd name="connsiteY4020" fmla="*/ 1355065 h 6211920"/>
              <a:gd name="connsiteX4021" fmla="*/ 633248 w 9635294"/>
              <a:gd name="connsiteY4021" fmla="*/ 1369924 h 6211920"/>
              <a:gd name="connsiteX4022" fmla="*/ 629514 w 9635294"/>
              <a:gd name="connsiteY4022" fmla="*/ 1364787 h 6211920"/>
              <a:gd name="connsiteX4023" fmla="*/ 631381 w 9635294"/>
              <a:gd name="connsiteY4023" fmla="*/ 1367352 h 6211920"/>
              <a:gd name="connsiteX4024" fmla="*/ 8984967 w 9635294"/>
              <a:gd name="connsiteY4024" fmla="*/ 1352089 h 6211920"/>
              <a:gd name="connsiteX4025" fmla="*/ 8983157 w 9635294"/>
              <a:gd name="connsiteY4025" fmla="*/ 1354596 h 6211920"/>
              <a:gd name="connsiteX4026" fmla="*/ 8983148 w 9635294"/>
              <a:gd name="connsiteY4026" fmla="*/ 1354589 h 6211920"/>
              <a:gd name="connsiteX4027" fmla="*/ 648189 w 9635294"/>
              <a:gd name="connsiteY4027" fmla="*/ 1347343 h 6211920"/>
              <a:gd name="connsiteX4028" fmla="*/ 651904 w 9635294"/>
              <a:gd name="connsiteY4028" fmla="*/ 1352493 h 6211920"/>
              <a:gd name="connsiteX4029" fmla="*/ 651904 w 9635294"/>
              <a:gd name="connsiteY4029" fmla="*/ 1352494 h 6211920"/>
              <a:gd name="connsiteX4030" fmla="*/ 648189 w 9635294"/>
              <a:gd name="connsiteY4030" fmla="*/ 1347344 h 6211920"/>
              <a:gd name="connsiteX4031" fmla="*/ 8988736 w 9635294"/>
              <a:gd name="connsiteY4031" fmla="*/ 1346867 h 6211920"/>
              <a:gd name="connsiteX4032" fmla="*/ 9009310 w 9635294"/>
              <a:gd name="connsiteY4032" fmla="*/ 1361770 h 6211920"/>
              <a:gd name="connsiteX4033" fmla="*/ 9007446 w 9635294"/>
              <a:gd name="connsiteY4033" fmla="*/ 1364325 h 6211920"/>
              <a:gd name="connsiteX4034" fmla="*/ 8986894 w 9635294"/>
              <a:gd name="connsiteY4034" fmla="*/ 1349439 h 6211920"/>
              <a:gd name="connsiteX4035" fmla="*/ 8984967 w 9635294"/>
              <a:gd name="connsiteY4035" fmla="*/ 1352089 h 6211920"/>
              <a:gd name="connsiteX4036" fmla="*/ 646329 w 9635294"/>
              <a:gd name="connsiteY4036" fmla="*/ 1344765 h 6211920"/>
              <a:gd name="connsiteX4037" fmla="*/ 648189 w 9635294"/>
              <a:gd name="connsiteY4037" fmla="*/ 1347344 h 6211920"/>
              <a:gd name="connsiteX4038" fmla="*/ 627649 w 9635294"/>
              <a:gd name="connsiteY4038" fmla="*/ 1362220 h 6211920"/>
              <a:gd name="connsiteX4039" fmla="*/ 625780 w 9635294"/>
              <a:gd name="connsiteY4039" fmla="*/ 1359649 h 6211920"/>
              <a:gd name="connsiteX4040" fmla="*/ 646329 w 9635294"/>
              <a:gd name="connsiteY4040" fmla="*/ 1344765 h 6211920"/>
              <a:gd name="connsiteX4041" fmla="*/ 8966308 w 9635294"/>
              <a:gd name="connsiteY4041" fmla="*/ 1334609 h 6211920"/>
              <a:gd name="connsiteX4042" fmla="*/ 8966321 w 9635294"/>
              <a:gd name="connsiteY4042" fmla="*/ 1334618 h 6211920"/>
              <a:gd name="connsiteX4043" fmla="*/ 8964103 w 9635294"/>
              <a:gd name="connsiteY4043" fmla="*/ 1337674 h 6211920"/>
              <a:gd name="connsiteX4044" fmla="*/ 668784 w 9635294"/>
              <a:gd name="connsiteY4044" fmla="*/ 1332540 h 6211920"/>
              <a:gd name="connsiteX4045" fmla="*/ 672480 w 9635294"/>
              <a:gd name="connsiteY4045" fmla="*/ 1337703 h 6211920"/>
              <a:gd name="connsiteX4046" fmla="*/ 672478 w 9635294"/>
              <a:gd name="connsiteY4046" fmla="*/ 1337704 h 6211920"/>
              <a:gd name="connsiteX4047" fmla="*/ 668782 w 9635294"/>
              <a:gd name="connsiteY4047" fmla="*/ 1332541 h 6211920"/>
              <a:gd name="connsiteX4048" fmla="*/ 8941938 w 9635294"/>
              <a:gd name="connsiteY4048" fmla="*/ 1325036 h 6211920"/>
              <a:gd name="connsiteX4049" fmla="*/ 8962574 w 9635294"/>
              <a:gd name="connsiteY4049" fmla="*/ 1339780 h 6211920"/>
              <a:gd name="connsiteX4050" fmla="*/ 8964103 w 9635294"/>
              <a:gd name="connsiteY4050" fmla="*/ 1337674 h 6211920"/>
              <a:gd name="connsiteX4051" fmla="*/ 8960732 w 9635294"/>
              <a:gd name="connsiteY4051" fmla="*/ 1342358 h 6211920"/>
              <a:gd name="connsiteX4052" fmla="*/ 8940095 w 9635294"/>
              <a:gd name="connsiteY4052" fmla="*/ 1327626 h 6211920"/>
              <a:gd name="connsiteX4053" fmla="*/ 693106 w 9635294"/>
              <a:gd name="connsiteY4053" fmla="*/ 1322987 h 6211920"/>
              <a:gd name="connsiteX4054" fmla="*/ 694944 w 9635294"/>
              <a:gd name="connsiteY4054" fmla="*/ 1325575 h 6211920"/>
              <a:gd name="connsiteX4055" fmla="*/ 674326 w 9635294"/>
              <a:gd name="connsiteY4055" fmla="*/ 1340282 h 6211920"/>
              <a:gd name="connsiteX4056" fmla="*/ 672480 w 9635294"/>
              <a:gd name="connsiteY4056" fmla="*/ 1337703 h 6211920"/>
              <a:gd name="connsiteX4057" fmla="*/ 8943641 w 9635294"/>
              <a:gd name="connsiteY4057" fmla="*/ 1322644 h 6211920"/>
              <a:gd name="connsiteX4058" fmla="*/ 8941938 w 9635294"/>
              <a:gd name="connsiteY4058" fmla="*/ 1325036 h 6211920"/>
              <a:gd name="connsiteX4059" fmla="*/ 8941937 w 9635294"/>
              <a:gd name="connsiteY4059" fmla="*/ 1325035 h 6211920"/>
              <a:gd name="connsiteX4060" fmla="*/ 689886 w 9635294"/>
              <a:gd name="connsiteY4060" fmla="*/ 1318455 h 6211920"/>
              <a:gd name="connsiteX4061" fmla="*/ 693109 w 9635294"/>
              <a:gd name="connsiteY4061" fmla="*/ 1322984 h 6211920"/>
              <a:gd name="connsiteX4062" fmla="*/ 693106 w 9635294"/>
              <a:gd name="connsiteY4062" fmla="*/ 1322987 h 6211920"/>
              <a:gd name="connsiteX4063" fmla="*/ 8947461 w 9635294"/>
              <a:gd name="connsiteY4063" fmla="*/ 1317276 h 6211920"/>
              <a:gd name="connsiteX4064" fmla="*/ 8968162 w 9635294"/>
              <a:gd name="connsiteY4064" fmla="*/ 1332033 h 6211920"/>
              <a:gd name="connsiteX4065" fmla="*/ 8966308 w 9635294"/>
              <a:gd name="connsiteY4065" fmla="*/ 1334609 h 6211920"/>
              <a:gd name="connsiteX4066" fmla="*/ 8945619 w 9635294"/>
              <a:gd name="connsiteY4066" fmla="*/ 1319867 h 6211920"/>
              <a:gd name="connsiteX4067" fmla="*/ 8943641 w 9635294"/>
              <a:gd name="connsiteY4067" fmla="*/ 1322644 h 6211920"/>
              <a:gd name="connsiteX4068" fmla="*/ 687591 w 9635294"/>
              <a:gd name="connsiteY4068" fmla="*/ 1315225 h 6211920"/>
              <a:gd name="connsiteX4069" fmla="*/ 689886 w 9635294"/>
              <a:gd name="connsiteY4069" fmla="*/ 1318455 h 6211920"/>
              <a:gd name="connsiteX4070" fmla="*/ 689426 w 9635294"/>
              <a:gd name="connsiteY4070" fmla="*/ 1317809 h 6211920"/>
              <a:gd name="connsiteX4071" fmla="*/ 668784 w 9635294"/>
              <a:gd name="connsiteY4071" fmla="*/ 1332540 h 6211920"/>
              <a:gd name="connsiteX4072" fmla="*/ 666934 w 9635294"/>
              <a:gd name="connsiteY4072" fmla="*/ 1329957 h 6211920"/>
              <a:gd name="connsiteX4073" fmla="*/ 687591 w 9635294"/>
              <a:gd name="connsiteY4073" fmla="*/ 1315225 h 6211920"/>
              <a:gd name="connsiteX4074" fmla="*/ 710130 w 9635294"/>
              <a:gd name="connsiteY4074" fmla="*/ 1303152 h 6211920"/>
              <a:gd name="connsiteX4075" fmla="*/ 713792 w 9635294"/>
              <a:gd name="connsiteY4075" fmla="*/ 1308341 h 6211920"/>
              <a:gd name="connsiteX4076" fmla="*/ 713791 w 9635294"/>
              <a:gd name="connsiteY4076" fmla="*/ 1308341 h 6211920"/>
              <a:gd name="connsiteX4077" fmla="*/ 710127 w 9635294"/>
              <a:gd name="connsiteY4077" fmla="*/ 1303153 h 6211920"/>
              <a:gd name="connsiteX4078" fmla="*/ 734529 w 9635294"/>
              <a:gd name="connsiteY4078" fmla="*/ 1293769 h 6211920"/>
              <a:gd name="connsiteX4079" fmla="*/ 736346 w 9635294"/>
              <a:gd name="connsiteY4079" fmla="*/ 1296365 h 6211920"/>
              <a:gd name="connsiteX4080" fmla="*/ 715620 w 9635294"/>
              <a:gd name="connsiteY4080" fmla="*/ 1310932 h 6211920"/>
              <a:gd name="connsiteX4081" fmla="*/ 713792 w 9635294"/>
              <a:gd name="connsiteY4081" fmla="*/ 1308341 h 6211920"/>
              <a:gd name="connsiteX4082" fmla="*/ 8904155 w 9635294"/>
              <a:gd name="connsiteY4082" fmla="*/ 1290574 h 6211920"/>
              <a:gd name="connsiteX4083" fmla="*/ 8904166 w 9635294"/>
              <a:gd name="connsiteY4083" fmla="*/ 1290582 h 6211920"/>
              <a:gd name="connsiteX4084" fmla="*/ 8902345 w 9635294"/>
              <a:gd name="connsiteY4084" fmla="*/ 1293175 h 6211920"/>
              <a:gd name="connsiteX4085" fmla="*/ 730885 w 9635294"/>
              <a:gd name="connsiteY4085" fmla="*/ 1288561 h 6211920"/>
              <a:gd name="connsiteX4086" fmla="*/ 734530 w 9635294"/>
              <a:gd name="connsiteY4086" fmla="*/ 1293768 h 6211920"/>
              <a:gd name="connsiteX4087" fmla="*/ 734529 w 9635294"/>
              <a:gd name="connsiteY4087" fmla="*/ 1293769 h 6211920"/>
              <a:gd name="connsiteX4088" fmla="*/ 730883 w 9635294"/>
              <a:gd name="connsiteY4088" fmla="*/ 1288563 h 6211920"/>
              <a:gd name="connsiteX4089" fmla="*/ 8905996 w 9635294"/>
              <a:gd name="connsiteY4089" fmla="*/ 1287977 h 6211920"/>
              <a:gd name="connsiteX4090" fmla="*/ 8926760 w 9635294"/>
              <a:gd name="connsiteY4090" fmla="*/ 1302588 h 6211920"/>
              <a:gd name="connsiteX4091" fmla="*/ 8919457 w 9635294"/>
              <a:gd name="connsiteY4091" fmla="*/ 1312964 h 6211920"/>
              <a:gd name="connsiteX4092" fmla="*/ 8898694 w 9635294"/>
              <a:gd name="connsiteY4092" fmla="*/ 1298372 h 6211920"/>
              <a:gd name="connsiteX4093" fmla="*/ 8902345 w 9635294"/>
              <a:gd name="connsiteY4093" fmla="*/ 1293175 h 6211920"/>
              <a:gd name="connsiteX4094" fmla="*/ 8900535 w 9635294"/>
              <a:gd name="connsiteY4094" fmla="*/ 1295775 h 6211920"/>
              <a:gd name="connsiteX4095" fmla="*/ 8921236 w 9635294"/>
              <a:gd name="connsiteY4095" fmla="*/ 1310367 h 6211920"/>
              <a:gd name="connsiteX4096" fmla="*/ 8924919 w 9635294"/>
              <a:gd name="connsiteY4096" fmla="*/ 1305185 h 6211920"/>
              <a:gd name="connsiteX4097" fmla="*/ 8904166 w 9635294"/>
              <a:gd name="connsiteY4097" fmla="*/ 1290582 h 6211920"/>
              <a:gd name="connsiteX4098" fmla="*/ 729063 w 9635294"/>
              <a:gd name="connsiteY4098" fmla="*/ 1285964 h 6211920"/>
              <a:gd name="connsiteX4099" fmla="*/ 730883 w 9635294"/>
              <a:gd name="connsiteY4099" fmla="*/ 1288563 h 6211920"/>
              <a:gd name="connsiteX4100" fmla="*/ 710130 w 9635294"/>
              <a:gd name="connsiteY4100" fmla="*/ 1303152 h 6211920"/>
              <a:gd name="connsiteX4101" fmla="*/ 708298 w 9635294"/>
              <a:gd name="connsiteY4101" fmla="*/ 1300556 h 6211920"/>
              <a:gd name="connsiteX4102" fmla="*/ 729063 w 9635294"/>
              <a:gd name="connsiteY4102" fmla="*/ 1285964 h 6211920"/>
              <a:gd name="connsiteX4103" fmla="*/ 751697 w 9635294"/>
              <a:gd name="connsiteY4103" fmla="*/ 1274049 h 6211920"/>
              <a:gd name="connsiteX4104" fmla="*/ 755321 w 9635294"/>
              <a:gd name="connsiteY4104" fmla="*/ 1279265 h 6211920"/>
              <a:gd name="connsiteX4105" fmla="*/ 755320 w 9635294"/>
              <a:gd name="connsiteY4105" fmla="*/ 1279265 h 6211920"/>
              <a:gd name="connsiteX4106" fmla="*/ 751694 w 9635294"/>
              <a:gd name="connsiteY4106" fmla="*/ 1274051 h 6211920"/>
              <a:gd name="connsiteX4107" fmla="*/ 776157 w 9635294"/>
              <a:gd name="connsiteY4107" fmla="*/ 1264841 h 6211920"/>
              <a:gd name="connsiteX4108" fmla="*/ 777958 w 9635294"/>
              <a:gd name="connsiteY4108" fmla="*/ 1267454 h 6211920"/>
              <a:gd name="connsiteX4109" fmla="*/ 757130 w 9635294"/>
              <a:gd name="connsiteY4109" fmla="*/ 1281868 h 6211920"/>
              <a:gd name="connsiteX4110" fmla="*/ 755321 w 9635294"/>
              <a:gd name="connsiteY4110" fmla="*/ 1279265 h 6211920"/>
              <a:gd name="connsiteX4111" fmla="*/ 8862498 w 9635294"/>
              <a:gd name="connsiteY4111" fmla="*/ 1261574 h 6211920"/>
              <a:gd name="connsiteX4112" fmla="*/ 8858879 w 9635294"/>
              <a:gd name="connsiteY4112" fmla="*/ 1266800 h 6211920"/>
              <a:gd name="connsiteX4113" fmla="*/ 8879706 w 9635294"/>
              <a:gd name="connsiteY4113" fmla="*/ 1281252 h 6211920"/>
              <a:gd name="connsiteX4114" fmla="*/ 8883326 w 9635294"/>
              <a:gd name="connsiteY4114" fmla="*/ 1276039 h 6211920"/>
              <a:gd name="connsiteX4115" fmla="*/ 8862498 w 9635294"/>
              <a:gd name="connsiteY4115" fmla="*/ 1261574 h 6211920"/>
              <a:gd name="connsiteX4116" fmla="*/ 772574 w 9635294"/>
              <a:gd name="connsiteY4116" fmla="*/ 1259641 h 6211920"/>
              <a:gd name="connsiteX4117" fmla="*/ 776161 w 9635294"/>
              <a:gd name="connsiteY4117" fmla="*/ 1264838 h 6211920"/>
              <a:gd name="connsiteX4118" fmla="*/ 776157 w 9635294"/>
              <a:gd name="connsiteY4118" fmla="*/ 1264841 h 6211920"/>
              <a:gd name="connsiteX4119" fmla="*/ 8864276 w 9635294"/>
              <a:gd name="connsiteY4119" fmla="*/ 1258964 h 6211920"/>
              <a:gd name="connsiteX4120" fmla="*/ 8885168 w 9635294"/>
              <a:gd name="connsiteY4120" fmla="*/ 1273429 h 6211920"/>
              <a:gd name="connsiteX4121" fmla="*/ 8877929 w 9635294"/>
              <a:gd name="connsiteY4121" fmla="*/ 1283856 h 6211920"/>
              <a:gd name="connsiteX4122" fmla="*/ 8857037 w 9635294"/>
              <a:gd name="connsiteY4122" fmla="*/ 1269416 h 6211920"/>
              <a:gd name="connsiteX4123" fmla="*/ 770751 w 9635294"/>
              <a:gd name="connsiteY4123" fmla="*/ 1256995 h 6211920"/>
              <a:gd name="connsiteX4124" fmla="*/ 772574 w 9635294"/>
              <a:gd name="connsiteY4124" fmla="*/ 1259641 h 6211920"/>
              <a:gd name="connsiteX4125" fmla="*/ 772554 w 9635294"/>
              <a:gd name="connsiteY4125" fmla="*/ 1259612 h 6211920"/>
              <a:gd name="connsiteX4126" fmla="*/ 751697 w 9635294"/>
              <a:gd name="connsiteY4126" fmla="*/ 1274049 h 6211920"/>
              <a:gd name="connsiteX4127" fmla="*/ 749885 w 9635294"/>
              <a:gd name="connsiteY4127" fmla="*/ 1271441 h 6211920"/>
              <a:gd name="connsiteX4128" fmla="*/ 770751 w 9635294"/>
              <a:gd name="connsiteY4128" fmla="*/ 1256995 h 6211920"/>
              <a:gd name="connsiteX4129" fmla="*/ 8839878 w 9635294"/>
              <a:gd name="connsiteY4129" fmla="*/ 1249651 h 6211920"/>
              <a:gd name="connsiteX4130" fmla="*/ 8837987 w 9635294"/>
              <a:gd name="connsiteY4130" fmla="*/ 1252436 h 6211920"/>
              <a:gd name="connsiteX4131" fmla="*/ 8837964 w 9635294"/>
              <a:gd name="connsiteY4131" fmla="*/ 1252421 h 6211920"/>
              <a:gd name="connsiteX4132" fmla="*/ 793456 w 9635294"/>
              <a:gd name="connsiteY4132" fmla="*/ 1245252 h 6211920"/>
              <a:gd name="connsiteX4133" fmla="*/ 797044 w 9635294"/>
              <a:gd name="connsiteY4133" fmla="*/ 1250491 h 6211920"/>
              <a:gd name="connsiteX4134" fmla="*/ 797040 w 9635294"/>
              <a:gd name="connsiteY4134" fmla="*/ 1250493 h 6211920"/>
              <a:gd name="connsiteX4135" fmla="*/ 793452 w 9635294"/>
              <a:gd name="connsiteY4135" fmla="*/ 1245254 h 6211920"/>
              <a:gd name="connsiteX4136" fmla="*/ 8817034 w 9635294"/>
              <a:gd name="connsiteY4136" fmla="*/ 1238138 h 6211920"/>
              <a:gd name="connsiteX4137" fmla="*/ 8837964 w 9635294"/>
              <a:gd name="connsiteY4137" fmla="*/ 1252421 h 6211920"/>
              <a:gd name="connsiteX4138" fmla="*/ 8836146 w 9635294"/>
              <a:gd name="connsiteY4138" fmla="*/ 1255052 h 6211920"/>
              <a:gd name="connsiteX4139" fmla="*/ 8815255 w 9635294"/>
              <a:gd name="connsiteY4139" fmla="*/ 1240765 h 6211920"/>
              <a:gd name="connsiteX4140" fmla="*/ 8820588 w 9635294"/>
              <a:gd name="connsiteY4140" fmla="*/ 1232884 h 6211920"/>
              <a:gd name="connsiteX4141" fmla="*/ 8820590 w 9635294"/>
              <a:gd name="connsiteY4141" fmla="*/ 1232886 h 6211920"/>
              <a:gd name="connsiteX4142" fmla="*/ 8817034 w 9635294"/>
              <a:gd name="connsiteY4142" fmla="*/ 1238138 h 6211920"/>
              <a:gd name="connsiteX4143" fmla="*/ 8817032 w 9635294"/>
              <a:gd name="connsiteY4143" fmla="*/ 1238136 h 6211920"/>
              <a:gd name="connsiteX4144" fmla="*/ 8822367 w 9635294"/>
              <a:gd name="connsiteY4144" fmla="*/ 1230262 h 6211920"/>
              <a:gd name="connsiteX4145" fmla="*/ 8843385 w 9635294"/>
              <a:gd name="connsiteY4145" fmla="*/ 1244575 h 6211920"/>
              <a:gd name="connsiteX4146" fmla="*/ 8839878 w 9635294"/>
              <a:gd name="connsiteY4146" fmla="*/ 1249651 h 6211920"/>
              <a:gd name="connsiteX4147" fmla="*/ 8841544 w 9635294"/>
              <a:gd name="connsiteY4147" fmla="*/ 1247197 h 6211920"/>
              <a:gd name="connsiteX4148" fmla="*/ 8820590 w 9635294"/>
              <a:gd name="connsiteY4148" fmla="*/ 1232886 h 6211920"/>
              <a:gd name="connsiteX4149" fmla="*/ 812622 w 9635294"/>
              <a:gd name="connsiteY4149" fmla="*/ 1228338 h 6211920"/>
              <a:gd name="connsiteX4150" fmla="*/ 819760 w 9635294"/>
              <a:gd name="connsiteY4150" fmla="*/ 1238841 h 6211920"/>
              <a:gd name="connsiteX4151" fmla="*/ 798837 w 9635294"/>
              <a:gd name="connsiteY4151" fmla="*/ 1253109 h 6211920"/>
              <a:gd name="connsiteX4152" fmla="*/ 797044 w 9635294"/>
              <a:gd name="connsiteY4152" fmla="*/ 1250491 h 6211920"/>
              <a:gd name="connsiteX4153" fmla="*/ 817976 w 9635294"/>
              <a:gd name="connsiteY4153" fmla="*/ 1236218 h 6211920"/>
              <a:gd name="connsiteX4154" fmla="*/ 814407 w 9635294"/>
              <a:gd name="connsiteY4154" fmla="*/ 1230967 h 6211920"/>
              <a:gd name="connsiteX4155" fmla="*/ 793456 w 9635294"/>
              <a:gd name="connsiteY4155" fmla="*/ 1245252 h 6211920"/>
              <a:gd name="connsiteX4156" fmla="*/ 791661 w 9635294"/>
              <a:gd name="connsiteY4156" fmla="*/ 1242632 h 6211920"/>
              <a:gd name="connsiteX4157" fmla="*/ 812622 w 9635294"/>
              <a:gd name="connsiteY4157" fmla="*/ 1228338 h 6211920"/>
              <a:gd name="connsiteX4158" fmla="*/ 8799568 w 9635294"/>
              <a:gd name="connsiteY4158" fmla="*/ 1218654 h 6211920"/>
              <a:gd name="connsiteX4159" fmla="*/ 8799569 w 9635294"/>
              <a:gd name="connsiteY4159" fmla="*/ 1218654 h 6211920"/>
              <a:gd name="connsiteX4160" fmla="*/ 8796014 w 9635294"/>
              <a:gd name="connsiteY4160" fmla="*/ 1223918 h 6211920"/>
              <a:gd name="connsiteX4161" fmla="*/ 8796013 w 9635294"/>
              <a:gd name="connsiteY4161" fmla="*/ 1223917 h 6211920"/>
              <a:gd name="connsiteX4162" fmla="*/ 8776437 w 9635294"/>
              <a:gd name="connsiteY4162" fmla="*/ 1207587 h 6211920"/>
              <a:gd name="connsiteX4163" fmla="*/ 8774995 w 9635294"/>
              <a:gd name="connsiteY4163" fmla="*/ 1209764 h 6211920"/>
              <a:gd name="connsiteX4164" fmla="*/ 8796013 w 9635294"/>
              <a:gd name="connsiteY4164" fmla="*/ 1223917 h 6211920"/>
              <a:gd name="connsiteX4165" fmla="*/ 8794236 w 9635294"/>
              <a:gd name="connsiteY4165" fmla="*/ 1226547 h 6211920"/>
              <a:gd name="connsiteX4166" fmla="*/ 8773218 w 9635294"/>
              <a:gd name="connsiteY4166" fmla="*/ 1212406 h 6211920"/>
              <a:gd name="connsiteX4167" fmla="*/ 8778488 w 9635294"/>
              <a:gd name="connsiteY4167" fmla="*/ 1204487 h 6211920"/>
              <a:gd name="connsiteX4168" fmla="*/ 8778501 w 9635294"/>
              <a:gd name="connsiteY4168" fmla="*/ 1204496 h 6211920"/>
              <a:gd name="connsiteX4169" fmla="*/ 8776437 w 9635294"/>
              <a:gd name="connsiteY4169" fmla="*/ 1207587 h 6211920"/>
              <a:gd name="connsiteX4170" fmla="*/ 856476 w 9635294"/>
              <a:gd name="connsiteY4170" fmla="*/ 1202607 h 6211920"/>
              <a:gd name="connsiteX4171" fmla="*/ 860006 w 9635294"/>
              <a:gd name="connsiteY4171" fmla="*/ 1207884 h 6211920"/>
              <a:gd name="connsiteX4172" fmla="*/ 860005 w 9635294"/>
              <a:gd name="connsiteY4172" fmla="*/ 1207885 h 6211920"/>
              <a:gd name="connsiteX4173" fmla="*/ 856474 w 9635294"/>
              <a:gd name="connsiteY4173" fmla="*/ 1202609 h 6211920"/>
              <a:gd name="connsiteX4174" fmla="*/ 8780266 w 9635294"/>
              <a:gd name="connsiteY4174" fmla="*/ 1201852 h 6211920"/>
              <a:gd name="connsiteX4175" fmla="*/ 8801348 w 9635294"/>
              <a:gd name="connsiteY4175" fmla="*/ 1216019 h 6211920"/>
              <a:gd name="connsiteX4176" fmla="*/ 8799568 w 9635294"/>
              <a:gd name="connsiteY4176" fmla="*/ 1218654 h 6211920"/>
              <a:gd name="connsiteX4177" fmla="*/ 8778501 w 9635294"/>
              <a:gd name="connsiteY4177" fmla="*/ 1204496 h 6211920"/>
              <a:gd name="connsiteX4178" fmla="*/ 854710 w 9635294"/>
              <a:gd name="connsiteY4178" fmla="*/ 1199972 h 6211920"/>
              <a:gd name="connsiteX4179" fmla="*/ 856474 w 9635294"/>
              <a:gd name="connsiteY4179" fmla="*/ 1202609 h 6211920"/>
              <a:gd name="connsiteX4180" fmla="*/ 835419 w 9635294"/>
              <a:gd name="connsiteY4180" fmla="*/ 1216749 h 6211920"/>
              <a:gd name="connsiteX4181" fmla="*/ 838969 w 9635294"/>
              <a:gd name="connsiteY4181" fmla="*/ 1222013 h 6211920"/>
              <a:gd name="connsiteX4182" fmla="*/ 860005 w 9635294"/>
              <a:gd name="connsiteY4182" fmla="*/ 1207885 h 6211920"/>
              <a:gd name="connsiteX4183" fmla="*/ 861772 w 9635294"/>
              <a:gd name="connsiteY4183" fmla="*/ 1210526 h 6211920"/>
              <a:gd name="connsiteX4184" fmla="*/ 840741 w 9635294"/>
              <a:gd name="connsiteY4184" fmla="*/ 1224648 h 6211920"/>
              <a:gd name="connsiteX4185" fmla="*/ 833641 w 9635294"/>
              <a:gd name="connsiteY4185" fmla="*/ 1214120 h 6211920"/>
              <a:gd name="connsiteX4186" fmla="*/ 854710 w 9635294"/>
              <a:gd name="connsiteY4186" fmla="*/ 1199972 h 6211920"/>
              <a:gd name="connsiteX4187" fmla="*/ 8757385 w 9635294"/>
              <a:gd name="connsiteY4187" fmla="*/ 1190383 h 6211920"/>
              <a:gd name="connsiteX4188" fmla="*/ 8757406 w 9635294"/>
              <a:gd name="connsiteY4188" fmla="*/ 1190396 h 6211920"/>
              <a:gd name="connsiteX4189" fmla="*/ 8755732 w 9635294"/>
              <a:gd name="connsiteY4189" fmla="*/ 1192887 h 6211920"/>
              <a:gd name="connsiteX4190" fmla="*/ 8732726 w 9635294"/>
              <a:gd name="connsiteY4190" fmla="*/ 1181698 h 6211920"/>
              <a:gd name="connsiteX4191" fmla="*/ 8753850 w 9635294"/>
              <a:gd name="connsiteY4191" fmla="*/ 1195686 h 6211920"/>
              <a:gd name="connsiteX4192" fmla="*/ 8755732 w 9635294"/>
              <a:gd name="connsiteY4192" fmla="*/ 1192887 h 6211920"/>
              <a:gd name="connsiteX4193" fmla="*/ 8752135 w 9635294"/>
              <a:gd name="connsiteY4193" fmla="*/ 1198334 h 6211920"/>
              <a:gd name="connsiteX4194" fmla="*/ 8730990 w 9635294"/>
              <a:gd name="connsiteY4194" fmla="*/ 1184332 h 6211920"/>
              <a:gd name="connsiteX4195" fmla="*/ 8736197 w 9635294"/>
              <a:gd name="connsiteY4195" fmla="*/ 1176382 h 6211920"/>
              <a:gd name="connsiteX4196" fmla="*/ 8736220 w 9635294"/>
              <a:gd name="connsiteY4196" fmla="*/ 1176398 h 6211920"/>
              <a:gd name="connsiteX4197" fmla="*/ 8732726 w 9635294"/>
              <a:gd name="connsiteY4197" fmla="*/ 1181698 h 6211920"/>
              <a:gd name="connsiteX4198" fmla="*/ 8732705 w 9635294"/>
              <a:gd name="connsiteY4198" fmla="*/ 1181684 h 6211920"/>
              <a:gd name="connsiteX4199" fmla="*/ 898760 w 9635294"/>
              <a:gd name="connsiteY4199" fmla="*/ 1174547 h 6211920"/>
              <a:gd name="connsiteX4200" fmla="*/ 877597 w 9635294"/>
              <a:gd name="connsiteY4200" fmla="*/ 1188542 h 6211920"/>
              <a:gd name="connsiteX4201" fmla="*/ 881107 w 9635294"/>
              <a:gd name="connsiteY4201" fmla="*/ 1193832 h 6211920"/>
              <a:gd name="connsiteX4202" fmla="*/ 902253 w 9635294"/>
              <a:gd name="connsiteY4202" fmla="*/ 1179849 h 6211920"/>
              <a:gd name="connsiteX4203" fmla="*/ 8737975 w 9635294"/>
              <a:gd name="connsiteY4203" fmla="*/ 1173734 h 6211920"/>
              <a:gd name="connsiteX4204" fmla="*/ 8759120 w 9635294"/>
              <a:gd name="connsiteY4204" fmla="*/ 1187755 h 6211920"/>
              <a:gd name="connsiteX4205" fmla="*/ 8757385 w 9635294"/>
              <a:gd name="connsiteY4205" fmla="*/ 1190383 h 6211920"/>
              <a:gd name="connsiteX4206" fmla="*/ 8736220 w 9635294"/>
              <a:gd name="connsiteY4206" fmla="*/ 1176398 h 6211920"/>
              <a:gd name="connsiteX4207" fmla="*/ 897014 w 9635294"/>
              <a:gd name="connsiteY4207" fmla="*/ 1171892 h 6211920"/>
              <a:gd name="connsiteX4208" fmla="*/ 903999 w 9635294"/>
              <a:gd name="connsiteY4208" fmla="*/ 1182497 h 6211920"/>
              <a:gd name="connsiteX4209" fmla="*/ 882860 w 9635294"/>
              <a:gd name="connsiteY4209" fmla="*/ 1196473 h 6211920"/>
              <a:gd name="connsiteX4210" fmla="*/ 875837 w 9635294"/>
              <a:gd name="connsiteY4210" fmla="*/ 1185894 h 6211920"/>
              <a:gd name="connsiteX4211" fmla="*/ 897014 w 9635294"/>
              <a:gd name="connsiteY4211" fmla="*/ 1171892 h 6211920"/>
              <a:gd name="connsiteX4212" fmla="*/ 8714978 w 9635294"/>
              <a:gd name="connsiteY4212" fmla="*/ 1162444 h 6211920"/>
              <a:gd name="connsiteX4213" fmla="*/ 8714988 w 9635294"/>
              <a:gd name="connsiteY4213" fmla="*/ 1162450 h 6211920"/>
              <a:gd name="connsiteX4214" fmla="*/ 8713489 w 9635294"/>
              <a:gd name="connsiteY4214" fmla="*/ 1164731 h 6211920"/>
              <a:gd name="connsiteX4215" fmla="*/ 8690658 w 9635294"/>
              <a:gd name="connsiteY4215" fmla="*/ 1153344 h 6211920"/>
              <a:gd name="connsiteX4216" fmla="*/ 8690286 w 9635294"/>
              <a:gd name="connsiteY4216" fmla="*/ 1153922 h 6211920"/>
              <a:gd name="connsiteX4217" fmla="*/ 8711495 w 9635294"/>
              <a:gd name="connsiteY4217" fmla="*/ 1167765 h 6211920"/>
              <a:gd name="connsiteX4218" fmla="*/ 8713489 w 9635294"/>
              <a:gd name="connsiteY4218" fmla="*/ 1164731 h 6211920"/>
              <a:gd name="connsiteX4219" fmla="*/ 8709781 w 9635294"/>
              <a:gd name="connsiteY4219" fmla="*/ 1170426 h 6211920"/>
              <a:gd name="connsiteX4220" fmla="*/ 8688572 w 9635294"/>
              <a:gd name="connsiteY4220" fmla="*/ 1156583 h 6211920"/>
              <a:gd name="connsiteX4221" fmla="*/ 8693715 w 9635294"/>
              <a:gd name="connsiteY4221" fmla="*/ 1148594 h 6211920"/>
              <a:gd name="connsiteX4222" fmla="*/ 8693716 w 9635294"/>
              <a:gd name="connsiteY4222" fmla="*/ 1148595 h 6211920"/>
              <a:gd name="connsiteX4223" fmla="*/ 8690658 w 9635294"/>
              <a:gd name="connsiteY4223" fmla="*/ 1153344 h 6211920"/>
              <a:gd name="connsiteX4224" fmla="*/ 941210 w 9635294"/>
              <a:gd name="connsiteY4224" fmla="*/ 1146797 h 6211920"/>
              <a:gd name="connsiteX4225" fmla="*/ 944671 w 9635294"/>
              <a:gd name="connsiteY4225" fmla="*/ 1152125 h 6211920"/>
              <a:gd name="connsiteX4226" fmla="*/ 944669 w 9635294"/>
              <a:gd name="connsiteY4226" fmla="*/ 1152127 h 6211920"/>
              <a:gd name="connsiteX4227" fmla="*/ 941210 w 9635294"/>
              <a:gd name="connsiteY4227" fmla="*/ 1146798 h 6211920"/>
              <a:gd name="connsiteX4228" fmla="*/ 8695430 w 9635294"/>
              <a:gd name="connsiteY4228" fmla="*/ 1145934 h 6211920"/>
              <a:gd name="connsiteX4229" fmla="*/ 8716702 w 9635294"/>
              <a:gd name="connsiteY4229" fmla="*/ 1159796 h 6211920"/>
              <a:gd name="connsiteX4230" fmla="*/ 8714978 w 9635294"/>
              <a:gd name="connsiteY4230" fmla="*/ 1162444 h 6211920"/>
              <a:gd name="connsiteX4231" fmla="*/ 8693716 w 9635294"/>
              <a:gd name="connsiteY4231" fmla="*/ 1148595 h 6211920"/>
              <a:gd name="connsiteX4232" fmla="*/ 939483 w 9635294"/>
              <a:gd name="connsiteY4232" fmla="*/ 1144137 h 6211920"/>
              <a:gd name="connsiteX4233" fmla="*/ 941210 w 9635294"/>
              <a:gd name="connsiteY4233" fmla="*/ 1146798 h 6211920"/>
              <a:gd name="connsiteX4234" fmla="*/ 919964 w 9635294"/>
              <a:gd name="connsiteY4234" fmla="*/ 1160634 h 6211920"/>
              <a:gd name="connsiteX4235" fmla="*/ 923436 w 9635294"/>
              <a:gd name="connsiteY4235" fmla="*/ 1165949 h 6211920"/>
              <a:gd name="connsiteX4236" fmla="*/ 944669 w 9635294"/>
              <a:gd name="connsiteY4236" fmla="*/ 1152127 h 6211920"/>
              <a:gd name="connsiteX4237" fmla="*/ 946398 w 9635294"/>
              <a:gd name="connsiteY4237" fmla="*/ 1154792 h 6211920"/>
              <a:gd name="connsiteX4238" fmla="*/ 925171 w 9635294"/>
              <a:gd name="connsiteY4238" fmla="*/ 1168610 h 6211920"/>
              <a:gd name="connsiteX4239" fmla="*/ 918223 w 9635294"/>
              <a:gd name="connsiteY4239" fmla="*/ 1157980 h 6211920"/>
              <a:gd name="connsiteX4240" fmla="*/ 939483 w 9635294"/>
              <a:gd name="connsiteY4240" fmla="*/ 1144137 h 6211920"/>
              <a:gd name="connsiteX4241" fmla="*/ 8672432 w 9635294"/>
              <a:gd name="connsiteY4241" fmla="*/ 1134802 h 6211920"/>
              <a:gd name="connsiteX4242" fmla="*/ 8672443 w 9635294"/>
              <a:gd name="connsiteY4242" fmla="*/ 1134809 h 6211920"/>
              <a:gd name="connsiteX4243" fmla="*/ 8670697 w 9635294"/>
              <a:gd name="connsiteY4243" fmla="*/ 1137479 h 6211920"/>
              <a:gd name="connsiteX4244" fmla="*/ 983876 w 9635294"/>
              <a:gd name="connsiteY4244" fmla="*/ 1119346 h 6211920"/>
              <a:gd name="connsiteX4245" fmla="*/ 987292 w 9635294"/>
              <a:gd name="connsiteY4245" fmla="*/ 1124699 h 6211920"/>
              <a:gd name="connsiteX4246" fmla="*/ 987291 w 9635294"/>
              <a:gd name="connsiteY4246" fmla="*/ 1124701 h 6211920"/>
              <a:gd name="connsiteX4247" fmla="*/ 983874 w 9635294"/>
              <a:gd name="connsiteY4247" fmla="*/ 1119348 h 6211920"/>
              <a:gd name="connsiteX4248" fmla="*/ 8652757 w 9635294"/>
              <a:gd name="connsiteY4248" fmla="*/ 1118426 h 6211920"/>
              <a:gd name="connsiteX4249" fmla="*/ 8674157 w 9635294"/>
              <a:gd name="connsiteY4249" fmla="*/ 1132142 h 6211920"/>
              <a:gd name="connsiteX4250" fmla="*/ 8672432 w 9635294"/>
              <a:gd name="connsiteY4250" fmla="*/ 1134802 h 6211920"/>
              <a:gd name="connsiteX4251" fmla="*/ 8651044 w 9635294"/>
              <a:gd name="connsiteY4251" fmla="*/ 1121099 h 6211920"/>
              <a:gd name="connsiteX4252" fmla="*/ 8647614 w 9635294"/>
              <a:gd name="connsiteY4252" fmla="*/ 1126452 h 6211920"/>
              <a:gd name="connsiteX4253" fmla="*/ 8668950 w 9635294"/>
              <a:gd name="connsiteY4253" fmla="*/ 1140149 h 6211920"/>
              <a:gd name="connsiteX4254" fmla="*/ 8670697 w 9635294"/>
              <a:gd name="connsiteY4254" fmla="*/ 1137479 h 6211920"/>
              <a:gd name="connsiteX4255" fmla="*/ 8667236 w 9635294"/>
              <a:gd name="connsiteY4255" fmla="*/ 1142816 h 6211920"/>
              <a:gd name="connsiteX4256" fmla="*/ 8645900 w 9635294"/>
              <a:gd name="connsiteY4256" fmla="*/ 1129125 h 6211920"/>
              <a:gd name="connsiteX4257" fmla="*/ 982167 w 9635294"/>
              <a:gd name="connsiteY4257" fmla="*/ 1116673 h 6211920"/>
              <a:gd name="connsiteX4258" fmla="*/ 983874 w 9635294"/>
              <a:gd name="connsiteY4258" fmla="*/ 1119348 h 6211920"/>
              <a:gd name="connsiteX4259" fmla="*/ 962521 w 9635294"/>
              <a:gd name="connsiteY4259" fmla="*/ 1133037 h 6211920"/>
              <a:gd name="connsiteX4260" fmla="*/ 965957 w 9635294"/>
              <a:gd name="connsiteY4260" fmla="*/ 1138377 h 6211920"/>
              <a:gd name="connsiteX4261" fmla="*/ 987291 w 9635294"/>
              <a:gd name="connsiteY4261" fmla="*/ 1124701 h 6211920"/>
              <a:gd name="connsiteX4262" fmla="*/ 989000 w 9635294"/>
              <a:gd name="connsiteY4262" fmla="*/ 1127379 h 6211920"/>
              <a:gd name="connsiteX4263" fmla="*/ 967671 w 9635294"/>
              <a:gd name="connsiteY4263" fmla="*/ 1141044 h 6211920"/>
              <a:gd name="connsiteX4264" fmla="*/ 960801 w 9635294"/>
              <a:gd name="connsiteY4264" fmla="*/ 1130370 h 6211920"/>
              <a:gd name="connsiteX4265" fmla="*/ 982167 w 9635294"/>
              <a:gd name="connsiteY4265" fmla="*/ 1116673 h 6211920"/>
              <a:gd name="connsiteX4266" fmla="*/ 8629610 w 9635294"/>
              <a:gd name="connsiteY4266" fmla="*/ 1107444 h 6211920"/>
              <a:gd name="connsiteX4267" fmla="*/ 8629644 w 9635294"/>
              <a:gd name="connsiteY4267" fmla="*/ 1107465 h 6211920"/>
              <a:gd name="connsiteX4268" fmla="*/ 8626215 w 9635294"/>
              <a:gd name="connsiteY4268" fmla="*/ 1112831 h 6211920"/>
              <a:gd name="connsiteX4269" fmla="*/ 8626203 w 9635294"/>
              <a:gd name="connsiteY4269" fmla="*/ 1112823 h 6211920"/>
              <a:gd name="connsiteX4270" fmla="*/ 1005283 w 9635294"/>
              <a:gd name="connsiteY4270" fmla="*/ 1105731 h 6211920"/>
              <a:gd name="connsiteX4271" fmla="*/ 1008682 w 9635294"/>
              <a:gd name="connsiteY4271" fmla="*/ 1111097 h 6211920"/>
              <a:gd name="connsiteX4272" fmla="*/ 1008679 w 9635294"/>
              <a:gd name="connsiteY4272" fmla="*/ 1111098 h 6211920"/>
              <a:gd name="connsiteX4273" fmla="*/ 1005281 w 9635294"/>
              <a:gd name="connsiteY4273" fmla="*/ 1105732 h 6211920"/>
              <a:gd name="connsiteX4274" fmla="*/ 8604774 w 9635294"/>
              <a:gd name="connsiteY4274" fmla="*/ 1099294 h 6211920"/>
              <a:gd name="connsiteX4275" fmla="*/ 8626203 w 9635294"/>
              <a:gd name="connsiteY4275" fmla="*/ 1112823 h 6211920"/>
              <a:gd name="connsiteX4276" fmla="*/ 8624500 w 9635294"/>
              <a:gd name="connsiteY4276" fmla="*/ 1115511 h 6211920"/>
              <a:gd name="connsiteX4277" fmla="*/ 8603101 w 9635294"/>
              <a:gd name="connsiteY4277" fmla="*/ 1101966 h 6211920"/>
              <a:gd name="connsiteX4278" fmla="*/ 1030122 w 9635294"/>
              <a:gd name="connsiteY4278" fmla="*/ 1097567 h 6211920"/>
              <a:gd name="connsiteX4279" fmla="*/ 1031812 w 9635294"/>
              <a:gd name="connsiteY4279" fmla="*/ 1100258 h 6211920"/>
              <a:gd name="connsiteX4280" fmla="*/ 1010380 w 9635294"/>
              <a:gd name="connsiteY4280" fmla="*/ 1113777 h 6211920"/>
              <a:gd name="connsiteX4281" fmla="*/ 1008682 w 9635294"/>
              <a:gd name="connsiteY4281" fmla="*/ 1111097 h 6211920"/>
              <a:gd name="connsiteX4282" fmla="*/ 8606435 w 9635294"/>
              <a:gd name="connsiteY4282" fmla="*/ 1096641 h 6211920"/>
              <a:gd name="connsiteX4283" fmla="*/ 8604774 w 9635294"/>
              <a:gd name="connsiteY4283" fmla="*/ 1099294 h 6211920"/>
              <a:gd name="connsiteX4284" fmla="*/ 8604752 w 9635294"/>
              <a:gd name="connsiteY4284" fmla="*/ 1099280 h 6211920"/>
              <a:gd name="connsiteX4285" fmla="*/ 1028652 w 9635294"/>
              <a:gd name="connsiteY4285" fmla="*/ 1095227 h 6211920"/>
              <a:gd name="connsiteX4286" fmla="*/ 1030123 w 9635294"/>
              <a:gd name="connsiteY4286" fmla="*/ 1097566 h 6211920"/>
              <a:gd name="connsiteX4287" fmla="*/ 1030122 w 9635294"/>
              <a:gd name="connsiteY4287" fmla="*/ 1097567 h 6211920"/>
              <a:gd name="connsiteX4288" fmla="*/ 8609831 w 9635294"/>
              <a:gd name="connsiteY4288" fmla="*/ 1091216 h 6211920"/>
              <a:gd name="connsiteX4289" fmla="*/ 8631294 w 9635294"/>
              <a:gd name="connsiteY4289" fmla="*/ 1104786 h 6211920"/>
              <a:gd name="connsiteX4290" fmla="*/ 8629610 w 9635294"/>
              <a:gd name="connsiteY4290" fmla="*/ 1107444 h 6211920"/>
              <a:gd name="connsiteX4291" fmla="*/ 8608181 w 9635294"/>
              <a:gd name="connsiteY4291" fmla="*/ 1093902 h 6211920"/>
              <a:gd name="connsiteX4292" fmla="*/ 8606435 w 9635294"/>
              <a:gd name="connsiteY4292" fmla="*/ 1096641 h 6211920"/>
              <a:gd name="connsiteX4293" fmla="*/ 1025055 w 9635294"/>
              <a:gd name="connsiteY4293" fmla="*/ 1089501 h 6211920"/>
              <a:gd name="connsiteX4294" fmla="*/ 1028652 w 9635294"/>
              <a:gd name="connsiteY4294" fmla="*/ 1095227 h 6211920"/>
              <a:gd name="connsiteX4295" fmla="*/ 1026745 w 9635294"/>
              <a:gd name="connsiteY4295" fmla="*/ 1092194 h 6211920"/>
              <a:gd name="connsiteX4296" fmla="*/ 1005283 w 9635294"/>
              <a:gd name="connsiteY4296" fmla="*/ 1105731 h 6211920"/>
              <a:gd name="connsiteX4297" fmla="*/ 1003586 w 9635294"/>
              <a:gd name="connsiteY4297" fmla="*/ 1103052 h 6211920"/>
              <a:gd name="connsiteX4298" fmla="*/ 1025055 w 9635294"/>
              <a:gd name="connsiteY4298" fmla="*/ 1089501 h 6211920"/>
              <a:gd name="connsiteX4299" fmla="*/ 8586632 w 9635294"/>
              <a:gd name="connsiteY4299" fmla="*/ 1080413 h 6211920"/>
              <a:gd name="connsiteX4300" fmla="*/ 8586655 w 9635294"/>
              <a:gd name="connsiteY4300" fmla="*/ 1080427 h 6211920"/>
              <a:gd name="connsiteX4301" fmla="*/ 8583289 w 9635294"/>
              <a:gd name="connsiteY4301" fmla="*/ 1085812 h 6211920"/>
              <a:gd name="connsiteX4302" fmla="*/ 8583266 w 9635294"/>
              <a:gd name="connsiteY4302" fmla="*/ 1085798 h 6211920"/>
              <a:gd name="connsiteX4303" fmla="*/ 1048242 w 9635294"/>
              <a:gd name="connsiteY4303" fmla="*/ 1078731 h 6211920"/>
              <a:gd name="connsiteX4304" fmla="*/ 1051602 w 9635294"/>
              <a:gd name="connsiteY4304" fmla="*/ 1084121 h 6211920"/>
              <a:gd name="connsiteX4305" fmla="*/ 1051598 w 9635294"/>
              <a:gd name="connsiteY4305" fmla="*/ 1084123 h 6211920"/>
              <a:gd name="connsiteX4306" fmla="*/ 1048240 w 9635294"/>
              <a:gd name="connsiteY4306" fmla="*/ 1078732 h 6211920"/>
              <a:gd name="connsiteX4307" fmla="*/ 8563391 w 9635294"/>
              <a:gd name="connsiteY4307" fmla="*/ 1069764 h 6211920"/>
              <a:gd name="connsiteX4308" fmla="*/ 8561762 w 9635294"/>
              <a:gd name="connsiteY4308" fmla="*/ 1072426 h 6211920"/>
              <a:gd name="connsiteX4309" fmla="*/ 8583266 w 9635294"/>
              <a:gd name="connsiteY4309" fmla="*/ 1085798 h 6211920"/>
              <a:gd name="connsiteX4310" fmla="*/ 8581574 w 9635294"/>
              <a:gd name="connsiteY4310" fmla="*/ 1088504 h 6211920"/>
              <a:gd name="connsiteX4311" fmla="*/ 8560048 w 9635294"/>
              <a:gd name="connsiteY4311" fmla="*/ 1075125 h 6211920"/>
              <a:gd name="connsiteX4312" fmla="*/ 8565064 w 9635294"/>
              <a:gd name="connsiteY4312" fmla="*/ 1067029 h 6211920"/>
              <a:gd name="connsiteX4313" fmla="*/ 8565087 w 9635294"/>
              <a:gd name="connsiteY4313" fmla="*/ 1067044 h 6211920"/>
              <a:gd name="connsiteX4314" fmla="*/ 8563391 w 9635294"/>
              <a:gd name="connsiteY4314" fmla="*/ 1069764 h 6211920"/>
              <a:gd name="connsiteX4315" fmla="*/ 8566779 w 9635294"/>
              <a:gd name="connsiteY4315" fmla="*/ 1064330 h 6211920"/>
              <a:gd name="connsiteX4316" fmla="*/ 8588306 w 9635294"/>
              <a:gd name="connsiteY4316" fmla="*/ 1077735 h 6211920"/>
              <a:gd name="connsiteX4317" fmla="*/ 8586632 w 9635294"/>
              <a:gd name="connsiteY4317" fmla="*/ 1080413 h 6211920"/>
              <a:gd name="connsiteX4318" fmla="*/ 8565087 w 9635294"/>
              <a:gd name="connsiteY4318" fmla="*/ 1067044 h 6211920"/>
              <a:gd name="connsiteX4319" fmla="*/ 1068115 w 9635294"/>
              <a:gd name="connsiteY4319" fmla="*/ 1062653 h 6211920"/>
              <a:gd name="connsiteX4320" fmla="*/ 1074795 w 9635294"/>
              <a:gd name="connsiteY4320" fmla="*/ 1073455 h 6211920"/>
              <a:gd name="connsiteX4321" fmla="*/ 1053281 w 9635294"/>
              <a:gd name="connsiteY4321" fmla="*/ 1086815 h 6211920"/>
              <a:gd name="connsiteX4322" fmla="*/ 1051602 w 9635294"/>
              <a:gd name="connsiteY4322" fmla="*/ 1084121 h 6211920"/>
              <a:gd name="connsiteX4323" fmla="*/ 1073125 w 9635294"/>
              <a:gd name="connsiteY4323" fmla="*/ 1070756 h 6211920"/>
              <a:gd name="connsiteX4324" fmla="*/ 1069785 w 9635294"/>
              <a:gd name="connsiteY4324" fmla="*/ 1065359 h 6211920"/>
              <a:gd name="connsiteX4325" fmla="*/ 1048242 w 9635294"/>
              <a:gd name="connsiteY4325" fmla="*/ 1078731 h 6211920"/>
              <a:gd name="connsiteX4326" fmla="*/ 1046564 w 9635294"/>
              <a:gd name="connsiteY4326" fmla="*/ 1076039 h 6211920"/>
              <a:gd name="connsiteX4327" fmla="*/ 1068115 w 9635294"/>
              <a:gd name="connsiteY4327" fmla="*/ 1062653 h 6211920"/>
              <a:gd name="connsiteX4328" fmla="*/ 8543472 w 9635294"/>
              <a:gd name="connsiteY4328" fmla="*/ 1053705 h 6211920"/>
              <a:gd name="connsiteX4329" fmla="*/ 8543474 w 9635294"/>
              <a:gd name="connsiteY4329" fmla="*/ 1053706 h 6211920"/>
              <a:gd name="connsiteX4330" fmla="*/ 8540172 w 9635294"/>
              <a:gd name="connsiteY4330" fmla="*/ 1059117 h 6211920"/>
              <a:gd name="connsiteX4331" fmla="*/ 8540171 w 9635294"/>
              <a:gd name="connsiteY4331" fmla="*/ 1059117 h 6211920"/>
              <a:gd name="connsiteX4332" fmla="*/ 1091376 w 9635294"/>
              <a:gd name="connsiteY4332" fmla="*/ 1052055 h 6211920"/>
              <a:gd name="connsiteX4333" fmla="*/ 1094699 w 9635294"/>
              <a:gd name="connsiteY4333" fmla="*/ 1057465 h 6211920"/>
              <a:gd name="connsiteX4334" fmla="*/ 1094696 w 9635294"/>
              <a:gd name="connsiteY4334" fmla="*/ 1057466 h 6211920"/>
              <a:gd name="connsiteX4335" fmla="*/ 1091376 w 9635294"/>
              <a:gd name="connsiteY4335" fmla="*/ 1052055 h 6211920"/>
              <a:gd name="connsiteX4336" fmla="*/ 1116318 w 9635294"/>
              <a:gd name="connsiteY4336" fmla="*/ 1044245 h 6211920"/>
              <a:gd name="connsiteX4337" fmla="*/ 1117968 w 9635294"/>
              <a:gd name="connsiteY4337" fmla="*/ 1046956 h 6211920"/>
              <a:gd name="connsiteX4338" fmla="*/ 1096360 w 9635294"/>
              <a:gd name="connsiteY4338" fmla="*/ 1060171 h 6211920"/>
              <a:gd name="connsiteX4339" fmla="*/ 1094699 w 9635294"/>
              <a:gd name="connsiteY4339" fmla="*/ 1057465 h 6211920"/>
              <a:gd name="connsiteX4340" fmla="*/ 8520170 w 9635294"/>
              <a:gd name="connsiteY4340" fmla="*/ 1043166 h 6211920"/>
              <a:gd name="connsiteX4341" fmla="*/ 8518519 w 9635294"/>
              <a:gd name="connsiteY4341" fmla="*/ 1045877 h 6211920"/>
              <a:gd name="connsiteX4342" fmla="*/ 8540171 w 9635294"/>
              <a:gd name="connsiteY4342" fmla="*/ 1059117 h 6211920"/>
              <a:gd name="connsiteX4343" fmla="*/ 8538521 w 9635294"/>
              <a:gd name="connsiteY4343" fmla="*/ 1061822 h 6211920"/>
              <a:gd name="connsiteX4344" fmla="*/ 8516868 w 9635294"/>
              <a:gd name="connsiteY4344" fmla="*/ 1048588 h 6211920"/>
              <a:gd name="connsiteX4345" fmla="*/ 8521821 w 9635294"/>
              <a:gd name="connsiteY4345" fmla="*/ 1040454 h 6211920"/>
              <a:gd name="connsiteX4346" fmla="*/ 8521821 w 9635294"/>
              <a:gd name="connsiteY4346" fmla="*/ 1040454 h 6211920"/>
              <a:gd name="connsiteX4347" fmla="*/ 8520170 w 9635294"/>
              <a:gd name="connsiteY4347" fmla="*/ 1043166 h 6211920"/>
              <a:gd name="connsiteX4348" fmla="*/ 1113017 w 9635294"/>
              <a:gd name="connsiteY4348" fmla="*/ 1038822 h 6211920"/>
              <a:gd name="connsiteX4349" fmla="*/ 1116318 w 9635294"/>
              <a:gd name="connsiteY4349" fmla="*/ 1044245 h 6211920"/>
              <a:gd name="connsiteX4350" fmla="*/ 1116318 w 9635294"/>
              <a:gd name="connsiteY4350" fmla="*/ 1044245 h 6211920"/>
              <a:gd name="connsiteX4351" fmla="*/ 1113016 w 9635294"/>
              <a:gd name="connsiteY4351" fmla="*/ 1038822 h 6211920"/>
              <a:gd name="connsiteX4352" fmla="*/ 8523472 w 9635294"/>
              <a:gd name="connsiteY4352" fmla="*/ 1037743 h 6211920"/>
              <a:gd name="connsiteX4353" fmla="*/ 8545125 w 9635294"/>
              <a:gd name="connsiteY4353" fmla="*/ 1050995 h 6211920"/>
              <a:gd name="connsiteX4354" fmla="*/ 8543472 w 9635294"/>
              <a:gd name="connsiteY4354" fmla="*/ 1053705 h 6211920"/>
              <a:gd name="connsiteX4355" fmla="*/ 8521821 w 9635294"/>
              <a:gd name="connsiteY4355" fmla="*/ 1040454 h 6211920"/>
              <a:gd name="connsiteX4356" fmla="*/ 1111365 w 9635294"/>
              <a:gd name="connsiteY4356" fmla="*/ 1036110 h 6211920"/>
              <a:gd name="connsiteX4357" fmla="*/ 1113016 w 9635294"/>
              <a:gd name="connsiteY4357" fmla="*/ 1038822 h 6211920"/>
              <a:gd name="connsiteX4358" fmla="*/ 1091376 w 9635294"/>
              <a:gd name="connsiteY4358" fmla="*/ 1052055 h 6211920"/>
              <a:gd name="connsiteX4359" fmla="*/ 1089712 w 9635294"/>
              <a:gd name="connsiteY4359" fmla="*/ 1049344 h 6211920"/>
              <a:gd name="connsiteX4360" fmla="*/ 1111365 w 9635294"/>
              <a:gd name="connsiteY4360" fmla="*/ 1036110 h 6211920"/>
              <a:gd name="connsiteX4361" fmla="*/ 8498485 w 9635294"/>
              <a:gd name="connsiteY4361" fmla="*/ 1029996 h 6211920"/>
              <a:gd name="connsiteX4362" fmla="*/ 8496865 w 9635294"/>
              <a:gd name="connsiteY4362" fmla="*/ 1032713 h 6211920"/>
              <a:gd name="connsiteX4363" fmla="*/ 8496854 w 9635294"/>
              <a:gd name="connsiteY4363" fmla="*/ 1032706 h 6211920"/>
              <a:gd name="connsiteX4364" fmla="*/ 8475120 w 9635294"/>
              <a:gd name="connsiteY4364" fmla="*/ 1019647 h 6211920"/>
              <a:gd name="connsiteX4365" fmla="*/ 8496854 w 9635294"/>
              <a:gd name="connsiteY4365" fmla="*/ 1032706 h 6211920"/>
              <a:gd name="connsiteX4366" fmla="*/ 8495214 w 9635294"/>
              <a:gd name="connsiteY4366" fmla="*/ 1035431 h 6211920"/>
              <a:gd name="connsiteX4367" fmla="*/ 8473497 w 9635294"/>
              <a:gd name="connsiteY4367" fmla="*/ 1022350 h 6211920"/>
              <a:gd name="connsiteX4368" fmla="*/ 8478387 w 9635294"/>
              <a:gd name="connsiteY4368" fmla="*/ 1014178 h 6211920"/>
              <a:gd name="connsiteX4369" fmla="*/ 8478398 w 9635294"/>
              <a:gd name="connsiteY4369" fmla="*/ 1014185 h 6211920"/>
              <a:gd name="connsiteX4370" fmla="*/ 8475120 w 9635294"/>
              <a:gd name="connsiteY4370" fmla="*/ 1019647 h 6211920"/>
              <a:gd name="connsiteX4371" fmla="*/ 8475085 w 9635294"/>
              <a:gd name="connsiteY4371" fmla="*/ 1019626 h 6211920"/>
              <a:gd name="connsiteX4372" fmla="*/ 1156456 w 9635294"/>
              <a:gd name="connsiteY4372" fmla="*/ 1012590 h 6211920"/>
              <a:gd name="connsiteX4373" fmla="*/ 1159720 w 9635294"/>
              <a:gd name="connsiteY4373" fmla="*/ 1018038 h 6211920"/>
              <a:gd name="connsiteX4374" fmla="*/ 1159720 w 9635294"/>
              <a:gd name="connsiteY4374" fmla="*/ 1018038 h 6211920"/>
              <a:gd name="connsiteX4375" fmla="*/ 1156456 w 9635294"/>
              <a:gd name="connsiteY4375" fmla="*/ 1012590 h 6211920"/>
              <a:gd name="connsiteX4376" fmla="*/ 8480038 w 9635294"/>
              <a:gd name="connsiteY4376" fmla="*/ 1011453 h 6211920"/>
              <a:gd name="connsiteX4377" fmla="*/ 8501755 w 9635294"/>
              <a:gd name="connsiteY4377" fmla="*/ 1024560 h 6211920"/>
              <a:gd name="connsiteX4378" fmla="*/ 8498485 w 9635294"/>
              <a:gd name="connsiteY4378" fmla="*/ 1029996 h 6211920"/>
              <a:gd name="connsiteX4379" fmla="*/ 8500104 w 9635294"/>
              <a:gd name="connsiteY4379" fmla="*/ 1027278 h 6211920"/>
              <a:gd name="connsiteX4380" fmla="*/ 8478398 w 9635294"/>
              <a:gd name="connsiteY4380" fmla="*/ 1014185 h 6211920"/>
              <a:gd name="connsiteX4381" fmla="*/ 1154824 w 9635294"/>
              <a:gd name="connsiteY4381" fmla="*/ 1009866 h 6211920"/>
              <a:gd name="connsiteX4382" fmla="*/ 1156456 w 9635294"/>
              <a:gd name="connsiteY4382" fmla="*/ 1012590 h 6211920"/>
              <a:gd name="connsiteX4383" fmla="*/ 1134715 w 9635294"/>
              <a:gd name="connsiteY4383" fmla="*/ 1025671 h 6211920"/>
              <a:gd name="connsiteX4384" fmla="*/ 1137997 w 9635294"/>
              <a:gd name="connsiteY4384" fmla="*/ 1031107 h 6211920"/>
              <a:gd name="connsiteX4385" fmla="*/ 1159720 w 9635294"/>
              <a:gd name="connsiteY4385" fmla="*/ 1018038 h 6211920"/>
              <a:gd name="connsiteX4386" fmla="*/ 1161352 w 9635294"/>
              <a:gd name="connsiteY4386" fmla="*/ 1020763 h 6211920"/>
              <a:gd name="connsiteX4387" fmla="*/ 1139636 w 9635294"/>
              <a:gd name="connsiteY4387" fmla="*/ 1033825 h 6211920"/>
              <a:gd name="connsiteX4388" fmla="*/ 1133069 w 9635294"/>
              <a:gd name="connsiteY4388" fmla="*/ 1022953 h 6211920"/>
              <a:gd name="connsiteX4389" fmla="*/ 1154824 w 9635294"/>
              <a:gd name="connsiteY4389" fmla="*/ 1009866 h 6211920"/>
              <a:gd name="connsiteX4390" fmla="*/ 8456583 w 9635294"/>
              <a:gd name="connsiteY4390" fmla="*/ 1001146 h 6211920"/>
              <a:gd name="connsiteX4391" fmla="*/ 8456607 w 9635294"/>
              <a:gd name="connsiteY4391" fmla="*/ 1001160 h 6211920"/>
              <a:gd name="connsiteX4392" fmla="*/ 8454927 w 9635294"/>
              <a:gd name="connsiteY4392" fmla="*/ 1003936 h 6211920"/>
              <a:gd name="connsiteX4393" fmla="*/ 1201674 w 9635294"/>
              <a:gd name="connsiteY4393" fmla="*/ 989410 h 6211920"/>
              <a:gd name="connsiteX4394" fmla="*/ 1203287 w 9635294"/>
              <a:gd name="connsiteY4394" fmla="*/ 992143 h 6211920"/>
              <a:gd name="connsiteX4395" fmla="*/ 1203287 w 9635294"/>
              <a:gd name="connsiteY4395" fmla="*/ 992144 h 6211920"/>
              <a:gd name="connsiteX4396" fmla="*/ 8436350 w 9635294"/>
              <a:gd name="connsiteY4396" fmla="*/ 985488 h 6211920"/>
              <a:gd name="connsiteX4397" fmla="*/ 8458194 w 9635294"/>
              <a:gd name="connsiteY4397" fmla="*/ 998430 h 6211920"/>
              <a:gd name="connsiteX4398" fmla="*/ 8456583 w 9635294"/>
              <a:gd name="connsiteY4398" fmla="*/ 1001146 h 6211920"/>
              <a:gd name="connsiteX4399" fmla="*/ 8434762 w 9635294"/>
              <a:gd name="connsiteY4399" fmla="*/ 988225 h 6211920"/>
              <a:gd name="connsiteX4400" fmla="*/ 8431524 w 9635294"/>
              <a:gd name="connsiteY4400" fmla="*/ 993692 h 6211920"/>
              <a:gd name="connsiteX4401" fmla="*/ 8453305 w 9635294"/>
              <a:gd name="connsiteY4401" fmla="*/ 1006615 h 6211920"/>
              <a:gd name="connsiteX4402" fmla="*/ 8454927 w 9635294"/>
              <a:gd name="connsiteY4402" fmla="*/ 1003936 h 6211920"/>
              <a:gd name="connsiteX4403" fmla="*/ 8451717 w 9635294"/>
              <a:gd name="connsiteY4403" fmla="*/ 1009345 h 6211920"/>
              <a:gd name="connsiteX4404" fmla="*/ 8429873 w 9635294"/>
              <a:gd name="connsiteY4404" fmla="*/ 996429 h 6211920"/>
              <a:gd name="connsiteX4405" fmla="*/ 1198448 w 9635294"/>
              <a:gd name="connsiteY4405" fmla="*/ 983939 h 6211920"/>
              <a:gd name="connsiteX4406" fmla="*/ 1201674 w 9635294"/>
              <a:gd name="connsiteY4406" fmla="*/ 989410 h 6211920"/>
              <a:gd name="connsiteX4407" fmla="*/ 1200061 w 9635294"/>
              <a:gd name="connsiteY4407" fmla="*/ 986676 h 6211920"/>
              <a:gd name="connsiteX4408" fmla="*/ 1178243 w 9635294"/>
              <a:gd name="connsiteY4408" fmla="*/ 999585 h 6211920"/>
              <a:gd name="connsiteX4409" fmla="*/ 1181488 w 9635294"/>
              <a:gd name="connsiteY4409" fmla="*/ 1005046 h 6211920"/>
              <a:gd name="connsiteX4410" fmla="*/ 1203287 w 9635294"/>
              <a:gd name="connsiteY4410" fmla="*/ 992144 h 6211920"/>
              <a:gd name="connsiteX4411" fmla="*/ 1204900 w 9635294"/>
              <a:gd name="connsiteY4411" fmla="*/ 994880 h 6211920"/>
              <a:gd name="connsiteX4412" fmla="*/ 1183107 w 9635294"/>
              <a:gd name="connsiteY4412" fmla="*/ 1007777 h 6211920"/>
              <a:gd name="connsiteX4413" fmla="*/ 1176617 w 9635294"/>
              <a:gd name="connsiteY4413" fmla="*/ 996861 h 6211920"/>
              <a:gd name="connsiteX4414" fmla="*/ 1198448 w 9635294"/>
              <a:gd name="connsiteY4414" fmla="*/ 983939 h 6211920"/>
              <a:gd name="connsiteX4415" fmla="*/ 8412843 w 9635294"/>
              <a:gd name="connsiteY4415" fmla="*/ 975359 h 6211920"/>
              <a:gd name="connsiteX4416" fmla="*/ 8412855 w 9635294"/>
              <a:gd name="connsiteY4416" fmla="*/ 975366 h 6211920"/>
              <a:gd name="connsiteX4417" fmla="*/ 8409680 w 9635294"/>
              <a:gd name="connsiteY4417" fmla="*/ 980846 h 6211920"/>
              <a:gd name="connsiteX4418" fmla="*/ 8409646 w 9635294"/>
              <a:gd name="connsiteY4418" fmla="*/ 980826 h 6211920"/>
              <a:gd name="connsiteX4419" fmla="*/ 1221933 w 9635294"/>
              <a:gd name="connsiteY4419" fmla="*/ 973835 h 6211920"/>
              <a:gd name="connsiteX4420" fmla="*/ 1223496 w 9635294"/>
              <a:gd name="connsiteY4420" fmla="*/ 976509 h 6211920"/>
              <a:gd name="connsiteX4421" fmla="*/ 1221931 w 9635294"/>
              <a:gd name="connsiteY4421" fmla="*/ 973836 h 6211920"/>
              <a:gd name="connsiteX4422" fmla="*/ 8392535 w 9635294"/>
              <a:gd name="connsiteY4422" fmla="*/ 959834 h 6211920"/>
              <a:gd name="connsiteX4423" fmla="*/ 8414443 w 9635294"/>
              <a:gd name="connsiteY4423" fmla="*/ 972623 h 6211920"/>
              <a:gd name="connsiteX4424" fmla="*/ 8412843 w 9635294"/>
              <a:gd name="connsiteY4424" fmla="*/ 975359 h 6211920"/>
              <a:gd name="connsiteX4425" fmla="*/ 8390947 w 9635294"/>
              <a:gd name="connsiteY4425" fmla="*/ 962584 h 6211920"/>
              <a:gd name="connsiteX4426" fmla="*/ 8387772 w 9635294"/>
              <a:gd name="connsiteY4426" fmla="*/ 968077 h 6211920"/>
              <a:gd name="connsiteX4427" fmla="*/ 8409646 w 9635294"/>
              <a:gd name="connsiteY4427" fmla="*/ 980826 h 6211920"/>
              <a:gd name="connsiteX4428" fmla="*/ 8408029 w 9635294"/>
              <a:gd name="connsiteY4428" fmla="*/ 983590 h 6211920"/>
              <a:gd name="connsiteX4429" fmla="*/ 8386121 w 9635294"/>
              <a:gd name="connsiteY4429" fmla="*/ 970820 h 6211920"/>
              <a:gd name="connsiteX4430" fmla="*/ 1242257 w 9635294"/>
              <a:gd name="connsiteY4430" fmla="*/ 958323 h 6211920"/>
              <a:gd name="connsiteX4431" fmla="*/ 1248626 w 9635294"/>
              <a:gd name="connsiteY4431" fmla="*/ 969309 h 6211920"/>
              <a:gd name="connsiteX4432" fmla="*/ 1226738 w 9635294"/>
              <a:gd name="connsiteY4432" fmla="*/ 982059 h 6211920"/>
              <a:gd name="connsiteX4433" fmla="*/ 1223496 w 9635294"/>
              <a:gd name="connsiteY4433" fmla="*/ 976509 h 6211920"/>
              <a:gd name="connsiteX4434" fmla="*/ 1225139 w 9635294"/>
              <a:gd name="connsiteY4434" fmla="*/ 979316 h 6211920"/>
              <a:gd name="connsiteX4435" fmla="*/ 1247032 w 9635294"/>
              <a:gd name="connsiteY4435" fmla="*/ 966565 h 6211920"/>
              <a:gd name="connsiteX4436" fmla="*/ 1243852 w 9635294"/>
              <a:gd name="connsiteY4436" fmla="*/ 961073 h 6211920"/>
              <a:gd name="connsiteX4437" fmla="*/ 1221933 w 9635294"/>
              <a:gd name="connsiteY4437" fmla="*/ 973835 h 6211920"/>
              <a:gd name="connsiteX4438" fmla="*/ 1220332 w 9635294"/>
              <a:gd name="connsiteY4438" fmla="*/ 971093 h 6211920"/>
              <a:gd name="connsiteX4439" fmla="*/ 1242257 w 9635294"/>
              <a:gd name="connsiteY4439" fmla="*/ 958323 h 6211920"/>
              <a:gd name="connsiteX4440" fmla="*/ 8368975 w 9635294"/>
              <a:gd name="connsiteY4440" fmla="*/ 949878 h 6211920"/>
              <a:gd name="connsiteX4441" fmla="*/ 8368976 w 9635294"/>
              <a:gd name="connsiteY4441" fmla="*/ 949878 h 6211920"/>
              <a:gd name="connsiteX4442" fmla="*/ 8367540 w 9635294"/>
              <a:gd name="connsiteY4442" fmla="*/ 952365 h 6211920"/>
              <a:gd name="connsiteX4443" fmla="*/ 1265819 w 9635294"/>
              <a:gd name="connsiteY4443" fmla="*/ 948384 h 6211920"/>
              <a:gd name="connsiteX4444" fmla="*/ 1268985 w 9635294"/>
              <a:gd name="connsiteY4444" fmla="*/ 953891 h 6211920"/>
              <a:gd name="connsiteX4445" fmla="*/ 1268984 w 9635294"/>
              <a:gd name="connsiteY4445" fmla="*/ 953891 h 6211920"/>
              <a:gd name="connsiteX4446" fmla="*/ 1265816 w 9635294"/>
              <a:gd name="connsiteY4446" fmla="*/ 948385 h 6211920"/>
              <a:gd name="connsiteX4447" fmla="*/ 8348466 w 9635294"/>
              <a:gd name="connsiteY4447" fmla="*/ 934485 h 6211920"/>
              <a:gd name="connsiteX4448" fmla="*/ 8370564 w 9635294"/>
              <a:gd name="connsiteY4448" fmla="*/ 947122 h 6211920"/>
              <a:gd name="connsiteX4449" fmla="*/ 8368975 w 9635294"/>
              <a:gd name="connsiteY4449" fmla="*/ 949878 h 6211920"/>
              <a:gd name="connsiteX4450" fmla="*/ 8346942 w 9635294"/>
              <a:gd name="connsiteY4450" fmla="*/ 937247 h 6211920"/>
              <a:gd name="connsiteX4451" fmla="*/ 8343767 w 9635294"/>
              <a:gd name="connsiteY4451" fmla="*/ 942759 h 6211920"/>
              <a:gd name="connsiteX4452" fmla="*/ 8365801 w 9635294"/>
              <a:gd name="connsiteY4452" fmla="*/ 955377 h 6211920"/>
              <a:gd name="connsiteX4453" fmla="*/ 8367540 w 9635294"/>
              <a:gd name="connsiteY4453" fmla="*/ 952365 h 6211920"/>
              <a:gd name="connsiteX4454" fmla="*/ 8364214 w 9635294"/>
              <a:gd name="connsiteY4454" fmla="*/ 958132 h 6211920"/>
              <a:gd name="connsiteX4455" fmla="*/ 8342180 w 9635294"/>
              <a:gd name="connsiteY4455" fmla="*/ 945515 h 6211920"/>
              <a:gd name="connsiteX4456" fmla="*/ 1286263 w 9635294"/>
              <a:gd name="connsiteY4456" fmla="*/ 933012 h 6211920"/>
              <a:gd name="connsiteX4457" fmla="*/ 1292556 w 9635294"/>
              <a:gd name="connsiteY4457" fmla="*/ 944048 h 6211920"/>
              <a:gd name="connsiteX4458" fmla="*/ 1270566 w 9635294"/>
              <a:gd name="connsiteY4458" fmla="*/ 956640 h 6211920"/>
              <a:gd name="connsiteX4459" fmla="*/ 1268985 w 9635294"/>
              <a:gd name="connsiteY4459" fmla="*/ 953891 h 6211920"/>
              <a:gd name="connsiteX4460" fmla="*/ 1290981 w 9635294"/>
              <a:gd name="connsiteY4460" fmla="*/ 941286 h 6211920"/>
              <a:gd name="connsiteX4461" fmla="*/ 1287837 w 9635294"/>
              <a:gd name="connsiteY4461" fmla="*/ 935774 h 6211920"/>
              <a:gd name="connsiteX4462" fmla="*/ 1265819 w 9635294"/>
              <a:gd name="connsiteY4462" fmla="*/ 948384 h 6211920"/>
              <a:gd name="connsiteX4463" fmla="*/ 1264235 w 9635294"/>
              <a:gd name="connsiteY4463" fmla="*/ 945629 h 6211920"/>
              <a:gd name="connsiteX4464" fmla="*/ 1286263 w 9635294"/>
              <a:gd name="connsiteY4464" fmla="*/ 933012 h 6211920"/>
              <a:gd name="connsiteX4465" fmla="*/ 8323282 w 9635294"/>
              <a:gd name="connsiteY4465" fmla="*/ 927463 h 6211920"/>
              <a:gd name="connsiteX4466" fmla="*/ 8321732 w 9635294"/>
              <a:gd name="connsiteY4466" fmla="*/ 930218 h 6211920"/>
              <a:gd name="connsiteX4467" fmla="*/ 8321719 w 9635294"/>
              <a:gd name="connsiteY4467" fmla="*/ 930211 h 6211920"/>
              <a:gd name="connsiteX4468" fmla="*/ 1333634 w 9635294"/>
              <a:gd name="connsiteY4468" fmla="*/ 913720 h 6211920"/>
              <a:gd name="connsiteX4469" fmla="*/ 1335100 w 9635294"/>
              <a:gd name="connsiteY4469" fmla="*/ 916330 h 6211920"/>
              <a:gd name="connsiteX4470" fmla="*/ 1335098 w 9635294"/>
              <a:gd name="connsiteY4470" fmla="*/ 916331 h 6211920"/>
              <a:gd name="connsiteX4471" fmla="*/ 8304269 w 9635294"/>
              <a:gd name="connsiteY4471" fmla="*/ 909460 h 6211920"/>
              <a:gd name="connsiteX4472" fmla="*/ 8326432 w 9635294"/>
              <a:gd name="connsiteY4472" fmla="*/ 921925 h 6211920"/>
              <a:gd name="connsiteX4473" fmla="*/ 8323282 w 9635294"/>
              <a:gd name="connsiteY4473" fmla="*/ 927463 h 6211920"/>
              <a:gd name="connsiteX4474" fmla="*/ 8324844 w 9635294"/>
              <a:gd name="connsiteY4474" fmla="*/ 924687 h 6211920"/>
              <a:gd name="connsiteX4475" fmla="*/ 8302746 w 9635294"/>
              <a:gd name="connsiteY4475" fmla="*/ 912228 h 6211920"/>
              <a:gd name="connsiteX4476" fmla="*/ 8299634 w 9635294"/>
              <a:gd name="connsiteY4476" fmla="*/ 917759 h 6211920"/>
              <a:gd name="connsiteX4477" fmla="*/ 8321719 w 9635294"/>
              <a:gd name="connsiteY4477" fmla="*/ 930211 h 6211920"/>
              <a:gd name="connsiteX4478" fmla="*/ 8320144 w 9635294"/>
              <a:gd name="connsiteY4478" fmla="*/ 932980 h 6211920"/>
              <a:gd name="connsiteX4479" fmla="*/ 8298047 w 9635294"/>
              <a:gd name="connsiteY4479" fmla="*/ 920528 h 6211920"/>
              <a:gd name="connsiteX4480" fmla="*/ 1330440 w 9635294"/>
              <a:gd name="connsiteY4480" fmla="*/ 908025 h 6211920"/>
              <a:gd name="connsiteX4481" fmla="*/ 1333634 w 9635294"/>
              <a:gd name="connsiteY4481" fmla="*/ 913720 h 6211920"/>
              <a:gd name="connsiteX4482" fmla="*/ 1331989 w 9635294"/>
              <a:gd name="connsiteY4482" fmla="*/ 910793 h 6211920"/>
              <a:gd name="connsiteX4483" fmla="*/ 1309904 w 9635294"/>
              <a:gd name="connsiteY4483" fmla="*/ 923239 h 6211920"/>
              <a:gd name="connsiteX4484" fmla="*/ 1313028 w 9635294"/>
              <a:gd name="connsiteY4484" fmla="*/ 928764 h 6211920"/>
              <a:gd name="connsiteX4485" fmla="*/ 1335098 w 9635294"/>
              <a:gd name="connsiteY4485" fmla="*/ 916331 h 6211920"/>
              <a:gd name="connsiteX4486" fmla="*/ 1336650 w 9635294"/>
              <a:gd name="connsiteY4486" fmla="*/ 919099 h 6211920"/>
              <a:gd name="connsiteX4487" fmla="*/ 1314591 w 9635294"/>
              <a:gd name="connsiteY4487" fmla="*/ 931526 h 6211920"/>
              <a:gd name="connsiteX4488" fmla="*/ 1308335 w 9635294"/>
              <a:gd name="connsiteY4488" fmla="*/ 920471 h 6211920"/>
              <a:gd name="connsiteX4489" fmla="*/ 1330440 w 9635294"/>
              <a:gd name="connsiteY4489" fmla="*/ 908025 h 6211920"/>
              <a:gd name="connsiteX4490" fmla="*/ 8280571 w 9635294"/>
              <a:gd name="connsiteY4490" fmla="*/ 899832 h 6211920"/>
              <a:gd name="connsiteX4491" fmla="*/ 8280584 w 9635294"/>
              <a:gd name="connsiteY4491" fmla="*/ 899839 h 6211920"/>
              <a:gd name="connsiteX4492" fmla="*/ 8278836 w 9635294"/>
              <a:gd name="connsiteY4492" fmla="*/ 902958 h 6211920"/>
              <a:gd name="connsiteX4493" fmla="*/ 8255321 w 9635294"/>
              <a:gd name="connsiteY4493" fmla="*/ 893096 h 6211920"/>
              <a:gd name="connsiteX4494" fmla="*/ 8277473 w 9635294"/>
              <a:gd name="connsiteY4494" fmla="*/ 905389 h 6211920"/>
              <a:gd name="connsiteX4495" fmla="*/ 8278836 w 9635294"/>
              <a:gd name="connsiteY4495" fmla="*/ 902958 h 6211920"/>
              <a:gd name="connsiteX4496" fmla="*/ 8275949 w 9635294"/>
              <a:gd name="connsiteY4496" fmla="*/ 908158 h 6211920"/>
              <a:gd name="connsiteX4497" fmla="*/ 8253787 w 9635294"/>
              <a:gd name="connsiteY4497" fmla="*/ 895864 h 6211920"/>
              <a:gd name="connsiteX4498" fmla="*/ 8256839 w 9635294"/>
              <a:gd name="connsiteY4498" fmla="*/ 890359 h 6211920"/>
              <a:gd name="connsiteX4499" fmla="*/ 8255321 w 9635294"/>
              <a:gd name="connsiteY4499" fmla="*/ 893096 h 6211920"/>
              <a:gd name="connsiteX4500" fmla="*/ 8255311 w 9635294"/>
              <a:gd name="connsiteY4500" fmla="*/ 893090 h 6211920"/>
              <a:gd name="connsiteX4501" fmla="*/ 1376312 w 9635294"/>
              <a:gd name="connsiteY4501" fmla="*/ 886130 h 6211920"/>
              <a:gd name="connsiteX4502" fmla="*/ 1354131 w 9635294"/>
              <a:gd name="connsiteY4502" fmla="*/ 898423 h 6211920"/>
              <a:gd name="connsiteX4503" fmla="*/ 1357217 w 9635294"/>
              <a:gd name="connsiteY4503" fmla="*/ 903973 h 6211920"/>
              <a:gd name="connsiteX4504" fmla="*/ 1379379 w 9635294"/>
              <a:gd name="connsiteY4504" fmla="*/ 891693 h 6211920"/>
              <a:gd name="connsiteX4505" fmla="*/ 8259947 w 9635294"/>
              <a:gd name="connsiteY4505" fmla="*/ 884752 h 6211920"/>
              <a:gd name="connsiteX4506" fmla="*/ 8282108 w 9635294"/>
              <a:gd name="connsiteY4506" fmla="*/ 897064 h 6211920"/>
              <a:gd name="connsiteX4507" fmla="*/ 8280571 w 9635294"/>
              <a:gd name="connsiteY4507" fmla="*/ 899832 h 6211920"/>
              <a:gd name="connsiteX4508" fmla="*/ 8258423 w 9635294"/>
              <a:gd name="connsiteY4508" fmla="*/ 887527 h 6211920"/>
              <a:gd name="connsiteX4509" fmla="*/ 8256839 w 9635294"/>
              <a:gd name="connsiteY4509" fmla="*/ 890359 h 6211920"/>
              <a:gd name="connsiteX4510" fmla="*/ 1374782 w 9635294"/>
              <a:gd name="connsiteY4510" fmla="*/ 883355 h 6211920"/>
              <a:gd name="connsiteX4511" fmla="*/ 1380916 w 9635294"/>
              <a:gd name="connsiteY4511" fmla="*/ 894474 h 6211920"/>
              <a:gd name="connsiteX4512" fmla="*/ 1358762 w 9635294"/>
              <a:gd name="connsiteY4512" fmla="*/ 906748 h 6211920"/>
              <a:gd name="connsiteX4513" fmla="*/ 1352583 w 9635294"/>
              <a:gd name="connsiteY4513" fmla="*/ 895648 h 6211920"/>
              <a:gd name="connsiteX4514" fmla="*/ 1374782 w 9635294"/>
              <a:gd name="connsiteY4514" fmla="*/ 883355 h 6211920"/>
              <a:gd name="connsiteX4515" fmla="*/ 8236133 w 9635294"/>
              <a:gd name="connsiteY4515" fmla="*/ 875297 h 6211920"/>
              <a:gd name="connsiteX4516" fmla="*/ 8236134 w 9635294"/>
              <a:gd name="connsiteY4516" fmla="*/ 875297 h 6211920"/>
              <a:gd name="connsiteX4517" fmla="*/ 8234141 w 9635294"/>
              <a:gd name="connsiteY4517" fmla="*/ 878938 h 6211920"/>
              <a:gd name="connsiteX4518" fmla="*/ 1398544 w 9635294"/>
              <a:gd name="connsiteY4518" fmla="*/ 873919 h 6211920"/>
              <a:gd name="connsiteX4519" fmla="*/ 1400771 w 9635294"/>
              <a:gd name="connsiteY4519" fmla="*/ 877989 h 6211920"/>
              <a:gd name="connsiteX4520" fmla="*/ 1398543 w 9635294"/>
              <a:gd name="connsiteY4520" fmla="*/ 873919 h 6211920"/>
              <a:gd name="connsiteX4521" fmla="*/ 8210836 w 9635294"/>
              <a:gd name="connsiteY4521" fmla="*/ 868739 h 6211920"/>
              <a:gd name="connsiteX4522" fmla="*/ 8233086 w 9635294"/>
              <a:gd name="connsiteY4522" fmla="*/ 880866 h 6211920"/>
              <a:gd name="connsiteX4523" fmla="*/ 8234141 w 9635294"/>
              <a:gd name="connsiteY4523" fmla="*/ 878938 h 6211920"/>
              <a:gd name="connsiteX4524" fmla="*/ 8231562 w 9635294"/>
              <a:gd name="connsiteY4524" fmla="*/ 883653 h 6211920"/>
              <a:gd name="connsiteX4525" fmla="*/ 8209337 w 9635294"/>
              <a:gd name="connsiteY4525" fmla="*/ 871512 h 6211920"/>
              <a:gd name="connsiteX4526" fmla="*/ 8213846 w 9635294"/>
              <a:gd name="connsiteY4526" fmla="*/ 863136 h 6211920"/>
              <a:gd name="connsiteX4527" fmla="*/ 8213859 w 9635294"/>
              <a:gd name="connsiteY4527" fmla="*/ 863143 h 6211920"/>
              <a:gd name="connsiteX4528" fmla="*/ 8210836 w 9635294"/>
              <a:gd name="connsiteY4528" fmla="*/ 868739 h 6211920"/>
              <a:gd name="connsiteX4529" fmla="*/ 8210798 w 9635294"/>
              <a:gd name="connsiteY4529" fmla="*/ 868718 h 6211920"/>
              <a:gd name="connsiteX4530" fmla="*/ 8215369 w 9635294"/>
              <a:gd name="connsiteY4530" fmla="*/ 860349 h 6211920"/>
              <a:gd name="connsiteX4531" fmla="*/ 8237658 w 9635294"/>
              <a:gd name="connsiteY4531" fmla="*/ 872509 h 6211920"/>
              <a:gd name="connsiteX4532" fmla="*/ 8236133 w 9635294"/>
              <a:gd name="connsiteY4532" fmla="*/ 875297 h 6211920"/>
              <a:gd name="connsiteX4533" fmla="*/ 8213859 w 9635294"/>
              <a:gd name="connsiteY4533" fmla="*/ 863143 h 6211920"/>
              <a:gd name="connsiteX4534" fmla="*/ 1419314 w 9635294"/>
              <a:gd name="connsiteY4534" fmla="*/ 858990 h 6211920"/>
              <a:gd name="connsiteX4535" fmla="*/ 1425366 w 9635294"/>
              <a:gd name="connsiteY4535" fmla="*/ 870153 h 6211920"/>
              <a:gd name="connsiteX4536" fmla="*/ 1403115 w 9635294"/>
              <a:gd name="connsiteY4536" fmla="*/ 882275 h 6211920"/>
              <a:gd name="connsiteX4537" fmla="*/ 1400771 w 9635294"/>
              <a:gd name="connsiteY4537" fmla="*/ 877989 h 6211920"/>
              <a:gd name="connsiteX4538" fmla="*/ 1401591 w 9635294"/>
              <a:gd name="connsiteY4538" fmla="*/ 879488 h 6211920"/>
              <a:gd name="connsiteX4539" fmla="*/ 1423854 w 9635294"/>
              <a:gd name="connsiteY4539" fmla="*/ 867365 h 6211920"/>
              <a:gd name="connsiteX4540" fmla="*/ 1420826 w 9635294"/>
              <a:gd name="connsiteY4540" fmla="*/ 861784 h 6211920"/>
              <a:gd name="connsiteX4541" fmla="*/ 1398544 w 9635294"/>
              <a:gd name="connsiteY4541" fmla="*/ 873919 h 6211920"/>
              <a:gd name="connsiteX4542" fmla="*/ 1397019 w 9635294"/>
              <a:gd name="connsiteY4542" fmla="*/ 871131 h 6211920"/>
              <a:gd name="connsiteX4543" fmla="*/ 1419314 w 9635294"/>
              <a:gd name="connsiteY4543" fmla="*/ 858990 h 6211920"/>
              <a:gd name="connsiteX4544" fmla="*/ 8189996 w 9635294"/>
              <a:gd name="connsiteY4544" fmla="*/ 853867 h 6211920"/>
              <a:gd name="connsiteX4545" fmla="*/ 8188509 w 9635294"/>
              <a:gd name="connsiteY4545" fmla="*/ 856653 h 6211920"/>
              <a:gd name="connsiteX4546" fmla="*/ 8188496 w 9635294"/>
              <a:gd name="connsiteY4546" fmla="*/ 856646 h 6211920"/>
              <a:gd name="connsiteX4547" fmla="*/ 1444660 w 9635294"/>
              <a:gd name="connsiteY4547" fmla="*/ 852516 h 6211920"/>
              <a:gd name="connsiteX4548" fmla="*/ 1446164 w 9635294"/>
              <a:gd name="connsiteY4548" fmla="*/ 855312 h 6211920"/>
              <a:gd name="connsiteX4549" fmla="*/ 1446162 w 9635294"/>
              <a:gd name="connsiteY4549" fmla="*/ 855313 h 6211920"/>
              <a:gd name="connsiteX4550" fmla="*/ 1468508 w 9635294"/>
              <a:gd name="connsiteY4550" fmla="*/ 843351 h 6211920"/>
              <a:gd name="connsiteX4551" fmla="*/ 1470001 w 9635294"/>
              <a:gd name="connsiteY4551" fmla="*/ 846150 h 6211920"/>
              <a:gd name="connsiteX4552" fmla="*/ 1447668 w 9635294"/>
              <a:gd name="connsiteY4552" fmla="*/ 858107 h 6211920"/>
              <a:gd name="connsiteX4553" fmla="*/ 1446164 w 9635294"/>
              <a:gd name="connsiteY4553" fmla="*/ 855312 h 6211920"/>
              <a:gd name="connsiteX4554" fmla="*/ 1467410 w 9635294"/>
              <a:gd name="connsiteY4554" fmla="*/ 841291 h 6211920"/>
              <a:gd name="connsiteX4555" fmla="*/ 1468508 w 9635294"/>
              <a:gd name="connsiteY4555" fmla="*/ 843350 h 6211920"/>
              <a:gd name="connsiteX4556" fmla="*/ 1468508 w 9635294"/>
              <a:gd name="connsiteY4556" fmla="*/ 843351 h 6211920"/>
              <a:gd name="connsiteX4557" fmla="*/ 8170602 w 9635294"/>
              <a:gd name="connsiteY4557" fmla="*/ 836263 h 6211920"/>
              <a:gd name="connsiteX4558" fmla="*/ 8193018 w 9635294"/>
              <a:gd name="connsiteY4558" fmla="*/ 848265 h 6211920"/>
              <a:gd name="connsiteX4559" fmla="*/ 8189996 w 9635294"/>
              <a:gd name="connsiteY4559" fmla="*/ 853867 h 6211920"/>
              <a:gd name="connsiteX4560" fmla="*/ 8191494 w 9635294"/>
              <a:gd name="connsiteY4560" fmla="*/ 851059 h 6211920"/>
              <a:gd name="connsiteX4561" fmla="*/ 8169142 w 9635294"/>
              <a:gd name="connsiteY4561" fmla="*/ 839064 h 6211920"/>
              <a:gd name="connsiteX4562" fmla="*/ 8166157 w 9635294"/>
              <a:gd name="connsiteY4562" fmla="*/ 844671 h 6211920"/>
              <a:gd name="connsiteX4563" fmla="*/ 8188496 w 9635294"/>
              <a:gd name="connsiteY4563" fmla="*/ 856646 h 6211920"/>
              <a:gd name="connsiteX4564" fmla="*/ 8186985 w 9635294"/>
              <a:gd name="connsiteY4564" fmla="*/ 859447 h 6211920"/>
              <a:gd name="connsiteX4565" fmla="*/ 8164633 w 9635294"/>
              <a:gd name="connsiteY4565" fmla="*/ 847471 h 6211920"/>
              <a:gd name="connsiteX4566" fmla="*/ 1464025 w 9635294"/>
              <a:gd name="connsiteY4566" fmla="*/ 834942 h 6211920"/>
              <a:gd name="connsiteX4567" fmla="*/ 1467410 w 9635294"/>
              <a:gd name="connsiteY4567" fmla="*/ 841291 h 6211920"/>
              <a:gd name="connsiteX4568" fmla="*/ 1465517 w 9635294"/>
              <a:gd name="connsiteY4568" fmla="*/ 837743 h 6211920"/>
              <a:gd name="connsiteX4569" fmla="*/ 1443159 w 9635294"/>
              <a:gd name="connsiteY4569" fmla="*/ 849719 h 6211920"/>
              <a:gd name="connsiteX4570" fmla="*/ 1444660 w 9635294"/>
              <a:gd name="connsiteY4570" fmla="*/ 852516 h 6211920"/>
              <a:gd name="connsiteX4571" fmla="*/ 1441653 w 9635294"/>
              <a:gd name="connsiteY4571" fmla="*/ 846925 h 6211920"/>
              <a:gd name="connsiteX4572" fmla="*/ 1464025 w 9635294"/>
              <a:gd name="connsiteY4572" fmla="*/ 834942 h 6211920"/>
              <a:gd name="connsiteX4573" fmla="*/ 1489333 w 9635294"/>
              <a:gd name="connsiteY4573" fmla="*/ 828543 h 6211920"/>
              <a:gd name="connsiteX4574" fmla="*/ 1490881 w 9635294"/>
              <a:gd name="connsiteY4574" fmla="*/ 831469 h 6211920"/>
              <a:gd name="connsiteX4575" fmla="*/ 1490879 w 9635294"/>
              <a:gd name="connsiteY4575" fmla="*/ 831469 h 6211920"/>
              <a:gd name="connsiteX4576" fmla="*/ 8146714 w 9635294"/>
              <a:gd name="connsiteY4576" fmla="*/ 827151 h 6211920"/>
              <a:gd name="connsiteX4577" fmla="*/ 8146726 w 9635294"/>
              <a:gd name="connsiteY4577" fmla="*/ 827157 h 6211920"/>
              <a:gd name="connsiteX4578" fmla="*/ 8145304 w 9635294"/>
              <a:gd name="connsiteY4578" fmla="*/ 829833 h 6211920"/>
              <a:gd name="connsiteX4579" fmla="*/ 8121337 w 9635294"/>
              <a:gd name="connsiteY4579" fmla="*/ 820959 h 6211920"/>
              <a:gd name="connsiteX4580" fmla="*/ 8143742 w 9635294"/>
              <a:gd name="connsiteY4580" fmla="*/ 832771 h 6211920"/>
              <a:gd name="connsiteX4581" fmla="*/ 8145304 w 9635294"/>
              <a:gd name="connsiteY4581" fmla="*/ 829833 h 6211920"/>
              <a:gd name="connsiteX4582" fmla="*/ 8142282 w 9635294"/>
              <a:gd name="connsiteY4582" fmla="*/ 835578 h 6211920"/>
              <a:gd name="connsiteX4583" fmla="*/ 8119866 w 9635294"/>
              <a:gd name="connsiteY4583" fmla="*/ 823760 h 6211920"/>
              <a:gd name="connsiteX4584" fmla="*/ 1513299 w 9635294"/>
              <a:gd name="connsiteY4584" fmla="*/ 819665 h 6211920"/>
              <a:gd name="connsiteX4585" fmla="*/ 1514774 w 9635294"/>
              <a:gd name="connsiteY4585" fmla="*/ 822477 h 6211920"/>
              <a:gd name="connsiteX4586" fmla="*/ 1492365 w 9635294"/>
              <a:gd name="connsiteY4586" fmla="*/ 834276 h 6211920"/>
              <a:gd name="connsiteX4587" fmla="*/ 1490881 w 9635294"/>
              <a:gd name="connsiteY4587" fmla="*/ 831469 h 6211920"/>
              <a:gd name="connsiteX4588" fmla="*/ 1511458 w 9635294"/>
              <a:gd name="connsiteY4588" fmla="*/ 816157 h 6211920"/>
              <a:gd name="connsiteX4589" fmla="*/ 1513301 w 9635294"/>
              <a:gd name="connsiteY4589" fmla="*/ 819664 h 6211920"/>
              <a:gd name="connsiteX4590" fmla="*/ 1513299 w 9635294"/>
              <a:gd name="connsiteY4590" fmla="*/ 819665 h 6211920"/>
              <a:gd name="connsiteX4591" fmla="*/ 8124247 w 9635294"/>
              <a:gd name="connsiteY4591" fmla="*/ 815327 h 6211920"/>
              <a:gd name="connsiteX4592" fmla="*/ 8124284 w 9635294"/>
              <a:gd name="connsiteY4592" fmla="*/ 815347 h 6211920"/>
              <a:gd name="connsiteX4593" fmla="*/ 8121337 w 9635294"/>
              <a:gd name="connsiteY4593" fmla="*/ 820959 h 6211920"/>
              <a:gd name="connsiteX4594" fmla="*/ 8121326 w 9635294"/>
              <a:gd name="connsiteY4594" fmla="*/ 820953 h 6211920"/>
              <a:gd name="connsiteX4595" fmla="*/ 8125771 w 9635294"/>
              <a:gd name="connsiteY4595" fmla="*/ 812514 h 6211920"/>
              <a:gd name="connsiteX4596" fmla="*/ 8148187 w 9635294"/>
              <a:gd name="connsiteY4596" fmla="*/ 824351 h 6211920"/>
              <a:gd name="connsiteX4597" fmla="*/ 8146714 w 9635294"/>
              <a:gd name="connsiteY4597" fmla="*/ 827151 h 6211920"/>
              <a:gd name="connsiteX4598" fmla="*/ 8124284 w 9635294"/>
              <a:gd name="connsiteY4598" fmla="*/ 815347 h 6211920"/>
              <a:gd name="connsiteX4599" fmla="*/ 1508874 w 9635294"/>
              <a:gd name="connsiteY4599" fmla="*/ 811232 h 6211920"/>
              <a:gd name="connsiteX4600" fmla="*/ 1511458 w 9635294"/>
              <a:gd name="connsiteY4600" fmla="*/ 816157 h 6211920"/>
              <a:gd name="connsiteX4601" fmla="*/ 1510349 w 9635294"/>
              <a:gd name="connsiteY4601" fmla="*/ 814045 h 6211920"/>
              <a:gd name="connsiteX4602" fmla="*/ 1487913 w 9635294"/>
              <a:gd name="connsiteY4602" fmla="*/ 825856 h 6211920"/>
              <a:gd name="connsiteX4603" fmla="*/ 1489333 w 9635294"/>
              <a:gd name="connsiteY4603" fmla="*/ 828543 h 6211920"/>
              <a:gd name="connsiteX4604" fmla="*/ 1486427 w 9635294"/>
              <a:gd name="connsiteY4604" fmla="*/ 823049 h 6211920"/>
              <a:gd name="connsiteX4605" fmla="*/ 1508874 w 9635294"/>
              <a:gd name="connsiteY4605" fmla="*/ 811232 h 6211920"/>
              <a:gd name="connsiteX4606" fmla="*/ 8077432 w 9635294"/>
              <a:gd name="connsiteY4606" fmla="*/ 795365 h 6211920"/>
              <a:gd name="connsiteX4607" fmla="*/ 8076306 w 9635294"/>
              <a:gd name="connsiteY4607" fmla="*/ 797542 h 6211920"/>
              <a:gd name="connsiteX4608" fmla="*/ 8076305 w 9635294"/>
              <a:gd name="connsiteY4608" fmla="*/ 797541 h 6211920"/>
              <a:gd name="connsiteX4609" fmla="*/ 1555370 w 9635294"/>
              <a:gd name="connsiteY4609" fmla="*/ 790651 h 6211920"/>
              <a:gd name="connsiteX4610" fmla="*/ 1532839 w 9635294"/>
              <a:gd name="connsiteY4610" fmla="*/ 802310 h 6211920"/>
              <a:gd name="connsiteX4611" fmla="*/ 1535767 w 9635294"/>
              <a:gd name="connsiteY4611" fmla="*/ 807942 h 6211920"/>
              <a:gd name="connsiteX4612" fmla="*/ 1558278 w 9635294"/>
              <a:gd name="connsiteY4612" fmla="*/ 796296 h 6211920"/>
              <a:gd name="connsiteX4613" fmla="*/ 8080686 w 9635294"/>
              <a:gd name="connsiteY4613" fmla="*/ 789076 h 6211920"/>
              <a:gd name="connsiteX4614" fmla="*/ 8103229 w 9635294"/>
              <a:gd name="connsiteY4614" fmla="*/ 800760 h 6211920"/>
              <a:gd name="connsiteX4615" fmla="*/ 8097387 w 9635294"/>
              <a:gd name="connsiteY4615" fmla="*/ 812025 h 6211920"/>
              <a:gd name="connsiteX4616" fmla="*/ 8074844 w 9635294"/>
              <a:gd name="connsiteY4616" fmla="*/ 800367 h 6211920"/>
              <a:gd name="connsiteX4617" fmla="*/ 8076306 w 9635294"/>
              <a:gd name="connsiteY4617" fmla="*/ 797542 h 6211920"/>
              <a:gd name="connsiteX4618" fmla="*/ 8098847 w 9635294"/>
              <a:gd name="connsiteY4618" fmla="*/ 809206 h 6211920"/>
              <a:gd name="connsiteX4619" fmla="*/ 8101769 w 9635294"/>
              <a:gd name="connsiteY4619" fmla="*/ 803573 h 6211920"/>
              <a:gd name="connsiteX4620" fmla="*/ 8079226 w 9635294"/>
              <a:gd name="connsiteY4620" fmla="*/ 791902 h 6211920"/>
              <a:gd name="connsiteX4621" fmla="*/ 8077432 w 9635294"/>
              <a:gd name="connsiteY4621" fmla="*/ 795365 h 6211920"/>
              <a:gd name="connsiteX4622" fmla="*/ 1553915 w 9635294"/>
              <a:gd name="connsiteY4622" fmla="*/ 787825 h 6211920"/>
              <a:gd name="connsiteX4623" fmla="*/ 1559733 w 9635294"/>
              <a:gd name="connsiteY4623" fmla="*/ 799116 h 6211920"/>
              <a:gd name="connsiteX4624" fmla="*/ 1537227 w 9635294"/>
              <a:gd name="connsiteY4624" fmla="*/ 810762 h 6211920"/>
              <a:gd name="connsiteX4625" fmla="*/ 1531373 w 9635294"/>
              <a:gd name="connsiteY4625" fmla="*/ 799490 h 6211920"/>
              <a:gd name="connsiteX4626" fmla="*/ 1553915 w 9635294"/>
              <a:gd name="connsiteY4626" fmla="*/ 787825 h 6211920"/>
              <a:gd name="connsiteX4627" fmla="*/ 8055120 w 9635294"/>
              <a:gd name="connsiteY4627" fmla="*/ 783271 h 6211920"/>
              <a:gd name="connsiteX4628" fmla="*/ 8053762 w 9635294"/>
              <a:gd name="connsiteY4628" fmla="*/ 785959 h 6211920"/>
              <a:gd name="connsiteX4629" fmla="*/ 8053749 w 9635294"/>
              <a:gd name="connsiteY4629" fmla="*/ 785953 h 6211920"/>
              <a:gd name="connsiteX4630" fmla="*/ 1577951 w 9635294"/>
              <a:gd name="connsiteY4630" fmla="*/ 779069 h 6211920"/>
              <a:gd name="connsiteX4631" fmla="*/ 1580145 w 9635294"/>
              <a:gd name="connsiteY4631" fmla="*/ 783368 h 6211920"/>
              <a:gd name="connsiteX4632" fmla="*/ 1577950 w 9635294"/>
              <a:gd name="connsiteY4632" fmla="*/ 779069 h 6211920"/>
              <a:gd name="connsiteX4633" fmla="*/ 1603442 w 9635294"/>
              <a:gd name="connsiteY4633" fmla="*/ 773241 h 6211920"/>
              <a:gd name="connsiteX4634" fmla="*/ 1604874 w 9635294"/>
              <a:gd name="connsiteY4634" fmla="*/ 776072 h 6211920"/>
              <a:gd name="connsiteX4635" fmla="*/ 1582281 w 9635294"/>
              <a:gd name="connsiteY4635" fmla="*/ 787552 h 6211920"/>
              <a:gd name="connsiteX4636" fmla="*/ 1580145 w 9635294"/>
              <a:gd name="connsiteY4636" fmla="*/ 783368 h 6211920"/>
              <a:gd name="connsiteX4637" fmla="*/ 1580839 w 9635294"/>
              <a:gd name="connsiteY4637" fmla="*/ 784727 h 6211920"/>
              <a:gd name="connsiteX4638" fmla="*/ 1600576 w 9635294"/>
              <a:gd name="connsiteY4638" fmla="*/ 767569 h 6211920"/>
              <a:gd name="connsiteX4639" fmla="*/ 1603445 w 9635294"/>
              <a:gd name="connsiteY4639" fmla="*/ 773239 h 6211920"/>
              <a:gd name="connsiteX4640" fmla="*/ 1603442 w 9635294"/>
              <a:gd name="connsiteY4640" fmla="*/ 773241 h 6211920"/>
              <a:gd name="connsiteX4641" fmla="*/ 1600574 w 9635294"/>
              <a:gd name="connsiteY4641" fmla="*/ 767570 h 6211920"/>
              <a:gd name="connsiteX4642" fmla="*/ 8035411 w 9635294"/>
              <a:gd name="connsiteY4642" fmla="*/ 765950 h 6211920"/>
              <a:gd name="connsiteX4643" fmla="*/ 8058081 w 9635294"/>
              <a:gd name="connsiteY4643" fmla="*/ 777475 h 6211920"/>
              <a:gd name="connsiteX4644" fmla="*/ 8055120 w 9635294"/>
              <a:gd name="connsiteY4644" fmla="*/ 783271 h 6211920"/>
              <a:gd name="connsiteX4645" fmla="*/ 8056619 w 9635294"/>
              <a:gd name="connsiteY4645" fmla="*/ 780301 h 6211920"/>
              <a:gd name="connsiteX4646" fmla="*/ 8034014 w 9635294"/>
              <a:gd name="connsiteY4646" fmla="*/ 768782 h 6211920"/>
              <a:gd name="connsiteX4647" fmla="*/ 8031157 w 9635294"/>
              <a:gd name="connsiteY4647" fmla="*/ 774452 h 6211920"/>
              <a:gd name="connsiteX4648" fmla="*/ 8053749 w 9635294"/>
              <a:gd name="connsiteY4648" fmla="*/ 785953 h 6211920"/>
              <a:gd name="connsiteX4649" fmla="*/ 8052302 w 9635294"/>
              <a:gd name="connsiteY4649" fmla="*/ 788784 h 6211920"/>
              <a:gd name="connsiteX4650" fmla="*/ 8029696 w 9635294"/>
              <a:gd name="connsiteY4650" fmla="*/ 777285 h 6211920"/>
              <a:gd name="connsiteX4651" fmla="*/ 1599140 w 9635294"/>
              <a:gd name="connsiteY4651" fmla="*/ 764737 h 6211920"/>
              <a:gd name="connsiteX4652" fmla="*/ 1600574 w 9635294"/>
              <a:gd name="connsiteY4652" fmla="*/ 767570 h 6211920"/>
              <a:gd name="connsiteX4653" fmla="*/ 1577951 w 9635294"/>
              <a:gd name="connsiteY4653" fmla="*/ 779069 h 6211920"/>
              <a:gd name="connsiteX4654" fmla="*/ 1576508 w 9635294"/>
              <a:gd name="connsiteY4654" fmla="*/ 776243 h 6211920"/>
              <a:gd name="connsiteX4655" fmla="*/ 1599140 w 9635294"/>
              <a:gd name="connsiteY4655" fmla="*/ 764737 h 6211920"/>
              <a:gd name="connsiteX4656" fmla="*/ 8011334 w 9635294"/>
              <a:gd name="connsiteY4656" fmla="*/ 757353 h 6211920"/>
              <a:gd name="connsiteX4657" fmla="*/ 8011344 w 9635294"/>
              <a:gd name="connsiteY4657" fmla="*/ 757358 h 6211920"/>
              <a:gd name="connsiteX4658" fmla="*/ 8010115 w 9635294"/>
              <a:gd name="connsiteY4658" fmla="*/ 759800 h 6211920"/>
              <a:gd name="connsiteX4659" fmla="*/ 1623214 w 9635294"/>
              <a:gd name="connsiteY4659" fmla="*/ 756164 h 6211920"/>
              <a:gd name="connsiteX4660" fmla="*/ 1624149 w 9635294"/>
              <a:gd name="connsiteY4660" fmla="*/ 758027 h 6211920"/>
              <a:gd name="connsiteX4661" fmla="*/ 1623213 w 9635294"/>
              <a:gd name="connsiteY4661" fmla="*/ 756164 h 6211920"/>
              <a:gd name="connsiteX4662" fmla="*/ 7985831 w 9635294"/>
              <a:gd name="connsiteY4662" fmla="*/ 751707 h 6211920"/>
              <a:gd name="connsiteX4663" fmla="*/ 8008487 w 9635294"/>
              <a:gd name="connsiteY4663" fmla="*/ 763035 h 6211920"/>
              <a:gd name="connsiteX4664" fmla="*/ 8010115 w 9635294"/>
              <a:gd name="connsiteY4664" fmla="*/ 759800 h 6211920"/>
              <a:gd name="connsiteX4665" fmla="*/ 8007090 w 9635294"/>
              <a:gd name="connsiteY4665" fmla="*/ 765873 h 6211920"/>
              <a:gd name="connsiteX4666" fmla="*/ 7984420 w 9635294"/>
              <a:gd name="connsiteY4666" fmla="*/ 754545 h 6211920"/>
              <a:gd name="connsiteX4667" fmla="*/ 1647314 w 9635294"/>
              <a:gd name="connsiteY4667" fmla="*/ 747681 h 6211920"/>
              <a:gd name="connsiteX4668" fmla="*/ 1650143 w 9635294"/>
              <a:gd name="connsiteY4668" fmla="*/ 753364 h 6211920"/>
              <a:gd name="connsiteX4669" fmla="*/ 1627487 w 9635294"/>
              <a:gd name="connsiteY4669" fmla="*/ 764680 h 6211920"/>
              <a:gd name="connsiteX4670" fmla="*/ 1624149 w 9635294"/>
              <a:gd name="connsiteY4670" fmla="*/ 758027 h 6211920"/>
              <a:gd name="connsiteX4671" fmla="*/ 1626064 w 9635294"/>
              <a:gd name="connsiteY4671" fmla="*/ 761841 h 6211920"/>
              <a:gd name="connsiteX4672" fmla="*/ 1648728 w 9635294"/>
              <a:gd name="connsiteY4672" fmla="*/ 750526 h 6211920"/>
              <a:gd name="connsiteX4673" fmla="*/ 7988611 w 9635294"/>
              <a:gd name="connsiteY4673" fmla="*/ 746017 h 6211920"/>
              <a:gd name="connsiteX4674" fmla="*/ 7988649 w 9635294"/>
              <a:gd name="connsiteY4674" fmla="*/ 746036 h 6211920"/>
              <a:gd name="connsiteX4675" fmla="*/ 7985831 w 9635294"/>
              <a:gd name="connsiteY4675" fmla="*/ 751707 h 6211920"/>
              <a:gd name="connsiteX4676" fmla="*/ 7985818 w 9635294"/>
              <a:gd name="connsiteY4676" fmla="*/ 751700 h 6211920"/>
              <a:gd name="connsiteX4677" fmla="*/ 1645901 w 9635294"/>
              <a:gd name="connsiteY4677" fmla="*/ 744836 h 6211920"/>
              <a:gd name="connsiteX4678" fmla="*/ 1647314 w 9635294"/>
              <a:gd name="connsiteY4678" fmla="*/ 747681 h 6211920"/>
              <a:gd name="connsiteX4679" fmla="*/ 1645899 w 9635294"/>
              <a:gd name="connsiteY4679" fmla="*/ 744837 h 6211920"/>
              <a:gd name="connsiteX4680" fmla="*/ 7990072 w 9635294"/>
              <a:gd name="connsiteY4680" fmla="*/ 743172 h 6211920"/>
              <a:gd name="connsiteX4681" fmla="*/ 8012742 w 9635294"/>
              <a:gd name="connsiteY4681" fmla="*/ 754526 h 6211920"/>
              <a:gd name="connsiteX4682" fmla="*/ 8011334 w 9635294"/>
              <a:gd name="connsiteY4682" fmla="*/ 757353 h 6211920"/>
              <a:gd name="connsiteX4683" fmla="*/ 7988649 w 9635294"/>
              <a:gd name="connsiteY4683" fmla="*/ 746036 h 6211920"/>
              <a:gd name="connsiteX4684" fmla="*/ 1644485 w 9635294"/>
              <a:gd name="connsiteY4684" fmla="*/ 741998 h 6211920"/>
              <a:gd name="connsiteX4685" fmla="*/ 1645899 w 9635294"/>
              <a:gd name="connsiteY4685" fmla="*/ 744837 h 6211920"/>
              <a:gd name="connsiteX4686" fmla="*/ 1623214 w 9635294"/>
              <a:gd name="connsiteY4686" fmla="*/ 756164 h 6211920"/>
              <a:gd name="connsiteX4687" fmla="*/ 1621791 w 9635294"/>
              <a:gd name="connsiteY4687" fmla="*/ 753326 h 6211920"/>
              <a:gd name="connsiteX4688" fmla="*/ 1644485 w 9635294"/>
              <a:gd name="connsiteY4688" fmla="*/ 741998 h 6211920"/>
              <a:gd name="connsiteX4689" fmla="*/ 1668636 w 9635294"/>
              <a:gd name="connsiteY4689" fmla="*/ 733589 h 6211920"/>
              <a:gd name="connsiteX4690" fmla="*/ 1671442 w 9635294"/>
              <a:gd name="connsiteY4690" fmla="*/ 739286 h 6211920"/>
              <a:gd name="connsiteX4691" fmla="*/ 1671441 w 9635294"/>
              <a:gd name="connsiteY4691" fmla="*/ 739286 h 6211920"/>
              <a:gd name="connsiteX4692" fmla="*/ 1668634 w 9635294"/>
              <a:gd name="connsiteY4692" fmla="*/ 733590 h 6211920"/>
              <a:gd name="connsiteX4693" fmla="*/ 7943081 w 9635294"/>
              <a:gd name="connsiteY4693" fmla="*/ 723563 h 6211920"/>
              <a:gd name="connsiteX4694" fmla="*/ 7943093 w 9635294"/>
              <a:gd name="connsiteY4694" fmla="*/ 723569 h 6211920"/>
              <a:gd name="connsiteX4695" fmla="*/ 7940326 w 9635294"/>
              <a:gd name="connsiteY4695" fmla="*/ 729285 h 6211920"/>
              <a:gd name="connsiteX4696" fmla="*/ 7940288 w 9635294"/>
              <a:gd name="connsiteY4696" fmla="*/ 729266 h 6211920"/>
              <a:gd name="connsiteX4697" fmla="*/ 7944479 w 9635294"/>
              <a:gd name="connsiteY4697" fmla="*/ 720706 h 6211920"/>
              <a:gd name="connsiteX4698" fmla="*/ 7967275 w 9635294"/>
              <a:gd name="connsiteY4698" fmla="*/ 731901 h 6211920"/>
              <a:gd name="connsiteX4699" fmla="*/ 7961687 w 9635294"/>
              <a:gd name="connsiteY4699" fmla="*/ 743293 h 6211920"/>
              <a:gd name="connsiteX4700" fmla="*/ 7938955 w 9635294"/>
              <a:gd name="connsiteY4700" fmla="*/ 732117 h 6211920"/>
              <a:gd name="connsiteX4701" fmla="*/ 7940326 w 9635294"/>
              <a:gd name="connsiteY4701" fmla="*/ 729285 h 6211920"/>
              <a:gd name="connsiteX4702" fmla="*/ 7963084 w 9635294"/>
              <a:gd name="connsiteY4702" fmla="*/ 740442 h 6211920"/>
              <a:gd name="connsiteX4703" fmla="*/ 7965878 w 9635294"/>
              <a:gd name="connsiteY4703" fmla="*/ 734746 h 6211920"/>
              <a:gd name="connsiteX4704" fmla="*/ 7943093 w 9635294"/>
              <a:gd name="connsiteY4704" fmla="*/ 723569 h 6211920"/>
              <a:gd name="connsiteX4705" fmla="*/ 1690015 w 9635294"/>
              <a:gd name="connsiteY4705" fmla="*/ 719563 h 6211920"/>
              <a:gd name="connsiteX4706" fmla="*/ 1695590 w 9635294"/>
              <a:gd name="connsiteY4706" fmla="*/ 730974 h 6211920"/>
              <a:gd name="connsiteX4707" fmla="*/ 1672845 w 9635294"/>
              <a:gd name="connsiteY4707" fmla="*/ 742131 h 6211920"/>
              <a:gd name="connsiteX4708" fmla="*/ 1671442 w 9635294"/>
              <a:gd name="connsiteY4708" fmla="*/ 739286 h 6211920"/>
              <a:gd name="connsiteX4709" fmla="*/ 1694193 w 9635294"/>
              <a:gd name="connsiteY4709" fmla="*/ 728123 h 6211920"/>
              <a:gd name="connsiteX4710" fmla="*/ 1691405 w 9635294"/>
              <a:gd name="connsiteY4710" fmla="*/ 722420 h 6211920"/>
              <a:gd name="connsiteX4711" fmla="*/ 1668636 w 9635294"/>
              <a:gd name="connsiteY4711" fmla="*/ 733589 h 6211920"/>
              <a:gd name="connsiteX4712" fmla="*/ 1667232 w 9635294"/>
              <a:gd name="connsiteY4712" fmla="*/ 730739 h 6211920"/>
              <a:gd name="connsiteX4713" fmla="*/ 1690015 w 9635294"/>
              <a:gd name="connsiteY4713" fmla="*/ 719563 h 6211920"/>
              <a:gd name="connsiteX4714" fmla="*/ 7919764 w 9635294"/>
              <a:gd name="connsiteY4714" fmla="*/ 713517 h 6211920"/>
              <a:gd name="connsiteX4715" fmla="*/ 7917492 w 9635294"/>
              <a:gd name="connsiteY4715" fmla="*/ 718166 h 6211920"/>
              <a:gd name="connsiteX4716" fmla="*/ 7917491 w 9635294"/>
              <a:gd name="connsiteY4716" fmla="*/ 718166 h 6211920"/>
              <a:gd name="connsiteX4717" fmla="*/ 1714231 w 9635294"/>
              <a:gd name="connsiteY4717" fmla="*/ 711325 h 6211920"/>
              <a:gd name="connsiteX4718" fmla="*/ 1716997 w 9635294"/>
              <a:gd name="connsiteY4718" fmla="*/ 717042 h 6211920"/>
              <a:gd name="connsiteX4719" fmla="*/ 1716996 w 9635294"/>
              <a:gd name="connsiteY4719" fmla="*/ 717042 h 6211920"/>
              <a:gd name="connsiteX4720" fmla="*/ 1714227 w 9635294"/>
              <a:gd name="connsiteY4720" fmla="*/ 711327 h 6211920"/>
              <a:gd name="connsiteX4721" fmla="*/ 7894658 w 9635294"/>
              <a:gd name="connsiteY4721" fmla="*/ 707155 h 6211920"/>
              <a:gd name="connsiteX4722" fmla="*/ 7917491 w 9635294"/>
              <a:gd name="connsiteY4722" fmla="*/ 718166 h 6211920"/>
              <a:gd name="connsiteX4723" fmla="*/ 7916094 w 9635294"/>
              <a:gd name="connsiteY4723" fmla="*/ 721023 h 6211920"/>
              <a:gd name="connsiteX4724" fmla="*/ 7893298 w 9635294"/>
              <a:gd name="connsiteY4724" fmla="*/ 710006 h 6211920"/>
              <a:gd name="connsiteX4725" fmla="*/ 7897362 w 9635294"/>
              <a:gd name="connsiteY4725" fmla="*/ 701421 h 6211920"/>
              <a:gd name="connsiteX4726" fmla="*/ 7897387 w 9635294"/>
              <a:gd name="connsiteY4726" fmla="*/ 701433 h 6211920"/>
              <a:gd name="connsiteX4727" fmla="*/ 7894658 w 9635294"/>
              <a:gd name="connsiteY4727" fmla="*/ 707155 h 6211920"/>
              <a:gd name="connsiteX4728" fmla="*/ 7894632 w 9635294"/>
              <a:gd name="connsiteY4728" fmla="*/ 707142 h 6211920"/>
              <a:gd name="connsiteX4729" fmla="*/ 7898759 w 9635294"/>
              <a:gd name="connsiteY4729" fmla="*/ 698557 h 6211920"/>
              <a:gd name="connsiteX4730" fmla="*/ 7921682 w 9635294"/>
              <a:gd name="connsiteY4730" fmla="*/ 709594 h 6211920"/>
              <a:gd name="connsiteX4731" fmla="*/ 7919764 w 9635294"/>
              <a:gd name="connsiteY4731" fmla="*/ 713517 h 6211920"/>
              <a:gd name="connsiteX4732" fmla="*/ 7920285 w 9635294"/>
              <a:gd name="connsiteY4732" fmla="*/ 712451 h 6211920"/>
              <a:gd name="connsiteX4733" fmla="*/ 7897387 w 9635294"/>
              <a:gd name="connsiteY4733" fmla="*/ 701433 h 6211920"/>
              <a:gd name="connsiteX4734" fmla="*/ 1735729 w 9635294"/>
              <a:gd name="connsiteY4734" fmla="*/ 697446 h 6211920"/>
              <a:gd name="connsiteX4735" fmla="*/ 1741215 w 9635294"/>
              <a:gd name="connsiteY4735" fmla="*/ 708901 h 6211920"/>
              <a:gd name="connsiteX4736" fmla="*/ 1718380 w 9635294"/>
              <a:gd name="connsiteY4736" fmla="*/ 719900 h 6211920"/>
              <a:gd name="connsiteX4737" fmla="*/ 1716997 w 9635294"/>
              <a:gd name="connsiteY4737" fmla="*/ 717042 h 6211920"/>
              <a:gd name="connsiteX4738" fmla="*/ 1739844 w 9635294"/>
              <a:gd name="connsiteY4738" fmla="*/ 706038 h 6211920"/>
              <a:gd name="connsiteX4739" fmla="*/ 1737100 w 9635294"/>
              <a:gd name="connsiteY4739" fmla="*/ 700310 h 6211920"/>
              <a:gd name="connsiteX4740" fmla="*/ 1714231 w 9635294"/>
              <a:gd name="connsiteY4740" fmla="*/ 711325 h 6211920"/>
              <a:gd name="connsiteX4741" fmla="*/ 1712850 w 9635294"/>
              <a:gd name="connsiteY4741" fmla="*/ 708470 h 6211920"/>
              <a:gd name="connsiteX4742" fmla="*/ 1735729 w 9635294"/>
              <a:gd name="connsiteY4742" fmla="*/ 697446 h 6211920"/>
              <a:gd name="connsiteX4743" fmla="*/ 1761275 w 9635294"/>
              <a:gd name="connsiteY4743" fmla="*/ 692105 h 6211920"/>
              <a:gd name="connsiteX4744" fmla="*/ 1762713 w 9635294"/>
              <a:gd name="connsiteY4744" fmla="*/ 695127 h 6211920"/>
              <a:gd name="connsiteX4745" fmla="*/ 1762710 w 9635294"/>
              <a:gd name="connsiteY4745" fmla="*/ 695128 h 6211920"/>
              <a:gd name="connsiteX4746" fmla="*/ 7874477 w 9635294"/>
              <a:gd name="connsiteY4746" fmla="*/ 690468 h 6211920"/>
              <a:gd name="connsiteX4747" fmla="*/ 7874502 w 9635294"/>
              <a:gd name="connsiteY4747" fmla="*/ 690480 h 6211920"/>
              <a:gd name="connsiteX4748" fmla="*/ 7871771 w 9635294"/>
              <a:gd name="connsiteY4748" fmla="*/ 696214 h 6211920"/>
              <a:gd name="connsiteX4749" fmla="*/ 7871746 w 9635294"/>
              <a:gd name="connsiteY4749" fmla="*/ 696203 h 6211920"/>
              <a:gd name="connsiteX4750" fmla="*/ 7848862 w 9635294"/>
              <a:gd name="connsiteY4750" fmla="*/ 685375 h 6211920"/>
              <a:gd name="connsiteX4751" fmla="*/ 7871746 w 9635294"/>
              <a:gd name="connsiteY4751" fmla="*/ 696203 h 6211920"/>
              <a:gd name="connsiteX4752" fmla="*/ 7870374 w 9635294"/>
              <a:gd name="connsiteY4752" fmla="*/ 699084 h 6211920"/>
              <a:gd name="connsiteX4753" fmla="*/ 7847514 w 9635294"/>
              <a:gd name="connsiteY4753" fmla="*/ 688245 h 6211920"/>
              <a:gd name="connsiteX4754" fmla="*/ 1785607 w 9635294"/>
              <a:gd name="connsiteY4754" fmla="*/ 684296 h 6211920"/>
              <a:gd name="connsiteX4755" fmla="*/ 1786960 w 9635294"/>
              <a:gd name="connsiteY4755" fmla="*/ 687172 h 6211920"/>
              <a:gd name="connsiteX4756" fmla="*/ 1764075 w 9635294"/>
              <a:gd name="connsiteY4756" fmla="*/ 697992 h 6211920"/>
              <a:gd name="connsiteX4757" fmla="*/ 1762713 w 9635294"/>
              <a:gd name="connsiteY4757" fmla="*/ 695127 h 6211920"/>
              <a:gd name="connsiteX4758" fmla="*/ 7850220 w 9635294"/>
              <a:gd name="connsiteY4758" fmla="*/ 682484 h 6211920"/>
              <a:gd name="connsiteX4759" fmla="*/ 7848862 w 9635294"/>
              <a:gd name="connsiteY4759" fmla="*/ 685375 h 6211920"/>
              <a:gd name="connsiteX4760" fmla="*/ 7848848 w 9635294"/>
              <a:gd name="connsiteY4760" fmla="*/ 685368 h 6211920"/>
              <a:gd name="connsiteX4761" fmla="*/ 1783898 w 9635294"/>
              <a:gd name="connsiteY4761" fmla="*/ 680665 h 6211920"/>
              <a:gd name="connsiteX4762" fmla="*/ 1785608 w 9635294"/>
              <a:gd name="connsiteY4762" fmla="*/ 684295 h 6211920"/>
              <a:gd name="connsiteX4763" fmla="*/ 1785607 w 9635294"/>
              <a:gd name="connsiteY4763" fmla="*/ 684296 h 6211920"/>
              <a:gd name="connsiteX4764" fmla="*/ 7852912 w 9635294"/>
              <a:gd name="connsiteY4764" fmla="*/ 676751 h 6211920"/>
              <a:gd name="connsiteX4765" fmla="*/ 7875835 w 9635294"/>
              <a:gd name="connsiteY4765" fmla="*/ 687616 h 6211920"/>
              <a:gd name="connsiteX4766" fmla="*/ 7874477 w 9635294"/>
              <a:gd name="connsiteY4766" fmla="*/ 690468 h 6211920"/>
              <a:gd name="connsiteX4767" fmla="*/ 7851578 w 9635294"/>
              <a:gd name="connsiteY4767" fmla="*/ 679628 h 6211920"/>
              <a:gd name="connsiteX4768" fmla="*/ 7850220 w 9635294"/>
              <a:gd name="connsiteY4768" fmla="*/ 682484 h 6211920"/>
              <a:gd name="connsiteX4769" fmla="*/ 1781550 w 9635294"/>
              <a:gd name="connsiteY4769" fmla="*/ 675678 h 6211920"/>
              <a:gd name="connsiteX4770" fmla="*/ 1783898 w 9635294"/>
              <a:gd name="connsiteY4770" fmla="*/ 680665 h 6211920"/>
              <a:gd name="connsiteX4771" fmla="*/ 1782903 w 9635294"/>
              <a:gd name="connsiteY4771" fmla="*/ 678555 h 6211920"/>
              <a:gd name="connsiteX4772" fmla="*/ 1759985 w 9635294"/>
              <a:gd name="connsiteY4772" fmla="*/ 689388 h 6211920"/>
              <a:gd name="connsiteX4773" fmla="*/ 1761275 w 9635294"/>
              <a:gd name="connsiteY4773" fmla="*/ 692105 h 6211920"/>
              <a:gd name="connsiteX4774" fmla="*/ 1758620 w 9635294"/>
              <a:gd name="connsiteY4774" fmla="*/ 686524 h 6211920"/>
              <a:gd name="connsiteX4775" fmla="*/ 1781550 w 9635294"/>
              <a:gd name="connsiteY4775" fmla="*/ 675678 h 6211920"/>
              <a:gd name="connsiteX4776" fmla="*/ 1807340 w 9635294"/>
              <a:gd name="connsiteY4776" fmla="*/ 670950 h 6211920"/>
              <a:gd name="connsiteX4777" fmla="*/ 1808554 w 9635294"/>
              <a:gd name="connsiteY4777" fmla="*/ 673550 h 6211920"/>
              <a:gd name="connsiteX4778" fmla="*/ 1808550 w 9635294"/>
              <a:gd name="connsiteY4778" fmla="*/ 673551 h 6211920"/>
              <a:gd name="connsiteX4779" fmla="*/ 7828578 w 9635294"/>
              <a:gd name="connsiteY4779" fmla="*/ 668846 h 6211920"/>
              <a:gd name="connsiteX4780" fmla="*/ 7828592 w 9635294"/>
              <a:gd name="connsiteY4780" fmla="*/ 668852 h 6211920"/>
              <a:gd name="connsiteX4781" fmla="*/ 7827174 w 9635294"/>
              <a:gd name="connsiteY4781" fmla="*/ 671840 h 6211920"/>
              <a:gd name="connsiteX4782" fmla="*/ 7802874 w 9635294"/>
              <a:gd name="connsiteY4782" fmla="*/ 663918 h 6211920"/>
              <a:gd name="connsiteX4783" fmla="*/ 7825861 w 9635294"/>
              <a:gd name="connsiteY4783" fmla="*/ 674605 h 6211920"/>
              <a:gd name="connsiteX4784" fmla="*/ 7827174 w 9635294"/>
              <a:gd name="connsiteY4784" fmla="*/ 671840 h 6211920"/>
              <a:gd name="connsiteX4785" fmla="*/ 7824527 w 9635294"/>
              <a:gd name="connsiteY4785" fmla="*/ 677482 h 6211920"/>
              <a:gd name="connsiteX4786" fmla="*/ 7801540 w 9635294"/>
              <a:gd name="connsiteY4786" fmla="*/ 666801 h 6211920"/>
              <a:gd name="connsiteX4787" fmla="*/ 7803217 w 9635294"/>
              <a:gd name="connsiteY4787" fmla="*/ 663178 h 6211920"/>
              <a:gd name="connsiteX4788" fmla="*/ 7802874 w 9635294"/>
              <a:gd name="connsiteY4788" fmla="*/ 663918 h 6211920"/>
              <a:gd name="connsiteX4789" fmla="*/ 7802874 w 9635294"/>
              <a:gd name="connsiteY4789" fmla="*/ 663918 h 6211920"/>
              <a:gd name="connsiteX4790" fmla="*/ 1829116 w 9635294"/>
              <a:gd name="connsiteY4790" fmla="*/ 657636 h 6211920"/>
              <a:gd name="connsiteX4791" fmla="*/ 1832871 w 9635294"/>
              <a:gd name="connsiteY4791" fmla="*/ 665759 h 6211920"/>
              <a:gd name="connsiteX4792" fmla="*/ 1809897 w 9635294"/>
              <a:gd name="connsiteY4792" fmla="*/ 676427 h 6211920"/>
              <a:gd name="connsiteX4793" fmla="*/ 1808554 w 9635294"/>
              <a:gd name="connsiteY4793" fmla="*/ 673550 h 6211920"/>
              <a:gd name="connsiteX4794" fmla="*/ 1831538 w 9635294"/>
              <a:gd name="connsiteY4794" fmla="*/ 662877 h 6211920"/>
              <a:gd name="connsiteX4795" fmla="*/ 1828876 w 9635294"/>
              <a:gd name="connsiteY4795" fmla="*/ 657117 h 6211920"/>
              <a:gd name="connsiteX4796" fmla="*/ 1829116 w 9635294"/>
              <a:gd name="connsiteY4796" fmla="*/ 657636 h 6211920"/>
              <a:gd name="connsiteX4797" fmla="*/ 1828876 w 9635294"/>
              <a:gd name="connsiteY4797" fmla="*/ 657117 h 6211920"/>
              <a:gd name="connsiteX4798" fmla="*/ 7806874 w 9635294"/>
              <a:gd name="connsiteY4798" fmla="*/ 655276 h 6211920"/>
              <a:gd name="connsiteX4799" fmla="*/ 7829925 w 9635294"/>
              <a:gd name="connsiteY4799" fmla="*/ 665975 h 6211920"/>
              <a:gd name="connsiteX4800" fmla="*/ 7828578 w 9635294"/>
              <a:gd name="connsiteY4800" fmla="*/ 668846 h 6211920"/>
              <a:gd name="connsiteX4801" fmla="*/ 7805541 w 9635294"/>
              <a:gd name="connsiteY4801" fmla="*/ 658159 h 6211920"/>
              <a:gd name="connsiteX4802" fmla="*/ 7803217 w 9635294"/>
              <a:gd name="connsiteY4802" fmla="*/ 663178 h 6211920"/>
              <a:gd name="connsiteX4803" fmla="*/ 1827543 w 9635294"/>
              <a:gd name="connsiteY4803" fmla="*/ 654234 h 6211920"/>
              <a:gd name="connsiteX4804" fmla="*/ 1828876 w 9635294"/>
              <a:gd name="connsiteY4804" fmla="*/ 657117 h 6211920"/>
              <a:gd name="connsiteX4805" fmla="*/ 1805871 w 9635294"/>
              <a:gd name="connsiteY4805" fmla="*/ 667791 h 6211920"/>
              <a:gd name="connsiteX4806" fmla="*/ 1807340 w 9635294"/>
              <a:gd name="connsiteY4806" fmla="*/ 670950 h 6211920"/>
              <a:gd name="connsiteX4807" fmla="*/ 1804524 w 9635294"/>
              <a:gd name="connsiteY4807" fmla="*/ 664915 h 6211920"/>
              <a:gd name="connsiteX4808" fmla="*/ 1827543 w 9635294"/>
              <a:gd name="connsiteY4808" fmla="*/ 654234 h 6211920"/>
              <a:gd name="connsiteX4809" fmla="*/ 1851927 w 9635294"/>
              <a:gd name="connsiteY4809" fmla="*/ 646513 h 6211920"/>
              <a:gd name="connsiteX4810" fmla="*/ 1853251 w 9635294"/>
              <a:gd name="connsiteY4810" fmla="*/ 649402 h 6211920"/>
              <a:gd name="connsiteX4811" fmla="*/ 1851927 w 9635294"/>
              <a:gd name="connsiteY4811" fmla="*/ 646513 h 6211920"/>
              <a:gd name="connsiteX4812" fmla="*/ 1877650 w 9635294"/>
              <a:gd name="connsiteY4812" fmla="*/ 641783 h 6211920"/>
              <a:gd name="connsiteX4813" fmla="*/ 1878959 w 9635294"/>
              <a:gd name="connsiteY4813" fmla="*/ 644671 h 6211920"/>
              <a:gd name="connsiteX4814" fmla="*/ 1855896 w 9635294"/>
              <a:gd name="connsiteY4814" fmla="*/ 655174 h 6211920"/>
              <a:gd name="connsiteX4815" fmla="*/ 1853251 w 9635294"/>
              <a:gd name="connsiteY4815" fmla="*/ 649402 h 6211920"/>
              <a:gd name="connsiteX4816" fmla="*/ 1854575 w 9635294"/>
              <a:gd name="connsiteY4816" fmla="*/ 652291 h 6211920"/>
              <a:gd name="connsiteX4817" fmla="*/ 7759376 w 9635294"/>
              <a:gd name="connsiteY4817" fmla="*/ 637007 h 6211920"/>
              <a:gd name="connsiteX4818" fmla="*/ 7759387 w 9635294"/>
              <a:gd name="connsiteY4818" fmla="*/ 637013 h 6211920"/>
              <a:gd name="connsiteX4819" fmla="*/ 7758210 w 9635294"/>
              <a:gd name="connsiteY4819" fmla="*/ 639596 h 6211920"/>
              <a:gd name="connsiteX4820" fmla="*/ 1875028 w 9635294"/>
              <a:gd name="connsiteY4820" fmla="*/ 635997 h 6211920"/>
              <a:gd name="connsiteX4821" fmla="*/ 1877651 w 9635294"/>
              <a:gd name="connsiteY4821" fmla="*/ 641782 h 6211920"/>
              <a:gd name="connsiteX4822" fmla="*/ 1877650 w 9635294"/>
              <a:gd name="connsiteY4822" fmla="*/ 641783 h 6211920"/>
              <a:gd name="connsiteX4823" fmla="*/ 1875027 w 9635294"/>
              <a:gd name="connsiteY4823" fmla="*/ 635998 h 6211920"/>
              <a:gd name="connsiteX4824" fmla="*/ 7760710 w 9635294"/>
              <a:gd name="connsiteY4824" fmla="*/ 634111 h 6211920"/>
              <a:gd name="connsiteX4825" fmla="*/ 7783824 w 9635294"/>
              <a:gd name="connsiteY4825" fmla="*/ 644652 h 6211920"/>
              <a:gd name="connsiteX4826" fmla="*/ 7778490 w 9635294"/>
              <a:gd name="connsiteY4826" fmla="*/ 656203 h 6211920"/>
              <a:gd name="connsiteX4827" fmla="*/ 7755439 w 9635294"/>
              <a:gd name="connsiteY4827" fmla="*/ 645674 h 6211920"/>
              <a:gd name="connsiteX4828" fmla="*/ 7758210 w 9635294"/>
              <a:gd name="connsiteY4828" fmla="*/ 639596 h 6211920"/>
              <a:gd name="connsiteX4829" fmla="*/ 7756773 w 9635294"/>
              <a:gd name="connsiteY4829" fmla="*/ 642785 h 6211920"/>
              <a:gd name="connsiteX4830" fmla="*/ 7779823 w 9635294"/>
              <a:gd name="connsiteY4830" fmla="*/ 653313 h 6211920"/>
              <a:gd name="connsiteX4831" fmla="*/ 7782490 w 9635294"/>
              <a:gd name="connsiteY4831" fmla="*/ 647541 h 6211920"/>
              <a:gd name="connsiteX4832" fmla="*/ 7759387 w 9635294"/>
              <a:gd name="connsiteY4832" fmla="*/ 637013 h 6211920"/>
              <a:gd name="connsiteX4833" fmla="*/ 1873714 w 9635294"/>
              <a:gd name="connsiteY4833" fmla="*/ 633101 h 6211920"/>
              <a:gd name="connsiteX4834" fmla="*/ 1875027 w 9635294"/>
              <a:gd name="connsiteY4834" fmla="*/ 635998 h 6211920"/>
              <a:gd name="connsiteX4835" fmla="*/ 1851927 w 9635294"/>
              <a:gd name="connsiteY4835" fmla="*/ 646513 h 6211920"/>
              <a:gd name="connsiteX4836" fmla="*/ 1850606 w 9635294"/>
              <a:gd name="connsiteY4836" fmla="*/ 643630 h 6211920"/>
              <a:gd name="connsiteX4837" fmla="*/ 1873714 w 9635294"/>
              <a:gd name="connsiteY4837" fmla="*/ 633101 h 6211920"/>
              <a:gd name="connsiteX4838" fmla="*/ 7711872 w 9635294"/>
              <a:gd name="connsiteY4838" fmla="*/ 618896 h 6211920"/>
              <a:gd name="connsiteX4839" fmla="*/ 7710495 w 9635294"/>
              <a:gd name="connsiteY4839" fmla="*/ 622001 h 6211920"/>
              <a:gd name="connsiteX4840" fmla="*/ 7710482 w 9635294"/>
              <a:gd name="connsiteY4840" fmla="*/ 621995 h 6211920"/>
              <a:gd name="connsiteX4841" fmla="*/ 1922590 w 9635294"/>
              <a:gd name="connsiteY4841" fmla="*/ 618119 h 6211920"/>
              <a:gd name="connsiteX4842" fmla="*/ 1923879 w 9635294"/>
              <a:gd name="connsiteY4842" fmla="*/ 621017 h 6211920"/>
              <a:gd name="connsiteX4843" fmla="*/ 1923879 w 9635294"/>
              <a:gd name="connsiteY4843" fmla="*/ 621018 h 6211920"/>
              <a:gd name="connsiteX4844" fmla="*/ 7714355 w 9635294"/>
              <a:gd name="connsiteY4844" fmla="*/ 613296 h 6211920"/>
              <a:gd name="connsiteX4845" fmla="*/ 7737532 w 9635294"/>
              <a:gd name="connsiteY4845" fmla="*/ 623659 h 6211920"/>
              <a:gd name="connsiteX4846" fmla="*/ 7732325 w 9635294"/>
              <a:gd name="connsiteY4846" fmla="*/ 635241 h 6211920"/>
              <a:gd name="connsiteX4847" fmla="*/ 7709211 w 9635294"/>
              <a:gd name="connsiteY4847" fmla="*/ 624897 h 6211920"/>
              <a:gd name="connsiteX4848" fmla="*/ 7710495 w 9635294"/>
              <a:gd name="connsiteY4848" fmla="*/ 622001 h 6211920"/>
              <a:gd name="connsiteX4849" fmla="*/ 7733595 w 9635294"/>
              <a:gd name="connsiteY4849" fmla="*/ 632346 h 6211920"/>
              <a:gd name="connsiteX4850" fmla="*/ 7736199 w 9635294"/>
              <a:gd name="connsiteY4850" fmla="*/ 626555 h 6211920"/>
              <a:gd name="connsiteX4851" fmla="*/ 7713085 w 9635294"/>
              <a:gd name="connsiteY4851" fmla="*/ 616191 h 6211920"/>
              <a:gd name="connsiteX4852" fmla="*/ 7711872 w 9635294"/>
              <a:gd name="connsiteY4852" fmla="*/ 618896 h 6211920"/>
              <a:gd name="connsiteX4853" fmla="*/ 1920012 w 9635294"/>
              <a:gd name="connsiteY4853" fmla="*/ 612318 h 6211920"/>
              <a:gd name="connsiteX4854" fmla="*/ 1922590 w 9635294"/>
              <a:gd name="connsiteY4854" fmla="*/ 618119 h 6211920"/>
              <a:gd name="connsiteX4855" fmla="*/ 1921301 w 9635294"/>
              <a:gd name="connsiteY4855" fmla="*/ 615220 h 6211920"/>
              <a:gd name="connsiteX4856" fmla="*/ 1898155 w 9635294"/>
              <a:gd name="connsiteY4856" fmla="*/ 625558 h 6211920"/>
              <a:gd name="connsiteX4857" fmla="*/ 1900759 w 9635294"/>
              <a:gd name="connsiteY4857" fmla="*/ 631355 h 6211920"/>
              <a:gd name="connsiteX4858" fmla="*/ 1923879 w 9635294"/>
              <a:gd name="connsiteY4858" fmla="*/ 621018 h 6211920"/>
              <a:gd name="connsiteX4859" fmla="*/ 1925168 w 9635294"/>
              <a:gd name="connsiteY4859" fmla="*/ 623919 h 6211920"/>
              <a:gd name="connsiteX4860" fmla="*/ 1902060 w 9635294"/>
              <a:gd name="connsiteY4860" fmla="*/ 634251 h 6211920"/>
              <a:gd name="connsiteX4861" fmla="*/ 1896853 w 9635294"/>
              <a:gd name="connsiteY4861" fmla="*/ 622662 h 6211920"/>
              <a:gd name="connsiteX4862" fmla="*/ 1920012 w 9635294"/>
              <a:gd name="connsiteY4862" fmla="*/ 612318 h 6211920"/>
              <a:gd name="connsiteX4863" fmla="*/ 1944489 w 9635294"/>
              <a:gd name="connsiteY4863" fmla="*/ 604957 h 6211920"/>
              <a:gd name="connsiteX4864" fmla="*/ 1947048 w 9635294"/>
              <a:gd name="connsiteY4864" fmla="*/ 610767 h 6211920"/>
              <a:gd name="connsiteX4865" fmla="*/ 1947044 w 9635294"/>
              <a:gd name="connsiteY4865" fmla="*/ 610768 h 6211920"/>
              <a:gd name="connsiteX4866" fmla="*/ 1944485 w 9635294"/>
              <a:gd name="connsiteY4866" fmla="*/ 604958 h 6211920"/>
              <a:gd name="connsiteX4867" fmla="*/ 1968410 w 9635294"/>
              <a:gd name="connsiteY4867" fmla="*/ 596370 h 6211920"/>
              <a:gd name="connsiteX4868" fmla="*/ 1971523 w 9635294"/>
              <a:gd name="connsiteY4868" fmla="*/ 603504 h 6211920"/>
              <a:gd name="connsiteX4869" fmla="*/ 1948327 w 9635294"/>
              <a:gd name="connsiteY4869" fmla="*/ 613670 h 6211920"/>
              <a:gd name="connsiteX4870" fmla="*/ 1947048 w 9635294"/>
              <a:gd name="connsiteY4870" fmla="*/ 610767 h 6211920"/>
              <a:gd name="connsiteX4871" fmla="*/ 1970253 w 9635294"/>
              <a:gd name="connsiteY4871" fmla="*/ 600596 h 6211920"/>
              <a:gd name="connsiteX4872" fmla="*/ 7666603 w 9635294"/>
              <a:gd name="connsiteY4872" fmla="*/ 595719 h 6211920"/>
              <a:gd name="connsiteX4873" fmla="*/ 7666604 w 9635294"/>
              <a:gd name="connsiteY4873" fmla="*/ 595719 h 6211920"/>
              <a:gd name="connsiteX4874" fmla="*/ 7664065 w 9635294"/>
              <a:gd name="connsiteY4874" fmla="*/ 601537 h 6211920"/>
              <a:gd name="connsiteX4875" fmla="*/ 7664063 w 9635294"/>
              <a:gd name="connsiteY4875" fmla="*/ 601536 h 6211920"/>
              <a:gd name="connsiteX4876" fmla="*/ 1967713 w 9635294"/>
              <a:gd name="connsiteY4876" fmla="*/ 594773 h 6211920"/>
              <a:gd name="connsiteX4877" fmla="*/ 1968410 w 9635294"/>
              <a:gd name="connsiteY4877" fmla="*/ 596370 h 6211920"/>
              <a:gd name="connsiteX4878" fmla="*/ 1967713 w 9635294"/>
              <a:gd name="connsiteY4878" fmla="*/ 594774 h 6211920"/>
              <a:gd name="connsiteX4879" fmla="*/ 7667873 w 9635294"/>
              <a:gd name="connsiteY4879" fmla="*/ 592811 h 6211920"/>
              <a:gd name="connsiteX4880" fmla="*/ 7691177 w 9635294"/>
              <a:gd name="connsiteY4880" fmla="*/ 603009 h 6211920"/>
              <a:gd name="connsiteX4881" fmla="*/ 7686034 w 9635294"/>
              <a:gd name="connsiteY4881" fmla="*/ 614629 h 6211920"/>
              <a:gd name="connsiteX4882" fmla="*/ 7662793 w 9635294"/>
              <a:gd name="connsiteY4882" fmla="*/ 604450 h 6211920"/>
              <a:gd name="connsiteX4883" fmla="*/ 7664065 w 9635294"/>
              <a:gd name="connsiteY4883" fmla="*/ 601537 h 6211920"/>
              <a:gd name="connsiteX4884" fmla="*/ 7687304 w 9635294"/>
              <a:gd name="connsiteY4884" fmla="*/ 611727 h 6211920"/>
              <a:gd name="connsiteX4885" fmla="*/ 7689844 w 9635294"/>
              <a:gd name="connsiteY4885" fmla="*/ 605917 h 6211920"/>
              <a:gd name="connsiteX4886" fmla="*/ 7666604 w 9635294"/>
              <a:gd name="connsiteY4886" fmla="*/ 595719 h 6211920"/>
              <a:gd name="connsiteX4887" fmla="*/ 1966443 w 9635294"/>
              <a:gd name="connsiteY4887" fmla="*/ 591864 h 6211920"/>
              <a:gd name="connsiteX4888" fmla="*/ 1967713 w 9635294"/>
              <a:gd name="connsiteY4888" fmla="*/ 594774 h 6211920"/>
              <a:gd name="connsiteX4889" fmla="*/ 1944489 w 9635294"/>
              <a:gd name="connsiteY4889" fmla="*/ 604957 h 6211920"/>
              <a:gd name="connsiteX4890" fmla="*/ 1943208 w 9635294"/>
              <a:gd name="connsiteY4890" fmla="*/ 602050 h 6211920"/>
              <a:gd name="connsiteX4891" fmla="*/ 1966443 w 9635294"/>
              <a:gd name="connsiteY4891" fmla="*/ 591864 h 6211920"/>
              <a:gd name="connsiteX4892" fmla="*/ 7643322 w 9635294"/>
              <a:gd name="connsiteY4892" fmla="*/ 585586 h 6211920"/>
              <a:gd name="connsiteX4893" fmla="*/ 7643362 w 9635294"/>
              <a:gd name="connsiteY4893" fmla="*/ 585603 h 6211920"/>
              <a:gd name="connsiteX4894" fmla="*/ 7640822 w 9635294"/>
              <a:gd name="connsiteY4894" fmla="*/ 591433 h 6211920"/>
              <a:gd name="connsiteX4895" fmla="*/ 7640809 w 9635294"/>
              <a:gd name="connsiteY4895" fmla="*/ 591428 h 6211920"/>
              <a:gd name="connsiteX4896" fmla="*/ 1990987 w 9635294"/>
              <a:gd name="connsiteY4896" fmla="*/ 584676 h 6211920"/>
              <a:gd name="connsiteX4897" fmla="*/ 1991713 w 9635294"/>
              <a:gd name="connsiteY4897" fmla="*/ 586356 h 6211920"/>
              <a:gd name="connsiteX4898" fmla="*/ 1990986 w 9635294"/>
              <a:gd name="connsiteY4898" fmla="*/ 584676 h 6211920"/>
              <a:gd name="connsiteX4899" fmla="*/ 2015917 w 9635294"/>
              <a:gd name="connsiteY4899" fmla="*/ 578428 h 6211920"/>
              <a:gd name="connsiteX4900" fmla="*/ 2018050 w 9635294"/>
              <a:gd name="connsiteY4900" fmla="*/ 583413 h 6211920"/>
              <a:gd name="connsiteX4901" fmla="*/ 1994764 w 9635294"/>
              <a:gd name="connsiteY4901" fmla="*/ 593420 h 6211920"/>
              <a:gd name="connsiteX4902" fmla="*/ 1991713 w 9635294"/>
              <a:gd name="connsiteY4902" fmla="*/ 586356 h 6211920"/>
              <a:gd name="connsiteX4903" fmla="*/ 1993507 w 9635294"/>
              <a:gd name="connsiteY4903" fmla="*/ 590506 h 6211920"/>
              <a:gd name="connsiteX4904" fmla="*/ 2016798 w 9635294"/>
              <a:gd name="connsiteY4904" fmla="*/ 580492 h 6211920"/>
              <a:gd name="connsiteX4905" fmla="*/ 7618790 w 9635294"/>
              <a:gd name="connsiteY4905" fmla="*/ 578403 h 6211920"/>
              <a:gd name="connsiteX4906" fmla="*/ 7617518 w 9635294"/>
              <a:gd name="connsiteY4906" fmla="*/ 581400 h 6211920"/>
              <a:gd name="connsiteX4907" fmla="*/ 7640809 w 9635294"/>
              <a:gd name="connsiteY4907" fmla="*/ 591428 h 6211920"/>
              <a:gd name="connsiteX4908" fmla="*/ 7639552 w 9635294"/>
              <a:gd name="connsiteY4908" fmla="*/ 594347 h 6211920"/>
              <a:gd name="connsiteX4909" fmla="*/ 7616247 w 9635294"/>
              <a:gd name="connsiteY4909" fmla="*/ 584321 h 6211920"/>
              <a:gd name="connsiteX4910" fmla="*/ 7619994 w 9635294"/>
              <a:gd name="connsiteY4910" fmla="*/ 575564 h 6211920"/>
              <a:gd name="connsiteX4911" fmla="*/ 7620007 w 9635294"/>
              <a:gd name="connsiteY4911" fmla="*/ 575570 h 6211920"/>
              <a:gd name="connsiteX4912" fmla="*/ 7618790 w 9635294"/>
              <a:gd name="connsiteY4912" fmla="*/ 578403 h 6211920"/>
              <a:gd name="connsiteX4913" fmla="*/ 2014303 w 9635294"/>
              <a:gd name="connsiteY4913" fmla="*/ 574650 h 6211920"/>
              <a:gd name="connsiteX4914" fmla="*/ 2015917 w 9635294"/>
              <a:gd name="connsiteY4914" fmla="*/ 578428 h 6211920"/>
              <a:gd name="connsiteX4915" fmla="*/ 2014301 w 9635294"/>
              <a:gd name="connsiteY4915" fmla="*/ 574651 h 6211920"/>
              <a:gd name="connsiteX4916" fmla="*/ 7621264 w 9635294"/>
              <a:gd name="connsiteY4916" fmla="*/ 572643 h 6211920"/>
              <a:gd name="connsiteX4917" fmla="*/ 7644569 w 9635294"/>
              <a:gd name="connsiteY4917" fmla="*/ 582689 h 6211920"/>
              <a:gd name="connsiteX4918" fmla="*/ 7643322 w 9635294"/>
              <a:gd name="connsiteY4918" fmla="*/ 585586 h 6211920"/>
              <a:gd name="connsiteX4919" fmla="*/ 7620007 w 9635294"/>
              <a:gd name="connsiteY4919" fmla="*/ 575570 h 6211920"/>
              <a:gd name="connsiteX4920" fmla="*/ 2013052 w 9635294"/>
              <a:gd name="connsiteY4920" fmla="*/ 571735 h 6211920"/>
              <a:gd name="connsiteX4921" fmla="*/ 2014301 w 9635294"/>
              <a:gd name="connsiteY4921" fmla="*/ 574651 h 6211920"/>
              <a:gd name="connsiteX4922" fmla="*/ 1990987 w 9635294"/>
              <a:gd name="connsiteY4922" fmla="*/ 584676 h 6211920"/>
              <a:gd name="connsiteX4923" fmla="*/ 1989728 w 9635294"/>
              <a:gd name="connsiteY4923" fmla="*/ 581762 h 6211920"/>
              <a:gd name="connsiteX4924" fmla="*/ 2013052 w 9635294"/>
              <a:gd name="connsiteY4924" fmla="*/ 571735 h 6211920"/>
              <a:gd name="connsiteX4925" fmla="*/ 2038897 w 9635294"/>
              <a:gd name="connsiteY4925" fmla="*/ 567636 h 6211920"/>
              <a:gd name="connsiteX4926" fmla="*/ 2040136 w 9635294"/>
              <a:gd name="connsiteY4926" fmla="*/ 570560 h 6211920"/>
              <a:gd name="connsiteX4927" fmla="*/ 2040135 w 9635294"/>
              <a:gd name="connsiteY4927" fmla="*/ 570560 h 6211920"/>
              <a:gd name="connsiteX4928" fmla="*/ 7572020 w 9635294"/>
              <a:gd name="connsiteY4928" fmla="*/ 558680 h 6211920"/>
              <a:gd name="connsiteX4929" fmla="*/ 7570795 w 9635294"/>
              <a:gd name="connsiteY4929" fmla="*/ 561613 h 6211920"/>
              <a:gd name="connsiteX4930" fmla="*/ 7570782 w 9635294"/>
              <a:gd name="connsiteY4930" fmla="*/ 561607 h 6211920"/>
              <a:gd name="connsiteX4931" fmla="*/ 2062252 w 9635294"/>
              <a:gd name="connsiteY4931" fmla="*/ 557797 h 6211920"/>
              <a:gd name="connsiteX4932" fmla="*/ 2064710 w 9635294"/>
              <a:gd name="connsiteY4932" fmla="*/ 563651 h 6211920"/>
              <a:gd name="connsiteX4933" fmla="*/ 2041373 w 9635294"/>
              <a:gd name="connsiteY4933" fmla="*/ 573481 h 6211920"/>
              <a:gd name="connsiteX4934" fmla="*/ 2040136 w 9635294"/>
              <a:gd name="connsiteY4934" fmla="*/ 570560 h 6211920"/>
              <a:gd name="connsiteX4935" fmla="*/ 2063477 w 9635294"/>
              <a:gd name="connsiteY4935" fmla="*/ 560724 h 6211920"/>
              <a:gd name="connsiteX4936" fmla="*/ 2061027 w 9635294"/>
              <a:gd name="connsiteY4936" fmla="*/ 554869 h 6211920"/>
              <a:gd name="connsiteX4937" fmla="*/ 2062252 w 9635294"/>
              <a:gd name="connsiteY4937" fmla="*/ 557797 h 6211920"/>
              <a:gd name="connsiteX4938" fmla="*/ 2061024 w 9635294"/>
              <a:gd name="connsiteY4938" fmla="*/ 554871 h 6211920"/>
              <a:gd name="connsiteX4939" fmla="*/ 7574464 w 9635294"/>
              <a:gd name="connsiteY4939" fmla="*/ 552825 h 6211920"/>
              <a:gd name="connsiteX4940" fmla="*/ 7597896 w 9635294"/>
              <a:gd name="connsiteY4940" fmla="*/ 562686 h 6211920"/>
              <a:gd name="connsiteX4941" fmla="*/ 7592943 w 9635294"/>
              <a:gd name="connsiteY4941" fmla="*/ 574377 h 6211920"/>
              <a:gd name="connsiteX4942" fmla="*/ 7569575 w 9635294"/>
              <a:gd name="connsiteY4942" fmla="*/ 564534 h 6211920"/>
              <a:gd name="connsiteX4943" fmla="*/ 7570795 w 9635294"/>
              <a:gd name="connsiteY4943" fmla="*/ 561613 h 6211920"/>
              <a:gd name="connsiteX4944" fmla="*/ 7594149 w 9635294"/>
              <a:gd name="connsiteY4944" fmla="*/ 571456 h 6211920"/>
              <a:gd name="connsiteX4945" fmla="*/ 7596626 w 9635294"/>
              <a:gd name="connsiteY4945" fmla="*/ 565607 h 6211920"/>
              <a:gd name="connsiteX4946" fmla="*/ 7573257 w 9635294"/>
              <a:gd name="connsiteY4946" fmla="*/ 555752 h 6211920"/>
              <a:gd name="connsiteX4947" fmla="*/ 7572020 w 9635294"/>
              <a:gd name="connsiteY4947" fmla="*/ 558680 h 6211920"/>
              <a:gd name="connsiteX4948" fmla="*/ 2059794 w 9635294"/>
              <a:gd name="connsiteY4948" fmla="*/ 551942 h 6211920"/>
              <a:gd name="connsiteX4949" fmla="*/ 2061024 w 9635294"/>
              <a:gd name="connsiteY4949" fmla="*/ 554871 h 6211920"/>
              <a:gd name="connsiteX4950" fmla="*/ 2037659 w 9635294"/>
              <a:gd name="connsiteY4950" fmla="*/ 564712 h 6211920"/>
              <a:gd name="connsiteX4951" fmla="*/ 2038897 w 9635294"/>
              <a:gd name="connsiteY4951" fmla="*/ 567636 h 6211920"/>
              <a:gd name="connsiteX4952" fmla="*/ 2036420 w 9635294"/>
              <a:gd name="connsiteY4952" fmla="*/ 561791 h 6211920"/>
              <a:gd name="connsiteX4953" fmla="*/ 2059794 w 9635294"/>
              <a:gd name="connsiteY4953" fmla="*/ 551942 h 6211920"/>
              <a:gd name="connsiteX4954" fmla="*/ 7549825 w 9635294"/>
              <a:gd name="connsiteY4954" fmla="*/ 545973 h 6211920"/>
              <a:gd name="connsiteX4955" fmla="*/ 7549826 w 9635294"/>
              <a:gd name="connsiteY4955" fmla="*/ 545973 h 6211920"/>
              <a:gd name="connsiteX4956" fmla="*/ 7547413 w 9635294"/>
              <a:gd name="connsiteY4956" fmla="*/ 551840 h 6211920"/>
              <a:gd name="connsiteX4957" fmla="*/ 7547411 w 9635294"/>
              <a:gd name="connsiteY4957" fmla="*/ 551840 h 6211920"/>
              <a:gd name="connsiteX4958" fmla="*/ 2084423 w 9635294"/>
              <a:gd name="connsiteY4958" fmla="*/ 545108 h 6211920"/>
              <a:gd name="connsiteX4959" fmla="*/ 2085607 w 9635294"/>
              <a:gd name="connsiteY4959" fmla="*/ 547962 h 6211920"/>
              <a:gd name="connsiteX4960" fmla="*/ 2084420 w 9635294"/>
              <a:gd name="connsiteY4960" fmla="*/ 545109 h 6211920"/>
              <a:gd name="connsiteX4961" fmla="*/ 7523983 w 9635294"/>
              <a:gd name="connsiteY4961" fmla="*/ 542151 h 6211920"/>
              <a:gd name="connsiteX4962" fmla="*/ 7547411 w 9635294"/>
              <a:gd name="connsiteY4962" fmla="*/ 551840 h 6211920"/>
              <a:gd name="connsiteX4963" fmla="*/ 7546206 w 9635294"/>
              <a:gd name="connsiteY4963" fmla="*/ 554768 h 6211920"/>
              <a:gd name="connsiteX4964" fmla="*/ 7522775 w 9635294"/>
              <a:gd name="connsiteY4964" fmla="*/ 545090 h 6211920"/>
              <a:gd name="connsiteX4965" fmla="*/ 2110277 w 9635294"/>
              <a:gd name="connsiteY4965" fmla="*/ 541306 h 6211920"/>
              <a:gd name="connsiteX4966" fmla="*/ 2111483 w 9635294"/>
              <a:gd name="connsiteY4966" fmla="*/ 544239 h 6211920"/>
              <a:gd name="connsiteX4967" fmla="*/ 2088072 w 9635294"/>
              <a:gd name="connsiteY4967" fmla="*/ 553904 h 6211920"/>
              <a:gd name="connsiteX4968" fmla="*/ 2085607 w 9635294"/>
              <a:gd name="connsiteY4968" fmla="*/ 547962 h 6211920"/>
              <a:gd name="connsiteX4969" fmla="*/ 2086858 w 9635294"/>
              <a:gd name="connsiteY4969" fmla="*/ 550970 h 6211920"/>
              <a:gd name="connsiteX4970" fmla="*/ 2109956 w 9635294"/>
              <a:gd name="connsiteY4970" fmla="*/ 540527 h 6211920"/>
              <a:gd name="connsiteX4971" fmla="*/ 2110277 w 9635294"/>
              <a:gd name="connsiteY4971" fmla="*/ 541306 h 6211920"/>
              <a:gd name="connsiteX4972" fmla="*/ 2110277 w 9635294"/>
              <a:gd name="connsiteY4972" fmla="*/ 541306 h 6211920"/>
              <a:gd name="connsiteX4973" fmla="*/ 7525573 w 9635294"/>
              <a:gd name="connsiteY4973" fmla="*/ 538280 h 6211920"/>
              <a:gd name="connsiteX4974" fmla="*/ 7523983 w 9635294"/>
              <a:gd name="connsiteY4974" fmla="*/ 542151 h 6211920"/>
              <a:gd name="connsiteX4975" fmla="*/ 7523981 w 9635294"/>
              <a:gd name="connsiteY4975" fmla="*/ 542150 h 6211920"/>
              <a:gd name="connsiteX4976" fmla="*/ 7527601 w 9635294"/>
              <a:gd name="connsiteY4976" fmla="*/ 533343 h 6211920"/>
              <a:gd name="connsiteX4977" fmla="*/ 7551032 w 9635294"/>
              <a:gd name="connsiteY4977" fmla="*/ 543039 h 6211920"/>
              <a:gd name="connsiteX4978" fmla="*/ 7549825 w 9635294"/>
              <a:gd name="connsiteY4978" fmla="*/ 545973 h 6211920"/>
              <a:gd name="connsiteX4979" fmla="*/ 7526394 w 9635294"/>
              <a:gd name="connsiteY4979" fmla="*/ 536283 h 6211920"/>
              <a:gd name="connsiteX4980" fmla="*/ 7525573 w 9635294"/>
              <a:gd name="connsiteY4980" fmla="*/ 538280 h 6211920"/>
              <a:gd name="connsiteX4981" fmla="*/ 2106651 w 9635294"/>
              <a:gd name="connsiteY4981" fmla="*/ 532492 h 6211920"/>
              <a:gd name="connsiteX4982" fmla="*/ 2109956 w 9635294"/>
              <a:gd name="connsiteY4982" fmla="*/ 540527 h 6211920"/>
              <a:gd name="connsiteX4983" fmla="*/ 2107858 w 9635294"/>
              <a:gd name="connsiteY4983" fmla="*/ 535432 h 6211920"/>
              <a:gd name="connsiteX4984" fmla="*/ 2084423 w 9635294"/>
              <a:gd name="connsiteY4984" fmla="*/ 545108 h 6211920"/>
              <a:gd name="connsiteX4985" fmla="*/ 2083208 w 9635294"/>
              <a:gd name="connsiteY4985" fmla="*/ 542176 h 6211920"/>
              <a:gd name="connsiteX4986" fmla="*/ 2106651 w 9635294"/>
              <a:gd name="connsiteY4986" fmla="*/ 532492 h 6211920"/>
              <a:gd name="connsiteX4987" fmla="*/ 2131341 w 9635294"/>
              <a:gd name="connsiteY4987" fmla="*/ 525831 h 6211920"/>
              <a:gd name="connsiteX4988" fmla="*/ 2131833 w 9635294"/>
              <a:gd name="connsiteY4988" fmla="*/ 527041 h 6211920"/>
              <a:gd name="connsiteX4989" fmla="*/ 2131340 w 9635294"/>
              <a:gd name="connsiteY4989" fmla="*/ 525831 h 6211920"/>
              <a:gd name="connsiteX4990" fmla="*/ 2156051 w 9635294"/>
              <a:gd name="connsiteY4990" fmla="*/ 519259 h 6211920"/>
              <a:gd name="connsiteX4991" fmla="*/ 2158423 w 9635294"/>
              <a:gd name="connsiteY4991" fmla="*/ 525151 h 6211920"/>
              <a:gd name="connsiteX4992" fmla="*/ 2134928 w 9635294"/>
              <a:gd name="connsiteY4992" fmla="*/ 534657 h 6211920"/>
              <a:gd name="connsiteX4993" fmla="*/ 2131833 w 9635294"/>
              <a:gd name="connsiteY4993" fmla="*/ 527041 h 6211920"/>
              <a:gd name="connsiteX4994" fmla="*/ 2133734 w 9635294"/>
              <a:gd name="connsiteY4994" fmla="*/ 531711 h 6211920"/>
              <a:gd name="connsiteX4995" fmla="*/ 2157236 w 9635294"/>
              <a:gd name="connsiteY4995" fmla="*/ 522205 h 6211920"/>
              <a:gd name="connsiteX4996" fmla="*/ 7479342 w 9635294"/>
              <a:gd name="connsiteY4996" fmla="*/ 517138 h 6211920"/>
              <a:gd name="connsiteX4997" fmla="*/ 7479354 w 9635294"/>
              <a:gd name="connsiteY4997" fmla="*/ 517143 h 6211920"/>
              <a:gd name="connsiteX4998" fmla="*/ 7478223 w 9635294"/>
              <a:gd name="connsiteY4998" fmla="*/ 519940 h 6211920"/>
              <a:gd name="connsiteX4999" fmla="*/ 2154866 w 9635294"/>
              <a:gd name="connsiteY4999" fmla="*/ 516312 h 6211920"/>
              <a:gd name="connsiteX5000" fmla="*/ 2156051 w 9635294"/>
              <a:gd name="connsiteY5000" fmla="*/ 519259 h 6211920"/>
              <a:gd name="connsiteX5001" fmla="*/ 2154865 w 9635294"/>
              <a:gd name="connsiteY5001" fmla="*/ 516313 h 6211920"/>
              <a:gd name="connsiteX5002" fmla="*/ 7480548 w 9635294"/>
              <a:gd name="connsiteY5002" fmla="*/ 514191 h 6211920"/>
              <a:gd name="connsiteX5003" fmla="*/ 7504107 w 9635294"/>
              <a:gd name="connsiteY5003" fmla="*/ 523729 h 6211920"/>
              <a:gd name="connsiteX5004" fmla="*/ 7499281 w 9635294"/>
              <a:gd name="connsiteY5004" fmla="*/ 535489 h 6211920"/>
              <a:gd name="connsiteX5005" fmla="*/ 7475785 w 9635294"/>
              <a:gd name="connsiteY5005" fmla="*/ 525971 h 6211920"/>
              <a:gd name="connsiteX5006" fmla="*/ 7478223 w 9635294"/>
              <a:gd name="connsiteY5006" fmla="*/ 519940 h 6211920"/>
              <a:gd name="connsiteX5007" fmla="*/ 7476992 w 9635294"/>
              <a:gd name="connsiteY5007" fmla="*/ 523024 h 6211920"/>
              <a:gd name="connsiteX5008" fmla="*/ 7500487 w 9635294"/>
              <a:gd name="connsiteY5008" fmla="*/ 532549 h 6211920"/>
              <a:gd name="connsiteX5009" fmla="*/ 7502900 w 9635294"/>
              <a:gd name="connsiteY5009" fmla="*/ 526669 h 6211920"/>
              <a:gd name="connsiteX5010" fmla="*/ 7479354 w 9635294"/>
              <a:gd name="connsiteY5010" fmla="*/ 517143 h 6211920"/>
              <a:gd name="connsiteX5011" fmla="*/ 2153679 w 9635294"/>
              <a:gd name="connsiteY5011" fmla="*/ 513366 h 6211920"/>
              <a:gd name="connsiteX5012" fmla="*/ 2154865 w 9635294"/>
              <a:gd name="connsiteY5012" fmla="*/ 516313 h 6211920"/>
              <a:gd name="connsiteX5013" fmla="*/ 2131341 w 9635294"/>
              <a:gd name="connsiteY5013" fmla="*/ 525831 h 6211920"/>
              <a:gd name="connsiteX5014" fmla="*/ 2130146 w 9635294"/>
              <a:gd name="connsiteY5014" fmla="*/ 522891 h 6211920"/>
              <a:gd name="connsiteX5015" fmla="*/ 2153679 w 9635294"/>
              <a:gd name="connsiteY5015" fmla="*/ 513366 h 6211920"/>
              <a:gd name="connsiteX5016" fmla="*/ 7455757 w 9635294"/>
              <a:gd name="connsiteY5016" fmla="*/ 507672 h 6211920"/>
              <a:gd name="connsiteX5017" fmla="*/ 7455782 w 9635294"/>
              <a:gd name="connsiteY5017" fmla="*/ 507682 h 6211920"/>
              <a:gd name="connsiteX5018" fmla="*/ 7453433 w 9635294"/>
              <a:gd name="connsiteY5018" fmla="*/ 513582 h 6211920"/>
              <a:gd name="connsiteX5019" fmla="*/ 7453407 w 9635294"/>
              <a:gd name="connsiteY5019" fmla="*/ 513572 h 6211920"/>
              <a:gd name="connsiteX5020" fmla="*/ 2178426 w 9635294"/>
              <a:gd name="connsiteY5020" fmla="*/ 506876 h 6211920"/>
              <a:gd name="connsiteX5021" fmla="*/ 2178507 w 9635294"/>
              <a:gd name="connsiteY5021" fmla="*/ 507081 h 6211920"/>
              <a:gd name="connsiteX5022" fmla="*/ 2178425 w 9635294"/>
              <a:gd name="connsiteY5022" fmla="*/ 506876 h 6211920"/>
              <a:gd name="connsiteX5023" fmla="*/ 7429826 w 9635294"/>
              <a:gd name="connsiteY5023" fmla="*/ 504234 h 6211920"/>
              <a:gd name="connsiteX5024" fmla="*/ 7453407 w 9635294"/>
              <a:gd name="connsiteY5024" fmla="*/ 513572 h 6211920"/>
              <a:gd name="connsiteX5025" fmla="*/ 7452227 w 9635294"/>
              <a:gd name="connsiteY5025" fmla="*/ 516534 h 6211920"/>
              <a:gd name="connsiteX5026" fmla="*/ 7428669 w 9635294"/>
              <a:gd name="connsiteY5026" fmla="*/ 507181 h 6211920"/>
              <a:gd name="connsiteX5027" fmla="*/ 2204346 w 9635294"/>
              <a:gd name="connsiteY5027" fmla="*/ 503442 h 6211920"/>
              <a:gd name="connsiteX5028" fmla="*/ 2205508 w 9635294"/>
              <a:gd name="connsiteY5028" fmla="*/ 506393 h 6211920"/>
              <a:gd name="connsiteX5029" fmla="*/ 2181956 w 9635294"/>
              <a:gd name="connsiteY5029" fmla="*/ 515728 h 6211920"/>
              <a:gd name="connsiteX5030" fmla="*/ 2178507 w 9635294"/>
              <a:gd name="connsiteY5030" fmla="*/ 507081 h 6211920"/>
              <a:gd name="connsiteX5031" fmla="*/ 2180781 w 9635294"/>
              <a:gd name="connsiteY5031" fmla="*/ 512775 h 6211920"/>
              <a:gd name="connsiteX5032" fmla="*/ 7431024 w 9635294"/>
              <a:gd name="connsiteY5032" fmla="*/ 501181 h 6211920"/>
              <a:gd name="connsiteX5033" fmla="*/ 7429826 w 9635294"/>
              <a:gd name="connsiteY5033" fmla="*/ 504234 h 6211920"/>
              <a:gd name="connsiteX5034" fmla="*/ 7429811 w 9635294"/>
              <a:gd name="connsiteY5034" fmla="*/ 504228 h 6211920"/>
              <a:gd name="connsiteX5035" fmla="*/ 2203225 w 9635294"/>
              <a:gd name="connsiteY5035" fmla="*/ 500598 h 6211920"/>
              <a:gd name="connsiteX5036" fmla="*/ 2204346 w 9635294"/>
              <a:gd name="connsiteY5036" fmla="*/ 503441 h 6211920"/>
              <a:gd name="connsiteX5037" fmla="*/ 2204346 w 9635294"/>
              <a:gd name="connsiteY5037" fmla="*/ 503442 h 6211920"/>
              <a:gd name="connsiteX5038" fmla="*/ 7433304 w 9635294"/>
              <a:gd name="connsiteY5038" fmla="*/ 495370 h 6211920"/>
              <a:gd name="connsiteX5039" fmla="*/ 7456926 w 9635294"/>
              <a:gd name="connsiteY5039" fmla="*/ 504736 h 6211920"/>
              <a:gd name="connsiteX5040" fmla="*/ 7455757 w 9635294"/>
              <a:gd name="connsiteY5040" fmla="*/ 507672 h 6211920"/>
              <a:gd name="connsiteX5041" fmla="*/ 7432161 w 9635294"/>
              <a:gd name="connsiteY5041" fmla="*/ 498323 h 6211920"/>
              <a:gd name="connsiteX5042" fmla="*/ 7431024 w 9635294"/>
              <a:gd name="connsiteY5042" fmla="*/ 501181 h 6211920"/>
              <a:gd name="connsiteX5043" fmla="*/ 2200853 w 9635294"/>
              <a:gd name="connsiteY5043" fmla="*/ 494576 h 6211920"/>
              <a:gd name="connsiteX5044" fmla="*/ 2203225 w 9635294"/>
              <a:gd name="connsiteY5044" fmla="*/ 500598 h 6211920"/>
              <a:gd name="connsiteX5045" fmla="*/ 2202016 w 9635294"/>
              <a:gd name="connsiteY5045" fmla="*/ 497529 h 6211920"/>
              <a:gd name="connsiteX5046" fmla="*/ 2178426 w 9635294"/>
              <a:gd name="connsiteY5046" fmla="*/ 506876 h 6211920"/>
              <a:gd name="connsiteX5047" fmla="*/ 2177250 w 9635294"/>
              <a:gd name="connsiteY5047" fmla="*/ 503930 h 6211920"/>
              <a:gd name="connsiteX5048" fmla="*/ 2200853 w 9635294"/>
              <a:gd name="connsiteY5048" fmla="*/ 494576 h 6211920"/>
              <a:gd name="connsiteX5049" fmla="*/ 2226857 w 9635294"/>
              <a:gd name="connsiteY5049" fmla="*/ 491473 h 6211920"/>
              <a:gd name="connsiteX5050" fmla="*/ 2227919 w 9635294"/>
              <a:gd name="connsiteY5050" fmla="*/ 494195 h 6211920"/>
              <a:gd name="connsiteX5051" fmla="*/ 2227918 w 9635294"/>
              <a:gd name="connsiteY5051" fmla="*/ 494195 h 6211920"/>
              <a:gd name="connsiteX5052" fmla="*/ 7408538 w 9635294"/>
              <a:gd name="connsiteY5052" fmla="*/ 489058 h 6211920"/>
              <a:gd name="connsiteX5053" fmla="*/ 7408539 w 9635294"/>
              <a:gd name="connsiteY5053" fmla="*/ 489058 h 6211920"/>
              <a:gd name="connsiteX5054" fmla="*/ 7406592 w 9635294"/>
              <a:gd name="connsiteY5054" fmla="*/ 494094 h 6211920"/>
              <a:gd name="connsiteX5055" fmla="*/ 7384266 w 9635294"/>
              <a:gd name="connsiteY5055" fmla="*/ 481557 h 6211920"/>
              <a:gd name="connsiteX5056" fmla="*/ 7382631 w 9635294"/>
              <a:gd name="connsiteY5056" fmla="*/ 485794 h 6211920"/>
              <a:gd name="connsiteX5057" fmla="*/ 7406253 w 9635294"/>
              <a:gd name="connsiteY5057" fmla="*/ 494970 h 6211920"/>
              <a:gd name="connsiteX5058" fmla="*/ 7406592 w 9635294"/>
              <a:gd name="connsiteY5058" fmla="*/ 494094 h 6211920"/>
              <a:gd name="connsiteX5059" fmla="*/ 7405110 w 9635294"/>
              <a:gd name="connsiteY5059" fmla="*/ 497929 h 6211920"/>
              <a:gd name="connsiteX5060" fmla="*/ 7381488 w 9635294"/>
              <a:gd name="connsiteY5060" fmla="*/ 488753 h 6211920"/>
              <a:gd name="connsiteX5061" fmla="*/ 7384917 w 9635294"/>
              <a:gd name="connsiteY5061" fmla="*/ 479870 h 6211920"/>
              <a:gd name="connsiteX5062" fmla="*/ 7384917 w 9635294"/>
              <a:gd name="connsiteY5062" fmla="*/ 479870 h 6211920"/>
              <a:gd name="connsiteX5063" fmla="*/ 7384266 w 9635294"/>
              <a:gd name="connsiteY5063" fmla="*/ 481557 h 6211920"/>
              <a:gd name="connsiteX5064" fmla="*/ 7386060 w 9635294"/>
              <a:gd name="connsiteY5064" fmla="*/ 476910 h 6211920"/>
              <a:gd name="connsiteX5065" fmla="*/ 7409681 w 9635294"/>
              <a:gd name="connsiteY5065" fmla="*/ 486099 h 6211920"/>
              <a:gd name="connsiteX5066" fmla="*/ 7408538 w 9635294"/>
              <a:gd name="connsiteY5066" fmla="*/ 489058 h 6211920"/>
              <a:gd name="connsiteX5067" fmla="*/ 7384917 w 9635294"/>
              <a:gd name="connsiteY5067" fmla="*/ 479870 h 6211920"/>
              <a:gd name="connsiteX5068" fmla="*/ 2248110 w 9635294"/>
              <a:gd name="connsiteY5068" fmla="*/ 476142 h 6211920"/>
              <a:gd name="connsiteX5069" fmla="*/ 2252682 w 9635294"/>
              <a:gd name="connsiteY5069" fmla="*/ 487991 h 6211920"/>
              <a:gd name="connsiteX5070" fmla="*/ 2229073 w 9635294"/>
              <a:gd name="connsiteY5070" fmla="*/ 497154 h 6211920"/>
              <a:gd name="connsiteX5071" fmla="*/ 2227919 w 9635294"/>
              <a:gd name="connsiteY5071" fmla="*/ 494195 h 6211920"/>
              <a:gd name="connsiteX5072" fmla="*/ 2251539 w 9635294"/>
              <a:gd name="connsiteY5072" fmla="*/ 485032 h 6211920"/>
              <a:gd name="connsiteX5073" fmla="*/ 2249253 w 9635294"/>
              <a:gd name="connsiteY5073" fmla="*/ 479107 h 6211920"/>
              <a:gd name="connsiteX5074" fmla="*/ 2225613 w 9635294"/>
              <a:gd name="connsiteY5074" fmla="*/ 488277 h 6211920"/>
              <a:gd name="connsiteX5075" fmla="*/ 2226857 w 9635294"/>
              <a:gd name="connsiteY5075" fmla="*/ 491473 h 6211920"/>
              <a:gd name="connsiteX5076" fmla="*/ 2224456 w 9635294"/>
              <a:gd name="connsiteY5076" fmla="*/ 485318 h 6211920"/>
              <a:gd name="connsiteX5077" fmla="*/ 2248110 w 9635294"/>
              <a:gd name="connsiteY5077" fmla="*/ 476142 h 6211920"/>
              <a:gd name="connsiteX5078" fmla="*/ 7361190 w 9635294"/>
              <a:gd name="connsiteY5078" fmla="*/ 470748 h 6211920"/>
              <a:gd name="connsiteX5079" fmla="*/ 7361232 w 9635294"/>
              <a:gd name="connsiteY5079" fmla="*/ 470764 h 6211920"/>
              <a:gd name="connsiteX5080" fmla="*/ 7358945 w 9635294"/>
              <a:gd name="connsiteY5080" fmla="*/ 476695 h 6211920"/>
              <a:gd name="connsiteX5081" fmla="*/ 7358931 w 9635294"/>
              <a:gd name="connsiteY5081" fmla="*/ 476690 h 6211920"/>
              <a:gd name="connsiteX5082" fmla="*/ 2272927 w 9635294"/>
              <a:gd name="connsiteY5082" fmla="*/ 470014 h 6211920"/>
              <a:gd name="connsiteX5083" fmla="*/ 2273239 w 9635294"/>
              <a:gd name="connsiteY5083" fmla="*/ 470834 h 6211920"/>
              <a:gd name="connsiteX5084" fmla="*/ 2272926 w 9635294"/>
              <a:gd name="connsiteY5084" fmla="*/ 470014 h 6211920"/>
              <a:gd name="connsiteX5085" fmla="*/ 7335223 w 9635294"/>
              <a:gd name="connsiteY5085" fmla="*/ 467695 h 6211920"/>
              <a:gd name="connsiteX5086" fmla="*/ 7358931 w 9635294"/>
              <a:gd name="connsiteY5086" fmla="*/ 476690 h 6211920"/>
              <a:gd name="connsiteX5087" fmla="*/ 7357802 w 9635294"/>
              <a:gd name="connsiteY5087" fmla="*/ 479660 h 6211920"/>
              <a:gd name="connsiteX5088" fmla="*/ 7334117 w 9635294"/>
              <a:gd name="connsiteY5088" fmla="*/ 470649 h 6211920"/>
              <a:gd name="connsiteX5089" fmla="*/ 7336359 w 9635294"/>
              <a:gd name="connsiteY5089" fmla="*/ 464661 h 6211920"/>
              <a:gd name="connsiteX5090" fmla="*/ 7335223 w 9635294"/>
              <a:gd name="connsiteY5090" fmla="*/ 467695 h 6211920"/>
              <a:gd name="connsiteX5091" fmla="*/ 7335196 w 9635294"/>
              <a:gd name="connsiteY5091" fmla="*/ 467684 h 6211920"/>
              <a:gd name="connsiteX5092" fmla="*/ 2297713 w 9635294"/>
              <a:gd name="connsiteY5092" fmla="*/ 463828 h 6211920"/>
              <a:gd name="connsiteX5093" fmla="*/ 2300015 w 9635294"/>
              <a:gd name="connsiteY5093" fmla="*/ 469919 h 6211920"/>
              <a:gd name="connsiteX5094" fmla="*/ 2276324 w 9635294"/>
              <a:gd name="connsiteY5094" fmla="*/ 478917 h 6211920"/>
              <a:gd name="connsiteX5095" fmla="*/ 2273239 w 9635294"/>
              <a:gd name="connsiteY5095" fmla="*/ 470834 h 6211920"/>
              <a:gd name="connsiteX5096" fmla="*/ 2275193 w 9635294"/>
              <a:gd name="connsiteY5096" fmla="*/ 475952 h 6211920"/>
              <a:gd name="connsiteX5097" fmla="*/ 2298891 w 9635294"/>
              <a:gd name="connsiteY5097" fmla="*/ 466947 h 6211920"/>
              <a:gd name="connsiteX5098" fmla="*/ 2296649 w 9635294"/>
              <a:gd name="connsiteY5098" fmla="*/ 461010 h 6211920"/>
              <a:gd name="connsiteX5099" fmla="*/ 2297713 w 9635294"/>
              <a:gd name="connsiteY5099" fmla="*/ 463828 h 6211920"/>
              <a:gd name="connsiteX5100" fmla="*/ 2296649 w 9635294"/>
              <a:gd name="connsiteY5100" fmla="*/ 461011 h 6211920"/>
              <a:gd name="connsiteX5101" fmla="*/ 7338562 w 9635294"/>
              <a:gd name="connsiteY5101" fmla="*/ 458775 h 6211920"/>
              <a:gd name="connsiteX5102" fmla="*/ 7362311 w 9635294"/>
              <a:gd name="connsiteY5102" fmla="*/ 467798 h 6211920"/>
              <a:gd name="connsiteX5103" fmla="*/ 7361190 w 9635294"/>
              <a:gd name="connsiteY5103" fmla="*/ 470748 h 6211920"/>
              <a:gd name="connsiteX5104" fmla="*/ 7337482 w 9635294"/>
              <a:gd name="connsiteY5104" fmla="*/ 461740 h 6211920"/>
              <a:gd name="connsiteX5105" fmla="*/ 7336359 w 9635294"/>
              <a:gd name="connsiteY5105" fmla="*/ 464661 h 6211920"/>
              <a:gd name="connsiteX5106" fmla="*/ 2295526 w 9635294"/>
              <a:gd name="connsiteY5106" fmla="*/ 458038 h 6211920"/>
              <a:gd name="connsiteX5107" fmla="*/ 2296649 w 9635294"/>
              <a:gd name="connsiteY5107" fmla="*/ 461011 h 6211920"/>
              <a:gd name="connsiteX5108" fmla="*/ 2272927 w 9635294"/>
              <a:gd name="connsiteY5108" fmla="*/ 470014 h 6211920"/>
              <a:gd name="connsiteX5109" fmla="*/ 2271795 w 9635294"/>
              <a:gd name="connsiteY5109" fmla="*/ 467049 h 6211920"/>
              <a:gd name="connsiteX5110" fmla="*/ 2295526 w 9635294"/>
              <a:gd name="connsiteY5110" fmla="*/ 458038 h 6211920"/>
              <a:gd name="connsiteX5111" fmla="*/ 2320775 w 9635294"/>
              <a:gd name="connsiteY5111" fmla="*/ 453073 h 6211920"/>
              <a:gd name="connsiteX5112" fmla="*/ 2322628 w 9635294"/>
              <a:gd name="connsiteY5112" fmla="*/ 458032 h 6211920"/>
              <a:gd name="connsiteX5113" fmla="*/ 2322627 w 9635294"/>
              <a:gd name="connsiteY5113" fmla="*/ 458032 h 6211920"/>
              <a:gd name="connsiteX5114" fmla="*/ 2346407 w 9635294"/>
              <a:gd name="connsiteY5114" fmla="*/ 449194 h 6211920"/>
              <a:gd name="connsiteX5115" fmla="*/ 2347507 w 9635294"/>
              <a:gd name="connsiteY5115" fmla="*/ 452171 h 6211920"/>
              <a:gd name="connsiteX5116" fmla="*/ 2323739 w 9635294"/>
              <a:gd name="connsiteY5116" fmla="*/ 461004 h 6211920"/>
              <a:gd name="connsiteX5117" fmla="*/ 2322628 w 9635294"/>
              <a:gd name="connsiteY5117" fmla="*/ 458032 h 6211920"/>
              <a:gd name="connsiteX5118" fmla="*/ 2345588 w 9635294"/>
              <a:gd name="connsiteY5118" fmla="*/ 446975 h 6211920"/>
              <a:gd name="connsiteX5119" fmla="*/ 2346408 w 9635294"/>
              <a:gd name="connsiteY5119" fmla="*/ 449193 h 6211920"/>
              <a:gd name="connsiteX5120" fmla="*/ 2346407 w 9635294"/>
              <a:gd name="connsiteY5120" fmla="*/ 449194 h 6211920"/>
              <a:gd name="connsiteX5121" fmla="*/ 7289857 w 9635294"/>
              <a:gd name="connsiteY5121" fmla="*/ 443948 h 6211920"/>
              <a:gd name="connsiteX5122" fmla="*/ 7289884 w 9635294"/>
              <a:gd name="connsiteY5122" fmla="*/ 443958 h 6211920"/>
              <a:gd name="connsiteX5123" fmla="*/ 7288764 w 9635294"/>
              <a:gd name="connsiteY5123" fmla="*/ 446962 h 6211920"/>
              <a:gd name="connsiteX5124" fmla="*/ 7291000 w 9635294"/>
              <a:gd name="connsiteY5124" fmla="*/ 440969 h 6211920"/>
              <a:gd name="connsiteX5125" fmla="*/ 7314813 w 9635294"/>
              <a:gd name="connsiteY5125" fmla="*/ 449828 h 6211920"/>
              <a:gd name="connsiteX5126" fmla="*/ 7310368 w 9635294"/>
              <a:gd name="connsiteY5126" fmla="*/ 461721 h 6211920"/>
              <a:gd name="connsiteX5127" fmla="*/ 7286556 w 9635294"/>
              <a:gd name="connsiteY5127" fmla="*/ 452876 h 6211920"/>
              <a:gd name="connsiteX5128" fmla="*/ 7288764 w 9635294"/>
              <a:gd name="connsiteY5128" fmla="*/ 446962 h 6211920"/>
              <a:gd name="connsiteX5129" fmla="*/ 7287698 w 9635294"/>
              <a:gd name="connsiteY5129" fmla="*/ 449898 h 6211920"/>
              <a:gd name="connsiteX5130" fmla="*/ 7311447 w 9635294"/>
              <a:gd name="connsiteY5130" fmla="*/ 458749 h 6211920"/>
              <a:gd name="connsiteX5131" fmla="*/ 7313669 w 9635294"/>
              <a:gd name="connsiteY5131" fmla="*/ 452800 h 6211920"/>
              <a:gd name="connsiteX5132" fmla="*/ 7289884 w 9635294"/>
              <a:gd name="connsiteY5132" fmla="*/ 443958 h 6211920"/>
              <a:gd name="connsiteX5133" fmla="*/ 2343106 w 9635294"/>
              <a:gd name="connsiteY5133" fmla="*/ 440258 h 6211920"/>
              <a:gd name="connsiteX5134" fmla="*/ 2345588 w 9635294"/>
              <a:gd name="connsiteY5134" fmla="*/ 446975 h 6211920"/>
              <a:gd name="connsiteX5135" fmla="*/ 2344204 w 9635294"/>
              <a:gd name="connsiteY5135" fmla="*/ 443236 h 6211920"/>
              <a:gd name="connsiteX5136" fmla="*/ 2320405 w 9635294"/>
              <a:gd name="connsiteY5136" fmla="*/ 452082 h 6211920"/>
              <a:gd name="connsiteX5137" fmla="*/ 2320775 w 9635294"/>
              <a:gd name="connsiteY5137" fmla="*/ 453073 h 6211920"/>
              <a:gd name="connsiteX5138" fmla="*/ 2319294 w 9635294"/>
              <a:gd name="connsiteY5138" fmla="*/ 449110 h 6211920"/>
              <a:gd name="connsiteX5139" fmla="*/ 2343106 w 9635294"/>
              <a:gd name="connsiteY5139" fmla="*/ 440258 h 6211920"/>
              <a:gd name="connsiteX5140" fmla="*/ 2369157 w 9635294"/>
              <a:gd name="connsiteY5140" fmla="*/ 437668 h 6211920"/>
              <a:gd name="connsiteX5141" fmla="*/ 2370179 w 9635294"/>
              <a:gd name="connsiteY5141" fmla="*/ 440461 h 6211920"/>
              <a:gd name="connsiteX5142" fmla="*/ 2370176 w 9635294"/>
              <a:gd name="connsiteY5142" fmla="*/ 440461 h 6211920"/>
              <a:gd name="connsiteX5143" fmla="*/ 7242232 w 9635294"/>
              <a:gd name="connsiteY5143" fmla="*/ 426517 h 6211920"/>
              <a:gd name="connsiteX5144" fmla="*/ 7240073 w 9635294"/>
              <a:gd name="connsiteY5144" fmla="*/ 432486 h 6211920"/>
              <a:gd name="connsiteX5145" fmla="*/ 7263886 w 9635294"/>
              <a:gd name="connsiteY5145" fmla="*/ 441154 h 6211920"/>
              <a:gd name="connsiteX5146" fmla="*/ 7266044 w 9635294"/>
              <a:gd name="connsiteY5146" fmla="*/ 435185 h 6211920"/>
              <a:gd name="connsiteX5147" fmla="*/ 7242232 w 9635294"/>
              <a:gd name="connsiteY5147" fmla="*/ 426517 h 6211920"/>
              <a:gd name="connsiteX5148" fmla="*/ 7243312 w 9635294"/>
              <a:gd name="connsiteY5148" fmla="*/ 423526 h 6211920"/>
              <a:gd name="connsiteX5149" fmla="*/ 7267188 w 9635294"/>
              <a:gd name="connsiteY5149" fmla="*/ 432206 h 6211920"/>
              <a:gd name="connsiteX5150" fmla="*/ 7262807 w 9635294"/>
              <a:gd name="connsiteY5150" fmla="*/ 444132 h 6211920"/>
              <a:gd name="connsiteX5151" fmla="*/ 7238994 w 9635294"/>
              <a:gd name="connsiteY5151" fmla="*/ 435470 h 6211920"/>
              <a:gd name="connsiteX5152" fmla="*/ 2390745 w 9635294"/>
              <a:gd name="connsiteY5152" fmla="*/ 422853 h 6211920"/>
              <a:gd name="connsiteX5153" fmla="*/ 2395055 w 9635294"/>
              <a:gd name="connsiteY5153" fmla="*/ 434791 h 6211920"/>
              <a:gd name="connsiteX5154" fmla="*/ 2371269 w 9635294"/>
              <a:gd name="connsiteY5154" fmla="*/ 443440 h 6211920"/>
              <a:gd name="connsiteX5155" fmla="*/ 2370179 w 9635294"/>
              <a:gd name="connsiteY5155" fmla="*/ 440461 h 6211920"/>
              <a:gd name="connsiteX5156" fmla="*/ 2393976 w 9635294"/>
              <a:gd name="connsiteY5156" fmla="*/ 431806 h 6211920"/>
              <a:gd name="connsiteX5157" fmla="*/ 2391817 w 9635294"/>
              <a:gd name="connsiteY5157" fmla="*/ 425837 h 6211920"/>
              <a:gd name="connsiteX5158" fmla="*/ 2367998 w 9635294"/>
              <a:gd name="connsiteY5158" fmla="*/ 434492 h 6211920"/>
              <a:gd name="connsiteX5159" fmla="*/ 2369157 w 9635294"/>
              <a:gd name="connsiteY5159" fmla="*/ 437668 h 6211920"/>
              <a:gd name="connsiteX5160" fmla="*/ 2366906 w 9635294"/>
              <a:gd name="connsiteY5160" fmla="*/ 431514 h 6211920"/>
              <a:gd name="connsiteX5161" fmla="*/ 2390745 w 9635294"/>
              <a:gd name="connsiteY5161" fmla="*/ 422853 h 6211920"/>
              <a:gd name="connsiteX5162" fmla="*/ 7218356 w 9635294"/>
              <a:gd name="connsiteY5162" fmla="*/ 417925 h 6211920"/>
              <a:gd name="connsiteX5163" fmla="*/ 7218357 w 9635294"/>
              <a:gd name="connsiteY5163" fmla="*/ 417925 h 6211920"/>
              <a:gd name="connsiteX5164" fmla="*/ 7216850 w 9635294"/>
              <a:gd name="connsiteY5164" fmla="*/ 422096 h 6211920"/>
              <a:gd name="connsiteX5165" fmla="*/ 7193441 w 9635294"/>
              <a:gd name="connsiteY5165" fmla="*/ 412206 h 6211920"/>
              <a:gd name="connsiteX5166" fmla="*/ 7192321 w 9635294"/>
              <a:gd name="connsiteY5166" fmla="*/ 415404 h 6211920"/>
              <a:gd name="connsiteX5167" fmla="*/ 7216197 w 9635294"/>
              <a:gd name="connsiteY5167" fmla="*/ 423901 h 6211920"/>
              <a:gd name="connsiteX5168" fmla="*/ 7216850 w 9635294"/>
              <a:gd name="connsiteY5168" fmla="*/ 422096 h 6211920"/>
              <a:gd name="connsiteX5169" fmla="*/ 7215118 w 9635294"/>
              <a:gd name="connsiteY5169" fmla="*/ 426891 h 6211920"/>
              <a:gd name="connsiteX5170" fmla="*/ 7191242 w 9635294"/>
              <a:gd name="connsiteY5170" fmla="*/ 418395 h 6211920"/>
              <a:gd name="connsiteX5171" fmla="*/ 7194417 w 9635294"/>
              <a:gd name="connsiteY5171" fmla="*/ 409416 h 6211920"/>
              <a:gd name="connsiteX5172" fmla="*/ 7194430 w 9635294"/>
              <a:gd name="connsiteY5172" fmla="*/ 409421 h 6211920"/>
              <a:gd name="connsiteX5173" fmla="*/ 7193441 w 9635294"/>
              <a:gd name="connsiteY5173" fmla="*/ 412206 h 6211920"/>
              <a:gd name="connsiteX5174" fmla="*/ 2439589 w 9635294"/>
              <a:gd name="connsiteY5174" fmla="*/ 408762 h 6211920"/>
              <a:gd name="connsiteX5175" fmla="*/ 2441256 w 9635294"/>
              <a:gd name="connsiteY5175" fmla="*/ 413486 h 6211920"/>
              <a:gd name="connsiteX5176" fmla="*/ 2439586 w 9635294"/>
              <a:gd name="connsiteY5176" fmla="*/ 408763 h 6211920"/>
              <a:gd name="connsiteX5177" fmla="*/ 7195496 w 9635294"/>
              <a:gd name="connsiteY5177" fmla="*/ 406419 h 6211920"/>
              <a:gd name="connsiteX5178" fmla="*/ 7219436 w 9635294"/>
              <a:gd name="connsiteY5178" fmla="*/ 414934 h 6211920"/>
              <a:gd name="connsiteX5179" fmla="*/ 7218356 w 9635294"/>
              <a:gd name="connsiteY5179" fmla="*/ 417925 h 6211920"/>
              <a:gd name="connsiteX5180" fmla="*/ 7194430 w 9635294"/>
              <a:gd name="connsiteY5180" fmla="*/ 409421 h 6211920"/>
              <a:gd name="connsiteX5181" fmla="*/ 2438527 w 9635294"/>
              <a:gd name="connsiteY5181" fmla="*/ 405771 h 6211920"/>
              <a:gd name="connsiteX5182" fmla="*/ 2439586 w 9635294"/>
              <a:gd name="connsiteY5182" fmla="*/ 408763 h 6211920"/>
              <a:gd name="connsiteX5183" fmla="*/ 2415687 w 9635294"/>
              <a:gd name="connsiteY5183" fmla="*/ 417259 h 6211920"/>
              <a:gd name="connsiteX5184" fmla="*/ 2417820 w 9635294"/>
              <a:gd name="connsiteY5184" fmla="*/ 423240 h 6211920"/>
              <a:gd name="connsiteX5185" fmla="*/ 2441702 w 9635294"/>
              <a:gd name="connsiteY5185" fmla="*/ 414750 h 6211920"/>
              <a:gd name="connsiteX5186" fmla="*/ 2441256 w 9635294"/>
              <a:gd name="connsiteY5186" fmla="*/ 413486 h 6211920"/>
              <a:gd name="connsiteX5187" fmla="*/ 2442763 w 9635294"/>
              <a:gd name="connsiteY5187" fmla="*/ 417747 h 6211920"/>
              <a:gd name="connsiteX5188" fmla="*/ 2418887 w 9635294"/>
              <a:gd name="connsiteY5188" fmla="*/ 426231 h 6211920"/>
              <a:gd name="connsiteX5189" fmla="*/ 2414614 w 9635294"/>
              <a:gd name="connsiteY5189" fmla="*/ 414268 h 6211920"/>
              <a:gd name="connsiteX5190" fmla="*/ 2438527 w 9635294"/>
              <a:gd name="connsiteY5190" fmla="*/ 405771 h 6211920"/>
              <a:gd name="connsiteX5191" fmla="*/ 7170449 w 9635294"/>
              <a:gd name="connsiteY5191" fmla="*/ 400981 h 6211920"/>
              <a:gd name="connsiteX5192" fmla="*/ 7170477 w 9635294"/>
              <a:gd name="connsiteY5192" fmla="*/ 400990 h 6211920"/>
              <a:gd name="connsiteX5193" fmla="*/ 7168381 w 9635294"/>
              <a:gd name="connsiteY5193" fmla="*/ 406984 h 6211920"/>
              <a:gd name="connsiteX5194" fmla="*/ 7168353 w 9635294"/>
              <a:gd name="connsiteY5194" fmla="*/ 406975 h 6211920"/>
              <a:gd name="connsiteX5195" fmla="*/ 2463528 w 9635294"/>
              <a:gd name="connsiteY5195" fmla="*/ 400355 h 6211920"/>
              <a:gd name="connsiteX5196" fmla="*/ 2465624 w 9635294"/>
              <a:gd name="connsiteY5196" fmla="*/ 406349 h 6211920"/>
              <a:gd name="connsiteX5197" fmla="*/ 2465623 w 9635294"/>
              <a:gd name="connsiteY5197" fmla="*/ 406349 h 6211920"/>
              <a:gd name="connsiteX5198" fmla="*/ 2463527 w 9635294"/>
              <a:gd name="connsiteY5198" fmla="*/ 400355 h 6211920"/>
              <a:gd name="connsiteX5199" fmla="*/ 7144394 w 9635294"/>
              <a:gd name="connsiteY5199" fmla="*/ 398653 h 6211920"/>
              <a:gd name="connsiteX5200" fmla="*/ 7168353 w 9635294"/>
              <a:gd name="connsiteY5200" fmla="*/ 406975 h 6211920"/>
              <a:gd name="connsiteX5201" fmla="*/ 7167302 w 9635294"/>
              <a:gd name="connsiteY5201" fmla="*/ 409981 h 6211920"/>
              <a:gd name="connsiteX5202" fmla="*/ 7143363 w 9635294"/>
              <a:gd name="connsiteY5202" fmla="*/ 401650 h 6211920"/>
              <a:gd name="connsiteX5203" fmla="*/ 2489581 w 9635294"/>
              <a:gd name="connsiteY5203" fmla="*/ 398025 h 6211920"/>
              <a:gd name="connsiteX5204" fmla="*/ 2490616 w 9635294"/>
              <a:gd name="connsiteY5204" fmla="*/ 401028 h 6211920"/>
              <a:gd name="connsiteX5205" fmla="*/ 2466671 w 9635294"/>
              <a:gd name="connsiteY5205" fmla="*/ 409346 h 6211920"/>
              <a:gd name="connsiteX5206" fmla="*/ 2465624 w 9635294"/>
              <a:gd name="connsiteY5206" fmla="*/ 406349 h 6211920"/>
              <a:gd name="connsiteX5207" fmla="*/ 7145495 w 9635294"/>
              <a:gd name="connsiteY5207" fmla="*/ 395452 h 6211920"/>
              <a:gd name="connsiteX5208" fmla="*/ 7144394 w 9635294"/>
              <a:gd name="connsiteY5208" fmla="*/ 398653 h 6211920"/>
              <a:gd name="connsiteX5209" fmla="*/ 7144379 w 9635294"/>
              <a:gd name="connsiteY5209" fmla="*/ 398647 h 6211920"/>
              <a:gd name="connsiteX5210" fmla="*/ 2488546 w 9635294"/>
              <a:gd name="connsiteY5210" fmla="*/ 395024 h 6211920"/>
              <a:gd name="connsiteX5211" fmla="*/ 2489581 w 9635294"/>
              <a:gd name="connsiteY5211" fmla="*/ 398024 h 6211920"/>
              <a:gd name="connsiteX5212" fmla="*/ 2489581 w 9635294"/>
              <a:gd name="connsiteY5212" fmla="*/ 398025 h 6211920"/>
              <a:gd name="connsiteX5213" fmla="*/ 7147490 w 9635294"/>
              <a:gd name="connsiteY5213" fmla="*/ 389649 h 6211920"/>
              <a:gd name="connsiteX5214" fmla="*/ 7171494 w 9635294"/>
              <a:gd name="connsiteY5214" fmla="*/ 397993 h 6211920"/>
              <a:gd name="connsiteX5215" fmla="*/ 7170449 w 9635294"/>
              <a:gd name="connsiteY5215" fmla="*/ 400981 h 6211920"/>
              <a:gd name="connsiteX5216" fmla="*/ 7146474 w 9635294"/>
              <a:gd name="connsiteY5216" fmla="*/ 392646 h 6211920"/>
              <a:gd name="connsiteX5217" fmla="*/ 7145495 w 9635294"/>
              <a:gd name="connsiteY5217" fmla="*/ 395452 h 6211920"/>
              <a:gd name="connsiteX5218" fmla="*/ 2486477 w 9635294"/>
              <a:gd name="connsiteY5218" fmla="*/ 389020 h 6211920"/>
              <a:gd name="connsiteX5219" fmla="*/ 2488546 w 9635294"/>
              <a:gd name="connsiteY5219" fmla="*/ 395024 h 6211920"/>
              <a:gd name="connsiteX5220" fmla="*/ 2487512 w 9635294"/>
              <a:gd name="connsiteY5220" fmla="*/ 392024 h 6211920"/>
              <a:gd name="connsiteX5221" fmla="*/ 2463528 w 9635294"/>
              <a:gd name="connsiteY5221" fmla="*/ 400355 h 6211920"/>
              <a:gd name="connsiteX5222" fmla="*/ 2462480 w 9635294"/>
              <a:gd name="connsiteY5222" fmla="*/ 397358 h 6211920"/>
              <a:gd name="connsiteX5223" fmla="*/ 2486477 w 9635294"/>
              <a:gd name="connsiteY5223" fmla="*/ 389020 h 6211920"/>
              <a:gd name="connsiteX5224" fmla="*/ 7122457 w 9635294"/>
              <a:gd name="connsiteY5224" fmla="*/ 384392 h 6211920"/>
              <a:gd name="connsiteX5225" fmla="*/ 7122471 w 9635294"/>
              <a:gd name="connsiteY5225" fmla="*/ 384397 h 6211920"/>
              <a:gd name="connsiteX5226" fmla="*/ 7120439 w 9635294"/>
              <a:gd name="connsiteY5226" fmla="*/ 390404 h 6211920"/>
              <a:gd name="connsiteX5227" fmla="*/ 7120397 w 9635294"/>
              <a:gd name="connsiteY5227" fmla="*/ 390390 h 6211920"/>
              <a:gd name="connsiteX5228" fmla="*/ 7096437 w 9635294"/>
              <a:gd name="connsiteY5228" fmla="*/ 382257 h 6211920"/>
              <a:gd name="connsiteX5229" fmla="*/ 7120397 w 9635294"/>
              <a:gd name="connsiteY5229" fmla="*/ 390390 h 6211920"/>
              <a:gd name="connsiteX5230" fmla="*/ 7119360 w 9635294"/>
              <a:gd name="connsiteY5230" fmla="*/ 393408 h 6211920"/>
              <a:gd name="connsiteX5231" fmla="*/ 7095420 w 9635294"/>
              <a:gd name="connsiteY5231" fmla="*/ 385267 h 6211920"/>
              <a:gd name="connsiteX5232" fmla="*/ 7098469 w 9635294"/>
              <a:gd name="connsiteY5232" fmla="*/ 376238 h 6211920"/>
              <a:gd name="connsiteX5233" fmla="*/ 7098470 w 9635294"/>
              <a:gd name="connsiteY5233" fmla="*/ 376238 h 6211920"/>
              <a:gd name="connsiteX5234" fmla="*/ 7096437 w 9635294"/>
              <a:gd name="connsiteY5234" fmla="*/ 382257 h 6211920"/>
              <a:gd name="connsiteX5235" fmla="*/ 7096436 w 9635294"/>
              <a:gd name="connsiteY5235" fmla="*/ 382257 h 6211920"/>
              <a:gd name="connsiteX5236" fmla="*/ 2535506 w 9635294"/>
              <a:gd name="connsiteY5236" fmla="*/ 375641 h 6211920"/>
              <a:gd name="connsiteX5237" fmla="*/ 2537537 w 9635294"/>
              <a:gd name="connsiteY5237" fmla="*/ 381660 h 6211920"/>
              <a:gd name="connsiteX5238" fmla="*/ 2537533 w 9635294"/>
              <a:gd name="connsiteY5238" fmla="*/ 381662 h 6211920"/>
              <a:gd name="connsiteX5239" fmla="*/ 2535504 w 9635294"/>
              <a:gd name="connsiteY5239" fmla="*/ 375642 h 6211920"/>
              <a:gd name="connsiteX5240" fmla="*/ 7099484 w 9635294"/>
              <a:gd name="connsiteY5240" fmla="*/ 373234 h 6211920"/>
              <a:gd name="connsiteX5241" fmla="*/ 7123487 w 9635294"/>
              <a:gd name="connsiteY5241" fmla="*/ 381394 h 6211920"/>
              <a:gd name="connsiteX5242" fmla="*/ 7122457 w 9635294"/>
              <a:gd name="connsiteY5242" fmla="*/ 384392 h 6211920"/>
              <a:gd name="connsiteX5243" fmla="*/ 7098470 w 9635294"/>
              <a:gd name="connsiteY5243" fmla="*/ 376238 h 6211920"/>
              <a:gd name="connsiteX5244" fmla="*/ 2534489 w 9635294"/>
              <a:gd name="connsiteY5244" fmla="*/ 372631 h 6211920"/>
              <a:gd name="connsiteX5245" fmla="*/ 2535504 w 9635294"/>
              <a:gd name="connsiteY5245" fmla="*/ 375642 h 6211920"/>
              <a:gd name="connsiteX5246" fmla="*/ 2511509 w 9635294"/>
              <a:gd name="connsiteY5246" fmla="*/ 383788 h 6211920"/>
              <a:gd name="connsiteX5247" fmla="*/ 2513559 w 9635294"/>
              <a:gd name="connsiteY5247" fmla="*/ 389795 h 6211920"/>
              <a:gd name="connsiteX5248" fmla="*/ 2537533 w 9635294"/>
              <a:gd name="connsiteY5248" fmla="*/ 381662 h 6211920"/>
              <a:gd name="connsiteX5249" fmla="*/ 2538546 w 9635294"/>
              <a:gd name="connsiteY5249" fmla="*/ 384670 h 6211920"/>
              <a:gd name="connsiteX5250" fmla="*/ 2514581 w 9635294"/>
              <a:gd name="connsiteY5250" fmla="*/ 392798 h 6211920"/>
              <a:gd name="connsiteX5251" fmla="*/ 2510480 w 9635294"/>
              <a:gd name="connsiteY5251" fmla="*/ 380778 h 6211920"/>
              <a:gd name="connsiteX5252" fmla="*/ 2534489 w 9635294"/>
              <a:gd name="connsiteY5252" fmla="*/ 372631 h 6211920"/>
              <a:gd name="connsiteX5253" fmla="*/ 2559540 w 9635294"/>
              <a:gd name="connsiteY5253" fmla="*/ 367582 h 6211920"/>
              <a:gd name="connsiteX5254" fmla="*/ 2560536 w 9635294"/>
              <a:gd name="connsiteY5254" fmla="*/ 370568 h 6211920"/>
              <a:gd name="connsiteX5255" fmla="*/ 2559539 w 9635294"/>
              <a:gd name="connsiteY5255" fmla="*/ 367582 h 6211920"/>
              <a:gd name="connsiteX5256" fmla="*/ 2585605 w 9635294"/>
              <a:gd name="connsiteY5256" fmla="*/ 365634 h 6211920"/>
              <a:gd name="connsiteX5257" fmla="*/ 2586597 w 9635294"/>
              <a:gd name="connsiteY5257" fmla="*/ 368649 h 6211920"/>
              <a:gd name="connsiteX5258" fmla="*/ 2562555 w 9635294"/>
              <a:gd name="connsiteY5258" fmla="*/ 376619 h 6211920"/>
              <a:gd name="connsiteX5259" fmla="*/ 2560536 w 9635294"/>
              <a:gd name="connsiteY5259" fmla="*/ 370568 h 6211920"/>
              <a:gd name="connsiteX5260" fmla="*/ 2561552 w 9635294"/>
              <a:gd name="connsiteY5260" fmla="*/ 373609 h 6211920"/>
              <a:gd name="connsiteX5261" fmla="*/ 2584693 w 9635294"/>
              <a:gd name="connsiteY5261" fmla="*/ 362863 h 6211920"/>
              <a:gd name="connsiteX5262" fmla="*/ 2585606 w 9635294"/>
              <a:gd name="connsiteY5262" fmla="*/ 365633 h 6211920"/>
              <a:gd name="connsiteX5263" fmla="*/ 2585605 w 9635294"/>
              <a:gd name="connsiteY5263" fmla="*/ 365634 h 6211920"/>
              <a:gd name="connsiteX5264" fmla="*/ 7050272 w 9635294"/>
              <a:gd name="connsiteY5264" fmla="*/ 360178 h 6211920"/>
              <a:gd name="connsiteX5265" fmla="*/ 7050286 w 9635294"/>
              <a:gd name="connsiteY5265" fmla="*/ 360183 h 6211920"/>
              <a:gd name="connsiteX5266" fmla="*/ 7049348 w 9635294"/>
              <a:gd name="connsiteY5266" fmla="*/ 363012 h 6211920"/>
              <a:gd name="connsiteX5267" fmla="*/ 7051288 w 9635294"/>
              <a:gd name="connsiteY5267" fmla="*/ 357162 h 6211920"/>
              <a:gd name="connsiteX5268" fmla="*/ 7075418 w 9635294"/>
              <a:gd name="connsiteY5268" fmla="*/ 365157 h 6211920"/>
              <a:gd name="connsiteX5269" fmla="*/ 7071354 w 9635294"/>
              <a:gd name="connsiteY5269" fmla="*/ 377203 h 6211920"/>
              <a:gd name="connsiteX5270" fmla="*/ 7047287 w 9635294"/>
              <a:gd name="connsiteY5270" fmla="*/ 369221 h 6211920"/>
              <a:gd name="connsiteX5271" fmla="*/ 7049348 w 9635294"/>
              <a:gd name="connsiteY5271" fmla="*/ 363012 h 6211920"/>
              <a:gd name="connsiteX5272" fmla="*/ 7048303 w 9635294"/>
              <a:gd name="connsiteY5272" fmla="*/ 366211 h 6211920"/>
              <a:gd name="connsiteX5273" fmla="*/ 7072369 w 9635294"/>
              <a:gd name="connsiteY5273" fmla="*/ 374193 h 6211920"/>
              <a:gd name="connsiteX5274" fmla="*/ 7074402 w 9635294"/>
              <a:gd name="connsiteY5274" fmla="*/ 368167 h 6211920"/>
              <a:gd name="connsiteX5275" fmla="*/ 7050286 w 9635294"/>
              <a:gd name="connsiteY5275" fmla="*/ 360183 h 6211920"/>
              <a:gd name="connsiteX5276" fmla="*/ 2582628 w 9635294"/>
              <a:gd name="connsiteY5276" fmla="*/ 356591 h 6211920"/>
              <a:gd name="connsiteX5277" fmla="*/ 2584693 w 9635294"/>
              <a:gd name="connsiteY5277" fmla="*/ 362863 h 6211920"/>
              <a:gd name="connsiteX5278" fmla="*/ 2583619 w 9635294"/>
              <a:gd name="connsiteY5278" fmla="*/ 359607 h 6211920"/>
              <a:gd name="connsiteX5279" fmla="*/ 2559540 w 9635294"/>
              <a:gd name="connsiteY5279" fmla="*/ 367582 h 6211920"/>
              <a:gd name="connsiteX5280" fmla="*/ 2558537 w 9635294"/>
              <a:gd name="connsiteY5280" fmla="*/ 364573 h 6211920"/>
              <a:gd name="connsiteX5281" fmla="*/ 2582628 w 9635294"/>
              <a:gd name="connsiteY5281" fmla="*/ 356591 h 6211920"/>
              <a:gd name="connsiteX5282" fmla="*/ 2607733 w 9635294"/>
              <a:gd name="connsiteY5282" fmla="*/ 351706 h 6211920"/>
              <a:gd name="connsiteX5283" fmla="*/ 2609699 w 9635294"/>
              <a:gd name="connsiteY5283" fmla="*/ 357746 h 6211920"/>
              <a:gd name="connsiteX5284" fmla="*/ 2609698 w 9635294"/>
              <a:gd name="connsiteY5284" fmla="*/ 357746 h 6211920"/>
              <a:gd name="connsiteX5285" fmla="*/ 2607730 w 9635294"/>
              <a:gd name="connsiteY5285" fmla="*/ 351707 h 6211920"/>
              <a:gd name="connsiteX5286" fmla="*/ 7000995 w 9635294"/>
              <a:gd name="connsiteY5286" fmla="*/ 347575 h 6211920"/>
              <a:gd name="connsiteX5287" fmla="*/ 7000058 w 9635294"/>
              <a:gd name="connsiteY5287" fmla="*/ 350500 h 6211920"/>
              <a:gd name="connsiteX5288" fmla="*/ 7000044 w 9635294"/>
              <a:gd name="connsiteY5288" fmla="*/ 350495 h 6211920"/>
              <a:gd name="connsiteX5289" fmla="*/ 7002964 w 9635294"/>
              <a:gd name="connsiteY5289" fmla="*/ 341427 h 6211920"/>
              <a:gd name="connsiteX5290" fmla="*/ 7027157 w 9635294"/>
              <a:gd name="connsiteY5290" fmla="*/ 349250 h 6211920"/>
              <a:gd name="connsiteX5291" fmla="*/ 7023221 w 9635294"/>
              <a:gd name="connsiteY5291" fmla="*/ 361328 h 6211920"/>
              <a:gd name="connsiteX5292" fmla="*/ 6999091 w 9635294"/>
              <a:gd name="connsiteY5292" fmla="*/ 353517 h 6211920"/>
              <a:gd name="connsiteX5293" fmla="*/ 7000058 w 9635294"/>
              <a:gd name="connsiteY5293" fmla="*/ 350500 h 6211920"/>
              <a:gd name="connsiteX5294" fmla="*/ 7024173 w 9635294"/>
              <a:gd name="connsiteY5294" fmla="*/ 358311 h 6211920"/>
              <a:gd name="connsiteX5295" fmla="*/ 7026142 w 9635294"/>
              <a:gd name="connsiteY5295" fmla="*/ 352273 h 6211920"/>
              <a:gd name="connsiteX5296" fmla="*/ 7002012 w 9635294"/>
              <a:gd name="connsiteY5296" fmla="*/ 344449 h 6211920"/>
              <a:gd name="connsiteX5297" fmla="*/ 7000995 w 9635294"/>
              <a:gd name="connsiteY5297" fmla="*/ 347575 h 6211920"/>
              <a:gd name="connsiteX5298" fmla="*/ 2630913 w 9635294"/>
              <a:gd name="connsiteY5298" fmla="*/ 340874 h 6211920"/>
              <a:gd name="connsiteX5299" fmla="*/ 2634799 w 9635294"/>
              <a:gd name="connsiteY5299" fmla="*/ 352971 h 6211920"/>
              <a:gd name="connsiteX5300" fmla="*/ 2610682 w 9635294"/>
              <a:gd name="connsiteY5300" fmla="*/ 360769 h 6211920"/>
              <a:gd name="connsiteX5301" fmla="*/ 2609699 w 9635294"/>
              <a:gd name="connsiteY5301" fmla="*/ 357746 h 6211920"/>
              <a:gd name="connsiteX5302" fmla="*/ 2633828 w 9635294"/>
              <a:gd name="connsiteY5302" fmla="*/ 349949 h 6211920"/>
              <a:gd name="connsiteX5303" fmla="*/ 2631885 w 9635294"/>
              <a:gd name="connsiteY5303" fmla="*/ 343903 h 6211920"/>
              <a:gd name="connsiteX5304" fmla="*/ 2607733 w 9635294"/>
              <a:gd name="connsiteY5304" fmla="*/ 351706 h 6211920"/>
              <a:gd name="connsiteX5305" fmla="*/ 2606752 w 9635294"/>
              <a:gd name="connsiteY5305" fmla="*/ 348691 h 6211920"/>
              <a:gd name="connsiteX5306" fmla="*/ 2630913 w 9635294"/>
              <a:gd name="connsiteY5306" fmla="*/ 340874 h 6211920"/>
              <a:gd name="connsiteX5307" fmla="*/ 6977805 w 9635294"/>
              <a:gd name="connsiteY5307" fmla="*/ 336705 h 6211920"/>
              <a:gd name="connsiteX5308" fmla="*/ 6977819 w 9635294"/>
              <a:gd name="connsiteY5308" fmla="*/ 336709 h 6211920"/>
              <a:gd name="connsiteX5309" fmla="*/ 6976858 w 9635294"/>
              <a:gd name="connsiteY5309" fmla="*/ 339663 h 6211920"/>
              <a:gd name="connsiteX5310" fmla="*/ 2656075 w 9635294"/>
              <a:gd name="connsiteY5310" fmla="*/ 336175 h 6211920"/>
              <a:gd name="connsiteX5311" fmla="*/ 2657840 w 9635294"/>
              <a:gd name="connsiteY5311" fmla="*/ 341737 h 6211920"/>
              <a:gd name="connsiteX5312" fmla="*/ 2656073 w 9635294"/>
              <a:gd name="connsiteY5312" fmla="*/ 336175 h 6211920"/>
              <a:gd name="connsiteX5313" fmla="*/ 6951720 w 9635294"/>
              <a:gd name="connsiteY5313" fmla="*/ 335135 h 6211920"/>
              <a:gd name="connsiteX5314" fmla="*/ 6975850 w 9635294"/>
              <a:gd name="connsiteY5314" fmla="*/ 342760 h 6211920"/>
              <a:gd name="connsiteX5315" fmla="*/ 6976858 w 9635294"/>
              <a:gd name="connsiteY5315" fmla="*/ 339663 h 6211920"/>
              <a:gd name="connsiteX5316" fmla="*/ 6974897 w 9635294"/>
              <a:gd name="connsiteY5316" fmla="*/ 345789 h 6211920"/>
              <a:gd name="connsiteX5317" fmla="*/ 6950768 w 9635294"/>
              <a:gd name="connsiteY5317" fmla="*/ 338163 h 6211920"/>
              <a:gd name="connsiteX5318" fmla="*/ 2681435 w 9635294"/>
              <a:gd name="connsiteY5318" fmla="*/ 332362 h 6211920"/>
              <a:gd name="connsiteX5319" fmla="*/ 2683091 w 9635294"/>
              <a:gd name="connsiteY5319" fmla="*/ 337636 h 6211920"/>
              <a:gd name="connsiteX5320" fmla="*/ 2658955 w 9635294"/>
              <a:gd name="connsiteY5320" fmla="*/ 345249 h 6211920"/>
              <a:gd name="connsiteX5321" fmla="*/ 2657840 w 9635294"/>
              <a:gd name="connsiteY5321" fmla="*/ 341737 h 6211920"/>
              <a:gd name="connsiteX5322" fmla="*/ 2657996 w 9635294"/>
              <a:gd name="connsiteY5322" fmla="*/ 342227 h 6211920"/>
              <a:gd name="connsiteX5323" fmla="*/ 2682139 w 9635294"/>
              <a:gd name="connsiteY5323" fmla="*/ 334607 h 6211920"/>
              <a:gd name="connsiteX5324" fmla="*/ 6953625 w 9635294"/>
              <a:gd name="connsiteY5324" fmla="*/ 329070 h 6211920"/>
              <a:gd name="connsiteX5325" fmla="*/ 6953625 w 9635294"/>
              <a:gd name="connsiteY5325" fmla="*/ 329070 h 6211920"/>
              <a:gd name="connsiteX5326" fmla="*/ 6951720 w 9635294"/>
              <a:gd name="connsiteY5326" fmla="*/ 335135 h 6211920"/>
              <a:gd name="connsiteX5327" fmla="*/ 6951719 w 9635294"/>
              <a:gd name="connsiteY5327" fmla="*/ 335134 h 6211920"/>
              <a:gd name="connsiteX5328" fmla="*/ 2680240 w 9635294"/>
              <a:gd name="connsiteY5328" fmla="*/ 328549 h 6211920"/>
              <a:gd name="connsiteX5329" fmla="*/ 2681435 w 9635294"/>
              <a:gd name="connsiteY5329" fmla="*/ 332362 h 6211920"/>
              <a:gd name="connsiteX5330" fmla="*/ 2680239 w 9635294"/>
              <a:gd name="connsiteY5330" fmla="*/ 328550 h 6211920"/>
              <a:gd name="connsiteX5331" fmla="*/ 6954577 w 9635294"/>
              <a:gd name="connsiteY5331" fmla="*/ 326041 h 6211920"/>
              <a:gd name="connsiteX5332" fmla="*/ 6978771 w 9635294"/>
              <a:gd name="connsiteY5332" fmla="*/ 333686 h 6211920"/>
              <a:gd name="connsiteX5333" fmla="*/ 6977805 w 9635294"/>
              <a:gd name="connsiteY5333" fmla="*/ 336705 h 6211920"/>
              <a:gd name="connsiteX5334" fmla="*/ 6953625 w 9635294"/>
              <a:gd name="connsiteY5334" fmla="*/ 329070 h 6211920"/>
              <a:gd name="connsiteX5335" fmla="*/ 2679287 w 9635294"/>
              <a:gd name="connsiteY5335" fmla="*/ 325520 h 6211920"/>
              <a:gd name="connsiteX5336" fmla="*/ 2680239 w 9635294"/>
              <a:gd name="connsiteY5336" fmla="*/ 328550 h 6211920"/>
              <a:gd name="connsiteX5337" fmla="*/ 2656075 w 9635294"/>
              <a:gd name="connsiteY5337" fmla="*/ 336175 h 6211920"/>
              <a:gd name="connsiteX5338" fmla="*/ 2655113 w 9635294"/>
              <a:gd name="connsiteY5338" fmla="*/ 333146 h 6211920"/>
              <a:gd name="connsiteX5339" fmla="*/ 2679287 w 9635294"/>
              <a:gd name="connsiteY5339" fmla="*/ 325520 h 6211920"/>
              <a:gd name="connsiteX5340" fmla="*/ 6928393 w 9635294"/>
              <a:gd name="connsiteY5340" fmla="*/ 324732 h 6211920"/>
              <a:gd name="connsiteX5341" fmla="*/ 6927526 w 9635294"/>
              <a:gd name="connsiteY5341" fmla="*/ 327584 h 6211920"/>
              <a:gd name="connsiteX5342" fmla="*/ 6927513 w 9635294"/>
              <a:gd name="connsiteY5342" fmla="*/ 327580 h 6211920"/>
              <a:gd name="connsiteX5343" fmla="*/ 2704441 w 9635294"/>
              <a:gd name="connsiteY5343" fmla="*/ 321012 h 6211920"/>
              <a:gd name="connsiteX5344" fmla="*/ 2704937 w 9635294"/>
              <a:gd name="connsiteY5344" fmla="*/ 322616 h 6211920"/>
              <a:gd name="connsiteX5345" fmla="*/ 2704440 w 9635294"/>
              <a:gd name="connsiteY5345" fmla="*/ 321012 h 6211920"/>
              <a:gd name="connsiteX5346" fmla="*/ 6904134 w 9635294"/>
              <a:gd name="connsiteY5346" fmla="*/ 317274 h 6211920"/>
              <a:gd name="connsiteX5347" fmla="*/ 6903269 w 9635294"/>
              <a:gd name="connsiteY5347" fmla="*/ 320123 h 6211920"/>
              <a:gd name="connsiteX5348" fmla="*/ 6927513 w 9635294"/>
              <a:gd name="connsiteY5348" fmla="*/ 327580 h 6211920"/>
              <a:gd name="connsiteX5349" fmla="*/ 6926574 w 9635294"/>
              <a:gd name="connsiteY5349" fmla="*/ 330619 h 6211920"/>
              <a:gd name="connsiteX5350" fmla="*/ 6902317 w 9635294"/>
              <a:gd name="connsiteY5350" fmla="*/ 323164 h 6211920"/>
              <a:gd name="connsiteX5351" fmla="*/ 6905111 w 9635294"/>
              <a:gd name="connsiteY5351" fmla="*/ 314052 h 6211920"/>
              <a:gd name="connsiteX5352" fmla="*/ 6905126 w 9635294"/>
              <a:gd name="connsiteY5352" fmla="*/ 314057 h 6211920"/>
              <a:gd name="connsiteX5353" fmla="*/ 6904134 w 9635294"/>
              <a:gd name="connsiteY5353" fmla="*/ 317274 h 6211920"/>
              <a:gd name="connsiteX5354" fmla="*/ 6906063 w 9635294"/>
              <a:gd name="connsiteY5354" fmla="*/ 311017 h 6211920"/>
              <a:gd name="connsiteX5355" fmla="*/ 6930320 w 9635294"/>
              <a:gd name="connsiteY5355" fmla="*/ 318491 h 6211920"/>
              <a:gd name="connsiteX5356" fmla="*/ 6928393 w 9635294"/>
              <a:gd name="connsiteY5356" fmla="*/ 324732 h 6211920"/>
              <a:gd name="connsiteX5357" fmla="*/ 6929368 w 9635294"/>
              <a:gd name="connsiteY5357" fmla="*/ 321520 h 6211920"/>
              <a:gd name="connsiteX5358" fmla="*/ 6905126 w 9635294"/>
              <a:gd name="connsiteY5358" fmla="*/ 314057 h 6211920"/>
              <a:gd name="connsiteX5359" fmla="*/ 2727751 w 9635294"/>
              <a:gd name="connsiteY5359" fmla="*/ 310515 h 6211920"/>
              <a:gd name="connsiteX5360" fmla="*/ 2731459 w 9635294"/>
              <a:gd name="connsiteY5360" fmla="*/ 322663 h 6211920"/>
              <a:gd name="connsiteX5361" fmla="*/ 2707259 w 9635294"/>
              <a:gd name="connsiteY5361" fmla="*/ 330111 h 6211920"/>
              <a:gd name="connsiteX5362" fmla="*/ 2704937 w 9635294"/>
              <a:gd name="connsiteY5362" fmla="*/ 322616 h 6211920"/>
              <a:gd name="connsiteX5363" fmla="*/ 2706320 w 9635294"/>
              <a:gd name="connsiteY5363" fmla="*/ 327076 h 6211920"/>
              <a:gd name="connsiteX5364" fmla="*/ 2730532 w 9635294"/>
              <a:gd name="connsiteY5364" fmla="*/ 319627 h 6211920"/>
              <a:gd name="connsiteX5365" fmla="*/ 2728678 w 9635294"/>
              <a:gd name="connsiteY5365" fmla="*/ 313557 h 6211920"/>
              <a:gd name="connsiteX5366" fmla="*/ 2704441 w 9635294"/>
              <a:gd name="connsiteY5366" fmla="*/ 321012 h 6211920"/>
              <a:gd name="connsiteX5367" fmla="*/ 2703500 w 9635294"/>
              <a:gd name="connsiteY5367" fmla="*/ 317976 h 6211920"/>
              <a:gd name="connsiteX5368" fmla="*/ 2727751 w 9635294"/>
              <a:gd name="connsiteY5368" fmla="*/ 310515 h 6211920"/>
              <a:gd name="connsiteX5369" fmla="*/ 6880826 w 9635294"/>
              <a:gd name="connsiteY5369" fmla="*/ 306659 h 6211920"/>
              <a:gd name="connsiteX5370" fmla="*/ 6880854 w 9635294"/>
              <a:gd name="connsiteY5370" fmla="*/ 306667 h 6211920"/>
              <a:gd name="connsiteX5371" fmla="*/ 6879012 w 9635294"/>
              <a:gd name="connsiteY5371" fmla="*/ 312750 h 6211920"/>
              <a:gd name="connsiteX5372" fmla="*/ 6878983 w 9635294"/>
              <a:gd name="connsiteY5372" fmla="*/ 312741 h 6211920"/>
              <a:gd name="connsiteX5373" fmla="*/ 2752951 w 9635294"/>
              <a:gd name="connsiteY5373" fmla="*/ 306183 h 6211920"/>
              <a:gd name="connsiteX5374" fmla="*/ 2754786 w 9635294"/>
              <a:gd name="connsiteY5374" fmla="*/ 312261 h 6211920"/>
              <a:gd name="connsiteX5375" fmla="*/ 2754784 w 9635294"/>
              <a:gd name="connsiteY5375" fmla="*/ 312261 h 6211920"/>
              <a:gd name="connsiteX5376" fmla="*/ 2752948 w 9635294"/>
              <a:gd name="connsiteY5376" fmla="*/ 306184 h 6211920"/>
              <a:gd name="connsiteX5377" fmla="*/ 6854707 w 9635294"/>
              <a:gd name="connsiteY5377" fmla="*/ 305459 h 6211920"/>
              <a:gd name="connsiteX5378" fmla="*/ 6878983 w 9635294"/>
              <a:gd name="connsiteY5378" fmla="*/ 312741 h 6211920"/>
              <a:gd name="connsiteX5379" fmla="*/ 6878060 w 9635294"/>
              <a:gd name="connsiteY5379" fmla="*/ 315785 h 6211920"/>
              <a:gd name="connsiteX5380" fmla="*/ 6853803 w 9635294"/>
              <a:gd name="connsiteY5380" fmla="*/ 308496 h 6211920"/>
              <a:gd name="connsiteX5381" fmla="*/ 2779072 w 9635294"/>
              <a:gd name="connsiteY5381" fmla="*/ 304978 h 6211920"/>
              <a:gd name="connsiteX5382" fmla="*/ 2779980 w 9635294"/>
              <a:gd name="connsiteY5382" fmla="*/ 308026 h 6211920"/>
              <a:gd name="connsiteX5383" fmla="*/ 2755704 w 9635294"/>
              <a:gd name="connsiteY5383" fmla="*/ 315303 h 6211920"/>
              <a:gd name="connsiteX5384" fmla="*/ 2754786 w 9635294"/>
              <a:gd name="connsiteY5384" fmla="*/ 312261 h 6211920"/>
              <a:gd name="connsiteX5385" fmla="*/ 6855611 w 9635294"/>
              <a:gd name="connsiteY5385" fmla="*/ 302419 h 6211920"/>
              <a:gd name="connsiteX5386" fmla="*/ 6854707 w 9635294"/>
              <a:gd name="connsiteY5386" fmla="*/ 305459 h 6211920"/>
              <a:gd name="connsiteX5387" fmla="*/ 6854692 w 9635294"/>
              <a:gd name="connsiteY5387" fmla="*/ 305454 h 6211920"/>
              <a:gd name="connsiteX5388" fmla="*/ 2777263 w 9635294"/>
              <a:gd name="connsiteY5388" fmla="*/ 298895 h 6211920"/>
              <a:gd name="connsiteX5389" fmla="*/ 2779073 w 9635294"/>
              <a:gd name="connsiteY5389" fmla="*/ 304978 h 6211920"/>
              <a:gd name="connsiteX5390" fmla="*/ 2779072 w 9635294"/>
              <a:gd name="connsiteY5390" fmla="*/ 304978 h 6211920"/>
              <a:gd name="connsiteX5391" fmla="*/ 2777261 w 9635294"/>
              <a:gd name="connsiteY5391" fmla="*/ 298896 h 6211920"/>
              <a:gd name="connsiteX5392" fmla="*/ 6857422 w 9635294"/>
              <a:gd name="connsiteY5392" fmla="*/ 296329 h 6211920"/>
              <a:gd name="connsiteX5393" fmla="*/ 6881743 w 9635294"/>
              <a:gd name="connsiteY5393" fmla="*/ 303632 h 6211920"/>
              <a:gd name="connsiteX5394" fmla="*/ 6880826 w 9635294"/>
              <a:gd name="connsiteY5394" fmla="*/ 306659 h 6211920"/>
              <a:gd name="connsiteX5395" fmla="*/ 6856533 w 9635294"/>
              <a:gd name="connsiteY5395" fmla="*/ 299371 h 6211920"/>
              <a:gd name="connsiteX5396" fmla="*/ 6855611 w 9635294"/>
              <a:gd name="connsiteY5396" fmla="*/ 302419 h 6211920"/>
              <a:gd name="connsiteX5397" fmla="*/ 2776354 w 9635294"/>
              <a:gd name="connsiteY5397" fmla="*/ 295853 h 6211920"/>
              <a:gd name="connsiteX5398" fmla="*/ 2777261 w 9635294"/>
              <a:gd name="connsiteY5398" fmla="*/ 298896 h 6211920"/>
              <a:gd name="connsiteX5399" fmla="*/ 2752951 w 9635294"/>
              <a:gd name="connsiteY5399" fmla="*/ 306183 h 6211920"/>
              <a:gd name="connsiteX5400" fmla="*/ 2752033 w 9635294"/>
              <a:gd name="connsiteY5400" fmla="*/ 303143 h 6211920"/>
              <a:gd name="connsiteX5401" fmla="*/ 2776354 w 9635294"/>
              <a:gd name="connsiteY5401" fmla="*/ 295853 h 6211920"/>
              <a:gd name="connsiteX5402" fmla="*/ 6832149 w 9635294"/>
              <a:gd name="connsiteY5402" fmla="*/ 292157 h 6211920"/>
              <a:gd name="connsiteX5403" fmla="*/ 6832149 w 9635294"/>
              <a:gd name="connsiteY5403" fmla="*/ 292157 h 6211920"/>
              <a:gd name="connsiteX5404" fmla="*/ 6831503 w 9635294"/>
              <a:gd name="connsiteY5404" fmla="*/ 294370 h 6211920"/>
              <a:gd name="connsiteX5405" fmla="*/ 6805989 w 9635294"/>
              <a:gd name="connsiteY5405" fmla="*/ 291129 h 6211920"/>
              <a:gd name="connsiteX5406" fmla="*/ 6830371 w 9635294"/>
              <a:gd name="connsiteY5406" fmla="*/ 298247 h 6211920"/>
              <a:gd name="connsiteX5407" fmla="*/ 6831503 w 9635294"/>
              <a:gd name="connsiteY5407" fmla="*/ 294370 h 6211920"/>
              <a:gd name="connsiteX5408" fmla="*/ 6829482 w 9635294"/>
              <a:gd name="connsiteY5408" fmla="*/ 301295 h 6211920"/>
              <a:gd name="connsiteX5409" fmla="*/ 6805098 w 9635294"/>
              <a:gd name="connsiteY5409" fmla="*/ 294183 h 6211920"/>
              <a:gd name="connsiteX5410" fmla="*/ 6807765 w 9635294"/>
              <a:gd name="connsiteY5410" fmla="*/ 285032 h 6211920"/>
              <a:gd name="connsiteX5411" fmla="*/ 6807766 w 9635294"/>
              <a:gd name="connsiteY5411" fmla="*/ 285033 h 6211920"/>
              <a:gd name="connsiteX5412" fmla="*/ 6805989 w 9635294"/>
              <a:gd name="connsiteY5412" fmla="*/ 291129 h 6211920"/>
              <a:gd name="connsiteX5413" fmla="*/ 6805987 w 9635294"/>
              <a:gd name="connsiteY5413" fmla="*/ 291128 h 6211920"/>
              <a:gd name="connsiteX5414" fmla="*/ 2825960 w 9635294"/>
              <a:gd name="connsiteY5414" fmla="*/ 284582 h 6211920"/>
              <a:gd name="connsiteX5415" fmla="*/ 2801609 w 9635294"/>
              <a:gd name="connsiteY5415" fmla="*/ 291687 h 6211920"/>
              <a:gd name="connsiteX5416" fmla="*/ 2803399 w 9635294"/>
              <a:gd name="connsiteY5416" fmla="*/ 297783 h 6211920"/>
              <a:gd name="connsiteX5417" fmla="*/ 2827725 w 9635294"/>
              <a:gd name="connsiteY5417" fmla="*/ 290678 h 6211920"/>
              <a:gd name="connsiteX5418" fmla="*/ 6808655 w 9635294"/>
              <a:gd name="connsiteY5418" fmla="*/ 281984 h 6211920"/>
              <a:gd name="connsiteX5419" fmla="*/ 6833038 w 9635294"/>
              <a:gd name="connsiteY5419" fmla="*/ 289109 h 6211920"/>
              <a:gd name="connsiteX5420" fmla="*/ 6832149 w 9635294"/>
              <a:gd name="connsiteY5420" fmla="*/ 292157 h 6211920"/>
              <a:gd name="connsiteX5421" fmla="*/ 6807766 w 9635294"/>
              <a:gd name="connsiteY5421" fmla="*/ 285033 h 6211920"/>
              <a:gd name="connsiteX5422" fmla="*/ 2825077 w 9635294"/>
              <a:gd name="connsiteY5422" fmla="*/ 281527 h 6211920"/>
              <a:gd name="connsiteX5423" fmla="*/ 2828614 w 9635294"/>
              <a:gd name="connsiteY5423" fmla="*/ 293726 h 6211920"/>
              <a:gd name="connsiteX5424" fmla="*/ 2804294 w 9635294"/>
              <a:gd name="connsiteY5424" fmla="*/ 300831 h 6211920"/>
              <a:gd name="connsiteX5425" fmla="*/ 2800712 w 9635294"/>
              <a:gd name="connsiteY5425" fmla="*/ 288646 h 6211920"/>
              <a:gd name="connsiteX5426" fmla="*/ 2825077 w 9635294"/>
              <a:gd name="connsiteY5426" fmla="*/ 281527 h 6211920"/>
              <a:gd name="connsiteX5427" fmla="*/ 6782549 w 9635294"/>
              <a:gd name="connsiteY5427" fmla="*/ 280975 h 6211920"/>
              <a:gd name="connsiteX5428" fmla="*/ 6781667 w 9635294"/>
              <a:gd name="connsiteY5428" fmla="*/ 284112 h 6211920"/>
              <a:gd name="connsiteX5429" fmla="*/ 6781653 w 9635294"/>
              <a:gd name="connsiteY5429" fmla="*/ 284108 h 6211920"/>
              <a:gd name="connsiteX5430" fmla="*/ 2850310 w 9635294"/>
              <a:gd name="connsiteY5430" fmla="*/ 277564 h 6211920"/>
              <a:gd name="connsiteX5431" fmla="*/ 2851182 w 9635294"/>
              <a:gd name="connsiteY5431" fmla="*/ 280616 h 6211920"/>
              <a:gd name="connsiteX5432" fmla="*/ 2850306 w 9635294"/>
              <a:gd name="connsiteY5432" fmla="*/ 277565 h 6211920"/>
              <a:gd name="connsiteX5433" fmla="*/ 6758112 w 9635294"/>
              <a:gd name="connsiteY5433" fmla="*/ 274220 h 6211920"/>
              <a:gd name="connsiteX5434" fmla="*/ 6757282 w 9635294"/>
              <a:gd name="connsiteY5434" fmla="*/ 277177 h 6211920"/>
              <a:gd name="connsiteX5435" fmla="*/ 6781653 w 9635294"/>
              <a:gd name="connsiteY5435" fmla="*/ 284108 h 6211920"/>
              <a:gd name="connsiteX5436" fmla="*/ 6780778 w 9635294"/>
              <a:gd name="connsiteY5436" fmla="*/ 287166 h 6211920"/>
              <a:gd name="connsiteX5437" fmla="*/ 6756394 w 9635294"/>
              <a:gd name="connsiteY5437" fmla="*/ 280232 h 6211920"/>
              <a:gd name="connsiteX5438" fmla="*/ 2875309 w 9635294"/>
              <a:gd name="connsiteY5438" fmla="*/ 272808 h 6211920"/>
              <a:gd name="connsiteX5439" fmla="*/ 2877281 w 9635294"/>
              <a:gd name="connsiteY5439" fmla="*/ 279800 h 6211920"/>
              <a:gd name="connsiteX5440" fmla="*/ 2852929 w 9635294"/>
              <a:gd name="connsiteY5440" fmla="*/ 286722 h 6211920"/>
              <a:gd name="connsiteX5441" fmla="*/ 2851182 w 9635294"/>
              <a:gd name="connsiteY5441" fmla="*/ 280616 h 6211920"/>
              <a:gd name="connsiteX5442" fmla="*/ 2852058 w 9635294"/>
              <a:gd name="connsiteY5442" fmla="*/ 283667 h 6211920"/>
              <a:gd name="connsiteX5443" fmla="*/ 2876417 w 9635294"/>
              <a:gd name="connsiteY5443" fmla="*/ 276746 h 6211920"/>
              <a:gd name="connsiteX5444" fmla="*/ 6758997 w 9635294"/>
              <a:gd name="connsiteY5444" fmla="*/ 271062 h 6211920"/>
              <a:gd name="connsiteX5445" fmla="*/ 6759012 w 9635294"/>
              <a:gd name="connsiteY5445" fmla="*/ 271067 h 6211920"/>
              <a:gd name="connsiteX5446" fmla="*/ 6758112 w 9635294"/>
              <a:gd name="connsiteY5446" fmla="*/ 274220 h 6211920"/>
              <a:gd name="connsiteX5447" fmla="*/ 2874696 w 9635294"/>
              <a:gd name="connsiteY5447" fmla="*/ 270631 h 6211920"/>
              <a:gd name="connsiteX5448" fmla="*/ 2875309 w 9635294"/>
              <a:gd name="connsiteY5448" fmla="*/ 272808 h 6211920"/>
              <a:gd name="connsiteX5449" fmla="*/ 2874695 w 9635294"/>
              <a:gd name="connsiteY5449" fmla="*/ 270632 h 6211920"/>
              <a:gd name="connsiteX5450" fmla="*/ 6759886 w 9635294"/>
              <a:gd name="connsiteY5450" fmla="*/ 268008 h 6211920"/>
              <a:gd name="connsiteX5451" fmla="*/ 6784270 w 9635294"/>
              <a:gd name="connsiteY5451" fmla="*/ 274955 h 6211920"/>
              <a:gd name="connsiteX5452" fmla="*/ 6782549 w 9635294"/>
              <a:gd name="connsiteY5452" fmla="*/ 280975 h 6211920"/>
              <a:gd name="connsiteX5453" fmla="*/ 6783382 w 9635294"/>
              <a:gd name="connsiteY5453" fmla="*/ 278009 h 6211920"/>
              <a:gd name="connsiteX5454" fmla="*/ 6759012 w 9635294"/>
              <a:gd name="connsiteY5454" fmla="*/ 271067 h 6211920"/>
              <a:gd name="connsiteX5455" fmla="*/ 2873833 w 9635294"/>
              <a:gd name="connsiteY5455" fmla="*/ 267576 h 6211920"/>
              <a:gd name="connsiteX5456" fmla="*/ 2874695 w 9635294"/>
              <a:gd name="connsiteY5456" fmla="*/ 270632 h 6211920"/>
              <a:gd name="connsiteX5457" fmla="*/ 2850310 w 9635294"/>
              <a:gd name="connsiteY5457" fmla="*/ 277564 h 6211920"/>
              <a:gd name="connsiteX5458" fmla="*/ 2849436 w 9635294"/>
              <a:gd name="connsiteY5458" fmla="*/ 274510 h 6211920"/>
              <a:gd name="connsiteX5459" fmla="*/ 2873833 w 9635294"/>
              <a:gd name="connsiteY5459" fmla="*/ 267576 h 6211920"/>
              <a:gd name="connsiteX5460" fmla="*/ 2899113 w 9635294"/>
              <a:gd name="connsiteY5460" fmla="*/ 263785 h 6211920"/>
              <a:gd name="connsiteX5461" fmla="*/ 2899966 w 9635294"/>
              <a:gd name="connsiteY5461" fmla="*/ 266846 h 6211920"/>
              <a:gd name="connsiteX5462" fmla="*/ 2899112 w 9635294"/>
              <a:gd name="connsiteY5462" fmla="*/ 263785 h 6211920"/>
              <a:gd name="connsiteX5463" fmla="*/ 2925253 w 9635294"/>
              <a:gd name="connsiteY5463" fmla="*/ 263151 h 6211920"/>
              <a:gd name="connsiteX5464" fmla="*/ 2926094 w 9635294"/>
              <a:gd name="connsiteY5464" fmla="*/ 266211 h 6211920"/>
              <a:gd name="connsiteX5465" fmla="*/ 2901671 w 9635294"/>
              <a:gd name="connsiteY5465" fmla="*/ 272961 h 6211920"/>
              <a:gd name="connsiteX5466" fmla="*/ 2899966 w 9635294"/>
              <a:gd name="connsiteY5466" fmla="*/ 266846 h 6211920"/>
              <a:gd name="connsiteX5467" fmla="*/ 2900820 w 9635294"/>
              <a:gd name="connsiteY5467" fmla="*/ 269907 h 6211920"/>
              <a:gd name="connsiteX5468" fmla="*/ 6709245 w 9635294"/>
              <a:gd name="connsiteY5468" fmla="*/ 260496 h 6211920"/>
              <a:gd name="connsiteX5469" fmla="*/ 6708402 w 9635294"/>
              <a:gd name="connsiteY5469" fmla="*/ 263561 h 6211920"/>
              <a:gd name="connsiteX5470" fmla="*/ 6708388 w 9635294"/>
              <a:gd name="connsiteY5470" fmla="*/ 263557 h 6211920"/>
              <a:gd name="connsiteX5471" fmla="*/ 2923572 w 9635294"/>
              <a:gd name="connsiteY5471" fmla="*/ 257023 h 6211920"/>
              <a:gd name="connsiteX5472" fmla="*/ 2925256 w 9635294"/>
              <a:gd name="connsiteY5472" fmla="*/ 263150 h 6211920"/>
              <a:gd name="connsiteX5473" fmla="*/ 2925253 w 9635294"/>
              <a:gd name="connsiteY5473" fmla="*/ 263151 h 6211920"/>
              <a:gd name="connsiteX5474" fmla="*/ 2923570 w 9635294"/>
              <a:gd name="connsiteY5474" fmla="*/ 257024 h 6211920"/>
              <a:gd name="connsiteX5475" fmla="*/ 6710928 w 9635294"/>
              <a:gd name="connsiteY5475" fmla="*/ 254375 h 6211920"/>
              <a:gd name="connsiteX5476" fmla="*/ 6735439 w 9635294"/>
              <a:gd name="connsiteY5476" fmla="*/ 261150 h 6211920"/>
              <a:gd name="connsiteX5477" fmla="*/ 6732010 w 9635294"/>
              <a:gd name="connsiteY5477" fmla="*/ 273380 h 6211920"/>
              <a:gd name="connsiteX5478" fmla="*/ 6707562 w 9635294"/>
              <a:gd name="connsiteY5478" fmla="*/ 266617 h 6211920"/>
              <a:gd name="connsiteX5479" fmla="*/ 6708402 w 9635294"/>
              <a:gd name="connsiteY5479" fmla="*/ 263561 h 6211920"/>
              <a:gd name="connsiteX5480" fmla="*/ 6732835 w 9635294"/>
              <a:gd name="connsiteY5480" fmla="*/ 270326 h 6211920"/>
              <a:gd name="connsiteX5481" fmla="*/ 6734550 w 9635294"/>
              <a:gd name="connsiteY5481" fmla="*/ 264204 h 6211920"/>
              <a:gd name="connsiteX5482" fmla="*/ 6710102 w 9635294"/>
              <a:gd name="connsiteY5482" fmla="*/ 257435 h 6211920"/>
              <a:gd name="connsiteX5483" fmla="*/ 6709245 w 9635294"/>
              <a:gd name="connsiteY5483" fmla="*/ 260496 h 6211920"/>
              <a:gd name="connsiteX5484" fmla="*/ 2922728 w 9635294"/>
              <a:gd name="connsiteY5484" fmla="*/ 253962 h 6211920"/>
              <a:gd name="connsiteX5485" fmla="*/ 2923570 w 9635294"/>
              <a:gd name="connsiteY5485" fmla="*/ 257024 h 6211920"/>
              <a:gd name="connsiteX5486" fmla="*/ 2899113 w 9635294"/>
              <a:gd name="connsiteY5486" fmla="*/ 263785 h 6211920"/>
              <a:gd name="connsiteX5487" fmla="*/ 2898261 w 9635294"/>
              <a:gd name="connsiteY5487" fmla="*/ 260731 h 6211920"/>
              <a:gd name="connsiteX5488" fmla="*/ 2922728 w 9635294"/>
              <a:gd name="connsiteY5488" fmla="*/ 253962 h 6211920"/>
              <a:gd name="connsiteX5489" fmla="*/ 2948893 w 9635294"/>
              <a:gd name="connsiteY5489" fmla="*/ 253413 h 6211920"/>
              <a:gd name="connsiteX5490" fmla="*/ 2949723 w 9635294"/>
              <a:gd name="connsiteY5490" fmla="*/ 256477 h 6211920"/>
              <a:gd name="connsiteX5491" fmla="*/ 2949722 w 9635294"/>
              <a:gd name="connsiteY5491" fmla="*/ 256477 h 6211920"/>
              <a:gd name="connsiteX5492" fmla="*/ 6685591 w 9635294"/>
              <a:gd name="connsiteY5492" fmla="*/ 250749 h 6211920"/>
              <a:gd name="connsiteX5493" fmla="*/ 6685592 w 9635294"/>
              <a:gd name="connsiteY5493" fmla="*/ 250749 h 6211920"/>
              <a:gd name="connsiteX5494" fmla="*/ 6683940 w 9635294"/>
              <a:gd name="connsiteY5494" fmla="*/ 256877 h 6211920"/>
              <a:gd name="connsiteX5495" fmla="*/ 6683940 w 9635294"/>
              <a:gd name="connsiteY5495" fmla="*/ 256877 h 6211920"/>
              <a:gd name="connsiteX5496" fmla="*/ 6660224 w 9635294"/>
              <a:gd name="connsiteY5496" fmla="*/ 247212 h 6211920"/>
              <a:gd name="connsiteX5497" fmla="*/ 6659430 w 9635294"/>
              <a:gd name="connsiteY5497" fmla="*/ 250279 h 6211920"/>
              <a:gd name="connsiteX5498" fmla="*/ 6683940 w 9635294"/>
              <a:gd name="connsiteY5498" fmla="*/ 256877 h 6211920"/>
              <a:gd name="connsiteX5499" fmla="*/ 6683115 w 9635294"/>
              <a:gd name="connsiteY5499" fmla="*/ 259937 h 6211920"/>
              <a:gd name="connsiteX5500" fmla="*/ 6658604 w 9635294"/>
              <a:gd name="connsiteY5500" fmla="*/ 253346 h 6211920"/>
              <a:gd name="connsiteX5501" fmla="*/ 2973408 w 9635294"/>
              <a:gd name="connsiteY5501" fmla="*/ 246825 h 6211920"/>
              <a:gd name="connsiteX5502" fmla="*/ 2975046 w 9635294"/>
              <a:gd name="connsiteY5502" fmla="*/ 252959 h 6211920"/>
              <a:gd name="connsiteX5503" fmla="*/ 2950554 w 9635294"/>
              <a:gd name="connsiteY5503" fmla="*/ 259544 h 6211920"/>
              <a:gd name="connsiteX5504" fmla="*/ 2949723 w 9635294"/>
              <a:gd name="connsiteY5504" fmla="*/ 256477 h 6211920"/>
              <a:gd name="connsiteX5505" fmla="*/ 2974226 w 9635294"/>
              <a:gd name="connsiteY5505" fmla="*/ 249892 h 6211920"/>
              <a:gd name="connsiteX5506" fmla="*/ 6661017 w 9635294"/>
              <a:gd name="connsiteY5506" fmla="*/ 244145 h 6211920"/>
              <a:gd name="connsiteX5507" fmla="*/ 6661032 w 9635294"/>
              <a:gd name="connsiteY5507" fmla="*/ 244149 h 6211920"/>
              <a:gd name="connsiteX5508" fmla="*/ 6660224 w 9635294"/>
              <a:gd name="connsiteY5508" fmla="*/ 247212 h 6211920"/>
              <a:gd name="connsiteX5509" fmla="*/ 2972589 w 9635294"/>
              <a:gd name="connsiteY5509" fmla="*/ 243757 h 6211920"/>
              <a:gd name="connsiteX5510" fmla="*/ 2973408 w 9635294"/>
              <a:gd name="connsiteY5510" fmla="*/ 246825 h 6211920"/>
              <a:gd name="connsiteX5511" fmla="*/ 2972588 w 9635294"/>
              <a:gd name="connsiteY5511" fmla="*/ 243757 h 6211920"/>
              <a:gd name="connsiteX5512" fmla="*/ 6661843 w 9635294"/>
              <a:gd name="connsiteY5512" fmla="*/ 241078 h 6211920"/>
              <a:gd name="connsiteX5513" fmla="*/ 6686417 w 9635294"/>
              <a:gd name="connsiteY5513" fmla="*/ 247682 h 6211920"/>
              <a:gd name="connsiteX5514" fmla="*/ 6685591 w 9635294"/>
              <a:gd name="connsiteY5514" fmla="*/ 250749 h 6211920"/>
              <a:gd name="connsiteX5515" fmla="*/ 6661032 w 9635294"/>
              <a:gd name="connsiteY5515" fmla="*/ 244149 h 6211920"/>
              <a:gd name="connsiteX5516" fmla="*/ 6635682 w 9635294"/>
              <a:gd name="connsiteY5516" fmla="*/ 240834 h 6211920"/>
              <a:gd name="connsiteX5517" fmla="*/ 6634919 w 9635294"/>
              <a:gd name="connsiteY5517" fmla="*/ 243783 h 6211920"/>
              <a:gd name="connsiteX5518" fmla="*/ 6634905 w 9635294"/>
              <a:gd name="connsiteY5518" fmla="*/ 243780 h 6211920"/>
              <a:gd name="connsiteX5519" fmla="*/ 2971769 w 9635294"/>
              <a:gd name="connsiteY5519" fmla="*/ 240690 h 6211920"/>
              <a:gd name="connsiteX5520" fmla="*/ 2972588 w 9635294"/>
              <a:gd name="connsiteY5520" fmla="*/ 243757 h 6211920"/>
              <a:gd name="connsiteX5521" fmla="*/ 2948064 w 9635294"/>
              <a:gd name="connsiteY5521" fmla="*/ 250349 h 6211920"/>
              <a:gd name="connsiteX5522" fmla="*/ 2948893 w 9635294"/>
              <a:gd name="connsiteY5522" fmla="*/ 253413 h 6211920"/>
              <a:gd name="connsiteX5523" fmla="*/ 2947232 w 9635294"/>
              <a:gd name="connsiteY5523" fmla="*/ 247282 h 6211920"/>
              <a:gd name="connsiteX5524" fmla="*/ 2971769 w 9635294"/>
              <a:gd name="connsiteY5524" fmla="*/ 240690 h 6211920"/>
              <a:gd name="connsiteX5525" fmla="*/ 2997083 w 9635294"/>
              <a:gd name="connsiteY5525" fmla="*/ 237268 h 6211920"/>
              <a:gd name="connsiteX5526" fmla="*/ 2998387 w 9635294"/>
              <a:gd name="connsiteY5526" fmla="*/ 242224 h 6211920"/>
              <a:gd name="connsiteX5527" fmla="*/ 2997081 w 9635294"/>
              <a:gd name="connsiteY5527" fmla="*/ 237268 h 6211920"/>
              <a:gd name="connsiteX5528" fmla="*/ 3023196 w 9635294"/>
              <a:gd name="connsiteY5528" fmla="*/ 237008 h 6211920"/>
              <a:gd name="connsiteX5529" fmla="*/ 3023992 w 9635294"/>
              <a:gd name="connsiteY5529" fmla="*/ 240081 h 6211920"/>
              <a:gd name="connsiteX5530" fmla="*/ 2999507 w 9635294"/>
              <a:gd name="connsiteY5530" fmla="*/ 246475 h 6211920"/>
              <a:gd name="connsiteX5531" fmla="*/ 2998387 w 9635294"/>
              <a:gd name="connsiteY5531" fmla="*/ 242224 h 6211920"/>
              <a:gd name="connsiteX5532" fmla="*/ 2998700 w 9635294"/>
              <a:gd name="connsiteY5532" fmla="*/ 243408 h 6211920"/>
              <a:gd name="connsiteX5533" fmla="*/ 3022627 w 9635294"/>
              <a:gd name="connsiteY5533" fmla="*/ 234809 h 6211920"/>
              <a:gd name="connsiteX5534" fmla="*/ 3023198 w 9635294"/>
              <a:gd name="connsiteY5534" fmla="*/ 237007 h 6211920"/>
              <a:gd name="connsiteX5535" fmla="*/ 3023196 w 9635294"/>
              <a:gd name="connsiteY5535" fmla="*/ 237008 h 6211920"/>
              <a:gd name="connsiteX5536" fmla="*/ 6612756 w 9635294"/>
              <a:gd name="connsiteY5536" fmla="*/ 228155 h 6211920"/>
              <a:gd name="connsiteX5537" fmla="*/ 6637332 w 9635294"/>
              <a:gd name="connsiteY5537" fmla="*/ 234575 h 6211920"/>
              <a:gd name="connsiteX5538" fmla="*/ 6635682 w 9635294"/>
              <a:gd name="connsiteY5538" fmla="*/ 240834 h 6211920"/>
              <a:gd name="connsiteX5539" fmla="*/ 6636506 w 9635294"/>
              <a:gd name="connsiteY5539" fmla="*/ 237642 h 6211920"/>
              <a:gd name="connsiteX5540" fmla="*/ 6611994 w 9635294"/>
              <a:gd name="connsiteY5540" fmla="*/ 231229 h 6211920"/>
              <a:gd name="connsiteX5541" fmla="*/ 6610407 w 9635294"/>
              <a:gd name="connsiteY5541" fmla="*/ 237376 h 6211920"/>
              <a:gd name="connsiteX5542" fmla="*/ 6634905 w 9635294"/>
              <a:gd name="connsiteY5542" fmla="*/ 243780 h 6211920"/>
              <a:gd name="connsiteX5543" fmla="*/ 6634093 w 9635294"/>
              <a:gd name="connsiteY5543" fmla="*/ 246856 h 6211920"/>
              <a:gd name="connsiteX5544" fmla="*/ 6609581 w 9635294"/>
              <a:gd name="connsiteY5544" fmla="*/ 240449 h 6211920"/>
              <a:gd name="connsiteX5545" fmla="*/ 3020810 w 9635294"/>
              <a:gd name="connsiteY5545" fmla="*/ 227787 h 6211920"/>
              <a:gd name="connsiteX5546" fmla="*/ 3022627 w 9635294"/>
              <a:gd name="connsiteY5546" fmla="*/ 234809 h 6211920"/>
              <a:gd name="connsiteX5547" fmla="*/ 3021603 w 9635294"/>
              <a:gd name="connsiteY5547" fmla="*/ 230861 h 6211920"/>
              <a:gd name="connsiteX5548" fmla="*/ 2997083 w 9635294"/>
              <a:gd name="connsiteY5548" fmla="*/ 237268 h 6211920"/>
              <a:gd name="connsiteX5549" fmla="*/ 2996273 w 9635294"/>
              <a:gd name="connsiteY5549" fmla="*/ 234194 h 6211920"/>
              <a:gd name="connsiteX5550" fmla="*/ 3020810 w 9635294"/>
              <a:gd name="connsiteY5550" fmla="*/ 227787 h 6211920"/>
              <a:gd name="connsiteX5551" fmla="*/ 6587405 w 9635294"/>
              <a:gd name="connsiteY5551" fmla="*/ 224900 h 6211920"/>
              <a:gd name="connsiteX5552" fmla="*/ 6587420 w 9635294"/>
              <a:gd name="connsiteY5552" fmla="*/ 224904 h 6211920"/>
              <a:gd name="connsiteX5553" fmla="*/ 6586653 w 9635294"/>
              <a:gd name="connsiteY5553" fmla="*/ 227875 h 6211920"/>
              <a:gd name="connsiteX5554" fmla="*/ 6561273 w 9635294"/>
              <a:gd name="connsiteY5554" fmla="*/ 224819 h 6211920"/>
              <a:gd name="connsiteX5555" fmla="*/ 6585832 w 9635294"/>
              <a:gd name="connsiteY5555" fmla="*/ 231051 h 6211920"/>
              <a:gd name="connsiteX5556" fmla="*/ 6586653 w 9635294"/>
              <a:gd name="connsiteY5556" fmla="*/ 227875 h 6211920"/>
              <a:gd name="connsiteX5557" fmla="*/ 6585071 w 9635294"/>
              <a:gd name="connsiteY5557" fmla="*/ 234131 h 6211920"/>
              <a:gd name="connsiteX5558" fmla="*/ 6560496 w 9635294"/>
              <a:gd name="connsiteY5558" fmla="*/ 227895 h 6211920"/>
              <a:gd name="connsiteX5559" fmla="*/ 6562782 w 9635294"/>
              <a:gd name="connsiteY5559" fmla="*/ 218656 h 6211920"/>
              <a:gd name="connsiteX5560" fmla="*/ 6562828 w 9635294"/>
              <a:gd name="connsiteY5560" fmla="*/ 218668 h 6211920"/>
              <a:gd name="connsiteX5561" fmla="*/ 6561273 w 9635294"/>
              <a:gd name="connsiteY5561" fmla="*/ 224819 h 6211920"/>
              <a:gd name="connsiteX5562" fmla="*/ 6561258 w 9635294"/>
              <a:gd name="connsiteY5562" fmla="*/ 224815 h 6211920"/>
              <a:gd name="connsiteX5563" fmla="*/ 3070746 w 9635294"/>
              <a:gd name="connsiteY5563" fmla="*/ 218313 h 6211920"/>
              <a:gd name="connsiteX5564" fmla="*/ 3046160 w 9635294"/>
              <a:gd name="connsiteY5564" fmla="*/ 224542 h 6211920"/>
              <a:gd name="connsiteX5565" fmla="*/ 3047735 w 9635294"/>
              <a:gd name="connsiteY5565" fmla="*/ 230696 h 6211920"/>
              <a:gd name="connsiteX5566" fmla="*/ 3072296 w 9635294"/>
              <a:gd name="connsiteY5566" fmla="*/ 224473 h 6211920"/>
              <a:gd name="connsiteX5567" fmla="*/ 6563607 w 9635294"/>
              <a:gd name="connsiteY5567" fmla="*/ 215582 h 6211920"/>
              <a:gd name="connsiteX5568" fmla="*/ 6588182 w 9635294"/>
              <a:gd name="connsiteY5568" fmla="*/ 221825 h 6211920"/>
              <a:gd name="connsiteX5569" fmla="*/ 6587405 w 9635294"/>
              <a:gd name="connsiteY5569" fmla="*/ 224900 h 6211920"/>
              <a:gd name="connsiteX5570" fmla="*/ 6562828 w 9635294"/>
              <a:gd name="connsiteY5570" fmla="*/ 218668 h 6211920"/>
              <a:gd name="connsiteX5571" fmla="*/ 3069979 w 9635294"/>
              <a:gd name="connsiteY5571" fmla="*/ 215233 h 6211920"/>
              <a:gd name="connsiteX5572" fmla="*/ 3073071 w 9635294"/>
              <a:gd name="connsiteY5572" fmla="*/ 227546 h 6211920"/>
              <a:gd name="connsiteX5573" fmla="*/ 3048516 w 9635294"/>
              <a:gd name="connsiteY5573" fmla="*/ 233775 h 6211920"/>
              <a:gd name="connsiteX5574" fmla="*/ 3045371 w 9635294"/>
              <a:gd name="connsiteY5574" fmla="*/ 221469 h 6211920"/>
              <a:gd name="connsiteX5575" fmla="*/ 3069979 w 9635294"/>
              <a:gd name="connsiteY5575" fmla="*/ 215233 h 6211920"/>
              <a:gd name="connsiteX5576" fmla="*/ 6511983 w 9635294"/>
              <a:gd name="connsiteY5576" fmla="*/ 212598 h 6211920"/>
              <a:gd name="connsiteX5577" fmla="*/ 6536620 w 9635294"/>
              <a:gd name="connsiteY5577" fmla="*/ 218662 h 6211920"/>
              <a:gd name="connsiteX5578" fmla="*/ 6537951 w 9635294"/>
              <a:gd name="connsiteY5578" fmla="*/ 213284 h 6211920"/>
              <a:gd name="connsiteX5579" fmla="*/ 6535858 w 9635294"/>
              <a:gd name="connsiteY5579" fmla="*/ 221748 h 6211920"/>
              <a:gd name="connsiteX5580" fmla="*/ 6511220 w 9635294"/>
              <a:gd name="connsiteY5580" fmla="*/ 215684 h 6211920"/>
              <a:gd name="connsiteX5581" fmla="*/ 6538144 w 9635294"/>
              <a:gd name="connsiteY5581" fmla="*/ 212503 h 6211920"/>
              <a:gd name="connsiteX5582" fmla="*/ 6538144 w 9635294"/>
              <a:gd name="connsiteY5582" fmla="*/ 212503 h 6211920"/>
              <a:gd name="connsiteX5583" fmla="*/ 6537951 w 9635294"/>
              <a:gd name="connsiteY5583" fmla="*/ 213284 h 6211920"/>
              <a:gd name="connsiteX5584" fmla="*/ 3095374 w 9635294"/>
              <a:gd name="connsiteY5584" fmla="*/ 212166 h 6211920"/>
              <a:gd name="connsiteX5585" fmla="*/ 3096137 w 9635294"/>
              <a:gd name="connsiteY5585" fmla="*/ 215246 h 6211920"/>
              <a:gd name="connsiteX5586" fmla="*/ 3095372 w 9635294"/>
              <a:gd name="connsiteY5586" fmla="*/ 212166 h 6211920"/>
              <a:gd name="connsiteX5587" fmla="*/ 6513507 w 9635294"/>
              <a:gd name="connsiteY5587" fmla="*/ 206426 h 6211920"/>
              <a:gd name="connsiteX5588" fmla="*/ 6513508 w 9635294"/>
              <a:gd name="connsiteY5588" fmla="*/ 206427 h 6211920"/>
              <a:gd name="connsiteX5589" fmla="*/ 6511983 w 9635294"/>
              <a:gd name="connsiteY5589" fmla="*/ 212598 h 6211920"/>
              <a:gd name="connsiteX5590" fmla="*/ 6511982 w 9635294"/>
              <a:gd name="connsiteY5590" fmla="*/ 212598 h 6211920"/>
              <a:gd name="connsiteX5591" fmla="*/ 6488068 w 9635294"/>
              <a:gd name="connsiteY5591" fmla="*/ 203565 h 6211920"/>
              <a:gd name="connsiteX5592" fmla="*/ 6487344 w 9635294"/>
              <a:gd name="connsiteY5592" fmla="*/ 206623 h 6211920"/>
              <a:gd name="connsiteX5593" fmla="*/ 6487329 w 9635294"/>
              <a:gd name="connsiteY5593" fmla="*/ 206620 h 6211920"/>
              <a:gd name="connsiteX5594" fmla="*/ 6514269 w 9635294"/>
              <a:gd name="connsiteY5594" fmla="*/ 203346 h 6211920"/>
              <a:gd name="connsiteX5595" fmla="*/ 6538907 w 9635294"/>
              <a:gd name="connsiteY5595" fmla="*/ 209417 h 6211920"/>
              <a:gd name="connsiteX5596" fmla="*/ 6538144 w 9635294"/>
              <a:gd name="connsiteY5596" fmla="*/ 212503 h 6211920"/>
              <a:gd name="connsiteX5597" fmla="*/ 6513508 w 9635294"/>
              <a:gd name="connsiteY5597" fmla="*/ 206427 h 6211920"/>
              <a:gd name="connsiteX5598" fmla="*/ 3119279 w 9635294"/>
              <a:gd name="connsiteY5598" fmla="*/ 203016 h 6211920"/>
              <a:gd name="connsiteX5599" fmla="*/ 3122290 w 9635294"/>
              <a:gd name="connsiteY5599" fmla="*/ 215354 h 6211920"/>
              <a:gd name="connsiteX5600" fmla="*/ 3097665 w 9635294"/>
              <a:gd name="connsiteY5600" fmla="*/ 221412 h 6211920"/>
              <a:gd name="connsiteX5601" fmla="*/ 3096137 w 9635294"/>
              <a:gd name="connsiteY5601" fmla="*/ 215246 h 6211920"/>
              <a:gd name="connsiteX5602" fmla="*/ 3096902 w 9635294"/>
              <a:gd name="connsiteY5602" fmla="*/ 218326 h 6211920"/>
              <a:gd name="connsiteX5603" fmla="*/ 3121534 w 9635294"/>
              <a:gd name="connsiteY5603" fmla="*/ 212268 h 6211920"/>
              <a:gd name="connsiteX5604" fmla="*/ 3120028 w 9635294"/>
              <a:gd name="connsiteY5604" fmla="*/ 206102 h 6211920"/>
              <a:gd name="connsiteX5605" fmla="*/ 3095374 w 9635294"/>
              <a:gd name="connsiteY5605" fmla="*/ 212166 h 6211920"/>
              <a:gd name="connsiteX5606" fmla="*/ 3094609 w 9635294"/>
              <a:gd name="connsiteY5606" fmla="*/ 209080 h 6211920"/>
              <a:gd name="connsiteX5607" fmla="*/ 3119279 w 9635294"/>
              <a:gd name="connsiteY5607" fmla="*/ 203016 h 6211920"/>
              <a:gd name="connsiteX5608" fmla="*/ 3170067 w 9635294"/>
              <a:gd name="connsiteY5608" fmla="*/ 197349 h 6211920"/>
              <a:gd name="connsiteX5609" fmla="*/ 3170798 w 9635294"/>
              <a:gd name="connsiteY5609" fmla="*/ 200438 h 6211920"/>
              <a:gd name="connsiteX5610" fmla="*/ 3170797 w 9635294"/>
              <a:gd name="connsiteY5610" fmla="*/ 200438 h 6211920"/>
              <a:gd name="connsiteX5611" fmla="*/ 6464865 w 9635294"/>
              <a:gd name="connsiteY5611" fmla="*/ 191478 h 6211920"/>
              <a:gd name="connsiteX5612" fmla="*/ 6489567 w 9635294"/>
              <a:gd name="connsiteY5612" fmla="*/ 197364 h 6211920"/>
              <a:gd name="connsiteX5613" fmla="*/ 6488068 w 9635294"/>
              <a:gd name="connsiteY5613" fmla="*/ 203565 h 6211920"/>
              <a:gd name="connsiteX5614" fmla="*/ 6488805 w 9635294"/>
              <a:gd name="connsiteY5614" fmla="*/ 200450 h 6211920"/>
              <a:gd name="connsiteX5615" fmla="*/ 6464167 w 9635294"/>
              <a:gd name="connsiteY5615" fmla="*/ 194570 h 6211920"/>
              <a:gd name="connsiteX5616" fmla="*/ 6462707 w 9635294"/>
              <a:gd name="connsiteY5616" fmla="*/ 200749 h 6211920"/>
              <a:gd name="connsiteX5617" fmla="*/ 6487329 w 9635294"/>
              <a:gd name="connsiteY5617" fmla="*/ 206620 h 6211920"/>
              <a:gd name="connsiteX5618" fmla="*/ 6486582 w 9635294"/>
              <a:gd name="connsiteY5618" fmla="*/ 209709 h 6211920"/>
              <a:gd name="connsiteX5619" fmla="*/ 6461944 w 9635294"/>
              <a:gd name="connsiteY5619" fmla="*/ 203835 h 6211920"/>
              <a:gd name="connsiteX5620" fmla="*/ 3168607 w 9635294"/>
              <a:gd name="connsiteY5620" fmla="*/ 191167 h 6211920"/>
              <a:gd name="connsiteX5621" fmla="*/ 3170067 w 9635294"/>
              <a:gd name="connsiteY5621" fmla="*/ 197349 h 6211920"/>
              <a:gd name="connsiteX5622" fmla="*/ 3169337 w 9635294"/>
              <a:gd name="connsiteY5622" fmla="*/ 194259 h 6211920"/>
              <a:gd name="connsiteX5623" fmla="*/ 3144693 w 9635294"/>
              <a:gd name="connsiteY5623" fmla="*/ 200133 h 6211920"/>
              <a:gd name="connsiteX5624" fmla="*/ 3146178 w 9635294"/>
              <a:gd name="connsiteY5624" fmla="*/ 206305 h 6211920"/>
              <a:gd name="connsiteX5625" fmla="*/ 3170797 w 9635294"/>
              <a:gd name="connsiteY5625" fmla="*/ 200438 h 6211920"/>
              <a:gd name="connsiteX5626" fmla="*/ 3171528 w 9635294"/>
              <a:gd name="connsiteY5626" fmla="*/ 203530 h 6211920"/>
              <a:gd name="connsiteX5627" fmla="*/ 3146915 w 9635294"/>
              <a:gd name="connsiteY5627" fmla="*/ 209391 h 6211920"/>
              <a:gd name="connsiteX5628" fmla="*/ 3143950 w 9635294"/>
              <a:gd name="connsiteY5628" fmla="*/ 197047 h 6211920"/>
              <a:gd name="connsiteX5629" fmla="*/ 3168607 w 9635294"/>
              <a:gd name="connsiteY5629" fmla="*/ 191167 h 6211920"/>
              <a:gd name="connsiteX5630" fmla="*/ 6413303 w 9635294"/>
              <a:gd name="connsiteY5630" fmla="*/ 189249 h 6211920"/>
              <a:gd name="connsiteX5631" fmla="*/ 6438005 w 9635294"/>
              <a:gd name="connsiteY5631" fmla="*/ 194958 h 6211920"/>
              <a:gd name="connsiteX5632" fmla="*/ 6438749 w 9635294"/>
              <a:gd name="connsiteY5632" fmla="*/ 191808 h 6211920"/>
              <a:gd name="connsiteX5633" fmla="*/ 6437307 w 9635294"/>
              <a:gd name="connsiteY5633" fmla="*/ 198050 h 6211920"/>
              <a:gd name="connsiteX5634" fmla="*/ 6412605 w 9635294"/>
              <a:gd name="connsiteY5634" fmla="*/ 192341 h 6211920"/>
              <a:gd name="connsiteX5635" fmla="*/ 6439451 w 9635294"/>
              <a:gd name="connsiteY5635" fmla="*/ 188770 h 6211920"/>
              <a:gd name="connsiteX5636" fmla="*/ 6439465 w 9635294"/>
              <a:gd name="connsiteY5636" fmla="*/ 188773 h 6211920"/>
              <a:gd name="connsiteX5637" fmla="*/ 6438749 w 9635294"/>
              <a:gd name="connsiteY5637" fmla="*/ 191808 h 6211920"/>
              <a:gd name="connsiteX5638" fmla="*/ 3194021 w 9635294"/>
              <a:gd name="connsiteY5638" fmla="*/ 188474 h 6211920"/>
              <a:gd name="connsiteX5639" fmla="*/ 3195459 w 9635294"/>
              <a:gd name="connsiteY5639" fmla="*/ 194658 h 6211920"/>
              <a:gd name="connsiteX5640" fmla="*/ 3195454 w 9635294"/>
              <a:gd name="connsiteY5640" fmla="*/ 194659 h 6211920"/>
              <a:gd name="connsiteX5641" fmla="*/ 3194020 w 9635294"/>
              <a:gd name="connsiteY5641" fmla="*/ 188474 h 6211920"/>
              <a:gd name="connsiteX5642" fmla="*/ 6414700 w 9635294"/>
              <a:gd name="connsiteY5642" fmla="*/ 183058 h 6211920"/>
              <a:gd name="connsiteX5643" fmla="*/ 6414701 w 9635294"/>
              <a:gd name="connsiteY5643" fmla="*/ 183058 h 6211920"/>
              <a:gd name="connsiteX5644" fmla="*/ 6413303 w 9635294"/>
              <a:gd name="connsiteY5644" fmla="*/ 189249 h 6211920"/>
              <a:gd name="connsiteX5645" fmla="*/ 6413303 w 9635294"/>
              <a:gd name="connsiteY5645" fmla="*/ 189249 h 6211920"/>
              <a:gd name="connsiteX5646" fmla="*/ 6415399 w 9635294"/>
              <a:gd name="connsiteY5646" fmla="*/ 179965 h 6211920"/>
              <a:gd name="connsiteX5647" fmla="*/ 6440164 w 9635294"/>
              <a:gd name="connsiteY5647" fmla="*/ 185680 h 6211920"/>
              <a:gd name="connsiteX5648" fmla="*/ 6439451 w 9635294"/>
              <a:gd name="connsiteY5648" fmla="*/ 188770 h 6211920"/>
              <a:gd name="connsiteX5649" fmla="*/ 6414701 w 9635294"/>
              <a:gd name="connsiteY5649" fmla="*/ 183058 h 6211920"/>
              <a:gd name="connsiteX5650" fmla="*/ 3218023 w 9635294"/>
              <a:gd name="connsiteY5650" fmla="*/ 179673 h 6211920"/>
              <a:gd name="connsiteX5651" fmla="*/ 3220855 w 9635294"/>
              <a:gd name="connsiteY5651" fmla="*/ 192056 h 6211920"/>
              <a:gd name="connsiteX5652" fmla="*/ 3196179 w 9635294"/>
              <a:gd name="connsiteY5652" fmla="*/ 197752 h 6211920"/>
              <a:gd name="connsiteX5653" fmla="*/ 3195459 w 9635294"/>
              <a:gd name="connsiteY5653" fmla="*/ 194658 h 6211920"/>
              <a:gd name="connsiteX5654" fmla="*/ 3220143 w 9635294"/>
              <a:gd name="connsiteY5654" fmla="*/ 188963 h 6211920"/>
              <a:gd name="connsiteX5655" fmla="*/ 3218727 w 9635294"/>
              <a:gd name="connsiteY5655" fmla="*/ 182772 h 6211920"/>
              <a:gd name="connsiteX5656" fmla="*/ 3194021 w 9635294"/>
              <a:gd name="connsiteY5656" fmla="*/ 188474 h 6211920"/>
              <a:gd name="connsiteX5657" fmla="*/ 3193302 w 9635294"/>
              <a:gd name="connsiteY5657" fmla="*/ 185382 h 6211920"/>
              <a:gd name="connsiteX5658" fmla="*/ 3218023 w 9635294"/>
              <a:gd name="connsiteY5658" fmla="*/ 179673 h 6211920"/>
              <a:gd name="connsiteX5659" fmla="*/ 6389871 w 9635294"/>
              <a:gd name="connsiteY5659" fmla="*/ 177723 h 6211920"/>
              <a:gd name="connsiteX5660" fmla="*/ 6387840 w 9635294"/>
              <a:gd name="connsiteY5660" fmla="*/ 186728 h 6211920"/>
              <a:gd name="connsiteX5661" fmla="*/ 6363075 w 9635294"/>
              <a:gd name="connsiteY5661" fmla="*/ 181197 h 6211920"/>
              <a:gd name="connsiteX5662" fmla="*/ 6363774 w 9635294"/>
              <a:gd name="connsiteY5662" fmla="*/ 178098 h 6211920"/>
              <a:gd name="connsiteX5663" fmla="*/ 6388538 w 9635294"/>
              <a:gd name="connsiteY5663" fmla="*/ 183629 h 6211920"/>
              <a:gd name="connsiteX5664" fmla="*/ 6389935 w 9635294"/>
              <a:gd name="connsiteY5664" fmla="*/ 177438 h 6211920"/>
              <a:gd name="connsiteX5665" fmla="*/ 6389935 w 9635294"/>
              <a:gd name="connsiteY5665" fmla="*/ 177438 h 6211920"/>
              <a:gd name="connsiteX5666" fmla="*/ 6389871 w 9635294"/>
              <a:gd name="connsiteY5666" fmla="*/ 177723 h 6211920"/>
              <a:gd name="connsiteX5667" fmla="*/ 6365170 w 9635294"/>
              <a:gd name="connsiteY5667" fmla="*/ 171895 h 6211920"/>
              <a:gd name="connsiteX5668" fmla="*/ 6365171 w 9635294"/>
              <a:gd name="connsiteY5668" fmla="*/ 171896 h 6211920"/>
              <a:gd name="connsiteX5669" fmla="*/ 6363774 w 9635294"/>
              <a:gd name="connsiteY5669" fmla="*/ 178098 h 6211920"/>
              <a:gd name="connsiteX5670" fmla="*/ 6363773 w 9635294"/>
              <a:gd name="connsiteY5670" fmla="*/ 178098 h 6211920"/>
              <a:gd name="connsiteX5671" fmla="*/ 3268251 w 9635294"/>
              <a:gd name="connsiteY5671" fmla="*/ 171621 h 6211920"/>
              <a:gd name="connsiteX5672" fmla="*/ 3269120 w 9635294"/>
              <a:gd name="connsiteY5672" fmla="*/ 175550 h 6211920"/>
              <a:gd name="connsiteX5673" fmla="*/ 3268250 w 9635294"/>
              <a:gd name="connsiteY5673" fmla="*/ 171621 h 6211920"/>
              <a:gd name="connsiteX5674" fmla="*/ 6365869 w 9635294"/>
              <a:gd name="connsiteY5674" fmla="*/ 168796 h 6211920"/>
              <a:gd name="connsiteX5675" fmla="*/ 6390634 w 9635294"/>
              <a:gd name="connsiteY5675" fmla="*/ 174339 h 6211920"/>
              <a:gd name="connsiteX5676" fmla="*/ 6389935 w 9635294"/>
              <a:gd name="connsiteY5676" fmla="*/ 177438 h 6211920"/>
              <a:gd name="connsiteX5677" fmla="*/ 6365171 w 9635294"/>
              <a:gd name="connsiteY5677" fmla="*/ 171896 h 6211920"/>
              <a:gd name="connsiteX5678" fmla="*/ 3267565 w 9635294"/>
              <a:gd name="connsiteY5678" fmla="*/ 168523 h 6211920"/>
              <a:gd name="connsiteX5679" fmla="*/ 3268250 w 9635294"/>
              <a:gd name="connsiteY5679" fmla="*/ 171621 h 6211920"/>
              <a:gd name="connsiteX5680" fmla="*/ 3243473 w 9635294"/>
              <a:gd name="connsiteY5680" fmla="*/ 177152 h 6211920"/>
              <a:gd name="connsiteX5681" fmla="*/ 3244871 w 9635294"/>
              <a:gd name="connsiteY5681" fmla="*/ 183350 h 6211920"/>
              <a:gd name="connsiteX5682" fmla="*/ 3269623 w 9635294"/>
              <a:gd name="connsiteY5682" fmla="*/ 177825 h 6211920"/>
              <a:gd name="connsiteX5683" fmla="*/ 3269120 w 9635294"/>
              <a:gd name="connsiteY5683" fmla="*/ 175550 h 6211920"/>
              <a:gd name="connsiteX5684" fmla="*/ 3270309 w 9635294"/>
              <a:gd name="connsiteY5684" fmla="*/ 180924 h 6211920"/>
              <a:gd name="connsiteX5685" fmla="*/ 3245561 w 9635294"/>
              <a:gd name="connsiteY5685" fmla="*/ 186449 h 6211920"/>
              <a:gd name="connsiteX5686" fmla="*/ 3242775 w 9635294"/>
              <a:gd name="connsiteY5686" fmla="*/ 174060 h 6211920"/>
              <a:gd name="connsiteX5687" fmla="*/ 3267565 w 9635294"/>
              <a:gd name="connsiteY5687" fmla="*/ 168523 h 6211920"/>
              <a:gd name="connsiteX5688" fmla="*/ 6314209 w 9635294"/>
              <a:gd name="connsiteY5688" fmla="*/ 167310 h 6211920"/>
              <a:gd name="connsiteX5689" fmla="*/ 6338944 w 9635294"/>
              <a:gd name="connsiteY5689" fmla="*/ 172650 h 6211920"/>
              <a:gd name="connsiteX5690" fmla="*/ 6339639 w 9635294"/>
              <a:gd name="connsiteY5690" fmla="*/ 169569 h 6211920"/>
              <a:gd name="connsiteX5691" fmla="*/ 6338310 w 9635294"/>
              <a:gd name="connsiteY5691" fmla="*/ 175749 h 6211920"/>
              <a:gd name="connsiteX5692" fmla="*/ 6313544 w 9635294"/>
              <a:gd name="connsiteY5692" fmla="*/ 170402 h 6211920"/>
              <a:gd name="connsiteX5693" fmla="*/ 3293132 w 9635294"/>
              <a:gd name="connsiteY5693" fmla="*/ 166511 h 6211920"/>
              <a:gd name="connsiteX5694" fmla="*/ 3294410 w 9635294"/>
              <a:gd name="connsiteY5694" fmla="*/ 172383 h 6211920"/>
              <a:gd name="connsiteX5695" fmla="*/ 3294407 w 9635294"/>
              <a:gd name="connsiteY5695" fmla="*/ 172383 h 6211920"/>
              <a:gd name="connsiteX5696" fmla="*/ 6340311 w 9635294"/>
              <a:gd name="connsiteY5696" fmla="*/ 166440 h 6211920"/>
              <a:gd name="connsiteX5697" fmla="*/ 6340342 w 9635294"/>
              <a:gd name="connsiteY5697" fmla="*/ 166446 h 6211920"/>
              <a:gd name="connsiteX5698" fmla="*/ 6339639 w 9635294"/>
              <a:gd name="connsiteY5698" fmla="*/ 169569 h 6211920"/>
              <a:gd name="connsiteX5699" fmla="*/ 6315513 w 9635294"/>
              <a:gd name="connsiteY5699" fmla="*/ 161093 h 6211920"/>
              <a:gd name="connsiteX5700" fmla="*/ 6315543 w 9635294"/>
              <a:gd name="connsiteY5700" fmla="*/ 161100 h 6211920"/>
              <a:gd name="connsiteX5701" fmla="*/ 6314209 w 9635294"/>
              <a:gd name="connsiteY5701" fmla="*/ 167310 h 6211920"/>
              <a:gd name="connsiteX5702" fmla="*/ 6314180 w 9635294"/>
              <a:gd name="connsiteY5702" fmla="*/ 167303 h 6211920"/>
              <a:gd name="connsiteX5703" fmla="*/ 6316212 w 9635294"/>
              <a:gd name="connsiteY5703" fmla="*/ 157988 h 6211920"/>
              <a:gd name="connsiteX5704" fmla="*/ 6340977 w 9635294"/>
              <a:gd name="connsiteY5704" fmla="*/ 163341 h 6211920"/>
              <a:gd name="connsiteX5705" fmla="*/ 6340311 w 9635294"/>
              <a:gd name="connsiteY5705" fmla="*/ 166440 h 6211920"/>
              <a:gd name="connsiteX5706" fmla="*/ 6315543 w 9635294"/>
              <a:gd name="connsiteY5706" fmla="*/ 161100 h 6211920"/>
              <a:gd name="connsiteX5707" fmla="*/ 3317172 w 9635294"/>
              <a:gd name="connsiteY5707" fmla="*/ 157734 h 6211920"/>
              <a:gd name="connsiteX5708" fmla="*/ 3319826 w 9635294"/>
              <a:gd name="connsiteY5708" fmla="*/ 170148 h 6211920"/>
              <a:gd name="connsiteX5709" fmla="*/ 3295086 w 9635294"/>
              <a:gd name="connsiteY5709" fmla="*/ 175489 h 6211920"/>
              <a:gd name="connsiteX5710" fmla="*/ 3294410 w 9635294"/>
              <a:gd name="connsiteY5710" fmla="*/ 172383 h 6211920"/>
              <a:gd name="connsiteX5711" fmla="*/ 3319159 w 9635294"/>
              <a:gd name="connsiteY5711" fmla="*/ 167050 h 6211920"/>
              <a:gd name="connsiteX5712" fmla="*/ 3317832 w 9635294"/>
              <a:gd name="connsiteY5712" fmla="*/ 160839 h 6211920"/>
              <a:gd name="connsiteX5713" fmla="*/ 3293061 w 9635294"/>
              <a:gd name="connsiteY5713" fmla="*/ 166179 h 6211920"/>
              <a:gd name="connsiteX5714" fmla="*/ 3293132 w 9635294"/>
              <a:gd name="connsiteY5714" fmla="*/ 166511 h 6211920"/>
              <a:gd name="connsiteX5715" fmla="*/ 3292386 w 9635294"/>
              <a:gd name="connsiteY5715" fmla="*/ 163081 h 6211920"/>
              <a:gd name="connsiteX5716" fmla="*/ 3317172 w 9635294"/>
              <a:gd name="connsiteY5716" fmla="*/ 157734 h 6211920"/>
              <a:gd name="connsiteX5717" fmla="*/ 6264602 w 9635294"/>
              <a:gd name="connsiteY5717" fmla="*/ 156874 h 6211920"/>
              <a:gd name="connsiteX5718" fmla="*/ 6289415 w 9635294"/>
              <a:gd name="connsiteY5718" fmla="*/ 162046 h 6211920"/>
              <a:gd name="connsiteX5719" fmla="*/ 6290082 w 9635294"/>
              <a:gd name="connsiteY5719" fmla="*/ 158938 h 6211920"/>
              <a:gd name="connsiteX5720" fmla="*/ 6288780 w 9635294"/>
              <a:gd name="connsiteY5720" fmla="*/ 165151 h 6211920"/>
              <a:gd name="connsiteX5721" fmla="*/ 6263951 w 9635294"/>
              <a:gd name="connsiteY5721" fmla="*/ 159982 h 6211920"/>
              <a:gd name="connsiteX5722" fmla="*/ 6290733 w 9635294"/>
              <a:gd name="connsiteY5722" fmla="*/ 155826 h 6211920"/>
              <a:gd name="connsiteX5723" fmla="*/ 6290748 w 9635294"/>
              <a:gd name="connsiteY5723" fmla="*/ 155829 h 6211920"/>
              <a:gd name="connsiteX5724" fmla="*/ 6290082 w 9635294"/>
              <a:gd name="connsiteY5724" fmla="*/ 158938 h 6211920"/>
              <a:gd name="connsiteX5725" fmla="*/ 6265857 w 9635294"/>
              <a:gd name="connsiteY5725" fmla="*/ 150654 h 6211920"/>
              <a:gd name="connsiteX5726" fmla="*/ 6265902 w 9635294"/>
              <a:gd name="connsiteY5726" fmla="*/ 150664 h 6211920"/>
              <a:gd name="connsiteX5727" fmla="*/ 6264602 w 9635294"/>
              <a:gd name="connsiteY5727" fmla="*/ 156874 h 6211920"/>
              <a:gd name="connsiteX5728" fmla="*/ 6264586 w 9635294"/>
              <a:gd name="connsiteY5728" fmla="*/ 156870 h 6211920"/>
              <a:gd name="connsiteX5729" fmla="*/ 3367445 w 9635294"/>
              <a:gd name="connsiteY5729" fmla="*/ 150412 h 6211920"/>
              <a:gd name="connsiteX5730" fmla="*/ 3368445 w 9635294"/>
              <a:gd name="connsiteY5730" fmla="*/ 155270 h 6211920"/>
              <a:gd name="connsiteX5731" fmla="*/ 3367443 w 9635294"/>
              <a:gd name="connsiteY5731" fmla="*/ 150412 h 6211920"/>
              <a:gd name="connsiteX5732" fmla="*/ 6266555 w 9635294"/>
              <a:gd name="connsiteY5732" fmla="*/ 147542 h 6211920"/>
              <a:gd name="connsiteX5733" fmla="*/ 6291383 w 9635294"/>
              <a:gd name="connsiteY5733" fmla="*/ 152724 h 6211920"/>
              <a:gd name="connsiteX5734" fmla="*/ 6290733 w 9635294"/>
              <a:gd name="connsiteY5734" fmla="*/ 155826 h 6211920"/>
              <a:gd name="connsiteX5735" fmla="*/ 6265902 w 9635294"/>
              <a:gd name="connsiteY5735" fmla="*/ 150664 h 6211920"/>
              <a:gd name="connsiteX5736" fmla="*/ 3366803 w 9635294"/>
              <a:gd name="connsiteY5736" fmla="*/ 147307 h 6211920"/>
              <a:gd name="connsiteX5737" fmla="*/ 3367443 w 9635294"/>
              <a:gd name="connsiteY5737" fmla="*/ 150412 h 6211920"/>
              <a:gd name="connsiteX5738" fmla="*/ 3342622 w 9635294"/>
              <a:gd name="connsiteY5738" fmla="*/ 155581 h 6211920"/>
              <a:gd name="connsiteX5739" fmla="*/ 3343929 w 9635294"/>
              <a:gd name="connsiteY5739" fmla="*/ 161798 h 6211920"/>
              <a:gd name="connsiteX5740" fmla="*/ 3368727 w 9635294"/>
              <a:gd name="connsiteY5740" fmla="*/ 156636 h 6211920"/>
              <a:gd name="connsiteX5741" fmla="*/ 3368445 w 9635294"/>
              <a:gd name="connsiteY5741" fmla="*/ 155270 h 6211920"/>
              <a:gd name="connsiteX5742" fmla="*/ 3369368 w 9635294"/>
              <a:gd name="connsiteY5742" fmla="*/ 159741 h 6211920"/>
              <a:gd name="connsiteX5743" fmla="*/ 3344578 w 9635294"/>
              <a:gd name="connsiteY5743" fmla="*/ 164903 h 6211920"/>
              <a:gd name="connsiteX5744" fmla="*/ 3341968 w 9635294"/>
              <a:gd name="connsiteY5744" fmla="*/ 152476 h 6211920"/>
              <a:gd name="connsiteX5745" fmla="*/ 3366803 w 9635294"/>
              <a:gd name="connsiteY5745" fmla="*/ 147307 h 6211920"/>
              <a:gd name="connsiteX5746" fmla="*/ 3418412 w 9635294"/>
              <a:gd name="connsiteY5746" fmla="*/ 146565 h 6211920"/>
              <a:gd name="connsiteX5747" fmla="*/ 3419032 w 9635294"/>
              <a:gd name="connsiteY5747" fmla="*/ 149682 h 6211920"/>
              <a:gd name="connsiteX5748" fmla="*/ 3394183 w 9635294"/>
              <a:gd name="connsiteY5748" fmla="*/ 154667 h 6211920"/>
              <a:gd name="connsiteX5749" fmla="*/ 3392856 w 9635294"/>
              <a:gd name="connsiteY5749" fmla="*/ 148113 h 6211920"/>
              <a:gd name="connsiteX5750" fmla="*/ 3393556 w 9635294"/>
              <a:gd name="connsiteY5750" fmla="*/ 151555 h 6211920"/>
              <a:gd name="connsiteX5751" fmla="*/ 3392293 w 9635294"/>
              <a:gd name="connsiteY5751" fmla="*/ 145332 h 6211920"/>
              <a:gd name="connsiteX5752" fmla="*/ 3392856 w 9635294"/>
              <a:gd name="connsiteY5752" fmla="*/ 148113 h 6211920"/>
              <a:gd name="connsiteX5753" fmla="*/ 3392292 w 9635294"/>
              <a:gd name="connsiteY5753" fmla="*/ 145332 h 6211920"/>
              <a:gd name="connsiteX5754" fmla="*/ 6216136 w 9635294"/>
              <a:gd name="connsiteY5754" fmla="*/ 140557 h 6211920"/>
              <a:gd name="connsiteX5755" fmla="*/ 6214866 w 9635294"/>
              <a:gd name="connsiteY5755" fmla="*/ 146787 h 6211920"/>
              <a:gd name="connsiteX5756" fmla="*/ 6239757 w 9635294"/>
              <a:gd name="connsiteY5756" fmla="*/ 151784 h 6211920"/>
              <a:gd name="connsiteX5757" fmla="*/ 6241028 w 9635294"/>
              <a:gd name="connsiteY5757" fmla="*/ 145561 h 6211920"/>
              <a:gd name="connsiteX5758" fmla="*/ 6216136 w 9635294"/>
              <a:gd name="connsiteY5758" fmla="*/ 140557 h 6211920"/>
              <a:gd name="connsiteX5759" fmla="*/ 3417178 w 9635294"/>
              <a:gd name="connsiteY5759" fmla="*/ 140335 h 6211920"/>
              <a:gd name="connsiteX5760" fmla="*/ 3418416 w 9635294"/>
              <a:gd name="connsiteY5760" fmla="*/ 146564 h 6211920"/>
              <a:gd name="connsiteX5761" fmla="*/ 3418412 w 9635294"/>
              <a:gd name="connsiteY5761" fmla="*/ 146565 h 6211920"/>
              <a:gd name="connsiteX5762" fmla="*/ 3417173 w 9635294"/>
              <a:gd name="connsiteY5762" fmla="*/ 140336 h 6211920"/>
              <a:gd name="connsiteX5763" fmla="*/ 6190595 w 9635294"/>
              <a:gd name="connsiteY5763" fmla="*/ 138670 h 6211920"/>
              <a:gd name="connsiteX5764" fmla="*/ 6189974 w 9635294"/>
              <a:gd name="connsiteY5764" fmla="*/ 141872 h 6211920"/>
              <a:gd name="connsiteX5765" fmla="*/ 6189959 w 9635294"/>
              <a:gd name="connsiteY5765" fmla="*/ 141869 h 6211920"/>
              <a:gd name="connsiteX5766" fmla="*/ 6216707 w 9635294"/>
              <a:gd name="connsiteY5766" fmla="*/ 137446 h 6211920"/>
              <a:gd name="connsiteX5767" fmla="*/ 6241663 w 9635294"/>
              <a:gd name="connsiteY5767" fmla="*/ 142450 h 6211920"/>
              <a:gd name="connsiteX5768" fmla="*/ 6239123 w 9635294"/>
              <a:gd name="connsiteY5768" fmla="*/ 154896 h 6211920"/>
              <a:gd name="connsiteX5769" fmla="*/ 6214231 w 9635294"/>
              <a:gd name="connsiteY5769" fmla="*/ 149898 h 6211920"/>
              <a:gd name="connsiteX5770" fmla="*/ 3416555 w 9635294"/>
              <a:gd name="connsiteY5770" fmla="*/ 137224 h 6211920"/>
              <a:gd name="connsiteX5771" fmla="*/ 3417173 w 9635294"/>
              <a:gd name="connsiteY5771" fmla="*/ 140336 h 6211920"/>
              <a:gd name="connsiteX5772" fmla="*/ 3392293 w 9635294"/>
              <a:gd name="connsiteY5772" fmla="*/ 145332 h 6211920"/>
              <a:gd name="connsiteX5773" fmla="*/ 3391663 w 9635294"/>
              <a:gd name="connsiteY5773" fmla="*/ 142221 h 6211920"/>
              <a:gd name="connsiteX5774" fmla="*/ 3416555 w 9635294"/>
              <a:gd name="connsiteY5774" fmla="*/ 137224 h 6211920"/>
              <a:gd name="connsiteX5775" fmla="*/ 6165049 w 9635294"/>
              <a:gd name="connsiteY5775" fmla="*/ 137058 h 6211920"/>
              <a:gd name="connsiteX5776" fmla="*/ 6189959 w 9635294"/>
              <a:gd name="connsiteY5776" fmla="*/ 141869 h 6211920"/>
              <a:gd name="connsiteX5777" fmla="*/ 6189339 w 9635294"/>
              <a:gd name="connsiteY5777" fmla="*/ 144990 h 6211920"/>
              <a:gd name="connsiteX5778" fmla="*/ 6164447 w 9635294"/>
              <a:gd name="connsiteY5778" fmla="*/ 140170 h 6211920"/>
              <a:gd name="connsiteX5779" fmla="*/ 3468212 w 9635294"/>
              <a:gd name="connsiteY5779" fmla="*/ 136843 h 6211920"/>
              <a:gd name="connsiteX5780" fmla="*/ 3468810 w 9635294"/>
              <a:gd name="connsiteY5780" fmla="*/ 139967 h 6211920"/>
              <a:gd name="connsiteX5781" fmla="*/ 3443916 w 9635294"/>
              <a:gd name="connsiteY5781" fmla="*/ 144774 h 6211920"/>
              <a:gd name="connsiteX5782" fmla="*/ 3443309 w 9635294"/>
              <a:gd name="connsiteY5782" fmla="*/ 141662 h 6211920"/>
              <a:gd name="connsiteX5783" fmla="*/ 3442093 w 9635294"/>
              <a:gd name="connsiteY5783" fmla="*/ 135425 h 6211920"/>
              <a:gd name="connsiteX5784" fmla="*/ 3443309 w 9635294"/>
              <a:gd name="connsiteY5784" fmla="*/ 141662 h 6211920"/>
              <a:gd name="connsiteX5785" fmla="*/ 3443307 w 9635294"/>
              <a:gd name="connsiteY5785" fmla="*/ 141662 h 6211920"/>
              <a:gd name="connsiteX5786" fmla="*/ 3442088 w 9635294"/>
              <a:gd name="connsiteY5786" fmla="*/ 135426 h 6211920"/>
              <a:gd name="connsiteX5787" fmla="*/ 6166225 w 9635294"/>
              <a:gd name="connsiteY5787" fmla="*/ 130816 h 6211920"/>
              <a:gd name="connsiteX5788" fmla="*/ 6166256 w 9635294"/>
              <a:gd name="connsiteY5788" fmla="*/ 130822 h 6211920"/>
              <a:gd name="connsiteX5789" fmla="*/ 6165049 w 9635294"/>
              <a:gd name="connsiteY5789" fmla="*/ 137058 h 6211920"/>
              <a:gd name="connsiteX5790" fmla="*/ 6165019 w 9635294"/>
              <a:gd name="connsiteY5790" fmla="*/ 137052 h 6211920"/>
              <a:gd name="connsiteX5791" fmla="*/ 3467018 w 9635294"/>
              <a:gd name="connsiteY5791" fmla="*/ 130607 h 6211920"/>
              <a:gd name="connsiteX5792" fmla="*/ 3468213 w 9635294"/>
              <a:gd name="connsiteY5792" fmla="*/ 136843 h 6211920"/>
              <a:gd name="connsiteX5793" fmla="*/ 3468212 w 9635294"/>
              <a:gd name="connsiteY5793" fmla="*/ 136843 h 6211920"/>
              <a:gd name="connsiteX5794" fmla="*/ 3467018 w 9635294"/>
              <a:gd name="connsiteY5794" fmla="*/ 130607 h 6211920"/>
              <a:gd name="connsiteX5795" fmla="*/ 3492410 w 9635294"/>
              <a:gd name="connsiteY5795" fmla="*/ 128593 h 6211920"/>
              <a:gd name="connsiteX5796" fmla="*/ 3493076 w 9635294"/>
              <a:gd name="connsiteY5796" fmla="*/ 132131 h 6211920"/>
              <a:gd name="connsiteX5797" fmla="*/ 3493073 w 9635294"/>
              <a:gd name="connsiteY5797" fmla="*/ 132131 h 6211920"/>
              <a:gd name="connsiteX5798" fmla="*/ 6166860 w 9635294"/>
              <a:gd name="connsiteY5798" fmla="*/ 127699 h 6211920"/>
              <a:gd name="connsiteX5799" fmla="*/ 6191815 w 9635294"/>
              <a:gd name="connsiteY5799" fmla="*/ 132524 h 6211920"/>
              <a:gd name="connsiteX5800" fmla="*/ 6190595 w 9635294"/>
              <a:gd name="connsiteY5800" fmla="*/ 138670 h 6211920"/>
              <a:gd name="connsiteX5801" fmla="*/ 6191181 w 9635294"/>
              <a:gd name="connsiteY5801" fmla="*/ 135642 h 6211920"/>
              <a:gd name="connsiteX5802" fmla="*/ 6166256 w 9635294"/>
              <a:gd name="connsiteY5802" fmla="*/ 130822 h 6211920"/>
              <a:gd name="connsiteX5803" fmla="*/ 6115235 w 9635294"/>
              <a:gd name="connsiteY5803" fmla="*/ 127692 h 6211920"/>
              <a:gd name="connsiteX5804" fmla="*/ 6140127 w 9635294"/>
              <a:gd name="connsiteY5804" fmla="*/ 132328 h 6211920"/>
              <a:gd name="connsiteX5805" fmla="*/ 6140752 w 9635294"/>
              <a:gd name="connsiteY5805" fmla="*/ 129095 h 6211920"/>
              <a:gd name="connsiteX5806" fmla="*/ 6139555 w 9635294"/>
              <a:gd name="connsiteY5806" fmla="*/ 135452 h 6211920"/>
              <a:gd name="connsiteX5807" fmla="*/ 6114663 w 9635294"/>
              <a:gd name="connsiteY5807" fmla="*/ 130816 h 6211920"/>
              <a:gd name="connsiteX5808" fmla="*/ 3517968 w 9635294"/>
              <a:gd name="connsiteY5808" fmla="*/ 127503 h 6211920"/>
              <a:gd name="connsiteX5809" fmla="*/ 3518543 w 9635294"/>
              <a:gd name="connsiteY5809" fmla="*/ 130626 h 6211920"/>
              <a:gd name="connsiteX5810" fmla="*/ 3493663 w 9635294"/>
              <a:gd name="connsiteY5810" fmla="*/ 135249 h 6211920"/>
              <a:gd name="connsiteX5811" fmla="*/ 3493076 w 9635294"/>
              <a:gd name="connsiteY5811" fmla="*/ 132131 h 6211920"/>
              <a:gd name="connsiteX5812" fmla="*/ 3466422 w 9635294"/>
              <a:gd name="connsiteY5812" fmla="*/ 127489 h 6211920"/>
              <a:gd name="connsiteX5813" fmla="*/ 3467018 w 9635294"/>
              <a:gd name="connsiteY5813" fmla="*/ 130607 h 6211920"/>
              <a:gd name="connsiteX5814" fmla="*/ 3442093 w 9635294"/>
              <a:gd name="connsiteY5814" fmla="*/ 135425 h 6211920"/>
              <a:gd name="connsiteX5815" fmla="*/ 3441485 w 9635294"/>
              <a:gd name="connsiteY5815" fmla="*/ 132309 h 6211920"/>
              <a:gd name="connsiteX5816" fmla="*/ 3466422 w 9635294"/>
              <a:gd name="connsiteY5816" fmla="*/ 127489 h 6211920"/>
              <a:gd name="connsiteX5817" fmla="*/ 6141319 w 9635294"/>
              <a:gd name="connsiteY5817" fmla="*/ 126084 h 6211920"/>
              <a:gd name="connsiteX5818" fmla="*/ 6141333 w 9635294"/>
              <a:gd name="connsiteY5818" fmla="*/ 126086 h 6211920"/>
              <a:gd name="connsiteX5819" fmla="*/ 6140752 w 9635294"/>
              <a:gd name="connsiteY5819" fmla="*/ 129095 h 6211920"/>
              <a:gd name="connsiteX5820" fmla="*/ 6115789 w 9635294"/>
              <a:gd name="connsiteY5820" fmla="*/ 124663 h 6211920"/>
              <a:gd name="connsiteX5821" fmla="*/ 6115235 w 9635294"/>
              <a:gd name="connsiteY5821" fmla="*/ 127692 h 6211920"/>
              <a:gd name="connsiteX5822" fmla="*/ 6115234 w 9635294"/>
              <a:gd name="connsiteY5822" fmla="*/ 127692 h 6211920"/>
              <a:gd name="connsiteX5823" fmla="*/ 3516822 w 9635294"/>
              <a:gd name="connsiteY5823" fmla="*/ 121260 h 6211920"/>
              <a:gd name="connsiteX5824" fmla="*/ 3517971 w 9635294"/>
              <a:gd name="connsiteY5824" fmla="*/ 127502 h 6211920"/>
              <a:gd name="connsiteX5825" fmla="*/ 3517968 w 9635294"/>
              <a:gd name="connsiteY5825" fmla="*/ 127503 h 6211920"/>
              <a:gd name="connsiteX5826" fmla="*/ 3516819 w 9635294"/>
              <a:gd name="connsiteY5826" fmla="*/ 121261 h 6211920"/>
              <a:gd name="connsiteX5827" fmla="*/ 6090851 w 9635294"/>
              <a:gd name="connsiteY5827" fmla="*/ 120019 h 6211920"/>
              <a:gd name="connsiteX5828" fmla="*/ 6090279 w 9635294"/>
              <a:gd name="connsiteY5828" fmla="*/ 123146 h 6211920"/>
              <a:gd name="connsiteX5829" fmla="*/ 6090279 w 9635294"/>
              <a:gd name="connsiteY5829" fmla="*/ 123146 h 6211920"/>
              <a:gd name="connsiteX5830" fmla="*/ 6116949 w 9635294"/>
              <a:gd name="connsiteY5830" fmla="*/ 118326 h 6211920"/>
              <a:gd name="connsiteX5831" fmla="*/ 6141905 w 9635294"/>
              <a:gd name="connsiteY5831" fmla="*/ 122968 h 6211920"/>
              <a:gd name="connsiteX5832" fmla="*/ 6141319 w 9635294"/>
              <a:gd name="connsiteY5832" fmla="*/ 126084 h 6211920"/>
              <a:gd name="connsiteX5833" fmla="*/ 6116378 w 9635294"/>
              <a:gd name="connsiteY5833" fmla="*/ 121450 h 6211920"/>
              <a:gd name="connsiteX5834" fmla="*/ 6115789 w 9635294"/>
              <a:gd name="connsiteY5834" fmla="*/ 124663 h 6211920"/>
              <a:gd name="connsiteX5835" fmla="*/ 3516244 w 9635294"/>
              <a:gd name="connsiteY5835" fmla="*/ 118135 h 6211920"/>
              <a:gd name="connsiteX5836" fmla="*/ 3516819 w 9635294"/>
              <a:gd name="connsiteY5836" fmla="*/ 121261 h 6211920"/>
              <a:gd name="connsiteX5837" fmla="*/ 3491904 w 9635294"/>
              <a:gd name="connsiteY5837" fmla="*/ 125889 h 6211920"/>
              <a:gd name="connsiteX5838" fmla="*/ 3492410 w 9635294"/>
              <a:gd name="connsiteY5838" fmla="*/ 128593 h 6211920"/>
              <a:gd name="connsiteX5839" fmla="*/ 3491314 w 9635294"/>
              <a:gd name="connsiteY5839" fmla="*/ 122771 h 6211920"/>
              <a:gd name="connsiteX5840" fmla="*/ 3516244 w 9635294"/>
              <a:gd name="connsiteY5840" fmla="*/ 118135 h 6211920"/>
              <a:gd name="connsiteX5841" fmla="*/ 6065864 w 9635294"/>
              <a:gd name="connsiteY5841" fmla="*/ 115551 h 6211920"/>
              <a:gd name="connsiteX5842" fmla="*/ 6065323 w 9635294"/>
              <a:gd name="connsiteY5842" fmla="*/ 118682 h 6211920"/>
              <a:gd name="connsiteX5843" fmla="*/ 6090279 w 9635294"/>
              <a:gd name="connsiteY5843" fmla="*/ 123146 h 6211920"/>
              <a:gd name="connsiteX5844" fmla="*/ 6089707 w 9635294"/>
              <a:gd name="connsiteY5844" fmla="*/ 126270 h 6211920"/>
              <a:gd name="connsiteX5845" fmla="*/ 6064752 w 9635294"/>
              <a:gd name="connsiteY5845" fmla="*/ 121806 h 6211920"/>
              <a:gd name="connsiteX5846" fmla="*/ 6066403 w 9635294"/>
              <a:gd name="connsiteY5846" fmla="*/ 112427 h 6211920"/>
              <a:gd name="connsiteX5847" fmla="*/ 6066419 w 9635294"/>
              <a:gd name="connsiteY5847" fmla="*/ 112430 h 6211920"/>
              <a:gd name="connsiteX5848" fmla="*/ 6065864 w 9635294"/>
              <a:gd name="connsiteY5848" fmla="*/ 115551 h 6211920"/>
              <a:gd name="connsiteX5849" fmla="*/ 3566746 w 9635294"/>
              <a:gd name="connsiteY5849" fmla="*/ 112249 h 6211920"/>
              <a:gd name="connsiteX5850" fmla="*/ 3567850 w 9635294"/>
              <a:gd name="connsiteY5850" fmla="*/ 118504 h 6211920"/>
              <a:gd name="connsiteX5851" fmla="*/ 3567845 w 9635294"/>
              <a:gd name="connsiteY5851" fmla="*/ 118505 h 6211920"/>
              <a:gd name="connsiteX5852" fmla="*/ 3566739 w 9635294"/>
              <a:gd name="connsiteY5852" fmla="*/ 112250 h 6211920"/>
              <a:gd name="connsiteX5853" fmla="*/ 6066974 w 9635294"/>
              <a:gd name="connsiteY5853" fmla="*/ 109303 h 6211920"/>
              <a:gd name="connsiteX5854" fmla="*/ 6091994 w 9635294"/>
              <a:gd name="connsiteY5854" fmla="*/ 113767 h 6211920"/>
              <a:gd name="connsiteX5855" fmla="*/ 6090851 w 9635294"/>
              <a:gd name="connsiteY5855" fmla="*/ 120019 h 6211920"/>
              <a:gd name="connsiteX5856" fmla="*/ 6091422 w 9635294"/>
              <a:gd name="connsiteY5856" fmla="*/ 116891 h 6211920"/>
              <a:gd name="connsiteX5857" fmla="*/ 6066419 w 9635294"/>
              <a:gd name="connsiteY5857" fmla="*/ 112430 h 6211920"/>
              <a:gd name="connsiteX5858" fmla="*/ 3566186 w 9635294"/>
              <a:gd name="connsiteY5858" fmla="*/ 109125 h 6211920"/>
              <a:gd name="connsiteX5859" fmla="*/ 3566739 w 9635294"/>
              <a:gd name="connsiteY5859" fmla="*/ 112250 h 6211920"/>
              <a:gd name="connsiteX5860" fmla="*/ 3541765 w 9635294"/>
              <a:gd name="connsiteY5860" fmla="*/ 116713 h 6211920"/>
              <a:gd name="connsiteX5861" fmla="*/ 3542895 w 9635294"/>
              <a:gd name="connsiteY5861" fmla="*/ 122961 h 6211920"/>
              <a:gd name="connsiteX5862" fmla="*/ 3567845 w 9635294"/>
              <a:gd name="connsiteY5862" fmla="*/ 118505 h 6211920"/>
              <a:gd name="connsiteX5863" fmla="*/ 3568397 w 9635294"/>
              <a:gd name="connsiteY5863" fmla="*/ 121628 h 6211920"/>
              <a:gd name="connsiteX5864" fmla="*/ 3543453 w 9635294"/>
              <a:gd name="connsiteY5864" fmla="*/ 126086 h 6211920"/>
              <a:gd name="connsiteX5865" fmla="*/ 3541199 w 9635294"/>
              <a:gd name="connsiteY5865" fmla="*/ 113589 h 6211920"/>
              <a:gd name="connsiteX5866" fmla="*/ 3566186 w 9635294"/>
              <a:gd name="connsiteY5866" fmla="*/ 109125 h 6211920"/>
              <a:gd name="connsiteX5867" fmla="*/ 6015836 w 9635294"/>
              <a:gd name="connsiteY5867" fmla="*/ 106820 h 6211920"/>
              <a:gd name="connsiteX5868" fmla="*/ 6015301 w 9635294"/>
              <a:gd name="connsiteY5868" fmla="*/ 110017 h 6211920"/>
              <a:gd name="connsiteX5869" fmla="*/ 6015285 w 9635294"/>
              <a:gd name="connsiteY5869" fmla="*/ 110014 h 6211920"/>
              <a:gd name="connsiteX5870" fmla="*/ 3642492 w 9635294"/>
              <a:gd name="connsiteY5870" fmla="*/ 103616 h 6211920"/>
              <a:gd name="connsiteX5871" fmla="*/ 3642831 w 9635294"/>
              <a:gd name="connsiteY5871" fmla="*/ 105664 h 6211920"/>
              <a:gd name="connsiteX5872" fmla="*/ 3642831 w 9635294"/>
              <a:gd name="connsiteY5872" fmla="*/ 105664 h 6211920"/>
              <a:gd name="connsiteX5873" fmla="*/ 3616783 w 9635294"/>
              <a:gd name="connsiteY5873" fmla="*/ 103594 h 6211920"/>
              <a:gd name="connsiteX5874" fmla="*/ 3591751 w 9635294"/>
              <a:gd name="connsiteY5874" fmla="*/ 107880 h 6211920"/>
              <a:gd name="connsiteX5875" fmla="*/ 3592831 w 9635294"/>
              <a:gd name="connsiteY5875" fmla="*/ 114135 h 6211920"/>
              <a:gd name="connsiteX5876" fmla="*/ 3617844 w 9635294"/>
              <a:gd name="connsiteY5876" fmla="*/ 109855 h 6211920"/>
              <a:gd name="connsiteX5877" fmla="*/ 5965312 w 9635294"/>
              <a:gd name="connsiteY5877" fmla="*/ 101721 h 6211920"/>
              <a:gd name="connsiteX5878" fmla="*/ 5990267 w 9635294"/>
              <a:gd name="connsiteY5878" fmla="*/ 105823 h 6211920"/>
              <a:gd name="connsiteX5879" fmla="*/ 5990791 w 9635294"/>
              <a:gd name="connsiteY5879" fmla="*/ 102782 h 6211920"/>
              <a:gd name="connsiteX5880" fmla="*/ 5989758 w 9635294"/>
              <a:gd name="connsiteY5880" fmla="*/ 108953 h 6211920"/>
              <a:gd name="connsiteX5881" fmla="*/ 5964803 w 9635294"/>
              <a:gd name="connsiteY5881" fmla="*/ 104858 h 6211920"/>
              <a:gd name="connsiteX5882" fmla="*/ 3667807 w 9635294"/>
              <a:gd name="connsiteY5882" fmla="*/ 101576 h 6211920"/>
              <a:gd name="connsiteX5883" fmla="*/ 3668314 w 9635294"/>
              <a:gd name="connsiteY5883" fmla="*/ 104712 h 6211920"/>
              <a:gd name="connsiteX5884" fmla="*/ 3643351 w 9635294"/>
              <a:gd name="connsiteY5884" fmla="*/ 108801 h 6211920"/>
              <a:gd name="connsiteX5885" fmla="*/ 3642831 w 9635294"/>
              <a:gd name="connsiteY5885" fmla="*/ 105664 h 6211920"/>
              <a:gd name="connsiteX5886" fmla="*/ 6016873 w 9635294"/>
              <a:gd name="connsiteY5886" fmla="*/ 100622 h 6211920"/>
              <a:gd name="connsiteX5887" fmla="*/ 6041956 w 9635294"/>
              <a:gd name="connsiteY5887" fmla="*/ 104921 h 6211920"/>
              <a:gd name="connsiteX5888" fmla="*/ 6039796 w 9635294"/>
              <a:gd name="connsiteY5888" fmla="*/ 117431 h 6211920"/>
              <a:gd name="connsiteX5889" fmla="*/ 6014778 w 9635294"/>
              <a:gd name="connsiteY5889" fmla="*/ 113144 h 6211920"/>
              <a:gd name="connsiteX5890" fmla="*/ 6015301 w 9635294"/>
              <a:gd name="connsiteY5890" fmla="*/ 110017 h 6211920"/>
              <a:gd name="connsiteX5891" fmla="*/ 6040305 w 9635294"/>
              <a:gd name="connsiteY5891" fmla="*/ 114306 h 6211920"/>
              <a:gd name="connsiteX5892" fmla="*/ 6041384 w 9635294"/>
              <a:gd name="connsiteY5892" fmla="*/ 108045 h 6211920"/>
              <a:gd name="connsiteX5893" fmla="*/ 6016365 w 9635294"/>
              <a:gd name="connsiteY5893" fmla="*/ 103753 h 6211920"/>
              <a:gd name="connsiteX5894" fmla="*/ 6015836 w 9635294"/>
              <a:gd name="connsiteY5894" fmla="*/ 106820 h 6211920"/>
              <a:gd name="connsiteX5895" fmla="*/ 3616256 w 9635294"/>
              <a:gd name="connsiteY5895" fmla="*/ 100463 h 6211920"/>
              <a:gd name="connsiteX5896" fmla="*/ 3618376 w 9635294"/>
              <a:gd name="connsiteY5896" fmla="*/ 112986 h 6211920"/>
              <a:gd name="connsiteX5897" fmla="*/ 3593371 w 9635294"/>
              <a:gd name="connsiteY5897" fmla="*/ 117265 h 6211920"/>
              <a:gd name="connsiteX5898" fmla="*/ 3591205 w 9635294"/>
              <a:gd name="connsiteY5898" fmla="*/ 104750 h 6211920"/>
              <a:gd name="connsiteX5899" fmla="*/ 3616256 w 9635294"/>
              <a:gd name="connsiteY5899" fmla="*/ 100463 h 6211920"/>
              <a:gd name="connsiteX5900" fmla="*/ 5991331 w 9635294"/>
              <a:gd name="connsiteY5900" fmla="*/ 99553 h 6211920"/>
              <a:gd name="connsiteX5901" fmla="*/ 5991346 w 9635294"/>
              <a:gd name="connsiteY5901" fmla="*/ 99555 h 6211920"/>
              <a:gd name="connsiteX5902" fmla="*/ 5990791 w 9635294"/>
              <a:gd name="connsiteY5902" fmla="*/ 102782 h 6211920"/>
              <a:gd name="connsiteX5903" fmla="*/ 5966327 w 9635294"/>
              <a:gd name="connsiteY5903" fmla="*/ 95453 h 6211920"/>
              <a:gd name="connsiteX5904" fmla="*/ 5966328 w 9635294"/>
              <a:gd name="connsiteY5904" fmla="*/ 95453 h 6211920"/>
              <a:gd name="connsiteX5905" fmla="*/ 5965312 w 9635294"/>
              <a:gd name="connsiteY5905" fmla="*/ 101721 h 6211920"/>
              <a:gd name="connsiteX5906" fmla="*/ 5965311 w 9635294"/>
              <a:gd name="connsiteY5906" fmla="*/ 101721 h 6211920"/>
              <a:gd name="connsiteX5907" fmla="*/ 3666796 w 9635294"/>
              <a:gd name="connsiteY5907" fmla="*/ 95307 h 6211920"/>
              <a:gd name="connsiteX5908" fmla="*/ 3667812 w 9635294"/>
              <a:gd name="connsiteY5908" fmla="*/ 101575 h 6211920"/>
              <a:gd name="connsiteX5909" fmla="*/ 3667807 w 9635294"/>
              <a:gd name="connsiteY5909" fmla="*/ 101576 h 6211920"/>
              <a:gd name="connsiteX5910" fmla="*/ 3666794 w 9635294"/>
              <a:gd name="connsiteY5910" fmla="*/ 95307 h 6211920"/>
              <a:gd name="connsiteX5911" fmla="*/ 3717848 w 9635294"/>
              <a:gd name="connsiteY5911" fmla="*/ 93650 h 6211920"/>
              <a:gd name="connsiteX5912" fmla="*/ 3718333 w 9635294"/>
              <a:gd name="connsiteY5912" fmla="*/ 96787 h 6211920"/>
              <a:gd name="connsiteX5913" fmla="*/ 3693313 w 9635294"/>
              <a:gd name="connsiteY5913" fmla="*/ 100705 h 6211920"/>
              <a:gd name="connsiteX5914" fmla="*/ 3692816 w 9635294"/>
              <a:gd name="connsiteY5914" fmla="*/ 97568 h 6211920"/>
              <a:gd name="connsiteX5915" fmla="*/ 5966835 w 9635294"/>
              <a:gd name="connsiteY5915" fmla="*/ 92323 h 6211920"/>
              <a:gd name="connsiteX5916" fmla="*/ 5991854 w 9635294"/>
              <a:gd name="connsiteY5916" fmla="*/ 96425 h 6211920"/>
              <a:gd name="connsiteX5917" fmla="*/ 5991331 w 9635294"/>
              <a:gd name="connsiteY5917" fmla="*/ 99553 h 6211920"/>
              <a:gd name="connsiteX5918" fmla="*/ 5966328 w 9635294"/>
              <a:gd name="connsiteY5918" fmla="*/ 95453 h 6211920"/>
              <a:gd name="connsiteX5919" fmla="*/ 3666287 w 9635294"/>
              <a:gd name="connsiteY5919" fmla="*/ 92170 h 6211920"/>
              <a:gd name="connsiteX5920" fmla="*/ 3666794 w 9635294"/>
              <a:gd name="connsiteY5920" fmla="*/ 95307 h 6211920"/>
              <a:gd name="connsiteX5921" fmla="*/ 3641796 w 9635294"/>
              <a:gd name="connsiteY5921" fmla="*/ 99403 h 6211920"/>
              <a:gd name="connsiteX5922" fmla="*/ 3642492 w 9635294"/>
              <a:gd name="connsiteY5922" fmla="*/ 103616 h 6211920"/>
              <a:gd name="connsiteX5923" fmla="*/ 3641275 w 9635294"/>
              <a:gd name="connsiteY5923" fmla="*/ 96272 h 6211920"/>
              <a:gd name="connsiteX5924" fmla="*/ 3666287 w 9635294"/>
              <a:gd name="connsiteY5924" fmla="*/ 92170 h 6211920"/>
              <a:gd name="connsiteX5925" fmla="*/ 3691822 w 9635294"/>
              <a:gd name="connsiteY5925" fmla="*/ 91294 h 6211920"/>
              <a:gd name="connsiteX5926" fmla="*/ 3692816 w 9635294"/>
              <a:gd name="connsiteY5926" fmla="*/ 97568 h 6211920"/>
              <a:gd name="connsiteX5927" fmla="*/ 3692812 w 9635294"/>
              <a:gd name="connsiteY5927" fmla="*/ 97568 h 6211920"/>
              <a:gd name="connsiteX5928" fmla="*/ 3691822 w 9635294"/>
              <a:gd name="connsiteY5928" fmla="*/ 91294 h 6211920"/>
              <a:gd name="connsiteX5929" fmla="*/ 3717364 w 9635294"/>
              <a:gd name="connsiteY5929" fmla="*/ 90513 h 6211920"/>
              <a:gd name="connsiteX5930" fmla="*/ 3717850 w 9635294"/>
              <a:gd name="connsiteY5930" fmla="*/ 93650 h 6211920"/>
              <a:gd name="connsiteX5931" fmla="*/ 3717848 w 9635294"/>
              <a:gd name="connsiteY5931" fmla="*/ 93650 h 6211920"/>
              <a:gd name="connsiteX5932" fmla="*/ 5916162 w 9635294"/>
              <a:gd name="connsiteY5932" fmla="*/ 87509 h 6211920"/>
              <a:gd name="connsiteX5933" fmla="*/ 5916178 w 9635294"/>
              <a:gd name="connsiteY5933" fmla="*/ 87512 h 6211920"/>
              <a:gd name="connsiteX5934" fmla="*/ 5915672 w 9635294"/>
              <a:gd name="connsiteY5934" fmla="*/ 90736 h 6211920"/>
              <a:gd name="connsiteX5935" fmla="*/ 5864997 w 9635294"/>
              <a:gd name="connsiteY5935" fmla="*/ 86197 h 6211920"/>
              <a:gd name="connsiteX5936" fmla="*/ 5890096 w 9635294"/>
              <a:gd name="connsiteY5936" fmla="*/ 89944 h 6211920"/>
              <a:gd name="connsiteX5937" fmla="*/ 5889619 w 9635294"/>
              <a:gd name="connsiteY5937" fmla="*/ 93085 h 6211920"/>
              <a:gd name="connsiteX5938" fmla="*/ 5864536 w 9635294"/>
              <a:gd name="connsiteY5938" fmla="*/ 89338 h 6211920"/>
              <a:gd name="connsiteX5939" fmla="*/ 3768009 w 9635294"/>
              <a:gd name="connsiteY5939" fmla="*/ 86074 h 6211920"/>
              <a:gd name="connsiteX5940" fmla="*/ 3768472 w 9635294"/>
              <a:gd name="connsiteY5940" fmla="*/ 89211 h 6211920"/>
              <a:gd name="connsiteX5941" fmla="*/ 3743389 w 9635294"/>
              <a:gd name="connsiteY5941" fmla="*/ 92958 h 6211920"/>
              <a:gd name="connsiteX5942" fmla="*/ 3742914 w 9635294"/>
              <a:gd name="connsiteY5942" fmla="*/ 89814 h 6211920"/>
              <a:gd name="connsiteX5943" fmla="*/ 3742282 w 9635294"/>
              <a:gd name="connsiteY5943" fmla="*/ 85632 h 6211920"/>
              <a:gd name="connsiteX5944" fmla="*/ 3742914 w 9635294"/>
              <a:gd name="connsiteY5944" fmla="*/ 89814 h 6211920"/>
              <a:gd name="connsiteX5945" fmla="*/ 3742912 w 9635294"/>
              <a:gd name="connsiteY5945" fmla="*/ 89814 h 6211920"/>
              <a:gd name="connsiteX5946" fmla="*/ 5916670 w 9635294"/>
              <a:gd name="connsiteY5946" fmla="*/ 84372 h 6211920"/>
              <a:gd name="connsiteX5947" fmla="*/ 5941753 w 9635294"/>
              <a:gd name="connsiteY5947" fmla="*/ 88303 h 6211920"/>
              <a:gd name="connsiteX5948" fmla="*/ 5939784 w 9635294"/>
              <a:gd name="connsiteY5948" fmla="*/ 100844 h 6211920"/>
              <a:gd name="connsiteX5949" fmla="*/ 5914702 w 9635294"/>
              <a:gd name="connsiteY5949" fmla="*/ 96920 h 6211920"/>
              <a:gd name="connsiteX5950" fmla="*/ 5915672 w 9635294"/>
              <a:gd name="connsiteY5950" fmla="*/ 90736 h 6211920"/>
              <a:gd name="connsiteX5951" fmla="*/ 5915209 w 9635294"/>
              <a:gd name="connsiteY5951" fmla="*/ 93783 h 6211920"/>
              <a:gd name="connsiteX5952" fmla="*/ 5940229 w 9635294"/>
              <a:gd name="connsiteY5952" fmla="*/ 97707 h 6211920"/>
              <a:gd name="connsiteX5953" fmla="*/ 5941244 w 9635294"/>
              <a:gd name="connsiteY5953" fmla="*/ 91440 h 6211920"/>
              <a:gd name="connsiteX5954" fmla="*/ 5916178 w 9635294"/>
              <a:gd name="connsiteY5954" fmla="*/ 87512 h 6211920"/>
              <a:gd name="connsiteX5955" fmla="*/ 3716395 w 9635294"/>
              <a:gd name="connsiteY5955" fmla="*/ 84239 h 6211920"/>
              <a:gd name="connsiteX5956" fmla="*/ 3717364 w 9635294"/>
              <a:gd name="connsiteY5956" fmla="*/ 90513 h 6211920"/>
              <a:gd name="connsiteX5957" fmla="*/ 3716878 w 9635294"/>
              <a:gd name="connsiteY5957" fmla="*/ 87376 h 6211920"/>
              <a:gd name="connsiteX5958" fmla="*/ 3691822 w 9635294"/>
              <a:gd name="connsiteY5958" fmla="*/ 91294 h 6211920"/>
              <a:gd name="connsiteX5959" fmla="*/ 3691325 w 9635294"/>
              <a:gd name="connsiteY5959" fmla="*/ 88163 h 6211920"/>
              <a:gd name="connsiteX5960" fmla="*/ 3716395 w 9635294"/>
              <a:gd name="connsiteY5960" fmla="*/ 84239 h 6211920"/>
              <a:gd name="connsiteX5961" fmla="*/ 5891049 w 9635294"/>
              <a:gd name="connsiteY5961" fmla="*/ 83664 h 6211920"/>
              <a:gd name="connsiteX5962" fmla="*/ 5891080 w 9635294"/>
              <a:gd name="connsiteY5962" fmla="*/ 83668 h 6211920"/>
              <a:gd name="connsiteX5963" fmla="*/ 5890127 w 9635294"/>
              <a:gd name="connsiteY5963" fmla="*/ 89948 h 6211920"/>
              <a:gd name="connsiteX5964" fmla="*/ 5890096 w 9635294"/>
              <a:gd name="connsiteY5964" fmla="*/ 89944 h 6211920"/>
              <a:gd name="connsiteX5965" fmla="*/ 5865455 w 9635294"/>
              <a:gd name="connsiteY5965" fmla="*/ 83069 h 6211920"/>
              <a:gd name="connsiteX5966" fmla="*/ 5864997 w 9635294"/>
              <a:gd name="connsiteY5966" fmla="*/ 86197 h 6211920"/>
              <a:gd name="connsiteX5967" fmla="*/ 5864981 w 9635294"/>
              <a:gd name="connsiteY5967" fmla="*/ 86195 h 6211920"/>
              <a:gd name="connsiteX5968" fmla="*/ 3767082 w 9635294"/>
              <a:gd name="connsiteY5968" fmla="*/ 79788 h 6211920"/>
              <a:gd name="connsiteX5969" fmla="*/ 3768009 w 9635294"/>
              <a:gd name="connsiteY5969" fmla="*/ 86074 h 6211920"/>
              <a:gd name="connsiteX5970" fmla="*/ 3768009 w 9635294"/>
              <a:gd name="connsiteY5970" fmla="*/ 86074 h 6211920"/>
              <a:gd name="connsiteX5971" fmla="*/ 3767081 w 9635294"/>
              <a:gd name="connsiteY5971" fmla="*/ 79788 h 6211920"/>
              <a:gd name="connsiteX5972" fmla="*/ 3818179 w 9635294"/>
              <a:gd name="connsiteY5972" fmla="*/ 78861 h 6211920"/>
              <a:gd name="connsiteX5973" fmla="*/ 3818619 w 9635294"/>
              <a:gd name="connsiteY5973" fmla="*/ 82004 h 6211920"/>
              <a:gd name="connsiteX5974" fmla="*/ 3793580 w 9635294"/>
              <a:gd name="connsiteY5974" fmla="*/ 85560 h 6211920"/>
              <a:gd name="connsiteX5975" fmla="*/ 3792830 w 9635294"/>
              <a:gd name="connsiteY5975" fmla="*/ 80347 h 6211920"/>
              <a:gd name="connsiteX5976" fmla="*/ 3793128 w 9635294"/>
              <a:gd name="connsiteY5976" fmla="*/ 82417 h 6211920"/>
              <a:gd name="connsiteX5977" fmla="*/ 5866378 w 9635294"/>
              <a:gd name="connsiteY5977" fmla="*/ 76771 h 6211920"/>
              <a:gd name="connsiteX5978" fmla="*/ 5891524 w 9635294"/>
              <a:gd name="connsiteY5978" fmla="*/ 80531 h 6211920"/>
              <a:gd name="connsiteX5979" fmla="*/ 5891049 w 9635294"/>
              <a:gd name="connsiteY5979" fmla="*/ 83664 h 6211920"/>
              <a:gd name="connsiteX5980" fmla="*/ 5865933 w 9635294"/>
              <a:gd name="connsiteY5980" fmla="*/ 79915 h 6211920"/>
              <a:gd name="connsiteX5981" fmla="*/ 5865455 w 9635294"/>
              <a:gd name="connsiteY5981" fmla="*/ 83069 h 6211920"/>
              <a:gd name="connsiteX5982" fmla="*/ 3766617 w 9635294"/>
              <a:gd name="connsiteY5982" fmla="*/ 76651 h 6211920"/>
              <a:gd name="connsiteX5983" fmla="*/ 3767081 w 9635294"/>
              <a:gd name="connsiteY5983" fmla="*/ 79788 h 6211920"/>
              <a:gd name="connsiteX5984" fmla="*/ 3741967 w 9635294"/>
              <a:gd name="connsiteY5984" fmla="*/ 83541 h 6211920"/>
              <a:gd name="connsiteX5985" fmla="*/ 3742282 w 9635294"/>
              <a:gd name="connsiteY5985" fmla="*/ 85632 h 6211920"/>
              <a:gd name="connsiteX5986" fmla="*/ 3741490 w 9635294"/>
              <a:gd name="connsiteY5986" fmla="*/ 80397 h 6211920"/>
              <a:gd name="connsiteX5987" fmla="*/ 3766617 w 9635294"/>
              <a:gd name="connsiteY5987" fmla="*/ 76651 h 6211920"/>
              <a:gd name="connsiteX5988" fmla="*/ 5840772 w 9635294"/>
              <a:gd name="connsiteY5988" fmla="*/ 76242 h 6211920"/>
              <a:gd name="connsiteX5989" fmla="*/ 5840788 w 9635294"/>
              <a:gd name="connsiteY5989" fmla="*/ 76244 h 6211920"/>
              <a:gd name="connsiteX5990" fmla="*/ 5840312 w 9635294"/>
              <a:gd name="connsiteY5990" fmla="*/ 79384 h 6211920"/>
              <a:gd name="connsiteX5991" fmla="*/ 3792223 w 9635294"/>
              <a:gd name="connsiteY5991" fmla="*/ 76130 h 6211920"/>
              <a:gd name="connsiteX5992" fmla="*/ 3792830 w 9635294"/>
              <a:gd name="connsiteY5992" fmla="*/ 80347 h 6211920"/>
              <a:gd name="connsiteX5993" fmla="*/ 3792221 w 9635294"/>
              <a:gd name="connsiteY5993" fmla="*/ 76130 h 6211920"/>
              <a:gd name="connsiteX5994" fmla="*/ 3817749 w 9635294"/>
              <a:gd name="connsiteY5994" fmla="*/ 75788 h 6211920"/>
              <a:gd name="connsiteX5995" fmla="*/ 3818180 w 9635294"/>
              <a:gd name="connsiteY5995" fmla="*/ 78861 h 6211920"/>
              <a:gd name="connsiteX5996" fmla="*/ 3818179 w 9635294"/>
              <a:gd name="connsiteY5996" fmla="*/ 78861 h 6211920"/>
              <a:gd name="connsiteX5997" fmla="*/ 3868303 w 9635294"/>
              <a:gd name="connsiteY5997" fmla="*/ 71599 h 6211920"/>
              <a:gd name="connsiteX5998" fmla="*/ 3868777 w 9635294"/>
              <a:gd name="connsiteY5998" fmla="*/ 75152 h 6211920"/>
              <a:gd name="connsiteX5999" fmla="*/ 3843681 w 9635294"/>
              <a:gd name="connsiteY5999" fmla="*/ 78537 h 6211920"/>
              <a:gd name="connsiteX6000" fmla="*/ 3842751 w 9635294"/>
              <a:gd name="connsiteY6000" fmla="*/ 71709 h 6211920"/>
              <a:gd name="connsiteX6001" fmla="*/ 3843255 w 9635294"/>
              <a:gd name="connsiteY6001" fmla="*/ 75387 h 6211920"/>
              <a:gd name="connsiteX6002" fmla="*/ 3868358 w 9635294"/>
              <a:gd name="connsiteY6002" fmla="*/ 72009 h 6211920"/>
              <a:gd name="connsiteX6003" fmla="*/ 5816086 w 9635294"/>
              <a:gd name="connsiteY6003" fmla="*/ 69539 h 6211920"/>
              <a:gd name="connsiteX6004" fmla="*/ 5841232 w 9635294"/>
              <a:gd name="connsiteY6004" fmla="*/ 73101 h 6211920"/>
              <a:gd name="connsiteX6005" fmla="*/ 5840772 w 9635294"/>
              <a:gd name="connsiteY6005" fmla="*/ 76242 h 6211920"/>
              <a:gd name="connsiteX6006" fmla="*/ 5815705 w 9635294"/>
              <a:gd name="connsiteY6006" fmla="*/ 72682 h 6211920"/>
              <a:gd name="connsiteX6007" fmla="*/ 5814816 w 9635294"/>
              <a:gd name="connsiteY6007" fmla="*/ 78969 h 6211920"/>
              <a:gd name="connsiteX6008" fmla="*/ 5839835 w 9635294"/>
              <a:gd name="connsiteY6008" fmla="*/ 82531 h 6211920"/>
              <a:gd name="connsiteX6009" fmla="*/ 5840312 w 9635294"/>
              <a:gd name="connsiteY6009" fmla="*/ 79384 h 6211920"/>
              <a:gd name="connsiteX6010" fmla="*/ 5839391 w 9635294"/>
              <a:gd name="connsiteY6010" fmla="*/ 85674 h 6211920"/>
              <a:gd name="connsiteX6011" fmla="*/ 5814371 w 9635294"/>
              <a:gd name="connsiteY6011" fmla="*/ 82112 h 6211920"/>
              <a:gd name="connsiteX6012" fmla="*/ 3816859 w 9635294"/>
              <a:gd name="connsiteY6012" fmla="*/ 69425 h 6211920"/>
              <a:gd name="connsiteX6013" fmla="*/ 3817749 w 9635294"/>
              <a:gd name="connsiteY6013" fmla="*/ 75788 h 6211920"/>
              <a:gd name="connsiteX6014" fmla="*/ 3817298 w 9635294"/>
              <a:gd name="connsiteY6014" fmla="*/ 72568 h 6211920"/>
              <a:gd name="connsiteX6015" fmla="*/ 3792223 w 9635294"/>
              <a:gd name="connsiteY6015" fmla="*/ 76130 h 6211920"/>
              <a:gd name="connsiteX6016" fmla="*/ 3791771 w 9635294"/>
              <a:gd name="connsiteY6016" fmla="*/ 72987 h 6211920"/>
              <a:gd name="connsiteX6017" fmla="*/ 3816859 w 9635294"/>
              <a:gd name="connsiteY6017" fmla="*/ 69425 h 6211920"/>
              <a:gd name="connsiteX6018" fmla="*/ 3842395 w 9635294"/>
              <a:gd name="connsiteY6018" fmla="*/ 69094 h 6211920"/>
              <a:gd name="connsiteX6019" fmla="*/ 3842751 w 9635294"/>
              <a:gd name="connsiteY6019" fmla="*/ 71709 h 6211920"/>
              <a:gd name="connsiteX6020" fmla="*/ 3842392 w 9635294"/>
              <a:gd name="connsiteY6020" fmla="*/ 69094 h 6211920"/>
              <a:gd name="connsiteX6021" fmla="*/ 5765413 w 9635294"/>
              <a:gd name="connsiteY6021" fmla="*/ 65811 h 6211920"/>
              <a:gd name="connsiteX6022" fmla="*/ 5765429 w 9635294"/>
              <a:gd name="connsiteY6022" fmla="*/ 65813 h 6211920"/>
              <a:gd name="connsiteX6023" fmla="*/ 5765011 w 9635294"/>
              <a:gd name="connsiteY6023" fmla="*/ 68879 h 6211920"/>
              <a:gd name="connsiteX6024" fmla="*/ 3867520 w 9635294"/>
              <a:gd name="connsiteY6024" fmla="*/ 65710 h 6211920"/>
              <a:gd name="connsiteX6025" fmla="*/ 3868303 w 9635294"/>
              <a:gd name="connsiteY6025" fmla="*/ 71599 h 6211920"/>
              <a:gd name="connsiteX6026" fmla="*/ 3867518 w 9635294"/>
              <a:gd name="connsiteY6026" fmla="*/ 65710 h 6211920"/>
              <a:gd name="connsiteX6027" fmla="*/ 5714248 w 9635294"/>
              <a:gd name="connsiteY6027" fmla="*/ 65598 h 6211920"/>
              <a:gd name="connsiteX6028" fmla="*/ 5739410 w 9635294"/>
              <a:gd name="connsiteY6028" fmla="*/ 68805 h 6211920"/>
              <a:gd name="connsiteX6029" fmla="*/ 5738997 w 9635294"/>
              <a:gd name="connsiteY6029" fmla="*/ 71958 h 6211920"/>
              <a:gd name="connsiteX6030" fmla="*/ 5713851 w 9635294"/>
              <a:gd name="connsiteY6030" fmla="*/ 68745 h 6211920"/>
              <a:gd name="connsiteX6031" fmla="*/ 3892989 w 9635294"/>
              <a:gd name="connsiteY6031" fmla="*/ 64876 h 6211920"/>
              <a:gd name="connsiteX6032" fmla="*/ 3893485 w 9635294"/>
              <a:gd name="connsiteY6032" fmla="*/ 68713 h 6211920"/>
              <a:gd name="connsiteX6033" fmla="*/ 3918641 w 9635294"/>
              <a:gd name="connsiteY6033" fmla="*/ 65507 h 6211920"/>
              <a:gd name="connsiteX6034" fmla="*/ 3919036 w 9635294"/>
              <a:gd name="connsiteY6034" fmla="*/ 68656 h 6211920"/>
              <a:gd name="connsiteX6035" fmla="*/ 3893891 w 9635294"/>
              <a:gd name="connsiteY6035" fmla="*/ 71863 h 6211920"/>
              <a:gd name="connsiteX6036" fmla="*/ 3918375 w 9635294"/>
              <a:gd name="connsiteY6036" fmla="*/ 63385 h 6211920"/>
              <a:gd name="connsiteX6037" fmla="*/ 3918642 w 9635294"/>
              <a:gd name="connsiteY6037" fmla="*/ 65507 h 6211920"/>
              <a:gd name="connsiteX6038" fmla="*/ 3918641 w 9635294"/>
              <a:gd name="connsiteY6038" fmla="*/ 65507 h 6211920"/>
              <a:gd name="connsiteX6039" fmla="*/ 5765857 w 9635294"/>
              <a:gd name="connsiteY6039" fmla="*/ 62668 h 6211920"/>
              <a:gd name="connsiteX6040" fmla="*/ 5791004 w 9635294"/>
              <a:gd name="connsiteY6040" fmla="*/ 66059 h 6211920"/>
              <a:gd name="connsiteX6041" fmla="*/ 5789289 w 9635294"/>
              <a:gd name="connsiteY6041" fmla="*/ 78638 h 6211920"/>
              <a:gd name="connsiteX6042" fmla="*/ 5764143 w 9635294"/>
              <a:gd name="connsiteY6042" fmla="*/ 75254 h 6211920"/>
              <a:gd name="connsiteX6043" fmla="*/ 5765011 w 9635294"/>
              <a:gd name="connsiteY6043" fmla="*/ 68879 h 6211920"/>
              <a:gd name="connsiteX6044" fmla="*/ 5764588 w 9635294"/>
              <a:gd name="connsiteY6044" fmla="*/ 72111 h 6211920"/>
              <a:gd name="connsiteX6045" fmla="*/ 5789670 w 9635294"/>
              <a:gd name="connsiteY6045" fmla="*/ 75495 h 6211920"/>
              <a:gd name="connsiteX6046" fmla="*/ 5790559 w 9635294"/>
              <a:gd name="connsiteY6046" fmla="*/ 69202 h 6211920"/>
              <a:gd name="connsiteX6047" fmla="*/ 5765429 w 9635294"/>
              <a:gd name="connsiteY6047" fmla="*/ 65813 h 6211920"/>
              <a:gd name="connsiteX6048" fmla="*/ 3867100 w 9635294"/>
              <a:gd name="connsiteY6048" fmla="*/ 62567 h 6211920"/>
              <a:gd name="connsiteX6049" fmla="*/ 3867518 w 9635294"/>
              <a:gd name="connsiteY6049" fmla="*/ 65710 h 6211920"/>
              <a:gd name="connsiteX6050" fmla="*/ 3842395 w 9635294"/>
              <a:gd name="connsiteY6050" fmla="*/ 69094 h 6211920"/>
              <a:gd name="connsiteX6051" fmla="*/ 3841966 w 9635294"/>
              <a:gd name="connsiteY6051" fmla="*/ 65951 h 6211920"/>
              <a:gd name="connsiteX6052" fmla="*/ 3867100 w 9635294"/>
              <a:gd name="connsiteY6052" fmla="*/ 62567 h 6211920"/>
              <a:gd name="connsiteX6053" fmla="*/ 5740236 w 9635294"/>
              <a:gd name="connsiteY6053" fmla="*/ 62505 h 6211920"/>
              <a:gd name="connsiteX6054" fmla="*/ 5740267 w 9635294"/>
              <a:gd name="connsiteY6054" fmla="*/ 62509 h 6211920"/>
              <a:gd name="connsiteX6055" fmla="*/ 5739442 w 9635294"/>
              <a:gd name="connsiteY6055" fmla="*/ 68809 h 6211920"/>
              <a:gd name="connsiteX6056" fmla="*/ 5739410 w 9635294"/>
              <a:gd name="connsiteY6056" fmla="*/ 68805 h 6211920"/>
              <a:gd name="connsiteX6057" fmla="*/ 3892672 w 9635294"/>
              <a:gd name="connsiteY6057" fmla="*/ 62414 h 6211920"/>
              <a:gd name="connsiteX6058" fmla="*/ 3892989 w 9635294"/>
              <a:gd name="connsiteY6058" fmla="*/ 64876 h 6211920"/>
              <a:gd name="connsiteX6059" fmla="*/ 3892671 w 9635294"/>
              <a:gd name="connsiteY6059" fmla="*/ 62414 h 6211920"/>
              <a:gd name="connsiteX6060" fmla="*/ 5714656 w 9635294"/>
              <a:gd name="connsiteY6060" fmla="*/ 62358 h 6211920"/>
              <a:gd name="connsiteX6061" fmla="*/ 5714248 w 9635294"/>
              <a:gd name="connsiteY6061" fmla="*/ 65598 h 6211920"/>
              <a:gd name="connsiteX6062" fmla="*/ 5714232 w 9635294"/>
              <a:gd name="connsiteY6062" fmla="*/ 65596 h 6211920"/>
              <a:gd name="connsiteX6063" fmla="*/ 3969007 w 9635294"/>
              <a:gd name="connsiteY6063" fmla="*/ 59361 h 6211920"/>
              <a:gd name="connsiteX6064" fmla="*/ 3969380 w 9635294"/>
              <a:gd name="connsiteY6064" fmla="*/ 62509 h 6211920"/>
              <a:gd name="connsiteX6065" fmla="*/ 3944214 w 9635294"/>
              <a:gd name="connsiteY6065" fmla="*/ 65538 h 6211920"/>
              <a:gd name="connsiteX6066" fmla="*/ 3943828 w 9635294"/>
              <a:gd name="connsiteY6066" fmla="*/ 62382 h 6211920"/>
              <a:gd name="connsiteX6067" fmla="*/ 3943443 w 9635294"/>
              <a:gd name="connsiteY6067" fmla="*/ 59233 h 6211920"/>
              <a:gd name="connsiteX6068" fmla="*/ 3943828 w 9635294"/>
              <a:gd name="connsiteY6068" fmla="*/ 62382 h 6211920"/>
              <a:gd name="connsiteX6069" fmla="*/ 3943828 w 9635294"/>
              <a:gd name="connsiteY6069" fmla="*/ 62382 h 6211920"/>
              <a:gd name="connsiteX6070" fmla="*/ 5715439 w 9635294"/>
              <a:gd name="connsiteY6070" fmla="*/ 56147 h 6211920"/>
              <a:gd name="connsiteX6071" fmla="*/ 5740648 w 9635294"/>
              <a:gd name="connsiteY6071" fmla="*/ 59360 h 6211920"/>
              <a:gd name="connsiteX6072" fmla="*/ 5740236 w 9635294"/>
              <a:gd name="connsiteY6072" fmla="*/ 62505 h 6211920"/>
              <a:gd name="connsiteX6073" fmla="*/ 5715057 w 9635294"/>
              <a:gd name="connsiteY6073" fmla="*/ 59296 h 6211920"/>
              <a:gd name="connsiteX6074" fmla="*/ 5714656 w 9635294"/>
              <a:gd name="connsiteY6074" fmla="*/ 62358 h 6211920"/>
              <a:gd name="connsiteX6075" fmla="*/ 3917455 w 9635294"/>
              <a:gd name="connsiteY6075" fmla="*/ 56051 h 6211920"/>
              <a:gd name="connsiteX6076" fmla="*/ 3918375 w 9635294"/>
              <a:gd name="connsiteY6076" fmla="*/ 63385 h 6211920"/>
              <a:gd name="connsiteX6077" fmla="*/ 3917849 w 9635294"/>
              <a:gd name="connsiteY6077" fmla="*/ 59207 h 6211920"/>
              <a:gd name="connsiteX6078" fmla="*/ 3892672 w 9635294"/>
              <a:gd name="connsiteY6078" fmla="*/ 62414 h 6211920"/>
              <a:gd name="connsiteX6079" fmla="*/ 3892265 w 9635294"/>
              <a:gd name="connsiteY6079" fmla="*/ 59265 h 6211920"/>
              <a:gd name="connsiteX6080" fmla="*/ 3917455 w 9635294"/>
              <a:gd name="connsiteY6080" fmla="*/ 56051 h 6211920"/>
              <a:gd name="connsiteX6081" fmla="*/ 5664575 w 9635294"/>
              <a:gd name="connsiteY6081" fmla="*/ 53130 h 6211920"/>
              <a:gd name="connsiteX6082" fmla="*/ 5664591 w 9635294"/>
              <a:gd name="connsiteY6082" fmla="*/ 53132 h 6211920"/>
              <a:gd name="connsiteX6083" fmla="*/ 5663860 w 9635294"/>
              <a:gd name="connsiteY6083" fmla="*/ 59442 h 6211920"/>
              <a:gd name="connsiteX6084" fmla="*/ 5663813 w 9635294"/>
              <a:gd name="connsiteY6084" fmla="*/ 59436 h 6211920"/>
              <a:gd name="connsiteX6085" fmla="*/ 3968262 w 9635294"/>
              <a:gd name="connsiteY6085" fmla="*/ 53048 h 6211920"/>
              <a:gd name="connsiteX6086" fmla="*/ 3969012 w 9635294"/>
              <a:gd name="connsiteY6086" fmla="*/ 59360 h 6211920"/>
              <a:gd name="connsiteX6087" fmla="*/ 3969007 w 9635294"/>
              <a:gd name="connsiteY6087" fmla="*/ 59361 h 6211920"/>
              <a:gd name="connsiteX6088" fmla="*/ 3968260 w 9635294"/>
              <a:gd name="connsiteY6088" fmla="*/ 53049 h 6211920"/>
              <a:gd name="connsiteX6089" fmla="*/ 4019043 w 9635294"/>
              <a:gd name="connsiteY6089" fmla="*/ 51308 h 6211920"/>
              <a:gd name="connsiteX6090" fmla="*/ 4019297 w 9635294"/>
              <a:gd name="connsiteY6090" fmla="*/ 53581 h 6211920"/>
              <a:gd name="connsiteX6091" fmla="*/ 4019295 w 9635294"/>
              <a:gd name="connsiteY6091" fmla="*/ 53581 h 6211920"/>
              <a:gd name="connsiteX6092" fmla="*/ 5664956 w 9635294"/>
              <a:gd name="connsiteY6092" fmla="*/ 49981 h 6211920"/>
              <a:gd name="connsiteX6093" fmla="*/ 5690229 w 9635294"/>
              <a:gd name="connsiteY6093" fmla="*/ 53016 h 6211920"/>
              <a:gd name="connsiteX6094" fmla="*/ 5688642 w 9635294"/>
              <a:gd name="connsiteY6094" fmla="*/ 65621 h 6211920"/>
              <a:gd name="connsiteX6095" fmla="*/ 5663495 w 9635294"/>
              <a:gd name="connsiteY6095" fmla="*/ 62592 h 6211920"/>
              <a:gd name="connsiteX6096" fmla="*/ 5663860 w 9635294"/>
              <a:gd name="connsiteY6096" fmla="*/ 59442 h 6211920"/>
              <a:gd name="connsiteX6097" fmla="*/ 5689022 w 9635294"/>
              <a:gd name="connsiteY6097" fmla="*/ 62471 h 6211920"/>
              <a:gd name="connsiteX6098" fmla="*/ 5689784 w 9635294"/>
              <a:gd name="connsiteY6098" fmla="*/ 56166 h 6211920"/>
              <a:gd name="connsiteX6099" fmla="*/ 5664591 w 9635294"/>
              <a:gd name="connsiteY6099" fmla="*/ 53132 h 6211920"/>
              <a:gd name="connsiteX6100" fmla="*/ 3967888 w 9635294"/>
              <a:gd name="connsiteY6100" fmla="*/ 49898 h 6211920"/>
              <a:gd name="connsiteX6101" fmla="*/ 3968260 w 9635294"/>
              <a:gd name="connsiteY6101" fmla="*/ 53049 h 6211920"/>
              <a:gd name="connsiteX6102" fmla="*/ 3943059 w 9635294"/>
              <a:gd name="connsiteY6102" fmla="*/ 56083 h 6211920"/>
              <a:gd name="connsiteX6103" fmla="*/ 3943443 w 9635294"/>
              <a:gd name="connsiteY6103" fmla="*/ 59233 h 6211920"/>
              <a:gd name="connsiteX6104" fmla="*/ 3942672 w 9635294"/>
              <a:gd name="connsiteY6104" fmla="*/ 52927 h 6211920"/>
              <a:gd name="connsiteX6105" fmla="*/ 3967888 w 9635294"/>
              <a:gd name="connsiteY6105" fmla="*/ 49898 h 6211920"/>
              <a:gd name="connsiteX6106" fmla="*/ 5614219 w 9635294"/>
              <a:gd name="connsiteY6106" fmla="*/ 47339 h 6211920"/>
              <a:gd name="connsiteX6107" fmla="*/ 5614236 w 9635294"/>
              <a:gd name="connsiteY6107" fmla="*/ 47341 h 6211920"/>
              <a:gd name="connsiteX6108" fmla="*/ 5613858 w 9635294"/>
              <a:gd name="connsiteY6108" fmla="*/ 50606 h 6211920"/>
              <a:gd name="connsiteX6109" fmla="*/ 5563357 w 9635294"/>
              <a:gd name="connsiteY6109" fmla="*/ 45684 h 6211920"/>
              <a:gd name="connsiteX6110" fmla="*/ 5563102 w 9635294"/>
              <a:gd name="connsiteY6110" fmla="*/ 48216 h 6211920"/>
              <a:gd name="connsiteX6111" fmla="*/ 5588311 w 9635294"/>
              <a:gd name="connsiteY6111" fmla="*/ 50889 h 6211920"/>
              <a:gd name="connsiteX6112" fmla="*/ 5588673 w 9635294"/>
              <a:gd name="connsiteY6112" fmla="*/ 47618 h 6211920"/>
              <a:gd name="connsiteX6113" fmla="*/ 5587994 w 9635294"/>
              <a:gd name="connsiteY6113" fmla="*/ 54045 h 6211920"/>
              <a:gd name="connsiteX6114" fmla="*/ 5562784 w 9635294"/>
              <a:gd name="connsiteY6114" fmla="*/ 51371 h 6211920"/>
              <a:gd name="connsiteX6115" fmla="*/ 5588995 w 9635294"/>
              <a:gd name="connsiteY6115" fmla="*/ 44576 h 6211920"/>
              <a:gd name="connsiteX6116" fmla="*/ 5589010 w 9635294"/>
              <a:gd name="connsiteY6116" fmla="*/ 44577 h 6211920"/>
              <a:gd name="connsiteX6117" fmla="*/ 5588673 w 9635294"/>
              <a:gd name="connsiteY6117" fmla="*/ 47618 h 6211920"/>
              <a:gd name="connsiteX6118" fmla="*/ 5614601 w 9635294"/>
              <a:gd name="connsiteY6118" fmla="*/ 44183 h 6211920"/>
              <a:gd name="connsiteX6119" fmla="*/ 5639810 w 9635294"/>
              <a:gd name="connsiteY6119" fmla="*/ 47041 h 6211920"/>
              <a:gd name="connsiteX6120" fmla="*/ 5638349 w 9635294"/>
              <a:gd name="connsiteY6120" fmla="*/ 59652 h 6211920"/>
              <a:gd name="connsiteX6121" fmla="*/ 5613140 w 9635294"/>
              <a:gd name="connsiteY6121" fmla="*/ 56807 h 6211920"/>
              <a:gd name="connsiteX6122" fmla="*/ 5613858 w 9635294"/>
              <a:gd name="connsiteY6122" fmla="*/ 50606 h 6211920"/>
              <a:gd name="connsiteX6123" fmla="*/ 5613521 w 9635294"/>
              <a:gd name="connsiteY6123" fmla="*/ 53651 h 6211920"/>
              <a:gd name="connsiteX6124" fmla="*/ 5638667 w 9635294"/>
              <a:gd name="connsiteY6124" fmla="*/ 56502 h 6211920"/>
              <a:gd name="connsiteX6125" fmla="*/ 5639429 w 9635294"/>
              <a:gd name="connsiteY6125" fmla="*/ 50190 h 6211920"/>
              <a:gd name="connsiteX6126" fmla="*/ 5614236 w 9635294"/>
              <a:gd name="connsiteY6126" fmla="*/ 47341 h 6211920"/>
              <a:gd name="connsiteX6127" fmla="*/ 4018242 w 9635294"/>
              <a:gd name="connsiteY6127" fmla="*/ 44113 h 6211920"/>
              <a:gd name="connsiteX6128" fmla="*/ 4019043 w 9635294"/>
              <a:gd name="connsiteY6128" fmla="*/ 51308 h 6211920"/>
              <a:gd name="connsiteX6129" fmla="*/ 4018591 w 9635294"/>
              <a:gd name="connsiteY6129" fmla="*/ 47269 h 6211920"/>
              <a:gd name="connsiteX6130" fmla="*/ 3993415 w 9635294"/>
              <a:gd name="connsiteY6130" fmla="*/ 50114 h 6211920"/>
              <a:gd name="connsiteX6131" fmla="*/ 3994138 w 9635294"/>
              <a:gd name="connsiteY6131" fmla="*/ 56426 h 6211920"/>
              <a:gd name="connsiteX6132" fmla="*/ 4019295 w 9635294"/>
              <a:gd name="connsiteY6132" fmla="*/ 53581 h 6211920"/>
              <a:gd name="connsiteX6133" fmla="*/ 4019646 w 9635294"/>
              <a:gd name="connsiteY6133" fmla="*/ 56737 h 6211920"/>
              <a:gd name="connsiteX6134" fmla="*/ 3994501 w 9635294"/>
              <a:gd name="connsiteY6134" fmla="*/ 59582 h 6211920"/>
              <a:gd name="connsiteX6135" fmla="*/ 3993052 w 9635294"/>
              <a:gd name="connsiteY6135" fmla="*/ 46965 h 6211920"/>
              <a:gd name="connsiteX6136" fmla="*/ 4018242 w 9635294"/>
              <a:gd name="connsiteY6136" fmla="*/ 44113 h 6211920"/>
              <a:gd name="connsiteX6137" fmla="*/ 5563737 w 9635294"/>
              <a:gd name="connsiteY6137" fmla="*/ 41897 h 6211920"/>
              <a:gd name="connsiteX6138" fmla="*/ 5563738 w 9635294"/>
              <a:gd name="connsiteY6138" fmla="*/ 41897 h 6211920"/>
              <a:gd name="connsiteX6139" fmla="*/ 5563357 w 9635294"/>
              <a:gd name="connsiteY6139" fmla="*/ 45684 h 6211920"/>
              <a:gd name="connsiteX6140" fmla="*/ 4069030 w 9635294"/>
              <a:gd name="connsiteY6140" fmla="*/ 41840 h 6211920"/>
              <a:gd name="connsiteX6141" fmla="*/ 4043802 w 9635294"/>
              <a:gd name="connsiteY6141" fmla="*/ 44507 h 6211920"/>
              <a:gd name="connsiteX6142" fmla="*/ 4044481 w 9635294"/>
              <a:gd name="connsiteY6142" fmla="*/ 50825 h 6211920"/>
              <a:gd name="connsiteX6143" fmla="*/ 4069690 w 9635294"/>
              <a:gd name="connsiteY6143" fmla="*/ 48152 h 6211920"/>
              <a:gd name="connsiteX6144" fmla="*/ 5512842 w 9635294"/>
              <a:gd name="connsiteY6144" fmla="*/ 39972 h 6211920"/>
              <a:gd name="connsiteX6145" fmla="*/ 5512556 w 9635294"/>
              <a:gd name="connsiteY6145" fmla="*/ 43129 h 6211920"/>
              <a:gd name="connsiteX6146" fmla="*/ 5537829 w 9635294"/>
              <a:gd name="connsiteY6146" fmla="*/ 45631 h 6211920"/>
              <a:gd name="connsiteX6147" fmla="*/ 5537511 w 9635294"/>
              <a:gd name="connsiteY6147" fmla="*/ 48787 h 6211920"/>
              <a:gd name="connsiteX6148" fmla="*/ 5512239 w 9635294"/>
              <a:gd name="connsiteY6148" fmla="*/ 46291 h 6211920"/>
              <a:gd name="connsiteX6149" fmla="*/ 5538464 w 9635294"/>
              <a:gd name="connsiteY6149" fmla="*/ 39313 h 6211920"/>
              <a:gd name="connsiteX6150" fmla="*/ 5538464 w 9635294"/>
              <a:gd name="connsiteY6150" fmla="*/ 39313 h 6211920"/>
              <a:gd name="connsiteX6151" fmla="*/ 5537829 w 9635294"/>
              <a:gd name="connsiteY6151" fmla="*/ 45631 h 6211920"/>
              <a:gd name="connsiteX6152" fmla="*/ 5537829 w 9635294"/>
              <a:gd name="connsiteY6152" fmla="*/ 45631 h 6211920"/>
              <a:gd name="connsiteX6153" fmla="*/ 4094291 w 9635294"/>
              <a:gd name="connsiteY6153" fmla="*/ 39256 h 6211920"/>
              <a:gd name="connsiteX6154" fmla="*/ 4094926 w 9635294"/>
              <a:gd name="connsiteY6154" fmla="*/ 45574 h 6211920"/>
              <a:gd name="connsiteX6155" fmla="*/ 4094926 w 9635294"/>
              <a:gd name="connsiteY6155" fmla="*/ 45574 h 6211920"/>
              <a:gd name="connsiteX6156" fmla="*/ 4094291 w 9635294"/>
              <a:gd name="connsiteY6156" fmla="*/ 39256 h 6211920"/>
              <a:gd name="connsiteX6157" fmla="*/ 5564055 w 9635294"/>
              <a:gd name="connsiteY6157" fmla="*/ 38741 h 6211920"/>
              <a:gd name="connsiteX6158" fmla="*/ 5589328 w 9635294"/>
              <a:gd name="connsiteY6158" fmla="*/ 41421 h 6211920"/>
              <a:gd name="connsiteX6159" fmla="*/ 5588995 w 9635294"/>
              <a:gd name="connsiteY6159" fmla="*/ 44576 h 6211920"/>
              <a:gd name="connsiteX6160" fmla="*/ 5563738 w 9635294"/>
              <a:gd name="connsiteY6160" fmla="*/ 41897 h 6211920"/>
              <a:gd name="connsiteX6161" fmla="*/ 4068707 w 9635294"/>
              <a:gd name="connsiteY6161" fmla="*/ 38678 h 6211920"/>
              <a:gd name="connsiteX6162" fmla="*/ 4070021 w 9635294"/>
              <a:gd name="connsiteY6162" fmla="*/ 51314 h 6211920"/>
              <a:gd name="connsiteX6163" fmla="*/ 4044818 w 9635294"/>
              <a:gd name="connsiteY6163" fmla="*/ 53981 h 6211920"/>
              <a:gd name="connsiteX6164" fmla="*/ 4043459 w 9635294"/>
              <a:gd name="connsiteY6164" fmla="*/ 41351 h 6211920"/>
              <a:gd name="connsiteX6165" fmla="*/ 4068707 w 9635294"/>
              <a:gd name="connsiteY6165" fmla="*/ 38678 h 6211920"/>
              <a:gd name="connsiteX6166" fmla="*/ 5487601 w 9635294"/>
              <a:gd name="connsiteY6166" fmla="*/ 37567 h 6211920"/>
              <a:gd name="connsiteX6167" fmla="*/ 5487029 w 9635294"/>
              <a:gd name="connsiteY6167" fmla="*/ 43891 h 6211920"/>
              <a:gd name="connsiteX6168" fmla="*/ 5461819 w 9635294"/>
              <a:gd name="connsiteY6168" fmla="*/ 41580 h 6211920"/>
              <a:gd name="connsiteX6169" fmla="*/ 5462105 w 9635294"/>
              <a:gd name="connsiteY6169" fmla="*/ 38421 h 6211920"/>
              <a:gd name="connsiteX6170" fmla="*/ 5487283 w 9635294"/>
              <a:gd name="connsiteY6170" fmla="*/ 40729 h 6211920"/>
              <a:gd name="connsiteX6171" fmla="*/ 5513128 w 9635294"/>
              <a:gd name="connsiteY6171" fmla="*/ 36811 h 6211920"/>
              <a:gd name="connsiteX6172" fmla="*/ 5513143 w 9635294"/>
              <a:gd name="connsiteY6172" fmla="*/ 36813 h 6211920"/>
              <a:gd name="connsiteX6173" fmla="*/ 5512842 w 9635294"/>
              <a:gd name="connsiteY6173" fmla="*/ 39972 h 6211920"/>
              <a:gd name="connsiteX6174" fmla="*/ 5487887 w 9635294"/>
              <a:gd name="connsiteY6174" fmla="*/ 34401 h 6211920"/>
              <a:gd name="connsiteX6175" fmla="*/ 5487918 w 9635294"/>
              <a:gd name="connsiteY6175" fmla="*/ 34404 h 6211920"/>
              <a:gd name="connsiteX6176" fmla="*/ 5487601 w 9635294"/>
              <a:gd name="connsiteY6176" fmla="*/ 37567 h 6211920"/>
              <a:gd name="connsiteX6177" fmla="*/ 5411592 w 9635294"/>
              <a:gd name="connsiteY6177" fmla="*/ 34055 h 6211920"/>
              <a:gd name="connsiteX6178" fmla="*/ 5436832 w 9635294"/>
              <a:gd name="connsiteY6178" fmla="*/ 36193 h 6211920"/>
              <a:gd name="connsiteX6179" fmla="*/ 5436546 w 9635294"/>
              <a:gd name="connsiteY6179" fmla="*/ 39357 h 6211920"/>
              <a:gd name="connsiteX6180" fmla="*/ 5411337 w 9635294"/>
              <a:gd name="connsiteY6180" fmla="*/ 37224 h 6211920"/>
              <a:gd name="connsiteX6181" fmla="*/ 5513445 w 9635294"/>
              <a:gd name="connsiteY6181" fmla="*/ 33649 h 6211920"/>
              <a:gd name="connsiteX6182" fmla="*/ 5538782 w 9635294"/>
              <a:gd name="connsiteY6182" fmla="*/ 36151 h 6211920"/>
              <a:gd name="connsiteX6183" fmla="*/ 5538464 w 9635294"/>
              <a:gd name="connsiteY6183" fmla="*/ 39313 h 6211920"/>
              <a:gd name="connsiteX6184" fmla="*/ 5513143 w 9635294"/>
              <a:gd name="connsiteY6184" fmla="*/ 36813 h 6211920"/>
              <a:gd name="connsiteX6185" fmla="*/ 4119272 w 9635294"/>
              <a:gd name="connsiteY6185" fmla="*/ 33598 h 6211920"/>
              <a:gd name="connsiteX6186" fmla="*/ 4120496 w 9635294"/>
              <a:gd name="connsiteY6186" fmla="*/ 46241 h 6211920"/>
              <a:gd name="connsiteX6187" fmla="*/ 4095243 w 9635294"/>
              <a:gd name="connsiteY6187" fmla="*/ 48730 h 6211920"/>
              <a:gd name="connsiteX6188" fmla="*/ 4094926 w 9635294"/>
              <a:gd name="connsiteY6188" fmla="*/ 45574 h 6211920"/>
              <a:gd name="connsiteX6189" fmla="*/ 4120186 w 9635294"/>
              <a:gd name="connsiteY6189" fmla="*/ 43078 h 6211920"/>
              <a:gd name="connsiteX6190" fmla="*/ 4119577 w 9635294"/>
              <a:gd name="connsiteY6190" fmla="*/ 36760 h 6211920"/>
              <a:gd name="connsiteX6191" fmla="*/ 4094291 w 9635294"/>
              <a:gd name="connsiteY6191" fmla="*/ 39256 h 6211920"/>
              <a:gd name="connsiteX6192" fmla="*/ 4093973 w 9635294"/>
              <a:gd name="connsiteY6192" fmla="*/ 36093 h 6211920"/>
              <a:gd name="connsiteX6193" fmla="*/ 4119272 w 9635294"/>
              <a:gd name="connsiteY6193" fmla="*/ 33598 h 6211920"/>
              <a:gd name="connsiteX6194" fmla="*/ 5437118 w 9635294"/>
              <a:gd name="connsiteY6194" fmla="*/ 33030 h 6211920"/>
              <a:gd name="connsiteX6195" fmla="*/ 5436864 w 9635294"/>
              <a:gd name="connsiteY6195" fmla="*/ 36195 h 6211920"/>
              <a:gd name="connsiteX6196" fmla="*/ 5436832 w 9635294"/>
              <a:gd name="connsiteY6196" fmla="*/ 36193 h 6211920"/>
              <a:gd name="connsiteX6197" fmla="*/ 5462645 w 9635294"/>
              <a:gd name="connsiteY6197" fmla="*/ 32093 h 6211920"/>
              <a:gd name="connsiteX6198" fmla="*/ 5462677 w 9635294"/>
              <a:gd name="connsiteY6198" fmla="*/ 32096 h 6211920"/>
              <a:gd name="connsiteX6199" fmla="*/ 5462105 w 9635294"/>
              <a:gd name="connsiteY6199" fmla="*/ 38421 h 6211920"/>
              <a:gd name="connsiteX6200" fmla="*/ 5462073 w 9635294"/>
              <a:gd name="connsiteY6200" fmla="*/ 38418 h 6211920"/>
              <a:gd name="connsiteX6201" fmla="*/ 4170040 w 9635294"/>
              <a:gd name="connsiteY6201" fmla="*/ 32048 h 6211920"/>
              <a:gd name="connsiteX6202" fmla="*/ 4170320 w 9635294"/>
              <a:gd name="connsiteY6202" fmla="*/ 35192 h 6211920"/>
              <a:gd name="connsiteX6203" fmla="*/ 4170038 w 9635294"/>
              <a:gd name="connsiteY6203" fmla="*/ 32048 h 6211920"/>
              <a:gd name="connsiteX6204" fmla="*/ 5411917 w 9635294"/>
              <a:gd name="connsiteY6204" fmla="*/ 30001 h 6211920"/>
              <a:gd name="connsiteX6205" fmla="*/ 5411592 w 9635294"/>
              <a:gd name="connsiteY6205" fmla="*/ 34055 h 6211920"/>
              <a:gd name="connsiteX6206" fmla="*/ 5411591 w 9635294"/>
              <a:gd name="connsiteY6206" fmla="*/ 34055 h 6211920"/>
              <a:gd name="connsiteX6207" fmla="*/ 4195281 w 9635294"/>
              <a:gd name="connsiteY6207" fmla="*/ 29826 h 6211920"/>
              <a:gd name="connsiteX6208" fmla="*/ 4195827 w 9635294"/>
              <a:gd name="connsiteY6208" fmla="*/ 36151 h 6211920"/>
              <a:gd name="connsiteX6209" fmla="*/ 4195827 w 9635294"/>
              <a:gd name="connsiteY6209" fmla="*/ 36151 h 6211920"/>
              <a:gd name="connsiteX6210" fmla="*/ 4195281 w 9635294"/>
              <a:gd name="connsiteY6210" fmla="*/ 29826 h 6211920"/>
              <a:gd name="connsiteX6211" fmla="*/ 5462963 w 9635294"/>
              <a:gd name="connsiteY6211" fmla="*/ 28931 h 6211920"/>
              <a:gd name="connsiteX6212" fmla="*/ 5488172 w 9635294"/>
              <a:gd name="connsiteY6212" fmla="*/ 31242 h 6211920"/>
              <a:gd name="connsiteX6213" fmla="*/ 5487887 w 9635294"/>
              <a:gd name="connsiteY6213" fmla="*/ 34401 h 6211920"/>
              <a:gd name="connsiteX6214" fmla="*/ 5462677 w 9635294"/>
              <a:gd name="connsiteY6214" fmla="*/ 32096 h 6211920"/>
              <a:gd name="connsiteX6215" fmla="*/ 4169754 w 9635294"/>
              <a:gd name="connsiteY6215" fmla="*/ 28886 h 6211920"/>
              <a:gd name="connsiteX6216" fmla="*/ 4170038 w 9635294"/>
              <a:gd name="connsiteY6216" fmla="*/ 32048 h 6211920"/>
              <a:gd name="connsiteX6217" fmla="*/ 4144818 w 9635294"/>
              <a:gd name="connsiteY6217" fmla="*/ 34354 h 6211920"/>
              <a:gd name="connsiteX6218" fmla="*/ 4145408 w 9635294"/>
              <a:gd name="connsiteY6218" fmla="*/ 40678 h 6211920"/>
              <a:gd name="connsiteX6219" fmla="*/ 4170605 w 9635294"/>
              <a:gd name="connsiteY6219" fmla="*/ 38373 h 6211920"/>
              <a:gd name="connsiteX6220" fmla="*/ 4170320 w 9635294"/>
              <a:gd name="connsiteY6220" fmla="*/ 35192 h 6211920"/>
              <a:gd name="connsiteX6221" fmla="*/ 4170891 w 9635294"/>
              <a:gd name="connsiteY6221" fmla="*/ 41535 h 6211920"/>
              <a:gd name="connsiteX6222" fmla="*/ 4145701 w 9635294"/>
              <a:gd name="connsiteY6222" fmla="*/ 43840 h 6211920"/>
              <a:gd name="connsiteX6223" fmla="*/ 4144520 w 9635294"/>
              <a:gd name="connsiteY6223" fmla="*/ 31191 h 6211920"/>
              <a:gd name="connsiteX6224" fmla="*/ 4169754 w 9635294"/>
              <a:gd name="connsiteY6224" fmla="*/ 28886 h 6211920"/>
              <a:gd name="connsiteX6225" fmla="*/ 5361204 w 9635294"/>
              <a:gd name="connsiteY6225" fmla="*/ 26891 h 6211920"/>
              <a:gd name="connsiteX6226" fmla="*/ 5360982 w 9635294"/>
              <a:gd name="connsiteY6226" fmla="*/ 30048 h 6211920"/>
              <a:gd name="connsiteX6227" fmla="*/ 5386255 w 9635294"/>
              <a:gd name="connsiteY6227" fmla="*/ 32010 h 6211920"/>
              <a:gd name="connsiteX6228" fmla="*/ 5386001 w 9635294"/>
              <a:gd name="connsiteY6228" fmla="*/ 35173 h 6211920"/>
              <a:gd name="connsiteX6229" fmla="*/ 5360728 w 9635294"/>
              <a:gd name="connsiteY6229" fmla="*/ 33217 h 6211920"/>
              <a:gd name="connsiteX6230" fmla="*/ 4271409 w 9635294"/>
              <a:gd name="connsiteY6230" fmla="*/ 26819 h 6211920"/>
              <a:gd name="connsiteX6231" fmla="*/ 4271653 w 9635294"/>
              <a:gd name="connsiteY6231" fmla="*/ 30016 h 6211920"/>
              <a:gd name="connsiteX6232" fmla="*/ 4271649 w 9635294"/>
              <a:gd name="connsiteY6232" fmla="*/ 30017 h 6211920"/>
              <a:gd name="connsiteX6233" fmla="*/ 5386763 w 9635294"/>
              <a:gd name="connsiteY6233" fmla="*/ 25679 h 6211920"/>
              <a:gd name="connsiteX6234" fmla="*/ 5386763 w 9635294"/>
              <a:gd name="connsiteY6234" fmla="*/ 25679 h 6211920"/>
              <a:gd name="connsiteX6235" fmla="*/ 5386255 w 9635294"/>
              <a:gd name="connsiteY6235" fmla="*/ 32010 h 6211920"/>
              <a:gd name="connsiteX6236" fmla="*/ 5386255 w 9635294"/>
              <a:gd name="connsiteY6236" fmla="*/ 32010 h 6211920"/>
              <a:gd name="connsiteX6237" fmla="*/ 5412353 w 9635294"/>
              <a:gd name="connsiteY6237" fmla="*/ 24562 h 6211920"/>
              <a:gd name="connsiteX6238" fmla="*/ 5437690 w 9635294"/>
              <a:gd name="connsiteY6238" fmla="*/ 26702 h 6211920"/>
              <a:gd name="connsiteX6239" fmla="*/ 5437118 w 9635294"/>
              <a:gd name="connsiteY6239" fmla="*/ 33030 h 6211920"/>
              <a:gd name="connsiteX6240" fmla="*/ 5437372 w 9635294"/>
              <a:gd name="connsiteY6240" fmla="*/ 29864 h 6211920"/>
              <a:gd name="connsiteX6241" fmla="*/ 5412099 w 9635294"/>
              <a:gd name="connsiteY6241" fmla="*/ 27730 h 6211920"/>
              <a:gd name="connsiteX6242" fmla="*/ 5411917 w 9635294"/>
              <a:gd name="connsiteY6242" fmla="*/ 30001 h 6211920"/>
              <a:gd name="connsiteX6243" fmla="*/ 4220293 w 9635294"/>
              <a:gd name="connsiteY6243" fmla="*/ 24524 h 6211920"/>
              <a:gd name="connsiteX6244" fmla="*/ 4221342 w 9635294"/>
              <a:gd name="connsiteY6244" fmla="*/ 37179 h 6211920"/>
              <a:gd name="connsiteX6245" fmla="*/ 4196101 w 9635294"/>
              <a:gd name="connsiteY6245" fmla="*/ 39313 h 6211920"/>
              <a:gd name="connsiteX6246" fmla="*/ 4195827 w 9635294"/>
              <a:gd name="connsiteY6246" fmla="*/ 36151 h 6211920"/>
              <a:gd name="connsiteX6247" fmla="*/ 4221074 w 9635294"/>
              <a:gd name="connsiteY6247" fmla="*/ 34017 h 6211920"/>
              <a:gd name="connsiteX6248" fmla="*/ 4220554 w 9635294"/>
              <a:gd name="connsiteY6248" fmla="*/ 27686 h 6211920"/>
              <a:gd name="connsiteX6249" fmla="*/ 4195281 w 9635294"/>
              <a:gd name="connsiteY6249" fmla="*/ 29826 h 6211920"/>
              <a:gd name="connsiteX6250" fmla="*/ 4195007 w 9635294"/>
              <a:gd name="connsiteY6250" fmla="*/ 26657 h 6211920"/>
              <a:gd name="connsiteX6251" fmla="*/ 4220293 w 9635294"/>
              <a:gd name="connsiteY6251" fmla="*/ 24524 h 6211920"/>
              <a:gd name="connsiteX6252" fmla="*/ 5361426 w 9635294"/>
              <a:gd name="connsiteY6252" fmla="*/ 23717 h 6211920"/>
              <a:gd name="connsiteX6253" fmla="*/ 5361442 w 9635294"/>
              <a:gd name="connsiteY6253" fmla="*/ 23718 h 6211920"/>
              <a:gd name="connsiteX6254" fmla="*/ 5361204 w 9635294"/>
              <a:gd name="connsiteY6254" fmla="*/ 26891 h 6211920"/>
              <a:gd name="connsiteX6255" fmla="*/ 4322013 w 9635294"/>
              <a:gd name="connsiteY6255" fmla="*/ 23420 h 6211920"/>
              <a:gd name="connsiteX6256" fmla="*/ 4322218 w 9635294"/>
              <a:gd name="connsiteY6256" fmla="*/ 26378 h 6211920"/>
              <a:gd name="connsiteX6257" fmla="*/ 4322216 w 9635294"/>
              <a:gd name="connsiteY6257" fmla="*/ 26378 h 6211920"/>
              <a:gd name="connsiteX6258" fmla="*/ 5259779 w 9635294"/>
              <a:gd name="connsiteY6258" fmla="*/ 23115 h 6211920"/>
              <a:gd name="connsiteX6259" fmla="*/ 5285099 w 9635294"/>
              <a:gd name="connsiteY6259" fmla="*/ 24714 h 6211920"/>
              <a:gd name="connsiteX6260" fmla="*/ 5284908 w 9635294"/>
              <a:gd name="connsiteY6260" fmla="*/ 27883 h 6211920"/>
              <a:gd name="connsiteX6261" fmla="*/ 5259572 w 9635294"/>
              <a:gd name="connsiteY6261" fmla="*/ 26283 h 6211920"/>
              <a:gd name="connsiteX6262" fmla="*/ 5336058 w 9635294"/>
              <a:gd name="connsiteY6262" fmla="*/ 21842 h 6211920"/>
              <a:gd name="connsiteX6263" fmla="*/ 5336090 w 9635294"/>
              <a:gd name="connsiteY6263" fmla="*/ 21844 h 6211920"/>
              <a:gd name="connsiteX6264" fmla="*/ 5335645 w 9635294"/>
              <a:gd name="connsiteY6264" fmla="*/ 28175 h 6211920"/>
              <a:gd name="connsiteX6265" fmla="*/ 5335614 w 9635294"/>
              <a:gd name="connsiteY6265" fmla="*/ 28173 h 6211920"/>
              <a:gd name="connsiteX6266" fmla="*/ 4372606 w 9635294"/>
              <a:gd name="connsiteY6266" fmla="*/ 20938 h 6211920"/>
              <a:gd name="connsiteX6267" fmla="*/ 4372935 w 9635294"/>
              <a:gd name="connsiteY6267" fmla="*/ 26264 h 6211920"/>
              <a:gd name="connsiteX6268" fmla="*/ 4347674 w 9635294"/>
              <a:gd name="connsiteY6268" fmla="*/ 27857 h 6211920"/>
              <a:gd name="connsiteX6269" fmla="*/ 4347468 w 9635294"/>
              <a:gd name="connsiteY6269" fmla="*/ 24689 h 6211920"/>
              <a:gd name="connsiteX6270" fmla="*/ 4372738 w 9635294"/>
              <a:gd name="connsiteY6270" fmla="*/ 23095 h 6211920"/>
              <a:gd name="connsiteX6271" fmla="*/ 5361680 w 9635294"/>
              <a:gd name="connsiteY6271" fmla="*/ 20549 h 6211920"/>
              <a:gd name="connsiteX6272" fmla="*/ 5387017 w 9635294"/>
              <a:gd name="connsiteY6272" fmla="*/ 22511 h 6211920"/>
              <a:gd name="connsiteX6273" fmla="*/ 5386763 w 9635294"/>
              <a:gd name="connsiteY6273" fmla="*/ 25679 h 6211920"/>
              <a:gd name="connsiteX6274" fmla="*/ 5361442 w 9635294"/>
              <a:gd name="connsiteY6274" fmla="*/ 23718 h 6211920"/>
              <a:gd name="connsiteX6275" fmla="*/ 4270935 w 9635294"/>
              <a:gd name="connsiteY6275" fmla="*/ 20517 h 6211920"/>
              <a:gd name="connsiteX6276" fmla="*/ 4271409 w 9635294"/>
              <a:gd name="connsiteY6276" fmla="*/ 26819 h 6211920"/>
              <a:gd name="connsiteX6277" fmla="*/ 4271170 w 9635294"/>
              <a:gd name="connsiteY6277" fmla="*/ 23685 h 6211920"/>
              <a:gd name="connsiteX6278" fmla="*/ 4245852 w 9635294"/>
              <a:gd name="connsiteY6278" fmla="*/ 25641 h 6211920"/>
              <a:gd name="connsiteX6279" fmla="*/ 4246353 w 9635294"/>
              <a:gd name="connsiteY6279" fmla="*/ 31972 h 6211920"/>
              <a:gd name="connsiteX6280" fmla="*/ 4271649 w 9635294"/>
              <a:gd name="connsiteY6280" fmla="*/ 30017 h 6211920"/>
              <a:gd name="connsiteX6281" fmla="*/ 4271888 w 9635294"/>
              <a:gd name="connsiteY6281" fmla="*/ 33185 h 6211920"/>
              <a:gd name="connsiteX6282" fmla="*/ 4246601 w 9635294"/>
              <a:gd name="connsiteY6282" fmla="*/ 35141 h 6211920"/>
              <a:gd name="connsiteX6283" fmla="*/ 4245599 w 9635294"/>
              <a:gd name="connsiteY6283" fmla="*/ 22479 h 6211920"/>
              <a:gd name="connsiteX6284" fmla="*/ 4270935 w 9635294"/>
              <a:gd name="connsiteY6284" fmla="*/ 20517 h 6211920"/>
              <a:gd name="connsiteX6285" fmla="*/ 4423360 w 9635294"/>
              <a:gd name="connsiteY6285" fmla="*/ 20168 h 6211920"/>
              <a:gd name="connsiteX6286" fmla="*/ 4423532 w 9635294"/>
              <a:gd name="connsiteY6286" fmla="*/ 23336 h 6211920"/>
              <a:gd name="connsiteX6287" fmla="*/ 4398221 w 9635294"/>
              <a:gd name="connsiteY6287" fmla="*/ 24759 h 6211920"/>
              <a:gd name="connsiteX6288" fmla="*/ 4398038 w 9635294"/>
              <a:gd name="connsiteY6288" fmla="*/ 21584 h 6211920"/>
              <a:gd name="connsiteX6289" fmla="*/ 5259979 w 9635294"/>
              <a:gd name="connsiteY6289" fmla="*/ 20031 h 6211920"/>
              <a:gd name="connsiteX6290" fmla="*/ 5259779 w 9635294"/>
              <a:gd name="connsiteY6290" fmla="*/ 23115 h 6211920"/>
              <a:gd name="connsiteX6291" fmla="*/ 5259763 w 9635294"/>
              <a:gd name="connsiteY6291" fmla="*/ 23114 h 6211920"/>
              <a:gd name="connsiteX6292" fmla="*/ 4397878 w 9635294"/>
              <a:gd name="connsiteY6292" fmla="*/ 18815 h 6211920"/>
              <a:gd name="connsiteX6293" fmla="*/ 4398038 w 9635294"/>
              <a:gd name="connsiteY6293" fmla="*/ 21584 h 6211920"/>
              <a:gd name="connsiteX6294" fmla="*/ 4398036 w 9635294"/>
              <a:gd name="connsiteY6294" fmla="*/ 21584 h 6211920"/>
              <a:gd name="connsiteX6295" fmla="*/ 5285480 w 9635294"/>
              <a:gd name="connsiteY6295" fmla="*/ 18377 h 6211920"/>
              <a:gd name="connsiteX6296" fmla="*/ 5285480 w 9635294"/>
              <a:gd name="connsiteY6296" fmla="*/ 18377 h 6211920"/>
              <a:gd name="connsiteX6297" fmla="*/ 5285099 w 9635294"/>
              <a:gd name="connsiteY6297" fmla="*/ 24714 h 6211920"/>
              <a:gd name="connsiteX6298" fmla="*/ 5285099 w 9635294"/>
              <a:gd name="connsiteY6298" fmla="*/ 24714 h 6211920"/>
              <a:gd name="connsiteX6299" fmla="*/ 5234652 w 9635294"/>
              <a:gd name="connsiteY6299" fmla="*/ 18358 h 6211920"/>
              <a:gd name="connsiteX6300" fmla="*/ 5234490 w 9635294"/>
              <a:gd name="connsiteY6300" fmla="*/ 21603 h 6211920"/>
              <a:gd name="connsiteX6301" fmla="*/ 5234474 w 9635294"/>
              <a:gd name="connsiteY6301" fmla="*/ 21602 h 6211920"/>
              <a:gd name="connsiteX6302" fmla="*/ 4347055 w 9635294"/>
              <a:gd name="connsiteY6302" fmla="*/ 18351 h 6211920"/>
              <a:gd name="connsiteX6303" fmla="*/ 4347468 w 9635294"/>
              <a:gd name="connsiteY6303" fmla="*/ 24689 h 6211920"/>
              <a:gd name="connsiteX6304" fmla="*/ 4347465 w 9635294"/>
              <a:gd name="connsiteY6304" fmla="*/ 24689 h 6211920"/>
              <a:gd name="connsiteX6305" fmla="*/ 4347053 w 9635294"/>
              <a:gd name="connsiteY6305" fmla="*/ 18351 h 6211920"/>
              <a:gd name="connsiteX6306" fmla="*/ 5209312 w 9635294"/>
              <a:gd name="connsiteY6306" fmla="*/ 17016 h 6211920"/>
              <a:gd name="connsiteX6307" fmla="*/ 5209153 w 9635294"/>
              <a:gd name="connsiteY6307" fmla="*/ 20180 h 6211920"/>
              <a:gd name="connsiteX6308" fmla="*/ 5234474 w 9635294"/>
              <a:gd name="connsiteY6308" fmla="*/ 21602 h 6211920"/>
              <a:gd name="connsiteX6309" fmla="*/ 5234299 w 9635294"/>
              <a:gd name="connsiteY6309" fmla="*/ 24778 h 6211920"/>
              <a:gd name="connsiteX6310" fmla="*/ 5208963 w 9635294"/>
              <a:gd name="connsiteY6310" fmla="*/ 23355 h 6211920"/>
              <a:gd name="connsiteX6311" fmla="*/ 5311007 w 9635294"/>
              <a:gd name="connsiteY6311" fmla="*/ 16897 h 6211920"/>
              <a:gd name="connsiteX6312" fmla="*/ 5336280 w 9635294"/>
              <a:gd name="connsiteY6312" fmla="*/ 18675 h 6211920"/>
              <a:gd name="connsiteX6313" fmla="*/ 5336058 w 9635294"/>
              <a:gd name="connsiteY6313" fmla="*/ 21842 h 6211920"/>
              <a:gd name="connsiteX6314" fmla="*/ 5310817 w 9635294"/>
              <a:gd name="connsiteY6314" fmla="*/ 20066 h 6211920"/>
              <a:gd name="connsiteX6315" fmla="*/ 5310372 w 9635294"/>
              <a:gd name="connsiteY6315" fmla="*/ 26403 h 6211920"/>
              <a:gd name="connsiteX6316" fmla="*/ 5335614 w 9635294"/>
              <a:gd name="connsiteY6316" fmla="*/ 28173 h 6211920"/>
              <a:gd name="connsiteX6317" fmla="*/ 5335391 w 9635294"/>
              <a:gd name="connsiteY6317" fmla="*/ 31344 h 6211920"/>
              <a:gd name="connsiteX6318" fmla="*/ 5310118 w 9635294"/>
              <a:gd name="connsiteY6318" fmla="*/ 29572 h 6211920"/>
              <a:gd name="connsiteX6319" fmla="*/ 4321564 w 9635294"/>
              <a:gd name="connsiteY6319" fmla="*/ 16872 h 6211920"/>
              <a:gd name="connsiteX6320" fmla="*/ 4322013 w 9635294"/>
              <a:gd name="connsiteY6320" fmla="*/ 23420 h 6211920"/>
              <a:gd name="connsiteX6321" fmla="*/ 4321780 w 9635294"/>
              <a:gd name="connsiteY6321" fmla="*/ 20041 h 6211920"/>
              <a:gd name="connsiteX6322" fmla="*/ 4296519 w 9635294"/>
              <a:gd name="connsiteY6322" fmla="*/ 21812 h 6211920"/>
              <a:gd name="connsiteX6323" fmla="*/ 4296977 w 9635294"/>
              <a:gd name="connsiteY6323" fmla="*/ 28150 h 6211920"/>
              <a:gd name="connsiteX6324" fmla="*/ 4322216 w 9635294"/>
              <a:gd name="connsiteY6324" fmla="*/ 26378 h 6211920"/>
              <a:gd name="connsiteX6325" fmla="*/ 4322433 w 9635294"/>
              <a:gd name="connsiteY6325" fmla="*/ 29540 h 6211920"/>
              <a:gd name="connsiteX6326" fmla="*/ 4297198 w 9635294"/>
              <a:gd name="connsiteY6326" fmla="*/ 31312 h 6211920"/>
              <a:gd name="connsiteX6327" fmla="*/ 4296291 w 9635294"/>
              <a:gd name="connsiteY6327" fmla="*/ 18650 h 6211920"/>
              <a:gd name="connsiteX6328" fmla="*/ 4321564 w 9635294"/>
              <a:gd name="connsiteY6328" fmla="*/ 16872 h 6211920"/>
              <a:gd name="connsiteX6329" fmla="*/ 4372351 w 9635294"/>
              <a:gd name="connsiteY6329" fmla="*/ 16758 h 6211920"/>
              <a:gd name="connsiteX6330" fmla="*/ 4372606 w 9635294"/>
              <a:gd name="connsiteY6330" fmla="*/ 20938 h 6211920"/>
              <a:gd name="connsiteX6331" fmla="*/ 4372349 w 9635294"/>
              <a:gd name="connsiteY6331" fmla="*/ 16758 h 6211920"/>
              <a:gd name="connsiteX6332" fmla="*/ 4448545 w 9635294"/>
              <a:gd name="connsiteY6332" fmla="*/ 15684 h 6211920"/>
              <a:gd name="connsiteX6333" fmla="*/ 4448706 w 9635294"/>
              <a:gd name="connsiteY6333" fmla="*/ 18834 h 6211920"/>
              <a:gd name="connsiteX6334" fmla="*/ 4448702 w 9635294"/>
              <a:gd name="connsiteY6334" fmla="*/ 18834 h 6211920"/>
              <a:gd name="connsiteX6335" fmla="*/ 4473961 w 9635294"/>
              <a:gd name="connsiteY6335" fmla="*/ 15519 h 6211920"/>
              <a:gd name="connsiteX6336" fmla="*/ 4474211 w 9635294"/>
              <a:gd name="connsiteY6336" fmla="*/ 20765 h 6211920"/>
              <a:gd name="connsiteX6337" fmla="*/ 4448868 w 9635294"/>
              <a:gd name="connsiteY6337" fmla="*/ 22003 h 6211920"/>
              <a:gd name="connsiteX6338" fmla="*/ 4448706 w 9635294"/>
              <a:gd name="connsiteY6338" fmla="*/ 18834 h 6211920"/>
              <a:gd name="connsiteX6339" fmla="*/ 4474059 w 9635294"/>
              <a:gd name="connsiteY6339" fmla="*/ 17590 h 6211920"/>
              <a:gd name="connsiteX6340" fmla="*/ 5209471 w 9635294"/>
              <a:gd name="connsiteY6340" fmla="*/ 13843 h 6211920"/>
              <a:gd name="connsiteX6341" fmla="*/ 5209487 w 9635294"/>
              <a:gd name="connsiteY6341" fmla="*/ 13844 h 6211920"/>
              <a:gd name="connsiteX6342" fmla="*/ 5209312 w 9635294"/>
              <a:gd name="connsiteY6342" fmla="*/ 17016 h 6211920"/>
              <a:gd name="connsiteX6343" fmla="*/ 4423017 w 9635294"/>
              <a:gd name="connsiteY6343" fmla="*/ 13824 h 6211920"/>
              <a:gd name="connsiteX6344" fmla="*/ 4423360 w 9635294"/>
              <a:gd name="connsiteY6344" fmla="*/ 20168 h 6211920"/>
              <a:gd name="connsiteX6345" fmla="*/ 4423360 w 9635294"/>
              <a:gd name="connsiteY6345" fmla="*/ 20168 h 6211920"/>
              <a:gd name="connsiteX6346" fmla="*/ 4423017 w 9635294"/>
              <a:gd name="connsiteY6346" fmla="*/ 13824 h 6211920"/>
              <a:gd name="connsiteX6347" fmla="*/ 5260397 w 9635294"/>
              <a:gd name="connsiteY6347" fmla="*/ 13608 h 6211920"/>
              <a:gd name="connsiteX6348" fmla="*/ 5285670 w 9635294"/>
              <a:gd name="connsiteY6348" fmla="*/ 15208 h 6211920"/>
              <a:gd name="connsiteX6349" fmla="*/ 5285480 w 9635294"/>
              <a:gd name="connsiteY6349" fmla="*/ 18377 h 6211920"/>
              <a:gd name="connsiteX6350" fmla="*/ 5260207 w 9635294"/>
              <a:gd name="connsiteY6350" fmla="*/ 16777 h 6211920"/>
              <a:gd name="connsiteX6351" fmla="*/ 5259979 w 9635294"/>
              <a:gd name="connsiteY6351" fmla="*/ 20031 h 6211920"/>
              <a:gd name="connsiteX6352" fmla="*/ 4372154 w 9635294"/>
              <a:gd name="connsiteY6352" fmla="*/ 13589 h 6211920"/>
              <a:gd name="connsiteX6353" fmla="*/ 4372349 w 9635294"/>
              <a:gd name="connsiteY6353" fmla="*/ 16758 h 6211920"/>
              <a:gd name="connsiteX6354" fmla="*/ 4347055 w 9635294"/>
              <a:gd name="connsiteY6354" fmla="*/ 18351 h 6211920"/>
              <a:gd name="connsiteX6355" fmla="*/ 4346848 w 9635294"/>
              <a:gd name="connsiteY6355" fmla="*/ 15183 h 6211920"/>
              <a:gd name="connsiteX6356" fmla="*/ 4372154 w 9635294"/>
              <a:gd name="connsiteY6356" fmla="*/ 13589 h 6211920"/>
              <a:gd name="connsiteX6357" fmla="*/ 5057112 w 9635294"/>
              <a:gd name="connsiteY6357" fmla="*/ 13526 h 6211920"/>
              <a:gd name="connsiteX6358" fmla="*/ 5082455 w 9635294"/>
              <a:gd name="connsiteY6358" fmla="*/ 14415 h 6211920"/>
              <a:gd name="connsiteX6359" fmla="*/ 5082344 w 9635294"/>
              <a:gd name="connsiteY6359" fmla="*/ 17583 h 6211920"/>
              <a:gd name="connsiteX6360" fmla="*/ 5057007 w 9635294"/>
              <a:gd name="connsiteY6360" fmla="*/ 16701 h 6211920"/>
              <a:gd name="connsiteX6361" fmla="*/ 5133239 w 9635294"/>
              <a:gd name="connsiteY6361" fmla="*/ 13284 h 6211920"/>
              <a:gd name="connsiteX6362" fmla="*/ 5132953 w 9635294"/>
              <a:gd name="connsiteY6362" fmla="*/ 19621 h 6211920"/>
              <a:gd name="connsiteX6363" fmla="*/ 5107680 w 9635294"/>
              <a:gd name="connsiteY6363" fmla="*/ 18561 h 6211920"/>
              <a:gd name="connsiteX6364" fmla="*/ 5107807 w 9635294"/>
              <a:gd name="connsiteY6364" fmla="*/ 15386 h 6211920"/>
              <a:gd name="connsiteX6365" fmla="*/ 5133080 w 9635294"/>
              <a:gd name="connsiteY6365" fmla="*/ 16453 h 6211920"/>
              <a:gd name="connsiteX6366" fmla="*/ 5158671 w 9635294"/>
              <a:gd name="connsiteY6366" fmla="*/ 11259 h 6211920"/>
              <a:gd name="connsiteX6367" fmla="*/ 5158702 w 9635294"/>
              <a:gd name="connsiteY6367" fmla="*/ 11261 h 6211920"/>
              <a:gd name="connsiteX6368" fmla="*/ 5158544 w 9635294"/>
              <a:gd name="connsiteY6368" fmla="*/ 14432 h 6211920"/>
              <a:gd name="connsiteX6369" fmla="*/ 4473760 w 9635294"/>
              <a:gd name="connsiteY6369" fmla="*/ 11246 h 6211920"/>
              <a:gd name="connsiteX6370" fmla="*/ 4473961 w 9635294"/>
              <a:gd name="connsiteY6370" fmla="*/ 15519 h 6211920"/>
              <a:gd name="connsiteX6371" fmla="*/ 4473758 w 9635294"/>
              <a:gd name="connsiteY6371" fmla="*/ 11246 h 6211920"/>
              <a:gd name="connsiteX6372" fmla="*/ 4955658 w 9635294"/>
              <a:gd name="connsiteY6372" fmla="*/ 10865 h 6211920"/>
              <a:gd name="connsiteX6373" fmla="*/ 4980963 w 9635294"/>
              <a:gd name="connsiteY6373" fmla="*/ 11398 h 6211920"/>
              <a:gd name="connsiteX6374" fmla="*/ 4980890 w 9635294"/>
              <a:gd name="connsiteY6374" fmla="*/ 14567 h 6211920"/>
              <a:gd name="connsiteX6375" fmla="*/ 4955597 w 9635294"/>
              <a:gd name="connsiteY6375" fmla="*/ 14040 h 6211920"/>
              <a:gd name="connsiteX6376" fmla="*/ 5209661 w 9635294"/>
              <a:gd name="connsiteY6376" fmla="*/ 10674 h 6211920"/>
              <a:gd name="connsiteX6377" fmla="*/ 5234997 w 9635294"/>
              <a:gd name="connsiteY6377" fmla="*/ 12097 h 6211920"/>
              <a:gd name="connsiteX6378" fmla="*/ 5234652 w 9635294"/>
              <a:gd name="connsiteY6378" fmla="*/ 18358 h 6211920"/>
              <a:gd name="connsiteX6379" fmla="*/ 5234807 w 9635294"/>
              <a:gd name="connsiteY6379" fmla="*/ 15265 h 6211920"/>
              <a:gd name="connsiteX6380" fmla="*/ 5209487 w 9635294"/>
              <a:gd name="connsiteY6380" fmla="*/ 13844 h 6211920"/>
              <a:gd name="connsiteX6381" fmla="*/ 4422846 w 9635294"/>
              <a:gd name="connsiteY6381" fmla="*/ 10655 h 6211920"/>
              <a:gd name="connsiteX6382" fmla="*/ 4423017 w 9635294"/>
              <a:gd name="connsiteY6382" fmla="*/ 13824 h 6211920"/>
              <a:gd name="connsiteX6383" fmla="*/ 4397675 w 9635294"/>
              <a:gd name="connsiteY6383" fmla="*/ 15246 h 6211920"/>
              <a:gd name="connsiteX6384" fmla="*/ 4397878 w 9635294"/>
              <a:gd name="connsiteY6384" fmla="*/ 18815 h 6211920"/>
              <a:gd name="connsiteX6385" fmla="*/ 4397490 w 9635294"/>
              <a:gd name="connsiteY6385" fmla="*/ 12078 h 6211920"/>
              <a:gd name="connsiteX6386" fmla="*/ 4422846 w 9635294"/>
              <a:gd name="connsiteY6386" fmla="*/ 10655 h 6211920"/>
              <a:gd name="connsiteX6387" fmla="*/ 5057221 w 9635294"/>
              <a:gd name="connsiteY6387" fmla="*/ 10234 h 6211920"/>
              <a:gd name="connsiteX6388" fmla="*/ 5057112 w 9635294"/>
              <a:gd name="connsiteY6388" fmla="*/ 13526 h 6211920"/>
              <a:gd name="connsiteX6389" fmla="*/ 5057109 w 9635294"/>
              <a:gd name="connsiteY6389" fmla="*/ 13526 h 6211920"/>
              <a:gd name="connsiteX6390" fmla="*/ 5133381 w 9635294"/>
              <a:gd name="connsiteY6390" fmla="*/ 10109 h 6211920"/>
              <a:gd name="connsiteX6391" fmla="*/ 5133397 w 9635294"/>
              <a:gd name="connsiteY6391" fmla="*/ 10109 h 6211920"/>
              <a:gd name="connsiteX6392" fmla="*/ 5133239 w 9635294"/>
              <a:gd name="connsiteY6392" fmla="*/ 13284 h 6211920"/>
              <a:gd name="connsiteX6393" fmla="*/ 4575136 w 9635294"/>
              <a:gd name="connsiteY6393" fmla="*/ 10016 h 6211920"/>
              <a:gd name="connsiteX6394" fmla="*/ 4575361 w 9635294"/>
              <a:gd name="connsiteY6394" fmla="*/ 16694 h 6211920"/>
              <a:gd name="connsiteX6395" fmla="*/ 4550037 w 9635294"/>
              <a:gd name="connsiteY6395" fmla="*/ 17577 h 6211920"/>
              <a:gd name="connsiteX6396" fmla="*/ 4549849 w 9635294"/>
              <a:gd name="connsiteY6396" fmla="*/ 12452 h 6211920"/>
              <a:gd name="connsiteX6397" fmla="*/ 4549921 w 9635294"/>
              <a:gd name="connsiteY6397" fmla="*/ 14402 h 6211920"/>
              <a:gd name="connsiteX6398" fmla="*/ 4575253 w 9635294"/>
              <a:gd name="connsiteY6398" fmla="*/ 13519 h 6211920"/>
              <a:gd name="connsiteX6399" fmla="*/ 4816089 w 9635294"/>
              <a:gd name="connsiteY6399" fmla="*/ 9525 h 6211920"/>
              <a:gd name="connsiteX6400" fmla="*/ 4828801 w 9635294"/>
              <a:gd name="connsiteY6400" fmla="*/ 9538 h 6211920"/>
              <a:gd name="connsiteX6401" fmla="*/ 4828794 w 9635294"/>
              <a:gd name="connsiteY6401" fmla="*/ 12713 h 6211920"/>
              <a:gd name="connsiteX6402" fmla="*/ 4816089 w 9635294"/>
              <a:gd name="connsiteY6402" fmla="*/ 12700 h 6211920"/>
              <a:gd name="connsiteX6403" fmla="*/ 4803383 w 9635294"/>
              <a:gd name="connsiteY6403" fmla="*/ 12713 h 6211920"/>
              <a:gd name="connsiteX6404" fmla="*/ 4803376 w 9635294"/>
              <a:gd name="connsiteY6404" fmla="*/ 9538 h 6211920"/>
              <a:gd name="connsiteX6405" fmla="*/ 5108061 w 9635294"/>
              <a:gd name="connsiteY6405" fmla="*/ 9042 h 6211920"/>
              <a:gd name="connsiteX6406" fmla="*/ 5108062 w 9635294"/>
              <a:gd name="connsiteY6406" fmla="*/ 9042 h 6211920"/>
              <a:gd name="connsiteX6407" fmla="*/ 5107807 w 9635294"/>
              <a:gd name="connsiteY6407" fmla="*/ 15386 h 6211920"/>
              <a:gd name="connsiteX6408" fmla="*/ 5107807 w 9635294"/>
              <a:gd name="connsiteY6408" fmla="*/ 15386 h 6211920"/>
              <a:gd name="connsiteX6409" fmla="*/ 4524356 w 9635294"/>
              <a:gd name="connsiteY6409" fmla="*/ 9036 h 6211920"/>
              <a:gd name="connsiteX6410" fmla="*/ 4499046 w 9635294"/>
              <a:gd name="connsiteY6410" fmla="*/ 10096 h 6211920"/>
              <a:gd name="connsiteX6411" fmla="*/ 4499326 w 9635294"/>
              <a:gd name="connsiteY6411" fmla="*/ 16440 h 6211920"/>
              <a:gd name="connsiteX6412" fmla="*/ 4524611 w 9635294"/>
              <a:gd name="connsiteY6412" fmla="*/ 15380 h 6211920"/>
              <a:gd name="connsiteX6413" fmla="*/ 4981026 w 9635294"/>
              <a:gd name="connsiteY6413" fmla="*/ 8684 h 6211920"/>
              <a:gd name="connsiteX6414" fmla="*/ 4980966 w 9635294"/>
              <a:gd name="connsiteY6414" fmla="*/ 11398 h 6211920"/>
              <a:gd name="connsiteX6415" fmla="*/ 4980963 w 9635294"/>
              <a:gd name="connsiteY6415" fmla="*/ 11398 h 6211920"/>
              <a:gd name="connsiteX6416" fmla="*/ 4955706 w 9635294"/>
              <a:gd name="connsiteY6416" fmla="*/ 8312 h 6211920"/>
              <a:gd name="connsiteX6417" fmla="*/ 4955658 w 9635294"/>
              <a:gd name="connsiteY6417" fmla="*/ 10865 h 6211920"/>
              <a:gd name="connsiteX6418" fmla="*/ 4955655 w 9635294"/>
              <a:gd name="connsiteY6418" fmla="*/ 10865 h 6211920"/>
              <a:gd name="connsiteX6419" fmla="*/ 4651268 w 9635294"/>
              <a:gd name="connsiteY6419" fmla="*/ 8215 h 6211920"/>
              <a:gd name="connsiteX6420" fmla="*/ 4651341 w 9635294"/>
              <a:gd name="connsiteY6420" fmla="*/ 11392 h 6211920"/>
              <a:gd name="connsiteX6421" fmla="*/ 4651337 w 9635294"/>
              <a:gd name="connsiteY6421" fmla="*/ 11392 h 6211920"/>
              <a:gd name="connsiteX6422" fmla="*/ 5158861 w 9635294"/>
              <a:gd name="connsiteY6422" fmla="*/ 8090 h 6211920"/>
              <a:gd name="connsiteX6423" fmla="*/ 5184261 w 9635294"/>
              <a:gd name="connsiteY6423" fmla="*/ 9335 h 6211920"/>
              <a:gd name="connsiteX6424" fmla="*/ 5183626 w 9635294"/>
              <a:gd name="connsiteY6424" fmla="*/ 22022 h 6211920"/>
              <a:gd name="connsiteX6425" fmla="*/ 5158226 w 9635294"/>
              <a:gd name="connsiteY6425" fmla="*/ 20777 h 6211920"/>
              <a:gd name="connsiteX6426" fmla="*/ 5158544 w 9635294"/>
              <a:gd name="connsiteY6426" fmla="*/ 14432 h 6211920"/>
              <a:gd name="connsiteX6427" fmla="*/ 5158416 w 9635294"/>
              <a:gd name="connsiteY6427" fmla="*/ 17602 h 6211920"/>
              <a:gd name="connsiteX6428" fmla="*/ 5183753 w 9635294"/>
              <a:gd name="connsiteY6428" fmla="*/ 18847 h 6211920"/>
              <a:gd name="connsiteX6429" fmla="*/ 5184071 w 9635294"/>
              <a:gd name="connsiteY6429" fmla="*/ 12510 h 6211920"/>
              <a:gd name="connsiteX6430" fmla="*/ 5158702 w 9635294"/>
              <a:gd name="connsiteY6430" fmla="*/ 11261 h 6211920"/>
              <a:gd name="connsiteX6431" fmla="*/ 4473608 w 9635294"/>
              <a:gd name="connsiteY6431" fmla="*/ 8077 h 6211920"/>
              <a:gd name="connsiteX6432" fmla="*/ 4473758 w 9635294"/>
              <a:gd name="connsiteY6432" fmla="*/ 11246 h 6211920"/>
              <a:gd name="connsiteX6433" fmla="*/ 4448386 w 9635294"/>
              <a:gd name="connsiteY6433" fmla="*/ 12490 h 6211920"/>
              <a:gd name="connsiteX6434" fmla="*/ 4448545 w 9635294"/>
              <a:gd name="connsiteY6434" fmla="*/ 15684 h 6211920"/>
              <a:gd name="connsiteX6435" fmla="*/ 4448221 w 9635294"/>
              <a:gd name="connsiteY6435" fmla="*/ 9322 h 6211920"/>
              <a:gd name="connsiteX6436" fmla="*/ 4473608 w 9635294"/>
              <a:gd name="connsiteY6436" fmla="*/ 8077 h 6211920"/>
              <a:gd name="connsiteX6437" fmla="*/ 5082677 w 9635294"/>
              <a:gd name="connsiteY6437" fmla="*/ 8064 h 6211920"/>
              <a:gd name="connsiteX6438" fmla="*/ 5082724 w 9635294"/>
              <a:gd name="connsiteY6438" fmla="*/ 8065 h 6211920"/>
              <a:gd name="connsiteX6439" fmla="*/ 5082471 w 9635294"/>
              <a:gd name="connsiteY6439" fmla="*/ 14415 h 6211920"/>
              <a:gd name="connsiteX6440" fmla="*/ 5082455 w 9635294"/>
              <a:gd name="connsiteY6440" fmla="*/ 14415 h 6211920"/>
              <a:gd name="connsiteX6441" fmla="*/ 4549689 w 9635294"/>
              <a:gd name="connsiteY6441" fmla="*/ 8058 h 6211920"/>
              <a:gd name="connsiteX6442" fmla="*/ 4549849 w 9635294"/>
              <a:gd name="connsiteY6442" fmla="*/ 12452 h 6211920"/>
              <a:gd name="connsiteX6443" fmla="*/ 4549686 w 9635294"/>
              <a:gd name="connsiteY6443" fmla="*/ 8058 h 6211920"/>
              <a:gd name="connsiteX6444" fmla="*/ 4930379 w 9635294"/>
              <a:gd name="connsiteY6444" fmla="*/ 7248 h 6211920"/>
              <a:gd name="connsiteX6445" fmla="*/ 4930331 w 9635294"/>
              <a:gd name="connsiteY6445" fmla="*/ 10420 h 6211920"/>
              <a:gd name="connsiteX6446" fmla="*/ 4930330 w 9635294"/>
              <a:gd name="connsiteY6446" fmla="*/ 10420 h 6211920"/>
              <a:gd name="connsiteX6447" fmla="*/ 4575042 w 9635294"/>
              <a:gd name="connsiteY6447" fmla="*/ 7176 h 6211920"/>
              <a:gd name="connsiteX6448" fmla="*/ 4575136 w 9635294"/>
              <a:gd name="connsiteY6448" fmla="*/ 10016 h 6211920"/>
              <a:gd name="connsiteX6449" fmla="*/ 4575041 w 9635294"/>
              <a:gd name="connsiteY6449" fmla="*/ 7176 h 6211920"/>
              <a:gd name="connsiteX6450" fmla="*/ 4854230 w 9635294"/>
              <a:gd name="connsiteY6450" fmla="*/ 7016 h 6211920"/>
              <a:gd name="connsiteX6451" fmla="*/ 4854217 w 9635294"/>
              <a:gd name="connsiteY6451" fmla="*/ 9627 h 6211920"/>
              <a:gd name="connsiteX6452" fmla="*/ 4854214 w 9635294"/>
              <a:gd name="connsiteY6452" fmla="*/ 9627 h 6211920"/>
              <a:gd name="connsiteX6453" fmla="*/ 4777967 w 9635294"/>
              <a:gd name="connsiteY6453" fmla="*/ 6453 h 6211920"/>
              <a:gd name="connsiteX6454" fmla="*/ 4778002 w 9635294"/>
              <a:gd name="connsiteY6454" fmla="*/ 12802 h 6211920"/>
              <a:gd name="connsiteX6455" fmla="*/ 4752639 w 9635294"/>
              <a:gd name="connsiteY6455" fmla="*/ 12979 h 6211920"/>
              <a:gd name="connsiteX6456" fmla="*/ 4752586 w 9635294"/>
              <a:gd name="connsiteY6456" fmla="*/ 6628 h 6211920"/>
              <a:gd name="connsiteX6457" fmla="*/ 4752615 w 9635294"/>
              <a:gd name="connsiteY6457" fmla="*/ 9804 h 6211920"/>
              <a:gd name="connsiteX6458" fmla="*/ 4777983 w 9635294"/>
              <a:gd name="connsiteY6458" fmla="*/ 9627 h 6211920"/>
              <a:gd name="connsiteX6459" fmla="*/ 5108188 w 9635294"/>
              <a:gd name="connsiteY6459" fmla="*/ 5874 h 6211920"/>
              <a:gd name="connsiteX6460" fmla="*/ 5133524 w 9635294"/>
              <a:gd name="connsiteY6460" fmla="*/ 6934 h 6211920"/>
              <a:gd name="connsiteX6461" fmla="*/ 5133381 w 9635294"/>
              <a:gd name="connsiteY6461" fmla="*/ 10109 h 6211920"/>
              <a:gd name="connsiteX6462" fmla="*/ 5108062 w 9635294"/>
              <a:gd name="connsiteY6462" fmla="*/ 9042 h 6211920"/>
              <a:gd name="connsiteX6463" fmla="*/ 4524230 w 9635294"/>
              <a:gd name="connsiteY6463" fmla="*/ 5861 h 6211920"/>
              <a:gd name="connsiteX6464" fmla="*/ 4524737 w 9635294"/>
              <a:gd name="connsiteY6464" fmla="*/ 18548 h 6211920"/>
              <a:gd name="connsiteX6465" fmla="*/ 4499464 w 9635294"/>
              <a:gd name="connsiteY6465" fmla="*/ 19615 h 6211920"/>
              <a:gd name="connsiteX6466" fmla="*/ 4498906 w 9635294"/>
              <a:gd name="connsiteY6466" fmla="*/ 6928 h 6211920"/>
              <a:gd name="connsiteX6467" fmla="*/ 4524230 w 9635294"/>
              <a:gd name="connsiteY6467" fmla="*/ 5861 h 6211920"/>
              <a:gd name="connsiteX6468" fmla="*/ 4879644 w 9635294"/>
              <a:gd name="connsiteY6468" fmla="*/ 5720 h 6211920"/>
              <a:gd name="connsiteX6469" fmla="*/ 4879582 w 9635294"/>
              <a:gd name="connsiteY6469" fmla="*/ 12979 h 6211920"/>
              <a:gd name="connsiteX6470" fmla="*/ 4854201 w 9635294"/>
              <a:gd name="connsiteY6470" fmla="*/ 12802 h 6211920"/>
              <a:gd name="connsiteX6471" fmla="*/ 4854217 w 9635294"/>
              <a:gd name="connsiteY6471" fmla="*/ 9627 h 6211920"/>
              <a:gd name="connsiteX6472" fmla="*/ 4879607 w 9635294"/>
              <a:gd name="connsiteY6472" fmla="*/ 9804 h 6211920"/>
              <a:gd name="connsiteX6473" fmla="*/ 5006505 w 9635294"/>
              <a:gd name="connsiteY6473" fmla="*/ 5671 h 6211920"/>
              <a:gd name="connsiteX6474" fmla="*/ 5006506 w 9635294"/>
              <a:gd name="connsiteY6474" fmla="*/ 5671 h 6211920"/>
              <a:gd name="connsiteX6475" fmla="*/ 5006341 w 9635294"/>
              <a:gd name="connsiteY6475" fmla="*/ 12014 h 6211920"/>
              <a:gd name="connsiteX6476" fmla="*/ 5006340 w 9635294"/>
              <a:gd name="connsiteY6476" fmla="*/ 12014 h 6211920"/>
              <a:gd name="connsiteX6477" fmla="*/ 4625818 w 9635294"/>
              <a:gd name="connsiteY6477" fmla="*/ 5664 h 6211920"/>
              <a:gd name="connsiteX6478" fmla="*/ 4625983 w 9635294"/>
              <a:gd name="connsiteY6478" fmla="*/ 12014 h 6211920"/>
              <a:gd name="connsiteX6479" fmla="*/ 4625982 w 9635294"/>
              <a:gd name="connsiteY6479" fmla="*/ 12014 h 6211920"/>
              <a:gd name="connsiteX6480" fmla="*/ 4625817 w 9635294"/>
              <a:gd name="connsiteY6480" fmla="*/ 5664 h 6211920"/>
              <a:gd name="connsiteX6481" fmla="*/ 4727204 w 9635294"/>
              <a:gd name="connsiteY6481" fmla="*/ 5362 h 6211920"/>
              <a:gd name="connsiteX6482" fmla="*/ 4727265 w 9635294"/>
              <a:gd name="connsiteY6482" fmla="*/ 10065 h 6211920"/>
              <a:gd name="connsiteX6483" fmla="*/ 4727263 w 9635294"/>
              <a:gd name="connsiteY6483" fmla="*/ 10065 h 6211920"/>
              <a:gd name="connsiteX6484" fmla="*/ 5057426 w 9635294"/>
              <a:gd name="connsiteY6484" fmla="*/ 4007 h 6211920"/>
              <a:gd name="connsiteX6485" fmla="*/ 5082788 w 9635294"/>
              <a:gd name="connsiteY6485" fmla="*/ 4896 h 6211920"/>
              <a:gd name="connsiteX6486" fmla="*/ 5082677 w 9635294"/>
              <a:gd name="connsiteY6486" fmla="*/ 8064 h 6211920"/>
              <a:gd name="connsiteX6487" fmla="*/ 5057324 w 9635294"/>
              <a:gd name="connsiteY6487" fmla="*/ 7176 h 6211920"/>
              <a:gd name="connsiteX6488" fmla="*/ 5057221 w 9635294"/>
              <a:gd name="connsiteY6488" fmla="*/ 10234 h 6211920"/>
              <a:gd name="connsiteX6489" fmla="*/ 4574935 w 9635294"/>
              <a:gd name="connsiteY6489" fmla="*/ 4001 h 6211920"/>
              <a:gd name="connsiteX6490" fmla="*/ 4575041 w 9635294"/>
              <a:gd name="connsiteY6490" fmla="*/ 7176 h 6211920"/>
              <a:gd name="connsiteX6491" fmla="*/ 4549689 w 9635294"/>
              <a:gd name="connsiteY6491" fmla="*/ 8058 h 6211920"/>
              <a:gd name="connsiteX6492" fmla="*/ 4549572 w 9635294"/>
              <a:gd name="connsiteY6492" fmla="*/ 4883 h 6211920"/>
              <a:gd name="connsiteX6493" fmla="*/ 4574935 w 9635294"/>
              <a:gd name="connsiteY6493" fmla="*/ 4001 h 6211920"/>
              <a:gd name="connsiteX6494" fmla="*/ 4879663 w 9635294"/>
              <a:gd name="connsiteY6494" fmla="*/ 3454 h 6211920"/>
              <a:gd name="connsiteX6495" fmla="*/ 4879664 w 9635294"/>
              <a:gd name="connsiteY6495" fmla="*/ 3454 h 6211920"/>
              <a:gd name="connsiteX6496" fmla="*/ 4879644 w 9635294"/>
              <a:gd name="connsiteY6496" fmla="*/ 5720 h 6211920"/>
              <a:gd name="connsiteX6497" fmla="*/ 4752559 w 9635294"/>
              <a:gd name="connsiteY6497" fmla="*/ 3454 h 6211920"/>
              <a:gd name="connsiteX6498" fmla="*/ 4752586 w 9635294"/>
              <a:gd name="connsiteY6498" fmla="*/ 6628 h 6211920"/>
              <a:gd name="connsiteX6499" fmla="*/ 4752556 w 9635294"/>
              <a:gd name="connsiteY6499" fmla="*/ 3454 h 6211920"/>
              <a:gd name="connsiteX6500" fmla="*/ 4777951 w 9635294"/>
              <a:gd name="connsiteY6500" fmla="*/ 3277 h 6211920"/>
              <a:gd name="connsiteX6501" fmla="*/ 4777967 w 9635294"/>
              <a:gd name="connsiteY6501" fmla="*/ 6453 h 6211920"/>
              <a:gd name="connsiteX6502" fmla="*/ 4777949 w 9635294"/>
              <a:gd name="connsiteY6502" fmla="*/ 3277 h 6211920"/>
              <a:gd name="connsiteX6503" fmla="*/ 4803363 w 9635294"/>
              <a:gd name="connsiteY6503" fmla="*/ 3188 h 6211920"/>
              <a:gd name="connsiteX6504" fmla="*/ 4803376 w 9635294"/>
              <a:gd name="connsiteY6504" fmla="*/ 9538 h 6211920"/>
              <a:gd name="connsiteX6505" fmla="*/ 4803375 w 9635294"/>
              <a:gd name="connsiteY6505" fmla="*/ 9538 h 6211920"/>
              <a:gd name="connsiteX6506" fmla="*/ 4803363 w 9635294"/>
              <a:gd name="connsiteY6506" fmla="*/ 3188 h 6211920"/>
              <a:gd name="connsiteX6507" fmla="*/ 4828814 w 9635294"/>
              <a:gd name="connsiteY6507" fmla="*/ 3188 h 6211920"/>
              <a:gd name="connsiteX6508" fmla="*/ 4828814 w 9635294"/>
              <a:gd name="connsiteY6508" fmla="*/ 3188 h 6211920"/>
              <a:gd name="connsiteX6509" fmla="*/ 4828801 w 9635294"/>
              <a:gd name="connsiteY6509" fmla="*/ 9538 h 6211920"/>
              <a:gd name="connsiteX6510" fmla="*/ 4828801 w 9635294"/>
              <a:gd name="connsiteY6510" fmla="*/ 9538 h 6211920"/>
              <a:gd name="connsiteX6511" fmla="*/ 5006588 w 9635294"/>
              <a:gd name="connsiteY6511" fmla="*/ 2496 h 6211920"/>
              <a:gd name="connsiteX6512" fmla="*/ 5032020 w 9635294"/>
              <a:gd name="connsiteY6512" fmla="*/ 3207 h 6211920"/>
              <a:gd name="connsiteX6513" fmla="*/ 5031639 w 9635294"/>
              <a:gd name="connsiteY6513" fmla="*/ 15900 h 6211920"/>
              <a:gd name="connsiteX6514" fmla="*/ 5006258 w 9635294"/>
              <a:gd name="connsiteY6514" fmla="*/ 15189 h 6211920"/>
              <a:gd name="connsiteX6515" fmla="*/ 5006341 w 9635294"/>
              <a:gd name="connsiteY6515" fmla="*/ 12014 h 6211920"/>
              <a:gd name="connsiteX6516" fmla="*/ 5031734 w 9635294"/>
              <a:gd name="connsiteY6516" fmla="*/ 12725 h 6211920"/>
              <a:gd name="connsiteX6517" fmla="*/ 5031924 w 9635294"/>
              <a:gd name="connsiteY6517" fmla="*/ 6382 h 6211920"/>
              <a:gd name="connsiteX6518" fmla="*/ 5006506 w 9635294"/>
              <a:gd name="connsiteY6518" fmla="*/ 5671 h 6211920"/>
              <a:gd name="connsiteX6519" fmla="*/ 4625735 w 9635294"/>
              <a:gd name="connsiteY6519" fmla="*/ 2489 h 6211920"/>
              <a:gd name="connsiteX6520" fmla="*/ 4625817 w 9635294"/>
              <a:gd name="connsiteY6520" fmla="*/ 5664 h 6211920"/>
              <a:gd name="connsiteX6521" fmla="*/ 4600417 w 9635294"/>
              <a:gd name="connsiteY6521" fmla="*/ 6375 h 6211920"/>
              <a:gd name="connsiteX6522" fmla="*/ 4600608 w 9635294"/>
              <a:gd name="connsiteY6522" fmla="*/ 12719 h 6211920"/>
              <a:gd name="connsiteX6523" fmla="*/ 4625982 w 9635294"/>
              <a:gd name="connsiteY6523" fmla="*/ 12014 h 6211920"/>
              <a:gd name="connsiteX6524" fmla="*/ 4626064 w 9635294"/>
              <a:gd name="connsiteY6524" fmla="*/ 15183 h 6211920"/>
              <a:gd name="connsiteX6525" fmla="*/ 4600703 w 9635294"/>
              <a:gd name="connsiteY6525" fmla="*/ 15894 h 6211920"/>
              <a:gd name="connsiteX6526" fmla="*/ 4600322 w 9635294"/>
              <a:gd name="connsiteY6526" fmla="*/ 3200 h 6211920"/>
              <a:gd name="connsiteX6527" fmla="*/ 4625735 w 9635294"/>
              <a:gd name="connsiteY6527" fmla="*/ 2489 h 6211920"/>
              <a:gd name="connsiteX6528" fmla="*/ 4955839 w 9635294"/>
              <a:gd name="connsiteY6528" fmla="*/ 1340 h 6211920"/>
              <a:gd name="connsiteX6529" fmla="*/ 4981182 w 9635294"/>
              <a:gd name="connsiteY6529" fmla="*/ 1873 h 6211920"/>
              <a:gd name="connsiteX6530" fmla="*/ 4981026 w 9635294"/>
              <a:gd name="connsiteY6530" fmla="*/ 8684 h 6211920"/>
              <a:gd name="connsiteX6531" fmla="*/ 4981105 w 9635294"/>
              <a:gd name="connsiteY6531" fmla="*/ 5048 h 6211920"/>
              <a:gd name="connsiteX6532" fmla="*/ 4955782 w 9635294"/>
              <a:gd name="connsiteY6532" fmla="*/ 4515 h 6211920"/>
              <a:gd name="connsiteX6533" fmla="*/ 4955706 w 9635294"/>
              <a:gd name="connsiteY6533" fmla="*/ 8312 h 6211920"/>
              <a:gd name="connsiteX6534" fmla="*/ 4676446 w 9635294"/>
              <a:gd name="connsiteY6534" fmla="*/ 1340 h 6211920"/>
              <a:gd name="connsiteX6535" fmla="*/ 4676687 w 9635294"/>
              <a:gd name="connsiteY6535" fmla="*/ 14040 h 6211920"/>
              <a:gd name="connsiteX6536" fmla="*/ 4651414 w 9635294"/>
              <a:gd name="connsiteY6536" fmla="*/ 14567 h 6211920"/>
              <a:gd name="connsiteX6537" fmla="*/ 4651341 w 9635294"/>
              <a:gd name="connsiteY6537" fmla="*/ 11392 h 6211920"/>
              <a:gd name="connsiteX6538" fmla="*/ 4676624 w 9635294"/>
              <a:gd name="connsiteY6538" fmla="*/ 10865 h 6211920"/>
              <a:gd name="connsiteX6539" fmla="*/ 4676503 w 9635294"/>
              <a:gd name="connsiteY6539" fmla="*/ 4515 h 6211920"/>
              <a:gd name="connsiteX6540" fmla="*/ 4651199 w 9635294"/>
              <a:gd name="connsiteY6540" fmla="*/ 5042 h 6211920"/>
              <a:gd name="connsiteX6541" fmla="*/ 4651268 w 9635294"/>
              <a:gd name="connsiteY6541" fmla="*/ 8215 h 6211920"/>
              <a:gd name="connsiteX6542" fmla="*/ 4651122 w 9635294"/>
              <a:gd name="connsiteY6542" fmla="*/ 1867 h 6211920"/>
              <a:gd name="connsiteX6543" fmla="*/ 4676446 w 9635294"/>
              <a:gd name="connsiteY6543" fmla="*/ 1340 h 6211920"/>
              <a:gd name="connsiteX6544" fmla="*/ 4905096 w 9635294"/>
              <a:gd name="connsiteY6544" fmla="*/ 546 h 6211920"/>
              <a:gd name="connsiteX6545" fmla="*/ 4930477 w 9635294"/>
              <a:gd name="connsiteY6545" fmla="*/ 895 h 6211920"/>
              <a:gd name="connsiteX6546" fmla="*/ 4930379 w 9635294"/>
              <a:gd name="connsiteY6546" fmla="*/ 7248 h 6211920"/>
              <a:gd name="connsiteX6547" fmla="*/ 4930426 w 9635294"/>
              <a:gd name="connsiteY6547" fmla="*/ 4070 h 6211920"/>
              <a:gd name="connsiteX6548" fmla="*/ 4905058 w 9635294"/>
              <a:gd name="connsiteY6548" fmla="*/ 3721 h 6211920"/>
              <a:gd name="connsiteX6549" fmla="*/ 4904982 w 9635294"/>
              <a:gd name="connsiteY6549" fmla="*/ 10071 h 6211920"/>
              <a:gd name="connsiteX6550" fmla="*/ 4930330 w 9635294"/>
              <a:gd name="connsiteY6550" fmla="*/ 10420 h 6211920"/>
              <a:gd name="connsiteX6551" fmla="*/ 4930280 w 9635294"/>
              <a:gd name="connsiteY6551" fmla="*/ 13595 h 6211920"/>
              <a:gd name="connsiteX6552" fmla="*/ 4904937 w 9635294"/>
              <a:gd name="connsiteY6552" fmla="*/ 13240 h 6211920"/>
              <a:gd name="connsiteX6553" fmla="*/ 4727143 w 9635294"/>
              <a:gd name="connsiteY6553" fmla="*/ 546 h 6211920"/>
              <a:gd name="connsiteX6554" fmla="*/ 4727204 w 9635294"/>
              <a:gd name="connsiteY6554" fmla="*/ 5362 h 6211920"/>
              <a:gd name="connsiteX6555" fmla="*/ 4727183 w 9635294"/>
              <a:gd name="connsiteY6555" fmla="*/ 3715 h 6211920"/>
              <a:gd name="connsiteX6556" fmla="*/ 4701833 w 9635294"/>
              <a:gd name="connsiteY6556" fmla="*/ 4070 h 6211920"/>
              <a:gd name="connsiteX6557" fmla="*/ 4701935 w 9635294"/>
              <a:gd name="connsiteY6557" fmla="*/ 10420 h 6211920"/>
              <a:gd name="connsiteX6558" fmla="*/ 4727263 w 9635294"/>
              <a:gd name="connsiteY6558" fmla="*/ 10065 h 6211920"/>
              <a:gd name="connsiteX6559" fmla="*/ 4727303 w 9635294"/>
              <a:gd name="connsiteY6559" fmla="*/ 13240 h 6211920"/>
              <a:gd name="connsiteX6560" fmla="*/ 4701985 w 9635294"/>
              <a:gd name="connsiteY6560" fmla="*/ 13595 h 6211920"/>
              <a:gd name="connsiteX6561" fmla="*/ 4701782 w 9635294"/>
              <a:gd name="connsiteY6561" fmla="*/ 895 h 6211920"/>
              <a:gd name="connsiteX6562" fmla="*/ 4727143 w 9635294"/>
              <a:gd name="connsiteY6562" fmla="*/ 546 h 6211920"/>
              <a:gd name="connsiteX6563" fmla="*/ 4854264 w 9635294"/>
              <a:gd name="connsiteY6563" fmla="*/ 102 h 6211920"/>
              <a:gd name="connsiteX6564" fmla="*/ 4879690 w 9635294"/>
              <a:gd name="connsiteY6564" fmla="*/ 279 h 6211920"/>
              <a:gd name="connsiteX6565" fmla="*/ 4879663 w 9635294"/>
              <a:gd name="connsiteY6565" fmla="*/ 3454 h 6211920"/>
              <a:gd name="connsiteX6566" fmla="*/ 4854252 w 9635294"/>
              <a:gd name="connsiteY6566" fmla="*/ 3277 h 6211920"/>
              <a:gd name="connsiteX6567" fmla="*/ 4854230 w 9635294"/>
              <a:gd name="connsiteY6567" fmla="*/ 7016 h 6211920"/>
              <a:gd name="connsiteX6568" fmla="*/ 4777931 w 9635294"/>
              <a:gd name="connsiteY6568" fmla="*/ 102 h 6211920"/>
              <a:gd name="connsiteX6569" fmla="*/ 4777949 w 9635294"/>
              <a:gd name="connsiteY6569" fmla="*/ 3277 h 6211920"/>
              <a:gd name="connsiteX6570" fmla="*/ 4752559 w 9635294"/>
              <a:gd name="connsiteY6570" fmla="*/ 3454 h 6211920"/>
              <a:gd name="connsiteX6571" fmla="*/ 4752532 w 9635294"/>
              <a:gd name="connsiteY6571" fmla="*/ 279 h 6211920"/>
              <a:gd name="connsiteX6572" fmla="*/ 4777931 w 9635294"/>
              <a:gd name="connsiteY6572" fmla="*/ 102 h 6211920"/>
              <a:gd name="connsiteX6573" fmla="*/ 4816089 w 9635294"/>
              <a:gd name="connsiteY6573" fmla="*/ 0 h 6211920"/>
              <a:gd name="connsiteX6574" fmla="*/ 4828820 w 9635294"/>
              <a:gd name="connsiteY6574" fmla="*/ 13 h 6211920"/>
              <a:gd name="connsiteX6575" fmla="*/ 4828814 w 9635294"/>
              <a:gd name="connsiteY6575" fmla="*/ 3188 h 6211920"/>
              <a:gd name="connsiteX6576" fmla="*/ 4816089 w 9635294"/>
              <a:gd name="connsiteY6576" fmla="*/ 3175 h 6211920"/>
              <a:gd name="connsiteX6577" fmla="*/ 4803363 w 9635294"/>
              <a:gd name="connsiteY6577" fmla="*/ 3188 h 6211920"/>
              <a:gd name="connsiteX6578" fmla="*/ 4803356 w 9635294"/>
              <a:gd name="connsiteY6578" fmla="*/ 13 h 6211920"/>
              <a:gd name="connsiteX6579" fmla="*/ 4816089 w 9635294"/>
              <a:gd name="connsiteY6579" fmla="*/ 0 h 621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Lst>
            <a:rect l="l" t="t" r="r" b="b"/>
            <a:pathLst>
              <a:path w="9635294" h="6211920">
                <a:moveTo>
                  <a:pt x="5718423" y="6194553"/>
                </a:moveTo>
                <a:lnTo>
                  <a:pt x="5721598" y="6194553"/>
                </a:lnTo>
                <a:lnTo>
                  <a:pt x="5721598" y="6211920"/>
                </a:lnTo>
                <a:lnTo>
                  <a:pt x="5718423" y="6211920"/>
                </a:lnTo>
                <a:close/>
                <a:moveTo>
                  <a:pt x="5708898" y="6194553"/>
                </a:moveTo>
                <a:lnTo>
                  <a:pt x="5712073" y="6194553"/>
                </a:lnTo>
                <a:lnTo>
                  <a:pt x="5712073" y="6211920"/>
                </a:lnTo>
                <a:lnTo>
                  <a:pt x="5708898" y="6211920"/>
                </a:lnTo>
                <a:close/>
                <a:moveTo>
                  <a:pt x="3928727" y="6194553"/>
                </a:moveTo>
                <a:lnTo>
                  <a:pt x="3931901" y="6194553"/>
                </a:lnTo>
                <a:lnTo>
                  <a:pt x="3931901" y="6211920"/>
                </a:lnTo>
                <a:lnTo>
                  <a:pt x="3928727" y="6211920"/>
                </a:lnTo>
                <a:close/>
                <a:moveTo>
                  <a:pt x="3919202" y="6194553"/>
                </a:moveTo>
                <a:lnTo>
                  <a:pt x="3922376" y="6194553"/>
                </a:lnTo>
                <a:lnTo>
                  <a:pt x="3922376" y="6211920"/>
                </a:lnTo>
                <a:lnTo>
                  <a:pt x="3919202" y="6211920"/>
                </a:lnTo>
                <a:close/>
                <a:moveTo>
                  <a:pt x="5718423" y="6143880"/>
                </a:moveTo>
                <a:lnTo>
                  <a:pt x="5721598" y="6143880"/>
                </a:lnTo>
                <a:lnTo>
                  <a:pt x="5721598" y="6169217"/>
                </a:lnTo>
                <a:lnTo>
                  <a:pt x="5718423" y="6169217"/>
                </a:lnTo>
                <a:close/>
                <a:moveTo>
                  <a:pt x="5708898" y="6143880"/>
                </a:moveTo>
                <a:lnTo>
                  <a:pt x="5712073" y="6143880"/>
                </a:lnTo>
                <a:lnTo>
                  <a:pt x="5712073" y="6169217"/>
                </a:lnTo>
                <a:lnTo>
                  <a:pt x="5708898" y="6169217"/>
                </a:lnTo>
                <a:close/>
                <a:moveTo>
                  <a:pt x="3928727" y="6143880"/>
                </a:moveTo>
                <a:lnTo>
                  <a:pt x="3931901" y="6143880"/>
                </a:lnTo>
                <a:lnTo>
                  <a:pt x="3931901" y="6169217"/>
                </a:lnTo>
                <a:lnTo>
                  <a:pt x="3928727" y="6169217"/>
                </a:lnTo>
                <a:close/>
                <a:moveTo>
                  <a:pt x="3919202" y="6143880"/>
                </a:moveTo>
                <a:lnTo>
                  <a:pt x="3922376" y="6143880"/>
                </a:lnTo>
                <a:lnTo>
                  <a:pt x="3922376" y="6169217"/>
                </a:lnTo>
                <a:lnTo>
                  <a:pt x="3919202" y="6169217"/>
                </a:lnTo>
                <a:close/>
                <a:moveTo>
                  <a:pt x="5718423" y="6093208"/>
                </a:moveTo>
                <a:lnTo>
                  <a:pt x="5721598" y="6093208"/>
                </a:lnTo>
                <a:lnTo>
                  <a:pt x="5721598" y="6118544"/>
                </a:lnTo>
                <a:lnTo>
                  <a:pt x="5718423" y="6118544"/>
                </a:lnTo>
                <a:close/>
                <a:moveTo>
                  <a:pt x="5708898" y="6093208"/>
                </a:moveTo>
                <a:lnTo>
                  <a:pt x="5712073" y="6093208"/>
                </a:lnTo>
                <a:lnTo>
                  <a:pt x="5712073" y="6118544"/>
                </a:lnTo>
                <a:lnTo>
                  <a:pt x="5708898" y="6118544"/>
                </a:lnTo>
                <a:close/>
                <a:moveTo>
                  <a:pt x="3928727" y="6093208"/>
                </a:moveTo>
                <a:lnTo>
                  <a:pt x="3931901" y="6093208"/>
                </a:lnTo>
                <a:lnTo>
                  <a:pt x="3931901" y="6118544"/>
                </a:lnTo>
                <a:lnTo>
                  <a:pt x="3928727" y="6118544"/>
                </a:lnTo>
                <a:close/>
                <a:moveTo>
                  <a:pt x="3919202" y="6093208"/>
                </a:moveTo>
                <a:lnTo>
                  <a:pt x="3922376" y="6093208"/>
                </a:lnTo>
                <a:lnTo>
                  <a:pt x="3922376" y="6118544"/>
                </a:lnTo>
                <a:lnTo>
                  <a:pt x="3919202" y="6118544"/>
                </a:lnTo>
                <a:close/>
                <a:moveTo>
                  <a:pt x="5718423" y="6042533"/>
                </a:moveTo>
                <a:lnTo>
                  <a:pt x="5721598" y="6042533"/>
                </a:lnTo>
                <a:lnTo>
                  <a:pt x="5721598" y="6067869"/>
                </a:lnTo>
                <a:lnTo>
                  <a:pt x="5718423" y="6067869"/>
                </a:lnTo>
                <a:close/>
                <a:moveTo>
                  <a:pt x="5708898" y="6042533"/>
                </a:moveTo>
                <a:lnTo>
                  <a:pt x="5712073" y="6042533"/>
                </a:lnTo>
                <a:lnTo>
                  <a:pt x="5712073" y="6067869"/>
                </a:lnTo>
                <a:lnTo>
                  <a:pt x="5708898" y="6067869"/>
                </a:lnTo>
                <a:close/>
                <a:moveTo>
                  <a:pt x="3928727" y="6042533"/>
                </a:moveTo>
                <a:lnTo>
                  <a:pt x="3931901" y="6042533"/>
                </a:lnTo>
                <a:lnTo>
                  <a:pt x="3931901" y="6067869"/>
                </a:lnTo>
                <a:lnTo>
                  <a:pt x="3928727" y="6067869"/>
                </a:lnTo>
                <a:close/>
                <a:moveTo>
                  <a:pt x="3919202" y="6042533"/>
                </a:moveTo>
                <a:lnTo>
                  <a:pt x="3922376" y="6042533"/>
                </a:lnTo>
                <a:lnTo>
                  <a:pt x="3922376" y="6067869"/>
                </a:lnTo>
                <a:lnTo>
                  <a:pt x="3919202" y="6067869"/>
                </a:lnTo>
                <a:close/>
                <a:moveTo>
                  <a:pt x="5718423" y="5991860"/>
                </a:moveTo>
                <a:lnTo>
                  <a:pt x="5721598" y="5991860"/>
                </a:lnTo>
                <a:lnTo>
                  <a:pt x="5721598" y="6017197"/>
                </a:lnTo>
                <a:lnTo>
                  <a:pt x="5718423" y="6017197"/>
                </a:lnTo>
                <a:close/>
                <a:moveTo>
                  <a:pt x="5708898" y="5991860"/>
                </a:moveTo>
                <a:lnTo>
                  <a:pt x="5712073" y="5991860"/>
                </a:lnTo>
                <a:lnTo>
                  <a:pt x="5712073" y="6017197"/>
                </a:lnTo>
                <a:lnTo>
                  <a:pt x="5708898" y="6017197"/>
                </a:lnTo>
                <a:close/>
                <a:moveTo>
                  <a:pt x="3928727" y="5991860"/>
                </a:moveTo>
                <a:lnTo>
                  <a:pt x="3931901" y="5991860"/>
                </a:lnTo>
                <a:lnTo>
                  <a:pt x="3931901" y="6017197"/>
                </a:lnTo>
                <a:lnTo>
                  <a:pt x="3928727" y="6017197"/>
                </a:lnTo>
                <a:close/>
                <a:moveTo>
                  <a:pt x="3919202" y="5991860"/>
                </a:moveTo>
                <a:lnTo>
                  <a:pt x="3922376" y="5991860"/>
                </a:lnTo>
                <a:lnTo>
                  <a:pt x="3922376" y="6017197"/>
                </a:lnTo>
                <a:lnTo>
                  <a:pt x="3919202" y="6017197"/>
                </a:lnTo>
                <a:close/>
                <a:moveTo>
                  <a:pt x="5718423" y="5941187"/>
                </a:moveTo>
                <a:lnTo>
                  <a:pt x="5721598" y="5941187"/>
                </a:lnTo>
                <a:lnTo>
                  <a:pt x="5721598" y="5966524"/>
                </a:lnTo>
                <a:lnTo>
                  <a:pt x="5718423" y="5966524"/>
                </a:lnTo>
                <a:close/>
                <a:moveTo>
                  <a:pt x="5708898" y="5941187"/>
                </a:moveTo>
                <a:lnTo>
                  <a:pt x="5712073" y="5941187"/>
                </a:lnTo>
                <a:lnTo>
                  <a:pt x="5712073" y="5966524"/>
                </a:lnTo>
                <a:lnTo>
                  <a:pt x="5708898" y="5966524"/>
                </a:lnTo>
                <a:close/>
                <a:moveTo>
                  <a:pt x="3928727" y="5941187"/>
                </a:moveTo>
                <a:lnTo>
                  <a:pt x="3931901" y="5941187"/>
                </a:lnTo>
                <a:lnTo>
                  <a:pt x="3931901" y="5966524"/>
                </a:lnTo>
                <a:lnTo>
                  <a:pt x="3928727" y="5966524"/>
                </a:lnTo>
                <a:close/>
                <a:moveTo>
                  <a:pt x="3919202" y="5941187"/>
                </a:moveTo>
                <a:lnTo>
                  <a:pt x="3922376" y="5941187"/>
                </a:lnTo>
                <a:lnTo>
                  <a:pt x="3922376" y="5966524"/>
                </a:lnTo>
                <a:lnTo>
                  <a:pt x="3919202" y="5966524"/>
                </a:lnTo>
                <a:close/>
                <a:moveTo>
                  <a:pt x="5718423" y="5890515"/>
                </a:moveTo>
                <a:lnTo>
                  <a:pt x="5721598" y="5890515"/>
                </a:lnTo>
                <a:lnTo>
                  <a:pt x="5721598" y="5915851"/>
                </a:lnTo>
                <a:lnTo>
                  <a:pt x="5718423" y="5915851"/>
                </a:lnTo>
                <a:close/>
                <a:moveTo>
                  <a:pt x="5708898" y="5890515"/>
                </a:moveTo>
                <a:lnTo>
                  <a:pt x="5712073" y="5890515"/>
                </a:lnTo>
                <a:lnTo>
                  <a:pt x="5712073" y="5915851"/>
                </a:lnTo>
                <a:lnTo>
                  <a:pt x="5708898" y="5915851"/>
                </a:lnTo>
                <a:close/>
                <a:moveTo>
                  <a:pt x="3928727" y="5890515"/>
                </a:moveTo>
                <a:lnTo>
                  <a:pt x="3931901" y="5890515"/>
                </a:lnTo>
                <a:lnTo>
                  <a:pt x="3931901" y="5915851"/>
                </a:lnTo>
                <a:lnTo>
                  <a:pt x="3928727" y="5915851"/>
                </a:lnTo>
                <a:close/>
                <a:moveTo>
                  <a:pt x="3919202" y="5890515"/>
                </a:moveTo>
                <a:lnTo>
                  <a:pt x="3922376" y="5890515"/>
                </a:lnTo>
                <a:lnTo>
                  <a:pt x="3922376" y="5915851"/>
                </a:lnTo>
                <a:lnTo>
                  <a:pt x="3919202" y="5915851"/>
                </a:lnTo>
                <a:close/>
                <a:moveTo>
                  <a:pt x="5718423" y="5839842"/>
                </a:moveTo>
                <a:lnTo>
                  <a:pt x="5721598" y="5839842"/>
                </a:lnTo>
                <a:lnTo>
                  <a:pt x="5721598" y="5865178"/>
                </a:lnTo>
                <a:lnTo>
                  <a:pt x="5718423" y="5865178"/>
                </a:lnTo>
                <a:close/>
                <a:moveTo>
                  <a:pt x="5708898" y="5839842"/>
                </a:moveTo>
                <a:lnTo>
                  <a:pt x="5712073" y="5839842"/>
                </a:lnTo>
                <a:lnTo>
                  <a:pt x="5712073" y="5865178"/>
                </a:lnTo>
                <a:lnTo>
                  <a:pt x="5708898" y="5865178"/>
                </a:lnTo>
                <a:close/>
                <a:moveTo>
                  <a:pt x="3928727" y="5839842"/>
                </a:moveTo>
                <a:lnTo>
                  <a:pt x="3931901" y="5839842"/>
                </a:lnTo>
                <a:lnTo>
                  <a:pt x="3931901" y="5865178"/>
                </a:lnTo>
                <a:lnTo>
                  <a:pt x="3928727" y="5865178"/>
                </a:lnTo>
                <a:close/>
                <a:moveTo>
                  <a:pt x="3919202" y="5839842"/>
                </a:moveTo>
                <a:lnTo>
                  <a:pt x="3922376" y="5839842"/>
                </a:lnTo>
                <a:lnTo>
                  <a:pt x="3922376" y="5865178"/>
                </a:lnTo>
                <a:lnTo>
                  <a:pt x="3919202" y="5865178"/>
                </a:lnTo>
                <a:close/>
                <a:moveTo>
                  <a:pt x="5718423" y="5789170"/>
                </a:moveTo>
                <a:lnTo>
                  <a:pt x="5721598" y="5789170"/>
                </a:lnTo>
                <a:lnTo>
                  <a:pt x="5721598" y="5814506"/>
                </a:lnTo>
                <a:lnTo>
                  <a:pt x="5718423" y="5814506"/>
                </a:lnTo>
                <a:close/>
                <a:moveTo>
                  <a:pt x="5708898" y="5789170"/>
                </a:moveTo>
                <a:lnTo>
                  <a:pt x="5712073" y="5789170"/>
                </a:lnTo>
                <a:lnTo>
                  <a:pt x="5712073" y="5814506"/>
                </a:lnTo>
                <a:lnTo>
                  <a:pt x="5708898" y="5814506"/>
                </a:lnTo>
                <a:close/>
                <a:moveTo>
                  <a:pt x="3928727" y="5789170"/>
                </a:moveTo>
                <a:lnTo>
                  <a:pt x="3931901" y="5789170"/>
                </a:lnTo>
                <a:lnTo>
                  <a:pt x="3931901" y="5814506"/>
                </a:lnTo>
                <a:lnTo>
                  <a:pt x="3928727" y="5814506"/>
                </a:lnTo>
                <a:close/>
                <a:moveTo>
                  <a:pt x="3919202" y="5789170"/>
                </a:moveTo>
                <a:lnTo>
                  <a:pt x="3922376" y="5789170"/>
                </a:lnTo>
                <a:lnTo>
                  <a:pt x="3922376" y="5814506"/>
                </a:lnTo>
                <a:lnTo>
                  <a:pt x="3919202" y="5814506"/>
                </a:lnTo>
                <a:close/>
                <a:moveTo>
                  <a:pt x="5718423" y="5738495"/>
                </a:moveTo>
                <a:lnTo>
                  <a:pt x="5721598" y="5738495"/>
                </a:lnTo>
                <a:lnTo>
                  <a:pt x="5721598" y="5763831"/>
                </a:lnTo>
                <a:lnTo>
                  <a:pt x="5718423" y="5763831"/>
                </a:lnTo>
                <a:close/>
                <a:moveTo>
                  <a:pt x="5708898" y="5738495"/>
                </a:moveTo>
                <a:lnTo>
                  <a:pt x="5712073" y="5738495"/>
                </a:lnTo>
                <a:lnTo>
                  <a:pt x="5712073" y="5763831"/>
                </a:lnTo>
                <a:lnTo>
                  <a:pt x="5708898" y="5763831"/>
                </a:lnTo>
                <a:close/>
                <a:moveTo>
                  <a:pt x="3928727" y="5738495"/>
                </a:moveTo>
                <a:lnTo>
                  <a:pt x="3931901" y="5738495"/>
                </a:lnTo>
                <a:lnTo>
                  <a:pt x="3931901" y="5763831"/>
                </a:lnTo>
                <a:lnTo>
                  <a:pt x="3928727" y="5763831"/>
                </a:lnTo>
                <a:close/>
                <a:moveTo>
                  <a:pt x="3919202" y="5738495"/>
                </a:moveTo>
                <a:lnTo>
                  <a:pt x="3922376" y="5738495"/>
                </a:lnTo>
                <a:lnTo>
                  <a:pt x="3922376" y="5763831"/>
                </a:lnTo>
                <a:lnTo>
                  <a:pt x="3919202" y="5763831"/>
                </a:lnTo>
                <a:close/>
                <a:moveTo>
                  <a:pt x="5718423" y="5687822"/>
                </a:moveTo>
                <a:lnTo>
                  <a:pt x="5721598" y="5687822"/>
                </a:lnTo>
                <a:lnTo>
                  <a:pt x="5721598" y="5713159"/>
                </a:lnTo>
                <a:lnTo>
                  <a:pt x="5718423" y="5713159"/>
                </a:lnTo>
                <a:close/>
                <a:moveTo>
                  <a:pt x="5708898" y="5687822"/>
                </a:moveTo>
                <a:lnTo>
                  <a:pt x="5712073" y="5687822"/>
                </a:lnTo>
                <a:lnTo>
                  <a:pt x="5712073" y="5713159"/>
                </a:lnTo>
                <a:lnTo>
                  <a:pt x="5708898" y="5713159"/>
                </a:lnTo>
                <a:close/>
                <a:moveTo>
                  <a:pt x="3928727" y="5687822"/>
                </a:moveTo>
                <a:lnTo>
                  <a:pt x="3931901" y="5687822"/>
                </a:lnTo>
                <a:lnTo>
                  <a:pt x="3931901" y="5713159"/>
                </a:lnTo>
                <a:lnTo>
                  <a:pt x="3928727" y="5713159"/>
                </a:lnTo>
                <a:close/>
                <a:moveTo>
                  <a:pt x="3919202" y="5687822"/>
                </a:moveTo>
                <a:lnTo>
                  <a:pt x="3922376" y="5687822"/>
                </a:lnTo>
                <a:lnTo>
                  <a:pt x="3922376" y="5713159"/>
                </a:lnTo>
                <a:lnTo>
                  <a:pt x="3919202" y="5713159"/>
                </a:lnTo>
                <a:close/>
                <a:moveTo>
                  <a:pt x="5718423" y="5637149"/>
                </a:moveTo>
                <a:lnTo>
                  <a:pt x="5721598" y="5637149"/>
                </a:lnTo>
                <a:lnTo>
                  <a:pt x="5721598" y="5662486"/>
                </a:lnTo>
                <a:lnTo>
                  <a:pt x="5718423" y="5662486"/>
                </a:lnTo>
                <a:close/>
                <a:moveTo>
                  <a:pt x="5708898" y="5637149"/>
                </a:moveTo>
                <a:lnTo>
                  <a:pt x="5712073" y="5637149"/>
                </a:lnTo>
                <a:lnTo>
                  <a:pt x="5712073" y="5662486"/>
                </a:lnTo>
                <a:lnTo>
                  <a:pt x="5708898" y="5662486"/>
                </a:lnTo>
                <a:close/>
                <a:moveTo>
                  <a:pt x="3928727" y="5637149"/>
                </a:moveTo>
                <a:lnTo>
                  <a:pt x="3931901" y="5637149"/>
                </a:lnTo>
                <a:lnTo>
                  <a:pt x="3931901" y="5662486"/>
                </a:lnTo>
                <a:lnTo>
                  <a:pt x="3928727" y="5662486"/>
                </a:lnTo>
                <a:close/>
                <a:moveTo>
                  <a:pt x="3919202" y="5637149"/>
                </a:moveTo>
                <a:lnTo>
                  <a:pt x="3922376" y="5637149"/>
                </a:lnTo>
                <a:lnTo>
                  <a:pt x="3922376" y="5662486"/>
                </a:lnTo>
                <a:lnTo>
                  <a:pt x="3919202" y="5662486"/>
                </a:lnTo>
                <a:close/>
                <a:moveTo>
                  <a:pt x="5718423" y="5586476"/>
                </a:moveTo>
                <a:lnTo>
                  <a:pt x="5721598" y="5586476"/>
                </a:lnTo>
                <a:lnTo>
                  <a:pt x="5721598" y="5611813"/>
                </a:lnTo>
                <a:lnTo>
                  <a:pt x="5718423" y="5611813"/>
                </a:lnTo>
                <a:close/>
                <a:moveTo>
                  <a:pt x="5708898" y="5586476"/>
                </a:moveTo>
                <a:lnTo>
                  <a:pt x="5712073" y="5586476"/>
                </a:lnTo>
                <a:lnTo>
                  <a:pt x="5712073" y="5611813"/>
                </a:lnTo>
                <a:lnTo>
                  <a:pt x="5708898" y="5611813"/>
                </a:lnTo>
                <a:close/>
                <a:moveTo>
                  <a:pt x="3928727" y="5586476"/>
                </a:moveTo>
                <a:lnTo>
                  <a:pt x="3931901" y="5586476"/>
                </a:lnTo>
                <a:lnTo>
                  <a:pt x="3931901" y="5611813"/>
                </a:lnTo>
                <a:lnTo>
                  <a:pt x="3928727" y="5611813"/>
                </a:lnTo>
                <a:close/>
                <a:moveTo>
                  <a:pt x="3919202" y="5586476"/>
                </a:moveTo>
                <a:lnTo>
                  <a:pt x="3922376" y="5586476"/>
                </a:lnTo>
                <a:lnTo>
                  <a:pt x="3922376" y="5611813"/>
                </a:lnTo>
                <a:lnTo>
                  <a:pt x="3919202" y="5611813"/>
                </a:lnTo>
                <a:close/>
                <a:moveTo>
                  <a:pt x="5718423" y="5535804"/>
                </a:moveTo>
                <a:lnTo>
                  <a:pt x="5721598" y="5535804"/>
                </a:lnTo>
                <a:lnTo>
                  <a:pt x="5721598" y="5561140"/>
                </a:lnTo>
                <a:lnTo>
                  <a:pt x="5718423" y="5561140"/>
                </a:lnTo>
                <a:close/>
                <a:moveTo>
                  <a:pt x="5708898" y="5535804"/>
                </a:moveTo>
                <a:lnTo>
                  <a:pt x="5712073" y="5535804"/>
                </a:lnTo>
                <a:lnTo>
                  <a:pt x="5712073" y="5561140"/>
                </a:lnTo>
                <a:lnTo>
                  <a:pt x="5708898" y="5561140"/>
                </a:lnTo>
                <a:close/>
                <a:moveTo>
                  <a:pt x="3928727" y="5535804"/>
                </a:moveTo>
                <a:lnTo>
                  <a:pt x="3931901" y="5535804"/>
                </a:lnTo>
                <a:lnTo>
                  <a:pt x="3931901" y="5561140"/>
                </a:lnTo>
                <a:lnTo>
                  <a:pt x="3928727" y="5561140"/>
                </a:lnTo>
                <a:close/>
                <a:moveTo>
                  <a:pt x="3919202" y="5535804"/>
                </a:moveTo>
                <a:lnTo>
                  <a:pt x="3922376" y="5535804"/>
                </a:lnTo>
                <a:lnTo>
                  <a:pt x="3922376" y="5561140"/>
                </a:lnTo>
                <a:lnTo>
                  <a:pt x="3919202" y="5561140"/>
                </a:lnTo>
                <a:close/>
                <a:moveTo>
                  <a:pt x="5718423" y="5485131"/>
                </a:moveTo>
                <a:lnTo>
                  <a:pt x="5721598" y="5485131"/>
                </a:lnTo>
                <a:lnTo>
                  <a:pt x="5721598" y="5510468"/>
                </a:lnTo>
                <a:lnTo>
                  <a:pt x="5718423" y="5510468"/>
                </a:lnTo>
                <a:close/>
                <a:moveTo>
                  <a:pt x="5708898" y="5485131"/>
                </a:moveTo>
                <a:lnTo>
                  <a:pt x="5712073" y="5485131"/>
                </a:lnTo>
                <a:lnTo>
                  <a:pt x="5712073" y="5510468"/>
                </a:lnTo>
                <a:lnTo>
                  <a:pt x="5708898" y="5510468"/>
                </a:lnTo>
                <a:close/>
                <a:moveTo>
                  <a:pt x="3928727" y="5485131"/>
                </a:moveTo>
                <a:lnTo>
                  <a:pt x="3931901" y="5485131"/>
                </a:lnTo>
                <a:lnTo>
                  <a:pt x="3931901" y="5510468"/>
                </a:lnTo>
                <a:lnTo>
                  <a:pt x="3928727" y="5510468"/>
                </a:lnTo>
                <a:close/>
                <a:moveTo>
                  <a:pt x="3919202" y="5485131"/>
                </a:moveTo>
                <a:lnTo>
                  <a:pt x="3922376" y="5485131"/>
                </a:lnTo>
                <a:lnTo>
                  <a:pt x="3922376" y="5510468"/>
                </a:lnTo>
                <a:lnTo>
                  <a:pt x="3919202" y="5510468"/>
                </a:lnTo>
                <a:close/>
                <a:moveTo>
                  <a:pt x="5718423" y="5434457"/>
                </a:moveTo>
                <a:lnTo>
                  <a:pt x="5721598" y="5434457"/>
                </a:lnTo>
                <a:lnTo>
                  <a:pt x="5721598" y="5459795"/>
                </a:lnTo>
                <a:lnTo>
                  <a:pt x="5718423" y="5459795"/>
                </a:lnTo>
                <a:close/>
                <a:moveTo>
                  <a:pt x="5708898" y="5434457"/>
                </a:moveTo>
                <a:lnTo>
                  <a:pt x="5712073" y="5434457"/>
                </a:lnTo>
                <a:lnTo>
                  <a:pt x="5712073" y="5459795"/>
                </a:lnTo>
                <a:lnTo>
                  <a:pt x="5708898" y="5459795"/>
                </a:lnTo>
                <a:close/>
                <a:moveTo>
                  <a:pt x="3928727" y="5434457"/>
                </a:moveTo>
                <a:lnTo>
                  <a:pt x="3931901" y="5434457"/>
                </a:lnTo>
                <a:lnTo>
                  <a:pt x="3931901" y="5459795"/>
                </a:lnTo>
                <a:lnTo>
                  <a:pt x="3928727" y="5459795"/>
                </a:lnTo>
                <a:close/>
                <a:moveTo>
                  <a:pt x="3919202" y="5434457"/>
                </a:moveTo>
                <a:lnTo>
                  <a:pt x="3922376" y="5434457"/>
                </a:lnTo>
                <a:lnTo>
                  <a:pt x="3922376" y="5459795"/>
                </a:lnTo>
                <a:lnTo>
                  <a:pt x="3919202" y="5459795"/>
                </a:lnTo>
                <a:close/>
                <a:moveTo>
                  <a:pt x="5718423" y="5383784"/>
                </a:moveTo>
                <a:lnTo>
                  <a:pt x="5721598" y="5383784"/>
                </a:lnTo>
                <a:lnTo>
                  <a:pt x="5721598" y="5409122"/>
                </a:lnTo>
                <a:lnTo>
                  <a:pt x="5718423" y="5409122"/>
                </a:lnTo>
                <a:close/>
                <a:moveTo>
                  <a:pt x="5708898" y="5383784"/>
                </a:moveTo>
                <a:lnTo>
                  <a:pt x="5712073" y="5383784"/>
                </a:lnTo>
                <a:lnTo>
                  <a:pt x="5712073" y="5409122"/>
                </a:lnTo>
                <a:lnTo>
                  <a:pt x="5708898" y="5409122"/>
                </a:lnTo>
                <a:close/>
                <a:moveTo>
                  <a:pt x="3928727" y="5383784"/>
                </a:moveTo>
                <a:lnTo>
                  <a:pt x="3931901" y="5383784"/>
                </a:lnTo>
                <a:lnTo>
                  <a:pt x="3931901" y="5409122"/>
                </a:lnTo>
                <a:lnTo>
                  <a:pt x="3928727" y="5409122"/>
                </a:lnTo>
                <a:close/>
                <a:moveTo>
                  <a:pt x="3919202" y="5383784"/>
                </a:moveTo>
                <a:lnTo>
                  <a:pt x="3922376" y="5383784"/>
                </a:lnTo>
                <a:lnTo>
                  <a:pt x="3922376" y="5409122"/>
                </a:lnTo>
                <a:lnTo>
                  <a:pt x="3919202" y="5409122"/>
                </a:lnTo>
                <a:close/>
                <a:moveTo>
                  <a:pt x="5718423" y="5333092"/>
                </a:moveTo>
                <a:lnTo>
                  <a:pt x="5721598" y="5333092"/>
                </a:lnTo>
                <a:lnTo>
                  <a:pt x="5721598" y="5358429"/>
                </a:lnTo>
                <a:lnTo>
                  <a:pt x="5718423" y="5358429"/>
                </a:lnTo>
                <a:close/>
                <a:moveTo>
                  <a:pt x="5708898" y="5333092"/>
                </a:moveTo>
                <a:lnTo>
                  <a:pt x="5712073" y="5333092"/>
                </a:lnTo>
                <a:lnTo>
                  <a:pt x="5712073" y="5358429"/>
                </a:lnTo>
                <a:lnTo>
                  <a:pt x="5708898" y="5358429"/>
                </a:lnTo>
                <a:close/>
                <a:moveTo>
                  <a:pt x="3928727" y="5333092"/>
                </a:moveTo>
                <a:lnTo>
                  <a:pt x="3931901" y="5333092"/>
                </a:lnTo>
                <a:lnTo>
                  <a:pt x="3931901" y="5358429"/>
                </a:lnTo>
                <a:lnTo>
                  <a:pt x="3928727" y="5358429"/>
                </a:lnTo>
                <a:close/>
                <a:moveTo>
                  <a:pt x="3919202" y="5333092"/>
                </a:moveTo>
                <a:lnTo>
                  <a:pt x="3922376" y="5333092"/>
                </a:lnTo>
                <a:lnTo>
                  <a:pt x="3922376" y="5358429"/>
                </a:lnTo>
                <a:lnTo>
                  <a:pt x="3919202" y="5358429"/>
                </a:lnTo>
                <a:close/>
                <a:moveTo>
                  <a:pt x="5721598" y="5297000"/>
                </a:moveTo>
                <a:lnTo>
                  <a:pt x="5721598" y="5307756"/>
                </a:lnTo>
                <a:lnTo>
                  <a:pt x="5718423" y="5307756"/>
                </a:lnTo>
                <a:lnTo>
                  <a:pt x="5718423" y="5297160"/>
                </a:lnTo>
                <a:lnTo>
                  <a:pt x="5720582" y="5298568"/>
                </a:lnTo>
                <a:close/>
                <a:moveTo>
                  <a:pt x="3919202" y="5296984"/>
                </a:moveTo>
                <a:lnTo>
                  <a:pt x="3920237" y="5298568"/>
                </a:lnTo>
                <a:lnTo>
                  <a:pt x="3922376" y="5297168"/>
                </a:lnTo>
                <a:lnTo>
                  <a:pt x="3922376" y="5307762"/>
                </a:lnTo>
                <a:lnTo>
                  <a:pt x="3919202" y="5307762"/>
                </a:lnTo>
                <a:close/>
                <a:moveTo>
                  <a:pt x="5718423" y="5295088"/>
                </a:moveTo>
                <a:lnTo>
                  <a:pt x="5719043" y="5295088"/>
                </a:lnTo>
                <a:lnTo>
                  <a:pt x="5718423" y="5296044"/>
                </a:lnTo>
                <a:close/>
                <a:moveTo>
                  <a:pt x="3921756" y="5295088"/>
                </a:moveTo>
                <a:lnTo>
                  <a:pt x="3922376" y="5295088"/>
                </a:lnTo>
                <a:lnTo>
                  <a:pt x="3922376" y="5296038"/>
                </a:lnTo>
                <a:close/>
                <a:moveTo>
                  <a:pt x="5715085" y="5294984"/>
                </a:moveTo>
                <a:lnTo>
                  <a:pt x="5715244" y="5295088"/>
                </a:lnTo>
                <a:lnTo>
                  <a:pt x="5717915" y="5296827"/>
                </a:lnTo>
                <a:lnTo>
                  <a:pt x="5718423" y="5296044"/>
                </a:lnTo>
                <a:lnTo>
                  <a:pt x="5718423" y="5297160"/>
                </a:lnTo>
                <a:lnTo>
                  <a:pt x="5715244" y="5295088"/>
                </a:lnTo>
                <a:close/>
                <a:moveTo>
                  <a:pt x="5712581" y="5293354"/>
                </a:moveTo>
                <a:lnTo>
                  <a:pt x="5713647" y="5294047"/>
                </a:lnTo>
                <a:lnTo>
                  <a:pt x="5715085" y="5294984"/>
                </a:lnTo>
                <a:close/>
                <a:moveTo>
                  <a:pt x="3928206" y="5293354"/>
                </a:moveTo>
                <a:lnTo>
                  <a:pt x="3928207" y="5293355"/>
                </a:lnTo>
                <a:lnTo>
                  <a:pt x="3925556" y="5295088"/>
                </a:lnTo>
                <a:lnTo>
                  <a:pt x="3922376" y="5297168"/>
                </a:lnTo>
                <a:lnTo>
                  <a:pt x="3922376" y="5296038"/>
                </a:lnTo>
                <a:lnTo>
                  <a:pt x="3922892" y="5296827"/>
                </a:lnTo>
                <a:lnTo>
                  <a:pt x="3925553" y="5295088"/>
                </a:lnTo>
                <a:close/>
                <a:moveTo>
                  <a:pt x="3928206" y="5293354"/>
                </a:moveTo>
                <a:lnTo>
                  <a:pt x="3928206" y="5293354"/>
                </a:lnTo>
                <a:lnTo>
                  <a:pt x="3925552" y="5295088"/>
                </a:lnTo>
                <a:close/>
                <a:moveTo>
                  <a:pt x="5712583" y="5293352"/>
                </a:moveTo>
                <a:lnTo>
                  <a:pt x="5715248" y="5295088"/>
                </a:lnTo>
                <a:lnTo>
                  <a:pt x="5713647" y="5294047"/>
                </a:lnTo>
                <a:lnTo>
                  <a:pt x="5712582" y="5293353"/>
                </a:lnTo>
                <a:close/>
                <a:moveTo>
                  <a:pt x="5709914" y="5291615"/>
                </a:moveTo>
                <a:lnTo>
                  <a:pt x="5712582" y="5293353"/>
                </a:lnTo>
                <a:lnTo>
                  <a:pt x="5712581" y="5293354"/>
                </a:lnTo>
                <a:lnTo>
                  <a:pt x="5712073" y="5294149"/>
                </a:lnTo>
                <a:lnTo>
                  <a:pt x="5712073" y="5295088"/>
                </a:lnTo>
                <a:lnTo>
                  <a:pt x="5712073" y="5307756"/>
                </a:lnTo>
                <a:lnTo>
                  <a:pt x="5708898" y="5307756"/>
                </a:lnTo>
                <a:lnTo>
                  <a:pt x="5708898" y="5295088"/>
                </a:lnTo>
                <a:lnTo>
                  <a:pt x="5708898" y="5293203"/>
                </a:lnTo>
                <a:close/>
                <a:moveTo>
                  <a:pt x="3930866" y="5291615"/>
                </a:moveTo>
                <a:lnTo>
                  <a:pt x="3931901" y="5293203"/>
                </a:lnTo>
                <a:lnTo>
                  <a:pt x="3931901" y="5295088"/>
                </a:lnTo>
                <a:lnTo>
                  <a:pt x="3931901" y="5307762"/>
                </a:lnTo>
                <a:lnTo>
                  <a:pt x="3928727" y="5307762"/>
                </a:lnTo>
                <a:lnTo>
                  <a:pt x="3928727" y="5295088"/>
                </a:lnTo>
                <a:lnTo>
                  <a:pt x="3928727" y="5294149"/>
                </a:lnTo>
                <a:lnTo>
                  <a:pt x="3928207" y="5293355"/>
                </a:lnTo>
                <a:close/>
                <a:moveTo>
                  <a:pt x="3919310" y="5291343"/>
                </a:moveTo>
                <a:lnTo>
                  <a:pt x="3921756" y="5295088"/>
                </a:lnTo>
                <a:lnTo>
                  <a:pt x="3919202" y="5295088"/>
                </a:lnTo>
                <a:lnTo>
                  <a:pt x="3919202" y="5296984"/>
                </a:lnTo>
                <a:lnTo>
                  <a:pt x="3916650" y="5293082"/>
                </a:lnTo>
                <a:close/>
                <a:moveTo>
                  <a:pt x="5719768" y="5290219"/>
                </a:moveTo>
                <a:lnTo>
                  <a:pt x="5724138" y="5293082"/>
                </a:lnTo>
                <a:lnTo>
                  <a:pt x="5721598" y="5297000"/>
                </a:lnTo>
                <a:lnTo>
                  <a:pt x="5721598" y="5295088"/>
                </a:lnTo>
                <a:lnTo>
                  <a:pt x="5719043" y="5295088"/>
                </a:lnTo>
                <a:lnTo>
                  <a:pt x="5721471" y="5291341"/>
                </a:lnTo>
                <a:close/>
                <a:moveTo>
                  <a:pt x="5716201" y="5287868"/>
                </a:moveTo>
                <a:lnTo>
                  <a:pt x="5719768" y="5290219"/>
                </a:lnTo>
                <a:lnTo>
                  <a:pt x="5716194" y="5287878"/>
                </a:lnTo>
                <a:close/>
                <a:moveTo>
                  <a:pt x="3924624" y="5287868"/>
                </a:moveTo>
                <a:lnTo>
                  <a:pt x="3924625" y="5287869"/>
                </a:lnTo>
                <a:lnTo>
                  <a:pt x="3919310" y="5291343"/>
                </a:lnTo>
                <a:lnTo>
                  <a:pt x="3919310" y="5291341"/>
                </a:lnTo>
                <a:close/>
                <a:moveTo>
                  <a:pt x="5713533" y="5286134"/>
                </a:moveTo>
                <a:lnTo>
                  <a:pt x="5716194" y="5287878"/>
                </a:lnTo>
                <a:lnTo>
                  <a:pt x="5712583" y="5293352"/>
                </a:lnTo>
                <a:lnTo>
                  <a:pt x="5709914" y="5291615"/>
                </a:lnTo>
                <a:close/>
                <a:moveTo>
                  <a:pt x="3927280" y="5286134"/>
                </a:moveTo>
                <a:lnTo>
                  <a:pt x="3930866" y="5291615"/>
                </a:lnTo>
                <a:lnTo>
                  <a:pt x="3928206" y="5293354"/>
                </a:lnTo>
                <a:lnTo>
                  <a:pt x="3924625" y="5287869"/>
                </a:lnTo>
                <a:close/>
                <a:moveTo>
                  <a:pt x="5725900" y="5278565"/>
                </a:moveTo>
                <a:lnTo>
                  <a:pt x="5728650" y="5280368"/>
                </a:lnTo>
                <a:lnTo>
                  <a:pt x="5728646" y="5280374"/>
                </a:lnTo>
                <a:close/>
                <a:moveTo>
                  <a:pt x="3917454" y="5276899"/>
                </a:moveTo>
                <a:lnTo>
                  <a:pt x="3917455" y="5276901"/>
                </a:lnTo>
                <a:lnTo>
                  <a:pt x="3912141" y="5280374"/>
                </a:lnTo>
                <a:lnTo>
                  <a:pt x="3912140" y="5280374"/>
                </a:lnTo>
                <a:close/>
                <a:moveTo>
                  <a:pt x="5739173" y="5264358"/>
                </a:moveTo>
                <a:lnTo>
                  <a:pt x="5741791" y="5266082"/>
                </a:lnTo>
                <a:cubicBezTo>
                  <a:pt x="5739505" y="5269598"/>
                  <a:pt x="5737219" y="5273117"/>
                  <a:pt x="5734933" y="5276628"/>
                </a:cubicBezTo>
                <a:lnTo>
                  <a:pt x="5731314" y="5282114"/>
                </a:lnTo>
                <a:lnTo>
                  <a:pt x="5728650" y="5280368"/>
                </a:lnTo>
                <a:lnTo>
                  <a:pt x="5732265" y="5274891"/>
                </a:lnTo>
                <a:lnTo>
                  <a:pt x="5732265" y="5274891"/>
                </a:lnTo>
                <a:lnTo>
                  <a:pt x="5732266" y="5274888"/>
                </a:lnTo>
                <a:close/>
                <a:moveTo>
                  <a:pt x="3901638" y="5264342"/>
                </a:moveTo>
                <a:lnTo>
                  <a:pt x="3908553" y="5274888"/>
                </a:lnTo>
                <a:lnTo>
                  <a:pt x="3908555" y="5274892"/>
                </a:lnTo>
                <a:lnTo>
                  <a:pt x="3908555" y="5274892"/>
                </a:lnTo>
                <a:lnTo>
                  <a:pt x="3912140" y="5280374"/>
                </a:lnTo>
                <a:lnTo>
                  <a:pt x="3909479" y="5282114"/>
                </a:lnTo>
                <a:lnTo>
                  <a:pt x="3905899" y="5276628"/>
                </a:lnTo>
                <a:cubicBezTo>
                  <a:pt x="3903600" y="5273117"/>
                  <a:pt x="3901295" y="5269606"/>
                  <a:pt x="3898984" y="5266088"/>
                </a:cubicBezTo>
                <a:close/>
                <a:moveTo>
                  <a:pt x="5733854" y="5260849"/>
                </a:moveTo>
                <a:lnTo>
                  <a:pt x="5739188" y="5264335"/>
                </a:lnTo>
                <a:lnTo>
                  <a:pt x="5739173" y="5264358"/>
                </a:lnTo>
                <a:lnTo>
                  <a:pt x="5733850" y="5260855"/>
                </a:lnTo>
                <a:close/>
                <a:moveTo>
                  <a:pt x="3906940" y="5260849"/>
                </a:moveTo>
                <a:lnTo>
                  <a:pt x="3906943" y="5260852"/>
                </a:lnTo>
                <a:lnTo>
                  <a:pt x="3901638" y="5264342"/>
                </a:lnTo>
                <a:lnTo>
                  <a:pt x="3901638" y="5264341"/>
                </a:lnTo>
                <a:close/>
                <a:moveTo>
                  <a:pt x="3909594" y="5259108"/>
                </a:moveTo>
                <a:cubicBezTo>
                  <a:pt x="3911912" y="5262634"/>
                  <a:pt x="3914223" y="5266158"/>
                  <a:pt x="3916528" y="5269681"/>
                </a:cubicBezTo>
                <a:lnTo>
                  <a:pt x="3920110" y="5275162"/>
                </a:lnTo>
                <a:lnTo>
                  <a:pt x="3917454" y="5276899"/>
                </a:lnTo>
                <a:lnTo>
                  <a:pt x="3913870" y="5271419"/>
                </a:lnTo>
                <a:lnTo>
                  <a:pt x="3913868" y="5271415"/>
                </a:lnTo>
                <a:lnTo>
                  <a:pt x="3906943" y="5260852"/>
                </a:lnTo>
                <a:close/>
                <a:moveTo>
                  <a:pt x="5731186" y="5259102"/>
                </a:moveTo>
                <a:lnTo>
                  <a:pt x="5733850" y="5260855"/>
                </a:lnTo>
                <a:lnTo>
                  <a:pt x="5726932" y="5271415"/>
                </a:lnTo>
                <a:lnTo>
                  <a:pt x="5726931" y="5271417"/>
                </a:lnTo>
                <a:lnTo>
                  <a:pt x="5723376" y="5276901"/>
                </a:lnTo>
                <a:lnTo>
                  <a:pt x="5725900" y="5278565"/>
                </a:lnTo>
                <a:lnTo>
                  <a:pt x="5720709" y="5275162"/>
                </a:lnTo>
                <a:lnTo>
                  <a:pt x="5724265" y="5269681"/>
                </a:lnTo>
                <a:cubicBezTo>
                  <a:pt x="5726551" y="5266158"/>
                  <a:pt x="5728901" y="5262634"/>
                  <a:pt x="5731186" y="5259102"/>
                </a:cubicBezTo>
                <a:close/>
                <a:moveTo>
                  <a:pt x="5749811" y="5240950"/>
                </a:moveTo>
                <a:lnTo>
                  <a:pt x="5753165" y="5243173"/>
                </a:lnTo>
                <a:lnTo>
                  <a:pt x="5753157" y="5243184"/>
                </a:lnTo>
                <a:close/>
                <a:moveTo>
                  <a:pt x="5767373" y="5221963"/>
                </a:moveTo>
                <a:lnTo>
                  <a:pt x="5769985" y="5223721"/>
                </a:lnTo>
                <a:cubicBezTo>
                  <a:pt x="5765222" y="5230807"/>
                  <a:pt x="5760523" y="5237881"/>
                  <a:pt x="5755824" y="5244936"/>
                </a:cubicBezTo>
                <a:lnTo>
                  <a:pt x="5753165" y="5243173"/>
                </a:lnTo>
                <a:close/>
                <a:moveTo>
                  <a:pt x="3878702" y="5218405"/>
                </a:moveTo>
                <a:lnTo>
                  <a:pt x="3873431" y="5221949"/>
                </a:lnTo>
                <a:cubicBezTo>
                  <a:pt x="3878207" y="5229041"/>
                  <a:pt x="3882943" y="5236115"/>
                  <a:pt x="3887643" y="5243184"/>
                </a:cubicBezTo>
                <a:lnTo>
                  <a:pt x="3892925" y="5239665"/>
                </a:lnTo>
                <a:cubicBezTo>
                  <a:pt x="3888221" y="5232591"/>
                  <a:pt x="3883477" y="5225505"/>
                  <a:pt x="3878702" y="5218405"/>
                </a:cubicBezTo>
                <a:close/>
                <a:moveTo>
                  <a:pt x="5762111" y="5218399"/>
                </a:moveTo>
                <a:lnTo>
                  <a:pt x="5767382" y="5221949"/>
                </a:lnTo>
                <a:lnTo>
                  <a:pt x="5767373" y="5221963"/>
                </a:lnTo>
                <a:lnTo>
                  <a:pt x="5762100" y="5218415"/>
                </a:lnTo>
                <a:close/>
                <a:moveTo>
                  <a:pt x="5759444" y="5216627"/>
                </a:moveTo>
                <a:lnTo>
                  <a:pt x="5762100" y="5218415"/>
                </a:lnTo>
                <a:lnTo>
                  <a:pt x="5747887" y="5239665"/>
                </a:lnTo>
                <a:lnTo>
                  <a:pt x="5749811" y="5240950"/>
                </a:lnTo>
                <a:lnTo>
                  <a:pt x="5745220" y="5237907"/>
                </a:lnTo>
                <a:cubicBezTo>
                  <a:pt x="5749919" y="5230827"/>
                  <a:pt x="5754682" y="5223734"/>
                  <a:pt x="5759444" y="5216627"/>
                </a:cubicBezTo>
                <a:close/>
                <a:moveTo>
                  <a:pt x="3881336" y="5216627"/>
                </a:moveTo>
                <a:cubicBezTo>
                  <a:pt x="3886119" y="5223734"/>
                  <a:pt x="3890861" y="5230827"/>
                  <a:pt x="3895573" y="5237907"/>
                </a:cubicBezTo>
                <a:lnTo>
                  <a:pt x="3885001" y="5244942"/>
                </a:lnTo>
                <a:cubicBezTo>
                  <a:pt x="3880301" y="5237881"/>
                  <a:pt x="3875565" y="5230807"/>
                  <a:pt x="3870796" y="5223721"/>
                </a:cubicBezTo>
                <a:close/>
                <a:moveTo>
                  <a:pt x="5778989" y="5199225"/>
                </a:moveTo>
                <a:lnTo>
                  <a:pt x="5781551" y="5200962"/>
                </a:lnTo>
                <a:lnTo>
                  <a:pt x="5781542" y="5200975"/>
                </a:lnTo>
                <a:close/>
                <a:moveTo>
                  <a:pt x="3847870" y="5177935"/>
                </a:moveTo>
                <a:lnTo>
                  <a:pt x="3844883" y="5179990"/>
                </a:lnTo>
                <a:lnTo>
                  <a:pt x="3844882" y="5179988"/>
                </a:lnTo>
                <a:close/>
                <a:moveTo>
                  <a:pt x="5788082" y="5174591"/>
                </a:moveTo>
                <a:lnTo>
                  <a:pt x="5798560" y="5181784"/>
                </a:lnTo>
                <a:cubicBezTo>
                  <a:pt x="5793734" y="5188789"/>
                  <a:pt x="5788908" y="5195780"/>
                  <a:pt x="5784209" y="5202766"/>
                </a:cubicBezTo>
                <a:lnTo>
                  <a:pt x="5781551" y="5200962"/>
                </a:lnTo>
                <a:lnTo>
                  <a:pt x="5795893" y="5179988"/>
                </a:lnTo>
                <a:lnTo>
                  <a:pt x="5790686" y="5176387"/>
                </a:lnTo>
                <a:cubicBezTo>
                  <a:pt x="5785860" y="5183405"/>
                  <a:pt x="5781097" y="5190409"/>
                  <a:pt x="5776335" y="5197406"/>
                </a:cubicBezTo>
                <a:lnTo>
                  <a:pt x="5778989" y="5199225"/>
                </a:lnTo>
                <a:lnTo>
                  <a:pt x="5773668" y="5195616"/>
                </a:lnTo>
                <a:cubicBezTo>
                  <a:pt x="5778431" y="5188617"/>
                  <a:pt x="5783257" y="5181606"/>
                  <a:pt x="5788082" y="5174591"/>
                </a:cubicBezTo>
                <a:close/>
                <a:moveTo>
                  <a:pt x="3852729" y="5174591"/>
                </a:moveTo>
                <a:cubicBezTo>
                  <a:pt x="3857556" y="5181614"/>
                  <a:pt x="3862351" y="5188624"/>
                  <a:pt x="3867113" y="5195621"/>
                </a:cubicBezTo>
                <a:lnTo>
                  <a:pt x="3856617" y="5202766"/>
                </a:lnTo>
                <a:cubicBezTo>
                  <a:pt x="3851867" y="5195786"/>
                  <a:pt x="3847084" y="5188796"/>
                  <a:pt x="3842266" y="5181792"/>
                </a:cubicBezTo>
                <a:lnTo>
                  <a:pt x="3844883" y="5179990"/>
                </a:lnTo>
                <a:lnTo>
                  <a:pt x="3859239" y="5200981"/>
                </a:lnTo>
                <a:lnTo>
                  <a:pt x="3864490" y="5197406"/>
                </a:lnTo>
                <a:cubicBezTo>
                  <a:pt x="3859735" y="5190415"/>
                  <a:pt x="3854940" y="5183405"/>
                  <a:pt x="3850113" y="5176394"/>
                </a:cubicBezTo>
                <a:lnTo>
                  <a:pt x="3847870" y="5177935"/>
                </a:lnTo>
                <a:close/>
                <a:moveTo>
                  <a:pt x="3832869" y="5157260"/>
                </a:moveTo>
                <a:lnTo>
                  <a:pt x="3830365" y="5159001"/>
                </a:lnTo>
                <a:lnTo>
                  <a:pt x="3830364" y="5158999"/>
                </a:lnTo>
                <a:close/>
                <a:moveTo>
                  <a:pt x="5805230" y="5155373"/>
                </a:moveTo>
                <a:lnTo>
                  <a:pt x="5807831" y="5157185"/>
                </a:lnTo>
                <a:lnTo>
                  <a:pt x="5805228" y="5155375"/>
                </a:lnTo>
                <a:close/>
                <a:moveTo>
                  <a:pt x="5822376" y="5136445"/>
                </a:moveTo>
                <a:lnTo>
                  <a:pt x="5827516" y="5140071"/>
                </a:lnTo>
                <a:cubicBezTo>
                  <a:pt x="5822690" y="5146994"/>
                  <a:pt x="5817864" y="5153908"/>
                  <a:pt x="5813038" y="5160810"/>
                </a:cubicBezTo>
                <a:lnTo>
                  <a:pt x="5807831" y="5157185"/>
                </a:lnTo>
                <a:lnTo>
                  <a:pt x="5810434" y="5158994"/>
                </a:lnTo>
                <a:cubicBezTo>
                  <a:pt x="5815260" y="5152093"/>
                  <a:pt x="5820086" y="5145170"/>
                  <a:pt x="5824913" y="5138242"/>
                </a:cubicBezTo>
                <a:close/>
                <a:moveTo>
                  <a:pt x="5819769" y="5134598"/>
                </a:moveTo>
                <a:lnTo>
                  <a:pt x="5822376" y="5136445"/>
                </a:lnTo>
                <a:lnTo>
                  <a:pt x="5819766" y="5134604"/>
                </a:lnTo>
                <a:close/>
                <a:moveTo>
                  <a:pt x="3823659" y="5132775"/>
                </a:moveTo>
                <a:cubicBezTo>
                  <a:pt x="3828537" y="5139716"/>
                  <a:pt x="3833375" y="5146643"/>
                  <a:pt x="3838188" y="5153566"/>
                </a:cubicBezTo>
                <a:lnTo>
                  <a:pt x="3832869" y="5157260"/>
                </a:lnTo>
                <a:lnTo>
                  <a:pt x="3835578" y="5155375"/>
                </a:lnTo>
                <a:cubicBezTo>
                  <a:pt x="3830771" y="5148460"/>
                  <a:pt x="3825934" y="5141532"/>
                  <a:pt x="3821062" y="5134598"/>
                </a:cubicBezTo>
                <a:lnTo>
                  <a:pt x="3815863" y="5138250"/>
                </a:lnTo>
                <a:lnTo>
                  <a:pt x="3830364" y="5158999"/>
                </a:lnTo>
                <a:lnTo>
                  <a:pt x="3827756" y="5160810"/>
                </a:lnTo>
                <a:cubicBezTo>
                  <a:pt x="3822961" y="5153908"/>
                  <a:pt x="3818129" y="5146994"/>
                  <a:pt x="3813265" y="5140071"/>
                </a:cubicBezTo>
                <a:close/>
                <a:moveTo>
                  <a:pt x="5817166" y="5132770"/>
                </a:moveTo>
                <a:lnTo>
                  <a:pt x="5819766" y="5134604"/>
                </a:lnTo>
                <a:lnTo>
                  <a:pt x="5805230" y="5155373"/>
                </a:lnTo>
                <a:lnTo>
                  <a:pt x="5802624" y="5153559"/>
                </a:lnTo>
                <a:cubicBezTo>
                  <a:pt x="5807450" y="5146643"/>
                  <a:pt x="5812276" y="5139710"/>
                  <a:pt x="5817166" y="5132770"/>
                </a:cubicBezTo>
                <a:close/>
                <a:moveTo>
                  <a:pt x="3806355" y="5113757"/>
                </a:moveTo>
                <a:lnTo>
                  <a:pt x="3806356" y="5113758"/>
                </a:lnTo>
                <a:lnTo>
                  <a:pt x="3805027" y="5114698"/>
                </a:lnTo>
                <a:close/>
                <a:moveTo>
                  <a:pt x="5834441" y="5113754"/>
                </a:moveTo>
                <a:lnTo>
                  <a:pt x="5839645" y="5117426"/>
                </a:lnTo>
                <a:lnTo>
                  <a:pt x="5839644" y="5117427"/>
                </a:lnTo>
                <a:lnTo>
                  <a:pt x="5834438" y="5113758"/>
                </a:lnTo>
                <a:close/>
                <a:moveTo>
                  <a:pt x="3786408" y="5096712"/>
                </a:moveTo>
                <a:lnTo>
                  <a:pt x="3801174" y="5117427"/>
                </a:lnTo>
                <a:lnTo>
                  <a:pt x="3805027" y="5114698"/>
                </a:lnTo>
                <a:lnTo>
                  <a:pt x="3798584" y="5119269"/>
                </a:lnTo>
                <a:cubicBezTo>
                  <a:pt x="3793694" y="5112374"/>
                  <a:pt x="3788773" y="5105471"/>
                  <a:pt x="3783826" y="5098561"/>
                </a:cubicBezTo>
                <a:close/>
                <a:moveTo>
                  <a:pt x="5851885" y="5094917"/>
                </a:moveTo>
                <a:lnTo>
                  <a:pt x="5856980" y="5098555"/>
                </a:lnTo>
                <a:cubicBezTo>
                  <a:pt x="5852027" y="5105471"/>
                  <a:pt x="5847138" y="5112374"/>
                  <a:pt x="5842248" y="5119263"/>
                </a:cubicBezTo>
                <a:lnTo>
                  <a:pt x="5839645" y="5117426"/>
                </a:lnTo>
                <a:lnTo>
                  <a:pt x="5854377" y="5096708"/>
                </a:lnTo>
                <a:close/>
                <a:moveTo>
                  <a:pt x="5849233" y="5093011"/>
                </a:moveTo>
                <a:lnTo>
                  <a:pt x="5851885" y="5094917"/>
                </a:lnTo>
                <a:lnTo>
                  <a:pt x="5849228" y="5093019"/>
                </a:lnTo>
                <a:close/>
                <a:moveTo>
                  <a:pt x="3791567" y="5093011"/>
                </a:moveTo>
                <a:lnTo>
                  <a:pt x="3791569" y="5093015"/>
                </a:lnTo>
                <a:lnTo>
                  <a:pt x="3786408" y="5096712"/>
                </a:lnTo>
                <a:lnTo>
                  <a:pt x="3786405" y="5096708"/>
                </a:lnTo>
                <a:close/>
                <a:moveTo>
                  <a:pt x="5846630" y="5091164"/>
                </a:moveTo>
                <a:lnTo>
                  <a:pt x="5849228" y="5093019"/>
                </a:lnTo>
                <a:lnTo>
                  <a:pt x="5834441" y="5113754"/>
                </a:lnTo>
                <a:lnTo>
                  <a:pt x="5831834" y="5111915"/>
                </a:lnTo>
                <a:cubicBezTo>
                  <a:pt x="5836787" y="5105006"/>
                  <a:pt x="5841677" y="5098091"/>
                  <a:pt x="5846630" y="5091164"/>
                </a:cubicBezTo>
                <a:close/>
                <a:moveTo>
                  <a:pt x="3794151" y="5091164"/>
                </a:moveTo>
                <a:cubicBezTo>
                  <a:pt x="3799110" y="5098091"/>
                  <a:pt x="3804045" y="5105014"/>
                  <a:pt x="3808941" y="5111922"/>
                </a:cubicBezTo>
                <a:lnTo>
                  <a:pt x="3806355" y="5113757"/>
                </a:lnTo>
                <a:lnTo>
                  <a:pt x="3791569" y="5093015"/>
                </a:lnTo>
                <a:close/>
                <a:moveTo>
                  <a:pt x="3776738" y="5072405"/>
                </a:moveTo>
                <a:lnTo>
                  <a:pt x="3776740" y="5072407"/>
                </a:lnTo>
                <a:lnTo>
                  <a:pt x="3771597" y="5076120"/>
                </a:lnTo>
                <a:lnTo>
                  <a:pt x="3771596" y="5076119"/>
                </a:lnTo>
                <a:close/>
                <a:moveTo>
                  <a:pt x="3756600" y="5055481"/>
                </a:moveTo>
                <a:lnTo>
                  <a:pt x="3771596" y="5076119"/>
                </a:lnTo>
                <a:lnTo>
                  <a:pt x="3769018" y="5077982"/>
                </a:lnTo>
                <a:cubicBezTo>
                  <a:pt x="3764058" y="5071117"/>
                  <a:pt x="3759062" y="5064241"/>
                  <a:pt x="3754038" y="5057350"/>
                </a:cubicBezTo>
                <a:close/>
                <a:moveTo>
                  <a:pt x="5881650" y="5053607"/>
                </a:moveTo>
                <a:lnTo>
                  <a:pt x="5884221" y="5055477"/>
                </a:lnTo>
                <a:lnTo>
                  <a:pt x="5884215" y="5055486"/>
                </a:lnTo>
                <a:close/>
                <a:moveTo>
                  <a:pt x="3761306" y="5052044"/>
                </a:moveTo>
                <a:lnTo>
                  <a:pt x="3756600" y="5055481"/>
                </a:lnTo>
                <a:lnTo>
                  <a:pt x="3756597" y="5055477"/>
                </a:lnTo>
                <a:close/>
                <a:moveTo>
                  <a:pt x="5876538" y="5049864"/>
                </a:moveTo>
                <a:lnTo>
                  <a:pt x="5881650" y="5053607"/>
                </a:lnTo>
                <a:lnTo>
                  <a:pt x="5879078" y="5051737"/>
                </a:lnTo>
                <a:cubicBezTo>
                  <a:pt x="5874061" y="5058634"/>
                  <a:pt x="5869045" y="5065523"/>
                  <a:pt x="5864092" y="5072399"/>
                </a:cubicBezTo>
                <a:lnTo>
                  <a:pt x="5869235" y="5076120"/>
                </a:lnTo>
                <a:lnTo>
                  <a:pt x="5884215" y="5055486"/>
                </a:lnTo>
                <a:lnTo>
                  <a:pt x="5886761" y="5057350"/>
                </a:lnTo>
                <a:cubicBezTo>
                  <a:pt x="5881745" y="5064233"/>
                  <a:pt x="5876729" y="5071117"/>
                  <a:pt x="5871776" y="5077982"/>
                </a:cubicBezTo>
                <a:lnTo>
                  <a:pt x="5861489" y="5070539"/>
                </a:lnTo>
                <a:cubicBezTo>
                  <a:pt x="5866442" y="5063656"/>
                  <a:pt x="5871458" y="5056766"/>
                  <a:pt x="5876538" y="5049864"/>
                </a:cubicBezTo>
                <a:close/>
                <a:moveTo>
                  <a:pt x="3764294" y="5049864"/>
                </a:moveTo>
                <a:cubicBezTo>
                  <a:pt x="3769330" y="5056766"/>
                  <a:pt x="3774340" y="5063663"/>
                  <a:pt x="3779312" y="5070545"/>
                </a:cubicBezTo>
                <a:lnTo>
                  <a:pt x="3776738" y="5072405"/>
                </a:lnTo>
                <a:lnTo>
                  <a:pt x="3761729" y="5051737"/>
                </a:lnTo>
                <a:lnTo>
                  <a:pt x="3761306" y="5052044"/>
                </a:lnTo>
                <a:close/>
                <a:moveTo>
                  <a:pt x="3746710" y="5031238"/>
                </a:moveTo>
                <a:lnTo>
                  <a:pt x="3746711" y="5031239"/>
                </a:lnTo>
                <a:lnTo>
                  <a:pt x="3744302" y="5033011"/>
                </a:lnTo>
                <a:close/>
                <a:moveTo>
                  <a:pt x="3729390" y="5012435"/>
                </a:moveTo>
                <a:lnTo>
                  <a:pt x="3726498" y="5014583"/>
                </a:lnTo>
                <a:cubicBezTo>
                  <a:pt x="3731559" y="5021402"/>
                  <a:pt x="3736589" y="5028210"/>
                  <a:pt x="3741593" y="5035005"/>
                </a:cubicBezTo>
                <a:lnTo>
                  <a:pt x="3744302" y="5033011"/>
                </a:lnTo>
                <a:lnTo>
                  <a:pt x="3739040" y="5036884"/>
                </a:lnTo>
                <a:cubicBezTo>
                  <a:pt x="3734036" y="5030097"/>
                  <a:pt x="3729006" y="5023288"/>
                  <a:pt x="3723946" y="5016475"/>
                </a:cubicBezTo>
                <a:close/>
                <a:moveTo>
                  <a:pt x="5909241" y="5010798"/>
                </a:moveTo>
                <a:lnTo>
                  <a:pt x="5914320" y="5014583"/>
                </a:lnTo>
                <a:lnTo>
                  <a:pt x="5914315" y="5014591"/>
                </a:lnTo>
                <a:lnTo>
                  <a:pt x="5909224" y="5010822"/>
                </a:lnTo>
                <a:close/>
                <a:moveTo>
                  <a:pt x="3731592" y="5010798"/>
                </a:moveTo>
                <a:lnTo>
                  <a:pt x="3731593" y="5010800"/>
                </a:lnTo>
                <a:lnTo>
                  <a:pt x="3729390" y="5012435"/>
                </a:lnTo>
                <a:close/>
                <a:moveTo>
                  <a:pt x="5906637" y="5008906"/>
                </a:moveTo>
                <a:lnTo>
                  <a:pt x="5909224" y="5010822"/>
                </a:lnTo>
                <a:lnTo>
                  <a:pt x="5894128" y="5031239"/>
                </a:lnTo>
                <a:lnTo>
                  <a:pt x="5899207" y="5035005"/>
                </a:lnTo>
                <a:lnTo>
                  <a:pt x="5914315" y="5014591"/>
                </a:lnTo>
                <a:lnTo>
                  <a:pt x="5916860" y="5016475"/>
                </a:lnTo>
                <a:cubicBezTo>
                  <a:pt x="5911781" y="5023288"/>
                  <a:pt x="5906764" y="5030089"/>
                  <a:pt x="5901747" y="5036884"/>
                </a:cubicBezTo>
                <a:lnTo>
                  <a:pt x="5891524" y="5029353"/>
                </a:lnTo>
                <a:cubicBezTo>
                  <a:pt x="5896541" y="5022546"/>
                  <a:pt x="5901620" y="5015732"/>
                  <a:pt x="5906637" y="5008906"/>
                </a:cubicBezTo>
                <a:close/>
                <a:moveTo>
                  <a:pt x="3734144" y="5008906"/>
                </a:moveTo>
                <a:cubicBezTo>
                  <a:pt x="3739211" y="5015732"/>
                  <a:pt x="3744253" y="5022552"/>
                  <a:pt x="3749263" y="5029360"/>
                </a:cubicBezTo>
                <a:lnTo>
                  <a:pt x="3746710" y="5031238"/>
                </a:lnTo>
                <a:lnTo>
                  <a:pt x="3731593" y="5010800"/>
                </a:lnTo>
                <a:close/>
                <a:moveTo>
                  <a:pt x="5924482" y="4990306"/>
                </a:moveTo>
                <a:lnTo>
                  <a:pt x="5926939" y="4992148"/>
                </a:lnTo>
                <a:lnTo>
                  <a:pt x="5924481" y="4990307"/>
                </a:lnTo>
                <a:close/>
                <a:moveTo>
                  <a:pt x="3716312" y="4990305"/>
                </a:moveTo>
                <a:lnTo>
                  <a:pt x="3716314" y="4990307"/>
                </a:lnTo>
                <a:lnTo>
                  <a:pt x="3711227" y="4994116"/>
                </a:lnTo>
                <a:lnTo>
                  <a:pt x="3711225" y="4994114"/>
                </a:lnTo>
                <a:close/>
                <a:moveTo>
                  <a:pt x="3699046" y="4971554"/>
                </a:moveTo>
                <a:lnTo>
                  <a:pt x="3695992" y="4973860"/>
                </a:lnTo>
                <a:lnTo>
                  <a:pt x="3711225" y="4994114"/>
                </a:lnTo>
                <a:lnTo>
                  <a:pt x="3708686" y="4996016"/>
                </a:lnTo>
                <a:cubicBezTo>
                  <a:pt x="3703638" y="4989278"/>
                  <a:pt x="3698565" y="4982529"/>
                  <a:pt x="3693459" y="4975771"/>
                </a:cubicBezTo>
                <a:close/>
                <a:moveTo>
                  <a:pt x="3701061" y="4970032"/>
                </a:moveTo>
                <a:lnTo>
                  <a:pt x="3701061" y="4970032"/>
                </a:lnTo>
                <a:lnTo>
                  <a:pt x="3699046" y="4971554"/>
                </a:lnTo>
                <a:close/>
                <a:moveTo>
                  <a:pt x="5937181" y="4968119"/>
                </a:moveTo>
                <a:lnTo>
                  <a:pt x="5947341" y="4975771"/>
                </a:lnTo>
                <a:cubicBezTo>
                  <a:pt x="5942260" y="4982529"/>
                  <a:pt x="5937181" y="4989278"/>
                  <a:pt x="5932101" y="4996016"/>
                </a:cubicBezTo>
                <a:lnTo>
                  <a:pt x="5926939" y="4992148"/>
                </a:lnTo>
                <a:lnTo>
                  <a:pt x="5929560" y="4994111"/>
                </a:lnTo>
                <a:cubicBezTo>
                  <a:pt x="5934641" y="4987367"/>
                  <a:pt x="5939720" y="4980617"/>
                  <a:pt x="5944801" y="4973860"/>
                </a:cubicBezTo>
                <a:lnTo>
                  <a:pt x="5939720" y="4970032"/>
                </a:lnTo>
                <a:lnTo>
                  <a:pt x="5924482" y="4990306"/>
                </a:lnTo>
                <a:lnTo>
                  <a:pt x="5921941" y="4988402"/>
                </a:lnTo>
                <a:cubicBezTo>
                  <a:pt x="5927020" y="4981652"/>
                  <a:pt x="5932101" y="4974890"/>
                  <a:pt x="5937181" y="4968119"/>
                </a:cubicBezTo>
                <a:close/>
                <a:moveTo>
                  <a:pt x="3703595" y="4968119"/>
                </a:moveTo>
                <a:cubicBezTo>
                  <a:pt x="3708706" y="4974890"/>
                  <a:pt x="3713792" y="4981652"/>
                  <a:pt x="3718852" y="4988402"/>
                </a:cubicBezTo>
                <a:lnTo>
                  <a:pt x="3716312" y="4990305"/>
                </a:lnTo>
                <a:lnTo>
                  <a:pt x="3701061" y="4970032"/>
                </a:lnTo>
                <a:close/>
                <a:moveTo>
                  <a:pt x="3685687" y="4949762"/>
                </a:moveTo>
                <a:lnTo>
                  <a:pt x="3685688" y="4949763"/>
                </a:lnTo>
                <a:lnTo>
                  <a:pt x="3680633" y="4953610"/>
                </a:lnTo>
                <a:lnTo>
                  <a:pt x="3680632" y="4953610"/>
                </a:lnTo>
                <a:close/>
                <a:moveTo>
                  <a:pt x="5955106" y="4949739"/>
                </a:moveTo>
                <a:lnTo>
                  <a:pt x="5960173" y="4953598"/>
                </a:lnTo>
                <a:lnTo>
                  <a:pt x="5960168" y="4953604"/>
                </a:lnTo>
                <a:lnTo>
                  <a:pt x="5955088" y="4949763"/>
                </a:lnTo>
                <a:close/>
                <a:moveTo>
                  <a:pt x="3668263" y="4930891"/>
                </a:moveTo>
                <a:lnTo>
                  <a:pt x="3665114" y="4933310"/>
                </a:lnTo>
                <a:lnTo>
                  <a:pt x="3680632" y="4953610"/>
                </a:lnTo>
                <a:lnTo>
                  <a:pt x="3678105" y="4955534"/>
                </a:lnTo>
                <a:cubicBezTo>
                  <a:pt x="3672961" y="4948779"/>
                  <a:pt x="3667792" y="4942016"/>
                  <a:pt x="3662592" y="4935240"/>
                </a:cubicBezTo>
                <a:close/>
                <a:moveTo>
                  <a:pt x="5972351" y="4930758"/>
                </a:moveTo>
                <a:lnTo>
                  <a:pt x="5978202" y="4935240"/>
                </a:lnTo>
                <a:cubicBezTo>
                  <a:pt x="5972994" y="4942008"/>
                  <a:pt x="5967851" y="4948779"/>
                  <a:pt x="5962707" y="4955528"/>
                </a:cubicBezTo>
                <a:lnTo>
                  <a:pt x="5960173" y="4953598"/>
                </a:lnTo>
                <a:lnTo>
                  <a:pt x="5975661" y="4933310"/>
                </a:lnTo>
                <a:close/>
                <a:moveTo>
                  <a:pt x="5970645" y="4929442"/>
                </a:moveTo>
                <a:lnTo>
                  <a:pt x="5972351" y="4930758"/>
                </a:lnTo>
                <a:lnTo>
                  <a:pt x="5970641" y="4929448"/>
                </a:lnTo>
                <a:close/>
                <a:moveTo>
                  <a:pt x="3670148" y="4929442"/>
                </a:moveTo>
                <a:lnTo>
                  <a:pt x="3670150" y="4929444"/>
                </a:lnTo>
                <a:lnTo>
                  <a:pt x="3668263" y="4930891"/>
                </a:lnTo>
                <a:close/>
                <a:moveTo>
                  <a:pt x="3672670" y="4927512"/>
                </a:moveTo>
                <a:cubicBezTo>
                  <a:pt x="3677877" y="4934294"/>
                  <a:pt x="3683058" y="4941068"/>
                  <a:pt x="3688214" y="4947838"/>
                </a:cubicBezTo>
                <a:lnTo>
                  <a:pt x="3685687" y="4949762"/>
                </a:lnTo>
                <a:lnTo>
                  <a:pt x="3670150" y="4929444"/>
                </a:lnTo>
                <a:close/>
                <a:moveTo>
                  <a:pt x="5968105" y="4927505"/>
                </a:moveTo>
                <a:lnTo>
                  <a:pt x="5970641" y="4929448"/>
                </a:lnTo>
                <a:lnTo>
                  <a:pt x="5955106" y="4949739"/>
                </a:lnTo>
                <a:lnTo>
                  <a:pt x="5952611" y="4947838"/>
                </a:lnTo>
                <a:cubicBezTo>
                  <a:pt x="5957755" y="4941068"/>
                  <a:pt x="5962898" y="4934294"/>
                  <a:pt x="5968105" y="4927505"/>
                </a:cubicBezTo>
                <a:close/>
                <a:moveTo>
                  <a:pt x="3654684" y="4909373"/>
                </a:moveTo>
                <a:lnTo>
                  <a:pt x="3654686" y="4909377"/>
                </a:lnTo>
                <a:lnTo>
                  <a:pt x="3649664" y="4913256"/>
                </a:lnTo>
                <a:lnTo>
                  <a:pt x="3649663" y="4913255"/>
                </a:lnTo>
                <a:close/>
                <a:moveTo>
                  <a:pt x="3636567" y="4891219"/>
                </a:moveTo>
                <a:lnTo>
                  <a:pt x="3634062" y="4893172"/>
                </a:lnTo>
                <a:lnTo>
                  <a:pt x="3649663" y="4913255"/>
                </a:lnTo>
                <a:lnTo>
                  <a:pt x="3647149" y="4915199"/>
                </a:lnTo>
                <a:cubicBezTo>
                  <a:pt x="3641979" y="4908519"/>
                  <a:pt x="3636780" y="4901825"/>
                  <a:pt x="3631560" y="4895120"/>
                </a:cubicBezTo>
                <a:close/>
                <a:moveTo>
                  <a:pt x="6001760" y="4889266"/>
                </a:moveTo>
                <a:lnTo>
                  <a:pt x="6004226" y="4891210"/>
                </a:lnTo>
                <a:lnTo>
                  <a:pt x="6001747" y="4889282"/>
                </a:lnTo>
                <a:close/>
                <a:moveTo>
                  <a:pt x="3639072" y="4889266"/>
                </a:moveTo>
                <a:lnTo>
                  <a:pt x="3639072" y="4889266"/>
                </a:lnTo>
                <a:lnTo>
                  <a:pt x="3636567" y="4891219"/>
                </a:lnTo>
                <a:close/>
                <a:moveTo>
                  <a:pt x="5999220" y="4887317"/>
                </a:moveTo>
                <a:lnTo>
                  <a:pt x="6001747" y="4889282"/>
                </a:lnTo>
                <a:lnTo>
                  <a:pt x="5986139" y="4909370"/>
                </a:lnTo>
                <a:lnTo>
                  <a:pt x="5991156" y="4913256"/>
                </a:lnTo>
                <a:cubicBezTo>
                  <a:pt x="5996299" y="4906569"/>
                  <a:pt x="6001506" y="4899870"/>
                  <a:pt x="6006713" y="4893172"/>
                </a:cubicBezTo>
                <a:lnTo>
                  <a:pt x="6004226" y="4891210"/>
                </a:lnTo>
                <a:lnTo>
                  <a:pt x="6009253" y="4895120"/>
                </a:lnTo>
                <a:cubicBezTo>
                  <a:pt x="6004046" y="4901819"/>
                  <a:pt x="5998839" y="4908512"/>
                  <a:pt x="5993632" y="4915199"/>
                </a:cubicBezTo>
                <a:lnTo>
                  <a:pt x="5983599" y="4907426"/>
                </a:lnTo>
                <a:cubicBezTo>
                  <a:pt x="5988806" y="4900727"/>
                  <a:pt x="5994013" y="4894029"/>
                  <a:pt x="5999220" y="4887317"/>
                </a:cubicBezTo>
                <a:close/>
                <a:moveTo>
                  <a:pt x="3641574" y="4887317"/>
                </a:moveTo>
                <a:cubicBezTo>
                  <a:pt x="3646807" y="4894029"/>
                  <a:pt x="3652014" y="4900733"/>
                  <a:pt x="3657194" y="4907432"/>
                </a:cubicBezTo>
                <a:lnTo>
                  <a:pt x="3654684" y="4909373"/>
                </a:lnTo>
                <a:lnTo>
                  <a:pt x="3639072" y="4889266"/>
                </a:lnTo>
                <a:close/>
                <a:moveTo>
                  <a:pt x="3620558" y="4871306"/>
                </a:moveTo>
                <a:lnTo>
                  <a:pt x="3618327" y="4873061"/>
                </a:lnTo>
                <a:lnTo>
                  <a:pt x="3618325" y="4873059"/>
                </a:lnTo>
                <a:close/>
                <a:moveTo>
                  <a:pt x="6019974" y="4871090"/>
                </a:moveTo>
                <a:lnTo>
                  <a:pt x="6022473" y="4873045"/>
                </a:lnTo>
                <a:lnTo>
                  <a:pt x="6022461" y="4873061"/>
                </a:lnTo>
                <a:close/>
                <a:moveTo>
                  <a:pt x="6038143" y="4853175"/>
                </a:moveTo>
                <a:lnTo>
                  <a:pt x="6040622" y="4855148"/>
                </a:lnTo>
                <a:cubicBezTo>
                  <a:pt x="6035415" y="4861777"/>
                  <a:pt x="6030208" y="4868400"/>
                  <a:pt x="6025001" y="4875023"/>
                </a:cubicBezTo>
                <a:lnTo>
                  <a:pt x="6022473" y="4873045"/>
                </a:lnTo>
                <a:close/>
                <a:moveTo>
                  <a:pt x="3605134" y="4851210"/>
                </a:moveTo>
                <a:lnTo>
                  <a:pt x="3602648" y="4853178"/>
                </a:lnTo>
                <a:lnTo>
                  <a:pt x="3618325" y="4873059"/>
                </a:lnTo>
                <a:lnTo>
                  <a:pt x="3615825" y="4875023"/>
                </a:lnTo>
                <a:cubicBezTo>
                  <a:pt x="3610630" y="4868405"/>
                  <a:pt x="3605404" y="4861777"/>
                  <a:pt x="3600158" y="4855148"/>
                </a:cubicBezTo>
                <a:close/>
                <a:moveTo>
                  <a:pt x="6033193" y="4849235"/>
                </a:moveTo>
                <a:lnTo>
                  <a:pt x="6038145" y="4853173"/>
                </a:lnTo>
                <a:lnTo>
                  <a:pt x="6038143" y="4853175"/>
                </a:lnTo>
                <a:lnTo>
                  <a:pt x="6033192" y="4849237"/>
                </a:lnTo>
                <a:close/>
                <a:moveTo>
                  <a:pt x="3607627" y="4849235"/>
                </a:moveTo>
                <a:lnTo>
                  <a:pt x="3607627" y="4849236"/>
                </a:lnTo>
                <a:lnTo>
                  <a:pt x="3605134" y="4851210"/>
                </a:lnTo>
                <a:close/>
                <a:moveTo>
                  <a:pt x="6030716" y="4847267"/>
                </a:moveTo>
                <a:lnTo>
                  <a:pt x="6033192" y="4849237"/>
                </a:lnTo>
                <a:lnTo>
                  <a:pt x="6017508" y="4869136"/>
                </a:lnTo>
                <a:lnTo>
                  <a:pt x="6019974" y="4871090"/>
                </a:lnTo>
                <a:lnTo>
                  <a:pt x="6014968" y="4867174"/>
                </a:lnTo>
                <a:cubicBezTo>
                  <a:pt x="6020175" y="4860544"/>
                  <a:pt x="6025445" y="4853909"/>
                  <a:pt x="6030716" y="4847267"/>
                </a:cubicBezTo>
                <a:close/>
                <a:moveTo>
                  <a:pt x="3610115" y="4847267"/>
                </a:moveTo>
                <a:cubicBezTo>
                  <a:pt x="3615373" y="4853909"/>
                  <a:pt x="3620606" y="4860544"/>
                  <a:pt x="3625813" y="4867180"/>
                </a:cubicBezTo>
                <a:lnTo>
                  <a:pt x="3620558" y="4871306"/>
                </a:lnTo>
                <a:lnTo>
                  <a:pt x="3623317" y="4869136"/>
                </a:lnTo>
                <a:lnTo>
                  <a:pt x="3607627" y="4849236"/>
                </a:lnTo>
                <a:close/>
                <a:moveTo>
                  <a:pt x="6051481" y="4831272"/>
                </a:moveTo>
                <a:lnTo>
                  <a:pt x="6053959" y="4833251"/>
                </a:lnTo>
                <a:lnTo>
                  <a:pt x="6053957" y="4833253"/>
                </a:lnTo>
                <a:close/>
                <a:moveTo>
                  <a:pt x="3591789" y="4829296"/>
                </a:moveTo>
                <a:lnTo>
                  <a:pt x="3591790" y="4829296"/>
                </a:lnTo>
                <a:lnTo>
                  <a:pt x="3589307" y="4831274"/>
                </a:lnTo>
                <a:close/>
                <a:moveTo>
                  <a:pt x="3570879" y="4813320"/>
                </a:moveTo>
                <a:lnTo>
                  <a:pt x="3586824" y="4833253"/>
                </a:lnTo>
                <a:lnTo>
                  <a:pt x="3589307" y="4831274"/>
                </a:lnTo>
                <a:lnTo>
                  <a:pt x="3584341" y="4835233"/>
                </a:lnTo>
                <a:cubicBezTo>
                  <a:pt x="3579051" y="4828597"/>
                  <a:pt x="3573742" y="4821955"/>
                  <a:pt x="3568403" y="4815308"/>
                </a:cubicBezTo>
                <a:close/>
                <a:moveTo>
                  <a:pt x="6069894" y="4813318"/>
                </a:moveTo>
                <a:lnTo>
                  <a:pt x="6072372" y="4815308"/>
                </a:lnTo>
                <a:cubicBezTo>
                  <a:pt x="6067038" y="4821955"/>
                  <a:pt x="6061768" y="4828597"/>
                  <a:pt x="6056433" y="4835228"/>
                </a:cubicBezTo>
                <a:lnTo>
                  <a:pt x="6053959" y="4833251"/>
                </a:lnTo>
                <a:lnTo>
                  <a:pt x="6069895" y="4813319"/>
                </a:lnTo>
                <a:close/>
                <a:moveTo>
                  <a:pt x="3575831" y="4809346"/>
                </a:moveTo>
                <a:lnTo>
                  <a:pt x="3570879" y="4813320"/>
                </a:lnTo>
                <a:lnTo>
                  <a:pt x="3570879" y="4813319"/>
                </a:lnTo>
                <a:close/>
                <a:moveTo>
                  <a:pt x="6064943" y="4809344"/>
                </a:moveTo>
                <a:lnTo>
                  <a:pt x="6069894" y="4813318"/>
                </a:lnTo>
                <a:lnTo>
                  <a:pt x="6064943" y="4809345"/>
                </a:lnTo>
                <a:close/>
                <a:moveTo>
                  <a:pt x="6062466" y="4807357"/>
                </a:moveTo>
                <a:lnTo>
                  <a:pt x="6064943" y="4809345"/>
                </a:lnTo>
                <a:lnTo>
                  <a:pt x="6049004" y="4829291"/>
                </a:lnTo>
                <a:lnTo>
                  <a:pt x="6051481" y="4831272"/>
                </a:lnTo>
                <a:lnTo>
                  <a:pt x="6046528" y="4827315"/>
                </a:lnTo>
                <a:cubicBezTo>
                  <a:pt x="6051798" y="4820666"/>
                  <a:pt x="6057132" y="4814018"/>
                  <a:pt x="6062466" y="4807357"/>
                </a:cubicBezTo>
                <a:close/>
                <a:moveTo>
                  <a:pt x="3578308" y="4807357"/>
                </a:moveTo>
                <a:cubicBezTo>
                  <a:pt x="3583655" y="4814018"/>
                  <a:pt x="3588977" y="4820673"/>
                  <a:pt x="3594273" y="4827315"/>
                </a:cubicBezTo>
                <a:lnTo>
                  <a:pt x="3591789" y="4829296"/>
                </a:lnTo>
                <a:lnTo>
                  <a:pt x="3575833" y="4809344"/>
                </a:lnTo>
                <a:lnTo>
                  <a:pt x="3575831" y="4809346"/>
                </a:lnTo>
                <a:close/>
                <a:moveTo>
                  <a:pt x="3557569" y="4791510"/>
                </a:moveTo>
                <a:lnTo>
                  <a:pt x="3554991" y="4793596"/>
                </a:lnTo>
                <a:lnTo>
                  <a:pt x="3554990" y="4793595"/>
                </a:lnTo>
                <a:close/>
                <a:moveTo>
                  <a:pt x="3538961" y="4773833"/>
                </a:moveTo>
                <a:lnTo>
                  <a:pt x="3554990" y="4793595"/>
                </a:lnTo>
                <a:lnTo>
                  <a:pt x="3552521" y="4795590"/>
                </a:lnTo>
                <a:cubicBezTo>
                  <a:pt x="3547199" y="4789012"/>
                  <a:pt x="3541860" y="4782427"/>
                  <a:pt x="3536499" y="4775836"/>
                </a:cubicBezTo>
                <a:close/>
                <a:moveTo>
                  <a:pt x="6096946" y="4769823"/>
                </a:moveTo>
                <a:lnTo>
                  <a:pt x="6099165" y="4771641"/>
                </a:lnTo>
                <a:lnTo>
                  <a:pt x="6096941" y="4769829"/>
                </a:lnTo>
                <a:close/>
                <a:moveTo>
                  <a:pt x="3543885" y="4769823"/>
                </a:moveTo>
                <a:lnTo>
                  <a:pt x="3543887" y="4769825"/>
                </a:lnTo>
                <a:lnTo>
                  <a:pt x="3538961" y="4773833"/>
                </a:lnTo>
                <a:lnTo>
                  <a:pt x="3538958" y="4773829"/>
                </a:lnTo>
                <a:close/>
                <a:moveTo>
                  <a:pt x="3546349" y="4767823"/>
                </a:moveTo>
                <a:cubicBezTo>
                  <a:pt x="3551722" y="4774419"/>
                  <a:pt x="3557067" y="4781018"/>
                  <a:pt x="3562395" y="4787609"/>
                </a:cubicBezTo>
                <a:lnTo>
                  <a:pt x="3557569" y="4791510"/>
                </a:lnTo>
                <a:lnTo>
                  <a:pt x="3559926" y="4789603"/>
                </a:lnTo>
                <a:lnTo>
                  <a:pt x="3543887" y="4769825"/>
                </a:lnTo>
                <a:close/>
                <a:moveTo>
                  <a:pt x="6094470" y="4767815"/>
                </a:moveTo>
                <a:lnTo>
                  <a:pt x="6096941" y="4769829"/>
                </a:lnTo>
                <a:lnTo>
                  <a:pt x="6080881" y="4789603"/>
                </a:lnTo>
                <a:lnTo>
                  <a:pt x="6085834" y="4793590"/>
                </a:lnTo>
                <a:cubicBezTo>
                  <a:pt x="6091105" y="4787012"/>
                  <a:pt x="6096502" y="4780427"/>
                  <a:pt x="6101836" y="4773829"/>
                </a:cubicBezTo>
                <a:lnTo>
                  <a:pt x="6099165" y="4771641"/>
                </a:lnTo>
                <a:lnTo>
                  <a:pt x="6104313" y="4775836"/>
                </a:lnTo>
                <a:cubicBezTo>
                  <a:pt x="6098915" y="4782427"/>
                  <a:pt x="6093581" y="4789012"/>
                  <a:pt x="6088310" y="4795590"/>
                </a:cubicBezTo>
                <a:lnTo>
                  <a:pt x="6078405" y="4787609"/>
                </a:lnTo>
                <a:cubicBezTo>
                  <a:pt x="6083739" y="4781018"/>
                  <a:pt x="6089072" y="4774419"/>
                  <a:pt x="6094470" y="4767815"/>
                </a:cubicBezTo>
                <a:close/>
                <a:moveTo>
                  <a:pt x="6115521" y="4752055"/>
                </a:moveTo>
                <a:lnTo>
                  <a:pt x="6117972" y="4754060"/>
                </a:lnTo>
                <a:lnTo>
                  <a:pt x="6117965" y="4754067"/>
                </a:lnTo>
                <a:close/>
                <a:moveTo>
                  <a:pt x="3526090" y="4751388"/>
                </a:moveTo>
                <a:lnTo>
                  <a:pt x="3522822" y="4754067"/>
                </a:lnTo>
                <a:lnTo>
                  <a:pt x="3522822" y="4754067"/>
                </a:lnTo>
                <a:close/>
                <a:moveTo>
                  <a:pt x="6134082" y="4734512"/>
                </a:moveTo>
                <a:lnTo>
                  <a:pt x="6136507" y="4736517"/>
                </a:lnTo>
                <a:cubicBezTo>
                  <a:pt x="6131109" y="4743044"/>
                  <a:pt x="6125776" y="4749565"/>
                  <a:pt x="6120442" y="4756080"/>
                </a:cubicBezTo>
                <a:lnTo>
                  <a:pt x="6117972" y="4754060"/>
                </a:lnTo>
                <a:close/>
                <a:moveTo>
                  <a:pt x="3509180" y="4732475"/>
                </a:moveTo>
                <a:lnTo>
                  <a:pt x="3506731" y="4734498"/>
                </a:lnTo>
                <a:lnTo>
                  <a:pt x="3522822" y="4754067"/>
                </a:lnTo>
                <a:lnTo>
                  <a:pt x="3520365" y="4756080"/>
                </a:lnTo>
                <a:cubicBezTo>
                  <a:pt x="3515024" y="4749565"/>
                  <a:pt x="3509665" y="4743044"/>
                  <a:pt x="3504280" y="4736517"/>
                </a:cubicBezTo>
                <a:close/>
                <a:moveTo>
                  <a:pt x="6129205" y="4730453"/>
                </a:moveTo>
                <a:lnTo>
                  <a:pt x="6134094" y="4734498"/>
                </a:lnTo>
                <a:lnTo>
                  <a:pt x="6134082" y="4734512"/>
                </a:lnTo>
                <a:lnTo>
                  <a:pt x="6129191" y="4730470"/>
                </a:lnTo>
                <a:close/>
                <a:moveTo>
                  <a:pt x="3511628" y="4730453"/>
                </a:moveTo>
                <a:lnTo>
                  <a:pt x="3511629" y="4730454"/>
                </a:lnTo>
                <a:lnTo>
                  <a:pt x="3509180" y="4732475"/>
                </a:lnTo>
                <a:close/>
                <a:moveTo>
                  <a:pt x="6126728" y="4728434"/>
                </a:moveTo>
                <a:lnTo>
                  <a:pt x="6129191" y="4730470"/>
                </a:lnTo>
                <a:lnTo>
                  <a:pt x="6113076" y="4750043"/>
                </a:lnTo>
                <a:lnTo>
                  <a:pt x="6115521" y="4752055"/>
                </a:lnTo>
                <a:lnTo>
                  <a:pt x="6110599" y="4748029"/>
                </a:lnTo>
                <a:cubicBezTo>
                  <a:pt x="6115933" y="4741501"/>
                  <a:pt x="6121331" y="4734974"/>
                  <a:pt x="6126728" y="4728434"/>
                </a:cubicBezTo>
                <a:close/>
                <a:moveTo>
                  <a:pt x="3514079" y="4728434"/>
                </a:moveTo>
                <a:cubicBezTo>
                  <a:pt x="3519470" y="4734974"/>
                  <a:pt x="3524841" y="4741501"/>
                  <a:pt x="3530188" y="4748029"/>
                </a:cubicBezTo>
                <a:lnTo>
                  <a:pt x="3526090" y="4751388"/>
                </a:lnTo>
                <a:lnTo>
                  <a:pt x="3527731" y="4750043"/>
                </a:lnTo>
                <a:lnTo>
                  <a:pt x="3511629" y="4730454"/>
                </a:lnTo>
                <a:close/>
                <a:moveTo>
                  <a:pt x="3495396" y="4710836"/>
                </a:moveTo>
                <a:lnTo>
                  <a:pt x="3495396" y="4710837"/>
                </a:lnTo>
                <a:lnTo>
                  <a:pt x="3490514" y="4714895"/>
                </a:lnTo>
                <a:lnTo>
                  <a:pt x="3490511" y="4714892"/>
                </a:lnTo>
                <a:close/>
                <a:moveTo>
                  <a:pt x="6145412" y="4710820"/>
                </a:moveTo>
                <a:lnTo>
                  <a:pt x="6150298" y="4714875"/>
                </a:lnTo>
                <a:lnTo>
                  <a:pt x="6150286" y="4714888"/>
                </a:lnTo>
                <a:lnTo>
                  <a:pt x="6145397" y="4710837"/>
                </a:lnTo>
                <a:close/>
                <a:moveTo>
                  <a:pt x="3474182" y="4695280"/>
                </a:moveTo>
                <a:lnTo>
                  <a:pt x="3490511" y="4714892"/>
                </a:lnTo>
                <a:lnTo>
                  <a:pt x="3488069" y="4716920"/>
                </a:lnTo>
                <a:cubicBezTo>
                  <a:pt x="3482645" y="4710393"/>
                  <a:pt x="3477204" y="4703859"/>
                  <a:pt x="3471742" y="4697317"/>
                </a:cubicBezTo>
                <a:close/>
                <a:moveTo>
                  <a:pt x="6164182" y="4693235"/>
                </a:moveTo>
                <a:lnTo>
                  <a:pt x="6169082" y="4697317"/>
                </a:lnTo>
                <a:cubicBezTo>
                  <a:pt x="6163621" y="4703859"/>
                  <a:pt x="6158160" y="4710393"/>
                  <a:pt x="6152763" y="4716920"/>
                </a:cubicBezTo>
                <a:lnTo>
                  <a:pt x="6150298" y="4714875"/>
                </a:lnTo>
                <a:lnTo>
                  <a:pt x="6166606" y="4695279"/>
                </a:lnTo>
                <a:close/>
                <a:moveTo>
                  <a:pt x="6161780" y="4691210"/>
                </a:moveTo>
                <a:lnTo>
                  <a:pt x="6164182" y="4693235"/>
                </a:lnTo>
                <a:lnTo>
                  <a:pt x="6161768" y="4691224"/>
                </a:lnTo>
                <a:close/>
                <a:moveTo>
                  <a:pt x="3479051" y="4691210"/>
                </a:moveTo>
                <a:lnTo>
                  <a:pt x="3479054" y="4691212"/>
                </a:lnTo>
                <a:lnTo>
                  <a:pt x="3474182" y="4695280"/>
                </a:lnTo>
                <a:lnTo>
                  <a:pt x="3474181" y="4695279"/>
                </a:lnTo>
                <a:close/>
                <a:moveTo>
                  <a:pt x="3481490" y="4689178"/>
                </a:moveTo>
                <a:cubicBezTo>
                  <a:pt x="3486957" y="4695725"/>
                  <a:pt x="3492411" y="4702271"/>
                  <a:pt x="3497841" y="4708805"/>
                </a:cubicBezTo>
                <a:lnTo>
                  <a:pt x="3495396" y="4710836"/>
                </a:lnTo>
                <a:lnTo>
                  <a:pt x="3479054" y="4691212"/>
                </a:lnTo>
                <a:close/>
                <a:moveTo>
                  <a:pt x="6159304" y="4689172"/>
                </a:moveTo>
                <a:lnTo>
                  <a:pt x="6161768" y="4691224"/>
                </a:lnTo>
                <a:lnTo>
                  <a:pt x="6145412" y="4710820"/>
                </a:lnTo>
                <a:lnTo>
                  <a:pt x="6142984" y="4708805"/>
                </a:lnTo>
                <a:cubicBezTo>
                  <a:pt x="6148382" y="4702265"/>
                  <a:pt x="6153843" y="4695725"/>
                  <a:pt x="6159304" y="4689172"/>
                </a:cubicBezTo>
                <a:close/>
                <a:moveTo>
                  <a:pt x="3458069" y="4675724"/>
                </a:moveTo>
                <a:lnTo>
                  <a:pt x="3457905" y="4675862"/>
                </a:lnTo>
                <a:lnTo>
                  <a:pt x="3457905" y="4675861"/>
                </a:lnTo>
                <a:close/>
                <a:moveTo>
                  <a:pt x="6178040" y="4671767"/>
                </a:moveTo>
                <a:lnTo>
                  <a:pt x="6179831" y="4673273"/>
                </a:lnTo>
                <a:lnTo>
                  <a:pt x="6178036" y="4671771"/>
                </a:lnTo>
                <a:close/>
                <a:moveTo>
                  <a:pt x="6199301" y="4656420"/>
                </a:moveTo>
                <a:lnTo>
                  <a:pt x="6201721" y="4658463"/>
                </a:lnTo>
                <a:cubicBezTo>
                  <a:pt x="6196260" y="4664946"/>
                  <a:pt x="6190799" y="4671429"/>
                  <a:pt x="6185338" y="4677905"/>
                </a:cubicBezTo>
                <a:lnTo>
                  <a:pt x="6179831" y="4673273"/>
                </a:lnTo>
                <a:lnTo>
                  <a:pt x="6182925" y="4675862"/>
                </a:lnTo>
                <a:close/>
                <a:moveTo>
                  <a:pt x="6196276" y="4653867"/>
                </a:moveTo>
                <a:lnTo>
                  <a:pt x="6199308" y="4656412"/>
                </a:lnTo>
                <a:lnTo>
                  <a:pt x="6199301" y="4656420"/>
                </a:lnTo>
                <a:close/>
                <a:moveTo>
                  <a:pt x="6192006" y="4650265"/>
                </a:moveTo>
                <a:lnTo>
                  <a:pt x="6196276" y="4653867"/>
                </a:lnTo>
                <a:lnTo>
                  <a:pt x="6194419" y="4652310"/>
                </a:lnTo>
                <a:lnTo>
                  <a:pt x="6178040" y="4671767"/>
                </a:lnTo>
                <a:lnTo>
                  <a:pt x="6175623" y="4669733"/>
                </a:lnTo>
                <a:cubicBezTo>
                  <a:pt x="6181084" y="4663245"/>
                  <a:pt x="6186544" y="4656754"/>
                  <a:pt x="6192006" y="4650265"/>
                </a:cubicBezTo>
                <a:close/>
                <a:moveTo>
                  <a:pt x="3448774" y="4650265"/>
                </a:moveTo>
                <a:cubicBezTo>
                  <a:pt x="3454267" y="4656754"/>
                  <a:pt x="3459742" y="4663245"/>
                  <a:pt x="3465196" y="4669733"/>
                </a:cubicBezTo>
                <a:lnTo>
                  <a:pt x="3458069" y="4675724"/>
                </a:lnTo>
                <a:lnTo>
                  <a:pt x="3462763" y="4671771"/>
                </a:lnTo>
                <a:cubicBezTo>
                  <a:pt x="3457315" y="4665295"/>
                  <a:pt x="3451842" y="4658805"/>
                  <a:pt x="3446355" y="4652315"/>
                </a:cubicBezTo>
                <a:lnTo>
                  <a:pt x="3441505" y="4656412"/>
                </a:lnTo>
                <a:lnTo>
                  <a:pt x="3457905" y="4675861"/>
                </a:lnTo>
                <a:lnTo>
                  <a:pt x="3455474" y="4677905"/>
                </a:lnTo>
                <a:cubicBezTo>
                  <a:pt x="3450032" y="4671429"/>
                  <a:pt x="3444565" y="4664952"/>
                  <a:pt x="3439079" y="4658463"/>
                </a:cubicBezTo>
                <a:close/>
                <a:moveTo>
                  <a:pt x="6213251" y="4634755"/>
                </a:moveTo>
                <a:lnTo>
                  <a:pt x="6215820" y="4636947"/>
                </a:lnTo>
                <a:lnTo>
                  <a:pt x="6215819" y="4636949"/>
                </a:lnTo>
                <a:close/>
                <a:moveTo>
                  <a:pt x="3429819" y="4632832"/>
                </a:moveTo>
                <a:lnTo>
                  <a:pt x="3429821" y="4632833"/>
                </a:lnTo>
                <a:lnTo>
                  <a:pt x="3424988" y="4636949"/>
                </a:lnTo>
                <a:lnTo>
                  <a:pt x="3424986" y="4636947"/>
                </a:lnTo>
                <a:close/>
                <a:moveTo>
                  <a:pt x="3408536" y="4617678"/>
                </a:moveTo>
                <a:lnTo>
                  <a:pt x="3424986" y="4636947"/>
                </a:lnTo>
                <a:lnTo>
                  <a:pt x="3422569" y="4639005"/>
                </a:lnTo>
                <a:cubicBezTo>
                  <a:pt x="3417107" y="4632586"/>
                  <a:pt x="3411628" y="4626167"/>
                  <a:pt x="3406129" y="4619741"/>
                </a:cubicBezTo>
                <a:close/>
                <a:moveTo>
                  <a:pt x="6229852" y="4615609"/>
                </a:moveTo>
                <a:lnTo>
                  <a:pt x="6234678" y="4619741"/>
                </a:lnTo>
                <a:cubicBezTo>
                  <a:pt x="6229153" y="4626167"/>
                  <a:pt x="6223693" y="4632586"/>
                  <a:pt x="6218232" y="4639005"/>
                </a:cubicBezTo>
                <a:lnTo>
                  <a:pt x="6215820" y="4636947"/>
                </a:lnTo>
                <a:lnTo>
                  <a:pt x="6232265" y="4617676"/>
                </a:lnTo>
                <a:close/>
                <a:moveTo>
                  <a:pt x="3411328" y="4615287"/>
                </a:moveTo>
                <a:lnTo>
                  <a:pt x="3408536" y="4617678"/>
                </a:lnTo>
                <a:lnTo>
                  <a:pt x="3408535" y="4617676"/>
                </a:lnTo>
                <a:close/>
                <a:moveTo>
                  <a:pt x="6227439" y="4613542"/>
                </a:moveTo>
                <a:lnTo>
                  <a:pt x="6229852" y="4615609"/>
                </a:lnTo>
                <a:lnTo>
                  <a:pt x="6227439" y="4613543"/>
                </a:lnTo>
                <a:close/>
                <a:moveTo>
                  <a:pt x="6225026" y="4611478"/>
                </a:moveTo>
                <a:lnTo>
                  <a:pt x="6227439" y="4613543"/>
                </a:lnTo>
                <a:lnTo>
                  <a:pt x="6210993" y="4632828"/>
                </a:lnTo>
                <a:lnTo>
                  <a:pt x="6213251" y="4634755"/>
                </a:lnTo>
                <a:lnTo>
                  <a:pt x="6208580" y="4630770"/>
                </a:lnTo>
                <a:cubicBezTo>
                  <a:pt x="6214040" y="4624343"/>
                  <a:pt x="6219501" y="4617918"/>
                  <a:pt x="6225026" y="4611478"/>
                </a:cubicBezTo>
                <a:close/>
                <a:moveTo>
                  <a:pt x="3415775" y="4611478"/>
                </a:moveTo>
                <a:cubicBezTo>
                  <a:pt x="3421279" y="4617918"/>
                  <a:pt x="3426773" y="4624343"/>
                  <a:pt x="3432240" y="4630770"/>
                </a:cubicBezTo>
                <a:lnTo>
                  <a:pt x="3429819" y="4632832"/>
                </a:lnTo>
                <a:lnTo>
                  <a:pt x="3413361" y="4613548"/>
                </a:lnTo>
                <a:lnTo>
                  <a:pt x="3411328" y="4615287"/>
                </a:lnTo>
                <a:close/>
                <a:moveTo>
                  <a:pt x="6260713" y="4574909"/>
                </a:moveTo>
                <a:lnTo>
                  <a:pt x="6265539" y="4579068"/>
                </a:lnTo>
                <a:lnTo>
                  <a:pt x="6265520" y="4579090"/>
                </a:lnTo>
                <a:lnTo>
                  <a:pt x="6260708" y="4574915"/>
                </a:lnTo>
                <a:close/>
                <a:moveTo>
                  <a:pt x="3380087" y="4574909"/>
                </a:moveTo>
                <a:lnTo>
                  <a:pt x="3380087" y="4574910"/>
                </a:lnTo>
                <a:lnTo>
                  <a:pt x="3378461" y="4576318"/>
                </a:lnTo>
                <a:close/>
                <a:moveTo>
                  <a:pt x="3382487" y="4572832"/>
                </a:moveTo>
                <a:cubicBezTo>
                  <a:pt x="3388075" y="4579277"/>
                  <a:pt x="3393637" y="4585723"/>
                  <a:pt x="3399187" y="4592168"/>
                </a:cubicBezTo>
                <a:lnTo>
                  <a:pt x="3389567" y="4600455"/>
                </a:lnTo>
                <a:cubicBezTo>
                  <a:pt x="3384025" y="4594023"/>
                  <a:pt x="3378467" y="4587583"/>
                  <a:pt x="3372885" y="4581145"/>
                </a:cubicBezTo>
                <a:lnTo>
                  <a:pt x="3378461" y="4576318"/>
                </a:lnTo>
                <a:lnTo>
                  <a:pt x="3375287" y="4579068"/>
                </a:lnTo>
                <a:cubicBezTo>
                  <a:pt x="3380868" y="4585507"/>
                  <a:pt x="3386430" y="4591947"/>
                  <a:pt x="3391967" y="4598385"/>
                </a:cubicBezTo>
                <a:lnTo>
                  <a:pt x="3396781" y="4594238"/>
                </a:lnTo>
                <a:lnTo>
                  <a:pt x="3380087" y="4574910"/>
                </a:lnTo>
                <a:close/>
                <a:moveTo>
                  <a:pt x="6258300" y="4572826"/>
                </a:moveTo>
                <a:lnTo>
                  <a:pt x="6260708" y="4574915"/>
                </a:lnTo>
                <a:lnTo>
                  <a:pt x="6244012" y="4594238"/>
                </a:lnTo>
                <a:lnTo>
                  <a:pt x="6248838" y="4598378"/>
                </a:lnTo>
                <a:lnTo>
                  <a:pt x="6265520" y="4579090"/>
                </a:lnTo>
                <a:lnTo>
                  <a:pt x="6267888" y="4581145"/>
                </a:lnTo>
                <a:cubicBezTo>
                  <a:pt x="6262364" y="4587583"/>
                  <a:pt x="6256776" y="4594023"/>
                  <a:pt x="6251251" y="4600455"/>
                </a:cubicBezTo>
                <a:lnTo>
                  <a:pt x="6241599" y="4592168"/>
                </a:lnTo>
                <a:cubicBezTo>
                  <a:pt x="6247187" y="4585723"/>
                  <a:pt x="6252712" y="4579277"/>
                  <a:pt x="6258300" y="4572826"/>
                </a:cubicBezTo>
                <a:close/>
                <a:moveTo>
                  <a:pt x="3346711" y="4536599"/>
                </a:moveTo>
                <a:lnTo>
                  <a:pt x="3341936" y="4540784"/>
                </a:lnTo>
                <a:cubicBezTo>
                  <a:pt x="3347531" y="4547165"/>
                  <a:pt x="3353106" y="4553548"/>
                  <a:pt x="3358663" y="4559924"/>
                </a:cubicBezTo>
                <a:lnTo>
                  <a:pt x="3363449" y="4555750"/>
                </a:lnTo>
                <a:cubicBezTo>
                  <a:pt x="3357887" y="4549369"/>
                  <a:pt x="3352305" y="4542987"/>
                  <a:pt x="3346711" y="4536599"/>
                </a:cubicBezTo>
                <a:close/>
                <a:moveTo>
                  <a:pt x="6294114" y="4536593"/>
                </a:moveTo>
                <a:lnTo>
                  <a:pt x="6298876" y="4540778"/>
                </a:lnTo>
                <a:lnTo>
                  <a:pt x="6298861" y="4540795"/>
                </a:lnTo>
                <a:lnTo>
                  <a:pt x="6294099" y="4536611"/>
                </a:lnTo>
                <a:close/>
                <a:moveTo>
                  <a:pt x="6291701" y="4534504"/>
                </a:moveTo>
                <a:lnTo>
                  <a:pt x="6294099" y="4536611"/>
                </a:lnTo>
                <a:lnTo>
                  <a:pt x="6277350" y="4555750"/>
                </a:lnTo>
                <a:lnTo>
                  <a:pt x="6282176" y="4559924"/>
                </a:lnTo>
                <a:lnTo>
                  <a:pt x="6298861" y="4540795"/>
                </a:lnTo>
                <a:lnTo>
                  <a:pt x="6301226" y="4542874"/>
                </a:lnTo>
                <a:cubicBezTo>
                  <a:pt x="6295638" y="4549255"/>
                  <a:pt x="6290113" y="4555636"/>
                  <a:pt x="6284525" y="4562012"/>
                </a:cubicBezTo>
                <a:lnTo>
                  <a:pt x="6274937" y="4553669"/>
                </a:lnTo>
                <a:cubicBezTo>
                  <a:pt x="6280525" y="4547280"/>
                  <a:pt x="6286113" y="4540893"/>
                  <a:pt x="6291701" y="4534504"/>
                </a:cubicBezTo>
                <a:close/>
                <a:moveTo>
                  <a:pt x="3349099" y="4534504"/>
                </a:moveTo>
                <a:cubicBezTo>
                  <a:pt x="3354700" y="4540899"/>
                  <a:pt x="3360282" y="4547286"/>
                  <a:pt x="3365844" y="4553669"/>
                </a:cubicBezTo>
                <a:lnTo>
                  <a:pt x="3356268" y="4562012"/>
                </a:lnTo>
                <a:cubicBezTo>
                  <a:pt x="3350712" y="4555636"/>
                  <a:pt x="3345136" y="4549255"/>
                  <a:pt x="3339548" y="4542874"/>
                </a:cubicBezTo>
                <a:close/>
                <a:moveTo>
                  <a:pt x="6312877" y="4519128"/>
                </a:moveTo>
                <a:lnTo>
                  <a:pt x="6315713" y="4521610"/>
                </a:lnTo>
                <a:lnTo>
                  <a:pt x="6315704" y="4521619"/>
                </a:lnTo>
                <a:close/>
                <a:moveTo>
                  <a:pt x="3329862" y="4517420"/>
                </a:moveTo>
                <a:lnTo>
                  <a:pt x="3329865" y="4517422"/>
                </a:lnTo>
                <a:lnTo>
                  <a:pt x="3325096" y="4521619"/>
                </a:lnTo>
                <a:lnTo>
                  <a:pt x="3325095" y="4521619"/>
                </a:lnTo>
                <a:close/>
                <a:moveTo>
                  <a:pt x="6332520" y="4502610"/>
                </a:moveTo>
                <a:lnTo>
                  <a:pt x="6334881" y="4504698"/>
                </a:lnTo>
                <a:cubicBezTo>
                  <a:pt x="6329293" y="4511041"/>
                  <a:pt x="6323642" y="4517379"/>
                  <a:pt x="6318117" y="4523715"/>
                </a:cubicBezTo>
                <a:lnTo>
                  <a:pt x="6315713" y="4521610"/>
                </a:lnTo>
                <a:close/>
                <a:moveTo>
                  <a:pt x="6327769" y="4498386"/>
                </a:moveTo>
                <a:lnTo>
                  <a:pt x="6332532" y="4502596"/>
                </a:lnTo>
                <a:lnTo>
                  <a:pt x="6332520" y="4502610"/>
                </a:lnTo>
                <a:lnTo>
                  <a:pt x="6327757" y="4498400"/>
                </a:lnTo>
                <a:close/>
                <a:moveTo>
                  <a:pt x="6325356" y="4496277"/>
                </a:moveTo>
                <a:lnTo>
                  <a:pt x="6327757" y="4498400"/>
                </a:lnTo>
                <a:lnTo>
                  <a:pt x="6310942" y="4517422"/>
                </a:lnTo>
                <a:lnTo>
                  <a:pt x="6312877" y="4519128"/>
                </a:lnTo>
                <a:lnTo>
                  <a:pt x="6308528" y="4515320"/>
                </a:lnTo>
                <a:cubicBezTo>
                  <a:pt x="6314117" y="4508977"/>
                  <a:pt x="6319768" y="4502628"/>
                  <a:pt x="6325356" y="4496277"/>
                </a:cubicBezTo>
                <a:close/>
                <a:moveTo>
                  <a:pt x="3315425" y="4496277"/>
                </a:moveTo>
                <a:cubicBezTo>
                  <a:pt x="3321044" y="4502628"/>
                  <a:pt x="3326658" y="4508977"/>
                  <a:pt x="3332245" y="4515320"/>
                </a:cubicBezTo>
                <a:lnTo>
                  <a:pt x="3329862" y="4517420"/>
                </a:lnTo>
                <a:lnTo>
                  <a:pt x="3313043" y="4498386"/>
                </a:lnTo>
                <a:lnTo>
                  <a:pt x="3308294" y="4502596"/>
                </a:lnTo>
                <a:lnTo>
                  <a:pt x="3325095" y="4521619"/>
                </a:lnTo>
                <a:lnTo>
                  <a:pt x="3322714" y="4523715"/>
                </a:lnTo>
                <a:cubicBezTo>
                  <a:pt x="3317133" y="4517379"/>
                  <a:pt x="3311533" y="4511041"/>
                  <a:pt x="3305912" y="4504698"/>
                </a:cubicBezTo>
                <a:close/>
                <a:moveTo>
                  <a:pt x="6346980" y="4481458"/>
                </a:moveTo>
                <a:lnTo>
                  <a:pt x="6349373" y="4483581"/>
                </a:lnTo>
                <a:lnTo>
                  <a:pt x="6349359" y="4483596"/>
                </a:lnTo>
                <a:close/>
                <a:moveTo>
                  <a:pt x="6366369" y="4464593"/>
                </a:moveTo>
                <a:lnTo>
                  <a:pt x="6368726" y="4466705"/>
                </a:lnTo>
                <a:cubicBezTo>
                  <a:pt x="6363075" y="4473042"/>
                  <a:pt x="6357423" y="4479373"/>
                  <a:pt x="6351772" y="4485710"/>
                </a:cubicBezTo>
                <a:lnTo>
                  <a:pt x="6349373" y="4483581"/>
                </a:lnTo>
                <a:close/>
                <a:moveTo>
                  <a:pt x="6363996" y="4462466"/>
                </a:moveTo>
                <a:lnTo>
                  <a:pt x="6366377" y="4464584"/>
                </a:lnTo>
                <a:lnTo>
                  <a:pt x="6366369" y="4464593"/>
                </a:lnTo>
                <a:close/>
                <a:moveTo>
                  <a:pt x="3279172" y="4460348"/>
                </a:moveTo>
                <a:lnTo>
                  <a:pt x="3274442" y="4464584"/>
                </a:lnTo>
                <a:cubicBezTo>
                  <a:pt x="3280119" y="4470927"/>
                  <a:pt x="3285777" y="4477265"/>
                  <a:pt x="3291416" y="4483596"/>
                </a:cubicBezTo>
                <a:lnTo>
                  <a:pt x="3296158" y="4479373"/>
                </a:lnTo>
                <a:cubicBezTo>
                  <a:pt x="3290513" y="4473035"/>
                  <a:pt x="3284850" y="4466693"/>
                  <a:pt x="3279172" y="4460348"/>
                </a:cubicBezTo>
                <a:close/>
                <a:moveTo>
                  <a:pt x="6359265" y="4458227"/>
                </a:moveTo>
                <a:lnTo>
                  <a:pt x="6363996" y="4462466"/>
                </a:lnTo>
                <a:lnTo>
                  <a:pt x="6361614" y="4460348"/>
                </a:lnTo>
                <a:cubicBezTo>
                  <a:pt x="6355963" y="4466693"/>
                  <a:pt x="6350311" y="4473035"/>
                  <a:pt x="6344660" y="4479373"/>
                </a:cubicBezTo>
                <a:lnTo>
                  <a:pt x="6346980" y="4481458"/>
                </a:lnTo>
                <a:lnTo>
                  <a:pt x="6342247" y="4477259"/>
                </a:lnTo>
                <a:cubicBezTo>
                  <a:pt x="6347898" y="4470921"/>
                  <a:pt x="6353613" y="4464578"/>
                  <a:pt x="6359265" y="4458227"/>
                </a:cubicBezTo>
                <a:close/>
                <a:moveTo>
                  <a:pt x="3281534" y="4458227"/>
                </a:moveTo>
                <a:cubicBezTo>
                  <a:pt x="3287218" y="4464578"/>
                  <a:pt x="3292883" y="4470921"/>
                  <a:pt x="3298534" y="4477265"/>
                </a:cubicBezTo>
                <a:lnTo>
                  <a:pt x="3289046" y="4485710"/>
                </a:lnTo>
                <a:cubicBezTo>
                  <a:pt x="3283409" y="4479380"/>
                  <a:pt x="3277751" y="4473042"/>
                  <a:pt x="3272074" y="4466705"/>
                </a:cubicBezTo>
                <a:close/>
                <a:moveTo>
                  <a:pt x="3262177" y="4441422"/>
                </a:moveTo>
                <a:lnTo>
                  <a:pt x="3262180" y="4441425"/>
                </a:lnTo>
                <a:lnTo>
                  <a:pt x="3257456" y="4445674"/>
                </a:lnTo>
                <a:lnTo>
                  <a:pt x="3257455" y="4445673"/>
                </a:lnTo>
                <a:close/>
                <a:moveTo>
                  <a:pt x="6395650" y="4422560"/>
                </a:moveTo>
                <a:cubicBezTo>
                  <a:pt x="6389935" y="4428847"/>
                  <a:pt x="6384284" y="4435140"/>
                  <a:pt x="6378632" y="4441419"/>
                </a:cubicBezTo>
                <a:lnTo>
                  <a:pt x="6383332" y="4445668"/>
                </a:lnTo>
                <a:cubicBezTo>
                  <a:pt x="6388982" y="4439387"/>
                  <a:pt x="6394698" y="4433108"/>
                  <a:pt x="6400349" y="4426821"/>
                </a:cubicBezTo>
                <a:close/>
                <a:moveTo>
                  <a:pt x="6393301" y="4420426"/>
                </a:moveTo>
                <a:lnTo>
                  <a:pt x="6402699" y="4428947"/>
                </a:lnTo>
                <a:cubicBezTo>
                  <a:pt x="6397047" y="4435234"/>
                  <a:pt x="6391332" y="4441514"/>
                  <a:pt x="6385681" y="4447795"/>
                </a:cubicBezTo>
                <a:lnTo>
                  <a:pt x="6376282" y="4439298"/>
                </a:lnTo>
                <a:cubicBezTo>
                  <a:pt x="6381934" y="4433011"/>
                  <a:pt x="6387586" y="4426719"/>
                  <a:pt x="6393301" y="4420426"/>
                </a:cubicBezTo>
                <a:close/>
                <a:moveTo>
                  <a:pt x="3247506" y="4420426"/>
                </a:moveTo>
                <a:cubicBezTo>
                  <a:pt x="3253202" y="4426719"/>
                  <a:pt x="3258878" y="4433011"/>
                  <a:pt x="3264536" y="4439298"/>
                </a:cubicBezTo>
                <a:lnTo>
                  <a:pt x="3262177" y="4441422"/>
                </a:lnTo>
                <a:lnTo>
                  <a:pt x="3245149" y="4422560"/>
                </a:lnTo>
                <a:lnTo>
                  <a:pt x="3240445" y="4426821"/>
                </a:lnTo>
                <a:lnTo>
                  <a:pt x="3257455" y="4445673"/>
                </a:lnTo>
                <a:lnTo>
                  <a:pt x="3255100" y="4447795"/>
                </a:lnTo>
                <a:cubicBezTo>
                  <a:pt x="3249449" y="4441514"/>
                  <a:pt x="3243777" y="4435234"/>
                  <a:pt x="3238087" y="4428947"/>
                </a:cubicBezTo>
                <a:close/>
                <a:moveTo>
                  <a:pt x="3228022" y="4403680"/>
                </a:moveTo>
                <a:lnTo>
                  <a:pt x="3228024" y="4403681"/>
                </a:lnTo>
                <a:lnTo>
                  <a:pt x="3223331" y="4407954"/>
                </a:lnTo>
                <a:lnTo>
                  <a:pt x="3223329" y="4407952"/>
                </a:lnTo>
                <a:close/>
                <a:moveTo>
                  <a:pt x="6412797" y="4403679"/>
                </a:moveTo>
                <a:lnTo>
                  <a:pt x="6415525" y="4406161"/>
                </a:lnTo>
                <a:lnTo>
                  <a:pt x="6412795" y="4403681"/>
                </a:lnTo>
                <a:close/>
                <a:moveTo>
                  <a:pt x="3207969" y="4387509"/>
                </a:moveTo>
                <a:lnTo>
                  <a:pt x="3206180" y="4389147"/>
                </a:lnTo>
                <a:lnTo>
                  <a:pt x="3223329" y="4407952"/>
                </a:lnTo>
                <a:lnTo>
                  <a:pt x="3220981" y="4410089"/>
                </a:lnTo>
                <a:cubicBezTo>
                  <a:pt x="3215279" y="4403821"/>
                  <a:pt x="3209565" y="4397553"/>
                  <a:pt x="3203837" y="4391287"/>
                </a:cubicBezTo>
                <a:close/>
                <a:moveTo>
                  <a:pt x="6432367" y="4387073"/>
                </a:moveTo>
                <a:lnTo>
                  <a:pt x="6436989" y="4391287"/>
                </a:lnTo>
                <a:cubicBezTo>
                  <a:pt x="6431210" y="4397553"/>
                  <a:pt x="6425495" y="4403821"/>
                  <a:pt x="6419844" y="4410089"/>
                </a:cubicBezTo>
                <a:lnTo>
                  <a:pt x="6415525" y="4406161"/>
                </a:lnTo>
                <a:lnTo>
                  <a:pt x="6417494" y="4407949"/>
                </a:lnTo>
                <a:cubicBezTo>
                  <a:pt x="6423146" y="4401687"/>
                  <a:pt x="6428861" y="4395413"/>
                  <a:pt x="6434639" y="4389147"/>
                </a:cubicBezTo>
                <a:close/>
                <a:moveTo>
                  <a:pt x="6429940" y="4384860"/>
                </a:moveTo>
                <a:lnTo>
                  <a:pt x="6432367" y="4387073"/>
                </a:lnTo>
                <a:lnTo>
                  <a:pt x="6429939" y="4384861"/>
                </a:lnTo>
                <a:close/>
                <a:moveTo>
                  <a:pt x="3210866" y="4384860"/>
                </a:moveTo>
                <a:lnTo>
                  <a:pt x="3210867" y="4384861"/>
                </a:lnTo>
                <a:lnTo>
                  <a:pt x="3207969" y="4387509"/>
                </a:lnTo>
                <a:close/>
                <a:moveTo>
                  <a:pt x="6427591" y="4382720"/>
                </a:moveTo>
                <a:lnTo>
                  <a:pt x="6429939" y="4384861"/>
                </a:lnTo>
                <a:lnTo>
                  <a:pt x="6412797" y="4403679"/>
                </a:lnTo>
                <a:lnTo>
                  <a:pt x="6410446" y="4401541"/>
                </a:lnTo>
                <a:cubicBezTo>
                  <a:pt x="6416161" y="4395267"/>
                  <a:pt x="6421876" y="4388994"/>
                  <a:pt x="6427591" y="4382720"/>
                </a:cubicBezTo>
                <a:close/>
                <a:moveTo>
                  <a:pt x="3213209" y="4382720"/>
                </a:moveTo>
                <a:cubicBezTo>
                  <a:pt x="3218950" y="4388994"/>
                  <a:pt x="3224670" y="4395267"/>
                  <a:pt x="3230372" y="4401541"/>
                </a:cubicBezTo>
                <a:lnTo>
                  <a:pt x="3228022" y="4403680"/>
                </a:lnTo>
                <a:lnTo>
                  <a:pt x="3210867" y="4384861"/>
                </a:lnTo>
                <a:close/>
                <a:moveTo>
                  <a:pt x="3189277" y="4370203"/>
                </a:moveTo>
                <a:lnTo>
                  <a:pt x="3189028" y="4370432"/>
                </a:lnTo>
                <a:lnTo>
                  <a:pt x="3189028" y="4370432"/>
                </a:lnTo>
                <a:close/>
                <a:moveTo>
                  <a:pt x="6449070" y="4367949"/>
                </a:moveTo>
                <a:lnTo>
                  <a:pt x="6451785" y="4370431"/>
                </a:lnTo>
                <a:lnTo>
                  <a:pt x="6451784" y="4370432"/>
                </a:lnTo>
                <a:close/>
                <a:moveTo>
                  <a:pt x="3171785" y="4351710"/>
                </a:moveTo>
                <a:lnTo>
                  <a:pt x="3189028" y="4370432"/>
                </a:lnTo>
                <a:lnTo>
                  <a:pt x="3186692" y="4372579"/>
                </a:lnTo>
                <a:cubicBezTo>
                  <a:pt x="3180958" y="4366343"/>
                  <a:pt x="3175211" y="4360101"/>
                  <a:pt x="3169452" y="4353865"/>
                </a:cubicBezTo>
                <a:close/>
                <a:moveTo>
                  <a:pt x="6467202" y="4350043"/>
                </a:moveTo>
                <a:lnTo>
                  <a:pt x="6471343" y="4353865"/>
                </a:lnTo>
                <a:cubicBezTo>
                  <a:pt x="6465564" y="4360101"/>
                  <a:pt x="6459849" y="4366343"/>
                  <a:pt x="6454134" y="4372579"/>
                </a:cubicBezTo>
                <a:lnTo>
                  <a:pt x="6451785" y="4370431"/>
                </a:lnTo>
                <a:lnTo>
                  <a:pt x="6468993" y="4351707"/>
                </a:lnTo>
                <a:close/>
                <a:moveTo>
                  <a:pt x="6464357" y="4347401"/>
                </a:moveTo>
                <a:lnTo>
                  <a:pt x="6467202" y="4350043"/>
                </a:lnTo>
                <a:lnTo>
                  <a:pt x="6464349" y="4347410"/>
                </a:lnTo>
                <a:close/>
                <a:moveTo>
                  <a:pt x="3176449" y="4347401"/>
                </a:moveTo>
                <a:lnTo>
                  <a:pt x="3176449" y="4347402"/>
                </a:lnTo>
                <a:lnTo>
                  <a:pt x="3171785" y="4351710"/>
                </a:lnTo>
                <a:lnTo>
                  <a:pt x="3171782" y="4351707"/>
                </a:lnTo>
                <a:close/>
                <a:moveTo>
                  <a:pt x="6462007" y="4345248"/>
                </a:moveTo>
                <a:lnTo>
                  <a:pt x="6464349" y="4347410"/>
                </a:lnTo>
                <a:lnTo>
                  <a:pt x="6447085" y="4366133"/>
                </a:lnTo>
                <a:lnTo>
                  <a:pt x="6449070" y="4367949"/>
                </a:lnTo>
                <a:lnTo>
                  <a:pt x="6444736" y="4363988"/>
                </a:lnTo>
                <a:cubicBezTo>
                  <a:pt x="6450514" y="4357739"/>
                  <a:pt x="6456230" y="4351497"/>
                  <a:pt x="6462007" y="4345248"/>
                </a:cubicBezTo>
                <a:close/>
                <a:moveTo>
                  <a:pt x="3178779" y="4345248"/>
                </a:moveTo>
                <a:cubicBezTo>
                  <a:pt x="3184552" y="4351497"/>
                  <a:pt x="3190304" y="4357745"/>
                  <a:pt x="3196045" y="4363988"/>
                </a:cubicBezTo>
                <a:lnTo>
                  <a:pt x="3189277" y="4370203"/>
                </a:lnTo>
                <a:lnTo>
                  <a:pt x="3193701" y="4366133"/>
                </a:lnTo>
                <a:lnTo>
                  <a:pt x="3176449" y="4347402"/>
                </a:lnTo>
                <a:close/>
                <a:moveTo>
                  <a:pt x="6483935" y="4330773"/>
                </a:moveTo>
                <a:lnTo>
                  <a:pt x="6486337" y="4332996"/>
                </a:lnTo>
                <a:lnTo>
                  <a:pt x="6486328" y="4333005"/>
                </a:lnTo>
                <a:close/>
                <a:moveTo>
                  <a:pt x="3159119" y="4328687"/>
                </a:moveTo>
                <a:lnTo>
                  <a:pt x="3159120" y="4328688"/>
                </a:lnTo>
                <a:lnTo>
                  <a:pt x="3156417" y="4331195"/>
                </a:lnTo>
                <a:close/>
                <a:moveTo>
                  <a:pt x="3137189" y="4314434"/>
                </a:moveTo>
                <a:lnTo>
                  <a:pt x="3154465" y="4333005"/>
                </a:lnTo>
                <a:lnTo>
                  <a:pt x="3156417" y="4331195"/>
                </a:lnTo>
                <a:lnTo>
                  <a:pt x="3152140" y="4335165"/>
                </a:lnTo>
                <a:cubicBezTo>
                  <a:pt x="3146401" y="4328973"/>
                  <a:pt x="3140642" y="4322782"/>
                  <a:pt x="3134870" y="4316597"/>
                </a:cubicBezTo>
                <a:close/>
                <a:moveTo>
                  <a:pt x="3139863" y="4311938"/>
                </a:moveTo>
                <a:lnTo>
                  <a:pt x="3137189" y="4314434"/>
                </a:lnTo>
                <a:lnTo>
                  <a:pt x="3137187" y="4314431"/>
                </a:lnTo>
                <a:close/>
                <a:moveTo>
                  <a:pt x="3144153" y="4307935"/>
                </a:moveTo>
                <a:cubicBezTo>
                  <a:pt x="3149938" y="4314133"/>
                  <a:pt x="3155697" y="4320331"/>
                  <a:pt x="3161451" y="4326522"/>
                </a:cubicBezTo>
                <a:lnTo>
                  <a:pt x="3159119" y="4328687"/>
                </a:lnTo>
                <a:lnTo>
                  <a:pt x="3141835" y="4310101"/>
                </a:lnTo>
                <a:lnTo>
                  <a:pt x="3139863" y="4311938"/>
                </a:lnTo>
                <a:close/>
                <a:moveTo>
                  <a:pt x="6496679" y="4307929"/>
                </a:moveTo>
                <a:lnTo>
                  <a:pt x="6505950" y="4316592"/>
                </a:lnTo>
                <a:cubicBezTo>
                  <a:pt x="6500171" y="4322782"/>
                  <a:pt x="6494393" y="4328973"/>
                  <a:pt x="6488678" y="4335165"/>
                </a:cubicBezTo>
                <a:lnTo>
                  <a:pt x="6486337" y="4332996"/>
                </a:lnTo>
                <a:lnTo>
                  <a:pt x="6503600" y="4314426"/>
                </a:lnTo>
                <a:lnTo>
                  <a:pt x="6498965" y="4310095"/>
                </a:lnTo>
                <a:cubicBezTo>
                  <a:pt x="6493186" y="4316292"/>
                  <a:pt x="6487407" y="4322490"/>
                  <a:pt x="6481693" y="4328682"/>
                </a:cubicBezTo>
                <a:lnTo>
                  <a:pt x="6483935" y="4330773"/>
                </a:lnTo>
                <a:lnTo>
                  <a:pt x="6479344" y="4326522"/>
                </a:lnTo>
                <a:cubicBezTo>
                  <a:pt x="6485122" y="4320331"/>
                  <a:pt x="6490837" y="4314133"/>
                  <a:pt x="6496679" y="4307929"/>
                </a:cubicBezTo>
                <a:close/>
                <a:moveTo>
                  <a:pt x="6536129" y="4275064"/>
                </a:moveTo>
                <a:lnTo>
                  <a:pt x="6538462" y="4277252"/>
                </a:lnTo>
                <a:lnTo>
                  <a:pt x="6538454" y="4277262"/>
                </a:lnTo>
                <a:close/>
                <a:moveTo>
                  <a:pt x="3105343" y="4274443"/>
                </a:moveTo>
                <a:lnTo>
                  <a:pt x="3102358" y="4277254"/>
                </a:lnTo>
                <a:lnTo>
                  <a:pt x="3102356" y="4277252"/>
                </a:lnTo>
                <a:close/>
                <a:moveTo>
                  <a:pt x="6531540" y="4270725"/>
                </a:moveTo>
                <a:lnTo>
                  <a:pt x="6536129" y="4275064"/>
                </a:lnTo>
                <a:lnTo>
                  <a:pt x="6533826" y="4272903"/>
                </a:lnTo>
                <a:cubicBezTo>
                  <a:pt x="6527984" y="4279101"/>
                  <a:pt x="6522143" y="4285305"/>
                  <a:pt x="6516364" y="4291503"/>
                </a:cubicBezTo>
                <a:lnTo>
                  <a:pt x="6520999" y="4295845"/>
                </a:lnTo>
                <a:lnTo>
                  <a:pt x="6538454" y="4277262"/>
                </a:lnTo>
                <a:lnTo>
                  <a:pt x="6540748" y="4279432"/>
                </a:lnTo>
                <a:cubicBezTo>
                  <a:pt x="6534906" y="4285628"/>
                  <a:pt x="6529127" y="4291820"/>
                  <a:pt x="6523285" y="4298018"/>
                </a:cubicBezTo>
                <a:lnTo>
                  <a:pt x="6514014" y="4289331"/>
                </a:lnTo>
                <a:cubicBezTo>
                  <a:pt x="6519857" y="4283133"/>
                  <a:pt x="6525698" y="4276929"/>
                  <a:pt x="6531540" y="4270725"/>
                </a:cubicBezTo>
                <a:close/>
                <a:moveTo>
                  <a:pt x="3109292" y="4270725"/>
                </a:moveTo>
                <a:cubicBezTo>
                  <a:pt x="3115134" y="4276929"/>
                  <a:pt x="3120963" y="4283133"/>
                  <a:pt x="3126773" y="4289331"/>
                </a:cubicBezTo>
                <a:lnTo>
                  <a:pt x="3117502" y="4298018"/>
                </a:lnTo>
                <a:cubicBezTo>
                  <a:pt x="3111698" y="4291826"/>
                  <a:pt x="3105881" y="4285628"/>
                  <a:pt x="3100045" y="4279432"/>
                </a:cubicBezTo>
                <a:lnTo>
                  <a:pt x="3102358" y="4277254"/>
                </a:lnTo>
                <a:lnTo>
                  <a:pt x="3119819" y="4295845"/>
                </a:lnTo>
                <a:lnTo>
                  <a:pt x="3124454" y="4291503"/>
                </a:lnTo>
                <a:cubicBezTo>
                  <a:pt x="3118644" y="4285305"/>
                  <a:pt x="3112822" y="4279106"/>
                  <a:pt x="3106980" y="4272903"/>
                </a:cubicBezTo>
                <a:lnTo>
                  <a:pt x="3105343" y="4274443"/>
                </a:lnTo>
                <a:close/>
                <a:moveTo>
                  <a:pt x="3089553" y="4254435"/>
                </a:moveTo>
                <a:lnTo>
                  <a:pt x="3089556" y="4254437"/>
                </a:lnTo>
                <a:lnTo>
                  <a:pt x="3084938" y="4258799"/>
                </a:lnTo>
                <a:lnTo>
                  <a:pt x="3084938" y="4258799"/>
                </a:lnTo>
                <a:close/>
                <a:moveTo>
                  <a:pt x="6551235" y="4254427"/>
                </a:moveTo>
                <a:lnTo>
                  <a:pt x="6554099" y="4257141"/>
                </a:lnTo>
                <a:lnTo>
                  <a:pt x="6551225" y="4254437"/>
                </a:lnTo>
                <a:close/>
                <a:moveTo>
                  <a:pt x="3067452" y="4240353"/>
                </a:moveTo>
                <a:lnTo>
                  <a:pt x="3084938" y="4258799"/>
                </a:lnTo>
                <a:lnTo>
                  <a:pt x="3082634" y="4260977"/>
                </a:lnTo>
                <a:cubicBezTo>
                  <a:pt x="3076823" y="4254830"/>
                  <a:pt x="3070995" y="4248685"/>
                  <a:pt x="3065153" y="4242537"/>
                </a:cubicBezTo>
                <a:close/>
                <a:moveTo>
                  <a:pt x="3072055" y="4235977"/>
                </a:moveTo>
                <a:lnTo>
                  <a:pt x="3072057" y="4235980"/>
                </a:lnTo>
                <a:lnTo>
                  <a:pt x="3067452" y="4240353"/>
                </a:lnTo>
                <a:lnTo>
                  <a:pt x="3067452" y="4240352"/>
                </a:lnTo>
                <a:close/>
                <a:moveTo>
                  <a:pt x="3074360" y="4233793"/>
                </a:moveTo>
                <a:cubicBezTo>
                  <a:pt x="3080208" y="4239946"/>
                  <a:pt x="3086044" y="4246099"/>
                  <a:pt x="3091861" y="4252252"/>
                </a:cubicBezTo>
                <a:lnTo>
                  <a:pt x="3089553" y="4254435"/>
                </a:lnTo>
                <a:lnTo>
                  <a:pt x="3072057" y="4235980"/>
                </a:lnTo>
                <a:close/>
                <a:moveTo>
                  <a:pt x="6566465" y="4233786"/>
                </a:moveTo>
                <a:lnTo>
                  <a:pt x="6575673" y="4242537"/>
                </a:lnTo>
                <a:cubicBezTo>
                  <a:pt x="6569831" y="4248685"/>
                  <a:pt x="6563989" y="4254830"/>
                  <a:pt x="6558147" y="4260977"/>
                </a:cubicBezTo>
                <a:lnTo>
                  <a:pt x="6554099" y="4257141"/>
                </a:lnTo>
                <a:lnTo>
                  <a:pt x="6555861" y="4258799"/>
                </a:lnTo>
                <a:cubicBezTo>
                  <a:pt x="6561703" y="4252647"/>
                  <a:pt x="6567482" y="4246499"/>
                  <a:pt x="6573323" y="4240352"/>
                </a:cubicBezTo>
                <a:lnTo>
                  <a:pt x="6568751" y="4235977"/>
                </a:lnTo>
                <a:lnTo>
                  <a:pt x="6551235" y="4254427"/>
                </a:lnTo>
                <a:lnTo>
                  <a:pt x="6548939" y="4252252"/>
                </a:lnTo>
                <a:cubicBezTo>
                  <a:pt x="6554782" y="4246099"/>
                  <a:pt x="6560623" y="4239946"/>
                  <a:pt x="6566465" y="4233786"/>
                </a:cubicBezTo>
                <a:close/>
                <a:moveTo>
                  <a:pt x="6588605" y="4219684"/>
                </a:moveTo>
                <a:lnTo>
                  <a:pt x="6590914" y="4221899"/>
                </a:lnTo>
                <a:lnTo>
                  <a:pt x="6590913" y="4221900"/>
                </a:lnTo>
                <a:close/>
                <a:moveTo>
                  <a:pt x="3054468" y="4217514"/>
                </a:moveTo>
                <a:lnTo>
                  <a:pt x="3054472" y="4217518"/>
                </a:lnTo>
                <a:lnTo>
                  <a:pt x="3049990" y="4221791"/>
                </a:lnTo>
                <a:close/>
                <a:moveTo>
                  <a:pt x="6608500" y="4203532"/>
                </a:moveTo>
                <a:lnTo>
                  <a:pt x="6610788" y="4205732"/>
                </a:lnTo>
                <a:cubicBezTo>
                  <a:pt x="6604946" y="4211855"/>
                  <a:pt x="6599041" y="4217970"/>
                  <a:pt x="6593199" y="4224090"/>
                </a:cubicBezTo>
                <a:lnTo>
                  <a:pt x="6590914" y="4221899"/>
                </a:lnTo>
                <a:close/>
                <a:moveTo>
                  <a:pt x="3035150" y="4200801"/>
                </a:moveTo>
                <a:lnTo>
                  <a:pt x="3032303" y="4203536"/>
                </a:lnTo>
                <a:cubicBezTo>
                  <a:pt x="3038171" y="4209656"/>
                  <a:pt x="3044032" y="4215779"/>
                  <a:pt x="3049875" y="4221900"/>
                </a:cubicBezTo>
                <a:lnTo>
                  <a:pt x="3049990" y="4221791"/>
                </a:lnTo>
                <a:lnTo>
                  <a:pt x="3047581" y="4224090"/>
                </a:lnTo>
                <a:cubicBezTo>
                  <a:pt x="3041739" y="4217975"/>
                  <a:pt x="3035879" y="4211855"/>
                  <a:pt x="3030012" y="4205732"/>
                </a:cubicBezTo>
                <a:close/>
                <a:moveTo>
                  <a:pt x="6603931" y="4199135"/>
                </a:moveTo>
                <a:lnTo>
                  <a:pt x="6608502" y="4203530"/>
                </a:lnTo>
                <a:lnTo>
                  <a:pt x="6608500" y="4203532"/>
                </a:lnTo>
                <a:lnTo>
                  <a:pt x="6603930" y="4199136"/>
                </a:lnTo>
                <a:close/>
                <a:moveTo>
                  <a:pt x="3036883" y="4199135"/>
                </a:moveTo>
                <a:lnTo>
                  <a:pt x="3036884" y="4199136"/>
                </a:lnTo>
                <a:lnTo>
                  <a:pt x="3035150" y="4200801"/>
                </a:lnTo>
                <a:close/>
                <a:moveTo>
                  <a:pt x="6601644" y="4196937"/>
                </a:moveTo>
                <a:lnTo>
                  <a:pt x="6603930" y="4199136"/>
                </a:lnTo>
                <a:lnTo>
                  <a:pt x="6586341" y="4217511"/>
                </a:lnTo>
                <a:lnTo>
                  <a:pt x="6588605" y="4219684"/>
                </a:lnTo>
                <a:lnTo>
                  <a:pt x="6584055" y="4215322"/>
                </a:lnTo>
                <a:cubicBezTo>
                  <a:pt x="6589897" y="4209194"/>
                  <a:pt x="6595739" y="4203065"/>
                  <a:pt x="6601644" y="4196937"/>
                </a:cubicBezTo>
                <a:close/>
                <a:moveTo>
                  <a:pt x="3039174" y="4196937"/>
                </a:moveTo>
                <a:cubicBezTo>
                  <a:pt x="3045054" y="4203065"/>
                  <a:pt x="3050916" y="4209194"/>
                  <a:pt x="3056763" y="4215322"/>
                </a:cubicBezTo>
                <a:lnTo>
                  <a:pt x="3054468" y="4217514"/>
                </a:lnTo>
                <a:lnTo>
                  <a:pt x="3036884" y="4199136"/>
                </a:lnTo>
                <a:close/>
                <a:moveTo>
                  <a:pt x="3019267" y="4180814"/>
                </a:moveTo>
                <a:lnTo>
                  <a:pt x="3019268" y="4180815"/>
                </a:lnTo>
                <a:lnTo>
                  <a:pt x="3014696" y="4185223"/>
                </a:lnTo>
                <a:lnTo>
                  <a:pt x="3014693" y="4185220"/>
                </a:lnTo>
                <a:close/>
                <a:moveTo>
                  <a:pt x="6621521" y="4180814"/>
                </a:moveTo>
                <a:lnTo>
                  <a:pt x="6624175" y="4183371"/>
                </a:lnTo>
                <a:lnTo>
                  <a:pt x="6621519" y="4180815"/>
                </a:lnTo>
                <a:close/>
                <a:moveTo>
                  <a:pt x="2997012" y="4166904"/>
                </a:moveTo>
                <a:lnTo>
                  <a:pt x="3014693" y="4185220"/>
                </a:lnTo>
                <a:lnTo>
                  <a:pt x="3012409" y="4187419"/>
                </a:lnTo>
                <a:cubicBezTo>
                  <a:pt x="3006530" y="4181317"/>
                  <a:pt x="3000636" y="4175214"/>
                  <a:pt x="2994731" y="4169112"/>
                </a:cubicBezTo>
                <a:close/>
                <a:moveTo>
                  <a:pt x="6643807" y="4166903"/>
                </a:moveTo>
                <a:lnTo>
                  <a:pt x="6646094" y="4169112"/>
                </a:lnTo>
                <a:cubicBezTo>
                  <a:pt x="6640189" y="4175214"/>
                  <a:pt x="6634283" y="4181317"/>
                  <a:pt x="6628378" y="4187419"/>
                </a:cubicBezTo>
                <a:lnTo>
                  <a:pt x="6624175" y="4183371"/>
                </a:lnTo>
                <a:lnTo>
                  <a:pt x="6626092" y="4185215"/>
                </a:lnTo>
                <a:close/>
                <a:moveTo>
                  <a:pt x="2999019" y="4164961"/>
                </a:moveTo>
                <a:lnTo>
                  <a:pt x="2997012" y="4166904"/>
                </a:lnTo>
                <a:lnTo>
                  <a:pt x="2997010" y="4166902"/>
                </a:lnTo>
                <a:close/>
                <a:moveTo>
                  <a:pt x="6641522" y="4164696"/>
                </a:moveTo>
                <a:lnTo>
                  <a:pt x="6643808" y="4166902"/>
                </a:lnTo>
                <a:lnTo>
                  <a:pt x="6643807" y="4166903"/>
                </a:lnTo>
                <a:close/>
                <a:moveTo>
                  <a:pt x="6636950" y="4160279"/>
                </a:moveTo>
                <a:lnTo>
                  <a:pt x="6641522" y="4164696"/>
                </a:lnTo>
                <a:lnTo>
                  <a:pt x="6639236" y="4162489"/>
                </a:lnTo>
                <a:lnTo>
                  <a:pt x="6621521" y="4180814"/>
                </a:lnTo>
                <a:lnTo>
                  <a:pt x="6619234" y="4178611"/>
                </a:lnTo>
                <a:cubicBezTo>
                  <a:pt x="6625139" y="4172496"/>
                  <a:pt x="6631044" y="4166389"/>
                  <a:pt x="6636950" y="4160279"/>
                </a:cubicBezTo>
                <a:close/>
                <a:moveTo>
                  <a:pt x="3003856" y="4160279"/>
                </a:moveTo>
                <a:cubicBezTo>
                  <a:pt x="3009767" y="4166389"/>
                  <a:pt x="3015666" y="4172502"/>
                  <a:pt x="3021554" y="4178611"/>
                </a:cubicBezTo>
                <a:lnTo>
                  <a:pt x="3019267" y="4180814"/>
                </a:lnTo>
                <a:lnTo>
                  <a:pt x="3001577" y="4162489"/>
                </a:lnTo>
                <a:lnTo>
                  <a:pt x="2999019" y="4164961"/>
                </a:lnTo>
                <a:close/>
                <a:moveTo>
                  <a:pt x="6659239" y="4146411"/>
                </a:moveTo>
                <a:lnTo>
                  <a:pt x="6661527" y="4148626"/>
                </a:lnTo>
                <a:lnTo>
                  <a:pt x="6661525" y="4148627"/>
                </a:lnTo>
                <a:close/>
                <a:moveTo>
                  <a:pt x="2983831" y="4144198"/>
                </a:moveTo>
                <a:lnTo>
                  <a:pt x="2983834" y="4144202"/>
                </a:lnTo>
                <a:lnTo>
                  <a:pt x="2979281" y="4148627"/>
                </a:lnTo>
                <a:lnTo>
                  <a:pt x="2979278" y="4148624"/>
                </a:lnTo>
                <a:close/>
                <a:moveTo>
                  <a:pt x="2963466" y="4128581"/>
                </a:moveTo>
                <a:lnTo>
                  <a:pt x="2961564" y="4130440"/>
                </a:lnTo>
                <a:lnTo>
                  <a:pt x="2979278" y="4148624"/>
                </a:lnTo>
                <a:lnTo>
                  <a:pt x="2977002" y="4150836"/>
                </a:lnTo>
                <a:cubicBezTo>
                  <a:pt x="2971116" y="4144780"/>
                  <a:pt x="2965210" y="4138722"/>
                  <a:pt x="2959292" y="4132656"/>
                </a:cubicBezTo>
                <a:close/>
                <a:moveTo>
                  <a:pt x="2966105" y="4126001"/>
                </a:moveTo>
                <a:lnTo>
                  <a:pt x="2966107" y="4126003"/>
                </a:lnTo>
                <a:lnTo>
                  <a:pt x="2963466" y="4128581"/>
                </a:lnTo>
                <a:close/>
                <a:moveTo>
                  <a:pt x="6672447" y="4123785"/>
                </a:moveTo>
                <a:lnTo>
                  <a:pt x="6681527" y="4132656"/>
                </a:lnTo>
                <a:cubicBezTo>
                  <a:pt x="6675622" y="4138714"/>
                  <a:pt x="6669717" y="4144780"/>
                  <a:pt x="6663811" y="4150836"/>
                </a:cubicBezTo>
                <a:lnTo>
                  <a:pt x="6661527" y="4148626"/>
                </a:lnTo>
                <a:lnTo>
                  <a:pt x="6679242" y="4130440"/>
                </a:lnTo>
                <a:lnTo>
                  <a:pt x="6674669" y="4126001"/>
                </a:lnTo>
                <a:cubicBezTo>
                  <a:pt x="6668764" y="4132067"/>
                  <a:pt x="6662858" y="4138131"/>
                  <a:pt x="6656953" y="4144194"/>
                </a:cubicBezTo>
                <a:lnTo>
                  <a:pt x="6659239" y="4146411"/>
                </a:lnTo>
                <a:lnTo>
                  <a:pt x="6654667" y="4141985"/>
                </a:lnTo>
                <a:cubicBezTo>
                  <a:pt x="6660572" y="4135921"/>
                  <a:pt x="6666478" y="4129850"/>
                  <a:pt x="6672447" y="4123785"/>
                </a:cubicBezTo>
                <a:close/>
                <a:moveTo>
                  <a:pt x="2968378" y="4123785"/>
                </a:moveTo>
                <a:cubicBezTo>
                  <a:pt x="2974303" y="4129850"/>
                  <a:pt x="2980214" y="4135921"/>
                  <a:pt x="2986107" y="4141985"/>
                </a:cubicBezTo>
                <a:lnTo>
                  <a:pt x="2983831" y="4144198"/>
                </a:lnTo>
                <a:lnTo>
                  <a:pt x="2966107" y="4126003"/>
                </a:lnTo>
                <a:close/>
                <a:moveTo>
                  <a:pt x="6694722" y="4109987"/>
                </a:moveTo>
                <a:lnTo>
                  <a:pt x="6697029" y="4112246"/>
                </a:lnTo>
                <a:lnTo>
                  <a:pt x="6697021" y="4112254"/>
                </a:lnTo>
                <a:close/>
                <a:moveTo>
                  <a:pt x="2948306" y="4107809"/>
                </a:moveTo>
                <a:lnTo>
                  <a:pt x="2948307" y="4107809"/>
                </a:lnTo>
                <a:lnTo>
                  <a:pt x="2943772" y="4112254"/>
                </a:lnTo>
                <a:lnTo>
                  <a:pt x="2943771" y="4112254"/>
                </a:lnTo>
                <a:close/>
                <a:moveTo>
                  <a:pt x="6714913" y="4094090"/>
                </a:moveTo>
                <a:lnTo>
                  <a:pt x="6717151" y="4096302"/>
                </a:lnTo>
                <a:cubicBezTo>
                  <a:pt x="6711181" y="4102362"/>
                  <a:pt x="6705213" y="4108418"/>
                  <a:pt x="6699307" y="4114477"/>
                </a:cubicBezTo>
                <a:lnTo>
                  <a:pt x="6697029" y="4112246"/>
                </a:lnTo>
                <a:close/>
                <a:moveTo>
                  <a:pt x="2925897" y="4094075"/>
                </a:moveTo>
                <a:lnTo>
                  <a:pt x="2943771" y="4112254"/>
                </a:lnTo>
                <a:lnTo>
                  <a:pt x="2941504" y="4114477"/>
                </a:lnTo>
                <a:cubicBezTo>
                  <a:pt x="2935562" y="4108418"/>
                  <a:pt x="2929605" y="4102362"/>
                  <a:pt x="2923637" y="4096302"/>
                </a:cubicBezTo>
                <a:close/>
                <a:moveTo>
                  <a:pt x="2927588" y="4092409"/>
                </a:moveTo>
                <a:lnTo>
                  <a:pt x="2925897" y="4094075"/>
                </a:lnTo>
                <a:lnTo>
                  <a:pt x="2925897" y="4094074"/>
                </a:lnTo>
                <a:close/>
                <a:moveTo>
                  <a:pt x="6712677" y="4091879"/>
                </a:moveTo>
                <a:lnTo>
                  <a:pt x="6714928" y="4094074"/>
                </a:lnTo>
                <a:lnTo>
                  <a:pt x="6714913" y="4094090"/>
                </a:lnTo>
                <a:close/>
                <a:moveTo>
                  <a:pt x="6708134" y="4087388"/>
                </a:moveTo>
                <a:lnTo>
                  <a:pt x="6712677" y="4091879"/>
                </a:lnTo>
                <a:lnTo>
                  <a:pt x="6710357" y="4089616"/>
                </a:lnTo>
                <a:cubicBezTo>
                  <a:pt x="6704387" y="4095680"/>
                  <a:pt x="6698419" y="4101744"/>
                  <a:pt x="6692513" y="4107809"/>
                </a:cubicBezTo>
                <a:lnTo>
                  <a:pt x="6694722" y="4109987"/>
                </a:lnTo>
                <a:lnTo>
                  <a:pt x="6690227" y="4105586"/>
                </a:lnTo>
                <a:cubicBezTo>
                  <a:pt x="6696196" y="4099522"/>
                  <a:pt x="6702165" y="4093452"/>
                  <a:pt x="6708134" y="4087388"/>
                </a:cubicBezTo>
                <a:close/>
                <a:moveTo>
                  <a:pt x="2932685" y="4087388"/>
                </a:moveTo>
                <a:cubicBezTo>
                  <a:pt x="2938661" y="4093458"/>
                  <a:pt x="2944623" y="4099522"/>
                  <a:pt x="2950572" y="4105586"/>
                </a:cubicBezTo>
                <a:lnTo>
                  <a:pt x="2948306" y="4107809"/>
                </a:lnTo>
                <a:lnTo>
                  <a:pt x="2930425" y="4089616"/>
                </a:lnTo>
                <a:lnTo>
                  <a:pt x="2927588" y="4092409"/>
                </a:lnTo>
                <a:close/>
                <a:moveTo>
                  <a:pt x="6728217" y="4071528"/>
                </a:moveTo>
                <a:lnTo>
                  <a:pt x="6732723" y="4075993"/>
                </a:lnTo>
                <a:lnTo>
                  <a:pt x="6732708" y="4076008"/>
                </a:lnTo>
                <a:lnTo>
                  <a:pt x="6728200" y="4071545"/>
                </a:lnTo>
                <a:close/>
                <a:moveTo>
                  <a:pt x="2892419" y="4055717"/>
                </a:moveTo>
                <a:lnTo>
                  <a:pt x="2890166" y="4057956"/>
                </a:lnTo>
                <a:lnTo>
                  <a:pt x="2890166" y="4057955"/>
                </a:lnTo>
                <a:close/>
                <a:moveTo>
                  <a:pt x="6743884" y="4051244"/>
                </a:moveTo>
                <a:lnTo>
                  <a:pt x="6752901" y="4060190"/>
                </a:lnTo>
                <a:cubicBezTo>
                  <a:pt x="6746932" y="4066210"/>
                  <a:pt x="6740963" y="4072223"/>
                  <a:pt x="6734994" y="4078244"/>
                </a:cubicBezTo>
                <a:lnTo>
                  <a:pt x="6732723" y="4075993"/>
                </a:lnTo>
                <a:lnTo>
                  <a:pt x="6750615" y="4057955"/>
                </a:lnTo>
                <a:lnTo>
                  <a:pt x="6746106" y="4053478"/>
                </a:lnTo>
                <a:lnTo>
                  <a:pt x="6728217" y="4071528"/>
                </a:lnTo>
                <a:lnTo>
                  <a:pt x="6725977" y="4069309"/>
                </a:lnTo>
                <a:cubicBezTo>
                  <a:pt x="6731946" y="4063289"/>
                  <a:pt x="6737915" y="4057263"/>
                  <a:pt x="6743884" y="4051244"/>
                </a:cubicBezTo>
                <a:close/>
                <a:moveTo>
                  <a:pt x="2896921" y="4051244"/>
                </a:moveTo>
                <a:cubicBezTo>
                  <a:pt x="2902909" y="4057263"/>
                  <a:pt x="2908879" y="4063289"/>
                  <a:pt x="2914841" y="4069309"/>
                </a:cubicBezTo>
                <a:lnTo>
                  <a:pt x="2905811" y="4078244"/>
                </a:lnTo>
                <a:cubicBezTo>
                  <a:pt x="2899855" y="4072223"/>
                  <a:pt x="2893892" y="4066210"/>
                  <a:pt x="2887918" y="4060190"/>
                </a:cubicBezTo>
                <a:lnTo>
                  <a:pt x="2890166" y="4057956"/>
                </a:lnTo>
                <a:lnTo>
                  <a:pt x="2908065" y="4076008"/>
                </a:lnTo>
                <a:lnTo>
                  <a:pt x="2912580" y="4071545"/>
                </a:lnTo>
                <a:cubicBezTo>
                  <a:pt x="2906624" y="4065525"/>
                  <a:pt x="2900655" y="4059498"/>
                  <a:pt x="2894673" y="4053478"/>
                </a:cubicBezTo>
                <a:lnTo>
                  <a:pt x="2892419" y="4055717"/>
                </a:lnTo>
                <a:close/>
                <a:moveTo>
                  <a:pt x="6766093" y="4037388"/>
                </a:moveTo>
                <a:lnTo>
                  <a:pt x="6768603" y="4039886"/>
                </a:lnTo>
                <a:lnTo>
                  <a:pt x="6768586" y="4039903"/>
                </a:lnTo>
                <a:close/>
                <a:moveTo>
                  <a:pt x="2876690" y="4035419"/>
                </a:moveTo>
                <a:lnTo>
                  <a:pt x="2876690" y="4035420"/>
                </a:lnTo>
                <a:lnTo>
                  <a:pt x="2872194" y="4039903"/>
                </a:lnTo>
                <a:lnTo>
                  <a:pt x="2872194" y="4039902"/>
                </a:lnTo>
                <a:close/>
                <a:moveTo>
                  <a:pt x="2856372" y="4019759"/>
                </a:moveTo>
                <a:lnTo>
                  <a:pt x="2854217" y="4021919"/>
                </a:lnTo>
                <a:lnTo>
                  <a:pt x="2872194" y="4039902"/>
                </a:lnTo>
                <a:lnTo>
                  <a:pt x="2869946" y="4042143"/>
                </a:lnTo>
                <a:cubicBezTo>
                  <a:pt x="2863965" y="4036149"/>
                  <a:pt x="2857977" y="4030162"/>
                  <a:pt x="2851971" y="4024168"/>
                </a:cubicBezTo>
                <a:close/>
                <a:moveTo>
                  <a:pt x="2858702" y="4017424"/>
                </a:moveTo>
                <a:lnTo>
                  <a:pt x="2858703" y="4017425"/>
                </a:lnTo>
                <a:lnTo>
                  <a:pt x="2856372" y="4019759"/>
                </a:lnTo>
                <a:close/>
                <a:moveTo>
                  <a:pt x="2860942" y="4015182"/>
                </a:moveTo>
                <a:cubicBezTo>
                  <a:pt x="2866955" y="4021177"/>
                  <a:pt x="2872950" y="4027176"/>
                  <a:pt x="2878938" y="4033178"/>
                </a:cubicBezTo>
                <a:lnTo>
                  <a:pt x="2876690" y="4035419"/>
                </a:lnTo>
                <a:lnTo>
                  <a:pt x="2858703" y="4017425"/>
                </a:lnTo>
                <a:close/>
                <a:moveTo>
                  <a:pt x="6779889" y="4015175"/>
                </a:moveTo>
                <a:lnTo>
                  <a:pt x="6788843" y="4024168"/>
                </a:lnTo>
                <a:cubicBezTo>
                  <a:pt x="6782810" y="4030162"/>
                  <a:pt x="6776841" y="4036149"/>
                  <a:pt x="6770872" y="4042143"/>
                </a:cubicBezTo>
                <a:lnTo>
                  <a:pt x="6768603" y="4039886"/>
                </a:lnTo>
                <a:lnTo>
                  <a:pt x="6786557" y="4021919"/>
                </a:lnTo>
                <a:lnTo>
                  <a:pt x="6782111" y="4017424"/>
                </a:lnTo>
                <a:cubicBezTo>
                  <a:pt x="6776079" y="4023424"/>
                  <a:pt x="6770110" y="4029418"/>
                  <a:pt x="6764141" y="4035420"/>
                </a:cubicBezTo>
                <a:lnTo>
                  <a:pt x="6766093" y="4037388"/>
                </a:lnTo>
                <a:lnTo>
                  <a:pt x="6761855" y="4033171"/>
                </a:lnTo>
                <a:cubicBezTo>
                  <a:pt x="6767824" y="4027176"/>
                  <a:pt x="6773857" y="4021177"/>
                  <a:pt x="6779889" y="4015175"/>
                </a:cubicBezTo>
                <a:close/>
                <a:moveTo>
                  <a:pt x="2840692" y="3999484"/>
                </a:moveTo>
                <a:lnTo>
                  <a:pt x="2840693" y="3999485"/>
                </a:lnTo>
                <a:lnTo>
                  <a:pt x="2836215" y="4003993"/>
                </a:lnTo>
                <a:lnTo>
                  <a:pt x="2836212" y="4003990"/>
                </a:lnTo>
                <a:close/>
                <a:moveTo>
                  <a:pt x="6800088" y="3999478"/>
                </a:moveTo>
                <a:lnTo>
                  <a:pt x="6801996" y="4001397"/>
                </a:lnTo>
                <a:lnTo>
                  <a:pt x="6800081" y="3999485"/>
                </a:lnTo>
                <a:close/>
                <a:moveTo>
                  <a:pt x="6822681" y="3986075"/>
                </a:moveTo>
                <a:lnTo>
                  <a:pt x="6824910" y="3988322"/>
                </a:lnTo>
                <a:cubicBezTo>
                  <a:pt x="6818878" y="3994297"/>
                  <a:pt x="6812845" y="4000265"/>
                  <a:pt x="6806813" y="4006240"/>
                </a:cubicBezTo>
                <a:lnTo>
                  <a:pt x="6801996" y="4001397"/>
                </a:lnTo>
                <a:lnTo>
                  <a:pt x="6804590" y="4003987"/>
                </a:lnTo>
                <a:close/>
                <a:moveTo>
                  <a:pt x="2820034" y="3984155"/>
                </a:moveTo>
                <a:lnTo>
                  <a:pt x="2818143" y="3986067"/>
                </a:lnTo>
                <a:lnTo>
                  <a:pt x="2836212" y="4003990"/>
                </a:lnTo>
                <a:lnTo>
                  <a:pt x="2833974" y="4006240"/>
                </a:lnTo>
                <a:cubicBezTo>
                  <a:pt x="2827966" y="4000265"/>
                  <a:pt x="2821940" y="3994297"/>
                  <a:pt x="2815908" y="3988322"/>
                </a:cubicBezTo>
                <a:close/>
                <a:moveTo>
                  <a:pt x="6820252" y="3983628"/>
                </a:moveTo>
                <a:lnTo>
                  <a:pt x="6822688" y="3986067"/>
                </a:lnTo>
                <a:lnTo>
                  <a:pt x="6822681" y="3986075"/>
                </a:lnTo>
                <a:close/>
                <a:moveTo>
                  <a:pt x="2822607" y="3981552"/>
                </a:moveTo>
                <a:lnTo>
                  <a:pt x="2822609" y="3981554"/>
                </a:lnTo>
                <a:lnTo>
                  <a:pt x="2820034" y="3984155"/>
                </a:lnTo>
                <a:close/>
                <a:moveTo>
                  <a:pt x="6815956" y="3979299"/>
                </a:moveTo>
                <a:lnTo>
                  <a:pt x="6820252" y="3983628"/>
                </a:lnTo>
                <a:lnTo>
                  <a:pt x="6818180" y="3981552"/>
                </a:lnTo>
                <a:lnTo>
                  <a:pt x="6800088" y="3999478"/>
                </a:lnTo>
                <a:lnTo>
                  <a:pt x="6797859" y="3997236"/>
                </a:lnTo>
                <a:cubicBezTo>
                  <a:pt x="6803892" y="3991255"/>
                  <a:pt x="6809924" y="3985274"/>
                  <a:pt x="6815956" y="3979299"/>
                </a:cubicBezTo>
                <a:close/>
                <a:moveTo>
                  <a:pt x="2824843" y="3979299"/>
                </a:moveTo>
                <a:cubicBezTo>
                  <a:pt x="2830882" y="3985274"/>
                  <a:pt x="2836907" y="3991255"/>
                  <a:pt x="2842927" y="3997236"/>
                </a:cubicBezTo>
                <a:lnTo>
                  <a:pt x="2840692" y="3999484"/>
                </a:lnTo>
                <a:lnTo>
                  <a:pt x="2822609" y="3981554"/>
                </a:lnTo>
                <a:close/>
                <a:moveTo>
                  <a:pt x="2804478" y="3963645"/>
                </a:moveTo>
                <a:lnTo>
                  <a:pt x="2804478" y="3963645"/>
                </a:lnTo>
                <a:lnTo>
                  <a:pt x="2800020" y="3968166"/>
                </a:lnTo>
                <a:lnTo>
                  <a:pt x="2800020" y="3968166"/>
                </a:lnTo>
                <a:close/>
                <a:moveTo>
                  <a:pt x="6836341" y="3963645"/>
                </a:moveTo>
                <a:lnTo>
                  <a:pt x="6840785" y="3968166"/>
                </a:lnTo>
                <a:lnTo>
                  <a:pt x="6840785" y="3968166"/>
                </a:lnTo>
                <a:lnTo>
                  <a:pt x="6836340" y="3963645"/>
                </a:lnTo>
                <a:close/>
                <a:moveTo>
                  <a:pt x="2781918" y="3950363"/>
                </a:moveTo>
                <a:lnTo>
                  <a:pt x="2800020" y="3968166"/>
                </a:lnTo>
                <a:lnTo>
                  <a:pt x="2797791" y="3970426"/>
                </a:lnTo>
                <a:cubicBezTo>
                  <a:pt x="2791772" y="3964497"/>
                  <a:pt x="2785739" y="3958559"/>
                  <a:pt x="2779694" y="3952627"/>
                </a:cubicBezTo>
                <a:close/>
                <a:moveTo>
                  <a:pt x="6854831" y="3946228"/>
                </a:moveTo>
                <a:lnTo>
                  <a:pt x="6861106" y="3952627"/>
                </a:lnTo>
                <a:cubicBezTo>
                  <a:pt x="6855073" y="3958559"/>
                  <a:pt x="6849040" y="3964497"/>
                  <a:pt x="6843007" y="3970426"/>
                </a:cubicBezTo>
                <a:lnTo>
                  <a:pt x="6840785" y="3968166"/>
                </a:lnTo>
                <a:lnTo>
                  <a:pt x="6858882" y="3950361"/>
                </a:lnTo>
                <a:close/>
                <a:moveTo>
                  <a:pt x="6854438" y="3945827"/>
                </a:moveTo>
                <a:lnTo>
                  <a:pt x="6854831" y="3946228"/>
                </a:lnTo>
                <a:lnTo>
                  <a:pt x="6854438" y="3945827"/>
                </a:lnTo>
                <a:close/>
                <a:moveTo>
                  <a:pt x="2786368" y="3945827"/>
                </a:moveTo>
                <a:lnTo>
                  <a:pt x="2786370" y="3945829"/>
                </a:lnTo>
                <a:lnTo>
                  <a:pt x="2781918" y="3950363"/>
                </a:lnTo>
                <a:lnTo>
                  <a:pt x="2781916" y="3950361"/>
                </a:lnTo>
                <a:close/>
                <a:moveTo>
                  <a:pt x="2788590" y="3943566"/>
                </a:moveTo>
                <a:cubicBezTo>
                  <a:pt x="2794643" y="3949503"/>
                  <a:pt x="2800680" y="3955441"/>
                  <a:pt x="2806707" y="3961384"/>
                </a:cubicBezTo>
                <a:lnTo>
                  <a:pt x="2804478" y="3963645"/>
                </a:lnTo>
                <a:lnTo>
                  <a:pt x="2786370" y="3945829"/>
                </a:lnTo>
                <a:close/>
                <a:moveTo>
                  <a:pt x="6852215" y="3943560"/>
                </a:moveTo>
                <a:lnTo>
                  <a:pt x="6854438" y="3945827"/>
                </a:lnTo>
                <a:lnTo>
                  <a:pt x="6836341" y="3963645"/>
                </a:lnTo>
                <a:lnTo>
                  <a:pt x="6834118" y="3961384"/>
                </a:lnTo>
                <a:cubicBezTo>
                  <a:pt x="6840150" y="3955441"/>
                  <a:pt x="6846182" y="3949503"/>
                  <a:pt x="6852215" y="3943560"/>
                </a:cubicBezTo>
                <a:close/>
                <a:moveTo>
                  <a:pt x="6872600" y="3928020"/>
                </a:moveTo>
                <a:lnTo>
                  <a:pt x="6877046" y="3932561"/>
                </a:lnTo>
                <a:lnTo>
                  <a:pt x="6877044" y="3932562"/>
                </a:lnTo>
                <a:lnTo>
                  <a:pt x="6872599" y="3928022"/>
                </a:lnTo>
                <a:close/>
                <a:moveTo>
                  <a:pt x="2768185" y="3928019"/>
                </a:moveTo>
                <a:lnTo>
                  <a:pt x="2768187" y="3928022"/>
                </a:lnTo>
                <a:lnTo>
                  <a:pt x="2763749" y="3932562"/>
                </a:lnTo>
                <a:lnTo>
                  <a:pt x="2763746" y="3932559"/>
                </a:lnTo>
                <a:close/>
                <a:moveTo>
                  <a:pt x="6893118" y="3912534"/>
                </a:moveTo>
                <a:lnTo>
                  <a:pt x="6897491" y="3917042"/>
                </a:lnTo>
                <a:cubicBezTo>
                  <a:pt x="6891394" y="3922966"/>
                  <a:pt x="6885362" y="3928898"/>
                  <a:pt x="6879267" y="3934830"/>
                </a:cubicBezTo>
                <a:lnTo>
                  <a:pt x="6877046" y="3932561"/>
                </a:lnTo>
                <a:lnTo>
                  <a:pt x="6895269" y="3914770"/>
                </a:lnTo>
                <a:close/>
                <a:moveTo>
                  <a:pt x="6890887" y="3910217"/>
                </a:moveTo>
                <a:lnTo>
                  <a:pt x="6893118" y="3912534"/>
                </a:lnTo>
                <a:lnTo>
                  <a:pt x="6890878" y="3910225"/>
                </a:lnTo>
                <a:close/>
                <a:moveTo>
                  <a:pt x="6888664" y="3907943"/>
                </a:moveTo>
                <a:lnTo>
                  <a:pt x="6890878" y="3910225"/>
                </a:lnTo>
                <a:lnTo>
                  <a:pt x="6872600" y="3928020"/>
                </a:lnTo>
                <a:lnTo>
                  <a:pt x="6870376" y="3925748"/>
                </a:lnTo>
                <a:cubicBezTo>
                  <a:pt x="6876472" y="3919811"/>
                  <a:pt x="6882569" y="3913880"/>
                  <a:pt x="6888664" y="3907943"/>
                </a:cubicBezTo>
                <a:close/>
                <a:moveTo>
                  <a:pt x="2752154" y="3907943"/>
                </a:moveTo>
                <a:cubicBezTo>
                  <a:pt x="2758250" y="3913880"/>
                  <a:pt x="2764333" y="3919811"/>
                  <a:pt x="2770404" y="3925748"/>
                </a:cubicBezTo>
                <a:lnTo>
                  <a:pt x="2768185" y="3928019"/>
                </a:lnTo>
                <a:lnTo>
                  <a:pt x="2749944" y="3910217"/>
                </a:lnTo>
                <a:lnTo>
                  <a:pt x="2745512" y="3914770"/>
                </a:lnTo>
                <a:lnTo>
                  <a:pt x="2763746" y="3932559"/>
                </a:lnTo>
                <a:lnTo>
                  <a:pt x="2761527" y="3934830"/>
                </a:lnTo>
                <a:cubicBezTo>
                  <a:pt x="2755462" y="3928898"/>
                  <a:pt x="2749385" y="3922974"/>
                  <a:pt x="2743297" y="3917042"/>
                </a:cubicBezTo>
                <a:close/>
                <a:moveTo>
                  <a:pt x="6911317" y="3894795"/>
                </a:moveTo>
                <a:lnTo>
                  <a:pt x="6913501" y="3897052"/>
                </a:lnTo>
                <a:lnTo>
                  <a:pt x="6913493" y="3897059"/>
                </a:lnTo>
                <a:close/>
                <a:moveTo>
                  <a:pt x="2731713" y="3892499"/>
                </a:moveTo>
                <a:lnTo>
                  <a:pt x="2731713" y="3892499"/>
                </a:lnTo>
                <a:lnTo>
                  <a:pt x="2729761" y="3894511"/>
                </a:lnTo>
                <a:close/>
                <a:moveTo>
                  <a:pt x="6925177" y="3872529"/>
                </a:moveTo>
                <a:lnTo>
                  <a:pt x="6934003" y="3881666"/>
                </a:lnTo>
                <a:cubicBezTo>
                  <a:pt x="6927907" y="3887553"/>
                  <a:pt x="6921811" y="3893445"/>
                  <a:pt x="6915715" y="3899339"/>
                </a:cubicBezTo>
                <a:lnTo>
                  <a:pt x="6913501" y="3897052"/>
                </a:lnTo>
                <a:lnTo>
                  <a:pt x="6931781" y="3879381"/>
                </a:lnTo>
                <a:lnTo>
                  <a:pt x="6927336" y="3874814"/>
                </a:lnTo>
                <a:cubicBezTo>
                  <a:pt x="6921240" y="3880707"/>
                  <a:pt x="6915144" y="3886601"/>
                  <a:pt x="6909111" y="3892499"/>
                </a:cubicBezTo>
                <a:lnTo>
                  <a:pt x="6911317" y="3894795"/>
                </a:lnTo>
                <a:lnTo>
                  <a:pt x="6906889" y="3890221"/>
                </a:lnTo>
                <a:cubicBezTo>
                  <a:pt x="6912985" y="3884321"/>
                  <a:pt x="6919081" y="3878429"/>
                  <a:pt x="6925177" y="3872529"/>
                </a:cubicBezTo>
                <a:close/>
                <a:moveTo>
                  <a:pt x="2715641" y="3872529"/>
                </a:moveTo>
                <a:cubicBezTo>
                  <a:pt x="2721745" y="3878429"/>
                  <a:pt x="2727840" y="3884321"/>
                  <a:pt x="2733924" y="3890221"/>
                </a:cubicBezTo>
                <a:lnTo>
                  <a:pt x="2731713" y="3892499"/>
                </a:lnTo>
                <a:lnTo>
                  <a:pt x="2713438" y="3874814"/>
                </a:lnTo>
                <a:lnTo>
                  <a:pt x="2709025" y="3879381"/>
                </a:lnTo>
                <a:cubicBezTo>
                  <a:pt x="2715122" y="3885273"/>
                  <a:pt x="2721210" y="3891167"/>
                  <a:pt x="2727287" y="3897059"/>
                </a:cubicBezTo>
                <a:lnTo>
                  <a:pt x="2729761" y="3894511"/>
                </a:lnTo>
                <a:lnTo>
                  <a:pt x="2725077" y="3899339"/>
                </a:lnTo>
                <a:cubicBezTo>
                  <a:pt x="2719001" y="3893445"/>
                  <a:pt x="2712917" y="3887553"/>
                  <a:pt x="2706815" y="3881666"/>
                </a:cubicBezTo>
                <a:close/>
                <a:moveTo>
                  <a:pt x="2695099" y="3857136"/>
                </a:moveTo>
                <a:lnTo>
                  <a:pt x="2695100" y="3857136"/>
                </a:lnTo>
                <a:lnTo>
                  <a:pt x="2693462" y="3858837"/>
                </a:lnTo>
                <a:close/>
                <a:moveTo>
                  <a:pt x="6945705" y="3857119"/>
                </a:moveTo>
                <a:lnTo>
                  <a:pt x="6947909" y="3859422"/>
                </a:lnTo>
                <a:lnTo>
                  <a:pt x="6945687" y="3857136"/>
                </a:lnTo>
                <a:close/>
                <a:moveTo>
                  <a:pt x="6968468" y="3844103"/>
                </a:moveTo>
                <a:lnTo>
                  <a:pt x="6970643" y="3846379"/>
                </a:lnTo>
                <a:cubicBezTo>
                  <a:pt x="6964547" y="3852247"/>
                  <a:pt x="6958387" y="3858120"/>
                  <a:pt x="6952292" y="3864001"/>
                </a:cubicBezTo>
                <a:lnTo>
                  <a:pt x="6947909" y="3859422"/>
                </a:lnTo>
                <a:lnTo>
                  <a:pt x="6950132" y="3861708"/>
                </a:lnTo>
                <a:close/>
                <a:moveTo>
                  <a:pt x="6964102" y="3839503"/>
                </a:moveTo>
                <a:lnTo>
                  <a:pt x="6968484" y="3844087"/>
                </a:lnTo>
                <a:lnTo>
                  <a:pt x="6968468" y="3844103"/>
                </a:lnTo>
                <a:lnTo>
                  <a:pt x="6964086" y="3839518"/>
                </a:lnTo>
                <a:close/>
                <a:moveTo>
                  <a:pt x="6961880" y="3837210"/>
                </a:moveTo>
                <a:lnTo>
                  <a:pt x="6964086" y="3839518"/>
                </a:lnTo>
                <a:lnTo>
                  <a:pt x="6945705" y="3857119"/>
                </a:lnTo>
                <a:lnTo>
                  <a:pt x="6943528" y="3854844"/>
                </a:lnTo>
                <a:cubicBezTo>
                  <a:pt x="6949624" y="3848965"/>
                  <a:pt x="6955720" y="3843084"/>
                  <a:pt x="6961880" y="3837210"/>
                </a:cubicBezTo>
                <a:close/>
                <a:moveTo>
                  <a:pt x="2678926" y="3837210"/>
                </a:moveTo>
                <a:cubicBezTo>
                  <a:pt x="2685060" y="3843084"/>
                  <a:pt x="2691188" y="3848965"/>
                  <a:pt x="2697296" y="3854851"/>
                </a:cubicBezTo>
                <a:lnTo>
                  <a:pt x="2695099" y="3857136"/>
                </a:lnTo>
                <a:lnTo>
                  <a:pt x="2676736" y="3839503"/>
                </a:lnTo>
                <a:lnTo>
                  <a:pt x="2672341" y="3844087"/>
                </a:lnTo>
                <a:cubicBezTo>
                  <a:pt x="2678469" y="3849962"/>
                  <a:pt x="2684585" y="3855835"/>
                  <a:pt x="2690692" y="3861714"/>
                </a:cubicBezTo>
                <a:lnTo>
                  <a:pt x="2693462" y="3858837"/>
                </a:lnTo>
                <a:lnTo>
                  <a:pt x="2688495" y="3864001"/>
                </a:lnTo>
                <a:cubicBezTo>
                  <a:pt x="2682387" y="3858128"/>
                  <a:pt x="2676271" y="3852254"/>
                  <a:pt x="2670144" y="3846379"/>
                </a:cubicBezTo>
                <a:close/>
                <a:moveTo>
                  <a:pt x="2658363" y="3821931"/>
                </a:moveTo>
                <a:lnTo>
                  <a:pt x="2658364" y="3821932"/>
                </a:lnTo>
                <a:lnTo>
                  <a:pt x="2655816" y="3824599"/>
                </a:lnTo>
                <a:close/>
                <a:moveTo>
                  <a:pt x="2635556" y="3808979"/>
                </a:moveTo>
                <a:lnTo>
                  <a:pt x="2653977" y="3826523"/>
                </a:lnTo>
                <a:lnTo>
                  <a:pt x="2655816" y="3824599"/>
                </a:lnTo>
                <a:lnTo>
                  <a:pt x="2651786" y="3828821"/>
                </a:lnTo>
                <a:cubicBezTo>
                  <a:pt x="2645658" y="3822973"/>
                  <a:pt x="2639517" y="3817126"/>
                  <a:pt x="2633371" y="3811277"/>
                </a:cubicBezTo>
                <a:close/>
                <a:moveTo>
                  <a:pt x="7003127" y="3806747"/>
                </a:moveTo>
                <a:lnTo>
                  <a:pt x="7005250" y="3808979"/>
                </a:lnTo>
                <a:lnTo>
                  <a:pt x="7005243" y="3808985"/>
                </a:lnTo>
                <a:close/>
                <a:moveTo>
                  <a:pt x="2639931" y="3804375"/>
                </a:moveTo>
                <a:lnTo>
                  <a:pt x="2639933" y="3804377"/>
                </a:lnTo>
                <a:lnTo>
                  <a:pt x="2635556" y="3808979"/>
                </a:lnTo>
                <a:lnTo>
                  <a:pt x="2635556" y="3808979"/>
                </a:lnTo>
                <a:close/>
                <a:moveTo>
                  <a:pt x="6998710" y="3802076"/>
                </a:moveTo>
                <a:lnTo>
                  <a:pt x="7003127" y="3806747"/>
                </a:lnTo>
                <a:lnTo>
                  <a:pt x="7000869" y="3804375"/>
                </a:lnTo>
                <a:cubicBezTo>
                  <a:pt x="6994709" y="3810222"/>
                  <a:pt x="6988550" y="3816078"/>
                  <a:pt x="6982454" y="3821932"/>
                </a:cubicBezTo>
                <a:lnTo>
                  <a:pt x="6986835" y="3826523"/>
                </a:lnTo>
                <a:lnTo>
                  <a:pt x="7005243" y="3808985"/>
                </a:lnTo>
                <a:lnTo>
                  <a:pt x="7007409" y="3811277"/>
                </a:lnTo>
                <a:cubicBezTo>
                  <a:pt x="7001313" y="3817126"/>
                  <a:pt x="6995154" y="3822973"/>
                  <a:pt x="6988994" y="3828821"/>
                </a:cubicBezTo>
                <a:lnTo>
                  <a:pt x="6980232" y="3819634"/>
                </a:lnTo>
                <a:cubicBezTo>
                  <a:pt x="6986391" y="3813778"/>
                  <a:pt x="6992550" y="3807925"/>
                  <a:pt x="6998710" y="3802076"/>
                </a:cubicBezTo>
                <a:close/>
                <a:moveTo>
                  <a:pt x="2642121" y="3802076"/>
                </a:moveTo>
                <a:cubicBezTo>
                  <a:pt x="2648275" y="3807925"/>
                  <a:pt x="2654421" y="3813778"/>
                  <a:pt x="2660555" y="3819634"/>
                </a:cubicBezTo>
                <a:lnTo>
                  <a:pt x="2658363" y="3821931"/>
                </a:lnTo>
                <a:lnTo>
                  <a:pt x="2639933" y="3804377"/>
                </a:lnTo>
                <a:close/>
                <a:moveTo>
                  <a:pt x="2621446" y="3786829"/>
                </a:moveTo>
                <a:lnTo>
                  <a:pt x="2621446" y="3786829"/>
                </a:lnTo>
                <a:lnTo>
                  <a:pt x="2617077" y="3791440"/>
                </a:lnTo>
                <a:lnTo>
                  <a:pt x="2617077" y="3791439"/>
                </a:lnTo>
                <a:close/>
                <a:moveTo>
                  <a:pt x="7019356" y="3786821"/>
                </a:moveTo>
                <a:lnTo>
                  <a:pt x="7021538" y="3789134"/>
                </a:lnTo>
                <a:lnTo>
                  <a:pt x="7019347" y="3786829"/>
                </a:lnTo>
                <a:close/>
                <a:moveTo>
                  <a:pt x="7042198" y="3773998"/>
                </a:moveTo>
                <a:lnTo>
                  <a:pt x="7044367" y="3776302"/>
                </a:lnTo>
                <a:cubicBezTo>
                  <a:pt x="7038206" y="3782111"/>
                  <a:pt x="7032047" y="3787927"/>
                  <a:pt x="7025888" y="3793744"/>
                </a:cubicBezTo>
                <a:lnTo>
                  <a:pt x="7021538" y="3789134"/>
                </a:lnTo>
                <a:lnTo>
                  <a:pt x="7023729" y="3791440"/>
                </a:lnTo>
                <a:close/>
                <a:moveTo>
                  <a:pt x="2598618" y="3773990"/>
                </a:moveTo>
                <a:lnTo>
                  <a:pt x="2617077" y="3791439"/>
                </a:lnTo>
                <a:lnTo>
                  <a:pt x="2614893" y="3793744"/>
                </a:lnTo>
                <a:cubicBezTo>
                  <a:pt x="2608752" y="3787927"/>
                  <a:pt x="2602599" y="3782111"/>
                  <a:pt x="2596439" y="3776302"/>
                </a:cubicBezTo>
                <a:close/>
                <a:moveTo>
                  <a:pt x="2600263" y="3772246"/>
                </a:moveTo>
                <a:lnTo>
                  <a:pt x="2598618" y="3773990"/>
                </a:lnTo>
                <a:lnTo>
                  <a:pt x="2598617" y="3773990"/>
                </a:lnTo>
                <a:close/>
                <a:moveTo>
                  <a:pt x="7040089" y="3771758"/>
                </a:moveTo>
                <a:lnTo>
                  <a:pt x="7042207" y="3773990"/>
                </a:lnTo>
                <a:lnTo>
                  <a:pt x="7042198" y="3773998"/>
                </a:lnTo>
                <a:close/>
                <a:moveTo>
                  <a:pt x="7035667" y="3767061"/>
                </a:moveTo>
                <a:lnTo>
                  <a:pt x="7040089" y="3771758"/>
                </a:lnTo>
                <a:lnTo>
                  <a:pt x="7037826" y="3769373"/>
                </a:lnTo>
                <a:lnTo>
                  <a:pt x="7019356" y="3786821"/>
                </a:lnTo>
                <a:lnTo>
                  <a:pt x="7017188" y="3784524"/>
                </a:lnTo>
                <a:cubicBezTo>
                  <a:pt x="7023348" y="3778702"/>
                  <a:pt x="7029507" y="3772878"/>
                  <a:pt x="7035667" y="3767061"/>
                </a:cubicBezTo>
                <a:close/>
                <a:moveTo>
                  <a:pt x="2605151" y="3767061"/>
                </a:moveTo>
                <a:cubicBezTo>
                  <a:pt x="2611324" y="3772878"/>
                  <a:pt x="2617477" y="3778702"/>
                  <a:pt x="2623630" y="3784524"/>
                </a:cubicBezTo>
                <a:lnTo>
                  <a:pt x="2621446" y="3786829"/>
                </a:lnTo>
                <a:lnTo>
                  <a:pt x="2602974" y="3769373"/>
                </a:lnTo>
                <a:lnTo>
                  <a:pt x="2600263" y="3772246"/>
                </a:lnTo>
                <a:close/>
                <a:moveTo>
                  <a:pt x="2582097" y="3754438"/>
                </a:moveTo>
                <a:lnTo>
                  <a:pt x="2580107" y="3756559"/>
                </a:lnTo>
                <a:lnTo>
                  <a:pt x="2580105" y="3756556"/>
                </a:lnTo>
                <a:close/>
                <a:moveTo>
                  <a:pt x="2563540" y="3737004"/>
                </a:moveTo>
                <a:lnTo>
                  <a:pt x="2561540" y="3739140"/>
                </a:lnTo>
                <a:lnTo>
                  <a:pt x="2580105" y="3756556"/>
                </a:lnTo>
                <a:lnTo>
                  <a:pt x="2577929" y="3758871"/>
                </a:lnTo>
                <a:cubicBezTo>
                  <a:pt x="2571751" y="3753066"/>
                  <a:pt x="2565566" y="3747262"/>
                  <a:pt x="2559369" y="3741459"/>
                </a:cubicBezTo>
                <a:close/>
                <a:moveTo>
                  <a:pt x="7077030" y="3736748"/>
                </a:moveTo>
                <a:lnTo>
                  <a:pt x="7079292" y="3739140"/>
                </a:lnTo>
                <a:lnTo>
                  <a:pt x="7079283" y="3739149"/>
                </a:lnTo>
                <a:close/>
                <a:moveTo>
                  <a:pt x="2565877" y="3734505"/>
                </a:moveTo>
                <a:lnTo>
                  <a:pt x="2565878" y="3734506"/>
                </a:lnTo>
                <a:lnTo>
                  <a:pt x="2563540" y="3737004"/>
                </a:lnTo>
                <a:close/>
                <a:moveTo>
                  <a:pt x="7072751" y="3732188"/>
                </a:moveTo>
                <a:lnTo>
                  <a:pt x="7077030" y="3736748"/>
                </a:lnTo>
                <a:lnTo>
                  <a:pt x="7074910" y="3734505"/>
                </a:lnTo>
                <a:cubicBezTo>
                  <a:pt x="7068750" y="3740309"/>
                  <a:pt x="7062527" y="3746120"/>
                  <a:pt x="7056368" y="3751929"/>
                </a:cubicBezTo>
                <a:lnTo>
                  <a:pt x="7060686" y="3756559"/>
                </a:lnTo>
                <a:lnTo>
                  <a:pt x="7079283" y="3739149"/>
                </a:lnTo>
                <a:lnTo>
                  <a:pt x="7081450" y="3741459"/>
                </a:lnTo>
                <a:cubicBezTo>
                  <a:pt x="7075227" y="3747262"/>
                  <a:pt x="7069068" y="3753066"/>
                  <a:pt x="7062844" y="3758871"/>
                </a:cubicBezTo>
                <a:lnTo>
                  <a:pt x="7054145" y="3749619"/>
                </a:lnTo>
                <a:cubicBezTo>
                  <a:pt x="7060369" y="3743808"/>
                  <a:pt x="7066528" y="3737999"/>
                  <a:pt x="7072751" y="3732188"/>
                </a:cubicBezTo>
                <a:close/>
                <a:moveTo>
                  <a:pt x="2568049" y="3732188"/>
                </a:moveTo>
                <a:cubicBezTo>
                  <a:pt x="2574253" y="3737999"/>
                  <a:pt x="2580444" y="3743808"/>
                  <a:pt x="2586628" y="3749619"/>
                </a:cubicBezTo>
                <a:lnTo>
                  <a:pt x="2582097" y="3754438"/>
                </a:lnTo>
                <a:lnTo>
                  <a:pt x="2584450" y="3751929"/>
                </a:lnTo>
                <a:lnTo>
                  <a:pt x="2565878" y="3734506"/>
                </a:lnTo>
                <a:close/>
                <a:moveTo>
                  <a:pt x="2547277" y="3717131"/>
                </a:moveTo>
                <a:lnTo>
                  <a:pt x="2547277" y="3717131"/>
                </a:lnTo>
                <a:lnTo>
                  <a:pt x="2546443" y="3718025"/>
                </a:lnTo>
                <a:close/>
                <a:moveTo>
                  <a:pt x="7093516" y="3717130"/>
                </a:moveTo>
                <a:lnTo>
                  <a:pt x="7096844" y="3720710"/>
                </a:lnTo>
                <a:lnTo>
                  <a:pt x="7093515" y="3717131"/>
                </a:lnTo>
                <a:close/>
                <a:moveTo>
                  <a:pt x="7114419" y="3702280"/>
                </a:moveTo>
                <a:lnTo>
                  <a:pt x="7118598" y="3706782"/>
                </a:lnTo>
                <a:cubicBezTo>
                  <a:pt x="7112438" y="3712553"/>
                  <a:pt x="7106215" y="3718319"/>
                  <a:pt x="7099993" y="3724097"/>
                </a:cubicBezTo>
                <a:lnTo>
                  <a:pt x="7096844" y="3720710"/>
                </a:lnTo>
                <a:lnTo>
                  <a:pt x="7097833" y="3721773"/>
                </a:lnTo>
                <a:cubicBezTo>
                  <a:pt x="7104057" y="3715996"/>
                  <a:pt x="7110280" y="3710222"/>
                  <a:pt x="7116439" y="3704457"/>
                </a:cubicBezTo>
                <a:close/>
                <a:moveTo>
                  <a:pt x="2526711" y="3701911"/>
                </a:moveTo>
                <a:lnTo>
                  <a:pt x="2524348" y="3704457"/>
                </a:lnTo>
                <a:cubicBezTo>
                  <a:pt x="2530558" y="3710230"/>
                  <a:pt x="2536755" y="3716001"/>
                  <a:pt x="2542947" y="3721773"/>
                </a:cubicBezTo>
                <a:lnTo>
                  <a:pt x="2546443" y="3718025"/>
                </a:lnTo>
                <a:lnTo>
                  <a:pt x="2540782" y="3724097"/>
                </a:lnTo>
                <a:cubicBezTo>
                  <a:pt x="2534590" y="3718319"/>
                  <a:pt x="2528392" y="3712553"/>
                  <a:pt x="2522182" y="3706782"/>
                </a:cubicBezTo>
                <a:close/>
                <a:moveTo>
                  <a:pt x="7112121" y="3699802"/>
                </a:moveTo>
                <a:lnTo>
                  <a:pt x="7114419" y="3702280"/>
                </a:lnTo>
                <a:lnTo>
                  <a:pt x="7112120" y="3699803"/>
                </a:lnTo>
                <a:close/>
                <a:moveTo>
                  <a:pt x="2528666" y="3699802"/>
                </a:moveTo>
                <a:lnTo>
                  <a:pt x="2528669" y="3699805"/>
                </a:lnTo>
                <a:lnTo>
                  <a:pt x="2526711" y="3701911"/>
                </a:lnTo>
                <a:close/>
                <a:moveTo>
                  <a:pt x="7109962" y="3697479"/>
                </a:moveTo>
                <a:lnTo>
                  <a:pt x="7112120" y="3699803"/>
                </a:lnTo>
                <a:lnTo>
                  <a:pt x="7093516" y="3717130"/>
                </a:lnTo>
                <a:lnTo>
                  <a:pt x="7091357" y="3714808"/>
                </a:lnTo>
                <a:cubicBezTo>
                  <a:pt x="7097580" y="3709029"/>
                  <a:pt x="7103739" y="3703250"/>
                  <a:pt x="7109962" y="3697479"/>
                </a:cubicBezTo>
                <a:close/>
                <a:moveTo>
                  <a:pt x="2530831" y="3697479"/>
                </a:moveTo>
                <a:cubicBezTo>
                  <a:pt x="2537042" y="3703250"/>
                  <a:pt x="2543252" y="3709029"/>
                  <a:pt x="2549443" y="3714808"/>
                </a:cubicBezTo>
                <a:lnTo>
                  <a:pt x="2547277" y="3717131"/>
                </a:lnTo>
                <a:lnTo>
                  <a:pt x="2528669" y="3699805"/>
                </a:lnTo>
                <a:close/>
                <a:moveTo>
                  <a:pt x="2508457" y="3684171"/>
                </a:moveTo>
                <a:lnTo>
                  <a:pt x="2505691" y="3687160"/>
                </a:lnTo>
                <a:lnTo>
                  <a:pt x="2505690" y="3687160"/>
                </a:lnTo>
                <a:close/>
                <a:moveTo>
                  <a:pt x="7130791" y="3682498"/>
                </a:moveTo>
                <a:lnTo>
                  <a:pt x="7134461" y="3686457"/>
                </a:lnTo>
                <a:lnTo>
                  <a:pt x="7130790" y="3682499"/>
                </a:lnTo>
                <a:close/>
                <a:moveTo>
                  <a:pt x="2486982" y="3669879"/>
                </a:moveTo>
                <a:lnTo>
                  <a:pt x="2505690" y="3687160"/>
                </a:lnTo>
                <a:lnTo>
                  <a:pt x="2503532" y="3689490"/>
                </a:lnTo>
                <a:cubicBezTo>
                  <a:pt x="2497309" y="3683725"/>
                  <a:pt x="2491075" y="3677965"/>
                  <a:pt x="2484832" y="3672213"/>
                </a:cubicBezTo>
                <a:close/>
                <a:moveTo>
                  <a:pt x="2491284" y="3665208"/>
                </a:moveTo>
                <a:lnTo>
                  <a:pt x="2491284" y="3665208"/>
                </a:lnTo>
                <a:lnTo>
                  <a:pt x="2486982" y="3669879"/>
                </a:lnTo>
                <a:lnTo>
                  <a:pt x="2486978" y="3669875"/>
                </a:lnTo>
                <a:close/>
                <a:moveTo>
                  <a:pt x="7147363" y="3662872"/>
                </a:moveTo>
                <a:lnTo>
                  <a:pt x="7155999" y="3672205"/>
                </a:lnTo>
                <a:cubicBezTo>
                  <a:pt x="7149713" y="3677965"/>
                  <a:pt x="7143490" y="3683725"/>
                  <a:pt x="7137267" y="3689483"/>
                </a:cubicBezTo>
                <a:lnTo>
                  <a:pt x="7134461" y="3686457"/>
                </a:lnTo>
                <a:lnTo>
                  <a:pt x="7135107" y="3687153"/>
                </a:lnTo>
                <a:cubicBezTo>
                  <a:pt x="7141331" y="3681394"/>
                  <a:pt x="7147554" y="3675634"/>
                  <a:pt x="7153840" y="3669875"/>
                </a:cubicBezTo>
                <a:lnTo>
                  <a:pt x="7149522" y="3665208"/>
                </a:lnTo>
                <a:lnTo>
                  <a:pt x="7130791" y="3682498"/>
                </a:lnTo>
                <a:lnTo>
                  <a:pt x="7128631" y="3680169"/>
                </a:lnTo>
                <a:cubicBezTo>
                  <a:pt x="7134854" y="3674396"/>
                  <a:pt x="7141140" y="3668630"/>
                  <a:pt x="7147363" y="3662872"/>
                </a:cubicBezTo>
                <a:close/>
                <a:moveTo>
                  <a:pt x="2493437" y="3662872"/>
                </a:moveTo>
                <a:cubicBezTo>
                  <a:pt x="2499685" y="3668636"/>
                  <a:pt x="2505926" y="3674396"/>
                  <a:pt x="2512162" y="3680169"/>
                </a:cubicBezTo>
                <a:lnTo>
                  <a:pt x="2508457" y="3684171"/>
                </a:lnTo>
                <a:lnTo>
                  <a:pt x="2510003" y="3682499"/>
                </a:lnTo>
                <a:lnTo>
                  <a:pt x="2491284" y="3665208"/>
                </a:lnTo>
                <a:close/>
                <a:moveTo>
                  <a:pt x="2472551" y="3648028"/>
                </a:moveTo>
                <a:lnTo>
                  <a:pt x="2468290" y="3652674"/>
                </a:lnTo>
                <a:lnTo>
                  <a:pt x="2468287" y="3652670"/>
                </a:lnTo>
                <a:close/>
                <a:moveTo>
                  <a:pt x="7168217" y="3647971"/>
                </a:moveTo>
                <a:lnTo>
                  <a:pt x="7172516" y="3652660"/>
                </a:lnTo>
                <a:lnTo>
                  <a:pt x="7172509" y="3652666"/>
                </a:lnTo>
                <a:lnTo>
                  <a:pt x="7168192" y="3647994"/>
                </a:lnTo>
                <a:close/>
                <a:moveTo>
                  <a:pt x="7189057" y="3633077"/>
                </a:moveTo>
                <a:lnTo>
                  <a:pt x="7193401" y="3637826"/>
                </a:lnTo>
                <a:cubicBezTo>
                  <a:pt x="7187178" y="3643547"/>
                  <a:pt x="7180892" y="3649276"/>
                  <a:pt x="7174669" y="3655010"/>
                </a:cubicBezTo>
                <a:lnTo>
                  <a:pt x="7172516" y="3652660"/>
                </a:lnTo>
                <a:lnTo>
                  <a:pt x="7191242" y="3635483"/>
                </a:lnTo>
                <a:close/>
                <a:moveTo>
                  <a:pt x="7186987" y="3630797"/>
                </a:moveTo>
                <a:lnTo>
                  <a:pt x="7189057" y="3633077"/>
                </a:lnTo>
                <a:lnTo>
                  <a:pt x="7186979" y="3630805"/>
                </a:lnTo>
                <a:close/>
                <a:moveTo>
                  <a:pt x="7184828" y="3628453"/>
                </a:moveTo>
                <a:lnTo>
                  <a:pt x="7186979" y="3630805"/>
                </a:lnTo>
                <a:lnTo>
                  <a:pt x="7168217" y="3647971"/>
                </a:lnTo>
                <a:lnTo>
                  <a:pt x="7166096" y="3645656"/>
                </a:lnTo>
                <a:cubicBezTo>
                  <a:pt x="7172319" y="3639917"/>
                  <a:pt x="7178542" y="3634189"/>
                  <a:pt x="7184828" y="3628453"/>
                </a:cubicBezTo>
                <a:close/>
                <a:moveTo>
                  <a:pt x="2455971" y="3628453"/>
                </a:moveTo>
                <a:cubicBezTo>
                  <a:pt x="2462232" y="3634189"/>
                  <a:pt x="2468487" y="3639923"/>
                  <a:pt x="2474730" y="3645656"/>
                </a:cubicBezTo>
                <a:lnTo>
                  <a:pt x="2472551" y="3648028"/>
                </a:lnTo>
                <a:lnTo>
                  <a:pt x="2472582" y="3647994"/>
                </a:lnTo>
                <a:cubicBezTo>
                  <a:pt x="2466340" y="3642258"/>
                  <a:pt x="2460086" y="3636525"/>
                  <a:pt x="2453831" y="3630797"/>
                </a:cubicBezTo>
                <a:lnTo>
                  <a:pt x="2449546" y="3635483"/>
                </a:lnTo>
                <a:lnTo>
                  <a:pt x="2468287" y="3652670"/>
                </a:lnTo>
                <a:lnTo>
                  <a:pt x="2466137" y="3655010"/>
                </a:lnTo>
                <a:cubicBezTo>
                  <a:pt x="2459903" y="3649276"/>
                  <a:pt x="2453653" y="3643547"/>
                  <a:pt x="2447399" y="3637826"/>
                </a:cubicBezTo>
                <a:close/>
                <a:moveTo>
                  <a:pt x="7208258" y="3616350"/>
                </a:moveTo>
                <a:lnTo>
                  <a:pt x="7210045" y="3618307"/>
                </a:lnTo>
                <a:lnTo>
                  <a:pt x="7210038" y="3618314"/>
                </a:lnTo>
                <a:close/>
                <a:moveTo>
                  <a:pt x="2435025" y="3613623"/>
                </a:moveTo>
                <a:lnTo>
                  <a:pt x="2435029" y="3613627"/>
                </a:lnTo>
                <a:lnTo>
                  <a:pt x="2430750" y="3618320"/>
                </a:lnTo>
                <a:lnTo>
                  <a:pt x="2430747" y="3618317"/>
                </a:lnTo>
                <a:close/>
                <a:moveTo>
                  <a:pt x="7228880" y="3601209"/>
                </a:moveTo>
                <a:lnTo>
                  <a:pt x="7230993" y="3603544"/>
                </a:lnTo>
                <a:cubicBezTo>
                  <a:pt x="7224707" y="3609245"/>
                  <a:pt x="7218483" y="3614955"/>
                  <a:pt x="7212197" y="3620662"/>
                </a:cubicBezTo>
                <a:lnTo>
                  <a:pt x="7210045" y="3618307"/>
                </a:lnTo>
                <a:close/>
                <a:moveTo>
                  <a:pt x="2411938" y="3601196"/>
                </a:moveTo>
                <a:lnTo>
                  <a:pt x="2430747" y="3618317"/>
                </a:lnTo>
                <a:lnTo>
                  <a:pt x="2428609" y="3620662"/>
                </a:lnTo>
                <a:cubicBezTo>
                  <a:pt x="2422349" y="3614955"/>
                  <a:pt x="2416081" y="3609251"/>
                  <a:pt x="2409800" y="3603550"/>
                </a:cubicBezTo>
                <a:close/>
                <a:moveTo>
                  <a:pt x="7226703" y="3598805"/>
                </a:moveTo>
                <a:lnTo>
                  <a:pt x="7228897" y="3601193"/>
                </a:lnTo>
                <a:lnTo>
                  <a:pt x="7228880" y="3601209"/>
                </a:lnTo>
                <a:close/>
                <a:moveTo>
                  <a:pt x="2416201" y="3596494"/>
                </a:moveTo>
                <a:lnTo>
                  <a:pt x="2416205" y="3596498"/>
                </a:lnTo>
                <a:lnTo>
                  <a:pt x="2411938" y="3601196"/>
                </a:lnTo>
                <a:lnTo>
                  <a:pt x="2411934" y="3601193"/>
                </a:lnTo>
                <a:close/>
                <a:moveTo>
                  <a:pt x="7222484" y="3594145"/>
                </a:moveTo>
                <a:lnTo>
                  <a:pt x="7226703" y="3598805"/>
                </a:lnTo>
                <a:lnTo>
                  <a:pt x="7224580" y="3596494"/>
                </a:lnTo>
                <a:cubicBezTo>
                  <a:pt x="7218293" y="3602203"/>
                  <a:pt x="7212069" y="3607912"/>
                  <a:pt x="7205783" y="3613621"/>
                </a:cubicBezTo>
                <a:lnTo>
                  <a:pt x="7208258" y="3616350"/>
                </a:lnTo>
                <a:lnTo>
                  <a:pt x="7203624" y="3611278"/>
                </a:lnTo>
                <a:cubicBezTo>
                  <a:pt x="7209911" y="3605563"/>
                  <a:pt x="7216197" y="3599854"/>
                  <a:pt x="7222484" y="3594145"/>
                </a:cubicBezTo>
                <a:close/>
                <a:moveTo>
                  <a:pt x="2418341" y="3594145"/>
                </a:moveTo>
                <a:cubicBezTo>
                  <a:pt x="2424622" y="3599854"/>
                  <a:pt x="2430896" y="3605563"/>
                  <a:pt x="2437162" y="3611278"/>
                </a:cubicBezTo>
                <a:lnTo>
                  <a:pt x="2435025" y="3613623"/>
                </a:lnTo>
                <a:lnTo>
                  <a:pt x="2416205" y="3596498"/>
                </a:lnTo>
                <a:close/>
                <a:moveTo>
                  <a:pt x="2394831" y="3582210"/>
                </a:moveTo>
                <a:lnTo>
                  <a:pt x="2393100" y="3584124"/>
                </a:lnTo>
                <a:lnTo>
                  <a:pt x="2393100" y="3584124"/>
                </a:lnTo>
                <a:close/>
                <a:moveTo>
                  <a:pt x="7245654" y="3581863"/>
                </a:moveTo>
                <a:lnTo>
                  <a:pt x="7247701" y="3584112"/>
                </a:lnTo>
                <a:lnTo>
                  <a:pt x="7247694" y="3584119"/>
                </a:lnTo>
                <a:close/>
                <a:moveTo>
                  <a:pt x="7264458" y="3564709"/>
                </a:moveTo>
                <a:lnTo>
                  <a:pt x="7268712" y="3569424"/>
                </a:lnTo>
                <a:cubicBezTo>
                  <a:pt x="7262425" y="3575101"/>
                  <a:pt x="7256139" y="3580784"/>
                  <a:pt x="7249852" y="3586474"/>
                </a:cubicBezTo>
                <a:lnTo>
                  <a:pt x="7247701" y="3584112"/>
                </a:lnTo>
                <a:lnTo>
                  <a:pt x="7266553" y="3567069"/>
                </a:lnTo>
                <a:close/>
                <a:moveTo>
                  <a:pt x="7262362" y="3562350"/>
                </a:moveTo>
                <a:lnTo>
                  <a:pt x="7264458" y="3564709"/>
                </a:lnTo>
                <a:lnTo>
                  <a:pt x="7262344" y="3562367"/>
                </a:lnTo>
                <a:close/>
                <a:moveTo>
                  <a:pt x="7260203" y="3559995"/>
                </a:moveTo>
                <a:lnTo>
                  <a:pt x="7262344" y="3562367"/>
                </a:lnTo>
                <a:lnTo>
                  <a:pt x="7243439" y="3579413"/>
                </a:lnTo>
                <a:lnTo>
                  <a:pt x="7245654" y="3581863"/>
                </a:lnTo>
                <a:lnTo>
                  <a:pt x="7241280" y="3577058"/>
                </a:lnTo>
                <a:cubicBezTo>
                  <a:pt x="7247630" y="3571367"/>
                  <a:pt x="7253917" y="3565677"/>
                  <a:pt x="7260203" y="3559995"/>
                </a:cubicBezTo>
                <a:close/>
                <a:moveTo>
                  <a:pt x="2380597" y="3559995"/>
                </a:moveTo>
                <a:cubicBezTo>
                  <a:pt x="2386902" y="3565677"/>
                  <a:pt x="2393202" y="3571367"/>
                  <a:pt x="2399494" y="3577058"/>
                </a:cubicBezTo>
                <a:lnTo>
                  <a:pt x="2394831" y="3582210"/>
                </a:lnTo>
                <a:lnTo>
                  <a:pt x="2397360" y="3579413"/>
                </a:lnTo>
                <a:cubicBezTo>
                  <a:pt x="2391074" y="3573723"/>
                  <a:pt x="2384775" y="3568034"/>
                  <a:pt x="2378476" y="3562350"/>
                </a:cubicBezTo>
                <a:lnTo>
                  <a:pt x="2374221" y="3567069"/>
                </a:lnTo>
                <a:lnTo>
                  <a:pt x="2393100" y="3584124"/>
                </a:lnTo>
                <a:lnTo>
                  <a:pt x="2390972" y="3586474"/>
                </a:lnTo>
                <a:cubicBezTo>
                  <a:pt x="2384686" y="3580791"/>
                  <a:pt x="2378393" y="3575107"/>
                  <a:pt x="2372094" y="3569424"/>
                </a:cubicBezTo>
                <a:close/>
                <a:moveTo>
                  <a:pt x="2359540" y="3545313"/>
                </a:moveTo>
                <a:lnTo>
                  <a:pt x="2359540" y="3545313"/>
                </a:lnTo>
                <a:lnTo>
                  <a:pt x="2355298" y="3550037"/>
                </a:lnTo>
                <a:lnTo>
                  <a:pt x="2355296" y="3550036"/>
                </a:lnTo>
                <a:close/>
                <a:moveTo>
                  <a:pt x="7300207" y="3528339"/>
                </a:moveTo>
                <a:lnTo>
                  <a:pt x="7302123" y="3530501"/>
                </a:lnTo>
                <a:lnTo>
                  <a:pt x="7300191" y="3528354"/>
                </a:lnTo>
                <a:close/>
                <a:moveTo>
                  <a:pt x="7298049" y="3525971"/>
                </a:moveTo>
                <a:lnTo>
                  <a:pt x="7300191" y="3528354"/>
                </a:lnTo>
                <a:lnTo>
                  <a:pt x="7281285" y="3545313"/>
                </a:lnTo>
                <a:lnTo>
                  <a:pt x="7285539" y="3550037"/>
                </a:lnTo>
                <a:cubicBezTo>
                  <a:pt x="7291826" y="3544373"/>
                  <a:pt x="7298112" y="3538723"/>
                  <a:pt x="7304399" y="3533070"/>
                </a:cubicBezTo>
                <a:lnTo>
                  <a:pt x="7302123" y="3530501"/>
                </a:lnTo>
                <a:lnTo>
                  <a:pt x="7306557" y="3535433"/>
                </a:lnTo>
                <a:cubicBezTo>
                  <a:pt x="7300207" y="3541085"/>
                  <a:pt x="7293921" y="3546743"/>
                  <a:pt x="7287635" y="3552393"/>
                </a:cubicBezTo>
                <a:lnTo>
                  <a:pt x="7279126" y="3542951"/>
                </a:lnTo>
                <a:cubicBezTo>
                  <a:pt x="7285476" y="3537287"/>
                  <a:pt x="7291762" y="3531629"/>
                  <a:pt x="7298049" y="3525971"/>
                </a:cubicBezTo>
                <a:close/>
                <a:moveTo>
                  <a:pt x="2342725" y="3525971"/>
                </a:moveTo>
                <a:cubicBezTo>
                  <a:pt x="2349043" y="3531629"/>
                  <a:pt x="2355356" y="3537287"/>
                  <a:pt x="2361661" y="3542951"/>
                </a:cubicBezTo>
                <a:lnTo>
                  <a:pt x="2359540" y="3545313"/>
                </a:lnTo>
                <a:lnTo>
                  <a:pt x="2340610" y="3528339"/>
                </a:lnTo>
                <a:lnTo>
                  <a:pt x="2336375" y="3533070"/>
                </a:lnTo>
                <a:lnTo>
                  <a:pt x="2355296" y="3550036"/>
                </a:lnTo>
                <a:lnTo>
                  <a:pt x="2353171" y="3552401"/>
                </a:lnTo>
                <a:cubicBezTo>
                  <a:pt x="2346878" y="3546743"/>
                  <a:pt x="2340566" y="3541085"/>
                  <a:pt x="2334254" y="3535439"/>
                </a:cubicBezTo>
                <a:close/>
                <a:moveTo>
                  <a:pt x="2319519" y="3513757"/>
                </a:moveTo>
                <a:lnTo>
                  <a:pt x="2317408" y="3516129"/>
                </a:lnTo>
                <a:lnTo>
                  <a:pt x="2317406" y="3516128"/>
                </a:lnTo>
                <a:close/>
                <a:moveTo>
                  <a:pt x="2298397" y="3499207"/>
                </a:moveTo>
                <a:lnTo>
                  <a:pt x="2317406" y="3516128"/>
                </a:lnTo>
                <a:lnTo>
                  <a:pt x="2315293" y="3518497"/>
                </a:lnTo>
                <a:cubicBezTo>
                  <a:pt x="2308962" y="3512852"/>
                  <a:pt x="2302631" y="3507213"/>
                  <a:pt x="2296289" y="3501581"/>
                </a:cubicBezTo>
                <a:close/>
                <a:moveTo>
                  <a:pt x="2300342" y="3497017"/>
                </a:moveTo>
                <a:lnTo>
                  <a:pt x="2298397" y="3499207"/>
                </a:lnTo>
                <a:lnTo>
                  <a:pt x="2298396" y="3499207"/>
                </a:lnTo>
                <a:close/>
                <a:moveTo>
                  <a:pt x="7339909" y="3496386"/>
                </a:moveTo>
                <a:lnTo>
                  <a:pt x="7342435" y="3499207"/>
                </a:lnTo>
                <a:lnTo>
                  <a:pt x="7342426" y="3499215"/>
                </a:lnTo>
                <a:close/>
                <a:moveTo>
                  <a:pt x="7336085" y="3492087"/>
                </a:moveTo>
                <a:lnTo>
                  <a:pt x="7339909" y="3496386"/>
                </a:lnTo>
                <a:lnTo>
                  <a:pt x="7338181" y="3494456"/>
                </a:lnTo>
                <a:cubicBezTo>
                  <a:pt x="7331831" y="3500095"/>
                  <a:pt x="7325481" y="3505740"/>
                  <a:pt x="7319194" y="3511386"/>
                </a:cubicBezTo>
                <a:lnTo>
                  <a:pt x="7323385" y="3516123"/>
                </a:lnTo>
                <a:lnTo>
                  <a:pt x="7342426" y="3499215"/>
                </a:lnTo>
                <a:lnTo>
                  <a:pt x="7344531" y="3501581"/>
                </a:lnTo>
                <a:cubicBezTo>
                  <a:pt x="7338181" y="3507213"/>
                  <a:pt x="7331831" y="3512852"/>
                  <a:pt x="7325481" y="3518497"/>
                </a:cubicBezTo>
                <a:lnTo>
                  <a:pt x="7317035" y="3509018"/>
                </a:lnTo>
                <a:cubicBezTo>
                  <a:pt x="7323385" y="3503366"/>
                  <a:pt x="7329735" y="3497727"/>
                  <a:pt x="7336085" y="3492087"/>
                </a:cubicBezTo>
                <a:close/>
                <a:moveTo>
                  <a:pt x="2304720" y="3492087"/>
                </a:moveTo>
                <a:cubicBezTo>
                  <a:pt x="2311070" y="3497727"/>
                  <a:pt x="2317414" y="3503371"/>
                  <a:pt x="2323745" y="3509018"/>
                </a:cubicBezTo>
                <a:lnTo>
                  <a:pt x="2319519" y="3513757"/>
                </a:lnTo>
                <a:lnTo>
                  <a:pt x="2321630" y="3511386"/>
                </a:lnTo>
                <a:cubicBezTo>
                  <a:pt x="2315299" y="3505740"/>
                  <a:pt x="2308962" y="3500101"/>
                  <a:pt x="2302612" y="3494463"/>
                </a:cubicBezTo>
                <a:lnTo>
                  <a:pt x="2300342" y="3497017"/>
                </a:lnTo>
                <a:close/>
                <a:moveTo>
                  <a:pt x="7376281" y="3460731"/>
                </a:moveTo>
                <a:lnTo>
                  <a:pt x="7378830" y="3463628"/>
                </a:lnTo>
                <a:lnTo>
                  <a:pt x="7376281" y="3460732"/>
                </a:lnTo>
                <a:close/>
                <a:moveTo>
                  <a:pt x="2264506" y="3460731"/>
                </a:moveTo>
                <a:lnTo>
                  <a:pt x="2264508" y="3460732"/>
                </a:lnTo>
                <a:lnTo>
                  <a:pt x="2261685" y="3463933"/>
                </a:lnTo>
                <a:close/>
                <a:moveTo>
                  <a:pt x="7374185" y="3458351"/>
                </a:moveTo>
                <a:lnTo>
                  <a:pt x="7376281" y="3460732"/>
                </a:lnTo>
                <a:lnTo>
                  <a:pt x="7357231" y="3477572"/>
                </a:lnTo>
                <a:lnTo>
                  <a:pt x="7361422" y="3482327"/>
                </a:lnTo>
                <a:cubicBezTo>
                  <a:pt x="7367772" y="3476715"/>
                  <a:pt x="7374122" y="3471101"/>
                  <a:pt x="7380472" y="3465494"/>
                </a:cubicBezTo>
                <a:lnTo>
                  <a:pt x="7378830" y="3463628"/>
                </a:lnTo>
                <a:lnTo>
                  <a:pt x="7382568" y="3467875"/>
                </a:lnTo>
                <a:cubicBezTo>
                  <a:pt x="7376218" y="3473482"/>
                  <a:pt x="7369868" y="3479089"/>
                  <a:pt x="7363518" y="3484709"/>
                </a:cubicBezTo>
                <a:lnTo>
                  <a:pt x="7355135" y="3475197"/>
                </a:lnTo>
                <a:cubicBezTo>
                  <a:pt x="7361485" y="3469577"/>
                  <a:pt x="7367835" y="3463964"/>
                  <a:pt x="7374185" y="3458351"/>
                </a:cubicBezTo>
                <a:close/>
                <a:moveTo>
                  <a:pt x="2266608" y="3458351"/>
                </a:moveTo>
                <a:cubicBezTo>
                  <a:pt x="2272970" y="3463964"/>
                  <a:pt x="2279327" y="3469577"/>
                  <a:pt x="2285677" y="3475197"/>
                </a:cubicBezTo>
                <a:lnTo>
                  <a:pt x="2277257" y="3484709"/>
                </a:lnTo>
                <a:cubicBezTo>
                  <a:pt x="2270913" y="3479096"/>
                  <a:pt x="2264563" y="3473482"/>
                  <a:pt x="2258207" y="3467875"/>
                </a:cubicBezTo>
                <a:lnTo>
                  <a:pt x="2261685" y="3463933"/>
                </a:lnTo>
                <a:lnTo>
                  <a:pt x="2260308" y="3465494"/>
                </a:lnTo>
                <a:cubicBezTo>
                  <a:pt x="2266665" y="3471101"/>
                  <a:pt x="2273015" y="3476715"/>
                  <a:pt x="2279365" y="3482327"/>
                </a:cubicBezTo>
                <a:lnTo>
                  <a:pt x="2283568" y="3477578"/>
                </a:lnTo>
                <a:lnTo>
                  <a:pt x="2264508" y="3460732"/>
                </a:lnTo>
                <a:close/>
                <a:moveTo>
                  <a:pt x="2245405" y="3443916"/>
                </a:moveTo>
                <a:lnTo>
                  <a:pt x="2245405" y="3443917"/>
                </a:lnTo>
                <a:lnTo>
                  <a:pt x="2243266" y="3446351"/>
                </a:lnTo>
                <a:close/>
                <a:moveTo>
                  <a:pt x="7395396" y="3443915"/>
                </a:moveTo>
                <a:lnTo>
                  <a:pt x="7399587" y="3448684"/>
                </a:lnTo>
                <a:lnTo>
                  <a:pt x="7399585" y="3448685"/>
                </a:lnTo>
                <a:lnTo>
                  <a:pt x="7395394" y="3443917"/>
                </a:lnTo>
                <a:close/>
                <a:moveTo>
                  <a:pt x="2222076" y="3431903"/>
                </a:moveTo>
                <a:lnTo>
                  <a:pt x="2241214" y="3448685"/>
                </a:lnTo>
                <a:lnTo>
                  <a:pt x="2243266" y="3446351"/>
                </a:lnTo>
                <a:lnTo>
                  <a:pt x="2239118" y="3451073"/>
                </a:lnTo>
                <a:cubicBezTo>
                  <a:pt x="2232743" y="3445473"/>
                  <a:pt x="2226368" y="3439878"/>
                  <a:pt x="2219986" y="3434290"/>
                </a:cubicBezTo>
                <a:close/>
                <a:moveTo>
                  <a:pt x="2222396" y="3431537"/>
                </a:moveTo>
                <a:lnTo>
                  <a:pt x="2222076" y="3431903"/>
                </a:lnTo>
                <a:lnTo>
                  <a:pt x="2222075" y="3431902"/>
                </a:lnTo>
                <a:close/>
                <a:moveTo>
                  <a:pt x="7416666" y="3429547"/>
                </a:moveTo>
                <a:lnTo>
                  <a:pt x="7420794" y="3434290"/>
                </a:lnTo>
                <a:cubicBezTo>
                  <a:pt x="7414444" y="3439878"/>
                  <a:pt x="7408031" y="3445473"/>
                  <a:pt x="7401681" y="3451067"/>
                </a:cubicBezTo>
                <a:lnTo>
                  <a:pt x="7399587" y="3448684"/>
                </a:lnTo>
                <a:lnTo>
                  <a:pt x="7418699" y="3431902"/>
                </a:lnTo>
                <a:close/>
                <a:moveTo>
                  <a:pt x="7414571" y="3427120"/>
                </a:moveTo>
                <a:lnTo>
                  <a:pt x="7416666" y="3429547"/>
                </a:lnTo>
                <a:lnTo>
                  <a:pt x="7414561" y="3427129"/>
                </a:lnTo>
                <a:close/>
                <a:moveTo>
                  <a:pt x="7412476" y="3424733"/>
                </a:moveTo>
                <a:lnTo>
                  <a:pt x="7414561" y="3427129"/>
                </a:lnTo>
                <a:lnTo>
                  <a:pt x="7395396" y="3443915"/>
                </a:lnTo>
                <a:lnTo>
                  <a:pt x="7393299" y="3441530"/>
                </a:lnTo>
                <a:cubicBezTo>
                  <a:pt x="7399712" y="3435929"/>
                  <a:pt x="7406062" y="3430327"/>
                  <a:pt x="7412476" y="3424733"/>
                </a:cubicBezTo>
                <a:close/>
                <a:moveTo>
                  <a:pt x="2228349" y="3424733"/>
                </a:moveTo>
                <a:cubicBezTo>
                  <a:pt x="2234737" y="3430327"/>
                  <a:pt x="2241126" y="3435929"/>
                  <a:pt x="2247500" y="3441530"/>
                </a:cubicBezTo>
                <a:lnTo>
                  <a:pt x="2245405" y="3443916"/>
                </a:lnTo>
                <a:lnTo>
                  <a:pt x="2226260" y="3427128"/>
                </a:lnTo>
                <a:lnTo>
                  <a:pt x="2222396" y="3431537"/>
                </a:lnTo>
                <a:close/>
                <a:moveTo>
                  <a:pt x="7433686" y="3410388"/>
                </a:moveTo>
                <a:lnTo>
                  <a:pt x="7435081" y="3411981"/>
                </a:lnTo>
                <a:lnTo>
                  <a:pt x="7433685" y="3410388"/>
                </a:lnTo>
                <a:close/>
                <a:moveTo>
                  <a:pt x="2207106" y="3410386"/>
                </a:moveTo>
                <a:lnTo>
                  <a:pt x="2207109" y="3410388"/>
                </a:lnTo>
                <a:lnTo>
                  <a:pt x="2202931" y="3415176"/>
                </a:lnTo>
                <a:lnTo>
                  <a:pt x="2202930" y="3415176"/>
                </a:lnTo>
                <a:close/>
                <a:moveTo>
                  <a:pt x="7450830" y="3391282"/>
                </a:moveTo>
                <a:lnTo>
                  <a:pt x="7459148" y="3400870"/>
                </a:lnTo>
                <a:cubicBezTo>
                  <a:pt x="7452735" y="3406426"/>
                  <a:pt x="7446321" y="3411995"/>
                  <a:pt x="7439971" y="3417565"/>
                </a:cubicBezTo>
                <a:lnTo>
                  <a:pt x="7435081" y="3411981"/>
                </a:lnTo>
                <a:lnTo>
                  <a:pt x="7437876" y="3415170"/>
                </a:lnTo>
                <a:cubicBezTo>
                  <a:pt x="7444289" y="3409601"/>
                  <a:pt x="7450639" y="3404032"/>
                  <a:pt x="7457053" y="3398470"/>
                </a:cubicBezTo>
                <a:lnTo>
                  <a:pt x="7452862" y="3393675"/>
                </a:lnTo>
                <a:lnTo>
                  <a:pt x="7433686" y="3410388"/>
                </a:lnTo>
                <a:lnTo>
                  <a:pt x="7431589" y="3407994"/>
                </a:lnTo>
                <a:cubicBezTo>
                  <a:pt x="7438003" y="3402419"/>
                  <a:pt x="7444417" y="3396850"/>
                  <a:pt x="7450830" y="3391282"/>
                </a:cubicBezTo>
                <a:close/>
                <a:moveTo>
                  <a:pt x="2190001" y="3391282"/>
                </a:moveTo>
                <a:cubicBezTo>
                  <a:pt x="2196403" y="3396850"/>
                  <a:pt x="2202803" y="3402419"/>
                  <a:pt x="2209191" y="3407994"/>
                </a:cubicBezTo>
                <a:lnTo>
                  <a:pt x="2207106" y="3410386"/>
                </a:lnTo>
                <a:lnTo>
                  <a:pt x="2187919" y="3393681"/>
                </a:lnTo>
                <a:lnTo>
                  <a:pt x="2183753" y="3398476"/>
                </a:lnTo>
                <a:lnTo>
                  <a:pt x="2202930" y="3415176"/>
                </a:lnTo>
                <a:lnTo>
                  <a:pt x="2200847" y="3417565"/>
                </a:lnTo>
                <a:cubicBezTo>
                  <a:pt x="2194459" y="3411995"/>
                  <a:pt x="2188064" y="3406432"/>
                  <a:pt x="2181670" y="3400870"/>
                </a:cubicBezTo>
                <a:close/>
                <a:moveTo>
                  <a:pt x="2166523" y="3379499"/>
                </a:moveTo>
                <a:lnTo>
                  <a:pt x="2164531" y="3381802"/>
                </a:lnTo>
                <a:lnTo>
                  <a:pt x="2164529" y="3381800"/>
                </a:lnTo>
                <a:close/>
                <a:moveTo>
                  <a:pt x="7472121" y="3376978"/>
                </a:moveTo>
                <a:lnTo>
                  <a:pt x="7474196" y="3379392"/>
                </a:lnTo>
                <a:lnTo>
                  <a:pt x="7472102" y="3376994"/>
                </a:lnTo>
                <a:close/>
                <a:moveTo>
                  <a:pt x="2147193" y="3363107"/>
                </a:moveTo>
                <a:lnTo>
                  <a:pt x="2145361" y="3365234"/>
                </a:lnTo>
                <a:lnTo>
                  <a:pt x="2154905" y="3373469"/>
                </a:lnTo>
                <a:lnTo>
                  <a:pt x="2154905" y="3373469"/>
                </a:lnTo>
                <a:lnTo>
                  <a:pt x="2154905" y="3373470"/>
                </a:lnTo>
                <a:lnTo>
                  <a:pt x="2164529" y="3381800"/>
                </a:lnTo>
                <a:lnTo>
                  <a:pt x="2162449" y="3384202"/>
                </a:lnTo>
                <a:cubicBezTo>
                  <a:pt x="2159243" y="3381420"/>
                  <a:pt x="2156035" y="3378646"/>
                  <a:pt x="2152828" y="3375870"/>
                </a:cubicBezTo>
                <a:cubicBezTo>
                  <a:pt x="2149647" y="3373126"/>
                  <a:pt x="2146472" y="3370378"/>
                  <a:pt x="2143284" y="3367634"/>
                </a:cubicBezTo>
                <a:close/>
                <a:moveTo>
                  <a:pt x="7493386" y="3362896"/>
                </a:moveTo>
                <a:lnTo>
                  <a:pt x="7497502" y="3367653"/>
                </a:lnTo>
                <a:cubicBezTo>
                  <a:pt x="7494327" y="3370390"/>
                  <a:pt x="7491152" y="3373134"/>
                  <a:pt x="7487977" y="3375870"/>
                </a:cubicBezTo>
                <a:cubicBezTo>
                  <a:pt x="7484739" y="3378646"/>
                  <a:pt x="7481564" y="3381420"/>
                  <a:pt x="7478325" y="3384194"/>
                </a:cubicBezTo>
                <a:lnTo>
                  <a:pt x="7474196" y="3379392"/>
                </a:lnTo>
                <a:lnTo>
                  <a:pt x="7476294" y="3381794"/>
                </a:lnTo>
                <a:cubicBezTo>
                  <a:pt x="7479469" y="3379020"/>
                  <a:pt x="7482706" y="3376244"/>
                  <a:pt x="7485881" y="3373470"/>
                </a:cubicBezTo>
                <a:lnTo>
                  <a:pt x="7485891" y="3373461"/>
                </a:lnTo>
                <a:lnTo>
                  <a:pt x="7485899" y="3373454"/>
                </a:lnTo>
                <a:lnTo>
                  <a:pt x="7495406" y="3365253"/>
                </a:lnTo>
                <a:close/>
                <a:moveTo>
                  <a:pt x="7491280" y="3360439"/>
                </a:moveTo>
                <a:lnTo>
                  <a:pt x="7493386" y="3362896"/>
                </a:lnTo>
                <a:lnTo>
                  <a:pt x="7491269" y="3360449"/>
                </a:lnTo>
                <a:close/>
                <a:moveTo>
                  <a:pt x="2149507" y="3360420"/>
                </a:moveTo>
                <a:lnTo>
                  <a:pt x="2149510" y="3360423"/>
                </a:lnTo>
                <a:lnTo>
                  <a:pt x="2147193" y="3363107"/>
                </a:lnTo>
                <a:close/>
                <a:moveTo>
                  <a:pt x="7489184" y="3358039"/>
                </a:moveTo>
                <a:lnTo>
                  <a:pt x="7491269" y="3360449"/>
                </a:lnTo>
                <a:lnTo>
                  <a:pt x="7481755" y="3368669"/>
                </a:lnTo>
                <a:lnTo>
                  <a:pt x="7481748" y="3368675"/>
                </a:lnTo>
                <a:lnTo>
                  <a:pt x="7472121" y="3376978"/>
                </a:lnTo>
                <a:lnTo>
                  <a:pt x="7470070" y="3374593"/>
                </a:lnTo>
                <a:cubicBezTo>
                  <a:pt x="7473245" y="3371819"/>
                  <a:pt x="7476484" y="3369043"/>
                  <a:pt x="7479659" y="3366263"/>
                </a:cubicBezTo>
                <a:cubicBezTo>
                  <a:pt x="7482834" y="3363519"/>
                  <a:pt x="7486009" y="3360777"/>
                  <a:pt x="7489184" y="3358039"/>
                </a:cubicBezTo>
                <a:close/>
                <a:moveTo>
                  <a:pt x="2151585" y="3358020"/>
                </a:moveTo>
                <a:cubicBezTo>
                  <a:pt x="2154771" y="3360769"/>
                  <a:pt x="2157953" y="3363513"/>
                  <a:pt x="2161134" y="3366263"/>
                </a:cubicBezTo>
                <a:cubicBezTo>
                  <a:pt x="2164347" y="3369043"/>
                  <a:pt x="2167554" y="3371819"/>
                  <a:pt x="2170767" y="3374601"/>
                </a:cubicBezTo>
                <a:lnTo>
                  <a:pt x="2166523" y="3379499"/>
                </a:lnTo>
                <a:lnTo>
                  <a:pt x="2168684" y="3377001"/>
                </a:lnTo>
                <a:cubicBezTo>
                  <a:pt x="2165477" y="3374219"/>
                  <a:pt x="2162271" y="3371445"/>
                  <a:pt x="2159058" y="3368669"/>
                </a:cubicBezTo>
                <a:lnTo>
                  <a:pt x="2159056" y="3368667"/>
                </a:lnTo>
                <a:lnTo>
                  <a:pt x="2149510" y="3360423"/>
                </a:lnTo>
                <a:close/>
                <a:moveTo>
                  <a:pt x="7510348" y="3343997"/>
                </a:moveTo>
                <a:lnTo>
                  <a:pt x="7514474" y="3348810"/>
                </a:lnTo>
                <a:lnTo>
                  <a:pt x="7514456" y="3348825"/>
                </a:lnTo>
                <a:lnTo>
                  <a:pt x="7510330" y="3344013"/>
                </a:lnTo>
                <a:close/>
                <a:moveTo>
                  <a:pt x="2130387" y="3343955"/>
                </a:moveTo>
                <a:lnTo>
                  <a:pt x="2130388" y="3343956"/>
                </a:lnTo>
                <a:lnTo>
                  <a:pt x="2128317" y="3346362"/>
                </a:lnTo>
                <a:close/>
                <a:moveTo>
                  <a:pt x="2107098" y="3332336"/>
                </a:moveTo>
                <a:lnTo>
                  <a:pt x="2126247" y="3348768"/>
                </a:lnTo>
                <a:lnTo>
                  <a:pt x="2128317" y="3346362"/>
                </a:lnTo>
                <a:lnTo>
                  <a:pt x="2124177" y="3351176"/>
                </a:lnTo>
                <a:cubicBezTo>
                  <a:pt x="2117802" y="3345695"/>
                  <a:pt x="2111420" y="3340221"/>
                  <a:pt x="2105032" y="3334747"/>
                </a:cubicBezTo>
                <a:close/>
                <a:moveTo>
                  <a:pt x="2108865" y="3330272"/>
                </a:moveTo>
                <a:lnTo>
                  <a:pt x="2107098" y="3332336"/>
                </a:lnTo>
                <a:lnTo>
                  <a:pt x="2107096" y="3332334"/>
                </a:lnTo>
                <a:close/>
                <a:moveTo>
                  <a:pt x="7527411" y="3325197"/>
                </a:moveTo>
                <a:lnTo>
                  <a:pt x="7535666" y="3334842"/>
                </a:lnTo>
                <a:cubicBezTo>
                  <a:pt x="7529316" y="3340303"/>
                  <a:pt x="7522902" y="3345765"/>
                  <a:pt x="7516552" y="3351232"/>
                </a:cubicBezTo>
                <a:lnTo>
                  <a:pt x="7514474" y="3348810"/>
                </a:lnTo>
                <a:lnTo>
                  <a:pt x="7533570" y="3332430"/>
                </a:lnTo>
                <a:lnTo>
                  <a:pt x="7529443" y="3327611"/>
                </a:lnTo>
                <a:lnTo>
                  <a:pt x="7510348" y="3343997"/>
                </a:lnTo>
                <a:lnTo>
                  <a:pt x="7508297" y="3341605"/>
                </a:lnTo>
                <a:cubicBezTo>
                  <a:pt x="7514647" y="3336132"/>
                  <a:pt x="7520997" y="3330664"/>
                  <a:pt x="7527411" y="3325197"/>
                </a:cubicBezTo>
                <a:close/>
                <a:moveTo>
                  <a:pt x="2113293" y="3325101"/>
                </a:moveTo>
                <a:cubicBezTo>
                  <a:pt x="2119688" y="3330581"/>
                  <a:pt x="2126076" y="3336062"/>
                  <a:pt x="2132458" y="3341548"/>
                </a:cubicBezTo>
                <a:lnTo>
                  <a:pt x="2130387" y="3343955"/>
                </a:lnTo>
                <a:lnTo>
                  <a:pt x="2111230" y="3327514"/>
                </a:lnTo>
                <a:lnTo>
                  <a:pt x="2108865" y="3330272"/>
                </a:lnTo>
                <a:close/>
                <a:moveTo>
                  <a:pt x="2089908" y="3313593"/>
                </a:moveTo>
                <a:lnTo>
                  <a:pt x="2087912" y="3315932"/>
                </a:lnTo>
                <a:lnTo>
                  <a:pt x="2087911" y="3315931"/>
                </a:lnTo>
                <a:close/>
                <a:moveTo>
                  <a:pt x="2069259" y="3298929"/>
                </a:moveTo>
                <a:lnTo>
                  <a:pt x="2068710" y="3299574"/>
                </a:lnTo>
                <a:lnTo>
                  <a:pt x="2087911" y="3315931"/>
                </a:lnTo>
                <a:lnTo>
                  <a:pt x="2085848" y="3318346"/>
                </a:lnTo>
                <a:cubicBezTo>
                  <a:pt x="2079460" y="3312892"/>
                  <a:pt x="2073060" y="3307443"/>
                  <a:pt x="2066652" y="3301995"/>
                </a:cubicBezTo>
                <a:close/>
                <a:moveTo>
                  <a:pt x="7567797" y="3294907"/>
                </a:moveTo>
                <a:lnTo>
                  <a:pt x="7569983" y="3297510"/>
                </a:lnTo>
                <a:lnTo>
                  <a:pt x="7567776" y="3294925"/>
                </a:lnTo>
                <a:close/>
                <a:moveTo>
                  <a:pt x="2072824" y="3294736"/>
                </a:moveTo>
                <a:lnTo>
                  <a:pt x="2072824" y="3294736"/>
                </a:lnTo>
                <a:lnTo>
                  <a:pt x="2069259" y="3298929"/>
                </a:lnTo>
                <a:close/>
                <a:moveTo>
                  <a:pt x="7565701" y="3292494"/>
                </a:moveTo>
                <a:lnTo>
                  <a:pt x="7567776" y="3294925"/>
                </a:lnTo>
                <a:lnTo>
                  <a:pt x="7548619" y="3311239"/>
                </a:lnTo>
                <a:lnTo>
                  <a:pt x="7552747" y="3316066"/>
                </a:lnTo>
                <a:cubicBezTo>
                  <a:pt x="7559097" y="3310623"/>
                  <a:pt x="7565511" y="3305181"/>
                  <a:pt x="7571861" y="3299746"/>
                </a:cubicBezTo>
                <a:lnTo>
                  <a:pt x="7569983" y="3297510"/>
                </a:lnTo>
                <a:lnTo>
                  <a:pt x="7573957" y="3302165"/>
                </a:lnTo>
                <a:cubicBezTo>
                  <a:pt x="7567543" y="3307602"/>
                  <a:pt x="7561193" y="3313037"/>
                  <a:pt x="7554780" y="3318478"/>
                </a:cubicBezTo>
                <a:lnTo>
                  <a:pt x="7546524" y="3308820"/>
                </a:lnTo>
                <a:cubicBezTo>
                  <a:pt x="7552938" y="3303372"/>
                  <a:pt x="7559351" y="3297931"/>
                  <a:pt x="7565701" y="3292494"/>
                </a:cubicBezTo>
                <a:close/>
                <a:moveTo>
                  <a:pt x="2074882" y="3292316"/>
                </a:moveTo>
                <a:cubicBezTo>
                  <a:pt x="2081295" y="3297772"/>
                  <a:pt x="2087696" y="3303226"/>
                  <a:pt x="2094097" y="3308688"/>
                </a:cubicBezTo>
                <a:lnTo>
                  <a:pt x="2089908" y="3313593"/>
                </a:lnTo>
                <a:lnTo>
                  <a:pt x="2092033" y="3311100"/>
                </a:lnTo>
                <a:lnTo>
                  <a:pt x="2072824" y="3294736"/>
                </a:lnTo>
                <a:close/>
                <a:moveTo>
                  <a:pt x="7586985" y="3278604"/>
                </a:moveTo>
                <a:lnTo>
                  <a:pt x="7589437" y="3281505"/>
                </a:lnTo>
                <a:lnTo>
                  <a:pt x="7586974" y="3278613"/>
                </a:lnTo>
                <a:close/>
                <a:moveTo>
                  <a:pt x="2034307" y="3262091"/>
                </a:moveTo>
                <a:lnTo>
                  <a:pt x="2030210" y="3266948"/>
                </a:lnTo>
                <a:cubicBezTo>
                  <a:pt x="2036636" y="3272372"/>
                  <a:pt x="2043063" y="3277807"/>
                  <a:pt x="2049477" y="3283242"/>
                </a:cubicBezTo>
                <a:lnTo>
                  <a:pt x="2053584" y="3278398"/>
                </a:lnTo>
                <a:cubicBezTo>
                  <a:pt x="2047164" y="3272963"/>
                  <a:pt x="2040738" y="3267526"/>
                  <a:pt x="2034307" y="3262091"/>
                </a:cubicBezTo>
                <a:close/>
                <a:moveTo>
                  <a:pt x="7604182" y="3259919"/>
                </a:moveTo>
                <a:lnTo>
                  <a:pt x="7612374" y="3269622"/>
                </a:lnTo>
                <a:cubicBezTo>
                  <a:pt x="7605960" y="3275033"/>
                  <a:pt x="7599547" y="3280455"/>
                  <a:pt x="7593133" y="3285878"/>
                </a:cubicBezTo>
                <a:lnTo>
                  <a:pt x="7589437" y="3281505"/>
                </a:lnTo>
                <a:lnTo>
                  <a:pt x="7591101" y="3283459"/>
                </a:lnTo>
                <a:cubicBezTo>
                  <a:pt x="7597451" y="3278030"/>
                  <a:pt x="7603865" y="3272613"/>
                  <a:pt x="7610278" y="3267197"/>
                </a:cubicBezTo>
                <a:lnTo>
                  <a:pt x="7606214" y="3262344"/>
                </a:lnTo>
                <a:lnTo>
                  <a:pt x="7586985" y="3278604"/>
                </a:lnTo>
                <a:lnTo>
                  <a:pt x="7584942" y="3276188"/>
                </a:lnTo>
                <a:cubicBezTo>
                  <a:pt x="7591356" y="3270759"/>
                  <a:pt x="7597706" y="3265335"/>
                  <a:pt x="7604182" y="3259919"/>
                </a:cubicBezTo>
                <a:close/>
                <a:moveTo>
                  <a:pt x="2036350" y="3259666"/>
                </a:moveTo>
                <a:cubicBezTo>
                  <a:pt x="2042783" y="3265101"/>
                  <a:pt x="2049215" y="3270536"/>
                  <a:pt x="2055635" y="3275979"/>
                </a:cubicBezTo>
                <a:lnTo>
                  <a:pt x="2047424" y="3285669"/>
                </a:lnTo>
                <a:cubicBezTo>
                  <a:pt x="2041011" y="3280232"/>
                  <a:pt x="2034585" y="3274797"/>
                  <a:pt x="2028159" y="3269375"/>
                </a:cubicBezTo>
                <a:close/>
                <a:moveTo>
                  <a:pt x="7625465" y="3246106"/>
                </a:moveTo>
                <a:lnTo>
                  <a:pt x="7629546" y="3250949"/>
                </a:lnTo>
                <a:lnTo>
                  <a:pt x="7629519" y="3250971"/>
                </a:lnTo>
                <a:lnTo>
                  <a:pt x="7625455" y="3246114"/>
                </a:lnTo>
                <a:close/>
                <a:moveTo>
                  <a:pt x="7645160" y="3230402"/>
                </a:moveTo>
                <a:lnTo>
                  <a:pt x="7650855" y="3237217"/>
                </a:lnTo>
                <a:cubicBezTo>
                  <a:pt x="7644442" y="3242608"/>
                  <a:pt x="7638028" y="3248000"/>
                  <a:pt x="7631614" y="3253403"/>
                </a:cubicBezTo>
                <a:lnTo>
                  <a:pt x="7629546" y="3250949"/>
                </a:lnTo>
                <a:lnTo>
                  <a:pt x="7648823" y="3234786"/>
                </a:lnTo>
                <a:close/>
                <a:moveTo>
                  <a:pt x="7644759" y="3229921"/>
                </a:moveTo>
                <a:lnTo>
                  <a:pt x="7645160" y="3230402"/>
                </a:lnTo>
                <a:lnTo>
                  <a:pt x="7644759" y="3229922"/>
                </a:lnTo>
                <a:close/>
                <a:moveTo>
                  <a:pt x="1995672" y="3229599"/>
                </a:moveTo>
                <a:lnTo>
                  <a:pt x="1991595" y="3234462"/>
                </a:lnTo>
                <a:cubicBezTo>
                  <a:pt x="1998041" y="3239867"/>
                  <a:pt x="2004479" y="3245269"/>
                  <a:pt x="2010912" y="3250686"/>
                </a:cubicBezTo>
                <a:lnTo>
                  <a:pt x="2015001" y="3245828"/>
                </a:lnTo>
                <a:cubicBezTo>
                  <a:pt x="2008563" y="3240412"/>
                  <a:pt x="2002124" y="3235002"/>
                  <a:pt x="1995672" y="3229599"/>
                </a:cubicBezTo>
                <a:close/>
                <a:moveTo>
                  <a:pt x="7642727" y="3227489"/>
                </a:moveTo>
                <a:lnTo>
                  <a:pt x="7644759" y="3229922"/>
                </a:lnTo>
                <a:lnTo>
                  <a:pt x="7625465" y="3246106"/>
                </a:lnTo>
                <a:lnTo>
                  <a:pt x="7623423" y="3243683"/>
                </a:lnTo>
                <a:cubicBezTo>
                  <a:pt x="7629836" y="3238278"/>
                  <a:pt x="7636250" y="3232881"/>
                  <a:pt x="7642727" y="3227489"/>
                </a:cubicBezTo>
                <a:close/>
                <a:moveTo>
                  <a:pt x="1997711" y="3227159"/>
                </a:moveTo>
                <a:cubicBezTo>
                  <a:pt x="2004162" y="3232569"/>
                  <a:pt x="2010607" y="3237980"/>
                  <a:pt x="2017047" y="3243396"/>
                </a:cubicBezTo>
                <a:lnTo>
                  <a:pt x="2008874" y="3253118"/>
                </a:lnTo>
                <a:cubicBezTo>
                  <a:pt x="2002435" y="3247702"/>
                  <a:pt x="1995996" y="3242299"/>
                  <a:pt x="1989557" y="3236894"/>
                </a:cubicBezTo>
                <a:close/>
                <a:moveTo>
                  <a:pt x="1973118" y="3217218"/>
                </a:moveTo>
                <a:lnTo>
                  <a:pt x="1972240" y="3218269"/>
                </a:lnTo>
                <a:lnTo>
                  <a:pt x="1972240" y="3218269"/>
                </a:lnTo>
                <a:close/>
                <a:moveTo>
                  <a:pt x="7664064" y="3213754"/>
                </a:moveTo>
                <a:lnTo>
                  <a:pt x="7668129" y="3218630"/>
                </a:lnTo>
                <a:lnTo>
                  <a:pt x="7668127" y="3218632"/>
                </a:lnTo>
                <a:lnTo>
                  <a:pt x="7664063" y="3213754"/>
                </a:lnTo>
                <a:close/>
                <a:moveTo>
                  <a:pt x="7686776" y="3201646"/>
                </a:moveTo>
                <a:lnTo>
                  <a:pt x="7689526" y="3204947"/>
                </a:lnTo>
                <a:cubicBezTo>
                  <a:pt x="7683049" y="3210313"/>
                  <a:pt x="7676572" y="3215692"/>
                  <a:pt x="7670159" y="3221063"/>
                </a:cubicBezTo>
                <a:lnTo>
                  <a:pt x="7668129" y="3218630"/>
                </a:lnTo>
                <a:lnTo>
                  <a:pt x="7687494" y="3202508"/>
                </a:lnTo>
                <a:close/>
                <a:moveTo>
                  <a:pt x="1954508" y="3200126"/>
                </a:moveTo>
                <a:lnTo>
                  <a:pt x="1952860" y="3202108"/>
                </a:lnTo>
                <a:lnTo>
                  <a:pt x="1972240" y="3218269"/>
                </a:lnTo>
                <a:lnTo>
                  <a:pt x="1970208" y="3220702"/>
                </a:lnTo>
                <a:cubicBezTo>
                  <a:pt x="1963750" y="3215316"/>
                  <a:pt x="1957292" y="3209925"/>
                  <a:pt x="1950829" y="3204547"/>
                </a:cubicBezTo>
                <a:close/>
                <a:moveTo>
                  <a:pt x="7683431" y="3197625"/>
                </a:moveTo>
                <a:lnTo>
                  <a:pt x="7686776" y="3201646"/>
                </a:lnTo>
                <a:lnTo>
                  <a:pt x="7683429" y="3197627"/>
                </a:lnTo>
                <a:close/>
                <a:moveTo>
                  <a:pt x="1956918" y="3197225"/>
                </a:moveTo>
                <a:lnTo>
                  <a:pt x="1956920" y="3197227"/>
                </a:lnTo>
                <a:lnTo>
                  <a:pt x="1954508" y="3200126"/>
                </a:lnTo>
                <a:close/>
                <a:moveTo>
                  <a:pt x="7681398" y="3195187"/>
                </a:moveTo>
                <a:lnTo>
                  <a:pt x="7683429" y="3197627"/>
                </a:lnTo>
                <a:lnTo>
                  <a:pt x="7664064" y="3213754"/>
                </a:lnTo>
                <a:lnTo>
                  <a:pt x="7662031" y="3211316"/>
                </a:lnTo>
                <a:cubicBezTo>
                  <a:pt x="7668444" y="3205937"/>
                  <a:pt x="7674921" y="3200559"/>
                  <a:pt x="7681398" y="3195187"/>
                </a:cubicBezTo>
                <a:close/>
                <a:moveTo>
                  <a:pt x="1958950" y="3194787"/>
                </a:moveTo>
                <a:cubicBezTo>
                  <a:pt x="1965420" y="3200171"/>
                  <a:pt x="1971885" y="3205563"/>
                  <a:pt x="1978349" y="3210955"/>
                </a:cubicBezTo>
                <a:lnTo>
                  <a:pt x="1973118" y="3217218"/>
                </a:lnTo>
                <a:lnTo>
                  <a:pt x="1976311" y="3213393"/>
                </a:lnTo>
                <a:lnTo>
                  <a:pt x="1956920" y="3197227"/>
                </a:lnTo>
                <a:close/>
                <a:moveTo>
                  <a:pt x="7704746" y="3183916"/>
                </a:moveTo>
                <a:lnTo>
                  <a:pt x="7706808" y="3186416"/>
                </a:lnTo>
                <a:lnTo>
                  <a:pt x="7706798" y="3186424"/>
                </a:lnTo>
                <a:close/>
                <a:moveTo>
                  <a:pt x="1937506" y="3181096"/>
                </a:moveTo>
                <a:lnTo>
                  <a:pt x="1937506" y="3181096"/>
                </a:lnTo>
                <a:lnTo>
                  <a:pt x="1935543" y="3183462"/>
                </a:lnTo>
                <a:close/>
                <a:moveTo>
                  <a:pt x="1914015" y="3169898"/>
                </a:moveTo>
                <a:lnTo>
                  <a:pt x="1933449" y="3185986"/>
                </a:lnTo>
                <a:lnTo>
                  <a:pt x="1935543" y="3183462"/>
                </a:lnTo>
                <a:lnTo>
                  <a:pt x="1931424" y="3188430"/>
                </a:lnTo>
                <a:cubicBezTo>
                  <a:pt x="1924953" y="3183065"/>
                  <a:pt x="1918476" y="3177699"/>
                  <a:pt x="1911992" y="3172346"/>
                </a:cubicBezTo>
                <a:close/>
                <a:moveTo>
                  <a:pt x="7725606" y="3169620"/>
                </a:moveTo>
                <a:lnTo>
                  <a:pt x="7728261" y="3172816"/>
                </a:lnTo>
                <a:cubicBezTo>
                  <a:pt x="7721784" y="3178162"/>
                  <a:pt x="7715307" y="3183509"/>
                  <a:pt x="7708831" y="3188869"/>
                </a:cubicBezTo>
                <a:lnTo>
                  <a:pt x="7706808" y="3186416"/>
                </a:lnTo>
                <a:lnTo>
                  <a:pt x="7726230" y="3170371"/>
                </a:lnTo>
                <a:close/>
                <a:moveTo>
                  <a:pt x="7722165" y="3165475"/>
                </a:moveTo>
                <a:lnTo>
                  <a:pt x="7725606" y="3169620"/>
                </a:lnTo>
                <a:lnTo>
                  <a:pt x="7722164" y="3165476"/>
                </a:lnTo>
                <a:close/>
                <a:moveTo>
                  <a:pt x="1918056" y="3164999"/>
                </a:moveTo>
                <a:lnTo>
                  <a:pt x="1918060" y="3165002"/>
                </a:lnTo>
                <a:lnTo>
                  <a:pt x="1914015" y="3169898"/>
                </a:lnTo>
                <a:lnTo>
                  <a:pt x="1914011" y="3169895"/>
                </a:lnTo>
                <a:close/>
                <a:moveTo>
                  <a:pt x="7720133" y="3163030"/>
                </a:moveTo>
                <a:lnTo>
                  <a:pt x="7722164" y="3165476"/>
                </a:lnTo>
                <a:lnTo>
                  <a:pt x="7702798" y="3181534"/>
                </a:lnTo>
                <a:lnTo>
                  <a:pt x="7704746" y="3183916"/>
                </a:lnTo>
                <a:lnTo>
                  <a:pt x="7700766" y="3179089"/>
                </a:lnTo>
                <a:cubicBezTo>
                  <a:pt x="7707180" y="3173730"/>
                  <a:pt x="7713657" y="3168377"/>
                  <a:pt x="7720133" y="3163030"/>
                </a:cubicBezTo>
                <a:close/>
                <a:moveTo>
                  <a:pt x="1920083" y="3162554"/>
                </a:moveTo>
                <a:cubicBezTo>
                  <a:pt x="1926571" y="3167913"/>
                  <a:pt x="1933055" y="3173279"/>
                  <a:pt x="1939532" y="3178651"/>
                </a:cubicBezTo>
                <a:lnTo>
                  <a:pt x="1937506" y="3181096"/>
                </a:lnTo>
                <a:lnTo>
                  <a:pt x="1918060" y="3165002"/>
                </a:lnTo>
                <a:close/>
                <a:moveTo>
                  <a:pt x="1895919" y="3152176"/>
                </a:moveTo>
                <a:lnTo>
                  <a:pt x="1894548" y="3153842"/>
                </a:lnTo>
                <a:lnTo>
                  <a:pt x="1894548" y="3153842"/>
                </a:lnTo>
                <a:close/>
                <a:moveTo>
                  <a:pt x="7761027" y="3133458"/>
                </a:moveTo>
                <a:cubicBezTo>
                  <a:pt x="7754550" y="3138786"/>
                  <a:pt x="7748073" y="3144114"/>
                  <a:pt x="7741596" y="3149448"/>
                </a:cubicBezTo>
                <a:lnTo>
                  <a:pt x="7745660" y="3154350"/>
                </a:lnTo>
                <a:cubicBezTo>
                  <a:pt x="7752137" y="3149016"/>
                  <a:pt x="7758614" y="3143688"/>
                  <a:pt x="7765092" y="3138367"/>
                </a:cubicBezTo>
                <a:close/>
                <a:moveTo>
                  <a:pt x="7759059" y="3131007"/>
                </a:moveTo>
                <a:lnTo>
                  <a:pt x="7767123" y="3140824"/>
                </a:lnTo>
                <a:cubicBezTo>
                  <a:pt x="7760582" y="3146146"/>
                  <a:pt x="7754106" y="3151473"/>
                  <a:pt x="7747629" y="3156801"/>
                </a:cubicBezTo>
                <a:lnTo>
                  <a:pt x="7739564" y="3146997"/>
                </a:lnTo>
                <a:cubicBezTo>
                  <a:pt x="7746042" y="3141663"/>
                  <a:pt x="7752581" y="3136328"/>
                  <a:pt x="7759059" y="3131007"/>
                </a:cubicBezTo>
                <a:close/>
                <a:moveTo>
                  <a:pt x="1881092" y="3130455"/>
                </a:moveTo>
                <a:cubicBezTo>
                  <a:pt x="1887602" y="3135795"/>
                  <a:pt x="1894104" y="3141136"/>
                  <a:pt x="1900601" y="3146489"/>
                </a:cubicBezTo>
                <a:lnTo>
                  <a:pt x="1895919" y="3152176"/>
                </a:lnTo>
                <a:lnTo>
                  <a:pt x="1898580" y="3148940"/>
                </a:lnTo>
                <a:cubicBezTo>
                  <a:pt x="1892084" y="3143593"/>
                  <a:pt x="1885583" y="3138246"/>
                  <a:pt x="1879080" y="3132912"/>
                </a:cubicBezTo>
                <a:lnTo>
                  <a:pt x="1875054" y="3137821"/>
                </a:lnTo>
                <a:lnTo>
                  <a:pt x="1894548" y="3153842"/>
                </a:lnTo>
                <a:lnTo>
                  <a:pt x="1892529" y="3156293"/>
                </a:lnTo>
                <a:cubicBezTo>
                  <a:pt x="1886033" y="3150946"/>
                  <a:pt x="1879538" y="3145606"/>
                  <a:pt x="1873034" y="3140278"/>
                </a:cubicBezTo>
                <a:close/>
                <a:moveTo>
                  <a:pt x="7780540" y="3117486"/>
                </a:moveTo>
                <a:lnTo>
                  <a:pt x="7782570" y="3119981"/>
                </a:lnTo>
                <a:lnTo>
                  <a:pt x="7780522" y="3117501"/>
                </a:lnTo>
                <a:close/>
                <a:moveTo>
                  <a:pt x="1859547" y="3116917"/>
                </a:moveTo>
                <a:lnTo>
                  <a:pt x="1859547" y="3116917"/>
                </a:lnTo>
                <a:lnTo>
                  <a:pt x="1858296" y="3118449"/>
                </a:lnTo>
                <a:close/>
                <a:moveTo>
                  <a:pt x="7804063" y="3106524"/>
                </a:moveTo>
                <a:lnTo>
                  <a:pt x="7806049" y="3108967"/>
                </a:lnTo>
                <a:cubicBezTo>
                  <a:pt x="7799572" y="3114269"/>
                  <a:pt x="7793094" y="3119571"/>
                  <a:pt x="7786555" y="3124880"/>
                </a:cubicBezTo>
                <a:lnTo>
                  <a:pt x="7782570" y="3119981"/>
                </a:lnTo>
                <a:lnTo>
                  <a:pt x="7784586" y="3122422"/>
                </a:lnTo>
                <a:close/>
                <a:moveTo>
                  <a:pt x="7800080" y="3101581"/>
                </a:moveTo>
                <a:lnTo>
                  <a:pt x="7804081" y="3106509"/>
                </a:lnTo>
                <a:lnTo>
                  <a:pt x="7804063" y="3106524"/>
                </a:lnTo>
                <a:lnTo>
                  <a:pt x="7800059" y="3101598"/>
                </a:lnTo>
                <a:close/>
                <a:moveTo>
                  <a:pt x="7798048" y="3099124"/>
                </a:moveTo>
                <a:lnTo>
                  <a:pt x="7800059" y="3101598"/>
                </a:lnTo>
                <a:lnTo>
                  <a:pt x="7780540" y="3117486"/>
                </a:lnTo>
                <a:lnTo>
                  <a:pt x="7778553" y="3115043"/>
                </a:lnTo>
                <a:cubicBezTo>
                  <a:pt x="7785031" y="3109729"/>
                  <a:pt x="7791507" y="3104426"/>
                  <a:pt x="7798048" y="3099124"/>
                </a:cubicBezTo>
                <a:close/>
                <a:moveTo>
                  <a:pt x="1841989" y="3098502"/>
                </a:moveTo>
                <a:cubicBezTo>
                  <a:pt x="1848517" y="3103816"/>
                  <a:pt x="1855038" y="3109138"/>
                  <a:pt x="1861554" y="3114459"/>
                </a:cubicBezTo>
                <a:lnTo>
                  <a:pt x="1859547" y="3116917"/>
                </a:lnTo>
                <a:lnTo>
                  <a:pt x="1839989" y="3100965"/>
                </a:lnTo>
                <a:lnTo>
                  <a:pt x="1835976" y="3105887"/>
                </a:lnTo>
                <a:cubicBezTo>
                  <a:pt x="1842497" y="3111195"/>
                  <a:pt x="1849012" y="3116516"/>
                  <a:pt x="1855527" y="3121838"/>
                </a:cubicBezTo>
                <a:lnTo>
                  <a:pt x="1858296" y="3118449"/>
                </a:lnTo>
                <a:lnTo>
                  <a:pt x="1853522" y="3124295"/>
                </a:lnTo>
                <a:cubicBezTo>
                  <a:pt x="1847006" y="3118974"/>
                  <a:pt x="1840491" y="3113659"/>
                  <a:pt x="1833969" y="3108351"/>
                </a:cubicBezTo>
                <a:close/>
                <a:moveTo>
                  <a:pt x="7819593" y="3085679"/>
                </a:moveTo>
                <a:lnTo>
                  <a:pt x="7823594" y="3090613"/>
                </a:lnTo>
                <a:lnTo>
                  <a:pt x="7823575" y="3090628"/>
                </a:lnTo>
                <a:lnTo>
                  <a:pt x="7819574" y="3085694"/>
                </a:lnTo>
                <a:close/>
                <a:moveTo>
                  <a:pt x="7840972" y="3072074"/>
                </a:moveTo>
                <a:lnTo>
                  <a:pt x="7845165" y="3077248"/>
                </a:lnTo>
                <a:cubicBezTo>
                  <a:pt x="7838624" y="3082525"/>
                  <a:pt x="7832084" y="3087808"/>
                  <a:pt x="7825606" y="3093092"/>
                </a:cubicBezTo>
                <a:lnTo>
                  <a:pt x="7823594" y="3090613"/>
                </a:lnTo>
                <a:lnTo>
                  <a:pt x="7843132" y="3074785"/>
                </a:lnTo>
                <a:close/>
                <a:moveTo>
                  <a:pt x="7839196" y="3069844"/>
                </a:moveTo>
                <a:lnTo>
                  <a:pt x="7840972" y="3072074"/>
                </a:lnTo>
                <a:lnTo>
                  <a:pt x="7839177" y="3069859"/>
                </a:lnTo>
                <a:close/>
                <a:moveTo>
                  <a:pt x="1800778" y="3069152"/>
                </a:moveTo>
                <a:lnTo>
                  <a:pt x="1796784" y="3074092"/>
                </a:lnTo>
                <a:cubicBezTo>
                  <a:pt x="1803324" y="3079375"/>
                  <a:pt x="1809865" y="3084672"/>
                  <a:pt x="1816392" y="3089974"/>
                </a:cubicBezTo>
                <a:lnTo>
                  <a:pt x="1820394" y="3085040"/>
                </a:lnTo>
                <a:cubicBezTo>
                  <a:pt x="1813860" y="3079737"/>
                  <a:pt x="1807318" y="3074442"/>
                  <a:pt x="1800778" y="3069152"/>
                </a:cubicBezTo>
                <a:close/>
                <a:moveTo>
                  <a:pt x="7837164" y="3067374"/>
                </a:moveTo>
                <a:lnTo>
                  <a:pt x="7839177" y="3069859"/>
                </a:lnTo>
                <a:lnTo>
                  <a:pt x="7819593" y="3085679"/>
                </a:lnTo>
                <a:lnTo>
                  <a:pt x="7817606" y="3083230"/>
                </a:lnTo>
                <a:cubicBezTo>
                  <a:pt x="7824146" y="3077941"/>
                  <a:pt x="7830623" y="3072657"/>
                  <a:pt x="7837164" y="3067374"/>
                </a:cubicBezTo>
                <a:close/>
                <a:moveTo>
                  <a:pt x="1802772" y="3066682"/>
                </a:moveTo>
                <a:cubicBezTo>
                  <a:pt x="1809319" y="3071972"/>
                  <a:pt x="1815859" y="3077274"/>
                  <a:pt x="1822400" y="3082576"/>
                </a:cubicBezTo>
                <a:lnTo>
                  <a:pt x="1814392" y="3092437"/>
                </a:lnTo>
                <a:cubicBezTo>
                  <a:pt x="1807864" y="3087135"/>
                  <a:pt x="1801330" y="3081846"/>
                  <a:pt x="1794790" y="3076556"/>
                </a:cubicBezTo>
                <a:close/>
                <a:moveTo>
                  <a:pt x="7858763" y="3054020"/>
                </a:moveTo>
                <a:lnTo>
                  <a:pt x="7860676" y="3056403"/>
                </a:lnTo>
                <a:lnTo>
                  <a:pt x="7858754" y="3054026"/>
                </a:lnTo>
                <a:close/>
                <a:moveTo>
                  <a:pt x="1781131" y="3053303"/>
                </a:moveTo>
                <a:lnTo>
                  <a:pt x="1781131" y="3053303"/>
                </a:lnTo>
                <a:lnTo>
                  <a:pt x="1779312" y="3055560"/>
                </a:lnTo>
                <a:close/>
                <a:moveTo>
                  <a:pt x="7882365" y="3043209"/>
                </a:moveTo>
                <a:lnTo>
                  <a:pt x="7884344" y="3045676"/>
                </a:lnTo>
                <a:cubicBezTo>
                  <a:pt x="7877804" y="3050927"/>
                  <a:pt x="7871263" y="3056185"/>
                  <a:pt x="7864723" y="3061443"/>
                </a:cubicBezTo>
                <a:lnTo>
                  <a:pt x="7860676" y="3056403"/>
                </a:lnTo>
                <a:lnTo>
                  <a:pt x="7862755" y="3058973"/>
                </a:lnTo>
                <a:close/>
                <a:moveTo>
                  <a:pt x="7880379" y="3040731"/>
                </a:moveTo>
                <a:lnTo>
                  <a:pt x="7882376" y="3043200"/>
                </a:lnTo>
                <a:lnTo>
                  <a:pt x="7882365" y="3043209"/>
                </a:lnTo>
                <a:close/>
                <a:moveTo>
                  <a:pt x="1759433" y="3040013"/>
                </a:moveTo>
                <a:lnTo>
                  <a:pt x="1757490" y="3042438"/>
                </a:lnTo>
                <a:cubicBezTo>
                  <a:pt x="1764044" y="3047702"/>
                  <a:pt x="1770596" y="3052972"/>
                  <a:pt x="1777149" y="3058243"/>
                </a:cubicBezTo>
                <a:lnTo>
                  <a:pt x="1779312" y="3055560"/>
                </a:lnTo>
                <a:lnTo>
                  <a:pt x="1775156" y="3060719"/>
                </a:lnTo>
                <a:cubicBezTo>
                  <a:pt x="1768609" y="3055442"/>
                  <a:pt x="1762055" y="3050178"/>
                  <a:pt x="1755503" y="3044914"/>
                </a:cubicBezTo>
                <a:close/>
                <a:moveTo>
                  <a:pt x="1761458" y="3037484"/>
                </a:moveTo>
                <a:lnTo>
                  <a:pt x="1761460" y="3037486"/>
                </a:lnTo>
                <a:lnTo>
                  <a:pt x="1759433" y="3040013"/>
                </a:lnTo>
                <a:close/>
                <a:moveTo>
                  <a:pt x="7876406" y="3035776"/>
                </a:moveTo>
                <a:lnTo>
                  <a:pt x="7880379" y="3040731"/>
                </a:lnTo>
                <a:lnTo>
                  <a:pt x="7878375" y="3038253"/>
                </a:lnTo>
                <a:lnTo>
                  <a:pt x="7858763" y="3054020"/>
                </a:lnTo>
                <a:lnTo>
                  <a:pt x="7856785" y="3051556"/>
                </a:lnTo>
                <a:cubicBezTo>
                  <a:pt x="7863326" y="3046292"/>
                  <a:pt x="7869867" y="3041028"/>
                  <a:pt x="7876406" y="3035776"/>
                </a:cubicBezTo>
                <a:close/>
                <a:moveTo>
                  <a:pt x="1763446" y="3035008"/>
                </a:moveTo>
                <a:cubicBezTo>
                  <a:pt x="1770012" y="3040279"/>
                  <a:pt x="1776572" y="3045549"/>
                  <a:pt x="1783126" y="3050826"/>
                </a:cubicBezTo>
                <a:lnTo>
                  <a:pt x="1781131" y="3053303"/>
                </a:lnTo>
                <a:lnTo>
                  <a:pt x="1761460" y="3037486"/>
                </a:lnTo>
                <a:close/>
                <a:moveTo>
                  <a:pt x="1719686" y="3008887"/>
                </a:moveTo>
                <a:lnTo>
                  <a:pt x="1718064" y="3010924"/>
                </a:lnTo>
                <a:lnTo>
                  <a:pt x="1718063" y="3010923"/>
                </a:lnTo>
                <a:close/>
                <a:moveTo>
                  <a:pt x="7917745" y="3006789"/>
                </a:moveTo>
                <a:cubicBezTo>
                  <a:pt x="7911142" y="3012021"/>
                  <a:pt x="7904601" y="3017254"/>
                  <a:pt x="7898060" y="3022499"/>
                </a:cubicBezTo>
                <a:lnTo>
                  <a:pt x="7901997" y="3027458"/>
                </a:lnTo>
                <a:cubicBezTo>
                  <a:pt x="7908538" y="3022219"/>
                  <a:pt x="7915142" y="3016980"/>
                  <a:pt x="7921682" y="3011754"/>
                </a:cubicBezTo>
                <a:close/>
                <a:moveTo>
                  <a:pt x="7915777" y="3004306"/>
                </a:moveTo>
                <a:lnTo>
                  <a:pt x="7923651" y="3014237"/>
                </a:lnTo>
                <a:cubicBezTo>
                  <a:pt x="7917110" y="3019463"/>
                  <a:pt x="7910569" y="3024696"/>
                  <a:pt x="7903966" y="3029941"/>
                </a:cubicBezTo>
                <a:lnTo>
                  <a:pt x="7896092" y="3020022"/>
                </a:lnTo>
                <a:cubicBezTo>
                  <a:pt x="7902632" y="3014777"/>
                  <a:pt x="7909173" y="3009538"/>
                  <a:pt x="7915777" y="3004306"/>
                </a:cubicBezTo>
                <a:close/>
                <a:moveTo>
                  <a:pt x="1724000" y="3003468"/>
                </a:moveTo>
                <a:cubicBezTo>
                  <a:pt x="1730585" y="3008713"/>
                  <a:pt x="1737163" y="3013964"/>
                  <a:pt x="1743736" y="3019222"/>
                </a:cubicBezTo>
                <a:lnTo>
                  <a:pt x="1735804" y="3029141"/>
                </a:lnTo>
                <a:cubicBezTo>
                  <a:pt x="1729239" y="3023889"/>
                  <a:pt x="1722667" y="3018644"/>
                  <a:pt x="1716088" y="3013405"/>
                </a:cubicBezTo>
                <a:lnTo>
                  <a:pt x="1718064" y="3010924"/>
                </a:lnTo>
                <a:lnTo>
                  <a:pt x="1737786" y="3026658"/>
                </a:lnTo>
                <a:lnTo>
                  <a:pt x="1741754" y="3021698"/>
                </a:lnTo>
                <a:cubicBezTo>
                  <a:pt x="1735183" y="3016447"/>
                  <a:pt x="1728604" y="3011195"/>
                  <a:pt x="1722026" y="3005950"/>
                </a:cubicBezTo>
                <a:lnTo>
                  <a:pt x="1719686" y="3008887"/>
                </a:lnTo>
                <a:close/>
                <a:moveTo>
                  <a:pt x="7937431" y="2991117"/>
                </a:moveTo>
                <a:lnTo>
                  <a:pt x="7938585" y="2992575"/>
                </a:lnTo>
                <a:lnTo>
                  <a:pt x="7937431" y="2991117"/>
                </a:lnTo>
                <a:close/>
                <a:moveTo>
                  <a:pt x="1702270" y="2990247"/>
                </a:moveTo>
                <a:lnTo>
                  <a:pt x="1702270" y="2990247"/>
                </a:lnTo>
                <a:lnTo>
                  <a:pt x="1700913" y="2991956"/>
                </a:lnTo>
                <a:close/>
                <a:moveTo>
                  <a:pt x="1678543" y="2979550"/>
                </a:moveTo>
                <a:lnTo>
                  <a:pt x="1698321" y="2995219"/>
                </a:lnTo>
                <a:lnTo>
                  <a:pt x="1700913" y="2991956"/>
                </a:lnTo>
                <a:lnTo>
                  <a:pt x="1696346" y="2997708"/>
                </a:lnTo>
                <a:cubicBezTo>
                  <a:pt x="1689762" y="2992476"/>
                  <a:pt x="1683163" y="2987256"/>
                  <a:pt x="1676572" y="2982043"/>
                </a:cubicBezTo>
                <a:close/>
                <a:moveTo>
                  <a:pt x="1682477" y="2974569"/>
                </a:moveTo>
                <a:lnTo>
                  <a:pt x="1682479" y="2974570"/>
                </a:lnTo>
                <a:lnTo>
                  <a:pt x="1678543" y="2979550"/>
                </a:lnTo>
                <a:lnTo>
                  <a:pt x="1678540" y="2979547"/>
                </a:lnTo>
                <a:close/>
                <a:moveTo>
                  <a:pt x="7955210" y="2972981"/>
                </a:moveTo>
                <a:lnTo>
                  <a:pt x="7963084" y="2982944"/>
                </a:lnTo>
                <a:cubicBezTo>
                  <a:pt x="7956481" y="2988151"/>
                  <a:pt x="7949940" y="2993358"/>
                  <a:pt x="7943336" y="2998578"/>
                </a:cubicBezTo>
                <a:lnTo>
                  <a:pt x="7938585" y="2992575"/>
                </a:lnTo>
                <a:lnTo>
                  <a:pt x="7941368" y="2996089"/>
                </a:lnTo>
                <a:cubicBezTo>
                  <a:pt x="7947971" y="2990869"/>
                  <a:pt x="7954512" y="2985662"/>
                  <a:pt x="7961116" y="2980455"/>
                </a:cubicBezTo>
                <a:lnTo>
                  <a:pt x="7957179" y="2975477"/>
                </a:lnTo>
                <a:lnTo>
                  <a:pt x="7937431" y="2991117"/>
                </a:lnTo>
                <a:lnTo>
                  <a:pt x="7935462" y="2988628"/>
                </a:lnTo>
                <a:cubicBezTo>
                  <a:pt x="7942066" y="2983408"/>
                  <a:pt x="7948607" y="2978195"/>
                  <a:pt x="7955210" y="2972981"/>
                </a:cubicBezTo>
                <a:close/>
                <a:moveTo>
                  <a:pt x="1684446" y="2972080"/>
                </a:moveTo>
                <a:cubicBezTo>
                  <a:pt x="1691050" y="2977299"/>
                  <a:pt x="1697647" y="2982525"/>
                  <a:pt x="1704245" y="2987758"/>
                </a:cubicBezTo>
                <a:lnTo>
                  <a:pt x="1702270" y="2990247"/>
                </a:lnTo>
                <a:lnTo>
                  <a:pt x="1682479" y="2974570"/>
                </a:lnTo>
                <a:close/>
                <a:moveTo>
                  <a:pt x="7976928" y="2959868"/>
                </a:moveTo>
                <a:lnTo>
                  <a:pt x="7978437" y="2961780"/>
                </a:lnTo>
                <a:lnTo>
                  <a:pt x="7976927" y="2959868"/>
                </a:lnTo>
                <a:close/>
                <a:moveTo>
                  <a:pt x="1662657" y="2958928"/>
                </a:moveTo>
                <a:lnTo>
                  <a:pt x="1662659" y="2958929"/>
                </a:lnTo>
                <a:lnTo>
                  <a:pt x="1660694" y="2961421"/>
                </a:lnTo>
                <a:close/>
                <a:moveTo>
                  <a:pt x="1640927" y="2945736"/>
                </a:moveTo>
                <a:lnTo>
                  <a:pt x="1638897" y="2948324"/>
                </a:lnTo>
                <a:cubicBezTo>
                  <a:pt x="1645514" y="2953512"/>
                  <a:pt x="1652119" y="2958713"/>
                  <a:pt x="1658728" y="2963913"/>
                </a:cubicBezTo>
                <a:lnTo>
                  <a:pt x="1660694" y="2961421"/>
                </a:lnTo>
                <a:lnTo>
                  <a:pt x="1656766" y="2966409"/>
                </a:lnTo>
                <a:cubicBezTo>
                  <a:pt x="1650156" y="2961208"/>
                  <a:pt x="1643552" y="2956008"/>
                  <a:pt x="1636935" y="2950820"/>
                </a:cubicBezTo>
                <a:close/>
                <a:moveTo>
                  <a:pt x="1642815" y="2943327"/>
                </a:moveTo>
                <a:lnTo>
                  <a:pt x="1642817" y="2943329"/>
                </a:lnTo>
                <a:lnTo>
                  <a:pt x="1640927" y="2945736"/>
                </a:lnTo>
                <a:close/>
                <a:moveTo>
                  <a:pt x="7994771" y="2941803"/>
                </a:moveTo>
                <a:lnTo>
                  <a:pt x="8002644" y="2951791"/>
                </a:lnTo>
                <a:cubicBezTo>
                  <a:pt x="7996041" y="2956973"/>
                  <a:pt x="7989437" y="2962155"/>
                  <a:pt x="7982832" y="2967349"/>
                </a:cubicBezTo>
                <a:lnTo>
                  <a:pt x="7978437" y="2961780"/>
                </a:lnTo>
                <a:lnTo>
                  <a:pt x="7980864" y="2964853"/>
                </a:lnTo>
                <a:cubicBezTo>
                  <a:pt x="7987469" y="2959659"/>
                  <a:pt x="7994072" y="2954477"/>
                  <a:pt x="8000676" y="2949296"/>
                </a:cubicBezTo>
                <a:lnTo>
                  <a:pt x="7996739" y="2944305"/>
                </a:lnTo>
                <a:lnTo>
                  <a:pt x="7976928" y="2959868"/>
                </a:lnTo>
                <a:lnTo>
                  <a:pt x="7974959" y="2957373"/>
                </a:lnTo>
                <a:cubicBezTo>
                  <a:pt x="7981563" y="2952178"/>
                  <a:pt x="7988167" y="2946984"/>
                  <a:pt x="7994771" y="2941803"/>
                </a:cubicBezTo>
                <a:close/>
                <a:moveTo>
                  <a:pt x="1644777" y="2940831"/>
                </a:moveTo>
                <a:cubicBezTo>
                  <a:pt x="1651394" y="2946025"/>
                  <a:pt x="1658011" y="2951226"/>
                  <a:pt x="1664621" y="2956433"/>
                </a:cubicBezTo>
                <a:lnTo>
                  <a:pt x="1662657" y="2958928"/>
                </a:lnTo>
                <a:lnTo>
                  <a:pt x="1642817" y="2943329"/>
                </a:lnTo>
                <a:close/>
                <a:moveTo>
                  <a:pt x="8016552" y="2928773"/>
                </a:moveTo>
                <a:lnTo>
                  <a:pt x="8017945" y="2930543"/>
                </a:lnTo>
                <a:lnTo>
                  <a:pt x="8016551" y="2928773"/>
                </a:lnTo>
                <a:close/>
                <a:moveTo>
                  <a:pt x="8038638" y="2916127"/>
                </a:moveTo>
                <a:lnTo>
                  <a:pt x="8042269" y="2920784"/>
                </a:lnTo>
                <a:cubicBezTo>
                  <a:pt x="8035665" y="2925941"/>
                  <a:pt x="8029061" y="2931103"/>
                  <a:pt x="8022456" y="2936272"/>
                </a:cubicBezTo>
                <a:lnTo>
                  <a:pt x="8017945" y="2930543"/>
                </a:lnTo>
                <a:lnTo>
                  <a:pt x="8020488" y="2933770"/>
                </a:lnTo>
                <a:cubicBezTo>
                  <a:pt x="8027093" y="2928601"/>
                  <a:pt x="8033696" y="2923432"/>
                  <a:pt x="8040300" y="2918276"/>
                </a:cubicBezTo>
                <a:close/>
                <a:moveTo>
                  <a:pt x="8036427" y="2913266"/>
                </a:moveTo>
                <a:lnTo>
                  <a:pt x="8038638" y="2916127"/>
                </a:lnTo>
                <a:lnTo>
                  <a:pt x="8036415" y="2913275"/>
                </a:lnTo>
                <a:close/>
                <a:moveTo>
                  <a:pt x="1603039" y="2912224"/>
                </a:moveTo>
                <a:lnTo>
                  <a:pt x="1603039" y="2912224"/>
                </a:lnTo>
                <a:lnTo>
                  <a:pt x="1599135" y="2917235"/>
                </a:lnTo>
                <a:lnTo>
                  <a:pt x="1599134" y="2917234"/>
                </a:lnTo>
                <a:close/>
                <a:moveTo>
                  <a:pt x="8034458" y="2910764"/>
                </a:moveTo>
                <a:lnTo>
                  <a:pt x="8036415" y="2913275"/>
                </a:lnTo>
                <a:lnTo>
                  <a:pt x="8016552" y="2928773"/>
                </a:lnTo>
                <a:lnTo>
                  <a:pt x="8014582" y="2926271"/>
                </a:lnTo>
                <a:cubicBezTo>
                  <a:pt x="8021250" y="2921095"/>
                  <a:pt x="8027855" y="2915926"/>
                  <a:pt x="8034458" y="2910764"/>
                </a:cubicBezTo>
                <a:close/>
                <a:moveTo>
                  <a:pt x="1604988" y="2909723"/>
                </a:moveTo>
                <a:cubicBezTo>
                  <a:pt x="1611631" y="2914892"/>
                  <a:pt x="1618266" y="2920073"/>
                  <a:pt x="1624902" y="2925261"/>
                </a:cubicBezTo>
                <a:lnTo>
                  <a:pt x="1617079" y="2935269"/>
                </a:lnTo>
                <a:cubicBezTo>
                  <a:pt x="1610450" y="2930081"/>
                  <a:pt x="1603820" y="2924905"/>
                  <a:pt x="1597184" y="2919737"/>
                </a:cubicBezTo>
                <a:lnTo>
                  <a:pt x="1599135" y="2917235"/>
                </a:lnTo>
                <a:lnTo>
                  <a:pt x="1619034" y="2932767"/>
                </a:lnTo>
                <a:lnTo>
                  <a:pt x="1622946" y="2927763"/>
                </a:lnTo>
                <a:lnTo>
                  <a:pt x="1603039" y="2912224"/>
                </a:lnTo>
                <a:close/>
                <a:moveTo>
                  <a:pt x="8058284" y="2900377"/>
                </a:moveTo>
                <a:lnTo>
                  <a:pt x="8060185" y="2902819"/>
                </a:lnTo>
                <a:lnTo>
                  <a:pt x="8060176" y="2902826"/>
                </a:lnTo>
                <a:close/>
                <a:moveTo>
                  <a:pt x="1583111" y="2896729"/>
                </a:moveTo>
                <a:lnTo>
                  <a:pt x="1583113" y="2896730"/>
                </a:lnTo>
                <a:lnTo>
                  <a:pt x="1579221" y="2901747"/>
                </a:lnTo>
                <a:lnTo>
                  <a:pt x="1579218" y="2901746"/>
                </a:lnTo>
                <a:close/>
                <a:moveTo>
                  <a:pt x="8080093" y="2887432"/>
                </a:moveTo>
                <a:lnTo>
                  <a:pt x="8082019" y="2889930"/>
                </a:lnTo>
                <a:cubicBezTo>
                  <a:pt x="8075416" y="2895054"/>
                  <a:pt x="8068748" y="2900191"/>
                  <a:pt x="8062144" y="2905335"/>
                </a:cubicBezTo>
                <a:lnTo>
                  <a:pt x="8060185" y="2902819"/>
                </a:lnTo>
                <a:close/>
                <a:moveTo>
                  <a:pt x="1559283" y="2886305"/>
                </a:moveTo>
                <a:lnTo>
                  <a:pt x="1579218" y="2901746"/>
                </a:lnTo>
                <a:lnTo>
                  <a:pt x="1577271" y="2904255"/>
                </a:lnTo>
                <a:cubicBezTo>
                  <a:pt x="1570628" y="2899105"/>
                  <a:pt x="1563986" y="2893956"/>
                  <a:pt x="1557338" y="2888818"/>
                </a:cubicBezTo>
                <a:close/>
                <a:moveTo>
                  <a:pt x="8077957" y="2884662"/>
                </a:moveTo>
                <a:lnTo>
                  <a:pt x="8080115" y="2887415"/>
                </a:lnTo>
                <a:lnTo>
                  <a:pt x="8080093" y="2887432"/>
                </a:lnTo>
                <a:close/>
                <a:moveTo>
                  <a:pt x="1563167" y="2881281"/>
                </a:moveTo>
                <a:lnTo>
                  <a:pt x="1563169" y="2881282"/>
                </a:lnTo>
                <a:lnTo>
                  <a:pt x="1559283" y="2886305"/>
                </a:lnTo>
                <a:lnTo>
                  <a:pt x="1559281" y="2886304"/>
                </a:lnTo>
                <a:close/>
                <a:moveTo>
                  <a:pt x="8074273" y="2879884"/>
                </a:moveTo>
                <a:lnTo>
                  <a:pt x="8077957" y="2884662"/>
                </a:lnTo>
                <a:lnTo>
                  <a:pt x="8076178" y="2882392"/>
                </a:lnTo>
                <a:cubicBezTo>
                  <a:pt x="8069574" y="2887523"/>
                  <a:pt x="8062907" y="2892660"/>
                  <a:pt x="8056302" y="2897810"/>
                </a:cubicBezTo>
                <a:lnTo>
                  <a:pt x="8058284" y="2900377"/>
                </a:lnTo>
                <a:lnTo>
                  <a:pt x="8054334" y="2895302"/>
                </a:lnTo>
                <a:cubicBezTo>
                  <a:pt x="8061001" y="2890152"/>
                  <a:pt x="8067606" y="2885015"/>
                  <a:pt x="8074273" y="2879884"/>
                </a:cubicBezTo>
                <a:close/>
                <a:moveTo>
                  <a:pt x="1565110" y="2878772"/>
                </a:moveTo>
                <a:cubicBezTo>
                  <a:pt x="1571759" y="2883916"/>
                  <a:pt x="1578413" y="2889066"/>
                  <a:pt x="1585055" y="2894222"/>
                </a:cubicBezTo>
                <a:lnTo>
                  <a:pt x="1583111" y="2896729"/>
                </a:lnTo>
                <a:lnTo>
                  <a:pt x="1563169" y="2881282"/>
                </a:lnTo>
                <a:close/>
                <a:moveTo>
                  <a:pt x="8096136" y="2866979"/>
                </a:moveTo>
                <a:lnTo>
                  <a:pt x="8098057" y="2869475"/>
                </a:lnTo>
                <a:lnTo>
                  <a:pt x="8096117" y="2866993"/>
                </a:lnTo>
                <a:close/>
                <a:moveTo>
                  <a:pt x="8119982" y="2856690"/>
                </a:moveTo>
                <a:lnTo>
                  <a:pt x="8121898" y="2859202"/>
                </a:lnTo>
                <a:cubicBezTo>
                  <a:pt x="8115231" y="2864307"/>
                  <a:pt x="8108626" y="2869419"/>
                  <a:pt x="8101959" y="2874544"/>
                </a:cubicBezTo>
                <a:lnTo>
                  <a:pt x="8098057" y="2869475"/>
                </a:lnTo>
                <a:lnTo>
                  <a:pt x="8100054" y="2872029"/>
                </a:lnTo>
                <a:close/>
                <a:moveTo>
                  <a:pt x="8118016" y="2854112"/>
                </a:moveTo>
                <a:lnTo>
                  <a:pt x="8119993" y="2856681"/>
                </a:lnTo>
                <a:lnTo>
                  <a:pt x="8119982" y="2856690"/>
                </a:lnTo>
                <a:close/>
                <a:moveTo>
                  <a:pt x="1521265" y="2852919"/>
                </a:moveTo>
                <a:lnTo>
                  <a:pt x="1519284" y="2855502"/>
                </a:lnTo>
                <a:lnTo>
                  <a:pt x="1519282" y="2855500"/>
                </a:lnTo>
                <a:close/>
                <a:moveTo>
                  <a:pt x="8114214" y="2849125"/>
                </a:moveTo>
                <a:lnTo>
                  <a:pt x="8118016" y="2854112"/>
                </a:lnTo>
                <a:lnTo>
                  <a:pt x="8116119" y="2851645"/>
                </a:lnTo>
                <a:lnTo>
                  <a:pt x="8096136" y="2866979"/>
                </a:lnTo>
                <a:lnTo>
                  <a:pt x="8094212" y="2864479"/>
                </a:lnTo>
                <a:cubicBezTo>
                  <a:pt x="8100880" y="2859354"/>
                  <a:pt x="8107547" y="2854236"/>
                  <a:pt x="8114214" y="2849125"/>
                </a:cubicBezTo>
                <a:close/>
                <a:moveTo>
                  <a:pt x="1525080" y="2847943"/>
                </a:moveTo>
                <a:cubicBezTo>
                  <a:pt x="1531760" y="2853068"/>
                  <a:pt x="1538434" y="2858199"/>
                  <a:pt x="1545108" y="2863336"/>
                </a:cubicBezTo>
                <a:lnTo>
                  <a:pt x="1537355" y="2873401"/>
                </a:lnTo>
                <a:cubicBezTo>
                  <a:pt x="1530693" y="2868263"/>
                  <a:pt x="1524026" y="2863139"/>
                  <a:pt x="1517352" y="2858021"/>
                </a:cubicBezTo>
                <a:lnTo>
                  <a:pt x="1519284" y="2855502"/>
                </a:lnTo>
                <a:lnTo>
                  <a:pt x="1539291" y="2870880"/>
                </a:lnTo>
                <a:lnTo>
                  <a:pt x="1543165" y="2865850"/>
                </a:lnTo>
                <a:cubicBezTo>
                  <a:pt x="1536497" y="2860713"/>
                  <a:pt x="1529823" y="2855582"/>
                  <a:pt x="1523149" y="2850465"/>
                </a:cubicBezTo>
                <a:lnTo>
                  <a:pt x="1521265" y="2852919"/>
                </a:lnTo>
                <a:close/>
                <a:moveTo>
                  <a:pt x="8138018" y="2838849"/>
                </a:moveTo>
                <a:lnTo>
                  <a:pt x="8139952" y="2841368"/>
                </a:lnTo>
                <a:lnTo>
                  <a:pt x="8139931" y="2841384"/>
                </a:lnTo>
                <a:close/>
                <a:moveTo>
                  <a:pt x="1501478" y="2837268"/>
                </a:moveTo>
                <a:lnTo>
                  <a:pt x="1499261" y="2840171"/>
                </a:lnTo>
                <a:lnTo>
                  <a:pt x="1499259" y="2840170"/>
                </a:lnTo>
                <a:close/>
                <a:moveTo>
                  <a:pt x="8159987" y="2826115"/>
                </a:moveTo>
                <a:lnTo>
                  <a:pt x="8161903" y="2828633"/>
                </a:lnTo>
                <a:cubicBezTo>
                  <a:pt x="8155235" y="2833713"/>
                  <a:pt x="8148568" y="2838806"/>
                  <a:pt x="8141900" y="2843905"/>
                </a:cubicBezTo>
                <a:lnTo>
                  <a:pt x="8139952" y="2841368"/>
                </a:lnTo>
                <a:close/>
                <a:moveTo>
                  <a:pt x="1479196" y="2824862"/>
                </a:moveTo>
                <a:lnTo>
                  <a:pt x="1499259" y="2840170"/>
                </a:lnTo>
                <a:lnTo>
                  <a:pt x="1497330" y="2842692"/>
                </a:lnTo>
                <a:cubicBezTo>
                  <a:pt x="1490650" y="2837587"/>
                  <a:pt x="1483964" y="2832481"/>
                  <a:pt x="1477271" y="2827388"/>
                </a:cubicBezTo>
                <a:close/>
                <a:moveTo>
                  <a:pt x="8158051" y="2823569"/>
                </a:moveTo>
                <a:lnTo>
                  <a:pt x="8159998" y="2826106"/>
                </a:lnTo>
                <a:lnTo>
                  <a:pt x="8159987" y="2826115"/>
                </a:lnTo>
                <a:close/>
                <a:moveTo>
                  <a:pt x="1481119" y="2822337"/>
                </a:moveTo>
                <a:lnTo>
                  <a:pt x="1479196" y="2824862"/>
                </a:lnTo>
                <a:lnTo>
                  <a:pt x="1479195" y="2824861"/>
                </a:lnTo>
                <a:close/>
                <a:moveTo>
                  <a:pt x="8154219" y="2818530"/>
                </a:moveTo>
                <a:lnTo>
                  <a:pt x="8158051" y="2823569"/>
                </a:lnTo>
                <a:lnTo>
                  <a:pt x="8156124" y="2821057"/>
                </a:lnTo>
                <a:cubicBezTo>
                  <a:pt x="8149456" y="2826144"/>
                  <a:pt x="8142789" y="2831237"/>
                  <a:pt x="8136122" y="2836336"/>
                </a:cubicBezTo>
                <a:lnTo>
                  <a:pt x="8138018" y="2838849"/>
                </a:lnTo>
                <a:lnTo>
                  <a:pt x="8134153" y="2833815"/>
                </a:lnTo>
                <a:cubicBezTo>
                  <a:pt x="8140821" y="2828709"/>
                  <a:pt x="8147552" y="2823617"/>
                  <a:pt x="8154219" y="2818530"/>
                </a:cubicBezTo>
                <a:close/>
                <a:moveTo>
                  <a:pt x="1484968" y="2817286"/>
                </a:moveTo>
                <a:cubicBezTo>
                  <a:pt x="1491660" y="2822384"/>
                  <a:pt x="1498353" y="2827490"/>
                  <a:pt x="1505045" y="2832602"/>
                </a:cubicBezTo>
                <a:lnTo>
                  <a:pt x="1501478" y="2837268"/>
                </a:lnTo>
                <a:lnTo>
                  <a:pt x="1503115" y="2835123"/>
                </a:lnTo>
                <a:cubicBezTo>
                  <a:pt x="1496429" y="2830011"/>
                  <a:pt x="1489736" y="2824906"/>
                  <a:pt x="1483043" y="2819813"/>
                </a:cubicBezTo>
                <a:lnTo>
                  <a:pt x="1481119" y="2822337"/>
                </a:lnTo>
                <a:close/>
                <a:moveTo>
                  <a:pt x="8176202" y="2805802"/>
                </a:moveTo>
                <a:lnTo>
                  <a:pt x="8180029" y="2810844"/>
                </a:lnTo>
                <a:lnTo>
                  <a:pt x="8180000" y="2810866"/>
                </a:lnTo>
                <a:lnTo>
                  <a:pt x="8176190" y="2805811"/>
                </a:lnTo>
                <a:close/>
                <a:moveTo>
                  <a:pt x="1462931" y="2804534"/>
                </a:moveTo>
                <a:lnTo>
                  <a:pt x="1462932" y="2804535"/>
                </a:lnTo>
                <a:lnTo>
                  <a:pt x="1461015" y="2807062"/>
                </a:lnTo>
                <a:close/>
                <a:moveTo>
                  <a:pt x="8200066" y="2795677"/>
                </a:moveTo>
                <a:lnTo>
                  <a:pt x="8201971" y="2798210"/>
                </a:lnTo>
                <a:cubicBezTo>
                  <a:pt x="8195304" y="2803265"/>
                  <a:pt x="8188636" y="2808326"/>
                  <a:pt x="8181969" y="2813399"/>
                </a:cubicBezTo>
                <a:lnTo>
                  <a:pt x="8180029" y="2810844"/>
                </a:lnTo>
                <a:close/>
                <a:moveTo>
                  <a:pt x="1440784" y="2791987"/>
                </a:moveTo>
                <a:lnTo>
                  <a:pt x="1438987" y="2794368"/>
                </a:lnTo>
                <a:cubicBezTo>
                  <a:pt x="1445692" y="2799436"/>
                  <a:pt x="1452398" y="2804510"/>
                  <a:pt x="1459098" y="2809589"/>
                </a:cubicBezTo>
                <a:lnTo>
                  <a:pt x="1461015" y="2807062"/>
                </a:lnTo>
                <a:lnTo>
                  <a:pt x="1457179" y="2812123"/>
                </a:lnTo>
                <a:cubicBezTo>
                  <a:pt x="1450480" y="2807037"/>
                  <a:pt x="1443774" y="2801963"/>
                  <a:pt x="1437069" y="2796902"/>
                </a:cubicBezTo>
                <a:close/>
                <a:moveTo>
                  <a:pt x="8196257" y="2790609"/>
                </a:moveTo>
                <a:lnTo>
                  <a:pt x="8200067" y="2795676"/>
                </a:lnTo>
                <a:lnTo>
                  <a:pt x="8200066" y="2795677"/>
                </a:lnTo>
                <a:lnTo>
                  <a:pt x="8196256" y="2790610"/>
                </a:lnTo>
                <a:close/>
                <a:moveTo>
                  <a:pt x="1442810" y="2789301"/>
                </a:moveTo>
                <a:lnTo>
                  <a:pt x="1442812" y="2789303"/>
                </a:lnTo>
                <a:lnTo>
                  <a:pt x="1440784" y="2791987"/>
                </a:lnTo>
                <a:close/>
                <a:moveTo>
                  <a:pt x="8194351" y="2788076"/>
                </a:moveTo>
                <a:lnTo>
                  <a:pt x="8196256" y="2790610"/>
                </a:lnTo>
                <a:lnTo>
                  <a:pt x="8176202" y="2805802"/>
                </a:lnTo>
                <a:lnTo>
                  <a:pt x="8174285" y="2803277"/>
                </a:lnTo>
                <a:cubicBezTo>
                  <a:pt x="8180953" y="2798204"/>
                  <a:pt x="8187620" y="2793137"/>
                  <a:pt x="8194351" y="2788076"/>
                </a:cubicBezTo>
                <a:close/>
                <a:moveTo>
                  <a:pt x="1444727" y="2786768"/>
                </a:moveTo>
                <a:cubicBezTo>
                  <a:pt x="1451440" y="2791835"/>
                  <a:pt x="1458144" y="2796915"/>
                  <a:pt x="1464851" y="2802001"/>
                </a:cubicBezTo>
                <a:lnTo>
                  <a:pt x="1462931" y="2804534"/>
                </a:lnTo>
                <a:lnTo>
                  <a:pt x="1442812" y="2789303"/>
                </a:lnTo>
                <a:close/>
                <a:moveTo>
                  <a:pt x="8216331" y="2775445"/>
                </a:moveTo>
                <a:lnTo>
                  <a:pt x="8218010" y="2777662"/>
                </a:lnTo>
                <a:lnTo>
                  <a:pt x="8216322" y="2775452"/>
                </a:lnTo>
                <a:close/>
                <a:moveTo>
                  <a:pt x="1422326" y="2774567"/>
                </a:moveTo>
                <a:lnTo>
                  <a:pt x="1418851" y="2779186"/>
                </a:lnTo>
                <a:lnTo>
                  <a:pt x="1418851" y="2779186"/>
                </a:lnTo>
                <a:close/>
                <a:moveTo>
                  <a:pt x="8234610" y="2757773"/>
                </a:moveTo>
                <a:lnTo>
                  <a:pt x="8242231" y="2767933"/>
                </a:lnTo>
                <a:cubicBezTo>
                  <a:pt x="8235499" y="2772969"/>
                  <a:pt x="8228769" y="2778011"/>
                  <a:pt x="8222101" y="2783066"/>
                </a:cubicBezTo>
                <a:lnTo>
                  <a:pt x="8218010" y="2777662"/>
                </a:lnTo>
                <a:lnTo>
                  <a:pt x="8220196" y="2780525"/>
                </a:lnTo>
                <a:cubicBezTo>
                  <a:pt x="8226863" y="2775477"/>
                  <a:pt x="8233594" y="2770429"/>
                  <a:pt x="8240325" y="2765393"/>
                </a:cubicBezTo>
                <a:lnTo>
                  <a:pt x="8236515" y="2760313"/>
                </a:lnTo>
                <a:lnTo>
                  <a:pt x="8216331" y="2775445"/>
                </a:lnTo>
                <a:lnTo>
                  <a:pt x="8214418" y="2772918"/>
                </a:lnTo>
                <a:cubicBezTo>
                  <a:pt x="8221148" y="2767863"/>
                  <a:pt x="8227880" y="2762815"/>
                  <a:pt x="8234610" y="2757773"/>
                </a:cubicBezTo>
                <a:close/>
                <a:moveTo>
                  <a:pt x="1404366" y="2756395"/>
                </a:moveTo>
                <a:cubicBezTo>
                  <a:pt x="1411104" y="2761450"/>
                  <a:pt x="1417841" y="2766505"/>
                  <a:pt x="1424578" y="2771572"/>
                </a:cubicBezTo>
                <a:lnTo>
                  <a:pt x="1422326" y="2774567"/>
                </a:lnTo>
                <a:lnTo>
                  <a:pt x="1422667" y="2774112"/>
                </a:lnTo>
                <a:cubicBezTo>
                  <a:pt x="1415936" y="2769045"/>
                  <a:pt x="1409199" y="2763990"/>
                  <a:pt x="1402462" y="2758942"/>
                </a:cubicBezTo>
                <a:lnTo>
                  <a:pt x="1398658" y="2764022"/>
                </a:lnTo>
                <a:lnTo>
                  <a:pt x="1418851" y="2779186"/>
                </a:lnTo>
                <a:lnTo>
                  <a:pt x="1416940" y="2781726"/>
                </a:lnTo>
                <a:cubicBezTo>
                  <a:pt x="1410215" y="2776658"/>
                  <a:pt x="1403484" y="2771604"/>
                  <a:pt x="1396754" y="2766562"/>
                </a:cubicBezTo>
                <a:close/>
                <a:moveTo>
                  <a:pt x="1380449" y="2746231"/>
                </a:moveTo>
                <a:lnTo>
                  <a:pt x="1378453" y="2748909"/>
                </a:lnTo>
                <a:lnTo>
                  <a:pt x="1378451" y="2748908"/>
                </a:lnTo>
                <a:close/>
                <a:moveTo>
                  <a:pt x="8256645" y="2745225"/>
                </a:moveTo>
                <a:lnTo>
                  <a:pt x="8259272" y="2748733"/>
                </a:lnTo>
                <a:lnTo>
                  <a:pt x="8256644" y="2745226"/>
                </a:lnTo>
                <a:close/>
                <a:moveTo>
                  <a:pt x="8280648" y="2735282"/>
                </a:moveTo>
                <a:lnTo>
                  <a:pt x="8282553" y="2737828"/>
                </a:lnTo>
                <a:cubicBezTo>
                  <a:pt x="8275822" y="2742832"/>
                  <a:pt x="8269091" y="2747842"/>
                  <a:pt x="8262360" y="2752858"/>
                </a:cubicBezTo>
                <a:lnTo>
                  <a:pt x="8259272" y="2748733"/>
                </a:lnTo>
                <a:lnTo>
                  <a:pt x="8260455" y="2750312"/>
                </a:lnTo>
                <a:close/>
                <a:moveTo>
                  <a:pt x="1358235" y="2733848"/>
                </a:moveTo>
                <a:lnTo>
                  <a:pt x="1378451" y="2748908"/>
                </a:lnTo>
                <a:lnTo>
                  <a:pt x="1376553" y="2751449"/>
                </a:lnTo>
                <a:cubicBezTo>
                  <a:pt x="1369816" y="2746420"/>
                  <a:pt x="1363080" y="2741403"/>
                  <a:pt x="1356341" y="2736393"/>
                </a:cubicBezTo>
                <a:close/>
                <a:moveTo>
                  <a:pt x="8276838" y="2730189"/>
                </a:moveTo>
                <a:lnTo>
                  <a:pt x="8280648" y="2735282"/>
                </a:lnTo>
                <a:lnTo>
                  <a:pt x="8280648" y="2735282"/>
                </a:lnTo>
                <a:lnTo>
                  <a:pt x="8276837" y="2730190"/>
                </a:lnTo>
                <a:close/>
                <a:moveTo>
                  <a:pt x="1362025" y="2728748"/>
                </a:moveTo>
                <a:lnTo>
                  <a:pt x="1362028" y="2728750"/>
                </a:lnTo>
                <a:lnTo>
                  <a:pt x="1358235" y="2733848"/>
                </a:lnTo>
                <a:lnTo>
                  <a:pt x="1358233" y="2733846"/>
                </a:lnTo>
                <a:close/>
                <a:moveTo>
                  <a:pt x="8274932" y="2727643"/>
                </a:moveTo>
                <a:lnTo>
                  <a:pt x="8276837" y="2730190"/>
                </a:lnTo>
                <a:lnTo>
                  <a:pt x="8256645" y="2745225"/>
                </a:lnTo>
                <a:lnTo>
                  <a:pt x="8254740" y="2742680"/>
                </a:lnTo>
                <a:cubicBezTo>
                  <a:pt x="8261471" y="2737657"/>
                  <a:pt x="8268202" y="2732647"/>
                  <a:pt x="8274932" y="2727643"/>
                </a:cubicBezTo>
                <a:close/>
                <a:moveTo>
                  <a:pt x="1363924" y="2726201"/>
                </a:moveTo>
                <a:cubicBezTo>
                  <a:pt x="1370667" y="2731218"/>
                  <a:pt x="1377412" y="2736240"/>
                  <a:pt x="1384148" y="2741276"/>
                </a:cubicBezTo>
                <a:lnTo>
                  <a:pt x="1380449" y="2746231"/>
                </a:lnTo>
                <a:lnTo>
                  <a:pt x="1382249" y="2743816"/>
                </a:lnTo>
                <a:lnTo>
                  <a:pt x="1362028" y="2728750"/>
                </a:lnTo>
                <a:close/>
                <a:moveTo>
                  <a:pt x="8298935" y="2717670"/>
                </a:moveTo>
                <a:lnTo>
                  <a:pt x="8300851" y="2720257"/>
                </a:lnTo>
                <a:lnTo>
                  <a:pt x="8300841" y="2720264"/>
                </a:lnTo>
                <a:close/>
                <a:moveTo>
                  <a:pt x="8319233" y="2702754"/>
                </a:moveTo>
                <a:lnTo>
                  <a:pt x="8323002" y="2707850"/>
                </a:lnTo>
                <a:cubicBezTo>
                  <a:pt x="8316271" y="2712828"/>
                  <a:pt x="8309477" y="2717819"/>
                  <a:pt x="8302746" y="2722816"/>
                </a:cubicBezTo>
                <a:lnTo>
                  <a:pt x="8300851" y="2720257"/>
                </a:lnTo>
                <a:lnTo>
                  <a:pt x="8321097" y="2705297"/>
                </a:lnTo>
                <a:close/>
                <a:moveTo>
                  <a:pt x="8317351" y="2700185"/>
                </a:moveTo>
                <a:lnTo>
                  <a:pt x="8319233" y="2702754"/>
                </a:lnTo>
                <a:lnTo>
                  <a:pt x="8317340" y="2700193"/>
                </a:lnTo>
                <a:close/>
                <a:moveTo>
                  <a:pt x="1321429" y="2698680"/>
                </a:moveTo>
                <a:lnTo>
                  <a:pt x="1321431" y="2698682"/>
                </a:lnTo>
                <a:lnTo>
                  <a:pt x="1319384" y="2701456"/>
                </a:lnTo>
                <a:close/>
                <a:moveTo>
                  <a:pt x="8315446" y="2697632"/>
                </a:moveTo>
                <a:lnTo>
                  <a:pt x="8317340" y="2700193"/>
                </a:lnTo>
                <a:lnTo>
                  <a:pt x="8297094" y="2715165"/>
                </a:lnTo>
                <a:lnTo>
                  <a:pt x="8298935" y="2717670"/>
                </a:lnTo>
                <a:lnTo>
                  <a:pt x="8295189" y="2712612"/>
                </a:lnTo>
                <a:cubicBezTo>
                  <a:pt x="8301920" y="2707608"/>
                  <a:pt x="8308715" y="2702617"/>
                  <a:pt x="8315446" y="2697632"/>
                </a:cubicBezTo>
                <a:close/>
                <a:moveTo>
                  <a:pt x="1323315" y="2696127"/>
                </a:moveTo>
                <a:cubicBezTo>
                  <a:pt x="1330090" y="2701125"/>
                  <a:pt x="1336859" y="2706129"/>
                  <a:pt x="1343629" y="2711139"/>
                </a:cubicBezTo>
                <a:lnTo>
                  <a:pt x="1336072" y="2721350"/>
                </a:lnTo>
                <a:cubicBezTo>
                  <a:pt x="1329309" y="2716340"/>
                  <a:pt x="1322541" y="2711336"/>
                  <a:pt x="1315778" y="2706345"/>
                </a:cubicBezTo>
                <a:lnTo>
                  <a:pt x="1319384" y="2701456"/>
                </a:lnTo>
                <a:lnTo>
                  <a:pt x="1317663" y="2703792"/>
                </a:lnTo>
                <a:cubicBezTo>
                  <a:pt x="1324432" y="2708783"/>
                  <a:pt x="1331195" y="2713787"/>
                  <a:pt x="1337958" y="2718797"/>
                </a:cubicBezTo>
                <a:lnTo>
                  <a:pt x="1341737" y="2713692"/>
                </a:lnTo>
                <a:lnTo>
                  <a:pt x="1321431" y="2698682"/>
                </a:lnTo>
                <a:close/>
                <a:moveTo>
                  <a:pt x="8339410" y="2687723"/>
                </a:moveTo>
                <a:lnTo>
                  <a:pt x="8341364" y="2690368"/>
                </a:lnTo>
                <a:lnTo>
                  <a:pt x="8341354" y="2690375"/>
                </a:lnTo>
                <a:close/>
                <a:moveTo>
                  <a:pt x="1299236" y="2686285"/>
                </a:moveTo>
                <a:lnTo>
                  <a:pt x="1297357" y="2688844"/>
                </a:lnTo>
                <a:lnTo>
                  <a:pt x="1297356" y="2688844"/>
                </a:lnTo>
                <a:close/>
                <a:moveTo>
                  <a:pt x="8361655" y="2675505"/>
                </a:moveTo>
                <a:lnTo>
                  <a:pt x="8363515" y="2678049"/>
                </a:lnTo>
                <a:cubicBezTo>
                  <a:pt x="8356784" y="2683002"/>
                  <a:pt x="8349990" y="2687962"/>
                  <a:pt x="8343259" y="2692933"/>
                </a:cubicBezTo>
                <a:lnTo>
                  <a:pt x="8341364" y="2690368"/>
                </a:lnTo>
                <a:close/>
                <a:moveTo>
                  <a:pt x="8357927" y="2670366"/>
                </a:moveTo>
                <a:lnTo>
                  <a:pt x="8361674" y="2675490"/>
                </a:lnTo>
                <a:lnTo>
                  <a:pt x="8361655" y="2675505"/>
                </a:lnTo>
                <a:lnTo>
                  <a:pt x="8357908" y="2670380"/>
                </a:lnTo>
                <a:close/>
                <a:moveTo>
                  <a:pt x="1280190" y="2669573"/>
                </a:moveTo>
                <a:lnTo>
                  <a:pt x="1277011" y="2673922"/>
                </a:lnTo>
                <a:lnTo>
                  <a:pt x="1297356" y="2688844"/>
                </a:lnTo>
                <a:lnTo>
                  <a:pt x="1295476" y="2691403"/>
                </a:lnTo>
                <a:cubicBezTo>
                  <a:pt x="1288695" y="2686418"/>
                  <a:pt x="1281913" y="2681447"/>
                  <a:pt x="1275131" y="2676487"/>
                </a:cubicBezTo>
                <a:close/>
                <a:moveTo>
                  <a:pt x="1280757" y="2668797"/>
                </a:moveTo>
                <a:lnTo>
                  <a:pt x="1280758" y="2668798"/>
                </a:lnTo>
                <a:lnTo>
                  <a:pt x="1280190" y="2669573"/>
                </a:lnTo>
                <a:close/>
                <a:moveTo>
                  <a:pt x="8356022" y="2667800"/>
                </a:moveTo>
                <a:lnTo>
                  <a:pt x="8357908" y="2670380"/>
                </a:lnTo>
                <a:lnTo>
                  <a:pt x="8337607" y="2685263"/>
                </a:lnTo>
                <a:lnTo>
                  <a:pt x="8339410" y="2687723"/>
                </a:lnTo>
                <a:lnTo>
                  <a:pt x="8335702" y="2682704"/>
                </a:lnTo>
                <a:cubicBezTo>
                  <a:pt x="8342497" y="2677725"/>
                  <a:pt x="8349228" y="2672759"/>
                  <a:pt x="8356022" y="2667800"/>
                </a:cubicBezTo>
                <a:close/>
                <a:moveTo>
                  <a:pt x="1282630" y="2666238"/>
                </a:moveTo>
                <a:cubicBezTo>
                  <a:pt x="1289425" y="2671204"/>
                  <a:pt x="1296207" y="2676182"/>
                  <a:pt x="1302996" y="2681167"/>
                </a:cubicBezTo>
                <a:lnTo>
                  <a:pt x="1299236" y="2686285"/>
                </a:lnTo>
                <a:lnTo>
                  <a:pt x="1301115" y="2683726"/>
                </a:lnTo>
                <a:lnTo>
                  <a:pt x="1280758" y="2668798"/>
                </a:lnTo>
                <a:close/>
                <a:moveTo>
                  <a:pt x="8378258" y="2655487"/>
                </a:moveTo>
                <a:lnTo>
                  <a:pt x="8380130" y="2658073"/>
                </a:lnTo>
                <a:lnTo>
                  <a:pt x="8378247" y="2655494"/>
                </a:lnTo>
                <a:close/>
                <a:moveTo>
                  <a:pt x="8400472" y="2643255"/>
                </a:moveTo>
                <a:lnTo>
                  <a:pt x="8404219" y="2648395"/>
                </a:lnTo>
                <a:cubicBezTo>
                  <a:pt x="8397424" y="2653316"/>
                  <a:pt x="8390630" y="2658250"/>
                  <a:pt x="8383835" y="2663190"/>
                </a:cubicBezTo>
                <a:lnTo>
                  <a:pt x="8380130" y="2658073"/>
                </a:lnTo>
                <a:lnTo>
                  <a:pt x="8381994" y="2660625"/>
                </a:lnTo>
                <a:cubicBezTo>
                  <a:pt x="8388788" y="2655685"/>
                  <a:pt x="8395582" y="2650750"/>
                  <a:pt x="8402314" y="2645823"/>
                </a:cubicBezTo>
                <a:close/>
                <a:moveTo>
                  <a:pt x="8398631" y="2640686"/>
                </a:moveTo>
                <a:lnTo>
                  <a:pt x="8400472" y="2643255"/>
                </a:lnTo>
                <a:lnTo>
                  <a:pt x="8398611" y="2640701"/>
                </a:lnTo>
                <a:close/>
                <a:moveTo>
                  <a:pt x="1239946" y="2639054"/>
                </a:moveTo>
                <a:lnTo>
                  <a:pt x="1239949" y="2639056"/>
                </a:lnTo>
                <a:lnTo>
                  <a:pt x="1238039" y="2641686"/>
                </a:lnTo>
                <a:close/>
                <a:moveTo>
                  <a:pt x="8396726" y="2638114"/>
                </a:moveTo>
                <a:lnTo>
                  <a:pt x="8398611" y="2640701"/>
                </a:lnTo>
                <a:lnTo>
                  <a:pt x="8378258" y="2655487"/>
                </a:lnTo>
                <a:lnTo>
                  <a:pt x="8376406" y="2652929"/>
                </a:lnTo>
                <a:cubicBezTo>
                  <a:pt x="8383200" y="2647982"/>
                  <a:pt x="8389932" y="2643042"/>
                  <a:pt x="8396726" y="2638114"/>
                </a:cubicBezTo>
                <a:close/>
                <a:moveTo>
                  <a:pt x="1241813" y="2636488"/>
                </a:moveTo>
                <a:cubicBezTo>
                  <a:pt x="1248620" y="2641429"/>
                  <a:pt x="1255421" y="2646375"/>
                  <a:pt x="1262228" y="2651335"/>
                </a:cubicBezTo>
                <a:lnTo>
                  <a:pt x="1254748" y="2661596"/>
                </a:lnTo>
                <a:cubicBezTo>
                  <a:pt x="1247947" y="2656643"/>
                  <a:pt x="1241153" y="2651703"/>
                  <a:pt x="1234351" y="2646763"/>
                </a:cubicBezTo>
                <a:lnTo>
                  <a:pt x="1238039" y="2641686"/>
                </a:lnTo>
                <a:lnTo>
                  <a:pt x="1236218" y="2644197"/>
                </a:lnTo>
                <a:cubicBezTo>
                  <a:pt x="1243020" y="2649131"/>
                  <a:pt x="1249820" y="2654078"/>
                  <a:pt x="1256614" y="2659031"/>
                </a:cubicBezTo>
                <a:lnTo>
                  <a:pt x="1260355" y="2653900"/>
                </a:lnTo>
                <a:lnTo>
                  <a:pt x="1239949" y="2639056"/>
                </a:lnTo>
                <a:close/>
                <a:moveTo>
                  <a:pt x="1219522" y="2624263"/>
                </a:moveTo>
                <a:lnTo>
                  <a:pt x="1219524" y="2624265"/>
                </a:lnTo>
                <a:lnTo>
                  <a:pt x="1216820" y="2628004"/>
                </a:lnTo>
                <a:close/>
                <a:moveTo>
                  <a:pt x="1195313" y="2614633"/>
                </a:moveTo>
                <a:lnTo>
                  <a:pt x="1215803" y="2629408"/>
                </a:lnTo>
                <a:lnTo>
                  <a:pt x="1216820" y="2628004"/>
                </a:lnTo>
                <a:lnTo>
                  <a:pt x="1213942" y="2631986"/>
                </a:lnTo>
                <a:cubicBezTo>
                  <a:pt x="1207116" y="2627046"/>
                  <a:pt x="1200284" y="2622125"/>
                  <a:pt x="1193457" y="2617210"/>
                </a:cubicBezTo>
                <a:close/>
                <a:moveTo>
                  <a:pt x="8439461" y="2611164"/>
                </a:moveTo>
                <a:lnTo>
                  <a:pt x="8443144" y="2616321"/>
                </a:lnTo>
                <a:lnTo>
                  <a:pt x="8443136" y="2616327"/>
                </a:lnTo>
                <a:lnTo>
                  <a:pt x="8439430" y="2611186"/>
                </a:lnTo>
                <a:close/>
                <a:moveTo>
                  <a:pt x="1199020" y="2609475"/>
                </a:moveTo>
                <a:lnTo>
                  <a:pt x="1199023" y="2609477"/>
                </a:lnTo>
                <a:lnTo>
                  <a:pt x="1195313" y="2614633"/>
                </a:lnTo>
                <a:lnTo>
                  <a:pt x="1195312" y="2614632"/>
                </a:lnTo>
                <a:close/>
                <a:moveTo>
                  <a:pt x="8437557" y="2608587"/>
                </a:moveTo>
                <a:lnTo>
                  <a:pt x="8439430" y="2611186"/>
                </a:lnTo>
                <a:lnTo>
                  <a:pt x="8419014" y="2625922"/>
                </a:lnTo>
                <a:lnTo>
                  <a:pt x="8422697" y="2631065"/>
                </a:lnTo>
                <a:lnTo>
                  <a:pt x="8443136" y="2616327"/>
                </a:lnTo>
                <a:lnTo>
                  <a:pt x="8444986" y="2618893"/>
                </a:lnTo>
                <a:cubicBezTo>
                  <a:pt x="8438192" y="2623801"/>
                  <a:pt x="8431397" y="2628716"/>
                  <a:pt x="8424539" y="2633637"/>
                </a:cubicBezTo>
                <a:lnTo>
                  <a:pt x="8417109" y="2623350"/>
                </a:lnTo>
                <a:cubicBezTo>
                  <a:pt x="8423968" y="2618416"/>
                  <a:pt x="8430762" y="2613501"/>
                  <a:pt x="8437557" y="2608587"/>
                </a:cubicBezTo>
                <a:close/>
                <a:moveTo>
                  <a:pt x="1200874" y="2606904"/>
                </a:moveTo>
                <a:cubicBezTo>
                  <a:pt x="1207713" y="2611819"/>
                  <a:pt x="1214546" y="2616752"/>
                  <a:pt x="1221379" y="2621693"/>
                </a:cubicBezTo>
                <a:lnTo>
                  <a:pt x="1219522" y="2624263"/>
                </a:lnTo>
                <a:lnTo>
                  <a:pt x="1199023" y="2609477"/>
                </a:lnTo>
                <a:close/>
                <a:moveTo>
                  <a:pt x="8459910" y="2596470"/>
                </a:moveTo>
                <a:lnTo>
                  <a:pt x="8461692" y="2598968"/>
                </a:lnTo>
                <a:lnTo>
                  <a:pt x="8459908" y="2596471"/>
                </a:lnTo>
                <a:close/>
                <a:moveTo>
                  <a:pt x="1178516" y="2594750"/>
                </a:moveTo>
                <a:lnTo>
                  <a:pt x="1178516" y="2594750"/>
                </a:lnTo>
                <a:lnTo>
                  <a:pt x="1177399" y="2596308"/>
                </a:lnTo>
                <a:close/>
                <a:moveTo>
                  <a:pt x="8484037" y="2586997"/>
                </a:moveTo>
                <a:lnTo>
                  <a:pt x="8485880" y="2589581"/>
                </a:lnTo>
                <a:cubicBezTo>
                  <a:pt x="8479085" y="2594451"/>
                  <a:pt x="8472227" y="2599322"/>
                  <a:pt x="8465432" y="2604211"/>
                </a:cubicBezTo>
                <a:lnTo>
                  <a:pt x="8461692" y="2598968"/>
                </a:lnTo>
                <a:lnTo>
                  <a:pt x="8463592" y="2601627"/>
                </a:lnTo>
                <a:close/>
                <a:moveTo>
                  <a:pt x="1154319" y="2585252"/>
                </a:moveTo>
                <a:lnTo>
                  <a:pt x="1174814" y="2599912"/>
                </a:lnTo>
                <a:lnTo>
                  <a:pt x="1177399" y="2596308"/>
                </a:lnTo>
                <a:lnTo>
                  <a:pt x="1172967" y="2602490"/>
                </a:lnTo>
                <a:cubicBezTo>
                  <a:pt x="1166141" y="2597595"/>
                  <a:pt x="1159307" y="2592712"/>
                  <a:pt x="1152475" y="2587835"/>
                </a:cubicBezTo>
                <a:close/>
                <a:moveTo>
                  <a:pt x="8481512" y="2583455"/>
                </a:moveTo>
                <a:lnTo>
                  <a:pt x="8484038" y="2586996"/>
                </a:lnTo>
                <a:lnTo>
                  <a:pt x="8484037" y="2586997"/>
                </a:lnTo>
                <a:close/>
                <a:moveTo>
                  <a:pt x="1158006" y="2580081"/>
                </a:moveTo>
                <a:lnTo>
                  <a:pt x="1158008" y="2580083"/>
                </a:lnTo>
                <a:lnTo>
                  <a:pt x="1154319" y="2585252"/>
                </a:lnTo>
                <a:lnTo>
                  <a:pt x="1154317" y="2585250"/>
                </a:lnTo>
                <a:close/>
                <a:moveTo>
                  <a:pt x="8478514" y="2579250"/>
                </a:moveTo>
                <a:lnTo>
                  <a:pt x="8481512" y="2583455"/>
                </a:lnTo>
                <a:lnTo>
                  <a:pt x="8480356" y="2581834"/>
                </a:lnTo>
                <a:lnTo>
                  <a:pt x="8459910" y="2596470"/>
                </a:lnTo>
                <a:lnTo>
                  <a:pt x="8458067" y="2593886"/>
                </a:lnTo>
                <a:cubicBezTo>
                  <a:pt x="8464861" y="2588997"/>
                  <a:pt x="8471656" y="2584120"/>
                  <a:pt x="8478514" y="2579250"/>
                </a:cubicBezTo>
                <a:close/>
                <a:moveTo>
                  <a:pt x="1159853" y="2577497"/>
                </a:moveTo>
                <a:cubicBezTo>
                  <a:pt x="1166692" y="2582380"/>
                  <a:pt x="1173531" y="2587269"/>
                  <a:pt x="1180364" y="2592172"/>
                </a:cubicBezTo>
                <a:lnTo>
                  <a:pt x="1178516" y="2594750"/>
                </a:lnTo>
                <a:lnTo>
                  <a:pt x="1158008" y="2580083"/>
                </a:lnTo>
                <a:close/>
                <a:moveTo>
                  <a:pt x="8500867" y="2567203"/>
                </a:moveTo>
                <a:lnTo>
                  <a:pt x="8504550" y="2572378"/>
                </a:lnTo>
                <a:lnTo>
                  <a:pt x="8504549" y="2572379"/>
                </a:lnTo>
                <a:lnTo>
                  <a:pt x="8500866" y="2567204"/>
                </a:lnTo>
                <a:close/>
                <a:moveTo>
                  <a:pt x="1137425" y="2565426"/>
                </a:moveTo>
                <a:lnTo>
                  <a:pt x="1137426" y="2565426"/>
                </a:lnTo>
                <a:lnTo>
                  <a:pt x="1133748" y="2570601"/>
                </a:lnTo>
                <a:lnTo>
                  <a:pt x="1133748" y="2570601"/>
                </a:lnTo>
                <a:close/>
                <a:moveTo>
                  <a:pt x="8525091" y="2557829"/>
                </a:moveTo>
                <a:lnTo>
                  <a:pt x="8526901" y="2560396"/>
                </a:lnTo>
                <a:cubicBezTo>
                  <a:pt x="8520107" y="2565241"/>
                  <a:pt x="8513248" y="2570099"/>
                  <a:pt x="8506390" y="2574963"/>
                </a:cubicBezTo>
                <a:lnTo>
                  <a:pt x="8504550" y="2572378"/>
                </a:lnTo>
                <a:close/>
                <a:moveTo>
                  <a:pt x="1115093" y="2553259"/>
                </a:moveTo>
                <a:lnTo>
                  <a:pt x="1113155" y="2556002"/>
                </a:lnTo>
                <a:lnTo>
                  <a:pt x="1133748" y="2570601"/>
                </a:lnTo>
                <a:lnTo>
                  <a:pt x="1131907" y="2573192"/>
                </a:lnTo>
                <a:cubicBezTo>
                  <a:pt x="1125042" y="2568315"/>
                  <a:pt x="1118185" y="2563444"/>
                  <a:pt x="1111320" y="2558593"/>
                </a:cubicBezTo>
                <a:close/>
                <a:moveTo>
                  <a:pt x="8521440" y="2552624"/>
                </a:moveTo>
                <a:lnTo>
                  <a:pt x="8525123" y="2557806"/>
                </a:lnTo>
                <a:lnTo>
                  <a:pt x="8525091" y="2557829"/>
                </a:lnTo>
                <a:lnTo>
                  <a:pt x="8521429" y="2552632"/>
                </a:lnTo>
                <a:close/>
                <a:moveTo>
                  <a:pt x="1116820" y="2550814"/>
                </a:moveTo>
                <a:lnTo>
                  <a:pt x="1116821" y="2550815"/>
                </a:lnTo>
                <a:lnTo>
                  <a:pt x="1115093" y="2553259"/>
                </a:lnTo>
                <a:close/>
                <a:moveTo>
                  <a:pt x="8519598" y="2550033"/>
                </a:moveTo>
                <a:lnTo>
                  <a:pt x="8521429" y="2552632"/>
                </a:lnTo>
                <a:lnTo>
                  <a:pt x="8500867" y="2567203"/>
                </a:lnTo>
                <a:lnTo>
                  <a:pt x="8499024" y="2564613"/>
                </a:lnTo>
                <a:cubicBezTo>
                  <a:pt x="8505882" y="2559742"/>
                  <a:pt x="8512740" y="2554884"/>
                  <a:pt x="8519598" y="2550033"/>
                </a:cubicBezTo>
                <a:close/>
                <a:moveTo>
                  <a:pt x="1118654" y="2548223"/>
                </a:moveTo>
                <a:cubicBezTo>
                  <a:pt x="1125525" y="2553087"/>
                  <a:pt x="1132396" y="2557958"/>
                  <a:pt x="1139266" y="2562835"/>
                </a:cubicBezTo>
                <a:lnTo>
                  <a:pt x="1137425" y="2565426"/>
                </a:lnTo>
                <a:lnTo>
                  <a:pt x="1116821" y="2550815"/>
                </a:lnTo>
                <a:close/>
                <a:moveTo>
                  <a:pt x="1094391" y="2538864"/>
                </a:moveTo>
                <a:lnTo>
                  <a:pt x="1092563" y="2541461"/>
                </a:lnTo>
                <a:lnTo>
                  <a:pt x="1092561" y="2541460"/>
                </a:lnTo>
                <a:close/>
                <a:moveTo>
                  <a:pt x="8541980" y="2538080"/>
                </a:moveTo>
                <a:lnTo>
                  <a:pt x="8545645" y="2543288"/>
                </a:lnTo>
                <a:lnTo>
                  <a:pt x="8545633" y="2543296"/>
                </a:lnTo>
                <a:lnTo>
                  <a:pt x="8541950" y="2538101"/>
                </a:lnTo>
                <a:close/>
                <a:moveTo>
                  <a:pt x="1071919" y="2526952"/>
                </a:moveTo>
                <a:lnTo>
                  <a:pt x="1092561" y="2541460"/>
                </a:lnTo>
                <a:lnTo>
                  <a:pt x="1090733" y="2544051"/>
                </a:lnTo>
                <a:cubicBezTo>
                  <a:pt x="1083856" y="2539206"/>
                  <a:pt x="1076973" y="2534374"/>
                  <a:pt x="1070096" y="2529548"/>
                </a:cubicBezTo>
                <a:close/>
                <a:moveTo>
                  <a:pt x="8564137" y="2525841"/>
                </a:moveTo>
                <a:lnTo>
                  <a:pt x="8568049" y="2531408"/>
                </a:lnTo>
                <a:cubicBezTo>
                  <a:pt x="8561191" y="2536228"/>
                  <a:pt x="8554332" y="2541054"/>
                  <a:pt x="8547475" y="2545887"/>
                </a:cubicBezTo>
                <a:lnTo>
                  <a:pt x="8545645" y="2543288"/>
                </a:lnTo>
                <a:lnTo>
                  <a:pt x="8566207" y="2528811"/>
                </a:lnTo>
                <a:close/>
                <a:moveTo>
                  <a:pt x="1073744" y="2524351"/>
                </a:moveTo>
                <a:lnTo>
                  <a:pt x="1071919" y="2526952"/>
                </a:lnTo>
                <a:lnTo>
                  <a:pt x="1071918" y="2526951"/>
                </a:lnTo>
                <a:close/>
                <a:moveTo>
                  <a:pt x="8562588" y="2523617"/>
                </a:moveTo>
                <a:lnTo>
                  <a:pt x="8564137" y="2525841"/>
                </a:lnTo>
                <a:lnTo>
                  <a:pt x="8562579" y="2523623"/>
                </a:lnTo>
                <a:close/>
                <a:moveTo>
                  <a:pt x="8560746" y="2521014"/>
                </a:moveTo>
                <a:lnTo>
                  <a:pt x="8562579" y="2523623"/>
                </a:lnTo>
                <a:lnTo>
                  <a:pt x="8541980" y="2538080"/>
                </a:lnTo>
                <a:lnTo>
                  <a:pt x="8540172" y="2535511"/>
                </a:lnTo>
                <a:cubicBezTo>
                  <a:pt x="8547031" y="2530666"/>
                  <a:pt x="8553888" y="2525833"/>
                  <a:pt x="8560746" y="2521014"/>
                </a:cubicBezTo>
                <a:close/>
                <a:moveTo>
                  <a:pt x="1077393" y="2519153"/>
                </a:moveTo>
                <a:cubicBezTo>
                  <a:pt x="1084276" y="2523979"/>
                  <a:pt x="1091159" y="2528824"/>
                  <a:pt x="1098050" y="2533676"/>
                </a:cubicBezTo>
                <a:lnTo>
                  <a:pt x="1094391" y="2538864"/>
                </a:lnTo>
                <a:lnTo>
                  <a:pt x="1096220" y="2536266"/>
                </a:lnTo>
                <a:cubicBezTo>
                  <a:pt x="1089336" y="2531415"/>
                  <a:pt x="1082454" y="2526576"/>
                  <a:pt x="1075571" y="2521750"/>
                </a:cubicBezTo>
                <a:lnTo>
                  <a:pt x="1073744" y="2524351"/>
                </a:lnTo>
                <a:close/>
                <a:moveTo>
                  <a:pt x="8584934" y="2511611"/>
                </a:moveTo>
                <a:lnTo>
                  <a:pt x="8586855" y="2514352"/>
                </a:lnTo>
                <a:lnTo>
                  <a:pt x="8586844" y="2514359"/>
                </a:lnTo>
                <a:close/>
                <a:moveTo>
                  <a:pt x="1052906" y="2510065"/>
                </a:moveTo>
                <a:lnTo>
                  <a:pt x="1051231" y="2512467"/>
                </a:lnTo>
                <a:lnTo>
                  <a:pt x="1051228" y="2512466"/>
                </a:lnTo>
                <a:close/>
                <a:moveTo>
                  <a:pt x="1030539" y="2498049"/>
                </a:moveTo>
                <a:lnTo>
                  <a:pt x="1051228" y="2512466"/>
                </a:lnTo>
                <a:lnTo>
                  <a:pt x="1049408" y="2515070"/>
                </a:lnTo>
                <a:cubicBezTo>
                  <a:pt x="1042518" y="2510250"/>
                  <a:pt x="1035622" y="2505450"/>
                  <a:pt x="1028726" y="2500656"/>
                </a:cubicBezTo>
                <a:close/>
                <a:moveTo>
                  <a:pt x="1034161" y="2492832"/>
                </a:moveTo>
                <a:lnTo>
                  <a:pt x="1034165" y="2492835"/>
                </a:lnTo>
                <a:lnTo>
                  <a:pt x="1030539" y="2498049"/>
                </a:lnTo>
                <a:lnTo>
                  <a:pt x="1030535" y="2498046"/>
                </a:lnTo>
                <a:close/>
                <a:moveTo>
                  <a:pt x="8602085" y="2492153"/>
                </a:moveTo>
                <a:lnTo>
                  <a:pt x="8609324" y="2502573"/>
                </a:lnTo>
                <a:cubicBezTo>
                  <a:pt x="8602466" y="2507361"/>
                  <a:pt x="8595544" y="2512155"/>
                  <a:pt x="8588686" y="2516962"/>
                </a:cubicBezTo>
                <a:lnTo>
                  <a:pt x="8586855" y="2514352"/>
                </a:lnTo>
                <a:lnTo>
                  <a:pt x="8607482" y="2499970"/>
                </a:lnTo>
                <a:lnTo>
                  <a:pt x="8603863" y="2494756"/>
                </a:lnTo>
                <a:cubicBezTo>
                  <a:pt x="8597005" y="2499544"/>
                  <a:pt x="8590083" y="2504345"/>
                  <a:pt x="8583225" y="2509152"/>
                </a:cubicBezTo>
                <a:lnTo>
                  <a:pt x="8584934" y="2511611"/>
                </a:lnTo>
                <a:lnTo>
                  <a:pt x="8581384" y="2506548"/>
                </a:lnTo>
                <a:cubicBezTo>
                  <a:pt x="8588306" y="2501741"/>
                  <a:pt x="8595163" y="2496941"/>
                  <a:pt x="8602085" y="2492153"/>
                </a:cubicBezTo>
                <a:close/>
                <a:moveTo>
                  <a:pt x="1035977" y="2490229"/>
                </a:moveTo>
                <a:cubicBezTo>
                  <a:pt x="1042881" y="2495023"/>
                  <a:pt x="1049782" y="2499836"/>
                  <a:pt x="1056685" y="2504656"/>
                </a:cubicBezTo>
                <a:lnTo>
                  <a:pt x="1052906" y="2510065"/>
                </a:lnTo>
                <a:lnTo>
                  <a:pt x="1054862" y="2507259"/>
                </a:lnTo>
                <a:lnTo>
                  <a:pt x="1034165" y="2492835"/>
                </a:lnTo>
                <a:close/>
                <a:moveTo>
                  <a:pt x="8645265" y="2466067"/>
                </a:moveTo>
                <a:cubicBezTo>
                  <a:pt x="8638406" y="2470836"/>
                  <a:pt x="8631485" y="2475618"/>
                  <a:pt x="8624564" y="2480412"/>
                </a:cubicBezTo>
                <a:lnTo>
                  <a:pt x="8628183" y="2485631"/>
                </a:lnTo>
                <a:cubicBezTo>
                  <a:pt x="8635042" y="2480844"/>
                  <a:pt x="8641963" y="2476062"/>
                  <a:pt x="8648884" y="2471300"/>
                </a:cubicBezTo>
                <a:close/>
                <a:moveTo>
                  <a:pt x="992639" y="2464092"/>
                </a:moveTo>
                <a:lnTo>
                  <a:pt x="992640" y="2464092"/>
                </a:lnTo>
                <a:lnTo>
                  <a:pt x="989039" y="2469318"/>
                </a:lnTo>
                <a:lnTo>
                  <a:pt x="989039" y="2469318"/>
                </a:lnTo>
                <a:close/>
                <a:moveTo>
                  <a:pt x="8643487" y="2463457"/>
                </a:moveTo>
                <a:lnTo>
                  <a:pt x="8650726" y="2473909"/>
                </a:lnTo>
                <a:cubicBezTo>
                  <a:pt x="8643805" y="2478678"/>
                  <a:pt x="8636882" y="2483453"/>
                  <a:pt x="8629961" y="2488241"/>
                </a:cubicBezTo>
                <a:lnTo>
                  <a:pt x="8622722" y="2477802"/>
                </a:lnTo>
                <a:cubicBezTo>
                  <a:pt x="8629644" y="2473008"/>
                  <a:pt x="8636565" y="2468226"/>
                  <a:pt x="8643487" y="2463457"/>
                </a:cubicBezTo>
                <a:close/>
                <a:moveTo>
                  <a:pt x="994442" y="2461476"/>
                </a:moveTo>
                <a:cubicBezTo>
                  <a:pt x="1001376" y="2466258"/>
                  <a:pt x="1008310" y="2471045"/>
                  <a:pt x="1015251" y="2475852"/>
                </a:cubicBezTo>
                <a:lnTo>
                  <a:pt x="1008026" y="2486292"/>
                </a:lnTo>
                <a:cubicBezTo>
                  <a:pt x="1001091" y="2481497"/>
                  <a:pt x="994163" y="2476710"/>
                  <a:pt x="987235" y="2471935"/>
                </a:cubicBezTo>
                <a:lnTo>
                  <a:pt x="989039" y="2469318"/>
                </a:lnTo>
                <a:lnTo>
                  <a:pt x="1009828" y="2483682"/>
                </a:lnTo>
                <a:lnTo>
                  <a:pt x="1013441" y="2478462"/>
                </a:lnTo>
                <a:lnTo>
                  <a:pt x="992640" y="2464092"/>
                </a:lnTo>
                <a:close/>
                <a:moveTo>
                  <a:pt x="969988" y="2452491"/>
                </a:moveTo>
                <a:lnTo>
                  <a:pt x="968248" y="2455031"/>
                </a:lnTo>
                <a:lnTo>
                  <a:pt x="968247" y="2455030"/>
                </a:lnTo>
                <a:close/>
                <a:moveTo>
                  <a:pt x="8666041" y="2451792"/>
                </a:moveTo>
                <a:lnTo>
                  <a:pt x="8667810" y="2454373"/>
                </a:lnTo>
                <a:lnTo>
                  <a:pt x="8666030" y="2451799"/>
                </a:lnTo>
                <a:close/>
                <a:moveTo>
                  <a:pt x="8690349" y="2442833"/>
                </a:moveTo>
                <a:lnTo>
                  <a:pt x="8692128" y="2445455"/>
                </a:lnTo>
                <a:cubicBezTo>
                  <a:pt x="8685269" y="2450179"/>
                  <a:pt x="8678348" y="2454910"/>
                  <a:pt x="8671427" y="2459647"/>
                </a:cubicBezTo>
                <a:lnTo>
                  <a:pt x="8667810" y="2454373"/>
                </a:lnTo>
                <a:lnTo>
                  <a:pt x="8669649" y="2457031"/>
                </a:lnTo>
                <a:close/>
                <a:moveTo>
                  <a:pt x="947460" y="2440801"/>
                </a:moveTo>
                <a:lnTo>
                  <a:pt x="968247" y="2455030"/>
                </a:lnTo>
                <a:lnTo>
                  <a:pt x="966451" y="2457647"/>
                </a:lnTo>
                <a:cubicBezTo>
                  <a:pt x="959523" y="2452897"/>
                  <a:pt x="952595" y="2448154"/>
                  <a:pt x="945668" y="2443423"/>
                </a:cubicBezTo>
                <a:close/>
                <a:moveTo>
                  <a:pt x="8688572" y="2440213"/>
                </a:moveTo>
                <a:lnTo>
                  <a:pt x="8690350" y="2442832"/>
                </a:lnTo>
                <a:lnTo>
                  <a:pt x="8690349" y="2442833"/>
                </a:lnTo>
                <a:close/>
                <a:moveTo>
                  <a:pt x="949926" y="2437192"/>
                </a:moveTo>
                <a:lnTo>
                  <a:pt x="947460" y="2440801"/>
                </a:lnTo>
                <a:lnTo>
                  <a:pt x="947458" y="2440800"/>
                </a:lnTo>
                <a:close/>
                <a:moveTo>
                  <a:pt x="8685016" y="2434971"/>
                </a:moveTo>
                <a:lnTo>
                  <a:pt x="8688572" y="2440213"/>
                </a:lnTo>
                <a:lnTo>
                  <a:pt x="8686794" y="2437594"/>
                </a:lnTo>
                <a:lnTo>
                  <a:pt x="8666041" y="2451792"/>
                </a:lnTo>
                <a:lnTo>
                  <a:pt x="8664251" y="2449182"/>
                </a:lnTo>
                <a:cubicBezTo>
                  <a:pt x="8671173" y="2444433"/>
                  <a:pt x="8678094" y="2439695"/>
                  <a:pt x="8685016" y="2434971"/>
                </a:cubicBezTo>
                <a:close/>
                <a:moveTo>
                  <a:pt x="952831" y="2432939"/>
                </a:moveTo>
                <a:cubicBezTo>
                  <a:pt x="959766" y="2437670"/>
                  <a:pt x="966700" y="2442413"/>
                  <a:pt x="973633" y="2447176"/>
                </a:cubicBezTo>
                <a:lnTo>
                  <a:pt x="969988" y="2452491"/>
                </a:lnTo>
                <a:lnTo>
                  <a:pt x="971836" y="2449792"/>
                </a:lnTo>
                <a:cubicBezTo>
                  <a:pt x="964902" y="2445036"/>
                  <a:pt x="957974" y="2440292"/>
                  <a:pt x="951040" y="2435562"/>
                </a:cubicBezTo>
                <a:lnTo>
                  <a:pt x="949926" y="2437192"/>
                </a:lnTo>
                <a:close/>
                <a:moveTo>
                  <a:pt x="8709303" y="2425866"/>
                </a:moveTo>
                <a:lnTo>
                  <a:pt x="8711179" y="2428634"/>
                </a:lnTo>
                <a:lnTo>
                  <a:pt x="8711178" y="2428634"/>
                </a:lnTo>
                <a:close/>
                <a:moveTo>
                  <a:pt x="930141" y="2421324"/>
                </a:moveTo>
                <a:lnTo>
                  <a:pt x="930142" y="2421325"/>
                </a:lnTo>
                <a:lnTo>
                  <a:pt x="926573" y="2426576"/>
                </a:lnTo>
                <a:lnTo>
                  <a:pt x="926572" y="2426576"/>
                </a:lnTo>
                <a:close/>
                <a:moveTo>
                  <a:pt x="8732059" y="2414506"/>
                </a:moveTo>
                <a:lnTo>
                  <a:pt x="8733847" y="2417128"/>
                </a:lnTo>
                <a:cubicBezTo>
                  <a:pt x="8726862" y="2421827"/>
                  <a:pt x="8719941" y="2426538"/>
                  <a:pt x="8712956" y="2431256"/>
                </a:cubicBezTo>
                <a:lnTo>
                  <a:pt x="8711179" y="2428634"/>
                </a:lnTo>
                <a:close/>
                <a:moveTo>
                  <a:pt x="905683" y="2412410"/>
                </a:moveTo>
                <a:lnTo>
                  <a:pt x="926572" y="2426576"/>
                </a:lnTo>
                <a:lnTo>
                  <a:pt x="924789" y="2429199"/>
                </a:lnTo>
                <a:cubicBezTo>
                  <a:pt x="917823" y="2424468"/>
                  <a:pt x="910863" y="2419750"/>
                  <a:pt x="903905" y="2415038"/>
                </a:cubicBezTo>
                <a:close/>
                <a:moveTo>
                  <a:pt x="8730210" y="2411795"/>
                </a:moveTo>
                <a:lnTo>
                  <a:pt x="8732069" y="2414499"/>
                </a:lnTo>
                <a:lnTo>
                  <a:pt x="8732059" y="2414506"/>
                </a:lnTo>
                <a:close/>
                <a:moveTo>
                  <a:pt x="908582" y="2408123"/>
                </a:moveTo>
                <a:lnTo>
                  <a:pt x="905683" y="2412410"/>
                </a:lnTo>
                <a:lnTo>
                  <a:pt x="905682" y="2412409"/>
                </a:lnTo>
                <a:close/>
                <a:moveTo>
                  <a:pt x="8726672" y="2406606"/>
                </a:moveTo>
                <a:lnTo>
                  <a:pt x="8730210" y="2411795"/>
                </a:lnTo>
                <a:lnTo>
                  <a:pt x="8728450" y="2409234"/>
                </a:lnTo>
                <a:cubicBezTo>
                  <a:pt x="8721528" y="2413940"/>
                  <a:pt x="8714606" y="2418658"/>
                  <a:pt x="8707622" y="2423382"/>
                </a:cubicBezTo>
                <a:lnTo>
                  <a:pt x="8709303" y="2425866"/>
                </a:lnTo>
                <a:lnTo>
                  <a:pt x="8705844" y="2420760"/>
                </a:lnTo>
                <a:cubicBezTo>
                  <a:pt x="8712765" y="2416029"/>
                  <a:pt x="8719750" y="2411311"/>
                  <a:pt x="8726672" y="2406606"/>
                </a:cubicBezTo>
                <a:close/>
                <a:moveTo>
                  <a:pt x="911016" y="2404523"/>
                </a:moveTo>
                <a:cubicBezTo>
                  <a:pt x="917988" y="2409234"/>
                  <a:pt x="924954" y="2413959"/>
                  <a:pt x="931926" y="2418696"/>
                </a:cubicBezTo>
                <a:lnTo>
                  <a:pt x="930141" y="2421324"/>
                </a:lnTo>
                <a:lnTo>
                  <a:pt x="909238" y="2407152"/>
                </a:lnTo>
                <a:lnTo>
                  <a:pt x="908582" y="2408123"/>
                </a:lnTo>
                <a:close/>
                <a:moveTo>
                  <a:pt x="885456" y="2397338"/>
                </a:moveTo>
                <a:lnTo>
                  <a:pt x="884796" y="2398319"/>
                </a:lnTo>
                <a:lnTo>
                  <a:pt x="884796" y="2398319"/>
                </a:lnTo>
                <a:close/>
                <a:moveTo>
                  <a:pt x="863836" y="2384242"/>
                </a:moveTo>
                <a:lnTo>
                  <a:pt x="884796" y="2398319"/>
                </a:lnTo>
                <a:lnTo>
                  <a:pt x="883025" y="2400948"/>
                </a:lnTo>
                <a:cubicBezTo>
                  <a:pt x="876040" y="2396249"/>
                  <a:pt x="869056" y="2391556"/>
                  <a:pt x="862070" y="2386876"/>
                </a:cubicBezTo>
                <a:close/>
                <a:moveTo>
                  <a:pt x="8770232" y="2381104"/>
                </a:moveTo>
                <a:lnTo>
                  <a:pt x="8773789" y="2386375"/>
                </a:lnTo>
                <a:lnTo>
                  <a:pt x="8773787" y="2386377"/>
                </a:lnTo>
                <a:lnTo>
                  <a:pt x="8770232" y="2381104"/>
                </a:lnTo>
                <a:close/>
                <a:moveTo>
                  <a:pt x="867372" y="2378964"/>
                </a:moveTo>
                <a:lnTo>
                  <a:pt x="867372" y="2378964"/>
                </a:lnTo>
                <a:lnTo>
                  <a:pt x="863836" y="2384242"/>
                </a:lnTo>
                <a:lnTo>
                  <a:pt x="863835" y="2384241"/>
                </a:lnTo>
                <a:close/>
                <a:moveTo>
                  <a:pt x="8768455" y="2378469"/>
                </a:moveTo>
                <a:lnTo>
                  <a:pt x="8770232" y="2381104"/>
                </a:lnTo>
                <a:lnTo>
                  <a:pt x="8749342" y="2395163"/>
                </a:lnTo>
                <a:lnTo>
                  <a:pt x="8752897" y="2400427"/>
                </a:lnTo>
                <a:lnTo>
                  <a:pt x="8773787" y="2386377"/>
                </a:lnTo>
                <a:lnTo>
                  <a:pt x="8775567" y="2389016"/>
                </a:lnTo>
                <a:cubicBezTo>
                  <a:pt x="8768581" y="2393683"/>
                  <a:pt x="8761597" y="2398370"/>
                  <a:pt x="8754612" y="2403062"/>
                </a:cubicBezTo>
                <a:lnTo>
                  <a:pt x="8747563" y="2392528"/>
                </a:lnTo>
                <a:cubicBezTo>
                  <a:pt x="8754548" y="2387829"/>
                  <a:pt x="8761469" y="2383142"/>
                  <a:pt x="8768455" y="2378469"/>
                </a:cubicBezTo>
                <a:close/>
                <a:moveTo>
                  <a:pt x="869138" y="2376329"/>
                </a:moveTo>
                <a:cubicBezTo>
                  <a:pt x="876130" y="2381009"/>
                  <a:pt x="883120" y="2385708"/>
                  <a:pt x="890119" y="2390413"/>
                </a:cubicBezTo>
                <a:lnTo>
                  <a:pt x="885456" y="2397338"/>
                </a:lnTo>
                <a:lnTo>
                  <a:pt x="888340" y="2393048"/>
                </a:lnTo>
                <a:lnTo>
                  <a:pt x="867372" y="2378964"/>
                </a:lnTo>
                <a:close/>
                <a:moveTo>
                  <a:pt x="846366" y="2364924"/>
                </a:moveTo>
                <a:lnTo>
                  <a:pt x="846366" y="2364924"/>
                </a:lnTo>
                <a:lnTo>
                  <a:pt x="845065" y="2366876"/>
                </a:lnTo>
                <a:close/>
                <a:moveTo>
                  <a:pt x="821858" y="2356246"/>
                </a:moveTo>
                <a:lnTo>
                  <a:pt x="842842" y="2370207"/>
                </a:lnTo>
                <a:lnTo>
                  <a:pt x="845065" y="2366876"/>
                </a:lnTo>
                <a:lnTo>
                  <a:pt x="841084" y="2372849"/>
                </a:lnTo>
                <a:cubicBezTo>
                  <a:pt x="834085" y="2368182"/>
                  <a:pt x="827095" y="2363534"/>
                  <a:pt x="820103" y="2358892"/>
                </a:cubicBezTo>
                <a:close/>
                <a:moveTo>
                  <a:pt x="8812143" y="2353145"/>
                </a:moveTo>
                <a:lnTo>
                  <a:pt x="8814146" y="2356178"/>
                </a:lnTo>
                <a:lnTo>
                  <a:pt x="8812130" y="2353154"/>
                </a:lnTo>
                <a:close/>
                <a:moveTo>
                  <a:pt x="823964" y="2353068"/>
                </a:moveTo>
                <a:lnTo>
                  <a:pt x="821858" y="2356246"/>
                </a:lnTo>
                <a:lnTo>
                  <a:pt x="821855" y="2356244"/>
                </a:lnTo>
                <a:close/>
                <a:moveTo>
                  <a:pt x="8810365" y="2350504"/>
                </a:moveTo>
                <a:lnTo>
                  <a:pt x="8812130" y="2353154"/>
                </a:lnTo>
                <a:lnTo>
                  <a:pt x="8791188" y="2367090"/>
                </a:lnTo>
                <a:lnTo>
                  <a:pt x="8794744" y="2372373"/>
                </a:lnTo>
                <a:cubicBezTo>
                  <a:pt x="8801665" y="2367712"/>
                  <a:pt x="8808650" y="2363070"/>
                  <a:pt x="8815635" y="2358434"/>
                </a:cubicBezTo>
                <a:lnTo>
                  <a:pt x="8814146" y="2356178"/>
                </a:lnTo>
                <a:lnTo>
                  <a:pt x="8817413" y="2361082"/>
                </a:lnTo>
                <a:cubicBezTo>
                  <a:pt x="8810428" y="2365712"/>
                  <a:pt x="8803444" y="2370354"/>
                  <a:pt x="8796458" y="2375008"/>
                </a:cubicBezTo>
                <a:lnTo>
                  <a:pt x="8789410" y="2364448"/>
                </a:lnTo>
                <a:cubicBezTo>
                  <a:pt x="8796394" y="2359787"/>
                  <a:pt x="8803380" y="2355139"/>
                  <a:pt x="8810365" y="2350504"/>
                </a:cubicBezTo>
                <a:close/>
                <a:moveTo>
                  <a:pt x="827120" y="2348306"/>
                </a:moveTo>
                <a:cubicBezTo>
                  <a:pt x="834124" y="2352955"/>
                  <a:pt x="841121" y="2357609"/>
                  <a:pt x="848125" y="2362283"/>
                </a:cubicBezTo>
                <a:lnTo>
                  <a:pt x="846366" y="2364924"/>
                </a:lnTo>
                <a:lnTo>
                  <a:pt x="825368" y="2350954"/>
                </a:lnTo>
                <a:lnTo>
                  <a:pt x="823964" y="2353068"/>
                </a:lnTo>
                <a:close/>
                <a:moveTo>
                  <a:pt x="8833119" y="2339224"/>
                </a:moveTo>
                <a:lnTo>
                  <a:pt x="8834876" y="2341890"/>
                </a:lnTo>
                <a:lnTo>
                  <a:pt x="8833098" y="2339238"/>
                </a:lnTo>
                <a:close/>
                <a:moveTo>
                  <a:pt x="8857660" y="2330674"/>
                </a:moveTo>
                <a:lnTo>
                  <a:pt x="8859387" y="2333320"/>
                </a:lnTo>
                <a:cubicBezTo>
                  <a:pt x="8852402" y="2337930"/>
                  <a:pt x="8845417" y="2342553"/>
                  <a:pt x="8838369" y="2347189"/>
                </a:cubicBezTo>
                <a:lnTo>
                  <a:pt x="8834876" y="2341890"/>
                </a:lnTo>
                <a:lnTo>
                  <a:pt x="8836654" y="2344541"/>
                </a:lnTo>
                <a:close/>
                <a:moveTo>
                  <a:pt x="8855660" y="2327608"/>
                </a:moveTo>
                <a:lnTo>
                  <a:pt x="8857672" y="2330666"/>
                </a:lnTo>
                <a:lnTo>
                  <a:pt x="8857660" y="2330674"/>
                </a:lnTo>
                <a:close/>
                <a:moveTo>
                  <a:pt x="783209" y="2323116"/>
                </a:moveTo>
                <a:lnTo>
                  <a:pt x="783213" y="2323118"/>
                </a:lnTo>
                <a:lnTo>
                  <a:pt x="780213" y="2327680"/>
                </a:lnTo>
                <a:close/>
                <a:moveTo>
                  <a:pt x="8852465" y="2322710"/>
                </a:moveTo>
                <a:lnTo>
                  <a:pt x="8855660" y="2327608"/>
                </a:lnTo>
                <a:lnTo>
                  <a:pt x="8854180" y="2325357"/>
                </a:lnTo>
                <a:lnTo>
                  <a:pt x="8833119" y="2339224"/>
                </a:lnTo>
                <a:lnTo>
                  <a:pt x="8831383" y="2336590"/>
                </a:lnTo>
                <a:cubicBezTo>
                  <a:pt x="8838369" y="2331949"/>
                  <a:pt x="8845417" y="2327326"/>
                  <a:pt x="8852465" y="2322710"/>
                </a:cubicBezTo>
                <a:close/>
                <a:moveTo>
                  <a:pt x="784955" y="2320468"/>
                </a:moveTo>
                <a:cubicBezTo>
                  <a:pt x="791991" y="2325091"/>
                  <a:pt x="799034" y="2329726"/>
                  <a:pt x="806076" y="2334374"/>
                </a:cubicBezTo>
                <a:lnTo>
                  <a:pt x="799078" y="2344972"/>
                </a:lnTo>
                <a:cubicBezTo>
                  <a:pt x="792042" y="2340331"/>
                  <a:pt x="785013" y="2335695"/>
                  <a:pt x="777977" y="2331079"/>
                </a:cubicBezTo>
                <a:lnTo>
                  <a:pt x="780213" y="2327680"/>
                </a:lnTo>
                <a:lnTo>
                  <a:pt x="779723" y="2328425"/>
                </a:lnTo>
                <a:cubicBezTo>
                  <a:pt x="786753" y="2333047"/>
                  <a:pt x="793788" y="2337676"/>
                  <a:pt x="800824" y="2342325"/>
                </a:cubicBezTo>
                <a:lnTo>
                  <a:pt x="804323" y="2337022"/>
                </a:lnTo>
                <a:lnTo>
                  <a:pt x="783213" y="2323118"/>
                </a:lnTo>
                <a:close/>
                <a:moveTo>
                  <a:pt x="8875222" y="2311544"/>
                </a:moveTo>
                <a:lnTo>
                  <a:pt x="8878712" y="2316855"/>
                </a:lnTo>
                <a:lnTo>
                  <a:pt x="8878691" y="2316868"/>
                </a:lnTo>
                <a:lnTo>
                  <a:pt x="8875198" y="2311559"/>
                </a:lnTo>
                <a:close/>
                <a:moveTo>
                  <a:pt x="762108" y="2309292"/>
                </a:moveTo>
                <a:lnTo>
                  <a:pt x="762108" y="2309292"/>
                </a:lnTo>
                <a:lnTo>
                  <a:pt x="758635" y="2314607"/>
                </a:lnTo>
                <a:lnTo>
                  <a:pt x="758633" y="2314606"/>
                </a:lnTo>
                <a:close/>
                <a:moveTo>
                  <a:pt x="8899762" y="2303140"/>
                </a:moveTo>
                <a:lnTo>
                  <a:pt x="8901487" y="2305793"/>
                </a:lnTo>
                <a:cubicBezTo>
                  <a:pt x="8894502" y="2310359"/>
                  <a:pt x="8887454" y="2314937"/>
                  <a:pt x="8880469" y="2319528"/>
                </a:cubicBezTo>
                <a:lnTo>
                  <a:pt x="8878712" y="2316855"/>
                </a:lnTo>
                <a:close/>
                <a:moveTo>
                  <a:pt x="8897980" y="2300401"/>
                </a:moveTo>
                <a:lnTo>
                  <a:pt x="8899773" y="2303132"/>
                </a:lnTo>
                <a:lnTo>
                  <a:pt x="8899762" y="2303140"/>
                </a:lnTo>
                <a:close/>
                <a:moveTo>
                  <a:pt x="8894566" y="2295150"/>
                </a:moveTo>
                <a:lnTo>
                  <a:pt x="8897980" y="2300401"/>
                </a:lnTo>
                <a:lnTo>
                  <a:pt x="8896281" y="2297811"/>
                </a:lnTo>
                <a:lnTo>
                  <a:pt x="8875222" y="2311544"/>
                </a:lnTo>
                <a:lnTo>
                  <a:pt x="8873484" y="2308898"/>
                </a:lnTo>
                <a:cubicBezTo>
                  <a:pt x="8880532" y="2304301"/>
                  <a:pt x="8887518" y="2299723"/>
                  <a:pt x="8894566" y="2295150"/>
                </a:cubicBezTo>
                <a:close/>
                <a:moveTo>
                  <a:pt x="742722" y="2292858"/>
                </a:moveTo>
                <a:cubicBezTo>
                  <a:pt x="749764" y="2297437"/>
                  <a:pt x="756800" y="2302027"/>
                  <a:pt x="763848" y="2306631"/>
                </a:cubicBezTo>
                <a:lnTo>
                  <a:pt x="762108" y="2309292"/>
                </a:lnTo>
                <a:lnTo>
                  <a:pt x="740994" y="2295519"/>
                </a:lnTo>
                <a:lnTo>
                  <a:pt x="737534" y="2300847"/>
                </a:lnTo>
                <a:lnTo>
                  <a:pt x="758633" y="2314606"/>
                </a:lnTo>
                <a:lnTo>
                  <a:pt x="756895" y="2317261"/>
                </a:lnTo>
                <a:cubicBezTo>
                  <a:pt x="749859" y="2312664"/>
                  <a:pt x="742830" y="2308079"/>
                  <a:pt x="735800" y="2303507"/>
                </a:cubicBezTo>
                <a:close/>
                <a:moveTo>
                  <a:pt x="8917438" y="2284063"/>
                </a:moveTo>
                <a:lnTo>
                  <a:pt x="8919058" y="2286560"/>
                </a:lnTo>
                <a:lnTo>
                  <a:pt x="8917426" y="2284070"/>
                </a:lnTo>
                <a:close/>
                <a:moveTo>
                  <a:pt x="719771" y="2281751"/>
                </a:moveTo>
                <a:lnTo>
                  <a:pt x="719773" y="2281752"/>
                </a:lnTo>
                <a:lnTo>
                  <a:pt x="718325" y="2283988"/>
                </a:lnTo>
                <a:close/>
                <a:moveTo>
                  <a:pt x="8942053" y="2275753"/>
                </a:moveTo>
                <a:lnTo>
                  <a:pt x="8943778" y="2278412"/>
                </a:lnTo>
                <a:cubicBezTo>
                  <a:pt x="8936730" y="2282952"/>
                  <a:pt x="8929682" y="2287499"/>
                  <a:pt x="8922632" y="2292064"/>
                </a:cubicBezTo>
                <a:lnTo>
                  <a:pt x="8919058" y="2286560"/>
                </a:lnTo>
                <a:lnTo>
                  <a:pt x="8920919" y="2289397"/>
                </a:lnTo>
                <a:close/>
                <a:moveTo>
                  <a:pt x="8938635" y="2270405"/>
                </a:moveTo>
                <a:lnTo>
                  <a:pt x="8942064" y="2275745"/>
                </a:lnTo>
                <a:lnTo>
                  <a:pt x="8942053" y="2275753"/>
                </a:lnTo>
                <a:lnTo>
                  <a:pt x="8938600" y="2270428"/>
                </a:lnTo>
                <a:close/>
                <a:moveTo>
                  <a:pt x="8936856" y="2267738"/>
                </a:moveTo>
                <a:lnTo>
                  <a:pt x="8938600" y="2270428"/>
                </a:lnTo>
                <a:lnTo>
                  <a:pt x="8917438" y="2284063"/>
                </a:lnTo>
                <a:lnTo>
                  <a:pt x="8915711" y="2281403"/>
                </a:lnTo>
                <a:cubicBezTo>
                  <a:pt x="8922760" y="2276831"/>
                  <a:pt x="8929808" y="2272278"/>
                  <a:pt x="8936856" y="2267738"/>
                </a:cubicBezTo>
                <a:close/>
                <a:moveTo>
                  <a:pt x="700278" y="2265394"/>
                </a:moveTo>
                <a:cubicBezTo>
                  <a:pt x="707352" y="2269947"/>
                  <a:pt x="714420" y="2274513"/>
                  <a:pt x="721494" y="2279085"/>
                </a:cubicBezTo>
                <a:lnTo>
                  <a:pt x="719771" y="2281751"/>
                </a:lnTo>
                <a:lnTo>
                  <a:pt x="698564" y="2268068"/>
                </a:lnTo>
                <a:lnTo>
                  <a:pt x="695128" y="2273408"/>
                </a:lnTo>
                <a:cubicBezTo>
                  <a:pt x="702190" y="2277954"/>
                  <a:pt x="709251" y="2282514"/>
                  <a:pt x="716318" y="2287086"/>
                </a:cubicBezTo>
                <a:lnTo>
                  <a:pt x="718325" y="2283988"/>
                </a:lnTo>
                <a:lnTo>
                  <a:pt x="714598" y="2289753"/>
                </a:lnTo>
                <a:cubicBezTo>
                  <a:pt x="707530" y="2285181"/>
                  <a:pt x="700469" y="2280622"/>
                  <a:pt x="693408" y="2276075"/>
                </a:cubicBezTo>
                <a:close/>
                <a:moveTo>
                  <a:pt x="8980989" y="2243227"/>
                </a:moveTo>
                <a:cubicBezTo>
                  <a:pt x="8973941" y="2247741"/>
                  <a:pt x="8966829" y="2252275"/>
                  <a:pt x="8959717" y="2256822"/>
                </a:cubicBezTo>
                <a:lnTo>
                  <a:pt x="8963146" y="2262169"/>
                </a:lnTo>
                <a:cubicBezTo>
                  <a:pt x="8970257" y="2257628"/>
                  <a:pt x="8977369" y="2253094"/>
                  <a:pt x="8984419" y="2248580"/>
                </a:cubicBezTo>
                <a:close/>
                <a:moveTo>
                  <a:pt x="656038" y="2240839"/>
                </a:moveTo>
                <a:lnTo>
                  <a:pt x="656040" y="2240840"/>
                </a:lnTo>
                <a:lnTo>
                  <a:pt x="652629" y="2246198"/>
                </a:lnTo>
                <a:lnTo>
                  <a:pt x="652628" y="2246198"/>
                </a:lnTo>
                <a:close/>
                <a:moveTo>
                  <a:pt x="8979338" y="2240547"/>
                </a:moveTo>
                <a:lnTo>
                  <a:pt x="8986132" y="2251259"/>
                </a:lnTo>
                <a:cubicBezTo>
                  <a:pt x="8979084" y="2255774"/>
                  <a:pt x="8971972" y="2260302"/>
                  <a:pt x="8964860" y="2264842"/>
                </a:cubicBezTo>
                <a:lnTo>
                  <a:pt x="8958002" y="2254149"/>
                </a:lnTo>
                <a:cubicBezTo>
                  <a:pt x="8965114" y="2249602"/>
                  <a:pt x="8972226" y="2245068"/>
                  <a:pt x="8979338" y="2240547"/>
                </a:cubicBezTo>
                <a:close/>
                <a:moveTo>
                  <a:pt x="657746" y="2238159"/>
                </a:moveTo>
                <a:cubicBezTo>
                  <a:pt x="664858" y="2242687"/>
                  <a:pt x="671970" y="2247233"/>
                  <a:pt x="679082" y="2251786"/>
                </a:cubicBezTo>
                <a:lnTo>
                  <a:pt x="672237" y="2262480"/>
                </a:lnTo>
                <a:cubicBezTo>
                  <a:pt x="665125" y="2257933"/>
                  <a:pt x="658025" y="2253393"/>
                  <a:pt x="650926" y="2248872"/>
                </a:cubicBezTo>
                <a:lnTo>
                  <a:pt x="652629" y="2246198"/>
                </a:lnTo>
                <a:lnTo>
                  <a:pt x="673945" y="2259806"/>
                </a:lnTo>
                <a:lnTo>
                  <a:pt x="677367" y="2254460"/>
                </a:lnTo>
                <a:lnTo>
                  <a:pt x="656040" y="2240840"/>
                </a:lnTo>
                <a:close/>
                <a:moveTo>
                  <a:pt x="9004339" y="2232958"/>
                </a:moveTo>
                <a:lnTo>
                  <a:pt x="9005692" y="2235073"/>
                </a:lnTo>
                <a:lnTo>
                  <a:pt x="9005691" y="2235073"/>
                </a:lnTo>
                <a:close/>
                <a:moveTo>
                  <a:pt x="9025278" y="2219060"/>
                </a:moveTo>
                <a:lnTo>
                  <a:pt x="9028614" y="2224335"/>
                </a:lnTo>
                <a:cubicBezTo>
                  <a:pt x="9021502" y="2228793"/>
                  <a:pt x="9014454" y="2233263"/>
                  <a:pt x="9007406" y="2237753"/>
                </a:cubicBezTo>
                <a:lnTo>
                  <a:pt x="9005692" y="2235073"/>
                </a:lnTo>
                <a:lnTo>
                  <a:pt x="9026900" y="2221649"/>
                </a:lnTo>
                <a:close/>
                <a:moveTo>
                  <a:pt x="9023534" y="2216277"/>
                </a:moveTo>
                <a:lnTo>
                  <a:pt x="9025278" y="2219060"/>
                </a:lnTo>
                <a:lnTo>
                  <a:pt x="9023522" y="2216285"/>
                </a:lnTo>
                <a:close/>
                <a:moveTo>
                  <a:pt x="613429" y="2213845"/>
                </a:moveTo>
                <a:lnTo>
                  <a:pt x="610045" y="2219217"/>
                </a:lnTo>
                <a:cubicBezTo>
                  <a:pt x="617131" y="2223688"/>
                  <a:pt x="624231" y="2228171"/>
                  <a:pt x="631324" y="2232667"/>
                </a:cubicBezTo>
                <a:lnTo>
                  <a:pt x="634721" y="2227301"/>
                </a:lnTo>
                <a:cubicBezTo>
                  <a:pt x="627621" y="2222799"/>
                  <a:pt x="620522" y="2218315"/>
                  <a:pt x="613429" y="2213845"/>
                </a:cubicBezTo>
                <a:close/>
                <a:moveTo>
                  <a:pt x="9021819" y="2213591"/>
                </a:moveTo>
                <a:lnTo>
                  <a:pt x="9023522" y="2216285"/>
                </a:lnTo>
                <a:lnTo>
                  <a:pt x="9002262" y="2229707"/>
                </a:lnTo>
                <a:lnTo>
                  <a:pt x="9004339" y="2232958"/>
                </a:lnTo>
                <a:lnTo>
                  <a:pt x="9000547" y="2227028"/>
                </a:lnTo>
                <a:cubicBezTo>
                  <a:pt x="9007659" y="2222532"/>
                  <a:pt x="9014771" y="2218055"/>
                  <a:pt x="9021819" y="2213591"/>
                </a:cubicBezTo>
                <a:close/>
                <a:moveTo>
                  <a:pt x="615118" y="2211159"/>
                </a:moveTo>
                <a:cubicBezTo>
                  <a:pt x="622218" y="2215629"/>
                  <a:pt x="629317" y="2220119"/>
                  <a:pt x="636423" y="2224621"/>
                </a:cubicBezTo>
                <a:lnTo>
                  <a:pt x="629628" y="2235346"/>
                </a:lnTo>
                <a:cubicBezTo>
                  <a:pt x="622529" y="2230850"/>
                  <a:pt x="615436" y="2226374"/>
                  <a:pt x="608349" y="2221903"/>
                </a:cubicBezTo>
                <a:close/>
                <a:moveTo>
                  <a:pt x="9044894" y="2202833"/>
                </a:moveTo>
                <a:lnTo>
                  <a:pt x="9048258" y="2208212"/>
                </a:lnTo>
                <a:lnTo>
                  <a:pt x="9048236" y="2208225"/>
                </a:lnTo>
                <a:lnTo>
                  <a:pt x="9044870" y="2202847"/>
                </a:lnTo>
                <a:close/>
                <a:moveTo>
                  <a:pt x="9069613" y="2194885"/>
                </a:moveTo>
                <a:lnTo>
                  <a:pt x="9071286" y="2197564"/>
                </a:lnTo>
                <a:cubicBezTo>
                  <a:pt x="9064174" y="2202002"/>
                  <a:pt x="9057062" y="2206447"/>
                  <a:pt x="9049950" y="2210918"/>
                </a:cubicBezTo>
                <a:lnTo>
                  <a:pt x="9048258" y="2208212"/>
                </a:lnTo>
                <a:close/>
                <a:moveTo>
                  <a:pt x="9066269" y="2189480"/>
                </a:moveTo>
                <a:lnTo>
                  <a:pt x="9069635" y="2194871"/>
                </a:lnTo>
                <a:lnTo>
                  <a:pt x="9069613" y="2194885"/>
                </a:lnTo>
                <a:lnTo>
                  <a:pt x="9066246" y="2189495"/>
                </a:lnTo>
                <a:close/>
                <a:moveTo>
                  <a:pt x="570586" y="2187010"/>
                </a:moveTo>
                <a:lnTo>
                  <a:pt x="570587" y="2187011"/>
                </a:lnTo>
                <a:lnTo>
                  <a:pt x="567230" y="2192397"/>
                </a:lnTo>
                <a:lnTo>
                  <a:pt x="567227" y="2192395"/>
                </a:lnTo>
                <a:close/>
                <a:moveTo>
                  <a:pt x="9064556" y="2186788"/>
                </a:moveTo>
                <a:lnTo>
                  <a:pt x="9066246" y="2189495"/>
                </a:lnTo>
                <a:lnTo>
                  <a:pt x="9044894" y="2202833"/>
                </a:lnTo>
                <a:lnTo>
                  <a:pt x="9043219" y="2200154"/>
                </a:lnTo>
                <a:cubicBezTo>
                  <a:pt x="9050332" y="2195684"/>
                  <a:pt x="9057444" y="2191226"/>
                  <a:pt x="9064556" y="2186788"/>
                </a:cubicBezTo>
                <a:close/>
                <a:moveTo>
                  <a:pt x="572269" y="2184311"/>
                </a:moveTo>
                <a:cubicBezTo>
                  <a:pt x="579406" y="2188763"/>
                  <a:pt x="586550" y="2193227"/>
                  <a:pt x="593700" y="2197703"/>
                </a:cubicBezTo>
                <a:lnTo>
                  <a:pt x="586956" y="2208467"/>
                </a:lnTo>
                <a:cubicBezTo>
                  <a:pt x="579819" y="2203990"/>
                  <a:pt x="572681" y="2199532"/>
                  <a:pt x="565550" y="2195093"/>
                </a:cubicBezTo>
                <a:lnTo>
                  <a:pt x="567230" y="2192397"/>
                </a:lnTo>
                <a:lnTo>
                  <a:pt x="588639" y="2205774"/>
                </a:lnTo>
                <a:lnTo>
                  <a:pt x="592011" y="2200396"/>
                </a:lnTo>
                <a:lnTo>
                  <a:pt x="570587" y="2187011"/>
                </a:lnTo>
                <a:close/>
                <a:moveTo>
                  <a:pt x="9089230" y="2178861"/>
                </a:moveTo>
                <a:lnTo>
                  <a:pt x="9090930" y="2181586"/>
                </a:lnTo>
                <a:lnTo>
                  <a:pt x="9090907" y="2181600"/>
                </a:lnTo>
                <a:close/>
                <a:moveTo>
                  <a:pt x="549185" y="2173713"/>
                </a:moveTo>
                <a:lnTo>
                  <a:pt x="549186" y="2173713"/>
                </a:lnTo>
                <a:lnTo>
                  <a:pt x="547164" y="2176977"/>
                </a:lnTo>
                <a:close/>
                <a:moveTo>
                  <a:pt x="9112361" y="2168360"/>
                </a:moveTo>
                <a:lnTo>
                  <a:pt x="9114022" y="2171052"/>
                </a:lnTo>
                <a:cubicBezTo>
                  <a:pt x="9106910" y="2175453"/>
                  <a:pt x="9099734" y="2179872"/>
                  <a:pt x="9092622" y="2184299"/>
                </a:cubicBezTo>
                <a:lnTo>
                  <a:pt x="9090930" y="2181586"/>
                </a:lnTo>
                <a:close/>
                <a:moveTo>
                  <a:pt x="524354" y="2165841"/>
                </a:moveTo>
                <a:lnTo>
                  <a:pt x="545840" y="2179111"/>
                </a:lnTo>
                <a:lnTo>
                  <a:pt x="547164" y="2176977"/>
                </a:lnTo>
                <a:lnTo>
                  <a:pt x="544170" y="2181809"/>
                </a:lnTo>
                <a:cubicBezTo>
                  <a:pt x="537007" y="2177371"/>
                  <a:pt x="529844" y="2172951"/>
                  <a:pt x="522688" y="2168544"/>
                </a:cubicBezTo>
                <a:close/>
                <a:moveTo>
                  <a:pt x="9110680" y="2165635"/>
                </a:moveTo>
                <a:lnTo>
                  <a:pt x="9112371" y="2168354"/>
                </a:lnTo>
                <a:lnTo>
                  <a:pt x="9112361" y="2168360"/>
                </a:lnTo>
                <a:close/>
                <a:moveTo>
                  <a:pt x="527685" y="2160429"/>
                </a:moveTo>
                <a:lnTo>
                  <a:pt x="527686" y="2160430"/>
                </a:lnTo>
                <a:lnTo>
                  <a:pt x="524354" y="2165841"/>
                </a:lnTo>
                <a:lnTo>
                  <a:pt x="524351" y="2165839"/>
                </a:lnTo>
                <a:close/>
                <a:moveTo>
                  <a:pt x="9107355" y="2160245"/>
                </a:moveTo>
                <a:lnTo>
                  <a:pt x="9110680" y="2165635"/>
                </a:lnTo>
                <a:lnTo>
                  <a:pt x="9109006" y="2162943"/>
                </a:lnTo>
                <a:cubicBezTo>
                  <a:pt x="9101894" y="2167350"/>
                  <a:pt x="9094718" y="2171770"/>
                  <a:pt x="9087606" y="2176209"/>
                </a:cubicBezTo>
                <a:lnTo>
                  <a:pt x="9089230" y="2178861"/>
                </a:lnTo>
                <a:lnTo>
                  <a:pt x="9085892" y="2173510"/>
                </a:lnTo>
                <a:cubicBezTo>
                  <a:pt x="9093067" y="2169071"/>
                  <a:pt x="9100243" y="2164652"/>
                  <a:pt x="9107355" y="2160245"/>
                </a:cubicBezTo>
                <a:close/>
                <a:moveTo>
                  <a:pt x="529349" y="2157730"/>
                </a:moveTo>
                <a:cubicBezTo>
                  <a:pt x="536512" y="2162143"/>
                  <a:pt x="543681" y="2166569"/>
                  <a:pt x="550856" y="2171014"/>
                </a:cubicBezTo>
                <a:lnTo>
                  <a:pt x="549185" y="2173713"/>
                </a:lnTo>
                <a:lnTo>
                  <a:pt x="527686" y="2160430"/>
                </a:lnTo>
                <a:close/>
                <a:moveTo>
                  <a:pt x="9131106" y="2150685"/>
                </a:moveTo>
                <a:lnTo>
                  <a:pt x="9133834" y="2155158"/>
                </a:lnTo>
                <a:lnTo>
                  <a:pt x="9133834" y="2155158"/>
                </a:lnTo>
                <a:close/>
                <a:moveTo>
                  <a:pt x="506145" y="2147207"/>
                </a:moveTo>
                <a:lnTo>
                  <a:pt x="506146" y="2147208"/>
                </a:lnTo>
                <a:lnTo>
                  <a:pt x="504739" y="2149505"/>
                </a:lnTo>
                <a:close/>
                <a:moveTo>
                  <a:pt x="481333" y="2139495"/>
                </a:moveTo>
                <a:lnTo>
                  <a:pt x="502831" y="2152618"/>
                </a:lnTo>
                <a:lnTo>
                  <a:pt x="504739" y="2149505"/>
                </a:lnTo>
                <a:lnTo>
                  <a:pt x="501174" y="2155330"/>
                </a:lnTo>
                <a:cubicBezTo>
                  <a:pt x="494005" y="2150942"/>
                  <a:pt x="486842" y="2146567"/>
                  <a:pt x="479679" y="2142211"/>
                </a:cubicBezTo>
                <a:close/>
                <a:moveTo>
                  <a:pt x="484632" y="2134070"/>
                </a:moveTo>
                <a:lnTo>
                  <a:pt x="484633" y="2134071"/>
                </a:lnTo>
                <a:lnTo>
                  <a:pt x="481333" y="2139495"/>
                </a:lnTo>
                <a:lnTo>
                  <a:pt x="481330" y="2139493"/>
                </a:lnTo>
                <a:close/>
                <a:moveTo>
                  <a:pt x="9150344" y="2133918"/>
                </a:moveTo>
                <a:lnTo>
                  <a:pt x="9156948" y="2144763"/>
                </a:lnTo>
                <a:cubicBezTo>
                  <a:pt x="9149772" y="2149113"/>
                  <a:pt x="9142660" y="2153482"/>
                  <a:pt x="9135485" y="2157864"/>
                </a:cubicBezTo>
                <a:lnTo>
                  <a:pt x="9133834" y="2155158"/>
                </a:lnTo>
                <a:lnTo>
                  <a:pt x="9155297" y="2142052"/>
                </a:lnTo>
                <a:lnTo>
                  <a:pt x="9151994" y="2136629"/>
                </a:lnTo>
                <a:cubicBezTo>
                  <a:pt x="9144819" y="2140985"/>
                  <a:pt x="9137644" y="2145354"/>
                  <a:pt x="9130531" y="2149742"/>
                </a:cubicBezTo>
                <a:lnTo>
                  <a:pt x="9131106" y="2150685"/>
                </a:lnTo>
                <a:lnTo>
                  <a:pt x="9128881" y="2147037"/>
                </a:lnTo>
                <a:cubicBezTo>
                  <a:pt x="9135993" y="2142649"/>
                  <a:pt x="9143169" y="2138274"/>
                  <a:pt x="9150344" y="2133918"/>
                </a:cubicBezTo>
                <a:close/>
                <a:moveTo>
                  <a:pt x="486283" y="2131359"/>
                </a:moveTo>
                <a:cubicBezTo>
                  <a:pt x="493452" y="2135721"/>
                  <a:pt x="500628" y="2140102"/>
                  <a:pt x="507803" y="2144497"/>
                </a:cubicBezTo>
                <a:lnTo>
                  <a:pt x="506145" y="2147207"/>
                </a:lnTo>
                <a:lnTo>
                  <a:pt x="484633" y="2134071"/>
                </a:lnTo>
                <a:close/>
                <a:moveTo>
                  <a:pt x="461249" y="2123940"/>
                </a:moveTo>
                <a:lnTo>
                  <a:pt x="459759" y="2126406"/>
                </a:lnTo>
                <a:lnTo>
                  <a:pt x="459758" y="2126406"/>
                </a:lnTo>
                <a:close/>
                <a:moveTo>
                  <a:pt x="9195111" y="2110505"/>
                </a:moveTo>
                <a:lnTo>
                  <a:pt x="9196724" y="2113215"/>
                </a:lnTo>
                <a:lnTo>
                  <a:pt x="9195099" y="2110513"/>
                </a:lnTo>
                <a:close/>
                <a:moveTo>
                  <a:pt x="9193460" y="2107787"/>
                </a:moveTo>
                <a:lnTo>
                  <a:pt x="9195099" y="2110513"/>
                </a:lnTo>
                <a:lnTo>
                  <a:pt x="9173521" y="2123548"/>
                </a:lnTo>
                <a:lnTo>
                  <a:pt x="9176823" y="2128977"/>
                </a:lnTo>
                <a:cubicBezTo>
                  <a:pt x="9183999" y="2124621"/>
                  <a:pt x="9191174" y="2120271"/>
                  <a:pt x="9198350" y="2115947"/>
                </a:cubicBezTo>
                <a:lnTo>
                  <a:pt x="9196724" y="2113215"/>
                </a:lnTo>
                <a:lnTo>
                  <a:pt x="9200001" y="2118665"/>
                </a:lnTo>
                <a:cubicBezTo>
                  <a:pt x="9192825" y="2122996"/>
                  <a:pt x="9185650" y="2127333"/>
                  <a:pt x="9178411" y="2131695"/>
                </a:cubicBezTo>
                <a:lnTo>
                  <a:pt x="9171870" y="2120830"/>
                </a:lnTo>
                <a:cubicBezTo>
                  <a:pt x="9179046" y="2116468"/>
                  <a:pt x="9186285" y="2112118"/>
                  <a:pt x="9193460" y="2107787"/>
                </a:cubicBezTo>
                <a:close/>
                <a:moveTo>
                  <a:pt x="443033" y="2105190"/>
                </a:moveTo>
                <a:cubicBezTo>
                  <a:pt x="450247" y="2109527"/>
                  <a:pt x="457467" y="2113883"/>
                  <a:pt x="464687" y="2118252"/>
                </a:cubicBezTo>
                <a:lnTo>
                  <a:pt x="461249" y="2123940"/>
                </a:lnTo>
                <a:lnTo>
                  <a:pt x="463042" y="2120970"/>
                </a:lnTo>
                <a:cubicBezTo>
                  <a:pt x="455822" y="2116601"/>
                  <a:pt x="448609" y="2112251"/>
                  <a:pt x="441395" y="2107914"/>
                </a:cubicBezTo>
                <a:lnTo>
                  <a:pt x="438125" y="2113356"/>
                </a:lnTo>
                <a:lnTo>
                  <a:pt x="459758" y="2126406"/>
                </a:lnTo>
                <a:lnTo>
                  <a:pt x="458115" y="2129123"/>
                </a:lnTo>
                <a:cubicBezTo>
                  <a:pt x="450901" y="2124755"/>
                  <a:pt x="443694" y="2120405"/>
                  <a:pt x="436487" y="2116074"/>
                </a:cubicBezTo>
                <a:close/>
                <a:moveTo>
                  <a:pt x="9216661" y="2097551"/>
                </a:moveTo>
                <a:lnTo>
                  <a:pt x="9218259" y="2100239"/>
                </a:lnTo>
                <a:lnTo>
                  <a:pt x="9216638" y="2097564"/>
                </a:lnTo>
                <a:close/>
                <a:moveTo>
                  <a:pt x="419772" y="2094948"/>
                </a:moveTo>
                <a:lnTo>
                  <a:pt x="419773" y="2094948"/>
                </a:lnTo>
                <a:lnTo>
                  <a:pt x="416516" y="2100402"/>
                </a:lnTo>
                <a:lnTo>
                  <a:pt x="416513" y="2100401"/>
                </a:lnTo>
                <a:close/>
                <a:moveTo>
                  <a:pt x="9239955" y="2087470"/>
                </a:moveTo>
                <a:lnTo>
                  <a:pt x="9243181" y="2092852"/>
                </a:lnTo>
                <a:cubicBezTo>
                  <a:pt x="9235942" y="2097132"/>
                  <a:pt x="9228767" y="2101425"/>
                  <a:pt x="9221527" y="2105736"/>
                </a:cubicBezTo>
                <a:lnTo>
                  <a:pt x="9218259" y="2100239"/>
                </a:lnTo>
                <a:lnTo>
                  <a:pt x="9219940" y="2103012"/>
                </a:lnTo>
                <a:cubicBezTo>
                  <a:pt x="9227115" y="2098701"/>
                  <a:pt x="9234355" y="2094401"/>
                  <a:pt x="9241530" y="2090122"/>
                </a:cubicBezTo>
                <a:close/>
                <a:moveTo>
                  <a:pt x="9238292" y="2084667"/>
                </a:moveTo>
                <a:lnTo>
                  <a:pt x="9239955" y="2087470"/>
                </a:lnTo>
                <a:lnTo>
                  <a:pt x="9238280" y="2084674"/>
                </a:lnTo>
                <a:close/>
                <a:moveTo>
                  <a:pt x="396594" y="2084553"/>
                </a:moveTo>
                <a:lnTo>
                  <a:pt x="394850" y="2087493"/>
                </a:lnTo>
                <a:lnTo>
                  <a:pt x="416513" y="2100401"/>
                </a:lnTo>
                <a:lnTo>
                  <a:pt x="414884" y="2103126"/>
                </a:lnTo>
                <a:cubicBezTo>
                  <a:pt x="407658" y="2098808"/>
                  <a:pt x="400438" y="2094509"/>
                  <a:pt x="393224" y="2090223"/>
                </a:cubicBezTo>
                <a:close/>
                <a:moveTo>
                  <a:pt x="398088" y="2082032"/>
                </a:moveTo>
                <a:lnTo>
                  <a:pt x="398091" y="2082034"/>
                </a:lnTo>
                <a:lnTo>
                  <a:pt x="396594" y="2084553"/>
                </a:lnTo>
                <a:close/>
                <a:moveTo>
                  <a:pt x="9236640" y="2081937"/>
                </a:moveTo>
                <a:lnTo>
                  <a:pt x="9238280" y="2084674"/>
                </a:lnTo>
                <a:lnTo>
                  <a:pt x="9216661" y="2097551"/>
                </a:lnTo>
                <a:lnTo>
                  <a:pt x="9215050" y="2094840"/>
                </a:lnTo>
                <a:cubicBezTo>
                  <a:pt x="9222226" y="2090522"/>
                  <a:pt x="9229465" y="2086223"/>
                  <a:pt x="9236640" y="2081937"/>
                </a:cubicBezTo>
                <a:close/>
                <a:moveTo>
                  <a:pt x="399714" y="2079301"/>
                </a:moveTo>
                <a:cubicBezTo>
                  <a:pt x="406934" y="2083594"/>
                  <a:pt x="414166" y="2087899"/>
                  <a:pt x="421399" y="2092224"/>
                </a:cubicBezTo>
                <a:lnTo>
                  <a:pt x="419772" y="2094948"/>
                </a:lnTo>
                <a:lnTo>
                  <a:pt x="398091" y="2082034"/>
                </a:lnTo>
                <a:close/>
                <a:moveTo>
                  <a:pt x="9283123" y="2061503"/>
                </a:moveTo>
                <a:lnTo>
                  <a:pt x="9284900" y="2064506"/>
                </a:lnTo>
                <a:lnTo>
                  <a:pt x="9284887" y="2064514"/>
                </a:lnTo>
                <a:close/>
                <a:moveTo>
                  <a:pt x="354591" y="2056365"/>
                </a:moveTo>
                <a:lnTo>
                  <a:pt x="354591" y="2056366"/>
                </a:lnTo>
                <a:lnTo>
                  <a:pt x="353733" y="2057829"/>
                </a:lnTo>
                <a:close/>
                <a:moveTo>
                  <a:pt x="9280074" y="2056295"/>
                </a:moveTo>
                <a:lnTo>
                  <a:pt x="9283123" y="2061503"/>
                </a:lnTo>
                <a:lnTo>
                  <a:pt x="9281662" y="2059032"/>
                </a:lnTo>
                <a:cubicBezTo>
                  <a:pt x="9274423" y="2063268"/>
                  <a:pt x="9267247" y="2067528"/>
                  <a:pt x="9260008" y="2071796"/>
                </a:cubicBezTo>
                <a:lnTo>
                  <a:pt x="9263247" y="2077263"/>
                </a:lnTo>
                <a:lnTo>
                  <a:pt x="9284887" y="2064514"/>
                </a:lnTo>
                <a:lnTo>
                  <a:pt x="9286488" y="2067249"/>
                </a:lnTo>
                <a:cubicBezTo>
                  <a:pt x="9279249" y="2071478"/>
                  <a:pt x="9272073" y="2075732"/>
                  <a:pt x="9264834" y="2080000"/>
                </a:cubicBezTo>
                <a:lnTo>
                  <a:pt x="9258357" y="2069065"/>
                </a:lnTo>
                <a:cubicBezTo>
                  <a:pt x="9265596" y="2064791"/>
                  <a:pt x="9272835" y="2060537"/>
                  <a:pt x="9280074" y="2056295"/>
                </a:cubicBezTo>
                <a:close/>
                <a:moveTo>
                  <a:pt x="356197" y="2053628"/>
                </a:moveTo>
                <a:cubicBezTo>
                  <a:pt x="363436" y="2057870"/>
                  <a:pt x="370682" y="2062131"/>
                  <a:pt x="377940" y="2066411"/>
                </a:cubicBezTo>
                <a:lnTo>
                  <a:pt x="371482" y="2077352"/>
                </a:lnTo>
                <a:cubicBezTo>
                  <a:pt x="364243" y="2073078"/>
                  <a:pt x="357004" y="2068824"/>
                  <a:pt x="349771" y="2064582"/>
                </a:cubicBezTo>
                <a:lnTo>
                  <a:pt x="353733" y="2057829"/>
                </a:lnTo>
                <a:lnTo>
                  <a:pt x="351377" y="2061845"/>
                </a:lnTo>
                <a:cubicBezTo>
                  <a:pt x="358610" y="2066081"/>
                  <a:pt x="365849" y="2070341"/>
                  <a:pt x="373095" y="2074615"/>
                </a:cubicBezTo>
                <a:lnTo>
                  <a:pt x="376320" y="2069148"/>
                </a:lnTo>
                <a:lnTo>
                  <a:pt x="354591" y="2056366"/>
                </a:lnTo>
                <a:close/>
                <a:moveTo>
                  <a:pt x="9303391" y="2046312"/>
                </a:moveTo>
                <a:lnTo>
                  <a:pt x="9304992" y="2049051"/>
                </a:lnTo>
                <a:lnTo>
                  <a:pt x="9303379" y="2046319"/>
                </a:lnTo>
                <a:close/>
                <a:moveTo>
                  <a:pt x="332808" y="2043639"/>
                </a:moveTo>
                <a:lnTo>
                  <a:pt x="332810" y="2043640"/>
                </a:lnTo>
                <a:lnTo>
                  <a:pt x="331035" y="2046684"/>
                </a:lnTo>
                <a:close/>
                <a:moveTo>
                  <a:pt x="9328397" y="2039132"/>
                </a:moveTo>
                <a:lnTo>
                  <a:pt x="9329985" y="2041881"/>
                </a:lnTo>
                <a:cubicBezTo>
                  <a:pt x="9322746" y="2046084"/>
                  <a:pt x="9315444" y="2050307"/>
                  <a:pt x="9308205" y="2054549"/>
                </a:cubicBezTo>
                <a:lnTo>
                  <a:pt x="9304992" y="2049051"/>
                </a:lnTo>
                <a:lnTo>
                  <a:pt x="9306618" y="2051806"/>
                </a:lnTo>
                <a:close/>
                <a:moveTo>
                  <a:pt x="307749" y="2036433"/>
                </a:moveTo>
                <a:lnTo>
                  <a:pt x="329610" y="2049126"/>
                </a:lnTo>
                <a:lnTo>
                  <a:pt x="331035" y="2046684"/>
                </a:lnTo>
                <a:lnTo>
                  <a:pt x="328016" y="2051869"/>
                </a:lnTo>
                <a:cubicBezTo>
                  <a:pt x="320720" y="2047621"/>
                  <a:pt x="313436" y="2043392"/>
                  <a:pt x="306159" y="2039182"/>
                </a:cubicBezTo>
                <a:close/>
                <a:moveTo>
                  <a:pt x="9325223" y="2033638"/>
                </a:moveTo>
                <a:lnTo>
                  <a:pt x="9328398" y="2039131"/>
                </a:lnTo>
                <a:lnTo>
                  <a:pt x="9328397" y="2039132"/>
                </a:lnTo>
                <a:lnTo>
                  <a:pt x="9325223" y="2033638"/>
                </a:lnTo>
                <a:close/>
                <a:moveTo>
                  <a:pt x="310928" y="2030933"/>
                </a:moveTo>
                <a:lnTo>
                  <a:pt x="310930" y="2030934"/>
                </a:lnTo>
                <a:lnTo>
                  <a:pt x="307749" y="2036433"/>
                </a:lnTo>
                <a:lnTo>
                  <a:pt x="307747" y="2036432"/>
                </a:lnTo>
                <a:close/>
                <a:moveTo>
                  <a:pt x="9323635" y="2030889"/>
                </a:moveTo>
                <a:lnTo>
                  <a:pt x="9325223" y="2033638"/>
                </a:lnTo>
                <a:lnTo>
                  <a:pt x="9303391" y="2046312"/>
                </a:lnTo>
                <a:lnTo>
                  <a:pt x="9301792" y="2043576"/>
                </a:lnTo>
                <a:cubicBezTo>
                  <a:pt x="9309094" y="2039334"/>
                  <a:pt x="9316332" y="2035099"/>
                  <a:pt x="9323635" y="2030889"/>
                </a:cubicBezTo>
                <a:close/>
                <a:moveTo>
                  <a:pt x="312516" y="2028190"/>
                </a:moveTo>
                <a:cubicBezTo>
                  <a:pt x="319805" y="2032406"/>
                  <a:pt x="327101" y="2036642"/>
                  <a:pt x="334404" y="2040896"/>
                </a:cubicBezTo>
                <a:lnTo>
                  <a:pt x="332808" y="2043639"/>
                </a:lnTo>
                <a:lnTo>
                  <a:pt x="310930" y="2030934"/>
                </a:lnTo>
                <a:close/>
                <a:moveTo>
                  <a:pt x="9347005" y="2021058"/>
                </a:moveTo>
                <a:lnTo>
                  <a:pt x="9350180" y="2026564"/>
                </a:lnTo>
                <a:lnTo>
                  <a:pt x="9350178" y="2026565"/>
                </a:lnTo>
                <a:lnTo>
                  <a:pt x="9347003" y="2021059"/>
                </a:lnTo>
                <a:close/>
                <a:moveTo>
                  <a:pt x="289077" y="2018341"/>
                </a:moveTo>
                <a:lnTo>
                  <a:pt x="289078" y="2018341"/>
                </a:lnTo>
                <a:lnTo>
                  <a:pt x="287305" y="2021428"/>
                </a:lnTo>
                <a:close/>
                <a:moveTo>
                  <a:pt x="9370403" y="2011299"/>
                </a:moveTo>
                <a:lnTo>
                  <a:pt x="9373546" y="2016811"/>
                </a:lnTo>
                <a:cubicBezTo>
                  <a:pt x="9366307" y="2020964"/>
                  <a:pt x="9359005" y="2025129"/>
                  <a:pt x="9351766" y="2029314"/>
                </a:cubicBezTo>
                <a:lnTo>
                  <a:pt x="9350180" y="2026564"/>
                </a:lnTo>
                <a:lnTo>
                  <a:pt x="9371959" y="2014055"/>
                </a:lnTo>
                <a:close/>
                <a:moveTo>
                  <a:pt x="9368847" y="2008543"/>
                </a:moveTo>
                <a:lnTo>
                  <a:pt x="9370403" y="2011299"/>
                </a:lnTo>
                <a:lnTo>
                  <a:pt x="9368835" y="2008550"/>
                </a:lnTo>
                <a:close/>
                <a:moveTo>
                  <a:pt x="9367260" y="2005787"/>
                </a:moveTo>
                <a:lnTo>
                  <a:pt x="9368835" y="2008550"/>
                </a:lnTo>
                <a:lnTo>
                  <a:pt x="9347005" y="2021058"/>
                </a:lnTo>
                <a:lnTo>
                  <a:pt x="9345416" y="2018303"/>
                </a:lnTo>
                <a:cubicBezTo>
                  <a:pt x="9352719" y="2014112"/>
                  <a:pt x="9359957" y="2009940"/>
                  <a:pt x="9367260" y="2005787"/>
                </a:cubicBezTo>
                <a:close/>
                <a:moveTo>
                  <a:pt x="268764" y="2003050"/>
                </a:moveTo>
                <a:cubicBezTo>
                  <a:pt x="276060" y="2007210"/>
                  <a:pt x="283356" y="2011388"/>
                  <a:pt x="290659" y="2015585"/>
                </a:cubicBezTo>
                <a:lnTo>
                  <a:pt x="289077" y="2018341"/>
                </a:lnTo>
                <a:lnTo>
                  <a:pt x="267196" y="2005813"/>
                </a:lnTo>
                <a:lnTo>
                  <a:pt x="264046" y="2011324"/>
                </a:lnTo>
                <a:cubicBezTo>
                  <a:pt x="271329" y="2015484"/>
                  <a:pt x="278619" y="2019656"/>
                  <a:pt x="285915" y="2023847"/>
                </a:cubicBezTo>
                <a:lnTo>
                  <a:pt x="287305" y="2021428"/>
                </a:lnTo>
                <a:lnTo>
                  <a:pt x="284334" y="2026603"/>
                </a:lnTo>
                <a:cubicBezTo>
                  <a:pt x="277038" y="2022412"/>
                  <a:pt x="269755" y="2018240"/>
                  <a:pt x="262471" y="2014080"/>
                </a:cubicBezTo>
                <a:close/>
                <a:moveTo>
                  <a:pt x="9392311" y="1998809"/>
                </a:moveTo>
                <a:lnTo>
                  <a:pt x="9393879" y="2001565"/>
                </a:lnTo>
                <a:lnTo>
                  <a:pt x="9393867" y="2001571"/>
                </a:lnTo>
                <a:close/>
                <a:moveTo>
                  <a:pt x="245192" y="1993303"/>
                </a:moveTo>
                <a:lnTo>
                  <a:pt x="245193" y="1993303"/>
                </a:lnTo>
                <a:lnTo>
                  <a:pt x="243481" y="1996326"/>
                </a:lnTo>
                <a:close/>
                <a:moveTo>
                  <a:pt x="9414392" y="1986739"/>
                </a:moveTo>
                <a:lnTo>
                  <a:pt x="9417361" y="1991963"/>
                </a:lnTo>
                <a:cubicBezTo>
                  <a:pt x="9410059" y="1996065"/>
                  <a:pt x="9402757" y="2000193"/>
                  <a:pt x="9395454" y="2004333"/>
                </a:cubicBezTo>
                <a:lnTo>
                  <a:pt x="9393879" y="2001565"/>
                </a:lnTo>
                <a:lnTo>
                  <a:pt x="9415774" y="1989195"/>
                </a:lnTo>
                <a:close/>
                <a:moveTo>
                  <a:pt x="220119" y="1986440"/>
                </a:moveTo>
                <a:lnTo>
                  <a:pt x="242062" y="1998828"/>
                </a:lnTo>
                <a:lnTo>
                  <a:pt x="243481" y="1996326"/>
                </a:lnTo>
                <a:lnTo>
                  <a:pt x="240500" y="2001590"/>
                </a:lnTo>
                <a:cubicBezTo>
                  <a:pt x="233179" y="1997443"/>
                  <a:pt x="225870" y="1993316"/>
                  <a:pt x="218561" y="1989207"/>
                </a:cubicBezTo>
                <a:close/>
                <a:moveTo>
                  <a:pt x="9412662" y="1983664"/>
                </a:moveTo>
                <a:lnTo>
                  <a:pt x="9414392" y="1986739"/>
                </a:lnTo>
                <a:lnTo>
                  <a:pt x="9412649" y="1983672"/>
                </a:lnTo>
                <a:close/>
                <a:moveTo>
                  <a:pt x="222914" y="1981474"/>
                </a:moveTo>
                <a:lnTo>
                  <a:pt x="220119" y="1986440"/>
                </a:lnTo>
                <a:lnTo>
                  <a:pt x="220117" y="1986439"/>
                </a:lnTo>
                <a:close/>
                <a:moveTo>
                  <a:pt x="9411075" y="1980902"/>
                </a:moveTo>
                <a:lnTo>
                  <a:pt x="9412649" y="1983672"/>
                </a:lnTo>
                <a:lnTo>
                  <a:pt x="9390755" y="1996046"/>
                </a:lnTo>
                <a:lnTo>
                  <a:pt x="9392311" y="1998809"/>
                </a:lnTo>
                <a:lnTo>
                  <a:pt x="9389168" y="1993284"/>
                </a:lnTo>
                <a:cubicBezTo>
                  <a:pt x="9396533" y="1989138"/>
                  <a:pt x="9403836" y="1985010"/>
                  <a:pt x="9411075" y="1980902"/>
                </a:cubicBezTo>
                <a:close/>
                <a:moveTo>
                  <a:pt x="224790" y="1978139"/>
                </a:moveTo>
                <a:cubicBezTo>
                  <a:pt x="232106" y="1982254"/>
                  <a:pt x="239427" y="1986388"/>
                  <a:pt x="246755" y="1990541"/>
                </a:cubicBezTo>
                <a:lnTo>
                  <a:pt x="245192" y="1993303"/>
                </a:lnTo>
                <a:lnTo>
                  <a:pt x="223235" y="1980902"/>
                </a:lnTo>
                <a:lnTo>
                  <a:pt x="222914" y="1981474"/>
                </a:lnTo>
                <a:close/>
                <a:moveTo>
                  <a:pt x="9436064" y="1973954"/>
                </a:moveTo>
                <a:lnTo>
                  <a:pt x="9437707" y="1976881"/>
                </a:lnTo>
                <a:lnTo>
                  <a:pt x="9437682" y="1976895"/>
                </a:lnTo>
                <a:close/>
                <a:moveTo>
                  <a:pt x="198774" y="1972982"/>
                </a:moveTo>
                <a:lnTo>
                  <a:pt x="198139" y="1974120"/>
                </a:lnTo>
                <a:lnTo>
                  <a:pt x="198139" y="1974120"/>
                </a:lnTo>
                <a:close/>
                <a:moveTo>
                  <a:pt x="176036" y="1961827"/>
                </a:moveTo>
                <a:lnTo>
                  <a:pt x="198139" y="1974120"/>
                </a:lnTo>
                <a:lnTo>
                  <a:pt x="196590" y="1976895"/>
                </a:lnTo>
                <a:cubicBezTo>
                  <a:pt x="189218" y="1972774"/>
                  <a:pt x="181858" y="1968678"/>
                  <a:pt x="174498" y="1964601"/>
                </a:cubicBezTo>
                <a:close/>
                <a:moveTo>
                  <a:pt x="176476" y="1961033"/>
                </a:moveTo>
                <a:lnTo>
                  <a:pt x="176036" y="1961827"/>
                </a:lnTo>
                <a:lnTo>
                  <a:pt x="176035" y="1961826"/>
                </a:lnTo>
                <a:close/>
                <a:moveTo>
                  <a:pt x="9455144" y="1956283"/>
                </a:moveTo>
                <a:lnTo>
                  <a:pt x="9461303" y="1967389"/>
                </a:lnTo>
                <a:cubicBezTo>
                  <a:pt x="9453937" y="1971459"/>
                  <a:pt x="9446571" y="1975555"/>
                  <a:pt x="9439269" y="1979663"/>
                </a:cubicBezTo>
                <a:lnTo>
                  <a:pt x="9437707" y="1976881"/>
                </a:lnTo>
                <a:lnTo>
                  <a:pt x="9459716" y="1964614"/>
                </a:lnTo>
                <a:lnTo>
                  <a:pt x="9456668" y="1959058"/>
                </a:lnTo>
                <a:cubicBezTo>
                  <a:pt x="9449302" y="1963134"/>
                  <a:pt x="9441936" y="1967236"/>
                  <a:pt x="9434633" y="1971351"/>
                </a:cubicBezTo>
                <a:lnTo>
                  <a:pt x="9436064" y="1973954"/>
                </a:lnTo>
                <a:lnTo>
                  <a:pt x="9433046" y="1968576"/>
                </a:lnTo>
                <a:cubicBezTo>
                  <a:pt x="9440412" y="1964462"/>
                  <a:pt x="9447778" y="1960366"/>
                  <a:pt x="9455144" y="1956283"/>
                </a:cubicBezTo>
                <a:close/>
                <a:moveTo>
                  <a:pt x="180651" y="1953495"/>
                </a:moveTo>
                <a:cubicBezTo>
                  <a:pt x="188024" y="1957578"/>
                  <a:pt x="195396" y="1961680"/>
                  <a:pt x="202781" y="1965801"/>
                </a:cubicBezTo>
                <a:lnTo>
                  <a:pt x="198774" y="1972982"/>
                </a:lnTo>
                <a:lnTo>
                  <a:pt x="201232" y="1968576"/>
                </a:lnTo>
                <a:cubicBezTo>
                  <a:pt x="193853" y="1964455"/>
                  <a:pt x="186481" y="1960353"/>
                  <a:pt x="179115" y="1956270"/>
                </a:cubicBezTo>
                <a:lnTo>
                  <a:pt x="176476" y="1961033"/>
                </a:lnTo>
                <a:close/>
                <a:moveTo>
                  <a:pt x="9500737" y="1934775"/>
                </a:moveTo>
                <a:lnTo>
                  <a:pt x="9502495" y="1937992"/>
                </a:lnTo>
                <a:lnTo>
                  <a:pt x="9500736" y="1934776"/>
                </a:lnTo>
                <a:close/>
                <a:moveTo>
                  <a:pt x="9499213" y="1931994"/>
                </a:moveTo>
                <a:lnTo>
                  <a:pt x="9500736" y="1934776"/>
                </a:lnTo>
                <a:lnTo>
                  <a:pt x="9478702" y="1946885"/>
                </a:lnTo>
                <a:lnTo>
                  <a:pt x="9481750" y="1952447"/>
                </a:lnTo>
                <a:cubicBezTo>
                  <a:pt x="9489117" y="1948396"/>
                  <a:pt x="9496419" y="1944364"/>
                  <a:pt x="9503785" y="1940350"/>
                </a:cubicBezTo>
                <a:lnTo>
                  <a:pt x="9502495" y="1937992"/>
                </a:lnTo>
                <a:lnTo>
                  <a:pt x="9505309" y="1943132"/>
                </a:lnTo>
                <a:cubicBezTo>
                  <a:pt x="9497943" y="1947145"/>
                  <a:pt x="9490640" y="1951177"/>
                  <a:pt x="9483274" y="1955229"/>
                </a:cubicBezTo>
                <a:lnTo>
                  <a:pt x="9477115" y="1944103"/>
                </a:lnTo>
                <a:cubicBezTo>
                  <a:pt x="9484481" y="1940046"/>
                  <a:pt x="9491847" y="1936007"/>
                  <a:pt x="9499213" y="1931994"/>
                </a:cubicBezTo>
                <a:close/>
                <a:moveTo>
                  <a:pt x="134919" y="1931962"/>
                </a:moveTo>
                <a:lnTo>
                  <a:pt x="134922" y="1931964"/>
                </a:lnTo>
                <a:lnTo>
                  <a:pt x="131880" y="1937539"/>
                </a:lnTo>
                <a:lnTo>
                  <a:pt x="131877" y="1937537"/>
                </a:lnTo>
                <a:close/>
                <a:moveTo>
                  <a:pt x="136443" y="1929175"/>
                </a:moveTo>
                <a:cubicBezTo>
                  <a:pt x="143809" y="1933200"/>
                  <a:pt x="151187" y="1937239"/>
                  <a:pt x="158573" y="1941303"/>
                </a:cubicBezTo>
                <a:lnTo>
                  <a:pt x="152451" y="1952428"/>
                </a:lnTo>
                <a:cubicBezTo>
                  <a:pt x="145079" y="1948377"/>
                  <a:pt x="137713" y="1944338"/>
                  <a:pt x="130359" y="1940325"/>
                </a:cubicBezTo>
                <a:lnTo>
                  <a:pt x="131880" y="1937539"/>
                </a:lnTo>
                <a:lnTo>
                  <a:pt x="153981" y="1949647"/>
                </a:lnTo>
                <a:lnTo>
                  <a:pt x="157042" y="1944084"/>
                </a:lnTo>
                <a:lnTo>
                  <a:pt x="134922" y="1931964"/>
                </a:lnTo>
                <a:close/>
                <a:moveTo>
                  <a:pt x="112686" y="1919878"/>
                </a:moveTo>
                <a:lnTo>
                  <a:pt x="112687" y="1919878"/>
                </a:lnTo>
                <a:lnTo>
                  <a:pt x="111538" y="1921996"/>
                </a:lnTo>
                <a:close/>
                <a:moveTo>
                  <a:pt x="87656" y="1913196"/>
                </a:moveTo>
                <a:lnTo>
                  <a:pt x="87491" y="1913503"/>
                </a:lnTo>
                <a:cubicBezTo>
                  <a:pt x="94869" y="1917471"/>
                  <a:pt x="102261" y="1921453"/>
                  <a:pt x="109658" y="1925460"/>
                </a:cubicBezTo>
                <a:lnTo>
                  <a:pt x="111538" y="1921996"/>
                </a:lnTo>
                <a:lnTo>
                  <a:pt x="108147" y="1928254"/>
                </a:lnTo>
                <a:cubicBezTo>
                  <a:pt x="100756" y="1924247"/>
                  <a:pt x="93364" y="1920265"/>
                  <a:pt x="85986" y="1916303"/>
                </a:cubicBezTo>
                <a:close/>
                <a:moveTo>
                  <a:pt x="9545060" y="1910747"/>
                </a:moveTo>
                <a:lnTo>
                  <a:pt x="9546329" y="1913123"/>
                </a:lnTo>
                <a:lnTo>
                  <a:pt x="9545050" y="1910753"/>
                </a:lnTo>
                <a:close/>
                <a:moveTo>
                  <a:pt x="9543536" y="1907946"/>
                </a:moveTo>
                <a:lnTo>
                  <a:pt x="9545050" y="1910753"/>
                </a:lnTo>
                <a:lnTo>
                  <a:pt x="9522898" y="1922697"/>
                </a:lnTo>
                <a:lnTo>
                  <a:pt x="9525946" y="1928279"/>
                </a:lnTo>
                <a:cubicBezTo>
                  <a:pt x="9533312" y="1924279"/>
                  <a:pt x="9540678" y="1920297"/>
                  <a:pt x="9548044" y="1916335"/>
                </a:cubicBezTo>
                <a:lnTo>
                  <a:pt x="9546329" y="1913123"/>
                </a:lnTo>
                <a:lnTo>
                  <a:pt x="9549569" y="1919129"/>
                </a:lnTo>
                <a:cubicBezTo>
                  <a:pt x="9542202" y="1923091"/>
                  <a:pt x="9534836" y="1927073"/>
                  <a:pt x="9527470" y="1931073"/>
                </a:cubicBezTo>
                <a:lnTo>
                  <a:pt x="9521374" y="1919910"/>
                </a:lnTo>
                <a:cubicBezTo>
                  <a:pt x="9528804" y="1915903"/>
                  <a:pt x="9536169" y="1911915"/>
                  <a:pt x="9543536" y="1907946"/>
                </a:cubicBezTo>
                <a:close/>
                <a:moveTo>
                  <a:pt x="90494" y="1907908"/>
                </a:moveTo>
                <a:lnTo>
                  <a:pt x="90497" y="1907910"/>
                </a:lnTo>
                <a:lnTo>
                  <a:pt x="87656" y="1913196"/>
                </a:lnTo>
                <a:close/>
                <a:moveTo>
                  <a:pt x="91999" y="1905114"/>
                </a:moveTo>
                <a:cubicBezTo>
                  <a:pt x="99390" y="1909083"/>
                  <a:pt x="106788" y="1913071"/>
                  <a:pt x="114199" y="1917084"/>
                </a:cubicBezTo>
                <a:lnTo>
                  <a:pt x="112686" y="1919878"/>
                </a:lnTo>
                <a:lnTo>
                  <a:pt x="90497" y="1907910"/>
                </a:lnTo>
                <a:close/>
                <a:moveTo>
                  <a:pt x="9568719" y="1901665"/>
                </a:moveTo>
                <a:lnTo>
                  <a:pt x="9570218" y="1904448"/>
                </a:lnTo>
                <a:lnTo>
                  <a:pt x="9570206" y="1904454"/>
                </a:lnTo>
                <a:close/>
                <a:moveTo>
                  <a:pt x="9592482" y="1892624"/>
                </a:moveTo>
                <a:lnTo>
                  <a:pt x="9593955" y="1895424"/>
                </a:lnTo>
                <a:cubicBezTo>
                  <a:pt x="9586589" y="1899342"/>
                  <a:pt x="9579159" y="1903292"/>
                  <a:pt x="9571730" y="1907254"/>
                </a:cubicBezTo>
                <a:lnTo>
                  <a:pt x="9570218" y="1904448"/>
                </a:lnTo>
                <a:close/>
                <a:moveTo>
                  <a:pt x="9590996" y="1889800"/>
                </a:moveTo>
                <a:lnTo>
                  <a:pt x="9592494" y="1892617"/>
                </a:lnTo>
                <a:lnTo>
                  <a:pt x="9592482" y="1892624"/>
                </a:lnTo>
                <a:close/>
                <a:moveTo>
                  <a:pt x="9588049" y="1884197"/>
                </a:moveTo>
                <a:lnTo>
                  <a:pt x="9590996" y="1889800"/>
                </a:lnTo>
                <a:lnTo>
                  <a:pt x="9589510" y="1887004"/>
                </a:lnTo>
                <a:cubicBezTo>
                  <a:pt x="9582081" y="1890928"/>
                  <a:pt x="9574651" y="1894885"/>
                  <a:pt x="9567221" y="1898853"/>
                </a:cubicBezTo>
                <a:lnTo>
                  <a:pt x="9568719" y="1901665"/>
                </a:lnTo>
                <a:lnTo>
                  <a:pt x="9565697" y="1896053"/>
                </a:lnTo>
                <a:cubicBezTo>
                  <a:pt x="9573190" y="1892078"/>
                  <a:pt x="9580619" y="1888128"/>
                  <a:pt x="9588049" y="1884197"/>
                </a:cubicBezTo>
                <a:close/>
                <a:moveTo>
                  <a:pt x="45892" y="1884147"/>
                </a:moveTo>
                <a:lnTo>
                  <a:pt x="42926" y="1889766"/>
                </a:lnTo>
                <a:cubicBezTo>
                  <a:pt x="50362" y="1893691"/>
                  <a:pt x="57804" y="1897640"/>
                  <a:pt x="65259" y="1901609"/>
                </a:cubicBezTo>
                <a:lnTo>
                  <a:pt x="68244" y="1896009"/>
                </a:lnTo>
                <a:cubicBezTo>
                  <a:pt x="60782" y="1892033"/>
                  <a:pt x="53334" y="1888084"/>
                  <a:pt x="45892" y="1884147"/>
                </a:cubicBezTo>
                <a:close/>
                <a:moveTo>
                  <a:pt x="47371" y="1881340"/>
                </a:moveTo>
                <a:cubicBezTo>
                  <a:pt x="54820" y="1885277"/>
                  <a:pt x="62275" y="1889233"/>
                  <a:pt x="69736" y="1893208"/>
                </a:cubicBezTo>
                <a:lnTo>
                  <a:pt x="63767" y="1904416"/>
                </a:lnTo>
                <a:cubicBezTo>
                  <a:pt x="56318" y="1900447"/>
                  <a:pt x="48876" y="1896497"/>
                  <a:pt x="41440" y="1892573"/>
                </a:cubicBezTo>
                <a:close/>
                <a:moveTo>
                  <a:pt x="9611748" y="1875276"/>
                </a:moveTo>
                <a:lnTo>
                  <a:pt x="9613221" y="1878082"/>
                </a:lnTo>
                <a:lnTo>
                  <a:pt x="9611735" y="1875282"/>
                </a:lnTo>
                <a:close/>
                <a:moveTo>
                  <a:pt x="9625794" y="1875080"/>
                </a:moveTo>
                <a:lnTo>
                  <a:pt x="9627293" y="1877905"/>
                </a:lnTo>
                <a:cubicBezTo>
                  <a:pt x="9623546" y="1879835"/>
                  <a:pt x="9619863" y="1881772"/>
                  <a:pt x="9616180" y="1883715"/>
                </a:cubicBezTo>
                <a:lnTo>
                  <a:pt x="9613221" y="1878082"/>
                </a:lnTo>
                <a:lnTo>
                  <a:pt x="9614719" y="1880902"/>
                </a:lnTo>
                <a:cubicBezTo>
                  <a:pt x="9618402" y="1878959"/>
                  <a:pt x="9622085" y="1877022"/>
                  <a:pt x="9625769" y="1875092"/>
                </a:cubicBezTo>
                <a:close/>
                <a:moveTo>
                  <a:pt x="23584" y="1872418"/>
                </a:moveTo>
                <a:lnTo>
                  <a:pt x="23584" y="1872418"/>
                </a:lnTo>
                <a:lnTo>
                  <a:pt x="20638" y="1878044"/>
                </a:lnTo>
                <a:lnTo>
                  <a:pt x="20638" y="1878044"/>
                </a:lnTo>
                <a:close/>
                <a:moveTo>
                  <a:pt x="9624319" y="1872301"/>
                </a:moveTo>
                <a:lnTo>
                  <a:pt x="9624349" y="1872357"/>
                </a:lnTo>
                <a:lnTo>
                  <a:pt x="9625769" y="1875092"/>
                </a:lnTo>
                <a:lnTo>
                  <a:pt x="9624319" y="1872302"/>
                </a:lnTo>
                <a:close/>
                <a:moveTo>
                  <a:pt x="9624319" y="1872301"/>
                </a:moveTo>
                <a:lnTo>
                  <a:pt x="9624319" y="1872302"/>
                </a:lnTo>
                <a:lnTo>
                  <a:pt x="9622212" y="1874622"/>
                </a:lnTo>
                <a:lnTo>
                  <a:pt x="9622203" y="1874614"/>
                </a:lnTo>
                <a:close/>
                <a:moveTo>
                  <a:pt x="9624319" y="1872301"/>
                </a:moveTo>
                <a:lnTo>
                  <a:pt x="9624320" y="1872301"/>
                </a:lnTo>
                <a:lnTo>
                  <a:pt x="9624319" y="1872301"/>
                </a:lnTo>
                <a:lnTo>
                  <a:pt x="9624319" y="1872301"/>
                </a:lnTo>
                <a:close/>
                <a:moveTo>
                  <a:pt x="9624340" y="1872279"/>
                </a:moveTo>
                <a:lnTo>
                  <a:pt x="9625807" y="1875073"/>
                </a:lnTo>
                <a:lnTo>
                  <a:pt x="9625794" y="1875080"/>
                </a:lnTo>
                <a:lnTo>
                  <a:pt x="9624349" y="1872357"/>
                </a:lnTo>
                <a:lnTo>
                  <a:pt x="9624320" y="1872301"/>
                </a:lnTo>
                <a:close/>
                <a:moveTo>
                  <a:pt x="9624307" y="1872278"/>
                </a:moveTo>
                <a:lnTo>
                  <a:pt x="9624319" y="1872301"/>
                </a:lnTo>
                <a:lnTo>
                  <a:pt x="9624319" y="1872301"/>
                </a:lnTo>
                <a:close/>
                <a:moveTo>
                  <a:pt x="9624308" y="1872278"/>
                </a:moveTo>
                <a:lnTo>
                  <a:pt x="9624308" y="1872278"/>
                </a:lnTo>
                <a:lnTo>
                  <a:pt x="9624307" y="1872278"/>
                </a:lnTo>
                <a:close/>
                <a:moveTo>
                  <a:pt x="9624353" y="1872264"/>
                </a:moveTo>
                <a:lnTo>
                  <a:pt x="9624340" y="1872279"/>
                </a:lnTo>
                <a:lnTo>
                  <a:pt x="9624340" y="1872279"/>
                </a:lnTo>
                <a:close/>
                <a:moveTo>
                  <a:pt x="9624328" y="1872256"/>
                </a:moveTo>
                <a:lnTo>
                  <a:pt x="9624340" y="1872279"/>
                </a:lnTo>
                <a:lnTo>
                  <a:pt x="9624319" y="1872301"/>
                </a:lnTo>
                <a:lnTo>
                  <a:pt x="9624308" y="1872278"/>
                </a:lnTo>
                <a:close/>
                <a:moveTo>
                  <a:pt x="9518" y="1872228"/>
                </a:moveTo>
                <a:lnTo>
                  <a:pt x="9519" y="1872228"/>
                </a:lnTo>
                <a:lnTo>
                  <a:pt x="20638" y="1878044"/>
                </a:lnTo>
                <a:lnTo>
                  <a:pt x="19165" y="1880857"/>
                </a:lnTo>
                <a:cubicBezTo>
                  <a:pt x="15456" y="1878914"/>
                  <a:pt x="11754" y="1876978"/>
                  <a:pt x="8046" y="1875047"/>
                </a:cubicBezTo>
                <a:close/>
                <a:moveTo>
                  <a:pt x="9618845" y="1871560"/>
                </a:moveTo>
                <a:lnTo>
                  <a:pt x="9622203" y="1874614"/>
                </a:lnTo>
                <a:lnTo>
                  <a:pt x="9620053" y="1876965"/>
                </a:lnTo>
                <a:lnTo>
                  <a:pt x="9615840" y="1873133"/>
                </a:lnTo>
                <a:close/>
                <a:moveTo>
                  <a:pt x="9613344" y="1870863"/>
                </a:moveTo>
                <a:lnTo>
                  <a:pt x="9615840" y="1873133"/>
                </a:lnTo>
                <a:lnTo>
                  <a:pt x="9611748" y="1875276"/>
                </a:lnTo>
                <a:lnTo>
                  <a:pt x="9610274" y="1872469"/>
                </a:lnTo>
                <a:close/>
                <a:moveTo>
                  <a:pt x="9626467" y="1869935"/>
                </a:moveTo>
                <a:lnTo>
                  <a:pt x="9626476" y="1869943"/>
                </a:lnTo>
                <a:lnTo>
                  <a:pt x="9624353" y="1872264"/>
                </a:lnTo>
                <a:close/>
                <a:moveTo>
                  <a:pt x="9626467" y="1869935"/>
                </a:moveTo>
                <a:lnTo>
                  <a:pt x="9626467" y="1869935"/>
                </a:lnTo>
                <a:lnTo>
                  <a:pt x="9624328" y="1872256"/>
                </a:lnTo>
                <a:lnTo>
                  <a:pt x="9624328" y="1872256"/>
                </a:lnTo>
                <a:close/>
                <a:moveTo>
                  <a:pt x="10986" y="1869415"/>
                </a:moveTo>
                <a:lnTo>
                  <a:pt x="10986" y="1869415"/>
                </a:lnTo>
                <a:lnTo>
                  <a:pt x="9519" y="1872228"/>
                </a:lnTo>
                <a:lnTo>
                  <a:pt x="10926" y="1869532"/>
                </a:lnTo>
                <a:close/>
                <a:moveTo>
                  <a:pt x="10986" y="1869415"/>
                </a:moveTo>
                <a:lnTo>
                  <a:pt x="10986" y="1869415"/>
                </a:lnTo>
                <a:lnTo>
                  <a:pt x="10986" y="1869415"/>
                </a:lnTo>
                <a:lnTo>
                  <a:pt x="10986" y="1869415"/>
                </a:lnTo>
                <a:close/>
                <a:moveTo>
                  <a:pt x="10986" y="1869415"/>
                </a:moveTo>
                <a:lnTo>
                  <a:pt x="12532" y="1871107"/>
                </a:lnTo>
                <a:lnTo>
                  <a:pt x="10986" y="1869415"/>
                </a:lnTo>
                <a:lnTo>
                  <a:pt x="10986" y="1869415"/>
                </a:lnTo>
                <a:lnTo>
                  <a:pt x="10986" y="1869415"/>
                </a:lnTo>
                <a:close/>
                <a:moveTo>
                  <a:pt x="10984" y="1869413"/>
                </a:moveTo>
                <a:lnTo>
                  <a:pt x="10986" y="1869415"/>
                </a:lnTo>
                <a:lnTo>
                  <a:pt x="10926" y="1869532"/>
                </a:lnTo>
                <a:lnTo>
                  <a:pt x="9518" y="1872228"/>
                </a:lnTo>
                <a:lnTo>
                  <a:pt x="9517" y="1872227"/>
                </a:lnTo>
                <a:close/>
                <a:moveTo>
                  <a:pt x="10984" y="1869413"/>
                </a:moveTo>
                <a:lnTo>
                  <a:pt x="10986" y="1869415"/>
                </a:lnTo>
                <a:lnTo>
                  <a:pt x="10986" y="1869415"/>
                </a:lnTo>
                <a:lnTo>
                  <a:pt x="10984" y="1869413"/>
                </a:lnTo>
                <a:close/>
                <a:moveTo>
                  <a:pt x="16477" y="1868705"/>
                </a:moveTo>
                <a:lnTo>
                  <a:pt x="19472" y="1870270"/>
                </a:lnTo>
                <a:lnTo>
                  <a:pt x="15266" y="1874101"/>
                </a:lnTo>
                <a:lnTo>
                  <a:pt x="12532" y="1871107"/>
                </a:lnTo>
                <a:lnTo>
                  <a:pt x="13126" y="1871758"/>
                </a:lnTo>
                <a:close/>
                <a:moveTo>
                  <a:pt x="21972" y="1867992"/>
                </a:moveTo>
                <a:lnTo>
                  <a:pt x="25057" y="1869605"/>
                </a:lnTo>
                <a:lnTo>
                  <a:pt x="23584" y="1872418"/>
                </a:lnTo>
                <a:lnTo>
                  <a:pt x="19472" y="1870270"/>
                </a:lnTo>
                <a:close/>
                <a:moveTo>
                  <a:pt x="9628626" y="1867592"/>
                </a:moveTo>
                <a:lnTo>
                  <a:pt x="9635294" y="1873707"/>
                </a:lnTo>
                <a:lnTo>
                  <a:pt x="9627293" y="1877905"/>
                </a:lnTo>
                <a:lnTo>
                  <a:pt x="9625807" y="1875073"/>
                </a:lnTo>
                <a:lnTo>
                  <a:pt x="9629832" y="1872996"/>
                </a:lnTo>
                <a:lnTo>
                  <a:pt x="9626476" y="1869943"/>
                </a:lnTo>
                <a:close/>
                <a:moveTo>
                  <a:pt x="8846" y="1867072"/>
                </a:moveTo>
                <a:lnTo>
                  <a:pt x="10984" y="1869413"/>
                </a:lnTo>
                <a:lnTo>
                  <a:pt x="10984" y="1869413"/>
                </a:lnTo>
                <a:close/>
                <a:moveTo>
                  <a:pt x="8846" y="1867072"/>
                </a:moveTo>
                <a:lnTo>
                  <a:pt x="10984" y="1869413"/>
                </a:lnTo>
                <a:lnTo>
                  <a:pt x="10984" y="1869413"/>
                </a:lnTo>
                <a:lnTo>
                  <a:pt x="8846" y="1867072"/>
                </a:lnTo>
                <a:close/>
                <a:moveTo>
                  <a:pt x="9621387" y="1866652"/>
                </a:moveTo>
                <a:lnTo>
                  <a:pt x="9624328" y="1872256"/>
                </a:lnTo>
                <a:lnTo>
                  <a:pt x="9624308" y="1872278"/>
                </a:lnTo>
                <a:lnTo>
                  <a:pt x="9622847" y="1869465"/>
                </a:lnTo>
                <a:lnTo>
                  <a:pt x="9618845" y="1871560"/>
                </a:lnTo>
                <a:lnTo>
                  <a:pt x="9616348" y="1869290"/>
                </a:lnTo>
                <a:close/>
                <a:moveTo>
                  <a:pt x="6700" y="1864722"/>
                </a:moveTo>
                <a:lnTo>
                  <a:pt x="8846" y="1867072"/>
                </a:lnTo>
                <a:lnTo>
                  <a:pt x="8846" y="1867072"/>
                </a:lnTo>
                <a:lnTo>
                  <a:pt x="5493" y="1870132"/>
                </a:lnTo>
                <a:lnTo>
                  <a:pt x="9517" y="1872227"/>
                </a:lnTo>
                <a:lnTo>
                  <a:pt x="8046" y="1875047"/>
                </a:lnTo>
                <a:lnTo>
                  <a:pt x="0" y="1870850"/>
                </a:lnTo>
                <a:close/>
                <a:moveTo>
                  <a:pt x="13920" y="1863782"/>
                </a:moveTo>
                <a:lnTo>
                  <a:pt x="18977" y="1866426"/>
                </a:lnTo>
                <a:lnTo>
                  <a:pt x="16477" y="1868705"/>
                </a:lnTo>
                <a:lnTo>
                  <a:pt x="12453" y="1866602"/>
                </a:lnTo>
                <a:lnTo>
                  <a:pt x="10986" y="1869415"/>
                </a:lnTo>
                <a:lnTo>
                  <a:pt x="10984" y="1869413"/>
                </a:lnTo>
                <a:close/>
                <a:moveTo>
                  <a:pt x="9615294" y="1863340"/>
                </a:moveTo>
                <a:lnTo>
                  <a:pt x="9612814" y="1866075"/>
                </a:lnTo>
                <a:lnTo>
                  <a:pt x="9616348" y="1869290"/>
                </a:lnTo>
                <a:lnTo>
                  <a:pt x="9613344" y="1870863"/>
                </a:lnTo>
                <a:lnTo>
                  <a:pt x="9610656" y="1868418"/>
                </a:lnTo>
                <a:close/>
                <a:moveTo>
                  <a:pt x="22490" y="1863225"/>
                </a:moveTo>
                <a:lnTo>
                  <a:pt x="24626" y="1865573"/>
                </a:lnTo>
                <a:lnTo>
                  <a:pt x="21972" y="1867992"/>
                </a:lnTo>
                <a:lnTo>
                  <a:pt x="18977" y="1866426"/>
                </a:lnTo>
                <a:close/>
                <a:moveTo>
                  <a:pt x="9617069" y="1861382"/>
                </a:moveTo>
                <a:lnTo>
                  <a:pt x="9617076" y="1861389"/>
                </a:lnTo>
                <a:lnTo>
                  <a:pt x="9615294" y="1863340"/>
                </a:lnTo>
                <a:close/>
                <a:moveTo>
                  <a:pt x="20040" y="1860531"/>
                </a:moveTo>
                <a:lnTo>
                  <a:pt x="22492" y="1863223"/>
                </a:lnTo>
                <a:lnTo>
                  <a:pt x="22490" y="1863225"/>
                </a:lnTo>
                <a:close/>
                <a:moveTo>
                  <a:pt x="9619228" y="1859032"/>
                </a:moveTo>
                <a:cubicBezTo>
                  <a:pt x="9622339" y="1861884"/>
                  <a:pt x="9625514" y="1864735"/>
                  <a:pt x="9628626" y="1867592"/>
                </a:cubicBezTo>
                <a:lnTo>
                  <a:pt x="9626467" y="1869935"/>
                </a:lnTo>
                <a:lnTo>
                  <a:pt x="9617076" y="1861389"/>
                </a:lnTo>
                <a:close/>
                <a:moveTo>
                  <a:pt x="16078" y="1856175"/>
                </a:moveTo>
                <a:lnTo>
                  <a:pt x="20040" y="1860531"/>
                </a:lnTo>
                <a:lnTo>
                  <a:pt x="18212" y="1858524"/>
                </a:lnTo>
                <a:lnTo>
                  <a:pt x="8846" y="1867072"/>
                </a:lnTo>
                <a:lnTo>
                  <a:pt x="6700" y="1864722"/>
                </a:lnTo>
                <a:cubicBezTo>
                  <a:pt x="9824" y="1861871"/>
                  <a:pt x="12948" y="1859026"/>
                  <a:pt x="16078" y="1856175"/>
                </a:cubicBezTo>
                <a:close/>
                <a:moveTo>
                  <a:pt x="9579413" y="1827321"/>
                </a:moveTo>
                <a:lnTo>
                  <a:pt x="9579430" y="1827337"/>
                </a:lnTo>
                <a:lnTo>
                  <a:pt x="9577352" y="1829645"/>
                </a:lnTo>
                <a:close/>
                <a:moveTo>
                  <a:pt x="9581572" y="1824958"/>
                </a:moveTo>
                <a:cubicBezTo>
                  <a:pt x="9587859" y="1830616"/>
                  <a:pt x="9594145" y="1836280"/>
                  <a:pt x="9600431" y="1841964"/>
                </a:cubicBezTo>
                <a:lnTo>
                  <a:pt x="9591923" y="1851381"/>
                </a:lnTo>
                <a:cubicBezTo>
                  <a:pt x="9585636" y="1845710"/>
                  <a:pt x="9579350" y="1840052"/>
                  <a:pt x="9573063" y="1834407"/>
                </a:cubicBezTo>
                <a:lnTo>
                  <a:pt x="9577352" y="1829645"/>
                </a:lnTo>
                <a:lnTo>
                  <a:pt x="9575222" y="1832045"/>
                </a:lnTo>
                <a:cubicBezTo>
                  <a:pt x="9581509" y="1837696"/>
                  <a:pt x="9587795" y="1843354"/>
                  <a:pt x="9594019" y="1849025"/>
                </a:cubicBezTo>
                <a:lnTo>
                  <a:pt x="9598273" y="1844319"/>
                </a:lnTo>
                <a:lnTo>
                  <a:pt x="9579430" y="1827337"/>
                </a:lnTo>
                <a:close/>
                <a:moveTo>
                  <a:pt x="55855" y="1824520"/>
                </a:moveTo>
                <a:cubicBezTo>
                  <a:pt x="49562" y="1830165"/>
                  <a:pt x="43276" y="1835823"/>
                  <a:pt x="37008" y="1841487"/>
                </a:cubicBezTo>
                <a:lnTo>
                  <a:pt x="41263" y="1846199"/>
                </a:lnTo>
                <a:cubicBezTo>
                  <a:pt x="47530" y="1840535"/>
                  <a:pt x="53810" y="1834883"/>
                  <a:pt x="60097" y="1829245"/>
                </a:cubicBezTo>
                <a:close/>
                <a:moveTo>
                  <a:pt x="53734" y="1822152"/>
                </a:moveTo>
                <a:lnTo>
                  <a:pt x="62218" y="1831607"/>
                </a:lnTo>
                <a:cubicBezTo>
                  <a:pt x="55931" y="1837245"/>
                  <a:pt x="49657" y="1842897"/>
                  <a:pt x="43390" y="1848555"/>
                </a:cubicBezTo>
                <a:lnTo>
                  <a:pt x="34874" y="1839132"/>
                </a:lnTo>
                <a:cubicBezTo>
                  <a:pt x="41155" y="1833461"/>
                  <a:pt x="47441" y="1827803"/>
                  <a:pt x="53734" y="1822152"/>
                </a:cubicBezTo>
                <a:close/>
                <a:moveTo>
                  <a:pt x="9560545" y="1810383"/>
                </a:moveTo>
                <a:lnTo>
                  <a:pt x="9560554" y="1810391"/>
                </a:lnTo>
                <a:lnTo>
                  <a:pt x="9558493" y="1812686"/>
                </a:lnTo>
                <a:close/>
                <a:moveTo>
                  <a:pt x="74766" y="1807610"/>
                </a:moveTo>
                <a:lnTo>
                  <a:pt x="78991" y="1812352"/>
                </a:lnTo>
                <a:lnTo>
                  <a:pt x="78988" y="1812354"/>
                </a:lnTo>
                <a:lnTo>
                  <a:pt x="74765" y="1807610"/>
                </a:lnTo>
                <a:close/>
                <a:moveTo>
                  <a:pt x="9537321" y="1798290"/>
                </a:moveTo>
                <a:lnTo>
                  <a:pt x="9556299" y="1815128"/>
                </a:lnTo>
                <a:lnTo>
                  <a:pt x="9558493" y="1812686"/>
                </a:lnTo>
                <a:lnTo>
                  <a:pt x="9554204" y="1817497"/>
                </a:lnTo>
                <a:cubicBezTo>
                  <a:pt x="9547854" y="1811877"/>
                  <a:pt x="9541568" y="1806264"/>
                  <a:pt x="9535218" y="1800657"/>
                </a:cubicBezTo>
                <a:close/>
                <a:moveTo>
                  <a:pt x="9539441" y="1795904"/>
                </a:moveTo>
                <a:lnTo>
                  <a:pt x="9537321" y="1798290"/>
                </a:lnTo>
                <a:lnTo>
                  <a:pt x="9537313" y="1798282"/>
                </a:lnTo>
                <a:close/>
                <a:moveTo>
                  <a:pt x="95313" y="1792550"/>
                </a:moveTo>
                <a:lnTo>
                  <a:pt x="100051" y="1797907"/>
                </a:lnTo>
                <a:cubicBezTo>
                  <a:pt x="93726" y="1803502"/>
                  <a:pt x="87408" y="1809109"/>
                  <a:pt x="81102" y="1814722"/>
                </a:cubicBezTo>
                <a:lnTo>
                  <a:pt x="78991" y="1812352"/>
                </a:lnTo>
                <a:lnTo>
                  <a:pt x="97943" y="1795526"/>
                </a:lnTo>
                <a:close/>
                <a:moveTo>
                  <a:pt x="9543663" y="1791151"/>
                </a:moveTo>
                <a:cubicBezTo>
                  <a:pt x="9550013" y="1796764"/>
                  <a:pt x="9556299" y="1802384"/>
                  <a:pt x="9562649" y="1808023"/>
                </a:cubicBezTo>
                <a:lnTo>
                  <a:pt x="9560545" y="1810383"/>
                </a:lnTo>
                <a:lnTo>
                  <a:pt x="9541568" y="1793526"/>
                </a:lnTo>
                <a:lnTo>
                  <a:pt x="9539441" y="1795904"/>
                </a:lnTo>
                <a:close/>
                <a:moveTo>
                  <a:pt x="93739" y="1790770"/>
                </a:moveTo>
                <a:lnTo>
                  <a:pt x="95313" y="1792550"/>
                </a:lnTo>
                <a:lnTo>
                  <a:pt x="93739" y="1790771"/>
                </a:lnTo>
                <a:close/>
                <a:moveTo>
                  <a:pt x="91637" y="1788395"/>
                </a:moveTo>
                <a:lnTo>
                  <a:pt x="93739" y="1790771"/>
                </a:lnTo>
                <a:lnTo>
                  <a:pt x="74766" y="1807610"/>
                </a:lnTo>
                <a:lnTo>
                  <a:pt x="72657" y="1805242"/>
                </a:lnTo>
                <a:cubicBezTo>
                  <a:pt x="78969" y="1799615"/>
                  <a:pt x="85300" y="1794002"/>
                  <a:pt x="91637" y="1788395"/>
                </a:cubicBezTo>
                <a:close/>
                <a:moveTo>
                  <a:pt x="9522517" y="1776730"/>
                </a:moveTo>
                <a:lnTo>
                  <a:pt x="9522518" y="1776730"/>
                </a:lnTo>
                <a:lnTo>
                  <a:pt x="9520922" y="1778546"/>
                </a:lnTo>
                <a:close/>
                <a:moveTo>
                  <a:pt x="112771" y="1774000"/>
                </a:moveTo>
                <a:lnTo>
                  <a:pt x="114328" y="1775772"/>
                </a:lnTo>
                <a:lnTo>
                  <a:pt x="112770" y="1774000"/>
                </a:lnTo>
                <a:close/>
                <a:moveTo>
                  <a:pt x="9499238" y="1764808"/>
                </a:moveTo>
                <a:lnTo>
                  <a:pt x="9518326" y="1781499"/>
                </a:lnTo>
                <a:lnTo>
                  <a:pt x="9520922" y="1778546"/>
                </a:lnTo>
                <a:lnTo>
                  <a:pt x="9516231" y="1783887"/>
                </a:lnTo>
                <a:cubicBezTo>
                  <a:pt x="9509881" y="1778305"/>
                  <a:pt x="9503531" y="1772736"/>
                  <a:pt x="9497181" y="1767173"/>
                </a:cubicBezTo>
                <a:close/>
                <a:moveTo>
                  <a:pt x="136034" y="1762083"/>
                </a:moveTo>
                <a:lnTo>
                  <a:pt x="138119" y="1764475"/>
                </a:lnTo>
                <a:cubicBezTo>
                  <a:pt x="131756" y="1770024"/>
                  <a:pt x="125400" y="1775587"/>
                  <a:pt x="119056" y="1781156"/>
                </a:cubicBezTo>
                <a:lnTo>
                  <a:pt x="114328" y="1775772"/>
                </a:lnTo>
                <a:lnTo>
                  <a:pt x="116961" y="1778768"/>
                </a:lnTo>
                <a:close/>
                <a:moveTo>
                  <a:pt x="9503404" y="1759998"/>
                </a:moveTo>
                <a:lnTo>
                  <a:pt x="9503414" y="1760007"/>
                </a:lnTo>
                <a:lnTo>
                  <a:pt x="9499238" y="1764808"/>
                </a:lnTo>
                <a:lnTo>
                  <a:pt x="9499213" y="1764786"/>
                </a:lnTo>
                <a:close/>
                <a:moveTo>
                  <a:pt x="9505499" y="1757610"/>
                </a:moveTo>
                <a:cubicBezTo>
                  <a:pt x="9511849" y="1763179"/>
                  <a:pt x="9518263" y="1768755"/>
                  <a:pt x="9524613" y="1774343"/>
                </a:cubicBezTo>
                <a:lnTo>
                  <a:pt x="9522517" y="1776730"/>
                </a:lnTo>
                <a:lnTo>
                  <a:pt x="9503414" y="1760007"/>
                </a:lnTo>
                <a:close/>
                <a:moveTo>
                  <a:pt x="131864" y="1757293"/>
                </a:moveTo>
                <a:lnTo>
                  <a:pt x="136036" y="1762081"/>
                </a:lnTo>
                <a:lnTo>
                  <a:pt x="136034" y="1762083"/>
                </a:lnTo>
                <a:lnTo>
                  <a:pt x="131860" y="1757297"/>
                </a:lnTo>
                <a:close/>
                <a:moveTo>
                  <a:pt x="129775" y="1754905"/>
                </a:moveTo>
                <a:lnTo>
                  <a:pt x="131860" y="1757297"/>
                </a:lnTo>
                <a:lnTo>
                  <a:pt x="112771" y="1774000"/>
                </a:lnTo>
                <a:lnTo>
                  <a:pt x="110674" y="1771612"/>
                </a:lnTo>
                <a:cubicBezTo>
                  <a:pt x="117031" y="1766030"/>
                  <a:pt x="123400" y="1760461"/>
                  <a:pt x="129775" y="1754905"/>
                </a:cubicBezTo>
                <a:close/>
                <a:moveTo>
                  <a:pt x="153365" y="1743385"/>
                </a:moveTo>
                <a:lnTo>
                  <a:pt x="155165" y="1745462"/>
                </a:lnTo>
                <a:lnTo>
                  <a:pt x="155163" y="1745463"/>
                </a:lnTo>
                <a:close/>
                <a:moveTo>
                  <a:pt x="9484263" y="1743319"/>
                </a:moveTo>
                <a:lnTo>
                  <a:pt x="9484290" y="1743342"/>
                </a:lnTo>
                <a:lnTo>
                  <a:pt x="9480099" y="1748142"/>
                </a:lnTo>
                <a:lnTo>
                  <a:pt x="9480090" y="1748135"/>
                </a:lnTo>
                <a:close/>
                <a:moveTo>
                  <a:pt x="9463032" y="1729102"/>
                </a:moveTo>
                <a:lnTo>
                  <a:pt x="9460922" y="1731563"/>
                </a:lnTo>
                <a:lnTo>
                  <a:pt x="9480090" y="1748135"/>
                </a:lnTo>
                <a:lnTo>
                  <a:pt x="9478004" y="1750543"/>
                </a:lnTo>
                <a:cubicBezTo>
                  <a:pt x="9471654" y="1745005"/>
                  <a:pt x="9465240" y="1739481"/>
                  <a:pt x="9458827" y="1733969"/>
                </a:cubicBezTo>
                <a:close/>
                <a:moveTo>
                  <a:pt x="174352" y="1728908"/>
                </a:moveTo>
                <a:lnTo>
                  <a:pt x="176422" y="1731315"/>
                </a:lnTo>
                <a:cubicBezTo>
                  <a:pt x="170022" y="1736820"/>
                  <a:pt x="163627" y="1742338"/>
                  <a:pt x="157245" y="1747863"/>
                </a:cubicBezTo>
                <a:lnTo>
                  <a:pt x="155165" y="1745462"/>
                </a:lnTo>
                <a:close/>
                <a:moveTo>
                  <a:pt x="9465050" y="1726749"/>
                </a:moveTo>
                <a:lnTo>
                  <a:pt x="9465059" y="1726757"/>
                </a:lnTo>
                <a:lnTo>
                  <a:pt x="9463032" y="1729102"/>
                </a:lnTo>
                <a:close/>
                <a:moveTo>
                  <a:pt x="172282" y="1726502"/>
                </a:moveTo>
                <a:lnTo>
                  <a:pt x="174352" y="1728908"/>
                </a:lnTo>
                <a:lnTo>
                  <a:pt x="174352" y="1728908"/>
                </a:lnTo>
                <a:close/>
                <a:moveTo>
                  <a:pt x="9467145" y="1724342"/>
                </a:moveTo>
                <a:cubicBezTo>
                  <a:pt x="9473559" y="1729867"/>
                  <a:pt x="9479972" y="1735398"/>
                  <a:pt x="9486322" y="1740941"/>
                </a:cubicBezTo>
                <a:lnTo>
                  <a:pt x="9484263" y="1743319"/>
                </a:lnTo>
                <a:lnTo>
                  <a:pt x="9465059" y="1726757"/>
                </a:lnTo>
                <a:close/>
                <a:moveTo>
                  <a:pt x="168142" y="1721688"/>
                </a:moveTo>
                <a:lnTo>
                  <a:pt x="172282" y="1726502"/>
                </a:lnTo>
                <a:lnTo>
                  <a:pt x="170212" y="1724095"/>
                </a:lnTo>
                <a:cubicBezTo>
                  <a:pt x="163805" y="1729607"/>
                  <a:pt x="157398" y="1735125"/>
                  <a:pt x="151010" y="1740662"/>
                </a:cubicBezTo>
                <a:lnTo>
                  <a:pt x="153365" y="1743385"/>
                </a:lnTo>
                <a:lnTo>
                  <a:pt x="148927" y="1738262"/>
                </a:lnTo>
                <a:cubicBezTo>
                  <a:pt x="155328" y="1732725"/>
                  <a:pt x="161728" y="1727200"/>
                  <a:pt x="168142" y="1721688"/>
                </a:cubicBezTo>
                <a:close/>
                <a:moveTo>
                  <a:pt x="9445791" y="1710211"/>
                </a:moveTo>
                <a:lnTo>
                  <a:pt x="9445809" y="1710226"/>
                </a:lnTo>
                <a:lnTo>
                  <a:pt x="9441681" y="1715053"/>
                </a:lnTo>
                <a:lnTo>
                  <a:pt x="9441663" y="1715038"/>
                </a:lnTo>
                <a:close/>
                <a:moveTo>
                  <a:pt x="189479" y="1707590"/>
                </a:moveTo>
                <a:lnTo>
                  <a:pt x="193602" y="1712422"/>
                </a:lnTo>
                <a:lnTo>
                  <a:pt x="193599" y="1712424"/>
                </a:lnTo>
                <a:lnTo>
                  <a:pt x="189478" y="1707591"/>
                </a:lnTo>
                <a:close/>
                <a:moveTo>
                  <a:pt x="9422323" y="1698620"/>
                </a:moveTo>
                <a:lnTo>
                  <a:pt x="9441663" y="1715038"/>
                </a:lnTo>
                <a:lnTo>
                  <a:pt x="9439586" y="1717466"/>
                </a:lnTo>
                <a:cubicBezTo>
                  <a:pt x="9433173" y="1711979"/>
                  <a:pt x="9426759" y="1706499"/>
                  <a:pt x="9420282" y="1701032"/>
                </a:cubicBezTo>
                <a:close/>
                <a:moveTo>
                  <a:pt x="9424412" y="1696150"/>
                </a:moveTo>
                <a:lnTo>
                  <a:pt x="9422323" y="1698620"/>
                </a:lnTo>
                <a:lnTo>
                  <a:pt x="9422314" y="1698612"/>
                </a:lnTo>
                <a:close/>
                <a:moveTo>
                  <a:pt x="9428474" y="1691348"/>
                </a:moveTo>
                <a:cubicBezTo>
                  <a:pt x="9434951" y="1696828"/>
                  <a:pt x="9441428" y="1702314"/>
                  <a:pt x="9447842" y="1707813"/>
                </a:cubicBezTo>
                <a:lnTo>
                  <a:pt x="9445791" y="1710211"/>
                </a:lnTo>
                <a:lnTo>
                  <a:pt x="9426442" y="1693767"/>
                </a:lnTo>
                <a:lnTo>
                  <a:pt x="9424412" y="1696150"/>
                </a:lnTo>
                <a:close/>
                <a:moveTo>
                  <a:pt x="206750" y="1688738"/>
                </a:moveTo>
                <a:lnTo>
                  <a:pt x="214960" y="1698428"/>
                </a:lnTo>
                <a:cubicBezTo>
                  <a:pt x="208522" y="1703889"/>
                  <a:pt x="202083" y="1709357"/>
                  <a:pt x="195663" y="1714837"/>
                </a:cubicBezTo>
                <a:lnTo>
                  <a:pt x="193602" y="1712422"/>
                </a:lnTo>
                <a:lnTo>
                  <a:pt x="212909" y="1696009"/>
                </a:lnTo>
                <a:lnTo>
                  <a:pt x="208801" y="1691164"/>
                </a:lnTo>
                <a:lnTo>
                  <a:pt x="189479" y="1707590"/>
                </a:lnTo>
                <a:lnTo>
                  <a:pt x="187421" y="1705178"/>
                </a:lnTo>
                <a:cubicBezTo>
                  <a:pt x="193853" y="1699685"/>
                  <a:pt x="200298" y="1694205"/>
                  <a:pt x="206750" y="1688738"/>
                </a:cubicBezTo>
                <a:close/>
                <a:moveTo>
                  <a:pt x="9407067" y="1677372"/>
                </a:moveTo>
                <a:lnTo>
                  <a:pt x="9407074" y="1677378"/>
                </a:lnTo>
                <a:lnTo>
                  <a:pt x="9405418" y="1679328"/>
                </a:lnTo>
                <a:close/>
                <a:moveTo>
                  <a:pt x="229895" y="1676824"/>
                </a:moveTo>
                <a:lnTo>
                  <a:pt x="232279" y="1679657"/>
                </a:lnTo>
                <a:lnTo>
                  <a:pt x="232277" y="1679658"/>
                </a:lnTo>
                <a:close/>
                <a:moveTo>
                  <a:pt x="9383527" y="1665938"/>
                </a:moveTo>
                <a:lnTo>
                  <a:pt x="9402947" y="1682236"/>
                </a:lnTo>
                <a:lnTo>
                  <a:pt x="9405418" y="1679328"/>
                </a:lnTo>
                <a:lnTo>
                  <a:pt x="9400915" y="1684668"/>
                </a:lnTo>
                <a:cubicBezTo>
                  <a:pt x="9394438" y="1679219"/>
                  <a:pt x="9387961" y="1673790"/>
                  <a:pt x="9381484" y="1668367"/>
                </a:cubicBezTo>
                <a:close/>
                <a:moveTo>
                  <a:pt x="251700" y="1663372"/>
                </a:moveTo>
                <a:lnTo>
                  <a:pt x="253734" y="1665808"/>
                </a:lnTo>
                <a:cubicBezTo>
                  <a:pt x="247257" y="1671225"/>
                  <a:pt x="240780" y="1676648"/>
                  <a:pt x="234322" y="1682083"/>
                </a:cubicBezTo>
                <a:lnTo>
                  <a:pt x="232279" y="1679657"/>
                </a:lnTo>
                <a:close/>
                <a:moveTo>
                  <a:pt x="9387580" y="1661059"/>
                </a:moveTo>
                <a:lnTo>
                  <a:pt x="9387609" y="1661084"/>
                </a:lnTo>
                <a:lnTo>
                  <a:pt x="9383527" y="1665938"/>
                </a:lnTo>
                <a:lnTo>
                  <a:pt x="9383516" y="1665929"/>
                </a:lnTo>
                <a:close/>
                <a:moveTo>
                  <a:pt x="9389675" y="1658626"/>
                </a:moveTo>
                <a:cubicBezTo>
                  <a:pt x="9396152" y="1664056"/>
                  <a:pt x="9402630" y="1669498"/>
                  <a:pt x="9409107" y="1674952"/>
                </a:cubicBezTo>
                <a:lnTo>
                  <a:pt x="9407067" y="1677372"/>
                </a:lnTo>
                <a:lnTo>
                  <a:pt x="9387609" y="1661084"/>
                </a:lnTo>
                <a:close/>
                <a:moveTo>
                  <a:pt x="247631" y="1658499"/>
                </a:moveTo>
                <a:lnTo>
                  <a:pt x="251702" y="1663370"/>
                </a:lnTo>
                <a:lnTo>
                  <a:pt x="251700" y="1663372"/>
                </a:lnTo>
                <a:lnTo>
                  <a:pt x="247630" y="1658500"/>
                </a:lnTo>
                <a:close/>
                <a:moveTo>
                  <a:pt x="245593" y="1656061"/>
                </a:moveTo>
                <a:lnTo>
                  <a:pt x="247630" y="1658500"/>
                </a:lnTo>
                <a:lnTo>
                  <a:pt x="228188" y="1674794"/>
                </a:lnTo>
                <a:lnTo>
                  <a:pt x="229895" y="1676824"/>
                </a:lnTo>
                <a:lnTo>
                  <a:pt x="226143" y="1672368"/>
                </a:lnTo>
                <a:cubicBezTo>
                  <a:pt x="232620" y="1666919"/>
                  <a:pt x="239103" y="1661484"/>
                  <a:pt x="245593" y="1656061"/>
                </a:cubicBezTo>
                <a:close/>
                <a:moveTo>
                  <a:pt x="267954" y="1643274"/>
                </a:moveTo>
                <a:lnTo>
                  <a:pt x="271178" y="1647165"/>
                </a:lnTo>
                <a:lnTo>
                  <a:pt x="271177" y="1647165"/>
                </a:lnTo>
                <a:close/>
                <a:moveTo>
                  <a:pt x="290713" y="1631026"/>
                </a:moveTo>
                <a:lnTo>
                  <a:pt x="292729" y="1633474"/>
                </a:lnTo>
                <a:cubicBezTo>
                  <a:pt x="286214" y="1638840"/>
                  <a:pt x="279705" y="1644218"/>
                  <a:pt x="273203" y="1649609"/>
                </a:cubicBezTo>
                <a:lnTo>
                  <a:pt x="271178" y="1647165"/>
                </a:lnTo>
                <a:close/>
                <a:moveTo>
                  <a:pt x="9348527" y="1628635"/>
                </a:moveTo>
                <a:lnTo>
                  <a:pt x="9348536" y="1628643"/>
                </a:lnTo>
                <a:lnTo>
                  <a:pt x="9346584" y="1631013"/>
                </a:lnTo>
                <a:close/>
                <a:moveTo>
                  <a:pt x="9350559" y="1626184"/>
                </a:moveTo>
                <a:cubicBezTo>
                  <a:pt x="9357100" y="1631569"/>
                  <a:pt x="9363640" y="1636960"/>
                  <a:pt x="9370118" y="1642370"/>
                </a:cubicBezTo>
                <a:lnTo>
                  <a:pt x="9362053" y="1652143"/>
                </a:lnTo>
                <a:cubicBezTo>
                  <a:pt x="9355512" y="1646745"/>
                  <a:pt x="9349035" y="1641354"/>
                  <a:pt x="9342494" y="1635982"/>
                </a:cubicBezTo>
                <a:lnTo>
                  <a:pt x="9346584" y="1631013"/>
                </a:lnTo>
                <a:lnTo>
                  <a:pt x="9344527" y="1633531"/>
                </a:lnTo>
                <a:cubicBezTo>
                  <a:pt x="9351004" y="1638910"/>
                  <a:pt x="9357544" y="1644301"/>
                  <a:pt x="9364021" y="1649698"/>
                </a:cubicBezTo>
                <a:lnTo>
                  <a:pt x="9368085" y="1644809"/>
                </a:lnTo>
                <a:lnTo>
                  <a:pt x="9348536" y="1628643"/>
                </a:lnTo>
                <a:close/>
                <a:moveTo>
                  <a:pt x="286677" y="1626121"/>
                </a:moveTo>
                <a:lnTo>
                  <a:pt x="290716" y="1631023"/>
                </a:lnTo>
                <a:lnTo>
                  <a:pt x="290713" y="1631026"/>
                </a:lnTo>
                <a:lnTo>
                  <a:pt x="286677" y="1626122"/>
                </a:lnTo>
                <a:close/>
                <a:moveTo>
                  <a:pt x="284658" y="1623670"/>
                </a:moveTo>
                <a:lnTo>
                  <a:pt x="286677" y="1626122"/>
                </a:lnTo>
                <a:lnTo>
                  <a:pt x="267126" y="1642275"/>
                </a:lnTo>
                <a:lnTo>
                  <a:pt x="267954" y="1643274"/>
                </a:lnTo>
                <a:lnTo>
                  <a:pt x="265100" y="1639830"/>
                </a:lnTo>
                <a:cubicBezTo>
                  <a:pt x="271609" y="1634433"/>
                  <a:pt x="278130" y="1629042"/>
                  <a:pt x="284658" y="1623670"/>
                </a:cubicBezTo>
                <a:close/>
                <a:moveTo>
                  <a:pt x="9326981" y="1614888"/>
                </a:moveTo>
                <a:lnTo>
                  <a:pt x="9324906" y="1617434"/>
                </a:lnTo>
                <a:lnTo>
                  <a:pt x="9324897" y="1617427"/>
                </a:lnTo>
                <a:close/>
                <a:moveTo>
                  <a:pt x="306291" y="1610033"/>
                </a:moveTo>
                <a:lnTo>
                  <a:pt x="310309" y="1614949"/>
                </a:lnTo>
                <a:lnTo>
                  <a:pt x="310306" y="1614951"/>
                </a:lnTo>
                <a:lnTo>
                  <a:pt x="306286" y="1610036"/>
                </a:lnTo>
                <a:close/>
                <a:moveTo>
                  <a:pt x="9305239" y="1601423"/>
                </a:moveTo>
                <a:lnTo>
                  <a:pt x="9324897" y="1617427"/>
                </a:lnTo>
                <a:lnTo>
                  <a:pt x="9322873" y="1619891"/>
                </a:lnTo>
                <a:cubicBezTo>
                  <a:pt x="9316332" y="1614545"/>
                  <a:pt x="9309793" y="1609204"/>
                  <a:pt x="9303252" y="1603870"/>
                </a:cubicBezTo>
                <a:close/>
                <a:moveTo>
                  <a:pt x="329957" y="1598945"/>
                </a:moveTo>
                <a:lnTo>
                  <a:pt x="331959" y="1601413"/>
                </a:lnTo>
                <a:cubicBezTo>
                  <a:pt x="325400" y="1606734"/>
                  <a:pt x="318853" y="1612062"/>
                  <a:pt x="312319" y="1617409"/>
                </a:cubicBezTo>
                <a:lnTo>
                  <a:pt x="310309" y="1614949"/>
                </a:lnTo>
                <a:close/>
                <a:moveTo>
                  <a:pt x="9307259" y="1598935"/>
                </a:moveTo>
                <a:lnTo>
                  <a:pt x="9305239" y="1601423"/>
                </a:lnTo>
                <a:lnTo>
                  <a:pt x="9305220" y="1601407"/>
                </a:lnTo>
                <a:close/>
                <a:moveTo>
                  <a:pt x="9311253" y="1594015"/>
                </a:moveTo>
                <a:cubicBezTo>
                  <a:pt x="9317856" y="1599356"/>
                  <a:pt x="9324397" y="1604702"/>
                  <a:pt x="9330938" y="1610068"/>
                </a:cubicBezTo>
                <a:lnTo>
                  <a:pt x="9326981" y="1614888"/>
                </a:lnTo>
                <a:lnTo>
                  <a:pt x="9328906" y="1612525"/>
                </a:lnTo>
                <a:cubicBezTo>
                  <a:pt x="9322365" y="1607166"/>
                  <a:pt x="9315825" y="1601819"/>
                  <a:pt x="9309284" y="1596479"/>
                </a:cubicBezTo>
                <a:lnTo>
                  <a:pt x="9307259" y="1598935"/>
                </a:lnTo>
                <a:close/>
                <a:moveTo>
                  <a:pt x="325959" y="1594015"/>
                </a:moveTo>
                <a:lnTo>
                  <a:pt x="329959" y="1598943"/>
                </a:lnTo>
                <a:lnTo>
                  <a:pt x="329957" y="1598945"/>
                </a:lnTo>
                <a:lnTo>
                  <a:pt x="325958" y="1594016"/>
                </a:lnTo>
                <a:close/>
                <a:moveTo>
                  <a:pt x="323958" y="1591551"/>
                </a:moveTo>
                <a:lnTo>
                  <a:pt x="325958" y="1594016"/>
                </a:lnTo>
                <a:lnTo>
                  <a:pt x="306291" y="1610033"/>
                </a:lnTo>
                <a:lnTo>
                  <a:pt x="304280" y="1607572"/>
                </a:lnTo>
                <a:cubicBezTo>
                  <a:pt x="310826" y="1602219"/>
                  <a:pt x="317386" y="1596879"/>
                  <a:pt x="323958" y="1591551"/>
                </a:cubicBezTo>
                <a:close/>
                <a:moveTo>
                  <a:pt x="9289527" y="1580502"/>
                </a:moveTo>
                <a:lnTo>
                  <a:pt x="9289536" y="1580509"/>
                </a:lnTo>
                <a:lnTo>
                  <a:pt x="9287589" y="1582914"/>
                </a:lnTo>
                <a:close/>
                <a:moveTo>
                  <a:pt x="345683" y="1578064"/>
                </a:moveTo>
                <a:lnTo>
                  <a:pt x="347676" y="1580538"/>
                </a:lnTo>
                <a:lnTo>
                  <a:pt x="345682" y="1578064"/>
                </a:lnTo>
                <a:close/>
                <a:moveTo>
                  <a:pt x="369435" y="1567145"/>
                </a:moveTo>
                <a:lnTo>
                  <a:pt x="371418" y="1569625"/>
                </a:lnTo>
                <a:cubicBezTo>
                  <a:pt x="364820" y="1574895"/>
                  <a:pt x="358236" y="1580185"/>
                  <a:pt x="351657" y="1585481"/>
                </a:cubicBezTo>
                <a:lnTo>
                  <a:pt x="347676" y="1580538"/>
                </a:lnTo>
                <a:lnTo>
                  <a:pt x="349669" y="1583011"/>
                </a:lnTo>
                <a:close/>
                <a:moveTo>
                  <a:pt x="365468" y="1562183"/>
                </a:moveTo>
                <a:lnTo>
                  <a:pt x="369437" y="1567142"/>
                </a:lnTo>
                <a:lnTo>
                  <a:pt x="369435" y="1567145"/>
                </a:lnTo>
                <a:lnTo>
                  <a:pt x="365468" y="1562184"/>
                </a:lnTo>
                <a:close/>
                <a:moveTo>
                  <a:pt x="9271693" y="1562125"/>
                </a:moveTo>
                <a:cubicBezTo>
                  <a:pt x="9278296" y="1567415"/>
                  <a:pt x="9284900" y="1572724"/>
                  <a:pt x="9291505" y="1578039"/>
                </a:cubicBezTo>
                <a:lnTo>
                  <a:pt x="9289527" y="1580502"/>
                </a:lnTo>
                <a:lnTo>
                  <a:pt x="9269724" y="1564602"/>
                </a:lnTo>
                <a:lnTo>
                  <a:pt x="9265787" y="1569561"/>
                </a:lnTo>
                <a:cubicBezTo>
                  <a:pt x="9272391" y="1574844"/>
                  <a:pt x="9278932" y="1580140"/>
                  <a:pt x="9285535" y="1585449"/>
                </a:cubicBezTo>
                <a:lnTo>
                  <a:pt x="9287589" y="1582914"/>
                </a:lnTo>
                <a:lnTo>
                  <a:pt x="9283567" y="1587919"/>
                </a:lnTo>
                <a:cubicBezTo>
                  <a:pt x="9276963" y="1582617"/>
                  <a:pt x="9270359" y="1577321"/>
                  <a:pt x="9263755" y="1572038"/>
                </a:cubicBezTo>
                <a:close/>
                <a:moveTo>
                  <a:pt x="363487" y="1559706"/>
                </a:moveTo>
                <a:lnTo>
                  <a:pt x="365468" y="1562184"/>
                </a:lnTo>
                <a:lnTo>
                  <a:pt x="345683" y="1578064"/>
                </a:lnTo>
                <a:lnTo>
                  <a:pt x="343694" y="1575594"/>
                </a:lnTo>
                <a:cubicBezTo>
                  <a:pt x="350279" y="1570285"/>
                  <a:pt x="356877" y="1564989"/>
                  <a:pt x="363487" y="1559706"/>
                </a:cubicBezTo>
                <a:close/>
                <a:moveTo>
                  <a:pt x="9249904" y="1548765"/>
                </a:moveTo>
                <a:lnTo>
                  <a:pt x="9249912" y="1548771"/>
                </a:lnTo>
                <a:lnTo>
                  <a:pt x="9248019" y="1551124"/>
                </a:lnTo>
                <a:close/>
                <a:moveTo>
                  <a:pt x="385308" y="1546376"/>
                </a:moveTo>
                <a:lnTo>
                  <a:pt x="389257" y="1551349"/>
                </a:lnTo>
                <a:lnTo>
                  <a:pt x="389255" y="1551350"/>
                </a:lnTo>
                <a:lnTo>
                  <a:pt x="385306" y="1546377"/>
                </a:lnTo>
                <a:close/>
                <a:moveTo>
                  <a:pt x="9226038" y="1537998"/>
                </a:moveTo>
                <a:lnTo>
                  <a:pt x="9245911" y="1553743"/>
                </a:lnTo>
                <a:lnTo>
                  <a:pt x="9248019" y="1551124"/>
                </a:lnTo>
                <a:lnTo>
                  <a:pt x="9243943" y="1556226"/>
                </a:lnTo>
                <a:cubicBezTo>
                  <a:pt x="9237339" y="1550969"/>
                  <a:pt x="9230735" y="1545723"/>
                  <a:pt x="9224068" y="1540491"/>
                </a:cubicBezTo>
                <a:close/>
                <a:moveTo>
                  <a:pt x="9229973" y="1533011"/>
                </a:moveTo>
                <a:lnTo>
                  <a:pt x="9229975" y="1533013"/>
                </a:lnTo>
                <a:lnTo>
                  <a:pt x="9226038" y="1537998"/>
                </a:lnTo>
                <a:lnTo>
                  <a:pt x="9226036" y="1537996"/>
                </a:lnTo>
                <a:close/>
                <a:moveTo>
                  <a:pt x="9231942" y="1530522"/>
                </a:moveTo>
                <a:cubicBezTo>
                  <a:pt x="9238609" y="1535767"/>
                  <a:pt x="9245213" y="1541018"/>
                  <a:pt x="9251881" y="1546289"/>
                </a:cubicBezTo>
                <a:lnTo>
                  <a:pt x="9249904" y="1548765"/>
                </a:lnTo>
                <a:lnTo>
                  <a:pt x="9229975" y="1533013"/>
                </a:lnTo>
                <a:close/>
                <a:moveTo>
                  <a:pt x="403232" y="1528147"/>
                </a:moveTo>
                <a:lnTo>
                  <a:pt x="411093" y="1538122"/>
                </a:lnTo>
                <a:cubicBezTo>
                  <a:pt x="404464" y="1543348"/>
                  <a:pt x="397841" y="1548587"/>
                  <a:pt x="391230" y="1553832"/>
                </a:cubicBezTo>
                <a:lnTo>
                  <a:pt x="389257" y="1551349"/>
                </a:lnTo>
                <a:lnTo>
                  <a:pt x="409124" y="1535627"/>
                </a:lnTo>
                <a:lnTo>
                  <a:pt x="405194" y="1530642"/>
                </a:lnTo>
                <a:lnTo>
                  <a:pt x="385308" y="1546376"/>
                </a:lnTo>
                <a:lnTo>
                  <a:pt x="383331" y="1543888"/>
                </a:lnTo>
                <a:cubicBezTo>
                  <a:pt x="389954" y="1538630"/>
                  <a:pt x="396589" y="1533385"/>
                  <a:pt x="403232" y="1528147"/>
                </a:cubicBezTo>
                <a:close/>
                <a:moveTo>
                  <a:pt x="9210032" y="1517325"/>
                </a:moveTo>
                <a:lnTo>
                  <a:pt x="9210034" y="1517326"/>
                </a:lnTo>
                <a:lnTo>
                  <a:pt x="9206097" y="1522324"/>
                </a:lnTo>
                <a:lnTo>
                  <a:pt x="9206095" y="1522323"/>
                </a:lnTo>
                <a:close/>
                <a:moveTo>
                  <a:pt x="425147" y="1514976"/>
                </a:moveTo>
                <a:lnTo>
                  <a:pt x="427624" y="1518144"/>
                </a:lnTo>
                <a:lnTo>
                  <a:pt x="425145" y="1514977"/>
                </a:lnTo>
                <a:close/>
                <a:moveTo>
                  <a:pt x="9186115" y="1506732"/>
                </a:moveTo>
                <a:lnTo>
                  <a:pt x="9206095" y="1522323"/>
                </a:lnTo>
                <a:lnTo>
                  <a:pt x="9204128" y="1524819"/>
                </a:lnTo>
                <a:cubicBezTo>
                  <a:pt x="9197524" y="1519612"/>
                  <a:pt x="9190856" y="1514412"/>
                  <a:pt x="9184189" y="1509224"/>
                </a:cubicBezTo>
                <a:close/>
                <a:moveTo>
                  <a:pt x="449041" y="1504392"/>
                </a:moveTo>
                <a:lnTo>
                  <a:pt x="450990" y="1506900"/>
                </a:lnTo>
                <a:cubicBezTo>
                  <a:pt x="444322" y="1512081"/>
                  <a:pt x="437661" y="1517275"/>
                  <a:pt x="431013" y="1522476"/>
                </a:cubicBezTo>
                <a:lnTo>
                  <a:pt x="427624" y="1518144"/>
                </a:lnTo>
                <a:lnTo>
                  <a:pt x="429057" y="1519974"/>
                </a:lnTo>
                <a:close/>
                <a:moveTo>
                  <a:pt x="9188064" y="1504209"/>
                </a:moveTo>
                <a:lnTo>
                  <a:pt x="9186115" y="1506732"/>
                </a:lnTo>
                <a:lnTo>
                  <a:pt x="9186094" y="1506715"/>
                </a:lnTo>
                <a:close/>
                <a:moveTo>
                  <a:pt x="445148" y="1499381"/>
                </a:moveTo>
                <a:lnTo>
                  <a:pt x="449041" y="1504391"/>
                </a:lnTo>
                <a:lnTo>
                  <a:pt x="449041" y="1504392"/>
                </a:lnTo>
                <a:lnTo>
                  <a:pt x="445148" y="1499382"/>
                </a:lnTo>
                <a:close/>
                <a:moveTo>
                  <a:pt x="9191936" y="1499197"/>
                </a:moveTo>
                <a:cubicBezTo>
                  <a:pt x="9198668" y="1504398"/>
                  <a:pt x="9205335" y="1509605"/>
                  <a:pt x="9212002" y="1514824"/>
                </a:cubicBezTo>
                <a:lnTo>
                  <a:pt x="9210032" y="1517325"/>
                </a:lnTo>
                <a:lnTo>
                  <a:pt x="9190032" y="1501705"/>
                </a:lnTo>
                <a:lnTo>
                  <a:pt x="9188064" y="1504209"/>
                </a:lnTo>
                <a:close/>
                <a:moveTo>
                  <a:pt x="443198" y="1496873"/>
                </a:moveTo>
                <a:lnTo>
                  <a:pt x="445148" y="1499382"/>
                </a:lnTo>
                <a:lnTo>
                  <a:pt x="425147" y="1514976"/>
                </a:lnTo>
                <a:lnTo>
                  <a:pt x="423190" y="1512475"/>
                </a:lnTo>
                <a:cubicBezTo>
                  <a:pt x="429851" y="1507262"/>
                  <a:pt x="436518" y="1502061"/>
                  <a:pt x="443198" y="1496873"/>
                </a:cubicBezTo>
                <a:close/>
                <a:moveTo>
                  <a:pt x="9169945" y="1486139"/>
                </a:moveTo>
                <a:lnTo>
                  <a:pt x="9169965" y="1486154"/>
                </a:lnTo>
                <a:lnTo>
                  <a:pt x="9166092" y="1491177"/>
                </a:lnTo>
                <a:lnTo>
                  <a:pt x="9166072" y="1491162"/>
                </a:lnTo>
                <a:close/>
                <a:moveTo>
                  <a:pt x="465209" y="1483849"/>
                </a:moveTo>
                <a:lnTo>
                  <a:pt x="466637" y="1485701"/>
                </a:lnTo>
                <a:lnTo>
                  <a:pt x="465208" y="1483849"/>
                </a:lnTo>
                <a:close/>
                <a:moveTo>
                  <a:pt x="9145972" y="1475723"/>
                </a:moveTo>
                <a:lnTo>
                  <a:pt x="9166072" y="1491162"/>
                </a:lnTo>
                <a:lnTo>
                  <a:pt x="9164123" y="1493691"/>
                </a:lnTo>
                <a:cubicBezTo>
                  <a:pt x="9157456" y="1488529"/>
                  <a:pt x="9150725" y="1483373"/>
                  <a:pt x="9144057" y="1478236"/>
                </a:cubicBezTo>
                <a:close/>
                <a:moveTo>
                  <a:pt x="9147899" y="1473194"/>
                </a:moveTo>
                <a:lnTo>
                  <a:pt x="9145972" y="1475723"/>
                </a:lnTo>
                <a:lnTo>
                  <a:pt x="9145962" y="1475715"/>
                </a:lnTo>
                <a:close/>
                <a:moveTo>
                  <a:pt x="9151741" y="1468152"/>
                </a:moveTo>
                <a:cubicBezTo>
                  <a:pt x="9158472" y="1473302"/>
                  <a:pt x="9165203" y="1478464"/>
                  <a:pt x="9171870" y="1483640"/>
                </a:cubicBezTo>
                <a:lnTo>
                  <a:pt x="9169945" y="1486139"/>
                </a:lnTo>
                <a:lnTo>
                  <a:pt x="9149836" y="1470673"/>
                </a:lnTo>
                <a:lnTo>
                  <a:pt x="9147899" y="1473194"/>
                </a:lnTo>
                <a:close/>
                <a:moveTo>
                  <a:pt x="483394" y="1465872"/>
                </a:moveTo>
                <a:lnTo>
                  <a:pt x="491116" y="1475956"/>
                </a:lnTo>
                <a:cubicBezTo>
                  <a:pt x="484410" y="1481093"/>
                  <a:pt x="477711" y="1486237"/>
                  <a:pt x="471024" y="1491393"/>
                </a:cubicBezTo>
                <a:lnTo>
                  <a:pt x="466637" y="1485701"/>
                </a:lnTo>
                <a:lnTo>
                  <a:pt x="469088" y="1488878"/>
                </a:lnTo>
                <a:cubicBezTo>
                  <a:pt x="475774" y="1483722"/>
                  <a:pt x="482480" y="1478572"/>
                  <a:pt x="489185" y="1473435"/>
                </a:cubicBezTo>
                <a:lnTo>
                  <a:pt x="485324" y="1468393"/>
                </a:lnTo>
                <a:lnTo>
                  <a:pt x="465209" y="1483849"/>
                </a:lnTo>
                <a:lnTo>
                  <a:pt x="463271" y="1481334"/>
                </a:lnTo>
                <a:cubicBezTo>
                  <a:pt x="469970" y="1476172"/>
                  <a:pt x="476676" y="1471016"/>
                  <a:pt x="483394" y="1465872"/>
                </a:cubicBezTo>
                <a:close/>
                <a:moveTo>
                  <a:pt x="9129632" y="1455260"/>
                </a:moveTo>
                <a:lnTo>
                  <a:pt x="9129643" y="1455268"/>
                </a:lnTo>
                <a:lnTo>
                  <a:pt x="9127667" y="1457843"/>
                </a:lnTo>
                <a:close/>
                <a:moveTo>
                  <a:pt x="505501" y="1453006"/>
                </a:moveTo>
                <a:lnTo>
                  <a:pt x="509343" y="1458061"/>
                </a:lnTo>
                <a:lnTo>
                  <a:pt x="509340" y="1458062"/>
                </a:lnTo>
                <a:lnTo>
                  <a:pt x="505498" y="1453007"/>
                </a:lnTo>
                <a:close/>
                <a:moveTo>
                  <a:pt x="9105586" y="1445008"/>
                </a:moveTo>
                <a:lnTo>
                  <a:pt x="9125769" y="1460316"/>
                </a:lnTo>
                <a:lnTo>
                  <a:pt x="9127667" y="1457843"/>
                </a:lnTo>
                <a:lnTo>
                  <a:pt x="9123864" y="1462843"/>
                </a:lnTo>
                <a:cubicBezTo>
                  <a:pt x="9117133" y="1457731"/>
                  <a:pt x="9110402" y="1452626"/>
                  <a:pt x="9103671" y="1447533"/>
                </a:cubicBezTo>
                <a:close/>
                <a:moveTo>
                  <a:pt x="9109386" y="1439932"/>
                </a:moveTo>
                <a:lnTo>
                  <a:pt x="9109417" y="1439956"/>
                </a:lnTo>
                <a:lnTo>
                  <a:pt x="9105586" y="1445008"/>
                </a:lnTo>
                <a:lnTo>
                  <a:pt x="9105576" y="1445000"/>
                </a:lnTo>
                <a:close/>
                <a:moveTo>
                  <a:pt x="9111355" y="1437399"/>
                </a:moveTo>
                <a:cubicBezTo>
                  <a:pt x="9118086" y="1442498"/>
                  <a:pt x="9124817" y="1447616"/>
                  <a:pt x="9131548" y="1452740"/>
                </a:cubicBezTo>
                <a:lnTo>
                  <a:pt x="9129632" y="1455260"/>
                </a:lnTo>
                <a:lnTo>
                  <a:pt x="9109417" y="1439956"/>
                </a:lnTo>
                <a:close/>
                <a:moveTo>
                  <a:pt x="523805" y="1435164"/>
                </a:moveTo>
                <a:lnTo>
                  <a:pt x="531451" y="1445304"/>
                </a:lnTo>
                <a:cubicBezTo>
                  <a:pt x="524713" y="1450391"/>
                  <a:pt x="517982" y="1455484"/>
                  <a:pt x="511264" y="1460589"/>
                </a:cubicBezTo>
                <a:lnTo>
                  <a:pt x="509343" y="1458061"/>
                </a:lnTo>
                <a:lnTo>
                  <a:pt x="529539" y="1442771"/>
                </a:lnTo>
                <a:lnTo>
                  <a:pt x="525717" y="1437704"/>
                </a:lnTo>
                <a:lnTo>
                  <a:pt x="505501" y="1453006"/>
                </a:lnTo>
                <a:lnTo>
                  <a:pt x="503581" y="1450480"/>
                </a:lnTo>
                <a:cubicBezTo>
                  <a:pt x="510312" y="1445362"/>
                  <a:pt x="517055" y="1440256"/>
                  <a:pt x="523805" y="1435164"/>
                </a:cubicBezTo>
                <a:close/>
                <a:moveTo>
                  <a:pt x="566325" y="1407293"/>
                </a:moveTo>
                <a:lnTo>
                  <a:pt x="570110" y="1412393"/>
                </a:lnTo>
                <a:lnTo>
                  <a:pt x="570110" y="1412393"/>
                </a:lnTo>
                <a:lnTo>
                  <a:pt x="566321" y="1407297"/>
                </a:lnTo>
                <a:close/>
                <a:moveTo>
                  <a:pt x="9070715" y="1406938"/>
                </a:moveTo>
                <a:cubicBezTo>
                  <a:pt x="9077509" y="1411992"/>
                  <a:pt x="9084240" y="1417053"/>
                  <a:pt x="9091035" y="1422133"/>
                </a:cubicBezTo>
                <a:lnTo>
                  <a:pt x="9089130" y="1424673"/>
                </a:lnTo>
                <a:cubicBezTo>
                  <a:pt x="9082335" y="1419600"/>
                  <a:pt x="9075605" y="1414532"/>
                  <a:pt x="9068810" y="1409484"/>
                </a:cubicBezTo>
                <a:lnTo>
                  <a:pt x="9065000" y="1414577"/>
                </a:lnTo>
                <a:cubicBezTo>
                  <a:pt x="9071794" y="1419625"/>
                  <a:pt x="9078589" y="1424686"/>
                  <a:pt x="9085319" y="1429753"/>
                </a:cubicBezTo>
                <a:lnTo>
                  <a:pt x="9089130" y="1424673"/>
                </a:lnTo>
                <a:lnTo>
                  <a:pt x="9083415" y="1432293"/>
                </a:lnTo>
                <a:cubicBezTo>
                  <a:pt x="9076684" y="1427226"/>
                  <a:pt x="9069889" y="1422171"/>
                  <a:pt x="9063094" y="1417123"/>
                </a:cubicBezTo>
                <a:close/>
                <a:moveTo>
                  <a:pt x="564426" y="1404747"/>
                </a:moveTo>
                <a:lnTo>
                  <a:pt x="566321" y="1407297"/>
                </a:lnTo>
                <a:lnTo>
                  <a:pt x="545992" y="1422464"/>
                </a:lnTo>
                <a:lnTo>
                  <a:pt x="549796" y="1427544"/>
                </a:lnTo>
                <a:lnTo>
                  <a:pt x="570110" y="1412393"/>
                </a:lnTo>
                <a:lnTo>
                  <a:pt x="572002" y="1414939"/>
                </a:lnTo>
                <a:cubicBezTo>
                  <a:pt x="565226" y="1419974"/>
                  <a:pt x="558457" y="1425029"/>
                  <a:pt x="551701" y="1430090"/>
                </a:cubicBezTo>
                <a:lnTo>
                  <a:pt x="544087" y="1419923"/>
                </a:lnTo>
                <a:cubicBezTo>
                  <a:pt x="550856" y="1414850"/>
                  <a:pt x="557638" y="1409795"/>
                  <a:pt x="564426" y="1404747"/>
                </a:cubicBezTo>
                <a:close/>
                <a:moveTo>
                  <a:pt x="9048396" y="1394343"/>
                </a:moveTo>
                <a:lnTo>
                  <a:pt x="9048426" y="1394365"/>
                </a:lnTo>
                <a:lnTo>
                  <a:pt x="9044617" y="1399470"/>
                </a:lnTo>
                <a:lnTo>
                  <a:pt x="9044608" y="1399464"/>
                </a:lnTo>
                <a:close/>
                <a:moveTo>
                  <a:pt x="9024189" y="1384455"/>
                </a:moveTo>
                <a:lnTo>
                  <a:pt x="9044608" y="1399464"/>
                </a:lnTo>
                <a:lnTo>
                  <a:pt x="9042711" y="1402029"/>
                </a:lnTo>
                <a:cubicBezTo>
                  <a:pt x="9035917" y="1397006"/>
                  <a:pt x="9029122" y="1391996"/>
                  <a:pt x="9022328" y="1386999"/>
                </a:cubicBezTo>
                <a:close/>
                <a:moveTo>
                  <a:pt x="9026066" y="1381890"/>
                </a:moveTo>
                <a:lnTo>
                  <a:pt x="9024189" y="1384455"/>
                </a:lnTo>
                <a:lnTo>
                  <a:pt x="9024169" y="1384440"/>
                </a:lnTo>
                <a:close/>
                <a:moveTo>
                  <a:pt x="608837" y="1379477"/>
                </a:moveTo>
                <a:lnTo>
                  <a:pt x="610902" y="1382293"/>
                </a:lnTo>
                <a:lnTo>
                  <a:pt x="610899" y="1382296"/>
                </a:lnTo>
                <a:close/>
                <a:moveTo>
                  <a:pt x="9029821" y="1376756"/>
                </a:moveTo>
                <a:cubicBezTo>
                  <a:pt x="9036679" y="1381760"/>
                  <a:pt x="9043473" y="1386783"/>
                  <a:pt x="9050268" y="1391812"/>
                </a:cubicBezTo>
                <a:lnTo>
                  <a:pt x="9048396" y="1394343"/>
                </a:lnTo>
                <a:lnTo>
                  <a:pt x="9027980" y="1379315"/>
                </a:lnTo>
                <a:lnTo>
                  <a:pt x="9026066" y="1381890"/>
                </a:lnTo>
                <a:close/>
                <a:moveTo>
                  <a:pt x="605276" y="1374610"/>
                </a:moveTo>
                <a:lnTo>
                  <a:pt x="608837" y="1379477"/>
                </a:lnTo>
                <a:lnTo>
                  <a:pt x="607149" y="1377175"/>
                </a:lnTo>
                <a:cubicBezTo>
                  <a:pt x="600329" y="1382173"/>
                  <a:pt x="593516" y="1387177"/>
                  <a:pt x="586708" y="1392199"/>
                </a:cubicBezTo>
                <a:lnTo>
                  <a:pt x="590480" y="1397311"/>
                </a:lnTo>
                <a:lnTo>
                  <a:pt x="610899" y="1382296"/>
                </a:lnTo>
                <a:lnTo>
                  <a:pt x="612775" y="1384859"/>
                </a:lnTo>
                <a:cubicBezTo>
                  <a:pt x="605962" y="1389850"/>
                  <a:pt x="599161" y="1394847"/>
                  <a:pt x="592360" y="1399864"/>
                </a:cubicBezTo>
                <a:lnTo>
                  <a:pt x="584823" y="1389647"/>
                </a:lnTo>
                <a:cubicBezTo>
                  <a:pt x="591630" y="1384624"/>
                  <a:pt x="598450" y="1379614"/>
                  <a:pt x="605276" y="1374610"/>
                </a:cubicBezTo>
                <a:close/>
                <a:moveTo>
                  <a:pt x="9007446" y="1364325"/>
                </a:moveTo>
                <a:lnTo>
                  <a:pt x="9007469" y="1364342"/>
                </a:lnTo>
                <a:lnTo>
                  <a:pt x="9003722" y="1369473"/>
                </a:lnTo>
                <a:lnTo>
                  <a:pt x="9003701" y="1369458"/>
                </a:lnTo>
                <a:close/>
                <a:moveTo>
                  <a:pt x="627649" y="1362220"/>
                </a:moveTo>
                <a:lnTo>
                  <a:pt x="629514" y="1364787"/>
                </a:lnTo>
                <a:lnTo>
                  <a:pt x="627647" y="1362221"/>
                </a:lnTo>
                <a:close/>
                <a:moveTo>
                  <a:pt x="8983157" y="1354596"/>
                </a:moveTo>
                <a:lnTo>
                  <a:pt x="9003701" y="1369458"/>
                </a:lnTo>
                <a:lnTo>
                  <a:pt x="9001818" y="1372038"/>
                </a:lnTo>
                <a:cubicBezTo>
                  <a:pt x="8995023" y="1367072"/>
                  <a:pt x="8988165" y="1362113"/>
                  <a:pt x="8981306" y="1357160"/>
                </a:cubicBezTo>
                <a:close/>
                <a:moveTo>
                  <a:pt x="651904" y="1352494"/>
                </a:moveTo>
                <a:lnTo>
                  <a:pt x="653758" y="1355065"/>
                </a:lnTo>
                <a:cubicBezTo>
                  <a:pt x="646913" y="1360005"/>
                  <a:pt x="640074" y="1364958"/>
                  <a:pt x="633248" y="1369924"/>
                </a:cubicBezTo>
                <a:lnTo>
                  <a:pt x="629514" y="1364787"/>
                </a:lnTo>
                <a:lnTo>
                  <a:pt x="631381" y="1367352"/>
                </a:lnTo>
                <a:close/>
                <a:moveTo>
                  <a:pt x="8984967" y="1352089"/>
                </a:moveTo>
                <a:lnTo>
                  <a:pt x="8983157" y="1354596"/>
                </a:lnTo>
                <a:lnTo>
                  <a:pt x="8983148" y="1354589"/>
                </a:lnTo>
                <a:close/>
                <a:moveTo>
                  <a:pt x="648189" y="1347343"/>
                </a:moveTo>
                <a:lnTo>
                  <a:pt x="651904" y="1352493"/>
                </a:lnTo>
                <a:lnTo>
                  <a:pt x="651904" y="1352494"/>
                </a:lnTo>
                <a:lnTo>
                  <a:pt x="648189" y="1347344"/>
                </a:lnTo>
                <a:close/>
                <a:moveTo>
                  <a:pt x="8988736" y="1346867"/>
                </a:moveTo>
                <a:cubicBezTo>
                  <a:pt x="8995594" y="1351826"/>
                  <a:pt x="9002452" y="1356792"/>
                  <a:pt x="9009310" y="1361770"/>
                </a:cubicBezTo>
                <a:lnTo>
                  <a:pt x="9007446" y="1364325"/>
                </a:lnTo>
                <a:lnTo>
                  <a:pt x="8986894" y="1349439"/>
                </a:lnTo>
                <a:lnTo>
                  <a:pt x="8984967" y="1352089"/>
                </a:lnTo>
                <a:close/>
                <a:moveTo>
                  <a:pt x="646329" y="1344765"/>
                </a:moveTo>
                <a:lnTo>
                  <a:pt x="648189" y="1347344"/>
                </a:lnTo>
                <a:lnTo>
                  <a:pt x="627649" y="1362220"/>
                </a:lnTo>
                <a:lnTo>
                  <a:pt x="625780" y="1359649"/>
                </a:lnTo>
                <a:cubicBezTo>
                  <a:pt x="632619" y="1354677"/>
                  <a:pt x="639471" y="1349718"/>
                  <a:pt x="646329" y="1344765"/>
                </a:cubicBezTo>
                <a:close/>
                <a:moveTo>
                  <a:pt x="8966308" y="1334609"/>
                </a:moveTo>
                <a:lnTo>
                  <a:pt x="8966321" y="1334618"/>
                </a:lnTo>
                <a:lnTo>
                  <a:pt x="8964103" y="1337674"/>
                </a:lnTo>
                <a:close/>
                <a:moveTo>
                  <a:pt x="668784" y="1332540"/>
                </a:moveTo>
                <a:lnTo>
                  <a:pt x="672480" y="1337703"/>
                </a:lnTo>
                <a:lnTo>
                  <a:pt x="672478" y="1337704"/>
                </a:lnTo>
                <a:lnTo>
                  <a:pt x="668782" y="1332541"/>
                </a:lnTo>
                <a:close/>
                <a:moveTo>
                  <a:pt x="8941938" y="1325036"/>
                </a:moveTo>
                <a:lnTo>
                  <a:pt x="8962574" y="1339780"/>
                </a:lnTo>
                <a:lnTo>
                  <a:pt x="8964103" y="1337674"/>
                </a:lnTo>
                <a:lnTo>
                  <a:pt x="8960732" y="1342358"/>
                </a:lnTo>
                <a:cubicBezTo>
                  <a:pt x="8953875" y="1337437"/>
                  <a:pt x="8947017" y="1332522"/>
                  <a:pt x="8940095" y="1327626"/>
                </a:cubicBezTo>
                <a:close/>
                <a:moveTo>
                  <a:pt x="693106" y="1322987"/>
                </a:moveTo>
                <a:lnTo>
                  <a:pt x="694944" y="1325575"/>
                </a:lnTo>
                <a:cubicBezTo>
                  <a:pt x="688061" y="1330465"/>
                  <a:pt x="681190" y="1335367"/>
                  <a:pt x="674326" y="1340282"/>
                </a:cubicBezTo>
                <a:lnTo>
                  <a:pt x="672480" y="1337703"/>
                </a:lnTo>
                <a:close/>
                <a:moveTo>
                  <a:pt x="8943641" y="1322644"/>
                </a:moveTo>
                <a:lnTo>
                  <a:pt x="8941938" y="1325036"/>
                </a:lnTo>
                <a:lnTo>
                  <a:pt x="8941937" y="1325035"/>
                </a:lnTo>
                <a:close/>
                <a:moveTo>
                  <a:pt x="689886" y="1318455"/>
                </a:moveTo>
                <a:lnTo>
                  <a:pt x="693109" y="1322984"/>
                </a:lnTo>
                <a:lnTo>
                  <a:pt x="693106" y="1322987"/>
                </a:lnTo>
                <a:close/>
                <a:moveTo>
                  <a:pt x="8947461" y="1317276"/>
                </a:moveTo>
                <a:cubicBezTo>
                  <a:pt x="8954382" y="1322184"/>
                  <a:pt x="8961241" y="1327106"/>
                  <a:pt x="8968162" y="1332033"/>
                </a:cubicBezTo>
                <a:lnTo>
                  <a:pt x="8966308" y="1334609"/>
                </a:lnTo>
                <a:lnTo>
                  <a:pt x="8945619" y="1319867"/>
                </a:lnTo>
                <a:lnTo>
                  <a:pt x="8943641" y="1322644"/>
                </a:lnTo>
                <a:close/>
                <a:moveTo>
                  <a:pt x="687591" y="1315225"/>
                </a:moveTo>
                <a:lnTo>
                  <a:pt x="689886" y="1318455"/>
                </a:lnTo>
                <a:lnTo>
                  <a:pt x="689426" y="1317809"/>
                </a:lnTo>
                <a:lnTo>
                  <a:pt x="668784" y="1332540"/>
                </a:lnTo>
                <a:lnTo>
                  <a:pt x="666934" y="1329957"/>
                </a:lnTo>
                <a:cubicBezTo>
                  <a:pt x="673805" y="1325035"/>
                  <a:pt x="680695" y="1320121"/>
                  <a:pt x="687591" y="1315225"/>
                </a:cubicBezTo>
                <a:close/>
                <a:moveTo>
                  <a:pt x="710130" y="1303152"/>
                </a:moveTo>
                <a:lnTo>
                  <a:pt x="713792" y="1308341"/>
                </a:lnTo>
                <a:lnTo>
                  <a:pt x="713791" y="1308341"/>
                </a:lnTo>
                <a:lnTo>
                  <a:pt x="710127" y="1303153"/>
                </a:lnTo>
                <a:close/>
                <a:moveTo>
                  <a:pt x="734529" y="1293769"/>
                </a:moveTo>
                <a:lnTo>
                  <a:pt x="736346" y="1296365"/>
                </a:lnTo>
                <a:cubicBezTo>
                  <a:pt x="729431" y="1301210"/>
                  <a:pt x="722522" y="1306068"/>
                  <a:pt x="715620" y="1310932"/>
                </a:cubicBezTo>
                <a:lnTo>
                  <a:pt x="713792" y="1308341"/>
                </a:lnTo>
                <a:close/>
                <a:moveTo>
                  <a:pt x="8904155" y="1290574"/>
                </a:moveTo>
                <a:lnTo>
                  <a:pt x="8904166" y="1290582"/>
                </a:lnTo>
                <a:lnTo>
                  <a:pt x="8902345" y="1293175"/>
                </a:lnTo>
                <a:close/>
                <a:moveTo>
                  <a:pt x="730885" y="1288561"/>
                </a:moveTo>
                <a:lnTo>
                  <a:pt x="734530" y="1293768"/>
                </a:lnTo>
                <a:lnTo>
                  <a:pt x="734529" y="1293769"/>
                </a:lnTo>
                <a:lnTo>
                  <a:pt x="730883" y="1288563"/>
                </a:lnTo>
                <a:close/>
                <a:moveTo>
                  <a:pt x="8905996" y="1287977"/>
                </a:moveTo>
                <a:cubicBezTo>
                  <a:pt x="8912918" y="1292835"/>
                  <a:pt x="8919839" y="1297705"/>
                  <a:pt x="8926760" y="1302588"/>
                </a:cubicBezTo>
                <a:lnTo>
                  <a:pt x="8919457" y="1312964"/>
                </a:lnTo>
                <a:cubicBezTo>
                  <a:pt x="8912536" y="1308087"/>
                  <a:pt x="8905615" y="1303223"/>
                  <a:pt x="8898694" y="1298372"/>
                </a:cubicBezTo>
                <a:lnTo>
                  <a:pt x="8902345" y="1293175"/>
                </a:lnTo>
                <a:lnTo>
                  <a:pt x="8900535" y="1295775"/>
                </a:lnTo>
                <a:cubicBezTo>
                  <a:pt x="8907457" y="1300626"/>
                  <a:pt x="8914378" y="1305490"/>
                  <a:pt x="8921236" y="1310367"/>
                </a:cubicBezTo>
                <a:lnTo>
                  <a:pt x="8924919" y="1305185"/>
                </a:lnTo>
                <a:lnTo>
                  <a:pt x="8904166" y="1290582"/>
                </a:lnTo>
                <a:close/>
                <a:moveTo>
                  <a:pt x="729063" y="1285964"/>
                </a:moveTo>
                <a:lnTo>
                  <a:pt x="730883" y="1288563"/>
                </a:lnTo>
                <a:lnTo>
                  <a:pt x="710130" y="1303152"/>
                </a:lnTo>
                <a:lnTo>
                  <a:pt x="708298" y="1300556"/>
                </a:lnTo>
                <a:cubicBezTo>
                  <a:pt x="715213" y="1295680"/>
                  <a:pt x="722135" y="1290815"/>
                  <a:pt x="729063" y="1285964"/>
                </a:cubicBezTo>
                <a:close/>
                <a:moveTo>
                  <a:pt x="751697" y="1274049"/>
                </a:moveTo>
                <a:lnTo>
                  <a:pt x="755321" y="1279265"/>
                </a:lnTo>
                <a:lnTo>
                  <a:pt x="755320" y="1279265"/>
                </a:lnTo>
                <a:lnTo>
                  <a:pt x="751694" y="1274051"/>
                </a:lnTo>
                <a:close/>
                <a:moveTo>
                  <a:pt x="776157" y="1264841"/>
                </a:moveTo>
                <a:lnTo>
                  <a:pt x="777958" y="1267454"/>
                </a:lnTo>
                <a:cubicBezTo>
                  <a:pt x="771011" y="1272248"/>
                  <a:pt x="764064" y="1277055"/>
                  <a:pt x="757130" y="1281868"/>
                </a:cubicBezTo>
                <a:lnTo>
                  <a:pt x="755321" y="1279265"/>
                </a:lnTo>
                <a:close/>
                <a:moveTo>
                  <a:pt x="8862498" y="1261574"/>
                </a:moveTo>
                <a:lnTo>
                  <a:pt x="8858879" y="1266800"/>
                </a:lnTo>
                <a:cubicBezTo>
                  <a:pt x="8865800" y="1271607"/>
                  <a:pt x="8872785" y="1276420"/>
                  <a:pt x="8879706" y="1281252"/>
                </a:cubicBezTo>
                <a:lnTo>
                  <a:pt x="8883326" y="1276039"/>
                </a:lnTo>
                <a:cubicBezTo>
                  <a:pt x="8876405" y="1271207"/>
                  <a:pt x="8869419" y="1266387"/>
                  <a:pt x="8862498" y="1261574"/>
                </a:cubicBezTo>
                <a:close/>
                <a:moveTo>
                  <a:pt x="772574" y="1259641"/>
                </a:moveTo>
                <a:lnTo>
                  <a:pt x="776161" y="1264838"/>
                </a:lnTo>
                <a:lnTo>
                  <a:pt x="776157" y="1264841"/>
                </a:lnTo>
                <a:close/>
                <a:moveTo>
                  <a:pt x="8864276" y="1258964"/>
                </a:moveTo>
                <a:cubicBezTo>
                  <a:pt x="8871261" y="1263777"/>
                  <a:pt x="8878182" y="1268597"/>
                  <a:pt x="8885168" y="1273429"/>
                </a:cubicBezTo>
                <a:lnTo>
                  <a:pt x="8877929" y="1283856"/>
                </a:lnTo>
                <a:cubicBezTo>
                  <a:pt x="8870944" y="1279030"/>
                  <a:pt x="8864022" y="1274216"/>
                  <a:pt x="8857037" y="1269416"/>
                </a:cubicBezTo>
                <a:close/>
                <a:moveTo>
                  <a:pt x="770751" y="1256995"/>
                </a:moveTo>
                <a:lnTo>
                  <a:pt x="772574" y="1259641"/>
                </a:lnTo>
                <a:lnTo>
                  <a:pt x="772554" y="1259612"/>
                </a:lnTo>
                <a:lnTo>
                  <a:pt x="751697" y="1274049"/>
                </a:lnTo>
                <a:lnTo>
                  <a:pt x="749885" y="1271441"/>
                </a:lnTo>
                <a:cubicBezTo>
                  <a:pt x="756831" y="1266616"/>
                  <a:pt x="763785" y="1261802"/>
                  <a:pt x="770751" y="1256995"/>
                </a:cubicBezTo>
                <a:close/>
                <a:moveTo>
                  <a:pt x="8839878" y="1249651"/>
                </a:moveTo>
                <a:lnTo>
                  <a:pt x="8837987" y="1252436"/>
                </a:lnTo>
                <a:lnTo>
                  <a:pt x="8837964" y="1252421"/>
                </a:lnTo>
                <a:close/>
                <a:moveTo>
                  <a:pt x="793456" y="1245252"/>
                </a:moveTo>
                <a:lnTo>
                  <a:pt x="797044" y="1250491"/>
                </a:lnTo>
                <a:lnTo>
                  <a:pt x="797040" y="1250493"/>
                </a:lnTo>
                <a:lnTo>
                  <a:pt x="793452" y="1245254"/>
                </a:lnTo>
                <a:close/>
                <a:moveTo>
                  <a:pt x="8817034" y="1238138"/>
                </a:moveTo>
                <a:lnTo>
                  <a:pt x="8837964" y="1252421"/>
                </a:lnTo>
                <a:lnTo>
                  <a:pt x="8836146" y="1255052"/>
                </a:lnTo>
                <a:cubicBezTo>
                  <a:pt x="8829224" y="1250277"/>
                  <a:pt x="8822239" y="1245515"/>
                  <a:pt x="8815255" y="1240765"/>
                </a:cubicBezTo>
                <a:close/>
                <a:moveTo>
                  <a:pt x="8820588" y="1232884"/>
                </a:moveTo>
                <a:lnTo>
                  <a:pt x="8820590" y="1232886"/>
                </a:lnTo>
                <a:lnTo>
                  <a:pt x="8817034" y="1238138"/>
                </a:lnTo>
                <a:lnTo>
                  <a:pt x="8817032" y="1238136"/>
                </a:lnTo>
                <a:close/>
                <a:moveTo>
                  <a:pt x="8822367" y="1230262"/>
                </a:moveTo>
                <a:cubicBezTo>
                  <a:pt x="8829351" y="1235018"/>
                  <a:pt x="8836400" y="1239793"/>
                  <a:pt x="8843385" y="1244575"/>
                </a:cubicBezTo>
                <a:lnTo>
                  <a:pt x="8839878" y="1249651"/>
                </a:lnTo>
                <a:lnTo>
                  <a:pt x="8841544" y="1247197"/>
                </a:lnTo>
                <a:lnTo>
                  <a:pt x="8820590" y="1232886"/>
                </a:lnTo>
                <a:close/>
                <a:moveTo>
                  <a:pt x="812622" y="1228338"/>
                </a:moveTo>
                <a:lnTo>
                  <a:pt x="819760" y="1238841"/>
                </a:lnTo>
                <a:cubicBezTo>
                  <a:pt x="812775" y="1243590"/>
                  <a:pt x="805803" y="1248347"/>
                  <a:pt x="798837" y="1253109"/>
                </a:cubicBezTo>
                <a:lnTo>
                  <a:pt x="797044" y="1250491"/>
                </a:lnTo>
                <a:lnTo>
                  <a:pt x="817976" y="1236218"/>
                </a:lnTo>
                <a:lnTo>
                  <a:pt x="814407" y="1230967"/>
                </a:lnTo>
                <a:lnTo>
                  <a:pt x="793456" y="1245252"/>
                </a:lnTo>
                <a:lnTo>
                  <a:pt x="791661" y="1242632"/>
                </a:lnTo>
                <a:cubicBezTo>
                  <a:pt x="798640" y="1237856"/>
                  <a:pt x="805631" y="1233088"/>
                  <a:pt x="812622" y="1228338"/>
                </a:cubicBezTo>
                <a:close/>
                <a:moveTo>
                  <a:pt x="8799568" y="1218654"/>
                </a:moveTo>
                <a:lnTo>
                  <a:pt x="8799569" y="1218654"/>
                </a:lnTo>
                <a:lnTo>
                  <a:pt x="8796014" y="1223918"/>
                </a:lnTo>
                <a:lnTo>
                  <a:pt x="8796013" y="1223917"/>
                </a:lnTo>
                <a:close/>
                <a:moveTo>
                  <a:pt x="8776437" y="1207587"/>
                </a:moveTo>
                <a:lnTo>
                  <a:pt x="8774995" y="1209764"/>
                </a:lnTo>
                <a:lnTo>
                  <a:pt x="8796013" y="1223917"/>
                </a:lnTo>
                <a:lnTo>
                  <a:pt x="8794236" y="1226547"/>
                </a:lnTo>
                <a:cubicBezTo>
                  <a:pt x="8787251" y="1221823"/>
                  <a:pt x="8780202" y="1217105"/>
                  <a:pt x="8773218" y="1212406"/>
                </a:cubicBezTo>
                <a:close/>
                <a:moveTo>
                  <a:pt x="8778488" y="1204487"/>
                </a:moveTo>
                <a:lnTo>
                  <a:pt x="8778501" y="1204496"/>
                </a:lnTo>
                <a:lnTo>
                  <a:pt x="8776437" y="1207587"/>
                </a:lnTo>
                <a:close/>
                <a:moveTo>
                  <a:pt x="856476" y="1202607"/>
                </a:moveTo>
                <a:lnTo>
                  <a:pt x="860006" y="1207884"/>
                </a:lnTo>
                <a:lnTo>
                  <a:pt x="860005" y="1207885"/>
                </a:lnTo>
                <a:lnTo>
                  <a:pt x="856474" y="1202609"/>
                </a:lnTo>
                <a:close/>
                <a:moveTo>
                  <a:pt x="8780266" y="1201852"/>
                </a:moveTo>
                <a:cubicBezTo>
                  <a:pt x="8787314" y="1206564"/>
                  <a:pt x="8794363" y="1211282"/>
                  <a:pt x="8801348" y="1216019"/>
                </a:cubicBezTo>
                <a:lnTo>
                  <a:pt x="8799568" y="1218654"/>
                </a:lnTo>
                <a:lnTo>
                  <a:pt x="8778501" y="1204496"/>
                </a:lnTo>
                <a:close/>
                <a:moveTo>
                  <a:pt x="854710" y="1199972"/>
                </a:moveTo>
                <a:lnTo>
                  <a:pt x="856474" y="1202609"/>
                </a:lnTo>
                <a:lnTo>
                  <a:pt x="835419" y="1216749"/>
                </a:lnTo>
                <a:lnTo>
                  <a:pt x="838969" y="1222013"/>
                </a:lnTo>
                <a:lnTo>
                  <a:pt x="860005" y="1207885"/>
                </a:lnTo>
                <a:lnTo>
                  <a:pt x="861772" y="1210526"/>
                </a:lnTo>
                <a:cubicBezTo>
                  <a:pt x="854755" y="1215219"/>
                  <a:pt x="847744" y="1219930"/>
                  <a:pt x="840741" y="1224648"/>
                </a:cubicBezTo>
                <a:lnTo>
                  <a:pt x="833641" y="1214120"/>
                </a:lnTo>
                <a:cubicBezTo>
                  <a:pt x="840658" y="1209389"/>
                  <a:pt x="847681" y="1204671"/>
                  <a:pt x="854710" y="1199972"/>
                </a:cubicBezTo>
                <a:close/>
                <a:moveTo>
                  <a:pt x="8757385" y="1190383"/>
                </a:moveTo>
                <a:lnTo>
                  <a:pt x="8757406" y="1190396"/>
                </a:lnTo>
                <a:lnTo>
                  <a:pt x="8755732" y="1192887"/>
                </a:lnTo>
                <a:close/>
                <a:moveTo>
                  <a:pt x="8732726" y="1181698"/>
                </a:moveTo>
                <a:lnTo>
                  <a:pt x="8753850" y="1195686"/>
                </a:lnTo>
                <a:lnTo>
                  <a:pt x="8755732" y="1192887"/>
                </a:lnTo>
                <a:lnTo>
                  <a:pt x="8752135" y="1198334"/>
                </a:lnTo>
                <a:cubicBezTo>
                  <a:pt x="8745087" y="1193654"/>
                  <a:pt x="8738038" y="1188987"/>
                  <a:pt x="8730990" y="1184332"/>
                </a:cubicBezTo>
                <a:close/>
                <a:moveTo>
                  <a:pt x="8736197" y="1176382"/>
                </a:moveTo>
                <a:lnTo>
                  <a:pt x="8736220" y="1176398"/>
                </a:lnTo>
                <a:lnTo>
                  <a:pt x="8732726" y="1181698"/>
                </a:lnTo>
                <a:lnTo>
                  <a:pt x="8732705" y="1181684"/>
                </a:lnTo>
                <a:close/>
                <a:moveTo>
                  <a:pt x="898760" y="1174547"/>
                </a:moveTo>
                <a:cubicBezTo>
                  <a:pt x="891693" y="1179195"/>
                  <a:pt x="884638" y="1183862"/>
                  <a:pt x="877597" y="1188542"/>
                </a:cubicBezTo>
                <a:lnTo>
                  <a:pt x="881107" y="1193832"/>
                </a:lnTo>
                <a:cubicBezTo>
                  <a:pt x="888143" y="1189158"/>
                  <a:pt x="895192" y="1184497"/>
                  <a:pt x="902253" y="1179849"/>
                </a:cubicBezTo>
                <a:close/>
                <a:moveTo>
                  <a:pt x="8737975" y="1173734"/>
                </a:moveTo>
                <a:cubicBezTo>
                  <a:pt x="8745023" y="1178395"/>
                  <a:pt x="8752072" y="1183069"/>
                  <a:pt x="8759120" y="1187755"/>
                </a:cubicBezTo>
                <a:lnTo>
                  <a:pt x="8757385" y="1190383"/>
                </a:lnTo>
                <a:lnTo>
                  <a:pt x="8736220" y="1176398"/>
                </a:lnTo>
                <a:close/>
                <a:moveTo>
                  <a:pt x="897014" y="1171892"/>
                </a:moveTo>
                <a:lnTo>
                  <a:pt x="903999" y="1182497"/>
                </a:lnTo>
                <a:cubicBezTo>
                  <a:pt x="896945" y="1187145"/>
                  <a:pt x="889896" y="1191806"/>
                  <a:pt x="882860" y="1196473"/>
                </a:cubicBezTo>
                <a:lnTo>
                  <a:pt x="875837" y="1185894"/>
                </a:lnTo>
                <a:cubicBezTo>
                  <a:pt x="882885" y="1181214"/>
                  <a:pt x="889946" y="1176547"/>
                  <a:pt x="897014" y="1171892"/>
                </a:cubicBezTo>
                <a:close/>
                <a:moveTo>
                  <a:pt x="8714978" y="1162444"/>
                </a:moveTo>
                <a:lnTo>
                  <a:pt x="8714988" y="1162450"/>
                </a:lnTo>
                <a:lnTo>
                  <a:pt x="8713489" y="1164731"/>
                </a:lnTo>
                <a:close/>
                <a:moveTo>
                  <a:pt x="8690658" y="1153344"/>
                </a:moveTo>
                <a:lnTo>
                  <a:pt x="8690286" y="1153922"/>
                </a:lnTo>
                <a:cubicBezTo>
                  <a:pt x="8697335" y="1158526"/>
                  <a:pt x="8704447" y="1163136"/>
                  <a:pt x="8711495" y="1167765"/>
                </a:cubicBezTo>
                <a:lnTo>
                  <a:pt x="8713489" y="1164731"/>
                </a:lnTo>
                <a:lnTo>
                  <a:pt x="8709781" y="1170426"/>
                </a:lnTo>
                <a:cubicBezTo>
                  <a:pt x="8702732" y="1165797"/>
                  <a:pt x="8695620" y="1161187"/>
                  <a:pt x="8688572" y="1156583"/>
                </a:cubicBezTo>
                <a:close/>
                <a:moveTo>
                  <a:pt x="8693715" y="1148594"/>
                </a:moveTo>
                <a:lnTo>
                  <a:pt x="8693716" y="1148595"/>
                </a:lnTo>
                <a:lnTo>
                  <a:pt x="8690658" y="1153344"/>
                </a:lnTo>
                <a:close/>
                <a:moveTo>
                  <a:pt x="941210" y="1146797"/>
                </a:moveTo>
                <a:lnTo>
                  <a:pt x="944671" y="1152125"/>
                </a:lnTo>
                <a:lnTo>
                  <a:pt x="944669" y="1152127"/>
                </a:lnTo>
                <a:lnTo>
                  <a:pt x="941210" y="1146798"/>
                </a:lnTo>
                <a:close/>
                <a:moveTo>
                  <a:pt x="8695430" y="1145934"/>
                </a:moveTo>
                <a:cubicBezTo>
                  <a:pt x="8702542" y="1150538"/>
                  <a:pt x="8709654" y="1155160"/>
                  <a:pt x="8716702" y="1159796"/>
                </a:cubicBezTo>
                <a:lnTo>
                  <a:pt x="8714978" y="1162444"/>
                </a:lnTo>
                <a:lnTo>
                  <a:pt x="8693716" y="1148595"/>
                </a:lnTo>
                <a:close/>
                <a:moveTo>
                  <a:pt x="939483" y="1144137"/>
                </a:moveTo>
                <a:lnTo>
                  <a:pt x="941210" y="1146798"/>
                </a:lnTo>
                <a:lnTo>
                  <a:pt x="919964" y="1160634"/>
                </a:lnTo>
                <a:lnTo>
                  <a:pt x="923436" y="1165949"/>
                </a:lnTo>
                <a:lnTo>
                  <a:pt x="944669" y="1152127"/>
                </a:lnTo>
                <a:lnTo>
                  <a:pt x="946398" y="1154792"/>
                </a:lnTo>
                <a:cubicBezTo>
                  <a:pt x="939312" y="1159383"/>
                  <a:pt x="932237" y="1163993"/>
                  <a:pt x="925171" y="1168610"/>
                </a:cubicBezTo>
                <a:lnTo>
                  <a:pt x="918223" y="1157980"/>
                </a:lnTo>
                <a:cubicBezTo>
                  <a:pt x="925303" y="1153351"/>
                  <a:pt x="932390" y="1148740"/>
                  <a:pt x="939483" y="1144137"/>
                </a:cubicBezTo>
                <a:close/>
                <a:moveTo>
                  <a:pt x="8672432" y="1134802"/>
                </a:moveTo>
                <a:lnTo>
                  <a:pt x="8672443" y="1134809"/>
                </a:lnTo>
                <a:lnTo>
                  <a:pt x="8670697" y="1137479"/>
                </a:lnTo>
                <a:close/>
                <a:moveTo>
                  <a:pt x="983876" y="1119346"/>
                </a:moveTo>
                <a:lnTo>
                  <a:pt x="987292" y="1124699"/>
                </a:lnTo>
                <a:lnTo>
                  <a:pt x="987291" y="1124701"/>
                </a:lnTo>
                <a:lnTo>
                  <a:pt x="983874" y="1119348"/>
                </a:lnTo>
                <a:close/>
                <a:moveTo>
                  <a:pt x="8652757" y="1118426"/>
                </a:moveTo>
                <a:cubicBezTo>
                  <a:pt x="8659869" y="1122985"/>
                  <a:pt x="8667045" y="1127557"/>
                  <a:pt x="8674157" y="1132142"/>
                </a:cubicBezTo>
                <a:lnTo>
                  <a:pt x="8672432" y="1134802"/>
                </a:lnTo>
                <a:lnTo>
                  <a:pt x="8651044" y="1121099"/>
                </a:lnTo>
                <a:lnTo>
                  <a:pt x="8647614" y="1126452"/>
                </a:lnTo>
                <a:cubicBezTo>
                  <a:pt x="8654726" y="1131005"/>
                  <a:pt x="8661838" y="1135570"/>
                  <a:pt x="8668950" y="1140149"/>
                </a:cubicBezTo>
                <a:lnTo>
                  <a:pt x="8670697" y="1137479"/>
                </a:lnTo>
                <a:lnTo>
                  <a:pt x="8667236" y="1142816"/>
                </a:lnTo>
                <a:cubicBezTo>
                  <a:pt x="8660124" y="1138244"/>
                  <a:pt x="8653012" y="1133678"/>
                  <a:pt x="8645900" y="1129125"/>
                </a:cubicBezTo>
                <a:close/>
                <a:moveTo>
                  <a:pt x="982167" y="1116673"/>
                </a:moveTo>
                <a:lnTo>
                  <a:pt x="983874" y="1119348"/>
                </a:lnTo>
                <a:lnTo>
                  <a:pt x="962521" y="1133037"/>
                </a:lnTo>
                <a:lnTo>
                  <a:pt x="965957" y="1138377"/>
                </a:lnTo>
                <a:lnTo>
                  <a:pt x="987291" y="1124701"/>
                </a:lnTo>
                <a:lnTo>
                  <a:pt x="989000" y="1127379"/>
                </a:lnTo>
                <a:cubicBezTo>
                  <a:pt x="981882" y="1131919"/>
                  <a:pt x="974770" y="1136479"/>
                  <a:pt x="967671" y="1141044"/>
                </a:cubicBezTo>
                <a:lnTo>
                  <a:pt x="960801" y="1130370"/>
                </a:lnTo>
                <a:cubicBezTo>
                  <a:pt x="967912" y="1125792"/>
                  <a:pt x="975036" y="1121226"/>
                  <a:pt x="982167" y="1116673"/>
                </a:cubicBezTo>
                <a:close/>
                <a:moveTo>
                  <a:pt x="8629610" y="1107444"/>
                </a:moveTo>
                <a:lnTo>
                  <a:pt x="8629644" y="1107465"/>
                </a:lnTo>
                <a:lnTo>
                  <a:pt x="8626215" y="1112831"/>
                </a:lnTo>
                <a:lnTo>
                  <a:pt x="8626203" y="1112823"/>
                </a:lnTo>
                <a:close/>
                <a:moveTo>
                  <a:pt x="1005283" y="1105731"/>
                </a:moveTo>
                <a:lnTo>
                  <a:pt x="1008682" y="1111097"/>
                </a:lnTo>
                <a:lnTo>
                  <a:pt x="1008679" y="1111098"/>
                </a:lnTo>
                <a:lnTo>
                  <a:pt x="1005281" y="1105732"/>
                </a:lnTo>
                <a:close/>
                <a:moveTo>
                  <a:pt x="8604774" y="1099294"/>
                </a:moveTo>
                <a:lnTo>
                  <a:pt x="8626203" y="1112823"/>
                </a:lnTo>
                <a:lnTo>
                  <a:pt x="8624500" y="1115511"/>
                </a:lnTo>
                <a:cubicBezTo>
                  <a:pt x="8617388" y="1110983"/>
                  <a:pt x="8610213" y="1106469"/>
                  <a:pt x="8603101" y="1101966"/>
                </a:cubicBezTo>
                <a:close/>
                <a:moveTo>
                  <a:pt x="1030122" y="1097567"/>
                </a:moveTo>
                <a:lnTo>
                  <a:pt x="1031812" y="1100258"/>
                </a:lnTo>
                <a:cubicBezTo>
                  <a:pt x="1024663" y="1104754"/>
                  <a:pt x="1017518" y="1109263"/>
                  <a:pt x="1010380" y="1113777"/>
                </a:cubicBezTo>
                <a:lnTo>
                  <a:pt x="1008682" y="1111097"/>
                </a:lnTo>
                <a:close/>
                <a:moveTo>
                  <a:pt x="8606435" y="1096641"/>
                </a:moveTo>
                <a:lnTo>
                  <a:pt x="8604774" y="1099294"/>
                </a:lnTo>
                <a:lnTo>
                  <a:pt x="8604752" y="1099280"/>
                </a:lnTo>
                <a:close/>
                <a:moveTo>
                  <a:pt x="1028652" y="1095227"/>
                </a:moveTo>
                <a:lnTo>
                  <a:pt x="1030123" y="1097566"/>
                </a:lnTo>
                <a:lnTo>
                  <a:pt x="1030122" y="1097567"/>
                </a:lnTo>
                <a:close/>
                <a:moveTo>
                  <a:pt x="8609831" y="1091216"/>
                </a:moveTo>
                <a:cubicBezTo>
                  <a:pt x="8617007" y="1095724"/>
                  <a:pt x="8624182" y="1100252"/>
                  <a:pt x="8631294" y="1104786"/>
                </a:cubicBezTo>
                <a:lnTo>
                  <a:pt x="8629610" y="1107444"/>
                </a:lnTo>
                <a:lnTo>
                  <a:pt x="8608181" y="1093902"/>
                </a:lnTo>
                <a:lnTo>
                  <a:pt x="8606435" y="1096641"/>
                </a:lnTo>
                <a:close/>
                <a:moveTo>
                  <a:pt x="1025055" y="1089501"/>
                </a:moveTo>
                <a:lnTo>
                  <a:pt x="1028652" y="1095227"/>
                </a:lnTo>
                <a:lnTo>
                  <a:pt x="1026745" y="1092194"/>
                </a:lnTo>
                <a:lnTo>
                  <a:pt x="1005283" y="1105731"/>
                </a:lnTo>
                <a:lnTo>
                  <a:pt x="1003586" y="1103052"/>
                </a:lnTo>
                <a:cubicBezTo>
                  <a:pt x="1010730" y="1098525"/>
                  <a:pt x="1017886" y="1094010"/>
                  <a:pt x="1025055" y="1089501"/>
                </a:cubicBezTo>
                <a:close/>
                <a:moveTo>
                  <a:pt x="8586632" y="1080413"/>
                </a:moveTo>
                <a:lnTo>
                  <a:pt x="8586655" y="1080427"/>
                </a:lnTo>
                <a:lnTo>
                  <a:pt x="8583289" y="1085812"/>
                </a:lnTo>
                <a:lnTo>
                  <a:pt x="8583266" y="1085798"/>
                </a:lnTo>
                <a:close/>
                <a:moveTo>
                  <a:pt x="1048242" y="1078731"/>
                </a:moveTo>
                <a:lnTo>
                  <a:pt x="1051602" y="1084121"/>
                </a:lnTo>
                <a:lnTo>
                  <a:pt x="1051598" y="1084123"/>
                </a:lnTo>
                <a:lnTo>
                  <a:pt x="1048240" y="1078732"/>
                </a:lnTo>
                <a:close/>
                <a:moveTo>
                  <a:pt x="8563391" y="1069764"/>
                </a:moveTo>
                <a:lnTo>
                  <a:pt x="8561762" y="1072426"/>
                </a:lnTo>
                <a:lnTo>
                  <a:pt x="8583266" y="1085798"/>
                </a:lnTo>
                <a:lnTo>
                  <a:pt x="8581574" y="1088504"/>
                </a:lnTo>
                <a:cubicBezTo>
                  <a:pt x="8574462" y="1084034"/>
                  <a:pt x="8567287" y="1079576"/>
                  <a:pt x="8560048" y="1075125"/>
                </a:cubicBezTo>
                <a:close/>
                <a:moveTo>
                  <a:pt x="8565064" y="1067029"/>
                </a:moveTo>
                <a:lnTo>
                  <a:pt x="8565087" y="1067044"/>
                </a:lnTo>
                <a:lnTo>
                  <a:pt x="8563391" y="1069764"/>
                </a:lnTo>
                <a:close/>
                <a:moveTo>
                  <a:pt x="8566779" y="1064330"/>
                </a:moveTo>
                <a:cubicBezTo>
                  <a:pt x="8573955" y="1068781"/>
                  <a:pt x="8581130" y="1073252"/>
                  <a:pt x="8588306" y="1077735"/>
                </a:cubicBezTo>
                <a:lnTo>
                  <a:pt x="8586632" y="1080413"/>
                </a:lnTo>
                <a:lnTo>
                  <a:pt x="8565087" y="1067044"/>
                </a:lnTo>
                <a:close/>
                <a:moveTo>
                  <a:pt x="1068115" y="1062653"/>
                </a:moveTo>
                <a:lnTo>
                  <a:pt x="1074795" y="1073455"/>
                </a:lnTo>
                <a:cubicBezTo>
                  <a:pt x="1067613" y="1077900"/>
                  <a:pt x="1060444" y="1082351"/>
                  <a:pt x="1053281" y="1086815"/>
                </a:cubicBezTo>
                <a:lnTo>
                  <a:pt x="1051602" y="1084121"/>
                </a:lnTo>
                <a:lnTo>
                  <a:pt x="1073125" y="1070756"/>
                </a:lnTo>
                <a:lnTo>
                  <a:pt x="1069785" y="1065359"/>
                </a:lnTo>
                <a:lnTo>
                  <a:pt x="1048242" y="1078731"/>
                </a:lnTo>
                <a:lnTo>
                  <a:pt x="1046564" y="1076039"/>
                </a:lnTo>
                <a:cubicBezTo>
                  <a:pt x="1053739" y="1071569"/>
                  <a:pt x="1060920" y="1067105"/>
                  <a:pt x="1068115" y="1062653"/>
                </a:cubicBezTo>
                <a:close/>
                <a:moveTo>
                  <a:pt x="8543472" y="1053705"/>
                </a:moveTo>
                <a:lnTo>
                  <a:pt x="8543474" y="1053706"/>
                </a:lnTo>
                <a:lnTo>
                  <a:pt x="8540172" y="1059117"/>
                </a:lnTo>
                <a:lnTo>
                  <a:pt x="8540171" y="1059117"/>
                </a:lnTo>
                <a:close/>
                <a:moveTo>
                  <a:pt x="1091376" y="1052055"/>
                </a:moveTo>
                <a:lnTo>
                  <a:pt x="1094699" y="1057465"/>
                </a:lnTo>
                <a:lnTo>
                  <a:pt x="1094696" y="1057466"/>
                </a:lnTo>
                <a:lnTo>
                  <a:pt x="1091376" y="1052055"/>
                </a:lnTo>
                <a:close/>
                <a:moveTo>
                  <a:pt x="1116318" y="1044245"/>
                </a:moveTo>
                <a:lnTo>
                  <a:pt x="1117968" y="1046956"/>
                </a:lnTo>
                <a:cubicBezTo>
                  <a:pt x="1110755" y="1051350"/>
                  <a:pt x="1103555" y="1055751"/>
                  <a:pt x="1096360" y="1060171"/>
                </a:cubicBezTo>
                <a:lnTo>
                  <a:pt x="1094699" y="1057465"/>
                </a:lnTo>
                <a:close/>
                <a:moveTo>
                  <a:pt x="8520170" y="1043166"/>
                </a:moveTo>
                <a:lnTo>
                  <a:pt x="8518519" y="1045877"/>
                </a:lnTo>
                <a:lnTo>
                  <a:pt x="8540171" y="1059117"/>
                </a:lnTo>
                <a:lnTo>
                  <a:pt x="8538521" y="1061822"/>
                </a:lnTo>
                <a:cubicBezTo>
                  <a:pt x="8531282" y="1057396"/>
                  <a:pt x="8524106" y="1052982"/>
                  <a:pt x="8516868" y="1048588"/>
                </a:cubicBezTo>
                <a:close/>
                <a:moveTo>
                  <a:pt x="8521821" y="1040454"/>
                </a:moveTo>
                <a:lnTo>
                  <a:pt x="8521821" y="1040454"/>
                </a:lnTo>
                <a:lnTo>
                  <a:pt x="8520170" y="1043166"/>
                </a:lnTo>
                <a:close/>
                <a:moveTo>
                  <a:pt x="1113017" y="1038822"/>
                </a:moveTo>
                <a:lnTo>
                  <a:pt x="1116318" y="1044245"/>
                </a:lnTo>
                <a:lnTo>
                  <a:pt x="1116318" y="1044245"/>
                </a:lnTo>
                <a:lnTo>
                  <a:pt x="1113016" y="1038822"/>
                </a:lnTo>
                <a:close/>
                <a:moveTo>
                  <a:pt x="8523472" y="1037743"/>
                </a:moveTo>
                <a:cubicBezTo>
                  <a:pt x="8530711" y="1042149"/>
                  <a:pt x="8537950" y="1046569"/>
                  <a:pt x="8545125" y="1050995"/>
                </a:cubicBezTo>
                <a:lnTo>
                  <a:pt x="8543472" y="1053705"/>
                </a:lnTo>
                <a:lnTo>
                  <a:pt x="8521821" y="1040454"/>
                </a:lnTo>
                <a:close/>
                <a:moveTo>
                  <a:pt x="1111365" y="1036110"/>
                </a:moveTo>
                <a:lnTo>
                  <a:pt x="1113016" y="1038822"/>
                </a:lnTo>
                <a:lnTo>
                  <a:pt x="1091376" y="1052055"/>
                </a:lnTo>
                <a:lnTo>
                  <a:pt x="1089712" y="1049344"/>
                </a:lnTo>
                <a:cubicBezTo>
                  <a:pt x="1096926" y="1044924"/>
                  <a:pt x="1104138" y="1040511"/>
                  <a:pt x="1111365" y="1036110"/>
                </a:cubicBezTo>
                <a:close/>
                <a:moveTo>
                  <a:pt x="8498485" y="1029996"/>
                </a:moveTo>
                <a:lnTo>
                  <a:pt x="8496865" y="1032713"/>
                </a:lnTo>
                <a:lnTo>
                  <a:pt x="8496854" y="1032706"/>
                </a:lnTo>
                <a:close/>
                <a:moveTo>
                  <a:pt x="8475120" y="1019647"/>
                </a:moveTo>
                <a:lnTo>
                  <a:pt x="8496854" y="1032706"/>
                </a:lnTo>
                <a:lnTo>
                  <a:pt x="8495214" y="1035431"/>
                </a:lnTo>
                <a:cubicBezTo>
                  <a:pt x="8487975" y="1031056"/>
                  <a:pt x="8480736" y="1026693"/>
                  <a:pt x="8473497" y="1022350"/>
                </a:cubicBezTo>
                <a:close/>
                <a:moveTo>
                  <a:pt x="8478387" y="1014178"/>
                </a:moveTo>
                <a:lnTo>
                  <a:pt x="8478398" y="1014185"/>
                </a:lnTo>
                <a:lnTo>
                  <a:pt x="8475120" y="1019647"/>
                </a:lnTo>
                <a:lnTo>
                  <a:pt x="8475085" y="1019626"/>
                </a:lnTo>
                <a:close/>
                <a:moveTo>
                  <a:pt x="1156456" y="1012590"/>
                </a:moveTo>
                <a:lnTo>
                  <a:pt x="1159720" y="1018038"/>
                </a:lnTo>
                <a:lnTo>
                  <a:pt x="1159720" y="1018038"/>
                </a:lnTo>
                <a:lnTo>
                  <a:pt x="1156456" y="1012590"/>
                </a:lnTo>
                <a:close/>
                <a:moveTo>
                  <a:pt x="8480038" y="1011453"/>
                </a:moveTo>
                <a:cubicBezTo>
                  <a:pt x="8487277" y="1015810"/>
                  <a:pt x="8494516" y="1020178"/>
                  <a:pt x="8501755" y="1024560"/>
                </a:cubicBezTo>
                <a:lnTo>
                  <a:pt x="8498485" y="1029996"/>
                </a:lnTo>
                <a:lnTo>
                  <a:pt x="8500104" y="1027278"/>
                </a:lnTo>
                <a:lnTo>
                  <a:pt x="8478398" y="1014185"/>
                </a:lnTo>
                <a:close/>
                <a:moveTo>
                  <a:pt x="1154824" y="1009866"/>
                </a:moveTo>
                <a:lnTo>
                  <a:pt x="1156456" y="1012590"/>
                </a:lnTo>
                <a:lnTo>
                  <a:pt x="1134715" y="1025671"/>
                </a:lnTo>
                <a:lnTo>
                  <a:pt x="1137997" y="1031107"/>
                </a:lnTo>
                <a:lnTo>
                  <a:pt x="1159720" y="1018038"/>
                </a:lnTo>
                <a:lnTo>
                  <a:pt x="1161352" y="1020763"/>
                </a:lnTo>
                <a:cubicBezTo>
                  <a:pt x="1154100" y="1025100"/>
                  <a:pt x="1146868" y="1029456"/>
                  <a:pt x="1139636" y="1033825"/>
                </a:cubicBezTo>
                <a:lnTo>
                  <a:pt x="1133069" y="1022953"/>
                </a:lnTo>
                <a:cubicBezTo>
                  <a:pt x="1140314" y="1018578"/>
                  <a:pt x="1147566" y="1014216"/>
                  <a:pt x="1154824" y="1009866"/>
                </a:cubicBezTo>
                <a:close/>
                <a:moveTo>
                  <a:pt x="8456583" y="1001146"/>
                </a:moveTo>
                <a:lnTo>
                  <a:pt x="8456607" y="1001160"/>
                </a:lnTo>
                <a:lnTo>
                  <a:pt x="8454927" y="1003936"/>
                </a:lnTo>
                <a:close/>
                <a:moveTo>
                  <a:pt x="1201674" y="989410"/>
                </a:moveTo>
                <a:lnTo>
                  <a:pt x="1203287" y="992143"/>
                </a:lnTo>
                <a:lnTo>
                  <a:pt x="1203287" y="992144"/>
                </a:lnTo>
                <a:close/>
                <a:moveTo>
                  <a:pt x="8436350" y="985488"/>
                </a:moveTo>
                <a:cubicBezTo>
                  <a:pt x="8443652" y="989793"/>
                  <a:pt x="8450955" y="994105"/>
                  <a:pt x="8458194" y="998430"/>
                </a:cubicBezTo>
                <a:lnTo>
                  <a:pt x="8456583" y="1001146"/>
                </a:lnTo>
                <a:lnTo>
                  <a:pt x="8434762" y="988225"/>
                </a:lnTo>
                <a:lnTo>
                  <a:pt x="8431524" y="993692"/>
                </a:lnTo>
                <a:cubicBezTo>
                  <a:pt x="8438826" y="997991"/>
                  <a:pt x="8446065" y="1002297"/>
                  <a:pt x="8453305" y="1006615"/>
                </a:cubicBezTo>
                <a:lnTo>
                  <a:pt x="8454927" y="1003936"/>
                </a:lnTo>
                <a:lnTo>
                  <a:pt x="8451717" y="1009345"/>
                </a:lnTo>
                <a:cubicBezTo>
                  <a:pt x="8444478" y="1005027"/>
                  <a:pt x="8437175" y="1000722"/>
                  <a:pt x="8429873" y="996429"/>
                </a:cubicBezTo>
                <a:close/>
                <a:moveTo>
                  <a:pt x="1198448" y="983939"/>
                </a:moveTo>
                <a:lnTo>
                  <a:pt x="1201674" y="989410"/>
                </a:lnTo>
                <a:lnTo>
                  <a:pt x="1200061" y="986676"/>
                </a:lnTo>
                <a:cubicBezTo>
                  <a:pt x="1192778" y="990968"/>
                  <a:pt x="1185507" y="995274"/>
                  <a:pt x="1178243" y="999585"/>
                </a:cubicBezTo>
                <a:lnTo>
                  <a:pt x="1181488" y="1005046"/>
                </a:lnTo>
                <a:lnTo>
                  <a:pt x="1203287" y="992144"/>
                </a:lnTo>
                <a:lnTo>
                  <a:pt x="1204900" y="994880"/>
                </a:lnTo>
                <a:cubicBezTo>
                  <a:pt x="1197629" y="999166"/>
                  <a:pt x="1190365" y="1003465"/>
                  <a:pt x="1183107" y="1007777"/>
                </a:cubicBezTo>
                <a:lnTo>
                  <a:pt x="1176617" y="996861"/>
                </a:lnTo>
                <a:cubicBezTo>
                  <a:pt x="1183888" y="992537"/>
                  <a:pt x="1191165" y="988232"/>
                  <a:pt x="1198448" y="983939"/>
                </a:cubicBezTo>
                <a:close/>
                <a:moveTo>
                  <a:pt x="8412843" y="975359"/>
                </a:moveTo>
                <a:lnTo>
                  <a:pt x="8412855" y="975366"/>
                </a:lnTo>
                <a:lnTo>
                  <a:pt x="8409680" y="980846"/>
                </a:lnTo>
                <a:lnTo>
                  <a:pt x="8409646" y="980826"/>
                </a:lnTo>
                <a:close/>
                <a:moveTo>
                  <a:pt x="1221933" y="973835"/>
                </a:moveTo>
                <a:lnTo>
                  <a:pt x="1223496" y="976509"/>
                </a:lnTo>
                <a:lnTo>
                  <a:pt x="1221931" y="973836"/>
                </a:lnTo>
                <a:close/>
                <a:moveTo>
                  <a:pt x="8392535" y="959834"/>
                </a:moveTo>
                <a:cubicBezTo>
                  <a:pt x="8399837" y="964089"/>
                  <a:pt x="8407140" y="968350"/>
                  <a:pt x="8414443" y="972623"/>
                </a:cubicBezTo>
                <a:lnTo>
                  <a:pt x="8412843" y="975359"/>
                </a:lnTo>
                <a:lnTo>
                  <a:pt x="8390947" y="962584"/>
                </a:lnTo>
                <a:lnTo>
                  <a:pt x="8387772" y="968077"/>
                </a:lnTo>
                <a:lnTo>
                  <a:pt x="8409646" y="980826"/>
                </a:lnTo>
                <a:lnTo>
                  <a:pt x="8408029" y="983590"/>
                </a:lnTo>
                <a:cubicBezTo>
                  <a:pt x="8400790" y="979316"/>
                  <a:pt x="8393487" y="975062"/>
                  <a:pt x="8386121" y="970820"/>
                </a:cubicBezTo>
                <a:close/>
                <a:moveTo>
                  <a:pt x="1242257" y="958323"/>
                </a:moveTo>
                <a:lnTo>
                  <a:pt x="1248626" y="969309"/>
                </a:lnTo>
                <a:cubicBezTo>
                  <a:pt x="1241324" y="973550"/>
                  <a:pt x="1234027" y="977798"/>
                  <a:pt x="1226738" y="982059"/>
                </a:cubicBezTo>
                <a:lnTo>
                  <a:pt x="1223496" y="976509"/>
                </a:lnTo>
                <a:lnTo>
                  <a:pt x="1225139" y="979316"/>
                </a:lnTo>
                <a:cubicBezTo>
                  <a:pt x="1232427" y="975055"/>
                  <a:pt x="1239730" y="970801"/>
                  <a:pt x="1247032" y="966565"/>
                </a:cubicBezTo>
                <a:lnTo>
                  <a:pt x="1243852" y="961073"/>
                </a:lnTo>
                <a:lnTo>
                  <a:pt x="1221933" y="973835"/>
                </a:lnTo>
                <a:lnTo>
                  <a:pt x="1220332" y="971093"/>
                </a:lnTo>
                <a:cubicBezTo>
                  <a:pt x="1227627" y="966826"/>
                  <a:pt x="1234936" y="962571"/>
                  <a:pt x="1242257" y="958323"/>
                </a:cubicBezTo>
                <a:close/>
                <a:moveTo>
                  <a:pt x="8368975" y="949878"/>
                </a:moveTo>
                <a:lnTo>
                  <a:pt x="8368976" y="949878"/>
                </a:lnTo>
                <a:lnTo>
                  <a:pt x="8367540" y="952365"/>
                </a:lnTo>
                <a:close/>
                <a:moveTo>
                  <a:pt x="1265819" y="948384"/>
                </a:moveTo>
                <a:lnTo>
                  <a:pt x="1268985" y="953891"/>
                </a:lnTo>
                <a:lnTo>
                  <a:pt x="1268984" y="953891"/>
                </a:lnTo>
                <a:lnTo>
                  <a:pt x="1265816" y="948385"/>
                </a:lnTo>
                <a:close/>
                <a:moveTo>
                  <a:pt x="8348466" y="934485"/>
                </a:moveTo>
                <a:cubicBezTo>
                  <a:pt x="8355831" y="938689"/>
                  <a:pt x="8363198" y="942899"/>
                  <a:pt x="8370564" y="947122"/>
                </a:cubicBezTo>
                <a:lnTo>
                  <a:pt x="8368975" y="949878"/>
                </a:lnTo>
                <a:lnTo>
                  <a:pt x="8346942" y="937247"/>
                </a:lnTo>
                <a:lnTo>
                  <a:pt x="8343767" y="942759"/>
                </a:lnTo>
                <a:cubicBezTo>
                  <a:pt x="8351132" y="946950"/>
                  <a:pt x="8358435" y="951160"/>
                  <a:pt x="8365801" y="955377"/>
                </a:cubicBezTo>
                <a:lnTo>
                  <a:pt x="8367540" y="952365"/>
                </a:lnTo>
                <a:lnTo>
                  <a:pt x="8364214" y="958132"/>
                </a:lnTo>
                <a:cubicBezTo>
                  <a:pt x="8356848" y="953916"/>
                  <a:pt x="8349545" y="949706"/>
                  <a:pt x="8342180" y="945515"/>
                </a:cubicBezTo>
                <a:close/>
                <a:moveTo>
                  <a:pt x="1286263" y="933012"/>
                </a:moveTo>
                <a:lnTo>
                  <a:pt x="1292556" y="944048"/>
                </a:lnTo>
                <a:cubicBezTo>
                  <a:pt x="1285215" y="948233"/>
                  <a:pt x="1277887" y="952430"/>
                  <a:pt x="1270566" y="956640"/>
                </a:cubicBezTo>
                <a:lnTo>
                  <a:pt x="1268985" y="953891"/>
                </a:lnTo>
                <a:lnTo>
                  <a:pt x="1290981" y="941286"/>
                </a:lnTo>
                <a:lnTo>
                  <a:pt x="1287837" y="935774"/>
                </a:lnTo>
                <a:lnTo>
                  <a:pt x="1265819" y="948384"/>
                </a:lnTo>
                <a:lnTo>
                  <a:pt x="1264235" y="945629"/>
                </a:lnTo>
                <a:cubicBezTo>
                  <a:pt x="1271569" y="941413"/>
                  <a:pt x="1278910" y="937209"/>
                  <a:pt x="1286263" y="933012"/>
                </a:cubicBezTo>
                <a:close/>
                <a:moveTo>
                  <a:pt x="8323282" y="927463"/>
                </a:moveTo>
                <a:lnTo>
                  <a:pt x="8321732" y="930218"/>
                </a:lnTo>
                <a:lnTo>
                  <a:pt x="8321719" y="930211"/>
                </a:lnTo>
                <a:close/>
                <a:moveTo>
                  <a:pt x="1333634" y="913720"/>
                </a:moveTo>
                <a:lnTo>
                  <a:pt x="1335100" y="916330"/>
                </a:lnTo>
                <a:lnTo>
                  <a:pt x="1335098" y="916331"/>
                </a:lnTo>
                <a:close/>
                <a:moveTo>
                  <a:pt x="8304269" y="909460"/>
                </a:moveTo>
                <a:cubicBezTo>
                  <a:pt x="8311699" y="913600"/>
                  <a:pt x="8319065" y="917759"/>
                  <a:pt x="8326432" y="921925"/>
                </a:cubicBezTo>
                <a:lnTo>
                  <a:pt x="8323282" y="927463"/>
                </a:lnTo>
                <a:lnTo>
                  <a:pt x="8324844" y="924687"/>
                </a:lnTo>
                <a:cubicBezTo>
                  <a:pt x="8317478" y="920521"/>
                  <a:pt x="8310112" y="916369"/>
                  <a:pt x="8302746" y="912228"/>
                </a:cubicBezTo>
                <a:lnTo>
                  <a:pt x="8299634" y="917759"/>
                </a:lnTo>
                <a:lnTo>
                  <a:pt x="8321719" y="930211"/>
                </a:lnTo>
                <a:lnTo>
                  <a:pt x="8320144" y="932980"/>
                </a:lnTo>
                <a:cubicBezTo>
                  <a:pt x="8312779" y="928814"/>
                  <a:pt x="8305413" y="924668"/>
                  <a:pt x="8298047" y="920528"/>
                </a:cubicBezTo>
                <a:close/>
                <a:moveTo>
                  <a:pt x="1330440" y="908025"/>
                </a:moveTo>
                <a:lnTo>
                  <a:pt x="1333634" y="913720"/>
                </a:lnTo>
                <a:lnTo>
                  <a:pt x="1331989" y="910793"/>
                </a:lnTo>
                <a:cubicBezTo>
                  <a:pt x="1324623" y="914927"/>
                  <a:pt x="1317257" y="919074"/>
                  <a:pt x="1309904" y="923239"/>
                </a:cubicBezTo>
                <a:lnTo>
                  <a:pt x="1313028" y="928764"/>
                </a:lnTo>
                <a:lnTo>
                  <a:pt x="1335098" y="916331"/>
                </a:lnTo>
                <a:lnTo>
                  <a:pt x="1336650" y="919099"/>
                </a:lnTo>
                <a:cubicBezTo>
                  <a:pt x="1329290" y="923227"/>
                  <a:pt x="1321937" y="927373"/>
                  <a:pt x="1314591" y="931526"/>
                </a:cubicBezTo>
                <a:lnTo>
                  <a:pt x="1308335" y="920471"/>
                </a:lnTo>
                <a:cubicBezTo>
                  <a:pt x="1315695" y="916311"/>
                  <a:pt x="1323061" y="912159"/>
                  <a:pt x="1330440" y="908025"/>
                </a:cubicBezTo>
                <a:close/>
                <a:moveTo>
                  <a:pt x="8280571" y="899832"/>
                </a:moveTo>
                <a:lnTo>
                  <a:pt x="8280584" y="899839"/>
                </a:lnTo>
                <a:lnTo>
                  <a:pt x="8278836" y="902958"/>
                </a:lnTo>
                <a:close/>
                <a:moveTo>
                  <a:pt x="8255321" y="893096"/>
                </a:moveTo>
                <a:lnTo>
                  <a:pt x="8277473" y="905389"/>
                </a:lnTo>
                <a:lnTo>
                  <a:pt x="8278836" y="902958"/>
                </a:lnTo>
                <a:lnTo>
                  <a:pt x="8275949" y="908158"/>
                </a:lnTo>
                <a:cubicBezTo>
                  <a:pt x="8268582" y="904050"/>
                  <a:pt x="8261153" y="899954"/>
                  <a:pt x="8253787" y="895864"/>
                </a:cubicBezTo>
                <a:close/>
                <a:moveTo>
                  <a:pt x="8256839" y="890359"/>
                </a:moveTo>
                <a:lnTo>
                  <a:pt x="8255321" y="893096"/>
                </a:lnTo>
                <a:lnTo>
                  <a:pt x="8255311" y="893090"/>
                </a:lnTo>
                <a:close/>
                <a:moveTo>
                  <a:pt x="1376312" y="886130"/>
                </a:moveTo>
                <a:cubicBezTo>
                  <a:pt x="1368908" y="890219"/>
                  <a:pt x="1361516" y="894315"/>
                  <a:pt x="1354131" y="898423"/>
                </a:cubicBezTo>
                <a:lnTo>
                  <a:pt x="1357217" y="903973"/>
                </a:lnTo>
                <a:cubicBezTo>
                  <a:pt x="1364596" y="899865"/>
                  <a:pt x="1371982" y="895775"/>
                  <a:pt x="1379379" y="891693"/>
                </a:cubicBezTo>
                <a:close/>
                <a:moveTo>
                  <a:pt x="8259947" y="884752"/>
                </a:moveTo>
                <a:cubicBezTo>
                  <a:pt x="8267313" y="888841"/>
                  <a:pt x="8274743" y="892950"/>
                  <a:pt x="8282108" y="897064"/>
                </a:cubicBezTo>
                <a:lnTo>
                  <a:pt x="8280571" y="899832"/>
                </a:lnTo>
                <a:lnTo>
                  <a:pt x="8258423" y="887527"/>
                </a:lnTo>
                <a:lnTo>
                  <a:pt x="8256839" y="890359"/>
                </a:lnTo>
                <a:close/>
                <a:moveTo>
                  <a:pt x="1374782" y="883355"/>
                </a:moveTo>
                <a:lnTo>
                  <a:pt x="1380916" y="894474"/>
                </a:lnTo>
                <a:cubicBezTo>
                  <a:pt x="1373524" y="898550"/>
                  <a:pt x="1366140" y="902640"/>
                  <a:pt x="1358762" y="906748"/>
                </a:cubicBezTo>
                <a:lnTo>
                  <a:pt x="1352583" y="895648"/>
                </a:lnTo>
                <a:cubicBezTo>
                  <a:pt x="1359973" y="891540"/>
                  <a:pt x="1367371" y="887438"/>
                  <a:pt x="1374782" y="883355"/>
                </a:cubicBezTo>
                <a:close/>
                <a:moveTo>
                  <a:pt x="8236133" y="875297"/>
                </a:moveTo>
                <a:lnTo>
                  <a:pt x="8236134" y="875297"/>
                </a:lnTo>
                <a:lnTo>
                  <a:pt x="8234141" y="878938"/>
                </a:lnTo>
                <a:close/>
                <a:moveTo>
                  <a:pt x="1398544" y="873919"/>
                </a:moveTo>
                <a:lnTo>
                  <a:pt x="1400771" y="877989"/>
                </a:lnTo>
                <a:lnTo>
                  <a:pt x="1398543" y="873919"/>
                </a:lnTo>
                <a:close/>
                <a:moveTo>
                  <a:pt x="8210836" y="868739"/>
                </a:moveTo>
                <a:lnTo>
                  <a:pt x="8233086" y="880866"/>
                </a:lnTo>
                <a:lnTo>
                  <a:pt x="8234141" y="878938"/>
                </a:lnTo>
                <a:lnTo>
                  <a:pt x="8231562" y="883653"/>
                </a:lnTo>
                <a:cubicBezTo>
                  <a:pt x="8224132" y="879589"/>
                  <a:pt x="8216767" y="875544"/>
                  <a:pt x="8209337" y="871512"/>
                </a:cubicBezTo>
                <a:close/>
                <a:moveTo>
                  <a:pt x="8213846" y="863136"/>
                </a:moveTo>
                <a:lnTo>
                  <a:pt x="8213859" y="863143"/>
                </a:lnTo>
                <a:lnTo>
                  <a:pt x="8210836" y="868739"/>
                </a:lnTo>
                <a:lnTo>
                  <a:pt x="8210798" y="868718"/>
                </a:lnTo>
                <a:close/>
                <a:moveTo>
                  <a:pt x="8215369" y="860349"/>
                </a:moveTo>
                <a:cubicBezTo>
                  <a:pt x="8222799" y="864387"/>
                  <a:pt x="8230229" y="868445"/>
                  <a:pt x="8237658" y="872509"/>
                </a:cubicBezTo>
                <a:lnTo>
                  <a:pt x="8236133" y="875297"/>
                </a:lnTo>
                <a:lnTo>
                  <a:pt x="8213859" y="863143"/>
                </a:lnTo>
                <a:close/>
                <a:moveTo>
                  <a:pt x="1419314" y="858990"/>
                </a:moveTo>
                <a:lnTo>
                  <a:pt x="1425366" y="870153"/>
                </a:lnTo>
                <a:cubicBezTo>
                  <a:pt x="1417943" y="874179"/>
                  <a:pt x="1410526" y="878224"/>
                  <a:pt x="1403115" y="882275"/>
                </a:cubicBezTo>
                <a:lnTo>
                  <a:pt x="1400771" y="877989"/>
                </a:lnTo>
                <a:lnTo>
                  <a:pt x="1401591" y="879488"/>
                </a:lnTo>
                <a:cubicBezTo>
                  <a:pt x="1409008" y="875437"/>
                  <a:pt x="1416425" y="871391"/>
                  <a:pt x="1423854" y="867365"/>
                </a:cubicBezTo>
                <a:lnTo>
                  <a:pt x="1420826" y="861784"/>
                </a:lnTo>
                <a:lnTo>
                  <a:pt x="1398544" y="873919"/>
                </a:lnTo>
                <a:lnTo>
                  <a:pt x="1397019" y="871131"/>
                </a:lnTo>
                <a:cubicBezTo>
                  <a:pt x="1404442" y="867073"/>
                  <a:pt x="1411872" y="863022"/>
                  <a:pt x="1419314" y="858990"/>
                </a:cubicBezTo>
                <a:close/>
                <a:moveTo>
                  <a:pt x="8189996" y="853867"/>
                </a:moveTo>
                <a:lnTo>
                  <a:pt x="8188509" y="856653"/>
                </a:lnTo>
                <a:lnTo>
                  <a:pt x="8188496" y="856646"/>
                </a:lnTo>
                <a:close/>
                <a:moveTo>
                  <a:pt x="1444660" y="852516"/>
                </a:moveTo>
                <a:lnTo>
                  <a:pt x="1446164" y="855312"/>
                </a:lnTo>
                <a:lnTo>
                  <a:pt x="1446162" y="855313"/>
                </a:lnTo>
                <a:close/>
                <a:moveTo>
                  <a:pt x="1468508" y="843351"/>
                </a:moveTo>
                <a:lnTo>
                  <a:pt x="1470001" y="846150"/>
                </a:lnTo>
                <a:cubicBezTo>
                  <a:pt x="1462545" y="850125"/>
                  <a:pt x="1455103" y="854107"/>
                  <a:pt x="1447668" y="858107"/>
                </a:cubicBezTo>
                <a:lnTo>
                  <a:pt x="1446164" y="855312"/>
                </a:lnTo>
                <a:close/>
                <a:moveTo>
                  <a:pt x="1467410" y="841291"/>
                </a:moveTo>
                <a:lnTo>
                  <a:pt x="1468508" y="843350"/>
                </a:lnTo>
                <a:lnTo>
                  <a:pt x="1468508" y="843351"/>
                </a:lnTo>
                <a:close/>
                <a:moveTo>
                  <a:pt x="8170602" y="836263"/>
                </a:moveTo>
                <a:cubicBezTo>
                  <a:pt x="8178095" y="840251"/>
                  <a:pt x="8185588" y="844252"/>
                  <a:pt x="8193018" y="848265"/>
                </a:cubicBezTo>
                <a:lnTo>
                  <a:pt x="8189996" y="853867"/>
                </a:lnTo>
                <a:lnTo>
                  <a:pt x="8191494" y="851059"/>
                </a:lnTo>
                <a:cubicBezTo>
                  <a:pt x="8184064" y="847052"/>
                  <a:pt x="8176571" y="843051"/>
                  <a:pt x="8169142" y="839064"/>
                </a:cubicBezTo>
                <a:lnTo>
                  <a:pt x="8166157" y="844671"/>
                </a:lnTo>
                <a:lnTo>
                  <a:pt x="8188496" y="856646"/>
                </a:lnTo>
                <a:lnTo>
                  <a:pt x="8186985" y="859447"/>
                </a:lnTo>
                <a:cubicBezTo>
                  <a:pt x="8179556" y="855440"/>
                  <a:pt x="8172126" y="851453"/>
                  <a:pt x="8164633" y="847471"/>
                </a:cubicBezTo>
                <a:close/>
                <a:moveTo>
                  <a:pt x="1464025" y="834942"/>
                </a:moveTo>
                <a:lnTo>
                  <a:pt x="1467410" y="841291"/>
                </a:lnTo>
                <a:lnTo>
                  <a:pt x="1465517" y="837743"/>
                </a:lnTo>
                <a:cubicBezTo>
                  <a:pt x="1458055" y="841724"/>
                  <a:pt x="1450602" y="845718"/>
                  <a:pt x="1443159" y="849719"/>
                </a:cubicBezTo>
                <a:lnTo>
                  <a:pt x="1444660" y="852516"/>
                </a:lnTo>
                <a:lnTo>
                  <a:pt x="1441653" y="846925"/>
                </a:lnTo>
                <a:cubicBezTo>
                  <a:pt x="1449102" y="842918"/>
                  <a:pt x="1456557" y="838924"/>
                  <a:pt x="1464025" y="834942"/>
                </a:cubicBezTo>
                <a:close/>
                <a:moveTo>
                  <a:pt x="1489333" y="828543"/>
                </a:moveTo>
                <a:lnTo>
                  <a:pt x="1490881" y="831469"/>
                </a:lnTo>
                <a:lnTo>
                  <a:pt x="1490879" y="831469"/>
                </a:lnTo>
                <a:close/>
                <a:moveTo>
                  <a:pt x="8146714" y="827151"/>
                </a:moveTo>
                <a:lnTo>
                  <a:pt x="8146726" y="827157"/>
                </a:lnTo>
                <a:lnTo>
                  <a:pt x="8145304" y="829833"/>
                </a:lnTo>
                <a:close/>
                <a:moveTo>
                  <a:pt x="8121337" y="820959"/>
                </a:moveTo>
                <a:lnTo>
                  <a:pt x="8143742" y="832771"/>
                </a:lnTo>
                <a:lnTo>
                  <a:pt x="8145304" y="829833"/>
                </a:lnTo>
                <a:lnTo>
                  <a:pt x="8142282" y="835578"/>
                </a:lnTo>
                <a:cubicBezTo>
                  <a:pt x="8134788" y="831628"/>
                  <a:pt x="8127359" y="827691"/>
                  <a:pt x="8119866" y="823760"/>
                </a:cubicBezTo>
                <a:close/>
                <a:moveTo>
                  <a:pt x="1513299" y="819665"/>
                </a:moveTo>
                <a:lnTo>
                  <a:pt x="1514774" y="822477"/>
                </a:lnTo>
                <a:cubicBezTo>
                  <a:pt x="1507293" y="826402"/>
                  <a:pt x="1499826" y="830332"/>
                  <a:pt x="1492365" y="834276"/>
                </a:cubicBezTo>
                <a:lnTo>
                  <a:pt x="1490881" y="831469"/>
                </a:lnTo>
                <a:close/>
                <a:moveTo>
                  <a:pt x="1511458" y="816157"/>
                </a:moveTo>
                <a:lnTo>
                  <a:pt x="1513301" y="819664"/>
                </a:lnTo>
                <a:lnTo>
                  <a:pt x="1513299" y="819665"/>
                </a:lnTo>
                <a:close/>
                <a:moveTo>
                  <a:pt x="8124247" y="815327"/>
                </a:moveTo>
                <a:lnTo>
                  <a:pt x="8124284" y="815347"/>
                </a:lnTo>
                <a:lnTo>
                  <a:pt x="8121337" y="820959"/>
                </a:lnTo>
                <a:lnTo>
                  <a:pt x="8121326" y="820953"/>
                </a:lnTo>
                <a:close/>
                <a:moveTo>
                  <a:pt x="8125771" y="812514"/>
                </a:moveTo>
                <a:cubicBezTo>
                  <a:pt x="8133264" y="816451"/>
                  <a:pt x="8140757" y="820395"/>
                  <a:pt x="8148187" y="824351"/>
                </a:cubicBezTo>
                <a:lnTo>
                  <a:pt x="8146714" y="827151"/>
                </a:lnTo>
                <a:lnTo>
                  <a:pt x="8124284" y="815347"/>
                </a:lnTo>
                <a:close/>
                <a:moveTo>
                  <a:pt x="1508874" y="811232"/>
                </a:moveTo>
                <a:lnTo>
                  <a:pt x="1511458" y="816157"/>
                </a:lnTo>
                <a:lnTo>
                  <a:pt x="1510349" y="814045"/>
                </a:lnTo>
                <a:cubicBezTo>
                  <a:pt x="1502861" y="817969"/>
                  <a:pt x="1495381" y="821906"/>
                  <a:pt x="1487913" y="825856"/>
                </a:cubicBezTo>
                <a:lnTo>
                  <a:pt x="1489333" y="828543"/>
                </a:lnTo>
                <a:lnTo>
                  <a:pt x="1486427" y="823049"/>
                </a:lnTo>
                <a:cubicBezTo>
                  <a:pt x="1493901" y="819099"/>
                  <a:pt x="1501388" y="815156"/>
                  <a:pt x="1508874" y="811232"/>
                </a:cubicBezTo>
                <a:close/>
                <a:moveTo>
                  <a:pt x="8077432" y="795365"/>
                </a:moveTo>
                <a:lnTo>
                  <a:pt x="8076306" y="797542"/>
                </a:lnTo>
                <a:lnTo>
                  <a:pt x="8076305" y="797541"/>
                </a:lnTo>
                <a:close/>
                <a:moveTo>
                  <a:pt x="1555370" y="790651"/>
                </a:moveTo>
                <a:cubicBezTo>
                  <a:pt x="1547852" y="794525"/>
                  <a:pt x="1540340" y="798411"/>
                  <a:pt x="1532839" y="802310"/>
                </a:cubicBezTo>
                <a:lnTo>
                  <a:pt x="1535767" y="807942"/>
                </a:lnTo>
                <a:cubicBezTo>
                  <a:pt x="1543260" y="804050"/>
                  <a:pt x="1550766" y="800164"/>
                  <a:pt x="1558278" y="796296"/>
                </a:cubicBezTo>
                <a:close/>
                <a:moveTo>
                  <a:pt x="8080686" y="789076"/>
                </a:moveTo>
                <a:cubicBezTo>
                  <a:pt x="8088180" y="792956"/>
                  <a:pt x="8095736" y="796849"/>
                  <a:pt x="8103229" y="800760"/>
                </a:cubicBezTo>
                <a:lnTo>
                  <a:pt x="8097387" y="812025"/>
                </a:lnTo>
                <a:cubicBezTo>
                  <a:pt x="8089894" y="808126"/>
                  <a:pt x="8082401" y="804240"/>
                  <a:pt x="8074844" y="800367"/>
                </a:cubicBezTo>
                <a:lnTo>
                  <a:pt x="8076306" y="797542"/>
                </a:lnTo>
                <a:lnTo>
                  <a:pt x="8098847" y="809206"/>
                </a:lnTo>
                <a:lnTo>
                  <a:pt x="8101769" y="803573"/>
                </a:lnTo>
                <a:cubicBezTo>
                  <a:pt x="8094275" y="799668"/>
                  <a:pt x="8086782" y="795776"/>
                  <a:pt x="8079226" y="791902"/>
                </a:cubicBezTo>
                <a:lnTo>
                  <a:pt x="8077432" y="795365"/>
                </a:lnTo>
                <a:close/>
                <a:moveTo>
                  <a:pt x="1553915" y="787825"/>
                </a:moveTo>
                <a:lnTo>
                  <a:pt x="1559733" y="799116"/>
                </a:lnTo>
                <a:cubicBezTo>
                  <a:pt x="1552227" y="802989"/>
                  <a:pt x="1544721" y="806869"/>
                  <a:pt x="1537227" y="810762"/>
                </a:cubicBezTo>
                <a:lnTo>
                  <a:pt x="1531373" y="799490"/>
                </a:lnTo>
                <a:cubicBezTo>
                  <a:pt x="1538879" y="795592"/>
                  <a:pt x="1546397" y="791705"/>
                  <a:pt x="1553915" y="787825"/>
                </a:cubicBezTo>
                <a:close/>
                <a:moveTo>
                  <a:pt x="8055120" y="783271"/>
                </a:moveTo>
                <a:lnTo>
                  <a:pt x="8053762" y="785959"/>
                </a:lnTo>
                <a:lnTo>
                  <a:pt x="8053749" y="785953"/>
                </a:lnTo>
                <a:close/>
                <a:moveTo>
                  <a:pt x="1577951" y="779069"/>
                </a:moveTo>
                <a:lnTo>
                  <a:pt x="1580145" y="783368"/>
                </a:lnTo>
                <a:lnTo>
                  <a:pt x="1577950" y="779069"/>
                </a:lnTo>
                <a:close/>
                <a:moveTo>
                  <a:pt x="1603442" y="773241"/>
                </a:moveTo>
                <a:lnTo>
                  <a:pt x="1604874" y="776072"/>
                </a:lnTo>
                <a:cubicBezTo>
                  <a:pt x="1597336" y="779888"/>
                  <a:pt x="1589805" y="783711"/>
                  <a:pt x="1582281" y="787552"/>
                </a:cubicBezTo>
                <a:lnTo>
                  <a:pt x="1580145" y="783368"/>
                </a:lnTo>
                <a:lnTo>
                  <a:pt x="1580839" y="784727"/>
                </a:lnTo>
                <a:close/>
                <a:moveTo>
                  <a:pt x="1600576" y="767569"/>
                </a:moveTo>
                <a:lnTo>
                  <a:pt x="1603445" y="773239"/>
                </a:lnTo>
                <a:lnTo>
                  <a:pt x="1603442" y="773241"/>
                </a:lnTo>
                <a:lnTo>
                  <a:pt x="1600574" y="767570"/>
                </a:lnTo>
                <a:close/>
                <a:moveTo>
                  <a:pt x="8035411" y="765950"/>
                </a:moveTo>
                <a:cubicBezTo>
                  <a:pt x="8042968" y="769779"/>
                  <a:pt x="8050524" y="773620"/>
                  <a:pt x="8058081" y="777475"/>
                </a:cubicBezTo>
                <a:lnTo>
                  <a:pt x="8055120" y="783271"/>
                </a:lnTo>
                <a:lnTo>
                  <a:pt x="8056619" y="780301"/>
                </a:lnTo>
                <a:cubicBezTo>
                  <a:pt x="8049127" y="776453"/>
                  <a:pt x="8041570" y="772611"/>
                  <a:pt x="8034014" y="768782"/>
                </a:cubicBezTo>
                <a:lnTo>
                  <a:pt x="8031157" y="774452"/>
                </a:lnTo>
                <a:lnTo>
                  <a:pt x="8053749" y="785953"/>
                </a:lnTo>
                <a:lnTo>
                  <a:pt x="8052302" y="788784"/>
                </a:lnTo>
                <a:cubicBezTo>
                  <a:pt x="8044745" y="784936"/>
                  <a:pt x="8037252" y="781101"/>
                  <a:pt x="8029696" y="777285"/>
                </a:cubicBezTo>
                <a:close/>
                <a:moveTo>
                  <a:pt x="1599140" y="764737"/>
                </a:moveTo>
                <a:lnTo>
                  <a:pt x="1600574" y="767570"/>
                </a:lnTo>
                <a:lnTo>
                  <a:pt x="1577951" y="779069"/>
                </a:lnTo>
                <a:lnTo>
                  <a:pt x="1576508" y="776243"/>
                </a:lnTo>
                <a:cubicBezTo>
                  <a:pt x="1584046" y="772395"/>
                  <a:pt x="1591590" y="768560"/>
                  <a:pt x="1599140" y="764737"/>
                </a:cubicBezTo>
                <a:close/>
                <a:moveTo>
                  <a:pt x="8011334" y="757353"/>
                </a:moveTo>
                <a:lnTo>
                  <a:pt x="8011344" y="757358"/>
                </a:lnTo>
                <a:lnTo>
                  <a:pt x="8010115" y="759800"/>
                </a:lnTo>
                <a:close/>
                <a:moveTo>
                  <a:pt x="1623214" y="756164"/>
                </a:moveTo>
                <a:lnTo>
                  <a:pt x="1624149" y="758027"/>
                </a:lnTo>
                <a:lnTo>
                  <a:pt x="1623213" y="756164"/>
                </a:lnTo>
                <a:close/>
                <a:moveTo>
                  <a:pt x="7985831" y="751707"/>
                </a:moveTo>
                <a:lnTo>
                  <a:pt x="8008487" y="763035"/>
                </a:lnTo>
                <a:lnTo>
                  <a:pt x="8010115" y="759800"/>
                </a:lnTo>
                <a:lnTo>
                  <a:pt x="8007090" y="765873"/>
                </a:lnTo>
                <a:cubicBezTo>
                  <a:pt x="7999533" y="762083"/>
                  <a:pt x="7991977" y="758304"/>
                  <a:pt x="7984420" y="754545"/>
                </a:cubicBezTo>
                <a:close/>
                <a:moveTo>
                  <a:pt x="1647314" y="747681"/>
                </a:moveTo>
                <a:lnTo>
                  <a:pt x="1650143" y="753364"/>
                </a:lnTo>
                <a:cubicBezTo>
                  <a:pt x="1642580" y="757123"/>
                  <a:pt x="1635030" y="760895"/>
                  <a:pt x="1627487" y="764680"/>
                </a:cubicBezTo>
                <a:lnTo>
                  <a:pt x="1624149" y="758027"/>
                </a:lnTo>
                <a:lnTo>
                  <a:pt x="1626064" y="761841"/>
                </a:lnTo>
                <a:cubicBezTo>
                  <a:pt x="1633609" y="758057"/>
                  <a:pt x="1641164" y="754285"/>
                  <a:pt x="1648728" y="750526"/>
                </a:cubicBezTo>
                <a:close/>
                <a:moveTo>
                  <a:pt x="7988611" y="746017"/>
                </a:moveTo>
                <a:lnTo>
                  <a:pt x="7988649" y="746036"/>
                </a:lnTo>
                <a:lnTo>
                  <a:pt x="7985831" y="751707"/>
                </a:lnTo>
                <a:lnTo>
                  <a:pt x="7985818" y="751700"/>
                </a:lnTo>
                <a:close/>
                <a:moveTo>
                  <a:pt x="1645901" y="744836"/>
                </a:moveTo>
                <a:lnTo>
                  <a:pt x="1647314" y="747681"/>
                </a:lnTo>
                <a:lnTo>
                  <a:pt x="1645899" y="744837"/>
                </a:lnTo>
                <a:close/>
                <a:moveTo>
                  <a:pt x="7990072" y="743172"/>
                </a:moveTo>
                <a:cubicBezTo>
                  <a:pt x="7997628" y="746944"/>
                  <a:pt x="8005185" y="750729"/>
                  <a:pt x="8012742" y="754526"/>
                </a:cubicBezTo>
                <a:lnTo>
                  <a:pt x="8011334" y="757353"/>
                </a:lnTo>
                <a:lnTo>
                  <a:pt x="7988649" y="746036"/>
                </a:lnTo>
                <a:close/>
                <a:moveTo>
                  <a:pt x="1644485" y="741998"/>
                </a:moveTo>
                <a:lnTo>
                  <a:pt x="1645899" y="744837"/>
                </a:lnTo>
                <a:lnTo>
                  <a:pt x="1623214" y="756164"/>
                </a:lnTo>
                <a:lnTo>
                  <a:pt x="1621791" y="753326"/>
                </a:lnTo>
                <a:cubicBezTo>
                  <a:pt x="1629347" y="749535"/>
                  <a:pt x="1636916" y="745757"/>
                  <a:pt x="1644485" y="741998"/>
                </a:cubicBezTo>
                <a:close/>
                <a:moveTo>
                  <a:pt x="1668636" y="733589"/>
                </a:moveTo>
                <a:lnTo>
                  <a:pt x="1671442" y="739286"/>
                </a:lnTo>
                <a:lnTo>
                  <a:pt x="1671441" y="739286"/>
                </a:lnTo>
                <a:lnTo>
                  <a:pt x="1668634" y="733590"/>
                </a:lnTo>
                <a:close/>
                <a:moveTo>
                  <a:pt x="7943081" y="723563"/>
                </a:moveTo>
                <a:lnTo>
                  <a:pt x="7943093" y="723569"/>
                </a:lnTo>
                <a:lnTo>
                  <a:pt x="7940326" y="729285"/>
                </a:lnTo>
                <a:lnTo>
                  <a:pt x="7940288" y="729266"/>
                </a:lnTo>
                <a:close/>
                <a:moveTo>
                  <a:pt x="7944479" y="720706"/>
                </a:moveTo>
                <a:cubicBezTo>
                  <a:pt x="7952099" y="724427"/>
                  <a:pt x="7959719" y="728155"/>
                  <a:pt x="7967275" y="731901"/>
                </a:cubicBezTo>
                <a:lnTo>
                  <a:pt x="7961687" y="743293"/>
                </a:lnTo>
                <a:cubicBezTo>
                  <a:pt x="7954131" y="739553"/>
                  <a:pt x="7946511" y="735832"/>
                  <a:pt x="7938955" y="732117"/>
                </a:cubicBezTo>
                <a:lnTo>
                  <a:pt x="7940326" y="729285"/>
                </a:lnTo>
                <a:lnTo>
                  <a:pt x="7963084" y="740442"/>
                </a:lnTo>
                <a:lnTo>
                  <a:pt x="7965878" y="734746"/>
                </a:lnTo>
                <a:lnTo>
                  <a:pt x="7943093" y="723569"/>
                </a:lnTo>
                <a:close/>
                <a:moveTo>
                  <a:pt x="1690015" y="719563"/>
                </a:moveTo>
                <a:lnTo>
                  <a:pt x="1695590" y="730974"/>
                </a:lnTo>
                <a:cubicBezTo>
                  <a:pt x="1687995" y="734682"/>
                  <a:pt x="1680413" y="738403"/>
                  <a:pt x="1672845" y="742131"/>
                </a:cubicBezTo>
                <a:lnTo>
                  <a:pt x="1671442" y="739286"/>
                </a:lnTo>
                <a:lnTo>
                  <a:pt x="1694193" y="728123"/>
                </a:lnTo>
                <a:lnTo>
                  <a:pt x="1691405" y="722420"/>
                </a:lnTo>
                <a:lnTo>
                  <a:pt x="1668636" y="733589"/>
                </a:lnTo>
                <a:lnTo>
                  <a:pt x="1667232" y="730739"/>
                </a:lnTo>
                <a:cubicBezTo>
                  <a:pt x="1674819" y="726999"/>
                  <a:pt x="1682414" y="723278"/>
                  <a:pt x="1690015" y="719563"/>
                </a:cubicBezTo>
                <a:close/>
                <a:moveTo>
                  <a:pt x="7919764" y="713517"/>
                </a:moveTo>
                <a:lnTo>
                  <a:pt x="7917492" y="718166"/>
                </a:lnTo>
                <a:lnTo>
                  <a:pt x="7917491" y="718166"/>
                </a:lnTo>
                <a:close/>
                <a:moveTo>
                  <a:pt x="1714231" y="711325"/>
                </a:moveTo>
                <a:lnTo>
                  <a:pt x="1716997" y="717042"/>
                </a:lnTo>
                <a:lnTo>
                  <a:pt x="1716996" y="717042"/>
                </a:lnTo>
                <a:lnTo>
                  <a:pt x="1714227" y="711327"/>
                </a:lnTo>
                <a:close/>
                <a:moveTo>
                  <a:pt x="7894658" y="707155"/>
                </a:moveTo>
                <a:lnTo>
                  <a:pt x="7917491" y="718166"/>
                </a:lnTo>
                <a:lnTo>
                  <a:pt x="7916094" y="721023"/>
                </a:lnTo>
                <a:cubicBezTo>
                  <a:pt x="7908538" y="717341"/>
                  <a:pt x="7900918" y="713664"/>
                  <a:pt x="7893298" y="710006"/>
                </a:cubicBezTo>
                <a:close/>
                <a:moveTo>
                  <a:pt x="7897362" y="701421"/>
                </a:moveTo>
                <a:lnTo>
                  <a:pt x="7897387" y="701433"/>
                </a:lnTo>
                <a:lnTo>
                  <a:pt x="7894658" y="707155"/>
                </a:lnTo>
                <a:lnTo>
                  <a:pt x="7894632" y="707142"/>
                </a:lnTo>
                <a:close/>
                <a:moveTo>
                  <a:pt x="7898759" y="698557"/>
                </a:moveTo>
                <a:cubicBezTo>
                  <a:pt x="7906379" y="702221"/>
                  <a:pt x="7914062" y="705904"/>
                  <a:pt x="7921682" y="709594"/>
                </a:cubicBezTo>
                <a:lnTo>
                  <a:pt x="7919764" y="713517"/>
                </a:lnTo>
                <a:lnTo>
                  <a:pt x="7920285" y="712451"/>
                </a:lnTo>
                <a:lnTo>
                  <a:pt x="7897387" y="701433"/>
                </a:lnTo>
                <a:close/>
                <a:moveTo>
                  <a:pt x="1735729" y="697446"/>
                </a:moveTo>
                <a:lnTo>
                  <a:pt x="1741215" y="708901"/>
                </a:lnTo>
                <a:cubicBezTo>
                  <a:pt x="1733596" y="712553"/>
                  <a:pt x="1725981" y="716223"/>
                  <a:pt x="1718380" y="719900"/>
                </a:cubicBezTo>
                <a:lnTo>
                  <a:pt x="1716997" y="717042"/>
                </a:lnTo>
                <a:lnTo>
                  <a:pt x="1739844" y="706038"/>
                </a:lnTo>
                <a:lnTo>
                  <a:pt x="1737100" y="700310"/>
                </a:lnTo>
                <a:lnTo>
                  <a:pt x="1714231" y="711325"/>
                </a:lnTo>
                <a:lnTo>
                  <a:pt x="1712850" y="708470"/>
                </a:lnTo>
                <a:cubicBezTo>
                  <a:pt x="1720463" y="704780"/>
                  <a:pt x="1728089" y="701110"/>
                  <a:pt x="1735729" y="697446"/>
                </a:cubicBezTo>
                <a:close/>
                <a:moveTo>
                  <a:pt x="1761275" y="692105"/>
                </a:moveTo>
                <a:lnTo>
                  <a:pt x="1762713" y="695127"/>
                </a:lnTo>
                <a:lnTo>
                  <a:pt x="1762710" y="695128"/>
                </a:lnTo>
                <a:close/>
                <a:moveTo>
                  <a:pt x="7874477" y="690468"/>
                </a:moveTo>
                <a:lnTo>
                  <a:pt x="7874502" y="690480"/>
                </a:lnTo>
                <a:lnTo>
                  <a:pt x="7871771" y="696214"/>
                </a:lnTo>
                <a:lnTo>
                  <a:pt x="7871746" y="696203"/>
                </a:lnTo>
                <a:close/>
                <a:moveTo>
                  <a:pt x="7848862" y="685375"/>
                </a:moveTo>
                <a:lnTo>
                  <a:pt x="7871746" y="696203"/>
                </a:lnTo>
                <a:lnTo>
                  <a:pt x="7870374" y="699084"/>
                </a:lnTo>
                <a:cubicBezTo>
                  <a:pt x="7862755" y="695458"/>
                  <a:pt x="7855134" y="691845"/>
                  <a:pt x="7847514" y="688245"/>
                </a:cubicBezTo>
                <a:close/>
                <a:moveTo>
                  <a:pt x="1785607" y="684296"/>
                </a:moveTo>
                <a:lnTo>
                  <a:pt x="1786960" y="687172"/>
                </a:lnTo>
                <a:cubicBezTo>
                  <a:pt x="1779321" y="690766"/>
                  <a:pt x="1771696" y="694373"/>
                  <a:pt x="1764075" y="697992"/>
                </a:cubicBezTo>
                <a:lnTo>
                  <a:pt x="1762713" y="695127"/>
                </a:lnTo>
                <a:close/>
                <a:moveTo>
                  <a:pt x="7850220" y="682484"/>
                </a:moveTo>
                <a:lnTo>
                  <a:pt x="7848862" y="685375"/>
                </a:lnTo>
                <a:lnTo>
                  <a:pt x="7848848" y="685368"/>
                </a:lnTo>
                <a:close/>
                <a:moveTo>
                  <a:pt x="1783898" y="680665"/>
                </a:moveTo>
                <a:lnTo>
                  <a:pt x="1785608" y="684295"/>
                </a:lnTo>
                <a:lnTo>
                  <a:pt x="1785607" y="684296"/>
                </a:lnTo>
                <a:close/>
                <a:moveTo>
                  <a:pt x="7852912" y="676751"/>
                </a:moveTo>
                <a:cubicBezTo>
                  <a:pt x="7860531" y="680358"/>
                  <a:pt x="7868215" y="683978"/>
                  <a:pt x="7875835" y="687616"/>
                </a:cubicBezTo>
                <a:lnTo>
                  <a:pt x="7874477" y="690468"/>
                </a:lnTo>
                <a:lnTo>
                  <a:pt x="7851578" y="679628"/>
                </a:lnTo>
                <a:lnTo>
                  <a:pt x="7850220" y="682484"/>
                </a:lnTo>
                <a:close/>
                <a:moveTo>
                  <a:pt x="1781550" y="675678"/>
                </a:moveTo>
                <a:lnTo>
                  <a:pt x="1783898" y="680665"/>
                </a:lnTo>
                <a:lnTo>
                  <a:pt x="1782903" y="678555"/>
                </a:lnTo>
                <a:cubicBezTo>
                  <a:pt x="1775257" y="682149"/>
                  <a:pt x="1767618" y="685762"/>
                  <a:pt x="1759985" y="689388"/>
                </a:cubicBezTo>
                <a:lnTo>
                  <a:pt x="1761275" y="692105"/>
                </a:lnTo>
                <a:lnTo>
                  <a:pt x="1758620" y="686524"/>
                </a:lnTo>
                <a:cubicBezTo>
                  <a:pt x="1766259" y="682892"/>
                  <a:pt x="1773898" y="679279"/>
                  <a:pt x="1781550" y="675678"/>
                </a:cubicBezTo>
                <a:close/>
                <a:moveTo>
                  <a:pt x="1807340" y="670950"/>
                </a:moveTo>
                <a:lnTo>
                  <a:pt x="1808554" y="673550"/>
                </a:lnTo>
                <a:lnTo>
                  <a:pt x="1808550" y="673551"/>
                </a:lnTo>
                <a:close/>
                <a:moveTo>
                  <a:pt x="7828578" y="668846"/>
                </a:moveTo>
                <a:lnTo>
                  <a:pt x="7828592" y="668852"/>
                </a:lnTo>
                <a:lnTo>
                  <a:pt x="7827174" y="671840"/>
                </a:lnTo>
                <a:close/>
                <a:moveTo>
                  <a:pt x="7802874" y="663918"/>
                </a:moveTo>
                <a:lnTo>
                  <a:pt x="7825861" y="674605"/>
                </a:lnTo>
                <a:lnTo>
                  <a:pt x="7827174" y="671840"/>
                </a:lnTo>
                <a:lnTo>
                  <a:pt x="7824527" y="677482"/>
                </a:lnTo>
                <a:cubicBezTo>
                  <a:pt x="7816907" y="673907"/>
                  <a:pt x="7809224" y="670350"/>
                  <a:pt x="7801540" y="666801"/>
                </a:cubicBezTo>
                <a:close/>
                <a:moveTo>
                  <a:pt x="7803217" y="663178"/>
                </a:moveTo>
                <a:lnTo>
                  <a:pt x="7802874" y="663918"/>
                </a:lnTo>
                <a:lnTo>
                  <a:pt x="7802874" y="663918"/>
                </a:lnTo>
                <a:close/>
                <a:moveTo>
                  <a:pt x="1829116" y="657636"/>
                </a:moveTo>
                <a:lnTo>
                  <a:pt x="1832871" y="665759"/>
                </a:lnTo>
                <a:cubicBezTo>
                  <a:pt x="1825207" y="669303"/>
                  <a:pt x="1817549" y="672859"/>
                  <a:pt x="1809897" y="676427"/>
                </a:cubicBezTo>
                <a:lnTo>
                  <a:pt x="1808554" y="673550"/>
                </a:lnTo>
                <a:lnTo>
                  <a:pt x="1831538" y="662877"/>
                </a:lnTo>
                <a:close/>
                <a:moveTo>
                  <a:pt x="1828876" y="657117"/>
                </a:moveTo>
                <a:lnTo>
                  <a:pt x="1829116" y="657636"/>
                </a:lnTo>
                <a:lnTo>
                  <a:pt x="1828876" y="657117"/>
                </a:lnTo>
                <a:close/>
                <a:moveTo>
                  <a:pt x="7806874" y="655276"/>
                </a:moveTo>
                <a:cubicBezTo>
                  <a:pt x="7814557" y="658825"/>
                  <a:pt x="7822242" y="662394"/>
                  <a:pt x="7829925" y="665975"/>
                </a:cubicBezTo>
                <a:lnTo>
                  <a:pt x="7828578" y="668846"/>
                </a:lnTo>
                <a:lnTo>
                  <a:pt x="7805541" y="658159"/>
                </a:lnTo>
                <a:lnTo>
                  <a:pt x="7803217" y="663178"/>
                </a:lnTo>
                <a:close/>
                <a:moveTo>
                  <a:pt x="1827543" y="654234"/>
                </a:moveTo>
                <a:lnTo>
                  <a:pt x="1828876" y="657117"/>
                </a:lnTo>
                <a:lnTo>
                  <a:pt x="1805871" y="667791"/>
                </a:lnTo>
                <a:lnTo>
                  <a:pt x="1807340" y="670950"/>
                </a:lnTo>
                <a:lnTo>
                  <a:pt x="1804524" y="664915"/>
                </a:lnTo>
                <a:cubicBezTo>
                  <a:pt x="1812190" y="661340"/>
                  <a:pt x="1819866" y="657778"/>
                  <a:pt x="1827543" y="654234"/>
                </a:cubicBezTo>
                <a:close/>
                <a:moveTo>
                  <a:pt x="1851927" y="646513"/>
                </a:moveTo>
                <a:lnTo>
                  <a:pt x="1853251" y="649402"/>
                </a:lnTo>
                <a:lnTo>
                  <a:pt x="1851927" y="646513"/>
                </a:lnTo>
                <a:close/>
                <a:moveTo>
                  <a:pt x="1877650" y="641783"/>
                </a:moveTo>
                <a:lnTo>
                  <a:pt x="1878959" y="644671"/>
                </a:lnTo>
                <a:cubicBezTo>
                  <a:pt x="1871263" y="648157"/>
                  <a:pt x="1863573" y="651662"/>
                  <a:pt x="1855896" y="655174"/>
                </a:cubicBezTo>
                <a:lnTo>
                  <a:pt x="1853251" y="649402"/>
                </a:lnTo>
                <a:lnTo>
                  <a:pt x="1854575" y="652291"/>
                </a:lnTo>
                <a:close/>
                <a:moveTo>
                  <a:pt x="7759376" y="637007"/>
                </a:moveTo>
                <a:lnTo>
                  <a:pt x="7759387" y="637013"/>
                </a:lnTo>
                <a:lnTo>
                  <a:pt x="7758210" y="639596"/>
                </a:lnTo>
                <a:close/>
                <a:moveTo>
                  <a:pt x="1875028" y="635997"/>
                </a:moveTo>
                <a:lnTo>
                  <a:pt x="1877651" y="641782"/>
                </a:lnTo>
                <a:lnTo>
                  <a:pt x="1877650" y="641783"/>
                </a:lnTo>
                <a:lnTo>
                  <a:pt x="1875027" y="635998"/>
                </a:lnTo>
                <a:close/>
                <a:moveTo>
                  <a:pt x="7760710" y="634111"/>
                </a:moveTo>
                <a:cubicBezTo>
                  <a:pt x="7768394" y="637610"/>
                  <a:pt x="7776077" y="641128"/>
                  <a:pt x="7783824" y="644652"/>
                </a:cubicBezTo>
                <a:lnTo>
                  <a:pt x="7778490" y="656203"/>
                </a:lnTo>
                <a:cubicBezTo>
                  <a:pt x="7770807" y="652678"/>
                  <a:pt x="7763123" y="649173"/>
                  <a:pt x="7755439" y="645674"/>
                </a:cubicBezTo>
                <a:lnTo>
                  <a:pt x="7758210" y="639596"/>
                </a:lnTo>
                <a:lnTo>
                  <a:pt x="7756773" y="642785"/>
                </a:lnTo>
                <a:cubicBezTo>
                  <a:pt x="7764457" y="646284"/>
                  <a:pt x="7772140" y="649789"/>
                  <a:pt x="7779823" y="653313"/>
                </a:cubicBezTo>
                <a:lnTo>
                  <a:pt x="7782490" y="647541"/>
                </a:lnTo>
                <a:lnTo>
                  <a:pt x="7759387" y="637013"/>
                </a:lnTo>
                <a:close/>
                <a:moveTo>
                  <a:pt x="1873714" y="633101"/>
                </a:moveTo>
                <a:lnTo>
                  <a:pt x="1875027" y="635998"/>
                </a:lnTo>
                <a:lnTo>
                  <a:pt x="1851927" y="646513"/>
                </a:lnTo>
                <a:lnTo>
                  <a:pt x="1850606" y="643630"/>
                </a:lnTo>
                <a:cubicBezTo>
                  <a:pt x="1858303" y="640105"/>
                  <a:pt x="1866005" y="636600"/>
                  <a:pt x="1873714" y="633101"/>
                </a:cubicBezTo>
                <a:close/>
                <a:moveTo>
                  <a:pt x="7711872" y="618896"/>
                </a:moveTo>
                <a:lnTo>
                  <a:pt x="7710495" y="622001"/>
                </a:lnTo>
                <a:lnTo>
                  <a:pt x="7710482" y="621995"/>
                </a:lnTo>
                <a:close/>
                <a:moveTo>
                  <a:pt x="1922590" y="618119"/>
                </a:moveTo>
                <a:lnTo>
                  <a:pt x="1923879" y="621017"/>
                </a:lnTo>
                <a:lnTo>
                  <a:pt x="1923879" y="621018"/>
                </a:lnTo>
                <a:close/>
                <a:moveTo>
                  <a:pt x="7714355" y="613296"/>
                </a:moveTo>
                <a:cubicBezTo>
                  <a:pt x="7722102" y="616731"/>
                  <a:pt x="7729785" y="620186"/>
                  <a:pt x="7737532" y="623659"/>
                </a:cubicBezTo>
                <a:lnTo>
                  <a:pt x="7732325" y="635241"/>
                </a:lnTo>
                <a:cubicBezTo>
                  <a:pt x="7724642" y="631781"/>
                  <a:pt x="7716894" y="628333"/>
                  <a:pt x="7709211" y="624897"/>
                </a:cubicBezTo>
                <a:lnTo>
                  <a:pt x="7710495" y="622001"/>
                </a:lnTo>
                <a:lnTo>
                  <a:pt x="7733595" y="632346"/>
                </a:lnTo>
                <a:lnTo>
                  <a:pt x="7736199" y="626555"/>
                </a:lnTo>
                <a:cubicBezTo>
                  <a:pt x="7728515" y="623087"/>
                  <a:pt x="7720769" y="619633"/>
                  <a:pt x="7713085" y="616191"/>
                </a:cubicBezTo>
                <a:lnTo>
                  <a:pt x="7711872" y="618896"/>
                </a:lnTo>
                <a:close/>
                <a:moveTo>
                  <a:pt x="1920012" y="612318"/>
                </a:moveTo>
                <a:lnTo>
                  <a:pt x="1922590" y="618119"/>
                </a:lnTo>
                <a:lnTo>
                  <a:pt x="1921301" y="615220"/>
                </a:lnTo>
                <a:cubicBezTo>
                  <a:pt x="1913579" y="618655"/>
                  <a:pt x="1905864" y="622097"/>
                  <a:pt x="1898155" y="625558"/>
                </a:cubicBezTo>
                <a:lnTo>
                  <a:pt x="1900759" y="631355"/>
                </a:lnTo>
                <a:lnTo>
                  <a:pt x="1923879" y="621018"/>
                </a:lnTo>
                <a:lnTo>
                  <a:pt x="1925168" y="623919"/>
                </a:lnTo>
                <a:cubicBezTo>
                  <a:pt x="1917459" y="627348"/>
                  <a:pt x="1909756" y="630796"/>
                  <a:pt x="1902060" y="634251"/>
                </a:cubicBezTo>
                <a:lnTo>
                  <a:pt x="1896853" y="622662"/>
                </a:lnTo>
                <a:cubicBezTo>
                  <a:pt x="1904570" y="619201"/>
                  <a:pt x="1912285" y="615753"/>
                  <a:pt x="1920012" y="612318"/>
                </a:cubicBezTo>
                <a:close/>
                <a:moveTo>
                  <a:pt x="1944489" y="604957"/>
                </a:moveTo>
                <a:lnTo>
                  <a:pt x="1947048" y="610767"/>
                </a:lnTo>
                <a:lnTo>
                  <a:pt x="1947044" y="610768"/>
                </a:lnTo>
                <a:lnTo>
                  <a:pt x="1944485" y="604958"/>
                </a:lnTo>
                <a:close/>
                <a:moveTo>
                  <a:pt x="1968410" y="596370"/>
                </a:moveTo>
                <a:lnTo>
                  <a:pt x="1971523" y="603504"/>
                </a:lnTo>
                <a:cubicBezTo>
                  <a:pt x="1963783" y="606882"/>
                  <a:pt x="1956048" y="610273"/>
                  <a:pt x="1948327" y="613670"/>
                </a:cubicBezTo>
                <a:lnTo>
                  <a:pt x="1947048" y="610767"/>
                </a:lnTo>
                <a:lnTo>
                  <a:pt x="1970253" y="600596"/>
                </a:lnTo>
                <a:close/>
                <a:moveTo>
                  <a:pt x="7666603" y="595719"/>
                </a:moveTo>
                <a:lnTo>
                  <a:pt x="7666604" y="595719"/>
                </a:lnTo>
                <a:lnTo>
                  <a:pt x="7664065" y="601537"/>
                </a:lnTo>
                <a:lnTo>
                  <a:pt x="7664063" y="601536"/>
                </a:lnTo>
                <a:close/>
                <a:moveTo>
                  <a:pt x="1967713" y="594773"/>
                </a:moveTo>
                <a:lnTo>
                  <a:pt x="1968410" y="596370"/>
                </a:lnTo>
                <a:lnTo>
                  <a:pt x="1967713" y="594774"/>
                </a:lnTo>
                <a:close/>
                <a:moveTo>
                  <a:pt x="7667873" y="592811"/>
                </a:moveTo>
                <a:cubicBezTo>
                  <a:pt x="7675683" y="596195"/>
                  <a:pt x="7683431" y="599599"/>
                  <a:pt x="7691177" y="603009"/>
                </a:cubicBezTo>
                <a:lnTo>
                  <a:pt x="7686034" y="614629"/>
                </a:lnTo>
                <a:cubicBezTo>
                  <a:pt x="7678287" y="611226"/>
                  <a:pt x="7670540" y="607828"/>
                  <a:pt x="7662793" y="604450"/>
                </a:cubicBezTo>
                <a:lnTo>
                  <a:pt x="7664065" y="601537"/>
                </a:lnTo>
                <a:lnTo>
                  <a:pt x="7687304" y="611727"/>
                </a:lnTo>
                <a:lnTo>
                  <a:pt x="7689844" y="605917"/>
                </a:lnTo>
                <a:lnTo>
                  <a:pt x="7666604" y="595719"/>
                </a:lnTo>
                <a:close/>
                <a:moveTo>
                  <a:pt x="1966443" y="591864"/>
                </a:moveTo>
                <a:lnTo>
                  <a:pt x="1967713" y="594774"/>
                </a:lnTo>
                <a:lnTo>
                  <a:pt x="1944489" y="604957"/>
                </a:lnTo>
                <a:lnTo>
                  <a:pt x="1943208" y="602050"/>
                </a:lnTo>
                <a:cubicBezTo>
                  <a:pt x="1950942" y="598640"/>
                  <a:pt x="1958690" y="595249"/>
                  <a:pt x="1966443" y="591864"/>
                </a:cubicBezTo>
                <a:close/>
                <a:moveTo>
                  <a:pt x="7643322" y="585586"/>
                </a:moveTo>
                <a:lnTo>
                  <a:pt x="7643362" y="585603"/>
                </a:lnTo>
                <a:lnTo>
                  <a:pt x="7640822" y="591433"/>
                </a:lnTo>
                <a:lnTo>
                  <a:pt x="7640809" y="591428"/>
                </a:lnTo>
                <a:close/>
                <a:moveTo>
                  <a:pt x="1990987" y="584676"/>
                </a:moveTo>
                <a:lnTo>
                  <a:pt x="1991713" y="586356"/>
                </a:lnTo>
                <a:lnTo>
                  <a:pt x="1990986" y="584676"/>
                </a:lnTo>
                <a:close/>
                <a:moveTo>
                  <a:pt x="2015917" y="578428"/>
                </a:moveTo>
                <a:lnTo>
                  <a:pt x="2018050" y="583413"/>
                </a:lnTo>
                <a:cubicBezTo>
                  <a:pt x="2010277" y="586734"/>
                  <a:pt x="2002518" y="590067"/>
                  <a:pt x="1994764" y="593420"/>
                </a:cubicBezTo>
                <a:lnTo>
                  <a:pt x="1991713" y="586356"/>
                </a:lnTo>
                <a:lnTo>
                  <a:pt x="1993507" y="590506"/>
                </a:lnTo>
                <a:cubicBezTo>
                  <a:pt x="2001260" y="587153"/>
                  <a:pt x="2009026" y="583813"/>
                  <a:pt x="2016798" y="580492"/>
                </a:cubicBezTo>
                <a:close/>
                <a:moveTo>
                  <a:pt x="7618790" y="578403"/>
                </a:moveTo>
                <a:lnTo>
                  <a:pt x="7617518" y="581400"/>
                </a:lnTo>
                <a:lnTo>
                  <a:pt x="7640809" y="591428"/>
                </a:lnTo>
                <a:lnTo>
                  <a:pt x="7639552" y="594347"/>
                </a:lnTo>
                <a:cubicBezTo>
                  <a:pt x="7631805" y="590988"/>
                  <a:pt x="7624057" y="587648"/>
                  <a:pt x="7616247" y="584321"/>
                </a:cubicBezTo>
                <a:close/>
                <a:moveTo>
                  <a:pt x="7619994" y="575564"/>
                </a:moveTo>
                <a:lnTo>
                  <a:pt x="7620007" y="575570"/>
                </a:lnTo>
                <a:lnTo>
                  <a:pt x="7618790" y="578403"/>
                </a:lnTo>
                <a:close/>
                <a:moveTo>
                  <a:pt x="2014303" y="574650"/>
                </a:moveTo>
                <a:lnTo>
                  <a:pt x="2015917" y="578428"/>
                </a:lnTo>
                <a:lnTo>
                  <a:pt x="2014301" y="574651"/>
                </a:lnTo>
                <a:close/>
                <a:moveTo>
                  <a:pt x="7621264" y="572643"/>
                </a:moveTo>
                <a:cubicBezTo>
                  <a:pt x="7629011" y="575977"/>
                  <a:pt x="7636821" y="579330"/>
                  <a:pt x="7644569" y="582689"/>
                </a:cubicBezTo>
                <a:lnTo>
                  <a:pt x="7643322" y="585586"/>
                </a:lnTo>
                <a:lnTo>
                  <a:pt x="7620007" y="575570"/>
                </a:lnTo>
                <a:close/>
                <a:moveTo>
                  <a:pt x="2013052" y="571735"/>
                </a:moveTo>
                <a:lnTo>
                  <a:pt x="2014301" y="574651"/>
                </a:lnTo>
                <a:lnTo>
                  <a:pt x="1990987" y="584676"/>
                </a:lnTo>
                <a:lnTo>
                  <a:pt x="1989728" y="581762"/>
                </a:lnTo>
                <a:cubicBezTo>
                  <a:pt x="1997495" y="578403"/>
                  <a:pt x="2005273" y="575062"/>
                  <a:pt x="2013052" y="571735"/>
                </a:cubicBezTo>
                <a:close/>
                <a:moveTo>
                  <a:pt x="2038897" y="567636"/>
                </a:moveTo>
                <a:lnTo>
                  <a:pt x="2040136" y="570560"/>
                </a:lnTo>
                <a:lnTo>
                  <a:pt x="2040135" y="570560"/>
                </a:lnTo>
                <a:close/>
                <a:moveTo>
                  <a:pt x="7572020" y="558680"/>
                </a:moveTo>
                <a:lnTo>
                  <a:pt x="7570795" y="561613"/>
                </a:lnTo>
                <a:lnTo>
                  <a:pt x="7570782" y="561607"/>
                </a:lnTo>
                <a:close/>
                <a:moveTo>
                  <a:pt x="2062252" y="557797"/>
                </a:moveTo>
                <a:lnTo>
                  <a:pt x="2064710" y="563651"/>
                </a:lnTo>
                <a:cubicBezTo>
                  <a:pt x="2056924" y="566915"/>
                  <a:pt x="2049145" y="570192"/>
                  <a:pt x="2041373" y="573481"/>
                </a:cubicBezTo>
                <a:lnTo>
                  <a:pt x="2040136" y="570560"/>
                </a:lnTo>
                <a:lnTo>
                  <a:pt x="2063477" y="560724"/>
                </a:lnTo>
                <a:close/>
                <a:moveTo>
                  <a:pt x="2061027" y="554869"/>
                </a:moveTo>
                <a:lnTo>
                  <a:pt x="2062252" y="557797"/>
                </a:lnTo>
                <a:lnTo>
                  <a:pt x="2061024" y="554871"/>
                </a:lnTo>
                <a:close/>
                <a:moveTo>
                  <a:pt x="7574464" y="552825"/>
                </a:moveTo>
                <a:cubicBezTo>
                  <a:pt x="7582275" y="556095"/>
                  <a:pt x="7590085" y="559384"/>
                  <a:pt x="7597896" y="562686"/>
                </a:cubicBezTo>
                <a:lnTo>
                  <a:pt x="7592943" y="574377"/>
                </a:lnTo>
                <a:cubicBezTo>
                  <a:pt x="7585132" y="571081"/>
                  <a:pt x="7577385" y="567798"/>
                  <a:pt x="7569575" y="564534"/>
                </a:cubicBezTo>
                <a:lnTo>
                  <a:pt x="7570795" y="561613"/>
                </a:lnTo>
                <a:lnTo>
                  <a:pt x="7594149" y="571456"/>
                </a:lnTo>
                <a:lnTo>
                  <a:pt x="7596626" y="565607"/>
                </a:lnTo>
                <a:cubicBezTo>
                  <a:pt x="7588815" y="562312"/>
                  <a:pt x="7581069" y="559022"/>
                  <a:pt x="7573257" y="555752"/>
                </a:cubicBezTo>
                <a:lnTo>
                  <a:pt x="7572020" y="558680"/>
                </a:lnTo>
                <a:close/>
                <a:moveTo>
                  <a:pt x="2059794" y="551942"/>
                </a:moveTo>
                <a:lnTo>
                  <a:pt x="2061024" y="554871"/>
                </a:lnTo>
                <a:lnTo>
                  <a:pt x="2037659" y="564712"/>
                </a:lnTo>
                <a:lnTo>
                  <a:pt x="2038897" y="567636"/>
                </a:lnTo>
                <a:lnTo>
                  <a:pt x="2036420" y="561791"/>
                </a:lnTo>
                <a:cubicBezTo>
                  <a:pt x="2044205" y="558495"/>
                  <a:pt x="2051997" y="555212"/>
                  <a:pt x="2059794" y="551942"/>
                </a:cubicBezTo>
                <a:close/>
                <a:moveTo>
                  <a:pt x="7549825" y="545973"/>
                </a:moveTo>
                <a:lnTo>
                  <a:pt x="7549826" y="545973"/>
                </a:lnTo>
                <a:lnTo>
                  <a:pt x="7547413" y="551840"/>
                </a:lnTo>
                <a:lnTo>
                  <a:pt x="7547411" y="551840"/>
                </a:lnTo>
                <a:close/>
                <a:moveTo>
                  <a:pt x="2084423" y="545108"/>
                </a:moveTo>
                <a:lnTo>
                  <a:pt x="2085607" y="547962"/>
                </a:lnTo>
                <a:lnTo>
                  <a:pt x="2084420" y="545109"/>
                </a:lnTo>
                <a:close/>
                <a:moveTo>
                  <a:pt x="7523983" y="542151"/>
                </a:moveTo>
                <a:lnTo>
                  <a:pt x="7547411" y="551840"/>
                </a:lnTo>
                <a:lnTo>
                  <a:pt x="7546206" y="554768"/>
                </a:lnTo>
                <a:cubicBezTo>
                  <a:pt x="7538396" y="551529"/>
                  <a:pt x="7530586" y="548303"/>
                  <a:pt x="7522775" y="545090"/>
                </a:cubicBezTo>
                <a:close/>
                <a:moveTo>
                  <a:pt x="2110277" y="541306"/>
                </a:moveTo>
                <a:lnTo>
                  <a:pt x="2111483" y="544239"/>
                </a:lnTo>
                <a:cubicBezTo>
                  <a:pt x="2103674" y="547446"/>
                  <a:pt x="2095870" y="550672"/>
                  <a:pt x="2088072" y="553904"/>
                </a:cubicBezTo>
                <a:lnTo>
                  <a:pt x="2085607" y="547962"/>
                </a:lnTo>
                <a:lnTo>
                  <a:pt x="2086858" y="550970"/>
                </a:lnTo>
                <a:close/>
                <a:moveTo>
                  <a:pt x="2109956" y="540527"/>
                </a:moveTo>
                <a:lnTo>
                  <a:pt x="2110277" y="541306"/>
                </a:lnTo>
                <a:lnTo>
                  <a:pt x="2110277" y="541306"/>
                </a:lnTo>
                <a:close/>
                <a:moveTo>
                  <a:pt x="7525573" y="538280"/>
                </a:moveTo>
                <a:lnTo>
                  <a:pt x="7523983" y="542151"/>
                </a:lnTo>
                <a:lnTo>
                  <a:pt x="7523981" y="542150"/>
                </a:lnTo>
                <a:close/>
                <a:moveTo>
                  <a:pt x="7527601" y="533343"/>
                </a:moveTo>
                <a:cubicBezTo>
                  <a:pt x="7535412" y="536562"/>
                  <a:pt x="7543222" y="539795"/>
                  <a:pt x="7551032" y="543039"/>
                </a:cubicBezTo>
                <a:lnTo>
                  <a:pt x="7549825" y="545973"/>
                </a:lnTo>
                <a:lnTo>
                  <a:pt x="7526394" y="536283"/>
                </a:lnTo>
                <a:lnTo>
                  <a:pt x="7525573" y="538280"/>
                </a:lnTo>
                <a:close/>
                <a:moveTo>
                  <a:pt x="2106651" y="532492"/>
                </a:moveTo>
                <a:lnTo>
                  <a:pt x="2109956" y="540527"/>
                </a:lnTo>
                <a:lnTo>
                  <a:pt x="2107858" y="535432"/>
                </a:lnTo>
                <a:lnTo>
                  <a:pt x="2084423" y="545108"/>
                </a:lnTo>
                <a:lnTo>
                  <a:pt x="2083208" y="542176"/>
                </a:lnTo>
                <a:cubicBezTo>
                  <a:pt x="2091012" y="538937"/>
                  <a:pt x="2098828" y="535705"/>
                  <a:pt x="2106651" y="532492"/>
                </a:cubicBezTo>
                <a:close/>
                <a:moveTo>
                  <a:pt x="2131341" y="525831"/>
                </a:moveTo>
                <a:lnTo>
                  <a:pt x="2131833" y="527041"/>
                </a:lnTo>
                <a:lnTo>
                  <a:pt x="2131340" y="525831"/>
                </a:lnTo>
                <a:close/>
                <a:moveTo>
                  <a:pt x="2156051" y="519259"/>
                </a:moveTo>
                <a:lnTo>
                  <a:pt x="2158423" y="525151"/>
                </a:lnTo>
                <a:cubicBezTo>
                  <a:pt x="2150580" y="528307"/>
                  <a:pt x="2142752" y="531476"/>
                  <a:pt x="2134928" y="534657"/>
                </a:cubicBezTo>
                <a:lnTo>
                  <a:pt x="2131833" y="527041"/>
                </a:lnTo>
                <a:lnTo>
                  <a:pt x="2133734" y="531711"/>
                </a:lnTo>
                <a:cubicBezTo>
                  <a:pt x="2141563" y="528530"/>
                  <a:pt x="2149393" y="525361"/>
                  <a:pt x="2157236" y="522205"/>
                </a:cubicBezTo>
                <a:close/>
                <a:moveTo>
                  <a:pt x="7479342" y="517138"/>
                </a:moveTo>
                <a:lnTo>
                  <a:pt x="7479354" y="517143"/>
                </a:lnTo>
                <a:lnTo>
                  <a:pt x="7478223" y="519940"/>
                </a:lnTo>
                <a:close/>
                <a:moveTo>
                  <a:pt x="2154866" y="516312"/>
                </a:moveTo>
                <a:lnTo>
                  <a:pt x="2156051" y="519259"/>
                </a:lnTo>
                <a:lnTo>
                  <a:pt x="2154865" y="516313"/>
                </a:lnTo>
                <a:close/>
                <a:moveTo>
                  <a:pt x="7480548" y="514191"/>
                </a:moveTo>
                <a:cubicBezTo>
                  <a:pt x="7488422" y="517354"/>
                  <a:pt x="7496232" y="520535"/>
                  <a:pt x="7504107" y="523729"/>
                </a:cubicBezTo>
                <a:lnTo>
                  <a:pt x="7499281" y="535489"/>
                </a:lnTo>
                <a:cubicBezTo>
                  <a:pt x="7491469" y="532301"/>
                  <a:pt x="7483659" y="529126"/>
                  <a:pt x="7475785" y="525971"/>
                </a:cubicBezTo>
                <a:lnTo>
                  <a:pt x="7478223" y="519940"/>
                </a:lnTo>
                <a:lnTo>
                  <a:pt x="7476992" y="523024"/>
                </a:lnTo>
                <a:cubicBezTo>
                  <a:pt x="7484802" y="526186"/>
                  <a:pt x="7492676" y="529361"/>
                  <a:pt x="7500487" y="532549"/>
                </a:cubicBezTo>
                <a:lnTo>
                  <a:pt x="7502900" y="526669"/>
                </a:lnTo>
                <a:lnTo>
                  <a:pt x="7479354" y="517143"/>
                </a:lnTo>
                <a:close/>
                <a:moveTo>
                  <a:pt x="2153679" y="513366"/>
                </a:moveTo>
                <a:lnTo>
                  <a:pt x="2154865" y="516313"/>
                </a:lnTo>
                <a:lnTo>
                  <a:pt x="2131341" y="525831"/>
                </a:lnTo>
                <a:lnTo>
                  <a:pt x="2130146" y="522891"/>
                </a:lnTo>
                <a:cubicBezTo>
                  <a:pt x="2137982" y="519703"/>
                  <a:pt x="2145830" y="516528"/>
                  <a:pt x="2153679" y="513366"/>
                </a:cubicBezTo>
                <a:close/>
                <a:moveTo>
                  <a:pt x="7455757" y="507672"/>
                </a:moveTo>
                <a:lnTo>
                  <a:pt x="7455782" y="507682"/>
                </a:lnTo>
                <a:lnTo>
                  <a:pt x="7453433" y="513582"/>
                </a:lnTo>
                <a:lnTo>
                  <a:pt x="7453407" y="513572"/>
                </a:lnTo>
                <a:close/>
                <a:moveTo>
                  <a:pt x="2178426" y="506876"/>
                </a:moveTo>
                <a:lnTo>
                  <a:pt x="2178507" y="507081"/>
                </a:lnTo>
                <a:lnTo>
                  <a:pt x="2178425" y="506876"/>
                </a:lnTo>
                <a:close/>
                <a:moveTo>
                  <a:pt x="7429826" y="504234"/>
                </a:moveTo>
                <a:lnTo>
                  <a:pt x="7453407" y="513572"/>
                </a:lnTo>
                <a:lnTo>
                  <a:pt x="7452227" y="516534"/>
                </a:lnTo>
                <a:cubicBezTo>
                  <a:pt x="7444417" y="513404"/>
                  <a:pt x="7436543" y="510286"/>
                  <a:pt x="7428669" y="507181"/>
                </a:cubicBezTo>
                <a:close/>
                <a:moveTo>
                  <a:pt x="2204346" y="503442"/>
                </a:moveTo>
                <a:lnTo>
                  <a:pt x="2205508" y="506393"/>
                </a:lnTo>
                <a:cubicBezTo>
                  <a:pt x="2197653" y="509492"/>
                  <a:pt x="2189798" y="512604"/>
                  <a:pt x="2181956" y="515728"/>
                </a:cubicBezTo>
                <a:lnTo>
                  <a:pt x="2178507" y="507081"/>
                </a:lnTo>
                <a:lnTo>
                  <a:pt x="2180781" y="512775"/>
                </a:lnTo>
                <a:close/>
                <a:moveTo>
                  <a:pt x="7431024" y="501181"/>
                </a:moveTo>
                <a:lnTo>
                  <a:pt x="7429826" y="504234"/>
                </a:lnTo>
                <a:lnTo>
                  <a:pt x="7429811" y="504228"/>
                </a:lnTo>
                <a:close/>
                <a:moveTo>
                  <a:pt x="2203225" y="500598"/>
                </a:moveTo>
                <a:lnTo>
                  <a:pt x="2204346" y="503441"/>
                </a:lnTo>
                <a:lnTo>
                  <a:pt x="2204346" y="503442"/>
                </a:lnTo>
                <a:close/>
                <a:moveTo>
                  <a:pt x="7433304" y="495370"/>
                </a:moveTo>
                <a:cubicBezTo>
                  <a:pt x="7441242" y="498475"/>
                  <a:pt x="7449052" y="501599"/>
                  <a:pt x="7456926" y="504736"/>
                </a:cubicBezTo>
                <a:lnTo>
                  <a:pt x="7455757" y="507672"/>
                </a:lnTo>
                <a:lnTo>
                  <a:pt x="7432161" y="498323"/>
                </a:lnTo>
                <a:lnTo>
                  <a:pt x="7431024" y="501181"/>
                </a:lnTo>
                <a:close/>
                <a:moveTo>
                  <a:pt x="2200853" y="494576"/>
                </a:moveTo>
                <a:lnTo>
                  <a:pt x="2203225" y="500598"/>
                </a:lnTo>
                <a:lnTo>
                  <a:pt x="2202016" y="497529"/>
                </a:lnTo>
                <a:lnTo>
                  <a:pt x="2178426" y="506876"/>
                </a:lnTo>
                <a:lnTo>
                  <a:pt x="2177250" y="503930"/>
                </a:lnTo>
                <a:cubicBezTo>
                  <a:pt x="2185111" y="500799"/>
                  <a:pt x="2192980" y="497681"/>
                  <a:pt x="2200853" y="494576"/>
                </a:cubicBezTo>
                <a:close/>
                <a:moveTo>
                  <a:pt x="2226857" y="491473"/>
                </a:moveTo>
                <a:lnTo>
                  <a:pt x="2227919" y="494195"/>
                </a:lnTo>
                <a:lnTo>
                  <a:pt x="2227918" y="494195"/>
                </a:lnTo>
                <a:close/>
                <a:moveTo>
                  <a:pt x="7408538" y="489058"/>
                </a:moveTo>
                <a:lnTo>
                  <a:pt x="7408539" y="489058"/>
                </a:lnTo>
                <a:lnTo>
                  <a:pt x="7406592" y="494094"/>
                </a:lnTo>
                <a:close/>
                <a:moveTo>
                  <a:pt x="7384266" y="481557"/>
                </a:moveTo>
                <a:lnTo>
                  <a:pt x="7382631" y="485794"/>
                </a:lnTo>
                <a:cubicBezTo>
                  <a:pt x="7390505" y="488836"/>
                  <a:pt x="7398379" y="491896"/>
                  <a:pt x="7406253" y="494970"/>
                </a:cubicBezTo>
                <a:lnTo>
                  <a:pt x="7406592" y="494094"/>
                </a:lnTo>
                <a:lnTo>
                  <a:pt x="7405110" y="497929"/>
                </a:lnTo>
                <a:cubicBezTo>
                  <a:pt x="7397236" y="494855"/>
                  <a:pt x="7389362" y="491801"/>
                  <a:pt x="7381488" y="488753"/>
                </a:cubicBezTo>
                <a:close/>
                <a:moveTo>
                  <a:pt x="7384917" y="479870"/>
                </a:moveTo>
                <a:lnTo>
                  <a:pt x="7384917" y="479870"/>
                </a:lnTo>
                <a:lnTo>
                  <a:pt x="7384266" y="481557"/>
                </a:lnTo>
                <a:close/>
                <a:moveTo>
                  <a:pt x="7386060" y="476910"/>
                </a:moveTo>
                <a:cubicBezTo>
                  <a:pt x="7393934" y="479958"/>
                  <a:pt x="7401807" y="483019"/>
                  <a:pt x="7409681" y="486099"/>
                </a:cubicBezTo>
                <a:lnTo>
                  <a:pt x="7408538" y="489058"/>
                </a:lnTo>
                <a:lnTo>
                  <a:pt x="7384917" y="479870"/>
                </a:lnTo>
                <a:close/>
                <a:moveTo>
                  <a:pt x="2248110" y="476142"/>
                </a:moveTo>
                <a:lnTo>
                  <a:pt x="2252682" y="487991"/>
                </a:lnTo>
                <a:cubicBezTo>
                  <a:pt x="2244803" y="491033"/>
                  <a:pt x="2236934" y="494087"/>
                  <a:pt x="2229073" y="497154"/>
                </a:cubicBezTo>
                <a:lnTo>
                  <a:pt x="2227919" y="494195"/>
                </a:lnTo>
                <a:lnTo>
                  <a:pt x="2251539" y="485032"/>
                </a:lnTo>
                <a:lnTo>
                  <a:pt x="2249253" y="479107"/>
                </a:lnTo>
                <a:cubicBezTo>
                  <a:pt x="2241366" y="482149"/>
                  <a:pt x="2233486" y="485210"/>
                  <a:pt x="2225613" y="488277"/>
                </a:cubicBezTo>
                <a:lnTo>
                  <a:pt x="2226857" y="491473"/>
                </a:lnTo>
                <a:lnTo>
                  <a:pt x="2224456" y="485318"/>
                </a:lnTo>
                <a:cubicBezTo>
                  <a:pt x="2232336" y="482251"/>
                  <a:pt x="2240217" y="479190"/>
                  <a:pt x="2248110" y="476142"/>
                </a:cubicBezTo>
                <a:close/>
                <a:moveTo>
                  <a:pt x="7361190" y="470748"/>
                </a:moveTo>
                <a:lnTo>
                  <a:pt x="7361232" y="470764"/>
                </a:lnTo>
                <a:lnTo>
                  <a:pt x="7358945" y="476695"/>
                </a:lnTo>
                <a:lnTo>
                  <a:pt x="7358931" y="476690"/>
                </a:lnTo>
                <a:close/>
                <a:moveTo>
                  <a:pt x="2272927" y="470014"/>
                </a:moveTo>
                <a:lnTo>
                  <a:pt x="2273239" y="470834"/>
                </a:lnTo>
                <a:lnTo>
                  <a:pt x="2272926" y="470014"/>
                </a:lnTo>
                <a:close/>
                <a:moveTo>
                  <a:pt x="7335223" y="467695"/>
                </a:moveTo>
                <a:lnTo>
                  <a:pt x="7358931" y="476690"/>
                </a:lnTo>
                <a:lnTo>
                  <a:pt x="7357802" y="479660"/>
                </a:lnTo>
                <a:cubicBezTo>
                  <a:pt x="7349928" y="476644"/>
                  <a:pt x="7341991" y="473640"/>
                  <a:pt x="7334117" y="470649"/>
                </a:cubicBezTo>
                <a:close/>
                <a:moveTo>
                  <a:pt x="7336359" y="464661"/>
                </a:moveTo>
                <a:lnTo>
                  <a:pt x="7335223" y="467695"/>
                </a:lnTo>
                <a:lnTo>
                  <a:pt x="7335196" y="467684"/>
                </a:lnTo>
                <a:close/>
                <a:moveTo>
                  <a:pt x="2297713" y="463828"/>
                </a:moveTo>
                <a:lnTo>
                  <a:pt x="2300015" y="469919"/>
                </a:lnTo>
                <a:cubicBezTo>
                  <a:pt x="2292109" y="472904"/>
                  <a:pt x="2284216" y="475901"/>
                  <a:pt x="2276324" y="478917"/>
                </a:cubicBezTo>
                <a:lnTo>
                  <a:pt x="2273239" y="470834"/>
                </a:lnTo>
                <a:lnTo>
                  <a:pt x="2275193" y="475952"/>
                </a:lnTo>
                <a:cubicBezTo>
                  <a:pt x="2283086" y="472935"/>
                  <a:pt x="2290985" y="469938"/>
                  <a:pt x="2298891" y="466947"/>
                </a:cubicBezTo>
                <a:close/>
                <a:moveTo>
                  <a:pt x="2296649" y="461010"/>
                </a:moveTo>
                <a:lnTo>
                  <a:pt x="2297713" y="463828"/>
                </a:lnTo>
                <a:lnTo>
                  <a:pt x="2296649" y="461011"/>
                </a:lnTo>
                <a:close/>
                <a:moveTo>
                  <a:pt x="7338562" y="458775"/>
                </a:moveTo>
                <a:cubicBezTo>
                  <a:pt x="7346499" y="461766"/>
                  <a:pt x="7354437" y="464776"/>
                  <a:pt x="7362311" y="467798"/>
                </a:cubicBezTo>
                <a:lnTo>
                  <a:pt x="7361190" y="470748"/>
                </a:lnTo>
                <a:lnTo>
                  <a:pt x="7337482" y="461740"/>
                </a:lnTo>
                <a:lnTo>
                  <a:pt x="7336359" y="464661"/>
                </a:lnTo>
                <a:close/>
                <a:moveTo>
                  <a:pt x="2295526" y="458038"/>
                </a:moveTo>
                <a:lnTo>
                  <a:pt x="2296649" y="461011"/>
                </a:lnTo>
                <a:lnTo>
                  <a:pt x="2272927" y="470014"/>
                </a:lnTo>
                <a:lnTo>
                  <a:pt x="2271795" y="467049"/>
                </a:lnTo>
                <a:cubicBezTo>
                  <a:pt x="2279701" y="464033"/>
                  <a:pt x="2287607" y="461029"/>
                  <a:pt x="2295526" y="458038"/>
                </a:cubicBezTo>
                <a:close/>
                <a:moveTo>
                  <a:pt x="2320775" y="453073"/>
                </a:moveTo>
                <a:lnTo>
                  <a:pt x="2322628" y="458032"/>
                </a:lnTo>
                <a:lnTo>
                  <a:pt x="2322627" y="458032"/>
                </a:lnTo>
                <a:close/>
                <a:moveTo>
                  <a:pt x="2346407" y="449194"/>
                </a:moveTo>
                <a:lnTo>
                  <a:pt x="2347507" y="452171"/>
                </a:lnTo>
                <a:cubicBezTo>
                  <a:pt x="2339575" y="455105"/>
                  <a:pt x="2331657" y="458051"/>
                  <a:pt x="2323739" y="461004"/>
                </a:cubicBezTo>
                <a:lnTo>
                  <a:pt x="2322628" y="458032"/>
                </a:lnTo>
                <a:close/>
                <a:moveTo>
                  <a:pt x="2345588" y="446975"/>
                </a:moveTo>
                <a:lnTo>
                  <a:pt x="2346408" y="449193"/>
                </a:lnTo>
                <a:lnTo>
                  <a:pt x="2346407" y="449194"/>
                </a:lnTo>
                <a:close/>
                <a:moveTo>
                  <a:pt x="7289857" y="443948"/>
                </a:moveTo>
                <a:lnTo>
                  <a:pt x="7289884" y="443958"/>
                </a:lnTo>
                <a:lnTo>
                  <a:pt x="7288764" y="446962"/>
                </a:lnTo>
                <a:close/>
                <a:moveTo>
                  <a:pt x="7291000" y="440969"/>
                </a:moveTo>
                <a:cubicBezTo>
                  <a:pt x="7298938" y="443909"/>
                  <a:pt x="7306875" y="446862"/>
                  <a:pt x="7314813" y="449828"/>
                </a:cubicBezTo>
                <a:lnTo>
                  <a:pt x="7310368" y="461721"/>
                </a:lnTo>
                <a:cubicBezTo>
                  <a:pt x="7302431" y="458762"/>
                  <a:pt x="7294493" y="455816"/>
                  <a:pt x="7286556" y="452876"/>
                </a:cubicBezTo>
                <a:lnTo>
                  <a:pt x="7288764" y="446962"/>
                </a:lnTo>
                <a:lnTo>
                  <a:pt x="7287698" y="449898"/>
                </a:lnTo>
                <a:cubicBezTo>
                  <a:pt x="7295636" y="452838"/>
                  <a:pt x="7303573" y="455784"/>
                  <a:pt x="7311447" y="458749"/>
                </a:cubicBezTo>
                <a:lnTo>
                  <a:pt x="7313669" y="452800"/>
                </a:lnTo>
                <a:lnTo>
                  <a:pt x="7289884" y="443958"/>
                </a:lnTo>
                <a:close/>
                <a:moveTo>
                  <a:pt x="2343106" y="440258"/>
                </a:moveTo>
                <a:lnTo>
                  <a:pt x="2345588" y="446975"/>
                </a:lnTo>
                <a:lnTo>
                  <a:pt x="2344204" y="443236"/>
                </a:lnTo>
                <a:cubicBezTo>
                  <a:pt x="2336267" y="446176"/>
                  <a:pt x="2328329" y="449123"/>
                  <a:pt x="2320405" y="452082"/>
                </a:cubicBezTo>
                <a:lnTo>
                  <a:pt x="2320775" y="453073"/>
                </a:lnTo>
                <a:lnTo>
                  <a:pt x="2319294" y="449110"/>
                </a:lnTo>
                <a:cubicBezTo>
                  <a:pt x="2327224" y="446145"/>
                  <a:pt x="2335162" y="443198"/>
                  <a:pt x="2343106" y="440258"/>
                </a:cubicBezTo>
                <a:close/>
                <a:moveTo>
                  <a:pt x="2369157" y="437668"/>
                </a:moveTo>
                <a:lnTo>
                  <a:pt x="2370179" y="440461"/>
                </a:lnTo>
                <a:lnTo>
                  <a:pt x="2370176" y="440461"/>
                </a:lnTo>
                <a:close/>
                <a:moveTo>
                  <a:pt x="7242232" y="426517"/>
                </a:moveTo>
                <a:lnTo>
                  <a:pt x="7240073" y="432486"/>
                </a:lnTo>
                <a:cubicBezTo>
                  <a:pt x="7248011" y="435362"/>
                  <a:pt x="7255948" y="438252"/>
                  <a:pt x="7263886" y="441154"/>
                </a:cubicBezTo>
                <a:lnTo>
                  <a:pt x="7266044" y="435185"/>
                </a:lnTo>
                <a:cubicBezTo>
                  <a:pt x="7258107" y="432283"/>
                  <a:pt x="7250169" y="429393"/>
                  <a:pt x="7242232" y="426517"/>
                </a:cubicBezTo>
                <a:close/>
                <a:moveTo>
                  <a:pt x="7243312" y="423526"/>
                </a:moveTo>
                <a:cubicBezTo>
                  <a:pt x="7251249" y="426409"/>
                  <a:pt x="7259187" y="429298"/>
                  <a:pt x="7267188" y="432206"/>
                </a:cubicBezTo>
                <a:lnTo>
                  <a:pt x="7262807" y="444132"/>
                </a:lnTo>
                <a:cubicBezTo>
                  <a:pt x="7254869" y="441230"/>
                  <a:pt x="7246932" y="438347"/>
                  <a:pt x="7238994" y="435470"/>
                </a:cubicBezTo>
                <a:close/>
                <a:moveTo>
                  <a:pt x="2390745" y="422853"/>
                </a:moveTo>
                <a:lnTo>
                  <a:pt x="2395055" y="434791"/>
                </a:lnTo>
                <a:cubicBezTo>
                  <a:pt x="2387118" y="437661"/>
                  <a:pt x="2379187" y="440544"/>
                  <a:pt x="2371269" y="443440"/>
                </a:cubicBezTo>
                <a:lnTo>
                  <a:pt x="2370179" y="440461"/>
                </a:lnTo>
                <a:lnTo>
                  <a:pt x="2393976" y="431806"/>
                </a:lnTo>
                <a:lnTo>
                  <a:pt x="2391817" y="425837"/>
                </a:lnTo>
                <a:cubicBezTo>
                  <a:pt x="2383874" y="428708"/>
                  <a:pt x="2375930" y="431597"/>
                  <a:pt x="2367998" y="434492"/>
                </a:cubicBezTo>
                <a:lnTo>
                  <a:pt x="2369157" y="437668"/>
                </a:lnTo>
                <a:lnTo>
                  <a:pt x="2366906" y="431514"/>
                </a:lnTo>
                <a:cubicBezTo>
                  <a:pt x="2374843" y="428612"/>
                  <a:pt x="2382787" y="425723"/>
                  <a:pt x="2390745" y="422853"/>
                </a:cubicBezTo>
                <a:close/>
                <a:moveTo>
                  <a:pt x="7218356" y="417925"/>
                </a:moveTo>
                <a:lnTo>
                  <a:pt x="7218357" y="417925"/>
                </a:lnTo>
                <a:lnTo>
                  <a:pt x="7216850" y="422096"/>
                </a:lnTo>
                <a:close/>
                <a:moveTo>
                  <a:pt x="7193441" y="412206"/>
                </a:moveTo>
                <a:lnTo>
                  <a:pt x="7192321" y="415404"/>
                </a:lnTo>
                <a:cubicBezTo>
                  <a:pt x="7200259" y="418224"/>
                  <a:pt x="7208260" y="421056"/>
                  <a:pt x="7216197" y="423901"/>
                </a:cubicBezTo>
                <a:lnTo>
                  <a:pt x="7216850" y="422096"/>
                </a:lnTo>
                <a:lnTo>
                  <a:pt x="7215118" y="426891"/>
                </a:lnTo>
                <a:cubicBezTo>
                  <a:pt x="7207181" y="424047"/>
                  <a:pt x="7199243" y="421215"/>
                  <a:pt x="7191242" y="418395"/>
                </a:cubicBezTo>
                <a:close/>
                <a:moveTo>
                  <a:pt x="7194417" y="409416"/>
                </a:moveTo>
                <a:lnTo>
                  <a:pt x="7194430" y="409421"/>
                </a:lnTo>
                <a:lnTo>
                  <a:pt x="7193441" y="412206"/>
                </a:lnTo>
                <a:close/>
                <a:moveTo>
                  <a:pt x="2439589" y="408762"/>
                </a:moveTo>
                <a:lnTo>
                  <a:pt x="2441256" y="413486"/>
                </a:lnTo>
                <a:lnTo>
                  <a:pt x="2439586" y="408763"/>
                </a:lnTo>
                <a:close/>
                <a:moveTo>
                  <a:pt x="7195496" y="406419"/>
                </a:moveTo>
                <a:cubicBezTo>
                  <a:pt x="7203497" y="409245"/>
                  <a:pt x="7211435" y="412083"/>
                  <a:pt x="7219436" y="414934"/>
                </a:cubicBezTo>
                <a:lnTo>
                  <a:pt x="7218356" y="417925"/>
                </a:lnTo>
                <a:lnTo>
                  <a:pt x="7194430" y="409421"/>
                </a:lnTo>
                <a:close/>
                <a:moveTo>
                  <a:pt x="2438527" y="405771"/>
                </a:moveTo>
                <a:lnTo>
                  <a:pt x="2439586" y="408763"/>
                </a:lnTo>
                <a:lnTo>
                  <a:pt x="2415687" y="417259"/>
                </a:lnTo>
                <a:lnTo>
                  <a:pt x="2417820" y="423240"/>
                </a:lnTo>
                <a:cubicBezTo>
                  <a:pt x="2425777" y="420395"/>
                  <a:pt x="2433733" y="417563"/>
                  <a:pt x="2441702" y="414750"/>
                </a:cubicBezTo>
                <a:lnTo>
                  <a:pt x="2441256" y="413486"/>
                </a:lnTo>
                <a:lnTo>
                  <a:pt x="2442763" y="417747"/>
                </a:lnTo>
                <a:cubicBezTo>
                  <a:pt x="2434800" y="420560"/>
                  <a:pt x="2426837" y="423386"/>
                  <a:pt x="2418887" y="426231"/>
                </a:cubicBezTo>
                <a:lnTo>
                  <a:pt x="2414614" y="414268"/>
                </a:lnTo>
                <a:cubicBezTo>
                  <a:pt x="2422583" y="411423"/>
                  <a:pt x="2430553" y="408591"/>
                  <a:pt x="2438527" y="405771"/>
                </a:cubicBezTo>
                <a:close/>
                <a:moveTo>
                  <a:pt x="7170449" y="400981"/>
                </a:moveTo>
                <a:lnTo>
                  <a:pt x="7170477" y="400990"/>
                </a:lnTo>
                <a:lnTo>
                  <a:pt x="7168381" y="406984"/>
                </a:lnTo>
                <a:lnTo>
                  <a:pt x="7168353" y="406975"/>
                </a:lnTo>
                <a:close/>
                <a:moveTo>
                  <a:pt x="2463528" y="400355"/>
                </a:moveTo>
                <a:lnTo>
                  <a:pt x="2465624" y="406349"/>
                </a:lnTo>
                <a:lnTo>
                  <a:pt x="2465623" y="406349"/>
                </a:lnTo>
                <a:lnTo>
                  <a:pt x="2463527" y="400355"/>
                </a:lnTo>
                <a:close/>
                <a:moveTo>
                  <a:pt x="7144394" y="398653"/>
                </a:moveTo>
                <a:lnTo>
                  <a:pt x="7168353" y="406975"/>
                </a:lnTo>
                <a:lnTo>
                  <a:pt x="7167302" y="409981"/>
                </a:lnTo>
                <a:cubicBezTo>
                  <a:pt x="7159365" y="407187"/>
                  <a:pt x="7151364" y="404412"/>
                  <a:pt x="7143363" y="401650"/>
                </a:cubicBezTo>
                <a:close/>
                <a:moveTo>
                  <a:pt x="2489581" y="398025"/>
                </a:moveTo>
                <a:lnTo>
                  <a:pt x="2490616" y="401028"/>
                </a:lnTo>
                <a:cubicBezTo>
                  <a:pt x="2482628" y="403784"/>
                  <a:pt x="2474647" y="406559"/>
                  <a:pt x="2466671" y="409346"/>
                </a:cubicBezTo>
                <a:lnTo>
                  <a:pt x="2465624" y="406349"/>
                </a:lnTo>
                <a:close/>
                <a:moveTo>
                  <a:pt x="7145495" y="395452"/>
                </a:moveTo>
                <a:lnTo>
                  <a:pt x="7144394" y="398653"/>
                </a:lnTo>
                <a:lnTo>
                  <a:pt x="7144379" y="398647"/>
                </a:lnTo>
                <a:close/>
                <a:moveTo>
                  <a:pt x="2488546" y="395024"/>
                </a:moveTo>
                <a:lnTo>
                  <a:pt x="2489581" y="398024"/>
                </a:lnTo>
                <a:lnTo>
                  <a:pt x="2489581" y="398025"/>
                </a:lnTo>
                <a:close/>
                <a:moveTo>
                  <a:pt x="7147490" y="389649"/>
                </a:moveTo>
                <a:cubicBezTo>
                  <a:pt x="7155492" y="392417"/>
                  <a:pt x="7163493" y="395199"/>
                  <a:pt x="7171494" y="397993"/>
                </a:cubicBezTo>
                <a:lnTo>
                  <a:pt x="7170449" y="400981"/>
                </a:lnTo>
                <a:lnTo>
                  <a:pt x="7146474" y="392646"/>
                </a:lnTo>
                <a:lnTo>
                  <a:pt x="7145495" y="395452"/>
                </a:lnTo>
                <a:close/>
                <a:moveTo>
                  <a:pt x="2486477" y="389020"/>
                </a:moveTo>
                <a:lnTo>
                  <a:pt x="2488546" y="395024"/>
                </a:lnTo>
                <a:lnTo>
                  <a:pt x="2487512" y="392024"/>
                </a:lnTo>
                <a:lnTo>
                  <a:pt x="2463528" y="400355"/>
                </a:lnTo>
                <a:lnTo>
                  <a:pt x="2462480" y="397358"/>
                </a:lnTo>
                <a:cubicBezTo>
                  <a:pt x="2470475" y="394564"/>
                  <a:pt x="2478470" y="391789"/>
                  <a:pt x="2486477" y="389020"/>
                </a:cubicBezTo>
                <a:close/>
                <a:moveTo>
                  <a:pt x="7122457" y="384392"/>
                </a:moveTo>
                <a:lnTo>
                  <a:pt x="7122471" y="384397"/>
                </a:lnTo>
                <a:lnTo>
                  <a:pt x="7120439" y="390404"/>
                </a:lnTo>
                <a:lnTo>
                  <a:pt x="7120397" y="390390"/>
                </a:lnTo>
                <a:close/>
                <a:moveTo>
                  <a:pt x="7096437" y="382257"/>
                </a:moveTo>
                <a:lnTo>
                  <a:pt x="7120397" y="390390"/>
                </a:lnTo>
                <a:lnTo>
                  <a:pt x="7119360" y="393408"/>
                </a:lnTo>
                <a:cubicBezTo>
                  <a:pt x="7111422" y="390684"/>
                  <a:pt x="7103421" y="387966"/>
                  <a:pt x="7095420" y="385267"/>
                </a:cubicBezTo>
                <a:close/>
                <a:moveTo>
                  <a:pt x="7098469" y="376238"/>
                </a:moveTo>
                <a:lnTo>
                  <a:pt x="7098470" y="376238"/>
                </a:lnTo>
                <a:lnTo>
                  <a:pt x="7096437" y="382257"/>
                </a:lnTo>
                <a:lnTo>
                  <a:pt x="7096436" y="382257"/>
                </a:lnTo>
                <a:close/>
                <a:moveTo>
                  <a:pt x="2535506" y="375641"/>
                </a:moveTo>
                <a:lnTo>
                  <a:pt x="2537537" y="381660"/>
                </a:lnTo>
                <a:lnTo>
                  <a:pt x="2537533" y="381662"/>
                </a:lnTo>
                <a:lnTo>
                  <a:pt x="2535504" y="375642"/>
                </a:lnTo>
                <a:close/>
                <a:moveTo>
                  <a:pt x="7099484" y="373234"/>
                </a:moveTo>
                <a:cubicBezTo>
                  <a:pt x="7107485" y="375939"/>
                  <a:pt x="7115486" y="378657"/>
                  <a:pt x="7123487" y="381394"/>
                </a:cubicBezTo>
                <a:lnTo>
                  <a:pt x="7122457" y="384392"/>
                </a:lnTo>
                <a:lnTo>
                  <a:pt x="7098470" y="376238"/>
                </a:lnTo>
                <a:close/>
                <a:moveTo>
                  <a:pt x="2534489" y="372631"/>
                </a:moveTo>
                <a:lnTo>
                  <a:pt x="2535504" y="375642"/>
                </a:lnTo>
                <a:lnTo>
                  <a:pt x="2511509" y="383788"/>
                </a:lnTo>
                <a:lnTo>
                  <a:pt x="2513559" y="389795"/>
                </a:lnTo>
                <a:lnTo>
                  <a:pt x="2537533" y="381662"/>
                </a:lnTo>
                <a:lnTo>
                  <a:pt x="2538546" y="384670"/>
                </a:lnTo>
                <a:cubicBezTo>
                  <a:pt x="2530552" y="387363"/>
                  <a:pt x="2522563" y="390074"/>
                  <a:pt x="2514581" y="392798"/>
                </a:cubicBezTo>
                <a:lnTo>
                  <a:pt x="2510480" y="380778"/>
                </a:lnTo>
                <a:cubicBezTo>
                  <a:pt x="2518475" y="378054"/>
                  <a:pt x="2526482" y="375336"/>
                  <a:pt x="2534489" y="372631"/>
                </a:cubicBezTo>
                <a:close/>
                <a:moveTo>
                  <a:pt x="2559540" y="367582"/>
                </a:moveTo>
                <a:lnTo>
                  <a:pt x="2560536" y="370568"/>
                </a:lnTo>
                <a:lnTo>
                  <a:pt x="2559539" y="367582"/>
                </a:lnTo>
                <a:close/>
                <a:moveTo>
                  <a:pt x="2585605" y="365634"/>
                </a:moveTo>
                <a:lnTo>
                  <a:pt x="2586597" y="368649"/>
                </a:lnTo>
                <a:cubicBezTo>
                  <a:pt x="2578577" y="371291"/>
                  <a:pt x="2570563" y="373952"/>
                  <a:pt x="2562555" y="376619"/>
                </a:cubicBezTo>
                <a:lnTo>
                  <a:pt x="2560536" y="370568"/>
                </a:lnTo>
                <a:lnTo>
                  <a:pt x="2561552" y="373609"/>
                </a:lnTo>
                <a:close/>
                <a:moveTo>
                  <a:pt x="2584693" y="362863"/>
                </a:moveTo>
                <a:lnTo>
                  <a:pt x="2585606" y="365633"/>
                </a:lnTo>
                <a:lnTo>
                  <a:pt x="2585605" y="365634"/>
                </a:lnTo>
                <a:close/>
                <a:moveTo>
                  <a:pt x="7050272" y="360178"/>
                </a:moveTo>
                <a:lnTo>
                  <a:pt x="7050286" y="360183"/>
                </a:lnTo>
                <a:lnTo>
                  <a:pt x="7049348" y="363012"/>
                </a:lnTo>
                <a:close/>
                <a:moveTo>
                  <a:pt x="7051288" y="357162"/>
                </a:moveTo>
                <a:cubicBezTo>
                  <a:pt x="7059352" y="359810"/>
                  <a:pt x="7067353" y="362477"/>
                  <a:pt x="7075418" y="365157"/>
                </a:cubicBezTo>
                <a:lnTo>
                  <a:pt x="7071354" y="377203"/>
                </a:lnTo>
                <a:cubicBezTo>
                  <a:pt x="7063353" y="374529"/>
                  <a:pt x="7055352" y="371869"/>
                  <a:pt x="7047287" y="369221"/>
                </a:cubicBezTo>
                <a:lnTo>
                  <a:pt x="7049348" y="363012"/>
                </a:lnTo>
                <a:lnTo>
                  <a:pt x="7048303" y="366211"/>
                </a:lnTo>
                <a:cubicBezTo>
                  <a:pt x="7056368" y="368853"/>
                  <a:pt x="7064369" y="371513"/>
                  <a:pt x="7072369" y="374193"/>
                </a:cubicBezTo>
                <a:lnTo>
                  <a:pt x="7074402" y="368167"/>
                </a:lnTo>
                <a:lnTo>
                  <a:pt x="7050286" y="360183"/>
                </a:lnTo>
                <a:close/>
                <a:moveTo>
                  <a:pt x="2582628" y="356591"/>
                </a:moveTo>
                <a:lnTo>
                  <a:pt x="2584693" y="362863"/>
                </a:lnTo>
                <a:lnTo>
                  <a:pt x="2583619" y="359607"/>
                </a:lnTo>
                <a:lnTo>
                  <a:pt x="2559540" y="367582"/>
                </a:lnTo>
                <a:lnTo>
                  <a:pt x="2558537" y="364573"/>
                </a:lnTo>
                <a:cubicBezTo>
                  <a:pt x="2566563" y="361893"/>
                  <a:pt x="2574589" y="359232"/>
                  <a:pt x="2582628" y="356591"/>
                </a:cubicBezTo>
                <a:close/>
                <a:moveTo>
                  <a:pt x="2607733" y="351706"/>
                </a:moveTo>
                <a:lnTo>
                  <a:pt x="2609699" y="357746"/>
                </a:lnTo>
                <a:lnTo>
                  <a:pt x="2609698" y="357746"/>
                </a:lnTo>
                <a:lnTo>
                  <a:pt x="2607730" y="351707"/>
                </a:lnTo>
                <a:close/>
                <a:moveTo>
                  <a:pt x="7000995" y="347575"/>
                </a:moveTo>
                <a:lnTo>
                  <a:pt x="7000058" y="350500"/>
                </a:lnTo>
                <a:lnTo>
                  <a:pt x="7000044" y="350495"/>
                </a:lnTo>
                <a:close/>
                <a:moveTo>
                  <a:pt x="7002964" y="341427"/>
                </a:moveTo>
                <a:cubicBezTo>
                  <a:pt x="7011029" y="344018"/>
                  <a:pt x="7019094" y="346628"/>
                  <a:pt x="7027157" y="349250"/>
                </a:cubicBezTo>
                <a:lnTo>
                  <a:pt x="7023221" y="361328"/>
                </a:lnTo>
                <a:cubicBezTo>
                  <a:pt x="7015157" y="358712"/>
                  <a:pt x="7007156" y="356108"/>
                  <a:pt x="6999091" y="353517"/>
                </a:cubicBezTo>
                <a:lnTo>
                  <a:pt x="7000058" y="350500"/>
                </a:lnTo>
                <a:lnTo>
                  <a:pt x="7024173" y="358311"/>
                </a:lnTo>
                <a:lnTo>
                  <a:pt x="7026142" y="352273"/>
                </a:lnTo>
                <a:cubicBezTo>
                  <a:pt x="7018141" y="349650"/>
                  <a:pt x="7010076" y="347040"/>
                  <a:pt x="7002012" y="344449"/>
                </a:cubicBezTo>
                <a:lnTo>
                  <a:pt x="7000995" y="347575"/>
                </a:lnTo>
                <a:close/>
                <a:moveTo>
                  <a:pt x="2630913" y="340874"/>
                </a:moveTo>
                <a:lnTo>
                  <a:pt x="2634799" y="352971"/>
                </a:lnTo>
                <a:cubicBezTo>
                  <a:pt x="2626754" y="355556"/>
                  <a:pt x="2618716" y="358153"/>
                  <a:pt x="2610682" y="360769"/>
                </a:cubicBezTo>
                <a:lnTo>
                  <a:pt x="2609699" y="357746"/>
                </a:lnTo>
                <a:lnTo>
                  <a:pt x="2633828" y="349949"/>
                </a:lnTo>
                <a:lnTo>
                  <a:pt x="2631885" y="343903"/>
                </a:lnTo>
                <a:lnTo>
                  <a:pt x="2607733" y="351706"/>
                </a:lnTo>
                <a:lnTo>
                  <a:pt x="2606752" y="348691"/>
                </a:lnTo>
                <a:cubicBezTo>
                  <a:pt x="2614797" y="346075"/>
                  <a:pt x="2622855" y="343465"/>
                  <a:pt x="2630913" y="340874"/>
                </a:cubicBezTo>
                <a:close/>
                <a:moveTo>
                  <a:pt x="6977805" y="336705"/>
                </a:moveTo>
                <a:lnTo>
                  <a:pt x="6977819" y="336709"/>
                </a:lnTo>
                <a:lnTo>
                  <a:pt x="6976858" y="339663"/>
                </a:lnTo>
                <a:close/>
                <a:moveTo>
                  <a:pt x="2656075" y="336175"/>
                </a:moveTo>
                <a:lnTo>
                  <a:pt x="2657840" y="341737"/>
                </a:lnTo>
                <a:lnTo>
                  <a:pt x="2656073" y="336175"/>
                </a:lnTo>
                <a:close/>
                <a:moveTo>
                  <a:pt x="6951720" y="335135"/>
                </a:moveTo>
                <a:lnTo>
                  <a:pt x="6975850" y="342760"/>
                </a:lnTo>
                <a:lnTo>
                  <a:pt x="6976858" y="339663"/>
                </a:lnTo>
                <a:lnTo>
                  <a:pt x="6974897" y="345789"/>
                </a:lnTo>
                <a:cubicBezTo>
                  <a:pt x="6966832" y="343230"/>
                  <a:pt x="6958831" y="340690"/>
                  <a:pt x="6950768" y="338163"/>
                </a:cubicBezTo>
                <a:close/>
                <a:moveTo>
                  <a:pt x="2681435" y="332362"/>
                </a:moveTo>
                <a:lnTo>
                  <a:pt x="2683091" y="337636"/>
                </a:lnTo>
                <a:cubicBezTo>
                  <a:pt x="2675040" y="340163"/>
                  <a:pt x="2666994" y="342703"/>
                  <a:pt x="2658955" y="345249"/>
                </a:cubicBezTo>
                <a:lnTo>
                  <a:pt x="2657840" y="341737"/>
                </a:lnTo>
                <a:lnTo>
                  <a:pt x="2657996" y="342227"/>
                </a:lnTo>
                <a:cubicBezTo>
                  <a:pt x="2666035" y="339674"/>
                  <a:pt x="2674088" y="337134"/>
                  <a:pt x="2682139" y="334607"/>
                </a:cubicBezTo>
                <a:close/>
                <a:moveTo>
                  <a:pt x="6953625" y="329070"/>
                </a:moveTo>
                <a:lnTo>
                  <a:pt x="6953625" y="329070"/>
                </a:lnTo>
                <a:lnTo>
                  <a:pt x="6951720" y="335135"/>
                </a:lnTo>
                <a:lnTo>
                  <a:pt x="6951719" y="335134"/>
                </a:lnTo>
                <a:close/>
                <a:moveTo>
                  <a:pt x="2680240" y="328549"/>
                </a:moveTo>
                <a:lnTo>
                  <a:pt x="2681435" y="332362"/>
                </a:lnTo>
                <a:lnTo>
                  <a:pt x="2680239" y="328550"/>
                </a:lnTo>
                <a:close/>
                <a:moveTo>
                  <a:pt x="6954577" y="326041"/>
                </a:moveTo>
                <a:cubicBezTo>
                  <a:pt x="6962642" y="328574"/>
                  <a:pt x="6970707" y="331121"/>
                  <a:pt x="6978771" y="333686"/>
                </a:cubicBezTo>
                <a:lnTo>
                  <a:pt x="6977805" y="336705"/>
                </a:lnTo>
                <a:lnTo>
                  <a:pt x="6953625" y="329070"/>
                </a:lnTo>
                <a:close/>
                <a:moveTo>
                  <a:pt x="2679287" y="325520"/>
                </a:moveTo>
                <a:lnTo>
                  <a:pt x="2680239" y="328550"/>
                </a:lnTo>
                <a:lnTo>
                  <a:pt x="2656075" y="336175"/>
                </a:lnTo>
                <a:lnTo>
                  <a:pt x="2655113" y="333146"/>
                </a:lnTo>
                <a:cubicBezTo>
                  <a:pt x="2663165" y="330594"/>
                  <a:pt x="2671223" y="328047"/>
                  <a:pt x="2679287" y="325520"/>
                </a:cubicBezTo>
                <a:close/>
                <a:moveTo>
                  <a:pt x="6928393" y="324732"/>
                </a:moveTo>
                <a:lnTo>
                  <a:pt x="6927526" y="327584"/>
                </a:lnTo>
                <a:lnTo>
                  <a:pt x="6927513" y="327580"/>
                </a:lnTo>
                <a:close/>
                <a:moveTo>
                  <a:pt x="2704441" y="321012"/>
                </a:moveTo>
                <a:lnTo>
                  <a:pt x="2704937" y="322616"/>
                </a:lnTo>
                <a:lnTo>
                  <a:pt x="2704440" y="321012"/>
                </a:lnTo>
                <a:close/>
                <a:moveTo>
                  <a:pt x="6904134" y="317274"/>
                </a:moveTo>
                <a:lnTo>
                  <a:pt x="6903269" y="320123"/>
                </a:lnTo>
                <a:lnTo>
                  <a:pt x="6927513" y="327580"/>
                </a:lnTo>
                <a:lnTo>
                  <a:pt x="6926574" y="330619"/>
                </a:lnTo>
                <a:cubicBezTo>
                  <a:pt x="6918509" y="328117"/>
                  <a:pt x="6910444" y="325634"/>
                  <a:pt x="6902317" y="323164"/>
                </a:cubicBezTo>
                <a:close/>
                <a:moveTo>
                  <a:pt x="6905111" y="314052"/>
                </a:moveTo>
                <a:lnTo>
                  <a:pt x="6905126" y="314057"/>
                </a:lnTo>
                <a:lnTo>
                  <a:pt x="6904134" y="317274"/>
                </a:lnTo>
                <a:close/>
                <a:moveTo>
                  <a:pt x="6906063" y="311017"/>
                </a:moveTo>
                <a:cubicBezTo>
                  <a:pt x="6914128" y="313493"/>
                  <a:pt x="6922256" y="315982"/>
                  <a:pt x="6930320" y="318491"/>
                </a:cubicBezTo>
                <a:lnTo>
                  <a:pt x="6928393" y="324732"/>
                </a:lnTo>
                <a:lnTo>
                  <a:pt x="6929368" y="321520"/>
                </a:lnTo>
                <a:lnTo>
                  <a:pt x="6905126" y="314057"/>
                </a:lnTo>
                <a:close/>
                <a:moveTo>
                  <a:pt x="2727751" y="310515"/>
                </a:moveTo>
                <a:lnTo>
                  <a:pt x="2731459" y="322663"/>
                </a:lnTo>
                <a:cubicBezTo>
                  <a:pt x="2723388" y="325133"/>
                  <a:pt x="2715317" y="327616"/>
                  <a:pt x="2707259" y="330111"/>
                </a:cubicBezTo>
                <a:lnTo>
                  <a:pt x="2704937" y="322616"/>
                </a:lnTo>
                <a:lnTo>
                  <a:pt x="2706320" y="327076"/>
                </a:lnTo>
                <a:cubicBezTo>
                  <a:pt x="2714384" y="324580"/>
                  <a:pt x="2722455" y="322097"/>
                  <a:pt x="2730532" y="319627"/>
                </a:cubicBezTo>
                <a:lnTo>
                  <a:pt x="2728678" y="313557"/>
                </a:lnTo>
                <a:lnTo>
                  <a:pt x="2704441" y="321012"/>
                </a:lnTo>
                <a:lnTo>
                  <a:pt x="2703500" y="317976"/>
                </a:lnTo>
                <a:cubicBezTo>
                  <a:pt x="2711577" y="315474"/>
                  <a:pt x="2719661" y="312991"/>
                  <a:pt x="2727751" y="310515"/>
                </a:cubicBezTo>
                <a:close/>
                <a:moveTo>
                  <a:pt x="6880826" y="306659"/>
                </a:moveTo>
                <a:lnTo>
                  <a:pt x="6880854" y="306667"/>
                </a:lnTo>
                <a:lnTo>
                  <a:pt x="6879012" y="312750"/>
                </a:lnTo>
                <a:lnTo>
                  <a:pt x="6878983" y="312741"/>
                </a:lnTo>
                <a:close/>
                <a:moveTo>
                  <a:pt x="2752951" y="306183"/>
                </a:moveTo>
                <a:lnTo>
                  <a:pt x="2754786" y="312261"/>
                </a:lnTo>
                <a:lnTo>
                  <a:pt x="2754784" y="312261"/>
                </a:lnTo>
                <a:lnTo>
                  <a:pt x="2752948" y="306184"/>
                </a:lnTo>
                <a:close/>
                <a:moveTo>
                  <a:pt x="6854707" y="305459"/>
                </a:moveTo>
                <a:lnTo>
                  <a:pt x="6878983" y="312741"/>
                </a:lnTo>
                <a:lnTo>
                  <a:pt x="6878060" y="315785"/>
                </a:lnTo>
                <a:cubicBezTo>
                  <a:pt x="6869995" y="313347"/>
                  <a:pt x="6861868" y="310915"/>
                  <a:pt x="6853803" y="308496"/>
                </a:cubicBezTo>
                <a:close/>
                <a:moveTo>
                  <a:pt x="2779072" y="304978"/>
                </a:moveTo>
                <a:lnTo>
                  <a:pt x="2779980" y="308026"/>
                </a:lnTo>
                <a:cubicBezTo>
                  <a:pt x="2771884" y="310432"/>
                  <a:pt x="2763787" y="312858"/>
                  <a:pt x="2755704" y="315303"/>
                </a:cubicBezTo>
                <a:lnTo>
                  <a:pt x="2754786" y="312261"/>
                </a:lnTo>
                <a:close/>
                <a:moveTo>
                  <a:pt x="6855611" y="302419"/>
                </a:moveTo>
                <a:lnTo>
                  <a:pt x="6854707" y="305459"/>
                </a:lnTo>
                <a:lnTo>
                  <a:pt x="6854692" y="305454"/>
                </a:lnTo>
                <a:close/>
                <a:moveTo>
                  <a:pt x="2777263" y="298895"/>
                </a:moveTo>
                <a:lnTo>
                  <a:pt x="2779073" y="304978"/>
                </a:lnTo>
                <a:lnTo>
                  <a:pt x="2779072" y="304978"/>
                </a:lnTo>
                <a:lnTo>
                  <a:pt x="2777261" y="298896"/>
                </a:lnTo>
                <a:close/>
                <a:moveTo>
                  <a:pt x="6857422" y="296329"/>
                </a:moveTo>
                <a:cubicBezTo>
                  <a:pt x="6865550" y="298748"/>
                  <a:pt x="6873678" y="301180"/>
                  <a:pt x="6881743" y="303632"/>
                </a:cubicBezTo>
                <a:lnTo>
                  <a:pt x="6880826" y="306659"/>
                </a:lnTo>
                <a:lnTo>
                  <a:pt x="6856533" y="299371"/>
                </a:lnTo>
                <a:lnTo>
                  <a:pt x="6855611" y="302419"/>
                </a:lnTo>
                <a:close/>
                <a:moveTo>
                  <a:pt x="2776354" y="295853"/>
                </a:moveTo>
                <a:lnTo>
                  <a:pt x="2777261" y="298896"/>
                </a:lnTo>
                <a:lnTo>
                  <a:pt x="2752951" y="306183"/>
                </a:lnTo>
                <a:lnTo>
                  <a:pt x="2752033" y="303143"/>
                </a:lnTo>
                <a:cubicBezTo>
                  <a:pt x="2760137" y="300698"/>
                  <a:pt x="2768239" y="298266"/>
                  <a:pt x="2776354" y="295853"/>
                </a:cubicBezTo>
                <a:close/>
                <a:moveTo>
                  <a:pt x="6832149" y="292157"/>
                </a:moveTo>
                <a:lnTo>
                  <a:pt x="6832149" y="292157"/>
                </a:lnTo>
                <a:lnTo>
                  <a:pt x="6831503" y="294370"/>
                </a:lnTo>
                <a:close/>
                <a:moveTo>
                  <a:pt x="6805989" y="291129"/>
                </a:moveTo>
                <a:lnTo>
                  <a:pt x="6830371" y="298247"/>
                </a:lnTo>
                <a:lnTo>
                  <a:pt x="6831503" y="294370"/>
                </a:lnTo>
                <a:lnTo>
                  <a:pt x="6829482" y="301295"/>
                </a:lnTo>
                <a:cubicBezTo>
                  <a:pt x="6821355" y="298907"/>
                  <a:pt x="6813226" y="296539"/>
                  <a:pt x="6805098" y="294183"/>
                </a:cubicBezTo>
                <a:close/>
                <a:moveTo>
                  <a:pt x="6807765" y="285032"/>
                </a:moveTo>
                <a:lnTo>
                  <a:pt x="6807766" y="285033"/>
                </a:lnTo>
                <a:lnTo>
                  <a:pt x="6805989" y="291129"/>
                </a:lnTo>
                <a:lnTo>
                  <a:pt x="6805987" y="291128"/>
                </a:lnTo>
                <a:close/>
                <a:moveTo>
                  <a:pt x="2825960" y="284582"/>
                </a:moveTo>
                <a:cubicBezTo>
                  <a:pt x="2817838" y="286937"/>
                  <a:pt x="2809717" y="289306"/>
                  <a:pt x="2801609" y="291687"/>
                </a:cubicBezTo>
                <a:lnTo>
                  <a:pt x="2803399" y="297783"/>
                </a:lnTo>
                <a:cubicBezTo>
                  <a:pt x="2811501" y="295402"/>
                  <a:pt x="2819610" y="293033"/>
                  <a:pt x="2827725" y="290678"/>
                </a:cubicBezTo>
                <a:close/>
                <a:moveTo>
                  <a:pt x="6808655" y="281984"/>
                </a:moveTo>
                <a:cubicBezTo>
                  <a:pt x="6816782" y="284347"/>
                  <a:pt x="6824910" y="286722"/>
                  <a:pt x="6833038" y="289109"/>
                </a:cubicBezTo>
                <a:lnTo>
                  <a:pt x="6832149" y="292157"/>
                </a:lnTo>
                <a:lnTo>
                  <a:pt x="6807766" y="285033"/>
                </a:lnTo>
                <a:close/>
                <a:moveTo>
                  <a:pt x="2825077" y="281527"/>
                </a:moveTo>
                <a:lnTo>
                  <a:pt x="2828614" y="293726"/>
                </a:lnTo>
                <a:cubicBezTo>
                  <a:pt x="2820499" y="296081"/>
                  <a:pt x="2812390" y="298450"/>
                  <a:pt x="2804294" y="300831"/>
                </a:cubicBezTo>
                <a:lnTo>
                  <a:pt x="2800712" y="288646"/>
                </a:lnTo>
                <a:cubicBezTo>
                  <a:pt x="2808829" y="286258"/>
                  <a:pt x="2816949" y="283889"/>
                  <a:pt x="2825077" y="281527"/>
                </a:cubicBezTo>
                <a:close/>
                <a:moveTo>
                  <a:pt x="6782549" y="280975"/>
                </a:moveTo>
                <a:lnTo>
                  <a:pt x="6781667" y="284112"/>
                </a:lnTo>
                <a:lnTo>
                  <a:pt x="6781653" y="284108"/>
                </a:lnTo>
                <a:close/>
                <a:moveTo>
                  <a:pt x="2850310" y="277564"/>
                </a:moveTo>
                <a:lnTo>
                  <a:pt x="2851182" y="280616"/>
                </a:lnTo>
                <a:lnTo>
                  <a:pt x="2850306" y="277565"/>
                </a:lnTo>
                <a:close/>
                <a:moveTo>
                  <a:pt x="6758112" y="274220"/>
                </a:moveTo>
                <a:lnTo>
                  <a:pt x="6757282" y="277177"/>
                </a:lnTo>
                <a:lnTo>
                  <a:pt x="6781653" y="284108"/>
                </a:lnTo>
                <a:lnTo>
                  <a:pt x="6780778" y="287166"/>
                </a:lnTo>
                <a:cubicBezTo>
                  <a:pt x="6772650" y="284836"/>
                  <a:pt x="6764522" y="282531"/>
                  <a:pt x="6756394" y="280232"/>
                </a:cubicBezTo>
                <a:close/>
                <a:moveTo>
                  <a:pt x="2875309" y="272808"/>
                </a:moveTo>
                <a:lnTo>
                  <a:pt x="2877281" y="279800"/>
                </a:lnTo>
                <a:cubicBezTo>
                  <a:pt x="2869159" y="282092"/>
                  <a:pt x="2861044" y="284397"/>
                  <a:pt x="2852929" y="286722"/>
                </a:cubicBezTo>
                <a:lnTo>
                  <a:pt x="2851182" y="280616"/>
                </a:lnTo>
                <a:lnTo>
                  <a:pt x="2852058" y="283667"/>
                </a:lnTo>
                <a:cubicBezTo>
                  <a:pt x="2860175" y="281350"/>
                  <a:pt x="2868289" y="279038"/>
                  <a:pt x="2876417" y="276746"/>
                </a:cubicBezTo>
                <a:close/>
                <a:moveTo>
                  <a:pt x="6758997" y="271062"/>
                </a:moveTo>
                <a:lnTo>
                  <a:pt x="6759012" y="271067"/>
                </a:lnTo>
                <a:lnTo>
                  <a:pt x="6758112" y="274220"/>
                </a:lnTo>
                <a:close/>
                <a:moveTo>
                  <a:pt x="2874696" y="270631"/>
                </a:moveTo>
                <a:lnTo>
                  <a:pt x="2875309" y="272808"/>
                </a:lnTo>
                <a:lnTo>
                  <a:pt x="2874695" y="270632"/>
                </a:lnTo>
                <a:close/>
                <a:moveTo>
                  <a:pt x="6759886" y="268008"/>
                </a:moveTo>
                <a:cubicBezTo>
                  <a:pt x="6768014" y="270313"/>
                  <a:pt x="6776143" y="272625"/>
                  <a:pt x="6784270" y="274955"/>
                </a:cubicBezTo>
                <a:lnTo>
                  <a:pt x="6782549" y="280975"/>
                </a:lnTo>
                <a:lnTo>
                  <a:pt x="6783382" y="278009"/>
                </a:lnTo>
                <a:lnTo>
                  <a:pt x="6759012" y="271067"/>
                </a:lnTo>
                <a:close/>
                <a:moveTo>
                  <a:pt x="2873833" y="267576"/>
                </a:moveTo>
                <a:lnTo>
                  <a:pt x="2874695" y="270632"/>
                </a:lnTo>
                <a:lnTo>
                  <a:pt x="2850310" y="277564"/>
                </a:lnTo>
                <a:lnTo>
                  <a:pt x="2849436" y="274510"/>
                </a:lnTo>
                <a:cubicBezTo>
                  <a:pt x="2857564" y="272186"/>
                  <a:pt x="2865692" y="269875"/>
                  <a:pt x="2873833" y="267576"/>
                </a:cubicBezTo>
                <a:close/>
                <a:moveTo>
                  <a:pt x="2899113" y="263785"/>
                </a:moveTo>
                <a:lnTo>
                  <a:pt x="2899966" y="266846"/>
                </a:lnTo>
                <a:lnTo>
                  <a:pt x="2899112" y="263785"/>
                </a:lnTo>
                <a:close/>
                <a:moveTo>
                  <a:pt x="2925253" y="263151"/>
                </a:moveTo>
                <a:lnTo>
                  <a:pt x="2926094" y="266211"/>
                </a:lnTo>
                <a:cubicBezTo>
                  <a:pt x="2917947" y="268446"/>
                  <a:pt x="2909805" y="270701"/>
                  <a:pt x="2901671" y="272961"/>
                </a:cubicBezTo>
                <a:lnTo>
                  <a:pt x="2899966" y="266846"/>
                </a:lnTo>
                <a:lnTo>
                  <a:pt x="2900820" y="269907"/>
                </a:lnTo>
                <a:close/>
                <a:moveTo>
                  <a:pt x="6709245" y="260496"/>
                </a:moveTo>
                <a:lnTo>
                  <a:pt x="6708402" y="263561"/>
                </a:lnTo>
                <a:lnTo>
                  <a:pt x="6708388" y="263557"/>
                </a:lnTo>
                <a:close/>
                <a:moveTo>
                  <a:pt x="2923572" y="257023"/>
                </a:moveTo>
                <a:lnTo>
                  <a:pt x="2925256" y="263150"/>
                </a:lnTo>
                <a:lnTo>
                  <a:pt x="2925253" y="263151"/>
                </a:lnTo>
                <a:lnTo>
                  <a:pt x="2923570" y="257024"/>
                </a:lnTo>
                <a:close/>
                <a:moveTo>
                  <a:pt x="6710928" y="254375"/>
                </a:moveTo>
                <a:cubicBezTo>
                  <a:pt x="6719119" y="256616"/>
                  <a:pt x="6727247" y="258877"/>
                  <a:pt x="6735439" y="261150"/>
                </a:cubicBezTo>
                <a:lnTo>
                  <a:pt x="6732010" y="273380"/>
                </a:lnTo>
                <a:cubicBezTo>
                  <a:pt x="6723881" y="271113"/>
                  <a:pt x="6715754" y="268859"/>
                  <a:pt x="6707562" y="266617"/>
                </a:cubicBezTo>
                <a:lnTo>
                  <a:pt x="6708402" y="263561"/>
                </a:lnTo>
                <a:lnTo>
                  <a:pt x="6732835" y="270326"/>
                </a:lnTo>
                <a:lnTo>
                  <a:pt x="6734550" y="264204"/>
                </a:lnTo>
                <a:cubicBezTo>
                  <a:pt x="6726422" y="261938"/>
                  <a:pt x="6718231" y="259677"/>
                  <a:pt x="6710102" y="257435"/>
                </a:cubicBezTo>
                <a:lnTo>
                  <a:pt x="6709245" y="260496"/>
                </a:lnTo>
                <a:close/>
                <a:moveTo>
                  <a:pt x="2922728" y="253962"/>
                </a:moveTo>
                <a:lnTo>
                  <a:pt x="2923570" y="257024"/>
                </a:lnTo>
                <a:lnTo>
                  <a:pt x="2899113" y="263785"/>
                </a:lnTo>
                <a:lnTo>
                  <a:pt x="2898261" y="260731"/>
                </a:lnTo>
                <a:cubicBezTo>
                  <a:pt x="2906414" y="258458"/>
                  <a:pt x="2914569" y="256203"/>
                  <a:pt x="2922728" y="253962"/>
                </a:cubicBezTo>
                <a:close/>
                <a:moveTo>
                  <a:pt x="2948893" y="253413"/>
                </a:moveTo>
                <a:lnTo>
                  <a:pt x="2949723" y="256477"/>
                </a:lnTo>
                <a:lnTo>
                  <a:pt x="2949722" y="256477"/>
                </a:lnTo>
                <a:close/>
                <a:moveTo>
                  <a:pt x="6685591" y="250749"/>
                </a:moveTo>
                <a:lnTo>
                  <a:pt x="6685592" y="250749"/>
                </a:lnTo>
                <a:lnTo>
                  <a:pt x="6683940" y="256877"/>
                </a:lnTo>
                <a:lnTo>
                  <a:pt x="6683940" y="256877"/>
                </a:lnTo>
                <a:close/>
                <a:moveTo>
                  <a:pt x="6660224" y="247212"/>
                </a:moveTo>
                <a:lnTo>
                  <a:pt x="6659430" y="250279"/>
                </a:lnTo>
                <a:lnTo>
                  <a:pt x="6683940" y="256877"/>
                </a:lnTo>
                <a:lnTo>
                  <a:pt x="6683115" y="259937"/>
                </a:lnTo>
                <a:cubicBezTo>
                  <a:pt x="6674923" y="257727"/>
                  <a:pt x="6666731" y="255530"/>
                  <a:pt x="6658604" y="253346"/>
                </a:cubicBezTo>
                <a:close/>
                <a:moveTo>
                  <a:pt x="2973408" y="246825"/>
                </a:moveTo>
                <a:lnTo>
                  <a:pt x="2975046" y="252959"/>
                </a:lnTo>
                <a:cubicBezTo>
                  <a:pt x="2966874" y="255137"/>
                  <a:pt x="2958707" y="257334"/>
                  <a:pt x="2950554" y="259544"/>
                </a:cubicBezTo>
                <a:lnTo>
                  <a:pt x="2949723" y="256477"/>
                </a:lnTo>
                <a:lnTo>
                  <a:pt x="2974226" y="249892"/>
                </a:lnTo>
                <a:close/>
                <a:moveTo>
                  <a:pt x="6661017" y="244145"/>
                </a:moveTo>
                <a:lnTo>
                  <a:pt x="6661032" y="244149"/>
                </a:lnTo>
                <a:lnTo>
                  <a:pt x="6660224" y="247212"/>
                </a:lnTo>
                <a:close/>
                <a:moveTo>
                  <a:pt x="2972589" y="243757"/>
                </a:moveTo>
                <a:lnTo>
                  <a:pt x="2973408" y="246825"/>
                </a:lnTo>
                <a:lnTo>
                  <a:pt x="2972588" y="243757"/>
                </a:lnTo>
                <a:close/>
                <a:moveTo>
                  <a:pt x="6661843" y="241078"/>
                </a:moveTo>
                <a:cubicBezTo>
                  <a:pt x="6670034" y="243262"/>
                  <a:pt x="6678225" y="245466"/>
                  <a:pt x="6686417" y="247682"/>
                </a:cubicBezTo>
                <a:lnTo>
                  <a:pt x="6685591" y="250749"/>
                </a:lnTo>
                <a:lnTo>
                  <a:pt x="6661032" y="244149"/>
                </a:lnTo>
                <a:close/>
                <a:moveTo>
                  <a:pt x="6635682" y="240834"/>
                </a:moveTo>
                <a:lnTo>
                  <a:pt x="6634919" y="243783"/>
                </a:lnTo>
                <a:lnTo>
                  <a:pt x="6634905" y="243780"/>
                </a:lnTo>
                <a:close/>
                <a:moveTo>
                  <a:pt x="2971769" y="240690"/>
                </a:moveTo>
                <a:lnTo>
                  <a:pt x="2972588" y="243757"/>
                </a:lnTo>
                <a:lnTo>
                  <a:pt x="2948064" y="250349"/>
                </a:lnTo>
                <a:lnTo>
                  <a:pt x="2948893" y="253413"/>
                </a:lnTo>
                <a:lnTo>
                  <a:pt x="2947232" y="247282"/>
                </a:lnTo>
                <a:cubicBezTo>
                  <a:pt x="2955406" y="245072"/>
                  <a:pt x="2963585" y="242875"/>
                  <a:pt x="2971769" y="240690"/>
                </a:cubicBezTo>
                <a:close/>
                <a:moveTo>
                  <a:pt x="2997083" y="237268"/>
                </a:moveTo>
                <a:lnTo>
                  <a:pt x="2998387" y="242224"/>
                </a:lnTo>
                <a:lnTo>
                  <a:pt x="2997081" y="237268"/>
                </a:lnTo>
                <a:close/>
                <a:moveTo>
                  <a:pt x="3023196" y="237008"/>
                </a:moveTo>
                <a:lnTo>
                  <a:pt x="3023992" y="240081"/>
                </a:lnTo>
                <a:cubicBezTo>
                  <a:pt x="3015826" y="242202"/>
                  <a:pt x="3007659" y="244329"/>
                  <a:pt x="2999507" y="246475"/>
                </a:cubicBezTo>
                <a:lnTo>
                  <a:pt x="2998387" y="242224"/>
                </a:lnTo>
                <a:lnTo>
                  <a:pt x="2998700" y="243408"/>
                </a:lnTo>
                <a:close/>
                <a:moveTo>
                  <a:pt x="3022627" y="234809"/>
                </a:moveTo>
                <a:lnTo>
                  <a:pt x="3023198" y="237007"/>
                </a:lnTo>
                <a:lnTo>
                  <a:pt x="3023196" y="237008"/>
                </a:lnTo>
                <a:close/>
                <a:moveTo>
                  <a:pt x="6612756" y="228155"/>
                </a:moveTo>
                <a:cubicBezTo>
                  <a:pt x="6620948" y="230283"/>
                  <a:pt x="6629140" y="232423"/>
                  <a:pt x="6637332" y="234575"/>
                </a:cubicBezTo>
                <a:lnTo>
                  <a:pt x="6635682" y="240834"/>
                </a:lnTo>
                <a:lnTo>
                  <a:pt x="6636506" y="237642"/>
                </a:lnTo>
                <a:cubicBezTo>
                  <a:pt x="6628378" y="235490"/>
                  <a:pt x="6620186" y="233356"/>
                  <a:pt x="6611994" y="231229"/>
                </a:cubicBezTo>
                <a:lnTo>
                  <a:pt x="6610407" y="237376"/>
                </a:lnTo>
                <a:lnTo>
                  <a:pt x="6634905" y="243780"/>
                </a:lnTo>
                <a:lnTo>
                  <a:pt x="6634093" y="246856"/>
                </a:lnTo>
                <a:cubicBezTo>
                  <a:pt x="6625965" y="244704"/>
                  <a:pt x="6617773" y="242570"/>
                  <a:pt x="6609581" y="240449"/>
                </a:cubicBezTo>
                <a:close/>
                <a:moveTo>
                  <a:pt x="3020810" y="227787"/>
                </a:moveTo>
                <a:lnTo>
                  <a:pt x="3022627" y="234809"/>
                </a:lnTo>
                <a:lnTo>
                  <a:pt x="3021603" y="230861"/>
                </a:lnTo>
                <a:lnTo>
                  <a:pt x="2997083" y="237268"/>
                </a:lnTo>
                <a:lnTo>
                  <a:pt x="2996273" y="234194"/>
                </a:lnTo>
                <a:cubicBezTo>
                  <a:pt x="3004447" y="232048"/>
                  <a:pt x="3012624" y="229908"/>
                  <a:pt x="3020810" y="227787"/>
                </a:cubicBezTo>
                <a:close/>
                <a:moveTo>
                  <a:pt x="6587405" y="224900"/>
                </a:moveTo>
                <a:lnTo>
                  <a:pt x="6587420" y="224904"/>
                </a:lnTo>
                <a:lnTo>
                  <a:pt x="6586653" y="227875"/>
                </a:lnTo>
                <a:close/>
                <a:moveTo>
                  <a:pt x="6561273" y="224819"/>
                </a:moveTo>
                <a:lnTo>
                  <a:pt x="6585832" y="231051"/>
                </a:lnTo>
                <a:lnTo>
                  <a:pt x="6586653" y="227875"/>
                </a:lnTo>
                <a:lnTo>
                  <a:pt x="6585071" y="234131"/>
                </a:lnTo>
                <a:cubicBezTo>
                  <a:pt x="6576880" y="232035"/>
                  <a:pt x="6568688" y="229959"/>
                  <a:pt x="6560496" y="227895"/>
                </a:cubicBezTo>
                <a:close/>
                <a:moveTo>
                  <a:pt x="6562782" y="218656"/>
                </a:moveTo>
                <a:lnTo>
                  <a:pt x="6562828" y="218668"/>
                </a:lnTo>
                <a:lnTo>
                  <a:pt x="6561273" y="224819"/>
                </a:lnTo>
                <a:lnTo>
                  <a:pt x="6561258" y="224815"/>
                </a:lnTo>
                <a:close/>
                <a:moveTo>
                  <a:pt x="3070746" y="218313"/>
                </a:moveTo>
                <a:cubicBezTo>
                  <a:pt x="3062548" y="220377"/>
                  <a:pt x="3054350" y="222453"/>
                  <a:pt x="3046160" y="224542"/>
                </a:cubicBezTo>
                <a:lnTo>
                  <a:pt x="3047735" y="230696"/>
                </a:lnTo>
                <a:cubicBezTo>
                  <a:pt x="3055914" y="228606"/>
                  <a:pt x="3064104" y="226530"/>
                  <a:pt x="3072296" y="224473"/>
                </a:cubicBezTo>
                <a:close/>
                <a:moveTo>
                  <a:pt x="6563607" y="215582"/>
                </a:moveTo>
                <a:cubicBezTo>
                  <a:pt x="6571799" y="217646"/>
                  <a:pt x="6579991" y="219729"/>
                  <a:pt x="6588182" y="221825"/>
                </a:cubicBezTo>
                <a:lnTo>
                  <a:pt x="6587405" y="224900"/>
                </a:lnTo>
                <a:lnTo>
                  <a:pt x="6562828" y="218668"/>
                </a:lnTo>
                <a:close/>
                <a:moveTo>
                  <a:pt x="3069979" y="215233"/>
                </a:moveTo>
                <a:lnTo>
                  <a:pt x="3073071" y="227546"/>
                </a:lnTo>
                <a:cubicBezTo>
                  <a:pt x="3064879" y="229610"/>
                  <a:pt x="3056694" y="231686"/>
                  <a:pt x="3048516" y="233775"/>
                </a:cubicBezTo>
                <a:lnTo>
                  <a:pt x="3045371" y="221469"/>
                </a:lnTo>
                <a:cubicBezTo>
                  <a:pt x="3053569" y="219373"/>
                  <a:pt x="3061768" y="217297"/>
                  <a:pt x="3069979" y="215233"/>
                </a:cubicBezTo>
                <a:close/>
                <a:moveTo>
                  <a:pt x="6511983" y="212598"/>
                </a:moveTo>
                <a:lnTo>
                  <a:pt x="6536620" y="218662"/>
                </a:lnTo>
                <a:lnTo>
                  <a:pt x="6537951" y="213284"/>
                </a:lnTo>
                <a:lnTo>
                  <a:pt x="6535858" y="221748"/>
                </a:lnTo>
                <a:cubicBezTo>
                  <a:pt x="6527667" y="219710"/>
                  <a:pt x="6519475" y="217691"/>
                  <a:pt x="6511220" y="215684"/>
                </a:cubicBezTo>
                <a:close/>
                <a:moveTo>
                  <a:pt x="6538144" y="212503"/>
                </a:moveTo>
                <a:lnTo>
                  <a:pt x="6538144" y="212503"/>
                </a:lnTo>
                <a:lnTo>
                  <a:pt x="6537951" y="213284"/>
                </a:lnTo>
                <a:close/>
                <a:moveTo>
                  <a:pt x="3095374" y="212166"/>
                </a:moveTo>
                <a:lnTo>
                  <a:pt x="3096137" y="215246"/>
                </a:lnTo>
                <a:lnTo>
                  <a:pt x="3095372" y="212166"/>
                </a:lnTo>
                <a:close/>
                <a:moveTo>
                  <a:pt x="6513507" y="206426"/>
                </a:moveTo>
                <a:lnTo>
                  <a:pt x="6513508" y="206427"/>
                </a:lnTo>
                <a:lnTo>
                  <a:pt x="6511983" y="212598"/>
                </a:lnTo>
                <a:lnTo>
                  <a:pt x="6511982" y="212598"/>
                </a:lnTo>
                <a:close/>
                <a:moveTo>
                  <a:pt x="6488068" y="203565"/>
                </a:moveTo>
                <a:lnTo>
                  <a:pt x="6487344" y="206623"/>
                </a:lnTo>
                <a:lnTo>
                  <a:pt x="6487329" y="206620"/>
                </a:lnTo>
                <a:close/>
                <a:moveTo>
                  <a:pt x="6514269" y="203346"/>
                </a:moveTo>
                <a:cubicBezTo>
                  <a:pt x="6522460" y="205353"/>
                  <a:pt x="6530715" y="207378"/>
                  <a:pt x="6538907" y="209417"/>
                </a:cubicBezTo>
                <a:lnTo>
                  <a:pt x="6538144" y="212503"/>
                </a:lnTo>
                <a:lnTo>
                  <a:pt x="6513508" y="206427"/>
                </a:lnTo>
                <a:close/>
                <a:moveTo>
                  <a:pt x="3119279" y="203016"/>
                </a:moveTo>
                <a:lnTo>
                  <a:pt x="3122290" y="215354"/>
                </a:lnTo>
                <a:cubicBezTo>
                  <a:pt x="3114073" y="217360"/>
                  <a:pt x="3105869" y="219380"/>
                  <a:pt x="3097665" y="221412"/>
                </a:cubicBezTo>
                <a:lnTo>
                  <a:pt x="3096137" y="215246"/>
                </a:lnTo>
                <a:lnTo>
                  <a:pt x="3096902" y="218326"/>
                </a:lnTo>
                <a:cubicBezTo>
                  <a:pt x="3105107" y="216294"/>
                  <a:pt x="3113317" y="214274"/>
                  <a:pt x="3121534" y="212268"/>
                </a:cubicBezTo>
                <a:lnTo>
                  <a:pt x="3120028" y="206102"/>
                </a:lnTo>
                <a:lnTo>
                  <a:pt x="3095374" y="212166"/>
                </a:lnTo>
                <a:lnTo>
                  <a:pt x="3094609" y="209080"/>
                </a:lnTo>
                <a:cubicBezTo>
                  <a:pt x="3102827" y="207048"/>
                  <a:pt x="3111049" y="205022"/>
                  <a:pt x="3119279" y="203016"/>
                </a:cubicBezTo>
                <a:close/>
                <a:moveTo>
                  <a:pt x="3170067" y="197349"/>
                </a:moveTo>
                <a:lnTo>
                  <a:pt x="3170798" y="200438"/>
                </a:lnTo>
                <a:lnTo>
                  <a:pt x="3170797" y="200438"/>
                </a:lnTo>
                <a:close/>
                <a:moveTo>
                  <a:pt x="6464865" y="191478"/>
                </a:moveTo>
                <a:cubicBezTo>
                  <a:pt x="6473120" y="193427"/>
                  <a:pt x="6481312" y="195390"/>
                  <a:pt x="6489567" y="197364"/>
                </a:cubicBezTo>
                <a:lnTo>
                  <a:pt x="6488068" y="203565"/>
                </a:lnTo>
                <a:lnTo>
                  <a:pt x="6488805" y="200450"/>
                </a:lnTo>
                <a:cubicBezTo>
                  <a:pt x="6480613" y="198476"/>
                  <a:pt x="6472358" y="196513"/>
                  <a:pt x="6464167" y="194570"/>
                </a:cubicBezTo>
                <a:lnTo>
                  <a:pt x="6462707" y="200749"/>
                </a:lnTo>
                <a:lnTo>
                  <a:pt x="6487329" y="206620"/>
                </a:lnTo>
                <a:lnTo>
                  <a:pt x="6486582" y="209709"/>
                </a:lnTo>
                <a:cubicBezTo>
                  <a:pt x="6478391" y="207740"/>
                  <a:pt x="6470136" y="205778"/>
                  <a:pt x="6461944" y="203835"/>
                </a:cubicBezTo>
                <a:close/>
                <a:moveTo>
                  <a:pt x="3168607" y="191167"/>
                </a:moveTo>
                <a:lnTo>
                  <a:pt x="3170067" y="197349"/>
                </a:lnTo>
                <a:lnTo>
                  <a:pt x="3169337" y="194259"/>
                </a:lnTo>
                <a:cubicBezTo>
                  <a:pt x="3161119" y="196202"/>
                  <a:pt x="3152903" y="198158"/>
                  <a:pt x="3144693" y="200133"/>
                </a:cubicBezTo>
                <a:lnTo>
                  <a:pt x="3146178" y="206305"/>
                </a:lnTo>
                <a:lnTo>
                  <a:pt x="3170797" y="200438"/>
                </a:lnTo>
                <a:lnTo>
                  <a:pt x="3171528" y="203530"/>
                </a:lnTo>
                <a:cubicBezTo>
                  <a:pt x="3163324" y="205467"/>
                  <a:pt x="3155120" y="207423"/>
                  <a:pt x="3146915" y="209391"/>
                </a:cubicBezTo>
                <a:lnTo>
                  <a:pt x="3143950" y="197047"/>
                </a:lnTo>
                <a:cubicBezTo>
                  <a:pt x="3152166" y="195072"/>
                  <a:pt x="3160384" y="193116"/>
                  <a:pt x="3168607" y="191167"/>
                </a:cubicBezTo>
                <a:close/>
                <a:moveTo>
                  <a:pt x="6413303" y="189249"/>
                </a:moveTo>
                <a:lnTo>
                  <a:pt x="6438005" y="194958"/>
                </a:lnTo>
                <a:lnTo>
                  <a:pt x="6438749" y="191808"/>
                </a:lnTo>
                <a:lnTo>
                  <a:pt x="6437307" y="198050"/>
                </a:lnTo>
                <a:cubicBezTo>
                  <a:pt x="6429051" y="196132"/>
                  <a:pt x="6420796" y="194234"/>
                  <a:pt x="6412605" y="192341"/>
                </a:cubicBezTo>
                <a:close/>
                <a:moveTo>
                  <a:pt x="6439451" y="188770"/>
                </a:moveTo>
                <a:lnTo>
                  <a:pt x="6439465" y="188773"/>
                </a:lnTo>
                <a:lnTo>
                  <a:pt x="6438749" y="191808"/>
                </a:lnTo>
                <a:close/>
                <a:moveTo>
                  <a:pt x="3194021" y="188474"/>
                </a:moveTo>
                <a:lnTo>
                  <a:pt x="3195459" y="194658"/>
                </a:lnTo>
                <a:lnTo>
                  <a:pt x="3195454" y="194659"/>
                </a:lnTo>
                <a:lnTo>
                  <a:pt x="3194020" y="188474"/>
                </a:lnTo>
                <a:close/>
                <a:moveTo>
                  <a:pt x="6414700" y="183058"/>
                </a:moveTo>
                <a:lnTo>
                  <a:pt x="6414701" y="183058"/>
                </a:lnTo>
                <a:lnTo>
                  <a:pt x="6413303" y="189249"/>
                </a:lnTo>
                <a:lnTo>
                  <a:pt x="6413303" y="189249"/>
                </a:lnTo>
                <a:close/>
                <a:moveTo>
                  <a:pt x="6415399" y="179965"/>
                </a:moveTo>
                <a:cubicBezTo>
                  <a:pt x="6423654" y="181858"/>
                  <a:pt x="6431909" y="183763"/>
                  <a:pt x="6440164" y="185680"/>
                </a:cubicBezTo>
                <a:lnTo>
                  <a:pt x="6439451" y="188770"/>
                </a:lnTo>
                <a:lnTo>
                  <a:pt x="6414701" y="183058"/>
                </a:lnTo>
                <a:close/>
                <a:moveTo>
                  <a:pt x="3218023" y="179673"/>
                </a:moveTo>
                <a:lnTo>
                  <a:pt x="3220855" y="192056"/>
                </a:lnTo>
                <a:cubicBezTo>
                  <a:pt x="3212625" y="193942"/>
                  <a:pt x="3204395" y="195834"/>
                  <a:pt x="3196179" y="197752"/>
                </a:cubicBezTo>
                <a:lnTo>
                  <a:pt x="3195459" y="194658"/>
                </a:lnTo>
                <a:lnTo>
                  <a:pt x="3220143" y="188963"/>
                </a:lnTo>
                <a:lnTo>
                  <a:pt x="3218727" y="182772"/>
                </a:lnTo>
                <a:lnTo>
                  <a:pt x="3194021" y="188474"/>
                </a:lnTo>
                <a:lnTo>
                  <a:pt x="3193302" y="185382"/>
                </a:lnTo>
                <a:cubicBezTo>
                  <a:pt x="3201532" y="183464"/>
                  <a:pt x="3209774" y="181559"/>
                  <a:pt x="3218023" y="179673"/>
                </a:cubicBezTo>
                <a:close/>
                <a:moveTo>
                  <a:pt x="6389871" y="177723"/>
                </a:moveTo>
                <a:lnTo>
                  <a:pt x="6387840" y="186728"/>
                </a:lnTo>
                <a:cubicBezTo>
                  <a:pt x="6379585" y="184868"/>
                  <a:pt x="6371330" y="183026"/>
                  <a:pt x="6363075" y="181197"/>
                </a:cubicBezTo>
                <a:lnTo>
                  <a:pt x="6363774" y="178098"/>
                </a:lnTo>
                <a:lnTo>
                  <a:pt x="6388538" y="183629"/>
                </a:lnTo>
                <a:close/>
                <a:moveTo>
                  <a:pt x="6389935" y="177438"/>
                </a:moveTo>
                <a:lnTo>
                  <a:pt x="6389935" y="177438"/>
                </a:lnTo>
                <a:lnTo>
                  <a:pt x="6389871" y="177723"/>
                </a:lnTo>
                <a:close/>
                <a:moveTo>
                  <a:pt x="6365170" y="171895"/>
                </a:moveTo>
                <a:lnTo>
                  <a:pt x="6365171" y="171896"/>
                </a:lnTo>
                <a:lnTo>
                  <a:pt x="6363774" y="178098"/>
                </a:lnTo>
                <a:lnTo>
                  <a:pt x="6363773" y="178098"/>
                </a:lnTo>
                <a:close/>
                <a:moveTo>
                  <a:pt x="3268251" y="171621"/>
                </a:moveTo>
                <a:lnTo>
                  <a:pt x="3269120" y="175550"/>
                </a:lnTo>
                <a:lnTo>
                  <a:pt x="3268250" y="171621"/>
                </a:lnTo>
                <a:close/>
                <a:moveTo>
                  <a:pt x="6365869" y="168796"/>
                </a:moveTo>
                <a:cubicBezTo>
                  <a:pt x="6374124" y="170631"/>
                  <a:pt x="6382379" y="172479"/>
                  <a:pt x="6390634" y="174339"/>
                </a:cubicBezTo>
                <a:lnTo>
                  <a:pt x="6389935" y="177438"/>
                </a:lnTo>
                <a:lnTo>
                  <a:pt x="6365171" y="171896"/>
                </a:lnTo>
                <a:close/>
                <a:moveTo>
                  <a:pt x="3267565" y="168523"/>
                </a:moveTo>
                <a:lnTo>
                  <a:pt x="3268250" y="171621"/>
                </a:lnTo>
                <a:lnTo>
                  <a:pt x="3243473" y="177152"/>
                </a:lnTo>
                <a:lnTo>
                  <a:pt x="3244871" y="183350"/>
                </a:lnTo>
                <a:cubicBezTo>
                  <a:pt x="3253113" y="181496"/>
                  <a:pt x="3261368" y="179654"/>
                  <a:pt x="3269623" y="177825"/>
                </a:cubicBezTo>
                <a:lnTo>
                  <a:pt x="3269120" y="175550"/>
                </a:lnTo>
                <a:lnTo>
                  <a:pt x="3270309" y="180924"/>
                </a:lnTo>
                <a:cubicBezTo>
                  <a:pt x="3262054" y="182753"/>
                  <a:pt x="3253805" y="184595"/>
                  <a:pt x="3245561" y="186449"/>
                </a:cubicBezTo>
                <a:lnTo>
                  <a:pt x="3242775" y="174060"/>
                </a:lnTo>
                <a:cubicBezTo>
                  <a:pt x="3251035" y="172199"/>
                  <a:pt x="3259298" y="170351"/>
                  <a:pt x="3267565" y="168523"/>
                </a:cubicBezTo>
                <a:close/>
                <a:moveTo>
                  <a:pt x="6314209" y="167310"/>
                </a:moveTo>
                <a:lnTo>
                  <a:pt x="6338944" y="172650"/>
                </a:lnTo>
                <a:lnTo>
                  <a:pt x="6339639" y="169569"/>
                </a:lnTo>
                <a:lnTo>
                  <a:pt x="6338310" y="175749"/>
                </a:lnTo>
                <a:cubicBezTo>
                  <a:pt x="6330055" y="173952"/>
                  <a:pt x="6321800" y="172174"/>
                  <a:pt x="6313544" y="170402"/>
                </a:cubicBezTo>
                <a:close/>
                <a:moveTo>
                  <a:pt x="3293132" y="166511"/>
                </a:moveTo>
                <a:lnTo>
                  <a:pt x="3294410" y="172383"/>
                </a:lnTo>
                <a:lnTo>
                  <a:pt x="3294407" y="172383"/>
                </a:lnTo>
                <a:close/>
                <a:moveTo>
                  <a:pt x="6340311" y="166440"/>
                </a:moveTo>
                <a:lnTo>
                  <a:pt x="6340342" y="166446"/>
                </a:lnTo>
                <a:lnTo>
                  <a:pt x="6339639" y="169569"/>
                </a:lnTo>
                <a:close/>
                <a:moveTo>
                  <a:pt x="6315513" y="161093"/>
                </a:moveTo>
                <a:lnTo>
                  <a:pt x="6315543" y="161100"/>
                </a:lnTo>
                <a:lnTo>
                  <a:pt x="6314209" y="167310"/>
                </a:lnTo>
                <a:lnTo>
                  <a:pt x="6314180" y="167303"/>
                </a:lnTo>
                <a:close/>
                <a:moveTo>
                  <a:pt x="6316212" y="157988"/>
                </a:moveTo>
                <a:cubicBezTo>
                  <a:pt x="6324467" y="159760"/>
                  <a:pt x="6332722" y="161544"/>
                  <a:pt x="6340977" y="163341"/>
                </a:cubicBezTo>
                <a:lnTo>
                  <a:pt x="6340311" y="166440"/>
                </a:lnTo>
                <a:lnTo>
                  <a:pt x="6315543" y="161100"/>
                </a:lnTo>
                <a:close/>
                <a:moveTo>
                  <a:pt x="3317172" y="157734"/>
                </a:moveTo>
                <a:lnTo>
                  <a:pt x="3319826" y="170148"/>
                </a:lnTo>
                <a:cubicBezTo>
                  <a:pt x="3311571" y="171914"/>
                  <a:pt x="3303329" y="173692"/>
                  <a:pt x="3295086" y="175489"/>
                </a:cubicBezTo>
                <a:lnTo>
                  <a:pt x="3294410" y="172383"/>
                </a:lnTo>
                <a:lnTo>
                  <a:pt x="3319159" y="167050"/>
                </a:lnTo>
                <a:lnTo>
                  <a:pt x="3317832" y="160839"/>
                </a:lnTo>
                <a:cubicBezTo>
                  <a:pt x="3309571" y="162604"/>
                  <a:pt x="3301308" y="164382"/>
                  <a:pt x="3293061" y="166179"/>
                </a:cubicBezTo>
                <a:lnTo>
                  <a:pt x="3293132" y="166511"/>
                </a:lnTo>
                <a:lnTo>
                  <a:pt x="3292386" y="163081"/>
                </a:lnTo>
                <a:cubicBezTo>
                  <a:pt x="3300642" y="161284"/>
                  <a:pt x="3308903" y="159499"/>
                  <a:pt x="3317172" y="157734"/>
                </a:cubicBezTo>
                <a:close/>
                <a:moveTo>
                  <a:pt x="6264602" y="156874"/>
                </a:moveTo>
                <a:lnTo>
                  <a:pt x="6289415" y="162046"/>
                </a:lnTo>
                <a:lnTo>
                  <a:pt x="6290082" y="158938"/>
                </a:lnTo>
                <a:lnTo>
                  <a:pt x="6288780" y="165151"/>
                </a:lnTo>
                <a:cubicBezTo>
                  <a:pt x="6280525" y="163411"/>
                  <a:pt x="6272207" y="161690"/>
                  <a:pt x="6263951" y="159982"/>
                </a:cubicBezTo>
                <a:close/>
                <a:moveTo>
                  <a:pt x="6290733" y="155826"/>
                </a:moveTo>
                <a:lnTo>
                  <a:pt x="6290748" y="155829"/>
                </a:lnTo>
                <a:lnTo>
                  <a:pt x="6290082" y="158938"/>
                </a:lnTo>
                <a:close/>
                <a:moveTo>
                  <a:pt x="6265857" y="150654"/>
                </a:moveTo>
                <a:lnTo>
                  <a:pt x="6265902" y="150664"/>
                </a:lnTo>
                <a:lnTo>
                  <a:pt x="6264602" y="156874"/>
                </a:lnTo>
                <a:lnTo>
                  <a:pt x="6264586" y="156870"/>
                </a:lnTo>
                <a:close/>
                <a:moveTo>
                  <a:pt x="3367445" y="150412"/>
                </a:moveTo>
                <a:lnTo>
                  <a:pt x="3368445" y="155270"/>
                </a:lnTo>
                <a:lnTo>
                  <a:pt x="3367443" y="150412"/>
                </a:lnTo>
                <a:close/>
                <a:moveTo>
                  <a:pt x="6266555" y="147542"/>
                </a:moveTo>
                <a:cubicBezTo>
                  <a:pt x="6274810" y="149257"/>
                  <a:pt x="6283128" y="150984"/>
                  <a:pt x="6291383" y="152724"/>
                </a:cubicBezTo>
                <a:lnTo>
                  <a:pt x="6290733" y="155826"/>
                </a:lnTo>
                <a:lnTo>
                  <a:pt x="6265902" y="150664"/>
                </a:lnTo>
                <a:close/>
                <a:moveTo>
                  <a:pt x="3366803" y="147307"/>
                </a:moveTo>
                <a:lnTo>
                  <a:pt x="3367443" y="150412"/>
                </a:lnTo>
                <a:lnTo>
                  <a:pt x="3342622" y="155581"/>
                </a:lnTo>
                <a:lnTo>
                  <a:pt x="3343929" y="161798"/>
                </a:lnTo>
                <a:cubicBezTo>
                  <a:pt x="3352185" y="160064"/>
                  <a:pt x="3360452" y="158344"/>
                  <a:pt x="3368727" y="156636"/>
                </a:cubicBezTo>
                <a:lnTo>
                  <a:pt x="3368445" y="155270"/>
                </a:lnTo>
                <a:lnTo>
                  <a:pt x="3369368" y="159741"/>
                </a:lnTo>
                <a:cubicBezTo>
                  <a:pt x="3361101" y="161449"/>
                  <a:pt x="3352839" y="163170"/>
                  <a:pt x="3344578" y="164903"/>
                </a:cubicBezTo>
                <a:lnTo>
                  <a:pt x="3341968" y="152476"/>
                </a:lnTo>
                <a:cubicBezTo>
                  <a:pt x="3350242" y="150736"/>
                  <a:pt x="3358516" y="149015"/>
                  <a:pt x="3366803" y="147307"/>
                </a:cubicBezTo>
                <a:close/>
                <a:moveTo>
                  <a:pt x="3418412" y="146565"/>
                </a:moveTo>
                <a:lnTo>
                  <a:pt x="3419032" y="149682"/>
                </a:lnTo>
                <a:cubicBezTo>
                  <a:pt x="3410745" y="151327"/>
                  <a:pt x="3402464" y="152991"/>
                  <a:pt x="3394183" y="154667"/>
                </a:cubicBezTo>
                <a:lnTo>
                  <a:pt x="3392856" y="148113"/>
                </a:lnTo>
                <a:lnTo>
                  <a:pt x="3393556" y="151555"/>
                </a:lnTo>
                <a:close/>
                <a:moveTo>
                  <a:pt x="3392293" y="145332"/>
                </a:moveTo>
                <a:lnTo>
                  <a:pt x="3392856" y="148113"/>
                </a:lnTo>
                <a:lnTo>
                  <a:pt x="3392292" y="145332"/>
                </a:lnTo>
                <a:close/>
                <a:moveTo>
                  <a:pt x="6216136" y="140557"/>
                </a:moveTo>
                <a:lnTo>
                  <a:pt x="6214866" y="146787"/>
                </a:lnTo>
                <a:cubicBezTo>
                  <a:pt x="6223184" y="148438"/>
                  <a:pt x="6231439" y="150108"/>
                  <a:pt x="6239757" y="151784"/>
                </a:cubicBezTo>
                <a:lnTo>
                  <a:pt x="6241028" y="145561"/>
                </a:lnTo>
                <a:cubicBezTo>
                  <a:pt x="6232709" y="143878"/>
                  <a:pt x="6224391" y="142215"/>
                  <a:pt x="6216136" y="140557"/>
                </a:cubicBezTo>
                <a:close/>
                <a:moveTo>
                  <a:pt x="3417178" y="140335"/>
                </a:moveTo>
                <a:lnTo>
                  <a:pt x="3418416" y="146564"/>
                </a:lnTo>
                <a:lnTo>
                  <a:pt x="3418412" y="146565"/>
                </a:lnTo>
                <a:lnTo>
                  <a:pt x="3417173" y="140336"/>
                </a:lnTo>
                <a:close/>
                <a:moveTo>
                  <a:pt x="6190595" y="138670"/>
                </a:moveTo>
                <a:lnTo>
                  <a:pt x="6189974" y="141872"/>
                </a:lnTo>
                <a:lnTo>
                  <a:pt x="6189959" y="141869"/>
                </a:lnTo>
                <a:close/>
                <a:moveTo>
                  <a:pt x="6216707" y="137446"/>
                </a:moveTo>
                <a:cubicBezTo>
                  <a:pt x="6225026" y="139097"/>
                  <a:pt x="6233344" y="140767"/>
                  <a:pt x="6241663" y="142450"/>
                </a:cubicBezTo>
                <a:lnTo>
                  <a:pt x="6239123" y="154896"/>
                </a:lnTo>
                <a:cubicBezTo>
                  <a:pt x="6230868" y="153219"/>
                  <a:pt x="6222549" y="151549"/>
                  <a:pt x="6214231" y="149898"/>
                </a:cubicBezTo>
                <a:close/>
                <a:moveTo>
                  <a:pt x="3416555" y="137224"/>
                </a:moveTo>
                <a:lnTo>
                  <a:pt x="3417173" y="140336"/>
                </a:lnTo>
                <a:lnTo>
                  <a:pt x="3392293" y="145332"/>
                </a:lnTo>
                <a:lnTo>
                  <a:pt x="3391663" y="142221"/>
                </a:lnTo>
                <a:cubicBezTo>
                  <a:pt x="3399956" y="140538"/>
                  <a:pt x="3408256" y="138874"/>
                  <a:pt x="3416555" y="137224"/>
                </a:cubicBezTo>
                <a:close/>
                <a:moveTo>
                  <a:pt x="6165049" y="137058"/>
                </a:moveTo>
                <a:lnTo>
                  <a:pt x="6189959" y="141869"/>
                </a:lnTo>
                <a:lnTo>
                  <a:pt x="6189339" y="144990"/>
                </a:lnTo>
                <a:cubicBezTo>
                  <a:pt x="6181084" y="143370"/>
                  <a:pt x="6172766" y="141764"/>
                  <a:pt x="6164447" y="140170"/>
                </a:cubicBezTo>
                <a:close/>
                <a:moveTo>
                  <a:pt x="3468212" y="136843"/>
                </a:moveTo>
                <a:lnTo>
                  <a:pt x="3468810" y="139967"/>
                </a:lnTo>
                <a:cubicBezTo>
                  <a:pt x="3460504" y="141554"/>
                  <a:pt x="3452211" y="143161"/>
                  <a:pt x="3443916" y="144774"/>
                </a:cubicBezTo>
                <a:lnTo>
                  <a:pt x="3443309" y="141662"/>
                </a:lnTo>
                <a:close/>
                <a:moveTo>
                  <a:pt x="3442093" y="135425"/>
                </a:moveTo>
                <a:lnTo>
                  <a:pt x="3443309" y="141662"/>
                </a:lnTo>
                <a:lnTo>
                  <a:pt x="3443307" y="141662"/>
                </a:lnTo>
                <a:lnTo>
                  <a:pt x="3442088" y="135426"/>
                </a:lnTo>
                <a:close/>
                <a:moveTo>
                  <a:pt x="6166225" y="130816"/>
                </a:moveTo>
                <a:lnTo>
                  <a:pt x="6166256" y="130822"/>
                </a:lnTo>
                <a:lnTo>
                  <a:pt x="6165049" y="137058"/>
                </a:lnTo>
                <a:lnTo>
                  <a:pt x="6165019" y="137052"/>
                </a:lnTo>
                <a:close/>
                <a:moveTo>
                  <a:pt x="3467018" y="130607"/>
                </a:moveTo>
                <a:lnTo>
                  <a:pt x="3468213" y="136843"/>
                </a:lnTo>
                <a:lnTo>
                  <a:pt x="3468212" y="136843"/>
                </a:lnTo>
                <a:lnTo>
                  <a:pt x="3467018" y="130607"/>
                </a:lnTo>
                <a:close/>
                <a:moveTo>
                  <a:pt x="3492410" y="128593"/>
                </a:moveTo>
                <a:lnTo>
                  <a:pt x="3493076" y="132131"/>
                </a:lnTo>
                <a:lnTo>
                  <a:pt x="3493073" y="132131"/>
                </a:lnTo>
                <a:close/>
                <a:moveTo>
                  <a:pt x="6166860" y="127699"/>
                </a:moveTo>
                <a:cubicBezTo>
                  <a:pt x="6175179" y="129292"/>
                  <a:pt x="6183497" y="130899"/>
                  <a:pt x="6191815" y="132524"/>
                </a:cubicBezTo>
                <a:lnTo>
                  <a:pt x="6190595" y="138670"/>
                </a:lnTo>
                <a:lnTo>
                  <a:pt x="6191181" y="135642"/>
                </a:lnTo>
                <a:lnTo>
                  <a:pt x="6166256" y="130822"/>
                </a:lnTo>
                <a:close/>
                <a:moveTo>
                  <a:pt x="6115235" y="127692"/>
                </a:moveTo>
                <a:lnTo>
                  <a:pt x="6140127" y="132328"/>
                </a:lnTo>
                <a:lnTo>
                  <a:pt x="6140752" y="129095"/>
                </a:lnTo>
                <a:lnTo>
                  <a:pt x="6139555" y="135452"/>
                </a:lnTo>
                <a:cubicBezTo>
                  <a:pt x="6131300" y="133890"/>
                  <a:pt x="6122982" y="132347"/>
                  <a:pt x="6114663" y="130816"/>
                </a:cubicBezTo>
                <a:close/>
                <a:moveTo>
                  <a:pt x="3517968" y="127503"/>
                </a:moveTo>
                <a:lnTo>
                  <a:pt x="3518543" y="130626"/>
                </a:lnTo>
                <a:cubicBezTo>
                  <a:pt x="3510243" y="132150"/>
                  <a:pt x="3501950" y="133693"/>
                  <a:pt x="3493663" y="135249"/>
                </a:cubicBezTo>
                <a:lnTo>
                  <a:pt x="3493076" y="132131"/>
                </a:lnTo>
                <a:close/>
                <a:moveTo>
                  <a:pt x="3466422" y="127489"/>
                </a:moveTo>
                <a:lnTo>
                  <a:pt x="3467018" y="130607"/>
                </a:lnTo>
                <a:lnTo>
                  <a:pt x="3442093" y="135425"/>
                </a:lnTo>
                <a:lnTo>
                  <a:pt x="3441485" y="132309"/>
                </a:lnTo>
                <a:cubicBezTo>
                  <a:pt x="3449791" y="130689"/>
                  <a:pt x="3458102" y="129083"/>
                  <a:pt x="3466422" y="127489"/>
                </a:cubicBezTo>
                <a:close/>
                <a:moveTo>
                  <a:pt x="6141319" y="126084"/>
                </a:moveTo>
                <a:lnTo>
                  <a:pt x="6141333" y="126086"/>
                </a:lnTo>
                <a:lnTo>
                  <a:pt x="6140752" y="129095"/>
                </a:lnTo>
                <a:close/>
                <a:moveTo>
                  <a:pt x="6115789" y="124663"/>
                </a:moveTo>
                <a:lnTo>
                  <a:pt x="6115235" y="127692"/>
                </a:lnTo>
                <a:lnTo>
                  <a:pt x="6115234" y="127692"/>
                </a:lnTo>
                <a:close/>
                <a:moveTo>
                  <a:pt x="3516822" y="121260"/>
                </a:moveTo>
                <a:lnTo>
                  <a:pt x="3517971" y="127502"/>
                </a:lnTo>
                <a:lnTo>
                  <a:pt x="3517968" y="127503"/>
                </a:lnTo>
                <a:lnTo>
                  <a:pt x="3516819" y="121261"/>
                </a:lnTo>
                <a:close/>
                <a:moveTo>
                  <a:pt x="6090851" y="120019"/>
                </a:moveTo>
                <a:lnTo>
                  <a:pt x="6090279" y="123146"/>
                </a:lnTo>
                <a:lnTo>
                  <a:pt x="6090279" y="123146"/>
                </a:lnTo>
                <a:close/>
                <a:moveTo>
                  <a:pt x="6116949" y="118326"/>
                </a:moveTo>
                <a:cubicBezTo>
                  <a:pt x="6125268" y="119856"/>
                  <a:pt x="6133586" y="121406"/>
                  <a:pt x="6141905" y="122968"/>
                </a:cubicBezTo>
                <a:lnTo>
                  <a:pt x="6141319" y="126084"/>
                </a:lnTo>
                <a:lnTo>
                  <a:pt x="6116378" y="121450"/>
                </a:lnTo>
                <a:lnTo>
                  <a:pt x="6115789" y="124663"/>
                </a:lnTo>
                <a:close/>
                <a:moveTo>
                  <a:pt x="3516244" y="118135"/>
                </a:moveTo>
                <a:lnTo>
                  <a:pt x="3516819" y="121261"/>
                </a:lnTo>
                <a:lnTo>
                  <a:pt x="3491904" y="125889"/>
                </a:lnTo>
                <a:lnTo>
                  <a:pt x="3492410" y="128593"/>
                </a:lnTo>
                <a:lnTo>
                  <a:pt x="3491314" y="122771"/>
                </a:lnTo>
                <a:cubicBezTo>
                  <a:pt x="3499619" y="121209"/>
                  <a:pt x="3507932" y="119666"/>
                  <a:pt x="3516244" y="118135"/>
                </a:cubicBezTo>
                <a:close/>
                <a:moveTo>
                  <a:pt x="6065864" y="115551"/>
                </a:moveTo>
                <a:lnTo>
                  <a:pt x="6065323" y="118682"/>
                </a:lnTo>
                <a:lnTo>
                  <a:pt x="6090279" y="123146"/>
                </a:lnTo>
                <a:lnTo>
                  <a:pt x="6089707" y="126270"/>
                </a:lnTo>
                <a:cubicBezTo>
                  <a:pt x="6081389" y="124765"/>
                  <a:pt x="6073070" y="123279"/>
                  <a:pt x="6064752" y="121806"/>
                </a:cubicBezTo>
                <a:close/>
                <a:moveTo>
                  <a:pt x="6066403" y="112427"/>
                </a:moveTo>
                <a:lnTo>
                  <a:pt x="6066419" y="112430"/>
                </a:lnTo>
                <a:lnTo>
                  <a:pt x="6065864" y="115551"/>
                </a:lnTo>
                <a:close/>
                <a:moveTo>
                  <a:pt x="3566746" y="112249"/>
                </a:moveTo>
                <a:lnTo>
                  <a:pt x="3567850" y="118504"/>
                </a:lnTo>
                <a:lnTo>
                  <a:pt x="3567845" y="118505"/>
                </a:lnTo>
                <a:lnTo>
                  <a:pt x="3566739" y="112250"/>
                </a:lnTo>
                <a:close/>
                <a:moveTo>
                  <a:pt x="6066974" y="109303"/>
                </a:moveTo>
                <a:cubicBezTo>
                  <a:pt x="6075293" y="110776"/>
                  <a:pt x="6083675" y="112268"/>
                  <a:pt x="6091994" y="113767"/>
                </a:cubicBezTo>
                <a:lnTo>
                  <a:pt x="6090851" y="120019"/>
                </a:lnTo>
                <a:lnTo>
                  <a:pt x="6091422" y="116891"/>
                </a:lnTo>
                <a:lnTo>
                  <a:pt x="6066419" y="112430"/>
                </a:lnTo>
                <a:close/>
                <a:moveTo>
                  <a:pt x="3566186" y="109125"/>
                </a:moveTo>
                <a:lnTo>
                  <a:pt x="3566739" y="112250"/>
                </a:lnTo>
                <a:lnTo>
                  <a:pt x="3541765" y="116713"/>
                </a:lnTo>
                <a:lnTo>
                  <a:pt x="3542895" y="122961"/>
                </a:lnTo>
                <a:lnTo>
                  <a:pt x="3567845" y="118505"/>
                </a:lnTo>
                <a:lnTo>
                  <a:pt x="3568397" y="121628"/>
                </a:lnTo>
                <a:cubicBezTo>
                  <a:pt x="3560078" y="123101"/>
                  <a:pt x="3551766" y="124587"/>
                  <a:pt x="3543453" y="126086"/>
                </a:cubicBezTo>
                <a:lnTo>
                  <a:pt x="3541199" y="113589"/>
                </a:lnTo>
                <a:cubicBezTo>
                  <a:pt x="3549524" y="112084"/>
                  <a:pt x="3557856" y="110598"/>
                  <a:pt x="3566186" y="109125"/>
                </a:cubicBezTo>
                <a:close/>
                <a:moveTo>
                  <a:pt x="6015836" y="106820"/>
                </a:moveTo>
                <a:lnTo>
                  <a:pt x="6015301" y="110017"/>
                </a:lnTo>
                <a:lnTo>
                  <a:pt x="6015285" y="110014"/>
                </a:lnTo>
                <a:close/>
                <a:moveTo>
                  <a:pt x="3642492" y="103616"/>
                </a:moveTo>
                <a:lnTo>
                  <a:pt x="3642831" y="105664"/>
                </a:lnTo>
                <a:lnTo>
                  <a:pt x="3642831" y="105664"/>
                </a:lnTo>
                <a:close/>
                <a:moveTo>
                  <a:pt x="3616783" y="103594"/>
                </a:moveTo>
                <a:cubicBezTo>
                  <a:pt x="3608433" y="105004"/>
                  <a:pt x="3600089" y="106432"/>
                  <a:pt x="3591751" y="107880"/>
                </a:cubicBezTo>
                <a:lnTo>
                  <a:pt x="3592831" y="114135"/>
                </a:lnTo>
                <a:cubicBezTo>
                  <a:pt x="3601162" y="112693"/>
                  <a:pt x="3609500" y="111265"/>
                  <a:pt x="3617844" y="109855"/>
                </a:cubicBezTo>
                <a:close/>
                <a:moveTo>
                  <a:pt x="5965312" y="101721"/>
                </a:moveTo>
                <a:lnTo>
                  <a:pt x="5990267" y="105823"/>
                </a:lnTo>
                <a:lnTo>
                  <a:pt x="5990791" y="102782"/>
                </a:lnTo>
                <a:lnTo>
                  <a:pt x="5989758" y="108953"/>
                </a:lnTo>
                <a:cubicBezTo>
                  <a:pt x="5981440" y="107575"/>
                  <a:pt x="5973121" y="106210"/>
                  <a:pt x="5964803" y="104858"/>
                </a:cubicBezTo>
                <a:close/>
                <a:moveTo>
                  <a:pt x="3667807" y="101576"/>
                </a:moveTo>
                <a:lnTo>
                  <a:pt x="3668314" y="104712"/>
                </a:lnTo>
                <a:cubicBezTo>
                  <a:pt x="3659988" y="106058"/>
                  <a:pt x="3651671" y="107423"/>
                  <a:pt x="3643351" y="108801"/>
                </a:cubicBezTo>
                <a:lnTo>
                  <a:pt x="3642831" y="105664"/>
                </a:lnTo>
                <a:close/>
                <a:moveTo>
                  <a:pt x="6016873" y="100622"/>
                </a:moveTo>
                <a:cubicBezTo>
                  <a:pt x="6025255" y="102038"/>
                  <a:pt x="6033573" y="103473"/>
                  <a:pt x="6041956" y="104921"/>
                </a:cubicBezTo>
                <a:lnTo>
                  <a:pt x="6039796" y="117431"/>
                </a:lnTo>
                <a:cubicBezTo>
                  <a:pt x="6031415" y="115989"/>
                  <a:pt x="6023096" y="114560"/>
                  <a:pt x="6014778" y="113144"/>
                </a:cubicBezTo>
                <a:lnTo>
                  <a:pt x="6015301" y="110017"/>
                </a:lnTo>
                <a:lnTo>
                  <a:pt x="6040305" y="114306"/>
                </a:lnTo>
                <a:lnTo>
                  <a:pt x="6041384" y="108045"/>
                </a:lnTo>
                <a:cubicBezTo>
                  <a:pt x="6033066" y="106604"/>
                  <a:pt x="6024683" y="105169"/>
                  <a:pt x="6016365" y="103753"/>
                </a:cubicBezTo>
                <a:lnTo>
                  <a:pt x="6015836" y="106820"/>
                </a:lnTo>
                <a:close/>
                <a:moveTo>
                  <a:pt x="3616256" y="100463"/>
                </a:moveTo>
                <a:lnTo>
                  <a:pt x="3618376" y="112986"/>
                </a:lnTo>
                <a:cubicBezTo>
                  <a:pt x="3610034" y="114395"/>
                  <a:pt x="3601702" y="115824"/>
                  <a:pt x="3593371" y="117265"/>
                </a:cubicBezTo>
                <a:lnTo>
                  <a:pt x="3591205" y="104750"/>
                </a:lnTo>
                <a:cubicBezTo>
                  <a:pt x="3599549" y="103308"/>
                  <a:pt x="3607899" y="101879"/>
                  <a:pt x="3616256" y="100463"/>
                </a:cubicBezTo>
                <a:close/>
                <a:moveTo>
                  <a:pt x="5991331" y="99553"/>
                </a:moveTo>
                <a:lnTo>
                  <a:pt x="5991346" y="99555"/>
                </a:lnTo>
                <a:lnTo>
                  <a:pt x="5990791" y="102782"/>
                </a:lnTo>
                <a:close/>
                <a:moveTo>
                  <a:pt x="5966327" y="95453"/>
                </a:moveTo>
                <a:lnTo>
                  <a:pt x="5966328" y="95453"/>
                </a:lnTo>
                <a:lnTo>
                  <a:pt x="5965312" y="101721"/>
                </a:lnTo>
                <a:lnTo>
                  <a:pt x="5965311" y="101721"/>
                </a:lnTo>
                <a:close/>
                <a:moveTo>
                  <a:pt x="3666796" y="95307"/>
                </a:moveTo>
                <a:lnTo>
                  <a:pt x="3667812" y="101575"/>
                </a:lnTo>
                <a:lnTo>
                  <a:pt x="3667807" y="101576"/>
                </a:lnTo>
                <a:lnTo>
                  <a:pt x="3666794" y="95307"/>
                </a:lnTo>
                <a:close/>
                <a:moveTo>
                  <a:pt x="3717848" y="93650"/>
                </a:moveTo>
                <a:lnTo>
                  <a:pt x="3718333" y="96787"/>
                </a:lnTo>
                <a:cubicBezTo>
                  <a:pt x="3709989" y="98076"/>
                  <a:pt x="3701645" y="99384"/>
                  <a:pt x="3693313" y="100705"/>
                </a:cubicBezTo>
                <a:lnTo>
                  <a:pt x="3692816" y="97568"/>
                </a:lnTo>
                <a:close/>
                <a:moveTo>
                  <a:pt x="5966835" y="92323"/>
                </a:moveTo>
                <a:cubicBezTo>
                  <a:pt x="5975154" y="93675"/>
                  <a:pt x="5983472" y="95040"/>
                  <a:pt x="5991854" y="96425"/>
                </a:cubicBezTo>
                <a:lnTo>
                  <a:pt x="5991331" y="99553"/>
                </a:lnTo>
                <a:lnTo>
                  <a:pt x="5966328" y="95453"/>
                </a:lnTo>
                <a:close/>
                <a:moveTo>
                  <a:pt x="3666287" y="92170"/>
                </a:moveTo>
                <a:lnTo>
                  <a:pt x="3666794" y="95307"/>
                </a:lnTo>
                <a:lnTo>
                  <a:pt x="3641796" y="99403"/>
                </a:lnTo>
                <a:lnTo>
                  <a:pt x="3642492" y="103616"/>
                </a:lnTo>
                <a:lnTo>
                  <a:pt x="3641275" y="96272"/>
                </a:lnTo>
                <a:cubicBezTo>
                  <a:pt x="3649607" y="94888"/>
                  <a:pt x="3657943" y="93523"/>
                  <a:pt x="3666287" y="92170"/>
                </a:cubicBezTo>
                <a:close/>
                <a:moveTo>
                  <a:pt x="3691822" y="91294"/>
                </a:moveTo>
                <a:lnTo>
                  <a:pt x="3692816" y="97568"/>
                </a:lnTo>
                <a:lnTo>
                  <a:pt x="3692812" y="97568"/>
                </a:lnTo>
                <a:lnTo>
                  <a:pt x="3691822" y="91294"/>
                </a:lnTo>
                <a:close/>
                <a:moveTo>
                  <a:pt x="3717364" y="90513"/>
                </a:moveTo>
                <a:lnTo>
                  <a:pt x="3717850" y="93650"/>
                </a:lnTo>
                <a:lnTo>
                  <a:pt x="3717848" y="93650"/>
                </a:lnTo>
                <a:close/>
                <a:moveTo>
                  <a:pt x="5916162" y="87509"/>
                </a:moveTo>
                <a:lnTo>
                  <a:pt x="5916178" y="87512"/>
                </a:lnTo>
                <a:lnTo>
                  <a:pt x="5915672" y="90736"/>
                </a:lnTo>
                <a:close/>
                <a:moveTo>
                  <a:pt x="5864997" y="86197"/>
                </a:moveTo>
                <a:lnTo>
                  <a:pt x="5890096" y="89944"/>
                </a:lnTo>
                <a:lnTo>
                  <a:pt x="5889619" y="93085"/>
                </a:lnTo>
                <a:cubicBezTo>
                  <a:pt x="5881301" y="91821"/>
                  <a:pt x="5872919" y="90570"/>
                  <a:pt x="5864536" y="89338"/>
                </a:cubicBezTo>
                <a:close/>
                <a:moveTo>
                  <a:pt x="3768009" y="86074"/>
                </a:moveTo>
                <a:lnTo>
                  <a:pt x="3768472" y="89211"/>
                </a:lnTo>
                <a:cubicBezTo>
                  <a:pt x="3760103" y="90449"/>
                  <a:pt x="3751747" y="91694"/>
                  <a:pt x="3743389" y="92958"/>
                </a:cubicBezTo>
                <a:lnTo>
                  <a:pt x="3742914" y="89814"/>
                </a:lnTo>
                <a:close/>
                <a:moveTo>
                  <a:pt x="3742282" y="85632"/>
                </a:moveTo>
                <a:lnTo>
                  <a:pt x="3742914" y="89814"/>
                </a:lnTo>
                <a:lnTo>
                  <a:pt x="3742912" y="89814"/>
                </a:lnTo>
                <a:close/>
                <a:moveTo>
                  <a:pt x="5916670" y="84372"/>
                </a:moveTo>
                <a:cubicBezTo>
                  <a:pt x="5925052" y="85668"/>
                  <a:pt x="5933370" y="86976"/>
                  <a:pt x="5941753" y="88303"/>
                </a:cubicBezTo>
                <a:lnTo>
                  <a:pt x="5939784" y="100844"/>
                </a:lnTo>
                <a:cubicBezTo>
                  <a:pt x="5931402" y="99524"/>
                  <a:pt x="5923083" y="98215"/>
                  <a:pt x="5914702" y="96920"/>
                </a:cubicBezTo>
                <a:lnTo>
                  <a:pt x="5915672" y="90736"/>
                </a:lnTo>
                <a:lnTo>
                  <a:pt x="5915209" y="93783"/>
                </a:lnTo>
                <a:cubicBezTo>
                  <a:pt x="5923528" y="95079"/>
                  <a:pt x="5931910" y="96387"/>
                  <a:pt x="5940229" y="97707"/>
                </a:cubicBezTo>
                <a:lnTo>
                  <a:pt x="5941244" y="91440"/>
                </a:lnTo>
                <a:lnTo>
                  <a:pt x="5916178" y="87512"/>
                </a:lnTo>
                <a:close/>
                <a:moveTo>
                  <a:pt x="3716395" y="84239"/>
                </a:moveTo>
                <a:lnTo>
                  <a:pt x="3717364" y="90513"/>
                </a:lnTo>
                <a:lnTo>
                  <a:pt x="3716878" y="87376"/>
                </a:lnTo>
                <a:lnTo>
                  <a:pt x="3691822" y="91294"/>
                </a:lnTo>
                <a:lnTo>
                  <a:pt x="3691325" y="88163"/>
                </a:lnTo>
                <a:cubicBezTo>
                  <a:pt x="3699677" y="86836"/>
                  <a:pt x="3708033" y="85528"/>
                  <a:pt x="3716395" y="84239"/>
                </a:cubicBezTo>
                <a:close/>
                <a:moveTo>
                  <a:pt x="5891049" y="83664"/>
                </a:moveTo>
                <a:lnTo>
                  <a:pt x="5891080" y="83668"/>
                </a:lnTo>
                <a:lnTo>
                  <a:pt x="5890127" y="89948"/>
                </a:lnTo>
                <a:lnTo>
                  <a:pt x="5890096" y="89944"/>
                </a:lnTo>
                <a:close/>
                <a:moveTo>
                  <a:pt x="5865455" y="83069"/>
                </a:moveTo>
                <a:lnTo>
                  <a:pt x="5864997" y="86197"/>
                </a:lnTo>
                <a:lnTo>
                  <a:pt x="5864981" y="86195"/>
                </a:lnTo>
                <a:close/>
                <a:moveTo>
                  <a:pt x="3767082" y="79788"/>
                </a:moveTo>
                <a:lnTo>
                  <a:pt x="3768009" y="86074"/>
                </a:lnTo>
                <a:lnTo>
                  <a:pt x="3768009" y="86074"/>
                </a:lnTo>
                <a:lnTo>
                  <a:pt x="3767081" y="79788"/>
                </a:lnTo>
                <a:close/>
                <a:moveTo>
                  <a:pt x="3818179" y="78861"/>
                </a:moveTo>
                <a:lnTo>
                  <a:pt x="3818619" y="82004"/>
                </a:lnTo>
                <a:cubicBezTo>
                  <a:pt x="3810268" y="83172"/>
                  <a:pt x="3801924" y="84360"/>
                  <a:pt x="3793580" y="85560"/>
                </a:cubicBezTo>
                <a:lnTo>
                  <a:pt x="3792830" y="80347"/>
                </a:lnTo>
                <a:lnTo>
                  <a:pt x="3793128" y="82417"/>
                </a:lnTo>
                <a:close/>
                <a:moveTo>
                  <a:pt x="5866378" y="76771"/>
                </a:moveTo>
                <a:cubicBezTo>
                  <a:pt x="5874760" y="78010"/>
                  <a:pt x="5883142" y="79261"/>
                  <a:pt x="5891524" y="80531"/>
                </a:cubicBezTo>
                <a:lnTo>
                  <a:pt x="5891049" y="83664"/>
                </a:lnTo>
                <a:lnTo>
                  <a:pt x="5865933" y="79915"/>
                </a:lnTo>
                <a:lnTo>
                  <a:pt x="5865455" y="83069"/>
                </a:lnTo>
                <a:close/>
                <a:moveTo>
                  <a:pt x="3766617" y="76651"/>
                </a:moveTo>
                <a:lnTo>
                  <a:pt x="3767081" y="79788"/>
                </a:lnTo>
                <a:lnTo>
                  <a:pt x="3741967" y="83541"/>
                </a:lnTo>
                <a:lnTo>
                  <a:pt x="3742282" y="85632"/>
                </a:lnTo>
                <a:lnTo>
                  <a:pt x="3741490" y="80397"/>
                </a:lnTo>
                <a:cubicBezTo>
                  <a:pt x="3749860" y="79134"/>
                  <a:pt x="3758236" y="77883"/>
                  <a:pt x="3766617" y="76651"/>
                </a:cubicBezTo>
                <a:close/>
                <a:moveTo>
                  <a:pt x="5840772" y="76242"/>
                </a:moveTo>
                <a:lnTo>
                  <a:pt x="5840788" y="76244"/>
                </a:lnTo>
                <a:lnTo>
                  <a:pt x="5840312" y="79384"/>
                </a:lnTo>
                <a:close/>
                <a:moveTo>
                  <a:pt x="3792223" y="76130"/>
                </a:moveTo>
                <a:lnTo>
                  <a:pt x="3792830" y="80347"/>
                </a:lnTo>
                <a:lnTo>
                  <a:pt x="3792221" y="76130"/>
                </a:lnTo>
                <a:close/>
                <a:moveTo>
                  <a:pt x="3817749" y="75788"/>
                </a:moveTo>
                <a:lnTo>
                  <a:pt x="3818180" y="78861"/>
                </a:lnTo>
                <a:lnTo>
                  <a:pt x="3818179" y="78861"/>
                </a:lnTo>
                <a:close/>
                <a:moveTo>
                  <a:pt x="3868303" y="71599"/>
                </a:moveTo>
                <a:lnTo>
                  <a:pt x="3868777" y="75152"/>
                </a:lnTo>
                <a:cubicBezTo>
                  <a:pt x="3860407" y="76263"/>
                  <a:pt x="3852045" y="77394"/>
                  <a:pt x="3843681" y="78537"/>
                </a:cubicBezTo>
                <a:lnTo>
                  <a:pt x="3842751" y="71709"/>
                </a:lnTo>
                <a:lnTo>
                  <a:pt x="3843255" y="75387"/>
                </a:lnTo>
                <a:cubicBezTo>
                  <a:pt x="3851619" y="74244"/>
                  <a:pt x="3859981" y="73120"/>
                  <a:pt x="3868358" y="72009"/>
                </a:cubicBezTo>
                <a:close/>
                <a:moveTo>
                  <a:pt x="5816086" y="69539"/>
                </a:moveTo>
                <a:cubicBezTo>
                  <a:pt x="5824468" y="70714"/>
                  <a:pt x="5832850" y="71901"/>
                  <a:pt x="5841232" y="73101"/>
                </a:cubicBezTo>
                <a:lnTo>
                  <a:pt x="5840772" y="76242"/>
                </a:lnTo>
                <a:lnTo>
                  <a:pt x="5815705" y="72682"/>
                </a:lnTo>
                <a:lnTo>
                  <a:pt x="5814816" y="78969"/>
                </a:lnTo>
                <a:cubicBezTo>
                  <a:pt x="5823134" y="80143"/>
                  <a:pt x="5831517" y="81331"/>
                  <a:pt x="5839835" y="82531"/>
                </a:cubicBezTo>
                <a:lnTo>
                  <a:pt x="5840312" y="79384"/>
                </a:lnTo>
                <a:lnTo>
                  <a:pt x="5839391" y="85674"/>
                </a:lnTo>
                <a:cubicBezTo>
                  <a:pt x="5831072" y="84474"/>
                  <a:pt x="5822690" y="83287"/>
                  <a:pt x="5814371" y="82112"/>
                </a:cubicBezTo>
                <a:close/>
                <a:moveTo>
                  <a:pt x="3816859" y="69425"/>
                </a:moveTo>
                <a:lnTo>
                  <a:pt x="3817749" y="75788"/>
                </a:lnTo>
                <a:lnTo>
                  <a:pt x="3817298" y="72568"/>
                </a:lnTo>
                <a:lnTo>
                  <a:pt x="3792223" y="76130"/>
                </a:lnTo>
                <a:lnTo>
                  <a:pt x="3791771" y="72987"/>
                </a:lnTo>
                <a:cubicBezTo>
                  <a:pt x="3800127" y="71787"/>
                  <a:pt x="3808489" y="70599"/>
                  <a:pt x="3816859" y="69425"/>
                </a:cubicBezTo>
                <a:close/>
                <a:moveTo>
                  <a:pt x="3842395" y="69094"/>
                </a:moveTo>
                <a:lnTo>
                  <a:pt x="3842751" y="71709"/>
                </a:lnTo>
                <a:lnTo>
                  <a:pt x="3842392" y="69094"/>
                </a:lnTo>
                <a:close/>
                <a:moveTo>
                  <a:pt x="5765413" y="65811"/>
                </a:moveTo>
                <a:lnTo>
                  <a:pt x="5765429" y="65813"/>
                </a:lnTo>
                <a:lnTo>
                  <a:pt x="5765011" y="68879"/>
                </a:lnTo>
                <a:close/>
                <a:moveTo>
                  <a:pt x="3867520" y="65710"/>
                </a:moveTo>
                <a:lnTo>
                  <a:pt x="3868303" y="71599"/>
                </a:lnTo>
                <a:lnTo>
                  <a:pt x="3867518" y="65710"/>
                </a:lnTo>
                <a:close/>
                <a:moveTo>
                  <a:pt x="5714248" y="65598"/>
                </a:moveTo>
                <a:lnTo>
                  <a:pt x="5739410" y="68805"/>
                </a:lnTo>
                <a:lnTo>
                  <a:pt x="5738997" y="71958"/>
                </a:lnTo>
                <a:cubicBezTo>
                  <a:pt x="5730615" y="70872"/>
                  <a:pt x="5722233" y="69799"/>
                  <a:pt x="5713851" y="68745"/>
                </a:cubicBezTo>
                <a:close/>
                <a:moveTo>
                  <a:pt x="3892989" y="64876"/>
                </a:moveTo>
                <a:lnTo>
                  <a:pt x="3893485" y="68713"/>
                </a:lnTo>
                <a:lnTo>
                  <a:pt x="3918641" y="65507"/>
                </a:lnTo>
                <a:lnTo>
                  <a:pt x="3919036" y="68656"/>
                </a:lnTo>
                <a:cubicBezTo>
                  <a:pt x="3910655" y="69710"/>
                  <a:pt x="3902273" y="70777"/>
                  <a:pt x="3893891" y="71863"/>
                </a:cubicBezTo>
                <a:close/>
                <a:moveTo>
                  <a:pt x="3918375" y="63385"/>
                </a:moveTo>
                <a:lnTo>
                  <a:pt x="3918642" y="65507"/>
                </a:lnTo>
                <a:lnTo>
                  <a:pt x="3918641" y="65507"/>
                </a:lnTo>
                <a:close/>
                <a:moveTo>
                  <a:pt x="5765857" y="62668"/>
                </a:moveTo>
                <a:cubicBezTo>
                  <a:pt x="5774240" y="63779"/>
                  <a:pt x="5782621" y="64910"/>
                  <a:pt x="5791004" y="66059"/>
                </a:cubicBezTo>
                <a:lnTo>
                  <a:pt x="5789289" y="78638"/>
                </a:lnTo>
                <a:cubicBezTo>
                  <a:pt x="5780907" y="77495"/>
                  <a:pt x="5772525" y="76371"/>
                  <a:pt x="5764143" y="75254"/>
                </a:cubicBezTo>
                <a:lnTo>
                  <a:pt x="5765011" y="68879"/>
                </a:lnTo>
                <a:lnTo>
                  <a:pt x="5764588" y="72111"/>
                </a:lnTo>
                <a:cubicBezTo>
                  <a:pt x="5772969" y="73222"/>
                  <a:pt x="5781352" y="74352"/>
                  <a:pt x="5789670" y="75495"/>
                </a:cubicBezTo>
                <a:lnTo>
                  <a:pt x="5790559" y="69202"/>
                </a:lnTo>
                <a:lnTo>
                  <a:pt x="5765429" y="65813"/>
                </a:lnTo>
                <a:close/>
                <a:moveTo>
                  <a:pt x="3867100" y="62567"/>
                </a:moveTo>
                <a:lnTo>
                  <a:pt x="3867518" y="65710"/>
                </a:lnTo>
                <a:lnTo>
                  <a:pt x="3842395" y="69094"/>
                </a:lnTo>
                <a:lnTo>
                  <a:pt x="3841966" y="65951"/>
                </a:lnTo>
                <a:cubicBezTo>
                  <a:pt x="3850337" y="64808"/>
                  <a:pt x="3858717" y="63678"/>
                  <a:pt x="3867100" y="62567"/>
                </a:cubicBezTo>
                <a:close/>
                <a:moveTo>
                  <a:pt x="5740236" y="62505"/>
                </a:moveTo>
                <a:lnTo>
                  <a:pt x="5740267" y="62509"/>
                </a:lnTo>
                <a:lnTo>
                  <a:pt x="5739442" y="68809"/>
                </a:lnTo>
                <a:lnTo>
                  <a:pt x="5739410" y="68805"/>
                </a:lnTo>
                <a:close/>
                <a:moveTo>
                  <a:pt x="3892672" y="62414"/>
                </a:moveTo>
                <a:lnTo>
                  <a:pt x="3892989" y="64876"/>
                </a:lnTo>
                <a:lnTo>
                  <a:pt x="3892671" y="62414"/>
                </a:lnTo>
                <a:close/>
                <a:moveTo>
                  <a:pt x="5714656" y="62358"/>
                </a:moveTo>
                <a:lnTo>
                  <a:pt x="5714248" y="65598"/>
                </a:lnTo>
                <a:lnTo>
                  <a:pt x="5714232" y="65596"/>
                </a:lnTo>
                <a:close/>
                <a:moveTo>
                  <a:pt x="3969007" y="59361"/>
                </a:moveTo>
                <a:lnTo>
                  <a:pt x="3969380" y="62509"/>
                </a:lnTo>
                <a:cubicBezTo>
                  <a:pt x="3960991" y="63506"/>
                  <a:pt x="3952597" y="64516"/>
                  <a:pt x="3944214" y="65538"/>
                </a:cubicBezTo>
                <a:lnTo>
                  <a:pt x="3943828" y="62382"/>
                </a:lnTo>
                <a:close/>
                <a:moveTo>
                  <a:pt x="3943443" y="59233"/>
                </a:moveTo>
                <a:lnTo>
                  <a:pt x="3943828" y="62382"/>
                </a:lnTo>
                <a:lnTo>
                  <a:pt x="3943828" y="62382"/>
                </a:lnTo>
                <a:close/>
                <a:moveTo>
                  <a:pt x="5715439" y="56147"/>
                </a:moveTo>
                <a:cubicBezTo>
                  <a:pt x="5723820" y="57201"/>
                  <a:pt x="5732266" y="58274"/>
                  <a:pt x="5740648" y="59360"/>
                </a:cubicBezTo>
                <a:lnTo>
                  <a:pt x="5740236" y="62505"/>
                </a:lnTo>
                <a:lnTo>
                  <a:pt x="5715057" y="59296"/>
                </a:lnTo>
                <a:lnTo>
                  <a:pt x="5714656" y="62358"/>
                </a:lnTo>
                <a:close/>
                <a:moveTo>
                  <a:pt x="3917455" y="56051"/>
                </a:moveTo>
                <a:lnTo>
                  <a:pt x="3918375" y="63385"/>
                </a:lnTo>
                <a:lnTo>
                  <a:pt x="3917849" y="59207"/>
                </a:lnTo>
                <a:lnTo>
                  <a:pt x="3892672" y="62414"/>
                </a:lnTo>
                <a:lnTo>
                  <a:pt x="3892265" y="59265"/>
                </a:lnTo>
                <a:cubicBezTo>
                  <a:pt x="3900660" y="58179"/>
                  <a:pt x="3909055" y="57112"/>
                  <a:pt x="3917455" y="56051"/>
                </a:cubicBezTo>
                <a:close/>
                <a:moveTo>
                  <a:pt x="5664575" y="53130"/>
                </a:moveTo>
                <a:lnTo>
                  <a:pt x="5664591" y="53132"/>
                </a:lnTo>
                <a:lnTo>
                  <a:pt x="5663860" y="59442"/>
                </a:lnTo>
                <a:lnTo>
                  <a:pt x="5663813" y="59436"/>
                </a:lnTo>
                <a:close/>
                <a:moveTo>
                  <a:pt x="3968262" y="53048"/>
                </a:moveTo>
                <a:lnTo>
                  <a:pt x="3969012" y="59360"/>
                </a:lnTo>
                <a:lnTo>
                  <a:pt x="3969007" y="59361"/>
                </a:lnTo>
                <a:lnTo>
                  <a:pt x="3968260" y="53049"/>
                </a:lnTo>
                <a:close/>
                <a:moveTo>
                  <a:pt x="4019043" y="51308"/>
                </a:moveTo>
                <a:lnTo>
                  <a:pt x="4019297" y="53581"/>
                </a:lnTo>
                <a:lnTo>
                  <a:pt x="4019295" y="53581"/>
                </a:lnTo>
                <a:close/>
                <a:moveTo>
                  <a:pt x="5664956" y="49981"/>
                </a:moveTo>
                <a:cubicBezTo>
                  <a:pt x="5673402" y="50978"/>
                  <a:pt x="5681783" y="51987"/>
                  <a:pt x="5690229" y="53016"/>
                </a:cubicBezTo>
                <a:lnTo>
                  <a:pt x="5688642" y="65621"/>
                </a:lnTo>
                <a:cubicBezTo>
                  <a:pt x="5680259" y="64599"/>
                  <a:pt x="5671878" y="63589"/>
                  <a:pt x="5663495" y="62592"/>
                </a:cubicBezTo>
                <a:lnTo>
                  <a:pt x="5663860" y="59442"/>
                </a:lnTo>
                <a:lnTo>
                  <a:pt x="5689022" y="62471"/>
                </a:lnTo>
                <a:lnTo>
                  <a:pt x="5689784" y="56166"/>
                </a:lnTo>
                <a:lnTo>
                  <a:pt x="5664591" y="53132"/>
                </a:lnTo>
                <a:close/>
                <a:moveTo>
                  <a:pt x="3967888" y="49898"/>
                </a:moveTo>
                <a:lnTo>
                  <a:pt x="3968260" y="53049"/>
                </a:lnTo>
                <a:lnTo>
                  <a:pt x="3943059" y="56083"/>
                </a:lnTo>
                <a:lnTo>
                  <a:pt x="3943443" y="59233"/>
                </a:lnTo>
                <a:lnTo>
                  <a:pt x="3942672" y="52927"/>
                </a:lnTo>
                <a:cubicBezTo>
                  <a:pt x="3951073" y="51905"/>
                  <a:pt x="3959480" y="50895"/>
                  <a:pt x="3967888" y="49898"/>
                </a:cubicBezTo>
                <a:close/>
                <a:moveTo>
                  <a:pt x="5614219" y="47339"/>
                </a:moveTo>
                <a:lnTo>
                  <a:pt x="5614236" y="47341"/>
                </a:lnTo>
                <a:lnTo>
                  <a:pt x="5613858" y="50606"/>
                </a:lnTo>
                <a:close/>
                <a:moveTo>
                  <a:pt x="5563357" y="45684"/>
                </a:moveTo>
                <a:lnTo>
                  <a:pt x="5563102" y="48216"/>
                </a:lnTo>
                <a:cubicBezTo>
                  <a:pt x="5571484" y="49092"/>
                  <a:pt x="5579930" y="49981"/>
                  <a:pt x="5588311" y="50889"/>
                </a:cubicBezTo>
                <a:lnTo>
                  <a:pt x="5588673" y="47618"/>
                </a:lnTo>
                <a:lnTo>
                  <a:pt x="5587994" y="54045"/>
                </a:lnTo>
                <a:cubicBezTo>
                  <a:pt x="5579548" y="53143"/>
                  <a:pt x="5571167" y="52248"/>
                  <a:pt x="5562784" y="51371"/>
                </a:cubicBezTo>
                <a:close/>
                <a:moveTo>
                  <a:pt x="5588995" y="44576"/>
                </a:moveTo>
                <a:lnTo>
                  <a:pt x="5589010" y="44577"/>
                </a:lnTo>
                <a:lnTo>
                  <a:pt x="5588673" y="47618"/>
                </a:lnTo>
                <a:close/>
                <a:moveTo>
                  <a:pt x="5614601" y="44183"/>
                </a:moveTo>
                <a:cubicBezTo>
                  <a:pt x="5622982" y="45123"/>
                  <a:pt x="5631365" y="46069"/>
                  <a:pt x="5639810" y="47041"/>
                </a:cubicBezTo>
                <a:lnTo>
                  <a:pt x="5638349" y="59652"/>
                </a:lnTo>
                <a:cubicBezTo>
                  <a:pt x="5629968" y="58693"/>
                  <a:pt x="5621585" y="57741"/>
                  <a:pt x="5613140" y="56807"/>
                </a:cubicBezTo>
                <a:lnTo>
                  <a:pt x="5613858" y="50606"/>
                </a:lnTo>
                <a:lnTo>
                  <a:pt x="5613521" y="53651"/>
                </a:lnTo>
                <a:cubicBezTo>
                  <a:pt x="5621903" y="54585"/>
                  <a:pt x="5630285" y="55537"/>
                  <a:pt x="5638667" y="56502"/>
                </a:cubicBezTo>
                <a:lnTo>
                  <a:pt x="5639429" y="50190"/>
                </a:lnTo>
                <a:lnTo>
                  <a:pt x="5614236" y="47341"/>
                </a:lnTo>
                <a:close/>
                <a:moveTo>
                  <a:pt x="4018242" y="44113"/>
                </a:moveTo>
                <a:lnTo>
                  <a:pt x="4019043" y="51308"/>
                </a:lnTo>
                <a:lnTo>
                  <a:pt x="4018591" y="47269"/>
                </a:lnTo>
                <a:cubicBezTo>
                  <a:pt x="4010198" y="48203"/>
                  <a:pt x="4001802" y="49155"/>
                  <a:pt x="3993415" y="50114"/>
                </a:cubicBezTo>
                <a:lnTo>
                  <a:pt x="3994138" y="56426"/>
                </a:lnTo>
                <a:lnTo>
                  <a:pt x="4019295" y="53581"/>
                </a:lnTo>
                <a:lnTo>
                  <a:pt x="4019646" y="56737"/>
                </a:lnTo>
                <a:cubicBezTo>
                  <a:pt x="4011264" y="57671"/>
                  <a:pt x="4002881" y="58617"/>
                  <a:pt x="3994501" y="59582"/>
                </a:cubicBezTo>
                <a:lnTo>
                  <a:pt x="3993052" y="46965"/>
                </a:lnTo>
                <a:cubicBezTo>
                  <a:pt x="4001447" y="45999"/>
                  <a:pt x="4009842" y="45047"/>
                  <a:pt x="4018242" y="44113"/>
                </a:cubicBezTo>
                <a:close/>
                <a:moveTo>
                  <a:pt x="5563737" y="41897"/>
                </a:moveTo>
                <a:lnTo>
                  <a:pt x="5563738" y="41897"/>
                </a:lnTo>
                <a:lnTo>
                  <a:pt x="5563357" y="45684"/>
                </a:lnTo>
                <a:close/>
                <a:moveTo>
                  <a:pt x="4069030" y="41840"/>
                </a:moveTo>
                <a:cubicBezTo>
                  <a:pt x="4060617" y="42716"/>
                  <a:pt x="4052209" y="43605"/>
                  <a:pt x="4043802" y="44507"/>
                </a:cubicBezTo>
                <a:lnTo>
                  <a:pt x="4044481" y="50825"/>
                </a:lnTo>
                <a:cubicBezTo>
                  <a:pt x="4052882" y="49917"/>
                  <a:pt x="4061283" y="49028"/>
                  <a:pt x="4069690" y="48152"/>
                </a:cubicBezTo>
                <a:close/>
                <a:moveTo>
                  <a:pt x="5512842" y="39972"/>
                </a:moveTo>
                <a:lnTo>
                  <a:pt x="5512556" y="43129"/>
                </a:lnTo>
                <a:lnTo>
                  <a:pt x="5537829" y="45631"/>
                </a:lnTo>
                <a:lnTo>
                  <a:pt x="5537511" y="48787"/>
                </a:lnTo>
                <a:cubicBezTo>
                  <a:pt x="5529066" y="47943"/>
                  <a:pt x="5520684" y="47111"/>
                  <a:pt x="5512239" y="46291"/>
                </a:cubicBezTo>
                <a:close/>
                <a:moveTo>
                  <a:pt x="5538464" y="39313"/>
                </a:moveTo>
                <a:lnTo>
                  <a:pt x="5538464" y="39313"/>
                </a:lnTo>
                <a:lnTo>
                  <a:pt x="5537829" y="45631"/>
                </a:lnTo>
                <a:lnTo>
                  <a:pt x="5537829" y="45631"/>
                </a:lnTo>
                <a:close/>
                <a:moveTo>
                  <a:pt x="4094291" y="39256"/>
                </a:moveTo>
                <a:lnTo>
                  <a:pt x="4094926" y="45574"/>
                </a:lnTo>
                <a:lnTo>
                  <a:pt x="4094926" y="45574"/>
                </a:lnTo>
                <a:lnTo>
                  <a:pt x="4094291" y="39256"/>
                </a:lnTo>
                <a:close/>
                <a:moveTo>
                  <a:pt x="5564055" y="38741"/>
                </a:moveTo>
                <a:cubicBezTo>
                  <a:pt x="5572500" y="39618"/>
                  <a:pt x="5580945" y="40513"/>
                  <a:pt x="5589328" y="41421"/>
                </a:cubicBezTo>
                <a:lnTo>
                  <a:pt x="5588995" y="44576"/>
                </a:lnTo>
                <a:lnTo>
                  <a:pt x="5563738" y="41897"/>
                </a:lnTo>
                <a:close/>
                <a:moveTo>
                  <a:pt x="4068707" y="38678"/>
                </a:moveTo>
                <a:lnTo>
                  <a:pt x="4070021" y="51314"/>
                </a:lnTo>
                <a:cubicBezTo>
                  <a:pt x="4061614" y="52184"/>
                  <a:pt x="4053213" y="53073"/>
                  <a:pt x="4044818" y="53981"/>
                </a:cubicBezTo>
                <a:lnTo>
                  <a:pt x="4043459" y="41351"/>
                </a:lnTo>
                <a:cubicBezTo>
                  <a:pt x="4051873" y="40449"/>
                  <a:pt x="4060287" y="39554"/>
                  <a:pt x="4068707" y="38678"/>
                </a:cubicBezTo>
                <a:close/>
                <a:moveTo>
                  <a:pt x="5487601" y="37567"/>
                </a:moveTo>
                <a:lnTo>
                  <a:pt x="5487029" y="43891"/>
                </a:lnTo>
                <a:cubicBezTo>
                  <a:pt x="5478583" y="43104"/>
                  <a:pt x="5470202" y="42335"/>
                  <a:pt x="5461819" y="41580"/>
                </a:cubicBezTo>
                <a:lnTo>
                  <a:pt x="5462105" y="38421"/>
                </a:lnTo>
                <a:lnTo>
                  <a:pt x="5487283" y="40729"/>
                </a:lnTo>
                <a:close/>
                <a:moveTo>
                  <a:pt x="5513128" y="36811"/>
                </a:moveTo>
                <a:lnTo>
                  <a:pt x="5513143" y="36813"/>
                </a:lnTo>
                <a:lnTo>
                  <a:pt x="5512842" y="39972"/>
                </a:lnTo>
                <a:close/>
                <a:moveTo>
                  <a:pt x="5487887" y="34401"/>
                </a:moveTo>
                <a:lnTo>
                  <a:pt x="5487918" y="34404"/>
                </a:lnTo>
                <a:lnTo>
                  <a:pt x="5487601" y="37567"/>
                </a:lnTo>
                <a:close/>
                <a:moveTo>
                  <a:pt x="5411592" y="34055"/>
                </a:moveTo>
                <a:lnTo>
                  <a:pt x="5436832" y="36193"/>
                </a:lnTo>
                <a:lnTo>
                  <a:pt x="5436546" y="39357"/>
                </a:lnTo>
                <a:cubicBezTo>
                  <a:pt x="5428165" y="38627"/>
                  <a:pt x="5419719" y="37916"/>
                  <a:pt x="5411337" y="37224"/>
                </a:cubicBezTo>
                <a:close/>
                <a:moveTo>
                  <a:pt x="5513445" y="33649"/>
                </a:moveTo>
                <a:cubicBezTo>
                  <a:pt x="5521891" y="34468"/>
                  <a:pt x="5530336" y="35306"/>
                  <a:pt x="5538782" y="36151"/>
                </a:cubicBezTo>
                <a:lnTo>
                  <a:pt x="5538464" y="39313"/>
                </a:lnTo>
                <a:lnTo>
                  <a:pt x="5513143" y="36813"/>
                </a:lnTo>
                <a:close/>
                <a:moveTo>
                  <a:pt x="4119272" y="33598"/>
                </a:moveTo>
                <a:lnTo>
                  <a:pt x="4120496" y="46241"/>
                </a:lnTo>
                <a:cubicBezTo>
                  <a:pt x="4112071" y="47054"/>
                  <a:pt x="4103656" y="47885"/>
                  <a:pt x="4095243" y="48730"/>
                </a:cubicBezTo>
                <a:lnTo>
                  <a:pt x="4094926" y="45574"/>
                </a:lnTo>
                <a:lnTo>
                  <a:pt x="4120186" y="43078"/>
                </a:lnTo>
                <a:lnTo>
                  <a:pt x="4119577" y="36760"/>
                </a:lnTo>
                <a:lnTo>
                  <a:pt x="4094291" y="39256"/>
                </a:lnTo>
                <a:lnTo>
                  <a:pt x="4093973" y="36093"/>
                </a:lnTo>
                <a:cubicBezTo>
                  <a:pt x="4102400" y="35249"/>
                  <a:pt x="4110831" y="34417"/>
                  <a:pt x="4119272" y="33598"/>
                </a:cubicBezTo>
                <a:close/>
                <a:moveTo>
                  <a:pt x="5437118" y="33030"/>
                </a:moveTo>
                <a:lnTo>
                  <a:pt x="5436864" y="36195"/>
                </a:lnTo>
                <a:lnTo>
                  <a:pt x="5436832" y="36193"/>
                </a:lnTo>
                <a:close/>
                <a:moveTo>
                  <a:pt x="5462645" y="32093"/>
                </a:moveTo>
                <a:lnTo>
                  <a:pt x="5462677" y="32096"/>
                </a:lnTo>
                <a:lnTo>
                  <a:pt x="5462105" y="38421"/>
                </a:lnTo>
                <a:lnTo>
                  <a:pt x="5462073" y="38418"/>
                </a:lnTo>
                <a:close/>
                <a:moveTo>
                  <a:pt x="4170040" y="32048"/>
                </a:moveTo>
                <a:lnTo>
                  <a:pt x="4170320" y="35192"/>
                </a:lnTo>
                <a:lnTo>
                  <a:pt x="4170038" y="32048"/>
                </a:lnTo>
                <a:close/>
                <a:moveTo>
                  <a:pt x="5411917" y="30001"/>
                </a:moveTo>
                <a:lnTo>
                  <a:pt x="5411592" y="34055"/>
                </a:lnTo>
                <a:lnTo>
                  <a:pt x="5411591" y="34055"/>
                </a:lnTo>
                <a:close/>
                <a:moveTo>
                  <a:pt x="4195281" y="29826"/>
                </a:moveTo>
                <a:lnTo>
                  <a:pt x="4195827" y="36151"/>
                </a:lnTo>
                <a:lnTo>
                  <a:pt x="4195827" y="36151"/>
                </a:lnTo>
                <a:lnTo>
                  <a:pt x="4195281" y="29826"/>
                </a:lnTo>
                <a:close/>
                <a:moveTo>
                  <a:pt x="5462963" y="28931"/>
                </a:moveTo>
                <a:cubicBezTo>
                  <a:pt x="5471344" y="29686"/>
                  <a:pt x="5479790" y="30461"/>
                  <a:pt x="5488172" y="31242"/>
                </a:cubicBezTo>
                <a:lnTo>
                  <a:pt x="5487887" y="34401"/>
                </a:lnTo>
                <a:lnTo>
                  <a:pt x="5462677" y="32096"/>
                </a:lnTo>
                <a:close/>
                <a:moveTo>
                  <a:pt x="4169754" y="28886"/>
                </a:moveTo>
                <a:lnTo>
                  <a:pt x="4170038" y="32048"/>
                </a:lnTo>
                <a:lnTo>
                  <a:pt x="4144818" y="34354"/>
                </a:lnTo>
                <a:lnTo>
                  <a:pt x="4145408" y="40678"/>
                </a:lnTo>
                <a:cubicBezTo>
                  <a:pt x="4153803" y="39897"/>
                  <a:pt x="4162204" y="39122"/>
                  <a:pt x="4170605" y="38373"/>
                </a:cubicBezTo>
                <a:lnTo>
                  <a:pt x="4170320" y="35192"/>
                </a:lnTo>
                <a:lnTo>
                  <a:pt x="4170891" y="41535"/>
                </a:lnTo>
                <a:cubicBezTo>
                  <a:pt x="4162490" y="42285"/>
                  <a:pt x="4154095" y="43053"/>
                  <a:pt x="4145701" y="43840"/>
                </a:cubicBezTo>
                <a:lnTo>
                  <a:pt x="4144520" y="31191"/>
                </a:lnTo>
                <a:cubicBezTo>
                  <a:pt x="4152926" y="30410"/>
                  <a:pt x="4161341" y="29642"/>
                  <a:pt x="4169754" y="28886"/>
                </a:cubicBezTo>
                <a:close/>
                <a:moveTo>
                  <a:pt x="5361204" y="26891"/>
                </a:moveTo>
                <a:lnTo>
                  <a:pt x="5360982" y="30048"/>
                </a:lnTo>
                <a:lnTo>
                  <a:pt x="5386255" y="32010"/>
                </a:lnTo>
                <a:lnTo>
                  <a:pt x="5386001" y="35173"/>
                </a:lnTo>
                <a:cubicBezTo>
                  <a:pt x="5377619" y="34506"/>
                  <a:pt x="5369173" y="33852"/>
                  <a:pt x="5360728" y="33217"/>
                </a:cubicBezTo>
                <a:close/>
                <a:moveTo>
                  <a:pt x="4271409" y="26819"/>
                </a:moveTo>
                <a:lnTo>
                  <a:pt x="4271653" y="30016"/>
                </a:lnTo>
                <a:lnTo>
                  <a:pt x="4271649" y="30017"/>
                </a:lnTo>
                <a:close/>
                <a:moveTo>
                  <a:pt x="5386763" y="25679"/>
                </a:moveTo>
                <a:lnTo>
                  <a:pt x="5386763" y="25679"/>
                </a:lnTo>
                <a:lnTo>
                  <a:pt x="5386255" y="32010"/>
                </a:lnTo>
                <a:lnTo>
                  <a:pt x="5386255" y="32010"/>
                </a:lnTo>
                <a:close/>
                <a:moveTo>
                  <a:pt x="5412353" y="24562"/>
                </a:moveTo>
                <a:cubicBezTo>
                  <a:pt x="5420798" y="25260"/>
                  <a:pt x="5429244" y="25978"/>
                  <a:pt x="5437690" y="26702"/>
                </a:cubicBezTo>
                <a:lnTo>
                  <a:pt x="5437118" y="33030"/>
                </a:lnTo>
                <a:lnTo>
                  <a:pt x="5437372" y="29864"/>
                </a:lnTo>
                <a:cubicBezTo>
                  <a:pt x="5428990" y="29140"/>
                  <a:pt x="5420544" y="28429"/>
                  <a:pt x="5412099" y="27730"/>
                </a:cubicBezTo>
                <a:lnTo>
                  <a:pt x="5411917" y="30001"/>
                </a:lnTo>
                <a:close/>
                <a:moveTo>
                  <a:pt x="4220293" y="24524"/>
                </a:moveTo>
                <a:lnTo>
                  <a:pt x="4221342" y="37179"/>
                </a:lnTo>
                <a:cubicBezTo>
                  <a:pt x="4212921" y="37878"/>
                  <a:pt x="4204508" y="38589"/>
                  <a:pt x="4196101" y="39313"/>
                </a:cubicBezTo>
                <a:lnTo>
                  <a:pt x="4195827" y="36151"/>
                </a:lnTo>
                <a:lnTo>
                  <a:pt x="4221074" y="34017"/>
                </a:lnTo>
                <a:lnTo>
                  <a:pt x="4220554" y="27686"/>
                </a:lnTo>
                <a:lnTo>
                  <a:pt x="4195281" y="29826"/>
                </a:lnTo>
                <a:lnTo>
                  <a:pt x="4195007" y="26657"/>
                </a:lnTo>
                <a:cubicBezTo>
                  <a:pt x="4203434" y="25933"/>
                  <a:pt x="4211861" y="25222"/>
                  <a:pt x="4220293" y="24524"/>
                </a:cubicBezTo>
                <a:close/>
                <a:moveTo>
                  <a:pt x="5361426" y="23717"/>
                </a:moveTo>
                <a:lnTo>
                  <a:pt x="5361442" y="23718"/>
                </a:lnTo>
                <a:lnTo>
                  <a:pt x="5361204" y="26891"/>
                </a:lnTo>
                <a:close/>
                <a:moveTo>
                  <a:pt x="4322013" y="23420"/>
                </a:moveTo>
                <a:lnTo>
                  <a:pt x="4322218" y="26378"/>
                </a:lnTo>
                <a:lnTo>
                  <a:pt x="4322216" y="26378"/>
                </a:lnTo>
                <a:close/>
                <a:moveTo>
                  <a:pt x="5259779" y="23115"/>
                </a:moveTo>
                <a:lnTo>
                  <a:pt x="5285099" y="24714"/>
                </a:lnTo>
                <a:lnTo>
                  <a:pt x="5284908" y="27883"/>
                </a:lnTo>
                <a:cubicBezTo>
                  <a:pt x="5276463" y="27337"/>
                  <a:pt x="5268018" y="26803"/>
                  <a:pt x="5259572" y="26283"/>
                </a:cubicBezTo>
                <a:close/>
                <a:moveTo>
                  <a:pt x="5336058" y="21842"/>
                </a:moveTo>
                <a:lnTo>
                  <a:pt x="5336090" y="21844"/>
                </a:lnTo>
                <a:lnTo>
                  <a:pt x="5335645" y="28175"/>
                </a:lnTo>
                <a:lnTo>
                  <a:pt x="5335614" y="28173"/>
                </a:lnTo>
                <a:close/>
                <a:moveTo>
                  <a:pt x="4372606" y="20938"/>
                </a:moveTo>
                <a:lnTo>
                  <a:pt x="4372935" y="26264"/>
                </a:lnTo>
                <a:cubicBezTo>
                  <a:pt x="4364508" y="26778"/>
                  <a:pt x="4356089" y="27311"/>
                  <a:pt x="4347674" y="27857"/>
                </a:cubicBezTo>
                <a:lnTo>
                  <a:pt x="4347468" y="24689"/>
                </a:lnTo>
                <a:lnTo>
                  <a:pt x="4372738" y="23095"/>
                </a:lnTo>
                <a:close/>
                <a:moveTo>
                  <a:pt x="5361680" y="20549"/>
                </a:moveTo>
                <a:cubicBezTo>
                  <a:pt x="5370126" y="21190"/>
                  <a:pt x="5378571" y="21844"/>
                  <a:pt x="5387017" y="22511"/>
                </a:cubicBezTo>
                <a:lnTo>
                  <a:pt x="5386763" y="25679"/>
                </a:lnTo>
                <a:lnTo>
                  <a:pt x="5361442" y="23718"/>
                </a:lnTo>
                <a:close/>
                <a:moveTo>
                  <a:pt x="4270935" y="20517"/>
                </a:moveTo>
                <a:lnTo>
                  <a:pt x="4271409" y="26819"/>
                </a:lnTo>
                <a:lnTo>
                  <a:pt x="4271170" y="23685"/>
                </a:lnTo>
                <a:cubicBezTo>
                  <a:pt x="4262725" y="24321"/>
                  <a:pt x="4254285" y="24975"/>
                  <a:pt x="4245852" y="25641"/>
                </a:cubicBezTo>
                <a:lnTo>
                  <a:pt x="4246353" y="31972"/>
                </a:lnTo>
                <a:lnTo>
                  <a:pt x="4271649" y="30017"/>
                </a:lnTo>
                <a:lnTo>
                  <a:pt x="4271888" y="33185"/>
                </a:lnTo>
                <a:cubicBezTo>
                  <a:pt x="4263455" y="33820"/>
                  <a:pt x="4255028" y="34474"/>
                  <a:pt x="4246601" y="35141"/>
                </a:cubicBezTo>
                <a:lnTo>
                  <a:pt x="4245599" y="22479"/>
                </a:lnTo>
                <a:cubicBezTo>
                  <a:pt x="4254038" y="21812"/>
                  <a:pt x="4262483" y="21158"/>
                  <a:pt x="4270935" y="20517"/>
                </a:cubicBezTo>
                <a:close/>
                <a:moveTo>
                  <a:pt x="4423360" y="20168"/>
                </a:moveTo>
                <a:lnTo>
                  <a:pt x="4423532" y="23336"/>
                </a:lnTo>
                <a:cubicBezTo>
                  <a:pt x="4415093" y="23793"/>
                  <a:pt x="4406654" y="24270"/>
                  <a:pt x="4398221" y="24759"/>
                </a:cubicBezTo>
                <a:lnTo>
                  <a:pt x="4398038" y="21584"/>
                </a:lnTo>
                <a:close/>
                <a:moveTo>
                  <a:pt x="5259979" y="20031"/>
                </a:moveTo>
                <a:lnTo>
                  <a:pt x="5259779" y="23115"/>
                </a:lnTo>
                <a:lnTo>
                  <a:pt x="5259763" y="23114"/>
                </a:lnTo>
                <a:close/>
                <a:moveTo>
                  <a:pt x="4397878" y="18815"/>
                </a:moveTo>
                <a:lnTo>
                  <a:pt x="4398038" y="21584"/>
                </a:lnTo>
                <a:lnTo>
                  <a:pt x="4398036" y="21584"/>
                </a:lnTo>
                <a:close/>
                <a:moveTo>
                  <a:pt x="5285480" y="18377"/>
                </a:moveTo>
                <a:lnTo>
                  <a:pt x="5285480" y="18377"/>
                </a:lnTo>
                <a:lnTo>
                  <a:pt x="5285099" y="24714"/>
                </a:lnTo>
                <a:lnTo>
                  <a:pt x="5285099" y="24714"/>
                </a:lnTo>
                <a:close/>
                <a:moveTo>
                  <a:pt x="5234652" y="18358"/>
                </a:moveTo>
                <a:lnTo>
                  <a:pt x="5234490" y="21603"/>
                </a:lnTo>
                <a:lnTo>
                  <a:pt x="5234474" y="21602"/>
                </a:lnTo>
                <a:close/>
                <a:moveTo>
                  <a:pt x="4347055" y="18351"/>
                </a:moveTo>
                <a:lnTo>
                  <a:pt x="4347468" y="24689"/>
                </a:lnTo>
                <a:lnTo>
                  <a:pt x="4347465" y="24689"/>
                </a:lnTo>
                <a:lnTo>
                  <a:pt x="4347053" y="18351"/>
                </a:lnTo>
                <a:close/>
                <a:moveTo>
                  <a:pt x="5209312" y="17016"/>
                </a:moveTo>
                <a:lnTo>
                  <a:pt x="5209153" y="20180"/>
                </a:lnTo>
                <a:lnTo>
                  <a:pt x="5234474" y="21602"/>
                </a:lnTo>
                <a:lnTo>
                  <a:pt x="5234299" y="24778"/>
                </a:lnTo>
                <a:cubicBezTo>
                  <a:pt x="5225854" y="24289"/>
                  <a:pt x="5217408" y="23813"/>
                  <a:pt x="5208963" y="23355"/>
                </a:cubicBezTo>
                <a:close/>
                <a:moveTo>
                  <a:pt x="5311007" y="16897"/>
                </a:moveTo>
                <a:cubicBezTo>
                  <a:pt x="5319453" y="17475"/>
                  <a:pt x="5327898" y="18072"/>
                  <a:pt x="5336280" y="18675"/>
                </a:cubicBezTo>
                <a:lnTo>
                  <a:pt x="5336058" y="21842"/>
                </a:lnTo>
                <a:lnTo>
                  <a:pt x="5310817" y="20066"/>
                </a:lnTo>
                <a:lnTo>
                  <a:pt x="5310372" y="26403"/>
                </a:lnTo>
                <a:lnTo>
                  <a:pt x="5335614" y="28173"/>
                </a:lnTo>
                <a:lnTo>
                  <a:pt x="5335391" y="31344"/>
                </a:lnTo>
                <a:cubicBezTo>
                  <a:pt x="5326945" y="30740"/>
                  <a:pt x="5318564" y="30143"/>
                  <a:pt x="5310118" y="29572"/>
                </a:cubicBezTo>
                <a:close/>
                <a:moveTo>
                  <a:pt x="4321564" y="16872"/>
                </a:moveTo>
                <a:lnTo>
                  <a:pt x="4322013" y="23420"/>
                </a:lnTo>
                <a:lnTo>
                  <a:pt x="4321780" y="20041"/>
                </a:lnTo>
                <a:cubicBezTo>
                  <a:pt x="4313353" y="20618"/>
                  <a:pt x="4304933" y="21209"/>
                  <a:pt x="4296519" y="21812"/>
                </a:cubicBezTo>
                <a:lnTo>
                  <a:pt x="4296977" y="28150"/>
                </a:lnTo>
                <a:lnTo>
                  <a:pt x="4322216" y="26378"/>
                </a:lnTo>
                <a:lnTo>
                  <a:pt x="4322433" y="29540"/>
                </a:lnTo>
                <a:cubicBezTo>
                  <a:pt x="4314020" y="30118"/>
                  <a:pt x="4305605" y="30709"/>
                  <a:pt x="4297198" y="31312"/>
                </a:cubicBezTo>
                <a:lnTo>
                  <a:pt x="4296291" y="18650"/>
                </a:lnTo>
                <a:cubicBezTo>
                  <a:pt x="4304710" y="18040"/>
                  <a:pt x="4313137" y="17450"/>
                  <a:pt x="4321564" y="16872"/>
                </a:cubicBezTo>
                <a:close/>
                <a:moveTo>
                  <a:pt x="4372351" y="16758"/>
                </a:moveTo>
                <a:lnTo>
                  <a:pt x="4372606" y="20938"/>
                </a:lnTo>
                <a:lnTo>
                  <a:pt x="4372349" y="16758"/>
                </a:lnTo>
                <a:close/>
                <a:moveTo>
                  <a:pt x="4448545" y="15684"/>
                </a:moveTo>
                <a:lnTo>
                  <a:pt x="4448706" y="18834"/>
                </a:lnTo>
                <a:lnTo>
                  <a:pt x="4448702" y="18834"/>
                </a:lnTo>
                <a:close/>
                <a:moveTo>
                  <a:pt x="4473961" y="15519"/>
                </a:moveTo>
                <a:lnTo>
                  <a:pt x="4474211" y="20765"/>
                </a:lnTo>
                <a:cubicBezTo>
                  <a:pt x="4465759" y="21158"/>
                  <a:pt x="4457314" y="21577"/>
                  <a:pt x="4448868" y="22003"/>
                </a:cubicBezTo>
                <a:lnTo>
                  <a:pt x="4448706" y="18834"/>
                </a:lnTo>
                <a:lnTo>
                  <a:pt x="4474059" y="17590"/>
                </a:lnTo>
                <a:close/>
                <a:moveTo>
                  <a:pt x="5209471" y="13843"/>
                </a:moveTo>
                <a:lnTo>
                  <a:pt x="5209487" y="13844"/>
                </a:lnTo>
                <a:lnTo>
                  <a:pt x="5209312" y="17016"/>
                </a:lnTo>
                <a:close/>
                <a:moveTo>
                  <a:pt x="4423017" y="13824"/>
                </a:moveTo>
                <a:lnTo>
                  <a:pt x="4423360" y="20168"/>
                </a:lnTo>
                <a:lnTo>
                  <a:pt x="4423360" y="20168"/>
                </a:lnTo>
                <a:lnTo>
                  <a:pt x="4423017" y="13824"/>
                </a:lnTo>
                <a:close/>
                <a:moveTo>
                  <a:pt x="5260397" y="13608"/>
                </a:moveTo>
                <a:cubicBezTo>
                  <a:pt x="5268843" y="14129"/>
                  <a:pt x="5277289" y="14662"/>
                  <a:pt x="5285670" y="15208"/>
                </a:cubicBezTo>
                <a:lnTo>
                  <a:pt x="5285480" y="18377"/>
                </a:lnTo>
                <a:lnTo>
                  <a:pt x="5260207" y="16777"/>
                </a:lnTo>
                <a:lnTo>
                  <a:pt x="5259979" y="20031"/>
                </a:lnTo>
                <a:close/>
                <a:moveTo>
                  <a:pt x="4372154" y="13589"/>
                </a:moveTo>
                <a:lnTo>
                  <a:pt x="4372349" y="16758"/>
                </a:lnTo>
                <a:lnTo>
                  <a:pt x="4347055" y="18351"/>
                </a:lnTo>
                <a:lnTo>
                  <a:pt x="4346848" y="15183"/>
                </a:lnTo>
                <a:cubicBezTo>
                  <a:pt x="4355281" y="14637"/>
                  <a:pt x="4363715" y="14103"/>
                  <a:pt x="4372154" y="13589"/>
                </a:cubicBezTo>
                <a:close/>
                <a:moveTo>
                  <a:pt x="5057112" y="13526"/>
                </a:moveTo>
                <a:lnTo>
                  <a:pt x="5082455" y="14415"/>
                </a:lnTo>
                <a:lnTo>
                  <a:pt x="5082344" y="17583"/>
                </a:lnTo>
                <a:cubicBezTo>
                  <a:pt x="5073898" y="17272"/>
                  <a:pt x="5065459" y="16980"/>
                  <a:pt x="5057007" y="16701"/>
                </a:cubicBezTo>
                <a:close/>
                <a:moveTo>
                  <a:pt x="5133239" y="13284"/>
                </a:moveTo>
                <a:lnTo>
                  <a:pt x="5132953" y="19621"/>
                </a:lnTo>
                <a:cubicBezTo>
                  <a:pt x="5124508" y="19253"/>
                  <a:pt x="5116126" y="18898"/>
                  <a:pt x="5107680" y="18561"/>
                </a:cubicBezTo>
                <a:lnTo>
                  <a:pt x="5107807" y="15386"/>
                </a:lnTo>
                <a:lnTo>
                  <a:pt x="5133080" y="16453"/>
                </a:lnTo>
                <a:close/>
                <a:moveTo>
                  <a:pt x="5158671" y="11259"/>
                </a:moveTo>
                <a:lnTo>
                  <a:pt x="5158702" y="11261"/>
                </a:lnTo>
                <a:lnTo>
                  <a:pt x="5158544" y="14432"/>
                </a:lnTo>
                <a:close/>
                <a:moveTo>
                  <a:pt x="4473760" y="11246"/>
                </a:moveTo>
                <a:lnTo>
                  <a:pt x="4473961" y="15519"/>
                </a:lnTo>
                <a:lnTo>
                  <a:pt x="4473758" y="11246"/>
                </a:lnTo>
                <a:close/>
                <a:moveTo>
                  <a:pt x="4955658" y="10865"/>
                </a:moveTo>
                <a:lnTo>
                  <a:pt x="4980963" y="11398"/>
                </a:lnTo>
                <a:lnTo>
                  <a:pt x="4980890" y="14567"/>
                </a:lnTo>
                <a:cubicBezTo>
                  <a:pt x="4972463" y="14376"/>
                  <a:pt x="4964030" y="14199"/>
                  <a:pt x="4955597" y="14040"/>
                </a:cubicBezTo>
                <a:close/>
                <a:moveTo>
                  <a:pt x="5209661" y="10674"/>
                </a:moveTo>
                <a:cubicBezTo>
                  <a:pt x="5218107" y="11132"/>
                  <a:pt x="5226552" y="11608"/>
                  <a:pt x="5234997" y="12097"/>
                </a:cubicBezTo>
                <a:lnTo>
                  <a:pt x="5234652" y="18358"/>
                </a:lnTo>
                <a:lnTo>
                  <a:pt x="5234807" y="15265"/>
                </a:lnTo>
                <a:lnTo>
                  <a:pt x="5209487" y="13844"/>
                </a:lnTo>
                <a:close/>
                <a:moveTo>
                  <a:pt x="4422846" y="10655"/>
                </a:moveTo>
                <a:lnTo>
                  <a:pt x="4423017" y="13824"/>
                </a:lnTo>
                <a:lnTo>
                  <a:pt x="4397675" y="15246"/>
                </a:lnTo>
                <a:lnTo>
                  <a:pt x="4397878" y="18815"/>
                </a:lnTo>
                <a:lnTo>
                  <a:pt x="4397490" y="12078"/>
                </a:lnTo>
                <a:cubicBezTo>
                  <a:pt x="4405935" y="11589"/>
                  <a:pt x="4414387" y="11113"/>
                  <a:pt x="4422846" y="10655"/>
                </a:cubicBezTo>
                <a:close/>
                <a:moveTo>
                  <a:pt x="5057221" y="10234"/>
                </a:moveTo>
                <a:lnTo>
                  <a:pt x="5057112" y="13526"/>
                </a:lnTo>
                <a:lnTo>
                  <a:pt x="5057109" y="13526"/>
                </a:lnTo>
                <a:close/>
                <a:moveTo>
                  <a:pt x="5133381" y="10109"/>
                </a:moveTo>
                <a:lnTo>
                  <a:pt x="5133397" y="10109"/>
                </a:lnTo>
                <a:lnTo>
                  <a:pt x="5133239" y="13284"/>
                </a:lnTo>
                <a:close/>
                <a:moveTo>
                  <a:pt x="4575136" y="10016"/>
                </a:moveTo>
                <a:lnTo>
                  <a:pt x="4575361" y="16694"/>
                </a:lnTo>
                <a:cubicBezTo>
                  <a:pt x="4566915" y="16974"/>
                  <a:pt x="4558476" y="17266"/>
                  <a:pt x="4550037" y="17577"/>
                </a:cubicBezTo>
                <a:lnTo>
                  <a:pt x="4549849" y="12452"/>
                </a:lnTo>
                <a:lnTo>
                  <a:pt x="4549921" y="14402"/>
                </a:lnTo>
                <a:cubicBezTo>
                  <a:pt x="4558362" y="14097"/>
                  <a:pt x="4566806" y="13799"/>
                  <a:pt x="4575253" y="13519"/>
                </a:cubicBezTo>
                <a:close/>
                <a:moveTo>
                  <a:pt x="4816089" y="9525"/>
                </a:moveTo>
                <a:lnTo>
                  <a:pt x="4828801" y="9538"/>
                </a:lnTo>
                <a:lnTo>
                  <a:pt x="4828794" y="12713"/>
                </a:lnTo>
                <a:cubicBezTo>
                  <a:pt x="4824559" y="12706"/>
                  <a:pt x="4820324" y="12700"/>
                  <a:pt x="4816089" y="12700"/>
                </a:cubicBezTo>
                <a:cubicBezTo>
                  <a:pt x="4811854" y="12700"/>
                  <a:pt x="4807618" y="12706"/>
                  <a:pt x="4803383" y="12713"/>
                </a:cubicBezTo>
                <a:lnTo>
                  <a:pt x="4803376" y="9538"/>
                </a:lnTo>
                <a:close/>
                <a:moveTo>
                  <a:pt x="5108061" y="9042"/>
                </a:moveTo>
                <a:lnTo>
                  <a:pt x="5108062" y="9042"/>
                </a:lnTo>
                <a:lnTo>
                  <a:pt x="5107807" y="15386"/>
                </a:lnTo>
                <a:lnTo>
                  <a:pt x="5107807" y="15386"/>
                </a:lnTo>
                <a:close/>
                <a:moveTo>
                  <a:pt x="4524356" y="9036"/>
                </a:moveTo>
                <a:cubicBezTo>
                  <a:pt x="4515918" y="9373"/>
                  <a:pt x="4507479" y="9728"/>
                  <a:pt x="4499046" y="10096"/>
                </a:cubicBezTo>
                <a:lnTo>
                  <a:pt x="4499326" y="16440"/>
                </a:lnTo>
                <a:cubicBezTo>
                  <a:pt x="4507751" y="16072"/>
                  <a:pt x="4516178" y="15716"/>
                  <a:pt x="4524611" y="15380"/>
                </a:cubicBezTo>
                <a:close/>
                <a:moveTo>
                  <a:pt x="4981026" y="8684"/>
                </a:moveTo>
                <a:lnTo>
                  <a:pt x="4980966" y="11398"/>
                </a:lnTo>
                <a:lnTo>
                  <a:pt x="4980963" y="11398"/>
                </a:lnTo>
                <a:close/>
                <a:moveTo>
                  <a:pt x="4955706" y="8312"/>
                </a:moveTo>
                <a:lnTo>
                  <a:pt x="4955658" y="10865"/>
                </a:lnTo>
                <a:lnTo>
                  <a:pt x="4955655" y="10865"/>
                </a:lnTo>
                <a:close/>
                <a:moveTo>
                  <a:pt x="4651268" y="8215"/>
                </a:moveTo>
                <a:lnTo>
                  <a:pt x="4651341" y="11392"/>
                </a:lnTo>
                <a:lnTo>
                  <a:pt x="4651337" y="11392"/>
                </a:lnTo>
                <a:close/>
                <a:moveTo>
                  <a:pt x="5158861" y="8090"/>
                </a:moveTo>
                <a:cubicBezTo>
                  <a:pt x="5167307" y="8490"/>
                  <a:pt x="5175752" y="8903"/>
                  <a:pt x="5184261" y="9335"/>
                </a:cubicBezTo>
                <a:lnTo>
                  <a:pt x="5183626" y="22022"/>
                </a:lnTo>
                <a:cubicBezTo>
                  <a:pt x="5175180" y="21590"/>
                  <a:pt x="5166672" y="21177"/>
                  <a:pt x="5158226" y="20777"/>
                </a:cubicBezTo>
                <a:lnTo>
                  <a:pt x="5158544" y="14432"/>
                </a:lnTo>
                <a:lnTo>
                  <a:pt x="5158416" y="17602"/>
                </a:lnTo>
                <a:cubicBezTo>
                  <a:pt x="5166862" y="18002"/>
                  <a:pt x="5175308" y="18421"/>
                  <a:pt x="5183753" y="18847"/>
                </a:cubicBezTo>
                <a:lnTo>
                  <a:pt x="5184071" y="12510"/>
                </a:lnTo>
                <a:lnTo>
                  <a:pt x="5158702" y="11261"/>
                </a:lnTo>
                <a:close/>
                <a:moveTo>
                  <a:pt x="4473608" y="8077"/>
                </a:moveTo>
                <a:lnTo>
                  <a:pt x="4473758" y="11246"/>
                </a:lnTo>
                <a:lnTo>
                  <a:pt x="4448386" y="12490"/>
                </a:lnTo>
                <a:lnTo>
                  <a:pt x="4448545" y="15684"/>
                </a:lnTo>
                <a:lnTo>
                  <a:pt x="4448221" y="9322"/>
                </a:lnTo>
                <a:cubicBezTo>
                  <a:pt x="4456679" y="8890"/>
                  <a:pt x="4465143" y="8477"/>
                  <a:pt x="4473608" y="8077"/>
                </a:cubicBezTo>
                <a:close/>
                <a:moveTo>
                  <a:pt x="5082677" y="8064"/>
                </a:moveTo>
                <a:lnTo>
                  <a:pt x="5082724" y="8065"/>
                </a:lnTo>
                <a:lnTo>
                  <a:pt x="5082471" y="14415"/>
                </a:lnTo>
                <a:lnTo>
                  <a:pt x="5082455" y="14415"/>
                </a:lnTo>
                <a:close/>
                <a:moveTo>
                  <a:pt x="4549689" y="8058"/>
                </a:moveTo>
                <a:lnTo>
                  <a:pt x="4549849" y="12452"/>
                </a:lnTo>
                <a:lnTo>
                  <a:pt x="4549686" y="8058"/>
                </a:lnTo>
                <a:close/>
                <a:moveTo>
                  <a:pt x="4930379" y="7248"/>
                </a:moveTo>
                <a:lnTo>
                  <a:pt x="4930331" y="10420"/>
                </a:lnTo>
                <a:lnTo>
                  <a:pt x="4930330" y="10420"/>
                </a:lnTo>
                <a:close/>
                <a:moveTo>
                  <a:pt x="4575042" y="7176"/>
                </a:moveTo>
                <a:lnTo>
                  <a:pt x="4575136" y="10016"/>
                </a:lnTo>
                <a:lnTo>
                  <a:pt x="4575041" y="7176"/>
                </a:lnTo>
                <a:close/>
                <a:moveTo>
                  <a:pt x="4854230" y="7016"/>
                </a:moveTo>
                <a:lnTo>
                  <a:pt x="4854217" y="9627"/>
                </a:lnTo>
                <a:lnTo>
                  <a:pt x="4854214" y="9627"/>
                </a:lnTo>
                <a:close/>
                <a:moveTo>
                  <a:pt x="4777967" y="6453"/>
                </a:moveTo>
                <a:lnTo>
                  <a:pt x="4778002" y="12802"/>
                </a:lnTo>
                <a:cubicBezTo>
                  <a:pt x="4769542" y="12846"/>
                  <a:pt x="4761091" y="12903"/>
                  <a:pt x="4752639" y="12979"/>
                </a:cubicBezTo>
                <a:lnTo>
                  <a:pt x="4752586" y="6628"/>
                </a:lnTo>
                <a:lnTo>
                  <a:pt x="4752615" y="9804"/>
                </a:lnTo>
                <a:cubicBezTo>
                  <a:pt x="4761066" y="9728"/>
                  <a:pt x="4769524" y="9671"/>
                  <a:pt x="4777983" y="9627"/>
                </a:cubicBezTo>
                <a:close/>
                <a:moveTo>
                  <a:pt x="5108188" y="5874"/>
                </a:moveTo>
                <a:cubicBezTo>
                  <a:pt x="5116634" y="6210"/>
                  <a:pt x="5125079" y="6566"/>
                  <a:pt x="5133524" y="6934"/>
                </a:cubicBezTo>
                <a:lnTo>
                  <a:pt x="5133381" y="10109"/>
                </a:lnTo>
                <a:lnTo>
                  <a:pt x="5108062" y="9042"/>
                </a:lnTo>
                <a:close/>
                <a:moveTo>
                  <a:pt x="4524230" y="5861"/>
                </a:moveTo>
                <a:lnTo>
                  <a:pt x="4524737" y="18548"/>
                </a:lnTo>
                <a:cubicBezTo>
                  <a:pt x="4516312" y="18891"/>
                  <a:pt x="4507885" y="19247"/>
                  <a:pt x="4499464" y="19615"/>
                </a:cubicBezTo>
                <a:lnTo>
                  <a:pt x="4498906" y="6928"/>
                </a:lnTo>
                <a:cubicBezTo>
                  <a:pt x="4507345" y="6553"/>
                  <a:pt x="4515785" y="6204"/>
                  <a:pt x="4524230" y="5861"/>
                </a:cubicBezTo>
                <a:close/>
                <a:moveTo>
                  <a:pt x="4879644" y="5720"/>
                </a:moveTo>
                <a:lnTo>
                  <a:pt x="4879582" y="12979"/>
                </a:lnTo>
                <a:cubicBezTo>
                  <a:pt x="4871123" y="12903"/>
                  <a:pt x="4862665" y="12846"/>
                  <a:pt x="4854201" y="12802"/>
                </a:cubicBezTo>
                <a:lnTo>
                  <a:pt x="4854217" y="9627"/>
                </a:lnTo>
                <a:lnTo>
                  <a:pt x="4879607" y="9804"/>
                </a:lnTo>
                <a:close/>
                <a:moveTo>
                  <a:pt x="5006505" y="5671"/>
                </a:moveTo>
                <a:lnTo>
                  <a:pt x="5006506" y="5671"/>
                </a:lnTo>
                <a:lnTo>
                  <a:pt x="5006341" y="12014"/>
                </a:lnTo>
                <a:lnTo>
                  <a:pt x="5006340" y="12014"/>
                </a:lnTo>
                <a:close/>
                <a:moveTo>
                  <a:pt x="4625818" y="5664"/>
                </a:moveTo>
                <a:lnTo>
                  <a:pt x="4625983" y="12014"/>
                </a:lnTo>
                <a:lnTo>
                  <a:pt x="4625982" y="12014"/>
                </a:lnTo>
                <a:lnTo>
                  <a:pt x="4625817" y="5664"/>
                </a:lnTo>
                <a:close/>
                <a:moveTo>
                  <a:pt x="4727204" y="5362"/>
                </a:moveTo>
                <a:lnTo>
                  <a:pt x="4727265" y="10065"/>
                </a:lnTo>
                <a:lnTo>
                  <a:pt x="4727263" y="10065"/>
                </a:lnTo>
                <a:close/>
                <a:moveTo>
                  <a:pt x="5057426" y="4007"/>
                </a:moveTo>
                <a:cubicBezTo>
                  <a:pt x="5065891" y="4286"/>
                  <a:pt x="5074342" y="4585"/>
                  <a:pt x="5082788" y="4896"/>
                </a:cubicBezTo>
                <a:lnTo>
                  <a:pt x="5082677" y="8064"/>
                </a:lnTo>
                <a:lnTo>
                  <a:pt x="5057324" y="7176"/>
                </a:lnTo>
                <a:lnTo>
                  <a:pt x="5057221" y="10234"/>
                </a:lnTo>
                <a:close/>
                <a:moveTo>
                  <a:pt x="4574935" y="4001"/>
                </a:moveTo>
                <a:lnTo>
                  <a:pt x="4575041" y="7176"/>
                </a:lnTo>
                <a:lnTo>
                  <a:pt x="4549689" y="8058"/>
                </a:lnTo>
                <a:lnTo>
                  <a:pt x="4549572" y="4883"/>
                </a:lnTo>
                <a:cubicBezTo>
                  <a:pt x="4558024" y="4578"/>
                  <a:pt x="4566477" y="4280"/>
                  <a:pt x="4574935" y="4001"/>
                </a:cubicBezTo>
                <a:close/>
                <a:moveTo>
                  <a:pt x="4879663" y="3454"/>
                </a:moveTo>
                <a:lnTo>
                  <a:pt x="4879664" y="3454"/>
                </a:lnTo>
                <a:lnTo>
                  <a:pt x="4879644" y="5720"/>
                </a:lnTo>
                <a:close/>
                <a:moveTo>
                  <a:pt x="4752559" y="3454"/>
                </a:moveTo>
                <a:lnTo>
                  <a:pt x="4752586" y="6628"/>
                </a:lnTo>
                <a:lnTo>
                  <a:pt x="4752556" y="3454"/>
                </a:lnTo>
                <a:close/>
                <a:moveTo>
                  <a:pt x="4777951" y="3277"/>
                </a:moveTo>
                <a:lnTo>
                  <a:pt x="4777967" y="6453"/>
                </a:lnTo>
                <a:lnTo>
                  <a:pt x="4777949" y="3277"/>
                </a:lnTo>
                <a:close/>
                <a:moveTo>
                  <a:pt x="4803363" y="3188"/>
                </a:moveTo>
                <a:lnTo>
                  <a:pt x="4803376" y="9538"/>
                </a:lnTo>
                <a:lnTo>
                  <a:pt x="4803375" y="9538"/>
                </a:lnTo>
                <a:lnTo>
                  <a:pt x="4803363" y="3188"/>
                </a:lnTo>
                <a:close/>
                <a:moveTo>
                  <a:pt x="4828814" y="3188"/>
                </a:moveTo>
                <a:lnTo>
                  <a:pt x="4828814" y="3188"/>
                </a:lnTo>
                <a:lnTo>
                  <a:pt x="4828801" y="9538"/>
                </a:lnTo>
                <a:lnTo>
                  <a:pt x="4828801" y="9538"/>
                </a:lnTo>
                <a:close/>
                <a:moveTo>
                  <a:pt x="5006588" y="2496"/>
                </a:moveTo>
                <a:cubicBezTo>
                  <a:pt x="5015072" y="2718"/>
                  <a:pt x="5023549" y="2953"/>
                  <a:pt x="5032020" y="3207"/>
                </a:cubicBezTo>
                <a:lnTo>
                  <a:pt x="5031639" y="15900"/>
                </a:lnTo>
                <a:cubicBezTo>
                  <a:pt x="5023180" y="15646"/>
                  <a:pt x="5014722" y="15411"/>
                  <a:pt x="5006258" y="15189"/>
                </a:cubicBezTo>
                <a:lnTo>
                  <a:pt x="5006341" y="12014"/>
                </a:lnTo>
                <a:lnTo>
                  <a:pt x="5031734" y="12725"/>
                </a:lnTo>
                <a:lnTo>
                  <a:pt x="5031924" y="6382"/>
                </a:lnTo>
                <a:lnTo>
                  <a:pt x="5006506" y="5671"/>
                </a:lnTo>
                <a:close/>
                <a:moveTo>
                  <a:pt x="4625735" y="2489"/>
                </a:moveTo>
                <a:lnTo>
                  <a:pt x="4625817" y="5664"/>
                </a:lnTo>
                <a:lnTo>
                  <a:pt x="4600417" y="6375"/>
                </a:lnTo>
                <a:lnTo>
                  <a:pt x="4600608" y="12719"/>
                </a:lnTo>
                <a:lnTo>
                  <a:pt x="4625982" y="12014"/>
                </a:lnTo>
                <a:lnTo>
                  <a:pt x="4626064" y="15183"/>
                </a:lnTo>
                <a:cubicBezTo>
                  <a:pt x="4617606" y="15405"/>
                  <a:pt x="4609155" y="15646"/>
                  <a:pt x="4600703" y="15894"/>
                </a:cubicBezTo>
                <a:lnTo>
                  <a:pt x="4600322" y="3200"/>
                </a:lnTo>
                <a:cubicBezTo>
                  <a:pt x="4608793" y="2946"/>
                  <a:pt x="4617263" y="2711"/>
                  <a:pt x="4625735" y="2489"/>
                </a:cubicBezTo>
                <a:close/>
                <a:moveTo>
                  <a:pt x="4955839" y="1340"/>
                </a:moveTo>
                <a:cubicBezTo>
                  <a:pt x="4964291" y="1505"/>
                  <a:pt x="4972736" y="1683"/>
                  <a:pt x="4981182" y="1873"/>
                </a:cubicBezTo>
                <a:lnTo>
                  <a:pt x="4981026" y="8684"/>
                </a:lnTo>
                <a:lnTo>
                  <a:pt x="4981105" y="5048"/>
                </a:lnTo>
                <a:cubicBezTo>
                  <a:pt x="4972666" y="4858"/>
                  <a:pt x="4964227" y="4680"/>
                  <a:pt x="4955782" y="4515"/>
                </a:cubicBezTo>
                <a:lnTo>
                  <a:pt x="4955706" y="8312"/>
                </a:lnTo>
                <a:close/>
                <a:moveTo>
                  <a:pt x="4676446" y="1340"/>
                </a:moveTo>
                <a:lnTo>
                  <a:pt x="4676687" y="14040"/>
                </a:lnTo>
                <a:cubicBezTo>
                  <a:pt x="4668260" y="14199"/>
                  <a:pt x="4659835" y="14376"/>
                  <a:pt x="4651414" y="14567"/>
                </a:cubicBezTo>
                <a:lnTo>
                  <a:pt x="4651341" y="11392"/>
                </a:lnTo>
                <a:lnTo>
                  <a:pt x="4676624" y="10865"/>
                </a:lnTo>
                <a:lnTo>
                  <a:pt x="4676503" y="4515"/>
                </a:lnTo>
                <a:cubicBezTo>
                  <a:pt x="4668064" y="4674"/>
                  <a:pt x="4659624" y="4851"/>
                  <a:pt x="4651199" y="5042"/>
                </a:cubicBezTo>
                <a:lnTo>
                  <a:pt x="4651268" y="8215"/>
                </a:lnTo>
                <a:lnTo>
                  <a:pt x="4651122" y="1867"/>
                </a:lnTo>
                <a:cubicBezTo>
                  <a:pt x="4659561" y="1676"/>
                  <a:pt x="4668001" y="1499"/>
                  <a:pt x="4676446" y="1340"/>
                </a:cubicBezTo>
                <a:close/>
                <a:moveTo>
                  <a:pt x="4905096" y="546"/>
                </a:moveTo>
                <a:cubicBezTo>
                  <a:pt x="4913560" y="648"/>
                  <a:pt x="4922019" y="768"/>
                  <a:pt x="4930477" y="895"/>
                </a:cubicBezTo>
                <a:lnTo>
                  <a:pt x="4930379" y="7248"/>
                </a:lnTo>
                <a:lnTo>
                  <a:pt x="4930426" y="4070"/>
                </a:lnTo>
                <a:cubicBezTo>
                  <a:pt x="4921974" y="3943"/>
                  <a:pt x="4913516" y="3823"/>
                  <a:pt x="4905058" y="3721"/>
                </a:cubicBezTo>
                <a:lnTo>
                  <a:pt x="4904982" y="10071"/>
                </a:lnTo>
                <a:lnTo>
                  <a:pt x="4930330" y="10420"/>
                </a:lnTo>
                <a:lnTo>
                  <a:pt x="4930280" y="13595"/>
                </a:lnTo>
                <a:cubicBezTo>
                  <a:pt x="4921835" y="13462"/>
                  <a:pt x="4913389" y="13348"/>
                  <a:pt x="4904937" y="13240"/>
                </a:cubicBezTo>
                <a:close/>
                <a:moveTo>
                  <a:pt x="4727143" y="546"/>
                </a:moveTo>
                <a:lnTo>
                  <a:pt x="4727204" y="5362"/>
                </a:lnTo>
                <a:lnTo>
                  <a:pt x="4727183" y="3715"/>
                </a:lnTo>
                <a:cubicBezTo>
                  <a:pt x="4718730" y="3823"/>
                  <a:pt x="4710278" y="3937"/>
                  <a:pt x="4701833" y="4070"/>
                </a:cubicBezTo>
                <a:lnTo>
                  <a:pt x="4701935" y="10420"/>
                </a:lnTo>
                <a:lnTo>
                  <a:pt x="4727263" y="10065"/>
                </a:lnTo>
                <a:lnTo>
                  <a:pt x="4727303" y="13240"/>
                </a:lnTo>
                <a:cubicBezTo>
                  <a:pt x="4718858" y="13348"/>
                  <a:pt x="4710418" y="13462"/>
                  <a:pt x="4701985" y="13595"/>
                </a:cubicBezTo>
                <a:lnTo>
                  <a:pt x="4701782" y="895"/>
                </a:lnTo>
                <a:cubicBezTo>
                  <a:pt x="4710234" y="762"/>
                  <a:pt x="4718685" y="648"/>
                  <a:pt x="4727143" y="546"/>
                </a:cubicBezTo>
                <a:close/>
                <a:moveTo>
                  <a:pt x="4854264" y="102"/>
                </a:moveTo>
                <a:cubicBezTo>
                  <a:pt x="4862741" y="146"/>
                  <a:pt x="4871219" y="203"/>
                  <a:pt x="4879690" y="279"/>
                </a:cubicBezTo>
                <a:lnTo>
                  <a:pt x="4879663" y="3454"/>
                </a:lnTo>
                <a:lnTo>
                  <a:pt x="4854252" y="3277"/>
                </a:lnTo>
                <a:lnTo>
                  <a:pt x="4854230" y="7016"/>
                </a:lnTo>
                <a:close/>
                <a:moveTo>
                  <a:pt x="4777931" y="102"/>
                </a:moveTo>
                <a:lnTo>
                  <a:pt x="4777949" y="3277"/>
                </a:lnTo>
                <a:lnTo>
                  <a:pt x="4752559" y="3454"/>
                </a:lnTo>
                <a:lnTo>
                  <a:pt x="4752532" y="279"/>
                </a:lnTo>
                <a:cubicBezTo>
                  <a:pt x="4760996" y="203"/>
                  <a:pt x="4769461" y="146"/>
                  <a:pt x="4777931" y="102"/>
                </a:cubicBezTo>
                <a:close/>
                <a:moveTo>
                  <a:pt x="4816089" y="0"/>
                </a:moveTo>
                <a:cubicBezTo>
                  <a:pt x="4820331" y="0"/>
                  <a:pt x="4824579" y="6"/>
                  <a:pt x="4828820" y="13"/>
                </a:cubicBezTo>
                <a:lnTo>
                  <a:pt x="4828814" y="3188"/>
                </a:lnTo>
                <a:lnTo>
                  <a:pt x="4816089" y="3175"/>
                </a:lnTo>
                <a:lnTo>
                  <a:pt x="4803363" y="3188"/>
                </a:lnTo>
                <a:lnTo>
                  <a:pt x="4803356" y="13"/>
                </a:lnTo>
                <a:cubicBezTo>
                  <a:pt x="4807605" y="6"/>
                  <a:pt x="4811847" y="0"/>
                  <a:pt x="4816089" y="0"/>
                </a:cubicBezTo>
                <a:close/>
              </a:path>
            </a:pathLst>
          </a:custGeom>
          <a:gradFill>
            <a:gsLst>
              <a:gs pos="0">
                <a:srgbClr val="3368FF"/>
              </a:gs>
              <a:gs pos="90000">
                <a:srgbClr val="3368FF">
                  <a:alpha val="0"/>
                </a:srgbClr>
              </a:gs>
            </a:gsLst>
            <a:lin ang="5400000" scaled="0"/>
          </a:gradFill>
          <a:ln w="635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197" name="任意多边形: 形状 153"/>
          <p:cNvSpPr/>
          <p:nvPr/>
        </p:nvSpPr>
        <p:spPr>
          <a:xfrm>
            <a:off x="1503028" y="3615055"/>
            <a:ext cx="9179562" cy="3831548"/>
          </a:xfrm>
          <a:custGeom>
            <a:avLst/>
            <a:gdLst>
              <a:gd name="connsiteX0" fmla="*/ 7442662 w 9179562"/>
              <a:gd name="connsiteY0" fmla="*/ 973950 h 3831548"/>
              <a:gd name="connsiteX1" fmla="*/ 9125819 w 9179562"/>
              <a:gd name="connsiteY1" fmla="*/ 3574086 h 3831548"/>
              <a:gd name="connsiteX2" fmla="*/ 9179562 w 9179562"/>
              <a:gd name="connsiteY2" fmla="*/ 3831548 h 3831548"/>
              <a:gd name="connsiteX3" fmla="*/ 6833517 w 9179562"/>
              <a:gd name="connsiteY3" fmla="*/ 3831548 h 3831548"/>
              <a:gd name="connsiteX4" fmla="*/ 6844047 w 9179562"/>
              <a:gd name="connsiteY4" fmla="*/ 3679825 h 3831548"/>
              <a:gd name="connsiteX5" fmla="*/ 6238511 w 9179562"/>
              <a:gd name="connsiteY5" fmla="*/ 2143728 h 3831548"/>
              <a:gd name="connsiteX6" fmla="*/ 7372621 w 9179562"/>
              <a:gd name="connsiteY6" fmla="*/ 1034072 h 3831548"/>
              <a:gd name="connsiteX7" fmla="*/ 7442662 w 9179562"/>
              <a:gd name="connsiteY7" fmla="*/ 973950 h 3831548"/>
              <a:gd name="connsiteX8" fmla="*/ 1741485 w 9179562"/>
              <a:gd name="connsiteY8" fmla="*/ 970458 h 3831548"/>
              <a:gd name="connsiteX9" fmla="*/ 1815603 w 9179562"/>
              <a:gd name="connsiteY9" fmla="*/ 1034072 h 3831548"/>
              <a:gd name="connsiteX10" fmla="*/ 2948603 w 9179562"/>
              <a:gd name="connsiteY10" fmla="*/ 2142484 h 3831548"/>
              <a:gd name="connsiteX11" fmla="*/ 2341897 w 9179562"/>
              <a:gd name="connsiteY11" fmla="*/ 3679825 h 3831548"/>
              <a:gd name="connsiteX12" fmla="*/ 2352439 w 9179562"/>
              <a:gd name="connsiteY12" fmla="*/ 3831548 h 3831548"/>
              <a:gd name="connsiteX13" fmla="*/ 0 w 9179562"/>
              <a:gd name="connsiteY13" fmla="*/ 3831548 h 3831548"/>
              <a:gd name="connsiteX14" fmla="*/ 54123 w 9179562"/>
              <a:gd name="connsiteY14" fmla="*/ 3572634 h 3831548"/>
              <a:gd name="connsiteX15" fmla="*/ 1741485 w 9179562"/>
              <a:gd name="connsiteY15" fmla="*/ 970458 h 3831548"/>
              <a:gd name="connsiteX16" fmla="*/ 4589797 w 9179562"/>
              <a:gd name="connsiteY16" fmla="*/ 0 h 3831548"/>
              <a:gd name="connsiteX17" fmla="*/ 7297818 w 9179562"/>
              <a:gd name="connsiteY17" fmla="*/ 866229 h 3831548"/>
              <a:gd name="connsiteX18" fmla="*/ 7257496 w 9179562"/>
              <a:gd name="connsiteY18" fmla="*/ 900919 h 3831548"/>
              <a:gd name="connsiteX19" fmla="*/ 6113290 w 9179562"/>
              <a:gd name="connsiteY19" fmla="*/ 2019694 h 3831548"/>
              <a:gd name="connsiteX20" fmla="*/ 4592972 w 9179562"/>
              <a:gd name="connsiteY20" fmla="*/ 1428750 h 3831548"/>
              <a:gd name="connsiteX21" fmla="*/ 3073914 w 9179562"/>
              <a:gd name="connsiteY21" fmla="*/ 2018544 h 3831548"/>
              <a:gd name="connsiteX22" fmla="*/ 1930690 w 9179562"/>
              <a:gd name="connsiteY22" fmla="*/ 900919 h 3831548"/>
              <a:gd name="connsiteX23" fmla="*/ 1886488 w 9179562"/>
              <a:gd name="connsiteY23" fmla="*/ 862870 h 3831548"/>
              <a:gd name="connsiteX24" fmla="*/ 4589797 w 9179562"/>
              <a:gd name="connsiteY24" fmla="*/ 0 h 3831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179562" h="3831548">
                <a:moveTo>
                  <a:pt x="7442662" y="973950"/>
                </a:moveTo>
                <a:cubicBezTo>
                  <a:pt x="8269051" y="1613773"/>
                  <a:pt x="8874662" y="2525058"/>
                  <a:pt x="9125819" y="3574086"/>
                </a:cubicBezTo>
                <a:lnTo>
                  <a:pt x="9179562" y="3831548"/>
                </a:lnTo>
                <a:lnTo>
                  <a:pt x="6833517" y="3831548"/>
                </a:lnTo>
                <a:lnTo>
                  <a:pt x="6844047" y="3679825"/>
                </a:lnTo>
                <a:cubicBezTo>
                  <a:pt x="6844047" y="3086037"/>
                  <a:pt x="6614178" y="2545963"/>
                  <a:pt x="6238511" y="2143728"/>
                </a:cubicBezTo>
                <a:cubicBezTo>
                  <a:pt x="6564838" y="1775695"/>
                  <a:pt x="6954347" y="1395622"/>
                  <a:pt x="7372621" y="1034072"/>
                </a:cubicBezTo>
                <a:cubicBezTo>
                  <a:pt x="7395862" y="1013968"/>
                  <a:pt x="7419230" y="993927"/>
                  <a:pt x="7442662" y="973950"/>
                </a:cubicBezTo>
                <a:close/>
                <a:moveTo>
                  <a:pt x="1741485" y="970458"/>
                </a:moveTo>
                <a:cubicBezTo>
                  <a:pt x="1766282" y="991584"/>
                  <a:pt x="1790990" y="1012793"/>
                  <a:pt x="1815603" y="1034072"/>
                </a:cubicBezTo>
                <a:cubicBezTo>
                  <a:pt x="2233427" y="1395216"/>
                  <a:pt x="2622485" y="1774838"/>
                  <a:pt x="2948603" y="2142484"/>
                </a:cubicBezTo>
                <a:cubicBezTo>
                  <a:pt x="2572270" y="2544845"/>
                  <a:pt x="2341897" y="3085402"/>
                  <a:pt x="2341897" y="3679825"/>
                </a:cubicBezTo>
                <a:lnTo>
                  <a:pt x="2352439" y="3831548"/>
                </a:lnTo>
                <a:lnTo>
                  <a:pt x="0" y="3831548"/>
                </a:lnTo>
                <a:lnTo>
                  <a:pt x="54123" y="3572634"/>
                </a:lnTo>
                <a:cubicBezTo>
                  <a:pt x="305953" y="2522293"/>
                  <a:pt x="913154" y="1610162"/>
                  <a:pt x="1741485" y="970458"/>
                </a:cubicBezTo>
                <a:close/>
                <a:moveTo>
                  <a:pt x="4589797" y="0"/>
                </a:moveTo>
                <a:cubicBezTo>
                  <a:pt x="5599574" y="0"/>
                  <a:pt x="6534358" y="320878"/>
                  <a:pt x="7297818" y="866229"/>
                </a:cubicBezTo>
                <a:cubicBezTo>
                  <a:pt x="7284356" y="877773"/>
                  <a:pt x="7270958" y="889336"/>
                  <a:pt x="7257496" y="900919"/>
                </a:cubicBezTo>
                <a:cubicBezTo>
                  <a:pt x="6838205" y="1263358"/>
                  <a:pt x="6445077" y="1646244"/>
                  <a:pt x="6113290" y="2019694"/>
                </a:cubicBezTo>
                <a:cubicBezTo>
                  <a:pt x="5712731" y="1652702"/>
                  <a:pt x="5179015" y="1428750"/>
                  <a:pt x="4592972" y="1428750"/>
                </a:cubicBezTo>
                <a:cubicBezTo>
                  <a:pt x="4007535" y="1428750"/>
                  <a:pt x="3474300" y="1652232"/>
                  <a:pt x="3073914" y="2018544"/>
                </a:cubicBezTo>
                <a:cubicBezTo>
                  <a:pt x="2742310" y="1645463"/>
                  <a:pt x="2349582" y="1262983"/>
                  <a:pt x="1930690" y="900919"/>
                </a:cubicBezTo>
                <a:cubicBezTo>
                  <a:pt x="1915990" y="888212"/>
                  <a:pt x="1901259" y="875532"/>
                  <a:pt x="1886488" y="862870"/>
                </a:cubicBezTo>
                <a:cubicBezTo>
                  <a:pt x="2649078" y="319564"/>
                  <a:pt x="3582123" y="0"/>
                  <a:pt x="4589797" y="0"/>
                </a:cubicBezTo>
                <a:close/>
              </a:path>
            </a:pathLst>
          </a:custGeom>
          <a:gradFill>
            <a:gsLst>
              <a:gs pos="0">
                <a:srgbClr val="3368FF">
                  <a:alpha val="10000"/>
                </a:srgbClr>
              </a:gs>
              <a:gs pos="90000">
                <a:srgbClr val="3368FF">
                  <a:alpha val="0"/>
                </a:srgbClr>
              </a:gs>
            </a:gsLst>
            <a:lin ang="54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en-US">
              <a:latin typeface="微软雅黑"/>
              <a:ea typeface="微软雅黑"/>
              <a:cs typeface="微软雅黑"/>
            </a:endParaRPr>
          </a:p>
          <a:p>
            <a:pPr>
              <a:defRPr>
                <a:latin typeface="微软雅黑"/>
                <a:ea typeface="微软雅黑"/>
                <a:cs typeface="微软雅黑"/>
              </a:defRPr>
            </a:pPr>
            <a:endParaRPr lang="en-US">
              <a:latin typeface="微软雅黑"/>
              <a:ea typeface="微软雅黑"/>
              <a:cs typeface="微软雅黑"/>
            </a:endParaRPr>
          </a:p>
        </p:txBody>
      </p:sp>
      <p:sp>
        <p:nvSpPr>
          <p:cNvPr id="198" name="任意多边形: 形状 81"/>
          <p:cNvSpPr/>
          <p:nvPr/>
        </p:nvSpPr>
        <p:spPr>
          <a:xfrm>
            <a:off x="3844925" y="5043805"/>
            <a:ext cx="4502150" cy="4502150"/>
          </a:xfrm>
          <a:custGeom>
            <a:avLst/>
            <a:gdLst>
              <a:gd name="connsiteX0" fmla="*/ 731190 w 4502150"/>
              <a:gd name="connsiteY0" fmla="*/ 590550 h 4502150"/>
              <a:gd name="connsiteX1" fmla="*/ 2251075 w 4502150"/>
              <a:gd name="connsiteY1" fmla="*/ 0 h 4502150"/>
              <a:gd name="connsiteX2" fmla="*/ 3768725 w 4502150"/>
              <a:gd name="connsiteY2" fmla="*/ 588505 h 4502150"/>
              <a:gd name="connsiteX3" fmla="*/ 606108 w 4502150"/>
              <a:gd name="connsiteY3" fmla="*/ 714375 h 4502150"/>
              <a:gd name="connsiteX4" fmla="*/ 0 w 4502150"/>
              <a:gd name="connsiteY4" fmla="*/ 2251075 h 4502150"/>
              <a:gd name="connsiteX5" fmla="*/ 2251075 w 4502150"/>
              <a:gd name="connsiteY5" fmla="*/ 4502150 h 4502150"/>
              <a:gd name="connsiteX6" fmla="*/ 4502150 w 4502150"/>
              <a:gd name="connsiteY6" fmla="*/ 2251075 h 4502150"/>
              <a:gd name="connsiteX7" fmla="*/ 3899027 w 4502150"/>
              <a:gd name="connsiteY7" fmla="*/ 717550 h 450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2150" h="4502150">
                <a:moveTo>
                  <a:pt x="731190" y="590550"/>
                </a:moveTo>
                <a:cubicBezTo>
                  <a:pt x="1131665" y="223793"/>
                  <a:pt x="1665237" y="0"/>
                  <a:pt x="2251075" y="0"/>
                </a:cubicBezTo>
                <a:cubicBezTo>
                  <a:pt x="2835846" y="0"/>
                  <a:pt x="3368484" y="222961"/>
                  <a:pt x="3768725" y="588505"/>
                </a:cubicBezTo>
                <a:moveTo>
                  <a:pt x="606108" y="714375"/>
                </a:moveTo>
                <a:cubicBezTo>
                  <a:pt x="230131" y="1116673"/>
                  <a:pt x="0" y="1656969"/>
                  <a:pt x="0" y="2251075"/>
                </a:cubicBezTo>
                <a:cubicBezTo>
                  <a:pt x="0" y="3494278"/>
                  <a:pt x="1007840" y="4502150"/>
                  <a:pt x="2251075" y="4502150"/>
                </a:cubicBezTo>
                <a:cubicBezTo>
                  <a:pt x="3494278" y="4502150"/>
                  <a:pt x="4502150" y="3494278"/>
                  <a:pt x="4502150" y="2251075"/>
                </a:cubicBezTo>
                <a:cubicBezTo>
                  <a:pt x="4502150" y="1658556"/>
                  <a:pt x="4273232" y="1119512"/>
                  <a:pt x="3899027" y="717550"/>
                </a:cubicBezTo>
              </a:path>
            </a:pathLst>
          </a:custGeom>
          <a:noFill/>
          <a:ln w="6350" cap="flat">
            <a:gradFill>
              <a:gsLst>
                <a:gs pos="0">
                  <a:srgbClr val="3368FF"/>
                </a:gs>
                <a:gs pos="47000">
                  <a:srgbClr val="3368FF">
                    <a:alpha val="0"/>
                  </a:srgbClr>
                </a:gs>
              </a:gsLst>
              <a:lin ang="5400000" scaled="1"/>
            </a:gradFill>
            <a:custDash>
              <a:ds d="300000" sp="300000"/>
            </a:custDash>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199" name="任意多边形: 形状 155"/>
          <p:cNvSpPr/>
          <p:nvPr/>
        </p:nvSpPr>
        <p:spPr>
          <a:xfrm>
            <a:off x="-370718" y="1748155"/>
            <a:ext cx="12952487" cy="5698448"/>
          </a:xfrm>
          <a:custGeom>
            <a:avLst/>
            <a:gdLst>
              <a:gd name="connsiteX0" fmla="*/ 10875968 w 12952487"/>
              <a:gd name="connsiteY0" fmla="*/ 1704346 h 5698448"/>
              <a:gd name="connsiteX1" fmla="*/ 12922757 w 12952487"/>
              <a:gd name="connsiteY1" fmla="*/ 5477875 h 5698448"/>
              <a:gd name="connsiteX2" fmla="*/ 12952487 w 12952487"/>
              <a:gd name="connsiteY2" fmla="*/ 5698448 h 5698448"/>
              <a:gd name="connsiteX3" fmla="*/ 11053266 w 12952487"/>
              <a:gd name="connsiteY3" fmla="*/ 5698448 h 5698448"/>
              <a:gd name="connsiteX4" fmla="*/ 11000070 w 12952487"/>
              <a:gd name="connsiteY4" fmla="*/ 5443083 h 5698448"/>
              <a:gd name="connsiteX5" fmla="*/ 9323013 w 12952487"/>
              <a:gd name="connsiteY5" fmla="*/ 2846014 h 5698448"/>
              <a:gd name="connsiteX6" fmla="*/ 10875968 w 12952487"/>
              <a:gd name="connsiteY6" fmla="*/ 1704346 h 5698448"/>
              <a:gd name="connsiteX7" fmla="*/ 2079961 w 12952487"/>
              <a:gd name="connsiteY7" fmla="*/ 1701178 h 5698448"/>
              <a:gd name="connsiteX8" fmla="*/ 3621900 w 12952487"/>
              <a:gd name="connsiteY8" fmla="*/ 2832214 h 5698448"/>
              <a:gd name="connsiteX9" fmla="*/ 1928376 w 12952487"/>
              <a:gd name="connsiteY9" fmla="*/ 5437439 h 5698448"/>
              <a:gd name="connsiteX10" fmla="*/ 1873703 w 12952487"/>
              <a:gd name="connsiteY10" fmla="*/ 5698448 h 5698448"/>
              <a:gd name="connsiteX11" fmla="*/ 0 w 12952487"/>
              <a:gd name="connsiteY11" fmla="*/ 5698448 h 5698448"/>
              <a:gd name="connsiteX12" fmla="*/ 29879 w 12952487"/>
              <a:gd name="connsiteY12" fmla="*/ 5476967 h 5698448"/>
              <a:gd name="connsiteX13" fmla="*/ 2079961 w 12952487"/>
              <a:gd name="connsiteY13" fmla="*/ 1701178 h 5698448"/>
              <a:gd name="connsiteX14" fmla="*/ 6476245 w 12952487"/>
              <a:gd name="connsiteY14" fmla="*/ 0 h 5698448"/>
              <a:gd name="connsiteX15" fmla="*/ 10738491 w 12952487"/>
              <a:gd name="connsiteY15" fmla="*/ 1582426 h 5698448"/>
              <a:gd name="connsiteX16" fmla="*/ 9178487 w 12952487"/>
              <a:gd name="connsiteY16" fmla="*/ 2738088 h 5698448"/>
              <a:gd name="connsiteX17" fmla="*/ 6463545 w 12952487"/>
              <a:gd name="connsiteY17" fmla="*/ 1866900 h 5698448"/>
              <a:gd name="connsiteX18" fmla="*/ 3767175 w 12952487"/>
              <a:gd name="connsiteY18" fmla="*/ 2724836 h 5698448"/>
              <a:gd name="connsiteX19" fmla="*/ 2217591 w 12952487"/>
              <a:gd name="connsiteY19" fmla="*/ 1579315 h 5698448"/>
              <a:gd name="connsiteX20" fmla="*/ 6476245 w 12952487"/>
              <a:gd name="connsiteY20" fmla="*/ 0 h 569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52487" h="5698448">
                <a:moveTo>
                  <a:pt x="10875968" y="1704346"/>
                </a:moveTo>
                <a:cubicBezTo>
                  <a:pt x="11939986" y="2674789"/>
                  <a:pt x="12681934" y="3992324"/>
                  <a:pt x="12922757" y="5477875"/>
                </a:cubicBezTo>
                <a:lnTo>
                  <a:pt x="12952487" y="5698448"/>
                </a:lnTo>
                <a:lnTo>
                  <a:pt x="11053266" y="5698448"/>
                </a:lnTo>
                <a:lnTo>
                  <a:pt x="11000070" y="5443083"/>
                </a:lnTo>
                <a:cubicBezTo>
                  <a:pt x="10749893" y="4395980"/>
                  <a:pt x="10146592" y="3486003"/>
                  <a:pt x="9323013" y="2846014"/>
                </a:cubicBezTo>
                <a:cubicBezTo>
                  <a:pt x="9824789" y="2417591"/>
                  <a:pt x="10362253" y="2019998"/>
                  <a:pt x="10875968" y="1704346"/>
                </a:cubicBezTo>
                <a:close/>
                <a:moveTo>
                  <a:pt x="2079961" y="1701178"/>
                </a:moveTo>
                <a:cubicBezTo>
                  <a:pt x="2589765" y="2013953"/>
                  <a:pt x="3123108" y="2407628"/>
                  <a:pt x="3621900" y="2832214"/>
                </a:cubicBezTo>
                <a:cubicBezTo>
                  <a:pt x="2790711" y="3471743"/>
                  <a:pt x="2181188" y="4385176"/>
                  <a:pt x="1928376" y="5437439"/>
                </a:cubicBezTo>
                <a:lnTo>
                  <a:pt x="1873703" y="5698448"/>
                </a:lnTo>
                <a:lnTo>
                  <a:pt x="0" y="5698448"/>
                </a:lnTo>
                <a:lnTo>
                  <a:pt x="29879" y="5476967"/>
                </a:lnTo>
                <a:cubicBezTo>
                  <a:pt x="271118" y="3990173"/>
                  <a:pt x="1014327" y="2671729"/>
                  <a:pt x="2079961" y="1701178"/>
                </a:cubicBezTo>
                <a:close/>
                <a:moveTo>
                  <a:pt x="6476245" y="0"/>
                </a:moveTo>
                <a:cubicBezTo>
                  <a:pt x="8105083" y="0"/>
                  <a:pt x="9594602" y="596265"/>
                  <a:pt x="10738491" y="1582426"/>
                </a:cubicBezTo>
                <a:cubicBezTo>
                  <a:pt x="10218553" y="1905788"/>
                  <a:pt x="9679311" y="2308015"/>
                  <a:pt x="9178487" y="2738088"/>
                </a:cubicBezTo>
                <a:cubicBezTo>
                  <a:pt x="8413756" y="2189722"/>
                  <a:pt x="7476369" y="1866900"/>
                  <a:pt x="6463545" y="1866900"/>
                </a:cubicBezTo>
                <a:cubicBezTo>
                  <a:pt x="5458923" y="1866900"/>
                  <a:pt x="4528483" y="2184527"/>
                  <a:pt x="3767175" y="2724836"/>
                </a:cubicBezTo>
                <a:cubicBezTo>
                  <a:pt x="3269113" y="2298376"/>
                  <a:pt x="2733726" y="1899882"/>
                  <a:pt x="2217591" y="1579315"/>
                </a:cubicBezTo>
                <a:cubicBezTo>
                  <a:pt x="3361023" y="595008"/>
                  <a:pt x="4849147" y="0"/>
                  <a:pt x="6476245" y="0"/>
                </a:cubicBezTo>
                <a:close/>
              </a:path>
            </a:pathLst>
          </a:custGeom>
          <a:gradFill>
            <a:gsLst>
              <a:gs pos="0">
                <a:srgbClr val="3368FF">
                  <a:alpha val="20000"/>
                </a:srgbClr>
              </a:gs>
              <a:gs pos="81000">
                <a:srgbClr val="3368FF">
                  <a:alpha val="0"/>
                </a:srgbClr>
              </a:gs>
            </a:gsLst>
            <a:lin ang="5400000" scaled="0"/>
          </a:gradFill>
          <a:ln w="6350" cap="flat">
            <a:no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200" name="任意多边形: 形状 83"/>
          <p:cNvSpPr/>
          <p:nvPr/>
        </p:nvSpPr>
        <p:spPr>
          <a:xfrm>
            <a:off x="-425450" y="1748154"/>
            <a:ext cx="13061950" cy="7902385"/>
          </a:xfrm>
          <a:custGeom>
            <a:avLst/>
            <a:gdLst>
              <a:gd name="connsiteX0" fmla="*/ 10930699 w 13061950"/>
              <a:gd name="connsiteY0" fmla="*/ 1704346 h 13061950"/>
              <a:gd name="connsiteX1" fmla="*/ 13061950 w 13061950"/>
              <a:gd name="connsiteY1" fmla="*/ 6530975 h 13061950"/>
              <a:gd name="connsiteX2" fmla="*/ 12966573 w 13061950"/>
              <a:gd name="connsiteY2" fmla="*/ 7649464 h 13061950"/>
              <a:gd name="connsiteX3" fmla="*/ 7606157 w 13061950"/>
              <a:gd name="connsiteY3" fmla="*/ 7902385 h 13061950"/>
              <a:gd name="connsiteX4" fmla="*/ 7430135 w 13061950"/>
              <a:gd name="connsiteY4" fmla="*/ 8086916 h 13061950"/>
              <a:gd name="connsiteX5" fmla="*/ 12933299 w 13061950"/>
              <a:gd name="connsiteY5" fmla="*/ 7827264 h 13061950"/>
              <a:gd name="connsiteX6" fmla="*/ 6530975 w 13061950"/>
              <a:gd name="connsiteY6" fmla="*/ 13061950 h 13061950"/>
              <a:gd name="connsiteX7" fmla="*/ 128554 w 13061950"/>
              <a:gd name="connsiteY7" fmla="*/ 7826819 h 13061950"/>
              <a:gd name="connsiteX8" fmla="*/ 5640439 w 13061950"/>
              <a:gd name="connsiteY8" fmla="*/ 8086916 h 13061950"/>
              <a:gd name="connsiteX9" fmla="*/ 10793222 w 13061950"/>
              <a:gd name="connsiteY9" fmla="*/ 1582426 h 13061950"/>
              <a:gd name="connsiteX10" fmla="*/ 6530975 w 13061950"/>
              <a:gd name="connsiteY10" fmla="*/ 0 h 13061950"/>
              <a:gd name="connsiteX11" fmla="*/ 2272322 w 13061950"/>
              <a:gd name="connsiteY11" fmla="*/ 1579315 h 13061950"/>
              <a:gd name="connsiteX12" fmla="*/ 5464442 w 13061950"/>
              <a:gd name="connsiteY12" fmla="*/ 7902385 h 13061950"/>
              <a:gd name="connsiteX13" fmla="*/ 95338 w 13061950"/>
              <a:gd name="connsiteY13" fmla="*/ 7649083 h 13061950"/>
              <a:gd name="connsiteX14" fmla="*/ 0 w 13061950"/>
              <a:gd name="connsiteY14" fmla="*/ 6530975 h 13061950"/>
              <a:gd name="connsiteX15" fmla="*/ 2134692 w 13061950"/>
              <a:gd name="connsiteY15" fmla="*/ 1701178 h 13061950"/>
              <a:gd name="connsiteX0-1" fmla="*/ 10930699 w 13061950"/>
              <a:gd name="connsiteY0-2" fmla="*/ 1704346 h 13061950"/>
              <a:gd name="connsiteX1-3" fmla="*/ 13061950 w 13061950"/>
              <a:gd name="connsiteY1-4" fmla="*/ 6530975 h 13061950"/>
              <a:gd name="connsiteX2-5" fmla="*/ 12966573 w 13061950"/>
              <a:gd name="connsiteY2-6" fmla="*/ 7649464 h 13061950"/>
              <a:gd name="connsiteX3-7" fmla="*/ 7606157 w 13061950"/>
              <a:gd name="connsiteY3-8" fmla="*/ 7902385 h 13061950"/>
              <a:gd name="connsiteX4-9" fmla="*/ 12933299 w 13061950"/>
              <a:gd name="connsiteY4-10" fmla="*/ 7827264 h 13061950"/>
              <a:gd name="connsiteX5-11" fmla="*/ 6530975 w 13061950"/>
              <a:gd name="connsiteY5-12" fmla="*/ 13061950 h 13061950"/>
              <a:gd name="connsiteX6-13" fmla="*/ 128554 w 13061950"/>
              <a:gd name="connsiteY6-14" fmla="*/ 7826819 h 13061950"/>
              <a:gd name="connsiteX7-15" fmla="*/ 5640439 w 13061950"/>
              <a:gd name="connsiteY7-16" fmla="*/ 8086916 h 13061950"/>
              <a:gd name="connsiteX8-17" fmla="*/ 10793222 w 13061950"/>
              <a:gd name="connsiteY8-18" fmla="*/ 1582426 h 13061950"/>
              <a:gd name="connsiteX9-19" fmla="*/ 6530975 w 13061950"/>
              <a:gd name="connsiteY9-20" fmla="*/ 0 h 13061950"/>
              <a:gd name="connsiteX10-21" fmla="*/ 2272322 w 13061950"/>
              <a:gd name="connsiteY10-22" fmla="*/ 1579315 h 13061950"/>
              <a:gd name="connsiteX11-23" fmla="*/ 5464442 w 13061950"/>
              <a:gd name="connsiteY11-24" fmla="*/ 7902385 h 13061950"/>
              <a:gd name="connsiteX12-25" fmla="*/ 95338 w 13061950"/>
              <a:gd name="connsiteY12-26" fmla="*/ 7649083 h 13061950"/>
              <a:gd name="connsiteX13-27" fmla="*/ 0 w 13061950"/>
              <a:gd name="connsiteY13-28" fmla="*/ 6530975 h 13061950"/>
              <a:gd name="connsiteX14-29" fmla="*/ 2134692 w 13061950"/>
              <a:gd name="connsiteY14-30" fmla="*/ 1701178 h 13061950"/>
              <a:gd name="connsiteX0-31" fmla="*/ 10930699 w 13061950"/>
              <a:gd name="connsiteY0-32" fmla="*/ 1704346 h 13061950"/>
              <a:gd name="connsiteX1-33" fmla="*/ 13061950 w 13061950"/>
              <a:gd name="connsiteY1-34" fmla="*/ 6530975 h 13061950"/>
              <a:gd name="connsiteX2-35" fmla="*/ 12966573 w 13061950"/>
              <a:gd name="connsiteY2-36" fmla="*/ 7649464 h 13061950"/>
              <a:gd name="connsiteX3-37" fmla="*/ 7606157 w 13061950"/>
              <a:gd name="connsiteY3-38" fmla="*/ 7902385 h 13061950"/>
              <a:gd name="connsiteX4-39" fmla="*/ 6530975 w 13061950"/>
              <a:gd name="connsiteY4-40" fmla="*/ 13061950 h 13061950"/>
              <a:gd name="connsiteX5-41" fmla="*/ 128554 w 13061950"/>
              <a:gd name="connsiteY5-42" fmla="*/ 7826819 h 13061950"/>
              <a:gd name="connsiteX6-43" fmla="*/ 5640439 w 13061950"/>
              <a:gd name="connsiteY6-44" fmla="*/ 8086916 h 13061950"/>
              <a:gd name="connsiteX7-45" fmla="*/ 10793222 w 13061950"/>
              <a:gd name="connsiteY7-46" fmla="*/ 1582426 h 13061950"/>
              <a:gd name="connsiteX8-47" fmla="*/ 6530975 w 13061950"/>
              <a:gd name="connsiteY8-48" fmla="*/ 0 h 13061950"/>
              <a:gd name="connsiteX9-49" fmla="*/ 2272322 w 13061950"/>
              <a:gd name="connsiteY9-50" fmla="*/ 1579315 h 13061950"/>
              <a:gd name="connsiteX10-51" fmla="*/ 5464442 w 13061950"/>
              <a:gd name="connsiteY10-52" fmla="*/ 7902385 h 13061950"/>
              <a:gd name="connsiteX11-53" fmla="*/ 95338 w 13061950"/>
              <a:gd name="connsiteY11-54" fmla="*/ 7649083 h 13061950"/>
              <a:gd name="connsiteX12-55" fmla="*/ 0 w 13061950"/>
              <a:gd name="connsiteY12-56" fmla="*/ 6530975 h 13061950"/>
              <a:gd name="connsiteX13-57" fmla="*/ 2134692 w 13061950"/>
              <a:gd name="connsiteY13-58" fmla="*/ 1701178 h 13061950"/>
              <a:gd name="connsiteX0-59" fmla="*/ 10930699 w 13061950"/>
              <a:gd name="connsiteY0-60" fmla="*/ 1704346 h 8086916"/>
              <a:gd name="connsiteX1-61" fmla="*/ 13061950 w 13061950"/>
              <a:gd name="connsiteY1-62" fmla="*/ 6530975 h 8086916"/>
              <a:gd name="connsiteX2-63" fmla="*/ 12966573 w 13061950"/>
              <a:gd name="connsiteY2-64" fmla="*/ 7649464 h 8086916"/>
              <a:gd name="connsiteX3-65" fmla="*/ 7606157 w 13061950"/>
              <a:gd name="connsiteY3-66" fmla="*/ 7902385 h 8086916"/>
              <a:gd name="connsiteX4-67" fmla="*/ 128554 w 13061950"/>
              <a:gd name="connsiteY4-68" fmla="*/ 7826819 h 8086916"/>
              <a:gd name="connsiteX5-69" fmla="*/ 5640439 w 13061950"/>
              <a:gd name="connsiteY5-70" fmla="*/ 8086916 h 8086916"/>
              <a:gd name="connsiteX6-71" fmla="*/ 10793222 w 13061950"/>
              <a:gd name="connsiteY6-72" fmla="*/ 1582426 h 8086916"/>
              <a:gd name="connsiteX7-73" fmla="*/ 6530975 w 13061950"/>
              <a:gd name="connsiteY7-74" fmla="*/ 0 h 8086916"/>
              <a:gd name="connsiteX8-75" fmla="*/ 2272322 w 13061950"/>
              <a:gd name="connsiteY8-76" fmla="*/ 1579315 h 8086916"/>
              <a:gd name="connsiteX9-77" fmla="*/ 5464442 w 13061950"/>
              <a:gd name="connsiteY9-78" fmla="*/ 7902385 h 8086916"/>
              <a:gd name="connsiteX10-79" fmla="*/ 95338 w 13061950"/>
              <a:gd name="connsiteY10-80" fmla="*/ 7649083 h 8086916"/>
              <a:gd name="connsiteX11-81" fmla="*/ 0 w 13061950"/>
              <a:gd name="connsiteY11-82" fmla="*/ 6530975 h 8086916"/>
              <a:gd name="connsiteX12-83" fmla="*/ 2134692 w 13061950"/>
              <a:gd name="connsiteY12-84" fmla="*/ 1701178 h 8086916"/>
              <a:gd name="connsiteX0-85" fmla="*/ 10930699 w 13061950"/>
              <a:gd name="connsiteY0-86" fmla="*/ 1704346 h 7902385"/>
              <a:gd name="connsiteX1-87" fmla="*/ 13061950 w 13061950"/>
              <a:gd name="connsiteY1-88" fmla="*/ 6530975 h 7902385"/>
              <a:gd name="connsiteX2-89" fmla="*/ 12966573 w 13061950"/>
              <a:gd name="connsiteY2-90" fmla="*/ 7649464 h 7902385"/>
              <a:gd name="connsiteX3-91" fmla="*/ 7606157 w 13061950"/>
              <a:gd name="connsiteY3-92" fmla="*/ 7902385 h 7902385"/>
              <a:gd name="connsiteX4-93" fmla="*/ 10793222 w 13061950"/>
              <a:gd name="connsiteY4-94" fmla="*/ 1582426 h 7902385"/>
              <a:gd name="connsiteX5-95" fmla="*/ 6530975 w 13061950"/>
              <a:gd name="connsiteY5-96" fmla="*/ 0 h 7902385"/>
              <a:gd name="connsiteX6-97" fmla="*/ 2272322 w 13061950"/>
              <a:gd name="connsiteY6-98" fmla="*/ 1579315 h 7902385"/>
              <a:gd name="connsiteX7-99" fmla="*/ 5464442 w 13061950"/>
              <a:gd name="connsiteY7-100" fmla="*/ 7902385 h 7902385"/>
              <a:gd name="connsiteX8-101" fmla="*/ 95338 w 13061950"/>
              <a:gd name="connsiteY8-102" fmla="*/ 7649083 h 7902385"/>
              <a:gd name="connsiteX9-103" fmla="*/ 0 w 13061950"/>
              <a:gd name="connsiteY9-104" fmla="*/ 6530975 h 7902385"/>
              <a:gd name="connsiteX10-105" fmla="*/ 2134692 w 13061950"/>
              <a:gd name="connsiteY10-106" fmla="*/ 1701178 h 790238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13061950" h="7902385">
                <a:moveTo>
                  <a:pt x="10930699" y="1704346"/>
                </a:moveTo>
                <a:cubicBezTo>
                  <a:pt x="12240260" y="2898737"/>
                  <a:pt x="13061950" y="4618901"/>
                  <a:pt x="13061950" y="6530975"/>
                </a:cubicBezTo>
                <a:cubicBezTo>
                  <a:pt x="13061950" y="6912357"/>
                  <a:pt x="13029247" y="7286054"/>
                  <a:pt x="12966573" y="7649464"/>
                </a:cubicBezTo>
                <a:lnTo>
                  <a:pt x="7606157" y="7902385"/>
                </a:lnTo>
                <a:moveTo>
                  <a:pt x="10793222" y="1582426"/>
                </a:moveTo>
                <a:cubicBezTo>
                  <a:pt x="9649333" y="596265"/>
                  <a:pt x="8159814" y="0"/>
                  <a:pt x="6530975" y="0"/>
                </a:cubicBezTo>
                <a:cubicBezTo>
                  <a:pt x="4903877" y="0"/>
                  <a:pt x="3415754" y="595008"/>
                  <a:pt x="2272322" y="1579315"/>
                </a:cubicBezTo>
                <a:moveTo>
                  <a:pt x="5464442" y="7902385"/>
                </a:moveTo>
                <a:lnTo>
                  <a:pt x="95338" y="7649083"/>
                </a:lnTo>
                <a:cubicBezTo>
                  <a:pt x="32661" y="7285800"/>
                  <a:pt x="0" y="6912166"/>
                  <a:pt x="0" y="6530975"/>
                </a:cubicBezTo>
                <a:cubicBezTo>
                  <a:pt x="0" y="4617212"/>
                  <a:pt x="823142" y="2895702"/>
                  <a:pt x="2134692" y="1701178"/>
                </a:cubicBezTo>
              </a:path>
            </a:pathLst>
          </a:custGeom>
          <a:noFill/>
          <a:ln w="6350" cap="flat">
            <a:gradFill>
              <a:gsLst>
                <a:gs pos="0">
                  <a:srgbClr val="3368FF"/>
                </a:gs>
                <a:gs pos="47000">
                  <a:srgbClr val="3368FF">
                    <a:alpha val="0"/>
                  </a:srgbClr>
                </a:gs>
              </a:gsLst>
              <a:lin ang="5400000" scaled="1"/>
            </a:gradFill>
            <a:custDash>
              <a:ds d="300000" sp="300000"/>
            </a:custDash>
            <a:miter/>
          </a:ln>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en-US" altLang="zh-CN" dirty="0">
              <a:latin typeface="微软雅黑"/>
              <a:ea typeface="微软雅黑"/>
              <a:cs typeface="微软雅黑"/>
            </a:endParaRPr>
          </a:p>
        </p:txBody>
      </p:sp>
      <p:sp>
        <p:nvSpPr>
          <p:cNvPr id="201" name="任意多边形: 形状 84"/>
          <p:cNvSpPr/>
          <p:nvPr/>
        </p:nvSpPr>
        <p:spPr>
          <a:xfrm>
            <a:off x="1428750" y="3615055"/>
            <a:ext cx="9328150" cy="9328150"/>
          </a:xfrm>
          <a:custGeom>
            <a:avLst/>
            <a:gdLst>
              <a:gd name="connsiteX0" fmla="*/ 7369175 w 9328150"/>
              <a:gd name="connsiteY0" fmla="*/ 864146 h 9328150"/>
              <a:gd name="connsiteX1" fmla="*/ 4664075 w 9328150"/>
              <a:gd name="connsiteY1" fmla="*/ 0 h 9328150"/>
              <a:gd name="connsiteX2" fmla="*/ 1965325 w 9328150"/>
              <a:gd name="connsiteY2" fmla="*/ 859625 h 9328150"/>
              <a:gd name="connsiteX3" fmla="*/ 7524750 w 9328150"/>
              <a:gd name="connsiteY3" fmla="*/ 980034 h 9328150"/>
              <a:gd name="connsiteX4" fmla="*/ 9328150 w 9328150"/>
              <a:gd name="connsiteY4" fmla="*/ 4664075 h 9328150"/>
              <a:gd name="connsiteX5" fmla="*/ 4664075 w 9328150"/>
              <a:gd name="connsiteY5" fmla="*/ 9328150 h 9328150"/>
              <a:gd name="connsiteX6" fmla="*/ 0 w 9328150"/>
              <a:gd name="connsiteY6" fmla="*/ 4664075 h 9328150"/>
              <a:gd name="connsiteX7" fmla="*/ 1819275 w 9328150"/>
              <a:gd name="connsiteY7" fmla="*/ 967746 h 932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28150" h="9328150">
                <a:moveTo>
                  <a:pt x="7369175" y="864146"/>
                </a:moveTo>
                <a:cubicBezTo>
                  <a:pt x="6606286" y="320059"/>
                  <a:pt x="5672519" y="0"/>
                  <a:pt x="4664075" y="0"/>
                </a:cubicBezTo>
                <a:cubicBezTo>
                  <a:pt x="3658407" y="0"/>
                  <a:pt x="2727071" y="318288"/>
                  <a:pt x="1965325" y="859625"/>
                </a:cubicBezTo>
                <a:moveTo>
                  <a:pt x="7524750" y="980034"/>
                </a:moveTo>
                <a:cubicBezTo>
                  <a:pt x="8622157" y="1833391"/>
                  <a:pt x="9328150" y="3166301"/>
                  <a:pt x="9328150" y="4664075"/>
                </a:cubicBezTo>
                <a:cubicBezTo>
                  <a:pt x="9328150" y="7239953"/>
                  <a:pt x="7239953" y="9328150"/>
                  <a:pt x="4664075" y="9328150"/>
                </a:cubicBezTo>
                <a:cubicBezTo>
                  <a:pt x="2088178" y="9328150"/>
                  <a:pt x="0" y="7239953"/>
                  <a:pt x="0" y="4664075"/>
                </a:cubicBezTo>
                <a:cubicBezTo>
                  <a:pt x="0" y="3159062"/>
                  <a:pt x="712826" y="1820564"/>
                  <a:pt x="1819275" y="967746"/>
                </a:cubicBezTo>
              </a:path>
            </a:pathLst>
          </a:custGeom>
          <a:noFill/>
          <a:ln w="6350" cap="flat">
            <a:gradFill>
              <a:gsLst>
                <a:gs pos="0">
                  <a:srgbClr val="3368FF"/>
                </a:gs>
                <a:gs pos="37000">
                  <a:srgbClr val="3368FF">
                    <a:alpha val="0"/>
                  </a:srgbClr>
                </a:gs>
              </a:gsLst>
              <a:lin ang="5400000" scaled="1"/>
            </a:gradFill>
            <a:custDash>
              <a:ds d="300000" sp="300000"/>
            </a:custDash>
            <a:miter/>
          </a:ln>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latin typeface="微软雅黑"/>
                <a:ea typeface="微软雅黑"/>
                <a:cs typeface="微软雅黑"/>
              </a:defRPr>
            </a:pPr>
            <a:endParaRPr lang="en-US" altLang="zh-CN" dirty="0">
              <a:latin typeface="微软雅黑"/>
              <a:ea typeface="微软雅黑"/>
              <a:cs typeface="微软雅黑"/>
              <a:sym typeface="微软雅黑"/>
            </a:endParaRPr>
          </a:p>
        </p:txBody>
      </p:sp>
      <p:sp>
        <p:nvSpPr>
          <p:cNvPr id="202" name="任意多边形: 形状 85"/>
          <p:cNvSpPr/>
          <p:nvPr/>
        </p:nvSpPr>
        <p:spPr>
          <a:xfrm>
            <a:off x="8090090" y="3701973"/>
            <a:ext cx="2450210" cy="2072119"/>
          </a:xfrm>
          <a:custGeom>
            <a:avLst/>
            <a:gdLst>
              <a:gd name="connsiteX0" fmla="*/ 2340166 w 2450210"/>
              <a:gd name="connsiteY0" fmla="*/ 162287 h 2072119"/>
              <a:gd name="connsiteX1" fmla="*/ 2450211 w 2450210"/>
              <a:gd name="connsiteY1" fmla="*/ 0 h 2072119"/>
              <a:gd name="connsiteX2" fmla="*/ 2254504 w 2450210"/>
              <a:gd name="connsiteY2" fmla="*/ 11748 h 2072119"/>
              <a:gd name="connsiteX3" fmla="*/ 2273744 w 2450210"/>
              <a:gd name="connsiteY3" fmla="*/ 45517 h 2072119"/>
              <a:gd name="connsiteX4" fmla="*/ 0 w 2450210"/>
              <a:gd name="connsiteY4" fmla="*/ 2021250 h 2072119"/>
              <a:gd name="connsiteX5" fmla="*/ 56769 w 2450210"/>
              <a:gd name="connsiteY5" fmla="*/ 2072119 h 2072119"/>
              <a:gd name="connsiteX6" fmla="*/ 2311464 w 2450210"/>
              <a:gd name="connsiteY6" fmla="*/ 111766 h 2072119"/>
              <a:gd name="connsiteX7" fmla="*/ 2340166 w 2450210"/>
              <a:gd name="connsiteY7" fmla="*/ 162287 h 207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0210" h="2072119">
                <a:moveTo>
                  <a:pt x="2340166" y="162287"/>
                </a:moveTo>
                <a:lnTo>
                  <a:pt x="2450211" y="0"/>
                </a:lnTo>
                <a:lnTo>
                  <a:pt x="2254504" y="11748"/>
                </a:lnTo>
                <a:lnTo>
                  <a:pt x="2273744" y="45517"/>
                </a:lnTo>
                <a:cubicBezTo>
                  <a:pt x="1233868" y="682282"/>
                  <a:pt x="660209" y="1284846"/>
                  <a:pt x="0" y="2021250"/>
                </a:cubicBezTo>
                <a:lnTo>
                  <a:pt x="56769" y="2072119"/>
                </a:lnTo>
                <a:cubicBezTo>
                  <a:pt x="714819" y="1338129"/>
                  <a:pt x="1282319" y="742315"/>
                  <a:pt x="2311464" y="111766"/>
                </a:cubicBezTo>
                <a:lnTo>
                  <a:pt x="2340166" y="162287"/>
                </a:lnTo>
                <a:close/>
              </a:path>
            </a:pathLst>
          </a:custGeom>
          <a:gradFill>
            <a:gsLst>
              <a:gs pos="100000">
                <a:srgbClr val="3368FF">
                  <a:alpha val="0"/>
                </a:srgbClr>
              </a:gs>
              <a:gs pos="20000">
                <a:srgbClr val="3368FF"/>
              </a:gs>
            </a:gsLst>
            <a:lin ang="5400000" scaled="0"/>
          </a:gradFill>
          <a:ln w="6350"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03" name="任意多边形: 形状 86"/>
          <p:cNvSpPr/>
          <p:nvPr/>
        </p:nvSpPr>
        <p:spPr>
          <a:xfrm>
            <a:off x="1656035" y="3701973"/>
            <a:ext cx="2450172" cy="2072119"/>
          </a:xfrm>
          <a:custGeom>
            <a:avLst/>
            <a:gdLst>
              <a:gd name="connsiteX0" fmla="*/ 109995 w 2450172"/>
              <a:gd name="connsiteY0" fmla="*/ 162287 h 2072119"/>
              <a:gd name="connsiteX1" fmla="*/ 0 w 2450172"/>
              <a:gd name="connsiteY1" fmla="*/ 0 h 2072119"/>
              <a:gd name="connsiteX2" fmla="*/ 195701 w 2450172"/>
              <a:gd name="connsiteY2" fmla="*/ 11748 h 2072119"/>
              <a:gd name="connsiteX3" fmla="*/ 176479 w 2450172"/>
              <a:gd name="connsiteY3" fmla="*/ 45517 h 2072119"/>
              <a:gd name="connsiteX4" fmla="*/ 2450173 w 2450172"/>
              <a:gd name="connsiteY4" fmla="*/ 2021250 h 2072119"/>
              <a:gd name="connsiteX5" fmla="*/ 2393436 w 2450172"/>
              <a:gd name="connsiteY5" fmla="*/ 2072119 h 2072119"/>
              <a:gd name="connsiteX6" fmla="*/ 138760 w 2450172"/>
              <a:gd name="connsiteY6" fmla="*/ 111773 h 2072119"/>
              <a:gd name="connsiteX7" fmla="*/ 109995 w 2450172"/>
              <a:gd name="connsiteY7" fmla="*/ 162287 h 207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0172" h="2072119">
                <a:moveTo>
                  <a:pt x="109995" y="162287"/>
                </a:moveTo>
                <a:lnTo>
                  <a:pt x="0" y="0"/>
                </a:lnTo>
                <a:lnTo>
                  <a:pt x="195701" y="11748"/>
                </a:lnTo>
                <a:lnTo>
                  <a:pt x="176479" y="45517"/>
                </a:lnTo>
                <a:cubicBezTo>
                  <a:pt x="1216298" y="682282"/>
                  <a:pt x="1789951" y="1284846"/>
                  <a:pt x="2450173" y="2021250"/>
                </a:cubicBezTo>
                <a:lnTo>
                  <a:pt x="2393436" y="2072119"/>
                </a:lnTo>
                <a:cubicBezTo>
                  <a:pt x="1735379" y="1338129"/>
                  <a:pt x="1167873" y="742315"/>
                  <a:pt x="138760" y="111773"/>
                </a:cubicBezTo>
                <a:lnTo>
                  <a:pt x="109995" y="162287"/>
                </a:lnTo>
                <a:close/>
              </a:path>
            </a:pathLst>
          </a:custGeom>
          <a:gradFill>
            <a:gsLst>
              <a:gs pos="100000">
                <a:srgbClr val="3368FF">
                  <a:alpha val="0"/>
                </a:srgbClr>
              </a:gs>
              <a:gs pos="20000">
                <a:srgbClr val="3368FF"/>
              </a:gs>
            </a:gsLst>
            <a:lin ang="5400000" scaled="0"/>
          </a:gradFill>
          <a:ln w="6350"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04" name="任意多边形: 形状 87"/>
          <p:cNvSpPr/>
          <p:nvPr/>
        </p:nvSpPr>
        <p:spPr>
          <a:xfrm>
            <a:off x="3609966" y="3649968"/>
            <a:ext cx="1660544" cy="746144"/>
          </a:xfrm>
          <a:custGeom>
            <a:avLst/>
            <a:gdLst>
              <a:gd name="connsiteX0" fmla="*/ 1659549 w 1660544"/>
              <a:gd name="connsiteY0" fmla="*/ 55263 h 746144"/>
              <a:gd name="connsiteX1" fmla="*/ 1605282 w 1660544"/>
              <a:gd name="connsiteY1" fmla="*/ 132377 h 746144"/>
              <a:gd name="connsiteX2" fmla="*/ 103158 w 1660544"/>
              <a:gd name="connsiteY2" fmla="*/ 735278 h 746144"/>
              <a:gd name="connsiteX3" fmla="*/ 10867 w 1660544"/>
              <a:gd name="connsiteY3" fmla="*/ 715936 h 746144"/>
              <a:gd name="connsiteX4" fmla="*/ 30209 w 1660544"/>
              <a:gd name="connsiteY4" fmla="*/ 623645 h 746144"/>
              <a:gd name="connsiteX5" fmla="*/ 1582434 w 1660544"/>
              <a:gd name="connsiteY5" fmla="*/ 996 h 746144"/>
              <a:gd name="connsiteX6" fmla="*/ 1659549 w 1660544"/>
              <a:gd name="connsiteY6" fmla="*/ 55263 h 74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0544" h="746144">
                <a:moveTo>
                  <a:pt x="1659549" y="55263"/>
                </a:moveTo>
                <a:cubicBezTo>
                  <a:pt x="1665854" y="91540"/>
                  <a:pt x="1641559" y="126065"/>
                  <a:pt x="1605282" y="132377"/>
                </a:cubicBezTo>
                <a:cubicBezTo>
                  <a:pt x="974784" y="242029"/>
                  <a:pt x="340146" y="580402"/>
                  <a:pt x="103158" y="735278"/>
                </a:cubicBezTo>
                <a:cubicBezTo>
                  <a:pt x="72335" y="755420"/>
                  <a:pt x="31015" y="746759"/>
                  <a:pt x="10867" y="715936"/>
                </a:cubicBezTo>
                <a:cubicBezTo>
                  <a:pt x="-9275" y="685113"/>
                  <a:pt x="-614" y="643794"/>
                  <a:pt x="30209" y="623645"/>
                </a:cubicBezTo>
                <a:cubicBezTo>
                  <a:pt x="275820" y="463143"/>
                  <a:pt x="927692" y="114864"/>
                  <a:pt x="1582434" y="996"/>
                </a:cubicBezTo>
                <a:cubicBezTo>
                  <a:pt x="1618712" y="-5310"/>
                  <a:pt x="1653237" y="18985"/>
                  <a:pt x="1659549" y="55263"/>
                </a:cubicBezTo>
                <a:close/>
              </a:path>
            </a:pathLst>
          </a:custGeom>
          <a:gradFill>
            <a:gsLst>
              <a:gs pos="100000">
                <a:srgbClr val="3368FF">
                  <a:alpha val="0"/>
                </a:srgbClr>
              </a:gs>
              <a:gs pos="21000">
                <a:srgbClr val="3368FF"/>
              </a:gs>
            </a:gsLst>
            <a:lin ang="5400000" scaled="0"/>
          </a:gradFill>
          <a:ln w="635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205" name="任意多边形: 形状 88"/>
          <p:cNvSpPr/>
          <p:nvPr/>
        </p:nvSpPr>
        <p:spPr>
          <a:xfrm rot="21300000">
            <a:off x="4726298" y="5095229"/>
            <a:ext cx="793767" cy="379340"/>
          </a:xfrm>
          <a:custGeom>
            <a:avLst/>
            <a:gdLst>
              <a:gd name="connsiteX0" fmla="*/ 793008 w 793767"/>
              <a:gd name="connsiteY0" fmla="*/ 42105 h 379340"/>
              <a:gd name="connsiteX1" fmla="*/ 751662 w 793767"/>
              <a:gd name="connsiteY1" fmla="*/ 100861 h 379340"/>
              <a:gd name="connsiteX2" fmla="*/ 78594 w 793767"/>
              <a:gd name="connsiteY2" fmla="*/ 371060 h 379340"/>
              <a:gd name="connsiteX3" fmla="*/ 8281 w 793767"/>
              <a:gd name="connsiteY3" fmla="*/ 356322 h 379340"/>
              <a:gd name="connsiteX4" fmla="*/ 23019 w 793767"/>
              <a:gd name="connsiteY4" fmla="*/ 286008 h 379340"/>
              <a:gd name="connsiteX5" fmla="*/ 734251 w 793767"/>
              <a:gd name="connsiteY5" fmla="*/ 759 h 379340"/>
              <a:gd name="connsiteX6" fmla="*/ 793008 w 793767"/>
              <a:gd name="connsiteY6" fmla="*/ 42105 h 37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3767" h="379340">
                <a:moveTo>
                  <a:pt x="793008" y="42105"/>
                </a:moveTo>
                <a:cubicBezTo>
                  <a:pt x="797814" y="69746"/>
                  <a:pt x="779304" y="96054"/>
                  <a:pt x="751662" y="100861"/>
                </a:cubicBezTo>
                <a:cubicBezTo>
                  <a:pt x="469646" y="149902"/>
                  <a:pt x="184677" y="301737"/>
                  <a:pt x="78594" y="371060"/>
                </a:cubicBezTo>
                <a:cubicBezTo>
                  <a:pt x="55112" y="386408"/>
                  <a:pt x="23629" y="379810"/>
                  <a:pt x="8281" y="356322"/>
                </a:cubicBezTo>
                <a:cubicBezTo>
                  <a:pt x="-7067" y="332839"/>
                  <a:pt x="-470" y="301356"/>
                  <a:pt x="23019" y="286008"/>
                </a:cubicBezTo>
                <a:cubicBezTo>
                  <a:pt x="135662" y="212392"/>
                  <a:pt x="433769" y="53020"/>
                  <a:pt x="734251" y="759"/>
                </a:cubicBezTo>
                <a:cubicBezTo>
                  <a:pt x="761892" y="-4047"/>
                  <a:pt x="788201" y="14463"/>
                  <a:pt x="793008" y="42105"/>
                </a:cubicBezTo>
                <a:close/>
              </a:path>
            </a:pathLst>
          </a:custGeom>
          <a:gradFill>
            <a:gsLst>
              <a:gs pos="100000">
                <a:srgbClr val="3368FF">
                  <a:alpha val="0"/>
                </a:srgbClr>
              </a:gs>
              <a:gs pos="21000">
                <a:srgbClr val="3368FF"/>
              </a:gs>
            </a:gsLst>
            <a:lin ang="54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206" name="任意多边形: 形状 89"/>
          <p:cNvSpPr/>
          <p:nvPr/>
        </p:nvSpPr>
        <p:spPr>
          <a:xfrm rot="180000">
            <a:off x="6623047" y="5075544"/>
            <a:ext cx="793761" cy="379340"/>
          </a:xfrm>
          <a:custGeom>
            <a:avLst/>
            <a:gdLst>
              <a:gd name="connsiteX0" fmla="*/ 764 w 793761"/>
              <a:gd name="connsiteY0" fmla="*/ 42105 h 379340"/>
              <a:gd name="connsiteX1" fmla="*/ 42103 w 793761"/>
              <a:gd name="connsiteY1" fmla="*/ 100861 h 379340"/>
              <a:gd name="connsiteX2" fmla="*/ 715139 w 793761"/>
              <a:gd name="connsiteY2" fmla="*/ 371060 h 379340"/>
              <a:gd name="connsiteX3" fmla="*/ 785497 w 793761"/>
              <a:gd name="connsiteY3" fmla="*/ 356322 h 379340"/>
              <a:gd name="connsiteX4" fmla="*/ 770765 w 793761"/>
              <a:gd name="connsiteY4" fmla="*/ 286008 h 379340"/>
              <a:gd name="connsiteX5" fmla="*/ 59502 w 793761"/>
              <a:gd name="connsiteY5" fmla="*/ 759 h 379340"/>
              <a:gd name="connsiteX6" fmla="*/ 764 w 793761"/>
              <a:gd name="connsiteY6" fmla="*/ 42105 h 37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3761" h="379340">
                <a:moveTo>
                  <a:pt x="764" y="42105"/>
                </a:moveTo>
                <a:cubicBezTo>
                  <a:pt x="-4062" y="69746"/>
                  <a:pt x="14480" y="96054"/>
                  <a:pt x="42103" y="100861"/>
                </a:cubicBezTo>
                <a:cubicBezTo>
                  <a:pt x="324106" y="149902"/>
                  <a:pt x="609094" y="301737"/>
                  <a:pt x="715139" y="371060"/>
                </a:cubicBezTo>
                <a:cubicBezTo>
                  <a:pt x="738634" y="386408"/>
                  <a:pt x="770130" y="379810"/>
                  <a:pt x="785497" y="356322"/>
                </a:cubicBezTo>
                <a:cubicBezTo>
                  <a:pt x="800801" y="332839"/>
                  <a:pt x="794260" y="301356"/>
                  <a:pt x="770765" y="286008"/>
                </a:cubicBezTo>
                <a:cubicBezTo>
                  <a:pt x="658116" y="212392"/>
                  <a:pt x="359983" y="53020"/>
                  <a:pt x="59502" y="759"/>
                </a:cubicBezTo>
                <a:cubicBezTo>
                  <a:pt x="31879" y="-4047"/>
                  <a:pt x="5590" y="14463"/>
                  <a:pt x="764" y="42105"/>
                </a:cubicBezTo>
                <a:close/>
              </a:path>
            </a:pathLst>
          </a:custGeom>
          <a:gradFill>
            <a:gsLst>
              <a:gs pos="100000">
                <a:srgbClr val="3368FF">
                  <a:alpha val="0"/>
                </a:srgbClr>
              </a:gs>
              <a:gs pos="21000">
                <a:srgbClr val="3368FF"/>
              </a:gs>
            </a:gsLst>
            <a:lin ang="54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07" name="任意多边形: 形状 90"/>
          <p:cNvSpPr/>
          <p:nvPr/>
        </p:nvSpPr>
        <p:spPr>
          <a:xfrm>
            <a:off x="6918333" y="3649968"/>
            <a:ext cx="1660521" cy="746144"/>
          </a:xfrm>
          <a:custGeom>
            <a:avLst/>
            <a:gdLst>
              <a:gd name="connsiteX0" fmla="*/ 1008 w 1660521"/>
              <a:gd name="connsiteY0" fmla="*/ 55263 h 746144"/>
              <a:gd name="connsiteX1" fmla="*/ 55236 w 1660521"/>
              <a:gd name="connsiteY1" fmla="*/ 132377 h 746144"/>
              <a:gd name="connsiteX2" fmla="*/ 1557393 w 1660521"/>
              <a:gd name="connsiteY2" fmla="*/ 735278 h 746144"/>
              <a:gd name="connsiteX3" fmla="*/ 1649658 w 1660521"/>
              <a:gd name="connsiteY3" fmla="*/ 715936 h 746144"/>
              <a:gd name="connsiteX4" fmla="*/ 1630291 w 1660521"/>
              <a:gd name="connsiteY4" fmla="*/ 623645 h 746144"/>
              <a:gd name="connsiteX5" fmla="*/ 78097 w 1660521"/>
              <a:gd name="connsiteY5" fmla="*/ 996 h 746144"/>
              <a:gd name="connsiteX6" fmla="*/ 1008 w 1660521"/>
              <a:gd name="connsiteY6" fmla="*/ 55263 h 74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0521" h="746144">
                <a:moveTo>
                  <a:pt x="1008" y="55263"/>
                </a:moveTo>
                <a:cubicBezTo>
                  <a:pt x="-5342" y="91540"/>
                  <a:pt x="18978" y="126065"/>
                  <a:pt x="55236" y="132377"/>
                </a:cubicBezTo>
                <a:cubicBezTo>
                  <a:pt x="685728" y="242029"/>
                  <a:pt x="1320348" y="580402"/>
                  <a:pt x="1557393" y="735278"/>
                </a:cubicBezTo>
                <a:cubicBezTo>
                  <a:pt x="1588190" y="755420"/>
                  <a:pt x="1629529" y="746759"/>
                  <a:pt x="1649658" y="715936"/>
                </a:cubicBezTo>
                <a:cubicBezTo>
                  <a:pt x="1669787" y="685113"/>
                  <a:pt x="1661152" y="643794"/>
                  <a:pt x="1630291" y="623645"/>
                </a:cubicBezTo>
                <a:cubicBezTo>
                  <a:pt x="1384736" y="463143"/>
                  <a:pt x="732845" y="114864"/>
                  <a:pt x="78097" y="996"/>
                </a:cubicBezTo>
                <a:cubicBezTo>
                  <a:pt x="41838" y="-5310"/>
                  <a:pt x="7294" y="18985"/>
                  <a:pt x="1008" y="55263"/>
                </a:cubicBezTo>
                <a:close/>
              </a:path>
            </a:pathLst>
          </a:custGeom>
          <a:gradFill>
            <a:gsLst>
              <a:gs pos="100000">
                <a:srgbClr val="3368FF">
                  <a:alpha val="0"/>
                </a:srgbClr>
              </a:gs>
              <a:gs pos="21000">
                <a:srgbClr val="3368FF"/>
              </a:gs>
            </a:gsLst>
            <a:lin ang="5400000" scaled="0"/>
          </a:gradFill>
          <a:ln w="6350" cap="flat">
            <a:noFill/>
            <a:prstDash val="solid"/>
            <a:miter/>
          </a:ln>
        </p:spPr>
        <p:txBody>
          <a:bodyPr rot="0" spcFirstLastPara="0" vert="horz" wrap="square" lIns="0" tIns="0" rIns="0" bIns="0" numCol="1" spcCol="0" rtlCol="0" fromWordArt="0" anchor="ctr" anchorCtr="0" forceAA="0" compatLnSpc="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08" name="矩形: 圆角 91"/>
          <p:cNvSpPr/>
          <p:nvPr/>
        </p:nvSpPr>
        <p:spPr>
          <a:xfrm>
            <a:off x="5641975" y="3478530"/>
            <a:ext cx="863600" cy="234950"/>
          </a:xfrm>
          <a:prstGeom prst="roundRect">
            <a:avLst>
              <a:gd name="adj" fmla="val 50000"/>
            </a:avLst>
          </a:prstGeom>
          <a:solidFill>
            <a:srgbClr val="3368FF"/>
          </a:solidFill>
          <a:ln w="6350" cap="flat">
            <a:solidFill>
              <a:srgbClr val="FFFFFF"/>
            </a:soli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09" name="矩形: 圆角 92"/>
          <p:cNvSpPr/>
          <p:nvPr/>
        </p:nvSpPr>
        <p:spPr>
          <a:xfrm>
            <a:off x="5635625" y="4945380"/>
            <a:ext cx="863600" cy="234950"/>
          </a:xfrm>
          <a:prstGeom prst="roundRect">
            <a:avLst>
              <a:gd name="adj" fmla="val 50000"/>
            </a:avLst>
          </a:prstGeom>
          <a:solidFill>
            <a:srgbClr val="3368FF"/>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1" name="任意多边形: 形状 96"/>
          <p:cNvSpPr/>
          <p:nvPr/>
        </p:nvSpPr>
        <p:spPr>
          <a:xfrm>
            <a:off x="2788475" y="2916555"/>
            <a:ext cx="1077855" cy="1181100"/>
          </a:xfrm>
          <a:custGeom>
            <a:avLst/>
            <a:gdLst>
              <a:gd name="connsiteX0" fmla="*/ 538925 w 1077855"/>
              <a:gd name="connsiteY0" fmla="*/ 0 h 1181100"/>
              <a:gd name="connsiteX1" fmla="*/ 1077855 w 1077855"/>
              <a:gd name="connsiteY1" fmla="*/ 247650 h 1181100"/>
              <a:gd name="connsiteX2" fmla="*/ 1077855 w 1077855"/>
              <a:gd name="connsiteY2" fmla="*/ 914400 h 1181100"/>
              <a:gd name="connsiteX3" fmla="*/ 538925 w 1077855"/>
              <a:gd name="connsiteY3" fmla="*/ 1181100 h 1181100"/>
              <a:gd name="connsiteX4" fmla="*/ 0 w 1077855"/>
              <a:gd name="connsiteY4" fmla="*/ 914400 h 1181100"/>
              <a:gd name="connsiteX5" fmla="*/ 0 w 1077855"/>
              <a:gd name="connsiteY5" fmla="*/ 247650 h 1181100"/>
              <a:gd name="connsiteX6" fmla="*/ 538925 w 1077855"/>
              <a:gd name="connsiteY6" fmla="*/ 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7855" h="1181100">
                <a:moveTo>
                  <a:pt x="538925" y="0"/>
                </a:moveTo>
                <a:lnTo>
                  <a:pt x="1077855" y="247650"/>
                </a:lnTo>
                <a:lnTo>
                  <a:pt x="1077855" y="914400"/>
                </a:lnTo>
                <a:lnTo>
                  <a:pt x="538925" y="1181100"/>
                </a:lnTo>
                <a:lnTo>
                  <a:pt x="0" y="914400"/>
                </a:lnTo>
                <a:lnTo>
                  <a:pt x="0" y="247650"/>
                </a:lnTo>
                <a:lnTo>
                  <a:pt x="538925" y="0"/>
                </a:lnTo>
                <a:close/>
              </a:path>
            </a:pathLst>
          </a:custGeom>
          <a:solidFill>
            <a:srgbClr val="E6E6E6">
              <a:alpha val="59000"/>
            </a:srgbClr>
          </a:solidFill>
          <a:ln w="6350" cap="flat">
            <a:gradFill>
              <a:gsLst>
                <a:gs pos="0">
                  <a:srgbClr val="FFFFFF"/>
                </a:gs>
                <a:gs pos="74000">
                  <a:srgbClr val="668EFF"/>
                </a:gs>
                <a:gs pos="83000">
                  <a:srgbClr val="668EFF"/>
                </a:gs>
                <a:gs pos="100000">
                  <a:srgbClr val="DCDCDC"/>
                </a:gs>
              </a:gsLst>
              <a:lin ang="5400000" scaled="1"/>
            </a:gra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2" name="任意多边形: 形状 97"/>
          <p:cNvSpPr/>
          <p:nvPr/>
        </p:nvSpPr>
        <p:spPr>
          <a:xfrm>
            <a:off x="2791650" y="2920047"/>
            <a:ext cx="1071505" cy="1174064"/>
          </a:xfrm>
          <a:custGeom>
            <a:avLst/>
            <a:gdLst>
              <a:gd name="connsiteX0" fmla="*/ 0 w 1071505"/>
              <a:gd name="connsiteY0" fmla="*/ 246196 h 1174064"/>
              <a:gd name="connsiteX1" fmla="*/ 535750 w 1071505"/>
              <a:gd name="connsiteY1" fmla="*/ 0 h 1174064"/>
              <a:gd name="connsiteX2" fmla="*/ 1071505 w 1071505"/>
              <a:gd name="connsiteY2" fmla="*/ 246190 h 1174064"/>
              <a:gd name="connsiteX3" fmla="*/ 1071505 w 1071505"/>
              <a:gd name="connsiteY3" fmla="*/ 908939 h 1174064"/>
              <a:gd name="connsiteX4" fmla="*/ 535750 w 1071505"/>
              <a:gd name="connsiteY4" fmla="*/ 1174064 h 1174064"/>
              <a:gd name="connsiteX5" fmla="*/ 0 w 1071505"/>
              <a:gd name="connsiteY5" fmla="*/ 908939 h 1174064"/>
              <a:gd name="connsiteX6" fmla="*/ 0 w 1071505"/>
              <a:gd name="connsiteY6" fmla="*/ 246196 h 117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505" h="1174064">
                <a:moveTo>
                  <a:pt x="0" y="246196"/>
                </a:moveTo>
                <a:lnTo>
                  <a:pt x="535750" y="0"/>
                </a:lnTo>
                <a:lnTo>
                  <a:pt x="1071505" y="246190"/>
                </a:lnTo>
                <a:lnTo>
                  <a:pt x="1071505" y="908939"/>
                </a:lnTo>
                <a:lnTo>
                  <a:pt x="535750" y="1174064"/>
                </a:lnTo>
                <a:lnTo>
                  <a:pt x="0" y="908939"/>
                </a:lnTo>
                <a:lnTo>
                  <a:pt x="0" y="246196"/>
                </a:lnTo>
                <a:close/>
              </a:path>
            </a:pathLst>
          </a:custGeom>
          <a:noFill/>
          <a:ln w="6350" cap="flat">
            <a:solidFill>
              <a:srgbClr val="FFFFFF">
                <a:alpha val="22000"/>
              </a:srgbClr>
            </a:soli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3" name="任意多边形: 形状 98"/>
          <p:cNvSpPr/>
          <p:nvPr/>
        </p:nvSpPr>
        <p:spPr>
          <a:xfrm>
            <a:off x="2886989" y="3024505"/>
            <a:ext cx="880827" cy="965200"/>
          </a:xfrm>
          <a:custGeom>
            <a:avLst/>
            <a:gdLst>
              <a:gd name="connsiteX0" fmla="*/ 440411 w 880827"/>
              <a:gd name="connsiteY0" fmla="*/ 0 h 965200"/>
              <a:gd name="connsiteX1" fmla="*/ 880827 w 880827"/>
              <a:gd name="connsiteY1" fmla="*/ 202381 h 965200"/>
              <a:gd name="connsiteX2" fmla="*/ 880827 w 880827"/>
              <a:gd name="connsiteY2" fmla="*/ 747249 h 965200"/>
              <a:gd name="connsiteX3" fmla="*/ 440411 w 880827"/>
              <a:gd name="connsiteY3" fmla="*/ 965200 h 965200"/>
              <a:gd name="connsiteX4" fmla="*/ 0 w 880827"/>
              <a:gd name="connsiteY4" fmla="*/ 747249 h 965200"/>
              <a:gd name="connsiteX5" fmla="*/ 0 w 880827"/>
              <a:gd name="connsiteY5" fmla="*/ 202381 h 965200"/>
              <a:gd name="connsiteX6" fmla="*/ 440411 w 880827"/>
              <a:gd name="connsiteY6" fmla="*/ 0 h 96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827" h="965200">
                <a:moveTo>
                  <a:pt x="440411" y="0"/>
                </a:moveTo>
                <a:lnTo>
                  <a:pt x="880827" y="202381"/>
                </a:lnTo>
                <a:lnTo>
                  <a:pt x="880827" y="747249"/>
                </a:lnTo>
                <a:lnTo>
                  <a:pt x="440411" y="965200"/>
                </a:lnTo>
                <a:lnTo>
                  <a:pt x="0" y="747249"/>
                </a:lnTo>
                <a:lnTo>
                  <a:pt x="0" y="202381"/>
                </a:lnTo>
                <a:lnTo>
                  <a:pt x="440411" y="0"/>
                </a:lnTo>
                <a:close/>
              </a:path>
            </a:pathLst>
          </a:custGeom>
          <a:gradFill>
            <a:gsLst>
              <a:gs pos="100000">
                <a:srgbClr val="3368FF"/>
              </a:gs>
              <a:gs pos="15000">
                <a:srgbClr val="0042FF"/>
              </a:gs>
            </a:gsLst>
            <a:lin ang="108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214" name="任意多边形: 形状 99"/>
          <p:cNvSpPr/>
          <p:nvPr/>
        </p:nvSpPr>
        <p:spPr>
          <a:xfrm>
            <a:off x="3200400" y="3265805"/>
            <a:ext cx="254000" cy="247650"/>
          </a:xfrm>
          <a:custGeom>
            <a:avLst/>
            <a:gdLst>
              <a:gd name="connsiteX0" fmla="*/ 56578 w 254000"/>
              <a:gd name="connsiteY0" fmla="*/ 203200 h 247650"/>
              <a:gd name="connsiteX1" fmla="*/ 0 w 254000"/>
              <a:gd name="connsiteY1" fmla="*/ 247650 h 247650"/>
              <a:gd name="connsiteX2" fmla="*/ 0 w 254000"/>
              <a:gd name="connsiteY2" fmla="*/ 12700 h 247650"/>
              <a:gd name="connsiteX3" fmla="*/ 3721 w 254000"/>
              <a:gd name="connsiteY3" fmla="*/ 3721 h 247650"/>
              <a:gd name="connsiteX4" fmla="*/ 12700 w 254000"/>
              <a:gd name="connsiteY4" fmla="*/ 0 h 247650"/>
              <a:gd name="connsiteX5" fmla="*/ 241300 w 254000"/>
              <a:gd name="connsiteY5" fmla="*/ 0 h 247650"/>
              <a:gd name="connsiteX6" fmla="*/ 250279 w 254000"/>
              <a:gd name="connsiteY6" fmla="*/ 3721 h 247650"/>
              <a:gd name="connsiteX7" fmla="*/ 254000 w 254000"/>
              <a:gd name="connsiteY7" fmla="*/ 12700 h 247650"/>
              <a:gd name="connsiteX8" fmla="*/ 254000 w 254000"/>
              <a:gd name="connsiteY8" fmla="*/ 190500 h 247650"/>
              <a:gd name="connsiteX9" fmla="*/ 250279 w 254000"/>
              <a:gd name="connsiteY9" fmla="*/ 199479 h 247650"/>
              <a:gd name="connsiteX10" fmla="*/ 241300 w 254000"/>
              <a:gd name="connsiteY10" fmla="*/ 203200 h 247650"/>
              <a:gd name="connsiteX11" fmla="*/ 56578 w 254000"/>
              <a:gd name="connsiteY11" fmla="*/ 203200 h 247650"/>
              <a:gd name="connsiteX12" fmla="*/ 47790 w 254000"/>
              <a:gd name="connsiteY12" fmla="*/ 177800 h 247650"/>
              <a:gd name="connsiteX13" fmla="*/ 228600 w 254000"/>
              <a:gd name="connsiteY13" fmla="*/ 177800 h 247650"/>
              <a:gd name="connsiteX14" fmla="*/ 228600 w 254000"/>
              <a:gd name="connsiteY14" fmla="*/ 25400 h 247650"/>
              <a:gd name="connsiteX15" fmla="*/ 25400 w 254000"/>
              <a:gd name="connsiteY15" fmla="*/ 25400 h 247650"/>
              <a:gd name="connsiteX16" fmla="*/ 25400 w 254000"/>
              <a:gd name="connsiteY16" fmla="*/ 195390 h 247650"/>
              <a:gd name="connsiteX17" fmla="*/ 47790 w 254000"/>
              <a:gd name="connsiteY17" fmla="*/ 177800 h 247650"/>
              <a:gd name="connsiteX18" fmla="*/ 63500 w 254000"/>
              <a:gd name="connsiteY18" fmla="*/ 88900 h 247650"/>
              <a:gd name="connsiteX19" fmla="*/ 88900 w 254000"/>
              <a:gd name="connsiteY19" fmla="*/ 88900 h 247650"/>
              <a:gd name="connsiteX20" fmla="*/ 100057 w 254000"/>
              <a:gd name="connsiteY20" fmla="*/ 115843 h 247650"/>
              <a:gd name="connsiteX21" fmla="*/ 127000 w 254000"/>
              <a:gd name="connsiteY21" fmla="*/ 127000 h 247650"/>
              <a:gd name="connsiteX22" fmla="*/ 153937 w 254000"/>
              <a:gd name="connsiteY22" fmla="*/ 115843 h 247650"/>
              <a:gd name="connsiteX23" fmla="*/ 165100 w 254000"/>
              <a:gd name="connsiteY23" fmla="*/ 88900 h 247650"/>
              <a:gd name="connsiteX24" fmla="*/ 190500 w 254000"/>
              <a:gd name="connsiteY24" fmla="*/ 88900 h 247650"/>
              <a:gd name="connsiteX25" fmla="*/ 171901 w 254000"/>
              <a:gd name="connsiteY25" fmla="*/ 133801 h 247650"/>
              <a:gd name="connsiteX26" fmla="*/ 127000 w 254000"/>
              <a:gd name="connsiteY26" fmla="*/ 152400 h 247650"/>
              <a:gd name="connsiteX27" fmla="*/ 82099 w 254000"/>
              <a:gd name="connsiteY27" fmla="*/ 133801 h 247650"/>
              <a:gd name="connsiteX28" fmla="*/ 63500 w 254000"/>
              <a:gd name="connsiteY28" fmla="*/ 889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4000" h="247650">
                <a:moveTo>
                  <a:pt x="56578" y="203200"/>
                </a:moveTo>
                <a:lnTo>
                  <a:pt x="0" y="247650"/>
                </a:lnTo>
                <a:lnTo>
                  <a:pt x="0" y="12700"/>
                </a:lnTo>
                <a:cubicBezTo>
                  <a:pt x="0" y="9335"/>
                  <a:pt x="1333" y="6102"/>
                  <a:pt x="3721" y="3721"/>
                </a:cubicBezTo>
                <a:cubicBezTo>
                  <a:pt x="6102" y="1340"/>
                  <a:pt x="9328" y="0"/>
                  <a:pt x="12700" y="0"/>
                </a:cubicBezTo>
                <a:lnTo>
                  <a:pt x="241300" y="0"/>
                </a:lnTo>
                <a:cubicBezTo>
                  <a:pt x="244666" y="0"/>
                  <a:pt x="247898" y="1340"/>
                  <a:pt x="250279" y="3721"/>
                </a:cubicBezTo>
                <a:cubicBezTo>
                  <a:pt x="252660" y="6102"/>
                  <a:pt x="254000" y="9335"/>
                  <a:pt x="254000" y="12700"/>
                </a:cubicBezTo>
                <a:lnTo>
                  <a:pt x="254000" y="190500"/>
                </a:lnTo>
                <a:cubicBezTo>
                  <a:pt x="254000" y="193866"/>
                  <a:pt x="252660" y="197098"/>
                  <a:pt x="250279" y="199479"/>
                </a:cubicBezTo>
                <a:cubicBezTo>
                  <a:pt x="247898" y="201860"/>
                  <a:pt x="244666" y="203200"/>
                  <a:pt x="241300" y="203200"/>
                </a:cubicBezTo>
                <a:lnTo>
                  <a:pt x="56578" y="203200"/>
                </a:lnTo>
                <a:close/>
                <a:moveTo>
                  <a:pt x="47790" y="177800"/>
                </a:moveTo>
                <a:lnTo>
                  <a:pt x="228600" y="177800"/>
                </a:lnTo>
                <a:lnTo>
                  <a:pt x="228600" y="25400"/>
                </a:lnTo>
                <a:lnTo>
                  <a:pt x="25400" y="25400"/>
                </a:lnTo>
                <a:lnTo>
                  <a:pt x="25400" y="195390"/>
                </a:lnTo>
                <a:lnTo>
                  <a:pt x="47790" y="177800"/>
                </a:lnTo>
                <a:close/>
                <a:moveTo>
                  <a:pt x="63500" y="88900"/>
                </a:moveTo>
                <a:lnTo>
                  <a:pt x="88900" y="88900"/>
                </a:lnTo>
                <a:cubicBezTo>
                  <a:pt x="88900" y="99003"/>
                  <a:pt x="92913" y="108693"/>
                  <a:pt x="100057" y="115843"/>
                </a:cubicBezTo>
                <a:cubicBezTo>
                  <a:pt x="107201" y="122987"/>
                  <a:pt x="116891" y="127000"/>
                  <a:pt x="127000" y="127000"/>
                </a:cubicBezTo>
                <a:cubicBezTo>
                  <a:pt x="137103" y="127000"/>
                  <a:pt x="146793" y="122987"/>
                  <a:pt x="153937" y="115843"/>
                </a:cubicBezTo>
                <a:cubicBezTo>
                  <a:pt x="161087" y="108693"/>
                  <a:pt x="165100" y="99003"/>
                  <a:pt x="165100" y="88900"/>
                </a:cubicBezTo>
                <a:lnTo>
                  <a:pt x="190500" y="88900"/>
                </a:lnTo>
                <a:cubicBezTo>
                  <a:pt x="190500" y="105740"/>
                  <a:pt x="183807" y="121895"/>
                  <a:pt x="171901" y="133801"/>
                </a:cubicBezTo>
                <a:cubicBezTo>
                  <a:pt x="159988" y="145707"/>
                  <a:pt x="143840" y="152400"/>
                  <a:pt x="127000" y="152400"/>
                </a:cubicBezTo>
                <a:cubicBezTo>
                  <a:pt x="110160" y="152400"/>
                  <a:pt x="94006" y="145707"/>
                  <a:pt x="82099" y="133801"/>
                </a:cubicBezTo>
                <a:cubicBezTo>
                  <a:pt x="70186" y="121895"/>
                  <a:pt x="63500" y="105740"/>
                  <a:pt x="63500" y="88900"/>
                </a:cubicBezTo>
                <a:close/>
              </a:path>
            </a:pathLst>
          </a:custGeom>
          <a:solidFill>
            <a:srgbClr val="FFFFFF"/>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5" name="任意多边形: 形状 100"/>
          <p:cNvSpPr/>
          <p:nvPr/>
        </p:nvSpPr>
        <p:spPr>
          <a:xfrm>
            <a:off x="8248650" y="2916555"/>
            <a:ext cx="1077848" cy="1181100"/>
          </a:xfrm>
          <a:custGeom>
            <a:avLst/>
            <a:gdLst>
              <a:gd name="connsiteX0" fmla="*/ 538925 w 1077848"/>
              <a:gd name="connsiteY0" fmla="*/ 0 h 1181100"/>
              <a:gd name="connsiteX1" fmla="*/ 1077849 w 1077848"/>
              <a:gd name="connsiteY1" fmla="*/ 247650 h 1181100"/>
              <a:gd name="connsiteX2" fmla="*/ 1077849 w 1077848"/>
              <a:gd name="connsiteY2" fmla="*/ 914400 h 1181100"/>
              <a:gd name="connsiteX3" fmla="*/ 538925 w 1077848"/>
              <a:gd name="connsiteY3" fmla="*/ 1181100 h 1181100"/>
              <a:gd name="connsiteX4" fmla="*/ 0 w 1077848"/>
              <a:gd name="connsiteY4" fmla="*/ 914400 h 1181100"/>
              <a:gd name="connsiteX5" fmla="*/ 0 w 1077848"/>
              <a:gd name="connsiteY5" fmla="*/ 247650 h 1181100"/>
              <a:gd name="connsiteX6" fmla="*/ 538925 w 1077848"/>
              <a:gd name="connsiteY6" fmla="*/ 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7848" h="1181100">
                <a:moveTo>
                  <a:pt x="538925" y="0"/>
                </a:moveTo>
                <a:lnTo>
                  <a:pt x="1077849" y="247650"/>
                </a:lnTo>
                <a:lnTo>
                  <a:pt x="1077849" y="914400"/>
                </a:lnTo>
                <a:lnTo>
                  <a:pt x="538925" y="1181100"/>
                </a:lnTo>
                <a:lnTo>
                  <a:pt x="0" y="914400"/>
                </a:lnTo>
                <a:lnTo>
                  <a:pt x="0" y="247650"/>
                </a:lnTo>
                <a:lnTo>
                  <a:pt x="538925" y="0"/>
                </a:lnTo>
                <a:close/>
              </a:path>
            </a:pathLst>
          </a:custGeom>
          <a:solidFill>
            <a:srgbClr val="E6E6E6">
              <a:alpha val="59000"/>
            </a:srgbClr>
          </a:solidFill>
          <a:ln w="6350" cap="flat">
            <a:gradFill>
              <a:gsLst>
                <a:gs pos="0">
                  <a:srgbClr val="FFFFFF"/>
                </a:gs>
                <a:gs pos="74000">
                  <a:srgbClr val="668EFF"/>
                </a:gs>
                <a:gs pos="83000">
                  <a:srgbClr val="668EFF"/>
                </a:gs>
                <a:gs pos="100000">
                  <a:srgbClr val="DCDCDC"/>
                </a:gs>
              </a:gsLst>
              <a:lin ang="5400000" scaled="1"/>
            </a:gra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6" name="任意多边形: 形状 101"/>
          <p:cNvSpPr/>
          <p:nvPr/>
        </p:nvSpPr>
        <p:spPr>
          <a:xfrm>
            <a:off x="8251825" y="2920047"/>
            <a:ext cx="1071498" cy="1174064"/>
          </a:xfrm>
          <a:custGeom>
            <a:avLst/>
            <a:gdLst>
              <a:gd name="connsiteX0" fmla="*/ 0 w 1071498"/>
              <a:gd name="connsiteY0" fmla="*/ 246196 h 1174064"/>
              <a:gd name="connsiteX1" fmla="*/ 535750 w 1071498"/>
              <a:gd name="connsiteY1" fmla="*/ 0 h 1174064"/>
              <a:gd name="connsiteX2" fmla="*/ 1071499 w 1071498"/>
              <a:gd name="connsiteY2" fmla="*/ 246190 h 1174064"/>
              <a:gd name="connsiteX3" fmla="*/ 1071499 w 1071498"/>
              <a:gd name="connsiteY3" fmla="*/ 908939 h 1174064"/>
              <a:gd name="connsiteX4" fmla="*/ 535750 w 1071498"/>
              <a:gd name="connsiteY4" fmla="*/ 1174064 h 1174064"/>
              <a:gd name="connsiteX5" fmla="*/ 0 w 1071498"/>
              <a:gd name="connsiteY5" fmla="*/ 908939 h 1174064"/>
              <a:gd name="connsiteX6" fmla="*/ 0 w 1071498"/>
              <a:gd name="connsiteY6" fmla="*/ 246196 h 117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498" h="1174064">
                <a:moveTo>
                  <a:pt x="0" y="246196"/>
                </a:moveTo>
                <a:lnTo>
                  <a:pt x="535750" y="0"/>
                </a:lnTo>
                <a:lnTo>
                  <a:pt x="1071499" y="246190"/>
                </a:lnTo>
                <a:lnTo>
                  <a:pt x="1071499" y="908939"/>
                </a:lnTo>
                <a:lnTo>
                  <a:pt x="535750" y="1174064"/>
                </a:lnTo>
                <a:lnTo>
                  <a:pt x="0" y="908939"/>
                </a:lnTo>
                <a:lnTo>
                  <a:pt x="0" y="246196"/>
                </a:lnTo>
                <a:close/>
              </a:path>
            </a:pathLst>
          </a:custGeom>
          <a:noFill/>
          <a:ln w="6350" cap="flat">
            <a:solidFill>
              <a:srgbClr val="FFFFFF">
                <a:alpha val="22000"/>
              </a:srgbClr>
            </a:soli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7" name="任意多边形: 形状 102"/>
          <p:cNvSpPr/>
          <p:nvPr/>
        </p:nvSpPr>
        <p:spPr>
          <a:xfrm>
            <a:off x="8347138" y="3024505"/>
            <a:ext cx="880871" cy="965200"/>
          </a:xfrm>
          <a:custGeom>
            <a:avLst/>
            <a:gdLst>
              <a:gd name="connsiteX0" fmla="*/ 440436 w 880871"/>
              <a:gd name="connsiteY0" fmla="*/ 0 h 965200"/>
              <a:gd name="connsiteX1" fmla="*/ 880872 w 880871"/>
              <a:gd name="connsiteY1" fmla="*/ 202381 h 965200"/>
              <a:gd name="connsiteX2" fmla="*/ 880872 w 880871"/>
              <a:gd name="connsiteY2" fmla="*/ 747249 h 965200"/>
              <a:gd name="connsiteX3" fmla="*/ 440436 w 880871"/>
              <a:gd name="connsiteY3" fmla="*/ 965200 h 965200"/>
              <a:gd name="connsiteX4" fmla="*/ 0 w 880871"/>
              <a:gd name="connsiteY4" fmla="*/ 747249 h 965200"/>
              <a:gd name="connsiteX5" fmla="*/ 0 w 880871"/>
              <a:gd name="connsiteY5" fmla="*/ 202381 h 965200"/>
              <a:gd name="connsiteX6" fmla="*/ 440436 w 880871"/>
              <a:gd name="connsiteY6" fmla="*/ 0 h 96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871" h="965200">
                <a:moveTo>
                  <a:pt x="440436" y="0"/>
                </a:moveTo>
                <a:lnTo>
                  <a:pt x="880872" y="202381"/>
                </a:lnTo>
                <a:lnTo>
                  <a:pt x="880872" y="747249"/>
                </a:lnTo>
                <a:lnTo>
                  <a:pt x="440436" y="965200"/>
                </a:lnTo>
                <a:lnTo>
                  <a:pt x="0" y="747249"/>
                </a:lnTo>
                <a:lnTo>
                  <a:pt x="0" y="202381"/>
                </a:lnTo>
                <a:lnTo>
                  <a:pt x="440436" y="0"/>
                </a:lnTo>
                <a:close/>
              </a:path>
            </a:pathLst>
          </a:custGeom>
          <a:gradFill>
            <a:gsLst>
              <a:gs pos="100000">
                <a:srgbClr val="3368FF"/>
              </a:gs>
              <a:gs pos="15000">
                <a:srgbClr val="0042FF"/>
              </a:gs>
            </a:gsLst>
            <a:lin ang="108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218" name="任意多边形: 形状 103"/>
          <p:cNvSpPr/>
          <p:nvPr/>
        </p:nvSpPr>
        <p:spPr>
          <a:xfrm>
            <a:off x="8661400" y="3265805"/>
            <a:ext cx="254000" cy="228600"/>
          </a:xfrm>
          <a:custGeom>
            <a:avLst/>
            <a:gdLst>
              <a:gd name="connsiteX0" fmla="*/ 228600 w 254000"/>
              <a:gd name="connsiteY0" fmla="*/ 76200 h 228600"/>
              <a:gd name="connsiteX1" fmla="*/ 228600 w 254000"/>
              <a:gd name="connsiteY1" fmla="*/ 25400 h 228600"/>
              <a:gd name="connsiteX2" fmla="*/ 25400 w 254000"/>
              <a:gd name="connsiteY2" fmla="*/ 25400 h 228600"/>
              <a:gd name="connsiteX3" fmla="*/ 25400 w 254000"/>
              <a:gd name="connsiteY3" fmla="*/ 76200 h 228600"/>
              <a:gd name="connsiteX4" fmla="*/ 228600 w 254000"/>
              <a:gd name="connsiteY4" fmla="*/ 76200 h 228600"/>
              <a:gd name="connsiteX5" fmla="*/ 228600 w 254000"/>
              <a:gd name="connsiteY5" fmla="*/ 101600 h 228600"/>
              <a:gd name="connsiteX6" fmla="*/ 25400 w 254000"/>
              <a:gd name="connsiteY6" fmla="*/ 101600 h 228600"/>
              <a:gd name="connsiteX7" fmla="*/ 25400 w 254000"/>
              <a:gd name="connsiteY7" fmla="*/ 203200 h 228600"/>
              <a:gd name="connsiteX8" fmla="*/ 228600 w 254000"/>
              <a:gd name="connsiteY8" fmla="*/ 203200 h 228600"/>
              <a:gd name="connsiteX9" fmla="*/ 228600 w 254000"/>
              <a:gd name="connsiteY9" fmla="*/ 101600 h 228600"/>
              <a:gd name="connsiteX10" fmla="*/ 12700 w 254000"/>
              <a:gd name="connsiteY10" fmla="*/ 0 h 228600"/>
              <a:gd name="connsiteX11" fmla="*/ 241300 w 254000"/>
              <a:gd name="connsiteY11" fmla="*/ 0 h 228600"/>
              <a:gd name="connsiteX12" fmla="*/ 250254 w 254000"/>
              <a:gd name="connsiteY12" fmla="*/ 3721 h 228600"/>
              <a:gd name="connsiteX13" fmla="*/ 254000 w 254000"/>
              <a:gd name="connsiteY13" fmla="*/ 12700 h 228600"/>
              <a:gd name="connsiteX14" fmla="*/ 254000 w 254000"/>
              <a:gd name="connsiteY14" fmla="*/ 215900 h 228600"/>
              <a:gd name="connsiteX15" fmla="*/ 250254 w 254000"/>
              <a:gd name="connsiteY15" fmla="*/ 224879 h 228600"/>
              <a:gd name="connsiteX16" fmla="*/ 241300 w 254000"/>
              <a:gd name="connsiteY16" fmla="*/ 228600 h 228600"/>
              <a:gd name="connsiteX17" fmla="*/ 12700 w 254000"/>
              <a:gd name="connsiteY17" fmla="*/ 228600 h 228600"/>
              <a:gd name="connsiteX18" fmla="*/ 3746 w 254000"/>
              <a:gd name="connsiteY18" fmla="*/ 224879 h 228600"/>
              <a:gd name="connsiteX19" fmla="*/ 0 w 254000"/>
              <a:gd name="connsiteY19" fmla="*/ 215900 h 228600"/>
              <a:gd name="connsiteX20" fmla="*/ 0 w 254000"/>
              <a:gd name="connsiteY20" fmla="*/ 12700 h 228600"/>
              <a:gd name="connsiteX21" fmla="*/ 3746 w 254000"/>
              <a:gd name="connsiteY21" fmla="*/ 3721 h 228600"/>
              <a:gd name="connsiteX22" fmla="*/ 12700 w 254000"/>
              <a:gd name="connsiteY22" fmla="*/ 0 h 228600"/>
              <a:gd name="connsiteX23" fmla="*/ 38100 w 254000"/>
              <a:gd name="connsiteY23" fmla="*/ 114300 h 228600"/>
              <a:gd name="connsiteX24" fmla="*/ 76200 w 254000"/>
              <a:gd name="connsiteY24" fmla="*/ 114300 h 228600"/>
              <a:gd name="connsiteX25" fmla="*/ 76200 w 254000"/>
              <a:gd name="connsiteY25" fmla="*/ 177800 h 228600"/>
              <a:gd name="connsiteX26" fmla="*/ 38100 w 254000"/>
              <a:gd name="connsiteY26" fmla="*/ 177800 h 228600"/>
              <a:gd name="connsiteX27" fmla="*/ 38100 w 254000"/>
              <a:gd name="connsiteY27" fmla="*/ 114300 h 228600"/>
              <a:gd name="connsiteX28" fmla="*/ 38100 w 254000"/>
              <a:gd name="connsiteY28" fmla="*/ 38100 h 228600"/>
              <a:gd name="connsiteX29" fmla="*/ 63500 w 254000"/>
              <a:gd name="connsiteY29" fmla="*/ 38100 h 228600"/>
              <a:gd name="connsiteX30" fmla="*/ 63500 w 254000"/>
              <a:gd name="connsiteY30" fmla="*/ 63500 h 228600"/>
              <a:gd name="connsiteX31" fmla="*/ 38100 w 254000"/>
              <a:gd name="connsiteY31" fmla="*/ 63500 h 228600"/>
              <a:gd name="connsiteX32" fmla="*/ 38100 w 254000"/>
              <a:gd name="connsiteY32" fmla="*/ 38100 h 228600"/>
              <a:gd name="connsiteX33" fmla="*/ 88900 w 254000"/>
              <a:gd name="connsiteY33" fmla="*/ 38100 h 228600"/>
              <a:gd name="connsiteX34" fmla="*/ 114300 w 254000"/>
              <a:gd name="connsiteY34" fmla="*/ 38100 h 228600"/>
              <a:gd name="connsiteX35" fmla="*/ 114300 w 254000"/>
              <a:gd name="connsiteY35" fmla="*/ 63500 h 228600"/>
              <a:gd name="connsiteX36" fmla="*/ 88900 w 254000"/>
              <a:gd name="connsiteY36" fmla="*/ 63500 h 228600"/>
              <a:gd name="connsiteX37" fmla="*/ 88900 w 254000"/>
              <a:gd name="connsiteY37" fmla="*/ 381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4000" h="228600">
                <a:moveTo>
                  <a:pt x="228600" y="76200"/>
                </a:moveTo>
                <a:lnTo>
                  <a:pt x="228600" y="25400"/>
                </a:lnTo>
                <a:lnTo>
                  <a:pt x="25400" y="25400"/>
                </a:lnTo>
                <a:lnTo>
                  <a:pt x="25400" y="76200"/>
                </a:lnTo>
                <a:lnTo>
                  <a:pt x="228600" y="76200"/>
                </a:lnTo>
                <a:close/>
                <a:moveTo>
                  <a:pt x="228600" y="101600"/>
                </a:moveTo>
                <a:lnTo>
                  <a:pt x="25400" y="101600"/>
                </a:lnTo>
                <a:lnTo>
                  <a:pt x="25400" y="203200"/>
                </a:lnTo>
                <a:lnTo>
                  <a:pt x="228600" y="203200"/>
                </a:lnTo>
                <a:lnTo>
                  <a:pt x="228600" y="101600"/>
                </a:lnTo>
                <a:close/>
                <a:moveTo>
                  <a:pt x="12700" y="0"/>
                </a:moveTo>
                <a:lnTo>
                  <a:pt x="241300" y="0"/>
                </a:lnTo>
                <a:cubicBezTo>
                  <a:pt x="244666" y="0"/>
                  <a:pt x="247904" y="1340"/>
                  <a:pt x="250254" y="3721"/>
                </a:cubicBezTo>
                <a:cubicBezTo>
                  <a:pt x="252667" y="6102"/>
                  <a:pt x="254000" y="9335"/>
                  <a:pt x="254000" y="12700"/>
                </a:cubicBezTo>
                <a:lnTo>
                  <a:pt x="254000" y="215900"/>
                </a:lnTo>
                <a:cubicBezTo>
                  <a:pt x="254000" y="219266"/>
                  <a:pt x="252667" y="222498"/>
                  <a:pt x="250254" y="224879"/>
                </a:cubicBezTo>
                <a:cubicBezTo>
                  <a:pt x="247904" y="227260"/>
                  <a:pt x="244666" y="228600"/>
                  <a:pt x="241300" y="228600"/>
                </a:cubicBezTo>
                <a:lnTo>
                  <a:pt x="12700" y="228600"/>
                </a:lnTo>
                <a:cubicBezTo>
                  <a:pt x="9334" y="228600"/>
                  <a:pt x="6096" y="227260"/>
                  <a:pt x="3746" y="224879"/>
                </a:cubicBezTo>
                <a:cubicBezTo>
                  <a:pt x="1333" y="222498"/>
                  <a:pt x="0" y="219266"/>
                  <a:pt x="0" y="215900"/>
                </a:cubicBezTo>
                <a:lnTo>
                  <a:pt x="0" y="12700"/>
                </a:lnTo>
                <a:cubicBezTo>
                  <a:pt x="0" y="9335"/>
                  <a:pt x="1333" y="6102"/>
                  <a:pt x="3746" y="3721"/>
                </a:cubicBezTo>
                <a:cubicBezTo>
                  <a:pt x="6096" y="1340"/>
                  <a:pt x="9334" y="0"/>
                  <a:pt x="12700" y="0"/>
                </a:cubicBezTo>
                <a:close/>
                <a:moveTo>
                  <a:pt x="38100" y="114300"/>
                </a:moveTo>
                <a:lnTo>
                  <a:pt x="76200" y="114300"/>
                </a:lnTo>
                <a:lnTo>
                  <a:pt x="76200" y="177800"/>
                </a:lnTo>
                <a:lnTo>
                  <a:pt x="38100" y="177800"/>
                </a:lnTo>
                <a:lnTo>
                  <a:pt x="38100" y="114300"/>
                </a:lnTo>
                <a:close/>
                <a:moveTo>
                  <a:pt x="38100" y="38100"/>
                </a:moveTo>
                <a:lnTo>
                  <a:pt x="63500" y="38100"/>
                </a:lnTo>
                <a:lnTo>
                  <a:pt x="63500" y="63500"/>
                </a:lnTo>
                <a:lnTo>
                  <a:pt x="38100" y="63500"/>
                </a:lnTo>
                <a:lnTo>
                  <a:pt x="38100" y="38100"/>
                </a:lnTo>
                <a:close/>
                <a:moveTo>
                  <a:pt x="88900" y="38100"/>
                </a:moveTo>
                <a:lnTo>
                  <a:pt x="114300" y="38100"/>
                </a:lnTo>
                <a:lnTo>
                  <a:pt x="114300" y="63500"/>
                </a:lnTo>
                <a:lnTo>
                  <a:pt x="88900" y="63500"/>
                </a:lnTo>
                <a:lnTo>
                  <a:pt x="88900" y="38100"/>
                </a:lnTo>
                <a:close/>
              </a:path>
            </a:pathLst>
          </a:custGeom>
          <a:solidFill>
            <a:srgbClr val="FFFFFF"/>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9" name="任意多边形: 形状 104"/>
          <p:cNvSpPr/>
          <p:nvPr/>
        </p:nvSpPr>
        <p:spPr>
          <a:xfrm>
            <a:off x="4108450" y="2230755"/>
            <a:ext cx="1077855" cy="1181100"/>
          </a:xfrm>
          <a:custGeom>
            <a:avLst/>
            <a:gdLst>
              <a:gd name="connsiteX0" fmla="*/ 538925 w 1077855"/>
              <a:gd name="connsiteY0" fmla="*/ 0 h 1181100"/>
              <a:gd name="connsiteX1" fmla="*/ 1077856 w 1077855"/>
              <a:gd name="connsiteY1" fmla="*/ 247650 h 1181100"/>
              <a:gd name="connsiteX2" fmla="*/ 1077856 w 1077855"/>
              <a:gd name="connsiteY2" fmla="*/ 914400 h 1181100"/>
              <a:gd name="connsiteX3" fmla="*/ 538925 w 1077855"/>
              <a:gd name="connsiteY3" fmla="*/ 1181100 h 1181100"/>
              <a:gd name="connsiteX4" fmla="*/ 0 w 1077855"/>
              <a:gd name="connsiteY4" fmla="*/ 914400 h 1181100"/>
              <a:gd name="connsiteX5" fmla="*/ 0 w 1077855"/>
              <a:gd name="connsiteY5" fmla="*/ 247650 h 1181100"/>
              <a:gd name="connsiteX6" fmla="*/ 538925 w 1077855"/>
              <a:gd name="connsiteY6" fmla="*/ 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7855" h="1181100">
                <a:moveTo>
                  <a:pt x="538925" y="0"/>
                </a:moveTo>
                <a:lnTo>
                  <a:pt x="1077856" y="247650"/>
                </a:lnTo>
                <a:lnTo>
                  <a:pt x="1077856" y="914400"/>
                </a:lnTo>
                <a:lnTo>
                  <a:pt x="538925" y="1181100"/>
                </a:lnTo>
                <a:lnTo>
                  <a:pt x="0" y="914400"/>
                </a:lnTo>
                <a:lnTo>
                  <a:pt x="0" y="247650"/>
                </a:lnTo>
                <a:lnTo>
                  <a:pt x="538925" y="0"/>
                </a:lnTo>
                <a:close/>
              </a:path>
            </a:pathLst>
          </a:custGeom>
          <a:solidFill>
            <a:srgbClr val="FF4200">
              <a:alpha val="11000"/>
            </a:srgbClr>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0" name="任意多边形: 形状 105"/>
          <p:cNvSpPr/>
          <p:nvPr/>
        </p:nvSpPr>
        <p:spPr>
          <a:xfrm>
            <a:off x="4111625" y="2234247"/>
            <a:ext cx="1071505" cy="1174064"/>
          </a:xfrm>
          <a:custGeom>
            <a:avLst/>
            <a:gdLst>
              <a:gd name="connsiteX0" fmla="*/ 0 w 1071505"/>
              <a:gd name="connsiteY0" fmla="*/ 246196 h 1174064"/>
              <a:gd name="connsiteX1" fmla="*/ 535750 w 1071505"/>
              <a:gd name="connsiteY1" fmla="*/ 0 h 1174064"/>
              <a:gd name="connsiteX2" fmla="*/ 1071506 w 1071505"/>
              <a:gd name="connsiteY2" fmla="*/ 246190 h 1174064"/>
              <a:gd name="connsiteX3" fmla="*/ 1071506 w 1071505"/>
              <a:gd name="connsiteY3" fmla="*/ 908939 h 1174064"/>
              <a:gd name="connsiteX4" fmla="*/ 535750 w 1071505"/>
              <a:gd name="connsiteY4" fmla="*/ 1174064 h 1174064"/>
              <a:gd name="connsiteX5" fmla="*/ 0 w 1071505"/>
              <a:gd name="connsiteY5" fmla="*/ 908939 h 1174064"/>
              <a:gd name="connsiteX6" fmla="*/ 0 w 1071505"/>
              <a:gd name="connsiteY6" fmla="*/ 246196 h 117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505" h="1174064">
                <a:moveTo>
                  <a:pt x="0" y="246196"/>
                </a:moveTo>
                <a:lnTo>
                  <a:pt x="535750" y="0"/>
                </a:lnTo>
                <a:lnTo>
                  <a:pt x="1071506" y="246190"/>
                </a:lnTo>
                <a:lnTo>
                  <a:pt x="1071506" y="908939"/>
                </a:lnTo>
                <a:lnTo>
                  <a:pt x="535750" y="1174064"/>
                </a:lnTo>
                <a:lnTo>
                  <a:pt x="0" y="908939"/>
                </a:lnTo>
                <a:lnTo>
                  <a:pt x="0" y="246196"/>
                </a:lnTo>
                <a:close/>
              </a:path>
            </a:pathLst>
          </a:custGeom>
          <a:solidFill>
            <a:srgbClr val="E6E6E6">
              <a:alpha val="59000"/>
            </a:srgbClr>
          </a:solidFill>
          <a:ln w="6350" cap="flat">
            <a:gradFill>
              <a:gsLst>
                <a:gs pos="0">
                  <a:srgbClr val="FFFFFF"/>
                </a:gs>
                <a:gs pos="74000">
                  <a:srgbClr val="668EFF"/>
                </a:gs>
                <a:gs pos="83000">
                  <a:srgbClr val="668EFF"/>
                </a:gs>
                <a:gs pos="100000">
                  <a:srgbClr val="DCDCDC"/>
                </a:gs>
              </a:gsLst>
              <a:lin ang="5400000" scaled="1"/>
            </a:gra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1" name="任意多边形: 形状 106"/>
          <p:cNvSpPr/>
          <p:nvPr/>
        </p:nvSpPr>
        <p:spPr>
          <a:xfrm>
            <a:off x="4206963" y="2338705"/>
            <a:ext cx="880827" cy="965200"/>
          </a:xfrm>
          <a:custGeom>
            <a:avLst/>
            <a:gdLst>
              <a:gd name="connsiteX0" fmla="*/ 440411 w 880827"/>
              <a:gd name="connsiteY0" fmla="*/ 0 h 965200"/>
              <a:gd name="connsiteX1" fmla="*/ 880828 w 880827"/>
              <a:gd name="connsiteY1" fmla="*/ 202381 h 965200"/>
              <a:gd name="connsiteX2" fmla="*/ 880828 w 880827"/>
              <a:gd name="connsiteY2" fmla="*/ 747249 h 965200"/>
              <a:gd name="connsiteX3" fmla="*/ 440411 w 880827"/>
              <a:gd name="connsiteY3" fmla="*/ 965200 h 965200"/>
              <a:gd name="connsiteX4" fmla="*/ 0 w 880827"/>
              <a:gd name="connsiteY4" fmla="*/ 747249 h 965200"/>
              <a:gd name="connsiteX5" fmla="*/ 0 w 880827"/>
              <a:gd name="connsiteY5" fmla="*/ 202381 h 965200"/>
              <a:gd name="connsiteX6" fmla="*/ 440411 w 880827"/>
              <a:gd name="connsiteY6" fmla="*/ 0 h 96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827" h="965200">
                <a:moveTo>
                  <a:pt x="440411" y="0"/>
                </a:moveTo>
                <a:lnTo>
                  <a:pt x="880828" y="202381"/>
                </a:lnTo>
                <a:lnTo>
                  <a:pt x="880828" y="747249"/>
                </a:lnTo>
                <a:lnTo>
                  <a:pt x="440411" y="965200"/>
                </a:lnTo>
                <a:lnTo>
                  <a:pt x="0" y="747249"/>
                </a:lnTo>
                <a:lnTo>
                  <a:pt x="0" y="202381"/>
                </a:lnTo>
                <a:lnTo>
                  <a:pt x="440411" y="0"/>
                </a:lnTo>
                <a:close/>
              </a:path>
            </a:pathLst>
          </a:custGeom>
          <a:gradFill>
            <a:gsLst>
              <a:gs pos="100000">
                <a:srgbClr val="3368FF"/>
              </a:gs>
              <a:gs pos="15000">
                <a:srgbClr val="0042FF"/>
              </a:gs>
            </a:gsLst>
            <a:lin ang="108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222" name="任意多边形: 形状 107"/>
          <p:cNvSpPr/>
          <p:nvPr/>
        </p:nvSpPr>
        <p:spPr>
          <a:xfrm>
            <a:off x="4521200" y="2567305"/>
            <a:ext cx="254000" cy="254000"/>
          </a:xfrm>
          <a:custGeom>
            <a:avLst/>
            <a:gdLst>
              <a:gd name="connsiteX0" fmla="*/ 101600 w 254000"/>
              <a:gd name="connsiteY0" fmla="*/ 107950 h 254000"/>
              <a:gd name="connsiteX1" fmla="*/ 114783 w 254000"/>
              <a:gd name="connsiteY1" fmla="*/ 61786 h 254000"/>
              <a:gd name="connsiteX2" fmla="*/ 119342 w 254000"/>
              <a:gd name="connsiteY2" fmla="*/ 55118 h 254000"/>
              <a:gd name="connsiteX3" fmla="*/ 127000 w 254000"/>
              <a:gd name="connsiteY3" fmla="*/ 52553 h 254000"/>
              <a:gd name="connsiteX4" fmla="*/ 134658 w 254000"/>
              <a:gd name="connsiteY4" fmla="*/ 55118 h 254000"/>
              <a:gd name="connsiteX5" fmla="*/ 139217 w 254000"/>
              <a:gd name="connsiteY5" fmla="*/ 61786 h 254000"/>
              <a:gd name="connsiteX6" fmla="*/ 152400 w 254000"/>
              <a:gd name="connsiteY6" fmla="*/ 107950 h 254000"/>
              <a:gd name="connsiteX7" fmla="*/ 152400 w 254000"/>
              <a:gd name="connsiteY7" fmla="*/ 127000 h 254000"/>
              <a:gd name="connsiteX8" fmla="*/ 161544 w 254000"/>
              <a:gd name="connsiteY8" fmla="*/ 127000 h 254000"/>
              <a:gd name="connsiteX9" fmla="*/ 169354 w 254000"/>
              <a:gd name="connsiteY9" fmla="*/ 129686 h 254000"/>
              <a:gd name="connsiteX10" fmla="*/ 173863 w 254000"/>
              <a:gd name="connsiteY10" fmla="*/ 136614 h 254000"/>
              <a:gd name="connsiteX11" fmla="*/ 191148 w 254000"/>
              <a:gd name="connsiteY11" fmla="*/ 205791 h 254000"/>
              <a:gd name="connsiteX12" fmla="*/ 224841 w 254000"/>
              <a:gd name="connsiteY12" fmla="*/ 154387 h 254000"/>
              <a:gd name="connsiteX13" fmla="*/ 222726 w 254000"/>
              <a:gd name="connsiteY13" fmla="*/ 92958 h 254000"/>
              <a:gd name="connsiteX14" fmla="*/ 185585 w 254000"/>
              <a:gd name="connsiteY14" fmla="*/ 43993 h 254000"/>
              <a:gd name="connsiteX15" fmla="*/ 127000 w 254000"/>
              <a:gd name="connsiteY15" fmla="*/ 25400 h 254000"/>
              <a:gd name="connsiteX16" fmla="*/ 68415 w 254000"/>
              <a:gd name="connsiteY16" fmla="*/ 43993 h 254000"/>
              <a:gd name="connsiteX17" fmla="*/ 31274 w 254000"/>
              <a:gd name="connsiteY17" fmla="*/ 92958 h 254000"/>
              <a:gd name="connsiteX18" fmla="*/ 29159 w 254000"/>
              <a:gd name="connsiteY18" fmla="*/ 154387 h 254000"/>
              <a:gd name="connsiteX19" fmla="*/ 62852 w 254000"/>
              <a:gd name="connsiteY19" fmla="*/ 205791 h 254000"/>
              <a:gd name="connsiteX20" fmla="*/ 80150 w 254000"/>
              <a:gd name="connsiteY20" fmla="*/ 136614 h 254000"/>
              <a:gd name="connsiteX21" fmla="*/ 84652 w 254000"/>
              <a:gd name="connsiteY21" fmla="*/ 129692 h 254000"/>
              <a:gd name="connsiteX22" fmla="*/ 92456 w 254000"/>
              <a:gd name="connsiteY22" fmla="*/ 127000 h 254000"/>
              <a:gd name="connsiteX23" fmla="*/ 101600 w 254000"/>
              <a:gd name="connsiteY23" fmla="*/ 127000 h 254000"/>
              <a:gd name="connsiteX24" fmla="*/ 101600 w 254000"/>
              <a:gd name="connsiteY24" fmla="*/ 107950 h 254000"/>
              <a:gd name="connsiteX25" fmla="*/ 127000 w 254000"/>
              <a:gd name="connsiteY25" fmla="*/ 228600 h 254000"/>
              <a:gd name="connsiteX26" fmla="*/ 168466 w 254000"/>
              <a:gd name="connsiteY26" fmla="*/ 219786 h 254000"/>
              <a:gd name="connsiteX27" fmla="*/ 151612 w 254000"/>
              <a:gd name="connsiteY27" fmla="*/ 152400 h 254000"/>
              <a:gd name="connsiteX28" fmla="*/ 102388 w 254000"/>
              <a:gd name="connsiteY28" fmla="*/ 152400 h 254000"/>
              <a:gd name="connsiteX29" fmla="*/ 85534 w 254000"/>
              <a:gd name="connsiteY29" fmla="*/ 219786 h 254000"/>
              <a:gd name="connsiteX30" fmla="*/ 127000 w 254000"/>
              <a:gd name="connsiteY30" fmla="*/ 228600 h 254000"/>
              <a:gd name="connsiteX31" fmla="*/ 127000 w 254000"/>
              <a:gd name="connsiteY31" fmla="*/ 254000 h 254000"/>
              <a:gd name="connsiteX32" fmla="*/ 0 w 254000"/>
              <a:gd name="connsiteY32" fmla="*/ 127000 h 254000"/>
              <a:gd name="connsiteX33" fmla="*/ 127000 w 254000"/>
              <a:gd name="connsiteY33" fmla="*/ 0 h 254000"/>
              <a:gd name="connsiteX34" fmla="*/ 254000 w 254000"/>
              <a:gd name="connsiteY34" fmla="*/ 127000 h 254000"/>
              <a:gd name="connsiteX35" fmla="*/ 127000 w 254000"/>
              <a:gd name="connsiteY35" fmla="*/ 2540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000" h="254000">
                <a:moveTo>
                  <a:pt x="101600" y="107950"/>
                </a:moveTo>
                <a:lnTo>
                  <a:pt x="114783" y="61786"/>
                </a:lnTo>
                <a:cubicBezTo>
                  <a:pt x="115538" y="59125"/>
                  <a:pt x="117139" y="56788"/>
                  <a:pt x="119342" y="55118"/>
                </a:cubicBezTo>
                <a:cubicBezTo>
                  <a:pt x="121545" y="53454"/>
                  <a:pt x="124238" y="52553"/>
                  <a:pt x="127000" y="52553"/>
                </a:cubicBezTo>
                <a:cubicBezTo>
                  <a:pt x="129762" y="52553"/>
                  <a:pt x="132455" y="53454"/>
                  <a:pt x="134658" y="55118"/>
                </a:cubicBezTo>
                <a:cubicBezTo>
                  <a:pt x="136861" y="56788"/>
                  <a:pt x="138462" y="59125"/>
                  <a:pt x="139217" y="61786"/>
                </a:cubicBezTo>
                <a:lnTo>
                  <a:pt x="152400" y="107950"/>
                </a:lnTo>
                <a:lnTo>
                  <a:pt x="152400" y="127000"/>
                </a:lnTo>
                <a:lnTo>
                  <a:pt x="161544" y="127000"/>
                </a:lnTo>
                <a:cubicBezTo>
                  <a:pt x="164376" y="127000"/>
                  <a:pt x="167125" y="127946"/>
                  <a:pt x="169354" y="129686"/>
                </a:cubicBezTo>
                <a:cubicBezTo>
                  <a:pt x="171590" y="131432"/>
                  <a:pt x="173177" y="133871"/>
                  <a:pt x="173863" y="136614"/>
                </a:cubicBezTo>
                <a:lnTo>
                  <a:pt x="191148" y="205791"/>
                </a:lnTo>
                <a:cubicBezTo>
                  <a:pt x="207416" y="192545"/>
                  <a:pt x="219183" y="174587"/>
                  <a:pt x="224841" y="154387"/>
                </a:cubicBezTo>
                <a:cubicBezTo>
                  <a:pt x="230492" y="134182"/>
                  <a:pt x="229756" y="112725"/>
                  <a:pt x="222726" y="92958"/>
                </a:cubicBezTo>
                <a:cubicBezTo>
                  <a:pt x="215697" y="73197"/>
                  <a:pt x="202724" y="56090"/>
                  <a:pt x="185585" y="43993"/>
                </a:cubicBezTo>
                <a:cubicBezTo>
                  <a:pt x="168440" y="31896"/>
                  <a:pt x="147981" y="25400"/>
                  <a:pt x="127000" y="25400"/>
                </a:cubicBezTo>
                <a:cubicBezTo>
                  <a:pt x="106020" y="25400"/>
                  <a:pt x="85560" y="31896"/>
                  <a:pt x="68415" y="43993"/>
                </a:cubicBezTo>
                <a:cubicBezTo>
                  <a:pt x="51276" y="56090"/>
                  <a:pt x="38303" y="73197"/>
                  <a:pt x="31274" y="92958"/>
                </a:cubicBezTo>
                <a:cubicBezTo>
                  <a:pt x="24244" y="112725"/>
                  <a:pt x="23508" y="134182"/>
                  <a:pt x="29159" y="154387"/>
                </a:cubicBezTo>
                <a:cubicBezTo>
                  <a:pt x="34817" y="174587"/>
                  <a:pt x="46584" y="192545"/>
                  <a:pt x="62852" y="205791"/>
                </a:cubicBezTo>
                <a:lnTo>
                  <a:pt x="80150" y="136614"/>
                </a:lnTo>
                <a:cubicBezTo>
                  <a:pt x="80835" y="133871"/>
                  <a:pt x="82423" y="131432"/>
                  <a:pt x="84652" y="129692"/>
                </a:cubicBezTo>
                <a:cubicBezTo>
                  <a:pt x="86881" y="127952"/>
                  <a:pt x="89624" y="127000"/>
                  <a:pt x="92456" y="127000"/>
                </a:cubicBezTo>
                <a:lnTo>
                  <a:pt x="101600" y="127000"/>
                </a:lnTo>
                <a:lnTo>
                  <a:pt x="101600" y="107950"/>
                </a:lnTo>
                <a:close/>
                <a:moveTo>
                  <a:pt x="127000" y="228600"/>
                </a:moveTo>
                <a:cubicBezTo>
                  <a:pt x="141288" y="228632"/>
                  <a:pt x="155423" y="225622"/>
                  <a:pt x="168466" y="219786"/>
                </a:cubicBezTo>
                <a:lnTo>
                  <a:pt x="151612" y="152400"/>
                </a:lnTo>
                <a:lnTo>
                  <a:pt x="102388" y="152400"/>
                </a:lnTo>
                <a:lnTo>
                  <a:pt x="85534" y="219786"/>
                </a:lnTo>
                <a:cubicBezTo>
                  <a:pt x="98577" y="225628"/>
                  <a:pt x="112713" y="228632"/>
                  <a:pt x="127000" y="228600"/>
                </a:cubicBezTo>
                <a:close/>
                <a:moveTo>
                  <a:pt x="127000" y="254000"/>
                </a:moveTo>
                <a:cubicBezTo>
                  <a:pt x="56858" y="254000"/>
                  <a:pt x="0" y="197142"/>
                  <a:pt x="0" y="127000"/>
                </a:cubicBezTo>
                <a:cubicBezTo>
                  <a:pt x="0" y="56858"/>
                  <a:pt x="56858" y="0"/>
                  <a:pt x="127000" y="0"/>
                </a:cubicBezTo>
                <a:cubicBezTo>
                  <a:pt x="197142" y="0"/>
                  <a:pt x="254000" y="56858"/>
                  <a:pt x="254000" y="127000"/>
                </a:cubicBezTo>
                <a:cubicBezTo>
                  <a:pt x="254000" y="197142"/>
                  <a:pt x="197142" y="254000"/>
                  <a:pt x="127000" y="254000"/>
                </a:cubicBezTo>
                <a:close/>
              </a:path>
            </a:pathLst>
          </a:custGeom>
          <a:solidFill>
            <a:srgbClr val="FFFFFF"/>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3" name="任意多边形: 形状 108"/>
          <p:cNvSpPr/>
          <p:nvPr/>
        </p:nvSpPr>
        <p:spPr>
          <a:xfrm>
            <a:off x="6927850" y="2230755"/>
            <a:ext cx="1077848" cy="1181100"/>
          </a:xfrm>
          <a:custGeom>
            <a:avLst/>
            <a:gdLst>
              <a:gd name="connsiteX0" fmla="*/ 538925 w 1077848"/>
              <a:gd name="connsiteY0" fmla="*/ 0 h 1181100"/>
              <a:gd name="connsiteX1" fmla="*/ 1077849 w 1077848"/>
              <a:gd name="connsiteY1" fmla="*/ 247650 h 1181100"/>
              <a:gd name="connsiteX2" fmla="*/ 1077849 w 1077848"/>
              <a:gd name="connsiteY2" fmla="*/ 914400 h 1181100"/>
              <a:gd name="connsiteX3" fmla="*/ 538925 w 1077848"/>
              <a:gd name="connsiteY3" fmla="*/ 1181100 h 1181100"/>
              <a:gd name="connsiteX4" fmla="*/ 0 w 1077848"/>
              <a:gd name="connsiteY4" fmla="*/ 914400 h 1181100"/>
              <a:gd name="connsiteX5" fmla="*/ 0 w 1077848"/>
              <a:gd name="connsiteY5" fmla="*/ 247650 h 1181100"/>
              <a:gd name="connsiteX6" fmla="*/ 538925 w 1077848"/>
              <a:gd name="connsiteY6" fmla="*/ 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7848" h="1181100">
                <a:moveTo>
                  <a:pt x="538925" y="0"/>
                </a:moveTo>
                <a:lnTo>
                  <a:pt x="1077849" y="247650"/>
                </a:lnTo>
                <a:lnTo>
                  <a:pt x="1077849" y="914400"/>
                </a:lnTo>
                <a:lnTo>
                  <a:pt x="538925" y="1181100"/>
                </a:lnTo>
                <a:lnTo>
                  <a:pt x="0" y="914400"/>
                </a:lnTo>
                <a:lnTo>
                  <a:pt x="0" y="247650"/>
                </a:lnTo>
                <a:lnTo>
                  <a:pt x="538925" y="0"/>
                </a:lnTo>
                <a:close/>
              </a:path>
            </a:pathLst>
          </a:custGeom>
          <a:solidFill>
            <a:srgbClr val="E6E6E6">
              <a:alpha val="59000"/>
            </a:srgbClr>
          </a:solidFill>
          <a:ln w="6350" cap="flat">
            <a:gradFill>
              <a:gsLst>
                <a:gs pos="0">
                  <a:srgbClr val="FFFFFF"/>
                </a:gs>
                <a:gs pos="74000">
                  <a:srgbClr val="668EFF"/>
                </a:gs>
                <a:gs pos="83000">
                  <a:srgbClr val="668EFF"/>
                </a:gs>
                <a:gs pos="100000">
                  <a:srgbClr val="DCDCDC"/>
                </a:gs>
              </a:gsLst>
              <a:lin ang="5400000" scaled="1"/>
            </a:gra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4" name="任意多边形: 形状 109"/>
          <p:cNvSpPr/>
          <p:nvPr/>
        </p:nvSpPr>
        <p:spPr>
          <a:xfrm>
            <a:off x="6931025" y="2234247"/>
            <a:ext cx="1071498" cy="1174064"/>
          </a:xfrm>
          <a:custGeom>
            <a:avLst/>
            <a:gdLst>
              <a:gd name="connsiteX0" fmla="*/ 0 w 1071498"/>
              <a:gd name="connsiteY0" fmla="*/ 246196 h 1174064"/>
              <a:gd name="connsiteX1" fmla="*/ 535750 w 1071498"/>
              <a:gd name="connsiteY1" fmla="*/ 0 h 1174064"/>
              <a:gd name="connsiteX2" fmla="*/ 1071499 w 1071498"/>
              <a:gd name="connsiteY2" fmla="*/ 246190 h 1174064"/>
              <a:gd name="connsiteX3" fmla="*/ 1071499 w 1071498"/>
              <a:gd name="connsiteY3" fmla="*/ 908939 h 1174064"/>
              <a:gd name="connsiteX4" fmla="*/ 535750 w 1071498"/>
              <a:gd name="connsiteY4" fmla="*/ 1174064 h 1174064"/>
              <a:gd name="connsiteX5" fmla="*/ 0 w 1071498"/>
              <a:gd name="connsiteY5" fmla="*/ 908939 h 1174064"/>
              <a:gd name="connsiteX6" fmla="*/ 0 w 1071498"/>
              <a:gd name="connsiteY6" fmla="*/ 246196 h 117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498" h="1174064">
                <a:moveTo>
                  <a:pt x="0" y="246196"/>
                </a:moveTo>
                <a:lnTo>
                  <a:pt x="535750" y="0"/>
                </a:lnTo>
                <a:lnTo>
                  <a:pt x="1071499" y="246190"/>
                </a:lnTo>
                <a:lnTo>
                  <a:pt x="1071499" y="908939"/>
                </a:lnTo>
                <a:lnTo>
                  <a:pt x="535750" y="1174064"/>
                </a:lnTo>
                <a:lnTo>
                  <a:pt x="0" y="908939"/>
                </a:lnTo>
                <a:lnTo>
                  <a:pt x="0" y="246196"/>
                </a:lnTo>
                <a:close/>
              </a:path>
            </a:pathLst>
          </a:custGeom>
          <a:noFill/>
          <a:ln w="6350" cap="flat">
            <a:solidFill>
              <a:srgbClr val="FFFFFF">
                <a:alpha val="22000"/>
              </a:srgbClr>
            </a:soli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5" name="任意多边形: 形状 110"/>
          <p:cNvSpPr/>
          <p:nvPr/>
        </p:nvSpPr>
        <p:spPr>
          <a:xfrm>
            <a:off x="7026338" y="2338705"/>
            <a:ext cx="880871" cy="965200"/>
          </a:xfrm>
          <a:custGeom>
            <a:avLst/>
            <a:gdLst>
              <a:gd name="connsiteX0" fmla="*/ 440436 w 880871"/>
              <a:gd name="connsiteY0" fmla="*/ 0 h 965200"/>
              <a:gd name="connsiteX1" fmla="*/ 880872 w 880871"/>
              <a:gd name="connsiteY1" fmla="*/ 202381 h 965200"/>
              <a:gd name="connsiteX2" fmla="*/ 880872 w 880871"/>
              <a:gd name="connsiteY2" fmla="*/ 747249 h 965200"/>
              <a:gd name="connsiteX3" fmla="*/ 440436 w 880871"/>
              <a:gd name="connsiteY3" fmla="*/ 965200 h 965200"/>
              <a:gd name="connsiteX4" fmla="*/ 0 w 880871"/>
              <a:gd name="connsiteY4" fmla="*/ 747249 h 965200"/>
              <a:gd name="connsiteX5" fmla="*/ 0 w 880871"/>
              <a:gd name="connsiteY5" fmla="*/ 202381 h 965200"/>
              <a:gd name="connsiteX6" fmla="*/ 440436 w 880871"/>
              <a:gd name="connsiteY6" fmla="*/ 0 h 96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871" h="965200">
                <a:moveTo>
                  <a:pt x="440436" y="0"/>
                </a:moveTo>
                <a:lnTo>
                  <a:pt x="880872" y="202381"/>
                </a:lnTo>
                <a:lnTo>
                  <a:pt x="880872" y="747249"/>
                </a:lnTo>
                <a:lnTo>
                  <a:pt x="440436" y="965200"/>
                </a:lnTo>
                <a:lnTo>
                  <a:pt x="0" y="747249"/>
                </a:lnTo>
                <a:lnTo>
                  <a:pt x="0" y="202381"/>
                </a:lnTo>
                <a:lnTo>
                  <a:pt x="440436" y="0"/>
                </a:lnTo>
                <a:close/>
              </a:path>
            </a:pathLst>
          </a:custGeom>
          <a:gradFill>
            <a:gsLst>
              <a:gs pos="100000">
                <a:srgbClr val="3368FF"/>
              </a:gs>
              <a:gs pos="15000">
                <a:srgbClr val="0042FF"/>
              </a:gs>
            </a:gsLst>
            <a:lin ang="108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226" name="任意多边形: 形状 111"/>
          <p:cNvSpPr/>
          <p:nvPr/>
        </p:nvSpPr>
        <p:spPr>
          <a:xfrm>
            <a:off x="7340600" y="2567305"/>
            <a:ext cx="254000" cy="254000"/>
          </a:xfrm>
          <a:custGeom>
            <a:avLst/>
            <a:gdLst>
              <a:gd name="connsiteX0" fmla="*/ 228600 w 254000"/>
              <a:gd name="connsiteY0" fmla="*/ 177800 h 254000"/>
              <a:gd name="connsiteX1" fmla="*/ 254000 w 254000"/>
              <a:gd name="connsiteY1" fmla="*/ 177800 h 254000"/>
              <a:gd name="connsiteX2" fmla="*/ 254000 w 254000"/>
              <a:gd name="connsiteY2" fmla="*/ 254000 h 254000"/>
              <a:gd name="connsiteX3" fmla="*/ 177800 w 254000"/>
              <a:gd name="connsiteY3" fmla="*/ 254000 h 254000"/>
              <a:gd name="connsiteX4" fmla="*/ 177800 w 254000"/>
              <a:gd name="connsiteY4" fmla="*/ 228600 h 254000"/>
              <a:gd name="connsiteX5" fmla="*/ 76200 w 254000"/>
              <a:gd name="connsiteY5" fmla="*/ 228600 h 254000"/>
              <a:gd name="connsiteX6" fmla="*/ 76200 w 254000"/>
              <a:gd name="connsiteY6" fmla="*/ 254000 h 254000"/>
              <a:gd name="connsiteX7" fmla="*/ 0 w 254000"/>
              <a:gd name="connsiteY7" fmla="*/ 254000 h 254000"/>
              <a:gd name="connsiteX8" fmla="*/ 0 w 254000"/>
              <a:gd name="connsiteY8" fmla="*/ 177800 h 254000"/>
              <a:gd name="connsiteX9" fmla="*/ 25400 w 254000"/>
              <a:gd name="connsiteY9" fmla="*/ 177800 h 254000"/>
              <a:gd name="connsiteX10" fmla="*/ 25400 w 254000"/>
              <a:gd name="connsiteY10" fmla="*/ 76200 h 254000"/>
              <a:gd name="connsiteX11" fmla="*/ 0 w 254000"/>
              <a:gd name="connsiteY11" fmla="*/ 76200 h 254000"/>
              <a:gd name="connsiteX12" fmla="*/ 0 w 254000"/>
              <a:gd name="connsiteY12" fmla="*/ 0 h 254000"/>
              <a:gd name="connsiteX13" fmla="*/ 76200 w 254000"/>
              <a:gd name="connsiteY13" fmla="*/ 0 h 254000"/>
              <a:gd name="connsiteX14" fmla="*/ 76200 w 254000"/>
              <a:gd name="connsiteY14" fmla="*/ 25400 h 254000"/>
              <a:gd name="connsiteX15" fmla="*/ 177800 w 254000"/>
              <a:gd name="connsiteY15" fmla="*/ 25400 h 254000"/>
              <a:gd name="connsiteX16" fmla="*/ 177800 w 254000"/>
              <a:gd name="connsiteY16" fmla="*/ 0 h 254000"/>
              <a:gd name="connsiteX17" fmla="*/ 254000 w 254000"/>
              <a:gd name="connsiteY17" fmla="*/ 0 h 254000"/>
              <a:gd name="connsiteX18" fmla="*/ 254000 w 254000"/>
              <a:gd name="connsiteY18" fmla="*/ 76200 h 254000"/>
              <a:gd name="connsiteX19" fmla="*/ 228600 w 254000"/>
              <a:gd name="connsiteY19" fmla="*/ 76200 h 254000"/>
              <a:gd name="connsiteX20" fmla="*/ 228600 w 254000"/>
              <a:gd name="connsiteY20" fmla="*/ 177800 h 254000"/>
              <a:gd name="connsiteX21" fmla="*/ 203200 w 254000"/>
              <a:gd name="connsiteY21" fmla="*/ 177800 h 254000"/>
              <a:gd name="connsiteX22" fmla="*/ 203200 w 254000"/>
              <a:gd name="connsiteY22" fmla="*/ 76200 h 254000"/>
              <a:gd name="connsiteX23" fmla="*/ 177800 w 254000"/>
              <a:gd name="connsiteY23" fmla="*/ 76200 h 254000"/>
              <a:gd name="connsiteX24" fmla="*/ 177800 w 254000"/>
              <a:gd name="connsiteY24" fmla="*/ 50800 h 254000"/>
              <a:gd name="connsiteX25" fmla="*/ 76200 w 254000"/>
              <a:gd name="connsiteY25" fmla="*/ 50800 h 254000"/>
              <a:gd name="connsiteX26" fmla="*/ 76200 w 254000"/>
              <a:gd name="connsiteY26" fmla="*/ 76200 h 254000"/>
              <a:gd name="connsiteX27" fmla="*/ 50800 w 254000"/>
              <a:gd name="connsiteY27" fmla="*/ 76200 h 254000"/>
              <a:gd name="connsiteX28" fmla="*/ 50800 w 254000"/>
              <a:gd name="connsiteY28" fmla="*/ 177800 h 254000"/>
              <a:gd name="connsiteX29" fmla="*/ 76200 w 254000"/>
              <a:gd name="connsiteY29" fmla="*/ 177800 h 254000"/>
              <a:gd name="connsiteX30" fmla="*/ 76200 w 254000"/>
              <a:gd name="connsiteY30" fmla="*/ 203200 h 254000"/>
              <a:gd name="connsiteX31" fmla="*/ 177800 w 254000"/>
              <a:gd name="connsiteY31" fmla="*/ 203200 h 254000"/>
              <a:gd name="connsiteX32" fmla="*/ 177800 w 254000"/>
              <a:gd name="connsiteY32" fmla="*/ 177800 h 254000"/>
              <a:gd name="connsiteX33" fmla="*/ 203200 w 254000"/>
              <a:gd name="connsiteY33" fmla="*/ 177800 h 254000"/>
              <a:gd name="connsiteX34" fmla="*/ 25400 w 254000"/>
              <a:gd name="connsiteY34" fmla="*/ 25400 h 254000"/>
              <a:gd name="connsiteX35" fmla="*/ 25400 w 254000"/>
              <a:gd name="connsiteY35" fmla="*/ 50800 h 254000"/>
              <a:gd name="connsiteX36" fmla="*/ 50800 w 254000"/>
              <a:gd name="connsiteY36" fmla="*/ 50800 h 254000"/>
              <a:gd name="connsiteX37" fmla="*/ 50800 w 254000"/>
              <a:gd name="connsiteY37" fmla="*/ 25400 h 254000"/>
              <a:gd name="connsiteX38" fmla="*/ 25400 w 254000"/>
              <a:gd name="connsiteY38" fmla="*/ 25400 h 254000"/>
              <a:gd name="connsiteX39" fmla="*/ 25400 w 254000"/>
              <a:gd name="connsiteY39" fmla="*/ 203200 h 254000"/>
              <a:gd name="connsiteX40" fmla="*/ 25400 w 254000"/>
              <a:gd name="connsiteY40" fmla="*/ 228600 h 254000"/>
              <a:gd name="connsiteX41" fmla="*/ 50800 w 254000"/>
              <a:gd name="connsiteY41" fmla="*/ 228600 h 254000"/>
              <a:gd name="connsiteX42" fmla="*/ 50800 w 254000"/>
              <a:gd name="connsiteY42" fmla="*/ 203200 h 254000"/>
              <a:gd name="connsiteX43" fmla="*/ 25400 w 254000"/>
              <a:gd name="connsiteY43" fmla="*/ 203200 h 254000"/>
              <a:gd name="connsiteX44" fmla="*/ 203200 w 254000"/>
              <a:gd name="connsiteY44" fmla="*/ 25400 h 254000"/>
              <a:gd name="connsiteX45" fmla="*/ 203200 w 254000"/>
              <a:gd name="connsiteY45" fmla="*/ 50800 h 254000"/>
              <a:gd name="connsiteX46" fmla="*/ 228600 w 254000"/>
              <a:gd name="connsiteY46" fmla="*/ 50800 h 254000"/>
              <a:gd name="connsiteX47" fmla="*/ 228600 w 254000"/>
              <a:gd name="connsiteY47" fmla="*/ 25400 h 254000"/>
              <a:gd name="connsiteX48" fmla="*/ 203200 w 254000"/>
              <a:gd name="connsiteY48" fmla="*/ 25400 h 254000"/>
              <a:gd name="connsiteX49" fmla="*/ 203200 w 254000"/>
              <a:gd name="connsiteY49" fmla="*/ 203200 h 254000"/>
              <a:gd name="connsiteX50" fmla="*/ 203200 w 254000"/>
              <a:gd name="connsiteY50" fmla="*/ 228600 h 254000"/>
              <a:gd name="connsiteX51" fmla="*/ 228600 w 254000"/>
              <a:gd name="connsiteY51" fmla="*/ 228600 h 254000"/>
              <a:gd name="connsiteX52" fmla="*/ 228600 w 254000"/>
              <a:gd name="connsiteY52" fmla="*/ 203200 h 254000"/>
              <a:gd name="connsiteX53" fmla="*/ 203200 w 254000"/>
              <a:gd name="connsiteY53" fmla="*/ 2032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54000" h="254000">
                <a:moveTo>
                  <a:pt x="228600" y="177800"/>
                </a:moveTo>
                <a:lnTo>
                  <a:pt x="254000" y="177800"/>
                </a:lnTo>
                <a:lnTo>
                  <a:pt x="254000" y="254000"/>
                </a:lnTo>
                <a:lnTo>
                  <a:pt x="177800" y="254000"/>
                </a:lnTo>
                <a:lnTo>
                  <a:pt x="177800" y="228600"/>
                </a:lnTo>
                <a:lnTo>
                  <a:pt x="76200" y="228600"/>
                </a:lnTo>
                <a:lnTo>
                  <a:pt x="76200" y="254000"/>
                </a:lnTo>
                <a:lnTo>
                  <a:pt x="0" y="254000"/>
                </a:lnTo>
                <a:lnTo>
                  <a:pt x="0" y="177800"/>
                </a:lnTo>
                <a:lnTo>
                  <a:pt x="25400" y="177800"/>
                </a:lnTo>
                <a:lnTo>
                  <a:pt x="25400" y="76200"/>
                </a:lnTo>
                <a:lnTo>
                  <a:pt x="0" y="76200"/>
                </a:lnTo>
                <a:lnTo>
                  <a:pt x="0" y="0"/>
                </a:lnTo>
                <a:lnTo>
                  <a:pt x="76200" y="0"/>
                </a:lnTo>
                <a:lnTo>
                  <a:pt x="76200" y="25400"/>
                </a:lnTo>
                <a:lnTo>
                  <a:pt x="177800" y="25400"/>
                </a:lnTo>
                <a:lnTo>
                  <a:pt x="177800" y="0"/>
                </a:lnTo>
                <a:lnTo>
                  <a:pt x="254000" y="0"/>
                </a:lnTo>
                <a:lnTo>
                  <a:pt x="254000" y="76200"/>
                </a:lnTo>
                <a:lnTo>
                  <a:pt x="228600" y="76200"/>
                </a:lnTo>
                <a:lnTo>
                  <a:pt x="228600" y="177800"/>
                </a:lnTo>
                <a:close/>
                <a:moveTo>
                  <a:pt x="203200" y="177800"/>
                </a:moveTo>
                <a:lnTo>
                  <a:pt x="203200" y="76200"/>
                </a:lnTo>
                <a:lnTo>
                  <a:pt x="177800" y="76200"/>
                </a:lnTo>
                <a:lnTo>
                  <a:pt x="177800" y="50800"/>
                </a:lnTo>
                <a:lnTo>
                  <a:pt x="76200" y="50800"/>
                </a:lnTo>
                <a:lnTo>
                  <a:pt x="76200" y="76200"/>
                </a:lnTo>
                <a:lnTo>
                  <a:pt x="50800" y="76200"/>
                </a:lnTo>
                <a:lnTo>
                  <a:pt x="50800" y="177800"/>
                </a:lnTo>
                <a:lnTo>
                  <a:pt x="76200" y="177800"/>
                </a:lnTo>
                <a:lnTo>
                  <a:pt x="76200" y="203200"/>
                </a:lnTo>
                <a:lnTo>
                  <a:pt x="177800" y="203200"/>
                </a:lnTo>
                <a:lnTo>
                  <a:pt x="177800" y="177800"/>
                </a:lnTo>
                <a:lnTo>
                  <a:pt x="203200" y="177800"/>
                </a:lnTo>
                <a:close/>
                <a:moveTo>
                  <a:pt x="25400" y="25400"/>
                </a:moveTo>
                <a:lnTo>
                  <a:pt x="25400" y="50800"/>
                </a:lnTo>
                <a:lnTo>
                  <a:pt x="50800" y="50800"/>
                </a:lnTo>
                <a:lnTo>
                  <a:pt x="50800" y="25400"/>
                </a:lnTo>
                <a:lnTo>
                  <a:pt x="25400" y="25400"/>
                </a:lnTo>
                <a:close/>
                <a:moveTo>
                  <a:pt x="25400" y="203200"/>
                </a:moveTo>
                <a:lnTo>
                  <a:pt x="25400" y="228600"/>
                </a:lnTo>
                <a:lnTo>
                  <a:pt x="50800" y="228600"/>
                </a:lnTo>
                <a:lnTo>
                  <a:pt x="50800" y="203200"/>
                </a:lnTo>
                <a:lnTo>
                  <a:pt x="25400" y="203200"/>
                </a:lnTo>
                <a:close/>
                <a:moveTo>
                  <a:pt x="203200" y="25400"/>
                </a:moveTo>
                <a:lnTo>
                  <a:pt x="203200" y="50800"/>
                </a:lnTo>
                <a:lnTo>
                  <a:pt x="228600" y="50800"/>
                </a:lnTo>
                <a:lnTo>
                  <a:pt x="228600" y="25400"/>
                </a:lnTo>
                <a:lnTo>
                  <a:pt x="203200" y="25400"/>
                </a:lnTo>
                <a:close/>
                <a:moveTo>
                  <a:pt x="203200" y="203200"/>
                </a:moveTo>
                <a:lnTo>
                  <a:pt x="203200" y="228600"/>
                </a:lnTo>
                <a:lnTo>
                  <a:pt x="228600" y="228600"/>
                </a:lnTo>
                <a:lnTo>
                  <a:pt x="228600" y="203200"/>
                </a:lnTo>
                <a:lnTo>
                  <a:pt x="203200" y="203200"/>
                </a:lnTo>
                <a:close/>
              </a:path>
            </a:pathLst>
          </a:custGeom>
          <a:solidFill>
            <a:srgbClr val="FFFFFF"/>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7" name="任意多边形: 形状 112"/>
          <p:cNvSpPr/>
          <p:nvPr/>
        </p:nvSpPr>
        <p:spPr>
          <a:xfrm>
            <a:off x="5518150" y="1951355"/>
            <a:ext cx="1077848" cy="1181100"/>
          </a:xfrm>
          <a:custGeom>
            <a:avLst/>
            <a:gdLst>
              <a:gd name="connsiteX0" fmla="*/ 538925 w 1077848"/>
              <a:gd name="connsiteY0" fmla="*/ 0 h 1181100"/>
              <a:gd name="connsiteX1" fmla="*/ 1077849 w 1077848"/>
              <a:gd name="connsiteY1" fmla="*/ 247650 h 1181100"/>
              <a:gd name="connsiteX2" fmla="*/ 1077849 w 1077848"/>
              <a:gd name="connsiteY2" fmla="*/ 914400 h 1181100"/>
              <a:gd name="connsiteX3" fmla="*/ 538925 w 1077848"/>
              <a:gd name="connsiteY3" fmla="*/ 1181100 h 1181100"/>
              <a:gd name="connsiteX4" fmla="*/ 0 w 1077848"/>
              <a:gd name="connsiteY4" fmla="*/ 914400 h 1181100"/>
              <a:gd name="connsiteX5" fmla="*/ 0 w 1077848"/>
              <a:gd name="connsiteY5" fmla="*/ 247650 h 1181100"/>
              <a:gd name="connsiteX6" fmla="*/ 538925 w 1077848"/>
              <a:gd name="connsiteY6" fmla="*/ 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7848" h="1181100">
                <a:moveTo>
                  <a:pt x="538925" y="0"/>
                </a:moveTo>
                <a:lnTo>
                  <a:pt x="1077849" y="247650"/>
                </a:lnTo>
                <a:lnTo>
                  <a:pt x="1077849" y="914400"/>
                </a:lnTo>
                <a:lnTo>
                  <a:pt x="538925" y="1181100"/>
                </a:lnTo>
                <a:lnTo>
                  <a:pt x="0" y="914400"/>
                </a:lnTo>
                <a:lnTo>
                  <a:pt x="0" y="247650"/>
                </a:lnTo>
                <a:lnTo>
                  <a:pt x="538925" y="0"/>
                </a:lnTo>
                <a:close/>
              </a:path>
            </a:pathLst>
          </a:custGeom>
          <a:solidFill>
            <a:srgbClr val="FF4200">
              <a:alpha val="11000"/>
            </a:srgbClr>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8" name="任意多边形: 形状 113"/>
          <p:cNvSpPr/>
          <p:nvPr/>
        </p:nvSpPr>
        <p:spPr>
          <a:xfrm>
            <a:off x="5521325" y="1954847"/>
            <a:ext cx="1071498" cy="1174064"/>
          </a:xfrm>
          <a:custGeom>
            <a:avLst/>
            <a:gdLst>
              <a:gd name="connsiteX0" fmla="*/ 0 w 1071498"/>
              <a:gd name="connsiteY0" fmla="*/ 246196 h 1174064"/>
              <a:gd name="connsiteX1" fmla="*/ 535750 w 1071498"/>
              <a:gd name="connsiteY1" fmla="*/ 0 h 1174064"/>
              <a:gd name="connsiteX2" fmla="*/ 1071499 w 1071498"/>
              <a:gd name="connsiteY2" fmla="*/ 246190 h 1174064"/>
              <a:gd name="connsiteX3" fmla="*/ 1071499 w 1071498"/>
              <a:gd name="connsiteY3" fmla="*/ 908939 h 1174064"/>
              <a:gd name="connsiteX4" fmla="*/ 535750 w 1071498"/>
              <a:gd name="connsiteY4" fmla="*/ 1174064 h 1174064"/>
              <a:gd name="connsiteX5" fmla="*/ 0 w 1071498"/>
              <a:gd name="connsiteY5" fmla="*/ 908939 h 1174064"/>
              <a:gd name="connsiteX6" fmla="*/ 0 w 1071498"/>
              <a:gd name="connsiteY6" fmla="*/ 246196 h 117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498" h="1174064">
                <a:moveTo>
                  <a:pt x="0" y="246196"/>
                </a:moveTo>
                <a:lnTo>
                  <a:pt x="535750" y="0"/>
                </a:lnTo>
                <a:lnTo>
                  <a:pt x="1071499" y="246190"/>
                </a:lnTo>
                <a:lnTo>
                  <a:pt x="1071499" y="908939"/>
                </a:lnTo>
                <a:lnTo>
                  <a:pt x="535750" y="1174064"/>
                </a:lnTo>
                <a:lnTo>
                  <a:pt x="0" y="908939"/>
                </a:lnTo>
                <a:lnTo>
                  <a:pt x="0" y="246196"/>
                </a:lnTo>
                <a:close/>
              </a:path>
            </a:pathLst>
          </a:custGeom>
          <a:solidFill>
            <a:srgbClr val="E6E6E6">
              <a:alpha val="59000"/>
            </a:srgbClr>
          </a:solidFill>
          <a:ln w="6350" cap="flat">
            <a:gradFill>
              <a:gsLst>
                <a:gs pos="0">
                  <a:srgbClr val="FFFFFF"/>
                </a:gs>
                <a:gs pos="74000">
                  <a:srgbClr val="668EFF"/>
                </a:gs>
                <a:gs pos="83000">
                  <a:srgbClr val="668EFF"/>
                </a:gs>
                <a:gs pos="100000">
                  <a:srgbClr val="DCDCDC"/>
                </a:gs>
              </a:gsLst>
              <a:lin ang="5400000" scaled="1"/>
            </a:grad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29" name="任意多边形: 形状 114"/>
          <p:cNvSpPr/>
          <p:nvPr/>
        </p:nvSpPr>
        <p:spPr>
          <a:xfrm>
            <a:off x="5616663" y="2059305"/>
            <a:ext cx="880846" cy="965200"/>
          </a:xfrm>
          <a:custGeom>
            <a:avLst/>
            <a:gdLst>
              <a:gd name="connsiteX0" fmla="*/ 440411 w 880846"/>
              <a:gd name="connsiteY0" fmla="*/ 0 h 965200"/>
              <a:gd name="connsiteX1" fmla="*/ 880847 w 880846"/>
              <a:gd name="connsiteY1" fmla="*/ 202381 h 965200"/>
              <a:gd name="connsiteX2" fmla="*/ 880847 w 880846"/>
              <a:gd name="connsiteY2" fmla="*/ 747249 h 965200"/>
              <a:gd name="connsiteX3" fmla="*/ 440411 w 880846"/>
              <a:gd name="connsiteY3" fmla="*/ 965200 h 965200"/>
              <a:gd name="connsiteX4" fmla="*/ 0 w 880846"/>
              <a:gd name="connsiteY4" fmla="*/ 747249 h 965200"/>
              <a:gd name="connsiteX5" fmla="*/ 0 w 880846"/>
              <a:gd name="connsiteY5" fmla="*/ 202381 h 965200"/>
              <a:gd name="connsiteX6" fmla="*/ 440411 w 880846"/>
              <a:gd name="connsiteY6" fmla="*/ 0 h 96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846" h="965200">
                <a:moveTo>
                  <a:pt x="440411" y="0"/>
                </a:moveTo>
                <a:lnTo>
                  <a:pt x="880847" y="202381"/>
                </a:lnTo>
                <a:lnTo>
                  <a:pt x="880847" y="747249"/>
                </a:lnTo>
                <a:lnTo>
                  <a:pt x="440411" y="965200"/>
                </a:lnTo>
                <a:lnTo>
                  <a:pt x="0" y="747249"/>
                </a:lnTo>
                <a:lnTo>
                  <a:pt x="0" y="202381"/>
                </a:lnTo>
                <a:lnTo>
                  <a:pt x="440411" y="0"/>
                </a:lnTo>
                <a:close/>
              </a:path>
            </a:pathLst>
          </a:custGeom>
          <a:gradFill>
            <a:gsLst>
              <a:gs pos="100000">
                <a:srgbClr val="3368FF"/>
              </a:gs>
              <a:gs pos="15000">
                <a:srgbClr val="0042FF"/>
              </a:gs>
            </a:gsLst>
            <a:lin ang="10800000" scaled="0"/>
          </a:gradFill>
          <a:ln w="6350"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230" name="任意多边形: 形状 115"/>
          <p:cNvSpPr/>
          <p:nvPr/>
        </p:nvSpPr>
        <p:spPr>
          <a:xfrm>
            <a:off x="5930900" y="2300605"/>
            <a:ext cx="254000" cy="254000"/>
          </a:xfrm>
          <a:custGeom>
            <a:avLst/>
            <a:gdLst>
              <a:gd name="connsiteX0" fmla="*/ 88900 w 254000"/>
              <a:gd name="connsiteY0" fmla="*/ 25400 h 254000"/>
              <a:gd name="connsiteX1" fmla="*/ 88900 w 254000"/>
              <a:gd name="connsiteY1" fmla="*/ 105067 h 254000"/>
              <a:gd name="connsiteX2" fmla="*/ 63500 w 254000"/>
              <a:gd name="connsiteY2" fmla="*/ 105067 h 254000"/>
              <a:gd name="connsiteX3" fmla="*/ 63500 w 254000"/>
              <a:gd name="connsiteY3" fmla="*/ 25400 h 254000"/>
              <a:gd name="connsiteX4" fmla="*/ 38100 w 254000"/>
              <a:gd name="connsiteY4" fmla="*/ 25400 h 254000"/>
              <a:gd name="connsiteX5" fmla="*/ 38100 w 254000"/>
              <a:gd name="connsiteY5" fmla="*/ 139700 h 254000"/>
              <a:gd name="connsiteX6" fmla="*/ 215900 w 254000"/>
              <a:gd name="connsiteY6" fmla="*/ 139700 h 254000"/>
              <a:gd name="connsiteX7" fmla="*/ 215900 w 254000"/>
              <a:gd name="connsiteY7" fmla="*/ 25400 h 254000"/>
              <a:gd name="connsiteX8" fmla="*/ 88900 w 254000"/>
              <a:gd name="connsiteY8" fmla="*/ 25400 h 254000"/>
              <a:gd name="connsiteX9" fmla="*/ 228600 w 254000"/>
              <a:gd name="connsiteY9" fmla="*/ 165100 h 254000"/>
              <a:gd name="connsiteX10" fmla="*/ 25400 w 254000"/>
              <a:gd name="connsiteY10" fmla="*/ 165100 h 254000"/>
              <a:gd name="connsiteX11" fmla="*/ 25400 w 254000"/>
              <a:gd name="connsiteY11" fmla="*/ 190500 h 254000"/>
              <a:gd name="connsiteX12" fmla="*/ 228600 w 254000"/>
              <a:gd name="connsiteY12" fmla="*/ 190500 h 254000"/>
              <a:gd name="connsiteX13" fmla="*/ 228600 w 254000"/>
              <a:gd name="connsiteY13" fmla="*/ 165100 h 254000"/>
              <a:gd name="connsiteX14" fmla="*/ 12700 w 254000"/>
              <a:gd name="connsiteY14" fmla="*/ 139700 h 254000"/>
              <a:gd name="connsiteX15" fmla="*/ 12700 w 254000"/>
              <a:gd name="connsiteY15" fmla="*/ 12700 h 254000"/>
              <a:gd name="connsiteX16" fmla="*/ 16421 w 254000"/>
              <a:gd name="connsiteY16" fmla="*/ 3721 h 254000"/>
              <a:gd name="connsiteX17" fmla="*/ 25400 w 254000"/>
              <a:gd name="connsiteY17" fmla="*/ 0 h 254000"/>
              <a:gd name="connsiteX18" fmla="*/ 228600 w 254000"/>
              <a:gd name="connsiteY18" fmla="*/ 0 h 254000"/>
              <a:gd name="connsiteX19" fmla="*/ 237579 w 254000"/>
              <a:gd name="connsiteY19" fmla="*/ 3721 h 254000"/>
              <a:gd name="connsiteX20" fmla="*/ 241300 w 254000"/>
              <a:gd name="connsiteY20" fmla="*/ 12700 h 254000"/>
              <a:gd name="connsiteX21" fmla="*/ 241300 w 254000"/>
              <a:gd name="connsiteY21" fmla="*/ 139700 h 254000"/>
              <a:gd name="connsiteX22" fmla="*/ 254000 w 254000"/>
              <a:gd name="connsiteY22" fmla="*/ 139700 h 254000"/>
              <a:gd name="connsiteX23" fmla="*/ 254000 w 254000"/>
              <a:gd name="connsiteY23" fmla="*/ 203200 h 254000"/>
              <a:gd name="connsiteX24" fmla="*/ 250279 w 254000"/>
              <a:gd name="connsiteY24" fmla="*/ 212179 h 254000"/>
              <a:gd name="connsiteX25" fmla="*/ 241300 w 254000"/>
              <a:gd name="connsiteY25" fmla="*/ 215900 h 254000"/>
              <a:gd name="connsiteX26" fmla="*/ 139700 w 254000"/>
              <a:gd name="connsiteY26" fmla="*/ 215900 h 254000"/>
              <a:gd name="connsiteX27" fmla="*/ 139700 w 254000"/>
              <a:gd name="connsiteY27" fmla="*/ 254000 h 254000"/>
              <a:gd name="connsiteX28" fmla="*/ 114300 w 254000"/>
              <a:gd name="connsiteY28" fmla="*/ 254000 h 254000"/>
              <a:gd name="connsiteX29" fmla="*/ 114300 w 254000"/>
              <a:gd name="connsiteY29" fmla="*/ 215900 h 254000"/>
              <a:gd name="connsiteX30" fmla="*/ 12700 w 254000"/>
              <a:gd name="connsiteY30" fmla="*/ 215900 h 254000"/>
              <a:gd name="connsiteX31" fmla="*/ 3721 w 254000"/>
              <a:gd name="connsiteY31" fmla="*/ 212179 h 254000"/>
              <a:gd name="connsiteX32" fmla="*/ 0 w 254000"/>
              <a:gd name="connsiteY32" fmla="*/ 203200 h 254000"/>
              <a:gd name="connsiteX33" fmla="*/ 0 w 254000"/>
              <a:gd name="connsiteY33" fmla="*/ 139700 h 254000"/>
              <a:gd name="connsiteX34" fmla="*/ 12700 w 254000"/>
              <a:gd name="connsiteY34" fmla="*/ 1397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4000" h="254000">
                <a:moveTo>
                  <a:pt x="88900" y="25400"/>
                </a:moveTo>
                <a:lnTo>
                  <a:pt x="88900" y="105067"/>
                </a:lnTo>
                <a:lnTo>
                  <a:pt x="63500" y="105067"/>
                </a:lnTo>
                <a:lnTo>
                  <a:pt x="63500" y="25400"/>
                </a:lnTo>
                <a:lnTo>
                  <a:pt x="38100" y="25400"/>
                </a:lnTo>
                <a:lnTo>
                  <a:pt x="38100" y="139700"/>
                </a:lnTo>
                <a:lnTo>
                  <a:pt x="215900" y="139700"/>
                </a:lnTo>
                <a:lnTo>
                  <a:pt x="215900" y="25400"/>
                </a:lnTo>
                <a:lnTo>
                  <a:pt x="88900" y="25400"/>
                </a:lnTo>
                <a:close/>
                <a:moveTo>
                  <a:pt x="228600" y="165100"/>
                </a:moveTo>
                <a:lnTo>
                  <a:pt x="25400" y="165100"/>
                </a:lnTo>
                <a:lnTo>
                  <a:pt x="25400" y="190500"/>
                </a:lnTo>
                <a:lnTo>
                  <a:pt x="228600" y="190500"/>
                </a:lnTo>
                <a:lnTo>
                  <a:pt x="228600" y="165100"/>
                </a:lnTo>
                <a:close/>
                <a:moveTo>
                  <a:pt x="12700" y="139700"/>
                </a:moveTo>
                <a:lnTo>
                  <a:pt x="12700" y="12700"/>
                </a:lnTo>
                <a:cubicBezTo>
                  <a:pt x="12700" y="9335"/>
                  <a:pt x="14040" y="6102"/>
                  <a:pt x="16421" y="3721"/>
                </a:cubicBezTo>
                <a:cubicBezTo>
                  <a:pt x="18802" y="1340"/>
                  <a:pt x="22034" y="0"/>
                  <a:pt x="25400" y="0"/>
                </a:cubicBezTo>
                <a:lnTo>
                  <a:pt x="228600" y="0"/>
                </a:lnTo>
                <a:cubicBezTo>
                  <a:pt x="231966" y="0"/>
                  <a:pt x="235198" y="1340"/>
                  <a:pt x="237579" y="3721"/>
                </a:cubicBezTo>
                <a:cubicBezTo>
                  <a:pt x="239960" y="6102"/>
                  <a:pt x="241300" y="9335"/>
                  <a:pt x="241300" y="12700"/>
                </a:cubicBezTo>
                <a:lnTo>
                  <a:pt x="241300" y="139700"/>
                </a:lnTo>
                <a:lnTo>
                  <a:pt x="254000" y="139700"/>
                </a:lnTo>
                <a:lnTo>
                  <a:pt x="254000" y="203200"/>
                </a:lnTo>
                <a:cubicBezTo>
                  <a:pt x="254000" y="206566"/>
                  <a:pt x="252660" y="209798"/>
                  <a:pt x="250279" y="212179"/>
                </a:cubicBezTo>
                <a:cubicBezTo>
                  <a:pt x="247898" y="214560"/>
                  <a:pt x="244666" y="215900"/>
                  <a:pt x="241300" y="215900"/>
                </a:cubicBezTo>
                <a:lnTo>
                  <a:pt x="139700" y="215900"/>
                </a:lnTo>
                <a:lnTo>
                  <a:pt x="139700" y="254000"/>
                </a:lnTo>
                <a:lnTo>
                  <a:pt x="114300" y="254000"/>
                </a:lnTo>
                <a:lnTo>
                  <a:pt x="114300" y="215900"/>
                </a:lnTo>
                <a:lnTo>
                  <a:pt x="12700" y="215900"/>
                </a:lnTo>
                <a:cubicBezTo>
                  <a:pt x="9334" y="215900"/>
                  <a:pt x="6102" y="214560"/>
                  <a:pt x="3721" y="212179"/>
                </a:cubicBezTo>
                <a:cubicBezTo>
                  <a:pt x="1340" y="209798"/>
                  <a:pt x="0" y="206566"/>
                  <a:pt x="0" y="203200"/>
                </a:cubicBezTo>
                <a:lnTo>
                  <a:pt x="0" y="139700"/>
                </a:lnTo>
                <a:lnTo>
                  <a:pt x="12700" y="139700"/>
                </a:lnTo>
                <a:close/>
              </a:path>
            </a:pathLst>
          </a:custGeom>
          <a:solidFill>
            <a:srgbClr val="FFFFFF"/>
          </a:solidFill>
          <a:ln w="635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31" name="矩形: 圆角 121"/>
          <p:cNvSpPr/>
          <p:nvPr/>
        </p:nvSpPr>
        <p:spPr>
          <a:xfrm>
            <a:off x="3984625" y="4640580"/>
            <a:ext cx="831850" cy="393700"/>
          </a:xfrm>
          <a:prstGeom prst="roundRect">
            <a:avLst>
              <a:gd name="adj" fmla="val 50000"/>
            </a:avLst>
          </a:prstGeom>
          <a:solidFill>
            <a:srgbClr val="3368FF">
              <a:alpha val="4000"/>
            </a:srgbClr>
          </a:solidFill>
          <a:ln w="6350" cap="flat">
            <a:solidFill>
              <a:srgbClr val="3368FF"/>
            </a:solidFill>
            <a:custDash>
              <a:ds d="300000" sp="300000"/>
            </a:custDash>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232" name="矩形: 圆角 122"/>
          <p:cNvSpPr/>
          <p:nvPr/>
        </p:nvSpPr>
        <p:spPr>
          <a:xfrm>
            <a:off x="4664075" y="4177030"/>
            <a:ext cx="831850" cy="393700"/>
          </a:xfrm>
          <a:prstGeom prst="roundRect">
            <a:avLst>
              <a:gd name="adj" fmla="val 50000"/>
            </a:avLst>
          </a:prstGeom>
          <a:solidFill>
            <a:srgbClr val="3368FF">
              <a:alpha val="4000"/>
            </a:srgbClr>
          </a:solidFill>
          <a:ln w="6350" cap="flat">
            <a:solidFill>
              <a:srgbClr val="3368FF"/>
            </a:solidFill>
            <a:custDash>
              <a:ds d="300000" sp="300000"/>
            </a:custDash>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33" name="矩形: 圆角 123"/>
          <p:cNvSpPr/>
          <p:nvPr/>
        </p:nvSpPr>
        <p:spPr>
          <a:xfrm>
            <a:off x="5635625" y="4005580"/>
            <a:ext cx="831850" cy="393700"/>
          </a:xfrm>
          <a:prstGeom prst="roundRect">
            <a:avLst>
              <a:gd name="adj" fmla="val 50000"/>
            </a:avLst>
          </a:prstGeom>
          <a:solidFill>
            <a:srgbClr val="3368FF">
              <a:alpha val="4000"/>
            </a:srgbClr>
          </a:solidFill>
          <a:ln w="6350" cap="flat">
            <a:solidFill>
              <a:srgbClr val="3368FF"/>
            </a:solidFill>
            <a:custDash>
              <a:ds d="300000" sp="300000"/>
            </a:custDash>
            <a:miter/>
          </a:ln>
        </p:spPr>
        <p:txBody>
          <a:bodyPr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234" name="矩形: 圆角 124"/>
          <p:cNvSpPr/>
          <p:nvPr/>
        </p:nvSpPr>
        <p:spPr>
          <a:xfrm>
            <a:off x="6588125" y="4177030"/>
            <a:ext cx="831850" cy="393700"/>
          </a:xfrm>
          <a:prstGeom prst="roundRect">
            <a:avLst>
              <a:gd name="adj" fmla="val 50000"/>
            </a:avLst>
          </a:prstGeom>
          <a:solidFill>
            <a:srgbClr val="3368FF">
              <a:alpha val="4000"/>
            </a:srgbClr>
          </a:solidFill>
          <a:ln w="6350" cap="flat">
            <a:solidFill>
              <a:srgbClr val="3368FF"/>
            </a:solidFill>
            <a:custDash>
              <a:ds d="300000" sp="300000"/>
            </a:custDash>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35" name="矩形: 圆角 125"/>
          <p:cNvSpPr/>
          <p:nvPr/>
        </p:nvSpPr>
        <p:spPr>
          <a:xfrm>
            <a:off x="7299325" y="4640580"/>
            <a:ext cx="831850" cy="393700"/>
          </a:xfrm>
          <a:prstGeom prst="roundRect">
            <a:avLst>
              <a:gd name="adj" fmla="val 50000"/>
            </a:avLst>
          </a:prstGeom>
          <a:solidFill>
            <a:srgbClr val="3368FF">
              <a:alpha val="4000"/>
            </a:srgbClr>
          </a:solidFill>
          <a:ln w="6350" cap="flat">
            <a:solidFill>
              <a:srgbClr val="3368FF"/>
            </a:solidFill>
            <a:custDash>
              <a:ds d="300000" sp="300000"/>
            </a:custDash>
            <a:miter/>
          </a:ln>
        </p:spPr>
        <p:txBody>
          <a:bodyPr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236" name="任意多边形: 形状 140"/>
          <p:cNvSpPr/>
          <p:nvPr/>
        </p:nvSpPr>
        <p:spPr>
          <a:xfrm>
            <a:off x="4857750" y="5964555"/>
            <a:ext cx="2476500" cy="2476500"/>
          </a:xfrm>
          <a:custGeom>
            <a:avLst/>
            <a:gdLst>
              <a:gd name="connsiteX0" fmla="*/ 2476500 w 2476500"/>
              <a:gd name="connsiteY0" fmla="*/ 1238250 h 2476500"/>
              <a:gd name="connsiteX1" fmla="*/ 1238250 w 2476500"/>
              <a:gd name="connsiteY1" fmla="*/ 2476500 h 2476500"/>
              <a:gd name="connsiteX2" fmla="*/ 0 w 2476500"/>
              <a:gd name="connsiteY2" fmla="*/ 1238250 h 2476500"/>
              <a:gd name="connsiteX3" fmla="*/ 1238250 w 2476500"/>
              <a:gd name="connsiteY3" fmla="*/ 0 h 2476500"/>
              <a:gd name="connsiteX4" fmla="*/ 2476500 w 2476500"/>
              <a:gd name="connsiteY4" fmla="*/ 1238250 h 247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2476500">
                <a:moveTo>
                  <a:pt x="2476500" y="1238250"/>
                </a:moveTo>
                <a:cubicBezTo>
                  <a:pt x="2476500" y="1922117"/>
                  <a:pt x="1922117" y="2476500"/>
                  <a:pt x="1238250" y="2476500"/>
                </a:cubicBezTo>
                <a:cubicBezTo>
                  <a:pt x="554383" y="2476500"/>
                  <a:pt x="0" y="1922117"/>
                  <a:pt x="0" y="1238250"/>
                </a:cubicBezTo>
                <a:cubicBezTo>
                  <a:pt x="0" y="554383"/>
                  <a:pt x="554383" y="0"/>
                  <a:pt x="1238250" y="0"/>
                </a:cubicBezTo>
                <a:cubicBezTo>
                  <a:pt x="1922117" y="0"/>
                  <a:pt x="2476500" y="554383"/>
                  <a:pt x="2476500" y="1238250"/>
                </a:cubicBezTo>
                <a:close/>
              </a:path>
            </a:pathLst>
          </a:custGeom>
          <a:noFill/>
          <a:ln w="25400" cap="flat">
            <a:gradFill>
              <a:gsLst>
                <a:gs pos="0">
                  <a:srgbClr val="3368FF">
                    <a:alpha val="70000"/>
                  </a:srgbClr>
                </a:gs>
                <a:gs pos="55000">
                  <a:srgbClr val="3368FF">
                    <a:alpha val="0"/>
                  </a:srgbClr>
                </a:gs>
              </a:gsLst>
              <a:lin ang="5400000" scaled="1"/>
            </a:gradFill>
            <a:prstDash val="solid"/>
            <a:miter/>
          </a:ln>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239" name="文本框 238"/>
          <p:cNvSpPr txBox="1"/>
          <p:nvPr/>
        </p:nvSpPr>
        <p:spPr>
          <a:xfrm>
            <a:off x="4023716" y="6496190"/>
            <a:ext cx="851516" cy="276999"/>
          </a:xfrm>
          <a:prstGeom prst="rect">
            <a:avLst/>
          </a:prstGeom>
          <a:noFill/>
        </p:spPr>
        <p:txBody>
          <a:bodyPr wrap="none" rtlCol="0">
            <a:spAutoFit/>
          </a:bodyPr>
          <a:lstStyle/>
          <a:p>
            <a:pPr algn="r">
              <a:defRPr>
                <a:latin typeface="微软雅黑"/>
                <a:ea typeface="微软雅黑"/>
                <a:cs typeface="微软雅黑"/>
              </a:defRPr>
            </a:pPr>
            <a:r>
              <a:rPr lang="zh-CN" altLang="en-US" sz="1200" b="1" spc="100" dirty="0">
                <a:solidFill>
                  <a:srgbClr val="0042FF"/>
                </a:solidFill>
                <a:latin typeface="微软雅黑"/>
                <a:ea typeface="微软雅黑"/>
                <a:cs typeface="微软雅黑"/>
              </a:rPr>
              <a:t>船员经理</a:t>
            </a:r>
            <a:endParaRPr lang="zh-CN" altLang="en-US" sz="1200" b="1" spc="100" dirty="0">
              <a:solidFill>
                <a:srgbClr val="0042FF"/>
              </a:solidFill>
              <a:latin typeface="微软雅黑"/>
              <a:ea typeface="微软雅黑"/>
              <a:cs typeface="微软雅黑"/>
            </a:endParaRPr>
          </a:p>
        </p:txBody>
      </p:sp>
      <p:sp>
        <p:nvSpPr>
          <p:cNvPr id="240" name="文本框 239"/>
          <p:cNvSpPr txBox="1"/>
          <p:nvPr/>
        </p:nvSpPr>
        <p:spPr>
          <a:xfrm>
            <a:off x="4409324" y="5920988"/>
            <a:ext cx="851516" cy="276999"/>
          </a:xfrm>
          <a:prstGeom prst="rect">
            <a:avLst/>
          </a:prstGeom>
          <a:noFill/>
        </p:spPr>
        <p:txBody>
          <a:bodyPr wrap="none" rtlCol="0">
            <a:spAutoFit/>
          </a:bodyPr>
          <a:lstStyle/>
          <a:p>
            <a:pPr algn="r">
              <a:defRPr>
                <a:latin typeface="微软雅黑"/>
                <a:ea typeface="微软雅黑"/>
                <a:cs typeface="微软雅黑"/>
              </a:defRPr>
            </a:pPr>
            <a:r>
              <a:rPr lang="zh-CN" altLang="en-US" sz="1200" b="1" spc="100" dirty="0">
                <a:solidFill>
                  <a:srgbClr val="0042FF"/>
                </a:solidFill>
                <a:latin typeface="微软雅黑"/>
                <a:ea typeface="微软雅黑"/>
                <a:cs typeface="微软雅黑"/>
              </a:rPr>
              <a:t>机务主管</a:t>
            </a:r>
            <a:endParaRPr lang="zh-CN" altLang="en-US" sz="1200" b="1" spc="100" dirty="0">
              <a:solidFill>
                <a:srgbClr val="0042FF"/>
              </a:solidFill>
              <a:latin typeface="微软雅黑"/>
              <a:ea typeface="微软雅黑"/>
              <a:cs typeface="微软雅黑"/>
            </a:endParaRPr>
          </a:p>
        </p:txBody>
      </p:sp>
      <p:sp>
        <p:nvSpPr>
          <p:cNvPr id="241" name="文本框 240"/>
          <p:cNvSpPr txBox="1"/>
          <p:nvPr/>
        </p:nvSpPr>
        <p:spPr>
          <a:xfrm>
            <a:off x="5070167" y="5510799"/>
            <a:ext cx="851516" cy="276999"/>
          </a:xfrm>
          <a:prstGeom prst="rect">
            <a:avLst/>
          </a:prstGeom>
          <a:noFill/>
        </p:spPr>
        <p:txBody>
          <a:bodyPr wrap="none" rtlCol="0">
            <a:spAutoFit/>
          </a:bodyPr>
          <a:lstStyle/>
          <a:p>
            <a:pPr algn="r">
              <a:defRPr>
                <a:latin typeface="微软雅黑"/>
                <a:ea typeface="微软雅黑"/>
                <a:cs typeface="微软雅黑"/>
              </a:defRPr>
            </a:pPr>
            <a:r>
              <a:rPr lang="zh-CN" altLang="en-US" sz="1200" b="1" spc="100" dirty="0">
                <a:solidFill>
                  <a:srgbClr val="0042FF"/>
                </a:solidFill>
                <a:latin typeface="微软雅黑"/>
                <a:ea typeface="微软雅黑"/>
                <a:cs typeface="微软雅黑"/>
              </a:rPr>
              <a:t>采购专员</a:t>
            </a:r>
            <a:endParaRPr lang="zh-CN" altLang="en-US" sz="1200" b="1" spc="100" dirty="0">
              <a:solidFill>
                <a:srgbClr val="0042FF"/>
              </a:solidFill>
              <a:latin typeface="微软雅黑"/>
              <a:ea typeface="微软雅黑"/>
              <a:cs typeface="微软雅黑"/>
            </a:endParaRPr>
          </a:p>
        </p:txBody>
      </p:sp>
      <p:sp>
        <p:nvSpPr>
          <p:cNvPr id="248" name="文本框 247"/>
          <p:cNvSpPr txBox="1"/>
          <p:nvPr/>
        </p:nvSpPr>
        <p:spPr>
          <a:xfrm>
            <a:off x="6265079" y="5506662"/>
            <a:ext cx="851516" cy="276999"/>
          </a:xfrm>
          <a:prstGeom prst="rect">
            <a:avLst/>
          </a:prstGeom>
          <a:noFill/>
        </p:spPr>
        <p:txBody>
          <a:bodyPr wrap="none" rtlCol="0">
            <a:spAutoFit/>
          </a:bodyPr>
          <a:lstStyle/>
          <a:p>
            <a:pPr algn="r">
              <a:defRPr>
                <a:latin typeface="微软雅黑"/>
                <a:ea typeface="微软雅黑"/>
                <a:cs typeface="微软雅黑"/>
              </a:defRPr>
            </a:pPr>
            <a:r>
              <a:rPr lang="zh-CN" altLang="en-US" sz="1200" b="1" spc="100" dirty="0">
                <a:solidFill>
                  <a:srgbClr val="0042FF"/>
                </a:solidFill>
                <a:latin typeface="微软雅黑"/>
                <a:ea typeface="微软雅黑"/>
                <a:cs typeface="微软雅黑"/>
              </a:rPr>
              <a:t>操作经理</a:t>
            </a:r>
            <a:endParaRPr lang="zh-CN" altLang="en-US" sz="1200" b="1" spc="100" dirty="0">
              <a:solidFill>
                <a:srgbClr val="0042FF"/>
              </a:solidFill>
              <a:latin typeface="微软雅黑"/>
              <a:ea typeface="微软雅黑"/>
              <a:cs typeface="微软雅黑"/>
            </a:endParaRPr>
          </a:p>
        </p:txBody>
      </p:sp>
      <p:sp>
        <p:nvSpPr>
          <p:cNvPr id="249" name="文本框 248"/>
          <p:cNvSpPr txBox="1"/>
          <p:nvPr/>
        </p:nvSpPr>
        <p:spPr>
          <a:xfrm>
            <a:off x="7017401" y="5921424"/>
            <a:ext cx="851515" cy="276999"/>
          </a:xfrm>
          <a:prstGeom prst="rect">
            <a:avLst/>
          </a:prstGeom>
          <a:noFill/>
        </p:spPr>
        <p:txBody>
          <a:bodyPr wrap="none" rtlCol="0">
            <a:spAutoFit/>
          </a:bodyPr>
          <a:lstStyle/>
          <a:p>
            <a:pPr algn="r">
              <a:defRPr>
                <a:latin typeface="微软雅黑"/>
                <a:ea typeface="微软雅黑"/>
                <a:cs typeface="微软雅黑"/>
              </a:defRPr>
            </a:pPr>
            <a:r>
              <a:rPr lang="zh-CN" altLang="en-US" sz="1200" b="1" spc="100" dirty="0">
                <a:solidFill>
                  <a:srgbClr val="0042FF"/>
                </a:solidFill>
                <a:latin typeface="微软雅黑"/>
                <a:ea typeface="微软雅黑"/>
                <a:cs typeface="微软雅黑"/>
              </a:rPr>
              <a:t>机务助理</a:t>
            </a:r>
            <a:endParaRPr lang="zh-CN" altLang="en-US" sz="1200" b="1" spc="100" dirty="0">
              <a:solidFill>
                <a:srgbClr val="0042FF"/>
              </a:solidFill>
              <a:latin typeface="微软雅黑"/>
              <a:ea typeface="微软雅黑"/>
              <a:cs typeface="微软雅黑"/>
            </a:endParaRPr>
          </a:p>
        </p:txBody>
      </p:sp>
      <p:sp>
        <p:nvSpPr>
          <p:cNvPr id="250" name="文本框 249"/>
          <p:cNvSpPr txBox="1"/>
          <p:nvPr/>
        </p:nvSpPr>
        <p:spPr>
          <a:xfrm>
            <a:off x="7340327" y="6495734"/>
            <a:ext cx="851516" cy="276999"/>
          </a:xfrm>
          <a:prstGeom prst="rect">
            <a:avLst/>
          </a:prstGeom>
          <a:noFill/>
        </p:spPr>
        <p:txBody>
          <a:bodyPr wrap="none" rtlCol="0">
            <a:spAutoFit/>
          </a:bodyPr>
          <a:lstStyle/>
          <a:p>
            <a:pPr algn="r">
              <a:defRPr>
                <a:latin typeface="微软雅黑"/>
                <a:ea typeface="微软雅黑"/>
                <a:cs typeface="微软雅黑"/>
              </a:defRPr>
            </a:pPr>
            <a:r>
              <a:rPr lang="zh-CN" altLang="en-US" sz="1200" b="1" spc="100" dirty="0">
                <a:solidFill>
                  <a:srgbClr val="0042FF"/>
                </a:solidFill>
                <a:latin typeface="微软雅黑"/>
                <a:ea typeface="微软雅黑"/>
                <a:cs typeface="微软雅黑"/>
              </a:rPr>
              <a:t>船员主管</a:t>
            </a:r>
            <a:endParaRPr lang="zh-CN" altLang="en-US" sz="1200" b="1" spc="100" dirty="0">
              <a:solidFill>
                <a:srgbClr val="0042FF"/>
              </a:solidFill>
              <a:latin typeface="微软雅黑"/>
              <a:ea typeface="微软雅黑"/>
              <a:cs typeface="微软雅黑"/>
            </a:endParaRPr>
          </a:p>
        </p:txBody>
      </p:sp>
      <p:sp>
        <p:nvSpPr>
          <p:cNvPr id="251" name="文本框 250"/>
          <p:cNvSpPr txBox="1"/>
          <p:nvPr/>
        </p:nvSpPr>
        <p:spPr>
          <a:xfrm>
            <a:off x="5667595" y="4938798"/>
            <a:ext cx="851516" cy="276999"/>
          </a:xfrm>
          <a:prstGeom prst="rect">
            <a:avLst/>
          </a:prstGeom>
          <a:noFill/>
        </p:spPr>
        <p:txBody>
          <a:bodyPr wrap="none" rtlCol="0">
            <a:spAutoFit/>
          </a:bodyPr>
          <a:lstStyle/>
          <a:p>
            <a:pPr algn="r">
              <a:defRPr>
                <a:solidFill>
                  <a:srgbClr val="FFFFFF"/>
                </a:solidFill>
                <a:latin typeface="微软雅黑"/>
                <a:ea typeface="微软雅黑"/>
                <a:cs typeface="微软雅黑"/>
              </a:defRPr>
            </a:pPr>
            <a:r>
              <a:rPr lang="zh-CN" altLang="en-US" sz="1200" b="1" spc="100" dirty="0">
                <a:solidFill>
                  <a:srgbClr val="FFFFFF"/>
                </a:solidFill>
                <a:latin typeface="微软雅黑"/>
                <a:ea typeface="微软雅黑"/>
                <a:cs typeface="微软雅黑"/>
              </a:rPr>
              <a:t>岗位领域</a:t>
            </a:r>
            <a:endParaRPr lang="zh-CN" altLang="en-US" sz="1200" b="1" spc="100" dirty="0">
              <a:solidFill>
                <a:srgbClr val="FFFFFF"/>
              </a:solidFill>
              <a:latin typeface="微软雅黑"/>
              <a:ea typeface="微软雅黑"/>
              <a:cs typeface="微软雅黑"/>
            </a:endParaRPr>
          </a:p>
        </p:txBody>
      </p:sp>
      <p:sp>
        <p:nvSpPr>
          <p:cNvPr id="253" name="文本框 252"/>
          <p:cNvSpPr txBox="1"/>
          <p:nvPr/>
        </p:nvSpPr>
        <p:spPr>
          <a:xfrm>
            <a:off x="5681553" y="3456392"/>
            <a:ext cx="851516" cy="276999"/>
          </a:xfrm>
          <a:prstGeom prst="rect">
            <a:avLst/>
          </a:prstGeom>
          <a:noFill/>
        </p:spPr>
        <p:txBody>
          <a:bodyPr wrap="none" rtlCol="0">
            <a:spAutoFit/>
          </a:bodyPr>
          <a:lstStyle/>
          <a:p>
            <a:pPr algn="r">
              <a:defRPr>
                <a:solidFill>
                  <a:srgbClr val="FFFFFF"/>
                </a:solidFill>
                <a:latin typeface="微软雅黑"/>
                <a:ea typeface="微软雅黑"/>
                <a:cs typeface="微软雅黑"/>
              </a:defRPr>
            </a:pPr>
            <a:r>
              <a:rPr lang="zh-CN" altLang="en-US" sz="1200" b="1" spc="100" dirty="0">
                <a:solidFill>
                  <a:srgbClr val="FFFFFF"/>
                </a:solidFill>
                <a:latin typeface="微软雅黑"/>
                <a:ea typeface="微软雅黑"/>
                <a:cs typeface="微软雅黑"/>
              </a:rPr>
              <a:t>趋势影响</a:t>
            </a:r>
            <a:endParaRPr lang="zh-CN" altLang="en-US" sz="1200" b="1" spc="100" dirty="0">
              <a:solidFill>
                <a:srgbClr val="FFFFFF"/>
              </a:solidFill>
              <a:latin typeface="微软雅黑"/>
              <a:ea typeface="微软雅黑"/>
              <a:cs typeface="微软雅黑"/>
            </a:endParaRPr>
          </a:p>
        </p:txBody>
      </p:sp>
      <p:sp>
        <p:nvSpPr>
          <p:cNvPr id="254" name="文本框 253"/>
          <p:cNvSpPr txBox="1"/>
          <p:nvPr/>
        </p:nvSpPr>
        <p:spPr>
          <a:xfrm>
            <a:off x="4090208" y="4668153"/>
            <a:ext cx="620684"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spc="100" dirty="0">
                <a:solidFill>
                  <a:srgbClr val="0042FF"/>
                </a:solidFill>
                <a:latin typeface="微软雅黑"/>
                <a:ea typeface="微软雅黑"/>
                <a:cs typeface="微软雅黑"/>
              </a:rPr>
              <a:t>开发</a:t>
            </a:r>
            <a:endParaRPr lang="zh-CN" altLang="en-US" sz="1600" b="1" spc="100" dirty="0">
              <a:solidFill>
                <a:srgbClr val="0042FF"/>
              </a:solidFill>
              <a:latin typeface="微软雅黑"/>
              <a:ea typeface="微软雅黑"/>
              <a:cs typeface="微软雅黑"/>
            </a:endParaRPr>
          </a:p>
        </p:txBody>
      </p:sp>
      <p:sp>
        <p:nvSpPr>
          <p:cNvPr id="255" name="文本框 254"/>
          <p:cNvSpPr txBox="1"/>
          <p:nvPr/>
        </p:nvSpPr>
        <p:spPr>
          <a:xfrm>
            <a:off x="4769658" y="4195713"/>
            <a:ext cx="620684" cy="338554"/>
          </a:xfrm>
          <a:prstGeom prst="rect">
            <a:avLst/>
          </a:prstGeom>
          <a:noFill/>
        </p:spPr>
        <p:txBody>
          <a:bodyPr wrap="none" rtlCol="0">
            <a:spAutoFit/>
          </a:bodyPr>
          <a:lstStyle/>
          <a:p>
            <a:pPr algn="ctr">
              <a:defRPr>
                <a:solidFill>
                  <a:srgbClr val="383838"/>
                </a:solidFill>
                <a:latin typeface="微软雅黑"/>
                <a:ea typeface="微软雅黑"/>
                <a:cs typeface="微软雅黑"/>
              </a:defRPr>
            </a:pPr>
            <a:r>
              <a:rPr lang="zh-CN" altLang="en-US" sz="1600" b="1" spc="100" dirty="0">
                <a:solidFill>
                  <a:srgbClr val="383838"/>
                </a:solidFill>
                <a:latin typeface="微软雅黑"/>
                <a:ea typeface="微软雅黑"/>
                <a:cs typeface="微软雅黑"/>
              </a:rPr>
              <a:t>运营</a:t>
            </a:r>
            <a:endParaRPr lang="zh-CN" altLang="en-US" sz="1600" b="1" spc="100" dirty="0">
              <a:solidFill>
                <a:srgbClr val="383838"/>
              </a:solidFill>
              <a:latin typeface="微软雅黑"/>
              <a:ea typeface="微软雅黑"/>
              <a:cs typeface="微软雅黑"/>
            </a:endParaRPr>
          </a:p>
        </p:txBody>
      </p:sp>
      <p:sp>
        <p:nvSpPr>
          <p:cNvPr id="256" name="文本框 255"/>
          <p:cNvSpPr txBox="1"/>
          <p:nvPr/>
        </p:nvSpPr>
        <p:spPr>
          <a:xfrm>
            <a:off x="5741208" y="4024263"/>
            <a:ext cx="620684"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spc="100" dirty="0">
                <a:solidFill>
                  <a:srgbClr val="0042FF"/>
                </a:solidFill>
                <a:latin typeface="微软雅黑"/>
                <a:ea typeface="微软雅黑"/>
                <a:cs typeface="微软雅黑"/>
              </a:rPr>
              <a:t>销售</a:t>
            </a:r>
            <a:endParaRPr lang="zh-CN" altLang="en-US" sz="1600" b="1" spc="100" dirty="0">
              <a:solidFill>
                <a:srgbClr val="0042FF"/>
              </a:solidFill>
              <a:latin typeface="微软雅黑"/>
              <a:ea typeface="微软雅黑"/>
              <a:cs typeface="微软雅黑"/>
            </a:endParaRPr>
          </a:p>
        </p:txBody>
      </p:sp>
      <p:sp>
        <p:nvSpPr>
          <p:cNvPr id="257" name="文本框 256"/>
          <p:cNvSpPr txBox="1"/>
          <p:nvPr/>
        </p:nvSpPr>
        <p:spPr>
          <a:xfrm>
            <a:off x="6693708" y="4195713"/>
            <a:ext cx="620684" cy="338554"/>
          </a:xfrm>
          <a:prstGeom prst="rect">
            <a:avLst/>
          </a:prstGeom>
          <a:noFill/>
        </p:spPr>
        <p:txBody>
          <a:bodyPr wrap="none" rtlCol="0">
            <a:spAutoFit/>
          </a:bodyPr>
          <a:lstStyle/>
          <a:p>
            <a:pPr algn="ctr">
              <a:defRPr>
                <a:solidFill>
                  <a:srgbClr val="383838"/>
                </a:solidFill>
                <a:latin typeface="微软雅黑"/>
                <a:ea typeface="微软雅黑"/>
                <a:cs typeface="微软雅黑"/>
              </a:defRPr>
            </a:pPr>
            <a:r>
              <a:rPr lang="zh-CN" altLang="en-US" sz="1600" b="1" spc="100" dirty="0">
                <a:solidFill>
                  <a:srgbClr val="383838"/>
                </a:solidFill>
                <a:latin typeface="微软雅黑"/>
                <a:ea typeface="微软雅黑"/>
                <a:cs typeface="微软雅黑"/>
              </a:rPr>
              <a:t>服务</a:t>
            </a:r>
            <a:endParaRPr lang="zh-CN" altLang="en-US" sz="1600" b="1" spc="100" dirty="0">
              <a:solidFill>
                <a:srgbClr val="383838"/>
              </a:solidFill>
              <a:latin typeface="微软雅黑"/>
              <a:ea typeface="微软雅黑"/>
              <a:cs typeface="微软雅黑"/>
            </a:endParaRPr>
          </a:p>
        </p:txBody>
      </p:sp>
      <p:sp>
        <p:nvSpPr>
          <p:cNvPr id="258" name="文本框 257"/>
          <p:cNvSpPr txBox="1"/>
          <p:nvPr/>
        </p:nvSpPr>
        <p:spPr>
          <a:xfrm>
            <a:off x="7404908" y="4659263"/>
            <a:ext cx="620684"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spc="100" dirty="0">
                <a:solidFill>
                  <a:srgbClr val="0042FF"/>
                </a:solidFill>
                <a:latin typeface="微软雅黑"/>
                <a:ea typeface="微软雅黑"/>
                <a:cs typeface="微软雅黑"/>
              </a:rPr>
              <a:t>管理</a:t>
            </a:r>
            <a:endParaRPr lang="zh-CN" altLang="en-US" sz="1600" b="1" spc="100" dirty="0">
              <a:solidFill>
                <a:srgbClr val="0042FF"/>
              </a:solidFill>
              <a:latin typeface="微软雅黑"/>
              <a:ea typeface="微软雅黑"/>
              <a:cs typeface="微软雅黑"/>
            </a:endParaRPr>
          </a:p>
        </p:txBody>
      </p:sp>
      <p:sp>
        <p:nvSpPr>
          <p:cNvPr id="259" name="文本框 258"/>
          <p:cNvSpPr txBox="1"/>
          <p:nvPr/>
        </p:nvSpPr>
        <p:spPr>
          <a:xfrm>
            <a:off x="2952938" y="3584575"/>
            <a:ext cx="748923" cy="246221"/>
          </a:xfrm>
          <a:prstGeom prst="rect">
            <a:avLst/>
          </a:prstGeom>
          <a:noFill/>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b="1" spc="100" dirty="0">
                <a:solidFill>
                  <a:srgbClr val="FFFFFF"/>
                </a:solidFill>
                <a:latin typeface="微软雅黑"/>
                <a:ea typeface="微软雅黑"/>
                <a:cs typeface="微软雅黑"/>
              </a:rPr>
              <a:t>船员经理</a:t>
            </a:r>
            <a:endParaRPr lang="zh-CN" altLang="en-US" sz="1000" b="1" spc="100" dirty="0">
              <a:solidFill>
                <a:srgbClr val="FFFFFF"/>
              </a:solidFill>
              <a:latin typeface="微软雅黑"/>
              <a:ea typeface="微软雅黑"/>
              <a:cs typeface="微软雅黑"/>
            </a:endParaRPr>
          </a:p>
        </p:txBody>
      </p:sp>
      <p:sp>
        <p:nvSpPr>
          <p:cNvPr id="260" name="文本框 259"/>
          <p:cNvSpPr txBox="1"/>
          <p:nvPr/>
        </p:nvSpPr>
        <p:spPr>
          <a:xfrm>
            <a:off x="4272915" y="2923477"/>
            <a:ext cx="748923" cy="246221"/>
          </a:xfrm>
          <a:prstGeom prst="rect">
            <a:avLst/>
          </a:prstGeom>
          <a:noFill/>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b="1" spc="100" dirty="0">
                <a:solidFill>
                  <a:srgbClr val="FFFFFF"/>
                </a:solidFill>
                <a:latin typeface="微软雅黑"/>
                <a:ea typeface="微软雅黑"/>
                <a:cs typeface="微软雅黑"/>
              </a:rPr>
              <a:t>现场检查</a:t>
            </a:r>
            <a:endParaRPr lang="zh-CN" altLang="en-US" sz="1000" b="1" spc="100" dirty="0">
              <a:solidFill>
                <a:srgbClr val="FFFFFF"/>
              </a:solidFill>
              <a:latin typeface="微软雅黑"/>
              <a:ea typeface="微软雅黑"/>
              <a:cs typeface="微软雅黑"/>
            </a:endParaRPr>
          </a:p>
        </p:txBody>
      </p:sp>
      <p:sp>
        <p:nvSpPr>
          <p:cNvPr id="261" name="文本框 260"/>
          <p:cNvSpPr txBox="1"/>
          <p:nvPr/>
        </p:nvSpPr>
        <p:spPr>
          <a:xfrm>
            <a:off x="5699313" y="2630815"/>
            <a:ext cx="748924" cy="246221"/>
          </a:xfrm>
          <a:prstGeom prst="rect">
            <a:avLst/>
          </a:prstGeom>
          <a:noFill/>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b="1" spc="100" dirty="0">
                <a:solidFill>
                  <a:srgbClr val="FFFFFF"/>
                </a:solidFill>
                <a:latin typeface="微软雅黑"/>
                <a:ea typeface="微软雅黑"/>
                <a:cs typeface="微软雅黑"/>
              </a:rPr>
              <a:t>船员管理</a:t>
            </a:r>
            <a:endParaRPr lang="zh-CN" altLang="en-US" sz="1000" b="1" spc="100" dirty="0">
              <a:solidFill>
                <a:srgbClr val="FFFFFF"/>
              </a:solidFill>
              <a:latin typeface="微软雅黑"/>
              <a:ea typeface="微软雅黑"/>
              <a:cs typeface="微软雅黑"/>
            </a:endParaRPr>
          </a:p>
        </p:txBody>
      </p:sp>
      <p:sp>
        <p:nvSpPr>
          <p:cNvPr id="262" name="文本框 261"/>
          <p:cNvSpPr txBox="1"/>
          <p:nvPr/>
        </p:nvSpPr>
        <p:spPr>
          <a:xfrm>
            <a:off x="7091849" y="2919730"/>
            <a:ext cx="748924" cy="246221"/>
          </a:xfrm>
          <a:prstGeom prst="rect">
            <a:avLst/>
          </a:prstGeom>
          <a:noFill/>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b="1" spc="100" dirty="0">
                <a:solidFill>
                  <a:srgbClr val="FFFFFF"/>
                </a:solidFill>
                <a:latin typeface="微软雅黑"/>
                <a:ea typeface="微软雅黑"/>
                <a:cs typeface="微软雅黑"/>
              </a:rPr>
              <a:t>船员管理</a:t>
            </a:r>
            <a:endParaRPr lang="zh-CN" altLang="en-US" sz="1000" b="1" spc="100" dirty="0">
              <a:solidFill>
                <a:srgbClr val="FFFFFF"/>
              </a:solidFill>
              <a:latin typeface="微软雅黑"/>
              <a:ea typeface="微软雅黑"/>
              <a:cs typeface="微软雅黑"/>
            </a:endParaRPr>
          </a:p>
        </p:txBody>
      </p:sp>
      <p:sp>
        <p:nvSpPr>
          <p:cNvPr id="263" name="文本框 262"/>
          <p:cNvSpPr txBox="1"/>
          <p:nvPr/>
        </p:nvSpPr>
        <p:spPr>
          <a:xfrm>
            <a:off x="8409243" y="3578187"/>
            <a:ext cx="748923" cy="246221"/>
          </a:xfrm>
          <a:prstGeom prst="rect">
            <a:avLst/>
          </a:prstGeom>
          <a:noFill/>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b="1" spc="100" dirty="0">
                <a:solidFill>
                  <a:srgbClr val="FFFFFF"/>
                </a:solidFill>
                <a:latin typeface="微软雅黑"/>
                <a:ea typeface="微软雅黑"/>
                <a:cs typeface="微软雅黑"/>
              </a:rPr>
              <a:t>清单管理</a:t>
            </a:r>
            <a:endParaRPr lang="zh-CN" altLang="en-US" sz="1000" b="1" spc="100" dirty="0">
              <a:solidFill>
                <a:srgbClr val="FFFFFF"/>
              </a:solidFill>
              <a:latin typeface="微软雅黑"/>
              <a:ea typeface="微软雅黑"/>
              <a:cs typeface="微软雅黑"/>
            </a:endParaRPr>
          </a:p>
        </p:txBody>
      </p:sp>
      <p:sp>
        <p:nvSpPr>
          <p:cNvPr id="264" name="文本框 263"/>
          <p:cNvSpPr txBox="1"/>
          <p:nvPr/>
        </p:nvSpPr>
        <p:spPr>
          <a:xfrm>
            <a:off x="5349642" y="1344006"/>
            <a:ext cx="1492716" cy="338554"/>
          </a:xfrm>
          <a:prstGeom prst="rect">
            <a:avLst/>
          </a:prstGeom>
          <a:noFill/>
        </p:spPr>
        <p:txBody>
          <a:bodyPr wrap="none" rtlCol="0">
            <a:spAutoFit/>
          </a:bodyPr>
          <a:lstStyle/>
          <a:p>
            <a:pPr algn="r">
              <a:defRPr>
                <a:solidFill>
                  <a:srgbClr val="383838"/>
                </a:solidFill>
                <a:latin typeface="微软雅黑"/>
                <a:ea typeface="微软雅黑"/>
                <a:cs typeface="微软雅黑"/>
              </a:defRPr>
            </a:pPr>
            <a:r>
              <a:rPr lang="zh-CN" altLang="en-US" sz="1600" b="1" spc="100" dirty="0">
                <a:solidFill>
                  <a:srgbClr val="383838"/>
                </a:solidFill>
                <a:latin typeface="微软雅黑"/>
                <a:ea typeface="微软雅黑"/>
                <a:cs typeface="微软雅黑"/>
              </a:rPr>
              <a:t>首页推荐优化</a:t>
            </a:r>
            <a:endParaRPr lang="zh-CN" altLang="en-US" sz="1600" b="1" spc="100" dirty="0">
              <a:solidFill>
                <a:srgbClr val="383838"/>
              </a:solidFill>
              <a:latin typeface="微软雅黑"/>
              <a:ea typeface="微软雅黑"/>
              <a:cs typeface="微软雅黑"/>
            </a:endParaRPr>
          </a:p>
        </p:txBody>
      </p:sp>
      <p:sp>
        <p:nvSpPr>
          <p:cNvPr id="265" name="任意多边形: 形状 17"/>
          <p:cNvSpPr/>
          <p:nvPr/>
        </p:nvSpPr>
        <p:spPr>
          <a:xfrm>
            <a:off x="5185410" y="6197600"/>
            <a:ext cx="1889125" cy="942975"/>
          </a:xfrm>
          <a:custGeom>
            <a:avLst/>
            <a:gdLst>
              <a:gd name="connsiteX0" fmla="*/ 980364 w 1960728"/>
              <a:gd name="connsiteY0" fmla="*/ 0 h 1049118"/>
              <a:gd name="connsiteX1" fmla="*/ 1960728 w 1960728"/>
              <a:gd name="connsiteY1" fmla="*/ 980364 h 1049118"/>
              <a:gd name="connsiteX2" fmla="*/ 1953797 w 1960728"/>
              <a:gd name="connsiteY2" fmla="*/ 1049118 h 1049118"/>
              <a:gd name="connsiteX3" fmla="*/ 6931 w 1960728"/>
              <a:gd name="connsiteY3" fmla="*/ 1049118 h 1049118"/>
              <a:gd name="connsiteX4" fmla="*/ 0 w 1960728"/>
              <a:gd name="connsiteY4" fmla="*/ 980364 h 1049118"/>
              <a:gd name="connsiteX5" fmla="*/ 980364 w 1960728"/>
              <a:gd name="connsiteY5" fmla="*/ 0 h 1049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0728" h="1049118">
                <a:moveTo>
                  <a:pt x="980364" y="0"/>
                </a:moveTo>
                <a:cubicBezTo>
                  <a:pt x="1521804" y="0"/>
                  <a:pt x="1960728" y="438924"/>
                  <a:pt x="1960728" y="980364"/>
                </a:cubicBezTo>
                <a:lnTo>
                  <a:pt x="1953797" y="1049118"/>
                </a:lnTo>
                <a:lnTo>
                  <a:pt x="6931" y="1049118"/>
                </a:lnTo>
                <a:lnTo>
                  <a:pt x="0" y="980364"/>
                </a:lnTo>
                <a:cubicBezTo>
                  <a:pt x="0" y="438924"/>
                  <a:pt x="438924" y="0"/>
                  <a:pt x="980364" y="0"/>
                </a:cubicBezTo>
                <a:close/>
              </a:path>
            </a:pathLst>
          </a:custGeom>
          <a:gradFill>
            <a:gsLst>
              <a:gs pos="0">
                <a:srgbClr val="3368FF"/>
              </a:gs>
              <a:gs pos="90000">
                <a:srgbClr val="B3D4FE"/>
              </a:gs>
            </a:gsLst>
            <a:lin ang="5400000" scaled="0"/>
          </a:gradFill>
          <a:ln w="12700" cap="flat" cmpd="sng" algn="ctr">
            <a:solidFill>
              <a:srgbClr val="FFFFFF"/>
            </a:solidFill>
            <a:prstDash val="solid"/>
            <a:miter lim="800000"/>
          </a:ln>
          <a:effectLst/>
        </p:spPr>
        <p:txBody>
          <a:bodyPr wrap="square" rtlCol="0" anchor="ctr">
            <a:noAutofit/>
          </a:bodyP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266" name="文本框 265"/>
          <p:cNvSpPr txBox="1"/>
          <p:nvPr/>
        </p:nvSpPr>
        <p:spPr>
          <a:xfrm>
            <a:off x="5521386" y="6435035"/>
            <a:ext cx="1252220" cy="398780"/>
          </a:xfrm>
          <a:prstGeom prst="rect">
            <a:avLst/>
          </a:prstGeom>
          <a:noFill/>
          <a:effectLst/>
        </p:spPr>
        <p:txBody>
          <a:bodyPr wrap="none" rtlCol="0">
            <a:spAutoFit/>
          </a:bodyPr>
          <a:lstStyle/>
          <a:p>
            <a:pPr algn="r">
              <a:defRPr>
                <a:latin typeface="微软雅黑"/>
                <a:ea typeface="微软雅黑"/>
                <a:cs typeface="微软雅黑"/>
              </a:defRPr>
            </a:pPr>
            <a:r>
              <a:rPr lang="zh-CN" altLang="en-US" sz="2000" b="1" spc="100" dirty="0">
                <a:solidFill>
                  <a:srgbClr val="383838"/>
                </a:solidFill>
                <a:latin typeface="微软雅黑"/>
                <a:ea typeface="微软雅黑"/>
                <a:cs typeface="微软雅黑"/>
              </a:rPr>
              <a:t>就业机会</a:t>
            </a:r>
            <a:endParaRPr lang="zh-CN" altLang="en-US" sz="2000" b="1" spc="100" dirty="0">
              <a:solidFill>
                <a:srgbClr val="383838"/>
              </a:solidFill>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lang="zh-CN" altLang="en-US" sz="2500">
                <a:solidFill>
                  <a:srgbClr val="383838"/>
                </a:solidFill>
                <a:effectLst/>
                <a:latin typeface="微软雅黑"/>
                <a:ea typeface="微软雅黑"/>
                <a:cs typeface="微软雅黑"/>
              </a:rPr>
              <a:t>运营提效增能策略拆解</a:t>
            </a:r>
            <a:endParaRPr lang="en-US" altLang="zh-CN"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07" name="椭圆 106"/>
          <p:cNvSpPr/>
          <p:nvPr/>
        </p:nvSpPr>
        <p:spPr>
          <a:xfrm>
            <a:off x="5346065" y="3045460"/>
            <a:ext cx="1541780" cy="1541780"/>
          </a:xfrm>
          <a:prstGeom prst="ellipse">
            <a:avLst/>
          </a:prstGeom>
          <a:gradFill>
            <a:gsLst>
              <a:gs pos="43000">
                <a:srgbClr val="E6E6E6">
                  <a:alpha val="50000"/>
                </a:srgbClr>
              </a:gs>
              <a:gs pos="55000">
                <a:srgbClr val="FFFFFF">
                  <a:alpha val="50000"/>
                </a:srgbClr>
              </a:gs>
            </a:gsLst>
            <a:lin ang="5400000" scaled="0"/>
          </a:gradFill>
          <a:ln>
            <a:gradFill>
              <a:gsLst>
                <a:gs pos="48000">
                  <a:srgbClr val="FFFFFF"/>
                </a:gs>
                <a:gs pos="52000">
                  <a:srgbClr val="3368FF"/>
                </a:gs>
              </a:gsLst>
              <a:lin ang="16200000"/>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14" name="椭圆 113"/>
          <p:cNvSpPr/>
          <p:nvPr/>
        </p:nvSpPr>
        <p:spPr>
          <a:xfrm flipH="1">
            <a:off x="6748145" y="3412490"/>
            <a:ext cx="46990" cy="46990"/>
          </a:xfrm>
          <a:prstGeom prst="ellipse">
            <a:avLst/>
          </a:prstGeom>
          <a:solidFill>
            <a:srgbClr val="3368FF"/>
          </a:solidFill>
          <a:ln w="57150">
            <a:solidFill>
              <a:srgbClr val="3368FF">
                <a:alpha val="35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15" name="椭圆 114"/>
          <p:cNvSpPr/>
          <p:nvPr/>
        </p:nvSpPr>
        <p:spPr>
          <a:xfrm flipH="1">
            <a:off x="6788150" y="4144645"/>
            <a:ext cx="46990" cy="46990"/>
          </a:xfrm>
          <a:prstGeom prst="ellipse">
            <a:avLst/>
          </a:prstGeom>
          <a:solidFill>
            <a:srgbClr val="B3D4FE"/>
          </a:solidFill>
          <a:ln w="57150">
            <a:solidFill>
              <a:srgbClr val="B3D4FE">
                <a:alpha val="35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23" name="椭圆 122"/>
          <p:cNvSpPr/>
          <p:nvPr/>
        </p:nvSpPr>
        <p:spPr>
          <a:xfrm flipH="1">
            <a:off x="6093460" y="3025140"/>
            <a:ext cx="46990" cy="46990"/>
          </a:xfrm>
          <a:prstGeom prst="ellipse">
            <a:avLst/>
          </a:prstGeom>
          <a:solidFill>
            <a:srgbClr val="3368FF"/>
          </a:solidFill>
          <a:ln w="57150">
            <a:solidFill>
              <a:srgbClr val="3368FF">
                <a:alpha val="35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24" name="椭圆 123"/>
          <p:cNvSpPr/>
          <p:nvPr/>
        </p:nvSpPr>
        <p:spPr>
          <a:xfrm flipH="1">
            <a:off x="6140450" y="4560570"/>
            <a:ext cx="46990" cy="46990"/>
          </a:xfrm>
          <a:prstGeom prst="ellipse">
            <a:avLst/>
          </a:prstGeom>
          <a:solidFill>
            <a:srgbClr val="B3D4FE"/>
          </a:solidFill>
          <a:ln w="57150">
            <a:solidFill>
              <a:srgbClr val="B3D4FE">
                <a:alpha val="35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25" name="椭圆 124"/>
          <p:cNvSpPr/>
          <p:nvPr/>
        </p:nvSpPr>
        <p:spPr>
          <a:xfrm>
            <a:off x="5417185" y="3412490"/>
            <a:ext cx="46990" cy="46990"/>
          </a:xfrm>
          <a:prstGeom prst="ellipse">
            <a:avLst/>
          </a:prstGeom>
          <a:solidFill>
            <a:srgbClr val="3368FF"/>
          </a:solidFill>
          <a:ln w="57150">
            <a:solidFill>
              <a:srgbClr val="3368FF">
                <a:alpha val="35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26" name="椭圆 125"/>
          <p:cNvSpPr/>
          <p:nvPr/>
        </p:nvSpPr>
        <p:spPr>
          <a:xfrm>
            <a:off x="5417185" y="4144645"/>
            <a:ext cx="46990" cy="46990"/>
          </a:xfrm>
          <a:prstGeom prst="ellipse">
            <a:avLst/>
          </a:prstGeom>
          <a:solidFill>
            <a:srgbClr val="B3D4FE"/>
          </a:solidFill>
          <a:ln w="57150">
            <a:solidFill>
              <a:srgbClr val="B3D4FE">
                <a:alpha val="35000"/>
              </a:srgbClr>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grpSp>
        <p:nvGrpSpPr>
          <p:cNvPr id="136" name="组合 135"/>
          <p:cNvGrpSpPr/>
          <p:nvPr/>
        </p:nvGrpSpPr>
        <p:grpSpPr>
          <a:xfrm>
            <a:off x="2332355" y="2070735"/>
            <a:ext cx="3084830" cy="1365885"/>
            <a:chOff x="3673" y="3117"/>
            <a:chExt cx="4858" cy="2151"/>
          </a:xfrm>
        </p:grpSpPr>
        <p:cxnSp>
          <p:nvCxnSpPr>
            <p:cNvPr id="133" name="直接连接符 132"/>
            <p:cNvCxnSpPr>
              <a:stCxn id="125" idx="2"/>
              <a:endCxn id="134" idx="0"/>
            </p:cNvCxnSpPr>
            <p:nvPr/>
          </p:nvCxnSpPr>
          <p:spPr>
            <a:xfrm flipH="1">
              <a:off x="4749" y="5267"/>
              <a:ext cx="3782" cy="1"/>
            </a:xfrm>
            <a:prstGeom prst="line">
              <a:avLst/>
            </a:prstGeom>
            <a:ln w="25400">
              <a:gradFill>
                <a:gsLst>
                  <a:gs pos="0">
                    <a:srgbClr val="668EFF"/>
                  </a:gs>
                  <a:gs pos="100000">
                    <a:srgbClr val="3368FF"/>
                  </a:gs>
                </a:gsLst>
                <a:lin ang="5400000" scaled="1"/>
              </a:gradFill>
              <a:prstDash val="sysDash"/>
            </a:ln>
          </p:spPr>
          <p:style>
            <a:lnRef idx="2">
              <a:srgbClr val="0042FF"/>
            </a:lnRef>
            <a:fillRef idx="0">
              <a:srgbClr val="FFFFFF"/>
            </a:fillRef>
            <a:effectRef idx="0">
              <a:srgbClr val="FFFFFF"/>
            </a:effectRef>
            <a:fontRef idx="minor">
              <a:srgbClr val="383838"/>
            </a:fontRef>
          </p:style>
        </p:cxnSp>
        <p:sp>
          <p:nvSpPr>
            <p:cNvPr id="134" name="弧形 133"/>
            <p:cNvSpPr/>
            <p:nvPr/>
          </p:nvSpPr>
          <p:spPr>
            <a:xfrm flipH="1" flipV="1">
              <a:off x="3673" y="3117"/>
              <a:ext cx="2151" cy="2151"/>
            </a:xfrm>
            <a:prstGeom prst="arc">
              <a:avLst>
                <a:gd name="adj1" fmla="val 16200000"/>
                <a:gd name="adj2" fmla="val 21500451"/>
              </a:avLst>
            </a:prstGeom>
            <a:ln w="25400">
              <a:gradFill>
                <a:gsLst>
                  <a:gs pos="0">
                    <a:srgbClr val="668EFF"/>
                  </a:gs>
                  <a:gs pos="100000">
                    <a:srgbClr val="3368FF"/>
                  </a:gs>
                </a:gsLst>
                <a:lin ang="5400000" scaled="1"/>
              </a:gradFill>
              <a:prstDash val="sys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nvGrpSpPr>
          <p:cNvPr id="137" name="组合 136"/>
          <p:cNvGrpSpPr/>
          <p:nvPr/>
        </p:nvGrpSpPr>
        <p:grpSpPr>
          <a:xfrm flipV="1">
            <a:off x="2294890" y="4165600"/>
            <a:ext cx="3084830" cy="1365885"/>
            <a:chOff x="3673" y="3117"/>
            <a:chExt cx="4858" cy="2151"/>
          </a:xfrm>
        </p:grpSpPr>
        <p:cxnSp>
          <p:nvCxnSpPr>
            <p:cNvPr id="138" name="直接连接符 137"/>
            <p:cNvCxnSpPr>
              <a:endCxn id="139" idx="0"/>
            </p:cNvCxnSpPr>
            <p:nvPr/>
          </p:nvCxnSpPr>
          <p:spPr>
            <a:xfrm flipH="1">
              <a:off x="4749" y="5267"/>
              <a:ext cx="3782" cy="1"/>
            </a:xfrm>
            <a:prstGeom prst="line">
              <a:avLst/>
            </a:prstGeom>
            <a:ln w="25400">
              <a:gradFill>
                <a:gsLst>
                  <a:gs pos="0">
                    <a:srgbClr val="B3D4FE"/>
                  </a:gs>
                  <a:gs pos="100000">
                    <a:srgbClr val="B3D4FE"/>
                  </a:gs>
                </a:gsLst>
                <a:lin ang="5400000" scaled="1"/>
              </a:gradFill>
              <a:prstDash val="sysDash"/>
            </a:ln>
          </p:spPr>
          <p:style>
            <a:lnRef idx="2">
              <a:srgbClr val="0042FF"/>
            </a:lnRef>
            <a:fillRef idx="0">
              <a:srgbClr val="FFFFFF"/>
            </a:fillRef>
            <a:effectRef idx="0">
              <a:srgbClr val="FFFFFF"/>
            </a:effectRef>
            <a:fontRef idx="minor">
              <a:srgbClr val="383838"/>
            </a:fontRef>
          </p:style>
        </p:cxnSp>
        <p:sp>
          <p:nvSpPr>
            <p:cNvPr id="139" name="弧形 138"/>
            <p:cNvSpPr/>
            <p:nvPr/>
          </p:nvSpPr>
          <p:spPr>
            <a:xfrm flipH="1" flipV="1">
              <a:off x="3673" y="3117"/>
              <a:ext cx="2151" cy="2151"/>
            </a:xfrm>
            <a:prstGeom prst="arc">
              <a:avLst>
                <a:gd name="adj1" fmla="val 16200000"/>
                <a:gd name="adj2" fmla="val 21482612"/>
              </a:avLst>
            </a:prstGeom>
            <a:ln w="25400">
              <a:gradFill>
                <a:gsLst>
                  <a:gs pos="0">
                    <a:srgbClr val="B3D4FE"/>
                  </a:gs>
                  <a:gs pos="100000">
                    <a:srgbClr val="B3D4FE"/>
                  </a:gs>
                </a:gsLst>
                <a:lin ang="5400000" scaled="1"/>
              </a:gradFill>
              <a:prstDash val="sys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nvGrpSpPr>
          <p:cNvPr id="140" name="组合 139"/>
          <p:cNvGrpSpPr/>
          <p:nvPr/>
        </p:nvGrpSpPr>
        <p:grpSpPr>
          <a:xfrm flipH="1">
            <a:off x="6795135" y="2070100"/>
            <a:ext cx="3084830" cy="1365885"/>
            <a:chOff x="3673" y="3117"/>
            <a:chExt cx="4858" cy="2151"/>
          </a:xfrm>
        </p:grpSpPr>
        <p:cxnSp>
          <p:nvCxnSpPr>
            <p:cNvPr id="141" name="直接连接符 140"/>
            <p:cNvCxnSpPr>
              <a:endCxn id="142" idx="0"/>
            </p:cNvCxnSpPr>
            <p:nvPr/>
          </p:nvCxnSpPr>
          <p:spPr>
            <a:xfrm flipH="1">
              <a:off x="4749" y="5267"/>
              <a:ext cx="3782" cy="1"/>
            </a:xfrm>
            <a:prstGeom prst="line">
              <a:avLst/>
            </a:prstGeom>
            <a:ln w="25400">
              <a:gradFill>
                <a:gsLst>
                  <a:gs pos="0">
                    <a:srgbClr val="668EFF"/>
                  </a:gs>
                  <a:gs pos="100000">
                    <a:srgbClr val="3368FF"/>
                  </a:gs>
                </a:gsLst>
                <a:lin ang="5400000" scaled="1"/>
              </a:gradFill>
              <a:prstDash val="sysDash"/>
            </a:ln>
          </p:spPr>
          <p:style>
            <a:lnRef idx="2">
              <a:srgbClr val="0042FF"/>
            </a:lnRef>
            <a:fillRef idx="0">
              <a:srgbClr val="FFFFFF"/>
            </a:fillRef>
            <a:effectRef idx="0">
              <a:srgbClr val="FFFFFF"/>
            </a:effectRef>
            <a:fontRef idx="minor">
              <a:srgbClr val="383838"/>
            </a:fontRef>
          </p:style>
        </p:cxnSp>
        <p:sp>
          <p:nvSpPr>
            <p:cNvPr id="142" name="弧形 141"/>
            <p:cNvSpPr/>
            <p:nvPr/>
          </p:nvSpPr>
          <p:spPr>
            <a:xfrm flipH="1" flipV="1">
              <a:off x="3673" y="3117"/>
              <a:ext cx="2151" cy="2151"/>
            </a:xfrm>
            <a:prstGeom prst="arc">
              <a:avLst>
                <a:gd name="adj1" fmla="val 16200000"/>
                <a:gd name="adj2" fmla="val 27270"/>
              </a:avLst>
            </a:prstGeom>
            <a:ln w="25400">
              <a:gradFill>
                <a:gsLst>
                  <a:gs pos="0">
                    <a:srgbClr val="668EFF"/>
                  </a:gs>
                  <a:gs pos="100000">
                    <a:srgbClr val="3368FF"/>
                  </a:gs>
                </a:gsLst>
                <a:lin ang="5400000" scaled="1"/>
              </a:gradFill>
              <a:prstDash val="sys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nvGrpSpPr>
          <p:cNvPr id="143" name="组合 142"/>
          <p:cNvGrpSpPr/>
          <p:nvPr/>
        </p:nvGrpSpPr>
        <p:grpSpPr>
          <a:xfrm flipH="1" flipV="1">
            <a:off x="6844030" y="4165600"/>
            <a:ext cx="3084830" cy="1365885"/>
            <a:chOff x="3673" y="3117"/>
            <a:chExt cx="4858" cy="2151"/>
          </a:xfrm>
        </p:grpSpPr>
        <p:cxnSp>
          <p:nvCxnSpPr>
            <p:cNvPr id="144" name="直接连接符 143"/>
            <p:cNvCxnSpPr>
              <a:endCxn id="145" idx="0"/>
            </p:cNvCxnSpPr>
            <p:nvPr/>
          </p:nvCxnSpPr>
          <p:spPr>
            <a:xfrm flipH="1">
              <a:off x="4749" y="5267"/>
              <a:ext cx="3782" cy="1"/>
            </a:xfrm>
            <a:prstGeom prst="line">
              <a:avLst/>
            </a:prstGeom>
            <a:ln w="25400">
              <a:gradFill>
                <a:gsLst>
                  <a:gs pos="0">
                    <a:srgbClr val="B3D4FE"/>
                  </a:gs>
                  <a:gs pos="100000">
                    <a:srgbClr val="B3D4FE"/>
                  </a:gs>
                </a:gsLst>
                <a:lin ang="5400000" scaled="1"/>
              </a:gradFill>
              <a:prstDash val="sysDash"/>
            </a:ln>
          </p:spPr>
          <p:style>
            <a:lnRef idx="2">
              <a:srgbClr val="0042FF"/>
            </a:lnRef>
            <a:fillRef idx="0">
              <a:srgbClr val="FFFFFF"/>
            </a:fillRef>
            <a:effectRef idx="0">
              <a:srgbClr val="FFFFFF"/>
            </a:effectRef>
            <a:fontRef idx="minor">
              <a:srgbClr val="383838"/>
            </a:fontRef>
          </p:style>
        </p:cxnSp>
        <p:sp>
          <p:nvSpPr>
            <p:cNvPr id="145" name="弧形 144"/>
            <p:cNvSpPr/>
            <p:nvPr/>
          </p:nvSpPr>
          <p:spPr>
            <a:xfrm flipH="1" flipV="1">
              <a:off x="3673" y="3117"/>
              <a:ext cx="2151" cy="2151"/>
            </a:xfrm>
            <a:prstGeom prst="arc">
              <a:avLst>
                <a:gd name="adj1" fmla="val 16200000"/>
                <a:gd name="adj2" fmla="val 17498"/>
              </a:avLst>
            </a:prstGeom>
            <a:ln w="25400">
              <a:gradFill>
                <a:gsLst>
                  <a:gs pos="0">
                    <a:srgbClr val="B3D4FE"/>
                  </a:gs>
                  <a:gs pos="100000">
                    <a:srgbClr val="B3D4FE"/>
                  </a:gs>
                </a:gsLst>
                <a:lin ang="5400000" scaled="1"/>
              </a:gradFill>
              <a:prstDash val="sys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cxnSp>
        <p:nvCxnSpPr>
          <p:cNvPr id="146" name="直接连接符 145"/>
          <p:cNvCxnSpPr/>
          <p:nvPr/>
        </p:nvCxnSpPr>
        <p:spPr>
          <a:xfrm flipH="1" flipV="1">
            <a:off x="6115685" y="2734945"/>
            <a:ext cx="1905" cy="297180"/>
          </a:xfrm>
          <a:prstGeom prst="line">
            <a:avLst/>
          </a:prstGeom>
          <a:ln w="25400">
            <a:gradFill>
              <a:gsLst>
                <a:gs pos="0">
                  <a:srgbClr val="668EFF"/>
                </a:gs>
                <a:gs pos="100000">
                  <a:srgbClr val="3368FF"/>
                </a:gs>
              </a:gsLst>
              <a:lin ang="5400000" scaled="1"/>
            </a:gradFill>
            <a:prstDash val="sysDash"/>
          </a:ln>
        </p:spPr>
        <p:style>
          <a:lnRef idx="2">
            <a:srgbClr val="0042FF"/>
          </a:lnRef>
          <a:fillRef idx="0">
            <a:srgbClr val="FFFFFF"/>
          </a:fillRef>
          <a:effectRef idx="0">
            <a:srgbClr val="FFFFFF"/>
          </a:effectRef>
          <a:fontRef idx="minor">
            <a:srgbClr val="383838"/>
          </a:fontRef>
        </p:style>
      </p:cxnSp>
      <p:cxnSp>
        <p:nvCxnSpPr>
          <p:cNvPr id="147" name="直接连接符 146"/>
          <p:cNvCxnSpPr/>
          <p:nvPr/>
        </p:nvCxnSpPr>
        <p:spPr>
          <a:xfrm flipH="1" flipV="1">
            <a:off x="6164580" y="4607560"/>
            <a:ext cx="1905" cy="254635"/>
          </a:xfrm>
          <a:prstGeom prst="line">
            <a:avLst/>
          </a:prstGeom>
          <a:ln w="25400">
            <a:gradFill>
              <a:gsLst>
                <a:gs pos="0">
                  <a:srgbClr val="B3D4FE"/>
                </a:gs>
                <a:gs pos="100000">
                  <a:srgbClr val="B3D4FE"/>
                </a:gs>
              </a:gsLst>
              <a:lin ang="5400000" scaled="1"/>
            </a:gradFill>
            <a:prstDash val="sysDash"/>
          </a:ln>
        </p:spPr>
        <p:style>
          <a:lnRef idx="2">
            <a:srgbClr val="0042FF"/>
          </a:lnRef>
          <a:fillRef idx="0">
            <a:srgbClr val="FFFFFF"/>
          </a:fillRef>
          <a:effectRef idx="0">
            <a:srgbClr val="FFFFFF"/>
          </a:effectRef>
          <a:fontRef idx="minor">
            <a:srgbClr val="383838"/>
          </a:fontRef>
        </p:style>
      </p:cxnSp>
      <p:grpSp>
        <p:nvGrpSpPr>
          <p:cNvPr id="263" name="组合 262"/>
          <p:cNvGrpSpPr/>
          <p:nvPr/>
        </p:nvGrpSpPr>
        <p:grpSpPr>
          <a:xfrm>
            <a:off x="752475" y="1103630"/>
            <a:ext cx="3023870" cy="1589405"/>
            <a:chOff x="1185" y="1738"/>
            <a:chExt cx="4762" cy="2503"/>
          </a:xfrm>
        </p:grpSpPr>
        <p:sp>
          <p:nvSpPr>
            <p:cNvPr id="14" name="矩形 13"/>
            <p:cNvSpPr/>
            <p:nvPr/>
          </p:nvSpPr>
          <p:spPr>
            <a:xfrm>
              <a:off x="1399" y="2017"/>
              <a:ext cx="4548" cy="2224"/>
            </a:xfrm>
            <a:prstGeom prst="rect">
              <a:avLst/>
            </a:prstGeom>
            <a:noFill/>
            <a:ln>
              <a:solidFill>
                <a:srgbClr val="3368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8" name="矩形 17"/>
            <p:cNvSpPr/>
            <p:nvPr/>
          </p:nvSpPr>
          <p:spPr>
            <a:xfrm>
              <a:off x="1399" y="2686"/>
              <a:ext cx="4548" cy="416"/>
            </a:xfrm>
            <a:prstGeom prst="rect">
              <a:avLst/>
            </a:prstGeom>
            <a:solidFill>
              <a:srgbClr val="E6E6E6"/>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0" name="矩形 19"/>
            <p:cNvSpPr/>
            <p:nvPr/>
          </p:nvSpPr>
          <p:spPr>
            <a:xfrm>
              <a:off x="1559"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1" name="矩形 20"/>
            <p:cNvSpPr/>
            <p:nvPr/>
          </p:nvSpPr>
          <p:spPr>
            <a:xfrm>
              <a:off x="3065"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3" name="矩形 22"/>
            <p:cNvSpPr/>
            <p:nvPr/>
          </p:nvSpPr>
          <p:spPr>
            <a:xfrm>
              <a:off x="4572"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6" name="任意多边形 25"/>
            <p:cNvSpPr/>
            <p:nvPr/>
          </p:nvSpPr>
          <p:spPr>
            <a:xfrm>
              <a:off x="1186" y="1883"/>
              <a:ext cx="3384" cy="627"/>
            </a:xfrm>
            <a:custGeom>
              <a:avLst/>
              <a:gdLst>
                <a:gd name="adj" fmla="val 3417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84" h="627">
                  <a:moveTo>
                    <a:pt x="0" y="0"/>
                  </a:moveTo>
                  <a:lnTo>
                    <a:pt x="3107" y="0"/>
                  </a:lnTo>
                  <a:lnTo>
                    <a:pt x="3114" y="0"/>
                  </a:lnTo>
                  <a:cubicBezTo>
                    <a:pt x="3266" y="-4"/>
                    <a:pt x="3388" y="149"/>
                    <a:pt x="3384" y="270"/>
                  </a:cubicBezTo>
                  <a:lnTo>
                    <a:pt x="3384" y="277"/>
                  </a:lnTo>
                  <a:lnTo>
                    <a:pt x="3384" y="533"/>
                  </a:lnTo>
                  <a:lnTo>
                    <a:pt x="3384" y="541"/>
                  </a:lnTo>
                  <a:cubicBezTo>
                    <a:pt x="3386" y="570"/>
                    <a:pt x="3372" y="619"/>
                    <a:pt x="3368" y="627"/>
                  </a:cubicBezTo>
                  <a:lnTo>
                    <a:pt x="0" y="627"/>
                  </a:lnTo>
                  <a:lnTo>
                    <a:pt x="0" y="0"/>
                  </a:lnTo>
                  <a:close/>
                </a:path>
              </a:pathLst>
            </a:custGeom>
            <a:gradFill>
              <a:gsLst>
                <a:gs pos="0">
                  <a:srgbClr val="3368FF"/>
                </a:gs>
                <a:gs pos="100000">
                  <a:srgbClr val="0042FF"/>
                </a:gs>
              </a:gsLst>
              <a:lin ang="2700000" scaled="0"/>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7" name="椭圆 26"/>
            <p:cNvSpPr/>
            <p:nvPr/>
          </p:nvSpPr>
          <p:spPr>
            <a:xfrm>
              <a:off x="1350" y="1738"/>
              <a:ext cx="856" cy="856"/>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8" name="直角三角形 27"/>
            <p:cNvSpPr/>
            <p:nvPr/>
          </p:nvSpPr>
          <p:spPr>
            <a:xfrm flipH="1" flipV="1">
              <a:off x="1185" y="2510"/>
              <a:ext cx="214" cy="247"/>
            </a:xfrm>
            <a:prstGeom prst="rtTriangle">
              <a:avLst/>
            </a:prstGeom>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58" name="©显眼包PPT17"/>
            <p:cNvSpPr txBox="1"/>
            <p:nvPr/>
          </p:nvSpPr>
          <p:spPr>
            <a:xfrm>
              <a:off x="2297" y="2027"/>
              <a:ext cx="2118" cy="33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强化运营流程</a:t>
              </a:r>
              <a:endParaRPr lang="zh-CN" altLang="en-US" sz="1400" b="1" dirty="0">
                <a:solidFill>
                  <a:srgbClr val="FFFFFF"/>
                </a:solidFill>
                <a:latin typeface="微软雅黑"/>
                <a:ea typeface="微软雅黑"/>
                <a:cs typeface="微软雅黑"/>
                <a:sym typeface="微软雅黑"/>
              </a:endParaRPr>
            </a:p>
          </p:txBody>
        </p:sp>
        <p:sp>
          <p:nvSpPr>
            <p:cNvPr id="266" name="子陵职场PPT2-25"/>
            <p:cNvSpPr/>
            <p:nvPr>
              <p:custDataLst>
                <p:tags r:id="rId4"/>
              </p:custDataLst>
            </p:nvPr>
          </p:nvSpPr>
          <p:spPr>
            <a:xfrm>
              <a:off x="1607" y="1920"/>
              <a:ext cx="342" cy="493"/>
            </a:xfrm>
            <a:custGeom>
              <a:avLst/>
              <a:gdLst>
                <a:gd name="connsiteX0" fmla="*/ 179832 w 393191"/>
                <a:gd name="connsiteY0" fmla="*/ 278892 h 566927"/>
                <a:gd name="connsiteX1" fmla="*/ 213360 w 393191"/>
                <a:gd name="connsiteY1" fmla="*/ 278892 h 566927"/>
                <a:gd name="connsiteX2" fmla="*/ 213360 w 393191"/>
                <a:gd name="connsiteY2" fmla="*/ 449580 h 566927"/>
                <a:gd name="connsiteX3" fmla="*/ 179832 w 393191"/>
                <a:gd name="connsiteY3" fmla="*/ 449580 h 566927"/>
                <a:gd name="connsiteX4" fmla="*/ 179832 w 393191"/>
                <a:gd name="connsiteY4" fmla="*/ 278892 h 566927"/>
                <a:gd name="connsiteX5" fmla="*/ 196596 w 393191"/>
                <a:gd name="connsiteY5" fmla="*/ 0 h 566927"/>
                <a:gd name="connsiteX6" fmla="*/ 0 w 393191"/>
                <a:gd name="connsiteY6" fmla="*/ 198120 h 566927"/>
                <a:gd name="connsiteX7" fmla="*/ 39624 w 393191"/>
                <a:gd name="connsiteY7" fmla="*/ 316992 h 566927"/>
                <a:gd name="connsiteX8" fmla="*/ 85344 w 393191"/>
                <a:gd name="connsiteY8" fmla="*/ 408432 h 566927"/>
                <a:gd name="connsiteX9" fmla="*/ 124968 w 393191"/>
                <a:gd name="connsiteY9" fmla="*/ 448056 h 566927"/>
                <a:gd name="connsiteX10" fmla="*/ 147828 w 393191"/>
                <a:gd name="connsiteY10" fmla="*/ 448056 h 566927"/>
                <a:gd name="connsiteX11" fmla="*/ 147828 w 393191"/>
                <a:gd name="connsiteY11" fmla="*/ 277368 h 566927"/>
                <a:gd name="connsiteX12" fmla="*/ 120396 w 393191"/>
                <a:gd name="connsiteY12" fmla="*/ 277368 h 566927"/>
                <a:gd name="connsiteX13" fmla="*/ 62484 w 393191"/>
                <a:gd name="connsiteY13" fmla="*/ 219456 h 566927"/>
                <a:gd name="connsiteX14" fmla="*/ 120396 w 393191"/>
                <a:gd name="connsiteY14" fmla="*/ 161544 h 566927"/>
                <a:gd name="connsiteX15" fmla="*/ 178308 w 393191"/>
                <a:gd name="connsiteY15" fmla="*/ 219456 h 566927"/>
                <a:gd name="connsiteX16" fmla="*/ 170688 w 393191"/>
                <a:gd name="connsiteY16" fmla="*/ 246888 h 566927"/>
                <a:gd name="connsiteX17" fmla="*/ 224028 w 393191"/>
                <a:gd name="connsiteY17" fmla="*/ 246888 h 566927"/>
                <a:gd name="connsiteX18" fmla="*/ 216408 w 393191"/>
                <a:gd name="connsiteY18" fmla="*/ 219456 h 566927"/>
                <a:gd name="connsiteX19" fmla="*/ 274320 w 393191"/>
                <a:gd name="connsiteY19" fmla="*/ 161544 h 566927"/>
                <a:gd name="connsiteX20" fmla="*/ 332232 w 393191"/>
                <a:gd name="connsiteY20" fmla="*/ 219456 h 566927"/>
                <a:gd name="connsiteX21" fmla="*/ 274320 w 393191"/>
                <a:gd name="connsiteY21" fmla="*/ 277368 h 566927"/>
                <a:gd name="connsiteX22" fmla="*/ 245364 w 393191"/>
                <a:gd name="connsiteY22" fmla="*/ 277368 h 566927"/>
                <a:gd name="connsiteX23" fmla="*/ 245364 w 393191"/>
                <a:gd name="connsiteY23" fmla="*/ 448056 h 566927"/>
                <a:gd name="connsiteX24" fmla="*/ 268224 w 393191"/>
                <a:gd name="connsiteY24" fmla="*/ 448056 h 566927"/>
                <a:gd name="connsiteX25" fmla="*/ 307848 w 393191"/>
                <a:gd name="connsiteY25" fmla="*/ 408432 h 566927"/>
                <a:gd name="connsiteX26" fmla="*/ 353568 w 393191"/>
                <a:gd name="connsiteY26" fmla="*/ 316992 h 566927"/>
                <a:gd name="connsiteX27" fmla="*/ 393192 w 393191"/>
                <a:gd name="connsiteY27" fmla="*/ 198120 h 566927"/>
                <a:gd name="connsiteX28" fmla="*/ 196596 w 393191"/>
                <a:gd name="connsiteY28" fmla="*/ 0 h 566927"/>
                <a:gd name="connsiteX29" fmla="*/ 92964 w 393191"/>
                <a:gd name="connsiteY29" fmla="*/ 220980 h 566927"/>
                <a:gd name="connsiteX30" fmla="*/ 120396 w 393191"/>
                <a:gd name="connsiteY30" fmla="*/ 248412 h 566927"/>
                <a:gd name="connsiteX31" fmla="*/ 147828 w 393191"/>
                <a:gd name="connsiteY31" fmla="*/ 220980 h 566927"/>
                <a:gd name="connsiteX32" fmla="*/ 120396 w 393191"/>
                <a:gd name="connsiteY32" fmla="*/ 193548 h 566927"/>
                <a:gd name="connsiteX33" fmla="*/ 92964 w 393191"/>
                <a:gd name="connsiteY33" fmla="*/ 220980 h 566927"/>
                <a:gd name="connsiteX34" fmla="*/ 300228 w 393191"/>
                <a:gd name="connsiteY34" fmla="*/ 220980 h 566927"/>
                <a:gd name="connsiteX35" fmla="*/ 272796 w 393191"/>
                <a:gd name="connsiteY35" fmla="*/ 193548 h 566927"/>
                <a:gd name="connsiteX36" fmla="*/ 245364 w 393191"/>
                <a:gd name="connsiteY36" fmla="*/ 220980 h 566927"/>
                <a:gd name="connsiteX37" fmla="*/ 272796 w 393191"/>
                <a:gd name="connsiteY37" fmla="*/ 248412 h 566927"/>
                <a:gd name="connsiteX38" fmla="*/ 300228 w 393191"/>
                <a:gd name="connsiteY38" fmla="*/ 220980 h 566927"/>
                <a:gd name="connsiteX39" fmla="*/ 289560 w 393191"/>
                <a:gd name="connsiteY39" fmla="*/ 495300 h 566927"/>
                <a:gd name="connsiteX40" fmla="*/ 274320 w 393191"/>
                <a:gd name="connsiteY40" fmla="*/ 480060 h 566927"/>
                <a:gd name="connsiteX41" fmla="*/ 120396 w 393191"/>
                <a:gd name="connsiteY41" fmla="*/ 480060 h 566927"/>
                <a:gd name="connsiteX42" fmla="*/ 105156 w 393191"/>
                <a:gd name="connsiteY42" fmla="*/ 495300 h 566927"/>
                <a:gd name="connsiteX43" fmla="*/ 120396 w 393191"/>
                <a:gd name="connsiteY43" fmla="*/ 510540 h 566927"/>
                <a:gd name="connsiteX44" fmla="*/ 274320 w 393191"/>
                <a:gd name="connsiteY44" fmla="*/ 510540 h 566927"/>
                <a:gd name="connsiteX45" fmla="*/ 289560 w 393191"/>
                <a:gd name="connsiteY45" fmla="*/ 495300 h 566927"/>
                <a:gd name="connsiteX46" fmla="*/ 269748 w 393191"/>
                <a:gd name="connsiteY46" fmla="*/ 551688 h 566927"/>
                <a:gd name="connsiteX47" fmla="*/ 254508 w 393191"/>
                <a:gd name="connsiteY47" fmla="*/ 536448 h 566927"/>
                <a:gd name="connsiteX48" fmla="*/ 138684 w 393191"/>
                <a:gd name="connsiteY48" fmla="*/ 536448 h 566927"/>
                <a:gd name="connsiteX49" fmla="*/ 123444 w 393191"/>
                <a:gd name="connsiteY49" fmla="*/ 551688 h 566927"/>
                <a:gd name="connsiteX50" fmla="*/ 138684 w 393191"/>
                <a:gd name="connsiteY50" fmla="*/ 566928 h 566927"/>
                <a:gd name="connsiteX51" fmla="*/ 254508 w 393191"/>
                <a:gd name="connsiteY51" fmla="*/ 566928 h 566927"/>
                <a:gd name="connsiteX52" fmla="*/ 269748 w 393191"/>
                <a:gd name="connsiteY52" fmla="*/ 551688 h 566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93191" h="566927">
                  <a:moveTo>
                    <a:pt x="179832" y="278892"/>
                  </a:moveTo>
                  <a:lnTo>
                    <a:pt x="213360" y="278892"/>
                  </a:lnTo>
                  <a:lnTo>
                    <a:pt x="213360" y="449580"/>
                  </a:lnTo>
                  <a:lnTo>
                    <a:pt x="179832" y="449580"/>
                  </a:lnTo>
                  <a:lnTo>
                    <a:pt x="179832" y="278892"/>
                  </a:lnTo>
                  <a:close/>
                  <a:moveTo>
                    <a:pt x="196596" y="0"/>
                  </a:moveTo>
                  <a:cubicBezTo>
                    <a:pt x="88392" y="1524"/>
                    <a:pt x="0" y="89916"/>
                    <a:pt x="0" y="198120"/>
                  </a:cubicBezTo>
                  <a:cubicBezTo>
                    <a:pt x="0" y="242316"/>
                    <a:pt x="15240" y="284988"/>
                    <a:pt x="39624" y="316992"/>
                  </a:cubicBezTo>
                  <a:cubicBezTo>
                    <a:pt x="74676" y="364236"/>
                    <a:pt x="85344" y="384048"/>
                    <a:pt x="85344" y="408432"/>
                  </a:cubicBezTo>
                  <a:cubicBezTo>
                    <a:pt x="85344" y="429768"/>
                    <a:pt x="103632" y="448056"/>
                    <a:pt x="124968" y="448056"/>
                  </a:cubicBezTo>
                  <a:lnTo>
                    <a:pt x="147828" y="448056"/>
                  </a:lnTo>
                  <a:lnTo>
                    <a:pt x="147828" y="277368"/>
                  </a:lnTo>
                  <a:lnTo>
                    <a:pt x="120396" y="277368"/>
                  </a:lnTo>
                  <a:cubicBezTo>
                    <a:pt x="88392" y="277368"/>
                    <a:pt x="62484" y="251460"/>
                    <a:pt x="62484" y="219456"/>
                  </a:cubicBezTo>
                  <a:cubicBezTo>
                    <a:pt x="62484" y="187452"/>
                    <a:pt x="88392" y="161544"/>
                    <a:pt x="120396" y="161544"/>
                  </a:cubicBezTo>
                  <a:cubicBezTo>
                    <a:pt x="152400" y="161544"/>
                    <a:pt x="178308" y="187452"/>
                    <a:pt x="178308" y="219456"/>
                  </a:cubicBezTo>
                  <a:cubicBezTo>
                    <a:pt x="178308" y="228600"/>
                    <a:pt x="175260" y="237744"/>
                    <a:pt x="170688" y="246888"/>
                  </a:cubicBezTo>
                  <a:lnTo>
                    <a:pt x="224028" y="246888"/>
                  </a:lnTo>
                  <a:cubicBezTo>
                    <a:pt x="219456" y="239268"/>
                    <a:pt x="216408" y="230124"/>
                    <a:pt x="216408" y="219456"/>
                  </a:cubicBezTo>
                  <a:cubicBezTo>
                    <a:pt x="216408" y="187452"/>
                    <a:pt x="242316" y="161544"/>
                    <a:pt x="274320" y="161544"/>
                  </a:cubicBezTo>
                  <a:cubicBezTo>
                    <a:pt x="306324" y="161544"/>
                    <a:pt x="332232" y="187452"/>
                    <a:pt x="332232" y="219456"/>
                  </a:cubicBezTo>
                  <a:cubicBezTo>
                    <a:pt x="332232" y="251460"/>
                    <a:pt x="306324" y="277368"/>
                    <a:pt x="274320" y="277368"/>
                  </a:cubicBezTo>
                  <a:lnTo>
                    <a:pt x="245364" y="277368"/>
                  </a:lnTo>
                  <a:lnTo>
                    <a:pt x="245364" y="448056"/>
                  </a:lnTo>
                  <a:lnTo>
                    <a:pt x="268224" y="448056"/>
                  </a:lnTo>
                  <a:cubicBezTo>
                    <a:pt x="289560" y="448056"/>
                    <a:pt x="307848" y="429768"/>
                    <a:pt x="307848" y="408432"/>
                  </a:cubicBezTo>
                  <a:cubicBezTo>
                    <a:pt x="307848" y="384048"/>
                    <a:pt x="318516" y="364236"/>
                    <a:pt x="353568" y="316992"/>
                  </a:cubicBezTo>
                  <a:cubicBezTo>
                    <a:pt x="377952" y="283464"/>
                    <a:pt x="393192" y="242316"/>
                    <a:pt x="393192" y="198120"/>
                  </a:cubicBezTo>
                  <a:cubicBezTo>
                    <a:pt x="393192" y="89916"/>
                    <a:pt x="306324" y="1524"/>
                    <a:pt x="196596" y="0"/>
                  </a:cubicBezTo>
                  <a:close/>
                  <a:moveTo>
                    <a:pt x="92964" y="220980"/>
                  </a:moveTo>
                  <a:cubicBezTo>
                    <a:pt x="92964" y="236220"/>
                    <a:pt x="105156" y="248412"/>
                    <a:pt x="120396" y="248412"/>
                  </a:cubicBezTo>
                  <a:cubicBezTo>
                    <a:pt x="135636" y="248412"/>
                    <a:pt x="147828" y="236220"/>
                    <a:pt x="147828" y="220980"/>
                  </a:cubicBezTo>
                  <a:cubicBezTo>
                    <a:pt x="147828" y="205740"/>
                    <a:pt x="135636" y="193548"/>
                    <a:pt x="120396" y="193548"/>
                  </a:cubicBezTo>
                  <a:cubicBezTo>
                    <a:pt x="105156" y="195072"/>
                    <a:pt x="92964" y="205740"/>
                    <a:pt x="92964" y="220980"/>
                  </a:cubicBezTo>
                  <a:close/>
                  <a:moveTo>
                    <a:pt x="300228" y="220980"/>
                  </a:moveTo>
                  <a:cubicBezTo>
                    <a:pt x="300228" y="205740"/>
                    <a:pt x="288036" y="193548"/>
                    <a:pt x="272796" y="193548"/>
                  </a:cubicBezTo>
                  <a:cubicBezTo>
                    <a:pt x="257556" y="193548"/>
                    <a:pt x="245364" y="205740"/>
                    <a:pt x="245364" y="220980"/>
                  </a:cubicBezTo>
                  <a:cubicBezTo>
                    <a:pt x="245364" y="236220"/>
                    <a:pt x="257556" y="248412"/>
                    <a:pt x="272796" y="248412"/>
                  </a:cubicBezTo>
                  <a:cubicBezTo>
                    <a:pt x="288036" y="248412"/>
                    <a:pt x="300228" y="236220"/>
                    <a:pt x="300228" y="220980"/>
                  </a:cubicBezTo>
                  <a:close/>
                  <a:moveTo>
                    <a:pt x="289560" y="495300"/>
                  </a:moveTo>
                  <a:cubicBezTo>
                    <a:pt x="289560" y="486156"/>
                    <a:pt x="281940" y="480060"/>
                    <a:pt x="274320" y="480060"/>
                  </a:cubicBezTo>
                  <a:lnTo>
                    <a:pt x="120396" y="480060"/>
                  </a:lnTo>
                  <a:cubicBezTo>
                    <a:pt x="111252" y="480060"/>
                    <a:pt x="105156" y="487680"/>
                    <a:pt x="105156" y="495300"/>
                  </a:cubicBezTo>
                  <a:cubicBezTo>
                    <a:pt x="105156" y="502920"/>
                    <a:pt x="112776" y="510540"/>
                    <a:pt x="120396" y="510540"/>
                  </a:cubicBezTo>
                  <a:lnTo>
                    <a:pt x="274320" y="510540"/>
                  </a:lnTo>
                  <a:cubicBezTo>
                    <a:pt x="281940" y="512064"/>
                    <a:pt x="289560" y="504444"/>
                    <a:pt x="289560" y="495300"/>
                  </a:cubicBezTo>
                  <a:close/>
                  <a:moveTo>
                    <a:pt x="269748" y="551688"/>
                  </a:moveTo>
                  <a:cubicBezTo>
                    <a:pt x="269748" y="542544"/>
                    <a:pt x="262128" y="536448"/>
                    <a:pt x="254508" y="536448"/>
                  </a:cubicBezTo>
                  <a:lnTo>
                    <a:pt x="138684" y="536448"/>
                  </a:lnTo>
                  <a:cubicBezTo>
                    <a:pt x="129540" y="536448"/>
                    <a:pt x="123444" y="544068"/>
                    <a:pt x="123444" y="551688"/>
                  </a:cubicBezTo>
                  <a:cubicBezTo>
                    <a:pt x="123444" y="559308"/>
                    <a:pt x="131064" y="566928"/>
                    <a:pt x="138684" y="566928"/>
                  </a:cubicBezTo>
                  <a:lnTo>
                    <a:pt x="254508" y="566928"/>
                  </a:lnTo>
                  <a:cubicBezTo>
                    <a:pt x="263652" y="566928"/>
                    <a:pt x="269748" y="560832"/>
                    <a:pt x="269748" y="551688"/>
                  </a:cubicBezTo>
                  <a:close/>
                </a:path>
              </a:pathLst>
            </a:custGeom>
            <a:solidFill>
              <a:srgbClr val="3368FF"/>
            </a:solidFill>
            <a:ln w="1524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259" name="文本框 258"/>
            <p:cNvSpPr txBox="1"/>
            <p:nvPr/>
          </p:nvSpPr>
          <p:spPr>
            <a:xfrm>
              <a:off x="1586"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全员流程操作规范</a:t>
              </a:r>
              <a:endParaRPr lang="zh-CN" altLang="en-US" sz="1000">
                <a:solidFill>
                  <a:srgbClr val="383838"/>
                </a:solidFill>
                <a:latin typeface="微软雅黑"/>
                <a:ea typeface="微软雅黑"/>
                <a:cs typeface="微软雅黑"/>
              </a:endParaRPr>
            </a:p>
          </p:txBody>
        </p:sp>
        <p:sp>
          <p:nvSpPr>
            <p:cNvPr id="260" name="文本框 259"/>
            <p:cNvSpPr txBox="1"/>
            <p:nvPr/>
          </p:nvSpPr>
          <p:spPr>
            <a:xfrm>
              <a:off x="3092"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数字化工具培训</a:t>
              </a:r>
              <a:endParaRPr lang="zh-CN" altLang="en-US" sz="1000">
                <a:solidFill>
                  <a:srgbClr val="383838"/>
                </a:solidFill>
                <a:latin typeface="微软雅黑"/>
                <a:ea typeface="微软雅黑"/>
                <a:cs typeface="微软雅黑"/>
              </a:endParaRPr>
            </a:p>
          </p:txBody>
        </p:sp>
        <p:sp>
          <p:nvSpPr>
            <p:cNvPr id="261" name="文本框 260"/>
            <p:cNvSpPr txBox="1"/>
            <p:nvPr/>
          </p:nvSpPr>
          <p:spPr>
            <a:xfrm>
              <a:off x="4599"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学习型组织理念</a:t>
              </a:r>
              <a:endParaRPr lang="zh-CN" altLang="en-US" sz="1000">
                <a:solidFill>
                  <a:srgbClr val="383838"/>
                </a:solidFill>
                <a:latin typeface="微软雅黑"/>
                <a:ea typeface="微软雅黑"/>
                <a:cs typeface="微软雅黑"/>
              </a:endParaRPr>
            </a:p>
          </p:txBody>
        </p:sp>
        <p:sp>
          <p:nvSpPr>
            <p:cNvPr id="262" name="文本框 261"/>
            <p:cNvSpPr txBox="1"/>
            <p:nvPr/>
          </p:nvSpPr>
          <p:spPr>
            <a:xfrm>
              <a:off x="2296" y="2701"/>
              <a:ext cx="2755"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通过工具培训与理念渗透</a:t>
              </a:r>
              <a:endPar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endParaRPr>
            </a:p>
          </p:txBody>
        </p:sp>
      </p:grpSp>
      <p:grpSp>
        <p:nvGrpSpPr>
          <p:cNvPr id="280" name="组合 279"/>
          <p:cNvGrpSpPr/>
          <p:nvPr/>
        </p:nvGrpSpPr>
        <p:grpSpPr>
          <a:xfrm>
            <a:off x="4534535" y="1103630"/>
            <a:ext cx="3023870" cy="1589405"/>
            <a:chOff x="1185" y="1738"/>
            <a:chExt cx="4762" cy="2503"/>
          </a:xfrm>
        </p:grpSpPr>
        <p:sp>
          <p:nvSpPr>
            <p:cNvPr id="281" name="矩形 280"/>
            <p:cNvSpPr/>
            <p:nvPr/>
          </p:nvSpPr>
          <p:spPr>
            <a:xfrm>
              <a:off x="1399" y="2017"/>
              <a:ext cx="4548" cy="2224"/>
            </a:xfrm>
            <a:prstGeom prst="rect">
              <a:avLst/>
            </a:prstGeom>
            <a:noFill/>
            <a:ln>
              <a:solidFill>
                <a:srgbClr val="3368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82" name="矩形 281"/>
            <p:cNvSpPr/>
            <p:nvPr/>
          </p:nvSpPr>
          <p:spPr>
            <a:xfrm>
              <a:off x="1399" y="2686"/>
              <a:ext cx="4548" cy="416"/>
            </a:xfrm>
            <a:prstGeom prst="rect">
              <a:avLst/>
            </a:prstGeom>
            <a:solidFill>
              <a:srgbClr val="E6E6E6"/>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83" name="矩形 282"/>
            <p:cNvSpPr/>
            <p:nvPr/>
          </p:nvSpPr>
          <p:spPr>
            <a:xfrm>
              <a:off x="1559"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84" name="矩形 283"/>
            <p:cNvSpPr/>
            <p:nvPr/>
          </p:nvSpPr>
          <p:spPr>
            <a:xfrm>
              <a:off x="3065"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85" name="矩形 284"/>
            <p:cNvSpPr/>
            <p:nvPr/>
          </p:nvSpPr>
          <p:spPr>
            <a:xfrm>
              <a:off x="4572"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86" name="任意多边形 285"/>
            <p:cNvSpPr/>
            <p:nvPr/>
          </p:nvSpPr>
          <p:spPr>
            <a:xfrm>
              <a:off x="1186" y="1883"/>
              <a:ext cx="3384" cy="627"/>
            </a:xfrm>
            <a:custGeom>
              <a:avLst/>
              <a:gdLst>
                <a:gd name="adj" fmla="val 3417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84" h="627">
                  <a:moveTo>
                    <a:pt x="0" y="0"/>
                  </a:moveTo>
                  <a:lnTo>
                    <a:pt x="3107" y="0"/>
                  </a:lnTo>
                  <a:lnTo>
                    <a:pt x="3114" y="0"/>
                  </a:lnTo>
                  <a:cubicBezTo>
                    <a:pt x="3266" y="-4"/>
                    <a:pt x="3388" y="149"/>
                    <a:pt x="3384" y="270"/>
                  </a:cubicBezTo>
                  <a:lnTo>
                    <a:pt x="3384" y="277"/>
                  </a:lnTo>
                  <a:lnTo>
                    <a:pt x="3384" y="533"/>
                  </a:lnTo>
                  <a:lnTo>
                    <a:pt x="3384" y="541"/>
                  </a:lnTo>
                  <a:cubicBezTo>
                    <a:pt x="3386" y="570"/>
                    <a:pt x="3372" y="619"/>
                    <a:pt x="3368" y="627"/>
                  </a:cubicBezTo>
                  <a:lnTo>
                    <a:pt x="0" y="627"/>
                  </a:lnTo>
                  <a:lnTo>
                    <a:pt x="0" y="0"/>
                  </a:lnTo>
                  <a:close/>
                </a:path>
              </a:pathLst>
            </a:custGeom>
            <a:gradFill>
              <a:gsLst>
                <a:gs pos="0">
                  <a:srgbClr val="3368FF"/>
                </a:gs>
                <a:gs pos="100000">
                  <a:srgbClr val="0042FF"/>
                </a:gs>
              </a:gsLst>
              <a:lin ang="2700000" scaled="0"/>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87" name="椭圆 286"/>
            <p:cNvSpPr/>
            <p:nvPr/>
          </p:nvSpPr>
          <p:spPr>
            <a:xfrm>
              <a:off x="1350" y="1738"/>
              <a:ext cx="856" cy="856"/>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88" name="直角三角形 287"/>
            <p:cNvSpPr/>
            <p:nvPr/>
          </p:nvSpPr>
          <p:spPr>
            <a:xfrm flipH="1" flipV="1">
              <a:off x="1185" y="2510"/>
              <a:ext cx="214" cy="247"/>
            </a:xfrm>
            <a:prstGeom prst="rtTriangle">
              <a:avLst/>
            </a:prstGeom>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89" name="©显眼包PPT17"/>
            <p:cNvSpPr txBox="1"/>
            <p:nvPr/>
          </p:nvSpPr>
          <p:spPr>
            <a:xfrm>
              <a:off x="2297" y="2027"/>
              <a:ext cx="2118" cy="33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规划运营节奏</a:t>
              </a:r>
              <a:endParaRPr lang="zh-CN" altLang="en-US" sz="1400" b="1" dirty="0">
                <a:solidFill>
                  <a:srgbClr val="FFFFFF"/>
                </a:solidFill>
                <a:latin typeface="微软雅黑"/>
                <a:ea typeface="微软雅黑"/>
                <a:cs typeface="微软雅黑"/>
                <a:sym typeface="微软雅黑"/>
              </a:endParaRPr>
            </a:p>
          </p:txBody>
        </p:sp>
        <p:sp>
          <p:nvSpPr>
            <p:cNvPr id="292" name="文本框 291"/>
            <p:cNvSpPr txBox="1"/>
            <p:nvPr/>
          </p:nvSpPr>
          <p:spPr>
            <a:xfrm>
              <a:off x="1586"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a:solidFill>
                    <a:srgbClr val="383838"/>
                  </a:solidFill>
                  <a:latin typeface="微软雅黑"/>
                  <a:ea typeface="微软雅黑"/>
                  <a:cs typeface="微软雅黑"/>
                </a:rPr>
                <a:t>BI</a:t>
              </a:r>
              <a:r>
                <a:rPr lang="zh-CN" altLang="en-US" sz="1000">
                  <a:solidFill>
                    <a:srgbClr val="383838"/>
                  </a:solidFill>
                  <a:latin typeface="微软雅黑"/>
                  <a:ea typeface="微软雅黑"/>
                  <a:cs typeface="微软雅黑"/>
                </a:rPr>
                <a:t>工具追踪节点</a:t>
              </a:r>
              <a:endParaRPr lang="zh-CN" altLang="en-US" sz="1000">
                <a:solidFill>
                  <a:srgbClr val="383838"/>
                </a:solidFill>
                <a:latin typeface="微软雅黑"/>
                <a:ea typeface="微软雅黑"/>
                <a:cs typeface="微软雅黑"/>
              </a:endParaRPr>
            </a:p>
          </p:txBody>
        </p:sp>
        <p:sp>
          <p:nvSpPr>
            <p:cNvPr id="294" name="文本框 293"/>
            <p:cNvSpPr txBox="1"/>
            <p:nvPr/>
          </p:nvSpPr>
          <p:spPr>
            <a:xfrm>
              <a:off x="3092"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组织效能协同提升</a:t>
              </a:r>
              <a:endParaRPr lang="zh-CN" altLang="en-US" sz="1000">
                <a:solidFill>
                  <a:srgbClr val="383838"/>
                </a:solidFill>
                <a:latin typeface="微软雅黑"/>
                <a:ea typeface="微软雅黑"/>
                <a:cs typeface="微软雅黑"/>
              </a:endParaRPr>
            </a:p>
          </p:txBody>
        </p:sp>
        <p:sp>
          <p:nvSpPr>
            <p:cNvPr id="295" name="文本框 294"/>
            <p:cNvSpPr txBox="1"/>
            <p:nvPr/>
          </p:nvSpPr>
          <p:spPr>
            <a:xfrm>
              <a:off x="4599"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压缩需求交付周期</a:t>
              </a:r>
              <a:endParaRPr lang="zh-CN" altLang="en-US" sz="1000">
                <a:solidFill>
                  <a:srgbClr val="383838"/>
                </a:solidFill>
                <a:latin typeface="微软雅黑"/>
                <a:ea typeface="微软雅黑"/>
                <a:cs typeface="微软雅黑"/>
              </a:endParaRPr>
            </a:p>
          </p:txBody>
        </p:sp>
        <p:sp>
          <p:nvSpPr>
            <p:cNvPr id="296" name="文本框 295"/>
            <p:cNvSpPr txBox="1"/>
            <p:nvPr/>
          </p:nvSpPr>
          <p:spPr>
            <a:xfrm>
              <a:off x="2296" y="2701"/>
              <a:ext cx="2755"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通过节奏管控加快响应速度</a:t>
              </a:r>
              <a:endPar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endParaRPr>
            </a:p>
          </p:txBody>
        </p:sp>
      </p:grpSp>
      <p:grpSp>
        <p:nvGrpSpPr>
          <p:cNvPr id="313" name="组合 312"/>
          <p:cNvGrpSpPr/>
          <p:nvPr/>
        </p:nvGrpSpPr>
        <p:grpSpPr>
          <a:xfrm>
            <a:off x="8316595" y="1103630"/>
            <a:ext cx="3023870" cy="1589405"/>
            <a:chOff x="1185" y="1738"/>
            <a:chExt cx="4762" cy="2503"/>
          </a:xfrm>
        </p:grpSpPr>
        <p:sp>
          <p:nvSpPr>
            <p:cNvPr id="314" name="矩形 313"/>
            <p:cNvSpPr/>
            <p:nvPr/>
          </p:nvSpPr>
          <p:spPr>
            <a:xfrm>
              <a:off x="1399" y="2017"/>
              <a:ext cx="4548" cy="2224"/>
            </a:xfrm>
            <a:prstGeom prst="rect">
              <a:avLst/>
            </a:prstGeom>
            <a:noFill/>
            <a:ln>
              <a:solidFill>
                <a:srgbClr val="3368FF"/>
              </a:solidFill>
            </a:ln>
            <a:effectLst>
              <a:outerShdw blurRad="50800" dist="38100" dir="2700000" algn="tl" rotWithShape="0">
                <a:srgbClr val="0042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15" name="矩形 314"/>
            <p:cNvSpPr/>
            <p:nvPr/>
          </p:nvSpPr>
          <p:spPr>
            <a:xfrm>
              <a:off x="1399" y="2686"/>
              <a:ext cx="4548" cy="416"/>
            </a:xfrm>
            <a:prstGeom prst="rect">
              <a:avLst/>
            </a:prstGeom>
            <a:solidFill>
              <a:srgbClr val="E6E6E6"/>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19" name="矩形 318"/>
            <p:cNvSpPr/>
            <p:nvPr/>
          </p:nvSpPr>
          <p:spPr>
            <a:xfrm>
              <a:off x="1559"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20" name="矩形 319"/>
            <p:cNvSpPr/>
            <p:nvPr/>
          </p:nvSpPr>
          <p:spPr>
            <a:xfrm>
              <a:off x="3065"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21" name="矩形 320"/>
            <p:cNvSpPr/>
            <p:nvPr/>
          </p:nvSpPr>
          <p:spPr>
            <a:xfrm>
              <a:off x="4572" y="3337"/>
              <a:ext cx="1258" cy="728"/>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22" name="任意多边形 321"/>
            <p:cNvSpPr/>
            <p:nvPr/>
          </p:nvSpPr>
          <p:spPr>
            <a:xfrm>
              <a:off x="1186" y="1883"/>
              <a:ext cx="3384" cy="627"/>
            </a:xfrm>
            <a:custGeom>
              <a:avLst/>
              <a:gdLst>
                <a:gd name="adj" fmla="val 3417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84" h="627">
                  <a:moveTo>
                    <a:pt x="0" y="0"/>
                  </a:moveTo>
                  <a:lnTo>
                    <a:pt x="3107" y="0"/>
                  </a:lnTo>
                  <a:lnTo>
                    <a:pt x="3114" y="0"/>
                  </a:lnTo>
                  <a:cubicBezTo>
                    <a:pt x="3266" y="-4"/>
                    <a:pt x="3388" y="149"/>
                    <a:pt x="3384" y="270"/>
                  </a:cubicBezTo>
                  <a:lnTo>
                    <a:pt x="3384" y="277"/>
                  </a:lnTo>
                  <a:lnTo>
                    <a:pt x="3384" y="533"/>
                  </a:lnTo>
                  <a:lnTo>
                    <a:pt x="3384" y="541"/>
                  </a:lnTo>
                  <a:cubicBezTo>
                    <a:pt x="3386" y="570"/>
                    <a:pt x="3372" y="619"/>
                    <a:pt x="3368" y="627"/>
                  </a:cubicBezTo>
                  <a:lnTo>
                    <a:pt x="0" y="627"/>
                  </a:lnTo>
                  <a:lnTo>
                    <a:pt x="0" y="0"/>
                  </a:lnTo>
                  <a:close/>
                </a:path>
              </a:pathLst>
            </a:custGeom>
            <a:gradFill>
              <a:gsLst>
                <a:gs pos="0">
                  <a:srgbClr val="3368FF"/>
                </a:gs>
                <a:gs pos="100000">
                  <a:srgbClr val="0042FF"/>
                </a:gs>
              </a:gsLst>
              <a:lin ang="2700000" scaled="0"/>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25" name="椭圆 324"/>
            <p:cNvSpPr/>
            <p:nvPr/>
          </p:nvSpPr>
          <p:spPr>
            <a:xfrm>
              <a:off x="1350" y="1738"/>
              <a:ext cx="856" cy="856"/>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26" name="直角三角形 325"/>
            <p:cNvSpPr/>
            <p:nvPr/>
          </p:nvSpPr>
          <p:spPr>
            <a:xfrm flipH="1" flipV="1">
              <a:off x="1185" y="2510"/>
              <a:ext cx="214" cy="247"/>
            </a:xfrm>
            <a:prstGeom prst="rtTriangle">
              <a:avLst/>
            </a:prstGeom>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28" name="©显眼包PPT17"/>
            <p:cNvSpPr txBox="1"/>
            <p:nvPr/>
          </p:nvSpPr>
          <p:spPr>
            <a:xfrm>
              <a:off x="2297" y="2027"/>
              <a:ext cx="2118" cy="33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sym typeface="微软雅黑"/>
                </a:rPr>
                <a:t>重塑运营组织</a:t>
              </a:r>
              <a:endParaRPr lang="zh-CN" altLang="en-US" sz="1400" b="1" dirty="0">
                <a:solidFill>
                  <a:srgbClr val="FFFFFF"/>
                </a:solidFill>
                <a:latin typeface="微软雅黑"/>
                <a:ea typeface="微软雅黑"/>
                <a:cs typeface="微软雅黑"/>
                <a:sym typeface="微软雅黑"/>
              </a:endParaRPr>
            </a:p>
          </p:txBody>
        </p:sp>
        <p:sp>
          <p:nvSpPr>
            <p:cNvPr id="331" name="文本框 330"/>
            <p:cNvSpPr txBox="1"/>
            <p:nvPr/>
          </p:nvSpPr>
          <p:spPr>
            <a:xfrm>
              <a:off x="1586"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运营中台组织搭建</a:t>
              </a:r>
              <a:endParaRPr lang="zh-CN" sz="1000">
                <a:solidFill>
                  <a:srgbClr val="383838"/>
                </a:solidFill>
                <a:latin typeface="微软雅黑"/>
                <a:ea typeface="微软雅黑"/>
                <a:cs typeface="微软雅黑"/>
              </a:endParaRPr>
            </a:p>
          </p:txBody>
        </p:sp>
        <p:sp>
          <p:nvSpPr>
            <p:cNvPr id="335" name="文本框 334"/>
            <p:cNvSpPr txBox="1"/>
            <p:nvPr/>
          </p:nvSpPr>
          <p:spPr>
            <a:xfrm>
              <a:off x="3092"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协同支持业务专班</a:t>
              </a:r>
              <a:endParaRPr lang="zh-CN" altLang="en-US" sz="1000">
                <a:solidFill>
                  <a:srgbClr val="383838"/>
                </a:solidFill>
                <a:latin typeface="微软雅黑"/>
                <a:ea typeface="微软雅黑"/>
                <a:cs typeface="微软雅黑"/>
              </a:endParaRPr>
            </a:p>
          </p:txBody>
        </p:sp>
        <p:sp>
          <p:nvSpPr>
            <p:cNvPr id="336" name="文本框 335"/>
            <p:cNvSpPr txBox="1"/>
            <p:nvPr/>
          </p:nvSpPr>
          <p:spPr>
            <a:xfrm>
              <a:off x="4599"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架构升级无缝协作</a:t>
              </a:r>
              <a:endParaRPr lang="zh-CN" altLang="en-US" sz="1000">
                <a:solidFill>
                  <a:srgbClr val="383838"/>
                </a:solidFill>
                <a:latin typeface="微软雅黑"/>
                <a:ea typeface="微软雅黑"/>
                <a:cs typeface="微软雅黑"/>
              </a:endParaRPr>
            </a:p>
          </p:txBody>
        </p:sp>
        <p:sp>
          <p:nvSpPr>
            <p:cNvPr id="337" name="文本框 336"/>
            <p:cNvSpPr txBox="1"/>
            <p:nvPr/>
          </p:nvSpPr>
          <p:spPr>
            <a:xfrm>
              <a:off x="2296" y="2701"/>
              <a:ext cx="2755"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构建高效协同的组织体系</a:t>
              </a:r>
              <a:endPar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endParaRPr>
            </a:p>
          </p:txBody>
        </p:sp>
      </p:grpSp>
      <p:grpSp>
        <p:nvGrpSpPr>
          <p:cNvPr id="361" name="组合 360"/>
          <p:cNvGrpSpPr/>
          <p:nvPr/>
        </p:nvGrpSpPr>
        <p:grpSpPr>
          <a:xfrm>
            <a:off x="779145" y="4810760"/>
            <a:ext cx="3023870" cy="1589405"/>
            <a:chOff x="1185" y="1738"/>
            <a:chExt cx="4762" cy="2503"/>
          </a:xfrm>
        </p:grpSpPr>
        <p:sp>
          <p:nvSpPr>
            <p:cNvPr id="362" name="矩形 361"/>
            <p:cNvSpPr/>
            <p:nvPr/>
          </p:nvSpPr>
          <p:spPr>
            <a:xfrm>
              <a:off x="1399" y="2017"/>
              <a:ext cx="4548" cy="2224"/>
            </a:xfrm>
            <a:prstGeom prst="rect">
              <a:avLst/>
            </a:prstGeom>
            <a:noFill/>
            <a:ln>
              <a:solidFill>
                <a:srgbClr val="B3D4FE"/>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63" name="矩形 362"/>
            <p:cNvSpPr/>
            <p:nvPr/>
          </p:nvSpPr>
          <p:spPr>
            <a:xfrm>
              <a:off x="1399" y="2686"/>
              <a:ext cx="4548" cy="416"/>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64" name="矩形 363"/>
            <p:cNvSpPr/>
            <p:nvPr/>
          </p:nvSpPr>
          <p:spPr>
            <a:xfrm>
              <a:off x="1559"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65" name="矩形 364"/>
            <p:cNvSpPr/>
            <p:nvPr/>
          </p:nvSpPr>
          <p:spPr>
            <a:xfrm>
              <a:off x="3065"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66" name="矩形 365"/>
            <p:cNvSpPr/>
            <p:nvPr/>
          </p:nvSpPr>
          <p:spPr>
            <a:xfrm>
              <a:off x="4572"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67" name="任意多边形 366"/>
            <p:cNvSpPr/>
            <p:nvPr/>
          </p:nvSpPr>
          <p:spPr>
            <a:xfrm>
              <a:off x="1186" y="1883"/>
              <a:ext cx="3384" cy="627"/>
            </a:xfrm>
            <a:custGeom>
              <a:avLst/>
              <a:gdLst>
                <a:gd name="adj" fmla="val 3417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84" h="627">
                  <a:moveTo>
                    <a:pt x="0" y="0"/>
                  </a:moveTo>
                  <a:lnTo>
                    <a:pt x="3107" y="0"/>
                  </a:lnTo>
                  <a:lnTo>
                    <a:pt x="3114" y="0"/>
                  </a:lnTo>
                  <a:cubicBezTo>
                    <a:pt x="3266" y="-4"/>
                    <a:pt x="3388" y="149"/>
                    <a:pt x="3384" y="270"/>
                  </a:cubicBezTo>
                  <a:lnTo>
                    <a:pt x="3384" y="277"/>
                  </a:lnTo>
                  <a:lnTo>
                    <a:pt x="3384" y="533"/>
                  </a:lnTo>
                  <a:lnTo>
                    <a:pt x="3384" y="541"/>
                  </a:lnTo>
                  <a:cubicBezTo>
                    <a:pt x="3386" y="570"/>
                    <a:pt x="3372" y="619"/>
                    <a:pt x="3368" y="627"/>
                  </a:cubicBezTo>
                  <a:lnTo>
                    <a:pt x="0" y="627"/>
                  </a:lnTo>
                  <a:lnTo>
                    <a:pt x="0" y="0"/>
                  </a:lnTo>
                  <a:close/>
                </a:path>
              </a:pathLst>
            </a:custGeom>
            <a:gradFill>
              <a:gsLst>
                <a:gs pos="0">
                  <a:srgbClr val="B3D4FE"/>
                </a:gs>
                <a:gs pos="100000">
                  <a:srgbClr val="3368FF"/>
                </a:gs>
              </a:gsLst>
              <a:lin ang="2700000" scaled="0"/>
            </a:gra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368" name="椭圆 367"/>
            <p:cNvSpPr/>
            <p:nvPr/>
          </p:nvSpPr>
          <p:spPr>
            <a:xfrm>
              <a:off x="1350" y="1738"/>
              <a:ext cx="856" cy="856"/>
            </a:xfrm>
            <a:prstGeom prst="ellipse">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69" name="直角三角形 368"/>
            <p:cNvSpPr/>
            <p:nvPr/>
          </p:nvSpPr>
          <p:spPr>
            <a:xfrm flipH="1" flipV="1">
              <a:off x="1185" y="2510"/>
              <a:ext cx="214" cy="247"/>
            </a:xfrm>
            <a:prstGeom prst="r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70" name="©显眼包PPT17"/>
            <p:cNvSpPr txBox="1"/>
            <p:nvPr/>
          </p:nvSpPr>
          <p:spPr>
            <a:xfrm>
              <a:off x="2297" y="2027"/>
              <a:ext cx="2118" cy="339"/>
            </a:xfrm>
            <a:prstGeom prst="rect">
              <a:avLst/>
            </a:prstGeom>
            <a:noFill/>
            <a:effectLst/>
          </p:spPr>
          <p:txBody>
            <a:bodyPr wrap="square" lIns="0" tIns="0" rIns="0" bIns="0" rtlCol="0">
              <a:spAutoFit/>
            </a:bodyPr>
            <a:lstStyle/>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运营健康诊断</a:t>
              </a:r>
              <a:endParaRPr lang="zh-CN" altLang="en-US" sz="1400" b="1" dirty="0">
                <a:solidFill>
                  <a:srgbClr val="383838"/>
                </a:solidFill>
                <a:latin typeface="微软雅黑"/>
                <a:ea typeface="微软雅黑"/>
                <a:cs typeface="微软雅黑"/>
                <a:sym typeface="微软雅黑"/>
              </a:endParaRPr>
            </a:p>
          </p:txBody>
        </p:sp>
        <p:sp>
          <p:nvSpPr>
            <p:cNvPr id="372" name="文本框 371"/>
            <p:cNvSpPr txBox="1"/>
            <p:nvPr/>
          </p:nvSpPr>
          <p:spPr>
            <a:xfrm>
              <a:off x="1586"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运营指标深度诊断</a:t>
              </a:r>
              <a:endParaRPr lang="zh-CN" altLang="en-US" sz="1000">
                <a:solidFill>
                  <a:srgbClr val="383838"/>
                </a:solidFill>
                <a:latin typeface="微软雅黑"/>
                <a:ea typeface="微软雅黑"/>
                <a:cs typeface="微软雅黑"/>
              </a:endParaRPr>
            </a:p>
          </p:txBody>
        </p:sp>
        <p:sp>
          <p:nvSpPr>
            <p:cNvPr id="373" name="文本框 372"/>
            <p:cNvSpPr txBox="1"/>
            <p:nvPr/>
          </p:nvSpPr>
          <p:spPr>
            <a:xfrm>
              <a:off x="3092"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试点敏捷运营流程</a:t>
              </a:r>
              <a:endParaRPr lang="zh-CN" altLang="en-US" sz="1000">
                <a:solidFill>
                  <a:srgbClr val="383838"/>
                </a:solidFill>
                <a:latin typeface="微软雅黑"/>
                <a:ea typeface="微软雅黑"/>
                <a:cs typeface="微软雅黑"/>
              </a:endParaRPr>
            </a:p>
          </p:txBody>
        </p:sp>
        <p:sp>
          <p:nvSpPr>
            <p:cNvPr id="374" name="文本框 373"/>
            <p:cNvSpPr txBox="1"/>
            <p:nvPr/>
          </p:nvSpPr>
          <p:spPr>
            <a:xfrm>
              <a:off x="4599"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主导推进平稳变革</a:t>
              </a:r>
              <a:endParaRPr lang="zh-CN" altLang="en-US" sz="1000">
                <a:solidFill>
                  <a:srgbClr val="383838"/>
                </a:solidFill>
                <a:latin typeface="微软雅黑"/>
                <a:ea typeface="微软雅黑"/>
                <a:cs typeface="微软雅黑"/>
              </a:endParaRPr>
            </a:p>
          </p:txBody>
        </p:sp>
        <p:sp>
          <p:nvSpPr>
            <p:cNvPr id="375" name="文本框 374"/>
            <p:cNvSpPr txBox="1"/>
            <p:nvPr/>
          </p:nvSpPr>
          <p:spPr>
            <a:xfrm>
              <a:off x="2296" y="2701"/>
              <a:ext cx="2755"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实现</a:t>
              </a:r>
              <a:r>
                <a:rPr lang="en-US" alt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a:t>
              </a: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小步快跑、平稳变革</a:t>
              </a:r>
              <a:r>
                <a:rPr lang="en-US" alt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a:t>
              </a:r>
              <a:endParaRPr lang="en-US" alt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endParaRPr>
            </a:p>
          </p:txBody>
        </p:sp>
      </p:grpSp>
      <p:grpSp>
        <p:nvGrpSpPr>
          <p:cNvPr id="391" name="组合 390"/>
          <p:cNvGrpSpPr/>
          <p:nvPr/>
        </p:nvGrpSpPr>
        <p:grpSpPr>
          <a:xfrm>
            <a:off x="4564380" y="4810760"/>
            <a:ext cx="3023870" cy="1589405"/>
            <a:chOff x="1185" y="1738"/>
            <a:chExt cx="4762" cy="2503"/>
          </a:xfrm>
        </p:grpSpPr>
        <p:sp>
          <p:nvSpPr>
            <p:cNvPr id="392" name="矩形 391"/>
            <p:cNvSpPr/>
            <p:nvPr/>
          </p:nvSpPr>
          <p:spPr>
            <a:xfrm>
              <a:off x="1399" y="2017"/>
              <a:ext cx="4548" cy="2224"/>
            </a:xfrm>
            <a:prstGeom prst="rect">
              <a:avLst/>
            </a:prstGeom>
            <a:noFill/>
            <a:ln>
              <a:solidFill>
                <a:srgbClr val="B3D4FE"/>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93" name="矩形 392"/>
            <p:cNvSpPr/>
            <p:nvPr/>
          </p:nvSpPr>
          <p:spPr>
            <a:xfrm>
              <a:off x="1399" y="2686"/>
              <a:ext cx="4548" cy="416"/>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94" name="矩形 393"/>
            <p:cNvSpPr/>
            <p:nvPr/>
          </p:nvSpPr>
          <p:spPr>
            <a:xfrm>
              <a:off x="1559"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95" name="矩形 394"/>
            <p:cNvSpPr/>
            <p:nvPr/>
          </p:nvSpPr>
          <p:spPr>
            <a:xfrm>
              <a:off x="3065"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96" name="矩形 395"/>
            <p:cNvSpPr/>
            <p:nvPr/>
          </p:nvSpPr>
          <p:spPr>
            <a:xfrm>
              <a:off x="4572"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97" name="任意多边形 396"/>
            <p:cNvSpPr/>
            <p:nvPr/>
          </p:nvSpPr>
          <p:spPr>
            <a:xfrm>
              <a:off x="1186" y="1883"/>
              <a:ext cx="3384" cy="627"/>
            </a:xfrm>
            <a:custGeom>
              <a:avLst/>
              <a:gdLst>
                <a:gd name="adj" fmla="val 3417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84" h="627">
                  <a:moveTo>
                    <a:pt x="0" y="0"/>
                  </a:moveTo>
                  <a:lnTo>
                    <a:pt x="3107" y="0"/>
                  </a:lnTo>
                  <a:lnTo>
                    <a:pt x="3114" y="0"/>
                  </a:lnTo>
                  <a:cubicBezTo>
                    <a:pt x="3266" y="-4"/>
                    <a:pt x="3388" y="149"/>
                    <a:pt x="3384" y="270"/>
                  </a:cubicBezTo>
                  <a:lnTo>
                    <a:pt x="3384" y="277"/>
                  </a:lnTo>
                  <a:lnTo>
                    <a:pt x="3384" y="533"/>
                  </a:lnTo>
                  <a:lnTo>
                    <a:pt x="3384" y="541"/>
                  </a:lnTo>
                  <a:cubicBezTo>
                    <a:pt x="3386" y="570"/>
                    <a:pt x="3372" y="619"/>
                    <a:pt x="3368" y="627"/>
                  </a:cubicBezTo>
                  <a:lnTo>
                    <a:pt x="0" y="627"/>
                  </a:lnTo>
                  <a:lnTo>
                    <a:pt x="0" y="0"/>
                  </a:lnTo>
                  <a:close/>
                </a:path>
              </a:pathLst>
            </a:custGeom>
            <a:gradFill>
              <a:gsLst>
                <a:gs pos="0">
                  <a:srgbClr val="B3D4FE"/>
                </a:gs>
                <a:gs pos="100000">
                  <a:srgbClr val="3368FF"/>
                </a:gs>
              </a:gsLst>
              <a:lin ang="2700000" scaled="0"/>
            </a:gra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398" name="椭圆 397"/>
            <p:cNvSpPr/>
            <p:nvPr/>
          </p:nvSpPr>
          <p:spPr>
            <a:xfrm>
              <a:off x="1350" y="1738"/>
              <a:ext cx="856" cy="856"/>
            </a:xfrm>
            <a:prstGeom prst="ellipse">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99" name="直角三角形 398"/>
            <p:cNvSpPr/>
            <p:nvPr/>
          </p:nvSpPr>
          <p:spPr>
            <a:xfrm flipH="1" flipV="1">
              <a:off x="1185" y="2510"/>
              <a:ext cx="214" cy="247"/>
            </a:xfrm>
            <a:prstGeom prst="r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00" name="©显眼包PPT17"/>
            <p:cNvSpPr txBox="1"/>
            <p:nvPr/>
          </p:nvSpPr>
          <p:spPr>
            <a:xfrm>
              <a:off x="2297" y="2027"/>
              <a:ext cx="2118" cy="339"/>
            </a:xfrm>
            <a:prstGeom prst="rect">
              <a:avLst/>
            </a:prstGeom>
            <a:noFill/>
            <a:effectLst/>
          </p:spPr>
          <p:txBody>
            <a:bodyPr wrap="square" lIns="0" tIns="0" rIns="0" bIns="0" rtlCol="0">
              <a:spAutoFit/>
            </a:bodyPr>
            <a:lstStyle/>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人才韧性建设</a:t>
              </a:r>
              <a:endParaRPr lang="zh-CN" altLang="en-US" sz="1400" b="1" dirty="0">
                <a:solidFill>
                  <a:srgbClr val="383838"/>
                </a:solidFill>
                <a:latin typeface="微软雅黑"/>
                <a:ea typeface="微软雅黑"/>
                <a:cs typeface="微软雅黑"/>
                <a:sym typeface="微软雅黑"/>
              </a:endParaRPr>
            </a:p>
          </p:txBody>
        </p:sp>
        <p:sp>
          <p:nvSpPr>
            <p:cNvPr id="402" name="文本框 401"/>
            <p:cNvSpPr txBox="1"/>
            <p:nvPr/>
          </p:nvSpPr>
          <p:spPr>
            <a:xfrm>
              <a:off x="1586"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绩效考核导向变革</a:t>
              </a:r>
              <a:endParaRPr lang="zh-CN" altLang="en-US" sz="1000">
                <a:solidFill>
                  <a:srgbClr val="383838"/>
                </a:solidFill>
                <a:latin typeface="微软雅黑"/>
                <a:ea typeface="微软雅黑"/>
                <a:cs typeface="微软雅黑"/>
              </a:endParaRPr>
            </a:p>
          </p:txBody>
        </p:sp>
        <p:sp>
          <p:nvSpPr>
            <p:cNvPr id="403" name="文本框 402"/>
            <p:cNvSpPr txBox="1"/>
            <p:nvPr/>
          </p:nvSpPr>
          <p:spPr>
            <a:xfrm>
              <a:off x="3092"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聚焦能力进阶提升</a:t>
              </a:r>
              <a:endParaRPr lang="zh-CN" altLang="en-US" sz="1000">
                <a:solidFill>
                  <a:srgbClr val="383838"/>
                </a:solidFill>
                <a:latin typeface="微软雅黑"/>
                <a:ea typeface="微软雅黑"/>
                <a:cs typeface="微软雅黑"/>
              </a:endParaRPr>
            </a:p>
          </p:txBody>
        </p:sp>
        <p:sp>
          <p:nvSpPr>
            <p:cNvPr id="404" name="文本框 403"/>
            <p:cNvSpPr txBox="1"/>
            <p:nvPr/>
          </p:nvSpPr>
          <p:spPr>
            <a:xfrm>
              <a:off x="4599"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人才队伍梯队培养</a:t>
              </a:r>
              <a:endParaRPr lang="zh-CN" altLang="en-US" sz="1000">
                <a:solidFill>
                  <a:srgbClr val="383838"/>
                </a:solidFill>
                <a:latin typeface="微软雅黑"/>
                <a:ea typeface="微软雅黑"/>
                <a:cs typeface="微软雅黑"/>
              </a:endParaRPr>
            </a:p>
          </p:txBody>
        </p:sp>
        <p:sp>
          <p:nvSpPr>
            <p:cNvPr id="405" name="文本框 404"/>
            <p:cNvSpPr txBox="1"/>
            <p:nvPr/>
          </p:nvSpPr>
          <p:spPr>
            <a:xfrm>
              <a:off x="1818" y="2701"/>
              <a:ext cx="3711" cy="386"/>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实现</a:t>
              </a:r>
              <a:r>
                <a:rPr lang="en-US" alt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a:t>
              </a: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能力专业化</a:t>
              </a:r>
              <a:r>
                <a:rPr lang="en-US" alt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a:t>
              </a:r>
              <a:r>
                <a:rPr lang="zh-CN" altLang="en-US"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组织活力化</a:t>
              </a:r>
              <a:r>
                <a:rPr lang="en-US" alt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a:t>
              </a:r>
              <a:endParaRPr lang="en-US" alt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endParaRPr>
            </a:p>
          </p:txBody>
        </p:sp>
      </p:grpSp>
      <p:grpSp>
        <p:nvGrpSpPr>
          <p:cNvPr id="421" name="组合 420"/>
          <p:cNvGrpSpPr/>
          <p:nvPr/>
        </p:nvGrpSpPr>
        <p:grpSpPr>
          <a:xfrm>
            <a:off x="8352155" y="4810760"/>
            <a:ext cx="3023870" cy="1589405"/>
            <a:chOff x="1185" y="1738"/>
            <a:chExt cx="4762" cy="2503"/>
          </a:xfrm>
        </p:grpSpPr>
        <p:sp>
          <p:nvSpPr>
            <p:cNvPr id="422" name="矩形 421"/>
            <p:cNvSpPr/>
            <p:nvPr/>
          </p:nvSpPr>
          <p:spPr>
            <a:xfrm>
              <a:off x="1399" y="2017"/>
              <a:ext cx="4548" cy="2224"/>
            </a:xfrm>
            <a:prstGeom prst="rect">
              <a:avLst/>
            </a:prstGeom>
            <a:noFill/>
            <a:ln>
              <a:solidFill>
                <a:srgbClr val="B3D4FE"/>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23" name="矩形 422"/>
            <p:cNvSpPr/>
            <p:nvPr/>
          </p:nvSpPr>
          <p:spPr>
            <a:xfrm>
              <a:off x="1399" y="2686"/>
              <a:ext cx="4548" cy="416"/>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24" name="矩形 423"/>
            <p:cNvSpPr/>
            <p:nvPr/>
          </p:nvSpPr>
          <p:spPr>
            <a:xfrm>
              <a:off x="1559"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25" name="矩形 424"/>
            <p:cNvSpPr/>
            <p:nvPr/>
          </p:nvSpPr>
          <p:spPr>
            <a:xfrm>
              <a:off x="3065"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33" name="矩形 432"/>
            <p:cNvSpPr/>
            <p:nvPr/>
          </p:nvSpPr>
          <p:spPr>
            <a:xfrm>
              <a:off x="4572" y="3337"/>
              <a:ext cx="1258" cy="728"/>
            </a:xfrm>
            <a:prstGeom prst="rect">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34" name="任意多边形 433"/>
            <p:cNvSpPr/>
            <p:nvPr/>
          </p:nvSpPr>
          <p:spPr>
            <a:xfrm>
              <a:off x="1186" y="1883"/>
              <a:ext cx="3384" cy="627"/>
            </a:xfrm>
            <a:custGeom>
              <a:avLst/>
              <a:gdLst>
                <a:gd name="adj" fmla="val 3417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84" h="627">
                  <a:moveTo>
                    <a:pt x="0" y="0"/>
                  </a:moveTo>
                  <a:lnTo>
                    <a:pt x="3107" y="0"/>
                  </a:lnTo>
                  <a:lnTo>
                    <a:pt x="3114" y="0"/>
                  </a:lnTo>
                  <a:cubicBezTo>
                    <a:pt x="3266" y="-4"/>
                    <a:pt x="3388" y="149"/>
                    <a:pt x="3384" y="270"/>
                  </a:cubicBezTo>
                  <a:lnTo>
                    <a:pt x="3384" y="277"/>
                  </a:lnTo>
                  <a:lnTo>
                    <a:pt x="3384" y="533"/>
                  </a:lnTo>
                  <a:lnTo>
                    <a:pt x="3384" y="541"/>
                  </a:lnTo>
                  <a:cubicBezTo>
                    <a:pt x="3386" y="570"/>
                    <a:pt x="3372" y="619"/>
                    <a:pt x="3368" y="627"/>
                  </a:cubicBezTo>
                  <a:lnTo>
                    <a:pt x="0" y="627"/>
                  </a:lnTo>
                  <a:lnTo>
                    <a:pt x="0" y="0"/>
                  </a:lnTo>
                  <a:close/>
                </a:path>
              </a:pathLst>
            </a:custGeom>
            <a:gradFill>
              <a:gsLst>
                <a:gs pos="0">
                  <a:srgbClr val="B3D4FE"/>
                </a:gs>
                <a:gs pos="100000">
                  <a:srgbClr val="3368FF"/>
                </a:gs>
              </a:gsLst>
              <a:lin ang="2700000" scaled="0"/>
            </a:gra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435" name="椭圆 434"/>
            <p:cNvSpPr/>
            <p:nvPr/>
          </p:nvSpPr>
          <p:spPr>
            <a:xfrm>
              <a:off x="1350" y="1738"/>
              <a:ext cx="856" cy="856"/>
            </a:xfrm>
            <a:prstGeom prst="ellipse">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36" name="直角三角形 435"/>
            <p:cNvSpPr/>
            <p:nvPr/>
          </p:nvSpPr>
          <p:spPr>
            <a:xfrm flipH="1" flipV="1">
              <a:off x="1185" y="2510"/>
              <a:ext cx="214" cy="247"/>
            </a:xfrm>
            <a:prstGeom prst="r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37" name="©显眼包PPT17"/>
            <p:cNvSpPr txBox="1"/>
            <p:nvPr/>
          </p:nvSpPr>
          <p:spPr>
            <a:xfrm>
              <a:off x="2297" y="2027"/>
              <a:ext cx="2118" cy="339"/>
            </a:xfrm>
            <a:prstGeom prst="rect">
              <a:avLst/>
            </a:prstGeom>
            <a:noFill/>
            <a:effectLst/>
          </p:spPr>
          <p:txBody>
            <a:bodyPr wrap="square" lIns="0" tIns="0" rIns="0" bIns="0" rtlCol="0">
              <a:spAutoFit/>
            </a:bodyPr>
            <a:lstStyle/>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深化透明运营</a:t>
              </a:r>
              <a:endParaRPr lang="zh-CN" altLang="en-US" sz="1400" b="1" dirty="0">
                <a:solidFill>
                  <a:srgbClr val="383838"/>
                </a:solidFill>
                <a:latin typeface="微软雅黑"/>
                <a:ea typeface="微软雅黑"/>
                <a:cs typeface="微软雅黑"/>
                <a:sym typeface="微软雅黑"/>
              </a:endParaRPr>
            </a:p>
          </p:txBody>
        </p:sp>
        <p:sp>
          <p:nvSpPr>
            <p:cNvPr id="439" name="文本框 438"/>
            <p:cNvSpPr txBox="1"/>
            <p:nvPr/>
          </p:nvSpPr>
          <p:spPr>
            <a:xfrm>
              <a:off x="1586"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搭建运营共享平台</a:t>
              </a:r>
              <a:endParaRPr lang="zh-CN" altLang="en-US" sz="1000">
                <a:solidFill>
                  <a:srgbClr val="383838"/>
                </a:solidFill>
                <a:latin typeface="微软雅黑"/>
                <a:ea typeface="微软雅黑"/>
                <a:cs typeface="微软雅黑"/>
              </a:endParaRPr>
            </a:p>
          </p:txBody>
        </p:sp>
        <p:sp>
          <p:nvSpPr>
            <p:cNvPr id="440" name="文本框 439"/>
            <p:cNvSpPr txBox="1"/>
            <p:nvPr/>
          </p:nvSpPr>
          <p:spPr>
            <a:xfrm>
              <a:off x="3092"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打破组织层级壁垒</a:t>
              </a:r>
              <a:endParaRPr lang="zh-CN" altLang="en-US" sz="1000">
                <a:solidFill>
                  <a:srgbClr val="383838"/>
                </a:solidFill>
                <a:latin typeface="微软雅黑"/>
                <a:ea typeface="微软雅黑"/>
                <a:cs typeface="微软雅黑"/>
              </a:endParaRPr>
            </a:p>
          </p:txBody>
        </p:sp>
        <p:sp>
          <p:nvSpPr>
            <p:cNvPr id="441" name="文本框 440"/>
            <p:cNvSpPr txBox="1"/>
            <p:nvPr/>
          </p:nvSpPr>
          <p:spPr>
            <a:xfrm>
              <a:off x="4599" y="3387"/>
              <a:ext cx="1205"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信息穿透文化渗透</a:t>
              </a:r>
              <a:endParaRPr lang="zh-CN" altLang="en-US" sz="1000">
                <a:solidFill>
                  <a:srgbClr val="383838"/>
                </a:solidFill>
                <a:latin typeface="微软雅黑"/>
                <a:ea typeface="微软雅黑"/>
                <a:cs typeface="微软雅黑"/>
              </a:endParaRPr>
            </a:p>
          </p:txBody>
        </p:sp>
        <p:sp>
          <p:nvSpPr>
            <p:cNvPr id="442" name="文本框 441"/>
            <p:cNvSpPr txBox="1"/>
            <p:nvPr/>
          </p:nvSpPr>
          <p:spPr>
            <a:xfrm>
              <a:off x="1818" y="2701"/>
              <a:ext cx="3711" cy="386"/>
            </a:xfrm>
            <a:prstGeom prst="rect">
              <a:avLst/>
            </a:prstGeom>
            <a:noFill/>
          </p:spPr>
          <p:txBody>
            <a:bodyPr wrap="square" rtlCol="0" lIns="0" rIns="0" tIns="0" bIns="0">
              <a:spAutoFit/>
            </a:bodyPr>
            <a:p>
              <a:pPr algn="ctr">
                <a:defRPr>
                  <a:latin typeface="微软雅黑"/>
                  <a:ea typeface="微软雅黑"/>
                  <a:cs typeface="微软雅黑"/>
                </a:defRPr>
              </a:pPr>
              <a:r>
                <a:rPr 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rPr>
                <a:t>推进全程可视化运营机制</a:t>
              </a:r>
              <a:endParaRPr lang="zh-CN" sz="1000" b="1">
                <a:gradFill>
                  <a:gsLst>
                    <a:gs pos="0">
                      <a:srgbClr val="0042FF"/>
                    </a:gs>
                    <a:gs pos="100000">
                      <a:srgbClr val="0042FF"/>
                    </a:gs>
                  </a:gsLst>
                  <a:lin ang="5400000" scaled="0"/>
                </a:gradFill>
                <a:effectLst>
                  <a:outerShdw blurRad="50800" dist="38100" dir="2700000" algn="tl" rotWithShape="0">
                    <a:srgbClr val="FFFFFF">
                      <a:alpha val="40000"/>
                    </a:srgbClr>
                  </a:outerShdw>
                </a:effectLst>
                <a:latin typeface="微软雅黑"/>
                <a:ea typeface="微软雅黑"/>
                <a:cs typeface="微软雅黑"/>
              </a:endParaRPr>
            </a:p>
          </p:txBody>
        </p:sp>
      </p:grpSp>
      <p:grpSp>
        <p:nvGrpSpPr>
          <p:cNvPr id="468" name="组合 467"/>
          <p:cNvGrpSpPr/>
          <p:nvPr/>
        </p:nvGrpSpPr>
        <p:grpSpPr>
          <a:xfrm>
            <a:off x="5486106" y="3183255"/>
            <a:ext cx="1261745" cy="1266190"/>
            <a:chOff x="11201" y="4641"/>
            <a:chExt cx="3193" cy="3203"/>
          </a:xfrm>
        </p:grpSpPr>
        <p:sp>
          <p:nvSpPr>
            <p:cNvPr id="452" name="任意多边形 451"/>
            <p:cNvSpPr/>
            <p:nvPr/>
          </p:nvSpPr>
          <p:spPr>
            <a:xfrm>
              <a:off x="11201" y="4641"/>
              <a:ext cx="3193" cy="1475"/>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3193" h="1476">
                  <a:moveTo>
                    <a:pt x="0" y="1475"/>
                  </a:moveTo>
                  <a:cubicBezTo>
                    <a:pt x="37" y="638"/>
                    <a:pt x="833" y="-22"/>
                    <a:pt x="1597" y="0"/>
                  </a:cubicBezTo>
                  <a:cubicBezTo>
                    <a:pt x="2451" y="-28"/>
                    <a:pt x="3156" y="728"/>
                    <a:pt x="3193" y="1475"/>
                  </a:cubicBezTo>
                  <a:lnTo>
                    <a:pt x="0" y="1475"/>
                  </a:lnTo>
                  <a:close/>
                </a:path>
              </a:pathLst>
            </a:custGeom>
            <a:gradFill>
              <a:gsLst>
                <a:gs pos="0">
                  <a:srgbClr val="3368FF"/>
                </a:gs>
                <a:gs pos="100000">
                  <a:srgbClr val="0042FF"/>
                </a:gs>
              </a:gsLst>
              <a:lin ang="27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63" name="任意多边形 462"/>
            <p:cNvSpPr/>
            <p:nvPr/>
          </p:nvSpPr>
          <p:spPr>
            <a:xfrm>
              <a:off x="11203" y="6388"/>
              <a:ext cx="3190" cy="145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3190" h="1457">
                  <a:moveTo>
                    <a:pt x="3190" y="0"/>
                  </a:moveTo>
                  <a:cubicBezTo>
                    <a:pt x="3157" y="793"/>
                    <a:pt x="2357" y="1490"/>
                    <a:pt x="1595" y="1456"/>
                  </a:cubicBezTo>
                  <a:cubicBezTo>
                    <a:pt x="741" y="1496"/>
                    <a:pt x="33" y="703"/>
                    <a:pt x="0" y="0"/>
                  </a:cubicBezTo>
                  <a:lnTo>
                    <a:pt x="3190" y="0"/>
                  </a:lnTo>
                  <a:close/>
                </a:path>
              </a:pathLst>
            </a:custGeom>
            <a:gradFill>
              <a:gsLst>
                <a:gs pos="0">
                  <a:srgbClr val="B3D4FE"/>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65" name="椭圆 464"/>
            <p:cNvSpPr/>
            <p:nvPr/>
          </p:nvSpPr>
          <p:spPr>
            <a:xfrm>
              <a:off x="11970" y="5417"/>
              <a:ext cx="1655" cy="1656"/>
            </a:xfrm>
            <a:prstGeom prst="ellipse">
              <a:avLst/>
            </a:prstGeom>
            <a:solidFill>
              <a:srgbClr val="3368FF"/>
            </a:solidFill>
            <a:ln w="25400">
              <a:gradFill>
                <a:gsLst>
                  <a:gs pos="75000">
                    <a:srgbClr val="FFFFFF"/>
                  </a:gs>
                  <a:gs pos="100000">
                    <a:srgbClr val="FFFFFF">
                      <a:alpha val="0"/>
                    </a:srgbClr>
                  </a:gs>
                </a:gsLst>
                <a:path path="rect">
                  <a:fillToRect l="50000" t="50000" r="50000" b="50000"/>
                </a:path>
                <a:tileRect/>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66" name="©显眼包PPT17"/>
            <p:cNvSpPr txBox="1"/>
            <p:nvPr/>
          </p:nvSpPr>
          <p:spPr>
            <a:xfrm>
              <a:off x="11739" y="4914"/>
              <a:ext cx="2118" cy="389"/>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①</a:t>
              </a:r>
              <a:r>
                <a:rPr lang="en-US" altLang="zh-CN" sz="1000" b="1" dirty="0">
                  <a:solidFill>
                    <a:srgbClr val="FFFFFF"/>
                  </a:solidFill>
                  <a:latin typeface="微软雅黑"/>
                  <a:ea typeface="微软雅黑"/>
                  <a:cs typeface="微软雅黑"/>
                  <a:sym typeface="微软雅黑"/>
                </a:rPr>
                <a:t> </a:t>
              </a:r>
              <a:r>
                <a:rPr lang="zh-CN" altLang="en-US" sz="1000" b="1" dirty="0">
                  <a:solidFill>
                    <a:srgbClr val="FFFFFF"/>
                  </a:solidFill>
                  <a:latin typeface="微软雅黑"/>
                  <a:ea typeface="微软雅黑"/>
                  <a:cs typeface="微软雅黑"/>
                  <a:sym typeface="微软雅黑"/>
                </a:rPr>
                <a:t>决策空间</a:t>
              </a:r>
              <a:endParaRPr lang="zh-CN" altLang="en-US" sz="1000" b="1" dirty="0">
                <a:solidFill>
                  <a:srgbClr val="FFFFFF"/>
                </a:solidFill>
                <a:latin typeface="微软雅黑"/>
                <a:ea typeface="微软雅黑"/>
                <a:cs typeface="微软雅黑"/>
                <a:sym typeface="微软雅黑"/>
              </a:endParaRPr>
            </a:p>
          </p:txBody>
        </p:sp>
        <p:sp>
          <p:nvSpPr>
            <p:cNvPr id="467" name="©显眼包PPT17"/>
            <p:cNvSpPr txBox="1"/>
            <p:nvPr/>
          </p:nvSpPr>
          <p:spPr>
            <a:xfrm>
              <a:off x="11739" y="7172"/>
              <a:ext cx="2118" cy="389"/>
            </a:xfrm>
            <a:prstGeom prst="rect">
              <a:avLst/>
            </a:prstGeom>
            <a:noFill/>
            <a:effectLst/>
          </p:spPr>
          <p:txBody>
            <a:bodyPr wrap="square" lIns="0" tIns="0" rIns="0" bIns="0" rtlCol="0">
              <a:spAutoFit/>
            </a:bodyPr>
            <a:lstStyle/>
            <a:p>
              <a:pPr algn="ctr">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②</a:t>
              </a:r>
              <a:r>
                <a:rPr lang="en-US" altLang="zh-CN" sz="1000" b="1" dirty="0">
                  <a:solidFill>
                    <a:srgbClr val="383838"/>
                  </a:solidFill>
                  <a:latin typeface="微软雅黑"/>
                  <a:ea typeface="微软雅黑"/>
                  <a:cs typeface="微软雅黑"/>
                  <a:sym typeface="微软雅黑"/>
                </a:rPr>
                <a:t> </a:t>
              </a:r>
              <a:r>
                <a:rPr lang="zh-CN" altLang="en-US" sz="1000" b="1" dirty="0">
                  <a:solidFill>
                    <a:srgbClr val="383838"/>
                  </a:solidFill>
                  <a:latin typeface="微软雅黑"/>
                  <a:ea typeface="微软雅黑"/>
                  <a:cs typeface="微软雅黑"/>
                  <a:sym typeface="微软雅黑"/>
                </a:rPr>
                <a:t>运营复盘</a:t>
              </a:r>
              <a:endParaRPr lang="zh-CN" altLang="en-US" sz="1000" b="1" dirty="0">
                <a:solidFill>
                  <a:srgbClr val="383838"/>
                </a:solidFill>
                <a:latin typeface="微软雅黑"/>
                <a:ea typeface="微软雅黑"/>
                <a:cs typeface="微软雅黑"/>
                <a:sym typeface="微软雅黑"/>
              </a:endParaRPr>
            </a:p>
          </p:txBody>
        </p:sp>
      </p:grpSp>
      <p:sp>
        <p:nvSpPr>
          <p:cNvPr id="469" name="©显眼包PPT1"/>
          <p:cNvSpPr txBox="1"/>
          <p:nvPr/>
        </p:nvSpPr>
        <p:spPr>
          <a:xfrm>
            <a:off x="5950585" y="3602355"/>
            <a:ext cx="355600" cy="43053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effectLst>
                  <a:outerShdw blurRad="12700" dist="63500" dir="2700000" algn="tl">
                    <a:srgbClr val="0042FF">
                      <a:alpha val="70000"/>
                    </a:srgbClr>
                  </a:outerShdw>
                </a:effectLst>
                <a:latin typeface="微软雅黑"/>
                <a:ea typeface="微软雅黑"/>
                <a:cs typeface="微软雅黑"/>
              </a:rPr>
              <a:t>提效</a:t>
            </a:r>
            <a:endParaRPr lang="en-US" altLang="zh-CN" sz="1400" b="1" dirty="0">
              <a:solidFill>
                <a:srgbClr val="FFFFFF"/>
              </a:solidFill>
              <a:effectLst>
                <a:outerShdw blurRad="12700" dist="63500" dir="2700000" algn="tl">
                  <a:srgbClr val="0042FF">
                    <a:alpha val="70000"/>
                  </a:srgbClr>
                </a:outerShdw>
              </a:effectLst>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dirty="0">
                <a:solidFill>
                  <a:srgbClr val="FFFFFF"/>
                </a:solidFill>
                <a:effectLst>
                  <a:outerShdw blurRad="12700" dist="63500" dir="2700000" algn="tl">
                    <a:srgbClr val="0042FF">
                      <a:alpha val="70000"/>
                    </a:srgbClr>
                  </a:outerShdw>
                </a:effectLst>
                <a:latin typeface="微软雅黑"/>
                <a:ea typeface="微软雅黑"/>
                <a:cs typeface="微软雅黑"/>
              </a:rPr>
              <a:t>增能</a:t>
            </a:r>
            <a:endParaRPr lang="zh-CN" altLang="en-US" sz="1400" b="1" dirty="0">
              <a:solidFill>
                <a:srgbClr val="FFFFFF"/>
              </a:solidFill>
              <a:effectLst>
                <a:outerShdw blurRad="12700" dist="63500" dir="2700000" algn="tl">
                  <a:srgbClr val="0042FF">
                    <a:alpha val="70000"/>
                  </a:srgbClr>
                </a:outerShdw>
              </a:effectLst>
              <a:latin typeface="微软雅黑"/>
              <a:ea typeface="微软雅黑"/>
              <a:cs typeface="微软雅黑"/>
            </a:endParaRPr>
          </a:p>
        </p:txBody>
      </p:sp>
      <p:sp>
        <p:nvSpPr>
          <p:cNvPr id="470" name="等腰三角形 469"/>
          <p:cNvSpPr/>
          <p:nvPr/>
        </p:nvSpPr>
        <p:spPr>
          <a:xfrm rot="21420000">
            <a:off x="2265680" y="2741930"/>
            <a:ext cx="133350" cy="9842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73" name="等腰三角形 472"/>
          <p:cNvSpPr/>
          <p:nvPr/>
        </p:nvSpPr>
        <p:spPr>
          <a:xfrm>
            <a:off x="6050280" y="2706370"/>
            <a:ext cx="133350" cy="9842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74" name="等腰三角形 473"/>
          <p:cNvSpPr/>
          <p:nvPr/>
        </p:nvSpPr>
        <p:spPr>
          <a:xfrm>
            <a:off x="9814560" y="2727325"/>
            <a:ext cx="133350" cy="9842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75" name="等腰三角形 474"/>
          <p:cNvSpPr/>
          <p:nvPr/>
        </p:nvSpPr>
        <p:spPr>
          <a:xfrm rot="10980000">
            <a:off x="2224405" y="4775200"/>
            <a:ext cx="133350" cy="98425"/>
          </a:xfrm>
          <a:prstGeom prst="triangle">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76" name="等腰三角形 475"/>
          <p:cNvSpPr/>
          <p:nvPr/>
        </p:nvSpPr>
        <p:spPr>
          <a:xfrm flipV="1">
            <a:off x="6099175" y="4779645"/>
            <a:ext cx="133350" cy="98425"/>
          </a:xfrm>
          <a:prstGeom prst="triangle">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77" name="等腰三角形 476"/>
          <p:cNvSpPr/>
          <p:nvPr/>
        </p:nvSpPr>
        <p:spPr>
          <a:xfrm rot="10320000">
            <a:off x="9865360" y="4776470"/>
            <a:ext cx="133350" cy="98425"/>
          </a:xfrm>
          <a:prstGeom prst="triangle">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91" name="圆角矩形 490"/>
          <p:cNvSpPr/>
          <p:nvPr/>
        </p:nvSpPr>
        <p:spPr>
          <a:xfrm>
            <a:off x="2667000" y="3658870"/>
            <a:ext cx="1183640" cy="285750"/>
          </a:xfrm>
          <a:prstGeom prst="roundRect">
            <a:avLst>
              <a:gd name="adj" fmla="val 50000"/>
            </a:avLst>
          </a:prstGeom>
          <a:solidFill>
            <a:srgbClr val="FFFFFF"/>
          </a:solidFill>
          <a:ln>
            <a:gradFill flip="none" rotWithShape="1">
              <a:gsLst>
                <a:gs pos="0">
                  <a:srgbClr val="B3D4FE"/>
                </a:gs>
                <a:gs pos="100000">
                  <a:srgbClr val="B3D4FE"/>
                </a:gs>
                <a:gs pos="61000">
                  <a:srgbClr val="B3D4FE"/>
                </a:gs>
              </a:gsLst>
              <a:lin ang="2700000" scaled="1"/>
              <a:tileRect/>
            </a:gradFill>
          </a:ln>
          <a:effectLst>
            <a:outerShdw blurRad="50800" dist="63500" dir="5400000" sx="95000" sy="95000" algn="t" rotWithShape="0">
              <a:srgbClr val="B3D4FE">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gradFill>
                  <a:gsLst>
                    <a:gs pos="0">
                      <a:srgbClr val="0042FF"/>
                    </a:gs>
                    <a:gs pos="100000">
                      <a:srgbClr val="0042FF"/>
                    </a:gs>
                  </a:gsLst>
                  <a:lin ang="5400000" scaled="0"/>
                </a:gradFill>
                <a:latin typeface="微软雅黑"/>
                <a:ea typeface="微软雅黑"/>
                <a:cs typeface="微软雅黑"/>
                <a:sym typeface="微软雅黑"/>
              </a:rPr>
              <a:t>运营协同平台</a:t>
            </a:r>
            <a:endParaRPr lang="zh-CN" altLang="en-US" sz="12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620" name="圆角矩形 619"/>
          <p:cNvSpPr/>
          <p:nvPr/>
        </p:nvSpPr>
        <p:spPr>
          <a:xfrm>
            <a:off x="4002405" y="3658870"/>
            <a:ext cx="1183640" cy="285750"/>
          </a:xfrm>
          <a:prstGeom prst="roundRect">
            <a:avLst>
              <a:gd name="adj" fmla="val 50000"/>
            </a:avLst>
          </a:prstGeom>
          <a:solidFill>
            <a:srgbClr val="FFFFFF"/>
          </a:solidFill>
          <a:ln>
            <a:gradFill flip="none" rotWithShape="1">
              <a:gsLst>
                <a:gs pos="0">
                  <a:srgbClr val="3368FF"/>
                </a:gs>
                <a:gs pos="100000">
                  <a:srgbClr val="3368FF"/>
                </a:gs>
                <a:gs pos="61000">
                  <a:srgbClr val="E6E6E6"/>
                </a:gs>
              </a:gsLst>
              <a:lin ang="2700000" scaled="1"/>
              <a:tileRect/>
            </a:gradFill>
          </a:ln>
          <a:effectLst>
            <a:outerShdw blurRad="50800" dist="63500" dir="5400000" sx="95000" sy="95000" algn="t" rotWithShape="0">
              <a:srgbClr val="3368FF">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gradFill>
                  <a:gsLst>
                    <a:gs pos="0">
                      <a:srgbClr val="0042FF"/>
                    </a:gs>
                    <a:gs pos="100000">
                      <a:srgbClr val="0042FF"/>
                    </a:gs>
                  </a:gsLst>
                  <a:lin ang="5400000" scaled="0"/>
                </a:gradFill>
                <a:latin typeface="微软雅黑"/>
                <a:ea typeface="微软雅黑"/>
                <a:cs typeface="微软雅黑"/>
                <a:sym typeface="微软雅黑"/>
              </a:rPr>
              <a:t>流程机制缺失</a:t>
            </a:r>
            <a:endParaRPr lang="zh-CN" altLang="en-US" sz="12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621" name="圆角矩形 620"/>
          <p:cNvSpPr/>
          <p:nvPr/>
        </p:nvSpPr>
        <p:spPr>
          <a:xfrm>
            <a:off x="7059295" y="3674745"/>
            <a:ext cx="1183640" cy="285750"/>
          </a:xfrm>
          <a:prstGeom prst="roundRect">
            <a:avLst>
              <a:gd name="adj" fmla="val 50000"/>
            </a:avLst>
          </a:prstGeom>
          <a:solidFill>
            <a:srgbClr val="FFFFFF"/>
          </a:solidFill>
          <a:ln>
            <a:gradFill flip="none" rotWithShape="1">
              <a:gsLst>
                <a:gs pos="0">
                  <a:srgbClr val="3368FF"/>
                </a:gs>
                <a:gs pos="100000">
                  <a:srgbClr val="3368FF"/>
                </a:gs>
                <a:gs pos="61000">
                  <a:srgbClr val="E6E6E6"/>
                </a:gs>
              </a:gsLst>
              <a:lin ang="2700000" scaled="1"/>
              <a:tileRect/>
            </a:gradFill>
          </a:ln>
          <a:effectLst>
            <a:outerShdw blurRad="50800" dist="63500" dir="5400000" sx="95000" sy="95000" algn="t" rotWithShape="0">
              <a:srgbClr val="3368FF">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gradFill>
                  <a:gsLst>
                    <a:gs pos="0">
                      <a:srgbClr val="0042FF"/>
                    </a:gs>
                    <a:gs pos="100000">
                      <a:srgbClr val="0042FF"/>
                    </a:gs>
                  </a:gsLst>
                  <a:lin ang="5400000" scaled="0"/>
                </a:gradFill>
                <a:latin typeface="微软雅黑"/>
                <a:ea typeface="微软雅黑"/>
                <a:cs typeface="微软雅黑"/>
                <a:sym typeface="微软雅黑"/>
              </a:rPr>
              <a:t>运营效率瓶颈</a:t>
            </a:r>
            <a:endParaRPr lang="zh-CN" altLang="en-US" sz="12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622" name="圆角矩形 621"/>
          <p:cNvSpPr/>
          <p:nvPr/>
        </p:nvSpPr>
        <p:spPr>
          <a:xfrm>
            <a:off x="8394700" y="3674745"/>
            <a:ext cx="1183640" cy="285750"/>
          </a:xfrm>
          <a:prstGeom prst="roundRect">
            <a:avLst>
              <a:gd name="adj" fmla="val 50000"/>
            </a:avLst>
          </a:prstGeom>
          <a:solidFill>
            <a:srgbClr val="FFFFFF"/>
          </a:solidFill>
          <a:ln>
            <a:gradFill flip="none" rotWithShape="1">
              <a:gsLst>
                <a:gs pos="0">
                  <a:srgbClr val="B3D4FE"/>
                </a:gs>
                <a:gs pos="100000">
                  <a:srgbClr val="B3D4FE"/>
                </a:gs>
                <a:gs pos="61000">
                  <a:srgbClr val="B3D4FE"/>
                </a:gs>
              </a:gsLst>
              <a:lin ang="2700000" scaled="1"/>
              <a:tileRect/>
            </a:gradFill>
          </a:ln>
          <a:effectLst>
            <a:outerShdw blurRad="50800" dist="63500" dir="5400000" sx="95000" sy="95000" algn="t" rotWithShape="0">
              <a:srgbClr val="B3D4FE">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gradFill>
                  <a:gsLst>
                    <a:gs pos="0">
                      <a:srgbClr val="0042FF"/>
                    </a:gs>
                    <a:gs pos="100000">
                      <a:srgbClr val="0042FF"/>
                    </a:gs>
                  </a:gsLst>
                  <a:lin ang="5400000" scaled="0"/>
                </a:gradFill>
                <a:latin typeface="微软雅黑"/>
                <a:ea typeface="微软雅黑"/>
                <a:cs typeface="微软雅黑"/>
                <a:sym typeface="微软雅黑"/>
              </a:rPr>
              <a:t>用户体验提升</a:t>
            </a:r>
            <a:endParaRPr lang="zh-CN" altLang="en-US" sz="12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642" name="文本框 641"/>
          <p:cNvSpPr txBox="1"/>
          <p:nvPr/>
        </p:nvSpPr>
        <p:spPr>
          <a:xfrm>
            <a:off x="2920365" y="3072130"/>
            <a:ext cx="2122170"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以提升运营效率为主线</a:t>
            </a:r>
            <a:endParaRPr lang="zh-CN" sz="1200">
              <a:solidFill>
                <a:srgbClr val="383838"/>
              </a:solidFill>
              <a:latin typeface="微软雅黑"/>
              <a:ea typeface="微软雅黑"/>
              <a:cs typeface="微软雅黑"/>
            </a:endParaRPr>
          </a:p>
        </p:txBody>
      </p:sp>
      <p:sp>
        <p:nvSpPr>
          <p:cNvPr id="643" name="文本框 642"/>
          <p:cNvSpPr txBox="1"/>
          <p:nvPr/>
        </p:nvSpPr>
        <p:spPr>
          <a:xfrm>
            <a:off x="7109460" y="3072130"/>
            <a:ext cx="2122170"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以组织架构调整为依托</a:t>
            </a:r>
            <a:endParaRPr lang="zh-CN" sz="1200">
              <a:solidFill>
                <a:srgbClr val="383838"/>
              </a:solidFill>
              <a:latin typeface="微软雅黑"/>
              <a:ea typeface="微软雅黑"/>
              <a:cs typeface="微软雅黑"/>
            </a:endParaRPr>
          </a:p>
        </p:txBody>
      </p:sp>
      <p:sp>
        <p:nvSpPr>
          <p:cNvPr id="644" name="文本框 643"/>
          <p:cNvSpPr txBox="1"/>
          <p:nvPr/>
        </p:nvSpPr>
        <p:spPr>
          <a:xfrm>
            <a:off x="3047365" y="4284980"/>
            <a:ext cx="2122170"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以发现问题为切入点</a:t>
            </a:r>
            <a:endParaRPr lang="zh-CN" sz="1200">
              <a:solidFill>
                <a:srgbClr val="383838"/>
              </a:solidFill>
              <a:latin typeface="微软雅黑"/>
              <a:ea typeface="微软雅黑"/>
              <a:cs typeface="微软雅黑"/>
            </a:endParaRPr>
          </a:p>
        </p:txBody>
      </p:sp>
      <p:sp>
        <p:nvSpPr>
          <p:cNvPr id="645" name="文本框 644"/>
          <p:cNvSpPr txBox="1"/>
          <p:nvPr/>
        </p:nvSpPr>
        <p:spPr>
          <a:xfrm>
            <a:off x="7109460" y="4284980"/>
            <a:ext cx="2243455" cy="275590"/>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以人才与机制建设为根基</a:t>
            </a:r>
            <a:endParaRPr lang="zh-CN" sz="1200">
              <a:solidFill>
                <a:srgbClr val="383838"/>
              </a:solidFill>
              <a:latin typeface="微软雅黑"/>
              <a:ea typeface="微软雅黑"/>
              <a:cs typeface="微软雅黑"/>
            </a:endParaRPr>
          </a:p>
        </p:txBody>
      </p:sp>
      <p:sp>
        <p:nvSpPr>
          <p:cNvPr id="647" name="子陵职场PPT2-22"/>
          <p:cNvSpPr/>
          <p:nvPr>
            <p:custDataLst>
              <p:tags r:id="rId5"/>
            </p:custDataLst>
          </p:nvPr>
        </p:nvSpPr>
        <p:spPr>
          <a:xfrm>
            <a:off x="4789170" y="4930775"/>
            <a:ext cx="308610" cy="308610"/>
          </a:xfrm>
          <a:custGeom>
            <a:avLst/>
            <a:gdLst>
              <a:gd name="connsiteX0" fmla="*/ 195072 w 502920"/>
              <a:gd name="connsiteY0" fmla="*/ 103632 h 502920"/>
              <a:gd name="connsiteX1" fmla="*/ 251460 w 502920"/>
              <a:gd name="connsiteY1" fmla="*/ 47244 h 502920"/>
              <a:gd name="connsiteX2" fmla="*/ 307848 w 502920"/>
              <a:gd name="connsiteY2" fmla="*/ 103632 h 502920"/>
              <a:gd name="connsiteX3" fmla="*/ 251460 w 502920"/>
              <a:gd name="connsiteY3" fmla="*/ 160020 h 502920"/>
              <a:gd name="connsiteX4" fmla="*/ 195072 w 502920"/>
              <a:gd name="connsiteY4" fmla="*/ 103632 h 502920"/>
              <a:gd name="connsiteX5" fmla="*/ 324612 w 502920"/>
              <a:gd name="connsiteY5" fmla="*/ 184404 h 502920"/>
              <a:gd name="connsiteX6" fmla="*/ 176784 w 502920"/>
              <a:gd name="connsiteY6" fmla="*/ 184404 h 502920"/>
              <a:gd name="connsiteX7" fmla="*/ 156972 w 502920"/>
              <a:gd name="connsiteY7" fmla="*/ 204216 h 502920"/>
              <a:gd name="connsiteX8" fmla="*/ 156972 w 502920"/>
              <a:gd name="connsiteY8" fmla="*/ 330708 h 502920"/>
              <a:gd name="connsiteX9" fmla="*/ 176784 w 502920"/>
              <a:gd name="connsiteY9" fmla="*/ 350520 h 502920"/>
              <a:gd name="connsiteX10" fmla="*/ 195072 w 502920"/>
              <a:gd name="connsiteY10" fmla="*/ 350520 h 502920"/>
              <a:gd name="connsiteX11" fmla="*/ 195072 w 502920"/>
              <a:gd name="connsiteY11" fmla="*/ 483108 h 502920"/>
              <a:gd name="connsiteX12" fmla="*/ 214884 w 502920"/>
              <a:gd name="connsiteY12" fmla="*/ 502920 h 502920"/>
              <a:gd name="connsiteX13" fmla="*/ 288036 w 502920"/>
              <a:gd name="connsiteY13" fmla="*/ 502920 h 502920"/>
              <a:gd name="connsiteX14" fmla="*/ 307848 w 502920"/>
              <a:gd name="connsiteY14" fmla="*/ 483108 h 502920"/>
              <a:gd name="connsiteX15" fmla="*/ 307848 w 502920"/>
              <a:gd name="connsiteY15" fmla="*/ 350520 h 502920"/>
              <a:gd name="connsiteX16" fmla="*/ 326136 w 502920"/>
              <a:gd name="connsiteY16" fmla="*/ 350520 h 502920"/>
              <a:gd name="connsiteX17" fmla="*/ 345948 w 502920"/>
              <a:gd name="connsiteY17" fmla="*/ 330708 h 502920"/>
              <a:gd name="connsiteX18" fmla="*/ 345948 w 502920"/>
              <a:gd name="connsiteY18" fmla="*/ 204216 h 502920"/>
              <a:gd name="connsiteX19" fmla="*/ 324612 w 502920"/>
              <a:gd name="connsiteY19" fmla="*/ 184404 h 502920"/>
              <a:gd name="connsiteX20" fmla="*/ 416052 w 502920"/>
              <a:gd name="connsiteY20" fmla="*/ 103632 h 502920"/>
              <a:gd name="connsiteX21" fmla="*/ 467868 w 502920"/>
              <a:gd name="connsiteY21" fmla="*/ 51816 h 502920"/>
              <a:gd name="connsiteX22" fmla="*/ 416052 w 502920"/>
              <a:gd name="connsiteY22" fmla="*/ 0 h 502920"/>
              <a:gd name="connsiteX23" fmla="*/ 364236 w 502920"/>
              <a:gd name="connsiteY23" fmla="*/ 51816 h 502920"/>
              <a:gd name="connsiteX24" fmla="*/ 416052 w 502920"/>
              <a:gd name="connsiteY24" fmla="*/ 103632 h 502920"/>
              <a:gd name="connsiteX25" fmla="*/ 484632 w 502920"/>
              <a:gd name="connsiteY25" fmla="*/ 126492 h 502920"/>
              <a:gd name="connsiteX26" fmla="*/ 347472 w 502920"/>
              <a:gd name="connsiteY26" fmla="*/ 126492 h 502920"/>
              <a:gd name="connsiteX27" fmla="*/ 329184 w 502920"/>
              <a:gd name="connsiteY27" fmla="*/ 144780 h 502920"/>
              <a:gd name="connsiteX28" fmla="*/ 329184 w 502920"/>
              <a:gd name="connsiteY28" fmla="*/ 146304 h 502920"/>
              <a:gd name="connsiteX29" fmla="*/ 381000 w 502920"/>
              <a:gd name="connsiteY29" fmla="*/ 202692 h 502920"/>
              <a:gd name="connsiteX30" fmla="*/ 381000 w 502920"/>
              <a:gd name="connsiteY30" fmla="*/ 329184 h 502920"/>
              <a:gd name="connsiteX31" fmla="*/ 362712 w 502920"/>
              <a:gd name="connsiteY31" fmla="*/ 370332 h 502920"/>
              <a:gd name="connsiteX32" fmla="*/ 362712 w 502920"/>
              <a:gd name="connsiteY32" fmla="*/ 402336 h 502920"/>
              <a:gd name="connsiteX33" fmla="*/ 381000 w 502920"/>
              <a:gd name="connsiteY33" fmla="*/ 420624 h 502920"/>
              <a:gd name="connsiteX34" fmla="*/ 449580 w 502920"/>
              <a:gd name="connsiteY34" fmla="*/ 420624 h 502920"/>
              <a:gd name="connsiteX35" fmla="*/ 467868 w 502920"/>
              <a:gd name="connsiteY35" fmla="*/ 402336 h 502920"/>
              <a:gd name="connsiteX36" fmla="*/ 467868 w 502920"/>
              <a:gd name="connsiteY36" fmla="*/ 278892 h 502920"/>
              <a:gd name="connsiteX37" fmla="*/ 484632 w 502920"/>
              <a:gd name="connsiteY37" fmla="*/ 278892 h 502920"/>
              <a:gd name="connsiteX38" fmla="*/ 502920 w 502920"/>
              <a:gd name="connsiteY38" fmla="*/ 260604 h 502920"/>
              <a:gd name="connsiteX39" fmla="*/ 502920 w 502920"/>
              <a:gd name="connsiteY39" fmla="*/ 143256 h 502920"/>
              <a:gd name="connsiteX40" fmla="*/ 484632 w 502920"/>
              <a:gd name="connsiteY40" fmla="*/ 126492 h 502920"/>
              <a:gd name="connsiteX41" fmla="*/ 138684 w 502920"/>
              <a:gd name="connsiteY41" fmla="*/ 51816 h 502920"/>
              <a:gd name="connsiteX42" fmla="*/ 86868 w 502920"/>
              <a:gd name="connsiteY42" fmla="*/ 0 h 502920"/>
              <a:gd name="connsiteX43" fmla="*/ 35052 w 502920"/>
              <a:gd name="connsiteY43" fmla="*/ 51816 h 502920"/>
              <a:gd name="connsiteX44" fmla="*/ 86868 w 502920"/>
              <a:gd name="connsiteY44" fmla="*/ 103632 h 502920"/>
              <a:gd name="connsiteX45" fmla="*/ 138684 w 502920"/>
              <a:gd name="connsiteY45" fmla="*/ 51816 h 502920"/>
              <a:gd name="connsiteX46" fmla="*/ 0 w 502920"/>
              <a:gd name="connsiteY46" fmla="*/ 144780 h 502920"/>
              <a:gd name="connsiteX47" fmla="*/ 0 w 502920"/>
              <a:gd name="connsiteY47" fmla="*/ 262128 h 502920"/>
              <a:gd name="connsiteX48" fmla="*/ 18288 w 502920"/>
              <a:gd name="connsiteY48" fmla="*/ 280416 h 502920"/>
              <a:gd name="connsiteX49" fmla="*/ 35052 w 502920"/>
              <a:gd name="connsiteY49" fmla="*/ 280416 h 502920"/>
              <a:gd name="connsiteX50" fmla="*/ 35052 w 502920"/>
              <a:gd name="connsiteY50" fmla="*/ 403860 h 502920"/>
              <a:gd name="connsiteX51" fmla="*/ 53340 w 502920"/>
              <a:gd name="connsiteY51" fmla="*/ 422148 h 502920"/>
              <a:gd name="connsiteX52" fmla="*/ 121920 w 502920"/>
              <a:gd name="connsiteY52" fmla="*/ 422148 h 502920"/>
              <a:gd name="connsiteX53" fmla="*/ 140208 w 502920"/>
              <a:gd name="connsiteY53" fmla="*/ 403860 h 502920"/>
              <a:gd name="connsiteX54" fmla="*/ 140208 w 502920"/>
              <a:gd name="connsiteY54" fmla="*/ 371856 h 502920"/>
              <a:gd name="connsiteX55" fmla="*/ 121920 w 502920"/>
              <a:gd name="connsiteY55" fmla="*/ 330708 h 502920"/>
              <a:gd name="connsiteX56" fmla="*/ 121920 w 502920"/>
              <a:gd name="connsiteY56" fmla="*/ 204216 h 502920"/>
              <a:gd name="connsiteX57" fmla="*/ 173736 w 502920"/>
              <a:gd name="connsiteY57" fmla="*/ 147828 h 502920"/>
              <a:gd name="connsiteX58" fmla="*/ 173736 w 502920"/>
              <a:gd name="connsiteY58" fmla="*/ 146304 h 502920"/>
              <a:gd name="connsiteX59" fmla="*/ 155448 w 502920"/>
              <a:gd name="connsiteY59" fmla="*/ 128016 h 502920"/>
              <a:gd name="connsiteX60" fmla="*/ 18288 w 502920"/>
              <a:gd name="connsiteY60" fmla="*/ 128016 h 502920"/>
              <a:gd name="connsiteX61" fmla="*/ 0 w 502920"/>
              <a:gd name="connsiteY61" fmla="*/ 144780 h 50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2920" h="502920">
                <a:moveTo>
                  <a:pt x="195072" y="103632"/>
                </a:moveTo>
                <a:cubicBezTo>
                  <a:pt x="195072" y="73152"/>
                  <a:pt x="219456" y="47244"/>
                  <a:pt x="251460" y="47244"/>
                </a:cubicBezTo>
                <a:cubicBezTo>
                  <a:pt x="281940" y="47244"/>
                  <a:pt x="307848" y="71628"/>
                  <a:pt x="307848" y="103632"/>
                </a:cubicBezTo>
                <a:cubicBezTo>
                  <a:pt x="307848" y="135636"/>
                  <a:pt x="283464" y="160020"/>
                  <a:pt x="251460" y="160020"/>
                </a:cubicBezTo>
                <a:cubicBezTo>
                  <a:pt x="219456" y="160020"/>
                  <a:pt x="195072" y="135636"/>
                  <a:pt x="195072" y="103632"/>
                </a:cubicBezTo>
                <a:close/>
                <a:moveTo>
                  <a:pt x="324612" y="184404"/>
                </a:moveTo>
                <a:lnTo>
                  <a:pt x="176784" y="184404"/>
                </a:lnTo>
                <a:cubicBezTo>
                  <a:pt x="166116" y="184404"/>
                  <a:pt x="156972" y="193548"/>
                  <a:pt x="156972" y="204216"/>
                </a:cubicBezTo>
                <a:lnTo>
                  <a:pt x="156972" y="330708"/>
                </a:lnTo>
                <a:cubicBezTo>
                  <a:pt x="156972" y="341376"/>
                  <a:pt x="166116" y="350520"/>
                  <a:pt x="176784" y="350520"/>
                </a:cubicBezTo>
                <a:lnTo>
                  <a:pt x="195072" y="350520"/>
                </a:lnTo>
                <a:lnTo>
                  <a:pt x="195072" y="483108"/>
                </a:lnTo>
                <a:cubicBezTo>
                  <a:pt x="195072" y="493776"/>
                  <a:pt x="204216" y="502920"/>
                  <a:pt x="214884" y="502920"/>
                </a:cubicBezTo>
                <a:lnTo>
                  <a:pt x="288036" y="502920"/>
                </a:lnTo>
                <a:cubicBezTo>
                  <a:pt x="298704" y="502920"/>
                  <a:pt x="307848" y="493776"/>
                  <a:pt x="307848" y="483108"/>
                </a:cubicBezTo>
                <a:lnTo>
                  <a:pt x="307848" y="350520"/>
                </a:lnTo>
                <a:lnTo>
                  <a:pt x="326136" y="350520"/>
                </a:lnTo>
                <a:cubicBezTo>
                  <a:pt x="336804" y="350520"/>
                  <a:pt x="345948" y="341376"/>
                  <a:pt x="345948" y="330708"/>
                </a:cubicBezTo>
                <a:lnTo>
                  <a:pt x="345948" y="204216"/>
                </a:lnTo>
                <a:cubicBezTo>
                  <a:pt x="344424" y="192024"/>
                  <a:pt x="335280" y="184404"/>
                  <a:pt x="324612" y="184404"/>
                </a:cubicBezTo>
                <a:close/>
                <a:moveTo>
                  <a:pt x="416052" y="103632"/>
                </a:moveTo>
                <a:cubicBezTo>
                  <a:pt x="445008" y="103632"/>
                  <a:pt x="467868" y="80772"/>
                  <a:pt x="467868" y="51816"/>
                </a:cubicBezTo>
                <a:cubicBezTo>
                  <a:pt x="467868" y="22860"/>
                  <a:pt x="445008" y="0"/>
                  <a:pt x="416052" y="0"/>
                </a:cubicBezTo>
                <a:cubicBezTo>
                  <a:pt x="387096" y="0"/>
                  <a:pt x="364236" y="22860"/>
                  <a:pt x="364236" y="51816"/>
                </a:cubicBezTo>
                <a:cubicBezTo>
                  <a:pt x="364236" y="80772"/>
                  <a:pt x="387096" y="103632"/>
                  <a:pt x="416052" y="103632"/>
                </a:cubicBezTo>
                <a:close/>
                <a:moveTo>
                  <a:pt x="484632" y="126492"/>
                </a:moveTo>
                <a:lnTo>
                  <a:pt x="347472" y="126492"/>
                </a:lnTo>
                <a:cubicBezTo>
                  <a:pt x="338328" y="126492"/>
                  <a:pt x="329184" y="134112"/>
                  <a:pt x="329184" y="144780"/>
                </a:cubicBezTo>
                <a:lnTo>
                  <a:pt x="329184" y="146304"/>
                </a:lnTo>
                <a:cubicBezTo>
                  <a:pt x="358140" y="149352"/>
                  <a:pt x="381000" y="173736"/>
                  <a:pt x="381000" y="202692"/>
                </a:cubicBezTo>
                <a:lnTo>
                  <a:pt x="381000" y="329184"/>
                </a:lnTo>
                <a:cubicBezTo>
                  <a:pt x="381000" y="345948"/>
                  <a:pt x="373380" y="359664"/>
                  <a:pt x="362712" y="370332"/>
                </a:cubicBezTo>
                <a:lnTo>
                  <a:pt x="362712" y="402336"/>
                </a:lnTo>
                <a:cubicBezTo>
                  <a:pt x="362712" y="411480"/>
                  <a:pt x="370332" y="420624"/>
                  <a:pt x="381000" y="420624"/>
                </a:cubicBezTo>
                <a:lnTo>
                  <a:pt x="449580" y="420624"/>
                </a:lnTo>
                <a:cubicBezTo>
                  <a:pt x="458724" y="420624"/>
                  <a:pt x="467868" y="413004"/>
                  <a:pt x="467868" y="402336"/>
                </a:cubicBezTo>
                <a:lnTo>
                  <a:pt x="467868" y="278892"/>
                </a:lnTo>
                <a:lnTo>
                  <a:pt x="484632" y="278892"/>
                </a:lnTo>
                <a:cubicBezTo>
                  <a:pt x="493776" y="278892"/>
                  <a:pt x="502920" y="271272"/>
                  <a:pt x="502920" y="260604"/>
                </a:cubicBezTo>
                <a:lnTo>
                  <a:pt x="502920" y="143256"/>
                </a:lnTo>
                <a:cubicBezTo>
                  <a:pt x="502920" y="134112"/>
                  <a:pt x="495300" y="126492"/>
                  <a:pt x="484632" y="126492"/>
                </a:cubicBezTo>
                <a:close/>
                <a:moveTo>
                  <a:pt x="138684" y="51816"/>
                </a:moveTo>
                <a:cubicBezTo>
                  <a:pt x="138684" y="22860"/>
                  <a:pt x="115824" y="0"/>
                  <a:pt x="86868" y="0"/>
                </a:cubicBezTo>
                <a:cubicBezTo>
                  <a:pt x="57912" y="0"/>
                  <a:pt x="35052" y="22860"/>
                  <a:pt x="35052" y="51816"/>
                </a:cubicBezTo>
                <a:cubicBezTo>
                  <a:pt x="35052" y="80772"/>
                  <a:pt x="57912" y="103632"/>
                  <a:pt x="86868" y="103632"/>
                </a:cubicBezTo>
                <a:cubicBezTo>
                  <a:pt x="115824" y="103632"/>
                  <a:pt x="138684" y="80772"/>
                  <a:pt x="138684" y="51816"/>
                </a:cubicBezTo>
                <a:close/>
                <a:moveTo>
                  <a:pt x="0" y="144780"/>
                </a:moveTo>
                <a:lnTo>
                  <a:pt x="0" y="262128"/>
                </a:lnTo>
                <a:cubicBezTo>
                  <a:pt x="0" y="271272"/>
                  <a:pt x="7620" y="280416"/>
                  <a:pt x="18288" y="280416"/>
                </a:cubicBezTo>
                <a:lnTo>
                  <a:pt x="35052" y="280416"/>
                </a:lnTo>
                <a:lnTo>
                  <a:pt x="35052" y="403860"/>
                </a:lnTo>
                <a:cubicBezTo>
                  <a:pt x="35052" y="413004"/>
                  <a:pt x="42672" y="422148"/>
                  <a:pt x="53340" y="422148"/>
                </a:cubicBezTo>
                <a:lnTo>
                  <a:pt x="121920" y="422148"/>
                </a:lnTo>
                <a:cubicBezTo>
                  <a:pt x="131064" y="422148"/>
                  <a:pt x="140208" y="414528"/>
                  <a:pt x="140208" y="403860"/>
                </a:cubicBezTo>
                <a:lnTo>
                  <a:pt x="140208" y="371856"/>
                </a:lnTo>
                <a:cubicBezTo>
                  <a:pt x="129540" y="361188"/>
                  <a:pt x="121920" y="345948"/>
                  <a:pt x="121920" y="330708"/>
                </a:cubicBezTo>
                <a:lnTo>
                  <a:pt x="121920" y="204216"/>
                </a:lnTo>
                <a:cubicBezTo>
                  <a:pt x="121920" y="173736"/>
                  <a:pt x="144780" y="149352"/>
                  <a:pt x="173736" y="147828"/>
                </a:cubicBezTo>
                <a:lnTo>
                  <a:pt x="173736" y="146304"/>
                </a:lnTo>
                <a:cubicBezTo>
                  <a:pt x="173736" y="137160"/>
                  <a:pt x="166116" y="128016"/>
                  <a:pt x="155448" y="128016"/>
                </a:cubicBezTo>
                <a:lnTo>
                  <a:pt x="18288" y="128016"/>
                </a:lnTo>
                <a:cubicBezTo>
                  <a:pt x="7620" y="126492"/>
                  <a:pt x="0" y="134112"/>
                  <a:pt x="0" y="144780"/>
                </a:cubicBezTo>
                <a:close/>
              </a:path>
            </a:pathLst>
          </a:custGeom>
          <a:solidFill>
            <a:srgbClr val="B3D4FE"/>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648" name="子陵职场PPT2-21"/>
          <p:cNvSpPr/>
          <p:nvPr>
            <p:custDataLst>
              <p:tags r:id="rId6"/>
            </p:custDataLst>
          </p:nvPr>
        </p:nvSpPr>
        <p:spPr>
          <a:xfrm>
            <a:off x="8562975" y="4951095"/>
            <a:ext cx="334010" cy="258445"/>
          </a:xfrm>
          <a:custGeom>
            <a:avLst/>
            <a:gdLst>
              <a:gd name="connsiteX0" fmla="*/ 403050 w 567641"/>
              <a:gd name="connsiteY0" fmla="*/ 204216 h 438912"/>
              <a:gd name="connsiteX1" fmla="*/ 499062 w 567641"/>
              <a:gd name="connsiteY1" fmla="*/ 120396 h 438912"/>
              <a:gd name="connsiteX2" fmla="*/ 499062 w 567641"/>
              <a:gd name="connsiteY2" fmla="*/ 438912 h 438912"/>
              <a:gd name="connsiteX3" fmla="*/ 403050 w 567641"/>
              <a:gd name="connsiteY3" fmla="*/ 438912 h 438912"/>
              <a:gd name="connsiteX4" fmla="*/ 403050 w 567641"/>
              <a:gd name="connsiteY4" fmla="*/ 204216 h 438912"/>
              <a:gd name="connsiteX5" fmla="*/ 281130 w 567641"/>
              <a:gd name="connsiteY5" fmla="*/ 438912 h 438912"/>
              <a:gd name="connsiteX6" fmla="*/ 377142 w 567641"/>
              <a:gd name="connsiteY6" fmla="*/ 438912 h 438912"/>
              <a:gd name="connsiteX7" fmla="*/ 377142 w 567641"/>
              <a:gd name="connsiteY7" fmla="*/ 225552 h 438912"/>
              <a:gd name="connsiteX8" fmla="*/ 281130 w 567641"/>
              <a:gd name="connsiteY8" fmla="*/ 309372 h 438912"/>
              <a:gd name="connsiteX9" fmla="*/ 281130 w 567641"/>
              <a:gd name="connsiteY9" fmla="*/ 438912 h 438912"/>
              <a:gd name="connsiteX10" fmla="*/ 160734 w 567641"/>
              <a:gd name="connsiteY10" fmla="*/ 438912 h 438912"/>
              <a:gd name="connsiteX11" fmla="*/ 256745 w 567641"/>
              <a:gd name="connsiteY11" fmla="*/ 438912 h 438912"/>
              <a:gd name="connsiteX12" fmla="*/ 256745 w 567641"/>
              <a:gd name="connsiteY12" fmla="*/ 309372 h 438912"/>
              <a:gd name="connsiteX13" fmla="*/ 160734 w 567641"/>
              <a:gd name="connsiteY13" fmla="*/ 207264 h 438912"/>
              <a:gd name="connsiteX14" fmla="*/ 160734 w 567641"/>
              <a:gd name="connsiteY14" fmla="*/ 438912 h 438912"/>
              <a:gd name="connsiteX15" fmla="*/ 38814 w 567641"/>
              <a:gd name="connsiteY15" fmla="*/ 438912 h 438912"/>
              <a:gd name="connsiteX16" fmla="*/ 134825 w 567641"/>
              <a:gd name="connsiteY16" fmla="*/ 438912 h 438912"/>
              <a:gd name="connsiteX17" fmla="*/ 134825 w 567641"/>
              <a:gd name="connsiteY17" fmla="*/ 195072 h 438912"/>
              <a:gd name="connsiteX18" fmla="*/ 38814 w 567641"/>
              <a:gd name="connsiteY18" fmla="*/ 272796 h 438912"/>
              <a:gd name="connsiteX19" fmla="*/ 38814 w 567641"/>
              <a:gd name="connsiteY19" fmla="*/ 438912 h 438912"/>
              <a:gd name="connsiteX20" fmla="*/ 555450 w 567641"/>
              <a:gd name="connsiteY20" fmla="*/ 0 h 438912"/>
              <a:gd name="connsiteX21" fmla="*/ 464010 w 567641"/>
              <a:gd name="connsiteY21" fmla="*/ 0 h 438912"/>
              <a:gd name="connsiteX22" fmla="*/ 456390 w 567641"/>
              <a:gd name="connsiteY22" fmla="*/ 15240 h 438912"/>
              <a:gd name="connsiteX23" fmla="*/ 483822 w 567641"/>
              <a:gd name="connsiteY23" fmla="*/ 47244 h 438912"/>
              <a:gd name="connsiteX24" fmla="*/ 268938 w 567641"/>
              <a:gd name="connsiteY24" fmla="*/ 233172 h 438912"/>
              <a:gd name="connsiteX25" fmla="*/ 156162 w 567641"/>
              <a:gd name="connsiteY25" fmla="*/ 114300 h 438912"/>
              <a:gd name="connsiteX26" fmla="*/ 131778 w 567641"/>
              <a:gd name="connsiteY26" fmla="*/ 112776 h 438912"/>
              <a:gd name="connsiteX27" fmla="*/ 6809 w 567641"/>
              <a:gd name="connsiteY27" fmla="*/ 214884 h 438912"/>
              <a:gd name="connsiteX28" fmla="*/ 3762 w 567641"/>
              <a:gd name="connsiteY28" fmla="*/ 240792 h 438912"/>
              <a:gd name="connsiteX29" fmla="*/ 29669 w 567641"/>
              <a:gd name="connsiteY29" fmla="*/ 243840 h 438912"/>
              <a:gd name="connsiteX30" fmla="*/ 142445 w 567641"/>
              <a:gd name="connsiteY30" fmla="*/ 152400 h 438912"/>
              <a:gd name="connsiteX31" fmla="*/ 255222 w 567641"/>
              <a:gd name="connsiteY31" fmla="*/ 271272 h 438912"/>
              <a:gd name="connsiteX32" fmla="*/ 268938 w 567641"/>
              <a:gd name="connsiteY32" fmla="*/ 277368 h 438912"/>
              <a:gd name="connsiteX33" fmla="*/ 281130 w 567641"/>
              <a:gd name="connsiteY33" fmla="*/ 272796 h 438912"/>
              <a:gd name="connsiteX34" fmla="*/ 509730 w 567641"/>
              <a:gd name="connsiteY34" fmla="*/ 76200 h 438912"/>
              <a:gd name="connsiteX35" fmla="*/ 538685 w 567641"/>
              <a:gd name="connsiteY35" fmla="*/ 109728 h 438912"/>
              <a:gd name="connsiteX36" fmla="*/ 555450 w 567641"/>
              <a:gd name="connsiteY36" fmla="*/ 105156 h 438912"/>
              <a:gd name="connsiteX37" fmla="*/ 567642 w 567641"/>
              <a:gd name="connsiteY37" fmla="*/ 13716 h 438912"/>
              <a:gd name="connsiteX38" fmla="*/ 555450 w 567641"/>
              <a:gd name="connsiteY38" fmla="*/ 0 h 438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67641" h="438912">
                <a:moveTo>
                  <a:pt x="403050" y="204216"/>
                </a:moveTo>
                <a:lnTo>
                  <a:pt x="499062" y="120396"/>
                </a:lnTo>
                <a:lnTo>
                  <a:pt x="499062" y="438912"/>
                </a:lnTo>
                <a:lnTo>
                  <a:pt x="403050" y="438912"/>
                </a:lnTo>
                <a:lnTo>
                  <a:pt x="403050" y="204216"/>
                </a:lnTo>
                <a:close/>
                <a:moveTo>
                  <a:pt x="281130" y="438912"/>
                </a:moveTo>
                <a:lnTo>
                  <a:pt x="377142" y="438912"/>
                </a:lnTo>
                <a:lnTo>
                  <a:pt x="377142" y="225552"/>
                </a:lnTo>
                <a:lnTo>
                  <a:pt x="281130" y="309372"/>
                </a:lnTo>
                <a:lnTo>
                  <a:pt x="281130" y="438912"/>
                </a:lnTo>
                <a:close/>
                <a:moveTo>
                  <a:pt x="160734" y="438912"/>
                </a:moveTo>
                <a:lnTo>
                  <a:pt x="256745" y="438912"/>
                </a:lnTo>
                <a:lnTo>
                  <a:pt x="256745" y="309372"/>
                </a:lnTo>
                <a:lnTo>
                  <a:pt x="160734" y="207264"/>
                </a:lnTo>
                <a:lnTo>
                  <a:pt x="160734" y="438912"/>
                </a:lnTo>
                <a:close/>
                <a:moveTo>
                  <a:pt x="38814" y="438912"/>
                </a:moveTo>
                <a:lnTo>
                  <a:pt x="134825" y="438912"/>
                </a:lnTo>
                <a:lnTo>
                  <a:pt x="134825" y="195072"/>
                </a:lnTo>
                <a:lnTo>
                  <a:pt x="38814" y="272796"/>
                </a:lnTo>
                <a:lnTo>
                  <a:pt x="38814" y="438912"/>
                </a:lnTo>
                <a:close/>
                <a:moveTo>
                  <a:pt x="555450" y="0"/>
                </a:moveTo>
                <a:lnTo>
                  <a:pt x="464010" y="0"/>
                </a:lnTo>
                <a:cubicBezTo>
                  <a:pt x="456390" y="0"/>
                  <a:pt x="451818" y="9144"/>
                  <a:pt x="456390" y="15240"/>
                </a:cubicBezTo>
                <a:lnTo>
                  <a:pt x="483822" y="47244"/>
                </a:lnTo>
                <a:lnTo>
                  <a:pt x="268938" y="233172"/>
                </a:lnTo>
                <a:lnTo>
                  <a:pt x="156162" y="114300"/>
                </a:lnTo>
                <a:cubicBezTo>
                  <a:pt x="150065" y="108204"/>
                  <a:pt x="139398" y="106680"/>
                  <a:pt x="131778" y="112776"/>
                </a:cubicBezTo>
                <a:lnTo>
                  <a:pt x="6809" y="214884"/>
                </a:lnTo>
                <a:cubicBezTo>
                  <a:pt x="-811" y="220980"/>
                  <a:pt x="-2335" y="231648"/>
                  <a:pt x="3762" y="240792"/>
                </a:cubicBezTo>
                <a:cubicBezTo>
                  <a:pt x="9858" y="248412"/>
                  <a:pt x="20525" y="249936"/>
                  <a:pt x="29669" y="243840"/>
                </a:cubicBezTo>
                <a:lnTo>
                  <a:pt x="142445" y="152400"/>
                </a:lnTo>
                <a:lnTo>
                  <a:pt x="255222" y="271272"/>
                </a:lnTo>
                <a:cubicBezTo>
                  <a:pt x="258269" y="274320"/>
                  <a:pt x="262842" y="277368"/>
                  <a:pt x="268938" y="277368"/>
                </a:cubicBezTo>
                <a:cubicBezTo>
                  <a:pt x="273510" y="277368"/>
                  <a:pt x="276558" y="275844"/>
                  <a:pt x="281130" y="272796"/>
                </a:cubicBezTo>
                <a:lnTo>
                  <a:pt x="509730" y="76200"/>
                </a:lnTo>
                <a:lnTo>
                  <a:pt x="538685" y="109728"/>
                </a:lnTo>
                <a:cubicBezTo>
                  <a:pt x="543258" y="115824"/>
                  <a:pt x="553925" y="112776"/>
                  <a:pt x="555450" y="105156"/>
                </a:cubicBezTo>
                <a:lnTo>
                  <a:pt x="567642" y="13716"/>
                </a:lnTo>
                <a:cubicBezTo>
                  <a:pt x="564594" y="6096"/>
                  <a:pt x="561545" y="0"/>
                  <a:pt x="555450" y="0"/>
                </a:cubicBezTo>
                <a:close/>
              </a:path>
            </a:pathLst>
          </a:custGeom>
          <a:solidFill>
            <a:srgbClr val="B3D4FE"/>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sp>
        <p:nvSpPr>
          <p:cNvPr id="649" name="子陵职场PPT2-23"/>
          <p:cNvSpPr/>
          <p:nvPr>
            <p:custDataLst>
              <p:tags r:id="rId7"/>
            </p:custDataLst>
          </p:nvPr>
        </p:nvSpPr>
        <p:spPr>
          <a:xfrm>
            <a:off x="1020445" y="4930775"/>
            <a:ext cx="304800" cy="306705"/>
          </a:xfrm>
          <a:custGeom>
            <a:avLst/>
            <a:gdLst>
              <a:gd name="connsiteX0" fmla="*/ 577596 w 577595"/>
              <a:gd name="connsiteY0" fmla="*/ 89916 h 580644"/>
              <a:gd name="connsiteX1" fmla="*/ 505968 w 577595"/>
              <a:gd name="connsiteY1" fmla="*/ 71628 h 580644"/>
              <a:gd name="connsiteX2" fmla="*/ 486156 w 577595"/>
              <a:gd name="connsiteY2" fmla="*/ 0 h 580644"/>
              <a:gd name="connsiteX3" fmla="*/ 403860 w 577595"/>
              <a:gd name="connsiteY3" fmla="*/ 111252 h 580644"/>
              <a:gd name="connsiteX4" fmla="*/ 409956 w 577595"/>
              <a:gd name="connsiteY4" fmla="*/ 147828 h 580644"/>
              <a:gd name="connsiteX5" fmla="*/ 233172 w 577595"/>
              <a:gd name="connsiteY5" fmla="*/ 324612 h 580644"/>
              <a:gd name="connsiteX6" fmla="*/ 233172 w 577595"/>
              <a:gd name="connsiteY6" fmla="*/ 348996 h 580644"/>
              <a:gd name="connsiteX7" fmla="*/ 245364 w 577595"/>
              <a:gd name="connsiteY7" fmla="*/ 353568 h 580644"/>
              <a:gd name="connsiteX8" fmla="*/ 257556 w 577595"/>
              <a:gd name="connsiteY8" fmla="*/ 348996 h 580644"/>
              <a:gd name="connsiteX9" fmla="*/ 435864 w 577595"/>
              <a:gd name="connsiteY9" fmla="*/ 170688 h 580644"/>
              <a:gd name="connsiteX10" fmla="*/ 470916 w 577595"/>
              <a:gd name="connsiteY10" fmla="*/ 175260 h 580644"/>
              <a:gd name="connsiteX11" fmla="*/ 577596 w 577595"/>
              <a:gd name="connsiteY11" fmla="*/ 89916 h 580644"/>
              <a:gd name="connsiteX12" fmla="*/ 364236 w 577595"/>
              <a:gd name="connsiteY12" fmla="*/ 288036 h 580644"/>
              <a:gd name="connsiteX13" fmla="*/ 390144 w 577595"/>
              <a:gd name="connsiteY13" fmla="*/ 262128 h 580644"/>
              <a:gd name="connsiteX14" fmla="*/ 408432 w 577595"/>
              <a:gd name="connsiteY14" fmla="*/ 336804 h 580644"/>
              <a:gd name="connsiteX15" fmla="*/ 243840 w 577595"/>
              <a:gd name="connsiteY15" fmla="*/ 501396 h 580644"/>
              <a:gd name="connsiteX16" fmla="*/ 79248 w 577595"/>
              <a:gd name="connsiteY16" fmla="*/ 336804 h 580644"/>
              <a:gd name="connsiteX17" fmla="*/ 243840 w 577595"/>
              <a:gd name="connsiteY17" fmla="*/ 172212 h 580644"/>
              <a:gd name="connsiteX18" fmla="*/ 318516 w 577595"/>
              <a:gd name="connsiteY18" fmla="*/ 190500 h 580644"/>
              <a:gd name="connsiteX19" fmla="*/ 292608 w 577595"/>
              <a:gd name="connsiteY19" fmla="*/ 216408 h 580644"/>
              <a:gd name="connsiteX20" fmla="*/ 243840 w 577595"/>
              <a:gd name="connsiteY20" fmla="*/ 207264 h 580644"/>
              <a:gd name="connsiteX21" fmla="*/ 114300 w 577595"/>
              <a:gd name="connsiteY21" fmla="*/ 336804 h 580644"/>
              <a:gd name="connsiteX22" fmla="*/ 243840 w 577595"/>
              <a:gd name="connsiteY22" fmla="*/ 466344 h 580644"/>
              <a:gd name="connsiteX23" fmla="*/ 373380 w 577595"/>
              <a:gd name="connsiteY23" fmla="*/ 336804 h 580644"/>
              <a:gd name="connsiteX24" fmla="*/ 364236 w 577595"/>
              <a:gd name="connsiteY24" fmla="*/ 288036 h 580644"/>
              <a:gd name="connsiteX25" fmla="*/ 297180 w 577595"/>
              <a:gd name="connsiteY25" fmla="*/ 353568 h 580644"/>
              <a:gd name="connsiteX26" fmla="*/ 332232 w 577595"/>
              <a:gd name="connsiteY26" fmla="*/ 318516 h 580644"/>
              <a:gd name="connsiteX27" fmla="*/ 333756 w 577595"/>
              <a:gd name="connsiteY27" fmla="*/ 335280 h 580644"/>
              <a:gd name="connsiteX28" fmla="*/ 242316 w 577595"/>
              <a:gd name="connsiteY28" fmla="*/ 426720 h 580644"/>
              <a:gd name="connsiteX29" fmla="*/ 150876 w 577595"/>
              <a:gd name="connsiteY29" fmla="*/ 335280 h 580644"/>
              <a:gd name="connsiteX30" fmla="*/ 242316 w 577595"/>
              <a:gd name="connsiteY30" fmla="*/ 243840 h 580644"/>
              <a:gd name="connsiteX31" fmla="*/ 259080 w 577595"/>
              <a:gd name="connsiteY31" fmla="*/ 245364 h 580644"/>
              <a:gd name="connsiteX32" fmla="*/ 224028 w 577595"/>
              <a:gd name="connsiteY32" fmla="*/ 280416 h 580644"/>
              <a:gd name="connsiteX33" fmla="*/ 185928 w 577595"/>
              <a:gd name="connsiteY33" fmla="*/ 333756 h 580644"/>
              <a:gd name="connsiteX34" fmla="*/ 242316 w 577595"/>
              <a:gd name="connsiteY34" fmla="*/ 390144 h 580644"/>
              <a:gd name="connsiteX35" fmla="*/ 297180 w 577595"/>
              <a:gd name="connsiteY35" fmla="*/ 353568 h 580644"/>
              <a:gd name="connsiteX36" fmla="*/ 449580 w 577595"/>
              <a:gd name="connsiteY36" fmla="*/ 207264 h 580644"/>
              <a:gd name="connsiteX37" fmla="*/ 487680 w 577595"/>
              <a:gd name="connsiteY37" fmla="*/ 336804 h 580644"/>
              <a:gd name="connsiteX38" fmla="*/ 243840 w 577595"/>
              <a:gd name="connsiteY38" fmla="*/ 580644 h 580644"/>
              <a:gd name="connsiteX39" fmla="*/ 0 w 577595"/>
              <a:gd name="connsiteY39" fmla="*/ 336804 h 580644"/>
              <a:gd name="connsiteX40" fmla="*/ 243840 w 577595"/>
              <a:gd name="connsiteY40" fmla="*/ 92964 h 580644"/>
              <a:gd name="connsiteX41" fmla="*/ 371856 w 577595"/>
              <a:gd name="connsiteY41" fmla="*/ 129540 h 580644"/>
              <a:gd name="connsiteX42" fmla="*/ 373380 w 577595"/>
              <a:gd name="connsiteY42" fmla="*/ 135636 h 580644"/>
              <a:gd name="connsiteX43" fmla="*/ 352044 w 577595"/>
              <a:gd name="connsiteY43" fmla="*/ 156972 h 580644"/>
              <a:gd name="connsiteX44" fmla="*/ 245364 w 577595"/>
              <a:gd name="connsiteY44" fmla="*/ 126492 h 580644"/>
              <a:gd name="connsiteX45" fmla="*/ 36576 w 577595"/>
              <a:gd name="connsiteY45" fmla="*/ 335280 h 580644"/>
              <a:gd name="connsiteX46" fmla="*/ 245364 w 577595"/>
              <a:gd name="connsiteY46" fmla="*/ 544068 h 580644"/>
              <a:gd name="connsiteX47" fmla="*/ 454152 w 577595"/>
              <a:gd name="connsiteY47" fmla="*/ 335280 h 580644"/>
              <a:gd name="connsiteX48" fmla="*/ 423672 w 577595"/>
              <a:gd name="connsiteY48" fmla="*/ 227076 h 580644"/>
              <a:gd name="connsiteX49" fmla="*/ 446532 w 577595"/>
              <a:gd name="connsiteY49" fmla="*/ 204216 h 580644"/>
              <a:gd name="connsiteX50" fmla="*/ 449580 w 577595"/>
              <a:gd name="connsiteY50" fmla="*/ 207264 h 58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77595" h="580644">
                <a:moveTo>
                  <a:pt x="577596" y="89916"/>
                </a:moveTo>
                <a:lnTo>
                  <a:pt x="505968" y="71628"/>
                </a:lnTo>
                <a:lnTo>
                  <a:pt x="486156" y="0"/>
                </a:lnTo>
                <a:lnTo>
                  <a:pt x="403860" y="111252"/>
                </a:lnTo>
                <a:lnTo>
                  <a:pt x="409956" y="147828"/>
                </a:lnTo>
                <a:lnTo>
                  <a:pt x="233172" y="324612"/>
                </a:lnTo>
                <a:cubicBezTo>
                  <a:pt x="227076" y="330708"/>
                  <a:pt x="227076" y="341376"/>
                  <a:pt x="233172" y="348996"/>
                </a:cubicBezTo>
                <a:cubicBezTo>
                  <a:pt x="236220" y="352044"/>
                  <a:pt x="240792" y="353568"/>
                  <a:pt x="245364" y="353568"/>
                </a:cubicBezTo>
                <a:cubicBezTo>
                  <a:pt x="249936" y="353568"/>
                  <a:pt x="254508" y="352044"/>
                  <a:pt x="257556" y="348996"/>
                </a:cubicBezTo>
                <a:lnTo>
                  <a:pt x="435864" y="170688"/>
                </a:lnTo>
                <a:lnTo>
                  <a:pt x="470916" y="175260"/>
                </a:lnTo>
                <a:lnTo>
                  <a:pt x="577596" y="89916"/>
                </a:lnTo>
                <a:close/>
                <a:moveTo>
                  <a:pt x="364236" y="288036"/>
                </a:moveTo>
                <a:lnTo>
                  <a:pt x="390144" y="262128"/>
                </a:lnTo>
                <a:cubicBezTo>
                  <a:pt x="400812" y="284988"/>
                  <a:pt x="408432" y="309372"/>
                  <a:pt x="408432" y="336804"/>
                </a:cubicBezTo>
                <a:cubicBezTo>
                  <a:pt x="408432" y="426720"/>
                  <a:pt x="335280" y="501396"/>
                  <a:pt x="243840" y="501396"/>
                </a:cubicBezTo>
                <a:cubicBezTo>
                  <a:pt x="153924" y="501396"/>
                  <a:pt x="79248" y="428244"/>
                  <a:pt x="79248" y="336804"/>
                </a:cubicBezTo>
                <a:cubicBezTo>
                  <a:pt x="79248" y="246888"/>
                  <a:pt x="152400" y="172212"/>
                  <a:pt x="243840" y="172212"/>
                </a:cubicBezTo>
                <a:cubicBezTo>
                  <a:pt x="269748" y="172212"/>
                  <a:pt x="295656" y="178308"/>
                  <a:pt x="318516" y="190500"/>
                </a:cubicBezTo>
                <a:lnTo>
                  <a:pt x="292608" y="216408"/>
                </a:lnTo>
                <a:cubicBezTo>
                  <a:pt x="277368" y="210312"/>
                  <a:pt x="262128" y="207264"/>
                  <a:pt x="243840" y="207264"/>
                </a:cubicBezTo>
                <a:cubicBezTo>
                  <a:pt x="172212" y="207264"/>
                  <a:pt x="114300" y="265176"/>
                  <a:pt x="114300" y="336804"/>
                </a:cubicBezTo>
                <a:cubicBezTo>
                  <a:pt x="114300" y="408432"/>
                  <a:pt x="172212" y="466344"/>
                  <a:pt x="243840" y="466344"/>
                </a:cubicBezTo>
                <a:cubicBezTo>
                  <a:pt x="315468" y="466344"/>
                  <a:pt x="373380" y="408432"/>
                  <a:pt x="373380" y="336804"/>
                </a:cubicBezTo>
                <a:cubicBezTo>
                  <a:pt x="373380" y="318516"/>
                  <a:pt x="368808" y="301752"/>
                  <a:pt x="364236" y="288036"/>
                </a:cubicBezTo>
                <a:close/>
                <a:moveTo>
                  <a:pt x="297180" y="353568"/>
                </a:moveTo>
                <a:lnTo>
                  <a:pt x="332232" y="318516"/>
                </a:lnTo>
                <a:cubicBezTo>
                  <a:pt x="333756" y="324612"/>
                  <a:pt x="333756" y="329184"/>
                  <a:pt x="333756" y="335280"/>
                </a:cubicBezTo>
                <a:cubicBezTo>
                  <a:pt x="333756" y="385572"/>
                  <a:pt x="292608" y="426720"/>
                  <a:pt x="242316" y="426720"/>
                </a:cubicBezTo>
                <a:cubicBezTo>
                  <a:pt x="192024" y="426720"/>
                  <a:pt x="150876" y="385572"/>
                  <a:pt x="150876" y="335280"/>
                </a:cubicBezTo>
                <a:cubicBezTo>
                  <a:pt x="150876" y="284988"/>
                  <a:pt x="192024" y="243840"/>
                  <a:pt x="242316" y="243840"/>
                </a:cubicBezTo>
                <a:cubicBezTo>
                  <a:pt x="248412" y="243840"/>
                  <a:pt x="254508" y="243840"/>
                  <a:pt x="259080" y="245364"/>
                </a:cubicBezTo>
                <a:lnTo>
                  <a:pt x="224028" y="280416"/>
                </a:lnTo>
                <a:cubicBezTo>
                  <a:pt x="201168" y="288036"/>
                  <a:pt x="185928" y="309372"/>
                  <a:pt x="185928" y="333756"/>
                </a:cubicBezTo>
                <a:cubicBezTo>
                  <a:pt x="185928" y="365760"/>
                  <a:pt x="211836" y="390144"/>
                  <a:pt x="242316" y="390144"/>
                </a:cubicBezTo>
                <a:cubicBezTo>
                  <a:pt x="268224" y="393192"/>
                  <a:pt x="289560" y="376428"/>
                  <a:pt x="297180" y="353568"/>
                </a:cubicBezTo>
                <a:close/>
                <a:moveTo>
                  <a:pt x="449580" y="207264"/>
                </a:moveTo>
                <a:cubicBezTo>
                  <a:pt x="473964" y="245364"/>
                  <a:pt x="487680" y="289560"/>
                  <a:pt x="487680" y="336804"/>
                </a:cubicBezTo>
                <a:cubicBezTo>
                  <a:pt x="487680" y="470916"/>
                  <a:pt x="377952" y="580644"/>
                  <a:pt x="243840" y="580644"/>
                </a:cubicBezTo>
                <a:cubicBezTo>
                  <a:pt x="109728" y="580644"/>
                  <a:pt x="0" y="470916"/>
                  <a:pt x="0" y="336804"/>
                </a:cubicBezTo>
                <a:cubicBezTo>
                  <a:pt x="0" y="202692"/>
                  <a:pt x="109728" y="92964"/>
                  <a:pt x="243840" y="92964"/>
                </a:cubicBezTo>
                <a:cubicBezTo>
                  <a:pt x="291084" y="92964"/>
                  <a:pt x="333756" y="106680"/>
                  <a:pt x="371856" y="129540"/>
                </a:cubicBezTo>
                <a:lnTo>
                  <a:pt x="373380" y="135636"/>
                </a:lnTo>
                <a:lnTo>
                  <a:pt x="352044" y="156972"/>
                </a:lnTo>
                <a:cubicBezTo>
                  <a:pt x="320040" y="138684"/>
                  <a:pt x="283464" y="126492"/>
                  <a:pt x="245364" y="126492"/>
                </a:cubicBezTo>
                <a:cubicBezTo>
                  <a:pt x="129540" y="126492"/>
                  <a:pt x="36576" y="220980"/>
                  <a:pt x="36576" y="335280"/>
                </a:cubicBezTo>
                <a:cubicBezTo>
                  <a:pt x="36576" y="451104"/>
                  <a:pt x="131064" y="544068"/>
                  <a:pt x="245364" y="544068"/>
                </a:cubicBezTo>
                <a:cubicBezTo>
                  <a:pt x="361188" y="544068"/>
                  <a:pt x="454152" y="449580"/>
                  <a:pt x="454152" y="335280"/>
                </a:cubicBezTo>
                <a:cubicBezTo>
                  <a:pt x="454152" y="295656"/>
                  <a:pt x="443484" y="259080"/>
                  <a:pt x="423672" y="227076"/>
                </a:cubicBezTo>
                <a:lnTo>
                  <a:pt x="446532" y="204216"/>
                </a:lnTo>
                <a:lnTo>
                  <a:pt x="449580" y="207264"/>
                </a:lnTo>
                <a:close/>
              </a:path>
            </a:pathLst>
          </a:custGeom>
          <a:solidFill>
            <a:srgbClr val="B3D4FE"/>
          </a:solidFill>
          <a:ln w="15240" cap="flat">
            <a:noFill/>
            <a:prstDash val="solid"/>
            <a:miter/>
          </a:ln>
        </p:spPr>
        <p:txBody>
          <a:bodyPr rtlCol="0" anchor="ctr" lIns="0" rIns="0" tIns="0" bIns="0"/>
          <a:lstStyle/>
          <a:p>
            <a:pPr>
              <a:defRPr>
                <a:latin typeface="微软雅黑"/>
                <a:ea typeface="微软雅黑"/>
                <a:cs typeface="微软雅黑"/>
              </a:defRPr>
            </a:pPr>
            <a:endParaRPr lang="zh-CN" altLang="en-US" b="1">
              <a:latin typeface="微软雅黑"/>
              <a:ea typeface="微软雅黑"/>
              <a:cs typeface="微软雅黑"/>
            </a:endParaRPr>
          </a:p>
        </p:txBody>
      </p:sp>
      <p:grpSp>
        <p:nvGrpSpPr>
          <p:cNvPr id="650" name="组合 649"/>
          <p:cNvGrpSpPr/>
          <p:nvPr/>
        </p:nvGrpSpPr>
        <p:grpSpPr>
          <a:xfrm>
            <a:off x="8569960" y="1282065"/>
            <a:ext cx="238125" cy="220345"/>
            <a:chOff x="4550523" y="3963854"/>
            <a:chExt cx="345838" cy="320017"/>
          </a:xfrm>
          <a:solidFill>
            <a:srgbClr val="3368FF"/>
          </a:solidFill>
        </p:grpSpPr>
        <p:sp>
          <p:nvSpPr>
            <p:cNvPr id="651" name="任意多边形: 形状 44"/>
            <p:cNvSpPr/>
            <p:nvPr/>
          </p:nvSpPr>
          <p:spPr>
            <a:xfrm>
              <a:off x="4550523" y="3963854"/>
              <a:ext cx="101623" cy="218086"/>
            </a:xfrm>
            <a:custGeom>
              <a:avLst/>
              <a:gdLst>
                <a:gd name="connsiteX0" fmla="*/ 12215 w 101623"/>
                <a:gd name="connsiteY0" fmla="*/ 0 h 218086"/>
                <a:gd name="connsiteX1" fmla="*/ 89446 w 101623"/>
                <a:gd name="connsiteY1" fmla="*/ 0 h 218086"/>
                <a:gd name="connsiteX2" fmla="*/ 101622 w 101623"/>
                <a:gd name="connsiteY2" fmla="*/ 13374 h 218086"/>
                <a:gd name="connsiteX3" fmla="*/ 101622 w 101623"/>
                <a:gd name="connsiteY3" fmla="*/ 218086 h 218086"/>
                <a:gd name="connsiteX4" fmla="*/ 0 w 101623"/>
                <a:gd name="connsiteY4" fmla="*/ 218086 h 218086"/>
                <a:gd name="connsiteX5" fmla="*/ 0 w 101623"/>
                <a:gd name="connsiteY5" fmla="*/ 13336 h 218086"/>
                <a:gd name="connsiteX6" fmla="*/ 12215 w 101623"/>
                <a:gd name="connsiteY6" fmla="*/ 0 h 218086"/>
                <a:gd name="connsiteX7" fmla="*/ 50637 w 101623"/>
                <a:gd name="connsiteY7" fmla="*/ 60648 h 218086"/>
                <a:gd name="connsiteX8" fmla="*/ 30034 w 101623"/>
                <a:gd name="connsiteY8" fmla="*/ 81251 h 218086"/>
                <a:gd name="connsiteX9" fmla="*/ 50637 w 101623"/>
                <a:gd name="connsiteY9" fmla="*/ 101853 h 218086"/>
                <a:gd name="connsiteX10" fmla="*/ 71240 w 101623"/>
                <a:gd name="connsiteY10" fmla="*/ 81251 h 218086"/>
                <a:gd name="connsiteX11" fmla="*/ 50637 w 101623"/>
                <a:gd name="connsiteY11" fmla="*/ 60648 h 21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623" h="218086">
                  <a:moveTo>
                    <a:pt x="12215" y="0"/>
                  </a:moveTo>
                  <a:lnTo>
                    <a:pt x="89446" y="0"/>
                  </a:lnTo>
                  <a:cubicBezTo>
                    <a:pt x="96171" y="0"/>
                    <a:pt x="101660" y="5991"/>
                    <a:pt x="101622" y="13374"/>
                  </a:cubicBezTo>
                  <a:lnTo>
                    <a:pt x="101622" y="218086"/>
                  </a:lnTo>
                  <a:lnTo>
                    <a:pt x="0" y="218086"/>
                  </a:lnTo>
                  <a:lnTo>
                    <a:pt x="0" y="13336"/>
                  </a:lnTo>
                  <a:cubicBezTo>
                    <a:pt x="0" y="5991"/>
                    <a:pt x="5489" y="0"/>
                    <a:pt x="12215" y="0"/>
                  </a:cubicBezTo>
                  <a:close/>
                  <a:moveTo>
                    <a:pt x="50637" y="60648"/>
                  </a:moveTo>
                  <a:cubicBezTo>
                    <a:pt x="39234" y="60648"/>
                    <a:pt x="30034" y="69848"/>
                    <a:pt x="30034" y="81251"/>
                  </a:cubicBezTo>
                  <a:cubicBezTo>
                    <a:pt x="30034" y="92654"/>
                    <a:pt x="39273" y="101853"/>
                    <a:pt x="50637" y="101853"/>
                  </a:cubicBezTo>
                  <a:cubicBezTo>
                    <a:pt x="62001" y="101853"/>
                    <a:pt x="71240" y="92654"/>
                    <a:pt x="71240" y="81251"/>
                  </a:cubicBezTo>
                  <a:cubicBezTo>
                    <a:pt x="71240" y="69848"/>
                    <a:pt x="62040" y="60648"/>
                    <a:pt x="50637" y="60648"/>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52" name="任意多边形: 形状 45"/>
            <p:cNvSpPr/>
            <p:nvPr/>
          </p:nvSpPr>
          <p:spPr>
            <a:xfrm>
              <a:off x="4672631" y="3963854"/>
              <a:ext cx="101660" cy="218086"/>
            </a:xfrm>
            <a:custGeom>
              <a:avLst/>
              <a:gdLst>
                <a:gd name="connsiteX0" fmla="*/ 12215 w 101660"/>
                <a:gd name="connsiteY0" fmla="*/ 0 h 218086"/>
                <a:gd name="connsiteX1" fmla="*/ 89446 w 101660"/>
                <a:gd name="connsiteY1" fmla="*/ 0 h 218086"/>
                <a:gd name="connsiteX2" fmla="*/ 101660 w 101660"/>
                <a:gd name="connsiteY2" fmla="*/ 13374 h 218086"/>
                <a:gd name="connsiteX3" fmla="*/ 101660 w 101660"/>
                <a:gd name="connsiteY3" fmla="*/ 218086 h 218086"/>
                <a:gd name="connsiteX4" fmla="*/ 0 w 101660"/>
                <a:gd name="connsiteY4" fmla="*/ 218086 h 218086"/>
                <a:gd name="connsiteX5" fmla="*/ 0 w 101660"/>
                <a:gd name="connsiteY5" fmla="*/ 13336 h 218086"/>
                <a:gd name="connsiteX6" fmla="*/ 12215 w 101660"/>
                <a:gd name="connsiteY6" fmla="*/ 0 h 218086"/>
                <a:gd name="connsiteX7" fmla="*/ 50637 w 101660"/>
                <a:gd name="connsiteY7" fmla="*/ 60687 h 218086"/>
                <a:gd name="connsiteX8" fmla="*/ 30034 w 101660"/>
                <a:gd name="connsiteY8" fmla="*/ 81251 h 218086"/>
                <a:gd name="connsiteX9" fmla="*/ 50637 w 101660"/>
                <a:gd name="connsiteY9" fmla="*/ 101853 h 218086"/>
                <a:gd name="connsiteX10" fmla="*/ 71240 w 101660"/>
                <a:gd name="connsiteY10" fmla="*/ 81289 h 218086"/>
                <a:gd name="connsiteX11" fmla="*/ 50637 w 101660"/>
                <a:gd name="connsiteY11" fmla="*/ 60687 h 21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660" h="218086">
                  <a:moveTo>
                    <a:pt x="12215" y="0"/>
                  </a:moveTo>
                  <a:lnTo>
                    <a:pt x="89446" y="0"/>
                  </a:lnTo>
                  <a:cubicBezTo>
                    <a:pt x="96172" y="0"/>
                    <a:pt x="101660" y="5991"/>
                    <a:pt x="101660" y="13374"/>
                  </a:cubicBezTo>
                  <a:lnTo>
                    <a:pt x="101660" y="218086"/>
                  </a:lnTo>
                  <a:lnTo>
                    <a:pt x="0" y="218086"/>
                  </a:lnTo>
                  <a:lnTo>
                    <a:pt x="0" y="13336"/>
                  </a:lnTo>
                  <a:cubicBezTo>
                    <a:pt x="0" y="5991"/>
                    <a:pt x="5489" y="0"/>
                    <a:pt x="12215" y="0"/>
                  </a:cubicBezTo>
                  <a:close/>
                  <a:moveTo>
                    <a:pt x="50637" y="60687"/>
                  </a:moveTo>
                  <a:cubicBezTo>
                    <a:pt x="39273" y="60687"/>
                    <a:pt x="30034" y="69848"/>
                    <a:pt x="30034" y="81251"/>
                  </a:cubicBezTo>
                  <a:cubicBezTo>
                    <a:pt x="30034" y="92654"/>
                    <a:pt x="39273" y="101853"/>
                    <a:pt x="50637" y="101853"/>
                  </a:cubicBezTo>
                  <a:cubicBezTo>
                    <a:pt x="62001" y="101853"/>
                    <a:pt x="71240" y="92692"/>
                    <a:pt x="71240" y="81289"/>
                  </a:cubicBezTo>
                  <a:cubicBezTo>
                    <a:pt x="71240" y="69887"/>
                    <a:pt x="62001" y="60687"/>
                    <a:pt x="50637" y="60687"/>
                  </a:cubicBezTo>
                  <a:close/>
                </a:path>
              </a:pathLst>
            </a:custGeom>
            <a:grpFill/>
          </p:spPr>
          <p:style>
            <a:lnRef idx="0">
              <a:srgbClr val="FFFFFF"/>
            </a:lnRef>
            <a:fillRef idx="1">
              <a:srgbClr val="0042FF"/>
            </a:fillRef>
            <a:effectRef idx="0">
              <a:srgbClr val="FFFFFF"/>
            </a:effectRef>
            <a:fontRef idx="minor">
              <a:srgbClr val="FFFFFF"/>
            </a:fontRef>
          </p:style>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53" name="任意多边形: 形状 46"/>
            <p:cNvSpPr/>
            <p:nvPr/>
          </p:nvSpPr>
          <p:spPr>
            <a:xfrm>
              <a:off x="4794739" y="3963854"/>
              <a:ext cx="101622" cy="218086"/>
            </a:xfrm>
            <a:custGeom>
              <a:avLst/>
              <a:gdLst>
                <a:gd name="connsiteX0" fmla="*/ 12215 w 101622"/>
                <a:gd name="connsiteY0" fmla="*/ 0 h 218086"/>
                <a:gd name="connsiteX1" fmla="*/ 89446 w 101622"/>
                <a:gd name="connsiteY1" fmla="*/ 0 h 218086"/>
                <a:gd name="connsiteX2" fmla="*/ 101622 w 101622"/>
                <a:gd name="connsiteY2" fmla="*/ 13374 h 218086"/>
                <a:gd name="connsiteX3" fmla="*/ 101622 w 101622"/>
                <a:gd name="connsiteY3" fmla="*/ 218086 h 218086"/>
                <a:gd name="connsiteX4" fmla="*/ 0 w 101622"/>
                <a:gd name="connsiteY4" fmla="*/ 218086 h 218086"/>
                <a:gd name="connsiteX5" fmla="*/ 0 w 101622"/>
                <a:gd name="connsiteY5" fmla="*/ 13336 h 218086"/>
                <a:gd name="connsiteX6" fmla="*/ 12215 w 101622"/>
                <a:gd name="connsiteY6" fmla="*/ 0 h 218086"/>
                <a:gd name="connsiteX7" fmla="*/ 50637 w 101622"/>
                <a:gd name="connsiteY7" fmla="*/ 60648 h 218086"/>
                <a:gd name="connsiteX8" fmla="*/ 30034 w 101622"/>
                <a:gd name="connsiteY8" fmla="*/ 81251 h 218086"/>
                <a:gd name="connsiteX9" fmla="*/ 50637 w 101622"/>
                <a:gd name="connsiteY9" fmla="*/ 101853 h 218086"/>
                <a:gd name="connsiteX10" fmla="*/ 71240 w 101622"/>
                <a:gd name="connsiteY10" fmla="*/ 81251 h 218086"/>
                <a:gd name="connsiteX11" fmla="*/ 50637 w 101622"/>
                <a:gd name="connsiteY11" fmla="*/ 60648 h 21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622" h="218086">
                  <a:moveTo>
                    <a:pt x="12215" y="0"/>
                  </a:moveTo>
                  <a:lnTo>
                    <a:pt x="89446" y="0"/>
                  </a:lnTo>
                  <a:cubicBezTo>
                    <a:pt x="96210" y="0"/>
                    <a:pt x="101661" y="5991"/>
                    <a:pt x="101622" y="13374"/>
                  </a:cubicBezTo>
                  <a:lnTo>
                    <a:pt x="101622" y="218086"/>
                  </a:lnTo>
                  <a:lnTo>
                    <a:pt x="0" y="218086"/>
                  </a:lnTo>
                  <a:lnTo>
                    <a:pt x="0" y="13336"/>
                  </a:lnTo>
                  <a:cubicBezTo>
                    <a:pt x="0" y="5991"/>
                    <a:pt x="5489" y="0"/>
                    <a:pt x="12215" y="0"/>
                  </a:cubicBezTo>
                  <a:close/>
                  <a:moveTo>
                    <a:pt x="50637" y="60648"/>
                  </a:moveTo>
                  <a:cubicBezTo>
                    <a:pt x="39234" y="60648"/>
                    <a:pt x="30034" y="69848"/>
                    <a:pt x="30034" y="81251"/>
                  </a:cubicBezTo>
                  <a:cubicBezTo>
                    <a:pt x="30034" y="92654"/>
                    <a:pt x="39273" y="101853"/>
                    <a:pt x="50637" y="101853"/>
                  </a:cubicBezTo>
                  <a:cubicBezTo>
                    <a:pt x="62001" y="101853"/>
                    <a:pt x="71240" y="92654"/>
                    <a:pt x="71240" y="81251"/>
                  </a:cubicBezTo>
                  <a:cubicBezTo>
                    <a:pt x="71240" y="69848"/>
                    <a:pt x="62040" y="60648"/>
                    <a:pt x="50637" y="60648"/>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54" name="任意多边形: 形状 47"/>
            <p:cNvSpPr/>
            <p:nvPr/>
          </p:nvSpPr>
          <p:spPr>
            <a:xfrm>
              <a:off x="4550523" y="4204244"/>
              <a:ext cx="101622" cy="79627"/>
            </a:xfrm>
            <a:custGeom>
              <a:avLst/>
              <a:gdLst>
                <a:gd name="connsiteX0" fmla="*/ 0 w 101622"/>
                <a:gd name="connsiteY0" fmla="*/ 0 h 79627"/>
                <a:gd name="connsiteX1" fmla="*/ 101622 w 101622"/>
                <a:gd name="connsiteY1" fmla="*/ 0 h 79627"/>
                <a:gd name="connsiteX2" fmla="*/ 101622 w 101622"/>
                <a:gd name="connsiteY2" fmla="*/ 66253 h 79627"/>
                <a:gd name="connsiteX3" fmla="*/ 89407 w 101622"/>
                <a:gd name="connsiteY3" fmla="*/ 79627 h 79627"/>
                <a:gd name="connsiteX4" fmla="*/ 12176 w 101622"/>
                <a:gd name="connsiteY4" fmla="*/ 79627 h 79627"/>
                <a:gd name="connsiteX5" fmla="*/ 3556 w 101622"/>
                <a:gd name="connsiteY5" fmla="*/ 75723 h 79627"/>
                <a:gd name="connsiteX6" fmla="*/ 0 w 101622"/>
                <a:gd name="connsiteY6" fmla="*/ 66292 h 79627"/>
                <a:gd name="connsiteX7" fmla="*/ 0 w 101622"/>
                <a:gd name="connsiteY7" fmla="*/ 0 h 7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22" h="79627">
                  <a:moveTo>
                    <a:pt x="0" y="0"/>
                  </a:moveTo>
                  <a:lnTo>
                    <a:pt x="101622" y="0"/>
                  </a:lnTo>
                  <a:lnTo>
                    <a:pt x="101622" y="66253"/>
                  </a:lnTo>
                  <a:cubicBezTo>
                    <a:pt x="101622" y="73636"/>
                    <a:pt x="96133" y="79627"/>
                    <a:pt x="89407" y="79627"/>
                  </a:cubicBezTo>
                  <a:lnTo>
                    <a:pt x="12176" y="79627"/>
                  </a:lnTo>
                  <a:cubicBezTo>
                    <a:pt x="8929" y="79627"/>
                    <a:pt x="5837" y="78236"/>
                    <a:pt x="3556" y="75723"/>
                  </a:cubicBezTo>
                  <a:cubicBezTo>
                    <a:pt x="1276" y="73249"/>
                    <a:pt x="0" y="69848"/>
                    <a:pt x="0" y="66292"/>
                  </a:cubicBezTo>
                  <a:lnTo>
                    <a:pt x="0"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55" name="任意多边形: 形状 48"/>
            <p:cNvSpPr/>
            <p:nvPr/>
          </p:nvSpPr>
          <p:spPr>
            <a:xfrm>
              <a:off x="4672631" y="4204244"/>
              <a:ext cx="101622" cy="79627"/>
            </a:xfrm>
            <a:custGeom>
              <a:avLst/>
              <a:gdLst>
                <a:gd name="connsiteX0" fmla="*/ 0 w 101622"/>
                <a:gd name="connsiteY0" fmla="*/ 0 h 79627"/>
                <a:gd name="connsiteX1" fmla="*/ 101622 w 101622"/>
                <a:gd name="connsiteY1" fmla="*/ 0 h 79627"/>
                <a:gd name="connsiteX2" fmla="*/ 101622 w 101622"/>
                <a:gd name="connsiteY2" fmla="*/ 66253 h 79627"/>
                <a:gd name="connsiteX3" fmla="*/ 89407 w 101622"/>
                <a:gd name="connsiteY3" fmla="*/ 79627 h 79627"/>
                <a:gd name="connsiteX4" fmla="*/ 12176 w 101622"/>
                <a:gd name="connsiteY4" fmla="*/ 79627 h 79627"/>
                <a:gd name="connsiteX5" fmla="*/ 3556 w 101622"/>
                <a:gd name="connsiteY5" fmla="*/ 75723 h 79627"/>
                <a:gd name="connsiteX6" fmla="*/ 0 w 101622"/>
                <a:gd name="connsiteY6" fmla="*/ 66292 h 79627"/>
                <a:gd name="connsiteX7" fmla="*/ 0 w 101622"/>
                <a:gd name="connsiteY7" fmla="*/ 0 h 7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22" h="79627">
                  <a:moveTo>
                    <a:pt x="0" y="0"/>
                  </a:moveTo>
                  <a:lnTo>
                    <a:pt x="101622" y="0"/>
                  </a:lnTo>
                  <a:lnTo>
                    <a:pt x="101622" y="66253"/>
                  </a:lnTo>
                  <a:cubicBezTo>
                    <a:pt x="101622" y="73636"/>
                    <a:pt x="96133" y="79627"/>
                    <a:pt x="89407" y="79627"/>
                  </a:cubicBezTo>
                  <a:lnTo>
                    <a:pt x="12176" y="79627"/>
                  </a:lnTo>
                  <a:cubicBezTo>
                    <a:pt x="8929" y="79627"/>
                    <a:pt x="5837" y="78236"/>
                    <a:pt x="3556" y="75723"/>
                  </a:cubicBezTo>
                  <a:cubicBezTo>
                    <a:pt x="1276" y="73249"/>
                    <a:pt x="0" y="69848"/>
                    <a:pt x="0" y="66292"/>
                  </a:cubicBezTo>
                  <a:lnTo>
                    <a:pt x="0" y="0"/>
                  </a:lnTo>
                  <a:close/>
                </a:path>
              </a:pathLst>
            </a:custGeom>
            <a:grpFill/>
          </p:spPr>
          <p:style>
            <a:lnRef idx="0">
              <a:srgbClr val="FFFFFF"/>
            </a:lnRef>
            <a:fillRef idx="1">
              <a:srgbClr val="0042FF"/>
            </a:fillRef>
            <a:effectRef idx="0">
              <a:srgbClr val="FFFFFF"/>
            </a:effectRef>
            <a:fontRef idx="minor">
              <a:srgbClr val="FFFFFF"/>
            </a:fontRef>
          </p:style>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56" name="任意多边形: 形状 49"/>
            <p:cNvSpPr/>
            <p:nvPr/>
          </p:nvSpPr>
          <p:spPr>
            <a:xfrm>
              <a:off x="4794739" y="4204244"/>
              <a:ext cx="101622" cy="79627"/>
            </a:xfrm>
            <a:custGeom>
              <a:avLst/>
              <a:gdLst>
                <a:gd name="connsiteX0" fmla="*/ 0 w 101622"/>
                <a:gd name="connsiteY0" fmla="*/ 0 h 79627"/>
                <a:gd name="connsiteX1" fmla="*/ 101622 w 101622"/>
                <a:gd name="connsiteY1" fmla="*/ 0 h 79627"/>
                <a:gd name="connsiteX2" fmla="*/ 101622 w 101622"/>
                <a:gd name="connsiteY2" fmla="*/ 66253 h 79627"/>
                <a:gd name="connsiteX3" fmla="*/ 89407 w 101622"/>
                <a:gd name="connsiteY3" fmla="*/ 79627 h 79627"/>
                <a:gd name="connsiteX4" fmla="*/ 12176 w 101622"/>
                <a:gd name="connsiteY4" fmla="*/ 79627 h 79627"/>
                <a:gd name="connsiteX5" fmla="*/ 3556 w 101622"/>
                <a:gd name="connsiteY5" fmla="*/ 75723 h 79627"/>
                <a:gd name="connsiteX6" fmla="*/ 0 w 101622"/>
                <a:gd name="connsiteY6" fmla="*/ 66292 h 79627"/>
                <a:gd name="connsiteX7" fmla="*/ 0 w 101622"/>
                <a:gd name="connsiteY7" fmla="*/ 0 h 7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22" h="79627">
                  <a:moveTo>
                    <a:pt x="0" y="0"/>
                  </a:moveTo>
                  <a:lnTo>
                    <a:pt x="101622" y="0"/>
                  </a:lnTo>
                  <a:lnTo>
                    <a:pt x="101622" y="66253"/>
                  </a:lnTo>
                  <a:cubicBezTo>
                    <a:pt x="101622" y="73636"/>
                    <a:pt x="96133" y="79627"/>
                    <a:pt x="89407" y="79627"/>
                  </a:cubicBezTo>
                  <a:lnTo>
                    <a:pt x="12176" y="79627"/>
                  </a:lnTo>
                  <a:cubicBezTo>
                    <a:pt x="8929" y="79627"/>
                    <a:pt x="5837" y="78236"/>
                    <a:pt x="3556" y="75723"/>
                  </a:cubicBezTo>
                  <a:cubicBezTo>
                    <a:pt x="1276" y="73249"/>
                    <a:pt x="0" y="69848"/>
                    <a:pt x="0" y="66292"/>
                  </a:cubicBezTo>
                  <a:lnTo>
                    <a:pt x="0"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657" name="组合 656"/>
          <p:cNvGrpSpPr/>
          <p:nvPr/>
        </p:nvGrpSpPr>
        <p:grpSpPr>
          <a:xfrm>
            <a:off x="4789170" y="1263015"/>
            <a:ext cx="270510" cy="214630"/>
            <a:chOff x="5263120" y="2846747"/>
            <a:chExt cx="1665944" cy="1227387"/>
          </a:xfrm>
          <a:solidFill>
            <a:srgbClr val="3368FF"/>
          </a:solidFill>
        </p:grpSpPr>
        <p:grpSp>
          <p:nvGrpSpPr>
            <p:cNvPr id="658" name="组合 657"/>
            <p:cNvGrpSpPr/>
            <p:nvPr/>
          </p:nvGrpSpPr>
          <p:grpSpPr>
            <a:xfrm>
              <a:off x="5469433" y="2846747"/>
              <a:ext cx="1241972" cy="703176"/>
              <a:chOff x="5469433" y="2846747"/>
              <a:chExt cx="1241972" cy="703176"/>
            </a:xfrm>
            <a:grpFill/>
          </p:grpSpPr>
          <p:sp>
            <p:nvSpPr>
              <p:cNvPr id="659" name="任意多边形: 形状 54"/>
              <p:cNvSpPr/>
              <p:nvPr/>
            </p:nvSpPr>
            <p:spPr>
              <a:xfrm>
                <a:off x="5469433" y="2846747"/>
                <a:ext cx="1241971" cy="123341"/>
              </a:xfrm>
              <a:custGeom>
                <a:avLst/>
                <a:gdLst>
                  <a:gd name="connsiteX0" fmla="*/ 47067 w 1241971"/>
                  <a:gd name="connsiteY0" fmla="*/ 0 h 123341"/>
                  <a:gd name="connsiteX1" fmla="*/ 1196578 w 1241971"/>
                  <a:gd name="connsiteY1" fmla="*/ 0 h 123341"/>
                  <a:gd name="connsiteX2" fmla="*/ 1241971 w 1241971"/>
                  <a:gd name="connsiteY2" fmla="*/ 59717 h 123341"/>
                  <a:gd name="connsiteX3" fmla="*/ 1241971 w 1241971"/>
                  <a:gd name="connsiteY3" fmla="*/ 61764 h 123341"/>
                  <a:gd name="connsiteX4" fmla="*/ 1194904 w 1241971"/>
                  <a:gd name="connsiteY4" fmla="*/ 123341 h 123341"/>
                  <a:gd name="connsiteX5" fmla="*/ 47067 w 1241971"/>
                  <a:gd name="connsiteY5" fmla="*/ 123341 h 123341"/>
                  <a:gd name="connsiteX6" fmla="*/ 47067 w 1241971"/>
                  <a:gd name="connsiteY6" fmla="*/ 123155 h 123341"/>
                  <a:gd name="connsiteX7" fmla="*/ 0 w 1241971"/>
                  <a:gd name="connsiteY7" fmla="*/ 61578 h 123341"/>
                  <a:gd name="connsiteX8" fmla="*/ 47067 w 1241971"/>
                  <a:gd name="connsiteY8" fmla="*/ 0 h 12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971" h="123341">
                    <a:moveTo>
                      <a:pt x="47067" y="0"/>
                    </a:moveTo>
                    <a:lnTo>
                      <a:pt x="1196578" y="0"/>
                    </a:lnTo>
                    <a:cubicBezTo>
                      <a:pt x="1221693" y="0"/>
                      <a:pt x="1241971" y="26789"/>
                      <a:pt x="1241971" y="59717"/>
                    </a:cubicBezTo>
                    <a:lnTo>
                      <a:pt x="1241971" y="61764"/>
                    </a:lnTo>
                    <a:cubicBezTo>
                      <a:pt x="1241971" y="95808"/>
                      <a:pt x="1220949" y="123341"/>
                      <a:pt x="1194904" y="123341"/>
                    </a:cubicBezTo>
                    <a:lnTo>
                      <a:pt x="47067" y="123341"/>
                    </a:lnTo>
                    <a:lnTo>
                      <a:pt x="47067" y="123155"/>
                    </a:lnTo>
                    <a:cubicBezTo>
                      <a:pt x="21208" y="123155"/>
                      <a:pt x="0" y="95436"/>
                      <a:pt x="0" y="61578"/>
                    </a:cubicBezTo>
                    <a:cubicBezTo>
                      <a:pt x="0" y="27533"/>
                      <a:pt x="21022" y="0"/>
                      <a:pt x="47067" y="0"/>
                    </a:cubicBezTo>
                    <a:close/>
                  </a:path>
                </a:pathLst>
              </a:custGeom>
              <a:grpFill/>
            </p:spPr>
            <p:style>
              <a:lnRef idx="0">
                <a:srgbClr val="FFFFFF"/>
              </a:lnRef>
              <a:fillRef idx="1">
                <a:srgbClr val="0042FF"/>
              </a:fillRef>
              <a:effectRef idx="0">
                <a:srgbClr val="FFFFFF"/>
              </a:effectRef>
              <a:fontRef idx="minor">
                <a:srgbClr val="FFFFFF"/>
              </a:fontRef>
            </p:style>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60" name="任意多边形: 形状 55"/>
              <p:cNvSpPr/>
              <p:nvPr/>
            </p:nvSpPr>
            <p:spPr>
              <a:xfrm>
                <a:off x="5469433" y="3042438"/>
                <a:ext cx="1241971" cy="123341"/>
              </a:xfrm>
              <a:custGeom>
                <a:avLst/>
                <a:gdLst>
                  <a:gd name="connsiteX0" fmla="*/ 47067 w 1241971"/>
                  <a:gd name="connsiteY0" fmla="*/ 0 h 123341"/>
                  <a:gd name="connsiteX1" fmla="*/ 1196578 w 1241971"/>
                  <a:gd name="connsiteY1" fmla="*/ 0 h 123341"/>
                  <a:gd name="connsiteX2" fmla="*/ 1241971 w 1241971"/>
                  <a:gd name="connsiteY2" fmla="*/ 59717 h 123341"/>
                  <a:gd name="connsiteX3" fmla="*/ 1241971 w 1241971"/>
                  <a:gd name="connsiteY3" fmla="*/ 61763 h 123341"/>
                  <a:gd name="connsiteX4" fmla="*/ 1194904 w 1241971"/>
                  <a:gd name="connsiteY4" fmla="*/ 123341 h 123341"/>
                  <a:gd name="connsiteX5" fmla="*/ 47067 w 1241971"/>
                  <a:gd name="connsiteY5" fmla="*/ 123341 h 123341"/>
                  <a:gd name="connsiteX6" fmla="*/ 47067 w 1241971"/>
                  <a:gd name="connsiteY6" fmla="*/ 123155 h 123341"/>
                  <a:gd name="connsiteX7" fmla="*/ 0 w 1241971"/>
                  <a:gd name="connsiteY7" fmla="*/ 61577 h 123341"/>
                  <a:gd name="connsiteX8" fmla="*/ 47067 w 1241971"/>
                  <a:gd name="connsiteY8" fmla="*/ 0 h 12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971" h="123341">
                    <a:moveTo>
                      <a:pt x="47067" y="0"/>
                    </a:moveTo>
                    <a:lnTo>
                      <a:pt x="1196578" y="0"/>
                    </a:lnTo>
                    <a:cubicBezTo>
                      <a:pt x="1221693" y="0"/>
                      <a:pt x="1241971" y="26789"/>
                      <a:pt x="1241971" y="59717"/>
                    </a:cubicBezTo>
                    <a:lnTo>
                      <a:pt x="1241971" y="61763"/>
                    </a:lnTo>
                    <a:cubicBezTo>
                      <a:pt x="1241971" y="95808"/>
                      <a:pt x="1220949" y="123341"/>
                      <a:pt x="1194904" y="123341"/>
                    </a:cubicBezTo>
                    <a:lnTo>
                      <a:pt x="47067" y="123341"/>
                    </a:lnTo>
                    <a:lnTo>
                      <a:pt x="47067" y="123155"/>
                    </a:lnTo>
                    <a:cubicBezTo>
                      <a:pt x="21208" y="123155"/>
                      <a:pt x="0" y="95436"/>
                      <a:pt x="0" y="61577"/>
                    </a:cubicBezTo>
                    <a:cubicBezTo>
                      <a:pt x="0" y="27533"/>
                      <a:pt x="21022" y="0"/>
                      <a:pt x="47067" y="0"/>
                    </a:cubicBezTo>
                    <a:close/>
                  </a:path>
                </a:pathLst>
              </a:custGeom>
              <a:grpFill/>
            </p:spPr>
            <p:style>
              <a:lnRef idx="0">
                <a:srgbClr val="FFFFFF"/>
              </a:lnRef>
              <a:fillRef idx="1">
                <a:srgbClr val="0042FF"/>
              </a:fillRef>
              <a:effectRef idx="0">
                <a:srgbClr val="FFFFFF"/>
              </a:effectRef>
              <a:fontRef idx="minor">
                <a:srgbClr val="FFFFFF"/>
              </a:fontRef>
            </p:style>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61" name="任意多边形: 形状 56"/>
              <p:cNvSpPr/>
              <p:nvPr/>
            </p:nvSpPr>
            <p:spPr>
              <a:xfrm>
                <a:off x="5469620" y="3238128"/>
                <a:ext cx="1241785" cy="311795"/>
              </a:xfrm>
              <a:custGeom>
                <a:avLst/>
                <a:gdLst>
                  <a:gd name="connsiteX0" fmla="*/ 27161 w 1241785"/>
                  <a:gd name="connsiteY0" fmla="*/ 0 h 311795"/>
                  <a:gd name="connsiteX1" fmla="*/ 1214624 w 1241785"/>
                  <a:gd name="connsiteY1" fmla="*/ 0 h 311795"/>
                  <a:gd name="connsiteX2" fmla="*/ 1241785 w 1241785"/>
                  <a:gd name="connsiteY2" fmla="*/ 37207 h 311795"/>
                  <a:gd name="connsiteX3" fmla="*/ 1214624 w 1241785"/>
                  <a:gd name="connsiteY3" fmla="*/ 74414 h 311795"/>
                  <a:gd name="connsiteX4" fmla="*/ 1090910 w 1241785"/>
                  <a:gd name="connsiteY4" fmla="*/ 74414 h 311795"/>
                  <a:gd name="connsiteX5" fmla="*/ 1023380 w 1241785"/>
                  <a:gd name="connsiteY5" fmla="*/ 102133 h 311795"/>
                  <a:gd name="connsiteX6" fmla="*/ 819485 w 1241785"/>
                  <a:gd name="connsiteY6" fmla="*/ 292261 h 311795"/>
                  <a:gd name="connsiteX7" fmla="*/ 772604 w 1241785"/>
                  <a:gd name="connsiteY7" fmla="*/ 311795 h 311795"/>
                  <a:gd name="connsiteX8" fmla="*/ 473832 w 1241785"/>
                  <a:gd name="connsiteY8" fmla="*/ 311795 h 311795"/>
                  <a:gd name="connsiteX9" fmla="*/ 459135 w 1241785"/>
                  <a:gd name="connsiteY9" fmla="*/ 305284 h 311795"/>
                  <a:gd name="connsiteX10" fmla="*/ 253008 w 1241785"/>
                  <a:gd name="connsiteY10" fmla="*/ 103994 h 311795"/>
                  <a:gd name="connsiteX11" fmla="*/ 183617 w 1241785"/>
                  <a:gd name="connsiteY11" fmla="*/ 74414 h 311795"/>
                  <a:gd name="connsiteX12" fmla="*/ 27161 w 1241785"/>
                  <a:gd name="connsiteY12" fmla="*/ 74414 h 311795"/>
                  <a:gd name="connsiteX13" fmla="*/ 0 w 1241785"/>
                  <a:gd name="connsiteY13" fmla="*/ 37207 h 311795"/>
                  <a:gd name="connsiteX14" fmla="*/ 27161 w 1241785"/>
                  <a:gd name="connsiteY14" fmla="*/ 0 h 3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1785" h="311795">
                    <a:moveTo>
                      <a:pt x="27161" y="0"/>
                    </a:moveTo>
                    <a:lnTo>
                      <a:pt x="1214624" y="0"/>
                    </a:lnTo>
                    <a:cubicBezTo>
                      <a:pt x="1229320" y="0"/>
                      <a:pt x="1241785" y="17115"/>
                      <a:pt x="1241785" y="37207"/>
                    </a:cubicBezTo>
                    <a:cubicBezTo>
                      <a:pt x="1241785" y="57299"/>
                      <a:pt x="1229320" y="74414"/>
                      <a:pt x="1214624" y="74414"/>
                    </a:cubicBezTo>
                    <a:lnTo>
                      <a:pt x="1090910" y="74414"/>
                    </a:lnTo>
                    <a:cubicBezTo>
                      <a:pt x="1066540" y="74414"/>
                      <a:pt x="1042541" y="84274"/>
                      <a:pt x="1023380" y="102133"/>
                    </a:cubicBezTo>
                    <a:lnTo>
                      <a:pt x="819485" y="292261"/>
                    </a:lnTo>
                    <a:cubicBezTo>
                      <a:pt x="805718" y="305098"/>
                      <a:pt x="789533" y="311795"/>
                      <a:pt x="772604" y="311795"/>
                    </a:cubicBezTo>
                    <a:lnTo>
                      <a:pt x="473832" y="311795"/>
                    </a:lnTo>
                    <a:cubicBezTo>
                      <a:pt x="468623" y="311795"/>
                      <a:pt x="463414" y="309562"/>
                      <a:pt x="459135" y="305284"/>
                    </a:cubicBezTo>
                    <a:lnTo>
                      <a:pt x="253008" y="103994"/>
                    </a:lnTo>
                    <a:cubicBezTo>
                      <a:pt x="233474" y="85018"/>
                      <a:pt x="208731" y="74414"/>
                      <a:pt x="183617" y="74414"/>
                    </a:cubicBezTo>
                    <a:lnTo>
                      <a:pt x="27161" y="74414"/>
                    </a:lnTo>
                    <a:cubicBezTo>
                      <a:pt x="12464" y="74414"/>
                      <a:pt x="0" y="57299"/>
                      <a:pt x="0" y="37207"/>
                    </a:cubicBezTo>
                    <a:cubicBezTo>
                      <a:pt x="0" y="17115"/>
                      <a:pt x="12464" y="0"/>
                      <a:pt x="27161" y="0"/>
                    </a:cubicBezTo>
                    <a:close/>
                  </a:path>
                </a:pathLst>
              </a:custGeom>
              <a:grpFill/>
            </p:spPr>
            <p:style>
              <a:lnRef idx="0">
                <a:srgbClr val="FFFFFF"/>
              </a:lnRef>
              <a:fillRef idx="1">
                <a:srgbClr val="0042FF"/>
              </a:fillRef>
              <a:effectRef idx="0">
                <a:srgbClr val="FFFFFF"/>
              </a:effectRef>
              <a:fontRef idx="minor">
                <a:srgbClr val="FFFFFF"/>
              </a:fontRef>
            </p:style>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662" name="任意多边形: 形状 53"/>
            <p:cNvSpPr/>
            <p:nvPr/>
          </p:nvSpPr>
          <p:spPr>
            <a:xfrm>
              <a:off x="5263120" y="3399199"/>
              <a:ext cx="1665944" cy="674935"/>
            </a:xfrm>
            <a:custGeom>
              <a:avLst/>
              <a:gdLst>
                <a:gd name="connsiteX0" fmla="*/ 79623 w 1665944"/>
                <a:gd name="connsiteY0" fmla="*/ 674750 h 674935"/>
                <a:gd name="connsiteX1" fmla="*/ 0 w 1665944"/>
                <a:gd name="connsiteY1" fmla="*/ 572802 h 674935"/>
                <a:gd name="connsiteX2" fmla="*/ 0 w 1665944"/>
                <a:gd name="connsiteY2" fmla="*/ 101947 h 674935"/>
                <a:gd name="connsiteX3" fmla="*/ 79623 w 1665944"/>
                <a:gd name="connsiteY3" fmla="*/ 0 h 674935"/>
                <a:gd name="connsiteX4" fmla="*/ 392906 w 1665944"/>
                <a:gd name="connsiteY4" fmla="*/ 0 h 674935"/>
                <a:gd name="connsiteX5" fmla="*/ 425090 w 1665944"/>
                <a:gd name="connsiteY5" fmla="*/ 372 h 674935"/>
                <a:gd name="connsiteX6" fmla="*/ 632334 w 1665944"/>
                <a:gd name="connsiteY6" fmla="*/ 207801 h 674935"/>
                <a:gd name="connsiteX7" fmla="*/ 701911 w 1665944"/>
                <a:gd name="connsiteY7" fmla="*/ 237567 h 674935"/>
                <a:gd name="connsiteX8" fmla="*/ 982080 w 1665944"/>
                <a:gd name="connsiteY8" fmla="*/ 237567 h 674935"/>
                <a:gd name="connsiteX9" fmla="*/ 1049610 w 1665944"/>
                <a:gd name="connsiteY9" fmla="*/ 209848 h 674935"/>
                <a:gd name="connsiteX10" fmla="*/ 1274341 w 1665944"/>
                <a:gd name="connsiteY10" fmla="*/ 186 h 674935"/>
                <a:gd name="connsiteX11" fmla="*/ 1586322 w 1665944"/>
                <a:gd name="connsiteY11" fmla="*/ 186 h 674935"/>
                <a:gd name="connsiteX12" fmla="*/ 1665945 w 1665944"/>
                <a:gd name="connsiteY12" fmla="*/ 102133 h 674935"/>
                <a:gd name="connsiteX13" fmla="*/ 1665945 w 1665944"/>
                <a:gd name="connsiteY13" fmla="*/ 572988 h 674935"/>
                <a:gd name="connsiteX14" fmla="*/ 1586322 w 1665944"/>
                <a:gd name="connsiteY14" fmla="*/ 674936 h 674935"/>
                <a:gd name="connsiteX15" fmla="*/ 79623 w 1665944"/>
                <a:gd name="connsiteY15" fmla="*/ 674936 h 67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5944" h="674935">
                  <a:moveTo>
                    <a:pt x="79623" y="674750"/>
                  </a:moveTo>
                  <a:cubicBezTo>
                    <a:pt x="35719" y="674750"/>
                    <a:pt x="0" y="628985"/>
                    <a:pt x="0" y="572802"/>
                  </a:cubicBezTo>
                  <a:lnTo>
                    <a:pt x="0" y="101947"/>
                  </a:lnTo>
                  <a:cubicBezTo>
                    <a:pt x="0" y="45765"/>
                    <a:pt x="35719" y="0"/>
                    <a:pt x="79623" y="0"/>
                  </a:cubicBezTo>
                  <a:lnTo>
                    <a:pt x="392906" y="0"/>
                  </a:lnTo>
                  <a:cubicBezTo>
                    <a:pt x="404440" y="0"/>
                    <a:pt x="418393" y="0"/>
                    <a:pt x="425090" y="372"/>
                  </a:cubicBezTo>
                  <a:lnTo>
                    <a:pt x="632334" y="207801"/>
                  </a:lnTo>
                  <a:cubicBezTo>
                    <a:pt x="652053" y="226963"/>
                    <a:pt x="676610" y="237567"/>
                    <a:pt x="701911" y="237567"/>
                  </a:cubicBezTo>
                  <a:lnTo>
                    <a:pt x="982080" y="237567"/>
                  </a:lnTo>
                  <a:cubicBezTo>
                    <a:pt x="1006450" y="237567"/>
                    <a:pt x="1030449" y="227707"/>
                    <a:pt x="1049610" y="209848"/>
                  </a:cubicBezTo>
                  <a:lnTo>
                    <a:pt x="1274341" y="186"/>
                  </a:lnTo>
                  <a:lnTo>
                    <a:pt x="1586322" y="186"/>
                  </a:lnTo>
                  <a:cubicBezTo>
                    <a:pt x="1630226" y="186"/>
                    <a:pt x="1665945" y="45951"/>
                    <a:pt x="1665945" y="102133"/>
                  </a:cubicBezTo>
                  <a:lnTo>
                    <a:pt x="1665945" y="572988"/>
                  </a:lnTo>
                  <a:cubicBezTo>
                    <a:pt x="1665945" y="629171"/>
                    <a:pt x="1630226" y="674936"/>
                    <a:pt x="1586322" y="674936"/>
                  </a:cubicBezTo>
                  <a:lnTo>
                    <a:pt x="79623" y="674936"/>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 name="椭圆 339"/>
          <p:cNvSpPr/>
          <p:nvPr/>
        </p:nvSpPr>
        <p:spPr>
          <a:xfrm>
            <a:off x="3395345" y="1052195"/>
            <a:ext cx="5387340" cy="5387340"/>
          </a:xfrm>
          <a:prstGeom prst="ellipse">
            <a:avLst/>
          </a:prstGeom>
          <a:gradFill>
            <a:gsLst>
              <a:gs pos="100000">
                <a:srgbClr val="B3D4FE">
                  <a:alpha val="50000"/>
                </a:srgbClr>
              </a:gs>
              <a:gs pos="0">
                <a:srgbClr val="B3D4FE">
                  <a:alpha val="50000"/>
                </a:srgbClr>
              </a:gs>
              <a:gs pos="13000">
                <a:srgbClr val="B3D4FE">
                  <a:alpha val="0"/>
                </a:srgbClr>
              </a:gs>
              <a:gs pos="85000">
                <a:srgbClr val="B3D4FE">
                  <a:alpha val="0"/>
                </a:srgbClr>
              </a:gs>
            </a:gsLst>
            <a:lin ang="10800000" scaled="0"/>
          </a:gradFill>
          <a:ln>
            <a:gradFill>
              <a:gsLst>
                <a:gs pos="48000">
                  <a:srgbClr val="3368FF"/>
                </a:gs>
                <a:gs pos="24000">
                  <a:srgbClr val="3368FF">
                    <a:alpha val="0"/>
                  </a:srgbClr>
                </a:gs>
                <a:gs pos="79000">
                  <a:srgbClr val="3368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12" name="任意多边形: 形状 10"/>
          <p:cNvSpPr/>
          <p:nvPr/>
        </p:nvSpPr>
        <p:spPr>
          <a:xfrm rot="16200000">
            <a:off x="3565525" y="3129915"/>
            <a:ext cx="1235075" cy="133731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FFFFFF">
                  <a:alpha val="0"/>
                </a:srgbClr>
              </a:gs>
              <a:gs pos="93000">
                <a:srgbClr val="B3D4FE"/>
              </a:gs>
            </a:gsLst>
            <a:lin ang="16200000" scaled="0"/>
          </a:gradFill>
          <a:ln>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kumimoji="1" lang="zh-CN" altLang="en-US" sz="3200">
              <a:latin typeface="微软雅黑"/>
              <a:ea typeface="微软雅黑"/>
              <a:cs typeface="微软雅黑"/>
            </a:endParaRPr>
          </a:p>
        </p:txBody>
      </p:sp>
      <p:sp>
        <p:nvSpPr>
          <p:cNvPr id="213" name="任意多边形: 形状 10"/>
          <p:cNvSpPr/>
          <p:nvPr/>
        </p:nvSpPr>
        <p:spPr>
          <a:xfrm rot="5400000" flipH="1">
            <a:off x="7429500" y="3129915"/>
            <a:ext cx="1235075" cy="133731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FFFFFF">
                  <a:alpha val="0"/>
                </a:srgbClr>
              </a:gs>
              <a:gs pos="93000">
                <a:srgbClr val="B3D4FE"/>
              </a:gs>
            </a:gsLst>
            <a:lin ang="162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3200">
              <a:latin typeface="微软雅黑"/>
              <a:ea typeface="微软雅黑"/>
              <a:cs typeface="微软雅黑"/>
              <a:sym typeface="微软雅黑"/>
            </a:endParaRPr>
          </a:p>
        </p:txBody>
      </p:sp>
      <p:sp>
        <p:nvSpPr>
          <p:cNvPr id="187" name="显眼包PPT3"/>
          <p:cNvSpPr/>
          <p:nvPr/>
        </p:nvSpPr>
        <p:spPr>
          <a:xfrm rot="10800000" flipH="1" flipV="1">
            <a:off x="3478530" y="4751070"/>
            <a:ext cx="5170805" cy="1243330"/>
          </a:xfrm>
          <a:custGeom>
            <a:avLst/>
            <a:gdLst>
              <a:gd name="connsiteX0" fmla="*/ 0 w 3515232"/>
              <a:gd name="connsiteY0" fmla="*/ 4417977 h 4417977"/>
              <a:gd name="connsiteX1" fmla="*/ 3515232 w 3515232"/>
              <a:gd name="connsiteY1" fmla="*/ 4417977 h 4417977"/>
              <a:gd name="connsiteX2" fmla="*/ 3481313 w 3515232"/>
              <a:gd name="connsiteY2" fmla="*/ 4321859 h 4417977"/>
              <a:gd name="connsiteX3" fmla="*/ 3167594 w 3515232"/>
              <a:gd name="connsiteY3" fmla="*/ 3264867 h 4417977"/>
              <a:gd name="connsiteX4" fmla="*/ 2774364 w 3515232"/>
              <a:gd name="connsiteY4" fmla="*/ 193088 h 4417977"/>
              <a:gd name="connsiteX5" fmla="*/ 2797515 w 3515232"/>
              <a:gd name="connsiteY5" fmla="*/ 0 h 4417977"/>
              <a:gd name="connsiteX6" fmla="*/ 717716 w 3515232"/>
              <a:gd name="connsiteY6" fmla="*/ 0 h 4417977"/>
              <a:gd name="connsiteX7" fmla="*/ 740867 w 3515232"/>
              <a:gd name="connsiteY7" fmla="*/ 193090 h 4417977"/>
              <a:gd name="connsiteX8" fmla="*/ 347637 w 3515232"/>
              <a:gd name="connsiteY8" fmla="*/ 3264868 h 4417977"/>
              <a:gd name="connsiteX9" fmla="*/ 33918 w 3515232"/>
              <a:gd name="connsiteY9" fmla="*/ 4321860 h 441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5232" h="4417977">
                <a:moveTo>
                  <a:pt x="0" y="4417977"/>
                </a:moveTo>
                <a:lnTo>
                  <a:pt x="3515232" y="4417977"/>
                </a:lnTo>
                <a:lnTo>
                  <a:pt x="3481313" y="4321859"/>
                </a:lnTo>
                <a:cubicBezTo>
                  <a:pt x="3369439" y="3991253"/>
                  <a:pt x="3263527" y="3636383"/>
                  <a:pt x="3167594" y="3264867"/>
                </a:cubicBezTo>
                <a:cubicBezTo>
                  <a:pt x="2847820" y="2026481"/>
                  <a:pt x="2714622" y="896235"/>
                  <a:pt x="2774364" y="193088"/>
                </a:cubicBezTo>
                <a:lnTo>
                  <a:pt x="2797515" y="0"/>
                </a:lnTo>
                <a:lnTo>
                  <a:pt x="717716" y="0"/>
                </a:lnTo>
                <a:lnTo>
                  <a:pt x="740867" y="193090"/>
                </a:lnTo>
                <a:cubicBezTo>
                  <a:pt x="800609" y="896236"/>
                  <a:pt x="667412" y="2026482"/>
                  <a:pt x="347637" y="3264868"/>
                </a:cubicBezTo>
                <a:cubicBezTo>
                  <a:pt x="251705" y="3636384"/>
                  <a:pt x="145792" y="3991254"/>
                  <a:pt x="33918" y="4321860"/>
                </a:cubicBezTo>
                <a:close/>
              </a:path>
            </a:pathLst>
          </a:custGeom>
          <a:gradFill>
            <a:gsLst>
              <a:gs pos="0">
                <a:srgbClr val="B3D4FE">
                  <a:alpha val="0"/>
                </a:srgbClr>
              </a:gs>
              <a:gs pos="100000">
                <a:srgbClr val="B3D4FE">
                  <a:alpha val="0"/>
                </a:srgbClr>
              </a:gs>
              <a:gs pos="73000">
                <a:srgbClr val="B3D4FE">
                  <a:alpha val="30000"/>
                </a:srgbClr>
              </a:gs>
            </a:gsLst>
            <a:lin ang="5400000" scaled="1"/>
          </a:gradFill>
          <a:ln>
            <a:gradFill>
              <a:gsLst>
                <a:gs pos="55600">
                  <a:srgbClr val="3368FF"/>
                </a:gs>
                <a:gs pos="23000">
                  <a:srgbClr val="3368FF">
                    <a:alpha val="0"/>
                  </a:srgbClr>
                </a:gs>
                <a:gs pos="100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86" name="显眼包PPT3"/>
          <p:cNvSpPr/>
          <p:nvPr/>
        </p:nvSpPr>
        <p:spPr>
          <a:xfrm rot="10800000">
            <a:off x="3630295" y="1687830"/>
            <a:ext cx="5170805" cy="1243330"/>
          </a:xfrm>
          <a:custGeom>
            <a:avLst/>
            <a:gdLst>
              <a:gd name="connsiteX0" fmla="*/ 0 w 3515232"/>
              <a:gd name="connsiteY0" fmla="*/ 4417977 h 4417977"/>
              <a:gd name="connsiteX1" fmla="*/ 3515232 w 3515232"/>
              <a:gd name="connsiteY1" fmla="*/ 4417977 h 4417977"/>
              <a:gd name="connsiteX2" fmla="*/ 3481313 w 3515232"/>
              <a:gd name="connsiteY2" fmla="*/ 4321859 h 4417977"/>
              <a:gd name="connsiteX3" fmla="*/ 3167594 w 3515232"/>
              <a:gd name="connsiteY3" fmla="*/ 3264867 h 4417977"/>
              <a:gd name="connsiteX4" fmla="*/ 2774364 w 3515232"/>
              <a:gd name="connsiteY4" fmla="*/ 193088 h 4417977"/>
              <a:gd name="connsiteX5" fmla="*/ 2797515 w 3515232"/>
              <a:gd name="connsiteY5" fmla="*/ 0 h 4417977"/>
              <a:gd name="connsiteX6" fmla="*/ 717716 w 3515232"/>
              <a:gd name="connsiteY6" fmla="*/ 0 h 4417977"/>
              <a:gd name="connsiteX7" fmla="*/ 740867 w 3515232"/>
              <a:gd name="connsiteY7" fmla="*/ 193090 h 4417977"/>
              <a:gd name="connsiteX8" fmla="*/ 347637 w 3515232"/>
              <a:gd name="connsiteY8" fmla="*/ 3264868 h 4417977"/>
              <a:gd name="connsiteX9" fmla="*/ 33918 w 3515232"/>
              <a:gd name="connsiteY9" fmla="*/ 4321860 h 441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5232" h="4417977">
                <a:moveTo>
                  <a:pt x="0" y="4417977"/>
                </a:moveTo>
                <a:lnTo>
                  <a:pt x="3515232" y="4417977"/>
                </a:lnTo>
                <a:lnTo>
                  <a:pt x="3481313" y="4321859"/>
                </a:lnTo>
                <a:cubicBezTo>
                  <a:pt x="3369439" y="3991253"/>
                  <a:pt x="3263527" y="3636383"/>
                  <a:pt x="3167594" y="3264867"/>
                </a:cubicBezTo>
                <a:cubicBezTo>
                  <a:pt x="2847820" y="2026481"/>
                  <a:pt x="2714622" y="896235"/>
                  <a:pt x="2774364" y="193088"/>
                </a:cubicBezTo>
                <a:lnTo>
                  <a:pt x="2797515" y="0"/>
                </a:lnTo>
                <a:lnTo>
                  <a:pt x="717716" y="0"/>
                </a:lnTo>
                <a:lnTo>
                  <a:pt x="740867" y="193090"/>
                </a:lnTo>
                <a:cubicBezTo>
                  <a:pt x="800609" y="896236"/>
                  <a:pt x="667412" y="2026482"/>
                  <a:pt x="347637" y="3264868"/>
                </a:cubicBezTo>
                <a:cubicBezTo>
                  <a:pt x="251705" y="3636384"/>
                  <a:pt x="145792" y="3991254"/>
                  <a:pt x="33918" y="4321860"/>
                </a:cubicBezTo>
                <a:close/>
              </a:path>
            </a:pathLst>
          </a:custGeom>
          <a:gradFill>
            <a:gsLst>
              <a:gs pos="0">
                <a:srgbClr val="B3D4FE">
                  <a:alpha val="0"/>
                </a:srgbClr>
              </a:gs>
              <a:gs pos="100000">
                <a:srgbClr val="B3D4FE">
                  <a:alpha val="0"/>
                </a:srgbClr>
              </a:gs>
              <a:gs pos="73000">
                <a:srgbClr val="B3D4FE">
                  <a:alpha val="30000"/>
                </a:srgbClr>
              </a:gs>
            </a:gsLst>
            <a:lin ang="5400000" scaled="1"/>
          </a:gradFill>
          <a:ln>
            <a:gradFill>
              <a:gsLst>
                <a:gs pos="55600">
                  <a:srgbClr val="3368FF"/>
                </a:gs>
                <a:gs pos="23000">
                  <a:srgbClr val="3368FF">
                    <a:alpha val="0"/>
                  </a:srgbClr>
                </a:gs>
                <a:gs pos="100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 name="任意多边形 23"/>
          <p:cNvSpPr/>
          <p:nvPr/>
        </p:nvSpPr>
        <p:spPr>
          <a:xfrm flipV="1">
            <a:off x="294005" y="4902200"/>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12000">
                <a:srgbClr val="668EFF">
                  <a:alpha val="0"/>
                </a:srgbClr>
              </a:gs>
              <a:gs pos="100000">
                <a:srgbClr val="668EFF"/>
              </a:gs>
            </a:gsLst>
            <a:lin ang="0" scaled="0"/>
          </a:gra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1" name="任意多边形 230"/>
          <p:cNvSpPr/>
          <p:nvPr/>
        </p:nvSpPr>
        <p:spPr>
          <a:xfrm>
            <a:off x="264160" y="1174115"/>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12000">
                <a:srgbClr val="668EFF">
                  <a:alpha val="0"/>
                </a:srgbClr>
              </a:gs>
              <a:gs pos="100000">
                <a:srgbClr val="668EFF"/>
              </a:gs>
            </a:gsLst>
            <a:lin ang="0" scaled="0"/>
          </a:gra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8"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中心发散架构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运营提效增能协同框架</a:t>
            </a:r>
            <a:endParaRPr lang="zh-CN" altLang="en-US" sz="2500" dirty="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27" name="任意多边形 126"/>
          <p:cNvSpPr/>
          <p:nvPr/>
        </p:nvSpPr>
        <p:spPr>
          <a:xfrm>
            <a:off x="203200" y="1214120"/>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0">
                <a:srgbClr val="FFFFFF"/>
              </a:gs>
              <a:gs pos="81000">
                <a:srgbClr val="FFFFFF"/>
              </a:gs>
              <a:gs pos="100000">
                <a:srgbClr val="FFFFFF">
                  <a:alpha val="0"/>
                </a:srgbClr>
              </a:gs>
            </a:gsLst>
            <a:lin ang="10800000" scaled="1"/>
          </a:gradFill>
          <a:ln w="12700">
            <a:gradFill flip="none" rotWithShape="1">
              <a:gsLst>
                <a:gs pos="0">
                  <a:srgbClr val="3368FF"/>
                </a:gs>
                <a:gs pos="88000">
                  <a:srgbClr val="3368FF">
                    <a:alpha val="0"/>
                  </a:srgbClr>
                </a:gs>
              </a:gsLst>
              <a:lin ang="10800000" scaled="1"/>
              <a:tileRect/>
            </a:grad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3" name="平行四边形 142"/>
          <p:cNvSpPr/>
          <p:nvPr/>
        </p:nvSpPr>
        <p:spPr>
          <a:xfrm>
            <a:off x="2931160" y="1719580"/>
            <a:ext cx="678180" cy="678180"/>
          </a:xfrm>
          <a:prstGeom prst="parallelogram">
            <a:avLst/>
          </a:prstGeom>
          <a:solidFill>
            <a:srgbClr val="E6E6E6"/>
          </a:soli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44" name="平行四边形 143"/>
          <p:cNvSpPr/>
          <p:nvPr/>
        </p:nvSpPr>
        <p:spPr>
          <a:xfrm>
            <a:off x="2876550" y="1687830"/>
            <a:ext cx="678180" cy="678180"/>
          </a:xfrm>
          <a:prstGeom prst="parallelogram">
            <a:avLst/>
          </a:prstGeom>
          <a:gradFill>
            <a:gsLst>
              <a:gs pos="0">
                <a:srgbClr val="3368FF"/>
              </a:gs>
              <a:gs pos="100000">
                <a:srgbClr val="0042FF"/>
              </a:gs>
            </a:gsLst>
            <a:lin ang="2700000" scaled="0"/>
          </a:gradFill>
          <a:ln w="12700">
            <a:noFill/>
            <a:prstDash val="solid"/>
          </a:ln>
          <a:effectLst>
            <a:outerShdw blurRad="190500" dir="16200000" rotWithShape="0">
              <a:srgbClr val="3368FF">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3" name="任意多边形 152"/>
          <p:cNvSpPr/>
          <p:nvPr/>
        </p:nvSpPr>
        <p:spPr>
          <a:xfrm flipV="1">
            <a:off x="227965" y="4813935"/>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0">
                <a:srgbClr val="FFFFFF"/>
              </a:gs>
              <a:gs pos="81000">
                <a:srgbClr val="FFFFFF"/>
              </a:gs>
              <a:gs pos="100000">
                <a:srgbClr val="FFFFFF">
                  <a:alpha val="0"/>
                </a:srgbClr>
              </a:gs>
            </a:gsLst>
            <a:lin ang="10800000" scaled="1"/>
          </a:gradFill>
          <a:ln w="12700">
            <a:gradFill flip="none" rotWithShape="1">
              <a:gsLst>
                <a:gs pos="0">
                  <a:srgbClr val="3368FF"/>
                </a:gs>
                <a:gs pos="88000">
                  <a:srgbClr val="3368FF">
                    <a:alpha val="0"/>
                  </a:srgbClr>
                </a:gs>
              </a:gsLst>
              <a:lin ang="10800000" scaled="1"/>
              <a:tileRect/>
            </a:grad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4" name="平行四边形 153"/>
          <p:cNvSpPr/>
          <p:nvPr/>
        </p:nvSpPr>
        <p:spPr>
          <a:xfrm flipV="1">
            <a:off x="2952115" y="5278120"/>
            <a:ext cx="678180" cy="678180"/>
          </a:xfrm>
          <a:prstGeom prst="parallelogram">
            <a:avLst/>
          </a:prstGeom>
          <a:solidFill>
            <a:srgbClr val="E6E6E6"/>
          </a:soli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5" name="平行四边形 154"/>
          <p:cNvSpPr/>
          <p:nvPr/>
        </p:nvSpPr>
        <p:spPr>
          <a:xfrm flipV="1">
            <a:off x="2901315" y="5309870"/>
            <a:ext cx="678180" cy="678180"/>
          </a:xfrm>
          <a:prstGeom prst="parallelogram">
            <a:avLst/>
          </a:prstGeom>
          <a:gradFill>
            <a:gsLst>
              <a:gs pos="0">
                <a:srgbClr val="3368FF"/>
              </a:gs>
              <a:gs pos="100000">
                <a:srgbClr val="0042FF"/>
              </a:gs>
            </a:gsLst>
            <a:lin ang="2700000" scaled="0"/>
          </a:gradFill>
          <a:ln w="12700">
            <a:noFill/>
            <a:prstDash val="solid"/>
          </a:ln>
          <a:effectLst>
            <a:outerShdw blurRad="190500" dir="16200000" rotWithShape="0">
              <a:srgbClr val="3368FF">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93" name="圆角矩形 192"/>
          <p:cNvSpPr/>
          <p:nvPr/>
        </p:nvSpPr>
        <p:spPr>
          <a:xfrm>
            <a:off x="4398645" y="1778635"/>
            <a:ext cx="1582420" cy="346710"/>
          </a:xfrm>
          <a:prstGeom prst="roundRect">
            <a:avLst>
              <a:gd name="adj" fmla="val 50000"/>
            </a:avLst>
          </a:prstGeom>
          <a:solidFill>
            <a:srgbClr val="FFFFFF"/>
          </a:solidFill>
          <a:ln>
            <a:gradFill flip="none" rotWithShape="1">
              <a:gsLst>
                <a:gs pos="0">
                  <a:srgbClr val="B3D4FE"/>
                </a:gs>
                <a:gs pos="100000">
                  <a:srgbClr val="B3D4FE"/>
                </a:gs>
                <a:gs pos="61000">
                  <a:srgbClr val="B3D4FE"/>
                </a:gs>
              </a:gsLst>
              <a:lin ang="2700000" scaled="1"/>
              <a:tileRect/>
            </a:gradFill>
          </a:ln>
          <a:effectLst>
            <a:outerShdw blurRad="50800" dist="63500" dir="5400000" sx="95000" sy="95000" algn="t" rotWithShape="0">
              <a:srgbClr val="B3D4FE">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600" dirty="0">
                <a:gradFill>
                  <a:gsLst>
                    <a:gs pos="0">
                      <a:srgbClr val="0042FF"/>
                    </a:gs>
                    <a:gs pos="100000">
                      <a:srgbClr val="0042FF"/>
                    </a:gs>
                  </a:gsLst>
                  <a:lin ang="5400000" scaled="0"/>
                </a:gradFill>
                <a:latin typeface="微软雅黑"/>
                <a:ea typeface="微软雅黑"/>
                <a:cs typeface="微软雅黑"/>
                <a:sym typeface="微软雅黑"/>
              </a:rPr>
              <a:t>流程机制缺失</a:t>
            </a:r>
            <a:endParaRPr lang="zh-CN" altLang="en-US" sz="16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94" name="圆角矩形 193"/>
          <p:cNvSpPr/>
          <p:nvPr/>
        </p:nvSpPr>
        <p:spPr>
          <a:xfrm>
            <a:off x="6108065" y="1778635"/>
            <a:ext cx="1582420" cy="346710"/>
          </a:xfrm>
          <a:prstGeom prst="roundRect">
            <a:avLst>
              <a:gd name="adj" fmla="val 50000"/>
            </a:avLst>
          </a:prstGeom>
          <a:solidFill>
            <a:srgbClr val="FFFFFF"/>
          </a:solidFill>
          <a:ln>
            <a:gradFill flip="none" rotWithShape="1">
              <a:gsLst>
                <a:gs pos="0">
                  <a:srgbClr val="B3D4FE"/>
                </a:gs>
                <a:gs pos="100000">
                  <a:srgbClr val="B3D4FE"/>
                </a:gs>
                <a:gs pos="61000">
                  <a:srgbClr val="B3D4FE"/>
                </a:gs>
              </a:gsLst>
              <a:lin ang="2700000" scaled="1"/>
              <a:tileRect/>
            </a:gradFill>
          </a:ln>
          <a:effectLst>
            <a:outerShdw blurRad="50800" dist="63500" dir="5400000" sx="95000" sy="95000" algn="t" rotWithShape="0">
              <a:srgbClr val="B3D4FE">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600" dirty="0">
                <a:gradFill>
                  <a:gsLst>
                    <a:gs pos="0">
                      <a:srgbClr val="0042FF"/>
                    </a:gs>
                    <a:gs pos="100000">
                      <a:srgbClr val="0042FF"/>
                    </a:gs>
                  </a:gsLst>
                  <a:lin ang="5400000" scaled="0"/>
                </a:gradFill>
                <a:latin typeface="微软雅黑"/>
                <a:ea typeface="微软雅黑"/>
                <a:cs typeface="微软雅黑"/>
                <a:sym typeface="微软雅黑"/>
              </a:rPr>
              <a:t>流程责任制</a:t>
            </a:r>
            <a:endParaRPr lang="zh-CN" altLang="en-US" sz="16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95" name="圆角矩形 194"/>
          <p:cNvSpPr/>
          <p:nvPr/>
        </p:nvSpPr>
        <p:spPr>
          <a:xfrm>
            <a:off x="4417060" y="5571490"/>
            <a:ext cx="1582420" cy="346710"/>
          </a:xfrm>
          <a:prstGeom prst="roundRect">
            <a:avLst>
              <a:gd name="adj" fmla="val 50000"/>
            </a:avLst>
          </a:prstGeom>
          <a:solidFill>
            <a:srgbClr val="FFFFFF"/>
          </a:solidFill>
          <a:ln>
            <a:gradFill flip="none" rotWithShape="1">
              <a:gsLst>
                <a:gs pos="0">
                  <a:srgbClr val="B3D4FE"/>
                </a:gs>
                <a:gs pos="100000">
                  <a:srgbClr val="B3D4FE"/>
                </a:gs>
                <a:gs pos="61000">
                  <a:srgbClr val="B3D4FE"/>
                </a:gs>
              </a:gsLst>
              <a:lin ang="2700000" scaled="1"/>
              <a:tileRect/>
            </a:gradFill>
          </a:ln>
          <a:effectLst>
            <a:outerShdw blurRad="50800" dist="63500" dir="5400000" sx="95000" sy="95000" algn="t" rotWithShape="0">
              <a:srgbClr val="B3D4FE">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600" dirty="0">
                <a:gradFill>
                  <a:gsLst>
                    <a:gs pos="0">
                      <a:srgbClr val="0042FF"/>
                    </a:gs>
                    <a:gs pos="100000">
                      <a:srgbClr val="0042FF"/>
                    </a:gs>
                  </a:gsLst>
                  <a:lin ang="5400000" scaled="0"/>
                </a:gradFill>
                <a:latin typeface="微软雅黑"/>
                <a:ea typeface="微软雅黑"/>
                <a:cs typeface="微软雅黑"/>
                <a:sym typeface="微软雅黑"/>
              </a:rPr>
              <a:t>运营协同平台</a:t>
            </a:r>
            <a:endParaRPr lang="zh-CN" altLang="en-US" sz="16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96" name="圆角矩形 195"/>
          <p:cNvSpPr/>
          <p:nvPr/>
        </p:nvSpPr>
        <p:spPr>
          <a:xfrm>
            <a:off x="6126480" y="5571490"/>
            <a:ext cx="1582420" cy="346710"/>
          </a:xfrm>
          <a:prstGeom prst="roundRect">
            <a:avLst>
              <a:gd name="adj" fmla="val 50000"/>
            </a:avLst>
          </a:prstGeom>
          <a:solidFill>
            <a:srgbClr val="FFFFFF"/>
          </a:solidFill>
          <a:ln>
            <a:gradFill flip="none" rotWithShape="1">
              <a:gsLst>
                <a:gs pos="0">
                  <a:srgbClr val="B3D4FE"/>
                </a:gs>
                <a:gs pos="100000">
                  <a:srgbClr val="B3D4FE"/>
                </a:gs>
                <a:gs pos="61000">
                  <a:srgbClr val="B3D4FE"/>
                </a:gs>
              </a:gsLst>
              <a:lin ang="2700000" scaled="1"/>
              <a:tileRect/>
            </a:gradFill>
          </a:ln>
          <a:effectLst>
            <a:outerShdw blurRad="50800" dist="63500" dir="5400000" sx="95000" sy="95000" algn="t" rotWithShape="0">
              <a:srgbClr val="B3D4FE">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600" dirty="0">
                <a:gradFill>
                  <a:gsLst>
                    <a:gs pos="0">
                      <a:srgbClr val="0042FF"/>
                    </a:gs>
                    <a:gs pos="100000">
                      <a:srgbClr val="0042FF"/>
                    </a:gs>
                  </a:gsLst>
                  <a:lin ang="5400000" scaled="0"/>
                </a:gradFill>
                <a:latin typeface="微软雅黑"/>
                <a:ea typeface="微软雅黑"/>
                <a:cs typeface="微软雅黑"/>
                <a:sym typeface="微软雅黑"/>
              </a:rPr>
              <a:t>用户体验提升</a:t>
            </a:r>
            <a:endParaRPr lang="zh-CN" altLang="en-US" sz="160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233" name="任意多边形 232"/>
          <p:cNvSpPr/>
          <p:nvPr/>
        </p:nvSpPr>
        <p:spPr>
          <a:xfrm>
            <a:off x="161290" y="1375410"/>
            <a:ext cx="2403475" cy="31242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612" h="492">
                <a:moveTo>
                  <a:pt x="0" y="0"/>
                </a:moveTo>
                <a:lnTo>
                  <a:pt x="3366" y="0"/>
                </a:lnTo>
                <a:cubicBezTo>
                  <a:pt x="3504" y="-4"/>
                  <a:pt x="3615" y="122"/>
                  <a:pt x="3612" y="246"/>
                </a:cubicBezTo>
                <a:cubicBezTo>
                  <a:pt x="3616" y="384"/>
                  <a:pt x="3490" y="495"/>
                  <a:pt x="3366" y="492"/>
                </a:cubicBezTo>
                <a:lnTo>
                  <a:pt x="0" y="492"/>
                </a:lnTo>
                <a:lnTo>
                  <a:pt x="0" y="0"/>
                </a:lnTo>
                <a:close/>
              </a:path>
            </a:pathLst>
          </a:custGeom>
          <a:gradFill>
            <a:gsLst>
              <a:gs pos="0">
                <a:srgbClr val="3368FF"/>
              </a:gs>
              <a:gs pos="67000">
                <a:srgbClr val="3368FF">
                  <a:alpha val="80000"/>
                </a:srgbClr>
              </a:gs>
              <a:gs pos="100000">
                <a:srgbClr val="3368FF">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35" name="©显眼包PPT17"/>
          <p:cNvSpPr txBox="1"/>
          <p:nvPr/>
        </p:nvSpPr>
        <p:spPr>
          <a:xfrm>
            <a:off x="600075" y="1409700"/>
            <a:ext cx="1680210" cy="245745"/>
          </a:xfrm>
          <a:prstGeom prst="rect">
            <a:avLst/>
          </a:prstGeom>
          <a:noFill/>
          <a:effectLst/>
        </p:spPr>
        <p:txBody>
          <a:bodyPr wrap="square" lIns="0" tIns="0" rIns="0" bIns="0" rtlCol="0">
            <a:spAutoFit/>
          </a:bodyPr>
          <a:lstStyle/>
          <a:p>
            <a:pP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强化运营流程效能</a:t>
            </a:r>
            <a:endParaRPr lang="zh-CN" altLang="en-US" sz="1600" b="1" dirty="0">
              <a:solidFill>
                <a:srgbClr val="FFFFFF"/>
              </a:solidFill>
              <a:latin typeface="微软雅黑"/>
              <a:ea typeface="微软雅黑"/>
              <a:cs typeface="微软雅黑"/>
              <a:sym typeface="微软雅黑"/>
            </a:endParaRPr>
          </a:p>
        </p:txBody>
      </p:sp>
      <p:grpSp>
        <p:nvGrpSpPr>
          <p:cNvPr id="86" name="组合 85"/>
          <p:cNvGrpSpPr/>
          <p:nvPr/>
        </p:nvGrpSpPr>
        <p:grpSpPr>
          <a:xfrm>
            <a:off x="307975" y="1843405"/>
            <a:ext cx="2548255" cy="839470"/>
            <a:chOff x="485" y="2735"/>
            <a:chExt cx="4013" cy="1322"/>
          </a:xfrm>
        </p:grpSpPr>
        <p:grpSp>
          <p:nvGrpSpPr>
            <p:cNvPr id="236" name="组合 235"/>
            <p:cNvGrpSpPr/>
            <p:nvPr/>
          </p:nvGrpSpPr>
          <p:grpSpPr>
            <a:xfrm rot="0">
              <a:off x="491" y="2735"/>
              <a:ext cx="1516" cy="369"/>
              <a:chOff x="5445546" y="4066525"/>
              <a:chExt cx="1078132" cy="234418"/>
            </a:xfrm>
          </p:grpSpPr>
          <p:grpSp>
            <p:nvGrpSpPr>
              <p:cNvPr id="426" name="组合 425"/>
              <p:cNvGrpSpPr/>
              <p:nvPr/>
            </p:nvGrpSpPr>
            <p:grpSpPr>
              <a:xfrm>
                <a:off x="5445546" y="4117493"/>
                <a:ext cx="1078132" cy="183450"/>
                <a:chOff x="7538601" y="1907049"/>
                <a:chExt cx="784353" cy="382913"/>
              </a:xfrm>
            </p:grpSpPr>
            <p:sp>
              <p:nvSpPr>
                <p:cNvPr id="428" name="显眼包PPT-15"/>
                <p:cNvSpPr/>
                <p:nvPr/>
              </p:nvSpPr>
              <p:spPr>
                <a:xfrm>
                  <a:off x="7538842" y="1907049"/>
                  <a:ext cx="784112" cy="309140"/>
                </a:xfrm>
                <a:prstGeom prst="rect">
                  <a:avLst/>
                </a:prstGeom>
                <a:gradFill>
                  <a:gsLst>
                    <a:gs pos="47700">
                      <a:srgbClr val="668EFF">
                        <a:alpha val="22000"/>
                      </a:srgbClr>
                    </a:gs>
                    <a:gs pos="0">
                      <a:srgbClr val="668EFF">
                        <a:alpha val="0"/>
                      </a:srgbClr>
                    </a:gs>
                    <a:gs pos="100000">
                      <a:srgbClr val="3368FF">
                        <a:alpha val="39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429" name="组合 428"/>
                <p:cNvGrpSpPr/>
                <p:nvPr/>
              </p:nvGrpSpPr>
              <p:grpSpPr>
                <a:xfrm>
                  <a:off x="7538601" y="2096913"/>
                  <a:ext cx="784112" cy="193049"/>
                  <a:chOff x="1028700" y="5670769"/>
                  <a:chExt cx="784112" cy="193049"/>
                </a:xfrm>
              </p:grpSpPr>
              <p:sp>
                <p:nvSpPr>
                  <p:cNvPr id="430" name="显眼包PPT-16"/>
                  <p:cNvSpPr/>
                  <p:nvPr/>
                </p:nvSpPr>
                <p:spPr>
                  <a:xfrm>
                    <a:off x="1028700" y="5720942"/>
                    <a:ext cx="784112" cy="142876"/>
                  </a:xfrm>
                  <a:custGeom>
                    <a:avLst/>
                    <a:gdLst>
                      <a:gd name="connsiteX0" fmla="*/ 392056 w 784112"/>
                      <a:gd name="connsiteY0" fmla="*/ 0 h 142876"/>
                      <a:gd name="connsiteX1" fmla="*/ 669282 w 784112"/>
                      <a:gd name="connsiteY1" fmla="*/ 20924 h 142876"/>
                      <a:gd name="connsiteX2" fmla="*/ 670537 w 784112"/>
                      <a:gd name="connsiteY2" fmla="*/ 21263 h 142876"/>
                      <a:gd name="connsiteX3" fmla="*/ 784112 w 784112"/>
                      <a:gd name="connsiteY3" fmla="*/ 21263 h 142876"/>
                      <a:gd name="connsiteX4" fmla="*/ 784112 w 784112"/>
                      <a:gd name="connsiteY4" fmla="*/ 70257 h 142876"/>
                      <a:gd name="connsiteX5" fmla="*/ 782804 w 784112"/>
                      <a:gd name="connsiteY5" fmla="*/ 70257 h 142876"/>
                      <a:gd name="connsiteX6" fmla="*/ 784112 w 784112"/>
                      <a:gd name="connsiteY6" fmla="*/ 71438 h 142876"/>
                      <a:gd name="connsiteX7" fmla="*/ 392056 w 784112"/>
                      <a:gd name="connsiteY7" fmla="*/ 142876 h 142876"/>
                      <a:gd name="connsiteX8" fmla="*/ 0 w 784112"/>
                      <a:gd name="connsiteY8" fmla="*/ 71438 h 142876"/>
                      <a:gd name="connsiteX9" fmla="*/ 1309 w 784112"/>
                      <a:gd name="connsiteY9" fmla="*/ 70257 h 142876"/>
                      <a:gd name="connsiteX10" fmla="*/ 0 w 784112"/>
                      <a:gd name="connsiteY10" fmla="*/ 70257 h 142876"/>
                      <a:gd name="connsiteX11" fmla="*/ 0 w 784112"/>
                      <a:gd name="connsiteY11" fmla="*/ 21263 h 142876"/>
                      <a:gd name="connsiteX12" fmla="*/ 113575 w 784112"/>
                      <a:gd name="connsiteY12" fmla="*/ 21263 h 142876"/>
                      <a:gd name="connsiteX13" fmla="*/ 114830 w 784112"/>
                      <a:gd name="connsiteY13" fmla="*/ 20924 h 142876"/>
                      <a:gd name="connsiteX14" fmla="*/ 392056 w 784112"/>
                      <a:gd name="connsiteY14" fmla="*/ 0 h 14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4112" h="142876">
                        <a:moveTo>
                          <a:pt x="392056" y="0"/>
                        </a:moveTo>
                        <a:cubicBezTo>
                          <a:pt x="500320" y="0"/>
                          <a:pt x="598334" y="7996"/>
                          <a:pt x="669282" y="20924"/>
                        </a:cubicBezTo>
                        <a:lnTo>
                          <a:pt x="670537" y="21263"/>
                        </a:lnTo>
                        <a:lnTo>
                          <a:pt x="784112" y="21263"/>
                        </a:lnTo>
                        <a:lnTo>
                          <a:pt x="784112" y="70257"/>
                        </a:lnTo>
                        <a:lnTo>
                          <a:pt x="782804" y="70257"/>
                        </a:lnTo>
                        <a:lnTo>
                          <a:pt x="784112" y="71438"/>
                        </a:lnTo>
                        <a:cubicBezTo>
                          <a:pt x="784112" y="110892"/>
                          <a:pt x="608583" y="142876"/>
                          <a:pt x="392056" y="142876"/>
                        </a:cubicBezTo>
                        <a:cubicBezTo>
                          <a:pt x="175529" y="142876"/>
                          <a:pt x="0" y="110892"/>
                          <a:pt x="0" y="71438"/>
                        </a:cubicBezTo>
                        <a:lnTo>
                          <a:pt x="1309" y="70257"/>
                        </a:lnTo>
                        <a:lnTo>
                          <a:pt x="0" y="70257"/>
                        </a:lnTo>
                        <a:lnTo>
                          <a:pt x="0" y="21263"/>
                        </a:lnTo>
                        <a:lnTo>
                          <a:pt x="113575" y="21263"/>
                        </a:lnTo>
                        <a:lnTo>
                          <a:pt x="114830" y="20924"/>
                        </a:lnTo>
                        <a:cubicBezTo>
                          <a:pt x="185779" y="7996"/>
                          <a:pt x="283793" y="0"/>
                          <a:pt x="392056" y="0"/>
                        </a:cubicBezTo>
                        <a:close/>
                      </a:path>
                    </a:pathLst>
                  </a:custGeom>
                  <a:gradFill flip="none" rotWithShape="1">
                    <a:gsLst>
                      <a:gs pos="68815">
                        <a:srgbClr val="3368FF"/>
                      </a:gs>
                      <a:gs pos="37630">
                        <a:srgbClr val="668EFF"/>
                      </a:gs>
                      <a:gs pos="1000">
                        <a:srgbClr val="3368FF"/>
                      </a:gs>
                      <a:gs pos="100000">
                        <a:srgbClr val="3368FF"/>
                      </a:gs>
                    </a:gsLst>
                    <a:lin ang="0" scaled="0"/>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31" name="显眼包PPT-17"/>
                  <p:cNvSpPr/>
                  <p:nvPr/>
                </p:nvSpPr>
                <p:spPr>
                  <a:xfrm>
                    <a:off x="1028700" y="5670769"/>
                    <a:ext cx="784112" cy="142875"/>
                  </a:xfrm>
                  <a:prstGeom prst="ellipse">
                    <a:avLst/>
                  </a:prstGeom>
                  <a:gradFill flip="none" rotWithShape="1">
                    <a:gsLst>
                      <a:gs pos="25000">
                        <a:srgbClr val="668EFF"/>
                      </a:gs>
                      <a:gs pos="66000">
                        <a:srgbClr val="3368FF"/>
                      </a:gs>
                    </a:gsLst>
                    <a:path path="circle">
                      <a:fillToRect r="100000" b="100000"/>
                    </a:path>
                    <a:tileRect l="-100000" t="-100000"/>
                  </a:gradFill>
                  <a:ln w="3175">
                    <a:solidFill>
                      <a:srgbClr val="FFFFFF"/>
                    </a:solidFill>
                  </a:ln>
                  <a:effectLst>
                    <a:outerShdw blurRad="279400" dist="279400" dir="5400000" sx="90000" sy="9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4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32" name="显眼包PPT-18"/>
                  <p:cNvSpPr/>
                  <p:nvPr/>
                </p:nvSpPr>
                <p:spPr>
                  <a:xfrm>
                    <a:off x="1221582" y="5707678"/>
                    <a:ext cx="398350" cy="69056"/>
                  </a:xfrm>
                  <a:prstGeom prst="ellipse">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427" name="显眼包PPT-19"/>
              <p:cNvSpPr txBox="1"/>
              <p:nvPr/>
            </p:nvSpPr>
            <p:spPr>
              <a:xfrm>
                <a:off x="5589116" y="4066525"/>
                <a:ext cx="790994" cy="184231"/>
              </a:xfrm>
              <a:prstGeom prst="rect">
                <a:avLst/>
              </a:prstGeom>
              <a:noFill/>
              <a:effectLst>
                <a:outerShdw blurRad="12700" dist="12700" dir="2700000" algn="tl" rotWithShape="0">
                  <a:srgbClr val="FFFFFF"/>
                </a:outerShdw>
              </a:effectLst>
            </p:spPr>
            <p:txBody>
              <a:bodyPr wrap="square" lIns="0" tIns="0" rIns="0" bIns="0" rtlCol="0">
                <a:spAutoFit/>
              </a:bodyPr>
              <a:lstStyle>
                <a:defPPr>
                  <a:defRPr lang="en-US">
                    <a:latin typeface="微软雅黑"/>
                    <a:ea typeface="微软雅黑"/>
                    <a:cs typeface="微软雅黑"/>
                  </a:defRPr>
                </a:defPPr>
                <a:lvl1pPr algn="ctr">
                  <a:defRPr sz="2000">
                    <a:solidFill>
                      <a:srgbClr val="0042FF"/>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理念升级</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237" name="组合 236"/>
            <p:cNvGrpSpPr/>
            <p:nvPr/>
          </p:nvGrpSpPr>
          <p:grpSpPr>
            <a:xfrm rot="0">
              <a:off x="2375" y="2763"/>
              <a:ext cx="1516" cy="369"/>
              <a:chOff x="5445546" y="4066525"/>
              <a:chExt cx="1078132" cy="234418"/>
            </a:xfrm>
          </p:grpSpPr>
          <p:grpSp>
            <p:nvGrpSpPr>
              <p:cNvPr id="238" name="组合 237"/>
              <p:cNvGrpSpPr/>
              <p:nvPr/>
            </p:nvGrpSpPr>
            <p:grpSpPr>
              <a:xfrm>
                <a:off x="5445546" y="4117493"/>
                <a:ext cx="1078132" cy="183450"/>
                <a:chOff x="7538601" y="1907049"/>
                <a:chExt cx="784353" cy="382913"/>
              </a:xfrm>
            </p:grpSpPr>
            <p:sp>
              <p:nvSpPr>
                <p:cNvPr id="239" name="显眼包PPT-15"/>
                <p:cNvSpPr/>
                <p:nvPr/>
              </p:nvSpPr>
              <p:spPr>
                <a:xfrm>
                  <a:off x="7538842" y="1907049"/>
                  <a:ext cx="784112" cy="309140"/>
                </a:xfrm>
                <a:prstGeom prst="rect">
                  <a:avLst/>
                </a:prstGeom>
                <a:gradFill>
                  <a:gsLst>
                    <a:gs pos="47700">
                      <a:srgbClr val="668EFF">
                        <a:alpha val="22000"/>
                      </a:srgbClr>
                    </a:gs>
                    <a:gs pos="0">
                      <a:srgbClr val="668EFF">
                        <a:alpha val="0"/>
                      </a:srgbClr>
                    </a:gs>
                    <a:gs pos="100000">
                      <a:srgbClr val="3368FF">
                        <a:alpha val="39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240" name="组合 239"/>
                <p:cNvGrpSpPr/>
                <p:nvPr/>
              </p:nvGrpSpPr>
              <p:grpSpPr>
                <a:xfrm>
                  <a:off x="7538601" y="2096913"/>
                  <a:ext cx="784112" cy="193049"/>
                  <a:chOff x="1028700" y="5670769"/>
                  <a:chExt cx="784112" cy="193049"/>
                </a:xfrm>
              </p:grpSpPr>
              <p:sp>
                <p:nvSpPr>
                  <p:cNvPr id="241" name="显眼包PPT-16"/>
                  <p:cNvSpPr/>
                  <p:nvPr/>
                </p:nvSpPr>
                <p:spPr>
                  <a:xfrm>
                    <a:off x="1028700" y="5720942"/>
                    <a:ext cx="784112" cy="142876"/>
                  </a:xfrm>
                  <a:custGeom>
                    <a:avLst/>
                    <a:gdLst>
                      <a:gd name="connsiteX0" fmla="*/ 392056 w 784112"/>
                      <a:gd name="connsiteY0" fmla="*/ 0 h 142876"/>
                      <a:gd name="connsiteX1" fmla="*/ 669282 w 784112"/>
                      <a:gd name="connsiteY1" fmla="*/ 20924 h 142876"/>
                      <a:gd name="connsiteX2" fmla="*/ 670537 w 784112"/>
                      <a:gd name="connsiteY2" fmla="*/ 21263 h 142876"/>
                      <a:gd name="connsiteX3" fmla="*/ 784112 w 784112"/>
                      <a:gd name="connsiteY3" fmla="*/ 21263 h 142876"/>
                      <a:gd name="connsiteX4" fmla="*/ 784112 w 784112"/>
                      <a:gd name="connsiteY4" fmla="*/ 70257 h 142876"/>
                      <a:gd name="connsiteX5" fmla="*/ 782804 w 784112"/>
                      <a:gd name="connsiteY5" fmla="*/ 70257 h 142876"/>
                      <a:gd name="connsiteX6" fmla="*/ 784112 w 784112"/>
                      <a:gd name="connsiteY6" fmla="*/ 71438 h 142876"/>
                      <a:gd name="connsiteX7" fmla="*/ 392056 w 784112"/>
                      <a:gd name="connsiteY7" fmla="*/ 142876 h 142876"/>
                      <a:gd name="connsiteX8" fmla="*/ 0 w 784112"/>
                      <a:gd name="connsiteY8" fmla="*/ 71438 h 142876"/>
                      <a:gd name="connsiteX9" fmla="*/ 1309 w 784112"/>
                      <a:gd name="connsiteY9" fmla="*/ 70257 h 142876"/>
                      <a:gd name="connsiteX10" fmla="*/ 0 w 784112"/>
                      <a:gd name="connsiteY10" fmla="*/ 70257 h 142876"/>
                      <a:gd name="connsiteX11" fmla="*/ 0 w 784112"/>
                      <a:gd name="connsiteY11" fmla="*/ 21263 h 142876"/>
                      <a:gd name="connsiteX12" fmla="*/ 113575 w 784112"/>
                      <a:gd name="connsiteY12" fmla="*/ 21263 h 142876"/>
                      <a:gd name="connsiteX13" fmla="*/ 114830 w 784112"/>
                      <a:gd name="connsiteY13" fmla="*/ 20924 h 142876"/>
                      <a:gd name="connsiteX14" fmla="*/ 392056 w 784112"/>
                      <a:gd name="connsiteY14" fmla="*/ 0 h 14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4112" h="142876">
                        <a:moveTo>
                          <a:pt x="392056" y="0"/>
                        </a:moveTo>
                        <a:cubicBezTo>
                          <a:pt x="500320" y="0"/>
                          <a:pt x="598334" y="7996"/>
                          <a:pt x="669282" y="20924"/>
                        </a:cubicBezTo>
                        <a:lnTo>
                          <a:pt x="670537" y="21263"/>
                        </a:lnTo>
                        <a:lnTo>
                          <a:pt x="784112" y="21263"/>
                        </a:lnTo>
                        <a:lnTo>
                          <a:pt x="784112" y="70257"/>
                        </a:lnTo>
                        <a:lnTo>
                          <a:pt x="782804" y="70257"/>
                        </a:lnTo>
                        <a:lnTo>
                          <a:pt x="784112" y="71438"/>
                        </a:lnTo>
                        <a:cubicBezTo>
                          <a:pt x="784112" y="110892"/>
                          <a:pt x="608583" y="142876"/>
                          <a:pt x="392056" y="142876"/>
                        </a:cubicBezTo>
                        <a:cubicBezTo>
                          <a:pt x="175529" y="142876"/>
                          <a:pt x="0" y="110892"/>
                          <a:pt x="0" y="71438"/>
                        </a:cubicBezTo>
                        <a:lnTo>
                          <a:pt x="1309" y="70257"/>
                        </a:lnTo>
                        <a:lnTo>
                          <a:pt x="0" y="70257"/>
                        </a:lnTo>
                        <a:lnTo>
                          <a:pt x="0" y="21263"/>
                        </a:lnTo>
                        <a:lnTo>
                          <a:pt x="113575" y="21263"/>
                        </a:lnTo>
                        <a:lnTo>
                          <a:pt x="114830" y="20924"/>
                        </a:lnTo>
                        <a:cubicBezTo>
                          <a:pt x="185779" y="7996"/>
                          <a:pt x="283793" y="0"/>
                          <a:pt x="392056" y="0"/>
                        </a:cubicBezTo>
                        <a:close/>
                      </a:path>
                    </a:pathLst>
                  </a:custGeom>
                  <a:gradFill flip="none" rotWithShape="1">
                    <a:gsLst>
                      <a:gs pos="68815">
                        <a:srgbClr val="3368FF"/>
                      </a:gs>
                      <a:gs pos="37630">
                        <a:srgbClr val="668EFF"/>
                      </a:gs>
                      <a:gs pos="1000">
                        <a:srgbClr val="3368FF"/>
                      </a:gs>
                      <a:gs pos="100000">
                        <a:srgbClr val="3368FF"/>
                      </a:gs>
                    </a:gsLst>
                    <a:lin ang="0" scaled="0"/>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42" name="显眼包PPT-17"/>
                  <p:cNvSpPr/>
                  <p:nvPr/>
                </p:nvSpPr>
                <p:spPr>
                  <a:xfrm>
                    <a:off x="1028700" y="5670769"/>
                    <a:ext cx="784112" cy="142875"/>
                  </a:xfrm>
                  <a:prstGeom prst="ellipse">
                    <a:avLst/>
                  </a:prstGeom>
                  <a:gradFill flip="none" rotWithShape="1">
                    <a:gsLst>
                      <a:gs pos="25000">
                        <a:srgbClr val="668EFF"/>
                      </a:gs>
                      <a:gs pos="66000">
                        <a:srgbClr val="3368FF"/>
                      </a:gs>
                    </a:gsLst>
                    <a:path path="circle">
                      <a:fillToRect r="100000" b="100000"/>
                    </a:path>
                    <a:tileRect l="-100000" t="-100000"/>
                  </a:gradFill>
                  <a:ln w="3175">
                    <a:solidFill>
                      <a:srgbClr val="FFFFFF"/>
                    </a:solidFill>
                  </a:ln>
                  <a:effectLst>
                    <a:outerShdw blurRad="279400" dist="279400" dir="5400000" sx="90000" sy="9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4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43" name="显眼包PPT-18"/>
                  <p:cNvSpPr/>
                  <p:nvPr/>
                </p:nvSpPr>
                <p:spPr>
                  <a:xfrm>
                    <a:off x="1221582" y="5707678"/>
                    <a:ext cx="398350" cy="69056"/>
                  </a:xfrm>
                  <a:prstGeom prst="ellipse">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244" name="显眼包PPT-19"/>
              <p:cNvSpPr txBox="1"/>
              <p:nvPr/>
            </p:nvSpPr>
            <p:spPr>
              <a:xfrm>
                <a:off x="5533736" y="4066525"/>
                <a:ext cx="909585" cy="184231"/>
              </a:xfrm>
              <a:prstGeom prst="rect">
                <a:avLst/>
              </a:prstGeom>
              <a:noFill/>
              <a:effectLst>
                <a:outerShdw blurRad="12700" dist="12700" dir="2700000" algn="tl" rotWithShape="0">
                  <a:srgbClr val="FFFFFF"/>
                </a:outerShdw>
              </a:effectLst>
            </p:spPr>
            <p:txBody>
              <a:bodyPr wrap="square" lIns="0" tIns="0" rIns="0" bIns="0" rtlCol="0">
                <a:spAutoFit/>
              </a:bodyPr>
              <a:lstStyle>
                <a:defPPr>
                  <a:defRPr lang="en-US">
                    <a:latin typeface="微软雅黑"/>
                    <a:ea typeface="微软雅黑"/>
                    <a:cs typeface="微软雅黑"/>
                  </a:defRPr>
                </a:defPPr>
                <a:lvl1pPr algn="ctr">
                  <a:defRPr sz="2000">
                    <a:solidFill>
                      <a:srgbClr val="0042FF"/>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能力赋能</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sp>
          <p:nvSpPr>
            <p:cNvPr id="246" name="文本框 245"/>
            <p:cNvSpPr txBox="1"/>
            <p:nvPr/>
          </p:nvSpPr>
          <p:spPr>
            <a:xfrm>
              <a:off x="485" y="3332"/>
              <a:ext cx="4013" cy="725"/>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工具培训与赋能：</a:t>
              </a:r>
              <a:r>
                <a:rPr lang="zh-CN" altLang="en-US" sz="1200">
                  <a:solidFill>
                    <a:srgbClr val="383838"/>
                  </a:solidFill>
                  <a:latin typeface="微软雅黑"/>
                  <a:ea typeface="微软雅黑"/>
                  <a:cs typeface="微软雅黑"/>
                </a:rPr>
                <a:t>对全员进行流程操作规范、数字化工具应用培训。</a:t>
              </a:r>
              <a:endParaRPr lang="zh-CN" altLang="en-US" sz="1200">
                <a:solidFill>
                  <a:srgbClr val="383838"/>
                </a:solidFill>
                <a:latin typeface="微软雅黑"/>
                <a:ea typeface="微软雅黑"/>
                <a:cs typeface="微软雅黑"/>
              </a:endParaRPr>
            </a:p>
          </p:txBody>
        </p:sp>
      </p:grpSp>
      <p:sp>
        <p:nvSpPr>
          <p:cNvPr id="15" name="任意多边形 14"/>
          <p:cNvSpPr/>
          <p:nvPr/>
        </p:nvSpPr>
        <p:spPr>
          <a:xfrm>
            <a:off x="271780" y="2976880"/>
            <a:ext cx="2799080" cy="1616710"/>
          </a:xfrm>
          <a:custGeom>
            <a:avLst/>
            <a:gdLst/>
            <a:ahLst/>
            <a:cxnLst>
              <a:cxn ang="3">
                <a:pos x="hc" y="t"/>
              </a:cxn>
              <a:cxn ang="cd2">
                <a:pos x="l" y="vc"/>
              </a:cxn>
              <a:cxn ang="cd4">
                <a:pos x="hc" y="b"/>
              </a:cxn>
              <a:cxn ang="0">
                <a:pos x="r" y="vc"/>
              </a:cxn>
            </a:cxnLst>
            <a:rect l="l" t="t" r="r" b="b"/>
            <a:pathLst>
              <a:path w="4408" h="2546">
                <a:moveTo>
                  <a:pt x="0" y="0"/>
                </a:moveTo>
                <a:lnTo>
                  <a:pt x="4408" y="0"/>
                </a:lnTo>
                <a:lnTo>
                  <a:pt x="4091" y="1269"/>
                </a:lnTo>
                <a:lnTo>
                  <a:pt x="4212" y="1757"/>
                </a:lnTo>
                <a:lnTo>
                  <a:pt x="4408" y="2536"/>
                </a:lnTo>
                <a:lnTo>
                  <a:pt x="4406" y="2536"/>
                </a:lnTo>
                <a:lnTo>
                  <a:pt x="4408" y="2544"/>
                </a:lnTo>
                <a:lnTo>
                  <a:pt x="3772" y="2544"/>
                </a:lnTo>
                <a:lnTo>
                  <a:pt x="3771" y="2546"/>
                </a:lnTo>
                <a:lnTo>
                  <a:pt x="28" y="2546"/>
                </a:lnTo>
                <a:lnTo>
                  <a:pt x="28" y="222"/>
                </a:lnTo>
                <a:lnTo>
                  <a:pt x="0" y="222"/>
                </a:lnTo>
                <a:lnTo>
                  <a:pt x="0" y="0"/>
                </a:lnTo>
                <a:close/>
              </a:path>
            </a:pathLst>
          </a:custGeom>
          <a:gradFill>
            <a:gsLst>
              <a:gs pos="12000">
                <a:srgbClr val="668EFF">
                  <a:alpha val="0"/>
                </a:srgbClr>
              </a:gs>
              <a:gs pos="100000">
                <a:srgbClr val="668EFF"/>
              </a:gs>
            </a:gsLst>
            <a:lin ang="0" scaled="0"/>
          </a:gra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 name="任意多边形 4"/>
          <p:cNvSpPr/>
          <p:nvPr/>
        </p:nvSpPr>
        <p:spPr>
          <a:xfrm>
            <a:off x="212725" y="3014980"/>
            <a:ext cx="2799080" cy="1616710"/>
          </a:xfrm>
          <a:custGeom>
            <a:avLst/>
            <a:gdLst/>
            <a:ahLst/>
            <a:cxnLst>
              <a:cxn ang="3">
                <a:pos x="hc" y="t"/>
              </a:cxn>
              <a:cxn ang="cd2">
                <a:pos x="l" y="vc"/>
              </a:cxn>
              <a:cxn ang="cd4">
                <a:pos x="hc" y="b"/>
              </a:cxn>
              <a:cxn ang="0">
                <a:pos x="r" y="vc"/>
              </a:cxn>
            </a:cxnLst>
            <a:rect l="l" t="t" r="r" b="b"/>
            <a:pathLst>
              <a:path w="4408" h="2546">
                <a:moveTo>
                  <a:pt x="0" y="0"/>
                </a:moveTo>
                <a:lnTo>
                  <a:pt x="4408" y="0"/>
                </a:lnTo>
                <a:lnTo>
                  <a:pt x="4091" y="1269"/>
                </a:lnTo>
                <a:lnTo>
                  <a:pt x="4212" y="1757"/>
                </a:lnTo>
                <a:lnTo>
                  <a:pt x="4408" y="2536"/>
                </a:lnTo>
                <a:lnTo>
                  <a:pt x="4406" y="2536"/>
                </a:lnTo>
                <a:lnTo>
                  <a:pt x="4408" y="2544"/>
                </a:lnTo>
                <a:lnTo>
                  <a:pt x="3772" y="2544"/>
                </a:lnTo>
                <a:lnTo>
                  <a:pt x="3771" y="2546"/>
                </a:lnTo>
                <a:lnTo>
                  <a:pt x="28" y="2546"/>
                </a:lnTo>
                <a:lnTo>
                  <a:pt x="28" y="222"/>
                </a:lnTo>
                <a:lnTo>
                  <a:pt x="0" y="222"/>
                </a:lnTo>
                <a:lnTo>
                  <a:pt x="0" y="0"/>
                </a:lnTo>
                <a:close/>
              </a:path>
            </a:pathLst>
          </a:custGeom>
          <a:gradFill>
            <a:gsLst>
              <a:gs pos="0">
                <a:srgbClr val="FFFFFF"/>
              </a:gs>
              <a:gs pos="81000">
                <a:srgbClr val="FFFFFF"/>
              </a:gs>
              <a:gs pos="100000">
                <a:srgbClr val="FFFFFF">
                  <a:alpha val="0"/>
                </a:srgbClr>
              </a:gs>
            </a:gsLst>
            <a:lin ang="10800000" scaled="1"/>
          </a:gradFill>
          <a:ln w="12700">
            <a:gradFill flip="none" rotWithShape="1">
              <a:gsLst>
                <a:gs pos="0">
                  <a:srgbClr val="3368FF"/>
                </a:gs>
                <a:gs pos="88000">
                  <a:srgbClr val="3368FF">
                    <a:alpha val="0"/>
                  </a:srgbClr>
                </a:gs>
              </a:gsLst>
              <a:lin ang="10800000" scaled="1"/>
              <a:tileRect/>
            </a:grad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 name="矩形 15"/>
          <p:cNvSpPr/>
          <p:nvPr/>
        </p:nvSpPr>
        <p:spPr>
          <a:xfrm rot="2760000">
            <a:off x="2688590" y="3564255"/>
            <a:ext cx="528955" cy="523875"/>
          </a:xfrm>
          <a:prstGeom prst="rect">
            <a:avLst/>
          </a:prstGeom>
          <a:solidFill>
            <a:srgbClr val="E6E6E6"/>
          </a:soli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7" name="矩形 16"/>
          <p:cNvSpPr/>
          <p:nvPr/>
        </p:nvSpPr>
        <p:spPr>
          <a:xfrm rot="2760000">
            <a:off x="2637790" y="3564255"/>
            <a:ext cx="528955" cy="523875"/>
          </a:xfrm>
          <a:prstGeom prst="rect">
            <a:avLst/>
          </a:prstGeom>
          <a:gradFill>
            <a:gsLst>
              <a:gs pos="0">
                <a:srgbClr val="3368FF"/>
              </a:gs>
              <a:gs pos="100000">
                <a:srgbClr val="0042FF"/>
              </a:gs>
            </a:gsLst>
            <a:lin ang="2700000" scaled="0"/>
          </a:gradFill>
          <a:ln w="12700">
            <a:noFill/>
            <a:prstDash val="solid"/>
          </a:ln>
          <a:effectLst>
            <a:outerShdw blurRad="190500" dir="16200000" rotWithShape="0">
              <a:srgbClr val="3368FF">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0" name="任意多边形 19"/>
          <p:cNvSpPr/>
          <p:nvPr/>
        </p:nvSpPr>
        <p:spPr>
          <a:xfrm flipH="1">
            <a:off x="9067800" y="2976880"/>
            <a:ext cx="2799080" cy="1616710"/>
          </a:xfrm>
          <a:custGeom>
            <a:avLst/>
            <a:gdLst/>
            <a:ahLst/>
            <a:cxnLst>
              <a:cxn ang="3">
                <a:pos x="hc" y="t"/>
              </a:cxn>
              <a:cxn ang="cd2">
                <a:pos x="l" y="vc"/>
              </a:cxn>
              <a:cxn ang="cd4">
                <a:pos x="hc" y="b"/>
              </a:cxn>
              <a:cxn ang="0">
                <a:pos x="r" y="vc"/>
              </a:cxn>
            </a:cxnLst>
            <a:rect l="l" t="t" r="r" b="b"/>
            <a:pathLst>
              <a:path w="4408" h="2546">
                <a:moveTo>
                  <a:pt x="0" y="0"/>
                </a:moveTo>
                <a:lnTo>
                  <a:pt x="4408" y="0"/>
                </a:lnTo>
                <a:lnTo>
                  <a:pt x="4091" y="1269"/>
                </a:lnTo>
                <a:lnTo>
                  <a:pt x="4212" y="1757"/>
                </a:lnTo>
                <a:lnTo>
                  <a:pt x="4408" y="2536"/>
                </a:lnTo>
                <a:lnTo>
                  <a:pt x="4406" y="2536"/>
                </a:lnTo>
                <a:lnTo>
                  <a:pt x="4408" y="2544"/>
                </a:lnTo>
                <a:lnTo>
                  <a:pt x="3772" y="2544"/>
                </a:lnTo>
                <a:lnTo>
                  <a:pt x="3771" y="2546"/>
                </a:lnTo>
                <a:lnTo>
                  <a:pt x="28" y="2546"/>
                </a:lnTo>
                <a:lnTo>
                  <a:pt x="28" y="222"/>
                </a:lnTo>
                <a:lnTo>
                  <a:pt x="0" y="222"/>
                </a:lnTo>
                <a:lnTo>
                  <a:pt x="0" y="0"/>
                </a:lnTo>
                <a:close/>
              </a:path>
            </a:pathLst>
          </a:custGeom>
          <a:gradFill>
            <a:gsLst>
              <a:gs pos="12000">
                <a:srgbClr val="668EFF">
                  <a:alpha val="0"/>
                </a:srgbClr>
              </a:gs>
              <a:gs pos="100000">
                <a:srgbClr val="668EFF"/>
              </a:gs>
            </a:gsLst>
            <a:lin ang="0" scaled="0"/>
          </a:gra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1" name="任意多边形 20"/>
          <p:cNvSpPr/>
          <p:nvPr/>
        </p:nvSpPr>
        <p:spPr>
          <a:xfrm flipH="1">
            <a:off x="9126855" y="3014980"/>
            <a:ext cx="2799080" cy="1616710"/>
          </a:xfrm>
          <a:custGeom>
            <a:avLst/>
            <a:gdLst/>
            <a:ahLst/>
            <a:cxnLst>
              <a:cxn ang="3">
                <a:pos x="hc" y="t"/>
              </a:cxn>
              <a:cxn ang="cd2">
                <a:pos x="l" y="vc"/>
              </a:cxn>
              <a:cxn ang="cd4">
                <a:pos x="hc" y="b"/>
              </a:cxn>
              <a:cxn ang="0">
                <a:pos x="r" y="vc"/>
              </a:cxn>
            </a:cxnLst>
            <a:rect l="l" t="t" r="r" b="b"/>
            <a:pathLst>
              <a:path w="4408" h="2546">
                <a:moveTo>
                  <a:pt x="0" y="0"/>
                </a:moveTo>
                <a:lnTo>
                  <a:pt x="4408" y="0"/>
                </a:lnTo>
                <a:lnTo>
                  <a:pt x="4091" y="1269"/>
                </a:lnTo>
                <a:lnTo>
                  <a:pt x="4212" y="1757"/>
                </a:lnTo>
                <a:lnTo>
                  <a:pt x="4408" y="2536"/>
                </a:lnTo>
                <a:lnTo>
                  <a:pt x="4406" y="2536"/>
                </a:lnTo>
                <a:lnTo>
                  <a:pt x="4408" y="2544"/>
                </a:lnTo>
                <a:lnTo>
                  <a:pt x="3772" y="2544"/>
                </a:lnTo>
                <a:lnTo>
                  <a:pt x="3771" y="2546"/>
                </a:lnTo>
                <a:lnTo>
                  <a:pt x="28" y="2546"/>
                </a:lnTo>
                <a:lnTo>
                  <a:pt x="28" y="222"/>
                </a:lnTo>
                <a:lnTo>
                  <a:pt x="0" y="222"/>
                </a:lnTo>
                <a:lnTo>
                  <a:pt x="0" y="0"/>
                </a:lnTo>
                <a:close/>
              </a:path>
            </a:pathLst>
          </a:custGeom>
          <a:gradFill>
            <a:gsLst>
              <a:gs pos="0">
                <a:srgbClr val="FFFFFF"/>
              </a:gs>
              <a:gs pos="81000">
                <a:srgbClr val="FFFFFF"/>
              </a:gs>
              <a:gs pos="100000">
                <a:srgbClr val="FFFFFF">
                  <a:alpha val="0"/>
                </a:srgbClr>
              </a:gs>
            </a:gsLst>
            <a:lin ang="10800000" scaled="1"/>
          </a:gradFill>
          <a:ln w="12700">
            <a:gradFill flip="none" rotWithShape="1">
              <a:gsLst>
                <a:gs pos="0">
                  <a:srgbClr val="3368FF"/>
                </a:gs>
                <a:gs pos="88000">
                  <a:srgbClr val="3368FF">
                    <a:alpha val="0"/>
                  </a:srgbClr>
                </a:gs>
              </a:gsLst>
              <a:lin ang="10800000" scaled="1"/>
              <a:tileRect/>
            </a:grad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2" name="矩形 21"/>
          <p:cNvSpPr/>
          <p:nvPr/>
        </p:nvSpPr>
        <p:spPr>
          <a:xfrm rot="2760000" flipH="1">
            <a:off x="9029700" y="3569970"/>
            <a:ext cx="528955" cy="523875"/>
          </a:xfrm>
          <a:prstGeom prst="rect">
            <a:avLst/>
          </a:prstGeom>
          <a:solidFill>
            <a:srgbClr val="E6E6E6"/>
          </a:soli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3" name="矩形 22"/>
          <p:cNvSpPr/>
          <p:nvPr/>
        </p:nvSpPr>
        <p:spPr>
          <a:xfrm rot="2760000" flipH="1">
            <a:off x="8971915" y="3564255"/>
            <a:ext cx="528955" cy="523875"/>
          </a:xfrm>
          <a:prstGeom prst="rect">
            <a:avLst/>
          </a:prstGeom>
          <a:gradFill>
            <a:gsLst>
              <a:gs pos="0">
                <a:srgbClr val="3368FF"/>
              </a:gs>
              <a:gs pos="100000">
                <a:srgbClr val="0042FF"/>
              </a:gs>
            </a:gsLst>
            <a:lin ang="2700000" scaled="0"/>
          </a:gradFill>
          <a:ln w="12700">
            <a:noFill/>
            <a:prstDash val="solid"/>
          </a:ln>
          <a:effectLst>
            <a:outerShdw blurRad="190500" dir="16200000" rotWithShape="0">
              <a:srgbClr val="3368FF">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52" name="任意多边形 51"/>
          <p:cNvSpPr/>
          <p:nvPr/>
        </p:nvSpPr>
        <p:spPr>
          <a:xfrm flipH="1">
            <a:off x="8615680" y="1174115"/>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12000">
                <a:srgbClr val="668EFF">
                  <a:alpha val="0"/>
                </a:srgbClr>
              </a:gs>
              <a:gs pos="100000">
                <a:srgbClr val="668EFF"/>
              </a:gs>
            </a:gsLst>
            <a:lin ang="0" scaled="0"/>
          </a:gra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3" name="任意多边形 52"/>
          <p:cNvSpPr/>
          <p:nvPr/>
        </p:nvSpPr>
        <p:spPr>
          <a:xfrm flipH="1">
            <a:off x="8676640" y="1214120"/>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0">
                <a:srgbClr val="FFFFFF"/>
              </a:gs>
              <a:gs pos="81000">
                <a:srgbClr val="FFFFFF"/>
              </a:gs>
              <a:gs pos="100000">
                <a:srgbClr val="FFFFFF">
                  <a:alpha val="0"/>
                </a:srgbClr>
              </a:gs>
            </a:gsLst>
            <a:lin ang="10800000" scaled="1"/>
          </a:gradFill>
          <a:ln w="12700">
            <a:gradFill flip="none" rotWithShape="1">
              <a:gsLst>
                <a:gs pos="0">
                  <a:srgbClr val="3368FF"/>
                </a:gs>
                <a:gs pos="88000">
                  <a:srgbClr val="3368FF">
                    <a:alpha val="0"/>
                  </a:srgbClr>
                </a:gs>
              </a:gsLst>
              <a:lin ang="10800000" scaled="1"/>
              <a:tileRect/>
            </a:grad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4" name="平行四边形 53"/>
          <p:cNvSpPr/>
          <p:nvPr/>
        </p:nvSpPr>
        <p:spPr>
          <a:xfrm flipH="1">
            <a:off x="8652510" y="1742440"/>
            <a:ext cx="678180" cy="678180"/>
          </a:xfrm>
          <a:prstGeom prst="parallelogram">
            <a:avLst/>
          </a:prstGeom>
          <a:solidFill>
            <a:srgbClr val="E6E6E6"/>
          </a:soli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55" name="平行四边形 54"/>
          <p:cNvSpPr/>
          <p:nvPr/>
        </p:nvSpPr>
        <p:spPr>
          <a:xfrm flipH="1">
            <a:off x="8575675" y="1687830"/>
            <a:ext cx="678180" cy="678180"/>
          </a:xfrm>
          <a:prstGeom prst="parallelogram">
            <a:avLst/>
          </a:prstGeom>
          <a:gradFill>
            <a:gsLst>
              <a:gs pos="0">
                <a:srgbClr val="3368FF"/>
              </a:gs>
              <a:gs pos="100000">
                <a:srgbClr val="0042FF"/>
              </a:gs>
            </a:gsLst>
            <a:lin ang="2700000" scaled="0"/>
          </a:gradFill>
          <a:ln w="12700">
            <a:noFill/>
            <a:prstDash val="solid"/>
          </a:ln>
          <a:effectLst>
            <a:outerShdw blurRad="190500" dir="16200000" rotWithShape="0">
              <a:srgbClr val="3368FF">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3" name="任意多边形 62"/>
          <p:cNvSpPr/>
          <p:nvPr/>
        </p:nvSpPr>
        <p:spPr>
          <a:xfrm flipH="1" flipV="1">
            <a:off x="8614410" y="4879975"/>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12000">
                <a:srgbClr val="668EFF">
                  <a:alpha val="0"/>
                </a:srgbClr>
              </a:gs>
              <a:gs pos="100000">
                <a:srgbClr val="668EFF"/>
              </a:gs>
            </a:gsLst>
            <a:lin ang="0" scaled="0"/>
          </a:gra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64" name="任意多边形 63"/>
          <p:cNvSpPr/>
          <p:nvPr/>
        </p:nvSpPr>
        <p:spPr>
          <a:xfrm flipH="1" flipV="1">
            <a:off x="8680450" y="4813935"/>
            <a:ext cx="3250565" cy="1625600"/>
          </a:xfrm>
          <a:custGeom>
            <a:avLst/>
            <a:gdLst/>
            <a:ahLst/>
            <a:cxnLst>
              <a:cxn ang="3">
                <a:pos x="hc" y="t"/>
              </a:cxn>
              <a:cxn ang="cd2">
                <a:pos x="l" y="vc"/>
              </a:cxn>
              <a:cxn ang="cd4">
                <a:pos x="hc" y="b"/>
              </a:cxn>
              <a:cxn ang="0">
                <a:pos x="r" y="vc"/>
              </a:cxn>
            </a:cxnLst>
            <a:rect l="l" t="t" r="r" b="b"/>
            <a:pathLst>
              <a:path w="5119" h="2560">
                <a:moveTo>
                  <a:pt x="0" y="0"/>
                </a:moveTo>
                <a:lnTo>
                  <a:pt x="5119" y="0"/>
                </a:lnTo>
                <a:lnTo>
                  <a:pt x="4482" y="2560"/>
                </a:lnTo>
                <a:lnTo>
                  <a:pt x="0" y="2560"/>
                </a:lnTo>
                <a:lnTo>
                  <a:pt x="0" y="0"/>
                </a:lnTo>
                <a:close/>
              </a:path>
            </a:pathLst>
          </a:custGeom>
          <a:gradFill>
            <a:gsLst>
              <a:gs pos="0">
                <a:srgbClr val="FFFFFF"/>
              </a:gs>
              <a:gs pos="81000">
                <a:srgbClr val="FFFFFF"/>
              </a:gs>
              <a:gs pos="100000">
                <a:srgbClr val="FFFFFF">
                  <a:alpha val="0"/>
                </a:srgbClr>
              </a:gs>
            </a:gsLst>
            <a:lin ang="10800000" scaled="1"/>
          </a:gradFill>
          <a:ln w="12700">
            <a:gradFill flip="none" rotWithShape="1">
              <a:gsLst>
                <a:gs pos="0">
                  <a:srgbClr val="3368FF"/>
                </a:gs>
                <a:gs pos="88000">
                  <a:srgbClr val="3368FF">
                    <a:alpha val="0"/>
                  </a:srgbClr>
                </a:gs>
              </a:gsLst>
              <a:lin ang="10800000" scaled="1"/>
              <a:tileRect/>
            </a:grad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5" name="平行四边形 64"/>
          <p:cNvSpPr/>
          <p:nvPr/>
        </p:nvSpPr>
        <p:spPr>
          <a:xfrm flipH="1" flipV="1">
            <a:off x="8623935" y="5326380"/>
            <a:ext cx="678180" cy="678180"/>
          </a:xfrm>
          <a:prstGeom prst="parallelogram">
            <a:avLst/>
          </a:prstGeom>
          <a:solidFill>
            <a:srgbClr val="E6E6E6"/>
          </a:solidFill>
          <a:ln w="12700">
            <a:noFill/>
            <a:prstDash val="solid"/>
          </a:ln>
          <a:effectLst>
            <a:outerShdw blurRad="190500" dir="16200000"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6" name="平行四边形 65"/>
          <p:cNvSpPr/>
          <p:nvPr/>
        </p:nvSpPr>
        <p:spPr>
          <a:xfrm flipH="1" flipV="1">
            <a:off x="8579485" y="5287645"/>
            <a:ext cx="678180" cy="678180"/>
          </a:xfrm>
          <a:prstGeom prst="parallelogram">
            <a:avLst/>
          </a:prstGeom>
          <a:gradFill>
            <a:gsLst>
              <a:gs pos="0">
                <a:srgbClr val="3368FF"/>
              </a:gs>
              <a:gs pos="100000">
                <a:srgbClr val="0042FF"/>
              </a:gs>
            </a:gsLst>
            <a:lin ang="2700000" scaled="0"/>
          </a:gradFill>
          <a:ln w="12700">
            <a:noFill/>
            <a:prstDash val="solid"/>
          </a:ln>
          <a:effectLst>
            <a:outerShdw blurRad="190500" dir="16200000" rotWithShape="0">
              <a:srgbClr val="3368FF">
                <a:alpha val="23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7" name="任意多边形 66"/>
          <p:cNvSpPr/>
          <p:nvPr/>
        </p:nvSpPr>
        <p:spPr>
          <a:xfrm flipH="1">
            <a:off x="9667240" y="1375410"/>
            <a:ext cx="2301875" cy="31242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612" h="492">
                <a:moveTo>
                  <a:pt x="0" y="0"/>
                </a:moveTo>
                <a:lnTo>
                  <a:pt x="3366" y="0"/>
                </a:lnTo>
                <a:cubicBezTo>
                  <a:pt x="3504" y="-4"/>
                  <a:pt x="3615" y="122"/>
                  <a:pt x="3612" y="246"/>
                </a:cubicBezTo>
                <a:cubicBezTo>
                  <a:pt x="3616" y="384"/>
                  <a:pt x="3490" y="495"/>
                  <a:pt x="3366" y="492"/>
                </a:cubicBezTo>
                <a:lnTo>
                  <a:pt x="0" y="492"/>
                </a:lnTo>
                <a:lnTo>
                  <a:pt x="0" y="0"/>
                </a:lnTo>
                <a:close/>
              </a:path>
            </a:pathLst>
          </a:custGeom>
          <a:gradFill>
            <a:gsLst>
              <a:gs pos="0">
                <a:srgbClr val="3368FF"/>
              </a:gs>
              <a:gs pos="67000">
                <a:srgbClr val="3368FF">
                  <a:alpha val="80000"/>
                </a:srgbClr>
              </a:gs>
              <a:gs pos="100000">
                <a:srgbClr val="3368FF">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8" name="任意多边形 67"/>
          <p:cNvSpPr/>
          <p:nvPr/>
        </p:nvSpPr>
        <p:spPr>
          <a:xfrm flipH="1">
            <a:off x="9667240" y="3181350"/>
            <a:ext cx="2301875" cy="31242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612" h="492">
                <a:moveTo>
                  <a:pt x="0" y="0"/>
                </a:moveTo>
                <a:lnTo>
                  <a:pt x="3366" y="0"/>
                </a:lnTo>
                <a:cubicBezTo>
                  <a:pt x="3504" y="-4"/>
                  <a:pt x="3615" y="122"/>
                  <a:pt x="3612" y="246"/>
                </a:cubicBezTo>
                <a:cubicBezTo>
                  <a:pt x="3616" y="384"/>
                  <a:pt x="3490" y="495"/>
                  <a:pt x="3366" y="492"/>
                </a:cubicBezTo>
                <a:lnTo>
                  <a:pt x="0" y="492"/>
                </a:lnTo>
                <a:lnTo>
                  <a:pt x="0" y="0"/>
                </a:lnTo>
                <a:close/>
              </a:path>
            </a:pathLst>
          </a:custGeom>
          <a:gradFill>
            <a:gsLst>
              <a:gs pos="0">
                <a:srgbClr val="3368FF"/>
              </a:gs>
              <a:gs pos="67000">
                <a:srgbClr val="3368FF">
                  <a:alpha val="80000"/>
                </a:srgbClr>
              </a:gs>
              <a:gs pos="100000">
                <a:srgbClr val="3368FF">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9" name="任意多边形 68"/>
          <p:cNvSpPr/>
          <p:nvPr/>
        </p:nvSpPr>
        <p:spPr>
          <a:xfrm flipH="1">
            <a:off x="9667240" y="4997450"/>
            <a:ext cx="2301875" cy="31242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612" h="492">
                <a:moveTo>
                  <a:pt x="0" y="0"/>
                </a:moveTo>
                <a:lnTo>
                  <a:pt x="3366" y="0"/>
                </a:lnTo>
                <a:cubicBezTo>
                  <a:pt x="3504" y="-4"/>
                  <a:pt x="3615" y="122"/>
                  <a:pt x="3612" y="246"/>
                </a:cubicBezTo>
                <a:cubicBezTo>
                  <a:pt x="3616" y="384"/>
                  <a:pt x="3490" y="495"/>
                  <a:pt x="3366" y="492"/>
                </a:cubicBezTo>
                <a:lnTo>
                  <a:pt x="0" y="492"/>
                </a:lnTo>
                <a:lnTo>
                  <a:pt x="0" y="0"/>
                </a:lnTo>
                <a:close/>
              </a:path>
            </a:pathLst>
          </a:custGeom>
          <a:gradFill>
            <a:gsLst>
              <a:gs pos="0">
                <a:srgbClr val="3368FF"/>
              </a:gs>
              <a:gs pos="67000">
                <a:srgbClr val="3368FF">
                  <a:alpha val="80000"/>
                </a:srgbClr>
              </a:gs>
              <a:gs pos="100000">
                <a:srgbClr val="3368FF">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0" name="任意多边形 69"/>
          <p:cNvSpPr/>
          <p:nvPr/>
        </p:nvSpPr>
        <p:spPr>
          <a:xfrm>
            <a:off x="126365" y="3181350"/>
            <a:ext cx="2403475" cy="31242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612" h="492">
                <a:moveTo>
                  <a:pt x="0" y="0"/>
                </a:moveTo>
                <a:lnTo>
                  <a:pt x="3366" y="0"/>
                </a:lnTo>
                <a:cubicBezTo>
                  <a:pt x="3504" y="-4"/>
                  <a:pt x="3615" y="122"/>
                  <a:pt x="3612" y="246"/>
                </a:cubicBezTo>
                <a:cubicBezTo>
                  <a:pt x="3616" y="384"/>
                  <a:pt x="3490" y="495"/>
                  <a:pt x="3366" y="492"/>
                </a:cubicBezTo>
                <a:lnTo>
                  <a:pt x="0" y="492"/>
                </a:lnTo>
                <a:lnTo>
                  <a:pt x="0" y="0"/>
                </a:lnTo>
                <a:close/>
              </a:path>
            </a:pathLst>
          </a:custGeom>
          <a:gradFill>
            <a:gsLst>
              <a:gs pos="0">
                <a:srgbClr val="3368FF"/>
              </a:gs>
              <a:gs pos="67000">
                <a:srgbClr val="3368FF">
                  <a:alpha val="80000"/>
                </a:srgbClr>
              </a:gs>
              <a:gs pos="100000">
                <a:srgbClr val="3368FF">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1" name="任意多边形 70"/>
          <p:cNvSpPr/>
          <p:nvPr/>
        </p:nvSpPr>
        <p:spPr>
          <a:xfrm>
            <a:off x="227965" y="4987290"/>
            <a:ext cx="2403475" cy="31242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612" h="492">
                <a:moveTo>
                  <a:pt x="0" y="0"/>
                </a:moveTo>
                <a:lnTo>
                  <a:pt x="3366" y="0"/>
                </a:lnTo>
                <a:cubicBezTo>
                  <a:pt x="3504" y="-4"/>
                  <a:pt x="3615" y="122"/>
                  <a:pt x="3612" y="246"/>
                </a:cubicBezTo>
                <a:cubicBezTo>
                  <a:pt x="3616" y="384"/>
                  <a:pt x="3490" y="495"/>
                  <a:pt x="3366" y="492"/>
                </a:cubicBezTo>
                <a:lnTo>
                  <a:pt x="0" y="492"/>
                </a:lnTo>
                <a:lnTo>
                  <a:pt x="0" y="0"/>
                </a:lnTo>
                <a:close/>
              </a:path>
            </a:pathLst>
          </a:custGeom>
          <a:gradFill>
            <a:gsLst>
              <a:gs pos="0">
                <a:srgbClr val="3368FF"/>
              </a:gs>
              <a:gs pos="67000">
                <a:srgbClr val="3368FF">
                  <a:alpha val="80000"/>
                </a:srgbClr>
              </a:gs>
              <a:gs pos="100000">
                <a:srgbClr val="3368FF">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2" name="文本框 71"/>
          <p:cNvSpPr txBox="1"/>
          <p:nvPr/>
        </p:nvSpPr>
        <p:spPr>
          <a:xfrm>
            <a:off x="2971800" y="1824990"/>
            <a:ext cx="497840" cy="382270"/>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effectLst>
                  <a:outerShdw blurRad="38100" dist="38100" dir="2700000" algn="tl">
                    <a:srgbClr val="383838">
                      <a:alpha val="43137"/>
                    </a:srgbClr>
                  </a:outerShdw>
                </a:effectLst>
                <a:latin typeface="微软雅黑"/>
                <a:ea typeface="微软雅黑"/>
                <a:cs typeface="微软雅黑"/>
              </a:rPr>
              <a:t>01</a:t>
            </a:r>
            <a:endParaRPr lang="en-US" altLang="zh-CN"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
        <p:nvSpPr>
          <p:cNvPr id="75" name="文本框 74"/>
          <p:cNvSpPr txBox="1"/>
          <p:nvPr/>
        </p:nvSpPr>
        <p:spPr>
          <a:xfrm>
            <a:off x="2952115" y="5457825"/>
            <a:ext cx="542290" cy="382270"/>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effectLst>
                  <a:outerShdw blurRad="38100" dist="38100" dir="2700000" algn="tl">
                    <a:srgbClr val="383838">
                      <a:alpha val="43137"/>
                    </a:srgbClr>
                  </a:outerShdw>
                </a:effectLst>
                <a:latin typeface="微软雅黑"/>
                <a:ea typeface="微软雅黑"/>
                <a:cs typeface="微软雅黑"/>
              </a:rPr>
              <a:t>03</a:t>
            </a:r>
            <a:endParaRPr lang="en-US" altLang="zh-CN"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
        <p:nvSpPr>
          <p:cNvPr id="76" name="文本框 75"/>
          <p:cNvSpPr txBox="1"/>
          <p:nvPr/>
        </p:nvSpPr>
        <p:spPr>
          <a:xfrm>
            <a:off x="8637270" y="1818005"/>
            <a:ext cx="497840" cy="382270"/>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effectLst>
                  <a:outerShdw blurRad="38100" dist="38100" dir="2700000" algn="tl">
                    <a:srgbClr val="383838">
                      <a:alpha val="43137"/>
                    </a:srgbClr>
                  </a:outerShdw>
                </a:effectLst>
                <a:latin typeface="微软雅黑"/>
                <a:ea typeface="微软雅黑"/>
                <a:cs typeface="微软雅黑"/>
              </a:rPr>
              <a:t>04</a:t>
            </a:r>
            <a:endParaRPr lang="en-US" altLang="zh-CN"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
        <p:nvSpPr>
          <p:cNvPr id="77" name="文本框 76"/>
          <p:cNvSpPr txBox="1"/>
          <p:nvPr/>
        </p:nvSpPr>
        <p:spPr>
          <a:xfrm>
            <a:off x="8987155" y="3623945"/>
            <a:ext cx="497840" cy="382270"/>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effectLst>
                  <a:outerShdw blurRad="38100" dist="38100" dir="2700000" algn="tl">
                    <a:srgbClr val="383838">
                      <a:alpha val="43137"/>
                    </a:srgbClr>
                  </a:outerShdw>
                </a:effectLst>
                <a:latin typeface="微软雅黑"/>
                <a:ea typeface="微软雅黑"/>
                <a:cs typeface="微软雅黑"/>
              </a:rPr>
              <a:t>05</a:t>
            </a:r>
            <a:endParaRPr lang="en-US" altLang="zh-CN"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
        <p:nvSpPr>
          <p:cNvPr id="78" name="文本框 77"/>
          <p:cNvSpPr txBox="1"/>
          <p:nvPr/>
        </p:nvSpPr>
        <p:spPr>
          <a:xfrm>
            <a:off x="8657590" y="5433695"/>
            <a:ext cx="497840" cy="382270"/>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effectLst>
                  <a:outerShdw blurRad="38100" dist="38100" dir="2700000" algn="tl">
                    <a:srgbClr val="383838">
                      <a:alpha val="43137"/>
                    </a:srgbClr>
                  </a:outerShdw>
                </a:effectLst>
                <a:latin typeface="微软雅黑"/>
                <a:ea typeface="微软雅黑"/>
                <a:cs typeface="微软雅黑"/>
              </a:rPr>
              <a:t>06</a:t>
            </a:r>
            <a:endParaRPr lang="en-US" altLang="zh-CN"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
        <p:nvSpPr>
          <p:cNvPr id="79" name="©显眼包PPT17"/>
          <p:cNvSpPr txBox="1"/>
          <p:nvPr/>
        </p:nvSpPr>
        <p:spPr>
          <a:xfrm>
            <a:off x="600075" y="3207232"/>
            <a:ext cx="1625600" cy="245745"/>
          </a:xfrm>
          <a:prstGeom prst="rect">
            <a:avLst/>
          </a:prstGeom>
          <a:noFill/>
          <a:effectLst/>
        </p:spPr>
        <p:txBody>
          <a:bodyPr wrap="none" lIns="0" tIns="0" rIns="0" bIns="0" rtlCol="0">
            <a:spAutoFit/>
          </a:bodyPr>
          <a:lstStyle/>
          <a:p>
            <a:pPr algn="l">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规划长期运营节奏</a:t>
            </a:r>
            <a:endParaRPr lang="zh-CN" altLang="en-US" sz="1600" b="1" dirty="0">
              <a:solidFill>
                <a:srgbClr val="FFFFFF"/>
              </a:solidFill>
              <a:latin typeface="微软雅黑"/>
              <a:ea typeface="微软雅黑"/>
              <a:cs typeface="微软雅黑"/>
              <a:sym typeface="微软雅黑"/>
            </a:endParaRPr>
          </a:p>
        </p:txBody>
      </p:sp>
      <p:grpSp>
        <p:nvGrpSpPr>
          <p:cNvPr id="120" name="组合 119"/>
          <p:cNvGrpSpPr/>
          <p:nvPr/>
        </p:nvGrpSpPr>
        <p:grpSpPr>
          <a:xfrm>
            <a:off x="307975" y="5440045"/>
            <a:ext cx="2548255" cy="845185"/>
            <a:chOff x="485" y="8399"/>
            <a:chExt cx="4013" cy="1331"/>
          </a:xfrm>
        </p:grpSpPr>
        <p:sp>
          <p:nvSpPr>
            <p:cNvPr id="2138" name="©显眼包PPT3-1"/>
            <p:cNvSpPr/>
            <p:nvPr/>
          </p:nvSpPr>
          <p:spPr>
            <a:xfrm>
              <a:off x="617" y="8399"/>
              <a:ext cx="1489" cy="369"/>
            </a:xfrm>
            <a:prstGeom prst="roundRect">
              <a:avLst>
                <a:gd name="adj" fmla="val 50000"/>
              </a:avLst>
            </a:prstGeom>
            <a:gradFill flip="none" rotWithShape="1">
              <a:gsLst>
                <a:gs pos="62000">
                  <a:srgbClr val="FFFFFF">
                    <a:alpha val="56000"/>
                  </a:srgbClr>
                </a:gs>
                <a:gs pos="100000">
                  <a:srgbClr val="668EFF">
                    <a:alpha val="93000"/>
                  </a:srgbClr>
                </a:gs>
              </a:gsLst>
              <a:path path="shape">
                <a:fillToRect l="50000" t="50000" r="50000" b="50000"/>
              </a:path>
              <a:tileRect/>
            </a:gradFill>
            <a:ln w="19050">
              <a:solidFill>
                <a:srgbClr val="FFFFFF"/>
              </a:solidFill>
            </a:ln>
            <a:effectLst>
              <a:outerShdw blurRad="139700" dist="38100" dir="5400000" algn="t" rotWithShape="0">
                <a:srgbClr val="3368FF">
                  <a:alpha val="34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架构升级</a:t>
              </a:r>
              <a:endParaRPr lang="zh-CN" altLang="en-US" sz="1200" dirty="0">
                <a:solidFill>
                  <a:srgbClr val="0042FF"/>
                </a:solidFill>
                <a:latin typeface="微软雅黑"/>
                <a:ea typeface="微软雅黑"/>
                <a:cs typeface="微软雅黑"/>
                <a:sym typeface="微软雅黑"/>
              </a:endParaRPr>
            </a:p>
          </p:txBody>
        </p:sp>
        <p:sp>
          <p:nvSpPr>
            <p:cNvPr id="80" name="©显眼包PPT3-1"/>
            <p:cNvSpPr/>
            <p:nvPr/>
          </p:nvSpPr>
          <p:spPr>
            <a:xfrm>
              <a:off x="2426" y="8399"/>
              <a:ext cx="1471" cy="369"/>
            </a:xfrm>
            <a:prstGeom prst="roundRect">
              <a:avLst>
                <a:gd name="adj" fmla="val 50000"/>
              </a:avLst>
            </a:prstGeom>
            <a:gradFill flip="none" rotWithShape="1">
              <a:gsLst>
                <a:gs pos="62000">
                  <a:srgbClr val="FFFFFF">
                    <a:alpha val="56000"/>
                  </a:srgbClr>
                </a:gs>
                <a:gs pos="100000">
                  <a:srgbClr val="668EFF">
                    <a:alpha val="93000"/>
                  </a:srgbClr>
                </a:gs>
              </a:gsLst>
              <a:path path="shape">
                <a:fillToRect l="50000" t="50000" r="50000" b="50000"/>
              </a:path>
              <a:tileRect/>
            </a:gradFill>
            <a:ln w="19050">
              <a:solidFill>
                <a:srgbClr val="FFFFFF"/>
              </a:solidFill>
            </a:ln>
            <a:effectLst>
              <a:outerShdw blurRad="139700" dist="38100" dir="5400000" algn="t" rotWithShape="0">
                <a:srgbClr val="3368FF">
                  <a:alpha val="34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协同机制</a:t>
              </a:r>
              <a:endParaRPr lang="zh-CN" altLang="en-US" sz="1200" dirty="0">
                <a:solidFill>
                  <a:srgbClr val="0042FF"/>
                </a:solidFill>
                <a:latin typeface="微软雅黑"/>
                <a:ea typeface="微软雅黑"/>
                <a:cs typeface="微软雅黑"/>
                <a:sym typeface="微软雅黑"/>
              </a:endParaRPr>
            </a:p>
          </p:txBody>
        </p:sp>
        <p:sp>
          <p:nvSpPr>
            <p:cNvPr id="81" name="文本框 80"/>
            <p:cNvSpPr txBox="1"/>
            <p:nvPr/>
          </p:nvSpPr>
          <p:spPr>
            <a:xfrm>
              <a:off x="485" y="9005"/>
              <a:ext cx="4013" cy="725"/>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高效协同体系：</a:t>
              </a:r>
              <a:r>
                <a:rPr lang="zh-CN" altLang="en-US" sz="1200">
                  <a:solidFill>
                    <a:srgbClr val="383838"/>
                  </a:solidFill>
                  <a:latin typeface="微软雅黑"/>
                  <a:ea typeface="微软雅黑"/>
                  <a:cs typeface="微软雅黑"/>
                </a:rPr>
                <a:t>打造</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运营中台</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业务专班</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矩阵式架构，无缝协作。</a:t>
              </a:r>
              <a:endParaRPr lang="zh-CN" altLang="en-US" sz="1200">
                <a:solidFill>
                  <a:srgbClr val="383838"/>
                </a:solidFill>
                <a:latin typeface="微软雅黑"/>
                <a:ea typeface="微软雅黑"/>
                <a:cs typeface="微软雅黑"/>
              </a:endParaRPr>
            </a:p>
          </p:txBody>
        </p:sp>
      </p:grpSp>
      <p:sp>
        <p:nvSpPr>
          <p:cNvPr id="82" name="©显眼包PPT17"/>
          <p:cNvSpPr txBox="1"/>
          <p:nvPr/>
        </p:nvSpPr>
        <p:spPr>
          <a:xfrm>
            <a:off x="600075" y="5014442"/>
            <a:ext cx="1625600" cy="245745"/>
          </a:xfrm>
          <a:prstGeom prst="rect">
            <a:avLst/>
          </a:prstGeom>
          <a:noFill/>
          <a:effectLst/>
        </p:spPr>
        <p:txBody>
          <a:bodyPr wrap="none" lIns="0" tIns="0" rIns="0" bIns="0" rtlCol="0">
            <a:spAutoFit/>
          </a:bodyPr>
          <a:lstStyle/>
          <a:p>
            <a:pPr algn="l">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重塑运营组织阵型</a:t>
            </a:r>
            <a:endParaRPr lang="zh-CN" altLang="en-US" sz="1600" b="1" dirty="0">
              <a:solidFill>
                <a:srgbClr val="FFFFFF"/>
              </a:solidFill>
              <a:latin typeface="微软雅黑"/>
              <a:ea typeface="微软雅黑"/>
              <a:cs typeface="微软雅黑"/>
              <a:sym typeface="微软雅黑"/>
            </a:endParaRPr>
          </a:p>
        </p:txBody>
      </p:sp>
      <p:sp>
        <p:nvSpPr>
          <p:cNvPr id="94" name="显眼包PPT6"/>
          <p:cNvSpPr txBox="1"/>
          <p:nvPr/>
        </p:nvSpPr>
        <p:spPr>
          <a:xfrm>
            <a:off x="4066018" y="3518059"/>
            <a:ext cx="457200" cy="553720"/>
          </a:xfrm>
          <a:prstGeom prst="rect">
            <a:avLst/>
          </a:prstGeom>
          <a:noFill/>
        </p:spPr>
        <p:txBody>
          <a:bodyPr wrap="none" lIns="0" tIns="0" rIns="0" bIns="0" rtlCol="0">
            <a:spAutoFit/>
          </a:bodyPr>
          <a:lstStyle/>
          <a:p>
            <a:pPr indent="0" algn="l" fontAlgn="auto">
              <a:lnSpc>
                <a:spcPct val="100000"/>
              </a:lnSpc>
              <a:spcAft>
                <a:spcPts val="0"/>
              </a:spcAft>
              <a:defRPr>
                <a:latin typeface="微软雅黑"/>
                <a:ea typeface="微软雅黑"/>
                <a:cs typeface="微软雅黑"/>
              </a:defRPr>
            </a:pPr>
            <a:r>
              <a:rPr lang="zh-CN" b="1">
                <a:ln>
                  <a:solidFill>
                    <a:srgbClr val="FFFFFF"/>
                  </a:solidFill>
                </a:ln>
                <a:solidFill>
                  <a:srgbClr val="383838"/>
                </a:solidFill>
                <a:effectLst/>
                <a:latin typeface="微软雅黑"/>
                <a:ea typeface="微软雅黑"/>
                <a:cs typeface="微软雅黑"/>
              </a:rPr>
              <a:t>决策</a:t>
            </a:r>
            <a:endParaRPr lang="zh-CN" b="1">
              <a:ln>
                <a:solidFill>
                  <a:srgbClr val="FFFFFF"/>
                </a:solidFill>
              </a:ln>
              <a:solidFill>
                <a:srgbClr val="383838"/>
              </a:solidFill>
              <a:effectLst/>
              <a:latin typeface="微软雅黑"/>
              <a:ea typeface="微软雅黑"/>
              <a:cs typeface="微软雅黑"/>
            </a:endParaRPr>
          </a:p>
          <a:p>
            <a:pPr indent="0" algn="l" fontAlgn="auto">
              <a:lnSpc>
                <a:spcPct val="100000"/>
              </a:lnSpc>
              <a:spcAft>
                <a:spcPts val="0"/>
              </a:spcAft>
              <a:defRPr>
                <a:latin typeface="微软雅黑"/>
                <a:ea typeface="微软雅黑"/>
                <a:cs typeface="微软雅黑"/>
              </a:defRPr>
            </a:pPr>
            <a:r>
              <a:rPr lang="zh-CN" b="1">
                <a:ln>
                  <a:solidFill>
                    <a:srgbClr val="FFFFFF"/>
                  </a:solidFill>
                </a:ln>
                <a:solidFill>
                  <a:srgbClr val="383838"/>
                </a:solidFill>
                <a:effectLst/>
                <a:latin typeface="微软雅黑"/>
                <a:ea typeface="微软雅黑"/>
                <a:cs typeface="微软雅黑"/>
              </a:rPr>
              <a:t>空间</a:t>
            </a:r>
            <a:endParaRPr lang="zh-CN" b="1" dirty="0">
              <a:ln>
                <a:solidFill>
                  <a:srgbClr val="FFFFFF"/>
                </a:solidFill>
              </a:ln>
              <a:solidFill>
                <a:srgbClr val="383838"/>
              </a:solidFill>
              <a:effectLst/>
              <a:latin typeface="微软雅黑"/>
              <a:ea typeface="微软雅黑"/>
              <a:cs typeface="微软雅黑"/>
            </a:endParaRPr>
          </a:p>
        </p:txBody>
      </p:sp>
      <p:grpSp>
        <p:nvGrpSpPr>
          <p:cNvPr id="109" name="组合 108"/>
          <p:cNvGrpSpPr/>
          <p:nvPr/>
        </p:nvGrpSpPr>
        <p:grpSpPr>
          <a:xfrm>
            <a:off x="307975" y="3683000"/>
            <a:ext cx="2457450" cy="848995"/>
            <a:chOff x="485" y="5632"/>
            <a:chExt cx="3870" cy="1337"/>
          </a:xfrm>
        </p:grpSpPr>
        <p:grpSp>
          <p:nvGrpSpPr>
            <p:cNvPr id="561" name="组合 560"/>
            <p:cNvGrpSpPr/>
            <p:nvPr/>
          </p:nvGrpSpPr>
          <p:grpSpPr>
            <a:xfrm rot="0">
              <a:off x="602" y="5632"/>
              <a:ext cx="2899" cy="458"/>
              <a:chOff x="560388" y="1852792"/>
              <a:chExt cx="1686423" cy="290541"/>
            </a:xfrm>
            <a:effectLst/>
          </p:grpSpPr>
          <p:grpSp>
            <p:nvGrpSpPr>
              <p:cNvPr id="548" name="组合 547"/>
              <p:cNvGrpSpPr/>
              <p:nvPr/>
            </p:nvGrpSpPr>
            <p:grpSpPr>
              <a:xfrm>
                <a:off x="560388" y="1852792"/>
                <a:ext cx="1686423" cy="290541"/>
                <a:chOff x="560388" y="1875136"/>
                <a:chExt cx="1686423" cy="245857"/>
              </a:xfrm>
            </p:grpSpPr>
            <p:sp>
              <p:nvSpPr>
                <p:cNvPr id="541" name="显眼包PPT1-19"/>
                <p:cNvSpPr/>
                <p:nvPr/>
              </p:nvSpPr>
              <p:spPr>
                <a:xfrm>
                  <a:off x="560521" y="1875137"/>
                  <a:ext cx="1686290" cy="245856"/>
                </a:xfrm>
                <a:prstGeom prst="roundRect">
                  <a:avLst>
                    <a:gd name="adj" fmla="val 50000"/>
                  </a:avLst>
                </a:prstGeom>
                <a:solidFill>
                  <a:srgbClr val="FFFFFF"/>
                </a:solidFill>
                <a:ln w="6350">
                  <a:solidFill>
                    <a:srgbClr val="3368FF"/>
                  </a:solidFill>
                </a:ln>
                <a:effectLst>
                  <a:outerShdw blurRad="203200" dist="38100" dir="5400000" sx="90000" sy="90000" algn="t" rotWithShape="0">
                    <a:srgbClr val="0042FF">
                      <a:alpha val="20000"/>
                    </a:srgbClr>
                  </a:outerShdw>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200">
                    <a:latin typeface="微软雅黑"/>
                    <a:ea typeface="微软雅黑"/>
                    <a:cs typeface="微软雅黑"/>
                  </a:endParaRPr>
                </a:p>
              </p:txBody>
            </p:sp>
            <p:sp>
              <p:nvSpPr>
                <p:cNvPr id="546" name="显眼包PPT1-20"/>
                <p:cNvSpPr/>
                <p:nvPr/>
              </p:nvSpPr>
              <p:spPr>
                <a:xfrm>
                  <a:off x="560388" y="1875136"/>
                  <a:ext cx="927753" cy="245856"/>
                </a:xfrm>
                <a:prstGeom prst="roundRect">
                  <a:avLst>
                    <a:gd name="adj" fmla="val 50000"/>
                  </a:avLst>
                </a:prstGeom>
                <a:gradFill flip="none" rotWithShape="1">
                  <a:gsLst>
                    <a:gs pos="0">
                      <a:srgbClr val="668EFF"/>
                    </a:gs>
                    <a:gs pos="95000">
                      <a:srgbClr val="3368FF"/>
                    </a:gs>
                  </a:gsLst>
                  <a:lin ang="2700000" scaled="1"/>
                  <a:tileRect/>
                </a:gradFill>
                <a:ln w="6350">
                  <a:solidFill>
                    <a:srgbClr val="3368FF"/>
                  </a:soli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wrap="none" rtlCol="0" anchor="ctr">
                  <a:noAutofit/>
                </a:bodyPr>
                <a:lstStyle/>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节奏管控</a:t>
                  </a:r>
                  <a:endParaRPr lang="zh-CN" altLang="en-US" sz="1200">
                    <a:solidFill>
                      <a:srgbClr val="FFFFFF"/>
                    </a:solidFill>
                    <a:latin typeface="微软雅黑"/>
                    <a:ea typeface="微软雅黑"/>
                    <a:cs typeface="微软雅黑"/>
                    <a:sym typeface="微软雅黑"/>
                  </a:endParaRPr>
                </a:p>
              </p:txBody>
            </p:sp>
          </p:grpSp>
          <p:sp>
            <p:nvSpPr>
              <p:cNvPr id="547" name="显眼包PPT1-21"/>
              <p:cNvSpPr txBox="1"/>
              <p:nvPr/>
            </p:nvSpPr>
            <p:spPr>
              <a:xfrm>
                <a:off x="1522862" y="1901374"/>
                <a:ext cx="616700" cy="183967"/>
              </a:xfrm>
              <a:prstGeom prst="rect">
                <a:avLst/>
              </a:prstGeom>
              <a:noFill/>
            </p:spPr>
            <p:txBody>
              <a:bodyPr wrap="square" lIns="0" tIns="0" rIns="0" bIns="0" rtlCol="0">
                <a:spAutoFit/>
              </a:bodyPr>
              <a:lstStyle/>
              <a:p>
                <a:pPr algn="ctr">
                  <a:defRPr>
                    <a:latin typeface="微软雅黑"/>
                    <a:ea typeface="微软雅黑"/>
                    <a:cs typeface="微软雅黑"/>
                  </a:defRPr>
                </a:pPr>
                <a:r>
                  <a:rPr kumimoji="0" lang="zh-CN" altLang="en-US" sz="1200" b="0" i="0" u="none" strike="noStrike" kern="1200" cap="none" spc="0" normalizeH="0" baseline="0" noProof="0">
                    <a:ln>
                      <a:noFill/>
                    </a:ln>
                    <a:solidFill>
                      <a:srgbClr val="0042FF"/>
                    </a:solidFill>
                    <a:effectLst/>
                    <a:uLnTx/>
                    <a:uFillTx/>
                    <a:latin typeface="微软雅黑"/>
                    <a:ea typeface="微软雅黑"/>
                    <a:cs typeface="微软雅黑"/>
                    <a:sym typeface="微软雅黑"/>
                  </a:rPr>
                  <a:t>效率提升</a:t>
                </a:r>
                <a:endParaRPr kumimoji="0" lang="zh-CN" altLang="en-US" sz="1200" b="0" i="0" u="none" strike="noStrike" kern="1200" cap="none" spc="0" normalizeH="0" baseline="0" noProof="0">
                  <a:ln>
                    <a:noFill/>
                  </a:ln>
                  <a:solidFill>
                    <a:srgbClr val="0042FF"/>
                  </a:solidFill>
                  <a:effectLst/>
                  <a:uLnTx/>
                  <a:uFillTx/>
                  <a:latin typeface="微软雅黑"/>
                  <a:ea typeface="微软雅黑"/>
                  <a:cs typeface="微软雅黑"/>
                  <a:sym typeface="微软雅黑"/>
                </a:endParaRPr>
              </a:p>
            </p:txBody>
          </p:sp>
        </p:grpSp>
        <p:sp>
          <p:nvSpPr>
            <p:cNvPr id="85" name="文本框 84"/>
            <p:cNvSpPr txBox="1"/>
            <p:nvPr/>
          </p:nvSpPr>
          <p:spPr>
            <a:xfrm>
              <a:off x="485" y="6244"/>
              <a:ext cx="3870" cy="725"/>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响应速度加快：</a:t>
              </a:r>
              <a:r>
                <a:rPr lang="zh-CN" altLang="en-US" sz="1200">
                  <a:solidFill>
                    <a:srgbClr val="383838"/>
                  </a:solidFill>
                  <a:latin typeface="微软雅黑"/>
                  <a:ea typeface="微软雅黑"/>
                  <a:cs typeface="微软雅黑"/>
                </a:rPr>
                <a:t>通过</a:t>
              </a:r>
              <a:r>
                <a:rPr lang="en-US" altLang="zh-CN" sz="1200">
                  <a:solidFill>
                    <a:srgbClr val="383838"/>
                  </a:solidFill>
                  <a:latin typeface="微软雅黑"/>
                  <a:ea typeface="微软雅黑"/>
                  <a:cs typeface="微软雅黑"/>
                </a:rPr>
                <a:t>BI</a:t>
              </a:r>
              <a:r>
                <a:rPr lang="zh-CN" altLang="en-US" sz="1200">
                  <a:solidFill>
                    <a:srgbClr val="383838"/>
                  </a:solidFill>
                  <a:latin typeface="微软雅黑"/>
                  <a:ea typeface="微软雅黑"/>
                  <a:cs typeface="微软雅黑"/>
                </a:rPr>
                <a:t>工具追踪流程节点进度，</a:t>
              </a:r>
              <a:r>
                <a:rPr lang="zh-CN" sz="1200">
                  <a:solidFill>
                    <a:srgbClr val="383838"/>
                  </a:solidFill>
                  <a:latin typeface="微软雅黑"/>
                  <a:ea typeface="微软雅黑"/>
                  <a:cs typeface="微软雅黑"/>
                </a:rPr>
                <a:t>压缩需求交付周期。</a:t>
              </a:r>
              <a:endParaRPr lang="zh-CN" sz="1200">
                <a:solidFill>
                  <a:srgbClr val="383838"/>
                </a:solidFill>
                <a:latin typeface="微软雅黑"/>
                <a:ea typeface="微软雅黑"/>
                <a:cs typeface="微软雅黑"/>
              </a:endParaRPr>
            </a:p>
          </p:txBody>
        </p:sp>
      </p:grpSp>
      <p:grpSp>
        <p:nvGrpSpPr>
          <p:cNvPr id="87" name="组合 86"/>
          <p:cNvGrpSpPr/>
          <p:nvPr/>
        </p:nvGrpSpPr>
        <p:grpSpPr>
          <a:xfrm>
            <a:off x="9501505" y="1843405"/>
            <a:ext cx="2548255" cy="839470"/>
            <a:chOff x="485" y="2735"/>
            <a:chExt cx="4013" cy="1322"/>
          </a:xfrm>
        </p:grpSpPr>
        <p:grpSp>
          <p:nvGrpSpPr>
            <p:cNvPr id="88" name="组合 87"/>
            <p:cNvGrpSpPr/>
            <p:nvPr/>
          </p:nvGrpSpPr>
          <p:grpSpPr>
            <a:xfrm rot="0">
              <a:off x="491" y="2735"/>
              <a:ext cx="1516" cy="369"/>
              <a:chOff x="5445546" y="4066525"/>
              <a:chExt cx="1078132" cy="234418"/>
            </a:xfrm>
          </p:grpSpPr>
          <p:grpSp>
            <p:nvGrpSpPr>
              <p:cNvPr id="89" name="组合 88"/>
              <p:cNvGrpSpPr/>
              <p:nvPr/>
            </p:nvGrpSpPr>
            <p:grpSpPr>
              <a:xfrm>
                <a:off x="5445546" y="4117493"/>
                <a:ext cx="1078132" cy="183450"/>
                <a:chOff x="7538601" y="1907049"/>
                <a:chExt cx="784353" cy="382913"/>
              </a:xfrm>
            </p:grpSpPr>
            <p:sp>
              <p:nvSpPr>
                <p:cNvPr id="91" name="显眼包PPT-15"/>
                <p:cNvSpPr/>
                <p:nvPr/>
              </p:nvSpPr>
              <p:spPr>
                <a:xfrm>
                  <a:off x="7538842" y="1907049"/>
                  <a:ext cx="784112" cy="309140"/>
                </a:xfrm>
                <a:prstGeom prst="rect">
                  <a:avLst/>
                </a:prstGeom>
                <a:gradFill>
                  <a:gsLst>
                    <a:gs pos="47700">
                      <a:srgbClr val="668EFF">
                        <a:alpha val="22000"/>
                      </a:srgbClr>
                    </a:gs>
                    <a:gs pos="0">
                      <a:srgbClr val="668EFF">
                        <a:alpha val="0"/>
                      </a:srgbClr>
                    </a:gs>
                    <a:gs pos="100000">
                      <a:srgbClr val="3368FF">
                        <a:alpha val="39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93" name="组合 92"/>
                <p:cNvGrpSpPr/>
                <p:nvPr/>
              </p:nvGrpSpPr>
              <p:grpSpPr>
                <a:xfrm>
                  <a:off x="7538601" y="2096913"/>
                  <a:ext cx="784112" cy="193049"/>
                  <a:chOff x="1028700" y="5670769"/>
                  <a:chExt cx="784112" cy="193049"/>
                </a:xfrm>
              </p:grpSpPr>
              <p:sp>
                <p:nvSpPr>
                  <p:cNvPr id="95" name="显眼包PPT-16"/>
                  <p:cNvSpPr/>
                  <p:nvPr/>
                </p:nvSpPr>
                <p:spPr>
                  <a:xfrm>
                    <a:off x="1028700" y="5720942"/>
                    <a:ext cx="784112" cy="142876"/>
                  </a:xfrm>
                  <a:custGeom>
                    <a:avLst/>
                    <a:gdLst>
                      <a:gd name="connsiteX0" fmla="*/ 392056 w 784112"/>
                      <a:gd name="connsiteY0" fmla="*/ 0 h 142876"/>
                      <a:gd name="connsiteX1" fmla="*/ 669282 w 784112"/>
                      <a:gd name="connsiteY1" fmla="*/ 20924 h 142876"/>
                      <a:gd name="connsiteX2" fmla="*/ 670537 w 784112"/>
                      <a:gd name="connsiteY2" fmla="*/ 21263 h 142876"/>
                      <a:gd name="connsiteX3" fmla="*/ 784112 w 784112"/>
                      <a:gd name="connsiteY3" fmla="*/ 21263 h 142876"/>
                      <a:gd name="connsiteX4" fmla="*/ 784112 w 784112"/>
                      <a:gd name="connsiteY4" fmla="*/ 70257 h 142876"/>
                      <a:gd name="connsiteX5" fmla="*/ 782804 w 784112"/>
                      <a:gd name="connsiteY5" fmla="*/ 70257 h 142876"/>
                      <a:gd name="connsiteX6" fmla="*/ 784112 w 784112"/>
                      <a:gd name="connsiteY6" fmla="*/ 71438 h 142876"/>
                      <a:gd name="connsiteX7" fmla="*/ 392056 w 784112"/>
                      <a:gd name="connsiteY7" fmla="*/ 142876 h 142876"/>
                      <a:gd name="connsiteX8" fmla="*/ 0 w 784112"/>
                      <a:gd name="connsiteY8" fmla="*/ 71438 h 142876"/>
                      <a:gd name="connsiteX9" fmla="*/ 1309 w 784112"/>
                      <a:gd name="connsiteY9" fmla="*/ 70257 h 142876"/>
                      <a:gd name="connsiteX10" fmla="*/ 0 w 784112"/>
                      <a:gd name="connsiteY10" fmla="*/ 70257 h 142876"/>
                      <a:gd name="connsiteX11" fmla="*/ 0 w 784112"/>
                      <a:gd name="connsiteY11" fmla="*/ 21263 h 142876"/>
                      <a:gd name="connsiteX12" fmla="*/ 113575 w 784112"/>
                      <a:gd name="connsiteY12" fmla="*/ 21263 h 142876"/>
                      <a:gd name="connsiteX13" fmla="*/ 114830 w 784112"/>
                      <a:gd name="connsiteY13" fmla="*/ 20924 h 142876"/>
                      <a:gd name="connsiteX14" fmla="*/ 392056 w 784112"/>
                      <a:gd name="connsiteY14" fmla="*/ 0 h 14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4112" h="142876">
                        <a:moveTo>
                          <a:pt x="392056" y="0"/>
                        </a:moveTo>
                        <a:cubicBezTo>
                          <a:pt x="500320" y="0"/>
                          <a:pt x="598334" y="7996"/>
                          <a:pt x="669282" y="20924"/>
                        </a:cubicBezTo>
                        <a:lnTo>
                          <a:pt x="670537" y="21263"/>
                        </a:lnTo>
                        <a:lnTo>
                          <a:pt x="784112" y="21263"/>
                        </a:lnTo>
                        <a:lnTo>
                          <a:pt x="784112" y="70257"/>
                        </a:lnTo>
                        <a:lnTo>
                          <a:pt x="782804" y="70257"/>
                        </a:lnTo>
                        <a:lnTo>
                          <a:pt x="784112" y="71438"/>
                        </a:lnTo>
                        <a:cubicBezTo>
                          <a:pt x="784112" y="110892"/>
                          <a:pt x="608583" y="142876"/>
                          <a:pt x="392056" y="142876"/>
                        </a:cubicBezTo>
                        <a:cubicBezTo>
                          <a:pt x="175529" y="142876"/>
                          <a:pt x="0" y="110892"/>
                          <a:pt x="0" y="71438"/>
                        </a:cubicBezTo>
                        <a:lnTo>
                          <a:pt x="1309" y="70257"/>
                        </a:lnTo>
                        <a:lnTo>
                          <a:pt x="0" y="70257"/>
                        </a:lnTo>
                        <a:lnTo>
                          <a:pt x="0" y="21263"/>
                        </a:lnTo>
                        <a:lnTo>
                          <a:pt x="113575" y="21263"/>
                        </a:lnTo>
                        <a:lnTo>
                          <a:pt x="114830" y="20924"/>
                        </a:lnTo>
                        <a:cubicBezTo>
                          <a:pt x="185779" y="7996"/>
                          <a:pt x="283793" y="0"/>
                          <a:pt x="392056" y="0"/>
                        </a:cubicBezTo>
                        <a:close/>
                      </a:path>
                    </a:pathLst>
                  </a:custGeom>
                  <a:gradFill flip="none" rotWithShape="1">
                    <a:gsLst>
                      <a:gs pos="68815">
                        <a:srgbClr val="3368FF"/>
                      </a:gs>
                      <a:gs pos="37630">
                        <a:srgbClr val="668EFF"/>
                      </a:gs>
                      <a:gs pos="1000">
                        <a:srgbClr val="3368FF"/>
                      </a:gs>
                      <a:gs pos="100000">
                        <a:srgbClr val="3368FF"/>
                      </a:gs>
                    </a:gsLst>
                    <a:lin ang="0" scaled="0"/>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96" name="显眼包PPT-17"/>
                  <p:cNvSpPr/>
                  <p:nvPr/>
                </p:nvSpPr>
                <p:spPr>
                  <a:xfrm>
                    <a:off x="1028700" y="5670769"/>
                    <a:ext cx="784112" cy="142875"/>
                  </a:xfrm>
                  <a:prstGeom prst="ellipse">
                    <a:avLst/>
                  </a:prstGeom>
                  <a:gradFill flip="none" rotWithShape="1">
                    <a:gsLst>
                      <a:gs pos="25000">
                        <a:srgbClr val="668EFF"/>
                      </a:gs>
                      <a:gs pos="66000">
                        <a:srgbClr val="3368FF"/>
                      </a:gs>
                    </a:gsLst>
                    <a:path path="circle">
                      <a:fillToRect r="100000" b="100000"/>
                    </a:path>
                    <a:tileRect l="-100000" t="-100000"/>
                  </a:gradFill>
                  <a:ln w="3175">
                    <a:solidFill>
                      <a:srgbClr val="FFFFFF"/>
                    </a:solidFill>
                  </a:ln>
                  <a:effectLst>
                    <a:outerShdw blurRad="279400" dist="279400" dir="5400000" sx="90000" sy="9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4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97" name="显眼包PPT-18"/>
                  <p:cNvSpPr/>
                  <p:nvPr/>
                </p:nvSpPr>
                <p:spPr>
                  <a:xfrm>
                    <a:off x="1221582" y="5707678"/>
                    <a:ext cx="398350" cy="69056"/>
                  </a:xfrm>
                  <a:prstGeom prst="ellipse">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98" name="显眼包PPT-19"/>
              <p:cNvSpPr txBox="1"/>
              <p:nvPr/>
            </p:nvSpPr>
            <p:spPr>
              <a:xfrm>
                <a:off x="5589116" y="4066525"/>
                <a:ext cx="790994" cy="184231"/>
              </a:xfrm>
              <a:prstGeom prst="rect">
                <a:avLst/>
              </a:prstGeom>
              <a:noFill/>
              <a:effectLst>
                <a:outerShdw blurRad="12700" dist="12700" dir="2700000" algn="tl" rotWithShape="0">
                  <a:srgbClr val="FFFFFF"/>
                </a:outerShdw>
              </a:effectLst>
            </p:spPr>
            <p:txBody>
              <a:bodyPr wrap="square" lIns="0" tIns="0" rIns="0" bIns="0" rtlCol="0">
                <a:spAutoFit/>
              </a:bodyPr>
              <a:lstStyle>
                <a:defPPr>
                  <a:defRPr lang="en-US">
                    <a:latin typeface="微软雅黑"/>
                    <a:ea typeface="微软雅黑"/>
                    <a:cs typeface="微软雅黑"/>
                  </a:defRPr>
                </a:defPPr>
                <a:lvl1pPr algn="ctr">
                  <a:defRPr sz="2000">
                    <a:solidFill>
                      <a:srgbClr val="0042FF"/>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深度诊断</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99" name="组合 98"/>
            <p:cNvGrpSpPr/>
            <p:nvPr/>
          </p:nvGrpSpPr>
          <p:grpSpPr>
            <a:xfrm rot="0">
              <a:off x="2375" y="2763"/>
              <a:ext cx="1516" cy="369"/>
              <a:chOff x="5445546" y="4066525"/>
              <a:chExt cx="1078132" cy="234418"/>
            </a:xfrm>
          </p:grpSpPr>
          <p:grpSp>
            <p:nvGrpSpPr>
              <p:cNvPr id="100" name="组合 99"/>
              <p:cNvGrpSpPr/>
              <p:nvPr/>
            </p:nvGrpSpPr>
            <p:grpSpPr>
              <a:xfrm>
                <a:off x="5445546" y="4117493"/>
                <a:ext cx="1078132" cy="183450"/>
                <a:chOff x="7538601" y="1907049"/>
                <a:chExt cx="784353" cy="382913"/>
              </a:xfrm>
            </p:grpSpPr>
            <p:sp>
              <p:nvSpPr>
                <p:cNvPr id="101" name="显眼包PPT-15"/>
                <p:cNvSpPr/>
                <p:nvPr/>
              </p:nvSpPr>
              <p:spPr>
                <a:xfrm>
                  <a:off x="7538842" y="1907049"/>
                  <a:ext cx="784112" cy="309140"/>
                </a:xfrm>
                <a:prstGeom prst="rect">
                  <a:avLst/>
                </a:prstGeom>
                <a:gradFill>
                  <a:gsLst>
                    <a:gs pos="47700">
                      <a:srgbClr val="668EFF">
                        <a:alpha val="22000"/>
                      </a:srgbClr>
                    </a:gs>
                    <a:gs pos="0">
                      <a:srgbClr val="668EFF">
                        <a:alpha val="0"/>
                      </a:srgbClr>
                    </a:gs>
                    <a:gs pos="100000">
                      <a:srgbClr val="3368FF">
                        <a:alpha val="39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102" name="组合 101"/>
                <p:cNvGrpSpPr/>
                <p:nvPr/>
              </p:nvGrpSpPr>
              <p:grpSpPr>
                <a:xfrm>
                  <a:off x="7538601" y="2096913"/>
                  <a:ext cx="784112" cy="193049"/>
                  <a:chOff x="1028700" y="5670769"/>
                  <a:chExt cx="784112" cy="193049"/>
                </a:xfrm>
              </p:grpSpPr>
              <p:sp>
                <p:nvSpPr>
                  <p:cNvPr id="103" name="显眼包PPT-16"/>
                  <p:cNvSpPr/>
                  <p:nvPr/>
                </p:nvSpPr>
                <p:spPr>
                  <a:xfrm>
                    <a:off x="1028700" y="5720942"/>
                    <a:ext cx="784112" cy="142876"/>
                  </a:xfrm>
                  <a:custGeom>
                    <a:avLst/>
                    <a:gdLst>
                      <a:gd name="connsiteX0" fmla="*/ 392056 w 784112"/>
                      <a:gd name="connsiteY0" fmla="*/ 0 h 142876"/>
                      <a:gd name="connsiteX1" fmla="*/ 669282 w 784112"/>
                      <a:gd name="connsiteY1" fmla="*/ 20924 h 142876"/>
                      <a:gd name="connsiteX2" fmla="*/ 670537 w 784112"/>
                      <a:gd name="connsiteY2" fmla="*/ 21263 h 142876"/>
                      <a:gd name="connsiteX3" fmla="*/ 784112 w 784112"/>
                      <a:gd name="connsiteY3" fmla="*/ 21263 h 142876"/>
                      <a:gd name="connsiteX4" fmla="*/ 784112 w 784112"/>
                      <a:gd name="connsiteY4" fmla="*/ 70257 h 142876"/>
                      <a:gd name="connsiteX5" fmla="*/ 782804 w 784112"/>
                      <a:gd name="connsiteY5" fmla="*/ 70257 h 142876"/>
                      <a:gd name="connsiteX6" fmla="*/ 784112 w 784112"/>
                      <a:gd name="connsiteY6" fmla="*/ 71438 h 142876"/>
                      <a:gd name="connsiteX7" fmla="*/ 392056 w 784112"/>
                      <a:gd name="connsiteY7" fmla="*/ 142876 h 142876"/>
                      <a:gd name="connsiteX8" fmla="*/ 0 w 784112"/>
                      <a:gd name="connsiteY8" fmla="*/ 71438 h 142876"/>
                      <a:gd name="connsiteX9" fmla="*/ 1309 w 784112"/>
                      <a:gd name="connsiteY9" fmla="*/ 70257 h 142876"/>
                      <a:gd name="connsiteX10" fmla="*/ 0 w 784112"/>
                      <a:gd name="connsiteY10" fmla="*/ 70257 h 142876"/>
                      <a:gd name="connsiteX11" fmla="*/ 0 w 784112"/>
                      <a:gd name="connsiteY11" fmla="*/ 21263 h 142876"/>
                      <a:gd name="connsiteX12" fmla="*/ 113575 w 784112"/>
                      <a:gd name="connsiteY12" fmla="*/ 21263 h 142876"/>
                      <a:gd name="connsiteX13" fmla="*/ 114830 w 784112"/>
                      <a:gd name="connsiteY13" fmla="*/ 20924 h 142876"/>
                      <a:gd name="connsiteX14" fmla="*/ 392056 w 784112"/>
                      <a:gd name="connsiteY14" fmla="*/ 0 h 14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4112" h="142876">
                        <a:moveTo>
                          <a:pt x="392056" y="0"/>
                        </a:moveTo>
                        <a:cubicBezTo>
                          <a:pt x="500320" y="0"/>
                          <a:pt x="598334" y="7996"/>
                          <a:pt x="669282" y="20924"/>
                        </a:cubicBezTo>
                        <a:lnTo>
                          <a:pt x="670537" y="21263"/>
                        </a:lnTo>
                        <a:lnTo>
                          <a:pt x="784112" y="21263"/>
                        </a:lnTo>
                        <a:lnTo>
                          <a:pt x="784112" y="70257"/>
                        </a:lnTo>
                        <a:lnTo>
                          <a:pt x="782804" y="70257"/>
                        </a:lnTo>
                        <a:lnTo>
                          <a:pt x="784112" y="71438"/>
                        </a:lnTo>
                        <a:cubicBezTo>
                          <a:pt x="784112" y="110892"/>
                          <a:pt x="608583" y="142876"/>
                          <a:pt x="392056" y="142876"/>
                        </a:cubicBezTo>
                        <a:cubicBezTo>
                          <a:pt x="175529" y="142876"/>
                          <a:pt x="0" y="110892"/>
                          <a:pt x="0" y="71438"/>
                        </a:cubicBezTo>
                        <a:lnTo>
                          <a:pt x="1309" y="70257"/>
                        </a:lnTo>
                        <a:lnTo>
                          <a:pt x="0" y="70257"/>
                        </a:lnTo>
                        <a:lnTo>
                          <a:pt x="0" y="21263"/>
                        </a:lnTo>
                        <a:lnTo>
                          <a:pt x="113575" y="21263"/>
                        </a:lnTo>
                        <a:lnTo>
                          <a:pt x="114830" y="20924"/>
                        </a:lnTo>
                        <a:cubicBezTo>
                          <a:pt x="185779" y="7996"/>
                          <a:pt x="283793" y="0"/>
                          <a:pt x="392056" y="0"/>
                        </a:cubicBezTo>
                        <a:close/>
                      </a:path>
                    </a:pathLst>
                  </a:custGeom>
                  <a:gradFill flip="none" rotWithShape="1">
                    <a:gsLst>
                      <a:gs pos="68815">
                        <a:srgbClr val="3368FF"/>
                      </a:gs>
                      <a:gs pos="37630">
                        <a:srgbClr val="668EFF"/>
                      </a:gs>
                      <a:gs pos="1000">
                        <a:srgbClr val="3368FF"/>
                      </a:gs>
                      <a:gs pos="100000">
                        <a:srgbClr val="3368FF"/>
                      </a:gs>
                    </a:gsLst>
                    <a:lin ang="0" scaled="0"/>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4" name="显眼包PPT-17"/>
                  <p:cNvSpPr/>
                  <p:nvPr/>
                </p:nvSpPr>
                <p:spPr>
                  <a:xfrm>
                    <a:off x="1028700" y="5670769"/>
                    <a:ext cx="784112" cy="142875"/>
                  </a:xfrm>
                  <a:prstGeom prst="ellipse">
                    <a:avLst/>
                  </a:prstGeom>
                  <a:gradFill flip="none" rotWithShape="1">
                    <a:gsLst>
                      <a:gs pos="25000">
                        <a:srgbClr val="668EFF"/>
                      </a:gs>
                      <a:gs pos="66000">
                        <a:srgbClr val="3368FF"/>
                      </a:gs>
                    </a:gsLst>
                    <a:path path="circle">
                      <a:fillToRect r="100000" b="100000"/>
                    </a:path>
                    <a:tileRect l="-100000" t="-100000"/>
                  </a:gradFill>
                  <a:ln w="3175">
                    <a:solidFill>
                      <a:srgbClr val="FFFFFF"/>
                    </a:solidFill>
                  </a:ln>
                  <a:effectLst>
                    <a:outerShdw blurRad="279400" dist="279400" dir="5400000" sx="90000" sy="90000" algn="t" rotWithShape="0">
                      <a:srgbClr val="3368FF">
                        <a:alpha val="29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4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5" name="显眼包PPT-18"/>
                  <p:cNvSpPr/>
                  <p:nvPr/>
                </p:nvSpPr>
                <p:spPr>
                  <a:xfrm>
                    <a:off x="1221582" y="5707678"/>
                    <a:ext cx="398350" cy="69056"/>
                  </a:xfrm>
                  <a:prstGeom prst="ellipse">
                    <a:avLst/>
                  </a:prstGeom>
                  <a:solidFill>
                    <a:srgbClr val="E6E6E6"/>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106" name="显眼包PPT-19"/>
              <p:cNvSpPr txBox="1"/>
              <p:nvPr/>
            </p:nvSpPr>
            <p:spPr>
              <a:xfrm>
                <a:off x="5533736" y="4066525"/>
                <a:ext cx="909585" cy="184231"/>
              </a:xfrm>
              <a:prstGeom prst="rect">
                <a:avLst/>
              </a:prstGeom>
              <a:noFill/>
              <a:effectLst>
                <a:outerShdw blurRad="12700" dist="12700" dir="2700000" algn="tl" rotWithShape="0">
                  <a:srgbClr val="FFFFFF"/>
                </a:outerShdw>
              </a:effectLst>
            </p:spPr>
            <p:txBody>
              <a:bodyPr wrap="square" lIns="0" tIns="0" rIns="0" bIns="0" rtlCol="0">
                <a:spAutoFit/>
              </a:bodyPr>
              <a:lstStyle>
                <a:defPPr>
                  <a:defRPr lang="en-US">
                    <a:latin typeface="微软雅黑"/>
                    <a:ea typeface="微软雅黑"/>
                    <a:cs typeface="微软雅黑"/>
                  </a:defRPr>
                </a:defPPr>
                <a:lvl1pPr algn="ctr">
                  <a:defRPr sz="2000">
                    <a:solidFill>
                      <a:srgbClr val="0042FF"/>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变革试点</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sp>
          <p:nvSpPr>
            <p:cNvPr id="107" name="文本框 106"/>
            <p:cNvSpPr txBox="1"/>
            <p:nvPr/>
          </p:nvSpPr>
          <p:spPr>
            <a:xfrm>
              <a:off x="485" y="3332"/>
              <a:ext cx="4013" cy="725"/>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主导平稳变革：</a:t>
              </a:r>
              <a:r>
                <a:rPr lang="zh-CN" altLang="en-US" sz="1200">
                  <a:solidFill>
                    <a:srgbClr val="383838"/>
                  </a:solidFill>
                  <a:latin typeface="微软雅黑"/>
                  <a:ea typeface="微软雅黑"/>
                  <a:cs typeface="微软雅黑"/>
                </a:rPr>
                <a:t>试点</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敏捷运营流程</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实现</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小步快跑、平稳变革</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grpSp>
      <p:grpSp>
        <p:nvGrpSpPr>
          <p:cNvPr id="110" name="组合 109"/>
          <p:cNvGrpSpPr/>
          <p:nvPr/>
        </p:nvGrpSpPr>
        <p:grpSpPr>
          <a:xfrm>
            <a:off x="9690100" y="3662681"/>
            <a:ext cx="2457450" cy="854074"/>
            <a:chOff x="485" y="5624"/>
            <a:chExt cx="3870" cy="1345"/>
          </a:xfrm>
        </p:grpSpPr>
        <p:grpSp>
          <p:nvGrpSpPr>
            <p:cNvPr id="113" name="组合 112"/>
            <p:cNvGrpSpPr/>
            <p:nvPr/>
          </p:nvGrpSpPr>
          <p:grpSpPr>
            <a:xfrm rot="0">
              <a:off x="602" y="5624"/>
              <a:ext cx="2899" cy="466"/>
              <a:chOff x="560521" y="1847718"/>
              <a:chExt cx="1686290" cy="295615"/>
            </a:xfrm>
            <a:effectLst/>
          </p:grpSpPr>
          <p:grpSp>
            <p:nvGrpSpPr>
              <p:cNvPr id="114" name="组合 113"/>
              <p:cNvGrpSpPr/>
              <p:nvPr/>
            </p:nvGrpSpPr>
            <p:grpSpPr>
              <a:xfrm>
                <a:off x="560521" y="1847718"/>
                <a:ext cx="1686290" cy="295615"/>
                <a:chOff x="560521" y="1870842"/>
                <a:chExt cx="1686290" cy="250151"/>
              </a:xfrm>
            </p:grpSpPr>
            <p:sp>
              <p:nvSpPr>
                <p:cNvPr id="116" name="显眼包PPT1-19"/>
                <p:cNvSpPr/>
                <p:nvPr/>
              </p:nvSpPr>
              <p:spPr>
                <a:xfrm>
                  <a:off x="560521" y="1875137"/>
                  <a:ext cx="1686290" cy="245856"/>
                </a:xfrm>
                <a:prstGeom prst="roundRect">
                  <a:avLst>
                    <a:gd name="adj" fmla="val 50000"/>
                  </a:avLst>
                </a:prstGeom>
                <a:solidFill>
                  <a:srgbClr val="FFFFFF"/>
                </a:solidFill>
                <a:ln w="6350">
                  <a:solidFill>
                    <a:srgbClr val="3368FF"/>
                  </a:solidFill>
                </a:ln>
                <a:effectLst>
                  <a:outerShdw blurRad="203200" dist="38100" dir="5400000" sx="90000" sy="90000" algn="t" rotWithShape="0">
                    <a:srgbClr val="0042FF">
                      <a:alpha val="20000"/>
                    </a:srgbClr>
                  </a:outerShdw>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200">
                    <a:latin typeface="微软雅黑"/>
                    <a:ea typeface="微软雅黑"/>
                    <a:cs typeface="微软雅黑"/>
                  </a:endParaRPr>
                </a:p>
              </p:txBody>
            </p:sp>
            <p:sp>
              <p:nvSpPr>
                <p:cNvPr id="117" name="显眼包PPT1-20"/>
                <p:cNvSpPr/>
                <p:nvPr/>
              </p:nvSpPr>
              <p:spPr>
                <a:xfrm>
                  <a:off x="1318958" y="1870842"/>
                  <a:ext cx="927753" cy="245856"/>
                </a:xfrm>
                <a:prstGeom prst="roundRect">
                  <a:avLst>
                    <a:gd name="adj" fmla="val 50000"/>
                  </a:avLst>
                </a:prstGeom>
                <a:gradFill flip="none" rotWithShape="1">
                  <a:gsLst>
                    <a:gs pos="0">
                      <a:srgbClr val="668EFF"/>
                    </a:gs>
                    <a:gs pos="95000">
                      <a:srgbClr val="3368FF"/>
                    </a:gs>
                  </a:gsLst>
                  <a:lin ang="2700000" scaled="1"/>
                  <a:tileRect/>
                </a:gradFill>
                <a:ln w="6350">
                  <a:solidFill>
                    <a:srgbClr val="3368FF"/>
                  </a:soli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wrap="none" rtlCol="0" anchor="ctr">
                  <a:noAutofit/>
                </a:bodyPr>
                <a:lstStyle/>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能力进阶</a:t>
                  </a:r>
                  <a:endParaRPr lang="zh-CN" altLang="en-US" sz="1200">
                    <a:solidFill>
                      <a:srgbClr val="FFFFFF"/>
                    </a:solidFill>
                    <a:latin typeface="微软雅黑"/>
                    <a:ea typeface="微软雅黑"/>
                    <a:cs typeface="微软雅黑"/>
                    <a:sym typeface="微软雅黑"/>
                  </a:endParaRPr>
                </a:p>
              </p:txBody>
            </p:sp>
          </p:grpSp>
          <p:sp>
            <p:nvSpPr>
              <p:cNvPr id="118" name="显眼包PPT1-21"/>
              <p:cNvSpPr txBox="1"/>
              <p:nvPr/>
            </p:nvSpPr>
            <p:spPr>
              <a:xfrm>
                <a:off x="647365" y="1895033"/>
                <a:ext cx="616700" cy="183967"/>
              </a:xfrm>
              <a:prstGeom prst="rect">
                <a:avLst/>
              </a:prstGeom>
              <a:noFill/>
            </p:spPr>
            <p:txBody>
              <a:bodyPr wrap="square" lIns="0" tIns="0" rIns="0" bIns="0" rtlCol="0">
                <a:spAutoFit/>
              </a:bodyPr>
              <a:lstStyle/>
              <a:p>
                <a:pPr algn="ctr">
                  <a:defRPr>
                    <a:latin typeface="微软雅黑"/>
                    <a:ea typeface="微软雅黑"/>
                    <a:cs typeface="微软雅黑"/>
                  </a:defRPr>
                </a:pPr>
                <a:r>
                  <a:rPr kumimoji="0" lang="zh-CN" altLang="en-US" sz="1200" b="0" i="0" u="none" strike="noStrike" kern="1200" cap="none" spc="0" normalizeH="0" baseline="0" noProof="0">
                    <a:ln>
                      <a:noFill/>
                    </a:ln>
                    <a:solidFill>
                      <a:srgbClr val="0042FF"/>
                    </a:solidFill>
                    <a:effectLst/>
                    <a:uLnTx/>
                    <a:uFillTx/>
                    <a:latin typeface="微软雅黑"/>
                    <a:ea typeface="微软雅黑"/>
                    <a:cs typeface="微软雅黑"/>
                    <a:sym typeface="微软雅黑"/>
                  </a:rPr>
                  <a:t>人效提升</a:t>
                </a:r>
                <a:endParaRPr kumimoji="0" lang="zh-CN" altLang="en-US" sz="1200" b="0" i="0" u="none" strike="noStrike" kern="1200" cap="none" spc="0" normalizeH="0" baseline="0" noProof="0">
                  <a:ln>
                    <a:noFill/>
                  </a:ln>
                  <a:solidFill>
                    <a:srgbClr val="0042FF"/>
                  </a:solidFill>
                  <a:effectLst/>
                  <a:uLnTx/>
                  <a:uFillTx/>
                  <a:latin typeface="微软雅黑"/>
                  <a:ea typeface="微软雅黑"/>
                  <a:cs typeface="微软雅黑"/>
                  <a:sym typeface="微软雅黑"/>
                </a:endParaRPr>
              </a:p>
            </p:txBody>
          </p:sp>
        </p:grpSp>
        <p:sp>
          <p:nvSpPr>
            <p:cNvPr id="119" name="文本框 118"/>
            <p:cNvSpPr txBox="1"/>
            <p:nvPr/>
          </p:nvSpPr>
          <p:spPr>
            <a:xfrm>
              <a:off x="485" y="6244"/>
              <a:ext cx="3870" cy="725"/>
            </a:xfrm>
            <a:prstGeom prst="rect">
              <a:avLst/>
            </a:prstGeom>
            <a:noFill/>
          </p:spPr>
          <p:txBody>
            <a:bodyPr wrap="square" rtlCol="0" lIns="0" rIns="0" tIns="0" bIns="0" anchor="t">
              <a:noAutofit/>
            </a:bodyPr>
            <a:p>
              <a:pPr>
                <a:defRPr sz="1100">
                  <a:latin typeface="微软雅黑"/>
                  <a:ea typeface="微软雅黑"/>
                  <a:cs typeface="微软雅黑"/>
                </a:defRPr>
                <a:lnSpc>
                  <a:spcPct val="100000"/>
                </a:lnSpc>
                <a:spcBef>
                  <a:spcPts val="0"/>
                </a:spcBef>
                <a:spcAft>
                  <a:spcPts val="0"/>
                </a:spcAft>
              </a:pPr>
              <a:r>
                <a:rPr lang="zh-CN" altLang="en-US" sz="1100" b="1">
                  <a:solidFill>
                    <a:srgbClr val="0042FF"/>
                  </a:solidFill>
                  <a:latin typeface="微软雅黑"/>
                  <a:ea typeface="微软雅黑"/>
                  <a:cs typeface="微软雅黑"/>
                </a:rPr>
                <a:t>运营人效模型：</a:t>
              </a:r>
              <a:r>
                <a:rPr lang="zh-CN" altLang="en-US" sz="1100">
                  <a:solidFill>
                    <a:srgbClr val="383838"/>
                  </a:solidFill>
                  <a:latin typeface="微软雅黑"/>
                  <a:ea typeface="微软雅黑"/>
                  <a:cs typeface="微软雅黑"/>
                </a:rPr>
                <a:t>绩效考核变革，实现</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能力专业化</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组织活力化</a:t>
              </a:r>
              <a:r>
                <a:rPr lang="en-US" altLang="zh-CN" sz="1100">
                  <a:solidFill>
                    <a:srgbClr val="383838"/>
                  </a:solidFill>
                  <a:latin typeface="微软雅黑"/>
                  <a:ea typeface="微软雅黑"/>
                  <a:cs typeface="微软雅黑"/>
                </a:rPr>
                <a:t>”</a:t>
              </a:r>
              <a:r>
                <a:rPr lang="zh-CN" altLang="en-US" sz="1100">
                  <a:solidFill>
                    <a:srgbClr val="383838"/>
                  </a:solidFill>
                  <a:latin typeface="微软雅黑"/>
                  <a:ea typeface="微软雅黑"/>
                  <a:cs typeface="微软雅黑"/>
                </a:rPr>
                <a:t>。</a:t>
              </a:r>
              <a:endParaRPr lang="zh-CN" altLang="en-US" sz="1100">
                <a:solidFill>
                  <a:srgbClr val="383838"/>
                </a:solidFill>
                <a:latin typeface="微软雅黑"/>
                <a:ea typeface="微软雅黑"/>
                <a:cs typeface="微软雅黑"/>
              </a:endParaRPr>
            </a:p>
          </p:txBody>
        </p:sp>
      </p:grpSp>
      <p:grpSp>
        <p:nvGrpSpPr>
          <p:cNvPr id="128" name="组合 127"/>
          <p:cNvGrpSpPr/>
          <p:nvPr/>
        </p:nvGrpSpPr>
        <p:grpSpPr>
          <a:xfrm>
            <a:off x="9498330" y="5440045"/>
            <a:ext cx="2548255" cy="845185"/>
            <a:chOff x="485" y="8399"/>
            <a:chExt cx="4013" cy="1331"/>
          </a:xfrm>
        </p:grpSpPr>
        <p:sp>
          <p:nvSpPr>
            <p:cNvPr id="129" name="©显眼包PPT3-1"/>
            <p:cNvSpPr/>
            <p:nvPr/>
          </p:nvSpPr>
          <p:spPr>
            <a:xfrm>
              <a:off x="617" y="8399"/>
              <a:ext cx="1489" cy="369"/>
            </a:xfrm>
            <a:prstGeom prst="roundRect">
              <a:avLst>
                <a:gd name="adj" fmla="val 50000"/>
              </a:avLst>
            </a:prstGeom>
            <a:gradFill flip="none" rotWithShape="1">
              <a:gsLst>
                <a:gs pos="62000">
                  <a:srgbClr val="FFFFFF">
                    <a:alpha val="56000"/>
                  </a:srgbClr>
                </a:gs>
                <a:gs pos="100000">
                  <a:srgbClr val="668EFF">
                    <a:alpha val="93000"/>
                  </a:srgbClr>
                </a:gs>
              </a:gsLst>
              <a:path path="shape">
                <a:fillToRect l="50000" t="50000" r="50000" b="50000"/>
              </a:path>
              <a:tileRect/>
            </a:gradFill>
            <a:ln w="19050">
              <a:solidFill>
                <a:srgbClr val="FFFFFF"/>
              </a:solidFill>
            </a:ln>
            <a:effectLst>
              <a:outerShdw blurRad="139700" dist="38100" dir="5400000" algn="t" rotWithShape="0">
                <a:srgbClr val="3368FF">
                  <a:alpha val="34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信息穿透</a:t>
              </a:r>
              <a:endParaRPr lang="zh-CN" altLang="en-US" sz="1200" dirty="0">
                <a:solidFill>
                  <a:srgbClr val="0042FF"/>
                </a:solidFill>
                <a:latin typeface="微软雅黑"/>
                <a:ea typeface="微软雅黑"/>
                <a:cs typeface="微软雅黑"/>
                <a:sym typeface="微软雅黑"/>
              </a:endParaRPr>
            </a:p>
          </p:txBody>
        </p:sp>
        <p:sp>
          <p:nvSpPr>
            <p:cNvPr id="130" name="©显眼包PPT3-1"/>
            <p:cNvSpPr/>
            <p:nvPr/>
          </p:nvSpPr>
          <p:spPr>
            <a:xfrm>
              <a:off x="2426" y="8399"/>
              <a:ext cx="1471" cy="369"/>
            </a:xfrm>
            <a:prstGeom prst="roundRect">
              <a:avLst>
                <a:gd name="adj" fmla="val 50000"/>
              </a:avLst>
            </a:prstGeom>
            <a:gradFill flip="none" rotWithShape="1">
              <a:gsLst>
                <a:gs pos="62000">
                  <a:srgbClr val="FFFFFF">
                    <a:alpha val="56000"/>
                  </a:srgbClr>
                </a:gs>
                <a:gs pos="100000">
                  <a:srgbClr val="668EFF">
                    <a:alpha val="93000"/>
                  </a:srgbClr>
                </a:gs>
              </a:gsLst>
              <a:path path="shape">
                <a:fillToRect l="50000" t="50000" r="50000" b="50000"/>
              </a:path>
              <a:tileRect/>
            </a:gradFill>
            <a:ln w="19050">
              <a:solidFill>
                <a:srgbClr val="FFFFFF"/>
              </a:solidFill>
            </a:ln>
            <a:effectLst>
              <a:outerShdw blurRad="139700" dist="38100" dir="5400000" algn="t" rotWithShape="0">
                <a:srgbClr val="3368FF">
                  <a:alpha val="34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文化渗透</a:t>
              </a:r>
              <a:endParaRPr lang="zh-CN" altLang="en-US" sz="1200" dirty="0">
                <a:solidFill>
                  <a:srgbClr val="0042FF"/>
                </a:solidFill>
                <a:latin typeface="微软雅黑"/>
                <a:ea typeface="微软雅黑"/>
                <a:cs typeface="微软雅黑"/>
                <a:sym typeface="微软雅黑"/>
              </a:endParaRPr>
            </a:p>
          </p:txBody>
        </p:sp>
        <p:sp>
          <p:nvSpPr>
            <p:cNvPr id="131" name="文本框 130"/>
            <p:cNvSpPr txBox="1"/>
            <p:nvPr/>
          </p:nvSpPr>
          <p:spPr>
            <a:xfrm>
              <a:off x="485" y="9005"/>
              <a:ext cx="4013" cy="725"/>
            </a:xfrm>
            <a:prstGeom prst="rect">
              <a:avLst/>
            </a:prstGeom>
            <a:noFill/>
          </p:spPr>
          <p:txBody>
            <a:bodyPr wrap="square" rtlCol="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全程可视化：</a:t>
              </a:r>
              <a:r>
                <a:rPr lang="zh-CN" altLang="en-US" sz="1200">
                  <a:solidFill>
                    <a:srgbClr val="383838"/>
                  </a:solidFill>
                  <a:latin typeface="微软雅黑"/>
                  <a:ea typeface="微软雅黑"/>
                  <a:cs typeface="微软雅黑"/>
                </a:rPr>
                <a:t>搭建运营共享平台，打破</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层级壁垒、信息孤岛</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grpSp>
      <p:sp>
        <p:nvSpPr>
          <p:cNvPr id="132" name="©显眼包PPT17"/>
          <p:cNvSpPr txBox="1"/>
          <p:nvPr/>
        </p:nvSpPr>
        <p:spPr>
          <a:xfrm>
            <a:off x="9951565" y="1398752"/>
            <a:ext cx="1422400" cy="245745"/>
          </a:xfrm>
          <a:prstGeom prst="rect">
            <a:avLst/>
          </a:prstGeom>
          <a:noFill/>
          <a:effectLst/>
        </p:spPr>
        <p:txBody>
          <a:bodyPr wrap="none" lIns="0" tIns="0" rIns="0" bIns="0" rtlCol="0">
            <a:spAutoFit/>
          </a:bodyPr>
          <a:lstStyle/>
          <a:p>
            <a:pP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运营健康度诊断</a:t>
            </a:r>
            <a:endParaRPr lang="zh-CN" altLang="en-US" sz="1600" b="1" dirty="0">
              <a:solidFill>
                <a:srgbClr val="FFFFFF"/>
              </a:solidFill>
              <a:latin typeface="微软雅黑"/>
              <a:ea typeface="微软雅黑"/>
              <a:cs typeface="微软雅黑"/>
              <a:sym typeface="微软雅黑"/>
            </a:endParaRPr>
          </a:p>
        </p:txBody>
      </p:sp>
      <p:sp>
        <p:nvSpPr>
          <p:cNvPr id="133" name="©显眼包PPT17"/>
          <p:cNvSpPr txBox="1"/>
          <p:nvPr/>
        </p:nvSpPr>
        <p:spPr>
          <a:xfrm>
            <a:off x="9951565" y="3204057"/>
            <a:ext cx="1625600" cy="245745"/>
          </a:xfrm>
          <a:prstGeom prst="rect">
            <a:avLst/>
          </a:prstGeom>
          <a:noFill/>
          <a:effectLst/>
        </p:spPr>
        <p:txBody>
          <a:bodyPr wrap="none" lIns="0" tIns="0" rIns="0" bIns="0" rtlCol="0">
            <a:spAutoFit/>
          </a:bodyPr>
          <a:lstStyle/>
          <a:p>
            <a:pPr algn="l">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运营人才韧性建设</a:t>
            </a:r>
            <a:endParaRPr lang="zh-CN" altLang="en-US" sz="1600" b="1" dirty="0">
              <a:solidFill>
                <a:srgbClr val="FFFFFF"/>
              </a:solidFill>
              <a:latin typeface="微软雅黑"/>
              <a:ea typeface="微软雅黑"/>
              <a:cs typeface="微软雅黑"/>
              <a:sym typeface="微软雅黑"/>
            </a:endParaRPr>
          </a:p>
        </p:txBody>
      </p:sp>
      <p:sp>
        <p:nvSpPr>
          <p:cNvPr id="134" name="©显眼包PPT17"/>
          <p:cNvSpPr txBox="1"/>
          <p:nvPr/>
        </p:nvSpPr>
        <p:spPr>
          <a:xfrm>
            <a:off x="9951565" y="5026507"/>
            <a:ext cx="1625600" cy="245745"/>
          </a:xfrm>
          <a:prstGeom prst="rect">
            <a:avLst/>
          </a:prstGeom>
          <a:noFill/>
          <a:effectLst/>
        </p:spPr>
        <p:txBody>
          <a:bodyPr wrap="none" lIns="0" tIns="0" rIns="0" bIns="0" rtlCol="0">
            <a:spAutoFit/>
          </a:bodyPr>
          <a:lstStyle/>
          <a:p>
            <a:pPr algn="l">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深化运营透明机制</a:t>
            </a:r>
            <a:endParaRPr lang="zh-CN" altLang="en-US" sz="1600" b="1" dirty="0">
              <a:solidFill>
                <a:srgbClr val="FFFFFF"/>
              </a:solidFill>
              <a:latin typeface="微软雅黑"/>
              <a:ea typeface="微软雅黑"/>
              <a:cs typeface="微软雅黑"/>
              <a:sym typeface="微软雅黑"/>
            </a:endParaRPr>
          </a:p>
        </p:txBody>
      </p:sp>
      <p:sp>
        <p:nvSpPr>
          <p:cNvPr id="290" name="椭圆 289"/>
          <p:cNvSpPr/>
          <p:nvPr/>
        </p:nvSpPr>
        <p:spPr>
          <a:xfrm>
            <a:off x="4801870" y="2466340"/>
            <a:ext cx="2630170" cy="2630170"/>
          </a:xfrm>
          <a:prstGeom prst="ellipse">
            <a:avLst/>
          </a:prstGeom>
          <a:noFill/>
          <a:ln>
            <a:solidFill>
              <a:srgbClr val="3368FF">
                <a:alpha val="50000"/>
              </a:srgbClr>
            </a:solidFill>
            <a:prstDash val="sys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93" name="文本框 292"/>
          <p:cNvSpPr txBox="1"/>
          <p:nvPr/>
        </p:nvSpPr>
        <p:spPr>
          <a:xfrm>
            <a:off x="5466715" y="3320415"/>
            <a:ext cx="1299845" cy="1198880"/>
          </a:xfrm>
          <a:prstGeom prst="rect">
            <a:avLst/>
          </a:prstGeom>
          <a:noFill/>
        </p:spPr>
        <p:txBody>
          <a:bodyPr wrap="square" rtlCol="0">
            <a:spAutoFit/>
          </a:bodyPr>
          <a:lstStyle/>
          <a:p>
            <a:pPr algn="ctr" defTabSz="457200">
              <a:defRPr>
                <a:solidFill>
                  <a:srgbClr val="FFFFFF"/>
                </a:solidFill>
                <a:latin typeface="微软雅黑"/>
                <a:ea typeface="微软雅黑"/>
                <a:cs typeface="微软雅黑"/>
              </a:defRPr>
            </a:pPr>
            <a:r>
              <a:rPr kumimoji="1" lang="zh-CN" altLang="en-US" sz="2400" b="1" dirty="0">
                <a:solidFill>
                  <a:srgbClr val="FFFFFF"/>
                </a:solidFill>
                <a:latin typeface="微软雅黑"/>
                <a:ea typeface="微软雅黑"/>
                <a:cs typeface="微软雅黑"/>
              </a:rPr>
              <a:t>核心</a:t>
            </a:r>
            <a:endParaRPr kumimoji="1" lang="en-US" altLang="zh-CN" sz="2400" b="1" dirty="0">
              <a:solidFill>
                <a:srgbClr val="FFFFFF"/>
              </a:solidFill>
              <a:latin typeface="微软雅黑"/>
              <a:ea typeface="微软雅黑"/>
              <a:cs typeface="微软雅黑"/>
            </a:endParaRPr>
          </a:p>
          <a:p>
            <a:pPr algn="ctr" defTabSz="457200">
              <a:defRPr>
                <a:solidFill>
                  <a:srgbClr val="FFFFFF"/>
                </a:solidFill>
                <a:latin typeface="微软雅黑"/>
                <a:ea typeface="微软雅黑"/>
                <a:cs typeface="微软雅黑"/>
              </a:defRPr>
            </a:pPr>
            <a:r>
              <a:rPr kumimoji="1" lang="zh-CN" altLang="en-US" sz="2400" b="1" dirty="0">
                <a:solidFill>
                  <a:srgbClr val="FFFFFF"/>
                </a:solidFill>
                <a:latin typeface="微软雅黑"/>
                <a:ea typeface="微软雅黑"/>
                <a:cs typeface="微软雅黑"/>
              </a:rPr>
              <a:t>竞争优势</a:t>
            </a:r>
            <a:endParaRPr kumimoji="1" lang="zh-CN" altLang="en-US" sz="2400" b="1" dirty="0">
              <a:solidFill>
                <a:srgbClr val="FFFFFF"/>
              </a:solidFill>
              <a:latin typeface="微软雅黑"/>
              <a:ea typeface="微软雅黑"/>
              <a:cs typeface="微软雅黑"/>
            </a:endParaRPr>
          </a:p>
        </p:txBody>
      </p:sp>
      <p:sp>
        <p:nvSpPr>
          <p:cNvPr id="301" name="文本框 300"/>
          <p:cNvSpPr txBox="1"/>
          <p:nvPr/>
        </p:nvSpPr>
        <p:spPr>
          <a:xfrm>
            <a:off x="5475605" y="3999865"/>
            <a:ext cx="1282700" cy="275590"/>
          </a:xfrm>
          <a:prstGeom prst="rect">
            <a:avLst/>
          </a:prstGeom>
          <a:noFill/>
        </p:spPr>
        <p:txBody>
          <a:bodyPr wrap="square" rtlCol="0">
            <a:spAutoFit/>
          </a:bodyPr>
          <a:lstStyle/>
          <a:p>
            <a:pPr defTabSz="457200">
              <a:defRPr>
                <a:latin typeface="微软雅黑"/>
                <a:ea typeface="微软雅黑"/>
                <a:cs typeface="微软雅黑"/>
              </a:defRPr>
            </a:pPr>
            <a:r>
              <a:rPr kumimoji="1" lang="en-US" altLang="zh-CN" sz="1200" dirty="0">
                <a:solidFill>
                  <a:srgbClr val="383838"/>
                </a:solidFill>
                <a:latin typeface="微软雅黑"/>
                <a:ea typeface="微软雅黑"/>
                <a:cs typeface="微软雅黑"/>
              </a:rPr>
              <a:t>CORE STRENGTHS</a:t>
            </a:r>
            <a:endParaRPr kumimoji="1" lang="en-US" altLang="zh-CN" sz="1200" dirty="0">
              <a:solidFill>
                <a:srgbClr val="383838"/>
              </a:solidFill>
              <a:latin typeface="微软雅黑"/>
              <a:ea typeface="微软雅黑"/>
              <a:cs typeface="微软雅黑"/>
            </a:endParaRPr>
          </a:p>
        </p:txBody>
      </p:sp>
      <p:grpSp>
        <p:nvGrpSpPr>
          <p:cNvPr id="316" name="组合 315"/>
          <p:cNvGrpSpPr/>
          <p:nvPr/>
        </p:nvGrpSpPr>
        <p:grpSpPr>
          <a:xfrm>
            <a:off x="5249545" y="2914650"/>
            <a:ext cx="1734185" cy="1734185"/>
            <a:chOff x="8234" y="4111"/>
            <a:chExt cx="2731" cy="2731"/>
          </a:xfrm>
        </p:grpSpPr>
        <p:sp>
          <p:nvSpPr>
            <p:cNvPr id="317" name="©显眼包PPT3"/>
            <p:cNvSpPr/>
            <p:nvPr/>
          </p:nvSpPr>
          <p:spPr>
            <a:xfrm>
              <a:off x="8234" y="4111"/>
              <a:ext cx="2731" cy="2731"/>
            </a:xfrm>
            <a:prstGeom prst="ellipse">
              <a:avLst/>
            </a:prstGeom>
            <a:gradFill flip="none" rotWithShape="1">
              <a:gsLst>
                <a:gs pos="15000">
                  <a:srgbClr val="B3D4FE">
                    <a:alpha val="23000"/>
                  </a:srgbClr>
                </a:gs>
                <a:gs pos="100000">
                  <a:srgbClr val="B3D4FE">
                    <a:alpha val="0"/>
                  </a:srgbClr>
                </a:gs>
              </a:gsLst>
              <a:lin ang="5400000" scaled="1"/>
              <a:tileRect/>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318" name="©显眼包PPT4"/>
            <p:cNvSpPr/>
            <p:nvPr/>
          </p:nvSpPr>
          <p:spPr>
            <a:xfrm>
              <a:off x="8622" y="4499"/>
              <a:ext cx="1955" cy="1955"/>
            </a:xfrm>
            <a:prstGeom prst="ellipse">
              <a:avLst/>
            </a:prstGeom>
            <a:gradFill flip="none" rotWithShape="1">
              <a:gsLst>
                <a:gs pos="100000">
                  <a:srgbClr val="B3D4FE"/>
                </a:gs>
                <a:gs pos="18000">
                  <a:srgbClr val="3368FF"/>
                </a:gs>
              </a:gsLst>
              <a:path path="circle">
                <a:fillToRect l="50000" t="50000" r="50000" b="50000"/>
              </a:path>
              <a:tileRect/>
            </a:gradFill>
            <a:ln w="92075">
              <a:gradFill flip="none" rotWithShape="1">
                <a:gsLst>
                  <a:gs pos="0">
                    <a:srgbClr val="FFFFFF"/>
                  </a:gs>
                  <a:gs pos="100000">
                    <a:srgbClr val="B3D4FE"/>
                  </a:gs>
                </a:gsLst>
                <a:lin ang="16200000" scaled="1"/>
                <a:tileRect/>
              </a:gradFill>
            </a:ln>
            <a:effectLst>
              <a:outerShdw blurRad="342900" dist="279400" dir="5400000" algn="t" rotWithShape="0">
                <a:srgbClr val="B3D4FE">
                  <a:alpha val="36000"/>
                </a:srgbClr>
              </a:outerShdw>
              <a:softEdge rad="12700"/>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algn="ctr">
                <a:defRPr>
                  <a:solidFill>
                    <a:srgbClr val="FFFFFF"/>
                  </a:solidFill>
                  <a:latin typeface="微软雅黑"/>
                  <a:ea typeface="微软雅黑"/>
                  <a:cs typeface="微软雅黑"/>
                </a:defRPr>
              </a:pPr>
              <a:endParaRPr lang="zh-CN" altLang="en-US" sz="1000" b="1">
                <a:solidFill>
                  <a:srgbClr val="FFFFFF"/>
                </a:solidFill>
                <a:latin typeface="微软雅黑"/>
                <a:ea typeface="微软雅黑"/>
                <a:cs typeface="微软雅黑"/>
              </a:endParaRPr>
            </a:p>
          </p:txBody>
        </p:sp>
        <p:sp>
          <p:nvSpPr>
            <p:cNvPr id="323" name="©显眼包PPT5"/>
            <p:cNvSpPr/>
            <p:nvPr/>
          </p:nvSpPr>
          <p:spPr>
            <a:xfrm flipV="1">
              <a:off x="8622" y="4499"/>
              <a:ext cx="1955" cy="1955"/>
            </a:xfrm>
            <a:prstGeom prst="ellipse">
              <a:avLst/>
            </a:prstGeom>
            <a:gradFill flip="none" rotWithShape="1">
              <a:gsLst>
                <a:gs pos="21000">
                  <a:srgbClr val="B3D4FE"/>
                </a:gs>
                <a:gs pos="76000">
                  <a:srgbClr val="3368FF"/>
                </a:gs>
              </a:gsLst>
              <a:path path="circle">
                <a:fillToRect l="50000" t="130000" r="50000" b="-30000"/>
              </a:path>
              <a:tileRect/>
            </a:gradFill>
            <a:ln>
              <a:noFill/>
            </a:ln>
            <a:effectLst>
              <a:innerShdw blurRad="241300">
                <a:srgbClr val="B3D4FE"/>
              </a:innerShdw>
            </a:effectLst>
            <a:scene3d>
              <a:camera prst="orthographicFront"/>
              <a:lightRig rig="threePt" dir="t"/>
            </a:scene3d>
            <a:sp3d extrusionH="63500">
              <a:extrusionClr>
                <a:srgbClr val="0042FF"/>
              </a:extrusionClr>
            </a:sp3d>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endParaRPr lang="zh-CN" altLang="en-US" sz="2400" b="1">
                <a:solidFill>
                  <a:srgbClr val="FFFFFF"/>
                </a:solidFill>
                <a:latin typeface="微软雅黑"/>
                <a:ea typeface="微软雅黑"/>
                <a:cs typeface="微软雅黑"/>
              </a:endParaRPr>
            </a:p>
          </p:txBody>
        </p:sp>
        <p:sp>
          <p:nvSpPr>
            <p:cNvPr id="324" name="©显眼包PPT1"/>
            <p:cNvSpPr txBox="1"/>
            <p:nvPr/>
          </p:nvSpPr>
          <p:spPr>
            <a:xfrm>
              <a:off x="9040" y="4798"/>
              <a:ext cx="1120" cy="1357"/>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2800" b="1" dirty="0">
                  <a:solidFill>
                    <a:srgbClr val="FFFFFF"/>
                  </a:solidFill>
                  <a:effectLst>
                    <a:outerShdw blurRad="12700" dist="63500" dir="2700000" algn="tl">
                      <a:srgbClr val="0042FF">
                        <a:alpha val="70000"/>
                      </a:srgbClr>
                    </a:outerShdw>
                  </a:effectLst>
                  <a:latin typeface="微软雅黑"/>
                  <a:ea typeface="微软雅黑"/>
                  <a:cs typeface="微软雅黑"/>
                </a:rPr>
                <a:t>提效</a:t>
              </a:r>
              <a:endParaRPr lang="en-US" altLang="zh-CN" sz="2800" b="1" dirty="0">
                <a:solidFill>
                  <a:srgbClr val="FFFFFF"/>
                </a:solidFill>
                <a:effectLst>
                  <a:outerShdw blurRad="12700" dist="63500" dir="2700000" algn="tl">
                    <a:srgbClr val="0042FF">
                      <a:alpha val="70000"/>
                    </a:srgbClr>
                  </a:outerShdw>
                </a:effectLst>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2800" b="1" dirty="0">
                  <a:solidFill>
                    <a:srgbClr val="FFFFFF"/>
                  </a:solidFill>
                  <a:effectLst>
                    <a:outerShdw blurRad="12700" dist="63500" dir="2700000" algn="tl">
                      <a:srgbClr val="0042FF">
                        <a:alpha val="70000"/>
                      </a:srgbClr>
                    </a:outerShdw>
                  </a:effectLst>
                  <a:latin typeface="微软雅黑"/>
                  <a:ea typeface="微软雅黑"/>
                  <a:cs typeface="微软雅黑"/>
                </a:rPr>
                <a:t>增能</a:t>
              </a:r>
              <a:endParaRPr lang="zh-CN" altLang="en-US" sz="2800" b="1" dirty="0">
                <a:solidFill>
                  <a:srgbClr val="FFFFFF"/>
                </a:solidFill>
                <a:effectLst>
                  <a:outerShdw blurRad="12700" dist="63500" dir="2700000" algn="tl">
                    <a:srgbClr val="0042FF">
                      <a:alpha val="70000"/>
                    </a:srgbClr>
                  </a:outerShdw>
                </a:effectLst>
                <a:latin typeface="微软雅黑"/>
                <a:ea typeface="微软雅黑"/>
                <a:cs typeface="微软雅黑"/>
              </a:endParaRPr>
            </a:p>
          </p:txBody>
        </p:sp>
      </p:grpSp>
      <p:sp>
        <p:nvSpPr>
          <p:cNvPr id="327" name="椭圆 326"/>
          <p:cNvSpPr/>
          <p:nvPr/>
        </p:nvSpPr>
        <p:spPr>
          <a:xfrm flipV="1">
            <a:off x="5962333" y="2343150"/>
            <a:ext cx="300990" cy="284480"/>
          </a:xfrm>
          <a:prstGeom prst="ellipse">
            <a:avLst/>
          </a:prstGeom>
          <a:gradFill>
            <a:gsLst>
              <a:gs pos="100000">
                <a:srgbClr val="3368FF"/>
              </a:gs>
              <a:gs pos="0">
                <a:srgbClr val="B3D4FE"/>
              </a:gs>
            </a:gsLst>
            <a:lin ang="10800000" scaled="0"/>
          </a:gradFill>
          <a:ln w="381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334" name="组合 333"/>
          <p:cNvGrpSpPr/>
          <p:nvPr/>
        </p:nvGrpSpPr>
        <p:grpSpPr>
          <a:xfrm>
            <a:off x="4911090" y="3477895"/>
            <a:ext cx="2322195" cy="638175"/>
            <a:chOff x="7598" y="5511"/>
            <a:chExt cx="4070" cy="1119"/>
          </a:xfrm>
        </p:grpSpPr>
        <p:sp>
          <p:nvSpPr>
            <p:cNvPr id="330" name="©显眼包PPT1-1"/>
            <p:cNvSpPr/>
            <p:nvPr/>
          </p:nvSpPr>
          <p:spPr>
            <a:xfrm rot="20868915">
              <a:off x="7598" y="5511"/>
              <a:ext cx="4071" cy="817"/>
            </a:xfrm>
            <a:prstGeom prst="arc">
              <a:avLst>
                <a:gd name="adj1" fmla="val 20767990"/>
                <a:gd name="adj2" fmla="val 11522985"/>
              </a:avLst>
            </a:prstGeom>
            <a:noFill/>
            <a:ln w="12700" cap="rnd">
              <a:gradFill>
                <a:gsLst>
                  <a:gs pos="0">
                    <a:srgbClr val="B3D4FE">
                      <a:alpha val="0"/>
                    </a:srgbClr>
                  </a:gs>
                  <a:gs pos="89000">
                    <a:srgbClr val="B3D4FE"/>
                  </a:gs>
                </a:gsLst>
                <a:lin ang="5400000" scaled="1"/>
              </a:gradFill>
              <a:prstDash val="solid"/>
              <a:round/>
              <a:head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b="1">
                <a:solidFill>
                  <a:srgbClr val="FFFFFF"/>
                </a:solidFill>
                <a:latin typeface="微软雅黑"/>
                <a:ea typeface="微软雅黑"/>
                <a:cs typeface="微软雅黑"/>
              </a:endParaRPr>
            </a:p>
          </p:txBody>
        </p:sp>
        <p:sp>
          <p:nvSpPr>
            <p:cNvPr id="332" name="©显眼包PPT1-2"/>
            <p:cNvSpPr/>
            <p:nvPr/>
          </p:nvSpPr>
          <p:spPr>
            <a:xfrm rot="3985983">
              <a:off x="11054" y="5774"/>
              <a:ext cx="236" cy="196"/>
            </a:xfrm>
            <a:custGeom>
              <a:avLst/>
              <a:gdLst>
                <a:gd name="connsiteX0" fmla="*/ 48241 w 96483"/>
                <a:gd name="connsiteY0" fmla="*/ 0 h 93616"/>
                <a:gd name="connsiteX1" fmla="*/ 96483 w 96483"/>
                <a:gd name="connsiteY1" fmla="*/ 93616 h 93616"/>
                <a:gd name="connsiteX2" fmla="*/ 48241 w 96483"/>
                <a:gd name="connsiteY2" fmla="*/ 38140 h 93616"/>
                <a:gd name="connsiteX3" fmla="*/ 0 w 96483"/>
                <a:gd name="connsiteY3" fmla="*/ 93616 h 93616"/>
              </a:gdLst>
              <a:ahLst/>
              <a:cxnLst>
                <a:cxn ang="0">
                  <a:pos x="connsiteX0" y="connsiteY0"/>
                </a:cxn>
                <a:cxn ang="0">
                  <a:pos x="connsiteX1" y="connsiteY1"/>
                </a:cxn>
                <a:cxn ang="0">
                  <a:pos x="connsiteX2" y="connsiteY2"/>
                </a:cxn>
                <a:cxn ang="0">
                  <a:pos x="connsiteX3" y="connsiteY3"/>
                </a:cxn>
              </a:cxnLst>
              <a:rect l="l" t="t" r="r" b="b"/>
              <a:pathLst>
                <a:path w="96483" h="93616">
                  <a:moveTo>
                    <a:pt x="48241" y="0"/>
                  </a:moveTo>
                  <a:lnTo>
                    <a:pt x="96483" y="93616"/>
                  </a:lnTo>
                  <a:lnTo>
                    <a:pt x="48241" y="38140"/>
                  </a:lnTo>
                  <a:lnTo>
                    <a:pt x="0" y="93616"/>
                  </a:lnTo>
                  <a:close/>
                </a:path>
              </a:pathLst>
            </a:custGeom>
            <a:solidFill>
              <a:srgbClr val="B3D4FE"/>
            </a:solidFill>
            <a:ln cap="rnd">
              <a:noFill/>
              <a:round/>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b="1">
                <a:latin typeface="微软雅黑"/>
                <a:ea typeface="微软雅黑"/>
                <a:cs typeface="微软雅黑"/>
              </a:endParaRPr>
            </a:p>
          </p:txBody>
        </p:sp>
        <p:sp>
          <p:nvSpPr>
            <p:cNvPr id="333" name="©显眼包PPT1-3"/>
            <p:cNvSpPr/>
            <p:nvPr/>
          </p:nvSpPr>
          <p:spPr>
            <a:xfrm rot="4866736">
              <a:off x="8067" y="6414"/>
              <a:ext cx="236" cy="196"/>
            </a:xfrm>
            <a:custGeom>
              <a:avLst/>
              <a:gdLst>
                <a:gd name="connsiteX0" fmla="*/ 48241 w 96483"/>
                <a:gd name="connsiteY0" fmla="*/ 0 h 93616"/>
                <a:gd name="connsiteX1" fmla="*/ 96483 w 96483"/>
                <a:gd name="connsiteY1" fmla="*/ 93616 h 93616"/>
                <a:gd name="connsiteX2" fmla="*/ 48241 w 96483"/>
                <a:gd name="connsiteY2" fmla="*/ 38140 h 93616"/>
                <a:gd name="connsiteX3" fmla="*/ 0 w 96483"/>
                <a:gd name="connsiteY3" fmla="*/ 93616 h 93616"/>
              </a:gdLst>
              <a:ahLst/>
              <a:cxnLst>
                <a:cxn ang="0">
                  <a:pos x="connsiteX0" y="connsiteY0"/>
                </a:cxn>
                <a:cxn ang="0">
                  <a:pos x="connsiteX1" y="connsiteY1"/>
                </a:cxn>
                <a:cxn ang="0">
                  <a:pos x="connsiteX2" y="connsiteY2"/>
                </a:cxn>
                <a:cxn ang="0">
                  <a:pos x="connsiteX3" y="connsiteY3"/>
                </a:cxn>
              </a:cxnLst>
              <a:rect l="l" t="t" r="r" b="b"/>
              <a:pathLst>
                <a:path w="96483" h="93616">
                  <a:moveTo>
                    <a:pt x="48241" y="0"/>
                  </a:moveTo>
                  <a:lnTo>
                    <a:pt x="96483" y="93616"/>
                  </a:lnTo>
                  <a:lnTo>
                    <a:pt x="48241" y="38140"/>
                  </a:lnTo>
                  <a:lnTo>
                    <a:pt x="0" y="93616"/>
                  </a:lnTo>
                  <a:close/>
                </a:path>
              </a:pathLst>
            </a:custGeom>
            <a:solidFill>
              <a:srgbClr val="B3D4FE"/>
            </a:solidFill>
            <a:ln cap="rnd">
              <a:noFill/>
              <a:round/>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b="1">
                <a:latin typeface="微软雅黑"/>
                <a:ea typeface="微软雅黑"/>
                <a:cs typeface="微软雅黑"/>
              </a:endParaRPr>
            </a:p>
          </p:txBody>
        </p:sp>
      </p:grpSp>
      <p:sp>
        <p:nvSpPr>
          <p:cNvPr id="342" name="显眼包PPT6"/>
          <p:cNvSpPr txBox="1"/>
          <p:nvPr/>
        </p:nvSpPr>
        <p:spPr>
          <a:xfrm>
            <a:off x="7681073" y="3518059"/>
            <a:ext cx="457200" cy="553720"/>
          </a:xfrm>
          <a:prstGeom prst="rect">
            <a:avLst/>
          </a:prstGeom>
          <a:noFill/>
        </p:spPr>
        <p:txBody>
          <a:bodyPr wrap="none" lIns="0" tIns="0" rIns="0" bIns="0" rtlCol="0">
            <a:spAutoFit/>
          </a:bodyPr>
          <a:lstStyle/>
          <a:p>
            <a:pPr indent="0" algn="l" fontAlgn="auto">
              <a:lnSpc>
                <a:spcPct val="100000"/>
              </a:lnSpc>
              <a:spcAft>
                <a:spcPts val="0"/>
              </a:spcAft>
              <a:defRPr>
                <a:latin typeface="微软雅黑"/>
                <a:ea typeface="微软雅黑"/>
                <a:cs typeface="微软雅黑"/>
              </a:defRPr>
            </a:pPr>
            <a:r>
              <a:rPr lang="zh-CN" b="1">
                <a:ln>
                  <a:solidFill>
                    <a:srgbClr val="FFFFFF"/>
                  </a:solidFill>
                </a:ln>
                <a:solidFill>
                  <a:srgbClr val="383838"/>
                </a:solidFill>
                <a:effectLst/>
                <a:latin typeface="微软雅黑"/>
                <a:ea typeface="微软雅黑"/>
                <a:cs typeface="微软雅黑"/>
              </a:rPr>
              <a:t>运营</a:t>
            </a:r>
            <a:endParaRPr lang="zh-CN" b="1">
              <a:ln>
                <a:solidFill>
                  <a:srgbClr val="FFFFFF"/>
                </a:solidFill>
              </a:ln>
              <a:solidFill>
                <a:srgbClr val="383838"/>
              </a:solidFill>
              <a:effectLst/>
              <a:latin typeface="微软雅黑"/>
              <a:ea typeface="微软雅黑"/>
              <a:cs typeface="微软雅黑"/>
            </a:endParaRPr>
          </a:p>
          <a:p>
            <a:pPr indent="0" algn="l" fontAlgn="auto">
              <a:lnSpc>
                <a:spcPct val="100000"/>
              </a:lnSpc>
              <a:spcAft>
                <a:spcPts val="0"/>
              </a:spcAft>
              <a:defRPr>
                <a:latin typeface="微软雅黑"/>
                <a:ea typeface="微软雅黑"/>
                <a:cs typeface="微软雅黑"/>
              </a:defRPr>
            </a:pPr>
            <a:r>
              <a:rPr lang="zh-CN" b="1">
                <a:ln>
                  <a:solidFill>
                    <a:srgbClr val="FFFFFF"/>
                  </a:solidFill>
                </a:ln>
                <a:solidFill>
                  <a:srgbClr val="383838"/>
                </a:solidFill>
                <a:effectLst/>
                <a:latin typeface="微软雅黑"/>
                <a:ea typeface="微软雅黑"/>
                <a:cs typeface="微软雅黑"/>
              </a:rPr>
              <a:t>复盘</a:t>
            </a:r>
            <a:endParaRPr lang="zh-CN" b="1" dirty="0">
              <a:ln>
                <a:solidFill>
                  <a:srgbClr val="FFFFFF"/>
                </a:solidFill>
              </a:ln>
              <a:solidFill>
                <a:srgbClr val="383838"/>
              </a:solidFill>
              <a:effectLst/>
              <a:latin typeface="微软雅黑"/>
              <a:ea typeface="微软雅黑"/>
              <a:cs typeface="微软雅黑"/>
            </a:endParaRPr>
          </a:p>
        </p:txBody>
      </p:sp>
      <p:sp>
        <p:nvSpPr>
          <p:cNvPr id="343" name="圆角矩形 342"/>
          <p:cNvSpPr/>
          <p:nvPr/>
        </p:nvSpPr>
        <p:spPr>
          <a:xfrm>
            <a:off x="4124960" y="1285875"/>
            <a:ext cx="1243330" cy="322580"/>
          </a:xfrm>
          <a:prstGeom prst="roundRect">
            <a:avLst/>
          </a:prstGeom>
          <a:noFill/>
          <a:ln>
            <a:solidFill>
              <a:srgbClr val="383838">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a:solidFill>
                  <a:srgbClr val="383838">
                    <a:alpha val="80000"/>
                  </a:srgbClr>
                </a:solidFill>
                <a:latin typeface="微软雅黑"/>
                <a:ea typeface="微软雅黑"/>
                <a:cs typeface="微软雅黑"/>
              </a:rPr>
              <a:t>运营模式</a:t>
            </a:r>
            <a:endParaRPr lang="zh-CN" altLang="en-US">
              <a:solidFill>
                <a:srgbClr val="383838">
                  <a:alpha val="80000"/>
                </a:srgbClr>
              </a:solidFill>
              <a:latin typeface="微软雅黑"/>
              <a:ea typeface="微软雅黑"/>
              <a:cs typeface="微软雅黑"/>
            </a:endParaRPr>
          </a:p>
        </p:txBody>
      </p:sp>
      <p:sp>
        <p:nvSpPr>
          <p:cNvPr id="344" name="圆角矩形 343"/>
          <p:cNvSpPr/>
          <p:nvPr/>
        </p:nvSpPr>
        <p:spPr>
          <a:xfrm>
            <a:off x="5494020" y="1285875"/>
            <a:ext cx="1243330" cy="322580"/>
          </a:xfrm>
          <a:prstGeom prst="roundRect">
            <a:avLst/>
          </a:prstGeom>
          <a:noFill/>
          <a:ln>
            <a:solidFill>
              <a:srgbClr val="383838">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a:solidFill>
                  <a:srgbClr val="383838">
                    <a:alpha val="80000"/>
                  </a:srgbClr>
                </a:solidFill>
                <a:latin typeface="微软雅黑"/>
                <a:ea typeface="微软雅黑"/>
                <a:cs typeface="微软雅黑"/>
                <a:sym typeface="微软雅黑"/>
              </a:rPr>
              <a:t>效率瓶颈</a:t>
            </a:r>
            <a:endParaRPr lang="zh-CN" altLang="en-US">
              <a:solidFill>
                <a:srgbClr val="383838">
                  <a:alpha val="80000"/>
                </a:srgbClr>
              </a:solidFill>
              <a:latin typeface="微软雅黑"/>
              <a:ea typeface="微软雅黑"/>
              <a:cs typeface="微软雅黑"/>
              <a:sym typeface="微软雅黑"/>
            </a:endParaRPr>
          </a:p>
        </p:txBody>
      </p:sp>
      <p:sp>
        <p:nvSpPr>
          <p:cNvPr id="345" name="圆角矩形 344"/>
          <p:cNvSpPr/>
          <p:nvPr/>
        </p:nvSpPr>
        <p:spPr>
          <a:xfrm>
            <a:off x="6845300" y="1285875"/>
            <a:ext cx="1243330" cy="322580"/>
          </a:xfrm>
          <a:prstGeom prst="roundRect">
            <a:avLst/>
          </a:prstGeom>
          <a:noFill/>
          <a:ln>
            <a:solidFill>
              <a:srgbClr val="383838">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a:solidFill>
                  <a:srgbClr val="383838">
                    <a:alpha val="80000"/>
                  </a:srgbClr>
                </a:solidFill>
                <a:latin typeface="微软雅黑"/>
                <a:ea typeface="微软雅黑"/>
                <a:cs typeface="微软雅黑"/>
                <a:sym typeface="微软雅黑"/>
              </a:rPr>
              <a:t>根因分析</a:t>
            </a:r>
            <a:endParaRPr lang="zh-CN" altLang="en-US">
              <a:solidFill>
                <a:srgbClr val="383838">
                  <a:alpha val="80000"/>
                </a:srgbClr>
              </a:solidFill>
              <a:latin typeface="微软雅黑"/>
              <a:ea typeface="微软雅黑"/>
              <a:cs typeface="微软雅黑"/>
              <a:sym typeface="微软雅黑"/>
            </a:endParaRPr>
          </a:p>
        </p:txBody>
      </p:sp>
      <p:sp>
        <p:nvSpPr>
          <p:cNvPr id="346" name="圆角矩形 345"/>
          <p:cNvSpPr/>
          <p:nvPr/>
        </p:nvSpPr>
        <p:spPr>
          <a:xfrm>
            <a:off x="4068445" y="6087745"/>
            <a:ext cx="1243330" cy="322580"/>
          </a:xfrm>
          <a:prstGeom prst="roundRect">
            <a:avLst/>
          </a:prstGeom>
          <a:noFill/>
          <a:ln>
            <a:solidFill>
              <a:srgbClr val="383838">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a:solidFill>
                  <a:srgbClr val="383838">
                    <a:alpha val="80000"/>
                  </a:srgbClr>
                </a:solidFill>
                <a:latin typeface="微软雅黑"/>
                <a:ea typeface="微软雅黑"/>
                <a:cs typeface="微软雅黑"/>
              </a:rPr>
              <a:t>效能突破</a:t>
            </a:r>
            <a:endParaRPr lang="zh-CN" altLang="en-US">
              <a:solidFill>
                <a:srgbClr val="383838">
                  <a:alpha val="80000"/>
                </a:srgbClr>
              </a:solidFill>
              <a:latin typeface="微软雅黑"/>
              <a:ea typeface="微软雅黑"/>
              <a:cs typeface="微软雅黑"/>
            </a:endParaRPr>
          </a:p>
        </p:txBody>
      </p:sp>
      <p:sp>
        <p:nvSpPr>
          <p:cNvPr id="347" name="圆角矩形 346"/>
          <p:cNvSpPr/>
          <p:nvPr/>
        </p:nvSpPr>
        <p:spPr>
          <a:xfrm>
            <a:off x="5437505" y="6087745"/>
            <a:ext cx="1243330" cy="322580"/>
          </a:xfrm>
          <a:prstGeom prst="roundRect">
            <a:avLst/>
          </a:prstGeom>
          <a:noFill/>
          <a:ln>
            <a:solidFill>
              <a:srgbClr val="383838">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a:solidFill>
                  <a:srgbClr val="383838">
                    <a:alpha val="80000"/>
                  </a:srgbClr>
                </a:solidFill>
                <a:latin typeface="微软雅黑"/>
                <a:ea typeface="微软雅黑"/>
                <a:cs typeface="微软雅黑"/>
                <a:sym typeface="微软雅黑"/>
              </a:rPr>
              <a:t>文化重塑</a:t>
            </a:r>
            <a:endParaRPr lang="zh-CN" altLang="en-US">
              <a:solidFill>
                <a:srgbClr val="383838">
                  <a:alpha val="80000"/>
                </a:srgbClr>
              </a:solidFill>
              <a:latin typeface="微软雅黑"/>
              <a:ea typeface="微软雅黑"/>
              <a:cs typeface="微软雅黑"/>
              <a:sym typeface="微软雅黑"/>
            </a:endParaRPr>
          </a:p>
        </p:txBody>
      </p:sp>
      <p:sp>
        <p:nvSpPr>
          <p:cNvPr id="348" name="圆角矩形 347"/>
          <p:cNvSpPr/>
          <p:nvPr/>
        </p:nvSpPr>
        <p:spPr>
          <a:xfrm>
            <a:off x="6788785" y="6087745"/>
            <a:ext cx="1243330" cy="322580"/>
          </a:xfrm>
          <a:prstGeom prst="roundRect">
            <a:avLst/>
          </a:prstGeom>
          <a:noFill/>
          <a:ln>
            <a:solidFill>
              <a:srgbClr val="383838">
                <a:alpha val="5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a:solidFill>
                  <a:srgbClr val="383838">
                    <a:alpha val="80000"/>
                  </a:srgbClr>
                </a:solidFill>
                <a:latin typeface="微软雅黑"/>
                <a:ea typeface="微软雅黑"/>
                <a:cs typeface="微软雅黑"/>
                <a:sym typeface="微软雅黑"/>
              </a:rPr>
              <a:t>责任共担</a:t>
            </a:r>
            <a:endParaRPr lang="zh-CN" altLang="en-US">
              <a:solidFill>
                <a:srgbClr val="383838">
                  <a:alpha val="80000"/>
                </a:srgbClr>
              </a:solidFill>
              <a:latin typeface="微软雅黑"/>
              <a:ea typeface="微软雅黑"/>
              <a:cs typeface="微软雅黑"/>
              <a:sym typeface="微软雅黑"/>
            </a:endParaRPr>
          </a:p>
        </p:txBody>
      </p:sp>
      <p:sp>
        <p:nvSpPr>
          <p:cNvPr id="9" name="椭圆 8"/>
          <p:cNvSpPr/>
          <p:nvPr/>
        </p:nvSpPr>
        <p:spPr>
          <a:xfrm flipV="1">
            <a:off x="4677410" y="3615690"/>
            <a:ext cx="300990" cy="284480"/>
          </a:xfrm>
          <a:prstGeom prst="ellipse">
            <a:avLst/>
          </a:prstGeom>
          <a:gradFill>
            <a:gsLst>
              <a:gs pos="100000">
                <a:srgbClr val="3368FF"/>
              </a:gs>
              <a:gs pos="0">
                <a:srgbClr val="B3D4FE"/>
              </a:gs>
            </a:gsLst>
            <a:lin ang="10800000" scaled="0"/>
          </a:gradFill>
          <a:ln w="38100" cap="flat" cmpd="sng" algn="ctr">
            <a:solidFill>
              <a:srgbClr val="FFFFFF"/>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10" name="椭圆 9"/>
          <p:cNvSpPr/>
          <p:nvPr/>
        </p:nvSpPr>
        <p:spPr>
          <a:xfrm flipV="1">
            <a:off x="5962333" y="4975860"/>
            <a:ext cx="300990" cy="284480"/>
          </a:xfrm>
          <a:prstGeom prst="ellipse">
            <a:avLst/>
          </a:prstGeom>
          <a:gradFill>
            <a:gsLst>
              <a:gs pos="100000">
                <a:srgbClr val="3368FF"/>
              </a:gs>
              <a:gs pos="0">
                <a:srgbClr val="B3D4FE"/>
              </a:gs>
            </a:gsLst>
            <a:lin ang="10800000" scaled="0"/>
          </a:gradFill>
          <a:ln w="38100" cap="flat" cmpd="sng" algn="ctr">
            <a:solidFill>
              <a:srgbClr val="FFFFFF"/>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11" name="椭圆 10"/>
          <p:cNvSpPr/>
          <p:nvPr/>
        </p:nvSpPr>
        <p:spPr>
          <a:xfrm flipV="1">
            <a:off x="7265035" y="3615690"/>
            <a:ext cx="300990" cy="284480"/>
          </a:xfrm>
          <a:prstGeom prst="ellipse">
            <a:avLst/>
          </a:prstGeom>
          <a:gradFill>
            <a:gsLst>
              <a:gs pos="100000">
                <a:srgbClr val="3368FF"/>
              </a:gs>
              <a:gs pos="0">
                <a:srgbClr val="B3D4FE"/>
              </a:gs>
            </a:gsLst>
            <a:lin ang="10800000" scaled="0"/>
          </a:gradFill>
          <a:ln w="38100" cap="flat" cmpd="sng" algn="ctr">
            <a:solidFill>
              <a:srgbClr val="FFFFFF"/>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grpSp>
        <p:nvGrpSpPr>
          <p:cNvPr id="4" name="组合 3"/>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3" name="文本框 12"/>
          <p:cNvSpPr txBox="1"/>
          <p:nvPr/>
        </p:nvSpPr>
        <p:spPr>
          <a:xfrm>
            <a:off x="2613025" y="3623945"/>
            <a:ext cx="542290" cy="382270"/>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effectLst>
                  <a:outerShdw blurRad="38100" dist="38100" dir="2700000" algn="tl">
                    <a:srgbClr val="383838">
                      <a:alpha val="43137"/>
                    </a:srgbClr>
                  </a:outerShdw>
                </a:effectLst>
                <a:latin typeface="微软雅黑"/>
                <a:ea typeface="微软雅黑"/>
                <a:cs typeface="微软雅黑"/>
              </a:rPr>
              <a:t>02</a:t>
            </a:r>
            <a:endParaRPr lang="en-US" altLang="zh-CN"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Tree>
  </p:cSld>
  <p:clrMapOvr>
    <a:masterClrMapping/>
  </p:clrMapOvr>
  <p:timing>
    <p:tnLst>
      <p:par>
        <p:cTn id="1" dur="indefinite" restart="never" fill="hold"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49744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5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50">
                <a:solidFill>
                  <a:srgbClr val="0042FF"/>
                </a:solidFill>
                <a:effectLst/>
                <a:latin typeface="微软雅黑"/>
                <a:ea typeface="微软雅黑"/>
                <a:cs typeface="微软雅黑"/>
              </a:rPr>
              <a:t>业务框架</a:t>
            </a:r>
            <a:r>
              <a:rPr lang="en-US" altLang="zh-CN" sz="2450">
                <a:solidFill>
                  <a:srgbClr val="0042FF"/>
                </a:solidFill>
                <a:effectLst/>
                <a:latin typeface="微软雅黑"/>
                <a:ea typeface="微软雅黑"/>
                <a:cs typeface="微软雅黑"/>
              </a:rPr>
              <a:t>-</a:t>
            </a:r>
            <a:r>
              <a:rPr sz="2450">
                <a:solidFill>
                  <a:srgbClr val="0042FF"/>
                </a:solidFill>
                <a:effectLst/>
                <a:latin typeface="微软雅黑"/>
                <a:ea typeface="微软雅黑"/>
                <a:cs typeface="微软雅黑"/>
              </a:rPr>
              <a:t>中心发散架构 | </a:t>
            </a:r>
            <a:r>
              <a:rPr lang="en-US" altLang="zh-CN" sz="2450">
                <a:solidFill>
                  <a:srgbClr val="0042FF"/>
                </a:solidFill>
                <a:effectLst/>
                <a:latin typeface="微软雅黑"/>
                <a:ea typeface="微软雅黑"/>
                <a:cs typeface="微软雅黑"/>
              </a:rPr>
              <a:t>“</a:t>
            </a:r>
            <a:r>
              <a:rPr sz="2450">
                <a:solidFill>
                  <a:srgbClr val="383838"/>
                </a:solidFill>
                <a:effectLst/>
                <a:latin typeface="微软雅黑"/>
                <a:ea typeface="微软雅黑"/>
                <a:cs typeface="微软雅黑"/>
              </a:rPr>
              <a:t>一体两翼</a:t>
            </a:r>
            <a:r>
              <a:rPr lang="en-US" altLang="zh-CN" sz="2450">
                <a:solidFill>
                  <a:srgbClr val="383838"/>
                </a:solidFill>
                <a:effectLst/>
                <a:latin typeface="微软雅黑"/>
                <a:ea typeface="微软雅黑"/>
                <a:cs typeface="微软雅黑"/>
              </a:rPr>
              <a:t>”</a:t>
            </a:r>
            <a:r>
              <a:rPr sz="2450">
                <a:solidFill>
                  <a:srgbClr val="383838"/>
                </a:solidFill>
                <a:effectLst/>
                <a:latin typeface="微软雅黑"/>
                <a:ea typeface="微软雅黑"/>
                <a:cs typeface="微软雅黑"/>
              </a:rPr>
              <a:t>年度运营规划</a:t>
            </a:r>
            <a:endParaRPr sz="245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cxnSp>
        <p:nvCxnSpPr>
          <p:cNvPr id="2" name="直接连接符 1"/>
          <p:cNvCxnSpPr/>
          <p:nvPr/>
        </p:nvCxnSpPr>
        <p:spPr>
          <a:xfrm flipV="1">
            <a:off x="4596357" y="826399"/>
            <a:ext cx="7175696" cy="4912"/>
          </a:xfrm>
          <a:prstGeom prst="line">
            <a:avLst/>
          </a:prstGeom>
          <a:ln>
            <a:gradFill>
              <a:gsLst>
                <a:gs pos="0">
                  <a:srgbClr val="FFFFFF">
                    <a:alpha val="0"/>
                  </a:srgbClr>
                </a:gs>
                <a:gs pos="100000">
                  <a:srgbClr val="0042FF"/>
                </a:gs>
              </a:gsLst>
              <a:lin ang="0" scaled="0"/>
            </a:gradFill>
          </a:ln>
        </p:spPr>
        <p:style>
          <a:lnRef idx="1">
            <a:srgbClr val="0042FF"/>
          </a:lnRef>
          <a:fillRef idx="0">
            <a:srgbClr val="0042FF"/>
          </a:fillRef>
          <a:effectRef idx="0">
            <a:srgbClr val="0042FF"/>
          </a:effectRef>
          <a:fontRef idx="minor">
            <a:srgbClr val="383838"/>
          </a:fontRef>
        </p:style>
      </p:cxnSp>
      <p:sp>
        <p:nvSpPr>
          <p:cNvPr id="41" name="椭圆 40"/>
          <p:cNvSpPr/>
          <p:nvPr/>
        </p:nvSpPr>
        <p:spPr>
          <a:xfrm>
            <a:off x="1685925" y="5403215"/>
            <a:ext cx="8653145" cy="1590675"/>
          </a:xfrm>
          <a:prstGeom prst="ellipse">
            <a:avLst/>
          </a:prstGeom>
          <a:gradFill flip="none" rotWithShape="1">
            <a:gsLst>
              <a:gs pos="0">
                <a:srgbClr val="B3D4FE">
                  <a:alpha val="5000"/>
                </a:srgbClr>
              </a:gs>
              <a:gs pos="80000">
                <a:srgbClr val="B3D4FE">
                  <a:alpha val="0"/>
                </a:srgbClr>
              </a:gs>
              <a:gs pos="20000">
                <a:srgbClr val="B3D4FE">
                  <a:alpha val="0"/>
                </a:srgbClr>
              </a:gs>
              <a:gs pos="100000">
                <a:srgbClr val="B3D4FE">
                  <a:alpha val="5000"/>
                </a:srgbClr>
              </a:gs>
            </a:gsLst>
            <a:lin ang="10800000" scaled="1"/>
            <a:tileRect/>
          </a:gradFill>
          <a:ln w="6350">
            <a:gradFill>
              <a:gsLst>
                <a:gs pos="13000">
                  <a:srgbClr val="B3D4FE">
                    <a:alpha val="0"/>
                  </a:srgbClr>
                </a:gs>
                <a:gs pos="100000">
                  <a:srgbClr val="B3D4FE"/>
                </a:gs>
              </a:gsLst>
              <a:lin ang="5400000" scaled="1"/>
            </a:gradFill>
            <a:prstDash val="sysDot"/>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42" name="椭圆 41"/>
          <p:cNvSpPr/>
          <p:nvPr/>
        </p:nvSpPr>
        <p:spPr>
          <a:xfrm>
            <a:off x="2560955" y="5403215"/>
            <a:ext cx="6903085" cy="1336040"/>
          </a:xfrm>
          <a:prstGeom prst="ellipse">
            <a:avLst/>
          </a:prstGeom>
          <a:gradFill flip="none" rotWithShape="1">
            <a:gsLst>
              <a:gs pos="0">
                <a:srgbClr val="B3D4FE">
                  <a:alpha val="10000"/>
                </a:srgbClr>
              </a:gs>
              <a:gs pos="80000">
                <a:srgbClr val="B3D4FE">
                  <a:alpha val="0"/>
                </a:srgbClr>
              </a:gs>
              <a:gs pos="20000">
                <a:srgbClr val="B3D4FE">
                  <a:alpha val="0"/>
                </a:srgbClr>
              </a:gs>
              <a:gs pos="100000">
                <a:srgbClr val="B3D4FE">
                  <a:alpha val="10000"/>
                </a:srgbClr>
              </a:gs>
            </a:gsLst>
            <a:lin ang="10800000" scaled="1"/>
            <a:tileRect/>
          </a:gradFill>
          <a:ln w="6350">
            <a:gradFill>
              <a:gsLst>
                <a:gs pos="13000">
                  <a:srgbClr val="B3D4FE">
                    <a:alpha val="0"/>
                  </a:srgbClr>
                </a:gs>
                <a:gs pos="100000">
                  <a:srgbClr val="B3D4FE"/>
                </a:gs>
              </a:gsLst>
              <a:lin ang="5400000" scaled="1"/>
            </a:gradFill>
            <a:prstDash val="sysDot"/>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sym typeface="微软雅黑"/>
            </a:endParaRPr>
          </a:p>
        </p:txBody>
      </p:sp>
      <p:sp>
        <p:nvSpPr>
          <p:cNvPr id="4" name="椭圆 3"/>
          <p:cNvSpPr/>
          <p:nvPr/>
        </p:nvSpPr>
        <p:spPr>
          <a:xfrm>
            <a:off x="3462655" y="5520690"/>
            <a:ext cx="5100320" cy="800100"/>
          </a:xfrm>
          <a:prstGeom prst="ellipse">
            <a:avLst/>
          </a:prstGeom>
          <a:gradFill flip="none" rotWithShape="1">
            <a:gsLst>
              <a:gs pos="0">
                <a:srgbClr val="B3D4FE">
                  <a:alpha val="10000"/>
                </a:srgbClr>
              </a:gs>
              <a:gs pos="80000">
                <a:srgbClr val="B3D4FE">
                  <a:alpha val="0"/>
                </a:srgbClr>
              </a:gs>
              <a:gs pos="20000">
                <a:srgbClr val="B3D4FE">
                  <a:alpha val="0"/>
                </a:srgbClr>
              </a:gs>
              <a:gs pos="100000">
                <a:srgbClr val="B3D4FE">
                  <a:alpha val="10000"/>
                </a:srgbClr>
              </a:gs>
            </a:gsLst>
            <a:lin ang="10800000" scaled="1"/>
            <a:tileRect/>
          </a:gradFill>
          <a:ln w="6350">
            <a:gradFill>
              <a:gsLst>
                <a:gs pos="13000">
                  <a:srgbClr val="B3D4FE">
                    <a:alpha val="0"/>
                  </a:srgbClr>
                </a:gs>
                <a:gs pos="100000">
                  <a:srgbClr val="B3D4FE"/>
                </a:gs>
              </a:gsLst>
              <a:lin ang="5400000" scaled="1"/>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63" name="Freeform 7"/>
          <p:cNvSpPr/>
          <p:nvPr/>
        </p:nvSpPr>
        <p:spPr bwMode="auto">
          <a:xfrm>
            <a:off x="3899535" y="4879955"/>
            <a:ext cx="4292600" cy="1241445"/>
          </a:xfrm>
          <a:custGeom>
            <a:avLst/>
            <a:gdLst>
              <a:gd name="connsiteX0" fmla="*/ 6760 w 6760"/>
              <a:gd name="connsiteY0" fmla="*/ 1455 h 1973"/>
              <a:gd name="connsiteX1" fmla="*/ 6760 w 6760"/>
              <a:gd name="connsiteY1" fmla="*/ 1446 h 1973"/>
              <a:gd name="connsiteX2" fmla="*/ 6748 w 6760"/>
              <a:gd name="connsiteY2" fmla="*/ 1413 h 1973"/>
              <a:gd name="connsiteX3" fmla="*/ 6718 w 6760"/>
              <a:gd name="connsiteY3" fmla="*/ 1332 h 1973"/>
              <a:gd name="connsiteX4" fmla="*/ 6224 w 6760"/>
              <a:gd name="connsiteY4" fmla="*/ 0 h 1973"/>
              <a:gd name="connsiteX5" fmla="*/ 6183 w 6760"/>
              <a:gd name="connsiteY5" fmla="*/ 11 h 1973"/>
              <a:gd name="connsiteX6" fmla="*/ 3380 w 6760"/>
              <a:gd name="connsiteY6" fmla="*/ 239 h 1973"/>
              <a:gd name="connsiteX7" fmla="*/ 590 w 6760"/>
              <a:gd name="connsiteY7" fmla="*/ 64 h 1973"/>
              <a:gd name="connsiteX8" fmla="*/ 518 w 6760"/>
              <a:gd name="connsiteY8" fmla="*/ 8 h 1973"/>
              <a:gd name="connsiteX9" fmla="*/ 12 w 6760"/>
              <a:gd name="connsiteY9" fmla="*/ 1412 h 1973"/>
              <a:gd name="connsiteX10" fmla="*/ 0 w 6760"/>
              <a:gd name="connsiteY10" fmla="*/ 1446 h 1973"/>
              <a:gd name="connsiteX11" fmla="*/ 0 w 6760"/>
              <a:gd name="connsiteY11" fmla="*/ 1455 h 1973"/>
              <a:gd name="connsiteX12" fmla="*/ 3380 w 6760"/>
              <a:gd name="connsiteY12" fmla="*/ 1973 h 1973"/>
              <a:gd name="connsiteX13" fmla="*/ 6760 w 6760"/>
              <a:gd name="connsiteY13" fmla="*/ 1457 h 1973"/>
              <a:gd name="connsiteX14" fmla="*/ 6760 w 6760"/>
              <a:gd name="connsiteY14" fmla="*/ 1456 h 1973"/>
              <a:gd name="connsiteX15" fmla="*/ 6760 w 6760"/>
              <a:gd name="connsiteY15" fmla="*/ 1455 h 1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0" t="0" r="r" b="b"/>
            <a:pathLst>
              <a:path w="6760" h="1955">
                <a:moveTo>
                  <a:pt x="6760" y="1437"/>
                </a:moveTo>
                <a:lnTo>
                  <a:pt x="6760" y="1428"/>
                </a:lnTo>
                <a:lnTo>
                  <a:pt x="6748" y="1395"/>
                </a:lnTo>
                <a:lnTo>
                  <a:pt x="6718" y="1314"/>
                </a:lnTo>
                <a:lnTo>
                  <a:pt x="6233" y="5"/>
                </a:lnTo>
                <a:cubicBezTo>
                  <a:pt x="6136" y="112"/>
                  <a:pt x="4713" y="297"/>
                  <a:pt x="3396" y="287"/>
                </a:cubicBezTo>
                <a:cubicBezTo>
                  <a:pt x="1858" y="292"/>
                  <a:pt x="590" y="155"/>
                  <a:pt x="523" y="20"/>
                </a:cubicBezTo>
                <a:lnTo>
                  <a:pt x="518" y="13"/>
                </a:lnTo>
                <a:lnTo>
                  <a:pt x="515" y="5"/>
                </a:lnTo>
                <a:lnTo>
                  <a:pt x="514" y="0"/>
                </a:lnTo>
                <a:cubicBezTo>
                  <a:pt x="24" y="1321"/>
                  <a:pt x="9" y="1398"/>
                  <a:pt x="12" y="1394"/>
                </a:cubicBezTo>
                <a:lnTo>
                  <a:pt x="12" y="1394"/>
                </a:lnTo>
                <a:lnTo>
                  <a:pt x="12" y="1394"/>
                </a:lnTo>
                <a:lnTo>
                  <a:pt x="12" y="1394"/>
                </a:lnTo>
                <a:lnTo>
                  <a:pt x="12" y="1394"/>
                </a:lnTo>
                <a:lnTo>
                  <a:pt x="0" y="1428"/>
                </a:lnTo>
                <a:lnTo>
                  <a:pt x="0" y="1437"/>
                </a:lnTo>
                <a:lnTo>
                  <a:pt x="1" y="1451"/>
                </a:lnTo>
                <a:lnTo>
                  <a:pt x="5" y="1464"/>
                </a:lnTo>
                <a:cubicBezTo>
                  <a:pt x="40" y="1742"/>
                  <a:pt x="1738" y="1962"/>
                  <a:pt x="3380" y="1955"/>
                </a:cubicBezTo>
                <a:cubicBezTo>
                  <a:pt x="5209" y="1964"/>
                  <a:pt x="6708" y="1714"/>
                  <a:pt x="6755" y="1466"/>
                </a:cubicBezTo>
                <a:lnTo>
                  <a:pt x="6758" y="1453"/>
                </a:lnTo>
                <a:lnTo>
                  <a:pt x="6760" y="1439"/>
                </a:lnTo>
                <a:lnTo>
                  <a:pt x="6760" y="1437"/>
                </a:lnTo>
                <a:close/>
              </a:path>
            </a:pathLst>
          </a:custGeom>
          <a:gradFill flip="none" rotWithShape="1">
            <a:gsLst>
              <a:gs pos="0">
                <a:srgbClr val="B3D4FE"/>
              </a:gs>
              <a:gs pos="78000">
                <a:srgbClr val="3368FF"/>
              </a:gs>
            </a:gsLst>
            <a:lin ang="27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8" name="梯形 37"/>
          <p:cNvSpPr/>
          <p:nvPr/>
        </p:nvSpPr>
        <p:spPr>
          <a:xfrm rot="5400000">
            <a:off x="3841115" y="1283335"/>
            <a:ext cx="2352675" cy="2379345"/>
          </a:xfrm>
          <a:prstGeom prst="trapezoid">
            <a:avLst>
              <a:gd name="adj" fmla="val 32300"/>
            </a:avLst>
          </a:prstGeom>
          <a:gradFill>
            <a:gsLst>
              <a:gs pos="0">
                <a:srgbClr val="3368FF">
                  <a:alpha val="0"/>
                </a:srgbClr>
              </a:gs>
              <a:gs pos="41000">
                <a:srgbClr val="3368FF">
                  <a:alpha val="20000"/>
                </a:srgbClr>
              </a:gs>
              <a:gs pos="100000">
                <a:srgbClr val="3368FF">
                  <a:alpha val="0"/>
                </a:srgbClr>
              </a:gs>
            </a:gsLst>
            <a:lin ang="5400000" scaled="1"/>
          </a:gradFill>
          <a:ln>
            <a:gradFill>
              <a:gsLst>
                <a:gs pos="55600">
                  <a:srgbClr val="3368FF"/>
                </a:gs>
                <a:gs pos="23000">
                  <a:srgbClr val="3368FF">
                    <a:alpha val="0"/>
                  </a:srgbClr>
                </a:gs>
                <a:gs pos="100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4" name="梯形 43"/>
          <p:cNvSpPr/>
          <p:nvPr/>
        </p:nvSpPr>
        <p:spPr>
          <a:xfrm rot="5400000">
            <a:off x="3992880" y="1356995"/>
            <a:ext cx="1915795" cy="2249170"/>
          </a:xfrm>
          <a:prstGeom prst="trapezoid">
            <a:avLst>
              <a:gd name="adj" fmla="val 34176"/>
            </a:avLst>
          </a:prstGeom>
          <a:gradFill>
            <a:gsLst>
              <a:gs pos="0">
                <a:srgbClr val="3368FF">
                  <a:alpha val="0"/>
                </a:srgbClr>
              </a:gs>
              <a:gs pos="100000">
                <a:srgbClr val="3368FF">
                  <a:alpha val="0"/>
                </a:srgbClr>
              </a:gs>
              <a:gs pos="25000">
                <a:srgbClr val="3368FF">
                  <a:alpha val="2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6" name="梯形 45"/>
          <p:cNvSpPr/>
          <p:nvPr/>
        </p:nvSpPr>
        <p:spPr>
          <a:xfrm rot="16200000" flipH="1">
            <a:off x="5974715" y="1283335"/>
            <a:ext cx="2352675" cy="2379345"/>
          </a:xfrm>
          <a:prstGeom prst="trapezoid">
            <a:avLst>
              <a:gd name="adj" fmla="val 32300"/>
            </a:avLst>
          </a:prstGeom>
          <a:gradFill>
            <a:gsLst>
              <a:gs pos="0">
                <a:srgbClr val="3368FF">
                  <a:alpha val="0"/>
                </a:srgbClr>
              </a:gs>
              <a:gs pos="41000">
                <a:srgbClr val="3368FF">
                  <a:alpha val="20000"/>
                </a:srgbClr>
              </a:gs>
              <a:gs pos="100000">
                <a:srgbClr val="3368FF">
                  <a:alpha val="0"/>
                </a:srgbClr>
              </a:gs>
            </a:gsLst>
            <a:lin ang="5400000" scaled="1"/>
          </a:gradFill>
          <a:ln>
            <a:gradFill>
              <a:gsLst>
                <a:gs pos="55600">
                  <a:srgbClr val="3368FF"/>
                </a:gs>
                <a:gs pos="23000">
                  <a:srgbClr val="3368FF">
                    <a:alpha val="0"/>
                  </a:srgbClr>
                </a:gs>
                <a:gs pos="100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1" name="梯形 50"/>
          <p:cNvSpPr/>
          <p:nvPr/>
        </p:nvSpPr>
        <p:spPr>
          <a:xfrm rot="16200000" flipH="1">
            <a:off x="6102350" y="1348740"/>
            <a:ext cx="1915795" cy="2247900"/>
          </a:xfrm>
          <a:prstGeom prst="trapezoid">
            <a:avLst>
              <a:gd name="adj" fmla="val 34176"/>
            </a:avLst>
          </a:prstGeom>
          <a:gradFill>
            <a:gsLst>
              <a:gs pos="0">
                <a:srgbClr val="3368FF">
                  <a:alpha val="0"/>
                </a:srgbClr>
              </a:gs>
              <a:gs pos="100000">
                <a:srgbClr val="3368FF">
                  <a:alpha val="0"/>
                </a:srgbClr>
              </a:gs>
              <a:gs pos="25000">
                <a:srgbClr val="3368FF">
                  <a:alpha val="2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5" name="文本框 54"/>
          <p:cNvSpPr txBox="1"/>
          <p:nvPr/>
        </p:nvSpPr>
        <p:spPr>
          <a:xfrm>
            <a:off x="4090035" y="2143760"/>
            <a:ext cx="681355" cy="615315"/>
          </a:xfrm>
          <a:prstGeom prst="rect">
            <a:avLst/>
          </a:prstGeom>
          <a:noFill/>
        </p:spPr>
        <p:txBody>
          <a:bodyPr wrap="square" lIns="0" tIns="0" rIns="0" bIns="0" rtlCol="0">
            <a:spAutoFit/>
          </a:bodyPr>
          <a:lstStyle/>
          <a:p>
            <a:pPr algn="ctr">
              <a:defRPr>
                <a:latin typeface="微软雅黑"/>
                <a:ea typeface="微软雅黑"/>
                <a:cs typeface="微软雅黑"/>
              </a:defRPr>
            </a:pPr>
            <a:r>
              <a:rPr lang="zh-CN" sz="2000" b="1" dirty="0">
                <a:solidFill>
                  <a:srgbClr val="0042FF"/>
                </a:solidFill>
                <a:latin typeface="微软雅黑"/>
                <a:ea typeface="微软雅黑"/>
                <a:cs typeface="微软雅黑"/>
              </a:rPr>
              <a:t>市场拓展</a:t>
            </a:r>
            <a:endParaRPr lang="zh-CN" sz="2000" b="1" dirty="0">
              <a:solidFill>
                <a:srgbClr val="0042FF"/>
              </a:solidFill>
              <a:latin typeface="微软雅黑"/>
              <a:ea typeface="微软雅黑"/>
              <a:cs typeface="微软雅黑"/>
            </a:endParaRPr>
          </a:p>
        </p:txBody>
      </p:sp>
      <p:sp>
        <p:nvSpPr>
          <p:cNvPr id="456" name="文本框 455"/>
          <p:cNvSpPr txBox="1"/>
          <p:nvPr/>
        </p:nvSpPr>
        <p:spPr>
          <a:xfrm>
            <a:off x="7397115" y="2143760"/>
            <a:ext cx="681355" cy="615315"/>
          </a:xfrm>
          <a:prstGeom prst="rect">
            <a:avLst/>
          </a:prstGeom>
          <a:noFill/>
        </p:spPr>
        <p:txBody>
          <a:bodyPr wrap="square" lIns="0" tIns="0" rIns="0" bIns="0" rtlCol="0">
            <a:spAutoFit/>
          </a:bodyPr>
          <a:lstStyle/>
          <a:p>
            <a:pPr lvl="0" algn="ctr">
              <a:buClrTx/>
              <a:buSzTx/>
              <a:buFontTx/>
              <a:defRPr>
                <a:latin typeface="微软雅黑"/>
                <a:ea typeface="微软雅黑"/>
                <a:cs typeface="微软雅黑"/>
              </a:defRPr>
            </a:pPr>
            <a:r>
              <a:rPr lang="zh-CN" altLang="en-US" sz="2000" b="1" dirty="0">
                <a:solidFill>
                  <a:srgbClr val="0042FF"/>
                </a:solidFill>
                <a:latin typeface="微软雅黑"/>
                <a:ea typeface="微软雅黑"/>
                <a:cs typeface="微软雅黑"/>
                <a:sym typeface="微软雅黑"/>
              </a:rPr>
              <a:t>产品创新</a:t>
            </a:r>
            <a:endParaRPr lang="zh-CN" altLang="en-US" sz="2000" b="1" dirty="0">
              <a:solidFill>
                <a:srgbClr val="0042FF"/>
              </a:solidFill>
              <a:latin typeface="微软雅黑"/>
              <a:ea typeface="微软雅黑"/>
              <a:cs typeface="微软雅黑"/>
              <a:sym typeface="微软雅黑"/>
            </a:endParaRPr>
          </a:p>
        </p:txBody>
      </p:sp>
      <p:grpSp>
        <p:nvGrpSpPr>
          <p:cNvPr id="143" name="组合 142"/>
          <p:cNvGrpSpPr/>
          <p:nvPr/>
        </p:nvGrpSpPr>
        <p:grpSpPr>
          <a:xfrm>
            <a:off x="838835" y="1247140"/>
            <a:ext cx="2987675" cy="2468880"/>
            <a:chOff x="1113" y="1724"/>
            <a:chExt cx="4705" cy="3888"/>
          </a:xfrm>
        </p:grpSpPr>
        <p:sp>
          <p:nvSpPr>
            <p:cNvPr id="45" name="矩形: 圆顶角 5"/>
            <p:cNvSpPr/>
            <p:nvPr>
              <p:custDataLst>
                <p:tags r:id="rId4"/>
              </p:custDataLst>
            </p:nvPr>
          </p:nvSpPr>
          <p:spPr>
            <a:xfrm>
              <a:off x="1113" y="1724"/>
              <a:ext cx="4705" cy="3787"/>
            </a:xfrm>
            <a:prstGeom prst="round2SameRect">
              <a:avLst>
                <a:gd name="adj1" fmla="val 3698"/>
                <a:gd name="adj2" fmla="val 0"/>
              </a:avLst>
            </a:prstGeom>
            <a:solidFill>
              <a:srgbClr val="FFFFFF"/>
            </a:solidFill>
            <a:ln w="19050">
              <a:gradFill>
                <a:gsLst>
                  <a:gs pos="0">
                    <a:srgbClr val="3368FF"/>
                  </a:gs>
                  <a:gs pos="100000">
                    <a:srgbClr val="3368FF">
                      <a:alpha val="0"/>
                    </a:srgbClr>
                  </a:gs>
                </a:gsLst>
                <a:lin ang="5400000" scaled="1"/>
              </a:gradFill>
            </a:ln>
            <a:effectLst/>
          </p:spPr>
          <p:style>
            <a:lnRef idx="2">
              <a:srgbClr val="0042FF"/>
            </a:lnRef>
            <a:fillRef idx="1">
              <a:srgbClr val="0042FF"/>
            </a:fillRef>
            <a:effectRef idx="0">
              <a:srgbClr val="0042FF"/>
            </a:effectRef>
            <a:fontRef idx="minor">
              <a:srgbClr val="FFFFFF"/>
            </a:fontRef>
          </p:style>
          <p:txBody>
            <a:bodyPr lIns="86868" tIns="43434" rIns="86868" bIns="43434" rtlCol="0" anchor="ctr"/>
            <a:lstStyle/>
            <a:p>
              <a:pPr algn="ctr">
                <a:defRPr>
                  <a:latin typeface="微软雅黑"/>
                  <a:ea typeface="微软雅黑"/>
                  <a:cs typeface="微软雅黑"/>
                </a:defRPr>
              </a:pPr>
              <a:endParaRPr lang="zh-CN" altLang="en-US" sz="1710" dirty="0">
                <a:latin typeface="微软雅黑"/>
                <a:ea typeface="微软雅黑"/>
                <a:cs typeface="微软雅黑"/>
              </a:endParaRPr>
            </a:p>
          </p:txBody>
        </p:sp>
        <p:sp>
          <p:nvSpPr>
            <p:cNvPr id="332" name="PA-任意多边形 2264"/>
            <p:cNvSpPr/>
            <p:nvPr>
              <p:custDataLst>
                <p:tags r:id="rId5"/>
              </p:custDataLst>
            </p:nvPr>
          </p:nvSpPr>
          <p:spPr>
            <a:xfrm>
              <a:off x="1489" y="1724"/>
              <a:ext cx="3955" cy="570"/>
            </a:xfrm>
            <a:custGeom>
              <a:avLst/>
              <a:gdLst>
                <a:gd name="connsiteX0" fmla="*/ 0 w 1933116"/>
                <a:gd name="connsiteY0" fmla="*/ 0 h 420531"/>
                <a:gd name="connsiteX1" fmla="*/ 137724 w 1933116"/>
                <a:gd name="connsiteY1" fmla="*/ 76816 h 420531"/>
                <a:gd name="connsiteX2" fmla="*/ 302754 w 1933116"/>
                <a:gd name="connsiteY2" fmla="*/ 343715 h 420531"/>
                <a:gd name="connsiteX3" fmla="*/ 440478 w 1933116"/>
                <a:gd name="connsiteY3" fmla="*/ 420532 h 420531"/>
                <a:gd name="connsiteX4" fmla="*/ 1492638 w 1933116"/>
                <a:gd name="connsiteY4" fmla="*/ 420532 h 420531"/>
                <a:gd name="connsiteX5" fmla="*/ 1630362 w 1933116"/>
                <a:gd name="connsiteY5" fmla="*/ 343715 h 420531"/>
                <a:gd name="connsiteX6" fmla="*/ 1795393 w 1933116"/>
                <a:gd name="connsiteY6" fmla="*/ 76816 h 420531"/>
                <a:gd name="connsiteX7" fmla="*/ 1933116 w 1933116"/>
                <a:gd name="connsiteY7" fmla="*/ 0 h 420531"/>
                <a:gd name="connsiteX8" fmla="*/ 0 w 1933116"/>
                <a:gd name="connsiteY8" fmla="*/ 0 h 420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3116" h="420531">
                  <a:moveTo>
                    <a:pt x="0" y="0"/>
                  </a:moveTo>
                  <a:cubicBezTo>
                    <a:pt x="56158" y="0"/>
                    <a:pt x="108279" y="29088"/>
                    <a:pt x="137724" y="76816"/>
                  </a:cubicBezTo>
                  <a:lnTo>
                    <a:pt x="302754" y="343715"/>
                  </a:lnTo>
                  <a:cubicBezTo>
                    <a:pt x="332317" y="391444"/>
                    <a:pt x="384439" y="420532"/>
                    <a:pt x="440478" y="420532"/>
                  </a:cubicBezTo>
                  <a:lnTo>
                    <a:pt x="1492638" y="420532"/>
                  </a:lnTo>
                  <a:cubicBezTo>
                    <a:pt x="1548796" y="420532"/>
                    <a:pt x="1600917" y="391444"/>
                    <a:pt x="1630362" y="343715"/>
                  </a:cubicBezTo>
                  <a:lnTo>
                    <a:pt x="1795393" y="76816"/>
                  </a:lnTo>
                  <a:cubicBezTo>
                    <a:pt x="1824956" y="29088"/>
                    <a:pt x="1877077" y="0"/>
                    <a:pt x="1933116" y="0"/>
                  </a:cubicBezTo>
                  <a:lnTo>
                    <a:pt x="0" y="0"/>
                  </a:lnTo>
                  <a:close/>
                </a:path>
              </a:pathLst>
            </a:custGeom>
            <a:gradFill>
              <a:gsLst>
                <a:gs pos="0">
                  <a:srgbClr val="0042FF"/>
                </a:gs>
                <a:gs pos="100000">
                  <a:srgbClr val="3368FF"/>
                </a:gs>
              </a:gsLst>
              <a:lin ang="5400000" scaled="0"/>
            </a:gradFill>
            <a:ln>
              <a:noFill/>
            </a:ln>
            <a:effectLst>
              <a:outerShdw blurRad="101600" dist="76200" dir="2700000" algn="tl" rotWithShape="0">
                <a:srgbClr val="3368FF">
                  <a:alpha val="20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333" name="文本框 332"/>
            <p:cNvSpPr txBox="1"/>
            <p:nvPr/>
          </p:nvSpPr>
          <p:spPr>
            <a:xfrm>
              <a:off x="2570" y="1816"/>
              <a:ext cx="1791" cy="38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市场拓展翼</a:t>
              </a:r>
              <a:endParaRPr lang="zh-CN" altLang="en-US" sz="1600" b="1" dirty="0">
                <a:solidFill>
                  <a:srgbClr val="FFFFFF"/>
                </a:solidFill>
                <a:latin typeface="微软雅黑"/>
                <a:ea typeface="微软雅黑"/>
                <a:cs typeface="微软雅黑"/>
              </a:endParaRPr>
            </a:p>
          </p:txBody>
        </p:sp>
        <p:sp>
          <p:nvSpPr>
            <p:cNvPr id="325" name="矩形: 圆角 324"/>
            <p:cNvSpPr/>
            <p:nvPr>
              <p:custDataLst>
                <p:tags r:id="rId6"/>
              </p:custDataLst>
            </p:nvPr>
          </p:nvSpPr>
          <p:spPr>
            <a:xfrm>
              <a:off x="1581" y="2581"/>
              <a:ext cx="3576" cy="601"/>
            </a:xfrm>
            <a:prstGeom prst="roundRect">
              <a:avLst>
                <a:gd name="adj" fmla="val 6500"/>
              </a:avLst>
            </a:prstGeom>
            <a:noFill/>
            <a:ln>
              <a:solidFill>
                <a:srgbClr val="3368FF"/>
              </a:solidFill>
            </a:ln>
            <a:effectLst/>
          </p:spPr>
          <p:style>
            <a:lnRef idx="2">
              <a:srgbClr val="0042FF"/>
            </a:lnRef>
            <a:fillRef idx="1">
              <a:srgbClr val="0042FF"/>
            </a:fillRef>
            <a:effectRef idx="0">
              <a:srgbClr val="0042FF"/>
            </a:effectRef>
            <a:fontRef idx="minor">
              <a:srgbClr val="FFFFFF"/>
            </a:fontRef>
          </p:style>
          <p:txBody>
            <a:bodyPr lIns="68580" tIns="34290" rIns="68580" bIns="34290" rtlCol="0" anchor="ctr"/>
            <a:lstStyle/>
            <a:p>
              <a:pPr algn="ctr">
                <a:defRPr>
                  <a:latin typeface="微软雅黑"/>
                  <a:ea typeface="微软雅黑"/>
                  <a:cs typeface="微软雅黑"/>
                </a:defRPr>
              </a:pPr>
              <a:endParaRPr lang="zh-CN" altLang="en-US" sz="1350" dirty="0">
                <a:latin typeface="微软雅黑"/>
                <a:ea typeface="微软雅黑"/>
                <a:cs typeface="微软雅黑"/>
              </a:endParaRPr>
            </a:p>
          </p:txBody>
        </p:sp>
        <p:sp>
          <p:nvSpPr>
            <p:cNvPr id="327" name="文本框 326"/>
            <p:cNvSpPr txBox="1"/>
            <p:nvPr/>
          </p:nvSpPr>
          <p:spPr>
            <a:xfrm>
              <a:off x="2672" y="2741"/>
              <a:ext cx="1689" cy="290"/>
            </a:xfrm>
            <a:prstGeom prst="rect">
              <a:avLst/>
            </a:prstGeom>
            <a:noFill/>
          </p:spPr>
          <p:txBody>
            <a:bodyPr wrap="square" lIns="0" tIns="0" rIns="0" bIns="0" rtlCol="0">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积极开拓新市场</a:t>
              </a:r>
              <a:endParaRPr lang="zh-CN" altLang="en-US" sz="1200" b="1" dirty="0">
                <a:solidFill>
                  <a:srgbClr val="0042FF"/>
                </a:solidFill>
                <a:latin typeface="微软雅黑"/>
                <a:ea typeface="微软雅黑"/>
                <a:cs typeface="微软雅黑"/>
              </a:endParaRPr>
            </a:p>
          </p:txBody>
        </p:sp>
        <p:sp>
          <p:nvSpPr>
            <p:cNvPr id="324" name="文本框 323"/>
            <p:cNvSpPr txBox="1"/>
            <p:nvPr/>
          </p:nvSpPr>
          <p:spPr>
            <a:xfrm>
              <a:off x="2386" y="3263"/>
              <a:ext cx="3211" cy="242"/>
            </a:xfrm>
            <a:prstGeom prst="rect">
              <a:avLst/>
            </a:prstGeom>
            <a:noFill/>
          </p:spPr>
          <p:txBody>
            <a:bodyPr wrap="square" lIns="0" tIns="0" rIns="0" bIns="0" rtlCol="0">
              <a:spAutoFit/>
            </a:bodyPr>
            <a:lstStyle/>
            <a:p>
              <a:pPr>
                <a:defRPr>
                  <a:latin typeface="微软雅黑"/>
                  <a:ea typeface="微软雅黑"/>
                  <a:cs typeface="微软雅黑"/>
                </a:defRPr>
              </a:pPr>
              <a:r>
                <a:rPr lang="zh-CN" sz="1000" dirty="0">
                  <a:solidFill>
                    <a:srgbClr val="383838"/>
                  </a:solidFill>
                  <a:latin typeface="微软雅黑"/>
                  <a:ea typeface="微软雅黑"/>
                  <a:cs typeface="微软雅黑"/>
                </a:rPr>
                <a:t>市场占有率由</a:t>
              </a:r>
              <a:r>
                <a:rPr lang="en-US" altLang="zh-CN" sz="1000" dirty="0">
                  <a:solidFill>
                    <a:srgbClr val="383838"/>
                  </a:solidFill>
                  <a:latin typeface="微软雅黑"/>
                  <a:ea typeface="微软雅黑"/>
                  <a:cs typeface="微软雅黑"/>
                </a:rPr>
                <a:t>15%</a:t>
              </a:r>
              <a:r>
                <a:rPr lang="zh-CN" altLang="en-US" sz="1000" dirty="0">
                  <a:solidFill>
                    <a:srgbClr val="383838"/>
                  </a:solidFill>
                  <a:latin typeface="微软雅黑"/>
                  <a:ea typeface="微软雅黑"/>
                  <a:cs typeface="微软雅黑"/>
                </a:rPr>
                <a:t>提升至</a:t>
              </a:r>
              <a:r>
                <a:rPr lang="en-US" altLang="zh-CN" sz="1000" dirty="0">
                  <a:solidFill>
                    <a:srgbClr val="383838"/>
                  </a:solidFill>
                  <a:latin typeface="微软雅黑"/>
                  <a:ea typeface="微软雅黑"/>
                  <a:cs typeface="微软雅黑"/>
                </a:rPr>
                <a:t>25%</a:t>
              </a:r>
              <a:endParaRPr lang="en-US" altLang="zh-CN" sz="1000" b="1" dirty="0">
                <a:solidFill>
                  <a:srgbClr val="383838"/>
                </a:solidFill>
                <a:latin typeface="微软雅黑"/>
                <a:ea typeface="微软雅黑"/>
                <a:cs typeface="微软雅黑"/>
              </a:endParaRPr>
            </a:p>
          </p:txBody>
        </p:sp>
        <p:sp>
          <p:nvSpPr>
            <p:cNvPr id="330" name="椭圆 329"/>
            <p:cNvSpPr/>
            <p:nvPr/>
          </p:nvSpPr>
          <p:spPr>
            <a:xfrm>
              <a:off x="1680" y="2530"/>
              <a:ext cx="704" cy="704"/>
            </a:xfrm>
            <a:prstGeom prst="ellipse">
              <a:avLst/>
            </a:prstGeom>
            <a:solidFill>
              <a:srgbClr val="3368FF"/>
            </a:solidFill>
            <a:ln>
              <a:solidFill>
                <a:srgbClr val="FFFFFF"/>
              </a:solidFill>
            </a:ln>
            <a:effectLst>
              <a:outerShdw blurRad="127000" dist="88900" dir="2700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29" name="文本框 328"/>
            <p:cNvSpPr txBox="1"/>
            <p:nvPr/>
          </p:nvSpPr>
          <p:spPr>
            <a:xfrm>
              <a:off x="1850" y="2713"/>
              <a:ext cx="365" cy="339"/>
            </a:xfrm>
            <a:prstGeom prst="rect">
              <a:avLst/>
            </a:prstGeom>
            <a:noFill/>
            <a:ln>
              <a:noFill/>
            </a:ln>
            <a:effectLst/>
          </p:spPr>
          <p:txBody>
            <a:bodyPr wrap="square" lIns="0" tIns="0" rIns="0" bIns="0" rtlCol="0">
              <a:spAutoFit/>
            </a:bodyPr>
            <a:lstStyle/>
            <a:p>
              <a:pPr algn="ctr">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01</a:t>
              </a:r>
              <a:endParaRPr lang="en-US" altLang="zh-CN" sz="1400" b="1" dirty="0">
                <a:solidFill>
                  <a:srgbClr val="FFFFFF"/>
                </a:solidFill>
                <a:latin typeface="微软雅黑"/>
                <a:ea typeface="微软雅黑"/>
                <a:cs typeface="微软雅黑"/>
              </a:endParaRPr>
            </a:p>
          </p:txBody>
        </p:sp>
        <p:sp>
          <p:nvSpPr>
            <p:cNvPr id="56" name="矩形: 圆角 1"/>
            <p:cNvSpPr/>
            <p:nvPr>
              <p:custDataLst>
                <p:tags r:id="rId7"/>
              </p:custDataLst>
            </p:nvPr>
          </p:nvSpPr>
          <p:spPr>
            <a:xfrm>
              <a:off x="1581" y="3655"/>
              <a:ext cx="3576" cy="601"/>
            </a:xfrm>
            <a:prstGeom prst="roundRect">
              <a:avLst>
                <a:gd name="adj" fmla="val 6500"/>
              </a:avLst>
            </a:prstGeom>
            <a:noFill/>
            <a:ln>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68580" tIns="34290" rIns="68580" bIns="3429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350" dirty="0">
                <a:latin typeface="微软雅黑"/>
                <a:ea typeface="微软雅黑"/>
                <a:cs typeface="微软雅黑"/>
                <a:sym typeface="微软雅黑"/>
              </a:endParaRPr>
            </a:p>
          </p:txBody>
        </p:sp>
        <p:sp>
          <p:nvSpPr>
            <p:cNvPr id="57" name="文本框 56"/>
            <p:cNvSpPr txBox="1"/>
            <p:nvPr/>
          </p:nvSpPr>
          <p:spPr>
            <a:xfrm>
              <a:off x="2672" y="3815"/>
              <a:ext cx="1689" cy="290"/>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渠道下沉与裂变</a:t>
              </a:r>
              <a:endParaRPr lang="zh-CN" altLang="en-US" sz="1200" b="1" dirty="0">
                <a:solidFill>
                  <a:srgbClr val="0042FF"/>
                </a:solidFill>
                <a:latin typeface="微软雅黑"/>
                <a:ea typeface="微软雅黑"/>
                <a:cs typeface="微软雅黑"/>
                <a:sym typeface="微软雅黑"/>
              </a:endParaRPr>
            </a:p>
          </p:txBody>
        </p:sp>
        <p:sp>
          <p:nvSpPr>
            <p:cNvPr id="62" name="文本框 61"/>
            <p:cNvSpPr txBox="1"/>
            <p:nvPr/>
          </p:nvSpPr>
          <p:spPr>
            <a:xfrm>
              <a:off x="2386" y="4337"/>
              <a:ext cx="3211" cy="242"/>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直销</a:t>
              </a:r>
              <a:r>
                <a:rPr lang="en-US" altLang="zh-CN" sz="1000" dirty="0">
                  <a:solidFill>
                    <a:srgbClr val="383838"/>
                  </a:solidFill>
                  <a:latin typeface="微软雅黑"/>
                  <a:ea typeface="微软雅黑"/>
                  <a:cs typeface="微软雅黑"/>
                  <a:sym typeface="微软雅黑"/>
                </a:rPr>
                <a:t>+</a:t>
              </a:r>
              <a:r>
                <a:rPr lang="zh-CN" sz="1000" dirty="0">
                  <a:solidFill>
                    <a:srgbClr val="383838"/>
                  </a:solidFill>
                  <a:latin typeface="微软雅黑"/>
                  <a:ea typeface="微软雅黑"/>
                  <a:cs typeface="微软雅黑"/>
                  <a:sym typeface="微软雅黑"/>
                </a:rPr>
                <a:t>发展城市合伙人</a:t>
              </a:r>
              <a:r>
                <a:rPr lang="zh-CN" sz="1000" dirty="0">
                  <a:solidFill>
                    <a:srgbClr val="383838"/>
                  </a:solidFill>
                  <a:latin typeface="微软雅黑"/>
                  <a:ea typeface="微软雅黑"/>
                  <a:cs typeface="微软雅黑"/>
                  <a:sym typeface="微软雅黑"/>
                </a:rPr>
                <a:t>模式推广</a:t>
              </a:r>
              <a:endParaRPr lang="zh-CN" sz="1000" dirty="0">
                <a:solidFill>
                  <a:srgbClr val="383838"/>
                </a:solidFill>
                <a:latin typeface="微软雅黑"/>
                <a:ea typeface="微软雅黑"/>
                <a:cs typeface="微软雅黑"/>
                <a:sym typeface="微软雅黑"/>
              </a:endParaRPr>
            </a:p>
          </p:txBody>
        </p:sp>
        <p:sp>
          <p:nvSpPr>
            <p:cNvPr id="65" name="椭圆 64"/>
            <p:cNvSpPr/>
            <p:nvPr/>
          </p:nvSpPr>
          <p:spPr>
            <a:xfrm>
              <a:off x="1680" y="3603"/>
              <a:ext cx="704" cy="704"/>
            </a:xfrm>
            <a:prstGeom prst="ellipse">
              <a:avLst/>
            </a:prstGeom>
            <a:solidFill>
              <a:srgbClr val="3368FF"/>
            </a:solidFill>
            <a:ln>
              <a:solidFill>
                <a:srgbClr val="FFFFFF"/>
              </a:solidFill>
            </a:ln>
            <a:effectLst>
              <a:outerShdw blurRad="127000" dist="88900" dir="2700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6" name="文本框 65"/>
            <p:cNvSpPr txBox="1"/>
            <p:nvPr/>
          </p:nvSpPr>
          <p:spPr>
            <a:xfrm>
              <a:off x="1844" y="3786"/>
              <a:ext cx="376" cy="339"/>
            </a:xfrm>
            <a:prstGeom prst="rect">
              <a:avLst/>
            </a:prstGeom>
            <a:noFill/>
            <a:ln>
              <a:noFill/>
            </a:ln>
            <a:effectLst/>
          </p:spPr>
          <p:txBody>
            <a:bodyPr wrap="square" lIns="0" tIns="0" rIns="0" bIns="0" rtlCol="0">
              <a:spAutoFit/>
            </a:bodyPr>
            <a:lstStyle/>
            <a:p>
              <a:pPr lvl="0" algn="ctr">
                <a:buClrTx/>
                <a:buSzTx/>
                <a:buFontTx/>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02</a:t>
              </a:r>
              <a:endParaRPr lang="en-US" altLang="zh-CN" sz="1400" b="1" dirty="0">
                <a:solidFill>
                  <a:srgbClr val="FFFFFF"/>
                </a:solidFill>
                <a:latin typeface="微软雅黑"/>
                <a:ea typeface="微软雅黑"/>
                <a:cs typeface="微软雅黑"/>
                <a:sym typeface="微软雅黑"/>
              </a:endParaRPr>
            </a:p>
          </p:txBody>
        </p:sp>
        <p:sp>
          <p:nvSpPr>
            <p:cNvPr id="67" name="矩形: 圆角 15"/>
            <p:cNvSpPr/>
            <p:nvPr>
              <p:custDataLst>
                <p:tags r:id="rId8"/>
              </p:custDataLst>
            </p:nvPr>
          </p:nvSpPr>
          <p:spPr>
            <a:xfrm>
              <a:off x="1581" y="4688"/>
              <a:ext cx="3576" cy="601"/>
            </a:xfrm>
            <a:prstGeom prst="roundRect">
              <a:avLst>
                <a:gd name="adj" fmla="val 6500"/>
              </a:avLst>
            </a:prstGeom>
            <a:noFill/>
            <a:ln>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68580" tIns="34290" rIns="68580" bIns="3429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350" dirty="0">
                <a:latin typeface="微软雅黑"/>
                <a:ea typeface="微软雅黑"/>
                <a:cs typeface="微软雅黑"/>
                <a:sym typeface="微软雅黑"/>
              </a:endParaRPr>
            </a:p>
          </p:txBody>
        </p:sp>
        <p:sp>
          <p:nvSpPr>
            <p:cNvPr id="68" name="文本框 67"/>
            <p:cNvSpPr txBox="1"/>
            <p:nvPr/>
          </p:nvSpPr>
          <p:spPr>
            <a:xfrm>
              <a:off x="2672" y="4849"/>
              <a:ext cx="1982" cy="290"/>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存</a:t>
              </a:r>
              <a:r>
                <a:rPr lang="zh-CN" altLang="en-US" sz="1200" b="1" dirty="0">
                  <a:solidFill>
                    <a:srgbClr val="0042FF"/>
                  </a:solidFill>
                  <a:latin typeface="微软雅黑"/>
                  <a:ea typeface="微软雅黑"/>
                  <a:cs typeface="微软雅黑"/>
                  <a:sym typeface="微软雅黑"/>
                </a:rPr>
                <a:t>量客户深度挖掘</a:t>
              </a:r>
              <a:endParaRPr lang="zh-CN" altLang="en-US" sz="1200" b="1" dirty="0">
                <a:solidFill>
                  <a:srgbClr val="0042FF"/>
                </a:solidFill>
                <a:latin typeface="微软雅黑"/>
                <a:ea typeface="微软雅黑"/>
                <a:cs typeface="微软雅黑"/>
                <a:sym typeface="微软雅黑"/>
              </a:endParaRPr>
            </a:p>
          </p:txBody>
        </p:sp>
        <p:sp>
          <p:nvSpPr>
            <p:cNvPr id="69" name="文本框 68"/>
            <p:cNvSpPr txBox="1"/>
            <p:nvPr/>
          </p:nvSpPr>
          <p:spPr>
            <a:xfrm>
              <a:off x="2386" y="5370"/>
              <a:ext cx="3211" cy="242"/>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推出</a:t>
              </a:r>
              <a:r>
                <a:rPr lang="zh-CN" sz="1000" dirty="0">
                  <a:solidFill>
                    <a:srgbClr val="383838"/>
                  </a:solidFill>
                  <a:latin typeface="微软雅黑"/>
                  <a:ea typeface="微软雅黑"/>
                  <a:cs typeface="微软雅黑"/>
                  <a:sym typeface="微软雅黑"/>
                </a:rPr>
                <a:t>“</a:t>
              </a:r>
              <a:r>
                <a:rPr lang="zh-CN" sz="1000" dirty="0">
                  <a:solidFill>
                    <a:srgbClr val="383838"/>
                  </a:solidFill>
                  <a:latin typeface="微软雅黑"/>
                  <a:ea typeface="微软雅黑"/>
                  <a:cs typeface="微软雅黑"/>
                  <a:sym typeface="微软雅黑"/>
                </a:rPr>
                <a:t>老带新</a:t>
              </a:r>
              <a:r>
                <a:rPr lang="zh-CN" sz="1000" dirty="0">
                  <a:solidFill>
                    <a:srgbClr val="383838"/>
                  </a:solidFill>
                  <a:latin typeface="微软雅黑"/>
                  <a:ea typeface="微软雅黑"/>
                  <a:cs typeface="微软雅黑"/>
                  <a:sym typeface="微软雅黑"/>
                </a:rPr>
                <a:t>”</a:t>
              </a:r>
              <a:r>
                <a:rPr lang="zh-CN" sz="1000" dirty="0">
                  <a:solidFill>
                    <a:srgbClr val="383838"/>
                  </a:solidFill>
                  <a:latin typeface="微软雅黑"/>
                  <a:ea typeface="微软雅黑"/>
                  <a:cs typeface="微软雅黑"/>
                  <a:sym typeface="微软雅黑"/>
                </a:rPr>
                <a:t>激励计划</a:t>
              </a:r>
              <a:endParaRPr lang="zh-CN" sz="1000" dirty="0">
                <a:solidFill>
                  <a:srgbClr val="383838"/>
                </a:solidFill>
                <a:latin typeface="微软雅黑"/>
                <a:ea typeface="微软雅黑"/>
                <a:cs typeface="微软雅黑"/>
                <a:sym typeface="微软雅黑"/>
              </a:endParaRPr>
            </a:p>
          </p:txBody>
        </p:sp>
        <p:sp>
          <p:nvSpPr>
            <p:cNvPr id="70" name="椭圆 69"/>
            <p:cNvSpPr/>
            <p:nvPr/>
          </p:nvSpPr>
          <p:spPr>
            <a:xfrm>
              <a:off x="1680" y="4636"/>
              <a:ext cx="704" cy="704"/>
            </a:xfrm>
            <a:prstGeom prst="ellipse">
              <a:avLst/>
            </a:prstGeom>
            <a:solidFill>
              <a:srgbClr val="3368FF"/>
            </a:solidFill>
            <a:ln>
              <a:solidFill>
                <a:srgbClr val="FFFFFF"/>
              </a:solidFill>
            </a:ln>
            <a:effectLst>
              <a:outerShdw blurRad="127000" dist="88900" dir="2700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4" name="文本框 73"/>
            <p:cNvSpPr txBox="1"/>
            <p:nvPr/>
          </p:nvSpPr>
          <p:spPr>
            <a:xfrm>
              <a:off x="1847" y="4819"/>
              <a:ext cx="370" cy="339"/>
            </a:xfrm>
            <a:prstGeom prst="rect">
              <a:avLst/>
            </a:prstGeom>
            <a:noFill/>
            <a:ln>
              <a:noFill/>
            </a:ln>
            <a:effectLst/>
          </p:spPr>
          <p:txBody>
            <a:bodyPr wrap="square" lIns="0" tIns="0" rIns="0" bIns="0" rtlCol="0">
              <a:spAutoFit/>
            </a:bodyPr>
            <a:lstStyle/>
            <a:p>
              <a:pPr lvl="0" algn="ctr">
                <a:buClrTx/>
                <a:buSzTx/>
                <a:buFontTx/>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03</a:t>
              </a:r>
              <a:endParaRPr lang="en-US" altLang="zh-CN" sz="1400" b="1" dirty="0">
                <a:solidFill>
                  <a:srgbClr val="FFFFFF"/>
                </a:solidFill>
                <a:latin typeface="微软雅黑"/>
                <a:ea typeface="微软雅黑"/>
                <a:cs typeface="微软雅黑"/>
                <a:sym typeface="微软雅黑"/>
              </a:endParaRPr>
            </a:p>
          </p:txBody>
        </p:sp>
      </p:grpSp>
      <p:sp>
        <p:nvSpPr>
          <p:cNvPr id="213" name="Freeform 9"/>
          <p:cNvSpPr/>
          <p:nvPr/>
        </p:nvSpPr>
        <p:spPr bwMode="auto">
          <a:xfrm>
            <a:off x="4267200" y="3715763"/>
            <a:ext cx="3578225" cy="1164199"/>
          </a:xfrm>
          <a:custGeom>
            <a:avLst/>
            <a:gdLst>
              <a:gd name="T0" fmla="*/ 6539 w 6655"/>
              <a:gd name="T1" fmla="*/ 1210 h 1651"/>
              <a:gd name="T2" fmla="*/ 6418 w 6655"/>
              <a:gd name="T3" fmla="*/ 967 h 1651"/>
              <a:gd name="T4" fmla="*/ 6418 w 6655"/>
              <a:gd name="T5" fmla="*/ 967 h 1651"/>
              <a:gd name="T6" fmla="*/ 6398 w 6655"/>
              <a:gd name="T7" fmla="*/ 927 h 1651"/>
              <a:gd name="T8" fmla="*/ 6227 w 6655"/>
              <a:gd name="T9" fmla="*/ 582 h 1651"/>
              <a:gd name="T10" fmla="*/ 6073 w 6655"/>
              <a:gd name="T11" fmla="*/ 270 h 1651"/>
              <a:gd name="T12" fmla="*/ 5939 w 6655"/>
              <a:gd name="T13" fmla="*/ 0 h 1651"/>
              <a:gd name="T14" fmla="*/ 5845 w 6655"/>
              <a:gd name="T15" fmla="*/ 10 h 1651"/>
              <a:gd name="T16" fmla="*/ 3308 w 6655"/>
              <a:gd name="T17" fmla="*/ 114 h 1651"/>
              <a:gd name="T18" fmla="*/ 772 w 6655"/>
              <a:gd name="T19" fmla="*/ 10 h 1651"/>
              <a:gd name="T20" fmla="*/ 714 w 6655"/>
              <a:gd name="T21" fmla="*/ 4 h 1651"/>
              <a:gd name="T22" fmla="*/ 270 w 6655"/>
              <a:gd name="T23" fmla="*/ 901 h 1651"/>
              <a:gd name="T24" fmla="*/ 237 w 6655"/>
              <a:gd name="T25" fmla="*/ 967 h 1651"/>
              <a:gd name="T26" fmla="*/ 237 w 6655"/>
              <a:gd name="T27" fmla="*/ 967 h 1651"/>
              <a:gd name="T28" fmla="*/ 0 w 6655"/>
              <a:gd name="T29" fmla="*/ 1446 h 1651"/>
              <a:gd name="T30" fmla="*/ 21 w 6655"/>
              <a:gd name="T31" fmla="*/ 1450 h 1651"/>
              <a:gd name="T32" fmla="*/ 3328 w 6655"/>
              <a:gd name="T33" fmla="*/ 1651 h 1651"/>
              <a:gd name="T34" fmla="*/ 6634 w 6655"/>
              <a:gd name="T35" fmla="*/ 1450 h 1651"/>
              <a:gd name="T36" fmla="*/ 6655 w 6655"/>
              <a:gd name="T37" fmla="*/ 1446 h 1651"/>
              <a:gd name="T38" fmla="*/ 6539 w 6655"/>
              <a:gd name="T39" fmla="*/ 1210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35" h="1833">
                <a:moveTo>
                  <a:pt x="5537" y="1335"/>
                </a:moveTo>
                <a:lnTo>
                  <a:pt x="5434" y="1060"/>
                </a:lnTo>
                <a:lnTo>
                  <a:pt x="5417" y="1015"/>
                </a:lnTo>
                <a:lnTo>
                  <a:pt x="5273" y="625"/>
                </a:lnTo>
                <a:lnTo>
                  <a:pt x="5142" y="273"/>
                </a:lnTo>
                <a:lnTo>
                  <a:pt x="5041" y="0"/>
                </a:lnTo>
                <a:lnTo>
                  <a:pt x="5037" y="1"/>
                </a:lnTo>
                <a:lnTo>
                  <a:pt x="5040" y="6"/>
                </a:lnTo>
                <a:lnTo>
                  <a:pt x="5042" y="13"/>
                </a:lnTo>
                <a:lnTo>
                  <a:pt x="5043" y="20"/>
                </a:lnTo>
                <a:lnTo>
                  <a:pt x="5042" y="27"/>
                </a:lnTo>
                <a:lnTo>
                  <a:pt x="5040" y="34"/>
                </a:lnTo>
                <a:lnTo>
                  <a:pt x="5036" y="41"/>
                </a:lnTo>
                <a:cubicBezTo>
                  <a:pt x="4984" y="181"/>
                  <a:pt x="3876" y="291"/>
                  <a:pt x="2812" y="287"/>
                </a:cubicBezTo>
                <a:cubicBezTo>
                  <a:pt x="1621" y="292"/>
                  <a:pt x="640" y="166"/>
                  <a:pt x="588" y="41"/>
                </a:cubicBezTo>
                <a:lnTo>
                  <a:pt x="584" y="34"/>
                </a:lnTo>
                <a:lnTo>
                  <a:pt x="583" y="31"/>
                </a:lnTo>
                <a:lnTo>
                  <a:pt x="229" y="986"/>
                </a:lnTo>
                <a:lnTo>
                  <a:pt x="201" y="1060"/>
                </a:lnTo>
                <a:lnTo>
                  <a:pt x="0" y="1602"/>
                </a:lnTo>
                <a:cubicBezTo>
                  <a:pt x="518" y="1740"/>
                  <a:pt x="1814" y="1837"/>
                  <a:pt x="2767" y="1833"/>
                </a:cubicBezTo>
                <a:lnTo>
                  <a:pt x="2818" y="1833"/>
                </a:lnTo>
                <a:lnTo>
                  <a:pt x="2874" y="1833"/>
                </a:lnTo>
                <a:lnTo>
                  <a:pt x="2930" y="1833"/>
                </a:lnTo>
                <a:cubicBezTo>
                  <a:pt x="4069" y="1835"/>
                  <a:pt x="5209" y="1710"/>
                  <a:pt x="5635" y="1602"/>
                </a:cubicBezTo>
                <a:lnTo>
                  <a:pt x="5537" y="1335"/>
                </a:lnTo>
                <a:close/>
              </a:path>
            </a:pathLst>
          </a:custGeom>
          <a:gradFill flip="none" rotWithShape="1">
            <a:gsLst>
              <a:gs pos="0">
                <a:srgbClr val="B3D4FE"/>
              </a:gs>
              <a:gs pos="78000">
                <a:srgbClr val="3368FF"/>
              </a:gs>
            </a:gsLst>
            <a:lin ang="27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15" name="任意多边形 214"/>
          <p:cNvSpPr/>
          <p:nvPr/>
        </p:nvSpPr>
        <p:spPr>
          <a:xfrm>
            <a:off x="4235450" y="4716145"/>
            <a:ext cx="3621600" cy="368300"/>
          </a:xfrm>
          <a:custGeom>
            <a:avLst/>
            <a:gdLst>
              <a:gd name="connsiteX0" fmla="*/ 0 w 5680"/>
              <a:gd name="connsiteY0" fmla="*/ 237 h 473"/>
              <a:gd name="connsiteX1" fmla="*/ 2849 w 5680"/>
              <a:gd name="connsiteY1" fmla="*/ 0 h 473"/>
              <a:gd name="connsiteX2" fmla="*/ 5680 w 5680"/>
              <a:gd name="connsiteY2" fmla="*/ 214 h 473"/>
              <a:gd name="connsiteX3" fmla="*/ 2849 w 5680"/>
              <a:gd name="connsiteY3" fmla="*/ 473 h 473"/>
              <a:gd name="connsiteX4" fmla="*/ 0 w 5680"/>
              <a:gd name="connsiteY4" fmla="*/ 237 h 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0" h="473">
                <a:moveTo>
                  <a:pt x="0" y="237"/>
                </a:moveTo>
                <a:cubicBezTo>
                  <a:pt x="0" y="106"/>
                  <a:pt x="1275" y="0"/>
                  <a:pt x="2849" y="0"/>
                </a:cubicBezTo>
                <a:cubicBezTo>
                  <a:pt x="4422" y="0"/>
                  <a:pt x="5647" y="85"/>
                  <a:pt x="5680" y="214"/>
                </a:cubicBezTo>
                <a:cubicBezTo>
                  <a:pt x="5704" y="310"/>
                  <a:pt x="4422" y="473"/>
                  <a:pt x="2849" y="473"/>
                </a:cubicBezTo>
                <a:cubicBezTo>
                  <a:pt x="1275" y="473"/>
                  <a:pt x="0" y="367"/>
                  <a:pt x="0" y="237"/>
                </a:cubicBezTo>
                <a:close/>
              </a:path>
            </a:pathLst>
          </a:custGeom>
          <a:gradFill flip="none" rotWithShape="1">
            <a:gsLst>
              <a:gs pos="0">
                <a:srgbClr val="B3D4FE">
                  <a:alpha val="44000"/>
                </a:srgbClr>
              </a:gs>
              <a:gs pos="88000">
                <a:srgbClr val="B3D4FE">
                  <a:alpha val="0"/>
                </a:srgbClr>
              </a:gs>
            </a:gsLst>
            <a:lin ang="16200000" scaled="1"/>
            <a:tileRect/>
          </a:gradFill>
          <a:ln w="19050">
            <a:gradFill>
              <a:gsLst>
                <a:gs pos="0">
                  <a:srgbClr val="B3D4FE">
                    <a:alpha val="0"/>
                  </a:srgbClr>
                </a:gs>
                <a:gs pos="100000">
                  <a:srgbClr val="B3D4FE"/>
                </a:gs>
              </a:gsLst>
              <a:lin ang="5400000" scaled="1"/>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nvGrpSpPr>
          <p:cNvPr id="216" name="组合 215"/>
          <p:cNvGrpSpPr/>
          <p:nvPr/>
        </p:nvGrpSpPr>
        <p:grpSpPr>
          <a:xfrm>
            <a:off x="8242935" y="1259205"/>
            <a:ext cx="2987675" cy="2468880"/>
            <a:chOff x="1113" y="1724"/>
            <a:chExt cx="4705" cy="3888"/>
          </a:xfrm>
        </p:grpSpPr>
        <p:sp>
          <p:nvSpPr>
            <p:cNvPr id="217" name="矩形: 圆顶角 5"/>
            <p:cNvSpPr/>
            <p:nvPr>
              <p:custDataLst>
                <p:tags r:id="rId9"/>
              </p:custDataLst>
            </p:nvPr>
          </p:nvSpPr>
          <p:spPr>
            <a:xfrm>
              <a:off x="1113" y="1724"/>
              <a:ext cx="4705" cy="3787"/>
            </a:xfrm>
            <a:prstGeom prst="round2SameRect">
              <a:avLst>
                <a:gd name="adj1" fmla="val 3698"/>
                <a:gd name="adj2" fmla="val 0"/>
              </a:avLst>
            </a:prstGeom>
            <a:solidFill>
              <a:srgbClr val="FFFFFF"/>
            </a:solidFill>
            <a:ln w="19050">
              <a:gradFill>
                <a:gsLst>
                  <a:gs pos="0">
                    <a:srgbClr val="3368FF"/>
                  </a:gs>
                  <a:gs pos="100000">
                    <a:srgbClr val="3368FF">
                      <a:alpha val="0"/>
                    </a:srgbClr>
                  </a:gs>
                </a:gsLst>
                <a:lin ang="5400000" scaled="1"/>
              </a:gradFill>
            </a:ln>
            <a:effectLst/>
          </p:spPr>
          <p:style>
            <a:lnRef idx="2">
              <a:srgbClr val="0042FF"/>
            </a:lnRef>
            <a:fillRef idx="1">
              <a:srgbClr val="0042FF"/>
            </a:fillRef>
            <a:effectRef idx="0">
              <a:srgbClr val="0042FF"/>
            </a:effectRef>
            <a:fontRef idx="minor">
              <a:srgbClr val="FFFFFF"/>
            </a:fontRef>
          </p:style>
          <p:txBody>
            <a:bodyPr lIns="86868" tIns="43434" rIns="86868" bIns="43434" rtlCol="0" anchor="ctr"/>
            <a:lstStyle/>
            <a:p>
              <a:pPr algn="ctr">
                <a:defRPr>
                  <a:latin typeface="微软雅黑"/>
                  <a:ea typeface="微软雅黑"/>
                  <a:cs typeface="微软雅黑"/>
                </a:defRPr>
              </a:pPr>
              <a:endParaRPr lang="zh-CN" altLang="en-US" sz="1710" dirty="0">
                <a:latin typeface="微软雅黑"/>
                <a:ea typeface="微软雅黑"/>
                <a:cs typeface="微软雅黑"/>
              </a:endParaRPr>
            </a:p>
          </p:txBody>
        </p:sp>
        <p:sp>
          <p:nvSpPr>
            <p:cNvPr id="218" name="PA-任意多边形 2264"/>
            <p:cNvSpPr/>
            <p:nvPr>
              <p:custDataLst>
                <p:tags r:id="rId10"/>
              </p:custDataLst>
            </p:nvPr>
          </p:nvSpPr>
          <p:spPr>
            <a:xfrm>
              <a:off x="1489" y="1724"/>
              <a:ext cx="3955" cy="570"/>
            </a:xfrm>
            <a:custGeom>
              <a:avLst/>
              <a:gdLst>
                <a:gd name="connsiteX0" fmla="*/ 0 w 1933116"/>
                <a:gd name="connsiteY0" fmla="*/ 0 h 420531"/>
                <a:gd name="connsiteX1" fmla="*/ 137724 w 1933116"/>
                <a:gd name="connsiteY1" fmla="*/ 76816 h 420531"/>
                <a:gd name="connsiteX2" fmla="*/ 302754 w 1933116"/>
                <a:gd name="connsiteY2" fmla="*/ 343715 h 420531"/>
                <a:gd name="connsiteX3" fmla="*/ 440478 w 1933116"/>
                <a:gd name="connsiteY3" fmla="*/ 420532 h 420531"/>
                <a:gd name="connsiteX4" fmla="*/ 1492638 w 1933116"/>
                <a:gd name="connsiteY4" fmla="*/ 420532 h 420531"/>
                <a:gd name="connsiteX5" fmla="*/ 1630362 w 1933116"/>
                <a:gd name="connsiteY5" fmla="*/ 343715 h 420531"/>
                <a:gd name="connsiteX6" fmla="*/ 1795393 w 1933116"/>
                <a:gd name="connsiteY6" fmla="*/ 76816 h 420531"/>
                <a:gd name="connsiteX7" fmla="*/ 1933116 w 1933116"/>
                <a:gd name="connsiteY7" fmla="*/ 0 h 420531"/>
                <a:gd name="connsiteX8" fmla="*/ 0 w 1933116"/>
                <a:gd name="connsiteY8" fmla="*/ 0 h 420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3116" h="420531">
                  <a:moveTo>
                    <a:pt x="0" y="0"/>
                  </a:moveTo>
                  <a:cubicBezTo>
                    <a:pt x="56158" y="0"/>
                    <a:pt x="108279" y="29088"/>
                    <a:pt x="137724" y="76816"/>
                  </a:cubicBezTo>
                  <a:lnTo>
                    <a:pt x="302754" y="343715"/>
                  </a:lnTo>
                  <a:cubicBezTo>
                    <a:pt x="332317" y="391444"/>
                    <a:pt x="384439" y="420532"/>
                    <a:pt x="440478" y="420532"/>
                  </a:cubicBezTo>
                  <a:lnTo>
                    <a:pt x="1492638" y="420532"/>
                  </a:lnTo>
                  <a:cubicBezTo>
                    <a:pt x="1548796" y="420532"/>
                    <a:pt x="1600917" y="391444"/>
                    <a:pt x="1630362" y="343715"/>
                  </a:cubicBezTo>
                  <a:lnTo>
                    <a:pt x="1795393" y="76816"/>
                  </a:lnTo>
                  <a:cubicBezTo>
                    <a:pt x="1824956" y="29088"/>
                    <a:pt x="1877077" y="0"/>
                    <a:pt x="1933116" y="0"/>
                  </a:cubicBezTo>
                  <a:lnTo>
                    <a:pt x="0" y="0"/>
                  </a:lnTo>
                  <a:close/>
                </a:path>
              </a:pathLst>
            </a:custGeom>
            <a:gradFill>
              <a:gsLst>
                <a:gs pos="0">
                  <a:srgbClr val="0042FF"/>
                </a:gs>
                <a:gs pos="100000">
                  <a:srgbClr val="3368FF"/>
                </a:gs>
              </a:gsLst>
              <a:lin ang="5400000" scaled="0"/>
            </a:gradFill>
            <a:ln>
              <a:noFill/>
            </a:ln>
            <a:effectLst>
              <a:outerShdw blurRad="101600" dist="76200" dir="2700000" algn="tl" rotWithShape="0">
                <a:srgbClr val="3368FF">
                  <a:alpha val="20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219" name="文本框 218"/>
            <p:cNvSpPr txBox="1"/>
            <p:nvPr/>
          </p:nvSpPr>
          <p:spPr>
            <a:xfrm>
              <a:off x="2570" y="1816"/>
              <a:ext cx="1791" cy="38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产品创新翼</a:t>
              </a:r>
              <a:endParaRPr lang="zh-CN" altLang="en-US" sz="1600" b="1" dirty="0">
                <a:solidFill>
                  <a:srgbClr val="FFFFFF"/>
                </a:solidFill>
                <a:latin typeface="微软雅黑"/>
                <a:ea typeface="微软雅黑"/>
                <a:cs typeface="微软雅黑"/>
              </a:endParaRPr>
            </a:p>
          </p:txBody>
        </p:sp>
        <p:sp>
          <p:nvSpPr>
            <p:cNvPr id="220" name="矩形: 圆角 324"/>
            <p:cNvSpPr/>
            <p:nvPr>
              <p:custDataLst>
                <p:tags r:id="rId11"/>
              </p:custDataLst>
            </p:nvPr>
          </p:nvSpPr>
          <p:spPr>
            <a:xfrm>
              <a:off x="1581" y="2581"/>
              <a:ext cx="3576" cy="601"/>
            </a:xfrm>
            <a:prstGeom prst="roundRect">
              <a:avLst>
                <a:gd name="adj" fmla="val 6500"/>
              </a:avLst>
            </a:prstGeom>
            <a:noFill/>
            <a:ln>
              <a:solidFill>
                <a:srgbClr val="3368FF"/>
              </a:solidFill>
            </a:ln>
            <a:effectLst/>
          </p:spPr>
          <p:style>
            <a:lnRef idx="2">
              <a:srgbClr val="0042FF"/>
            </a:lnRef>
            <a:fillRef idx="1">
              <a:srgbClr val="0042FF"/>
            </a:fillRef>
            <a:effectRef idx="0">
              <a:srgbClr val="0042FF"/>
            </a:effectRef>
            <a:fontRef idx="minor">
              <a:srgbClr val="FFFFFF"/>
            </a:fontRef>
          </p:style>
          <p:txBody>
            <a:bodyPr lIns="68580" tIns="34290" rIns="68580" bIns="34290" rtlCol="0" anchor="ctr"/>
            <a:lstStyle/>
            <a:p>
              <a:pPr algn="ctr">
                <a:defRPr>
                  <a:latin typeface="微软雅黑"/>
                  <a:ea typeface="微软雅黑"/>
                  <a:cs typeface="微软雅黑"/>
                </a:defRPr>
              </a:pPr>
              <a:endParaRPr lang="zh-CN" altLang="en-US" sz="1350" dirty="0">
                <a:latin typeface="微软雅黑"/>
                <a:ea typeface="微软雅黑"/>
                <a:cs typeface="微软雅黑"/>
              </a:endParaRPr>
            </a:p>
          </p:txBody>
        </p:sp>
        <p:sp>
          <p:nvSpPr>
            <p:cNvPr id="221" name="文本框 220"/>
            <p:cNvSpPr txBox="1"/>
            <p:nvPr/>
          </p:nvSpPr>
          <p:spPr>
            <a:xfrm>
              <a:off x="2672" y="2741"/>
              <a:ext cx="1988" cy="290"/>
            </a:xfrm>
            <a:prstGeom prst="rect">
              <a:avLst/>
            </a:prstGeom>
            <a:noFill/>
          </p:spPr>
          <p:txBody>
            <a:bodyPr wrap="square" lIns="0" tIns="0" rIns="0" bIns="0" rtlCol="0">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打造爆品钩子引流</a:t>
              </a:r>
              <a:endParaRPr lang="zh-CN" altLang="en-US" sz="1200" b="1" dirty="0">
                <a:solidFill>
                  <a:srgbClr val="0042FF"/>
                </a:solidFill>
                <a:latin typeface="微软雅黑"/>
                <a:ea typeface="微软雅黑"/>
                <a:cs typeface="微软雅黑"/>
              </a:endParaRPr>
            </a:p>
          </p:txBody>
        </p:sp>
        <p:sp>
          <p:nvSpPr>
            <p:cNvPr id="222" name="文本框 221"/>
            <p:cNvSpPr txBox="1"/>
            <p:nvPr/>
          </p:nvSpPr>
          <p:spPr>
            <a:xfrm>
              <a:off x="2470" y="3263"/>
              <a:ext cx="3211" cy="242"/>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通过极致性价比吸引海量新用户</a:t>
              </a:r>
              <a:endParaRPr lang="zh-CN" altLang="en-US" sz="1000" dirty="0">
                <a:solidFill>
                  <a:srgbClr val="383838"/>
                </a:solidFill>
                <a:latin typeface="微软雅黑"/>
                <a:ea typeface="微软雅黑"/>
                <a:cs typeface="微软雅黑"/>
                <a:sym typeface="微软雅黑"/>
              </a:endParaRPr>
            </a:p>
          </p:txBody>
        </p:sp>
        <p:sp>
          <p:nvSpPr>
            <p:cNvPr id="223" name="椭圆 222"/>
            <p:cNvSpPr/>
            <p:nvPr/>
          </p:nvSpPr>
          <p:spPr>
            <a:xfrm>
              <a:off x="1680" y="2530"/>
              <a:ext cx="704" cy="704"/>
            </a:xfrm>
            <a:prstGeom prst="ellipse">
              <a:avLst/>
            </a:prstGeom>
            <a:solidFill>
              <a:srgbClr val="3368FF"/>
            </a:solidFill>
            <a:ln>
              <a:solidFill>
                <a:srgbClr val="FFFFFF"/>
              </a:solidFill>
            </a:ln>
            <a:effectLst>
              <a:outerShdw blurRad="127000" dist="88900" dir="2700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4" name="文本框 223"/>
            <p:cNvSpPr txBox="1"/>
            <p:nvPr/>
          </p:nvSpPr>
          <p:spPr>
            <a:xfrm>
              <a:off x="1850" y="2713"/>
              <a:ext cx="365" cy="339"/>
            </a:xfrm>
            <a:prstGeom prst="rect">
              <a:avLst/>
            </a:prstGeom>
            <a:noFill/>
            <a:ln>
              <a:noFill/>
            </a:ln>
            <a:effectLst/>
          </p:spPr>
          <p:txBody>
            <a:bodyPr wrap="square" lIns="0" tIns="0" rIns="0" bIns="0" rtlCol="0">
              <a:spAutoFit/>
            </a:bodyPr>
            <a:lstStyle/>
            <a:p>
              <a:pPr algn="ctr">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01</a:t>
              </a:r>
              <a:endParaRPr lang="en-US" altLang="zh-CN" sz="1400" b="1" dirty="0">
                <a:solidFill>
                  <a:srgbClr val="FFFFFF"/>
                </a:solidFill>
                <a:latin typeface="微软雅黑"/>
                <a:ea typeface="微软雅黑"/>
                <a:cs typeface="微软雅黑"/>
              </a:endParaRPr>
            </a:p>
          </p:txBody>
        </p:sp>
        <p:sp>
          <p:nvSpPr>
            <p:cNvPr id="225" name="矩形: 圆角 1"/>
            <p:cNvSpPr/>
            <p:nvPr>
              <p:custDataLst>
                <p:tags r:id="rId12"/>
              </p:custDataLst>
            </p:nvPr>
          </p:nvSpPr>
          <p:spPr>
            <a:xfrm>
              <a:off x="1581" y="3655"/>
              <a:ext cx="3576" cy="601"/>
            </a:xfrm>
            <a:prstGeom prst="roundRect">
              <a:avLst>
                <a:gd name="adj" fmla="val 6500"/>
              </a:avLst>
            </a:prstGeom>
            <a:noFill/>
            <a:ln>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68580" tIns="34290" rIns="68580" bIns="3429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350" dirty="0">
                <a:latin typeface="微软雅黑"/>
                <a:ea typeface="微软雅黑"/>
                <a:cs typeface="微软雅黑"/>
                <a:sym typeface="微软雅黑"/>
              </a:endParaRPr>
            </a:p>
          </p:txBody>
        </p:sp>
        <p:sp>
          <p:nvSpPr>
            <p:cNvPr id="226" name="文本框 225"/>
            <p:cNvSpPr txBox="1"/>
            <p:nvPr/>
          </p:nvSpPr>
          <p:spPr>
            <a:xfrm>
              <a:off x="2672" y="3815"/>
              <a:ext cx="1988" cy="290"/>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推出</a:t>
              </a:r>
              <a:r>
                <a:rPr lang="en-US" altLang="zh-CN" sz="1200" b="1" dirty="0">
                  <a:solidFill>
                    <a:srgbClr val="0042FF"/>
                  </a:solidFill>
                  <a:latin typeface="微软雅黑"/>
                  <a:ea typeface="微软雅黑"/>
                  <a:cs typeface="微软雅黑"/>
                  <a:sym typeface="微软雅黑"/>
                </a:rPr>
                <a:t>“</a:t>
              </a:r>
              <a:r>
                <a:rPr lang="zh-CN" altLang="en-US" sz="1200" b="1" dirty="0">
                  <a:solidFill>
                    <a:srgbClr val="0042FF"/>
                  </a:solidFill>
                  <a:latin typeface="微软雅黑"/>
                  <a:ea typeface="微软雅黑"/>
                  <a:cs typeface="微软雅黑"/>
                  <a:sym typeface="微软雅黑"/>
                </a:rPr>
                <a:t>高定服务包</a:t>
              </a:r>
              <a:r>
                <a:rPr lang="en-US" altLang="zh-CN" sz="1200" b="1" dirty="0">
                  <a:solidFill>
                    <a:srgbClr val="0042FF"/>
                  </a:solidFill>
                  <a:latin typeface="微软雅黑"/>
                  <a:ea typeface="微软雅黑"/>
                  <a:cs typeface="微软雅黑"/>
                  <a:sym typeface="微软雅黑"/>
                </a:rPr>
                <a:t>”</a:t>
              </a:r>
              <a:endParaRPr lang="en-US" altLang="zh-CN" sz="1200" b="1" dirty="0">
                <a:solidFill>
                  <a:srgbClr val="0042FF"/>
                </a:solidFill>
                <a:latin typeface="微软雅黑"/>
                <a:ea typeface="微软雅黑"/>
                <a:cs typeface="微软雅黑"/>
                <a:sym typeface="微软雅黑"/>
              </a:endParaRPr>
            </a:p>
          </p:txBody>
        </p:sp>
        <p:sp>
          <p:nvSpPr>
            <p:cNvPr id="227" name="文本框 226"/>
            <p:cNvSpPr txBox="1"/>
            <p:nvPr/>
          </p:nvSpPr>
          <p:spPr>
            <a:xfrm>
              <a:off x="2470" y="4337"/>
              <a:ext cx="3211" cy="242"/>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中高端客户的定制化服务模块</a:t>
              </a:r>
              <a:endParaRPr lang="zh-CN" altLang="en-US" sz="1000" dirty="0">
                <a:solidFill>
                  <a:srgbClr val="383838"/>
                </a:solidFill>
                <a:latin typeface="微软雅黑"/>
                <a:ea typeface="微软雅黑"/>
                <a:cs typeface="微软雅黑"/>
                <a:sym typeface="微软雅黑"/>
              </a:endParaRPr>
            </a:p>
          </p:txBody>
        </p:sp>
        <p:sp>
          <p:nvSpPr>
            <p:cNvPr id="228" name="椭圆 227"/>
            <p:cNvSpPr/>
            <p:nvPr/>
          </p:nvSpPr>
          <p:spPr>
            <a:xfrm>
              <a:off x="1680" y="3603"/>
              <a:ext cx="704" cy="704"/>
            </a:xfrm>
            <a:prstGeom prst="ellipse">
              <a:avLst/>
            </a:prstGeom>
            <a:solidFill>
              <a:srgbClr val="3368FF"/>
            </a:solidFill>
            <a:ln>
              <a:solidFill>
                <a:srgbClr val="FFFFFF"/>
              </a:solidFill>
            </a:ln>
            <a:effectLst>
              <a:outerShdw blurRad="127000" dist="88900" dir="2700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29" name="文本框 228"/>
            <p:cNvSpPr txBox="1"/>
            <p:nvPr/>
          </p:nvSpPr>
          <p:spPr>
            <a:xfrm>
              <a:off x="1844" y="3786"/>
              <a:ext cx="376" cy="339"/>
            </a:xfrm>
            <a:prstGeom prst="rect">
              <a:avLst/>
            </a:prstGeom>
            <a:noFill/>
            <a:ln>
              <a:noFill/>
            </a:ln>
            <a:effectLst/>
          </p:spPr>
          <p:txBody>
            <a:bodyPr wrap="square" lIns="0" tIns="0" rIns="0" bIns="0" rtlCol="0">
              <a:spAutoFit/>
            </a:bodyPr>
            <a:lstStyle/>
            <a:p>
              <a:pPr lvl="0" algn="ctr">
                <a:buClrTx/>
                <a:buSzTx/>
                <a:buFontTx/>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02</a:t>
              </a:r>
              <a:endParaRPr lang="en-US" altLang="zh-CN" sz="1400" b="1" dirty="0">
                <a:solidFill>
                  <a:srgbClr val="FFFFFF"/>
                </a:solidFill>
                <a:latin typeface="微软雅黑"/>
                <a:ea typeface="微软雅黑"/>
                <a:cs typeface="微软雅黑"/>
                <a:sym typeface="微软雅黑"/>
              </a:endParaRPr>
            </a:p>
          </p:txBody>
        </p:sp>
        <p:sp>
          <p:nvSpPr>
            <p:cNvPr id="230" name="矩形: 圆角 15"/>
            <p:cNvSpPr/>
            <p:nvPr>
              <p:custDataLst>
                <p:tags r:id="rId13"/>
              </p:custDataLst>
            </p:nvPr>
          </p:nvSpPr>
          <p:spPr>
            <a:xfrm>
              <a:off x="1581" y="4688"/>
              <a:ext cx="3576" cy="601"/>
            </a:xfrm>
            <a:prstGeom prst="roundRect">
              <a:avLst>
                <a:gd name="adj" fmla="val 6500"/>
              </a:avLst>
            </a:prstGeom>
            <a:noFill/>
            <a:ln>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68580" tIns="34290" rIns="68580" bIns="3429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350" dirty="0">
                <a:latin typeface="微软雅黑"/>
                <a:ea typeface="微软雅黑"/>
                <a:cs typeface="微软雅黑"/>
                <a:sym typeface="微软雅黑"/>
              </a:endParaRPr>
            </a:p>
          </p:txBody>
        </p:sp>
        <p:sp>
          <p:nvSpPr>
            <p:cNvPr id="231" name="文本框 230"/>
            <p:cNvSpPr txBox="1"/>
            <p:nvPr/>
          </p:nvSpPr>
          <p:spPr>
            <a:xfrm>
              <a:off x="2672" y="4849"/>
              <a:ext cx="2164" cy="290"/>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技术复用与跨界创新</a:t>
              </a:r>
              <a:endParaRPr lang="zh-CN" altLang="en-US" sz="1200" b="1" dirty="0">
                <a:solidFill>
                  <a:srgbClr val="0042FF"/>
                </a:solidFill>
                <a:latin typeface="微软雅黑"/>
                <a:ea typeface="微软雅黑"/>
                <a:cs typeface="微软雅黑"/>
                <a:sym typeface="微软雅黑"/>
              </a:endParaRPr>
            </a:p>
          </p:txBody>
        </p:sp>
        <p:sp>
          <p:nvSpPr>
            <p:cNvPr id="232" name="文本框 231"/>
            <p:cNvSpPr txBox="1"/>
            <p:nvPr/>
          </p:nvSpPr>
          <p:spPr>
            <a:xfrm>
              <a:off x="2470" y="5370"/>
              <a:ext cx="3211" cy="242"/>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核心技术模块打包对外授权</a:t>
              </a:r>
              <a:endParaRPr lang="zh-CN" altLang="en-US" sz="1000" dirty="0">
                <a:solidFill>
                  <a:srgbClr val="383838"/>
                </a:solidFill>
                <a:latin typeface="微软雅黑"/>
                <a:ea typeface="微软雅黑"/>
                <a:cs typeface="微软雅黑"/>
                <a:sym typeface="微软雅黑"/>
              </a:endParaRPr>
            </a:p>
          </p:txBody>
        </p:sp>
        <p:sp>
          <p:nvSpPr>
            <p:cNvPr id="233" name="椭圆 232"/>
            <p:cNvSpPr/>
            <p:nvPr/>
          </p:nvSpPr>
          <p:spPr>
            <a:xfrm>
              <a:off x="1680" y="4636"/>
              <a:ext cx="704" cy="704"/>
            </a:xfrm>
            <a:prstGeom prst="ellipse">
              <a:avLst/>
            </a:prstGeom>
            <a:solidFill>
              <a:srgbClr val="3368FF"/>
            </a:solidFill>
            <a:ln>
              <a:solidFill>
                <a:srgbClr val="FFFFFF"/>
              </a:solidFill>
            </a:ln>
            <a:effectLst>
              <a:outerShdw blurRad="127000" dist="88900" dir="2700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34" name="文本框 233"/>
            <p:cNvSpPr txBox="1"/>
            <p:nvPr/>
          </p:nvSpPr>
          <p:spPr>
            <a:xfrm>
              <a:off x="1847" y="4819"/>
              <a:ext cx="370" cy="339"/>
            </a:xfrm>
            <a:prstGeom prst="rect">
              <a:avLst/>
            </a:prstGeom>
            <a:noFill/>
            <a:ln>
              <a:noFill/>
            </a:ln>
            <a:effectLst/>
          </p:spPr>
          <p:txBody>
            <a:bodyPr wrap="square" lIns="0" tIns="0" rIns="0" bIns="0" rtlCol="0">
              <a:spAutoFit/>
            </a:bodyPr>
            <a:lstStyle/>
            <a:p>
              <a:pPr lvl="0" algn="ctr">
                <a:buClrTx/>
                <a:buSzTx/>
                <a:buFontTx/>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03</a:t>
              </a:r>
              <a:endParaRPr lang="en-US" altLang="zh-CN" sz="1400" b="1" dirty="0">
                <a:solidFill>
                  <a:srgbClr val="FFFFFF"/>
                </a:solidFill>
                <a:latin typeface="微软雅黑"/>
                <a:ea typeface="微软雅黑"/>
                <a:cs typeface="微软雅黑"/>
                <a:sym typeface="微软雅黑"/>
              </a:endParaRPr>
            </a:p>
          </p:txBody>
        </p:sp>
      </p:grpSp>
      <p:sp>
        <p:nvSpPr>
          <p:cNvPr id="236" name="PA-弧形 76"/>
          <p:cNvSpPr/>
          <p:nvPr>
            <p:custDataLst>
              <p:tags r:id="rId14"/>
            </p:custDataLst>
          </p:nvPr>
        </p:nvSpPr>
        <p:spPr>
          <a:xfrm>
            <a:off x="4859020" y="1266825"/>
            <a:ext cx="2428875" cy="2428875"/>
          </a:xfrm>
          <a:prstGeom prst="arc">
            <a:avLst>
              <a:gd name="adj1" fmla="val 13559932"/>
              <a:gd name="adj2" fmla="val 18630972"/>
            </a:avLst>
          </a:prstGeom>
          <a:noFill/>
          <a:ln w="22860" cap="flat" cmpd="sng" algn="ctr">
            <a:gradFill>
              <a:gsLst>
                <a:gs pos="100000">
                  <a:srgbClr val="3368FF"/>
                </a:gs>
                <a:gs pos="0">
                  <a:srgbClr val="FFFFFF"/>
                </a:gs>
              </a:gsLst>
              <a:lin ang="0" scaled="1"/>
            </a:gradFill>
            <a:prstDash val="solid"/>
            <a:miter lim="800000"/>
            <a:headEnd type="none" w="lg" len="lg"/>
            <a:tailEnd type="triangle" w="med" len="lg"/>
          </a:ln>
          <a:effectLst/>
        </p:spPr>
        <p:txBody>
          <a:bodyPr lIns="0" tIns="0" rIns="0" bIns="0" rtlCol="0" anchor="ctr"/>
          <a:lstStyle/>
          <a:p>
            <a:pPr marL="0" marR="0" lvl="0" indent="0" algn="ctr" defTabSz="914400" eaLnBrk="1" fontAlgn="auto" latinLnBrk="0" hangingPunct="1">
              <a:lnSpc>
                <a:spcPct val="100000"/>
              </a:lnSpc>
              <a:spcBef>
                <a:spcPts val="0"/>
              </a:spcBef>
              <a:buClrTx/>
              <a:buSzTx/>
              <a:buFontTx/>
              <a:buNone/>
              <a:defRPr>
                <a:latin typeface="微软雅黑"/>
                <a:ea typeface="微软雅黑"/>
                <a:cs typeface="微软雅黑"/>
              </a:defRPr>
            </a:pPr>
            <a:endParaRPr kumimoji="0" lang="zh-CN" altLang="en-US" sz="10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37" name="等腰三角形 236"/>
          <p:cNvSpPr/>
          <p:nvPr/>
        </p:nvSpPr>
        <p:spPr>
          <a:xfrm rot="5400000" flipH="1">
            <a:off x="7094855" y="2370455"/>
            <a:ext cx="291465" cy="205740"/>
          </a:xfrm>
          <a:prstGeom prst="triangle">
            <a:avLst/>
          </a:prstGeom>
          <a:gradFill flip="none" rotWithShape="1">
            <a:gsLst>
              <a:gs pos="0">
                <a:srgbClr val="0042FF"/>
              </a:gs>
              <a:gs pos="100000">
                <a:srgbClr val="3368FF"/>
              </a:gs>
            </a:gsLst>
            <a:lin ang="16200000" scaled="1"/>
            <a:tileRect/>
          </a:gradFill>
          <a:ln>
            <a:noFill/>
          </a:ln>
          <a:effectLst>
            <a:outerShdw blurRad="127000" dist="88900" dir="2700000" algn="tl"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43" name="等腰三角形 242"/>
          <p:cNvSpPr/>
          <p:nvPr/>
        </p:nvSpPr>
        <p:spPr>
          <a:xfrm rot="16200000">
            <a:off x="4755515" y="2370455"/>
            <a:ext cx="291465" cy="205740"/>
          </a:xfrm>
          <a:prstGeom prst="triangle">
            <a:avLst/>
          </a:prstGeom>
          <a:gradFill flip="none" rotWithShape="1">
            <a:gsLst>
              <a:gs pos="0">
                <a:srgbClr val="0042FF"/>
              </a:gs>
              <a:gs pos="100000">
                <a:srgbClr val="3368FF"/>
              </a:gs>
            </a:gsLst>
            <a:lin ang="16200000" scaled="1"/>
            <a:tileRect/>
          </a:gradFill>
          <a:ln>
            <a:noFill/>
          </a:ln>
          <a:effectLst>
            <a:outerShdw blurRad="127000" dist="88900" dir="2700000" algn="tl"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44" name="椭圆 243"/>
          <p:cNvSpPr/>
          <p:nvPr/>
        </p:nvSpPr>
        <p:spPr>
          <a:xfrm>
            <a:off x="4987925" y="1404620"/>
            <a:ext cx="2157730" cy="2157730"/>
          </a:xfrm>
          <a:prstGeom prst="ellipse">
            <a:avLst/>
          </a:prstGeom>
          <a:gradFill>
            <a:gsLst>
              <a:gs pos="0">
                <a:srgbClr val="FFFFFF"/>
              </a:gs>
              <a:gs pos="85000">
                <a:srgbClr val="FFFFFF">
                  <a:alpha val="0"/>
                </a:srgbClr>
              </a:gs>
              <a:gs pos="62000">
                <a:srgbClr val="FFFFFF"/>
              </a:gs>
            </a:gsLst>
            <a:lin ang="5400000" scaled="1"/>
          </a:gradFill>
          <a:ln>
            <a:gradFill>
              <a:gsLst>
                <a:gs pos="0">
                  <a:srgbClr val="B3D4FE"/>
                </a:gs>
                <a:gs pos="97000">
                  <a:srgbClr val="FFFFFF">
                    <a:alpha val="0"/>
                  </a:srgbClr>
                </a:gs>
              </a:gsLst>
              <a:lin ang="5400000" scaled="1"/>
            </a:gradFill>
          </a:ln>
          <a:effectLst>
            <a:outerShdw blurRad="279400" sx="102000" sy="102000" algn="ctr" rotWithShape="0">
              <a:srgbClr val="B3D4FE">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45" name="显眼包PPT1-2"/>
          <p:cNvSpPr/>
          <p:nvPr/>
        </p:nvSpPr>
        <p:spPr>
          <a:xfrm>
            <a:off x="5280222" y="1674343"/>
            <a:ext cx="1618222" cy="1618222"/>
          </a:xfrm>
          <a:prstGeom prst="ellipse">
            <a:avLst/>
          </a:prstGeom>
          <a:gradFill flip="none" rotWithShape="1">
            <a:gsLst>
              <a:gs pos="15000">
                <a:srgbClr val="B3D4FE"/>
              </a:gs>
              <a:gs pos="67000">
                <a:srgbClr val="3368FF"/>
              </a:gs>
            </a:gsLst>
            <a:lin ang="2700000" scaled="1"/>
            <a:tileRect/>
          </a:gradFill>
          <a:ln>
            <a:noFill/>
          </a:ln>
          <a:effectLst>
            <a:innerShdw blurRad="304800">
              <a:srgbClr val="B3D4FE"/>
            </a:innerShdw>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2000">
              <a:solidFill>
                <a:srgbClr val="FFFFFF"/>
              </a:solidFill>
              <a:latin typeface="微软雅黑"/>
              <a:ea typeface="微软雅黑"/>
              <a:cs typeface="微软雅黑"/>
            </a:endParaRPr>
          </a:p>
        </p:txBody>
      </p:sp>
      <p:sp>
        <p:nvSpPr>
          <p:cNvPr id="246" name="文本框 245"/>
          <p:cNvSpPr txBox="1"/>
          <p:nvPr/>
        </p:nvSpPr>
        <p:spPr>
          <a:xfrm>
            <a:off x="5426075" y="2143760"/>
            <a:ext cx="1249045" cy="384175"/>
          </a:xfrm>
          <a:prstGeom prst="rect">
            <a:avLst/>
          </a:prstGeom>
          <a:noFill/>
        </p:spPr>
        <p:txBody>
          <a:bodyPr wrap="square" lIns="0" tIns="0" rIns="0" bIns="0" rtlCol="0">
            <a:spAutoFit/>
          </a:bodyPr>
          <a:lstStyle/>
          <a:p>
            <a:pPr algn="ctr">
              <a:defRPr>
                <a:latin typeface="微软雅黑"/>
                <a:ea typeface="微软雅黑"/>
                <a:cs typeface="微软雅黑"/>
              </a:defRPr>
            </a:pPr>
            <a:r>
              <a:rPr lang="en-US" sz="2500" b="1" dirty="0">
                <a:solidFill>
                  <a:srgbClr val="383838"/>
                </a:solidFill>
                <a:latin typeface="微软雅黑"/>
                <a:ea typeface="微软雅黑"/>
                <a:cs typeface="微软雅黑"/>
              </a:rPr>
              <a:t>1000</a:t>
            </a:r>
            <a:r>
              <a:rPr lang="zh-CN" altLang="en-US" sz="2500" b="1" dirty="0">
                <a:solidFill>
                  <a:srgbClr val="383838"/>
                </a:solidFill>
                <a:latin typeface="微软雅黑"/>
                <a:ea typeface="微软雅黑"/>
                <a:cs typeface="微软雅黑"/>
              </a:rPr>
              <a:t>万</a:t>
            </a:r>
            <a:endParaRPr lang="zh-CN" altLang="en-US" sz="2500" b="1" dirty="0">
              <a:solidFill>
                <a:srgbClr val="383838"/>
              </a:solidFill>
              <a:latin typeface="微软雅黑"/>
              <a:ea typeface="微软雅黑"/>
              <a:cs typeface="微软雅黑"/>
            </a:endParaRPr>
          </a:p>
        </p:txBody>
      </p:sp>
      <p:sp>
        <p:nvSpPr>
          <p:cNvPr id="247" name="文本框 246"/>
          <p:cNvSpPr txBox="1"/>
          <p:nvPr/>
        </p:nvSpPr>
        <p:spPr>
          <a:xfrm>
            <a:off x="5426075" y="2556510"/>
            <a:ext cx="1295400" cy="215265"/>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sz="1400" b="1" dirty="0">
                <a:solidFill>
                  <a:srgbClr val="FFFFFF"/>
                </a:solidFill>
                <a:latin typeface="微软雅黑"/>
                <a:ea typeface="微软雅黑"/>
                <a:cs typeface="微软雅黑"/>
              </a:rPr>
              <a:t>核心盈利目标</a:t>
            </a:r>
            <a:endParaRPr lang="zh-CN" sz="1400" b="1" dirty="0">
              <a:solidFill>
                <a:srgbClr val="FFFFFF"/>
              </a:solidFill>
              <a:latin typeface="微软雅黑"/>
              <a:ea typeface="微软雅黑"/>
              <a:cs typeface="微软雅黑"/>
            </a:endParaRPr>
          </a:p>
        </p:txBody>
      </p:sp>
      <p:grpSp>
        <p:nvGrpSpPr>
          <p:cNvPr id="260" name="组合 259"/>
          <p:cNvGrpSpPr/>
          <p:nvPr/>
        </p:nvGrpSpPr>
        <p:grpSpPr>
          <a:xfrm>
            <a:off x="3982099" y="5004435"/>
            <a:ext cx="4092561" cy="305482"/>
            <a:chOff x="6271" y="7749"/>
            <a:chExt cx="6445" cy="481"/>
          </a:xfrm>
        </p:grpSpPr>
        <p:sp>
          <p:nvSpPr>
            <p:cNvPr id="252" name="文本框 251"/>
            <p:cNvSpPr txBox="1"/>
            <p:nvPr/>
          </p:nvSpPr>
          <p:spPr>
            <a:xfrm rot="180000">
              <a:off x="6271" y="7770"/>
              <a:ext cx="2004" cy="410"/>
            </a:xfrm>
            <a:prstGeom prst="rect">
              <a:avLst/>
            </a:prstGeom>
            <a:noFill/>
          </p:spPr>
          <p:txBody>
            <a:bodyPr wrap="square" lIns="0" rIns="0" tIns="0" bIns="0">
              <a:prstTxWarp prst="textArchDown">
                <a:avLst>
                  <a:gd name="adj" fmla="val 157903"/>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prstClr val="white"/>
                  </a:solidFill>
                  <a:effectLst/>
                  <a:uLnTx/>
                  <a:uFillTx/>
                  <a:cs typeface="微软雅黑"/>
                  <a:sym typeface="微软雅黑"/>
                  <a:latin typeface="微软雅黑"/>
                  <a:ea typeface="微软雅黑"/>
                </a:rPr>
                <a:t>产品模块化</a:t>
              </a:r>
              <a:endParaRPr kumimoji="0" lang="zh-CN" altLang="en-US" sz="1100" b="0" i="0" u="none" strike="noStrike" kern="1200" cap="none" spc="0" normalizeH="0" baseline="0" noProof="0" dirty="0">
                <a:ln>
                  <a:noFill/>
                </a:ln>
                <a:solidFill>
                  <a:prstClr val="white"/>
                </a:solidFill>
                <a:effectLst/>
                <a:uLnTx/>
                <a:uFillTx/>
                <a:cs typeface="微软雅黑"/>
                <a:sym typeface="微软雅黑"/>
                <a:latin typeface="微软雅黑"/>
                <a:ea typeface="微软雅黑"/>
              </a:endParaRPr>
            </a:p>
          </p:txBody>
        </p:sp>
        <p:sp>
          <p:nvSpPr>
            <p:cNvPr id="253" name="文本框 252"/>
            <p:cNvSpPr txBox="1"/>
            <p:nvPr/>
          </p:nvSpPr>
          <p:spPr>
            <a:xfrm>
              <a:off x="7721" y="7917"/>
              <a:ext cx="2003" cy="308"/>
            </a:xfrm>
            <a:prstGeom prst="rect">
              <a:avLst/>
            </a:prstGeom>
            <a:noFill/>
          </p:spPr>
          <p:txBody>
            <a:bodyPr wrap="square" lIns="0" rIns="0" tIns="0" bIns="0">
              <a:prstTxWarp prst="textArchDown">
                <a:avLst>
                  <a:gd name="adj" fmla="val 528974"/>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prstClr val="white"/>
                  </a:solidFill>
                  <a:effectLst/>
                  <a:uLnTx/>
                  <a:uFillTx/>
                  <a:cs typeface="微软雅黑"/>
                  <a:sym typeface="微软雅黑"/>
                  <a:latin typeface="微软雅黑"/>
                  <a:ea typeface="微软雅黑"/>
                </a:rPr>
                <a:t>数据中台化</a:t>
              </a:r>
              <a:endParaRPr kumimoji="0" lang="zh-CN" altLang="en-US" sz="1100" b="0" i="0" u="none" strike="noStrike" kern="1200" cap="none" spc="0" normalizeH="0" baseline="0" noProof="0" dirty="0">
                <a:ln>
                  <a:noFill/>
                </a:ln>
                <a:solidFill>
                  <a:prstClr val="white"/>
                </a:solidFill>
                <a:effectLst/>
                <a:uLnTx/>
                <a:uFillTx/>
                <a:cs typeface="微软雅黑"/>
                <a:sym typeface="微软雅黑"/>
                <a:latin typeface="微软雅黑"/>
                <a:ea typeface="微软雅黑"/>
              </a:endParaRPr>
            </a:p>
          </p:txBody>
        </p:sp>
        <p:sp>
          <p:nvSpPr>
            <p:cNvPr id="254" name="文本框 253"/>
            <p:cNvSpPr txBox="1"/>
            <p:nvPr/>
          </p:nvSpPr>
          <p:spPr>
            <a:xfrm>
              <a:off x="9018" y="7820"/>
              <a:ext cx="2441" cy="410"/>
            </a:xfrm>
            <a:prstGeom prst="rect">
              <a:avLst/>
            </a:prstGeom>
            <a:noFill/>
          </p:spPr>
          <p:txBody>
            <a:bodyPr wrap="square" lIns="0" rIns="0" tIns="0" bIns="0">
              <a:prstTxWarp prst="textArchDown">
                <a:avLst>
                  <a:gd name="adj" fmla="val 406910"/>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cs typeface="微软雅黑"/>
                  <a:sym typeface="微软雅黑"/>
                  <a:latin typeface="微软雅黑"/>
                  <a:ea typeface="微软雅黑"/>
                </a:rPr>
                <a:t>报表可视化</a:t>
              </a:r>
              <a:endParaRPr kumimoji="0" lang="zh-CN" altLang="en-US" sz="1100" b="0" i="0" u="none" strike="noStrike" kern="1200" cap="none" spc="0" normalizeH="0" baseline="0" noProof="0" dirty="0">
                <a:ln>
                  <a:noFill/>
                </a:ln>
                <a:solidFill>
                  <a:srgbClr val="383838"/>
                </a:solidFill>
                <a:effectLst/>
                <a:uLnTx/>
                <a:uFillTx/>
                <a:cs typeface="微软雅黑"/>
                <a:sym typeface="微软雅黑"/>
                <a:latin typeface="微软雅黑"/>
                <a:ea typeface="微软雅黑"/>
              </a:endParaRPr>
            </a:p>
          </p:txBody>
        </p:sp>
        <p:sp>
          <p:nvSpPr>
            <p:cNvPr id="255" name="文本框 254"/>
            <p:cNvSpPr txBox="1"/>
            <p:nvPr/>
          </p:nvSpPr>
          <p:spPr>
            <a:xfrm rot="21400521">
              <a:off x="10713" y="7749"/>
              <a:ext cx="2003" cy="410"/>
            </a:xfrm>
            <a:prstGeom prst="rect">
              <a:avLst/>
            </a:prstGeom>
            <a:noFill/>
          </p:spPr>
          <p:txBody>
            <a:bodyPr wrap="square" lIns="0" rIns="0" tIns="0" bIns="0">
              <a:prstTxWarp prst="textArchDown">
                <a:avLst>
                  <a:gd name="adj" fmla="val 157903"/>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100" b="0" i="0" u="none" strike="noStrike" kern="1200" cap="none" spc="0" normalizeH="0" baseline="0" noProof="0" dirty="0">
                  <a:ln>
                    <a:noFill/>
                  </a:ln>
                  <a:solidFill>
                    <a:srgbClr val="FFFFFF"/>
                  </a:solidFill>
                  <a:effectLst/>
                  <a:uLnTx/>
                  <a:uFillTx/>
                  <a:cs typeface="微软雅黑"/>
                  <a:sym typeface="微软雅黑"/>
                  <a:latin typeface="微软雅黑"/>
                  <a:ea typeface="微软雅黑"/>
                </a:rPr>
                <a:t>决策驾驶舱</a:t>
              </a:r>
              <a:endParaRPr kumimoji="0" lang="zh-CN" altLang="en-US" sz="1100" b="0" i="0" u="none" strike="noStrike" kern="1200" cap="none" spc="0" normalizeH="0" baseline="0" noProof="0" dirty="0">
                <a:ln>
                  <a:noFill/>
                </a:ln>
                <a:solidFill>
                  <a:srgbClr val="FFFFFF"/>
                </a:solidFill>
                <a:effectLst/>
                <a:uLnTx/>
                <a:uFillTx/>
                <a:cs typeface="微软雅黑"/>
                <a:sym typeface="微软雅黑"/>
                <a:latin typeface="微软雅黑"/>
                <a:ea typeface="微软雅黑"/>
              </a:endParaRPr>
            </a:p>
          </p:txBody>
        </p:sp>
      </p:grpSp>
      <p:sp>
        <p:nvSpPr>
          <p:cNvPr id="256" name="矩形 255"/>
          <p:cNvSpPr/>
          <p:nvPr/>
        </p:nvSpPr>
        <p:spPr>
          <a:xfrm>
            <a:off x="2769235" y="5510530"/>
            <a:ext cx="6487160" cy="989965"/>
          </a:xfrm>
          <a:prstGeom prst="rect">
            <a:avLst/>
          </a:prstGeom>
        </p:spPr>
        <p:txBody>
          <a:bodyPr wrap="square" lIns="0" rIns="0" tIns="0" bIns="0">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0" i="0" u="none" strike="noStrike" kern="1200" cap="none" spc="300" normalizeH="0" baseline="0" noProof="0" dirty="0">
                <a:ln>
                  <a:noFill/>
                </a:ln>
                <a:solidFill>
                  <a:srgbClr val="383838"/>
                </a:solidFill>
                <a:effectLst/>
                <a:uLnTx/>
                <a:uFillTx/>
                <a:latin typeface="微软雅黑"/>
                <a:ea typeface="微软雅黑"/>
                <a:cs typeface="微软雅黑"/>
                <a:sym typeface="微软雅黑"/>
              </a:rPr>
              <a:t>人才体系</a:t>
            </a:r>
            <a:r>
              <a:rPr kumimoji="0" lang="en-US" altLang="zh-CN" sz="1600" b="0" i="0" u="none" strike="noStrike" kern="1200" cap="none" spc="300" normalizeH="0" baseline="0" noProof="0" dirty="0">
                <a:ln>
                  <a:noFill/>
                </a:ln>
                <a:solidFill>
                  <a:srgbClr val="383838"/>
                </a:solidFill>
                <a:effectLst/>
                <a:uLnTx/>
                <a:uFillTx/>
                <a:latin typeface="微软雅黑"/>
                <a:ea typeface="微软雅黑"/>
                <a:cs typeface="微软雅黑"/>
                <a:sym typeface="微软雅黑"/>
              </a:rPr>
              <a:t>+</a:t>
            </a:r>
            <a:r>
              <a:rPr kumimoji="0" lang="zh-CN" altLang="en-US" sz="1600" b="0" i="0" u="none" strike="noStrike" kern="1200" cap="none" spc="300" normalizeH="0" baseline="0" noProof="0" dirty="0">
                <a:ln>
                  <a:noFill/>
                </a:ln>
                <a:solidFill>
                  <a:srgbClr val="383838"/>
                </a:solidFill>
                <a:effectLst/>
                <a:uLnTx/>
                <a:uFillTx/>
                <a:latin typeface="微软雅黑"/>
                <a:ea typeface="微软雅黑"/>
                <a:cs typeface="微软雅黑"/>
                <a:sym typeface="微软雅黑"/>
              </a:rPr>
              <a:t>数据中台，赋能支撑</a:t>
            </a:r>
            <a:endParaRPr kumimoji="0" lang="zh-CN" altLang="en-US" sz="1600" b="0" i="0" u="none" strike="noStrike" kern="1200" cap="none" spc="300" normalizeH="0" baseline="0" noProof="0" dirty="0">
              <a:ln>
                <a:noFill/>
              </a:ln>
              <a:solidFill>
                <a:srgbClr val="383838"/>
              </a:solidFill>
              <a:effectLst/>
              <a:uLnTx/>
              <a:uFillTx/>
              <a:latin typeface="微软雅黑"/>
              <a:ea typeface="微软雅黑"/>
              <a:cs typeface="微软雅黑"/>
              <a:sym typeface="微软雅黑"/>
            </a:endParaRPr>
          </a:p>
        </p:txBody>
      </p:sp>
      <p:sp>
        <p:nvSpPr>
          <p:cNvPr id="257" name="显眼包PPT8"/>
          <p:cNvSpPr txBox="1"/>
          <p:nvPr/>
        </p:nvSpPr>
        <p:spPr>
          <a:xfrm>
            <a:off x="4859655" y="5481955"/>
            <a:ext cx="2423160" cy="362585"/>
          </a:xfrm>
          <a:prstGeom prst="rect">
            <a:avLst/>
          </a:prstGeom>
          <a:noFill/>
        </p:spPr>
        <p:txBody>
          <a:bodyPr wrap="square" lIns="0" tIns="0" rIns="0" bIns="0" rtlCol="0">
            <a:prstTxWarp prst="textArchDown">
              <a:avLst>
                <a:gd name="adj" fmla="val 21304741"/>
              </a:avLst>
            </a:prstTxWarp>
            <a:noAutofit/>
          </a:bodyPr>
          <a:lstStyle/>
          <a:p>
            <a:pPr algn="ctr">
              <a:defRPr>
                <a:latin typeface="微软雅黑"/>
                <a:ea typeface="微软雅黑"/>
                <a:cs typeface="微软雅黑"/>
              </a:defRPr>
            </a:pPr>
            <a:r>
              <a:rPr lang="zh-CN" altLang="en-US" sz="1600" b="1" dirty="0">
                <a:solidFill>
                  <a:srgbClr val="383838"/>
                </a:solidFill>
                <a:effectLst/>
                <a:latin typeface="微软雅黑"/>
                <a:cs typeface="微软雅黑"/>
                <a:sym typeface="微软雅黑"/>
                <a:ea typeface="微软雅黑"/>
              </a:rPr>
              <a:t>数字引擎支撑</a:t>
            </a:r>
            <a:endParaRPr lang="zh-CN" altLang="en-US" sz="1600" b="1" dirty="0">
              <a:solidFill>
                <a:srgbClr val="383838"/>
              </a:solidFill>
              <a:effectLst/>
              <a:latin typeface="微软雅黑"/>
              <a:cs typeface="微软雅黑"/>
              <a:sym typeface="微软雅黑"/>
              <a:ea typeface="微软雅黑"/>
            </a:endParaRPr>
          </a:p>
        </p:txBody>
      </p:sp>
      <p:sp>
        <p:nvSpPr>
          <p:cNvPr id="277" name="椭圆 276"/>
          <p:cNvSpPr/>
          <p:nvPr/>
        </p:nvSpPr>
        <p:spPr>
          <a:xfrm>
            <a:off x="4645660" y="3564255"/>
            <a:ext cx="2830830" cy="339090"/>
          </a:xfrm>
          <a:prstGeom prst="ellipse">
            <a:avLst/>
          </a:prstGeom>
          <a:gradFill flip="none" rotWithShape="1">
            <a:gsLst>
              <a:gs pos="0">
                <a:srgbClr val="B3D4FE">
                  <a:alpha val="44000"/>
                </a:srgbClr>
              </a:gs>
              <a:gs pos="88000">
                <a:srgbClr val="B3D4FE">
                  <a:alpha val="0"/>
                </a:srgbClr>
              </a:gs>
            </a:gsLst>
            <a:lin ang="16200000" scaled="1"/>
            <a:tileRect/>
          </a:gradFill>
          <a:ln w="19050">
            <a:gradFill>
              <a:gsLst>
                <a:gs pos="0">
                  <a:srgbClr val="B3D4FE">
                    <a:alpha val="0"/>
                  </a:srgbClr>
                </a:gs>
                <a:gs pos="100000">
                  <a:srgbClr val="B3D4FE"/>
                </a:gs>
              </a:gsLst>
              <a:lin ang="5400000" scaled="1"/>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78" name="显眼包PPT8"/>
          <p:cNvSpPr txBox="1"/>
          <p:nvPr/>
        </p:nvSpPr>
        <p:spPr>
          <a:xfrm>
            <a:off x="4966335" y="3462655"/>
            <a:ext cx="2279015" cy="215265"/>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400" b="1" dirty="0">
                <a:solidFill>
                  <a:srgbClr val="383838"/>
                </a:solidFill>
                <a:effectLst/>
                <a:latin typeface="微软雅黑"/>
                <a:cs typeface="微软雅黑"/>
                <a:sym typeface="微软雅黑"/>
                <a:ea typeface="微软雅黑"/>
              </a:rPr>
              <a:t>赋能托举目标</a:t>
            </a:r>
            <a:endParaRPr lang="zh-CN" altLang="en-US" sz="1400" b="1" dirty="0">
              <a:solidFill>
                <a:srgbClr val="383838"/>
              </a:solidFill>
              <a:effectLst/>
              <a:latin typeface="微软雅黑"/>
              <a:cs typeface="微软雅黑"/>
              <a:sym typeface="微软雅黑"/>
              <a:ea typeface="微软雅黑"/>
            </a:endParaRPr>
          </a:p>
        </p:txBody>
      </p:sp>
      <p:sp>
        <p:nvSpPr>
          <p:cNvPr id="279" name="显眼包PPT8"/>
          <p:cNvSpPr txBox="1"/>
          <p:nvPr/>
        </p:nvSpPr>
        <p:spPr>
          <a:xfrm>
            <a:off x="4897755" y="4285615"/>
            <a:ext cx="2423160" cy="362585"/>
          </a:xfrm>
          <a:prstGeom prst="rect">
            <a:avLst/>
          </a:prstGeom>
          <a:noFill/>
        </p:spPr>
        <p:txBody>
          <a:bodyPr wrap="square" lIns="0" tIns="0" rIns="0" bIns="0" rtlCol="0">
            <a:prstTxWarp prst="textArchDown">
              <a:avLst>
                <a:gd name="adj" fmla="val 21304741"/>
              </a:avLst>
            </a:prstTxWarp>
            <a:noAutofit/>
          </a:bodyPr>
          <a:lstStyle/>
          <a:p>
            <a:pPr algn="ctr">
              <a:defRPr>
                <a:latin typeface="微软雅黑"/>
                <a:ea typeface="微软雅黑"/>
                <a:cs typeface="微软雅黑"/>
              </a:defRPr>
            </a:pPr>
            <a:r>
              <a:rPr lang="zh-CN" altLang="en-US" sz="1600" b="1" dirty="0">
                <a:solidFill>
                  <a:srgbClr val="383838"/>
                </a:solidFill>
                <a:effectLst/>
                <a:latin typeface="微软雅黑"/>
                <a:cs typeface="微软雅黑"/>
                <a:sym typeface="微软雅黑"/>
                <a:ea typeface="微软雅黑"/>
              </a:rPr>
              <a:t>人才体系支撑</a:t>
            </a:r>
            <a:endParaRPr lang="zh-CN" altLang="en-US" sz="1600" b="1" dirty="0">
              <a:solidFill>
                <a:srgbClr val="383838"/>
              </a:solidFill>
              <a:effectLst/>
              <a:latin typeface="微软雅黑"/>
              <a:cs typeface="微软雅黑"/>
              <a:sym typeface="微软雅黑"/>
              <a:ea typeface="微软雅黑"/>
            </a:endParaRPr>
          </a:p>
        </p:txBody>
      </p:sp>
      <p:grpSp>
        <p:nvGrpSpPr>
          <p:cNvPr id="288" name="组合 287"/>
          <p:cNvGrpSpPr/>
          <p:nvPr/>
        </p:nvGrpSpPr>
        <p:grpSpPr>
          <a:xfrm>
            <a:off x="4451985" y="3810635"/>
            <a:ext cx="3234690" cy="505460"/>
            <a:chOff x="7011" y="5761"/>
            <a:chExt cx="5094" cy="796"/>
          </a:xfrm>
        </p:grpSpPr>
        <p:sp>
          <p:nvSpPr>
            <p:cNvPr id="281" name="文本框 280"/>
            <p:cNvSpPr txBox="1"/>
            <p:nvPr/>
          </p:nvSpPr>
          <p:spPr>
            <a:xfrm>
              <a:off x="7716" y="5763"/>
              <a:ext cx="2398" cy="456"/>
            </a:xfrm>
            <a:prstGeom prst="rect">
              <a:avLst/>
            </a:prstGeom>
            <a:noFill/>
          </p:spPr>
          <p:txBody>
            <a:bodyPr wrap="square" lIns="0" rIns="0" tIns="0" bIns="0">
              <a:prstTxWarp prst="textArchDown">
                <a:avLst>
                  <a:gd name="adj" fmla="val 1162447"/>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rPr>
                <a:t>绩效激励</a:t>
              </a:r>
              <a:endPar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endParaRPr>
            </a:p>
          </p:txBody>
        </p:sp>
        <p:sp>
          <p:nvSpPr>
            <p:cNvPr id="282" name="文本框 281"/>
            <p:cNvSpPr txBox="1"/>
            <p:nvPr/>
          </p:nvSpPr>
          <p:spPr>
            <a:xfrm>
              <a:off x="8936" y="5761"/>
              <a:ext cx="2398" cy="456"/>
            </a:xfrm>
            <a:prstGeom prst="rect">
              <a:avLst/>
            </a:prstGeom>
            <a:noFill/>
          </p:spPr>
          <p:txBody>
            <a:bodyPr wrap="square" lIns="0" rIns="0" tIns="0" bIns="0">
              <a:prstTxWarp prst="textArchDown">
                <a:avLst>
                  <a:gd name="adj" fmla="val 1162447"/>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cs typeface="微软雅黑"/>
                  <a:sym typeface="微软雅黑"/>
                  <a:latin typeface="微软雅黑"/>
                  <a:ea typeface="微软雅黑"/>
                </a:rPr>
                <a:t>部门协同</a:t>
              </a:r>
              <a:endParaRPr kumimoji="0" lang="zh-CN" altLang="en-US" sz="1000" b="0" i="0" u="none" strike="noStrike" kern="1200" cap="none" spc="0" normalizeH="0" baseline="0" noProof="0" dirty="0">
                <a:ln>
                  <a:noFill/>
                </a:ln>
                <a:solidFill>
                  <a:srgbClr val="383838"/>
                </a:solidFill>
                <a:effectLst/>
                <a:uLnTx/>
                <a:uFillTx/>
                <a:cs typeface="微软雅黑"/>
                <a:sym typeface="微软雅黑"/>
                <a:latin typeface="微软雅黑"/>
                <a:ea typeface="微软雅黑"/>
              </a:endParaRPr>
            </a:p>
          </p:txBody>
        </p:sp>
        <p:sp>
          <p:nvSpPr>
            <p:cNvPr id="284" name="文本框 283"/>
            <p:cNvSpPr txBox="1"/>
            <p:nvPr/>
          </p:nvSpPr>
          <p:spPr>
            <a:xfrm rot="180000">
              <a:off x="7011" y="6082"/>
              <a:ext cx="2398" cy="456"/>
            </a:xfrm>
            <a:prstGeom prst="rect">
              <a:avLst/>
            </a:prstGeom>
            <a:noFill/>
          </p:spPr>
          <p:txBody>
            <a:bodyPr wrap="square" lIns="0" rIns="0" tIns="0" bIns="0">
              <a:prstTxWarp prst="textArchDown">
                <a:avLst>
                  <a:gd name="adj" fmla="val 1162447"/>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rPr>
                <a:t>双轨制计划</a:t>
              </a:r>
              <a:endPar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endParaRPr>
            </a:p>
          </p:txBody>
        </p:sp>
        <p:sp>
          <p:nvSpPr>
            <p:cNvPr id="285" name="文本框 284"/>
            <p:cNvSpPr txBox="1"/>
            <p:nvPr/>
          </p:nvSpPr>
          <p:spPr>
            <a:xfrm rot="21215504">
              <a:off x="9707" y="6071"/>
              <a:ext cx="2398" cy="456"/>
            </a:xfrm>
            <a:prstGeom prst="rect">
              <a:avLst/>
            </a:prstGeom>
            <a:noFill/>
          </p:spPr>
          <p:txBody>
            <a:bodyPr wrap="square" lIns="0" rIns="0" tIns="0" bIns="0">
              <a:prstTxWarp prst="textArchDown">
                <a:avLst>
                  <a:gd name="adj" fmla="val 1162447"/>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cs typeface="微软雅黑"/>
                  <a:sym typeface="微软雅黑"/>
                  <a:latin typeface="微软雅黑"/>
                  <a:ea typeface="微软雅黑"/>
                </a:rPr>
                <a:t>实战分享会</a:t>
              </a:r>
              <a:endParaRPr kumimoji="0" lang="zh-CN" altLang="en-US" sz="1000" b="0" i="0" u="none" strike="noStrike" kern="1200" cap="none" spc="0" normalizeH="0" baseline="0" noProof="0" dirty="0">
                <a:ln>
                  <a:noFill/>
                </a:ln>
                <a:solidFill>
                  <a:srgbClr val="FFFFFF"/>
                </a:solidFill>
                <a:effectLst/>
                <a:uLnTx/>
                <a:uFillTx/>
                <a:cs typeface="微软雅黑"/>
                <a:sym typeface="微软雅黑"/>
                <a:latin typeface="微软雅黑"/>
                <a:ea typeface="微软雅黑"/>
              </a:endParaRPr>
            </a:p>
          </p:txBody>
        </p:sp>
        <p:sp>
          <p:nvSpPr>
            <p:cNvPr id="286" name="文本框 285"/>
            <p:cNvSpPr txBox="1"/>
            <p:nvPr/>
          </p:nvSpPr>
          <p:spPr>
            <a:xfrm>
              <a:off x="8402" y="6217"/>
              <a:ext cx="2398" cy="340"/>
            </a:xfrm>
            <a:prstGeom prst="rect">
              <a:avLst/>
            </a:prstGeom>
            <a:noFill/>
          </p:spPr>
          <p:txBody>
            <a:bodyPr wrap="square" lIns="0" rIns="0" tIns="0" bIns="0">
              <a:prstTxWarp prst="textArchDown">
                <a:avLst>
                  <a:gd name="adj" fmla="val 1162447"/>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rPr>
                <a:t>晋升机制</a:t>
              </a:r>
              <a:endPar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endParaRPr>
            </a:p>
          </p:txBody>
        </p:sp>
      </p:grpSp>
      <p:sp>
        <p:nvSpPr>
          <p:cNvPr id="287" name="文本框 286"/>
          <p:cNvSpPr txBox="1"/>
          <p:nvPr/>
        </p:nvSpPr>
        <p:spPr>
          <a:xfrm rot="215506">
            <a:off x="4135755" y="3754120"/>
            <a:ext cx="1522730" cy="289560"/>
          </a:xfrm>
          <a:prstGeom prst="rect">
            <a:avLst/>
          </a:prstGeom>
          <a:noFill/>
        </p:spPr>
        <p:txBody>
          <a:bodyPr wrap="square" lIns="0" rIns="0" tIns="0" bIns="0">
            <a:prstTxWarp prst="textArchDown">
              <a:avLst>
                <a:gd name="adj" fmla="val 1162447"/>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rPr>
              <a:t>人才培养</a:t>
            </a:r>
            <a:endParaRPr kumimoji="0" lang="zh-CN" altLang="en-US" sz="1000" b="0" i="0" u="none" strike="noStrike" kern="1200" cap="none" spc="0" normalizeH="0" baseline="0" noProof="0" dirty="0">
              <a:ln>
                <a:noFill/>
              </a:ln>
              <a:solidFill>
                <a:prstClr val="white"/>
              </a:solidFill>
              <a:effectLst/>
              <a:uLnTx/>
              <a:uFillTx/>
              <a:cs typeface="微软雅黑"/>
              <a:sym typeface="微软雅黑"/>
              <a:latin typeface="微软雅黑"/>
              <a:ea typeface="微软雅黑"/>
            </a:endParaRPr>
          </a:p>
        </p:txBody>
      </p:sp>
      <p:sp>
        <p:nvSpPr>
          <p:cNvPr id="289" name="文本框 288"/>
          <p:cNvSpPr txBox="1"/>
          <p:nvPr/>
        </p:nvSpPr>
        <p:spPr>
          <a:xfrm rot="21215504">
            <a:off x="6381750" y="3781425"/>
            <a:ext cx="1522730" cy="289560"/>
          </a:xfrm>
          <a:prstGeom prst="rect">
            <a:avLst/>
          </a:prstGeom>
          <a:noFill/>
        </p:spPr>
        <p:txBody>
          <a:bodyPr wrap="square" lIns="0" rIns="0" tIns="0" bIns="0">
            <a:prstTxWarp prst="textArchDown">
              <a:avLst>
                <a:gd name="adj" fmla="val 1162447"/>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cs typeface="微软雅黑"/>
                <a:sym typeface="微软雅黑"/>
                <a:latin typeface="微软雅黑"/>
                <a:ea typeface="微软雅黑"/>
              </a:rPr>
              <a:t>敏捷小组</a:t>
            </a:r>
            <a:endParaRPr kumimoji="0" lang="zh-CN" altLang="en-US" sz="1000" b="0" i="0" u="none" strike="noStrike" kern="1200" cap="none" spc="0" normalizeH="0" baseline="0" noProof="0" dirty="0">
              <a:ln>
                <a:noFill/>
              </a:ln>
              <a:solidFill>
                <a:srgbClr val="FFFFFF"/>
              </a:solidFill>
              <a:effectLst/>
              <a:uLnTx/>
              <a:uFillTx/>
              <a:cs typeface="微软雅黑"/>
              <a:sym typeface="微软雅黑"/>
              <a:latin typeface="微软雅黑"/>
              <a:ea typeface="微软雅黑"/>
            </a:endParaRPr>
          </a:p>
        </p:txBody>
      </p:sp>
      <p:sp>
        <p:nvSpPr>
          <p:cNvPr id="291" name="文本框 290"/>
          <p:cNvSpPr txBox="1"/>
          <p:nvPr/>
        </p:nvSpPr>
        <p:spPr>
          <a:xfrm rot="21420000">
            <a:off x="6430659" y="5277562"/>
            <a:ext cx="1272509" cy="260397"/>
          </a:xfrm>
          <a:prstGeom prst="rect">
            <a:avLst/>
          </a:prstGeom>
          <a:noFill/>
        </p:spPr>
        <p:txBody>
          <a:bodyPr wrap="square" lIns="0" rIns="0" tIns="0" bIns="0">
            <a:prstTxWarp prst="textArchDown">
              <a:avLst>
                <a:gd name="adj" fmla="val 157903"/>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100" b="0" i="0" u="none" strike="noStrike" kern="1200" cap="none" spc="0" normalizeH="0" baseline="0" noProof="0" dirty="0">
                <a:ln>
                  <a:noFill/>
                </a:ln>
                <a:solidFill>
                  <a:srgbClr val="FFFFFF"/>
                </a:solidFill>
                <a:effectLst/>
                <a:uLnTx/>
                <a:uFillTx/>
                <a:cs typeface="微软雅黑"/>
                <a:sym typeface="微软雅黑"/>
                <a:latin typeface="微软雅黑"/>
                <a:ea typeface="微软雅黑"/>
              </a:rPr>
              <a:t>动态监控</a:t>
            </a:r>
            <a:endParaRPr kumimoji="0" lang="zh-CN" altLang="en-US" sz="1100" b="0" i="0" u="none" strike="noStrike" kern="1200" cap="none" spc="0" normalizeH="0" baseline="0" noProof="0" dirty="0">
              <a:ln>
                <a:noFill/>
              </a:ln>
              <a:solidFill>
                <a:srgbClr val="FFFFFF"/>
              </a:solidFill>
              <a:effectLst/>
              <a:uLnTx/>
              <a:uFillTx/>
              <a:cs typeface="微软雅黑"/>
              <a:sym typeface="微软雅黑"/>
              <a:latin typeface="微软雅黑"/>
              <a:ea typeface="微软雅黑"/>
            </a:endParaRPr>
          </a:p>
        </p:txBody>
      </p:sp>
      <p:sp>
        <p:nvSpPr>
          <p:cNvPr id="292" name="文本框 291"/>
          <p:cNvSpPr txBox="1"/>
          <p:nvPr/>
        </p:nvSpPr>
        <p:spPr>
          <a:xfrm>
            <a:off x="5473065" y="5338445"/>
            <a:ext cx="1272540" cy="214630"/>
          </a:xfrm>
          <a:prstGeom prst="rect">
            <a:avLst/>
          </a:prstGeom>
          <a:noFill/>
        </p:spPr>
        <p:txBody>
          <a:bodyPr wrap="square" lIns="0" rIns="0" tIns="0" bIns="0">
            <a:prstTxWarp prst="textArchDown">
              <a:avLst>
                <a:gd name="adj" fmla="val 157903"/>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cs typeface="微软雅黑"/>
                <a:sym typeface="微软雅黑"/>
                <a:latin typeface="微软雅黑"/>
                <a:ea typeface="微软雅黑"/>
              </a:rPr>
              <a:t>精准营销</a:t>
            </a:r>
            <a:endParaRPr kumimoji="0" lang="zh-CN" altLang="en-US" sz="1100" b="0" i="0" u="none" strike="noStrike" kern="1200" cap="none" spc="0" normalizeH="0" baseline="0" noProof="0" dirty="0">
              <a:ln>
                <a:noFill/>
              </a:ln>
              <a:solidFill>
                <a:srgbClr val="383838"/>
              </a:solidFill>
              <a:effectLst/>
              <a:uLnTx/>
              <a:uFillTx/>
              <a:cs typeface="微软雅黑"/>
              <a:sym typeface="微软雅黑"/>
              <a:latin typeface="微软雅黑"/>
              <a:ea typeface="微软雅黑"/>
            </a:endParaRPr>
          </a:p>
        </p:txBody>
      </p:sp>
      <p:sp>
        <p:nvSpPr>
          <p:cNvPr id="294" name="文本框 293"/>
          <p:cNvSpPr txBox="1"/>
          <p:nvPr/>
        </p:nvSpPr>
        <p:spPr>
          <a:xfrm rot="180000">
            <a:off x="4447554" y="5274387"/>
            <a:ext cx="1272509" cy="260397"/>
          </a:xfrm>
          <a:prstGeom prst="rect">
            <a:avLst/>
          </a:prstGeom>
          <a:noFill/>
        </p:spPr>
        <p:txBody>
          <a:bodyPr wrap="square" lIns="0" rIns="0" tIns="0" bIns="0">
            <a:prstTxWarp prst="textArchDown">
              <a:avLst>
                <a:gd name="adj" fmla="val 157903"/>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prstClr val="white"/>
                </a:solidFill>
                <a:effectLst/>
                <a:uLnTx/>
                <a:uFillTx/>
                <a:cs typeface="微软雅黑"/>
                <a:sym typeface="微软雅黑"/>
                <a:latin typeface="微软雅黑"/>
                <a:ea typeface="微软雅黑"/>
              </a:rPr>
              <a:t>快速迭代</a:t>
            </a:r>
            <a:endParaRPr kumimoji="0" lang="zh-CN" altLang="en-US" sz="1100" b="0" i="0" u="none" strike="noStrike" kern="1200" cap="none" spc="0" normalizeH="0" baseline="0" noProof="0" dirty="0">
              <a:ln>
                <a:noFill/>
              </a:ln>
              <a:solidFill>
                <a:prstClr val="white"/>
              </a:solidFill>
              <a:effectLst/>
              <a:uLnTx/>
              <a:uFillTx/>
              <a:cs typeface="微软雅黑"/>
              <a:sym typeface="微软雅黑"/>
              <a:latin typeface="微软雅黑"/>
              <a:ea typeface="微软雅黑"/>
            </a:endParaRPr>
          </a:p>
        </p:txBody>
      </p:sp>
      <p:sp>
        <p:nvSpPr>
          <p:cNvPr id="296" name="文本框 295"/>
          <p:cNvSpPr txBox="1"/>
          <p:nvPr/>
        </p:nvSpPr>
        <p:spPr>
          <a:xfrm>
            <a:off x="440055" y="4422775"/>
            <a:ext cx="3613150" cy="398780"/>
          </a:xfrm>
          <a:prstGeom prst="rect">
            <a:avLst/>
          </a:prstGeom>
          <a:noFill/>
        </p:spPr>
        <p:txBody>
          <a:bodyPr wrap="square" lIns="0" rIns="0" tIns="0" bIns="0">
            <a:spAutoFit/>
          </a:bodyPr>
          <a:lstStyle/>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lang="zh-CN" altLang="en-US" sz="2000" b="1" dirty="0">
                <a:solidFill>
                  <a:srgbClr val="0042FF"/>
                </a:solidFill>
                <a:cs typeface="微软雅黑"/>
                <a:sym typeface="微软雅黑"/>
                <a:latin typeface="微软雅黑"/>
                <a:ea typeface="微软雅黑"/>
              </a:rPr>
              <a:t>支撑①：技术与数据中台</a:t>
            </a:r>
            <a:endParaRPr lang="zh-CN" altLang="en-US" sz="2000" b="1" dirty="0">
              <a:solidFill>
                <a:srgbClr val="0042FF"/>
              </a:solidFill>
              <a:cs typeface="微软雅黑"/>
              <a:sym typeface="微软雅黑"/>
              <a:latin typeface="微软雅黑"/>
              <a:ea typeface="微软雅黑"/>
            </a:endParaRPr>
          </a:p>
        </p:txBody>
      </p:sp>
      <p:sp>
        <p:nvSpPr>
          <p:cNvPr id="297" name="任意多边形: 形状 66"/>
          <p:cNvSpPr/>
          <p:nvPr/>
        </p:nvSpPr>
        <p:spPr>
          <a:xfrm>
            <a:off x="789894" y="4880476"/>
            <a:ext cx="3473450" cy="190500"/>
          </a:xfrm>
          <a:custGeom>
            <a:avLst/>
            <a:gdLst>
              <a:gd name="connsiteX0" fmla="*/ 3473450 w 3473450"/>
              <a:gd name="connsiteY0" fmla="*/ 190500 h 190500"/>
              <a:gd name="connsiteX1" fmla="*/ 3282950 w 3473450"/>
              <a:gd name="connsiteY1" fmla="*/ 0 h 190500"/>
              <a:gd name="connsiteX2" fmla="*/ 0 w 3473450"/>
              <a:gd name="connsiteY2" fmla="*/ 0 h 190500"/>
            </a:gdLst>
            <a:ahLst/>
            <a:cxnLst>
              <a:cxn ang="0">
                <a:pos x="connsiteX0" y="connsiteY0"/>
              </a:cxn>
              <a:cxn ang="0">
                <a:pos x="connsiteX1" y="connsiteY1"/>
              </a:cxn>
              <a:cxn ang="0">
                <a:pos x="connsiteX2" y="connsiteY2"/>
              </a:cxn>
            </a:cxnLst>
            <a:rect l="l" t="t" r="r" b="b"/>
            <a:pathLst>
              <a:path w="3473450" h="190500">
                <a:moveTo>
                  <a:pt x="3473450" y="190500"/>
                </a:moveTo>
                <a:lnTo>
                  <a:pt x="3282950" y="0"/>
                </a:lnTo>
                <a:lnTo>
                  <a:pt x="0" y="0"/>
                </a:lnTo>
              </a:path>
            </a:pathLst>
          </a:custGeom>
          <a:noFill/>
          <a:ln>
            <a:solidFill>
              <a:srgbClr val="DCDCDC"/>
            </a:solidFill>
            <a:prstDash val="dash"/>
            <a:headEnd type="ova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cs typeface="微软雅黑"/>
              <a:sym typeface="微软雅黑"/>
              <a:latin typeface="微软雅黑"/>
              <a:ea typeface="微软雅黑"/>
            </a:endParaRPr>
          </a:p>
        </p:txBody>
      </p:sp>
      <p:sp>
        <p:nvSpPr>
          <p:cNvPr id="298" name="文本框 297"/>
          <p:cNvSpPr txBox="1"/>
          <p:nvPr/>
        </p:nvSpPr>
        <p:spPr>
          <a:xfrm>
            <a:off x="748648" y="4892325"/>
            <a:ext cx="3002468" cy="755015"/>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cs typeface="微软雅黑"/>
                <a:sym typeface="微软雅黑"/>
                <a:latin typeface="微软雅黑"/>
                <a:ea typeface="微软雅黑"/>
              </a:rPr>
              <a:t>构建敏捷开发与数据洞察能力，降低创新成本，提升市场精准度，为盈利目标提供技术杠杆。</a:t>
            </a:r>
            <a:endParaRPr kumimoji="0" lang="zh-CN" altLang="en-US" sz="1200" b="0" i="0" u="none" strike="noStrike" kern="1200" cap="none" spc="0" normalizeH="0" baseline="0" noProof="0" dirty="0">
              <a:ln>
                <a:noFill/>
              </a:ln>
              <a:solidFill>
                <a:srgbClr val="383838"/>
              </a:solidFill>
              <a:effectLst/>
              <a:uLnTx/>
              <a:uFillTx/>
              <a:cs typeface="微软雅黑"/>
              <a:sym typeface="微软雅黑"/>
              <a:latin typeface="微软雅黑"/>
              <a:ea typeface="微软雅黑"/>
            </a:endParaRPr>
          </a:p>
        </p:txBody>
      </p:sp>
      <p:sp>
        <p:nvSpPr>
          <p:cNvPr id="299" name="任意多边形: 形状 66"/>
          <p:cNvSpPr/>
          <p:nvPr/>
        </p:nvSpPr>
        <p:spPr>
          <a:xfrm flipH="1">
            <a:off x="7757114" y="4468996"/>
            <a:ext cx="3473450" cy="190500"/>
          </a:xfrm>
          <a:custGeom>
            <a:avLst/>
            <a:gdLst>
              <a:gd name="connsiteX0" fmla="*/ 3473450 w 3473450"/>
              <a:gd name="connsiteY0" fmla="*/ 190500 h 190500"/>
              <a:gd name="connsiteX1" fmla="*/ 3282950 w 3473450"/>
              <a:gd name="connsiteY1" fmla="*/ 0 h 190500"/>
              <a:gd name="connsiteX2" fmla="*/ 0 w 3473450"/>
              <a:gd name="connsiteY2" fmla="*/ 0 h 190500"/>
            </a:gdLst>
            <a:ahLst/>
            <a:cxnLst>
              <a:cxn ang="0">
                <a:pos x="connsiteX0" y="connsiteY0"/>
              </a:cxn>
              <a:cxn ang="0">
                <a:pos x="connsiteX1" y="connsiteY1"/>
              </a:cxn>
              <a:cxn ang="0">
                <a:pos x="connsiteX2" y="connsiteY2"/>
              </a:cxn>
            </a:cxnLst>
            <a:rect l="l" t="t" r="r" b="b"/>
            <a:pathLst>
              <a:path w="3473450" h="190500">
                <a:moveTo>
                  <a:pt x="3473450" y="190500"/>
                </a:moveTo>
                <a:lnTo>
                  <a:pt x="3282950" y="0"/>
                </a:lnTo>
                <a:lnTo>
                  <a:pt x="0" y="0"/>
                </a:lnTo>
              </a:path>
            </a:pathLst>
          </a:custGeom>
          <a:noFill/>
          <a:ln>
            <a:solidFill>
              <a:srgbClr val="DCDCDC"/>
            </a:solidFill>
            <a:prstDash val="dash"/>
            <a:headEnd type="ova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cs typeface="微软雅黑"/>
              <a:sym typeface="微软雅黑"/>
              <a:latin typeface="微软雅黑"/>
              <a:ea typeface="微软雅黑"/>
            </a:endParaRPr>
          </a:p>
        </p:txBody>
      </p:sp>
      <p:sp>
        <p:nvSpPr>
          <p:cNvPr id="300" name="文本框 299"/>
          <p:cNvSpPr txBox="1"/>
          <p:nvPr/>
        </p:nvSpPr>
        <p:spPr>
          <a:xfrm>
            <a:off x="7915910" y="4024630"/>
            <a:ext cx="3613150" cy="398780"/>
          </a:xfrm>
          <a:prstGeom prst="rect">
            <a:avLst/>
          </a:prstGeom>
          <a:noFill/>
        </p:spPr>
        <p:txBody>
          <a:bodyPr wrap="square" lIns="0" rIns="0" tIns="0" bIns="0">
            <a:spAutoFit/>
          </a:bodyPr>
          <a:lstStyle/>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lang="zh-CN" altLang="en-US" sz="2000" b="1" dirty="0">
                <a:solidFill>
                  <a:srgbClr val="0042FF"/>
                </a:solidFill>
                <a:cs typeface="微软雅黑"/>
                <a:sym typeface="微软雅黑"/>
                <a:latin typeface="微软雅黑"/>
                <a:ea typeface="微软雅黑"/>
              </a:rPr>
              <a:t>支撑②：组织与人才体系</a:t>
            </a:r>
            <a:endParaRPr lang="zh-CN" altLang="en-US" sz="2000" b="1" dirty="0">
              <a:solidFill>
                <a:srgbClr val="0042FF"/>
              </a:solidFill>
              <a:cs typeface="微软雅黑"/>
              <a:sym typeface="微软雅黑"/>
              <a:latin typeface="微软雅黑"/>
              <a:ea typeface="微软雅黑"/>
            </a:endParaRPr>
          </a:p>
        </p:txBody>
      </p:sp>
      <p:sp>
        <p:nvSpPr>
          <p:cNvPr id="301" name="文本框 300"/>
          <p:cNvSpPr txBox="1"/>
          <p:nvPr/>
        </p:nvSpPr>
        <p:spPr>
          <a:xfrm>
            <a:off x="8297528" y="4537995"/>
            <a:ext cx="3002468" cy="533400"/>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cs typeface="微软雅黑"/>
                <a:sym typeface="微软雅黑"/>
                <a:latin typeface="微软雅黑"/>
                <a:ea typeface="微软雅黑"/>
              </a:rPr>
              <a:t>打造敏捷型组织，确保市场与产品团队高效协同，为</a:t>
            </a:r>
            <a:r>
              <a:rPr kumimoji="0" lang="en-US" altLang="zh-CN" sz="1200" b="0" i="0" u="none" strike="noStrike" kern="1200" cap="none" spc="0" normalizeH="0" baseline="0" noProof="0" dirty="0">
                <a:ln>
                  <a:noFill/>
                </a:ln>
                <a:solidFill>
                  <a:srgbClr val="383838"/>
                </a:solidFill>
                <a:effectLst/>
                <a:uLnTx/>
                <a:uFillTx/>
                <a:cs typeface="微软雅黑"/>
                <a:sym typeface="微软雅黑"/>
                <a:latin typeface="微软雅黑"/>
                <a:ea typeface="微软雅黑"/>
              </a:rPr>
              <a:t>1000</a:t>
            </a:r>
            <a:r>
              <a:rPr kumimoji="0" lang="zh-CN" altLang="en-US" sz="1200" b="0" i="0" u="none" strike="noStrike" kern="1200" cap="none" spc="0" normalizeH="0" baseline="0" noProof="0" dirty="0">
                <a:ln>
                  <a:noFill/>
                </a:ln>
                <a:solidFill>
                  <a:srgbClr val="383838"/>
                </a:solidFill>
                <a:effectLst/>
                <a:uLnTx/>
                <a:uFillTx/>
                <a:cs typeface="微软雅黑"/>
                <a:sym typeface="微软雅黑"/>
                <a:latin typeface="微软雅黑"/>
                <a:ea typeface="微软雅黑"/>
              </a:rPr>
              <a:t>万盈利目标提供人才动能。</a:t>
            </a:r>
            <a:endParaRPr kumimoji="0" lang="zh-CN" altLang="en-US" sz="1200" b="0" i="0" u="none" strike="noStrike" kern="1200" cap="none" spc="0" normalizeH="0" baseline="0" noProof="0" dirty="0">
              <a:ln>
                <a:noFill/>
              </a:ln>
              <a:solidFill>
                <a:srgbClr val="383838"/>
              </a:solidFill>
              <a:effectLst/>
              <a:uLnTx/>
              <a:uFillTx/>
              <a:cs typeface="微软雅黑"/>
              <a:sym typeface="微软雅黑"/>
              <a:latin typeface="微软雅黑"/>
              <a:ea typeface="微软雅黑"/>
            </a:endParaRPr>
          </a:p>
        </p:txBody>
      </p:sp>
      <p:sp>
        <p:nvSpPr>
          <p:cNvPr id="201" name="任意多边形: 形状 1036"/>
          <p:cNvSpPr/>
          <p:nvPr/>
        </p:nvSpPr>
        <p:spPr>
          <a:xfrm>
            <a:off x="5025963" y="3336907"/>
            <a:ext cx="485884" cy="432845"/>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0">
                <a:srgbClr val="B3D4FE"/>
              </a:gs>
              <a:gs pos="100000">
                <a:srgbClr val="FFFFFF">
                  <a:alpha val="0"/>
                </a:srgbClr>
              </a:gs>
            </a:gsLst>
            <a:lin ang="5400000" scaled="1"/>
          </a:gradFill>
          <a:ln w="12700" cap="flat" cmpd="sng" algn="ctr">
            <a:noFill/>
            <a:prstDash val="solid"/>
            <a:miter lim="800000"/>
          </a:ln>
          <a:effectLst/>
        </p:spPr>
        <p:txBody>
          <a:bodyPr wrap="square"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000" kern="0" noProof="0" dirty="0">
              <a:ln>
                <a:noFill/>
              </a:ln>
              <a:solidFill>
                <a:srgbClr val="383838"/>
              </a:solidFill>
              <a:effectLst/>
              <a:uLnTx/>
              <a:uFillTx/>
              <a:latin typeface="微软雅黑"/>
              <a:ea typeface="微软雅黑"/>
              <a:cs typeface="微软雅黑"/>
              <a:sym typeface="微软雅黑"/>
            </a:endParaRPr>
          </a:p>
        </p:txBody>
      </p:sp>
      <p:sp>
        <p:nvSpPr>
          <p:cNvPr id="3" name="任意多边形: 形状 1036"/>
          <p:cNvSpPr/>
          <p:nvPr/>
        </p:nvSpPr>
        <p:spPr>
          <a:xfrm>
            <a:off x="6640133" y="3336907"/>
            <a:ext cx="485884" cy="432845"/>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0">
                <a:srgbClr val="B3D4FE"/>
              </a:gs>
              <a:gs pos="100000">
                <a:srgbClr val="FFFFFF">
                  <a:alpha val="0"/>
                </a:srgbClr>
              </a:gs>
            </a:gsLst>
            <a:lin ang="5400000" scaled="1"/>
          </a:gradFill>
          <a:ln w="12700" cap="flat" cmpd="sng" algn="ctr">
            <a:noFill/>
            <a:prstDash val="solid"/>
            <a:miter lim="800000"/>
          </a:ln>
          <a:effectLst/>
        </p:spPr>
        <p:txBody>
          <a:bodyPr wrap="square"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000" kern="0" noProof="0" dirty="0">
              <a:ln>
                <a:noFill/>
              </a:ln>
              <a:solidFill>
                <a:srgbClr val="383838"/>
              </a:solidFill>
              <a:effectLst/>
              <a:uLnTx/>
              <a:uFillTx/>
              <a:latin typeface="微软雅黑"/>
              <a:ea typeface="微软雅黑"/>
              <a:cs typeface="微软雅黑"/>
              <a:sym typeface="微软雅黑"/>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椭圆 11"/>
          <p:cNvSpPr/>
          <p:nvPr/>
        </p:nvSpPr>
        <p:spPr>
          <a:xfrm>
            <a:off x="906145" y="1312545"/>
            <a:ext cx="5189855" cy="5189855"/>
          </a:xfrm>
          <a:prstGeom prst="ellipse">
            <a:avLst/>
          </a:prstGeom>
          <a:gradFill flip="none" rotWithShape="1">
            <a:gsLst>
              <a:gs pos="19000">
                <a:srgbClr val="E6E6E6">
                  <a:alpha val="0"/>
                </a:srgbClr>
              </a:gs>
              <a:gs pos="100000">
                <a:srgbClr val="E6E6E6">
                  <a:alpha val="50000"/>
                </a:srgbClr>
              </a:gs>
            </a:gsLst>
            <a:lin ang="0" scaled="1"/>
            <a:tileRect/>
          </a:gradFill>
          <a:ln w="19050" cap="flat">
            <a:gradFill flip="none" rotWithShape="1">
              <a:gsLst>
                <a:gs pos="0">
                  <a:srgbClr val="FFFFFF">
                    <a:alpha val="0"/>
                  </a:srgbClr>
                </a:gs>
                <a:gs pos="100000">
                  <a:srgbClr val="668EFF">
                    <a:alpha val="70000"/>
                  </a:srgbClr>
                </a:gs>
              </a:gsLst>
              <a:lin ang="0" scaled="0"/>
              <a:tileRect/>
            </a:gradFill>
            <a:prstDash val="solid"/>
            <a:miter/>
          </a:ln>
          <a:effectLst/>
        </p:spPr>
        <p:txBody>
          <a:bodyPr rot="0" spcFirstLastPara="0" vertOverflow="overflow" horzOverflow="overflow" vert="horz" wrap="square" lIns="91440" tIns="45720" rIns="91440" bIns="4572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sz="1600" dirty="0">
              <a:cs typeface="微软雅黑"/>
              <a:sym typeface="微软雅黑"/>
              <a:latin typeface="微软雅黑"/>
              <a:ea typeface="微软雅黑"/>
            </a:endParaRPr>
          </a:p>
        </p:txBody>
      </p:sp>
      <p:sp>
        <p:nvSpPr>
          <p:cNvPr id="13" name="椭圆 12"/>
          <p:cNvSpPr/>
          <p:nvPr/>
        </p:nvSpPr>
        <p:spPr>
          <a:xfrm flipH="1">
            <a:off x="6096000" y="1312545"/>
            <a:ext cx="5189855" cy="5189855"/>
          </a:xfrm>
          <a:prstGeom prst="ellipse">
            <a:avLst/>
          </a:prstGeom>
          <a:gradFill flip="none" rotWithShape="1">
            <a:gsLst>
              <a:gs pos="19000">
                <a:srgbClr val="E6E6E6">
                  <a:alpha val="0"/>
                </a:srgbClr>
              </a:gs>
              <a:gs pos="100000">
                <a:srgbClr val="E6E6E6">
                  <a:alpha val="50000"/>
                </a:srgbClr>
              </a:gs>
            </a:gsLst>
            <a:lin ang="0" scaled="1"/>
            <a:tileRect/>
          </a:gradFill>
          <a:ln w="19050" cap="flat">
            <a:gradFill flip="none" rotWithShape="1">
              <a:gsLst>
                <a:gs pos="0">
                  <a:srgbClr val="FFFFFF">
                    <a:alpha val="0"/>
                  </a:srgbClr>
                </a:gs>
                <a:gs pos="100000">
                  <a:srgbClr val="668EFF">
                    <a:alpha val="70000"/>
                  </a:srgbClr>
                </a:gs>
              </a:gsLst>
              <a:lin ang="0" scaled="0"/>
              <a:tileRect/>
            </a:gradFill>
            <a:prstDash val="solid"/>
            <a:miter/>
          </a:ln>
          <a:effectLst/>
        </p:spPr>
        <p:txBody>
          <a:bodyPr rot="0" spcFirstLastPara="0" vertOverflow="overflow" horzOverflow="overflow" vert="horz" wrap="square" lIns="91440" tIns="45720" rIns="91440" bIns="4572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sz="1600" dirty="0">
              <a:cs typeface="微软雅黑"/>
              <a:sym typeface="微软雅黑"/>
              <a:latin typeface="微软雅黑"/>
              <a:ea typeface="微软雅黑"/>
            </a:endParaRPr>
          </a:p>
        </p:txBody>
      </p:sp>
      <p:sp>
        <p:nvSpPr>
          <p:cNvPr id="14" name="椭圆 13"/>
          <p:cNvSpPr/>
          <p:nvPr/>
        </p:nvSpPr>
        <p:spPr>
          <a:xfrm>
            <a:off x="2792730" y="2221865"/>
            <a:ext cx="3303270" cy="3303270"/>
          </a:xfrm>
          <a:prstGeom prst="ellipse">
            <a:avLst/>
          </a:prstGeom>
          <a:gradFill flip="none" rotWithShape="1">
            <a:gsLst>
              <a:gs pos="19000">
                <a:srgbClr val="FFFFFF">
                  <a:alpha val="0"/>
                </a:srgbClr>
              </a:gs>
              <a:gs pos="100000">
                <a:srgbClr val="FFFFFF"/>
              </a:gs>
            </a:gsLst>
            <a:lin ang="0" scaled="1"/>
            <a:tileRect/>
          </a:gradFill>
          <a:ln w="19050" cap="flat">
            <a:gradFill flip="none" rotWithShape="1">
              <a:gsLst>
                <a:gs pos="0">
                  <a:srgbClr val="FFFFFF">
                    <a:alpha val="0"/>
                  </a:srgbClr>
                </a:gs>
                <a:gs pos="100000">
                  <a:srgbClr val="B3D4FE"/>
                </a:gs>
              </a:gsLst>
              <a:lin ang="0" scaled="0"/>
              <a:tileRect/>
            </a:gradFill>
            <a:prstDash val="solid"/>
            <a:miter/>
          </a:ln>
          <a:effectLst/>
        </p:spPr>
        <p:txBody>
          <a:bodyPr rot="0" spcFirstLastPara="0" vertOverflow="overflow" horzOverflow="overflow" vert="horz" wrap="square" lIns="91440" tIns="45720" rIns="91440" bIns="4572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sz="1600" dirty="0">
              <a:cs typeface="微软雅黑"/>
              <a:sym typeface="微软雅黑"/>
              <a:latin typeface="微软雅黑"/>
              <a:ea typeface="微软雅黑"/>
            </a:endParaRPr>
          </a:p>
        </p:txBody>
      </p:sp>
      <p:sp>
        <p:nvSpPr>
          <p:cNvPr id="15" name="椭圆 14"/>
          <p:cNvSpPr/>
          <p:nvPr/>
        </p:nvSpPr>
        <p:spPr>
          <a:xfrm flipH="1">
            <a:off x="6096000" y="2221865"/>
            <a:ext cx="3303270" cy="3303270"/>
          </a:xfrm>
          <a:prstGeom prst="ellipse">
            <a:avLst/>
          </a:prstGeom>
          <a:gradFill flip="none" rotWithShape="1">
            <a:gsLst>
              <a:gs pos="19000">
                <a:srgbClr val="FFFFFF">
                  <a:alpha val="0"/>
                </a:srgbClr>
              </a:gs>
              <a:gs pos="100000">
                <a:srgbClr val="FFFFFF"/>
              </a:gs>
            </a:gsLst>
            <a:lin ang="0" scaled="1"/>
            <a:tileRect/>
          </a:gradFill>
          <a:ln w="19050" cap="flat">
            <a:gradFill flip="none" rotWithShape="1">
              <a:gsLst>
                <a:gs pos="0">
                  <a:srgbClr val="FFFFFF">
                    <a:alpha val="0"/>
                  </a:srgbClr>
                </a:gs>
                <a:gs pos="100000">
                  <a:srgbClr val="B3D4FE"/>
                </a:gs>
              </a:gsLst>
              <a:lin ang="0" scaled="0"/>
              <a:tileRect/>
            </a:gradFill>
            <a:prstDash val="solid"/>
            <a:miter/>
          </a:ln>
          <a:effectLst/>
        </p:spPr>
        <p:txBody>
          <a:bodyPr rot="0" spcFirstLastPara="0" vertOverflow="overflow" horzOverflow="overflow" vert="horz" wrap="square" lIns="91440" tIns="45720" rIns="91440" bIns="4572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sz="1600" dirty="0">
              <a:cs typeface="微软雅黑"/>
              <a:sym typeface="微软雅黑"/>
              <a:latin typeface="微软雅黑"/>
              <a:ea typeface="微软雅黑"/>
            </a:endParaRPr>
          </a:p>
        </p:txBody>
      </p:sp>
      <p:sp>
        <p:nvSpPr>
          <p:cNvPr id="5"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业务流程架构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数字化产学平台建设思路</a:t>
            </a:r>
            <a:endParaRPr lang="zh-CN" altLang="en-US" sz="2500" dirty="0">
              <a:solidFill>
                <a:srgbClr val="383838"/>
              </a:solidFill>
              <a:effectLst/>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椭圆 1"/>
          <p:cNvSpPr/>
          <p:nvPr/>
        </p:nvSpPr>
        <p:spPr>
          <a:xfrm>
            <a:off x="5296535" y="3053080"/>
            <a:ext cx="1595120" cy="1595120"/>
          </a:xfrm>
          <a:prstGeom prst="ellipse">
            <a:avLst/>
          </a:prstGeom>
          <a:gradFill flip="none" rotWithShape="1">
            <a:gsLst>
              <a:gs pos="20000">
                <a:srgbClr val="B3D4FE"/>
              </a:gs>
              <a:gs pos="82000">
                <a:srgbClr val="3368FF"/>
              </a:gs>
            </a:gsLst>
            <a:path path="circle">
              <a:fillToRect r="100000" b="100000"/>
            </a:path>
            <a:tileRect l="-100000" t="-100000"/>
          </a:gradFill>
          <a:ln w="63500">
            <a:solidFill>
              <a:srgbClr val="FFFFFF"/>
            </a:solidFill>
          </a:ln>
          <a:effectLst>
            <a:innerShdw blurRad="698500">
              <a:srgbClr val="B3D4FE"/>
            </a:inn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401" name="显眼包PPT2-5"/>
          <p:cNvSpPr txBox="1"/>
          <p:nvPr/>
        </p:nvSpPr>
        <p:spPr>
          <a:xfrm flipH="1">
            <a:off x="5408295" y="3528060"/>
            <a:ext cx="1371600" cy="55372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b="1" dirty="0">
                <a:solidFill>
                  <a:srgbClr val="FFFFFF"/>
                </a:solidFill>
                <a:effectLst/>
                <a:latin typeface="微软雅黑"/>
                <a:ea typeface="微软雅黑"/>
                <a:cs typeface="微软雅黑"/>
              </a:rPr>
              <a:t>数字化</a:t>
            </a:r>
            <a:endParaRPr lang="zh-CN" altLang="en-US" b="1" dirty="0">
              <a:solidFill>
                <a:srgbClr val="FFFFFF"/>
              </a:solidFill>
              <a:effectLst/>
              <a:latin typeface="微软雅黑"/>
              <a:ea typeface="微软雅黑"/>
              <a:cs typeface="微软雅黑"/>
            </a:endParaRPr>
          </a:p>
          <a:p>
            <a:pPr algn="ctr">
              <a:defRPr>
                <a:solidFill>
                  <a:srgbClr val="FFFFFF"/>
                </a:solidFill>
                <a:latin typeface="微软雅黑"/>
                <a:ea typeface="微软雅黑"/>
                <a:cs typeface="微软雅黑"/>
              </a:defRPr>
            </a:pPr>
            <a:r>
              <a:rPr lang="zh-CN" altLang="en-US" b="1" dirty="0">
                <a:solidFill>
                  <a:srgbClr val="FFFFFF"/>
                </a:solidFill>
                <a:effectLst/>
                <a:latin typeface="微软雅黑"/>
                <a:ea typeface="微软雅黑"/>
                <a:cs typeface="微软雅黑"/>
              </a:rPr>
              <a:t>产学服务平台</a:t>
            </a:r>
            <a:endParaRPr lang="zh-CN" altLang="en-US" b="1" dirty="0">
              <a:solidFill>
                <a:srgbClr val="FFFFFF"/>
              </a:solidFill>
              <a:effectLst/>
              <a:latin typeface="微软雅黑"/>
              <a:ea typeface="微软雅黑"/>
              <a:cs typeface="微软雅黑"/>
            </a:endParaRPr>
          </a:p>
        </p:txBody>
      </p:sp>
      <p:grpSp>
        <p:nvGrpSpPr>
          <p:cNvPr id="59" name="组合 58"/>
          <p:cNvGrpSpPr/>
          <p:nvPr/>
        </p:nvGrpSpPr>
        <p:grpSpPr>
          <a:xfrm rot="0" flipV="1">
            <a:off x="6996617" y="3568356"/>
            <a:ext cx="470491" cy="586921"/>
            <a:chOff x="3757249" y="3429001"/>
            <a:chExt cx="928843" cy="1219201"/>
          </a:xfrm>
          <a:solidFill>
            <a:srgbClr val="0042FF"/>
          </a:solidFill>
          <a:effectLst/>
        </p:grpSpPr>
        <p:sp>
          <p:nvSpPr>
            <p:cNvPr id="60" name="任意形状 178"/>
            <p:cNvSpPr/>
            <p:nvPr/>
          </p:nvSpPr>
          <p:spPr>
            <a:xfrm rot="5400000" flipH="1">
              <a:off x="3505177" y="3681073"/>
              <a:ext cx="1219201" cy="715058"/>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sp>
          <p:nvSpPr>
            <p:cNvPr id="61" name="任意形状 179"/>
            <p:cNvSpPr/>
            <p:nvPr/>
          </p:nvSpPr>
          <p:spPr>
            <a:xfrm rot="5400000" flipH="1">
              <a:off x="3961913" y="3786494"/>
              <a:ext cx="944147" cy="504211"/>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grpSp>
      <p:grpSp>
        <p:nvGrpSpPr>
          <p:cNvPr id="24" name="组合 23"/>
          <p:cNvGrpSpPr/>
          <p:nvPr/>
        </p:nvGrpSpPr>
        <p:grpSpPr>
          <a:xfrm rot="0" flipH="1" flipV="1">
            <a:off x="4675057" y="3568356"/>
            <a:ext cx="470491" cy="586921"/>
            <a:chOff x="3757249" y="3429001"/>
            <a:chExt cx="928843" cy="1219201"/>
          </a:xfrm>
          <a:solidFill>
            <a:srgbClr val="0042FF"/>
          </a:solidFill>
          <a:effectLst/>
        </p:grpSpPr>
        <p:sp>
          <p:nvSpPr>
            <p:cNvPr id="25" name="任意形状 178"/>
            <p:cNvSpPr/>
            <p:nvPr/>
          </p:nvSpPr>
          <p:spPr>
            <a:xfrm rot="5400000" flipH="1">
              <a:off x="3505177" y="3681073"/>
              <a:ext cx="1219201" cy="715058"/>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cs typeface="微软雅黑"/>
                <a:latin typeface="微软雅黑"/>
                <a:ea typeface="微软雅黑"/>
              </a:endParaRPr>
            </a:p>
          </p:txBody>
        </p:sp>
        <p:sp>
          <p:nvSpPr>
            <p:cNvPr id="26" name="任意形状 179"/>
            <p:cNvSpPr/>
            <p:nvPr/>
          </p:nvSpPr>
          <p:spPr>
            <a:xfrm rot="5400000" flipH="1">
              <a:off x="3961913" y="3786494"/>
              <a:ext cx="944147" cy="504211"/>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cs typeface="微软雅黑"/>
                <a:latin typeface="微软雅黑"/>
                <a:ea typeface="微软雅黑"/>
              </a:endParaRPr>
            </a:p>
          </p:txBody>
        </p:sp>
      </p:grpSp>
      <p:cxnSp>
        <p:nvCxnSpPr>
          <p:cNvPr id="16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99" name="三角形 98"/>
          <p:cNvSpPr/>
          <p:nvPr/>
        </p:nvSpPr>
        <p:spPr>
          <a:xfrm rot="5400000" flipH="1">
            <a:off x="-1196340" y="1736725"/>
            <a:ext cx="6911340" cy="4178935"/>
          </a:xfrm>
          <a:prstGeom prst="triangle">
            <a:avLst/>
          </a:prstGeom>
          <a:gradFill flip="none" rotWithShape="1">
            <a:gsLst>
              <a:gs pos="19000">
                <a:srgbClr val="E6E6E6">
                  <a:alpha val="0"/>
                </a:srgbClr>
              </a:gs>
              <a:gs pos="100000">
                <a:srgbClr val="E6E6E6"/>
              </a:gs>
            </a:gsLst>
            <a:lin ang="16200000" scaled="1"/>
          </a:gradFill>
          <a:ln w="19050" cap="flat">
            <a:gradFill flip="none" rotWithShape="1">
              <a:gsLst>
                <a:gs pos="0">
                  <a:srgbClr val="E6E6E6">
                    <a:alpha val="0"/>
                  </a:srgbClr>
                </a:gs>
                <a:gs pos="100000">
                  <a:srgbClr val="3368FF"/>
                </a:gs>
              </a:gsLst>
              <a:lin ang="16200000" scaled="0"/>
              <a:tileRect/>
            </a:gradFill>
            <a:prstDash val="solid"/>
            <a:miter/>
          </a:ln>
          <a:effectLst/>
        </p:spPr>
        <p:txBody>
          <a:bodyPr rot="0" spcFirstLastPara="0" vertOverflow="overflow" horzOverflow="overflow" vert="horz" wrap="square" lIns="91440" tIns="45720" rIns="91440" bIns="4572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sz="1600" dirty="0">
              <a:cs typeface="微软雅黑"/>
              <a:sym typeface="微软雅黑"/>
              <a:latin typeface="微软雅黑"/>
              <a:ea typeface="微软雅黑"/>
            </a:endParaRPr>
          </a:p>
        </p:txBody>
      </p:sp>
      <p:sp>
        <p:nvSpPr>
          <p:cNvPr id="8" name="椭圆 7"/>
          <p:cNvSpPr/>
          <p:nvPr/>
        </p:nvSpPr>
        <p:spPr>
          <a:xfrm>
            <a:off x="3321050" y="3322320"/>
            <a:ext cx="1056640" cy="1056640"/>
          </a:xfrm>
          <a:prstGeom prst="ellipse">
            <a:avLst/>
          </a:prstGeom>
          <a:gradFill flip="none" rotWithShape="1">
            <a:gsLst>
              <a:gs pos="0">
                <a:srgbClr val="3368FF"/>
              </a:gs>
              <a:gs pos="100000">
                <a:srgbClr val="0042FF"/>
              </a:gs>
            </a:gsLst>
            <a:lin ang="0"/>
          </a:gra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 name="椭圆 8"/>
          <p:cNvSpPr/>
          <p:nvPr/>
        </p:nvSpPr>
        <p:spPr>
          <a:xfrm>
            <a:off x="3128645" y="3132455"/>
            <a:ext cx="1437005" cy="1437005"/>
          </a:xfrm>
          <a:prstGeom prst="ellipse">
            <a:avLst/>
          </a:prstGeom>
          <a:noFill/>
          <a:ln>
            <a:gradFill>
              <a:gsLst>
                <a:gs pos="0">
                  <a:srgbClr val="668EFF"/>
                </a:gs>
                <a:gs pos="100000">
                  <a:srgbClr val="3368FF"/>
                </a:gs>
              </a:gsLst>
              <a:lin ang="0" scaled="1"/>
            </a:gra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3" name="显眼包PPT2-5"/>
          <p:cNvSpPr txBox="1"/>
          <p:nvPr/>
        </p:nvSpPr>
        <p:spPr>
          <a:xfrm flipH="1">
            <a:off x="3437890" y="3616325"/>
            <a:ext cx="812800" cy="492125"/>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1600" b="1" dirty="0">
                <a:solidFill>
                  <a:srgbClr val="FFFFFF"/>
                </a:solidFill>
                <a:effectLst/>
                <a:latin typeface="微软雅黑"/>
                <a:ea typeface="微软雅黑"/>
                <a:cs typeface="微软雅黑"/>
              </a:rPr>
              <a:t>服务体系</a:t>
            </a:r>
            <a:endParaRPr lang="zh-CN" altLang="en-US" sz="1600" b="1" dirty="0">
              <a:solidFill>
                <a:srgbClr val="FFFFFF"/>
              </a:solidFill>
              <a:effectLst/>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b="1" dirty="0">
                <a:solidFill>
                  <a:srgbClr val="FFFFFF"/>
                </a:solidFill>
                <a:effectLst/>
                <a:latin typeface="微软雅黑"/>
                <a:ea typeface="微软雅黑"/>
                <a:cs typeface="微软雅黑"/>
              </a:rPr>
              <a:t>驱动</a:t>
            </a:r>
            <a:endParaRPr lang="zh-CN" altLang="en-US" sz="1600" b="1" dirty="0">
              <a:solidFill>
                <a:srgbClr val="FFFFFF"/>
              </a:solidFill>
              <a:effectLst/>
              <a:latin typeface="微软雅黑"/>
              <a:ea typeface="微软雅黑"/>
              <a:cs typeface="微软雅黑"/>
            </a:endParaRPr>
          </a:p>
        </p:txBody>
      </p:sp>
      <p:grpSp>
        <p:nvGrpSpPr>
          <p:cNvPr id="72" name="组合 71"/>
          <p:cNvGrpSpPr/>
          <p:nvPr/>
        </p:nvGrpSpPr>
        <p:grpSpPr>
          <a:xfrm rot="0">
            <a:off x="3536950" y="1849755"/>
            <a:ext cx="365125" cy="1358900"/>
            <a:chOff x="6214" y="3024"/>
            <a:chExt cx="575" cy="2140"/>
          </a:xfrm>
        </p:grpSpPr>
        <p:sp>
          <p:nvSpPr>
            <p:cNvPr id="73" name="圆角矩形 72"/>
            <p:cNvSpPr/>
            <p:nvPr/>
          </p:nvSpPr>
          <p:spPr>
            <a:xfrm>
              <a:off x="6214" y="3024"/>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5" name="文本框 74"/>
            <p:cNvSpPr txBox="1"/>
            <p:nvPr/>
          </p:nvSpPr>
          <p:spPr>
            <a:xfrm>
              <a:off x="6235" y="3029"/>
              <a:ext cx="554" cy="1490"/>
            </a:xfrm>
            <a:prstGeom prst="rect">
              <a:avLst/>
            </a:prstGeom>
          </p:spPr>
          <p:txBody>
            <a:bodyPr vert="eaVert" wrap="square">
              <a:spAutoFit/>
              <a:extLst>
                <a:ext uri="{4A0BC546-FE56-4ADE-93B0-CB8AF2F6F144}">
                  <wpsdc:textFrameExt xmlns:wpsdc="http://www.wps.cn/officeDocument/2022/drawingmlCustomData" type="text"/>
                </a:ext>
              </a:extLst>
            </a:bodyPr>
            <a:p>
              <a:pPr algn="l">
                <a:defRPr>
                  <a:latin typeface="微软雅黑"/>
                  <a:ea typeface="微软雅黑"/>
                  <a:cs typeface="微软雅黑"/>
                </a:defRPr>
              </a:pPr>
              <a:r>
                <a:rPr lang="zh-CN" altLang="en-US" sz="1100">
                  <a:solidFill>
                    <a:srgbClr val="0042FF"/>
                  </a:solidFill>
                  <a:latin typeface="微软雅黑"/>
                  <a:ea typeface="微软雅黑"/>
                  <a:cs typeface="微软雅黑"/>
                </a:rPr>
                <a:t>人才画像匹配</a:t>
              </a:r>
              <a:endParaRPr lang="zh-CN" altLang="en-US" sz="1100">
                <a:solidFill>
                  <a:srgbClr val="0042FF"/>
                </a:solidFill>
                <a:latin typeface="微软雅黑"/>
                <a:ea typeface="微软雅黑"/>
                <a:cs typeface="微软雅黑"/>
              </a:endParaRPr>
            </a:p>
          </p:txBody>
        </p:sp>
        <p:grpSp>
          <p:nvGrpSpPr>
            <p:cNvPr id="76" name="组合 75"/>
            <p:cNvGrpSpPr/>
            <p:nvPr/>
          </p:nvGrpSpPr>
          <p:grpSpPr>
            <a:xfrm>
              <a:off x="6375" y="4894"/>
              <a:ext cx="274" cy="270"/>
              <a:chOff x="5469" y="4887"/>
              <a:chExt cx="274" cy="270"/>
            </a:xfrm>
          </p:grpSpPr>
          <p:grpSp>
            <p:nvGrpSpPr>
              <p:cNvPr id="77" name="组合 76"/>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78"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9"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80"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cxnSp>
          <p:nvCxnSpPr>
            <p:cNvPr id="81" name="直接连接符 80"/>
            <p:cNvCxnSpPr>
              <a:stCxn id="80" idx="0"/>
              <a:endCxn id="75" idx="2"/>
            </p:cNvCxnSpPr>
            <p:nvPr/>
          </p:nvCxnSpPr>
          <p:spPr>
            <a:xfrm flipV="1">
              <a:off x="6512" y="4519"/>
              <a:ext cx="0" cy="434"/>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grpSp>
      <p:grpSp>
        <p:nvGrpSpPr>
          <p:cNvPr id="84" name="组合 83"/>
          <p:cNvGrpSpPr/>
          <p:nvPr/>
        </p:nvGrpSpPr>
        <p:grpSpPr>
          <a:xfrm rot="0">
            <a:off x="4069715" y="2048510"/>
            <a:ext cx="363855" cy="1290955"/>
            <a:chOff x="6409" y="3226"/>
            <a:chExt cx="573" cy="2033"/>
          </a:xfrm>
        </p:grpSpPr>
        <p:grpSp>
          <p:nvGrpSpPr>
            <p:cNvPr id="21" name="组合 20"/>
            <p:cNvGrpSpPr/>
            <p:nvPr/>
          </p:nvGrpSpPr>
          <p:grpSpPr>
            <a:xfrm rot="0">
              <a:off x="6552" y="4989"/>
              <a:ext cx="274" cy="270"/>
              <a:chOff x="5469" y="4887"/>
              <a:chExt cx="274" cy="270"/>
            </a:xfrm>
          </p:grpSpPr>
          <p:grpSp>
            <p:nvGrpSpPr>
              <p:cNvPr id="22" name="组合 21"/>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23"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7"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28"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cxnSp>
          <p:nvCxnSpPr>
            <p:cNvPr id="57" name="直接连接符 56"/>
            <p:cNvCxnSpPr>
              <a:stCxn id="28" idx="0"/>
            </p:cNvCxnSpPr>
            <p:nvPr/>
          </p:nvCxnSpPr>
          <p:spPr>
            <a:xfrm flipV="1">
              <a:off x="6689" y="4726"/>
              <a:ext cx="0" cy="322"/>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grpSp>
          <p:nvGrpSpPr>
            <p:cNvPr id="83" name="组合 82"/>
            <p:cNvGrpSpPr/>
            <p:nvPr/>
          </p:nvGrpSpPr>
          <p:grpSpPr>
            <a:xfrm>
              <a:off x="6409" y="3226"/>
              <a:ext cx="573" cy="1504"/>
              <a:chOff x="6409" y="3226"/>
              <a:chExt cx="573" cy="1504"/>
            </a:xfrm>
          </p:grpSpPr>
          <p:sp>
            <p:nvSpPr>
              <p:cNvPr id="54" name="圆角矩形 53"/>
              <p:cNvSpPr/>
              <p:nvPr/>
            </p:nvSpPr>
            <p:spPr>
              <a:xfrm>
                <a:off x="6409" y="3226"/>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2" name="文本框 81"/>
              <p:cNvSpPr txBox="1"/>
              <p:nvPr/>
            </p:nvSpPr>
            <p:spPr>
              <a:xfrm>
                <a:off x="6428" y="3229"/>
                <a:ext cx="554" cy="1490"/>
              </a:xfrm>
              <a:prstGeom prst="rect">
                <a:avLst/>
              </a:prstGeom>
            </p:spPr>
            <p:txBody>
              <a:bodyPr vert="eaVert" wrap="square" anchor="ctr" anchorCtr="0">
                <a:sp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100">
                    <a:solidFill>
                      <a:srgbClr val="0042FF"/>
                    </a:solidFill>
                    <a:latin typeface="微软雅黑"/>
                    <a:ea typeface="微软雅黑"/>
                    <a:cs typeface="微软雅黑"/>
                  </a:rPr>
                  <a:t>虚拟仿真实训</a:t>
                </a:r>
                <a:endParaRPr lang="zh-CN" altLang="en-US" sz="1100">
                  <a:solidFill>
                    <a:srgbClr val="0042FF"/>
                  </a:solidFill>
                  <a:latin typeface="微软雅黑"/>
                  <a:ea typeface="微软雅黑"/>
                  <a:cs typeface="微软雅黑"/>
                </a:endParaRPr>
              </a:p>
            </p:txBody>
          </p:sp>
        </p:grpSp>
      </p:grpSp>
      <p:grpSp>
        <p:nvGrpSpPr>
          <p:cNvPr id="85" name="组合 84"/>
          <p:cNvGrpSpPr/>
          <p:nvPr/>
        </p:nvGrpSpPr>
        <p:grpSpPr>
          <a:xfrm rot="0" flipV="1">
            <a:off x="4069715" y="4377690"/>
            <a:ext cx="345440" cy="1290955"/>
            <a:chOff x="6409" y="3226"/>
            <a:chExt cx="544" cy="2033"/>
          </a:xfrm>
        </p:grpSpPr>
        <p:grpSp>
          <p:nvGrpSpPr>
            <p:cNvPr id="86" name="组合 85"/>
            <p:cNvGrpSpPr/>
            <p:nvPr/>
          </p:nvGrpSpPr>
          <p:grpSpPr>
            <a:xfrm rot="0">
              <a:off x="6552" y="4989"/>
              <a:ext cx="274" cy="270"/>
              <a:chOff x="5469" y="4887"/>
              <a:chExt cx="274" cy="270"/>
            </a:xfrm>
          </p:grpSpPr>
          <p:grpSp>
            <p:nvGrpSpPr>
              <p:cNvPr id="87" name="组合 86"/>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88"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89"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91"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cxnSp>
          <p:nvCxnSpPr>
            <p:cNvPr id="92" name="直接连接符 91"/>
            <p:cNvCxnSpPr>
              <a:stCxn id="91" idx="0"/>
            </p:cNvCxnSpPr>
            <p:nvPr/>
          </p:nvCxnSpPr>
          <p:spPr>
            <a:xfrm flipV="1">
              <a:off x="6689" y="4726"/>
              <a:ext cx="0" cy="322"/>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sp>
          <p:nvSpPr>
            <p:cNvPr id="94" name="圆角矩形 93"/>
            <p:cNvSpPr/>
            <p:nvPr/>
          </p:nvSpPr>
          <p:spPr>
            <a:xfrm>
              <a:off x="6409" y="3226"/>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grpSp>
        <p:nvGrpSpPr>
          <p:cNvPr id="96" name="组合 95"/>
          <p:cNvGrpSpPr/>
          <p:nvPr/>
        </p:nvGrpSpPr>
        <p:grpSpPr>
          <a:xfrm rot="0" flipV="1">
            <a:off x="3536950" y="4462780"/>
            <a:ext cx="345440" cy="1358900"/>
            <a:chOff x="6214" y="3024"/>
            <a:chExt cx="544" cy="2140"/>
          </a:xfrm>
        </p:grpSpPr>
        <p:sp>
          <p:nvSpPr>
            <p:cNvPr id="97" name="圆角矩形 96"/>
            <p:cNvSpPr/>
            <p:nvPr/>
          </p:nvSpPr>
          <p:spPr>
            <a:xfrm>
              <a:off x="6214" y="3024"/>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100" name="组合 99"/>
            <p:cNvGrpSpPr/>
            <p:nvPr/>
          </p:nvGrpSpPr>
          <p:grpSpPr>
            <a:xfrm>
              <a:off x="6375" y="4894"/>
              <a:ext cx="274" cy="270"/>
              <a:chOff x="5469" y="4887"/>
              <a:chExt cx="274" cy="270"/>
            </a:xfrm>
          </p:grpSpPr>
          <p:grpSp>
            <p:nvGrpSpPr>
              <p:cNvPr id="101" name="组合 100"/>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102"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3"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105"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4" name="文本框 3"/>
          <p:cNvSpPr txBox="1"/>
          <p:nvPr/>
        </p:nvSpPr>
        <p:spPr>
          <a:xfrm>
            <a:off x="3548380" y="4871720"/>
            <a:ext cx="351790" cy="946150"/>
          </a:xfrm>
          <a:prstGeom prst="rect">
            <a:avLst/>
          </a:prstGeom>
        </p:spPr>
        <p:txBody>
          <a:bodyPr vert="eaVert" wrap="square">
            <a:spAutoFit/>
            <a:extLst>
              <a:ext uri="{4A0BC546-FE56-4ADE-93B0-CB8AF2F6F144}">
                <wpsdc:textFrameExt xmlns:wpsdc="http://www.wps.cn/officeDocument/2022/drawingmlCustomData" type="text"/>
              </a:ext>
            </a:extLst>
          </a:bodyPr>
          <a:p>
            <a:pPr algn="l">
              <a:defRPr>
                <a:latin typeface="微软雅黑"/>
                <a:ea typeface="微软雅黑"/>
                <a:cs typeface="微软雅黑"/>
              </a:defRPr>
            </a:pPr>
            <a:r>
              <a:rPr lang="zh-CN" altLang="en-US" sz="1100">
                <a:solidFill>
                  <a:srgbClr val="0042FF"/>
                </a:solidFill>
                <a:latin typeface="微软雅黑"/>
                <a:ea typeface="微软雅黑"/>
                <a:cs typeface="微软雅黑"/>
              </a:rPr>
              <a:t>双创孵化转化</a:t>
            </a:r>
            <a:endParaRPr lang="zh-CN" altLang="en-US" sz="1100">
              <a:solidFill>
                <a:srgbClr val="0042FF"/>
              </a:solidFill>
              <a:latin typeface="微软雅黑"/>
              <a:ea typeface="微软雅黑"/>
              <a:cs typeface="微软雅黑"/>
            </a:endParaRPr>
          </a:p>
        </p:txBody>
      </p:sp>
      <p:sp>
        <p:nvSpPr>
          <p:cNvPr id="6" name="文本框 5"/>
          <p:cNvSpPr txBox="1"/>
          <p:nvPr/>
        </p:nvSpPr>
        <p:spPr>
          <a:xfrm>
            <a:off x="4084955" y="4709160"/>
            <a:ext cx="351790" cy="946150"/>
          </a:xfrm>
          <a:prstGeom prst="rect">
            <a:avLst/>
          </a:prstGeom>
        </p:spPr>
        <p:txBody>
          <a:bodyPr vert="eaVert" wrap="square">
            <a:spAutoFit/>
            <a:extLst>
              <a:ext uri="{4A0BC546-FE56-4ADE-93B0-CB8AF2F6F144}">
                <wpsdc:textFrameExt xmlns:wpsdc="http://www.wps.cn/officeDocument/2022/drawingmlCustomData" type="text"/>
              </a:ext>
            </a:extLst>
          </a:bodyPr>
          <a:p>
            <a:pPr algn="l">
              <a:defRPr>
                <a:latin typeface="微软雅黑"/>
                <a:ea typeface="微软雅黑"/>
                <a:cs typeface="微软雅黑"/>
              </a:defRPr>
            </a:pPr>
            <a:r>
              <a:rPr lang="zh-CN" altLang="en-US" sz="1100">
                <a:solidFill>
                  <a:srgbClr val="0042FF"/>
                </a:solidFill>
                <a:latin typeface="微软雅黑"/>
                <a:ea typeface="微软雅黑"/>
                <a:cs typeface="微软雅黑"/>
              </a:rPr>
              <a:t>产业教学赋能</a:t>
            </a:r>
            <a:endParaRPr lang="zh-CN" altLang="en-US" sz="1100">
              <a:solidFill>
                <a:srgbClr val="0042FF"/>
              </a:solidFill>
              <a:latin typeface="微软雅黑"/>
              <a:ea typeface="微软雅黑"/>
              <a:cs typeface="微软雅黑"/>
            </a:endParaRPr>
          </a:p>
        </p:txBody>
      </p:sp>
      <p:grpSp>
        <p:nvGrpSpPr>
          <p:cNvPr id="35" name="组合 34"/>
          <p:cNvGrpSpPr/>
          <p:nvPr/>
        </p:nvGrpSpPr>
        <p:grpSpPr>
          <a:xfrm rot="0">
            <a:off x="3216275" y="3292475"/>
            <a:ext cx="173990" cy="171450"/>
            <a:chOff x="5065" y="5185"/>
            <a:chExt cx="274" cy="270"/>
          </a:xfrm>
        </p:grpSpPr>
        <p:grpSp>
          <p:nvGrpSpPr>
            <p:cNvPr id="29" name="组合 28"/>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30"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1"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34"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36" name="组合 35"/>
          <p:cNvGrpSpPr/>
          <p:nvPr/>
        </p:nvGrpSpPr>
        <p:grpSpPr>
          <a:xfrm rot="0">
            <a:off x="3061335" y="3612515"/>
            <a:ext cx="173990" cy="171450"/>
            <a:chOff x="5065" y="5185"/>
            <a:chExt cx="274" cy="270"/>
          </a:xfrm>
        </p:grpSpPr>
        <p:grpSp>
          <p:nvGrpSpPr>
            <p:cNvPr id="37" name="组合 36"/>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38"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9"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40"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41" name="组合 40"/>
          <p:cNvGrpSpPr/>
          <p:nvPr/>
        </p:nvGrpSpPr>
        <p:grpSpPr>
          <a:xfrm rot="0">
            <a:off x="3061335" y="3932555"/>
            <a:ext cx="173990" cy="171450"/>
            <a:chOff x="5065" y="5185"/>
            <a:chExt cx="274" cy="270"/>
          </a:xfrm>
        </p:grpSpPr>
        <p:grpSp>
          <p:nvGrpSpPr>
            <p:cNvPr id="42" name="组合 41"/>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43"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4"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45"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46" name="组合 45"/>
          <p:cNvGrpSpPr/>
          <p:nvPr/>
        </p:nvGrpSpPr>
        <p:grpSpPr>
          <a:xfrm rot="0">
            <a:off x="3250565" y="4252595"/>
            <a:ext cx="173990" cy="171450"/>
            <a:chOff x="5065" y="5185"/>
            <a:chExt cx="274" cy="270"/>
          </a:xfrm>
        </p:grpSpPr>
        <p:grpSp>
          <p:nvGrpSpPr>
            <p:cNvPr id="47" name="组合 46"/>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48"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9"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50"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cxnSp>
        <p:nvCxnSpPr>
          <p:cNvPr id="115" name="直接连接符 114"/>
          <p:cNvCxnSpPr>
            <a:endCxn id="4" idx="0"/>
          </p:cNvCxnSpPr>
          <p:nvPr/>
        </p:nvCxnSpPr>
        <p:spPr>
          <a:xfrm flipH="1">
            <a:off x="3724275" y="4596765"/>
            <a:ext cx="1905" cy="274955"/>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grpSp>
        <p:nvGrpSpPr>
          <p:cNvPr id="51" name="组合 50"/>
          <p:cNvGrpSpPr/>
          <p:nvPr/>
        </p:nvGrpSpPr>
        <p:grpSpPr>
          <a:xfrm rot="0">
            <a:off x="253365" y="2298700"/>
            <a:ext cx="1965960" cy="607060"/>
            <a:chOff x="-4301" y="4291"/>
            <a:chExt cx="4094" cy="1469"/>
          </a:xfrm>
        </p:grpSpPr>
        <p:sp>
          <p:nvSpPr>
            <p:cNvPr id="71" name="PPT13"/>
            <p:cNvSpPr/>
            <p:nvPr>
              <p:custDataLst>
                <p:tags r:id="rId3"/>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90" name="PPT14"/>
            <p:cNvSpPr txBox="1"/>
            <p:nvPr>
              <p:custDataLst>
                <p:tags r:id="rId4"/>
              </p:custDataLst>
            </p:nvPr>
          </p:nvSpPr>
          <p:spPr>
            <a:xfrm>
              <a:off x="-4222" y="4291"/>
              <a:ext cx="2618" cy="1792"/>
            </a:xfrm>
            <a:prstGeom prst="rect">
              <a:avLst/>
            </a:prstGeom>
            <a:noFill/>
          </p:spPr>
          <p:txBody>
            <a:bodyPr wrap="square" rtlCol="0" lIns="0" rIns="0" tIns="0" bIns="0" anchor="t">
              <a:noAutofit/>
            </a:bodyPr>
            <a:lstStyle/>
            <a:p>
              <a:pPr algn="l" defTabSz="457200">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将学校与企业的</a:t>
              </a:r>
              <a:r>
                <a:rPr lang="en-US" altLang="zh-CN" sz="1000" dirty="0">
                  <a:solidFill>
                    <a:srgbClr val="383838"/>
                  </a:solidFill>
                  <a:latin typeface="微软雅黑"/>
                  <a:ea typeface="微软雅黑"/>
                  <a:cs typeface="微软雅黑"/>
                </a:rPr>
                <a:t>MES</a:t>
              </a:r>
              <a:r>
                <a:rPr lang="zh-CN" altLang="en-US" sz="1000" dirty="0">
                  <a:solidFill>
                    <a:srgbClr val="383838"/>
                  </a:solidFill>
                  <a:latin typeface="微软雅黑"/>
                  <a:ea typeface="微软雅黑"/>
                  <a:cs typeface="微软雅黑"/>
                </a:rPr>
                <a:t>、工业互联网平台对接利用数字孪生技术模拟产线调试，实现</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所学即所用</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sp>
          <p:nvSpPr>
            <p:cNvPr id="109" name="PPT15"/>
            <p:cNvSpPr txBox="1"/>
            <p:nvPr>
              <p:custDataLst>
                <p:tags r:id="rId5"/>
              </p:custDataLst>
            </p:nvPr>
          </p:nvSpPr>
          <p:spPr>
            <a:xfrm>
              <a:off x="-1643" y="4441"/>
              <a:ext cx="1263" cy="1189"/>
            </a:xfrm>
            <a:prstGeom prst="rect">
              <a:avLst/>
            </a:prstGeom>
            <a:noFill/>
          </p:spPr>
          <p:txBody>
            <a:bodyPr wrap="square" lIns="0" rIns="0" tIns="0" bIns="0">
              <a:spAutoFit/>
            </a:bodyPr>
            <a:lstStyle/>
            <a:p>
              <a:pPr algn="r">
                <a:defRPr>
                  <a:latin typeface="微软雅黑"/>
                  <a:ea typeface="微软雅黑"/>
                  <a:cs typeface="微软雅黑"/>
                </a:defRPr>
              </a:pPr>
              <a:r>
                <a:rPr lang="zh-CN" sz="1300" b="1" dirty="0">
                  <a:solidFill>
                    <a:srgbClr val="0042FF"/>
                  </a:solidFill>
                  <a:latin typeface="微软雅黑"/>
                  <a:ea typeface="微软雅黑"/>
                  <a:cs typeface="微软雅黑"/>
                </a:rPr>
                <a:t>智能制造</a:t>
              </a:r>
              <a:endParaRPr lang="zh-CN" sz="1300" b="1" dirty="0">
                <a:solidFill>
                  <a:srgbClr val="0042FF"/>
                </a:solidFill>
                <a:latin typeface="微软雅黑"/>
                <a:ea typeface="微软雅黑"/>
                <a:cs typeface="微软雅黑"/>
              </a:endParaRPr>
            </a:p>
          </p:txBody>
        </p:sp>
        <p:cxnSp>
          <p:nvCxnSpPr>
            <p:cNvPr id="144" name="PPT16"/>
            <p:cNvCxnSpPr/>
            <p:nvPr>
              <p:custDataLst>
                <p:tags r:id="rId6"/>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sp>
        <p:nvSpPr>
          <p:cNvPr id="768" name="Line"/>
          <p:cNvSpPr/>
          <p:nvPr/>
        </p:nvSpPr>
        <p:spPr>
          <a:xfrm rot="480000" flipH="1" flipV="1">
            <a:off x="2184400" y="2683510"/>
            <a:ext cx="1128395" cy="580390"/>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16" name="Line"/>
          <p:cNvSpPr/>
          <p:nvPr/>
        </p:nvSpPr>
        <p:spPr>
          <a:xfrm rot="480000" flipH="1" flipV="1">
            <a:off x="2215515" y="3519805"/>
            <a:ext cx="906145" cy="91440"/>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60" name="Line"/>
          <p:cNvSpPr/>
          <p:nvPr/>
        </p:nvSpPr>
        <p:spPr>
          <a:xfrm rot="21120000" flipH="1">
            <a:off x="2221230" y="4086860"/>
            <a:ext cx="902970" cy="112395"/>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61" name="Line"/>
          <p:cNvSpPr/>
          <p:nvPr/>
        </p:nvSpPr>
        <p:spPr>
          <a:xfrm rot="21120000" flipH="1">
            <a:off x="2194560" y="4430395"/>
            <a:ext cx="1187450" cy="626110"/>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grpSp>
        <p:nvGrpSpPr>
          <p:cNvPr id="178" name="组合 177"/>
          <p:cNvGrpSpPr/>
          <p:nvPr/>
        </p:nvGrpSpPr>
        <p:grpSpPr>
          <a:xfrm rot="0">
            <a:off x="253365" y="3140710"/>
            <a:ext cx="1965960" cy="607060"/>
            <a:chOff x="-4301" y="4291"/>
            <a:chExt cx="4094" cy="1469"/>
          </a:xfrm>
        </p:grpSpPr>
        <p:sp>
          <p:nvSpPr>
            <p:cNvPr id="179" name="PPT13"/>
            <p:cNvSpPr/>
            <p:nvPr>
              <p:custDataLst>
                <p:tags r:id="rId7"/>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180" name="PPT14"/>
            <p:cNvSpPr txBox="1"/>
            <p:nvPr>
              <p:custDataLst>
                <p:tags r:id="rId8"/>
              </p:custDataLst>
            </p:nvPr>
          </p:nvSpPr>
          <p:spPr>
            <a:xfrm>
              <a:off x="-4222" y="4162"/>
              <a:ext cx="2618" cy="2136"/>
            </a:xfrm>
            <a:prstGeom prst="rect">
              <a:avLst/>
            </a:prstGeom>
            <a:noFill/>
          </p:spPr>
          <p:txBody>
            <a:bodyPr wrap="square" rtlCol="0" lIns="0" rIns="0" tIns="0" bIns="0" anchor="t">
              <a:noAutofit/>
            </a:bodyPr>
            <a:lstStyle/>
            <a:p>
              <a:pPr algn="l" defTabSz="457200">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整合企业真实店铺、供应链及流量资源，构建</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校中企</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数字化环境，模拟开展直播、短视频、跨境电商运营。</a:t>
              </a:r>
              <a:endParaRPr lang="zh-CN" altLang="en-US" sz="1000" dirty="0">
                <a:solidFill>
                  <a:srgbClr val="383838"/>
                </a:solidFill>
                <a:latin typeface="微软雅黑"/>
                <a:ea typeface="微软雅黑"/>
                <a:cs typeface="微软雅黑"/>
              </a:endParaRPr>
            </a:p>
          </p:txBody>
        </p:sp>
        <p:sp>
          <p:nvSpPr>
            <p:cNvPr id="181" name="PPT15"/>
            <p:cNvSpPr txBox="1"/>
            <p:nvPr>
              <p:custDataLst>
                <p:tags r:id="rId9"/>
              </p:custDataLst>
            </p:nvPr>
          </p:nvSpPr>
          <p:spPr>
            <a:xfrm>
              <a:off x="-1643" y="4441"/>
              <a:ext cx="1263" cy="1189"/>
            </a:xfrm>
            <a:prstGeom prst="rect">
              <a:avLst/>
            </a:prstGeom>
            <a:noFill/>
          </p:spPr>
          <p:txBody>
            <a:bodyPr wrap="square" lIns="0" rIns="0" tIns="0" bIns="0">
              <a:spAutoFit/>
            </a:bodyPr>
            <a:lstStyle/>
            <a:p>
              <a:pPr algn="r">
                <a:defRPr>
                  <a:latin typeface="微软雅黑"/>
                  <a:ea typeface="微软雅黑"/>
                  <a:cs typeface="微软雅黑"/>
                </a:defRPr>
              </a:pPr>
              <a:r>
                <a:rPr lang="zh-CN" altLang="en-US" sz="1300" b="1" dirty="0">
                  <a:solidFill>
                    <a:srgbClr val="0042FF"/>
                  </a:solidFill>
                  <a:latin typeface="微软雅黑"/>
                  <a:ea typeface="微软雅黑"/>
                  <a:cs typeface="微软雅黑"/>
                </a:rPr>
                <a:t>数字商贸</a:t>
              </a:r>
              <a:endParaRPr lang="zh-CN" altLang="en-US" sz="1300" b="1" dirty="0">
                <a:solidFill>
                  <a:srgbClr val="0042FF"/>
                </a:solidFill>
                <a:latin typeface="微软雅黑"/>
                <a:ea typeface="微软雅黑"/>
                <a:cs typeface="微软雅黑"/>
              </a:endParaRPr>
            </a:p>
          </p:txBody>
        </p:sp>
        <p:cxnSp>
          <p:nvCxnSpPr>
            <p:cNvPr id="182" name="PPT16"/>
            <p:cNvCxnSpPr/>
            <p:nvPr>
              <p:custDataLst>
                <p:tags r:id="rId10"/>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grpSp>
        <p:nvGrpSpPr>
          <p:cNvPr id="183" name="组合 182"/>
          <p:cNvGrpSpPr/>
          <p:nvPr/>
        </p:nvGrpSpPr>
        <p:grpSpPr>
          <a:xfrm rot="0">
            <a:off x="253365" y="3982720"/>
            <a:ext cx="1965960" cy="607060"/>
            <a:chOff x="-4301" y="4291"/>
            <a:chExt cx="4094" cy="1469"/>
          </a:xfrm>
        </p:grpSpPr>
        <p:sp>
          <p:nvSpPr>
            <p:cNvPr id="184" name="PPT13"/>
            <p:cNvSpPr/>
            <p:nvPr>
              <p:custDataLst>
                <p:tags r:id="rId11"/>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185" name="PPT14"/>
            <p:cNvSpPr txBox="1"/>
            <p:nvPr>
              <p:custDataLst>
                <p:tags r:id="rId12"/>
              </p:custDataLst>
            </p:nvPr>
          </p:nvSpPr>
          <p:spPr>
            <a:xfrm>
              <a:off x="-4222" y="4291"/>
              <a:ext cx="2618" cy="1792"/>
            </a:xfrm>
            <a:prstGeom prst="rect">
              <a:avLst/>
            </a:prstGeom>
            <a:noFill/>
          </p:spPr>
          <p:txBody>
            <a:bodyPr wrap="square" rtlCol="0" lIns="0" rIns="0" tIns="0" bIns="0" anchor="t">
              <a:noAutofit/>
            </a:bodyPr>
            <a:lstStyle/>
            <a:p>
              <a:pPr algn="l" defTabSz="457200">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学生通过平台为老年人提供远程健康咨询、制定个性化康复计划，利用数据分析工具评估干预效果。</a:t>
              </a:r>
              <a:endParaRPr lang="zh-CN" altLang="en-US" sz="1000" dirty="0">
                <a:solidFill>
                  <a:srgbClr val="383838"/>
                </a:solidFill>
                <a:latin typeface="微软雅黑"/>
                <a:ea typeface="微软雅黑"/>
                <a:cs typeface="微软雅黑"/>
              </a:endParaRPr>
            </a:p>
          </p:txBody>
        </p:sp>
        <p:sp>
          <p:nvSpPr>
            <p:cNvPr id="186" name="PPT15"/>
            <p:cNvSpPr txBox="1"/>
            <p:nvPr>
              <p:custDataLst>
                <p:tags r:id="rId13"/>
              </p:custDataLst>
            </p:nvPr>
          </p:nvSpPr>
          <p:spPr>
            <a:xfrm>
              <a:off x="-1643" y="4441"/>
              <a:ext cx="1263" cy="1189"/>
            </a:xfrm>
            <a:prstGeom prst="rect">
              <a:avLst/>
            </a:prstGeom>
            <a:noFill/>
          </p:spPr>
          <p:txBody>
            <a:bodyPr wrap="square" lIns="0" rIns="0" tIns="0" bIns="0">
              <a:spAutoFit/>
            </a:bodyPr>
            <a:lstStyle/>
            <a:p>
              <a:pPr algn="r">
                <a:defRPr>
                  <a:latin typeface="微软雅黑"/>
                  <a:ea typeface="微软雅黑"/>
                  <a:cs typeface="微软雅黑"/>
                </a:defRPr>
              </a:pPr>
              <a:r>
                <a:rPr lang="zh-CN" sz="1300" b="1" dirty="0">
                  <a:solidFill>
                    <a:srgbClr val="0042FF"/>
                  </a:solidFill>
                  <a:latin typeface="微软雅黑"/>
                  <a:ea typeface="微软雅黑"/>
                  <a:cs typeface="微软雅黑"/>
                </a:rPr>
                <a:t>智慧健康</a:t>
              </a:r>
              <a:endParaRPr lang="zh-CN" sz="1300" b="1" dirty="0">
                <a:solidFill>
                  <a:srgbClr val="0042FF"/>
                </a:solidFill>
                <a:latin typeface="微软雅黑"/>
                <a:ea typeface="微软雅黑"/>
                <a:cs typeface="微软雅黑"/>
              </a:endParaRPr>
            </a:p>
          </p:txBody>
        </p:sp>
        <p:cxnSp>
          <p:nvCxnSpPr>
            <p:cNvPr id="187" name="PPT16"/>
            <p:cNvCxnSpPr/>
            <p:nvPr>
              <p:custDataLst>
                <p:tags r:id="rId14"/>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grpSp>
        <p:nvGrpSpPr>
          <p:cNvPr id="188" name="组合 187"/>
          <p:cNvGrpSpPr/>
          <p:nvPr/>
        </p:nvGrpSpPr>
        <p:grpSpPr>
          <a:xfrm rot="0">
            <a:off x="253365" y="4824730"/>
            <a:ext cx="1965960" cy="607060"/>
            <a:chOff x="-4301" y="4291"/>
            <a:chExt cx="4094" cy="1469"/>
          </a:xfrm>
        </p:grpSpPr>
        <p:sp>
          <p:nvSpPr>
            <p:cNvPr id="189" name="PPT13"/>
            <p:cNvSpPr/>
            <p:nvPr>
              <p:custDataLst>
                <p:tags r:id="rId15"/>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190" name="PPT14"/>
            <p:cNvSpPr txBox="1"/>
            <p:nvPr>
              <p:custDataLst>
                <p:tags r:id="rId16"/>
              </p:custDataLst>
            </p:nvPr>
          </p:nvSpPr>
          <p:spPr>
            <a:xfrm>
              <a:off x="-4222" y="4291"/>
              <a:ext cx="2618" cy="2136"/>
            </a:xfrm>
            <a:prstGeom prst="rect">
              <a:avLst/>
            </a:prstGeom>
            <a:noFill/>
          </p:spPr>
          <p:txBody>
            <a:bodyPr wrap="square" rtlCol="0" lIns="0" rIns="0" tIns="0" bIns="0" anchor="t">
              <a:noAutofit/>
            </a:bodyPr>
            <a:lstStyle/>
            <a:p>
              <a:pPr algn="l" defTabSz="457200">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结合文旅景区数字化需求，利用</a:t>
              </a:r>
              <a:r>
                <a:rPr lang="en-US" altLang="zh-CN" sz="1000" dirty="0">
                  <a:solidFill>
                    <a:srgbClr val="383838"/>
                  </a:solidFill>
                  <a:latin typeface="微软雅黑"/>
                  <a:ea typeface="微软雅黑"/>
                  <a:cs typeface="微软雅黑"/>
                </a:rPr>
                <a:t>VR/AR</a:t>
              </a:r>
              <a:r>
                <a:rPr lang="zh-CN" altLang="en-US" sz="1000" dirty="0">
                  <a:solidFill>
                    <a:srgbClr val="383838"/>
                  </a:solidFill>
                  <a:latin typeface="微软雅黑"/>
                  <a:ea typeface="微软雅黑"/>
                  <a:cs typeface="微软雅黑"/>
                </a:rPr>
                <a:t>、数字人技术，让学生参与景区的虚拟导游设计及新媒体推广活动。</a:t>
              </a:r>
              <a:endParaRPr lang="zh-CN" altLang="en-US" sz="1000" dirty="0">
                <a:solidFill>
                  <a:srgbClr val="383838"/>
                </a:solidFill>
                <a:latin typeface="微软雅黑"/>
                <a:ea typeface="微软雅黑"/>
                <a:cs typeface="微软雅黑"/>
              </a:endParaRPr>
            </a:p>
          </p:txBody>
        </p:sp>
        <p:sp>
          <p:nvSpPr>
            <p:cNvPr id="191" name="PPT15"/>
            <p:cNvSpPr txBox="1"/>
            <p:nvPr>
              <p:custDataLst>
                <p:tags r:id="rId17"/>
              </p:custDataLst>
            </p:nvPr>
          </p:nvSpPr>
          <p:spPr>
            <a:xfrm>
              <a:off x="-1643" y="4441"/>
              <a:ext cx="1263" cy="1189"/>
            </a:xfrm>
            <a:prstGeom prst="rect">
              <a:avLst/>
            </a:prstGeom>
            <a:noFill/>
          </p:spPr>
          <p:txBody>
            <a:bodyPr wrap="square" lIns="0" rIns="0" tIns="0" bIns="0">
              <a:spAutoFit/>
            </a:bodyPr>
            <a:lstStyle/>
            <a:p>
              <a:pPr algn="r">
                <a:defRPr>
                  <a:latin typeface="微软雅黑"/>
                  <a:ea typeface="微软雅黑"/>
                  <a:cs typeface="微软雅黑"/>
                </a:defRPr>
              </a:pPr>
              <a:r>
                <a:rPr lang="zh-CN" sz="1300" b="1" dirty="0">
                  <a:solidFill>
                    <a:srgbClr val="0042FF"/>
                  </a:solidFill>
                  <a:latin typeface="微软雅黑"/>
                  <a:ea typeface="微软雅黑"/>
                  <a:cs typeface="微软雅黑"/>
                </a:rPr>
                <a:t>数字文旅</a:t>
              </a:r>
              <a:endParaRPr lang="zh-CN" sz="1300" b="1" dirty="0">
                <a:solidFill>
                  <a:srgbClr val="0042FF"/>
                </a:solidFill>
                <a:latin typeface="微软雅黑"/>
                <a:ea typeface="微软雅黑"/>
                <a:cs typeface="微软雅黑"/>
              </a:endParaRPr>
            </a:p>
          </p:txBody>
        </p:sp>
        <p:cxnSp>
          <p:nvCxnSpPr>
            <p:cNvPr id="192" name="PPT16"/>
            <p:cNvCxnSpPr/>
            <p:nvPr>
              <p:custDataLst>
                <p:tags r:id="rId18"/>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grpSp>
        <p:nvGrpSpPr>
          <p:cNvPr id="279" name="组合 278"/>
          <p:cNvGrpSpPr/>
          <p:nvPr/>
        </p:nvGrpSpPr>
        <p:grpSpPr>
          <a:xfrm flipH="1">
            <a:off x="7560310" y="233680"/>
            <a:ext cx="4395470" cy="7095628"/>
            <a:chOff x="-5891" y="8917"/>
            <a:chExt cx="6922" cy="11174"/>
          </a:xfrm>
        </p:grpSpPr>
        <p:sp>
          <p:nvSpPr>
            <p:cNvPr id="193" name="三角形 98"/>
            <p:cNvSpPr/>
            <p:nvPr/>
          </p:nvSpPr>
          <p:spPr>
            <a:xfrm rot="5400000" flipH="1">
              <a:off x="-8043" y="11359"/>
              <a:ext cx="10884" cy="6581"/>
            </a:xfrm>
            <a:prstGeom prst="triangle">
              <a:avLst/>
            </a:prstGeom>
            <a:gradFill flip="none" rotWithShape="1">
              <a:gsLst>
                <a:gs pos="19000">
                  <a:srgbClr val="E6E6E6">
                    <a:alpha val="0"/>
                  </a:srgbClr>
                </a:gs>
                <a:gs pos="100000">
                  <a:srgbClr val="E6E6E6"/>
                </a:gs>
              </a:gsLst>
              <a:lin ang="16200000" scaled="1"/>
            </a:gradFill>
            <a:ln w="19050" cap="flat">
              <a:gradFill flip="none" rotWithShape="1">
                <a:gsLst>
                  <a:gs pos="0">
                    <a:srgbClr val="E6E6E6">
                      <a:alpha val="0"/>
                    </a:srgbClr>
                  </a:gs>
                  <a:gs pos="100000">
                    <a:srgbClr val="3368FF"/>
                  </a:gs>
                </a:gsLst>
                <a:lin ang="16200000" scaled="0"/>
                <a:tileRect/>
              </a:gradFill>
              <a:prstDash val="solid"/>
              <a:miter/>
            </a:ln>
            <a:effectLst/>
          </p:spPr>
          <p:txBody>
            <a:bodyPr rot="0" spcFirstLastPara="0" vertOverflow="overflow" horzOverflow="overflow" vert="horz" wrap="square" lIns="91440" tIns="45720" rIns="91440" bIns="45720" numCol="1" spcCol="0" rtlCol="0" fromWordArt="0" anchor="ctr" anchorCtr="0" forceAA="0" compatLnSpc="1">
              <a:noAutofit/>
            </a:bodyPr>
            <a:lstStyle/>
            <a:p>
              <a:pPr lvl="0" algn="l">
                <a:buClrTx/>
                <a:buSzTx/>
                <a:buFontTx/>
                <a:defRPr>
                  <a:latin typeface="微软雅黑"/>
                  <a:ea typeface="微软雅黑"/>
                  <a:cs typeface="微软雅黑"/>
                </a:defRPr>
              </a:pPr>
              <a:endParaRPr lang="zh-CN" altLang="en-US" sz="1600" dirty="0">
                <a:cs typeface="微软雅黑"/>
                <a:sym typeface="微软雅黑"/>
                <a:latin typeface="微软雅黑"/>
                <a:ea typeface="微软雅黑"/>
              </a:endParaRPr>
            </a:p>
          </p:txBody>
        </p:sp>
        <p:pic>
          <p:nvPicPr>
            <p:cNvPr id="194" name="图片 193" descr="屋顶资源管理"/>
            <p:cNvPicPr>
              <a:picLocks noChangeAspect="1"/>
            </p:cNvPicPr>
            <p:nvPr/>
          </p:nvPicPr>
          <p:blipFill>
            <a:blip/>
            <a:stretch>
              <a:fillRect/>
            </a:stretch>
          </p:blipFill>
          <p:spPr>
            <a:xfrm>
              <a:off x="-5599" y="8917"/>
              <a:ext cx="866" cy="866"/>
            </a:xfrm>
            <a:prstGeom prst="rect">
              <a:avLst/>
            </a:prstGeom>
          </p:spPr>
        </p:pic>
        <p:sp>
          <p:nvSpPr>
            <p:cNvPr id="195" name="椭圆 194"/>
            <p:cNvSpPr/>
            <p:nvPr/>
          </p:nvSpPr>
          <p:spPr>
            <a:xfrm>
              <a:off x="-929" y="13856"/>
              <a:ext cx="1664" cy="1664"/>
            </a:xfrm>
            <a:prstGeom prst="ellipse">
              <a:avLst/>
            </a:prstGeom>
            <a:gradFill flip="none" rotWithShape="1">
              <a:gsLst>
                <a:gs pos="0">
                  <a:srgbClr val="3368FF"/>
                </a:gs>
                <a:gs pos="100000">
                  <a:srgbClr val="0042FF"/>
                </a:gs>
              </a:gsLst>
              <a:lin ang="0"/>
            </a:gra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96" name="椭圆 195"/>
            <p:cNvSpPr/>
            <p:nvPr/>
          </p:nvSpPr>
          <p:spPr>
            <a:xfrm>
              <a:off x="-1232" y="13557"/>
              <a:ext cx="2263" cy="2263"/>
            </a:xfrm>
            <a:prstGeom prst="ellipse">
              <a:avLst/>
            </a:prstGeom>
            <a:noFill/>
            <a:ln>
              <a:gradFill>
                <a:gsLst>
                  <a:gs pos="0">
                    <a:srgbClr val="668EFF"/>
                  </a:gs>
                  <a:gs pos="100000">
                    <a:srgbClr val="3368FF"/>
                  </a:gs>
                </a:gsLst>
                <a:lin ang="0" scaled="1"/>
              </a:gra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197" name="显眼包PPT2-5"/>
            <p:cNvSpPr txBox="1"/>
            <p:nvPr/>
          </p:nvSpPr>
          <p:spPr>
            <a:xfrm flipH="1">
              <a:off x="-745" y="14319"/>
              <a:ext cx="1280" cy="775"/>
            </a:xfrm>
            <a:prstGeom prst="rect">
              <a:avLst/>
            </a:prstGeom>
            <a:noFill/>
          </p:spPr>
          <p:txBody>
            <a:bodyPr wrap="none" lIns="0" tIns="0" rIns="0" bIns="0" rtlCol="0">
              <a:spAutoFit/>
            </a:bodyPr>
            <a:lstStyle/>
            <a:p>
              <a:pPr algn="ctr">
                <a:defRPr>
                  <a:solidFill>
                    <a:srgbClr val="383838"/>
                  </a:solidFill>
                  <a:latin typeface="微软雅黑"/>
                  <a:ea typeface="微软雅黑"/>
                  <a:cs typeface="微软雅黑"/>
                </a:defRPr>
              </a:pPr>
              <a:r>
                <a:rPr lang="zh-CN" altLang="en-US" sz="1600" b="1" dirty="0">
                  <a:solidFill>
                    <a:srgbClr val="383838"/>
                  </a:solidFill>
                  <a:effectLst/>
                  <a:latin typeface="微软雅黑"/>
                  <a:ea typeface="微软雅黑"/>
                  <a:cs typeface="微软雅黑"/>
                </a:rPr>
                <a:t>产业平台</a:t>
              </a:r>
              <a:endParaRPr lang="zh-CN" altLang="en-US" sz="1600" b="1" dirty="0">
                <a:solidFill>
                  <a:srgbClr val="383838"/>
                </a:solidFill>
                <a:effectLst/>
                <a:latin typeface="微软雅黑"/>
                <a:ea typeface="微软雅黑"/>
                <a:cs typeface="微软雅黑"/>
              </a:endParaRPr>
            </a:p>
            <a:p>
              <a:pPr algn="ctr">
                <a:defRPr>
                  <a:solidFill>
                    <a:srgbClr val="383838"/>
                  </a:solidFill>
                  <a:latin typeface="微软雅黑"/>
                  <a:ea typeface="微软雅黑"/>
                  <a:cs typeface="微软雅黑"/>
                </a:defRPr>
              </a:pPr>
              <a:r>
                <a:rPr lang="zh-CN" altLang="en-US" sz="1600" b="1" dirty="0">
                  <a:solidFill>
                    <a:srgbClr val="383838"/>
                  </a:solidFill>
                  <a:effectLst/>
                  <a:latin typeface="微软雅黑"/>
                  <a:ea typeface="微软雅黑"/>
                  <a:cs typeface="微软雅黑"/>
                </a:rPr>
                <a:t>融合</a:t>
              </a:r>
              <a:endParaRPr lang="zh-CN" altLang="en-US" sz="1600" b="1" dirty="0">
                <a:solidFill>
                  <a:srgbClr val="383838"/>
                </a:solidFill>
                <a:effectLst/>
                <a:latin typeface="微软雅黑"/>
                <a:ea typeface="微软雅黑"/>
                <a:cs typeface="微软雅黑"/>
              </a:endParaRPr>
            </a:p>
          </p:txBody>
        </p:sp>
        <p:grpSp>
          <p:nvGrpSpPr>
            <p:cNvPr id="207" name="组合 206"/>
            <p:cNvGrpSpPr/>
            <p:nvPr/>
          </p:nvGrpSpPr>
          <p:grpSpPr>
            <a:xfrm>
              <a:off x="250" y="11850"/>
              <a:ext cx="544" cy="2033"/>
              <a:chOff x="6409" y="3226"/>
              <a:chExt cx="544" cy="2033"/>
            </a:xfrm>
          </p:grpSpPr>
          <p:grpSp>
            <p:nvGrpSpPr>
              <p:cNvPr id="208" name="组合 207"/>
              <p:cNvGrpSpPr/>
              <p:nvPr/>
            </p:nvGrpSpPr>
            <p:grpSpPr>
              <a:xfrm rot="0">
                <a:off x="6552" y="4989"/>
                <a:ext cx="274" cy="270"/>
                <a:chOff x="5469" y="4887"/>
                <a:chExt cx="274" cy="270"/>
              </a:xfrm>
            </p:grpSpPr>
            <p:grpSp>
              <p:nvGrpSpPr>
                <p:cNvPr id="209" name="组合 208"/>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210"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11"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12"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cxnSp>
            <p:nvCxnSpPr>
              <p:cNvPr id="213" name="直接连接符 212"/>
              <p:cNvCxnSpPr>
                <a:stCxn id="212" idx="0"/>
              </p:cNvCxnSpPr>
              <p:nvPr/>
            </p:nvCxnSpPr>
            <p:spPr>
              <a:xfrm flipV="1">
                <a:off x="6689" y="4726"/>
                <a:ext cx="0" cy="322"/>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sp>
            <p:nvSpPr>
              <p:cNvPr id="215" name="圆角矩形 214"/>
              <p:cNvSpPr/>
              <p:nvPr/>
            </p:nvSpPr>
            <p:spPr>
              <a:xfrm>
                <a:off x="6409" y="3226"/>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grpSp>
          <p:nvGrpSpPr>
            <p:cNvPr id="217" name="组合 216"/>
            <p:cNvGrpSpPr/>
            <p:nvPr/>
          </p:nvGrpSpPr>
          <p:grpSpPr>
            <a:xfrm flipV="1">
              <a:off x="250" y="15518"/>
              <a:ext cx="544" cy="2033"/>
              <a:chOff x="6409" y="3226"/>
              <a:chExt cx="544" cy="2033"/>
            </a:xfrm>
          </p:grpSpPr>
          <p:grpSp>
            <p:nvGrpSpPr>
              <p:cNvPr id="218" name="组合 217"/>
              <p:cNvGrpSpPr/>
              <p:nvPr/>
            </p:nvGrpSpPr>
            <p:grpSpPr>
              <a:xfrm rot="0">
                <a:off x="6552" y="4989"/>
                <a:ext cx="274" cy="270"/>
                <a:chOff x="5469" y="4887"/>
                <a:chExt cx="274" cy="270"/>
              </a:xfrm>
            </p:grpSpPr>
            <p:grpSp>
              <p:nvGrpSpPr>
                <p:cNvPr id="219" name="组合 218"/>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220"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21"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22"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cxnSp>
            <p:nvCxnSpPr>
              <p:cNvPr id="223" name="直接连接符 222"/>
              <p:cNvCxnSpPr>
                <a:stCxn id="222" idx="0"/>
              </p:cNvCxnSpPr>
              <p:nvPr/>
            </p:nvCxnSpPr>
            <p:spPr>
              <a:xfrm flipV="1">
                <a:off x="6689" y="4726"/>
                <a:ext cx="0" cy="322"/>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sp>
            <p:nvSpPr>
              <p:cNvPr id="224" name="圆角矩形 223"/>
              <p:cNvSpPr/>
              <p:nvPr/>
            </p:nvSpPr>
            <p:spPr>
              <a:xfrm>
                <a:off x="6409" y="3226"/>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grpSp>
          <p:nvGrpSpPr>
            <p:cNvPr id="225" name="组合 224"/>
            <p:cNvGrpSpPr/>
            <p:nvPr/>
          </p:nvGrpSpPr>
          <p:grpSpPr>
            <a:xfrm flipV="1">
              <a:off x="-589" y="15652"/>
              <a:ext cx="544" cy="2140"/>
              <a:chOff x="6214" y="3024"/>
              <a:chExt cx="544" cy="2140"/>
            </a:xfrm>
          </p:grpSpPr>
          <p:sp>
            <p:nvSpPr>
              <p:cNvPr id="226" name="圆角矩形 225"/>
              <p:cNvSpPr/>
              <p:nvPr/>
            </p:nvSpPr>
            <p:spPr>
              <a:xfrm>
                <a:off x="6214" y="3024"/>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227" name="组合 226"/>
              <p:cNvGrpSpPr/>
              <p:nvPr/>
            </p:nvGrpSpPr>
            <p:grpSpPr>
              <a:xfrm>
                <a:off x="6375" y="4894"/>
                <a:ext cx="274" cy="270"/>
                <a:chOff x="5469" y="4887"/>
                <a:chExt cx="274" cy="270"/>
              </a:xfrm>
            </p:grpSpPr>
            <p:grpSp>
              <p:nvGrpSpPr>
                <p:cNvPr id="228" name="组合 227"/>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229"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30"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31"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232" name="文本框 231"/>
            <p:cNvSpPr txBox="1"/>
            <p:nvPr/>
          </p:nvSpPr>
          <p:spPr>
            <a:xfrm>
              <a:off x="-619" y="16296"/>
              <a:ext cx="554" cy="1490"/>
            </a:xfrm>
            <a:prstGeom prst="rect">
              <a:avLst/>
            </a:prstGeom>
          </p:spPr>
          <p:txBody>
            <a:bodyPr vert="eaVert" wrap="square">
              <a:spAutoFit/>
              <a:extLst>
                <a:ext uri="{4A0BC546-FE56-4ADE-93B0-CB8AF2F6F144}">
                  <wpsdc:textFrameExt xmlns:wpsdc="http://www.wps.cn/officeDocument/2022/drawingmlCustomData" type="text"/>
                </a:ext>
              </a:extLst>
            </a:bodyPr>
            <a:p>
              <a:pPr algn="l">
                <a:defRPr>
                  <a:latin typeface="微软雅黑"/>
                  <a:ea typeface="微软雅黑"/>
                  <a:cs typeface="微软雅黑"/>
                </a:defRPr>
              </a:pPr>
              <a:r>
                <a:rPr lang="zh-CN" altLang="en-US" sz="1100">
                  <a:solidFill>
                    <a:srgbClr val="0042FF"/>
                  </a:solidFill>
                  <a:latin typeface="微软雅黑"/>
                  <a:ea typeface="微软雅黑"/>
                  <a:cs typeface="微软雅黑"/>
                </a:rPr>
                <a:t>产业标准认证</a:t>
              </a:r>
              <a:endParaRPr lang="zh-CN" altLang="en-US" sz="1100">
                <a:solidFill>
                  <a:srgbClr val="0042FF"/>
                </a:solidFill>
                <a:latin typeface="微软雅黑"/>
                <a:ea typeface="微软雅黑"/>
                <a:cs typeface="微软雅黑"/>
              </a:endParaRPr>
            </a:p>
          </p:txBody>
        </p:sp>
        <p:sp>
          <p:nvSpPr>
            <p:cNvPr id="233" name="文本框 232"/>
            <p:cNvSpPr txBox="1"/>
            <p:nvPr/>
          </p:nvSpPr>
          <p:spPr>
            <a:xfrm>
              <a:off x="218" y="16056"/>
              <a:ext cx="554" cy="1490"/>
            </a:xfrm>
            <a:prstGeom prst="rect">
              <a:avLst/>
            </a:prstGeom>
          </p:spPr>
          <p:txBody>
            <a:bodyPr vert="eaVert" wrap="square">
              <a:spAutoFit/>
              <a:extLst>
                <a:ext uri="{4A0BC546-FE56-4ADE-93B0-CB8AF2F6F144}">
                  <wpsdc:textFrameExt xmlns:wpsdc="http://www.wps.cn/officeDocument/2022/drawingmlCustomData" type="text"/>
                </a:ext>
              </a:extLst>
            </a:bodyPr>
            <a:p>
              <a:pPr algn="l">
                <a:defRPr>
                  <a:latin typeface="微软雅黑"/>
                  <a:ea typeface="微软雅黑"/>
                  <a:cs typeface="微软雅黑"/>
                </a:defRPr>
              </a:pPr>
              <a:r>
                <a:rPr lang="zh-CN" altLang="en-US" sz="1100">
                  <a:solidFill>
                    <a:srgbClr val="0042FF"/>
                  </a:solidFill>
                  <a:latin typeface="微软雅黑"/>
                  <a:ea typeface="微软雅黑"/>
                  <a:cs typeface="微软雅黑"/>
                </a:rPr>
                <a:t>项目众包交付</a:t>
              </a:r>
              <a:endParaRPr lang="zh-CN" altLang="en-US" sz="1100">
                <a:solidFill>
                  <a:srgbClr val="0042FF"/>
                </a:solidFill>
                <a:latin typeface="微软雅黑"/>
                <a:ea typeface="微软雅黑"/>
                <a:cs typeface="微软雅黑"/>
              </a:endParaRPr>
            </a:p>
          </p:txBody>
        </p:sp>
        <p:grpSp>
          <p:nvGrpSpPr>
            <p:cNvPr id="234" name="组合 233"/>
            <p:cNvGrpSpPr/>
            <p:nvPr/>
          </p:nvGrpSpPr>
          <p:grpSpPr>
            <a:xfrm>
              <a:off x="-1094" y="13809"/>
              <a:ext cx="274" cy="270"/>
              <a:chOff x="5065" y="5185"/>
              <a:chExt cx="274" cy="270"/>
            </a:xfrm>
          </p:grpSpPr>
          <p:grpSp>
            <p:nvGrpSpPr>
              <p:cNvPr id="235" name="组合 234"/>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236"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37"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38"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239" name="组合 238"/>
            <p:cNvGrpSpPr/>
            <p:nvPr/>
          </p:nvGrpSpPr>
          <p:grpSpPr>
            <a:xfrm>
              <a:off x="-1338" y="14313"/>
              <a:ext cx="274" cy="270"/>
              <a:chOff x="5065" y="5185"/>
              <a:chExt cx="274" cy="270"/>
            </a:xfrm>
          </p:grpSpPr>
          <p:grpSp>
            <p:nvGrpSpPr>
              <p:cNvPr id="240" name="组合 239"/>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241"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42"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43"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244" name="组合 243"/>
            <p:cNvGrpSpPr/>
            <p:nvPr/>
          </p:nvGrpSpPr>
          <p:grpSpPr>
            <a:xfrm>
              <a:off x="-1338" y="14817"/>
              <a:ext cx="274" cy="270"/>
              <a:chOff x="5065" y="5185"/>
              <a:chExt cx="274" cy="270"/>
            </a:xfrm>
          </p:grpSpPr>
          <p:grpSp>
            <p:nvGrpSpPr>
              <p:cNvPr id="245" name="组合 244"/>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246"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47"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48"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249" name="组合 248"/>
            <p:cNvGrpSpPr/>
            <p:nvPr/>
          </p:nvGrpSpPr>
          <p:grpSpPr>
            <a:xfrm>
              <a:off x="-1040" y="15321"/>
              <a:ext cx="274" cy="270"/>
              <a:chOff x="5065" y="5185"/>
              <a:chExt cx="274" cy="270"/>
            </a:xfrm>
          </p:grpSpPr>
          <p:grpSp>
            <p:nvGrpSpPr>
              <p:cNvPr id="250" name="组合 249"/>
              <p:cNvGrpSpPr/>
              <p:nvPr/>
            </p:nvGrpSpPr>
            <p:grpSpPr>
              <a:xfrm rot="0">
                <a:off x="5065" y="5185"/>
                <a:ext cx="274" cy="270"/>
                <a:chOff x="2253649" y="5484016"/>
                <a:chExt cx="1142158" cy="1124265"/>
              </a:xfrm>
              <a:effectLst>
                <a:outerShdw blurRad="190500" dist="88900" dir="5400000" algn="t" rotWithShape="0">
                  <a:srgbClr val="3368FF">
                    <a:alpha val="32000"/>
                  </a:srgbClr>
                </a:outerShdw>
              </a:effectLst>
            </p:grpSpPr>
            <p:sp>
              <p:nvSpPr>
                <p:cNvPr id="251"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52" name="显眼包PPT-2"/>
                <p:cNvSpPr/>
                <p:nvPr/>
              </p:nvSpPr>
              <p:spPr>
                <a:xfrm>
                  <a:off x="2501202" y="5727682"/>
                  <a:ext cx="647053" cy="636929"/>
                </a:xfrm>
                <a:prstGeom prst="ellipse">
                  <a:avLst/>
                </a:prstGeom>
                <a:gradFill flip="none" rotWithShape="1">
                  <a:gsLst>
                    <a:gs pos="89000">
                      <a:srgbClr val="0042FF"/>
                    </a:gs>
                    <a:gs pos="49000">
                      <a:srgbClr val="3368FF"/>
                    </a:gs>
                    <a:gs pos="9000">
                      <a:srgbClr val="E6E6E6">
                        <a:alpha val="300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rPr>
                    <a:t>.</a:t>
                  </a:r>
                  <a:endParaRPr kumimoji="0" lang="en-US" altLang="zh-CN"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53" name="显眼包PPT-3"/>
              <p:cNvSpPr/>
              <p:nvPr/>
            </p:nvSpPr>
            <p:spPr>
              <a:xfrm>
                <a:off x="5124" y="5244"/>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cxnSp>
          <p:nvCxnSpPr>
            <p:cNvPr id="254" name="直接连接符 253"/>
            <p:cNvCxnSpPr>
              <a:endCxn id="232" idx="0"/>
            </p:cNvCxnSpPr>
            <p:nvPr/>
          </p:nvCxnSpPr>
          <p:spPr>
            <a:xfrm flipH="1">
              <a:off x="-342" y="15863"/>
              <a:ext cx="3" cy="433"/>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grpSp>
          <p:nvGrpSpPr>
            <p:cNvPr id="255" name="组合 254"/>
            <p:cNvGrpSpPr/>
            <p:nvPr/>
          </p:nvGrpSpPr>
          <p:grpSpPr>
            <a:xfrm rot="0">
              <a:off x="-5760" y="12244"/>
              <a:ext cx="3096" cy="956"/>
              <a:chOff x="-4301" y="4291"/>
              <a:chExt cx="4094" cy="1469"/>
            </a:xfrm>
          </p:grpSpPr>
          <p:sp>
            <p:nvSpPr>
              <p:cNvPr id="256" name="PPT13"/>
              <p:cNvSpPr/>
              <p:nvPr>
                <p:custDataLst>
                  <p:tags r:id="rId19"/>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257" name="PPT14"/>
              <p:cNvSpPr txBox="1"/>
              <p:nvPr>
                <p:custDataLst>
                  <p:tags r:id="rId20"/>
                </p:custDataLst>
              </p:nvPr>
            </p:nvSpPr>
            <p:spPr>
              <a:xfrm>
                <a:off x="-4222" y="4162"/>
                <a:ext cx="2618" cy="2136"/>
              </a:xfrm>
              <a:prstGeom prst="rect">
                <a:avLst/>
              </a:prstGeom>
              <a:noFill/>
            </p:spPr>
            <p:txBody>
              <a:bodyPr wrap="square" rtlCol="0" lIns="0" rIns="0" tIns="0" bIns="0" anchor="t">
                <a:noAutofit/>
              </a:bodyPr>
              <a:lstStyle/>
              <a:p>
                <a:pPr algn="l" defTabSz="457200">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学校数字工厂与企业的实际产线数据互通，学生通过仿真优化并</a:t>
                </a:r>
                <a:r>
                  <a:rPr lang="en-US" altLang="zh-CN" sz="1000" dirty="0">
                    <a:solidFill>
                      <a:srgbClr val="383838"/>
                    </a:solidFill>
                    <a:latin typeface="微软雅黑"/>
                    <a:ea typeface="微软雅黑"/>
                    <a:cs typeface="微软雅黑"/>
                  </a:rPr>
                  <a:t>f</a:t>
                </a:r>
                <a:r>
                  <a:rPr lang="zh-CN" altLang="en-US" sz="1000" dirty="0">
                    <a:solidFill>
                      <a:srgbClr val="383838"/>
                    </a:solidFill>
                    <a:latin typeface="微软雅黑"/>
                    <a:ea typeface="微软雅黑"/>
                    <a:cs typeface="微软雅黑"/>
                  </a:rPr>
                  <a:t>返回企业，形成</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教学</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研发</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生产</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闭环。</a:t>
                </a:r>
                <a:endParaRPr lang="zh-CN" altLang="en-US" sz="1000" dirty="0">
                  <a:solidFill>
                    <a:srgbClr val="383838"/>
                  </a:solidFill>
                  <a:latin typeface="微软雅黑"/>
                  <a:ea typeface="微软雅黑"/>
                  <a:cs typeface="微软雅黑"/>
                </a:endParaRPr>
              </a:p>
            </p:txBody>
          </p:sp>
          <p:sp>
            <p:nvSpPr>
              <p:cNvPr id="258" name="PPT15"/>
              <p:cNvSpPr txBox="1"/>
              <p:nvPr>
                <p:custDataLst>
                  <p:tags r:id="rId21"/>
                </p:custDataLst>
              </p:nvPr>
            </p:nvSpPr>
            <p:spPr>
              <a:xfrm>
                <a:off x="-1643" y="4441"/>
                <a:ext cx="1263" cy="1189"/>
              </a:xfrm>
              <a:prstGeom prst="rect">
                <a:avLst/>
              </a:prstGeom>
              <a:noFill/>
            </p:spPr>
            <p:txBody>
              <a:bodyPr wrap="square" lIns="0" rIns="0" tIns="0" bIns="0">
                <a:spAutoFit/>
              </a:bodyPr>
              <a:lstStyle/>
              <a:p>
                <a:pPr algn="l">
                  <a:defRPr>
                    <a:latin typeface="微软雅黑"/>
                    <a:ea typeface="微软雅黑"/>
                    <a:cs typeface="微软雅黑"/>
                  </a:defRPr>
                </a:pPr>
                <a:r>
                  <a:rPr lang="zh-CN" sz="1300" b="1" dirty="0">
                    <a:solidFill>
                      <a:srgbClr val="0042FF"/>
                    </a:solidFill>
                    <a:latin typeface="微软雅黑"/>
                    <a:ea typeface="微软雅黑"/>
                    <a:cs typeface="微软雅黑"/>
                  </a:rPr>
                  <a:t>智能制造</a:t>
                </a:r>
                <a:endParaRPr lang="zh-CN" sz="1300" b="1" dirty="0">
                  <a:solidFill>
                    <a:srgbClr val="0042FF"/>
                  </a:solidFill>
                  <a:latin typeface="微软雅黑"/>
                  <a:ea typeface="微软雅黑"/>
                  <a:cs typeface="微软雅黑"/>
                </a:endParaRPr>
              </a:p>
            </p:txBody>
          </p:sp>
          <p:cxnSp>
            <p:nvCxnSpPr>
              <p:cNvPr id="259" name="PPT16"/>
              <p:cNvCxnSpPr/>
              <p:nvPr>
                <p:custDataLst>
                  <p:tags r:id="rId22"/>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sp>
          <p:nvSpPr>
            <p:cNvPr id="260" name="Line"/>
            <p:cNvSpPr/>
            <p:nvPr/>
          </p:nvSpPr>
          <p:spPr>
            <a:xfrm rot="480000" flipH="1" flipV="1">
              <a:off x="-2719" y="12850"/>
              <a:ext cx="1777" cy="914"/>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61" name="Line"/>
            <p:cNvSpPr/>
            <p:nvPr/>
          </p:nvSpPr>
          <p:spPr>
            <a:xfrm rot="480000" flipH="1" flipV="1">
              <a:off x="-2670" y="14167"/>
              <a:ext cx="1427" cy="144"/>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62" name="Line"/>
            <p:cNvSpPr/>
            <p:nvPr/>
          </p:nvSpPr>
          <p:spPr>
            <a:xfrm rot="21120000" flipH="1">
              <a:off x="-2661" y="15060"/>
              <a:ext cx="1422" cy="177"/>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63" name="Line"/>
            <p:cNvSpPr/>
            <p:nvPr/>
          </p:nvSpPr>
          <p:spPr>
            <a:xfrm rot="21120000" flipH="1">
              <a:off x="-2703" y="15601"/>
              <a:ext cx="1870" cy="986"/>
            </a:xfrm>
            <a:prstGeom prst="line">
              <a:avLst/>
            </a:prstGeom>
            <a:ln w="19050">
              <a:solidFill>
                <a:srgbClr val="3368FF"/>
              </a:solidFill>
              <a:custDash>
                <a:ds d="200000" sp="200000"/>
              </a:custDash>
              <a:miter lim="400000"/>
              <a:tailEnd type="triangle" w="med" len="lg"/>
            </a:ln>
          </p:spPr>
          <p:txBody>
            <a:bodyPr lIns="0" tIns="0" r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1200" cap="none" spc="0" normalizeH="0" baseline="0" noProof="0">
                <a:ln>
                  <a:noFill/>
                </a:ln>
                <a:solidFill>
                  <a:prstClr val="black"/>
                </a:solidFill>
                <a:effectLst/>
                <a:uLnTx/>
                <a:uFillTx/>
                <a:latin typeface="微软雅黑"/>
                <a:ea typeface="微软雅黑"/>
                <a:cs typeface="微软雅黑"/>
              </a:endParaRPr>
            </a:p>
          </p:txBody>
        </p:sp>
        <p:grpSp>
          <p:nvGrpSpPr>
            <p:cNvPr id="264" name="组合 263"/>
            <p:cNvGrpSpPr/>
            <p:nvPr/>
          </p:nvGrpSpPr>
          <p:grpSpPr>
            <a:xfrm rot="0">
              <a:off x="-5760" y="13570"/>
              <a:ext cx="3096" cy="956"/>
              <a:chOff x="-4301" y="4291"/>
              <a:chExt cx="4094" cy="1469"/>
            </a:xfrm>
          </p:grpSpPr>
          <p:sp>
            <p:nvSpPr>
              <p:cNvPr id="265" name="PPT13"/>
              <p:cNvSpPr/>
              <p:nvPr>
                <p:custDataLst>
                  <p:tags r:id="rId23"/>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266" name="PPT14"/>
              <p:cNvSpPr txBox="1"/>
              <p:nvPr>
                <p:custDataLst>
                  <p:tags r:id="rId24"/>
                </p:custDataLst>
              </p:nvPr>
            </p:nvSpPr>
            <p:spPr>
              <a:xfrm>
                <a:off x="-4222" y="4291"/>
                <a:ext cx="2618" cy="1792"/>
              </a:xfrm>
              <a:prstGeom prst="rect">
                <a:avLst/>
              </a:prstGeom>
              <a:noFill/>
            </p:spPr>
            <p:txBody>
              <a:bodyPr wrap="square" rtlCol="0" lIns="0" rIns="0" tIns="0" bIns="0" anchor="t">
                <a:noAutofit/>
              </a:bodyPr>
              <a:lstStyle/>
              <a:p>
                <a:pPr algn="l" defTabSz="457200">
                  <a:lnSpc>
                    <a:spcPts val="1120"/>
                  </a:lnSpc>
                  <a:defRPr>
                    <a:solidFill>
                      <a:srgbClr val="FFFFFF"/>
                    </a:solidFill>
                    <a:latin typeface="微软雅黑"/>
                    <a:ea typeface="微软雅黑"/>
                    <a:cs typeface="微软雅黑"/>
                  </a:defRPr>
                  <a:spcBef>
                    <a:spcPts val="0"/>
                  </a:spcBef>
                  <a:spcAft>
                    <a:spcPts val="0"/>
                  </a:spcAft>
                </a:pPr>
                <a:r>
                  <a:rPr lang="zh-CN" altLang="en-US" sz="1000" dirty="0">
                    <a:solidFill>
                      <a:srgbClr val="FFFFFF"/>
                    </a:solidFill>
                    <a:latin typeface="微软雅黑"/>
                    <a:ea typeface="微软雅黑"/>
                    <a:cs typeface="微软雅黑"/>
                  </a:rPr>
                  <a:t>平台接入跨境电商平台</a:t>
                </a:r>
                <a:r>
                  <a:rPr lang="en-US" altLang="zh-CN" sz="1000" dirty="0">
                    <a:solidFill>
                      <a:srgbClr val="FFFFFF"/>
                    </a:solidFill>
                    <a:latin typeface="微软雅黑"/>
                    <a:ea typeface="微软雅黑"/>
                    <a:cs typeface="微软雅黑"/>
                  </a:rPr>
                  <a:t>API</a:t>
                </a:r>
                <a:r>
                  <a:rPr lang="zh-CN" altLang="en-US" sz="1000" dirty="0">
                    <a:solidFill>
                      <a:srgbClr val="FFFFFF"/>
                    </a:solidFill>
                    <a:latin typeface="微软雅黑"/>
                    <a:ea typeface="微软雅黑"/>
                    <a:cs typeface="微软雅黑"/>
                  </a:rPr>
                  <a:t>，学生在真实店铺后台进行全流程操作，体验从交易到结算的完整业务链条。</a:t>
                </a:r>
                <a:endParaRPr lang="zh-CN" altLang="en-US" sz="1000" dirty="0">
                  <a:solidFill>
                    <a:srgbClr val="FFFFFF"/>
                  </a:solidFill>
                  <a:latin typeface="微软雅黑"/>
                  <a:ea typeface="微软雅黑"/>
                  <a:cs typeface="微软雅黑"/>
                </a:endParaRPr>
              </a:p>
            </p:txBody>
          </p:sp>
          <p:sp>
            <p:nvSpPr>
              <p:cNvPr id="267" name="PPT15"/>
              <p:cNvSpPr txBox="1"/>
              <p:nvPr>
                <p:custDataLst>
                  <p:tags r:id="rId25"/>
                </p:custDataLst>
              </p:nvPr>
            </p:nvSpPr>
            <p:spPr>
              <a:xfrm>
                <a:off x="-1643" y="4441"/>
                <a:ext cx="1263" cy="1189"/>
              </a:xfrm>
              <a:prstGeom prst="rect">
                <a:avLst/>
              </a:prstGeom>
              <a:noFill/>
            </p:spPr>
            <p:txBody>
              <a:bodyPr wrap="square" lIns="0" rIns="0" tIns="0" bIns="0">
                <a:spAutoFit/>
              </a:bodyPr>
              <a:lstStyle/>
              <a:p>
                <a:pPr algn="l">
                  <a:defRPr>
                    <a:latin typeface="微软雅黑"/>
                    <a:ea typeface="微软雅黑"/>
                    <a:cs typeface="微软雅黑"/>
                  </a:defRPr>
                </a:pPr>
                <a:r>
                  <a:rPr lang="zh-CN" altLang="en-US" sz="1300" b="1" dirty="0">
                    <a:solidFill>
                      <a:srgbClr val="0042FF"/>
                    </a:solidFill>
                    <a:latin typeface="微软雅黑"/>
                    <a:ea typeface="微软雅黑"/>
                    <a:cs typeface="微软雅黑"/>
                  </a:rPr>
                  <a:t>数字商贸</a:t>
                </a:r>
                <a:endParaRPr lang="zh-CN" altLang="en-US" sz="1300" b="1" dirty="0">
                  <a:solidFill>
                    <a:srgbClr val="0042FF"/>
                  </a:solidFill>
                  <a:latin typeface="微软雅黑"/>
                  <a:ea typeface="微软雅黑"/>
                  <a:cs typeface="微软雅黑"/>
                </a:endParaRPr>
              </a:p>
            </p:txBody>
          </p:sp>
          <p:cxnSp>
            <p:nvCxnSpPr>
              <p:cNvPr id="268" name="PPT16"/>
              <p:cNvCxnSpPr/>
              <p:nvPr>
                <p:custDataLst>
                  <p:tags r:id="rId26"/>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grpSp>
          <p:nvGrpSpPr>
            <p:cNvPr id="269" name="组合 268"/>
            <p:cNvGrpSpPr/>
            <p:nvPr/>
          </p:nvGrpSpPr>
          <p:grpSpPr>
            <a:xfrm rot="0">
              <a:off x="-5760" y="14896"/>
              <a:ext cx="3096" cy="956"/>
              <a:chOff x="-4301" y="4291"/>
              <a:chExt cx="4094" cy="1469"/>
            </a:xfrm>
          </p:grpSpPr>
          <p:sp>
            <p:nvSpPr>
              <p:cNvPr id="270" name="PPT13"/>
              <p:cNvSpPr/>
              <p:nvPr>
                <p:custDataLst>
                  <p:tags r:id="rId27"/>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271" name="PPT14"/>
              <p:cNvSpPr txBox="1"/>
              <p:nvPr>
                <p:custDataLst>
                  <p:tags r:id="rId28"/>
                </p:custDataLst>
              </p:nvPr>
            </p:nvSpPr>
            <p:spPr>
              <a:xfrm>
                <a:off x="-4222" y="4291"/>
                <a:ext cx="2618" cy="1792"/>
              </a:xfrm>
              <a:prstGeom prst="rect">
                <a:avLst/>
              </a:prstGeom>
              <a:noFill/>
            </p:spPr>
            <p:txBody>
              <a:bodyPr wrap="square" rtlCol="0" lIns="0" rIns="0" tIns="0" bIns="0" anchor="t">
                <a:noAutofit/>
              </a:bodyPr>
              <a:lstStyle/>
              <a:p>
                <a:pPr algn="l" defTabSz="457200">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建立健康档案，利用</a:t>
                </a:r>
                <a:r>
                  <a:rPr lang="en-US" altLang="zh-CN" sz="1000" dirty="0">
                    <a:solidFill>
                      <a:srgbClr val="383838"/>
                    </a:solidFill>
                    <a:latin typeface="微软雅黑"/>
                    <a:ea typeface="微软雅黑"/>
                    <a:cs typeface="微软雅黑"/>
                  </a:rPr>
                  <a:t>AI</a:t>
                </a:r>
                <a:r>
                  <a:rPr lang="zh-CN" altLang="en-US" sz="1000" dirty="0">
                    <a:solidFill>
                      <a:srgbClr val="383838"/>
                    </a:solidFill>
                    <a:latin typeface="微软雅黑"/>
                    <a:ea typeface="微软雅黑"/>
                    <a:cs typeface="微软雅黑"/>
                  </a:rPr>
                  <a:t>模型预测风险，并为签约家庭医生提供干预建议，实现</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教学</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服务</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科研</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一体化。</a:t>
                </a:r>
                <a:endParaRPr lang="zh-CN" altLang="en-US" sz="1000" dirty="0">
                  <a:solidFill>
                    <a:srgbClr val="383838"/>
                  </a:solidFill>
                  <a:latin typeface="微软雅黑"/>
                  <a:ea typeface="微软雅黑"/>
                  <a:cs typeface="微软雅黑"/>
                </a:endParaRPr>
              </a:p>
            </p:txBody>
          </p:sp>
          <p:sp>
            <p:nvSpPr>
              <p:cNvPr id="272" name="PPT15"/>
              <p:cNvSpPr txBox="1"/>
              <p:nvPr>
                <p:custDataLst>
                  <p:tags r:id="rId29"/>
                </p:custDataLst>
              </p:nvPr>
            </p:nvSpPr>
            <p:spPr>
              <a:xfrm>
                <a:off x="-1643" y="4441"/>
                <a:ext cx="1263" cy="1189"/>
              </a:xfrm>
              <a:prstGeom prst="rect">
                <a:avLst/>
              </a:prstGeom>
              <a:noFill/>
            </p:spPr>
            <p:txBody>
              <a:bodyPr wrap="square" lIns="0" rIns="0" tIns="0" bIns="0">
                <a:spAutoFit/>
              </a:bodyPr>
              <a:lstStyle/>
              <a:p>
                <a:pPr algn="l">
                  <a:defRPr>
                    <a:latin typeface="微软雅黑"/>
                    <a:ea typeface="微软雅黑"/>
                    <a:cs typeface="微软雅黑"/>
                  </a:defRPr>
                </a:pPr>
                <a:r>
                  <a:rPr lang="zh-CN" sz="1300" b="1" dirty="0">
                    <a:solidFill>
                      <a:srgbClr val="0042FF"/>
                    </a:solidFill>
                    <a:latin typeface="微软雅黑"/>
                    <a:ea typeface="微软雅黑"/>
                    <a:cs typeface="微软雅黑"/>
                  </a:rPr>
                  <a:t>智慧健康</a:t>
                </a:r>
                <a:endParaRPr lang="zh-CN" sz="1300" b="1" dirty="0">
                  <a:solidFill>
                    <a:srgbClr val="0042FF"/>
                  </a:solidFill>
                  <a:latin typeface="微软雅黑"/>
                  <a:ea typeface="微软雅黑"/>
                  <a:cs typeface="微软雅黑"/>
                </a:endParaRPr>
              </a:p>
            </p:txBody>
          </p:sp>
          <p:cxnSp>
            <p:nvCxnSpPr>
              <p:cNvPr id="273" name="PPT16"/>
              <p:cNvCxnSpPr/>
              <p:nvPr>
                <p:custDataLst>
                  <p:tags r:id="rId30"/>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grpSp>
          <p:nvGrpSpPr>
            <p:cNvPr id="274" name="组合 273"/>
            <p:cNvGrpSpPr/>
            <p:nvPr/>
          </p:nvGrpSpPr>
          <p:grpSpPr>
            <a:xfrm rot="0">
              <a:off x="-5760" y="16222"/>
              <a:ext cx="3096" cy="956"/>
              <a:chOff x="-4301" y="4291"/>
              <a:chExt cx="4094" cy="1469"/>
            </a:xfrm>
          </p:grpSpPr>
          <p:sp>
            <p:nvSpPr>
              <p:cNvPr id="275" name="PPT13"/>
              <p:cNvSpPr/>
              <p:nvPr>
                <p:custDataLst>
                  <p:tags r:id="rId31"/>
                </p:custDataLst>
              </p:nvPr>
            </p:nvSpPr>
            <p:spPr>
              <a:xfrm>
                <a:off x="-4301" y="4319"/>
                <a:ext cx="4094" cy="1441"/>
              </a:xfrm>
              <a:prstGeom prst="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100" normalizeH="0" baseline="0" noProof="0" dirty="0">
                  <a:ln>
                    <a:noFill/>
                  </a:ln>
                  <a:solidFill>
                    <a:prstClr val="white"/>
                  </a:solidFill>
                  <a:effectLst/>
                  <a:uLnTx/>
                  <a:uFillTx/>
                  <a:latin typeface="微软雅黑"/>
                  <a:ea typeface="微软雅黑"/>
                  <a:cs typeface="微软雅黑"/>
                </a:endParaRPr>
              </a:p>
            </p:txBody>
          </p:sp>
          <p:sp>
            <p:nvSpPr>
              <p:cNvPr id="276" name="PPT14"/>
              <p:cNvSpPr txBox="1"/>
              <p:nvPr>
                <p:custDataLst>
                  <p:tags r:id="rId32"/>
                </p:custDataLst>
              </p:nvPr>
            </p:nvSpPr>
            <p:spPr>
              <a:xfrm>
                <a:off x="-4222" y="4291"/>
                <a:ext cx="2618" cy="2136"/>
              </a:xfrm>
              <a:prstGeom prst="rect">
                <a:avLst/>
              </a:prstGeom>
              <a:noFill/>
            </p:spPr>
            <p:txBody>
              <a:bodyPr wrap="square" rtlCol="0" lIns="0" rIns="0" tIns="0" bIns="0" anchor="t">
                <a:noAutofit/>
              </a:bodyPr>
              <a:lstStyle/>
              <a:p>
                <a:pPr algn="l" defTabSz="457200">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结合景区物联网与票务系统，设计客流疏导方案与个性化游览路线，并通过平台将方案部署到景区导览</a:t>
                </a:r>
                <a:r>
                  <a:rPr lang="en-US" altLang="zh-CN" sz="1000" dirty="0">
                    <a:solidFill>
                      <a:srgbClr val="383838"/>
                    </a:solidFill>
                    <a:latin typeface="微软雅黑"/>
                    <a:ea typeface="微软雅黑"/>
                    <a:cs typeface="微软雅黑"/>
                  </a:rPr>
                  <a:t>APP</a:t>
                </a:r>
                <a:r>
                  <a:rPr lang="zh-CN" altLang="en-US" sz="1000" dirty="0">
                    <a:solidFill>
                      <a:srgbClr val="383838"/>
                    </a:solidFill>
                    <a:latin typeface="微软雅黑"/>
                    <a:ea typeface="微软雅黑"/>
                    <a:cs typeface="微软雅黑"/>
                  </a:rPr>
                  <a:t>中。</a:t>
                </a:r>
                <a:endParaRPr lang="zh-CN" altLang="en-US" sz="1000" dirty="0">
                  <a:solidFill>
                    <a:srgbClr val="383838"/>
                  </a:solidFill>
                  <a:latin typeface="微软雅黑"/>
                  <a:ea typeface="微软雅黑"/>
                  <a:cs typeface="微软雅黑"/>
                </a:endParaRPr>
              </a:p>
            </p:txBody>
          </p:sp>
          <p:sp>
            <p:nvSpPr>
              <p:cNvPr id="277" name="PPT15"/>
              <p:cNvSpPr txBox="1"/>
              <p:nvPr>
                <p:custDataLst>
                  <p:tags r:id="rId33"/>
                </p:custDataLst>
              </p:nvPr>
            </p:nvSpPr>
            <p:spPr>
              <a:xfrm>
                <a:off x="-1643" y="4441"/>
                <a:ext cx="1263" cy="1189"/>
              </a:xfrm>
              <a:prstGeom prst="rect">
                <a:avLst/>
              </a:prstGeom>
              <a:noFill/>
            </p:spPr>
            <p:txBody>
              <a:bodyPr wrap="square" lIns="0" rIns="0" tIns="0" bIns="0">
                <a:spAutoFit/>
              </a:bodyPr>
              <a:lstStyle/>
              <a:p>
                <a:pPr algn="l">
                  <a:defRPr>
                    <a:latin typeface="微软雅黑"/>
                    <a:ea typeface="微软雅黑"/>
                    <a:cs typeface="微软雅黑"/>
                  </a:defRPr>
                </a:pPr>
                <a:r>
                  <a:rPr lang="zh-CN" sz="1300" b="1" dirty="0">
                    <a:solidFill>
                      <a:srgbClr val="0042FF"/>
                    </a:solidFill>
                    <a:latin typeface="微软雅黑"/>
                    <a:ea typeface="微软雅黑"/>
                    <a:cs typeface="微软雅黑"/>
                  </a:rPr>
                  <a:t>数字文旅</a:t>
                </a:r>
                <a:endParaRPr lang="zh-CN" sz="1300" b="1" dirty="0">
                  <a:solidFill>
                    <a:srgbClr val="0042FF"/>
                  </a:solidFill>
                  <a:latin typeface="微软雅黑"/>
                  <a:ea typeface="微软雅黑"/>
                  <a:cs typeface="微软雅黑"/>
                </a:endParaRPr>
              </a:p>
            </p:txBody>
          </p:sp>
          <p:cxnSp>
            <p:nvCxnSpPr>
              <p:cNvPr id="278" name="PPT16"/>
              <p:cNvCxnSpPr/>
              <p:nvPr>
                <p:custDataLst>
                  <p:tags r:id="rId34"/>
                </p:custDataLst>
              </p:nvPr>
            </p:nvCxnSpPr>
            <p:spPr>
              <a:xfrm>
                <a:off x="-1580" y="4423"/>
                <a:ext cx="0" cy="1232"/>
              </a:xfrm>
              <a:prstGeom prst="line">
                <a:avLst/>
              </a:prstGeom>
              <a:ln>
                <a:solidFill>
                  <a:srgbClr val="3368FF"/>
                </a:solidFill>
                <a:prstDash val="dash"/>
              </a:ln>
            </p:spPr>
            <p:style>
              <a:lnRef idx="1">
                <a:srgbClr val="0042FF"/>
              </a:lnRef>
              <a:fillRef idx="0">
                <a:srgbClr val="0042FF"/>
              </a:fillRef>
              <a:effectRef idx="0">
                <a:srgbClr val="0042FF"/>
              </a:effectRef>
              <a:fontRef idx="minor">
                <a:srgbClr val="383838"/>
              </a:fontRef>
            </p:style>
          </p:cxnSp>
        </p:grpSp>
      </p:grpSp>
      <p:sp>
        <p:nvSpPr>
          <p:cNvPr id="282" name="文本框 281"/>
          <p:cNvSpPr txBox="1"/>
          <p:nvPr/>
        </p:nvSpPr>
        <p:spPr>
          <a:xfrm flipH="1">
            <a:off x="7722870" y="2096135"/>
            <a:ext cx="351790" cy="946150"/>
          </a:xfrm>
          <a:prstGeom prst="rect">
            <a:avLst/>
          </a:prstGeom>
        </p:spPr>
        <p:txBody>
          <a:bodyPr vert="eaVert" wrap="square" anchor="ctr" anchorCtr="0">
            <a:sp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100">
                <a:solidFill>
                  <a:srgbClr val="0042FF"/>
                </a:solidFill>
                <a:latin typeface="微软雅黑"/>
                <a:ea typeface="微软雅黑"/>
                <a:cs typeface="微软雅黑"/>
              </a:rPr>
              <a:t>产业数据集成</a:t>
            </a:r>
            <a:endParaRPr lang="zh-CN" altLang="en-US" sz="1100">
              <a:solidFill>
                <a:srgbClr val="0042FF"/>
              </a:solidFill>
              <a:latin typeface="微软雅黑"/>
              <a:ea typeface="微软雅黑"/>
              <a:cs typeface="微软雅黑"/>
            </a:endParaRPr>
          </a:p>
        </p:txBody>
      </p:sp>
      <p:grpSp>
        <p:nvGrpSpPr>
          <p:cNvPr id="297" name="组合 296"/>
          <p:cNvGrpSpPr/>
          <p:nvPr/>
        </p:nvGrpSpPr>
        <p:grpSpPr>
          <a:xfrm rot="0">
            <a:off x="8210550" y="1915795"/>
            <a:ext cx="365125" cy="1358900"/>
            <a:chOff x="6214" y="3024"/>
            <a:chExt cx="575" cy="2140"/>
          </a:xfrm>
        </p:grpSpPr>
        <p:sp>
          <p:nvSpPr>
            <p:cNvPr id="298" name="圆角矩形 297"/>
            <p:cNvSpPr/>
            <p:nvPr/>
          </p:nvSpPr>
          <p:spPr>
            <a:xfrm>
              <a:off x="6214" y="3024"/>
              <a:ext cx="544" cy="1504"/>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99" name="文本框 298"/>
            <p:cNvSpPr txBox="1"/>
            <p:nvPr/>
          </p:nvSpPr>
          <p:spPr>
            <a:xfrm>
              <a:off x="6235" y="3029"/>
              <a:ext cx="554" cy="1490"/>
            </a:xfrm>
            <a:prstGeom prst="rect">
              <a:avLst/>
            </a:prstGeom>
          </p:spPr>
          <p:txBody>
            <a:bodyPr vert="eaVert" wrap="square">
              <a:spAutoFit/>
              <a:extLst>
                <a:ext uri="{4A0BC546-FE56-4ADE-93B0-CB8AF2F6F144}">
                  <wpsdc:textFrameExt xmlns:wpsdc="http://www.wps.cn/officeDocument/2022/drawingmlCustomData" type="text"/>
                </a:ext>
              </a:extLst>
            </a:bodyPr>
            <a:p>
              <a:pPr algn="l">
                <a:defRPr>
                  <a:latin typeface="微软雅黑"/>
                  <a:ea typeface="微软雅黑"/>
                  <a:cs typeface="微软雅黑"/>
                </a:defRPr>
              </a:pPr>
              <a:r>
                <a:rPr lang="zh-CN" altLang="en-US" sz="1100">
                  <a:solidFill>
                    <a:srgbClr val="0042FF"/>
                  </a:solidFill>
                  <a:latin typeface="微软雅黑"/>
                  <a:ea typeface="微软雅黑"/>
                  <a:cs typeface="微软雅黑"/>
                </a:rPr>
                <a:t>产业资源共享</a:t>
              </a:r>
              <a:endParaRPr lang="zh-CN" altLang="en-US" sz="1100">
                <a:solidFill>
                  <a:srgbClr val="0042FF"/>
                </a:solidFill>
                <a:latin typeface="微软雅黑"/>
                <a:ea typeface="微软雅黑"/>
                <a:cs typeface="微软雅黑"/>
              </a:endParaRPr>
            </a:p>
          </p:txBody>
        </p:sp>
        <p:grpSp>
          <p:nvGrpSpPr>
            <p:cNvPr id="300" name="组合 299"/>
            <p:cNvGrpSpPr/>
            <p:nvPr/>
          </p:nvGrpSpPr>
          <p:grpSpPr>
            <a:xfrm>
              <a:off x="6375" y="4894"/>
              <a:ext cx="274" cy="270"/>
              <a:chOff x="5469" y="4887"/>
              <a:chExt cx="274" cy="270"/>
            </a:xfrm>
          </p:grpSpPr>
          <p:grpSp>
            <p:nvGrpSpPr>
              <p:cNvPr id="301" name="组合 300"/>
              <p:cNvGrpSpPr/>
              <p:nvPr/>
            </p:nvGrpSpPr>
            <p:grpSpPr>
              <a:xfrm rot="0">
                <a:off x="5469" y="4887"/>
                <a:ext cx="274" cy="270"/>
                <a:chOff x="2253649" y="5484016"/>
                <a:chExt cx="1142158" cy="1124265"/>
              </a:xfrm>
              <a:effectLst>
                <a:outerShdw blurRad="190500" dist="88900" dir="5400000" algn="t" rotWithShape="0">
                  <a:srgbClr val="3368FF">
                    <a:alpha val="32000"/>
                  </a:srgbClr>
                </a:outerShdw>
              </a:effectLst>
            </p:grpSpPr>
            <p:sp>
              <p:nvSpPr>
                <p:cNvPr id="302" name="显眼包PPT-1"/>
                <p:cNvSpPr/>
                <p:nvPr/>
              </p:nvSpPr>
              <p:spPr>
                <a:xfrm>
                  <a:off x="2253649" y="5484016"/>
                  <a:ext cx="1142158" cy="1124265"/>
                </a:xfrm>
                <a:prstGeom prst="ellipse">
                  <a:avLst/>
                </a:prstGeom>
                <a:gradFill flip="none" rotWithShape="1">
                  <a:gsLst>
                    <a:gs pos="15000">
                      <a:srgbClr val="FFFFFF">
                        <a:alpha val="0"/>
                      </a:srgbClr>
                    </a:gs>
                    <a:gs pos="100000">
                      <a:srgbClr val="FFFFFF"/>
                    </a:gs>
                  </a:gsLst>
                  <a:lin ang="5400000" scaled="1"/>
                  <a:tileRect/>
                </a:gradFill>
                <a:ln w="9525">
                  <a:gradFill flip="none" rotWithShape="1">
                    <a:gsLst>
                      <a:gs pos="0">
                        <a:srgbClr val="FFFFFF">
                          <a:alpha val="0"/>
                        </a:srgbClr>
                      </a:gs>
                      <a:gs pos="100000">
                        <a:srgbClr val="FFFFFF"/>
                      </a:gs>
                    </a:gsLst>
                    <a:lin ang="5400000" scaled="1"/>
                    <a:tileRect/>
                  </a:gradFill>
                </a:ln>
                <a:scene3d>
                  <a:camera prst="orthographicFront"/>
                  <a:lightRig rig="threePt" dir="t"/>
                </a:scene3d>
                <a:sp3d extrusionH="571500"/>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03" name="显眼包PPT-2"/>
                <p:cNvSpPr/>
                <p:nvPr/>
              </p:nvSpPr>
              <p:spPr>
                <a:xfrm>
                  <a:off x="2501202" y="5727682"/>
                  <a:ext cx="647053" cy="636929"/>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304" name="显眼包PPT-3"/>
              <p:cNvSpPr/>
              <p:nvPr/>
            </p:nvSpPr>
            <p:spPr>
              <a:xfrm>
                <a:off x="5528" y="4946"/>
                <a:ext cx="155" cy="153"/>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cxnSp>
          <p:nvCxnSpPr>
            <p:cNvPr id="305" name="直接连接符 304"/>
            <p:cNvCxnSpPr>
              <a:stCxn id="304" idx="0"/>
              <a:endCxn id="299" idx="2"/>
            </p:cNvCxnSpPr>
            <p:nvPr/>
          </p:nvCxnSpPr>
          <p:spPr>
            <a:xfrm flipV="1">
              <a:off x="6512" y="4519"/>
              <a:ext cx="0" cy="434"/>
            </a:xfrm>
            <a:prstGeom prst="line">
              <a:avLst/>
            </a:prstGeom>
            <a:ln>
              <a:solidFill>
                <a:srgbClr val="B3D4FE"/>
              </a:solidFill>
            </a:ln>
          </p:spPr>
          <p:style>
            <a:lnRef idx="2">
              <a:srgbClr val="0042FF"/>
            </a:lnRef>
            <a:fillRef idx="0">
              <a:srgbClr val="FFFFFF"/>
            </a:fillRef>
            <a:effectRef idx="0">
              <a:srgbClr val="FFFFFF"/>
            </a:effectRef>
            <a:fontRef idx="minor">
              <a:srgbClr val="383838"/>
            </a:fontRef>
          </p:style>
        </p:cxnSp>
      </p:grpSp>
      <p:sp>
        <p:nvSpPr>
          <p:cNvPr id="306" name="显眼包PPT2-5"/>
          <p:cNvSpPr txBox="1"/>
          <p:nvPr/>
        </p:nvSpPr>
        <p:spPr>
          <a:xfrm flipH="1">
            <a:off x="4516120" y="3242945"/>
            <a:ext cx="762000" cy="184150"/>
          </a:xfrm>
          <a:prstGeom prst="rect">
            <a:avLst/>
          </a:prstGeom>
          <a:noFill/>
        </p:spPr>
        <p:txBody>
          <a:bodyPr wrap="none" lIns="0" tIns="0" rIns="0" bIns="0" rtlCol="0">
            <a:spAutoFit/>
          </a:bodyPr>
          <a:lstStyle/>
          <a:p>
            <a:pPr algn="ctr">
              <a:defRPr>
                <a:latin typeface="微软雅黑"/>
                <a:ea typeface="微软雅黑"/>
                <a:cs typeface="微软雅黑"/>
              </a:defRPr>
            </a:pPr>
            <a:r>
              <a:rPr lang="zh-CN" altLang="en-US" sz="1200" b="1" dirty="0">
                <a:solidFill>
                  <a:srgbClr val="0042FF"/>
                </a:solidFill>
                <a:effectLst/>
                <a:latin typeface="微软雅黑"/>
                <a:ea typeface="微软雅黑"/>
                <a:cs typeface="微软雅黑"/>
              </a:rPr>
              <a:t>服务中台化</a:t>
            </a:r>
            <a:endParaRPr lang="zh-CN" altLang="en-US" sz="1200" b="1" dirty="0">
              <a:solidFill>
                <a:srgbClr val="0042FF"/>
              </a:solidFill>
              <a:effectLst/>
              <a:latin typeface="微软雅黑"/>
              <a:ea typeface="微软雅黑"/>
              <a:cs typeface="微软雅黑"/>
            </a:endParaRPr>
          </a:p>
        </p:txBody>
      </p:sp>
      <p:sp>
        <p:nvSpPr>
          <p:cNvPr id="307" name="显眼包PPT2-5"/>
          <p:cNvSpPr txBox="1"/>
          <p:nvPr/>
        </p:nvSpPr>
        <p:spPr>
          <a:xfrm flipH="1">
            <a:off x="4516120" y="4246880"/>
            <a:ext cx="762000" cy="184150"/>
          </a:xfrm>
          <a:prstGeom prst="rect">
            <a:avLst/>
          </a:prstGeom>
          <a:noFill/>
        </p:spPr>
        <p:txBody>
          <a:bodyPr wrap="none" lIns="0" tIns="0" rIns="0" bIns="0" rtlCol="0">
            <a:spAutoFit/>
          </a:bodyPr>
          <a:lstStyle/>
          <a:p>
            <a:pPr lvl="0" algn="ctr">
              <a:buClrTx/>
              <a:buSzTx/>
              <a:buFontTx/>
              <a:defRPr>
                <a:latin typeface="微软雅黑"/>
                <a:ea typeface="微软雅黑"/>
                <a:cs typeface="微软雅黑"/>
              </a:defRPr>
            </a:pPr>
            <a:r>
              <a:rPr lang="zh-CN" altLang="en-US" sz="1200" b="1" dirty="0">
                <a:solidFill>
                  <a:srgbClr val="0042FF"/>
                </a:solidFill>
                <a:effectLst/>
                <a:latin typeface="微软雅黑"/>
                <a:ea typeface="微软雅黑"/>
                <a:cs typeface="微软雅黑"/>
                <a:sym typeface="微软雅黑"/>
              </a:rPr>
              <a:t>产教协同化</a:t>
            </a:r>
            <a:endParaRPr lang="zh-CN" altLang="en-US" sz="1200" b="1" dirty="0">
              <a:solidFill>
                <a:srgbClr val="0042FF"/>
              </a:solidFill>
              <a:effectLst/>
              <a:latin typeface="微软雅黑"/>
              <a:ea typeface="微软雅黑"/>
              <a:cs typeface="微软雅黑"/>
              <a:sym typeface="微软雅黑"/>
            </a:endParaRPr>
          </a:p>
        </p:txBody>
      </p:sp>
      <p:sp>
        <p:nvSpPr>
          <p:cNvPr id="310" name="显眼包PPT2-5"/>
          <p:cNvSpPr txBox="1"/>
          <p:nvPr/>
        </p:nvSpPr>
        <p:spPr>
          <a:xfrm flipH="1">
            <a:off x="6815455" y="3242945"/>
            <a:ext cx="914400" cy="184150"/>
          </a:xfrm>
          <a:prstGeom prst="rect">
            <a:avLst/>
          </a:prstGeom>
          <a:noFill/>
        </p:spPr>
        <p:txBody>
          <a:bodyPr wrap="none" lIns="0" tIns="0" rIns="0" bIns="0" rtlCol="0">
            <a:spAutoFit/>
          </a:bodyPr>
          <a:lstStyle/>
          <a:p>
            <a:pPr algn="ctr">
              <a:defRPr>
                <a:latin typeface="微软雅黑"/>
                <a:ea typeface="微软雅黑"/>
                <a:cs typeface="微软雅黑"/>
              </a:defRPr>
            </a:pPr>
            <a:r>
              <a:rPr lang="zh-CN" altLang="en-US" sz="1200" b="1" dirty="0">
                <a:solidFill>
                  <a:srgbClr val="0042FF"/>
                </a:solidFill>
                <a:effectLst/>
                <a:latin typeface="微软雅黑"/>
                <a:ea typeface="微软雅黑"/>
                <a:cs typeface="微软雅黑"/>
              </a:rPr>
              <a:t>渗透业务链条</a:t>
            </a:r>
            <a:endParaRPr lang="zh-CN" altLang="en-US" sz="1200" b="1" dirty="0">
              <a:solidFill>
                <a:srgbClr val="0042FF"/>
              </a:solidFill>
              <a:effectLst/>
              <a:latin typeface="微软雅黑"/>
              <a:ea typeface="微软雅黑"/>
              <a:cs typeface="微软雅黑"/>
            </a:endParaRPr>
          </a:p>
        </p:txBody>
      </p:sp>
      <p:sp>
        <p:nvSpPr>
          <p:cNvPr id="311" name="显眼包PPT2-5"/>
          <p:cNvSpPr txBox="1"/>
          <p:nvPr/>
        </p:nvSpPr>
        <p:spPr>
          <a:xfrm flipH="1">
            <a:off x="6784975" y="4326255"/>
            <a:ext cx="914400" cy="184150"/>
          </a:xfrm>
          <a:prstGeom prst="rect">
            <a:avLst/>
          </a:prstGeom>
          <a:noFill/>
        </p:spPr>
        <p:txBody>
          <a:bodyPr wrap="none" lIns="0" tIns="0" rIns="0" bIns="0" rtlCol="0">
            <a:spAutoFit/>
          </a:bodyPr>
          <a:lstStyle/>
          <a:p>
            <a:pPr lvl="0" algn="ctr">
              <a:buClrTx/>
              <a:buSzTx/>
              <a:buFontTx/>
              <a:defRPr>
                <a:latin typeface="微软雅黑"/>
                <a:ea typeface="微软雅黑"/>
                <a:cs typeface="微软雅黑"/>
              </a:defRPr>
            </a:pPr>
            <a:r>
              <a:rPr lang="zh-CN" altLang="en-US" sz="1200" b="1" dirty="0">
                <a:solidFill>
                  <a:srgbClr val="0042FF"/>
                </a:solidFill>
                <a:effectLst/>
                <a:latin typeface="微软雅黑"/>
                <a:ea typeface="微软雅黑"/>
                <a:cs typeface="微软雅黑"/>
                <a:sym typeface="微软雅黑"/>
              </a:rPr>
              <a:t>产业生态融合</a:t>
            </a:r>
            <a:endParaRPr lang="zh-CN" altLang="en-US" sz="1200" b="1" dirty="0">
              <a:solidFill>
                <a:srgbClr val="0042FF"/>
              </a:solidFill>
              <a:effectLst/>
              <a:latin typeface="微软雅黑"/>
              <a:ea typeface="微软雅黑"/>
              <a:cs typeface="微软雅黑"/>
              <a:sym typeface="微软雅黑"/>
            </a:endParaRPr>
          </a:p>
        </p:txBody>
      </p:sp>
      <p:grpSp>
        <p:nvGrpSpPr>
          <p:cNvPr id="320" name="组合 319"/>
          <p:cNvGrpSpPr/>
          <p:nvPr/>
        </p:nvGrpSpPr>
        <p:grpSpPr>
          <a:xfrm rot="5400000" flipH="1" flipV="1">
            <a:off x="5868857" y="5125376"/>
            <a:ext cx="470491" cy="586921"/>
            <a:chOff x="3757249" y="3429001"/>
            <a:chExt cx="928843" cy="1219201"/>
          </a:xfrm>
          <a:solidFill>
            <a:srgbClr val="0042FF"/>
          </a:solidFill>
          <a:effectLst/>
        </p:grpSpPr>
        <p:sp>
          <p:nvSpPr>
            <p:cNvPr id="321" name="任意形状 178"/>
            <p:cNvSpPr/>
            <p:nvPr/>
          </p:nvSpPr>
          <p:spPr>
            <a:xfrm rot="5400000" flipH="1">
              <a:off x="3505177" y="3681073"/>
              <a:ext cx="1219201" cy="715058"/>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cs typeface="微软雅黑"/>
                <a:latin typeface="微软雅黑"/>
                <a:ea typeface="微软雅黑"/>
              </a:endParaRPr>
            </a:p>
          </p:txBody>
        </p:sp>
        <p:sp>
          <p:nvSpPr>
            <p:cNvPr id="322" name="任意形状 179"/>
            <p:cNvSpPr/>
            <p:nvPr/>
          </p:nvSpPr>
          <p:spPr>
            <a:xfrm rot="5400000" flipH="1">
              <a:off x="3961913" y="3786494"/>
              <a:ext cx="944147" cy="504211"/>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cs typeface="微软雅黑"/>
                <a:latin typeface="微软雅黑"/>
                <a:ea typeface="微软雅黑"/>
              </a:endParaRPr>
            </a:p>
          </p:txBody>
        </p:sp>
      </p:grpSp>
      <p:grpSp>
        <p:nvGrpSpPr>
          <p:cNvPr id="323" name="组合 322"/>
          <p:cNvGrpSpPr/>
          <p:nvPr/>
        </p:nvGrpSpPr>
        <p:grpSpPr>
          <a:xfrm rot="5400000" flipH="1" flipV="1">
            <a:off x="5863777" y="2079281"/>
            <a:ext cx="470491" cy="586921"/>
            <a:chOff x="3757249" y="3429001"/>
            <a:chExt cx="928843" cy="1219201"/>
          </a:xfrm>
          <a:solidFill>
            <a:srgbClr val="0042FF"/>
          </a:solidFill>
          <a:effectLst/>
        </p:grpSpPr>
        <p:sp>
          <p:nvSpPr>
            <p:cNvPr id="324" name="任意形状 178"/>
            <p:cNvSpPr/>
            <p:nvPr/>
          </p:nvSpPr>
          <p:spPr>
            <a:xfrm rot="5400000" flipH="1">
              <a:off x="3505177" y="3681073"/>
              <a:ext cx="1219201" cy="715058"/>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cs typeface="微软雅黑"/>
                <a:latin typeface="微软雅黑"/>
                <a:ea typeface="微软雅黑"/>
              </a:endParaRPr>
            </a:p>
          </p:txBody>
        </p:sp>
        <p:sp>
          <p:nvSpPr>
            <p:cNvPr id="325" name="任意形状 179"/>
            <p:cNvSpPr/>
            <p:nvPr/>
          </p:nvSpPr>
          <p:spPr>
            <a:xfrm rot="5400000" flipH="1">
              <a:off x="3961913" y="3786494"/>
              <a:ext cx="944147" cy="504211"/>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B3D4FE"/>
                </a:gs>
                <a:gs pos="0">
                  <a:srgbClr val="B3D4FE">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cs typeface="微软雅黑"/>
                <a:latin typeface="微软雅黑"/>
                <a:ea typeface="微软雅黑"/>
              </a:endParaRPr>
            </a:p>
          </p:txBody>
        </p:sp>
      </p:grpSp>
      <p:sp>
        <p:nvSpPr>
          <p:cNvPr id="328" name="圆角矩形 327"/>
          <p:cNvSpPr/>
          <p:nvPr/>
        </p:nvSpPr>
        <p:spPr>
          <a:xfrm>
            <a:off x="5407660" y="5864860"/>
            <a:ext cx="1377950" cy="359410"/>
          </a:xfrm>
          <a:prstGeom prst="roundRect">
            <a:avLst/>
          </a:prstGeom>
          <a:gradFill flip="none" rotWithShape="1">
            <a:gsLst>
              <a:gs pos="0">
                <a:srgbClr val="3368FF"/>
              </a:gs>
              <a:gs pos="100000">
                <a:srgbClr val="0042FF"/>
              </a:gs>
            </a:gsLst>
            <a:lin ang="0"/>
          </a:gra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29" name="显眼包PPT2-5"/>
          <p:cNvSpPr txBox="1"/>
          <p:nvPr/>
        </p:nvSpPr>
        <p:spPr>
          <a:xfrm flipH="1">
            <a:off x="5639435" y="5952490"/>
            <a:ext cx="914400" cy="18415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rPr>
              <a:t>技术底座支撑</a:t>
            </a:r>
            <a:endParaRPr lang="zh-CN" altLang="en-US" sz="1200" b="1" dirty="0">
              <a:solidFill>
                <a:srgbClr val="FFFFFF"/>
              </a:solidFill>
              <a:effectLst/>
              <a:latin typeface="微软雅黑"/>
              <a:ea typeface="微软雅黑"/>
              <a:cs typeface="微软雅黑"/>
            </a:endParaRPr>
          </a:p>
        </p:txBody>
      </p:sp>
      <p:sp>
        <p:nvSpPr>
          <p:cNvPr id="330" name="圆角矩形 329"/>
          <p:cNvSpPr/>
          <p:nvPr/>
        </p:nvSpPr>
        <p:spPr>
          <a:xfrm>
            <a:off x="5437505" y="1609725"/>
            <a:ext cx="1377950" cy="359410"/>
          </a:xfrm>
          <a:prstGeom prst="roundRect">
            <a:avLst/>
          </a:prstGeom>
          <a:gradFill flip="none" rotWithShape="1">
            <a:gsLst>
              <a:gs pos="0">
                <a:srgbClr val="3368FF"/>
              </a:gs>
              <a:gs pos="100000">
                <a:srgbClr val="0042FF"/>
              </a:gs>
            </a:gsLst>
            <a:lin ang="0"/>
          </a:gra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31" name="显眼包PPT2-5"/>
          <p:cNvSpPr txBox="1"/>
          <p:nvPr/>
        </p:nvSpPr>
        <p:spPr>
          <a:xfrm flipH="1">
            <a:off x="5669280" y="1697355"/>
            <a:ext cx="914400" cy="184150"/>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rPr>
              <a:t>运营治理机制</a:t>
            </a:r>
            <a:endParaRPr lang="zh-CN" altLang="en-US" sz="1200" b="1" dirty="0">
              <a:solidFill>
                <a:srgbClr val="FFFFFF"/>
              </a:solidFill>
              <a:effectLst/>
              <a:latin typeface="微软雅黑"/>
              <a:ea typeface="微软雅黑"/>
              <a:cs typeface="微软雅黑"/>
            </a:endParaRPr>
          </a:p>
        </p:txBody>
      </p:sp>
      <p:grpSp>
        <p:nvGrpSpPr>
          <p:cNvPr id="7" name="组合 6"/>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35"/>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fill="hold"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梯形 322"/>
          <p:cNvSpPr/>
          <p:nvPr/>
        </p:nvSpPr>
        <p:spPr>
          <a:xfrm rot="5400000">
            <a:off x="230550" y="1942738"/>
            <a:ext cx="4049894" cy="4025219"/>
          </a:xfrm>
          <a:custGeom>
            <a:avLst/>
            <a:gdLst>
              <a:gd name="connsiteX0" fmla="*/ 0 w 965390"/>
              <a:gd name="connsiteY0" fmla="*/ 697627 h 697627"/>
              <a:gd name="connsiteX1" fmla="*/ 174407 w 965390"/>
              <a:gd name="connsiteY1" fmla="*/ 0 h 697627"/>
              <a:gd name="connsiteX2" fmla="*/ 790983 w 965390"/>
              <a:gd name="connsiteY2" fmla="*/ 0 h 697627"/>
              <a:gd name="connsiteX3" fmla="*/ 965390 w 965390"/>
              <a:gd name="connsiteY3" fmla="*/ 697627 h 697627"/>
              <a:gd name="connsiteX4" fmla="*/ 0 w 965390"/>
              <a:gd name="connsiteY4" fmla="*/ 697627 h 697627"/>
              <a:gd name="connsiteX0-1" fmla="*/ 0 w 965390"/>
              <a:gd name="connsiteY0-2" fmla="*/ 697627 h 697627"/>
              <a:gd name="connsiteX1-3" fmla="*/ 174407 w 965390"/>
              <a:gd name="connsiteY1-4" fmla="*/ 0 h 697627"/>
              <a:gd name="connsiteX2-5" fmla="*/ 790983 w 965390"/>
              <a:gd name="connsiteY2-6" fmla="*/ 0 h 697627"/>
              <a:gd name="connsiteX3-7" fmla="*/ 965390 w 965390"/>
              <a:gd name="connsiteY3-8" fmla="*/ 697627 h 697627"/>
              <a:gd name="connsiteX4-9" fmla="*/ 0 w 965390"/>
              <a:gd name="connsiteY4-10" fmla="*/ 697627 h 697627"/>
              <a:gd name="connsiteX0-11" fmla="*/ 0 w 965390"/>
              <a:gd name="connsiteY0-12" fmla="*/ 697627 h 697627"/>
              <a:gd name="connsiteX1-13" fmla="*/ 174407 w 965390"/>
              <a:gd name="connsiteY1-14" fmla="*/ 0 h 697627"/>
              <a:gd name="connsiteX2-15" fmla="*/ 790983 w 965390"/>
              <a:gd name="connsiteY2-16" fmla="*/ 0 h 697627"/>
              <a:gd name="connsiteX3-17" fmla="*/ 965390 w 965390"/>
              <a:gd name="connsiteY3-18" fmla="*/ 697627 h 697627"/>
              <a:gd name="connsiteX4-19" fmla="*/ 0 w 965390"/>
              <a:gd name="connsiteY4-20" fmla="*/ 697627 h 697627"/>
              <a:gd name="connsiteX0-21" fmla="*/ 0 w 965390"/>
              <a:gd name="connsiteY0-22" fmla="*/ 697627 h 697627"/>
              <a:gd name="connsiteX1-23" fmla="*/ 174407 w 965390"/>
              <a:gd name="connsiteY1-24" fmla="*/ 0 h 697627"/>
              <a:gd name="connsiteX2-25" fmla="*/ 790983 w 965390"/>
              <a:gd name="connsiteY2-26" fmla="*/ 0 h 697627"/>
              <a:gd name="connsiteX3-27" fmla="*/ 965390 w 965390"/>
              <a:gd name="connsiteY3-28" fmla="*/ 697627 h 697627"/>
              <a:gd name="connsiteX4-29" fmla="*/ 0 w 965390"/>
              <a:gd name="connsiteY4-30" fmla="*/ 697627 h 697627"/>
              <a:gd name="connsiteX0-31" fmla="*/ 0 w 965390"/>
              <a:gd name="connsiteY0-32" fmla="*/ 697627 h 697627"/>
              <a:gd name="connsiteX1-33" fmla="*/ 174407 w 965390"/>
              <a:gd name="connsiteY1-34" fmla="*/ 0 h 697627"/>
              <a:gd name="connsiteX2-35" fmla="*/ 790983 w 965390"/>
              <a:gd name="connsiteY2-36" fmla="*/ 0 h 697627"/>
              <a:gd name="connsiteX3-37" fmla="*/ 965390 w 965390"/>
              <a:gd name="connsiteY3-38" fmla="*/ 697627 h 697627"/>
              <a:gd name="connsiteX4-39" fmla="*/ 0 w 965390"/>
              <a:gd name="connsiteY4-40" fmla="*/ 697627 h 697627"/>
              <a:gd name="connsiteX0-41" fmla="*/ 0 w 965390"/>
              <a:gd name="connsiteY0-42" fmla="*/ 697627 h 697627"/>
              <a:gd name="connsiteX1-43" fmla="*/ 174407 w 965390"/>
              <a:gd name="connsiteY1-44" fmla="*/ 0 h 697627"/>
              <a:gd name="connsiteX2-45" fmla="*/ 745261 w 965390"/>
              <a:gd name="connsiteY2-46" fmla="*/ 0 h 697627"/>
              <a:gd name="connsiteX3-47" fmla="*/ 965390 w 965390"/>
              <a:gd name="connsiteY3-48" fmla="*/ 697627 h 697627"/>
              <a:gd name="connsiteX4-49" fmla="*/ 0 w 965390"/>
              <a:gd name="connsiteY4-50" fmla="*/ 697627 h 697627"/>
              <a:gd name="connsiteX0-51" fmla="*/ 0 w 965390"/>
              <a:gd name="connsiteY0-52" fmla="*/ 697627 h 697627"/>
              <a:gd name="connsiteX1-53" fmla="*/ 197267 w 965390"/>
              <a:gd name="connsiteY1-54" fmla="*/ 0 h 697627"/>
              <a:gd name="connsiteX2-55" fmla="*/ 745261 w 965390"/>
              <a:gd name="connsiteY2-56" fmla="*/ 0 h 697627"/>
              <a:gd name="connsiteX3-57" fmla="*/ 965390 w 965390"/>
              <a:gd name="connsiteY3-58" fmla="*/ 697627 h 697627"/>
              <a:gd name="connsiteX4-59" fmla="*/ 0 w 965390"/>
              <a:gd name="connsiteY4-60" fmla="*/ 697627 h 697627"/>
              <a:gd name="connsiteX0-61" fmla="*/ 0 w 965390"/>
              <a:gd name="connsiteY0-62" fmla="*/ 697627 h 697627"/>
              <a:gd name="connsiteX1-63" fmla="*/ 255327 w 965390"/>
              <a:gd name="connsiteY1-64" fmla="*/ 0 h 697627"/>
              <a:gd name="connsiteX2-65" fmla="*/ 745261 w 965390"/>
              <a:gd name="connsiteY2-66" fmla="*/ 0 h 697627"/>
              <a:gd name="connsiteX3-67" fmla="*/ 965390 w 965390"/>
              <a:gd name="connsiteY3-68" fmla="*/ 697627 h 697627"/>
              <a:gd name="connsiteX4-69" fmla="*/ 0 w 965390"/>
              <a:gd name="connsiteY4-70" fmla="*/ 697627 h 697627"/>
              <a:gd name="connsiteX0-71" fmla="*/ 0 w 965390"/>
              <a:gd name="connsiteY0-72" fmla="*/ 701285 h 701285"/>
              <a:gd name="connsiteX1-73" fmla="*/ 255327 w 965390"/>
              <a:gd name="connsiteY1-74" fmla="*/ 3658 h 701285"/>
              <a:gd name="connsiteX2-75" fmla="*/ 694459 w 965390"/>
              <a:gd name="connsiteY2-76" fmla="*/ 0 h 701285"/>
              <a:gd name="connsiteX3-77" fmla="*/ 965390 w 965390"/>
              <a:gd name="connsiteY3-78" fmla="*/ 701285 h 701285"/>
              <a:gd name="connsiteX4-79" fmla="*/ 0 w 965390"/>
              <a:gd name="connsiteY4-80" fmla="*/ 701285 h 701285"/>
              <a:gd name="connsiteX0-81" fmla="*/ 0 w 965390"/>
              <a:gd name="connsiteY0-82" fmla="*/ 701285 h 708601"/>
              <a:gd name="connsiteX1-83" fmla="*/ 255327 w 965390"/>
              <a:gd name="connsiteY1-84" fmla="*/ 3658 h 708601"/>
              <a:gd name="connsiteX2-85" fmla="*/ 694459 w 965390"/>
              <a:gd name="connsiteY2-86" fmla="*/ 0 h 708601"/>
              <a:gd name="connsiteX3-87" fmla="*/ 965390 w 965390"/>
              <a:gd name="connsiteY3-88" fmla="*/ 708601 h 708601"/>
              <a:gd name="connsiteX4-89" fmla="*/ 0 w 965390"/>
              <a:gd name="connsiteY4-90" fmla="*/ 701285 h 708601"/>
              <a:gd name="connsiteX0-91" fmla="*/ 0 w 965390"/>
              <a:gd name="connsiteY0-92" fmla="*/ 701285 h 708601"/>
              <a:gd name="connsiteX1-93" fmla="*/ 255327 w 965390"/>
              <a:gd name="connsiteY1-94" fmla="*/ 3658 h 708601"/>
              <a:gd name="connsiteX2-95" fmla="*/ 694459 w 965390"/>
              <a:gd name="connsiteY2-96" fmla="*/ 0 h 708601"/>
              <a:gd name="connsiteX3-97" fmla="*/ 965390 w 965390"/>
              <a:gd name="connsiteY3-98" fmla="*/ 708601 h 708601"/>
              <a:gd name="connsiteX4-99" fmla="*/ 0 w 965390"/>
              <a:gd name="connsiteY4-100" fmla="*/ 701285 h 708601"/>
              <a:gd name="connsiteX0-101" fmla="*/ 0 w 965390"/>
              <a:gd name="connsiteY0-102" fmla="*/ 701285 h 708601"/>
              <a:gd name="connsiteX1-103" fmla="*/ 255327 w 965390"/>
              <a:gd name="connsiteY1-104" fmla="*/ 3658 h 708601"/>
              <a:gd name="connsiteX2-105" fmla="*/ 694459 w 965390"/>
              <a:gd name="connsiteY2-106" fmla="*/ 0 h 708601"/>
              <a:gd name="connsiteX3-107" fmla="*/ 965390 w 965390"/>
              <a:gd name="connsiteY3-108" fmla="*/ 708601 h 708601"/>
              <a:gd name="connsiteX4-109" fmla="*/ 0 w 965390"/>
              <a:gd name="connsiteY4-110" fmla="*/ 701285 h 70860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65390" h="708601">
                <a:moveTo>
                  <a:pt x="0" y="701285"/>
                </a:moveTo>
                <a:cubicBezTo>
                  <a:pt x="142112" y="496738"/>
                  <a:pt x="281166" y="310848"/>
                  <a:pt x="255327" y="3658"/>
                </a:cubicBezTo>
                <a:lnTo>
                  <a:pt x="694459" y="0"/>
                </a:lnTo>
                <a:cubicBezTo>
                  <a:pt x="696612" y="269867"/>
                  <a:pt x="797877" y="425379"/>
                  <a:pt x="965390" y="708601"/>
                </a:cubicBezTo>
                <a:lnTo>
                  <a:pt x="0" y="701285"/>
                </a:lnTo>
                <a:close/>
              </a:path>
            </a:pathLst>
          </a:custGeom>
          <a:gradFill>
            <a:gsLst>
              <a:gs pos="0">
                <a:srgbClr val="3368FF">
                  <a:alpha val="0"/>
                </a:srgbClr>
              </a:gs>
              <a:gs pos="100000">
                <a:srgbClr val="3368FF">
                  <a:alpha val="0"/>
                </a:srgbClr>
              </a:gs>
              <a:gs pos="73000">
                <a:srgbClr val="3368FF">
                  <a:alpha val="24000"/>
                </a:srgbClr>
              </a:gs>
            </a:gsLst>
            <a:lin ang="5400000" scaled="1"/>
          </a:gradFill>
          <a:ln>
            <a:gradFill>
              <a:gsLst>
                <a:gs pos="55600">
                  <a:srgbClr val="3368FF"/>
                </a:gs>
                <a:gs pos="23000">
                  <a:srgbClr val="3368FF">
                    <a:alpha val="0"/>
                  </a:srgbClr>
                </a:gs>
                <a:gs pos="100000">
                  <a:srgbClr val="3368FF">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中心发散架构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金融科技行业标准解读</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梯形 322"/>
          <p:cNvSpPr/>
          <p:nvPr/>
        </p:nvSpPr>
        <p:spPr>
          <a:xfrm rot="16200000">
            <a:off x="7797259" y="1942739"/>
            <a:ext cx="4049894" cy="4025219"/>
          </a:xfrm>
          <a:custGeom>
            <a:avLst/>
            <a:gdLst>
              <a:gd name="connsiteX0" fmla="*/ 0 w 965390"/>
              <a:gd name="connsiteY0" fmla="*/ 697627 h 697627"/>
              <a:gd name="connsiteX1" fmla="*/ 174407 w 965390"/>
              <a:gd name="connsiteY1" fmla="*/ 0 h 697627"/>
              <a:gd name="connsiteX2" fmla="*/ 790983 w 965390"/>
              <a:gd name="connsiteY2" fmla="*/ 0 h 697627"/>
              <a:gd name="connsiteX3" fmla="*/ 965390 w 965390"/>
              <a:gd name="connsiteY3" fmla="*/ 697627 h 697627"/>
              <a:gd name="connsiteX4" fmla="*/ 0 w 965390"/>
              <a:gd name="connsiteY4" fmla="*/ 697627 h 697627"/>
              <a:gd name="connsiteX0-1" fmla="*/ 0 w 965390"/>
              <a:gd name="connsiteY0-2" fmla="*/ 697627 h 697627"/>
              <a:gd name="connsiteX1-3" fmla="*/ 174407 w 965390"/>
              <a:gd name="connsiteY1-4" fmla="*/ 0 h 697627"/>
              <a:gd name="connsiteX2-5" fmla="*/ 790983 w 965390"/>
              <a:gd name="connsiteY2-6" fmla="*/ 0 h 697627"/>
              <a:gd name="connsiteX3-7" fmla="*/ 965390 w 965390"/>
              <a:gd name="connsiteY3-8" fmla="*/ 697627 h 697627"/>
              <a:gd name="connsiteX4-9" fmla="*/ 0 w 965390"/>
              <a:gd name="connsiteY4-10" fmla="*/ 697627 h 697627"/>
              <a:gd name="connsiteX0-11" fmla="*/ 0 w 965390"/>
              <a:gd name="connsiteY0-12" fmla="*/ 697627 h 697627"/>
              <a:gd name="connsiteX1-13" fmla="*/ 174407 w 965390"/>
              <a:gd name="connsiteY1-14" fmla="*/ 0 h 697627"/>
              <a:gd name="connsiteX2-15" fmla="*/ 790983 w 965390"/>
              <a:gd name="connsiteY2-16" fmla="*/ 0 h 697627"/>
              <a:gd name="connsiteX3-17" fmla="*/ 965390 w 965390"/>
              <a:gd name="connsiteY3-18" fmla="*/ 697627 h 697627"/>
              <a:gd name="connsiteX4-19" fmla="*/ 0 w 965390"/>
              <a:gd name="connsiteY4-20" fmla="*/ 697627 h 697627"/>
              <a:gd name="connsiteX0-21" fmla="*/ 0 w 965390"/>
              <a:gd name="connsiteY0-22" fmla="*/ 697627 h 697627"/>
              <a:gd name="connsiteX1-23" fmla="*/ 174407 w 965390"/>
              <a:gd name="connsiteY1-24" fmla="*/ 0 h 697627"/>
              <a:gd name="connsiteX2-25" fmla="*/ 790983 w 965390"/>
              <a:gd name="connsiteY2-26" fmla="*/ 0 h 697627"/>
              <a:gd name="connsiteX3-27" fmla="*/ 965390 w 965390"/>
              <a:gd name="connsiteY3-28" fmla="*/ 697627 h 697627"/>
              <a:gd name="connsiteX4-29" fmla="*/ 0 w 965390"/>
              <a:gd name="connsiteY4-30" fmla="*/ 697627 h 697627"/>
              <a:gd name="connsiteX0-31" fmla="*/ 0 w 965390"/>
              <a:gd name="connsiteY0-32" fmla="*/ 697627 h 697627"/>
              <a:gd name="connsiteX1-33" fmla="*/ 174407 w 965390"/>
              <a:gd name="connsiteY1-34" fmla="*/ 0 h 697627"/>
              <a:gd name="connsiteX2-35" fmla="*/ 790983 w 965390"/>
              <a:gd name="connsiteY2-36" fmla="*/ 0 h 697627"/>
              <a:gd name="connsiteX3-37" fmla="*/ 965390 w 965390"/>
              <a:gd name="connsiteY3-38" fmla="*/ 697627 h 697627"/>
              <a:gd name="connsiteX4-39" fmla="*/ 0 w 965390"/>
              <a:gd name="connsiteY4-40" fmla="*/ 697627 h 697627"/>
              <a:gd name="connsiteX0-41" fmla="*/ 0 w 965390"/>
              <a:gd name="connsiteY0-42" fmla="*/ 697627 h 697627"/>
              <a:gd name="connsiteX1-43" fmla="*/ 174407 w 965390"/>
              <a:gd name="connsiteY1-44" fmla="*/ 0 h 697627"/>
              <a:gd name="connsiteX2-45" fmla="*/ 745261 w 965390"/>
              <a:gd name="connsiteY2-46" fmla="*/ 0 h 697627"/>
              <a:gd name="connsiteX3-47" fmla="*/ 965390 w 965390"/>
              <a:gd name="connsiteY3-48" fmla="*/ 697627 h 697627"/>
              <a:gd name="connsiteX4-49" fmla="*/ 0 w 965390"/>
              <a:gd name="connsiteY4-50" fmla="*/ 697627 h 697627"/>
              <a:gd name="connsiteX0-51" fmla="*/ 0 w 965390"/>
              <a:gd name="connsiteY0-52" fmla="*/ 697627 h 697627"/>
              <a:gd name="connsiteX1-53" fmla="*/ 197267 w 965390"/>
              <a:gd name="connsiteY1-54" fmla="*/ 0 h 697627"/>
              <a:gd name="connsiteX2-55" fmla="*/ 745261 w 965390"/>
              <a:gd name="connsiteY2-56" fmla="*/ 0 h 697627"/>
              <a:gd name="connsiteX3-57" fmla="*/ 965390 w 965390"/>
              <a:gd name="connsiteY3-58" fmla="*/ 697627 h 697627"/>
              <a:gd name="connsiteX4-59" fmla="*/ 0 w 965390"/>
              <a:gd name="connsiteY4-60" fmla="*/ 697627 h 697627"/>
              <a:gd name="connsiteX0-61" fmla="*/ 0 w 965390"/>
              <a:gd name="connsiteY0-62" fmla="*/ 697627 h 697627"/>
              <a:gd name="connsiteX1-63" fmla="*/ 255327 w 965390"/>
              <a:gd name="connsiteY1-64" fmla="*/ 0 h 697627"/>
              <a:gd name="connsiteX2-65" fmla="*/ 745261 w 965390"/>
              <a:gd name="connsiteY2-66" fmla="*/ 0 h 697627"/>
              <a:gd name="connsiteX3-67" fmla="*/ 965390 w 965390"/>
              <a:gd name="connsiteY3-68" fmla="*/ 697627 h 697627"/>
              <a:gd name="connsiteX4-69" fmla="*/ 0 w 965390"/>
              <a:gd name="connsiteY4-70" fmla="*/ 697627 h 697627"/>
              <a:gd name="connsiteX0-71" fmla="*/ 0 w 965390"/>
              <a:gd name="connsiteY0-72" fmla="*/ 701285 h 701285"/>
              <a:gd name="connsiteX1-73" fmla="*/ 255327 w 965390"/>
              <a:gd name="connsiteY1-74" fmla="*/ 3658 h 701285"/>
              <a:gd name="connsiteX2-75" fmla="*/ 694459 w 965390"/>
              <a:gd name="connsiteY2-76" fmla="*/ 0 h 701285"/>
              <a:gd name="connsiteX3-77" fmla="*/ 965390 w 965390"/>
              <a:gd name="connsiteY3-78" fmla="*/ 701285 h 701285"/>
              <a:gd name="connsiteX4-79" fmla="*/ 0 w 965390"/>
              <a:gd name="connsiteY4-80" fmla="*/ 701285 h 701285"/>
              <a:gd name="connsiteX0-81" fmla="*/ 0 w 965390"/>
              <a:gd name="connsiteY0-82" fmla="*/ 701285 h 708601"/>
              <a:gd name="connsiteX1-83" fmla="*/ 255327 w 965390"/>
              <a:gd name="connsiteY1-84" fmla="*/ 3658 h 708601"/>
              <a:gd name="connsiteX2-85" fmla="*/ 694459 w 965390"/>
              <a:gd name="connsiteY2-86" fmla="*/ 0 h 708601"/>
              <a:gd name="connsiteX3-87" fmla="*/ 965390 w 965390"/>
              <a:gd name="connsiteY3-88" fmla="*/ 708601 h 708601"/>
              <a:gd name="connsiteX4-89" fmla="*/ 0 w 965390"/>
              <a:gd name="connsiteY4-90" fmla="*/ 701285 h 708601"/>
              <a:gd name="connsiteX0-91" fmla="*/ 0 w 965390"/>
              <a:gd name="connsiteY0-92" fmla="*/ 701285 h 708601"/>
              <a:gd name="connsiteX1-93" fmla="*/ 255327 w 965390"/>
              <a:gd name="connsiteY1-94" fmla="*/ 3658 h 708601"/>
              <a:gd name="connsiteX2-95" fmla="*/ 694459 w 965390"/>
              <a:gd name="connsiteY2-96" fmla="*/ 0 h 708601"/>
              <a:gd name="connsiteX3-97" fmla="*/ 965390 w 965390"/>
              <a:gd name="connsiteY3-98" fmla="*/ 708601 h 708601"/>
              <a:gd name="connsiteX4-99" fmla="*/ 0 w 965390"/>
              <a:gd name="connsiteY4-100" fmla="*/ 701285 h 708601"/>
              <a:gd name="connsiteX0-101" fmla="*/ 0 w 965390"/>
              <a:gd name="connsiteY0-102" fmla="*/ 701285 h 708601"/>
              <a:gd name="connsiteX1-103" fmla="*/ 255327 w 965390"/>
              <a:gd name="connsiteY1-104" fmla="*/ 3658 h 708601"/>
              <a:gd name="connsiteX2-105" fmla="*/ 694459 w 965390"/>
              <a:gd name="connsiteY2-106" fmla="*/ 0 h 708601"/>
              <a:gd name="connsiteX3-107" fmla="*/ 965390 w 965390"/>
              <a:gd name="connsiteY3-108" fmla="*/ 708601 h 708601"/>
              <a:gd name="connsiteX4-109" fmla="*/ 0 w 965390"/>
              <a:gd name="connsiteY4-110" fmla="*/ 701285 h 70860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65390" h="708601">
                <a:moveTo>
                  <a:pt x="0" y="701285"/>
                </a:moveTo>
                <a:cubicBezTo>
                  <a:pt x="142112" y="496738"/>
                  <a:pt x="281166" y="310848"/>
                  <a:pt x="255327" y="3658"/>
                </a:cubicBezTo>
                <a:lnTo>
                  <a:pt x="694459" y="0"/>
                </a:lnTo>
                <a:cubicBezTo>
                  <a:pt x="696612" y="269867"/>
                  <a:pt x="797877" y="425379"/>
                  <a:pt x="965390" y="708601"/>
                </a:cubicBezTo>
                <a:lnTo>
                  <a:pt x="0" y="701285"/>
                </a:lnTo>
                <a:close/>
              </a:path>
            </a:pathLst>
          </a:custGeom>
          <a:gradFill>
            <a:gsLst>
              <a:gs pos="0">
                <a:srgbClr val="B3D4FE">
                  <a:alpha val="0"/>
                </a:srgbClr>
              </a:gs>
              <a:gs pos="100000">
                <a:srgbClr val="B3D4FE">
                  <a:alpha val="0"/>
                </a:srgbClr>
              </a:gs>
              <a:gs pos="73000">
                <a:srgbClr val="B3D4FE">
                  <a:alpha val="24000"/>
                </a:srgbClr>
              </a:gs>
            </a:gsLst>
            <a:lin ang="5400000" scaled="1"/>
          </a:gradFill>
          <a:ln>
            <a:gradFill>
              <a:gsLst>
                <a:gs pos="55600">
                  <a:srgbClr val="B3D4FE"/>
                </a:gs>
                <a:gs pos="23000">
                  <a:srgbClr val="B3D4FE">
                    <a:alpha val="0"/>
                  </a:srgbClr>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64" name="椭圆 463"/>
          <p:cNvSpPr/>
          <p:nvPr>
            <p:custDataLst>
              <p:tags r:id="rId3"/>
            </p:custDataLst>
          </p:nvPr>
        </p:nvSpPr>
        <p:spPr>
          <a:xfrm flipH="1">
            <a:off x="3489878" y="1264166"/>
            <a:ext cx="5341062" cy="5341062"/>
          </a:xfrm>
          <a:prstGeom prst="ellipse">
            <a:avLst/>
          </a:prstGeom>
          <a:noFill/>
          <a:ln w="15875">
            <a:solidFill>
              <a:srgbClr val="DCDCDC">
                <a:alpha val="51000"/>
              </a:srgbClr>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457" name="椭圆 456"/>
          <p:cNvSpPr/>
          <p:nvPr>
            <p:custDataLst>
              <p:tags r:id="rId4"/>
            </p:custDataLst>
          </p:nvPr>
        </p:nvSpPr>
        <p:spPr>
          <a:xfrm flipH="1">
            <a:off x="4358662" y="2164848"/>
            <a:ext cx="3576276" cy="3576276"/>
          </a:xfrm>
          <a:prstGeom prst="ellipse">
            <a:avLst/>
          </a:prstGeom>
          <a:noFill/>
          <a:ln w="15875">
            <a:solidFill>
              <a:srgbClr val="DCDCDC"/>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8" name="椭圆 17"/>
          <p:cNvSpPr/>
          <p:nvPr>
            <p:custDataLst>
              <p:tags r:id="rId5"/>
            </p:custDataLst>
          </p:nvPr>
        </p:nvSpPr>
        <p:spPr>
          <a:xfrm flipH="1">
            <a:off x="6763435" y="2782545"/>
            <a:ext cx="2340882" cy="2340882"/>
          </a:xfrm>
          <a:prstGeom prst="ellipse">
            <a:avLst/>
          </a:prstGeom>
          <a:gradFill flip="none" rotWithShape="1">
            <a:gsLst>
              <a:gs pos="0">
                <a:srgbClr val="B3D4FE"/>
              </a:gs>
              <a:gs pos="100000">
                <a:srgbClr val="3368FF"/>
              </a:gs>
            </a:gsLst>
            <a:lin ang="0"/>
          </a:gradFill>
          <a:ln w="38100">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0" name="椭圆 19"/>
          <p:cNvSpPr/>
          <p:nvPr>
            <p:custDataLst>
              <p:tags r:id="rId6"/>
            </p:custDataLst>
          </p:nvPr>
        </p:nvSpPr>
        <p:spPr>
          <a:xfrm flipH="1">
            <a:off x="3191101" y="2782545"/>
            <a:ext cx="2340882" cy="2340882"/>
          </a:xfrm>
          <a:prstGeom prst="ellipse">
            <a:avLst/>
          </a:prstGeom>
          <a:gradFill flip="none" rotWithShape="1">
            <a:gsLst>
              <a:gs pos="0">
                <a:srgbClr val="3368FF"/>
              </a:gs>
              <a:gs pos="100000">
                <a:srgbClr val="0042FF"/>
              </a:gs>
            </a:gsLst>
            <a:lin ang="0"/>
          </a:gradFill>
          <a:ln w="38100">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456" name="文本框 455"/>
          <p:cNvSpPr txBox="1"/>
          <p:nvPr/>
        </p:nvSpPr>
        <p:spPr>
          <a:xfrm>
            <a:off x="5427980" y="3506470"/>
            <a:ext cx="1478915" cy="92202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800" b="1" u="none" strike="noStrike" kern="1200" cap="none" spc="0" normalizeH="0" baseline="0" noProof="0" dirty="0">
                <a:ln>
                  <a:noFill/>
                </a:ln>
                <a:solidFill>
                  <a:srgbClr val="383838"/>
                </a:solidFill>
                <a:effectLst/>
                <a:uLnTx/>
                <a:uFillTx/>
                <a:latin typeface="微软雅黑"/>
                <a:ea typeface="微软雅黑"/>
                <a:cs typeface="微软雅黑"/>
              </a:rPr>
              <a:t>金融科技企业</a:t>
            </a:r>
            <a:r>
              <a:rPr kumimoji="0" lang="en-US" altLang="zh-CN" sz="1800" b="1" u="none" strike="noStrike" kern="1200" cap="none" spc="0" normalizeH="0" baseline="0" noProof="0" dirty="0">
                <a:ln>
                  <a:noFill/>
                </a:ln>
                <a:solidFill>
                  <a:srgbClr val="383838"/>
                </a:solidFill>
                <a:effectLst/>
                <a:uLnTx/>
                <a:uFillTx/>
                <a:latin typeface="微软雅黑"/>
                <a:ea typeface="微软雅黑"/>
                <a:cs typeface="微软雅黑"/>
              </a:rPr>
              <a:t>ESG</a:t>
            </a:r>
            <a:r>
              <a:rPr kumimoji="0" lang="zh-CN" altLang="en-US" sz="1800" b="1" u="none" strike="noStrike" kern="1200" cap="none" spc="0" normalizeH="0" baseline="0" noProof="0" dirty="0">
                <a:ln>
                  <a:noFill/>
                </a:ln>
                <a:solidFill>
                  <a:srgbClr val="383838"/>
                </a:solidFill>
                <a:effectLst/>
                <a:uLnTx/>
                <a:uFillTx/>
                <a:latin typeface="微软雅黑"/>
                <a:ea typeface="微软雅黑"/>
                <a:cs typeface="微软雅黑"/>
              </a:rPr>
              <a:t>信息标准</a:t>
            </a:r>
            <a:endParaRPr kumimoji="0" lang="zh-CN" altLang="en-US" sz="1800" b="1"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62" name="文本框 461"/>
          <p:cNvSpPr txBox="1"/>
          <p:nvPr/>
        </p:nvSpPr>
        <p:spPr>
          <a:xfrm>
            <a:off x="5213985" y="1387475"/>
            <a:ext cx="1976120" cy="646430"/>
          </a:xfrm>
          <a:prstGeom prst="rect">
            <a:avLst/>
          </a:prstGeom>
          <a:noFill/>
          <a:ln w="38100">
            <a:noFill/>
          </a:ln>
          <a:effectLst>
            <a:outerShdw blurRad="411480" dist="123444" dir="5400000" sx="108000" sy="108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algn="ctr">
              <a:defRPr sz="1945">
                <a:solidFill>
                  <a:srgbClr val="383838"/>
                </a:solidFill>
                <a:effectLst>
                  <a:outerShdw blurRad="137160" dist="41148" dir="2699997" algn="tl">
                    <a:srgbClr val="383838">
                      <a:alpha val="40000"/>
                    </a:srgbClr>
                  </a:outerShdw>
                </a:effectLst>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r>
              <a:rPr lang="zh-CN" altLang="en-US" sz="1600" dirty="0">
                <a:solidFill>
                  <a:srgbClr val="383838"/>
                </a:solidFill>
                <a:effectLst/>
                <a:latin typeface="微软雅黑"/>
                <a:ea typeface="微软雅黑"/>
                <a:cs typeface="微软雅黑"/>
              </a:rPr>
              <a:t>金融科技行业特性</a:t>
            </a:r>
            <a:endParaRPr lang="zh-CN" altLang="en-US" sz="1600" dirty="0">
              <a:solidFill>
                <a:srgbClr val="383838"/>
              </a:solidFill>
              <a:effectLst/>
              <a:latin typeface="微软雅黑"/>
              <a:ea typeface="微软雅黑"/>
              <a:cs typeface="微软雅黑"/>
            </a:endParaRPr>
          </a:p>
        </p:txBody>
      </p:sp>
      <p:grpSp>
        <p:nvGrpSpPr>
          <p:cNvPr id="30" name="组合 29"/>
          <p:cNvGrpSpPr/>
          <p:nvPr/>
        </p:nvGrpSpPr>
        <p:grpSpPr>
          <a:xfrm>
            <a:off x="355600" y="2788285"/>
            <a:ext cx="1183005" cy="266700"/>
            <a:chOff x="560" y="4391"/>
            <a:chExt cx="1863" cy="420"/>
          </a:xfrm>
        </p:grpSpPr>
        <p:sp>
          <p:nvSpPr>
            <p:cNvPr id="35" name="矩形: 圆角 34"/>
            <p:cNvSpPr/>
            <p:nvPr>
              <p:custDataLst>
                <p:tags r:id="rId7"/>
              </p:custDataLst>
            </p:nvPr>
          </p:nvSpPr>
          <p:spPr>
            <a:xfrm>
              <a:off x="560" y="4400"/>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3" name="文本框 32"/>
            <p:cNvSpPr txBox="1"/>
            <p:nvPr/>
          </p:nvSpPr>
          <p:spPr>
            <a:xfrm>
              <a:off x="695" y="4391"/>
              <a:ext cx="1615" cy="420"/>
            </a:xfrm>
            <a:prstGeom prst="rect">
              <a:avLst/>
            </a:prstGeom>
            <a:noFill/>
            <a:effectLst/>
          </p:spPr>
          <p:txBody>
            <a:bodyPr wrap="square" lIns="98755" tIns="49378" rIns="98755" bIns="49378" rtlCol="0">
              <a:spAutoFit/>
            </a:bodyPr>
            <a:lstStyle/>
            <a:p>
              <a:pPr algn="ctr">
                <a:defRPr>
                  <a:latin typeface="微软雅黑"/>
                  <a:ea typeface="微软雅黑"/>
                  <a:cs typeface="微软雅黑"/>
                </a:defRPr>
              </a:pPr>
              <a:r>
                <a:rPr lang="en-US" altLang="zh-CN" sz="1100" dirty="0">
                  <a:solidFill>
                    <a:srgbClr val="0042FF"/>
                  </a:solidFill>
                  <a:latin typeface="微软雅黑"/>
                  <a:ea typeface="微软雅黑"/>
                  <a:cs typeface="微软雅黑"/>
                </a:rPr>
                <a:t>SDGs</a:t>
              </a:r>
              <a:endParaRPr lang="en-US" altLang="zh-CN" sz="1100" dirty="0">
                <a:solidFill>
                  <a:srgbClr val="0042FF"/>
                </a:solidFill>
                <a:latin typeface="微软雅黑"/>
                <a:ea typeface="微软雅黑"/>
                <a:cs typeface="微软雅黑"/>
              </a:endParaRPr>
            </a:p>
          </p:txBody>
        </p:sp>
      </p:grpSp>
      <p:sp>
        <p:nvSpPr>
          <p:cNvPr id="26" name="任意多边形: 形状 51"/>
          <p:cNvSpPr/>
          <p:nvPr/>
        </p:nvSpPr>
        <p:spPr>
          <a:xfrm rot="5616845">
            <a:off x="9143768" y="1833929"/>
            <a:ext cx="624976" cy="1473811"/>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Lst>
            <a:ahLst/>
            <a:cxnLst>
              <a:cxn ang="0">
                <a:pos x="connsiteX0-1" y="connsiteY0-2"/>
              </a:cxn>
              <a:cxn ang="0">
                <a:pos x="connsiteX1-3" y="connsiteY1-4"/>
              </a:cxn>
            </a:cxnLst>
            <a:rect l="l" t="t" r="r" b="b"/>
            <a:pathLst>
              <a:path w="478971" h="1001485">
                <a:moveTo>
                  <a:pt x="478971" y="1001485"/>
                </a:moveTo>
                <a:cubicBezTo>
                  <a:pt x="425994" y="606697"/>
                  <a:pt x="273957" y="288108"/>
                  <a:pt x="0" y="0"/>
                </a:cubicBezTo>
              </a:path>
            </a:pathLst>
          </a:custGeom>
          <a:noFill/>
          <a:ln>
            <a:solidFill>
              <a:srgbClr val="FFFFFF"/>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7" name="任意多边形: 形状 52"/>
          <p:cNvSpPr/>
          <p:nvPr/>
        </p:nvSpPr>
        <p:spPr>
          <a:xfrm rot="15983155" flipV="1">
            <a:off x="9143768" y="4598583"/>
            <a:ext cx="624976" cy="1473811"/>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Lst>
            <a:ahLst/>
            <a:cxnLst>
              <a:cxn ang="0">
                <a:pos x="connsiteX0-1" y="connsiteY0-2"/>
              </a:cxn>
              <a:cxn ang="0">
                <a:pos x="connsiteX1-3" y="connsiteY1-4"/>
              </a:cxn>
            </a:cxnLst>
            <a:rect l="l" t="t" r="r" b="b"/>
            <a:pathLst>
              <a:path w="478971" h="1001485">
                <a:moveTo>
                  <a:pt x="478971" y="1001485"/>
                </a:moveTo>
                <a:cubicBezTo>
                  <a:pt x="425994" y="606697"/>
                  <a:pt x="273957" y="288108"/>
                  <a:pt x="0" y="0"/>
                </a:cubicBezTo>
              </a:path>
            </a:pathLst>
          </a:custGeom>
          <a:noFill/>
          <a:ln>
            <a:solidFill>
              <a:srgbClr val="FFFFFF"/>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56" name="组合 55"/>
          <p:cNvGrpSpPr/>
          <p:nvPr/>
        </p:nvGrpSpPr>
        <p:grpSpPr>
          <a:xfrm flipH="1">
            <a:off x="1852355" y="2276847"/>
            <a:ext cx="1473811" cy="3389630"/>
            <a:chOff x="1849794" y="1839246"/>
            <a:chExt cx="1473811" cy="3389630"/>
          </a:xfrm>
        </p:grpSpPr>
        <p:sp>
          <p:nvSpPr>
            <p:cNvPr id="54" name="任意多边形: 形状 53"/>
            <p:cNvSpPr/>
            <p:nvPr/>
          </p:nvSpPr>
          <p:spPr>
            <a:xfrm rot="5616845">
              <a:off x="2274212" y="1414828"/>
              <a:ext cx="624976" cy="1473811"/>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Lst>
              <a:ahLst/>
              <a:cxnLst>
                <a:cxn ang="0">
                  <a:pos x="connsiteX0-1" y="connsiteY0-2"/>
                </a:cxn>
                <a:cxn ang="0">
                  <a:pos x="connsiteX1-3" y="connsiteY1-4"/>
                </a:cxn>
              </a:cxnLst>
              <a:rect l="l" t="t" r="r" b="b"/>
              <a:pathLst>
                <a:path w="478971" h="1001485">
                  <a:moveTo>
                    <a:pt x="478971" y="1001485"/>
                  </a:moveTo>
                  <a:cubicBezTo>
                    <a:pt x="425994" y="606697"/>
                    <a:pt x="273957" y="288108"/>
                    <a:pt x="0" y="0"/>
                  </a:cubicBezTo>
                </a:path>
              </a:pathLst>
            </a:custGeom>
            <a:noFill/>
            <a:ln>
              <a:solidFill>
                <a:srgbClr val="E6E6E6"/>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5" name="任意多边形: 形状 54"/>
            <p:cNvSpPr/>
            <p:nvPr/>
          </p:nvSpPr>
          <p:spPr>
            <a:xfrm rot="15983155" flipV="1">
              <a:off x="2274212" y="4179482"/>
              <a:ext cx="624976" cy="1473811"/>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Lst>
              <a:ahLst/>
              <a:cxnLst>
                <a:cxn ang="0">
                  <a:pos x="connsiteX0-1" y="connsiteY0-2"/>
                </a:cxn>
                <a:cxn ang="0">
                  <a:pos x="connsiteX1-3" y="connsiteY1-4"/>
                </a:cxn>
              </a:cxnLst>
              <a:rect l="l" t="t" r="r" b="b"/>
              <a:pathLst>
                <a:path w="478971" h="1001485">
                  <a:moveTo>
                    <a:pt x="478971" y="1001485"/>
                  </a:moveTo>
                  <a:cubicBezTo>
                    <a:pt x="425994" y="606697"/>
                    <a:pt x="273957" y="288108"/>
                    <a:pt x="0" y="0"/>
                  </a:cubicBezTo>
                </a:path>
              </a:pathLst>
            </a:custGeom>
            <a:noFill/>
            <a:ln>
              <a:solidFill>
                <a:srgbClr val="E6E6E6"/>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29" name="组合 28"/>
          <p:cNvGrpSpPr/>
          <p:nvPr/>
        </p:nvGrpSpPr>
        <p:grpSpPr>
          <a:xfrm>
            <a:off x="3558540" y="3305175"/>
            <a:ext cx="1605915" cy="1296035"/>
            <a:chOff x="5627" y="5309"/>
            <a:chExt cx="2638" cy="2041"/>
          </a:xfrm>
        </p:grpSpPr>
        <p:sp>
          <p:nvSpPr>
            <p:cNvPr id="451" name="文本框 450"/>
            <p:cNvSpPr txBox="1"/>
            <p:nvPr/>
          </p:nvSpPr>
          <p:spPr>
            <a:xfrm>
              <a:off x="5627" y="6332"/>
              <a:ext cx="2638" cy="1018"/>
            </a:xfrm>
            <a:prstGeom prst="rect">
              <a:avLst/>
            </a:prstGeom>
            <a:noFill/>
            <a:ln w="38100">
              <a:noFill/>
            </a:ln>
            <a:effectLst>
              <a:outerShdw blurRad="411480" dist="123444" dir="5400000" sx="108000" sy="108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FFFFFF"/>
                  </a:solidFill>
                  <a:latin typeface="微软雅黑"/>
                  <a:ea typeface="微软雅黑"/>
                  <a:cs typeface="微软雅黑"/>
                </a:defRPr>
              </a:defPPr>
              <a:lvl1pPr algn="ctr">
                <a:defRPr sz="1945">
                  <a:solidFill>
                    <a:srgbClr val="FFFFFF"/>
                  </a:solidFill>
                  <a:effectLst>
                    <a:outerShdw blurRad="137160" dist="41148" dir="2699997" algn="tl">
                      <a:srgbClr val="383838">
                        <a:alpha val="40000"/>
                      </a:srgbClr>
                    </a:outerShdw>
                  </a:effectLst>
                  <a:latin typeface="微软雅黑"/>
                  <a:ea typeface="微软雅黑"/>
                  <a:cs typeface="微软雅黑"/>
                </a:defRPr>
              </a:lvl1pPr>
              <a:lvl2pPr>
                <a:defRPr>
                  <a:solidFill>
                    <a:srgbClr val="FFFFFF"/>
                  </a:solidFill>
                  <a:latin typeface="微软雅黑"/>
                  <a:ea typeface="微软雅黑"/>
                  <a:cs typeface="微软雅黑"/>
                </a:defRPr>
              </a:lvl2pPr>
              <a:lvl3pPr>
                <a:defRPr>
                  <a:solidFill>
                    <a:srgbClr val="FFFFFF"/>
                  </a:solidFill>
                  <a:latin typeface="微软雅黑"/>
                  <a:ea typeface="微软雅黑"/>
                  <a:cs typeface="微软雅黑"/>
                </a:defRPr>
              </a:lvl3pPr>
              <a:lvl4pPr>
                <a:defRPr>
                  <a:solidFill>
                    <a:srgbClr val="FFFFFF"/>
                  </a:solidFill>
                  <a:latin typeface="微软雅黑"/>
                  <a:ea typeface="微软雅黑"/>
                  <a:cs typeface="微软雅黑"/>
                </a:defRPr>
              </a:lvl4pPr>
              <a:lvl5pPr>
                <a:defRPr>
                  <a:solidFill>
                    <a:srgbClr val="FFFFFF"/>
                  </a:solidFill>
                  <a:latin typeface="微软雅黑"/>
                  <a:ea typeface="微软雅黑"/>
                  <a:cs typeface="微软雅黑"/>
                </a:defRPr>
              </a:lvl5pPr>
              <a:lvl6pPr>
                <a:defRPr>
                  <a:solidFill>
                    <a:srgbClr val="FFFFFF"/>
                  </a:solidFill>
                  <a:latin typeface="微软雅黑"/>
                  <a:ea typeface="微软雅黑"/>
                  <a:cs typeface="微软雅黑"/>
                </a:defRPr>
              </a:lvl6pPr>
              <a:lvl7pPr>
                <a:defRPr>
                  <a:solidFill>
                    <a:srgbClr val="FFFFFF"/>
                  </a:solidFill>
                  <a:latin typeface="微软雅黑"/>
                  <a:ea typeface="微软雅黑"/>
                  <a:cs typeface="微软雅黑"/>
                </a:defRPr>
              </a:lvl7pPr>
              <a:lvl8pPr>
                <a:defRPr>
                  <a:solidFill>
                    <a:srgbClr val="FFFFFF"/>
                  </a:solidFill>
                  <a:latin typeface="微软雅黑"/>
                  <a:ea typeface="微软雅黑"/>
                  <a:cs typeface="微软雅黑"/>
                </a:defRPr>
              </a:lvl8pPr>
              <a:lvl9pPr>
                <a:defRPr>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r>
                <a:rPr lang="zh-CN" altLang="en-US" sz="2000" b="1" dirty="0">
                  <a:solidFill>
                    <a:srgbClr val="FFFFFF"/>
                  </a:solidFill>
                  <a:effectLst/>
                  <a:latin typeface="微软雅黑"/>
                  <a:ea typeface="微软雅黑"/>
                  <a:cs typeface="微软雅黑"/>
                </a:rPr>
                <a:t>国际标准</a:t>
              </a:r>
              <a:endParaRPr lang="zh-CN" altLang="en-US" sz="2000" b="1" dirty="0">
                <a:solidFill>
                  <a:srgbClr val="FFFFFF"/>
                </a:solidFill>
                <a:effectLst/>
                <a:latin typeface="微软雅黑"/>
                <a:ea typeface="微软雅黑"/>
                <a:cs typeface="微软雅黑"/>
              </a:endParaRPr>
            </a:p>
          </p:txBody>
        </p:sp>
        <p:pic>
          <p:nvPicPr>
            <p:cNvPr id="28" name="图片 27" descr="ISO"/>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340" y="5309"/>
              <a:ext cx="1212" cy="1023"/>
            </a:xfrm>
            <a:prstGeom prst="rect">
              <a:avLst/>
            </a:prstGeom>
          </p:spPr>
        </p:pic>
      </p:grpSp>
      <p:grpSp>
        <p:nvGrpSpPr>
          <p:cNvPr id="71" name="组合 70"/>
          <p:cNvGrpSpPr/>
          <p:nvPr/>
        </p:nvGrpSpPr>
        <p:grpSpPr>
          <a:xfrm>
            <a:off x="355600" y="3155315"/>
            <a:ext cx="1183005" cy="397510"/>
            <a:chOff x="560" y="4281"/>
            <a:chExt cx="1863" cy="626"/>
          </a:xfrm>
        </p:grpSpPr>
        <p:sp>
          <p:nvSpPr>
            <p:cNvPr id="72" name="矩形: 圆角 34"/>
            <p:cNvSpPr/>
            <p:nvPr>
              <p:custDataLst>
                <p:tags r:id="rId10"/>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3" name="矩形 72"/>
            <p:cNvSpPr/>
            <p:nvPr/>
          </p:nvSpPr>
          <p:spPr>
            <a:xfrm>
              <a:off x="695" y="4281"/>
              <a:ext cx="1615" cy="626"/>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GRIs</a:t>
              </a:r>
              <a:endParaRPr lang="zh-CN" altLang="en-US" sz="1100">
                <a:solidFill>
                  <a:srgbClr val="0042FF"/>
                </a:solidFill>
                <a:effectLst/>
                <a:latin typeface="微软雅黑"/>
                <a:ea typeface="微软雅黑"/>
                <a:cs typeface="微软雅黑"/>
                <a:sym typeface="微软雅黑"/>
              </a:endParaRPr>
            </a:p>
          </p:txBody>
        </p:sp>
      </p:grpSp>
      <p:grpSp>
        <p:nvGrpSpPr>
          <p:cNvPr id="74" name="组合 73"/>
          <p:cNvGrpSpPr/>
          <p:nvPr/>
        </p:nvGrpSpPr>
        <p:grpSpPr>
          <a:xfrm>
            <a:off x="355600" y="3442335"/>
            <a:ext cx="1183005" cy="697865"/>
            <a:chOff x="560" y="4045"/>
            <a:chExt cx="1863" cy="1099"/>
          </a:xfrm>
        </p:grpSpPr>
        <p:sp>
          <p:nvSpPr>
            <p:cNvPr id="75" name="矩形: 圆角 34"/>
            <p:cNvSpPr/>
            <p:nvPr>
              <p:custDataLst>
                <p:tags r:id="rId11"/>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80" name="矩形 79"/>
            <p:cNvSpPr/>
            <p:nvPr/>
          </p:nvSpPr>
          <p:spPr>
            <a:xfrm>
              <a:off x="631" y="4045"/>
              <a:ext cx="1679" cy="1099"/>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社会责任指南</a:t>
              </a:r>
              <a:endParaRPr lang="zh-CN" altLang="en-US" sz="1100">
                <a:solidFill>
                  <a:srgbClr val="0042FF"/>
                </a:solidFill>
                <a:effectLst/>
                <a:latin typeface="微软雅黑"/>
                <a:ea typeface="微软雅黑"/>
                <a:cs typeface="微软雅黑"/>
                <a:sym typeface="微软雅黑"/>
              </a:endParaRPr>
            </a:p>
          </p:txBody>
        </p:sp>
      </p:grpSp>
      <p:grpSp>
        <p:nvGrpSpPr>
          <p:cNvPr id="82" name="组合 81"/>
          <p:cNvGrpSpPr/>
          <p:nvPr/>
        </p:nvGrpSpPr>
        <p:grpSpPr>
          <a:xfrm>
            <a:off x="355600" y="3879215"/>
            <a:ext cx="1183005" cy="697865"/>
            <a:chOff x="560" y="4045"/>
            <a:chExt cx="1863" cy="1099"/>
          </a:xfrm>
        </p:grpSpPr>
        <p:sp>
          <p:nvSpPr>
            <p:cNvPr id="83" name="矩形: 圆角 34"/>
            <p:cNvSpPr/>
            <p:nvPr>
              <p:custDataLst>
                <p:tags r:id="rId12"/>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84" name="矩形 83"/>
            <p:cNvSpPr/>
            <p:nvPr/>
          </p:nvSpPr>
          <p:spPr>
            <a:xfrm>
              <a:off x="695" y="4045"/>
              <a:ext cx="1615" cy="1099"/>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ISO2000</a:t>
              </a:r>
              <a:endParaRPr lang="zh-CN" altLang="en-US" sz="1100">
                <a:solidFill>
                  <a:srgbClr val="0042FF"/>
                </a:solidFill>
                <a:effectLst/>
                <a:latin typeface="微软雅黑"/>
                <a:ea typeface="微软雅黑"/>
                <a:cs typeface="微软雅黑"/>
                <a:sym typeface="微软雅黑"/>
              </a:endParaRPr>
            </a:p>
          </p:txBody>
        </p:sp>
      </p:grpSp>
      <p:grpSp>
        <p:nvGrpSpPr>
          <p:cNvPr id="85" name="组合 84"/>
          <p:cNvGrpSpPr/>
          <p:nvPr/>
        </p:nvGrpSpPr>
        <p:grpSpPr>
          <a:xfrm>
            <a:off x="355600" y="4316095"/>
            <a:ext cx="1183005" cy="697865"/>
            <a:chOff x="560" y="4045"/>
            <a:chExt cx="1863" cy="1099"/>
          </a:xfrm>
        </p:grpSpPr>
        <p:sp>
          <p:nvSpPr>
            <p:cNvPr id="87" name="矩形: 圆角 34"/>
            <p:cNvSpPr/>
            <p:nvPr>
              <p:custDataLst>
                <p:tags r:id="rId13"/>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2" name="矩形 91"/>
            <p:cNvSpPr/>
            <p:nvPr/>
          </p:nvSpPr>
          <p:spPr>
            <a:xfrm>
              <a:off x="695" y="4045"/>
              <a:ext cx="1615" cy="1099"/>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TCF</a:t>
              </a:r>
              <a:r>
                <a:rPr lang="zh-CN" altLang="en-US" sz="1100">
                  <a:solidFill>
                    <a:srgbClr val="0042FF"/>
                  </a:solidFill>
                  <a:effectLst/>
                  <a:latin typeface="微软雅黑"/>
                  <a:ea typeface="微软雅黑"/>
                  <a:cs typeface="微软雅黑"/>
                  <a:sym typeface="微软雅黑"/>
                </a:rPr>
                <a:t>建议</a:t>
              </a:r>
              <a:endParaRPr lang="zh-CN" altLang="en-US" sz="1100">
                <a:solidFill>
                  <a:srgbClr val="0042FF"/>
                </a:solidFill>
                <a:effectLst/>
                <a:latin typeface="微软雅黑"/>
                <a:ea typeface="微软雅黑"/>
                <a:cs typeface="微软雅黑"/>
                <a:sym typeface="微软雅黑"/>
              </a:endParaRPr>
            </a:p>
          </p:txBody>
        </p:sp>
      </p:grpSp>
      <p:grpSp>
        <p:nvGrpSpPr>
          <p:cNvPr id="93" name="组合 92"/>
          <p:cNvGrpSpPr/>
          <p:nvPr/>
        </p:nvGrpSpPr>
        <p:grpSpPr>
          <a:xfrm>
            <a:off x="355600" y="4902835"/>
            <a:ext cx="1183005" cy="397510"/>
            <a:chOff x="560" y="4281"/>
            <a:chExt cx="1863" cy="626"/>
          </a:xfrm>
        </p:grpSpPr>
        <p:sp>
          <p:nvSpPr>
            <p:cNvPr id="94" name="矩形: 圆角 34"/>
            <p:cNvSpPr/>
            <p:nvPr>
              <p:custDataLst>
                <p:tags r:id="rId14"/>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5" name="矩形 94"/>
            <p:cNvSpPr/>
            <p:nvPr/>
          </p:nvSpPr>
          <p:spPr>
            <a:xfrm>
              <a:off x="695" y="4281"/>
              <a:ext cx="1615" cy="626"/>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a:t>
              </a:r>
              <a:endParaRPr lang="zh-CN" altLang="en-US" sz="1100">
                <a:solidFill>
                  <a:srgbClr val="0042FF"/>
                </a:solidFill>
                <a:effectLst/>
                <a:latin typeface="微软雅黑"/>
                <a:ea typeface="微软雅黑"/>
                <a:cs typeface="微软雅黑"/>
                <a:sym typeface="微软雅黑"/>
              </a:endParaRPr>
            </a:p>
          </p:txBody>
        </p:sp>
      </p:grpSp>
      <p:grpSp>
        <p:nvGrpSpPr>
          <p:cNvPr id="97" name="组合 96"/>
          <p:cNvGrpSpPr/>
          <p:nvPr/>
        </p:nvGrpSpPr>
        <p:grpSpPr>
          <a:xfrm>
            <a:off x="1901825" y="3131185"/>
            <a:ext cx="1183005" cy="697865"/>
            <a:chOff x="560" y="4045"/>
            <a:chExt cx="1863" cy="1099"/>
          </a:xfrm>
        </p:grpSpPr>
        <p:sp>
          <p:nvSpPr>
            <p:cNvPr id="98" name="矩形: 圆角 34"/>
            <p:cNvSpPr/>
            <p:nvPr>
              <p:custDataLst>
                <p:tags r:id="rId15"/>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9" name="矩形 98"/>
            <p:cNvSpPr/>
            <p:nvPr/>
          </p:nvSpPr>
          <p:spPr>
            <a:xfrm>
              <a:off x="695" y="4045"/>
              <a:ext cx="1615" cy="1099"/>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IFRS S1</a:t>
              </a:r>
              <a:endParaRPr lang="zh-CN" altLang="en-US" sz="1100">
                <a:solidFill>
                  <a:srgbClr val="0042FF"/>
                </a:solidFill>
                <a:effectLst/>
                <a:latin typeface="微软雅黑"/>
                <a:ea typeface="微软雅黑"/>
                <a:cs typeface="微软雅黑"/>
                <a:sym typeface="微软雅黑"/>
              </a:endParaRPr>
            </a:p>
          </p:txBody>
        </p:sp>
      </p:grpSp>
      <p:grpSp>
        <p:nvGrpSpPr>
          <p:cNvPr id="100" name="组合 99"/>
          <p:cNvGrpSpPr/>
          <p:nvPr/>
        </p:nvGrpSpPr>
        <p:grpSpPr>
          <a:xfrm>
            <a:off x="1901825" y="3791585"/>
            <a:ext cx="1183005" cy="397510"/>
            <a:chOff x="560" y="4281"/>
            <a:chExt cx="1863" cy="626"/>
          </a:xfrm>
        </p:grpSpPr>
        <p:sp>
          <p:nvSpPr>
            <p:cNvPr id="101" name="矩形: 圆角 34"/>
            <p:cNvSpPr/>
            <p:nvPr>
              <p:custDataLst>
                <p:tags r:id="rId16"/>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2" name="矩形 101"/>
            <p:cNvSpPr/>
            <p:nvPr/>
          </p:nvSpPr>
          <p:spPr>
            <a:xfrm>
              <a:off x="695" y="4281"/>
              <a:ext cx="1615" cy="626"/>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UNGC</a:t>
              </a:r>
              <a:endParaRPr lang="zh-CN" altLang="en-US" sz="1100">
                <a:solidFill>
                  <a:srgbClr val="0042FF"/>
                </a:solidFill>
                <a:effectLst/>
                <a:latin typeface="微软雅黑"/>
                <a:ea typeface="微软雅黑"/>
                <a:cs typeface="微软雅黑"/>
                <a:sym typeface="微软雅黑"/>
              </a:endParaRPr>
            </a:p>
          </p:txBody>
        </p:sp>
      </p:grpSp>
      <p:grpSp>
        <p:nvGrpSpPr>
          <p:cNvPr id="104" name="组合 103"/>
          <p:cNvGrpSpPr/>
          <p:nvPr/>
        </p:nvGrpSpPr>
        <p:grpSpPr>
          <a:xfrm>
            <a:off x="1901190" y="4002405"/>
            <a:ext cx="1184275" cy="997585"/>
            <a:chOff x="559" y="3809"/>
            <a:chExt cx="1865" cy="1571"/>
          </a:xfrm>
        </p:grpSpPr>
        <p:sp>
          <p:nvSpPr>
            <p:cNvPr id="105" name="矩形: 圆角 34"/>
            <p:cNvSpPr/>
            <p:nvPr>
              <p:custDataLst>
                <p:tags r:id="rId17"/>
              </p:custDataLst>
            </p:nvPr>
          </p:nvSpPr>
          <p:spPr>
            <a:xfrm>
              <a:off x="560" y="4382"/>
              <a:ext cx="1863" cy="403"/>
            </a:xfrm>
            <a:prstGeom prst="roundRect">
              <a:avLst>
                <a:gd name="adj" fmla="val 50000"/>
              </a:avLst>
            </a:prstGeom>
            <a:solidFill>
              <a:srgbClr val="FFFFFF"/>
            </a:solidFill>
            <a:ln w="1905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42" name="矩形 141"/>
            <p:cNvSpPr/>
            <p:nvPr/>
          </p:nvSpPr>
          <p:spPr>
            <a:xfrm>
              <a:off x="559" y="3809"/>
              <a:ext cx="1865" cy="1571"/>
            </a:xfrm>
            <a:prstGeom prst="rect">
              <a:avLst/>
            </a:prstGeom>
            <a:noFill/>
            <a:ln w="19050">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0042FF"/>
                  </a:solidFill>
                  <a:effectLst/>
                  <a:latin typeface="微软雅黑"/>
                  <a:ea typeface="微软雅黑"/>
                  <a:cs typeface="微软雅黑"/>
                  <a:sym typeface="微软雅黑"/>
                </a:rPr>
                <a:t>SASA</a:t>
              </a:r>
              <a:r>
                <a:rPr lang="zh-CN" altLang="en-US" sz="1100">
                  <a:solidFill>
                    <a:srgbClr val="0042FF"/>
                  </a:solidFill>
                  <a:effectLst/>
                  <a:latin typeface="微软雅黑"/>
                  <a:ea typeface="微软雅黑"/>
                  <a:cs typeface="微软雅黑"/>
                  <a:sym typeface="微软雅黑"/>
                </a:rPr>
                <a:t>行业准则</a:t>
              </a:r>
              <a:endParaRPr lang="zh-CN" altLang="en-US" sz="1100">
                <a:solidFill>
                  <a:srgbClr val="0042FF"/>
                </a:solidFill>
                <a:effectLst/>
                <a:latin typeface="微软雅黑"/>
                <a:ea typeface="微软雅黑"/>
                <a:cs typeface="微软雅黑"/>
                <a:sym typeface="微软雅黑"/>
              </a:endParaRPr>
            </a:p>
          </p:txBody>
        </p:sp>
      </p:grpSp>
      <p:sp>
        <p:nvSpPr>
          <p:cNvPr id="161" name="矩形: 圆角 34"/>
          <p:cNvSpPr/>
          <p:nvPr>
            <p:custDataLst>
              <p:tags r:id="rId18"/>
            </p:custDataLst>
          </p:nvPr>
        </p:nvSpPr>
        <p:spPr>
          <a:xfrm>
            <a:off x="10652125" y="2680970"/>
            <a:ext cx="1183005" cy="255905"/>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64" name="矩形: 圆角 34"/>
          <p:cNvSpPr/>
          <p:nvPr>
            <p:custDataLst>
              <p:tags r:id="rId19"/>
            </p:custDataLst>
          </p:nvPr>
        </p:nvSpPr>
        <p:spPr>
          <a:xfrm>
            <a:off x="10652125" y="3117850"/>
            <a:ext cx="1183005" cy="255905"/>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67" name="矩形: 圆角 34"/>
          <p:cNvSpPr/>
          <p:nvPr>
            <p:custDataLst>
              <p:tags r:id="rId20"/>
            </p:custDataLst>
          </p:nvPr>
        </p:nvSpPr>
        <p:spPr>
          <a:xfrm>
            <a:off x="10652125" y="3554730"/>
            <a:ext cx="1183005" cy="255905"/>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70" name="矩形: 圆角 34"/>
          <p:cNvSpPr/>
          <p:nvPr>
            <p:custDataLst>
              <p:tags r:id="rId21"/>
            </p:custDataLst>
          </p:nvPr>
        </p:nvSpPr>
        <p:spPr>
          <a:xfrm>
            <a:off x="10652125" y="3991610"/>
            <a:ext cx="1183005" cy="255905"/>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74" name="矩形: 圆角 34"/>
          <p:cNvSpPr/>
          <p:nvPr>
            <p:custDataLst>
              <p:tags r:id="rId22"/>
            </p:custDataLst>
          </p:nvPr>
        </p:nvSpPr>
        <p:spPr>
          <a:xfrm>
            <a:off x="10652125" y="4428490"/>
            <a:ext cx="1183005" cy="255905"/>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68" name="矩形: 圆角 34"/>
          <p:cNvSpPr/>
          <p:nvPr>
            <p:custDataLst>
              <p:tags r:id="rId23"/>
            </p:custDataLst>
          </p:nvPr>
        </p:nvSpPr>
        <p:spPr>
          <a:xfrm>
            <a:off x="10652125" y="4865370"/>
            <a:ext cx="1183005" cy="255905"/>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grpSp>
        <p:nvGrpSpPr>
          <p:cNvPr id="272" name="组合 271"/>
          <p:cNvGrpSpPr/>
          <p:nvPr/>
        </p:nvGrpSpPr>
        <p:grpSpPr>
          <a:xfrm>
            <a:off x="9230995" y="3348990"/>
            <a:ext cx="1183005" cy="266700"/>
            <a:chOff x="560" y="4391"/>
            <a:chExt cx="1863" cy="420"/>
          </a:xfrm>
        </p:grpSpPr>
        <p:sp>
          <p:nvSpPr>
            <p:cNvPr id="275" name="矩形: 圆角 34"/>
            <p:cNvSpPr/>
            <p:nvPr>
              <p:custDataLst>
                <p:tags r:id="rId24"/>
              </p:custDataLst>
            </p:nvPr>
          </p:nvSpPr>
          <p:spPr>
            <a:xfrm>
              <a:off x="560" y="4400"/>
              <a:ext cx="1863" cy="403"/>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78" name="文本框 277"/>
            <p:cNvSpPr txBox="1"/>
            <p:nvPr/>
          </p:nvSpPr>
          <p:spPr>
            <a:xfrm>
              <a:off x="695" y="4391"/>
              <a:ext cx="1615" cy="420"/>
            </a:xfrm>
            <a:prstGeom prst="rect">
              <a:avLst/>
            </a:prstGeom>
            <a:noFill/>
            <a:effectLst/>
          </p:spPr>
          <p:txBody>
            <a:bodyPr wrap="square" lIns="98755" tIns="49378" rIns="98755" bIns="49378" rtlCol="0">
              <a:spAutoFit/>
            </a:bodyPr>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联交所</a:t>
              </a:r>
              <a:r>
                <a:rPr lang="en-US" altLang="zh-CN" sz="1100" dirty="0">
                  <a:solidFill>
                    <a:srgbClr val="0042FF"/>
                  </a:solidFill>
                  <a:latin typeface="微软雅黑"/>
                  <a:ea typeface="微软雅黑"/>
                  <a:cs typeface="微软雅黑"/>
                </a:rPr>
                <a:t>C2</a:t>
              </a:r>
              <a:endParaRPr lang="en-US" altLang="zh-CN" sz="1100" dirty="0">
                <a:solidFill>
                  <a:srgbClr val="0042FF"/>
                </a:solidFill>
                <a:latin typeface="微软雅黑"/>
                <a:ea typeface="微软雅黑"/>
                <a:cs typeface="微软雅黑"/>
              </a:endParaRPr>
            </a:p>
          </p:txBody>
        </p:sp>
      </p:grpSp>
      <p:sp>
        <p:nvSpPr>
          <p:cNvPr id="294" name="矩形: 圆角 34"/>
          <p:cNvSpPr/>
          <p:nvPr>
            <p:custDataLst>
              <p:tags r:id="rId25"/>
            </p:custDataLst>
          </p:nvPr>
        </p:nvSpPr>
        <p:spPr>
          <a:xfrm>
            <a:off x="9230995" y="3853815"/>
            <a:ext cx="1183005" cy="255905"/>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grpSp>
        <p:nvGrpSpPr>
          <p:cNvPr id="296" name="组合 295"/>
          <p:cNvGrpSpPr/>
          <p:nvPr/>
        </p:nvGrpSpPr>
        <p:grpSpPr>
          <a:xfrm>
            <a:off x="9230995" y="4364355"/>
            <a:ext cx="1183005" cy="257810"/>
            <a:chOff x="560" y="4382"/>
            <a:chExt cx="1863" cy="406"/>
          </a:xfrm>
        </p:grpSpPr>
        <p:sp>
          <p:nvSpPr>
            <p:cNvPr id="297" name="矩形: 圆角 34"/>
            <p:cNvSpPr/>
            <p:nvPr>
              <p:custDataLst>
                <p:tags r:id="rId26"/>
              </p:custDataLst>
            </p:nvPr>
          </p:nvSpPr>
          <p:spPr>
            <a:xfrm>
              <a:off x="560" y="4382"/>
              <a:ext cx="1863" cy="403"/>
            </a:xfrm>
            <a:prstGeom prst="roundRect">
              <a:avLst>
                <a:gd name="adj" fmla="val 50000"/>
              </a:avLst>
            </a:prstGeom>
            <a:solidFill>
              <a:srgbClr val="FFFFFF"/>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98" name="文本框 297"/>
            <p:cNvSpPr txBox="1"/>
            <p:nvPr/>
          </p:nvSpPr>
          <p:spPr>
            <a:xfrm>
              <a:off x="695" y="4400"/>
              <a:ext cx="1615" cy="388"/>
            </a:xfrm>
            <a:prstGeom prst="rect">
              <a:avLst/>
            </a:prstGeom>
            <a:noFill/>
            <a:effec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sz="1000" dirty="0">
                  <a:solidFill>
                    <a:srgbClr val="0042FF"/>
                  </a:solidFill>
                  <a:latin typeface="微软雅黑"/>
                  <a:ea typeface="微软雅黑"/>
                  <a:cs typeface="微软雅黑"/>
                </a:rPr>
                <a:t>地方政府条例</a:t>
              </a:r>
              <a:endParaRPr lang="zh-CN" sz="1000" dirty="0">
                <a:solidFill>
                  <a:srgbClr val="0042FF"/>
                </a:solidFill>
                <a:latin typeface="微软雅黑"/>
                <a:ea typeface="微软雅黑"/>
                <a:cs typeface="微软雅黑"/>
              </a:endParaRPr>
            </a:p>
          </p:txBody>
        </p:sp>
      </p:grpSp>
      <p:sp>
        <p:nvSpPr>
          <p:cNvPr id="300" name="文本框 299"/>
          <p:cNvSpPr txBox="1"/>
          <p:nvPr/>
        </p:nvSpPr>
        <p:spPr>
          <a:xfrm>
            <a:off x="7190105" y="3902075"/>
            <a:ext cx="1605915" cy="646430"/>
          </a:xfrm>
          <a:prstGeom prst="rect">
            <a:avLst/>
          </a:prstGeom>
          <a:noFill/>
          <a:ln w="38100">
            <a:noFill/>
          </a:ln>
          <a:effectLst>
            <a:outerShdw blurRad="411480" dist="123444" dir="5400000" sx="108000" sy="108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algn="ctr">
              <a:defRPr sz="1945">
                <a:solidFill>
                  <a:srgbClr val="383838"/>
                </a:solidFill>
                <a:effectLst>
                  <a:outerShdw blurRad="137160" dist="41148" dir="2699997" algn="tl">
                    <a:srgbClr val="383838">
                      <a:alpha val="40000"/>
                    </a:srgbClr>
                  </a:outerShdw>
                </a:effectLst>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r>
              <a:rPr lang="zh-CN" altLang="en-US" sz="2000" b="1" dirty="0">
                <a:effectLst/>
                <a:latin typeface="微软雅黑"/>
                <a:ea typeface="微软雅黑"/>
                <a:cs typeface="微软雅黑"/>
              </a:rPr>
              <a:t>国内标准</a:t>
            </a:r>
            <a:endParaRPr lang="zh-CN" altLang="en-US" sz="2000" b="1" dirty="0">
              <a:effectLst/>
              <a:latin typeface="微软雅黑"/>
              <a:ea typeface="微软雅黑"/>
              <a:cs typeface="微软雅黑"/>
            </a:endParaRPr>
          </a:p>
        </p:txBody>
      </p:sp>
      <p:pic>
        <p:nvPicPr>
          <p:cNvPr id="327" name="图片 326" descr="国家标准新"/>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492365" y="3129280"/>
            <a:ext cx="883920" cy="883920"/>
          </a:xfrm>
          <a:prstGeom prst="rect">
            <a:avLst/>
          </a:prstGeom>
        </p:spPr>
      </p:pic>
      <p:grpSp>
        <p:nvGrpSpPr>
          <p:cNvPr id="328" name="组合 327"/>
          <p:cNvGrpSpPr/>
          <p:nvPr/>
        </p:nvGrpSpPr>
        <p:grpSpPr>
          <a:xfrm>
            <a:off x="1579880" y="1776095"/>
            <a:ext cx="1183005" cy="257810"/>
            <a:chOff x="560" y="4382"/>
            <a:chExt cx="1863" cy="406"/>
          </a:xfrm>
          <a:solidFill>
            <a:srgbClr val="B3D4FE"/>
          </a:solidFill>
        </p:grpSpPr>
        <p:sp>
          <p:nvSpPr>
            <p:cNvPr id="329" name="矩形: 圆角 34"/>
            <p:cNvSpPr/>
            <p:nvPr>
              <p:custDataLst>
                <p:tags r:id="rId29"/>
              </p:custDataLst>
            </p:nvPr>
          </p:nvSpPr>
          <p:spPr>
            <a:xfrm>
              <a:off x="560" y="4382"/>
              <a:ext cx="1863" cy="403"/>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330" name="文本框 329"/>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绿色金融</a:t>
              </a:r>
              <a:endParaRPr lang="zh-CN" altLang="en-US" sz="1000" dirty="0">
                <a:solidFill>
                  <a:srgbClr val="FFFFFF"/>
                </a:solidFill>
                <a:latin typeface="微软雅黑"/>
                <a:ea typeface="微软雅黑"/>
                <a:cs typeface="微软雅黑"/>
              </a:endParaRPr>
            </a:p>
          </p:txBody>
        </p:sp>
      </p:grpSp>
      <p:grpSp>
        <p:nvGrpSpPr>
          <p:cNvPr id="331" name="组合 330"/>
          <p:cNvGrpSpPr/>
          <p:nvPr/>
        </p:nvGrpSpPr>
        <p:grpSpPr>
          <a:xfrm>
            <a:off x="2927350" y="1776095"/>
            <a:ext cx="1183005" cy="257810"/>
            <a:chOff x="560" y="4382"/>
            <a:chExt cx="1863" cy="406"/>
          </a:xfrm>
          <a:solidFill>
            <a:srgbClr val="B3D4FE"/>
          </a:solidFill>
        </p:grpSpPr>
        <p:sp>
          <p:nvSpPr>
            <p:cNvPr id="332" name="矩形: 圆角 34"/>
            <p:cNvSpPr/>
            <p:nvPr>
              <p:custDataLst>
                <p:tags r:id="rId30"/>
              </p:custDataLst>
            </p:nvPr>
          </p:nvSpPr>
          <p:spPr>
            <a:xfrm>
              <a:off x="560" y="4382"/>
              <a:ext cx="1863" cy="403"/>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333" name="文本框 332"/>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普惠金融</a:t>
              </a:r>
              <a:endParaRPr lang="zh-CN" altLang="en-US" sz="1000" dirty="0">
                <a:solidFill>
                  <a:srgbClr val="FFFFFF"/>
                </a:solidFill>
                <a:latin typeface="微软雅黑"/>
                <a:ea typeface="微软雅黑"/>
                <a:cs typeface="微软雅黑"/>
              </a:endParaRPr>
            </a:p>
          </p:txBody>
        </p:sp>
      </p:grpSp>
      <p:grpSp>
        <p:nvGrpSpPr>
          <p:cNvPr id="334" name="组合 333"/>
          <p:cNvGrpSpPr/>
          <p:nvPr/>
        </p:nvGrpSpPr>
        <p:grpSpPr>
          <a:xfrm>
            <a:off x="2447290" y="2183765"/>
            <a:ext cx="1183005" cy="257810"/>
            <a:chOff x="560" y="4382"/>
            <a:chExt cx="1863" cy="406"/>
          </a:xfrm>
          <a:solidFill>
            <a:srgbClr val="B3D4FE"/>
          </a:solidFill>
        </p:grpSpPr>
        <p:sp>
          <p:nvSpPr>
            <p:cNvPr id="335" name="矩形: 圆角 34"/>
            <p:cNvSpPr/>
            <p:nvPr>
              <p:custDataLst>
                <p:tags r:id="rId31"/>
              </p:custDataLst>
            </p:nvPr>
          </p:nvSpPr>
          <p:spPr>
            <a:xfrm>
              <a:off x="560" y="4382"/>
              <a:ext cx="1863" cy="403"/>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336" name="文本框 335"/>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负责任金融</a:t>
              </a:r>
              <a:endParaRPr lang="zh-CN" altLang="en-US" sz="1000" dirty="0">
                <a:solidFill>
                  <a:srgbClr val="FFFFFF"/>
                </a:solidFill>
                <a:latin typeface="微软雅黑"/>
                <a:ea typeface="微软雅黑"/>
                <a:cs typeface="微软雅黑"/>
              </a:endParaRPr>
            </a:p>
          </p:txBody>
        </p:sp>
      </p:grpSp>
      <p:grpSp>
        <p:nvGrpSpPr>
          <p:cNvPr id="337" name="组合 336"/>
          <p:cNvGrpSpPr/>
          <p:nvPr/>
        </p:nvGrpSpPr>
        <p:grpSpPr>
          <a:xfrm>
            <a:off x="8151495" y="1776095"/>
            <a:ext cx="1183005" cy="257810"/>
            <a:chOff x="560" y="4382"/>
            <a:chExt cx="1863" cy="406"/>
          </a:xfrm>
          <a:solidFill>
            <a:srgbClr val="B3D4FE"/>
          </a:solidFill>
        </p:grpSpPr>
        <p:sp>
          <p:nvSpPr>
            <p:cNvPr id="338" name="矩形: 圆角 34"/>
            <p:cNvSpPr/>
            <p:nvPr>
              <p:custDataLst>
                <p:tags r:id="rId32"/>
              </p:custDataLst>
            </p:nvPr>
          </p:nvSpPr>
          <p:spPr>
            <a:xfrm>
              <a:off x="560" y="4382"/>
              <a:ext cx="1863" cy="403"/>
            </a:xfrm>
            <a:prstGeom prst="roundRect">
              <a:avLst>
                <a:gd name="adj" fmla="val 50000"/>
              </a:avLst>
            </a:prstGeom>
            <a:grp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39" name="文本框 338"/>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绿色金融</a:t>
              </a:r>
              <a:endParaRPr lang="zh-CN" altLang="en-US" sz="1000" dirty="0">
                <a:solidFill>
                  <a:srgbClr val="383838"/>
                </a:solidFill>
                <a:latin typeface="微软雅黑"/>
                <a:ea typeface="微软雅黑"/>
                <a:cs typeface="微软雅黑"/>
              </a:endParaRPr>
            </a:p>
          </p:txBody>
        </p:sp>
      </p:grpSp>
      <p:grpSp>
        <p:nvGrpSpPr>
          <p:cNvPr id="340" name="组合 339"/>
          <p:cNvGrpSpPr/>
          <p:nvPr/>
        </p:nvGrpSpPr>
        <p:grpSpPr>
          <a:xfrm>
            <a:off x="9498965" y="1776095"/>
            <a:ext cx="1183005" cy="257810"/>
            <a:chOff x="560" y="4382"/>
            <a:chExt cx="1863" cy="406"/>
          </a:xfrm>
          <a:solidFill>
            <a:srgbClr val="B3D4FE"/>
          </a:solidFill>
        </p:grpSpPr>
        <p:sp>
          <p:nvSpPr>
            <p:cNvPr id="341" name="矩形: 圆角 34"/>
            <p:cNvSpPr/>
            <p:nvPr>
              <p:custDataLst>
                <p:tags r:id="rId33"/>
              </p:custDataLst>
            </p:nvPr>
          </p:nvSpPr>
          <p:spPr>
            <a:xfrm>
              <a:off x="560" y="4382"/>
              <a:ext cx="1863" cy="403"/>
            </a:xfrm>
            <a:prstGeom prst="roundRect">
              <a:avLst>
                <a:gd name="adj" fmla="val 50000"/>
              </a:avLst>
            </a:prstGeom>
            <a:grp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42" name="文本框 341"/>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普惠金融</a:t>
              </a:r>
              <a:endParaRPr lang="zh-CN" altLang="en-US" sz="1000" dirty="0">
                <a:solidFill>
                  <a:srgbClr val="383838"/>
                </a:solidFill>
                <a:latin typeface="微软雅黑"/>
                <a:ea typeface="微软雅黑"/>
                <a:cs typeface="微软雅黑"/>
              </a:endParaRPr>
            </a:p>
          </p:txBody>
        </p:sp>
      </p:grpSp>
      <p:grpSp>
        <p:nvGrpSpPr>
          <p:cNvPr id="343" name="组合 342"/>
          <p:cNvGrpSpPr/>
          <p:nvPr/>
        </p:nvGrpSpPr>
        <p:grpSpPr>
          <a:xfrm>
            <a:off x="9018905" y="2183765"/>
            <a:ext cx="1183005" cy="257810"/>
            <a:chOff x="560" y="4382"/>
            <a:chExt cx="1863" cy="406"/>
          </a:xfrm>
          <a:solidFill>
            <a:srgbClr val="B3D4FE"/>
          </a:solidFill>
        </p:grpSpPr>
        <p:sp>
          <p:nvSpPr>
            <p:cNvPr id="344" name="矩形: 圆角 34"/>
            <p:cNvSpPr/>
            <p:nvPr>
              <p:custDataLst>
                <p:tags r:id="rId34"/>
              </p:custDataLst>
            </p:nvPr>
          </p:nvSpPr>
          <p:spPr>
            <a:xfrm>
              <a:off x="560" y="4382"/>
              <a:ext cx="1863" cy="403"/>
            </a:xfrm>
            <a:prstGeom prst="roundRect">
              <a:avLst>
                <a:gd name="adj" fmla="val 50000"/>
              </a:avLst>
            </a:prstGeom>
            <a:grp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45" name="文本框 344"/>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负责任金融</a:t>
              </a:r>
              <a:endParaRPr lang="zh-CN" altLang="en-US" sz="1000" dirty="0">
                <a:solidFill>
                  <a:srgbClr val="383838"/>
                </a:solidFill>
                <a:latin typeface="微软雅黑"/>
                <a:ea typeface="微软雅黑"/>
                <a:cs typeface="微软雅黑"/>
              </a:endParaRPr>
            </a:p>
          </p:txBody>
        </p:sp>
      </p:grpSp>
      <p:grpSp>
        <p:nvGrpSpPr>
          <p:cNvPr id="346" name="组合 345"/>
          <p:cNvGrpSpPr/>
          <p:nvPr/>
        </p:nvGrpSpPr>
        <p:grpSpPr>
          <a:xfrm>
            <a:off x="2519045" y="5483225"/>
            <a:ext cx="1183005" cy="257810"/>
            <a:chOff x="560" y="4382"/>
            <a:chExt cx="1863" cy="406"/>
          </a:xfrm>
          <a:solidFill>
            <a:srgbClr val="B3D4FE"/>
          </a:solidFill>
        </p:grpSpPr>
        <p:sp>
          <p:nvSpPr>
            <p:cNvPr id="347" name="矩形: 圆角 34"/>
            <p:cNvSpPr/>
            <p:nvPr>
              <p:custDataLst>
                <p:tags r:id="rId35"/>
              </p:custDataLst>
            </p:nvPr>
          </p:nvSpPr>
          <p:spPr>
            <a:xfrm>
              <a:off x="560" y="4382"/>
              <a:ext cx="1863" cy="403"/>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348" name="文本框 347"/>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防范金融犯罪</a:t>
              </a:r>
              <a:endParaRPr lang="zh-CN" altLang="en-US" sz="1000" dirty="0">
                <a:solidFill>
                  <a:srgbClr val="FFFFFF"/>
                </a:solidFill>
                <a:latin typeface="微软雅黑"/>
                <a:ea typeface="微软雅黑"/>
                <a:cs typeface="微软雅黑"/>
              </a:endParaRPr>
            </a:p>
          </p:txBody>
        </p:sp>
      </p:grpSp>
      <p:sp>
        <p:nvSpPr>
          <p:cNvPr id="350" name="矩形: 圆角 34"/>
          <p:cNvSpPr/>
          <p:nvPr>
            <p:custDataLst>
              <p:tags r:id="rId36"/>
            </p:custDataLst>
          </p:nvPr>
        </p:nvSpPr>
        <p:spPr>
          <a:xfrm>
            <a:off x="3302635" y="6116955"/>
            <a:ext cx="1183005" cy="255905"/>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grpSp>
        <p:nvGrpSpPr>
          <p:cNvPr id="352" name="组合 351"/>
          <p:cNvGrpSpPr/>
          <p:nvPr/>
        </p:nvGrpSpPr>
        <p:grpSpPr>
          <a:xfrm>
            <a:off x="8387715" y="5870575"/>
            <a:ext cx="1183005" cy="257810"/>
            <a:chOff x="560" y="4382"/>
            <a:chExt cx="1863" cy="406"/>
          </a:xfrm>
          <a:solidFill>
            <a:srgbClr val="B3D4FE"/>
          </a:solidFill>
        </p:grpSpPr>
        <p:sp>
          <p:nvSpPr>
            <p:cNvPr id="353" name="矩形: 圆角 34"/>
            <p:cNvSpPr/>
            <p:nvPr>
              <p:custDataLst>
                <p:tags r:id="rId37"/>
              </p:custDataLst>
            </p:nvPr>
          </p:nvSpPr>
          <p:spPr>
            <a:xfrm>
              <a:off x="560" y="4382"/>
              <a:ext cx="1863" cy="403"/>
            </a:xfrm>
            <a:prstGeom prst="roundRect">
              <a:avLst>
                <a:gd name="adj" fmla="val 50000"/>
              </a:avLst>
            </a:prstGeom>
            <a:grp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54" name="文本框 353"/>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科技伦理</a:t>
              </a:r>
              <a:endParaRPr lang="zh-CN" altLang="en-US" sz="1000" dirty="0">
                <a:solidFill>
                  <a:srgbClr val="383838"/>
                </a:solidFill>
                <a:latin typeface="微软雅黑"/>
                <a:ea typeface="微软雅黑"/>
                <a:cs typeface="微软雅黑"/>
              </a:endParaRPr>
            </a:p>
          </p:txBody>
        </p:sp>
      </p:grpSp>
      <p:grpSp>
        <p:nvGrpSpPr>
          <p:cNvPr id="355" name="组合 354"/>
          <p:cNvGrpSpPr/>
          <p:nvPr/>
        </p:nvGrpSpPr>
        <p:grpSpPr>
          <a:xfrm>
            <a:off x="8428990" y="6313170"/>
            <a:ext cx="1183005" cy="257810"/>
            <a:chOff x="560" y="4382"/>
            <a:chExt cx="1863" cy="406"/>
          </a:xfrm>
          <a:solidFill>
            <a:srgbClr val="B3D4FE"/>
          </a:solidFill>
        </p:grpSpPr>
        <p:sp>
          <p:nvSpPr>
            <p:cNvPr id="356" name="矩形: 圆角 34"/>
            <p:cNvSpPr/>
            <p:nvPr>
              <p:custDataLst>
                <p:tags r:id="rId38"/>
              </p:custDataLst>
            </p:nvPr>
          </p:nvSpPr>
          <p:spPr>
            <a:xfrm>
              <a:off x="560" y="4382"/>
              <a:ext cx="1863" cy="403"/>
            </a:xfrm>
            <a:prstGeom prst="roundRect">
              <a:avLst>
                <a:gd name="adj" fmla="val 50000"/>
              </a:avLst>
            </a:prstGeom>
            <a:grp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57" name="文本框 356"/>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数据保护</a:t>
              </a:r>
              <a:endParaRPr lang="zh-CN" altLang="en-US" sz="1000" dirty="0">
                <a:solidFill>
                  <a:srgbClr val="383838"/>
                </a:solidFill>
                <a:latin typeface="微软雅黑"/>
                <a:ea typeface="微软雅黑"/>
                <a:cs typeface="微软雅黑"/>
              </a:endParaRPr>
            </a:p>
          </p:txBody>
        </p:sp>
      </p:grpSp>
      <p:grpSp>
        <p:nvGrpSpPr>
          <p:cNvPr id="358" name="组合 357"/>
          <p:cNvGrpSpPr/>
          <p:nvPr/>
        </p:nvGrpSpPr>
        <p:grpSpPr>
          <a:xfrm>
            <a:off x="9839960" y="6313170"/>
            <a:ext cx="1183005" cy="257810"/>
            <a:chOff x="560" y="4382"/>
            <a:chExt cx="1863" cy="406"/>
          </a:xfrm>
          <a:solidFill>
            <a:srgbClr val="B3D4FE"/>
          </a:solidFill>
        </p:grpSpPr>
        <p:sp>
          <p:nvSpPr>
            <p:cNvPr id="359" name="矩形: 圆角 34"/>
            <p:cNvSpPr/>
            <p:nvPr>
              <p:custDataLst>
                <p:tags r:id="rId39"/>
              </p:custDataLst>
            </p:nvPr>
          </p:nvSpPr>
          <p:spPr>
            <a:xfrm>
              <a:off x="560" y="4382"/>
              <a:ext cx="1863" cy="403"/>
            </a:xfrm>
            <a:prstGeom prst="roundRect">
              <a:avLst>
                <a:gd name="adj" fmla="val 50000"/>
              </a:avLst>
            </a:prstGeom>
            <a:grp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60" name="文本框 359"/>
            <p:cNvSpPr txBox="1"/>
            <p:nvPr/>
          </p:nvSpPr>
          <p:spPr>
            <a:xfrm>
              <a:off x="695" y="4400"/>
              <a:ext cx="1615" cy="388"/>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p:txBody>
        </p:sp>
      </p:grpSp>
      <p:sp>
        <p:nvSpPr>
          <p:cNvPr id="362" name="Rounded Rectangle 5"/>
          <p:cNvSpPr/>
          <p:nvPr/>
        </p:nvSpPr>
        <p:spPr>
          <a:xfrm rot="8100000">
            <a:off x="5666535" y="2119736"/>
            <a:ext cx="858416" cy="857688"/>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352" h="1351">
                <a:moveTo>
                  <a:pt x="450" y="142"/>
                </a:moveTo>
                <a:cubicBezTo>
                  <a:pt x="447" y="63"/>
                  <a:pt x="519" y="0"/>
                  <a:pt x="590" y="2"/>
                </a:cubicBezTo>
                <a:lnTo>
                  <a:pt x="1191" y="2"/>
                </a:lnTo>
                <a:lnTo>
                  <a:pt x="1192" y="1"/>
                </a:lnTo>
                <a:lnTo>
                  <a:pt x="1192" y="1"/>
                </a:lnTo>
                <a:cubicBezTo>
                  <a:pt x="1194" y="1"/>
                  <a:pt x="1211" y="0"/>
                  <a:pt x="1212" y="0"/>
                </a:cubicBezTo>
                <a:cubicBezTo>
                  <a:pt x="1284" y="-4"/>
                  <a:pt x="1345" y="63"/>
                  <a:pt x="1350" y="120"/>
                </a:cubicBezTo>
                <a:cubicBezTo>
                  <a:pt x="1351" y="120"/>
                  <a:pt x="1352" y="141"/>
                  <a:pt x="1352" y="142"/>
                </a:cubicBezTo>
                <a:lnTo>
                  <a:pt x="1352" y="145"/>
                </a:lnTo>
                <a:lnTo>
                  <a:pt x="1352" y="149"/>
                </a:lnTo>
                <a:lnTo>
                  <a:pt x="1352" y="149"/>
                </a:lnTo>
                <a:lnTo>
                  <a:pt x="1352" y="759"/>
                </a:lnTo>
                <a:cubicBezTo>
                  <a:pt x="1354" y="838"/>
                  <a:pt x="1282" y="901"/>
                  <a:pt x="1212" y="899"/>
                </a:cubicBezTo>
                <a:cubicBezTo>
                  <a:pt x="1133" y="901"/>
                  <a:pt x="1070" y="829"/>
                  <a:pt x="1072" y="759"/>
                </a:cubicBezTo>
                <a:lnTo>
                  <a:pt x="1072" y="477"/>
                </a:lnTo>
                <a:lnTo>
                  <a:pt x="239" y="1310"/>
                </a:lnTo>
                <a:cubicBezTo>
                  <a:pt x="213" y="1337"/>
                  <a:pt x="170" y="1351"/>
                  <a:pt x="142" y="1351"/>
                </a:cubicBezTo>
                <a:lnTo>
                  <a:pt x="138" y="1351"/>
                </a:lnTo>
                <a:cubicBezTo>
                  <a:pt x="66" y="1356"/>
                  <a:pt x="-5" y="1277"/>
                  <a:pt x="0" y="1212"/>
                </a:cubicBezTo>
                <a:lnTo>
                  <a:pt x="0" y="1209"/>
                </a:lnTo>
                <a:cubicBezTo>
                  <a:pt x="-1" y="1174"/>
                  <a:pt x="18" y="1133"/>
                  <a:pt x="41" y="1112"/>
                </a:cubicBezTo>
                <a:lnTo>
                  <a:pt x="871" y="282"/>
                </a:lnTo>
                <a:lnTo>
                  <a:pt x="590" y="282"/>
                </a:lnTo>
                <a:cubicBezTo>
                  <a:pt x="511" y="284"/>
                  <a:pt x="448" y="212"/>
                  <a:pt x="450" y="142"/>
                </a:cubicBezTo>
                <a:close/>
              </a:path>
            </a:pathLst>
          </a:custGeom>
          <a:gradFill>
            <a:gsLst>
              <a:gs pos="0">
                <a:srgbClr val="DCDCDC"/>
              </a:gs>
              <a:gs pos="100000">
                <a:srgbClr val="DCDCDC"/>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p>
            <a:pPr algn="ctr">
              <a:defRPr>
                <a:latin typeface="微软雅黑"/>
                <a:ea typeface="微软雅黑"/>
                <a:cs typeface="微软雅黑"/>
              </a:defRPr>
            </a:pPr>
            <a:endParaRPr 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65" name="文本框 364"/>
          <p:cNvSpPr txBox="1"/>
          <p:nvPr/>
        </p:nvSpPr>
        <p:spPr>
          <a:xfrm>
            <a:off x="5213985" y="5958840"/>
            <a:ext cx="1976120" cy="646430"/>
          </a:xfrm>
          <a:prstGeom prst="rect">
            <a:avLst/>
          </a:prstGeom>
          <a:noFill/>
          <a:ln w="38100">
            <a:noFill/>
          </a:ln>
          <a:effectLst>
            <a:outerShdw blurRad="411480" dist="123444" dir="5400000" sx="108000" sy="108000" algn="ctr" rotWithShape="0">
              <a:srgbClr val="668E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algn="ctr">
              <a:defRPr sz="1945">
                <a:solidFill>
                  <a:srgbClr val="383838"/>
                </a:solidFill>
                <a:effectLst>
                  <a:outerShdw blurRad="137160" dist="41148" dir="2699997" algn="tl">
                    <a:srgbClr val="383838">
                      <a:alpha val="40000"/>
                    </a:srgbClr>
                  </a:outerShdw>
                </a:effectLst>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defRPr>
                <a:latin typeface="微软雅黑"/>
                <a:ea typeface="微软雅黑"/>
                <a:cs typeface="微软雅黑"/>
              </a:defRPr>
            </a:pPr>
            <a:r>
              <a:rPr lang="zh-CN" altLang="en-US" sz="1600" dirty="0">
                <a:solidFill>
                  <a:srgbClr val="383838"/>
                </a:solidFill>
                <a:effectLst/>
                <a:latin typeface="微软雅黑"/>
                <a:ea typeface="微软雅黑"/>
                <a:cs typeface="微软雅黑"/>
              </a:rPr>
              <a:t>金融科技行业特性</a:t>
            </a:r>
            <a:endParaRPr lang="zh-CN" altLang="en-US" sz="1600" dirty="0">
              <a:solidFill>
                <a:srgbClr val="383838"/>
              </a:solidFill>
              <a:effectLst/>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40"/>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1" name="文本框 10"/>
          <p:cNvSpPr txBox="1"/>
          <p:nvPr/>
        </p:nvSpPr>
        <p:spPr>
          <a:xfrm>
            <a:off x="3302000" y="6128385"/>
            <a:ext cx="1183640"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金融适当性管理</a:t>
            </a:r>
            <a:endParaRPr lang="zh-CN" altLang="en-US" sz="1000" dirty="0">
              <a:solidFill>
                <a:srgbClr val="FFFFFF"/>
              </a:solidFill>
              <a:latin typeface="微软雅黑"/>
              <a:ea typeface="微软雅黑"/>
              <a:cs typeface="微软雅黑"/>
            </a:endParaRPr>
          </a:p>
        </p:txBody>
      </p:sp>
      <p:sp>
        <p:nvSpPr>
          <p:cNvPr id="12" name="文本框 11"/>
          <p:cNvSpPr txBox="1"/>
          <p:nvPr/>
        </p:nvSpPr>
        <p:spPr>
          <a:xfrm>
            <a:off x="9230360" y="3865245"/>
            <a:ext cx="1184275"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上市公司社会责任</a:t>
            </a:r>
            <a:endParaRPr lang="zh-CN" altLang="en-US" sz="1000" dirty="0">
              <a:solidFill>
                <a:srgbClr val="0042FF"/>
              </a:solidFill>
              <a:latin typeface="微软雅黑"/>
              <a:ea typeface="微软雅黑"/>
              <a:cs typeface="微软雅黑"/>
            </a:endParaRPr>
          </a:p>
        </p:txBody>
      </p:sp>
      <p:sp>
        <p:nvSpPr>
          <p:cNvPr id="13" name="文本框 12"/>
          <p:cNvSpPr txBox="1"/>
          <p:nvPr/>
        </p:nvSpPr>
        <p:spPr>
          <a:xfrm>
            <a:off x="10615930" y="2692400"/>
            <a:ext cx="1246505"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en-US" altLang="zh-CN" sz="1000" dirty="0">
                <a:solidFill>
                  <a:srgbClr val="0042FF"/>
                </a:solidFill>
                <a:latin typeface="微软雅黑"/>
                <a:ea typeface="微软雅黑"/>
                <a:cs typeface="微软雅黑"/>
              </a:rPr>
              <a:t>GB/T36001-2015</a:t>
            </a:r>
            <a:endParaRPr lang="en-US" altLang="zh-CN" sz="1000" dirty="0">
              <a:solidFill>
                <a:srgbClr val="0042FF"/>
              </a:solidFill>
              <a:latin typeface="微软雅黑"/>
              <a:ea typeface="微软雅黑"/>
              <a:cs typeface="微软雅黑"/>
            </a:endParaRPr>
          </a:p>
        </p:txBody>
      </p:sp>
      <p:sp>
        <p:nvSpPr>
          <p:cNvPr id="14" name="文本框 13"/>
          <p:cNvSpPr txBox="1"/>
          <p:nvPr/>
        </p:nvSpPr>
        <p:spPr>
          <a:xfrm>
            <a:off x="10651490" y="3129280"/>
            <a:ext cx="1233170"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sym typeface="微软雅黑"/>
              </a:rPr>
              <a:t>社会责任指南</a:t>
            </a:r>
            <a:endParaRPr lang="zh-CN" altLang="en-US" sz="1000" dirty="0">
              <a:solidFill>
                <a:srgbClr val="0042FF"/>
              </a:solidFill>
              <a:latin typeface="微软雅黑"/>
              <a:ea typeface="微软雅黑"/>
              <a:cs typeface="微软雅黑"/>
              <a:sym typeface="微软雅黑"/>
            </a:endParaRPr>
          </a:p>
        </p:txBody>
      </p:sp>
      <p:sp>
        <p:nvSpPr>
          <p:cNvPr id="15" name="文本框 14"/>
          <p:cNvSpPr txBox="1"/>
          <p:nvPr/>
        </p:nvSpPr>
        <p:spPr>
          <a:xfrm>
            <a:off x="10651490" y="3566160"/>
            <a:ext cx="1183640"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联交所信息披露</a:t>
            </a:r>
            <a:endParaRPr lang="zh-CN" altLang="en-US" sz="1000" dirty="0">
              <a:solidFill>
                <a:srgbClr val="0042FF"/>
              </a:solidFill>
              <a:latin typeface="微软雅黑"/>
              <a:ea typeface="微软雅黑"/>
              <a:cs typeface="微软雅黑"/>
            </a:endParaRPr>
          </a:p>
        </p:txBody>
      </p:sp>
      <p:sp>
        <p:nvSpPr>
          <p:cNvPr id="16" name="文本框 15"/>
          <p:cNvSpPr txBox="1"/>
          <p:nvPr/>
        </p:nvSpPr>
        <p:spPr>
          <a:xfrm>
            <a:off x="10615930" y="4003040"/>
            <a:ext cx="1247140"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交易所编制指引</a:t>
            </a:r>
            <a:endParaRPr lang="zh-CN" altLang="en-US" sz="1000" dirty="0">
              <a:solidFill>
                <a:srgbClr val="0042FF"/>
              </a:solidFill>
              <a:latin typeface="微软雅黑"/>
              <a:ea typeface="微软雅黑"/>
              <a:cs typeface="微软雅黑"/>
            </a:endParaRPr>
          </a:p>
        </p:txBody>
      </p:sp>
      <p:sp>
        <p:nvSpPr>
          <p:cNvPr id="17" name="文本框 16"/>
          <p:cNvSpPr txBox="1"/>
          <p:nvPr/>
        </p:nvSpPr>
        <p:spPr>
          <a:xfrm>
            <a:off x="10616565" y="4439920"/>
            <a:ext cx="1268730"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zh-CN" sz="1000" dirty="0">
                <a:solidFill>
                  <a:srgbClr val="0042FF"/>
                </a:solidFill>
                <a:latin typeface="微软雅黑"/>
                <a:ea typeface="微软雅黑"/>
                <a:cs typeface="微软雅黑"/>
              </a:rPr>
              <a:t>金融机构信息披露</a:t>
            </a:r>
            <a:endParaRPr lang="zh-CN" altLang="zh-CN" sz="1000" dirty="0">
              <a:solidFill>
                <a:srgbClr val="0042FF"/>
              </a:solidFill>
              <a:latin typeface="微软雅黑"/>
              <a:ea typeface="微软雅黑"/>
              <a:cs typeface="微软雅黑"/>
            </a:endParaRPr>
          </a:p>
        </p:txBody>
      </p:sp>
      <p:sp>
        <p:nvSpPr>
          <p:cNvPr id="19" name="文本框 18"/>
          <p:cNvSpPr txBox="1"/>
          <p:nvPr/>
        </p:nvSpPr>
        <p:spPr>
          <a:xfrm>
            <a:off x="10737850" y="4876800"/>
            <a:ext cx="1025525" cy="246380"/>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p>
            <a:pPr algn="ctr">
              <a:defRPr>
                <a:latin typeface="微软雅黑"/>
                <a:ea typeface="微软雅黑"/>
                <a:cs typeface="微软雅黑"/>
              </a:defRPr>
              <a:lnSpc>
                <a:spcPts val="1120"/>
              </a:lnSpc>
              <a:spcBef>
                <a:spcPts val="0"/>
              </a:spcBef>
              <a:spcAft>
                <a:spcPts val="0"/>
              </a:spcAft>
            </a:pPr>
            <a:r>
              <a:rPr lang="en-US" altLang="zh-CN" sz="1000" dirty="0">
                <a:solidFill>
                  <a:srgbClr val="0042FF"/>
                </a:solidFill>
                <a:latin typeface="微软雅黑"/>
                <a:ea typeface="微软雅黑"/>
                <a:cs typeface="微软雅黑"/>
              </a:rPr>
              <a:t>……</a:t>
            </a:r>
            <a:endParaRPr lang="en-US" altLang="zh-CN" sz="1000" dirty="0">
              <a:solidFill>
                <a:srgbClr val="0042FF"/>
              </a:solidFill>
              <a:latin typeface="微软雅黑"/>
              <a:ea typeface="微软雅黑"/>
              <a:cs typeface="微软雅黑"/>
            </a:endParaRPr>
          </a:p>
        </p:txBody>
      </p:sp>
      <p:sp>
        <p:nvSpPr>
          <p:cNvPr id="21" name="Rounded Rectangle 5"/>
          <p:cNvSpPr/>
          <p:nvPr/>
        </p:nvSpPr>
        <p:spPr>
          <a:xfrm rot="13500000" flipV="1">
            <a:off x="5727495" y="4676881"/>
            <a:ext cx="858416" cy="857688"/>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352" h="1351">
                <a:moveTo>
                  <a:pt x="450" y="142"/>
                </a:moveTo>
                <a:cubicBezTo>
                  <a:pt x="447" y="63"/>
                  <a:pt x="519" y="0"/>
                  <a:pt x="590" y="2"/>
                </a:cubicBezTo>
                <a:lnTo>
                  <a:pt x="1191" y="2"/>
                </a:lnTo>
                <a:lnTo>
                  <a:pt x="1192" y="1"/>
                </a:lnTo>
                <a:lnTo>
                  <a:pt x="1192" y="1"/>
                </a:lnTo>
                <a:cubicBezTo>
                  <a:pt x="1194" y="1"/>
                  <a:pt x="1211" y="0"/>
                  <a:pt x="1212" y="0"/>
                </a:cubicBezTo>
                <a:cubicBezTo>
                  <a:pt x="1284" y="-4"/>
                  <a:pt x="1345" y="63"/>
                  <a:pt x="1350" y="120"/>
                </a:cubicBezTo>
                <a:cubicBezTo>
                  <a:pt x="1351" y="120"/>
                  <a:pt x="1352" y="141"/>
                  <a:pt x="1352" y="142"/>
                </a:cubicBezTo>
                <a:lnTo>
                  <a:pt x="1352" y="145"/>
                </a:lnTo>
                <a:lnTo>
                  <a:pt x="1352" y="149"/>
                </a:lnTo>
                <a:lnTo>
                  <a:pt x="1352" y="149"/>
                </a:lnTo>
                <a:lnTo>
                  <a:pt x="1352" y="759"/>
                </a:lnTo>
                <a:cubicBezTo>
                  <a:pt x="1354" y="838"/>
                  <a:pt x="1282" y="901"/>
                  <a:pt x="1212" y="899"/>
                </a:cubicBezTo>
                <a:cubicBezTo>
                  <a:pt x="1133" y="901"/>
                  <a:pt x="1070" y="829"/>
                  <a:pt x="1072" y="759"/>
                </a:cubicBezTo>
                <a:lnTo>
                  <a:pt x="1072" y="477"/>
                </a:lnTo>
                <a:lnTo>
                  <a:pt x="239" y="1310"/>
                </a:lnTo>
                <a:cubicBezTo>
                  <a:pt x="213" y="1337"/>
                  <a:pt x="170" y="1351"/>
                  <a:pt x="142" y="1351"/>
                </a:cubicBezTo>
                <a:lnTo>
                  <a:pt x="138" y="1351"/>
                </a:lnTo>
                <a:cubicBezTo>
                  <a:pt x="66" y="1356"/>
                  <a:pt x="-5" y="1277"/>
                  <a:pt x="0" y="1212"/>
                </a:cubicBezTo>
                <a:lnTo>
                  <a:pt x="0" y="1209"/>
                </a:lnTo>
                <a:cubicBezTo>
                  <a:pt x="-1" y="1174"/>
                  <a:pt x="18" y="1133"/>
                  <a:pt x="41" y="1112"/>
                </a:cubicBezTo>
                <a:lnTo>
                  <a:pt x="871" y="282"/>
                </a:lnTo>
                <a:lnTo>
                  <a:pt x="590" y="282"/>
                </a:lnTo>
                <a:cubicBezTo>
                  <a:pt x="511" y="284"/>
                  <a:pt x="448" y="212"/>
                  <a:pt x="450" y="142"/>
                </a:cubicBezTo>
                <a:close/>
              </a:path>
            </a:pathLst>
          </a:custGeom>
          <a:gradFill>
            <a:gsLst>
              <a:gs pos="0">
                <a:srgbClr val="DCDCDC"/>
              </a:gs>
              <a:gs pos="100000">
                <a:srgbClr val="DCDCDC"/>
              </a:gs>
            </a:gsLst>
            <a:lin ang="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endParaRPr 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天蝎PPT6"/>
          <p:cNvSpPr/>
          <p:nvPr>
            <p:custDataLst>
              <p:tags r:id="rId1"/>
            </p:custDataLst>
          </p:nvPr>
        </p:nvSpPr>
        <p:spPr>
          <a:xfrm rot="16200000" flipH="1">
            <a:off x="3190240" y="1364428"/>
            <a:ext cx="8493760" cy="4600575"/>
          </a:xfrm>
          <a:prstGeom prst="triangle">
            <a:avLst/>
          </a:prstGeom>
          <a:gradFill>
            <a:gsLst>
              <a:gs pos="0">
                <a:srgbClr val="668EFF"/>
              </a:gs>
              <a:gs pos="66000">
                <a:srgbClr val="E6E6E6">
                  <a:alpha val="0"/>
                </a:srgbClr>
              </a:gs>
            </a:gsLst>
            <a:lin ang="5400000" scaled="0"/>
          </a:gradFill>
          <a:ln w="9525">
            <a:noFill/>
          </a:ln>
        </p:spPr>
        <p:txBody>
          <a:bodyPr vert="horz" wrap="square" lIns="68580" tIns="34290" rIns="68580" bIns="34290" numCol="1" rtlCol="0" anchor="t" anchorCtr="0" compatLnSpc="1">
            <a:noAutofit/>
          </a:bodyPr>
          <a:p>
            <a:pPr lvl="0" algn="l">
              <a:buClrTx/>
              <a:buSzTx/>
              <a:buFontTx/>
              <a:defRPr>
                <a:solidFill>
                  <a:srgbClr val="383838"/>
                </a:solidFill>
                <a:latin typeface="微软雅黑"/>
                <a:ea typeface="微软雅黑"/>
                <a:cs typeface="微软雅黑"/>
              </a:defRPr>
            </a:pPr>
            <a:endParaRPr kumimoji="1" lang="zh-CN" altLang="en-US" sz="1350">
              <a:solidFill>
                <a:srgbClr val="383838"/>
              </a:solidFill>
              <a:latin typeface="微软雅黑"/>
              <a:ea typeface="微软雅黑"/>
              <a:cs typeface="微软雅黑"/>
              <a:sym typeface="微软雅黑"/>
            </a:endParaRPr>
          </a:p>
        </p:txBody>
      </p:sp>
      <p:sp>
        <p:nvSpPr>
          <p:cNvPr id="202" name="©天蝎PPT6"/>
          <p:cNvSpPr/>
          <p:nvPr>
            <p:custDataLst>
              <p:tags r:id="rId2"/>
            </p:custDataLst>
          </p:nvPr>
        </p:nvSpPr>
        <p:spPr>
          <a:xfrm rot="5400000">
            <a:off x="-1591310" y="1369508"/>
            <a:ext cx="8493760" cy="4600575"/>
          </a:xfrm>
          <a:prstGeom prst="triangle">
            <a:avLst/>
          </a:prstGeom>
          <a:gradFill>
            <a:gsLst>
              <a:gs pos="0">
                <a:srgbClr val="B3D4FE"/>
              </a:gs>
              <a:gs pos="63000">
                <a:srgbClr val="FFFFFF">
                  <a:alpha val="0"/>
                </a:srgbClr>
              </a:gs>
            </a:gsLst>
            <a:lin ang="5400000" scaled="0"/>
          </a:gradFill>
          <a:ln w="9525">
            <a:noFill/>
          </a:ln>
        </p:spPr>
        <p:txBody>
          <a:bodyPr vert="horz" wrap="square" lIns="68580" tIns="34290" rIns="68580" bIns="34290" numCol="1" rtlCol="0" anchor="t" anchorCtr="0" compatLnSpc="1"/>
          <a:p>
            <a:pPr>
              <a:defRPr>
                <a:latin typeface="微软雅黑"/>
                <a:ea typeface="微软雅黑"/>
                <a:cs typeface="微软雅黑"/>
              </a:defRPr>
            </a:pPr>
            <a:endParaRPr kumimoji="1" lang="zh-CN" altLang="en-US" sz="1350">
              <a:solidFill>
                <a:srgbClr val="383838"/>
              </a:solidFill>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latin typeface="微软雅黑"/>
                <a:ea typeface="微软雅黑"/>
                <a:cs typeface="微软雅黑"/>
              </a:rPr>
              <a:t>业务框架</a:t>
            </a:r>
            <a:r>
              <a:rPr lang="en-US" altLang="zh-CN" sz="2500" dirty="0">
                <a:solidFill>
                  <a:srgbClr val="0042FF"/>
                </a:solidFill>
                <a:latin typeface="微软雅黑"/>
                <a:ea typeface="微软雅黑"/>
                <a:cs typeface="微软雅黑"/>
              </a:rPr>
              <a:t>-</a:t>
            </a:r>
            <a:r>
              <a:rPr sz="2500" dirty="0">
                <a:solidFill>
                  <a:srgbClr val="0042FF"/>
                </a:solidFill>
                <a:latin typeface="微软雅黑"/>
                <a:ea typeface="微软雅黑"/>
                <a:cs typeface="微软雅黑"/>
              </a:rPr>
              <a:t>中心发散架构 |</a:t>
            </a:r>
            <a:r>
              <a:rPr lang="zh-CN" altLang="en-US" sz="2500" dirty="0">
                <a:solidFill>
                  <a:srgbClr val="0042FF"/>
                </a:solidFill>
                <a:latin typeface="微软雅黑"/>
                <a:ea typeface="微软雅黑"/>
                <a:cs typeface="微软雅黑"/>
              </a:rPr>
              <a:t> </a:t>
            </a:r>
            <a:r>
              <a:rPr lang="en-US" altLang="zh-CN" sz="2500" dirty="0">
                <a:solidFill>
                  <a:srgbClr val="383838"/>
                </a:solidFill>
                <a:effectLst/>
                <a:latin typeface="微软雅黑"/>
                <a:ea typeface="微软雅黑"/>
                <a:cs typeface="微软雅黑"/>
              </a:rPr>
              <a:t>AI PC</a:t>
            </a:r>
            <a:r>
              <a:rPr sz="2500" dirty="0">
                <a:solidFill>
                  <a:srgbClr val="383838"/>
                </a:solidFill>
                <a:effectLst/>
                <a:latin typeface="微软雅黑"/>
                <a:ea typeface="微软雅黑"/>
                <a:cs typeface="微软雅黑"/>
              </a:rPr>
              <a:t>未来发展趋势</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55600" y="186055"/>
            <a:ext cx="549910" cy="549910"/>
          </a:xfrm>
          <a:prstGeom prst="rect">
            <a:avLst/>
          </a:prstGeom>
        </p:spPr>
      </p:pic>
      <p:sp>
        <p:nvSpPr>
          <p:cNvPr id="6" name="椭圆 5"/>
          <p:cNvSpPr/>
          <p:nvPr/>
        </p:nvSpPr>
        <p:spPr>
          <a:xfrm>
            <a:off x="3326130" y="2035810"/>
            <a:ext cx="3267710" cy="3267710"/>
          </a:xfrm>
          <a:prstGeom prst="ellipse">
            <a:avLst/>
          </a:prstGeom>
          <a:noFill/>
          <a:ln>
            <a:solidFill>
              <a:srgbClr val="DCDCDC"/>
            </a:solidFill>
            <a:prstDash val="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 name="椭圆 6"/>
          <p:cNvSpPr/>
          <p:nvPr/>
        </p:nvSpPr>
        <p:spPr>
          <a:xfrm>
            <a:off x="3416300" y="2327910"/>
            <a:ext cx="523875" cy="523875"/>
          </a:xfrm>
          <a:prstGeom prst="ellipse">
            <a:avLst/>
          </a:prstGeom>
          <a:gradFill>
            <a:gsLst>
              <a:gs pos="13000">
                <a:srgbClr val="B3D4FE"/>
              </a:gs>
              <a:gs pos="100000">
                <a:srgbClr val="B3D4FE"/>
              </a:gs>
            </a:gsLst>
            <a:path path="circle">
              <a:fillToRect r="100000" b="100000"/>
            </a:path>
            <a:tileRect l="-100000" t="-100000"/>
          </a:gradFill>
          <a:ln w="38100">
            <a:solidFill>
              <a:srgbClr val="FFFFFF"/>
            </a:solidFill>
          </a:ln>
          <a:effectLst>
            <a:glow rad="101600">
              <a:srgbClr val="DCDCDC">
                <a:alpha val="40000"/>
              </a:srgbClr>
            </a:glo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 name="椭圆 8"/>
          <p:cNvSpPr/>
          <p:nvPr/>
        </p:nvSpPr>
        <p:spPr>
          <a:xfrm>
            <a:off x="3048000" y="3445510"/>
            <a:ext cx="523875" cy="523875"/>
          </a:xfrm>
          <a:prstGeom prst="ellipse">
            <a:avLst/>
          </a:prstGeom>
          <a:gradFill>
            <a:gsLst>
              <a:gs pos="13000">
                <a:srgbClr val="B3D4FE"/>
              </a:gs>
              <a:gs pos="100000">
                <a:srgbClr val="B3D4FE"/>
              </a:gs>
            </a:gsLst>
            <a:path path="circle">
              <a:fillToRect r="100000" b="100000"/>
            </a:path>
            <a:tileRect l="-100000" t="-100000"/>
          </a:gradFill>
          <a:ln w="38100">
            <a:solidFill>
              <a:srgbClr val="FFFFFF"/>
            </a:solidFill>
          </a:ln>
          <a:effectLst>
            <a:glow rad="101600">
              <a:srgbClr val="DCDCDC">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 name="椭圆 10"/>
          <p:cNvSpPr/>
          <p:nvPr/>
        </p:nvSpPr>
        <p:spPr>
          <a:xfrm>
            <a:off x="3416300" y="4496435"/>
            <a:ext cx="523875" cy="523875"/>
          </a:xfrm>
          <a:prstGeom prst="ellipse">
            <a:avLst/>
          </a:prstGeom>
          <a:gradFill>
            <a:gsLst>
              <a:gs pos="13000">
                <a:srgbClr val="B3D4FE"/>
              </a:gs>
              <a:gs pos="100000">
                <a:srgbClr val="B3D4FE"/>
              </a:gs>
            </a:gsLst>
            <a:path path="circle">
              <a:fillToRect r="100000" b="100000"/>
            </a:path>
            <a:tileRect l="-100000" t="-100000"/>
          </a:gradFill>
          <a:ln w="38100">
            <a:solidFill>
              <a:srgbClr val="FFFFFF"/>
            </a:solidFill>
          </a:ln>
          <a:effectLst>
            <a:glow rad="101600">
              <a:srgbClr val="DCDCDC">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2" name="椭圆 11"/>
          <p:cNvSpPr/>
          <p:nvPr/>
        </p:nvSpPr>
        <p:spPr>
          <a:xfrm>
            <a:off x="5977255" y="2327910"/>
            <a:ext cx="523875" cy="523875"/>
          </a:xfrm>
          <a:prstGeom prst="ellipse">
            <a:avLst/>
          </a:prstGeom>
          <a:gradFill>
            <a:gsLst>
              <a:gs pos="13000">
                <a:srgbClr val="3368FF"/>
              </a:gs>
              <a:gs pos="100000">
                <a:srgbClr val="0042FF"/>
              </a:gs>
            </a:gsLst>
            <a:path path="circle">
              <a:fillToRect r="100000" b="100000"/>
            </a:path>
            <a:tileRect l="-100000" t="-100000"/>
          </a:gradFill>
          <a:ln w="38100">
            <a:solidFill>
              <a:srgbClr val="FFFFFF"/>
            </a:solidFill>
          </a:ln>
          <a:effectLst>
            <a:glow rad="101600">
              <a:srgbClr val="DCDCDC">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3" name="椭圆 12"/>
          <p:cNvSpPr/>
          <p:nvPr/>
        </p:nvSpPr>
        <p:spPr>
          <a:xfrm>
            <a:off x="6304280" y="3445510"/>
            <a:ext cx="523875" cy="523875"/>
          </a:xfrm>
          <a:prstGeom prst="ellipse">
            <a:avLst/>
          </a:prstGeom>
          <a:gradFill>
            <a:gsLst>
              <a:gs pos="13000">
                <a:srgbClr val="3368FF"/>
              </a:gs>
              <a:gs pos="100000">
                <a:srgbClr val="0042FF"/>
              </a:gs>
            </a:gsLst>
            <a:path path="circle">
              <a:fillToRect r="100000" b="100000"/>
            </a:path>
            <a:tileRect l="-100000" t="-100000"/>
          </a:gradFill>
          <a:ln w="38100">
            <a:solidFill>
              <a:srgbClr val="FFFFFF"/>
            </a:solidFill>
          </a:ln>
          <a:effectLst>
            <a:glow rad="101600">
              <a:srgbClr val="DCDCDC">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4" name="椭圆 13"/>
          <p:cNvSpPr/>
          <p:nvPr/>
        </p:nvSpPr>
        <p:spPr>
          <a:xfrm>
            <a:off x="5977255" y="4496435"/>
            <a:ext cx="523875" cy="523875"/>
          </a:xfrm>
          <a:prstGeom prst="ellipse">
            <a:avLst/>
          </a:prstGeom>
          <a:gradFill>
            <a:gsLst>
              <a:gs pos="13000">
                <a:srgbClr val="3368FF"/>
              </a:gs>
              <a:gs pos="100000">
                <a:srgbClr val="0042FF"/>
              </a:gs>
            </a:gsLst>
            <a:path path="circle">
              <a:fillToRect r="100000" b="100000"/>
            </a:path>
            <a:tileRect l="-100000" t="-100000"/>
          </a:gradFill>
          <a:ln w="38100">
            <a:solidFill>
              <a:srgbClr val="FFFFFF"/>
            </a:solidFill>
          </a:ln>
          <a:effectLst>
            <a:glow rad="101600">
              <a:srgbClr val="DCDCDC">
                <a:alpha val="40000"/>
              </a:srgbClr>
            </a:glo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5" name="矩形 14"/>
          <p:cNvSpPr/>
          <p:nvPr/>
        </p:nvSpPr>
        <p:spPr>
          <a:xfrm>
            <a:off x="3093720" y="5859145"/>
            <a:ext cx="3876675" cy="585470"/>
          </a:xfrm>
          <a:prstGeom prst="rect">
            <a:avLst/>
          </a:prstGeom>
          <a:solidFill>
            <a:srgbClr val="FFFFFF">
              <a:alpha val="20000"/>
            </a:srgbClr>
          </a:solidFill>
          <a:ln>
            <a:solidFill>
              <a:srgbClr val="B3D4FE">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9" name="椭圆 18"/>
          <p:cNvSpPr/>
          <p:nvPr/>
        </p:nvSpPr>
        <p:spPr>
          <a:xfrm>
            <a:off x="3809365" y="2505075"/>
            <a:ext cx="2405380" cy="2405380"/>
          </a:xfrm>
          <a:prstGeom prst="ellipse">
            <a:avLst/>
          </a:prstGeom>
          <a:solidFill>
            <a:srgbClr val="3368FF">
              <a:alpha val="2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0" name="椭圆 19"/>
          <p:cNvSpPr/>
          <p:nvPr/>
        </p:nvSpPr>
        <p:spPr>
          <a:xfrm>
            <a:off x="4104640" y="2800350"/>
            <a:ext cx="1814830" cy="1814830"/>
          </a:xfrm>
          <a:prstGeom prst="ellipse">
            <a:avLst/>
          </a:prstGeom>
          <a:gradFill>
            <a:gsLst>
              <a:gs pos="13000">
                <a:srgbClr val="B3D4FE"/>
              </a:gs>
              <a:gs pos="100000">
                <a:srgbClr val="3368FF"/>
              </a:gs>
            </a:gsLst>
            <a:path path="circle">
              <a:fillToRect r="100000" b="100000"/>
            </a:path>
            <a:tileRect l="-100000" t="-10000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pic>
        <p:nvPicPr>
          <p:cNvPr id="21" name="图片 20" descr="笔记本"/>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678045" y="3670935"/>
            <a:ext cx="668020" cy="668020"/>
          </a:xfrm>
          <a:prstGeom prst="rect">
            <a:avLst/>
          </a:prstGeom>
        </p:spPr>
      </p:pic>
      <p:sp>
        <p:nvSpPr>
          <p:cNvPr id="22" name="文本框 21"/>
          <p:cNvSpPr txBox="1"/>
          <p:nvPr/>
        </p:nvSpPr>
        <p:spPr>
          <a:xfrm>
            <a:off x="4468495" y="3217545"/>
            <a:ext cx="1087120" cy="47561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altLang="zh-CN" sz="2500" b="1">
                <a:solidFill>
                  <a:srgbClr val="FFFFFF"/>
                </a:solidFill>
                <a:latin typeface="微软雅黑"/>
                <a:ea typeface="微软雅黑"/>
                <a:cs typeface="微软雅黑"/>
              </a:rPr>
              <a:t>AI PC</a:t>
            </a:r>
            <a:endParaRPr lang="en-US" altLang="zh-CN" sz="2500" b="1">
              <a:solidFill>
                <a:srgbClr val="FFFFFF"/>
              </a:solidFill>
              <a:latin typeface="微软雅黑"/>
              <a:ea typeface="微软雅黑"/>
              <a:cs typeface="微软雅黑"/>
            </a:endParaRPr>
          </a:p>
        </p:txBody>
      </p:sp>
      <p:pic>
        <p:nvPicPr>
          <p:cNvPr id="23" name="图片 22" descr="卡口视频摄像头,监控,桌面摄像头,网络摄像头"/>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168650" y="3568065"/>
            <a:ext cx="270510" cy="270510"/>
          </a:xfrm>
          <a:prstGeom prst="rect">
            <a:avLst/>
          </a:prstGeom>
        </p:spPr>
      </p:pic>
      <p:pic>
        <p:nvPicPr>
          <p:cNvPr id="24" name="图片 23" descr="鼠标"/>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539490" y="2451100"/>
            <a:ext cx="277495" cy="277495"/>
          </a:xfrm>
          <a:prstGeom prst="rect">
            <a:avLst/>
          </a:prstGeom>
        </p:spPr>
      </p:pic>
      <p:pic>
        <p:nvPicPr>
          <p:cNvPr id="25" name="图片 24" descr="键盘"/>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545205" y="4615180"/>
            <a:ext cx="278765" cy="254635"/>
          </a:xfrm>
          <a:prstGeom prst="rect">
            <a:avLst/>
          </a:prstGeom>
        </p:spPr>
      </p:pic>
      <p:pic>
        <p:nvPicPr>
          <p:cNvPr id="26" name="图片 25" descr="pad"/>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436995" y="3562350"/>
            <a:ext cx="277495" cy="277495"/>
          </a:xfrm>
          <a:prstGeom prst="rect">
            <a:avLst/>
          </a:prstGeom>
        </p:spPr>
      </p:pic>
      <p:pic>
        <p:nvPicPr>
          <p:cNvPr id="27" name="图片 26" descr="手机"/>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085840" y="2446020"/>
            <a:ext cx="311150" cy="311150"/>
          </a:xfrm>
          <a:prstGeom prst="rect">
            <a:avLst/>
          </a:prstGeom>
        </p:spPr>
      </p:pic>
      <p:pic>
        <p:nvPicPr>
          <p:cNvPr id="28" name="图片 27" descr="VR眼镜2"/>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083935" y="4578350"/>
            <a:ext cx="312420" cy="312420"/>
          </a:xfrm>
          <a:prstGeom prst="rect">
            <a:avLst/>
          </a:prstGeom>
        </p:spPr>
      </p:pic>
      <p:sp>
        <p:nvSpPr>
          <p:cNvPr id="29" name="文本框 28"/>
          <p:cNvSpPr txBox="1"/>
          <p:nvPr/>
        </p:nvSpPr>
        <p:spPr>
          <a:xfrm>
            <a:off x="2845435" y="2421890"/>
            <a:ext cx="54546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鼠标</a:t>
            </a:r>
            <a:endParaRPr lang="zh-CN" altLang="en-US" sz="1400">
              <a:solidFill>
                <a:srgbClr val="383838"/>
              </a:solidFill>
              <a:latin typeface="微软雅黑"/>
              <a:ea typeface="微软雅黑"/>
              <a:cs typeface="微软雅黑"/>
            </a:endParaRPr>
          </a:p>
        </p:txBody>
      </p:sp>
      <p:sp>
        <p:nvSpPr>
          <p:cNvPr id="30" name="文本框 29"/>
          <p:cNvSpPr txBox="1"/>
          <p:nvPr/>
        </p:nvSpPr>
        <p:spPr>
          <a:xfrm>
            <a:off x="2353945" y="3568065"/>
            <a:ext cx="73977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摄像头</a:t>
            </a:r>
            <a:endParaRPr lang="zh-CN" altLang="en-US" sz="1400">
              <a:solidFill>
                <a:srgbClr val="383838"/>
              </a:solidFill>
              <a:latin typeface="微软雅黑"/>
              <a:ea typeface="微软雅黑"/>
              <a:cs typeface="微软雅黑"/>
            </a:endParaRPr>
          </a:p>
        </p:txBody>
      </p:sp>
      <p:sp>
        <p:nvSpPr>
          <p:cNvPr id="31" name="文本框 30"/>
          <p:cNvSpPr txBox="1"/>
          <p:nvPr/>
        </p:nvSpPr>
        <p:spPr>
          <a:xfrm>
            <a:off x="2881630" y="4603115"/>
            <a:ext cx="73977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键盘</a:t>
            </a:r>
            <a:endParaRPr lang="zh-CN" altLang="en-US" sz="1400">
              <a:solidFill>
                <a:srgbClr val="383838"/>
              </a:solidFill>
              <a:latin typeface="微软雅黑"/>
              <a:ea typeface="微软雅黑"/>
              <a:cs typeface="微软雅黑"/>
            </a:endParaRPr>
          </a:p>
        </p:txBody>
      </p:sp>
      <p:sp>
        <p:nvSpPr>
          <p:cNvPr id="32" name="文本框 31"/>
          <p:cNvSpPr txBox="1"/>
          <p:nvPr/>
        </p:nvSpPr>
        <p:spPr>
          <a:xfrm>
            <a:off x="6558915" y="2371725"/>
            <a:ext cx="739775" cy="306705"/>
          </a:xfrm>
          <a:prstGeom prst="rect">
            <a:avLst/>
          </a:prstGeom>
          <a:noFill/>
        </p:spPr>
        <p:txBody>
          <a:bodyPr wrap="square" rtlCol="0">
            <a:spAutoFit/>
          </a:bodyPr>
          <a:p>
            <a:pPr>
              <a:defRPr>
                <a:solidFill>
                  <a:srgbClr val="383838"/>
                </a:solidFill>
                <a:latin typeface="微软雅黑"/>
                <a:ea typeface="微软雅黑"/>
                <a:cs typeface="微软雅黑"/>
              </a:defRPr>
            </a:pPr>
            <a:r>
              <a:rPr lang="zh-CN" altLang="en-US" sz="1400">
                <a:solidFill>
                  <a:srgbClr val="383838"/>
                </a:solidFill>
                <a:latin typeface="微软雅黑"/>
                <a:ea typeface="微软雅黑"/>
                <a:cs typeface="微软雅黑"/>
              </a:rPr>
              <a:t>手机</a:t>
            </a:r>
            <a:endParaRPr lang="zh-CN" altLang="en-US" sz="1400">
              <a:solidFill>
                <a:srgbClr val="383838"/>
              </a:solidFill>
              <a:latin typeface="微软雅黑"/>
              <a:ea typeface="微软雅黑"/>
              <a:cs typeface="微软雅黑"/>
            </a:endParaRPr>
          </a:p>
        </p:txBody>
      </p:sp>
      <p:sp>
        <p:nvSpPr>
          <p:cNvPr id="33" name="文本框 32"/>
          <p:cNvSpPr txBox="1"/>
          <p:nvPr/>
        </p:nvSpPr>
        <p:spPr>
          <a:xfrm>
            <a:off x="6888480" y="3605530"/>
            <a:ext cx="739775" cy="306705"/>
          </a:xfrm>
          <a:prstGeom prst="rect">
            <a:avLst/>
          </a:prstGeom>
          <a:noFill/>
        </p:spPr>
        <p:txBody>
          <a:bodyPr wrap="square" rtlCol="0">
            <a:spAutoFit/>
          </a:bodyPr>
          <a:p>
            <a:pPr>
              <a:defRPr>
                <a:solidFill>
                  <a:srgbClr val="383838"/>
                </a:solidFill>
                <a:latin typeface="微软雅黑"/>
                <a:ea typeface="微软雅黑"/>
                <a:cs typeface="微软雅黑"/>
              </a:defRPr>
            </a:pPr>
            <a:r>
              <a:rPr lang="en-US" altLang="zh-CN" sz="1400">
                <a:solidFill>
                  <a:srgbClr val="383838"/>
                </a:solidFill>
                <a:latin typeface="微软雅黑"/>
                <a:ea typeface="微软雅黑"/>
                <a:cs typeface="微软雅黑"/>
              </a:rPr>
              <a:t>PAD</a:t>
            </a:r>
            <a:endParaRPr lang="en-US" altLang="zh-CN" sz="1400">
              <a:solidFill>
                <a:srgbClr val="383838"/>
              </a:solidFill>
              <a:latin typeface="微软雅黑"/>
              <a:ea typeface="微软雅黑"/>
              <a:cs typeface="微软雅黑"/>
            </a:endParaRPr>
          </a:p>
        </p:txBody>
      </p:sp>
      <p:sp>
        <p:nvSpPr>
          <p:cNvPr id="34" name="文本框 33"/>
          <p:cNvSpPr txBox="1"/>
          <p:nvPr/>
        </p:nvSpPr>
        <p:spPr>
          <a:xfrm>
            <a:off x="6584950" y="4622165"/>
            <a:ext cx="739775" cy="306705"/>
          </a:xfrm>
          <a:prstGeom prst="rect">
            <a:avLst/>
          </a:prstGeom>
          <a:noFill/>
        </p:spPr>
        <p:txBody>
          <a:bodyPr wrap="square" rtlCol="0">
            <a:spAutoFit/>
          </a:bodyPr>
          <a:p>
            <a:pPr>
              <a:defRPr>
                <a:solidFill>
                  <a:srgbClr val="383838"/>
                </a:solidFill>
                <a:latin typeface="微软雅黑"/>
                <a:ea typeface="微软雅黑"/>
                <a:cs typeface="微软雅黑"/>
              </a:defRPr>
            </a:pPr>
            <a:r>
              <a:rPr lang="en-US" altLang="zh-CN" sz="1400">
                <a:solidFill>
                  <a:srgbClr val="383838"/>
                </a:solidFill>
                <a:latin typeface="微软雅黑"/>
                <a:ea typeface="微软雅黑"/>
                <a:cs typeface="微软雅黑"/>
              </a:rPr>
              <a:t>XR</a:t>
            </a:r>
            <a:endParaRPr lang="en-US" altLang="zh-CN" sz="1400">
              <a:solidFill>
                <a:srgbClr val="383838"/>
              </a:solidFill>
              <a:latin typeface="微软雅黑"/>
              <a:ea typeface="微软雅黑"/>
              <a:cs typeface="微软雅黑"/>
            </a:endParaRPr>
          </a:p>
        </p:txBody>
      </p:sp>
      <p:sp>
        <p:nvSpPr>
          <p:cNvPr id="41" name="文本框 40"/>
          <p:cNvSpPr txBox="1"/>
          <p:nvPr/>
        </p:nvSpPr>
        <p:spPr>
          <a:xfrm>
            <a:off x="3265170" y="5928360"/>
            <a:ext cx="3622675" cy="460375"/>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模拟厂商、软件厂商、硬件厂商将陆续开发、迭代、优化相应</a:t>
            </a:r>
            <a:r>
              <a:rPr lang="en-US" altLang="zh-CN" sz="1200">
                <a:solidFill>
                  <a:srgbClr val="383838"/>
                </a:solidFill>
                <a:latin typeface="微软雅黑"/>
                <a:ea typeface="微软雅黑"/>
                <a:cs typeface="微软雅黑"/>
              </a:rPr>
              <a:t>AI</a:t>
            </a:r>
            <a:r>
              <a:rPr lang="zh-CN" altLang="en-US" sz="1200">
                <a:solidFill>
                  <a:srgbClr val="383838"/>
                </a:solidFill>
                <a:latin typeface="微软雅黑"/>
                <a:ea typeface="微软雅黑"/>
                <a:cs typeface="微软雅黑"/>
              </a:rPr>
              <a:t>能力，促使用户长期使用</a:t>
            </a:r>
            <a:r>
              <a:rPr lang="en-US" altLang="zh-CN" sz="1200">
                <a:solidFill>
                  <a:srgbClr val="383838"/>
                </a:solidFill>
                <a:latin typeface="微软雅黑"/>
                <a:ea typeface="微软雅黑"/>
                <a:cs typeface="微软雅黑"/>
              </a:rPr>
              <a:t>AI  PC</a:t>
            </a:r>
            <a:endParaRPr lang="en-US" altLang="zh-CN" sz="1200">
              <a:solidFill>
                <a:srgbClr val="383838"/>
              </a:solidFill>
              <a:latin typeface="微软雅黑"/>
              <a:ea typeface="微软雅黑"/>
              <a:cs typeface="微软雅黑"/>
            </a:endParaRPr>
          </a:p>
        </p:txBody>
      </p:sp>
      <p:sp>
        <p:nvSpPr>
          <p:cNvPr id="107" name="紫荆的职场Point99-4"/>
          <p:cNvSpPr/>
          <p:nvPr/>
        </p:nvSpPr>
        <p:spPr>
          <a:xfrm rot="16200000" flipV="1">
            <a:off x="1482725" y="3294380"/>
            <a:ext cx="779145" cy="81280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B3D4FE"/>
              </a:gs>
            </a:gsLst>
            <a:lin ang="16200000" scaled="1"/>
            <a:tileRect/>
          </a:gradFill>
          <a:ln w="6350" cap="flat" cmpd="sng" algn="ctr">
            <a:noFill/>
            <a:prstDash val="lgDash"/>
            <a:miter lim="800000"/>
          </a:ln>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pic>
        <p:nvPicPr>
          <p:cNvPr id="43" name="图片 42" descr="团队 (3)"/>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406400" y="3217545"/>
            <a:ext cx="873125" cy="873125"/>
          </a:xfrm>
          <a:prstGeom prst="rect">
            <a:avLst/>
          </a:prstGeom>
        </p:spPr>
      </p:pic>
      <p:sp>
        <p:nvSpPr>
          <p:cNvPr id="44" name="文本框 43"/>
          <p:cNvSpPr txBox="1"/>
          <p:nvPr/>
        </p:nvSpPr>
        <p:spPr>
          <a:xfrm>
            <a:off x="273050" y="4272915"/>
            <a:ext cx="1400175" cy="1198880"/>
          </a:xfrm>
          <a:prstGeom prst="rect">
            <a:avLst/>
          </a:prstGeom>
          <a:noFill/>
        </p:spPr>
        <p:txBody>
          <a:bodyPr wrap="square" rtlCol="0">
            <a:sp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用户按照自己的习惯、需求，通过</a:t>
            </a:r>
            <a:r>
              <a:rPr lang="en-US" altLang="zh-CN" sz="1200">
                <a:solidFill>
                  <a:srgbClr val="383838"/>
                </a:solidFill>
                <a:latin typeface="微软雅黑"/>
                <a:ea typeface="微软雅黑"/>
                <a:cs typeface="微软雅黑"/>
              </a:rPr>
              <a:t>AI PC</a:t>
            </a:r>
            <a:r>
              <a:rPr lang="zh-CN" altLang="en-US" sz="1200">
                <a:solidFill>
                  <a:srgbClr val="383838"/>
                </a:solidFill>
                <a:latin typeface="微软雅黑"/>
                <a:ea typeface="微软雅黑"/>
                <a:cs typeface="微软雅黑"/>
              </a:rPr>
              <a:t>及相对应的外设，持续输入、反馈及修正相应结果。</a:t>
            </a:r>
            <a:endParaRPr lang="zh-CN" altLang="en-US" sz="1200">
              <a:solidFill>
                <a:srgbClr val="383838"/>
              </a:solidFill>
              <a:latin typeface="微软雅黑"/>
              <a:ea typeface="微软雅黑"/>
              <a:cs typeface="微软雅黑"/>
            </a:endParaRPr>
          </a:p>
        </p:txBody>
      </p:sp>
      <p:sp>
        <p:nvSpPr>
          <p:cNvPr id="45" name="文本框 44"/>
          <p:cNvSpPr txBox="1"/>
          <p:nvPr/>
        </p:nvSpPr>
        <p:spPr>
          <a:xfrm>
            <a:off x="2353945" y="1278890"/>
            <a:ext cx="5160645" cy="429895"/>
          </a:xfrm>
          <a:prstGeom prst="rect">
            <a:avLst/>
          </a:prstGeom>
          <a:noFill/>
        </p:spPr>
        <p:txBody>
          <a:bodyPr wrap="square" rtlCol="0">
            <a:spAutoFit/>
          </a:bodyPr>
          <a:p>
            <a:pPr>
              <a:defRPr>
                <a:latin typeface="微软雅黑"/>
                <a:ea typeface="微软雅黑"/>
                <a:cs typeface="微软雅黑"/>
              </a:defRPr>
            </a:pPr>
            <a:r>
              <a:rPr lang="en-US" altLang="zh-CN" sz="2200" b="1">
                <a:solidFill>
                  <a:srgbClr val="0042FF"/>
                </a:solidFill>
                <a:latin typeface="微软雅黑"/>
                <a:ea typeface="微软雅黑"/>
                <a:cs typeface="微软雅黑"/>
              </a:rPr>
              <a:t>AI PC</a:t>
            </a:r>
            <a:r>
              <a:rPr lang="zh-CN" altLang="en-US" sz="2200" b="1">
                <a:solidFill>
                  <a:srgbClr val="0042FF"/>
                </a:solidFill>
                <a:latin typeface="微软雅黑"/>
                <a:ea typeface="微软雅黑"/>
                <a:cs typeface="微软雅黑"/>
              </a:rPr>
              <a:t>的后端持续运维及服务将非常重要</a:t>
            </a:r>
            <a:endParaRPr lang="zh-CN" altLang="en-US" sz="2200" b="1">
              <a:solidFill>
                <a:srgbClr val="0042FF"/>
              </a:solidFill>
              <a:latin typeface="微软雅黑"/>
              <a:ea typeface="微软雅黑"/>
              <a:cs typeface="微软雅黑"/>
            </a:endParaRPr>
          </a:p>
        </p:txBody>
      </p:sp>
      <p:sp>
        <p:nvSpPr>
          <p:cNvPr id="46" name="紫荆的职场Point99-4"/>
          <p:cNvSpPr/>
          <p:nvPr/>
        </p:nvSpPr>
        <p:spPr>
          <a:xfrm rot="16200000" flipV="1">
            <a:off x="7446645" y="3294380"/>
            <a:ext cx="779145" cy="81280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0042FF">
                  <a:alpha val="0"/>
                </a:srgbClr>
              </a:gs>
              <a:gs pos="100000">
                <a:srgbClr val="0042FF"/>
              </a:gs>
            </a:gsLst>
            <a:lin ang="16200000" scaled="1"/>
            <a:tileRect/>
          </a:gradFill>
          <a:ln w="6350" cap="flat" cmpd="sng" algn="ctr">
            <a:noFill/>
            <a:prstDash val="lgDash"/>
            <a:miter lim="800000"/>
          </a:ln>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pic>
        <p:nvPicPr>
          <p:cNvPr id="47" name="图片 46" descr="大脑,研判,智慧,思考,联想 (1)"/>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8493125" y="2456815"/>
            <a:ext cx="924560" cy="924560"/>
          </a:xfrm>
          <a:prstGeom prst="rect">
            <a:avLst/>
          </a:prstGeom>
        </p:spPr>
      </p:pic>
      <p:sp>
        <p:nvSpPr>
          <p:cNvPr id="49" name="菱形 48"/>
          <p:cNvSpPr/>
          <p:nvPr/>
        </p:nvSpPr>
        <p:spPr>
          <a:xfrm rot="5400000" flipH="1">
            <a:off x="8794115" y="3171190"/>
            <a:ext cx="546735" cy="775970"/>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51" name="菱形 50"/>
          <p:cNvSpPr/>
          <p:nvPr/>
        </p:nvSpPr>
        <p:spPr>
          <a:xfrm rot="5400000" flipH="1">
            <a:off x="10330815" y="3171190"/>
            <a:ext cx="546735" cy="775970"/>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52" name="文本框 51"/>
          <p:cNvSpPr txBox="1"/>
          <p:nvPr/>
        </p:nvSpPr>
        <p:spPr>
          <a:xfrm>
            <a:off x="9455785" y="2515235"/>
            <a:ext cx="2320925" cy="829945"/>
          </a:xfrm>
          <a:prstGeom prst="rect">
            <a:avLst/>
          </a:prstGeom>
          <a:noFill/>
        </p:spPr>
        <p:txBody>
          <a:bodyPr wrap="square" rtlCol="0">
            <a:spAutoFit/>
          </a:bodyPr>
          <a:p>
            <a:pPr>
              <a:defRPr>
                <a:solidFill>
                  <a:srgbClr val="383838"/>
                </a:solidFill>
                <a:latin typeface="微软雅黑"/>
                <a:ea typeface="微软雅黑"/>
                <a:cs typeface="微软雅黑"/>
              </a:defRPr>
            </a:pPr>
            <a:r>
              <a:rPr lang="zh-CN" sz="1200">
                <a:solidFill>
                  <a:srgbClr val="383838"/>
                </a:solidFill>
                <a:latin typeface="微软雅黑"/>
                <a:ea typeface="微软雅黑"/>
                <a:cs typeface="微软雅黑"/>
              </a:rPr>
              <a:t>经过用户的持续</a:t>
            </a:r>
            <a:r>
              <a:rPr lang="en-US" altLang="zh-CN" sz="1200">
                <a:solidFill>
                  <a:srgbClr val="383838"/>
                </a:solidFill>
                <a:latin typeface="微软雅黑"/>
                <a:ea typeface="微软雅黑"/>
                <a:cs typeface="微软雅黑"/>
              </a:rPr>
              <a:t>“</a:t>
            </a:r>
            <a:r>
              <a:rPr lang="zh-CN" sz="1200">
                <a:solidFill>
                  <a:srgbClr val="383838"/>
                </a:solidFill>
                <a:latin typeface="微软雅黑"/>
                <a:ea typeface="微软雅黑"/>
                <a:cs typeface="微软雅黑"/>
              </a:rPr>
              <a:t>喂养</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与</a:t>
            </a:r>
            <a:r>
              <a:rPr lang="en-US" altLang="zh-CN" sz="1200">
                <a:solidFill>
                  <a:srgbClr val="383838"/>
                </a:solidFill>
                <a:latin typeface="微软雅黑"/>
                <a:ea typeface="微软雅黑"/>
                <a:cs typeface="微软雅黑"/>
              </a:rPr>
              <a:t>AI PC</a:t>
            </a:r>
            <a:r>
              <a:rPr lang="zh-CN" altLang="en-US" sz="1200">
                <a:solidFill>
                  <a:srgbClr val="383838"/>
                </a:solidFill>
                <a:latin typeface="微软雅黑"/>
                <a:ea typeface="微软雅黑"/>
                <a:cs typeface="微软雅黑"/>
              </a:rPr>
              <a:t>的自我训练，</a:t>
            </a:r>
            <a:r>
              <a:rPr lang="en-US" altLang="zh-CN" sz="1200">
                <a:solidFill>
                  <a:srgbClr val="383838"/>
                </a:solidFill>
                <a:latin typeface="微软雅黑"/>
                <a:ea typeface="微软雅黑"/>
                <a:cs typeface="微软雅黑"/>
              </a:rPr>
              <a:t>AI PC</a:t>
            </a:r>
            <a:r>
              <a:rPr lang="zh-CN" altLang="en-US" sz="1200">
                <a:solidFill>
                  <a:srgbClr val="383838"/>
                </a:solidFill>
                <a:latin typeface="微软雅黑"/>
                <a:ea typeface="微软雅黑"/>
                <a:cs typeface="微软雅黑"/>
              </a:rPr>
              <a:t>逐步成为更接近用户习惯、思维范式的个人智能体。</a:t>
            </a:r>
            <a:endParaRPr lang="zh-CN" altLang="en-US" sz="1200">
              <a:solidFill>
                <a:srgbClr val="383838"/>
              </a:solidFill>
              <a:latin typeface="微软雅黑"/>
              <a:ea typeface="微软雅黑"/>
              <a:cs typeface="微软雅黑"/>
            </a:endParaRPr>
          </a:p>
        </p:txBody>
      </p:sp>
      <p:sp>
        <p:nvSpPr>
          <p:cNvPr id="53" name="文本框 52"/>
          <p:cNvSpPr txBox="1"/>
          <p:nvPr/>
        </p:nvSpPr>
        <p:spPr>
          <a:xfrm>
            <a:off x="8223885" y="4025900"/>
            <a:ext cx="3526790" cy="275590"/>
          </a:xfrm>
          <a:prstGeom prst="rect">
            <a:avLst/>
          </a:prstGeom>
          <a:noFill/>
        </p:spPr>
        <p:txBody>
          <a:bodyPr wrap="square" rtlCol="0">
            <a:spAutoFit/>
          </a:bodyPr>
          <a:p>
            <a:pPr>
              <a:defRPr>
                <a:solidFill>
                  <a:srgbClr val="383838"/>
                </a:solidFill>
                <a:latin typeface="微软雅黑"/>
                <a:ea typeface="微软雅黑"/>
                <a:cs typeface="微软雅黑"/>
              </a:defRPr>
            </a:pPr>
            <a:r>
              <a:rPr lang="en-US" sz="1200" b="1">
                <a:solidFill>
                  <a:srgbClr val="383838"/>
                </a:solidFill>
                <a:latin typeface="微软雅黑"/>
                <a:ea typeface="微软雅黑"/>
                <a:cs typeface="微软雅黑"/>
              </a:rPr>
              <a:t>Q</a:t>
            </a:r>
            <a:r>
              <a:rPr lang="zh-CN" altLang="en-US" sz="1200" b="1">
                <a:solidFill>
                  <a:srgbClr val="383838"/>
                </a:solidFill>
                <a:latin typeface="微软雅黑"/>
                <a:ea typeface="微软雅黑"/>
                <a:cs typeface="微软雅黑"/>
              </a:rPr>
              <a:t>：</a:t>
            </a:r>
            <a:r>
              <a:rPr lang="en-US" altLang="zh-CN" sz="1200" b="1">
                <a:solidFill>
                  <a:srgbClr val="383838"/>
                </a:solidFill>
                <a:latin typeface="微软雅黑"/>
                <a:ea typeface="微软雅黑"/>
                <a:cs typeface="微软雅黑"/>
              </a:rPr>
              <a:t>PC</a:t>
            </a:r>
            <a:r>
              <a:rPr lang="zh-CN" altLang="en-US" sz="1200" b="1">
                <a:solidFill>
                  <a:srgbClr val="383838"/>
                </a:solidFill>
                <a:latin typeface="微软雅黑"/>
                <a:ea typeface="微软雅黑"/>
                <a:cs typeface="微软雅黑"/>
              </a:rPr>
              <a:t>厂商的角色与功能将会发生何种变化？</a:t>
            </a:r>
            <a:endParaRPr lang="zh-CN" altLang="en-US" sz="1200" b="1">
              <a:solidFill>
                <a:srgbClr val="383838"/>
              </a:solidFill>
              <a:latin typeface="微软雅黑"/>
              <a:ea typeface="微软雅黑"/>
              <a:cs typeface="微软雅黑"/>
            </a:endParaRPr>
          </a:p>
        </p:txBody>
      </p:sp>
      <p:sp>
        <p:nvSpPr>
          <p:cNvPr id="54" name="圆角矩形 53"/>
          <p:cNvSpPr/>
          <p:nvPr/>
        </p:nvSpPr>
        <p:spPr>
          <a:xfrm>
            <a:off x="8266430" y="4453255"/>
            <a:ext cx="3675380" cy="1672590"/>
          </a:xfrm>
          <a:prstGeom prst="roundRect">
            <a:avLst/>
          </a:prstGeom>
          <a:solidFill>
            <a:srgbClr val="E6E6E6">
              <a:alpha val="60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5" name="文本框 54"/>
          <p:cNvSpPr txBox="1"/>
          <p:nvPr/>
        </p:nvSpPr>
        <p:spPr>
          <a:xfrm>
            <a:off x="8387080" y="4603115"/>
            <a:ext cx="3496945" cy="1353185"/>
          </a:xfrm>
          <a:prstGeom prst="rect">
            <a:avLst/>
          </a:prstGeom>
          <a:noFill/>
        </p:spPr>
        <p:txBody>
          <a:bodyPr wrap="square" rtlCol="0" lIns="0" rIns="0" tIns="0" bIns="0">
            <a:spAutoFit/>
          </a:bodyPr>
          <a:p>
            <a:pPr marL="171450" indent="-171450" fontAlgn="auto">
              <a:lnSpc>
                <a:spcPts val="1640"/>
              </a:lnSpc>
              <a:buFont typeface="微软雅黑"/>
              <a:buChar char="✓"/>
              <a:defRPr>
                <a:latin typeface="微软雅黑"/>
                <a:ea typeface="微软雅黑"/>
                <a:cs typeface="微软雅黑"/>
              </a:defRPr>
            </a:pPr>
            <a:r>
              <a:rPr lang="zh-CN" sz="1000" b="1">
                <a:solidFill>
                  <a:srgbClr val="383838"/>
                </a:solidFill>
                <a:latin typeface="微软雅黑"/>
                <a:ea typeface="微软雅黑"/>
                <a:cs typeface="微软雅黑"/>
              </a:rPr>
              <a:t>流量入口：</a:t>
            </a:r>
            <a:r>
              <a:rPr lang="zh-CN" sz="1000">
                <a:solidFill>
                  <a:srgbClr val="383838"/>
                </a:solidFill>
                <a:latin typeface="微软雅黑"/>
                <a:ea typeface="微软雅黑"/>
                <a:cs typeface="微软雅黑"/>
              </a:rPr>
              <a:t>作为个人智能体与新兴</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应用生态构建新流量入口，具有</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应用集成于分发能力；</a:t>
            </a:r>
            <a:endParaRPr lang="zh-CN" altLang="en-US" sz="1000">
              <a:solidFill>
                <a:srgbClr val="383838"/>
              </a:solidFill>
              <a:latin typeface="微软雅黑"/>
              <a:ea typeface="微软雅黑"/>
              <a:cs typeface="微软雅黑"/>
            </a:endParaRPr>
          </a:p>
          <a:p>
            <a:pPr marL="171450" indent="-171450" fontAlgn="auto">
              <a:lnSpc>
                <a:spcPts val="1640"/>
              </a:lnSpc>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用户服务：</a:t>
            </a:r>
            <a:r>
              <a:rPr lang="en-US" altLang="zh-CN" sz="1000">
                <a:solidFill>
                  <a:srgbClr val="383838"/>
                </a:solidFill>
                <a:latin typeface="微软雅黑"/>
                <a:ea typeface="微软雅黑"/>
                <a:cs typeface="微软雅黑"/>
              </a:rPr>
              <a:t>1-</a:t>
            </a:r>
            <a:r>
              <a:rPr lang="zh-CN" altLang="en-US" sz="1000">
                <a:solidFill>
                  <a:srgbClr val="383838"/>
                </a:solidFill>
                <a:latin typeface="微软雅黑"/>
                <a:ea typeface="微软雅黑"/>
                <a:cs typeface="微软雅黑"/>
              </a:rPr>
              <a:t>针对应用软件的适配、迭代、优化等将持续；</a:t>
            </a:r>
            <a:r>
              <a:rPr lang="en-US" altLang="zh-CN" sz="1000">
                <a:solidFill>
                  <a:srgbClr val="383838"/>
                </a:solidFill>
                <a:latin typeface="微软雅黑"/>
                <a:ea typeface="微软雅黑"/>
                <a:cs typeface="微软雅黑"/>
              </a:rPr>
              <a:t>2-</a:t>
            </a:r>
            <a:r>
              <a:rPr lang="zh-CN" altLang="en-US" sz="1000">
                <a:solidFill>
                  <a:srgbClr val="383838"/>
                </a:solidFill>
                <a:latin typeface="微软雅黑"/>
                <a:ea typeface="微软雅黑"/>
                <a:cs typeface="微软雅黑"/>
              </a:rPr>
              <a:t>更换电脑时，个人智能体将跟随账号延续；</a:t>
            </a:r>
            <a:endParaRPr lang="zh-CN" altLang="en-US" sz="1000">
              <a:solidFill>
                <a:srgbClr val="383838"/>
              </a:solidFill>
              <a:latin typeface="微软雅黑"/>
              <a:ea typeface="微软雅黑"/>
              <a:cs typeface="微软雅黑"/>
            </a:endParaRPr>
          </a:p>
          <a:p>
            <a:pPr marL="171450" indent="-171450" fontAlgn="auto">
              <a:lnSpc>
                <a:spcPts val="1640"/>
              </a:lnSpc>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用户链接：</a:t>
            </a:r>
            <a:r>
              <a:rPr lang="zh-CN" altLang="en-US" sz="1000">
                <a:solidFill>
                  <a:srgbClr val="383838"/>
                </a:solidFill>
                <a:latin typeface="微软雅黑"/>
                <a:ea typeface="微软雅黑"/>
                <a:cs typeface="微软雅黑"/>
              </a:rPr>
              <a:t>脱离硬件售卖后的低频链接，转而为用户提供持续运营及服务的高频连接。</a:t>
            </a:r>
            <a:endParaRPr lang="zh-CN" altLang="en-US" sz="1000">
              <a:solidFill>
                <a:srgbClr val="383838"/>
              </a:solidFill>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23"/>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58" name="组合 57"/>
          <p:cNvGrpSpPr/>
          <p:nvPr/>
        </p:nvGrpSpPr>
        <p:grpSpPr>
          <a:xfrm>
            <a:off x="3638550" y="5481320"/>
            <a:ext cx="325120" cy="448945"/>
            <a:chOff x="5730" y="8632"/>
            <a:chExt cx="512" cy="707"/>
          </a:xfrm>
        </p:grpSpPr>
        <p:sp>
          <p:nvSpPr>
            <p:cNvPr id="59" name="菱形 58"/>
            <p:cNvSpPr/>
            <p:nvPr/>
          </p:nvSpPr>
          <p:spPr>
            <a:xfrm rot="16200000" flipH="1" flipV="1">
              <a:off x="5727" y="8824"/>
              <a:ext cx="519" cy="513"/>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60" name="菱形 59"/>
            <p:cNvSpPr/>
            <p:nvPr/>
          </p:nvSpPr>
          <p:spPr>
            <a:xfrm rot="16200000" flipH="1" flipV="1">
              <a:off x="5727" y="8635"/>
              <a:ext cx="519" cy="513"/>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61" name="组合 60"/>
          <p:cNvGrpSpPr/>
          <p:nvPr/>
        </p:nvGrpSpPr>
        <p:grpSpPr>
          <a:xfrm>
            <a:off x="4855845" y="5481320"/>
            <a:ext cx="325120" cy="448945"/>
            <a:chOff x="5730" y="8632"/>
            <a:chExt cx="512" cy="707"/>
          </a:xfrm>
        </p:grpSpPr>
        <p:sp>
          <p:nvSpPr>
            <p:cNvPr id="62" name="菱形 61"/>
            <p:cNvSpPr/>
            <p:nvPr/>
          </p:nvSpPr>
          <p:spPr>
            <a:xfrm rot="16200000" flipH="1" flipV="1">
              <a:off x="5727" y="8824"/>
              <a:ext cx="519" cy="513"/>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63" name="菱形 62"/>
            <p:cNvSpPr/>
            <p:nvPr/>
          </p:nvSpPr>
          <p:spPr>
            <a:xfrm rot="16200000" flipH="1" flipV="1">
              <a:off x="5727" y="8635"/>
              <a:ext cx="519" cy="513"/>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64" name="组合 63"/>
          <p:cNvGrpSpPr/>
          <p:nvPr/>
        </p:nvGrpSpPr>
        <p:grpSpPr>
          <a:xfrm>
            <a:off x="6070600" y="5481320"/>
            <a:ext cx="325120" cy="448945"/>
            <a:chOff x="5730" y="8632"/>
            <a:chExt cx="512" cy="707"/>
          </a:xfrm>
        </p:grpSpPr>
        <p:sp>
          <p:nvSpPr>
            <p:cNvPr id="65" name="菱形 64"/>
            <p:cNvSpPr/>
            <p:nvPr/>
          </p:nvSpPr>
          <p:spPr>
            <a:xfrm rot="16200000" flipH="1" flipV="1">
              <a:off x="5727" y="8824"/>
              <a:ext cx="519" cy="513"/>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66" name="菱形 65"/>
            <p:cNvSpPr/>
            <p:nvPr/>
          </p:nvSpPr>
          <p:spPr>
            <a:xfrm rot="16200000" flipH="1" flipV="1">
              <a:off x="5727" y="8635"/>
              <a:ext cx="519" cy="513"/>
            </a:xfrm>
            <a:prstGeom prst="diamond">
              <a:avLst/>
            </a:prstGeom>
            <a:gradFill flip="none" rotWithShape="1">
              <a:gsLst>
                <a:gs pos="0">
                  <a:srgbClr val="B3D4FE"/>
                </a:gs>
                <a:gs pos="50000">
                  <a:srgbClr val="B3D4FE">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p:cNvSpPr/>
          <p:nvPr/>
        </p:nvSpPr>
        <p:spPr>
          <a:xfrm>
            <a:off x="3394710" y="1069975"/>
            <a:ext cx="5401310" cy="5401310"/>
          </a:xfrm>
          <a:prstGeom prst="ellipse">
            <a:avLst/>
          </a:prstGeom>
          <a:solidFill>
            <a:srgbClr val="FFFFFF">
              <a:alpha val="31000"/>
            </a:srgbClr>
          </a:solidFill>
          <a:ln>
            <a:solidFill>
              <a:srgbClr val="FFFF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outerShdw blurRad="63500" sx="102000" sy="102000" algn="ctr" rotWithShape="0">
                  <a:prstClr val="black">
                    <a:alpha val="40000"/>
                  </a:prstClr>
                </a:outerShdw>
              </a:effectLst>
              <a:uLnTx/>
              <a:uFillTx/>
              <a:latin typeface="微软雅黑"/>
              <a:ea typeface="微软雅黑"/>
              <a:cs typeface="微软雅黑"/>
            </a:endParaRPr>
          </a:p>
        </p:txBody>
      </p:sp>
      <p:sp>
        <p:nvSpPr>
          <p:cNvPr id="5" name="标题 2"/>
          <p:cNvSpPr>
            <a:spLocks noGrp="1"/>
          </p:cNvSpPr>
          <p:nvPr/>
        </p:nvSpPr>
        <p:spPr>
          <a:xfrm>
            <a:off x="1105535" y="348298"/>
            <a:ext cx="772858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sym typeface="微软雅黑"/>
              </a:rPr>
              <a:t>年度运营工作目标制定</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紫荆的职场Point1"/>
          <p:cNvSpPr/>
          <p:nvPr/>
        </p:nvSpPr>
        <p:spPr>
          <a:xfrm>
            <a:off x="1475226" y="4879136"/>
            <a:ext cx="9171750" cy="2114914"/>
          </a:xfrm>
          <a:custGeom>
            <a:avLst/>
            <a:gdLst>
              <a:gd name="connsiteX0" fmla="*/ 4585875 w 9171750"/>
              <a:gd name="connsiteY0" fmla="*/ 0 h 2114914"/>
              <a:gd name="connsiteX1" fmla="*/ 9168362 w 9171750"/>
              <a:gd name="connsiteY1" fmla="*/ 2051746 h 2114914"/>
              <a:gd name="connsiteX2" fmla="*/ 9171750 w 9171750"/>
              <a:gd name="connsiteY2" fmla="*/ 2114914 h 2114914"/>
              <a:gd name="connsiteX3" fmla="*/ 0 w 9171750"/>
              <a:gd name="connsiteY3" fmla="*/ 2114914 h 2114914"/>
              <a:gd name="connsiteX4" fmla="*/ 3389 w 9171750"/>
              <a:gd name="connsiteY4" fmla="*/ 2051746 h 2114914"/>
              <a:gd name="connsiteX5" fmla="*/ 4585875 w 9171750"/>
              <a:gd name="connsiteY5" fmla="*/ 0 h 211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1750" h="2114914">
                <a:moveTo>
                  <a:pt x="4585875" y="0"/>
                </a:moveTo>
                <a:cubicBezTo>
                  <a:pt x="7040818" y="0"/>
                  <a:pt x="9045468" y="908852"/>
                  <a:pt x="9168362" y="2051746"/>
                </a:cubicBezTo>
                <a:lnTo>
                  <a:pt x="9171750" y="2114914"/>
                </a:lnTo>
                <a:lnTo>
                  <a:pt x="0" y="2114914"/>
                </a:lnTo>
                <a:lnTo>
                  <a:pt x="3389" y="2051746"/>
                </a:lnTo>
                <a:cubicBezTo>
                  <a:pt x="126282" y="908852"/>
                  <a:pt x="2130932" y="0"/>
                  <a:pt x="4585875" y="0"/>
                </a:cubicBezTo>
                <a:close/>
              </a:path>
            </a:pathLst>
          </a:custGeom>
          <a:gradFill flip="none" rotWithShape="1">
            <a:gsLst>
              <a:gs pos="0">
                <a:srgbClr val="0042FF">
                  <a:alpha val="10000"/>
                </a:srgbClr>
              </a:gs>
              <a:gs pos="62000">
                <a:srgbClr val="0042FF">
                  <a:alpha val="0"/>
                </a:srgbClr>
              </a:gs>
            </a:gsLst>
            <a:lin ang="5400000" scaled="1"/>
            <a:tileRect/>
          </a:gradFill>
          <a:ln w="1867">
            <a:noFill/>
            <a:prstDash val="sysDash"/>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4" name="紫荆的职场Point2"/>
          <p:cNvSpPr/>
          <p:nvPr/>
        </p:nvSpPr>
        <p:spPr>
          <a:xfrm>
            <a:off x="4698361" y="5072458"/>
            <a:ext cx="2860048" cy="542008"/>
          </a:xfrm>
          <a:prstGeom prst="ellipse">
            <a:avLst/>
          </a:prstGeom>
          <a:gradFill flip="none" rotWithShape="1">
            <a:gsLst>
              <a:gs pos="0">
                <a:srgbClr val="FFFFFF">
                  <a:alpha val="0"/>
                </a:srgbClr>
              </a:gs>
              <a:gs pos="100000">
                <a:srgbClr val="FFFFFF">
                  <a:alpha val="43000"/>
                </a:srgbClr>
              </a:gs>
            </a:gsLst>
            <a:lin ang="5400000" scaled="1"/>
            <a:tileRect/>
          </a:gradFill>
          <a:ln w="2802">
            <a:gradFill flip="none" rotWithShape="1">
              <a:gsLst>
                <a:gs pos="0">
                  <a:srgbClr val="B3D4FE">
                    <a:alpha val="0"/>
                  </a:srgbClr>
                </a:gs>
                <a:gs pos="70000">
                  <a:srgbClr val="B3D4FE"/>
                </a:gs>
                <a:gs pos="100000">
                  <a:srgbClr val="B3D4FE"/>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60" name="紫荆的职场Point3"/>
          <p:cNvSpPr/>
          <p:nvPr/>
        </p:nvSpPr>
        <p:spPr>
          <a:xfrm>
            <a:off x="4359275" y="5189220"/>
            <a:ext cx="3538220" cy="676275"/>
          </a:xfrm>
          <a:prstGeom prst="ellipse">
            <a:avLst/>
          </a:prstGeom>
          <a:noFill/>
          <a:ln w="2802">
            <a:gradFill flip="none" rotWithShape="1">
              <a:gsLst>
                <a:gs pos="0">
                  <a:srgbClr val="B3D4FE">
                    <a:alpha val="0"/>
                  </a:srgbClr>
                </a:gs>
                <a:gs pos="70000">
                  <a:srgbClr val="B3D4FE"/>
                </a:gs>
                <a:gs pos="100000">
                  <a:srgbClr val="B3D4FE"/>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7" name="紫荆的职场Point5"/>
          <p:cNvSpPr/>
          <p:nvPr/>
        </p:nvSpPr>
        <p:spPr>
          <a:xfrm rot="16200000" flipV="1">
            <a:off x="-715684" y="1897321"/>
            <a:ext cx="5846204" cy="3814763"/>
          </a:xfrm>
          <a:custGeom>
            <a:avLst/>
            <a:gdLst>
              <a:gd name="connsiteX0" fmla="*/ 560778 w 1921064"/>
              <a:gd name="connsiteY0" fmla="*/ 0 h 1602569"/>
              <a:gd name="connsiteX1" fmla="*/ 1362699 w 1921064"/>
              <a:gd name="connsiteY1" fmla="*/ 0 h 1602569"/>
              <a:gd name="connsiteX2" fmla="*/ 1412576 w 1921064"/>
              <a:gd name="connsiteY2" fmla="*/ 296622 h 1602569"/>
              <a:gd name="connsiteX3" fmla="*/ 1921064 w 1921064"/>
              <a:gd name="connsiteY3" fmla="*/ 1602569 h 1602569"/>
              <a:gd name="connsiteX4" fmla="*/ 0 w 1921064"/>
              <a:gd name="connsiteY4" fmla="*/ 1602569 h 1602569"/>
              <a:gd name="connsiteX5" fmla="*/ 517762 w 1921064"/>
              <a:gd name="connsiteY5" fmla="*/ 283338 h 16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1064" h="1602569">
                <a:moveTo>
                  <a:pt x="560778" y="0"/>
                </a:moveTo>
                <a:lnTo>
                  <a:pt x="1362699" y="0"/>
                </a:lnTo>
                <a:lnTo>
                  <a:pt x="1412576" y="296622"/>
                </a:lnTo>
                <a:cubicBezTo>
                  <a:pt x="1507878" y="745218"/>
                  <a:pt x="1668096" y="1200463"/>
                  <a:pt x="1921064" y="1602569"/>
                </a:cubicBezTo>
                <a:lnTo>
                  <a:pt x="0" y="1602569"/>
                </a:lnTo>
                <a:cubicBezTo>
                  <a:pt x="252963" y="1182752"/>
                  <a:pt x="425557" y="723079"/>
                  <a:pt x="517762" y="283338"/>
                </a:cubicBezTo>
                <a:close/>
              </a:path>
            </a:pathLst>
          </a:custGeom>
          <a:gradFill flip="none" rotWithShape="1">
            <a:gsLst>
              <a:gs pos="15000">
                <a:srgbClr val="3368FF">
                  <a:alpha val="0"/>
                </a:srgbClr>
              </a:gs>
              <a:gs pos="100000">
                <a:srgbClr val="3368FF">
                  <a:alpha val="19000"/>
                </a:srgbClr>
              </a:gs>
            </a:gsLst>
            <a:lin ang="16200000" scaled="1"/>
            <a:tileRect/>
          </a:gradFill>
          <a:ln w="12700" cap="flat" cmpd="sng" algn="ctr">
            <a:gradFill>
              <a:gsLst>
                <a:gs pos="100000">
                  <a:srgbClr val="3368FF">
                    <a:alpha val="0"/>
                  </a:srgbClr>
                </a:gs>
                <a:gs pos="54000">
                  <a:srgbClr val="3368FF"/>
                </a:gs>
                <a:gs pos="0">
                  <a:srgbClr val="E6E6E6"/>
                </a:gs>
              </a:gsLst>
              <a:lin ang="5400000" scaled="1"/>
            </a:gradFill>
            <a:prstDash val="solid"/>
            <a:miter lim="800000"/>
          </a:ln>
          <a:effectLst/>
        </p:spPr>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8" name="紫荆的职场Point6"/>
          <p:cNvSpPr/>
          <p:nvPr/>
        </p:nvSpPr>
        <p:spPr>
          <a:xfrm rot="16200000">
            <a:off x="2866257" y="3461822"/>
            <a:ext cx="2464598" cy="688724"/>
          </a:xfrm>
          <a:prstGeom prst="ellipse">
            <a:avLst/>
          </a:prstGeom>
          <a:gradFill flip="none" rotWithShape="1">
            <a:gsLst>
              <a:gs pos="0">
                <a:srgbClr val="E6E6E6"/>
              </a:gs>
              <a:gs pos="100000">
                <a:srgbClr val="FFFFFF"/>
              </a:gs>
            </a:gsLst>
            <a:lin ang="16200000" scaled="1"/>
            <a:tileRect/>
          </a:gradFill>
          <a:ln w="12700" cap="flat" cmpd="sng" algn="ctr">
            <a:noFill/>
            <a:prstDash val="solid"/>
            <a:miter lim="800000"/>
          </a:ln>
          <a:effectLst/>
        </p:spPr>
        <p:txBody>
          <a:bodyPr wrap="square" rtlCol="0" anchor="ctr" lIns="0" rIns="0" tIns="0" bIns="0">
            <a:noAutofit/>
          </a:bodyPr>
          <a:lstStyle/>
          <a:p>
            <a:pPr algn="ctr">
              <a:defRPr>
                <a:latin typeface="微软雅黑"/>
                <a:ea typeface="微软雅黑"/>
                <a:cs typeface="微软雅黑"/>
              </a:defRPr>
            </a:pPr>
            <a:endParaRPr lang="zh-CN" altLang="en-US" kern="0">
              <a:solidFill>
                <a:srgbClr val="383838"/>
              </a:solidFill>
              <a:latin typeface="微软雅黑"/>
              <a:ea typeface="微软雅黑"/>
              <a:cs typeface="微软雅黑"/>
            </a:endParaRPr>
          </a:p>
        </p:txBody>
      </p:sp>
      <p:sp>
        <p:nvSpPr>
          <p:cNvPr id="29" name="紫荆的职场Point7"/>
          <p:cNvSpPr/>
          <p:nvPr/>
        </p:nvSpPr>
        <p:spPr>
          <a:xfrm>
            <a:off x="4568000" y="2293529"/>
            <a:ext cx="3022346" cy="3022346"/>
          </a:xfrm>
          <a:prstGeom prst="ellipse">
            <a:avLst/>
          </a:prstGeom>
          <a:gradFill flip="none" rotWithShape="1">
            <a:gsLst>
              <a:gs pos="100000">
                <a:srgbClr val="3368FF"/>
              </a:gs>
              <a:gs pos="0">
                <a:srgbClr val="B3D4FE"/>
              </a:gs>
            </a:gsLst>
            <a:path path="shape">
              <a:fillToRect l="50000" t="50000" r="50000" b="50000"/>
            </a:path>
            <a:tileRect/>
          </a:gradFill>
          <a:ln>
            <a:gradFill>
              <a:gsLst>
                <a:gs pos="0">
                  <a:srgbClr val="E6E6E6"/>
                </a:gs>
                <a:gs pos="100000">
                  <a:srgbClr val="FFFFFF"/>
                </a:gs>
              </a:gsLst>
              <a:lin ang="5400000" scaled="1"/>
            </a:gradFill>
          </a:ln>
          <a:effectLst>
            <a:innerShdw blurRad="8255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31" name="紫荆的职场Point9"/>
          <p:cNvSpPr/>
          <p:nvPr/>
        </p:nvSpPr>
        <p:spPr>
          <a:xfrm rot="5400000" flipH="1" flipV="1">
            <a:off x="7061481" y="1897322"/>
            <a:ext cx="5846204" cy="3814763"/>
          </a:xfrm>
          <a:custGeom>
            <a:avLst/>
            <a:gdLst>
              <a:gd name="connsiteX0" fmla="*/ 560778 w 1921064"/>
              <a:gd name="connsiteY0" fmla="*/ 0 h 1602569"/>
              <a:gd name="connsiteX1" fmla="*/ 1362699 w 1921064"/>
              <a:gd name="connsiteY1" fmla="*/ 0 h 1602569"/>
              <a:gd name="connsiteX2" fmla="*/ 1412576 w 1921064"/>
              <a:gd name="connsiteY2" fmla="*/ 296622 h 1602569"/>
              <a:gd name="connsiteX3" fmla="*/ 1921064 w 1921064"/>
              <a:gd name="connsiteY3" fmla="*/ 1602569 h 1602569"/>
              <a:gd name="connsiteX4" fmla="*/ 0 w 1921064"/>
              <a:gd name="connsiteY4" fmla="*/ 1602569 h 1602569"/>
              <a:gd name="connsiteX5" fmla="*/ 517762 w 1921064"/>
              <a:gd name="connsiteY5" fmla="*/ 283338 h 16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1064" h="1602569">
                <a:moveTo>
                  <a:pt x="560778" y="0"/>
                </a:moveTo>
                <a:lnTo>
                  <a:pt x="1362699" y="0"/>
                </a:lnTo>
                <a:lnTo>
                  <a:pt x="1412576" y="296622"/>
                </a:lnTo>
                <a:cubicBezTo>
                  <a:pt x="1507878" y="745218"/>
                  <a:pt x="1668096" y="1200463"/>
                  <a:pt x="1921064" y="1602569"/>
                </a:cubicBezTo>
                <a:lnTo>
                  <a:pt x="0" y="1602569"/>
                </a:lnTo>
                <a:cubicBezTo>
                  <a:pt x="252963" y="1182752"/>
                  <a:pt x="425557" y="723079"/>
                  <a:pt x="517762" y="283338"/>
                </a:cubicBezTo>
                <a:close/>
              </a:path>
            </a:pathLst>
          </a:custGeom>
          <a:gradFill flip="none" rotWithShape="1">
            <a:gsLst>
              <a:gs pos="15000">
                <a:srgbClr val="B3D4FE">
                  <a:alpha val="0"/>
                </a:srgbClr>
              </a:gs>
              <a:gs pos="100000">
                <a:srgbClr val="B3D4FE">
                  <a:alpha val="19000"/>
                </a:srgbClr>
              </a:gs>
            </a:gsLst>
            <a:lin ang="16200000" scaled="1"/>
            <a:tileRect/>
          </a:gradFill>
          <a:ln w="12700" cap="flat" cmpd="sng" algn="ctr">
            <a:gradFill>
              <a:gsLst>
                <a:gs pos="100000">
                  <a:srgbClr val="B3D4FE">
                    <a:alpha val="0"/>
                  </a:srgbClr>
                </a:gs>
                <a:gs pos="54000">
                  <a:srgbClr val="B3D4FE"/>
                </a:gs>
                <a:gs pos="0">
                  <a:srgbClr val="FFFFFF">
                    <a:alpha val="0"/>
                  </a:srgbClr>
                </a:gs>
              </a:gsLst>
              <a:lin ang="5400000" scaled="1"/>
            </a:gradFill>
            <a:prstDash val="solid"/>
            <a:miter lim="800000"/>
          </a:ln>
          <a:effectLst/>
        </p:spPr>
        <p:txBody>
          <a:bodyPr wrap="square" rtlCol="0" anchor="ctr" lIns="0" rIns="0" tIns="0" bIns="0">
            <a:noAutofit/>
          </a:bodyPr>
          <a:lstStyle/>
          <a:p>
            <a:pPr algn="ctr">
              <a:defRPr>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sp>
        <p:nvSpPr>
          <p:cNvPr id="32" name="紫荆的职场Point10"/>
          <p:cNvSpPr/>
          <p:nvPr/>
        </p:nvSpPr>
        <p:spPr>
          <a:xfrm rot="5400000" flipH="1">
            <a:off x="6861146" y="3461822"/>
            <a:ext cx="2464598" cy="688724"/>
          </a:xfrm>
          <a:prstGeom prst="ellipse">
            <a:avLst/>
          </a:prstGeom>
          <a:gradFill flip="none" rotWithShape="1">
            <a:gsLst>
              <a:gs pos="0">
                <a:srgbClr val="FFFFFF"/>
              </a:gs>
              <a:gs pos="100000">
                <a:srgbClr val="FFFFFF"/>
              </a:gs>
            </a:gsLst>
            <a:lin ang="16200000" scaled="1"/>
            <a:tileRect/>
          </a:gradFill>
          <a:ln w="12700" cap="flat" cmpd="sng" algn="ctr">
            <a:noFill/>
            <a:prstDash val="solid"/>
            <a:miter lim="800000"/>
          </a:ln>
          <a:effectLst/>
        </p:spPr>
        <p:txBody>
          <a:bodyPr wrap="square" rtlCol="0" anchor="ctr" lIns="0" rIns="0" tIns="0" bIns="0">
            <a:noAutofit/>
          </a:bodyPr>
          <a:lstStyle/>
          <a:p>
            <a:pPr algn="ctr">
              <a:defRPr>
                <a:latin typeface="微软雅黑"/>
                <a:ea typeface="微软雅黑"/>
                <a:cs typeface="微软雅黑"/>
              </a:defRPr>
            </a:pPr>
            <a:endParaRPr lang="zh-CN" altLang="en-US" kern="0">
              <a:solidFill>
                <a:srgbClr val="383838"/>
              </a:solidFill>
              <a:latin typeface="微软雅黑"/>
              <a:ea typeface="微软雅黑"/>
              <a:cs typeface="微软雅黑"/>
            </a:endParaRPr>
          </a:p>
        </p:txBody>
      </p:sp>
      <p:sp>
        <p:nvSpPr>
          <p:cNvPr id="115" name="紫荆的职场Point41"/>
          <p:cNvSpPr/>
          <p:nvPr/>
        </p:nvSpPr>
        <p:spPr>
          <a:xfrm rot="13718502">
            <a:off x="4286338" y="1978307"/>
            <a:ext cx="3881163" cy="3881163"/>
          </a:xfrm>
          <a:prstGeom prst="arc">
            <a:avLst>
              <a:gd name="adj1" fmla="val 19401993"/>
              <a:gd name="adj2" fmla="val 2325809"/>
            </a:avLst>
          </a:prstGeom>
          <a:noFill/>
          <a:ln w="57150" cap="flat" cmpd="sng" algn="ctr">
            <a:gradFill flip="none" rotWithShape="1">
              <a:gsLst>
                <a:gs pos="100000">
                  <a:srgbClr val="3368FF"/>
                </a:gs>
                <a:gs pos="17000">
                  <a:srgbClr val="B3D4FE">
                    <a:alpha val="0"/>
                  </a:srgbClr>
                </a:gs>
              </a:gsLst>
              <a:lin ang="5400000" scaled="1"/>
              <a:tileRect/>
            </a:gradFill>
            <a:prstDash val="solid"/>
            <a:miter lim="800000"/>
            <a:headEnd type="none"/>
            <a:tailEnd type="arrow" w="med" len="sm"/>
          </a:ln>
          <a:effectLst/>
        </p:spPr>
        <p:txBody>
          <a:bodyPr rtlCol="0" anchor="ctr" lIns="0" rIns="0" tIns="0" bIns="0"/>
          <a:lstStyle/>
          <a:p>
            <a:pPr algn="ctr">
              <a:defRPr>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sp>
        <p:nvSpPr>
          <p:cNvPr id="116" name="紫荆的职场Point42"/>
          <p:cNvSpPr/>
          <p:nvPr/>
        </p:nvSpPr>
        <p:spPr>
          <a:xfrm rot="1589125">
            <a:off x="4083578" y="1702924"/>
            <a:ext cx="3881163" cy="3881163"/>
          </a:xfrm>
          <a:prstGeom prst="arc">
            <a:avLst>
              <a:gd name="adj1" fmla="val 20638628"/>
              <a:gd name="adj2" fmla="val 2913415"/>
            </a:avLst>
          </a:prstGeom>
          <a:noFill/>
          <a:ln w="57150" cap="flat" cmpd="sng" algn="ctr">
            <a:gradFill flip="none" rotWithShape="1">
              <a:gsLst>
                <a:gs pos="100000">
                  <a:srgbClr val="3368FF"/>
                </a:gs>
                <a:gs pos="17000">
                  <a:srgbClr val="B3D4FE">
                    <a:alpha val="0"/>
                  </a:srgbClr>
                </a:gs>
              </a:gsLst>
              <a:lin ang="5400000" scaled="1"/>
              <a:tileRect/>
            </a:gradFill>
            <a:prstDash val="solid"/>
            <a:miter lim="800000"/>
            <a:headEnd type="none"/>
            <a:tailEnd type="arrow" w="med" len="sm"/>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nvGrpSpPr>
          <p:cNvPr id="24" name="组合 23"/>
          <p:cNvGrpSpPr/>
          <p:nvPr/>
        </p:nvGrpSpPr>
        <p:grpSpPr>
          <a:xfrm>
            <a:off x="2604135" y="1819910"/>
            <a:ext cx="883920" cy="3794760"/>
            <a:chOff x="4101" y="2866"/>
            <a:chExt cx="1176" cy="5976"/>
          </a:xfrm>
        </p:grpSpPr>
        <p:sp>
          <p:nvSpPr>
            <p:cNvPr id="117" name="任意多边形: 形状 8"/>
            <p:cNvSpPr/>
            <p:nvPr/>
          </p:nvSpPr>
          <p:spPr>
            <a:xfrm rot="16200000">
              <a:off x="1945" y="5509"/>
              <a:ext cx="5975" cy="691"/>
            </a:xfrm>
            <a:custGeom>
              <a:avLst/>
              <a:gdLst>
                <a:gd name="connsiteX0" fmla="*/ 4326150 w 4326544"/>
                <a:gd name="connsiteY0" fmla="*/ 115296 h 884884"/>
                <a:gd name="connsiteX1" fmla="*/ 4322497 w 4326544"/>
                <a:gd name="connsiteY1" fmla="*/ 234887 h 884884"/>
                <a:gd name="connsiteX2" fmla="*/ 4320504 w 4326544"/>
                <a:gd name="connsiteY2" fmla="*/ 265449 h 884884"/>
                <a:gd name="connsiteX3" fmla="*/ 57076 w 4326544"/>
                <a:gd name="connsiteY3" fmla="*/ 390023 h 884884"/>
                <a:gd name="connsiteX4" fmla="*/ 5585 w 4326544"/>
                <a:gd name="connsiteY4" fmla="*/ 266779 h 884884"/>
                <a:gd name="connsiteX5" fmla="*/ -394 w 4326544"/>
                <a:gd name="connsiteY5" fmla="*/ 104333 h 884884"/>
                <a:gd name="connsiteX6" fmla="*/ 2264 w 4326544"/>
                <a:gd name="connsiteY6" fmla="*/ -643 h 884884"/>
                <a:gd name="connsiteX7" fmla="*/ 2125339 w 4326544"/>
                <a:gd name="connsiteY7" fmla="*/ 639837 h 884884"/>
                <a:gd name="connsiteX8" fmla="*/ 4323825 w 4326544"/>
                <a:gd name="connsiteY8" fmla="*/ 19290 h 884884"/>
                <a:gd name="connsiteX9" fmla="*/ 4326150 w 4326544"/>
                <a:gd name="connsiteY9" fmla="*/ 115296 h 884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6544" h="884884">
                  <a:moveTo>
                    <a:pt x="4326150" y="115296"/>
                  </a:moveTo>
                  <a:cubicBezTo>
                    <a:pt x="4326150" y="155491"/>
                    <a:pt x="4326150" y="195355"/>
                    <a:pt x="4322497" y="234887"/>
                  </a:cubicBezTo>
                  <a:lnTo>
                    <a:pt x="4320504" y="265449"/>
                  </a:lnTo>
                  <a:cubicBezTo>
                    <a:pt x="4133143" y="1143119"/>
                    <a:pt x="516174" y="996286"/>
                    <a:pt x="57076" y="390023"/>
                  </a:cubicBezTo>
                  <a:cubicBezTo>
                    <a:pt x="28772" y="354544"/>
                    <a:pt x="10934" y="311858"/>
                    <a:pt x="5585" y="266779"/>
                  </a:cubicBezTo>
                  <a:lnTo>
                    <a:pt x="-394" y="104333"/>
                  </a:lnTo>
                  <a:lnTo>
                    <a:pt x="2264" y="-643"/>
                  </a:lnTo>
                  <a:cubicBezTo>
                    <a:pt x="-14346" y="347170"/>
                    <a:pt x="934742" y="633858"/>
                    <a:pt x="2125339" y="639837"/>
                  </a:cubicBezTo>
                  <a:cubicBezTo>
                    <a:pt x="3315937" y="645816"/>
                    <a:pt x="4303229" y="368099"/>
                    <a:pt x="4323825" y="19290"/>
                  </a:cubicBezTo>
                  <a:cubicBezTo>
                    <a:pt x="4325487" y="52510"/>
                    <a:pt x="4326150" y="83072"/>
                    <a:pt x="4326150" y="115296"/>
                  </a:cubicBezTo>
                </a:path>
              </a:pathLst>
            </a:custGeom>
            <a:gradFill>
              <a:gsLst>
                <a:gs pos="13000">
                  <a:srgbClr val="0042FF">
                    <a:alpha val="10000"/>
                  </a:srgbClr>
                </a:gs>
                <a:gs pos="86000">
                  <a:srgbClr val="0042FF">
                    <a:alpha val="12000"/>
                  </a:srgbClr>
                </a:gs>
              </a:gsLst>
              <a:path path="circle">
                <a:fillToRect r="100000" b="100000"/>
              </a:path>
            </a:gradFill>
            <a:ln w="37516"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sz="1000">
                <a:latin typeface="微软雅黑"/>
                <a:ea typeface="微软雅黑"/>
                <a:cs typeface="微软雅黑"/>
              </a:endParaRPr>
            </a:p>
          </p:txBody>
        </p:sp>
        <p:sp>
          <p:nvSpPr>
            <p:cNvPr id="118" name="任意多边形: 形状 22"/>
            <p:cNvSpPr/>
            <p:nvPr/>
          </p:nvSpPr>
          <p:spPr>
            <a:xfrm rot="16200000">
              <a:off x="1460" y="5507"/>
              <a:ext cx="5976" cy="695"/>
            </a:xfrm>
            <a:custGeom>
              <a:avLst/>
              <a:gdLst>
                <a:gd name="connsiteX0" fmla="*/ 4322497 w 4326876"/>
                <a:gd name="connsiteY0" fmla="*/ 885760 h 890388"/>
                <a:gd name="connsiteX1" fmla="*/ 4322497 w 4326876"/>
                <a:gd name="connsiteY1" fmla="*/ 857854 h 890388"/>
                <a:gd name="connsiteX2" fmla="*/ 4326483 w 4326876"/>
                <a:gd name="connsiteY2" fmla="*/ 726968 h 890388"/>
                <a:gd name="connsiteX3" fmla="*/ 4324157 w 4326876"/>
                <a:gd name="connsiteY3" fmla="*/ 621329 h 890388"/>
                <a:gd name="connsiteX4" fmla="*/ 2200748 w 4326876"/>
                <a:gd name="connsiteY4" fmla="*/ -548 h 890388"/>
                <a:gd name="connsiteX5" fmla="*/ 2263 w 4326876"/>
                <a:gd name="connsiteY5" fmla="*/ 620001 h 890388"/>
                <a:gd name="connsiteX6" fmla="*/ 2263 w 4326876"/>
                <a:gd name="connsiteY6" fmla="*/ 622324 h 890388"/>
                <a:gd name="connsiteX7" fmla="*/ -394 w 4326876"/>
                <a:gd name="connsiteY7" fmla="*/ 727300 h 890388"/>
                <a:gd name="connsiteX8" fmla="*/ 5585 w 4326876"/>
                <a:gd name="connsiteY8" fmla="*/ 889746 h 890388"/>
                <a:gd name="connsiteX9" fmla="*/ 5585 w 4326876"/>
                <a:gd name="connsiteY9" fmla="*/ 863501 h 890388"/>
                <a:gd name="connsiteX10" fmla="*/ 2200748 w 4326876"/>
                <a:gd name="connsiteY10" fmla="*/ 243952 h 890388"/>
                <a:gd name="connsiteX11" fmla="*/ 4320836 w 4326876"/>
                <a:gd name="connsiteY11" fmla="*/ 885760 h 890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26876" h="890388">
                  <a:moveTo>
                    <a:pt x="4322497" y="885760"/>
                  </a:moveTo>
                  <a:cubicBezTo>
                    <a:pt x="4322497" y="876457"/>
                    <a:pt x="4322497" y="867157"/>
                    <a:pt x="4322497" y="857854"/>
                  </a:cubicBezTo>
                  <a:lnTo>
                    <a:pt x="4326483" y="726968"/>
                  </a:lnTo>
                  <a:lnTo>
                    <a:pt x="4324157" y="621329"/>
                  </a:lnTo>
                  <a:cubicBezTo>
                    <a:pt x="4306550" y="281821"/>
                    <a:pt x="3370417" y="5433"/>
                    <a:pt x="2200748" y="-548"/>
                  </a:cubicBezTo>
                  <a:cubicBezTo>
                    <a:pt x="1007494" y="-6528"/>
                    <a:pt x="23191" y="271192"/>
                    <a:pt x="2263" y="620001"/>
                  </a:cubicBezTo>
                  <a:lnTo>
                    <a:pt x="2263" y="622324"/>
                  </a:lnTo>
                  <a:lnTo>
                    <a:pt x="-394" y="727300"/>
                  </a:lnTo>
                  <a:lnTo>
                    <a:pt x="5585" y="889746"/>
                  </a:lnTo>
                  <a:cubicBezTo>
                    <a:pt x="4921" y="881009"/>
                    <a:pt x="4921" y="872238"/>
                    <a:pt x="5585" y="863501"/>
                  </a:cubicBezTo>
                  <a:cubicBezTo>
                    <a:pt x="26181" y="515357"/>
                    <a:pt x="1009154" y="237640"/>
                    <a:pt x="2200748" y="243952"/>
                  </a:cubicBezTo>
                  <a:cubicBezTo>
                    <a:pt x="3392343" y="250263"/>
                    <a:pt x="4341765" y="537282"/>
                    <a:pt x="4320836" y="885760"/>
                  </a:cubicBezTo>
                </a:path>
              </a:pathLst>
            </a:custGeom>
            <a:gradFill>
              <a:gsLst>
                <a:gs pos="13000">
                  <a:srgbClr val="3368FF"/>
                </a:gs>
                <a:gs pos="86000">
                  <a:srgbClr val="0042FF"/>
                </a:gs>
              </a:gsLst>
              <a:path path="circle">
                <a:fillToRect r="100000" b="100000"/>
              </a:path>
            </a:gradFill>
            <a:ln w="37516"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383838"/>
                  </a:solidFill>
                  <a:latin typeface="微软雅黑"/>
                  <a:ea typeface="微软雅黑"/>
                  <a:cs typeface="微软雅黑"/>
                </a:defRPr>
              </a:pPr>
              <a:endParaRPr lang="zh-CN" altLang="en-US" sz="1000" dirty="0">
                <a:solidFill>
                  <a:srgbClr val="383838"/>
                </a:solidFill>
                <a:latin typeface="微软雅黑"/>
                <a:ea typeface="微软雅黑"/>
                <a:cs typeface="微软雅黑"/>
              </a:endParaRPr>
            </a:p>
          </p:txBody>
        </p:sp>
      </p:grpSp>
      <p:grpSp>
        <p:nvGrpSpPr>
          <p:cNvPr id="46" name="组合 45"/>
          <p:cNvGrpSpPr/>
          <p:nvPr/>
        </p:nvGrpSpPr>
        <p:grpSpPr>
          <a:xfrm>
            <a:off x="8738235" y="1854200"/>
            <a:ext cx="962660" cy="3794760"/>
            <a:chOff x="14100" y="2920"/>
            <a:chExt cx="1177" cy="5976"/>
          </a:xfrm>
        </p:grpSpPr>
        <p:sp>
          <p:nvSpPr>
            <p:cNvPr id="119" name="任意多边形: 形状 9"/>
            <p:cNvSpPr/>
            <p:nvPr/>
          </p:nvSpPr>
          <p:spPr>
            <a:xfrm rot="5400000" flipH="1">
              <a:off x="11458" y="5563"/>
              <a:ext cx="5975" cy="691"/>
            </a:xfrm>
            <a:custGeom>
              <a:avLst/>
              <a:gdLst>
                <a:gd name="connsiteX0" fmla="*/ 4326150 w 4326544"/>
                <a:gd name="connsiteY0" fmla="*/ 115296 h 884884"/>
                <a:gd name="connsiteX1" fmla="*/ 4322497 w 4326544"/>
                <a:gd name="connsiteY1" fmla="*/ 234887 h 884884"/>
                <a:gd name="connsiteX2" fmla="*/ 4320504 w 4326544"/>
                <a:gd name="connsiteY2" fmla="*/ 265449 h 884884"/>
                <a:gd name="connsiteX3" fmla="*/ 57076 w 4326544"/>
                <a:gd name="connsiteY3" fmla="*/ 390023 h 884884"/>
                <a:gd name="connsiteX4" fmla="*/ 5585 w 4326544"/>
                <a:gd name="connsiteY4" fmla="*/ 266779 h 884884"/>
                <a:gd name="connsiteX5" fmla="*/ -394 w 4326544"/>
                <a:gd name="connsiteY5" fmla="*/ 104333 h 884884"/>
                <a:gd name="connsiteX6" fmla="*/ 2264 w 4326544"/>
                <a:gd name="connsiteY6" fmla="*/ -643 h 884884"/>
                <a:gd name="connsiteX7" fmla="*/ 2125339 w 4326544"/>
                <a:gd name="connsiteY7" fmla="*/ 639837 h 884884"/>
                <a:gd name="connsiteX8" fmla="*/ 4323825 w 4326544"/>
                <a:gd name="connsiteY8" fmla="*/ 19290 h 884884"/>
                <a:gd name="connsiteX9" fmla="*/ 4326150 w 4326544"/>
                <a:gd name="connsiteY9" fmla="*/ 115296 h 884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6544" h="884884">
                  <a:moveTo>
                    <a:pt x="4326150" y="115296"/>
                  </a:moveTo>
                  <a:cubicBezTo>
                    <a:pt x="4326150" y="155491"/>
                    <a:pt x="4326150" y="195355"/>
                    <a:pt x="4322497" y="234887"/>
                  </a:cubicBezTo>
                  <a:lnTo>
                    <a:pt x="4320504" y="265449"/>
                  </a:lnTo>
                  <a:cubicBezTo>
                    <a:pt x="4133143" y="1143119"/>
                    <a:pt x="516174" y="996286"/>
                    <a:pt x="57076" y="390023"/>
                  </a:cubicBezTo>
                  <a:cubicBezTo>
                    <a:pt x="28772" y="354544"/>
                    <a:pt x="10934" y="311858"/>
                    <a:pt x="5585" y="266779"/>
                  </a:cubicBezTo>
                  <a:lnTo>
                    <a:pt x="-394" y="104333"/>
                  </a:lnTo>
                  <a:lnTo>
                    <a:pt x="2264" y="-643"/>
                  </a:lnTo>
                  <a:cubicBezTo>
                    <a:pt x="-14346" y="347170"/>
                    <a:pt x="934742" y="633858"/>
                    <a:pt x="2125339" y="639837"/>
                  </a:cubicBezTo>
                  <a:cubicBezTo>
                    <a:pt x="3315937" y="645816"/>
                    <a:pt x="4303229" y="368099"/>
                    <a:pt x="4323825" y="19290"/>
                  </a:cubicBezTo>
                  <a:cubicBezTo>
                    <a:pt x="4325487" y="52510"/>
                    <a:pt x="4326150" y="83072"/>
                    <a:pt x="4326150" y="115296"/>
                  </a:cubicBezTo>
                </a:path>
              </a:pathLst>
            </a:custGeom>
            <a:gradFill>
              <a:gsLst>
                <a:gs pos="13000">
                  <a:srgbClr val="3368FF">
                    <a:alpha val="10000"/>
                  </a:srgbClr>
                </a:gs>
                <a:gs pos="86000">
                  <a:srgbClr val="3368FF">
                    <a:alpha val="12000"/>
                  </a:srgbClr>
                </a:gs>
              </a:gsLst>
              <a:path path="circle">
                <a:fillToRect r="100000" b="100000"/>
              </a:path>
            </a:gradFill>
            <a:ln w="37516"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sz="1000">
                <a:latin typeface="微软雅黑"/>
                <a:ea typeface="微软雅黑"/>
                <a:cs typeface="微软雅黑"/>
              </a:endParaRPr>
            </a:p>
          </p:txBody>
        </p:sp>
        <p:sp>
          <p:nvSpPr>
            <p:cNvPr id="120" name="任意多边形: 形状 21"/>
            <p:cNvSpPr/>
            <p:nvPr/>
          </p:nvSpPr>
          <p:spPr>
            <a:xfrm rot="5400000" flipH="1">
              <a:off x="11942" y="5561"/>
              <a:ext cx="5976" cy="695"/>
            </a:xfrm>
            <a:custGeom>
              <a:avLst/>
              <a:gdLst>
                <a:gd name="connsiteX0" fmla="*/ 4322497 w 4326876"/>
                <a:gd name="connsiteY0" fmla="*/ 885760 h 890388"/>
                <a:gd name="connsiteX1" fmla="*/ 4322497 w 4326876"/>
                <a:gd name="connsiteY1" fmla="*/ 857854 h 890388"/>
                <a:gd name="connsiteX2" fmla="*/ 4326483 w 4326876"/>
                <a:gd name="connsiteY2" fmla="*/ 726968 h 890388"/>
                <a:gd name="connsiteX3" fmla="*/ 4324157 w 4326876"/>
                <a:gd name="connsiteY3" fmla="*/ 621329 h 890388"/>
                <a:gd name="connsiteX4" fmla="*/ 2200748 w 4326876"/>
                <a:gd name="connsiteY4" fmla="*/ -548 h 890388"/>
                <a:gd name="connsiteX5" fmla="*/ 2263 w 4326876"/>
                <a:gd name="connsiteY5" fmla="*/ 620001 h 890388"/>
                <a:gd name="connsiteX6" fmla="*/ 2263 w 4326876"/>
                <a:gd name="connsiteY6" fmla="*/ 622324 h 890388"/>
                <a:gd name="connsiteX7" fmla="*/ -394 w 4326876"/>
                <a:gd name="connsiteY7" fmla="*/ 727300 h 890388"/>
                <a:gd name="connsiteX8" fmla="*/ 5585 w 4326876"/>
                <a:gd name="connsiteY8" fmla="*/ 889746 h 890388"/>
                <a:gd name="connsiteX9" fmla="*/ 5585 w 4326876"/>
                <a:gd name="connsiteY9" fmla="*/ 863501 h 890388"/>
                <a:gd name="connsiteX10" fmla="*/ 2200748 w 4326876"/>
                <a:gd name="connsiteY10" fmla="*/ 243952 h 890388"/>
                <a:gd name="connsiteX11" fmla="*/ 4320836 w 4326876"/>
                <a:gd name="connsiteY11" fmla="*/ 885760 h 890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26876" h="890388">
                  <a:moveTo>
                    <a:pt x="4322497" y="885760"/>
                  </a:moveTo>
                  <a:cubicBezTo>
                    <a:pt x="4322497" y="876457"/>
                    <a:pt x="4322497" y="867157"/>
                    <a:pt x="4322497" y="857854"/>
                  </a:cubicBezTo>
                  <a:lnTo>
                    <a:pt x="4326483" y="726968"/>
                  </a:lnTo>
                  <a:lnTo>
                    <a:pt x="4324157" y="621329"/>
                  </a:lnTo>
                  <a:cubicBezTo>
                    <a:pt x="4306550" y="281821"/>
                    <a:pt x="3370417" y="5433"/>
                    <a:pt x="2200748" y="-548"/>
                  </a:cubicBezTo>
                  <a:cubicBezTo>
                    <a:pt x="1007494" y="-6528"/>
                    <a:pt x="23191" y="271192"/>
                    <a:pt x="2263" y="620001"/>
                  </a:cubicBezTo>
                  <a:lnTo>
                    <a:pt x="2263" y="622324"/>
                  </a:lnTo>
                  <a:lnTo>
                    <a:pt x="-394" y="727300"/>
                  </a:lnTo>
                  <a:lnTo>
                    <a:pt x="5585" y="889746"/>
                  </a:lnTo>
                  <a:cubicBezTo>
                    <a:pt x="4921" y="881009"/>
                    <a:pt x="4921" y="872238"/>
                    <a:pt x="5585" y="863501"/>
                  </a:cubicBezTo>
                  <a:cubicBezTo>
                    <a:pt x="26181" y="515357"/>
                    <a:pt x="1009154" y="237640"/>
                    <a:pt x="2200748" y="243952"/>
                  </a:cubicBezTo>
                  <a:cubicBezTo>
                    <a:pt x="3392343" y="250263"/>
                    <a:pt x="4341765" y="537282"/>
                    <a:pt x="4320836" y="885760"/>
                  </a:cubicBezTo>
                </a:path>
              </a:pathLst>
            </a:custGeom>
            <a:gradFill>
              <a:gsLst>
                <a:gs pos="13000">
                  <a:srgbClr val="B3D4FE"/>
                </a:gs>
                <a:gs pos="86000">
                  <a:srgbClr val="3368FF"/>
                </a:gs>
              </a:gsLst>
              <a:path path="circle">
                <a:fillToRect r="100000" b="100000"/>
              </a:path>
            </a:gradFill>
            <a:ln w="37516"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sz="1000" dirty="0">
                <a:latin typeface="微软雅黑"/>
                <a:ea typeface="微软雅黑"/>
                <a:cs typeface="微软雅黑"/>
              </a:endParaRPr>
            </a:p>
          </p:txBody>
        </p:sp>
      </p:grpSp>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9" name="©天蝎PPT29"/>
          <p:cNvSpPr txBox="1"/>
          <p:nvPr>
            <p:custDataLst>
              <p:tags r:id="rId4"/>
            </p:custDataLst>
          </p:nvPr>
        </p:nvSpPr>
        <p:spPr>
          <a:xfrm>
            <a:off x="5569387" y="2964976"/>
            <a:ext cx="996315" cy="398780"/>
          </a:xfrm>
          <a:prstGeom prst="rect">
            <a:avLst/>
          </a:prstGeom>
          <a:noFill/>
        </p:spPr>
        <p:txBody>
          <a:bodyPr wrap="none" lIns="0" rIns="0" tIns="0" bIns="0">
            <a:spAutoFit/>
          </a:bodyPr>
          <a:lstStyle>
            <a:defPPr>
              <a:defRPr lang="zh-CN">
                <a:latin typeface="微软雅黑"/>
                <a:ea typeface="微软雅黑"/>
                <a:cs typeface="微软雅黑"/>
              </a:defRPr>
            </a:defPPr>
            <a:lvl1pPr>
              <a:defRPr kumimoji="0" sz="105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sz="2000" dirty="0">
                <a:solidFill>
                  <a:srgbClr val="383838"/>
                </a:solidFill>
                <a:latin typeface="微软雅黑"/>
                <a:ea typeface="微软雅黑"/>
                <a:cs typeface="微软雅黑"/>
                <a:sym typeface="微软雅黑"/>
              </a:rPr>
              <a:t>年</a:t>
            </a:r>
            <a:r>
              <a:rPr lang="en-US" altLang="zh-CN" sz="2000" dirty="0">
                <a:solidFill>
                  <a:srgbClr val="383838"/>
                </a:solidFill>
                <a:latin typeface="微软雅黑"/>
                <a:ea typeface="微软雅黑"/>
                <a:cs typeface="微软雅黑"/>
                <a:sym typeface="微软雅黑"/>
              </a:rPr>
              <a:t>GMV</a:t>
            </a:r>
            <a:endParaRPr lang="en-US" altLang="zh-CN" sz="2000" dirty="0">
              <a:solidFill>
                <a:srgbClr val="383838"/>
              </a:solidFill>
              <a:latin typeface="微软雅黑"/>
              <a:ea typeface="微软雅黑"/>
              <a:cs typeface="微软雅黑"/>
              <a:sym typeface="微软雅黑"/>
            </a:endParaRPr>
          </a:p>
        </p:txBody>
      </p:sp>
      <p:sp>
        <p:nvSpPr>
          <p:cNvPr id="11" name="©天蝎PPT30"/>
          <p:cNvSpPr txBox="1"/>
          <p:nvPr>
            <p:custDataLst>
              <p:tags r:id="rId5"/>
            </p:custDataLst>
          </p:nvPr>
        </p:nvSpPr>
        <p:spPr>
          <a:xfrm>
            <a:off x="5266364" y="3363785"/>
            <a:ext cx="1673225" cy="645160"/>
          </a:xfrm>
          <a:prstGeom prst="rect">
            <a:avLst/>
          </a:prstGeom>
          <a:noFill/>
        </p:spPr>
        <p:txBody>
          <a:bodyPr wrap="none" lIns="0" rIns="0" tIns="0" bIns="0">
            <a:spAutoFit/>
          </a:bodyPr>
          <a:lstStyle>
            <a:defPPr>
              <a:defRPr lang="zh-CN">
                <a:latin typeface="微软雅黑"/>
                <a:ea typeface="微软雅黑"/>
                <a:cs typeface="微软雅黑"/>
              </a:defRPr>
            </a:defPPr>
            <a:lvl1pPr>
              <a:defRPr kumimoji="0" sz="105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en-US" altLang="zh-CN" sz="3600" b="1" dirty="0">
                <a:solidFill>
                  <a:srgbClr val="383838"/>
                </a:solidFill>
                <a:latin typeface="微软雅黑"/>
                <a:ea typeface="微软雅黑"/>
                <a:cs typeface="微软雅黑"/>
                <a:sym typeface="微软雅黑"/>
              </a:rPr>
              <a:t>5000W</a:t>
            </a:r>
            <a:endParaRPr lang="en-US" altLang="zh-CN" sz="3600" b="1" dirty="0">
              <a:solidFill>
                <a:srgbClr val="383838"/>
              </a:solidFill>
              <a:latin typeface="微软雅黑"/>
              <a:ea typeface="微软雅黑"/>
              <a:cs typeface="微软雅黑"/>
              <a:sym typeface="微软雅黑"/>
            </a:endParaRPr>
          </a:p>
        </p:txBody>
      </p:sp>
      <p:sp>
        <p:nvSpPr>
          <p:cNvPr id="12" name="©天蝎PPT31"/>
          <p:cNvSpPr txBox="1"/>
          <p:nvPr>
            <p:custDataLst>
              <p:tags r:id="rId6"/>
            </p:custDataLst>
          </p:nvPr>
        </p:nvSpPr>
        <p:spPr>
          <a:xfrm>
            <a:off x="5070754" y="4091419"/>
            <a:ext cx="2146742" cy="369332"/>
          </a:xfrm>
          <a:prstGeom prst="rect">
            <a:avLst/>
          </a:prstGeom>
          <a:noFill/>
        </p:spPr>
        <p:txBody>
          <a:bodyPr wrap="none" lIns="0" rIns="0" tIns="0" bIns="0">
            <a:spAutoFit/>
          </a:bodyPr>
          <a:lstStyle>
            <a:defPPr>
              <a:defRPr lang="zh-CN">
                <a:latin typeface="微软雅黑"/>
                <a:ea typeface="微软雅黑"/>
                <a:cs typeface="微软雅黑"/>
              </a:defRPr>
            </a:defPPr>
            <a:lvl1pPr>
              <a:defRPr kumimoji="0" sz="105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sz="1800" b="1" dirty="0">
                <a:solidFill>
                  <a:srgbClr val="383838"/>
                </a:solidFill>
                <a:latin typeface="微软雅黑"/>
                <a:ea typeface="微软雅黑"/>
                <a:cs typeface="微软雅黑"/>
                <a:sym typeface="微软雅黑"/>
              </a:rPr>
              <a:t>两大抓手 目标拆解</a:t>
            </a:r>
            <a:endParaRPr lang="zh-CN" altLang="en-US" sz="1800" b="1" dirty="0">
              <a:solidFill>
                <a:srgbClr val="383838"/>
              </a:solidFill>
              <a:latin typeface="微软雅黑"/>
              <a:ea typeface="微软雅黑"/>
              <a:cs typeface="微软雅黑"/>
              <a:sym typeface="微软雅黑"/>
            </a:endParaRPr>
          </a:p>
        </p:txBody>
      </p:sp>
      <p:sp>
        <p:nvSpPr>
          <p:cNvPr id="14" name="©天蝎PPT12"/>
          <p:cNvSpPr/>
          <p:nvPr>
            <p:custDataLst>
              <p:tags r:id="rId7"/>
            </p:custDataLst>
          </p:nvPr>
        </p:nvSpPr>
        <p:spPr>
          <a:xfrm>
            <a:off x="582195" y="4628390"/>
            <a:ext cx="1495501" cy="409448"/>
          </a:xfrm>
          <a:prstGeom prst="roundRect">
            <a:avLst>
              <a:gd name="adj" fmla="val 5000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5" name="©天蝎PPT13"/>
          <p:cNvSpPr/>
          <p:nvPr>
            <p:custDataLst>
              <p:tags r:id="rId8"/>
            </p:custDataLst>
          </p:nvPr>
        </p:nvSpPr>
        <p:spPr>
          <a:xfrm>
            <a:off x="582195" y="2198445"/>
            <a:ext cx="1495501" cy="409448"/>
          </a:xfrm>
          <a:prstGeom prst="roundRect">
            <a:avLst>
              <a:gd name="adj" fmla="val 5000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6" name="©天蝎PPT14"/>
          <p:cNvSpPr txBox="1"/>
          <p:nvPr>
            <p:custDataLst>
              <p:tags r:id="rId9"/>
            </p:custDataLst>
          </p:nvPr>
        </p:nvSpPr>
        <p:spPr>
          <a:xfrm flipH="1">
            <a:off x="582195" y="2657762"/>
            <a:ext cx="1887802" cy="437364"/>
          </a:xfrm>
          <a:prstGeom prst="rect">
            <a:avLst/>
          </a:prstGeom>
          <a:noFill/>
        </p:spPr>
        <p:txBody>
          <a:bodyPr wrap="square" lIns="0" tIns="0" rIns="0" bIns="0" rtlCol="0">
            <a:spAutoFit/>
          </a:bodyPr>
          <a:lstStyle/>
          <a:p>
            <a:pPr algn="l">
              <a:lnSpc>
                <a:spcPct val="150000"/>
              </a:lnSpc>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sym typeface="微软雅黑"/>
              </a:rPr>
              <a:t>制定针对性的推广策略，跟踪分析广告效果，调整投放策略</a:t>
            </a:r>
            <a:endParaRPr lang="zh-CN" altLang="en-US" sz="1000" dirty="0">
              <a:solidFill>
                <a:srgbClr val="383838">
                  <a:alpha val="80000"/>
                </a:srgbClr>
              </a:solidFill>
              <a:latin typeface="微软雅黑"/>
              <a:ea typeface="微软雅黑"/>
              <a:cs typeface="微软雅黑"/>
              <a:sym typeface="微软雅黑"/>
            </a:endParaRPr>
          </a:p>
        </p:txBody>
      </p:sp>
      <p:sp>
        <p:nvSpPr>
          <p:cNvPr id="17" name="©天蝎PPT15"/>
          <p:cNvSpPr txBox="1"/>
          <p:nvPr>
            <p:custDataLst>
              <p:tags r:id="rId10"/>
            </p:custDataLst>
          </p:nvPr>
        </p:nvSpPr>
        <p:spPr>
          <a:xfrm flipH="1">
            <a:off x="651137" y="2278282"/>
            <a:ext cx="1355211" cy="23852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加大推广力度</a:t>
            </a:r>
            <a:endParaRPr lang="zh-CN" altLang="en-US" sz="1550" dirty="0">
              <a:solidFill>
                <a:srgbClr val="FFFFFF"/>
              </a:solidFill>
              <a:latin typeface="微软雅黑"/>
              <a:ea typeface="微软雅黑"/>
              <a:cs typeface="微软雅黑"/>
              <a:sym typeface="微软雅黑"/>
            </a:endParaRPr>
          </a:p>
        </p:txBody>
      </p:sp>
      <p:sp>
        <p:nvSpPr>
          <p:cNvPr id="18" name="©天蝎PPT16"/>
          <p:cNvSpPr txBox="1"/>
          <p:nvPr>
            <p:custDataLst>
              <p:tags r:id="rId11"/>
            </p:custDataLst>
          </p:nvPr>
        </p:nvSpPr>
        <p:spPr>
          <a:xfrm flipH="1">
            <a:off x="582194" y="3874936"/>
            <a:ext cx="1930063" cy="437364"/>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探索新的销售渠道和合作伙伴</a:t>
            </a:r>
            <a:endParaRPr lang="zh-CN" altLang="en-US" dirty="0">
              <a:solidFill>
                <a:srgbClr val="383838">
                  <a:alpha val="80000"/>
                </a:srgbClr>
              </a:solidFill>
              <a:latin typeface="微软雅黑"/>
              <a:ea typeface="微软雅黑"/>
              <a:cs typeface="微软雅黑"/>
              <a:sym typeface="微软雅黑"/>
            </a:endParaRPr>
          </a:p>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定期评估渠道效果，优化渠道布局</a:t>
            </a:r>
            <a:endParaRPr lang="zh-CN" altLang="en-US" dirty="0">
              <a:solidFill>
                <a:srgbClr val="383838">
                  <a:alpha val="80000"/>
                </a:srgbClr>
              </a:solidFill>
              <a:latin typeface="微软雅黑"/>
              <a:ea typeface="微软雅黑"/>
              <a:cs typeface="微软雅黑"/>
              <a:sym typeface="微软雅黑"/>
            </a:endParaRPr>
          </a:p>
        </p:txBody>
      </p:sp>
      <p:sp>
        <p:nvSpPr>
          <p:cNvPr id="19" name="©天蝎PPT17"/>
          <p:cNvSpPr txBox="1"/>
          <p:nvPr>
            <p:custDataLst>
              <p:tags r:id="rId12"/>
            </p:custDataLst>
          </p:nvPr>
        </p:nvSpPr>
        <p:spPr>
          <a:xfrm flipH="1">
            <a:off x="582195" y="5102359"/>
            <a:ext cx="1887802" cy="437364"/>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完善服务体系及定期组织老带新活动，提升客户满意度增强黏性</a:t>
            </a:r>
            <a:endParaRPr lang="zh-CN" altLang="en-US" dirty="0">
              <a:solidFill>
                <a:srgbClr val="383838">
                  <a:alpha val="80000"/>
                </a:srgbClr>
              </a:solidFill>
              <a:latin typeface="微软雅黑"/>
              <a:ea typeface="微软雅黑"/>
              <a:cs typeface="微软雅黑"/>
              <a:sym typeface="微软雅黑"/>
            </a:endParaRPr>
          </a:p>
        </p:txBody>
      </p:sp>
      <p:sp>
        <p:nvSpPr>
          <p:cNvPr id="20" name="©天蝎PPT18"/>
          <p:cNvSpPr/>
          <p:nvPr>
            <p:custDataLst>
              <p:tags r:id="rId13"/>
            </p:custDataLst>
          </p:nvPr>
        </p:nvSpPr>
        <p:spPr>
          <a:xfrm>
            <a:off x="582195" y="3410449"/>
            <a:ext cx="1495501" cy="409448"/>
          </a:xfrm>
          <a:prstGeom prst="roundRect">
            <a:avLst>
              <a:gd name="adj" fmla="val 5000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1" name="©天蝎PPT19"/>
          <p:cNvSpPr txBox="1"/>
          <p:nvPr>
            <p:custDataLst>
              <p:tags r:id="rId14"/>
            </p:custDataLst>
          </p:nvPr>
        </p:nvSpPr>
        <p:spPr>
          <a:xfrm flipH="1">
            <a:off x="652339" y="3491717"/>
            <a:ext cx="1355211" cy="23852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拓展销售渠道</a:t>
            </a:r>
            <a:endParaRPr lang="zh-CN" altLang="en-US" sz="1550" dirty="0">
              <a:solidFill>
                <a:srgbClr val="FFFFFF"/>
              </a:solidFill>
              <a:latin typeface="微软雅黑"/>
              <a:ea typeface="微软雅黑"/>
              <a:cs typeface="微软雅黑"/>
              <a:sym typeface="微软雅黑"/>
            </a:endParaRPr>
          </a:p>
        </p:txBody>
      </p:sp>
      <p:sp>
        <p:nvSpPr>
          <p:cNvPr id="22" name="©天蝎PPT20"/>
          <p:cNvSpPr txBox="1"/>
          <p:nvPr>
            <p:custDataLst>
              <p:tags r:id="rId15"/>
            </p:custDataLst>
          </p:nvPr>
        </p:nvSpPr>
        <p:spPr>
          <a:xfrm flipH="1">
            <a:off x="625473" y="4709989"/>
            <a:ext cx="1355211" cy="23852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强化老带新客</a:t>
            </a:r>
            <a:endParaRPr lang="zh-CN" altLang="en-US" sz="1550" dirty="0">
              <a:solidFill>
                <a:srgbClr val="FFFFFF"/>
              </a:solidFill>
              <a:latin typeface="微软雅黑"/>
              <a:ea typeface="微软雅黑"/>
              <a:cs typeface="微软雅黑"/>
              <a:sym typeface="微软雅黑"/>
            </a:endParaRPr>
          </a:p>
        </p:txBody>
      </p:sp>
      <p:sp>
        <p:nvSpPr>
          <p:cNvPr id="23" name="显眼包PPT7"/>
          <p:cNvSpPr txBox="1"/>
          <p:nvPr/>
        </p:nvSpPr>
        <p:spPr>
          <a:xfrm>
            <a:off x="2871324" y="2980349"/>
            <a:ext cx="384175" cy="1270000"/>
          </a:xfrm>
          <a:prstGeom prst="rect">
            <a:avLst/>
          </a:prstGeom>
          <a:noFill/>
        </p:spPr>
        <p:txBody>
          <a:bodyPr vert="eaVert" wrap="none" lIns="0" tIns="0" rIns="0" bIns="0" rtlCol="0">
            <a:spAutoFit/>
          </a:bodyPr>
          <a:lstStyle/>
          <a:p>
            <a:pPr algn="l">
              <a:defRPr>
                <a:latin typeface="微软雅黑"/>
                <a:ea typeface="微软雅黑"/>
                <a:cs typeface="微软雅黑"/>
              </a:defRPr>
            </a:pPr>
            <a:r>
              <a:rPr lang="zh-CN" altLang="en-US" sz="2500" b="1" dirty="0">
                <a:ln w="6350">
                  <a:noFill/>
                </a:ln>
                <a:gradFill>
                  <a:gsLst>
                    <a:gs pos="0">
                      <a:srgbClr val="0042FF"/>
                    </a:gs>
                    <a:gs pos="100000">
                      <a:srgbClr val="0042FF"/>
                    </a:gs>
                  </a:gsLst>
                  <a:lin ang="5400000" scaled="0"/>
                </a:gradFill>
                <a:latin typeface="微软雅黑"/>
                <a:ea typeface="微软雅黑"/>
                <a:cs typeface="微软雅黑"/>
                <a:sym typeface="微软雅黑"/>
              </a:rPr>
              <a:t>市场拓展</a:t>
            </a:r>
            <a:endParaRPr lang="zh-CN" altLang="en-US" sz="2500" b="1" dirty="0">
              <a:ln w="6350">
                <a:noFill/>
              </a:ln>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26" name="©天蝎PPT21-1"/>
          <p:cNvSpPr/>
          <p:nvPr>
            <p:custDataLst>
              <p:tags r:id="rId16"/>
            </p:custDataLst>
          </p:nvPr>
        </p:nvSpPr>
        <p:spPr>
          <a:xfrm>
            <a:off x="9900285" y="4640580"/>
            <a:ext cx="1495425" cy="409575"/>
          </a:xfrm>
          <a:prstGeom prst="roundRect">
            <a:avLst>
              <a:gd name="adj" fmla="val 50000"/>
            </a:avLst>
          </a:prstGeom>
          <a:gradFill>
            <a:gsLst>
              <a:gs pos="15000">
                <a:srgbClr val="B3D4FE"/>
              </a:gs>
              <a:gs pos="100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33" name="©天蝎PPT21-2"/>
          <p:cNvSpPr/>
          <p:nvPr>
            <p:custDataLst>
              <p:tags r:id="rId17"/>
            </p:custDataLst>
          </p:nvPr>
        </p:nvSpPr>
        <p:spPr>
          <a:xfrm>
            <a:off x="9900285" y="2210435"/>
            <a:ext cx="1495425" cy="409575"/>
          </a:xfrm>
          <a:prstGeom prst="roundRect">
            <a:avLst>
              <a:gd name="adj" fmla="val 50000"/>
            </a:avLst>
          </a:prstGeom>
          <a:gradFill>
            <a:gsLst>
              <a:gs pos="15000">
                <a:srgbClr val="B3D4FE"/>
              </a:gs>
              <a:gs pos="100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34" name="©天蝎PPT21-3"/>
          <p:cNvSpPr txBox="1"/>
          <p:nvPr>
            <p:custDataLst>
              <p:tags r:id="rId18"/>
            </p:custDataLst>
          </p:nvPr>
        </p:nvSpPr>
        <p:spPr>
          <a:xfrm flipH="1">
            <a:off x="9900285" y="2669540"/>
            <a:ext cx="1887855" cy="437515"/>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精简供应链流程，降低成本，紧密联系确保品质与供应稳定性</a:t>
            </a:r>
            <a:endParaRPr lang="zh-CN" altLang="en-US" dirty="0">
              <a:solidFill>
                <a:srgbClr val="383838">
                  <a:alpha val="80000"/>
                </a:srgbClr>
              </a:solidFill>
              <a:latin typeface="微软雅黑"/>
              <a:ea typeface="微软雅黑"/>
              <a:cs typeface="微软雅黑"/>
              <a:sym typeface="微软雅黑"/>
            </a:endParaRPr>
          </a:p>
        </p:txBody>
      </p:sp>
      <p:sp>
        <p:nvSpPr>
          <p:cNvPr id="35" name="©天蝎PPT21-4"/>
          <p:cNvSpPr txBox="1"/>
          <p:nvPr>
            <p:custDataLst>
              <p:tags r:id="rId19"/>
            </p:custDataLst>
          </p:nvPr>
        </p:nvSpPr>
        <p:spPr>
          <a:xfrm flipH="1">
            <a:off x="9969500" y="2290445"/>
            <a:ext cx="1355090" cy="23876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550" dirty="0">
                <a:solidFill>
                  <a:srgbClr val="383838"/>
                </a:solidFill>
                <a:latin typeface="微软雅黑"/>
                <a:ea typeface="微软雅黑"/>
                <a:cs typeface="微软雅黑"/>
                <a:sym typeface="微软雅黑"/>
              </a:rPr>
              <a:t>优化供应链</a:t>
            </a:r>
            <a:endParaRPr lang="zh-CN" altLang="en-US" sz="1550" dirty="0">
              <a:solidFill>
                <a:srgbClr val="383838"/>
              </a:solidFill>
              <a:latin typeface="微软雅黑"/>
              <a:ea typeface="微软雅黑"/>
              <a:cs typeface="微软雅黑"/>
              <a:sym typeface="微软雅黑"/>
            </a:endParaRPr>
          </a:p>
        </p:txBody>
      </p:sp>
      <p:sp>
        <p:nvSpPr>
          <p:cNvPr id="38" name="©天蝎PPT21-5"/>
          <p:cNvSpPr txBox="1"/>
          <p:nvPr>
            <p:custDataLst>
              <p:tags r:id="rId20"/>
            </p:custDataLst>
          </p:nvPr>
        </p:nvSpPr>
        <p:spPr>
          <a:xfrm flipH="1">
            <a:off x="9900285" y="3886835"/>
            <a:ext cx="1997710" cy="437515"/>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明确各部门协作机制，引入项目管理工具，提高任务分配与跟踪效率</a:t>
            </a:r>
            <a:endParaRPr lang="zh-CN" altLang="en-US" dirty="0">
              <a:solidFill>
                <a:srgbClr val="383838">
                  <a:alpha val="80000"/>
                </a:srgbClr>
              </a:solidFill>
              <a:latin typeface="微软雅黑"/>
              <a:ea typeface="微软雅黑"/>
              <a:cs typeface="微软雅黑"/>
              <a:sym typeface="微软雅黑"/>
            </a:endParaRPr>
          </a:p>
        </p:txBody>
      </p:sp>
      <p:sp>
        <p:nvSpPr>
          <p:cNvPr id="39" name="©天蝎PPT21-6"/>
          <p:cNvSpPr txBox="1"/>
          <p:nvPr>
            <p:custDataLst>
              <p:tags r:id="rId21"/>
            </p:custDataLst>
          </p:nvPr>
        </p:nvSpPr>
        <p:spPr>
          <a:xfrm flipH="1">
            <a:off x="9900285" y="5114290"/>
            <a:ext cx="1997710" cy="437515"/>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完善数据分析体系，定期对业务进行分析，以数据结果指导业务决策</a:t>
            </a:r>
            <a:endParaRPr lang="zh-CN" altLang="en-US" dirty="0">
              <a:solidFill>
                <a:srgbClr val="383838">
                  <a:alpha val="80000"/>
                </a:srgbClr>
              </a:solidFill>
              <a:latin typeface="微软雅黑"/>
              <a:ea typeface="微软雅黑"/>
              <a:cs typeface="微软雅黑"/>
              <a:sym typeface="微软雅黑"/>
            </a:endParaRPr>
          </a:p>
        </p:txBody>
      </p:sp>
      <p:sp>
        <p:nvSpPr>
          <p:cNvPr id="43" name="©天蝎PPT21-7"/>
          <p:cNvSpPr/>
          <p:nvPr>
            <p:custDataLst>
              <p:tags r:id="rId22"/>
            </p:custDataLst>
          </p:nvPr>
        </p:nvSpPr>
        <p:spPr>
          <a:xfrm>
            <a:off x="9900285" y="3422650"/>
            <a:ext cx="1495425" cy="409575"/>
          </a:xfrm>
          <a:prstGeom prst="roundRect">
            <a:avLst>
              <a:gd name="adj" fmla="val 50000"/>
            </a:avLst>
          </a:prstGeom>
          <a:gradFill>
            <a:gsLst>
              <a:gs pos="15000">
                <a:srgbClr val="B3D4FE"/>
              </a:gs>
              <a:gs pos="100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44" name="©天蝎PPT21-8"/>
          <p:cNvSpPr txBox="1"/>
          <p:nvPr>
            <p:custDataLst>
              <p:tags r:id="rId23"/>
            </p:custDataLst>
          </p:nvPr>
        </p:nvSpPr>
        <p:spPr>
          <a:xfrm flipH="1">
            <a:off x="9970770" y="3503930"/>
            <a:ext cx="1355090" cy="23876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550" dirty="0">
                <a:solidFill>
                  <a:srgbClr val="383838"/>
                </a:solidFill>
                <a:latin typeface="微软雅黑"/>
                <a:ea typeface="微软雅黑"/>
                <a:cs typeface="微软雅黑"/>
                <a:sym typeface="微软雅黑"/>
              </a:rPr>
              <a:t>提升协同效率</a:t>
            </a:r>
            <a:endParaRPr lang="zh-CN" altLang="en-US" sz="1550" dirty="0">
              <a:solidFill>
                <a:srgbClr val="383838"/>
              </a:solidFill>
              <a:latin typeface="微软雅黑"/>
              <a:ea typeface="微软雅黑"/>
              <a:cs typeface="微软雅黑"/>
              <a:sym typeface="微软雅黑"/>
            </a:endParaRPr>
          </a:p>
        </p:txBody>
      </p:sp>
      <p:sp>
        <p:nvSpPr>
          <p:cNvPr id="45" name="©天蝎PPT21-9"/>
          <p:cNvSpPr txBox="1"/>
          <p:nvPr>
            <p:custDataLst>
              <p:tags r:id="rId24"/>
            </p:custDataLst>
          </p:nvPr>
        </p:nvSpPr>
        <p:spPr>
          <a:xfrm flipH="1">
            <a:off x="9944100" y="4721860"/>
            <a:ext cx="1355090" cy="24638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550" dirty="0">
                <a:solidFill>
                  <a:srgbClr val="383838"/>
                </a:solidFill>
                <a:latin typeface="微软雅黑"/>
                <a:ea typeface="微软雅黑"/>
                <a:cs typeface="微软雅黑"/>
                <a:sym typeface="微软雅黑"/>
              </a:rPr>
              <a:t>数据驱动决策</a:t>
            </a:r>
            <a:endParaRPr lang="zh-CN" altLang="en-US" sz="1550" dirty="0">
              <a:solidFill>
                <a:srgbClr val="383838"/>
              </a:solidFill>
              <a:latin typeface="微软雅黑"/>
              <a:ea typeface="微软雅黑"/>
              <a:cs typeface="微软雅黑"/>
              <a:sym typeface="微软雅黑"/>
            </a:endParaRPr>
          </a:p>
        </p:txBody>
      </p:sp>
      <p:sp>
        <p:nvSpPr>
          <p:cNvPr id="47" name="显眼包PPT7"/>
          <p:cNvSpPr txBox="1"/>
          <p:nvPr/>
        </p:nvSpPr>
        <p:spPr>
          <a:xfrm>
            <a:off x="9047969" y="3095284"/>
            <a:ext cx="384175" cy="1270000"/>
          </a:xfrm>
          <a:prstGeom prst="rect">
            <a:avLst/>
          </a:prstGeom>
          <a:noFill/>
        </p:spPr>
        <p:txBody>
          <a:bodyPr vert="eaVert" wrap="none" lIns="0" tIns="0" rIns="0" bIns="0" rtlCol="0">
            <a:spAutoFit/>
          </a:bodyPr>
          <a:lstStyle/>
          <a:p>
            <a:pPr algn="l">
              <a:defRPr>
                <a:latin typeface="微软雅黑"/>
                <a:ea typeface="微软雅黑"/>
                <a:cs typeface="微软雅黑"/>
              </a:defRPr>
            </a:pPr>
            <a:r>
              <a:rPr lang="zh-CN" altLang="en-US" sz="2500" b="1" dirty="0">
                <a:ln w="6350">
                  <a:noFill/>
                </a:ln>
                <a:gradFill>
                  <a:gsLst>
                    <a:gs pos="0">
                      <a:srgbClr val="0042FF"/>
                    </a:gs>
                    <a:gs pos="100000">
                      <a:srgbClr val="0042FF"/>
                    </a:gs>
                  </a:gsLst>
                  <a:lin ang="5400000" scaled="0"/>
                </a:gradFill>
                <a:latin typeface="微软雅黑"/>
                <a:ea typeface="微软雅黑"/>
                <a:cs typeface="微软雅黑"/>
                <a:sym typeface="微软雅黑"/>
              </a:rPr>
              <a:t>运营优化</a:t>
            </a:r>
            <a:endParaRPr lang="zh-CN" altLang="en-US" sz="2500" b="1" dirty="0">
              <a:ln w="6350">
                <a:noFill/>
              </a:ln>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48" name="紫荆的职场Point1"/>
          <p:cNvSpPr/>
          <p:nvPr/>
        </p:nvSpPr>
        <p:spPr>
          <a:xfrm>
            <a:off x="3663950" y="1179830"/>
            <a:ext cx="4830445" cy="488315"/>
          </a:xfrm>
          <a:prstGeom prst="trapezoid">
            <a:avLst>
              <a:gd name="adj" fmla="val 87389"/>
            </a:avLst>
          </a:prstGeom>
          <a:gradFill flip="none" rotWithShape="1">
            <a:gsLst>
              <a:gs pos="100000">
                <a:srgbClr val="FFFFFF">
                  <a:alpha val="0"/>
                </a:srgbClr>
              </a:gs>
              <a:gs pos="0">
                <a:srgbClr val="FFFFFF"/>
              </a:gs>
            </a:gsLst>
            <a:lin ang="16200000" scaled="1"/>
            <a:tileRect/>
          </a:gradFill>
          <a:ln>
            <a:gradFill flip="none" rotWithShape="1">
              <a:gsLst>
                <a:gs pos="0">
                  <a:srgbClr val="B3D4FE"/>
                </a:gs>
                <a:gs pos="100000">
                  <a:srgbClr val="B3D4FE">
                    <a:alpha val="0"/>
                  </a:srgbClr>
                </a:gs>
              </a:gsLst>
              <a:lin ang="162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3" name="紫荆的职场Point43"/>
          <p:cNvSpPr txBox="1"/>
          <p:nvPr/>
        </p:nvSpPr>
        <p:spPr>
          <a:xfrm>
            <a:off x="4273233" y="1148791"/>
            <a:ext cx="3611880" cy="423545"/>
          </a:xfrm>
          <a:prstGeom prst="rect">
            <a:avLst/>
          </a:prstGeom>
          <a:noFill/>
        </p:spPr>
        <p:txBody>
          <a:bodyPr wrap="none" lIns="0" rIns="0" tIns="0" bIns="0">
            <a:spAutoFit/>
          </a:bodyPr>
          <a:lstStyle/>
          <a:p>
            <a:pPr algn="ctr">
              <a:lnSpc>
                <a:spcPct val="120000"/>
              </a:lnSpc>
              <a:defRPr>
                <a:latin typeface="微软雅黑"/>
                <a:ea typeface="微软雅黑"/>
                <a:cs typeface="微软雅黑"/>
              </a:defRPr>
            </a:pPr>
            <a:r>
              <a:rPr lang="zh-CN" altLang="en-US" b="1" dirty="0">
                <a:solidFill>
                  <a:srgbClr val="0042FF"/>
                </a:solidFill>
                <a:latin typeface="微软雅黑"/>
                <a:ea typeface="微软雅黑"/>
                <a:cs typeface="微软雅黑"/>
              </a:rPr>
              <a:t>聚焦核心指标，全力达成全年目标</a:t>
            </a:r>
            <a:endParaRPr lang="zh-CN" altLang="en-US" b="1" dirty="0">
              <a:solidFill>
                <a:srgbClr val="0042FF"/>
              </a:solidFill>
              <a:latin typeface="微软雅黑"/>
              <a:ea typeface="微软雅黑"/>
              <a:cs typeface="微软雅黑"/>
            </a:endParaRPr>
          </a:p>
        </p:txBody>
      </p:sp>
      <p:grpSp>
        <p:nvGrpSpPr>
          <p:cNvPr id="63" name="组合 62"/>
          <p:cNvGrpSpPr/>
          <p:nvPr/>
        </p:nvGrpSpPr>
        <p:grpSpPr>
          <a:xfrm>
            <a:off x="3092242" y="5731009"/>
            <a:ext cx="1324488" cy="260511"/>
            <a:chOff x="4779" y="9237"/>
            <a:chExt cx="2086" cy="410"/>
          </a:xfrm>
          <a:effectLst/>
        </p:grpSpPr>
        <p:sp>
          <p:nvSpPr>
            <p:cNvPr id="61" name="紫荆的职场Point53"/>
            <p:cNvSpPr/>
            <p:nvPr/>
          </p:nvSpPr>
          <p:spPr>
            <a:xfrm>
              <a:off x="4779" y="9237"/>
              <a:ext cx="2086" cy="410"/>
            </a:xfrm>
            <a:prstGeom prst="roundRect">
              <a:avLst>
                <a:gd name="adj" fmla="val 50000"/>
              </a:avLst>
            </a:prstGeom>
            <a:noFill/>
            <a:ln w="12700">
              <a:gradFill flip="none" rotWithShape="1">
                <a:gsLst>
                  <a:gs pos="0">
                    <a:srgbClr val="B3D4FE"/>
                  </a:gs>
                  <a:gs pos="100000">
                    <a:srgbClr val="B3D4FE"/>
                  </a:gs>
                </a:gsLst>
                <a:lin ang="2700000" scaled="1"/>
                <a:tileRect/>
              </a:gradFill>
            </a:ln>
            <a:effectLst>
              <a:outerShdw blurRad="127000" dist="63500" dir="5400000" sx="99000" sy="99000" algn="t"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a:solidFill>
                  <a:srgbClr val="0042FF"/>
                </a:solidFill>
                <a:latin typeface="微软雅黑"/>
                <a:ea typeface="微软雅黑"/>
                <a:cs typeface="微软雅黑"/>
              </a:endParaRPr>
            </a:p>
          </p:txBody>
        </p:sp>
        <p:sp>
          <p:nvSpPr>
            <p:cNvPr id="62" name="紫荆的职场Point61"/>
            <p:cNvSpPr txBox="1"/>
            <p:nvPr/>
          </p:nvSpPr>
          <p:spPr>
            <a:xfrm>
              <a:off x="4868" y="9248"/>
              <a:ext cx="1906" cy="386"/>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市场拓展贡献利润</a:t>
              </a:r>
              <a:endPar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67" name="组合 66"/>
          <p:cNvGrpSpPr/>
          <p:nvPr/>
        </p:nvGrpSpPr>
        <p:grpSpPr>
          <a:xfrm>
            <a:off x="4627880" y="5998845"/>
            <a:ext cx="1324610" cy="260350"/>
            <a:chOff x="4779" y="9237"/>
            <a:chExt cx="2086" cy="410"/>
          </a:xfrm>
          <a:effectLst/>
        </p:grpSpPr>
        <p:sp>
          <p:nvSpPr>
            <p:cNvPr id="74" name="紫荆的职场Point53"/>
            <p:cNvSpPr/>
            <p:nvPr/>
          </p:nvSpPr>
          <p:spPr>
            <a:xfrm>
              <a:off x="4779" y="9237"/>
              <a:ext cx="2086" cy="410"/>
            </a:xfrm>
            <a:prstGeom prst="roundRect">
              <a:avLst>
                <a:gd name="adj" fmla="val 50000"/>
              </a:avLst>
            </a:prstGeom>
            <a:noFill/>
            <a:ln w="12700">
              <a:gradFill flip="none" rotWithShape="1">
                <a:gsLst>
                  <a:gs pos="0">
                    <a:srgbClr val="B3D4FE"/>
                  </a:gs>
                  <a:gs pos="100000">
                    <a:srgbClr val="B3D4FE"/>
                  </a:gs>
                </a:gsLst>
                <a:lin ang="2700000" scaled="1"/>
                <a:tileRect/>
              </a:gradFill>
            </a:ln>
            <a:effectLst>
              <a:outerShdw blurRad="127000" dist="63500" dir="5400000" sx="99000" sy="99000" algn="t"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a:solidFill>
                  <a:srgbClr val="0042FF"/>
                </a:solidFill>
                <a:latin typeface="微软雅黑"/>
                <a:ea typeface="微软雅黑"/>
                <a:cs typeface="微软雅黑"/>
              </a:endParaRPr>
            </a:p>
          </p:txBody>
        </p:sp>
        <p:sp>
          <p:nvSpPr>
            <p:cNvPr id="75" name="紫荆的职场Point61"/>
            <p:cNvSpPr txBox="1"/>
            <p:nvPr/>
          </p:nvSpPr>
          <p:spPr>
            <a:xfrm>
              <a:off x="4868" y="9248"/>
              <a:ext cx="1906" cy="386"/>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新产品销售占比</a:t>
              </a:r>
              <a:endPar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96" name="组合 95"/>
          <p:cNvGrpSpPr/>
          <p:nvPr/>
        </p:nvGrpSpPr>
        <p:grpSpPr>
          <a:xfrm>
            <a:off x="6289675" y="5984240"/>
            <a:ext cx="1324610" cy="260350"/>
            <a:chOff x="4779" y="9237"/>
            <a:chExt cx="2086" cy="410"/>
          </a:xfrm>
          <a:effectLst/>
        </p:grpSpPr>
        <p:sp>
          <p:nvSpPr>
            <p:cNvPr id="97" name="紫荆的职场Point53"/>
            <p:cNvSpPr/>
            <p:nvPr/>
          </p:nvSpPr>
          <p:spPr>
            <a:xfrm>
              <a:off x="4779" y="9237"/>
              <a:ext cx="2086" cy="410"/>
            </a:xfrm>
            <a:prstGeom prst="roundRect">
              <a:avLst>
                <a:gd name="adj" fmla="val 50000"/>
              </a:avLst>
            </a:prstGeom>
            <a:noFill/>
            <a:ln w="12700">
              <a:gradFill flip="none" rotWithShape="1">
                <a:gsLst>
                  <a:gs pos="0">
                    <a:srgbClr val="B3D4FE"/>
                  </a:gs>
                  <a:gs pos="100000">
                    <a:srgbClr val="B3D4FE"/>
                  </a:gs>
                </a:gsLst>
                <a:lin ang="2700000" scaled="1"/>
                <a:tileRect/>
              </a:gradFill>
            </a:ln>
            <a:effectLst>
              <a:outerShdw blurRad="127000" dist="63500" dir="5400000" sx="99000" sy="99000" algn="t"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a:solidFill>
                  <a:srgbClr val="0042FF"/>
                </a:solidFill>
                <a:latin typeface="微软雅黑"/>
                <a:ea typeface="微软雅黑"/>
                <a:cs typeface="微软雅黑"/>
              </a:endParaRPr>
            </a:p>
          </p:txBody>
        </p:sp>
        <p:sp>
          <p:nvSpPr>
            <p:cNvPr id="98" name="紫荆的职场Point61"/>
            <p:cNvSpPr txBox="1"/>
            <p:nvPr/>
          </p:nvSpPr>
          <p:spPr>
            <a:xfrm>
              <a:off x="4868" y="9248"/>
              <a:ext cx="1906" cy="386"/>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研发投资回报率</a:t>
              </a:r>
              <a:endPar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102" name="组合 101"/>
          <p:cNvGrpSpPr/>
          <p:nvPr/>
        </p:nvGrpSpPr>
        <p:grpSpPr>
          <a:xfrm>
            <a:off x="7839075" y="5723890"/>
            <a:ext cx="1324610" cy="260350"/>
            <a:chOff x="4779" y="9237"/>
            <a:chExt cx="2086" cy="410"/>
          </a:xfrm>
          <a:effectLst/>
        </p:grpSpPr>
        <p:sp>
          <p:nvSpPr>
            <p:cNvPr id="103" name="紫荆的职场Point53"/>
            <p:cNvSpPr/>
            <p:nvPr/>
          </p:nvSpPr>
          <p:spPr>
            <a:xfrm>
              <a:off x="4779" y="9237"/>
              <a:ext cx="2086" cy="410"/>
            </a:xfrm>
            <a:prstGeom prst="roundRect">
              <a:avLst>
                <a:gd name="adj" fmla="val 50000"/>
              </a:avLst>
            </a:prstGeom>
            <a:noFill/>
            <a:ln w="12700">
              <a:gradFill flip="none" rotWithShape="1">
                <a:gsLst>
                  <a:gs pos="0">
                    <a:srgbClr val="B3D4FE"/>
                  </a:gs>
                  <a:gs pos="100000">
                    <a:srgbClr val="B3D4FE"/>
                  </a:gs>
                </a:gsLst>
                <a:lin ang="2700000" scaled="1"/>
                <a:tileRect/>
              </a:gradFill>
            </a:ln>
            <a:effectLst>
              <a:outerShdw blurRad="127000" dist="63500" dir="5400000" sx="99000" sy="99000" algn="t"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a:solidFill>
                  <a:srgbClr val="0042FF"/>
                </a:solidFill>
                <a:latin typeface="微软雅黑"/>
                <a:ea typeface="微软雅黑"/>
                <a:cs typeface="微软雅黑"/>
              </a:endParaRPr>
            </a:p>
          </p:txBody>
        </p:sp>
        <p:sp>
          <p:nvSpPr>
            <p:cNvPr id="104" name="紫荆的职场Point61"/>
            <p:cNvSpPr txBox="1"/>
            <p:nvPr/>
          </p:nvSpPr>
          <p:spPr>
            <a:xfrm>
              <a:off x="4868" y="9248"/>
              <a:ext cx="1906" cy="386"/>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爆品产品转化率</a:t>
              </a:r>
              <a:endPar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126" name="组合 125"/>
          <p:cNvGrpSpPr/>
          <p:nvPr/>
        </p:nvGrpSpPr>
        <p:grpSpPr>
          <a:xfrm>
            <a:off x="3338195" y="6337935"/>
            <a:ext cx="1324610" cy="260350"/>
            <a:chOff x="4779" y="9237"/>
            <a:chExt cx="2086" cy="410"/>
          </a:xfrm>
          <a:effectLst/>
        </p:grpSpPr>
        <p:sp>
          <p:nvSpPr>
            <p:cNvPr id="127" name="紫荆的职场Point53"/>
            <p:cNvSpPr/>
            <p:nvPr/>
          </p:nvSpPr>
          <p:spPr>
            <a:xfrm>
              <a:off x="4779" y="9237"/>
              <a:ext cx="2086" cy="410"/>
            </a:xfrm>
            <a:prstGeom prst="roundRect">
              <a:avLst>
                <a:gd name="adj" fmla="val 50000"/>
              </a:avLst>
            </a:prstGeom>
            <a:noFill/>
            <a:ln w="12700">
              <a:gradFill flip="none" rotWithShape="1">
                <a:gsLst>
                  <a:gs pos="0">
                    <a:srgbClr val="B3D4FE"/>
                  </a:gs>
                  <a:gs pos="100000">
                    <a:srgbClr val="B3D4FE"/>
                  </a:gs>
                </a:gsLst>
                <a:lin ang="2700000" scaled="1"/>
                <a:tileRect/>
              </a:gradFill>
            </a:ln>
            <a:effectLst>
              <a:outerShdw blurRad="127000" dist="63500" dir="5400000" sx="99000" sy="99000" algn="t"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a:solidFill>
                  <a:srgbClr val="0042FF"/>
                </a:solidFill>
                <a:latin typeface="微软雅黑"/>
                <a:ea typeface="微软雅黑"/>
                <a:cs typeface="微软雅黑"/>
              </a:endParaRPr>
            </a:p>
          </p:txBody>
        </p:sp>
        <p:sp>
          <p:nvSpPr>
            <p:cNvPr id="128" name="紫荆的职场Point61"/>
            <p:cNvSpPr txBox="1"/>
            <p:nvPr/>
          </p:nvSpPr>
          <p:spPr>
            <a:xfrm>
              <a:off x="4868" y="9248"/>
              <a:ext cx="1906" cy="386"/>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新客户获取数量</a:t>
              </a:r>
              <a:endPar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129" name="组合 128"/>
          <p:cNvGrpSpPr/>
          <p:nvPr/>
        </p:nvGrpSpPr>
        <p:grpSpPr>
          <a:xfrm>
            <a:off x="5565140" y="6404610"/>
            <a:ext cx="1324610" cy="260350"/>
            <a:chOff x="4779" y="9237"/>
            <a:chExt cx="2086" cy="410"/>
          </a:xfrm>
          <a:effectLst/>
        </p:grpSpPr>
        <p:sp>
          <p:nvSpPr>
            <p:cNvPr id="130" name="紫荆的职场Point53"/>
            <p:cNvSpPr/>
            <p:nvPr/>
          </p:nvSpPr>
          <p:spPr>
            <a:xfrm>
              <a:off x="4779" y="9237"/>
              <a:ext cx="2086" cy="410"/>
            </a:xfrm>
            <a:prstGeom prst="roundRect">
              <a:avLst>
                <a:gd name="adj" fmla="val 50000"/>
              </a:avLst>
            </a:prstGeom>
            <a:noFill/>
            <a:ln w="12700">
              <a:gradFill flip="none" rotWithShape="1">
                <a:gsLst>
                  <a:gs pos="0">
                    <a:srgbClr val="B3D4FE"/>
                  </a:gs>
                  <a:gs pos="100000">
                    <a:srgbClr val="B3D4FE"/>
                  </a:gs>
                </a:gsLst>
                <a:lin ang="2700000" scaled="1"/>
                <a:tileRect/>
              </a:gradFill>
            </a:ln>
            <a:effectLst>
              <a:outerShdw blurRad="127000" dist="63500" dir="5400000" sx="99000" sy="99000" algn="t"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a:solidFill>
                  <a:srgbClr val="0042FF"/>
                </a:solidFill>
                <a:latin typeface="微软雅黑"/>
                <a:ea typeface="微软雅黑"/>
                <a:cs typeface="微软雅黑"/>
              </a:endParaRPr>
            </a:p>
          </p:txBody>
        </p:sp>
        <p:sp>
          <p:nvSpPr>
            <p:cNvPr id="131" name="紫荆的职场Point61"/>
            <p:cNvSpPr txBox="1"/>
            <p:nvPr/>
          </p:nvSpPr>
          <p:spPr>
            <a:xfrm>
              <a:off x="4868" y="9248"/>
              <a:ext cx="1906" cy="386"/>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客户生命周期价值</a:t>
              </a:r>
              <a:endPar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132" name="组合 131"/>
          <p:cNvGrpSpPr/>
          <p:nvPr/>
        </p:nvGrpSpPr>
        <p:grpSpPr>
          <a:xfrm>
            <a:off x="7567295" y="6344920"/>
            <a:ext cx="1324610" cy="260350"/>
            <a:chOff x="4779" y="9237"/>
            <a:chExt cx="2086" cy="410"/>
          </a:xfrm>
          <a:effectLst/>
        </p:grpSpPr>
        <p:sp>
          <p:nvSpPr>
            <p:cNvPr id="133" name="紫荆的职场Point53"/>
            <p:cNvSpPr/>
            <p:nvPr/>
          </p:nvSpPr>
          <p:spPr>
            <a:xfrm>
              <a:off x="4779" y="9237"/>
              <a:ext cx="2086" cy="410"/>
            </a:xfrm>
            <a:prstGeom prst="roundRect">
              <a:avLst>
                <a:gd name="adj" fmla="val 50000"/>
              </a:avLst>
            </a:prstGeom>
            <a:noFill/>
            <a:ln w="12700">
              <a:gradFill flip="none" rotWithShape="1">
                <a:gsLst>
                  <a:gs pos="0">
                    <a:srgbClr val="B3D4FE"/>
                  </a:gs>
                  <a:gs pos="100000">
                    <a:srgbClr val="B3D4FE"/>
                  </a:gs>
                </a:gsLst>
                <a:lin ang="2700000" scaled="1"/>
                <a:tileRect/>
              </a:gradFill>
            </a:ln>
            <a:effectLst>
              <a:outerShdw blurRad="127000" dist="63500" dir="5400000" sx="99000" sy="99000" algn="t" rotWithShape="0">
                <a:srgbClr val="B3D4FE">
                  <a:alpha val="15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a:solidFill>
                  <a:srgbClr val="0042FF"/>
                </a:solidFill>
                <a:latin typeface="微软雅黑"/>
                <a:ea typeface="微软雅黑"/>
                <a:cs typeface="微软雅黑"/>
              </a:endParaRPr>
            </a:p>
          </p:txBody>
        </p:sp>
        <p:sp>
          <p:nvSpPr>
            <p:cNvPr id="134" name="紫荆的职场Point61"/>
            <p:cNvSpPr txBox="1"/>
            <p:nvPr/>
          </p:nvSpPr>
          <p:spPr>
            <a:xfrm>
              <a:off x="4868" y="9248"/>
              <a:ext cx="1906" cy="386"/>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rPr>
                <a:t>存量客户复购率</a:t>
              </a:r>
              <a:endParaRPr kumimoji="0" lang="zh-CN" alt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135" name="组合 134"/>
          <p:cNvGrpSpPr/>
          <p:nvPr/>
        </p:nvGrpSpPr>
        <p:grpSpPr>
          <a:xfrm>
            <a:off x="2159000" y="5852795"/>
            <a:ext cx="712470" cy="833755"/>
            <a:chOff x="3400" y="9217"/>
            <a:chExt cx="1122" cy="1313"/>
          </a:xfrm>
        </p:grpSpPr>
        <p:cxnSp>
          <p:nvCxnSpPr>
            <p:cNvPr id="947" name="显眼包PPT-5"/>
            <p:cNvCxnSpPr/>
            <p:nvPr/>
          </p:nvCxnSpPr>
          <p:spPr>
            <a:xfrm flipH="1">
              <a:off x="3956" y="9217"/>
              <a:ext cx="0" cy="786"/>
            </a:xfrm>
            <a:prstGeom prst="line">
              <a:avLst/>
            </a:prstGeom>
            <a:ln w="19050">
              <a:gradFill>
                <a:gsLst>
                  <a:gs pos="0">
                    <a:srgbClr val="B3D4FE"/>
                  </a:gs>
                  <a:gs pos="100000">
                    <a:srgbClr val="B3D4FE">
                      <a:alpha val="0"/>
                    </a:srgbClr>
                  </a:gs>
                  <a:gs pos="44000">
                    <a:srgbClr val="B3D4FE">
                      <a:alpha val="64000"/>
                    </a:srgbClr>
                  </a:gs>
                </a:gsLst>
                <a:lin ang="5400000" scaled="1"/>
              </a:gradFill>
            </a:ln>
          </p:spPr>
          <p:style>
            <a:lnRef idx="1">
              <a:srgbClr val="0042FF"/>
            </a:lnRef>
            <a:fillRef idx="0">
              <a:srgbClr val="0042FF"/>
            </a:fillRef>
            <a:effectRef idx="0">
              <a:srgbClr val="0042FF"/>
            </a:effectRef>
            <a:fontRef idx="minor">
              <a:srgbClr val="383838"/>
            </a:fontRef>
          </p:style>
        </p:cxnSp>
        <p:cxnSp>
          <p:nvCxnSpPr>
            <p:cNvPr id="948" name="显眼包PPT-6"/>
            <p:cNvCxnSpPr/>
            <p:nvPr/>
          </p:nvCxnSpPr>
          <p:spPr>
            <a:xfrm flipH="1">
              <a:off x="4522" y="9513"/>
              <a:ext cx="0" cy="621"/>
            </a:xfrm>
            <a:prstGeom prst="line">
              <a:avLst/>
            </a:prstGeom>
            <a:ln w="19050">
              <a:gradFill>
                <a:gsLst>
                  <a:gs pos="0">
                    <a:srgbClr val="B3D4FE"/>
                  </a:gs>
                  <a:gs pos="100000">
                    <a:srgbClr val="B3D4FE">
                      <a:alpha val="0"/>
                    </a:srgbClr>
                  </a:gs>
                  <a:gs pos="44000">
                    <a:srgbClr val="B3D4FE">
                      <a:alpha val="64000"/>
                    </a:srgbClr>
                  </a:gs>
                </a:gsLst>
                <a:lin ang="5400000" scaled="1"/>
              </a:gradFill>
              <a:prstDash val="sysDot"/>
            </a:ln>
          </p:spPr>
          <p:style>
            <a:lnRef idx="1">
              <a:srgbClr val="0042FF"/>
            </a:lnRef>
            <a:fillRef idx="0">
              <a:srgbClr val="0042FF"/>
            </a:fillRef>
            <a:effectRef idx="0">
              <a:srgbClr val="0042FF"/>
            </a:effectRef>
            <a:fontRef idx="minor">
              <a:srgbClr val="383838"/>
            </a:fontRef>
          </p:style>
        </p:cxnSp>
        <p:cxnSp>
          <p:nvCxnSpPr>
            <p:cNvPr id="949" name="显眼包PPT-7"/>
            <p:cNvCxnSpPr/>
            <p:nvPr/>
          </p:nvCxnSpPr>
          <p:spPr>
            <a:xfrm flipH="1">
              <a:off x="3400" y="9910"/>
              <a:ext cx="0" cy="621"/>
            </a:xfrm>
            <a:prstGeom prst="line">
              <a:avLst/>
            </a:prstGeom>
            <a:ln w="19050">
              <a:gradFill>
                <a:gsLst>
                  <a:gs pos="0">
                    <a:srgbClr val="B3D4FE"/>
                  </a:gs>
                  <a:gs pos="100000">
                    <a:srgbClr val="B3D4FE">
                      <a:alpha val="0"/>
                    </a:srgbClr>
                  </a:gs>
                  <a:gs pos="44000">
                    <a:srgbClr val="B3D4FE">
                      <a:alpha val="64000"/>
                    </a:srgbClr>
                  </a:gs>
                </a:gsLst>
                <a:lin ang="5400000" scaled="1"/>
              </a:gradFill>
              <a:prstDash val="sysDot"/>
            </a:ln>
          </p:spPr>
          <p:style>
            <a:lnRef idx="1">
              <a:srgbClr val="0042FF"/>
            </a:lnRef>
            <a:fillRef idx="0">
              <a:srgbClr val="0042FF"/>
            </a:fillRef>
            <a:effectRef idx="0">
              <a:srgbClr val="0042FF"/>
            </a:effectRef>
            <a:fontRef idx="minor">
              <a:srgbClr val="383838"/>
            </a:fontRef>
          </p:style>
        </p:cxnSp>
      </p:grpSp>
      <p:grpSp>
        <p:nvGrpSpPr>
          <p:cNvPr id="136" name="组合 135"/>
          <p:cNvGrpSpPr/>
          <p:nvPr/>
        </p:nvGrpSpPr>
        <p:grpSpPr>
          <a:xfrm>
            <a:off x="9566910" y="5852795"/>
            <a:ext cx="712470" cy="833755"/>
            <a:chOff x="3400" y="9217"/>
            <a:chExt cx="1122" cy="1313"/>
          </a:xfrm>
        </p:grpSpPr>
        <p:cxnSp>
          <p:nvCxnSpPr>
            <p:cNvPr id="137" name="显眼包PPT-5"/>
            <p:cNvCxnSpPr/>
            <p:nvPr/>
          </p:nvCxnSpPr>
          <p:spPr>
            <a:xfrm flipH="1">
              <a:off x="3956" y="9217"/>
              <a:ext cx="0" cy="786"/>
            </a:xfrm>
            <a:prstGeom prst="line">
              <a:avLst/>
            </a:prstGeom>
            <a:ln w="19050">
              <a:gradFill>
                <a:gsLst>
                  <a:gs pos="0">
                    <a:srgbClr val="B3D4FE"/>
                  </a:gs>
                  <a:gs pos="100000">
                    <a:srgbClr val="B3D4FE">
                      <a:alpha val="0"/>
                    </a:srgbClr>
                  </a:gs>
                  <a:gs pos="44000">
                    <a:srgbClr val="B3D4FE">
                      <a:alpha val="64000"/>
                    </a:srgbClr>
                  </a:gs>
                </a:gsLst>
                <a:lin ang="5400000" scaled="1"/>
              </a:gradFill>
            </a:ln>
          </p:spPr>
          <p:style>
            <a:lnRef idx="1">
              <a:srgbClr val="0042FF"/>
            </a:lnRef>
            <a:fillRef idx="0">
              <a:srgbClr val="0042FF"/>
            </a:fillRef>
            <a:effectRef idx="0">
              <a:srgbClr val="0042FF"/>
            </a:effectRef>
            <a:fontRef idx="minor">
              <a:srgbClr val="383838"/>
            </a:fontRef>
          </p:style>
        </p:cxnSp>
        <p:cxnSp>
          <p:nvCxnSpPr>
            <p:cNvPr id="138" name="显眼包PPT-6"/>
            <p:cNvCxnSpPr/>
            <p:nvPr/>
          </p:nvCxnSpPr>
          <p:spPr>
            <a:xfrm flipH="1">
              <a:off x="4522" y="9513"/>
              <a:ext cx="0" cy="621"/>
            </a:xfrm>
            <a:prstGeom prst="line">
              <a:avLst/>
            </a:prstGeom>
            <a:ln w="19050">
              <a:gradFill>
                <a:gsLst>
                  <a:gs pos="0">
                    <a:srgbClr val="B3D4FE"/>
                  </a:gs>
                  <a:gs pos="100000">
                    <a:srgbClr val="B3D4FE">
                      <a:alpha val="0"/>
                    </a:srgbClr>
                  </a:gs>
                  <a:gs pos="44000">
                    <a:srgbClr val="B3D4FE">
                      <a:alpha val="64000"/>
                    </a:srgbClr>
                  </a:gs>
                </a:gsLst>
                <a:lin ang="5400000" scaled="1"/>
              </a:gradFill>
              <a:prstDash val="sysDot"/>
            </a:ln>
          </p:spPr>
          <p:style>
            <a:lnRef idx="1">
              <a:srgbClr val="0042FF"/>
            </a:lnRef>
            <a:fillRef idx="0">
              <a:srgbClr val="0042FF"/>
            </a:fillRef>
            <a:effectRef idx="0">
              <a:srgbClr val="0042FF"/>
            </a:effectRef>
            <a:fontRef idx="minor">
              <a:srgbClr val="383838"/>
            </a:fontRef>
          </p:style>
        </p:cxnSp>
        <p:cxnSp>
          <p:nvCxnSpPr>
            <p:cNvPr id="165" name="显眼包PPT-7"/>
            <p:cNvCxnSpPr/>
            <p:nvPr/>
          </p:nvCxnSpPr>
          <p:spPr>
            <a:xfrm flipH="1">
              <a:off x="3400" y="9910"/>
              <a:ext cx="0" cy="621"/>
            </a:xfrm>
            <a:prstGeom prst="line">
              <a:avLst/>
            </a:prstGeom>
            <a:ln w="19050">
              <a:gradFill>
                <a:gsLst>
                  <a:gs pos="0">
                    <a:srgbClr val="B3D4FE"/>
                  </a:gs>
                  <a:gs pos="100000">
                    <a:srgbClr val="B3D4FE">
                      <a:alpha val="0"/>
                    </a:srgbClr>
                  </a:gs>
                  <a:gs pos="44000">
                    <a:srgbClr val="B3D4FE">
                      <a:alpha val="64000"/>
                    </a:srgbClr>
                  </a:gs>
                </a:gsLst>
                <a:lin ang="5400000" scaled="1"/>
              </a:gradFill>
              <a:prstDash val="sysDot"/>
            </a:ln>
          </p:spPr>
          <p:style>
            <a:lnRef idx="1">
              <a:srgbClr val="0042FF"/>
            </a:lnRef>
            <a:fillRef idx="0">
              <a:srgbClr val="0042FF"/>
            </a:fillRef>
            <a:effectRef idx="0">
              <a:srgbClr val="0042FF"/>
            </a:effectRef>
            <a:fontRef idx="minor">
              <a:srgbClr val="383838"/>
            </a:fontRef>
          </p:style>
        </p:cxn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中心发散架构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项目精益化管理架构</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8" name="任意形状 27"/>
          <p:cNvSpPr/>
          <p:nvPr/>
        </p:nvSpPr>
        <p:spPr>
          <a:xfrm rot="16200000" flipH="1">
            <a:off x="7697816" y="2438208"/>
            <a:ext cx="3740148" cy="2477415"/>
          </a:xfrm>
          <a:custGeom>
            <a:avLst/>
            <a:gdLst>
              <a:gd name="connsiteX0" fmla="*/ 2830992 w 8596408"/>
              <a:gd name="connsiteY0" fmla="*/ 0 h 3825218"/>
              <a:gd name="connsiteX1" fmla="*/ 5765416 w 8596408"/>
              <a:gd name="connsiteY1" fmla="*/ 0 h 3825218"/>
              <a:gd name="connsiteX2" fmla="*/ 5778703 w 8596408"/>
              <a:gd name="connsiteY2" fmla="*/ 69146 h 3825218"/>
              <a:gd name="connsiteX3" fmla="*/ 7310135 w 8596408"/>
              <a:gd name="connsiteY3" fmla="*/ 2635970 h 3825218"/>
              <a:gd name="connsiteX4" fmla="*/ 8549250 w 8596408"/>
              <a:gd name="connsiteY4" fmla="*/ 3791201 h 3825218"/>
              <a:gd name="connsiteX5" fmla="*/ 8596408 w 8596408"/>
              <a:gd name="connsiteY5" fmla="*/ 3825218 h 3825218"/>
              <a:gd name="connsiteX6" fmla="*/ 0 w 8596408"/>
              <a:gd name="connsiteY6" fmla="*/ 3825218 h 3825218"/>
              <a:gd name="connsiteX7" fmla="*/ 47157 w 8596408"/>
              <a:gd name="connsiteY7" fmla="*/ 3791202 h 3825218"/>
              <a:gd name="connsiteX8" fmla="*/ 1286272 w 8596408"/>
              <a:gd name="connsiteY8" fmla="*/ 2635971 h 3825218"/>
              <a:gd name="connsiteX9" fmla="*/ 2817704 w 8596408"/>
              <a:gd name="connsiteY9" fmla="*/ 69147 h 3825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96408" h="3825218">
                <a:moveTo>
                  <a:pt x="2830992" y="0"/>
                </a:moveTo>
                <a:lnTo>
                  <a:pt x="5765416" y="0"/>
                </a:lnTo>
                <a:lnTo>
                  <a:pt x="5778703" y="69146"/>
                </a:lnTo>
                <a:cubicBezTo>
                  <a:pt x="5947128" y="771335"/>
                  <a:pt x="6496637" y="1724580"/>
                  <a:pt x="7310135" y="2635970"/>
                </a:cubicBezTo>
                <a:cubicBezTo>
                  <a:pt x="7716884" y="3091665"/>
                  <a:pt x="8141497" y="3482970"/>
                  <a:pt x="8549250" y="3791201"/>
                </a:cubicBezTo>
                <a:lnTo>
                  <a:pt x="8596408" y="3825218"/>
                </a:lnTo>
                <a:lnTo>
                  <a:pt x="0" y="3825218"/>
                </a:lnTo>
                <a:lnTo>
                  <a:pt x="47157" y="3791202"/>
                </a:lnTo>
                <a:cubicBezTo>
                  <a:pt x="454911" y="3482971"/>
                  <a:pt x="879523" y="3091666"/>
                  <a:pt x="1286272" y="2635971"/>
                </a:cubicBezTo>
                <a:cubicBezTo>
                  <a:pt x="2099770" y="1724581"/>
                  <a:pt x="2649280" y="771337"/>
                  <a:pt x="2817704" y="69147"/>
                </a:cubicBezTo>
                <a:close/>
              </a:path>
            </a:pathLst>
          </a:custGeom>
          <a:gradFill flip="none" rotWithShape="1">
            <a:gsLst>
              <a:gs pos="70000">
                <a:srgbClr val="B3D4FE">
                  <a:alpha val="10000"/>
                </a:srgbClr>
              </a:gs>
              <a:gs pos="30000">
                <a:srgbClr val="B3D4FE">
                  <a:alpha val="10000"/>
                </a:srgbClr>
              </a:gs>
              <a:gs pos="10000">
                <a:srgbClr val="B3D4FE">
                  <a:alpha val="0"/>
                </a:srgbClr>
              </a:gs>
              <a:gs pos="90000">
                <a:srgbClr val="B3D4FE">
                  <a:alpha val="0"/>
                </a:srgbClr>
              </a:gs>
            </a:gsLst>
            <a:lin ang="16200000" scaled="1"/>
            <a:tileRect/>
          </a:gradFill>
          <a:ln w="3175">
            <a:gradFill flip="none" rotWithShape="1">
              <a:gsLst>
                <a:gs pos="70000">
                  <a:srgbClr val="B3D4FE">
                    <a:alpha val="60000"/>
                  </a:srgbClr>
                </a:gs>
                <a:gs pos="29000">
                  <a:srgbClr val="B3D4FE">
                    <a:alpha val="60000"/>
                  </a:srgbClr>
                </a:gs>
                <a:gs pos="0">
                  <a:srgbClr val="FFFFFF">
                    <a:alpha val="0"/>
                  </a:srgbClr>
                </a:gs>
                <a:gs pos="100000">
                  <a:srgbClr val="FFFFFF">
                    <a:alpha val="0"/>
                  </a:srgbClr>
                </a:gs>
              </a:gsLst>
              <a:lin ang="16200000" scaled="1"/>
              <a:tileRect/>
            </a:gra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4" name="任意形状 4"/>
          <p:cNvSpPr/>
          <p:nvPr/>
        </p:nvSpPr>
        <p:spPr>
          <a:xfrm flipV="1">
            <a:off x="2860023" y="1367691"/>
            <a:ext cx="6311934" cy="1756581"/>
          </a:xfrm>
          <a:custGeom>
            <a:avLst/>
            <a:gdLst>
              <a:gd name="connsiteX0" fmla="*/ 2830992 w 8596408"/>
              <a:gd name="connsiteY0" fmla="*/ 0 h 3825218"/>
              <a:gd name="connsiteX1" fmla="*/ 5765416 w 8596408"/>
              <a:gd name="connsiteY1" fmla="*/ 0 h 3825218"/>
              <a:gd name="connsiteX2" fmla="*/ 5778703 w 8596408"/>
              <a:gd name="connsiteY2" fmla="*/ 69146 h 3825218"/>
              <a:gd name="connsiteX3" fmla="*/ 7310135 w 8596408"/>
              <a:gd name="connsiteY3" fmla="*/ 2635970 h 3825218"/>
              <a:gd name="connsiteX4" fmla="*/ 8549250 w 8596408"/>
              <a:gd name="connsiteY4" fmla="*/ 3791201 h 3825218"/>
              <a:gd name="connsiteX5" fmla="*/ 8596408 w 8596408"/>
              <a:gd name="connsiteY5" fmla="*/ 3825218 h 3825218"/>
              <a:gd name="connsiteX6" fmla="*/ 0 w 8596408"/>
              <a:gd name="connsiteY6" fmla="*/ 3825218 h 3825218"/>
              <a:gd name="connsiteX7" fmla="*/ 47157 w 8596408"/>
              <a:gd name="connsiteY7" fmla="*/ 3791202 h 3825218"/>
              <a:gd name="connsiteX8" fmla="*/ 1286272 w 8596408"/>
              <a:gd name="connsiteY8" fmla="*/ 2635971 h 3825218"/>
              <a:gd name="connsiteX9" fmla="*/ 2817704 w 8596408"/>
              <a:gd name="connsiteY9" fmla="*/ 69147 h 3825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96408" h="3825218">
                <a:moveTo>
                  <a:pt x="2830992" y="0"/>
                </a:moveTo>
                <a:lnTo>
                  <a:pt x="5765416" y="0"/>
                </a:lnTo>
                <a:lnTo>
                  <a:pt x="5778703" y="69146"/>
                </a:lnTo>
                <a:cubicBezTo>
                  <a:pt x="5947128" y="771335"/>
                  <a:pt x="6496637" y="1724580"/>
                  <a:pt x="7310135" y="2635970"/>
                </a:cubicBezTo>
                <a:cubicBezTo>
                  <a:pt x="7716884" y="3091665"/>
                  <a:pt x="8141497" y="3482970"/>
                  <a:pt x="8549250" y="3791201"/>
                </a:cubicBezTo>
                <a:lnTo>
                  <a:pt x="8596408" y="3825218"/>
                </a:lnTo>
                <a:lnTo>
                  <a:pt x="0" y="3825218"/>
                </a:lnTo>
                <a:lnTo>
                  <a:pt x="47157" y="3791202"/>
                </a:lnTo>
                <a:cubicBezTo>
                  <a:pt x="454911" y="3482971"/>
                  <a:pt x="879523" y="3091666"/>
                  <a:pt x="1286272" y="2635971"/>
                </a:cubicBezTo>
                <a:cubicBezTo>
                  <a:pt x="2099770" y="1724581"/>
                  <a:pt x="2649280" y="771337"/>
                  <a:pt x="2817704" y="69147"/>
                </a:cubicBezTo>
                <a:close/>
              </a:path>
            </a:pathLst>
          </a:custGeom>
          <a:gradFill flip="none" rotWithShape="1">
            <a:gsLst>
              <a:gs pos="70000">
                <a:srgbClr val="0042FF">
                  <a:alpha val="3000"/>
                </a:srgbClr>
              </a:gs>
              <a:gs pos="30000">
                <a:srgbClr val="0042FF">
                  <a:alpha val="3000"/>
                </a:srgbClr>
              </a:gs>
              <a:gs pos="10000">
                <a:srgbClr val="0042FF">
                  <a:alpha val="0"/>
                </a:srgbClr>
              </a:gs>
              <a:gs pos="90000">
                <a:srgbClr val="0042FF">
                  <a:alpha val="0"/>
                </a:srgbClr>
              </a:gs>
            </a:gsLst>
            <a:lin ang="16200000" scaled="1"/>
            <a:tileRect/>
          </a:gradFill>
          <a:ln w="3175">
            <a:gradFill flip="none" rotWithShape="1">
              <a:gsLst>
                <a:gs pos="70000">
                  <a:srgbClr val="0042FF">
                    <a:alpha val="60000"/>
                  </a:srgbClr>
                </a:gs>
                <a:gs pos="29000">
                  <a:srgbClr val="0042FF">
                    <a:alpha val="60000"/>
                  </a:srgbClr>
                </a:gs>
                <a:gs pos="0">
                  <a:srgbClr val="FFFFFF">
                    <a:alpha val="0"/>
                  </a:srgbClr>
                </a:gs>
                <a:gs pos="100000">
                  <a:srgbClr val="FFFFFF">
                    <a:alpha val="0"/>
                  </a:srgbClr>
                </a:gs>
              </a:gsLst>
              <a:lin ang="16200000" scaled="1"/>
              <a:tileRect/>
            </a:gra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6" name="文本框 5"/>
          <p:cNvSpPr txBox="1"/>
          <p:nvPr/>
        </p:nvSpPr>
        <p:spPr>
          <a:xfrm>
            <a:off x="3568065" y="1931056"/>
            <a:ext cx="4895850" cy="752736"/>
          </a:xfrm>
          <a:prstGeom prst="rect">
            <a:avLst/>
          </a:prstGeom>
          <a:noFill/>
        </p:spPr>
        <p:txBody>
          <a:bodyPr wrap="none" rtlCol="0" lIns="0" rIns="0" tIns="0" bIns="0">
            <a:prstTxWarp prst="textArchUp">
              <a:avLst/>
            </a:prstTxWarp>
            <a:spAutoFit/>
          </a:bodyPr>
          <a:lstStyle/>
          <a:p>
            <a:pPr algn="ctr">
              <a:lnSpc>
                <a:spcPct val="130000"/>
              </a:lnSpc>
              <a:defRPr>
                <a:latin typeface="微软雅黑"/>
                <a:ea typeface="微软雅黑"/>
                <a:cs typeface="微软雅黑"/>
              </a:defRPr>
            </a:pPr>
            <a:r>
              <a:rPr lang="zh-CN" altLang="en-US" sz="1000" spc="300">
                <a:solidFill>
                  <a:srgbClr val="383838"/>
                </a:solidFill>
                <a:latin typeface="微软雅黑"/>
                <a:ea typeface="微软雅黑"/>
                <a:cs typeface="微软雅黑"/>
              </a:rPr>
              <a:t>纵向一体化</a:t>
            </a:r>
            <a:endParaRPr lang="en-US" altLang="zh-CN" sz="1000" spc="300">
              <a:solidFill>
                <a:srgbClr val="383838"/>
              </a:solidFill>
              <a:latin typeface="微软雅黑"/>
              <a:ea typeface="微软雅黑"/>
              <a:cs typeface="微软雅黑"/>
            </a:endParaRPr>
          </a:p>
          <a:p>
            <a:pPr algn="ctr">
              <a:lnSpc>
                <a:spcPct val="130000"/>
              </a:lnSpc>
              <a:defRPr>
                <a:latin typeface="微软雅黑"/>
                <a:ea typeface="微软雅黑"/>
                <a:cs typeface="微软雅黑"/>
              </a:defRPr>
            </a:pPr>
            <a:r>
              <a:rPr lang="zh-CN" altLang="en-US" sz="1000" spc="300">
                <a:solidFill>
                  <a:srgbClr val="383838"/>
                </a:solidFill>
                <a:latin typeface="微软雅黑"/>
                <a:ea typeface="微软雅黑"/>
                <a:cs typeface="微软雅黑"/>
              </a:rPr>
              <a:t>管理协同和组织层级穿透</a:t>
            </a:r>
            <a:endParaRPr lang="zh-CN" altLang="en-US" sz="1000" spc="300">
              <a:solidFill>
                <a:srgbClr val="383838"/>
              </a:solidFill>
              <a:latin typeface="微软雅黑"/>
              <a:ea typeface="微软雅黑"/>
              <a:cs typeface="微软雅黑"/>
            </a:endParaRPr>
          </a:p>
        </p:txBody>
      </p:sp>
      <p:sp>
        <p:nvSpPr>
          <p:cNvPr id="61" name="椭圆 60"/>
          <p:cNvSpPr/>
          <p:nvPr/>
        </p:nvSpPr>
        <p:spPr>
          <a:xfrm>
            <a:off x="3996690" y="1697265"/>
            <a:ext cx="4038600" cy="4038600"/>
          </a:xfrm>
          <a:prstGeom prst="ellipse">
            <a:avLst/>
          </a:prstGeom>
          <a:noFill/>
          <a:ln w="6350">
            <a:gradFill>
              <a:gsLst>
                <a:gs pos="20000">
                  <a:srgbClr val="B3D4FE">
                    <a:alpha val="0"/>
                  </a:srgbClr>
                </a:gs>
                <a:gs pos="35000">
                  <a:srgbClr val="B3D4FE">
                    <a:alpha val="70000"/>
                  </a:srgbClr>
                </a:gs>
                <a:gs pos="66000">
                  <a:srgbClr val="B3D4FE">
                    <a:alpha val="70000"/>
                  </a:srgbClr>
                </a:gs>
                <a:gs pos="81000">
                  <a:srgbClr val="B3D4FE">
                    <a:alpha val="0"/>
                  </a:srgbClr>
                </a:gs>
              </a:gsLst>
              <a:lin ang="5400000" scaled="1"/>
            </a:gra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7" name="椭圆 6"/>
          <p:cNvSpPr/>
          <p:nvPr/>
        </p:nvSpPr>
        <p:spPr>
          <a:xfrm>
            <a:off x="1336540" y="5451606"/>
            <a:ext cx="9358900" cy="1149920"/>
          </a:xfrm>
          <a:prstGeom prst="ellipse">
            <a:avLst/>
          </a:prstGeom>
          <a:gradFill>
            <a:gsLst>
              <a:gs pos="72000">
                <a:srgbClr val="FFFFFF">
                  <a:alpha val="0"/>
                </a:srgbClr>
              </a:gs>
              <a:gs pos="100000">
                <a:srgbClr val="FFFFFF"/>
              </a:gs>
            </a:gsLst>
            <a:lin ang="5400000" scaled="1"/>
          </a:gradFill>
          <a:ln w="38100">
            <a:gradFill>
              <a:gsLst>
                <a:gs pos="24000">
                  <a:srgbClr val="3368FF">
                    <a:alpha val="0"/>
                  </a:srgbClr>
                </a:gs>
                <a:gs pos="100000">
                  <a:srgbClr val="3368FF"/>
                </a:gs>
              </a:gsLst>
              <a:lin ang="5400000" scaled="1"/>
            </a:gradFill>
          </a:ln>
          <a:effectLst>
            <a:outerShdw blurRad="101600" dist="381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8" name="任意形状 4"/>
          <p:cNvSpPr/>
          <p:nvPr/>
        </p:nvSpPr>
        <p:spPr>
          <a:xfrm>
            <a:off x="2285462" y="4319763"/>
            <a:ext cx="7461056" cy="1486396"/>
          </a:xfrm>
          <a:custGeom>
            <a:avLst/>
            <a:gdLst>
              <a:gd name="connsiteX0" fmla="*/ 2830992 w 8596408"/>
              <a:gd name="connsiteY0" fmla="*/ 0 h 3825218"/>
              <a:gd name="connsiteX1" fmla="*/ 5765416 w 8596408"/>
              <a:gd name="connsiteY1" fmla="*/ 0 h 3825218"/>
              <a:gd name="connsiteX2" fmla="*/ 5778703 w 8596408"/>
              <a:gd name="connsiteY2" fmla="*/ 69146 h 3825218"/>
              <a:gd name="connsiteX3" fmla="*/ 7310135 w 8596408"/>
              <a:gd name="connsiteY3" fmla="*/ 2635970 h 3825218"/>
              <a:gd name="connsiteX4" fmla="*/ 8549250 w 8596408"/>
              <a:gd name="connsiteY4" fmla="*/ 3791201 h 3825218"/>
              <a:gd name="connsiteX5" fmla="*/ 8596408 w 8596408"/>
              <a:gd name="connsiteY5" fmla="*/ 3825218 h 3825218"/>
              <a:gd name="connsiteX6" fmla="*/ 0 w 8596408"/>
              <a:gd name="connsiteY6" fmla="*/ 3825218 h 3825218"/>
              <a:gd name="connsiteX7" fmla="*/ 47157 w 8596408"/>
              <a:gd name="connsiteY7" fmla="*/ 3791202 h 3825218"/>
              <a:gd name="connsiteX8" fmla="*/ 1286272 w 8596408"/>
              <a:gd name="connsiteY8" fmla="*/ 2635971 h 3825218"/>
              <a:gd name="connsiteX9" fmla="*/ 2817704 w 8596408"/>
              <a:gd name="connsiteY9" fmla="*/ 69147 h 3825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96408" h="3825218">
                <a:moveTo>
                  <a:pt x="2830992" y="0"/>
                </a:moveTo>
                <a:lnTo>
                  <a:pt x="5765416" y="0"/>
                </a:lnTo>
                <a:lnTo>
                  <a:pt x="5778703" y="69146"/>
                </a:lnTo>
                <a:cubicBezTo>
                  <a:pt x="5947128" y="771335"/>
                  <a:pt x="6496637" y="1724580"/>
                  <a:pt x="7310135" y="2635970"/>
                </a:cubicBezTo>
                <a:cubicBezTo>
                  <a:pt x="7716884" y="3091665"/>
                  <a:pt x="8141497" y="3482970"/>
                  <a:pt x="8549250" y="3791201"/>
                </a:cubicBezTo>
                <a:lnTo>
                  <a:pt x="8596408" y="3825218"/>
                </a:lnTo>
                <a:lnTo>
                  <a:pt x="0" y="3825218"/>
                </a:lnTo>
                <a:lnTo>
                  <a:pt x="47157" y="3791202"/>
                </a:lnTo>
                <a:cubicBezTo>
                  <a:pt x="454911" y="3482971"/>
                  <a:pt x="879523" y="3091666"/>
                  <a:pt x="1286272" y="2635971"/>
                </a:cubicBezTo>
                <a:cubicBezTo>
                  <a:pt x="2099770" y="1724581"/>
                  <a:pt x="2649280" y="771337"/>
                  <a:pt x="2817704" y="69147"/>
                </a:cubicBezTo>
                <a:close/>
              </a:path>
            </a:pathLst>
          </a:custGeom>
          <a:gradFill flip="none" rotWithShape="1">
            <a:gsLst>
              <a:gs pos="70000">
                <a:srgbClr val="0042FF">
                  <a:alpha val="3000"/>
                </a:srgbClr>
              </a:gs>
              <a:gs pos="30000">
                <a:srgbClr val="0042FF">
                  <a:alpha val="3000"/>
                </a:srgbClr>
              </a:gs>
              <a:gs pos="10000">
                <a:srgbClr val="0042FF">
                  <a:alpha val="0"/>
                </a:srgbClr>
              </a:gs>
              <a:gs pos="90000">
                <a:srgbClr val="0042FF">
                  <a:alpha val="0"/>
                </a:srgbClr>
              </a:gs>
            </a:gsLst>
            <a:lin ang="16200000" scaled="1"/>
            <a:tileRect/>
          </a:gradFill>
          <a:ln w="3175">
            <a:gradFill flip="none" rotWithShape="1">
              <a:gsLst>
                <a:gs pos="70000">
                  <a:srgbClr val="0042FF">
                    <a:alpha val="60000"/>
                  </a:srgbClr>
                </a:gs>
                <a:gs pos="29000">
                  <a:srgbClr val="0042FF">
                    <a:alpha val="60000"/>
                  </a:srgbClr>
                </a:gs>
                <a:gs pos="0">
                  <a:srgbClr val="FFFFFF">
                    <a:alpha val="0"/>
                  </a:srgbClr>
                </a:gs>
                <a:gs pos="100000">
                  <a:srgbClr val="FFFFFF">
                    <a:alpha val="0"/>
                  </a:srgbClr>
                </a:gs>
              </a:gsLst>
              <a:lin ang="16200000" scaled="1"/>
              <a:tileRect/>
            </a:gra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20" name="椭圆 19"/>
          <p:cNvSpPr/>
          <p:nvPr/>
        </p:nvSpPr>
        <p:spPr>
          <a:xfrm>
            <a:off x="4777740" y="2478315"/>
            <a:ext cx="2476500" cy="2476500"/>
          </a:xfrm>
          <a:prstGeom prst="ellipse">
            <a:avLst/>
          </a:prstGeom>
          <a:gradFill flip="none" rotWithShape="1">
            <a:gsLst>
              <a:gs pos="99000">
                <a:srgbClr val="3368FF">
                  <a:alpha val="15000"/>
                </a:srgbClr>
              </a:gs>
              <a:gs pos="72000">
                <a:srgbClr val="FFFFFF">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22" name="椭圆 21"/>
          <p:cNvSpPr/>
          <p:nvPr/>
        </p:nvSpPr>
        <p:spPr>
          <a:xfrm>
            <a:off x="5069840" y="2770416"/>
            <a:ext cx="1892300" cy="1892298"/>
          </a:xfrm>
          <a:prstGeom prst="ellipse">
            <a:avLst/>
          </a:prstGeom>
          <a:gradFill flip="none" rotWithShape="1">
            <a:gsLst>
              <a:gs pos="0">
                <a:srgbClr val="B3D4FE"/>
              </a:gs>
              <a:gs pos="99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23" name="文本框 22"/>
          <p:cNvSpPr txBox="1"/>
          <p:nvPr/>
        </p:nvSpPr>
        <p:spPr>
          <a:xfrm>
            <a:off x="5179683" y="3323278"/>
            <a:ext cx="1672618" cy="830997"/>
          </a:xfrm>
          <a:prstGeom prst="rect">
            <a:avLst/>
          </a:prstGeom>
          <a:noFill/>
        </p:spPr>
        <p:txBody>
          <a:bodyPr wrap="square" rtlCol="0">
            <a:spAutoFit/>
          </a:bodyPr>
          <a:lstStyle/>
          <a:p>
            <a:pPr algn="ctr">
              <a:defRPr>
                <a:latin typeface="微软雅黑"/>
                <a:ea typeface="微软雅黑"/>
                <a:cs typeface="微软雅黑"/>
              </a:defRPr>
            </a:pPr>
            <a:r>
              <a:rPr kumimoji="1" lang="zh-CN" altLang="en-US" sz="2400" b="1">
                <a:solidFill>
                  <a:srgbClr val="383838"/>
                </a:solidFill>
                <a:latin typeface="微软雅黑"/>
                <a:ea typeface="微软雅黑"/>
                <a:cs typeface="微软雅黑"/>
              </a:rPr>
              <a:t>项目管理精益化</a:t>
            </a:r>
            <a:endParaRPr kumimoji="1" lang="zh-CN" altLang="en-US" sz="2400" b="1" dirty="0">
              <a:solidFill>
                <a:srgbClr val="383838"/>
              </a:solidFill>
              <a:latin typeface="微软雅黑"/>
              <a:ea typeface="微软雅黑"/>
              <a:cs typeface="微软雅黑"/>
            </a:endParaRPr>
          </a:p>
        </p:txBody>
      </p:sp>
      <p:sp>
        <p:nvSpPr>
          <p:cNvPr id="24" name="椭圆 23"/>
          <p:cNvSpPr/>
          <p:nvPr/>
        </p:nvSpPr>
        <p:spPr>
          <a:xfrm>
            <a:off x="3041956" y="2924437"/>
            <a:ext cx="1486396" cy="1486396"/>
          </a:xfrm>
          <a:prstGeom prst="ellipse">
            <a:avLst/>
          </a:prstGeom>
          <a:gradFill flip="none" rotWithShape="1">
            <a:gsLst>
              <a:gs pos="99000">
                <a:srgbClr val="B3D4FE">
                  <a:alpha val="15000"/>
                </a:srgbClr>
              </a:gs>
              <a:gs pos="72000">
                <a:srgbClr val="FFFFFF">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25" name="任意形状 19"/>
          <p:cNvSpPr/>
          <p:nvPr/>
        </p:nvSpPr>
        <p:spPr>
          <a:xfrm rot="5400000">
            <a:off x="594016" y="2438208"/>
            <a:ext cx="3740148" cy="2477415"/>
          </a:xfrm>
          <a:custGeom>
            <a:avLst/>
            <a:gdLst>
              <a:gd name="connsiteX0" fmla="*/ 2830992 w 8596408"/>
              <a:gd name="connsiteY0" fmla="*/ 0 h 3825218"/>
              <a:gd name="connsiteX1" fmla="*/ 5765416 w 8596408"/>
              <a:gd name="connsiteY1" fmla="*/ 0 h 3825218"/>
              <a:gd name="connsiteX2" fmla="*/ 5778703 w 8596408"/>
              <a:gd name="connsiteY2" fmla="*/ 69146 h 3825218"/>
              <a:gd name="connsiteX3" fmla="*/ 7310135 w 8596408"/>
              <a:gd name="connsiteY3" fmla="*/ 2635970 h 3825218"/>
              <a:gd name="connsiteX4" fmla="*/ 8549250 w 8596408"/>
              <a:gd name="connsiteY4" fmla="*/ 3791201 h 3825218"/>
              <a:gd name="connsiteX5" fmla="*/ 8596408 w 8596408"/>
              <a:gd name="connsiteY5" fmla="*/ 3825218 h 3825218"/>
              <a:gd name="connsiteX6" fmla="*/ 0 w 8596408"/>
              <a:gd name="connsiteY6" fmla="*/ 3825218 h 3825218"/>
              <a:gd name="connsiteX7" fmla="*/ 47157 w 8596408"/>
              <a:gd name="connsiteY7" fmla="*/ 3791202 h 3825218"/>
              <a:gd name="connsiteX8" fmla="*/ 1286272 w 8596408"/>
              <a:gd name="connsiteY8" fmla="*/ 2635971 h 3825218"/>
              <a:gd name="connsiteX9" fmla="*/ 2817704 w 8596408"/>
              <a:gd name="connsiteY9" fmla="*/ 69147 h 3825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96408" h="3825218">
                <a:moveTo>
                  <a:pt x="2830992" y="0"/>
                </a:moveTo>
                <a:lnTo>
                  <a:pt x="5765416" y="0"/>
                </a:lnTo>
                <a:lnTo>
                  <a:pt x="5778703" y="69146"/>
                </a:lnTo>
                <a:cubicBezTo>
                  <a:pt x="5947128" y="771335"/>
                  <a:pt x="6496637" y="1724580"/>
                  <a:pt x="7310135" y="2635970"/>
                </a:cubicBezTo>
                <a:cubicBezTo>
                  <a:pt x="7716884" y="3091665"/>
                  <a:pt x="8141497" y="3482970"/>
                  <a:pt x="8549250" y="3791201"/>
                </a:cubicBezTo>
                <a:lnTo>
                  <a:pt x="8596408" y="3825218"/>
                </a:lnTo>
                <a:lnTo>
                  <a:pt x="0" y="3825218"/>
                </a:lnTo>
                <a:lnTo>
                  <a:pt x="47157" y="3791202"/>
                </a:lnTo>
                <a:cubicBezTo>
                  <a:pt x="454911" y="3482971"/>
                  <a:pt x="879523" y="3091666"/>
                  <a:pt x="1286272" y="2635971"/>
                </a:cubicBezTo>
                <a:cubicBezTo>
                  <a:pt x="2099770" y="1724581"/>
                  <a:pt x="2649280" y="771337"/>
                  <a:pt x="2817704" y="69147"/>
                </a:cubicBezTo>
                <a:close/>
              </a:path>
            </a:pathLst>
          </a:custGeom>
          <a:gradFill flip="none" rotWithShape="1">
            <a:gsLst>
              <a:gs pos="70000">
                <a:srgbClr val="B3D4FE">
                  <a:alpha val="10000"/>
                </a:srgbClr>
              </a:gs>
              <a:gs pos="30000">
                <a:srgbClr val="B3D4FE">
                  <a:alpha val="10000"/>
                </a:srgbClr>
              </a:gs>
              <a:gs pos="10000">
                <a:srgbClr val="B3D4FE">
                  <a:alpha val="0"/>
                </a:srgbClr>
              </a:gs>
              <a:gs pos="90000">
                <a:srgbClr val="B3D4FE">
                  <a:alpha val="0"/>
                </a:srgbClr>
              </a:gs>
            </a:gsLst>
            <a:lin ang="16200000" scaled="1"/>
            <a:tileRect/>
          </a:gradFill>
          <a:ln w="3175">
            <a:gradFill flip="none" rotWithShape="1">
              <a:gsLst>
                <a:gs pos="70000">
                  <a:srgbClr val="B3D4FE">
                    <a:alpha val="60000"/>
                  </a:srgbClr>
                </a:gs>
                <a:gs pos="29000">
                  <a:srgbClr val="B3D4FE">
                    <a:alpha val="60000"/>
                  </a:srgbClr>
                </a:gs>
                <a:gs pos="0">
                  <a:srgbClr val="FFFFFF">
                    <a:alpha val="0"/>
                  </a:srgbClr>
                </a:gs>
                <a:gs pos="100000">
                  <a:srgbClr val="FFFFFF">
                    <a:alpha val="0"/>
                  </a:srgbClr>
                </a:gs>
              </a:gsLst>
              <a:lin ang="16200000" scaled="1"/>
              <a:tileRect/>
            </a:gra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26" name="椭圆 25"/>
          <p:cNvSpPr/>
          <p:nvPr/>
        </p:nvSpPr>
        <p:spPr>
          <a:xfrm>
            <a:off x="3232047" y="3113517"/>
            <a:ext cx="1133386" cy="1133386"/>
          </a:xfrm>
          <a:prstGeom prst="ellipse">
            <a:avLst/>
          </a:prstGeom>
          <a:gradFill flip="none" rotWithShape="1">
            <a:gsLst>
              <a:gs pos="0">
                <a:srgbClr val="B3D4FE"/>
              </a:gs>
              <a:gs pos="98000">
                <a:srgbClr val="B3D4FE"/>
              </a:gs>
            </a:gsLst>
            <a:lin ang="0" scaled="1"/>
            <a:tileRect/>
          </a:gradFill>
          <a:ln>
            <a:noFill/>
          </a:ln>
          <a:effectLst>
            <a:outerShdw blurRad="254000" dist="127000" dir="5400000" algn="t" rotWithShape="0">
              <a:srgbClr val="B3D4FE">
                <a:alpha val="3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7" name="文本框 26"/>
          <p:cNvSpPr txBox="1"/>
          <p:nvPr/>
        </p:nvSpPr>
        <p:spPr>
          <a:xfrm>
            <a:off x="3296042" y="3676805"/>
            <a:ext cx="1005404" cy="338554"/>
          </a:xfrm>
          <a:prstGeom prst="rect">
            <a:avLst/>
          </a:prstGeom>
          <a:noFill/>
        </p:spPr>
        <p:txBody>
          <a:bodyPr wrap="none" rtlCol="0">
            <a:spAutoFit/>
          </a:bodyPr>
          <a:lstStyle/>
          <a:p>
            <a:pPr algn="ctr">
              <a:defRPr>
                <a:latin typeface="微软雅黑"/>
                <a:ea typeface="微软雅黑"/>
                <a:cs typeface="微软雅黑"/>
              </a:defRPr>
            </a:pPr>
            <a:r>
              <a:rPr kumimoji="1" lang="zh-CN" altLang="en-US" sz="1600" b="1">
                <a:solidFill>
                  <a:srgbClr val="383838"/>
                </a:solidFill>
                <a:latin typeface="微软雅黑"/>
                <a:ea typeface="微软雅黑"/>
                <a:cs typeface="微软雅黑"/>
              </a:rPr>
              <a:t>数据驱动</a:t>
            </a:r>
            <a:endParaRPr kumimoji="1" lang="zh-CN" altLang="en-US" sz="1600" b="1" dirty="0">
              <a:solidFill>
                <a:srgbClr val="383838"/>
              </a:solidFill>
              <a:latin typeface="微软雅黑"/>
              <a:ea typeface="微软雅黑"/>
              <a:cs typeface="微软雅黑"/>
            </a:endParaRPr>
          </a:p>
        </p:txBody>
      </p:sp>
      <p:sp>
        <p:nvSpPr>
          <p:cNvPr id="29" name="椭圆 28"/>
          <p:cNvSpPr/>
          <p:nvPr/>
        </p:nvSpPr>
        <p:spPr>
          <a:xfrm flipH="1">
            <a:off x="7503628" y="2924437"/>
            <a:ext cx="1486396" cy="1486396"/>
          </a:xfrm>
          <a:prstGeom prst="ellipse">
            <a:avLst/>
          </a:prstGeom>
          <a:gradFill flip="none" rotWithShape="1">
            <a:gsLst>
              <a:gs pos="99000">
                <a:srgbClr val="B3D4FE">
                  <a:alpha val="15000"/>
                </a:srgbClr>
              </a:gs>
              <a:gs pos="72000">
                <a:srgbClr val="FFFFFF">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30" name="椭圆 29"/>
          <p:cNvSpPr/>
          <p:nvPr/>
        </p:nvSpPr>
        <p:spPr>
          <a:xfrm flipH="1">
            <a:off x="7666547" y="3113517"/>
            <a:ext cx="1133386" cy="1133386"/>
          </a:xfrm>
          <a:prstGeom prst="ellipse">
            <a:avLst/>
          </a:prstGeom>
          <a:gradFill flip="none" rotWithShape="1">
            <a:gsLst>
              <a:gs pos="0">
                <a:srgbClr val="B3D4FE"/>
              </a:gs>
              <a:gs pos="98000">
                <a:srgbClr val="B3D4FE"/>
              </a:gs>
            </a:gsLst>
            <a:lin ang="0" scaled="1"/>
            <a:tileRect/>
          </a:gradFill>
          <a:ln>
            <a:noFill/>
          </a:ln>
          <a:effectLst>
            <a:outerShdw blurRad="254000" dist="127000" dir="5400000" algn="t" rotWithShape="0">
              <a:srgbClr val="B3D4FE">
                <a:alpha val="3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31" name="文本框 30"/>
          <p:cNvSpPr txBox="1"/>
          <p:nvPr/>
        </p:nvSpPr>
        <p:spPr>
          <a:xfrm flipH="1">
            <a:off x="7730540" y="3676805"/>
            <a:ext cx="1005404" cy="338554"/>
          </a:xfrm>
          <a:prstGeom prst="rect">
            <a:avLst/>
          </a:prstGeom>
          <a:noFill/>
        </p:spPr>
        <p:txBody>
          <a:bodyPr wrap="none" rtlCol="0" lIns="0" rIns="0" tIns="0" bIns="0">
            <a:spAutoFit/>
          </a:bodyPr>
          <a:lstStyle>
            <a:defPPr>
              <a:defRPr lang="zh-CN">
                <a:latin typeface="微软雅黑"/>
                <a:ea typeface="微软雅黑"/>
                <a:cs typeface="微软雅黑"/>
              </a:defRPr>
            </a:defPPr>
            <a:lvl1pPr algn="ctr">
              <a:defRPr kumimoji="1" sz="1600" b="1">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a:latin typeface="微软雅黑"/>
                <a:ea typeface="微软雅黑"/>
                <a:cs typeface="微软雅黑"/>
              </a:rPr>
              <a:t>业务前置</a:t>
            </a:r>
            <a:endParaRPr lang="zh-CN" altLang="en-US" dirty="0">
              <a:latin typeface="微软雅黑"/>
              <a:ea typeface="微软雅黑"/>
              <a:cs typeface="微软雅黑"/>
            </a:endParaRPr>
          </a:p>
        </p:txBody>
      </p:sp>
      <p:sp>
        <p:nvSpPr>
          <p:cNvPr id="49" name="图形 13"/>
          <p:cNvSpPr/>
          <p:nvPr/>
        </p:nvSpPr>
        <p:spPr>
          <a:xfrm>
            <a:off x="3663911" y="3332522"/>
            <a:ext cx="273256" cy="273253"/>
          </a:xfrm>
          <a:custGeom>
            <a:avLst/>
            <a:gdLst>
              <a:gd name="connsiteX0" fmla="*/ 136628 w 273256"/>
              <a:gd name="connsiteY0" fmla="*/ 0 h 273253"/>
              <a:gd name="connsiteX1" fmla="*/ 0 w 273256"/>
              <a:gd name="connsiteY1" fmla="*/ 136627 h 273253"/>
              <a:gd name="connsiteX2" fmla="*/ 136628 w 273256"/>
              <a:gd name="connsiteY2" fmla="*/ 273253 h 273253"/>
              <a:gd name="connsiteX3" fmla="*/ 273257 w 273256"/>
              <a:gd name="connsiteY3" fmla="*/ 136627 h 273253"/>
              <a:gd name="connsiteX4" fmla="*/ 136628 w 273256"/>
              <a:gd name="connsiteY4" fmla="*/ 0 h 273253"/>
              <a:gd name="connsiteX5" fmla="*/ 217319 w 273256"/>
              <a:gd name="connsiteY5" fmla="*/ 180315 h 273253"/>
              <a:gd name="connsiteX6" fmla="*/ 216162 w 273256"/>
              <a:gd name="connsiteY6" fmla="*/ 181505 h 273253"/>
              <a:gd name="connsiteX7" fmla="*/ 159582 w 273256"/>
              <a:gd name="connsiteY7" fmla="*/ 223361 h 273253"/>
              <a:gd name="connsiteX8" fmla="*/ 152188 w 273256"/>
              <a:gd name="connsiteY8" fmla="*/ 222268 h 273253"/>
              <a:gd name="connsiteX9" fmla="*/ 151159 w 273256"/>
              <a:gd name="connsiteY9" fmla="*/ 219117 h 273253"/>
              <a:gd name="connsiteX10" fmla="*/ 151159 w 273256"/>
              <a:gd name="connsiteY10" fmla="*/ 192178 h 273253"/>
              <a:gd name="connsiteX11" fmla="*/ 104931 w 273256"/>
              <a:gd name="connsiteY11" fmla="*/ 192178 h 273253"/>
              <a:gd name="connsiteX12" fmla="*/ 51244 w 273256"/>
              <a:gd name="connsiteY12" fmla="*/ 143313 h 273253"/>
              <a:gd name="connsiteX13" fmla="*/ 104931 w 273256"/>
              <a:gd name="connsiteY13" fmla="*/ 163984 h 273253"/>
              <a:gd name="connsiteX14" fmla="*/ 151159 w 273256"/>
              <a:gd name="connsiteY14" fmla="*/ 163116 h 273253"/>
              <a:gd name="connsiteX15" fmla="*/ 151159 w 273256"/>
              <a:gd name="connsiteY15" fmla="*/ 137270 h 273253"/>
              <a:gd name="connsiteX16" fmla="*/ 156431 w 273256"/>
              <a:gd name="connsiteY16" fmla="*/ 131997 h 273253"/>
              <a:gd name="connsiteX17" fmla="*/ 159486 w 273256"/>
              <a:gd name="connsiteY17" fmla="*/ 132962 h 273253"/>
              <a:gd name="connsiteX18" fmla="*/ 216034 w 273256"/>
              <a:gd name="connsiteY18" fmla="*/ 172921 h 273253"/>
              <a:gd name="connsiteX19" fmla="*/ 217319 w 273256"/>
              <a:gd name="connsiteY19" fmla="*/ 180315 h 273253"/>
              <a:gd name="connsiteX20" fmla="*/ 168358 w 273256"/>
              <a:gd name="connsiteY20" fmla="*/ 109205 h 273253"/>
              <a:gd name="connsiteX21" fmla="*/ 122130 w 273256"/>
              <a:gd name="connsiteY21" fmla="*/ 110073 h 273253"/>
              <a:gd name="connsiteX22" fmla="*/ 122130 w 273256"/>
              <a:gd name="connsiteY22" fmla="*/ 135919 h 273253"/>
              <a:gd name="connsiteX23" fmla="*/ 116857 w 273256"/>
              <a:gd name="connsiteY23" fmla="*/ 141192 h 273253"/>
              <a:gd name="connsiteX24" fmla="*/ 113803 w 273256"/>
              <a:gd name="connsiteY24" fmla="*/ 140227 h 273253"/>
              <a:gd name="connsiteX25" fmla="*/ 57223 w 273256"/>
              <a:gd name="connsiteY25" fmla="*/ 100300 h 273253"/>
              <a:gd name="connsiteX26" fmla="*/ 55969 w 273256"/>
              <a:gd name="connsiteY26" fmla="*/ 92938 h 273253"/>
              <a:gd name="connsiteX27" fmla="*/ 57127 w 273256"/>
              <a:gd name="connsiteY27" fmla="*/ 91749 h 273253"/>
              <a:gd name="connsiteX28" fmla="*/ 113675 w 273256"/>
              <a:gd name="connsiteY28" fmla="*/ 49893 h 273253"/>
              <a:gd name="connsiteX29" fmla="*/ 121069 w 273256"/>
              <a:gd name="connsiteY29" fmla="*/ 50986 h 273253"/>
              <a:gd name="connsiteX30" fmla="*/ 122098 w 273256"/>
              <a:gd name="connsiteY30" fmla="*/ 54136 h 273253"/>
              <a:gd name="connsiteX31" fmla="*/ 122098 w 273256"/>
              <a:gd name="connsiteY31" fmla="*/ 81076 h 273253"/>
              <a:gd name="connsiteX32" fmla="*/ 168326 w 273256"/>
              <a:gd name="connsiteY32" fmla="*/ 81076 h 273253"/>
              <a:gd name="connsiteX33" fmla="*/ 222013 w 273256"/>
              <a:gd name="connsiteY33" fmla="*/ 129940 h 273253"/>
              <a:gd name="connsiteX34" fmla="*/ 168358 w 273256"/>
              <a:gd name="connsiteY34" fmla="*/ 109205 h 273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73256" h="273253">
                <a:moveTo>
                  <a:pt x="136628" y="0"/>
                </a:moveTo>
                <a:cubicBezTo>
                  <a:pt x="61177" y="0"/>
                  <a:pt x="0" y="61177"/>
                  <a:pt x="0" y="136627"/>
                </a:cubicBezTo>
                <a:cubicBezTo>
                  <a:pt x="0" y="212077"/>
                  <a:pt x="61177" y="273253"/>
                  <a:pt x="136628" y="273253"/>
                </a:cubicBezTo>
                <a:cubicBezTo>
                  <a:pt x="212079" y="273253"/>
                  <a:pt x="273257" y="212077"/>
                  <a:pt x="273257" y="136627"/>
                </a:cubicBezTo>
                <a:cubicBezTo>
                  <a:pt x="273257" y="61177"/>
                  <a:pt x="212112" y="0"/>
                  <a:pt x="136628" y="0"/>
                </a:cubicBezTo>
                <a:close/>
                <a:moveTo>
                  <a:pt x="217319" y="180315"/>
                </a:moveTo>
                <a:cubicBezTo>
                  <a:pt x="216998" y="180765"/>
                  <a:pt x="216612" y="181183"/>
                  <a:pt x="216162" y="181505"/>
                </a:cubicBezTo>
                <a:lnTo>
                  <a:pt x="159582" y="223361"/>
                </a:lnTo>
                <a:cubicBezTo>
                  <a:pt x="157235" y="225097"/>
                  <a:pt x="153924" y="224614"/>
                  <a:pt x="152188" y="222268"/>
                </a:cubicBezTo>
                <a:cubicBezTo>
                  <a:pt x="151513" y="221367"/>
                  <a:pt x="151159" y="220242"/>
                  <a:pt x="151159" y="219117"/>
                </a:cubicBezTo>
                <a:lnTo>
                  <a:pt x="151159" y="192178"/>
                </a:lnTo>
                <a:lnTo>
                  <a:pt x="104931" y="192178"/>
                </a:lnTo>
                <a:cubicBezTo>
                  <a:pt x="71979" y="192370"/>
                  <a:pt x="54105" y="176072"/>
                  <a:pt x="51244" y="143313"/>
                </a:cubicBezTo>
                <a:cubicBezTo>
                  <a:pt x="54105" y="146303"/>
                  <a:pt x="66610" y="163984"/>
                  <a:pt x="104931" y="163984"/>
                </a:cubicBezTo>
                <a:cubicBezTo>
                  <a:pt x="130456" y="163984"/>
                  <a:pt x="145887" y="163695"/>
                  <a:pt x="151159" y="163116"/>
                </a:cubicBezTo>
                <a:lnTo>
                  <a:pt x="151159" y="137270"/>
                </a:lnTo>
                <a:cubicBezTo>
                  <a:pt x="151159" y="134344"/>
                  <a:pt x="153538" y="131997"/>
                  <a:pt x="156431" y="131997"/>
                </a:cubicBezTo>
                <a:cubicBezTo>
                  <a:pt x="157524" y="131997"/>
                  <a:pt x="158585" y="132351"/>
                  <a:pt x="159486" y="132962"/>
                </a:cubicBezTo>
                <a:lnTo>
                  <a:pt x="216034" y="172921"/>
                </a:lnTo>
                <a:cubicBezTo>
                  <a:pt x="218445" y="174625"/>
                  <a:pt x="218991" y="177936"/>
                  <a:pt x="217319" y="180315"/>
                </a:cubicBezTo>
                <a:close/>
                <a:moveTo>
                  <a:pt x="168358" y="109205"/>
                </a:moveTo>
                <a:cubicBezTo>
                  <a:pt x="142833" y="109205"/>
                  <a:pt x="127402" y="109494"/>
                  <a:pt x="122130" y="110073"/>
                </a:cubicBezTo>
                <a:lnTo>
                  <a:pt x="122130" y="135919"/>
                </a:lnTo>
                <a:cubicBezTo>
                  <a:pt x="122130" y="138845"/>
                  <a:pt x="119751" y="141192"/>
                  <a:pt x="116857" y="141192"/>
                </a:cubicBezTo>
                <a:cubicBezTo>
                  <a:pt x="115764" y="141192"/>
                  <a:pt x="114704" y="140838"/>
                  <a:pt x="113803" y="140227"/>
                </a:cubicBezTo>
                <a:lnTo>
                  <a:pt x="57223" y="100300"/>
                </a:lnTo>
                <a:cubicBezTo>
                  <a:pt x="54844" y="98628"/>
                  <a:pt x="54266" y="95317"/>
                  <a:pt x="55969" y="92938"/>
                </a:cubicBezTo>
                <a:cubicBezTo>
                  <a:pt x="56291" y="92488"/>
                  <a:pt x="56677" y="92070"/>
                  <a:pt x="57127" y="91749"/>
                </a:cubicBezTo>
                <a:lnTo>
                  <a:pt x="113675" y="49893"/>
                </a:lnTo>
                <a:cubicBezTo>
                  <a:pt x="116022" y="48157"/>
                  <a:pt x="119333" y="48639"/>
                  <a:pt x="121069" y="50986"/>
                </a:cubicBezTo>
                <a:cubicBezTo>
                  <a:pt x="121744" y="51886"/>
                  <a:pt x="122098" y="53011"/>
                  <a:pt x="122098" y="54136"/>
                </a:cubicBezTo>
                <a:lnTo>
                  <a:pt x="122098" y="81076"/>
                </a:lnTo>
                <a:lnTo>
                  <a:pt x="168326" y="81076"/>
                </a:lnTo>
                <a:cubicBezTo>
                  <a:pt x="201278" y="80883"/>
                  <a:pt x="219152" y="97182"/>
                  <a:pt x="222013" y="129940"/>
                </a:cubicBezTo>
                <a:cubicBezTo>
                  <a:pt x="219152" y="126886"/>
                  <a:pt x="206646" y="109205"/>
                  <a:pt x="168358" y="109205"/>
                </a:cubicBezTo>
                <a:close/>
              </a:path>
            </a:pathLst>
          </a:custGeom>
          <a:gradFill flip="none" rotWithShape="1">
            <a:gsLst>
              <a:gs pos="68000">
                <a:srgbClr val="FFFFFF"/>
              </a:gs>
              <a:gs pos="0">
                <a:srgbClr val="FFFFFF">
                  <a:alpha val="0"/>
                </a:srgbClr>
              </a:gs>
            </a:gsLst>
            <a:lin ang="7200000" scaled="0"/>
            <a:tileRect/>
          </a:gradFill>
          <a:ln w="316" cap="flat">
            <a:noFill/>
            <a:prstDash val="solid"/>
            <a:miter/>
          </a:ln>
        </p:spPr>
        <p:txBody>
          <a:bodyPr rtlCol="0" anchor="ctr" lIns="0" rIns="0" tIns="0" bIns="0"/>
          <a:lstStyle/>
          <a:p>
            <a:pPr>
              <a:defRPr>
                <a:latin typeface="微软雅黑"/>
                <a:ea typeface="微软雅黑"/>
                <a:cs typeface="微软雅黑"/>
              </a:defRPr>
            </a:pPr>
            <a:endParaRPr lang="zh-CN" altLang="en-US" dirty="0">
              <a:latin typeface="微软雅黑"/>
              <a:ea typeface="微软雅黑"/>
              <a:cs typeface="微软雅黑"/>
            </a:endParaRPr>
          </a:p>
        </p:txBody>
      </p:sp>
      <p:sp>
        <p:nvSpPr>
          <p:cNvPr id="50" name="图形 15"/>
          <p:cNvSpPr/>
          <p:nvPr/>
        </p:nvSpPr>
        <p:spPr>
          <a:xfrm>
            <a:off x="8098486" y="3351479"/>
            <a:ext cx="268802" cy="299891"/>
          </a:xfrm>
          <a:custGeom>
            <a:avLst/>
            <a:gdLst>
              <a:gd name="T0" fmla="*/ 8957 w 10646"/>
              <a:gd name="T1" fmla="*/ 11874 h 11874"/>
              <a:gd name="T2" fmla="*/ 1689 w 10646"/>
              <a:gd name="T3" fmla="*/ 11874 h 11874"/>
              <a:gd name="T4" fmla="*/ 0 w 10646"/>
              <a:gd name="T5" fmla="*/ 10186 h 11874"/>
              <a:gd name="T6" fmla="*/ 0 w 10646"/>
              <a:gd name="T7" fmla="*/ 3323 h 11874"/>
              <a:gd name="T8" fmla="*/ 1535 w 10646"/>
              <a:gd name="T9" fmla="*/ 1635 h 11874"/>
              <a:gd name="T10" fmla="*/ 2454 w 10646"/>
              <a:gd name="T11" fmla="*/ 1635 h 11874"/>
              <a:gd name="T12" fmla="*/ 2454 w 10646"/>
              <a:gd name="T13" fmla="*/ 3270 h 11874"/>
              <a:gd name="T14" fmla="*/ 8181 w 10646"/>
              <a:gd name="T15" fmla="*/ 3270 h 11874"/>
              <a:gd name="T16" fmla="*/ 8181 w 10646"/>
              <a:gd name="T17" fmla="*/ 1635 h 11874"/>
              <a:gd name="T18" fmla="*/ 8985 w 10646"/>
              <a:gd name="T19" fmla="*/ 1635 h 11874"/>
              <a:gd name="T20" fmla="*/ 10646 w 10646"/>
              <a:gd name="T21" fmla="*/ 3328 h 11874"/>
              <a:gd name="T22" fmla="*/ 10646 w 10646"/>
              <a:gd name="T23" fmla="*/ 10238 h 11874"/>
              <a:gd name="T24" fmla="*/ 8957 w 10646"/>
              <a:gd name="T25" fmla="*/ 11874 h 11874"/>
              <a:gd name="T26" fmla="*/ 8598 w 10646"/>
              <a:gd name="T27" fmla="*/ 5118 h 11874"/>
              <a:gd name="T28" fmla="*/ 8394 w 10646"/>
              <a:gd name="T29" fmla="*/ 4913 h 11874"/>
              <a:gd name="T30" fmla="*/ 2252 w 10646"/>
              <a:gd name="T31" fmla="*/ 4913 h 11874"/>
              <a:gd name="T32" fmla="*/ 2048 w 10646"/>
              <a:gd name="T33" fmla="*/ 5118 h 11874"/>
              <a:gd name="T34" fmla="*/ 2048 w 10646"/>
              <a:gd name="T35" fmla="*/ 5528 h 11874"/>
              <a:gd name="T36" fmla="*/ 2252 w 10646"/>
              <a:gd name="T37" fmla="*/ 5732 h 11874"/>
              <a:gd name="T38" fmla="*/ 8394 w 10646"/>
              <a:gd name="T39" fmla="*/ 5732 h 11874"/>
              <a:gd name="T40" fmla="*/ 8598 w 10646"/>
              <a:gd name="T41" fmla="*/ 5528 h 11874"/>
              <a:gd name="T42" fmla="*/ 8598 w 10646"/>
              <a:gd name="T43" fmla="*/ 5118 h 11874"/>
              <a:gd name="T44" fmla="*/ 8598 w 10646"/>
              <a:gd name="T45" fmla="*/ 7165 h 11874"/>
              <a:gd name="T46" fmla="*/ 8394 w 10646"/>
              <a:gd name="T47" fmla="*/ 6961 h 11874"/>
              <a:gd name="T48" fmla="*/ 2252 w 10646"/>
              <a:gd name="T49" fmla="*/ 6961 h 11874"/>
              <a:gd name="T50" fmla="*/ 2048 w 10646"/>
              <a:gd name="T51" fmla="*/ 7165 h 11874"/>
              <a:gd name="T52" fmla="*/ 2048 w 10646"/>
              <a:gd name="T53" fmla="*/ 7574 h 11874"/>
              <a:gd name="T54" fmla="*/ 2252 w 10646"/>
              <a:gd name="T55" fmla="*/ 7780 h 11874"/>
              <a:gd name="T56" fmla="*/ 8394 w 10646"/>
              <a:gd name="T57" fmla="*/ 7780 h 11874"/>
              <a:gd name="T58" fmla="*/ 8598 w 10646"/>
              <a:gd name="T59" fmla="*/ 7574 h 11874"/>
              <a:gd name="T60" fmla="*/ 8598 w 10646"/>
              <a:gd name="T61" fmla="*/ 7165 h 11874"/>
              <a:gd name="T62" fmla="*/ 8598 w 10646"/>
              <a:gd name="T63" fmla="*/ 9212 h 11874"/>
              <a:gd name="T64" fmla="*/ 8394 w 10646"/>
              <a:gd name="T65" fmla="*/ 9008 h 11874"/>
              <a:gd name="T66" fmla="*/ 2252 w 10646"/>
              <a:gd name="T67" fmla="*/ 9008 h 11874"/>
              <a:gd name="T68" fmla="*/ 2048 w 10646"/>
              <a:gd name="T69" fmla="*/ 9212 h 11874"/>
              <a:gd name="T70" fmla="*/ 2048 w 10646"/>
              <a:gd name="T71" fmla="*/ 9622 h 11874"/>
              <a:gd name="T72" fmla="*/ 2252 w 10646"/>
              <a:gd name="T73" fmla="*/ 9826 h 11874"/>
              <a:gd name="T74" fmla="*/ 8394 w 10646"/>
              <a:gd name="T75" fmla="*/ 9826 h 11874"/>
              <a:gd name="T76" fmla="*/ 8598 w 10646"/>
              <a:gd name="T77" fmla="*/ 9622 h 11874"/>
              <a:gd name="T78" fmla="*/ 8598 w 10646"/>
              <a:gd name="T79" fmla="*/ 9212 h 11874"/>
              <a:gd name="T80" fmla="*/ 4909 w 10646"/>
              <a:gd name="T81" fmla="*/ 2453 h 11874"/>
              <a:gd name="T82" fmla="*/ 3272 w 10646"/>
              <a:gd name="T83" fmla="*/ 2453 h 11874"/>
              <a:gd name="T84" fmla="*/ 3272 w 10646"/>
              <a:gd name="T85" fmla="*/ 818 h 11874"/>
              <a:gd name="T86" fmla="*/ 4091 w 10646"/>
              <a:gd name="T87" fmla="*/ 818 h 11874"/>
              <a:gd name="T88" fmla="*/ 4909 w 10646"/>
              <a:gd name="T89" fmla="*/ 0 h 11874"/>
              <a:gd name="T90" fmla="*/ 5727 w 10646"/>
              <a:gd name="T91" fmla="*/ 0 h 11874"/>
              <a:gd name="T92" fmla="*/ 6545 w 10646"/>
              <a:gd name="T93" fmla="*/ 818 h 11874"/>
              <a:gd name="T94" fmla="*/ 7363 w 10646"/>
              <a:gd name="T95" fmla="*/ 818 h 11874"/>
              <a:gd name="T96" fmla="*/ 7363 w 10646"/>
              <a:gd name="T97" fmla="*/ 2453 h 11874"/>
              <a:gd name="T98" fmla="*/ 4909 w 10646"/>
              <a:gd name="T99" fmla="*/ 2453 h 11874"/>
              <a:gd name="T100" fmla="*/ 4909 w 10646"/>
              <a:gd name="T101" fmla="*/ 2453 h 11874"/>
              <a:gd name="T102" fmla="*/ 5318 w 10646"/>
              <a:gd name="T103" fmla="*/ 689 h 11874"/>
              <a:gd name="T104" fmla="*/ 4806 w 10646"/>
              <a:gd name="T105" fmla="*/ 1201 h 11874"/>
              <a:gd name="T106" fmla="*/ 5318 w 10646"/>
              <a:gd name="T107" fmla="*/ 1712 h 11874"/>
              <a:gd name="T108" fmla="*/ 5829 w 10646"/>
              <a:gd name="T109" fmla="*/ 1201 h 11874"/>
              <a:gd name="T110" fmla="*/ 5318 w 10646"/>
              <a:gd name="T111" fmla="*/ 689 h 11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46" h="11874">
                <a:moveTo>
                  <a:pt x="8957" y="11874"/>
                </a:moveTo>
                <a:lnTo>
                  <a:pt x="1689" y="11874"/>
                </a:lnTo>
                <a:cubicBezTo>
                  <a:pt x="1031" y="11874"/>
                  <a:pt x="0" y="11047"/>
                  <a:pt x="0" y="10186"/>
                </a:cubicBezTo>
                <a:lnTo>
                  <a:pt x="0" y="3323"/>
                </a:lnTo>
                <a:cubicBezTo>
                  <a:pt x="0" y="2598"/>
                  <a:pt x="742" y="1635"/>
                  <a:pt x="1535" y="1635"/>
                </a:cubicBezTo>
                <a:lnTo>
                  <a:pt x="2454" y="1635"/>
                </a:lnTo>
                <a:lnTo>
                  <a:pt x="2454" y="3270"/>
                </a:lnTo>
                <a:lnTo>
                  <a:pt x="8181" y="3270"/>
                </a:lnTo>
                <a:lnTo>
                  <a:pt x="8181" y="1635"/>
                </a:lnTo>
                <a:lnTo>
                  <a:pt x="8985" y="1635"/>
                </a:lnTo>
                <a:cubicBezTo>
                  <a:pt x="9778" y="1635"/>
                  <a:pt x="10646" y="2368"/>
                  <a:pt x="10646" y="3328"/>
                </a:cubicBezTo>
                <a:lnTo>
                  <a:pt x="10646" y="10238"/>
                </a:lnTo>
                <a:cubicBezTo>
                  <a:pt x="10646" y="11235"/>
                  <a:pt x="9750" y="11874"/>
                  <a:pt x="8957" y="11874"/>
                </a:cubicBezTo>
                <a:close/>
                <a:moveTo>
                  <a:pt x="8598" y="5118"/>
                </a:moveTo>
                <a:cubicBezTo>
                  <a:pt x="8598" y="5006"/>
                  <a:pt x="8507" y="4913"/>
                  <a:pt x="8394" y="4913"/>
                </a:cubicBezTo>
                <a:lnTo>
                  <a:pt x="2252" y="4913"/>
                </a:lnTo>
                <a:cubicBezTo>
                  <a:pt x="2139" y="4913"/>
                  <a:pt x="2048" y="5006"/>
                  <a:pt x="2048" y="5118"/>
                </a:cubicBezTo>
                <a:lnTo>
                  <a:pt x="2048" y="5528"/>
                </a:lnTo>
                <a:cubicBezTo>
                  <a:pt x="2048" y="5641"/>
                  <a:pt x="2139" y="5732"/>
                  <a:pt x="2252" y="5732"/>
                </a:cubicBezTo>
                <a:lnTo>
                  <a:pt x="8394" y="5732"/>
                </a:lnTo>
                <a:cubicBezTo>
                  <a:pt x="8507" y="5732"/>
                  <a:pt x="8598" y="5641"/>
                  <a:pt x="8598" y="5528"/>
                </a:cubicBezTo>
                <a:lnTo>
                  <a:pt x="8598" y="5118"/>
                </a:lnTo>
                <a:close/>
                <a:moveTo>
                  <a:pt x="8598" y="7165"/>
                </a:moveTo>
                <a:cubicBezTo>
                  <a:pt x="8598" y="7052"/>
                  <a:pt x="8507" y="6961"/>
                  <a:pt x="8394" y="6961"/>
                </a:cubicBezTo>
                <a:lnTo>
                  <a:pt x="2252" y="6961"/>
                </a:lnTo>
                <a:cubicBezTo>
                  <a:pt x="2139" y="6961"/>
                  <a:pt x="2048" y="7052"/>
                  <a:pt x="2048" y="7165"/>
                </a:cubicBezTo>
                <a:lnTo>
                  <a:pt x="2048" y="7574"/>
                </a:lnTo>
                <a:cubicBezTo>
                  <a:pt x="2048" y="7688"/>
                  <a:pt x="2139" y="7780"/>
                  <a:pt x="2252" y="7780"/>
                </a:cubicBezTo>
                <a:lnTo>
                  <a:pt x="8394" y="7780"/>
                </a:lnTo>
                <a:cubicBezTo>
                  <a:pt x="8507" y="7780"/>
                  <a:pt x="8598" y="7688"/>
                  <a:pt x="8598" y="7574"/>
                </a:cubicBezTo>
                <a:lnTo>
                  <a:pt x="8598" y="7165"/>
                </a:lnTo>
                <a:close/>
                <a:moveTo>
                  <a:pt x="8598" y="9212"/>
                </a:moveTo>
                <a:cubicBezTo>
                  <a:pt x="8598" y="9100"/>
                  <a:pt x="8507" y="9008"/>
                  <a:pt x="8394" y="9008"/>
                </a:cubicBezTo>
                <a:lnTo>
                  <a:pt x="2252" y="9008"/>
                </a:lnTo>
                <a:cubicBezTo>
                  <a:pt x="2139" y="9008"/>
                  <a:pt x="2048" y="9100"/>
                  <a:pt x="2048" y="9212"/>
                </a:cubicBezTo>
                <a:lnTo>
                  <a:pt x="2048" y="9622"/>
                </a:lnTo>
                <a:cubicBezTo>
                  <a:pt x="2048" y="9735"/>
                  <a:pt x="2139" y="9826"/>
                  <a:pt x="2252" y="9826"/>
                </a:cubicBezTo>
                <a:lnTo>
                  <a:pt x="8394" y="9826"/>
                </a:lnTo>
                <a:cubicBezTo>
                  <a:pt x="8507" y="9826"/>
                  <a:pt x="8598" y="9735"/>
                  <a:pt x="8598" y="9622"/>
                </a:cubicBezTo>
                <a:lnTo>
                  <a:pt x="8598" y="9212"/>
                </a:lnTo>
                <a:close/>
                <a:moveTo>
                  <a:pt x="4909" y="2453"/>
                </a:moveTo>
                <a:lnTo>
                  <a:pt x="3272" y="2453"/>
                </a:lnTo>
                <a:lnTo>
                  <a:pt x="3272" y="818"/>
                </a:lnTo>
                <a:lnTo>
                  <a:pt x="4091" y="818"/>
                </a:lnTo>
                <a:cubicBezTo>
                  <a:pt x="4091" y="367"/>
                  <a:pt x="4457" y="0"/>
                  <a:pt x="4909" y="0"/>
                </a:cubicBezTo>
                <a:lnTo>
                  <a:pt x="5727" y="0"/>
                </a:lnTo>
                <a:cubicBezTo>
                  <a:pt x="6178" y="0"/>
                  <a:pt x="6545" y="367"/>
                  <a:pt x="6545" y="818"/>
                </a:cubicBezTo>
                <a:lnTo>
                  <a:pt x="7363" y="818"/>
                </a:lnTo>
                <a:lnTo>
                  <a:pt x="7363" y="2453"/>
                </a:lnTo>
                <a:lnTo>
                  <a:pt x="4909" y="2453"/>
                </a:lnTo>
                <a:lnTo>
                  <a:pt x="4909" y="2453"/>
                </a:lnTo>
                <a:close/>
                <a:moveTo>
                  <a:pt x="5318" y="689"/>
                </a:moveTo>
                <a:cubicBezTo>
                  <a:pt x="5035" y="689"/>
                  <a:pt x="4806" y="919"/>
                  <a:pt x="4806" y="1201"/>
                </a:cubicBezTo>
                <a:cubicBezTo>
                  <a:pt x="4806" y="1483"/>
                  <a:pt x="5035" y="1712"/>
                  <a:pt x="5318" y="1712"/>
                </a:cubicBezTo>
                <a:cubicBezTo>
                  <a:pt x="5600" y="1712"/>
                  <a:pt x="5829" y="1483"/>
                  <a:pt x="5829" y="1201"/>
                </a:cubicBezTo>
                <a:cubicBezTo>
                  <a:pt x="5829" y="919"/>
                  <a:pt x="5600" y="689"/>
                  <a:pt x="5318" y="689"/>
                </a:cubicBezTo>
                <a:close/>
              </a:path>
            </a:pathLst>
          </a:custGeom>
          <a:gradFill flip="none" rotWithShape="1">
            <a:gsLst>
              <a:gs pos="68000">
                <a:srgbClr val="FFFFFF"/>
              </a:gs>
              <a:gs pos="0">
                <a:srgbClr val="FFFFFF">
                  <a:alpha val="0"/>
                </a:srgbClr>
              </a:gs>
            </a:gsLst>
            <a:lin ang="7200000" scaled="0"/>
            <a:tileRect/>
          </a:gradFill>
          <a:ln w="391" cap="flat">
            <a:noFill/>
            <a:prstDash val="solid"/>
            <a:miter/>
          </a:ln>
        </p:spPr>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dirty="0">
              <a:latin typeface="微软雅黑"/>
              <a:ea typeface="微软雅黑"/>
              <a:cs typeface="微软雅黑"/>
            </a:endParaRPr>
          </a:p>
        </p:txBody>
      </p:sp>
      <p:sp>
        <p:nvSpPr>
          <p:cNvPr id="95" name="文本框 94"/>
          <p:cNvSpPr txBox="1"/>
          <p:nvPr/>
        </p:nvSpPr>
        <p:spPr>
          <a:xfrm>
            <a:off x="4009390" y="5005095"/>
            <a:ext cx="4013200" cy="674283"/>
          </a:xfrm>
          <a:prstGeom prst="rect">
            <a:avLst/>
          </a:prstGeom>
          <a:noFill/>
        </p:spPr>
        <p:txBody>
          <a:bodyPr wrap="none" rtlCol="0" lIns="0" rIns="0" tIns="0" bIns="0">
            <a:prstTxWarp prst="textArchDown">
              <a:avLst/>
            </a:prstTxWarp>
            <a:spAutoFit/>
          </a:bodyPr>
          <a:lstStyle/>
          <a:p>
            <a:pPr algn="ctr">
              <a:lnSpc>
                <a:spcPct val="130000"/>
              </a:lnSpc>
              <a:defRPr>
                <a:latin typeface="微软雅黑"/>
                <a:ea typeface="微软雅黑"/>
                <a:cs typeface="微软雅黑"/>
              </a:defRPr>
            </a:pPr>
            <a:r>
              <a:rPr lang="zh-CN" altLang="en-US" sz="1000" spc="300">
                <a:solidFill>
                  <a:srgbClr val="383838"/>
                </a:solidFill>
                <a:latin typeface="微软雅黑"/>
                <a:ea typeface="微软雅黑"/>
                <a:cs typeface="微软雅黑"/>
              </a:rPr>
              <a:t>甲乙一体化</a:t>
            </a:r>
            <a:endParaRPr lang="en-US" altLang="zh-CN" sz="1000" spc="300">
              <a:solidFill>
                <a:srgbClr val="383838"/>
              </a:solidFill>
              <a:latin typeface="微软雅黑"/>
              <a:ea typeface="微软雅黑"/>
              <a:cs typeface="微软雅黑"/>
            </a:endParaRPr>
          </a:p>
          <a:p>
            <a:pPr algn="ctr">
              <a:lnSpc>
                <a:spcPct val="130000"/>
              </a:lnSpc>
              <a:defRPr>
                <a:latin typeface="微软雅黑"/>
                <a:ea typeface="微软雅黑"/>
                <a:cs typeface="微软雅黑"/>
              </a:defRPr>
            </a:pPr>
            <a:r>
              <a:rPr lang="zh-CN" altLang="en-US" sz="1000" spc="300">
                <a:solidFill>
                  <a:srgbClr val="383838"/>
                </a:solidFill>
                <a:latin typeface="微软雅黑"/>
                <a:ea typeface="微软雅黑"/>
                <a:cs typeface="微软雅黑"/>
              </a:rPr>
              <a:t>数据联动和价值链协同</a:t>
            </a:r>
            <a:endParaRPr lang="zh-CN" altLang="en-US" sz="1000" spc="300">
              <a:solidFill>
                <a:srgbClr val="383838"/>
              </a:solidFill>
              <a:latin typeface="微软雅黑"/>
              <a:ea typeface="微软雅黑"/>
              <a:cs typeface="微软雅黑"/>
            </a:endParaRPr>
          </a:p>
        </p:txBody>
      </p:sp>
      <p:sp>
        <p:nvSpPr>
          <p:cNvPr id="73" name="圆角矩形 12"/>
          <p:cNvSpPr/>
          <p:nvPr/>
        </p:nvSpPr>
        <p:spPr>
          <a:xfrm>
            <a:off x="5206365" y="5091863"/>
            <a:ext cx="1619250" cy="350734"/>
          </a:xfrm>
          <a:prstGeom prst="roundRect">
            <a:avLst>
              <a:gd name="adj" fmla="val 50000"/>
            </a:avLst>
          </a:prstGeom>
          <a:gradFill flip="none" rotWithShape="1">
            <a:gsLst>
              <a:gs pos="0">
                <a:srgbClr val="3368FF"/>
              </a:gs>
              <a:gs pos="99000">
                <a:srgbClr val="0042FF"/>
              </a:gs>
            </a:gsLst>
            <a:lin ang="0" scaled="1"/>
            <a:tileRect/>
          </a:gradFill>
          <a:ln w="130175">
            <a:solidFill>
              <a:srgbClr val="0042FF">
                <a:alpha val="10000"/>
              </a:srgbClr>
            </a:soli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02" name="文本框 101"/>
          <p:cNvSpPr txBox="1"/>
          <p:nvPr/>
        </p:nvSpPr>
        <p:spPr>
          <a:xfrm>
            <a:off x="5564585" y="5113342"/>
            <a:ext cx="902811" cy="307777"/>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甲乙联动</a:t>
            </a:r>
            <a:endParaRPr lang="zh-CN" altLang="en-US" sz="1400">
              <a:solidFill>
                <a:srgbClr val="FFFFFF"/>
              </a:solidFill>
              <a:latin typeface="微软雅黑"/>
              <a:ea typeface="微软雅黑"/>
              <a:cs typeface="微软雅黑"/>
            </a:endParaRPr>
          </a:p>
        </p:txBody>
      </p:sp>
      <p:sp>
        <p:nvSpPr>
          <p:cNvPr id="82" name="圆角矩形 12"/>
          <p:cNvSpPr/>
          <p:nvPr/>
        </p:nvSpPr>
        <p:spPr>
          <a:xfrm>
            <a:off x="5375434" y="2117291"/>
            <a:ext cx="1281112" cy="259806"/>
          </a:xfrm>
          <a:prstGeom prst="roundRect">
            <a:avLst>
              <a:gd name="adj" fmla="val 50000"/>
            </a:avLst>
          </a:prstGeom>
          <a:gradFill flip="none" rotWithShape="1">
            <a:gsLst>
              <a:gs pos="0">
                <a:srgbClr val="3368FF"/>
              </a:gs>
              <a:gs pos="99000">
                <a:srgbClr val="0042FF"/>
              </a:gs>
            </a:gsLst>
            <a:lin ang="0" scaled="1"/>
            <a:tileRect/>
          </a:gradFill>
          <a:ln w="130175">
            <a:solidFill>
              <a:srgbClr val="0042FF">
                <a:alpha val="10000"/>
              </a:srgbClr>
            </a:soli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04" name="文本框 103"/>
          <p:cNvSpPr txBox="1"/>
          <p:nvPr/>
        </p:nvSpPr>
        <p:spPr>
          <a:xfrm>
            <a:off x="5564586" y="2093306"/>
            <a:ext cx="902811" cy="307777"/>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企项一体</a:t>
            </a:r>
            <a:endParaRPr lang="zh-CN" altLang="en-US" sz="1400">
              <a:solidFill>
                <a:srgbClr val="FFFFFF"/>
              </a:solidFill>
              <a:latin typeface="微软雅黑"/>
              <a:ea typeface="微软雅黑"/>
              <a:cs typeface="微软雅黑"/>
            </a:endParaRPr>
          </a:p>
        </p:txBody>
      </p:sp>
      <p:sp>
        <p:nvSpPr>
          <p:cNvPr id="83" name="椭圆 82"/>
          <p:cNvSpPr/>
          <p:nvPr/>
        </p:nvSpPr>
        <p:spPr>
          <a:xfrm>
            <a:off x="3089304" y="1170438"/>
            <a:ext cx="5960282" cy="379540"/>
          </a:xfrm>
          <a:prstGeom prst="ellipse">
            <a:avLst/>
          </a:prstGeom>
          <a:gradFill>
            <a:gsLst>
              <a:gs pos="72000">
                <a:srgbClr val="FFFFFF">
                  <a:alpha val="0"/>
                </a:srgbClr>
              </a:gs>
              <a:gs pos="100000">
                <a:srgbClr val="FFFFFF"/>
              </a:gs>
            </a:gsLst>
            <a:lin ang="5400000" scaled="1"/>
          </a:gradFill>
          <a:ln w="38100">
            <a:gradFill>
              <a:gsLst>
                <a:gs pos="24000">
                  <a:srgbClr val="3368FF">
                    <a:alpha val="0"/>
                  </a:srgbClr>
                </a:gs>
                <a:gs pos="100000">
                  <a:srgbClr val="3368FF"/>
                </a:gs>
              </a:gsLst>
              <a:lin ang="5400000" scaled="1"/>
            </a:gradFill>
          </a:ln>
          <a:effectLst>
            <a:outerShdw blurRad="101600" dist="381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grpSp>
        <p:nvGrpSpPr>
          <p:cNvPr id="84" name="组合 83"/>
          <p:cNvGrpSpPr/>
          <p:nvPr/>
        </p:nvGrpSpPr>
        <p:grpSpPr>
          <a:xfrm>
            <a:off x="4078080" y="1029692"/>
            <a:ext cx="890706" cy="307777"/>
            <a:chOff x="4024567" y="926822"/>
            <a:chExt cx="890706" cy="307777"/>
          </a:xfrm>
        </p:grpSpPr>
        <p:sp>
          <p:nvSpPr>
            <p:cNvPr id="85"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94" name="文本框 93"/>
            <p:cNvSpPr txBox="1"/>
            <p:nvPr/>
          </p:nvSpPr>
          <p:spPr>
            <a:xfrm>
              <a:off x="4260760" y="945670"/>
              <a:ext cx="418320" cy="270081"/>
            </a:xfrm>
            <a:prstGeom prst="rect">
              <a:avLst/>
            </a:prstGeom>
            <a:noFill/>
          </p:spPr>
          <p:txBody>
            <a:bodyPr wrap="non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a:solidFill>
                    <a:srgbClr val="FFFFFF"/>
                  </a:solidFill>
                  <a:latin typeface="微软雅黑"/>
                  <a:ea typeface="微软雅黑"/>
                  <a:cs typeface="微软雅黑"/>
                </a:rPr>
                <a:t>企业</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3" name="组合 2"/>
          <p:cNvGrpSpPr/>
          <p:nvPr/>
        </p:nvGrpSpPr>
        <p:grpSpPr>
          <a:xfrm>
            <a:off x="8738235" y="348615"/>
            <a:ext cx="3219450" cy="332740"/>
            <a:chOff x="13761" y="549"/>
            <a:chExt cx="5070" cy="524"/>
          </a:xfrm>
        </p:grpSpPr>
        <p:pic>
          <p:nvPicPr>
            <p:cNvPr id="2" name="图片 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86" name="显眼包PPT"/>
          <p:cNvGrpSpPr/>
          <p:nvPr/>
        </p:nvGrpSpPr>
        <p:grpSpPr>
          <a:xfrm>
            <a:off x="788035" y="3411220"/>
            <a:ext cx="570865" cy="571642"/>
            <a:chOff x="2104935" y="2274814"/>
            <a:chExt cx="1060631" cy="1060631"/>
          </a:xfrm>
        </p:grpSpPr>
        <p:sp>
          <p:nvSpPr>
            <p:cNvPr id="88"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89" name="显眼包PPT-4"/>
            <p:cNvSpPr txBox="1"/>
            <p:nvPr/>
          </p:nvSpPr>
          <p:spPr>
            <a:xfrm>
              <a:off x="2202441" y="2606103"/>
              <a:ext cx="865622" cy="39940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400" b="0" i="0" u="none" strike="noStrike" kern="1200" cap="none" spc="0" normalizeH="0" baseline="0" noProof="0" dirty="0">
                  <a:ln>
                    <a:noFill/>
                  </a:ln>
                  <a:solidFill>
                    <a:srgbClr val="0042FF"/>
                  </a:solidFill>
                  <a:effectLst/>
                  <a:uLnTx/>
                  <a:uFillTx/>
                  <a:latin typeface="微软雅黑"/>
                  <a:ea typeface="微软雅黑"/>
                  <a:cs typeface="微软雅黑"/>
                </a:rPr>
                <a:t>产品</a:t>
              </a:r>
              <a:endParaRPr kumimoji="0" lang="zh-CN"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90" name="显眼包PPT"/>
          <p:cNvGrpSpPr/>
          <p:nvPr/>
        </p:nvGrpSpPr>
        <p:grpSpPr>
          <a:xfrm>
            <a:off x="1550670" y="3113405"/>
            <a:ext cx="570865" cy="571642"/>
            <a:chOff x="2104935" y="2274814"/>
            <a:chExt cx="1060631" cy="1060631"/>
          </a:xfrm>
        </p:grpSpPr>
        <p:sp>
          <p:nvSpPr>
            <p:cNvPr id="91"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96" name="显眼包PPT-4"/>
            <p:cNvSpPr txBox="1"/>
            <p:nvPr/>
          </p:nvSpPr>
          <p:spPr>
            <a:xfrm>
              <a:off x="2202441" y="2606103"/>
              <a:ext cx="865622" cy="39940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400" b="0" i="0" u="none" strike="noStrike" kern="1200" cap="none" spc="0" normalizeH="0" baseline="0" noProof="0" dirty="0">
                  <a:ln>
                    <a:noFill/>
                  </a:ln>
                  <a:solidFill>
                    <a:srgbClr val="0042FF"/>
                  </a:solidFill>
                  <a:effectLst/>
                  <a:uLnTx/>
                  <a:uFillTx/>
                  <a:latin typeface="微软雅黑"/>
                  <a:ea typeface="微软雅黑"/>
                  <a:cs typeface="微软雅黑"/>
                </a:rPr>
                <a:t>经营</a:t>
              </a:r>
              <a:endParaRPr kumimoji="0" lang="zh-CN"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03" name="显眼包PPT"/>
          <p:cNvGrpSpPr/>
          <p:nvPr/>
        </p:nvGrpSpPr>
        <p:grpSpPr>
          <a:xfrm>
            <a:off x="1412875" y="3982720"/>
            <a:ext cx="655955" cy="656590"/>
            <a:chOff x="2104935" y="2274814"/>
            <a:chExt cx="1060631" cy="1060631"/>
          </a:xfrm>
        </p:grpSpPr>
        <p:sp>
          <p:nvSpPr>
            <p:cNvPr id="106"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alpha val="60000"/>
                  </a:srgbClr>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7" name="显眼包PPT-4"/>
            <p:cNvSpPr txBox="1"/>
            <p:nvPr/>
          </p:nvSpPr>
          <p:spPr>
            <a:xfrm>
              <a:off x="2202441" y="2606103"/>
              <a:ext cx="865622" cy="34773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400" b="0" i="0" u="none" strike="noStrike" kern="1200" cap="none" spc="0" normalizeH="0" baseline="0" noProof="0" dirty="0">
                  <a:ln>
                    <a:noFill/>
                  </a:ln>
                  <a:solidFill>
                    <a:srgbClr val="0042FF"/>
                  </a:solidFill>
                  <a:effectLst/>
                  <a:uLnTx/>
                  <a:uFillTx/>
                  <a:latin typeface="微软雅黑"/>
                  <a:ea typeface="微软雅黑"/>
                  <a:cs typeface="微软雅黑"/>
                </a:rPr>
                <a:t>现场</a:t>
              </a:r>
              <a:endParaRPr kumimoji="0" lang="zh-CN"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24" name="显眼包PPT"/>
          <p:cNvGrpSpPr/>
          <p:nvPr/>
        </p:nvGrpSpPr>
        <p:grpSpPr>
          <a:xfrm>
            <a:off x="10104755" y="2957830"/>
            <a:ext cx="570865" cy="571642"/>
            <a:chOff x="2104935" y="2274814"/>
            <a:chExt cx="1060631" cy="1060631"/>
          </a:xfrm>
        </p:grpSpPr>
        <p:sp>
          <p:nvSpPr>
            <p:cNvPr id="125"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6" name="显眼包PPT-4"/>
            <p:cNvSpPr txBox="1"/>
            <p:nvPr/>
          </p:nvSpPr>
          <p:spPr>
            <a:xfrm>
              <a:off x="2202441" y="2606103"/>
              <a:ext cx="865622" cy="39940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rPr>
                <a:t>研发</a:t>
              </a:r>
              <a:endPar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27" name="显眼包PPT"/>
          <p:cNvGrpSpPr/>
          <p:nvPr/>
        </p:nvGrpSpPr>
        <p:grpSpPr>
          <a:xfrm>
            <a:off x="10730865" y="2447925"/>
            <a:ext cx="644525" cy="653415"/>
            <a:chOff x="2104935" y="2274814"/>
            <a:chExt cx="1060631" cy="1060631"/>
          </a:xfrm>
        </p:grpSpPr>
        <p:sp>
          <p:nvSpPr>
            <p:cNvPr id="128"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alpha val="60000"/>
                  </a:srgbClr>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9" name="显眼包PPT-4"/>
            <p:cNvSpPr txBox="1"/>
            <p:nvPr/>
          </p:nvSpPr>
          <p:spPr>
            <a:xfrm>
              <a:off x="2202441" y="2606103"/>
              <a:ext cx="865622" cy="3494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rPr>
                <a:t>招采</a:t>
              </a:r>
              <a:endPar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30" name="显眼包PPT"/>
          <p:cNvGrpSpPr/>
          <p:nvPr/>
        </p:nvGrpSpPr>
        <p:grpSpPr>
          <a:xfrm>
            <a:off x="10132695" y="3766820"/>
            <a:ext cx="653415" cy="654685"/>
            <a:chOff x="2104935" y="2274814"/>
            <a:chExt cx="1060631" cy="1060631"/>
          </a:xfrm>
        </p:grpSpPr>
        <p:sp>
          <p:nvSpPr>
            <p:cNvPr id="131"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32" name="显眼包PPT-4"/>
            <p:cNvSpPr txBox="1"/>
            <p:nvPr/>
          </p:nvSpPr>
          <p:spPr>
            <a:xfrm>
              <a:off x="2202441" y="2606103"/>
              <a:ext cx="865622" cy="3487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rPr>
                <a:t>营销</a:t>
              </a:r>
              <a:endPar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33" name="显眼包PPT"/>
          <p:cNvGrpSpPr/>
          <p:nvPr/>
        </p:nvGrpSpPr>
        <p:grpSpPr>
          <a:xfrm>
            <a:off x="10923270" y="3399790"/>
            <a:ext cx="570865" cy="571642"/>
            <a:chOff x="2104935" y="2274814"/>
            <a:chExt cx="1060631" cy="1060631"/>
          </a:xfrm>
        </p:grpSpPr>
        <p:sp>
          <p:nvSpPr>
            <p:cNvPr id="134"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35" name="显眼包PPT-4"/>
            <p:cNvSpPr txBox="1"/>
            <p:nvPr/>
          </p:nvSpPr>
          <p:spPr>
            <a:xfrm>
              <a:off x="2202441" y="2606103"/>
              <a:ext cx="865622" cy="39940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rPr>
                <a:t>成本</a:t>
              </a:r>
              <a:endPar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36" name="显眼包PPT"/>
          <p:cNvGrpSpPr/>
          <p:nvPr/>
        </p:nvGrpSpPr>
        <p:grpSpPr>
          <a:xfrm>
            <a:off x="10704830" y="4410710"/>
            <a:ext cx="570865" cy="571642"/>
            <a:chOff x="2104935" y="2274814"/>
            <a:chExt cx="1060631" cy="1060631"/>
          </a:xfrm>
        </p:grpSpPr>
        <p:sp>
          <p:nvSpPr>
            <p:cNvPr id="137" name="显眼包PPT-2"/>
            <p:cNvSpPr/>
            <p:nvPr/>
          </p:nvSpPr>
          <p:spPr>
            <a:xfrm>
              <a:off x="2104935" y="2274814"/>
              <a:ext cx="1060631" cy="1060631"/>
            </a:xfrm>
            <a:prstGeom prst="ellipse">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38" name="显眼包PPT-4"/>
            <p:cNvSpPr txBox="1"/>
            <p:nvPr/>
          </p:nvSpPr>
          <p:spPr>
            <a:xfrm>
              <a:off x="2202441" y="2606103"/>
              <a:ext cx="865622" cy="39940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rPr>
                <a:t>客服</a:t>
              </a:r>
              <a:endParaRPr kumimoji="0" lang="zh-CN" altLang="en-US" sz="14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44" name="组合 143"/>
          <p:cNvGrpSpPr/>
          <p:nvPr/>
        </p:nvGrpSpPr>
        <p:grpSpPr>
          <a:xfrm>
            <a:off x="5570330" y="1029692"/>
            <a:ext cx="890706" cy="307777"/>
            <a:chOff x="4024567" y="926822"/>
            <a:chExt cx="890706" cy="307777"/>
          </a:xfrm>
        </p:grpSpPr>
        <p:sp>
          <p:nvSpPr>
            <p:cNvPr id="145"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46" name="文本框 145"/>
            <p:cNvSpPr txBox="1"/>
            <p:nvPr/>
          </p:nvSpPr>
          <p:spPr>
            <a:xfrm>
              <a:off x="4200682" y="927358"/>
              <a:ext cx="538480" cy="306705"/>
            </a:xfrm>
            <a:prstGeom prst="rect">
              <a:avLst/>
            </a:prstGeom>
            <a:noFill/>
          </p:spPr>
          <p:txBody>
            <a:bodyPr wrap="non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rPr>
                <a:t>区域</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50" name="组合 149"/>
          <p:cNvGrpSpPr/>
          <p:nvPr/>
        </p:nvGrpSpPr>
        <p:grpSpPr>
          <a:xfrm>
            <a:off x="7063215" y="1053822"/>
            <a:ext cx="890706" cy="307777"/>
            <a:chOff x="4024567" y="926822"/>
            <a:chExt cx="890706" cy="307777"/>
          </a:xfrm>
        </p:grpSpPr>
        <p:sp>
          <p:nvSpPr>
            <p:cNvPr id="151"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52" name="文本框 151"/>
            <p:cNvSpPr txBox="1"/>
            <p:nvPr/>
          </p:nvSpPr>
          <p:spPr>
            <a:xfrm>
              <a:off x="4200682" y="927358"/>
              <a:ext cx="538480" cy="306705"/>
            </a:xfrm>
            <a:prstGeom prst="rect">
              <a:avLst/>
            </a:prstGeom>
            <a:noFill/>
          </p:spPr>
          <p:txBody>
            <a:bodyPr wrap="non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rPr>
                <a:t>项目</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305" name="显眼包PPT-2"/>
          <p:cNvSpPr/>
          <p:nvPr/>
        </p:nvSpPr>
        <p:spPr>
          <a:xfrm>
            <a:off x="7406005" y="1449705"/>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55" name="显眼包PPT-2"/>
          <p:cNvSpPr/>
          <p:nvPr/>
        </p:nvSpPr>
        <p:spPr>
          <a:xfrm>
            <a:off x="5967730" y="1478280"/>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57" name="显眼包PPT-2"/>
          <p:cNvSpPr/>
          <p:nvPr/>
        </p:nvSpPr>
        <p:spPr>
          <a:xfrm>
            <a:off x="4420870" y="1449705"/>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grpSp>
        <p:nvGrpSpPr>
          <p:cNvPr id="182" name="组合 181"/>
          <p:cNvGrpSpPr/>
          <p:nvPr/>
        </p:nvGrpSpPr>
        <p:grpSpPr>
          <a:xfrm>
            <a:off x="2451735" y="5892800"/>
            <a:ext cx="1158875" cy="351155"/>
            <a:chOff x="4024567" y="926822"/>
            <a:chExt cx="890706" cy="307777"/>
          </a:xfrm>
        </p:grpSpPr>
        <p:sp>
          <p:nvSpPr>
            <p:cNvPr id="183"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84" name="文本框 183"/>
            <p:cNvSpPr txBox="1"/>
            <p:nvPr/>
          </p:nvSpPr>
          <p:spPr>
            <a:xfrm>
              <a:off x="4171189" y="946302"/>
              <a:ext cx="605939" cy="268818"/>
            </a:xfrm>
            <a:prstGeom prst="rect">
              <a:avLst/>
            </a:prstGeom>
            <a:noFill/>
          </p:spPr>
          <p:txBody>
            <a:bodyPr wrap="squar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a:solidFill>
                    <a:srgbClr val="FFFFFF"/>
                  </a:solidFill>
                  <a:latin typeface="微软雅黑"/>
                  <a:ea typeface="微软雅黑"/>
                  <a:cs typeface="微软雅黑"/>
                </a:rPr>
                <a:t>设计方</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85" name="组合 184"/>
          <p:cNvGrpSpPr/>
          <p:nvPr/>
        </p:nvGrpSpPr>
        <p:grpSpPr>
          <a:xfrm>
            <a:off x="3948430" y="6005830"/>
            <a:ext cx="1158875" cy="351155"/>
            <a:chOff x="4024567" y="926822"/>
            <a:chExt cx="890706" cy="307777"/>
          </a:xfrm>
        </p:grpSpPr>
        <p:sp>
          <p:nvSpPr>
            <p:cNvPr id="186"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87" name="文本框 186"/>
            <p:cNvSpPr txBox="1"/>
            <p:nvPr/>
          </p:nvSpPr>
          <p:spPr>
            <a:xfrm>
              <a:off x="4171189" y="946302"/>
              <a:ext cx="605939" cy="268818"/>
            </a:xfrm>
            <a:prstGeom prst="rect">
              <a:avLst/>
            </a:prstGeom>
            <a:noFill/>
          </p:spPr>
          <p:txBody>
            <a:bodyPr wrap="squar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a:solidFill>
                    <a:srgbClr val="FFFFFF"/>
                  </a:solidFill>
                  <a:latin typeface="微软雅黑"/>
                  <a:ea typeface="微软雅黑"/>
                  <a:cs typeface="微软雅黑"/>
                </a:rPr>
                <a:t>监理方</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88" name="组合 187"/>
          <p:cNvGrpSpPr/>
          <p:nvPr/>
        </p:nvGrpSpPr>
        <p:grpSpPr>
          <a:xfrm>
            <a:off x="5440680" y="6033770"/>
            <a:ext cx="1158875" cy="351155"/>
            <a:chOff x="4024567" y="926822"/>
            <a:chExt cx="890706" cy="307777"/>
          </a:xfrm>
        </p:grpSpPr>
        <p:sp>
          <p:nvSpPr>
            <p:cNvPr id="189"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90" name="文本框 189"/>
            <p:cNvSpPr txBox="1"/>
            <p:nvPr/>
          </p:nvSpPr>
          <p:spPr>
            <a:xfrm>
              <a:off x="4171189" y="946302"/>
              <a:ext cx="605939" cy="268818"/>
            </a:xfrm>
            <a:prstGeom prst="rect">
              <a:avLst/>
            </a:prstGeom>
            <a:noFill/>
          </p:spPr>
          <p:txBody>
            <a:bodyPr wrap="squar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a:solidFill>
                    <a:srgbClr val="FFFFFF"/>
                  </a:solidFill>
                  <a:latin typeface="微软雅黑"/>
                  <a:ea typeface="微软雅黑"/>
                  <a:cs typeface="微软雅黑"/>
                </a:rPr>
                <a:t>施工方</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91" name="组合 190"/>
          <p:cNvGrpSpPr/>
          <p:nvPr/>
        </p:nvGrpSpPr>
        <p:grpSpPr>
          <a:xfrm>
            <a:off x="6934200" y="6001385"/>
            <a:ext cx="1158875" cy="351155"/>
            <a:chOff x="4024567" y="926822"/>
            <a:chExt cx="890706" cy="307777"/>
          </a:xfrm>
        </p:grpSpPr>
        <p:sp>
          <p:nvSpPr>
            <p:cNvPr id="192"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93" name="文本框 192"/>
            <p:cNvSpPr txBox="1"/>
            <p:nvPr/>
          </p:nvSpPr>
          <p:spPr>
            <a:xfrm>
              <a:off x="4171189" y="946302"/>
              <a:ext cx="605939" cy="268818"/>
            </a:xfrm>
            <a:prstGeom prst="rect">
              <a:avLst/>
            </a:prstGeom>
            <a:noFill/>
          </p:spPr>
          <p:txBody>
            <a:bodyPr wrap="squar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a:solidFill>
                    <a:srgbClr val="FFFFFF"/>
                  </a:solidFill>
                  <a:latin typeface="微软雅黑"/>
                  <a:ea typeface="微软雅黑"/>
                  <a:cs typeface="微软雅黑"/>
                </a:rPr>
                <a:t>供应方</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94" name="组合 193"/>
          <p:cNvGrpSpPr/>
          <p:nvPr/>
        </p:nvGrpSpPr>
        <p:grpSpPr>
          <a:xfrm>
            <a:off x="8423275" y="5892800"/>
            <a:ext cx="1158875" cy="351155"/>
            <a:chOff x="4024567" y="926822"/>
            <a:chExt cx="890706" cy="307777"/>
          </a:xfrm>
        </p:grpSpPr>
        <p:sp>
          <p:nvSpPr>
            <p:cNvPr id="195" name="圆角矩形 12"/>
            <p:cNvSpPr/>
            <p:nvPr/>
          </p:nvSpPr>
          <p:spPr>
            <a:xfrm>
              <a:off x="4024567" y="926822"/>
              <a:ext cx="890706" cy="307777"/>
            </a:xfrm>
            <a:prstGeom prst="roundRect">
              <a:avLst>
                <a:gd name="adj" fmla="val 50000"/>
              </a:avLst>
            </a:prstGeom>
            <a:gradFill flip="none" rotWithShape="1">
              <a:gsLst>
                <a:gs pos="0">
                  <a:srgbClr val="668EFF"/>
                </a:gs>
                <a:gs pos="99000">
                  <a:srgbClr val="3368FF"/>
                </a:gs>
              </a:gsLst>
              <a:lin ang="0" scaled="1"/>
              <a:tileRect/>
            </a:gradFill>
            <a:ln>
              <a:solidFill>
                <a:srgbClr val="FFFFFF"/>
              </a:solid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96" name="文本框 195"/>
            <p:cNvSpPr txBox="1"/>
            <p:nvPr/>
          </p:nvSpPr>
          <p:spPr>
            <a:xfrm>
              <a:off x="4171189" y="946302"/>
              <a:ext cx="605939" cy="268818"/>
            </a:xfrm>
            <a:prstGeom prst="rect">
              <a:avLst/>
            </a:prstGeom>
            <a:noFill/>
          </p:spPr>
          <p:txBody>
            <a:bodyPr wrap="square" rtlCol="0" anchor="ctr" anchorCtr="0" lIns="0" rIns="0" tIns="0" bIns="0">
              <a:spAutoFit/>
            </a:bodyPr>
            <a:lstStyle/>
            <a:p>
              <a:pPr marR="0" lvl="0" algn="ctr" defTabSz="457200" rtl="0" eaLnBrk="1" fontAlgn="auto" latinLnBrk="0" hangingPunct="1">
                <a:lnSpc>
                  <a:spcPct val="100000"/>
                </a:lnSpc>
                <a:spcBef>
                  <a:spcPts val="0"/>
                </a:spcBef>
                <a:spcAft>
                  <a:spcPts val="0"/>
                </a:spcAft>
                <a:buClrTx/>
                <a:buSzTx/>
                <a:defRPr>
                  <a:solidFill>
                    <a:srgbClr val="FFFFFF"/>
                  </a:solidFill>
                  <a:latin typeface="微软雅黑"/>
                  <a:ea typeface="微软雅黑"/>
                  <a:cs typeface="微软雅黑"/>
                </a:defRPr>
              </a:pPr>
              <a:r>
                <a:rPr kumimoji="1" lang="zh-CN" altLang="en-US" sz="1400">
                  <a:solidFill>
                    <a:srgbClr val="FFFFFF"/>
                  </a:solidFill>
                  <a:latin typeface="微软雅黑"/>
                  <a:ea typeface="微软雅黑"/>
                  <a:cs typeface="微软雅黑"/>
                </a:rPr>
                <a:t>客户方</a:t>
              </a:r>
              <a:endParaRPr kumimoji="1" lang="zh-CN" altLang="en-US" sz="140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97" name="显眼包PPT-2"/>
          <p:cNvSpPr/>
          <p:nvPr/>
        </p:nvSpPr>
        <p:spPr>
          <a:xfrm>
            <a:off x="8941435" y="6384925"/>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98" name="显眼包PPT-2"/>
          <p:cNvSpPr/>
          <p:nvPr/>
        </p:nvSpPr>
        <p:spPr>
          <a:xfrm>
            <a:off x="7411720" y="6501130"/>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99" name="显眼包PPT-2"/>
          <p:cNvSpPr/>
          <p:nvPr/>
        </p:nvSpPr>
        <p:spPr>
          <a:xfrm>
            <a:off x="5940425" y="6536690"/>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200" name="显眼包PPT-2"/>
          <p:cNvSpPr/>
          <p:nvPr/>
        </p:nvSpPr>
        <p:spPr>
          <a:xfrm>
            <a:off x="4447540" y="6507480"/>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202" name="显眼包PPT-2"/>
          <p:cNvSpPr/>
          <p:nvPr/>
        </p:nvSpPr>
        <p:spPr>
          <a:xfrm>
            <a:off x="2890520" y="6396355"/>
            <a:ext cx="151130" cy="140335"/>
          </a:xfrm>
          <a:prstGeom prst="ellipse">
            <a:avLst/>
          </a:prstGeom>
          <a:gradFill flip="none" rotWithShape="1">
            <a:gsLst>
              <a:gs pos="13000">
                <a:srgbClr val="668EFF"/>
              </a:gs>
              <a:gs pos="55000">
                <a:srgbClr val="3368FF"/>
              </a:gs>
              <a:gs pos="100000">
                <a:srgbClr val="0042FF"/>
              </a:gs>
            </a:gsLst>
            <a:path path="circle">
              <a:fillToRect r="100000" b="100000"/>
            </a:path>
            <a:tileRect l="-100000" t="-100000"/>
          </a:gradFill>
          <a:ln w="44450">
            <a:gradFill flip="none" rotWithShape="1">
              <a:gsLst>
                <a:gs pos="0">
                  <a:srgbClr val="FFFFFF"/>
                </a:gs>
                <a:gs pos="55500">
                  <a:srgbClr val="FFFFFF">
                    <a:alpha val="40000"/>
                  </a:srgbClr>
                </a:gs>
                <a:gs pos="100000">
                  <a:srgbClr val="FFFFFF">
                    <a:alpha val="78000"/>
                  </a:srgbClr>
                </a:gs>
              </a:gsLst>
              <a:lin ang="10800000" scaled="1"/>
              <a:tileRect/>
            </a:gradFill>
          </a:ln>
          <a:effectLst>
            <a:outerShdw blurRad="190500" dist="25400" dir="5400000" sx="90000" sy="90000" algn="t" rotWithShape="0">
              <a:srgbClr val="3368FF">
                <a:alpha val="68000"/>
              </a:srgbClr>
            </a:outerShdw>
          </a:effectLst>
        </p:spPr>
        <p:style>
          <a:lnRef idx="2">
            <a:srgbClr val="0042FF"/>
          </a:lnRef>
          <a:fillRef idx="1">
            <a:srgbClr val="0042FF"/>
          </a:fillRef>
          <a:effectRef idx="0">
            <a:srgbClr val="0042FF"/>
          </a:effectRef>
          <a:fontRef idx="minor">
            <a:srgbClr val="FFFFFF"/>
          </a:fontRef>
        </p:style>
        <p:txBody>
          <a:bodyPr wrap="none"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cs typeface="微软雅黑"/>
              <a:ea typeface="微软雅黑"/>
            </a:endParaRPr>
          </a:p>
        </p:txBody>
      </p:sp>
      <p:sp>
        <p:nvSpPr>
          <p:cNvPr id="13" name="文本框 12"/>
          <p:cNvSpPr txBox="1"/>
          <p:nvPr/>
        </p:nvSpPr>
        <p:spPr>
          <a:xfrm rot="5400000">
            <a:off x="7599211" y="2875694"/>
            <a:ext cx="1852147" cy="1530015"/>
          </a:xfrm>
          <a:prstGeom prst="rect">
            <a:avLst/>
          </a:prstGeom>
          <a:noFill/>
        </p:spPr>
        <p:txBody>
          <a:bodyPr vert="eaVert" wrap="square" rtlCol="0" lIns="0" rIns="0" tIns="0" bIns="0" anchor="t">
            <a:prstTxWarp prst="textArchUp">
              <a:avLst/>
            </a:prstTxWarp>
            <a:noAutofit/>
          </a:bodyPr>
          <a:lstStyle/>
          <a:p>
            <a:pPr algn="ctr">
              <a:lnSpc>
                <a:spcPts val="1120"/>
              </a:lnSpc>
              <a:defRPr>
                <a:latin typeface="微软雅黑"/>
                <a:ea typeface="微软雅黑"/>
                <a:cs typeface="微软雅黑"/>
              </a:defRPr>
              <a:spcBef>
                <a:spcPts val="0"/>
              </a:spcBef>
              <a:spcAft>
                <a:spcPts val="0"/>
              </a:spcAft>
            </a:pPr>
            <a:r>
              <a:rPr lang="zh-CN" altLang="en-US" sz="1000">
                <a:solidFill>
                  <a:srgbClr val="383838"/>
                </a:solidFill>
                <a:latin typeface="微软雅黑"/>
                <a:ea typeface="微软雅黑"/>
                <a:cs typeface="微软雅黑"/>
              </a:rPr>
              <a:t>横向一体化</a:t>
            </a:r>
            <a:endParaRPr lang="en-US" altLang="zh-CN" sz="1000">
              <a:solidFill>
                <a:srgbClr val="383838"/>
              </a:solidFill>
              <a:latin typeface="微软雅黑"/>
              <a:ea typeface="微软雅黑"/>
              <a:cs typeface="微软雅黑"/>
            </a:endParaRPr>
          </a:p>
          <a:p>
            <a:pPr algn="ctr">
              <a:lnSpc>
                <a:spcPts val="1120"/>
              </a:lnSpc>
              <a:defRPr>
                <a:latin typeface="微软雅黑"/>
                <a:ea typeface="微软雅黑"/>
                <a:cs typeface="微软雅黑"/>
              </a:defRPr>
              <a:spcBef>
                <a:spcPts val="0"/>
              </a:spcBef>
              <a:spcAft>
                <a:spcPts val="0"/>
              </a:spcAft>
            </a:pPr>
            <a:r>
              <a:rPr lang="zh-CN" altLang="en-US" sz="1000">
                <a:solidFill>
                  <a:srgbClr val="383838"/>
                </a:solidFill>
                <a:latin typeface="微软雅黑"/>
                <a:ea typeface="微软雅黑"/>
                <a:cs typeface="微软雅黑"/>
              </a:rPr>
              <a:t>前置和管理前移</a:t>
            </a:r>
            <a:endParaRPr lang="zh-CN" altLang="en-US" sz="1000">
              <a:solidFill>
                <a:srgbClr val="383838"/>
              </a:solidFill>
              <a:latin typeface="微软雅黑"/>
              <a:ea typeface="微软雅黑"/>
              <a:cs typeface="微软雅黑"/>
            </a:endParaRPr>
          </a:p>
        </p:txBody>
      </p:sp>
      <p:sp>
        <p:nvSpPr>
          <p:cNvPr id="14" name="文本框 13"/>
          <p:cNvSpPr txBox="1"/>
          <p:nvPr/>
        </p:nvSpPr>
        <p:spPr>
          <a:xfrm rot="5400000">
            <a:off x="2698957" y="2875694"/>
            <a:ext cx="1852147" cy="1530015"/>
          </a:xfrm>
          <a:prstGeom prst="rect">
            <a:avLst/>
          </a:prstGeom>
          <a:noFill/>
        </p:spPr>
        <p:txBody>
          <a:bodyPr vert="eaVert" wrap="square" rtlCol="0" lIns="0" rIns="0" tIns="0" bIns="0" anchor="t">
            <a:prstTxWarp prst="textArchDown">
              <a:avLst/>
            </a:prstTxWarp>
            <a:noAutofit/>
          </a:bodyPr>
          <a:lstStyle/>
          <a:p>
            <a:pPr algn="ctr">
              <a:lnSpc>
                <a:spcPts val="1120"/>
              </a:lnSpc>
              <a:defRPr>
                <a:latin typeface="微软雅黑"/>
                <a:ea typeface="微软雅黑"/>
                <a:cs typeface="微软雅黑"/>
              </a:defRPr>
              <a:spcBef>
                <a:spcPts val="0"/>
              </a:spcBef>
              <a:spcAft>
                <a:spcPts val="0"/>
              </a:spcAft>
            </a:pPr>
            <a:r>
              <a:rPr lang="zh-CN" altLang="en-US" sz="1000" spc="-300">
                <a:solidFill>
                  <a:srgbClr val="383838"/>
                </a:solidFill>
                <a:latin typeface="微软雅黑"/>
                <a:ea typeface="微软雅黑"/>
                <a:cs typeface="微软雅黑"/>
              </a:rPr>
              <a:t>数据赋能和创新驱动</a:t>
            </a:r>
            <a:endParaRPr lang="en-US" altLang="zh-CN" sz="1000" spc="-300">
              <a:solidFill>
                <a:srgbClr val="383838"/>
              </a:solidFill>
              <a:latin typeface="微软雅黑"/>
              <a:ea typeface="微软雅黑"/>
              <a:cs typeface="微软雅黑"/>
            </a:endParaRPr>
          </a:p>
          <a:p>
            <a:pPr algn="ctr">
              <a:lnSpc>
                <a:spcPts val="1120"/>
              </a:lnSpc>
              <a:defRPr>
                <a:latin typeface="微软雅黑"/>
                <a:ea typeface="微软雅黑"/>
                <a:cs typeface="微软雅黑"/>
              </a:defRPr>
              <a:spcBef>
                <a:spcPts val="0"/>
              </a:spcBef>
              <a:spcAft>
                <a:spcPts val="0"/>
              </a:spcAft>
            </a:pPr>
            <a:r>
              <a:rPr lang="zh-CN" altLang="en-US" sz="1000" spc="-300">
                <a:solidFill>
                  <a:srgbClr val="383838"/>
                </a:solidFill>
                <a:latin typeface="微软雅黑"/>
                <a:ea typeface="微软雅黑"/>
                <a:cs typeface="微软雅黑"/>
              </a:rPr>
              <a:t>数据一体化</a:t>
            </a:r>
            <a:endParaRPr lang="zh-CN" altLang="en-US" sz="1000" spc="-300">
              <a:solidFill>
                <a:srgbClr val="383838"/>
              </a:solidFill>
              <a:latin typeface="微软雅黑"/>
              <a:ea typeface="微软雅黑"/>
              <a:cs typeface="微软雅黑"/>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 name="©天蝎PPT6"/>
          <p:cNvSpPr/>
          <p:nvPr>
            <p:custDataLst>
              <p:tags r:id="rId1"/>
            </p:custDataLst>
          </p:nvPr>
        </p:nvSpPr>
        <p:spPr>
          <a:xfrm rot="5400000">
            <a:off x="-163195" y="1307913"/>
            <a:ext cx="8493760" cy="4600575"/>
          </a:xfrm>
          <a:prstGeom prst="triangle">
            <a:avLst/>
          </a:prstGeom>
          <a:gradFill>
            <a:gsLst>
              <a:gs pos="0">
                <a:srgbClr val="668EFF">
                  <a:alpha val="70000"/>
                </a:srgbClr>
              </a:gs>
              <a:gs pos="60000">
                <a:srgbClr val="E6E6E6">
                  <a:alpha val="0"/>
                </a:srgbClr>
              </a:gs>
            </a:gsLst>
            <a:lin ang="5400000" scaled="0"/>
          </a:gradFill>
          <a:ln w="9525">
            <a:noFill/>
          </a:ln>
        </p:spPr>
        <p:txBody>
          <a:bodyPr vert="horz" wrap="square" lIns="68580" tIns="34290" rIns="68580" bIns="34290" numCol="1" rtlCol="0" anchor="t" anchorCtr="0" compatLnSpc="1"/>
          <a:lstStyle/>
          <a:p>
            <a:pPr>
              <a:defRPr>
                <a:latin typeface="微软雅黑"/>
                <a:ea typeface="微软雅黑"/>
                <a:cs typeface="微软雅黑"/>
              </a:defRPr>
            </a:pPr>
            <a:endParaRPr kumimoji="1" lang="zh-CN" altLang="en-US" sz="1350">
              <a:solidFill>
                <a:srgbClr val="383838"/>
              </a:solidFill>
              <a:latin typeface="微软雅黑"/>
              <a:ea typeface="微软雅黑"/>
              <a:cs typeface="微软雅黑"/>
              <a:sym typeface="微软雅黑"/>
            </a:endParaRPr>
          </a:p>
        </p:txBody>
      </p:sp>
      <p:sp>
        <p:nvSpPr>
          <p:cNvPr id="201" name="©天蝎PPT5"/>
          <p:cNvSpPr/>
          <p:nvPr>
            <p:custDataLst>
              <p:tags r:id="rId2"/>
            </p:custDataLst>
          </p:nvPr>
        </p:nvSpPr>
        <p:spPr>
          <a:xfrm rot="16200000" flipH="1">
            <a:off x="4127500" y="1307913"/>
            <a:ext cx="8493760" cy="4600575"/>
          </a:xfrm>
          <a:prstGeom prst="triangle">
            <a:avLst/>
          </a:prstGeom>
          <a:gradFill>
            <a:gsLst>
              <a:gs pos="0">
                <a:srgbClr val="668EFF">
                  <a:alpha val="70000"/>
                </a:srgbClr>
              </a:gs>
              <a:gs pos="60000">
                <a:srgbClr val="E6E6E6">
                  <a:alpha val="0"/>
                </a:srgbClr>
              </a:gs>
            </a:gsLst>
            <a:lin ang="5400000" scaled="0"/>
          </a:gradFill>
          <a:ln w="9525">
            <a:noFill/>
          </a:ln>
        </p:spPr>
        <p:txBody>
          <a:bodyPr vert="horz" wrap="square" lIns="68580" tIns="34290" rIns="68580" bIns="34290" numCol="1" rtlCol="0" anchor="t" anchorCtr="0" compatLnSpc="1">
            <a:noAutofit/>
          </a:bodyPr>
          <a:lstStyle/>
          <a:p>
            <a:pPr lvl="0" algn="l">
              <a:buClrTx/>
              <a:buSzTx/>
              <a:buFontTx/>
              <a:defRPr>
                <a:latin typeface="微软雅黑"/>
                <a:ea typeface="微软雅黑"/>
                <a:cs typeface="微软雅黑"/>
              </a:defRPr>
            </a:pPr>
            <a:endParaRPr kumimoji="1" lang="zh-CN" altLang="en-US" sz="1350">
              <a:solidFill>
                <a:srgbClr val="383838"/>
              </a:solidFill>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小红书营销策略拆解</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55600" y="186055"/>
            <a:ext cx="549910" cy="549910"/>
          </a:xfrm>
          <a:prstGeom prst="rect">
            <a:avLst/>
          </a:prstGeom>
        </p:spPr>
      </p:pic>
      <p:sp>
        <p:nvSpPr>
          <p:cNvPr id="67" name="©天蝎PPT7"/>
          <p:cNvSpPr/>
          <p:nvPr>
            <p:custDataLst>
              <p:tags r:id="rId5"/>
            </p:custDataLst>
          </p:nvPr>
        </p:nvSpPr>
        <p:spPr>
          <a:xfrm>
            <a:off x="4676140" y="2095313"/>
            <a:ext cx="3089275" cy="3089275"/>
          </a:xfrm>
          <a:prstGeom prst="ellipse">
            <a:avLst/>
          </a:prstGeom>
          <a:noFill/>
          <a:ln w="20003" cap="flat" cmpd="sng" algn="ctr">
            <a:solidFill>
              <a:srgbClr val="DCDCDC">
                <a:alpha val="38000"/>
              </a:srgbClr>
            </a:solidFill>
            <a:prstDash val="sysDot"/>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2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grpSp>
        <p:nvGrpSpPr>
          <p:cNvPr id="71" name="©天蝎PPT8"/>
          <p:cNvGrpSpPr/>
          <p:nvPr/>
        </p:nvGrpSpPr>
        <p:grpSpPr>
          <a:xfrm>
            <a:off x="7645400" y="3521523"/>
            <a:ext cx="236220" cy="236220"/>
            <a:chOff x="5287932" y="2222584"/>
            <a:chExt cx="222422" cy="222422"/>
          </a:xfrm>
        </p:grpSpPr>
        <p:sp>
          <p:nvSpPr>
            <p:cNvPr id="72" name="©天蝎PPT8-1"/>
            <p:cNvSpPr/>
            <p:nvPr>
              <p:custDataLst>
                <p:tags r:id="rId6"/>
              </p:custDataLst>
            </p:nvPr>
          </p:nvSpPr>
          <p:spPr>
            <a:xfrm>
              <a:off x="5287932" y="2222584"/>
              <a:ext cx="222422" cy="222422"/>
            </a:xfrm>
            <a:prstGeom prst="ellipse">
              <a:avLst/>
            </a:prstGeom>
            <a:solidFill>
              <a:srgbClr val="3368FF">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73" name="©天蝎PPT8-2"/>
            <p:cNvSpPr/>
            <p:nvPr>
              <p:custDataLst>
                <p:tags r:id="rId7"/>
              </p:custDataLst>
            </p:nvPr>
          </p:nvSpPr>
          <p:spPr>
            <a:xfrm>
              <a:off x="5335525" y="2270177"/>
              <a:ext cx="127237" cy="127237"/>
            </a:xfrm>
            <a:prstGeom prst="ellipse">
              <a:avLst/>
            </a:prstGeom>
            <a:solidFill>
              <a:srgbClr val="3368FF"/>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grpSp>
      <p:grpSp>
        <p:nvGrpSpPr>
          <p:cNvPr id="74" name="©天蝎PPT9"/>
          <p:cNvGrpSpPr/>
          <p:nvPr/>
        </p:nvGrpSpPr>
        <p:grpSpPr>
          <a:xfrm>
            <a:off x="4558030" y="3521523"/>
            <a:ext cx="236220" cy="236220"/>
            <a:chOff x="5287932" y="2222584"/>
            <a:chExt cx="222422" cy="222422"/>
          </a:xfrm>
        </p:grpSpPr>
        <p:sp>
          <p:nvSpPr>
            <p:cNvPr id="75" name="©天蝎PPT9-1"/>
            <p:cNvSpPr/>
            <p:nvPr>
              <p:custDataLst>
                <p:tags r:id="rId8"/>
              </p:custDataLst>
            </p:nvPr>
          </p:nvSpPr>
          <p:spPr>
            <a:xfrm>
              <a:off x="5287932" y="2222584"/>
              <a:ext cx="222422" cy="222422"/>
            </a:xfrm>
            <a:prstGeom prst="ellipse">
              <a:avLst/>
            </a:prstGeom>
            <a:solidFill>
              <a:srgbClr val="3368FF">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76" name="©天蝎PPT9-2"/>
            <p:cNvSpPr/>
            <p:nvPr>
              <p:custDataLst>
                <p:tags r:id="rId9"/>
              </p:custDataLst>
            </p:nvPr>
          </p:nvSpPr>
          <p:spPr>
            <a:xfrm>
              <a:off x="5335525" y="2270177"/>
              <a:ext cx="127237" cy="127237"/>
            </a:xfrm>
            <a:prstGeom prst="ellipse">
              <a:avLst/>
            </a:prstGeom>
            <a:solidFill>
              <a:srgbClr val="3368FF"/>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2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grpSp>
      <p:sp>
        <p:nvSpPr>
          <p:cNvPr id="78" name="©天蝎PPT10-1"/>
          <p:cNvSpPr/>
          <p:nvPr>
            <p:custDataLst>
              <p:tags r:id="rId10"/>
            </p:custDataLst>
          </p:nvPr>
        </p:nvSpPr>
        <p:spPr>
          <a:xfrm>
            <a:off x="4996815" y="2416175"/>
            <a:ext cx="2447290" cy="2447290"/>
          </a:xfrm>
          <a:prstGeom prst="arc">
            <a:avLst>
              <a:gd name="adj1" fmla="val 2943337"/>
              <a:gd name="adj2" fmla="val 7736108"/>
            </a:avLst>
          </a:prstGeom>
          <a:noFill/>
          <a:ln w="73025" cap="rnd" cmpd="sng" algn="ctr">
            <a:gradFill>
              <a:gsLst>
                <a:gs pos="0">
                  <a:srgbClr val="3368FF"/>
                </a:gs>
                <a:gs pos="100000">
                  <a:srgbClr val="FFFFFF"/>
                </a:gs>
              </a:gsLst>
              <a:lin ang="0" scaled="0"/>
            </a:gradFill>
            <a:prstDash val="solid"/>
            <a:round/>
            <a:headEnd type="none"/>
            <a:tailEnd type="triangle"/>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79" name="©天蝎PPT10-2"/>
          <p:cNvSpPr/>
          <p:nvPr>
            <p:custDataLst>
              <p:tags r:id="rId11"/>
            </p:custDataLst>
          </p:nvPr>
        </p:nvSpPr>
        <p:spPr>
          <a:xfrm rot="10800000">
            <a:off x="4996815" y="2416175"/>
            <a:ext cx="2447290" cy="2447290"/>
          </a:xfrm>
          <a:prstGeom prst="arc">
            <a:avLst>
              <a:gd name="adj1" fmla="val 3203205"/>
              <a:gd name="adj2" fmla="val 7553668"/>
            </a:avLst>
          </a:prstGeom>
          <a:noFill/>
          <a:ln w="73025" cap="rnd" cmpd="sng" algn="ctr">
            <a:gradFill>
              <a:gsLst>
                <a:gs pos="0">
                  <a:srgbClr val="3368FF"/>
                </a:gs>
                <a:gs pos="100000">
                  <a:srgbClr val="FFFFFF"/>
                </a:gs>
              </a:gsLst>
              <a:lin ang="0" scaled="0"/>
            </a:gradFill>
            <a:prstDash val="solid"/>
            <a:round/>
            <a:headEnd type="none"/>
            <a:tailEnd type="triangle"/>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kern="0" noProof="0">
              <a:ln>
                <a:noFill/>
              </a:ln>
              <a:solidFill>
                <a:prstClr val="white"/>
              </a:solidFill>
              <a:effectLst/>
              <a:uLnTx/>
              <a:uFillTx/>
              <a:latin typeface="微软雅黑"/>
              <a:ea typeface="微软雅黑"/>
              <a:cs typeface="微软雅黑"/>
              <a:sym typeface="微软雅黑"/>
            </a:endParaRPr>
          </a:p>
        </p:txBody>
      </p:sp>
      <p:sp>
        <p:nvSpPr>
          <p:cNvPr id="81" name="©天蝎PPT11"/>
          <p:cNvSpPr/>
          <p:nvPr>
            <p:custDataLst>
              <p:tags r:id="rId12"/>
            </p:custDataLst>
          </p:nvPr>
        </p:nvSpPr>
        <p:spPr>
          <a:xfrm>
            <a:off x="5126355" y="1116143"/>
            <a:ext cx="2211070" cy="398145"/>
          </a:xfrm>
          <a:prstGeom prst="roundRect">
            <a:avLst>
              <a:gd name="adj" fmla="val 50000"/>
            </a:avLst>
          </a:prstGeom>
          <a:solidFill>
            <a:srgbClr val="FFFFFF"/>
          </a:solidFill>
          <a:ln w="25400" cap="flat" cmpd="sng" algn="ctr">
            <a:solidFill>
              <a:srgbClr val="B3D4FE"/>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0042FF"/>
              </a:solidFill>
              <a:effectLst/>
              <a:uLnTx/>
              <a:uFillTx/>
              <a:latin typeface="微软雅黑"/>
              <a:ea typeface="微软雅黑"/>
              <a:cs typeface="微软雅黑"/>
              <a:sym typeface="微软雅黑"/>
            </a:endParaRPr>
          </a:p>
        </p:txBody>
      </p:sp>
      <p:sp>
        <p:nvSpPr>
          <p:cNvPr id="82" name="©天蝎PPT12"/>
          <p:cNvSpPr txBox="1"/>
          <p:nvPr>
            <p:custDataLst>
              <p:tags r:id="rId13"/>
            </p:custDataLst>
          </p:nvPr>
        </p:nvSpPr>
        <p:spPr>
          <a:xfrm>
            <a:off x="5224780" y="1142178"/>
            <a:ext cx="2014220" cy="337185"/>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u="none" strike="noStrike" kern="1200" cap="none" spc="0" normalizeH="0" baseline="0" noProof="0" dirty="0">
                <a:ln>
                  <a:noFill/>
                </a:ln>
                <a:solidFill>
                  <a:srgbClr val="0042FF"/>
                </a:solidFill>
                <a:effectLst/>
                <a:uLnTx/>
                <a:uFillTx/>
                <a:latin typeface="微软雅黑"/>
                <a:ea typeface="微软雅黑"/>
                <a:cs typeface="微软雅黑"/>
                <a:sym typeface="微软雅黑"/>
              </a:rPr>
              <a:t>小红书经济转化</a:t>
            </a:r>
            <a:endParaRPr kumimoji="0" lang="zh-CN" altLang="en-US" sz="1600" b="1"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grpSp>
        <p:nvGrpSpPr>
          <p:cNvPr id="83" name="©天蝎PPT13"/>
          <p:cNvGrpSpPr/>
          <p:nvPr/>
        </p:nvGrpSpPr>
        <p:grpSpPr>
          <a:xfrm>
            <a:off x="6102350" y="1967230"/>
            <a:ext cx="236220" cy="233045"/>
            <a:chOff x="5287932" y="2222584"/>
            <a:chExt cx="222422" cy="222422"/>
          </a:xfrm>
        </p:grpSpPr>
        <p:sp>
          <p:nvSpPr>
            <p:cNvPr id="107" name="©天蝎PPT13-1"/>
            <p:cNvSpPr/>
            <p:nvPr>
              <p:custDataLst>
                <p:tags r:id="rId14"/>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10" name="©天蝎PPT13-2"/>
            <p:cNvSpPr/>
            <p:nvPr>
              <p:custDataLst>
                <p:tags r:id="rId15"/>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grpSp>
        <p:nvGrpSpPr>
          <p:cNvPr id="114" name="©天蝎PPT14"/>
          <p:cNvGrpSpPr/>
          <p:nvPr/>
        </p:nvGrpSpPr>
        <p:grpSpPr>
          <a:xfrm>
            <a:off x="6112510" y="5108388"/>
            <a:ext cx="236220" cy="236220"/>
            <a:chOff x="5287932" y="2222584"/>
            <a:chExt cx="222422" cy="222422"/>
          </a:xfrm>
        </p:grpSpPr>
        <p:sp>
          <p:nvSpPr>
            <p:cNvPr id="151" name="©天蝎PPT14-1"/>
            <p:cNvSpPr/>
            <p:nvPr>
              <p:custDataLst>
                <p:tags r:id="rId16"/>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52" name="©天蝎PPT14-2"/>
            <p:cNvSpPr/>
            <p:nvPr>
              <p:custDataLst>
                <p:tags r:id="rId17"/>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sp>
        <p:nvSpPr>
          <p:cNvPr id="153" name="©天蝎PPT15"/>
          <p:cNvSpPr/>
          <p:nvPr>
            <p:custDataLst>
              <p:tags r:id="rId18"/>
            </p:custDataLst>
          </p:nvPr>
        </p:nvSpPr>
        <p:spPr>
          <a:xfrm flipH="1">
            <a:off x="5396865" y="2816038"/>
            <a:ext cx="1647190" cy="1647190"/>
          </a:xfrm>
          <a:prstGeom prst="ellipse">
            <a:avLst/>
          </a:prstGeom>
          <a:gradFill>
            <a:gsLst>
              <a:gs pos="0">
                <a:srgbClr val="3368FF"/>
              </a:gs>
              <a:gs pos="100000">
                <a:srgbClr val="B3D4FE"/>
              </a:gs>
            </a:gsLst>
            <a:lin ang="10800000" scaled="0"/>
          </a:gradFill>
          <a:ln>
            <a:noFill/>
          </a:ln>
          <a:effectLst>
            <a:outerShdw blurRad="381000" dist="190500" dir="5400000" sx="90000" sy="90000" algn="ctr" rotWithShape="0">
              <a:srgbClr val="668E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54" name="©天蝎PPT16"/>
          <p:cNvSpPr txBox="1"/>
          <p:nvPr/>
        </p:nvSpPr>
        <p:spPr>
          <a:xfrm>
            <a:off x="5629593" y="3268793"/>
            <a:ext cx="1182370" cy="696595"/>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0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小红书</a:t>
            </a:r>
            <a:endParaRPr kumimoji="0" lang="en-US" altLang="zh-CN" sz="20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2000" b="1" dirty="0">
                <a:solidFill>
                  <a:srgbClr val="383838"/>
                </a:solidFill>
                <a:latin typeface="微软雅黑"/>
                <a:ea typeface="微软雅黑"/>
                <a:cs typeface="微软雅黑"/>
                <a:sym typeface="微软雅黑"/>
              </a:rPr>
              <a:t>营销策略</a:t>
            </a:r>
            <a:endParaRPr kumimoji="0" lang="zh-CN" altLang="en-US" sz="20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55" name="©天蝎PPT17"/>
          <p:cNvSpPr/>
          <p:nvPr>
            <p:custDataLst>
              <p:tags r:id="rId19"/>
            </p:custDataLst>
          </p:nvPr>
        </p:nvSpPr>
        <p:spPr>
          <a:xfrm rot="16200000" flipV="1">
            <a:off x="6003290" y="1569533"/>
            <a:ext cx="434975" cy="457200"/>
          </a:xfrm>
          <a:prstGeom prst="rightArrow">
            <a:avLst>
              <a:gd name="adj1" fmla="val 46687"/>
              <a:gd name="adj2" fmla="val 68525"/>
            </a:avLst>
          </a:prstGeom>
          <a:gradFill>
            <a:gsLst>
              <a:gs pos="0">
                <a:srgbClr val="B3D4FE">
                  <a:alpha val="0"/>
                </a:srgbClr>
              </a:gs>
              <a:gs pos="100000">
                <a:srgbClr val="B3D4FE"/>
              </a:gs>
            </a:gsLst>
            <a:lin ang="0" scaled="0"/>
          </a:gradFill>
          <a:ln w="12700" cap="flat" cmpd="sng" algn="ctr">
            <a:gradFill>
              <a:gsLst>
                <a:gs pos="0">
                  <a:srgbClr val="FF4200">
                    <a:alpha val="0"/>
                  </a:srgbClr>
                </a:gs>
                <a:gs pos="100000">
                  <a:srgbClr val="FF4200">
                    <a:alpha val="50000"/>
                  </a:srgbClr>
                </a:gs>
              </a:gsLst>
              <a:lin ang="0" scaled="0"/>
            </a:gradFill>
            <a:prstDash val="solid"/>
            <a:miter lim="800000"/>
          </a:ln>
          <a:effectLst/>
        </p:spPr>
        <p:txBody>
          <a:bodyPr rtlCol="0" anchor="ctr" lIns="0" rIns="0" tIns="0" bIns="0"/>
          <a:lstStyle/>
          <a:p>
            <a:pPr algn="ctr">
              <a:defRPr>
                <a:latin typeface="微软雅黑"/>
                <a:ea typeface="微软雅黑"/>
                <a:cs typeface="微软雅黑"/>
              </a:defRPr>
            </a:pPr>
            <a:endParaRPr lang="zh-CN" altLang="en-US" kern="0" dirty="0">
              <a:solidFill>
                <a:prstClr val="white"/>
              </a:solidFill>
              <a:latin typeface="微软雅黑"/>
              <a:ea typeface="微软雅黑"/>
              <a:cs typeface="微软雅黑"/>
              <a:sym typeface="微软雅黑"/>
            </a:endParaRPr>
          </a:p>
        </p:txBody>
      </p:sp>
      <p:sp>
        <p:nvSpPr>
          <p:cNvPr id="156" name="©天蝎PPT18"/>
          <p:cNvSpPr/>
          <p:nvPr>
            <p:custDataLst>
              <p:tags r:id="rId20"/>
            </p:custDataLst>
          </p:nvPr>
        </p:nvSpPr>
        <p:spPr>
          <a:xfrm rot="5400000">
            <a:off x="6003290" y="5283013"/>
            <a:ext cx="434975" cy="457200"/>
          </a:xfrm>
          <a:prstGeom prst="rightArrow">
            <a:avLst>
              <a:gd name="adj1" fmla="val 46687"/>
              <a:gd name="adj2" fmla="val 68525"/>
            </a:avLst>
          </a:prstGeom>
          <a:gradFill>
            <a:gsLst>
              <a:gs pos="0">
                <a:srgbClr val="B3D4FE">
                  <a:alpha val="0"/>
                </a:srgbClr>
              </a:gs>
              <a:gs pos="100000">
                <a:srgbClr val="B3D4FE"/>
              </a:gs>
            </a:gsLst>
            <a:lin ang="0" scaled="0"/>
          </a:gradFill>
          <a:ln w="12700" cap="flat" cmpd="sng" algn="ctr">
            <a:gradFill>
              <a:gsLst>
                <a:gs pos="0">
                  <a:srgbClr val="FF4200">
                    <a:alpha val="0"/>
                  </a:srgbClr>
                </a:gs>
                <a:gs pos="100000">
                  <a:srgbClr val="FF4200">
                    <a:alpha val="50000"/>
                  </a:srgbClr>
                </a:gs>
              </a:gsLst>
              <a:lin ang="0" scaled="0"/>
            </a:gradFill>
            <a:prstDash val="solid"/>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kern="0" dirty="0">
              <a:solidFill>
                <a:prstClr val="white"/>
              </a:solidFill>
              <a:latin typeface="微软雅黑"/>
              <a:ea typeface="微软雅黑"/>
              <a:cs typeface="微软雅黑"/>
              <a:sym typeface="微软雅黑"/>
            </a:endParaRPr>
          </a:p>
        </p:txBody>
      </p:sp>
      <p:sp>
        <p:nvSpPr>
          <p:cNvPr id="157" name="©天蝎PPT19"/>
          <p:cNvSpPr/>
          <p:nvPr>
            <p:custDataLst>
              <p:tags r:id="rId21"/>
            </p:custDataLst>
          </p:nvPr>
        </p:nvSpPr>
        <p:spPr>
          <a:xfrm>
            <a:off x="3019425" y="6003103"/>
            <a:ext cx="1977390" cy="438150"/>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58" name="©天蝎PPT20"/>
          <p:cNvSpPr txBox="1"/>
          <p:nvPr>
            <p:custDataLst>
              <p:tags r:id="rId22"/>
            </p:custDataLst>
          </p:nvPr>
        </p:nvSpPr>
        <p:spPr>
          <a:xfrm>
            <a:off x="3815398" y="6092003"/>
            <a:ext cx="356870" cy="2152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需求</a:t>
            </a:r>
            <a:endPar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59" name="©天蝎PPT21"/>
          <p:cNvSpPr/>
          <p:nvPr>
            <p:custDataLst>
              <p:tags r:id="rId23"/>
            </p:custDataLst>
          </p:nvPr>
        </p:nvSpPr>
        <p:spPr>
          <a:xfrm>
            <a:off x="5227320" y="6003103"/>
            <a:ext cx="1977390" cy="438150"/>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60" name="©天蝎PPT22"/>
          <p:cNvSpPr txBox="1"/>
          <p:nvPr>
            <p:custDataLst>
              <p:tags r:id="rId24"/>
            </p:custDataLst>
          </p:nvPr>
        </p:nvSpPr>
        <p:spPr>
          <a:xfrm>
            <a:off x="6023293" y="6092003"/>
            <a:ext cx="356870" cy="2152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场景</a:t>
            </a:r>
            <a:endPar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61" name="©天蝎PPT23"/>
          <p:cNvSpPr/>
          <p:nvPr>
            <p:custDataLst>
              <p:tags r:id="rId25"/>
            </p:custDataLst>
          </p:nvPr>
        </p:nvSpPr>
        <p:spPr>
          <a:xfrm>
            <a:off x="7490460" y="6003103"/>
            <a:ext cx="1977390" cy="438150"/>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62" name="©天蝎PPT24"/>
          <p:cNvSpPr txBox="1"/>
          <p:nvPr>
            <p:custDataLst>
              <p:tags r:id="rId26"/>
            </p:custDataLst>
          </p:nvPr>
        </p:nvSpPr>
        <p:spPr>
          <a:xfrm>
            <a:off x="8286433" y="6092003"/>
            <a:ext cx="356870" cy="2152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热点</a:t>
            </a:r>
            <a:endParaRPr kumimoji="0" lang="zh-CN" altLang="en-US" sz="14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65" name="©天蝎PPT25-1"/>
          <p:cNvSpPr/>
          <p:nvPr>
            <p:custDataLst>
              <p:tags r:id="rId27"/>
            </p:custDataLst>
          </p:nvPr>
        </p:nvSpPr>
        <p:spPr>
          <a:xfrm>
            <a:off x="1717040" y="1951355"/>
            <a:ext cx="1438910" cy="394335"/>
          </a:xfrm>
          <a:prstGeom prst="roundRect">
            <a:avLst>
              <a:gd name="adj" fmla="val 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66" name="©天蝎PPT25-2"/>
          <p:cNvSpPr txBox="1"/>
          <p:nvPr/>
        </p:nvSpPr>
        <p:spPr>
          <a:xfrm flipH="1">
            <a:off x="818515" y="2471420"/>
            <a:ext cx="2341245" cy="391795"/>
          </a:xfrm>
          <a:prstGeom prst="rect">
            <a:avLst/>
          </a:prstGeom>
          <a:noFill/>
        </p:spPr>
        <p:txBody>
          <a:bodyPr wrap="square" lIns="0" tIns="0" rIns="0" bIns="0" rtlCol="0">
            <a:spAutoFit/>
          </a:bodyPr>
          <a:lstStyle/>
          <a:p>
            <a:pPr marL="0" marR="0" lvl="0" indent="0" algn="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深入分析用户需求、偏好，精准定位目标群体，助力产品优化与营销策略</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67" name="©天蝎PPT25-3"/>
          <p:cNvSpPr txBox="1"/>
          <p:nvPr/>
        </p:nvSpPr>
        <p:spPr>
          <a:xfrm flipH="1">
            <a:off x="1783715" y="2028190"/>
            <a:ext cx="1304290" cy="23812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55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用户洞察</a:t>
            </a:r>
            <a:endParaRPr kumimoji="0" lang="zh-CN" altLang="en-US" sz="155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nvGrpSpPr>
          <p:cNvPr id="168" name="组合 167"/>
          <p:cNvGrpSpPr/>
          <p:nvPr/>
        </p:nvGrpSpPr>
        <p:grpSpPr>
          <a:xfrm flipH="1">
            <a:off x="818515" y="3301365"/>
            <a:ext cx="2341245" cy="911860"/>
            <a:chOff x="9203381" y="3409486"/>
            <a:chExt cx="2203795" cy="858042"/>
          </a:xfrm>
        </p:grpSpPr>
        <p:sp>
          <p:nvSpPr>
            <p:cNvPr id="169" name="©天蝎PPT25-4"/>
            <p:cNvSpPr/>
            <p:nvPr>
              <p:custDataLst>
                <p:tags r:id="rId28"/>
              </p:custDataLst>
            </p:nvPr>
          </p:nvSpPr>
          <p:spPr>
            <a:xfrm flipH="1">
              <a:off x="9206469" y="3409486"/>
              <a:ext cx="1354653" cy="370886"/>
            </a:xfrm>
            <a:prstGeom prst="roundRect">
              <a:avLst>
                <a:gd name="adj" fmla="val 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0" name="©天蝎PPT25-5"/>
            <p:cNvSpPr txBox="1"/>
            <p:nvPr/>
          </p:nvSpPr>
          <p:spPr>
            <a:xfrm>
              <a:off x="9203381" y="3899043"/>
              <a:ext cx="2203795" cy="368485"/>
            </a:xfrm>
            <a:prstGeom prst="rect">
              <a:avLst/>
            </a:prstGeom>
            <a:noFill/>
          </p:spPr>
          <p:txBody>
            <a:bodyPr wrap="square" lIns="0" tIns="0" rIns="0" bIns="0" rtlCol="0">
              <a:spAutoFit/>
            </a:bodyPr>
            <a:lstStyle/>
            <a:p>
              <a:pPr marL="0" marR="0" lvl="0" indent="0" algn="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结合用户日常场景，提供定制化服务，打造沉浸式体验，增强用户粘性。</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71" name="©天蝎PPT25-6"/>
            <p:cNvSpPr txBox="1"/>
            <p:nvPr/>
          </p:nvSpPr>
          <p:spPr>
            <a:xfrm>
              <a:off x="9271097" y="3481804"/>
              <a:ext cx="1227576" cy="22407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生活场景整合</a:t>
              </a:r>
              <a:endPar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grpSp>
      <p:grpSp>
        <p:nvGrpSpPr>
          <p:cNvPr id="172" name="组合 171"/>
          <p:cNvGrpSpPr/>
          <p:nvPr/>
        </p:nvGrpSpPr>
        <p:grpSpPr>
          <a:xfrm flipH="1">
            <a:off x="818515" y="4651375"/>
            <a:ext cx="2341245" cy="911860"/>
            <a:chOff x="9203381" y="4628686"/>
            <a:chExt cx="2203795" cy="858042"/>
          </a:xfrm>
        </p:grpSpPr>
        <p:sp>
          <p:nvSpPr>
            <p:cNvPr id="173" name="©天蝎PPT25-7"/>
            <p:cNvSpPr/>
            <p:nvPr>
              <p:custDataLst>
                <p:tags r:id="rId29"/>
              </p:custDataLst>
            </p:nvPr>
          </p:nvSpPr>
          <p:spPr>
            <a:xfrm flipH="1">
              <a:off x="9206469" y="4628686"/>
              <a:ext cx="1354653" cy="370886"/>
            </a:xfrm>
            <a:prstGeom prst="roundRect">
              <a:avLst>
                <a:gd name="adj" fmla="val 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4" name="©天蝎PPT25-8"/>
            <p:cNvSpPr txBox="1"/>
            <p:nvPr/>
          </p:nvSpPr>
          <p:spPr>
            <a:xfrm>
              <a:off x="9203381" y="5118243"/>
              <a:ext cx="2203795" cy="368485"/>
            </a:xfrm>
            <a:prstGeom prst="rect">
              <a:avLst/>
            </a:prstGeom>
            <a:noFill/>
          </p:spPr>
          <p:txBody>
            <a:bodyPr wrap="square" lIns="0" tIns="0" rIns="0" bIns="0" rtlCol="0">
              <a:spAutoFit/>
            </a:bodyPr>
            <a:lstStyle/>
            <a:p>
              <a:pPr marL="0" marR="0" lvl="0" indent="0" algn="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汇聚社区资源，发挥社区力量，提升品牌影响力，实现共赢发展。</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75" name="©天蝎PPT25-9"/>
            <p:cNvSpPr txBox="1"/>
            <p:nvPr/>
          </p:nvSpPr>
          <p:spPr>
            <a:xfrm>
              <a:off x="9271097" y="4701004"/>
              <a:ext cx="1227576" cy="22407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社区力量助推</a:t>
              </a:r>
              <a:endPar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grpSp>
      <p:sp>
        <p:nvSpPr>
          <p:cNvPr id="178" name="©天蝎PPT26-1"/>
          <p:cNvSpPr/>
          <p:nvPr>
            <p:custDataLst>
              <p:tags r:id="rId30"/>
            </p:custDataLst>
          </p:nvPr>
        </p:nvSpPr>
        <p:spPr>
          <a:xfrm flipH="1">
            <a:off x="9178925" y="1951355"/>
            <a:ext cx="1438910" cy="394335"/>
          </a:xfrm>
          <a:prstGeom prst="roundRect">
            <a:avLst>
              <a:gd name="adj" fmla="val 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kumimoji="1" lang="zh-CN" altLang="en-US" noProof="0">
              <a:ln>
                <a:noFill/>
              </a:ln>
              <a:solidFill>
                <a:srgbClr val="FFFFFF"/>
              </a:solidFill>
              <a:effectLst/>
              <a:uLnTx/>
              <a:uFillTx/>
              <a:latin typeface="微软雅黑"/>
              <a:ea typeface="微软雅黑"/>
              <a:cs typeface="微软雅黑"/>
              <a:sym typeface="微软雅黑"/>
            </a:endParaRPr>
          </a:p>
        </p:txBody>
      </p:sp>
      <p:sp>
        <p:nvSpPr>
          <p:cNvPr id="179" name="©天蝎PPT26-2"/>
          <p:cNvSpPr txBox="1"/>
          <p:nvPr/>
        </p:nvSpPr>
        <p:spPr>
          <a:xfrm>
            <a:off x="9175750" y="2471420"/>
            <a:ext cx="2341245" cy="391795"/>
          </a:xfrm>
          <a:prstGeom prst="rect">
            <a:avLst/>
          </a:prstGeom>
          <a:noFill/>
        </p:spPr>
        <p:txBody>
          <a:bodyPr wrap="square" lIns="0" tIns="0" rIns="0" bIns="0" rtlCol="0">
            <a:spAutoFit/>
          </a:bodyPr>
          <a:lstStyle/>
          <a:p>
            <a:pPr marL="0" marR="0" lvl="0" indent="0"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商户库存和商品信息整合，提供销售、数据分析依据，助力经营决策。</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80" name="©天蝎PPT26-3"/>
          <p:cNvSpPr txBox="1"/>
          <p:nvPr/>
        </p:nvSpPr>
        <p:spPr>
          <a:xfrm>
            <a:off x="9247505" y="2028190"/>
            <a:ext cx="1304290" cy="23812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55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货品盘</a:t>
            </a:r>
            <a:endParaRPr kumimoji="0" lang="zh-CN" altLang="en-US" sz="155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82" name="©天蝎PPT26-4"/>
          <p:cNvSpPr/>
          <p:nvPr>
            <p:custDataLst>
              <p:tags r:id="rId31"/>
            </p:custDataLst>
          </p:nvPr>
        </p:nvSpPr>
        <p:spPr>
          <a:xfrm flipH="1">
            <a:off x="9178925" y="3301365"/>
            <a:ext cx="1438910" cy="394335"/>
          </a:xfrm>
          <a:prstGeom prst="roundRect">
            <a:avLst>
              <a:gd name="adj" fmla="val 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kumimoji="1" lang="zh-CN" altLang="en-US" noProof="0">
              <a:ln>
                <a:noFill/>
              </a:ln>
              <a:solidFill>
                <a:srgbClr val="FFFFFF"/>
              </a:solidFill>
              <a:effectLst/>
              <a:uLnTx/>
              <a:uFillTx/>
              <a:latin typeface="微软雅黑"/>
              <a:ea typeface="微软雅黑"/>
              <a:cs typeface="微软雅黑"/>
              <a:sym typeface="微软雅黑"/>
            </a:endParaRPr>
          </a:p>
        </p:txBody>
      </p:sp>
      <p:sp>
        <p:nvSpPr>
          <p:cNvPr id="183" name="©天蝎PPT26-5"/>
          <p:cNvSpPr txBox="1"/>
          <p:nvPr/>
        </p:nvSpPr>
        <p:spPr>
          <a:xfrm>
            <a:off x="9175750" y="3821430"/>
            <a:ext cx="2341245" cy="391795"/>
          </a:xfrm>
          <a:prstGeom prst="rect">
            <a:avLst/>
          </a:prstGeom>
          <a:noFill/>
        </p:spPr>
        <p:txBody>
          <a:bodyPr wrap="square" lIns="0" tIns="0" rIns="0" bIns="0" rtlCol="0">
            <a:spAutoFit/>
          </a:bodyPr>
          <a:lstStyle/>
          <a:p>
            <a:pPr>
              <a:lnSpc>
                <a:spcPct val="120000"/>
              </a:lnSpc>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相似商户聚集合作，共享资源经验，推动产业升级和商业合作。</a:t>
            </a:r>
            <a:endParaRPr lang="zh-CN" altLang="en-US" sz="1100" dirty="0">
              <a:solidFill>
                <a:srgbClr val="383838"/>
              </a:solidFill>
              <a:latin typeface="微软雅黑"/>
              <a:ea typeface="微软雅黑"/>
              <a:cs typeface="微软雅黑"/>
              <a:sym typeface="微软雅黑"/>
            </a:endParaRPr>
          </a:p>
        </p:txBody>
      </p:sp>
      <p:sp>
        <p:nvSpPr>
          <p:cNvPr id="184" name="©天蝎PPT26-6"/>
          <p:cNvSpPr txBox="1"/>
          <p:nvPr/>
        </p:nvSpPr>
        <p:spPr>
          <a:xfrm>
            <a:off x="9247505" y="3378200"/>
            <a:ext cx="1304290" cy="23812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55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商户群</a:t>
            </a:r>
            <a:endParaRPr kumimoji="0" lang="zh-CN" altLang="en-US" sz="155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86" name="©天蝎PPT26-7"/>
          <p:cNvSpPr/>
          <p:nvPr>
            <p:custDataLst>
              <p:tags r:id="rId32"/>
            </p:custDataLst>
          </p:nvPr>
        </p:nvSpPr>
        <p:spPr>
          <a:xfrm flipH="1">
            <a:off x="9178925" y="4651375"/>
            <a:ext cx="1438910" cy="394335"/>
          </a:xfrm>
          <a:prstGeom prst="roundRect">
            <a:avLst>
              <a:gd name="adj" fmla="val 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kumimoji="1" lang="zh-CN" altLang="en-US" noProof="0">
              <a:ln>
                <a:noFill/>
              </a:ln>
              <a:solidFill>
                <a:srgbClr val="FFFFFF"/>
              </a:solidFill>
              <a:effectLst/>
              <a:uLnTx/>
              <a:uFillTx/>
              <a:latin typeface="微软雅黑"/>
              <a:ea typeface="微软雅黑"/>
              <a:cs typeface="微软雅黑"/>
              <a:sym typeface="微软雅黑"/>
            </a:endParaRPr>
          </a:p>
        </p:txBody>
      </p:sp>
      <p:sp>
        <p:nvSpPr>
          <p:cNvPr id="187" name="©天蝎PPT26-8"/>
          <p:cNvSpPr txBox="1"/>
          <p:nvPr/>
        </p:nvSpPr>
        <p:spPr>
          <a:xfrm>
            <a:off x="9175750" y="5171440"/>
            <a:ext cx="2341245" cy="391795"/>
          </a:xfrm>
          <a:prstGeom prst="rect">
            <a:avLst/>
          </a:prstGeom>
          <a:noFill/>
        </p:spPr>
        <p:txBody>
          <a:bodyPr wrap="square" lIns="0" tIns="0" rIns="0" bIns="0" rtlCol="0">
            <a:spAutoFit/>
          </a:bodyPr>
          <a:lstStyle/>
          <a:p>
            <a:pPr marL="0" marR="0" lvl="0" indent="0"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股票技术分析中特定行业股票走势参考线，辅助投资决策，判断行业趋势。</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88" name="©天蝎PPT26-9"/>
          <p:cNvSpPr txBox="1"/>
          <p:nvPr/>
        </p:nvSpPr>
        <p:spPr>
          <a:xfrm>
            <a:off x="9247505" y="4728210"/>
            <a:ext cx="1304290" cy="23812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lang="zh-CN" altLang="en-US" sz="1550" b="1" dirty="0">
                <a:solidFill>
                  <a:srgbClr val="FFFFFF"/>
                </a:solidFill>
                <a:latin typeface="微软雅黑"/>
                <a:ea typeface="微软雅黑"/>
                <a:cs typeface="微软雅黑"/>
                <a:sym typeface="微软雅黑"/>
              </a:rPr>
              <a:t>行业线</a:t>
            </a:r>
            <a:endParaRPr kumimoji="0" lang="zh-CN" altLang="en-US" sz="155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1" name="显眼包PPT-2"/>
          <p:cNvSpPr/>
          <p:nvPr/>
        </p:nvSpPr>
        <p:spPr>
          <a:xfrm>
            <a:off x="7881620" y="2416175"/>
            <a:ext cx="525780" cy="513715"/>
          </a:xfrm>
          <a:prstGeom prst="ellipse">
            <a:avLst/>
          </a:prstGeom>
          <a:gradFill flip="none" rotWithShape="1">
            <a:gsLst>
              <a:gs pos="60000">
                <a:srgbClr val="FFFFFF">
                  <a:alpha val="56000"/>
                </a:srgbClr>
              </a:gs>
              <a:gs pos="100000">
                <a:srgbClr val="668EFF"/>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12" name="显眼包PPT-4"/>
          <p:cNvSpPr txBox="1"/>
          <p:nvPr/>
        </p:nvSpPr>
        <p:spPr>
          <a:xfrm>
            <a:off x="7929880" y="2595245"/>
            <a:ext cx="429260"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销售场</a:t>
            </a:r>
            <a:endPar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 name="显眼包PPT-2"/>
          <p:cNvSpPr/>
          <p:nvPr/>
        </p:nvSpPr>
        <p:spPr>
          <a:xfrm>
            <a:off x="8212455" y="3350895"/>
            <a:ext cx="525780" cy="513715"/>
          </a:xfrm>
          <a:prstGeom prst="ellipse">
            <a:avLst/>
          </a:prstGeom>
          <a:gradFill flip="none" rotWithShape="1">
            <a:gsLst>
              <a:gs pos="60000">
                <a:srgbClr val="FFFFFF">
                  <a:alpha val="56000"/>
                </a:srgbClr>
              </a:gs>
              <a:gs pos="100000">
                <a:srgbClr val="668EFF"/>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2" name="显眼包PPT-4"/>
          <p:cNvSpPr txBox="1"/>
          <p:nvPr/>
        </p:nvSpPr>
        <p:spPr>
          <a:xfrm>
            <a:off x="8260715" y="3529965"/>
            <a:ext cx="429260"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经济场</a:t>
            </a:r>
            <a:endPar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7" name="显眼包PPT-2"/>
          <p:cNvSpPr/>
          <p:nvPr/>
        </p:nvSpPr>
        <p:spPr>
          <a:xfrm>
            <a:off x="7741920" y="4285615"/>
            <a:ext cx="525780" cy="513715"/>
          </a:xfrm>
          <a:prstGeom prst="ellipse">
            <a:avLst/>
          </a:prstGeom>
          <a:gradFill flip="none" rotWithShape="1">
            <a:gsLst>
              <a:gs pos="60000">
                <a:srgbClr val="FFFFFF">
                  <a:alpha val="56000"/>
                </a:srgbClr>
              </a:gs>
              <a:gs pos="100000">
                <a:srgbClr val="668EFF"/>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28" name="显眼包PPT-4"/>
          <p:cNvSpPr txBox="1"/>
          <p:nvPr/>
        </p:nvSpPr>
        <p:spPr>
          <a:xfrm>
            <a:off x="7790180" y="4464685"/>
            <a:ext cx="429260"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商户场</a:t>
            </a:r>
            <a:endPar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3" name="显眼包PPT-2"/>
          <p:cNvSpPr/>
          <p:nvPr/>
        </p:nvSpPr>
        <p:spPr>
          <a:xfrm>
            <a:off x="4150360" y="2416175"/>
            <a:ext cx="525780" cy="513715"/>
          </a:xfrm>
          <a:prstGeom prst="ellipse">
            <a:avLst/>
          </a:prstGeom>
          <a:gradFill flip="none" rotWithShape="1">
            <a:gsLst>
              <a:gs pos="60000">
                <a:srgbClr val="FFFFFF">
                  <a:alpha val="56000"/>
                </a:srgbClr>
              </a:gs>
              <a:gs pos="100000">
                <a:srgbClr val="668EFF"/>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4" name="显眼包PPT-4"/>
          <p:cNvSpPr txBox="1"/>
          <p:nvPr/>
        </p:nvSpPr>
        <p:spPr>
          <a:xfrm>
            <a:off x="4198620" y="2595245"/>
            <a:ext cx="429260"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灵感场</a:t>
            </a:r>
            <a:endPar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39" name="显眼包PPT"/>
          <p:cNvGrpSpPr/>
          <p:nvPr/>
        </p:nvGrpSpPr>
        <p:grpSpPr>
          <a:xfrm>
            <a:off x="3712845" y="3369310"/>
            <a:ext cx="525780" cy="513715"/>
            <a:chOff x="2104935" y="2274814"/>
            <a:chExt cx="1060631" cy="1060631"/>
          </a:xfrm>
        </p:grpSpPr>
        <p:sp>
          <p:nvSpPr>
            <p:cNvPr id="40" name="显眼包PPT-2"/>
            <p:cNvSpPr/>
            <p:nvPr/>
          </p:nvSpPr>
          <p:spPr>
            <a:xfrm>
              <a:off x="2104935" y="2274814"/>
              <a:ext cx="1060631" cy="1060631"/>
            </a:xfrm>
            <a:prstGeom prst="ellipse">
              <a:avLst/>
            </a:prstGeom>
            <a:gradFill flip="none" rotWithShape="1">
              <a:gsLst>
                <a:gs pos="60000">
                  <a:srgbClr val="FFFFFF">
                    <a:alpha val="56000"/>
                  </a:srgbClr>
                </a:gs>
                <a:gs pos="100000">
                  <a:srgbClr val="668EFF"/>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1" name="显眼包PPT-4"/>
            <p:cNvSpPr txBox="1"/>
            <p:nvPr/>
          </p:nvSpPr>
          <p:spPr>
            <a:xfrm>
              <a:off x="2202440" y="2645006"/>
              <a:ext cx="865622" cy="353981"/>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决策场</a:t>
              </a:r>
              <a:endPar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45" name="显眼包PPT"/>
          <p:cNvGrpSpPr/>
          <p:nvPr/>
        </p:nvGrpSpPr>
        <p:grpSpPr>
          <a:xfrm>
            <a:off x="4150360" y="4322445"/>
            <a:ext cx="525780" cy="513715"/>
            <a:chOff x="2104935" y="2274814"/>
            <a:chExt cx="1060631" cy="1060631"/>
          </a:xfrm>
        </p:grpSpPr>
        <p:sp>
          <p:nvSpPr>
            <p:cNvPr id="46" name="显眼包PPT-2"/>
            <p:cNvSpPr/>
            <p:nvPr/>
          </p:nvSpPr>
          <p:spPr>
            <a:xfrm>
              <a:off x="2104935" y="2274814"/>
              <a:ext cx="1060631" cy="1060631"/>
            </a:xfrm>
            <a:prstGeom prst="ellipse">
              <a:avLst/>
            </a:prstGeom>
            <a:gradFill flip="none" rotWithShape="1">
              <a:gsLst>
                <a:gs pos="60000">
                  <a:srgbClr val="FFFFFF">
                    <a:alpha val="56000"/>
                  </a:srgbClr>
                </a:gs>
                <a:gs pos="100000">
                  <a:srgbClr val="668EFF"/>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7" name="显眼包PPT-4"/>
            <p:cNvSpPr txBox="1"/>
            <p:nvPr/>
          </p:nvSpPr>
          <p:spPr>
            <a:xfrm>
              <a:off x="2202440" y="2645006"/>
              <a:ext cx="865622" cy="353981"/>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生活场</a:t>
              </a:r>
              <a:endPar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 name="形状"/>
          <p:cNvSpPr/>
          <p:nvPr/>
        </p:nvSpPr>
        <p:spPr>
          <a:xfrm rot="5400000" flipV="1">
            <a:off x="5717540" y="2094230"/>
            <a:ext cx="1024255" cy="517144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a:gsLst>
              <a:gs pos="100000">
                <a:srgbClr val="3368FF"/>
              </a:gs>
              <a:gs pos="26000">
                <a:srgbClr val="3368FF">
                  <a:alpha val="0"/>
                </a:srgbClr>
              </a:gs>
            </a:gsLst>
            <a:lin ang="0" scaled="0"/>
          </a:gradFill>
          <a:ln w="9525">
            <a:noFill/>
          </a:ln>
        </p:spPr>
        <p:txBody>
          <a:bodyPr vert="horz" wrap="square" lIns="68580" tIns="34290" rIns="68580" bIns="34290" numCol="1" rtlCol="0" anchor="t" anchorCtr="0" compatLnSpc="1">
            <a:noAutofit/>
          </a:bodyPr>
          <a:p>
            <a:pPr lvl="0" algn="l">
              <a:buClrTx/>
              <a:buSzTx/>
              <a:buFontTx/>
              <a:defRPr>
                <a:solidFill>
                  <a:srgbClr val="383838"/>
                </a:solidFill>
                <a:latin typeface="微软雅黑"/>
                <a:ea typeface="微软雅黑"/>
                <a:cs typeface="微软雅黑"/>
              </a:defRPr>
            </a:pPr>
            <a:endParaRPr kumimoji="1" lang="zh-CN" altLang="en-US" sz="1350">
              <a:solidFill>
                <a:srgbClr val="383838"/>
              </a:solidFill>
              <a:latin typeface="微软雅黑"/>
              <a:ea typeface="微软雅黑"/>
              <a:cs typeface="微软雅黑"/>
              <a:sym typeface="微软雅黑"/>
            </a:endParaRPr>
          </a:p>
        </p:txBody>
      </p:sp>
      <p:sp>
        <p:nvSpPr>
          <p:cNvPr id="302" name="椭圆 301"/>
          <p:cNvSpPr/>
          <p:nvPr/>
        </p:nvSpPr>
        <p:spPr>
          <a:xfrm>
            <a:off x="2560955" y="1560195"/>
            <a:ext cx="3653155" cy="2781935"/>
          </a:xfrm>
          <a:prstGeom prst="ellipse">
            <a:avLst/>
          </a:prstGeom>
          <a:gradFill>
            <a:gsLst>
              <a:gs pos="100000">
                <a:srgbClr val="3368FF"/>
              </a:gs>
              <a:gs pos="5000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14" name="椭圆 313"/>
          <p:cNvSpPr/>
          <p:nvPr/>
        </p:nvSpPr>
        <p:spPr>
          <a:xfrm rot="10800000">
            <a:off x="2441575" y="1420495"/>
            <a:ext cx="2846070" cy="3488055"/>
          </a:xfrm>
          <a:prstGeom prst="ellipse">
            <a:avLst/>
          </a:prstGeom>
          <a:noFill/>
          <a:ln>
            <a:gradFill>
              <a:gsLst>
                <a:gs pos="83000">
                  <a:srgbClr val="3368FF">
                    <a:alpha val="0"/>
                  </a:srgbClr>
                </a:gs>
                <a:gs pos="100000">
                  <a:srgbClr val="3368FF"/>
                </a:gs>
              </a:gsLst>
              <a:lin ang="0" scaled="0"/>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03" name="椭圆 302"/>
          <p:cNvSpPr/>
          <p:nvPr/>
        </p:nvSpPr>
        <p:spPr>
          <a:xfrm flipH="1">
            <a:off x="6215380" y="1560195"/>
            <a:ext cx="3653155" cy="2781935"/>
          </a:xfrm>
          <a:prstGeom prst="ellipse">
            <a:avLst/>
          </a:prstGeom>
          <a:gradFill>
            <a:gsLst>
              <a:gs pos="100000">
                <a:srgbClr val="3368FF"/>
              </a:gs>
              <a:gs pos="5000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中心发散架构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数字化营销的发展趋势</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圆角矩形 2"/>
          <p:cNvSpPr/>
          <p:nvPr/>
        </p:nvSpPr>
        <p:spPr>
          <a:xfrm>
            <a:off x="678180" y="1043305"/>
            <a:ext cx="3131185" cy="562610"/>
          </a:xfrm>
          <a:prstGeom prst="roundRect">
            <a:avLst>
              <a:gd name="adj" fmla="val 50000"/>
            </a:avLst>
          </a:prstGeom>
          <a:gradFill>
            <a:gsLst>
              <a:gs pos="0">
                <a:srgbClr val="0042FF"/>
              </a:gs>
              <a:gs pos="100000">
                <a:srgbClr val="3368FF"/>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b="1">
                <a:solidFill>
                  <a:srgbClr val="FFFFFF"/>
                </a:solidFill>
                <a:cs typeface="微软雅黑"/>
                <a:latin typeface="微软雅黑"/>
                <a:ea typeface="微软雅黑"/>
              </a:rPr>
              <a:t>行业侧：</a:t>
            </a:r>
            <a:r>
              <a:rPr lang="zh-CN" altLang="en-US" sz="1400">
                <a:solidFill>
                  <a:srgbClr val="FFFFFF"/>
                </a:solidFill>
                <a:cs typeface="微软雅黑"/>
                <a:latin typeface="微软雅黑"/>
                <a:ea typeface="微软雅黑"/>
              </a:rPr>
              <a:t>全域协同驱动结构增长</a:t>
            </a:r>
            <a:endParaRPr lang="zh-CN" altLang="en-US" sz="1400">
              <a:solidFill>
                <a:srgbClr val="FFFFFF"/>
              </a:solidFill>
              <a:cs typeface="微软雅黑"/>
              <a:latin typeface="微软雅黑"/>
              <a:ea typeface="微软雅黑"/>
            </a:endParaRPr>
          </a:p>
        </p:txBody>
      </p:sp>
      <p:grpSp>
        <p:nvGrpSpPr>
          <p:cNvPr id="2" name="组合 1"/>
          <p:cNvGrpSpPr/>
          <p:nvPr/>
        </p:nvGrpSpPr>
        <p:grpSpPr>
          <a:xfrm>
            <a:off x="3258820" y="5529263"/>
            <a:ext cx="5688330" cy="1059180"/>
            <a:chOff x="5132" y="8702"/>
            <a:chExt cx="8958" cy="1668"/>
          </a:xfrm>
        </p:grpSpPr>
        <p:sp>
          <p:nvSpPr>
            <p:cNvPr id="8" name="圆角矩形 7"/>
            <p:cNvSpPr/>
            <p:nvPr/>
          </p:nvSpPr>
          <p:spPr>
            <a:xfrm>
              <a:off x="5132" y="8702"/>
              <a:ext cx="8959" cy="1669"/>
            </a:xfrm>
            <a:prstGeom prst="roundRect">
              <a:avLst>
                <a:gd name="adj" fmla="val 12642"/>
              </a:avLst>
            </a:prstGeom>
            <a:solidFill>
              <a:srgbClr val="E6E6E6">
                <a:alpha val="70000"/>
              </a:srgbClr>
            </a:solidFill>
            <a:ln>
              <a:solidFill>
                <a:srgbClr val="0042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9" name="直接连接符 8"/>
            <p:cNvCxnSpPr/>
            <p:nvPr/>
          </p:nvCxnSpPr>
          <p:spPr>
            <a:xfrm>
              <a:off x="7846" y="8996"/>
              <a:ext cx="0" cy="1170"/>
            </a:xfrm>
            <a:prstGeom prst="line">
              <a:avLst/>
            </a:prstGeom>
            <a:ln>
              <a:gradFill>
                <a:gsLst>
                  <a:gs pos="100000">
                    <a:srgbClr val="0042FF">
                      <a:alpha val="0"/>
                    </a:srgbClr>
                  </a:gs>
                  <a:gs pos="0">
                    <a:srgbClr val="3368FF"/>
                  </a:gs>
                </a:gsLst>
                <a:lin ang="5400000" scaled="1"/>
              </a:gradFill>
            </a:ln>
          </p:spPr>
          <p:style>
            <a:lnRef idx="2">
              <a:srgbClr val="0042FF"/>
            </a:lnRef>
            <a:fillRef idx="0">
              <a:srgbClr val="FFFFFF"/>
            </a:fillRef>
            <a:effectRef idx="0">
              <a:srgbClr val="FFFFFF"/>
            </a:effectRef>
            <a:fontRef idx="minor">
              <a:srgbClr val="383838"/>
            </a:fontRef>
          </p:style>
        </p:cxnSp>
        <p:cxnSp>
          <p:nvCxnSpPr>
            <p:cNvPr id="11" name="直接连接符 10"/>
            <p:cNvCxnSpPr/>
            <p:nvPr/>
          </p:nvCxnSpPr>
          <p:spPr>
            <a:xfrm>
              <a:off x="10998" y="8996"/>
              <a:ext cx="0" cy="1170"/>
            </a:xfrm>
            <a:prstGeom prst="line">
              <a:avLst/>
            </a:prstGeom>
            <a:ln>
              <a:gradFill>
                <a:gsLst>
                  <a:gs pos="100000">
                    <a:srgbClr val="3368FF">
                      <a:alpha val="0"/>
                    </a:srgbClr>
                  </a:gs>
                  <a:gs pos="0">
                    <a:srgbClr val="3368FF"/>
                  </a:gs>
                </a:gsLst>
                <a:lin ang="5400000" scaled="1"/>
              </a:gradFill>
            </a:ln>
          </p:spPr>
          <p:style>
            <a:lnRef idx="2">
              <a:srgbClr val="0042FF"/>
            </a:lnRef>
            <a:fillRef idx="0">
              <a:srgbClr val="FFFFFF"/>
            </a:fillRef>
            <a:effectRef idx="0">
              <a:srgbClr val="FFFFFF"/>
            </a:effectRef>
            <a:fontRef idx="minor">
              <a:srgbClr val="383838"/>
            </a:fontRef>
          </p:style>
        </p:cxnSp>
        <p:grpSp>
          <p:nvGrpSpPr>
            <p:cNvPr id="14" name="组合 13"/>
            <p:cNvGrpSpPr/>
            <p:nvPr/>
          </p:nvGrpSpPr>
          <p:grpSpPr>
            <a:xfrm rot="0">
              <a:off x="5133" y="8875"/>
              <a:ext cx="2581" cy="1291"/>
              <a:chOff x="5272" y="6609"/>
              <a:chExt cx="2581" cy="1291"/>
            </a:xfrm>
          </p:grpSpPr>
          <p:sp>
            <p:nvSpPr>
              <p:cNvPr id="12" name="文本框 11"/>
              <p:cNvSpPr txBox="1"/>
              <p:nvPr/>
            </p:nvSpPr>
            <p:spPr>
              <a:xfrm>
                <a:off x="5272" y="6609"/>
                <a:ext cx="2581" cy="434"/>
              </a:xfrm>
              <a:prstGeom prst="rect">
                <a:avLst/>
              </a:prstGeom>
              <a:noFill/>
            </p:spPr>
            <p:txBody>
              <a:bodyPr wrap="square" rtlCol="0">
                <a:spAutoFit/>
              </a:bodyPr>
              <a:p>
                <a:pPr algn="ctr">
                  <a:defRPr>
                    <a:latin typeface="微软雅黑"/>
                    <a:ea typeface="微软雅黑"/>
                    <a:cs typeface="微软雅黑"/>
                  </a:defRPr>
                </a:pPr>
                <a:r>
                  <a:rPr lang="en-US" altLang="zh-CN" sz="1200" b="1">
                    <a:solidFill>
                      <a:srgbClr val="0042FF"/>
                    </a:solidFill>
                    <a:latin typeface="微软雅黑"/>
                    <a:ea typeface="微软雅黑"/>
                    <a:cs typeface="微软雅黑"/>
                  </a:rPr>
                  <a:t>AI</a:t>
                </a:r>
                <a:r>
                  <a:rPr lang="zh-CN" altLang="en-US" sz="1200" b="1">
                    <a:solidFill>
                      <a:srgbClr val="0042FF"/>
                    </a:solidFill>
                    <a:latin typeface="微软雅黑"/>
                    <a:ea typeface="微软雅黑"/>
                    <a:cs typeface="微软雅黑"/>
                  </a:rPr>
                  <a:t>赋能营销全流程</a:t>
                </a:r>
                <a:endParaRPr lang="zh-CN" altLang="en-US" sz="1200" b="1">
                  <a:solidFill>
                    <a:srgbClr val="0042FF"/>
                  </a:solidFill>
                  <a:latin typeface="微软雅黑"/>
                  <a:ea typeface="微软雅黑"/>
                  <a:cs typeface="微软雅黑"/>
                </a:endParaRPr>
              </a:p>
            </p:txBody>
          </p:sp>
          <p:sp>
            <p:nvSpPr>
              <p:cNvPr id="13" name="文本框 12"/>
              <p:cNvSpPr txBox="1"/>
              <p:nvPr/>
            </p:nvSpPr>
            <p:spPr>
              <a:xfrm>
                <a:off x="5367" y="7102"/>
                <a:ext cx="2392" cy="798"/>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广告智能投放、用户分群建模、生成式内容创作成为核心应用。</a:t>
                </a:r>
                <a:endParaRPr lang="zh-CN" altLang="en-US" sz="1000">
                  <a:solidFill>
                    <a:srgbClr val="383838"/>
                  </a:solidFill>
                  <a:latin typeface="微软雅黑"/>
                  <a:ea typeface="微软雅黑"/>
                  <a:cs typeface="微软雅黑"/>
                </a:endParaRPr>
              </a:p>
            </p:txBody>
          </p:sp>
        </p:grpSp>
        <p:grpSp>
          <p:nvGrpSpPr>
            <p:cNvPr id="15" name="组合 14"/>
            <p:cNvGrpSpPr/>
            <p:nvPr/>
          </p:nvGrpSpPr>
          <p:grpSpPr>
            <a:xfrm rot="0">
              <a:off x="7903" y="8876"/>
              <a:ext cx="3045" cy="1262"/>
              <a:chOff x="4681" y="6609"/>
              <a:chExt cx="3045" cy="1262"/>
            </a:xfrm>
          </p:grpSpPr>
          <p:sp>
            <p:nvSpPr>
              <p:cNvPr id="16" name="文本框 15"/>
              <p:cNvSpPr txBox="1"/>
              <p:nvPr/>
            </p:nvSpPr>
            <p:spPr>
              <a:xfrm>
                <a:off x="4681" y="6609"/>
                <a:ext cx="3045" cy="434"/>
              </a:xfrm>
              <a:prstGeom prst="rect">
                <a:avLst/>
              </a:prstGeom>
              <a:noFill/>
            </p:spPr>
            <p:txBody>
              <a:bodyPr wrap="square" rtlCol="0">
                <a:spAutoFit/>
              </a:bodyPr>
              <a:p>
                <a:pPr algn="ctr">
                  <a:defRPr>
                    <a:latin typeface="微软雅黑"/>
                    <a:ea typeface="微软雅黑"/>
                    <a:cs typeface="微软雅黑"/>
                  </a:defRPr>
                </a:pPr>
                <a:r>
                  <a:rPr lang="zh-CN" sz="1200" b="1">
                    <a:solidFill>
                      <a:srgbClr val="0042FF"/>
                    </a:solidFill>
                    <a:latin typeface="微软雅黑"/>
                    <a:ea typeface="微软雅黑"/>
                    <a:cs typeface="微软雅黑"/>
                  </a:rPr>
                  <a:t>智能终端互联构建生态</a:t>
                </a:r>
                <a:endParaRPr lang="zh-CN" sz="1200" b="1">
                  <a:solidFill>
                    <a:srgbClr val="0042FF"/>
                  </a:solidFill>
                  <a:latin typeface="微软雅黑"/>
                  <a:ea typeface="微软雅黑"/>
                  <a:cs typeface="微软雅黑"/>
                </a:endParaRPr>
              </a:p>
            </p:txBody>
          </p:sp>
          <p:sp>
            <p:nvSpPr>
              <p:cNvPr id="17" name="文本框 16"/>
              <p:cNvSpPr txBox="1"/>
              <p:nvPr/>
            </p:nvSpPr>
            <p:spPr>
              <a:xfrm>
                <a:off x="4755" y="7043"/>
                <a:ext cx="2897" cy="828"/>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鸿蒙系统推动多设备协同，华为浏览器全场景分发等案例显示技术对流量入口的重构。</a:t>
                </a:r>
                <a:endParaRPr lang="zh-CN" sz="1000">
                  <a:solidFill>
                    <a:srgbClr val="383838"/>
                  </a:solidFill>
                  <a:latin typeface="微软雅黑"/>
                  <a:ea typeface="微软雅黑"/>
                  <a:cs typeface="微软雅黑"/>
                </a:endParaRPr>
              </a:p>
            </p:txBody>
          </p:sp>
        </p:grpSp>
        <p:grpSp>
          <p:nvGrpSpPr>
            <p:cNvPr id="19" name="组合 18"/>
            <p:cNvGrpSpPr/>
            <p:nvPr/>
          </p:nvGrpSpPr>
          <p:grpSpPr>
            <a:xfrm rot="0">
              <a:off x="11182" y="8877"/>
              <a:ext cx="2720" cy="1262"/>
              <a:chOff x="4599" y="6609"/>
              <a:chExt cx="2720" cy="1262"/>
            </a:xfrm>
          </p:grpSpPr>
          <p:sp>
            <p:nvSpPr>
              <p:cNvPr id="21" name="文本框 20"/>
              <p:cNvSpPr txBox="1"/>
              <p:nvPr/>
            </p:nvSpPr>
            <p:spPr>
              <a:xfrm>
                <a:off x="4599" y="6609"/>
                <a:ext cx="2720" cy="434"/>
              </a:xfrm>
              <a:prstGeom prst="rect">
                <a:avLst/>
              </a:prstGeom>
              <a:noFill/>
            </p:spPr>
            <p:txBody>
              <a:bodyPr wrap="square" rtlCol="0">
                <a:spAutoFit/>
              </a:bodyPr>
              <a:p>
                <a:pPr algn="ctr">
                  <a:defRPr>
                    <a:latin typeface="微软雅黑"/>
                    <a:ea typeface="微软雅黑"/>
                    <a:cs typeface="微软雅黑"/>
                  </a:defRPr>
                </a:pPr>
                <a:r>
                  <a:rPr lang="zh-CN" sz="1200" b="1">
                    <a:solidFill>
                      <a:srgbClr val="0042FF"/>
                    </a:solidFill>
                    <a:latin typeface="微软雅黑"/>
                    <a:ea typeface="微软雅黑"/>
                    <a:cs typeface="微软雅黑"/>
                  </a:rPr>
                  <a:t>实时数据决策与可视化</a:t>
                </a:r>
                <a:endParaRPr lang="zh-CN" sz="1200" b="1">
                  <a:solidFill>
                    <a:srgbClr val="0042FF"/>
                  </a:solidFill>
                  <a:latin typeface="微软雅黑"/>
                  <a:ea typeface="微软雅黑"/>
                  <a:cs typeface="微软雅黑"/>
                </a:endParaRPr>
              </a:p>
            </p:txBody>
          </p:sp>
          <p:sp>
            <p:nvSpPr>
              <p:cNvPr id="32" name="文本框 31"/>
              <p:cNvSpPr txBox="1"/>
              <p:nvPr/>
            </p:nvSpPr>
            <p:spPr>
              <a:xfrm>
                <a:off x="4691" y="7043"/>
                <a:ext cx="2536" cy="828"/>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rPr>
                  <a:t>Looker Studio</a:t>
                </a:r>
                <a:r>
                  <a:rPr lang="zh-CN" altLang="en-US" sz="1000">
                    <a:solidFill>
                      <a:srgbClr val="383838"/>
                    </a:solidFill>
                    <a:latin typeface="微软雅黑"/>
                    <a:ea typeface="微软雅黑"/>
                    <a:cs typeface="微软雅黑"/>
                  </a:rPr>
                  <a:t>等工具实现实时看板与转化漏斗分析，动态优化广告投放策略。</a:t>
                </a:r>
                <a:endParaRPr lang="zh-CN" altLang="en-US" sz="1000">
                  <a:solidFill>
                    <a:srgbClr val="383838"/>
                  </a:solidFill>
                  <a:latin typeface="微软雅黑"/>
                  <a:ea typeface="微软雅黑"/>
                  <a:cs typeface="微软雅黑"/>
                </a:endParaRPr>
              </a:p>
            </p:txBody>
          </p:sp>
        </p:grpSp>
      </p:grpSp>
      <p:grpSp>
        <p:nvGrpSpPr>
          <p:cNvPr id="52" name="组合 51"/>
          <p:cNvGrpSpPr/>
          <p:nvPr/>
        </p:nvGrpSpPr>
        <p:grpSpPr>
          <a:xfrm>
            <a:off x="691515" y="5529263"/>
            <a:ext cx="1921510" cy="1059180"/>
            <a:chOff x="640" y="6866"/>
            <a:chExt cx="3026" cy="1668"/>
          </a:xfrm>
        </p:grpSpPr>
        <p:grpSp>
          <p:nvGrpSpPr>
            <p:cNvPr id="199" name="组合 198"/>
            <p:cNvGrpSpPr/>
            <p:nvPr/>
          </p:nvGrpSpPr>
          <p:grpSpPr>
            <a:xfrm>
              <a:off x="640" y="6866"/>
              <a:ext cx="3026" cy="1669"/>
              <a:chOff x="1333" y="8543"/>
              <a:chExt cx="3252" cy="1648"/>
            </a:xfrm>
          </p:grpSpPr>
          <p:sp>
            <p:nvSpPr>
              <p:cNvPr id="134" name="Rounded Rectangle 48"/>
              <p:cNvSpPr/>
              <p:nvPr/>
            </p:nvSpPr>
            <p:spPr>
              <a:xfrm>
                <a:off x="1333" y="8543"/>
                <a:ext cx="3252" cy="1648"/>
              </a:xfrm>
              <a:prstGeom prst="roundRect">
                <a:avLst>
                  <a:gd name="adj" fmla="val 6706"/>
                </a:avLst>
              </a:prstGeom>
              <a:solidFill>
                <a:srgbClr val="FFFFFF">
                  <a:alpha val="50000"/>
                </a:srgbClr>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24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98" name="Rounded Rectangle 48"/>
              <p:cNvSpPr/>
              <p:nvPr/>
            </p:nvSpPr>
            <p:spPr>
              <a:xfrm>
                <a:off x="1333" y="8543"/>
                <a:ext cx="3252" cy="469"/>
              </a:xfrm>
              <a:prstGeom prst="roundRect">
                <a:avLst>
                  <a:gd name="adj" fmla="val 6706"/>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a:ln>
                      <a:noFill/>
                    </a:ln>
                    <a:solidFill>
                      <a:srgbClr val="FFFFFF"/>
                    </a:solidFill>
                    <a:effectLst/>
                    <a:uLnTx/>
                    <a:uFillTx/>
                    <a:latin typeface="微软雅黑"/>
                    <a:ea typeface="微软雅黑"/>
                    <a:cs typeface="微软雅黑"/>
                  </a:rPr>
                  <a:t>生成式</a:t>
                </a:r>
                <a:r>
                  <a:rPr kumimoji="0" lang="en-US" altLang="zh-CN" sz="1200" b="1" i="0" u="none" strike="noStrike" kern="1200" cap="none" spc="0" normalizeH="0" baseline="0" noProof="0">
                    <a:ln>
                      <a:noFill/>
                    </a:ln>
                    <a:solidFill>
                      <a:srgbClr val="FFFFFF"/>
                    </a:solidFill>
                    <a:effectLst/>
                    <a:uLnTx/>
                    <a:uFillTx/>
                    <a:latin typeface="微软雅黑"/>
                    <a:ea typeface="微软雅黑"/>
                    <a:cs typeface="微软雅黑"/>
                  </a:rPr>
                  <a:t>AI</a:t>
                </a:r>
                <a:r>
                  <a:rPr kumimoji="0" lang="zh-CN" altLang="en-US" sz="1200" b="1" i="0" u="none" strike="noStrike" kern="1200" cap="none" spc="0" normalizeH="0" baseline="0" noProof="0">
                    <a:ln>
                      <a:noFill/>
                    </a:ln>
                    <a:solidFill>
                      <a:srgbClr val="FFFFFF"/>
                    </a:solidFill>
                    <a:effectLst/>
                    <a:uLnTx/>
                    <a:uFillTx/>
                    <a:latin typeface="微软雅黑"/>
                    <a:ea typeface="微软雅黑"/>
                    <a:cs typeface="微软雅黑"/>
                  </a:rPr>
                  <a:t>内容生产线</a:t>
                </a:r>
                <a:endParaRPr kumimoji="0" lang="zh-CN" altLang="en-US" sz="1200" b="1"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51" name="文本框 50"/>
            <p:cNvSpPr txBox="1"/>
            <p:nvPr/>
          </p:nvSpPr>
          <p:spPr>
            <a:xfrm>
              <a:off x="730" y="7399"/>
              <a:ext cx="2791" cy="1113"/>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结合文生图、文生视频功能工具批量生产素材。巨量引擎通过</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生产短视频素材成本降低</a:t>
              </a:r>
              <a:r>
                <a:rPr lang="en-US" altLang="zh-CN" sz="1000">
                  <a:solidFill>
                    <a:srgbClr val="383838"/>
                  </a:solidFill>
                  <a:latin typeface="微软雅黑"/>
                  <a:ea typeface="微软雅黑"/>
                  <a:cs typeface="微软雅黑"/>
                </a:rPr>
                <a:t>70%</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grpSp>
      <p:grpSp>
        <p:nvGrpSpPr>
          <p:cNvPr id="77" name="组合 76"/>
          <p:cNvGrpSpPr/>
          <p:nvPr/>
        </p:nvGrpSpPr>
        <p:grpSpPr>
          <a:xfrm>
            <a:off x="8729345" y="5805488"/>
            <a:ext cx="728345" cy="506730"/>
            <a:chOff x="11182" y="11546"/>
            <a:chExt cx="1147" cy="798"/>
          </a:xfrm>
        </p:grpSpPr>
        <p:sp>
          <p:nvSpPr>
            <p:cNvPr id="62" name="菱形 61"/>
            <p:cNvSpPr/>
            <p:nvPr/>
          </p:nvSpPr>
          <p:spPr>
            <a:xfrm rot="10800000" flipV="1">
              <a:off x="11182" y="1154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76" name="菱形 75"/>
            <p:cNvSpPr/>
            <p:nvPr/>
          </p:nvSpPr>
          <p:spPr>
            <a:xfrm rot="10800000" flipV="1">
              <a:off x="11427" y="1156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78" name="组合 77"/>
          <p:cNvGrpSpPr/>
          <p:nvPr/>
        </p:nvGrpSpPr>
        <p:grpSpPr>
          <a:xfrm flipH="1">
            <a:off x="2737485" y="5805488"/>
            <a:ext cx="728345" cy="506730"/>
            <a:chOff x="11182" y="11546"/>
            <a:chExt cx="1147" cy="798"/>
          </a:xfrm>
        </p:grpSpPr>
        <p:sp>
          <p:nvSpPr>
            <p:cNvPr id="79" name="菱形 78"/>
            <p:cNvSpPr/>
            <p:nvPr/>
          </p:nvSpPr>
          <p:spPr>
            <a:xfrm rot="10800000" flipV="1">
              <a:off x="11182" y="1154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81" name="菱形 80"/>
            <p:cNvSpPr/>
            <p:nvPr/>
          </p:nvSpPr>
          <p:spPr>
            <a:xfrm rot="10800000" flipV="1">
              <a:off x="11427" y="1156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86" name="组合 85"/>
          <p:cNvGrpSpPr/>
          <p:nvPr/>
        </p:nvGrpSpPr>
        <p:grpSpPr>
          <a:xfrm>
            <a:off x="9577070" y="5528945"/>
            <a:ext cx="1921510" cy="1059815"/>
            <a:chOff x="640" y="6866"/>
            <a:chExt cx="3026" cy="1669"/>
          </a:xfrm>
        </p:grpSpPr>
        <p:grpSp>
          <p:nvGrpSpPr>
            <p:cNvPr id="88" name="组合 87"/>
            <p:cNvGrpSpPr/>
            <p:nvPr/>
          </p:nvGrpSpPr>
          <p:grpSpPr>
            <a:xfrm>
              <a:off x="640" y="6866"/>
              <a:ext cx="3026" cy="1669"/>
              <a:chOff x="1333" y="8543"/>
              <a:chExt cx="3252" cy="1648"/>
            </a:xfrm>
          </p:grpSpPr>
          <p:sp>
            <p:nvSpPr>
              <p:cNvPr id="89" name="Rounded Rectangle 48"/>
              <p:cNvSpPr/>
              <p:nvPr/>
            </p:nvSpPr>
            <p:spPr>
              <a:xfrm>
                <a:off x="1333" y="8543"/>
                <a:ext cx="3252" cy="1648"/>
              </a:xfrm>
              <a:prstGeom prst="roundRect">
                <a:avLst>
                  <a:gd name="adj" fmla="val 6706"/>
                </a:avLst>
              </a:prstGeom>
              <a:solidFill>
                <a:srgbClr val="FFFFFF">
                  <a:alpha val="50000"/>
                </a:srgbClr>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24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90" name="Rounded Rectangle 48"/>
              <p:cNvSpPr/>
              <p:nvPr/>
            </p:nvSpPr>
            <p:spPr>
              <a:xfrm>
                <a:off x="1333" y="8543"/>
                <a:ext cx="3252" cy="469"/>
              </a:xfrm>
              <a:prstGeom prst="roundRect">
                <a:avLst>
                  <a:gd name="adj" fmla="val 6706"/>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a:ln>
                      <a:noFill/>
                    </a:ln>
                    <a:solidFill>
                      <a:srgbClr val="FFFFFF"/>
                    </a:solidFill>
                    <a:effectLst/>
                    <a:uLnTx/>
                    <a:uFillTx/>
                    <a:latin typeface="微软雅黑"/>
                    <a:ea typeface="微软雅黑"/>
                    <a:cs typeface="微软雅黑"/>
                  </a:rPr>
                  <a:t>实时看板与归因模型</a:t>
                </a:r>
                <a:endParaRPr kumimoji="0" lang="zh-CN" altLang="en-US" sz="1200" b="1"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91" name="文本框 90"/>
            <p:cNvSpPr txBox="1"/>
            <p:nvPr/>
          </p:nvSpPr>
          <p:spPr>
            <a:xfrm>
              <a:off x="730" y="7399"/>
              <a:ext cx="2791" cy="1113"/>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采用数据驱动归因</a:t>
              </a:r>
              <a:r>
                <a:rPr lang="en-US" altLang="zh-CN" sz="1000">
                  <a:solidFill>
                    <a:srgbClr val="383838"/>
                  </a:solidFill>
                  <a:latin typeface="微软雅黑"/>
                  <a:ea typeface="微软雅黑"/>
                  <a:cs typeface="微软雅黑"/>
                </a:rPr>
                <a:t>(DDA)</a:t>
              </a:r>
              <a:r>
                <a:rPr lang="zh-CN" altLang="en-US" sz="1000">
                  <a:solidFill>
                    <a:srgbClr val="383838"/>
                  </a:solidFill>
                  <a:latin typeface="微软雅黑"/>
                  <a:ea typeface="微软雅黑"/>
                  <a:cs typeface="微软雅黑"/>
                </a:rPr>
                <a:t>模型，量化各渠道贡献值，部署</a:t>
              </a:r>
              <a:r>
                <a:rPr lang="en-US" altLang="zh-CN" sz="1000">
                  <a:solidFill>
                    <a:srgbClr val="383838"/>
                  </a:solidFill>
                  <a:latin typeface="微软雅黑"/>
                  <a:ea typeface="微软雅黑"/>
                  <a:cs typeface="微软雅黑"/>
                </a:rPr>
                <a:t>Looker Studio</a:t>
              </a:r>
              <a:r>
                <a:rPr lang="zh-CN" altLang="en-US" sz="1000">
                  <a:solidFill>
                    <a:srgbClr val="383838"/>
                  </a:solidFill>
                  <a:latin typeface="微软雅黑"/>
                  <a:ea typeface="微软雅黑"/>
                  <a:cs typeface="微软雅黑"/>
                </a:rPr>
                <a:t>等工具实现秒级数据更新。</a:t>
              </a:r>
              <a:endParaRPr lang="zh-CN" altLang="en-US" sz="1000">
                <a:solidFill>
                  <a:srgbClr val="383838"/>
                </a:solidFill>
                <a:latin typeface="微软雅黑"/>
                <a:ea typeface="微软雅黑"/>
                <a:cs typeface="微软雅黑"/>
              </a:endParaRPr>
            </a:p>
          </p:txBody>
        </p:sp>
      </p:grpSp>
      <p:grpSp>
        <p:nvGrpSpPr>
          <p:cNvPr id="112" name="组合 111"/>
          <p:cNvGrpSpPr/>
          <p:nvPr/>
        </p:nvGrpSpPr>
        <p:grpSpPr>
          <a:xfrm>
            <a:off x="1767205" y="2099310"/>
            <a:ext cx="335915" cy="335915"/>
            <a:chOff x="2639" y="7671"/>
            <a:chExt cx="786" cy="786"/>
          </a:xfrm>
        </p:grpSpPr>
        <p:sp>
          <p:nvSpPr>
            <p:cNvPr id="96" name="PA-椭圆 27"/>
            <p:cNvSpPr/>
            <p:nvPr>
              <p:custDataLst>
                <p:tags r:id="rId3"/>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103" name="组合 102"/>
            <p:cNvGrpSpPr/>
            <p:nvPr/>
          </p:nvGrpSpPr>
          <p:grpSpPr>
            <a:xfrm>
              <a:off x="2696" y="7727"/>
              <a:ext cx="673" cy="673"/>
              <a:chOff x="3549229" y="1355780"/>
              <a:chExt cx="5358640" cy="5358641"/>
            </a:xfrm>
          </p:grpSpPr>
          <p:sp>
            <p:nvSpPr>
              <p:cNvPr id="106" name="PA-椭圆 27"/>
              <p:cNvSpPr/>
              <p:nvPr>
                <p:custDataLst>
                  <p:tags r:id="rId4"/>
                </p:custDataLst>
              </p:nvPr>
            </p:nvSpPr>
            <p:spPr>
              <a:xfrm>
                <a:off x="4092132" y="1898672"/>
                <a:ext cx="4272867" cy="4272838"/>
              </a:xfrm>
              <a:prstGeom prst="ellipse">
                <a:avLst/>
              </a:prstGeom>
              <a:solidFill>
                <a:srgbClr val="FFFFFF"/>
              </a:soli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107" name="弧形 106"/>
              <p:cNvSpPr/>
              <p:nvPr/>
            </p:nvSpPr>
            <p:spPr>
              <a:xfrm rot="11094351">
                <a:off x="3549229" y="1355780"/>
                <a:ext cx="5358639" cy="5358640"/>
              </a:xfrm>
              <a:prstGeom prst="arc">
                <a:avLst>
                  <a:gd name="adj1" fmla="val 1067377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08" name="弧形 107"/>
              <p:cNvSpPr/>
              <p:nvPr/>
            </p:nvSpPr>
            <p:spPr>
              <a:xfrm rot="16200000">
                <a:off x="3549230" y="1355781"/>
                <a:ext cx="5358640" cy="5358639"/>
              </a:xfrm>
              <a:prstGeom prst="arc">
                <a:avLst>
                  <a:gd name="adj1" fmla="val 10889005"/>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09" name="弧形 108"/>
              <p:cNvSpPr/>
              <p:nvPr/>
            </p:nvSpPr>
            <p:spPr>
              <a:xfrm rot="20700000">
                <a:off x="3549230" y="1355780"/>
                <a:ext cx="5358639" cy="5358640"/>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10" name="弧形 109"/>
              <p:cNvSpPr/>
              <p:nvPr/>
            </p:nvSpPr>
            <p:spPr>
              <a:xfrm rot="5400000">
                <a:off x="3549230" y="1355781"/>
                <a:ext cx="5358640" cy="5358639"/>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111" name="图片 110" descr="实时"/>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51" y="7882"/>
              <a:ext cx="363" cy="363"/>
            </a:xfrm>
            <a:prstGeom prst="rect">
              <a:avLst/>
            </a:prstGeom>
          </p:spPr>
        </p:pic>
      </p:grpSp>
      <p:grpSp>
        <p:nvGrpSpPr>
          <p:cNvPr id="113" name="组合 112"/>
          <p:cNvGrpSpPr/>
          <p:nvPr/>
        </p:nvGrpSpPr>
        <p:grpSpPr>
          <a:xfrm>
            <a:off x="1767205" y="2918460"/>
            <a:ext cx="335915" cy="335915"/>
            <a:chOff x="2639" y="7671"/>
            <a:chExt cx="786" cy="786"/>
          </a:xfrm>
        </p:grpSpPr>
        <p:sp>
          <p:nvSpPr>
            <p:cNvPr id="114" name="PA-椭圆 27"/>
            <p:cNvSpPr/>
            <p:nvPr>
              <p:custDataLst>
                <p:tags r:id="rId7"/>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115" name="组合 114"/>
            <p:cNvGrpSpPr/>
            <p:nvPr/>
          </p:nvGrpSpPr>
          <p:grpSpPr>
            <a:xfrm>
              <a:off x="2696" y="7727"/>
              <a:ext cx="673" cy="673"/>
              <a:chOff x="3549229" y="1355780"/>
              <a:chExt cx="5358640" cy="5358641"/>
            </a:xfrm>
          </p:grpSpPr>
          <p:sp>
            <p:nvSpPr>
              <p:cNvPr id="116" name="PA-椭圆 27"/>
              <p:cNvSpPr/>
              <p:nvPr>
                <p:custDataLst>
                  <p:tags r:id="rId8"/>
                </p:custDataLst>
              </p:nvPr>
            </p:nvSpPr>
            <p:spPr>
              <a:xfrm>
                <a:off x="4092132" y="1898672"/>
                <a:ext cx="4272867" cy="4272838"/>
              </a:xfrm>
              <a:prstGeom prst="ellipse">
                <a:avLst/>
              </a:prstGeom>
              <a:solidFill>
                <a:srgbClr val="FFFFFF"/>
              </a:soli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117" name="弧形 116"/>
              <p:cNvSpPr/>
              <p:nvPr/>
            </p:nvSpPr>
            <p:spPr>
              <a:xfrm rot="11094351">
                <a:off x="3549229" y="1355780"/>
                <a:ext cx="5358639" cy="5358640"/>
              </a:xfrm>
              <a:prstGeom prst="arc">
                <a:avLst>
                  <a:gd name="adj1" fmla="val 1067377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18" name="弧形 117"/>
              <p:cNvSpPr/>
              <p:nvPr/>
            </p:nvSpPr>
            <p:spPr>
              <a:xfrm rot="16200000">
                <a:off x="3549230" y="1355781"/>
                <a:ext cx="5358640" cy="5358639"/>
              </a:xfrm>
              <a:prstGeom prst="arc">
                <a:avLst>
                  <a:gd name="adj1" fmla="val 10889005"/>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19" name="弧形 118"/>
              <p:cNvSpPr/>
              <p:nvPr/>
            </p:nvSpPr>
            <p:spPr>
              <a:xfrm rot="20700000">
                <a:off x="3549230" y="1355780"/>
                <a:ext cx="5358639" cy="5358640"/>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20" name="弧形 119"/>
              <p:cNvSpPr/>
              <p:nvPr/>
            </p:nvSpPr>
            <p:spPr>
              <a:xfrm rot="5400000">
                <a:off x="3549230" y="1355781"/>
                <a:ext cx="5358640" cy="5358639"/>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121" name="图片 120" descr="实时"/>
            <p:cNvPicPr>
              <a:picLocks noChangeAspect="1"/>
            </p:cNvPicPr>
            <p:nvPr/>
          </p:nvPicPr>
          <p:blipFill>
            <a:blip r:embed="rId5">
              <a:extLst>
                <a:ext uri="{96DAC541-7B7A-43D3-8B79-37D633B846F1}">
                  <asvg:svgBlip xmlns:asvg="http://schemas.microsoft.com/office/drawing/2016/SVG/main" r:embed="rId9"/>
                </a:ext>
              </a:extLst>
            </a:blip>
            <a:stretch>
              <a:fillRect/>
            </a:stretch>
          </p:blipFill>
          <p:spPr>
            <a:xfrm>
              <a:off x="2851" y="7882"/>
              <a:ext cx="363" cy="363"/>
            </a:xfrm>
            <a:prstGeom prst="rect">
              <a:avLst/>
            </a:prstGeom>
          </p:spPr>
        </p:pic>
      </p:grpSp>
      <p:grpSp>
        <p:nvGrpSpPr>
          <p:cNvPr id="122" name="组合 121"/>
          <p:cNvGrpSpPr/>
          <p:nvPr/>
        </p:nvGrpSpPr>
        <p:grpSpPr>
          <a:xfrm>
            <a:off x="1767205" y="3855085"/>
            <a:ext cx="335915" cy="335915"/>
            <a:chOff x="2639" y="7671"/>
            <a:chExt cx="786" cy="786"/>
          </a:xfrm>
        </p:grpSpPr>
        <p:sp>
          <p:nvSpPr>
            <p:cNvPr id="123" name="PA-椭圆 27"/>
            <p:cNvSpPr/>
            <p:nvPr>
              <p:custDataLst>
                <p:tags r:id="rId10"/>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124" name="组合 123"/>
            <p:cNvGrpSpPr/>
            <p:nvPr/>
          </p:nvGrpSpPr>
          <p:grpSpPr>
            <a:xfrm>
              <a:off x="2696" y="7727"/>
              <a:ext cx="673" cy="673"/>
              <a:chOff x="3549229" y="1355780"/>
              <a:chExt cx="5358640" cy="5358641"/>
            </a:xfrm>
          </p:grpSpPr>
          <p:sp>
            <p:nvSpPr>
              <p:cNvPr id="125" name="PA-椭圆 27"/>
              <p:cNvSpPr/>
              <p:nvPr>
                <p:custDataLst>
                  <p:tags r:id="rId11"/>
                </p:custDataLst>
              </p:nvPr>
            </p:nvSpPr>
            <p:spPr>
              <a:xfrm>
                <a:off x="4092132" y="1898672"/>
                <a:ext cx="4272867" cy="4272838"/>
              </a:xfrm>
              <a:prstGeom prst="ellipse">
                <a:avLst/>
              </a:prstGeom>
              <a:solidFill>
                <a:srgbClr val="FFFFFF"/>
              </a:soli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126" name="弧形 125"/>
              <p:cNvSpPr/>
              <p:nvPr/>
            </p:nvSpPr>
            <p:spPr>
              <a:xfrm rot="11094351">
                <a:off x="3549229" y="1355780"/>
                <a:ext cx="5358639" cy="5358640"/>
              </a:xfrm>
              <a:prstGeom prst="arc">
                <a:avLst>
                  <a:gd name="adj1" fmla="val 1067377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27" name="弧形 126"/>
              <p:cNvSpPr/>
              <p:nvPr/>
            </p:nvSpPr>
            <p:spPr>
              <a:xfrm rot="16200000">
                <a:off x="3549230" y="1355781"/>
                <a:ext cx="5358640" cy="5358639"/>
              </a:xfrm>
              <a:prstGeom prst="arc">
                <a:avLst>
                  <a:gd name="adj1" fmla="val 10889005"/>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28" name="弧形 127"/>
              <p:cNvSpPr/>
              <p:nvPr/>
            </p:nvSpPr>
            <p:spPr>
              <a:xfrm rot="20700000">
                <a:off x="3549230" y="1355780"/>
                <a:ext cx="5358639" cy="5358640"/>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29" name="弧形 128"/>
              <p:cNvSpPr/>
              <p:nvPr/>
            </p:nvSpPr>
            <p:spPr>
              <a:xfrm rot="5400000">
                <a:off x="3549230" y="1355781"/>
                <a:ext cx="5358640" cy="5358639"/>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130" name="图片 129" descr="实时"/>
            <p:cNvPicPr>
              <a:picLocks noChangeAspect="1"/>
            </p:cNvPicPr>
            <p:nvPr/>
          </p:nvPicPr>
          <p:blipFill>
            <a:blip r:embed="rId5">
              <a:extLst>
                <a:ext uri="{96DAC541-7B7A-43D3-8B79-37D633B846F1}">
                  <asvg:svgBlip xmlns:asvg="http://schemas.microsoft.com/office/drawing/2016/SVG/main" r:embed="rId9"/>
                </a:ext>
              </a:extLst>
            </a:blip>
            <a:stretch>
              <a:fillRect/>
            </a:stretch>
          </p:blipFill>
          <p:spPr>
            <a:xfrm>
              <a:off x="2851" y="7882"/>
              <a:ext cx="363" cy="363"/>
            </a:xfrm>
            <a:prstGeom prst="rect">
              <a:avLst/>
            </a:prstGeom>
          </p:spPr>
        </p:pic>
      </p:grpSp>
      <p:grpSp>
        <p:nvGrpSpPr>
          <p:cNvPr id="131" name="组合 130"/>
          <p:cNvGrpSpPr/>
          <p:nvPr/>
        </p:nvGrpSpPr>
        <p:grpSpPr>
          <a:xfrm>
            <a:off x="10081260" y="1990725"/>
            <a:ext cx="335915" cy="335915"/>
            <a:chOff x="2639" y="7671"/>
            <a:chExt cx="786" cy="786"/>
          </a:xfrm>
        </p:grpSpPr>
        <p:sp>
          <p:nvSpPr>
            <p:cNvPr id="132" name="PA-椭圆 27"/>
            <p:cNvSpPr/>
            <p:nvPr>
              <p:custDataLst>
                <p:tags r:id="rId12"/>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133" name="组合 132"/>
            <p:cNvGrpSpPr/>
            <p:nvPr/>
          </p:nvGrpSpPr>
          <p:grpSpPr>
            <a:xfrm>
              <a:off x="2696" y="7727"/>
              <a:ext cx="673" cy="673"/>
              <a:chOff x="3549229" y="1355780"/>
              <a:chExt cx="5358640" cy="5358641"/>
            </a:xfrm>
          </p:grpSpPr>
          <p:sp>
            <p:nvSpPr>
              <p:cNvPr id="135" name="PA-椭圆 27"/>
              <p:cNvSpPr/>
              <p:nvPr>
                <p:custDataLst>
                  <p:tags r:id="rId13"/>
                </p:custDataLst>
              </p:nvPr>
            </p:nvSpPr>
            <p:spPr>
              <a:xfrm>
                <a:off x="4092132" y="1898672"/>
                <a:ext cx="4272867" cy="4272838"/>
              </a:xfrm>
              <a:prstGeom prst="ellipse">
                <a:avLst/>
              </a:prstGeom>
              <a:solidFill>
                <a:srgbClr val="FFFFFF"/>
              </a:soli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136" name="弧形 135"/>
              <p:cNvSpPr/>
              <p:nvPr/>
            </p:nvSpPr>
            <p:spPr>
              <a:xfrm rot="11094351">
                <a:off x="3549229" y="1355780"/>
                <a:ext cx="5358639" cy="5358640"/>
              </a:xfrm>
              <a:prstGeom prst="arc">
                <a:avLst>
                  <a:gd name="adj1" fmla="val 1067377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37" name="弧形 136"/>
              <p:cNvSpPr/>
              <p:nvPr/>
            </p:nvSpPr>
            <p:spPr>
              <a:xfrm rot="16200000">
                <a:off x="3549230" y="1355781"/>
                <a:ext cx="5358640" cy="5358639"/>
              </a:xfrm>
              <a:prstGeom prst="arc">
                <a:avLst>
                  <a:gd name="adj1" fmla="val 10889005"/>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38" name="弧形 137"/>
              <p:cNvSpPr/>
              <p:nvPr/>
            </p:nvSpPr>
            <p:spPr>
              <a:xfrm rot="20700000">
                <a:off x="3549230" y="1355780"/>
                <a:ext cx="5358639" cy="5358640"/>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39" name="弧形 138"/>
              <p:cNvSpPr/>
              <p:nvPr/>
            </p:nvSpPr>
            <p:spPr>
              <a:xfrm rot="5400000">
                <a:off x="3549230" y="1355781"/>
                <a:ext cx="5358640" cy="5358639"/>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140" name="图片 139" descr="实时"/>
            <p:cNvPicPr>
              <a:picLocks noChangeAspect="1"/>
            </p:cNvPicPr>
            <p:nvPr/>
          </p:nvPicPr>
          <p:blipFill>
            <a:blip r:embed="rId5">
              <a:extLst>
                <a:ext uri="{96DAC541-7B7A-43D3-8B79-37D633B846F1}">
                  <asvg:svgBlip xmlns:asvg="http://schemas.microsoft.com/office/drawing/2016/SVG/main" r:embed="rId14"/>
                </a:ext>
              </a:extLst>
            </a:blip>
            <a:stretch>
              <a:fillRect/>
            </a:stretch>
          </p:blipFill>
          <p:spPr>
            <a:xfrm>
              <a:off x="2851" y="7882"/>
              <a:ext cx="363" cy="363"/>
            </a:xfrm>
            <a:prstGeom prst="rect">
              <a:avLst/>
            </a:prstGeom>
          </p:spPr>
        </p:pic>
      </p:grpSp>
      <p:grpSp>
        <p:nvGrpSpPr>
          <p:cNvPr id="141" name="组合 140"/>
          <p:cNvGrpSpPr/>
          <p:nvPr/>
        </p:nvGrpSpPr>
        <p:grpSpPr>
          <a:xfrm>
            <a:off x="10081260" y="2854325"/>
            <a:ext cx="335915" cy="335915"/>
            <a:chOff x="2639" y="7671"/>
            <a:chExt cx="786" cy="786"/>
          </a:xfrm>
        </p:grpSpPr>
        <p:sp>
          <p:nvSpPr>
            <p:cNvPr id="143" name="PA-椭圆 27"/>
            <p:cNvSpPr/>
            <p:nvPr>
              <p:custDataLst>
                <p:tags r:id="rId15"/>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144" name="组合 143"/>
            <p:cNvGrpSpPr/>
            <p:nvPr/>
          </p:nvGrpSpPr>
          <p:grpSpPr>
            <a:xfrm>
              <a:off x="2696" y="7727"/>
              <a:ext cx="673" cy="673"/>
              <a:chOff x="3549229" y="1355780"/>
              <a:chExt cx="5358640" cy="5358641"/>
            </a:xfrm>
          </p:grpSpPr>
          <p:sp>
            <p:nvSpPr>
              <p:cNvPr id="145" name="PA-椭圆 27"/>
              <p:cNvSpPr/>
              <p:nvPr>
                <p:custDataLst>
                  <p:tags r:id="rId16"/>
                </p:custDataLst>
              </p:nvPr>
            </p:nvSpPr>
            <p:spPr>
              <a:xfrm>
                <a:off x="4092132" y="1898672"/>
                <a:ext cx="4272867" cy="4272838"/>
              </a:xfrm>
              <a:prstGeom prst="ellipse">
                <a:avLst/>
              </a:prstGeom>
              <a:solidFill>
                <a:srgbClr val="FFFFFF"/>
              </a:soli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146" name="弧形 145"/>
              <p:cNvSpPr/>
              <p:nvPr/>
            </p:nvSpPr>
            <p:spPr>
              <a:xfrm rot="11094351">
                <a:off x="3549229" y="1355780"/>
                <a:ext cx="5358639" cy="5358640"/>
              </a:xfrm>
              <a:prstGeom prst="arc">
                <a:avLst>
                  <a:gd name="adj1" fmla="val 1067377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47" name="弧形 146"/>
              <p:cNvSpPr/>
              <p:nvPr/>
            </p:nvSpPr>
            <p:spPr>
              <a:xfrm rot="16200000">
                <a:off x="3549230" y="1355781"/>
                <a:ext cx="5358640" cy="5358639"/>
              </a:xfrm>
              <a:prstGeom prst="arc">
                <a:avLst>
                  <a:gd name="adj1" fmla="val 10889005"/>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48" name="弧形 147"/>
              <p:cNvSpPr/>
              <p:nvPr/>
            </p:nvSpPr>
            <p:spPr>
              <a:xfrm rot="20700000">
                <a:off x="3549230" y="1355780"/>
                <a:ext cx="5358639" cy="5358640"/>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49" name="弧形 148"/>
              <p:cNvSpPr/>
              <p:nvPr/>
            </p:nvSpPr>
            <p:spPr>
              <a:xfrm rot="5400000">
                <a:off x="3549230" y="1355781"/>
                <a:ext cx="5358640" cy="5358639"/>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150" name="图片 149" descr="实时"/>
            <p:cNvPicPr>
              <a:picLocks noChangeAspect="1"/>
            </p:cNvPicPr>
            <p:nvPr/>
          </p:nvPicPr>
          <p:blipFill>
            <a:blip r:embed="rId5">
              <a:extLst>
                <a:ext uri="{96DAC541-7B7A-43D3-8B79-37D633B846F1}">
                  <asvg:svgBlip xmlns:asvg="http://schemas.microsoft.com/office/drawing/2016/SVG/main" r:embed="rId9"/>
                </a:ext>
              </a:extLst>
            </a:blip>
            <a:stretch>
              <a:fillRect/>
            </a:stretch>
          </p:blipFill>
          <p:spPr>
            <a:xfrm>
              <a:off x="2851" y="7882"/>
              <a:ext cx="363" cy="363"/>
            </a:xfrm>
            <a:prstGeom prst="rect">
              <a:avLst/>
            </a:prstGeom>
          </p:spPr>
        </p:pic>
      </p:grpSp>
      <p:grpSp>
        <p:nvGrpSpPr>
          <p:cNvPr id="151" name="组合 150"/>
          <p:cNvGrpSpPr/>
          <p:nvPr/>
        </p:nvGrpSpPr>
        <p:grpSpPr>
          <a:xfrm>
            <a:off x="10081260" y="3746500"/>
            <a:ext cx="335915" cy="335915"/>
            <a:chOff x="2639" y="7671"/>
            <a:chExt cx="786" cy="786"/>
          </a:xfrm>
        </p:grpSpPr>
        <p:sp>
          <p:nvSpPr>
            <p:cNvPr id="152" name="PA-椭圆 27"/>
            <p:cNvSpPr/>
            <p:nvPr>
              <p:custDataLst>
                <p:tags r:id="rId17"/>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153" name="组合 152"/>
            <p:cNvGrpSpPr/>
            <p:nvPr/>
          </p:nvGrpSpPr>
          <p:grpSpPr>
            <a:xfrm>
              <a:off x="2696" y="7727"/>
              <a:ext cx="673" cy="673"/>
              <a:chOff x="3549229" y="1355780"/>
              <a:chExt cx="5358640" cy="5358641"/>
            </a:xfrm>
          </p:grpSpPr>
          <p:sp>
            <p:nvSpPr>
              <p:cNvPr id="154" name="PA-椭圆 27"/>
              <p:cNvSpPr/>
              <p:nvPr>
                <p:custDataLst>
                  <p:tags r:id="rId18"/>
                </p:custDataLst>
              </p:nvPr>
            </p:nvSpPr>
            <p:spPr>
              <a:xfrm>
                <a:off x="4092132" y="1898672"/>
                <a:ext cx="4272867" cy="4272838"/>
              </a:xfrm>
              <a:prstGeom prst="ellipse">
                <a:avLst/>
              </a:prstGeom>
              <a:solidFill>
                <a:srgbClr val="FFFFFF"/>
              </a:solidFill>
              <a:ln w="63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155" name="弧形 154"/>
              <p:cNvSpPr/>
              <p:nvPr/>
            </p:nvSpPr>
            <p:spPr>
              <a:xfrm rot="11094351">
                <a:off x="3549229" y="1355780"/>
                <a:ext cx="5358639" cy="5358640"/>
              </a:xfrm>
              <a:prstGeom prst="arc">
                <a:avLst>
                  <a:gd name="adj1" fmla="val 1067377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56" name="弧形 155"/>
              <p:cNvSpPr/>
              <p:nvPr/>
            </p:nvSpPr>
            <p:spPr>
              <a:xfrm rot="16200000">
                <a:off x="3549230" y="1355781"/>
                <a:ext cx="5358640" cy="5358639"/>
              </a:xfrm>
              <a:prstGeom prst="arc">
                <a:avLst>
                  <a:gd name="adj1" fmla="val 10889005"/>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57" name="弧形 156"/>
              <p:cNvSpPr/>
              <p:nvPr/>
            </p:nvSpPr>
            <p:spPr>
              <a:xfrm rot="20700000">
                <a:off x="3549230" y="1355780"/>
                <a:ext cx="5358639" cy="5358640"/>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58" name="弧形 157"/>
              <p:cNvSpPr/>
              <p:nvPr/>
            </p:nvSpPr>
            <p:spPr>
              <a:xfrm rot="5400000">
                <a:off x="3549230" y="1355781"/>
                <a:ext cx="5358640" cy="5358639"/>
              </a:xfrm>
              <a:prstGeom prst="arc">
                <a:avLst>
                  <a:gd name="adj1" fmla="val 10729063"/>
                  <a:gd name="adj2" fmla="val 14659752"/>
                </a:avLst>
              </a:prstGeom>
              <a:ln w="6350" cap="rnd">
                <a:solidFill>
                  <a:srgbClr val="3368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159" name="图片 158" descr="实时"/>
            <p:cNvPicPr>
              <a:picLocks noChangeAspect="1"/>
            </p:cNvPicPr>
            <p:nvPr/>
          </p:nvPicPr>
          <p:blipFill>
            <a:blip r:embed="rId5">
              <a:extLst>
                <a:ext uri="{96DAC541-7B7A-43D3-8B79-37D633B846F1}">
                  <asvg:svgBlip xmlns:asvg="http://schemas.microsoft.com/office/drawing/2016/SVG/main" r:embed="rId9"/>
                </a:ext>
              </a:extLst>
            </a:blip>
            <a:stretch>
              <a:fillRect/>
            </a:stretch>
          </p:blipFill>
          <p:spPr>
            <a:xfrm>
              <a:off x="2851" y="7882"/>
              <a:ext cx="363" cy="363"/>
            </a:xfrm>
            <a:prstGeom prst="rect">
              <a:avLst/>
            </a:prstGeom>
          </p:spPr>
        </p:pic>
      </p:grpSp>
      <p:grpSp>
        <p:nvGrpSpPr>
          <p:cNvPr id="176" name="组合 175"/>
          <p:cNvGrpSpPr/>
          <p:nvPr/>
        </p:nvGrpSpPr>
        <p:grpSpPr>
          <a:xfrm>
            <a:off x="348615" y="1975485"/>
            <a:ext cx="1638300" cy="597535"/>
            <a:chOff x="529" y="3111"/>
            <a:chExt cx="2580" cy="941"/>
          </a:xfrm>
        </p:grpSpPr>
        <p:sp>
          <p:nvSpPr>
            <p:cNvPr id="173" name="文本框 172"/>
            <p:cNvSpPr txBox="1"/>
            <p:nvPr/>
          </p:nvSpPr>
          <p:spPr>
            <a:xfrm>
              <a:off x="529" y="3111"/>
              <a:ext cx="2581" cy="434"/>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打造品牌自播矩阵</a:t>
              </a:r>
              <a:endParaRPr lang="zh-CN" altLang="en-US" sz="1200" b="1">
                <a:solidFill>
                  <a:srgbClr val="0042FF"/>
                </a:solidFill>
                <a:latin typeface="微软雅黑"/>
                <a:ea typeface="微软雅黑"/>
                <a:cs typeface="微软雅黑"/>
              </a:endParaRPr>
            </a:p>
          </p:txBody>
        </p:sp>
        <p:sp>
          <p:nvSpPr>
            <p:cNvPr id="175" name="文本框 174"/>
            <p:cNvSpPr txBox="1"/>
            <p:nvPr/>
          </p:nvSpPr>
          <p:spPr>
            <a:xfrm>
              <a:off x="529" y="3472"/>
              <a:ext cx="2429" cy="580"/>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建立常态化品牌直播间，培养自有主播团队</a:t>
              </a:r>
              <a:endParaRPr lang="zh-CN" sz="1000">
                <a:solidFill>
                  <a:srgbClr val="383838"/>
                </a:solidFill>
                <a:latin typeface="微软雅黑"/>
                <a:ea typeface="微软雅黑"/>
                <a:cs typeface="微软雅黑"/>
              </a:endParaRPr>
            </a:p>
          </p:txBody>
        </p:sp>
      </p:grpSp>
      <p:grpSp>
        <p:nvGrpSpPr>
          <p:cNvPr id="177" name="组合 176"/>
          <p:cNvGrpSpPr/>
          <p:nvPr/>
        </p:nvGrpSpPr>
        <p:grpSpPr>
          <a:xfrm>
            <a:off x="348615" y="2860675"/>
            <a:ext cx="1638935" cy="597535"/>
            <a:chOff x="529" y="3111"/>
            <a:chExt cx="2581" cy="941"/>
          </a:xfrm>
        </p:grpSpPr>
        <p:sp>
          <p:nvSpPr>
            <p:cNvPr id="178" name="文本框 177"/>
            <p:cNvSpPr txBox="1"/>
            <p:nvPr/>
          </p:nvSpPr>
          <p:spPr>
            <a:xfrm>
              <a:off x="529" y="3111"/>
              <a:ext cx="2581" cy="434"/>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构建全域数据中台</a:t>
              </a:r>
              <a:endParaRPr lang="zh-CN" altLang="en-US" sz="1200" b="1">
                <a:solidFill>
                  <a:srgbClr val="0042FF"/>
                </a:solidFill>
                <a:latin typeface="微软雅黑"/>
                <a:ea typeface="微软雅黑"/>
                <a:cs typeface="微软雅黑"/>
              </a:endParaRPr>
            </a:p>
          </p:txBody>
        </p:sp>
        <p:sp>
          <p:nvSpPr>
            <p:cNvPr id="179" name="文本框 178"/>
            <p:cNvSpPr txBox="1"/>
            <p:nvPr/>
          </p:nvSpPr>
          <p:spPr>
            <a:xfrm>
              <a:off x="529" y="3472"/>
              <a:ext cx="2429" cy="580"/>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整合多触点数据，建立客户数据平台（</a:t>
              </a:r>
              <a:r>
                <a:rPr lang="en-US" altLang="zh-CN" sz="1000">
                  <a:solidFill>
                    <a:srgbClr val="383838"/>
                  </a:solidFill>
                  <a:latin typeface="微软雅黑"/>
                  <a:ea typeface="微软雅黑"/>
                  <a:cs typeface="微软雅黑"/>
                </a:rPr>
                <a:t>CDP</a:t>
              </a:r>
              <a:r>
                <a:rPr lang="zh-CN" sz="1000">
                  <a:solidFill>
                    <a:srgbClr val="383838"/>
                  </a:solidFill>
                  <a:latin typeface="微软雅黑"/>
                  <a:ea typeface="微软雅黑"/>
                  <a:cs typeface="微软雅黑"/>
                </a:rPr>
                <a:t>）</a:t>
              </a:r>
              <a:endParaRPr lang="zh-CN" sz="1000">
                <a:solidFill>
                  <a:srgbClr val="383838"/>
                </a:solidFill>
                <a:latin typeface="微软雅黑"/>
                <a:ea typeface="微软雅黑"/>
                <a:cs typeface="微软雅黑"/>
              </a:endParaRPr>
            </a:p>
          </p:txBody>
        </p:sp>
      </p:grpSp>
      <p:grpSp>
        <p:nvGrpSpPr>
          <p:cNvPr id="180" name="组合 179"/>
          <p:cNvGrpSpPr/>
          <p:nvPr/>
        </p:nvGrpSpPr>
        <p:grpSpPr>
          <a:xfrm>
            <a:off x="348615" y="3745865"/>
            <a:ext cx="1638935" cy="597535"/>
            <a:chOff x="529" y="3111"/>
            <a:chExt cx="2581" cy="941"/>
          </a:xfrm>
        </p:grpSpPr>
        <p:sp>
          <p:nvSpPr>
            <p:cNvPr id="181" name="文本框 180"/>
            <p:cNvSpPr txBox="1"/>
            <p:nvPr/>
          </p:nvSpPr>
          <p:spPr>
            <a:xfrm>
              <a:off x="529" y="3111"/>
              <a:ext cx="2581" cy="434"/>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分层合作策略</a:t>
              </a:r>
              <a:endParaRPr lang="zh-CN" altLang="en-US" sz="1200" b="1">
                <a:solidFill>
                  <a:srgbClr val="0042FF"/>
                </a:solidFill>
                <a:latin typeface="微软雅黑"/>
                <a:ea typeface="微软雅黑"/>
                <a:cs typeface="微软雅黑"/>
              </a:endParaRPr>
            </a:p>
          </p:txBody>
        </p:sp>
        <p:sp>
          <p:nvSpPr>
            <p:cNvPr id="182" name="文本框 181"/>
            <p:cNvSpPr txBox="1"/>
            <p:nvPr/>
          </p:nvSpPr>
          <p:spPr>
            <a:xfrm>
              <a:off x="529" y="3472"/>
              <a:ext cx="2429" cy="580"/>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头部</a:t>
              </a:r>
              <a:r>
                <a:rPr lang="en-US" altLang="zh-CN" sz="1000">
                  <a:solidFill>
                    <a:srgbClr val="383838"/>
                  </a:solidFill>
                  <a:latin typeface="微软雅黑"/>
                  <a:ea typeface="微软雅黑"/>
                  <a:cs typeface="微软雅黑"/>
                </a:rPr>
                <a:t>KOL</a:t>
              </a:r>
              <a:r>
                <a:rPr lang="zh-CN" altLang="en-US" sz="1000">
                  <a:solidFill>
                    <a:srgbClr val="383838"/>
                  </a:solidFill>
                  <a:latin typeface="微软雅黑"/>
                  <a:ea typeface="微软雅黑"/>
                  <a:cs typeface="微软雅黑"/>
                </a:rPr>
                <a:t>造势、腰部达人种草、素人用户测评</a:t>
              </a:r>
              <a:endParaRPr lang="en-US" altLang="zh-CN" sz="1000">
                <a:solidFill>
                  <a:srgbClr val="383838"/>
                </a:solidFill>
                <a:latin typeface="微软雅黑"/>
                <a:ea typeface="微软雅黑"/>
                <a:cs typeface="微软雅黑"/>
              </a:endParaRPr>
            </a:p>
          </p:txBody>
        </p:sp>
      </p:grpSp>
      <p:grpSp>
        <p:nvGrpSpPr>
          <p:cNvPr id="183" name="组合 182"/>
          <p:cNvGrpSpPr/>
          <p:nvPr/>
        </p:nvGrpSpPr>
        <p:grpSpPr>
          <a:xfrm>
            <a:off x="10464165" y="1887855"/>
            <a:ext cx="1638935" cy="597535"/>
            <a:chOff x="529" y="3111"/>
            <a:chExt cx="2581" cy="941"/>
          </a:xfrm>
        </p:grpSpPr>
        <p:sp>
          <p:nvSpPr>
            <p:cNvPr id="184" name="文本框 183"/>
            <p:cNvSpPr txBox="1"/>
            <p:nvPr/>
          </p:nvSpPr>
          <p:spPr>
            <a:xfrm>
              <a:off x="529" y="3111"/>
              <a:ext cx="2581" cy="434"/>
            </a:xfrm>
            <a:prstGeom prst="rect">
              <a:avLst/>
            </a:prstGeom>
            <a:noFill/>
          </p:spPr>
          <p:txBody>
            <a:bodyPr wrap="square" rtlCol="0">
              <a:spAutoFit/>
            </a:bodyPr>
            <a:p>
              <a:pPr algn="l">
                <a:defRPr>
                  <a:latin typeface="微软雅黑"/>
                  <a:ea typeface="微软雅黑"/>
                  <a:cs typeface="微软雅黑"/>
                </a:defRPr>
              </a:pPr>
              <a:r>
                <a:rPr lang="en-US" altLang="zh-CN" sz="1200" b="1">
                  <a:solidFill>
                    <a:srgbClr val="0042FF"/>
                  </a:solidFill>
                  <a:latin typeface="微软雅黑"/>
                  <a:ea typeface="微软雅黑"/>
                  <a:cs typeface="微软雅黑"/>
                </a:rPr>
                <a:t>AI</a:t>
              </a:r>
              <a:r>
                <a:rPr lang="zh-CN" altLang="en-US" sz="1200" b="1">
                  <a:solidFill>
                    <a:srgbClr val="0042FF"/>
                  </a:solidFill>
                  <a:latin typeface="微软雅黑"/>
                  <a:ea typeface="微软雅黑"/>
                  <a:cs typeface="微软雅黑"/>
                </a:rPr>
                <a:t>情感化互动设计</a:t>
              </a:r>
              <a:endParaRPr lang="zh-CN" altLang="en-US" sz="1200" b="1">
                <a:solidFill>
                  <a:srgbClr val="0042FF"/>
                </a:solidFill>
                <a:latin typeface="微软雅黑"/>
                <a:ea typeface="微软雅黑"/>
                <a:cs typeface="微软雅黑"/>
              </a:endParaRPr>
            </a:p>
          </p:txBody>
        </p:sp>
        <p:sp>
          <p:nvSpPr>
            <p:cNvPr id="185" name="文本框 184"/>
            <p:cNvSpPr txBox="1"/>
            <p:nvPr/>
          </p:nvSpPr>
          <p:spPr>
            <a:xfrm>
              <a:off x="529" y="3472"/>
              <a:ext cx="2429" cy="580"/>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通过语义分析推荐个性化内容，实时响应用户情绪</a:t>
              </a:r>
              <a:endParaRPr lang="zh-CN" sz="1000">
                <a:solidFill>
                  <a:srgbClr val="383838"/>
                </a:solidFill>
                <a:latin typeface="微软雅黑"/>
                <a:ea typeface="微软雅黑"/>
                <a:cs typeface="微软雅黑"/>
              </a:endParaRPr>
            </a:p>
          </p:txBody>
        </p:sp>
      </p:grpSp>
      <p:grpSp>
        <p:nvGrpSpPr>
          <p:cNvPr id="186" name="组合 185"/>
          <p:cNvGrpSpPr/>
          <p:nvPr/>
        </p:nvGrpSpPr>
        <p:grpSpPr>
          <a:xfrm>
            <a:off x="10459720" y="2755265"/>
            <a:ext cx="1638935" cy="597535"/>
            <a:chOff x="529" y="3111"/>
            <a:chExt cx="2581" cy="941"/>
          </a:xfrm>
        </p:grpSpPr>
        <p:sp>
          <p:nvSpPr>
            <p:cNvPr id="187" name="文本框 186"/>
            <p:cNvSpPr txBox="1"/>
            <p:nvPr/>
          </p:nvSpPr>
          <p:spPr>
            <a:xfrm>
              <a:off x="529" y="3111"/>
              <a:ext cx="2581" cy="434"/>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场景化会员权益</a:t>
              </a:r>
              <a:endParaRPr lang="zh-CN" altLang="en-US" sz="1200" b="1">
                <a:solidFill>
                  <a:srgbClr val="0042FF"/>
                </a:solidFill>
                <a:latin typeface="微软雅黑"/>
                <a:ea typeface="微软雅黑"/>
                <a:cs typeface="微软雅黑"/>
              </a:endParaRPr>
            </a:p>
          </p:txBody>
        </p:sp>
        <p:sp>
          <p:nvSpPr>
            <p:cNvPr id="188" name="文本框 187"/>
            <p:cNvSpPr txBox="1"/>
            <p:nvPr/>
          </p:nvSpPr>
          <p:spPr>
            <a:xfrm>
              <a:off x="529" y="3472"/>
              <a:ext cx="2509" cy="580"/>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基于用户生命周期设计动态权益，如高价值会员活动</a:t>
              </a:r>
              <a:endParaRPr lang="zh-CN" sz="1000">
                <a:solidFill>
                  <a:srgbClr val="383838"/>
                </a:solidFill>
                <a:latin typeface="微软雅黑"/>
                <a:ea typeface="微软雅黑"/>
                <a:cs typeface="微软雅黑"/>
              </a:endParaRPr>
            </a:p>
          </p:txBody>
        </p:sp>
      </p:grpSp>
      <p:grpSp>
        <p:nvGrpSpPr>
          <p:cNvPr id="189" name="组合 188"/>
          <p:cNvGrpSpPr/>
          <p:nvPr/>
        </p:nvGrpSpPr>
        <p:grpSpPr>
          <a:xfrm>
            <a:off x="10476865" y="3657600"/>
            <a:ext cx="1638935" cy="597535"/>
            <a:chOff x="529" y="3111"/>
            <a:chExt cx="2581" cy="941"/>
          </a:xfrm>
        </p:grpSpPr>
        <p:sp>
          <p:nvSpPr>
            <p:cNvPr id="190" name="文本框 189"/>
            <p:cNvSpPr txBox="1"/>
            <p:nvPr/>
          </p:nvSpPr>
          <p:spPr>
            <a:xfrm>
              <a:off x="529" y="3111"/>
              <a:ext cx="2581" cy="434"/>
            </a:xfrm>
            <a:prstGeom prst="rect">
              <a:avLst/>
            </a:prstGeom>
            <a:noFill/>
          </p:spPr>
          <p:txBody>
            <a:bodyPr wrap="square" rtlCol="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本地化内容适配</a:t>
              </a:r>
              <a:endParaRPr lang="zh-CN" altLang="en-US" sz="1200" b="1">
                <a:solidFill>
                  <a:srgbClr val="0042FF"/>
                </a:solidFill>
                <a:latin typeface="微软雅黑"/>
                <a:ea typeface="微软雅黑"/>
                <a:cs typeface="微软雅黑"/>
              </a:endParaRPr>
            </a:p>
          </p:txBody>
        </p:sp>
        <p:sp>
          <p:nvSpPr>
            <p:cNvPr id="191" name="文本框 190"/>
            <p:cNvSpPr txBox="1"/>
            <p:nvPr/>
          </p:nvSpPr>
          <p:spPr>
            <a:xfrm>
              <a:off x="529" y="3472"/>
              <a:ext cx="2429" cy="580"/>
            </a:xfrm>
            <a:prstGeom prst="rect">
              <a:avLst/>
            </a:prstGeom>
            <a:noFill/>
          </p:spPr>
          <p:txBody>
            <a:bodyPr wrap="square" rtlCol="0" lIns="0" rIns="0" tIns="0" bIns="0" anchor="t">
              <a:noAutofit/>
            </a:bodyPr>
            <a:p>
              <a:pPr algn="l">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针对下沉市场制作方言短视频，如拼多多</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乡村达人</a:t>
              </a:r>
              <a:r>
                <a:rPr lang="en-US" altLang="zh-CN" sz="1000">
                  <a:solidFill>
                    <a:srgbClr val="383838"/>
                  </a:solidFill>
                  <a:latin typeface="微软雅黑"/>
                  <a:ea typeface="微软雅黑"/>
                  <a:cs typeface="微软雅黑"/>
                </a:rPr>
                <a:t>”</a:t>
              </a:r>
              <a:endParaRPr lang="en-US" altLang="zh-CN" sz="1000">
                <a:solidFill>
                  <a:srgbClr val="383838"/>
                </a:solidFill>
                <a:latin typeface="微软雅黑"/>
                <a:ea typeface="微软雅黑"/>
                <a:cs typeface="微软雅黑"/>
              </a:endParaRPr>
            </a:p>
          </p:txBody>
        </p:sp>
      </p:grpSp>
      <p:grpSp>
        <p:nvGrpSpPr>
          <p:cNvPr id="192" name="组合 191"/>
          <p:cNvGrpSpPr/>
          <p:nvPr/>
        </p:nvGrpSpPr>
        <p:grpSpPr>
          <a:xfrm>
            <a:off x="4484370" y="1918335"/>
            <a:ext cx="335915" cy="335915"/>
            <a:chOff x="2639" y="7671"/>
            <a:chExt cx="786" cy="786"/>
          </a:xfrm>
        </p:grpSpPr>
        <p:sp>
          <p:nvSpPr>
            <p:cNvPr id="193" name="PA-椭圆 27"/>
            <p:cNvSpPr/>
            <p:nvPr>
              <p:custDataLst>
                <p:tags r:id="rId19"/>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194" name="组合 193"/>
            <p:cNvGrpSpPr/>
            <p:nvPr/>
          </p:nvGrpSpPr>
          <p:grpSpPr>
            <a:xfrm>
              <a:off x="2696" y="7727"/>
              <a:ext cx="673" cy="673"/>
              <a:chOff x="3549229" y="1355780"/>
              <a:chExt cx="5358640" cy="5358641"/>
            </a:xfrm>
          </p:grpSpPr>
          <p:sp>
            <p:nvSpPr>
              <p:cNvPr id="195" name="PA-椭圆 27"/>
              <p:cNvSpPr/>
              <p:nvPr>
                <p:custDataLst>
                  <p:tags r:id="rId20"/>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196" name="弧形 195"/>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197" name="弧形 196"/>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00" name="弧形 199"/>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01" name="弧形 200"/>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02" name="图片 201" descr="实时"/>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2851" y="7882"/>
              <a:ext cx="363" cy="363"/>
            </a:xfrm>
            <a:prstGeom prst="rect">
              <a:avLst/>
            </a:prstGeom>
          </p:spPr>
        </p:pic>
      </p:grpSp>
      <p:grpSp>
        <p:nvGrpSpPr>
          <p:cNvPr id="203" name="组合 202"/>
          <p:cNvGrpSpPr/>
          <p:nvPr/>
        </p:nvGrpSpPr>
        <p:grpSpPr>
          <a:xfrm>
            <a:off x="4484370" y="2573655"/>
            <a:ext cx="335915" cy="335915"/>
            <a:chOff x="2639" y="7671"/>
            <a:chExt cx="786" cy="786"/>
          </a:xfrm>
        </p:grpSpPr>
        <p:sp>
          <p:nvSpPr>
            <p:cNvPr id="204" name="PA-椭圆 27"/>
            <p:cNvSpPr/>
            <p:nvPr>
              <p:custDataLst>
                <p:tags r:id="rId23"/>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205" name="组合 204"/>
            <p:cNvGrpSpPr/>
            <p:nvPr/>
          </p:nvGrpSpPr>
          <p:grpSpPr>
            <a:xfrm>
              <a:off x="2696" y="7727"/>
              <a:ext cx="673" cy="673"/>
              <a:chOff x="3549229" y="1355780"/>
              <a:chExt cx="5358640" cy="5358641"/>
            </a:xfrm>
          </p:grpSpPr>
          <p:sp>
            <p:nvSpPr>
              <p:cNvPr id="206" name="PA-椭圆 27"/>
              <p:cNvSpPr/>
              <p:nvPr>
                <p:custDataLst>
                  <p:tags r:id="rId24"/>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207" name="弧形 206"/>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08" name="弧形 207"/>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09" name="弧形 208"/>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10" name="弧形 209"/>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11" name="图片 210" descr="实时"/>
            <p:cNvPicPr>
              <a:picLocks noChangeAspect="1"/>
            </p:cNvPicPr>
            <p:nvPr/>
          </p:nvPicPr>
          <p:blipFill>
            <a:blip r:embed="rId21">
              <a:extLst>
                <a:ext uri="{96DAC541-7B7A-43D3-8B79-37D633B846F1}">
                  <asvg:svgBlip xmlns:asvg="http://schemas.microsoft.com/office/drawing/2016/SVG/main" r:embed="rId25"/>
                </a:ext>
              </a:extLst>
            </a:blip>
            <a:stretch>
              <a:fillRect/>
            </a:stretch>
          </p:blipFill>
          <p:spPr>
            <a:xfrm>
              <a:off x="2851" y="7882"/>
              <a:ext cx="363" cy="363"/>
            </a:xfrm>
            <a:prstGeom prst="rect">
              <a:avLst/>
            </a:prstGeom>
          </p:spPr>
        </p:pic>
      </p:grpSp>
      <p:grpSp>
        <p:nvGrpSpPr>
          <p:cNvPr id="212" name="组合 211"/>
          <p:cNvGrpSpPr/>
          <p:nvPr/>
        </p:nvGrpSpPr>
        <p:grpSpPr>
          <a:xfrm>
            <a:off x="4484370" y="3228975"/>
            <a:ext cx="335915" cy="335915"/>
            <a:chOff x="2639" y="7671"/>
            <a:chExt cx="786" cy="786"/>
          </a:xfrm>
        </p:grpSpPr>
        <p:sp>
          <p:nvSpPr>
            <p:cNvPr id="213" name="PA-椭圆 27"/>
            <p:cNvSpPr/>
            <p:nvPr>
              <p:custDataLst>
                <p:tags r:id="rId26"/>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214" name="组合 213"/>
            <p:cNvGrpSpPr/>
            <p:nvPr/>
          </p:nvGrpSpPr>
          <p:grpSpPr>
            <a:xfrm>
              <a:off x="2696" y="7727"/>
              <a:ext cx="673" cy="673"/>
              <a:chOff x="3549229" y="1355780"/>
              <a:chExt cx="5358640" cy="5358641"/>
            </a:xfrm>
          </p:grpSpPr>
          <p:sp>
            <p:nvSpPr>
              <p:cNvPr id="215" name="PA-椭圆 27"/>
              <p:cNvSpPr/>
              <p:nvPr>
                <p:custDataLst>
                  <p:tags r:id="rId27"/>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216" name="弧形 215"/>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17" name="弧形 216"/>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18" name="弧形 217"/>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19" name="弧形 218"/>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20" name="图片 219" descr="实时"/>
            <p:cNvPicPr>
              <a:picLocks noChangeAspect="1"/>
            </p:cNvPicPr>
            <p:nvPr/>
          </p:nvPicPr>
          <p:blipFill>
            <a:blip r:embed="rId21">
              <a:extLst>
                <a:ext uri="{96DAC541-7B7A-43D3-8B79-37D633B846F1}">
                  <asvg:svgBlip xmlns:asvg="http://schemas.microsoft.com/office/drawing/2016/SVG/main" r:embed="rId25"/>
                </a:ext>
              </a:extLst>
            </a:blip>
            <a:stretch>
              <a:fillRect/>
            </a:stretch>
          </p:blipFill>
          <p:spPr>
            <a:xfrm>
              <a:off x="2851" y="7882"/>
              <a:ext cx="363" cy="363"/>
            </a:xfrm>
            <a:prstGeom prst="rect">
              <a:avLst/>
            </a:prstGeom>
          </p:spPr>
        </p:pic>
      </p:grpSp>
      <p:grpSp>
        <p:nvGrpSpPr>
          <p:cNvPr id="221" name="组合 220"/>
          <p:cNvGrpSpPr/>
          <p:nvPr/>
        </p:nvGrpSpPr>
        <p:grpSpPr>
          <a:xfrm>
            <a:off x="4484370" y="3884295"/>
            <a:ext cx="335915" cy="335915"/>
            <a:chOff x="2639" y="7671"/>
            <a:chExt cx="786" cy="786"/>
          </a:xfrm>
        </p:grpSpPr>
        <p:sp>
          <p:nvSpPr>
            <p:cNvPr id="222" name="PA-椭圆 27"/>
            <p:cNvSpPr/>
            <p:nvPr>
              <p:custDataLst>
                <p:tags r:id="rId28"/>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223" name="组合 222"/>
            <p:cNvGrpSpPr/>
            <p:nvPr/>
          </p:nvGrpSpPr>
          <p:grpSpPr>
            <a:xfrm>
              <a:off x="2696" y="7727"/>
              <a:ext cx="673" cy="673"/>
              <a:chOff x="3549229" y="1355780"/>
              <a:chExt cx="5358640" cy="5358641"/>
            </a:xfrm>
          </p:grpSpPr>
          <p:sp>
            <p:nvSpPr>
              <p:cNvPr id="224" name="PA-椭圆 27"/>
              <p:cNvSpPr/>
              <p:nvPr>
                <p:custDataLst>
                  <p:tags r:id="rId29"/>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225" name="弧形 224"/>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26" name="弧形 225"/>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27" name="弧形 226"/>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28" name="弧形 227"/>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29" name="图片 228" descr="实时"/>
            <p:cNvPicPr>
              <a:picLocks noChangeAspect="1"/>
            </p:cNvPicPr>
            <p:nvPr/>
          </p:nvPicPr>
          <p:blipFill>
            <a:blip r:embed="rId21">
              <a:extLst>
                <a:ext uri="{96DAC541-7B7A-43D3-8B79-37D633B846F1}">
                  <asvg:svgBlip xmlns:asvg="http://schemas.microsoft.com/office/drawing/2016/SVG/main" r:embed="rId25"/>
                </a:ext>
              </a:extLst>
            </a:blip>
            <a:stretch>
              <a:fillRect/>
            </a:stretch>
          </p:blipFill>
          <p:spPr>
            <a:xfrm>
              <a:off x="2851" y="7882"/>
              <a:ext cx="363" cy="363"/>
            </a:xfrm>
            <a:prstGeom prst="rect">
              <a:avLst/>
            </a:prstGeom>
          </p:spPr>
        </p:pic>
      </p:grpSp>
      <p:grpSp>
        <p:nvGrpSpPr>
          <p:cNvPr id="230" name="组合 229"/>
          <p:cNvGrpSpPr/>
          <p:nvPr/>
        </p:nvGrpSpPr>
        <p:grpSpPr>
          <a:xfrm>
            <a:off x="7507605" y="1937385"/>
            <a:ext cx="335915" cy="335915"/>
            <a:chOff x="2639" y="7671"/>
            <a:chExt cx="786" cy="786"/>
          </a:xfrm>
        </p:grpSpPr>
        <p:sp>
          <p:nvSpPr>
            <p:cNvPr id="231" name="PA-椭圆 27"/>
            <p:cNvSpPr/>
            <p:nvPr>
              <p:custDataLst>
                <p:tags r:id="rId30"/>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232" name="组合 231"/>
            <p:cNvGrpSpPr/>
            <p:nvPr/>
          </p:nvGrpSpPr>
          <p:grpSpPr>
            <a:xfrm>
              <a:off x="2696" y="7727"/>
              <a:ext cx="673" cy="673"/>
              <a:chOff x="3549229" y="1355780"/>
              <a:chExt cx="5358640" cy="5358641"/>
            </a:xfrm>
          </p:grpSpPr>
          <p:sp>
            <p:nvSpPr>
              <p:cNvPr id="233" name="PA-椭圆 27"/>
              <p:cNvSpPr/>
              <p:nvPr>
                <p:custDataLst>
                  <p:tags r:id="rId31"/>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234" name="弧形 233"/>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35" name="弧形 234"/>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36" name="弧形 235"/>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37" name="弧形 236"/>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38" name="图片 237" descr="实时"/>
            <p:cNvPicPr>
              <a:picLocks noChangeAspect="1"/>
            </p:cNvPicPr>
            <p:nvPr/>
          </p:nvPicPr>
          <p:blipFill>
            <a:blip r:embed="rId21">
              <a:extLst>
                <a:ext uri="{96DAC541-7B7A-43D3-8B79-37D633B846F1}">
                  <asvg:svgBlip xmlns:asvg="http://schemas.microsoft.com/office/drawing/2016/SVG/main" r:embed="rId32"/>
                </a:ext>
              </a:extLst>
            </a:blip>
            <a:stretch>
              <a:fillRect/>
            </a:stretch>
          </p:blipFill>
          <p:spPr>
            <a:xfrm>
              <a:off x="2851" y="7882"/>
              <a:ext cx="363" cy="363"/>
            </a:xfrm>
            <a:prstGeom prst="rect">
              <a:avLst/>
            </a:prstGeom>
          </p:spPr>
        </p:pic>
      </p:grpSp>
      <p:grpSp>
        <p:nvGrpSpPr>
          <p:cNvPr id="239" name="组合 238"/>
          <p:cNvGrpSpPr/>
          <p:nvPr/>
        </p:nvGrpSpPr>
        <p:grpSpPr>
          <a:xfrm>
            <a:off x="7507605" y="2592705"/>
            <a:ext cx="335915" cy="335915"/>
            <a:chOff x="2639" y="7671"/>
            <a:chExt cx="786" cy="786"/>
          </a:xfrm>
        </p:grpSpPr>
        <p:sp>
          <p:nvSpPr>
            <p:cNvPr id="240" name="PA-椭圆 27"/>
            <p:cNvSpPr/>
            <p:nvPr>
              <p:custDataLst>
                <p:tags r:id="rId33"/>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241" name="组合 240"/>
            <p:cNvGrpSpPr/>
            <p:nvPr/>
          </p:nvGrpSpPr>
          <p:grpSpPr>
            <a:xfrm>
              <a:off x="2696" y="7727"/>
              <a:ext cx="673" cy="673"/>
              <a:chOff x="3549229" y="1355780"/>
              <a:chExt cx="5358640" cy="5358641"/>
            </a:xfrm>
          </p:grpSpPr>
          <p:sp>
            <p:nvSpPr>
              <p:cNvPr id="242" name="PA-椭圆 27"/>
              <p:cNvSpPr/>
              <p:nvPr>
                <p:custDataLst>
                  <p:tags r:id="rId34"/>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243" name="弧形 242"/>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44" name="弧形 243"/>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45" name="弧形 244"/>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46" name="弧形 245"/>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47" name="图片 246" descr="实时"/>
            <p:cNvPicPr>
              <a:picLocks noChangeAspect="1"/>
            </p:cNvPicPr>
            <p:nvPr/>
          </p:nvPicPr>
          <p:blipFill>
            <a:blip r:embed="rId21">
              <a:extLst>
                <a:ext uri="{96DAC541-7B7A-43D3-8B79-37D633B846F1}">
                  <asvg:svgBlip xmlns:asvg="http://schemas.microsoft.com/office/drawing/2016/SVG/main" r:embed="rId25"/>
                </a:ext>
              </a:extLst>
            </a:blip>
            <a:stretch>
              <a:fillRect/>
            </a:stretch>
          </p:blipFill>
          <p:spPr>
            <a:xfrm>
              <a:off x="2851" y="7882"/>
              <a:ext cx="363" cy="363"/>
            </a:xfrm>
            <a:prstGeom prst="rect">
              <a:avLst/>
            </a:prstGeom>
          </p:spPr>
        </p:pic>
      </p:grpSp>
      <p:grpSp>
        <p:nvGrpSpPr>
          <p:cNvPr id="248" name="组合 247"/>
          <p:cNvGrpSpPr/>
          <p:nvPr/>
        </p:nvGrpSpPr>
        <p:grpSpPr>
          <a:xfrm>
            <a:off x="7507605" y="3248025"/>
            <a:ext cx="335915" cy="335915"/>
            <a:chOff x="2639" y="7671"/>
            <a:chExt cx="786" cy="786"/>
          </a:xfrm>
        </p:grpSpPr>
        <p:sp>
          <p:nvSpPr>
            <p:cNvPr id="249" name="PA-椭圆 27"/>
            <p:cNvSpPr/>
            <p:nvPr>
              <p:custDataLst>
                <p:tags r:id="rId35"/>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250" name="组合 249"/>
            <p:cNvGrpSpPr/>
            <p:nvPr/>
          </p:nvGrpSpPr>
          <p:grpSpPr>
            <a:xfrm>
              <a:off x="2696" y="7727"/>
              <a:ext cx="673" cy="673"/>
              <a:chOff x="3549229" y="1355780"/>
              <a:chExt cx="5358640" cy="5358641"/>
            </a:xfrm>
          </p:grpSpPr>
          <p:sp>
            <p:nvSpPr>
              <p:cNvPr id="251" name="PA-椭圆 27"/>
              <p:cNvSpPr/>
              <p:nvPr>
                <p:custDataLst>
                  <p:tags r:id="rId36"/>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252" name="弧形 251"/>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53" name="弧形 252"/>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54" name="弧形 253"/>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55" name="弧形 254"/>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56" name="图片 255" descr="实时"/>
            <p:cNvPicPr>
              <a:picLocks noChangeAspect="1"/>
            </p:cNvPicPr>
            <p:nvPr/>
          </p:nvPicPr>
          <p:blipFill>
            <a:blip r:embed="rId21">
              <a:extLst>
                <a:ext uri="{96DAC541-7B7A-43D3-8B79-37D633B846F1}">
                  <asvg:svgBlip xmlns:asvg="http://schemas.microsoft.com/office/drawing/2016/SVG/main" r:embed="rId25"/>
                </a:ext>
              </a:extLst>
            </a:blip>
            <a:stretch>
              <a:fillRect/>
            </a:stretch>
          </p:blipFill>
          <p:spPr>
            <a:xfrm>
              <a:off x="2851" y="7882"/>
              <a:ext cx="363" cy="363"/>
            </a:xfrm>
            <a:prstGeom prst="rect">
              <a:avLst/>
            </a:prstGeom>
          </p:spPr>
        </p:pic>
      </p:grpSp>
      <p:grpSp>
        <p:nvGrpSpPr>
          <p:cNvPr id="257" name="组合 256"/>
          <p:cNvGrpSpPr/>
          <p:nvPr/>
        </p:nvGrpSpPr>
        <p:grpSpPr>
          <a:xfrm>
            <a:off x="7507605" y="3903345"/>
            <a:ext cx="335915" cy="335915"/>
            <a:chOff x="2639" y="7671"/>
            <a:chExt cx="786" cy="786"/>
          </a:xfrm>
        </p:grpSpPr>
        <p:sp>
          <p:nvSpPr>
            <p:cNvPr id="258" name="PA-椭圆 27"/>
            <p:cNvSpPr/>
            <p:nvPr>
              <p:custDataLst>
                <p:tags r:id="rId37"/>
              </p:custDataLst>
            </p:nvPr>
          </p:nvSpPr>
          <p:spPr>
            <a:xfrm>
              <a:off x="2639" y="7671"/>
              <a:ext cx="786" cy="786"/>
            </a:xfrm>
            <a:prstGeom prst="ellipse">
              <a:avLst/>
            </a:prstGeom>
            <a:gradFill flip="none" rotWithShape="1">
              <a:gsLst>
                <a:gs pos="60000">
                  <a:srgbClr val="0042FF">
                    <a:alpha val="0"/>
                  </a:srgbClr>
                </a:gs>
                <a:gs pos="100000">
                  <a:srgbClr val="0042FF">
                    <a:alpha val="26000"/>
                  </a:srgbClr>
                </a:gs>
              </a:gsLst>
              <a:path path="circle">
                <a:fillToRect l="50000" t="50000" r="50000" b="50000"/>
              </a:path>
              <a:tileRect/>
            </a:gra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grpSp>
          <p:nvGrpSpPr>
            <p:cNvPr id="259" name="组合 258"/>
            <p:cNvGrpSpPr/>
            <p:nvPr/>
          </p:nvGrpSpPr>
          <p:grpSpPr>
            <a:xfrm>
              <a:off x="2696" y="7727"/>
              <a:ext cx="673" cy="673"/>
              <a:chOff x="3549229" y="1355780"/>
              <a:chExt cx="5358640" cy="5358641"/>
            </a:xfrm>
          </p:grpSpPr>
          <p:sp>
            <p:nvSpPr>
              <p:cNvPr id="260" name="PA-椭圆 27"/>
              <p:cNvSpPr/>
              <p:nvPr>
                <p:custDataLst>
                  <p:tags r:id="rId38"/>
                </p:custDataLst>
              </p:nvPr>
            </p:nvSpPr>
            <p:spPr>
              <a:xfrm>
                <a:off x="4092132" y="1898672"/>
                <a:ext cx="4272867" cy="4272838"/>
              </a:xfrm>
              <a:prstGeom prst="ellipse">
                <a:avLst/>
              </a:prstGeom>
              <a:solidFill>
                <a:srgbClr val="FFFFFF"/>
              </a:solidFill>
              <a:ln w="6350" cap="flat" cmpd="sng" algn="ctr">
                <a:solidFill>
                  <a:srgbClr val="668E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p>
                <a:pPr algn="ctr" defTabSz="1920240">
                  <a:defRPr>
                    <a:latin typeface="微软雅黑"/>
                    <a:ea typeface="微软雅黑"/>
                    <a:cs typeface="微软雅黑"/>
                  </a:defRPr>
                </a:pPr>
                <a:endParaRPr lang="zh-CN" altLang="en-US" sz="3780" dirty="0">
                  <a:solidFill>
                    <a:prstClr val="white"/>
                  </a:solidFill>
                  <a:latin typeface="微软雅黑"/>
                  <a:ea typeface="微软雅黑"/>
                  <a:cs typeface="微软雅黑"/>
                </a:endParaRPr>
              </a:p>
            </p:txBody>
          </p:sp>
          <p:sp>
            <p:nvSpPr>
              <p:cNvPr id="261" name="弧形 260"/>
              <p:cNvSpPr/>
              <p:nvPr/>
            </p:nvSpPr>
            <p:spPr>
              <a:xfrm rot="11094351">
                <a:off x="3549229" y="1355780"/>
                <a:ext cx="5358639" cy="5358640"/>
              </a:xfrm>
              <a:prstGeom prst="arc">
                <a:avLst>
                  <a:gd name="adj1" fmla="val 1067377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62" name="弧形 261"/>
              <p:cNvSpPr/>
              <p:nvPr/>
            </p:nvSpPr>
            <p:spPr>
              <a:xfrm rot="16200000">
                <a:off x="3549230" y="1355781"/>
                <a:ext cx="5358640" cy="5358639"/>
              </a:xfrm>
              <a:prstGeom prst="arc">
                <a:avLst>
                  <a:gd name="adj1" fmla="val 10889005"/>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63" name="弧形 262"/>
              <p:cNvSpPr/>
              <p:nvPr/>
            </p:nvSpPr>
            <p:spPr>
              <a:xfrm rot="20700000">
                <a:off x="3549230" y="1355780"/>
                <a:ext cx="5358639" cy="5358640"/>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sp>
            <p:nvSpPr>
              <p:cNvPr id="264" name="弧形 263"/>
              <p:cNvSpPr/>
              <p:nvPr/>
            </p:nvSpPr>
            <p:spPr>
              <a:xfrm rot="5400000">
                <a:off x="3549230" y="1355781"/>
                <a:ext cx="5358640" cy="5358639"/>
              </a:xfrm>
              <a:prstGeom prst="arc">
                <a:avLst>
                  <a:gd name="adj1" fmla="val 10729063"/>
                  <a:gd name="adj2" fmla="val 14659752"/>
                </a:avLst>
              </a:prstGeom>
              <a:ln w="6350" cap="rnd">
                <a:solidFill>
                  <a:srgbClr val="668EFF"/>
                </a:solidFill>
                <a:headEnd type="none"/>
                <a:tailEnd type="none" w="sm" len="sm"/>
              </a:ln>
            </p:spPr>
            <p:style>
              <a:lnRef idx="1">
                <a:srgbClr val="0042FF"/>
              </a:lnRef>
              <a:fillRef idx="0">
                <a:srgbClr val="0042FF"/>
              </a:fillRef>
              <a:effectRef idx="0">
                <a:srgbClr val="0042FF"/>
              </a:effectRef>
              <a:fontRef idx="minor">
                <a:srgbClr val="383838"/>
              </a:fontRef>
            </p:style>
            <p:txBody>
              <a:bodyPr rtlCol="0" anchor="ctr" lIns="0" rIns="0" tIns="0" bIns="0"/>
              <a:p>
                <a:pPr algn="ctr" defTabSz="1920240">
                  <a:defRPr>
                    <a:latin typeface="微软雅黑"/>
                    <a:ea typeface="微软雅黑"/>
                    <a:cs typeface="微软雅黑"/>
                  </a:defRPr>
                </a:pPr>
                <a:endParaRPr lang="zh-CN" altLang="en-US" sz="3780" dirty="0">
                  <a:solidFill>
                    <a:prstClr val="black"/>
                  </a:solidFill>
                  <a:latin typeface="微软雅黑"/>
                  <a:ea typeface="微软雅黑"/>
                  <a:cs typeface="微软雅黑"/>
                </a:endParaRPr>
              </a:p>
            </p:txBody>
          </p:sp>
        </p:grpSp>
        <p:pic>
          <p:nvPicPr>
            <p:cNvPr id="265" name="图片 264" descr="实时"/>
            <p:cNvPicPr>
              <a:picLocks noChangeAspect="1"/>
            </p:cNvPicPr>
            <p:nvPr/>
          </p:nvPicPr>
          <p:blipFill>
            <a:blip r:embed="rId21">
              <a:extLst>
                <a:ext uri="{96DAC541-7B7A-43D3-8B79-37D633B846F1}">
                  <asvg:svgBlip xmlns:asvg="http://schemas.microsoft.com/office/drawing/2016/SVG/main" r:embed="rId25"/>
                </a:ext>
              </a:extLst>
            </a:blip>
            <a:stretch>
              <a:fillRect/>
            </a:stretch>
          </p:blipFill>
          <p:spPr>
            <a:xfrm>
              <a:off x="2851" y="7882"/>
              <a:ext cx="363" cy="363"/>
            </a:xfrm>
            <a:prstGeom prst="rect">
              <a:avLst/>
            </a:prstGeom>
          </p:spPr>
        </p:pic>
      </p:grpSp>
      <p:sp>
        <p:nvSpPr>
          <p:cNvPr id="270" name="文本框 269"/>
          <p:cNvSpPr txBox="1"/>
          <p:nvPr/>
        </p:nvSpPr>
        <p:spPr>
          <a:xfrm>
            <a:off x="2991485" y="1814830"/>
            <a:ext cx="1638935" cy="26035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兴趣电商超社交电商</a:t>
            </a:r>
            <a:endParaRPr lang="zh-CN" altLang="en-US" sz="1100" b="1">
              <a:solidFill>
                <a:srgbClr val="383838"/>
              </a:solidFill>
              <a:latin typeface="微软雅黑"/>
              <a:ea typeface="微软雅黑"/>
              <a:cs typeface="微软雅黑"/>
            </a:endParaRPr>
          </a:p>
        </p:txBody>
      </p:sp>
      <p:sp>
        <p:nvSpPr>
          <p:cNvPr id="271" name="文本框 270"/>
          <p:cNvSpPr txBox="1"/>
          <p:nvPr/>
        </p:nvSpPr>
        <p:spPr>
          <a:xfrm>
            <a:off x="2991485" y="2008505"/>
            <a:ext cx="1542415" cy="36830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用户通过短视频和直播</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种草</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购买</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的链路凸显</a:t>
            </a:r>
            <a:endParaRPr lang="zh-CN" altLang="en-US" sz="1000">
              <a:solidFill>
                <a:srgbClr val="383838"/>
              </a:solidFill>
              <a:latin typeface="微软雅黑"/>
              <a:ea typeface="微软雅黑"/>
              <a:cs typeface="微软雅黑"/>
            </a:endParaRPr>
          </a:p>
        </p:txBody>
      </p:sp>
      <p:sp>
        <p:nvSpPr>
          <p:cNvPr id="273" name="文本框 272"/>
          <p:cNvSpPr txBox="1"/>
          <p:nvPr/>
        </p:nvSpPr>
        <p:spPr>
          <a:xfrm>
            <a:off x="2991485" y="2510155"/>
            <a:ext cx="1638935" cy="26035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社交媒体营销主导</a:t>
            </a:r>
            <a:endParaRPr lang="zh-CN" altLang="en-US" sz="1100" b="1">
              <a:solidFill>
                <a:srgbClr val="383838"/>
              </a:solidFill>
              <a:latin typeface="微软雅黑"/>
              <a:ea typeface="微软雅黑"/>
              <a:cs typeface="微软雅黑"/>
            </a:endParaRPr>
          </a:p>
        </p:txBody>
      </p:sp>
      <p:sp>
        <p:nvSpPr>
          <p:cNvPr id="274" name="文本框 273"/>
          <p:cNvSpPr txBox="1"/>
          <p:nvPr/>
        </p:nvSpPr>
        <p:spPr>
          <a:xfrm>
            <a:off x="2991485" y="2703830"/>
            <a:ext cx="1542415" cy="36830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KOL</a:t>
            </a:r>
            <a:r>
              <a:rPr lang="zh-CN" altLang="en-US" sz="1000">
                <a:solidFill>
                  <a:srgbClr val="383838"/>
                </a:solidFill>
                <a:latin typeface="微软雅黑"/>
                <a:ea typeface="微软雅黑"/>
                <a:cs typeface="微软雅黑"/>
              </a:rPr>
              <a:t>内容营销、品牌自播和素人营销是重点。</a:t>
            </a:r>
            <a:endParaRPr lang="zh-CN" altLang="en-US" sz="1000">
              <a:solidFill>
                <a:srgbClr val="383838"/>
              </a:solidFill>
              <a:latin typeface="微软雅黑"/>
              <a:ea typeface="微软雅黑"/>
              <a:cs typeface="微软雅黑"/>
            </a:endParaRPr>
          </a:p>
        </p:txBody>
      </p:sp>
      <p:sp>
        <p:nvSpPr>
          <p:cNvPr id="276" name="文本框 275"/>
          <p:cNvSpPr txBox="1"/>
          <p:nvPr/>
        </p:nvSpPr>
        <p:spPr>
          <a:xfrm>
            <a:off x="2991485" y="3166110"/>
            <a:ext cx="1638935" cy="26035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跨渠道整合成为主流</a:t>
            </a:r>
            <a:endParaRPr lang="zh-CN" altLang="en-US" sz="1100" b="1">
              <a:solidFill>
                <a:srgbClr val="383838"/>
              </a:solidFill>
              <a:latin typeface="微软雅黑"/>
              <a:ea typeface="微软雅黑"/>
              <a:cs typeface="微软雅黑"/>
            </a:endParaRPr>
          </a:p>
        </p:txBody>
      </p:sp>
      <p:sp>
        <p:nvSpPr>
          <p:cNvPr id="277" name="文本框 276"/>
          <p:cNvSpPr txBox="1"/>
          <p:nvPr/>
        </p:nvSpPr>
        <p:spPr>
          <a:xfrm>
            <a:off x="2991485" y="3359785"/>
            <a:ext cx="1542415" cy="36830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整合</a:t>
            </a:r>
            <a:r>
              <a:rPr lang="en-US" altLang="zh-CN" sz="1000">
                <a:solidFill>
                  <a:srgbClr val="383838"/>
                </a:solidFill>
                <a:latin typeface="微软雅黑"/>
                <a:ea typeface="微软雅黑"/>
                <a:cs typeface="微软雅黑"/>
              </a:rPr>
              <a:t>APP/</a:t>
            </a:r>
            <a:r>
              <a:rPr lang="zh-CN" altLang="en-US" sz="1000">
                <a:solidFill>
                  <a:srgbClr val="383838"/>
                </a:solidFill>
                <a:latin typeface="微软雅黑"/>
                <a:ea typeface="微软雅黑"/>
                <a:cs typeface="微软雅黑"/>
              </a:rPr>
              <a:t>小程序</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智能汽车等多终端流量成为主流</a:t>
            </a:r>
            <a:endParaRPr lang="en-US" altLang="zh-CN" sz="1000">
              <a:solidFill>
                <a:srgbClr val="383838"/>
              </a:solidFill>
              <a:latin typeface="微软雅黑"/>
              <a:ea typeface="微软雅黑"/>
              <a:cs typeface="微软雅黑"/>
            </a:endParaRPr>
          </a:p>
        </p:txBody>
      </p:sp>
      <p:sp>
        <p:nvSpPr>
          <p:cNvPr id="279" name="文本框 278"/>
          <p:cNvSpPr txBox="1"/>
          <p:nvPr/>
        </p:nvSpPr>
        <p:spPr>
          <a:xfrm>
            <a:off x="2991485" y="3867150"/>
            <a:ext cx="1638935" cy="26035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品效协同矛盾加剧</a:t>
            </a:r>
            <a:endParaRPr lang="zh-CN" altLang="en-US" sz="1100" b="1">
              <a:solidFill>
                <a:srgbClr val="383838"/>
              </a:solidFill>
              <a:latin typeface="微软雅黑"/>
              <a:ea typeface="微软雅黑"/>
              <a:cs typeface="微软雅黑"/>
            </a:endParaRPr>
          </a:p>
        </p:txBody>
      </p:sp>
      <p:sp>
        <p:nvSpPr>
          <p:cNvPr id="280" name="文本框 279"/>
          <p:cNvSpPr txBox="1"/>
          <p:nvPr/>
        </p:nvSpPr>
        <p:spPr>
          <a:xfrm>
            <a:off x="2991485" y="4060825"/>
            <a:ext cx="1542415" cy="36830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低价促销与品牌溢价之间的平衡成为挑战</a:t>
            </a:r>
            <a:endParaRPr lang="zh-CN" altLang="en-US" sz="1000">
              <a:solidFill>
                <a:srgbClr val="383838"/>
              </a:solidFill>
              <a:latin typeface="微软雅黑"/>
              <a:ea typeface="微软雅黑"/>
              <a:cs typeface="微软雅黑"/>
            </a:endParaRPr>
          </a:p>
        </p:txBody>
      </p:sp>
      <p:grpSp>
        <p:nvGrpSpPr>
          <p:cNvPr id="281" name="组合 280"/>
          <p:cNvGrpSpPr/>
          <p:nvPr/>
        </p:nvGrpSpPr>
        <p:grpSpPr>
          <a:xfrm>
            <a:off x="7898765" y="1842135"/>
            <a:ext cx="1638935" cy="561975"/>
            <a:chOff x="529" y="3111"/>
            <a:chExt cx="2581" cy="885"/>
          </a:xfrm>
        </p:grpSpPr>
        <p:sp>
          <p:nvSpPr>
            <p:cNvPr id="282" name="文本框 281"/>
            <p:cNvSpPr txBox="1"/>
            <p:nvPr/>
          </p:nvSpPr>
          <p:spPr>
            <a:xfrm>
              <a:off x="529" y="3111"/>
              <a:ext cx="2581" cy="41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年轻用户主导消费</a:t>
              </a:r>
              <a:endParaRPr lang="zh-CN" altLang="en-US" sz="1100" b="1">
                <a:solidFill>
                  <a:srgbClr val="383838"/>
                </a:solidFill>
                <a:latin typeface="微软雅黑"/>
                <a:ea typeface="微软雅黑"/>
                <a:cs typeface="微软雅黑"/>
              </a:endParaRPr>
            </a:p>
          </p:txBody>
        </p:sp>
        <p:sp>
          <p:nvSpPr>
            <p:cNvPr id="283" name="文本框 282"/>
            <p:cNvSpPr txBox="1"/>
            <p:nvPr/>
          </p:nvSpPr>
          <p:spPr>
            <a:xfrm>
              <a:off x="529" y="3416"/>
              <a:ext cx="2429" cy="58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90</a:t>
              </a:r>
              <a:r>
                <a:rPr lang="zh-CN" altLang="en-US" sz="1000">
                  <a:solidFill>
                    <a:srgbClr val="383838"/>
                  </a:solidFill>
                  <a:latin typeface="微软雅黑"/>
                  <a:ea typeface="微软雅黑"/>
                  <a:cs typeface="微软雅黑"/>
                </a:rPr>
                <a:t>后、</a:t>
              </a:r>
              <a:r>
                <a:rPr lang="en-US" altLang="zh-CN" sz="1000">
                  <a:solidFill>
                    <a:srgbClr val="383838"/>
                  </a:solidFill>
                  <a:latin typeface="微软雅黑"/>
                  <a:ea typeface="微软雅黑"/>
                  <a:cs typeface="微软雅黑"/>
                </a:rPr>
                <a:t>00</a:t>
              </a:r>
              <a:r>
                <a:rPr lang="zh-CN" altLang="en-US" sz="1000">
                  <a:solidFill>
                    <a:srgbClr val="383838"/>
                  </a:solidFill>
                  <a:latin typeface="微软雅黑"/>
                  <a:ea typeface="微软雅黑"/>
                  <a:cs typeface="微软雅黑"/>
                </a:rPr>
                <a:t>后线上高消费群体占比提升</a:t>
              </a:r>
              <a:r>
                <a:rPr lang="en-US" altLang="zh-CN" sz="1000">
                  <a:solidFill>
                    <a:srgbClr val="383838"/>
                  </a:solidFill>
                  <a:latin typeface="微软雅黑"/>
                  <a:ea typeface="微软雅黑"/>
                  <a:cs typeface="微软雅黑"/>
                </a:rPr>
                <a:t>9.8%</a:t>
              </a:r>
              <a:endParaRPr lang="zh-CN" altLang="en-US" sz="1000">
                <a:solidFill>
                  <a:srgbClr val="383838"/>
                </a:solidFill>
                <a:latin typeface="微软雅黑"/>
                <a:ea typeface="微软雅黑"/>
                <a:cs typeface="微软雅黑"/>
              </a:endParaRPr>
            </a:p>
          </p:txBody>
        </p:sp>
      </p:grpSp>
      <p:grpSp>
        <p:nvGrpSpPr>
          <p:cNvPr id="284" name="组合 283"/>
          <p:cNvGrpSpPr/>
          <p:nvPr/>
        </p:nvGrpSpPr>
        <p:grpSpPr>
          <a:xfrm>
            <a:off x="7898765" y="2491105"/>
            <a:ext cx="1638935" cy="561975"/>
            <a:chOff x="529" y="3111"/>
            <a:chExt cx="2581" cy="885"/>
          </a:xfrm>
        </p:grpSpPr>
        <p:sp>
          <p:nvSpPr>
            <p:cNvPr id="285" name="文本框 284"/>
            <p:cNvSpPr txBox="1"/>
            <p:nvPr/>
          </p:nvSpPr>
          <p:spPr>
            <a:xfrm>
              <a:off x="529" y="3111"/>
              <a:ext cx="2581" cy="41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情绪价值需求凸显</a:t>
              </a:r>
              <a:endParaRPr lang="zh-CN" altLang="en-US" sz="1100" b="1">
                <a:solidFill>
                  <a:srgbClr val="383838"/>
                </a:solidFill>
                <a:latin typeface="微软雅黑"/>
                <a:ea typeface="微软雅黑"/>
                <a:cs typeface="微软雅黑"/>
              </a:endParaRPr>
            </a:p>
          </p:txBody>
        </p:sp>
        <p:sp>
          <p:nvSpPr>
            <p:cNvPr id="286" name="文本框 285"/>
            <p:cNvSpPr txBox="1"/>
            <p:nvPr/>
          </p:nvSpPr>
          <p:spPr>
            <a:xfrm>
              <a:off x="529" y="3416"/>
              <a:ext cx="2429" cy="58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年轻用户更倾向为情感共鸣和个性化服务付费</a:t>
              </a:r>
              <a:endParaRPr lang="zh-CN" altLang="en-US" sz="1000">
                <a:solidFill>
                  <a:srgbClr val="383838"/>
                </a:solidFill>
                <a:latin typeface="微软雅黑"/>
                <a:ea typeface="微软雅黑"/>
                <a:cs typeface="微软雅黑"/>
              </a:endParaRPr>
            </a:p>
          </p:txBody>
        </p:sp>
      </p:grpSp>
      <p:grpSp>
        <p:nvGrpSpPr>
          <p:cNvPr id="288" name="组合 287"/>
          <p:cNvGrpSpPr/>
          <p:nvPr/>
        </p:nvGrpSpPr>
        <p:grpSpPr>
          <a:xfrm>
            <a:off x="7898765" y="3118485"/>
            <a:ext cx="1638935" cy="561975"/>
            <a:chOff x="529" y="3111"/>
            <a:chExt cx="2581" cy="885"/>
          </a:xfrm>
        </p:grpSpPr>
        <p:sp>
          <p:nvSpPr>
            <p:cNvPr id="289" name="文本框 288"/>
            <p:cNvSpPr txBox="1"/>
            <p:nvPr/>
          </p:nvSpPr>
          <p:spPr>
            <a:xfrm>
              <a:off x="529" y="3111"/>
              <a:ext cx="2581" cy="41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内容质量要求提高</a:t>
              </a:r>
              <a:endParaRPr lang="zh-CN" altLang="en-US" sz="1100" b="1">
                <a:solidFill>
                  <a:srgbClr val="383838"/>
                </a:solidFill>
                <a:latin typeface="微软雅黑"/>
                <a:ea typeface="微软雅黑"/>
                <a:cs typeface="微软雅黑"/>
              </a:endParaRPr>
            </a:p>
          </p:txBody>
        </p:sp>
        <p:sp>
          <p:nvSpPr>
            <p:cNvPr id="290" name="文本框 289"/>
            <p:cNvSpPr txBox="1"/>
            <p:nvPr/>
          </p:nvSpPr>
          <p:spPr>
            <a:xfrm>
              <a:off x="529" y="3416"/>
              <a:ext cx="2429" cy="58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用户对低质量营销内容容忍度降低，关注原创作品</a:t>
              </a:r>
              <a:endParaRPr lang="zh-CN" altLang="en-US" sz="1000">
                <a:solidFill>
                  <a:srgbClr val="383838"/>
                </a:solidFill>
                <a:latin typeface="微软雅黑"/>
                <a:ea typeface="微软雅黑"/>
                <a:cs typeface="微软雅黑"/>
              </a:endParaRPr>
            </a:p>
          </p:txBody>
        </p:sp>
      </p:grpSp>
      <p:grpSp>
        <p:nvGrpSpPr>
          <p:cNvPr id="291" name="组合 290"/>
          <p:cNvGrpSpPr/>
          <p:nvPr/>
        </p:nvGrpSpPr>
        <p:grpSpPr>
          <a:xfrm>
            <a:off x="7898765" y="3836670"/>
            <a:ext cx="1638935" cy="561975"/>
            <a:chOff x="529" y="3111"/>
            <a:chExt cx="2581" cy="885"/>
          </a:xfrm>
        </p:grpSpPr>
        <p:sp>
          <p:nvSpPr>
            <p:cNvPr id="292" name="文本框 291"/>
            <p:cNvSpPr txBox="1"/>
            <p:nvPr/>
          </p:nvSpPr>
          <p:spPr>
            <a:xfrm>
              <a:off x="529" y="3111"/>
              <a:ext cx="2581" cy="410"/>
            </a:xfrm>
            <a:prstGeom prst="rect">
              <a:avLst/>
            </a:prstGeom>
            <a:noFill/>
          </p:spPr>
          <p:txBody>
            <a:bodyPr wrap="square" rtlCol="0">
              <a:spAutoFit/>
            </a:bodyPr>
            <a:p>
              <a:pPr algn="l">
                <a:defRPr>
                  <a:solidFill>
                    <a:srgbClr val="383838"/>
                  </a:solidFill>
                  <a:latin typeface="微软雅黑"/>
                  <a:ea typeface="微软雅黑"/>
                  <a:cs typeface="微软雅黑"/>
                </a:defRPr>
              </a:pPr>
              <a:r>
                <a:rPr lang="zh-CN" altLang="en-US" sz="1100" b="1">
                  <a:solidFill>
                    <a:srgbClr val="383838"/>
                  </a:solidFill>
                  <a:latin typeface="微软雅黑"/>
                  <a:ea typeface="微软雅黑"/>
                  <a:cs typeface="微软雅黑"/>
                </a:rPr>
                <a:t>下沉市场潜力释放</a:t>
              </a:r>
              <a:endParaRPr lang="zh-CN" altLang="en-US" sz="1100" b="1">
                <a:solidFill>
                  <a:srgbClr val="383838"/>
                </a:solidFill>
                <a:latin typeface="微软雅黑"/>
                <a:ea typeface="微软雅黑"/>
                <a:cs typeface="微软雅黑"/>
              </a:endParaRPr>
            </a:p>
          </p:txBody>
        </p:sp>
        <p:sp>
          <p:nvSpPr>
            <p:cNvPr id="293" name="文本框 292"/>
            <p:cNvSpPr txBox="1"/>
            <p:nvPr/>
          </p:nvSpPr>
          <p:spPr>
            <a:xfrm>
              <a:off x="529" y="3416"/>
              <a:ext cx="2429" cy="580"/>
            </a:xfrm>
            <a:prstGeom prst="rect">
              <a:avLst/>
            </a:prstGeom>
            <a:noFill/>
          </p:spPr>
          <p:txBody>
            <a:bodyPr wrap="square" rtlCol="0" lIns="0" rIns="0" tIns="0" bIns="0" anchor="t">
              <a:noAutofit/>
            </a:bodyPr>
            <a:p>
              <a:pPr algn="l">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本地生活、支付结算等应用在下沉市场增速显著</a:t>
              </a:r>
              <a:endParaRPr lang="zh-CN" altLang="en-US" sz="1000">
                <a:solidFill>
                  <a:srgbClr val="383838"/>
                </a:solidFill>
                <a:latin typeface="微软雅黑"/>
                <a:ea typeface="微软雅黑"/>
                <a:cs typeface="微软雅黑"/>
              </a:endParaRPr>
            </a:p>
          </p:txBody>
        </p:sp>
      </p:grpSp>
      <p:sp>
        <p:nvSpPr>
          <p:cNvPr id="304" name="任意多边形 303"/>
          <p:cNvSpPr/>
          <p:nvPr/>
        </p:nvSpPr>
        <p:spPr>
          <a:xfrm>
            <a:off x="3835400" y="1350010"/>
            <a:ext cx="2090420" cy="509905"/>
          </a:xfrm>
          <a:custGeom>
            <a:avLst/>
            <a:gdLst>
              <a:gd name="connisteX0" fmla="*/ 0 w 2090420"/>
              <a:gd name="connsiteY0" fmla="*/ 0 h 509905"/>
              <a:gd name="connisteX1" fmla="*/ 1171575 w 2090420"/>
              <a:gd name="connsiteY1" fmla="*/ 100330 h 509905"/>
              <a:gd name="connisteX2" fmla="*/ 1728470 w 2090420"/>
              <a:gd name="connsiteY2" fmla="*/ 233680 h 509905"/>
              <a:gd name="connisteX3" fmla="*/ 2090420 w 2090420"/>
              <a:gd name="connsiteY3" fmla="*/ 509905 h 509905"/>
            </a:gdLst>
            <a:ahLst/>
            <a:cxnLst>
              <a:cxn ang="0">
                <a:pos x="connisteX0" y="connsiteY0"/>
              </a:cxn>
              <a:cxn ang="0">
                <a:pos x="connisteX1" y="connsiteY1"/>
              </a:cxn>
              <a:cxn ang="0">
                <a:pos x="connisteX2" y="connsiteY2"/>
              </a:cxn>
              <a:cxn ang="0">
                <a:pos x="connisteX3" y="connsiteY3"/>
              </a:cxn>
            </a:cxnLst>
            <a:rect l="l" t="t" r="r" b="b"/>
            <a:pathLst>
              <a:path w="2090420" h="509905">
                <a:moveTo>
                  <a:pt x="0" y="0"/>
                </a:moveTo>
                <a:cubicBezTo>
                  <a:pt x="222885" y="17145"/>
                  <a:pt x="826135" y="53340"/>
                  <a:pt x="1171575" y="100330"/>
                </a:cubicBezTo>
                <a:cubicBezTo>
                  <a:pt x="1517015" y="147320"/>
                  <a:pt x="1544955" y="151765"/>
                  <a:pt x="1728470" y="233680"/>
                </a:cubicBezTo>
                <a:cubicBezTo>
                  <a:pt x="1911985" y="315595"/>
                  <a:pt x="2029460" y="457200"/>
                  <a:pt x="2090420" y="509905"/>
                </a:cubicBezTo>
              </a:path>
            </a:pathLst>
          </a:custGeom>
          <a:noFill/>
          <a:ln>
            <a:gradFill>
              <a:gsLst>
                <a:gs pos="100000">
                  <a:srgbClr val="3368FF">
                    <a:alpha val="0"/>
                  </a:srgbClr>
                </a:gs>
                <a:gs pos="0">
                  <a:srgbClr val="3368FF"/>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05" name="任意多边形 304"/>
          <p:cNvSpPr/>
          <p:nvPr/>
        </p:nvSpPr>
        <p:spPr>
          <a:xfrm flipH="1">
            <a:off x="6724015" y="1304925"/>
            <a:ext cx="2090420" cy="509905"/>
          </a:xfrm>
          <a:custGeom>
            <a:avLst/>
            <a:gdLst>
              <a:gd name="connisteX0" fmla="*/ 0 w 2090420"/>
              <a:gd name="connsiteY0" fmla="*/ 0 h 509905"/>
              <a:gd name="connisteX1" fmla="*/ 1171575 w 2090420"/>
              <a:gd name="connsiteY1" fmla="*/ 100330 h 509905"/>
              <a:gd name="connisteX2" fmla="*/ 1728470 w 2090420"/>
              <a:gd name="connsiteY2" fmla="*/ 233680 h 509905"/>
              <a:gd name="connisteX3" fmla="*/ 2090420 w 2090420"/>
              <a:gd name="connsiteY3" fmla="*/ 509905 h 509905"/>
            </a:gdLst>
            <a:ahLst/>
            <a:cxnLst>
              <a:cxn ang="0">
                <a:pos x="connisteX0" y="connsiteY0"/>
              </a:cxn>
              <a:cxn ang="0">
                <a:pos x="connisteX1" y="connsiteY1"/>
              </a:cxn>
              <a:cxn ang="0">
                <a:pos x="connisteX2" y="connsiteY2"/>
              </a:cxn>
              <a:cxn ang="0">
                <a:pos x="connisteX3" y="connsiteY3"/>
              </a:cxn>
            </a:cxnLst>
            <a:rect l="l" t="t" r="r" b="b"/>
            <a:pathLst>
              <a:path w="2090420" h="509905">
                <a:moveTo>
                  <a:pt x="0" y="0"/>
                </a:moveTo>
                <a:cubicBezTo>
                  <a:pt x="222885" y="17145"/>
                  <a:pt x="826135" y="53340"/>
                  <a:pt x="1171575" y="100330"/>
                </a:cubicBezTo>
                <a:cubicBezTo>
                  <a:pt x="1517015" y="147320"/>
                  <a:pt x="1544955" y="151765"/>
                  <a:pt x="1728470" y="233680"/>
                </a:cubicBezTo>
                <a:cubicBezTo>
                  <a:pt x="1911985" y="315595"/>
                  <a:pt x="2029460" y="457200"/>
                  <a:pt x="2090420" y="509905"/>
                </a:cubicBezTo>
              </a:path>
            </a:pathLst>
          </a:custGeom>
          <a:noFill/>
          <a:ln>
            <a:gradFill>
              <a:gsLst>
                <a:gs pos="100000">
                  <a:srgbClr val="3368FF">
                    <a:alpha val="0"/>
                  </a:srgbClr>
                </a:gs>
                <a:gs pos="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06" name="任意多边形 305"/>
          <p:cNvSpPr/>
          <p:nvPr/>
        </p:nvSpPr>
        <p:spPr>
          <a:xfrm flipV="1">
            <a:off x="1324610" y="4347210"/>
            <a:ext cx="4159885" cy="509905"/>
          </a:xfrm>
          <a:custGeom>
            <a:avLst/>
            <a:gdLst>
              <a:gd name="connisteX0" fmla="*/ 0 w 2090420"/>
              <a:gd name="connsiteY0" fmla="*/ 0 h 509905"/>
              <a:gd name="connisteX1" fmla="*/ 1171575 w 2090420"/>
              <a:gd name="connsiteY1" fmla="*/ 100330 h 509905"/>
              <a:gd name="connisteX2" fmla="*/ 1728470 w 2090420"/>
              <a:gd name="connsiteY2" fmla="*/ 233680 h 509905"/>
              <a:gd name="connisteX3" fmla="*/ 2090420 w 2090420"/>
              <a:gd name="connsiteY3" fmla="*/ 509905 h 509905"/>
            </a:gdLst>
            <a:ahLst/>
            <a:cxnLst>
              <a:cxn ang="0">
                <a:pos x="connisteX0" y="connsiteY0"/>
              </a:cxn>
              <a:cxn ang="0">
                <a:pos x="connisteX1" y="connsiteY1"/>
              </a:cxn>
              <a:cxn ang="0">
                <a:pos x="connisteX2" y="connsiteY2"/>
              </a:cxn>
              <a:cxn ang="0">
                <a:pos x="connisteX3" y="connsiteY3"/>
              </a:cxn>
            </a:cxnLst>
            <a:rect l="l" t="t" r="r" b="b"/>
            <a:pathLst>
              <a:path w="2090420" h="509905">
                <a:moveTo>
                  <a:pt x="0" y="0"/>
                </a:moveTo>
                <a:cubicBezTo>
                  <a:pt x="222885" y="17145"/>
                  <a:pt x="826135" y="53340"/>
                  <a:pt x="1171575" y="100330"/>
                </a:cubicBezTo>
                <a:cubicBezTo>
                  <a:pt x="1517015" y="147320"/>
                  <a:pt x="1544955" y="151765"/>
                  <a:pt x="1728470" y="233680"/>
                </a:cubicBezTo>
                <a:cubicBezTo>
                  <a:pt x="1911985" y="315595"/>
                  <a:pt x="2029460" y="457200"/>
                  <a:pt x="2090420" y="509905"/>
                </a:cubicBezTo>
              </a:path>
            </a:pathLst>
          </a:custGeom>
          <a:noFill/>
          <a:ln>
            <a:gradFill>
              <a:gsLst>
                <a:gs pos="100000">
                  <a:srgbClr val="3368FF">
                    <a:alpha val="0"/>
                  </a:srgbClr>
                </a:gs>
                <a:gs pos="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07" name="任意多边形 306"/>
          <p:cNvSpPr/>
          <p:nvPr/>
        </p:nvSpPr>
        <p:spPr>
          <a:xfrm flipH="1" flipV="1">
            <a:off x="7091045" y="4398645"/>
            <a:ext cx="4159885" cy="509905"/>
          </a:xfrm>
          <a:custGeom>
            <a:avLst/>
            <a:gdLst>
              <a:gd name="connisteX0" fmla="*/ 0 w 2090420"/>
              <a:gd name="connsiteY0" fmla="*/ 0 h 509905"/>
              <a:gd name="connisteX1" fmla="*/ 1171575 w 2090420"/>
              <a:gd name="connsiteY1" fmla="*/ 100330 h 509905"/>
              <a:gd name="connisteX2" fmla="*/ 1728470 w 2090420"/>
              <a:gd name="connsiteY2" fmla="*/ 233680 h 509905"/>
              <a:gd name="connisteX3" fmla="*/ 2090420 w 2090420"/>
              <a:gd name="connsiteY3" fmla="*/ 509905 h 509905"/>
            </a:gdLst>
            <a:ahLst/>
            <a:cxnLst>
              <a:cxn ang="0">
                <a:pos x="connisteX0" y="connsiteY0"/>
              </a:cxn>
              <a:cxn ang="0">
                <a:pos x="connisteX1" y="connsiteY1"/>
              </a:cxn>
              <a:cxn ang="0">
                <a:pos x="connisteX2" y="connsiteY2"/>
              </a:cxn>
              <a:cxn ang="0">
                <a:pos x="connisteX3" y="connsiteY3"/>
              </a:cxn>
            </a:cxnLst>
            <a:rect l="l" t="t" r="r" b="b"/>
            <a:pathLst>
              <a:path w="2090420" h="509905">
                <a:moveTo>
                  <a:pt x="0" y="0"/>
                </a:moveTo>
                <a:cubicBezTo>
                  <a:pt x="222885" y="17145"/>
                  <a:pt x="826135" y="53340"/>
                  <a:pt x="1171575" y="100330"/>
                </a:cubicBezTo>
                <a:cubicBezTo>
                  <a:pt x="1517015" y="147320"/>
                  <a:pt x="1544955" y="151765"/>
                  <a:pt x="1728470" y="233680"/>
                </a:cubicBezTo>
                <a:cubicBezTo>
                  <a:pt x="1911985" y="315595"/>
                  <a:pt x="2029460" y="457200"/>
                  <a:pt x="2090420" y="509905"/>
                </a:cubicBezTo>
              </a:path>
            </a:pathLst>
          </a:custGeom>
          <a:noFill/>
          <a:ln>
            <a:gradFill>
              <a:gsLst>
                <a:gs pos="100000">
                  <a:srgbClr val="3368FF">
                    <a:alpha val="0"/>
                  </a:srgbClr>
                </a:gs>
                <a:gs pos="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08" name="椭圆 307"/>
          <p:cNvSpPr/>
          <p:nvPr/>
        </p:nvSpPr>
        <p:spPr>
          <a:xfrm>
            <a:off x="5047615" y="1867535"/>
            <a:ext cx="2280920" cy="2280920"/>
          </a:xfrm>
          <a:prstGeom prst="ellipse">
            <a:avLst/>
          </a:prstGeom>
          <a:solidFill>
            <a:srgbClr val="FFFFFF"/>
          </a:solidFill>
          <a:ln w="28575" cmpd="sng">
            <a:solidFill>
              <a:srgbClr val="0042FF"/>
            </a:solidFill>
            <a:prstDash val="solid"/>
          </a:ln>
          <a:effectLst>
            <a:glow rad="63500">
              <a:srgbClr val="0042FF">
                <a:alpha val="40000"/>
              </a:srgbClr>
            </a:glo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09" name="椭圆 308"/>
          <p:cNvSpPr/>
          <p:nvPr/>
        </p:nvSpPr>
        <p:spPr>
          <a:xfrm>
            <a:off x="5338128" y="2158048"/>
            <a:ext cx="1699895" cy="1699895"/>
          </a:xfrm>
          <a:prstGeom prst="ellipse">
            <a:avLst/>
          </a:prstGeom>
          <a:solidFill>
            <a:srgbClr val="3368FF"/>
          </a:solidFill>
          <a:ln w="635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10" name="椭圆 309"/>
          <p:cNvSpPr/>
          <p:nvPr/>
        </p:nvSpPr>
        <p:spPr>
          <a:xfrm>
            <a:off x="5455285" y="2275205"/>
            <a:ext cx="1465580" cy="1465580"/>
          </a:xfrm>
          <a:prstGeom prst="ellipse">
            <a:avLst/>
          </a:prstGeom>
          <a:solidFill>
            <a:srgbClr val="FFFFFF"/>
          </a:solidFill>
          <a:ln w="63500">
            <a:solidFill>
              <a:srgbClr val="0042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11" name="椭圆 310"/>
          <p:cNvSpPr/>
          <p:nvPr/>
        </p:nvSpPr>
        <p:spPr>
          <a:xfrm>
            <a:off x="5172075" y="1991995"/>
            <a:ext cx="2032000" cy="2032000"/>
          </a:xfrm>
          <a:prstGeom prst="ellipse">
            <a:avLst/>
          </a:prstGeom>
          <a:noFill/>
          <a:ln w="12700">
            <a:solidFill>
              <a:srgbClr val="668E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12" name="文本框 311"/>
          <p:cNvSpPr txBox="1"/>
          <p:nvPr/>
        </p:nvSpPr>
        <p:spPr>
          <a:xfrm flipH="1">
            <a:off x="5439093" y="2623820"/>
            <a:ext cx="1497965" cy="768350"/>
          </a:xfrm>
          <a:prstGeom prst="rect">
            <a:avLst/>
          </a:prstGeom>
          <a:noFill/>
          <a:effectLst>
            <a:outerShdw blurRad="50800" dist="38100" dir="2700000" algn="tl" rotWithShape="0">
              <a:srgbClr val="668EFF">
                <a:alpha val="40000"/>
              </a:srgbClr>
            </a:outerShdw>
          </a:effectLst>
        </p:spPr>
        <p:txBody>
          <a:bodyPr wrap="square" rtlCol="0">
            <a:spAutoFit/>
          </a:bodyPr>
          <a:p>
            <a:pPr algn="ctr">
              <a:defRPr>
                <a:latin typeface="微软雅黑"/>
                <a:ea typeface="微软雅黑"/>
                <a:cs typeface="微软雅黑"/>
              </a:defRPr>
            </a:pPr>
            <a:r>
              <a:rPr lang="zh-CN" altLang="en-US" sz="2200" b="1">
                <a:solidFill>
                  <a:srgbClr val="0042FF"/>
                </a:solidFill>
                <a:effectLst/>
                <a:latin typeface="微软雅黑"/>
                <a:ea typeface="微软雅黑"/>
                <a:cs typeface="微软雅黑"/>
              </a:rPr>
              <a:t>数字化</a:t>
            </a:r>
            <a:endParaRPr lang="zh-CN" altLang="en-US" sz="2200" b="1">
              <a:solidFill>
                <a:srgbClr val="0042FF"/>
              </a:solidFill>
              <a:effectLst/>
              <a:latin typeface="微软雅黑"/>
              <a:ea typeface="微软雅黑"/>
              <a:cs typeface="微软雅黑"/>
            </a:endParaRPr>
          </a:p>
          <a:p>
            <a:pPr algn="ctr">
              <a:defRPr>
                <a:latin typeface="微软雅黑"/>
                <a:ea typeface="微软雅黑"/>
                <a:cs typeface="微软雅黑"/>
              </a:defRPr>
            </a:pPr>
            <a:r>
              <a:rPr lang="zh-CN" altLang="en-US" sz="2200" b="1">
                <a:solidFill>
                  <a:srgbClr val="0042FF"/>
                </a:solidFill>
                <a:effectLst/>
                <a:latin typeface="微软雅黑"/>
                <a:ea typeface="微软雅黑"/>
                <a:cs typeface="微软雅黑"/>
              </a:rPr>
              <a:t>营销趋势</a:t>
            </a:r>
            <a:endParaRPr lang="zh-CN" altLang="en-US" sz="2200" b="1">
              <a:solidFill>
                <a:srgbClr val="0042FF"/>
              </a:solidFill>
              <a:effectLst/>
              <a:latin typeface="微软雅黑"/>
              <a:ea typeface="微软雅黑"/>
              <a:cs typeface="微软雅黑"/>
            </a:endParaRPr>
          </a:p>
        </p:txBody>
      </p:sp>
      <p:sp>
        <p:nvSpPr>
          <p:cNvPr id="313" name="椭圆 312"/>
          <p:cNvSpPr/>
          <p:nvPr/>
        </p:nvSpPr>
        <p:spPr>
          <a:xfrm rot="10800000" flipH="1">
            <a:off x="6945630" y="1420495"/>
            <a:ext cx="2846070" cy="3488055"/>
          </a:xfrm>
          <a:prstGeom prst="ellipse">
            <a:avLst/>
          </a:prstGeom>
          <a:noFill/>
          <a:ln>
            <a:gradFill>
              <a:gsLst>
                <a:gs pos="83000">
                  <a:srgbClr val="3368FF">
                    <a:alpha val="0"/>
                  </a:srgbClr>
                </a:gs>
                <a:gs pos="100000">
                  <a:srgbClr val="3368FF"/>
                </a:gs>
              </a:gsLst>
              <a:lin ang="0" scaled="0"/>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16" name="矩形 315"/>
          <p:cNvSpPr/>
          <p:nvPr/>
        </p:nvSpPr>
        <p:spPr>
          <a:xfrm>
            <a:off x="2240915" y="2837815"/>
            <a:ext cx="596900" cy="59690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317" name="组合 316"/>
          <p:cNvGrpSpPr/>
          <p:nvPr/>
        </p:nvGrpSpPr>
        <p:grpSpPr>
          <a:xfrm flipH="1">
            <a:off x="2240915" y="2894965"/>
            <a:ext cx="728345" cy="506730"/>
            <a:chOff x="11182" y="11546"/>
            <a:chExt cx="1147" cy="798"/>
          </a:xfrm>
        </p:grpSpPr>
        <p:sp>
          <p:nvSpPr>
            <p:cNvPr id="318" name="菱形 317"/>
            <p:cNvSpPr/>
            <p:nvPr/>
          </p:nvSpPr>
          <p:spPr>
            <a:xfrm rot="10800000" flipV="1">
              <a:off x="11182" y="1154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19" name="菱形 318"/>
            <p:cNvSpPr/>
            <p:nvPr/>
          </p:nvSpPr>
          <p:spPr>
            <a:xfrm rot="10800000" flipV="1">
              <a:off x="11427" y="1156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320" name="矩形 319"/>
          <p:cNvSpPr/>
          <p:nvPr/>
        </p:nvSpPr>
        <p:spPr>
          <a:xfrm>
            <a:off x="9374505" y="2837815"/>
            <a:ext cx="596900" cy="59690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321" name="组合 320"/>
          <p:cNvGrpSpPr/>
          <p:nvPr/>
        </p:nvGrpSpPr>
        <p:grpSpPr>
          <a:xfrm>
            <a:off x="9218930" y="2806065"/>
            <a:ext cx="728345" cy="506730"/>
            <a:chOff x="11182" y="11546"/>
            <a:chExt cx="1147" cy="798"/>
          </a:xfrm>
        </p:grpSpPr>
        <p:sp>
          <p:nvSpPr>
            <p:cNvPr id="322" name="菱形 321"/>
            <p:cNvSpPr/>
            <p:nvPr/>
          </p:nvSpPr>
          <p:spPr>
            <a:xfrm rot="10800000" flipV="1">
              <a:off x="11182" y="1154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23" name="菱形 322"/>
            <p:cNvSpPr/>
            <p:nvPr/>
          </p:nvSpPr>
          <p:spPr>
            <a:xfrm rot="10800000" flipV="1">
              <a:off x="11427" y="11566"/>
              <a:ext cx="902" cy="779"/>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324" name="圆角矩形 323"/>
          <p:cNvSpPr/>
          <p:nvPr/>
        </p:nvSpPr>
        <p:spPr>
          <a:xfrm>
            <a:off x="8367395" y="1070610"/>
            <a:ext cx="3131185" cy="562610"/>
          </a:xfrm>
          <a:prstGeom prst="roundRect">
            <a:avLst>
              <a:gd name="adj" fmla="val 50000"/>
            </a:avLst>
          </a:prstGeom>
          <a:gradFill>
            <a:gsLst>
              <a:gs pos="0">
                <a:srgbClr val="0042FF"/>
              </a:gs>
              <a:gs pos="100000">
                <a:srgbClr val="3368FF"/>
              </a:gs>
            </a:gsLst>
            <a:lin ang="1080000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b="1">
                <a:solidFill>
                  <a:srgbClr val="FFFFFF"/>
                </a:solidFill>
                <a:cs typeface="微软雅黑"/>
                <a:sym typeface="微软雅黑"/>
                <a:latin typeface="微软雅黑"/>
                <a:ea typeface="微软雅黑"/>
              </a:rPr>
              <a:t>用户侧：</a:t>
            </a:r>
            <a:r>
              <a:rPr lang="zh-CN" altLang="en-US" sz="1400">
                <a:solidFill>
                  <a:srgbClr val="FFFFFF"/>
                </a:solidFill>
                <a:cs typeface="微软雅黑"/>
                <a:sym typeface="微软雅黑"/>
                <a:latin typeface="微软雅黑"/>
                <a:ea typeface="微软雅黑"/>
              </a:rPr>
              <a:t>情感共鸣构筑信任壁垒</a:t>
            </a:r>
            <a:endParaRPr lang="zh-CN" altLang="en-US" sz="1400">
              <a:solidFill>
                <a:srgbClr val="FFFFFF"/>
              </a:solidFill>
              <a:cs typeface="微软雅黑"/>
              <a:sym typeface="微软雅黑"/>
              <a:latin typeface="微软雅黑"/>
              <a:ea typeface="微软雅黑"/>
            </a:endParaRPr>
          </a:p>
        </p:txBody>
      </p:sp>
      <p:sp>
        <p:nvSpPr>
          <p:cNvPr id="326" name="圆角矩形 325"/>
          <p:cNvSpPr/>
          <p:nvPr/>
        </p:nvSpPr>
        <p:spPr>
          <a:xfrm>
            <a:off x="4530725" y="4857115"/>
            <a:ext cx="3131185" cy="562610"/>
          </a:xfrm>
          <a:prstGeom prst="roundRect">
            <a:avLst>
              <a:gd name="adj" fmla="val 50000"/>
            </a:avLst>
          </a:prstGeom>
          <a:gradFill>
            <a:gsLst>
              <a:gs pos="0">
                <a:srgbClr val="0042FF"/>
              </a:gs>
              <a:gs pos="100000">
                <a:srgbClr val="3368FF"/>
              </a:gs>
            </a:gsLst>
            <a:lin ang="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b="1">
                <a:solidFill>
                  <a:srgbClr val="FFFFFF"/>
                </a:solidFill>
                <a:cs typeface="微软雅黑"/>
                <a:sym typeface="微软雅黑"/>
                <a:latin typeface="微软雅黑"/>
                <a:ea typeface="微软雅黑"/>
              </a:rPr>
              <a:t>技术侧：</a:t>
            </a:r>
            <a:r>
              <a:rPr lang="zh-CN" altLang="en-US" sz="1400">
                <a:solidFill>
                  <a:srgbClr val="FFFFFF"/>
                </a:solidFill>
                <a:cs typeface="微软雅黑"/>
                <a:sym typeface="微软雅黑"/>
                <a:latin typeface="微软雅黑"/>
                <a:ea typeface="微软雅黑"/>
              </a:rPr>
              <a:t>AI</a:t>
            </a:r>
            <a:r>
              <a:rPr lang="zh-CN" altLang="en-US" sz="1400">
                <a:solidFill>
                  <a:srgbClr val="FFFFFF"/>
                </a:solidFill>
                <a:cs typeface="微软雅黑"/>
                <a:sym typeface="微软雅黑"/>
                <a:latin typeface="微软雅黑"/>
                <a:ea typeface="微软雅黑"/>
              </a:rPr>
              <a:t>驱动重构营销新基建</a:t>
            </a:r>
            <a:endParaRPr lang="zh-CN" altLang="en-US" sz="1400">
              <a:solidFill>
                <a:srgbClr val="FFFFFF"/>
              </a:solidFill>
              <a:cs typeface="微软雅黑"/>
              <a:sym typeface="微软雅黑"/>
              <a:latin typeface="微软雅黑"/>
              <a:ea typeface="微软雅黑"/>
            </a:endParaRPr>
          </a:p>
        </p:txBody>
      </p:sp>
      <p:grpSp>
        <p:nvGrpSpPr>
          <p:cNvPr id="4" name="组合 3"/>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39"/>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26757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80" dirty="0">
                <a:solidFill>
                  <a:srgbClr val="0042FF"/>
                </a:solidFill>
                <a:effectLst/>
                <a:latin typeface="微软雅黑"/>
                <a:ea typeface="微软雅黑"/>
                <a:cs typeface="微软雅黑"/>
              </a:rPr>
              <a:t>业务框架</a:t>
            </a:r>
            <a:r>
              <a:rPr lang="en-US" altLang="zh-CN" sz="2480" dirty="0">
                <a:solidFill>
                  <a:srgbClr val="0042FF"/>
                </a:solidFill>
                <a:effectLst/>
                <a:latin typeface="微软雅黑"/>
                <a:ea typeface="微软雅黑"/>
                <a:cs typeface="微软雅黑"/>
              </a:rPr>
              <a:t>-</a:t>
            </a:r>
            <a:r>
              <a:rPr sz="2480" dirty="0">
                <a:solidFill>
                  <a:srgbClr val="0042FF"/>
                </a:solidFill>
                <a:effectLst/>
                <a:latin typeface="微软雅黑"/>
                <a:ea typeface="微软雅黑"/>
                <a:cs typeface="微软雅黑"/>
              </a:rPr>
              <a:t>中心发散架构 |</a:t>
            </a:r>
            <a:r>
              <a:rPr lang="zh-CN" altLang="en-US" sz="2480" dirty="0">
                <a:solidFill>
                  <a:srgbClr val="0042FF"/>
                </a:solidFill>
                <a:effectLst/>
                <a:latin typeface="微软雅黑"/>
                <a:ea typeface="微软雅黑"/>
                <a:cs typeface="微软雅黑"/>
              </a:rPr>
              <a:t> </a:t>
            </a:r>
            <a:r>
              <a:rPr lang="zh-CN" altLang="en-US" sz="2480" dirty="0">
                <a:solidFill>
                  <a:srgbClr val="383838"/>
                </a:solidFill>
                <a:effectLst/>
                <a:latin typeface="微软雅黑"/>
                <a:ea typeface="微软雅黑"/>
                <a:cs typeface="微软雅黑"/>
              </a:rPr>
              <a:t>金融大模型产业发展前瞻</a:t>
            </a:r>
            <a:endParaRPr lang="zh-CN" altLang="en-US" sz="248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26" name="椭圆 625"/>
          <p:cNvSpPr/>
          <p:nvPr/>
        </p:nvSpPr>
        <p:spPr>
          <a:xfrm>
            <a:off x="4010380" y="1894245"/>
            <a:ext cx="4154730" cy="4154730"/>
          </a:xfrm>
          <a:prstGeom prst="ellipse">
            <a:avLst/>
          </a:prstGeom>
          <a:gradFill flip="none" rotWithShape="1">
            <a:gsLst>
              <a:gs pos="40000">
                <a:srgbClr val="FFFFFF">
                  <a:alpha val="0"/>
                </a:srgbClr>
              </a:gs>
              <a:gs pos="100000">
                <a:srgbClr val="FFFFFF">
                  <a:alpha val="50000"/>
                </a:srgbClr>
              </a:gs>
            </a:gsLst>
            <a:path path="circle">
              <a:fillToRect l="50000" t="50000" r="50000" b="50000"/>
            </a:path>
            <a:tileRect/>
          </a:gradFill>
          <a:ln w="13716">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 name="文本框 1"/>
          <p:cNvSpPr txBox="1"/>
          <p:nvPr/>
        </p:nvSpPr>
        <p:spPr>
          <a:xfrm>
            <a:off x="3404633" y="3503836"/>
            <a:ext cx="389908" cy="1200329"/>
          </a:xfrm>
          <a:prstGeom prst="rect">
            <a:avLst/>
          </a:prstGeom>
          <a:noFill/>
          <a:ln w="9525">
            <a:noFill/>
          </a:ln>
        </p:spPr>
        <p:txBody>
          <a:bodyPr wrap="square" lIns="0" rIns="0" tIns="0" bIns="0">
            <a:spAutoFit/>
          </a:bodyPr>
          <a:lstStyle>
            <a:defPPr>
              <a:defRPr lang="zh-CN">
                <a:latin typeface="微软雅黑"/>
                <a:ea typeface="微软雅黑"/>
                <a:cs typeface="微软雅黑"/>
              </a:defRPr>
            </a:defPPr>
            <a:lvl1pPr indent="0">
              <a:defRPr sz="1400" b="0">
                <a:solidFill>
                  <a:srgbClr val="0042FF"/>
                </a:solidFill>
                <a:latin typeface="微软雅黑"/>
                <a:ea typeface="微软雅黑"/>
                <a:cs typeface="微软雅黑"/>
              </a:defRPr>
            </a:lvl1p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rPr>
              <a:t>转型原则</a:t>
            </a: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 name="文本框 7"/>
          <p:cNvSpPr txBox="1"/>
          <p:nvPr/>
        </p:nvSpPr>
        <p:spPr>
          <a:xfrm>
            <a:off x="8392771" y="3501242"/>
            <a:ext cx="184300" cy="1198880"/>
          </a:xfrm>
          <a:prstGeom prst="rect">
            <a:avLst/>
          </a:prstGeom>
          <a:noFill/>
          <a:ln w="9525">
            <a:noFill/>
          </a:ln>
        </p:spPr>
        <p:txBody>
          <a:bodyPr wrap="square" lIns="0" rIns="0" tIns="0" bIns="0">
            <a:spAutoFit/>
          </a:bodyPr>
          <a:lstStyle>
            <a:defPPr>
              <a:defRPr lang="zh-CN">
                <a:latin typeface="微软雅黑"/>
                <a:ea typeface="微软雅黑"/>
                <a:cs typeface="微软雅黑"/>
              </a:defRPr>
            </a:defPPr>
            <a:lvl1pPr indent="0">
              <a:defRPr sz="1400" b="0">
                <a:solidFill>
                  <a:srgbClr val="0042FF"/>
                </a:solidFill>
                <a:latin typeface="微软雅黑"/>
                <a:ea typeface="微软雅黑"/>
                <a:cs typeface="微软雅黑"/>
              </a:defRPr>
            </a:lvl1p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rPr>
              <a:t>技术厂商</a:t>
            </a: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625" name="椭圆 624"/>
          <p:cNvSpPr/>
          <p:nvPr/>
        </p:nvSpPr>
        <p:spPr>
          <a:xfrm>
            <a:off x="4792152" y="2676017"/>
            <a:ext cx="2591186" cy="2591186"/>
          </a:xfrm>
          <a:prstGeom prst="ellipse">
            <a:avLst/>
          </a:prstGeom>
          <a:gradFill flip="none" rotWithShape="1">
            <a:gsLst>
              <a:gs pos="40000">
                <a:srgbClr val="FFFFFF">
                  <a:alpha val="0"/>
                </a:srgbClr>
              </a:gs>
              <a:gs pos="100000">
                <a:srgbClr val="FFFFFF">
                  <a:alpha val="100000"/>
                </a:srgbClr>
              </a:gs>
            </a:gsLst>
            <a:path path="circle">
              <a:fillToRect l="50000" t="50000" r="50000" b="50000"/>
            </a:path>
            <a:tileRect/>
          </a:gradFill>
          <a:ln w="13716">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latin typeface="微软雅黑"/>
              <a:ea typeface="微软雅黑"/>
              <a:cs typeface="微软雅黑"/>
            </a:endParaRPr>
          </a:p>
        </p:txBody>
      </p:sp>
      <p:sp>
        <p:nvSpPr>
          <p:cNvPr id="583" name="椭圆 582"/>
          <p:cNvSpPr/>
          <p:nvPr/>
        </p:nvSpPr>
        <p:spPr>
          <a:xfrm>
            <a:off x="5374887" y="3278449"/>
            <a:ext cx="1425716" cy="1425716"/>
          </a:xfrm>
          <a:prstGeom prst="ellipse">
            <a:avLst/>
          </a:pr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586" name="文本框 585"/>
          <p:cNvSpPr txBox="1"/>
          <p:nvPr/>
        </p:nvSpPr>
        <p:spPr>
          <a:xfrm>
            <a:off x="5420628" y="3701471"/>
            <a:ext cx="1402080" cy="583565"/>
          </a:xfrm>
          <a:prstGeom prst="rect">
            <a:avLst/>
          </a:prstGeom>
          <a:noFill/>
          <a:ln w="9525">
            <a:noFill/>
          </a:ln>
        </p:spPr>
        <p:txBody>
          <a:bodyPr wrap="non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rPr>
              <a:t>以需求为导向</a:t>
            </a:r>
            <a:endPar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rPr>
              <a:t>提升产品特性</a:t>
            </a:r>
            <a:endPar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01" name="Rounded Rectangle 5"/>
          <p:cNvSpPr/>
          <p:nvPr/>
        </p:nvSpPr>
        <p:spPr>
          <a:xfrm rot="2700000">
            <a:off x="3888007" y="3639479"/>
            <a:ext cx="760619" cy="761084"/>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198" h="1199">
                <a:moveTo>
                  <a:pt x="333" y="136"/>
                </a:moveTo>
                <a:cubicBezTo>
                  <a:pt x="330" y="61"/>
                  <a:pt x="399" y="1"/>
                  <a:pt x="467" y="2"/>
                </a:cubicBezTo>
                <a:lnTo>
                  <a:pt x="1037" y="2"/>
                </a:lnTo>
                <a:cubicBezTo>
                  <a:pt x="1042" y="1"/>
                  <a:pt x="1060" y="0"/>
                  <a:pt x="1063" y="0"/>
                </a:cubicBezTo>
                <a:cubicBezTo>
                  <a:pt x="1101" y="-3"/>
                  <a:pt x="1144" y="23"/>
                  <a:pt x="1160" y="41"/>
                </a:cubicBezTo>
                <a:cubicBezTo>
                  <a:pt x="1184" y="63"/>
                  <a:pt x="1199" y="106"/>
                  <a:pt x="1198" y="133"/>
                </a:cubicBezTo>
                <a:lnTo>
                  <a:pt x="1198" y="136"/>
                </a:lnTo>
                <a:lnTo>
                  <a:pt x="1198" y="140"/>
                </a:lnTo>
                <a:lnTo>
                  <a:pt x="1198" y="143"/>
                </a:lnTo>
                <a:lnTo>
                  <a:pt x="1197" y="146"/>
                </a:lnTo>
                <a:lnTo>
                  <a:pt x="1197" y="148"/>
                </a:lnTo>
                <a:lnTo>
                  <a:pt x="1197" y="728"/>
                </a:lnTo>
                <a:cubicBezTo>
                  <a:pt x="1199" y="803"/>
                  <a:pt x="1131" y="864"/>
                  <a:pt x="1063" y="862"/>
                </a:cubicBezTo>
                <a:cubicBezTo>
                  <a:pt x="988" y="864"/>
                  <a:pt x="927" y="795"/>
                  <a:pt x="929" y="728"/>
                </a:cubicBezTo>
                <a:lnTo>
                  <a:pt x="929" y="459"/>
                </a:lnTo>
                <a:lnTo>
                  <a:pt x="229" y="1159"/>
                </a:lnTo>
                <a:cubicBezTo>
                  <a:pt x="204" y="1186"/>
                  <a:pt x="163" y="1199"/>
                  <a:pt x="136" y="1199"/>
                </a:cubicBezTo>
                <a:lnTo>
                  <a:pt x="132" y="1199"/>
                </a:lnTo>
                <a:cubicBezTo>
                  <a:pt x="63" y="1204"/>
                  <a:pt x="-5" y="1128"/>
                  <a:pt x="0" y="1066"/>
                </a:cubicBezTo>
                <a:lnTo>
                  <a:pt x="0" y="1063"/>
                </a:lnTo>
                <a:cubicBezTo>
                  <a:pt x="-1" y="1030"/>
                  <a:pt x="18" y="990"/>
                  <a:pt x="39" y="970"/>
                </a:cubicBezTo>
                <a:lnTo>
                  <a:pt x="739" y="270"/>
                </a:lnTo>
                <a:lnTo>
                  <a:pt x="467" y="270"/>
                </a:lnTo>
                <a:cubicBezTo>
                  <a:pt x="391" y="273"/>
                  <a:pt x="331" y="204"/>
                  <a:pt x="333" y="136"/>
                </a:cubicBezTo>
                <a:close/>
              </a:path>
            </a:pathLst>
          </a:custGeom>
          <a:gradFill>
            <a:gsLst>
              <a:gs pos="0">
                <a:srgbClr val="0042FF"/>
              </a:gs>
              <a:gs pos="100000">
                <a:srgbClr val="3368FF"/>
              </a:gs>
            </a:gsLst>
            <a:lin ang="108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523" name="对话气泡: 矩形 522"/>
          <p:cNvSpPr/>
          <p:nvPr/>
        </p:nvSpPr>
        <p:spPr>
          <a:xfrm>
            <a:off x="4218940" y="2353945"/>
            <a:ext cx="957580" cy="354330"/>
          </a:xfrm>
          <a:prstGeom prst="wedgeRectCallout">
            <a:avLst>
              <a:gd name="adj1" fmla="val -33209"/>
              <a:gd name="adj2" fmla="val 101797"/>
            </a:avLst>
          </a:pr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383838"/>
                </a:solidFill>
                <a:latin typeface="微软雅黑"/>
                <a:ea typeface="微软雅黑"/>
                <a:cs typeface="微软雅黑"/>
              </a:defRPr>
            </a:pPr>
            <a:r>
              <a:rPr lang="zh-CN" altLang="en-US" sz="1200" dirty="0">
                <a:solidFill>
                  <a:srgbClr val="383838"/>
                </a:solidFill>
                <a:effectLst>
                  <a:outerShdw blurRad="137160" dist="41148" dir="2699997" algn="tl">
                    <a:srgbClr val="383838">
                      <a:alpha val="40000"/>
                    </a:srgbClr>
                  </a:outerShdw>
                </a:effectLst>
                <a:latin typeface="微软雅黑"/>
                <a:ea typeface="微软雅黑"/>
                <a:cs typeface="微软雅黑"/>
              </a:rPr>
              <a:t>合规性</a:t>
            </a:r>
            <a:endParaRPr lang="zh-CN" altLang="en-US" sz="1200"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639" name="右大括号 638"/>
          <p:cNvSpPr/>
          <p:nvPr/>
        </p:nvSpPr>
        <p:spPr>
          <a:xfrm>
            <a:off x="3083378" y="2654627"/>
            <a:ext cx="338157" cy="2834722"/>
          </a:xfrm>
          <a:prstGeom prst="rightBrace">
            <a:avLst>
              <a:gd name="adj1" fmla="val 53950"/>
              <a:gd name="adj2" fmla="val 50000"/>
            </a:avLst>
          </a:prstGeom>
          <a:no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640" name="右大括号 639"/>
          <p:cNvSpPr/>
          <p:nvPr/>
        </p:nvSpPr>
        <p:spPr>
          <a:xfrm flipH="1">
            <a:off x="8795454" y="2654627"/>
            <a:ext cx="338157" cy="2834722"/>
          </a:xfrm>
          <a:prstGeom prst="rightBrace">
            <a:avLst>
              <a:gd name="adj1" fmla="val 53950"/>
              <a:gd name="adj2" fmla="val 50000"/>
            </a:avLst>
          </a:prstGeom>
          <a:no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latin typeface="微软雅黑"/>
              <a:ea typeface="微软雅黑"/>
              <a:cs typeface="微软雅黑"/>
              <a:sym typeface="微软雅黑"/>
            </a:endParaRPr>
          </a:p>
        </p:txBody>
      </p:sp>
      <p:cxnSp>
        <p:nvCxnSpPr>
          <p:cNvPr id="649" name="直接连接符 648"/>
          <p:cNvCxnSpPr/>
          <p:nvPr/>
        </p:nvCxnSpPr>
        <p:spPr>
          <a:xfrm flipH="1">
            <a:off x="4805448" y="5062244"/>
            <a:ext cx="290319" cy="390443"/>
          </a:xfrm>
          <a:prstGeom prst="line">
            <a:avLst/>
          </a:prstGeom>
          <a:ln>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653" name="直接连接符 652"/>
          <p:cNvCxnSpPr/>
          <p:nvPr/>
        </p:nvCxnSpPr>
        <p:spPr>
          <a:xfrm>
            <a:off x="7034607" y="5110329"/>
            <a:ext cx="325613" cy="398294"/>
          </a:xfrm>
          <a:prstGeom prst="line">
            <a:avLst/>
          </a:prstGeom>
          <a:ln>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661" name="弧形 660"/>
          <p:cNvSpPr/>
          <p:nvPr/>
        </p:nvSpPr>
        <p:spPr>
          <a:xfrm>
            <a:off x="5115221" y="3021077"/>
            <a:ext cx="1914184" cy="1914184"/>
          </a:xfrm>
          <a:prstGeom prst="arc">
            <a:avLst>
              <a:gd name="adj1" fmla="val 20644446"/>
              <a:gd name="adj2" fmla="val 9007095"/>
            </a:avLst>
          </a:prstGeom>
          <a:ln w="28575">
            <a:gradFill>
              <a:gsLst>
                <a:gs pos="0">
                  <a:srgbClr val="3368FF">
                    <a:alpha val="0"/>
                  </a:srgbClr>
                </a:gs>
                <a:gs pos="100000">
                  <a:srgbClr val="3368FF"/>
                </a:gs>
              </a:gsLst>
              <a:lin ang="0" scaled="1"/>
            </a:gradFill>
            <a:headEnd type="triangle"/>
            <a:tailEnd type="none"/>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678" name="矩形: 圆角 677"/>
          <p:cNvSpPr/>
          <p:nvPr/>
        </p:nvSpPr>
        <p:spPr>
          <a:xfrm>
            <a:off x="355600" y="2593340"/>
            <a:ext cx="2613660" cy="686435"/>
          </a:xfrm>
          <a:prstGeom prst="roundRect">
            <a:avLst>
              <a:gd name="adj" fmla="val 10774"/>
            </a:avLst>
          </a:prstGeom>
          <a:gradFill flip="none" rotWithShape="1">
            <a:gsLst>
              <a:gs pos="23000">
                <a:srgbClr val="3368FF"/>
              </a:gs>
              <a:gs pos="100000">
                <a:srgbClr val="668E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679" name="椭圆 678"/>
          <p:cNvSpPr/>
          <p:nvPr/>
        </p:nvSpPr>
        <p:spPr>
          <a:xfrm>
            <a:off x="600075" y="2708275"/>
            <a:ext cx="476250" cy="476250"/>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680" name="文本框 679"/>
          <p:cNvSpPr txBox="1"/>
          <p:nvPr/>
        </p:nvSpPr>
        <p:spPr>
          <a:xfrm>
            <a:off x="1243965" y="2649855"/>
            <a:ext cx="1554480" cy="570865"/>
          </a:xfrm>
          <a:prstGeom prst="rect">
            <a:avLst/>
          </a:prstGeom>
          <a:noFill/>
          <a:ln w="9525">
            <a:noFill/>
          </a:ln>
        </p:spPr>
        <p:txBody>
          <a:bodyPr wrap="non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政策导向型行业</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新技术产品选择审慎</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 name="矩形: 圆角 677"/>
          <p:cNvSpPr/>
          <p:nvPr/>
        </p:nvSpPr>
        <p:spPr>
          <a:xfrm>
            <a:off x="358140" y="3738880"/>
            <a:ext cx="2613660" cy="686435"/>
          </a:xfrm>
          <a:prstGeom prst="roundRect">
            <a:avLst>
              <a:gd name="adj" fmla="val 10774"/>
            </a:avLst>
          </a:prstGeom>
          <a:gradFill flip="none" rotWithShape="1">
            <a:gsLst>
              <a:gs pos="23000">
                <a:srgbClr val="3368FF"/>
              </a:gs>
              <a:gs pos="100000">
                <a:srgbClr val="668E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 name="文本框 8"/>
          <p:cNvSpPr txBox="1"/>
          <p:nvPr/>
        </p:nvSpPr>
        <p:spPr>
          <a:xfrm>
            <a:off x="1225550" y="3795395"/>
            <a:ext cx="1402080" cy="570865"/>
          </a:xfrm>
          <a:prstGeom prst="rect">
            <a:avLst/>
          </a:prstGeom>
          <a:noFill/>
          <a:ln w="9525">
            <a:noFill/>
          </a:ln>
        </p:spPr>
        <p:txBody>
          <a:bodyPr wrap="non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技术产品的合规性</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3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是关注的首要元素</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 name="矩形: 圆角 677"/>
          <p:cNvSpPr/>
          <p:nvPr/>
        </p:nvSpPr>
        <p:spPr>
          <a:xfrm>
            <a:off x="355600" y="4884420"/>
            <a:ext cx="2613660" cy="686435"/>
          </a:xfrm>
          <a:prstGeom prst="roundRect">
            <a:avLst>
              <a:gd name="adj" fmla="val 10774"/>
            </a:avLst>
          </a:prstGeom>
          <a:gradFill flip="none" rotWithShape="1">
            <a:gsLst>
              <a:gs pos="23000">
                <a:srgbClr val="3368FF"/>
              </a:gs>
              <a:gs pos="100000">
                <a:srgbClr val="668E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4" name="文本框 13"/>
          <p:cNvSpPr txBox="1"/>
          <p:nvPr/>
        </p:nvSpPr>
        <p:spPr>
          <a:xfrm>
            <a:off x="1195070" y="4940935"/>
            <a:ext cx="1706880" cy="570865"/>
          </a:xfrm>
          <a:prstGeom prst="rect">
            <a:avLst/>
          </a:prstGeom>
          <a:noFill/>
          <a:ln w="9525">
            <a:noFill/>
          </a:ln>
        </p:spPr>
        <p:txBody>
          <a:bodyPr wrap="non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关注技术产品使用效果</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近期表现影响长期选择</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 name="椭圆 14"/>
          <p:cNvSpPr/>
          <p:nvPr/>
        </p:nvSpPr>
        <p:spPr>
          <a:xfrm>
            <a:off x="600075" y="3844290"/>
            <a:ext cx="476250" cy="476250"/>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pic>
        <p:nvPicPr>
          <p:cNvPr id="17" name="图片 16" descr="审慎信息"/>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21140" y="2835113"/>
            <a:ext cx="240030" cy="222250"/>
          </a:xfrm>
          <a:prstGeom prst="rect">
            <a:avLst/>
          </a:prstGeom>
        </p:spPr>
      </p:pic>
      <p:pic>
        <p:nvPicPr>
          <p:cNvPr id="18" name="图片 17" descr="YQH_合规事项_集团合规事项"/>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05803" y="3950018"/>
            <a:ext cx="264795" cy="264795"/>
          </a:xfrm>
          <a:prstGeom prst="rect">
            <a:avLst/>
          </a:prstGeom>
        </p:spPr>
      </p:pic>
      <p:sp>
        <p:nvSpPr>
          <p:cNvPr id="20" name="椭圆 19"/>
          <p:cNvSpPr/>
          <p:nvPr/>
        </p:nvSpPr>
        <p:spPr>
          <a:xfrm>
            <a:off x="600075" y="4985385"/>
            <a:ext cx="476250" cy="476250"/>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pic>
        <p:nvPicPr>
          <p:cNvPr id="21" name="图片 20" descr="产品"/>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86435" y="5082540"/>
            <a:ext cx="284480" cy="284480"/>
          </a:xfrm>
          <a:prstGeom prst="rect">
            <a:avLst/>
          </a:prstGeom>
        </p:spPr>
      </p:pic>
      <p:sp>
        <p:nvSpPr>
          <p:cNvPr id="23" name="矩形: 圆角 677"/>
          <p:cNvSpPr/>
          <p:nvPr/>
        </p:nvSpPr>
        <p:spPr>
          <a:xfrm>
            <a:off x="9245600" y="2512060"/>
            <a:ext cx="2613660" cy="686435"/>
          </a:xfrm>
          <a:prstGeom prst="roundRect">
            <a:avLst>
              <a:gd name="adj" fmla="val 10774"/>
            </a:avLst>
          </a:prstGeom>
          <a:gradFill flip="none" rotWithShape="1">
            <a:gsLst>
              <a:gs pos="23000">
                <a:srgbClr val="3368FF"/>
              </a:gs>
              <a:gs pos="100000">
                <a:srgbClr val="668E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4" name="椭圆 23"/>
          <p:cNvSpPr/>
          <p:nvPr/>
        </p:nvSpPr>
        <p:spPr>
          <a:xfrm>
            <a:off x="9490710" y="2626995"/>
            <a:ext cx="476250" cy="476250"/>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5" name="文本框 24"/>
          <p:cNvSpPr txBox="1"/>
          <p:nvPr/>
        </p:nvSpPr>
        <p:spPr>
          <a:xfrm>
            <a:off x="10019030" y="2568575"/>
            <a:ext cx="1859280" cy="570865"/>
          </a:xfrm>
          <a:prstGeom prst="rect">
            <a:avLst/>
          </a:prstGeom>
          <a:noFill/>
          <a:ln w="9525">
            <a:noFill/>
          </a:ln>
        </p:spPr>
        <p:txBody>
          <a:bodyPr wrap="non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需求端驱动型企业</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机构的选择决定产业发展</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7" name="矩形: 圆角 677"/>
          <p:cNvSpPr/>
          <p:nvPr/>
        </p:nvSpPr>
        <p:spPr>
          <a:xfrm>
            <a:off x="9248140" y="3657600"/>
            <a:ext cx="2613660" cy="686435"/>
          </a:xfrm>
          <a:prstGeom prst="roundRect">
            <a:avLst>
              <a:gd name="adj" fmla="val 10774"/>
            </a:avLst>
          </a:prstGeom>
          <a:gradFill flip="none" rotWithShape="1">
            <a:gsLst>
              <a:gs pos="23000">
                <a:srgbClr val="3368FF"/>
              </a:gs>
              <a:gs pos="100000">
                <a:srgbClr val="668E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8" name="文本框 27"/>
          <p:cNvSpPr txBox="1"/>
          <p:nvPr/>
        </p:nvSpPr>
        <p:spPr>
          <a:xfrm>
            <a:off x="10019030" y="3714115"/>
            <a:ext cx="1554480" cy="570865"/>
          </a:xfrm>
          <a:prstGeom prst="rect">
            <a:avLst/>
          </a:prstGeom>
          <a:noFill/>
          <a:ln w="9525">
            <a:noFill/>
          </a:ln>
        </p:spPr>
        <p:txBody>
          <a:bodyPr wrap="non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金融实践积累与</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3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技术创新迭代的结合</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0" name="矩形: 圆角 677"/>
          <p:cNvSpPr/>
          <p:nvPr/>
        </p:nvSpPr>
        <p:spPr>
          <a:xfrm>
            <a:off x="9245600" y="4803140"/>
            <a:ext cx="2613660" cy="686435"/>
          </a:xfrm>
          <a:prstGeom prst="roundRect">
            <a:avLst>
              <a:gd name="adj" fmla="val 10774"/>
            </a:avLst>
          </a:prstGeom>
          <a:gradFill flip="none" rotWithShape="1">
            <a:gsLst>
              <a:gs pos="23000">
                <a:srgbClr val="3368FF"/>
              </a:gs>
              <a:gs pos="100000">
                <a:srgbClr val="668E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1" name="文本框 30"/>
          <p:cNvSpPr txBox="1"/>
          <p:nvPr/>
        </p:nvSpPr>
        <p:spPr>
          <a:xfrm>
            <a:off x="10019030" y="4859655"/>
            <a:ext cx="1859280" cy="570865"/>
          </a:xfrm>
          <a:prstGeom prst="rect">
            <a:avLst/>
          </a:prstGeom>
          <a:noFill/>
          <a:ln w="9525">
            <a:noFill/>
          </a:ln>
        </p:spPr>
        <p:txBody>
          <a:bodyPr wrap="non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分工协作、强强结合</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将成为产业发展主流模式</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2" name="椭圆 31"/>
          <p:cNvSpPr/>
          <p:nvPr/>
        </p:nvSpPr>
        <p:spPr>
          <a:xfrm>
            <a:off x="9490075" y="3763010"/>
            <a:ext cx="476250" cy="476250"/>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36" name="椭圆 35"/>
          <p:cNvSpPr/>
          <p:nvPr/>
        </p:nvSpPr>
        <p:spPr>
          <a:xfrm>
            <a:off x="9490075" y="4904105"/>
            <a:ext cx="476250" cy="476250"/>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pic>
        <p:nvPicPr>
          <p:cNvPr id="38" name="图片 37" descr="技术创新奖"/>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589770" y="3855720"/>
            <a:ext cx="285750" cy="285750"/>
          </a:xfrm>
          <a:prstGeom prst="rect">
            <a:avLst/>
          </a:prstGeom>
        </p:spPr>
      </p:pic>
      <p:pic>
        <p:nvPicPr>
          <p:cNvPr id="39" name="图片 38" descr="2.0-团队-协作空间"/>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528175" y="4953635"/>
            <a:ext cx="401320" cy="401320"/>
          </a:xfrm>
          <a:prstGeom prst="rect">
            <a:avLst/>
          </a:prstGeom>
        </p:spPr>
      </p:pic>
      <p:pic>
        <p:nvPicPr>
          <p:cNvPr id="40" name="图片 39" descr="流程设置"/>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564370" y="2708275"/>
            <a:ext cx="328930" cy="328930"/>
          </a:xfrm>
          <a:prstGeom prst="rect">
            <a:avLst/>
          </a:prstGeom>
        </p:spPr>
      </p:pic>
      <p:sp>
        <p:nvSpPr>
          <p:cNvPr id="41" name="弧形 40"/>
          <p:cNvSpPr/>
          <p:nvPr/>
        </p:nvSpPr>
        <p:spPr>
          <a:xfrm flipV="1">
            <a:off x="5120936" y="3071242"/>
            <a:ext cx="1914184" cy="1914184"/>
          </a:xfrm>
          <a:prstGeom prst="arc">
            <a:avLst>
              <a:gd name="adj1" fmla="val 1138111"/>
              <a:gd name="adj2" fmla="val 11436372"/>
            </a:avLst>
          </a:prstGeom>
          <a:ln w="28575">
            <a:gradFill>
              <a:gsLst>
                <a:gs pos="86000">
                  <a:srgbClr val="3368FF">
                    <a:alpha val="0"/>
                  </a:srgbClr>
                </a:gs>
                <a:gs pos="0">
                  <a:srgbClr val="3368FF"/>
                </a:gs>
              </a:gsLst>
              <a:lin ang="0" scaled="1"/>
            </a:gradFill>
            <a:headEnd type="none"/>
            <a:tailEnd type="triangle"/>
          </a:ln>
        </p:spPr>
        <p:style>
          <a:lnRef idx="1">
            <a:srgbClr val="0042FF"/>
          </a:lnRef>
          <a:fillRef idx="0">
            <a:srgbClr val="0042FF"/>
          </a:fillRef>
          <a:effectRef idx="0">
            <a:srgbClr val="0042FF"/>
          </a:effectRef>
          <a:fontRef idx="minor">
            <a:srgbClr val="383838"/>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2" name="对话气泡: 矩形 522"/>
          <p:cNvSpPr/>
          <p:nvPr/>
        </p:nvSpPr>
        <p:spPr>
          <a:xfrm>
            <a:off x="5808345" y="1790065"/>
            <a:ext cx="957580" cy="354330"/>
          </a:xfrm>
          <a:prstGeom prst="wedgeRectCallout">
            <a:avLst>
              <a:gd name="adj1" fmla="val -33209"/>
              <a:gd name="adj2" fmla="val 101797"/>
            </a:avLst>
          </a:pr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p>
            <a:pPr algn="ctr">
              <a:defRPr>
                <a:solidFill>
                  <a:srgbClr val="383838"/>
                </a:solidFill>
                <a:latin typeface="微软雅黑"/>
                <a:ea typeface="微软雅黑"/>
                <a:cs typeface="微软雅黑"/>
              </a:defRPr>
            </a:pPr>
            <a:r>
              <a:rPr lang="zh-CN" altLang="en-US" sz="1200" dirty="0">
                <a:solidFill>
                  <a:srgbClr val="383838"/>
                </a:solidFill>
                <a:effectLst>
                  <a:outerShdw blurRad="137160" dist="41148" dir="2699997" algn="tl">
                    <a:srgbClr val="383838">
                      <a:alpha val="40000"/>
                    </a:srgbClr>
                  </a:outerShdw>
                </a:effectLst>
                <a:latin typeface="微软雅黑"/>
                <a:ea typeface="微软雅黑"/>
                <a:cs typeface="微软雅黑"/>
              </a:rPr>
              <a:t>实践效果</a:t>
            </a:r>
            <a:endParaRPr lang="zh-CN" altLang="en-US" sz="1200"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43" name="对话气泡: 矩形 522"/>
          <p:cNvSpPr/>
          <p:nvPr/>
        </p:nvSpPr>
        <p:spPr>
          <a:xfrm>
            <a:off x="7035165" y="2436495"/>
            <a:ext cx="957580" cy="354330"/>
          </a:xfrm>
          <a:prstGeom prst="wedgeRectCallout">
            <a:avLst>
              <a:gd name="adj1" fmla="val -33209"/>
              <a:gd name="adj2" fmla="val 101797"/>
            </a:avLst>
          </a:pr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p>
            <a:pPr algn="ctr">
              <a:defRPr>
                <a:solidFill>
                  <a:srgbClr val="383838"/>
                </a:solidFill>
                <a:latin typeface="微软雅黑"/>
                <a:ea typeface="微软雅黑"/>
                <a:cs typeface="微软雅黑"/>
              </a:defRPr>
            </a:pPr>
            <a:r>
              <a:rPr lang="zh-CN" altLang="en-US" sz="1200" dirty="0">
                <a:solidFill>
                  <a:srgbClr val="383838"/>
                </a:solidFill>
                <a:effectLst>
                  <a:outerShdw blurRad="137160" dist="41148" dir="2699997" algn="tl">
                    <a:srgbClr val="383838">
                      <a:alpha val="40000"/>
                    </a:srgbClr>
                  </a:outerShdw>
                </a:effectLst>
                <a:latin typeface="微软雅黑"/>
                <a:ea typeface="微软雅黑"/>
                <a:cs typeface="微软雅黑"/>
              </a:rPr>
              <a:t>稳定性</a:t>
            </a:r>
            <a:endParaRPr lang="zh-CN" altLang="en-US" sz="1200"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44" name="文本框 43"/>
          <p:cNvSpPr txBox="1"/>
          <p:nvPr/>
        </p:nvSpPr>
        <p:spPr>
          <a:xfrm>
            <a:off x="5321935" y="2781935"/>
            <a:ext cx="1599565" cy="275590"/>
          </a:xfrm>
          <a:prstGeom prst="rect">
            <a:avLst/>
          </a:prstGeom>
          <a:noFill/>
        </p:spPr>
        <p:txBody>
          <a:bodyPr wrap="square" lIns="0" rIns="0" tIns="0" bIns="0">
            <a:sp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ct val="120000"/>
              </a:lnSpc>
              <a:defRPr>
                <a:latin typeface="微软雅黑"/>
                <a:ea typeface="微软雅黑"/>
                <a:cs typeface="微软雅黑"/>
              </a:defRPr>
            </a:pPr>
            <a:r>
              <a:rPr lang="zh-CN" sz="1000" dirty="0">
                <a:solidFill>
                  <a:srgbClr val="383838"/>
                </a:solidFill>
                <a:latin typeface="微软雅黑"/>
                <a:ea typeface="微软雅黑"/>
                <a:cs typeface="微软雅黑"/>
              </a:rPr>
              <a:t>明确产品需求类型</a:t>
            </a:r>
            <a:endParaRPr lang="zh-CN" sz="1000" dirty="0">
              <a:solidFill>
                <a:srgbClr val="383838"/>
              </a:solidFill>
              <a:latin typeface="微软雅黑"/>
              <a:ea typeface="微软雅黑"/>
              <a:cs typeface="微软雅黑"/>
            </a:endParaRPr>
          </a:p>
        </p:txBody>
      </p:sp>
      <p:sp>
        <p:nvSpPr>
          <p:cNvPr id="45" name="文本框 44"/>
          <p:cNvSpPr txBox="1"/>
          <p:nvPr/>
        </p:nvSpPr>
        <p:spPr>
          <a:xfrm>
            <a:off x="3858895" y="3863340"/>
            <a:ext cx="712470" cy="27559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FFFFFF"/>
                </a:solidFill>
                <a:effectLst/>
                <a:uLnTx/>
                <a:uFillTx/>
                <a:latin typeface="微软雅黑"/>
                <a:ea typeface="微软雅黑"/>
                <a:cs typeface="微软雅黑"/>
              </a:defRPr>
            </a:lvl1pPr>
          </a:lstStyle>
          <a:p>
            <a:pPr algn="ctr">
              <a:lnSpc>
                <a:spcPct val="120000"/>
              </a:lnSpc>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rPr>
              <a:t>需求端</a:t>
            </a:r>
            <a:endParaRPr lang="zh-CN" sz="1000" dirty="0">
              <a:solidFill>
                <a:srgbClr val="FFFFFF"/>
              </a:solidFill>
              <a:latin typeface="微软雅黑"/>
              <a:ea typeface="微软雅黑"/>
              <a:cs typeface="微软雅黑"/>
            </a:endParaRPr>
          </a:p>
        </p:txBody>
      </p:sp>
      <p:sp>
        <p:nvSpPr>
          <p:cNvPr id="47" name="文本框 46"/>
          <p:cNvSpPr txBox="1"/>
          <p:nvPr/>
        </p:nvSpPr>
        <p:spPr>
          <a:xfrm>
            <a:off x="4903470" y="5380355"/>
            <a:ext cx="2494280" cy="460375"/>
          </a:xfrm>
          <a:prstGeom prst="rect">
            <a:avLst/>
          </a:prstGeom>
          <a:noFill/>
        </p:spPr>
        <p:txBody>
          <a:bodyPr wrap="square" lIns="0" rIns="0" tIns="0" bIns="0">
            <a:sp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ct val="120000"/>
              </a:lnSpc>
              <a:defRPr>
                <a:latin typeface="微软雅黑"/>
                <a:ea typeface="微软雅黑"/>
                <a:cs typeface="微软雅黑"/>
              </a:defRPr>
            </a:pPr>
            <a:r>
              <a:rPr lang="zh-CN" sz="2000" b="1" dirty="0">
                <a:solidFill>
                  <a:srgbClr val="383838"/>
                </a:solidFill>
                <a:latin typeface="微软雅黑"/>
                <a:ea typeface="微软雅黑"/>
                <a:cs typeface="微软雅黑"/>
              </a:rPr>
              <a:t>金融大模型产业</a:t>
            </a:r>
            <a:endParaRPr lang="zh-CN" sz="2000" b="1" dirty="0">
              <a:solidFill>
                <a:srgbClr val="383838"/>
              </a:solidFill>
              <a:latin typeface="微软雅黑"/>
              <a:ea typeface="微软雅黑"/>
              <a:cs typeface="微软雅黑"/>
            </a:endParaRPr>
          </a:p>
        </p:txBody>
      </p:sp>
      <p:sp>
        <p:nvSpPr>
          <p:cNvPr id="48" name="文本框 47"/>
          <p:cNvSpPr txBox="1"/>
          <p:nvPr/>
        </p:nvSpPr>
        <p:spPr>
          <a:xfrm>
            <a:off x="5321935" y="4904105"/>
            <a:ext cx="1599565" cy="275590"/>
          </a:xfrm>
          <a:prstGeom prst="rect">
            <a:avLst/>
          </a:prstGeom>
          <a:noFill/>
        </p:spPr>
        <p:txBody>
          <a:bodyPr wrap="square" lIns="0" rIns="0" tIns="0" bIns="0">
            <a:sp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驱动企业良性成长</a:t>
            </a:r>
            <a:endParaRPr lang="zh-CN" altLang="en-US" sz="1000" dirty="0">
              <a:solidFill>
                <a:srgbClr val="383838"/>
              </a:solidFill>
              <a:latin typeface="微软雅黑"/>
              <a:ea typeface="微软雅黑"/>
              <a:cs typeface="微软雅黑"/>
            </a:endParaRPr>
          </a:p>
        </p:txBody>
      </p:sp>
      <p:sp>
        <p:nvSpPr>
          <p:cNvPr id="49" name="文本框 48"/>
          <p:cNvSpPr txBox="1"/>
          <p:nvPr/>
        </p:nvSpPr>
        <p:spPr>
          <a:xfrm>
            <a:off x="2075815" y="1003300"/>
            <a:ext cx="7417435" cy="530860"/>
          </a:xfrm>
          <a:prstGeom prst="rect">
            <a:avLst/>
          </a:prstGeom>
          <a:noFill/>
          <a:ln w="9525">
            <a:noFill/>
          </a:ln>
        </p:spPr>
        <p:txBody>
          <a:bodyPr wrap="none" lIns="0" rIns="0" tIns="0" bIns="0">
            <a:spAutoFit/>
          </a:bodyPr>
          <a:lstStyle>
            <a:defPPr>
              <a:defRPr lang="zh-CN">
                <a:latin typeface="微软雅黑"/>
                <a:ea typeface="微软雅黑"/>
                <a:cs typeface="微软雅黑"/>
              </a:defRPr>
            </a:defPPr>
            <a:lvl1pPr indent="0">
              <a:defRPr sz="1400" b="0">
                <a:solidFill>
                  <a:srgbClr val="0042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latin typeface="微软雅黑"/>
                <a:ea typeface="微软雅黑"/>
                <a:cs typeface="微软雅黑"/>
              </a:defRPr>
            </a:pPr>
            <a:r>
              <a:rPr kumimoji="0" lang="en-US" altLang="zh-CN" sz="2200" b="1" i="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sz="2200" b="1" i="0" u="none" strike="noStrike" kern="1200" cap="none" spc="0" normalizeH="0" baseline="0" noProof="0" dirty="0">
                <a:ln>
                  <a:noFill/>
                </a:ln>
                <a:solidFill>
                  <a:srgbClr val="0042FF"/>
                </a:solidFill>
                <a:effectLst/>
                <a:uLnTx/>
                <a:uFillTx/>
                <a:latin typeface="微软雅黑"/>
                <a:ea typeface="微软雅黑"/>
                <a:cs typeface="微软雅黑"/>
              </a:rPr>
              <a:t>以需求端为导向、业务与科技深度结合的跨领域产业发展</a:t>
            </a:r>
            <a:r>
              <a:rPr kumimoji="0" lang="en-US" altLang="zh-CN" sz="2200" b="1" i="0" u="none" strike="noStrike" kern="1200" cap="none" spc="0" normalizeH="0" baseline="0" noProof="0" dirty="0">
                <a:ln>
                  <a:noFill/>
                </a:ln>
                <a:solidFill>
                  <a:srgbClr val="0042FF"/>
                </a:solidFill>
                <a:effectLst/>
                <a:uLnTx/>
                <a:uFillTx/>
                <a:latin typeface="微软雅黑"/>
                <a:ea typeface="微软雅黑"/>
                <a:cs typeface="微软雅黑"/>
              </a:rPr>
              <a:t>”</a:t>
            </a:r>
            <a:endParaRPr kumimoji="0" lang="en-US" altLang="zh-CN" sz="2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4" name="组合 3"/>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15"/>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6" name="Rounded Rectangle 5"/>
          <p:cNvSpPr/>
          <p:nvPr/>
        </p:nvSpPr>
        <p:spPr>
          <a:xfrm rot="18900000" flipH="1">
            <a:off x="7550687" y="3638844"/>
            <a:ext cx="760619" cy="761084"/>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198" h="1199">
                <a:moveTo>
                  <a:pt x="333" y="136"/>
                </a:moveTo>
                <a:cubicBezTo>
                  <a:pt x="330" y="61"/>
                  <a:pt x="399" y="1"/>
                  <a:pt x="467" y="2"/>
                </a:cubicBezTo>
                <a:lnTo>
                  <a:pt x="1037" y="2"/>
                </a:lnTo>
                <a:cubicBezTo>
                  <a:pt x="1042" y="1"/>
                  <a:pt x="1060" y="0"/>
                  <a:pt x="1063" y="0"/>
                </a:cubicBezTo>
                <a:cubicBezTo>
                  <a:pt x="1101" y="-3"/>
                  <a:pt x="1144" y="23"/>
                  <a:pt x="1160" y="41"/>
                </a:cubicBezTo>
                <a:cubicBezTo>
                  <a:pt x="1184" y="63"/>
                  <a:pt x="1199" y="106"/>
                  <a:pt x="1198" y="133"/>
                </a:cubicBezTo>
                <a:lnTo>
                  <a:pt x="1198" y="136"/>
                </a:lnTo>
                <a:lnTo>
                  <a:pt x="1198" y="140"/>
                </a:lnTo>
                <a:lnTo>
                  <a:pt x="1198" y="143"/>
                </a:lnTo>
                <a:lnTo>
                  <a:pt x="1197" y="146"/>
                </a:lnTo>
                <a:lnTo>
                  <a:pt x="1197" y="148"/>
                </a:lnTo>
                <a:lnTo>
                  <a:pt x="1197" y="728"/>
                </a:lnTo>
                <a:cubicBezTo>
                  <a:pt x="1199" y="803"/>
                  <a:pt x="1131" y="864"/>
                  <a:pt x="1063" y="862"/>
                </a:cubicBezTo>
                <a:cubicBezTo>
                  <a:pt x="988" y="864"/>
                  <a:pt x="927" y="795"/>
                  <a:pt x="929" y="728"/>
                </a:cubicBezTo>
                <a:lnTo>
                  <a:pt x="929" y="459"/>
                </a:lnTo>
                <a:lnTo>
                  <a:pt x="229" y="1159"/>
                </a:lnTo>
                <a:cubicBezTo>
                  <a:pt x="204" y="1186"/>
                  <a:pt x="163" y="1199"/>
                  <a:pt x="136" y="1199"/>
                </a:cubicBezTo>
                <a:lnTo>
                  <a:pt x="132" y="1199"/>
                </a:lnTo>
                <a:cubicBezTo>
                  <a:pt x="63" y="1204"/>
                  <a:pt x="-5" y="1128"/>
                  <a:pt x="0" y="1066"/>
                </a:cubicBezTo>
                <a:lnTo>
                  <a:pt x="0" y="1063"/>
                </a:lnTo>
                <a:cubicBezTo>
                  <a:pt x="-1" y="1030"/>
                  <a:pt x="18" y="990"/>
                  <a:pt x="39" y="970"/>
                </a:cubicBezTo>
                <a:lnTo>
                  <a:pt x="739" y="270"/>
                </a:lnTo>
                <a:lnTo>
                  <a:pt x="467" y="270"/>
                </a:lnTo>
                <a:cubicBezTo>
                  <a:pt x="391" y="273"/>
                  <a:pt x="331" y="204"/>
                  <a:pt x="333" y="136"/>
                </a:cubicBezTo>
                <a:close/>
              </a:path>
            </a:pathLst>
          </a:custGeom>
          <a:gradFill>
            <a:gsLst>
              <a:gs pos="0">
                <a:srgbClr val="0042FF"/>
              </a:gs>
              <a:gs pos="100000">
                <a:srgbClr val="3368FF"/>
              </a:gs>
            </a:gsLst>
            <a:lin ang="108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9" name="文本框 18"/>
          <p:cNvSpPr txBox="1"/>
          <p:nvPr/>
        </p:nvSpPr>
        <p:spPr>
          <a:xfrm>
            <a:off x="7660640" y="3865245"/>
            <a:ext cx="712470" cy="275590"/>
          </a:xfrm>
          <a:prstGeom prst="rect">
            <a:avLst/>
          </a:prstGeom>
          <a:noFill/>
        </p:spPr>
        <p:txBody>
          <a:bodyPr wrap="square" lIns="0" rIns="0" tIns="0" bIns="0">
            <a:spAutoFit/>
          </a:bodyPr>
          <a:lstStyle>
            <a:defPPr>
              <a:defRPr lang="zh-CN">
                <a:solidFill>
                  <a:srgbClr val="FFFFFF"/>
                </a:solidFill>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FFFFFF"/>
                </a:solidFill>
                <a:effectLst/>
                <a:uLnTx/>
                <a:uFillTx/>
                <a:latin typeface="微软雅黑"/>
                <a:ea typeface="微软雅黑"/>
                <a:cs typeface="微软雅黑"/>
              </a:defRPr>
            </a:lvl1pPr>
          </a:lstStyle>
          <a:p>
            <a:pPr algn="ctr">
              <a:lnSpc>
                <a:spcPct val="120000"/>
              </a:lnSpc>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rPr>
              <a:t>供给端</a:t>
            </a:r>
            <a:endParaRPr lang="zh-CN" sz="1000" dirty="0">
              <a:solidFill>
                <a:srgbClr val="FFFFFF"/>
              </a:solidFill>
              <a:latin typeface="微软雅黑"/>
              <a:ea typeface="微软雅黑"/>
              <a:cs typeface="微软雅黑"/>
            </a:endParaRPr>
          </a:p>
        </p:txBody>
      </p:sp>
      <p:sp>
        <p:nvSpPr>
          <p:cNvPr id="22" name="任意多边形: 形状 121"/>
          <p:cNvSpPr/>
          <p:nvPr/>
        </p:nvSpPr>
        <p:spPr>
          <a:xfrm>
            <a:off x="3415665" y="5511800"/>
            <a:ext cx="5344160" cy="967105"/>
          </a:xfrm>
          <a:custGeom>
            <a:avLst/>
            <a:gdLst>
              <a:gd name="connsiteX0" fmla="*/ 3236912 w 6473826"/>
              <a:gd name="connsiteY0" fmla="*/ 138920 h 1171566"/>
              <a:gd name="connsiteX1" fmla="*/ 606424 w 6473826"/>
              <a:gd name="connsiteY1" fmla="*/ 535795 h 1171566"/>
              <a:gd name="connsiteX2" fmla="*/ 3236912 w 6473826"/>
              <a:gd name="connsiteY2" fmla="*/ 932670 h 1171566"/>
              <a:gd name="connsiteX3" fmla="*/ 5867400 w 6473826"/>
              <a:gd name="connsiteY3" fmla="*/ 535795 h 1171566"/>
              <a:gd name="connsiteX4" fmla="*/ 3236912 w 6473826"/>
              <a:gd name="connsiteY4" fmla="*/ 138920 h 1171566"/>
              <a:gd name="connsiteX5" fmla="*/ 3236913 w 6473826"/>
              <a:gd name="connsiteY5" fmla="*/ 0 h 1171566"/>
              <a:gd name="connsiteX6" fmla="*/ 6473826 w 6473826"/>
              <a:gd name="connsiteY6" fmla="*/ 585783 h 1171566"/>
              <a:gd name="connsiteX7" fmla="*/ 3236913 w 6473826"/>
              <a:gd name="connsiteY7" fmla="*/ 1171566 h 1171566"/>
              <a:gd name="connsiteX8" fmla="*/ 0 w 6473826"/>
              <a:gd name="connsiteY8" fmla="*/ 585783 h 1171566"/>
              <a:gd name="connsiteX9" fmla="*/ 3236913 w 6473826"/>
              <a:gd name="connsiteY9" fmla="*/ 0 h 117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3826" h="1171566">
                <a:moveTo>
                  <a:pt x="3236912" y="138920"/>
                </a:moveTo>
                <a:cubicBezTo>
                  <a:pt x="1784134" y="138920"/>
                  <a:pt x="606424" y="316607"/>
                  <a:pt x="606424" y="535795"/>
                </a:cubicBezTo>
                <a:cubicBezTo>
                  <a:pt x="606424" y="754983"/>
                  <a:pt x="1784134" y="932670"/>
                  <a:pt x="3236912" y="932670"/>
                </a:cubicBezTo>
                <a:cubicBezTo>
                  <a:pt x="4689690" y="932670"/>
                  <a:pt x="5867400" y="754983"/>
                  <a:pt x="5867400" y="535795"/>
                </a:cubicBezTo>
                <a:cubicBezTo>
                  <a:pt x="5867400" y="316607"/>
                  <a:pt x="4689690" y="138920"/>
                  <a:pt x="3236912" y="138920"/>
                </a:cubicBezTo>
                <a:close/>
                <a:moveTo>
                  <a:pt x="3236913" y="0"/>
                </a:moveTo>
                <a:cubicBezTo>
                  <a:pt x="5024611" y="0"/>
                  <a:pt x="6473826" y="262264"/>
                  <a:pt x="6473826" y="585783"/>
                </a:cubicBezTo>
                <a:cubicBezTo>
                  <a:pt x="6473826" y="909302"/>
                  <a:pt x="5024611" y="1171566"/>
                  <a:pt x="3236913" y="1171566"/>
                </a:cubicBezTo>
                <a:cubicBezTo>
                  <a:pt x="1449215" y="1171566"/>
                  <a:pt x="0" y="909302"/>
                  <a:pt x="0" y="585783"/>
                </a:cubicBezTo>
                <a:cubicBezTo>
                  <a:pt x="0" y="262264"/>
                  <a:pt x="1449215" y="0"/>
                  <a:pt x="3236913" y="0"/>
                </a:cubicBezTo>
                <a:close/>
              </a:path>
            </a:pathLst>
          </a:custGeom>
          <a:gradFill flip="none" rotWithShape="1">
            <a:gsLst>
              <a:gs pos="21000">
                <a:srgbClr val="B3D4FE">
                  <a:alpha val="0"/>
                </a:srgbClr>
              </a:gs>
              <a:gs pos="5172">
                <a:srgbClr val="B3D4FE">
                  <a:alpha val="0"/>
                </a:srgbClr>
              </a:gs>
              <a:gs pos="100000">
                <a:srgbClr val="B3D4FE"/>
              </a:gs>
            </a:gsLst>
            <a:lin ang="5400000" scaled="0"/>
            <a:tileRect/>
          </a:gradFill>
          <a:ln w="9525">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latin typeface="微软雅黑"/>
                <a:ea typeface="微软雅黑"/>
                <a:cs typeface="微软雅黑"/>
              </a:defRPr>
            </a:pPr>
            <a:endParaRPr lang="zh-CN" altLang="en-US" dirty="0">
              <a:cs typeface="微软雅黑"/>
              <a:latin typeface="微软雅黑"/>
              <a:ea typeface="微软雅黑"/>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紫荆的职场Point4"/>
          <p:cNvSpPr/>
          <p:nvPr/>
        </p:nvSpPr>
        <p:spPr>
          <a:xfrm>
            <a:off x="5434251" y="1024890"/>
            <a:ext cx="1297025" cy="1625572"/>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3" h="2560">
                <a:moveTo>
                  <a:pt x="1009" y="0"/>
                </a:moveTo>
                <a:cubicBezTo>
                  <a:pt x="1203" y="357"/>
                  <a:pt x="1445" y="665"/>
                  <a:pt x="2017" y="954"/>
                </a:cubicBezTo>
                <a:lnTo>
                  <a:pt x="1548" y="954"/>
                </a:lnTo>
                <a:lnTo>
                  <a:pt x="1617" y="1348"/>
                </a:lnTo>
                <a:cubicBezTo>
                  <a:pt x="1695" y="1744"/>
                  <a:pt x="1887" y="2266"/>
                  <a:pt x="2043" y="2560"/>
                </a:cubicBezTo>
                <a:cubicBezTo>
                  <a:pt x="1832" y="2424"/>
                  <a:pt x="1284" y="2289"/>
                  <a:pt x="1034" y="2310"/>
                </a:cubicBezTo>
                <a:cubicBezTo>
                  <a:pt x="682" y="2295"/>
                  <a:pt x="241" y="2439"/>
                  <a:pt x="38" y="2553"/>
                </a:cubicBezTo>
                <a:cubicBezTo>
                  <a:pt x="227" y="2194"/>
                  <a:pt x="406" y="1679"/>
                  <a:pt x="476" y="1332"/>
                </a:cubicBezTo>
                <a:lnTo>
                  <a:pt x="536" y="954"/>
                </a:lnTo>
                <a:lnTo>
                  <a:pt x="0" y="954"/>
                </a:lnTo>
                <a:cubicBezTo>
                  <a:pt x="594" y="654"/>
                  <a:pt x="899" y="246"/>
                  <a:pt x="1009" y="0"/>
                </a:cubicBezTo>
                <a:close/>
              </a:path>
            </a:pathLst>
          </a:custGeom>
          <a:gradFill flip="none" rotWithShape="1">
            <a:gsLst>
              <a:gs pos="0">
                <a:srgbClr val="FFFFFF"/>
              </a:gs>
              <a:gs pos="100000">
                <a:srgbClr val="FFFFFF"/>
              </a:gs>
            </a:gsLst>
            <a:lin ang="16200000" scaled="1"/>
            <a:tileRect/>
          </a:gradFill>
          <a:ln w="12700" cap="flat" cmpd="sng" algn="ctr">
            <a:noFill/>
            <a:prstDash val="solid"/>
            <a:miter lim="800000"/>
          </a:ln>
          <a:effectLst/>
        </p:spPr>
        <p:txBody>
          <a:bodyPr wrap="square" rtlCol="0" anchor="ctr" lIns="0" rIns="0" tIns="0" bIns="0">
            <a:noAutofit/>
          </a:bodyPr>
          <a:lstStyle/>
          <a:p>
            <a:pPr marL="0" marR="0" lvl="0" indent="0" algn="ctr"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76" name="不完整圆 8"/>
          <p:cNvSpPr/>
          <p:nvPr/>
        </p:nvSpPr>
        <p:spPr>
          <a:xfrm>
            <a:off x="6096000" y="868680"/>
            <a:ext cx="6387633" cy="6555170"/>
          </a:xfrm>
          <a:custGeom>
            <a:avLst/>
            <a:gdLst>
              <a:gd name="adj1" fmla="val 19675877"/>
              <a:gd name="adj2" fmla="val 2071833"/>
              <a:gd name="stAng" fmla="pin 0 adj1 21599999"/>
              <a:gd name="enAng" fmla="pin 0 adj2 21599999"/>
              <a:gd name="sw1" fmla="+- enAng 0 stAng"/>
              <a:gd name="sw2" fmla="+- sw1 21600000 0"/>
              <a:gd name="swAng" fmla="?: sw1 sw1 sw2"/>
              <a:gd name="wt1" fmla="sin wd2 stAng"/>
              <a:gd name="ht1" fmla="cos hd2 stAng"/>
              <a:gd name="dx1" fmla="cat2 wd2 ht1 wt1"/>
              <a:gd name="dy1" fmla="sat2 hd2 ht1 wt1"/>
              <a:gd name="x1" fmla="+- hc dx1 0"/>
              <a:gd name="y1" fmla="+- vc dy1 0"/>
              <a:gd name="wt2" fmla="sin wd2 enAng"/>
              <a:gd name="ht2" fmla="cos hd2 enAng"/>
              <a:gd name="dx2" fmla="cat2 wd2 ht2 wt2"/>
              <a:gd name="dy2" fmla="sat2 hd2 ht2 wt2"/>
              <a:gd name="x2" fmla="+- hc dx2 0"/>
              <a:gd name="y2" fmla="+- vc dy2 0"/>
              <a:gd name="idx" fmla="cos wd2 2700000"/>
              <a:gd name="idy" fmla="sin hd2 2700000"/>
              <a:gd name="il" fmla="+- hc 0 idx"/>
              <a:gd name="ir" fmla="+- hc idx 0"/>
              <a:gd name="it" fmla="+- vc 0 idy"/>
              <a:gd name="ib" fmla="+- vc idy 0"/>
            </a:gdLst>
            <a:ahLst/>
            <a:cxnLst>
              <a:cxn ang="0">
                <a:pos x="r" y="vc"/>
              </a:cxn>
              <a:cxn ang="cd4">
                <a:pos x="hc" y="b"/>
              </a:cxn>
              <a:cxn ang="cd2">
                <a:pos x="l" y="vc"/>
              </a:cxn>
              <a:cxn ang="3">
                <a:pos x="hc" y="t"/>
              </a:cxn>
            </a:cxnLst>
            <a:rect l="l" t="t" r="r" b="b"/>
            <a:pathLst>
              <a:path w="10061" h="10323">
                <a:moveTo>
                  <a:pt x="8938" y="0"/>
                </a:moveTo>
                <a:cubicBezTo>
                  <a:pt x="9631" y="1261"/>
                  <a:pt x="10088" y="3147"/>
                  <a:pt x="10059" y="4620"/>
                </a:cubicBezTo>
                <a:cubicBezTo>
                  <a:pt x="10094" y="6721"/>
                  <a:pt x="9314" y="8866"/>
                  <a:pt x="8288" y="10323"/>
                </a:cubicBezTo>
                <a:lnTo>
                  <a:pt x="0" y="4619"/>
                </a:lnTo>
                <a:lnTo>
                  <a:pt x="7372" y="0"/>
                </a:lnTo>
                <a:lnTo>
                  <a:pt x="8938" y="0"/>
                </a:lnTo>
                <a:close/>
              </a:path>
            </a:pathLst>
          </a:custGeom>
          <a:gradFill>
            <a:gsLst>
              <a:gs pos="100000">
                <a:srgbClr val="E6E6E6">
                  <a:alpha val="20000"/>
                </a:srgbClr>
              </a:gs>
              <a:gs pos="0">
                <a:srgbClr val="E6E6E6">
                  <a:alpha val="5000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3" name="不完整圆 9"/>
          <p:cNvSpPr/>
          <p:nvPr/>
        </p:nvSpPr>
        <p:spPr>
          <a:xfrm>
            <a:off x="1828800" y="-465668"/>
            <a:ext cx="8534400" cy="8534400"/>
          </a:xfrm>
          <a:prstGeom prst="pie">
            <a:avLst>
              <a:gd name="adj1" fmla="val 19386541"/>
              <a:gd name="adj2" fmla="val 2247141"/>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101" name="不完整圆 75"/>
          <p:cNvSpPr/>
          <p:nvPr/>
        </p:nvSpPr>
        <p:spPr>
          <a:xfrm flipH="1">
            <a:off x="-348783" y="860425"/>
            <a:ext cx="6387633" cy="6382450"/>
          </a:xfrm>
          <a:custGeom>
            <a:avLst/>
            <a:gdLst>
              <a:gd name="adj1" fmla="val 19675877"/>
              <a:gd name="adj2" fmla="val 2071833"/>
              <a:gd name="stAng" fmla="pin 0 adj1 21599999"/>
              <a:gd name="enAng" fmla="pin 0 adj2 21599999"/>
              <a:gd name="sw1" fmla="+- enAng 0 stAng"/>
              <a:gd name="sw2" fmla="+- sw1 21600000 0"/>
              <a:gd name="swAng" fmla="?: sw1 sw1 sw2"/>
              <a:gd name="wt1" fmla="sin wd2 stAng"/>
              <a:gd name="ht1" fmla="cos hd2 stAng"/>
              <a:gd name="dx1" fmla="cat2 wd2 ht1 wt1"/>
              <a:gd name="dy1" fmla="sat2 hd2 ht1 wt1"/>
              <a:gd name="x1" fmla="+- hc dx1 0"/>
              <a:gd name="y1" fmla="+- vc dy1 0"/>
              <a:gd name="wt2" fmla="sin wd2 enAng"/>
              <a:gd name="ht2" fmla="cos hd2 enAng"/>
              <a:gd name="dx2" fmla="cat2 wd2 ht2 wt2"/>
              <a:gd name="dy2" fmla="sat2 hd2 ht2 wt2"/>
              <a:gd name="x2" fmla="+- hc dx2 0"/>
              <a:gd name="y2" fmla="+- vc dy2 0"/>
              <a:gd name="idx" fmla="cos wd2 2700000"/>
              <a:gd name="idy" fmla="sin hd2 2700000"/>
              <a:gd name="il" fmla="+- hc 0 idx"/>
              <a:gd name="ir" fmla="+- hc idx 0"/>
              <a:gd name="it" fmla="+- vc 0 idy"/>
              <a:gd name="ib" fmla="+- vc idy 0"/>
            </a:gdLst>
            <a:ahLst/>
            <a:cxnLst>
              <a:cxn ang="0">
                <a:pos x="r" y="vc"/>
              </a:cxn>
              <a:cxn ang="cd4">
                <a:pos x="hc" y="b"/>
              </a:cxn>
              <a:cxn ang="cd2">
                <a:pos x="l" y="vc"/>
              </a:cxn>
              <a:cxn ang="3">
                <a:pos x="hc" y="t"/>
              </a:cxn>
            </a:cxnLst>
            <a:rect l="l" t="t" r="r" b="b"/>
            <a:pathLst>
              <a:path w="10060" h="10051">
                <a:moveTo>
                  <a:pt x="9074" y="0"/>
                </a:moveTo>
                <a:cubicBezTo>
                  <a:pt x="9717" y="1280"/>
                  <a:pt x="10073" y="2972"/>
                  <a:pt x="10059" y="4348"/>
                </a:cubicBezTo>
                <a:cubicBezTo>
                  <a:pt x="10094" y="6449"/>
                  <a:pt x="9314" y="8594"/>
                  <a:pt x="8288" y="10051"/>
                </a:cubicBezTo>
                <a:lnTo>
                  <a:pt x="0" y="4347"/>
                </a:lnTo>
                <a:lnTo>
                  <a:pt x="6938" y="0"/>
                </a:lnTo>
                <a:lnTo>
                  <a:pt x="9074" y="0"/>
                </a:lnTo>
                <a:close/>
              </a:path>
            </a:pathLst>
          </a:custGeom>
          <a:gradFill>
            <a:gsLst>
              <a:gs pos="100000">
                <a:srgbClr val="E6E6E6">
                  <a:alpha val="20000"/>
                </a:srgbClr>
              </a:gs>
              <a:gs pos="0">
                <a:srgbClr val="E6E6E6">
                  <a:alpha val="50000"/>
                </a:srgbClr>
              </a:gs>
            </a:gsLst>
            <a:lin ang="0" scaled="0"/>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 name="不完整圆 76"/>
          <p:cNvSpPr/>
          <p:nvPr/>
        </p:nvSpPr>
        <p:spPr>
          <a:xfrm flipH="1">
            <a:off x="1828800" y="-465668"/>
            <a:ext cx="8534400" cy="8534400"/>
          </a:xfrm>
          <a:prstGeom prst="pie">
            <a:avLst>
              <a:gd name="adj1" fmla="val 19386541"/>
              <a:gd name="adj2" fmla="val 2247141"/>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明年目标及工作规划</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77" name="不完整圆 9"/>
          <p:cNvSpPr/>
          <p:nvPr/>
        </p:nvSpPr>
        <p:spPr>
          <a:xfrm>
            <a:off x="1828800" y="-465668"/>
            <a:ext cx="8534400" cy="8534400"/>
          </a:xfrm>
          <a:prstGeom prst="pie">
            <a:avLst>
              <a:gd name="adj1" fmla="val 19386541"/>
              <a:gd name="adj2" fmla="val 2247141"/>
            </a:avLst>
          </a:prstGeom>
          <a:gradFill>
            <a:gsLst>
              <a:gs pos="100000">
                <a:srgbClr val="668EFF">
                  <a:alpha val="20000"/>
                </a:srgbClr>
              </a:gs>
              <a:gs pos="0">
                <a:srgbClr val="E6E6E6"/>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81" name="文本框 80"/>
          <p:cNvSpPr txBox="1"/>
          <p:nvPr/>
        </p:nvSpPr>
        <p:spPr>
          <a:xfrm>
            <a:off x="9316556" y="4108362"/>
            <a:ext cx="944880" cy="460375"/>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rPr>
              <a:t>技能培训与</a:t>
            </a:r>
            <a:endPar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rPr>
              <a:t>多能工</a:t>
            </a:r>
            <a:endPar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4" name="文本框 83"/>
          <p:cNvSpPr txBox="1"/>
          <p:nvPr/>
        </p:nvSpPr>
        <p:spPr>
          <a:xfrm>
            <a:off x="9217170" y="3044348"/>
            <a:ext cx="792480" cy="460375"/>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系统集成</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与上云</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8" name="文本框 87"/>
          <p:cNvSpPr txBox="1"/>
          <p:nvPr/>
        </p:nvSpPr>
        <p:spPr>
          <a:xfrm flipH="1">
            <a:off x="10468610" y="4108450"/>
            <a:ext cx="1489075" cy="829945"/>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开展交叉培训，使员工掌握多项技能，在业务波动时能灵活补位，避免人力闲置或短缺。</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1" name="文本框 90"/>
          <p:cNvSpPr txBox="1"/>
          <p:nvPr/>
        </p:nvSpPr>
        <p:spPr>
          <a:xfrm flipH="1">
            <a:off x="10468328" y="2627988"/>
            <a:ext cx="1412522" cy="1014730"/>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打通</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CRM</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ERP</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等业务系统，避免数据重复录入，利用云平台实现资源的弹性调配和远程协同。</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92" name="直接连接符 91"/>
          <p:cNvCxnSpPr/>
          <p:nvPr/>
        </p:nvCxnSpPr>
        <p:spPr>
          <a:xfrm flipV="1">
            <a:off x="6083158" y="2059610"/>
            <a:ext cx="5665929" cy="1741922"/>
          </a:xfrm>
          <a:prstGeom prst="line">
            <a:avLst/>
          </a:prstGeom>
          <a:ln w="3175" cap="rnd">
            <a:solidFill>
              <a:srgbClr val="DCDCDC">
                <a:alpha val="60000"/>
              </a:srgbClr>
            </a:solidFill>
            <a:prstDash val="solid"/>
          </a:ln>
        </p:spPr>
        <p:style>
          <a:lnRef idx="2">
            <a:srgbClr val="0042FF"/>
          </a:lnRef>
          <a:fillRef idx="0">
            <a:srgbClr val="0042FF"/>
          </a:fillRef>
          <a:effectRef idx="1">
            <a:srgbClr val="0042FF"/>
          </a:effectRef>
          <a:fontRef idx="minor">
            <a:srgbClr val="383838"/>
          </a:fontRef>
        </p:style>
      </p:cxnSp>
      <p:cxnSp>
        <p:nvCxnSpPr>
          <p:cNvPr id="95" name="直接连接符 94"/>
          <p:cNvCxnSpPr/>
          <p:nvPr/>
        </p:nvCxnSpPr>
        <p:spPr>
          <a:xfrm>
            <a:off x="6083158" y="3819815"/>
            <a:ext cx="5665929" cy="1714763"/>
          </a:xfrm>
          <a:prstGeom prst="line">
            <a:avLst/>
          </a:prstGeom>
          <a:ln w="3175" cap="rnd">
            <a:solidFill>
              <a:srgbClr val="DCDCDC">
                <a:alpha val="60000"/>
              </a:srgbClr>
            </a:solidFill>
            <a:prstDash val="solid"/>
          </a:ln>
        </p:spPr>
        <p:style>
          <a:lnRef idx="2">
            <a:srgbClr val="0042FF"/>
          </a:lnRef>
          <a:fillRef idx="0">
            <a:srgbClr val="0042FF"/>
          </a:fillRef>
          <a:effectRef idx="1">
            <a:srgbClr val="0042FF"/>
          </a:effectRef>
          <a:fontRef idx="minor">
            <a:srgbClr val="383838"/>
          </a:fontRef>
        </p:style>
      </p:cxnSp>
      <p:sp>
        <p:nvSpPr>
          <p:cNvPr id="96" name="不完整圆 16"/>
          <p:cNvSpPr/>
          <p:nvPr/>
        </p:nvSpPr>
        <p:spPr>
          <a:xfrm>
            <a:off x="3206750" y="912282"/>
            <a:ext cx="5778500" cy="5778500"/>
          </a:xfrm>
          <a:prstGeom prst="pie">
            <a:avLst>
              <a:gd name="adj1" fmla="val 19189167"/>
              <a:gd name="adj2" fmla="val 2423908"/>
            </a:avLst>
          </a:prstGeom>
          <a:gradFill>
            <a:gsLst>
              <a:gs pos="100000">
                <a:srgbClr val="0042FF"/>
              </a:gs>
              <a:gs pos="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97" name="文本框 96"/>
          <p:cNvSpPr txBox="1"/>
          <p:nvPr/>
        </p:nvSpPr>
        <p:spPr>
          <a:xfrm>
            <a:off x="8933762" y="2062729"/>
            <a:ext cx="781050" cy="4603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BI</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数据驱</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动决策</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8" name="文本框 97"/>
          <p:cNvSpPr txBox="1"/>
          <p:nvPr/>
        </p:nvSpPr>
        <p:spPr>
          <a:xfrm flipH="1">
            <a:off x="8928047" y="5091340"/>
            <a:ext cx="792480" cy="4603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激励与绩</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效对齐</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9" name="文本框 98"/>
          <p:cNvSpPr txBox="1"/>
          <p:nvPr/>
        </p:nvSpPr>
        <p:spPr>
          <a:xfrm>
            <a:off x="10078085" y="1262380"/>
            <a:ext cx="1880235" cy="829945"/>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搭建</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BI</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（商业智能）看板，实时监控关键运营指标（如生产效率、客户响应时长），快速定位瓶颈。</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0" name="文本框 99"/>
          <p:cNvSpPr txBox="1"/>
          <p:nvPr/>
        </p:nvSpPr>
        <p:spPr>
          <a:xfrm flipH="1">
            <a:off x="10107295" y="5637530"/>
            <a:ext cx="1773555" cy="829945"/>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设定清晰、有挑战性的绩效目标（如</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OKR/KPI</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），并将奖励与效率提升直接挂钩，驱动员工主动找方法。</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2" name="不完整圆 76"/>
          <p:cNvSpPr/>
          <p:nvPr/>
        </p:nvSpPr>
        <p:spPr>
          <a:xfrm flipH="1">
            <a:off x="1828800" y="-465668"/>
            <a:ext cx="8534400" cy="8534400"/>
          </a:xfrm>
          <a:prstGeom prst="pie">
            <a:avLst>
              <a:gd name="adj1" fmla="val 19386541"/>
              <a:gd name="adj2" fmla="val 2247141"/>
            </a:avLst>
          </a:prstGeom>
          <a:gradFill>
            <a:gsLst>
              <a:gs pos="100000">
                <a:srgbClr val="668EFF">
                  <a:alpha val="20000"/>
                </a:srgbClr>
              </a:gs>
              <a:gs pos="0">
                <a:srgbClr val="E6E6E6"/>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103" name="文本框 102"/>
          <p:cNvSpPr txBox="1"/>
          <p:nvPr/>
        </p:nvSpPr>
        <p:spPr>
          <a:xfrm flipH="1">
            <a:off x="2015719" y="4108362"/>
            <a:ext cx="944880" cy="4603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库存与供</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应链精益化</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4" name="文本框 103"/>
          <p:cNvSpPr txBox="1"/>
          <p:nvPr/>
        </p:nvSpPr>
        <p:spPr>
          <a:xfrm flipH="1">
            <a:off x="2117567" y="3044348"/>
            <a:ext cx="792480" cy="4603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rPr>
              <a:t>自动化工</a:t>
            </a:r>
            <a:endPar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rPr>
              <a:t>具替代</a:t>
            </a:r>
            <a:endParaRPr kumimoji="0" 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5" name="文本框 104"/>
          <p:cNvSpPr txBox="1"/>
          <p:nvPr/>
        </p:nvSpPr>
        <p:spPr>
          <a:xfrm>
            <a:off x="343535" y="4108362"/>
            <a:ext cx="1350121" cy="1014730"/>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实施准时制（</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JIT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）生产或采购，减少库存积压成本，同时优化物流路径，缩短供货周期。</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6" name="文本框 105"/>
          <p:cNvSpPr txBox="1"/>
          <p:nvPr/>
        </p:nvSpPr>
        <p:spPr>
          <a:xfrm>
            <a:off x="343535" y="2720975"/>
            <a:ext cx="1485265" cy="829945"/>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引入</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RPA</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工具处理数据录入、报表生成等重复性人工任务，大幅缩短处理时间。</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07" name="直接连接符 106"/>
          <p:cNvCxnSpPr/>
          <p:nvPr/>
        </p:nvCxnSpPr>
        <p:spPr>
          <a:xfrm flipH="1" flipV="1">
            <a:off x="442913" y="2059610"/>
            <a:ext cx="5665929" cy="1741922"/>
          </a:xfrm>
          <a:prstGeom prst="line">
            <a:avLst/>
          </a:prstGeom>
          <a:ln w="3175" cap="rnd">
            <a:solidFill>
              <a:srgbClr val="DCDCDC">
                <a:alpha val="60000"/>
              </a:srgbClr>
            </a:solidFill>
            <a:prstDash val="solid"/>
          </a:ln>
        </p:spPr>
        <p:style>
          <a:lnRef idx="2">
            <a:srgbClr val="0042FF"/>
          </a:lnRef>
          <a:fillRef idx="0">
            <a:srgbClr val="0042FF"/>
          </a:fillRef>
          <a:effectRef idx="1">
            <a:srgbClr val="0042FF"/>
          </a:effectRef>
          <a:fontRef idx="minor">
            <a:srgbClr val="383838"/>
          </a:fontRef>
        </p:style>
      </p:cxnSp>
      <p:cxnSp>
        <p:nvCxnSpPr>
          <p:cNvPr id="110" name="直接连接符 109"/>
          <p:cNvCxnSpPr/>
          <p:nvPr/>
        </p:nvCxnSpPr>
        <p:spPr>
          <a:xfrm flipH="1">
            <a:off x="442913" y="3819815"/>
            <a:ext cx="5665929" cy="1714763"/>
          </a:xfrm>
          <a:prstGeom prst="line">
            <a:avLst/>
          </a:prstGeom>
          <a:ln w="3175" cap="rnd">
            <a:solidFill>
              <a:srgbClr val="DCDCDC">
                <a:alpha val="60000"/>
              </a:srgbClr>
            </a:solidFill>
            <a:prstDash val="solid"/>
          </a:ln>
        </p:spPr>
        <p:style>
          <a:lnRef idx="2">
            <a:srgbClr val="0042FF"/>
          </a:lnRef>
          <a:fillRef idx="0">
            <a:srgbClr val="0042FF"/>
          </a:fillRef>
          <a:effectRef idx="1">
            <a:srgbClr val="0042FF"/>
          </a:effectRef>
          <a:fontRef idx="minor">
            <a:srgbClr val="383838"/>
          </a:fontRef>
        </p:style>
      </p:cxnSp>
      <p:sp>
        <p:nvSpPr>
          <p:cNvPr id="111" name="不完整圆 78"/>
          <p:cNvSpPr/>
          <p:nvPr/>
        </p:nvSpPr>
        <p:spPr>
          <a:xfrm flipH="1">
            <a:off x="3206750" y="912282"/>
            <a:ext cx="5778500" cy="5778500"/>
          </a:xfrm>
          <a:prstGeom prst="pie">
            <a:avLst>
              <a:gd name="adj1" fmla="val 19189167"/>
              <a:gd name="adj2" fmla="val 2423908"/>
            </a:avLst>
          </a:prstGeom>
          <a:gradFill>
            <a:gsLst>
              <a:gs pos="100000">
                <a:srgbClr val="0042FF"/>
              </a:gs>
              <a:gs pos="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112" name="直接连接符 111"/>
          <p:cNvCxnSpPr/>
          <p:nvPr/>
        </p:nvCxnSpPr>
        <p:spPr>
          <a:xfrm flipH="1">
            <a:off x="442912" y="3801532"/>
            <a:ext cx="2763838" cy="0"/>
          </a:xfrm>
          <a:prstGeom prst="line">
            <a:avLst/>
          </a:prstGeom>
          <a:ln w="6350" cap="rnd">
            <a:solidFill>
              <a:srgbClr val="DCDCDC"/>
            </a:solidFill>
            <a:prstDash val="solid"/>
          </a:ln>
        </p:spPr>
        <p:style>
          <a:lnRef idx="2">
            <a:srgbClr val="0042FF"/>
          </a:lnRef>
          <a:fillRef idx="0">
            <a:srgbClr val="0042FF"/>
          </a:fillRef>
          <a:effectRef idx="1">
            <a:srgbClr val="0042FF"/>
          </a:effectRef>
          <a:fontRef idx="minor">
            <a:srgbClr val="383838"/>
          </a:fontRef>
        </p:style>
      </p:cxnSp>
      <p:sp>
        <p:nvSpPr>
          <p:cNvPr id="113" name="文本框 112"/>
          <p:cNvSpPr txBox="1"/>
          <p:nvPr/>
        </p:nvSpPr>
        <p:spPr>
          <a:xfrm flipH="1">
            <a:off x="2395274" y="2062729"/>
            <a:ext cx="944880" cy="4603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精简作业与</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标准化</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4" name="文本框 113"/>
          <p:cNvSpPr txBox="1"/>
          <p:nvPr/>
        </p:nvSpPr>
        <p:spPr>
          <a:xfrm>
            <a:off x="2471474" y="5091340"/>
            <a:ext cx="792480" cy="4603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预算与成</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本控制</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5" name="文本框 114"/>
          <p:cNvSpPr txBox="1"/>
          <p:nvPr/>
        </p:nvSpPr>
        <p:spPr>
          <a:xfrm flipH="1">
            <a:off x="343535" y="1146175"/>
            <a:ext cx="1774190" cy="829945"/>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剔除重复、不必要的审批环节，建立标准作业程序（</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SOP</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），减少因操作不一致导致的返工和延误。</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6" name="文本框 115"/>
          <p:cNvSpPr txBox="1"/>
          <p:nvPr/>
        </p:nvSpPr>
        <p:spPr>
          <a:xfrm>
            <a:off x="345330" y="5637244"/>
            <a:ext cx="1646919" cy="829945"/>
          </a:xfrm>
          <a:prstGeom prst="rect">
            <a:avLst/>
          </a:prstGeom>
          <a:noFill/>
        </p:spPr>
        <p:txBody>
          <a:bodyPr wrap="square" lIns="0" rIns="0" tIns="0" bIns="0">
            <a:spAutoFit/>
          </a:bodyPr>
          <a:lstStyle/>
          <a:p>
            <a:pPr marL="0" marR="0" lvl="0" indent="0" algn="l"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建立更精细的预算监控机制，通过数据分析识别并削减不必要的开支，实现成本瘦身。</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21" name="直接连接符 120"/>
          <p:cNvCxnSpPr/>
          <p:nvPr/>
        </p:nvCxnSpPr>
        <p:spPr>
          <a:xfrm>
            <a:off x="8985250" y="3801532"/>
            <a:ext cx="2763838" cy="0"/>
          </a:xfrm>
          <a:prstGeom prst="line">
            <a:avLst/>
          </a:prstGeom>
          <a:ln w="6350" cap="rnd">
            <a:solidFill>
              <a:srgbClr val="DCDCDC"/>
            </a:solidFill>
            <a:prstDash val="solid"/>
          </a:ln>
        </p:spPr>
        <p:style>
          <a:lnRef idx="2">
            <a:srgbClr val="0042FF"/>
          </a:lnRef>
          <a:fillRef idx="0">
            <a:srgbClr val="0042FF"/>
          </a:fillRef>
          <a:effectRef idx="1">
            <a:srgbClr val="0042FF"/>
          </a:effectRef>
          <a:fontRef idx="minor">
            <a:srgbClr val="383838"/>
          </a:fontRef>
        </p:style>
      </p:cxnSp>
      <p:cxnSp>
        <p:nvCxnSpPr>
          <p:cNvPr id="122" name="直接连接符 121"/>
          <p:cNvCxnSpPr/>
          <p:nvPr/>
        </p:nvCxnSpPr>
        <p:spPr>
          <a:xfrm>
            <a:off x="7467600" y="3801532"/>
            <a:ext cx="1517650" cy="0"/>
          </a:xfrm>
          <a:prstGeom prst="line">
            <a:avLst/>
          </a:prstGeom>
          <a:ln w="6350" cap="rnd">
            <a:solidFill>
              <a:srgbClr val="FFFFFF"/>
            </a:solidFill>
            <a:prstDash val="solid"/>
          </a:ln>
        </p:spPr>
        <p:style>
          <a:lnRef idx="2">
            <a:srgbClr val="0042FF"/>
          </a:lnRef>
          <a:fillRef idx="0">
            <a:srgbClr val="0042FF"/>
          </a:fillRef>
          <a:effectRef idx="1">
            <a:srgbClr val="0042FF"/>
          </a:effectRef>
          <a:fontRef idx="minor">
            <a:srgbClr val="383838"/>
          </a:fontRef>
        </p:style>
      </p:cxnSp>
      <p:cxnSp>
        <p:nvCxnSpPr>
          <p:cNvPr id="123" name="直接连接符 122"/>
          <p:cNvCxnSpPr/>
          <p:nvPr/>
        </p:nvCxnSpPr>
        <p:spPr>
          <a:xfrm flipH="1">
            <a:off x="3206750" y="3801532"/>
            <a:ext cx="1517650" cy="0"/>
          </a:xfrm>
          <a:prstGeom prst="line">
            <a:avLst/>
          </a:prstGeom>
          <a:ln w="6350" cap="rnd">
            <a:solidFill>
              <a:srgbClr val="FFFFFF"/>
            </a:solidFill>
            <a:prstDash val="solid"/>
          </a:ln>
        </p:spPr>
        <p:style>
          <a:lnRef idx="2">
            <a:srgbClr val="0042FF"/>
          </a:lnRef>
          <a:fillRef idx="0">
            <a:srgbClr val="0042FF"/>
          </a:fillRef>
          <a:effectRef idx="1">
            <a:srgbClr val="0042FF"/>
          </a:effectRef>
          <a:fontRef idx="minor">
            <a:srgbClr val="383838"/>
          </a:fontRef>
        </p:style>
      </p:cxnSp>
      <p:sp>
        <p:nvSpPr>
          <p:cNvPr id="124" name="文本框 123"/>
          <p:cNvSpPr txBox="1"/>
          <p:nvPr/>
        </p:nvSpPr>
        <p:spPr>
          <a:xfrm flipH="1">
            <a:off x="3660556" y="2628068"/>
            <a:ext cx="894080" cy="30670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流程优化</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25" name="文本框 124"/>
          <p:cNvSpPr txBox="1"/>
          <p:nvPr/>
        </p:nvSpPr>
        <p:spPr>
          <a:xfrm>
            <a:off x="3660556" y="4697997"/>
            <a:ext cx="894080" cy="306705"/>
          </a:xfrm>
          <a:prstGeom prst="rect">
            <a:avLst/>
          </a:prstGeom>
          <a:noFill/>
        </p:spPr>
        <p:txBody>
          <a:bodyPr wrap="none" lIns="0" rIns="0" tIns="0" bIns="0">
            <a:sp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400" noProof="0" dirty="0">
                <a:ln>
                  <a:noFill/>
                </a:ln>
                <a:solidFill>
                  <a:srgbClr val="FFFFFF"/>
                </a:solidFill>
                <a:effectLst/>
                <a:uLnTx/>
                <a:uFillTx/>
                <a:latin typeface="微软雅黑"/>
                <a:ea typeface="微软雅黑"/>
                <a:cs typeface="微软雅黑"/>
                <a:sym typeface="微软雅黑"/>
              </a:rPr>
              <a:t>资源管理</a:t>
            </a:r>
            <a:endParaRPr lang="zh-CN" altLang="en-US" sz="1400" noProof="0" dirty="0">
              <a:ln>
                <a:noFill/>
              </a:ln>
              <a:solidFill>
                <a:srgbClr val="FFFFFF"/>
              </a:solidFill>
              <a:effectLst/>
              <a:uLnTx/>
              <a:uFillTx/>
              <a:latin typeface="微软雅黑"/>
              <a:ea typeface="微软雅黑"/>
              <a:cs typeface="微软雅黑"/>
              <a:sym typeface="微软雅黑"/>
            </a:endParaRPr>
          </a:p>
        </p:txBody>
      </p:sp>
      <p:sp>
        <p:nvSpPr>
          <p:cNvPr id="126" name="文本框 125"/>
          <p:cNvSpPr txBox="1"/>
          <p:nvPr/>
        </p:nvSpPr>
        <p:spPr>
          <a:xfrm>
            <a:off x="7637364" y="2628068"/>
            <a:ext cx="894080" cy="30670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技术赋能</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27" name="文本框 126"/>
          <p:cNvSpPr txBox="1"/>
          <p:nvPr/>
        </p:nvSpPr>
        <p:spPr>
          <a:xfrm flipH="1">
            <a:off x="7637366" y="4697997"/>
            <a:ext cx="894080" cy="306705"/>
          </a:xfrm>
          <a:prstGeom prst="rect">
            <a:avLst/>
          </a:prstGeom>
          <a:noFill/>
        </p:spPr>
        <p:txBody>
          <a:bodyPr wrap="none" lIns="0" rIns="0" tIns="0" bIns="0">
            <a:sp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400" noProof="0" dirty="0">
                <a:ln>
                  <a:noFill/>
                </a:ln>
                <a:solidFill>
                  <a:srgbClr val="FFFFFF"/>
                </a:solidFill>
                <a:effectLst/>
                <a:uLnTx/>
                <a:uFillTx/>
                <a:latin typeface="微软雅黑"/>
                <a:ea typeface="微软雅黑"/>
                <a:cs typeface="微软雅黑"/>
                <a:sym typeface="微软雅黑"/>
              </a:rPr>
              <a:t>人员效能</a:t>
            </a:r>
            <a:endParaRPr lang="zh-CN" altLang="en-US" sz="1400" noProof="0" dirty="0">
              <a:ln>
                <a:noFill/>
              </a:ln>
              <a:solidFill>
                <a:srgbClr val="FFFFFF"/>
              </a:solidFill>
              <a:effectLst/>
              <a:uLnTx/>
              <a:uFillTx/>
              <a:latin typeface="微软雅黑"/>
              <a:ea typeface="微软雅黑"/>
              <a:cs typeface="微软雅黑"/>
              <a:sym typeface="微软雅黑"/>
            </a:endParaRPr>
          </a:p>
        </p:txBody>
      </p:sp>
      <p:sp>
        <p:nvSpPr>
          <p:cNvPr id="131" name="椭圆 130"/>
          <p:cNvSpPr/>
          <p:nvPr/>
        </p:nvSpPr>
        <p:spPr>
          <a:xfrm>
            <a:off x="3867835" y="2984877"/>
            <a:ext cx="479522" cy="479522"/>
          </a:xfrm>
          <a:prstGeom prst="ellipse">
            <a:avLst/>
          </a:prstGeom>
          <a:solidFill>
            <a:srgbClr val="FFFFFF">
              <a:alpha val="13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132" name="椭圆 131"/>
          <p:cNvSpPr/>
          <p:nvPr/>
        </p:nvSpPr>
        <p:spPr>
          <a:xfrm>
            <a:off x="7844642" y="2984877"/>
            <a:ext cx="479522" cy="479522"/>
          </a:xfrm>
          <a:prstGeom prst="ellipse">
            <a:avLst/>
          </a:prstGeom>
          <a:solidFill>
            <a:srgbClr val="FFFFFF">
              <a:alpha val="13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133" name="椭圆 132"/>
          <p:cNvSpPr/>
          <p:nvPr/>
        </p:nvSpPr>
        <p:spPr>
          <a:xfrm>
            <a:off x="3867835" y="4138666"/>
            <a:ext cx="479522" cy="479522"/>
          </a:xfrm>
          <a:prstGeom prst="ellipse">
            <a:avLst/>
          </a:prstGeom>
          <a:solidFill>
            <a:srgbClr val="FFFFFF">
              <a:alpha val="13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134" name="椭圆 133"/>
          <p:cNvSpPr/>
          <p:nvPr/>
        </p:nvSpPr>
        <p:spPr>
          <a:xfrm>
            <a:off x="7844642" y="4138666"/>
            <a:ext cx="479522" cy="479522"/>
          </a:xfrm>
          <a:prstGeom prst="ellipse">
            <a:avLst/>
          </a:prstGeom>
          <a:solidFill>
            <a:srgbClr val="FFFFFF">
              <a:alpha val="13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80" name="紫荆的职场Point3"/>
          <p:cNvSpPr/>
          <p:nvPr/>
        </p:nvSpPr>
        <p:spPr>
          <a:xfrm>
            <a:off x="4565015" y="2062480"/>
            <a:ext cx="3044825" cy="2622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a:gsLst>
              <a:gs pos="0">
                <a:srgbClr val="B3D4FE">
                  <a:alpha val="0"/>
                </a:srgbClr>
              </a:gs>
              <a:gs pos="100000">
                <a:srgbClr val="B3D4FE">
                  <a:alpha val="20000"/>
                </a:srgbClr>
              </a:gs>
            </a:gsLst>
            <a:lin ang="5400000" scaled="1"/>
          </a:gradFill>
          <a:ln w="19050">
            <a:gradFill flip="none" rotWithShape="1">
              <a:gsLst>
                <a:gs pos="0">
                  <a:srgbClr val="B3D4FE">
                    <a:alpha val="0"/>
                  </a:srgbClr>
                </a:gs>
                <a:gs pos="100000">
                  <a:srgbClr val="B3D4FE"/>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dirty="0">
              <a:latin typeface="微软雅黑"/>
              <a:ea typeface="微软雅黑"/>
              <a:cs typeface="微软雅黑"/>
              <a:sym typeface="微软雅黑"/>
            </a:endParaRPr>
          </a:p>
        </p:txBody>
      </p:sp>
      <p:sp>
        <p:nvSpPr>
          <p:cNvPr id="86" name="紫荆的职场Point7"/>
          <p:cNvSpPr/>
          <p:nvPr/>
        </p:nvSpPr>
        <p:spPr>
          <a:xfrm>
            <a:off x="5024438" y="1763395"/>
            <a:ext cx="2125980" cy="1987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a:gsLst>
              <a:gs pos="0">
                <a:srgbClr val="B3D4FE">
                  <a:alpha val="0"/>
                </a:srgbClr>
              </a:gs>
              <a:gs pos="100000">
                <a:srgbClr val="B3D4FE">
                  <a:alpha val="20000"/>
                </a:srgbClr>
              </a:gs>
            </a:gsLst>
            <a:lin ang="5400000" scaled="1"/>
          </a:gradFill>
          <a:ln w="19050">
            <a:gradFill flip="none" rotWithShape="1">
              <a:gsLst>
                <a:gs pos="0">
                  <a:srgbClr val="B3D4FE">
                    <a:alpha val="0"/>
                  </a:srgbClr>
                </a:gs>
                <a:gs pos="100000">
                  <a:srgbClr val="B3D4FE"/>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sz="1000" dirty="0">
              <a:latin typeface="微软雅黑"/>
              <a:ea typeface="微软雅黑"/>
              <a:cs typeface="微软雅黑"/>
              <a:sym typeface="微软雅黑"/>
            </a:endParaRPr>
          </a:p>
        </p:txBody>
      </p:sp>
      <p:sp>
        <p:nvSpPr>
          <p:cNvPr id="147" name="文本框 146"/>
          <p:cNvSpPr txBox="1"/>
          <p:nvPr/>
        </p:nvSpPr>
        <p:spPr>
          <a:xfrm>
            <a:off x="5999190" y="3737794"/>
            <a:ext cx="184730" cy="246221"/>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9" name="椭圆 148"/>
          <p:cNvSpPr/>
          <p:nvPr/>
        </p:nvSpPr>
        <p:spPr>
          <a:xfrm>
            <a:off x="4719955" y="2489305"/>
            <a:ext cx="2743200" cy="2743200"/>
          </a:xfrm>
          <a:prstGeom prst="ellipse">
            <a:avLst/>
          </a:prstGeom>
          <a:solidFill>
            <a:srgbClr val="B3D4FE">
              <a:alpha val="4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50" name="椭圆 149"/>
          <p:cNvSpPr/>
          <p:nvPr/>
        </p:nvSpPr>
        <p:spPr>
          <a:xfrm>
            <a:off x="4912626" y="2681976"/>
            <a:ext cx="2357858" cy="2357858"/>
          </a:xfrm>
          <a:prstGeom prst="ellipse">
            <a:avLst/>
          </a:prstGeom>
          <a:gradFill>
            <a:gsLst>
              <a:gs pos="0">
                <a:srgbClr val="3368FF"/>
              </a:gs>
              <a:gs pos="100000">
                <a:srgbClr val="B3D4FE"/>
              </a:gs>
            </a:gsLst>
            <a:path path="circle">
              <a:fillToRect l="100000" b="100000"/>
            </a:path>
            <a:tileRect t="-100000" r="-10000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51" name="文本框 150"/>
          <p:cNvSpPr txBox="1"/>
          <p:nvPr/>
        </p:nvSpPr>
        <p:spPr>
          <a:xfrm>
            <a:off x="5428615" y="3240586"/>
            <a:ext cx="1325880" cy="64516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prstClr val="white"/>
                </a:solidFill>
                <a:effectLst/>
                <a:uLnTx/>
                <a:uFillTx/>
                <a:latin typeface="微软雅黑"/>
                <a:ea typeface="微软雅黑"/>
                <a:cs typeface="微软雅黑"/>
              </a:rPr>
              <a:t>多维度提升</a:t>
            </a:r>
            <a:endParaRPr kumimoji="0" lang="zh-CN" altLang="en-US" b="1" i="0" u="none" strike="noStrike" kern="1200" cap="none" spc="0" normalizeH="0" baseline="0" noProof="0" dirty="0">
              <a:ln>
                <a:noFill/>
              </a:ln>
              <a:solidFill>
                <a:prstClr val="white"/>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prstClr val="white"/>
                </a:solidFill>
                <a:effectLst/>
                <a:uLnTx/>
                <a:uFillTx/>
                <a:latin typeface="微软雅黑"/>
                <a:ea typeface="微软雅黑"/>
                <a:cs typeface="微软雅黑"/>
              </a:rPr>
              <a:t>运营效率</a:t>
            </a:r>
            <a:endParaRPr kumimoji="0" lang="zh-CN" altLang="en-US"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52" name="矩形: 圆角 4"/>
          <p:cNvSpPr/>
          <p:nvPr/>
        </p:nvSpPr>
        <p:spPr>
          <a:xfrm>
            <a:off x="5456555" y="3987128"/>
            <a:ext cx="1270000" cy="297070"/>
          </a:xfrm>
          <a:prstGeom prst="roundRect">
            <a:avLst>
              <a:gd name="adj" fmla="val 50000"/>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zh-CN" altLang="en-US" sz="1100" spc="300" dirty="0">
                <a:solidFill>
                  <a:srgbClr val="0042FF"/>
                </a:solidFill>
                <a:latin typeface="微软雅黑"/>
                <a:ea typeface="微软雅黑"/>
                <a:cs typeface="微软雅黑"/>
              </a:rPr>
              <a:t>明年工作规划</a:t>
            </a:r>
            <a:endParaRPr lang="zh-CN" altLang="en-US" sz="1100" spc="300" dirty="0">
              <a:solidFill>
                <a:srgbClr val="0042FF"/>
              </a:solidFill>
              <a:latin typeface="微软雅黑"/>
              <a:ea typeface="微软雅黑"/>
              <a:cs typeface="微软雅黑"/>
            </a:endParaRPr>
          </a:p>
        </p:txBody>
      </p:sp>
      <p:sp>
        <p:nvSpPr>
          <p:cNvPr id="154" name="紫荆的职场Point37"/>
          <p:cNvSpPr txBox="1"/>
          <p:nvPr/>
        </p:nvSpPr>
        <p:spPr>
          <a:xfrm flipH="1">
            <a:off x="5168265" y="2082165"/>
            <a:ext cx="52133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转化率</a:t>
            </a:r>
            <a:endParaRPr lang="zh-CN" sz="1000" dirty="0">
              <a:solidFill>
                <a:srgbClr val="383838"/>
              </a:solidFill>
              <a:latin typeface="微软雅黑"/>
              <a:ea typeface="微软雅黑"/>
              <a:cs typeface="微软雅黑"/>
            </a:endParaRPr>
          </a:p>
        </p:txBody>
      </p:sp>
      <p:grpSp>
        <p:nvGrpSpPr>
          <p:cNvPr id="155" name="©天蝎PPT9"/>
          <p:cNvGrpSpPr/>
          <p:nvPr/>
        </p:nvGrpSpPr>
        <p:grpSpPr>
          <a:xfrm>
            <a:off x="5350510" y="1878965"/>
            <a:ext cx="112395" cy="112395"/>
            <a:chOff x="5287932" y="2222584"/>
            <a:chExt cx="222422" cy="222422"/>
          </a:xfrm>
        </p:grpSpPr>
        <p:sp>
          <p:nvSpPr>
            <p:cNvPr id="156" name="©天蝎PPT9-1"/>
            <p:cNvSpPr/>
            <p:nvPr>
              <p:custDataLst>
                <p:tags r:id="rId4"/>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57" name="©天蝎PPT9-2"/>
            <p:cNvSpPr/>
            <p:nvPr>
              <p:custDataLst>
                <p:tags r:id="rId5"/>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sp>
        <p:nvSpPr>
          <p:cNvPr id="159" name="紫荆的职场Point36-1"/>
          <p:cNvSpPr/>
          <p:nvPr/>
        </p:nvSpPr>
        <p:spPr>
          <a:xfrm>
            <a:off x="5428713" y="1262380"/>
            <a:ext cx="1308100" cy="234950"/>
          </a:xfrm>
          <a:prstGeom prst="roundRect">
            <a:avLst>
              <a:gd name="adj" fmla="val 8288"/>
            </a:avLst>
          </a:prstGeom>
          <a:gradFill>
            <a:gsLst>
              <a:gs pos="100000">
                <a:srgbClr val="FFFFFF"/>
              </a:gs>
              <a:gs pos="0">
                <a:srgbClr val="FFFFFF"/>
              </a:gs>
            </a:gsLst>
            <a:lin ang="5400000" scaled="0"/>
          </a:gradFill>
          <a:ln w="12700" cap="flat" cmpd="sng" algn="ctr">
            <a:gradFill>
              <a:gsLst>
                <a:gs pos="0">
                  <a:srgbClr val="3368FF"/>
                </a:gs>
                <a:gs pos="52000">
                  <a:srgbClr val="B3D4FE"/>
                </a:gs>
              </a:gsLst>
              <a:lin ang="5400000" scaled="1"/>
            </a:gra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销售额突破</a:t>
            </a:r>
            <a:r>
              <a:rPr kumimoji="0" lang="en-US" altLang="zh-CN" sz="1000" b="0" i="0" u="none" strike="noStrike" kern="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1000</a:t>
            </a:r>
            <a:r>
              <a:rPr kumimoji="0" lang="zh-CN" altLang="en-US" sz="1000" b="0" i="0" u="none" strike="noStrike" kern="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万</a:t>
            </a:r>
            <a:endParaRPr kumimoji="0" lang="zh-CN" altLang="en-US" sz="1000" b="0" i="0" u="none" strike="noStrike" kern="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grpSp>
        <p:nvGrpSpPr>
          <p:cNvPr id="160" name="©天蝎PPT9"/>
          <p:cNvGrpSpPr/>
          <p:nvPr/>
        </p:nvGrpSpPr>
        <p:grpSpPr>
          <a:xfrm>
            <a:off x="5882640" y="1903095"/>
            <a:ext cx="112395" cy="112395"/>
            <a:chOff x="5287932" y="2222584"/>
            <a:chExt cx="222422" cy="222422"/>
          </a:xfrm>
        </p:grpSpPr>
        <p:sp>
          <p:nvSpPr>
            <p:cNvPr id="161" name="©天蝎PPT9-1"/>
            <p:cNvSpPr/>
            <p:nvPr>
              <p:custDataLst>
                <p:tags r:id="rId6"/>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62" name="©天蝎PPT9-2"/>
            <p:cNvSpPr/>
            <p:nvPr>
              <p:custDataLst>
                <p:tags r:id="rId7"/>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sp>
        <p:nvSpPr>
          <p:cNvPr id="163" name="紫荆的职场Point37"/>
          <p:cNvSpPr txBox="1"/>
          <p:nvPr/>
        </p:nvSpPr>
        <p:spPr>
          <a:xfrm flipH="1">
            <a:off x="4715510" y="2059305"/>
            <a:ext cx="52133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访客数</a:t>
            </a:r>
            <a:endParaRPr lang="zh-CN" sz="1000" dirty="0">
              <a:solidFill>
                <a:srgbClr val="383838"/>
              </a:solidFill>
              <a:latin typeface="微软雅黑"/>
              <a:ea typeface="微软雅黑"/>
              <a:cs typeface="微软雅黑"/>
            </a:endParaRPr>
          </a:p>
        </p:txBody>
      </p:sp>
      <p:sp>
        <p:nvSpPr>
          <p:cNvPr id="164" name="紫荆的职场Point37"/>
          <p:cNvSpPr txBox="1"/>
          <p:nvPr/>
        </p:nvSpPr>
        <p:spPr>
          <a:xfrm flipH="1">
            <a:off x="5105400" y="1689100"/>
            <a:ext cx="62039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流量规模</a:t>
            </a:r>
            <a:endParaRPr lang="zh-CN" sz="1000" dirty="0">
              <a:solidFill>
                <a:srgbClr val="383838"/>
              </a:solidFill>
              <a:latin typeface="微软雅黑"/>
              <a:ea typeface="微软雅黑"/>
              <a:cs typeface="微软雅黑"/>
            </a:endParaRPr>
          </a:p>
        </p:txBody>
      </p:sp>
      <p:sp>
        <p:nvSpPr>
          <p:cNvPr id="165" name="紫荆的职场Point37"/>
          <p:cNvSpPr txBox="1"/>
          <p:nvPr/>
        </p:nvSpPr>
        <p:spPr>
          <a:xfrm flipH="1">
            <a:off x="5610225" y="1713230"/>
            <a:ext cx="61658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转化效率</a:t>
            </a:r>
            <a:endParaRPr lang="zh-CN" sz="1000" dirty="0">
              <a:solidFill>
                <a:srgbClr val="383838"/>
              </a:solidFill>
              <a:latin typeface="微软雅黑"/>
              <a:ea typeface="微软雅黑"/>
              <a:cs typeface="微软雅黑"/>
            </a:endParaRPr>
          </a:p>
        </p:txBody>
      </p:sp>
      <p:sp>
        <p:nvSpPr>
          <p:cNvPr id="166" name="紫荆的职场Point37"/>
          <p:cNvSpPr txBox="1"/>
          <p:nvPr/>
        </p:nvSpPr>
        <p:spPr>
          <a:xfrm flipH="1">
            <a:off x="6073775" y="1713230"/>
            <a:ext cx="558800"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客户价值</a:t>
            </a:r>
            <a:endParaRPr lang="zh-CN" sz="1000" dirty="0">
              <a:solidFill>
                <a:srgbClr val="383838"/>
              </a:solidFill>
              <a:latin typeface="微软雅黑"/>
              <a:ea typeface="微软雅黑"/>
              <a:cs typeface="微软雅黑"/>
            </a:endParaRPr>
          </a:p>
        </p:txBody>
      </p:sp>
      <p:sp>
        <p:nvSpPr>
          <p:cNvPr id="167" name="紫荆的职场Point37"/>
          <p:cNvSpPr txBox="1"/>
          <p:nvPr/>
        </p:nvSpPr>
        <p:spPr>
          <a:xfrm flipH="1">
            <a:off x="6517005" y="1689100"/>
            <a:ext cx="636270"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复购裂变</a:t>
            </a:r>
            <a:endParaRPr lang="zh-CN" sz="1000" dirty="0">
              <a:solidFill>
                <a:srgbClr val="383838"/>
              </a:solidFill>
              <a:latin typeface="微软雅黑"/>
              <a:ea typeface="微软雅黑"/>
              <a:cs typeface="微软雅黑"/>
            </a:endParaRPr>
          </a:p>
        </p:txBody>
      </p:sp>
      <p:grpSp>
        <p:nvGrpSpPr>
          <p:cNvPr id="168" name="©天蝎PPT9"/>
          <p:cNvGrpSpPr/>
          <p:nvPr/>
        </p:nvGrpSpPr>
        <p:grpSpPr>
          <a:xfrm>
            <a:off x="6315710" y="1903095"/>
            <a:ext cx="112395" cy="112395"/>
            <a:chOff x="5287932" y="2222584"/>
            <a:chExt cx="222422" cy="222422"/>
          </a:xfrm>
        </p:grpSpPr>
        <p:sp>
          <p:nvSpPr>
            <p:cNvPr id="169" name="©天蝎PPT9-1"/>
            <p:cNvSpPr/>
            <p:nvPr>
              <p:custDataLst>
                <p:tags r:id="rId8"/>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70" name="©天蝎PPT9-2"/>
            <p:cNvSpPr/>
            <p:nvPr>
              <p:custDataLst>
                <p:tags r:id="rId9"/>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grpSp>
        <p:nvGrpSpPr>
          <p:cNvPr id="171" name="©天蝎PPT9"/>
          <p:cNvGrpSpPr/>
          <p:nvPr/>
        </p:nvGrpSpPr>
        <p:grpSpPr>
          <a:xfrm>
            <a:off x="6821805" y="1863725"/>
            <a:ext cx="112395" cy="112395"/>
            <a:chOff x="5287932" y="2222584"/>
            <a:chExt cx="222422" cy="222422"/>
          </a:xfrm>
        </p:grpSpPr>
        <p:sp>
          <p:nvSpPr>
            <p:cNvPr id="172" name="©天蝎PPT9-1"/>
            <p:cNvSpPr/>
            <p:nvPr>
              <p:custDataLst>
                <p:tags r:id="rId10"/>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73" name="©天蝎PPT9-2"/>
            <p:cNvSpPr/>
            <p:nvPr>
              <p:custDataLst>
                <p:tags r:id="rId11"/>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sp>
        <p:nvSpPr>
          <p:cNvPr id="174" name="紫荆的职场Point37"/>
          <p:cNvSpPr txBox="1"/>
          <p:nvPr/>
        </p:nvSpPr>
        <p:spPr>
          <a:xfrm flipH="1">
            <a:off x="6073775" y="2099310"/>
            <a:ext cx="52133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客单价</a:t>
            </a:r>
            <a:endParaRPr lang="zh-CN" sz="1000" dirty="0">
              <a:solidFill>
                <a:srgbClr val="383838"/>
              </a:solidFill>
              <a:latin typeface="微软雅黑"/>
              <a:ea typeface="微软雅黑"/>
              <a:cs typeface="微软雅黑"/>
            </a:endParaRPr>
          </a:p>
        </p:txBody>
      </p:sp>
      <p:sp>
        <p:nvSpPr>
          <p:cNvPr id="175" name="紫荆的职场Point37"/>
          <p:cNvSpPr txBox="1"/>
          <p:nvPr/>
        </p:nvSpPr>
        <p:spPr>
          <a:xfrm flipH="1">
            <a:off x="5621020" y="2099310"/>
            <a:ext cx="52133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留存率</a:t>
            </a:r>
            <a:endParaRPr lang="zh-CN" sz="1000" dirty="0">
              <a:solidFill>
                <a:srgbClr val="383838"/>
              </a:solidFill>
              <a:latin typeface="微软雅黑"/>
              <a:ea typeface="微软雅黑"/>
              <a:cs typeface="微软雅黑"/>
            </a:endParaRPr>
          </a:p>
        </p:txBody>
      </p:sp>
      <p:sp>
        <p:nvSpPr>
          <p:cNvPr id="176" name="紫荆的职场Point37"/>
          <p:cNvSpPr txBox="1"/>
          <p:nvPr/>
        </p:nvSpPr>
        <p:spPr>
          <a:xfrm flipH="1">
            <a:off x="6979285" y="2059305"/>
            <a:ext cx="52133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复购率</a:t>
            </a:r>
            <a:endParaRPr lang="zh-CN" sz="1000" dirty="0">
              <a:solidFill>
                <a:srgbClr val="383838"/>
              </a:solidFill>
              <a:latin typeface="微软雅黑"/>
              <a:ea typeface="微软雅黑"/>
              <a:cs typeface="微软雅黑"/>
            </a:endParaRPr>
          </a:p>
        </p:txBody>
      </p:sp>
      <p:sp>
        <p:nvSpPr>
          <p:cNvPr id="177" name="紫荆的职场Point37"/>
          <p:cNvSpPr txBox="1"/>
          <p:nvPr/>
        </p:nvSpPr>
        <p:spPr>
          <a:xfrm flipH="1">
            <a:off x="6526530" y="2082165"/>
            <a:ext cx="521335" cy="1987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sz="1000" dirty="0">
                <a:solidFill>
                  <a:srgbClr val="383838"/>
                </a:solidFill>
                <a:latin typeface="微软雅黑"/>
                <a:ea typeface="微软雅黑"/>
                <a:cs typeface="微软雅黑"/>
              </a:rPr>
              <a:t>件均价</a:t>
            </a:r>
            <a:endParaRPr lang="zh-CN" sz="1000" dirty="0">
              <a:solidFill>
                <a:srgbClr val="383838"/>
              </a:solidFill>
              <a:latin typeface="微软雅黑"/>
              <a:ea typeface="微软雅黑"/>
              <a:cs typeface="微软雅黑"/>
            </a:endParaRPr>
          </a:p>
        </p:txBody>
      </p:sp>
      <p:grpSp>
        <p:nvGrpSpPr>
          <p:cNvPr id="178" name="©天蝎PPT9"/>
          <p:cNvGrpSpPr/>
          <p:nvPr/>
        </p:nvGrpSpPr>
        <p:grpSpPr>
          <a:xfrm>
            <a:off x="4900295" y="2221230"/>
            <a:ext cx="112395" cy="112395"/>
            <a:chOff x="5287932" y="2222584"/>
            <a:chExt cx="222422" cy="222422"/>
          </a:xfrm>
        </p:grpSpPr>
        <p:sp>
          <p:nvSpPr>
            <p:cNvPr id="179" name="©天蝎PPT9-1"/>
            <p:cNvSpPr/>
            <p:nvPr>
              <p:custDataLst>
                <p:tags r:id="rId12"/>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80" name="©天蝎PPT9-2"/>
            <p:cNvSpPr/>
            <p:nvPr>
              <p:custDataLst>
                <p:tags r:id="rId13"/>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grpSp>
        <p:nvGrpSpPr>
          <p:cNvPr id="181" name="©天蝎PPT9"/>
          <p:cNvGrpSpPr/>
          <p:nvPr/>
        </p:nvGrpSpPr>
        <p:grpSpPr>
          <a:xfrm>
            <a:off x="5374640" y="2256790"/>
            <a:ext cx="112395" cy="112395"/>
            <a:chOff x="5287932" y="2222584"/>
            <a:chExt cx="222422" cy="222422"/>
          </a:xfrm>
        </p:grpSpPr>
        <p:sp>
          <p:nvSpPr>
            <p:cNvPr id="182" name="©天蝎PPT9-1"/>
            <p:cNvSpPr/>
            <p:nvPr>
              <p:custDataLst>
                <p:tags r:id="rId14"/>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83" name="©天蝎PPT9-2"/>
            <p:cNvSpPr/>
            <p:nvPr>
              <p:custDataLst>
                <p:tags r:id="rId15"/>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grpSp>
        <p:nvGrpSpPr>
          <p:cNvPr id="184" name="©天蝎PPT9"/>
          <p:cNvGrpSpPr/>
          <p:nvPr/>
        </p:nvGrpSpPr>
        <p:grpSpPr>
          <a:xfrm>
            <a:off x="5838825" y="2264410"/>
            <a:ext cx="112395" cy="112395"/>
            <a:chOff x="5287932" y="2222584"/>
            <a:chExt cx="222422" cy="222422"/>
          </a:xfrm>
        </p:grpSpPr>
        <p:sp>
          <p:nvSpPr>
            <p:cNvPr id="185" name="©天蝎PPT9-1"/>
            <p:cNvSpPr/>
            <p:nvPr>
              <p:custDataLst>
                <p:tags r:id="rId16"/>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86" name="©天蝎PPT9-2"/>
            <p:cNvSpPr/>
            <p:nvPr>
              <p:custDataLst>
                <p:tags r:id="rId17"/>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grpSp>
        <p:nvGrpSpPr>
          <p:cNvPr id="187" name="©天蝎PPT9"/>
          <p:cNvGrpSpPr/>
          <p:nvPr/>
        </p:nvGrpSpPr>
        <p:grpSpPr>
          <a:xfrm>
            <a:off x="6291580" y="2266315"/>
            <a:ext cx="112395" cy="112395"/>
            <a:chOff x="5287932" y="2222584"/>
            <a:chExt cx="222422" cy="222422"/>
          </a:xfrm>
        </p:grpSpPr>
        <p:sp>
          <p:nvSpPr>
            <p:cNvPr id="188" name="©天蝎PPT9-1"/>
            <p:cNvSpPr/>
            <p:nvPr>
              <p:custDataLst>
                <p:tags r:id="rId18"/>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89" name="©天蝎PPT9-2"/>
            <p:cNvSpPr/>
            <p:nvPr>
              <p:custDataLst>
                <p:tags r:id="rId19"/>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grpSp>
        <p:nvGrpSpPr>
          <p:cNvPr id="190" name="©天蝎PPT9"/>
          <p:cNvGrpSpPr/>
          <p:nvPr/>
        </p:nvGrpSpPr>
        <p:grpSpPr>
          <a:xfrm>
            <a:off x="6757670" y="2245360"/>
            <a:ext cx="112395" cy="112395"/>
            <a:chOff x="5287932" y="2222584"/>
            <a:chExt cx="222422" cy="222422"/>
          </a:xfrm>
        </p:grpSpPr>
        <p:sp>
          <p:nvSpPr>
            <p:cNvPr id="191" name="©天蝎PPT9-1"/>
            <p:cNvSpPr/>
            <p:nvPr>
              <p:custDataLst>
                <p:tags r:id="rId20"/>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92" name="©天蝎PPT9-2"/>
            <p:cNvSpPr/>
            <p:nvPr>
              <p:custDataLst>
                <p:tags r:id="rId21"/>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grpSp>
        <p:nvGrpSpPr>
          <p:cNvPr id="193" name="©天蝎PPT9"/>
          <p:cNvGrpSpPr/>
          <p:nvPr/>
        </p:nvGrpSpPr>
        <p:grpSpPr>
          <a:xfrm>
            <a:off x="7218045" y="2209800"/>
            <a:ext cx="112395" cy="112395"/>
            <a:chOff x="5287932" y="2222584"/>
            <a:chExt cx="222422" cy="222422"/>
          </a:xfrm>
        </p:grpSpPr>
        <p:sp>
          <p:nvSpPr>
            <p:cNvPr id="194" name="©天蝎PPT9-1"/>
            <p:cNvSpPr/>
            <p:nvPr>
              <p:custDataLst>
                <p:tags r:id="rId22"/>
              </p:custDataLst>
            </p:nvPr>
          </p:nvSpPr>
          <p:spPr>
            <a:xfrm>
              <a:off x="5287932" y="2222584"/>
              <a:ext cx="222422" cy="222422"/>
            </a:xfrm>
            <a:prstGeom prst="ellipse">
              <a:avLst/>
            </a:prstGeom>
            <a:solidFill>
              <a:srgbClr val="3368FF">
                <a:alpha val="15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95" name="©天蝎PPT9-2"/>
            <p:cNvSpPr/>
            <p:nvPr>
              <p:custDataLst>
                <p:tags r:id="rId23"/>
              </p:custDataLst>
            </p:nvPr>
          </p:nvSpPr>
          <p:spPr>
            <a:xfrm>
              <a:off x="5335525" y="2270177"/>
              <a:ext cx="127237" cy="127237"/>
            </a:xfrm>
            <a:prstGeom prst="ellipse">
              <a:avLst/>
            </a:prstGeom>
            <a:solidFill>
              <a:srgbClr val="B3D4FE"/>
            </a:solidFill>
            <a:ln w="12700" cap="flat" cmpd="sng" algn="ctr">
              <a:noFill/>
              <a:prstDash val="solid"/>
              <a:miter lim="800000"/>
            </a:ln>
            <a:effectLst>
              <a:outerShdw blurRad="457200" dist="495300" dir="5400000" sx="90000" sy="90000" algn="t" rotWithShape="0">
                <a:srgbClr val="0042FF">
                  <a:alpha val="31000"/>
                </a:srgbClr>
              </a:outerShdw>
            </a:effectLst>
          </p:spPr>
          <p:txBody>
            <a:bodyPr lIns="0" tIns="0" rIns="0" bIns="0" rtlCol="0" anchor="ctr"/>
            <a:lstStyle/>
            <a:p>
              <a:pPr marL="0" marR="0" lvl="0" indent="0" algn="ctr" defTabSz="6096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grpSp>
      <p:sp>
        <p:nvSpPr>
          <p:cNvPr id="196" name="矩形: 圆角 93"/>
          <p:cNvSpPr/>
          <p:nvPr/>
        </p:nvSpPr>
        <p:spPr>
          <a:xfrm>
            <a:off x="5120737" y="6021314"/>
            <a:ext cx="1924052" cy="643925"/>
          </a:xfrm>
          <a:prstGeom prst="roundRect">
            <a:avLst>
              <a:gd name="adj" fmla="val 50000"/>
            </a:avLst>
          </a:prstGeom>
          <a:noFill/>
          <a:ln>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solidFill>
                  <a:srgbClr val="383838"/>
                </a:solidFill>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97" name="文本框 196"/>
          <p:cNvSpPr txBox="1"/>
          <p:nvPr/>
        </p:nvSpPr>
        <p:spPr>
          <a:xfrm>
            <a:off x="5483323" y="6250459"/>
            <a:ext cx="1198880" cy="39878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sz="2000" b="1" u="none" strike="noStrike" kern="1200" cap="none" spc="0" normalizeH="0" baseline="0" noProof="0" dirty="0">
                <a:ln>
                  <a:noFill/>
                </a:ln>
                <a:solidFill>
                  <a:srgbClr val="383838"/>
                </a:solidFill>
                <a:effectLst/>
                <a:uLnTx/>
                <a:uFillTx/>
                <a:latin typeface="微软雅黑"/>
                <a:ea typeface="微软雅黑"/>
                <a:cs typeface="微软雅黑"/>
              </a:rPr>
              <a:t>资源支撑</a:t>
            </a:r>
            <a:endParaRPr kumimoji="0" lang="zh-CN" sz="2000" b="1"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98" name="文本框 197"/>
          <p:cNvSpPr txBox="1"/>
          <p:nvPr/>
        </p:nvSpPr>
        <p:spPr>
          <a:xfrm>
            <a:off x="5436016" y="6035983"/>
            <a:ext cx="1293495" cy="275590"/>
          </a:xfrm>
          <a:prstGeom prst="rect">
            <a:avLst/>
          </a:prstGeom>
          <a:noFill/>
        </p:spPr>
        <p:txBody>
          <a:bodyPr wrap="none">
            <a:spAutoFit/>
          </a:bodyPr>
          <a:lstStyle/>
          <a:p>
            <a:pPr defTabSz="457200">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人</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钱</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工具</a:t>
            </a:r>
            <a:r>
              <a:rPr lang="en-US" altLang="zh-CN" sz="1200" dirty="0">
                <a:solidFill>
                  <a:srgbClr val="383838"/>
                </a:solidFill>
                <a:latin typeface="微软雅黑"/>
                <a:ea typeface="微软雅黑"/>
                <a:cs typeface="微软雅黑"/>
              </a:rPr>
              <a:t>/</a:t>
            </a:r>
            <a:r>
              <a:rPr lang="zh-CN" altLang="en-US" sz="1200" dirty="0">
                <a:solidFill>
                  <a:srgbClr val="383838"/>
                </a:solidFill>
                <a:latin typeface="微软雅黑"/>
                <a:ea typeface="微软雅黑"/>
                <a:cs typeface="微软雅黑"/>
              </a:rPr>
              <a:t>系统</a:t>
            </a:r>
            <a:endParaRPr lang="zh-CN" altLang="en-US" sz="1200" dirty="0">
              <a:solidFill>
                <a:srgbClr val="383838"/>
              </a:solidFill>
              <a:latin typeface="微软雅黑"/>
              <a:ea typeface="微软雅黑"/>
              <a:cs typeface="微软雅黑"/>
            </a:endParaRPr>
          </a:p>
        </p:txBody>
      </p:sp>
      <p:sp>
        <p:nvSpPr>
          <p:cNvPr id="199" name="任意多边形: 形状 1034"/>
          <p:cNvSpPr/>
          <p:nvPr/>
        </p:nvSpPr>
        <p:spPr>
          <a:xfrm>
            <a:off x="5608629" y="5307097"/>
            <a:ext cx="948269" cy="844756"/>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0">
                <a:srgbClr val="B3D4FE"/>
              </a:gs>
              <a:gs pos="100000">
                <a:srgbClr val="FFFFFF">
                  <a:alpha val="0"/>
                </a:srgbClr>
              </a:gs>
            </a:gsLst>
            <a:lin ang="5400000" scaled="1"/>
          </a:gradFill>
          <a:ln w="12700" cap="flat" cmpd="sng" algn="ctr">
            <a:noFill/>
            <a:prstDash val="solid"/>
            <a:miter lim="800000"/>
          </a:ln>
          <a:effectLst/>
        </p:spPr>
        <p:txBody>
          <a:bodyPr wrap="square"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000" kern="0" noProof="0" dirty="0">
              <a:ln>
                <a:noFill/>
              </a:ln>
              <a:solidFill>
                <a:srgbClr val="383838"/>
              </a:solidFill>
              <a:effectLst/>
              <a:uLnTx/>
              <a:uFillTx/>
              <a:latin typeface="微软雅黑"/>
              <a:ea typeface="微软雅黑"/>
              <a:cs typeface="微软雅黑"/>
              <a:sym typeface="微软雅黑"/>
            </a:endParaRPr>
          </a:p>
        </p:txBody>
      </p:sp>
      <p:sp>
        <p:nvSpPr>
          <p:cNvPr id="200" name="任意多边形: 形状 1035"/>
          <p:cNvSpPr/>
          <p:nvPr/>
        </p:nvSpPr>
        <p:spPr>
          <a:xfrm>
            <a:off x="6425416" y="5513052"/>
            <a:ext cx="485884" cy="432845"/>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0">
                <a:srgbClr val="B3D4FE"/>
              </a:gs>
              <a:gs pos="100000">
                <a:srgbClr val="FFFFFF">
                  <a:alpha val="0"/>
                </a:srgbClr>
              </a:gs>
            </a:gsLst>
            <a:lin ang="5400000" scaled="1"/>
          </a:gradFill>
          <a:ln w="12700" cap="flat" cmpd="sng" algn="ctr">
            <a:noFill/>
            <a:prstDash val="solid"/>
            <a:miter lim="800000"/>
          </a:ln>
          <a:effectLst/>
        </p:spPr>
        <p:txBody>
          <a:bodyPr wrap="square"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000" kern="0" noProof="0" dirty="0">
              <a:ln>
                <a:noFill/>
              </a:ln>
              <a:solidFill>
                <a:srgbClr val="383838"/>
              </a:solidFill>
              <a:effectLst/>
              <a:uLnTx/>
              <a:uFillTx/>
              <a:latin typeface="微软雅黑"/>
              <a:ea typeface="微软雅黑"/>
              <a:cs typeface="微软雅黑"/>
              <a:sym typeface="微软雅黑"/>
            </a:endParaRPr>
          </a:p>
        </p:txBody>
      </p:sp>
      <p:sp>
        <p:nvSpPr>
          <p:cNvPr id="201" name="任意多边形: 形状 1036"/>
          <p:cNvSpPr/>
          <p:nvPr/>
        </p:nvSpPr>
        <p:spPr>
          <a:xfrm>
            <a:off x="5231068" y="5513052"/>
            <a:ext cx="485884" cy="432845"/>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0">
                <a:srgbClr val="B3D4FE"/>
              </a:gs>
              <a:gs pos="100000">
                <a:srgbClr val="FFFFFF">
                  <a:alpha val="0"/>
                </a:srgbClr>
              </a:gs>
            </a:gsLst>
            <a:lin ang="5400000" scaled="1"/>
          </a:gradFill>
          <a:ln w="12700" cap="flat" cmpd="sng" algn="ctr">
            <a:noFill/>
            <a:prstDash val="solid"/>
            <a:miter lim="800000"/>
          </a:ln>
          <a:effectLst/>
        </p:spPr>
        <p:txBody>
          <a:bodyPr wrap="square"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000" kern="0" noProof="0" dirty="0">
              <a:ln>
                <a:noFill/>
              </a:ln>
              <a:solidFill>
                <a:srgbClr val="383838"/>
              </a:solidFill>
              <a:effectLst/>
              <a:uLnTx/>
              <a:uFillTx/>
              <a:latin typeface="微软雅黑"/>
              <a:ea typeface="微软雅黑"/>
              <a:cs typeface="微软雅黑"/>
              <a:sym typeface="微软雅黑"/>
            </a:endParaRPr>
          </a:p>
        </p:txBody>
      </p:sp>
      <p:pic>
        <p:nvPicPr>
          <p:cNvPr id="207" name="图片 206" descr="数据2"/>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7936230" y="3067050"/>
            <a:ext cx="287020" cy="287020"/>
          </a:xfrm>
          <a:prstGeom prst="rect">
            <a:avLst/>
          </a:prstGeom>
        </p:spPr>
      </p:pic>
      <p:pic>
        <p:nvPicPr>
          <p:cNvPr id="208" name="图片 207" descr="流程 (3)"/>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a:off x="3954780" y="3067050"/>
            <a:ext cx="312420" cy="312420"/>
          </a:xfrm>
          <a:prstGeom prst="rect">
            <a:avLst/>
          </a:prstGeom>
        </p:spPr>
      </p:pic>
      <p:pic>
        <p:nvPicPr>
          <p:cNvPr id="209" name="图片 208" descr="资源"/>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3975100" y="4245610"/>
            <a:ext cx="271780" cy="271780"/>
          </a:xfrm>
          <a:prstGeom prst="rect">
            <a:avLst/>
          </a:prstGeom>
        </p:spPr>
      </p:pic>
      <p:pic>
        <p:nvPicPr>
          <p:cNvPr id="210" name="图片 209" descr="人员培训"/>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7945656" y="4239680"/>
            <a:ext cx="277495" cy="277495"/>
          </a:xfrm>
          <a:prstGeom prst="rect">
            <a:avLst/>
          </a:prstGeom>
        </p:spPr>
      </p:pic>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1"/>
          <p:cNvSpPr/>
          <p:nvPr/>
        </p:nvSpPr>
        <p:spPr>
          <a:xfrm>
            <a:off x="850900" y="1383665"/>
            <a:ext cx="10674350" cy="431546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6823" h="6292">
                <a:moveTo>
                  <a:pt x="0" y="3712"/>
                </a:moveTo>
                <a:cubicBezTo>
                  <a:pt x="-138" y="1833"/>
                  <a:pt x="3468" y="249"/>
                  <a:pt x="7105" y="44"/>
                </a:cubicBezTo>
                <a:lnTo>
                  <a:pt x="7318" y="31"/>
                </a:lnTo>
                <a:lnTo>
                  <a:pt x="7532" y="20"/>
                </a:lnTo>
                <a:lnTo>
                  <a:pt x="7748" y="11"/>
                </a:lnTo>
                <a:lnTo>
                  <a:pt x="7966" y="5"/>
                </a:lnTo>
                <a:lnTo>
                  <a:pt x="8185" y="1"/>
                </a:lnTo>
                <a:lnTo>
                  <a:pt x="8405" y="0"/>
                </a:lnTo>
                <a:lnTo>
                  <a:pt x="8625" y="1"/>
                </a:lnTo>
                <a:lnTo>
                  <a:pt x="8844" y="5"/>
                </a:lnTo>
                <a:lnTo>
                  <a:pt x="9062" y="11"/>
                </a:lnTo>
                <a:lnTo>
                  <a:pt x="9278" y="20"/>
                </a:lnTo>
                <a:lnTo>
                  <a:pt x="9492" y="31"/>
                </a:lnTo>
                <a:lnTo>
                  <a:pt x="9705" y="44"/>
                </a:lnTo>
                <a:cubicBezTo>
                  <a:pt x="13802" y="261"/>
                  <a:pt x="16914" y="2040"/>
                  <a:pt x="16810" y="3712"/>
                </a:cubicBezTo>
                <a:cubicBezTo>
                  <a:pt x="16913" y="4351"/>
                  <a:pt x="16136" y="5258"/>
                  <a:pt x="15733" y="5530"/>
                </a:cubicBezTo>
                <a:cubicBezTo>
                  <a:pt x="16007" y="5317"/>
                  <a:pt x="16295" y="4696"/>
                  <a:pt x="16241" y="4477"/>
                </a:cubicBezTo>
                <a:cubicBezTo>
                  <a:pt x="16375" y="2817"/>
                  <a:pt x="12388" y="1478"/>
                  <a:pt x="8485" y="1519"/>
                </a:cubicBezTo>
                <a:cubicBezTo>
                  <a:pt x="4132" y="1468"/>
                  <a:pt x="622" y="2988"/>
                  <a:pt x="729" y="4477"/>
                </a:cubicBezTo>
                <a:cubicBezTo>
                  <a:pt x="613" y="5148"/>
                  <a:pt x="1655" y="5981"/>
                  <a:pt x="2362" y="6292"/>
                </a:cubicBezTo>
                <a:cubicBezTo>
                  <a:pt x="899" y="5692"/>
                  <a:pt x="-73" y="4529"/>
                  <a:pt x="0" y="3712"/>
                </a:cubicBezTo>
                <a:close/>
              </a:path>
            </a:pathLst>
          </a:custGeom>
          <a:solidFill>
            <a:srgbClr val="FFFFFF">
              <a:alpha val="40000"/>
            </a:srgbClr>
          </a:solidFill>
          <a:ln>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50" name="椭圆 49"/>
          <p:cNvSpPr/>
          <p:nvPr/>
        </p:nvSpPr>
        <p:spPr>
          <a:xfrm>
            <a:off x="850900" y="1383030"/>
            <a:ext cx="10674985" cy="5085080"/>
          </a:xfrm>
          <a:prstGeom prst="ellipse">
            <a:avLst/>
          </a:prstGeom>
          <a:gradFill flip="none" rotWithShape="1">
            <a:gsLst>
              <a:gs pos="100000">
                <a:srgbClr val="FFFFFF"/>
              </a:gs>
              <a:gs pos="67000">
                <a:srgbClr val="FFFFFF">
                  <a:alpha val="0"/>
                </a:srgbClr>
              </a:gs>
            </a:gsLst>
            <a:lin ang="18000000" scaled="1"/>
          </a:gradFill>
          <a:ln>
            <a:solidFill>
              <a:srgbClr val="B3D4FE"/>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中心发散架构 |</a:t>
            </a:r>
            <a:r>
              <a:rPr lang="zh-CN" altLang="en-US" sz="2500" dirty="0">
                <a:solidFill>
                  <a:srgbClr val="0042FF"/>
                </a:solidFill>
                <a:effectLst/>
                <a:latin typeface="微软雅黑"/>
                <a:ea typeface="微软雅黑"/>
                <a:cs typeface="微软雅黑"/>
              </a:rPr>
              <a:t> </a:t>
            </a:r>
            <a:r>
              <a:rPr lang="en-US" altLang="zh-CN" sz="2500" dirty="0">
                <a:solidFill>
                  <a:srgbClr val="383838"/>
                </a:solidFill>
                <a:effectLst/>
                <a:latin typeface="微软雅黑"/>
                <a:ea typeface="微软雅黑"/>
                <a:cs typeface="微软雅黑"/>
              </a:rPr>
              <a:t>AI</a:t>
            </a:r>
            <a:r>
              <a:rPr sz="2500" dirty="0">
                <a:solidFill>
                  <a:srgbClr val="383838"/>
                </a:solidFill>
                <a:effectLst/>
                <a:latin typeface="微软雅黑"/>
                <a:ea typeface="微软雅黑"/>
                <a:cs typeface="微软雅黑"/>
              </a:rPr>
              <a:t>眼镜场景应用全景图</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 name="任意多边形 3"/>
          <p:cNvSpPr/>
          <p:nvPr/>
        </p:nvSpPr>
        <p:spPr>
          <a:xfrm>
            <a:off x="1317625" y="2419350"/>
            <a:ext cx="9850120" cy="4057015"/>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5524" h="5919">
                <a:moveTo>
                  <a:pt x="0" y="2958"/>
                </a:moveTo>
                <a:cubicBezTo>
                  <a:pt x="-134" y="1298"/>
                  <a:pt x="3853" y="-41"/>
                  <a:pt x="7756" y="0"/>
                </a:cubicBezTo>
                <a:cubicBezTo>
                  <a:pt x="12109" y="-51"/>
                  <a:pt x="15619" y="1469"/>
                  <a:pt x="15512" y="2958"/>
                </a:cubicBezTo>
                <a:cubicBezTo>
                  <a:pt x="15646" y="4617"/>
                  <a:pt x="11659" y="5956"/>
                  <a:pt x="7756" y="5915"/>
                </a:cubicBezTo>
                <a:cubicBezTo>
                  <a:pt x="6851" y="5943"/>
                  <a:pt x="5237" y="5769"/>
                  <a:pt x="5039" y="5728"/>
                </a:cubicBezTo>
                <a:cubicBezTo>
                  <a:pt x="5785" y="5840"/>
                  <a:pt x="7081" y="5903"/>
                  <a:pt x="7703" y="5895"/>
                </a:cubicBezTo>
                <a:cubicBezTo>
                  <a:pt x="11506" y="5931"/>
                  <a:pt x="14572" y="4864"/>
                  <a:pt x="14479" y="3819"/>
                </a:cubicBezTo>
                <a:cubicBezTo>
                  <a:pt x="14596" y="2653"/>
                  <a:pt x="11113" y="1713"/>
                  <a:pt x="7703" y="1742"/>
                </a:cubicBezTo>
                <a:cubicBezTo>
                  <a:pt x="3899" y="1706"/>
                  <a:pt x="833" y="2773"/>
                  <a:pt x="926" y="3819"/>
                </a:cubicBezTo>
                <a:cubicBezTo>
                  <a:pt x="846" y="4218"/>
                  <a:pt x="1533" y="4738"/>
                  <a:pt x="1983" y="4932"/>
                </a:cubicBezTo>
                <a:cubicBezTo>
                  <a:pt x="865" y="4525"/>
                  <a:pt x="-110" y="3563"/>
                  <a:pt x="0" y="2958"/>
                </a:cubicBezTo>
                <a:close/>
              </a:path>
            </a:pathLst>
          </a:custGeom>
          <a:gradFill flip="none" rotWithShape="1">
            <a:gsLst>
              <a:gs pos="100000">
                <a:srgbClr val="E6E6E6"/>
              </a:gs>
              <a:gs pos="20000">
                <a:srgbClr val="E6E6E6">
                  <a:alpha val="0"/>
                </a:srgbClr>
              </a:gs>
            </a:gsLst>
            <a:lin ang="18000000" scaled="1"/>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 name="任意多边形 5"/>
          <p:cNvSpPr/>
          <p:nvPr/>
        </p:nvSpPr>
        <p:spPr>
          <a:xfrm>
            <a:off x="1901825" y="3620135"/>
            <a:ext cx="8606155" cy="284861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3559" h="4155">
                <a:moveTo>
                  <a:pt x="0" y="2077"/>
                </a:moveTo>
                <a:cubicBezTo>
                  <a:pt x="-117" y="911"/>
                  <a:pt x="3366" y="-29"/>
                  <a:pt x="6777" y="0"/>
                </a:cubicBezTo>
                <a:cubicBezTo>
                  <a:pt x="10580" y="-36"/>
                  <a:pt x="13646" y="1031"/>
                  <a:pt x="13553" y="2077"/>
                </a:cubicBezTo>
                <a:cubicBezTo>
                  <a:pt x="13670" y="3242"/>
                  <a:pt x="10187" y="4182"/>
                  <a:pt x="6777" y="4153"/>
                </a:cubicBezTo>
                <a:cubicBezTo>
                  <a:pt x="2973" y="4189"/>
                  <a:pt x="-93" y="3122"/>
                  <a:pt x="0" y="2077"/>
                </a:cubicBezTo>
                <a:close/>
                <a:moveTo>
                  <a:pt x="1408" y="2852"/>
                </a:moveTo>
                <a:cubicBezTo>
                  <a:pt x="1316" y="2132"/>
                  <a:pt x="4067" y="1551"/>
                  <a:pt x="6761" y="1569"/>
                </a:cubicBezTo>
                <a:cubicBezTo>
                  <a:pt x="9765" y="1547"/>
                  <a:pt x="12188" y="2206"/>
                  <a:pt x="12114" y="2852"/>
                </a:cubicBezTo>
                <a:cubicBezTo>
                  <a:pt x="12206" y="3571"/>
                  <a:pt x="9455" y="4152"/>
                  <a:pt x="6761" y="4134"/>
                </a:cubicBezTo>
                <a:cubicBezTo>
                  <a:pt x="3757" y="4156"/>
                  <a:pt x="1334" y="3497"/>
                  <a:pt x="1408" y="2852"/>
                </a:cubicBezTo>
                <a:close/>
              </a:path>
            </a:pathLst>
          </a:custGeom>
          <a:solidFill>
            <a:srgbClr val="668EFF">
              <a:alpha val="50000"/>
            </a:srgbClr>
          </a:solidFill>
          <a:ln>
            <a:noFill/>
          </a:ln>
          <a:effectLst/>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7" name="椭圆 6"/>
          <p:cNvSpPr/>
          <p:nvPr/>
        </p:nvSpPr>
        <p:spPr>
          <a:xfrm>
            <a:off x="2795905" y="4696460"/>
            <a:ext cx="6798310" cy="1759585"/>
          </a:xfrm>
          <a:prstGeom prst="ellipse">
            <a:avLst/>
          </a:prstGeom>
          <a:solidFill>
            <a:srgbClr val="E6E6E6">
              <a:alpha val="50000"/>
            </a:srgbClr>
          </a:solidFill>
          <a:ln>
            <a:solidFill>
              <a:srgbClr val="0042FF">
                <a:alpha val="50000"/>
              </a:srgbClr>
            </a:solidFill>
            <a:prstDash val="sysDash"/>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 name="椭圆 7"/>
          <p:cNvSpPr/>
          <p:nvPr/>
        </p:nvSpPr>
        <p:spPr>
          <a:xfrm>
            <a:off x="3570605" y="5278755"/>
            <a:ext cx="5204460" cy="981075"/>
          </a:xfrm>
          <a:prstGeom prst="ellipse">
            <a:avLst/>
          </a:prstGeom>
          <a:solidFill>
            <a:srgbClr val="FFFFFF"/>
          </a:solidFill>
          <a:ln>
            <a:solidFill>
              <a:srgbClr val="0042FF"/>
            </a:solidFill>
            <a:prstDash val="sysDash"/>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 name="椭圆 8"/>
          <p:cNvSpPr/>
          <p:nvPr/>
        </p:nvSpPr>
        <p:spPr>
          <a:xfrm>
            <a:off x="1250950" y="2855595"/>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11" name="椭圆 10"/>
          <p:cNvSpPr/>
          <p:nvPr/>
        </p:nvSpPr>
        <p:spPr>
          <a:xfrm>
            <a:off x="2298700" y="2313940"/>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a:cs typeface="微软雅黑"/>
              <a:sym typeface="微软雅黑"/>
              <a:latin typeface="微软雅黑"/>
              <a:ea typeface="微软雅黑"/>
            </a:endParaRPr>
          </a:p>
        </p:txBody>
      </p:sp>
      <p:sp>
        <p:nvSpPr>
          <p:cNvPr id="12" name="椭圆 11"/>
          <p:cNvSpPr/>
          <p:nvPr/>
        </p:nvSpPr>
        <p:spPr>
          <a:xfrm>
            <a:off x="3517900" y="1950085"/>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a:cs typeface="微软雅黑"/>
              <a:sym typeface="微软雅黑"/>
              <a:latin typeface="微软雅黑"/>
              <a:ea typeface="微软雅黑"/>
            </a:endParaRPr>
          </a:p>
        </p:txBody>
      </p:sp>
      <p:sp>
        <p:nvSpPr>
          <p:cNvPr id="13" name="椭圆 12"/>
          <p:cNvSpPr/>
          <p:nvPr/>
        </p:nvSpPr>
        <p:spPr>
          <a:xfrm>
            <a:off x="5038725" y="1812925"/>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a:cs typeface="微软雅黑"/>
              <a:sym typeface="微软雅黑"/>
              <a:latin typeface="微软雅黑"/>
              <a:ea typeface="微软雅黑"/>
            </a:endParaRPr>
          </a:p>
        </p:txBody>
      </p:sp>
      <p:sp>
        <p:nvSpPr>
          <p:cNvPr id="14" name="椭圆 13"/>
          <p:cNvSpPr/>
          <p:nvPr/>
        </p:nvSpPr>
        <p:spPr>
          <a:xfrm>
            <a:off x="6702425" y="1854200"/>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a:cs typeface="微软雅黑"/>
              <a:sym typeface="微软雅黑"/>
              <a:latin typeface="微软雅黑"/>
              <a:ea typeface="微软雅黑"/>
            </a:endParaRPr>
          </a:p>
        </p:txBody>
      </p:sp>
      <p:sp>
        <p:nvSpPr>
          <p:cNvPr id="15" name="椭圆 14"/>
          <p:cNvSpPr/>
          <p:nvPr/>
        </p:nvSpPr>
        <p:spPr>
          <a:xfrm>
            <a:off x="8016875" y="1950085"/>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a:cs typeface="微软雅黑"/>
              <a:sym typeface="微软雅黑"/>
              <a:latin typeface="微软雅黑"/>
              <a:ea typeface="微软雅黑"/>
            </a:endParaRPr>
          </a:p>
        </p:txBody>
      </p:sp>
      <p:sp>
        <p:nvSpPr>
          <p:cNvPr id="16" name="椭圆 15"/>
          <p:cNvSpPr/>
          <p:nvPr/>
        </p:nvSpPr>
        <p:spPr>
          <a:xfrm>
            <a:off x="9134475" y="2265680"/>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a:cs typeface="微软雅黑"/>
              <a:sym typeface="微软雅黑"/>
              <a:latin typeface="微软雅黑"/>
              <a:ea typeface="微软雅黑"/>
            </a:endParaRPr>
          </a:p>
        </p:txBody>
      </p:sp>
      <p:sp>
        <p:nvSpPr>
          <p:cNvPr id="17" name="椭圆 16"/>
          <p:cNvSpPr/>
          <p:nvPr/>
        </p:nvSpPr>
        <p:spPr>
          <a:xfrm>
            <a:off x="10112375" y="2745740"/>
            <a:ext cx="850900" cy="541655"/>
          </a:xfrm>
          <a:prstGeom prst="ellipse">
            <a:avLst/>
          </a:prstGeom>
          <a:gradFill>
            <a:gsLst>
              <a:gs pos="100000">
                <a:srgbClr val="B3D4FE"/>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a:cs typeface="微软雅黑"/>
              <a:sym typeface="微软雅黑"/>
              <a:latin typeface="微软雅黑"/>
              <a:ea typeface="微软雅黑"/>
            </a:endParaRPr>
          </a:p>
        </p:txBody>
      </p:sp>
      <p:sp>
        <p:nvSpPr>
          <p:cNvPr id="19" name="文本框 18"/>
          <p:cNvSpPr txBox="1"/>
          <p:nvPr/>
        </p:nvSpPr>
        <p:spPr>
          <a:xfrm rot="20460000">
            <a:off x="2117090" y="1590040"/>
            <a:ext cx="1352550" cy="306705"/>
          </a:xfrm>
          <a:prstGeom prst="rect">
            <a:avLst/>
          </a:prstGeom>
          <a:noFill/>
        </p:spPr>
        <p:txBody>
          <a:bodyPr wrap="square" rtlCol="0">
            <a:spAutoFit/>
          </a:bodyPr>
          <a:p>
            <a:pPr algn="ctr">
              <a:defRPr>
                <a:latin typeface="微软雅黑"/>
                <a:ea typeface="微软雅黑"/>
                <a:cs typeface="微软雅黑"/>
              </a:defRPr>
            </a:pPr>
            <a:r>
              <a:rPr lang="en-US" sz="1400" b="1">
                <a:solidFill>
                  <a:srgbClr val="383838"/>
                </a:solidFill>
                <a:latin typeface="微软雅黑"/>
                <a:ea typeface="微软雅黑"/>
                <a:cs typeface="微软雅黑"/>
              </a:rPr>
              <a:t>TO C</a:t>
            </a:r>
            <a:r>
              <a:rPr lang="zh-CN" altLang="en-US" sz="1400" b="1">
                <a:solidFill>
                  <a:srgbClr val="383838"/>
                </a:solidFill>
                <a:latin typeface="微软雅黑"/>
                <a:ea typeface="微软雅黑"/>
                <a:cs typeface="微软雅黑"/>
              </a:rPr>
              <a:t>场景覆盖</a:t>
            </a:r>
            <a:endParaRPr lang="zh-CN" altLang="en-US" sz="1400" b="1">
              <a:solidFill>
                <a:srgbClr val="383838"/>
              </a:solidFill>
              <a:latin typeface="微软雅黑"/>
              <a:ea typeface="微软雅黑"/>
              <a:cs typeface="微软雅黑"/>
            </a:endParaRPr>
          </a:p>
        </p:txBody>
      </p:sp>
      <p:sp>
        <p:nvSpPr>
          <p:cNvPr id="20" name="文本框 19"/>
          <p:cNvSpPr txBox="1"/>
          <p:nvPr/>
        </p:nvSpPr>
        <p:spPr>
          <a:xfrm rot="1020000">
            <a:off x="8617585" y="1520825"/>
            <a:ext cx="1352550" cy="306705"/>
          </a:xfrm>
          <a:prstGeom prst="rect">
            <a:avLst/>
          </a:prstGeom>
          <a:noFill/>
        </p:spPr>
        <p:txBody>
          <a:bodyPr wrap="square" rtlCol="0">
            <a:spAutoFit/>
          </a:bodyPr>
          <a:p>
            <a:pPr algn="ctr">
              <a:defRPr>
                <a:latin typeface="微软雅黑"/>
                <a:ea typeface="微软雅黑"/>
                <a:cs typeface="微软雅黑"/>
              </a:defRPr>
            </a:pPr>
            <a:r>
              <a:rPr lang="en-US" sz="1400" b="1">
                <a:solidFill>
                  <a:srgbClr val="383838"/>
                </a:solidFill>
                <a:latin typeface="微软雅黑"/>
                <a:ea typeface="微软雅黑"/>
                <a:cs typeface="微软雅黑"/>
              </a:rPr>
              <a:t>TO B</a:t>
            </a:r>
            <a:r>
              <a:rPr lang="zh-CN" altLang="en-US" sz="1400" b="1">
                <a:solidFill>
                  <a:srgbClr val="383838"/>
                </a:solidFill>
                <a:latin typeface="微软雅黑"/>
                <a:ea typeface="微软雅黑"/>
                <a:cs typeface="微软雅黑"/>
              </a:rPr>
              <a:t>场景覆盖</a:t>
            </a:r>
            <a:endParaRPr lang="zh-CN" altLang="en-US" sz="1400" b="1">
              <a:solidFill>
                <a:srgbClr val="383838"/>
              </a:solidFill>
              <a:latin typeface="微软雅黑"/>
              <a:ea typeface="微软雅黑"/>
              <a:cs typeface="微软雅黑"/>
            </a:endParaRPr>
          </a:p>
        </p:txBody>
      </p:sp>
      <p:sp>
        <p:nvSpPr>
          <p:cNvPr id="24" name="椭圆 23"/>
          <p:cNvSpPr/>
          <p:nvPr/>
        </p:nvSpPr>
        <p:spPr>
          <a:xfrm>
            <a:off x="3435350" y="3197860"/>
            <a:ext cx="850900" cy="541655"/>
          </a:xfrm>
          <a:prstGeom prst="ellipse">
            <a:avLst/>
          </a:prstGeom>
          <a:gradFill>
            <a:gsLst>
              <a:gs pos="100000">
                <a:srgbClr val="668EFF"/>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25" name="椭圆 24"/>
          <p:cNvSpPr/>
          <p:nvPr/>
        </p:nvSpPr>
        <p:spPr>
          <a:xfrm>
            <a:off x="2006600" y="3575050"/>
            <a:ext cx="850900" cy="541655"/>
          </a:xfrm>
          <a:prstGeom prst="ellipse">
            <a:avLst/>
          </a:prstGeom>
          <a:gradFill>
            <a:gsLst>
              <a:gs pos="100000">
                <a:srgbClr val="668EFF"/>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7" name="椭圆 26"/>
          <p:cNvSpPr/>
          <p:nvPr/>
        </p:nvSpPr>
        <p:spPr>
          <a:xfrm>
            <a:off x="9645650" y="3739515"/>
            <a:ext cx="850900" cy="541655"/>
          </a:xfrm>
          <a:prstGeom prst="ellipse">
            <a:avLst/>
          </a:prstGeom>
          <a:gradFill>
            <a:gsLst>
              <a:gs pos="100000">
                <a:srgbClr val="668EFF"/>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28" name="椭圆 27"/>
          <p:cNvSpPr/>
          <p:nvPr/>
        </p:nvSpPr>
        <p:spPr>
          <a:xfrm>
            <a:off x="8283575" y="3204210"/>
            <a:ext cx="850900" cy="541655"/>
          </a:xfrm>
          <a:prstGeom prst="ellipse">
            <a:avLst/>
          </a:prstGeom>
          <a:gradFill>
            <a:gsLst>
              <a:gs pos="100000">
                <a:srgbClr val="668EFF"/>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29" name="椭圆 28"/>
          <p:cNvSpPr/>
          <p:nvPr/>
        </p:nvSpPr>
        <p:spPr>
          <a:xfrm>
            <a:off x="4911725" y="2987040"/>
            <a:ext cx="1184910" cy="541655"/>
          </a:xfrm>
          <a:prstGeom prst="ellipse">
            <a:avLst/>
          </a:prstGeom>
          <a:gradFill>
            <a:gsLst>
              <a:gs pos="100000">
                <a:srgbClr val="668EFF"/>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0" name="椭圆 29"/>
          <p:cNvSpPr/>
          <p:nvPr/>
        </p:nvSpPr>
        <p:spPr>
          <a:xfrm>
            <a:off x="6587490" y="3011805"/>
            <a:ext cx="1184910" cy="541655"/>
          </a:xfrm>
          <a:prstGeom prst="ellipse">
            <a:avLst/>
          </a:prstGeom>
          <a:gradFill>
            <a:gsLst>
              <a:gs pos="100000">
                <a:srgbClr val="668EFF"/>
              </a:gs>
              <a:gs pos="0">
                <a:srgbClr val="3368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1" name="椭圆 30"/>
          <p:cNvSpPr/>
          <p:nvPr/>
        </p:nvSpPr>
        <p:spPr>
          <a:xfrm>
            <a:off x="3987800" y="4209415"/>
            <a:ext cx="850900" cy="541655"/>
          </a:xfrm>
          <a:prstGeom prst="ellipse">
            <a:avLst/>
          </a:prstGeom>
          <a:gradFill>
            <a:gsLst>
              <a:gs pos="100000">
                <a:srgbClr val="3368FF"/>
              </a:gs>
              <a:gs pos="0">
                <a:srgbClr val="0042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2" name="椭圆 31"/>
          <p:cNvSpPr/>
          <p:nvPr/>
        </p:nvSpPr>
        <p:spPr>
          <a:xfrm>
            <a:off x="5736590" y="4116705"/>
            <a:ext cx="850900" cy="541655"/>
          </a:xfrm>
          <a:prstGeom prst="ellipse">
            <a:avLst/>
          </a:prstGeom>
          <a:gradFill>
            <a:gsLst>
              <a:gs pos="100000">
                <a:srgbClr val="3368FF"/>
              </a:gs>
              <a:gs pos="0">
                <a:srgbClr val="0042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3" name="椭圆 32"/>
          <p:cNvSpPr/>
          <p:nvPr/>
        </p:nvSpPr>
        <p:spPr>
          <a:xfrm>
            <a:off x="7432675" y="4209415"/>
            <a:ext cx="850900" cy="541655"/>
          </a:xfrm>
          <a:prstGeom prst="ellipse">
            <a:avLst/>
          </a:prstGeom>
          <a:gradFill>
            <a:gsLst>
              <a:gs pos="100000">
                <a:srgbClr val="3368FF"/>
              </a:gs>
              <a:gs pos="0">
                <a:srgbClr val="0042FF"/>
              </a:gs>
            </a:gsLst>
            <a:lin ang="180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34" name="文本框 33"/>
          <p:cNvSpPr txBox="1"/>
          <p:nvPr/>
        </p:nvSpPr>
        <p:spPr>
          <a:xfrm>
            <a:off x="5038725" y="5386705"/>
            <a:ext cx="2362835" cy="706755"/>
          </a:xfrm>
          <a:prstGeom prst="rect">
            <a:avLst/>
          </a:prstGeom>
          <a:noFill/>
        </p:spPr>
        <p:txBody>
          <a:bodyPr wrap="square" rtlCol="0">
            <a:spAutoFit/>
          </a:bodyPr>
          <a:p>
            <a:pPr algn="ctr">
              <a:defRPr>
                <a:latin typeface="微软雅黑"/>
                <a:ea typeface="微软雅黑"/>
                <a:cs typeface="微软雅黑"/>
              </a:defRPr>
            </a:pPr>
            <a:r>
              <a:rPr lang="en-US" altLang="zh-CN" sz="2000" b="1">
                <a:solidFill>
                  <a:srgbClr val="0042FF"/>
                </a:solidFill>
                <a:latin typeface="微软雅黑"/>
                <a:ea typeface="微软雅黑"/>
                <a:cs typeface="微软雅黑"/>
              </a:rPr>
              <a:t>AI</a:t>
            </a:r>
            <a:r>
              <a:rPr lang="zh-CN" altLang="en-US" sz="2000" b="1">
                <a:solidFill>
                  <a:srgbClr val="0042FF"/>
                </a:solidFill>
                <a:latin typeface="微软雅黑"/>
                <a:ea typeface="微软雅黑"/>
                <a:cs typeface="微软雅黑"/>
              </a:rPr>
              <a:t>智能交互眼镜</a:t>
            </a:r>
            <a:endParaRPr lang="zh-CN" altLang="en-US" sz="2000"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2000" b="1">
                <a:solidFill>
                  <a:srgbClr val="0042FF"/>
                </a:solidFill>
                <a:latin typeface="微软雅黑"/>
                <a:ea typeface="微软雅黑"/>
                <a:cs typeface="微软雅黑"/>
              </a:rPr>
              <a:t>底层技术</a:t>
            </a:r>
            <a:endParaRPr lang="zh-CN" altLang="en-US" sz="2000" b="1">
              <a:solidFill>
                <a:srgbClr val="0042FF"/>
              </a:solidFill>
              <a:latin typeface="微软雅黑"/>
              <a:ea typeface="微软雅黑"/>
              <a:cs typeface="微软雅黑"/>
            </a:endParaRPr>
          </a:p>
        </p:txBody>
      </p:sp>
      <p:cxnSp>
        <p:nvCxnSpPr>
          <p:cNvPr id="35" name="直接连接符 34"/>
          <p:cNvCxnSpPr/>
          <p:nvPr/>
        </p:nvCxnSpPr>
        <p:spPr>
          <a:xfrm flipV="1">
            <a:off x="4521200" y="5942330"/>
            <a:ext cx="0" cy="198755"/>
          </a:xfrm>
          <a:prstGeom prst="line">
            <a:avLst/>
          </a:prstGeom>
          <a:ln>
            <a:solidFill>
              <a:srgbClr val="0042FF"/>
            </a:solidFill>
            <a:tailEnd type="oval"/>
          </a:ln>
        </p:spPr>
        <p:style>
          <a:lnRef idx="2">
            <a:srgbClr val="0042FF"/>
          </a:lnRef>
          <a:fillRef idx="0">
            <a:srgbClr val="FFFFFF"/>
          </a:fillRef>
          <a:effectRef idx="0">
            <a:srgbClr val="FFFFFF"/>
          </a:effectRef>
          <a:fontRef idx="minor">
            <a:srgbClr val="383838"/>
          </a:fontRef>
        </p:style>
      </p:cxnSp>
      <p:cxnSp>
        <p:nvCxnSpPr>
          <p:cNvPr id="36" name="直接连接符 35"/>
          <p:cNvCxnSpPr/>
          <p:nvPr/>
        </p:nvCxnSpPr>
        <p:spPr>
          <a:xfrm flipV="1">
            <a:off x="4975860" y="5187950"/>
            <a:ext cx="0" cy="198755"/>
          </a:xfrm>
          <a:prstGeom prst="line">
            <a:avLst/>
          </a:prstGeom>
          <a:ln>
            <a:solidFill>
              <a:srgbClr val="0042FF"/>
            </a:solidFill>
            <a:tailEnd type="oval"/>
          </a:ln>
        </p:spPr>
        <p:style>
          <a:lnRef idx="2">
            <a:srgbClr val="0042FF"/>
          </a:lnRef>
          <a:fillRef idx="0">
            <a:srgbClr val="FFFFFF"/>
          </a:fillRef>
          <a:effectRef idx="0">
            <a:srgbClr val="FFFFFF"/>
          </a:effectRef>
          <a:fontRef idx="minor">
            <a:srgbClr val="383838"/>
          </a:fontRef>
        </p:style>
      </p:cxnSp>
      <p:cxnSp>
        <p:nvCxnSpPr>
          <p:cNvPr id="37" name="直接连接符 36"/>
          <p:cNvCxnSpPr/>
          <p:nvPr/>
        </p:nvCxnSpPr>
        <p:spPr>
          <a:xfrm flipV="1">
            <a:off x="7282180" y="5156200"/>
            <a:ext cx="0" cy="198755"/>
          </a:xfrm>
          <a:prstGeom prst="line">
            <a:avLst/>
          </a:prstGeom>
          <a:ln>
            <a:solidFill>
              <a:srgbClr val="0042FF"/>
            </a:solidFill>
            <a:tailEnd type="oval"/>
          </a:ln>
        </p:spPr>
        <p:style>
          <a:lnRef idx="2">
            <a:srgbClr val="0042FF"/>
          </a:lnRef>
          <a:fillRef idx="0">
            <a:srgbClr val="FFFFFF"/>
          </a:fillRef>
          <a:effectRef idx="0">
            <a:srgbClr val="FFFFFF"/>
          </a:effectRef>
          <a:fontRef idx="minor">
            <a:srgbClr val="383838"/>
          </a:fontRef>
        </p:style>
      </p:cxnSp>
      <p:cxnSp>
        <p:nvCxnSpPr>
          <p:cNvPr id="38" name="直接连接符 37"/>
          <p:cNvCxnSpPr/>
          <p:nvPr/>
        </p:nvCxnSpPr>
        <p:spPr>
          <a:xfrm flipV="1">
            <a:off x="7858125" y="5942330"/>
            <a:ext cx="0" cy="198755"/>
          </a:xfrm>
          <a:prstGeom prst="line">
            <a:avLst/>
          </a:prstGeom>
          <a:ln>
            <a:solidFill>
              <a:srgbClr val="0042FF"/>
            </a:solidFill>
            <a:tailEnd type="oval"/>
          </a:ln>
        </p:spPr>
        <p:style>
          <a:lnRef idx="2">
            <a:srgbClr val="0042FF"/>
          </a:lnRef>
          <a:fillRef idx="0">
            <a:srgbClr val="FFFFFF"/>
          </a:fillRef>
          <a:effectRef idx="0">
            <a:srgbClr val="FFFFFF"/>
          </a:effectRef>
          <a:fontRef idx="minor">
            <a:srgbClr val="383838"/>
          </a:fontRef>
        </p:style>
      </p:cxnSp>
      <p:sp>
        <p:nvSpPr>
          <p:cNvPr id="39" name="文本框 38"/>
          <p:cNvSpPr txBox="1"/>
          <p:nvPr/>
        </p:nvSpPr>
        <p:spPr>
          <a:xfrm rot="1680000">
            <a:off x="997585" y="5466080"/>
            <a:ext cx="1352550" cy="521970"/>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latin typeface="微软雅黑"/>
                <a:ea typeface="微软雅黑"/>
                <a:cs typeface="微软雅黑"/>
              </a:rPr>
              <a:t>从垂类场景到全场景覆盖</a:t>
            </a:r>
            <a:endParaRPr lang="zh-CN" sz="1400" b="1">
              <a:solidFill>
                <a:srgbClr val="383838"/>
              </a:solidFill>
              <a:latin typeface="微软雅黑"/>
              <a:ea typeface="微软雅黑"/>
              <a:cs typeface="微软雅黑"/>
            </a:endParaRPr>
          </a:p>
        </p:txBody>
      </p:sp>
      <p:sp>
        <p:nvSpPr>
          <p:cNvPr id="40" name="文本框 39"/>
          <p:cNvSpPr txBox="1"/>
          <p:nvPr/>
        </p:nvSpPr>
        <p:spPr>
          <a:xfrm rot="19860000">
            <a:off x="10180320" y="5370195"/>
            <a:ext cx="1210310" cy="521970"/>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latin typeface="微软雅黑"/>
                <a:ea typeface="微软雅黑"/>
                <a:cs typeface="微软雅黑"/>
              </a:rPr>
              <a:t>场景运用逐步深化</a:t>
            </a:r>
            <a:endParaRPr lang="zh-CN" sz="1400" b="1">
              <a:solidFill>
                <a:srgbClr val="383838"/>
              </a:solidFill>
              <a:latin typeface="微软雅黑"/>
              <a:ea typeface="微软雅黑"/>
              <a:cs typeface="微软雅黑"/>
            </a:endParaRPr>
          </a:p>
        </p:txBody>
      </p:sp>
      <p:sp>
        <p:nvSpPr>
          <p:cNvPr id="41" name="文本框 40"/>
          <p:cNvSpPr txBox="1"/>
          <p:nvPr/>
        </p:nvSpPr>
        <p:spPr>
          <a:xfrm>
            <a:off x="7662545" y="5631180"/>
            <a:ext cx="479425" cy="306705"/>
          </a:xfrm>
          <a:prstGeom prst="rect">
            <a:avLst/>
          </a:prstGeom>
          <a:noFill/>
        </p:spPr>
        <p:txBody>
          <a:bodyPr wrap="square" rtlCol="0">
            <a:spAutoFit/>
          </a:bodyPr>
          <a:p>
            <a:pPr>
              <a:defRPr>
                <a:latin typeface="微软雅黑"/>
                <a:ea typeface="微软雅黑"/>
                <a:cs typeface="微软雅黑"/>
              </a:defRPr>
            </a:pPr>
            <a:r>
              <a:rPr lang="en-US" sz="1400">
                <a:solidFill>
                  <a:srgbClr val="0042FF"/>
                </a:solidFill>
                <a:latin typeface="微软雅黑"/>
                <a:ea typeface="微软雅黑"/>
                <a:cs typeface="微软雅黑"/>
              </a:rPr>
              <a:t>5G</a:t>
            </a:r>
            <a:endParaRPr lang="en-US" sz="1400">
              <a:solidFill>
                <a:srgbClr val="0042FF"/>
              </a:solidFill>
              <a:latin typeface="微软雅黑"/>
              <a:ea typeface="微软雅黑"/>
              <a:cs typeface="微软雅黑"/>
            </a:endParaRPr>
          </a:p>
        </p:txBody>
      </p:sp>
      <p:sp>
        <p:nvSpPr>
          <p:cNvPr id="42" name="文本框 41"/>
          <p:cNvSpPr txBox="1"/>
          <p:nvPr/>
        </p:nvSpPr>
        <p:spPr>
          <a:xfrm>
            <a:off x="6906895" y="4837430"/>
            <a:ext cx="81343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0042FF"/>
                </a:solidFill>
                <a:latin typeface="微软雅黑"/>
                <a:ea typeface="微软雅黑"/>
                <a:cs typeface="微软雅黑"/>
              </a:rPr>
              <a:t>云计算</a:t>
            </a:r>
            <a:endParaRPr lang="zh-CN" altLang="en-US" sz="1400">
              <a:solidFill>
                <a:srgbClr val="0042FF"/>
              </a:solidFill>
              <a:latin typeface="微软雅黑"/>
              <a:ea typeface="微软雅黑"/>
              <a:cs typeface="微软雅黑"/>
            </a:endParaRPr>
          </a:p>
        </p:txBody>
      </p:sp>
      <p:sp>
        <p:nvSpPr>
          <p:cNvPr id="43" name="文本框 42"/>
          <p:cNvSpPr txBox="1"/>
          <p:nvPr/>
        </p:nvSpPr>
        <p:spPr>
          <a:xfrm>
            <a:off x="4518660" y="4878070"/>
            <a:ext cx="94932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0042FF"/>
                </a:solidFill>
                <a:latin typeface="微软雅黑"/>
                <a:ea typeface="微软雅黑"/>
                <a:cs typeface="微软雅黑"/>
              </a:rPr>
              <a:t>感知计算</a:t>
            </a:r>
            <a:endParaRPr lang="zh-CN" altLang="en-US" sz="1400">
              <a:solidFill>
                <a:srgbClr val="0042FF"/>
              </a:solidFill>
              <a:latin typeface="微软雅黑"/>
              <a:ea typeface="微软雅黑"/>
              <a:cs typeface="微软雅黑"/>
            </a:endParaRPr>
          </a:p>
        </p:txBody>
      </p:sp>
      <p:sp>
        <p:nvSpPr>
          <p:cNvPr id="44" name="文本框 43"/>
          <p:cNvSpPr txBox="1"/>
          <p:nvPr/>
        </p:nvSpPr>
        <p:spPr>
          <a:xfrm>
            <a:off x="4137660" y="5629275"/>
            <a:ext cx="94932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0042FF"/>
                </a:solidFill>
                <a:latin typeface="微软雅黑"/>
                <a:ea typeface="微软雅黑"/>
                <a:cs typeface="微软雅黑"/>
              </a:rPr>
              <a:t>光学模块</a:t>
            </a:r>
            <a:endParaRPr lang="zh-CN" altLang="en-US" sz="1400">
              <a:solidFill>
                <a:srgbClr val="0042FF"/>
              </a:solidFill>
              <a:latin typeface="微软雅黑"/>
              <a:ea typeface="微软雅黑"/>
              <a:cs typeface="微软雅黑"/>
            </a:endParaRPr>
          </a:p>
        </p:txBody>
      </p:sp>
      <p:sp>
        <p:nvSpPr>
          <p:cNvPr id="51" name="文本框 50"/>
          <p:cNvSpPr txBox="1"/>
          <p:nvPr/>
        </p:nvSpPr>
        <p:spPr>
          <a:xfrm>
            <a:off x="1348105" y="2945130"/>
            <a:ext cx="656590" cy="337185"/>
          </a:xfrm>
          <a:prstGeom prst="rect">
            <a:avLst/>
          </a:prstGeom>
          <a:noFill/>
        </p:spPr>
        <p:txBody>
          <a:bodyPr wrap="square" rtlCol="0">
            <a:spAutoFi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学习</a:t>
            </a:r>
            <a:endParaRPr lang="zh-CN" altLang="en-US" sz="1600">
              <a:solidFill>
                <a:srgbClr val="383838"/>
              </a:solidFill>
              <a:latin typeface="微软雅黑"/>
              <a:ea typeface="微软雅黑"/>
              <a:cs typeface="微软雅黑"/>
            </a:endParaRPr>
          </a:p>
        </p:txBody>
      </p:sp>
      <p:sp>
        <p:nvSpPr>
          <p:cNvPr id="52" name="文本框 51"/>
          <p:cNvSpPr txBox="1"/>
          <p:nvPr/>
        </p:nvSpPr>
        <p:spPr>
          <a:xfrm>
            <a:off x="2393315" y="2395855"/>
            <a:ext cx="656590" cy="337185"/>
          </a:xfrm>
          <a:prstGeom prst="rect">
            <a:avLst/>
          </a:prstGeom>
          <a:noFill/>
        </p:spPr>
        <p:txBody>
          <a:bodyPr wrap="square" rtlCol="0">
            <a:spAutoFi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工作</a:t>
            </a:r>
            <a:endParaRPr lang="zh-CN" altLang="en-US" sz="1600">
              <a:solidFill>
                <a:srgbClr val="383838"/>
              </a:solidFill>
              <a:latin typeface="微软雅黑"/>
              <a:ea typeface="微软雅黑"/>
              <a:cs typeface="微软雅黑"/>
            </a:endParaRPr>
          </a:p>
        </p:txBody>
      </p:sp>
      <p:sp>
        <p:nvSpPr>
          <p:cNvPr id="53" name="文本框 52"/>
          <p:cNvSpPr txBox="1"/>
          <p:nvPr/>
        </p:nvSpPr>
        <p:spPr>
          <a:xfrm>
            <a:off x="3629660" y="1955800"/>
            <a:ext cx="656590" cy="521970"/>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日常工作</a:t>
            </a:r>
            <a:endParaRPr lang="zh-CN" altLang="en-US" sz="1400">
              <a:solidFill>
                <a:srgbClr val="383838"/>
              </a:solidFill>
              <a:latin typeface="微软雅黑"/>
              <a:ea typeface="微软雅黑"/>
              <a:cs typeface="微软雅黑"/>
            </a:endParaRPr>
          </a:p>
        </p:txBody>
      </p:sp>
      <p:sp>
        <p:nvSpPr>
          <p:cNvPr id="54" name="文本框 53"/>
          <p:cNvSpPr txBox="1"/>
          <p:nvPr/>
        </p:nvSpPr>
        <p:spPr>
          <a:xfrm>
            <a:off x="5135880" y="1901825"/>
            <a:ext cx="656590" cy="337185"/>
          </a:xfrm>
          <a:prstGeom prst="rect">
            <a:avLst/>
          </a:prstGeom>
          <a:noFill/>
        </p:spPr>
        <p:txBody>
          <a:bodyPr wrap="square" rtlCol="0">
            <a:spAutoFi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户外</a:t>
            </a:r>
            <a:endParaRPr lang="zh-CN" altLang="en-US" sz="1600">
              <a:solidFill>
                <a:srgbClr val="383838"/>
              </a:solidFill>
              <a:latin typeface="微软雅黑"/>
              <a:ea typeface="微软雅黑"/>
              <a:cs typeface="微软雅黑"/>
            </a:endParaRPr>
          </a:p>
        </p:txBody>
      </p:sp>
      <p:sp>
        <p:nvSpPr>
          <p:cNvPr id="55" name="文本框 54"/>
          <p:cNvSpPr txBox="1"/>
          <p:nvPr/>
        </p:nvSpPr>
        <p:spPr>
          <a:xfrm>
            <a:off x="6703060" y="1955800"/>
            <a:ext cx="884555" cy="337185"/>
          </a:xfrm>
          <a:prstGeom prst="rect">
            <a:avLst/>
          </a:prstGeom>
          <a:noFill/>
        </p:spPr>
        <p:txBody>
          <a:bodyPr wrap="square" rtlCol="0">
            <a:spAutoFi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融媒体</a:t>
            </a:r>
            <a:endParaRPr lang="zh-CN" altLang="en-US" sz="1600">
              <a:solidFill>
                <a:srgbClr val="383838"/>
              </a:solidFill>
              <a:latin typeface="微软雅黑"/>
              <a:ea typeface="微软雅黑"/>
              <a:cs typeface="微软雅黑"/>
            </a:endParaRPr>
          </a:p>
        </p:txBody>
      </p:sp>
      <p:sp>
        <p:nvSpPr>
          <p:cNvPr id="56" name="文本框 55"/>
          <p:cNvSpPr txBox="1"/>
          <p:nvPr/>
        </p:nvSpPr>
        <p:spPr>
          <a:xfrm>
            <a:off x="8114030" y="2039620"/>
            <a:ext cx="656590" cy="337185"/>
          </a:xfrm>
          <a:prstGeom prst="rect">
            <a:avLst/>
          </a:prstGeom>
          <a:noFill/>
        </p:spPr>
        <p:txBody>
          <a:bodyPr wrap="square" rtlCol="0">
            <a:spAutoFi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工业</a:t>
            </a:r>
            <a:endParaRPr lang="zh-CN" altLang="en-US" sz="1600">
              <a:solidFill>
                <a:srgbClr val="383838"/>
              </a:solidFill>
              <a:latin typeface="微软雅黑"/>
              <a:ea typeface="微软雅黑"/>
              <a:cs typeface="微软雅黑"/>
            </a:endParaRPr>
          </a:p>
        </p:txBody>
      </p:sp>
      <p:sp>
        <p:nvSpPr>
          <p:cNvPr id="57" name="文本框 56"/>
          <p:cNvSpPr txBox="1"/>
          <p:nvPr/>
        </p:nvSpPr>
        <p:spPr>
          <a:xfrm>
            <a:off x="9231630" y="2355215"/>
            <a:ext cx="656590" cy="337185"/>
          </a:xfrm>
          <a:prstGeom prst="rect">
            <a:avLst/>
          </a:prstGeom>
          <a:noFill/>
        </p:spPr>
        <p:txBody>
          <a:bodyPr wrap="square" rtlCol="0">
            <a:spAutoFi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医疗</a:t>
            </a:r>
            <a:endParaRPr lang="zh-CN" altLang="en-US" sz="1600">
              <a:solidFill>
                <a:srgbClr val="383838"/>
              </a:solidFill>
              <a:latin typeface="微软雅黑"/>
              <a:ea typeface="微软雅黑"/>
              <a:cs typeface="微软雅黑"/>
            </a:endParaRPr>
          </a:p>
        </p:txBody>
      </p:sp>
      <p:sp>
        <p:nvSpPr>
          <p:cNvPr id="58" name="文本框 57"/>
          <p:cNvSpPr txBox="1"/>
          <p:nvPr/>
        </p:nvSpPr>
        <p:spPr>
          <a:xfrm>
            <a:off x="10209530" y="2834005"/>
            <a:ext cx="656590" cy="337185"/>
          </a:xfrm>
          <a:prstGeom prst="rect">
            <a:avLst/>
          </a:prstGeom>
          <a:noFill/>
        </p:spPr>
        <p:txBody>
          <a:bodyPr wrap="square" rtlCol="0">
            <a:spAutoFi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安防</a:t>
            </a:r>
            <a:endParaRPr lang="zh-CN" altLang="en-US" sz="1600">
              <a:solidFill>
                <a:srgbClr val="383838"/>
              </a:solidFill>
              <a:latin typeface="微软雅黑"/>
              <a:ea typeface="微软雅黑"/>
              <a:cs typeface="微软雅黑"/>
            </a:endParaRPr>
          </a:p>
        </p:txBody>
      </p:sp>
      <p:sp>
        <p:nvSpPr>
          <p:cNvPr id="59" name="文本框 58"/>
          <p:cNvSpPr txBox="1"/>
          <p:nvPr/>
        </p:nvSpPr>
        <p:spPr>
          <a:xfrm>
            <a:off x="2094865" y="3566795"/>
            <a:ext cx="65659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旅游讲解</a:t>
            </a:r>
            <a:endParaRPr lang="zh-CN" altLang="en-US" sz="1400">
              <a:solidFill>
                <a:srgbClr val="FFFFFF"/>
              </a:solidFill>
              <a:latin typeface="微软雅黑"/>
              <a:ea typeface="微软雅黑"/>
              <a:cs typeface="微软雅黑"/>
            </a:endParaRPr>
          </a:p>
        </p:txBody>
      </p:sp>
      <p:sp>
        <p:nvSpPr>
          <p:cNvPr id="60" name="文本框 59"/>
          <p:cNvSpPr txBox="1"/>
          <p:nvPr/>
        </p:nvSpPr>
        <p:spPr>
          <a:xfrm>
            <a:off x="3517900" y="3288030"/>
            <a:ext cx="720090"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露营</a:t>
            </a:r>
            <a:endParaRPr lang="zh-CN" altLang="en-US" sz="1600">
              <a:solidFill>
                <a:srgbClr val="FFFFFF"/>
              </a:solidFill>
              <a:latin typeface="微软雅黑"/>
              <a:ea typeface="微软雅黑"/>
              <a:cs typeface="微软雅黑"/>
            </a:endParaRPr>
          </a:p>
        </p:txBody>
      </p:sp>
      <p:sp>
        <p:nvSpPr>
          <p:cNvPr id="61" name="文本框 60"/>
          <p:cNvSpPr txBox="1"/>
          <p:nvPr/>
        </p:nvSpPr>
        <p:spPr>
          <a:xfrm>
            <a:off x="5083175" y="3009900"/>
            <a:ext cx="91059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美食打卡评价</a:t>
            </a:r>
            <a:endParaRPr lang="zh-CN" altLang="en-US" sz="1400">
              <a:solidFill>
                <a:srgbClr val="FFFFFF"/>
              </a:solidFill>
              <a:latin typeface="微软雅黑"/>
              <a:ea typeface="微软雅黑"/>
              <a:cs typeface="微软雅黑"/>
            </a:endParaRPr>
          </a:p>
        </p:txBody>
      </p:sp>
      <p:sp>
        <p:nvSpPr>
          <p:cNvPr id="62" name="文本框 61"/>
          <p:cNvSpPr txBox="1"/>
          <p:nvPr/>
        </p:nvSpPr>
        <p:spPr>
          <a:xfrm>
            <a:off x="6753860" y="3016885"/>
            <a:ext cx="91059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景点打卡评价</a:t>
            </a:r>
            <a:endParaRPr lang="zh-CN" altLang="en-US" sz="1400">
              <a:solidFill>
                <a:srgbClr val="FFFFFF"/>
              </a:solidFill>
              <a:latin typeface="微软雅黑"/>
              <a:ea typeface="微软雅黑"/>
              <a:cs typeface="微软雅黑"/>
            </a:endParaRPr>
          </a:p>
        </p:txBody>
      </p:sp>
      <p:sp>
        <p:nvSpPr>
          <p:cNvPr id="63" name="文本框 62"/>
          <p:cNvSpPr txBox="1"/>
          <p:nvPr/>
        </p:nvSpPr>
        <p:spPr>
          <a:xfrm>
            <a:off x="8198485" y="3308985"/>
            <a:ext cx="98933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altLang="zh-CN" sz="1400">
                <a:solidFill>
                  <a:srgbClr val="FFFFFF"/>
                </a:solidFill>
                <a:latin typeface="微软雅黑"/>
                <a:ea typeface="微软雅黑"/>
                <a:cs typeface="微软雅黑"/>
              </a:rPr>
              <a:t>Citywalk</a:t>
            </a:r>
            <a:endParaRPr lang="en-US" altLang="zh-CN" sz="1400">
              <a:solidFill>
                <a:srgbClr val="FFFFFF"/>
              </a:solidFill>
              <a:latin typeface="微软雅黑"/>
              <a:ea typeface="微软雅黑"/>
              <a:cs typeface="微软雅黑"/>
            </a:endParaRPr>
          </a:p>
        </p:txBody>
      </p:sp>
      <p:sp>
        <p:nvSpPr>
          <p:cNvPr id="64" name="文本框 63"/>
          <p:cNvSpPr txBox="1"/>
          <p:nvPr/>
        </p:nvSpPr>
        <p:spPr>
          <a:xfrm>
            <a:off x="9711055" y="3823335"/>
            <a:ext cx="720090"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通勤</a:t>
            </a:r>
            <a:endParaRPr lang="zh-CN" altLang="en-US" sz="1600">
              <a:solidFill>
                <a:srgbClr val="FFFFFF"/>
              </a:solidFill>
              <a:latin typeface="微软雅黑"/>
              <a:ea typeface="微软雅黑"/>
              <a:cs typeface="微软雅黑"/>
            </a:endParaRPr>
          </a:p>
        </p:txBody>
      </p:sp>
      <p:sp>
        <p:nvSpPr>
          <p:cNvPr id="65" name="文本框 64"/>
          <p:cNvSpPr txBox="1"/>
          <p:nvPr/>
        </p:nvSpPr>
        <p:spPr>
          <a:xfrm>
            <a:off x="4053205" y="4294505"/>
            <a:ext cx="720090"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骑行</a:t>
            </a:r>
            <a:endParaRPr lang="zh-CN" altLang="en-US" sz="1600">
              <a:solidFill>
                <a:srgbClr val="FFFFFF"/>
              </a:solidFill>
              <a:latin typeface="微软雅黑"/>
              <a:ea typeface="微软雅黑"/>
              <a:cs typeface="微软雅黑"/>
            </a:endParaRPr>
          </a:p>
        </p:txBody>
      </p:sp>
      <p:sp>
        <p:nvSpPr>
          <p:cNvPr id="66" name="文本框 65"/>
          <p:cNvSpPr txBox="1"/>
          <p:nvPr/>
        </p:nvSpPr>
        <p:spPr>
          <a:xfrm>
            <a:off x="5829300" y="4201160"/>
            <a:ext cx="720090"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跑步</a:t>
            </a:r>
            <a:endParaRPr lang="zh-CN" altLang="en-US" sz="1600">
              <a:solidFill>
                <a:srgbClr val="FFFFFF"/>
              </a:solidFill>
              <a:latin typeface="微软雅黑"/>
              <a:ea typeface="微软雅黑"/>
              <a:cs typeface="微软雅黑"/>
            </a:endParaRPr>
          </a:p>
        </p:txBody>
      </p:sp>
      <p:sp>
        <p:nvSpPr>
          <p:cNvPr id="67" name="文本框 66"/>
          <p:cNvSpPr txBox="1"/>
          <p:nvPr/>
        </p:nvSpPr>
        <p:spPr>
          <a:xfrm>
            <a:off x="7478395" y="4294505"/>
            <a:ext cx="720090"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徒步</a:t>
            </a:r>
            <a:endParaRPr lang="zh-CN" altLang="en-US" sz="1600">
              <a:solidFill>
                <a:srgbClr val="FFFFFF"/>
              </a:solidFill>
              <a:latin typeface="微软雅黑"/>
              <a:ea typeface="微软雅黑"/>
              <a:cs typeface="微软雅黑"/>
            </a:endParaRPr>
          </a:p>
        </p:txBody>
      </p:sp>
      <p:sp>
        <p:nvSpPr>
          <p:cNvPr id="68" name="椭圆 67"/>
          <p:cNvSpPr/>
          <p:nvPr/>
        </p:nvSpPr>
        <p:spPr>
          <a:xfrm>
            <a:off x="1313180" y="2425700"/>
            <a:ext cx="9851390" cy="4030345"/>
          </a:xfrm>
          <a:prstGeom prst="ellipse">
            <a:avLst/>
          </a:prstGeom>
          <a:noFill/>
          <a:ln>
            <a:solidFill>
              <a:srgbClr val="668EFF"/>
            </a:solidFill>
            <a:prstDash val="sysDash"/>
          </a:ln>
          <a:effectLst/>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 name="椭圆 68"/>
          <p:cNvSpPr/>
          <p:nvPr/>
        </p:nvSpPr>
        <p:spPr>
          <a:xfrm>
            <a:off x="1902460" y="3620135"/>
            <a:ext cx="8604885" cy="2835275"/>
          </a:xfrm>
          <a:prstGeom prst="ellipse">
            <a:avLst/>
          </a:prstGeom>
          <a:noFill/>
          <a:ln>
            <a:solidFill>
              <a:srgbClr val="3368FF"/>
            </a:solidFill>
            <a:prstDash val="sysDash"/>
          </a:ln>
          <a:effectLst/>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0" name="上箭头 69"/>
          <p:cNvSpPr/>
          <p:nvPr/>
        </p:nvSpPr>
        <p:spPr>
          <a:xfrm rot="3360000" flipH="1">
            <a:off x="10027285" y="3492500"/>
            <a:ext cx="338455" cy="2561590"/>
          </a:xfrm>
          <a:prstGeom prst="upArrow">
            <a:avLst/>
          </a:prstGeom>
          <a:gradFill>
            <a:gsLst>
              <a:gs pos="100000">
                <a:srgbClr val="3368FF"/>
              </a:gs>
              <a:gs pos="0">
                <a:srgbClr val="3368FF">
                  <a:alpha val="0"/>
                </a:srgbClr>
              </a:gs>
            </a:gsLst>
            <a:lin ang="1620000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00" name="上箭头 99"/>
          <p:cNvSpPr/>
          <p:nvPr/>
        </p:nvSpPr>
        <p:spPr>
          <a:xfrm rot="18360000">
            <a:off x="1913255" y="3381375"/>
            <a:ext cx="338455" cy="2561590"/>
          </a:xfrm>
          <a:prstGeom prst="upArrow">
            <a:avLst/>
          </a:prstGeom>
          <a:gradFill>
            <a:gsLst>
              <a:gs pos="100000">
                <a:srgbClr val="3368FF"/>
              </a:gs>
              <a:gs pos="0">
                <a:srgbClr val="3368FF">
                  <a:alpha val="0"/>
                </a:srgbClr>
              </a:gs>
            </a:gsLst>
            <a:lin ang="1620000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nvGrpSpPr>
          <p:cNvPr id="3" name="组合 2"/>
          <p:cNvGrpSpPr/>
          <p:nvPr/>
        </p:nvGrpSpPr>
        <p:grpSpPr>
          <a:xfrm>
            <a:off x="8738235" y="348615"/>
            <a:ext cx="3219450" cy="332740"/>
            <a:chOff x="13761" y="549"/>
            <a:chExt cx="5070" cy="524"/>
          </a:xfrm>
        </p:grpSpPr>
        <p:pic>
          <p:nvPicPr>
            <p:cNvPr id="21" name="图片 20"/>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22" name="文本框 2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48" name="©天蝎PPT28"/>
          <p:cNvSpPr txBox="1"/>
          <p:nvPr>
            <p:custDataLst>
              <p:tags r:id="rId4"/>
            </p:custDataLst>
          </p:nvPr>
        </p:nvSpPr>
        <p:spPr>
          <a:xfrm>
            <a:off x="2298700" y="1600200"/>
            <a:ext cx="8198485" cy="3259455"/>
          </a:xfrm>
          <a:prstGeom prst="rect">
            <a:avLst/>
          </a:prstGeom>
          <a:noFill/>
        </p:spPr>
        <p:txBody>
          <a:bodyPr wrap="square" lIns="0" rIns="0" tIns="0" bIns="0">
            <a:prstTxWarp prst="textArchUp">
              <a:avLst/>
            </a:prstTxWarp>
            <a:noAutofit/>
          </a:bodyPr>
          <a:lstStyle>
            <a:defPPr>
              <a:defRPr lang="zh-CN">
                <a:latin typeface="微软雅黑"/>
                <a:ea typeface="微软雅黑"/>
                <a:cs typeface="微软雅黑"/>
              </a:defRPr>
            </a:defPPr>
            <a:lvl1pPr>
              <a:defRPr kumimoji="0" sz="1400" b="0" i="0" u="none" strike="noStrike" cap="none" spc="0" normalizeH="0" baseline="0">
                <a:ln>
                  <a:noFill/>
                </a:ln>
                <a:solidFill>
                  <a:srgbClr val="0042FF"/>
                </a:solidFill>
                <a:effectLst/>
                <a:uLnTx/>
                <a:uFillTx/>
                <a:latin typeface="微软雅黑"/>
                <a:ea typeface="微软雅黑"/>
                <a:cs typeface="微软雅黑"/>
              </a:defRPr>
            </a:lvl1pPr>
          </a:lstStyle>
          <a:p>
            <a:pPr algn="ctr">
              <a:defRPr>
                <a:latin typeface="微软雅黑"/>
                <a:ea typeface="微软雅黑"/>
                <a:cs typeface="微软雅黑"/>
              </a:defRPr>
            </a:pPr>
            <a:r>
              <a:rPr lang="zh-CN" sz="1800" dirty="0">
                <a:solidFill>
                  <a:srgbClr val="383838"/>
                </a:solidFill>
                <a:effectLst/>
                <a:latin typeface="微软雅黑"/>
                <a:ea typeface="微软雅黑"/>
                <a:cs typeface="微软雅黑"/>
                <a:sym typeface="微软雅黑"/>
              </a:rPr>
              <a:t>第三阶段：多场景通用的</a:t>
            </a:r>
            <a:r>
              <a:rPr lang="en-US" altLang="zh-CN" sz="1800" dirty="0">
                <a:solidFill>
                  <a:srgbClr val="383838"/>
                </a:solidFill>
                <a:effectLst/>
                <a:latin typeface="微软雅黑"/>
                <a:ea typeface="微软雅黑"/>
                <a:cs typeface="微软雅黑"/>
                <a:sym typeface="微软雅黑"/>
              </a:rPr>
              <a:t>AI</a:t>
            </a:r>
            <a:r>
              <a:rPr lang="zh-CN" altLang="en-US" sz="1800" dirty="0">
                <a:solidFill>
                  <a:srgbClr val="383838"/>
                </a:solidFill>
                <a:effectLst/>
                <a:latin typeface="微软雅黑"/>
                <a:ea typeface="微软雅黑"/>
                <a:cs typeface="微软雅黑"/>
                <a:sym typeface="微软雅黑"/>
              </a:rPr>
              <a:t>全能助手</a:t>
            </a:r>
            <a:endParaRPr lang="zh-CN" altLang="en-US" sz="1800" dirty="0">
              <a:solidFill>
                <a:srgbClr val="383838"/>
              </a:solidFill>
              <a:effectLst/>
              <a:latin typeface="微软雅黑"/>
              <a:ea typeface="微软雅黑"/>
              <a:cs typeface="微软雅黑"/>
              <a:sym typeface="微软雅黑"/>
            </a:endParaRPr>
          </a:p>
        </p:txBody>
      </p:sp>
      <p:sp>
        <p:nvSpPr>
          <p:cNvPr id="149" name="©天蝎PPT28"/>
          <p:cNvSpPr txBox="1"/>
          <p:nvPr>
            <p:custDataLst>
              <p:tags r:id="rId5"/>
            </p:custDataLst>
          </p:nvPr>
        </p:nvSpPr>
        <p:spPr>
          <a:xfrm>
            <a:off x="2235200" y="2715895"/>
            <a:ext cx="8065135" cy="3259455"/>
          </a:xfrm>
          <a:prstGeom prst="rect">
            <a:avLst/>
          </a:prstGeom>
          <a:noFill/>
        </p:spPr>
        <p:txBody>
          <a:bodyPr wrap="square" lIns="0" rIns="0" tIns="0" bIns="0">
            <a:prstTxWarp prst="textArchUp">
              <a:avLst/>
            </a:prstTxWarp>
            <a:noAutofit/>
          </a:bodyPr>
          <a:lstStyle>
            <a:defPPr>
              <a:defRPr lang="zh-CN">
                <a:latin typeface="微软雅黑"/>
                <a:ea typeface="微软雅黑"/>
                <a:cs typeface="微软雅黑"/>
              </a:defRPr>
            </a:defPPr>
            <a:lvl1pPr>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sz="1800" dirty="0">
                <a:solidFill>
                  <a:srgbClr val="383838"/>
                </a:solidFill>
                <a:effectLst/>
                <a:latin typeface="微软雅黑"/>
                <a:ea typeface="微软雅黑"/>
                <a:cs typeface="微软雅黑"/>
                <a:sym typeface="微软雅黑"/>
              </a:rPr>
              <a:t>第二阶段：覆盖户外重点垂类场景</a:t>
            </a:r>
            <a:endParaRPr lang="zh-CN" sz="1800" dirty="0">
              <a:solidFill>
                <a:srgbClr val="383838"/>
              </a:solidFill>
              <a:effectLst/>
              <a:latin typeface="微软雅黑"/>
              <a:ea typeface="微软雅黑"/>
              <a:cs typeface="微软雅黑"/>
              <a:sym typeface="微软雅黑"/>
            </a:endParaRPr>
          </a:p>
        </p:txBody>
      </p:sp>
      <p:sp>
        <p:nvSpPr>
          <p:cNvPr id="150" name="©天蝎PPT28"/>
          <p:cNvSpPr txBox="1"/>
          <p:nvPr>
            <p:custDataLst>
              <p:tags r:id="rId6"/>
            </p:custDataLst>
          </p:nvPr>
        </p:nvSpPr>
        <p:spPr>
          <a:xfrm>
            <a:off x="2518410" y="3874135"/>
            <a:ext cx="7171055" cy="3259455"/>
          </a:xfrm>
          <a:prstGeom prst="rect">
            <a:avLst/>
          </a:prstGeom>
          <a:noFill/>
        </p:spPr>
        <p:txBody>
          <a:bodyPr wrap="square" lIns="0" rIns="0" tIns="0" bIns="0">
            <a:prstTxWarp prst="textArchUp">
              <a:avLst/>
            </a:prstTxWarp>
            <a:noAutofit/>
          </a:bodyPr>
          <a:lstStyle>
            <a:defPPr>
              <a:defRPr lang="zh-CN">
                <a:latin typeface="微软雅黑"/>
                <a:ea typeface="微软雅黑"/>
                <a:cs typeface="微软雅黑"/>
              </a:defRPr>
            </a:defPPr>
            <a:lvl1pPr>
              <a:defRPr kumimoji="0" sz="1400" b="0" i="0" u="none" strike="noStrike" cap="none" spc="0" normalizeH="0" baseline="0">
                <a:ln>
                  <a:noFill/>
                </a:ln>
                <a:solidFill>
                  <a:srgbClr val="0042FF"/>
                </a:solidFill>
                <a:effectLst/>
                <a:uLnTx/>
                <a:uFillTx/>
                <a:latin typeface="微软雅黑"/>
                <a:ea typeface="微软雅黑"/>
                <a:cs typeface="微软雅黑"/>
              </a:defRPr>
            </a:lvl1pPr>
          </a:lstStyle>
          <a:p>
            <a:pPr algn="ctr">
              <a:defRPr>
                <a:latin typeface="微软雅黑"/>
                <a:ea typeface="微软雅黑"/>
                <a:cs typeface="微软雅黑"/>
              </a:defRPr>
            </a:pPr>
            <a:r>
              <a:rPr lang="zh-CN" sz="1800" dirty="0">
                <a:solidFill>
                  <a:srgbClr val="383838"/>
                </a:solidFill>
                <a:effectLst/>
                <a:latin typeface="微软雅黑"/>
                <a:ea typeface="微软雅黑"/>
                <a:cs typeface="微软雅黑"/>
                <a:sym typeface="微软雅黑"/>
              </a:rPr>
              <a:t>第一阶段：落地刚需场景</a:t>
            </a:r>
            <a:endParaRPr lang="zh-CN" sz="1800" dirty="0">
              <a:solidFill>
                <a:srgbClr val="383838"/>
              </a:solidFill>
              <a:effectLst/>
              <a:latin typeface="微软雅黑"/>
              <a:ea typeface="微软雅黑"/>
              <a:cs typeface="微软雅黑"/>
              <a:sym typeface="微软雅黑"/>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本框 11"/>
          <p:cNvSpPr txBox="1"/>
          <p:nvPr/>
        </p:nvSpPr>
        <p:spPr>
          <a:xfrm rot="1860000">
            <a:off x="5649595" y="2525395"/>
            <a:ext cx="2913380" cy="2913380"/>
          </a:xfrm>
          <a:prstGeom prst="rect">
            <a:avLst/>
          </a:prstGeom>
          <a:noFill/>
          <a:effectLst/>
        </p:spPr>
        <p:txBody>
          <a:bodyPr wrap="none" lIns="0" rIns="0" tIns="0" bIns="0">
            <a:prstTxWarp prst="textArchUp">
              <a:avLst/>
            </a:prstTxWarp>
            <a:spAutoFit/>
          </a:bodyPr>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normalizeH="0" baseline="0" noProof="0" dirty="0">
                <a:ln>
                  <a:noFill/>
                </a:ln>
                <a:solidFill>
                  <a:srgbClr val="0042FF"/>
                </a:solidFill>
                <a:effectLst/>
                <a:uLnTx/>
                <a:uFillTx/>
                <a:latin typeface="微软雅黑"/>
                <a:ea typeface="微软雅黑"/>
                <a:cs typeface="微软雅黑"/>
              </a:rPr>
              <a:t>物流运营</a:t>
            </a:r>
            <a:endParaRPr kumimoji="0" lang="zh-CN" altLang="en-US" sz="1600" b="1" i="0" u="none" strike="noStrike" kern="1200" cap="none" normalizeH="0" baseline="0" noProof="0" dirty="0">
              <a:ln>
                <a:noFill/>
              </a:ln>
              <a:solidFill>
                <a:srgbClr val="0042FF"/>
              </a:solidFill>
              <a:effectLst/>
              <a:uLnTx/>
              <a:uFillTx/>
              <a:latin typeface="微软雅黑"/>
              <a:ea typeface="微软雅黑"/>
              <a:cs typeface="微软雅黑"/>
            </a:endParaRPr>
          </a:p>
        </p:txBody>
      </p:sp>
      <p:sp>
        <p:nvSpPr>
          <p:cNvPr id="33" name="任意多边形 32"/>
          <p:cNvSpPr/>
          <p:nvPr/>
        </p:nvSpPr>
        <p:spPr bwMode="auto">
          <a:xfrm>
            <a:off x="1903730" y="1654810"/>
            <a:ext cx="8039986" cy="434213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2662" h="6838">
                <a:moveTo>
                  <a:pt x="0" y="59"/>
                </a:moveTo>
                <a:lnTo>
                  <a:pt x="4" y="59"/>
                </a:lnTo>
                <a:lnTo>
                  <a:pt x="290" y="38"/>
                </a:lnTo>
                <a:lnTo>
                  <a:pt x="579" y="21"/>
                </a:lnTo>
                <a:lnTo>
                  <a:pt x="869" y="10"/>
                </a:lnTo>
                <a:lnTo>
                  <a:pt x="1161" y="2"/>
                </a:lnTo>
                <a:lnTo>
                  <a:pt x="1455" y="0"/>
                </a:lnTo>
                <a:lnTo>
                  <a:pt x="1749" y="2"/>
                </a:lnTo>
                <a:lnTo>
                  <a:pt x="2041" y="10"/>
                </a:lnTo>
                <a:lnTo>
                  <a:pt x="2331" y="21"/>
                </a:lnTo>
                <a:lnTo>
                  <a:pt x="2619" y="38"/>
                </a:lnTo>
                <a:lnTo>
                  <a:pt x="2906" y="59"/>
                </a:lnTo>
                <a:lnTo>
                  <a:pt x="3189" y="84"/>
                </a:lnTo>
                <a:lnTo>
                  <a:pt x="3471" y="114"/>
                </a:lnTo>
                <a:lnTo>
                  <a:pt x="3750" y="149"/>
                </a:lnTo>
                <a:lnTo>
                  <a:pt x="4026" y="187"/>
                </a:lnTo>
                <a:lnTo>
                  <a:pt x="4300" y="230"/>
                </a:lnTo>
                <a:lnTo>
                  <a:pt x="4571" y="277"/>
                </a:lnTo>
                <a:lnTo>
                  <a:pt x="4840" y="329"/>
                </a:lnTo>
                <a:lnTo>
                  <a:pt x="5105" y="384"/>
                </a:lnTo>
                <a:lnTo>
                  <a:pt x="5368" y="443"/>
                </a:lnTo>
                <a:lnTo>
                  <a:pt x="5628" y="507"/>
                </a:lnTo>
                <a:lnTo>
                  <a:pt x="5884" y="574"/>
                </a:lnTo>
                <a:lnTo>
                  <a:pt x="6137" y="645"/>
                </a:lnTo>
                <a:lnTo>
                  <a:pt x="6387" y="720"/>
                </a:lnTo>
                <a:lnTo>
                  <a:pt x="6633" y="799"/>
                </a:lnTo>
                <a:lnTo>
                  <a:pt x="6876" y="882"/>
                </a:lnTo>
                <a:lnTo>
                  <a:pt x="7114" y="968"/>
                </a:lnTo>
                <a:lnTo>
                  <a:pt x="7350" y="1057"/>
                </a:lnTo>
                <a:lnTo>
                  <a:pt x="7581" y="1150"/>
                </a:lnTo>
                <a:lnTo>
                  <a:pt x="7809" y="1247"/>
                </a:lnTo>
                <a:lnTo>
                  <a:pt x="8033" y="1347"/>
                </a:lnTo>
                <a:lnTo>
                  <a:pt x="8252" y="1450"/>
                </a:lnTo>
                <a:lnTo>
                  <a:pt x="8468" y="1557"/>
                </a:lnTo>
                <a:lnTo>
                  <a:pt x="8679" y="1667"/>
                </a:lnTo>
                <a:lnTo>
                  <a:pt x="8886" y="1780"/>
                </a:lnTo>
                <a:lnTo>
                  <a:pt x="9089" y="1896"/>
                </a:lnTo>
                <a:lnTo>
                  <a:pt x="9287" y="2015"/>
                </a:lnTo>
                <a:lnTo>
                  <a:pt x="9480" y="2137"/>
                </a:lnTo>
                <a:lnTo>
                  <a:pt x="9668" y="2262"/>
                </a:lnTo>
                <a:lnTo>
                  <a:pt x="9852" y="2390"/>
                </a:lnTo>
                <a:lnTo>
                  <a:pt x="10031" y="2521"/>
                </a:lnTo>
                <a:lnTo>
                  <a:pt x="10205" y="2655"/>
                </a:lnTo>
                <a:lnTo>
                  <a:pt x="10373" y="2791"/>
                </a:lnTo>
                <a:lnTo>
                  <a:pt x="10537" y="2930"/>
                </a:lnTo>
                <a:lnTo>
                  <a:pt x="10695" y="3071"/>
                </a:lnTo>
                <a:lnTo>
                  <a:pt x="10754" y="3118"/>
                </a:lnTo>
                <a:lnTo>
                  <a:pt x="10811" y="3163"/>
                </a:lnTo>
                <a:cubicBezTo>
                  <a:pt x="11981" y="4073"/>
                  <a:pt x="12675" y="6163"/>
                  <a:pt x="12661" y="6659"/>
                </a:cubicBezTo>
                <a:lnTo>
                  <a:pt x="12661" y="6686"/>
                </a:lnTo>
                <a:lnTo>
                  <a:pt x="12661" y="6718"/>
                </a:lnTo>
                <a:lnTo>
                  <a:pt x="12661" y="6838"/>
                </a:lnTo>
                <a:lnTo>
                  <a:pt x="10755" y="6838"/>
                </a:lnTo>
                <a:lnTo>
                  <a:pt x="10757" y="6796"/>
                </a:lnTo>
                <a:lnTo>
                  <a:pt x="10729" y="6692"/>
                </a:lnTo>
                <a:lnTo>
                  <a:pt x="10687" y="6440"/>
                </a:lnTo>
                <a:lnTo>
                  <a:pt x="10603" y="6221"/>
                </a:lnTo>
                <a:lnTo>
                  <a:pt x="10360" y="5675"/>
                </a:lnTo>
                <a:lnTo>
                  <a:pt x="10087" y="5225"/>
                </a:lnTo>
                <a:lnTo>
                  <a:pt x="10099" y="5234"/>
                </a:lnTo>
                <a:cubicBezTo>
                  <a:pt x="9553" y="4496"/>
                  <a:pt x="8751" y="3601"/>
                  <a:pt x="8028" y="3148"/>
                </a:cubicBezTo>
                <a:lnTo>
                  <a:pt x="7899" y="3046"/>
                </a:lnTo>
                <a:lnTo>
                  <a:pt x="7710" y="2932"/>
                </a:lnTo>
                <a:lnTo>
                  <a:pt x="7500" y="2812"/>
                </a:lnTo>
                <a:lnTo>
                  <a:pt x="7245" y="2677"/>
                </a:lnTo>
                <a:lnTo>
                  <a:pt x="6996" y="2551"/>
                </a:lnTo>
                <a:lnTo>
                  <a:pt x="6750" y="2446"/>
                </a:lnTo>
                <a:lnTo>
                  <a:pt x="6510" y="2350"/>
                </a:lnTo>
                <a:lnTo>
                  <a:pt x="6360" y="2282"/>
                </a:lnTo>
                <a:lnTo>
                  <a:pt x="6177" y="2207"/>
                </a:lnTo>
                <a:lnTo>
                  <a:pt x="5977" y="2131"/>
                </a:lnTo>
                <a:lnTo>
                  <a:pt x="5773" y="2058"/>
                </a:lnTo>
                <a:lnTo>
                  <a:pt x="5567" y="1988"/>
                </a:lnTo>
                <a:lnTo>
                  <a:pt x="5358" y="1922"/>
                </a:lnTo>
                <a:lnTo>
                  <a:pt x="5146" y="1859"/>
                </a:lnTo>
                <a:lnTo>
                  <a:pt x="4931" y="1799"/>
                </a:lnTo>
                <a:lnTo>
                  <a:pt x="4714" y="1743"/>
                </a:lnTo>
                <a:lnTo>
                  <a:pt x="4494" y="1691"/>
                </a:lnTo>
                <a:lnTo>
                  <a:pt x="4271" y="1642"/>
                </a:lnTo>
                <a:lnTo>
                  <a:pt x="4047" y="1596"/>
                </a:lnTo>
                <a:lnTo>
                  <a:pt x="3819" y="1555"/>
                </a:lnTo>
                <a:lnTo>
                  <a:pt x="3590" y="1517"/>
                </a:lnTo>
                <a:lnTo>
                  <a:pt x="3358" y="1482"/>
                </a:lnTo>
                <a:lnTo>
                  <a:pt x="3125" y="1452"/>
                </a:lnTo>
                <a:lnTo>
                  <a:pt x="2889" y="1426"/>
                </a:lnTo>
                <a:lnTo>
                  <a:pt x="2651" y="1403"/>
                </a:lnTo>
                <a:lnTo>
                  <a:pt x="2412" y="1384"/>
                </a:lnTo>
                <a:lnTo>
                  <a:pt x="2170" y="1370"/>
                </a:lnTo>
                <a:lnTo>
                  <a:pt x="1927" y="1359"/>
                </a:lnTo>
                <a:lnTo>
                  <a:pt x="1683" y="1353"/>
                </a:lnTo>
                <a:lnTo>
                  <a:pt x="1436" y="1351"/>
                </a:lnTo>
                <a:lnTo>
                  <a:pt x="1190" y="1353"/>
                </a:lnTo>
                <a:lnTo>
                  <a:pt x="945" y="1359"/>
                </a:lnTo>
                <a:lnTo>
                  <a:pt x="702" y="1370"/>
                </a:lnTo>
                <a:lnTo>
                  <a:pt x="461" y="1384"/>
                </a:lnTo>
                <a:lnTo>
                  <a:pt x="221" y="1403"/>
                </a:lnTo>
                <a:lnTo>
                  <a:pt x="34" y="1421"/>
                </a:lnTo>
                <a:lnTo>
                  <a:pt x="34" y="1451"/>
                </a:lnTo>
                <a:lnTo>
                  <a:pt x="0" y="1451"/>
                </a:lnTo>
                <a:lnTo>
                  <a:pt x="0" y="59"/>
                </a:lnTo>
                <a:close/>
              </a:path>
            </a:pathLst>
          </a:custGeom>
          <a:gradFill flip="none" rotWithShape="1">
            <a:gsLst>
              <a:gs pos="100000">
                <a:srgbClr val="E6E6E6">
                  <a:alpha val="50000"/>
                </a:srgbClr>
              </a:gs>
              <a:gs pos="20000">
                <a:srgbClr val="E6E6E6">
                  <a:alpha val="0"/>
                </a:srgbClr>
              </a:gs>
            </a:gsLst>
            <a:lin ang="18000000" scaled="1"/>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0" name="任意多边形 39"/>
          <p:cNvSpPr/>
          <p:nvPr/>
        </p:nvSpPr>
        <p:spPr>
          <a:xfrm>
            <a:off x="1892935" y="4627245"/>
            <a:ext cx="2649220" cy="137668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4209" h="2127">
                <a:moveTo>
                  <a:pt x="0" y="17"/>
                </a:moveTo>
                <a:cubicBezTo>
                  <a:pt x="41" y="10"/>
                  <a:pt x="453" y="-6"/>
                  <a:pt x="440" y="0"/>
                </a:cubicBezTo>
                <a:cubicBezTo>
                  <a:pt x="2344" y="-43"/>
                  <a:pt x="3962" y="1037"/>
                  <a:pt x="4209" y="2126"/>
                </a:cubicBezTo>
                <a:lnTo>
                  <a:pt x="0" y="2126"/>
                </a:lnTo>
                <a:lnTo>
                  <a:pt x="0" y="17"/>
                </a:lnTo>
                <a:close/>
              </a:path>
            </a:pathLst>
          </a:custGeom>
          <a:gradFill flip="none" rotWithShape="1">
            <a:gsLst>
              <a:gs pos="100000">
                <a:srgbClr val="B3D4FE"/>
              </a:gs>
              <a:gs pos="20000">
                <a:srgbClr val="B3D4FE">
                  <a:alpha val="0"/>
                </a:srgbClr>
              </a:gs>
            </a:gsLst>
            <a:lin ang="18000000" scaled="1"/>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9" name="任意多边形 38"/>
          <p:cNvSpPr/>
          <p:nvPr/>
        </p:nvSpPr>
        <p:spPr>
          <a:xfrm>
            <a:off x="1903730" y="2520315"/>
            <a:ext cx="6833870" cy="3484245"/>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0762" h="5487">
                <a:moveTo>
                  <a:pt x="0" y="70"/>
                </a:moveTo>
                <a:lnTo>
                  <a:pt x="188" y="52"/>
                </a:lnTo>
                <a:lnTo>
                  <a:pt x="429" y="33"/>
                </a:lnTo>
                <a:lnTo>
                  <a:pt x="670" y="19"/>
                </a:lnTo>
                <a:lnTo>
                  <a:pt x="914" y="8"/>
                </a:lnTo>
                <a:lnTo>
                  <a:pt x="1160" y="2"/>
                </a:lnTo>
                <a:lnTo>
                  <a:pt x="1407" y="0"/>
                </a:lnTo>
                <a:lnTo>
                  <a:pt x="1655" y="2"/>
                </a:lnTo>
                <a:lnTo>
                  <a:pt x="1900" y="8"/>
                </a:lnTo>
                <a:lnTo>
                  <a:pt x="2144" y="19"/>
                </a:lnTo>
                <a:lnTo>
                  <a:pt x="2387" y="33"/>
                </a:lnTo>
                <a:lnTo>
                  <a:pt x="2627" y="52"/>
                </a:lnTo>
                <a:lnTo>
                  <a:pt x="2866" y="75"/>
                </a:lnTo>
                <a:lnTo>
                  <a:pt x="3103" y="101"/>
                </a:lnTo>
                <a:lnTo>
                  <a:pt x="3336" y="131"/>
                </a:lnTo>
                <a:lnTo>
                  <a:pt x="3569" y="166"/>
                </a:lnTo>
                <a:lnTo>
                  <a:pt x="3799" y="204"/>
                </a:lnTo>
                <a:lnTo>
                  <a:pt x="4028" y="245"/>
                </a:lnTo>
                <a:lnTo>
                  <a:pt x="4253" y="291"/>
                </a:lnTo>
                <a:lnTo>
                  <a:pt x="4477" y="340"/>
                </a:lnTo>
                <a:lnTo>
                  <a:pt x="4697" y="392"/>
                </a:lnTo>
                <a:lnTo>
                  <a:pt x="4915" y="448"/>
                </a:lnTo>
                <a:lnTo>
                  <a:pt x="5131" y="508"/>
                </a:lnTo>
                <a:lnTo>
                  <a:pt x="5344" y="571"/>
                </a:lnTo>
                <a:lnTo>
                  <a:pt x="5554" y="637"/>
                </a:lnTo>
                <a:lnTo>
                  <a:pt x="5760" y="707"/>
                </a:lnTo>
                <a:lnTo>
                  <a:pt x="5965" y="780"/>
                </a:lnTo>
                <a:lnTo>
                  <a:pt x="6166" y="856"/>
                </a:lnTo>
                <a:lnTo>
                  <a:pt x="6257" y="893"/>
                </a:lnTo>
                <a:lnTo>
                  <a:pt x="6263" y="903"/>
                </a:lnTo>
                <a:lnTo>
                  <a:pt x="6548" y="1023"/>
                </a:lnTo>
                <a:lnTo>
                  <a:pt x="6914" y="1170"/>
                </a:lnTo>
                <a:lnTo>
                  <a:pt x="7066" y="1243"/>
                </a:lnTo>
                <a:lnTo>
                  <a:pt x="7202" y="1320"/>
                </a:lnTo>
                <a:lnTo>
                  <a:pt x="7416" y="1425"/>
                </a:lnTo>
                <a:lnTo>
                  <a:pt x="7633" y="1558"/>
                </a:lnTo>
                <a:lnTo>
                  <a:pt x="7877" y="1691"/>
                </a:lnTo>
                <a:lnTo>
                  <a:pt x="8012" y="1782"/>
                </a:lnTo>
                <a:lnTo>
                  <a:pt x="8165" y="1881"/>
                </a:lnTo>
                <a:lnTo>
                  <a:pt x="8173" y="1879"/>
                </a:lnTo>
                <a:cubicBezTo>
                  <a:pt x="8896" y="2278"/>
                  <a:pt x="9945" y="3632"/>
                  <a:pt x="10255" y="4159"/>
                </a:cubicBezTo>
                <a:lnTo>
                  <a:pt x="10417" y="4474"/>
                </a:lnTo>
                <a:lnTo>
                  <a:pt x="10489" y="4639"/>
                </a:lnTo>
                <a:lnTo>
                  <a:pt x="10615" y="4945"/>
                </a:lnTo>
                <a:lnTo>
                  <a:pt x="10687" y="5173"/>
                </a:lnTo>
                <a:lnTo>
                  <a:pt x="10742" y="5339"/>
                </a:lnTo>
                <a:lnTo>
                  <a:pt x="10742" y="5346"/>
                </a:lnTo>
                <a:lnTo>
                  <a:pt x="10740" y="5399"/>
                </a:lnTo>
                <a:lnTo>
                  <a:pt x="10738" y="5451"/>
                </a:lnTo>
                <a:lnTo>
                  <a:pt x="10759" y="5451"/>
                </a:lnTo>
                <a:lnTo>
                  <a:pt x="10762" y="5487"/>
                </a:lnTo>
                <a:lnTo>
                  <a:pt x="0" y="5487"/>
                </a:lnTo>
                <a:lnTo>
                  <a:pt x="0" y="5485"/>
                </a:lnTo>
                <a:lnTo>
                  <a:pt x="4171" y="5485"/>
                </a:lnTo>
                <a:cubicBezTo>
                  <a:pt x="4162" y="4372"/>
                  <a:pt x="1838" y="3281"/>
                  <a:pt x="784" y="3313"/>
                </a:cubicBezTo>
                <a:lnTo>
                  <a:pt x="727" y="3314"/>
                </a:lnTo>
                <a:lnTo>
                  <a:pt x="663" y="3315"/>
                </a:lnTo>
                <a:lnTo>
                  <a:pt x="591" y="3316"/>
                </a:lnTo>
                <a:lnTo>
                  <a:pt x="511" y="3317"/>
                </a:lnTo>
                <a:lnTo>
                  <a:pt x="421" y="3318"/>
                </a:lnTo>
                <a:lnTo>
                  <a:pt x="420" y="3318"/>
                </a:lnTo>
                <a:cubicBezTo>
                  <a:pt x="419" y="3317"/>
                  <a:pt x="400" y="3317"/>
                  <a:pt x="399" y="3317"/>
                </a:cubicBezTo>
                <a:lnTo>
                  <a:pt x="399" y="3317"/>
                </a:lnTo>
                <a:lnTo>
                  <a:pt x="398" y="3317"/>
                </a:lnTo>
                <a:cubicBezTo>
                  <a:pt x="322" y="3317"/>
                  <a:pt x="9" y="3330"/>
                  <a:pt x="0" y="3333"/>
                </a:cubicBezTo>
                <a:lnTo>
                  <a:pt x="0" y="70"/>
                </a:lnTo>
                <a:close/>
              </a:path>
            </a:pathLst>
          </a:custGeom>
          <a:gradFill flip="none" rotWithShape="1">
            <a:gsLst>
              <a:gs pos="100000">
                <a:srgbClr val="3368FF"/>
              </a:gs>
              <a:gs pos="20000">
                <a:srgbClr val="E6E6E6">
                  <a:alpha val="0"/>
                </a:srgbClr>
              </a:gs>
            </a:gsLst>
            <a:lin ang="18000000" scaled="1"/>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中心发散架构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电商数字化产业链发展</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7" name="矩形 26"/>
          <p:cNvSpPr/>
          <p:nvPr/>
        </p:nvSpPr>
        <p:spPr>
          <a:xfrm>
            <a:off x="1977390" y="3077845"/>
            <a:ext cx="1585595" cy="317500"/>
          </a:xfrm>
          <a:prstGeom prst="rect">
            <a:avLst/>
          </a:prstGeom>
          <a:solidFill>
            <a:srgbClr val="FFFFFF"/>
          </a:solidFill>
          <a:ln w="19050">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0042FF"/>
                </a:solidFill>
                <a:cs typeface="微软雅黑"/>
                <a:sym typeface="微软雅黑"/>
                <a:latin typeface="微软雅黑"/>
                <a:ea typeface="微软雅黑"/>
              </a:rPr>
              <a:t>电商后市场服务</a:t>
            </a:r>
            <a:endParaRPr lang="zh-CN" altLang="en-US" sz="1400" b="1">
              <a:solidFill>
                <a:srgbClr val="0042FF"/>
              </a:solidFill>
              <a:cs typeface="微软雅黑"/>
              <a:sym typeface="微软雅黑"/>
              <a:latin typeface="微软雅黑"/>
              <a:ea typeface="微软雅黑"/>
            </a:endParaRPr>
          </a:p>
        </p:txBody>
      </p:sp>
      <p:sp>
        <p:nvSpPr>
          <p:cNvPr id="55" name="文本框 54"/>
          <p:cNvSpPr txBox="1"/>
          <p:nvPr/>
        </p:nvSpPr>
        <p:spPr>
          <a:xfrm>
            <a:off x="671830" y="1294130"/>
            <a:ext cx="1102995" cy="368300"/>
          </a:xfrm>
          <a:prstGeom prst="rect">
            <a:avLst/>
          </a:prstGeom>
          <a:noFill/>
        </p:spPr>
        <p:txBody>
          <a:bodyPr wrap="square" rtlCol="0" lIns="0" rIns="0" tIns="0" bIns="0">
            <a:spAutoFit/>
          </a:bodyPr>
          <a:p>
            <a:pPr>
              <a:defRPr>
                <a:latin typeface="微软雅黑"/>
                <a:ea typeface="微软雅黑"/>
                <a:cs typeface="微软雅黑"/>
              </a:defRPr>
            </a:pPr>
            <a:r>
              <a:rPr lang="zh-CN" altLang="en-US" b="1">
                <a:solidFill>
                  <a:srgbClr val="383838"/>
                </a:solidFill>
                <a:latin typeface="微软雅黑"/>
                <a:ea typeface="微软雅黑"/>
                <a:cs typeface="微软雅黑"/>
              </a:rPr>
              <a:t>需求拉动</a:t>
            </a:r>
            <a:endParaRPr lang="zh-CN" altLang="en-US" b="1">
              <a:solidFill>
                <a:srgbClr val="383838"/>
              </a:solidFill>
              <a:latin typeface="微软雅黑"/>
              <a:ea typeface="微软雅黑"/>
              <a:cs typeface="微软雅黑"/>
            </a:endParaRPr>
          </a:p>
        </p:txBody>
      </p:sp>
      <p:sp>
        <p:nvSpPr>
          <p:cNvPr id="56" name="文本框 55"/>
          <p:cNvSpPr txBox="1"/>
          <p:nvPr/>
        </p:nvSpPr>
        <p:spPr>
          <a:xfrm>
            <a:off x="822960" y="1859280"/>
            <a:ext cx="1007110" cy="64516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电商平台化</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供应链数字化整合</a:t>
            </a:r>
            <a:endParaRPr lang="zh-CN" altLang="en-US" sz="1200">
              <a:solidFill>
                <a:srgbClr val="383838"/>
              </a:solidFill>
              <a:latin typeface="微软雅黑"/>
              <a:ea typeface="微软雅黑"/>
              <a:cs typeface="微软雅黑"/>
            </a:endParaRPr>
          </a:p>
        </p:txBody>
      </p:sp>
      <p:sp>
        <p:nvSpPr>
          <p:cNvPr id="57" name="文本框 56"/>
          <p:cNvSpPr txBox="1"/>
          <p:nvPr/>
        </p:nvSpPr>
        <p:spPr>
          <a:xfrm>
            <a:off x="822960" y="3509010"/>
            <a:ext cx="1007110" cy="46037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高效客户全旅程服务</a:t>
            </a:r>
            <a:endParaRPr lang="zh-CN" altLang="en-US" sz="1200">
              <a:solidFill>
                <a:srgbClr val="383838"/>
              </a:solidFill>
              <a:latin typeface="微软雅黑"/>
              <a:ea typeface="微软雅黑"/>
              <a:cs typeface="微软雅黑"/>
            </a:endParaRPr>
          </a:p>
        </p:txBody>
      </p:sp>
      <p:sp>
        <p:nvSpPr>
          <p:cNvPr id="58" name="文本框 57"/>
          <p:cNvSpPr txBox="1"/>
          <p:nvPr/>
        </p:nvSpPr>
        <p:spPr>
          <a:xfrm>
            <a:off x="822960" y="5095240"/>
            <a:ext cx="1007110" cy="46037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注重个性化用户体验</a:t>
            </a:r>
            <a:endParaRPr lang="zh-CN" altLang="en-US" sz="1200">
              <a:solidFill>
                <a:srgbClr val="383838"/>
              </a:solidFill>
              <a:latin typeface="微软雅黑"/>
              <a:ea typeface="微软雅黑"/>
              <a:cs typeface="微软雅黑"/>
            </a:endParaRPr>
          </a:p>
        </p:txBody>
      </p:sp>
      <p:sp>
        <p:nvSpPr>
          <p:cNvPr id="60" name="文本框 59"/>
          <p:cNvSpPr txBox="1"/>
          <p:nvPr/>
        </p:nvSpPr>
        <p:spPr>
          <a:xfrm>
            <a:off x="5397500" y="6206967"/>
            <a:ext cx="224472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自动化集成</a:t>
            </a:r>
            <a:r>
              <a:rPr lang="en-US" altLang="zh-CN" sz="1200">
                <a:solidFill>
                  <a:srgbClr val="383838"/>
                </a:solidFill>
                <a:latin typeface="微软雅黑"/>
                <a:ea typeface="微软雅黑"/>
                <a:cs typeface="微软雅黑"/>
              </a:rPr>
              <a:t> + </a:t>
            </a:r>
            <a:r>
              <a:rPr lang="zh-CN" altLang="en-US" sz="1200">
                <a:solidFill>
                  <a:srgbClr val="383838"/>
                </a:solidFill>
                <a:latin typeface="微软雅黑"/>
                <a:ea typeface="微软雅黑"/>
                <a:cs typeface="微软雅黑"/>
              </a:rPr>
              <a:t>软硬件整合</a:t>
            </a:r>
            <a:endParaRPr lang="zh-CN" altLang="en-US" sz="1200">
              <a:solidFill>
                <a:srgbClr val="383838"/>
              </a:solidFill>
              <a:latin typeface="微软雅黑"/>
              <a:ea typeface="微软雅黑"/>
              <a:cs typeface="微软雅黑"/>
            </a:endParaRPr>
          </a:p>
        </p:txBody>
      </p:sp>
      <p:sp>
        <p:nvSpPr>
          <p:cNvPr id="61" name="文本框 60"/>
          <p:cNvSpPr txBox="1"/>
          <p:nvPr/>
        </p:nvSpPr>
        <p:spPr>
          <a:xfrm>
            <a:off x="8656955" y="6206967"/>
            <a:ext cx="143446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算法优化驱动</a:t>
            </a:r>
            <a:endParaRPr lang="zh-CN" altLang="en-US" sz="1200">
              <a:solidFill>
                <a:srgbClr val="383838"/>
              </a:solidFill>
              <a:latin typeface="微软雅黑"/>
              <a:ea typeface="微软雅黑"/>
              <a:cs typeface="微软雅黑"/>
            </a:endParaRPr>
          </a:p>
        </p:txBody>
      </p:sp>
      <p:sp>
        <p:nvSpPr>
          <p:cNvPr id="62" name="文本框 61"/>
          <p:cNvSpPr txBox="1"/>
          <p:nvPr/>
        </p:nvSpPr>
        <p:spPr>
          <a:xfrm>
            <a:off x="10339705" y="6176010"/>
            <a:ext cx="1102995" cy="368300"/>
          </a:xfrm>
          <a:prstGeom prst="rect">
            <a:avLst/>
          </a:prstGeom>
          <a:noFill/>
        </p:spPr>
        <p:txBody>
          <a:bodyPr wrap="square" rtlCol="0" lIns="0" rIns="0" tIns="0" bIns="0">
            <a:spAutoFit/>
          </a:bodyPr>
          <a:p>
            <a:pPr>
              <a:defRPr>
                <a:latin typeface="微软雅黑"/>
                <a:ea typeface="微软雅黑"/>
                <a:cs typeface="微软雅黑"/>
              </a:defRPr>
            </a:pPr>
            <a:r>
              <a:rPr lang="zh-CN" altLang="en-US" b="1">
                <a:solidFill>
                  <a:srgbClr val="383838"/>
                </a:solidFill>
                <a:latin typeface="微软雅黑"/>
                <a:ea typeface="微软雅黑"/>
                <a:cs typeface="微软雅黑"/>
              </a:rPr>
              <a:t>技术推动</a:t>
            </a:r>
            <a:endParaRPr lang="zh-CN" altLang="en-US" b="1">
              <a:solidFill>
                <a:srgbClr val="383838"/>
              </a:solidFill>
              <a:latin typeface="微软雅黑"/>
              <a:ea typeface="微软雅黑"/>
              <a:cs typeface="微软雅黑"/>
            </a:endParaRPr>
          </a:p>
        </p:txBody>
      </p:sp>
      <p:sp>
        <p:nvSpPr>
          <p:cNvPr id="64" name="文本框 63"/>
          <p:cNvSpPr txBox="1"/>
          <p:nvPr/>
        </p:nvSpPr>
        <p:spPr>
          <a:xfrm>
            <a:off x="2017395" y="5102225"/>
            <a:ext cx="1810385" cy="553085"/>
          </a:xfrm>
          <a:prstGeom prst="rect">
            <a:avLst/>
          </a:prstGeom>
          <a:noFill/>
        </p:spPr>
        <p:txBody>
          <a:bodyPr wrap="square" rtlCol="0" lIns="0" rIns="0" tIns="0" bIns="0">
            <a:spAutoFit/>
          </a:bodyPr>
          <a:p>
            <a:pPr marL="171450" indent="-171450">
              <a:buFont typeface="微软雅黑"/>
              <a:buChar cha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电商产业链销售高效硬件设备，支持物流和门店运营，</a:t>
            </a:r>
            <a:r>
              <a:rPr lang="zh-CN" altLang="en-US" sz="1000" b="1">
                <a:solidFill>
                  <a:srgbClr val="383838"/>
                </a:solidFill>
                <a:latin typeface="微软雅黑"/>
                <a:ea typeface="微软雅黑"/>
                <a:cs typeface="微软雅黑"/>
              </a:rPr>
              <a:t>具备高</a:t>
            </a:r>
            <a:r>
              <a:rPr lang="en-US" altLang="zh-CN" sz="1000" b="1">
                <a:solidFill>
                  <a:srgbClr val="383838"/>
                </a:solidFill>
                <a:latin typeface="微软雅黑"/>
                <a:ea typeface="微软雅黑"/>
                <a:cs typeface="微软雅黑"/>
              </a:rPr>
              <a:t>ROI</a:t>
            </a:r>
            <a:r>
              <a:rPr lang="zh-CN" altLang="en-US" sz="1000" b="1">
                <a:solidFill>
                  <a:srgbClr val="383838"/>
                </a:solidFill>
                <a:latin typeface="微软雅黑"/>
                <a:ea typeface="微软雅黑"/>
                <a:cs typeface="微软雅黑"/>
              </a:rPr>
              <a:t>优势。</a:t>
            </a:r>
            <a:endParaRPr lang="zh-CN" altLang="en-US" sz="1000" b="1">
              <a:solidFill>
                <a:srgbClr val="383838"/>
              </a:solidFill>
              <a:latin typeface="微软雅黑"/>
              <a:ea typeface="微软雅黑"/>
              <a:cs typeface="微软雅黑"/>
            </a:endParaRPr>
          </a:p>
        </p:txBody>
      </p:sp>
      <p:sp>
        <p:nvSpPr>
          <p:cNvPr id="94" name="文本框 93"/>
          <p:cNvSpPr txBox="1"/>
          <p:nvPr/>
        </p:nvSpPr>
        <p:spPr>
          <a:xfrm>
            <a:off x="1977390" y="3462655"/>
            <a:ext cx="1856740" cy="553085"/>
          </a:xfrm>
          <a:prstGeom prst="rect">
            <a:avLst/>
          </a:prstGeom>
          <a:noFill/>
        </p:spPr>
        <p:txBody>
          <a:bodyPr wrap="square" rtlCol="0" lIns="0" rIns="0" tIns="0" bIns="0">
            <a:spAutoFit/>
          </a:bodyPr>
          <a:p>
            <a:pPr marL="71755" indent="-71755" algn="l" fontAlgn="auto">
              <a:buFont typeface="微软雅黑"/>
              <a:buChar cha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涵盖交易完成后的增值服务，如退货、保修和金融支持，以降低用户使用门槛。</a:t>
            </a:r>
            <a:endParaRPr lang="zh-CN" altLang="en-US" sz="1000">
              <a:solidFill>
                <a:srgbClr val="383838"/>
              </a:solidFill>
              <a:latin typeface="微软雅黑"/>
              <a:ea typeface="微软雅黑"/>
              <a:cs typeface="微软雅黑"/>
            </a:endParaRPr>
          </a:p>
        </p:txBody>
      </p:sp>
      <p:sp>
        <p:nvSpPr>
          <p:cNvPr id="96" name="矩形 95"/>
          <p:cNvSpPr/>
          <p:nvPr/>
        </p:nvSpPr>
        <p:spPr>
          <a:xfrm>
            <a:off x="4179570" y="3302000"/>
            <a:ext cx="1789430" cy="317500"/>
          </a:xfrm>
          <a:prstGeom prst="rect">
            <a:avLst/>
          </a:prstGeom>
          <a:solidFill>
            <a:srgbClr val="FFFFFF"/>
          </a:solidFill>
          <a:ln w="19050">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0042FF"/>
                </a:solidFill>
                <a:cs typeface="微软雅黑"/>
                <a:sym typeface="微软雅黑"/>
                <a:latin typeface="微软雅黑"/>
                <a:ea typeface="微软雅黑"/>
              </a:rPr>
              <a:t>基于先进技术的服务</a:t>
            </a:r>
            <a:endParaRPr lang="zh-CN" altLang="en-US" sz="1400" b="1">
              <a:solidFill>
                <a:srgbClr val="0042FF"/>
              </a:solidFill>
              <a:cs typeface="微软雅黑"/>
              <a:sym typeface="微软雅黑"/>
              <a:latin typeface="微软雅黑"/>
              <a:ea typeface="微软雅黑"/>
            </a:endParaRPr>
          </a:p>
        </p:txBody>
      </p:sp>
      <p:sp>
        <p:nvSpPr>
          <p:cNvPr id="97" name="文本框 96"/>
          <p:cNvSpPr txBox="1"/>
          <p:nvPr/>
        </p:nvSpPr>
        <p:spPr>
          <a:xfrm>
            <a:off x="4179570" y="3667760"/>
            <a:ext cx="2315845" cy="1322070"/>
          </a:xfrm>
          <a:prstGeom prst="rect">
            <a:avLst/>
          </a:prstGeom>
          <a:noFill/>
        </p:spPr>
        <p:txBody>
          <a:bodyPr wrap="square" rtlCol="0" lIns="0" rIns="0" tIns="0" bIns="0">
            <a:spAutoFit/>
          </a:bodyPr>
          <a:p>
            <a:pPr marL="71755" indent="-71755" algn="l" fontAlgn="auto">
              <a:buFont typeface="微软雅黑"/>
              <a:buChar char="•"/>
              <a:defRPr>
                <a:solidFill>
                  <a:srgbClr val="383838"/>
                </a:solidFill>
                <a:latin typeface="微软雅黑"/>
                <a:ea typeface="微软雅黑"/>
                <a:cs typeface="微软雅黑"/>
              </a:defRPr>
            </a:pPr>
            <a:r>
              <a:rPr lang="zh-CN" altLang="en-US" sz="1000" b="1">
                <a:solidFill>
                  <a:srgbClr val="383838"/>
                </a:solidFill>
                <a:latin typeface="微软雅黑"/>
                <a:ea typeface="微软雅黑"/>
                <a:cs typeface="微软雅黑"/>
              </a:rPr>
              <a:t>快速配送模式兴起</a:t>
            </a:r>
            <a:r>
              <a:rPr lang="zh-CN" altLang="en-US" sz="1000">
                <a:solidFill>
                  <a:srgbClr val="383838"/>
                </a:solidFill>
                <a:latin typeface="微软雅黑"/>
                <a:ea typeface="微软雅黑"/>
                <a:cs typeface="微软雅黑"/>
              </a:rPr>
              <a:t>，无人机和即时配送，解决</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最后一公里</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问题</a:t>
            </a:r>
            <a:r>
              <a:rPr lang="zh-CN" sz="1000">
                <a:solidFill>
                  <a:srgbClr val="383838"/>
                </a:solidFill>
                <a:latin typeface="微软雅黑"/>
                <a:ea typeface="微软雅黑"/>
                <a:cs typeface="微软雅黑"/>
              </a:rPr>
              <a:t>；</a:t>
            </a:r>
            <a:endParaRPr lang="zh-CN" sz="1000">
              <a:solidFill>
                <a:srgbClr val="383838"/>
              </a:solidFill>
              <a:latin typeface="微软雅黑"/>
              <a:ea typeface="微软雅黑"/>
              <a:cs typeface="微软雅黑"/>
            </a:endParaRPr>
          </a:p>
          <a:p>
            <a:pPr marL="71755" indent="-71755" algn="l" fontAlgn="auto">
              <a:buFont typeface="微软雅黑"/>
              <a:buChar cha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电商系统集成</a:t>
            </a:r>
            <a:r>
              <a:rPr 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整合</a:t>
            </a:r>
            <a:r>
              <a:rPr lang="en-US" altLang="zh-CN" sz="1000">
                <a:solidFill>
                  <a:srgbClr val="383838"/>
                </a:solidFill>
                <a:latin typeface="微软雅黑"/>
                <a:ea typeface="微软雅黑"/>
                <a:cs typeface="微软雅黑"/>
              </a:rPr>
              <a:t>ERP</a:t>
            </a:r>
            <a:r>
              <a:rPr lang="zh-CN" altLang="en-US" sz="1000">
                <a:solidFill>
                  <a:srgbClr val="383838"/>
                </a:solidFill>
                <a:latin typeface="微软雅黑"/>
                <a:ea typeface="微软雅黑"/>
                <a:cs typeface="微软雅黑"/>
              </a:rPr>
              <a:t>、</a:t>
            </a:r>
            <a:r>
              <a:rPr lang="en-US" altLang="zh-CN" sz="1000">
                <a:solidFill>
                  <a:srgbClr val="383838"/>
                </a:solidFill>
                <a:latin typeface="微软雅黑"/>
                <a:ea typeface="微软雅黑"/>
                <a:cs typeface="微软雅黑"/>
              </a:rPr>
              <a:t>CRM</a:t>
            </a:r>
            <a:r>
              <a:rPr lang="zh-CN" altLang="en-US" sz="1000">
                <a:solidFill>
                  <a:srgbClr val="383838"/>
                </a:solidFill>
                <a:latin typeface="微软雅黑"/>
                <a:ea typeface="微软雅黑"/>
                <a:cs typeface="微软雅黑"/>
              </a:rPr>
              <a:t>和支付系统，实现一站式管理</a:t>
            </a:r>
            <a:r>
              <a:rPr lang="zh-CN" sz="1000">
                <a:solidFill>
                  <a:srgbClr val="383838"/>
                </a:solidFill>
                <a:latin typeface="微软雅黑"/>
                <a:ea typeface="微软雅黑"/>
                <a:cs typeface="微软雅黑"/>
              </a:rPr>
              <a:t>；</a:t>
            </a:r>
            <a:endParaRPr lang="zh-CN" sz="1000">
              <a:solidFill>
                <a:srgbClr val="383838"/>
              </a:solidFill>
              <a:latin typeface="微软雅黑"/>
              <a:ea typeface="微软雅黑"/>
              <a:cs typeface="微软雅黑"/>
            </a:endParaRPr>
          </a:p>
          <a:p>
            <a:pPr marL="71755" indent="-71755" algn="l" fontAlgn="auto">
              <a:buFont typeface="微软雅黑"/>
              <a:buChar char="•"/>
              <a:defRPr>
                <a:solidFill>
                  <a:srgbClr val="383838"/>
                </a:solidFill>
                <a:latin typeface="微软雅黑"/>
                <a:ea typeface="微软雅黑"/>
                <a:cs typeface="微软雅黑"/>
              </a:defRPr>
            </a:pPr>
            <a:r>
              <a:rPr lang="zh-CN" altLang="en-US" sz="1000" b="1">
                <a:solidFill>
                  <a:srgbClr val="383838"/>
                </a:solidFill>
                <a:latin typeface="微软雅黑"/>
                <a:ea typeface="微软雅黑"/>
                <a:cs typeface="微软雅黑"/>
              </a:rPr>
              <a:t>商业智能（</a:t>
            </a:r>
            <a:r>
              <a:rPr lang="en-US" altLang="zh-CN" sz="1000" b="1">
                <a:solidFill>
                  <a:srgbClr val="383838"/>
                </a:solidFill>
                <a:latin typeface="微软雅黑"/>
                <a:ea typeface="微软雅黑"/>
                <a:cs typeface="微软雅黑"/>
              </a:rPr>
              <a:t>BI</a:t>
            </a:r>
            <a:r>
              <a:rPr lang="zh-CN" altLang="en-US" sz="1000" b="1">
                <a:solidFill>
                  <a:srgbClr val="383838"/>
                </a:solidFill>
                <a:latin typeface="微软雅黑"/>
                <a:ea typeface="微软雅黑"/>
                <a:cs typeface="微软雅黑"/>
              </a:rPr>
              <a:t>）应用</a:t>
            </a:r>
            <a:r>
              <a:rPr lang="zh-CN" sz="1000">
                <a:solidFill>
                  <a:srgbClr val="383838"/>
                </a:solidFill>
                <a:latin typeface="微软雅黑"/>
                <a:ea typeface="微软雅黑"/>
                <a:cs typeface="微软雅黑"/>
              </a:rPr>
              <a:t>，</a:t>
            </a:r>
            <a:r>
              <a:rPr lang="en-US" altLang="zh-CN" sz="1000">
                <a:solidFill>
                  <a:srgbClr val="383838"/>
                </a:solidFill>
                <a:latin typeface="微软雅黑"/>
                <a:ea typeface="微软雅黑"/>
                <a:cs typeface="微软雅黑"/>
              </a:rPr>
              <a:t>BI</a:t>
            </a:r>
            <a:r>
              <a:rPr lang="zh-CN" altLang="en-US" sz="1000">
                <a:solidFill>
                  <a:srgbClr val="383838"/>
                </a:solidFill>
                <a:latin typeface="微软雅黑"/>
                <a:ea typeface="微软雅黑"/>
                <a:cs typeface="微软雅黑"/>
              </a:rPr>
              <a:t>工具分析销售数据，指导库存决策；</a:t>
            </a:r>
            <a:endParaRPr lang="zh-CN" altLang="en-US" sz="1000">
              <a:solidFill>
                <a:srgbClr val="383838"/>
              </a:solidFill>
              <a:latin typeface="微软雅黑"/>
              <a:ea typeface="微软雅黑"/>
              <a:cs typeface="微软雅黑"/>
            </a:endParaRPr>
          </a:p>
          <a:p>
            <a:pPr marL="71755" indent="-71755" algn="l" fontAlgn="auto">
              <a:buFont typeface="微软雅黑"/>
              <a:buChar cha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效率提升，技术应用提升全链路效率。</a:t>
            </a:r>
            <a:endParaRPr lang="zh-CN" altLang="en-US" sz="1000">
              <a:solidFill>
                <a:srgbClr val="383838"/>
              </a:solidFill>
              <a:latin typeface="微软雅黑"/>
              <a:ea typeface="微软雅黑"/>
              <a:cs typeface="微软雅黑"/>
            </a:endParaRPr>
          </a:p>
          <a:p>
            <a:pPr marL="71755" indent="-71755" algn="l" fontAlgn="auto">
              <a:buFont typeface="微软雅黑"/>
              <a:buChar char="•"/>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110" name="文本框 109"/>
          <p:cNvSpPr txBox="1"/>
          <p:nvPr/>
        </p:nvSpPr>
        <p:spPr>
          <a:xfrm>
            <a:off x="6870065" y="4627245"/>
            <a:ext cx="1938655" cy="706755"/>
          </a:xfrm>
          <a:prstGeom prst="rect">
            <a:avLst/>
          </a:prstGeom>
          <a:noFill/>
        </p:spPr>
        <p:txBody>
          <a:bodyPr wrap="square" rtlCol="0" lIns="0" rIns="0" tIns="0" bIns="0">
            <a:spAutoFit/>
          </a:bodyPr>
          <a:p>
            <a:pPr marL="71755" indent="-71755" algn="l" fontAlgn="auto">
              <a:buFont typeface="微软雅黑"/>
              <a:buChar cha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电商网联数据</a:t>
            </a:r>
            <a:r>
              <a:rPr lang="zh-CN" altLang="en-US" sz="1000" b="1">
                <a:solidFill>
                  <a:srgbClr val="383838"/>
                </a:solidFill>
                <a:latin typeface="微软雅黑"/>
                <a:ea typeface="微软雅黑"/>
                <a:cs typeface="微软雅黑"/>
              </a:rPr>
              <a:t>赋能运营优化</a:t>
            </a:r>
            <a:r>
              <a:rPr lang="zh-CN" altLang="en-US" sz="1000">
                <a:solidFill>
                  <a:srgbClr val="383838"/>
                </a:solidFill>
                <a:latin typeface="微软雅黑"/>
                <a:ea typeface="微软雅黑"/>
                <a:cs typeface="微软雅黑"/>
              </a:rPr>
              <a:t>和商业模式转型；</a:t>
            </a:r>
            <a:endParaRPr lang="zh-CN" altLang="en-US" sz="1000">
              <a:solidFill>
                <a:srgbClr val="383838"/>
              </a:solidFill>
              <a:latin typeface="微软雅黑"/>
              <a:ea typeface="微软雅黑"/>
              <a:cs typeface="微软雅黑"/>
            </a:endParaRPr>
          </a:p>
          <a:p>
            <a:pPr marL="71755" indent="-71755" algn="l" fontAlgn="auto">
              <a:buFont typeface="微软雅黑"/>
              <a:buChar char="•"/>
              <a:defRPr>
                <a:solidFill>
                  <a:srgbClr val="383838"/>
                </a:solidFill>
                <a:latin typeface="微软雅黑"/>
                <a:ea typeface="微软雅黑"/>
                <a:cs typeface="微软雅黑"/>
              </a:defRPr>
            </a:pPr>
            <a:r>
              <a:rPr lang="zh-CN" altLang="en-US" sz="1000" b="1">
                <a:solidFill>
                  <a:srgbClr val="383838"/>
                </a:solidFill>
                <a:latin typeface="微软雅黑"/>
                <a:ea typeface="微软雅黑"/>
                <a:cs typeface="微软雅黑"/>
              </a:rPr>
              <a:t>将数据变现为收入</a:t>
            </a:r>
            <a:r>
              <a:rPr lang="zh-CN" altLang="en-US" sz="1000">
                <a:solidFill>
                  <a:srgbClr val="383838"/>
                </a:solidFill>
                <a:latin typeface="微软雅黑"/>
                <a:ea typeface="微软雅黑"/>
                <a:cs typeface="微软雅黑"/>
              </a:rPr>
              <a:t>，用户行为数据用于广告精准投放</a:t>
            </a:r>
            <a:r>
              <a:rPr lang="zh-CN" sz="1000">
                <a:solidFill>
                  <a:srgbClr val="383838"/>
                </a:solidFill>
                <a:latin typeface="微软雅黑"/>
                <a:ea typeface="微软雅黑"/>
                <a:cs typeface="微软雅黑"/>
              </a:rPr>
              <a:t>。</a:t>
            </a:r>
            <a:endParaRPr lang="zh-CN" sz="1000">
              <a:solidFill>
                <a:srgbClr val="383838"/>
              </a:solidFill>
              <a:latin typeface="微软雅黑"/>
              <a:ea typeface="微软雅黑"/>
              <a:cs typeface="微软雅黑"/>
            </a:endParaRPr>
          </a:p>
        </p:txBody>
      </p:sp>
      <p:sp>
        <p:nvSpPr>
          <p:cNvPr id="117" name="文本框 116"/>
          <p:cNvSpPr txBox="1"/>
          <p:nvPr/>
        </p:nvSpPr>
        <p:spPr>
          <a:xfrm rot="2220000">
            <a:off x="4989830" y="3274060"/>
            <a:ext cx="2913380" cy="2913380"/>
          </a:xfrm>
          <a:prstGeom prst="rect">
            <a:avLst/>
          </a:prstGeom>
          <a:noFill/>
          <a:effectLst/>
        </p:spPr>
        <p:txBody>
          <a:bodyPr wrap="none" lIns="0" rIns="0" tIns="0" bIns="0">
            <a:prstTxWarp prst="textArchUp">
              <a:avLst/>
            </a:prstTxWarp>
            <a:spAutoFit/>
          </a:bodyPr>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600" b="1" i="0" u="none" strike="noStrike" kern="1200" cap="none" normalizeH="0" baseline="0" noProof="0" dirty="0">
                <a:ln>
                  <a:noFill/>
                </a:ln>
                <a:solidFill>
                  <a:srgbClr val="383838"/>
                </a:solidFill>
                <a:effectLst/>
                <a:uLnTx/>
                <a:uFillTx/>
                <a:latin typeface="微软雅黑"/>
                <a:ea typeface="微软雅黑"/>
                <a:cs typeface="微软雅黑"/>
              </a:rPr>
              <a:t>服务销售</a:t>
            </a:r>
            <a:endParaRPr kumimoji="0" lang="zh-CN" altLang="en-US" sz="1600" b="1" i="0" u="none" strike="noStrike" kern="1200" cap="none" normalizeH="0" baseline="0" noProof="0" dirty="0">
              <a:ln>
                <a:noFill/>
              </a:ln>
              <a:solidFill>
                <a:srgbClr val="383838"/>
              </a:solidFill>
              <a:effectLst/>
              <a:uLnTx/>
              <a:uFillTx/>
              <a:latin typeface="微软雅黑"/>
              <a:ea typeface="微软雅黑"/>
              <a:cs typeface="微软雅黑"/>
            </a:endParaRPr>
          </a:p>
        </p:txBody>
      </p:sp>
      <p:sp>
        <p:nvSpPr>
          <p:cNvPr id="118" name="右箭头 117"/>
          <p:cNvSpPr/>
          <p:nvPr/>
        </p:nvSpPr>
        <p:spPr>
          <a:xfrm rot="18660000">
            <a:off x="3594100" y="3042920"/>
            <a:ext cx="261620" cy="193040"/>
          </a:xfrm>
          <a:prstGeom prst="rightArrow">
            <a:avLst/>
          </a:prstGeom>
          <a:solidFill>
            <a:srgbClr val="FFFFFF"/>
          </a:solidFill>
          <a:ln>
            <a:gradFill>
              <a:gsLst>
                <a:gs pos="43000">
                  <a:srgbClr val="3368FF"/>
                </a:gs>
                <a:gs pos="100000">
                  <a:srgbClr val="3368FF">
                    <a:alpha val="0"/>
                  </a:srgbClr>
                </a:gs>
              </a:gsLst>
              <a:lin ang="108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119" name="右箭头 118"/>
          <p:cNvSpPr/>
          <p:nvPr/>
        </p:nvSpPr>
        <p:spPr>
          <a:xfrm rot="13740000">
            <a:off x="4291965" y="3042920"/>
            <a:ext cx="261620" cy="193040"/>
          </a:xfrm>
          <a:prstGeom prst="rightArrow">
            <a:avLst/>
          </a:prstGeom>
          <a:solidFill>
            <a:srgbClr val="FFFFFF"/>
          </a:solidFill>
          <a:ln>
            <a:gradFill>
              <a:gsLst>
                <a:gs pos="43000">
                  <a:srgbClr val="3368FF"/>
                </a:gs>
                <a:gs pos="100000">
                  <a:srgbClr val="3368FF">
                    <a:alpha val="0"/>
                  </a:srgbClr>
                </a:gs>
              </a:gsLst>
              <a:lin ang="108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120" name="文本框 119"/>
          <p:cNvSpPr txBox="1"/>
          <p:nvPr/>
        </p:nvSpPr>
        <p:spPr>
          <a:xfrm>
            <a:off x="2994025" y="2746375"/>
            <a:ext cx="1958975" cy="275590"/>
          </a:xfrm>
          <a:prstGeom prst="rect">
            <a:avLst/>
          </a:prstGeom>
          <a:noFill/>
        </p:spPr>
        <p:txBody>
          <a:bodyPr wrap="square" rtlCol="0">
            <a:spAutoFit/>
          </a:bodyPr>
          <a:p>
            <a:pPr algn="ctr">
              <a:defRPr>
                <a:solidFill>
                  <a:srgbClr val="383838"/>
                </a:solidFill>
                <a:latin typeface="微软雅黑"/>
                <a:ea typeface="微软雅黑"/>
                <a:cs typeface="微软雅黑"/>
              </a:defRPr>
            </a:pPr>
            <a:r>
              <a:rPr lang="zh-CN" altLang="en-US" sz="1200" b="1">
                <a:solidFill>
                  <a:srgbClr val="383838"/>
                </a:solidFill>
                <a:latin typeface="微软雅黑"/>
                <a:ea typeface="微软雅黑"/>
                <a:cs typeface="微软雅黑"/>
              </a:rPr>
              <a:t>模式转变主要驱动因素</a:t>
            </a:r>
            <a:endParaRPr lang="zh-CN" altLang="en-US" sz="1200" b="1">
              <a:solidFill>
                <a:srgbClr val="383838"/>
              </a:solidFill>
              <a:latin typeface="微软雅黑"/>
              <a:ea typeface="微软雅黑"/>
              <a:cs typeface="微软雅黑"/>
            </a:endParaRPr>
          </a:p>
        </p:txBody>
      </p:sp>
      <p:grpSp>
        <p:nvGrpSpPr>
          <p:cNvPr id="2" name="组合 1"/>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6" name="椭圆 15"/>
          <p:cNvSpPr/>
          <p:nvPr/>
        </p:nvSpPr>
        <p:spPr>
          <a:xfrm>
            <a:off x="-95885" y="4627245"/>
            <a:ext cx="4806950" cy="4015740"/>
          </a:xfrm>
          <a:prstGeom prst="ellipse">
            <a:avLst/>
          </a:prstGeom>
          <a:noFill/>
          <a:ln w="25400">
            <a:gradFill>
              <a:gsLst>
                <a:gs pos="18000">
                  <a:srgbClr val="FFFFFF"/>
                </a:gs>
                <a:gs pos="32000">
                  <a:srgbClr val="FFFFFF">
                    <a:alpha val="0"/>
                  </a:srgbClr>
                </a:gs>
              </a:gsLst>
              <a:lin ang="72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 name="矩形 28"/>
          <p:cNvSpPr/>
          <p:nvPr/>
        </p:nvSpPr>
        <p:spPr>
          <a:xfrm>
            <a:off x="2038350" y="4758690"/>
            <a:ext cx="1352550" cy="31750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b="1">
                <a:solidFill>
                  <a:srgbClr val="0042FF"/>
                </a:solidFill>
                <a:cs typeface="微软雅黑"/>
                <a:latin typeface="微软雅黑"/>
                <a:ea typeface="微软雅黑"/>
              </a:rPr>
              <a:t>硬件设备销售</a:t>
            </a:r>
            <a:endParaRPr lang="zh-CN" altLang="en-US" sz="1400" b="1">
              <a:solidFill>
                <a:srgbClr val="0042FF"/>
              </a:solidFill>
              <a:cs typeface="微软雅黑"/>
              <a:latin typeface="微软雅黑"/>
              <a:ea typeface="微软雅黑"/>
            </a:endParaRPr>
          </a:p>
        </p:txBody>
      </p:sp>
      <p:sp>
        <p:nvSpPr>
          <p:cNvPr id="35" name="任意多边形 34"/>
          <p:cNvSpPr/>
          <p:nvPr/>
        </p:nvSpPr>
        <p:spPr>
          <a:xfrm>
            <a:off x="1904365" y="2504440"/>
            <a:ext cx="6833870" cy="349250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0751" h="5517">
                <a:moveTo>
                  <a:pt x="0" y="62"/>
                </a:moveTo>
                <a:lnTo>
                  <a:pt x="99" y="53"/>
                </a:lnTo>
                <a:lnTo>
                  <a:pt x="341" y="34"/>
                </a:lnTo>
                <a:lnTo>
                  <a:pt x="585" y="19"/>
                </a:lnTo>
                <a:lnTo>
                  <a:pt x="831" y="9"/>
                </a:lnTo>
                <a:lnTo>
                  <a:pt x="1079" y="2"/>
                </a:lnTo>
                <a:lnTo>
                  <a:pt x="1328" y="0"/>
                </a:lnTo>
                <a:lnTo>
                  <a:pt x="1577" y="2"/>
                </a:lnTo>
                <a:lnTo>
                  <a:pt x="1825" y="9"/>
                </a:lnTo>
                <a:lnTo>
                  <a:pt x="2071" y="19"/>
                </a:lnTo>
                <a:lnTo>
                  <a:pt x="2315" y="34"/>
                </a:lnTo>
                <a:lnTo>
                  <a:pt x="2557" y="53"/>
                </a:lnTo>
                <a:lnTo>
                  <a:pt x="2798" y="76"/>
                </a:lnTo>
                <a:lnTo>
                  <a:pt x="3036" y="103"/>
                </a:lnTo>
                <a:lnTo>
                  <a:pt x="3273" y="134"/>
                </a:lnTo>
                <a:lnTo>
                  <a:pt x="3507" y="169"/>
                </a:lnTo>
                <a:lnTo>
                  <a:pt x="3739" y="208"/>
                </a:lnTo>
                <a:lnTo>
                  <a:pt x="3969" y="250"/>
                </a:lnTo>
                <a:lnTo>
                  <a:pt x="4197" y="297"/>
                </a:lnTo>
                <a:lnTo>
                  <a:pt x="4422" y="347"/>
                </a:lnTo>
                <a:lnTo>
                  <a:pt x="4644" y="400"/>
                </a:lnTo>
                <a:lnTo>
                  <a:pt x="4864" y="458"/>
                </a:lnTo>
                <a:lnTo>
                  <a:pt x="5081" y="518"/>
                </a:lnTo>
                <a:lnTo>
                  <a:pt x="5296" y="583"/>
                </a:lnTo>
                <a:lnTo>
                  <a:pt x="5507" y="650"/>
                </a:lnTo>
                <a:lnTo>
                  <a:pt x="5716" y="721"/>
                </a:lnTo>
                <a:lnTo>
                  <a:pt x="5922" y="796"/>
                </a:lnTo>
                <a:lnTo>
                  <a:pt x="6125" y="874"/>
                </a:lnTo>
                <a:lnTo>
                  <a:pt x="6324" y="954"/>
                </a:lnTo>
                <a:lnTo>
                  <a:pt x="6521" y="1039"/>
                </a:lnTo>
                <a:cubicBezTo>
                  <a:pt x="8828" y="1883"/>
                  <a:pt x="10493" y="4060"/>
                  <a:pt x="10751" y="5517"/>
                </a:cubicBezTo>
                <a:lnTo>
                  <a:pt x="0" y="5517"/>
                </a:lnTo>
                <a:lnTo>
                  <a:pt x="0" y="62"/>
                </a:lnTo>
                <a:close/>
              </a:path>
            </a:pathLst>
          </a:custGeom>
          <a:noFill/>
          <a:ln w="25400">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 name="矩形 3"/>
          <p:cNvSpPr/>
          <p:nvPr/>
        </p:nvSpPr>
        <p:spPr>
          <a:xfrm>
            <a:off x="6900545" y="4220845"/>
            <a:ext cx="1585595" cy="317500"/>
          </a:xfrm>
          <a:prstGeom prst="rect">
            <a:avLst/>
          </a:prstGeom>
          <a:solidFill>
            <a:srgbClr val="FFFFFF"/>
          </a:solidFill>
          <a:ln w="19050">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0042FF"/>
                </a:solidFill>
                <a:cs typeface="微软雅黑"/>
                <a:sym typeface="微软雅黑"/>
                <a:latin typeface="微软雅黑"/>
                <a:ea typeface="微软雅黑"/>
              </a:rPr>
              <a:t>数字资产服务</a:t>
            </a:r>
            <a:endParaRPr lang="zh-CN" altLang="en-US" sz="1400" b="1">
              <a:solidFill>
                <a:srgbClr val="0042FF"/>
              </a:solidFill>
              <a:cs typeface="微软雅黑"/>
              <a:sym typeface="微软雅黑"/>
              <a:latin typeface="微软雅黑"/>
              <a:ea typeface="微软雅黑"/>
            </a:endParaRPr>
          </a:p>
        </p:txBody>
      </p:sp>
      <p:sp>
        <p:nvSpPr>
          <p:cNvPr id="41" name="任意多边形 40"/>
          <p:cNvSpPr/>
          <p:nvPr/>
        </p:nvSpPr>
        <p:spPr>
          <a:xfrm>
            <a:off x="1903730" y="1654810"/>
            <a:ext cx="8037195" cy="434213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2600" h="6838">
                <a:moveTo>
                  <a:pt x="0" y="60"/>
                </a:moveTo>
                <a:lnTo>
                  <a:pt x="12" y="59"/>
                </a:lnTo>
                <a:lnTo>
                  <a:pt x="296" y="38"/>
                </a:lnTo>
                <a:lnTo>
                  <a:pt x="582" y="21"/>
                </a:lnTo>
                <a:lnTo>
                  <a:pt x="871" y="9"/>
                </a:lnTo>
                <a:lnTo>
                  <a:pt x="1161" y="2"/>
                </a:lnTo>
                <a:lnTo>
                  <a:pt x="1453" y="0"/>
                </a:lnTo>
                <a:lnTo>
                  <a:pt x="1746" y="2"/>
                </a:lnTo>
                <a:lnTo>
                  <a:pt x="2036" y="9"/>
                </a:lnTo>
                <a:lnTo>
                  <a:pt x="2324" y="21"/>
                </a:lnTo>
                <a:lnTo>
                  <a:pt x="2611" y="38"/>
                </a:lnTo>
                <a:lnTo>
                  <a:pt x="2895" y="59"/>
                </a:lnTo>
                <a:lnTo>
                  <a:pt x="3177" y="84"/>
                </a:lnTo>
                <a:lnTo>
                  <a:pt x="3457" y="114"/>
                </a:lnTo>
                <a:lnTo>
                  <a:pt x="3734" y="148"/>
                </a:lnTo>
                <a:lnTo>
                  <a:pt x="4009" y="186"/>
                </a:lnTo>
                <a:lnTo>
                  <a:pt x="4281" y="229"/>
                </a:lnTo>
                <a:lnTo>
                  <a:pt x="4551" y="276"/>
                </a:lnTo>
                <a:lnTo>
                  <a:pt x="4818" y="327"/>
                </a:lnTo>
                <a:lnTo>
                  <a:pt x="5082" y="382"/>
                </a:lnTo>
                <a:lnTo>
                  <a:pt x="5342" y="442"/>
                </a:lnTo>
                <a:lnTo>
                  <a:pt x="5600" y="505"/>
                </a:lnTo>
                <a:lnTo>
                  <a:pt x="5855" y="572"/>
                </a:lnTo>
                <a:lnTo>
                  <a:pt x="6107" y="643"/>
                </a:lnTo>
                <a:lnTo>
                  <a:pt x="6355" y="717"/>
                </a:lnTo>
                <a:lnTo>
                  <a:pt x="6600" y="796"/>
                </a:lnTo>
                <a:lnTo>
                  <a:pt x="6841" y="878"/>
                </a:lnTo>
                <a:lnTo>
                  <a:pt x="7079" y="964"/>
                </a:lnTo>
                <a:lnTo>
                  <a:pt x="7313" y="1053"/>
                </a:lnTo>
                <a:lnTo>
                  <a:pt x="7543" y="1146"/>
                </a:lnTo>
                <a:lnTo>
                  <a:pt x="7770" y="1242"/>
                </a:lnTo>
                <a:lnTo>
                  <a:pt x="7992" y="1341"/>
                </a:lnTo>
                <a:lnTo>
                  <a:pt x="8210" y="1444"/>
                </a:lnTo>
                <a:lnTo>
                  <a:pt x="8424" y="1551"/>
                </a:lnTo>
                <a:lnTo>
                  <a:pt x="8634" y="1660"/>
                </a:lnTo>
                <a:lnTo>
                  <a:pt x="8840" y="1772"/>
                </a:lnTo>
                <a:lnTo>
                  <a:pt x="9041" y="1888"/>
                </a:lnTo>
                <a:lnTo>
                  <a:pt x="9238" y="2007"/>
                </a:lnTo>
                <a:lnTo>
                  <a:pt x="9430" y="2128"/>
                </a:lnTo>
                <a:lnTo>
                  <a:pt x="9618" y="2253"/>
                </a:lnTo>
                <a:lnTo>
                  <a:pt x="9800" y="2380"/>
                </a:lnTo>
                <a:lnTo>
                  <a:pt x="9978" y="2511"/>
                </a:lnTo>
                <a:lnTo>
                  <a:pt x="10151" y="2644"/>
                </a:lnTo>
                <a:lnTo>
                  <a:pt x="10318" y="2779"/>
                </a:lnTo>
                <a:lnTo>
                  <a:pt x="10481" y="2917"/>
                </a:lnTo>
                <a:cubicBezTo>
                  <a:pt x="11824" y="3913"/>
                  <a:pt x="12608" y="5878"/>
                  <a:pt x="12600" y="6838"/>
                </a:cubicBezTo>
                <a:lnTo>
                  <a:pt x="0" y="6838"/>
                </a:lnTo>
                <a:lnTo>
                  <a:pt x="0" y="60"/>
                </a:lnTo>
                <a:close/>
              </a:path>
            </a:pathLst>
          </a:custGeom>
          <a:noFill/>
          <a:ln w="25400">
            <a:gradFill>
              <a:gsLst>
                <a:gs pos="20000">
                  <a:srgbClr val="E6E6E6"/>
                </a:gs>
                <a:gs pos="75000">
                  <a:srgbClr val="E6E6E6">
                    <a:alpha val="20000"/>
                  </a:srgbClr>
                </a:gs>
              </a:gsLst>
              <a:lin ang="7200000" scaled="1"/>
            </a:gra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cxnSp>
        <p:nvCxnSpPr>
          <p:cNvPr id="44" name="直接箭头连接符 43"/>
          <p:cNvCxnSpPr/>
          <p:nvPr/>
        </p:nvCxnSpPr>
        <p:spPr>
          <a:xfrm>
            <a:off x="1891665" y="5981065"/>
            <a:ext cx="8817610" cy="26670"/>
          </a:xfrm>
          <a:prstGeom prst="straightConnector1">
            <a:avLst/>
          </a:prstGeom>
          <a:ln w="19050">
            <a:solidFill>
              <a:srgbClr val="383838"/>
            </a:solidFill>
            <a:tailEnd type="arrow"/>
          </a:ln>
        </p:spPr>
        <p:style>
          <a:lnRef idx="2">
            <a:srgbClr val="0042FF"/>
          </a:lnRef>
          <a:fillRef idx="0">
            <a:srgbClr val="FFFFFF"/>
          </a:fillRef>
          <a:effectRef idx="0">
            <a:srgbClr val="FFFFFF"/>
          </a:effectRef>
          <a:fontRef idx="minor">
            <a:srgbClr val="383838"/>
          </a:fontRef>
        </p:style>
      </p:cxnSp>
      <p:cxnSp>
        <p:nvCxnSpPr>
          <p:cNvPr id="45" name="直接箭头连接符 44"/>
          <p:cNvCxnSpPr/>
          <p:nvPr/>
        </p:nvCxnSpPr>
        <p:spPr>
          <a:xfrm flipV="1">
            <a:off x="1901825" y="1346200"/>
            <a:ext cx="1905" cy="4639945"/>
          </a:xfrm>
          <a:prstGeom prst="straightConnector1">
            <a:avLst/>
          </a:prstGeom>
          <a:gradFill flip="none" rotWithShape="1">
            <a:gsLst>
              <a:gs pos="100000">
                <a:srgbClr val="3368FF">
                  <a:alpha val="88000"/>
                </a:srgbClr>
              </a:gs>
              <a:gs pos="20000">
                <a:srgbClr val="3368FF">
                  <a:alpha val="0"/>
                </a:srgbClr>
              </a:gs>
            </a:gsLst>
            <a:lin ang="5400000" scaled="1"/>
          </a:gradFill>
          <a:ln w="19050">
            <a:solidFill>
              <a:srgbClr val="383838"/>
            </a:solidFill>
            <a:tailEnd type="arrow"/>
          </a:ln>
          <a:effectLst>
            <a:outerShdw blurRad="266700" dir="1440000" sx="102000" sy="102000" algn="ctr" rotWithShape="0">
              <a:srgbClr val="3368FF">
                <a:alpha val="20000"/>
              </a:srgbClr>
            </a:outerShdw>
          </a:effectLst>
        </p:spPr>
        <p:style>
          <a:lnRef idx="2">
            <a:srgbClr val="0042FF"/>
          </a:lnRef>
          <a:fillRef idx="1">
            <a:srgbClr val="0042FF"/>
          </a:fillRef>
          <a:effectRef idx="0">
            <a:srgbClr val="0042FF"/>
          </a:effectRef>
          <a:fontRef idx="minor">
            <a:srgbClr val="FFFFFF"/>
          </a:fontRef>
        </p:style>
      </p:cxnSp>
      <p:sp>
        <p:nvSpPr>
          <p:cNvPr id="46" name="矩形 45"/>
          <p:cNvSpPr/>
          <p:nvPr/>
        </p:nvSpPr>
        <p:spPr>
          <a:xfrm>
            <a:off x="4953000" y="1715135"/>
            <a:ext cx="1585595" cy="317500"/>
          </a:xfrm>
          <a:prstGeom prst="rect">
            <a:avLst/>
          </a:prstGeom>
          <a:solidFill>
            <a:srgbClr val="FFFFFF"/>
          </a:solidFill>
          <a:ln w="19050">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0042FF"/>
                </a:solidFill>
                <a:cs typeface="微软雅黑"/>
                <a:sym typeface="微软雅黑"/>
                <a:latin typeface="微软雅黑"/>
                <a:ea typeface="微软雅黑"/>
              </a:rPr>
              <a:t>物流运营</a:t>
            </a:r>
            <a:endParaRPr lang="zh-CN" altLang="en-US" sz="1400" b="1">
              <a:solidFill>
                <a:srgbClr val="0042FF"/>
              </a:solidFill>
              <a:cs typeface="微软雅黑"/>
              <a:sym typeface="微软雅黑"/>
              <a:latin typeface="微软雅黑"/>
              <a:ea typeface="微软雅黑"/>
            </a:endParaRPr>
          </a:p>
        </p:txBody>
      </p:sp>
      <p:sp>
        <p:nvSpPr>
          <p:cNvPr id="47" name="文本框 46"/>
          <p:cNvSpPr txBox="1"/>
          <p:nvPr/>
        </p:nvSpPr>
        <p:spPr>
          <a:xfrm>
            <a:off x="4881880" y="2058035"/>
            <a:ext cx="1856740" cy="706755"/>
          </a:xfrm>
          <a:prstGeom prst="rect">
            <a:avLst/>
          </a:prstGeom>
          <a:noFill/>
        </p:spPr>
        <p:txBody>
          <a:bodyPr wrap="square" rtlCol="0" lIns="0" rIns="0" tIns="0" bIns="0">
            <a:spAutoFit/>
          </a:bodyPr>
          <a:p>
            <a:pPr marL="71755" indent="-71755" algn="l" fontAlgn="auto">
              <a:buFont typeface="微软雅黑"/>
              <a:buChar char="•"/>
              <a:defRPr>
                <a:latin typeface="微软雅黑"/>
                <a:ea typeface="微软雅黑"/>
                <a:cs typeface="微软雅黑"/>
              </a:defRPr>
            </a:pPr>
            <a:r>
              <a:rPr lang="zh-CN" altLang="en-US" sz="1000" b="1">
                <a:solidFill>
                  <a:srgbClr val="383838">
                    <a:alpha val="90000"/>
                  </a:srgbClr>
                </a:solidFill>
                <a:latin typeface="微软雅黑"/>
                <a:ea typeface="微软雅黑"/>
                <a:cs typeface="微软雅黑"/>
              </a:rPr>
              <a:t>数据中台</a:t>
            </a:r>
            <a:r>
              <a:rPr lang="en-US" altLang="zh-CN" sz="1000" b="1">
                <a:solidFill>
                  <a:srgbClr val="383838">
                    <a:alpha val="90000"/>
                  </a:srgbClr>
                </a:solidFill>
                <a:latin typeface="微软雅黑"/>
                <a:ea typeface="微软雅黑"/>
                <a:cs typeface="微软雅黑"/>
              </a:rPr>
              <a:t>+</a:t>
            </a:r>
            <a:r>
              <a:rPr lang="zh-CN" altLang="en-US" sz="1000" b="1">
                <a:solidFill>
                  <a:srgbClr val="383838">
                    <a:alpha val="90000"/>
                  </a:srgbClr>
                </a:solidFill>
                <a:latin typeface="微软雅黑"/>
                <a:ea typeface="微软雅黑"/>
                <a:cs typeface="微软雅黑"/>
              </a:rPr>
              <a:t>自动化技术推动物流协同平台升级</a:t>
            </a:r>
            <a:r>
              <a:rPr lang="en-US" altLang="zh-CN" sz="1000">
                <a:solidFill>
                  <a:srgbClr val="383838">
                    <a:alpha val="90000"/>
                  </a:srgbClr>
                </a:solidFill>
                <a:latin typeface="微软雅黑"/>
                <a:ea typeface="微软雅黑"/>
                <a:cs typeface="微软雅黑"/>
              </a:rPr>
              <a:t>,</a:t>
            </a:r>
            <a:r>
              <a:rPr lang="zh-CN" altLang="en-US" sz="1000">
                <a:solidFill>
                  <a:srgbClr val="383838">
                    <a:alpha val="90000"/>
                  </a:srgbClr>
                </a:solidFill>
                <a:latin typeface="微软雅黑"/>
                <a:ea typeface="微软雅黑"/>
                <a:cs typeface="微软雅黑"/>
              </a:rPr>
              <a:t>对电商全链路数字化集成及弹性调度能力提出更高要求</a:t>
            </a:r>
            <a:r>
              <a:rPr lang="en-US" altLang="zh-CN" sz="1000">
                <a:solidFill>
                  <a:srgbClr val="383838">
                    <a:alpha val="90000"/>
                  </a:srgbClr>
                </a:solidFill>
                <a:latin typeface="微软雅黑"/>
                <a:ea typeface="微软雅黑"/>
                <a:cs typeface="微软雅黑"/>
              </a:rPr>
              <a:t>.</a:t>
            </a:r>
            <a:endParaRPr lang="en-US" altLang="zh-CN" sz="1000">
              <a:solidFill>
                <a:srgbClr val="383838">
                  <a:alpha val="90000"/>
                </a:srgbClr>
              </a:solidFill>
              <a:latin typeface="微软雅黑"/>
              <a:ea typeface="微软雅黑"/>
              <a:cs typeface="微软雅黑"/>
            </a:endParaRPr>
          </a:p>
        </p:txBody>
      </p:sp>
      <p:sp>
        <p:nvSpPr>
          <p:cNvPr id="48" name="文本框 47"/>
          <p:cNvSpPr txBox="1"/>
          <p:nvPr/>
        </p:nvSpPr>
        <p:spPr>
          <a:xfrm>
            <a:off x="2103120" y="6206967"/>
            <a:ext cx="192087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高效自动化技术</a:t>
            </a:r>
            <a:endParaRPr lang="zh-CN" altLang="en-US" sz="1200">
              <a:solidFill>
                <a:srgbClr val="383838"/>
              </a:solidFill>
              <a:latin typeface="微软雅黑"/>
              <a:ea typeface="微软雅黑"/>
              <a:cs typeface="微软雅黑"/>
            </a:endParaRPr>
          </a:p>
        </p:txBody>
      </p:sp>
      <p:grpSp>
        <p:nvGrpSpPr>
          <p:cNvPr id="49" name="组合 48"/>
          <p:cNvGrpSpPr/>
          <p:nvPr/>
        </p:nvGrpSpPr>
        <p:grpSpPr>
          <a:xfrm>
            <a:off x="2103120" y="5701030"/>
            <a:ext cx="513080" cy="463550"/>
            <a:chOff x="3312" y="8978"/>
            <a:chExt cx="808" cy="730"/>
          </a:xfrm>
        </p:grpSpPr>
        <p:sp>
          <p:nvSpPr>
            <p:cNvPr id="50" name="椭圆 49"/>
            <p:cNvSpPr/>
            <p:nvPr/>
          </p:nvSpPr>
          <p:spPr>
            <a:xfrm>
              <a:off x="3312" y="8978"/>
              <a:ext cx="731" cy="731"/>
            </a:xfrm>
            <a:prstGeom prst="ellipse">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51" name="文本框 50"/>
            <p:cNvSpPr txBox="1"/>
            <p:nvPr/>
          </p:nvSpPr>
          <p:spPr>
            <a:xfrm>
              <a:off x="3334" y="9028"/>
              <a:ext cx="786" cy="628"/>
            </a:xfrm>
            <a:prstGeom prst="rect">
              <a:avLst/>
            </a:prstGeom>
            <a:noFill/>
          </p:spPr>
          <p:txBody>
            <a:bodyPr wrap="square" rtlCol="0" lIns="0" rIns="0" tIns="0" bIns="0">
              <a:spAutoFit/>
            </a:bodyPr>
            <a:p>
              <a:pPr>
                <a:defRPr>
                  <a:latin typeface="微软雅黑"/>
                  <a:ea typeface="微软雅黑"/>
                  <a:cs typeface="微软雅黑"/>
                </a:defRPr>
              </a:pPr>
              <a:r>
                <a:rPr lang="zh-CN" sz="1000" b="1">
                  <a:solidFill>
                    <a:srgbClr val="0042FF"/>
                  </a:solidFill>
                  <a:latin typeface="微软雅黑"/>
                  <a:ea typeface="微软雅黑"/>
                  <a:cs typeface="微软雅黑"/>
                </a:rPr>
                <a:t>高效车辆</a:t>
              </a:r>
              <a:endParaRPr lang="zh-CN" sz="1000" b="1">
                <a:solidFill>
                  <a:srgbClr val="0042FF"/>
                </a:solidFill>
                <a:latin typeface="微软雅黑"/>
                <a:ea typeface="微软雅黑"/>
                <a:cs typeface="微软雅黑"/>
              </a:endParaRPr>
            </a:p>
          </p:txBody>
        </p:sp>
      </p:grpSp>
      <p:grpSp>
        <p:nvGrpSpPr>
          <p:cNvPr id="52" name="组合 51"/>
          <p:cNvGrpSpPr/>
          <p:nvPr/>
        </p:nvGrpSpPr>
        <p:grpSpPr>
          <a:xfrm>
            <a:off x="2691130" y="5701030"/>
            <a:ext cx="506730" cy="464185"/>
            <a:chOff x="3312" y="8978"/>
            <a:chExt cx="798" cy="731"/>
          </a:xfrm>
        </p:grpSpPr>
        <p:sp>
          <p:nvSpPr>
            <p:cNvPr id="53" name="椭圆 52"/>
            <p:cNvSpPr/>
            <p:nvPr/>
          </p:nvSpPr>
          <p:spPr>
            <a:xfrm>
              <a:off x="3312" y="8978"/>
              <a:ext cx="731" cy="731"/>
            </a:xfrm>
            <a:prstGeom prst="ellipse">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54" name="文本框 53"/>
            <p:cNvSpPr txBox="1"/>
            <p:nvPr/>
          </p:nvSpPr>
          <p:spPr>
            <a:xfrm>
              <a:off x="3324" y="9028"/>
              <a:ext cx="786" cy="628"/>
            </a:xfrm>
            <a:prstGeom prst="rect">
              <a:avLst/>
            </a:prstGeom>
            <a:noFill/>
          </p:spPr>
          <p:txBody>
            <a:bodyPr wrap="square" rtlCol="0" lIns="0" rIns="0" tIns="0" bIns="0">
              <a:spAutoFit/>
            </a:bodyPr>
            <a:p>
              <a:pPr>
                <a:defRPr>
                  <a:latin typeface="微软雅黑"/>
                  <a:ea typeface="微软雅黑"/>
                  <a:cs typeface="微软雅黑"/>
                </a:defRPr>
              </a:pPr>
              <a:r>
                <a:rPr lang="zh-CN" sz="1000" b="1">
                  <a:solidFill>
                    <a:srgbClr val="0042FF"/>
                  </a:solidFill>
                  <a:latin typeface="微软雅黑"/>
                  <a:ea typeface="微软雅黑"/>
                  <a:cs typeface="微软雅黑"/>
                </a:rPr>
                <a:t>高效组件</a:t>
              </a:r>
              <a:endParaRPr lang="zh-CN" sz="1000" b="1">
                <a:solidFill>
                  <a:srgbClr val="0042FF"/>
                </a:solidFill>
                <a:latin typeface="微软雅黑"/>
                <a:ea typeface="微软雅黑"/>
                <a:cs typeface="微软雅黑"/>
              </a:endParaRPr>
            </a:p>
          </p:txBody>
        </p:sp>
      </p:grpSp>
      <p:grpSp>
        <p:nvGrpSpPr>
          <p:cNvPr id="63" name="组合 62"/>
          <p:cNvGrpSpPr/>
          <p:nvPr/>
        </p:nvGrpSpPr>
        <p:grpSpPr>
          <a:xfrm>
            <a:off x="3279140" y="5701030"/>
            <a:ext cx="513080" cy="464185"/>
            <a:chOff x="3312" y="8978"/>
            <a:chExt cx="808" cy="731"/>
          </a:xfrm>
        </p:grpSpPr>
        <p:sp>
          <p:nvSpPr>
            <p:cNvPr id="65" name="椭圆 64"/>
            <p:cNvSpPr/>
            <p:nvPr/>
          </p:nvSpPr>
          <p:spPr>
            <a:xfrm>
              <a:off x="3312" y="8978"/>
              <a:ext cx="731" cy="731"/>
            </a:xfrm>
            <a:prstGeom prst="ellipse">
              <a:avLst/>
            </a:prstGeom>
            <a:solidFill>
              <a:srgbClr val="FFFFFF"/>
            </a:solidFill>
            <a:ln>
              <a:solidFill>
                <a:srgbClr val="B3D4FE"/>
              </a:solid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66" name="文本框 65"/>
            <p:cNvSpPr txBox="1"/>
            <p:nvPr/>
          </p:nvSpPr>
          <p:spPr>
            <a:xfrm>
              <a:off x="3334" y="9028"/>
              <a:ext cx="786" cy="628"/>
            </a:xfrm>
            <a:prstGeom prst="rect">
              <a:avLst/>
            </a:prstGeom>
            <a:noFill/>
          </p:spPr>
          <p:txBody>
            <a:bodyPr wrap="square" rtlCol="0" lIns="0" rIns="0" tIns="0" bIns="0">
              <a:spAutoFit/>
            </a:bodyPr>
            <a:p>
              <a:pPr>
                <a:defRPr>
                  <a:latin typeface="微软雅黑"/>
                  <a:ea typeface="微软雅黑"/>
                  <a:cs typeface="微软雅黑"/>
                </a:defRPr>
              </a:pPr>
              <a:r>
                <a:rPr lang="zh-CN" sz="1000" b="1">
                  <a:solidFill>
                    <a:srgbClr val="0042FF"/>
                  </a:solidFill>
                  <a:latin typeface="微软雅黑"/>
                  <a:ea typeface="微软雅黑"/>
                  <a:cs typeface="微软雅黑"/>
                </a:rPr>
                <a:t>高效装载</a:t>
              </a:r>
              <a:endParaRPr lang="zh-CN" sz="1000" b="1">
                <a:solidFill>
                  <a:srgbClr val="0042FF"/>
                </a:solidFill>
                <a:latin typeface="微软雅黑"/>
                <a:ea typeface="微软雅黑"/>
                <a:cs typeface="微软雅黑"/>
              </a:endParaRPr>
            </a:p>
          </p:txBody>
        </p:sp>
      </p:grpSp>
      <p:grpSp>
        <p:nvGrpSpPr>
          <p:cNvPr id="67" name="组合 66"/>
          <p:cNvGrpSpPr/>
          <p:nvPr/>
        </p:nvGrpSpPr>
        <p:grpSpPr>
          <a:xfrm>
            <a:off x="1965960" y="4035425"/>
            <a:ext cx="499110" cy="464185"/>
            <a:chOff x="3096" y="6234"/>
            <a:chExt cx="786" cy="731"/>
          </a:xfrm>
        </p:grpSpPr>
        <p:sp>
          <p:nvSpPr>
            <p:cNvPr id="68" name="椭圆 67"/>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69" name="文本框 68"/>
            <p:cNvSpPr txBox="1"/>
            <p:nvPr/>
          </p:nvSpPr>
          <p:spPr>
            <a:xfrm>
              <a:off x="3096" y="6334"/>
              <a:ext cx="786"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二手商品交易</a:t>
              </a:r>
              <a:endParaRPr lang="zh-CN" altLang="en-US" sz="1000" b="1">
                <a:solidFill>
                  <a:srgbClr val="FFFFFF"/>
                </a:solidFill>
                <a:latin typeface="微软雅黑"/>
                <a:ea typeface="微软雅黑"/>
                <a:cs typeface="微软雅黑"/>
              </a:endParaRPr>
            </a:p>
          </p:txBody>
        </p:sp>
      </p:grpSp>
      <p:grpSp>
        <p:nvGrpSpPr>
          <p:cNvPr id="70" name="组合 69"/>
          <p:cNvGrpSpPr/>
          <p:nvPr/>
        </p:nvGrpSpPr>
        <p:grpSpPr>
          <a:xfrm>
            <a:off x="2332355" y="4034790"/>
            <a:ext cx="499110" cy="464185"/>
            <a:chOff x="3096" y="6234"/>
            <a:chExt cx="786" cy="731"/>
          </a:xfrm>
        </p:grpSpPr>
        <p:sp>
          <p:nvSpPr>
            <p:cNvPr id="71" name="椭圆 70"/>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72" name="文本框 71"/>
            <p:cNvSpPr txBox="1"/>
            <p:nvPr/>
          </p:nvSpPr>
          <p:spPr>
            <a:xfrm>
              <a:off x="3096" y="6334"/>
              <a:ext cx="786"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电商</a:t>
              </a:r>
              <a:endParaRPr lang="zh-CN" altLang="en-US"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金融</a:t>
              </a:r>
              <a:endParaRPr lang="zh-CN" altLang="en-US" sz="1000" b="1">
                <a:solidFill>
                  <a:srgbClr val="FFFFFF"/>
                </a:solidFill>
                <a:latin typeface="微软雅黑"/>
                <a:ea typeface="微软雅黑"/>
                <a:cs typeface="微软雅黑"/>
              </a:endParaRPr>
            </a:p>
          </p:txBody>
        </p:sp>
      </p:grpSp>
      <p:grpSp>
        <p:nvGrpSpPr>
          <p:cNvPr id="73" name="组合 72"/>
          <p:cNvGrpSpPr/>
          <p:nvPr/>
        </p:nvGrpSpPr>
        <p:grpSpPr>
          <a:xfrm>
            <a:off x="2698750" y="4034790"/>
            <a:ext cx="499110" cy="464185"/>
            <a:chOff x="3096" y="6234"/>
            <a:chExt cx="786" cy="731"/>
          </a:xfrm>
        </p:grpSpPr>
        <p:sp>
          <p:nvSpPr>
            <p:cNvPr id="74" name="椭圆 73"/>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75" name="文本框 74"/>
            <p:cNvSpPr txBox="1"/>
            <p:nvPr/>
          </p:nvSpPr>
          <p:spPr>
            <a:xfrm>
              <a:off x="3096" y="6334"/>
              <a:ext cx="786"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设备</a:t>
              </a:r>
              <a:endParaRPr lang="zh-CN" altLang="en-US"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租赁</a:t>
              </a:r>
              <a:endParaRPr lang="zh-CN" altLang="en-US" sz="1000" b="1">
                <a:solidFill>
                  <a:srgbClr val="FFFFFF"/>
                </a:solidFill>
                <a:latin typeface="微软雅黑"/>
                <a:ea typeface="微软雅黑"/>
                <a:cs typeface="微软雅黑"/>
              </a:endParaRPr>
            </a:p>
          </p:txBody>
        </p:sp>
      </p:grpSp>
      <p:grpSp>
        <p:nvGrpSpPr>
          <p:cNvPr id="76" name="组合 75"/>
          <p:cNvGrpSpPr/>
          <p:nvPr/>
        </p:nvGrpSpPr>
        <p:grpSpPr>
          <a:xfrm>
            <a:off x="3065145" y="4034790"/>
            <a:ext cx="499110" cy="464185"/>
            <a:chOff x="3096" y="6234"/>
            <a:chExt cx="786" cy="731"/>
          </a:xfrm>
        </p:grpSpPr>
        <p:sp>
          <p:nvSpPr>
            <p:cNvPr id="77" name="椭圆 76"/>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78" name="文本框 77"/>
            <p:cNvSpPr txBox="1"/>
            <p:nvPr/>
          </p:nvSpPr>
          <p:spPr>
            <a:xfrm>
              <a:off x="3096" y="6334"/>
              <a:ext cx="786"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rPr>
                <a:t>售后支持服务</a:t>
              </a:r>
              <a:endParaRPr lang="zh-CN" altLang="en-US" sz="1000" b="1">
                <a:solidFill>
                  <a:srgbClr val="FFFFFF"/>
                </a:solidFill>
                <a:latin typeface="微软雅黑"/>
                <a:ea typeface="微软雅黑"/>
                <a:cs typeface="微软雅黑"/>
              </a:endParaRPr>
            </a:p>
          </p:txBody>
        </p:sp>
      </p:grpSp>
      <p:grpSp>
        <p:nvGrpSpPr>
          <p:cNvPr id="79" name="组合 78"/>
          <p:cNvGrpSpPr/>
          <p:nvPr/>
        </p:nvGrpSpPr>
        <p:grpSpPr>
          <a:xfrm>
            <a:off x="4464050" y="4814570"/>
            <a:ext cx="499110" cy="464185"/>
            <a:chOff x="3096" y="6234"/>
            <a:chExt cx="786" cy="731"/>
          </a:xfrm>
        </p:grpSpPr>
        <p:sp>
          <p:nvSpPr>
            <p:cNvPr id="81" name="椭圆 80"/>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90" name="文本框 89"/>
            <p:cNvSpPr txBox="1"/>
            <p:nvPr/>
          </p:nvSpPr>
          <p:spPr>
            <a:xfrm>
              <a:off x="3096" y="6334"/>
              <a:ext cx="786" cy="494"/>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sz="1000" b="1">
                  <a:solidFill>
                    <a:srgbClr val="FFFFFF"/>
                  </a:solidFill>
                  <a:latin typeface="微软雅黑"/>
                  <a:ea typeface="微软雅黑"/>
                  <a:cs typeface="微软雅黑"/>
                  <a:sym typeface="微软雅黑"/>
                </a:rPr>
                <a:t>无人机配送</a:t>
              </a:r>
              <a:endParaRPr lang="zh-CN" sz="1000" b="1">
                <a:solidFill>
                  <a:srgbClr val="FFFFFF"/>
                </a:solidFill>
                <a:latin typeface="微软雅黑"/>
                <a:ea typeface="微软雅黑"/>
                <a:cs typeface="微软雅黑"/>
              </a:endParaRPr>
            </a:p>
          </p:txBody>
        </p:sp>
      </p:grpSp>
      <p:grpSp>
        <p:nvGrpSpPr>
          <p:cNvPr id="95" name="组合 94"/>
          <p:cNvGrpSpPr/>
          <p:nvPr/>
        </p:nvGrpSpPr>
        <p:grpSpPr>
          <a:xfrm>
            <a:off x="4830445" y="4813935"/>
            <a:ext cx="499110" cy="464185"/>
            <a:chOff x="3096" y="6234"/>
            <a:chExt cx="786" cy="731"/>
          </a:xfrm>
        </p:grpSpPr>
        <p:sp>
          <p:nvSpPr>
            <p:cNvPr id="98" name="椭圆 97"/>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99" name="文本框 98"/>
            <p:cNvSpPr txBox="1"/>
            <p:nvPr/>
          </p:nvSpPr>
          <p:spPr>
            <a:xfrm>
              <a:off x="3096" y="6334"/>
              <a:ext cx="786"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sym typeface="微软雅黑"/>
                </a:rPr>
                <a:t>商业智能应用</a:t>
              </a:r>
              <a:endParaRPr lang="zh-CN" altLang="en-US" sz="1000" b="1">
                <a:solidFill>
                  <a:srgbClr val="FFFFFF"/>
                </a:solidFill>
                <a:latin typeface="微软雅黑"/>
                <a:ea typeface="微软雅黑"/>
                <a:cs typeface="微软雅黑"/>
                <a:sym typeface="微软雅黑"/>
              </a:endParaRPr>
            </a:p>
          </p:txBody>
        </p:sp>
      </p:grpSp>
      <p:grpSp>
        <p:nvGrpSpPr>
          <p:cNvPr id="100" name="组合 99"/>
          <p:cNvGrpSpPr/>
          <p:nvPr/>
        </p:nvGrpSpPr>
        <p:grpSpPr>
          <a:xfrm>
            <a:off x="5196840" y="4813935"/>
            <a:ext cx="499110" cy="464185"/>
            <a:chOff x="3096" y="6234"/>
            <a:chExt cx="786" cy="731"/>
          </a:xfrm>
        </p:grpSpPr>
        <p:sp>
          <p:nvSpPr>
            <p:cNvPr id="101" name="椭圆 100"/>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102" name="文本框 101"/>
            <p:cNvSpPr txBox="1"/>
            <p:nvPr/>
          </p:nvSpPr>
          <p:spPr>
            <a:xfrm>
              <a:off x="3096" y="6334"/>
              <a:ext cx="786" cy="531"/>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b="1">
                  <a:solidFill>
                    <a:srgbClr val="FFFFFF"/>
                  </a:solidFill>
                  <a:latin typeface="微软雅黑"/>
                  <a:ea typeface="微软雅黑"/>
                  <a:cs typeface="微软雅黑"/>
                  <a:sym typeface="微软雅黑"/>
                </a:rPr>
                <a:t>电商系统集成</a:t>
              </a:r>
              <a:endParaRPr lang="zh-CN" altLang="en-US" sz="1000" b="1">
                <a:solidFill>
                  <a:srgbClr val="FFFFFF"/>
                </a:solidFill>
                <a:latin typeface="微软雅黑"/>
                <a:ea typeface="微软雅黑"/>
                <a:cs typeface="微软雅黑"/>
              </a:endParaRPr>
            </a:p>
          </p:txBody>
        </p:sp>
      </p:grpSp>
      <p:grpSp>
        <p:nvGrpSpPr>
          <p:cNvPr id="103" name="组合 102"/>
          <p:cNvGrpSpPr/>
          <p:nvPr/>
        </p:nvGrpSpPr>
        <p:grpSpPr>
          <a:xfrm>
            <a:off x="5563235" y="4813935"/>
            <a:ext cx="499110" cy="464185"/>
            <a:chOff x="3096" y="6234"/>
            <a:chExt cx="786" cy="731"/>
          </a:xfrm>
        </p:grpSpPr>
        <p:sp>
          <p:nvSpPr>
            <p:cNvPr id="104" name="椭圆 103"/>
            <p:cNvSpPr/>
            <p:nvPr/>
          </p:nvSpPr>
          <p:spPr>
            <a:xfrm>
              <a:off x="3123" y="6234"/>
              <a:ext cx="731" cy="731"/>
            </a:xfrm>
            <a:prstGeom prst="ellipse">
              <a:avLst/>
            </a:prstGeom>
            <a:gradFill>
              <a:gsLst>
                <a:gs pos="0">
                  <a:srgbClr val="3368FF"/>
                </a:gs>
                <a:gs pos="100000">
                  <a:srgbClr val="668EFF"/>
                </a:gs>
              </a:gsLst>
              <a:lin ang="5400000" scaled="0"/>
            </a:gradFill>
            <a:ln>
              <a:solidFill>
                <a:srgbClr val="FFFF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endParaRPr lang="zh-CN" altLang="en-US" sz="1400" b="1">
                <a:solidFill>
                  <a:srgbClr val="FFFFFF"/>
                </a:solidFill>
                <a:cs typeface="微软雅黑"/>
                <a:sym typeface="微软雅黑"/>
                <a:latin typeface="微软雅黑"/>
                <a:ea typeface="微软雅黑"/>
              </a:endParaRPr>
            </a:p>
          </p:txBody>
        </p:sp>
        <p:sp>
          <p:nvSpPr>
            <p:cNvPr id="105" name="文本框 104"/>
            <p:cNvSpPr txBox="1"/>
            <p:nvPr/>
          </p:nvSpPr>
          <p:spPr>
            <a:xfrm>
              <a:off x="3096" y="6280"/>
              <a:ext cx="786" cy="718"/>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b="1">
                  <a:solidFill>
                    <a:srgbClr val="FFFFFF"/>
                  </a:solidFill>
                  <a:latin typeface="微软雅黑"/>
                  <a:ea typeface="微软雅黑"/>
                  <a:cs typeface="微软雅黑"/>
                  <a:sym typeface="微软雅黑"/>
                </a:rPr>
                <a:t>AI</a:t>
              </a:r>
              <a:r>
                <a:rPr lang="zh-CN" altLang="en-US" sz="1000" b="1">
                  <a:solidFill>
                    <a:srgbClr val="FFFFFF"/>
                  </a:solidFill>
                  <a:latin typeface="微软雅黑"/>
                  <a:ea typeface="微软雅黑"/>
                  <a:cs typeface="微软雅黑"/>
                  <a:sym typeface="微软雅黑"/>
                </a:rPr>
                <a:t>智能客服机器人</a:t>
              </a:r>
              <a:endParaRPr lang="zh-CN" altLang="en-US" sz="1000" b="1">
                <a:solidFill>
                  <a:srgbClr val="FFFFFF"/>
                </a:solidFill>
                <a:latin typeface="微软雅黑"/>
                <a:ea typeface="微软雅黑"/>
                <a:cs typeface="微软雅黑"/>
                <a:sym typeface="微软雅黑"/>
              </a:endParaRPr>
            </a:p>
          </p:txBody>
        </p:sp>
      </p:grpSp>
      <p:grpSp>
        <p:nvGrpSpPr>
          <p:cNvPr id="106" name="组合 105"/>
          <p:cNvGrpSpPr/>
          <p:nvPr/>
        </p:nvGrpSpPr>
        <p:grpSpPr>
          <a:xfrm>
            <a:off x="7160260" y="5382260"/>
            <a:ext cx="499110" cy="464185"/>
            <a:chOff x="3263" y="8978"/>
            <a:chExt cx="786" cy="731"/>
          </a:xfrm>
        </p:grpSpPr>
        <p:sp>
          <p:nvSpPr>
            <p:cNvPr id="107" name="椭圆 106"/>
            <p:cNvSpPr/>
            <p:nvPr/>
          </p:nvSpPr>
          <p:spPr>
            <a:xfrm>
              <a:off x="3291" y="8978"/>
              <a:ext cx="731" cy="731"/>
            </a:xfrm>
            <a:prstGeom prst="ellipse">
              <a:avLst/>
            </a:prstGeom>
            <a:solidFill>
              <a:srgbClr val="FFFFFF"/>
            </a:solidFill>
            <a:ln>
              <a:solidFill>
                <a:srgbClr val="3368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108" name="文本框 107"/>
            <p:cNvSpPr txBox="1"/>
            <p:nvPr/>
          </p:nvSpPr>
          <p:spPr>
            <a:xfrm>
              <a:off x="3263" y="9078"/>
              <a:ext cx="786" cy="531"/>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rPr>
                <a:t>大数据服务</a:t>
              </a:r>
              <a:endParaRPr lang="zh-CN" altLang="en-US" sz="1000" b="1">
                <a:solidFill>
                  <a:srgbClr val="0042FF"/>
                </a:solidFill>
                <a:latin typeface="微软雅黑"/>
                <a:ea typeface="微软雅黑"/>
                <a:cs typeface="微软雅黑"/>
              </a:endParaRPr>
            </a:p>
          </p:txBody>
        </p:sp>
      </p:grpSp>
      <p:sp>
        <p:nvSpPr>
          <p:cNvPr id="109" name="椭圆 108"/>
          <p:cNvSpPr/>
          <p:nvPr/>
        </p:nvSpPr>
        <p:spPr>
          <a:xfrm>
            <a:off x="7768590" y="5382260"/>
            <a:ext cx="464185" cy="464185"/>
          </a:xfrm>
          <a:prstGeom prst="ellipse">
            <a:avLst/>
          </a:prstGeom>
          <a:solidFill>
            <a:srgbClr val="FFFFFF"/>
          </a:solidFill>
          <a:ln>
            <a:solidFill>
              <a:srgbClr val="3368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114" name="文本框 113"/>
          <p:cNvSpPr txBox="1"/>
          <p:nvPr/>
        </p:nvSpPr>
        <p:spPr>
          <a:xfrm>
            <a:off x="7755890" y="5445760"/>
            <a:ext cx="499110" cy="33718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rPr>
              <a:t>云计算服务</a:t>
            </a:r>
            <a:endParaRPr lang="zh-CN" altLang="en-US" sz="1000" b="1">
              <a:solidFill>
                <a:srgbClr val="0042FF"/>
              </a:solidFill>
              <a:latin typeface="微软雅黑"/>
              <a:ea typeface="微软雅黑"/>
              <a:cs typeface="微软雅黑"/>
            </a:endParaRPr>
          </a:p>
        </p:txBody>
      </p:sp>
      <p:grpSp>
        <p:nvGrpSpPr>
          <p:cNvPr id="154" name="组合 153"/>
          <p:cNvGrpSpPr/>
          <p:nvPr/>
        </p:nvGrpSpPr>
        <p:grpSpPr>
          <a:xfrm>
            <a:off x="2447290" y="1845945"/>
            <a:ext cx="499110" cy="464185"/>
            <a:chOff x="3312" y="8978"/>
            <a:chExt cx="786" cy="731"/>
          </a:xfrm>
        </p:grpSpPr>
        <p:sp>
          <p:nvSpPr>
            <p:cNvPr id="155" name="椭圆 154"/>
            <p:cNvSpPr/>
            <p:nvPr/>
          </p:nvSpPr>
          <p:spPr>
            <a:xfrm>
              <a:off x="3340" y="8978"/>
              <a:ext cx="731" cy="731"/>
            </a:xfrm>
            <a:prstGeom prst="ellipse">
              <a:avLst/>
            </a:prstGeom>
            <a:solidFill>
              <a:srgbClr val="FFFFFF"/>
            </a:solidFill>
            <a:ln>
              <a:solidFill>
                <a:srgbClr val="3368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156" name="文本框 155"/>
            <p:cNvSpPr txBox="1"/>
            <p:nvPr/>
          </p:nvSpPr>
          <p:spPr>
            <a:xfrm>
              <a:off x="3312" y="9078"/>
              <a:ext cx="786" cy="531"/>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sz="1000" b="1">
                  <a:solidFill>
                    <a:srgbClr val="0042FF"/>
                  </a:solidFill>
                  <a:latin typeface="微软雅黑"/>
                  <a:ea typeface="微软雅黑"/>
                  <a:cs typeface="微软雅黑"/>
                </a:rPr>
                <a:t>货运匹配平台</a:t>
              </a:r>
              <a:endParaRPr lang="zh-CN" sz="1000" b="1">
                <a:solidFill>
                  <a:srgbClr val="0042FF"/>
                </a:solidFill>
                <a:latin typeface="微软雅黑"/>
                <a:ea typeface="微软雅黑"/>
                <a:cs typeface="微软雅黑"/>
              </a:endParaRPr>
            </a:p>
          </p:txBody>
        </p:sp>
      </p:grpSp>
      <p:grpSp>
        <p:nvGrpSpPr>
          <p:cNvPr id="160" name="组合 159"/>
          <p:cNvGrpSpPr/>
          <p:nvPr/>
        </p:nvGrpSpPr>
        <p:grpSpPr>
          <a:xfrm>
            <a:off x="3079750" y="1845945"/>
            <a:ext cx="499110" cy="464185"/>
            <a:chOff x="3312" y="8978"/>
            <a:chExt cx="786" cy="731"/>
          </a:xfrm>
        </p:grpSpPr>
        <p:sp>
          <p:nvSpPr>
            <p:cNvPr id="161" name="椭圆 160"/>
            <p:cNvSpPr/>
            <p:nvPr/>
          </p:nvSpPr>
          <p:spPr>
            <a:xfrm>
              <a:off x="3340" y="8978"/>
              <a:ext cx="731" cy="731"/>
            </a:xfrm>
            <a:prstGeom prst="ellipse">
              <a:avLst/>
            </a:prstGeom>
            <a:solidFill>
              <a:srgbClr val="FFFFFF"/>
            </a:solidFill>
            <a:ln>
              <a:solidFill>
                <a:srgbClr val="3368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162" name="文本框 161"/>
            <p:cNvSpPr txBox="1"/>
            <p:nvPr/>
          </p:nvSpPr>
          <p:spPr>
            <a:xfrm>
              <a:off x="3312" y="9078"/>
              <a:ext cx="786" cy="531"/>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rPr>
                <a:t>基础运力管理</a:t>
              </a:r>
              <a:endParaRPr lang="zh-CN" altLang="en-US" sz="1000" b="1">
                <a:solidFill>
                  <a:srgbClr val="0042FF"/>
                </a:solidFill>
                <a:latin typeface="微软雅黑"/>
                <a:ea typeface="微软雅黑"/>
                <a:cs typeface="微软雅黑"/>
              </a:endParaRPr>
            </a:p>
          </p:txBody>
        </p:sp>
      </p:grpSp>
      <p:grpSp>
        <p:nvGrpSpPr>
          <p:cNvPr id="166" name="组合 165"/>
          <p:cNvGrpSpPr/>
          <p:nvPr/>
        </p:nvGrpSpPr>
        <p:grpSpPr>
          <a:xfrm>
            <a:off x="3712210" y="1845945"/>
            <a:ext cx="499110" cy="464185"/>
            <a:chOff x="3312" y="8978"/>
            <a:chExt cx="786" cy="731"/>
          </a:xfrm>
        </p:grpSpPr>
        <p:sp>
          <p:nvSpPr>
            <p:cNvPr id="167" name="椭圆 166"/>
            <p:cNvSpPr/>
            <p:nvPr/>
          </p:nvSpPr>
          <p:spPr>
            <a:xfrm>
              <a:off x="3340" y="8978"/>
              <a:ext cx="731" cy="731"/>
            </a:xfrm>
            <a:prstGeom prst="ellipse">
              <a:avLst/>
            </a:prstGeom>
            <a:solidFill>
              <a:srgbClr val="FFFFFF"/>
            </a:solidFill>
            <a:ln>
              <a:solidFill>
                <a:srgbClr val="3368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400" b="1">
                <a:solidFill>
                  <a:srgbClr val="0042FF"/>
                </a:solidFill>
                <a:cs typeface="微软雅黑"/>
                <a:sym typeface="微软雅黑"/>
                <a:latin typeface="微软雅黑"/>
                <a:ea typeface="微软雅黑"/>
              </a:endParaRPr>
            </a:p>
          </p:txBody>
        </p:sp>
        <p:sp>
          <p:nvSpPr>
            <p:cNvPr id="168" name="文本框 167"/>
            <p:cNvSpPr txBox="1"/>
            <p:nvPr/>
          </p:nvSpPr>
          <p:spPr>
            <a:xfrm>
              <a:off x="3312" y="9078"/>
              <a:ext cx="786" cy="531"/>
            </a:xfrm>
            <a:prstGeom prst="rect">
              <a:avLst/>
            </a:prstGeom>
            <a:noFill/>
          </p:spPr>
          <p:txBody>
            <a:bodyPr wrap="square" rtlCol="0" lIns="0" rIns="0" tIns="0" bIns="0" anchor="t">
              <a:noAutofit/>
            </a:bodyPr>
            <a:p>
              <a:pPr>
                <a:defRPr>
                  <a:latin typeface="微软雅黑"/>
                  <a:ea typeface="微软雅黑"/>
                  <a:cs typeface="微软雅黑"/>
                </a:defRPr>
                <a:lnSpc>
                  <a:spcPts val="1120"/>
                </a:lnSpc>
                <a:spcBef>
                  <a:spcPts val="0"/>
                </a:spcBef>
                <a:spcAft>
                  <a:spcPts val="0"/>
                </a:spcAft>
              </a:pPr>
              <a:r>
                <a:rPr lang="zh-CN" altLang="en-US" sz="1000" b="1">
                  <a:solidFill>
                    <a:srgbClr val="0042FF"/>
                  </a:solidFill>
                  <a:latin typeface="微软雅黑"/>
                  <a:ea typeface="微软雅黑"/>
                  <a:cs typeface="微软雅黑"/>
                </a:rPr>
                <a:t>智能配送系统</a:t>
              </a:r>
              <a:endParaRPr lang="zh-CN" altLang="en-US" sz="1000" b="1">
                <a:solidFill>
                  <a:srgbClr val="0042FF"/>
                </a:solidFill>
                <a:latin typeface="微软雅黑"/>
                <a:ea typeface="微软雅黑"/>
                <a:cs typeface="微软雅黑"/>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品牌方案设计核心思路</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73" name="圆角矩形 172"/>
          <p:cNvSpPr/>
          <p:nvPr/>
        </p:nvSpPr>
        <p:spPr>
          <a:xfrm>
            <a:off x="4136158" y="2974255"/>
            <a:ext cx="3997037" cy="1947573"/>
          </a:xfrm>
          <a:prstGeom prst="roundRect">
            <a:avLst>
              <a:gd name="adj" fmla="val 50000"/>
            </a:avLst>
          </a:prstGeom>
          <a:solidFill>
            <a:srgbClr val="FFFFFF">
              <a:alpha val="20000"/>
            </a:srgbClr>
          </a:solidFill>
          <a:ln w="12700">
            <a:solidFill>
              <a:srgbClr val="383838">
                <a:alpha val="80000"/>
              </a:srgbClr>
            </a:solidFill>
            <a:prstDash val="lg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25" name="矩形: 圆角 66"/>
          <p:cNvSpPr/>
          <p:nvPr/>
        </p:nvSpPr>
        <p:spPr>
          <a:xfrm>
            <a:off x="7031055" y="3156815"/>
            <a:ext cx="2168522" cy="421334"/>
          </a:xfrm>
          <a:prstGeom prst="roundRect">
            <a:avLst>
              <a:gd name="adj" fmla="val 50000"/>
            </a:avLst>
          </a:prstGeom>
          <a:gradFill>
            <a:gsLst>
              <a:gs pos="30000">
                <a:srgbClr val="B3D4FE"/>
              </a:gs>
              <a:gs pos="71000">
                <a:srgbClr val="B3D4FE">
                  <a:alpha val="0"/>
                </a:srgbClr>
              </a:gs>
            </a:gsLst>
            <a:lin ang="10800000" scaled="0"/>
          </a:gradFill>
          <a:ln w="1905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8" name="矩形: 圆角 66"/>
          <p:cNvSpPr/>
          <p:nvPr/>
        </p:nvSpPr>
        <p:spPr>
          <a:xfrm>
            <a:off x="7381380" y="3799404"/>
            <a:ext cx="2168522" cy="421334"/>
          </a:xfrm>
          <a:prstGeom prst="roundRect">
            <a:avLst>
              <a:gd name="adj" fmla="val 50000"/>
            </a:avLst>
          </a:prstGeom>
          <a:gradFill>
            <a:gsLst>
              <a:gs pos="30000">
                <a:srgbClr val="B3D4FE"/>
              </a:gs>
              <a:gs pos="71000">
                <a:srgbClr val="B3D4FE">
                  <a:alpha val="0"/>
                </a:srgbClr>
              </a:gs>
            </a:gsLst>
            <a:lin ang="10800000" scaled="0"/>
          </a:gradFill>
          <a:ln w="1905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178" name="矩形: 圆角 66"/>
          <p:cNvSpPr/>
          <p:nvPr/>
        </p:nvSpPr>
        <p:spPr>
          <a:xfrm>
            <a:off x="7031055" y="4376016"/>
            <a:ext cx="2168522" cy="421334"/>
          </a:xfrm>
          <a:prstGeom prst="roundRect">
            <a:avLst>
              <a:gd name="adj" fmla="val 50000"/>
            </a:avLst>
          </a:prstGeom>
          <a:gradFill>
            <a:gsLst>
              <a:gs pos="30000">
                <a:srgbClr val="B3D4FE"/>
              </a:gs>
              <a:gs pos="71000">
                <a:srgbClr val="B3D4FE">
                  <a:alpha val="0"/>
                </a:srgbClr>
              </a:gs>
            </a:gsLst>
            <a:lin ang="10800000" scaled="0"/>
          </a:gradFill>
          <a:ln w="1905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185" name="矩形: 圆角 66"/>
          <p:cNvSpPr/>
          <p:nvPr/>
        </p:nvSpPr>
        <p:spPr>
          <a:xfrm rot="10800000" flipV="1">
            <a:off x="3130844" y="3133175"/>
            <a:ext cx="2168522" cy="421334"/>
          </a:xfrm>
          <a:prstGeom prst="roundRect">
            <a:avLst>
              <a:gd name="adj" fmla="val 50000"/>
            </a:avLst>
          </a:prstGeom>
          <a:gradFill>
            <a:gsLst>
              <a:gs pos="30000">
                <a:srgbClr val="3368FF"/>
              </a:gs>
              <a:gs pos="71000">
                <a:srgbClr val="3368FF">
                  <a:alpha val="0"/>
                </a:srgbClr>
              </a:gs>
            </a:gsLst>
            <a:lin ang="10800000" scaled="0"/>
          </a:gradFill>
          <a:ln w="1905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86" name="矩形: 圆角 66"/>
          <p:cNvSpPr/>
          <p:nvPr/>
        </p:nvSpPr>
        <p:spPr>
          <a:xfrm rot="10800000" flipV="1">
            <a:off x="2726073" y="3756630"/>
            <a:ext cx="2168522" cy="421334"/>
          </a:xfrm>
          <a:prstGeom prst="roundRect">
            <a:avLst>
              <a:gd name="adj" fmla="val 50000"/>
            </a:avLst>
          </a:prstGeom>
          <a:gradFill>
            <a:gsLst>
              <a:gs pos="30000">
                <a:srgbClr val="3368FF"/>
              </a:gs>
              <a:gs pos="71000">
                <a:srgbClr val="3368FF">
                  <a:alpha val="0"/>
                </a:srgbClr>
              </a:gs>
            </a:gsLst>
            <a:lin ang="10800000" scaled="0"/>
          </a:gradFill>
          <a:ln w="1905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87" name="矩形: 圆角 66"/>
          <p:cNvSpPr/>
          <p:nvPr/>
        </p:nvSpPr>
        <p:spPr>
          <a:xfrm rot="10800000" flipV="1">
            <a:off x="3130844" y="4352376"/>
            <a:ext cx="2168522" cy="421334"/>
          </a:xfrm>
          <a:prstGeom prst="roundRect">
            <a:avLst>
              <a:gd name="adj" fmla="val 50000"/>
            </a:avLst>
          </a:prstGeom>
          <a:gradFill>
            <a:gsLst>
              <a:gs pos="30000">
                <a:srgbClr val="3368FF"/>
              </a:gs>
              <a:gs pos="71000">
                <a:srgbClr val="3368FF">
                  <a:alpha val="0"/>
                </a:srgbClr>
              </a:gs>
            </a:gsLst>
            <a:lin ang="10800000" scaled="0"/>
          </a:gradFill>
          <a:ln w="1905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31" name="圆角矩形 30"/>
          <p:cNvSpPr/>
          <p:nvPr/>
        </p:nvSpPr>
        <p:spPr>
          <a:xfrm>
            <a:off x="3422650" y="1397000"/>
            <a:ext cx="5391150" cy="1155700"/>
          </a:xfrm>
          <a:prstGeom prst="roundRect">
            <a:avLst>
              <a:gd name="adj" fmla="val 50000"/>
            </a:avLst>
          </a:prstGeom>
          <a:solidFill>
            <a:srgbClr val="FFFFFF">
              <a:alpha val="20000"/>
            </a:srgbClr>
          </a:solidFill>
          <a:ln w="12700">
            <a:solidFill>
              <a:srgbClr val="668EFF"/>
            </a:solidFill>
            <a:prstDash val="lg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51" name="圆角矩形 150"/>
          <p:cNvSpPr/>
          <p:nvPr/>
        </p:nvSpPr>
        <p:spPr>
          <a:xfrm>
            <a:off x="3277177" y="5382491"/>
            <a:ext cx="5721927" cy="820882"/>
          </a:xfrm>
          <a:prstGeom prst="roundRect">
            <a:avLst>
              <a:gd name="adj" fmla="val 50000"/>
            </a:avLst>
          </a:prstGeom>
          <a:solidFill>
            <a:srgbClr val="FFFFFF">
              <a:alpha val="20000"/>
            </a:srgbClr>
          </a:solidFill>
          <a:ln w="12700">
            <a:solidFill>
              <a:srgbClr val="B3D4FE"/>
            </a:solidFill>
            <a:prstDash val="lg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53" name="圆角矩形 152"/>
          <p:cNvSpPr/>
          <p:nvPr/>
        </p:nvSpPr>
        <p:spPr>
          <a:xfrm>
            <a:off x="3498851" y="5541819"/>
            <a:ext cx="1697182" cy="549526"/>
          </a:xfrm>
          <a:prstGeom prst="roundRect">
            <a:avLst>
              <a:gd name="adj" fmla="val 50000"/>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154" name="圆角矩形 153"/>
          <p:cNvSpPr/>
          <p:nvPr/>
        </p:nvSpPr>
        <p:spPr>
          <a:xfrm>
            <a:off x="5293015" y="5541819"/>
            <a:ext cx="1697182" cy="549526"/>
          </a:xfrm>
          <a:prstGeom prst="roundRect">
            <a:avLst>
              <a:gd name="adj" fmla="val 50000"/>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155" name="圆角矩形 154"/>
          <p:cNvSpPr/>
          <p:nvPr/>
        </p:nvSpPr>
        <p:spPr>
          <a:xfrm>
            <a:off x="7114887" y="5541819"/>
            <a:ext cx="1697182" cy="549526"/>
          </a:xfrm>
          <a:prstGeom prst="roundRect">
            <a:avLst>
              <a:gd name="adj" fmla="val 50000"/>
            </a:avLst>
          </a:prstGeom>
          <a:gradFill flip="none" rotWithShape="1">
            <a:gsLst>
              <a:gs pos="60000">
                <a:srgbClr val="FFFFFF">
                  <a:alpha val="56000"/>
                </a:srgbClr>
              </a:gs>
              <a:gs pos="100000">
                <a:srgbClr val="B3D4FE"/>
              </a:gs>
            </a:gsLst>
            <a:path path="shape">
              <a:fillToRect l="50000" t="50000" r="50000" b="50000"/>
            </a:path>
            <a:tileRect/>
          </a:gradFill>
          <a:ln w="3175">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152" name="文本框 151"/>
          <p:cNvSpPr txBox="1"/>
          <p:nvPr/>
        </p:nvSpPr>
        <p:spPr>
          <a:xfrm>
            <a:off x="3676191" y="5690376"/>
            <a:ext cx="1342503" cy="215265"/>
          </a:xfrm>
          <a:prstGeom prst="rect">
            <a:avLst/>
          </a:prstGeom>
          <a:noFill/>
        </p:spPr>
        <p:txBody>
          <a:bodyPr wrap="square" lIns="0" tIns="0" rIns="0" bIns="0" rtlCol="0" anchor="t" anchorCtr="0">
            <a:spAutoFit/>
          </a:bodyPr>
          <a:lstStyle/>
          <a:p>
            <a:pPr lvl="0" algn="ctr">
              <a:spcBef>
                <a:spcPts val="0"/>
              </a:spcBef>
              <a:spcAft>
                <a:spcPts val="0"/>
              </a:spcAft>
              <a:buClrTx/>
              <a:buSzTx/>
              <a:buFontTx/>
              <a:defRPr>
                <a:latin typeface="微软雅黑"/>
                <a:ea typeface="微软雅黑"/>
                <a:cs typeface="微软雅黑"/>
              </a:defRPr>
            </a:pPr>
            <a:r>
              <a:rPr lang="zh-CN" altLang="en-US" sz="1400" noProof="0" dirty="0">
                <a:ln>
                  <a:noFill/>
                </a:ln>
                <a:gradFill>
                  <a:gsLst>
                    <a:gs pos="0">
                      <a:srgbClr val="0042FF"/>
                    </a:gs>
                    <a:gs pos="100000">
                      <a:srgbClr val="0042FF"/>
                    </a:gs>
                  </a:gsLst>
                  <a:lin ang="5400000" scaled="1"/>
                </a:gradFill>
                <a:effectLst/>
                <a:uLnTx/>
                <a:uFillTx/>
                <a:latin typeface="微软雅黑"/>
                <a:ea typeface="微软雅黑"/>
                <a:cs typeface="微软雅黑"/>
                <a:sym typeface="微软雅黑"/>
              </a:rPr>
              <a:t>继承品牌资产</a:t>
            </a:r>
            <a:endParaRPr lang="zh-CN" altLang="en-US" sz="1400" noProof="0" dirty="0">
              <a:ln>
                <a:noFill/>
              </a:ln>
              <a:gradFill>
                <a:gsLst>
                  <a:gs pos="0">
                    <a:srgbClr val="0042FF"/>
                  </a:gs>
                  <a:gs pos="100000">
                    <a:srgbClr val="0042FF"/>
                  </a:gs>
                </a:gsLst>
                <a:lin ang="5400000" scaled="1"/>
              </a:gradFill>
              <a:effectLst/>
              <a:uLnTx/>
              <a:uFillTx/>
              <a:latin typeface="微软雅黑"/>
              <a:ea typeface="微软雅黑"/>
              <a:cs typeface="微软雅黑"/>
              <a:sym typeface="微软雅黑"/>
            </a:endParaRPr>
          </a:p>
        </p:txBody>
      </p:sp>
      <p:sp>
        <p:nvSpPr>
          <p:cNvPr id="156" name="文本框 155"/>
          <p:cNvSpPr txBox="1"/>
          <p:nvPr/>
        </p:nvSpPr>
        <p:spPr>
          <a:xfrm>
            <a:off x="5470355" y="5690376"/>
            <a:ext cx="1342503" cy="215265"/>
          </a:xfrm>
          <a:prstGeom prst="rect">
            <a:avLst/>
          </a:prstGeom>
          <a:noFill/>
        </p:spPr>
        <p:txBody>
          <a:bodyPr wrap="square" lIns="0" tIns="0" rIns="0" bIns="0" rtlCol="0" anchor="t" anchorCtr="0">
            <a:spAutoFit/>
          </a:bodyPr>
          <a:lstStyle/>
          <a:p>
            <a:pPr lvl="0" algn="ctr">
              <a:spcBef>
                <a:spcPts val="0"/>
              </a:spcBef>
              <a:spcAft>
                <a:spcPts val="0"/>
              </a:spcAft>
              <a:buClrTx/>
              <a:buSzTx/>
              <a:buFontTx/>
              <a:defRPr>
                <a:latin typeface="微软雅黑"/>
                <a:ea typeface="微软雅黑"/>
                <a:cs typeface="微软雅黑"/>
              </a:defRPr>
            </a:pPr>
            <a:r>
              <a:rPr lang="zh-CN" altLang="en-US" sz="1400" noProof="0" dirty="0">
                <a:ln>
                  <a:noFill/>
                </a:ln>
                <a:gradFill>
                  <a:gsLst>
                    <a:gs pos="0">
                      <a:srgbClr val="0042FF"/>
                    </a:gs>
                    <a:gs pos="100000">
                      <a:srgbClr val="0042FF"/>
                    </a:gs>
                  </a:gsLst>
                  <a:lin ang="5400000" scaled="1"/>
                </a:gradFill>
                <a:effectLst/>
                <a:uLnTx/>
                <a:uFillTx/>
                <a:latin typeface="微软雅黑"/>
                <a:ea typeface="微软雅黑"/>
                <a:cs typeface="微软雅黑"/>
                <a:sym typeface="微软雅黑"/>
              </a:rPr>
              <a:t>优化阶段问题</a:t>
            </a:r>
            <a:endParaRPr lang="zh-CN" altLang="en-US" sz="1400" noProof="0" dirty="0">
              <a:ln>
                <a:noFill/>
              </a:ln>
              <a:gradFill>
                <a:gsLst>
                  <a:gs pos="0">
                    <a:srgbClr val="0042FF"/>
                  </a:gs>
                  <a:gs pos="100000">
                    <a:srgbClr val="0042FF"/>
                  </a:gs>
                </a:gsLst>
                <a:lin ang="5400000" scaled="1"/>
              </a:gradFill>
              <a:effectLst/>
              <a:uLnTx/>
              <a:uFillTx/>
              <a:latin typeface="微软雅黑"/>
              <a:ea typeface="微软雅黑"/>
              <a:cs typeface="微软雅黑"/>
              <a:sym typeface="微软雅黑"/>
            </a:endParaRPr>
          </a:p>
        </p:txBody>
      </p:sp>
      <p:sp>
        <p:nvSpPr>
          <p:cNvPr id="159" name="文本框 158"/>
          <p:cNvSpPr txBox="1"/>
          <p:nvPr/>
        </p:nvSpPr>
        <p:spPr>
          <a:xfrm>
            <a:off x="7332536" y="5690376"/>
            <a:ext cx="1253490" cy="215265"/>
          </a:xfrm>
          <a:prstGeom prst="rect">
            <a:avLst/>
          </a:prstGeom>
          <a:noFill/>
        </p:spPr>
        <p:txBody>
          <a:bodyPr wrap="square" lIns="0" tIns="0" rIns="0" bIns="0" rtlCol="0" anchor="t" anchorCtr="0">
            <a:spAutoFit/>
          </a:bodyPr>
          <a:lstStyle/>
          <a:p>
            <a:pPr lvl="0" algn="ctr">
              <a:spcBef>
                <a:spcPts val="0"/>
              </a:spcBef>
              <a:spcAft>
                <a:spcPts val="0"/>
              </a:spcAft>
              <a:buClrTx/>
              <a:buSzTx/>
              <a:buFontTx/>
              <a:defRPr>
                <a:latin typeface="微软雅黑"/>
                <a:ea typeface="微软雅黑"/>
                <a:cs typeface="微软雅黑"/>
              </a:defRPr>
            </a:pPr>
            <a:r>
              <a:rPr lang="zh-CN" altLang="en-US" sz="1400" noProof="0" dirty="0">
                <a:ln>
                  <a:noFill/>
                </a:ln>
                <a:gradFill>
                  <a:gsLst>
                    <a:gs pos="0">
                      <a:srgbClr val="0042FF"/>
                    </a:gs>
                    <a:gs pos="100000">
                      <a:srgbClr val="0042FF"/>
                    </a:gs>
                  </a:gsLst>
                  <a:lin ang="5400000" scaled="1"/>
                </a:gradFill>
                <a:effectLst/>
                <a:uLnTx/>
                <a:uFillTx/>
                <a:latin typeface="微软雅黑"/>
                <a:ea typeface="微软雅黑"/>
                <a:cs typeface="微软雅黑"/>
                <a:sym typeface="微软雅黑"/>
              </a:rPr>
              <a:t>激活品牌活力</a:t>
            </a:r>
            <a:endParaRPr lang="zh-CN" altLang="en-US" sz="1400" noProof="0" dirty="0">
              <a:ln>
                <a:noFill/>
              </a:ln>
              <a:gradFill>
                <a:gsLst>
                  <a:gs pos="0">
                    <a:srgbClr val="0042FF"/>
                  </a:gs>
                  <a:gs pos="100000">
                    <a:srgbClr val="0042FF"/>
                  </a:gs>
                </a:gsLst>
                <a:lin ang="5400000" scaled="1"/>
              </a:gradFill>
              <a:effectLst/>
              <a:uLnTx/>
              <a:uFillTx/>
              <a:latin typeface="微软雅黑"/>
              <a:ea typeface="微软雅黑"/>
              <a:cs typeface="微软雅黑"/>
              <a:sym typeface="微软雅黑"/>
            </a:endParaRPr>
          </a:p>
        </p:txBody>
      </p:sp>
      <p:sp>
        <p:nvSpPr>
          <p:cNvPr id="160" name="任意多边形: 形状 28"/>
          <p:cNvSpPr/>
          <p:nvPr/>
        </p:nvSpPr>
        <p:spPr>
          <a:xfrm>
            <a:off x="4231515" y="3052190"/>
            <a:ext cx="1768704" cy="1766605"/>
          </a:xfrm>
          <a:custGeom>
            <a:avLst/>
            <a:gdLst>
              <a:gd name="connsiteX0" fmla="*/ 1148181 w 1148181"/>
              <a:gd name="connsiteY0" fmla="*/ 574091 h 1148181"/>
              <a:gd name="connsiteX1" fmla="*/ 574091 w 1148181"/>
              <a:gd name="connsiteY1" fmla="*/ 1148181 h 1148181"/>
              <a:gd name="connsiteX2" fmla="*/ 0 w 1148181"/>
              <a:gd name="connsiteY2" fmla="*/ 574091 h 1148181"/>
              <a:gd name="connsiteX3" fmla="*/ 574091 w 1148181"/>
              <a:gd name="connsiteY3" fmla="*/ 0 h 1148181"/>
              <a:gd name="connsiteX4" fmla="*/ 1148181 w 1148181"/>
              <a:gd name="connsiteY4" fmla="*/ 574091 h 1148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8181" h="1148181">
                <a:moveTo>
                  <a:pt x="1148181" y="574091"/>
                </a:moveTo>
                <a:cubicBezTo>
                  <a:pt x="1148181" y="891152"/>
                  <a:pt x="891152" y="1148181"/>
                  <a:pt x="574091" y="1148181"/>
                </a:cubicBezTo>
                <a:cubicBezTo>
                  <a:pt x="257029" y="1148181"/>
                  <a:pt x="0" y="891152"/>
                  <a:pt x="0" y="574091"/>
                </a:cubicBezTo>
                <a:cubicBezTo>
                  <a:pt x="0" y="257029"/>
                  <a:pt x="257029" y="0"/>
                  <a:pt x="574091" y="0"/>
                </a:cubicBezTo>
                <a:cubicBezTo>
                  <a:pt x="891152" y="0"/>
                  <a:pt x="1148181" y="257029"/>
                  <a:pt x="1148181" y="574091"/>
                </a:cubicBezTo>
                <a:close/>
              </a:path>
            </a:pathLst>
          </a:custGeom>
          <a:gradFill>
            <a:gsLst>
              <a:gs pos="100000">
                <a:srgbClr val="0042FF"/>
              </a:gs>
              <a:gs pos="36000">
                <a:srgbClr val="3368FF"/>
              </a:gs>
            </a:gsLst>
            <a:lin ang="5400000" scaled="1"/>
          </a:gra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61" name="文本框 160"/>
          <p:cNvSpPr txBox="1"/>
          <p:nvPr/>
        </p:nvSpPr>
        <p:spPr>
          <a:xfrm>
            <a:off x="4513828" y="3514158"/>
            <a:ext cx="1172754" cy="429669"/>
          </a:xfrm>
          <a:prstGeom prst="rect">
            <a:avLst/>
          </a:prstGeom>
          <a:noFill/>
        </p:spPr>
        <p:txBody>
          <a:bodyPr wrap="square" rtlCol="0" lIns="0" rIns="0" tIns="0" bIns="0">
            <a:spAutoFit/>
          </a:bodyPr>
          <a:lstStyle/>
          <a:p>
            <a:pPr algn="ctr">
              <a:lnSpc>
                <a:spcPct val="130000"/>
              </a:lnSpc>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品牌现状</a:t>
            </a:r>
            <a:endParaRPr lang="zh-CN" altLang="en-US" b="1" dirty="0">
              <a:solidFill>
                <a:srgbClr val="FFFFFF"/>
              </a:solidFill>
              <a:latin typeface="微软雅黑"/>
              <a:ea typeface="微软雅黑"/>
              <a:cs typeface="微软雅黑"/>
            </a:endParaRPr>
          </a:p>
        </p:txBody>
      </p:sp>
      <p:sp>
        <p:nvSpPr>
          <p:cNvPr id="162" name="矩形: 圆角 74"/>
          <p:cNvSpPr/>
          <p:nvPr/>
        </p:nvSpPr>
        <p:spPr>
          <a:xfrm>
            <a:off x="4721495" y="4159529"/>
            <a:ext cx="792169" cy="255537"/>
          </a:xfrm>
          <a:prstGeom prst="roundRect">
            <a:avLst>
              <a:gd name="adj" fmla="val 50000"/>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54" name="Object11"/>
          <p:cNvSpPr/>
          <p:nvPr/>
        </p:nvSpPr>
        <p:spPr>
          <a:xfrm>
            <a:off x="4261860" y="3926238"/>
            <a:ext cx="1738359" cy="153670"/>
          </a:xfrm>
          <a:prstGeom prst="rect">
            <a:avLst/>
          </a:prstGeom>
          <a:noFill/>
        </p:spPr>
        <p:txBody>
          <a:bodyPr wrap="square" lIns="0" tIns="0" rIns="0" bIns="0" rtlCol="0" anchor="t">
            <a:spAutoFit/>
          </a:bodyPr>
          <a:lstStyle/>
          <a:p>
            <a:pPr algn="ctr">
              <a:defRPr>
                <a:solidFill>
                  <a:srgbClr val="FFFFFF"/>
                </a:solidFill>
                <a:latin typeface="微软雅黑"/>
                <a:ea typeface="微软雅黑"/>
                <a:cs typeface="微软雅黑"/>
              </a:defRPr>
            </a:pPr>
            <a:r>
              <a:rPr lang="en-US" sz="1000" b="1" dirty="0">
                <a:solidFill>
                  <a:srgbClr val="FFFFFF"/>
                </a:solidFill>
                <a:latin typeface="微软雅黑"/>
                <a:ea typeface="微软雅黑"/>
                <a:cs typeface="微软雅黑"/>
              </a:rPr>
              <a:t>Status of the brand</a:t>
            </a:r>
            <a:endParaRPr lang="en-US" sz="1000" b="1" dirty="0">
              <a:solidFill>
                <a:srgbClr val="FFFFFF"/>
              </a:solidFill>
              <a:latin typeface="微软雅黑"/>
              <a:ea typeface="微软雅黑"/>
              <a:cs typeface="微软雅黑"/>
            </a:endParaRPr>
          </a:p>
        </p:txBody>
      </p:sp>
      <p:sp>
        <p:nvSpPr>
          <p:cNvPr id="55" name="Object12"/>
          <p:cNvSpPr/>
          <p:nvPr/>
        </p:nvSpPr>
        <p:spPr>
          <a:xfrm>
            <a:off x="4721495" y="4210013"/>
            <a:ext cx="792169" cy="153670"/>
          </a:xfrm>
          <a:prstGeom prst="rect">
            <a:avLst/>
          </a:prstGeom>
          <a:noFill/>
        </p:spPr>
        <p:txBody>
          <a:bodyPr wrap="square" lIns="0" tIns="0" rIns="0" bIns="0" rtlCol="0" anchor="t">
            <a:spAutoFit/>
          </a:bodyPr>
          <a:lstStyle/>
          <a:p>
            <a:pPr algn="ctr">
              <a:defRPr>
                <a:latin typeface="微软雅黑"/>
                <a:ea typeface="微软雅黑"/>
                <a:cs typeface="微软雅黑"/>
              </a:defRPr>
            </a:pPr>
            <a:r>
              <a:rPr lang="en-US" sz="1000" b="1" dirty="0">
                <a:solidFill>
                  <a:srgbClr val="0042FF"/>
                </a:solidFill>
                <a:latin typeface="微软雅黑"/>
                <a:ea typeface="微软雅黑"/>
                <a:cs typeface="微软雅黑"/>
              </a:rPr>
              <a:t>现状梳理</a:t>
            </a:r>
            <a:endParaRPr lang="en-US" sz="1000" b="1" dirty="0">
              <a:solidFill>
                <a:srgbClr val="0042FF"/>
              </a:solidFill>
              <a:latin typeface="微软雅黑"/>
              <a:ea typeface="微软雅黑"/>
              <a:cs typeface="微软雅黑"/>
            </a:endParaRPr>
          </a:p>
        </p:txBody>
      </p:sp>
      <p:sp>
        <p:nvSpPr>
          <p:cNvPr id="165" name="任意多边形: 形状 28"/>
          <p:cNvSpPr/>
          <p:nvPr/>
        </p:nvSpPr>
        <p:spPr>
          <a:xfrm>
            <a:off x="6247352" y="3052190"/>
            <a:ext cx="1768704" cy="1766605"/>
          </a:xfrm>
          <a:custGeom>
            <a:avLst/>
            <a:gdLst>
              <a:gd name="connsiteX0" fmla="*/ 1148181 w 1148181"/>
              <a:gd name="connsiteY0" fmla="*/ 574091 h 1148181"/>
              <a:gd name="connsiteX1" fmla="*/ 574091 w 1148181"/>
              <a:gd name="connsiteY1" fmla="*/ 1148181 h 1148181"/>
              <a:gd name="connsiteX2" fmla="*/ 0 w 1148181"/>
              <a:gd name="connsiteY2" fmla="*/ 574091 h 1148181"/>
              <a:gd name="connsiteX3" fmla="*/ 574091 w 1148181"/>
              <a:gd name="connsiteY3" fmla="*/ 0 h 1148181"/>
              <a:gd name="connsiteX4" fmla="*/ 1148181 w 1148181"/>
              <a:gd name="connsiteY4" fmla="*/ 574091 h 1148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8181" h="1148181">
                <a:moveTo>
                  <a:pt x="1148181" y="574091"/>
                </a:moveTo>
                <a:cubicBezTo>
                  <a:pt x="1148181" y="891152"/>
                  <a:pt x="891152" y="1148181"/>
                  <a:pt x="574091" y="1148181"/>
                </a:cubicBezTo>
                <a:cubicBezTo>
                  <a:pt x="257029" y="1148181"/>
                  <a:pt x="0" y="891152"/>
                  <a:pt x="0" y="574091"/>
                </a:cubicBezTo>
                <a:cubicBezTo>
                  <a:pt x="0" y="257029"/>
                  <a:pt x="257029" y="0"/>
                  <a:pt x="574091" y="0"/>
                </a:cubicBezTo>
                <a:cubicBezTo>
                  <a:pt x="891152" y="0"/>
                  <a:pt x="1148181" y="257029"/>
                  <a:pt x="1148181" y="574091"/>
                </a:cubicBezTo>
                <a:close/>
              </a:path>
            </a:pathLst>
          </a:custGeom>
          <a:gradFill>
            <a:gsLst>
              <a:gs pos="100000">
                <a:srgbClr val="3368FF"/>
              </a:gs>
              <a:gs pos="36000">
                <a:srgbClr val="B3D4FE"/>
              </a:gs>
            </a:gsLst>
            <a:lin ang="5400000" scaled="1"/>
          </a:gra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166" name="文本框 165"/>
          <p:cNvSpPr txBox="1"/>
          <p:nvPr/>
        </p:nvSpPr>
        <p:spPr>
          <a:xfrm>
            <a:off x="6500934" y="3506582"/>
            <a:ext cx="1280779" cy="426784"/>
          </a:xfrm>
          <a:prstGeom prst="rect">
            <a:avLst/>
          </a:prstGeom>
          <a:noFill/>
        </p:spPr>
        <p:txBody>
          <a:bodyPr wrap="square" rtlCol="0" lIns="0" rIns="0" tIns="0" bIns="0">
            <a:spAutoFit/>
          </a:bodyPr>
          <a:lstStyle/>
          <a:p>
            <a:pPr algn="ctr">
              <a:lnSpc>
                <a:spcPct val="130000"/>
              </a:lnSpc>
              <a:defRPr>
                <a:latin typeface="微软雅黑"/>
                <a:ea typeface="微软雅黑"/>
                <a:cs typeface="微软雅黑"/>
              </a:defRPr>
            </a:pPr>
            <a:r>
              <a:rPr lang="zh-CN" altLang="en-US" b="1" dirty="0">
                <a:solidFill>
                  <a:srgbClr val="383838"/>
                </a:solidFill>
                <a:latin typeface="微软雅黑"/>
                <a:ea typeface="微软雅黑"/>
                <a:cs typeface="微软雅黑"/>
              </a:rPr>
              <a:t>品牌</a:t>
            </a:r>
            <a:r>
              <a:rPr lang="en-US" altLang="zh-CN" b="1" dirty="0">
                <a:solidFill>
                  <a:srgbClr val="383838"/>
                </a:solidFill>
                <a:latin typeface="微软雅黑"/>
                <a:ea typeface="微软雅黑"/>
                <a:cs typeface="微软雅黑"/>
              </a:rPr>
              <a:t>DNA</a:t>
            </a:r>
            <a:endParaRPr lang="zh-CN" altLang="en-US" b="1" dirty="0">
              <a:solidFill>
                <a:srgbClr val="383838"/>
              </a:solidFill>
              <a:latin typeface="微软雅黑"/>
              <a:ea typeface="微软雅黑"/>
              <a:cs typeface="微软雅黑"/>
            </a:endParaRPr>
          </a:p>
        </p:txBody>
      </p:sp>
      <p:sp>
        <p:nvSpPr>
          <p:cNvPr id="167" name="矩形: 圆角 74"/>
          <p:cNvSpPr/>
          <p:nvPr/>
        </p:nvSpPr>
        <p:spPr>
          <a:xfrm>
            <a:off x="6737332" y="4159529"/>
            <a:ext cx="792169" cy="255537"/>
          </a:xfrm>
          <a:prstGeom prst="roundRect">
            <a:avLst>
              <a:gd name="adj" fmla="val 50000"/>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68" name="Object11"/>
          <p:cNvSpPr/>
          <p:nvPr/>
        </p:nvSpPr>
        <p:spPr>
          <a:xfrm>
            <a:off x="6277697" y="3926238"/>
            <a:ext cx="1738359" cy="153670"/>
          </a:xfrm>
          <a:prstGeom prst="rect">
            <a:avLst/>
          </a:prstGeom>
          <a:noFill/>
        </p:spPr>
        <p:txBody>
          <a:bodyPr wrap="square" lIns="0" tIns="0" rIns="0" bIns="0" rtlCol="0" anchor="t">
            <a:spAutoFit/>
          </a:bodyPr>
          <a:lstStyle/>
          <a:p>
            <a:pPr algn="ctr">
              <a:defRPr>
                <a:latin typeface="微软雅黑"/>
                <a:ea typeface="微软雅黑"/>
                <a:cs typeface="微软雅黑"/>
              </a:defRPr>
            </a:pPr>
            <a:r>
              <a:rPr lang="en-US" altLang="zh-CN" sz="1000" b="1" dirty="0">
                <a:solidFill>
                  <a:srgbClr val="383838"/>
                </a:solidFill>
                <a:latin typeface="微软雅黑"/>
                <a:ea typeface="微软雅黑"/>
                <a:cs typeface="微软雅黑"/>
              </a:rPr>
              <a:t>Brand Gene</a:t>
            </a:r>
            <a:endParaRPr lang="en-US" altLang="zh-CN" sz="1000" b="1" dirty="0">
              <a:solidFill>
                <a:srgbClr val="383838"/>
              </a:solidFill>
              <a:latin typeface="微软雅黑"/>
              <a:ea typeface="微软雅黑"/>
              <a:cs typeface="微软雅黑"/>
            </a:endParaRPr>
          </a:p>
        </p:txBody>
      </p:sp>
      <p:sp>
        <p:nvSpPr>
          <p:cNvPr id="169" name="Object12"/>
          <p:cNvSpPr/>
          <p:nvPr/>
        </p:nvSpPr>
        <p:spPr>
          <a:xfrm>
            <a:off x="6737332" y="4210013"/>
            <a:ext cx="792169" cy="153670"/>
          </a:xfrm>
          <a:prstGeom prst="rect">
            <a:avLst/>
          </a:prstGeom>
          <a:noFill/>
        </p:spPr>
        <p:txBody>
          <a:bodyPr wrap="square" lIns="0" tIns="0" rIns="0" bIns="0" rtlCol="0" anchor="t">
            <a:spAutoFit/>
          </a:bodyPr>
          <a:lstStyle/>
          <a:p>
            <a:pPr algn="ctr">
              <a:defRPr>
                <a:latin typeface="微软雅黑"/>
                <a:ea typeface="微软雅黑"/>
                <a:cs typeface="微软雅黑"/>
              </a:defRPr>
            </a:pPr>
            <a:r>
              <a:rPr lang="en-US" altLang="zh-CN" sz="1000" b="1" dirty="0" err="1">
                <a:solidFill>
                  <a:srgbClr val="0042FF"/>
                </a:solidFill>
                <a:latin typeface="微软雅黑"/>
                <a:ea typeface="微软雅黑"/>
                <a:cs typeface="微软雅黑"/>
              </a:rPr>
              <a:t>未来预期</a:t>
            </a:r>
            <a:endParaRPr lang="en-US" altLang="zh-CN" sz="1000" b="1" dirty="0" err="1">
              <a:solidFill>
                <a:srgbClr val="0042FF"/>
              </a:solidFill>
              <a:latin typeface="微软雅黑"/>
              <a:ea typeface="微软雅黑"/>
              <a:cs typeface="微软雅黑"/>
            </a:endParaRPr>
          </a:p>
        </p:txBody>
      </p:sp>
      <p:sp>
        <p:nvSpPr>
          <p:cNvPr id="174" name="椭圆 173"/>
          <p:cNvSpPr/>
          <p:nvPr/>
        </p:nvSpPr>
        <p:spPr>
          <a:xfrm flipH="1">
            <a:off x="2439324" y="1834169"/>
            <a:ext cx="4028589" cy="4120304"/>
          </a:xfrm>
          <a:prstGeom prst="ellipse">
            <a:avLst/>
          </a:prstGeom>
          <a:noFill/>
          <a:ln>
            <a:gradFill>
              <a:gsLst>
                <a:gs pos="83000">
                  <a:srgbClr val="0042FF">
                    <a:alpha val="0"/>
                  </a:srgbClr>
                </a:gs>
                <a:gs pos="100000">
                  <a:srgbClr val="0042FF"/>
                </a:gs>
              </a:gsLst>
              <a:lin ang="0" scaled="0"/>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75" name="椭圆 174"/>
          <p:cNvSpPr/>
          <p:nvPr/>
        </p:nvSpPr>
        <p:spPr>
          <a:xfrm rot="10800000" flipH="1">
            <a:off x="5928936" y="1938077"/>
            <a:ext cx="3934338" cy="4023907"/>
          </a:xfrm>
          <a:prstGeom prst="ellipse">
            <a:avLst/>
          </a:prstGeom>
          <a:noFill/>
          <a:ln>
            <a:gradFill>
              <a:gsLst>
                <a:gs pos="83000">
                  <a:srgbClr val="3368FF">
                    <a:alpha val="0"/>
                  </a:srgbClr>
                </a:gs>
                <a:gs pos="100000">
                  <a:srgbClr val="3368FF"/>
                </a:gs>
              </a:gsLst>
              <a:lin ang="0" scaled="0"/>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79" name="文本框 178"/>
          <p:cNvSpPr txBox="1"/>
          <p:nvPr/>
        </p:nvSpPr>
        <p:spPr>
          <a:xfrm>
            <a:off x="7983447" y="3236835"/>
            <a:ext cx="1080132" cy="292388"/>
          </a:xfrm>
          <a:prstGeom prst="rect">
            <a:avLst/>
          </a:prstGeom>
          <a:noFill/>
        </p:spPr>
        <p:txBody>
          <a:bodyPr wrap="square" rtlCol="0">
            <a:spAutoFit/>
          </a:bodyPr>
          <a:lstStyle/>
          <a:p>
            <a:pPr algn="ctr">
              <a:defRPr>
                <a:latin typeface="微软雅黑"/>
                <a:ea typeface="微软雅黑"/>
                <a:cs typeface="微软雅黑"/>
              </a:defRPr>
            </a:pPr>
            <a:r>
              <a:rPr lang="en-US" altLang="zh-CN" sz="1300" b="1" dirty="0" err="1">
                <a:solidFill>
                  <a:srgbClr val="383838"/>
                </a:solidFill>
                <a:latin typeface="微软雅黑"/>
                <a:ea typeface="微软雅黑"/>
                <a:cs typeface="微软雅黑"/>
              </a:rPr>
              <a:t>使命愿景</a:t>
            </a:r>
            <a:endParaRPr lang="en-US" altLang="zh-CN" sz="1300" b="1" dirty="0" err="1">
              <a:solidFill>
                <a:srgbClr val="383838"/>
              </a:solidFill>
              <a:latin typeface="微软雅黑"/>
              <a:ea typeface="微软雅黑"/>
              <a:cs typeface="微软雅黑"/>
            </a:endParaRPr>
          </a:p>
        </p:txBody>
      </p:sp>
      <p:sp>
        <p:nvSpPr>
          <p:cNvPr id="180" name="文本框 179"/>
          <p:cNvSpPr txBox="1"/>
          <p:nvPr/>
        </p:nvSpPr>
        <p:spPr>
          <a:xfrm>
            <a:off x="8346824" y="3884753"/>
            <a:ext cx="1080132" cy="292388"/>
          </a:xfrm>
          <a:prstGeom prst="rect">
            <a:avLst/>
          </a:prstGeom>
          <a:noFill/>
        </p:spPr>
        <p:txBody>
          <a:bodyPr wrap="square" rtlCol="0">
            <a:spAutoFit/>
          </a:bodyPr>
          <a:lstStyle/>
          <a:p>
            <a:pPr algn="ctr">
              <a:defRPr>
                <a:latin typeface="微软雅黑"/>
                <a:ea typeface="微软雅黑"/>
                <a:cs typeface="微软雅黑"/>
              </a:defRPr>
            </a:pPr>
            <a:r>
              <a:rPr lang="zh-CN" altLang="en-US" sz="1300" b="1" dirty="0">
                <a:solidFill>
                  <a:srgbClr val="383838"/>
                </a:solidFill>
                <a:latin typeface="微软雅黑"/>
                <a:ea typeface="微软雅黑"/>
                <a:cs typeface="微软雅黑"/>
              </a:rPr>
              <a:t>核心价值</a:t>
            </a:r>
            <a:endParaRPr lang="zh-CN" altLang="en-US" sz="1300" b="1" dirty="0">
              <a:solidFill>
                <a:srgbClr val="383838"/>
              </a:solidFill>
              <a:latin typeface="微软雅黑"/>
              <a:ea typeface="微软雅黑"/>
              <a:cs typeface="微软雅黑"/>
            </a:endParaRPr>
          </a:p>
        </p:txBody>
      </p:sp>
      <p:sp>
        <p:nvSpPr>
          <p:cNvPr id="181" name="文本框 180"/>
          <p:cNvSpPr txBox="1"/>
          <p:nvPr/>
        </p:nvSpPr>
        <p:spPr>
          <a:xfrm>
            <a:off x="7983447" y="4452197"/>
            <a:ext cx="1080132" cy="292388"/>
          </a:xfrm>
          <a:prstGeom prst="rect">
            <a:avLst/>
          </a:prstGeom>
          <a:noFill/>
        </p:spPr>
        <p:txBody>
          <a:bodyPr wrap="square" rtlCol="0">
            <a:spAutoFit/>
          </a:bodyPr>
          <a:lstStyle/>
          <a:p>
            <a:pPr algn="ctr">
              <a:defRPr>
                <a:latin typeface="微软雅黑"/>
                <a:ea typeface="微软雅黑"/>
                <a:cs typeface="微软雅黑"/>
              </a:defRPr>
            </a:pPr>
            <a:r>
              <a:rPr lang="zh-CN" altLang="en-US" sz="1300" b="1" dirty="0">
                <a:solidFill>
                  <a:srgbClr val="383838"/>
                </a:solidFill>
                <a:latin typeface="微软雅黑"/>
                <a:ea typeface="微软雅黑"/>
                <a:cs typeface="微软雅黑"/>
              </a:rPr>
              <a:t>品牌特征</a:t>
            </a:r>
            <a:endParaRPr lang="zh-CN" altLang="en-US" sz="1300" b="1" dirty="0">
              <a:solidFill>
                <a:srgbClr val="383838"/>
              </a:solidFill>
              <a:latin typeface="微软雅黑"/>
              <a:ea typeface="微软雅黑"/>
              <a:cs typeface="微软雅黑"/>
            </a:endParaRPr>
          </a:p>
        </p:txBody>
      </p:sp>
      <p:sp>
        <p:nvSpPr>
          <p:cNvPr id="182" name="文本框 181"/>
          <p:cNvSpPr txBox="1"/>
          <p:nvPr/>
        </p:nvSpPr>
        <p:spPr>
          <a:xfrm>
            <a:off x="3240857" y="3200402"/>
            <a:ext cx="1080132" cy="292388"/>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300" b="1" dirty="0">
                <a:solidFill>
                  <a:srgbClr val="FFFFFF"/>
                </a:solidFill>
                <a:latin typeface="微软雅黑"/>
                <a:ea typeface="微软雅黑"/>
                <a:cs typeface="微软雅黑"/>
              </a:rPr>
              <a:t>视觉层面</a:t>
            </a:r>
            <a:endParaRPr lang="zh-CN" altLang="en-US" sz="1300" b="1" dirty="0">
              <a:solidFill>
                <a:srgbClr val="FFFFFF"/>
              </a:solidFill>
              <a:latin typeface="微软雅黑"/>
              <a:ea typeface="微软雅黑"/>
              <a:cs typeface="微软雅黑"/>
            </a:endParaRPr>
          </a:p>
        </p:txBody>
      </p:sp>
      <p:sp>
        <p:nvSpPr>
          <p:cNvPr id="183" name="文本框 182"/>
          <p:cNvSpPr txBox="1"/>
          <p:nvPr/>
        </p:nvSpPr>
        <p:spPr>
          <a:xfrm>
            <a:off x="2859933" y="3823833"/>
            <a:ext cx="1080132" cy="292388"/>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300" b="1" dirty="0">
                <a:solidFill>
                  <a:srgbClr val="FFFFFF"/>
                </a:solidFill>
                <a:latin typeface="微软雅黑"/>
                <a:ea typeface="微软雅黑"/>
                <a:cs typeface="微软雅黑"/>
              </a:rPr>
              <a:t>传播层面</a:t>
            </a:r>
            <a:endParaRPr lang="zh-CN" altLang="en-US" sz="1300" b="1" dirty="0">
              <a:solidFill>
                <a:srgbClr val="FFFFFF"/>
              </a:solidFill>
              <a:latin typeface="微软雅黑"/>
              <a:ea typeface="微软雅黑"/>
              <a:cs typeface="微软雅黑"/>
            </a:endParaRPr>
          </a:p>
        </p:txBody>
      </p:sp>
      <p:sp>
        <p:nvSpPr>
          <p:cNvPr id="184" name="文本框 183"/>
          <p:cNvSpPr txBox="1"/>
          <p:nvPr/>
        </p:nvSpPr>
        <p:spPr>
          <a:xfrm>
            <a:off x="3275603" y="4415066"/>
            <a:ext cx="1080132" cy="292388"/>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300" b="1" dirty="0">
                <a:solidFill>
                  <a:srgbClr val="FFFFFF"/>
                </a:solidFill>
                <a:latin typeface="微软雅黑"/>
                <a:ea typeface="微软雅黑"/>
                <a:cs typeface="微软雅黑"/>
              </a:rPr>
              <a:t>用户心智</a:t>
            </a:r>
            <a:endParaRPr lang="zh-CN" altLang="en-US" sz="1300" b="1" dirty="0">
              <a:solidFill>
                <a:srgbClr val="FFFFFF"/>
              </a:solidFill>
              <a:latin typeface="微软雅黑"/>
              <a:ea typeface="微软雅黑"/>
              <a:cs typeface="微软雅黑"/>
            </a:endParaRPr>
          </a:p>
        </p:txBody>
      </p:sp>
      <p:sp>
        <p:nvSpPr>
          <p:cNvPr id="188" name="椭圆 187"/>
          <p:cNvSpPr/>
          <p:nvPr/>
        </p:nvSpPr>
        <p:spPr>
          <a:xfrm>
            <a:off x="2670493" y="2781590"/>
            <a:ext cx="144990" cy="144990"/>
          </a:xfrm>
          <a:prstGeom prst="ellipse">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189" name="椭圆 188"/>
          <p:cNvSpPr/>
          <p:nvPr/>
        </p:nvSpPr>
        <p:spPr>
          <a:xfrm>
            <a:off x="2388316" y="3894802"/>
            <a:ext cx="144990" cy="144990"/>
          </a:xfrm>
          <a:prstGeom prst="ellipse">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190" name="椭圆 189"/>
          <p:cNvSpPr/>
          <p:nvPr/>
        </p:nvSpPr>
        <p:spPr>
          <a:xfrm>
            <a:off x="2702436" y="4955046"/>
            <a:ext cx="144990" cy="144990"/>
          </a:xfrm>
          <a:prstGeom prst="ellipse">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cxnSp>
        <p:nvCxnSpPr>
          <p:cNvPr id="192" name="直线连接符 191"/>
          <p:cNvCxnSpPr>
            <a:stCxn id="188" idx="5"/>
            <a:endCxn id="185" idx="3"/>
          </p:cNvCxnSpPr>
          <p:nvPr/>
        </p:nvCxnSpPr>
        <p:spPr>
          <a:xfrm>
            <a:off x="2794250" y="2905347"/>
            <a:ext cx="336550" cy="438785"/>
          </a:xfrm>
          <a:prstGeom prst="line">
            <a:avLst/>
          </a:prstGeom>
          <a:ln w="12700">
            <a:solidFill>
              <a:srgbClr val="0042FF"/>
            </a:solidFill>
            <a:prstDash val="lgDash"/>
          </a:ln>
        </p:spPr>
        <p:style>
          <a:lnRef idx="1">
            <a:srgbClr val="0042FF"/>
          </a:lnRef>
          <a:fillRef idx="0">
            <a:srgbClr val="0042FF"/>
          </a:fillRef>
          <a:effectRef idx="0">
            <a:srgbClr val="0042FF"/>
          </a:effectRef>
          <a:fontRef idx="minor">
            <a:srgbClr val="383838"/>
          </a:fontRef>
        </p:style>
      </p:cxnSp>
      <p:cxnSp>
        <p:nvCxnSpPr>
          <p:cNvPr id="194" name="直线连接符 193"/>
          <p:cNvCxnSpPr>
            <a:stCxn id="189" idx="6"/>
            <a:endCxn id="186" idx="3"/>
          </p:cNvCxnSpPr>
          <p:nvPr/>
        </p:nvCxnSpPr>
        <p:spPr>
          <a:xfrm>
            <a:off x="2533306" y="3967297"/>
            <a:ext cx="192767" cy="0"/>
          </a:xfrm>
          <a:prstGeom prst="line">
            <a:avLst/>
          </a:prstGeom>
          <a:ln w="12700">
            <a:solidFill>
              <a:srgbClr val="0042FF"/>
            </a:solidFill>
            <a:prstDash val="lgDash"/>
          </a:ln>
        </p:spPr>
        <p:style>
          <a:lnRef idx="1">
            <a:srgbClr val="0042FF"/>
          </a:lnRef>
          <a:fillRef idx="0">
            <a:srgbClr val="0042FF"/>
          </a:fillRef>
          <a:effectRef idx="0">
            <a:srgbClr val="0042FF"/>
          </a:effectRef>
          <a:fontRef idx="minor">
            <a:srgbClr val="383838"/>
          </a:fontRef>
        </p:style>
      </p:cxnSp>
      <p:cxnSp>
        <p:nvCxnSpPr>
          <p:cNvPr id="199" name="直线连接符 198"/>
          <p:cNvCxnSpPr>
            <a:stCxn id="187" idx="3"/>
            <a:endCxn id="190" idx="7"/>
          </p:cNvCxnSpPr>
          <p:nvPr/>
        </p:nvCxnSpPr>
        <p:spPr>
          <a:xfrm flipH="1">
            <a:off x="2826193" y="4563043"/>
            <a:ext cx="304651" cy="413236"/>
          </a:xfrm>
          <a:prstGeom prst="line">
            <a:avLst/>
          </a:prstGeom>
          <a:ln w="12700">
            <a:solidFill>
              <a:srgbClr val="0042FF"/>
            </a:solidFill>
            <a:prstDash val="lgDash"/>
          </a:ln>
        </p:spPr>
        <p:style>
          <a:lnRef idx="1">
            <a:srgbClr val="0042FF"/>
          </a:lnRef>
          <a:fillRef idx="0">
            <a:srgbClr val="0042FF"/>
          </a:fillRef>
          <a:effectRef idx="0">
            <a:srgbClr val="0042FF"/>
          </a:effectRef>
          <a:fontRef idx="minor">
            <a:srgbClr val="383838"/>
          </a:fontRef>
        </p:style>
      </p:cxnSp>
      <p:sp>
        <p:nvSpPr>
          <p:cNvPr id="202" name="椭圆 201"/>
          <p:cNvSpPr/>
          <p:nvPr/>
        </p:nvSpPr>
        <p:spPr>
          <a:xfrm flipH="1">
            <a:off x="9481423" y="2810840"/>
            <a:ext cx="144990" cy="14499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203" name="椭圆 202"/>
          <p:cNvSpPr/>
          <p:nvPr/>
        </p:nvSpPr>
        <p:spPr>
          <a:xfrm flipH="1">
            <a:off x="9786995" y="3930687"/>
            <a:ext cx="144990" cy="14499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204" name="椭圆 203"/>
          <p:cNvSpPr/>
          <p:nvPr/>
        </p:nvSpPr>
        <p:spPr>
          <a:xfrm flipH="1">
            <a:off x="9482118" y="4964468"/>
            <a:ext cx="144990" cy="144990"/>
          </a:xfrm>
          <a:prstGeom prst="ellipse">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cxnSp>
        <p:nvCxnSpPr>
          <p:cNvPr id="205" name="直线连接符 204"/>
          <p:cNvCxnSpPr>
            <a:stCxn id="202" idx="5"/>
            <a:endCxn id="25" idx="3"/>
          </p:cNvCxnSpPr>
          <p:nvPr/>
        </p:nvCxnSpPr>
        <p:spPr>
          <a:xfrm flipH="1">
            <a:off x="9199577" y="2934597"/>
            <a:ext cx="303079" cy="432885"/>
          </a:xfrm>
          <a:prstGeom prst="line">
            <a:avLst/>
          </a:prstGeom>
          <a:ln w="12700">
            <a:solidFill>
              <a:srgbClr val="3368FF"/>
            </a:solidFill>
            <a:prstDash val="lgDash"/>
          </a:ln>
        </p:spPr>
        <p:style>
          <a:lnRef idx="1">
            <a:srgbClr val="0042FF"/>
          </a:lnRef>
          <a:fillRef idx="0">
            <a:srgbClr val="0042FF"/>
          </a:fillRef>
          <a:effectRef idx="0">
            <a:srgbClr val="0042FF"/>
          </a:effectRef>
          <a:fontRef idx="minor">
            <a:srgbClr val="383838"/>
          </a:fontRef>
        </p:style>
      </p:cxnSp>
      <p:cxnSp>
        <p:nvCxnSpPr>
          <p:cNvPr id="206" name="直线连接符 205"/>
          <p:cNvCxnSpPr>
            <a:endCxn id="28" idx="3"/>
          </p:cNvCxnSpPr>
          <p:nvPr/>
        </p:nvCxnSpPr>
        <p:spPr>
          <a:xfrm flipH="1">
            <a:off x="9549902" y="4003182"/>
            <a:ext cx="237093" cy="6889"/>
          </a:xfrm>
          <a:prstGeom prst="line">
            <a:avLst/>
          </a:prstGeom>
          <a:ln w="12700">
            <a:solidFill>
              <a:srgbClr val="3368FF"/>
            </a:solidFill>
            <a:prstDash val="lgDash"/>
          </a:ln>
        </p:spPr>
        <p:style>
          <a:lnRef idx="1">
            <a:srgbClr val="0042FF"/>
          </a:lnRef>
          <a:fillRef idx="0">
            <a:srgbClr val="0042FF"/>
          </a:fillRef>
          <a:effectRef idx="0">
            <a:srgbClr val="0042FF"/>
          </a:effectRef>
          <a:fontRef idx="minor">
            <a:srgbClr val="383838"/>
          </a:fontRef>
        </p:style>
      </p:cxnSp>
      <p:cxnSp>
        <p:nvCxnSpPr>
          <p:cNvPr id="207" name="直线连接符 206"/>
          <p:cNvCxnSpPr/>
          <p:nvPr/>
        </p:nvCxnSpPr>
        <p:spPr>
          <a:xfrm>
            <a:off x="9195684" y="4601511"/>
            <a:ext cx="306972" cy="383229"/>
          </a:xfrm>
          <a:prstGeom prst="line">
            <a:avLst/>
          </a:prstGeom>
          <a:ln w="12700">
            <a:solidFill>
              <a:srgbClr val="3368FF"/>
            </a:solidFill>
            <a:prstDash val="lgDash"/>
          </a:ln>
        </p:spPr>
        <p:style>
          <a:lnRef idx="1">
            <a:srgbClr val="0042FF"/>
          </a:lnRef>
          <a:fillRef idx="0">
            <a:srgbClr val="0042FF"/>
          </a:fillRef>
          <a:effectRef idx="0">
            <a:srgbClr val="0042FF"/>
          </a:effectRef>
          <a:fontRef idx="minor">
            <a:srgbClr val="383838"/>
          </a:fontRef>
        </p:style>
      </p:cxnSp>
      <p:sp>
        <p:nvSpPr>
          <p:cNvPr id="213" name="Object23"/>
          <p:cNvSpPr/>
          <p:nvPr/>
        </p:nvSpPr>
        <p:spPr>
          <a:xfrm>
            <a:off x="9751636" y="2575418"/>
            <a:ext cx="1800226" cy="558800"/>
          </a:xfrm>
          <a:prstGeom prst="rect">
            <a:avLst/>
          </a:prstGeom>
          <a:noFill/>
        </p:spPr>
        <p:txBody>
          <a:bodyPr wrap="square" lIns="0" tIns="0" rIns="0" bIns="0" rtlCol="0" anchor="ctr">
            <a:noAutofit/>
          </a:bodyPr>
          <a:lstStyle/>
          <a:p>
            <a:pPr lvl="0" algn="l">
              <a:lnSpc>
                <a:spcPct val="130000"/>
              </a:lnSpc>
              <a:buClrTx/>
              <a:buSzTx/>
              <a:buFontTx/>
              <a:defRPr>
                <a:latin typeface="微软雅黑"/>
                <a:ea typeface="微软雅黑"/>
                <a:cs typeface="微软雅黑"/>
              </a:defRPr>
            </a:pPr>
            <a:r>
              <a:rPr lang="en-US" sz="1200" dirty="0">
                <a:solidFill>
                  <a:srgbClr val="0042FF"/>
                </a:solidFill>
                <a:latin typeface="微软雅黑"/>
                <a:ea typeface="微软雅黑"/>
                <a:cs typeface="微软雅黑"/>
                <a:sym typeface="微软雅黑"/>
              </a:rPr>
              <a:t>链接真实世界
让出行更美好</a:t>
            </a:r>
            <a:endParaRPr lang="en-US" sz="1200" dirty="0">
              <a:solidFill>
                <a:srgbClr val="0042FF"/>
              </a:solidFill>
              <a:latin typeface="微软雅黑"/>
              <a:ea typeface="微软雅黑"/>
              <a:cs typeface="微软雅黑"/>
              <a:sym typeface="微软雅黑"/>
            </a:endParaRPr>
          </a:p>
        </p:txBody>
      </p:sp>
      <p:sp>
        <p:nvSpPr>
          <p:cNvPr id="214" name="Object25"/>
          <p:cNvSpPr/>
          <p:nvPr/>
        </p:nvSpPr>
        <p:spPr>
          <a:xfrm>
            <a:off x="10050786" y="3732347"/>
            <a:ext cx="1450652" cy="558800"/>
          </a:xfrm>
          <a:prstGeom prst="rect">
            <a:avLst/>
          </a:prstGeom>
          <a:noFill/>
        </p:spPr>
        <p:txBody>
          <a:bodyPr wrap="square" lIns="0" tIns="0" rIns="0" bIns="0" rtlCol="0" anchor="ctr">
            <a:noAutofit/>
          </a:bodyPr>
          <a:lstStyle/>
          <a:p>
            <a:pPr lvl="0" algn="l">
              <a:lnSpc>
                <a:spcPct val="130000"/>
              </a:lnSpc>
              <a:buClrTx/>
              <a:buSzTx/>
              <a:buFontTx/>
              <a:defRPr>
                <a:latin typeface="微软雅黑"/>
                <a:ea typeface="微软雅黑"/>
                <a:cs typeface="微软雅黑"/>
              </a:defRPr>
            </a:pPr>
            <a:r>
              <a:rPr lang="en-US" sz="1200" dirty="0">
                <a:solidFill>
                  <a:srgbClr val="0042FF"/>
                </a:solidFill>
                <a:latin typeface="微软雅黑"/>
                <a:ea typeface="微软雅黑"/>
                <a:cs typeface="微软雅黑"/>
                <a:sym typeface="微软雅黑"/>
              </a:rPr>
              <a:t>为客户提供专业的出行与位置服务</a:t>
            </a:r>
            <a:endParaRPr lang="en-US" sz="1200" dirty="0">
              <a:solidFill>
                <a:srgbClr val="0042FF"/>
              </a:solidFill>
              <a:latin typeface="微软雅黑"/>
              <a:ea typeface="微软雅黑"/>
              <a:cs typeface="微软雅黑"/>
              <a:sym typeface="微软雅黑"/>
            </a:endParaRPr>
          </a:p>
        </p:txBody>
      </p:sp>
      <p:sp>
        <p:nvSpPr>
          <p:cNvPr id="215" name="Object27"/>
          <p:cNvSpPr/>
          <p:nvPr/>
        </p:nvSpPr>
        <p:spPr>
          <a:xfrm>
            <a:off x="9714459" y="4909928"/>
            <a:ext cx="1806029" cy="279400"/>
          </a:xfrm>
          <a:prstGeom prst="rect">
            <a:avLst/>
          </a:prstGeom>
          <a:noFill/>
        </p:spPr>
        <p:txBody>
          <a:bodyPr wrap="square" lIns="0" tIns="0" rIns="0" bIns="0" rtlCol="0" anchor="ctr">
            <a:noAutofit/>
          </a:bodyPr>
          <a:lstStyle/>
          <a:p>
            <a:pPr lvl="0" algn="l">
              <a:lnSpc>
                <a:spcPct val="130000"/>
              </a:lnSpc>
              <a:buClrTx/>
              <a:buSzTx/>
              <a:buFontTx/>
              <a:defRPr>
                <a:latin typeface="微软雅黑"/>
                <a:ea typeface="微软雅黑"/>
                <a:cs typeface="微软雅黑"/>
              </a:defRPr>
            </a:pPr>
            <a:r>
              <a:rPr lang="en-US" sz="1200" dirty="0">
                <a:solidFill>
                  <a:srgbClr val="0042FF"/>
                </a:solidFill>
                <a:latin typeface="微软雅黑"/>
                <a:ea typeface="微软雅黑"/>
                <a:cs typeface="微软雅黑"/>
                <a:sym typeface="微软雅黑"/>
              </a:rPr>
              <a:t>专业/生活化/活力</a:t>
            </a:r>
            <a:endParaRPr lang="en-US" sz="1200" dirty="0">
              <a:solidFill>
                <a:srgbClr val="0042FF"/>
              </a:solidFill>
              <a:latin typeface="微软雅黑"/>
              <a:ea typeface="微软雅黑"/>
              <a:cs typeface="微软雅黑"/>
              <a:sym typeface="微软雅黑"/>
            </a:endParaRPr>
          </a:p>
        </p:txBody>
      </p:sp>
      <p:sp>
        <p:nvSpPr>
          <p:cNvPr id="216" name="Object22"/>
          <p:cNvSpPr/>
          <p:nvPr/>
        </p:nvSpPr>
        <p:spPr>
          <a:xfrm>
            <a:off x="638810" y="2519680"/>
            <a:ext cx="1850390" cy="763905"/>
          </a:xfrm>
          <a:prstGeom prst="rect">
            <a:avLst/>
          </a:prstGeom>
          <a:noFill/>
        </p:spPr>
        <p:txBody>
          <a:bodyPr wrap="square" lIns="0" tIns="0" rIns="0" bIns="0" rtlCol="0" anchor="ctr">
            <a:noAutofit/>
          </a:bodyPr>
          <a:lstStyle/>
          <a:p>
            <a:pPr algn="r">
              <a:lnSpc>
                <a:spcPct val="130000"/>
              </a:lnSpc>
              <a:defRPr>
                <a:latin typeface="微软雅黑"/>
                <a:ea typeface="微软雅黑"/>
                <a:cs typeface="微软雅黑"/>
              </a:defRPr>
            </a:pPr>
            <a:r>
              <a:rPr lang="en-US" sz="1200" dirty="0">
                <a:solidFill>
                  <a:srgbClr val="383838"/>
                </a:solidFill>
                <a:latin typeface="微软雅黑"/>
                <a:ea typeface="微软雅黑"/>
                <a:cs typeface="微软雅黑"/>
              </a:rPr>
              <a:t>LOGO形式与时代脱节
滞后于主流审美
</a:t>
            </a:r>
            <a:r>
              <a:rPr lang="en-US" sz="1200" dirty="0" err="1">
                <a:solidFill>
                  <a:srgbClr val="383838"/>
                </a:solidFill>
                <a:latin typeface="微软雅黑"/>
                <a:ea typeface="微软雅黑"/>
                <a:cs typeface="微软雅黑"/>
              </a:rPr>
              <a:t>视觉心智待强化</a:t>
            </a:r>
            <a:endParaRPr lang="en-US" sz="1200" dirty="0" err="1">
              <a:solidFill>
                <a:srgbClr val="383838"/>
              </a:solidFill>
              <a:latin typeface="微软雅黑"/>
              <a:ea typeface="微软雅黑"/>
              <a:cs typeface="微软雅黑"/>
            </a:endParaRPr>
          </a:p>
        </p:txBody>
      </p:sp>
      <p:sp>
        <p:nvSpPr>
          <p:cNvPr id="217" name="Object24"/>
          <p:cNvSpPr/>
          <p:nvPr/>
        </p:nvSpPr>
        <p:spPr>
          <a:xfrm>
            <a:off x="697822" y="3516392"/>
            <a:ext cx="1476195" cy="838200"/>
          </a:xfrm>
          <a:prstGeom prst="rect">
            <a:avLst/>
          </a:prstGeom>
          <a:noFill/>
        </p:spPr>
        <p:txBody>
          <a:bodyPr wrap="square" lIns="0" tIns="0" rIns="0" bIns="0" rtlCol="0" anchor="ctr">
            <a:noAutofit/>
          </a:bodyPr>
          <a:lstStyle/>
          <a:p>
            <a:pPr lvl="0" algn="r">
              <a:lnSpc>
                <a:spcPct val="130000"/>
              </a:lnSpc>
              <a:buClrTx/>
              <a:buSzTx/>
              <a:buFontTx/>
              <a:defRPr>
                <a:latin typeface="微软雅黑"/>
                <a:ea typeface="微软雅黑"/>
                <a:cs typeface="微软雅黑"/>
              </a:defRPr>
            </a:pPr>
            <a:r>
              <a:rPr lang="en-US" sz="1200" dirty="0">
                <a:solidFill>
                  <a:srgbClr val="383838"/>
                </a:solidFill>
                <a:latin typeface="微软雅黑"/>
                <a:ea typeface="微软雅黑"/>
                <a:cs typeface="微软雅黑"/>
                <a:sym typeface="微软雅黑"/>
              </a:rPr>
              <a:t>业务发展不同步
品牌体系待完善
传播策略待加强</a:t>
            </a:r>
            <a:endParaRPr lang="en-US" sz="1200" dirty="0">
              <a:solidFill>
                <a:srgbClr val="383838"/>
              </a:solidFill>
              <a:latin typeface="微软雅黑"/>
              <a:ea typeface="微软雅黑"/>
              <a:cs typeface="微软雅黑"/>
              <a:sym typeface="微软雅黑"/>
            </a:endParaRPr>
          </a:p>
        </p:txBody>
      </p:sp>
      <p:sp>
        <p:nvSpPr>
          <p:cNvPr id="218" name="Object26"/>
          <p:cNvSpPr/>
          <p:nvPr/>
        </p:nvSpPr>
        <p:spPr>
          <a:xfrm>
            <a:off x="1070173" y="4619452"/>
            <a:ext cx="1442187" cy="838200"/>
          </a:xfrm>
          <a:prstGeom prst="rect">
            <a:avLst/>
          </a:prstGeom>
          <a:noFill/>
        </p:spPr>
        <p:txBody>
          <a:bodyPr wrap="square" lIns="0" tIns="0" rIns="0" bIns="0" rtlCol="0" anchor="ctr">
            <a:noAutofit/>
          </a:bodyPr>
          <a:lstStyle/>
          <a:p>
            <a:pPr lvl="0" algn="r">
              <a:lnSpc>
                <a:spcPct val="130000"/>
              </a:lnSpc>
              <a:buClrTx/>
              <a:buSzTx/>
              <a:buFontTx/>
              <a:defRPr>
                <a:latin typeface="微软雅黑"/>
                <a:ea typeface="微软雅黑"/>
                <a:cs typeface="微软雅黑"/>
              </a:defRPr>
            </a:pPr>
            <a:r>
              <a:rPr lang="en-US" sz="1200" dirty="0">
                <a:solidFill>
                  <a:srgbClr val="383838"/>
                </a:solidFill>
                <a:latin typeface="微软雅黑"/>
                <a:ea typeface="微软雅黑"/>
                <a:cs typeface="微软雅黑"/>
                <a:sym typeface="微软雅黑"/>
              </a:rPr>
              <a:t>工具属性明显
缺少应有活力
品牌层级待梳理</a:t>
            </a:r>
            <a:endParaRPr lang="en-US" sz="1200" dirty="0">
              <a:solidFill>
                <a:srgbClr val="383838"/>
              </a:solidFill>
              <a:latin typeface="微软雅黑"/>
              <a:ea typeface="微软雅黑"/>
              <a:cs typeface="微软雅黑"/>
              <a:sym typeface="微软雅黑"/>
            </a:endParaRPr>
          </a:p>
        </p:txBody>
      </p:sp>
      <p:sp>
        <p:nvSpPr>
          <p:cNvPr id="58" name="任意多边形: 形状 109"/>
          <p:cNvSpPr/>
          <p:nvPr/>
        </p:nvSpPr>
        <p:spPr>
          <a:xfrm rot="5400000">
            <a:off x="5949429" y="4895564"/>
            <a:ext cx="545033" cy="585839"/>
          </a:xfrm>
          <a:custGeom>
            <a:avLst/>
            <a:gdLst>
              <a:gd name="connsiteX0" fmla="*/ 0 w 510271"/>
              <a:gd name="connsiteY0" fmla="*/ 124222 h 548474"/>
              <a:gd name="connsiteX1" fmla="*/ 0 w 510271"/>
              <a:gd name="connsiteY1" fmla="*/ 424217 h 548474"/>
              <a:gd name="connsiteX2" fmla="*/ 127569 w 510271"/>
              <a:gd name="connsiteY2" fmla="*/ 424217 h 548474"/>
              <a:gd name="connsiteX3" fmla="*/ 127569 w 510271"/>
              <a:gd name="connsiteY3" fmla="*/ 548474 h 548474"/>
              <a:gd name="connsiteX4" fmla="*/ 510272 w 510271"/>
              <a:gd name="connsiteY4" fmla="*/ 274237 h 548474"/>
              <a:gd name="connsiteX5" fmla="*/ 127569 w 510271"/>
              <a:gd name="connsiteY5" fmla="*/ 0 h 548474"/>
              <a:gd name="connsiteX6" fmla="*/ 127569 w 510271"/>
              <a:gd name="connsiteY6" fmla="*/ 124222 h 548474"/>
              <a:gd name="connsiteX7" fmla="*/ 0 w 510271"/>
              <a:gd name="connsiteY7" fmla="*/ 124222 h 548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271" h="548474">
                <a:moveTo>
                  <a:pt x="0" y="124222"/>
                </a:moveTo>
                <a:lnTo>
                  <a:pt x="0" y="424217"/>
                </a:lnTo>
                <a:lnTo>
                  <a:pt x="127569" y="424217"/>
                </a:lnTo>
                <a:lnTo>
                  <a:pt x="127569" y="548474"/>
                </a:lnTo>
                <a:lnTo>
                  <a:pt x="510272" y="274237"/>
                </a:lnTo>
                <a:lnTo>
                  <a:pt x="127569" y="0"/>
                </a:lnTo>
                <a:lnTo>
                  <a:pt x="127569" y="124222"/>
                </a:lnTo>
                <a:lnTo>
                  <a:pt x="0" y="124222"/>
                </a:lnTo>
                <a:close/>
              </a:path>
            </a:pathLst>
          </a:custGeom>
          <a:gradFill>
            <a:gsLst>
              <a:gs pos="0">
                <a:srgbClr val="B3D4FE"/>
              </a:gs>
              <a:gs pos="100000">
                <a:srgbClr val="B3D4FE">
                  <a:alpha val="0"/>
                </a:srgbClr>
              </a:gs>
            </a:gsLst>
            <a:lin ang="11160000" scaled="0"/>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2" name="任意多边形: 形状 109"/>
          <p:cNvSpPr/>
          <p:nvPr/>
        </p:nvSpPr>
        <p:spPr>
          <a:xfrm rot="5400000">
            <a:off x="5949429" y="2477946"/>
            <a:ext cx="545033" cy="585839"/>
          </a:xfrm>
          <a:custGeom>
            <a:avLst/>
            <a:gdLst>
              <a:gd name="connsiteX0" fmla="*/ 0 w 510271"/>
              <a:gd name="connsiteY0" fmla="*/ 124222 h 548474"/>
              <a:gd name="connsiteX1" fmla="*/ 0 w 510271"/>
              <a:gd name="connsiteY1" fmla="*/ 424217 h 548474"/>
              <a:gd name="connsiteX2" fmla="*/ 127569 w 510271"/>
              <a:gd name="connsiteY2" fmla="*/ 424217 h 548474"/>
              <a:gd name="connsiteX3" fmla="*/ 127569 w 510271"/>
              <a:gd name="connsiteY3" fmla="*/ 548474 h 548474"/>
              <a:gd name="connsiteX4" fmla="*/ 510272 w 510271"/>
              <a:gd name="connsiteY4" fmla="*/ 274237 h 548474"/>
              <a:gd name="connsiteX5" fmla="*/ 127569 w 510271"/>
              <a:gd name="connsiteY5" fmla="*/ 0 h 548474"/>
              <a:gd name="connsiteX6" fmla="*/ 127569 w 510271"/>
              <a:gd name="connsiteY6" fmla="*/ 124222 h 548474"/>
              <a:gd name="connsiteX7" fmla="*/ 0 w 510271"/>
              <a:gd name="connsiteY7" fmla="*/ 124222 h 548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271" h="548474">
                <a:moveTo>
                  <a:pt x="0" y="124222"/>
                </a:moveTo>
                <a:lnTo>
                  <a:pt x="0" y="424217"/>
                </a:lnTo>
                <a:lnTo>
                  <a:pt x="127569" y="424217"/>
                </a:lnTo>
                <a:lnTo>
                  <a:pt x="127569" y="548474"/>
                </a:lnTo>
                <a:lnTo>
                  <a:pt x="510272" y="274237"/>
                </a:lnTo>
                <a:lnTo>
                  <a:pt x="127569" y="0"/>
                </a:lnTo>
                <a:lnTo>
                  <a:pt x="127569" y="124222"/>
                </a:lnTo>
                <a:lnTo>
                  <a:pt x="0" y="124222"/>
                </a:lnTo>
                <a:close/>
              </a:path>
            </a:pathLst>
          </a:custGeom>
          <a:gradFill>
            <a:gsLst>
              <a:gs pos="0">
                <a:srgbClr val="3368FF"/>
              </a:gs>
              <a:gs pos="100000">
                <a:srgbClr val="3368FF">
                  <a:alpha val="0"/>
                </a:srgbClr>
              </a:gs>
            </a:gsLst>
            <a:lin ang="11160000" scaled="0"/>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cs typeface="微软雅黑"/>
              <a:sym typeface="微软雅黑"/>
              <a:latin typeface="微软雅黑"/>
              <a:ea typeface="微软雅黑"/>
            </a:endParaRPr>
          </a:p>
        </p:txBody>
      </p:sp>
      <p:grpSp>
        <p:nvGrpSpPr>
          <p:cNvPr id="9" name="显眼包PPT"/>
          <p:cNvGrpSpPr/>
          <p:nvPr/>
        </p:nvGrpSpPr>
        <p:grpSpPr>
          <a:xfrm>
            <a:off x="3746500" y="1588770"/>
            <a:ext cx="770890" cy="772160"/>
            <a:chOff x="2104935" y="2274814"/>
            <a:chExt cx="1060631" cy="1060631"/>
          </a:xfrm>
        </p:grpSpPr>
        <p:sp>
          <p:nvSpPr>
            <p:cNvPr id="11" name="显眼包PPT-2"/>
            <p:cNvSpPr/>
            <p:nvPr/>
          </p:nvSpPr>
          <p:spPr>
            <a:xfrm>
              <a:off x="2104935" y="2274814"/>
              <a:ext cx="1060631" cy="1060631"/>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 name="显眼包PPT-4"/>
            <p:cNvSpPr txBox="1"/>
            <p:nvPr/>
          </p:nvSpPr>
          <p:spPr>
            <a:xfrm>
              <a:off x="2202441" y="2495598"/>
              <a:ext cx="865622" cy="59137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内部</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客户</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p:txBody>
        </p:sp>
      </p:grpSp>
      <p:grpSp>
        <p:nvGrpSpPr>
          <p:cNvPr id="14" name="显眼包PPT"/>
          <p:cNvGrpSpPr/>
          <p:nvPr/>
        </p:nvGrpSpPr>
        <p:grpSpPr>
          <a:xfrm>
            <a:off x="4744720" y="1588770"/>
            <a:ext cx="770890" cy="772160"/>
            <a:chOff x="2104935" y="2274814"/>
            <a:chExt cx="1060631" cy="1060631"/>
          </a:xfrm>
        </p:grpSpPr>
        <p:sp>
          <p:nvSpPr>
            <p:cNvPr id="15" name="显眼包PPT-2"/>
            <p:cNvSpPr/>
            <p:nvPr/>
          </p:nvSpPr>
          <p:spPr>
            <a:xfrm>
              <a:off x="2104935" y="2274814"/>
              <a:ext cx="1060631" cy="1060631"/>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6" name="显眼包PPT-4"/>
            <p:cNvSpPr txBox="1"/>
            <p:nvPr/>
          </p:nvSpPr>
          <p:spPr>
            <a:xfrm>
              <a:off x="2202441" y="2495598"/>
              <a:ext cx="865622" cy="59137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外部</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客户</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p:txBody>
        </p:sp>
      </p:grpSp>
      <p:grpSp>
        <p:nvGrpSpPr>
          <p:cNvPr id="17" name="显眼包PPT"/>
          <p:cNvGrpSpPr/>
          <p:nvPr/>
        </p:nvGrpSpPr>
        <p:grpSpPr>
          <a:xfrm>
            <a:off x="5742940" y="1588770"/>
            <a:ext cx="770890" cy="772160"/>
            <a:chOff x="2104935" y="2274814"/>
            <a:chExt cx="1060631" cy="1060631"/>
          </a:xfrm>
        </p:grpSpPr>
        <p:sp>
          <p:nvSpPr>
            <p:cNvPr id="18" name="显眼包PPT-2"/>
            <p:cNvSpPr/>
            <p:nvPr/>
          </p:nvSpPr>
          <p:spPr>
            <a:xfrm>
              <a:off x="2104935" y="2274814"/>
              <a:ext cx="1060631" cy="1060631"/>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9" name="显眼包PPT-4"/>
            <p:cNvSpPr txBox="1"/>
            <p:nvPr/>
          </p:nvSpPr>
          <p:spPr>
            <a:xfrm>
              <a:off x="2202441" y="2495598"/>
              <a:ext cx="865622" cy="59137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业务</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梳理</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p:txBody>
        </p:sp>
      </p:grpSp>
      <p:grpSp>
        <p:nvGrpSpPr>
          <p:cNvPr id="20" name="显眼包PPT"/>
          <p:cNvGrpSpPr/>
          <p:nvPr/>
        </p:nvGrpSpPr>
        <p:grpSpPr>
          <a:xfrm>
            <a:off x="6741160" y="1588770"/>
            <a:ext cx="770890" cy="772160"/>
            <a:chOff x="2104935" y="2274814"/>
            <a:chExt cx="1060631" cy="1060631"/>
          </a:xfrm>
        </p:grpSpPr>
        <p:sp>
          <p:nvSpPr>
            <p:cNvPr id="21" name="显眼包PPT-2"/>
            <p:cNvSpPr/>
            <p:nvPr/>
          </p:nvSpPr>
          <p:spPr>
            <a:xfrm>
              <a:off x="2104935" y="2274814"/>
              <a:ext cx="1060631" cy="1060631"/>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2" name="显眼包PPT-4"/>
            <p:cNvSpPr txBox="1"/>
            <p:nvPr/>
          </p:nvSpPr>
          <p:spPr>
            <a:xfrm>
              <a:off x="2202441" y="2495598"/>
              <a:ext cx="865622" cy="59137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行业</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趋势</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p:txBody>
        </p:sp>
      </p:grpSp>
      <p:grpSp>
        <p:nvGrpSpPr>
          <p:cNvPr id="23" name="显眼包PPT"/>
          <p:cNvGrpSpPr/>
          <p:nvPr/>
        </p:nvGrpSpPr>
        <p:grpSpPr>
          <a:xfrm>
            <a:off x="7739380" y="1588770"/>
            <a:ext cx="770890" cy="772160"/>
            <a:chOff x="2104935" y="2274814"/>
            <a:chExt cx="1060631" cy="1060631"/>
          </a:xfrm>
        </p:grpSpPr>
        <p:sp>
          <p:nvSpPr>
            <p:cNvPr id="24" name="显眼包PPT-2"/>
            <p:cNvSpPr/>
            <p:nvPr/>
          </p:nvSpPr>
          <p:spPr>
            <a:xfrm>
              <a:off x="2104935" y="2274814"/>
              <a:ext cx="1060631" cy="1060631"/>
            </a:xfrm>
            <a:prstGeom prst="ellipse">
              <a:avLst/>
            </a:prstGeom>
            <a:gradFill flip="none" rotWithShape="1">
              <a:gsLst>
                <a:gs pos="60000">
                  <a:srgbClr val="FFFFFF">
                    <a:alpha val="56000"/>
                  </a:srgbClr>
                </a:gs>
                <a:gs pos="100000">
                  <a:srgbClr val="668EFF">
                    <a:alpha val="93000"/>
                  </a:srgbClr>
                </a:gs>
              </a:gsLst>
              <a:path path="shape">
                <a:fillToRect l="50000" t="50000" r="50000" b="50000"/>
              </a:path>
              <a:tileRect/>
            </a:gradFill>
            <a:ln w="317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6" name="显眼包PPT-4"/>
            <p:cNvSpPr txBox="1"/>
            <p:nvPr/>
          </p:nvSpPr>
          <p:spPr>
            <a:xfrm>
              <a:off x="2202441" y="2495598"/>
              <a:ext cx="865622" cy="59137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竞品</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rPr>
                <a:t>分析</a:t>
              </a:r>
              <a:endParaRPr kumimoji="0" lang="zh-CN" altLang="en-US" sz="1400" b="0" i="0" u="none" strike="noStrike" kern="1200" cap="none" spc="0" normalizeH="0" baseline="0" noProof="0" dirty="0">
                <a:ln>
                  <a:noFill/>
                </a:ln>
                <a:gradFill>
                  <a:gsLst>
                    <a:gs pos="0">
                      <a:srgbClr val="0042FF"/>
                    </a:gs>
                    <a:gs pos="100000">
                      <a:srgbClr val="0042FF"/>
                    </a:gs>
                  </a:gsLst>
                  <a:lin ang="5400000" scaled="1"/>
                </a:gradFill>
                <a:effectLst/>
                <a:uLnTx/>
                <a:uFillTx/>
                <a:latin typeface="微软雅黑"/>
                <a:ea typeface="微软雅黑"/>
                <a:cs typeface="微软雅黑"/>
              </a:endParaRPr>
            </a:p>
          </p:txBody>
        </p:sp>
      </p:gr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形状"/>
          <p:cNvSpPr/>
          <p:nvPr/>
        </p:nvSpPr>
        <p:spPr>
          <a:xfrm rot="5400000" flipV="1">
            <a:off x="5408930" y="122555"/>
            <a:ext cx="1381760" cy="1145794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a:gsLst>
              <a:gs pos="0">
                <a:srgbClr val="B3D4FE"/>
              </a:gs>
              <a:gs pos="100000">
                <a:srgbClr val="FFFFFF">
                  <a:alpha val="0"/>
                </a:srgbClr>
              </a:gs>
            </a:gsLst>
            <a:lin ang="0" scaled="0"/>
          </a:gradFill>
          <a:ln w="9525">
            <a:noFill/>
          </a:ln>
        </p:spPr>
        <p:txBody>
          <a:bodyPr vert="horz" wrap="square" lIns="68580" tIns="34290" rIns="68580" bIns="34290" numCol="1" rtlCol="0" anchor="t" anchorCtr="0" compatLnSpc="1">
            <a:noAutofit/>
          </a:bodyPr>
          <a:lstStyle/>
          <a:p>
            <a:pPr lvl="0" algn="l">
              <a:buClrTx/>
              <a:buSzTx/>
              <a:buFontTx/>
              <a:defRPr>
                <a:latin typeface="微软雅黑"/>
                <a:ea typeface="微软雅黑"/>
                <a:cs typeface="微软雅黑"/>
              </a:defRPr>
            </a:pPr>
            <a:endParaRPr kumimoji="1" lang="zh-CN" altLang="en-US" sz="1350">
              <a:solidFill>
                <a:srgbClr val="383838"/>
              </a:solidFill>
              <a:latin typeface="微软雅黑"/>
              <a:ea typeface="微软雅黑"/>
              <a:cs typeface="微软雅黑"/>
              <a:sym typeface="微软雅黑"/>
            </a:endParaRPr>
          </a:p>
        </p:txBody>
      </p:sp>
      <p:sp>
        <p:nvSpPr>
          <p:cNvPr id="14" name="设计"/>
          <p:cNvSpPr txBox="1"/>
          <p:nvPr/>
        </p:nvSpPr>
        <p:spPr>
          <a:xfrm>
            <a:off x="4216250" y="5941798"/>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lvl="0" algn="ctr" hangingPunct="0">
              <a:spcBef>
                <a:spcPts val="0"/>
              </a:spcBef>
              <a:spcAft>
                <a:spcPts val="0"/>
              </a:spcAft>
              <a:buClrTx/>
              <a:buSzTx/>
              <a:buFontTx/>
              <a:defRPr>
                <a:latin typeface="微软雅黑"/>
                <a:ea typeface="微软雅黑"/>
                <a:cs typeface="微软雅黑"/>
              </a:defRPr>
            </a:pPr>
            <a:r>
              <a:rPr lang="zh-CN" altLang="en-US" kern="0" noProof="0" dirty="0">
                <a:ln>
                  <a:noFill/>
                </a:ln>
                <a:solidFill>
                  <a:srgbClr val="0042FF"/>
                </a:solidFill>
                <a:effectLst/>
                <a:uLnTx/>
                <a:uFillTx/>
                <a:latin typeface="微软雅黑"/>
                <a:ea typeface="微软雅黑"/>
                <a:cs typeface="微软雅黑"/>
                <a:sym typeface="微软雅黑"/>
              </a:rPr>
              <a:t>继承品牌资产</a:t>
            </a:r>
            <a:endParaRPr lang="zh-CN" altLang="en-US" kern="0" noProof="0" dirty="0">
              <a:ln>
                <a:noFill/>
              </a:ln>
              <a:solidFill>
                <a:srgbClr val="0042FF"/>
              </a:solidFill>
              <a:effectLst/>
              <a:uLnTx/>
              <a:uFillTx/>
              <a:latin typeface="微软雅黑"/>
              <a:ea typeface="微软雅黑"/>
              <a:cs typeface="微软雅黑"/>
              <a:sym typeface="微软雅黑"/>
            </a:endParaRPr>
          </a:p>
        </p:txBody>
      </p:sp>
      <p:sp>
        <p:nvSpPr>
          <p:cNvPr id="11" name="形状"/>
          <p:cNvSpPr/>
          <p:nvPr/>
        </p:nvSpPr>
        <p:spPr>
          <a:xfrm rot="16200000">
            <a:off x="5542280" y="-3759835"/>
            <a:ext cx="1240790" cy="11485245"/>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a:gsLst>
              <a:gs pos="0">
                <a:srgbClr val="B3D4FE"/>
              </a:gs>
              <a:gs pos="100000">
                <a:srgbClr val="FFFFFF">
                  <a:alpha val="0"/>
                </a:srgbClr>
              </a:gs>
            </a:gsLst>
            <a:lin ang="0" scaled="0"/>
          </a:gradFill>
          <a:ln w="9525">
            <a:noFill/>
          </a:ln>
        </p:spPr>
        <p:txBody>
          <a:bodyPr vert="horz" wrap="square" lIns="68580" tIns="34290" rIns="68580" bIns="34290" numCol="1" rtlCol="0" anchor="t" anchorCtr="0" compatLnSpc="1">
            <a:noAutofit/>
          </a:bodyPr>
          <a:lstStyle/>
          <a:p>
            <a:pPr lvl="0" algn="l">
              <a:buClrTx/>
              <a:buSzTx/>
              <a:buFontTx/>
              <a:defRPr>
                <a:latin typeface="微软雅黑"/>
                <a:ea typeface="微软雅黑"/>
                <a:cs typeface="微软雅黑"/>
              </a:defRPr>
            </a:pPr>
            <a:endParaRPr kumimoji="1" lang="zh-CN" altLang="en-US" sz="1350">
              <a:solidFill>
                <a:srgbClr val="383838"/>
              </a:solidFill>
              <a:latin typeface="微软雅黑"/>
              <a:ea typeface="微软雅黑"/>
              <a:cs typeface="微软雅黑"/>
              <a:sym typeface="微软雅黑"/>
            </a:endParaRPr>
          </a:p>
        </p:txBody>
      </p:sp>
      <p:sp>
        <p:nvSpPr>
          <p:cNvPr id="2" name="矩形"/>
          <p:cNvSpPr/>
          <p:nvPr/>
        </p:nvSpPr>
        <p:spPr>
          <a:xfrm>
            <a:off x="2636651" y="1448399"/>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21" name="设计"/>
          <p:cNvSpPr txBox="1"/>
          <p:nvPr/>
        </p:nvSpPr>
        <p:spPr>
          <a:xfrm>
            <a:off x="2790861" y="1562649"/>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marL="0" marR="0" lvl="0" indent="0" algn="ctr" defTabSz="12192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rPr>
              <a:t>内部用户</a:t>
            </a:r>
            <a:endPar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77" name="矩形"/>
          <p:cNvSpPr/>
          <p:nvPr/>
        </p:nvSpPr>
        <p:spPr>
          <a:xfrm>
            <a:off x="4062040" y="1448399"/>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24" name="设计"/>
          <p:cNvSpPr txBox="1"/>
          <p:nvPr/>
        </p:nvSpPr>
        <p:spPr>
          <a:xfrm>
            <a:off x="4216250" y="1562649"/>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marL="0" marR="0" lvl="0" indent="0" algn="ctr" defTabSz="12192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rPr>
              <a:t>外部用户</a:t>
            </a:r>
            <a:endPar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76" name="矩形"/>
          <p:cNvSpPr/>
          <p:nvPr/>
        </p:nvSpPr>
        <p:spPr>
          <a:xfrm>
            <a:off x="5487429" y="1448399"/>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26" name="设计"/>
          <p:cNvSpPr txBox="1"/>
          <p:nvPr/>
        </p:nvSpPr>
        <p:spPr>
          <a:xfrm>
            <a:off x="5641639" y="1562649"/>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marL="0" marR="0" lvl="0" indent="0" algn="ctr" defTabSz="12192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rPr>
              <a:t>业务梳理</a:t>
            </a:r>
            <a:endPar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3" name="矩形"/>
          <p:cNvSpPr/>
          <p:nvPr/>
        </p:nvSpPr>
        <p:spPr>
          <a:xfrm>
            <a:off x="6953840" y="1448399"/>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30" name="设计"/>
          <p:cNvSpPr txBox="1"/>
          <p:nvPr/>
        </p:nvSpPr>
        <p:spPr>
          <a:xfrm>
            <a:off x="7108050" y="1562649"/>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marL="0" marR="0" lvl="0" indent="0" algn="ctr" defTabSz="12192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rPr>
              <a:t>行业趋势</a:t>
            </a:r>
            <a:endPar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6" name="矩形"/>
          <p:cNvSpPr/>
          <p:nvPr/>
        </p:nvSpPr>
        <p:spPr>
          <a:xfrm>
            <a:off x="8420251" y="1448399"/>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7" name="设计"/>
          <p:cNvSpPr txBox="1"/>
          <p:nvPr/>
        </p:nvSpPr>
        <p:spPr>
          <a:xfrm>
            <a:off x="8574461" y="1562649"/>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marL="0" marR="0" lvl="0" indent="0" algn="ctr" defTabSz="12192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rPr>
              <a:t>竞品分析</a:t>
            </a:r>
            <a:endParaRPr kumimoji="0" lang="zh-CN" altLang="en-US" sz="1400" b="0" i="0" u="none" strike="noStrike" kern="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8" name="椭圆 17"/>
          <p:cNvSpPr/>
          <p:nvPr/>
        </p:nvSpPr>
        <p:spPr>
          <a:xfrm>
            <a:off x="4406035" y="2285640"/>
            <a:ext cx="3265630" cy="3265630"/>
          </a:xfrm>
          <a:prstGeom prst="ellipse">
            <a:avLst/>
          </a:prstGeom>
          <a:solidFill>
            <a:srgbClr val="FFFFFF"/>
          </a:solidFill>
          <a:ln w="12700" cap="flat">
            <a:solidFill>
              <a:srgbClr val="DCDCDC"/>
            </a:solid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49" name="连接线"/>
          <p:cNvSpPr/>
          <p:nvPr/>
        </p:nvSpPr>
        <p:spPr>
          <a:xfrm flipV="1">
            <a:off x="2141220" y="4626610"/>
            <a:ext cx="232410" cy="204470"/>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3368FF"/>
                </a:gs>
                <a:gs pos="100000">
                  <a:srgbClr val="3368FF">
                    <a:alpha val="0"/>
                  </a:srgbClr>
                </a:gs>
              </a:gsLst>
              <a:lin ang="0" scaled="1"/>
              <a:tileRect/>
            </a:gradFill>
            <a:headEnd type="none"/>
            <a:tailEnd type="none"/>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noProof="0">
              <a:ln>
                <a:noFill/>
              </a:ln>
              <a:solidFill>
                <a:srgbClr val="383838"/>
              </a:solidFill>
              <a:effectLst/>
              <a:uLnTx/>
              <a:uFillTx/>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品牌方案设计核心思路</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2" name="椭圆 11"/>
          <p:cNvSpPr/>
          <p:nvPr/>
        </p:nvSpPr>
        <p:spPr>
          <a:xfrm>
            <a:off x="4514850" y="2394455"/>
            <a:ext cx="3048000" cy="3048000"/>
          </a:xfrm>
          <a:prstGeom prst="ellipse">
            <a:avLst/>
          </a:prstGeom>
          <a:solidFill>
            <a:srgbClr val="FFFFFF"/>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3" name="椭圆 12"/>
          <p:cNvSpPr/>
          <p:nvPr/>
        </p:nvSpPr>
        <p:spPr>
          <a:xfrm>
            <a:off x="4514850" y="3150105"/>
            <a:ext cx="1524000" cy="1524000"/>
          </a:xfrm>
          <a:prstGeom prst="ellipse">
            <a:avLst/>
          </a:prstGeom>
          <a:solidFill>
            <a:srgbClr val="0042FF"/>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ctr" defTabSz="914400" rtl="0" eaLnBrk="1"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5" name="椭圆 14"/>
          <p:cNvSpPr/>
          <p:nvPr/>
        </p:nvSpPr>
        <p:spPr>
          <a:xfrm>
            <a:off x="6038850" y="3150105"/>
            <a:ext cx="1524000" cy="1524000"/>
          </a:xfrm>
          <a:prstGeom prst="ellipse">
            <a:avLst/>
          </a:prstGeom>
          <a:gradFill>
            <a:gsLst>
              <a:gs pos="0">
                <a:srgbClr val="3368FF"/>
              </a:gs>
              <a:gs pos="100000">
                <a:srgbClr val="B3D4FE"/>
              </a:gs>
            </a:gsLst>
            <a:lin ang="2700000" scaled="0"/>
          </a:gra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16" name="Object29"/>
          <p:cNvSpPr txBox="1"/>
          <p:nvPr/>
        </p:nvSpPr>
        <p:spPr>
          <a:xfrm>
            <a:off x="4759114" y="3649214"/>
            <a:ext cx="1041400" cy="613692"/>
          </a:xfrm>
          <a:prstGeom prst="rect">
            <a:avLst/>
          </a:prstGeom>
          <a:ln w="12700">
            <a:miter lim="400000"/>
          </a:ln>
        </p:spPr>
        <p:txBody>
          <a:bodyPr lIns="0" tIns="0" rIns="0" bIns="0">
            <a:noAutofit/>
          </a:bodyPr>
          <a:lstStyle>
            <a:lvl1pPr algn="ctr" defTabSz="609600">
              <a:lnSpc>
                <a:spcPts val="2000"/>
              </a:lnSpc>
              <a:defRPr b="1">
                <a:solidFill>
                  <a:srgbClr val="FFFFFF"/>
                </a:solidFill>
                <a:latin typeface="微软雅黑"/>
                <a:ea typeface="微软雅黑"/>
                <a:cs typeface="微软雅黑"/>
                <a:sym typeface="微软雅黑"/>
              </a:defRPr>
            </a:lvl1pPr>
          </a:lstStyle>
          <a:p>
            <a:pPr marL="0" marR="0" lvl="0" indent="0" algn="ctr" defTabSz="609600" rtl="0" eaLnBrk="1" fontAlgn="auto" latinLnBrk="0" hangingPunct="0">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品牌现状</a:t>
            </a:r>
            <a:r>
              <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现状梳理</a:t>
            </a:r>
            <a:endParaRPr kumimoji="0" sz="1800" b="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 name="Object29"/>
          <p:cNvSpPr txBox="1"/>
          <p:nvPr/>
        </p:nvSpPr>
        <p:spPr>
          <a:xfrm>
            <a:off x="6302331" y="3677632"/>
            <a:ext cx="1041400" cy="683659"/>
          </a:xfrm>
          <a:prstGeom prst="rect">
            <a:avLst/>
          </a:prstGeom>
          <a:ln w="12700">
            <a:miter lim="400000"/>
          </a:ln>
        </p:spPr>
        <p:txBody>
          <a:bodyPr lIns="0" tIns="0" rIns="0" bIns="0">
            <a:noAutofit/>
          </a:bodyPr>
          <a:lstStyle>
            <a:lvl1pPr algn="ctr" defTabSz="609600">
              <a:lnSpc>
                <a:spcPts val="2000"/>
              </a:lnSpc>
              <a:defRPr b="1">
                <a:solidFill>
                  <a:srgbClr val="383838"/>
                </a:solidFill>
                <a:latin typeface="微软雅黑"/>
                <a:ea typeface="微软雅黑"/>
                <a:cs typeface="微软雅黑"/>
                <a:sym typeface="微软雅黑"/>
              </a:defRPr>
            </a:lvl1pPr>
          </a:lstStyle>
          <a:p>
            <a:pPr marL="0" marR="0" lvl="0" indent="0" algn="ctr" defTabSz="609600" rtl="0" eaLnBrk="1" fontAlgn="auto" latinLnBrk="0" hangingPunct="0">
              <a:lnSpc>
                <a:spcPct val="130000"/>
              </a:lnSpc>
              <a:spcBef>
                <a:spcPts val="0"/>
              </a:spcBef>
              <a:spcAft>
                <a:spcPts val="0"/>
              </a:spcAft>
              <a:buClrTx/>
              <a:buSzTx/>
              <a:buFontTx/>
              <a:buNone/>
              <a:defRPr>
                <a:latin typeface="微软雅黑"/>
                <a:ea typeface="微软雅黑"/>
                <a:cs typeface="微软雅黑"/>
              </a:defRPr>
            </a:pPr>
            <a:r>
              <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品牌</a:t>
            </a:r>
            <a:r>
              <a:rPr kumimoji="0" lang="en-US" altLang="zh-CN" sz="18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DNA</a:t>
            </a:r>
            <a:r>
              <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未来预期</a:t>
            </a:r>
            <a:endParaRPr kumimoji="0" sz="1800" b="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9" name="矩形"/>
          <p:cNvSpPr/>
          <p:nvPr/>
        </p:nvSpPr>
        <p:spPr>
          <a:xfrm>
            <a:off x="4062040" y="5827548"/>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latin typeface="微软雅黑"/>
                <a:ea typeface="微软雅黑"/>
                <a:cs typeface="微软雅黑"/>
              </a:defRPr>
            </a:pPr>
            <a:endParaRPr lang="zh-CN" altLang="en-US" noProof="0">
              <a:ln>
                <a:noFill/>
              </a:ln>
              <a:solidFill>
                <a:srgbClr val="0042FF"/>
              </a:solidFill>
              <a:effectLst/>
              <a:uLnTx/>
              <a:uFillTx/>
              <a:latin typeface="微软雅黑"/>
              <a:ea typeface="微软雅黑"/>
              <a:cs typeface="微软雅黑"/>
              <a:sym typeface="微软雅黑"/>
            </a:endParaRPr>
          </a:p>
        </p:txBody>
      </p:sp>
      <p:sp>
        <p:nvSpPr>
          <p:cNvPr id="19" name="矩形"/>
          <p:cNvSpPr/>
          <p:nvPr/>
        </p:nvSpPr>
        <p:spPr>
          <a:xfrm>
            <a:off x="5507940" y="5827548"/>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latin typeface="微软雅黑"/>
                <a:ea typeface="微软雅黑"/>
                <a:cs typeface="微软雅黑"/>
              </a:defRPr>
            </a:pPr>
            <a:endParaRPr lang="zh-CN" altLang="en-US" noProof="0">
              <a:ln>
                <a:noFill/>
              </a:ln>
              <a:solidFill>
                <a:srgbClr val="0042FF"/>
              </a:solidFill>
              <a:effectLst/>
              <a:uLnTx/>
              <a:uFillTx/>
              <a:latin typeface="微软雅黑"/>
              <a:ea typeface="微软雅黑"/>
              <a:cs typeface="微软雅黑"/>
              <a:sym typeface="微软雅黑"/>
            </a:endParaRPr>
          </a:p>
        </p:txBody>
      </p:sp>
      <p:sp>
        <p:nvSpPr>
          <p:cNvPr id="20" name="设计"/>
          <p:cNvSpPr txBox="1"/>
          <p:nvPr/>
        </p:nvSpPr>
        <p:spPr>
          <a:xfrm>
            <a:off x="5662150" y="5941798"/>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lvl="0" algn="ctr" hangingPunct="0">
              <a:spcBef>
                <a:spcPts val="0"/>
              </a:spcBef>
              <a:spcAft>
                <a:spcPts val="0"/>
              </a:spcAft>
              <a:buClrTx/>
              <a:buSzTx/>
              <a:buFontTx/>
              <a:defRPr>
                <a:latin typeface="微软雅黑"/>
                <a:ea typeface="微软雅黑"/>
                <a:cs typeface="微软雅黑"/>
              </a:defRPr>
            </a:pPr>
            <a:r>
              <a:rPr lang="zh-CN" altLang="en-US" kern="0" noProof="0" dirty="0">
                <a:ln>
                  <a:noFill/>
                </a:ln>
                <a:solidFill>
                  <a:srgbClr val="0042FF"/>
                </a:solidFill>
                <a:effectLst/>
                <a:uLnTx/>
                <a:uFillTx/>
                <a:latin typeface="微软雅黑"/>
                <a:ea typeface="微软雅黑"/>
                <a:cs typeface="微软雅黑"/>
                <a:sym typeface="微软雅黑"/>
              </a:rPr>
              <a:t>优化阶段问题</a:t>
            </a:r>
            <a:endParaRPr lang="zh-CN" altLang="en-US" kern="0" noProof="0" dirty="0">
              <a:ln>
                <a:noFill/>
              </a:ln>
              <a:solidFill>
                <a:srgbClr val="0042FF"/>
              </a:solidFill>
              <a:effectLst/>
              <a:uLnTx/>
              <a:uFillTx/>
              <a:latin typeface="微软雅黑"/>
              <a:ea typeface="微软雅黑"/>
              <a:cs typeface="微软雅黑"/>
              <a:sym typeface="微软雅黑"/>
            </a:endParaRPr>
          </a:p>
        </p:txBody>
      </p:sp>
      <p:sp>
        <p:nvSpPr>
          <p:cNvPr id="22" name="矩形"/>
          <p:cNvSpPr/>
          <p:nvPr/>
        </p:nvSpPr>
        <p:spPr>
          <a:xfrm>
            <a:off x="6953840" y="5827548"/>
            <a:ext cx="1135098" cy="464462"/>
          </a:xfrm>
          <a:custGeom>
            <a:avLst/>
            <a:gdLst>
              <a:gd name="connsiteX0" fmla="*/ 72000 w 1135098"/>
              <a:gd name="connsiteY0" fmla="*/ 0 h 464462"/>
              <a:gd name="connsiteX1" fmla="*/ 1063098 w 1135098"/>
              <a:gd name="connsiteY1" fmla="*/ 0 h 464462"/>
              <a:gd name="connsiteX2" fmla="*/ 1135098 w 1135098"/>
              <a:gd name="connsiteY2" fmla="*/ 72000 h 464462"/>
              <a:gd name="connsiteX3" fmla="*/ 1135098 w 1135098"/>
              <a:gd name="connsiteY3" fmla="*/ 392462 h 464462"/>
              <a:gd name="connsiteX4" fmla="*/ 1063098 w 1135098"/>
              <a:gd name="connsiteY4" fmla="*/ 464462 h 464462"/>
              <a:gd name="connsiteX5" fmla="*/ 72000 w 1135098"/>
              <a:gd name="connsiteY5" fmla="*/ 464462 h 464462"/>
              <a:gd name="connsiteX6" fmla="*/ 0 w 1135098"/>
              <a:gd name="connsiteY6" fmla="*/ 392462 h 464462"/>
              <a:gd name="connsiteX7" fmla="*/ 0 w 1135098"/>
              <a:gd name="connsiteY7" fmla="*/ 72000 h 464462"/>
              <a:gd name="connsiteX8" fmla="*/ 72000 w 1135098"/>
              <a:gd name="connsiteY8" fmla="*/ 0 h 464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98" h="464462">
                <a:moveTo>
                  <a:pt x="72000" y="0"/>
                </a:moveTo>
                <a:lnTo>
                  <a:pt x="1063098" y="0"/>
                </a:lnTo>
                <a:cubicBezTo>
                  <a:pt x="1102842" y="0"/>
                  <a:pt x="1135098" y="32256"/>
                  <a:pt x="1135098" y="72000"/>
                </a:cubicBezTo>
                <a:lnTo>
                  <a:pt x="1135098" y="392462"/>
                </a:lnTo>
                <a:cubicBezTo>
                  <a:pt x="1135098" y="432206"/>
                  <a:pt x="1102842" y="464462"/>
                  <a:pt x="1063098" y="464462"/>
                </a:cubicBezTo>
                <a:lnTo>
                  <a:pt x="72000" y="464462"/>
                </a:lnTo>
                <a:cubicBezTo>
                  <a:pt x="32256" y="464462"/>
                  <a:pt x="0" y="432206"/>
                  <a:pt x="0" y="392462"/>
                </a:cubicBezTo>
                <a:lnTo>
                  <a:pt x="0" y="72000"/>
                </a:lnTo>
                <a:cubicBezTo>
                  <a:pt x="0" y="32256"/>
                  <a:pt x="32256" y="0"/>
                  <a:pt x="72000" y="0"/>
                </a:cubicBezTo>
              </a:path>
            </a:pathLst>
          </a:custGeom>
          <a:solidFill>
            <a:srgbClr val="FFFFFF"/>
          </a:solidFill>
          <a:ln w="1905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latin typeface="微软雅黑"/>
                <a:ea typeface="微软雅黑"/>
                <a:cs typeface="微软雅黑"/>
              </a:defRPr>
            </a:pPr>
            <a:endParaRPr lang="zh-CN" altLang="en-US" noProof="0">
              <a:ln>
                <a:noFill/>
              </a:ln>
              <a:solidFill>
                <a:srgbClr val="0042FF"/>
              </a:solidFill>
              <a:effectLst/>
              <a:uLnTx/>
              <a:uFillTx/>
              <a:latin typeface="微软雅黑"/>
              <a:ea typeface="微软雅黑"/>
              <a:cs typeface="微软雅黑"/>
              <a:sym typeface="微软雅黑"/>
            </a:endParaRPr>
          </a:p>
        </p:txBody>
      </p:sp>
      <p:sp>
        <p:nvSpPr>
          <p:cNvPr id="23" name="设计"/>
          <p:cNvSpPr txBox="1"/>
          <p:nvPr/>
        </p:nvSpPr>
        <p:spPr>
          <a:xfrm>
            <a:off x="7108050" y="5941798"/>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lvl="0" algn="ctr" hangingPunct="0">
              <a:spcBef>
                <a:spcPts val="0"/>
              </a:spcBef>
              <a:spcAft>
                <a:spcPts val="0"/>
              </a:spcAft>
              <a:buClrTx/>
              <a:buSzTx/>
              <a:buFontTx/>
              <a:defRPr>
                <a:latin typeface="微软雅黑"/>
                <a:ea typeface="微软雅黑"/>
                <a:cs typeface="微软雅黑"/>
              </a:defRPr>
            </a:pPr>
            <a:r>
              <a:rPr lang="zh-CN" altLang="en-US" kern="0" noProof="0" dirty="0">
                <a:ln>
                  <a:noFill/>
                </a:ln>
                <a:solidFill>
                  <a:srgbClr val="0042FF"/>
                </a:solidFill>
                <a:effectLst/>
                <a:uLnTx/>
                <a:uFillTx/>
                <a:latin typeface="微软雅黑"/>
                <a:ea typeface="微软雅黑"/>
                <a:cs typeface="微软雅黑"/>
                <a:sym typeface="微软雅黑"/>
              </a:rPr>
              <a:t>激活品牌活力</a:t>
            </a:r>
            <a:endParaRPr lang="zh-CN" altLang="en-US" kern="0" noProof="0" dirty="0">
              <a:ln>
                <a:noFill/>
              </a:ln>
              <a:solidFill>
                <a:srgbClr val="0042FF"/>
              </a:solidFill>
              <a:effectLst/>
              <a:uLnTx/>
              <a:uFillTx/>
              <a:latin typeface="微软雅黑"/>
              <a:ea typeface="微软雅黑"/>
              <a:cs typeface="微软雅黑"/>
              <a:sym typeface="微软雅黑"/>
            </a:endParaRPr>
          </a:p>
        </p:txBody>
      </p:sp>
      <p:sp>
        <p:nvSpPr>
          <p:cNvPr id="134" name="矩形 115"/>
          <p:cNvSpPr/>
          <p:nvPr/>
        </p:nvSpPr>
        <p:spPr>
          <a:xfrm>
            <a:off x="2389007" y="3074435"/>
            <a:ext cx="1131396" cy="378000"/>
          </a:xfrm>
          <a:custGeom>
            <a:avLst/>
            <a:gdLst>
              <a:gd name="connsiteX0" fmla="*/ 72000 w 1131396"/>
              <a:gd name="connsiteY0" fmla="*/ 0 h 378000"/>
              <a:gd name="connsiteX1" fmla="*/ 1059396 w 1131396"/>
              <a:gd name="connsiteY1" fmla="*/ 0 h 378000"/>
              <a:gd name="connsiteX2" fmla="*/ 1131396 w 1131396"/>
              <a:gd name="connsiteY2" fmla="*/ 72000 h 378000"/>
              <a:gd name="connsiteX3" fmla="*/ 1131396 w 1131396"/>
              <a:gd name="connsiteY3" fmla="*/ 306000 h 378000"/>
              <a:gd name="connsiteX4" fmla="*/ 1059396 w 1131396"/>
              <a:gd name="connsiteY4" fmla="*/ 378000 h 378000"/>
              <a:gd name="connsiteX5" fmla="*/ 72000 w 1131396"/>
              <a:gd name="connsiteY5" fmla="*/ 378000 h 378000"/>
              <a:gd name="connsiteX6" fmla="*/ 0 w 1131396"/>
              <a:gd name="connsiteY6" fmla="*/ 306000 h 378000"/>
              <a:gd name="connsiteX7" fmla="*/ 0 w 1131396"/>
              <a:gd name="connsiteY7" fmla="*/ 72000 h 378000"/>
              <a:gd name="connsiteX8" fmla="*/ 72000 w 1131396"/>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1396" h="378000">
                <a:moveTo>
                  <a:pt x="72000" y="0"/>
                </a:moveTo>
                <a:lnTo>
                  <a:pt x="1059396" y="0"/>
                </a:lnTo>
                <a:cubicBezTo>
                  <a:pt x="1099140" y="0"/>
                  <a:pt x="1131396" y="32256"/>
                  <a:pt x="1131396" y="72000"/>
                </a:cubicBezTo>
                <a:lnTo>
                  <a:pt x="1131396" y="306000"/>
                </a:lnTo>
                <a:cubicBezTo>
                  <a:pt x="1131396" y="345744"/>
                  <a:pt x="1099140" y="378000"/>
                  <a:pt x="1059396" y="378000"/>
                </a:cubicBezTo>
                <a:lnTo>
                  <a:pt x="72000" y="378000"/>
                </a:lnTo>
                <a:cubicBezTo>
                  <a:pt x="32256" y="378000"/>
                  <a:pt x="0" y="345744"/>
                  <a:pt x="0" y="306000"/>
                </a:cubicBezTo>
                <a:lnTo>
                  <a:pt x="0" y="72000"/>
                </a:lnTo>
                <a:cubicBezTo>
                  <a:pt x="0" y="32256"/>
                  <a:pt x="32256" y="0"/>
                  <a:pt x="72000" y="0"/>
                </a:cubicBezTo>
              </a:path>
            </a:pathLst>
          </a:custGeom>
          <a:solidFill>
            <a:srgbClr val="3368FF"/>
          </a:solidFill>
          <a:ln w="190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l" defTabSz="914400" rtl="0" eaLnBrk="1"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35" name="矩形 117"/>
          <p:cNvSpPr/>
          <p:nvPr/>
        </p:nvSpPr>
        <p:spPr>
          <a:xfrm>
            <a:off x="2389007" y="3725973"/>
            <a:ext cx="1131396" cy="378000"/>
          </a:xfrm>
          <a:custGeom>
            <a:avLst/>
            <a:gdLst>
              <a:gd name="connsiteX0" fmla="*/ 72000 w 1131396"/>
              <a:gd name="connsiteY0" fmla="*/ 0 h 378000"/>
              <a:gd name="connsiteX1" fmla="*/ 1059396 w 1131396"/>
              <a:gd name="connsiteY1" fmla="*/ 0 h 378000"/>
              <a:gd name="connsiteX2" fmla="*/ 1131396 w 1131396"/>
              <a:gd name="connsiteY2" fmla="*/ 72000 h 378000"/>
              <a:gd name="connsiteX3" fmla="*/ 1131396 w 1131396"/>
              <a:gd name="connsiteY3" fmla="*/ 306000 h 378000"/>
              <a:gd name="connsiteX4" fmla="*/ 1059396 w 1131396"/>
              <a:gd name="connsiteY4" fmla="*/ 378000 h 378000"/>
              <a:gd name="connsiteX5" fmla="*/ 72000 w 1131396"/>
              <a:gd name="connsiteY5" fmla="*/ 378000 h 378000"/>
              <a:gd name="connsiteX6" fmla="*/ 0 w 1131396"/>
              <a:gd name="connsiteY6" fmla="*/ 306000 h 378000"/>
              <a:gd name="connsiteX7" fmla="*/ 0 w 1131396"/>
              <a:gd name="connsiteY7" fmla="*/ 72000 h 378000"/>
              <a:gd name="connsiteX8" fmla="*/ 72000 w 1131396"/>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1396" h="378000">
                <a:moveTo>
                  <a:pt x="72000" y="0"/>
                </a:moveTo>
                <a:lnTo>
                  <a:pt x="1059396" y="0"/>
                </a:lnTo>
                <a:cubicBezTo>
                  <a:pt x="1099140" y="0"/>
                  <a:pt x="1131396" y="32256"/>
                  <a:pt x="1131396" y="72000"/>
                </a:cubicBezTo>
                <a:lnTo>
                  <a:pt x="1131396" y="306000"/>
                </a:lnTo>
                <a:cubicBezTo>
                  <a:pt x="1131396" y="345744"/>
                  <a:pt x="1099140" y="378000"/>
                  <a:pt x="1059396" y="378000"/>
                </a:cubicBezTo>
                <a:lnTo>
                  <a:pt x="72000" y="378000"/>
                </a:lnTo>
                <a:cubicBezTo>
                  <a:pt x="32256" y="378000"/>
                  <a:pt x="0" y="345744"/>
                  <a:pt x="0" y="306000"/>
                </a:cubicBezTo>
                <a:lnTo>
                  <a:pt x="0" y="72000"/>
                </a:lnTo>
                <a:cubicBezTo>
                  <a:pt x="0" y="32256"/>
                  <a:pt x="32256" y="0"/>
                  <a:pt x="72000" y="0"/>
                </a:cubicBezTo>
              </a:path>
            </a:pathLst>
          </a:custGeom>
          <a:solidFill>
            <a:srgbClr val="3368FF"/>
          </a:solidFill>
          <a:ln w="190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36" name="矩形 119"/>
          <p:cNvSpPr/>
          <p:nvPr/>
        </p:nvSpPr>
        <p:spPr>
          <a:xfrm>
            <a:off x="2389007" y="4377238"/>
            <a:ext cx="1131396" cy="378000"/>
          </a:xfrm>
          <a:custGeom>
            <a:avLst/>
            <a:gdLst>
              <a:gd name="connsiteX0" fmla="*/ 72000 w 1131396"/>
              <a:gd name="connsiteY0" fmla="*/ 0 h 378000"/>
              <a:gd name="connsiteX1" fmla="*/ 1059396 w 1131396"/>
              <a:gd name="connsiteY1" fmla="*/ 0 h 378000"/>
              <a:gd name="connsiteX2" fmla="*/ 1131396 w 1131396"/>
              <a:gd name="connsiteY2" fmla="*/ 72000 h 378000"/>
              <a:gd name="connsiteX3" fmla="*/ 1131396 w 1131396"/>
              <a:gd name="connsiteY3" fmla="*/ 306000 h 378000"/>
              <a:gd name="connsiteX4" fmla="*/ 1059396 w 1131396"/>
              <a:gd name="connsiteY4" fmla="*/ 378000 h 378000"/>
              <a:gd name="connsiteX5" fmla="*/ 72000 w 1131396"/>
              <a:gd name="connsiteY5" fmla="*/ 378000 h 378000"/>
              <a:gd name="connsiteX6" fmla="*/ 0 w 1131396"/>
              <a:gd name="connsiteY6" fmla="*/ 306000 h 378000"/>
              <a:gd name="connsiteX7" fmla="*/ 0 w 1131396"/>
              <a:gd name="connsiteY7" fmla="*/ 72000 h 378000"/>
              <a:gd name="connsiteX8" fmla="*/ 72000 w 1131396"/>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1396" h="378000">
                <a:moveTo>
                  <a:pt x="72000" y="0"/>
                </a:moveTo>
                <a:lnTo>
                  <a:pt x="1059396" y="0"/>
                </a:lnTo>
                <a:cubicBezTo>
                  <a:pt x="1099140" y="0"/>
                  <a:pt x="1131396" y="32256"/>
                  <a:pt x="1131396" y="72000"/>
                </a:cubicBezTo>
                <a:lnTo>
                  <a:pt x="1131396" y="306000"/>
                </a:lnTo>
                <a:cubicBezTo>
                  <a:pt x="1131396" y="345744"/>
                  <a:pt x="1099140" y="378000"/>
                  <a:pt x="1059396" y="378000"/>
                </a:cubicBezTo>
                <a:lnTo>
                  <a:pt x="72000" y="378000"/>
                </a:lnTo>
                <a:cubicBezTo>
                  <a:pt x="32256" y="378000"/>
                  <a:pt x="0" y="345744"/>
                  <a:pt x="0" y="306000"/>
                </a:cubicBezTo>
                <a:lnTo>
                  <a:pt x="0" y="72000"/>
                </a:lnTo>
                <a:cubicBezTo>
                  <a:pt x="0" y="32256"/>
                  <a:pt x="32256" y="0"/>
                  <a:pt x="72000" y="0"/>
                </a:cubicBezTo>
              </a:path>
            </a:pathLst>
          </a:custGeom>
          <a:solidFill>
            <a:srgbClr val="3368FF"/>
          </a:solidFill>
          <a:ln w="190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37" name="矩形 121"/>
          <p:cNvSpPr/>
          <p:nvPr/>
        </p:nvSpPr>
        <p:spPr>
          <a:xfrm>
            <a:off x="419437" y="2475855"/>
            <a:ext cx="1700435" cy="865620"/>
          </a:xfrm>
          <a:custGeom>
            <a:avLst/>
            <a:gdLst>
              <a:gd name="connsiteX0" fmla="*/ 72000 w 1700435"/>
              <a:gd name="connsiteY0" fmla="*/ 0 h 677942"/>
              <a:gd name="connsiteX1" fmla="*/ 1628435 w 1700435"/>
              <a:gd name="connsiteY1" fmla="*/ 0 h 677942"/>
              <a:gd name="connsiteX2" fmla="*/ 1700435 w 1700435"/>
              <a:gd name="connsiteY2" fmla="*/ 72000 h 677942"/>
              <a:gd name="connsiteX3" fmla="*/ 1700435 w 1700435"/>
              <a:gd name="connsiteY3" fmla="*/ 605942 h 677942"/>
              <a:gd name="connsiteX4" fmla="*/ 1628435 w 1700435"/>
              <a:gd name="connsiteY4" fmla="*/ 677942 h 677942"/>
              <a:gd name="connsiteX5" fmla="*/ 72000 w 1700435"/>
              <a:gd name="connsiteY5" fmla="*/ 677942 h 677942"/>
              <a:gd name="connsiteX6" fmla="*/ 0 w 1700435"/>
              <a:gd name="connsiteY6" fmla="*/ 605942 h 677942"/>
              <a:gd name="connsiteX7" fmla="*/ 0 w 1700435"/>
              <a:gd name="connsiteY7" fmla="*/ 72000 h 677942"/>
              <a:gd name="connsiteX8" fmla="*/ 72000 w 1700435"/>
              <a:gd name="connsiteY8" fmla="*/ 0 h 67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0435" h="677942">
                <a:moveTo>
                  <a:pt x="72000" y="0"/>
                </a:moveTo>
                <a:lnTo>
                  <a:pt x="1628435" y="0"/>
                </a:lnTo>
                <a:cubicBezTo>
                  <a:pt x="1668179" y="0"/>
                  <a:pt x="1700435" y="32256"/>
                  <a:pt x="1700435" y="72000"/>
                </a:cubicBezTo>
                <a:lnTo>
                  <a:pt x="1700435" y="605942"/>
                </a:lnTo>
                <a:cubicBezTo>
                  <a:pt x="1700435" y="645686"/>
                  <a:pt x="1668179" y="677942"/>
                  <a:pt x="1628435" y="677942"/>
                </a:cubicBezTo>
                <a:lnTo>
                  <a:pt x="72000" y="677942"/>
                </a:lnTo>
                <a:cubicBezTo>
                  <a:pt x="32256" y="677942"/>
                  <a:pt x="0" y="645686"/>
                  <a:pt x="0" y="605942"/>
                </a:cubicBezTo>
                <a:lnTo>
                  <a:pt x="0" y="72000"/>
                </a:lnTo>
                <a:cubicBezTo>
                  <a:pt x="0" y="32256"/>
                  <a:pt x="32256" y="0"/>
                  <a:pt x="72000" y="0"/>
                </a:cubicBezTo>
              </a:path>
            </a:pathLst>
          </a:custGeom>
          <a:solidFill>
            <a:srgbClr val="E6E6E6">
              <a:alpha val="70000"/>
            </a:srgbClr>
          </a:solidFill>
          <a:ln w="12700" cap="flat">
            <a:solidFill>
              <a:srgbClr val="668E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ctr"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8" name="矩形 123"/>
          <p:cNvSpPr/>
          <p:nvPr/>
        </p:nvSpPr>
        <p:spPr>
          <a:xfrm>
            <a:off x="419437" y="3483025"/>
            <a:ext cx="1700435" cy="865620"/>
          </a:xfrm>
          <a:custGeom>
            <a:avLst/>
            <a:gdLst>
              <a:gd name="connsiteX0" fmla="*/ 72000 w 1700435"/>
              <a:gd name="connsiteY0" fmla="*/ 0 h 677942"/>
              <a:gd name="connsiteX1" fmla="*/ 1628435 w 1700435"/>
              <a:gd name="connsiteY1" fmla="*/ 0 h 677942"/>
              <a:gd name="connsiteX2" fmla="*/ 1700435 w 1700435"/>
              <a:gd name="connsiteY2" fmla="*/ 72000 h 677942"/>
              <a:gd name="connsiteX3" fmla="*/ 1700435 w 1700435"/>
              <a:gd name="connsiteY3" fmla="*/ 605942 h 677942"/>
              <a:gd name="connsiteX4" fmla="*/ 1628435 w 1700435"/>
              <a:gd name="connsiteY4" fmla="*/ 677942 h 677942"/>
              <a:gd name="connsiteX5" fmla="*/ 72000 w 1700435"/>
              <a:gd name="connsiteY5" fmla="*/ 677942 h 677942"/>
              <a:gd name="connsiteX6" fmla="*/ 0 w 1700435"/>
              <a:gd name="connsiteY6" fmla="*/ 605942 h 677942"/>
              <a:gd name="connsiteX7" fmla="*/ 0 w 1700435"/>
              <a:gd name="connsiteY7" fmla="*/ 72000 h 677942"/>
              <a:gd name="connsiteX8" fmla="*/ 72000 w 1700435"/>
              <a:gd name="connsiteY8" fmla="*/ 0 h 67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0435" h="677942">
                <a:moveTo>
                  <a:pt x="72000" y="0"/>
                </a:moveTo>
                <a:lnTo>
                  <a:pt x="1628435" y="0"/>
                </a:lnTo>
                <a:cubicBezTo>
                  <a:pt x="1668179" y="0"/>
                  <a:pt x="1700435" y="32256"/>
                  <a:pt x="1700435" y="72000"/>
                </a:cubicBezTo>
                <a:lnTo>
                  <a:pt x="1700435" y="605942"/>
                </a:lnTo>
                <a:cubicBezTo>
                  <a:pt x="1700435" y="645686"/>
                  <a:pt x="1668179" y="677942"/>
                  <a:pt x="1628435" y="677942"/>
                </a:cubicBezTo>
                <a:lnTo>
                  <a:pt x="72000" y="677942"/>
                </a:lnTo>
                <a:cubicBezTo>
                  <a:pt x="32256" y="677942"/>
                  <a:pt x="0" y="645686"/>
                  <a:pt x="0" y="605942"/>
                </a:cubicBezTo>
                <a:lnTo>
                  <a:pt x="0" y="72000"/>
                </a:lnTo>
                <a:cubicBezTo>
                  <a:pt x="0" y="32256"/>
                  <a:pt x="32256" y="0"/>
                  <a:pt x="72000" y="0"/>
                </a:cubicBezTo>
              </a:path>
            </a:pathLst>
          </a:custGeom>
          <a:solidFill>
            <a:srgbClr val="E6E6E6">
              <a:alpha val="70000"/>
            </a:srgbClr>
          </a:solidFill>
          <a:ln w="12700" cap="flat">
            <a:solidFill>
              <a:srgbClr val="668E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139" name="矩形 125"/>
          <p:cNvSpPr/>
          <p:nvPr/>
        </p:nvSpPr>
        <p:spPr>
          <a:xfrm>
            <a:off x="419437" y="4494627"/>
            <a:ext cx="1700435" cy="865620"/>
          </a:xfrm>
          <a:custGeom>
            <a:avLst/>
            <a:gdLst>
              <a:gd name="connsiteX0" fmla="*/ 72000 w 1700435"/>
              <a:gd name="connsiteY0" fmla="*/ 0 h 677942"/>
              <a:gd name="connsiteX1" fmla="*/ 1628435 w 1700435"/>
              <a:gd name="connsiteY1" fmla="*/ 0 h 677942"/>
              <a:gd name="connsiteX2" fmla="*/ 1700435 w 1700435"/>
              <a:gd name="connsiteY2" fmla="*/ 72000 h 677942"/>
              <a:gd name="connsiteX3" fmla="*/ 1700435 w 1700435"/>
              <a:gd name="connsiteY3" fmla="*/ 605942 h 677942"/>
              <a:gd name="connsiteX4" fmla="*/ 1628435 w 1700435"/>
              <a:gd name="connsiteY4" fmla="*/ 677942 h 677942"/>
              <a:gd name="connsiteX5" fmla="*/ 72000 w 1700435"/>
              <a:gd name="connsiteY5" fmla="*/ 677942 h 677942"/>
              <a:gd name="connsiteX6" fmla="*/ 0 w 1700435"/>
              <a:gd name="connsiteY6" fmla="*/ 605942 h 677942"/>
              <a:gd name="connsiteX7" fmla="*/ 0 w 1700435"/>
              <a:gd name="connsiteY7" fmla="*/ 72000 h 677942"/>
              <a:gd name="connsiteX8" fmla="*/ 72000 w 1700435"/>
              <a:gd name="connsiteY8" fmla="*/ 0 h 67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0435" h="677942">
                <a:moveTo>
                  <a:pt x="72000" y="0"/>
                </a:moveTo>
                <a:lnTo>
                  <a:pt x="1628435" y="0"/>
                </a:lnTo>
                <a:cubicBezTo>
                  <a:pt x="1668179" y="0"/>
                  <a:pt x="1700435" y="32256"/>
                  <a:pt x="1700435" y="72000"/>
                </a:cubicBezTo>
                <a:lnTo>
                  <a:pt x="1700435" y="605942"/>
                </a:lnTo>
                <a:cubicBezTo>
                  <a:pt x="1700435" y="645686"/>
                  <a:pt x="1668179" y="677942"/>
                  <a:pt x="1628435" y="677942"/>
                </a:cubicBezTo>
                <a:lnTo>
                  <a:pt x="72000" y="677942"/>
                </a:lnTo>
                <a:cubicBezTo>
                  <a:pt x="32256" y="677942"/>
                  <a:pt x="0" y="645686"/>
                  <a:pt x="0" y="605942"/>
                </a:cubicBezTo>
                <a:lnTo>
                  <a:pt x="0" y="72000"/>
                </a:lnTo>
                <a:cubicBezTo>
                  <a:pt x="0" y="32256"/>
                  <a:pt x="32256" y="0"/>
                  <a:pt x="72000" y="0"/>
                </a:cubicBezTo>
              </a:path>
            </a:pathLst>
          </a:custGeom>
          <a:solidFill>
            <a:srgbClr val="E6E6E6">
              <a:alpha val="70000"/>
            </a:srgbClr>
          </a:solidFill>
          <a:ln w="12700" cap="flat">
            <a:solidFill>
              <a:srgbClr val="668E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127" name="Object32"/>
          <p:cNvSpPr txBox="1"/>
          <p:nvPr/>
        </p:nvSpPr>
        <p:spPr>
          <a:xfrm>
            <a:off x="471593" y="4592747"/>
            <a:ext cx="1596122" cy="208775"/>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40000"/>
              </a:lnSpc>
              <a:spcBef>
                <a:spcPts val="0"/>
              </a:spcBef>
              <a:spcAft>
                <a:spcPts val="0"/>
              </a:spcAft>
              <a:buClrTx/>
              <a:buSzTx/>
              <a:buFontTx/>
              <a:buNone/>
              <a:defRPr sz="1200" spc="123">
                <a:latin typeface="微软雅黑"/>
                <a:ea typeface="微软雅黑"/>
                <a:cs typeface="微软雅黑"/>
                <a:sym typeface="微软雅黑"/>
              </a:defRPr>
            </a:pPr>
            <a:endParaRPr kumimoji="0" sz="1050" b="0" i="0" u="none" strike="noStrike" kern="1200" cap="none" spc="123" normalizeH="0" baseline="0" noProof="0" dirty="0">
              <a:ln>
                <a:noFill/>
              </a:ln>
              <a:solidFill>
                <a:srgbClr val="0042FF"/>
              </a:solidFill>
              <a:effectLst/>
              <a:uLnTx/>
              <a:uFillTx/>
              <a:latin typeface="微软雅黑"/>
              <a:ea typeface="微软雅黑"/>
              <a:cs typeface="微软雅黑"/>
              <a:sym typeface="微软雅黑"/>
            </a:endParaRPr>
          </a:p>
        </p:txBody>
      </p:sp>
      <p:sp>
        <p:nvSpPr>
          <p:cNvPr id="145" name="连接线"/>
          <p:cNvSpPr/>
          <p:nvPr/>
        </p:nvSpPr>
        <p:spPr>
          <a:xfrm>
            <a:off x="3530324" y="3224339"/>
            <a:ext cx="842193" cy="612948"/>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3368FF"/>
                </a:gs>
                <a:gs pos="100000">
                  <a:srgbClr val="3368FF">
                    <a:alpha val="0"/>
                  </a:srgbClr>
                </a:gs>
              </a:gsLst>
              <a:lin ang="0" scaled="1"/>
              <a:tileRect/>
            </a:gradFill>
            <a:headEnd type="arrow"/>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46" name="连接线"/>
          <p:cNvSpPr/>
          <p:nvPr/>
        </p:nvSpPr>
        <p:spPr>
          <a:xfrm flipV="1">
            <a:off x="3530324" y="4013798"/>
            <a:ext cx="842193" cy="612948"/>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3368FF"/>
                </a:gs>
                <a:gs pos="100000">
                  <a:srgbClr val="3368FF">
                    <a:alpha val="0"/>
                  </a:srgbClr>
                </a:gs>
              </a:gsLst>
              <a:lin ang="0" scaled="1"/>
              <a:tileRect/>
            </a:gradFill>
            <a:headEnd type="arrow"/>
            <a:tailEnd type="none"/>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noProof="0">
              <a:ln>
                <a:noFill/>
              </a:ln>
              <a:solidFill>
                <a:srgbClr val="383838"/>
              </a:solidFill>
              <a:effectLst/>
              <a:uLnTx/>
              <a:uFillTx/>
              <a:latin typeface="微软雅黑"/>
              <a:ea typeface="微软雅黑"/>
              <a:cs typeface="微软雅黑"/>
              <a:sym typeface="微软雅黑"/>
            </a:endParaRPr>
          </a:p>
        </p:txBody>
      </p:sp>
      <p:sp>
        <p:nvSpPr>
          <p:cNvPr id="147" name="线条"/>
          <p:cNvSpPr/>
          <p:nvPr/>
        </p:nvSpPr>
        <p:spPr>
          <a:xfrm flipH="1">
            <a:off x="3530324" y="3925543"/>
            <a:ext cx="842193" cy="0"/>
          </a:xfrm>
          <a:prstGeom prst="line">
            <a:avLst/>
          </a:prstGeom>
          <a:noFill/>
          <a:ln w="31750" cap="rnd">
            <a:gradFill flip="none" rotWithShape="1">
              <a:gsLst>
                <a:gs pos="0">
                  <a:srgbClr val="3368FF"/>
                </a:gs>
                <a:gs pos="100000">
                  <a:srgbClr val="3368FF">
                    <a:alpha val="0"/>
                  </a:srgbClr>
                </a:gs>
              </a:gsLst>
              <a:lin ang="10800000" scaled="1"/>
              <a:tileRect/>
            </a:gradFill>
            <a:tailEnd type="arrow"/>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48" name="连接线"/>
          <p:cNvSpPr/>
          <p:nvPr/>
        </p:nvSpPr>
        <p:spPr>
          <a:xfrm>
            <a:off x="2162810" y="3079115"/>
            <a:ext cx="210820" cy="134620"/>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3368FF"/>
                </a:gs>
                <a:gs pos="100000">
                  <a:srgbClr val="3368FF">
                    <a:alpha val="0"/>
                  </a:srgbClr>
                </a:gs>
              </a:gsLst>
              <a:lin ang="0" scaled="1"/>
              <a:tileRect/>
            </a:gradFill>
            <a:headEnd type="none"/>
            <a:tailEnd type="none"/>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noProof="0">
              <a:ln>
                <a:noFill/>
              </a:ln>
              <a:solidFill>
                <a:srgbClr val="383838"/>
              </a:solidFill>
              <a:effectLst/>
              <a:uLnTx/>
              <a:uFillTx/>
              <a:latin typeface="微软雅黑"/>
              <a:ea typeface="微软雅黑"/>
              <a:cs typeface="微软雅黑"/>
              <a:sym typeface="微软雅黑"/>
            </a:endParaRPr>
          </a:p>
        </p:txBody>
      </p:sp>
      <p:sp>
        <p:nvSpPr>
          <p:cNvPr id="150" name="线条"/>
          <p:cNvSpPr/>
          <p:nvPr/>
        </p:nvSpPr>
        <p:spPr>
          <a:xfrm>
            <a:off x="2164080" y="3925570"/>
            <a:ext cx="196850" cy="0"/>
          </a:xfrm>
          <a:prstGeom prst="line">
            <a:avLst/>
          </a:prstGeom>
          <a:noFill/>
          <a:ln w="31750" cap="rnd">
            <a:gradFill flip="none" rotWithShape="1">
              <a:gsLst>
                <a:gs pos="0">
                  <a:srgbClr val="3368FF"/>
                </a:gs>
                <a:gs pos="100000">
                  <a:srgbClr val="3368FF">
                    <a:alpha val="0"/>
                  </a:srgbClr>
                </a:gs>
              </a:gsLst>
              <a:lin ang="0" scaled="1"/>
              <a:tileRect/>
            </a:gradFill>
            <a:headEnd type="none"/>
            <a:tailEnd type="none"/>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noProof="0">
              <a:ln>
                <a:noFill/>
              </a:ln>
              <a:solidFill>
                <a:srgbClr val="383838"/>
              </a:solidFill>
              <a:effectLst/>
              <a:uLnTx/>
              <a:uFillTx/>
              <a:latin typeface="微软雅黑"/>
              <a:ea typeface="微软雅黑"/>
              <a:cs typeface="微软雅黑"/>
              <a:sym typeface="微软雅黑"/>
            </a:endParaRPr>
          </a:p>
        </p:txBody>
      </p:sp>
      <p:sp>
        <p:nvSpPr>
          <p:cNvPr id="27" name="矩形 115"/>
          <p:cNvSpPr/>
          <p:nvPr/>
        </p:nvSpPr>
        <p:spPr>
          <a:xfrm flipH="1">
            <a:off x="8523779" y="3074435"/>
            <a:ext cx="1131396" cy="378000"/>
          </a:xfrm>
          <a:custGeom>
            <a:avLst/>
            <a:gdLst>
              <a:gd name="connsiteX0" fmla="*/ 72000 w 1131396"/>
              <a:gd name="connsiteY0" fmla="*/ 0 h 378000"/>
              <a:gd name="connsiteX1" fmla="*/ 1059396 w 1131396"/>
              <a:gd name="connsiteY1" fmla="*/ 0 h 378000"/>
              <a:gd name="connsiteX2" fmla="*/ 1131396 w 1131396"/>
              <a:gd name="connsiteY2" fmla="*/ 72000 h 378000"/>
              <a:gd name="connsiteX3" fmla="*/ 1131396 w 1131396"/>
              <a:gd name="connsiteY3" fmla="*/ 306000 h 378000"/>
              <a:gd name="connsiteX4" fmla="*/ 1059396 w 1131396"/>
              <a:gd name="connsiteY4" fmla="*/ 378000 h 378000"/>
              <a:gd name="connsiteX5" fmla="*/ 72000 w 1131396"/>
              <a:gd name="connsiteY5" fmla="*/ 378000 h 378000"/>
              <a:gd name="connsiteX6" fmla="*/ 0 w 1131396"/>
              <a:gd name="connsiteY6" fmla="*/ 306000 h 378000"/>
              <a:gd name="connsiteX7" fmla="*/ 0 w 1131396"/>
              <a:gd name="connsiteY7" fmla="*/ 72000 h 378000"/>
              <a:gd name="connsiteX8" fmla="*/ 72000 w 1131396"/>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1396" h="378000">
                <a:moveTo>
                  <a:pt x="72000" y="0"/>
                </a:moveTo>
                <a:lnTo>
                  <a:pt x="1059396" y="0"/>
                </a:lnTo>
                <a:cubicBezTo>
                  <a:pt x="1099140" y="0"/>
                  <a:pt x="1131396" y="32256"/>
                  <a:pt x="1131396" y="72000"/>
                </a:cubicBezTo>
                <a:lnTo>
                  <a:pt x="1131396" y="306000"/>
                </a:lnTo>
                <a:cubicBezTo>
                  <a:pt x="1131396" y="345744"/>
                  <a:pt x="1099140" y="378000"/>
                  <a:pt x="1059396" y="378000"/>
                </a:cubicBezTo>
                <a:lnTo>
                  <a:pt x="72000" y="378000"/>
                </a:lnTo>
                <a:cubicBezTo>
                  <a:pt x="32256" y="378000"/>
                  <a:pt x="0" y="345744"/>
                  <a:pt x="0" y="306000"/>
                </a:cubicBezTo>
                <a:lnTo>
                  <a:pt x="0" y="72000"/>
                </a:lnTo>
                <a:cubicBezTo>
                  <a:pt x="0" y="32256"/>
                  <a:pt x="32256" y="0"/>
                  <a:pt x="72000" y="0"/>
                </a:cubicBezTo>
              </a:path>
            </a:pathLst>
          </a:custGeom>
          <a:solidFill>
            <a:srgbClr val="B3D4FE"/>
          </a:solidFill>
          <a:ln w="190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0042FF"/>
              </a:solidFill>
              <a:effectLst/>
              <a:uLnTx/>
              <a:uFillTx/>
              <a:latin typeface="微软雅黑"/>
              <a:ea typeface="微软雅黑"/>
              <a:cs typeface="微软雅黑"/>
              <a:sym typeface="微软雅黑"/>
            </a:endParaRPr>
          </a:p>
        </p:txBody>
      </p:sp>
      <p:sp>
        <p:nvSpPr>
          <p:cNvPr id="29" name="矩形 117"/>
          <p:cNvSpPr/>
          <p:nvPr/>
        </p:nvSpPr>
        <p:spPr>
          <a:xfrm flipH="1">
            <a:off x="8523779" y="3725973"/>
            <a:ext cx="1131396" cy="378000"/>
          </a:xfrm>
          <a:custGeom>
            <a:avLst/>
            <a:gdLst>
              <a:gd name="connsiteX0" fmla="*/ 72000 w 1131396"/>
              <a:gd name="connsiteY0" fmla="*/ 0 h 378000"/>
              <a:gd name="connsiteX1" fmla="*/ 1059396 w 1131396"/>
              <a:gd name="connsiteY1" fmla="*/ 0 h 378000"/>
              <a:gd name="connsiteX2" fmla="*/ 1131396 w 1131396"/>
              <a:gd name="connsiteY2" fmla="*/ 72000 h 378000"/>
              <a:gd name="connsiteX3" fmla="*/ 1131396 w 1131396"/>
              <a:gd name="connsiteY3" fmla="*/ 306000 h 378000"/>
              <a:gd name="connsiteX4" fmla="*/ 1059396 w 1131396"/>
              <a:gd name="connsiteY4" fmla="*/ 378000 h 378000"/>
              <a:gd name="connsiteX5" fmla="*/ 72000 w 1131396"/>
              <a:gd name="connsiteY5" fmla="*/ 378000 h 378000"/>
              <a:gd name="connsiteX6" fmla="*/ 0 w 1131396"/>
              <a:gd name="connsiteY6" fmla="*/ 306000 h 378000"/>
              <a:gd name="connsiteX7" fmla="*/ 0 w 1131396"/>
              <a:gd name="connsiteY7" fmla="*/ 72000 h 378000"/>
              <a:gd name="connsiteX8" fmla="*/ 72000 w 1131396"/>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1396" h="378000">
                <a:moveTo>
                  <a:pt x="72000" y="0"/>
                </a:moveTo>
                <a:lnTo>
                  <a:pt x="1059396" y="0"/>
                </a:lnTo>
                <a:cubicBezTo>
                  <a:pt x="1099140" y="0"/>
                  <a:pt x="1131396" y="32256"/>
                  <a:pt x="1131396" y="72000"/>
                </a:cubicBezTo>
                <a:lnTo>
                  <a:pt x="1131396" y="306000"/>
                </a:lnTo>
                <a:cubicBezTo>
                  <a:pt x="1131396" y="345744"/>
                  <a:pt x="1099140" y="378000"/>
                  <a:pt x="1059396" y="378000"/>
                </a:cubicBezTo>
                <a:lnTo>
                  <a:pt x="72000" y="378000"/>
                </a:lnTo>
                <a:cubicBezTo>
                  <a:pt x="32256" y="378000"/>
                  <a:pt x="0" y="345744"/>
                  <a:pt x="0" y="306000"/>
                </a:cubicBezTo>
                <a:lnTo>
                  <a:pt x="0" y="72000"/>
                </a:lnTo>
                <a:cubicBezTo>
                  <a:pt x="0" y="32256"/>
                  <a:pt x="32256" y="0"/>
                  <a:pt x="72000" y="0"/>
                </a:cubicBezTo>
              </a:path>
            </a:pathLst>
          </a:custGeom>
          <a:solidFill>
            <a:srgbClr val="B3D4FE"/>
          </a:solidFill>
          <a:ln w="190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0042FF"/>
              </a:solidFill>
              <a:effectLst/>
              <a:uLnTx/>
              <a:uFillTx/>
              <a:latin typeface="微软雅黑"/>
              <a:ea typeface="微软雅黑"/>
              <a:cs typeface="微软雅黑"/>
              <a:sym typeface="微软雅黑"/>
            </a:endParaRPr>
          </a:p>
        </p:txBody>
      </p:sp>
      <p:sp>
        <p:nvSpPr>
          <p:cNvPr id="32" name="矩形 119"/>
          <p:cNvSpPr/>
          <p:nvPr/>
        </p:nvSpPr>
        <p:spPr>
          <a:xfrm flipH="1">
            <a:off x="8523779" y="4377238"/>
            <a:ext cx="1131396" cy="378000"/>
          </a:xfrm>
          <a:custGeom>
            <a:avLst/>
            <a:gdLst>
              <a:gd name="connsiteX0" fmla="*/ 72000 w 1131396"/>
              <a:gd name="connsiteY0" fmla="*/ 0 h 378000"/>
              <a:gd name="connsiteX1" fmla="*/ 1059396 w 1131396"/>
              <a:gd name="connsiteY1" fmla="*/ 0 h 378000"/>
              <a:gd name="connsiteX2" fmla="*/ 1131396 w 1131396"/>
              <a:gd name="connsiteY2" fmla="*/ 72000 h 378000"/>
              <a:gd name="connsiteX3" fmla="*/ 1131396 w 1131396"/>
              <a:gd name="connsiteY3" fmla="*/ 306000 h 378000"/>
              <a:gd name="connsiteX4" fmla="*/ 1059396 w 1131396"/>
              <a:gd name="connsiteY4" fmla="*/ 378000 h 378000"/>
              <a:gd name="connsiteX5" fmla="*/ 72000 w 1131396"/>
              <a:gd name="connsiteY5" fmla="*/ 378000 h 378000"/>
              <a:gd name="connsiteX6" fmla="*/ 0 w 1131396"/>
              <a:gd name="connsiteY6" fmla="*/ 306000 h 378000"/>
              <a:gd name="connsiteX7" fmla="*/ 0 w 1131396"/>
              <a:gd name="connsiteY7" fmla="*/ 72000 h 378000"/>
              <a:gd name="connsiteX8" fmla="*/ 72000 w 1131396"/>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1396" h="378000">
                <a:moveTo>
                  <a:pt x="72000" y="0"/>
                </a:moveTo>
                <a:lnTo>
                  <a:pt x="1059396" y="0"/>
                </a:lnTo>
                <a:cubicBezTo>
                  <a:pt x="1099140" y="0"/>
                  <a:pt x="1131396" y="32256"/>
                  <a:pt x="1131396" y="72000"/>
                </a:cubicBezTo>
                <a:lnTo>
                  <a:pt x="1131396" y="306000"/>
                </a:lnTo>
                <a:cubicBezTo>
                  <a:pt x="1131396" y="345744"/>
                  <a:pt x="1099140" y="378000"/>
                  <a:pt x="1059396" y="378000"/>
                </a:cubicBezTo>
                <a:lnTo>
                  <a:pt x="72000" y="378000"/>
                </a:lnTo>
                <a:cubicBezTo>
                  <a:pt x="32256" y="378000"/>
                  <a:pt x="0" y="345744"/>
                  <a:pt x="0" y="306000"/>
                </a:cubicBezTo>
                <a:lnTo>
                  <a:pt x="0" y="72000"/>
                </a:lnTo>
                <a:cubicBezTo>
                  <a:pt x="0" y="32256"/>
                  <a:pt x="32256" y="0"/>
                  <a:pt x="72000" y="0"/>
                </a:cubicBezTo>
              </a:path>
            </a:pathLst>
          </a:custGeom>
          <a:solidFill>
            <a:srgbClr val="B3D4FE"/>
          </a:solidFill>
          <a:ln w="190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0042FF"/>
              </a:solidFill>
              <a:effectLst/>
              <a:uLnTx/>
              <a:uFillTx/>
              <a:latin typeface="微软雅黑"/>
              <a:ea typeface="微软雅黑"/>
              <a:cs typeface="微软雅黑"/>
              <a:sym typeface="微软雅黑"/>
            </a:endParaRPr>
          </a:p>
        </p:txBody>
      </p:sp>
      <p:sp>
        <p:nvSpPr>
          <p:cNvPr id="34" name="连接线"/>
          <p:cNvSpPr/>
          <p:nvPr/>
        </p:nvSpPr>
        <p:spPr>
          <a:xfrm flipH="1">
            <a:off x="7671665" y="3224339"/>
            <a:ext cx="842193" cy="612948"/>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B3D4FE"/>
                </a:gs>
                <a:gs pos="100000">
                  <a:srgbClr val="B3D4FE">
                    <a:alpha val="0"/>
                  </a:srgbClr>
                </a:gs>
              </a:gsLst>
              <a:lin ang="0" scaled="1"/>
              <a:tileRect/>
            </a:gradFill>
            <a:headEnd type="arrow"/>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35" name="连接线"/>
          <p:cNvSpPr/>
          <p:nvPr/>
        </p:nvSpPr>
        <p:spPr>
          <a:xfrm flipH="1" flipV="1">
            <a:off x="7671665" y="4013798"/>
            <a:ext cx="842193" cy="612948"/>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B3D4FE"/>
                </a:gs>
                <a:gs pos="100000">
                  <a:srgbClr val="B3D4FE">
                    <a:alpha val="0"/>
                  </a:srgbClr>
                </a:gs>
              </a:gsLst>
              <a:lin ang="0" scaled="1"/>
              <a:tileRect/>
            </a:gradFill>
            <a:headEnd type="arrow"/>
            <a:tailEnd type="none"/>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noProof="0">
              <a:ln>
                <a:noFill/>
              </a:ln>
              <a:solidFill>
                <a:srgbClr val="383838"/>
              </a:solidFill>
              <a:effectLst/>
              <a:uLnTx/>
              <a:uFillTx/>
              <a:latin typeface="微软雅黑"/>
              <a:ea typeface="微软雅黑"/>
              <a:cs typeface="微软雅黑"/>
              <a:sym typeface="微软雅黑"/>
            </a:endParaRPr>
          </a:p>
        </p:txBody>
      </p:sp>
      <p:sp>
        <p:nvSpPr>
          <p:cNvPr id="36" name="线条"/>
          <p:cNvSpPr/>
          <p:nvPr/>
        </p:nvSpPr>
        <p:spPr>
          <a:xfrm>
            <a:off x="7671665" y="3925543"/>
            <a:ext cx="842193" cy="0"/>
          </a:xfrm>
          <a:prstGeom prst="line">
            <a:avLst/>
          </a:prstGeom>
          <a:noFill/>
          <a:ln w="31750" cap="rnd">
            <a:gradFill flip="none" rotWithShape="1">
              <a:gsLst>
                <a:gs pos="0">
                  <a:srgbClr val="B3D4FE"/>
                </a:gs>
                <a:gs pos="100000">
                  <a:srgbClr val="B3D4FE">
                    <a:alpha val="0"/>
                  </a:srgbClr>
                </a:gs>
              </a:gsLst>
              <a:lin ang="10800000" scaled="1"/>
              <a:tileRect/>
            </a:gradFill>
            <a:tailEnd type="arrow"/>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nvGrpSpPr>
          <p:cNvPr id="37" name="组合 36"/>
          <p:cNvGrpSpPr/>
          <p:nvPr/>
        </p:nvGrpSpPr>
        <p:grpSpPr>
          <a:xfrm flipH="1">
            <a:off x="9676105" y="2992541"/>
            <a:ext cx="253776" cy="1723668"/>
            <a:chOff x="2210142" y="2910202"/>
            <a:chExt cx="1084132" cy="1466887"/>
          </a:xfrm>
        </p:grpSpPr>
        <p:sp>
          <p:nvSpPr>
            <p:cNvPr id="163" name="连接线"/>
            <p:cNvSpPr/>
            <p:nvPr/>
          </p:nvSpPr>
          <p:spPr>
            <a:xfrm>
              <a:off x="2210145" y="2910202"/>
              <a:ext cx="1084129" cy="114644"/>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B3D4FE"/>
                  </a:gs>
                  <a:gs pos="100000">
                    <a:srgbClr val="B3D4FE">
                      <a:alpha val="0"/>
                    </a:srgbClr>
                  </a:gs>
                </a:gsLst>
                <a:lin ang="0" scaled="1"/>
                <a:tileRect/>
              </a:gradFill>
              <a:headEnd type="none"/>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800" b="0" i="0" u="none" strike="noStrike" kern="1200" cap="none" spc="0" normalizeH="0" baseline="0" noProof="0">
                <a:ln>
                  <a:noFill/>
                </a:ln>
                <a:solidFill>
                  <a:srgbClr val="0042FF"/>
                </a:solidFill>
                <a:effectLst/>
                <a:uLnTx/>
                <a:uFillTx/>
                <a:latin typeface="微软雅黑"/>
                <a:ea typeface="微软雅黑"/>
                <a:cs typeface="微软雅黑"/>
                <a:sym typeface="微软雅黑"/>
              </a:endParaRPr>
            </a:p>
          </p:txBody>
        </p:sp>
        <p:sp>
          <p:nvSpPr>
            <p:cNvPr id="164" name="连接线"/>
            <p:cNvSpPr/>
            <p:nvPr/>
          </p:nvSpPr>
          <p:spPr>
            <a:xfrm flipV="1">
              <a:off x="2210142" y="4203231"/>
              <a:ext cx="1084132" cy="173858"/>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noFill/>
            <a:ln w="31750" cap="rnd">
              <a:gradFill flip="none" rotWithShape="1">
                <a:gsLst>
                  <a:gs pos="0">
                    <a:srgbClr val="B3D4FE"/>
                  </a:gs>
                  <a:gs pos="100000">
                    <a:srgbClr val="B3D4FE">
                      <a:alpha val="0"/>
                    </a:srgbClr>
                  </a:gs>
                </a:gsLst>
                <a:lin ang="0" scaled="1"/>
                <a:tileRect/>
              </a:gradFill>
              <a:headEnd type="none"/>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800" b="0" i="0" u="none" strike="noStrike" kern="1200" cap="none" spc="0" normalizeH="0" baseline="0" noProof="0">
                <a:ln>
                  <a:noFill/>
                </a:ln>
                <a:solidFill>
                  <a:srgbClr val="0042FF"/>
                </a:solidFill>
                <a:effectLst/>
                <a:uLnTx/>
                <a:uFillTx/>
                <a:latin typeface="微软雅黑"/>
                <a:ea typeface="微软雅黑"/>
                <a:cs typeface="微软雅黑"/>
                <a:sym typeface="微软雅黑"/>
              </a:endParaRPr>
            </a:p>
          </p:txBody>
        </p:sp>
        <p:sp>
          <p:nvSpPr>
            <p:cNvPr id="38" name="线条"/>
            <p:cNvSpPr/>
            <p:nvPr/>
          </p:nvSpPr>
          <p:spPr>
            <a:xfrm flipH="1">
              <a:off x="2210145" y="3700916"/>
              <a:ext cx="842193" cy="0"/>
            </a:xfrm>
            <a:prstGeom prst="line">
              <a:avLst/>
            </a:prstGeom>
            <a:noFill/>
            <a:ln w="31750" cap="rnd">
              <a:gradFill flip="none" rotWithShape="1">
                <a:gsLst>
                  <a:gs pos="0">
                    <a:srgbClr val="B3D4FE"/>
                  </a:gs>
                  <a:gs pos="100000">
                    <a:srgbClr val="B3D4FE">
                      <a:alpha val="0"/>
                    </a:srgbClr>
                  </a:gs>
                </a:gsLst>
                <a:lin ang="10800000" scaled="1"/>
                <a:tileRect/>
              </a:gradFill>
              <a:headEnd type="none"/>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800" b="0" i="0" u="none" strike="noStrike" kern="1200" cap="none" spc="0" normalizeH="0" baseline="0" noProof="0">
                <a:ln>
                  <a:noFill/>
                </a:ln>
                <a:solidFill>
                  <a:srgbClr val="0042FF"/>
                </a:solidFill>
                <a:effectLst/>
                <a:uLnTx/>
                <a:uFillTx/>
                <a:latin typeface="微软雅黑"/>
                <a:ea typeface="微软雅黑"/>
                <a:cs typeface="微软雅黑"/>
                <a:sym typeface="微软雅黑"/>
              </a:endParaRPr>
            </a:p>
          </p:txBody>
        </p:sp>
      </p:grpSp>
      <p:sp>
        <p:nvSpPr>
          <p:cNvPr id="39" name="矩形 121"/>
          <p:cNvSpPr/>
          <p:nvPr/>
        </p:nvSpPr>
        <p:spPr>
          <a:xfrm>
            <a:off x="9985142" y="2483475"/>
            <a:ext cx="1700435" cy="865620"/>
          </a:xfrm>
          <a:custGeom>
            <a:avLst/>
            <a:gdLst>
              <a:gd name="connsiteX0" fmla="*/ 72000 w 1700435"/>
              <a:gd name="connsiteY0" fmla="*/ 0 h 677942"/>
              <a:gd name="connsiteX1" fmla="*/ 1628435 w 1700435"/>
              <a:gd name="connsiteY1" fmla="*/ 0 h 677942"/>
              <a:gd name="connsiteX2" fmla="*/ 1700435 w 1700435"/>
              <a:gd name="connsiteY2" fmla="*/ 72000 h 677942"/>
              <a:gd name="connsiteX3" fmla="*/ 1700435 w 1700435"/>
              <a:gd name="connsiteY3" fmla="*/ 605942 h 677942"/>
              <a:gd name="connsiteX4" fmla="*/ 1628435 w 1700435"/>
              <a:gd name="connsiteY4" fmla="*/ 677942 h 677942"/>
              <a:gd name="connsiteX5" fmla="*/ 72000 w 1700435"/>
              <a:gd name="connsiteY5" fmla="*/ 677942 h 677942"/>
              <a:gd name="connsiteX6" fmla="*/ 0 w 1700435"/>
              <a:gd name="connsiteY6" fmla="*/ 605942 h 677942"/>
              <a:gd name="connsiteX7" fmla="*/ 0 w 1700435"/>
              <a:gd name="connsiteY7" fmla="*/ 72000 h 677942"/>
              <a:gd name="connsiteX8" fmla="*/ 72000 w 1700435"/>
              <a:gd name="connsiteY8" fmla="*/ 0 h 67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0435" h="677942">
                <a:moveTo>
                  <a:pt x="72000" y="0"/>
                </a:moveTo>
                <a:lnTo>
                  <a:pt x="1628435" y="0"/>
                </a:lnTo>
                <a:cubicBezTo>
                  <a:pt x="1668179" y="0"/>
                  <a:pt x="1700435" y="32256"/>
                  <a:pt x="1700435" y="72000"/>
                </a:cubicBezTo>
                <a:lnTo>
                  <a:pt x="1700435" y="605942"/>
                </a:lnTo>
                <a:cubicBezTo>
                  <a:pt x="1700435" y="645686"/>
                  <a:pt x="1668179" y="677942"/>
                  <a:pt x="1628435" y="677942"/>
                </a:cubicBezTo>
                <a:lnTo>
                  <a:pt x="72000" y="677942"/>
                </a:lnTo>
                <a:cubicBezTo>
                  <a:pt x="32256" y="677942"/>
                  <a:pt x="0" y="645686"/>
                  <a:pt x="0" y="605942"/>
                </a:cubicBezTo>
                <a:lnTo>
                  <a:pt x="0" y="72000"/>
                </a:lnTo>
                <a:cubicBezTo>
                  <a:pt x="0" y="32256"/>
                  <a:pt x="32256" y="0"/>
                  <a:pt x="72000" y="0"/>
                </a:cubicBezTo>
              </a:path>
            </a:pathLst>
          </a:custGeom>
          <a:solidFill>
            <a:srgbClr val="FFFFFF">
              <a:alpha val="70000"/>
            </a:srgbClr>
          </a:solidFill>
          <a:ln w="1270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lvl="0" indent="0" algn="ctr" defTabSz="9144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40" name="Object32"/>
          <p:cNvSpPr txBox="1"/>
          <p:nvPr/>
        </p:nvSpPr>
        <p:spPr>
          <a:xfrm>
            <a:off x="9732343" y="-301254"/>
            <a:ext cx="1313222" cy="208775"/>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40000"/>
              </a:lnSpc>
              <a:spcBef>
                <a:spcPts val="0"/>
              </a:spcBef>
              <a:spcAft>
                <a:spcPts val="0"/>
              </a:spcAft>
              <a:buClrTx/>
              <a:buSzTx/>
              <a:buFontTx/>
              <a:buNone/>
              <a:defRPr sz="1200" spc="123">
                <a:latin typeface="微软雅黑"/>
                <a:ea typeface="微软雅黑"/>
                <a:cs typeface="微软雅黑"/>
                <a:sym typeface="微软雅黑"/>
              </a:defRPr>
            </a:pPr>
            <a:endParaRPr kumimoji="0" lang="zh-CN" altLang="en-US" sz="1050" b="0" i="0" u="none" strike="noStrike" kern="1200" cap="none" spc="123" normalizeH="0" baseline="0" noProof="0" dirty="0">
              <a:ln>
                <a:noFill/>
              </a:ln>
              <a:solidFill>
                <a:srgbClr val="0042FF"/>
              </a:solidFill>
              <a:effectLst/>
              <a:uLnTx/>
              <a:uFillTx/>
              <a:latin typeface="微软雅黑"/>
              <a:ea typeface="微软雅黑"/>
              <a:cs typeface="微软雅黑"/>
              <a:sym typeface="微软雅黑"/>
            </a:endParaRPr>
          </a:p>
        </p:txBody>
      </p:sp>
      <p:sp>
        <p:nvSpPr>
          <p:cNvPr id="41" name="矩形 123"/>
          <p:cNvSpPr/>
          <p:nvPr/>
        </p:nvSpPr>
        <p:spPr>
          <a:xfrm>
            <a:off x="9985142" y="3490645"/>
            <a:ext cx="1700435" cy="865620"/>
          </a:xfrm>
          <a:custGeom>
            <a:avLst/>
            <a:gdLst>
              <a:gd name="connsiteX0" fmla="*/ 72000 w 1700435"/>
              <a:gd name="connsiteY0" fmla="*/ 0 h 677942"/>
              <a:gd name="connsiteX1" fmla="*/ 1628435 w 1700435"/>
              <a:gd name="connsiteY1" fmla="*/ 0 h 677942"/>
              <a:gd name="connsiteX2" fmla="*/ 1700435 w 1700435"/>
              <a:gd name="connsiteY2" fmla="*/ 72000 h 677942"/>
              <a:gd name="connsiteX3" fmla="*/ 1700435 w 1700435"/>
              <a:gd name="connsiteY3" fmla="*/ 605942 h 677942"/>
              <a:gd name="connsiteX4" fmla="*/ 1628435 w 1700435"/>
              <a:gd name="connsiteY4" fmla="*/ 677942 h 677942"/>
              <a:gd name="connsiteX5" fmla="*/ 72000 w 1700435"/>
              <a:gd name="connsiteY5" fmla="*/ 677942 h 677942"/>
              <a:gd name="connsiteX6" fmla="*/ 0 w 1700435"/>
              <a:gd name="connsiteY6" fmla="*/ 605942 h 677942"/>
              <a:gd name="connsiteX7" fmla="*/ 0 w 1700435"/>
              <a:gd name="connsiteY7" fmla="*/ 72000 h 677942"/>
              <a:gd name="connsiteX8" fmla="*/ 72000 w 1700435"/>
              <a:gd name="connsiteY8" fmla="*/ 0 h 67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0435" h="677942">
                <a:moveTo>
                  <a:pt x="72000" y="0"/>
                </a:moveTo>
                <a:lnTo>
                  <a:pt x="1628435" y="0"/>
                </a:lnTo>
                <a:cubicBezTo>
                  <a:pt x="1668179" y="0"/>
                  <a:pt x="1700435" y="32256"/>
                  <a:pt x="1700435" y="72000"/>
                </a:cubicBezTo>
                <a:lnTo>
                  <a:pt x="1700435" y="605942"/>
                </a:lnTo>
                <a:cubicBezTo>
                  <a:pt x="1700435" y="645686"/>
                  <a:pt x="1668179" y="677942"/>
                  <a:pt x="1628435" y="677942"/>
                </a:cubicBezTo>
                <a:lnTo>
                  <a:pt x="72000" y="677942"/>
                </a:lnTo>
                <a:cubicBezTo>
                  <a:pt x="32256" y="677942"/>
                  <a:pt x="0" y="645686"/>
                  <a:pt x="0" y="605942"/>
                </a:cubicBezTo>
                <a:lnTo>
                  <a:pt x="0" y="72000"/>
                </a:lnTo>
                <a:cubicBezTo>
                  <a:pt x="0" y="32256"/>
                  <a:pt x="32256" y="0"/>
                  <a:pt x="72000" y="0"/>
                </a:cubicBezTo>
              </a:path>
            </a:pathLst>
          </a:custGeom>
          <a:solidFill>
            <a:srgbClr val="FFFFFF">
              <a:alpha val="70000"/>
            </a:srgbClr>
          </a:solidFill>
          <a:ln w="1270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0042FF"/>
              </a:solidFill>
              <a:effectLst/>
              <a:uLnTx/>
              <a:uFillTx/>
              <a:latin typeface="微软雅黑"/>
              <a:ea typeface="微软雅黑"/>
              <a:cs typeface="微软雅黑"/>
              <a:sym typeface="微软雅黑"/>
            </a:endParaRPr>
          </a:p>
        </p:txBody>
      </p:sp>
      <p:sp>
        <p:nvSpPr>
          <p:cNvPr id="42" name="矩形 125"/>
          <p:cNvSpPr/>
          <p:nvPr/>
        </p:nvSpPr>
        <p:spPr>
          <a:xfrm>
            <a:off x="9985142" y="4502247"/>
            <a:ext cx="1700435" cy="865620"/>
          </a:xfrm>
          <a:custGeom>
            <a:avLst/>
            <a:gdLst>
              <a:gd name="connsiteX0" fmla="*/ 72000 w 1700435"/>
              <a:gd name="connsiteY0" fmla="*/ 0 h 677942"/>
              <a:gd name="connsiteX1" fmla="*/ 1628435 w 1700435"/>
              <a:gd name="connsiteY1" fmla="*/ 0 h 677942"/>
              <a:gd name="connsiteX2" fmla="*/ 1700435 w 1700435"/>
              <a:gd name="connsiteY2" fmla="*/ 72000 h 677942"/>
              <a:gd name="connsiteX3" fmla="*/ 1700435 w 1700435"/>
              <a:gd name="connsiteY3" fmla="*/ 605942 h 677942"/>
              <a:gd name="connsiteX4" fmla="*/ 1628435 w 1700435"/>
              <a:gd name="connsiteY4" fmla="*/ 677942 h 677942"/>
              <a:gd name="connsiteX5" fmla="*/ 72000 w 1700435"/>
              <a:gd name="connsiteY5" fmla="*/ 677942 h 677942"/>
              <a:gd name="connsiteX6" fmla="*/ 0 w 1700435"/>
              <a:gd name="connsiteY6" fmla="*/ 605942 h 677942"/>
              <a:gd name="connsiteX7" fmla="*/ 0 w 1700435"/>
              <a:gd name="connsiteY7" fmla="*/ 72000 h 677942"/>
              <a:gd name="connsiteX8" fmla="*/ 72000 w 1700435"/>
              <a:gd name="connsiteY8" fmla="*/ 0 h 67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0435" h="677942">
                <a:moveTo>
                  <a:pt x="72000" y="0"/>
                </a:moveTo>
                <a:lnTo>
                  <a:pt x="1628435" y="0"/>
                </a:lnTo>
                <a:cubicBezTo>
                  <a:pt x="1668179" y="0"/>
                  <a:pt x="1700435" y="32256"/>
                  <a:pt x="1700435" y="72000"/>
                </a:cubicBezTo>
                <a:lnTo>
                  <a:pt x="1700435" y="605942"/>
                </a:lnTo>
                <a:cubicBezTo>
                  <a:pt x="1700435" y="645686"/>
                  <a:pt x="1668179" y="677942"/>
                  <a:pt x="1628435" y="677942"/>
                </a:cubicBezTo>
                <a:lnTo>
                  <a:pt x="72000" y="677942"/>
                </a:lnTo>
                <a:cubicBezTo>
                  <a:pt x="32256" y="677942"/>
                  <a:pt x="0" y="645686"/>
                  <a:pt x="0" y="605942"/>
                </a:cubicBezTo>
                <a:lnTo>
                  <a:pt x="0" y="72000"/>
                </a:lnTo>
                <a:cubicBezTo>
                  <a:pt x="0" y="32256"/>
                  <a:pt x="32256" y="0"/>
                  <a:pt x="72000" y="0"/>
                </a:cubicBezTo>
              </a:path>
            </a:pathLst>
          </a:custGeom>
          <a:solidFill>
            <a:srgbClr val="FFFFFF">
              <a:alpha val="70000"/>
            </a:srgbClr>
          </a:solidFill>
          <a:ln w="12700" cap="flat">
            <a:solidFill>
              <a:srgbClr val="B3D4FE"/>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spcBef>
                <a:spcPts val="0"/>
              </a:spcBef>
              <a:spcAft>
                <a:spcPts val="0"/>
              </a:spcAft>
              <a:buClrTx/>
              <a:buSzTx/>
              <a:buFontTx/>
              <a:defRPr>
                <a:latin typeface="微软雅黑"/>
                <a:ea typeface="微软雅黑"/>
                <a:cs typeface="微软雅黑"/>
              </a:defRPr>
            </a:pPr>
            <a:endParaRPr lang="zh-CN" altLang="en-US" noProof="0" dirty="0">
              <a:ln>
                <a:noFill/>
              </a:ln>
              <a:solidFill>
                <a:srgbClr val="0042FF"/>
              </a:solidFill>
              <a:effectLst/>
              <a:uLnTx/>
              <a:uFillTx/>
              <a:latin typeface="微软雅黑"/>
              <a:ea typeface="微软雅黑"/>
              <a:cs typeface="微软雅黑"/>
              <a:sym typeface="微软雅黑"/>
            </a:endParaRPr>
          </a:p>
        </p:txBody>
      </p:sp>
      <p:sp>
        <p:nvSpPr>
          <p:cNvPr id="43" name="Object32"/>
          <p:cNvSpPr txBox="1"/>
          <p:nvPr/>
        </p:nvSpPr>
        <p:spPr>
          <a:xfrm>
            <a:off x="10178748" y="4807069"/>
            <a:ext cx="1313222" cy="207237"/>
          </a:xfrm>
          <a:prstGeom prst="rect">
            <a:avLst/>
          </a:prstGeom>
          <a:ln w="12700">
            <a:miter lim="400000"/>
          </a:ln>
        </p:spPr>
        <p:txBody>
          <a:bodyPr wrap="square" lIns="0" tIns="0" rIns="0" bIns="0">
            <a:spAutoFit/>
          </a:bodyPr>
          <a:lstStyle/>
          <a:p>
            <a:pPr marL="0" marR="0" lvl="0" indent="0" algn="ctr" defTabSz="609600" rtl="0" eaLnBrk="1" fontAlgn="auto" latinLnBrk="0" hangingPunct="0">
              <a:lnSpc>
                <a:spcPct val="140000"/>
              </a:lnSpc>
              <a:spcBef>
                <a:spcPts val="0"/>
              </a:spcBef>
              <a:spcAft>
                <a:spcPts val="0"/>
              </a:spcAft>
              <a:buClrTx/>
              <a:buSzTx/>
              <a:buFontTx/>
              <a:buNone/>
              <a:defRPr sz="1200" spc="123">
                <a:latin typeface="微软雅黑"/>
                <a:ea typeface="微软雅黑"/>
                <a:cs typeface="微软雅黑"/>
                <a:sym typeface="微软雅黑"/>
              </a:defRPr>
            </a:pPr>
            <a:endParaRPr kumimoji="0" lang="zh-CN" altLang="en-US" sz="1050" b="0" i="0" u="none" strike="noStrike" kern="1200" cap="none" spc="123" normalizeH="0" baseline="0" noProof="0" dirty="0">
              <a:ln>
                <a:noFill/>
              </a:ln>
              <a:solidFill>
                <a:srgbClr val="0042FF"/>
              </a:solidFill>
              <a:effectLst/>
              <a:uLnTx/>
              <a:uFillTx/>
              <a:latin typeface="微软雅黑"/>
              <a:ea typeface="微软雅黑"/>
              <a:cs typeface="微软雅黑"/>
              <a:sym typeface="微软雅黑"/>
            </a:endParaRPr>
          </a:p>
        </p:txBody>
      </p:sp>
      <p:sp>
        <p:nvSpPr>
          <p:cNvPr id="242" name="右箭头 241"/>
          <p:cNvSpPr/>
          <p:nvPr/>
        </p:nvSpPr>
        <p:spPr>
          <a:xfrm rot="16200000" flipV="1">
            <a:off x="5757894" y="2456201"/>
            <a:ext cx="569533" cy="624198"/>
          </a:xfrm>
          <a:prstGeom prst="rightArrow">
            <a:avLst/>
          </a:prstGeom>
          <a:gradFill>
            <a:gsLst>
              <a:gs pos="0">
                <a:srgbClr val="B3D4FE"/>
              </a:gs>
              <a:gs pos="100000">
                <a:srgbClr val="B3D4FE">
                  <a:alpha val="0"/>
                </a:srgbClr>
              </a:gs>
            </a:gsLst>
            <a:lin ang="11160000" scaled="0"/>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sp>
        <p:nvSpPr>
          <p:cNvPr id="243" name="右箭头 242"/>
          <p:cNvSpPr/>
          <p:nvPr/>
        </p:nvSpPr>
        <p:spPr>
          <a:xfrm rot="5400000" flipV="1">
            <a:off x="5757259" y="4762856"/>
            <a:ext cx="569533" cy="624198"/>
          </a:xfrm>
          <a:prstGeom prst="rightArrow">
            <a:avLst/>
          </a:prstGeom>
          <a:gradFill>
            <a:gsLst>
              <a:gs pos="0">
                <a:srgbClr val="B3D4FE"/>
              </a:gs>
              <a:gs pos="100000">
                <a:srgbClr val="B3D4FE">
                  <a:alpha val="0"/>
                </a:srgbClr>
              </a:gs>
            </a:gsLst>
            <a:lin ang="11160000" scaled="0"/>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a:cs typeface="微软雅黑"/>
              <a:sym typeface="微软雅黑"/>
              <a:latin typeface="微软雅黑"/>
              <a:ea typeface="微软雅黑"/>
            </a:endParaRPr>
          </a:p>
        </p:txBody>
      </p:sp>
      <p:sp>
        <p:nvSpPr>
          <p:cNvPr id="244" name="Object29"/>
          <p:cNvSpPr txBox="1"/>
          <p:nvPr/>
        </p:nvSpPr>
        <p:spPr>
          <a:xfrm flipH="1">
            <a:off x="8609863" y="3149962"/>
            <a:ext cx="971928" cy="205316"/>
          </a:xfrm>
          <a:prstGeom prst="rect">
            <a:avLst/>
          </a:prstGeom>
          <a:ln w="12700">
            <a:miter lim="400000"/>
          </a:ln>
        </p:spPr>
        <p:txBody>
          <a:bodyPr lIns="0" tIns="0" rIns="0" bIns="0">
            <a:noAutofit/>
          </a:bodyPr>
          <a:lstStyle>
            <a:lvl1pPr algn="ctr" defTabSz="609600">
              <a:lnSpc>
                <a:spcPts val="2000"/>
              </a:lnSpc>
              <a:defRPr b="1">
                <a:solidFill>
                  <a:srgbClr val="383838"/>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i="0" u="none" strike="noStrike" kern="0" cap="none" spc="0" normalizeH="0" baseline="0" noProof="0" dirty="0">
                <a:ln>
                  <a:noFill/>
                </a:ln>
                <a:solidFill>
                  <a:srgbClr val="383838"/>
                </a:solidFill>
                <a:effectLst/>
                <a:uLnTx/>
                <a:uFillTx/>
                <a:latin typeface="微软雅黑"/>
                <a:ea typeface="微软雅黑"/>
                <a:cs typeface="微软雅黑"/>
                <a:sym typeface="微软雅黑"/>
              </a:rPr>
              <a:t>使命愿景</a:t>
            </a:r>
            <a:endParaRPr kumimoji="0" lang="zh-CN" altLang="en-US" sz="12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45" name="Object29"/>
          <p:cNvSpPr txBox="1"/>
          <p:nvPr/>
        </p:nvSpPr>
        <p:spPr>
          <a:xfrm flipH="1">
            <a:off x="8609863" y="3819280"/>
            <a:ext cx="971928" cy="205316"/>
          </a:xfrm>
          <a:prstGeom prst="rect">
            <a:avLst/>
          </a:prstGeom>
          <a:ln w="12700">
            <a:miter lim="400000"/>
          </a:ln>
        </p:spPr>
        <p:txBody>
          <a:bodyPr lIns="0" tIns="0" rIns="0" bIns="0">
            <a:noAutofit/>
          </a:bodyPr>
          <a:lstStyle>
            <a:lvl1pPr algn="ctr" defTabSz="609600">
              <a:lnSpc>
                <a:spcPts val="2000"/>
              </a:lnSpc>
              <a:defRPr b="1">
                <a:solidFill>
                  <a:srgbClr val="383838"/>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i="0" u="none" strike="noStrike" kern="0" cap="none" spc="0" normalizeH="0" baseline="0" noProof="0" dirty="0">
                <a:ln>
                  <a:noFill/>
                </a:ln>
                <a:solidFill>
                  <a:srgbClr val="383838"/>
                </a:solidFill>
                <a:effectLst/>
                <a:uLnTx/>
                <a:uFillTx/>
                <a:latin typeface="微软雅黑"/>
                <a:ea typeface="微软雅黑"/>
                <a:cs typeface="微软雅黑"/>
                <a:sym typeface="微软雅黑"/>
              </a:rPr>
              <a:t>核心价值</a:t>
            </a:r>
            <a:endParaRPr kumimoji="0" lang="zh-CN" altLang="en-US" sz="12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46" name="Object29"/>
          <p:cNvSpPr txBox="1"/>
          <p:nvPr/>
        </p:nvSpPr>
        <p:spPr>
          <a:xfrm flipH="1">
            <a:off x="8609863" y="4460385"/>
            <a:ext cx="971928" cy="205316"/>
          </a:xfrm>
          <a:prstGeom prst="rect">
            <a:avLst/>
          </a:prstGeom>
          <a:ln w="12700">
            <a:miter lim="400000"/>
          </a:ln>
        </p:spPr>
        <p:txBody>
          <a:bodyPr lIns="0" tIns="0" rIns="0" bIns="0">
            <a:noAutofit/>
          </a:bodyPr>
          <a:lstStyle>
            <a:lvl1pPr algn="ctr" defTabSz="609600">
              <a:lnSpc>
                <a:spcPts val="2000"/>
              </a:lnSpc>
              <a:defRPr b="1">
                <a:solidFill>
                  <a:srgbClr val="383838"/>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i="0" u="none" strike="noStrike" kern="0" cap="none" spc="0" normalizeH="0" baseline="0" noProof="0" dirty="0">
                <a:ln>
                  <a:noFill/>
                </a:ln>
                <a:solidFill>
                  <a:srgbClr val="383838"/>
                </a:solidFill>
                <a:effectLst/>
                <a:uLnTx/>
                <a:uFillTx/>
                <a:latin typeface="微软雅黑"/>
                <a:ea typeface="微软雅黑"/>
                <a:cs typeface="微软雅黑"/>
                <a:sym typeface="微软雅黑"/>
              </a:rPr>
              <a:t>品牌特征</a:t>
            </a:r>
            <a:endParaRPr kumimoji="0" lang="zh-CN" altLang="en-US" sz="12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47" name="设计"/>
          <p:cNvSpPr txBox="1"/>
          <p:nvPr/>
        </p:nvSpPr>
        <p:spPr>
          <a:xfrm>
            <a:off x="4216255" y="5941798"/>
            <a:ext cx="826676" cy="235962"/>
          </a:xfrm>
          <a:prstGeom prst="rect">
            <a:avLst/>
          </a:prstGeom>
          <a:ln w="12700">
            <a:miter lim="400000"/>
          </a:ln>
        </p:spPr>
        <p:txBody>
          <a:bodyPr wrap="none" lIns="0" tIns="0" rIns="0" bIns="0" anchor="ctr">
            <a:noAutofit/>
          </a:bodyPr>
          <a:lstStyle>
            <a:lvl1pPr algn="ctr" defTabSz="1219200">
              <a:defRPr sz="1200">
                <a:solidFill>
                  <a:srgbClr val="0042FF"/>
                </a:solidFill>
                <a:latin typeface="微软雅黑"/>
                <a:ea typeface="微软雅黑"/>
                <a:cs typeface="微软雅黑"/>
                <a:sym typeface="微软雅黑"/>
              </a:defRPr>
            </a:lvl1pPr>
          </a:lstStyle>
          <a:p>
            <a:pPr lvl="0" algn="ctr" hangingPunct="0">
              <a:spcBef>
                <a:spcPts val="0"/>
              </a:spcBef>
              <a:spcAft>
                <a:spcPts val="0"/>
              </a:spcAft>
              <a:buClrTx/>
              <a:buSzTx/>
              <a:buFontTx/>
              <a:defRPr>
                <a:latin typeface="微软雅黑"/>
                <a:ea typeface="微软雅黑"/>
                <a:cs typeface="微软雅黑"/>
              </a:defRPr>
            </a:pPr>
            <a:r>
              <a:rPr lang="zh-CN" altLang="en-US" kern="0" noProof="0" dirty="0">
                <a:ln>
                  <a:noFill/>
                </a:ln>
                <a:solidFill>
                  <a:srgbClr val="0042FF"/>
                </a:solidFill>
                <a:effectLst/>
                <a:uLnTx/>
                <a:uFillTx/>
                <a:latin typeface="微软雅黑"/>
                <a:ea typeface="微软雅黑"/>
                <a:cs typeface="微软雅黑"/>
                <a:sym typeface="微软雅黑"/>
              </a:rPr>
              <a:t>继承品牌资产</a:t>
            </a:r>
            <a:endParaRPr lang="zh-CN" altLang="en-US" kern="0" noProof="0" dirty="0">
              <a:ln>
                <a:noFill/>
              </a:ln>
              <a:solidFill>
                <a:srgbClr val="0042FF"/>
              </a:solidFill>
              <a:effectLst/>
              <a:uLnTx/>
              <a:uFillTx/>
              <a:latin typeface="微软雅黑"/>
              <a:ea typeface="微软雅黑"/>
              <a:cs typeface="微软雅黑"/>
              <a:sym typeface="微软雅黑"/>
            </a:endParaRPr>
          </a:p>
        </p:txBody>
      </p:sp>
      <p:grpSp>
        <p:nvGrpSpPr>
          <p:cNvPr id="4" name="组合 3"/>
          <p:cNvGrpSpPr/>
          <p:nvPr/>
        </p:nvGrpSpPr>
        <p:grpSpPr>
          <a:xfrm>
            <a:off x="8738235" y="348615"/>
            <a:ext cx="3219450" cy="332740"/>
            <a:chOff x="13761" y="549"/>
            <a:chExt cx="5070" cy="524"/>
          </a:xfrm>
        </p:grpSpPr>
        <p:pic>
          <p:nvPicPr>
            <p:cNvPr id="25" name="图片 24"/>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28" name="文本框 2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3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52" name="Rectangle 26"/>
          <p:cNvSpPr/>
          <p:nvPr/>
        </p:nvSpPr>
        <p:spPr>
          <a:xfrm>
            <a:off x="9864663" y="2624171"/>
            <a:ext cx="1974905" cy="589457"/>
          </a:xfrm>
          <a:prstGeom prst="rect">
            <a:avLst/>
          </a:prstGeom>
        </p:spPr>
        <p:txBody>
          <a:bodyPr wrap="square" lIns="0" rIns="0" tIns="0" bIns="0">
            <a:spAutoFit/>
          </a:bodyPr>
          <a:lstStyle/>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连线真实世界</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让雏形更美好</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3" name="Rectangle 26"/>
          <p:cNvSpPr/>
          <p:nvPr/>
        </p:nvSpPr>
        <p:spPr>
          <a:xfrm>
            <a:off x="10108224" y="3646519"/>
            <a:ext cx="1487784" cy="589457"/>
          </a:xfrm>
          <a:prstGeom prst="rect">
            <a:avLst/>
          </a:prstGeom>
        </p:spPr>
        <p:txBody>
          <a:bodyPr wrap="square" lIns="0" rIns="0" tIns="0" bIns="0">
            <a:spAutoFit/>
          </a:bodyPr>
          <a:lstStyle/>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为客户提供专业的出行与位置服务</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4" name="Rectangle 26"/>
          <p:cNvSpPr/>
          <p:nvPr/>
        </p:nvSpPr>
        <p:spPr>
          <a:xfrm>
            <a:off x="10108224" y="4734243"/>
            <a:ext cx="1487784" cy="330924"/>
          </a:xfrm>
          <a:prstGeom prst="rect">
            <a:avLst/>
          </a:prstGeom>
        </p:spPr>
        <p:txBody>
          <a:bodyPr wrap="square" lIns="0" rIns="0" tIns="0" bIns="0">
            <a:spAutoFit/>
          </a:bodyPr>
          <a:lstStyle/>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专业</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生活化、活力</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5" name="Rectangle 26"/>
          <p:cNvSpPr/>
          <p:nvPr/>
        </p:nvSpPr>
        <p:spPr>
          <a:xfrm>
            <a:off x="305637" y="2475913"/>
            <a:ext cx="1974905" cy="847989"/>
          </a:xfrm>
          <a:prstGeom prst="rect">
            <a:avLst/>
          </a:prstGeom>
        </p:spPr>
        <p:txBody>
          <a:bodyPr wrap="square" lIns="0" rIns="0" tIns="0" bIns="0">
            <a:spAutoFit/>
          </a:bodyPr>
          <a:lstStyle/>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LOGO</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形式与时代脱节</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滞后于主流审美</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视觉心智待强化</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6" name="Rectangle 26"/>
          <p:cNvSpPr/>
          <p:nvPr/>
        </p:nvSpPr>
        <p:spPr>
          <a:xfrm>
            <a:off x="290382" y="3463942"/>
            <a:ext cx="1974905" cy="847989"/>
          </a:xfrm>
          <a:prstGeom prst="rect">
            <a:avLst/>
          </a:prstGeom>
        </p:spPr>
        <p:txBody>
          <a:bodyPr wrap="square" lIns="0" rIns="0" tIns="0" bIns="0">
            <a:spAutoFit/>
          </a:bodyPr>
          <a:lstStyle/>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业务发展不同步</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品牌体系待完善</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传播策略待加强</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7" name="Rectangle 26"/>
          <p:cNvSpPr/>
          <p:nvPr/>
        </p:nvSpPr>
        <p:spPr>
          <a:xfrm>
            <a:off x="370205" y="4479290"/>
            <a:ext cx="1889125" cy="866140"/>
          </a:xfrm>
          <a:prstGeom prst="rect">
            <a:avLst/>
          </a:prstGeom>
        </p:spPr>
        <p:txBody>
          <a:bodyPr wrap="square" lIns="0" rIns="0" tIns="0" bIns="0">
            <a:spAutoFit/>
          </a:bodyPr>
          <a:lstStyle/>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工具属性明显</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缺少应有活力</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4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品牌层级待梳理</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8" name="Object29"/>
          <p:cNvSpPr txBox="1"/>
          <p:nvPr/>
        </p:nvSpPr>
        <p:spPr>
          <a:xfrm>
            <a:off x="2468741" y="3167742"/>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i="0" u="none" strike="noStrike" kern="0" cap="none" spc="0" normalizeH="0" baseline="0" noProof="0" dirty="0">
                <a:ln>
                  <a:noFill/>
                </a:ln>
                <a:solidFill>
                  <a:srgbClr val="FFFFFF"/>
                </a:solidFill>
                <a:effectLst/>
                <a:uLnTx/>
                <a:uFillTx/>
                <a:latin typeface="微软雅黑"/>
                <a:ea typeface="微软雅黑"/>
                <a:cs typeface="微软雅黑"/>
                <a:sym typeface="微软雅黑"/>
              </a:rPr>
              <a:t>视觉层面</a:t>
            </a:r>
            <a:endParaRPr kumimoji="0" lang="zh-CN" altLang="en-US" sz="120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59" name="Object29"/>
          <p:cNvSpPr txBox="1"/>
          <p:nvPr/>
        </p:nvSpPr>
        <p:spPr>
          <a:xfrm>
            <a:off x="2468741" y="3819280"/>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i="0" u="none" strike="noStrike" kern="0" cap="none" spc="0" normalizeH="0" baseline="0" noProof="0" dirty="0">
                <a:ln>
                  <a:noFill/>
                </a:ln>
                <a:solidFill>
                  <a:srgbClr val="FFFFFF"/>
                </a:solidFill>
                <a:effectLst/>
                <a:uLnTx/>
                <a:uFillTx/>
                <a:latin typeface="微软雅黑"/>
                <a:ea typeface="微软雅黑"/>
                <a:cs typeface="微软雅黑"/>
                <a:sym typeface="微软雅黑"/>
              </a:rPr>
              <a:t>传播层面</a:t>
            </a:r>
            <a:endParaRPr kumimoji="0" lang="zh-CN" altLang="en-US" sz="120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0" name="Object29"/>
          <p:cNvSpPr txBox="1"/>
          <p:nvPr/>
        </p:nvSpPr>
        <p:spPr>
          <a:xfrm>
            <a:off x="2468741" y="4470545"/>
            <a:ext cx="971928" cy="205316"/>
          </a:xfrm>
          <a:prstGeom prst="rect">
            <a:avLst/>
          </a:prstGeom>
          <a:ln w="12700">
            <a:miter lim="400000"/>
          </a:ln>
        </p:spPr>
        <p:txBody>
          <a:bodyPr lIns="0" tIns="0" rIns="0" bIns="0">
            <a:noAutofit/>
          </a:bodyPr>
          <a:lstStyle>
            <a:lvl1pPr algn="ctr" defTabSz="609600">
              <a:lnSpc>
                <a:spcPts val="2000"/>
              </a:lnSpc>
              <a:defRPr b="1">
                <a:solidFill>
                  <a:srgbClr val="FFFFFF"/>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i="0" u="none" strike="noStrike" kern="0" cap="none" spc="0" normalizeH="0" baseline="0" noProof="0" dirty="0">
                <a:ln>
                  <a:noFill/>
                </a:ln>
                <a:solidFill>
                  <a:srgbClr val="FFFFFF"/>
                </a:solidFill>
                <a:effectLst/>
                <a:uLnTx/>
                <a:uFillTx/>
                <a:latin typeface="微软雅黑"/>
                <a:ea typeface="微软雅黑"/>
                <a:cs typeface="微软雅黑"/>
                <a:sym typeface="微软雅黑"/>
              </a:rPr>
              <a:t>用户心智</a:t>
            </a:r>
            <a:endParaRPr kumimoji="0" lang="zh-CN" altLang="en-US" sz="120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梯形 322"/>
          <p:cNvSpPr/>
          <p:nvPr/>
        </p:nvSpPr>
        <p:spPr>
          <a:xfrm rot="5400000">
            <a:off x="896543" y="980892"/>
            <a:ext cx="6161670" cy="6167004"/>
          </a:xfrm>
          <a:custGeom>
            <a:avLst/>
            <a:gdLst>
              <a:gd name="connsiteX0" fmla="*/ 0 w 965390"/>
              <a:gd name="connsiteY0" fmla="*/ 697627 h 697627"/>
              <a:gd name="connsiteX1" fmla="*/ 174407 w 965390"/>
              <a:gd name="connsiteY1" fmla="*/ 0 h 697627"/>
              <a:gd name="connsiteX2" fmla="*/ 790983 w 965390"/>
              <a:gd name="connsiteY2" fmla="*/ 0 h 697627"/>
              <a:gd name="connsiteX3" fmla="*/ 965390 w 965390"/>
              <a:gd name="connsiteY3" fmla="*/ 697627 h 697627"/>
              <a:gd name="connsiteX4" fmla="*/ 0 w 965390"/>
              <a:gd name="connsiteY4" fmla="*/ 697627 h 697627"/>
              <a:gd name="connsiteX0-1" fmla="*/ 0 w 965390"/>
              <a:gd name="connsiteY0-2" fmla="*/ 697627 h 697627"/>
              <a:gd name="connsiteX1-3" fmla="*/ 174407 w 965390"/>
              <a:gd name="connsiteY1-4" fmla="*/ 0 h 697627"/>
              <a:gd name="connsiteX2-5" fmla="*/ 790983 w 965390"/>
              <a:gd name="connsiteY2-6" fmla="*/ 0 h 697627"/>
              <a:gd name="connsiteX3-7" fmla="*/ 965390 w 965390"/>
              <a:gd name="connsiteY3-8" fmla="*/ 697627 h 697627"/>
              <a:gd name="connsiteX4-9" fmla="*/ 0 w 965390"/>
              <a:gd name="connsiteY4-10" fmla="*/ 697627 h 697627"/>
              <a:gd name="connsiteX0-11" fmla="*/ 0 w 965390"/>
              <a:gd name="connsiteY0-12" fmla="*/ 697627 h 697627"/>
              <a:gd name="connsiteX1-13" fmla="*/ 174407 w 965390"/>
              <a:gd name="connsiteY1-14" fmla="*/ 0 h 697627"/>
              <a:gd name="connsiteX2-15" fmla="*/ 790983 w 965390"/>
              <a:gd name="connsiteY2-16" fmla="*/ 0 h 697627"/>
              <a:gd name="connsiteX3-17" fmla="*/ 965390 w 965390"/>
              <a:gd name="connsiteY3-18" fmla="*/ 697627 h 697627"/>
              <a:gd name="connsiteX4-19" fmla="*/ 0 w 965390"/>
              <a:gd name="connsiteY4-20" fmla="*/ 697627 h 697627"/>
              <a:gd name="connsiteX0-21" fmla="*/ 0 w 965390"/>
              <a:gd name="connsiteY0-22" fmla="*/ 697627 h 697627"/>
              <a:gd name="connsiteX1-23" fmla="*/ 174407 w 965390"/>
              <a:gd name="connsiteY1-24" fmla="*/ 0 h 697627"/>
              <a:gd name="connsiteX2-25" fmla="*/ 790983 w 965390"/>
              <a:gd name="connsiteY2-26" fmla="*/ 0 h 697627"/>
              <a:gd name="connsiteX3-27" fmla="*/ 965390 w 965390"/>
              <a:gd name="connsiteY3-28" fmla="*/ 697627 h 697627"/>
              <a:gd name="connsiteX4-29" fmla="*/ 0 w 965390"/>
              <a:gd name="connsiteY4-30" fmla="*/ 697627 h 697627"/>
              <a:gd name="connsiteX0-31" fmla="*/ 0 w 965390"/>
              <a:gd name="connsiteY0-32" fmla="*/ 697627 h 697627"/>
              <a:gd name="connsiteX1-33" fmla="*/ 174407 w 965390"/>
              <a:gd name="connsiteY1-34" fmla="*/ 0 h 697627"/>
              <a:gd name="connsiteX2-35" fmla="*/ 790983 w 965390"/>
              <a:gd name="connsiteY2-36" fmla="*/ 0 h 697627"/>
              <a:gd name="connsiteX3-37" fmla="*/ 965390 w 965390"/>
              <a:gd name="connsiteY3-38" fmla="*/ 697627 h 697627"/>
              <a:gd name="connsiteX4-39" fmla="*/ 0 w 965390"/>
              <a:gd name="connsiteY4-40" fmla="*/ 697627 h 697627"/>
              <a:gd name="connsiteX0-41" fmla="*/ 0 w 965390"/>
              <a:gd name="connsiteY0-42" fmla="*/ 697627 h 697627"/>
              <a:gd name="connsiteX1-43" fmla="*/ 174407 w 965390"/>
              <a:gd name="connsiteY1-44" fmla="*/ 0 h 697627"/>
              <a:gd name="connsiteX2-45" fmla="*/ 745261 w 965390"/>
              <a:gd name="connsiteY2-46" fmla="*/ 0 h 697627"/>
              <a:gd name="connsiteX3-47" fmla="*/ 965390 w 965390"/>
              <a:gd name="connsiteY3-48" fmla="*/ 697627 h 697627"/>
              <a:gd name="connsiteX4-49" fmla="*/ 0 w 965390"/>
              <a:gd name="connsiteY4-50" fmla="*/ 697627 h 697627"/>
              <a:gd name="connsiteX0-51" fmla="*/ 0 w 965390"/>
              <a:gd name="connsiteY0-52" fmla="*/ 697627 h 697627"/>
              <a:gd name="connsiteX1-53" fmla="*/ 197267 w 965390"/>
              <a:gd name="connsiteY1-54" fmla="*/ 0 h 697627"/>
              <a:gd name="connsiteX2-55" fmla="*/ 745261 w 965390"/>
              <a:gd name="connsiteY2-56" fmla="*/ 0 h 697627"/>
              <a:gd name="connsiteX3-57" fmla="*/ 965390 w 965390"/>
              <a:gd name="connsiteY3-58" fmla="*/ 697627 h 697627"/>
              <a:gd name="connsiteX4-59" fmla="*/ 0 w 965390"/>
              <a:gd name="connsiteY4-60" fmla="*/ 697627 h 697627"/>
              <a:gd name="connsiteX0-61" fmla="*/ 0 w 965390"/>
              <a:gd name="connsiteY0-62" fmla="*/ 697627 h 697627"/>
              <a:gd name="connsiteX1-63" fmla="*/ 255327 w 965390"/>
              <a:gd name="connsiteY1-64" fmla="*/ 0 h 697627"/>
              <a:gd name="connsiteX2-65" fmla="*/ 745261 w 965390"/>
              <a:gd name="connsiteY2-66" fmla="*/ 0 h 697627"/>
              <a:gd name="connsiteX3-67" fmla="*/ 965390 w 965390"/>
              <a:gd name="connsiteY3-68" fmla="*/ 697627 h 697627"/>
              <a:gd name="connsiteX4-69" fmla="*/ 0 w 965390"/>
              <a:gd name="connsiteY4-70" fmla="*/ 697627 h 697627"/>
              <a:gd name="connsiteX0-71" fmla="*/ 0 w 965390"/>
              <a:gd name="connsiteY0-72" fmla="*/ 701285 h 701285"/>
              <a:gd name="connsiteX1-73" fmla="*/ 255327 w 965390"/>
              <a:gd name="connsiteY1-74" fmla="*/ 3658 h 701285"/>
              <a:gd name="connsiteX2-75" fmla="*/ 694459 w 965390"/>
              <a:gd name="connsiteY2-76" fmla="*/ 0 h 701285"/>
              <a:gd name="connsiteX3-77" fmla="*/ 965390 w 965390"/>
              <a:gd name="connsiteY3-78" fmla="*/ 701285 h 701285"/>
              <a:gd name="connsiteX4-79" fmla="*/ 0 w 965390"/>
              <a:gd name="connsiteY4-80" fmla="*/ 701285 h 701285"/>
              <a:gd name="connsiteX0-81" fmla="*/ 0 w 965390"/>
              <a:gd name="connsiteY0-82" fmla="*/ 701285 h 708601"/>
              <a:gd name="connsiteX1-83" fmla="*/ 255327 w 965390"/>
              <a:gd name="connsiteY1-84" fmla="*/ 3658 h 708601"/>
              <a:gd name="connsiteX2-85" fmla="*/ 694459 w 965390"/>
              <a:gd name="connsiteY2-86" fmla="*/ 0 h 708601"/>
              <a:gd name="connsiteX3-87" fmla="*/ 965390 w 965390"/>
              <a:gd name="connsiteY3-88" fmla="*/ 708601 h 708601"/>
              <a:gd name="connsiteX4-89" fmla="*/ 0 w 965390"/>
              <a:gd name="connsiteY4-90" fmla="*/ 701285 h 708601"/>
              <a:gd name="connsiteX0-91" fmla="*/ 0 w 965390"/>
              <a:gd name="connsiteY0-92" fmla="*/ 701285 h 708601"/>
              <a:gd name="connsiteX1-93" fmla="*/ 255327 w 965390"/>
              <a:gd name="connsiteY1-94" fmla="*/ 3658 h 708601"/>
              <a:gd name="connsiteX2-95" fmla="*/ 694459 w 965390"/>
              <a:gd name="connsiteY2-96" fmla="*/ 0 h 708601"/>
              <a:gd name="connsiteX3-97" fmla="*/ 965390 w 965390"/>
              <a:gd name="connsiteY3-98" fmla="*/ 708601 h 708601"/>
              <a:gd name="connsiteX4-99" fmla="*/ 0 w 965390"/>
              <a:gd name="connsiteY4-100" fmla="*/ 701285 h 708601"/>
              <a:gd name="connsiteX0-101" fmla="*/ 0 w 965390"/>
              <a:gd name="connsiteY0-102" fmla="*/ 701285 h 708601"/>
              <a:gd name="connsiteX1-103" fmla="*/ 255327 w 965390"/>
              <a:gd name="connsiteY1-104" fmla="*/ 3658 h 708601"/>
              <a:gd name="connsiteX2-105" fmla="*/ 694459 w 965390"/>
              <a:gd name="connsiteY2-106" fmla="*/ 0 h 708601"/>
              <a:gd name="connsiteX3-107" fmla="*/ 965390 w 965390"/>
              <a:gd name="connsiteY3-108" fmla="*/ 708601 h 708601"/>
              <a:gd name="connsiteX4-109" fmla="*/ 0 w 965390"/>
              <a:gd name="connsiteY4-110" fmla="*/ 701285 h 708601"/>
              <a:gd name="connsiteX0-111" fmla="*/ 0 w 965390"/>
              <a:gd name="connsiteY0-112" fmla="*/ 702082 h 709398"/>
              <a:gd name="connsiteX1-113" fmla="*/ 300569 w 965390"/>
              <a:gd name="connsiteY1-114" fmla="*/ 0 h 709398"/>
              <a:gd name="connsiteX2-115" fmla="*/ 694459 w 965390"/>
              <a:gd name="connsiteY2-116" fmla="*/ 797 h 709398"/>
              <a:gd name="connsiteX3-117" fmla="*/ 965390 w 965390"/>
              <a:gd name="connsiteY3-118" fmla="*/ 709398 h 709398"/>
              <a:gd name="connsiteX4-119" fmla="*/ 0 w 965390"/>
              <a:gd name="connsiteY4-120" fmla="*/ 702082 h 709398"/>
              <a:gd name="connsiteX0-121" fmla="*/ 0 w 965390"/>
              <a:gd name="connsiteY0-122" fmla="*/ 715763 h 723079"/>
              <a:gd name="connsiteX1-123" fmla="*/ 300569 w 965390"/>
              <a:gd name="connsiteY1-124" fmla="*/ 13681 h 723079"/>
              <a:gd name="connsiteX2-125" fmla="*/ 644693 w 965390"/>
              <a:gd name="connsiteY2-126" fmla="*/ 0 h 723079"/>
              <a:gd name="connsiteX3-127" fmla="*/ 965390 w 965390"/>
              <a:gd name="connsiteY3-128" fmla="*/ 723079 h 723079"/>
              <a:gd name="connsiteX4-129" fmla="*/ 0 w 965390"/>
              <a:gd name="connsiteY4-130" fmla="*/ 715763 h 723079"/>
              <a:gd name="connsiteX0-131" fmla="*/ 0 w 965390"/>
              <a:gd name="connsiteY0-132" fmla="*/ 715763 h 723079"/>
              <a:gd name="connsiteX1-133" fmla="*/ 311126 w 965390"/>
              <a:gd name="connsiteY1-134" fmla="*/ 13681 h 723079"/>
              <a:gd name="connsiteX2-135" fmla="*/ 644693 w 965390"/>
              <a:gd name="connsiteY2-136" fmla="*/ 0 h 723079"/>
              <a:gd name="connsiteX3-137" fmla="*/ 965390 w 965390"/>
              <a:gd name="connsiteY3-138" fmla="*/ 723079 h 723079"/>
              <a:gd name="connsiteX4-139" fmla="*/ 0 w 965390"/>
              <a:gd name="connsiteY4-140" fmla="*/ 715763 h 723079"/>
              <a:gd name="connsiteX0-141" fmla="*/ 0 w 965390"/>
              <a:gd name="connsiteY0-142" fmla="*/ 715763 h 723079"/>
              <a:gd name="connsiteX1-143" fmla="*/ 302078 w 965390"/>
              <a:gd name="connsiteY1-144" fmla="*/ 13681 h 723079"/>
              <a:gd name="connsiteX2-145" fmla="*/ 644693 w 965390"/>
              <a:gd name="connsiteY2-146" fmla="*/ 0 h 723079"/>
              <a:gd name="connsiteX3-147" fmla="*/ 965390 w 965390"/>
              <a:gd name="connsiteY3-148" fmla="*/ 723079 h 723079"/>
              <a:gd name="connsiteX4-149" fmla="*/ 0 w 965390"/>
              <a:gd name="connsiteY4-150" fmla="*/ 715763 h 723079"/>
              <a:gd name="connsiteX0-151" fmla="*/ 0 w 965390"/>
              <a:gd name="connsiteY0-152" fmla="*/ 715763 h 723079"/>
              <a:gd name="connsiteX1-153" fmla="*/ 315651 w 965390"/>
              <a:gd name="connsiteY1-154" fmla="*/ 10340 h 723079"/>
              <a:gd name="connsiteX2-155" fmla="*/ 644693 w 965390"/>
              <a:gd name="connsiteY2-156" fmla="*/ 0 h 723079"/>
              <a:gd name="connsiteX3-157" fmla="*/ 965390 w 965390"/>
              <a:gd name="connsiteY3-158" fmla="*/ 723079 h 723079"/>
              <a:gd name="connsiteX4-159" fmla="*/ 0 w 965390"/>
              <a:gd name="connsiteY4-160" fmla="*/ 715763 h 72307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65390" h="723079">
                <a:moveTo>
                  <a:pt x="0" y="715763"/>
                </a:moveTo>
                <a:cubicBezTo>
                  <a:pt x="142112" y="511216"/>
                  <a:pt x="341490" y="317530"/>
                  <a:pt x="315651" y="10340"/>
                </a:cubicBezTo>
                <a:lnTo>
                  <a:pt x="644693" y="0"/>
                </a:lnTo>
                <a:cubicBezTo>
                  <a:pt x="646846" y="269867"/>
                  <a:pt x="797877" y="439857"/>
                  <a:pt x="965390" y="723079"/>
                </a:cubicBezTo>
                <a:lnTo>
                  <a:pt x="0" y="715763"/>
                </a:lnTo>
                <a:close/>
              </a:path>
            </a:pathLst>
          </a:custGeom>
          <a:gradFill flip="none" rotWithShape="1">
            <a:gsLst>
              <a:gs pos="0">
                <a:srgbClr val="3368FF">
                  <a:alpha val="0"/>
                </a:srgbClr>
              </a:gs>
              <a:gs pos="100000">
                <a:srgbClr val="3368FF">
                  <a:alpha val="30000"/>
                </a:srgbClr>
              </a:gs>
            </a:gsLst>
            <a:lin ang="16200000" scaled="1"/>
            <a:tileRect/>
          </a:gradFill>
          <a:ln>
            <a:gradFill flip="none" rotWithShape="1">
              <a:gsLst>
                <a:gs pos="51000">
                  <a:srgbClr val="3368FF"/>
                </a:gs>
                <a:gs pos="0">
                  <a:srgbClr val="E6E6E6">
                    <a:alpha val="0"/>
                  </a:srgbClr>
                </a:gs>
                <a:gs pos="100000">
                  <a:srgbClr val="E6E6E6">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聚焦行业目标创新图谱</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 name="文本框 5"/>
          <p:cNvSpPr txBox="1"/>
          <p:nvPr/>
        </p:nvSpPr>
        <p:spPr>
          <a:xfrm>
            <a:off x="3017208" y="1399355"/>
            <a:ext cx="6185345" cy="307340"/>
          </a:xfrm>
          <a:prstGeom prst="rect">
            <a:avLst/>
          </a:prstGeom>
          <a:noFill/>
        </p:spPr>
        <p:txBody>
          <a:bodyPr wrap="square" lIns="0" tIns="0" rIns="0" bIns="0" rtlCol="0">
            <a:spAutoFit/>
          </a:bodyPr>
          <a:lstStyle/>
          <a:p>
            <a:pPr>
              <a:defRPr>
                <a:latin typeface="微软雅黑"/>
                <a:ea typeface="微软雅黑"/>
                <a:cs typeface="微软雅黑"/>
              </a:defRPr>
            </a:pPr>
            <a:r>
              <a:rPr lang="zh-CN" altLang="en-US" sz="2000" b="1" dirty="0">
                <a:solidFill>
                  <a:srgbClr val="0042FF"/>
                </a:solidFill>
                <a:latin typeface="微软雅黑"/>
                <a:ea typeface="微软雅黑"/>
                <a:cs typeface="微软雅黑"/>
              </a:rPr>
              <a:t>完成 </a:t>
            </a:r>
            <a:r>
              <a:rPr lang="en-US" altLang="zh-CN" sz="2000" b="1" dirty="0">
                <a:solidFill>
                  <a:srgbClr val="0042FF"/>
                </a:solidFill>
                <a:latin typeface="微软雅黑"/>
                <a:ea typeface="微软雅黑"/>
                <a:cs typeface="微软雅黑"/>
              </a:rPr>
              <a:t>ABS </a:t>
            </a:r>
            <a:r>
              <a:rPr lang="zh-CN" altLang="en-US" sz="2000" b="1" dirty="0">
                <a:solidFill>
                  <a:srgbClr val="0042FF"/>
                </a:solidFill>
                <a:latin typeface="微软雅黑"/>
                <a:ea typeface="微软雅黑"/>
                <a:cs typeface="微软雅黑"/>
              </a:rPr>
              <a:t>区块链云网络升级数字金领域首个应用上线</a:t>
            </a:r>
            <a:endParaRPr lang="zh-CN" altLang="en-US" sz="2000" b="1" dirty="0">
              <a:solidFill>
                <a:srgbClr val="0042FF"/>
              </a:solidFill>
              <a:latin typeface="微软雅黑"/>
              <a:ea typeface="微软雅黑"/>
              <a:cs typeface="微软雅黑"/>
            </a:endParaRPr>
          </a:p>
        </p:txBody>
      </p:sp>
      <p:sp>
        <p:nvSpPr>
          <p:cNvPr id="7" name="文本框 6"/>
          <p:cNvSpPr txBox="1"/>
          <p:nvPr/>
        </p:nvSpPr>
        <p:spPr>
          <a:xfrm>
            <a:off x="4081895" y="1798114"/>
            <a:ext cx="3770263" cy="215444"/>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1400" b="0" i="0" dirty="0">
                <a:solidFill>
                  <a:srgbClr val="383838"/>
                </a:solidFill>
                <a:latin typeface="微软雅黑"/>
                <a:ea typeface="微软雅黑"/>
                <a:cs typeface="微软雅黑"/>
                <a:sym typeface="微软雅黑"/>
              </a:rPr>
              <a:t>了解自己要建设的产品在企业级应用中的生态位</a:t>
            </a:r>
            <a:endParaRPr lang="zh-CN" altLang="en-US" sz="1400" b="0" i="0" dirty="0">
              <a:solidFill>
                <a:srgbClr val="383838"/>
              </a:solidFill>
              <a:latin typeface="微软雅黑"/>
              <a:ea typeface="微软雅黑"/>
              <a:cs typeface="微软雅黑"/>
              <a:sym typeface="微软雅黑"/>
            </a:endParaRPr>
          </a:p>
        </p:txBody>
      </p:sp>
      <p:sp>
        <p:nvSpPr>
          <p:cNvPr id="8" name="梯形 322"/>
          <p:cNvSpPr/>
          <p:nvPr/>
        </p:nvSpPr>
        <p:spPr>
          <a:xfrm rot="16200000" flipH="1">
            <a:off x="4986258" y="915214"/>
            <a:ext cx="6161670" cy="6249253"/>
          </a:xfrm>
          <a:custGeom>
            <a:avLst/>
            <a:gdLst>
              <a:gd name="connsiteX0" fmla="*/ 0 w 965390"/>
              <a:gd name="connsiteY0" fmla="*/ 697627 h 697627"/>
              <a:gd name="connsiteX1" fmla="*/ 174407 w 965390"/>
              <a:gd name="connsiteY1" fmla="*/ 0 h 697627"/>
              <a:gd name="connsiteX2" fmla="*/ 790983 w 965390"/>
              <a:gd name="connsiteY2" fmla="*/ 0 h 697627"/>
              <a:gd name="connsiteX3" fmla="*/ 965390 w 965390"/>
              <a:gd name="connsiteY3" fmla="*/ 697627 h 697627"/>
              <a:gd name="connsiteX4" fmla="*/ 0 w 965390"/>
              <a:gd name="connsiteY4" fmla="*/ 697627 h 697627"/>
              <a:gd name="connsiteX0-1" fmla="*/ 0 w 965390"/>
              <a:gd name="connsiteY0-2" fmla="*/ 697627 h 697627"/>
              <a:gd name="connsiteX1-3" fmla="*/ 174407 w 965390"/>
              <a:gd name="connsiteY1-4" fmla="*/ 0 h 697627"/>
              <a:gd name="connsiteX2-5" fmla="*/ 790983 w 965390"/>
              <a:gd name="connsiteY2-6" fmla="*/ 0 h 697627"/>
              <a:gd name="connsiteX3-7" fmla="*/ 965390 w 965390"/>
              <a:gd name="connsiteY3-8" fmla="*/ 697627 h 697627"/>
              <a:gd name="connsiteX4-9" fmla="*/ 0 w 965390"/>
              <a:gd name="connsiteY4-10" fmla="*/ 697627 h 697627"/>
              <a:gd name="connsiteX0-11" fmla="*/ 0 w 965390"/>
              <a:gd name="connsiteY0-12" fmla="*/ 697627 h 697627"/>
              <a:gd name="connsiteX1-13" fmla="*/ 174407 w 965390"/>
              <a:gd name="connsiteY1-14" fmla="*/ 0 h 697627"/>
              <a:gd name="connsiteX2-15" fmla="*/ 790983 w 965390"/>
              <a:gd name="connsiteY2-16" fmla="*/ 0 h 697627"/>
              <a:gd name="connsiteX3-17" fmla="*/ 965390 w 965390"/>
              <a:gd name="connsiteY3-18" fmla="*/ 697627 h 697627"/>
              <a:gd name="connsiteX4-19" fmla="*/ 0 w 965390"/>
              <a:gd name="connsiteY4-20" fmla="*/ 697627 h 697627"/>
              <a:gd name="connsiteX0-21" fmla="*/ 0 w 965390"/>
              <a:gd name="connsiteY0-22" fmla="*/ 697627 h 697627"/>
              <a:gd name="connsiteX1-23" fmla="*/ 174407 w 965390"/>
              <a:gd name="connsiteY1-24" fmla="*/ 0 h 697627"/>
              <a:gd name="connsiteX2-25" fmla="*/ 790983 w 965390"/>
              <a:gd name="connsiteY2-26" fmla="*/ 0 h 697627"/>
              <a:gd name="connsiteX3-27" fmla="*/ 965390 w 965390"/>
              <a:gd name="connsiteY3-28" fmla="*/ 697627 h 697627"/>
              <a:gd name="connsiteX4-29" fmla="*/ 0 w 965390"/>
              <a:gd name="connsiteY4-30" fmla="*/ 697627 h 697627"/>
              <a:gd name="connsiteX0-31" fmla="*/ 0 w 965390"/>
              <a:gd name="connsiteY0-32" fmla="*/ 697627 h 697627"/>
              <a:gd name="connsiteX1-33" fmla="*/ 174407 w 965390"/>
              <a:gd name="connsiteY1-34" fmla="*/ 0 h 697627"/>
              <a:gd name="connsiteX2-35" fmla="*/ 790983 w 965390"/>
              <a:gd name="connsiteY2-36" fmla="*/ 0 h 697627"/>
              <a:gd name="connsiteX3-37" fmla="*/ 965390 w 965390"/>
              <a:gd name="connsiteY3-38" fmla="*/ 697627 h 697627"/>
              <a:gd name="connsiteX4-39" fmla="*/ 0 w 965390"/>
              <a:gd name="connsiteY4-40" fmla="*/ 697627 h 697627"/>
              <a:gd name="connsiteX0-41" fmla="*/ 0 w 965390"/>
              <a:gd name="connsiteY0-42" fmla="*/ 697627 h 697627"/>
              <a:gd name="connsiteX1-43" fmla="*/ 174407 w 965390"/>
              <a:gd name="connsiteY1-44" fmla="*/ 0 h 697627"/>
              <a:gd name="connsiteX2-45" fmla="*/ 745261 w 965390"/>
              <a:gd name="connsiteY2-46" fmla="*/ 0 h 697627"/>
              <a:gd name="connsiteX3-47" fmla="*/ 965390 w 965390"/>
              <a:gd name="connsiteY3-48" fmla="*/ 697627 h 697627"/>
              <a:gd name="connsiteX4-49" fmla="*/ 0 w 965390"/>
              <a:gd name="connsiteY4-50" fmla="*/ 697627 h 697627"/>
              <a:gd name="connsiteX0-51" fmla="*/ 0 w 965390"/>
              <a:gd name="connsiteY0-52" fmla="*/ 697627 h 697627"/>
              <a:gd name="connsiteX1-53" fmla="*/ 197267 w 965390"/>
              <a:gd name="connsiteY1-54" fmla="*/ 0 h 697627"/>
              <a:gd name="connsiteX2-55" fmla="*/ 745261 w 965390"/>
              <a:gd name="connsiteY2-56" fmla="*/ 0 h 697627"/>
              <a:gd name="connsiteX3-57" fmla="*/ 965390 w 965390"/>
              <a:gd name="connsiteY3-58" fmla="*/ 697627 h 697627"/>
              <a:gd name="connsiteX4-59" fmla="*/ 0 w 965390"/>
              <a:gd name="connsiteY4-60" fmla="*/ 697627 h 697627"/>
              <a:gd name="connsiteX0-61" fmla="*/ 0 w 965390"/>
              <a:gd name="connsiteY0-62" fmla="*/ 697627 h 697627"/>
              <a:gd name="connsiteX1-63" fmla="*/ 255327 w 965390"/>
              <a:gd name="connsiteY1-64" fmla="*/ 0 h 697627"/>
              <a:gd name="connsiteX2-65" fmla="*/ 745261 w 965390"/>
              <a:gd name="connsiteY2-66" fmla="*/ 0 h 697627"/>
              <a:gd name="connsiteX3-67" fmla="*/ 965390 w 965390"/>
              <a:gd name="connsiteY3-68" fmla="*/ 697627 h 697627"/>
              <a:gd name="connsiteX4-69" fmla="*/ 0 w 965390"/>
              <a:gd name="connsiteY4-70" fmla="*/ 697627 h 697627"/>
              <a:gd name="connsiteX0-71" fmla="*/ 0 w 965390"/>
              <a:gd name="connsiteY0-72" fmla="*/ 701285 h 701285"/>
              <a:gd name="connsiteX1-73" fmla="*/ 255327 w 965390"/>
              <a:gd name="connsiteY1-74" fmla="*/ 3658 h 701285"/>
              <a:gd name="connsiteX2-75" fmla="*/ 694459 w 965390"/>
              <a:gd name="connsiteY2-76" fmla="*/ 0 h 701285"/>
              <a:gd name="connsiteX3-77" fmla="*/ 965390 w 965390"/>
              <a:gd name="connsiteY3-78" fmla="*/ 701285 h 701285"/>
              <a:gd name="connsiteX4-79" fmla="*/ 0 w 965390"/>
              <a:gd name="connsiteY4-80" fmla="*/ 701285 h 701285"/>
              <a:gd name="connsiteX0-81" fmla="*/ 0 w 965390"/>
              <a:gd name="connsiteY0-82" fmla="*/ 701285 h 708601"/>
              <a:gd name="connsiteX1-83" fmla="*/ 255327 w 965390"/>
              <a:gd name="connsiteY1-84" fmla="*/ 3658 h 708601"/>
              <a:gd name="connsiteX2-85" fmla="*/ 694459 w 965390"/>
              <a:gd name="connsiteY2-86" fmla="*/ 0 h 708601"/>
              <a:gd name="connsiteX3-87" fmla="*/ 965390 w 965390"/>
              <a:gd name="connsiteY3-88" fmla="*/ 708601 h 708601"/>
              <a:gd name="connsiteX4-89" fmla="*/ 0 w 965390"/>
              <a:gd name="connsiteY4-90" fmla="*/ 701285 h 708601"/>
              <a:gd name="connsiteX0-91" fmla="*/ 0 w 965390"/>
              <a:gd name="connsiteY0-92" fmla="*/ 701285 h 708601"/>
              <a:gd name="connsiteX1-93" fmla="*/ 255327 w 965390"/>
              <a:gd name="connsiteY1-94" fmla="*/ 3658 h 708601"/>
              <a:gd name="connsiteX2-95" fmla="*/ 694459 w 965390"/>
              <a:gd name="connsiteY2-96" fmla="*/ 0 h 708601"/>
              <a:gd name="connsiteX3-97" fmla="*/ 965390 w 965390"/>
              <a:gd name="connsiteY3-98" fmla="*/ 708601 h 708601"/>
              <a:gd name="connsiteX4-99" fmla="*/ 0 w 965390"/>
              <a:gd name="connsiteY4-100" fmla="*/ 701285 h 708601"/>
              <a:gd name="connsiteX0-101" fmla="*/ 0 w 965390"/>
              <a:gd name="connsiteY0-102" fmla="*/ 701285 h 708601"/>
              <a:gd name="connsiteX1-103" fmla="*/ 255327 w 965390"/>
              <a:gd name="connsiteY1-104" fmla="*/ 3658 h 708601"/>
              <a:gd name="connsiteX2-105" fmla="*/ 694459 w 965390"/>
              <a:gd name="connsiteY2-106" fmla="*/ 0 h 708601"/>
              <a:gd name="connsiteX3-107" fmla="*/ 965390 w 965390"/>
              <a:gd name="connsiteY3-108" fmla="*/ 708601 h 708601"/>
              <a:gd name="connsiteX4-109" fmla="*/ 0 w 965390"/>
              <a:gd name="connsiteY4-110" fmla="*/ 701285 h 708601"/>
              <a:gd name="connsiteX0-111" fmla="*/ 0 w 965390"/>
              <a:gd name="connsiteY0-112" fmla="*/ 702082 h 709398"/>
              <a:gd name="connsiteX1-113" fmla="*/ 300569 w 965390"/>
              <a:gd name="connsiteY1-114" fmla="*/ 0 h 709398"/>
              <a:gd name="connsiteX2-115" fmla="*/ 694459 w 965390"/>
              <a:gd name="connsiteY2-116" fmla="*/ 797 h 709398"/>
              <a:gd name="connsiteX3-117" fmla="*/ 965390 w 965390"/>
              <a:gd name="connsiteY3-118" fmla="*/ 709398 h 709398"/>
              <a:gd name="connsiteX4-119" fmla="*/ 0 w 965390"/>
              <a:gd name="connsiteY4-120" fmla="*/ 702082 h 709398"/>
              <a:gd name="connsiteX0-121" fmla="*/ 0 w 965390"/>
              <a:gd name="connsiteY0-122" fmla="*/ 715763 h 723079"/>
              <a:gd name="connsiteX1-123" fmla="*/ 300569 w 965390"/>
              <a:gd name="connsiteY1-124" fmla="*/ 13681 h 723079"/>
              <a:gd name="connsiteX2-125" fmla="*/ 644693 w 965390"/>
              <a:gd name="connsiteY2-126" fmla="*/ 0 h 723079"/>
              <a:gd name="connsiteX3-127" fmla="*/ 965390 w 965390"/>
              <a:gd name="connsiteY3-128" fmla="*/ 723079 h 723079"/>
              <a:gd name="connsiteX4-129" fmla="*/ 0 w 965390"/>
              <a:gd name="connsiteY4-130" fmla="*/ 715763 h 723079"/>
              <a:gd name="connsiteX0-131" fmla="*/ 0 w 965390"/>
              <a:gd name="connsiteY0-132" fmla="*/ 715763 h 723079"/>
              <a:gd name="connsiteX1-133" fmla="*/ 311126 w 965390"/>
              <a:gd name="connsiteY1-134" fmla="*/ 13681 h 723079"/>
              <a:gd name="connsiteX2-135" fmla="*/ 644693 w 965390"/>
              <a:gd name="connsiteY2-136" fmla="*/ 0 h 723079"/>
              <a:gd name="connsiteX3-137" fmla="*/ 965390 w 965390"/>
              <a:gd name="connsiteY3-138" fmla="*/ 723079 h 723079"/>
              <a:gd name="connsiteX4-139" fmla="*/ 0 w 965390"/>
              <a:gd name="connsiteY4-140" fmla="*/ 715763 h 723079"/>
              <a:gd name="connsiteX0-141" fmla="*/ 0 w 965390"/>
              <a:gd name="connsiteY0-142" fmla="*/ 715763 h 723079"/>
              <a:gd name="connsiteX1-143" fmla="*/ 302078 w 965390"/>
              <a:gd name="connsiteY1-144" fmla="*/ 13681 h 723079"/>
              <a:gd name="connsiteX2-145" fmla="*/ 644693 w 965390"/>
              <a:gd name="connsiteY2-146" fmla="*/ 0 h 723079"/>
              <a:gd name="connsiteX3-147" fmla="*/ 965390 w 965390"/>
              <a:gd name="connsiteY3-148" fmla="*/ 723079 h 723079"/>
              <a:gd name="connsiteX4-149" fmla="*/ 0 w 965390"/>
              <a:gd name="connsiteY4-150" fmla="*/ 715763 h 723079"/>
              <a:gd name="connsiteX0-151" fmla="*/ 0 w 965390"/>
              <a:gd name="connsiteY0-152" fmla="*/ 715763 h 723079"/>
              <a:gd name="connsiteX1-153" fmla="*/ 315651 w 965390"/>
              <a:gd name="connsiteY1-154" fmla="*/ 10340 h 723079"/>
              <a:gd name="connsiteX2-155" fmla="*/ 644693 w 965390"/>
              <a:gd name="connsiteY2-156" fmla="*/ 0 h 723079"/>
              <a:gd name="connsiteX3-157" fmla="*/ 965390 w 965390"/>
              <a:gd name="connsiteY3-158" fmla="*/ 723079 h 723079"/>
              <a:gd name="connsiteX4-159" fmla="*/ 0 w 965390"/>
              <a:gd name="connsiteY4-160" fmla="*/ 715763 h 72307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65390" h="723079">
                <a:moveTo>
                  <a:pt x="0" y="715763"/>
                </a:moveTo>
                <a:cubicBezTo>
                  <a:pt x="142112" y="511216"/>
                  <a:pt x="341490" y="317530"/>
                  <a:pt x="315651" y="10340"/>
                </a:cubicBezTo>
                <a:lnTo>
                  <a:pt x="644693" y="0"/>
                </a:lnTo>
                <a:cubicBezTo>
                  <a:pt x="646846" y="269867"/>
                  <a:pt x="797877" y="439857"/>
                  <a:pt x="965390" y="723079"/>
                </a:cubicBezTo>
                <a:lnTo>
                  <a:pt x="0" y="715763"/>
                </a:lnTo>
                <a:close/>
              </a:path>
            </a:pathLst>
          </a:custGeom>
          <a:gradFill flip="none" rotWithShape="1">
            <a:gsLst>
              <a:gs pos="0">
                <a:srgbClr val="B3D4FE">
                  <a:alpha val="0"/>
                </a:srgbClr>
              </a:gs>
              <a:gs pos="100000">
                <a:srgbClr val="B3D4FE">
                  <a:alpha val="30000"/>
                </a:srgbClr>
              </a:gs>
            </a:gsLst>
            <a:lin ang="16200000" scaled="1"/>
            <a:tileRect/>
          </a:gradFill>
          <a:ln>
            <a:gradFill flip="none" rotWithShape="1">
              <a:gsLst>
                <a:gs pos="51000">
                  <a:srgbClr val="B3D4FE"/>
                </a:gs>
                <a:gs pos="0">
                  <a:srgbClr val="FFFFFF">
                    <a:alpha val="0"/>
                  </a:srgbClr>
                </a:gs>
                <a:gs pos="100000">
                  <a:srgbClr val="FFFF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9" name="Arc 15+"/>
          <p:cNvSpPr/>
          <p:nvPr/>
        </p:nvSpPr>
        <p:spPr>
          <a:xfrm flipH="1">
            <a:off x="3257459" y="711786"/>
            <a:ext cx="6867092" cy="6867092"/>
          </a:xfrm>
          <a:prstGeom prst="arc">
            <a:avLst>
              <a:gd name="adj1" fmla="val 19811968"/>
              <a:gd name="adj2" fmla="val 1778193"/>
            </a:avLst>
          </a:prstGeom>
          <a:noFill/>
          <a:ln w="12700">
            <a:gradFill flip="none" rotWithShape="1">
              <a:gsLst>
                <a:gs pos="91000">
                  <a:srgbClr val="3368FF">
                    <a:alpha val="0"/>
                  </a:srgbClr>
                </a:gs>
                <a:gs pos="44000">
                  <a:srgbClr val="3368FF"/>
                </a:gs>
              </a:gsLst>
              <a:path path="circle">
                <a:fillToRect r="100000" b="100000"/>
              </a:path>
              <a:tileRect l="-100000" t="-100000"/>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2" name="Arc 15++"/>
          <p:cNvSpPr/>
          <p:nvPr/>
        </p:nvSpPr>
        <p:spPr>
          <a:xfrm flipV="1">
            <a:off x="1914754" y="598550"/>
            <a:ext cx="6867092" cy="6867092"/>
          </a:xfrm>
          <a:prstGeom prst="arc">
            <a:avLst>
              <a:gd name="adj1" fmla="val 19771330"/>
              <a:gd name="adj2" fmla="val 1680564"/>
            </a:avLst>
          </a:prstGeom>
          <a:noFill/>
          <a:ln w="12700">
            <a:gradFill flip="none" rotWithShape="1">
              <a:gsLst>
                <a:gs pos="91000">
                  <a:srgbClr val="B3D4FE">
                    <a:alpha val="0"/>
                  </a:srgbClr>
                </a:gs>
                <a:gs pos="44000">
                  <a:srgbClr val="B3D4FE"/>
                </a:gs>
              </a:gsLst>
              <a:path path="circle">
                <a:fillToRect r="100000" b="100000"/>
              </a:path>
              <a:tileRect l="-100000" t="-100000"/>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3" name="Arc 15+"/>
          <p:cNvSpPr/>
          <p:nvPr/>
        </p:nvSpPr>
        <p:spPr>
          <a:xfrm flipH="1">
            <a:off x="3511045" y="711786"/>
            <a:ext cx="6867092" cy="6867092"/>
          </a:xfrm>
          <a:prstGeom prst="arc">
            <a:avLst>
              <a:gd name="adj1" fmla="val 20150286"/>
              <a:gd name="adj2" fmla="val 1506853"/>
            </a:avLst>
          </a:prstGeom>
          <a:noFill/>
          <a:ln w="12700">
            <a:gradFill flip="none" rotWithShape="1">
              <a:gsLst>
                <a:gs pos="91000">
                  <a:srgbClr val="3368FF">
                    <a:alpha val="73000"/>
                  </a:srgbClr>
                </a:gs>
                <a:gs pos="44000">
                  <a:srgbClr val="3368FF">
                    <a:alpha val="0"/>
                  </a:srgbClr>
                </a:gs>
              </a:gsLst>
              <a:path path="circle">
                <a:fillToRect r="100000" b="100000"/>
              </a:path>
              <a:tileRect l="-100000" t="-100000"/>
            </a:gra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4" name="Arc 15++"/>
          <p:cNvSpPr/>
          <p:nvPr/>
        </p:nvSpPr>
        <p:spPr>
          <a:xfrm>
            <a:off x="1625187" y="598550"/>
            <a:ext cx="6867092" cy="6867092"/>
          </a:xfrm>
          <a:prstGeom prst="arc">
            <a:avLst>
              <a:gd name="adj1" fmla="val 20109439"/>
              <a:gd name="adj2" fmla="val 1561056"/>
            </a:avLst>
          </a:prstGeom>
          <a:noFill/>
          <a:ln w="12700">
            <a:gradFill flip="none" rotWithShape="1">
              <a:gsLst>
                <a:gs pos="91000">
                  <a:srgbClr val="B3D4FE">
                    <a:alpha val="73000"/>
                  </a:srgbClr>
                </a:gs>
                <a:gs pos="44000">
                  <a:srgbClr val="B3D4FE">
                    <a:alpha val="0"/>
                  </a:srgbClr>
                </a:gs>
              </a:gsLst>
              <a:path path="circle">
                <a:fillToRect r="100000" b="100000"/>
              </a:path>
              <a:tileRect l="-100000" t="-100000"/>
            </a:gra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64" name="椭圆 63"/>
          <p:cNvSpPr/>
          <p:nvPr>
            <p:custDataLst>
              <p:tags r:id="rId3"/>
            </p:custDataLst>
          </p:nvPr>
        </p:nvSpPr>
        <p:spPr>
          <a:xfrm>
            <a:off x="3586477" y="2506176"/>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latin typeface="微软雅黑"/>
              <a:ea typeface="微软雅黑"/>
              <a:cs typeface="微软雅黑"/>
            </a:endParaRPr>
          </a:p>
        </p:txBody>
      </p:sp>
      <p:sp>
        <p:nvSpPr>
          <p:cNvPr id="65" name="椭圆 64"/>
          <p:cNvSpPr/>
          <p:nvPr/>
        </p:nvSpPr>
        <p:spPr>
          <a:xfrm>
            <a:off x="3616043" y="2535745"/>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sp>
        <p:nvSpPr>
          <p:cNvPr id="61" name="矩形: 圆角 60"/>
          <p:cNvSpPr/>
          <p:nvPr/>
        </p:nvSpPr>
        <p:spPr>
          <a:xfrm>
            <a:off x="847733" y="2364570"/>
            <a:ext cx="2679598" cy="344694"/>
          </a:xfrm>
          <a:prstGeom prst="roundRect">
            <a:avLst>
              <a:gd name="adj" fmla="val 50000"/>
            </a:avLst>
          </a:prstGeom>
          <a:gradFill flip="none" rotWithShape="1">
            <a:gsLst>
              <a:gs pos="0">
                <a:srgbClr val="3368FF"/>
              </a:gs>
              <a:gs pos="100000">
                <a:srgbClr val="3368FF"/>
              </a:gs>
            </a:gsLst>
            <a:lin ang="2700000" scaled="1"/>
            <a:tileRect/>
          </a:gra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62" name="文本框 61"/>
          <p:cNvSpPr txBox="1"/>
          <p:nvPr/>
        </p:nvSpPr>
        <p:spPr>
          <a:xfrm flipH="1">
            <a:off x="1469386" y="2413807"/>
            <a:ext cx="1436291" cy="246221"/>
          </a:xfrm>
          <a:prstGeom prst="rect">
            <a:avLst/>
          </a:prstGeom>
          <a:noFill/>
        </p:spPr>
        <p:txBody>
          <a:bodyPr wrap="none" lIns="0" tIns="0" rIns="0" bIns="0" rtlCol="0">
            <a:spAutoFit/>
          </a:bodyPr>
          <a:lstStyle/>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市场系增长黑客</a:t>
            </a:r>
            <a:endParaRPr lang="zh-CN" altLang="en-US" sz="1600" dirty="0">
              <a:solidFill>
                <a:srgbClr val="FFFFFF"/>
              </a:solidFill>
              <a:latin typeface="微软雅黑"/>
              <a:ea typeface="微软雅黑"/>
              <a:cs typeface="微软雅黑"/>
            </a:endParaRPr>
          </a:p>
        </p:txBody>
      </p:sp>
      <p:sp>
        <p:nvSpPr>
          <p:cNvPr id="15" name="文本框 14"/>
          <p:cNvSpPr txBox="1"/>
          <p:nvPr/>
        </p:nvSpPr>
        <p:spPr>
          <a:xfrm flipH="1">
            <a:off x="894080" y="2860675"/>
            <a:ext cx="2363470" cy="441960"/>
          </a:xfrm>
          <a:prstGeom prst="rect">
            <a:avLst/>
          </a:prstGeom>
          <a:noFill/>
        </p:spPr>
        <p:txBody>
          <a:bodyPr wrap="square" lIns="0" tIns="0" rIns="0" bIns="0" rtlCol="0">
            <a:spAutoFit/>
          </a:bodyPr>
          <a:lstStyle/>
          <a:p>
            <a:pPr algn="just">
              <a:lnSpc>
                <a:spcPct val="12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“防伪追溯平台 ” 对接工信部 “ 实事求是 ” 婴配奶粉追溯平台</a:t>
            </a:r>
            <a:endParaRPr lang="zh-CN" altLang="en-US" sz="1200" dirty="0">
              <a:solidFill>
                <a:srgbClr val="383838"/>
              </a:solidFill>
              <a:latin typeface="微软雅黑"/>
              <a:ea typeface="微软雅黑"/>
              <a:cs typeface="微软雅黑"/>
            </a:endParaRPr>
          </a:p>
        </p:txBody>
      </p:sp>
      <p:sp>
        <p:nvSpPr>
          <p:cNvPr id="58" name="椭圆 57"/>
          <p:cNvSpPr/>
          <p:nvPr>
            <p:custDataLst>
              <p:tags r:id="rId4"/>
            </p:custDataLst>
          </p:nvPr>
        </p:nvSpPr>
        <p:spPr>
          <a:xfrm>
            <a:off x="3205061" y="3852263"/>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r">
              <a:defRPr>
                <a:latin typeface="微软雅黑"/>
                <a:ea typeface="微软雅黑"/>
                <a:cs typeface="微软雅黑"/>
              </a:defRPr>
            </a:pPr>
            <a:endParaRPr lang="zh-CN" altLang="en-US" sz="1945" dirty="0">
              <a:latin typeface="微软雅黑"/>
              <a:ea typeface="微软雅黑"/>
              <a:cs typeface="微软雅黑"/>
            </a:endParaRPr>
          </a:p>
        </p:txBody>
      </p:sp>
      <p:sp>
        <p:nvSpPr>
          <p:cNvPr id="59" name="椭圆 58"/>
          <p:cNvSpPr/>
          <p:nvPr/>
        </p:nvSpPr>
        <p:spPr>
          <a:xfrm>
            <a:off x="3234627" y="3881832"/>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sp>
        <p:nvSpPr>
          <p:cNvPr id="55" name="矩形: 圆角 54"/>
          <p:cNvSpPr/>
          <p:nvPr/>
        </p:nvSpPr>
        <p:spPr>
          <a:xfrm>
            <a:off x="847732" y="3749790"/>
            <a:ext cx="2317173" cy="345600"/>
          </a:xfrm>
          <a:prstGeom prst="roundRect">
            <a:avLst>
              <a:gd name="adj" fmla="val 50000"/>
            </a:avLst>
          </a:prstGeom>
          <a:gradFill flip="none" rotWithShape="1">
            <a:gsLst>
              <a:gs pos="0">
                <a:srgbClr val="3368FF"/>
              </a:gs>
              <a:gs pos="100000">
                <a:srgbClr val="3368FF"/>
              </a:gs>
            </a:gsLst>
            <a:lin ang="2700000" scaled="1"/>
            <a:tileRect/>
          </a:gra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6" name="文本框 55"/>
          <p:cNvSpPr txBox="1"/>
          <p:nvPr/>
        </p:nvSpPr>
        <p:spPr>
          <a:xfrm flipH="1">
            <a:off x="993405" y="4251649"/>
            <a:ext cx="2138566" cy="431144"/>
          </a:xfrm>
          <a:prstGeom prst="rect">
            <a:avLst/>
          </a:prstGeom>
          <a:noFill/>
        </p:spPr>
        <p:txBody>
          <a:bodyPr wrap="square" lIns="0" tIns="0" rIns="0" bIns="0" rtlCol="0">
            <a:spAutoFit/>
          </a:bodyPr>
          <a:lstStyle/>
          <a:p>
            <a:pPr algn="just">
              <a:lnSpc>
                <a:spcPct val="12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与商务部签署签署</a:t>
            </a:r>
            <a:r>
              <a:rPr lang="en-US" altLang="zh-CN" sz="1200" dirty="0">
                <a:solidFill>
                  <a:srgbClr val="383838"/>
                </a:solidFill>
                <a:latin typeface="微软雅黑"/>
                <a:ea typeface="微软雅黑"/>
                <a:cs typeface="微软雅黑"/>
              </a:rPr>
              <a:t>《 </a:t>
            </a:r>
            <a:r>
              <a:rPr lang="zh-CN" altLang="en-US" sz="1200" dirty="0">
                <a:solidFill>
                  <a:srgbClr val="383838"/>
                </a:solidFill>
                <a:latin typeface="微软雅黑"/>
                <a:ea typeface="微软雅黑"/>
                <a:cs typeface="微软雅黑"/>
              </a:rPr>
              <a:t>关于促进数字商务发展合作协议 </a:t>
            </a:r>
            <a:r>
              <a:rPr lang="en-US" altLang="zh-CN" sz="1200" dirty="0">
                <a:solidFill>
                  <a:srgbClr val="383838"/>
                </a:solidFill>
                <a:latin typeface="微软雅黑"/>
                <a:ea typeface="微软雅黑"/>
                <a:cs typeface="微软雅黑"/>
              </a:rPr>
              <a:t>》</a:t>
            </a:r>
            <a:endParaRPr lang="en-US" altLang="zh-CN" sz="1200" dirty="0">
              <a:solidFill>
                <a:srgbClr val="383838"/>
              </a:solidFill>
              <a:latin typeface="微软雅黑"/>
              <a:ea typeface="微软雅黑"/>
              <a:cs typeface="微软雅黑"/>
            </a:endParaRPr>
          </a:p>
        </p:txBody>
      </p:sp>
      <p:sp>
        <p:nvSpPr>
          <p:cNvPr id="57" name="文本框 56"/>
          <p:cNvSpPr txBox="1"/>
          <p:nvPr/>
        </p:nvSpPr>
        <p:spPr>
          <a:xfrm flipH="1">
            <a:off x="1288173" y="3799480"/>
            <a:ext cx="1436291" cy="246221"/>
          </a:xfrm>
          <a:prstGeom prst="rect">
            <a:avLst/>
          </a:prstGeom>
          <a:noFill/>
        </p:spPr>
        <p:txBody>
          <a:bodyPr wrap="none" lIns="0" tIns="0" rIns="0" bIns="0" rtlCol="0">
            <a:spAutoFit/>
          </a:bodyPr>
          <a:lstStyle>
            <a:defPPr>
              <a:defRPr lang="zh-CN">
                <a:solidFill>
                  <a:srgbClr val="FFFFFF"/>
                </a:solidFill>
                <a:latin typeface="微软雅黑"/>
                <a:ea typeface="微软雅黑"/>
                <a:cs typeface="微软雅黑"/>
              </a:defRPr>
            </a:defPPr>
            <a:lvl1pPr>
              <a:defRPr sz="1200">
                <a:solidFill>
                  <a:srgbClr val="FFFFFF"/>
                </a:solidFill>
                <a:latin typeface="微软雅黑"/>
                <a:ea typeface="微软雅黑"/>
                <a:cs typeface="微软雅黑"/>
              </a:defRPr>
            </a:lvl1pPr>
          </a:lstStyle>
          <a:p>
            <a:pPr algn="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产品系增长黑客</a:t>
            </a:r>
            <a:endParaRPr lang="zh-CN" altLang="en-US" sz="1600" dirty="0">
              <a:solidFill>
                <a:srgbClr val="FFFFFF"/>
              </a:solidFill>
              <a:latin typeface="微软雅黑"/>
              <a:ea typeface="微软雅黑"/>
              <a:cs typeface="微软雅黑"/>
            </a:endParaRPr>
          </a:p>
        </p:txBody>
      </p:sp>
      <p:sp>
        <p:nvSpPr>
          <p:cNvPr id="52" name="椭圆 51"/>
          <p:cNvSpPr/>
          <p:nvPr>
            <p:custDataLst>
              <p:tags r:id="rId5"/>
            </p:custDataLst>
          </p:nvPr>
        </p:nvSpPr>
        <p:spPr>
          <a:xfrm>
            <a:off x="3407258" y="5255814"/>
            <a:ext cx="108000" cy="108000"/>
          </a:xfrm>
          <a:prstGeom prst="ellipse">
            <a:avLst/>
          </a:prstGeom>
          <a:solidFill>
            <a:srgbClr val="FFFFFF"/>
          </a:solidFill>
          <a:ln>
            <a:noFill/>
          </a:ln>
          <a:effectLst>
            <a:outerShdw blurRad="635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latin typeface="微软雅黑"/>
              <a:ea typeface="微软雅黑"/>
              <a:cs typeface="微软雅黑"/>
            </a:endParaRPr>
          </a:p>
        </p:txBody>
      </p:sp>
      <p:sp>
        <p:nvSpPr>
          <p:cNvPr id="53" name="椭圆 52"/>
          <p:cNvSpPr/>
          <p:nvPr/>
        </p:nvSpPr>
        <p:spPr>
          <a:xfrm>
            <a:off x="3436824" y="5285383"/>
            <a:ext cx="48862" cy="48862"/>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sp>
        <p:nvSpPr>
          <p:cNvPr id="49" name="矩形: 圆角 48"/>
          <p:cNvSpPr/>
          <p:nvPr/>
        </p:nvSpPr>
        <p:spPr>
          <a:xfrm>
            <a:off x="848466" y="5140782"/>
            <a:ext cx="2485314" cy="345600"/>
          </a:xfrm>
          <a:prstGeom prst="roundRect">
            <a:avLst>
              <a:gd name="adj" fmla="val 50000"/>
            </a:avLst>
          </a:prstGeom>
          <a:gradFill flip="none" rotWithShape="1">
            <a:gsLst>
              <a:gs pos="0">
                <a:srgbClr val="3368FF"/>
              </a:gs>
              <a:gs pos="100000">
                <a:srgbClr val="3368FF"/>
              </a:gs>
            </a:gsLst>
            <a:lin ang="2700000" scaled="1"/>
            <a:tileRect/>
          </a:gradFill>
          <a:ln w="38100">
            <a:noFill/>
          </a:ln>
          <a:effectLst>
            <a:outerShdw blurRad="254000" dist="123444" dir="5400000" sx="99000" sy="99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0" name="文本框 49"/>
          <p:cNvSpPr txBox="1"/>
          <p:nvPr/>
        </p:nvSpPr>
        <p:spPr>
          <a:xfrm flipH="1">
            <a:off x="1372977" y="5190472"/>
            <a:ext cx="1436291" cy="246221"/>
          </a:xfrm>
          <a:prstGeom prst="rect">
            <a:avLst/>
          </a:prstGeom>
          <a:noFill/>
        </p:spPr>
        <p:txBody>
          <a:bodyPr wrap="none" lIns="0" tIns="0" rIns="0" bIns="0" rtlCol="0">
            <a:spAutoFit/>
          </a:bodyPr>
          <a:lstStyle>
            <a:defPPr>
              <a:defRPr lang="zh-CN">
                <a:solidFill>
                  <a:srgbClr val="FFFFFF"/>
                </a:solidFill>
                <a:latin typeface="微软雅黑"/>
                <a:ea typeface="微软雅黑"/>
                <a:cs typeface="微软雅黑"/>
              </a:defRPr>
            </a:defPPr>
            <a:lvl1pPr>
              <a:defRPr sz="12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工程系增长黑客</a:t>
            </a:r>
            <a:endParaRPr lang="zh-CN" altLang="en-US" sz="1600" dirty="0">
              <a:solidFill>
                <a:srgbClr val="FFFFFF"/>
              </a:solidFill>
              <a:latin typeface="微软雅黑"/>
              <a:ea typeface="微软雅黑"/>
              <a:cs typeface="微软雅黑"/>
            </a:endParaRPr>
          </a:p>
        </p:txBody>
      </p:sp>
      <p:sp>
        <p:nvSpPr>
          <p:cNvPr id="51" name="文本框 50"/>
          <p:cNvSpPr txBox="1"/>
          <p:nvPr/>
        </p:nvSpPr>
        <p:spPr>
          <a:xfrm flipH="1">
            <a:off x="993405" y="5634819"/>
            <a:ext cx="2187933" cy="431144"/>
          </a:xfrm>
          <a:prstGeom prst="rect">
            <a:avLst/>
          </a:prstGeom>
          <a:noFill/>
        </p:spPr>
        <p:txBody>
          <a:bodyPr wrap="square" lIns="0" tIns="0" rIns="0" bIns="0" rtlCol="0">
            <a:spAutoFit/>
          </a:bodyPr>
          <a:lstStyle/>
          <a:p>
            <a:pPr algn="ctr">
              <a:lnSpc>
                <a:spcPct val="12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区块链防伪追溯</a:t>
            </a:r>
            <a:endParaRPr lang="zh-CN" altLang="en-US" sz="12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平台正式上线</a:t>
            </a:r>
            <a:endParaRPr lang="zh-CN" altLang="en-US" sz="1200" dirty="0">
              <a:solidFill>
                <a:srgbClr val="383838"/>
              </a:solidFill>
              <a:latin typeface="微软雅黑"/>
              <a:ea typeface="微软雅黑"/>
              <a:cs typeface="微软雅黑"/>
            </a:endParaRPr>
          </a:p>
        </p:txBody>
      </p:sp>
      <p:grpSp>
        <p:nvGrpSpPr>
          <p:cNvPr id="42" name="组合 41"/>
          <p:cNvGrpSpPr/>
          <p:nvPr/>
        </p:nvGrpSpPr>
        <p:grpSpPr>
          <a:xfrm>
            <a:off x="8430423" y="2506176"/>
            <a:ext cx="108000" cy="108000"/>
            <a:chOff x="8284494" y="2065735"/>
            <a:chExt cx="108000" cy="108000"/>
          </a:xfrm>
        </p:grpSpPr>
        <p:sp>
          <p:nvSpPr>
            <p:cNvPr id="46" name="椭圆 45"/>
            <p:cNvSpPr/>
            <p:nvPr>
              <p:custDataLst>
                <p:tags r:id="rId6"/>
              </p:custDataLst>
            </p:nvPr>
          </p:nvSpPr>
          <p:spPr>
            <a:xfrm flipH="1">
              <a:off x="8284494" y="2065735"/>
              <a:ext cx="108000" cy="108000"/>
            </a:xfrm>
            <a:prstGeom prst="ellipse">
              <a:avLst/>
            </a:prstGeom>
            <a:solidFill>
              <a:srgbClr val="FFFFFF"/>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latin typeface="微软雅黑"/>
                <a:ea typeface="微软雅黑"/>
                <a:cs typeface="微软雅黑"/>
              </a:endParaRPr>
            </a:p>
          </p:txBody>
        </p:sp>
        <p:sp>
          <p:nvSpPr>
            <p:cNvPr id="47" name="椭圆 46"/>
            <p:cNvSpPr/>
            <p:nvPr/>
          </p:nvSpPr>
          <p:spPr>
            <a:xfrm flipH="1">
              <a:off x="8314065" y="2095304"/>
              <a:ext cx="48862" cy="48862"/>
            </a:xfrm>
            <a:prstGeom prst="ellips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latin typeface="微软雅黑"/>
                <a:ea typeface="微软雅黑"/>
                <a:cs typeface="微软雅黑"/>
              </a:endParaRPr>
            </a:p>
          </p:txBody>
        </p:sp>
      </p:grpSp>
      <p:sp>
        <p:nvSpPr>
          <p:cNvPr id="43" name="矩形: 圆角 42"/>
          <p:cNvSpPr/>
          <p:nvPr/>
        </p:nvSpPr>
        <p:spPr>
          <a:xfrm>
            <a:off x="8615009" y="2364570"/>
            <a:ext cx="2729259" cy="344694"/>
          </a:xfrm>
          <a:prstGeom prst="roundRect">
            <a:avLst>
              <a:gd name="adj" fmla="val 50000"/>
            </a:avLst>
          </a:prstGeom>
          <a:gradFill flip="none" rotWithShape="1">
            <a:gsLst>
              <a:gs pos="0">
                <a:srgbClr val="B3D4FE"/>
              </a:gs>
              <a:gs pos="100000">
                <a:srgbClr val="B3D4FE"/>
              </a:gs>
            </a:gsLst>
            <a:lin ang="2700000" scaled="1"/>
            <a:tileRect/>
          </a:gradFill>
          <a:ln w="38100">
            <a:noFill/>
          </a:ln>
          <a:effectLst>
            <a:outerShdw blurRad="254000" dist="123444" dir="5400000" sx="99000" sy="99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44" name="文本框 43"/>
          <p:cNvSpPr txBox="1"/>
          <p:nvPr/>
        </p:nvSpPr>
        <p:spPr>
          <a:xfrm>
            <a:off x="9466678" y="2413807"/>
            <a:ext cx="1025922" cy="246221"/>
          </a:xfrm>
          <a:prstGeom prst="rect">
            <a:avLst/>
          </a:prstGeom>
          <a:noFill/>
        </p:spPr>
        <p:txBody>
          <a:bodyPr wrap="none" lIns="0" tIns="0" rIns="0" bIns="0" rtlCol="0">
            <a:spAutoFit/>
          </a:bodyPr>
          <a:lstStyle/>
          <a:p>
            <a:pPr algn="ctr">
              <a:defRPr>
                <a:latin typeface="微软雅黑"/>
                <a:ea typeface="微软雅黑"/>
                <a:cs typeface="微软雅黑"/>
              </a:defRPr>
            </a:pPr>
            <a:r>
              <a:rPr lang="zh-CN" altLang="en-US" sz="1600" dirty="0">
                <a:solidFill>
                  <a:srgbClr val="383838"/>
                </a:solidFill>
                <a:latin typeface="微软雅黑"/>
                <a:ea typeface="微软雅黑"/>
                <a:cs typeface="微软雅黑"/>
              </a:rPr>
              <a:t>衰退期重构</a:t>
            </a:r>
            <a:endParaRPr lang="zh-CN" altLang="en-US" sz="1600" dirty="0">
              <a:solidFill>
                <a:srgbClr val="383838"/>
              </a:solidFill>
              <a:latin typeface="微软雅黑"/>
              <a:ea typeface="微软雅黑"/>
              <a:cs typeface="微软雅黑"/>
            </a:endParaRPr>
          </a:p>
        </p:txBody>
      </p:sp>
      <p:grpSp>
        <p:nvGrpSpPr>
          <p:cNvPr id="16" name="组合 15"/>
          <p:cNvGrpSpPr/>
          <p:nvPr/>
        </p:nvGrpSpPr>
        <p:grpSpPr>
          <a:xfrm>
            <a:off x="8726495" y="3852263"/>
            <a:ext cx="108000" cy="108000"/>
            <a:chOff x="8569917" y="3182554"/>
            <a:chExt cx="108000" cy="108000"/>
          </a:xfrm>
        </p:grpSpPr>
        <p:sp>
          <p:nvSpPr>
            <p:cNvPr id="40" name="椭圆 39"/>
            <p:cNvSpPr/>
            <p:nvPr>
              <p:custDataLst>
                <p:tags r:id="rId7"/>
              </p:custDataLst>
            </p:nvPr>
          </p:nvSpPr>
          <p:spPr>
            <a:xfrm flipH="1">
              <a:off x="8569917" y="3182554"/>
              <a:ext cx="108000" cy="108000"/>
            </a:xfrm>
            <a:prstGeom prst="ellipse">
              <a:avLst/>
            </a:prstGeom>
            <a:solidFill>
              <a:srgbClr val="FFFFFF"/>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sp>
          <p:nvSpPr>
            <p:cNvPr id="41" name="椭圆 40"/>
            <p:cNvSpPr/>
            <p:nvPr/>
          </p:nvSpPr>
          <p:spPr>
            <a:xfrm flipH="1">
              <a:off x="8599488" y="3212123"/>
              <a:ext cx="48862" cy="48862"/>
            </a:xfrm>
            <a:prstGeom prst="ellips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grpSp>
      <p:sp>
        <p:nvSpPr>
          <p:cNvPr id="17" name="矩形: 圆角 36"/>
          <p:cNvSpPr/>
          <p:nvPr/>
        </p:nvSpPr>
        <p:spPr>
          <a:xfrm>
            <a:off x="8896791" y="3749790"/>
            <a:ext cx="2447477" cy="345600"/>
          </a:xfrm>
          <a:prstGeom prst="roundRect">
            <a:avLst>
              <a:gd name="adj" fmla="val 50000"/>
            </a:avLst>
          </a:prstGeom>
          <a:gradFill flip="none" rotWithShape="1">
            <a:gsLst>
              <a:gs pos="0">
                <a:srgbClr val="B3D4FE"/>
              </a:gs>
              <a:gs pos="100000">
                <a:srgbClr val="B3D4FE"/>
              </a:gs>
            </a:gsLst>
            <a:lin ang="2700000" scaled="1"/>
            <a:tileRect/>
          </a:gradFill>
          <a:ln w="38100">
            <a:noFill/>
          </a:ln>
          <a:effectLst>
            <a:outerShdw blurRad="254000" dist="123444" dir="5400000" sx="99000" sy="99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9" name="文本框 38"/>
          <p:cNvSpPr txBox="1"/>
          <p:nvPr/>
        </p:nvSpPr>
        <p:spPr>
          <a:xfrm>
            <a:off x="9420017" y="3799480"/>
            <a:ext cx="1401026" cy="246221"/>
          </a:xfrm>
          <a:prstGeom prst="rect">
            <a:avLst/>
          </a:prstGeom>
          <a:noFill/>
        </p:spPr>
        <p:txBody>
          <a:bodyPr wrap="none" lIns="0" tIns="0" rIns="0" bIns="0" rtlCol="0">
            <a:spAutoFit/>
          </a:bodyPr>
          <a:lstStyle>
            <a:defPPr>
              <a:defRPr lang="zh-CN">
                <a:latin typeface="微软雅黑"/>
                <a:ea typeface="微软雅黑"/>
                <a:cs typeface="微软雅黑"/>
              </a:defRPr>
            </a:defPPr>
            <a:lvl1pPr>
              <a:defRPr sz="1200">
                <a:solidFill>
                  <a:srgbClr val="0042FF"/>
                </a:solidFill>
                <a:latin typeface="微软雅黑"/>
                <a:ea typeface="微软雅黑"/>
                <a:cs typeface="微软雅黑"/>
              </a:defRPr>
            </a:lvl1pPr>
          </a:lstStyle>
          <a:p>
            <a:pPr algn="r">
              <a:defRPr>
                <a:latin typeface="微软雅黑"/>
                <a:ea typeface="微软雅黑"/>
                <a:cs typeface="微软雅黑"/>
              </a:defRPr>
            </a:pPr>
            <a:r>
              <a:rPr lang="zh-CN" altLang="en-US" sz="1600" dirty="0">
                <a:solidFill>
                  <a:srgbClr val="383838"/>
                </a:solidFill>
                <a:latin typeface="微软雅黑"/>
                <a:ea typeface="微软雅黑"/>
                <a:cs typeface="微软雅黑"/>
              </a:rPr>
              <a:t>稳定发展从</a:t>
            </a:r>
            <a:r>
              <a:rPr lang="en-US" altLang="zh-CN" sz="1600" dirty="0">
                <a:solidFill>
                  <a:srgbClr val="383838"/>
                </a:solidFill>
                <a:latin typeface="微软雅黑"/>
                <a:ea typeface="微软雅黑"/>
                <a:cs typeface="微软雅黑"/>
              </a:rPr>
              <a:t>1-N</a:t>
            </a:r>
            <a:endParaRPr lang="en-US" altLang="zh-CN" sz="1600" dirty="0">
              <a:solidFill>
                <a:srgbClr val="383838"/>
              </a:solidFill>
              <a:latin typeface="微软雅黑"/>
              <a:ea typeface="微软雅黑"/>
              <a:cs typeface="微软雅黑"/>
            </a:endParaRPr>
          </a:p>
        </p:txBody>
      </p:sp>
      <p:grpSp>
        <p:nvGrpSpPr>
          <p:cNvPr id="18" name="组合 17"/>
          <p:cNvGrpSpPr/>
          <p:nvPr/>
        </p:nvGrpSpPr>
        <p:grpSpPr>
          <a:xfrm>
            <a:off x="8480709" y="5273324"/>
            <a:ext cx="108000" cy="108000"/>
            <a:chOff x="8171901" y="5403654"/>
            <a:chExt cx="108000" cy="108000"/>
          </a:xfrm>
        </p:grpSpPr>
        <p:sp>
          <p:nvSpPr>
            <p:cNvPr id="34" name="椭圆 33"/>
            <p:cNvSpPr/>
            <p:nvPr>
              <p:custDataLst>
                <p:tags r:id="rId8"/>
              </p:custDataLst>
            </p:nvPr>
          </p:nvSpPr>
          <p:spPr>
            <a:xfrm flipH="1">
              <a:off x="8171901" y="5403654"/>
              <a:ext cx="108000" cy="108000"/>
            </a:xfrm>
            <a:prstGeom prst="ellipse">
              <a:avLst/>
            </a:prstGeom>
            <a:solidFill>
              <a:srgbClr val="FFFFFF"/>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latin typeface="微软雅黑"/>
                <a:ea typeface="微软雅黑"/>
                <a:cs typeface="微软雅黑"/>
              </a:endParaRPr>
            </a:p>
          </p:txBody>
        </p:sp>
        <p:sp>
          <p:nvSpPr>
            <p:cNvPr id="35" name="椭圆 34"/>
            <p:cNvSpPr/>
            <p:nvPr/>
          </p:nvSpPr>
          <p:spPr>
            <a:xfrm flipH="1">
              <a:off x="8201472" y="5433223"/>
              <a:ext cx="48862" cy="48862"/>
            </a:xfrm>
            <a:prstGeom prst="ellips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latin typeface="微软雅黑"/>
                <a:ea typeface="微软雅黑"/>
                <a:cs typeface="微软雅黑"/>
              </a:endParaRPr>
            </a:p>
          </p:txBody>
        </p:sp>
      </p:grpSp>
      <p:sp>
        <p:nvSpPr>
          <p:cNvPr id="19" name="矩形: 圆角 30"/>
          <p:cNvSpPr/>
          <p:nvPr/>
        </p:nvSpPr>
        <p:spPr>
          <a:xfrm>
            <a:off x="8662164" y="5140782"/>
            <a:ext cx="2682105" cy="345600"/>
          </a:xfrm>
          <a:prstGeom prst="roundRect">
            <a:avLst>
              <a:gd name="adj" fmla="val 50000"/>
            </a:avLst>
          </a:prstGeom>
          <a:gradFill flip="none" rotWithShape="1">
            <a:gsLst>
              <a:gs pos="0">
                <a:srgbClr val="B3D4FE"/>
              </a:gs>
              <a:gs pos="100000">
                <a:srgbClr val="B3D4FE"/>
              </a:gs>
            </a:gsLst>
            <a:lin ang="2700000" scaled="1"/>
            <a:tileRect/>
          </a:gradFill>
          <a:ln w="38100">
            <a:noFill/>
          </a:ln>
          <a:effectLst>
            <a:outerShdw blurRad="254000" dist="123444" dir="5400000" sx="99000" sy="99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0" name="文本框 19"/>
          <p:cNvSpPr txBox="1"/>
          <p:nvPr/>
        </p:nvSpPr>
        <p:spPr>
          <a:xfrm>
            <a:off x="9079887" y="5190472"/>
            <a:ext cx="1846659" cy="246221"/>
          </a:xfrm>
          <a:prstGeom prst="rect">
            <a:avLst/>
          </a:prstGeom>
          <a:noFill/>
        </p:spPr>
        <p:txBody>
          <a:bodyPr wrap="none" lIns="0" tIns="0" rIns="0" bIns="0" rtlCol="0">
            <a:spAutoFit/>
          </a:bodyPr>
          <a:lstStyle>
            <a:defPPr>
              <a:defRPr lang="zh-CN">
                <a:latin typeface="微软雅黑"/>
                <a:ea typeface="微软雅黑"/>
                <a:cs typeface="微软雅黑"/>
              </a:defRPr>
            </a:defPPr>
            <a:lvl1pPr>
              <a:defRPr sz="1200">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600" dirty="0">
                <a:solidFill>
                  <a:srgbClr val="383838"/>
                </a:solidFill>
                <a:latin typeface="微软雅黑"/>
                <a:ea typeface="微软雅黑"/>
                <a:cs typeface="微软雅黑"/>
              </a:rPr>
              <a:t>复杂系统的完整实施</a:t>
            </a:r>
            <a:endParaRPr lang="zh-CN" altLang="en-US" sz="1600" dirty="0">
              <a:solidFill>
                <a:srgbClr val="383838"/>
              </a:solidFill>
              <a:latin typeface="微软雅黑"/>
              <a:ea typeface="微软雅黑"/>
              <a:cs typeface="微软雅黑"/>
            </a:endParaRPr>
          </a:p>
        </p:txBody>
      </p:sp>
      <p:sp>
        <p:nvSpPr>
          <p:cNvPr id="24" name="椭圆 23"/>
          <p:cNvSpPr/>
          <p:nvPr>
            <p:custDataLst>
              <p:tags r:id="rId9"/>
            </p:custDataLst>
          </p:nvPr>
        </p:nvSpPr>
        <p:spPr>
          <a:xfrm flipH="1">
            <a:off x="3865245" y="2946400"/>
            <a:ext cx="2340610" cy="2340610"/>
          </a:xfrm>
          <a:prstGeom prst="ellipse">
            <a:avLst/>
          </a:prstGeom>
          <a:gradFill flip="none" rotWithShape="1">
            <a:gsLst>
              <a:gs pos="100000">
                <a:srgbClr val="0042FF"/>
              </a:gs>
              <a:gs pos="0">
                <a:srgbClr val="3368FF"/>
              </a:gs>
            </a:gsLst>
            <a:lin ang="2700000" scaled="1"/>
          </a:gradFill>
          <a:ln w="38100">
            <a:noFill/>
          </a:ln>
          <a:effectLst>
            <a:outerShdw blurRad="304800" dist="165100" dir="5400000" sx="108000" sy="108000" algn="ctr" rotWithShape="0">
              <a:srgbClr val="0042FF">
                <a:alpha val="2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gradFill>
                <a:gsLst>
                  <a:gs pos="0">
                    <a:srgbClr val="0042FF"/>
                  </a:gs>
                  <a:gs pos="100000">
                    <a:srgbClr val="0042FF"/>
                  </a:gs>
                </a:gsLst>
                <a:lin ang="2700000" scaled="1"/>
              </a:gradFill>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25" name="文本框 24"/>
          <p:cNvSpPr txBox="1"/>
          <p:nvPr/>
        </p:nvSpPr>
        <p:spPr>
          <a:xfrm>
            <a:off x="4280535" y="3653790"/>
            <a:ext cx="1538605" cy="615315"/>
          </a:xfrm>
          <a:prstGeom prst="rect">
            <a:avLst/>
          </a:prstGeom>
          <a:noFill/>
        </p:spPr>
        <p:txBody>
          <a:bodyPr wrap="none" lIns="0" tIns="0" rIns="0" bIns="0" rtlCol="0">
            <a:spAutoFit/>
          </a:bodyPr>
          <a:lstStyle/>
          <a:p>
            <a:pPr>
              <a:defRPr>
                <a:solidFill>
                  <a:srgbClr val="FFFFFF"/>
                </a:solidFill>
                <a:latin typeface="微软雅黑"/>
                <a:ea typeface="微软雅黑"/>
                <a:cs typeface="微软雅黑"/>
              </a:defRPr>
            </a:pPr>
            <a:r>
              <a:rPr lang="zh-CN" altLang="en-US" sz="2000" dirty="0">
                <a:solidFill>
                  <a:srgbClr val="FFFFFF"/>
                </a:solidFill>
                <a:latin typeface="微软雅黑"/>
                <a:ea typeface="微软雅黑"/>
                <a:cs typeface="微软雅黑"/>
              </a:rPr>
              <a:t>行业创新之路</a:t>
            </a:r>
            <a:endParaRPr lang="zh-CN" altLang="en-US" sz="2000" dirty="0">
              <a:solidFill>
                <a:srgbClr val="FFFFFF"/>
              </a:solidFill>
              <a:latin typeface="微软雅黑"/>
              <a:ea typeface="微软雅黑"/>
              <a:cs typeface="微软雅黑"/>
            </a:endParaRPr>
          </a:p>
          <a:p>
            <a:pPr>
              <a:defRPr>
                <a:solidFill>
                  <a:srgbClr val="FFFFFF"/>
                </a:solidFill>
                <a:latin typeface="微软雅黑"/>
                <a:ea typeface="微软雅黑"/>
                <a:cs typeface="微软雅黑"/>
              </a:defRPr>
            </a:pPr>
            <a:endParaRPr lang="zh-CN" altLang="en-US" sz="2000" dirty="0">
              <a:solidFill>
                <a:srgbClr val="FFFFFF"/>
              </a:solidFill>
              <a:latin typeface="微软雅黑"/>
              <a:ea typeface="微软雅黑"/>
              <a:cs typeface="微软雅黑"/>
            </a:endParaRPr>
          </a:p>
        </p:txBody>
      </p:sp>
      <p:sp>
        <p:nvSpPr>
          <p:cNvPr id="26" name="文本框 25"/>
          <p:cNvSpPr txBox="1"/>
          <p:nvPr/>
        </p:nvSpPr>
        <p:spPr>
          <a:xfrm>
            <a:off x="4497070" y="4203065"/>
            <a:ext cx="1076960" cy="503555"/>
          </a:xfrm>
          <a:prstGeom prst="rect">
            <a:avLst/>
          </a:prstGeom>
          <a:noFill/>
        </p:spPr>
        <p:txBody>
          <a:bodyPr wrap="none" lIns="0" tIns="0" rIns="0" bIns="0">
            <a:spAutoFit/>
          </a:bodyPr>
          <a:lstStyle/>
          <a:p>
            <a:pPr algn="ctr">
              <a:lnSpc>
                <a:spcPct val="120000"/>
              </a:lnSpc>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聚焦行业</a:t>
            </a:r>
            <a:endParaRPr lang="zh-CN" altLang="en-US" sz="1400" dirty="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目标创新图谱</a:t>
            </a:r>
            <a:endParaRPr lang="zh-CN" altLang="en-US" sz="1400" dirty="0">
              <a:solidFill>
                <a:srgbClr val="FFFFFF"/>
              </a:solidFill>
              <a:latin typeface="微软雅黑"/>
              <a:ea typeface="微软雅黑"/>
              <a:cs typeface="微软雅黑"/>
            </a:endParaRPr>
          </a:p>
        </p:txBody>
      </p:sp>
      <p:sp>
        <p:nvSpPr>
          <p:cNvPr id="23" name="椭圆 22"/>
          <p:cNvSpPr/>
          <p:nvPr>
            <p:custDataLst>
              <p:tags r:id="rId10"/>
            </p:custDataLst>
          </p:nvPr>
        </p:nvSpPr>
        <p:spPr>
          <a:xfrm flipH="1">
            <a:off x="5851525" y="2964180"/>
            <a:ext cx="2340610" cy="2340610"/>
          </a:xfrm>
          <a:prstGeom prst="ellipse">
            <a:avLst/>
          </a:prstGeom>
          <a:gradFill flip="none" rotWithShape="1">
            <a:gsLst>
              <a:gs pos="100000">
                <a:srgbClr val="3368FF"/>
              </a:gs>
              <a:gs pos="0">
                <a:srgbClr val="B3D4FE"/>
              </a:gs>
            </a:gsLst>
            <a:lin ang="2700000" scaled="1"/>
          </a:gradFill>
          <a:ln w="38100">
            <a:noFill/>
          </a:ln>
          <a:effectLst>
            <a:outerShdw blurRad="304800" dist="165100" dir="5400000" sx="108000" sy="108000" algn="ctr" rotWithShape="0">
              <a:srgbClr val="3368FF">
                <a:alpha val="2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gradFill>
                <a:gsLst>
                  <a:gs pos="0">
                    <a:srgbClr val="0042FF"/>
                  </a:gs>
                  <a:gs pos="100000">
                    <a:srgbClr val="0042FF"/>
                  </a:gs>
                </a:gsLst>
                <a:lin ang="2700000" scaled="1"/>
              </a:gradFill>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8" name="文本框 47"/>
          <p:cNvSpPr txBox="1"/>
          <p:nvPr/>
        </p:nvSpPr>
        <p:spPr>
          <a:xfrm>
            <a:off x="6313170" y="3674110"/>
            <a:ext cx="1538605" cy="307975"/>
          </a:xfrm>
          <a:prstGeom prst="rect">
            <a:avLst/>
          </a:prstGeom>
          <a:noFill/>
        </p:spPr>
        <p:txBody>
          <a:bodyPr wrap="none" lIns="0" tIns="0" rIns="0" bIns="0" rtlCol="0">
            <a:spAutoFit/>
          </a:bodyPr>
          <a:lstStyle/>
          <a:p>
            <a:pPr>
              <a:defRPr>
                <a:latin typeface="微软雅黑"/>
                <a:ea typeface="微软雅黑"/>
                <a:cs typeface="微软雅黑"/>
              </a:defRPr>
            </a:pPr>
            <a:r>
              <a:rPr lang="zh-CN" altLang="en-US" sz="2000" dirty="0">
                <a:solidFill>
                  <a:srgbClr val="383838"/>
                </a:solidFill>
                <a:latin typeface="微软雅黑"/>
                <a:ea typeface="微软雅黑"/>
                <a:cs typeface="微软雅黑"/>
              </a:rPr>
              <a:t>产品建设路径</a:t>
            </a:r>
            <a:endParaRPr lang="zh-CN" altLang="en-US" sz="2000" dirty="0">
              <a:solidFill>
                <a:srgbClr val="383838"/>
              </a:solidFill>
              <a:latin typeface="微软雅黑"/>
              <a:ea typeface="微软雅黑"/>
              <a:cs typeface="微软雅黑"/>
            </a:endParaRPr>
          </a:p>
        </p:txBody>
      </p:sp>
      <p:sp>
        <p:nvSpPr>
          <p:cNvPr id="54" name="文本框 53"/>
          <p:cNvSpPr txBox="1"/>
          <p:nvPr/>
        </p:nvSpPr>
        <p:spPr>
          <a:xfrm>
            <a:off x="6314440" y="4223385"/>
            <a:ext cx="1436370" cy="503555"/>
          </a:xfrm>
          <a:prstGeom prst="rect">
            <a:avLst/>
          </a:prstGeom>
          <a:noFill/>
        </p:spPr>
        <p:txBody>
          <a:bodyPr wrap="none" lIns="0" tIns="0" rIns="0" bIns="0">
            <a:spAutoFit/>
          </a:bodyPr>
          <a:lstStyle/>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聚焦产品高意愿度</a:t>
            </a:r>
            <a:endParaRPr lang="zh-CN" altLang="en-US" sz="1400" dirty="0">
              <a:solidFill>
                <a:srgbClr val="383838"/>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目标市场分布</a:t>
            </a:r>
            <a:endParaRPr lang="zh-CN" altLang="en-US" sz="1400" dirty="0">
              <a:solidFill>
                <a:srgbClr val="383838"/>
              </a:solidFill>
              <a:latin typeface="微软雅黑"/>
              <a:ea typeface="微软雅黑"/>
              <a:cs typeface="微软雅黑"/>
            </a:endParaRPr>
          </a:p>
        </p:txBody>
      </p:sp>
      <p:sp>
        <p:nvSpPr>
          <p:cNvPr id="67" name="任意多边形: 形状 66"/>
          <p:cNvSpPr/>
          <p:nvPr/>
        </p:nvSpPr>
        <p:spPr>
          <a:xfrm rot="5616845">
            <a:off x="7555737" y="1164862"/>
            <a:ext cx="1040612" cy="2191782"/>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 name="connsiteX0-13" fmla="*/ 478971 w 478971"/>
              <a:gd name="connsiteY0-14" fmla="*/ 1001485 h 1001485"/>
              <a:gd name="connsiteX1-15" fmla="*/ 0 w 478971"/>
              <a:gd name="connsiteY1-16" fmla="*/ 0 h 1001485"/>
              <a:gd name="connsiteX0-17" fmla="*/ 478971 w 478971"/>
              <a:gd name="connsiteY0-18" fmla="*/ 1001485 h 1001485"/>
              <a:gd name="connsiteX1-19" fmla="*/ 0 w 478971"/>
              <a:gd name="connsiteY1-20" fmla="*/ 0 h 1001485"/>
              <a:gd name="connsiteX0-21" fmla="*/ 517007 w 517007"/>
              <a:gd name="connsiteY0-22" fmla="*/ 999355 h 999355"/>
              <a:gd name="connsiteX1-23" fmla="*/ 0 w 517007"/>
              <a:gd name="connsiteY1-24" fmla="*/ 0 h 999355"/>
              <a:gd name="connsiteX0-25" fmla="*/ 549376 w 549376"/>
              <a:gd name="connsiteY0-26" fmla="*/ 1000147 h 1000147"/>
              <a:gd name="connsiteX1-27" fmla="*/ 0 w 549376"/>
              <a:gd name="connsiteY1-28" fmla="*/ 0 h 1000147"/>
              <a:gd name="connsiteX0-29" fmla="*/ 557783 w 557783"/>
              <a:gd name="connsiteY0-30" fmla="*/ 994467 h 994467"/>
              <a:gd name="connsiteX1-31" fmla="*/ 0 w 557783"/>
              <a:gd name="connsiteY1-32" fmla="*/ 0 h 994467"/>
              <a:gd name="connsiteX0-33" fmla="*/ 557783 w 557783"/>
              <a:gd name="connsiteY0-34" fmla="*/ 994467 h 994467"/>
              <a:gd name="connsiteX1-35" fmla="*/ 0 w 557783"/>
              <a:gd name="connsiteY1-36" fmla="*/ 0 h 994467"/>
              <a:gd name="connsiteX0-37" fmla="*/ 581991 w 581991"/>
              <a:gd name="connsiteY0-38" fmla="*/ 1086877 h 1086877"/>
              <a:gd name="connsiteX1-39" fmla="*/ 0 w 581991"/>
              <a:gd name="connsiteY1-40" fmla="*/ 0 h 1086877"/>
            </a:gdLst>
            <a:ahLst/>
            <a:cxnLst>
              <a:cxn ang="0">
                <a:pos x="connsiteX0-1" y="connsiteY0-2"/>
              </a:cxn>
              <a:cxn ang="0">
                <a:pos x="connsiteX1-3" y="connsiteY1-4"/>
              </a:cxn>
            </a:cxnLst>
            <a:rect l="l" t="t" r="r" b="b"/>
            <a:pathLst>
              <a:path w="581991" h="1086877">
                <a:moveTo>
                  <a:pt x="581991" y="1086877"/>
                </a:moveTo>
                <a:cubicBezTo>
                  <a:pt x="479829" y="702657"/>
                  <a:pt x="273957" y="288108"/>
                  <a:pt x="0" y="0"/>
                </a:cubicBezTo>
              </a:path>
            </a:pathLst>
          </a:custGeom>
          <a:noFill/>
          <a:ln>
            <a:solidFill>
              <a:srgbClr val="FFFFFF"/>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68" name="任意多边形: 形状 67"/>
          <p:cNvSpPr/>
          <p:nvPr/>
        </p:nvSpPr>
        <p:spPr>
          <a:xfrm rot="15983155" flipV="1">
            <a:off x="7403840" y="4834136"/>
            <a:ext cx="1040612" cy="2191782"/>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 name="connsiteX0-13" fmla="*/ 478971 w 478971"/>
              <a:gd name="connsiteY0-14" fmla="*/ 1001485 h 1001485"/>
              <a:gd name="connsiteX1-15" fmla="*/ 0 w 478971"/>
              <a:gd name="connsiteY1-16" fmla="*/ 0 h 1001485"/>
              <a:gd name="connsiteX0-17" fmla="*/ 478971 w 478971"/>
              <a:gd name="connsiteY0-18" fmla="*/ 1001485 h 1001485"/>
              <a:gd name="connsiteX1-19" fmla="*/ 0 w 478971"/>
              <a:gd name="connsiteY1-20" fmla="*/ 0 h 1001485"/>
              <a:gd name="connsiteX0-21" fmla="*/ 517007 w 517007"/>
              <a:gd name="connsiteY0-22" fmla="*/ 999355 h 999355"/>
              <a:gd name="connsiteX1-23" fmla="*/ 0 w 517007"/>
              <a:gd name="connsiteY1-24" fmla="*/ 0 h 999355"/>
              <a:gd name="connsiteX0-25" fmla="*/ 549376 w 549376"/>
              <a:gd name="connsiteY0-26" fmla="*/ 1000147 h 1000147"/>
              <a:gd name="connsiteX1-27" fmla="*/ 0 w 549376"/>
              <a:gd name="connsiteY1-28" fmla="*/ 0 h 1000147"/>
              <a:gd name="connsiteX0-29" fmla="*/ 557783 w 557783"/>
              <a:gd name="connsiteY0-30" fmla="*/ 994467 h 994467"/>
              <a:gd name="connsiteX1-31" fmla="*/ 0 w 557783"/>
              <a:gd name="connsiteY1-32" fmla="*/ 0 h 994467"/>
              <a:gd name="connsiteX0-33" fmla="*/ 557783 w 557783"/>
              <a:gd name="connsiteY0-34" fmla="*/ 994467 h 994467"/>
              <a:gd name="connsiteX1-35" fmla="*/ 0 w 557783"/>
              <a:gd name="connsiteY1-36" fmla="*/ 0 h 994467"/>
              <a:gd name="connsiteX0-37" fmla="*/ 581991 w 581991"/>
              <a:gd name="connsiteY0-38" fmla="*/ 1086877 h 1086877"/>
              <a:gd name="connsiteX1-39" fmla="*/ 0 w 581991"/>
              <a:gd name="connsiteY1-40" fmla="*/ 0 h 1086877"/>
            </a:gdLst>
            <a:ahLst/>
            <a:cxnLst>
              <a:cxn ang="0">
                <a:pos x="connsiteX0-1" y="connsiteY0-2"/>
              </a:cxn>
              <a:cxn ang="0">
                <a:pos x="connsiteX1-3" y="connsiteY1-4"/>
              </a:cxn>
            </a:cxnLst>
            <a:rect l="l" t="t" r="r" b="b"/>
            <a:pathLst>
              <a:path w="581991" h="1086877">
                <a:moveTo>
                  <a:pt x="581991" y="1086877"/>
                </a:moveTo>
                <a:cubicBezTo>
                  <a:pt x="479829" y="702657"/>
                  <a:pt x="273957" y="288108"/>
                  <a:pt x="0" y="0"/>
                </a:cubicBezTo>
              </a:path>
            </a:pathLst>
          </a:custGeom>
          <a:noFill/>
          <a:ln>
            <a:solidFill>
              <a:srgbClr val="FFFFFF"/>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70" name="任意多边形: 形状 69"/>
          <p:cNvSpPr/>
          <p:nvPr/>
        </p:nvSpPr>
        <p:spPr>
          <a:xfrm rot="15983155" flipH="1">
            <a:off x="3623067" y="1315528"/>
            <a:ext cx="994636" cy="2094942"/>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 name="connsiteX0-13" fmla="*/ 478971 w 478971"/>
              <a:gd name="connsiteY0-14" fmla="*/ 1001485 h 1001485"/>
              <a:gd name="connsiteX1-15" fmla="*/ 0 w 478971"/>
              <a:gd name="connsiteY1-16" fmla="*/ 0 h 1001485"/>
              <a:gd name="connsiteX0-17" fmla="*/ 478971 w 478971"/>
              <a:gd name="connsiteY0-18" fmla="*/ 1001485 h 1001485"/>
              <a:gd name="connsiteX1-19" fmla="*/ 0 w 478971"/>
              <a:gd name="connsiteY1-20" fmla="*/ 0 h 1001485"/>
              <a:gd name="connsiteX0-21" fmla="*/ 517007 w 517007"/>
              <a:gd name="connsiteY0-22" fmla="*/ 999355 h 999355"/>
              <a:gd name="connsiteX1-23" fmla="*/ 0 w 517007"/>
              <a:gd name="connsiteY1-24" fmla="*/ 0 h 999355"/>
              <a:gd name="connsiteX0-25" fmla="*/ 549376 w 549376"/>
              <a:gd name="connsiteY0-26" fmla="*/ 1000147 h 1000147"/>
              <a:gd name="connsiteX1-27" fmla="*/ 0 w 549376"/>
              <a:gd name="connsiteY1-28" fmla="*/ 0 h 1000147"/>
              <a:gd name="connsiteX0-29" fmla="*/ 557783 w 557783"/>
              <a:gd name="connsiteY0-30" fmla="*/ 994467 h 994467"/>
              <a:gd name="connsiteX1-31" fmla="*/ 0 w 557783"/>
              <a:gd name="connsiteY1-32" fmla="*/ 0 h 994467"/>
              <a:gd name="connsiteX0-33" fmla="*/ 557783 w 557783"/>
              <a:gd name="connsiteY0-34" fmla="*/ 994467 h 994467"/>
              <a:gd name="connsiteX1-35" fmla="*/ 0 w 557783"/>
              <a:gd name="connsiteY1-36" fmla="*/ 0 h 994467"/>
              <a:gd name="connsiteX0-37" fmla="*/ 581991 w 581991"/>
              <a:gd name="connsiteY0-38" fmla="*/ 1086877 h 1086877"/>
              <a:gd name="connsiteX1-39" fmla="*/ 0 w 581991"/>
              <a:gd name="connsiteY1-40" fmla="*/ 0 h 1086877"/>
            </a:gdLst>
            <a:ahLst/>
            <a:cxnLst>
              <a:cxn ang="0">
                <a:pos x="connsiteX0-1" y="connsiteY0-2"/>
              </a:cxn>
              <a:cxn ang="0">
                <a:pos x="connsiteX1-3" y="connsiteY1-4"/>
              </a:cxn>
            </a:cxnLst>
            <a:rect l="l" t="t" r="r" b="b"/>
            <a:pathLst>
              <a:path w="581991" h="1086877">
                <a:moveTo>
                  <a:pt x="581991" y="1086877"/>
                </a:moveTo>
                <a:cubicBezTo>
                  <a:pt x="479829" y="702657"/>
                  <a:pt x="273957" y="288108"/>
                  <a:pt x="0" y="0"/>
                </a:cubicBezTo>
              </a:path>
            </a:pathLst>
          </a:custGeom>
          <a:noFill/>
          <a:ln>
            <a:solidFill>
              <a:srgbClr val="E6E6E6"/>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71" name="任意多边形: 形状 70"/>
          <p:cNvSpPr/>
          <p:nvPr/>
        </p:nvSpPr>
        <p:spPr>
          <a:xfrm rot="5616845" flipH="1" flipV="1">
            <a:off x="3768254" y="4822686"/>
            <a:ext cx="994636" cy="2094942"/>
          </a:xfrm>
          <a:custGeom>
            <a:avLst/>
            <a:gdLst>
              <a:gd name="connsiteX0" fmla="*/ 478971 w 478971"/>
              <a:gd name="connsiteY0" fmla="*/ 1001485 h 1001485"/>
              <a:gd name="connsiteX1" fmla="*/ 0 w 478971"/>
              <a:gd name="connsiteY1" fmla="*/ 0 h 1001485"/>
              <a:gd name="connsiteX0-1" fmla="*/ 478971 w 478971"/>
              <a:gd name="connsiteY0-2" fmla="*/ 1001485 h 1001485"/>
              <a:gd name="connsiteX1-3" fmla="*/ 0 w 478971"/>
              <a:gd name="connsiteY1-4" fmla="*/ 0 h 1001485"/>
              <a:gd name="connsiteX0-5" fmla="*/ 478971 w 478971"/>
              <a:gd name="connsiteY0-6" fmla="*/ 1001485 h 1001485"/>
              <a:gd name="connsiteX1-7" fmla="*/ 0 w 478971"/>
              <a:gd name="connsiteY1-8" fmla="*/ 0 h 1001485"/>
              <a:gd name="connsiteX0-9" fmla="*/ 478971 w 478971"/>
              <a:gd name="connsiteY0-10" fmla="*/ 1001485 h 1001485"/>
              <a:gd name="connsiteX1-11" fmla="*/ 0 w 478971"/>
              <a:gd name="connsiteY1-12" fmla="*/ 0 h 1001485"/>
              <a:gd name="connsiteX0-13" fmla="*/ 478971 w 478971"/>
              <a:gd name="connsiteY0-14" fmla="*/ 1001485 h 1001485"/>
              <a:gd name="connsiteX1-15" fmla="*/ 0 w 478971"/>
              <a:gd name="connsiteY1-16" fmla="*/ 0 h 1001485"/>
              <a:gd name="connsiteX0-17" fmla="*/ 478971 w 478971"/>
              <a:gd name="connsiteY0-18" fmla="*/ 1001485 h 1001485"/>
              <a:gd name="connsiteX1-19" fmla="*/ 0 w 478971"/>
              <a:gd name="connsiteY1-20" fmla="*/ 0 h 1001485"/>
              <a:gd name="connsiteX0-21" fmla="*/ 517007 w 517007"/>
              <a:gd name="connsiteY0-22" fmla="*/ 999355 h 999355"/>
              <a:gd name="connsiteX1-23" fmla="*/ 0 w 517007"/>
              <a:gd name="connsiteY1-24" fmla="*/ 0 h 999355"/>
              <a:gd name="connsiteX0-25" fmla="*/ 549376 w 549376"/>
              <a:gd name="connsiteY0-26" fmla="*/ 1000147 h 1000147"/>
              <a:gd name="connsiteX1-27" fmla="*/ 0 w 549376"/>
              <a:gd name="connsiteY1-28" fmla="*/ 0 h 1000147"/>
              <a:gd name="connsiteX0-29" fmla="*/ 557783 w 557783"/>
              <a:gd name="connsiteY0-30" fmla="*/ 994467 h 994467"/>
              <a:gd name="connsiteX1-31" fmla="*/ 0 w 557783"/>
              <a:gd name="connsiteY1-32" fmla="*/ 0 h 994467"/>
              <a:gd name="connsiteX0-33" fmla="*/ 557783 w 557783"/>
              <a:gd name="connsiteY0-34" fmla="*/ 994467 h 994467"/>
              <a:gd name="connsiteX1-35" fmla="*/ 0 w 557783"/>
              <a:gd name="connsiteY1-36" fmla="*/ 0 h 994467"/>
              <a:gd name="connsiteX0-37" fmla="*/ 581991 w 581991"/>
              <a:gd name="connsiteY0-38" fmla="*/ 1086877 h 1086877"/>
              <a:gd name="connsiteX1-39" fmla="*/ 0 w 581991"/>
              <a:gd name="connsiteY1-40" fmla="*/ 0 h 1086877"/>
            </a:gdLst>
            <a:ahLst/>
            <a:cxnLst>
              <a:cxn ang="0">
                <a:pos x="connsiteX0-1" y="connsiteY0-2"/>
              </a:cxn>
              <a:cxn ang="0">
                <a:pos x="connsiteX1-3" y="connsiteY1-4"/>
              </a:cxn>
            </a:cxnLst>
            <a:rect l="l" t="t" r="r" b="b"/>
            <a:pathLst>
              <a:path w="581991" h="1086877">
                <a:moveTo>
                  <a:pt x="581991" y="1086877"/>
                </a:moveTo>
                <a:cubicBezTo>
                  <a:pt x="479829" y="702657"/>
                  <a:pt x="273957" y="288108"/>
                  <a:pt x="0" y="0"/>
                </a:cubicBezTo>
              </a:path>
            </a:pathLst>
          </a:custGeom>
          <a:noFill/>
          <a:ln>
            <a:solidFill>
              <a:srgbClr val="E6E6E6"/>
            </a:solidFill>
            <a:tailEnd type="non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11"/>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28" name="文本框 27"/>
          <p:cNvSpPr txBox="1"/>
          <p:nvPr/>
        </p:nvSpPr>
        <p:spPr>
          <a:xfrm flipH="1">
            <a:off x="8834755" y="2860675"/>
            <a:ext cx="2572385" cy="441960"/>
          </a:xfrm>
          <a:prstGeom prst="rect">
            <a:avLst/>
          </a:prstGeom>
          <a:noFill/>
        </p:spPr>
        <p:txBody>
          <a:bodyPr wrap="square" lIns="0" tIns="0" rIns="0" bIns="0" rtlCol="0">
            <a:spAutoFit/>
          </a:bodyPr>
          <a:lstStyle/>
          <a:p>
            <a:pPr algn="just">
              <a:lnSpc>
                <a:spcPct val="12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自建物流管理系统，开始支撑各项创新物流服务业务。</a:t>
            </a:r>
            <a:r>
              <a:rPr lang="en-US" altLang="zh-CN" sz="1200" dirty="0">
                <a:solidFill>
                  <a:srgbClr val="383838"/>
                </a:solidFill>
                <a:latin typeface="微软雅黑"/>
                <a:ea typeface="微软雅黑"/>
                <a:cs typeface="微软雅黑"/>
              </a:rPr>
              <a:t>211</a:t>
            </a:r>
            <a:r>
              <a:rPr lang="zh-CN" altLang="en-US" sz="1200" dirty="0">
                <a:solidFill>
                  <a:srgbClr val="383838"/>
                </a:solidFill>
                <a:latin typeface="微软雅黑"/>
                <a:ea typeface="微软雅黑"/>
                <a:cs typeface="微软雅黑"/>
              </a:rPr>
              <a:t>限时达、夜间送</a:t>
            </a:r>
            <a:endParaRPr lang="zh-CN" altLang="en-US" sz="1200" dirty="0">
              <a:solidFill>
                <a:srgbClr val="383838"/>
              </a:solidFill>
              <a:latin typeface="微软雅黑"/>
              <a:ea typeface="微软雅黑"/>
              <a:cs typeface="微软雅黑"/>
            </a:endParaRPr>
          </a:p>
        </p:txBody>
      </p:sp>
      <p:sp>
        <p:nvSpPr>
          <p:cNvPr id="29" name="文本框 28"/>
          <p:cNvSpPr txBox="1"/>
          <p:nvPr/>
        </p:nvSpPr>
        <p:spPr>
          <a:xfrm flipH="1">
            <a:off x="8947150" y="4240530"/>
            <a:ext cx="2572385" cy="441960"/>
          </a:xfrm>
          <a:prstGeom prst="rect">
            <a:avLst/>
          </a:prstGeom>
          <a:noFill/>
        </p:spPr>
        <p:txBody>
          <a:bodyPr wrap="square" lIns="0" tIns="0" rIns="0" bIns="0" rtlCol="0">
            <a:spAutoFit/>
          </a:bodyPr>
          <a:lstStyle/>
          <a:p>
            <a:pPr algn="just">
              <a:lnSpc>
                <a:spcPct val="12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物流系统全面升级，开始构建青龙</a:t>
            </a:r>
            <a:r>
              <a:rPr lang="en-US" altLang="zh-CN" sz="1200" dirty="0">
                <a:solidFill>
                  <a:srgbClr val="383838"/>
                </a:solidFill>
                <a:latin typeface="微软雅黑"/>
                <a:ea typeface="微软雅黑"/>
                <a:cs typeface="微软雅黑"/>
              </a:rPr>
              <a:t>1.0</a:t>
            </a:r>
            <a:r>
              <a:rPr lang="zh-CN" altLang="en-US" sz="1200" dirty="0">
                <a:solidFill>
                  <a:srgbClr val="383838"/>
                </a:solidFill>
                <a:latin typeface="微软雅黑"/>
                <a:ea typeface="微软雅黑"/>
                <a:cs typeface="微软雅黑"/>
              </a:rPr>
              <a:t>系统，并进行全国推广</a:t>
            </a:r>
            <a:endParaRPr lang="zh-CN" altLang="en-US" sz="1200" dirty="0">
              <a:solidFill>
                <a:srgbClr val="383838"/>
              </a:solidFill>
              <a:latin typeface="微软雅黑"/>
              <a:ea typeface="微软雅黑"/>
              <a:cs typeface="微软雅黑"/>
            </a:endParaRPr>
          </a:p>
        </p:txBody>
      </p:sp>
      <p:sp>
        <p:nvSpPr>
          <p:cNvPr id="30" name="文本框 29"/>
          <p:cNvSpPr txBox="1"/>
          <p:nvPr/>
        </p:nvSpPr>
        <p:spPr>
          <a:xfrm flipH="1">
            <a:off x="8947150" y="5634990"/>
            <a:ext cx="2572385" cy="220980"/>
          </a:xfrm>
          <a:prstGeom prst="rect">
            <a:avLst/>
          </a:prstGeom>
          <a:noFill/>
        </p:spPr>
        <p:txBody>
          <a:bodyPr wrap="square" lIns="0" tIns="0" rIns="0" bIns="0" rtlCol="0">
            <a:spAutoFit/>
          </a:bodyPr>
          <a:lstStyle/>
          <a:p>
            <a:pPr algn="just">
              <a:lnSpc>
                <a:spcPct val="12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根据不同需求场景采用分析维度不同</a:t>
            </a:r>
            <a:endParaRPr lang="zh-CN" altLang="en-US" sz="1200" dirty="0">
              <a:solidFill>
                <a:srgbClr val="383838"/>
              </a:solidFill>
              <a:latin typeface="微软雅黑"/>
              <a:ea typeface="微软雅黑"/>
              <a:cs typeface="微软雅黑"/>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任意多边形 10"/>
          <p:cNvSpPr/>
          <p:nvPr/>
        </p:nvSpPr>
        <p:spPr>
          <a:xfrm rot="5400000">
            <a:off x="694531" y="2101056"/>
            <a:ext cx="6495733" cy="415417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0230" h="6542">
                <a:moveTo>
                  <a:pt x="0" y="5218"/>
                </a:moveTo>
                <a:lnTo>
                  <a:pt x="4539" y="0"/>
                </a:lnTo>
                <a:lnTo>
                  <a:pt x="10230" y="6542"/>
                </a:lnTo>
                <a:lnTo>
                  <a:pt x="0" y="6542"/>
                </a:lnTo>
                <a:lnTo>
                  <a:pt x="0" y="5218"/>
                </a:lnTo>
                <a:close/>
              </a:path>
            </a:pathLst>
          </a:custGeom>
          <a:gradFill flip="none" rotWithShape="1">
            <a:gsLst>
              <a:gs pos="0">
                <a:srgbClr val="3368FF">
                  <a:alpha val="20000"/>
                </a:srgbClr>
              </a:gs>
              <a:gs pos="100000">
                <a:srgbClr val="3368FF">
                  <a:alpha val="0"/>
                </a:srgbClr>
              </a:gs>
            </a:gsLst>
            <a:lin ang="5400000" scaled="1"/>
            <a:tileRect/>
          </a:gradFill>
          <a:ln>
            <a:gradFill>
              <a:gsLst>
                <a:gs pos="0">
                  <a:srgbClr val="3368FF"/>
                </a:gs>
                <a:gs pos="61000">
                  <a:srgbClr val="3368FF">
                    <a:alpha val="0"/>
                  </a:srgbClr>
                </a:gs>
              </a:gsLst>
              <a:lin ang="5400000" scaled="0"/>
            </a:gra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私域运营策略模型</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7" name="椭圆 6"/>
          <p:cNvSpPr/>
          <p:nvPr/>
        </p:nvSpPr>
        <p:spPr>
          <a:xfrm>
            <a:off x="4419600" y="2446655"/>
            <a:ext cx="2900680" cy="2733040"/>
          </a:xfrm>
          <a:prstGeom prst="ellipse">
            <a:avLst/>
          </a:prstGeom>
          <a:noFill/>
          <a:ln w="9525">
            <a:gradFill>
              <a:gsLst>
                <a:gs pos="0">
                  <a:srgbClr val="3368FF">
                    <a:alpha val="30000"/>
                  </a:srgbClr>
                </a:gs>
                <a:gs pos="80000">
                  <a:srgbClr val="3368FF">
                    <a:alpha val="0"/>
                  </a:srgbClr>
                </a:gs>
                <a:gs pos="20000">
                  <a:srgbClr val="3368FF">
                    <a:alpha val="0"/>
                  </a:srgbClr>
                </a:gs>
                <a:gs pos="100000">
                  <a:srgbClr val="3368FF">
                    <a:alpha val="30000"/>
                  </a:srgbClr>
                </a:gs>
              </a:gsLst>
              <a:lin ang="5400000" scaled="1"/>
            </a:grad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8" name="椭圆 7"/>
          <p:cNvSpPr/>
          <p:nvPr/>
        </p:nvSpPr>
        <p:spPr>
          <a:xfrm>
            <a:off x="4570095" y="2588260"/>
            <a:ext cx="2599690" cy="2449195"/>
          </a:xfrm>
          <a:prstGeom prst="ellipse">
            <a:avLst/>
          </a:prstGeom>
          <a:solidFill>
            <a:srgbClr val="3368FF">
              <a:alpha val="2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9" name="任意多边形 8"/>
          <p:cNvSpPr/>
          <p:nvPr/>
        </p:nvSpPr>
        <p:spPr>
          <a:xfrm rot="16200000" flipH="1">
            <a:off x="4575016" y="2101056"/>
            <a:ext cx="6495733" cy="415417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0230" h="6542">
                <a:moveTo>
                  <a:pt x="0" y="5218"/>
                </a:moveTo>
                <a:lnTo>
                  <a:pt x="4539" y="0"/>
                </a:lnTo>
                <a:lnTo>
                  <a:pt x="10230" y="6542"/>
                </a:lnTo>
                <a:lnTo>
                  <a:pt x="0" y="6542"/>
                </a:lnTo>
                <a:lnTo>
                  <a:pt x="0" y="5218"/>
                </a:lnTo>
                <a:close/>
              </a:path>
            </a:pathLst>
          </a:custGeom>
          <a:gradFill flip="none" rotWithShape="1">
            <a:gsLst>
              <a:gs pos="0">
                <a:srgbClr val="3368FF">
                  <a:alpha val="20000"/>
                </a:srgbClr>
              </a:gs>
              <a:gs pos="100000">
                <a:srgbClr val="3368FF">
                  <a:alpha val="0"/>
                </a:srgbClr>
              </a:gs>
            </a:gsLst>
            <a:lin ang="5400000" scaled="1"/>
            <a:tileRect/>
          </a:gradFill>
          <a:ln>
            <a:gradFill>
              <a:gsLst>
                <a:gs pos="0">
                  <a:srgbClr val="3368FF"/>
                </a:gs>
                <a:gs pos="61000">
                  <a:srgbClr val="3368FF">
                    <a:alpha val="0"/>
                  </a:srgbClr>
                </a:gs>
              </a:gsLst>
              <a:lin ang="5400000" scaled="0"/>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3" name="椭圆 12"/>
          <p:cNvSpPr/>
          <p:nvPr/>
        </p:nvSpPr>
        <p:spPr>
          <a:xfrm>
            <a:off x="3497580" y="1577340"/>
            <a:ext cx="4744720" cy="4470400"/>
          </a:xfrm>
          <a:prstGeom prst="ellipse">
            <a:avLst/>
          </a:prstGeom>
          <a:noFill/>
          <a:ln w="31750">
            <a:solidFill>
              <a:srgbClr val="DCDCDC">
                <a:alpha val="50000"/>
              </a:srgbClr>
            </a:solidFill>
            <a:prstDash val="sysDot"/>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05" name="椭圆 104"/>
          <p:cNvSpPr>
            <a:spLocks noChangeAspect="1"/>
          </p:cNvSpPr>
          <p:nvPr/>
        </p:nvSpPr>
        <p:spPr>
          <a:xfrm>
            <a:off x="4084955" y="1459230"/>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0" name="文本框 19"/>
          <p:cNvSpPr txBox="1"/>
          <p:nvPr/>
        </p:nvSpPr>
        <p:spPr>
          <a:xfrm>
            <a:off x="4126865" y="1680845"/>
            <a:ext cx="751840" cy="306705"/>
          </a:xfrm>
          <a:prstGeom prst="rect">
            <a:avLst/>
          </a:prstGeom>
          <a:noFill/>
        </p:spPr>
        <p:txBody>
          <a:bodyPr wrap="square" rtlCol="0">
            <a:spAutoFit/>
          </a:bodyPr>
          <a:lstStyle/>
          <a:p>
            <a:pPr>
              <a:defRPr>
                <a:latin typeface="微软雅黑"/>
                <a:ea typeface="微软雅黑"/>
                <a:cs typeface="微软雅黑"/>
              </a:defRPr>
            </a:pPr>
            <a:r>
              <a:rPr lang="zh-CN" altLang="en-US" sz="1400" dirty="0">
                <a:solidFill>
                  <a:srgbClr val="383838"/>
                </a:solidFill>
                <a:latin typeface="微软雅黑"/>
                <a:ea typeface="微软雅黑"/>
                <a:cs typeface="微软雅黑"/>
              </a:rPr>
              <a:t>用户量</a:t>
            </a:r>
            <a:endParaRPr lang="zh-CN" altLang="en-US" sz="1400" dirty="0">
              <a:solidFill>
                <a:srgbClr val="383838"/>
              </a:solidFill>
              <a:latin typeface="微软雅黑"/>
              <a:ea typeface="微软雅黑"/>
              <a:cs typeface="微软雅黑"/>
            </a:endParaRPr>
          </a:p>
        </p:txBody>
      </p:sp>
      <p:grpSp>
        <p:nvGrpSpPr>
          <p:cNvPr id="2" name="组合 1"/>
          <p:cNvGrpSpPr/>
          <p:nvPr/>
        </p:nvGrpSpPr>
        <p:grpSpPr>
          <a:xfrm>
            <a:off x="8140065" y="3204210"/>
            <a:ext cx="808990" cy="52070"/>
            <a:chOff x="12819" y="5046"/>
            <a:chExt cx="1274" cy="82"/>
          </a:xfrm>
        </p:grpSpPr>
        <p:cxnSp>
          <p:nvCxnSpPr>
            <p:cNvPr id="36" name="直接连接符 35"/>
            <p:cNvCxnSpPr/>
            <p:nvPr/>
          </p:nvCxnSpPr>
          <p:spPr>
            <a:xfrm flipH="1">
              <a:off x="12907" y="5085"/>
              <a:ext cx="1186" cy="0"/>
            </a:xfrm>
            <a:prstGeom prst="line">
              <a:avLst/>
            </a:prstGeom>
            <a:no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cxnSp>
        <p:sp>
          <p:nvSpPr>
            <p:cNvPr id="37" name="椭圆 36"/>
            <p:cNvSpPr/>
            <p:nvPr/>
          </p:nvSpPr>
          <p:spPr>
            <a:xfrm flipH="1">
              <a:off x="12819" y="5046"/>
              <a:ext cx="88" cy="83"/>
            </a:xfrm>
            <a:prstGeom prst="ellipse">
              <a:avLst/>
            </a:prstGeom>
            <a:solidFill>
              <a:srgbClr val="FFFFFF"/>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grpSp>
      <p:grpSp>
        <p:nvGrpSpPr>
          <p:cNvPr id="31" name="组合 30"/>
          <p:cNvGrpSpPr/>
          <p:nvPr/>
        </p:nvGrpSpPr>
        <p:grpSpPr>
          <a:xfrm>
            <a:off x="8206105" y="3988435"/>
            <a:ext cx="808990" cy="52705"/>
            <a:chOff x="8154488" y="1820352"/>
            <a:chExt cx="843138" cy="58428"/>
          </a:xfrm>
        </p:grpSpPr>
        <p:cxnSp>
          <p:nvCxnSpPr>
            <p:cNvPr id="32" name="直接连接符 31"/>
            <p:cNvCxnSpPr/>
            <p:nvPr/>
          </p:nvCxnSpPr>
          <p:spPr>
            <a:xfrm flipH="1">
              <a:off x="8212916" y="1849566"/>
              <a:ext cx="784710" cy="0"/>
            </a:xfrm>
            <a:prstGeom prst="line">
              <a:avLst/>
            </a:prstGeom>
            <a:no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cxnSp>
        <p:sp>
          <p:nvSpPr>
            <p:cNvPr id="33" name="椭圆 32"/>
            <p:cNvSpPr/>
            <p:nvPr/>
          </p:nvSpPr>
          <p:spPr>
            <a:xfrm flipH="1">
              <a:off x="8154488" y="1820352"/>
              <a:ext cx="58428" cy="58428"/>
            </a:xfrm>
            <a:prstGeom prst="ellipse">
              <a:avLst/>
            </a:prstGeom>
            <a:solidFill>
              <a:srgbClr val="FFFFFF"/>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grpSp>
      <p:grpSp>
        <p:nvGrpSpPr>
          <p:cNvPr id="27" name="组合 26"/>
          <p:cNvGrpSpPr/>
          <p:nvPr/>
        </p:nvGrpSpPr>
        <p:grpSpPr>
          <a:xfrm>
            <a:off x="7919720" y="4850765"/>
            <a:ext cx="808990" cy="52705"/>
            <a:chOff x="8154488" y="2080235"/>
            <a:chExt cx="843138" cy="58428"/>
          </a:xfrm>
        </p:grpSpPr>
        <p:cxnSp>
          <p:nvCxnSpPr>
            <p:cNvPr id="28" name="直接连接符 27"/>
            <p:cNvCxnSpPr/>
            <p:nvPr/>
          </p:nvCxnSpPr>
          <p:spPr>
            <a:xfrm flipH="1">
              <a:off x="8212916" y="2109449"/>
              <a:ext cx="784710" cy="0"/>
            </a:xfrm>
            <a:prstGeom prst="line">
              <a:avLst/>
            </a:prstGeom>
            <a:no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cxnSp>
        <p:sp>
          <p:nvSpPr>
            <p:cNvPr id="29" name="椭圆 28"/>
            <p:cNvSpPr/>
            <p:nvPr/>
          </p:nvSpPr>
          <p:spPr>
            <a:xfrm flipH="1">
              <a:off x="8154488" y="2080235"/>
              <a:ext cx="58428" cy="58428"/>
            </a:xfrm>
            <a:prstGeom prst="ellipse">
              <a:avLst/>
            </a:prstGeom>
            <a:solidFill>
              <a:srgbClr val="FFFFFF"/>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grpSp>
      <p:grpSp>
        <p:nvGrpSpPr>
          <p:cNvPr id="17" name="组合 16"/>
          <p:cNvGrpSpPr/>
          <p:nvPr/>
        </p:nvGrpSpPr>
        <p:grpSpPr>
          <a:xfrm flipH="1">
            <a:off x="2823845" y="3151505"/>
            <a:ext cx="808990" cy="52705"/>
            <a:chOff x="8154488" y="2080235"/>
            <a:chExt cx="843138" cy="58428"/>
          </a:xfrm>
        </p:grpSpPr>
        <p:cxnSp>
          <p:nvCxnSpPr>
            <p:cNvPr id="21" name="直接连接符 20"/>
            <p:cNvCxnSpPr/>
            <p:nvPr/>
          </p:nvCxnSpPr>
          <p:spPr>
            <a:xfrm flipH="1">
              <a:off x="8212916" y="2109449"/>
              <a:ext cx="784710" cy="0"/>
            </a:xfrm>
            <a:prstGeom prst="line">
              <a:avLst/>
            </a:prstGeom>
            <a:no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cxnSp>
        <p:sp>
          <p:nvSpPr>
            <p:cNvPr id="67" name="椭圆 66"/>
            <p:cNvSpPr/>
            <p:nvPr/>
          </p:nvSpPr>
          <p:spPr>
            <a:xfrm flipH="1">
              <a:off x="8154488" y="2080235"/>
              <a:ext cx="58428" cy="58428"/>
            </a:xfrm>
            <a:prstGeom prst="ellipse">
              <a:avLst/>
            </a:prstGeom>
            <a:solidFill>
              <a:srgbClr val="FFFFFF"/>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solidFill>
                    <a:srgbClr val="FFFFFF"/>
                  </a:solidFill>
                  <a:latin typeface="微软雅黑"/>
                  <a:ea typeface="微软雅黑"/>
                  <a:cs typeface="微软雅黑"/>
                </a:defRPr>
              </a:pPr>
              <a:endParaRPr lang="zh-CN" altLang="en-US" sz="1690">
                <a:solidFill>
                  <a:srgbClr val="FFFFFF"/>
                </a:solidFill>
                <a:latin typeface="微软雅黑"/>
                <a:ea typeface="微软雅黑"/>
                <a:cs typeface="微软雅黑"/>
              </a:endParaRPr>
            </a:p>
          </p:txBody>
        </p:sp>
      </p:grpSp>
      <p:grpSp>
        <p:nvGrpSpPr>
          <p:cNvPr id="24" name="组合 23"/>
          <p:cNvGrpSpPr/>
          <p:nvPr/>
        </p:nvGrpSpPr>
        <p:grpSpPr>
          <a:xfrm flipH="1">
            <a:off x="2718435" y="3717925"/>
            <a:ext cx="808990" cy="52705"/>
            <a:chOff x="8154488" y="2080235"/>
            <a:chExt cx="843138" cy="58428"/>
          </a:xfrm>
        </p:grpSpPr>
        <p:cxnSp>
          <p:nvCxnSpPr>
            <p:cNvPr id="30" name="直接连接符 29"/>
            <p:cNvCxnSpPr/>
            <p:nvPr/>
          </p:nvCxnSpPr>
          <p:spPr>
            <a:xfrm flipH="1">
              <a:off x="8212916" y="2109449"/>
              <a:ext cx="784710" cy="0"/>
            </a:xfrm>
            <a:prstGeom prst="line">
              <a:avLst/>
            </a:prstGeom>
            <a:no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cxnSp>
        <p:sp>
          <p:nvSpPr>
            <p:cNvPr id="34" name="椭圆 33"/>
            <p:cNvSpPr/>
            <p:nvPr/>
          </p:nvSpPr>
          <p:spPr>
            <a:xfrm flipH="1">
              <a:off x="8154488" y="2080235"/>
              <a:ext cx="58428" cy="58428"/>
            </a:xfrm>
            <a:prstGeom prst="ellipse">
              <a:avLst/>
            </a:prstGeom>
            <a:solidFill>
              <a:srgbClr val="FFFFFF"/>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solidFill>
                    <a:srgbClr val="FFFFFF"/>
                  </a:solidFill>
                  <a:latin typeface="微软雅黑"/>
                  <a:ea typeface="微软雅黑"/>
                  <a:cs typeface="微软雅黑"/>
                </a:defRPr>
              </a:pPr>
              <a:endParaRPr lang="zh-CN" altLang="en-US" sz="1690">
                <a:solidFill>
                  <a:srgbClr val="FFFFFF"/>
                </a:solidFill>
                <a:latin typeface="微软雅黑"/>
                <a:ea typeface="微软雅黑"/>
                <a:cs typeface="微软雅黑"/>
              </a:endParaRPr>
            </a:p>
          </p:txBody>
        </p:sp>
      </p:grpSp>
      <p:grpSp>
        <p:nvGrpSpPr>
          <p:cNvPr id="38" name="组合 37"/>
          <p:cNvGrpSpPr/>
          <p:nvPr/>
        </p:nvGrpSpPr>
        <p:grpSpPr>
          <a:xfrm flipH="1">
            <a:off x="2776220" y="4284345"/>
            <a:ext cx="808990" cy="52705"/>
            <a:chOff x="8154488" y="2080235"/>
            <a:chExt cx="843138" cy="58428"/>
          </a:xfrm>
        </p:grpSpPr>
        <p:cxnSp>
          <p:nvCxnSpPr>
            <p:cNvPr id="39" name="直接连接符 38"/>
            <p:cNvCxnSpPr/>
            <p:nvPr/>
          </p:nvCxnSpPr>
          <p:spPr>
            <a:xfrm flipH="1">
              <a:off x="8212916" y="2109449"/>
              <a:ext cx="784710" cy="0"/>
            </a:xfrm>
            <a:prstGeom prst="line">
              <a:avLst/>
            </a:prstGeom>
            <a:no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cxnSp>
        <p:sp>
          <p:nvSpPr>
            <p:cNvPr id="40" name="椭圆 39"/>
            <p:cNvSpPr/>
            <p:nvPr/>
          </p:nvSpPr>
          <p:spPr>
            <a:xfrm flipH="1">
              <a:off x="8154488" y="2080235"/>
              <a:ext cx="58428" cy="58428"/>
            </a:xfrm>
            <a:prstGeom prst="ellipse">
              <a:avLst/>
            </a:prstGeom>
            <a:solidFill>
              <a:srgbClr val="FFFFFF"/>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grpSp>
      <p:grpSp>
        <p:nvGrpSpPr>
          <p:cNvPr id="41" name="组合 40"/>
          <p:cNvGrpSpPr/>
          <p:nvPr/>
        </p:nvGrpSpPr>
        <p:grpSpPr>
          <a:xfrm flipH="1">
            <a:off x="3011805" y="4850765"/>
            <a:ext cx="808990" cy="52705"/>
            <a:chOff x="8154488" y="2080235"/>
            <a:chExt cx="843138" cy="58428"/>
          </a:xfrm>
        </p:grpSpPr>
        <p:cxnSp>
          <p:nvCxnSpPr>
            <p:cNvPr id="42" name="直接连接符 41"/>
            <p:cNvCxnSpPr/>
            <p:nvPr/>
          </p:nvCxnSpPr>
          <p:spPr>
            <a:xfrm flipH="1">
              <a:off x="8212916" y="2109449"/>
              <a:ext cx="784710" cy="0"/>
            </a:xfrm>
            <a:prstGeom prst="line">
              <a:avLst/>
            </a:prstGeom>
            <a:no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cxnSp>
        <p:sp>
          <p:nvSpPr>
            <p:cNvPr id="43" name="椭圆 42"/>
            <p:cNvSpPr/>
            <p:nvPr/>
          </p:nvSpPr>
          <p:spPr>
            <a:xfrm flipH="1">
              <a:off x="8154488" y="2080235"/>
              <a:ext cx="58428" cy="58428"/>
            </a:xfrm>
            <a:prstGeom prst="ellipse">
              <a:avLst/>
            </a:prstGeom>
            <a:solidFill>
              <a:srgbClr val="FFFFFF"/>
            </a:solidFill>
            <a:ln w="12700">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solidFill>
                    <a:srgbClr val="FFFFFF"/>
                  </a:solidFill>
                  <a:latin typeface="微软雅黑"/>
                  <a:ea typeface="微软雅黑"/>
                  <a:cs typeface="微软雅黑"/>
                </a:defRPr>
              </a:pPr>
              <a:endParaRPr lang="zh-CN" altLang="en-US" sz="1690">
                <a:solidFill>
                  <a:srgbClr val="FFFFFF"/>
                </a:solidFill>
                <a:latin typeface="微软雅黑"/>
                <a:ea typeface="微软雅黑"/>
                <a:cs typeface="微软雅黑"/>
              </a:endParaRPr>
            </a:p>
          </p:txBody>
        </p:sp>
      </p:grpSp>
      <p:sp>
        <p:nvSpPr>
          <p:cNvPr id="44" name="椭圆 43"/>
          <p:cNvSpPr/>
          <p:nvPr/>
        </p:nvSpPr>
        <p:spPr>
          <a:xfrm>
            <a:off x="5074285" y="3054350"/>
            <a:ext cx="1590675" cy="1498600"/>
          </a:xfrm>
          <a:prstGeom prst="ellipse">
            <a:avLst/>
          </a:prstGeom>
          <a:gradFill>
            <a:gsLst>
              <a:gs pos="0">
                <a:srgbClr val="3368FF"/>
              </a:gs>
              <a:gs pos="100000">
                <a:srgbClr val="B3D4FE"/>
              </a:gs>
            </a:gsLst>
            <a:lin ang="5400000" scaled="0"/>
          </a:gra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51" name="组合 50"/>
          <p:cNvGrpSpPr/>
          <p:nvPr/>
        </p:nvGrpSpPr>
        <p:grpSpPr>
          <a:xfrm>
            <a:off x="6618605" y="3373755"/>
            <a:ext cx="932180" cy="878205"/>
            <a:chOff x="6897322" y="2943225"/>
            <a:chExt cx="971550" cy="971550"/>
          </a:xfrm>
          <a:solidFill>
            <a:srgbClr val="668EFF"/>
          </a:solidFill>
        </p:grpSpPr>
        <p:sp>
          <p:nvSpPr>
            <p:cNvPr id="83" name="椭圆 82"/>
            <p:cNvSpPr/>
            <p:nvPr/>
          </p:nvSpPr>
          <p:spPr>
            <a:xfrm>
              <a:off x="6897322" y="2943225"/>
              <a:ext cx="971550" cy="971550"/>
            </a:xfrm>
            <a:prstGeom prst="ellipse">
              <a:avLst/>
            </a:prstGeom>
            <a:solidFill>
              <a:srgbClr val="FFFFFF"/>
            </a:solidFill>
            <a:ln w="15875">
              <a:solidFill>
                <a:srgbClr val="0042FF"/>
              </a:solidFill>
            </a:ln>
            <a:effectLst>
              <a:outerShdw blurRad="444500" dist="2540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84" name="文本框 83"/>
            <p:cNvSpPr txBox="1"/>
            <p:nvPr/>
          </p:nvSpPr>
          <p:spPr>
            <a:xfrm>
              <a:off x="7053512" y="3086534"/>
              <a:ext cx="662481" cy="672287"/>
            </a:xfrm>
            <a:prstGeom prst="rect">
              <a:avLst/>
            </a:prstGeom>
            <a:noFill/>
            <a:extLst>
              <a:ext uri="{909E8E84-426E-40DD-AFC4-6F175D3DCCD1}">
                <a14:hiddenFill xmlns:a14="http://schemas.microsoft.com/office/drawing/2010/main">
                  <a:solidFill>
                    <a:srgbClr val="FFFFFF"/>
                  </a:solidFill>
                </a14:hiddenFill>
              </a:ext>
            </a:extLst>
          </p:spPr>
          <p:txBody>
            <a:bodyPr wrap="square" rtlCol="0">
              <a:spAutoFit/>
            </a:bodyPr>
            <a:lstStyle/>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私域</a:t>
              </a:r>
              <a:endParaRPr lang="en-US" altLang="zh-CN" sz="1400" b="1" dirty="0">
                <a:solidFill>
                  <a:srgbClr val="0042FF"/>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业务</a:t>
              </a:r>
              <a:endParaRPr lang="zh-CN" altLang="en-US" sz="1400" b="1" dirty="0">
                <a:solidFill>
                  <a:srgbClr val="0042FF"/>
                </a:solidFill>
                <a:latin typeface="微软雅黑"/>
                <a:ea typeface="微软雅黑"/>
                <a:cs typeface="微软雅黑"/>
              </a:endParaRPr>
            </a:p>
          </p:txBody>
        </p:sp>
      </p:grpSp>
      <p:grpSp>
        <p:nvGrpSpPr>
          <p:cNvPr id="85" name="组合 84"/>
          <p:cNvGrpSpPr/>
          <p:nvPr/>
        </p:nvGrpSpPr>
        <p:grpSpPr>
          <a:xfrm>
            <a:off x="4189095" y="3373755"/>
            <a:ext cx="932180" cy="878205"/>
            <a:chOff x="4323128" y="2943225"/>
            <a:chExt cx="971550" cy="971550"/>
          </a:xfrm>
          <a:solidFill>
            <a:srgbClr val="FFFFFF"/>
          </a:solidFill>
        </p:grpSpPr>
        <p:sp>
          <p:nvSpPr>
            <p:cNvPr id="86" name="椭圆 85"/>
            <p:cNvSpPr/>
            <p:nvPr/>
          </p:nvSpPr>
          <p:spPr>
            <a:xfrm>
              <a:off x="4323128" y="2943225"/>
              <a:ext cx="971550" cy="971550"/>
            </a:xfrm>
            <a:prstGeom prst="ellipse">
              <a:avLst/>
            </a:prstGeom>
            <a:grpFill/>
            <a:ln w="15875">
              <a:solidFill>
                <a:srgbClr val="0042FF"/>
              </a:solidFill>
            </a:ln>
            <a:effectLst>
              <a:outerShdw blurRad="444500" dist="2540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87" name="文本框 86"/>
            <p:cNvSpPr txBox="1"/>
            <p:nvPr/>
          </p:nvSpPr>
          <p:spPr>
            <a:xfrm>
              <a:off x="4430343" y="3092857"/>
              <a:ext cx="757121" cy="672287"/>
            </a:xfrm>
            <a:prstGeom prst="rect">
              <a:avLst/>
            </a:prstGeom>
            <a:noFill/>
            <a:ln>
              <a:noFill/>
            </a:ln>
            <a:extLst>
              <a:ext uri="{909E8E84-426E-40DD-AFC4-6F175D3DCCD1}">
                <a14:hiddenFill xmlns:a14="http://schemas.microsoft.com/office/drawing/2010/main">
                  <a:grpFill/>
                </a14:hiddenFill>
              </a:ext>
            </a:extLst>
          </p:spPr>
          <p:txBody>
            <a:bodyPr wrap="square" rtlCol="0">
              <a:spAutoFit/>
            </a:bodyPr>
            <a:lstStyle/>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用户</a:t>
              </a:r>
              <a:endParaRPr lang="en-US" altLang="zh-CN" sz="1400" b="1" dirty="0">
                <a:solidFill>
                  <a:srgbClr val="0042FF"/>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链路</a:t>
              </a:r>
              <a:endParaRPr lang="zh-CN" altLang="en-US" sz="1400" b="1" dirty="0">
                <a:solidFill>
                  <a:srgbClr val="0042FF"/>
                </a:solidFill>
                <a:latin typeface="微软雅黑"/>
                <a:ea typeface="微软雅黑"/>
                <a:cs typeface="微软雅黑"/>
              </a:endParaRPr>
            </a:p>
          </p:txBody>
        </p:sp>
      </p:grpSp>
      <p:sp>
        <p:nvSpPr>
          <p:cNvPr id="89" name="椭圆 88"/>
          <p:cNvSpPr/>
          <p:nvPr/>
        </p:nvSpPr>
        <p:spPr>
          <a:xfrm>
            <a:off x="5403850" y="4462145"/>
            <a:ext cx="932180" cy="878205"/>
          </a:xfrm>
          <a:prstGeom prst="ellipse">
            <a:avLst/>
          </a:prstGeom>
          <a:solidFill>
            <a:srgbClr val="FFFFFF"/>
          </a:solidFill>
          <a:ln w="15875">
            <a:solidFill>
              <a:srgbClr val="3368FF"/>
            </a:solidFill>
          </a:ln>
          <a:effectLst>
            <a:outerShdw blurRad="444500" dist="254000" dir="5400000" algn="t" rotWithShape="0">
              <a:srgbClr val="383838">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90" name="文本框 89"/>
          <p:cNvSpPr txBox="1"/>
          <p:nvPr/>
        </p:nvSpPr>
        <p:spPr>
          <a:xfrm>
            <a:off x="5590223" y="4597400"/>
            <a:ext cx="559435" cy="607695"/>
          </a:xfrm>
          <a:prstGeom prst="rect">
            <a:avLst/>
          </a:prstGeom>
          <a:noFill/>
          <a:extLst>
            <a:ext uri="{909E8E84-426E-40DD-AFC4-6F175D3DCCD1}">
              <a14:hiddenFill xmlns:a14="http://schemas.microsoft.com/office/drawing/2010/main">
                <a:grpFill/>
              </a14:hiddenFill>
            </a:ext>
          </a:extLst>
        </p:spPr>
        <p:txBody>
          <a:bodyPr wrap="square" rtlCol="0">
            <a:spAutoFit/>
          </a:bodyPr>
          <a:lstStyle/>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流量</a:t>
            </a:r>
            <a:endParaRPr lang="en-US" altLang="zh-CN" sz="1400" b="1" dirty="0">
              <a:solidFill>
                <a:srgbClr val="0042FF"/>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地图</a:t>
            </a:r>
            <a:endParaRPr lang="zh-CN" altLang="en-US" sz="1400" b="1" dirty="0">
              <a:solidFill>
                <a:srgbClr val="0042FF"/>
              </a:solidFill>
              <a:latin typeface="微软雅黑"/>
              <a:ea typeface="微软雅黑"/>
              <a:cs typeface="微软雅黑"/>
            </a:endParaRPr>
          </a:p>
        </p:txBody>
      </p:sp>
      <p:grpSp>
        <p:nvGrpSpPr>
          <p:cNvPr id="91" name="组合 90"/>
          <p:cNvGrpSpPr/>
          <p:nvPr/>
        </p:nvGrpSpPr>
        <p:grpSpPr>
          <a:xfrm>
            <a:off x="5403850" y="2285365"/>
            <a:ext cx="932180" cy="878205"/>
            <a:chOff x="5610225" y="1717765"/>
            <a:chExt cx="971550" cy="971550"/>
          </a:xfrm>
          <a:solidFill>
            <a:srgbClr val="FFFFFF"/>
          </a:solidFill>
        </p:grpSpPr>
        <p:sp>
          <p:nvSpPr>
            <p:cNvPr id="92" name="椭圆 91"/>
            <p:cNvSpPr/>
            <p:nvPr/>
          </p:nvSpPr>
          <p:spPr>
            <a:xfrm>
              <a:off x="5610225" y="1717765"/>
              <a:ext cx="971550" cy="971550"/>
            </a:xfrm>
            <a:prstGeom prst="ellipse">
              <a:avLst/>
            </a:prstGeom>
            <a:grpFill/>
            <a:ln w="15875">
              <a:solidFill>
                <a:srgbClr val="3368FF"/>
              </a:solidFill>
            </a:ln>
            <a:effectLst>
              <a:outerShdw blurRad="444500" dist="254000" dir="5400000" algn="t" rotWithShape="0">
                <a:srgbClr val="383838">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93" name="文本框 92"/>
            <p:cNvSpPr txBox="1"/>
            <p:nvPr/>
          </p:nvSpPr>
          <p:spPr>
            <a:xfrm>
              <a:off x="5743582" y="1867397"/>
              <a:ext cx="704837" cy="672287"/>
            </a:xfrm>
            <a:prstGeom prst="rect">
              <a:avLst/>
            </a:prstGeom>
            <a:noFill/>
            <a:ln>
              <a:noFill/>
            </a:ln>
            <a:extLst>
              <a:ext uri="{909E8E84-426E-40DD-AFC4-6F175D3DCCD1}">
                <a14:hiddenFill xmlns:a14="http://schemas.microsoft.com/office/drawing/2010/main">
                  <a:grpFill/>
                </a14:hiddenFill>
              </a:ext>
            </a:extLst>
          </p:spPr>
          <p:txBody>
            <a:bodyPr wrap="square" rtlCol="0">
              <a:spAutoFit/>
            </a:bodyPr>
            <a:lstStyle/>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关键</a:t>
              </a:r>
              <a:endParaRPr lang="en-US" altLang="zh-CN" sz="1400" b="1" dirty="0">
                <a:solidFill>
                  <a:srgbClr val="0042FF"/>
                </a:solidFill>
                <a:latin typeface="微软雅黑"/>
                <a:ea typeface="微软雅黑"/>
                <a:cs typeface="微软雅黑"/>
              </a:endParaRPr>
            </a:p>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指标</a:t>
              </a:r>
              <a:endParaRPr lang="zh-CN" altLang="en-US" sz="1400" b="1" dirty="0">
                <a:solidFill>
                  <a:srgbClr val="0042FF"/>
                </a:solidFill>
                <a:latin typeface="微软雅黑"/>
                <a:ea typeface="微软雅黑"/>
                <a:cs typeface="微软雅黑"/>
              </a:endParaRPr>
            </a:p>
          </p:txBody>
        </p:sp>
      </p:grpSp>
      <p:sp>
        <p:nvSpPr>
          <p:cNvPr id="100" name="矩形: 圆角 99"/>
          <p:cNvSpPr/>
          <p:nvPr/>
        </p:nvSpPr>
        <p:spPr>
          <a:xfrm>
            <a:off x="1836420" y="2985770"/>
            <a:ext cx="1106805" cy="387985"/>
          </a:xfrm>
          <a:prstGeom prst="roundRect">
            <a:avLst/>
          </a:prstGeom>
          <a:gradFill>
            <a:gsLst>
              <a:gs pos="86000">
                <a:srgbClr val="3368FF"/>
              </a:gs>
              <a:gs pos="0">
                <a:srgbClr val="E6E6E6"/>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02" name="矩形: 圆角 101"/>
          <p:cNvSpPr/>
          <p:nvPr/>
        </p:nvSpPr>
        <p:spPr>
          <a:xfrm>
            <a:off x="1666240" y="4130993"/>
            <a:ext cx="1106805" cy="387985"/>
          </a:xfrm>
          <a:prstGeom prst="roundRect">
            <a:avLst/>
          </a:prstGeom>
          <a:gradFill>
            <a:gsLst>
              <a:gs pos="86000">
                <a:srgbClr val="3368FF"/>
              </a:gs>
              <a:gs pos="0">
                <a:srgbClr val="E6E6E6"/>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01" name="矩形: 圆角 100"/>
          <p:cNvSpPr/>
          <p:nvPr/>
        </p:nvSpPr>
        <p:spPr>
          <a:xfrm>
            <a:off x="1692910" y="3557588"/>
            <a:ext cx="1106805" cy="387985"/>
          </a:xfrm>
          <a:prstGeom prst="roundRect">
            <a:avLst/>
          </a:prstGeom>
          <a:gradFill>
            <a:gsLst>
              <a:gs pos="86000">
                <a:srgbClr val="3368FF"/>
              </a:gs>
              <a:gs pos="0">
                <a:srgbClr val="E6E6E6"/>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03" name="矩形: 圆角 102"/>
          <p:cNvSpPr/>
          <p:nvPr/>
        </p:nvSpPr>
        <p:spPr>
          <a:xfrm>
            <a:off x="1977390" y="4720590"/>
            <a:ext cx="1106805" cy="387985"/>
          </a:xfrm>
          <a:prstGeom prst="roundRect">
            <a:avLst/>
          </a:prstGeom>
          <a:gradFill>
            <a:gsLst>
              <a:gs pos="86000">
                <a:srgbClr val="3368FF"/>
              </a:gs>
              <a:gs pos="0">
                <a:srgbClr val="E6E6E6"/>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06" name="椭圆 105"/>
          <p:cNvSpPr>
            <a:spLocks noChangeAspect="1"/>
          </p:cNvSpPr>
          <p:nvPr/>
        </p:nvSpPr>
        <p:spPr>
          <a:xfrm>
            <a:off x="4996180" y="995045"/>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07" name="文本框 106"/>
          <p:cNvSpPr txBox="1"/>
          <p:nvPr/>
        </p:nvSpPr>
        <p:spPr>
          <a:xfrm>
            <a:off x="5095875" y="1108393"/>
            <a:ext cx="594995" cy="521970"/>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购买</a:t>
            </a:r>
            <a:endParaRPr lang="en-US" altLang="zh-CN" sz="14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转化</a:t>
            </a:r>
            <a:endParaRPr lang="zh-CN" altLang="en-US" sz="1400" dirty="0">
              <a:solidFill>
                <a:srgbClr val="383838"/>
              </a:solidFill>
              <a:latin typeface="微软雅黑"/>
              <a:ea typeface="微软雅黑"/>
              <a:cs typeface="微软雅黑"/>
            </a:endParaRPr>
          </a:p>
        </p:txBody>
      </p:sp>
      <p:sp>
        <p:nvSpPr>
          <p:cNvPr id="108" name="椭圆 107"/>
          <p:cNvSpPr>
            <a:spLocks noChangeAspect="1"/>
          </p:cNvSpPr>
          <p:nvPr/>
        </p:nvSpPr>
        <p:spPr>
          <a:xfrm>
            <a:off x="6013768" y="1043940"/>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09" name="文本框 108"/>
          <p:cNvSpPr txBox="1"/>
          <p:nvPr/>
        </p:nvSpPr>
        <p:spPr>
          <a:xfrm>
            <a:off x="6044248" y="1264920"/>
            <a:ext cx="733425" cy="306705"/>
          </a:xfrm>
          <a:prstGeom prst="rect">
            <a:avLst/>
          </a:prstGeom>
          <a:noFill/>
        </p:spPr>
        <p:txBody>
          <a:bodyPr wrap="square" rtlCol="0">
            <a:spAutoFit/>
          </a:bodyPr>
          <a:lstStyle/>
          <a:p>
            <a:pPr>
              <a:defRPr>
                <a:latin typeface="微软雅黑"/>
                <a:ea typeface="微软雅黑"/>
                <a:cs typeface="微软雅黑"/>
              </a:defRPr>
            </a:pPr>
            <a:r>
              <a:rPr lang="zh-CN" altLang="en-US" sz="1400" dirty="0">
                <a:solidFill>
                  <a:srgbClr val="383838"/>
                </a:solidFill>
                <a:latin typeface="微软雅黑"/>
                <a:ea typeface="微软雅黑"/>
                <a:cs typeface="微软雅黑"/>
              </a:rPr>
              <a:t>客单价</a:t>
            </a:r>
            <a:endParaRPr lang="zh-CN" altLang="en-US" sz="1400" dirty="0">
              <a:solidFill>
                <a:srgbClr val="383838"/>
              </a:solidFill>
              <a:latin typeface="微软雅黑"/>
              <a:ea typeface="微软雅黑"/>
              <a:cs typeface="微软雅黑"/>
            </a:endParaRPr>
          </a:p>
        </p:txBody>
      </p:sp>
      <p:sp>
        <p:nvSpPr>
          <p:cNvPr id="110" name="椭圆 109"/>
          <p:cNvSpPr>
            <a:spLocks noChangeAspect="1"/>
          </p:cNvSpPr>
          <p:nvPr/>
        </p:nvSpPr>
        <p:spPr>
          <a:xfrm>
            <a:off x="6886575" y="1487805"/>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1" name="文本框 110"/>
          <p:cNvSpPr txBox="1"/>
          <p:nvPr/>
        </p:nvSpPr>
        <p:spPr>
          <a:xfrm>
            <a:off x="6997383" y="1601153"/>
            <a:ext cx="572770" cy="521970"/>
          </a:xfrm>
          <a:prstGeom prst="rect">
            <a:avLst/>
          </a:prstGeom>
          <a:noFill/>
        </p:spPr>
        <p:txBody>
          <a:bodyPr wrap="square" rtlCol="0">
            <a:spAutoFit/>
          </a:bodyPr>
          <a:lstStyle/>
          <a:p>
            <a:pPr>
              <a:defRPr>
                <a:latin typeface="微软雅黑"/>
                <a:ea typeface="微软雅黑"/>
                <a:cs typeface="微软雅黑"/>
              </a:defRPr>
            </a:pPr>
            <a:r>
              <a:rPr lang="zh-CN" altLang="en-US" sz="1400" dirty="0">
                <a:solidFill>
                  <a:srgbClr val="383838"/>
                </a:solidFill>
                <a:latin typeface="微软雅黑"/>
                <a:ea typeface="微软雅黑"/>
                <a:cs typeface="微软雅黑"/>
              </a:rPr>
              <a:t>复购</a:t>
            </a:r>
            <a:endParaRPr lang="en-US" altLang="zh-CN" sz="1400" dirty="0">
              <a:solidFill>
                <a:srgbClr val="383838"/>
              </a:solidFill>
              <a:latin typeface="微软雅黑"/>
              <a:ea typeface="微软雅黑"/>
              <a:cs typeface="微软雅黑"/>
            </a:endParaRPr>
          </a:p>
          <a:p>
            <a:pPr>
              <a:defRPr>
                <a:latin typeface="微软雅黑"/>
                <a:ea typeface="微软雅黑"/>
                <a:cs typeface="微软雅黑"/>
              </a:defRPr>
            </a:pPr>
            <a:r>
              <a:rPr lang="zh-CN" altLang="en-US" sz="1400" dirty="0">
                <a:solidFill>
                  <a:srgbClr val="383838"/>
                </a:solidFill>
                <a:latin typeface="微软雅黑"/>
                <a:ea typeface="微软雅黑"/>
                <a:cs typeface="微软雅黑"/>
              </a:rPr>
              <a:t>次数</a:t>
            </a:r>
            <a:endParaRPr lang="zh-CN" altLang="en-US" sz="1400" dirty="0">
              <a:solidFill>
                <a:srgbClr val="383838"/>
              </a:solidFill>
              <a:latin typeface="微软雅黑"/>
              <a:ea typeface="微软雅黑"/>
              <a:cs typeface="微软雅黑"/>
            </a:endParaRPr>
          </a:p>
        </p:txBody>
      </p:sp>
      <p:sp>
        <p:nvSpPr>
          <p:cNvPr id="118" name="椭圆 117"/>
          <p:cNvSpPr>
            <a:spLocks noChangeAspect="1"/>
          </p:cNvSpPr>
          <p:nvPr/>
        </p:nvSpPr>
        <p:spPr>
          <a:xfrm>
            <a:off x="6806565" y="5584825"/>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9" name="文本框 118"/>
          <p:cNvSpPr txBox="1"/>
          <p:nvPr/>
        </p:nvSpPr>
        <p:spPr>
          <a:xfrm>
            <a:off x="6837998" y="5698173"/>
            <a:ext cx="731520" cy="521970"/>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私域</a:t>
            </a:r>
            <a:endParaRPr lang="en-US" altLang="zh-CN" sz="14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复购场</a:t>
            </a:r>
            <a:endParaRPr lang="zh-CN" altLang="en-US" sz="1400" dirty="0">
              <a:solidFill>
                <a:srgbClr val="383838"/>
              </a:solidFill>
              <a:latin typeface="微软雅黑"/>
              <a:ea typeface="微软雅黑"/>
              <a:cs typeface="微软雅黑"/>
            </a:endParaRPr>
          </a:p>
        </p:txBody>
      </p:sp>
      <p:sp>
        <p:nvSpPr>
          <p:cNvPr id="121" name="椭圆 120"/>
          <p:cNvSpPr>
            <a:spLocks noChangeAspect="1"/>
          </p:cNvSpPr>
          <p:nvPr/>
        </p:nvSpPr>
        <p:spPr>
          <a:xfrm>
            <a:off x="5945823" y="5892800"/>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2" name="文本框 121"/>
          <p:cNvSpPr txBox="1"/>
          <p:nvPr/>
        </p:nvSpPr>
        <p:spPr>
          <a:xfrm>
            <a:off x="5966460" y="6006148"/>
            <a:ext cx="753110" cy="521970"/>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私域</a:t>
            </a:r>
            <a:endParaRPr lang="en-US" altLang="zh-CN" sz="14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留量池</a:t>
            </a:r>
            <a:endParaRPr lang="zh-CN" altLang="en-US" sz="1400" dirty="0">
              <a:solidFill>
                <a:srgbClr val="383838"/>
              </a:solidFill>
              <a:latin typeface="微软雅黑"/>
              <a:ea typeface="微软雅黑"/>
              <a:cs typeface="微软雅黑"/>
            </a:endParaRPr>
          </a:p>
        </p:txBody>
      </p:sp>
      <p:sp>
        <p:nvSpPr>
          <p:cNvPr id="124" name="椭圆 123"/>
          <p:cNvSpPr>
            <a:spLocks noChangeAspect="1"/>
          </p:cNvSpPr>
          <p:nvPr/>
        </p:nvSpPr>
        <p:spPr>
          <a:xfrm>
            <a:off x="4984750" y="5872480"/>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5" name="文本框 124"/>
          <p:cNvSpPr txBox="1"/>
          <p:nvPr/>
        </p:nvSpPr>
        <p:spPr>
          <a:xfrm>
            <a:off x="5015230" y="5985828"/>
            <a:ext cx="733425" cy="521970"/>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私域</a:t>
            </a:r>
            <a:endParaRPr lang="en-US" altLang="zh-CN" sz="14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转化场</a:t>
            </a:r>
            <a:endParaRPr lang="zh-CN" altLang="en-US" sz="1400" dirty="0">
              <a:solidFill>
                <a:srgbClr val="383838"/>
              </a:solidFill>
              <a:latin typeface="微软雅黑"/>
              <a:ea typeface="微软雅黑"/>
              <a:cs typeface="微软雅黑"/>
            </a:endParaRPr>
          </a:p>
        </p:txBody>
      </p:sp>
      <p:sp>
        <p:nvSpPr>
          <p:cNvPr id="127" name="椭圆 126"/>
          <p:cNvSpPr>
            <a:spLocks noChangeAspect="1"/>
          </p:cNvSpPr>
          <p:nvPr/>
        </p:nvSpPr>
        <p:spPr>
          <a:xfrm>
            <a:off x="4077970" y="5452745"/>
            <a:ext cx="794385" cy="748665"/>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8" name="文本框 127"/>
          <p:cNvSpPr txBox="1"/>
          <p:nvPr/>
        </p:nvSpPr>
        <p:spPr>
          <a:xfrm>
            <a:off x="4108133" y="5566093"/>
            <a:ext cx="734060" cy="521970"/>
          </a:xfrm>
          <a:prstGeom prst="rect">
            <a:avLst/>
          </a:prstGeom>
          <a:noFill/>
        </p:spPr>
        <p:txBody>
          <a:bodyPr wrap="square" rtlCol="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公域</a:t>
            </a:r>
            <a:endParaRPr lang="en-US" altLang="zh-CN" sz="14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引流场</a:t>
            </a:r>
            <a:endParaRPr lang="zh-CN" altLang="en-US" sz="1400" dirty="0">
              <a:solidFill>
                <a:srgbClr val="383838"/>
              </a:solidFill>
              <a:latin typeface="微软雅黑"/>
              <a:ea typeface="微软雅黑"/>
              <a:cs typeface="微软雅黑"/>
            </a:endParaRPr>
          </a:p>
        </p:txBody>
      </p:sp>
      <p:sp>
        <p:nvSpPr>
          <p:cNvPr id="134" name="矩形: 圆角 133"/>
          <p:cNvSpPr/>
          <p:nvPr/>
        </p:nvSpPr>
        <p:spPr>
          <a:xfrm>
            <a:off x="8935720" y="3015933"/>
            <a:ext cx="1106805" cy="387985"/>
          </a:xfrm>
          <a:prstGeom prst="roundRect">
            <a:avLst/>
          </a:prstGeom>
          <a:gradFill>
            <a:gsLst>
              <a:gs pos="86000">
                <a:srgbClr val="3368FF"/>
              </a:gs>
              <a:gs pos="0">
                <a:srgbClr val="E6E6E6"/>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37" name="矩形: 圆角 136"/>
          <p:cNvSpPr/>
          <p:nvPr/>
        </p:nvSpPr>
        <p:spPr>
          <a:xfrm>
            <a:off x="8746490" y="4718685"/>
            <a:ext cx="1106805" cy="387985"/>
          </a:xfrm>
          <a:prstGeom prst="roundRect">
            <a:avLst/>
          </a:prstGeom>
          <a:gradFill>
            <a:gsLst>
              <a:gs pos="86000">
                <a:srgbClr val="3368FF"/>
              </a:gs>
              <a:gs pos="0">
                <a:srgbClr val="E6E6E6"/>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40" name="矩形: 圆角 139"/>
          <p:cNvSpPr/>
          <p:nvPr/>
        </p:nvSpPr>
        <p:spPr>
          <a:xfrm>
            <a:off x="9050020" y="3867150"/>
            <a:ext cx="1106805" cy="387985"/>
          </a:xfrm>
          <a:prstGeom prst="roundRect">
            <a:avLst/>
          </a:prstGeom>
          <a:gradFill>
            <a:gsLst>
              <a:gs pos="86000">
                <a:srgbClr val="3368FF"/>
              </a:gs>
              <a:gs pos="0">
                <a:srgbClr val="E6E6E6"/>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42" name="矩形: 圆角 141"/>
          <p:cNvSpPr/>
          <p:nvPr/>
        </p:nvSpPr>
        <p:spPr>
          <a:xfrm>
            <a:off x="5392420" y="1953260"/>
            <a:ext cx="853440" cy="277495"/>
          </a:xfrm>
          <a:prstGeom prst="roundRect">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600" dirty="0">
                <a:solidFill>
                  <a:srgbClr val="0042FF"/>
                </a:solidFill>
                <a:latin typeface="微软雅黑"/>
                <a:ea typeface="微软雅黑"/>
                <a:cs typeface="微软雅黑"/>
                <a:sym typeface="微软雅黑"/>
              </a:rPr>
              <a:t>1.拆解</a:t>
            </a:r>
            <a:endParaRPr lang="en-US" altLang="zh-CN" sz="1600" dirty="0">
              <a:solidFill>
                <a:srgbClr val="0042FF"/>
              </a:solidFill>
              <a:latin typeface="微软雅黑"/>
              <a:ea typeface="微软雅黑"/>
              <a:cs typeface="微软雅黑"/>
              <a:sym typeface="微软雅黑"/>
            </a:endParaRPr>
          </a:p>
        </p:txBody>
      </p:sp>
      <p:sp>
        <p:nvSpPr>
          <p:cNvPr id="143" name="矩形: 圆角 142"/>
          <p:cNvSpPr/>
          <p:nvPr/>
        </p:nvSpPr>
        <p:spPr>
          <a:xfrm>
            <a:off x="6806565" y="3020695"/>
            <a:ext cx="853440" cy="277495"/>
          </a:xfrm>
          <a:prstGeom prst="roundRect">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1600" dirty="0">
                <a:solidFill>
                  <a:srgbClr val="0042FF"/>
                </a:solidFill>
                <a:latin typeface="微软雅黑"/>
                <a:ea typeface="微软雅黑"/>
                <a:cs typeface="微软雅黑"/>
                <a:sym typeface="微软雅黑"/>
              </a:rPr>
              <a:t>2.诊断</a:t>
            </a:r>
            <a:endParaRPr lang="en-US" altLang="zh-CN" sz="1600" dirty="0">
              <a:solidFill>
                <a:srgbClr val="0042FF"/>
              </a:solidFill>
              <a:latin typeface="微软雅黑"/>
              <a:ea typeface="微软雅黑"/>
              <a:cs typeface="微软雅黑"/>
              <a:sym typeface="微软雅黑"/>
            </a:endParaRPr>
          </a:p>
        </p:txBody>
      </p:sp>
      <p:sp>
        <p:nvSpPr>
          <p:cNvPr id="144" name="矩形: 圆角 143"/>
          <p:cNvSpPr/>
          <p:nvPr/>
        </p:nvSpPr>
        <p:spPr>
          <a:xfrm>
            <a:off x="5454015" y="5371465"/>
            <a:ext cx="853440" cy="277495"/>
          </a:xfrm>
          <a:prstGeom prst="roundRect">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en-US" altLang="zh-CN" sz="1600" dirty="0">
                <a:solidFill>
                  <a:srgbClr val="0042FF"/>
                </a:solidFill>
                <a:latin typeface="微软雅黑"/>
                <a:ea typeface="微软雅黑"/>
                <a:cs typeface="微软雅黑"/>
              </a:rPr>
              <a:t>3.</a:t>
            </a:r>
            <a:r>
              <a:rPr lang="zh-CN" altLang="en-US" sz="1600" dirty="0">
                <a:solidFill>
                  <a:srgbClr val="0042FF"/>
                </a:solidFill>
                <a:latin typeface="微软雅黑"/>
                <a:ea typeface="微软雅黑"/>
                <a:cs typeface="微软雅黑"/>
              </a:rPr>
              <a:t>重构</a:t>
            </a:r>
            <a:endParaRPr lang="zh-CN" altLang="en-US" sz="1600" dirty="0">
              <a:solidFill>
                <a:srgbClr val="0042FF"/>
              </a:solidFill>
              <a:latin typeface="微软雅黑"/>
              <a:ea typeface="微软雅黑"/>
              <a:cs typeface="微软雅黑"/>
            </a:endParaRPr>
          </a:p>
        </p:txBody>
      </p:sp>
      <p:sp>
        <p:nvSpPr>
          <p:cNvPr id="145" name="矩形: 圆角 144"/>
          <p:cNvSpPr/>
          <p:nvPr/>
        </p:nvSpPr>
        <p:spPr>
          <a:xfrm>
            <a:off x="3989070" y="2983865"/>
            <a:ext cx="853440" cy="277495"/>
          </a:xfrm>
          <a:prstGeom prst="roundRect">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en-US" altLang="zh-CN" sz="1600" dirty="0">
                <a:solidFill>
                  <a:srgbClr val="0042FF"/>
                </a:solidFill>
                <a:latin typeface="微软雅黑"/>
                <a:ea typeface="微软雅黑"/>
                <a:cs typeface="微软雅黑"/>
              </a:rPr>
              <a:t>4.</a:t>
            </a:r>
            <a:r>
              <a:rPr lang="zh-CN" altLang="en-US" sz="1600" dirty="0">
                <a:solidFill>
                  <a:srgbClr val="0042FF"/>
                </a:solidFill>
                <a:latin typeface="微软雅黑"/>
                <a:ea typeface="微软雅黑"/>
                <a:cs typeface="微软雅黑"/>
              </a:rPr>
              <a:t>设计</a:t>
            </a:r>
            <a:endParaRPr lang="zh-CN" altLang="en-US" sz="1600" dirty="0">
              <a:solidFill>
                <a:srgbClr val="0042FF"/>
              </a:solidFill>
              <a:latin typeface="微软雅黑"/>
              <a:ea typeface="微软雅黑"/>
              <a:cs typeface="微软雅黑"/>
            </a:endParaRPr>
          </a:p>
        </p:txBody>
      </p:sp>
      <p:sp>
        <p:nvSpPr>
          <p:cNvPr id="147" name="弧 57"/>
          <p:cNvSpPr/>
          <p:nvPr/>
        </p:nvSpPr>
        <p:spPr>
          <a:xfrm rot="16852722">
            <a:off x="4070985" y="1741170"/>
            <a:ext cx="3632200" cy="3855085"/>
          </a:xfrm>
          <a:prstGeom prst="arc">
            <a:avLst>
              <a:gd name="adj1" fmla="val 18644634"/>
              <a:gd name="adj2" fmla="val 1988290"/>
            </a:avLst>
          </a:prstGeom>
          <a:ln w="25400">
            <a:gradFill>
              <a:gsLst>
                <a:gs pos="100000">
                  <a:srgbClr val="3368FF"/>
                </a:gs>
                <a:gs pos="2000">
                  <a:srgbClr val="3368FF">
                    <a:alpha val="20000"/>
                  </a:srgbClr>
                </a:gs>
              </a:gsLst>
              <a:lin ang="5400000" scaled="1"/>
            </a:gradFill>
            <a:prstDash val="sysDot"/>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48" name="三角形 32"/>
          <p:cNvSpPr/>
          <p:nvPr/>
        </p:nvSpPr>
        <p:spPr>
          <a:xfrm rot="7022910">
            <a:off x="7109460" y="2278380"/>
            <a:ext cx="142875" cy="103505"/>
          </a:xfrm>
          <a:prstGeom prst="triangle">
            <a:avLst/>
          </a:prstGeom>
          <a:solidFill>
            <a:srgbClr val="3368FF"/>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nvGrpSpPr>
          <p:cNvPr id="150" name="组合 149"/>
          <p:cNvGrpSpPr/>
          <p:nvPr/>
        </p:nvGrpSpPr>
        <p:grpSpPr>
          <a:xfrm rot="10373281">
            <a:off x="4004946" y="2185034"/>
            <a:ext cx="3855085" cy="3632200"/>
            <a:chOff x="4087345" y="1227074"/>
            <a:chExt cx="4018288" cy="4018288"/>
          </a:xfrm>
        </p:grpSpPr>
        <p:sp>
          <p:nvSpPr>
            <p:cNvPr id="151" name="弧 57"/>
            <p:cNvSpPr/>
            <p:nvPr/>
          </p:nvSpPr>
          <p:spPr>
            <a:xfrm rot="16852722">
              <a:off x="4087345" y="1227074"/>
              <a:ext cx="4018288" cy="4018288"/>
            </a:xfrm>
            <a:prstGeom prst="arc">
              <a:avLst>
                <a:gd name="adj1" fmla="val 18644634"/>
                <a:gd name="adj2" fmla="val 1988290"/>
              </a:avLst>
            </a:prstGeom>
            <a:ln w="25400">
              <a:gradFill>
                <a:gsLst>
                  <a:gs pos="100000">
                    <a:srgbClr val="3368FF"/>
                  </a:gs>
                  <a:gs pos="2000">
                    <a:srgbClr val="3368FF">
                      <a:alpha val="20000"/>
                    </a:srgbClr>
                  </a:gs>
                </a:gsLst>
                <a:lin ang="5400000" scaled="1"/>
              </a:gradFill>
              <a:prstDash val="sysDot"/>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152" name="三角形 32"/>
            <p:cNvSpPr/>
            <p:nvPr/>
          </p:nvSpPr>
          <p:spPr>
            <a:xfrm rot="7022910">
              <a:off x="7383148" y="1734895"/>
              <a:ext cx="158400" cy="108000"/>
            </a:xfrm>
            <a:prstGeom prst="triangle">
              <a:avLst/>
            </a:prstGeom>
            <a:solidFill>
              <a:srgbClr val="3368FF"/>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97" name="文本框 96"/>
          <p:cNvSpPr txBox="1"/>
          <p:nvPr/>
        </p:nvSpPr>
        <p:spPr>
          <a:xfrm>
            <a:off x="5290185" y="3477895"/>
            <a:ext cx="1188085" cy="755650"/>
          </a:xfrm>
          <a:prstGeom prst="rect">
            <a:avLst/>
          </a:prstGeom>
          <a:noFill/>
        </p:spPr>
        <p:txBody>
          <a:bodyPr wrap="square" rtlCol="0" lIns="0" rIns="0" tIns="0" bIns="0">
            <a:spAutoFit/>
          </a:bodyPr>
          <a:lstStyle/>
          <a:p>
            <a:pPr algn="ctr">
              <a:lnSpc>
                <a:spcPct val="120000"/>
              </a:lnSpc>
              <a:defRPr>
                <a:latin typeface="微软雅黑"/>
                <a:ea typeface="微软雅黑"/>
                <a:cs typeface="微软雅黑"/>
              </a:defRPr>
            </a:pPr>
            <a:r>
              <a:rPr lang="zh-CN" altLang="en-US" b="1" dirty="0">
                <a:solidFill>
                  <a:srgbClr val="383838"/>
                </a:solidFill>
                <a:latin typeface="微软雅黑"/>
                <a:ea typeface="微软雅黑"/>
                <a:cs typeface="微软雅黑"/>
              </a:rPr>
              <a:t>私域运营策略模型</a:t>
            </a:r>
            <a:endParaRPr lang="en-US" altLang="zh-CN" b="1" dirty="0">
              <a:solidFill>
                <a:srgbClr val="383838"/>
              </a:solidFill>
              <a:latin typeface="微软雅黑"/>
              <a:ea typeface="微软雅黑"/>
              <a:cs typeface="微软雅黑"/>
            </a:endParaRPr>
          </a:p>
        </p:txBody>
      </p:sp>
      <p:grpSp>
        <p:nvGrpSpPr>
          <p:cNvPr id="6" name="组合 5"/>
          <p:cNvGrpSpPr/>
          <p:nvPr/>
        </p:nvGrpSpPr>
        <p:grpSpPr>
          <a:xfrm>
            <a:off x="8738235" y="348615"/>
            <a:ext cx="3219450" cy="332740"/>
            <a:chOff x="13761" y="549"/>
            <a:chExt cx="5070" cy="524"/>
          </a:xfrm>
        </p:grpSpPr>
        <p:pic>
          <p:nvPicPr>
            <p:cNvPr id="3" name="图片 2"/>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 name="文本框 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15" name="文本框 14"/>
          <p:cNvSpPr txBox="1"/>
          <p:nvPr/>
        </p:nvSpPr>
        <p:spPr>
          <a:xfrm>
            <a:off x="9044940" y="3004185"/>
            <a:ext cx="888365" cy="342900"/>
          </a:xfrm>
          <a:prstGeom prst="rect">
            <a:avLst/>
          </a:prstGeom>
          <a:noFill/>
          <a:effectLst/>
        </p:spPr>
        <p:txBody>
          <a:bodyPr wrap="square" lIns="85954" tIns="42977" rIns="85954" bIns="42977" rtlCol="0" anchor="ctr" anchorCtr="0">
            <a:spAutoFit/>
          </a:bodyPr>
          <a:lstStyle/>
          <a:p>
            <a:pPr>
              <a:lnSpc>
                <a:spcPct val="120000"/>
              </a:lnSpc>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业务自检</a:t>
            </a:r>
            <a:endParaRPr lang="zh-CN" altLang="en-US" sz="1400" dirty="0">
              <a:solidFill>
                <a:srgbClr val="383838"/>
              </a:solidFill>
              <a:latin typeface="微软雅黑"/>
              <a:ea typeface="微软雅黑"/>
              <a:cs typeface="微软雅黑"/>
            </a:endParaRPr>
          </a:p>
        </p:txBody>
      </p:sp>
      <p:sp>
        <p:nvSpPr>
          <p:cNvPr id="16" name="文本框 15"/>
          <p:cNvSpPr txBox="1"/>
          <p:nvPr/>
        </p:nvSpPr>
        <p:spPr>
          <a:xfrm>
            <a:off x="8828723" y="4715828"/>
            <a:ext cx="981710" cy="342900"/>
          </a:xfrm>
          <a:prstGeom prst="rect">
            <a:avLst/>
          </a:prstGeom>
          <a:noFill/>
          <a:effectLst/>
        </p:spPr>
        <p:txBody>
          <a:bodyPr wrap="square" lIns="85954" tIns="42977" rIns="85954" bIns="42977" rtlCol="0">
            <a:spAutoFit/>
          </a:bodyPr>
          <a:lstStyle/>
          <a:p>
            <a:pPr algn="ctr">
              <a:lnSpc>
                <a:spcPct val="120000"/>
              </a:lnSpc>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运营自检</a:t>
            </a:r>
            <a:endParaRPr lang="zh-CN" altLang="en-US" sz="1400" dirty="0">
              <a:solidFill>
                <a:srgbClr val="383838"/>
              </a:solidFill>
              <a:latin typeface="微软雅黑"/>
              <a:ea typeface="微软雅黑"/>
              <a:cs typeface="微软雅黑"/>
            </a:endParaRPr>
          </a:p>
        </p:txBody>
      </p:sp>
      <p:sp>
        <p:nvSpPr>
          <p:cNvPr id="18" name="文本框 17"/>
          <p:cNvSpPr txBox="1"/>
          <p:nvPr/>
        </p:nvSpPr>
        <p:spPr>
          <a:xfrm>
            <a:off x="9103678" y="3849370"/>
            <a:ext cx="999490" cy="366395"/>
          </a:xfrm>
          <a:prstGeom prst="rect">
            <a:avLst/>
          </a:prstGeom>
          <a:noFill/>
          <a:effectLst/>
        </p:spPr>
        <p:txBody>
          <a:bodyPr wrap="square" lIns="85954" tIns="42977" rIns="85954" bIns="42977" rtlCol="0">
            <a:noAutofit/>
          </a:bodyPr>
          <a:lstStyle/>
          <a:p>
            <a:pPr algn="ctr">
              <a:lnSpc>
                <a:spcPct val="120000"/>
              </a:lnSpc>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触点自检</a:t>
            </a:r>
            <a:endParaRPr lang="zh-CN" altLang="en-US" sz="1400" dirty="0">
              <a:solidFill>
                <a:srgbClr val="383838"/>
              </a:solidFill>
              <a:latin typeface="微软雅黑"/>
              <a:ea typeface="微软雅黑"/>
              <a:cs typeface="微软雅黑"/>
            </a:endParaRPr>
          </a:p>
        </p:txBody>
      </p:sp>
      <p:sp>
        <p:nvSpPr>
          <p:cNvPr id="19" name="文本框 18"/>
          <p:cNvSpPr txBox="1"/>
          <p:nvPr/>
        </p:nvSpPr>
        <p:spPr>
          <a:xfrm>
            <a:off x="1935480" y="2983865"/>
            <a:ext cx="934085" cy="386715"/>
          </a:xfrm>
          <a:prstGeom prst="rect">
            <a:avLst/>
          </a:prstGeom>
          <a:noFill/>
          <a:effectLst/>
        </p:spPr>
        <p:txBody>
          <a:bodyPr wrap="square" lIns="85954" tIns="42977" rIns="85954" bIns="42977" rtlCol="0">
            <a:noAutofit/>
          </a:bodyPr>
          <a:lstStyle/>
          <a:p>
            <a:pPr algn="ctr">
              <a:lnSpc>
                <a:spcPct val="120000"/>
              </a:lnSpc>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拉新</a:t>
            </a:r>
            <a:endParaRPr lang="zh-CN" altLang="en-US" sz="1400" dirty="0">
              <a:solidFill>
                <a:srgbClr val="383838"/>
              </a:solidFill>
              <a:latin typeface="微软雅黑"/>
              <a:ea typeface="微软雅黑"/>
              <a:cs typeface="微软雅黑"/>
            </a:endParaRPr>
          </a:p>
        </p:txBody>
      </p:sp>
      <p:sp>
        <p:nvSpPr>
          <p:cNvPr id="22" name="文本框 21"/>
          <p:cNvSpPr txBox="1"/>
          <p:nvPr/>
        </p:nvSpPr>
        <p:spPr>
          <a:xfrm>
            <a:off x="1791970" y="4153535"/>
            <a:ext cx="855345" cy="342900"/>
          </a:xfrm>
          <a:prstGeom prst="rect">
            <a:avLst/>
          </a:prstGeom>
          <a:noFill/>
          <a:effectLst/>
        </p:spPr>
        <p:txBody>
          <a:bodyPr wrap="square" lIns="85954" tIns="42977" rIns="85954" bIns="42977" rtlCol="0">
            <a:spAutoFit/>
          </a:bodyPr>
          <a:lstStyle/>
          <a:p>
            <a:pPr algn="ctr">
              <a:lnSpc>
                <a:spcPct val="120000"/>
              </a:lnSpc>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留存</a:t>
            </a:r>
            <a:endParaRPr lang="zh-CN" altLang="en-US" sz="1400" dirty="0">
              <a:solidFill>
                <a:srgbClr val="383838"/>
              </a:solidFill>
              <a:latin typeface="微软雅黑"/>
              <a:ea typeface="微软雅黑"/>
              <a:cs typeface="微软雅黑"/>
            </a:endParaRPr>
          </a:p>
        </p:txBody>
      </p:sp>
      <p:sp>
        <p:nvSpPr>
          <p:cNvPr id="23" name="文本框 22"/>
          <p:cNvSpPr txBox="1"/>
          <p:nvPr/>
        </p:nvSpPr>
        <p:spPr>
          <a:xfrm>
            <a:off x="1791970" y="3580130"/>
            <a:ext cx="918845" cy="342900"/>
          </a:xfrm>
          <a:prstGeom prst="rect">
            <a:avLst/>
          </a:prstGeom>
          <a:noFill/>
          <a:effectLst/>
        </p:spPr>
        <p:txBody>
          <a:bodyPr wrap="square" lIns="85954" tIns="42977" rIns="85954" bIns="42977" rtlCol="0">
            <a:spAutoFit/>
          </a:bodyPr>
          <a:lstStyle/>
          <a:p>
            <a:pPr algn="ctr">
              <a:lnSpc>
                <a:spcPct val="120000"/>
              </a:lnSpc>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转化</a:t>
            </a:r>
            <a:endParaRPr lang="zh-CN" altLang="en-US" sz="1400" dirty="0">
              <a:solidFill>
                <a:srgbClr val="383838"/>
              </a:solidFill>
              <a:latin typeface="微软雅黑"/>
              <a:ea typeface="微软雅黑"/>
              <a:cs typeface="微软雅黑"/>
            </a:endParaRPr>
          </a:p>
        </p:txBody>
      </p:sp>
      <p:sp>
        <p:nvSpPr>
          <p:cNvPr id="25" name="文本框 24"/>
          <p:cNvSpPr txBox="1"/>
          <p:nvPr/>
        </p:nvSpPr>
        <p:spPr>
          <a:xfrm>
            <a:off x="2052955" y="4741545"/>
            <a:ext cx="958850" cy="342900"/>
          </a:xfrm>
          <a:prstGeom prst="rect">
            <a:avLst/>
          </a:prstGeom>
          <a:noFill/>
          <a:effectLst/>
        </p:spPr>
        <p:txBody>
          <a:bodyPr wrap="square" lIns="85954" tIns="42977" rIns="85954" bIns="42977" rtlCol="0">
            <a:spAutoFit/>
          </a:bodyPr>
          <a:lstStyle/>
          <a:p>
            <a:pPr algn="ctr">
              <a:lnSpc>
                <a:spcPct val="120000"/>
              </a:lnSpc>
              <a:defRPr>
                <a:solidFill>
                  <a:srgbClr val="383838"/>
                </a:solidFill>
                <a:latin typeface="微软雅黑"/>
                <a:ea typeface="微软雅黑"/>
                <a:cs typeface="微软雅黑"/>
              </a:defRPr>
            </a:pPr>
            <a:r>
              <a:rPr lang="zh-CN" altLang="en-US" sz="1400" dirty="0">
                <a:solidFill>
                  <a:srgbClr val="383838"/>
                </a:solidFill>
                <a:latin typeface="微软雅黑"/>
                <a:ea typeface="微软雅黑"/>
                <a:cs typeface="微软雅黑"/>
              </a:rPr>
              <a:t>召回</a:t>
            </a:r>
            <a:endParaRPr lang="zh-CN" altLang="en-US" sz="1400" dirty="0">
              <a:solidFill>
                <a:srgbClr val="383838"/>
              </a:solidFill>
              <a:latin typeface="微软雅黑"/>
              <a:ea typeface="微软雅黑"/>
              <a:cs typeface="微软雅黑"/>
            </a:endParaRP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27011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90" dirty="0">
                <a:solidFill>
                  <a:srgbClr val="0042FF"/>
                </a:solidFill>
                <a:effectLst/>
                <a:latin typeface="微软雅黑"/>
                <a:ea typeface="微软雅黑"/>
                <a:cs typeface="微软雅黑"/>
              </a:rPr>
              <a:t>业务框架</a:t>
            </a:r>
            <a:r>
              <a:rPr lang="en-US" altLang="zh-CN" sz="2490" dirty="0">
                <a:solidFill>
                  <a:srgbClr val="0042FF"/>
                </a:solidFill>
                <a:effectLst/>
                <a:latin typeface="微软雅黑"/>
                <a:ea typeface="微软雅黑"/>
                <a:cs typeface="微软雅黑"/>
              </a:rPr>
              <a:t>-</a:t>
            </a:r>
            <a:r>
              <a:rPr sz="2490" dirty="0">
                <a:solidFill>
                  <a:srgbClr val="0042FF"/>
                </a:solidFill>
                <a:effectLst/>
                <a:latin typeface="微软雅黑"/>
                <a:ea typeface="微软雅黑"/>
                <a:cs typeface="微软雅黑"/>
              </a:rPr>
              <a:t>中心发散架构 |</a:t>
            </a:r>
            <a:r>
              <a:rPr lang="en-US" altLang="zh-CN" sz="2490" dirty="0">
                <a:solidFill>
                  <a:srgbClr val="0042FF"/>
                </a:solidFill>
                <a:effectLst/>
                <a:latin typeface="微软雅黑"/>
                <a:ea typeface="微软雅黑"/>
                <a:cs typeface="微软雅黑"/>
              </a:rPr>
              <a:t> </a:t>
            </a:r>
            <a:r>
              <a:rPr sz="2490" dirty="0">
                <a:solidFill>
                  <a:srgbClr val="383838"/>
                </a:solidFill>
                <a:effectLst/>
                <a:latin typeface="微软雅黑"/>
                <a:ea typeface="微软雅黑"/>
                <a:cs typeface="微软雅黑"/>
              </a:rPr>
              <a:t>文化遗产资源整合链路图</a:t>
            </a:r>
            <a:endParaRPr sz="249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7" name="紫荆的职场Point3"/>
          <p:cNvSpPr/>
          <p:nvPr/>
        </p:nvSpPr>
        <p:spPr>
          <a:xfrm>
            <a:off x="5291138" y="2941638"/>
            <a:ext cx="1778635" cy="1778635"/>
          </a:xfrm>
          <a:prstGeom prst="ellipse">
            <a:avLst/>
          </a:prstGeom>
          <a:solidFill>
            <a:srgbClr val="FFFFFF">
              <a:alpha val="70000"/>
            </a:srgbClr>
          </a:solidFill>
          <a:ln w="13716">
            <a:noFill/>
            <a:prstDash val="dash"/>
          </a:ln>
          <a:effectLst/>
        </p:spPr>
        <p:style>
          <a:lnRef idx="2">
            <a:srgbClr val="0042FF"/>
          </a:lnRef>
          <a:fillRef idx="1">
            <a:srgbClr val="0042FF"/>
          </a:fillRef>
          <a:effectRef idx="0">
            <a:srgbClr val="0042FF"/>
          </a:effectRef>
          <a:fontRef idx="minor">
            <a:srgbClr val="FFFFFF"/>
          </a:fontRef>
        </p:style>
        <p:txBody>
          <a:bodyPr lIns="0" tIns="0" rIns="0" bIns="0" rtlCol="0" anchor="ctr"/>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1200" cap="none" spc="0" normalizeH="0" baseline="0" noProof="0" dirty="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20" name="椭圆 19"/>
          <p:cNvSpPr/>
          <p:nvPr>
            <p:custDataLst>
              <p:tags r:id="rId3"/>
            </p:custDataLst>
          </p:nvPr>
        </p:nvSpPr>
        <p:spPr>
          <a:xfrm flipH="1">
            <a:off x="5487988" y="3138488"/>
            <a:ext cx="1384935" cy="1384935"/>
          </a:xfrm>
          <a:prstGeom prst="ellipse">
            <a:avLst/>
          </a:prstGeom>
          <a:gradFill>
            <a:gsLst>
              <a:gs pos="37000">
                <a:srgbClr val="B3D4FE"/>
              </a:gs>
              <a:gs pos="86000">
                <a:srgbClr val="3368FF"/>
              </a:gs>
            </a:gsLst>
            <a:lin ang="8100000"/>
          </a:gradFill>
          <a:ln w="38100">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p>
            <a:pPr algn="ctr">
              <a:defRPr>
                <a:latin typeface="微软雅黑"/>
                <a:ea typeface="微软雅黑"/>
                <a:cs typeface="微软雅黑"/>
              </a:defRPr>
            </a:pPr>
            <a:r>
              <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rPr>
              <a:t>数字技术企业</a:t>
            </a: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413" name="任意多边形: 形状 18"/>
          <p:cNvSpPr/>
          <p:nvPr/>
        </p:nvSpPr>
        <p:spPr>
          <a:xfrm>
            <a:off x="5159740" y="2374265"/>
            <a:ext cx="2016264" cy="719110"/>
          </a:xfrm>
          <a:custGeom>
            <a:avLst/>
            <a:gdLst>
              <a:gd name="connsiteX0" fmla="*/ 1717161 w 2330450"/>
              <a:gd name="connsiteY0" fmla="*/ 553872 h 2330450"/>
              <a:gd name="connsiteX1" fmla="*/ 1165225 w 2330450"/>
              <a:gd name="connsiteY1" fmla="*/ 341586 h 2330450"/>
              <a:gd name="connsiteX2" fmla="*/ 590652 w 2330450"/>
              <a:gd name="connsiteY2" fmla="*/ 575100 h 2330450"/>
              <a:gd name="connsiteX3" fmla="*/ 349098 w 2330450"/>
              <a:gd name="connsiteY3" fmla="*/ 333547 h 2330450"/>
              <a:gd name="connsiteX4" fmla="*/ 1165225 w 2330450"/>
              <a:gd name="connsiteY4" fmla="*/ 0 h 2330450"/>
              <a:gd name="connsiteX5" fmla="*/ 1961578 w 2330450"/>
              <a:gd name="connsiteY5" fmla="*/ 314604 h 2330450"/>
              <a:gd name="connsiteX6" fmla="*/ 1717161 w 2330450"/>
              <a:gd name="connsiteY6" fmla="*/ 553872 h 2330450"/>
              <a:gd name="connsiteX7" fmla="*/ 1755350 w 2330450"/>
              <a:gd name="connsiteY7" fmla="*/ 1739799 h 2330450"/>
              <a:gd name="connsiteX8" fmla="*/ 1988884 w 2330450"/>
              <a:gd name="connsiteY8" fmla="*/ 1165225 h 2330450"/>
              <a:gd name="connsiteX9" fmla="*/ 1749349 w 2330450"/>
              <a:gd name="connsiteY9" fmla="*/ 584562 h 2330450"/>
              <a:gd name="connsiteX10" fmla="*/ 1993456 w 2330450"/>
              <a:gd name="connsiteY10" fmla="*/ 345605 h 2330450"/>
              <a:gd name="connsiteX11" fmla="*/ 2330450 w 2330450"/>
              <a:gd name="connsiteY11" fmla="*/ 1165225 h 2330450"/>
              <a:gd name="connsiteX12" fmla="*/ 1996884 w 2330450"/>
              <a:gd name="connsiteY12" fmla="*/ 1981352 h 2330450"/>
              <a:gd name="connsiteX13" fmla="*/ 1755350 w 2330450"/>
              <a:gd name="connsiteY13" fmla="*/ 1739799 h 2330450"/>
              <a:gd name="connsiteX14" fmla="*/ 572224 w 2330450"/>
              <a:gd name="connsiteY14" fmla="*/ 1736827 h 2330450"/>
              <a:gd name="connsiteX15" fmla="*/ 1165225 w 2330450"/>
              <a:gd name="connsiteY15" fmla="*/ 1988864 h 2330450"/>
              <a:gd name="connsiteX16" fmla="*/ 1723492 w 2330450"/>
              <a:gd name="connsiteY16" fmla="*/ 1770799 h 2330450"/>
              <a:gd name="connsiteX17" fmla="*/ 1965198 w 2330450"/>
              <a:gd name="connsiteY17" fmla="*/ 2012480 h 2330450"/>
              <a:gd name="connsiteX18" fmla="*/ 1165225 w 2330450"/>
              <a:gd name="connsiteY18" fmla="*/ 2330450 h 2330450"/>
              <a:gd name="connsiteX19" fmla="*/ 328111 w 2330450"/>
              <a:gd name="connsiteY19" fmla="*/ 1975777 h 2330450"/>
              <a:gd name="connsiteX20" fmla="*/ 572224 w 2330450"/>
              <a:gd name="connsiteY20" fmla="*/ 1736827 h 2330450"/>
              <a:gd name="connsiteX21" fmla="*/ 542220 w 2330450"/>
              <a:gd name="connsiteY21" fmla="*/ 1703991 h 2330450"/>
              <a:gd name="connsiteX22" fmla="*/ 341586 w 2330450"/>
              <a:gd name="connsiteY22" fmla="*/ 1165225 h 2330450"/>
              <a:gd name="connsiteX23" fmla="*/ 559651 w 2330450"/>
              <a:gd name="connsiteY23" fmla="*/ 606959 h 2330450"/>
              <a:gd name="connsiteX24" fmla="*/ 317970 w 2330450"/>
              <a:gd name="connsiteY24" fmla="*/ 365277 h 2330450"/>
              <a:gd name="connsiteX25" fmla="*/ 0 w 2330450"/>
              <a:gd name="connsiteY25" fmla="*/ 1165225 h 2330450"/>
              <a:gd name="connsiteX26" fmla="*/ 297790 w 2330450"/>
              <a:gd name="connsiteY26" fmla="*/ 1943259 h 2330450"/>
              <a:gd name="connsiteX27" fmla="*/ 542220 w 2330450"/>
              <a:gd name="connsiteY27" fmla="*/ 1703991 h 233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75" h="1133">
                <a:moveTo>
                  <a:pt x="2690" y="1087"/>
                </a:moveTo>
                <a:cubicBezTo>
                  <a:pt x="2421" y="831"/>
                  <a:pt x="1985" y="665"/>
                  <a:pt x="1607" y="673"/>
                </a:cubicBezTo>
                <a:cubicBezTo>
                  <a:pt x="1169" y="664"/>
                  <a:pt x="737" y="871"/>
                  <a:pt x="476" y="1132"/>
                </a:cubicBezTo>
                <a:lnTo>
                  <a:pt x="0" y="657"/>
                </a:lnTo>
                <a:cubicBezTo>
                  <a:pt x="401" y="244"/>
                  <a:pt x="1039" y="-8"/>
                  <a:pt x="1607" y="0"/>
                </a:cubicBezTo>
                <a:cubicBezTo>
                  <a:pt x="2210" y="-12"/>
                  <a:pt x="2810" y="268"/>
                  <a:pt x="3175" y="619"/>
                </a:cubicBezTo>
                <a:lnTo>
                  <a:pt x="2690" y="1087"/>
                </a:lnTo>
                <a:close/>
              </a:path>
            </a:pathLst>
          </a:custGeom>
          <a:gradFill>
            <a:gsLst>
              <a:gs pos="0">
                <a:srgbClr val="B3D4FE"/>
              </a:gs>
              <a:gs pos="83000">
                <a:srgbClr val="B3D4FE"/>
              </a:gs>
            </a:gsLst>
            <a:path path="circle">
              <a:fillToRect l="100000" t="100000"/>
            </a:path>
            <a:tileRect r="-100000" b="-100000"/>
          </a:gra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hangingPunct="0">
              <a:buClrTx/>
              <a:buSzTx/>
              <a:buFontTx/>
              <a:defRPr>
                <a:latin typeface="微软雅黑"/>
                <a:ea typeface="微软雅黑"/>
                <a:cs typeface="微软雅黑"/>
              </a:defRPr>
            </a:pPr>
            <a:endParaRPr lang="en-US" sz="1600" b="1">
              <a:solidFill>
                <a:srgbClr val="383838"/>
              </a:solidFill>
              <a:latin typeface="微软雅黑"/>
              <a:ea typeface="微软雅黑"/>
              <a:cs typeface="微软雅黑"/>
              <a:sym typeface="微软雅黑"/>
            </a:endParaRPr>
          </a:p>
        </p:txBody>
      </p:sp>
      <p:sp>
        <p:nvSpPr>
          <p:cNvPr id="96" name="任意多边形: 形状 18"/>
          <p:cNvSpPr/>
          <p:nvPr/>
        </p:nvSpPr>
        <p:spPr>
          <a:xfrm>
            <a:off x="4723130" y="2843350"/>
            <a:ext cx="688574" cy="1945767"/>
          </a:xfrm>
          <a:custGeom>
            <a:avLst/>
            <a:gdLst>
              <a:gd name="connsiteX0" fmla="*/ 1717161 w 2330450"/>
              <a:gd name="connsiteY0" fmla="*/ 553872 h 2330450"/>
              <a:gd name="connsiteX1" fmla="*/ 1165225 w 2330450"/>
              <a:gd name="connsiteY1" fmla="*/ 341586 h 2330450"/>
              <a:gd name="connsiteX2" fmla="*/ 590652 w 2330450"/>
              <a:gd name="connsiteY2" fmla="*/ 575100 h 2330450"/>
              <a:gd name="connsiteX3" fmla="*/ 349098 w 2330450"/>
              <a:gd name="connsiteY3" fmla="*/ 333547 h 2330450"/>
              <a:gd name="connsiteX4" fmla="*/ 1165225 w 2330450"/>
              <a:gd name="connsiteY4" fmla="*/ 0 h 2330450"/>
              <a:gd name="connsiteX5" fmla="*/ 1961578 w 2330450"/>
              <a:gd name="connsiteY5" fmla="*/ 314604 h 2330450"/>
              <a:gd name="connsiteX6" fmla="*/ 1717161 w 2330450"/>
              <a:gd name="connsiteY6" fmla="*/ 553872 h 2330450"/>
              <a:gd name="connsiteX7" fmla="*/ 1755350 w 2330450"/>
              <a:gd name="connsiteY7" fmla="*/ 1739799 h 2330450"/>
              <a:gd name="connsiteX8" fmla="*/ 1988884 w 2330450"/>
              <a:gd name="connsiteY8" fmla="*/ 1165225 h 2330450"/>
              <a:gd name="connsiteX9" fmla="*/ 1749349 w 2330450"/>
              <a:gd name="connsiteY9" fmla="*/ 584562 h 2330450"/>
              <a:gd name="connsiteX10" fmla="*/ 1993456 w 2330450"/>
              <a:gd name="connsiteY10" fmla="*/ 345605 h 2330450"/>
              <a:gd name="connsiteX11" fmla="*/ 2330450 w 2330450"/>
              <a:gd name="connsiteY11" fmla="*/ 1165225 h 2330450"/>
              <a:gd name="connsiteX12" fmla="*/ 1996884 w 2330450"/>
              <a:gd name="connsiteY12" fmla="*/ 1981352 h 2330450"/>
              <a:gd name="connsiteX13" fmla="*/ 1755350 w 2330450"/>
              <a:gd name="connsiteY13" fmla="*/ 1739799 h 2330450"/>
              <a:gd name="connsiteX14" fmla="*/ 572224 w 2330450"/>
              <a:gd name="connsiteY14" fmla="*/ 1736827 h 2330450"/>
              <a:gd name="connsiteX15" fmla="*/ 1165225 w 2330450"/>
              <a:gd name="connsiteY15" fmla="*/ 1988864 h 2330450"/>
              <a:gd name="connsiteX16" fmla="*/ 1723492 w 2330450"/>
              <a:gd name="connsiteY16" fmla="*/ 1770799 h 2330450"/>
              <a:gd name="connsiteX17" fmla="*/ 1965198 w 2330450"/>
              <a:gd name="connsiteY17" fmla="*/ 2012480 h 2330450"/>
              <a:gd name="connsiteX18" fmla="*/ 1165225 w 2330450"/>
              <a:gd name="connsiteY18" fmla="*/ 2330450 h 2330450"/>
              <a:gd name="connsiteX19" fmla="*/ 328111 w 2330450"/>
              <a:gd name="connsiteY19" fmla="*/ 1975777 h 2330450"/>
              <a:gd name="connsiteX20" fmla="*/ 572224 w 2330450"/>
              <a:gd name="connsiteY20" fmla="*/ 1736827 h 2330450"/>
              <a:gd name="connsiteX21" fmla="*/ 542220 w 2330450"/>
              <a:gd name="connsiteY21" fmla="*/ 1703991 h 2330450"/>
              <a:gd name="connsiteX22" fmla="*/ 341586 w 2330450"/>
              <a:gd name="connsiteY22" fmla="*/ 1165225 h 2330450"/>
              <a:gd name="connsiteX23" fmla="*/ 559651 w 2330450"/>
              <a:gd name="connsiteY23" fmla="*/ 606959 h 2330450"/>
              <a:gd name="connsiteX24" fmla="*/ 317970 w 2330450"/>
              <a:gd name="connsiteY24" fmla="*/ 365277 h 2330450"/>
              <a:gd name="connsiteX25" fmla="*/ 0 w 2330450"/>
              <a:gd name="connsiteY25" fmla="*/ 1165225 h 2330450"/>
              <a:gd name="connsiteX26" fmla="*/ 297790 w 2330450"/>
              <a:gd name="connsiteY26" fmla="*/ 1943259 h 2330450"/>
              <a:gd name="connsiteX27" fmla="*/ 542220 w 2330450"/>
              <a:gd name="connsiteY27" fmla="*/ 1703991 h 233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5" h="3064">
                <a:moveTo>
                  <a:pt x="1050" y="2596"/>
                </a:moveTo>
                <a:cubicBezTo>
                  <a:pt x="821" y="2338"/>
                  <a:pt x="664" y="1913"/>
                  <a:pt x="673" y="1556"/>
                </a:cubicBezTo>
                <a:cubicBezTo>
                  <a:pt x="661" y="1145"/>
                  <a:pt x="859" y="719"/>
                  <a:pt x="1084" y="476"/>
                </a:cubicBezTo>
                <a:lnTo>
                  <a:pt x="608" y="0"/>
                </a:lnTo>
                <a:cubicBezTo>
                  <a:pt x="256" y="353"/>
                  <a:pt x="-19" y="1015"/>
                  <a:pt x="0" y="1556"/>
                </a:cubicBezTo>
                <a:cubicBezTo>
                  <a:pt x="-14" y="2129"/>
                  <a:pt x="249" y="2713"/>
                  <a:pt x="566" y="3064"/>
                </a:cubicBezTo>
                <a:lnTo>
                  <a:pt x="1050" y="2596"/>
                </a:lnTo>
                <a:close/>
              </a:path>
            </a:pathLst>
          </a:custGeom>
          <a:gradFill>
            <a:gsLst>
              <a:gs pos="0">
                <a:srgbClr val="B3D4FE"/>
              </a:gs>
              <a:gs pos="83000">
                <a:srgbClr val="B3D4FE"/>
              </a:gs>
            </a:gsLst>
            <a:path path="circle">
              <a:fillToRect l="100000" t="100000"/>
            </a:path>
            <a:tileRect r="-100000" b="-100000"/>
          </a:gra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hangingPunct="0">
              <a:buClrTx/>
              <a:buSzTx/>
              <a:buFontTx/>
              <a:defRPr>
                <a:latin typeface="微软雅黑"/>
                <a:ea typeface="微软雅黑"/>
                <a:cs typeface="微软雅黑"/>
              </a:defRPr>
            </a:pPr>
            <a:endParaRPr lang="en-US" sz="1600" b="1">
              <a:solidFill>
                <a:srgbClr val="383838"/>
              </a:solidFill>
              <a:latin typeface="微软雅黑"/>
              <a:ea typeface="微软雅黑"/>
              <a:cs typeface="微软雅黑"/>
              <a:sym typeface="微软雅黑"/>
            </a:endParaRPr>
          </a:p>
        </p:txBody>
      </p:sp>
      <p:sp>
        <p:nvSpPr>
          <p:cNvPr id="97" name="任意多边形: 形状 18"/>
          <p:cNvSpPr/>
          <p:nvPr/>
        </p:nvSpPr>
        <p:spPr>
          <a:xfrm>
            <a:off x="5133492" y="4546009"/>
            <a:ext cx="2034882" cy="742271"/>
          </a:xfrm>
          <a:custGeom>
            <a:avLst/>
            <a:gdLst>
              <a:gd name="connsiteX0" fmla="*/ 1717161 w 2330450"/>
              <a:gd name="connsiteY0" fmla="*/ 553872 h 2330450"/>
              <a:gd name="connsiteX1" fmla="*/ 1165225 w 2330450"/>
              <a:gd name="connsiteY1" fmla="*/ 341586 h 2330450"/>
              <a:gd name="connsiteX2" fmla="*/ 590652 w 2330450"/>
              <a:gd name="connsiteY2" fmla="*/ 575100 h 2330450"/>
              <a:gd name="connsiteX3" fmla="*/ 349098 w 2330450"/>
              <a:gd name="connsiteY3" fmla="*/ 333547 h 2330450"/>
              <a:gd name="connsiteX4" fmla="*/ 1165225 w 2330450"/>
              <a:gd name="connsiteY4" fmla="*/ 0 h 2330450"/>
              <a:gd name="connsiteX5" fmla="*/ 1961578 w 2330450"/>
              <a:gd name="connsiteY5" fmla="*/ 314604 h 2330450"/>
              <a:gd name="connsiteX6" fmla="*/ 1717161 w 2330450"/>
              <a:gd name="connsiteY6" fmla="*/ 553872 h 2330450"/>
              <a:gd name="connsiteX7" fmla="*/ 1755350 w 2330450"/>
              <a:gd name="connsiteY7" fmla="*/ 1739799 h 2330450"/>
              <a:gd name="connsiteX8" fmla="*/ 1988884 w 2330450"/>
              <a:gd name="connsiteY8" fmla="*/ 1165225 h 2330450"/>
              <a:gd name="connsiteX9" fmla="*/ 1749349 w 2330450"/>
              <a:gd name="connsiteY9" fmla="*/ 584562 h 2330450"/>
              <a:gd name="connsiteX10" fmla="*/ 1993456 w 2330450"/>
              <a:gd name="connsiteY10" fmla="*/ 345605 h 2330450"/>
              <a:gd name="connsiteX11" fmla="*/ 2330450 w 2330450"/>
              <a:gd name="connsiteY11" fmla="*/ 1165225 h 2330450"/>
              <a:gd name="connsiteX12" fmla="*/ 1996884 w 2330450"/>
              <a:gd name="connsiteY12" fmla="*/ 1981352 h 2330450"/>
              <a:gd name="connsiteX13" fmla="*/ 1755350 w 2330450"/>
              <a:gd name="connsiteY13" fmla="*/ 1739799 h 2330450"/>
              <a:gd name="connsiteX14" fmla="*/ 572224 w 2330450"/>
              <a:gd name="connsiteY14" fmla="*/ 1736827 h 2330450"/>
              <a:gd name="connsiteX15" fmla="*/ 1165225 w 2330450"/>
              <a:gd name="connsiteY15" fmla="*/ 1988864 h 2330450"/>
              <a:gd name="connsiteX16" fmla="*/ 1723492 w 2330450"/>
              <a:gd name="connsiteY16" fmla="*/ 1770799 h 2330450"/>
              <a:gd name="connsiteX17" fmla="*/ 1965198 w 2330450"/>
              <a:gd name="connsiteY17" fmla="*/ 2012480 h 2330450"/>
              <a:gd name="connsiteX18" fmla="*/ 1165225 w 2330450"/>
              <a:gd name="connsiteY18" fmla="*/ 2330450 h 2330450"/>
              <a:gd name="connsiteX19" fmla="*/ 328111 w 2330450"/>
              <a:gd name="connsiteY19" fmla="*/ 1975777 h 2330450"/>
              <a:gd name="connsiteX20" fmla="*/ 572224 w 2330450"/>
              <a:gd name="connsiteY20" fmla="*/ 1736827 h 2330450"/>
              <a:gd name="connsiteX21" fmla="*/ 542220 w 2330450"/>
              <a:gd name="connsiteY21" fmla="*/ 1703991 h 2330450"/>
              <a:gd name="connsiteX22" fmla="*/ 341586 w 2330450"/>
              <a:gd name="connsiteY22" fmla="*/ 1165225 h 2330450"/>
              <a:gd name="connsiteX23" fmla="*/ 559651 w 2330450"/>
              <a:gd name="connsiteY23" fmla="*/ 606959 h 2330450"/>
              <a:gd name="connsiteX24" fmla="*/ 317970 w 2330450"/>
              <a:gd name="connsiteY24" fmla="*/ 365277 h 2330450"/>
              <a:gd name="connsiteX25" fmla="*/ 0 w 2330450"/>
              <a:gd name="connsiteY25" fmla="*/ 1165225 h 2330450"/>
              <a:gd name="connsiteX26" fmla="*/ 297790 w 2330450"/>
              <a:gd name="connsiteY26" fmla="*/ 1943259 h 2330450"/>
              <a:gd name="connsiteX27" fmla="*/ 542220 w 2330450"/>
              <a:gd name="connsiteY27" fmla="*/ 1703991 h 233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05" h="1169">
                <a:moveTo>
                  <a:pt x="481" y="0"/>
                </a:moveTo>
                <a:cubicBezTo>
                  <a:pt x="766" y="311"/>
                  <a:pt x="1232" y="502"/>
                  <a:pt x="1649" y="496"/>
                </a:cubicBezTo>
                <a:cubicBezTo>
                  <a:pt x="2060" y="508"/>
                  <a:pt x="2486" y="310"/>
                  <a:pt x="2728" y="85"/>
                </a:cubicBezTo>
                <a:lnTo>
                  <a:pt x="3205" y="561"/>
                </a:lnTo>
                <a:cubicBezTo>
                  <a:pt x="2808" y="944"/>
                  <a:pt x="2193" y="1176"/>
                  <a:pt x="1649" y="1169"/>
                </a:cubicBezTo>
                <a:cubicBezTo>
                  <a:pt x="1004" y="1182"/>
                  <a:pt x="373" y="866"/>
                  <a:pt x="0" y="471"/>
                </a:cubicBezTo>
                <a:lnTo>
                  <a:pt x="481" y="0"/>
                </a:lnTo>
                <a:close/>
              </a:path>
            </a:pathLst>
          </a:custGeom>
          <a:gradFill>
            <a:gsLst>
              <a:gs pos="0">
                <a:srgbClr val="B3D4FE"/>
              </a:gs>
              <a:gs pos="83000">
                <a:srgbClr val="B3D4FE"/>
              </a:gs>
            </a:gsLst>
            <a:path path="circle">
              <a:fillToRect l="100000" t="100000"/>
            </a:path>
            <a:tileRect r="-100000" b="-100000"/>
          </a:gra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hangingPunct="0">
              <a:buClrTx/>
              <a:buSzTx/>
              <a:buFontTx/>
              <a:defRPr>
                <a:latin typeface="微软雅黑"/>
                <a:ea typeface="微软雅黑"/>
                <a:cs typeface="微软雅黑"/>
              </a:defRPr>
            </a:pPr>
            <a:endParaRPr lang="en-US" sz="1600" b="1">
              <a:solidFill>
                <a:srgbClr val="383838"/>
              </a:solidFill>
              <a:latin typeface="微软雅黑"/>
              <a:ea typeface="微软雅黑"/>
              <a:cs typeface="微软雅黑"/>
              <a:sym typeface="微软雅黑"/>
            </a:endParaRPr>
          </a:p>
        </p:txBody>
      </p:sp>
      <p:sp>
        <p:nvSpPr>
          <p:cNvPr id="98" name="任意多边形: 形状 18"/>
          <p:cNvSpPr/>
          <p:nvPr/>
        </p:nvSpPr>
        <p:spPr>
          <a:xfrm>
            <a:off x="6918513" y="2817729"/>
            <a:ext cx="719267" cy="2034036"/>
          </a:xfrm>
          <a:custGeom>
            <a:avLst/>
            <a:gdLst>
              <a:gd name="connsiteX0" fmla="*/ 1717161 w 2330450"/>
              <a:gd name="connsiteY0" fmla="*/ 553872 h 2330450"/>
              <a:gd name="connsiteX1" fmla="*/ 1165225 w 2330450"/>
              <a:gd name="connsiteY1" fmla="*/ 341586 h 2330450"/>
              <a:gd name="connsiteX2" fmla="*/ 590652 w 2330450"/>
              <a:gd name="connsiteY2" fmla="*/ 575100 h 2330450"/>
              <a:gd name="connsiteX3" fmla="*/ 349098 w 2330450"/>
              <a:gd name="connsiteY3" fmla="*/ 333547 h 2330450"/>
              <a:gd name="connsiteX4" fmla="*/ 1165225 w 2330450"/>
              <a:gd name="connsiteY4" fmla="*/ 0 h 2330450"/>
              <a:gd name="connsiteX5" fmla="*/ 1961578 w 2330450"/>
              <a:gd name="connsiteY5" fmla="*/ 314604 h 2330450"/>
              <a:gd name="connsiteX6" fmla="*/ 1717161 w 2330450"/>
              <a:gd name="connsiteY6" fmla="*/ 553872 h 2330450"/>
              <a:gd name="connsiteX7" fmla="*/ 1755350 w 2330450"/>
              <a:gd name="connsiteY7" fmla="*/ 1739799 h 2330450"/>
              <a:gd name="connsiteX8" fmla="*/ 1988884 w 2330450"/>
              <a:gd name="connsiteY8" fmla="*/ 1165225 h 2330450"/>
              <a:gd name="connsiteX9" fmla="*/ 1749349 w 2330450"/>
              <a:gd name="connsiteY9" fmla="*/ 584562 h 2330450"/>
              <a:gd name="connsiteX10" fmla="*/ 1993456 w 2330450"/>
              <a:gd name="connsiteY10" fmla="*/ 345605 h 2330450"/>
              <a:gd name="connsiteX11" fmla="*/ 2330450 w 2330450"/>
              <a:gd name="connsiteY11" fmla="*/ 1165225 h 2330450"/>
              <a:gd name="connsiteX12" fmla="*/ 1996884 w 2330450"/>
              <a:gd name="connsiteY12" fmla="*/ 1981352 h 2330450"/>
              <a:gd name="connsiteX13" fmla="*/ 1755350 w 2330450"/>
              <a:gd name="connsiteY13" fmla="*/ 1739799 h 2330450"/>
              <a:gd name="connsiteX14" fmla="*/ 572224 w 2330450"/>
              <a:gd name="connsiteY14" fmla="*/ 1736827 h 2330450"/>
              <a:gd name="connsiteX15" fmla="*/ 1165225 w 2330450"/>
              <a:gd name="connsiteY15" fmla="*/ 1988864 h 2330450"/>
              <a:gd name="connsiteX16" fmla="*/ 1723492 w 2330450"/>
              <a:gd name="connsiteY16" fmla="*/ 1770799 h 2330450"/>
              <a:gd name="connsiteX17" fmla="*/ 1965198 w 2330450"/>
              <a:gd name="connsiteY17" fmla="*/ 2012480 h 2330450"/>
              <a:gd name="connsiteX18" fmla="*/ 1165225 w 2330450"/>
              <a:gd name="connsiteY18" fmla="*/ 2330450 h 2330450"/>
              <a:gd name="connsiteX19" fmla="*/ 328111 w 2330450"/>
              <a:gd name="connsiteY19" fmla="*/ 1975777 h 2330450"/>
              <a:gd name="connsiteX20" fmla="*/ 572224 w 2330450"/>
              <a:gd name="connsiteY20" fmla="*/ 1736827 h 2330450"/>
              <a:gd name="connsiteX21" fmla="*/ 542220 w 2330450"/>
              <a:gd name="connsiteY21" fmla="*/ 1703991 h 2330450"/>
              <a:gd name="connsiteX22" fmla="*/ 341586 w 2330450"/>
              <a:gd name="connsiteY22" fmla="*/ 1165225 h 2330450"/>
              <a:gd name="connsiteX23" fmla="*/ 559651 w 2330450"/>
              <a:gd name="connsiteY23" fmla="*/ 606959 h 2330450"/>
              <a:gd name="connsiteX24" fmla="*/ 317970 w 2330450"/>
              <a:gd name="connsiteY24" fmla="*/ 365277 h 2330450"/>
              <a:gd name="connsiteX25" fmla="*/ 0 w 2330450"/>
              <a:gd name="connsiteY25" fmla="*/ 1165225 h 2330450"/>
              <a:gd name="connsiteX26" fmla="*/ 297790 w 2330450"/>
              <a:gd name="connsiteY26" fmla="*/ 1943259 h 2330450"/>
              <a:gd name="connsiteX27" fmla="*/ 542220 w 2330450"/>
              <a:gd name="connsiteY27" fmla="*/ 1703991 h 233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34" h="3203">
                <a:moveTo>
                  <a:pt x="0" y="2728"/>
                </a:moveTo>
                <a:cubicBezTo>
                  <a:pt x="289" y="2444"/>
                  <a:pt x="465" y="1996"/>
                  <a:pt x="460" y="1596"/>
                </a:cubicBezTo>
                <a:cubicBezTo>
                  <a:pt x="469" y="1160"/>
                  <a:pt x="261" y="727"/>
                  <a:pt x="2" y="467"/>
                </a:cubicBezTo>
                <a:lnTo>
                  <a:pt x="486" y="0"/>
                </a:lnTo>
                <a:cubicBezTo>
                  <a:pt x="863" y="360"/>
                  <a:pt x="1152" y="1036"/>
                  <a:pt x="1133" y="1596"/>
                </a:cubicBezTo>
                <a:cubicBezTo>
                  <a:pt x="1145" y="2219"/>
                  <a:pt x="848" y="2833"/>
                  <a:pt x="476" y="3203"/>
                </a:cubicBezTo>
                <a:lnTo>
                  <a:pt x="0" y="2728"/>
                </a:lnTo>
                <a:close/>
              </a:path>
            </a:pathLst>
          </a:custGeom>
          <a:gradFill>
            <a:gsLst>
              <a:gs pos="0">
                <a:srgbClr val="B3D4FE"/>
              </a:gs>
              <a:gs pos="83000">
                <a:srgbClr val="B3D4FE"/>
              </a:gs>
            </a:gsLst>
            <a:path path="circle">
              <a:fillToRect l="100000" t="100000"/>
            </a:path>
            <a:tileRect r="-100000" b="-100000"/>
          </a:gra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l" hangingPunct="0">
              <a:buClrTx/>
              <a:buSzTx/>
              <a:buFontTx/>
              <a:defRPr>
                <a:latin typeface="微软雅黑"/>
                <a:ea typeface="微软雅黑"/>
                <a:cs typeface="微软雅黑"/>
              </a:defRPr>
            </a:pPr>
            <a:endParaRPr lang="en-US" sz="1600" b="1">
              <a:solidFill>
                <a:srgbClr val="383838"/>
              </a:solidFill>
              <a:latin typeface="微软雅黑"/>
              <a:ea typeface="微软雅黑"/>
              <a:cs typeface="微软雅黑"/>
              <a:sym typeface="微软雅黑"/>
            </a:endParaRPr>
          </a:p>
        </p:txBody>
      </p:sp>
      <p:sp>
        <p:nvSpPr>
          <p:cNvPr id="109" name="椭圆 108"/>
          <p:cNvSpPr/>
          <p:nvPr/>
        </p:nvSpPr>
        <p:spPr>
          <a:xfrm>
            <a:off x="3755390" y="1405890"/>
            <a:ext cx="4850130" cy="4850130"/>
          </a:xfrm>
          <a:prstGeom prst="ellipse">
            <a:avLst/>
          </a:prstGeom>
          <a:noFill/>
          <a:ln>
            <a:gradFill>
              <a:gsLst>
                <a:gs pos="51000">
                  <a:srgbClr val="0042FF"/>
                </a:gs>
                <a:gs pos="0">
                  <a:srgbClr val="0042FF">
                    <a:alpha val="0"/>
                  </a:srgbClr>
                </a:gs>
                <a:gs pos="97000">
                  <a:srgbClr val="0042FF">
                    <a:alpha val="0"/>
                  </a:srgbClr>
                </a:gs>
              </a:gsLst>
              <a:lin ang="5400000" scaled="1"/>
            </a:gradFill>
            <a:prstDash val="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8" name="矩形 77"/>
          <p:cNvSpPr/>
          <p:nvPr/>
        </p:nvSpPr>
        <p:spPr>
          <a:xfrm>
            <a:off x="416904" y="2225711"/>
            <a:ext cx="1974029" cy="3316077"/>
          </a:xfrm>
          <a:prstGeom prst="rect">
            <a:avLst/>
          </a:prstGeom>
          <a:solidFill>
            <a:srgbClr val="E6E6E6">
              <a:alpha val="41000"/>
            </a:srgbClr>
          </a:solidFill>
          <a:ln w="12700" cap="flat">
            <a:solidFill>
              <a:srgbClr val="3368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alpha val="80000"/>
                </a:srgbClr>
              </a:solidFill>
              <a:latin typeface="微软雅黑"/>
              <a:ea typeface="微软雅黑"/>
              <a:cs typeface="微软雅黑"/>
              <a:sym typeface="微软雅黑"/>
            </a:endParaRPr>
          </a:p>
        </p:txBody>
      </p:sp>
      <p:sp>
        <p:nvSpPr>
          <p:cNvPr id="79" name="Title 2"/>
          <p:cNvSpPr txBox="1"/>
          <p:nvPr/>
        </p:nvSpPr>
        <p:spPr>
          <a:xfrm>
            <a:off x="669229" y="2361154"/>
            <a:ext cx="1469379" cy="245745"/>
          </a:xfrm>
          <a:prstGeom prst="rect">
            <a:avLst/>
          </a:prstGeom>
          <a:effectLst/>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600" b="1" dirty="0">
                <a:solidFill>
                  <a:srgbClr val="0042FF"/>
                </a:solidFill>
                <a:latin typeface="微软雅黑"/>
                <a:ea typeface="微软雅黑"/>
                <a:cs typeface="微软雅黑"/>
              </a:rPr>
              <a:t>文化遗产资源</a:t>
            </a:r>
            <a:endParaRPr lang="zh-CN" altLang="en-US" sz="1600" b="1" dirty="0">
              <a:solidFill>
                <a:srgbClr val="0042FF"/>
              </a:solidFill>
              <a:latin typeface="微软雅黑"/>
              <a:ea typeface="微软雅黑"/>
              <a:cs typeface="微软雅黑"/>
            </a:endParaRPr>
          </a:p>
        </p:txBody>
      </p:sp>
      <p:grpSp>
        <p:nvGrpSpPr>
          <p:cNvPr id="84" name="组合 83"/>
          <p:cNvGrpSpPr/>
          <p:nvPr/>
        </p:nvGrpSpPr>
        <p:grpSpPr>
          <a:xfrm rot="0">
            <a:off x="501650" y="2753360"/>
            <a:ext cx="1804670" cy="787400"/>
            <a:chOff x="-1348385" y="3243824"/>
            <a:chExt cx="1804456" cy="787554"/>
          </a:xfrm>
          <a:effectLst/>
        </p:grpSpPr>
        <p:sp>
          <p:nvSpPr>
            <p:cNvPr id="85" name="矩形 84"/>
            <p:cNvSpPr/>
            <p:nvPr/>
          </p:nvSpPr>
          <p:spPr>
            <a:xfrm>
              <a:off x="-1348385" y="3243824"/>
              <a:ext cx="1804456" cy="787554"/>
            </a:xfrm>
            <a:prstGeom prst="rect">
              <a:avLst/>
            </a:prstGeom>
            <a:solidFill>
              <a:srgbClr val="FFFFFF"/>
            </a:solidFill>
            <a:ln w="6350" cap="flat">
              <a:solidFill>
                <a:srgbClr val="DCDCDC">
                  <a:alpha val="38221"/>
                </a:srgb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86" name="Title 2"/>
            <p:cNvSpPr txBox="1"/>
            <p:nvPr/>
          </p:nvSpPr>
          <p:spPr>
            <a:xfrm>
              <a:off x="-1180765" y="3622993"/>
              <a:ext cx="1510486" cy="307400"/>
            </a:xfrm>
            <a:prstGeom prst="rect">
              <a:avLst/>
            </a:prstGeom>
            <a:noFill/>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文物与考古遗址、古籍文献、博物馆藏品</a:t>
              </a:r>
              <a:endParaRPr lang="zh-CN" altLang="en-US" sz="1000" dirty="0">
                <a:solidFill>
                  <a:srgbClr val="383838">
                    <a:alpha val="80000"/>
                  </a:srgbClr>
                </a:solidFill>
                <a:latin typeface="微软雅黑"/>
                <a:ea typeface="微软雅黑"/>
                <a:cs typeface="微软雅黑"/>
              </a:endParaRPr>
            </a:p>
          </p:txBody>
        </p:sp>
        <p:sp>
          <p:nvSpPr>
            <p:cNvPr id="87" name="Title 2"/>
            <p:cNvSpPr txBox="1"/>
            <p:nvPr/>
          </p:nvSpPr>
          <p:spPr>
            <a:xfrm>
              <a:off x="-1180846" y="3328753"/>
              <a:ext cx="1469379" cy="215307"/>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400" b="1" dirty="0">
                  <a:solidFill>
                    <a:srgbClr val="383838"/>
                  </a:solidFill>
                  <a:latin typeface="微软雅黑"/>
                  <a:ea typeface="微软雅黑"/>
                  <a:cs typeface="微软雅黑"/>
                </a:rPr>
                <a:t>物质文化遗产</a:t>
              </a:r>
              <a:endParaRPr lang="zh-CN" altLang="en-US" sz="1400" b="1" dirty="0">
                <a:solidFill>
                  <a:srgbClr val="383838"/>
                </a:solidFill>
                <a:latin typeface="微软雅黑"/>
                <a:ea typeface="微软雅黑"/>
                <a:cs typeface="微软雅黑"/>
              </a:endParaRPr>
            </a:p>
          </p:txBody>
        </p:sp>
      </p:grpSp>
      <p:grpSp>
        <p:nvGrpSpPr>
          <p:cNvPr id="44" name="组合 43"/>
          <p:cNvGrpSpPr/>
          <p:nvPr/>
        </p:nvGrpSpPr>
        <p:grpSpPr>
          <a:xfrm rot="0">
            <a:off x="501650" y="3653790"/>
            <a:ext cx="1804670" cy="787400"/>
            <a:chOff x="-1348385" y="3243824"/>
            <a:chExt cx="1804456" cy="787554"/>
          </a:xfrm>
          <a:effectLst/>
        </p:grpSpPr>
        <p:sp>
          <p:nvSpPr>
            <p:cNvPr id="45" name="矩形 44"/>
            <p:cNvSpPr/>
            <p:nvPr/>
          </p:nvSpPr>
          <p:spPr>
            <a:xfrm>
              <a:off x="-1348385" y="3243824"/>
              <a:ext cx="1804456" cy="787554"/>
            </a:xfrm>
            <a:prstGeom prst="rect">
              <a:avLst/>
            </a:prstGeom>
            <a:solidFill>
              <a:srgbClr val="FFFFFF"/>
            </a:solidFill>
            <a:ln w="6350" cap="flat">
              <a:solidFill>
                <a:srgbClr val="DCDCDC">
                  <a:alpha val="38221"/>
                </a:srgb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46" name="Title 2"/>
            <p:cNvSpPr txBox="1"/>
            <p:nvPr/>
          </p:nvSpPr>
          <p:spPr>
            <a:xfrm>
              <a:off x="-1180765" y="3622993"/>
              <a:ext cx="1510486" cy="307400"/>
            </a:xfrm>
            <a:prstGeom prst="rect">
              <a:avLst/>
            </a:prstGeom>
            <a:noFill/>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数字资产库、知识图谱、虚拟内容生产</a:t>
              </a:r>
              <a:endParaRPr lang="zh-CN" altLang="en-US" sz="1000" dirty="0">
                <a:solidFill>
                  <a:srgbClr val="383838">
                    <a:alpha val="80000"/>
                  </a:srgbClr>
                </a:solidFill>
                <a:latin typeface="微软雅黑"/>
                <a:ea typeface="微软雅黑"/>
                <a:cs typeface="微软雅黑"/>
              </a:endParaRPr>
            </a:p>
          </p:txBody>
        </p:sp>
        <p:sp>
          <p:nvSpPr>
            <p:cNvPr id="48" name="Title 2"/>
            <p:cNvSpPr txBox="1"/>
            <p:nvPr/>
          </p:nvSpPr>
          <p:spPr>
            <a:xfrm>
              <a:off x="-1260765" y="3328931"/>
              <a:ext cx="1674931" cy="200064"/>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300" b="1" dirty="0">
                  <a:solidFill>
                    <a:srgbClr val="383838"/>
                  </a:solidFill>
                  <a:latin typeface="微软雅黑"/>
                  <a:ea typeface="微软雅黑"/>
                  <a:cs typeface="微软雅黑"/>
                </a:rPr>
                <a:t>文化遗产数字化资源</a:t>
              </a:r>
              <a:endParaRPr lang="zh-CN" altLang="en-US" sz="1300" b="1" dirty="0">
                <a:solidFill>
                  <a:srgbClr val="383838"/>
                </a:solidFill>
                <a:latin typeface="微软雅黑"/>
                <a:ea typeface="微软雅黑"/>
                <a:cs typeface="微软雅黑"/>
              </a:endParaRPr>
            </a:p>
          </p:txBody>
        </p:sp>
      </p:grpSp>
      <p:grpSp>
        <p:nvGrpSpPr>
          <p:cNvPr id="49" name="组合 48"/>
          <p:cNvGrpSpPr/>
          <p:nvPr/>
        </p:nvGrpSpPr>
        <p:grpSpPr>
          <a:xfrm rot="0">
            <a:off x="501650" y="4568190"/>
            <a:ext cx="1804670" cy="787400"/>
            <a:chOff x="-1348385" y="3243824"/>
            <a:chExt cx="1804456" cy="787554"/>
          </a:xfrm>
          <a:effectLst/>
        </p:grpSpPr>
        <p:sp>
          <p:nvSpPr>
            <p:cNvPr id="50" name="矩形 49"/>
            <p:cNvSpPr/>
            <p:nvPr/>
          </p:nvSpPr>
          <p:spPr>
            <a:xfrm>
              <a:off x="-1348385" y="3243824"/>
              <a:ext cx="1804456" cy="787554"/>
            </a:xfrm>
            <a:prstGeom prst="rect">
              <a:avLst/>
            </a:prstGeom>
            <a:solidFill>
              <a:srgbClr val="FFFFFF"/>
            </a:solidFill>
            <a:ln w="6350" cap="flat">
              <a:solidFill>
                <a:srgbClr val="DCDCDC">
                  <a:alpha val="38221"/>
                </a:srgb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1" name="Title 2"/>
            <p:cNvSpPr txBox="1"/>
            <p:nvPr/>
          </p:nvSpPr>
          <p:spPr>
            <a:xfrm>
              <a:off x="-1261400" y="3622993"/>
              <a:ext cx="1631756" cy="307400"/>
            </a:xfrm>
            <a:prstGeom prst="rect">
              <a:avLst/>
            </a:prstGeom>
            <a:noFill/>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技艺数字化保存、元宇宙场景活化、</a:t>
              </a:r>
              <a:r>
                <a:rPr lang="en-US" altLang="zh-CN" sz="1000" dirty="0">
                  <a:solidFill>
                    <a:srgbClr val="383838">
                      <a:alpha val="80000"/>
                    </a:srgbClr>
                  </a:solidFill>
                  <a:latin typeface="微软雅黑"/>
                  <a:ea typeface="微软雅黑"/>
                  <a:cs typeface="微软雅黑"/>
                </a:rPr>
                <a:t>IP</a:t>
              </a:r>
              <a:r>
                <a:rPr lang="zh-CN" altLang="en-US" sz="1000" dirty="0">
                  <a:solidFill>
                    <a:srgbClr val="383838">
                      <a:alpha val="80000"/>
                    </a:srgbClr>
                  </a:solidFill>
                  <a:latin typeface="微软雅黑"/>
                  <a:ea typeface="微软雅黑"/>
                  <a:cs typeface="微软雅黑"/>
                </a:rPr>
                <a:t>化与跨界融合</a:t>
              </a:r>
              <a:endParaRPr lang="zh-CN" altLang="en-US" sz="1000" dirty="0">
                <a:solidFill>
                  <a:srgbClr val="383838">
                    <a:alpha val="80000"/>
                  </a:srgbClr>
                </a:solidFill>
                <a:latin typeface="微软雅黑"/>
                <a:ea typeface="微软雅黑"/>
                <a:cs typeface="微软雅黑"/>
              </a:endParaRPr>
            </a:p>
          </p:txBody>
        </p:sp>
        <p:sp>
          <p:nvSpPr>
            <p:cNvPr id="52" name="Title 2"/>
            <p:cNvSpPr txBox="1"/>
            <p:nvPr/>
          </p:nvSpPr>
          <p:spPr>
            <a:xfrm>
              <a:off x="-1180846" y="3328753"/>
              <a:ext cx="1469379" cy="215307"/>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400" b="1" dirty="0">
                  <a:solidFill>
                    <a:srgbClr val="383838"/>
                  </a:solidFill>
                  <a:latin typeface="微软雅黑"/>
                  <a:ea typeface="微软雅黑"/>
                  <a:cs typeface="微软雅黑"/>
                </a:rPr>
                <a:t>非物质文化遗产</a:t>
              </a:r>
              <a:endParaRPr lang="zh-CN" altLang="en-US" sz="1400" b="1" dirty="0">
                <a:solidFill>
                  <a:srgbClr val="383838"/>
                </a:solidFill>
                <a:latin typeface="微软雅黑"/>
                <a:ea typeface="微软雅黑"/>
                <a:cs typeface="微软雅黑"/>
              </a:endParaRPr>
            </a:p>
          </p:txBody>
        </p:sp>
      </p:grp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4"/>
            <a:srcRect l="17002" t="-1765" r="56499" b="-1176"/>
            <a:stretch>
              <a:fillRect/>
            </a:stretch>
          </p:blipFill>
          <p:spPr>
            <a:xfrm>
              <a:off x="13761" y="549"/>
              <a:ext cx="1582" cy="525"/>
            </a:xfrm>
            <a:prstGeom prst="rect">
              <a:avLst/>
            </a:prstGeom>
          </p:spPr>
        </p:pic>
        <p:sp>
          <p:nvSpPr>
            <p:cNvPr id="2" name="文本框 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4" name="组合 23"/>
          <p:cNvGrpSpPr/>
          <p:nvPr/>
        </p:nvGrpSpPr>
        <p:grpSpPr>
          <a:xfrm>
            <a:off x="3458845" y="1118235"/>
            <a:ext cx="5462270" cy="5430520"/>
            <a:chOff x="5447" y="1761"/>
            <a:chExt cx="8602" cy="8552"/>
          </a:xfrm>
        </p:grpSpPr>
        <p:sp>
          <p:nvSpPr>
            <p:cNvPr id="25" name="文本框 24"/>
            <p:cNvSpPr txBox="1"/>
            <p:nvPr/>
          </p:nvSpPr>
          <p:spPr>
            <a:xfrm rot="830041">
              <a:off x="6553" y="4084"/>
              <a:ext cx="6229" cy="6229"/>
            </a:xfrm>
            <a:prstGeom prst="rect">
              <a:avLst/>
            </a:prstGeom>
            <a:noFill/>
          </p:spPr>
          <p:txBody>
            <a:bodyPr wrap="square" rtlCol="0">
              <a:prstTxWarp prst="textArchUp">
                <a:avLst>
                  <a:gd name="adj" fmla="val 14301844"/>
                </a:avLst>
              </a:prstTxWarp>
              <a:spAutoFit/>
            </a:bodyPr>
            <a:p>
              <a:pPr>
                <a:defRPr>
                  <a:latin typeface="微软雅黑"/>
                  <a:ea typeface="微软雅黑"/>
                  <a:cs typeface="微软雅黑"/>
                </a:defRPr>
              </a:pPr>
              <a:r>
                <a:rPr lang="zh-CN" altLang="en-US" sz="1200" dirty="0">
                  <a:solidFill>
                    <a:srgbClr val="383838"/>
                  </a:solidFill>
                  <a:latin typeface="微软雅黑"/>
                  <a:ea typeface="微软雅黑"/>
                  <a:cs typeface="微软雅黑"/>
                </a:rPr>
                <a:t>工业类：技术支撑</a:t>
              </a:r>
              <a:endParaRPr lang="zh-CN" altLang="en-US" sz="1200" dirty="0">
                <a:solidFill>
                  <a:srgbClr val="383838"/>
                </a:solidFill>
                <a:latin typeface="微软雅黑"/>
                <a:ea typeface="微软雅黑"/>
                <a:cs typeface="微软雅黑"/>
              </a:endParaRPr>
            </a:p>
          </p:txBody>
        </p:sp>
        <p:sp>
          <p:nvSpPr>
            <p:cNvPr id="26" name="文本框 25"/>
            <p:cNvSpPr txBox="1"/>
            <p:nvPr/>
          </p:nvSpPr>
          <p:spPr>
            <a:xfrm rot="6300000">
              <a:off x="5447" y="2876"/>
              <a:ext cx="6229" cy="6229"/>
            </a:xfrm>
            <a:prstGeom prst="rect">
              <a:avLst/>
            </a:prstGeom>
            <a:noFill/>
          </p:spPr>
          <p:txBody>
            <a:bodyPr wrap="square" rtlCol="0">
              <a:prstTxWarp prst="textArchUp">
                <a:avLst>
                  <a:gd name="adj" fmla="val 14301844"/>
                </a:avLst>
              </a:prstTxWarp>
              <a:spAutoFit/>
            </a:bodyPr>
            <a:p>
              <a:pPr>
                <a:defRPr>
                  <a:latin typeface="微软雅黑"/>
                  <a:ea typeface="微软雅黑"/>
                  <a:cs typeface="微软雅黑"/>
                </a:defRPr>
              </a:pPr>
              <a:r>
                <a:rPr lang="zh-CN" altLang="en-US" sz="1200" dirty="0">
                  <a:solidFill>
                    <a:srgbClr val="383838"/>
                  </a:solidFill>
                  <a:latin typeface="微软雅黑"/>
                  <a:ea typeface="微软雅黑"/>
                  <a:cs typeface="微软雅黑"/>
                </a:rPr>
                <a:t>展示类：传播创新</a:t>
              </a:r>
              <a:endParaRPr lang="zh-CN" altLang="en-US" sz="1200" dirty="0">
                <a:solidFill>
                  <a:srgbClr val="383838"/>
                </a:solidFill>
                <a:latin typeface="微软雅黑"/>
                <a:ea typeface="微软雅黑"/>
                <a:cs typeface="微软雅黑"/>
              </a:endParaRPr>
            </a:p>
          </p:txBody>
        </p:sp>
        <p:sp>
          <p:nvSpPr>
            <p:cNvPr id="27" name="文本框 26"/>
            <p:cNvSpPr txBox="1"/>
            <p:nvPr/>
          </p:nvSpPr>
          <p:spPr>
            <a:xfrm rot="11760000">
              <a:off x="6632" y="1761"/>
              <a:ext cx="6229" cy="6229"/>
            </a:xfrm>
            <a:prstGeom prst="rect">
              <a:avLst/>
            </a:prstGeom>
            <a:noFill/>
          </p:spPr>
          <p:txBody>
            <a:bodyPr wrap="square" rtlCol="0">
              <a:prstTxWarp prst="textArchUp">
                <a:avLst>
                  <a:gd name="adj" fmla="val 14301844"/>
                </a:avLst>
              </a:prstTxWarp>
              <a:spAutoFit/>
            </a:bodyPr>
            <a:p>
              <a:pPr>
                <a:defRPr>
                  <a:latin typeface="微软雅黑"/>
                  <a:ea typeface="微软雅黑"/>
                  <a:cs typeface="微软雅黑"/>
                </a:defRPr>
              </a:pPr>
              <a:r>
                <a:rPr lang="zh-CN" altLang="en-US" sz="1200" dirty="0">
                  <a:solidFill>
                    <a:srgbClr val="383838"/>
                  </a:solidFill>
                  <a:latin typeface="微软雅黑"/>
                  <a:ea typeface="微软雅黑"/>
                  <a:cs typeface="微软雅黑"/>
                </a:rPr>
                <a:t>场景类：沉浸体验</a:t>
              </a:r>
              <a:endParaRPr lang="zh-CN" altLang="en-US" sz="1200" dirty="0">
                <a:solidFill>
                  <a:srgbClr val="383838"/>
                </a:solidFill>
                <a:latin typeface="微软雅黑"/>
                <a:ea typeface="微软雅黑"/>
                <a:cs typeface="微软雅黑"/>
              </a:endParaRPr>
            </a:p>
          </p:txBody>
        </p:sp>
        <p:sp>
          <p:nvSpPr>
            <p:cNvPr id="28" name="文本框 27"/>
            <p:cNvSpPr txBox="1"/>
            <p:nvPr/>
          </p:nvSpPr>
          <p:spPr>
            <a:xfrm rot="17280000">
              <a:off x="7820" y="2879"/>
              <a:ext cx="6229" cy="6229"/>
            </a:xfrm>
            <a:prstGeom prst="rect">
              <a:avLst/>
            </a:prstGeom>
            <a:noFill/>
          </p:spPr>
          <p:txBody>
            <a:bodyPr wrap="square" rtlCol="0">
              <a:prstTxWarp prst="textArchUp">
                <a:avLst>
                  <a:gd name="adj" fmla="val 14301844"/>
                </a:avLst>
              </a:prstTxWarp>
              <a:spAutoFit/>
            </a:bodyPr>
            <a:p>
              <a:pPr>
                <a:defRPr>
                  <a:latin typeface="微软雅黑"/>
                  <a:ea typeface="微软雅黑"/>
                  <a:cs typeface="微软雅黑"/>
                </a:defRPr>
              </a:pPr>
              <a:r>
                <a:rPr lang="zh-CN" altLang="en-US" sz="1200" dirty="0">
                  <a:solidFill>
                    <a:srgbClr val="383838"/>
                  </a:solidFill>
                  <a:latin typeface="微软雅黑"/>
                  <a:ea typeface="微软雅黑"/>
                  <a:cs typeface="微软雅黑"/>
                </a:rPr>
                <a:t>可持续价值类</a:t>
              </a:r>
              <a:endParaRPr lang="zh-CN" altLang="en-US" sz="1200" dirty="0">
                <a:solidFill>
                  <a:srgbClr val="383838"/>
                </a:solidFill>
                <a:latin typeface="微软雅黑"/>
                <a:ea typeface="微软雅黑"/>
                <a:cs typeface="微软雅黑"/>
              </a:endParaRPr>
            </a:p>
          </p:txBody>
        </p:sp>
      </p:grpSp>
      <p:sp>
        <p:nvSpPr>
          <p:cNvPr id="29" name="椭圆 28"/>
          <p:cNvSpPr/>
          <p:nvPr/>
        </p:nvSpPr>
        <p:spPr>
          <a:xfrm>
            <a:off x="4038283" y="1875790"/>
            <a:ext cx="676275" cy="676275"/>
          </a:xfrm>
          <a:prstGeom prst="ellipse">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30" name="组合 29"/>
          <p:cNvGrpSpPr/>
          <p:nvPr/>
        </p:nvGrpSpPr>
        <p:grpSpPr>
          <a:xfrm>
            <a:off x="4178300" y="3610610"/>
            <a:ext cx="412750" cy="116840"/>
            <a:chOff x="5934" y="5632"/>
            <a:chExt cx="650" cy="184"/>
          </a:xfrm>
        </p:grpSpPr>
        <p:cxnSp>
          <p:nvCxnSpPr>
            <p:cNvPr id="31" name="直接箭头连接符 30"/>
            <p:cNvCxnSpPr/>
            <p:nvPr/>
          </p:nvCxnSpPr>
          <p:spPr>
            <a:xfrm>
              <a:off x="5934" y="5632"/>
              <a:ext cx="650" cy="0"/>
            </a:xfrm>
            <a:prstGeom prst="straightConnector1">
              <a:avLst/>
            </a:prstGeom>
            <a:ln>
              <a:gradFill>
                <a:gsLst>
                  <a:gs pos="0">
                    <a:srgbClr val="0042FF"/>
                  </a:gs>
                  <a:gs pos="100000">
                    <a:srgbClr val="0042FF">
                      <a:alpha val="0"/>
                    </a:srgbClr>
                  </a:gs>
                </a:gsLst>
                <a:lin ang="10800000" scaled="1"/>
              </a:gradFill>
              <a:tailEnd type="triangle"/>
            </a:ln>
          </p:spPr>
          <p:style>
            <a:lnRef idx="2">
              <a:srgbClr val="0042FF"/>
            </a:lnRef>
            <a:fillRef idx="0">
              <a:srgbClr val="FFFFFF"/>
            </a:fillRef>
            <a:effectRef idx="0">
              <a:srgbClr val="FFFFFF"/>
            </a:effectRef>
            <a:fontRef idx="minor">
              <a:srgbClr val="383838"/>
            </a:fontRef>
          </p:style>
        </p:cxnSp>
        <p:cxnSp>
          <p:nvCxnSpPr>
            <p:cNvPr id="65" name="直接箭头连接符 64"/>
            <p:cNvCxnSpPr/>
            <p:nvPr/>
          </p:nvCxnSpPr>
          <p:spPr>
            <a:xfrm flipH="1">
              <a:off x="5934" y="5816"/>
              <a:ext cx="650" cy="0"/>
            </a:xfrm>
            <a:prstGeom prst="straightConnector1">
              <a:avLst/>
            </a:prstGeom>
            <a:ln>
              <a:gradFill>
                <a:gsLst>
                  <a:gs pos="0">
                    <a:srgbClr val="0042FF"/>
                  </a:gs>
                  <a:gs pos="100000">
                    <a:srgbClr val="0042FF">
                      <a:alpha val="0"/>
                    </a:srgbClr>
                  </a:gs>
                </a:gsLst>
                <a:lin ang="10800000" scaled="1"/>
              </a:gradFill>
              <a:tailEnd type="triangle"/>
            </a:ln>
          </p:spPr>
          <p:style>
            <a:lnRef idx="2">
              <a:srgbClr val="0042FF"/>
            </a:lnRef>
            <a:fillRef idx="0">
              <a:srgbClr val="FFFFFF"/>
            </a:fillRef>
            <a:effectRef idx="0">
              <a:srgbClr val="FFFFFF"/>
            </a:effectRef>
            <a:fontRef idx="minor">
              <a:srgbClr val="383838"/>
            </a:fontRef>
          </p:style>
        </p:cxnSp>
      </p:grpSp>
      <p:sp>
        <p:nvSpPr>
          <p:cNvPr id="66" name="圆角矩形 65"/>
          <p:cNvSpPr/>
          <p:nvPr/>
        </p:nvSpPr>
        <p:spPr>
          <a:xfrm>
            <a:off x="3056890" y="3369945"/>
            <a:ext cx="991870" cy="610235"/>
          </a:xfrm>
          <a:prstGeom prst="roundRect">
            <a:avLst/>
          </a:prstGeom>
          <a:gradFill>
            <a:gsLst>
              <a:gs pos="100000">
                <a:srgbClr val="0042FF"/>
              </a:gs>
              <a:gs pos="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nvGrpSpPr>
          <p:cNvPr id="67" name="组合 66"/>
          <p:cNvGrpSpPr/>
          <p:nvPr/>
        </p:nvGrpSpPr>
        <p:grpSpPr>
          <a:xfrm>
            <a:off x="2561590" y="3512185"/>
            <a:ext cx="623570" cy="334010"/>
            <a:chOff x="4034" y="5531"/>
            <a:chExt cx="982" cy="526"/>
          </a:xfrm>
        </p:grpSpPr>
        <p:sp>
          <p:nvSpPr>
            <p:cNvPr id="73" name="菱形 72"/>
            <p:cNvSpPr/>
            <p:nvPr/>
          </p:nvSpPr>
          <p:spPr>
            <a:xfrm rot="10800000" flipH="1" flipV="1">
              <a:off x="4258" y="5531"/>
              <a:ext cx="759" cy="51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74" name="菱形 73"/>
            <p:cNvSpPr/>
            <p:nvPr/>
          </p:nvSpPr>
          <p:spPr>
            <a:xfrm rot="10800000" flipH="1" flipV="1">
              <a:off x="4034" y="5545"/>
              <a:ext cx="759" cy="51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75" name="文本框 74"/>
          <p:cNvSpPr txBox="1"/>
          <p:nvPr/>
        </p:nvSpPr>
        <p:spPr>
          <a:xfrm>
            <a:off x="3968115" y="3297555"/>
            <a:ext cx="83312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内容源泉</a:t>
            </a:r>
            <a:endParaRPr lang="zh-CN" altLang="en-US" sz="1000">
              <a:solidFill>
                <a:srgbClr val="383838"/>
              </a:solidFill>
              <a:latin typeface="微软雅黑"/>
              <a:ea typeface="微软雅黑"/>
              <a:cs typeface="微软雅黑"/>
            </a:endParaRPr>
          </a:p>
        </p:txBody>
      </p:sp>
      <p:sp>
        <p:nvSpPr>
          <p:cNvPr id="76" name="文本框 75"/>
          <p:cNvSpPr txBox="1"/>
          <p:nvPr/>
        </p:nvSpPr>
        <p:spPr>
          <a:xfrm>
            <a:off x="3968115" y="3882390"/>
            <a:ext cx="83312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技术支持</a:t>
            </a:r>
            <a:endParaRPr lang="zh-CN" altLang="en-US" sz="1000">
              <a:solidFill>
                <a:srgbClr val="383838"/>
              </a:solidFill>
              <a:latin typeface="微软雅黑"/>
              <a:ea typeface="微软雅黑"/>
              <a:cs typeface="微软雅黑"/>
            </a:endParaRPr>
          </a:p>
        </p:txBody>
      </p:sp>
      <p:sp>
        <p:nvSpPr>
          <p:cNvPr id="77" name="文本框 76"/>
          <p:cNvSpPr txBox="1"/>
          <p:nvPr/>
        </p:nvSpPr>
        <p:spPr>
          <a:xfrm>
            <a:off x="3959860" y="1968183"/>
            <a:ext cx="833120" cy="491490"/>
          </a:xfrm>
          <a:prstGeom prst="rect">
            <a:avLst/>
          </a:prstGeom>
          <a:noFill/>
        </p:spPr>
        <p:txBody>
          <a:bodyPr wrap="square" rtlCol="0">
            <a:spAutoFit/>
          </a:bodyPr>
          <a:p>
            <a:pPr algn="ctr">
              <a:defRPr>
                <a:latin typeface="微软雅黑"/>
                <a:ea typeface="微软雅黑"/>
                <a:cs typeface="微软雅黑"/>
              </a:defRPr>
            </a:pPr>
            <a:r>
              <a:rPr lang="zh-CN" altLang="en-US" sz="1300">
                <a:solidFill>
                  <a:srgbClr val="383838"/>
                </a:solidFill>
                <a:latin typeface="微软雅黑"/>
                <a:ea typeface="微软雅黑"/>
                <a:cs typeface="微软雅黑"/>
              </a:rPr>
              <a:t>支撑</a:t>
            </a:r>
            <a:endParaRPr lang="zh-CN" altLang="en-US"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latin typeface="微软雅黑"/>
                <a:ea typeface="微软雅黑"/>
                <a:cs typeface="微软雅黑"/>
              </a:rPr>
              <a:t>副链</a:t>
            </a:r>
            <a:endParaRPr lang="zh-CN" altLang="en-US" sz="1300">
              <a:solidFill>
                <a:srgbClr val="383838"/>
              </a:solidFill>
              <a:latin typeface="微软雅黑"/>
              <a:ea typeface="微软雅黑"/>
              <a:cs typeface="微软雅黑"/>
            </a:endParaRPr>
          </a:p>
        </p:txBody>
      </p:sp>
      <p:grpSp>
        <p:nvGrpSpPr>
          <p:cNvPr id="80" name="组合 79"/>
          <p:cNvGrpSpPr/>
          <p:nvPr/>
        </p:nvGrpSpPr>
        <p:grpSpPr>
          <a:xfrm>
            <a:off x="3562350" y="4939030"/>
            <a:ext cx="1026160" cy="399415"/>
            <a:chOff x="4482" y="5400"/>
            <a:chExt cx="1318" cy="513"/>
          </a:xfrm>
          <a:gradFill>
            <a:gsLst>
              <a:gs pos="100000">
                <a:srgbClr val="0042FF"/>
              </a:gs>
              <a:gs pos="0">
                <a:srgbClr val="3368FF"/>
              </a:gs>
            </a:gsLst>
            <a:lin ang="5400000" scaled="0"/>
          </a:gradFill>
        </p:grpSpPr>
        <p:sp>
          <p:nvSpPr>
            <p:cNvPr id="81" name="圆角矩形 80"/>
            <p:cNvSpPr/>
            <p:nvPr/>
          </p:nvSpPr>
          <p:spPr>
            <a:xfrm>
              <a:off x="4482" y="5400"/>
              <a:ext cx="1303" cy="513"/>
            </a:xfrm>
            <a:prstGeom prst="roundRect">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2" name="文本框 81"/>
            <p:cNvSpPr txBox="1"/>
            <p:nvPr/>
          </p:nvSpPr>
          <p:spPr>
            <a:xfrm>
              <a:off x="4488" y="5452"/>
              <a:ext cx="1312" cy="394"/>
            </a:xfrm>
            <a:prstGeom prst="rect">
              <a:avLst/>
            </a:prstGeom>
            <a:grpFill/>
            <a:extLst>
              <a:ext uri="{909E8E84-426E-40DD-AFC4-6F175D3DCCD1}">
                <a14:hiddenFill xmlns:a14="http://schemas.microsoft.com/office/drawing/2010/main">
                  <a:grpFill/>
                </a14:hiddenFill>
              </a:ext>
            </a:extLst>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投资机构</a:t>
              </a:r>
              <a:endParaRPr lang="zh-CN" altLang="en-US" sz="1400">
                <a:solidFill>
                  <a:srgbClr val="FFFFFF"/>
                </a:solidFill>
                <a:latin typeface="微软雅黑"/>
                <a:ea typeface="微软雅黑"/>
                <a:cs typeface="微软雅黑"/>
              </a:endParaRPr>
            </a:p>
          </p:txBody>
        </p:sp>
      </p:grpSp>
      <p:cxnSp>
        <p:nvCxnSpPr>
          <p:cNvPr id="83" name="直接箭头连接符 82"/>
          <p:cNvCxnSpPr/>
          <p:nvPr/>
        </p:nvCxnSpPr>
        <p:spPr>
          <a:xfrm flipV="1">
            <a:off x="4187190" y="4434840"/>
            <a:ext cx="511810" cy="392430"/>
          </a:xfrm>
          <a:prstGeom prst="straightConnector1">
            <a:avLst/>
          </a:prstGeom>
          <a:ln>
            <a:gradFill>
              <a:gsLst>
                <a:gs pos="0">
                  <a:srgbClr val="0042FF"/>
                </a:gs>
                <a:gs pos="100000">
                  <a:srgbClr val="0042FF">
                    <a:alpha val="0"/>
                  </a:srgbClr>
                </a:gs>
              </a:gsLst>
              <a:lin ang="10800000" scaled="1"/>
            </a:gradFill>
            <a:tailEnd type="triangle"/>
          </a:ln>
        </p:spPr>
        <p:style>
          <a:lnRef idx="2">
            <a:srgbClr val="0042FF"/>
          </a:lnRef>
          <a:fillRef idx="0">
            <a:srgbClr val="FFFFFF"/>
          </a:fillRef>
          <a:effectRef idx="0">
            <a:srgbClr val="FFFFFF"/>
          </a:effectRef>
          <a:fontRef idx="minor">
            <a:srgbClr val="383838"/>
          </a:fontRef>
        </p:style>
      </p:cxnSp>
      <p:sp>
        <p:nvSpPr>
          <p:cNvPr id="88" name="文本框 87"/>
          <p:cNvSpPr txBox="1"/>
          <p:nvPr/>
        </p:nvSpPr>
        <p:spPr>
          <a:xfrm rot="19260000">
            <a:off x="4165600" y="4612005"/>
            <a:ext cx="83312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资金支持</a:t>
            </a:r>
            <a:endParaRPr lang="zh-CN" altLang="en-US" sz="1000">
              <a:solidFill>
                <a:srgbClr val="383838"/>
              </a:solidFill>
              <a:latin typeface="微软雅黑"/>
              <a:ea typeface="微软雅黑"/>
              <a:cs typeface="微软雅黑"/>
            </a:endParaRPr>
          </a:p>
        </p:txBody>
      </p:sp>
      <p:sp>
        <p:nvSpPr>
          <p:cNvPr id="89" name="文本框 88"/>
          <p:cNvSpPr txBox="1"/>
          <p:nvPr/>
        </p:nvSpPr>
        <p:spPr>
          <a:xfrm>
            <a:off x="3048000" y="3413125"/>
            <a:ext cx="998855" cy="525145"/>
          </a:xfrm>
          <a:prstGeom prst="rect">
            <a:avLst/>
          </a:prstGeom>
          <a:noFill/>
          <a:extLst>
            <a:ext uri="{909E8E84-426E-40DD-AFC4-6F175D3DCCD1}">
              <a14:hiddenFill xmlns:a14="http://schemas.microsoft.com/office/drawing/2010/main">
                <a:grpFill/>
              </a14:hiddenFill>
            </a:ext>
          </a:extLst>
        </p:spPr>
        <p:txBody>
          <a:bodyPr wrap="square" rtlCol="0">
            <a:no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文化遗产资源端</a:t>
            </a:r>
            <a:endParaRPr lang="zh-CN" altLang="en-US" sz="1400">
              <a:solidFill>
                <a:srgbClr val="FFFFFF"/>
              </a:solidFill>
              <a:latin typeface="微软雅黑"/>
              <a:ea typeface="微软雅黑"/>
              <a:cs typeface="微软雅黑"/>
            </a:endParaRPr>
          </a:p>
        </p:txBody>
      </p:sp>
      <p:grpSp>
        <p:nvGrpSpPr>
          <p:cNvPr id="90" name="组合 89"/>
          <p:cNvGrpSpPr/>
          <p:nvPr/>
        </p:nvGrpSpPr>
        <p:grpSpPr>
          <a:xfrm>
            <a:off x="7768590" y="3693160"/>
            <a:ext cx="412750" cy="116840"/>
            <a:chOff x="5934" y="5632"/>
            <a:chExt cx="650" cy="184"/>
          </a:xfrm>
        </p:grpSpPr>
        <p:cxnSp>
          <p:nvCxnSpPr>
            <p:cNvPr id="91" name="直接箭头连接符 90"/>
            <p:cNvCxnSpPr/>
            <p:nvPr/>
          </p:nvCxnSpPr>
          <p:spPr>
            <a:xfrm>
              <a:off x="5934" y="5632"/>
              <a:ext cx="650" cy="0"/>
            </a:xfrm>
            <a:prstGeom prst="straightConnector1">
              <a:avLst/>
            </a:prstGeom>
            <a:ln>
              <a:gradFill>
                <a:gsLst>
                  <a:gs pos="0">
                    <a:srgbClr val="0042FF"/>
                  </a:gs>
                  <a:gs pos="100000">
                    <a:srgbClr val="0042FF">
                      <a:alpha val="0"/>
                    </a:srgbClr>
                  </a:gs>
                </a:gsLst>
                <a:lin ang="10800000" scaled="1"/>
              </a:gradFill>
              <a:tailEnd type="triangle"/>
            </a:ln>
          </p:spPr>
          <p:style>
            <a:lnRef idx="2">
              <a:srgbClr val="0042FF"/>
            </a:lnRef>
            <a:fillRef idx="0">
              <a:srgbClr val="FFFFFF"/>
            </a:fillRef>
            <a:effectRef idx="0">
              <a:srgbClr val="FFFFFF"/>
            </a:effectRef>
            <a:fontRef idx="minor">
              <a:srgbClr val="383838"/>
            </a:fontRef>
          </p:style>
        </p:cxnSp>
        <p:cxnSp>
          <p:nvCxnSpPr>
            <p:cNvPr id="92" name="直接箭头连接符 91"/>
            <p:cNvCxnSpPr/>
            <p:nvPr/>
          </p:nvCxnSpPr>
          <p:spPr>
            <a:xfrm flipH="1">
              <a:off x="5934" y="5816"/>
              <a:ext cx="650" cy="0"/>
            </a:xfrm>
            <a:prstGeom prst="straightConnector1">
              <a:avLst/>
            </a:prstGeom>
            <a:ln>
              <a:gradFill>
                <a:gsLst>
                  <a:gs pos="0">
                    <a:srgbClr val="0042FF"/>
                  </a:gs>
                  <a:gs pos="100000">
                    <a:srgbClr val="0042FF">
                      <a:alpha val="0"/>
                    </a:srgbClr>
                  </a:gs>
                </a:gsLst>
                <a:lin ang="10800000" scaled="1"/>
              </a:gradFill>
              <a:tailEnd type="triangle"/>
            </a:ln>
          </p:spPr>
          <p:style>
            <a:lnRef idx="2">
              <a:srgbClr val="0042FF"/>
            </a:lnRef>
            <a:fillRef idx="0">
              <a:srgbClr val="FFFFFF"/>
            </a:fillRef>
            <a:effectRef idx="0">
              <a:srgbClr val="FFFFFF"/>
            </a:effectRef>
            <a:fontRef idx="minor">
              <a:srgbClr val="383838"/>
            </a:fontRef>
          </p:style>
        </p:cxnSp>
      </p:grpSp>
      <p:sp>
        <p:nvSpPr>
          <p:cNvPr id="93" name="文本框 92"/>
          <p:cNvSpPr txBox="1"/>
          <p:nvPr/>
        </p:nvSpPr>
        <p:spPr>
          <a:xfrm>
            <a:off x="7558405" y="3229610"/>
            <a:ext cx="83312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文化遗产</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产品</a:t>
            </a:r>
            <a:endParaRPr lang="zh-CN" altLang="en-US" sz="1000">
              <a:solidFill>
                <a:srgbClr val="383838"/>
              </a:solidFill>
              <a:latin typeface="微软雅黑"/>
              <a:ea typeface="微软雅黑"/>
              <a:cs typeface="微软雅黑"/>
            </a:endParaRPr>
          </a:p>
        </p:txBody>
      </p:sp>
      <p:sp>
        <p:nvSpPr>
          <p:cNvPr id="94" name="文本框 93"/>
          <p:cNvSpPr txBox="1"/>
          <p:nvPr/>
        </p:nvSpPr>
        <p:spPr>
          <a:xfrm>
            <a:off x="7558405" y="3927475"/>
            <a:ext cx="83312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多元化</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需求</a:t>
            </a:r>
            <a:endParaRPr lang="zh-CN" altLang="en-US" sz="1000">
              <a:solidFill>
                <a:srgbClr val="383838"/>
              </a:solidFill>
              <a:latin typeface="微软雅黑"/>
              <a:ea typeface="微软雅黑"/>
              <a:cs typeface="微软雅黑"/>
            </a:endParaRPr>
          </a:p>
        </p:txBody>
      </p:sp>
      <p:sp>
        <p:nvSpPr>
          <p:cNvPr id="95" name="椭圆 94"/>
          <p:cNvSpPr/>
          <p:nvPr/>
        </p:nvSpPr>
        <p:spPr>
          <a:xfrm>
            <a:off x="7708583" y="1864360"/>
            <a:ext cx="676275" cy="676275"/>
          </a:xfrm>
          <a:prstGeom prst="ellipse">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9" name="文本框 98"/>
          <p:cNvSpPr txBox="1"/>
          <p:nvPr/>
        </p:nvSpPr>
        <p:spPr>
          <a:xfrm>
            <a:off x="7630160" y="1956753"/>
            <a:ext cx="833120" cy="491490"/>
          </a:xfrm>
          <a:prstGeom prst="rect">
            <a:avLst/>
          </a:prstGeom>
          <a:noFill/>
        </p:spPr>
        <p:txBody>
          <a:bodyPr wrap="square" rtlCol="0">
            <a:spAutoFit/>
          </a:bodyPr>
          <a:p>
            <a:pPr algn="ctr">
              <a:defRPr>
                <a:latin typeface="微软雅黑"/>
                <a:ea typeface="微软雅黑"/>
                <a:cs typeface="微软雅黑"/>
              </a:defRPr>
            </a:pPr>
            <a:r>
              <a:rPr lang="zh-CN" altLang="en-US" sz="1300">
                <a:solidFill>
                  <a:srgbClr val="383838"/>
                </a:solidFill>
                <a:latin typeface="微软雅黑"/>
                <a:ea typeface="微软雅黑"/>
                <a:cs typeface="微软雅黑"/>
              </a:rPr>
              <a:t>支撑</a:t>
            </a:r>
            <a:endParaRPr lang="zh-CN" altLang="en-US" sz="13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300">
                <a:solidFill>
                  <a:srgbClr val="383838"/>
                </a:solidFill>
                <a:latin typeface="微软雅黑"/>
                <a:ea typeface="微软雅黑"/>
                <a:cs typeface="微软雅黑"/>
              </a:rPr>
              <a:t>副链</a:t>
            </a:r>
            <a:endParaRPr lang="zh-CN" altLang="en-US" sz="1300">
              <a:solidFill>
                <a:srgbClr val="383838"/>
              </a:solidFill>
              <a:latin typeface="微软雅黑"/>
              <a:ea typeface="微软雅黑"/>
              <a:cs typeface="微软雅黑"/>
            </a:endParaRPr>
          </a:p>
        </p:txBody>
      </p:sp>
      <p:sp>
        <p:nvSpPr>
          <p:cNvPr id="100" name="椭圆 99"/>
          <p:cNvSpPr/>
          <p:nvPr/>
        </p:nvSpPr>
        <p:spPr>
          <a:xfrm>
            <a:off x="7826693" y="4983480"/>
            <a:ext cx="676275" cy="676275"/>
          </a:xfrm>
          <a:prstGeom prst="ellipse">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1" name="文本框 100"/>
          <p:cNvSpPr txBox="1"/>
          <p:nvPr/>
        </p:nvSpPr>
        <p:spPr>
          <a:xfrm>
            <a:off x="7748270" y="5073333"/>
            <a:ext cx="833120" cy="521970"/>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支撑</a:t>
            </a:r>
            <a:endParaRPr lang="zh-CN" altLang="en-US" sz="130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副链</a:t>
            </a:r>
            <a:endParaRPr lang="zh-CN" altLang="en-US" sz="1300">
              <a:solidFill>
                <a:srgbClr val="383838"/>
              </a:solidFill>
              <a:latin typeface="微软雅黑"/>
              <a:ea typeface="微软雅黑"/>
              <a:cs typeface="微软雅黑"/>
              <a:sym typeface="微软雅黑"/>
            </a:endParaRPr>
          </a:p>
        </p:txBody>
      </p:sp>
      <p:sp>
        <p:nvSpPr>
          <p:cNvPr id="102" name="圆角矩形 101"/>
          <p:cNvSpPr/>
          <p:nvPr/>
        </p:nvSpPr>
        <p:spPr>
          <a:xfrm>
            <a:off x="8260715" y="3456940"/>
            <a:ext cx="991870" cy="610235"/>
          </a:xfrm>
          <a:prstGeom prst="roundRect">
            <a:avLst/>
          </a:prstGeom>
          <a:gradFill>
            <a:gsLst>
              <a:gs pos="100000">
                <a:srgbClr val="0042FF"/>
              </a:gs>
              <a:gs pos="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03" name="矩形 102"/>
          <p:cNvSpPr/>
          <p:nvPr/>
        </p:nvSpPr>
        <p:spPr>
          <a:xfrm>
            <a:off x="9964129" y="2166656"/>
            <a:ext cx="1974029" cy="3316077"/>
          </a:xfrm>
          <a:prstGeom prst="rect">
            <a:avLst/>
          </a:prstGeom>
          <a:solidFill>
            <a:srgbClr val="E6E6E6">
              <a:alpha val="41000"/>
            </a:srgbClr>
          </a:solidFill>
          <a:ln w="12700" cap="flat">
            <a:solidFill>
              <a:srgbClr val="3368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l" hangingPunct="0">
              <a:buClrTx/>
              <a:buSzTx/>
              <a:buFontTx/>
              <a:defRPr>
                <a:latin typeface="微软雅黑"/>
                <a:ea typeface="微软雅黑"/>
                <a:cs typeface="微软雅黑"/>
              </a:defRPr>
            </a:pPr>
            <a:endParaRPr lang="zh-CN" altLang="en-US">
              <a:solidFill>
                <a:srgbClr val="383838">
                  <a:alpha val="80000"/>
                </a:srgbClr>
              </a:solidFill>
              <a:latin typeface="微软雅黑"/>
              <a:ea typeface="微软雅黑"/>
              <a:cs typeface="微软雅黑"/>
              <a:sym typeface="微软雅黑"/>
            </a:endParaRPr>
          </a:p>
        </p:txBody>
      </p:sp>
      <p:sp>
        <p:nvSpPr>
          <p:cNvPr id="104" name="Title 2"/>
          <p:cNvSpPr txBox="1"/>
          <p:nvPr/>
        </p:nvSpPr>
        <p:spPr>
          <a:xfrm>
            <a:off x="10216454" y="2302099"/>
            <a:ext cx="1469379" cy="245745"/>
          </a:xfrm>
          <a:prstGeom prst="rect">
            <a:avLst/>
          </a:prstGeom>
          <a:effectLst/>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600" b="1" dirty="0">
                <a:solidFill>
                  <a:srgbClr val="0042FF"/>
                </a:solidFill>
                <a:latin typeface="微软雅黑"/>
                <a:ea typeface="微软雅黑"/>
                <a:cs typeface="微软雅黑"/>
              </a:rPr>
              <a:t>消费者市场</a:t>
            </a:r>
            <a:endParaRPr lang="zh-CN" altLang="en-US" sz="1600" b="1" dirty="0">
              <a:solidFill>
                <a:srgbClr val="0042FF"/>
              </a:solidFill>
              <a:latin typeface="微软雅黑"/>
              <a:ea typeface="微软雅黑"/>
              <a:cs typeface="微软雅黑"/>
            </a:endParaRPr>
          </a:p>
        </p:txBody>
      </p:sp>
      <p:grpSp>
        <p:nvGrpSpPr>
          <p:cNvPr id="105" name="组合 104"/>
          <p:cNvGrpSpPr/>
          <p:nvPr/>
        </p:nvGrpSpPr>
        <p:grpSpPr>
          <a:xfrm rot="0">
            <a:off x="10048875" y="2694305"/>
            <a:ext cx="1804670" cy="787400"/>
            <a:chOff x="-1348385" y="3243824"/>
            <a:chExt cx="1804456" cy="787554"/>
          </a:xfrm>
          <a:effectLst/>
        </p:grpSpPr>
        <p:sp>
          <p:nvSpPr>
            <p:cNvPr id="106" name="矩形 105"/>
            <p:cNvSpPr/>
            <p:nvPr/>
          </p:nvSpPr>
          <p:spPr>
            <a:xfrm>
              <a:off x="-1348385" y="3243824"/>
              <a:ext cx="1804456" cy="787554"/>
            </a:xfrm>
            <a:prstGeom prst="rect">
              <a:avLst/>
            </a:prstGeom>
            <a:solidFill>
              <a:srgbClr val="FFFFFF"/>
            </a:solidFill>
            <a:ln w="6350" cap="flat">
              <a:solidFill>
                <a:srgbClr val="DCDCDC">
                  <a:alpha val="38221"/>
                </a:srgb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07" name="Title 2"/>
            <p:cNvSpPr txBox="1"/>
            <p:nvPr/>
          </p:nvSpPr>
          <p:spPr>
            <a:xfrm>
              <a:off x="-1180765" y="3622993"/>
              <a:ext cx="1510486" cy="307400"/>
            </a:xfrm>
            <a:prstGeom prst="rect">
              <a:avLst/>
            </a:prstGeom>
            <a:noFill/>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文化可传承、产业可持续造血、全民参与</a:t>
              </a:r>
              <a:endParaRPr lang="zh-CN" altLang="en-US" sz="1000" dirty="0">
                <a:solidFill>
                  <a:srgbClr val="383838">
                    <a:alpha val="80000"/>
                  </a:srgbClr>
                </a:solidFill>
                <a:latin typeface="微软雅黑"/>
                <a:ea typeface="微软雅黑"/>
                <a:cs typeface="微软雅黑"/>
              </a:endParaRPr>
            </a:p>
          </p:txBody>
        </p:sp>
        <p:sp>
          <p:nvSpPr>
            <p:cNvPr id="108" name="Title 2"/>
            <p:cNvSpPr txBox="1"/>
            <p:nvPr/>
          </p:nvSpPr>
          <p:spPr>
            <a:xfrm>
              <a:off x="-1180846" y="3328753"/>
              <a:ext cx="1469379" cy="215307"/>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400" b="1" dirty="0">
                  <a:solidFill>
                    <a:srgbClr val="383838"/>
                  </a:solidFill>
                  <a:latin typeface="微软雅黑"/>
                  <a:ea typeface="微软雅黑"/>
                  <a:cs typeface="微软雅黑"/>
                </a:rPr>
                <a:t>可持续性</a:t>
              </a:r>
              <a:endParaRPr lang="zh-CN" altLang="en-US" sz="1400" b="1" dirty="0">
                <a:solidFill>
                  <a:srgbClr val="383838"/>
                </a:solidFill>
                <a:latin typeface="微软雅黑"/>
                <a:ea typeface="微软雅黑"/>
                <a:cs typeface="微软雅黑"/>
              </a:endParaRPr>
            </a:p>
          </p:txBody>
        </p:sp>
      </p:grpSp>
      <p:grpSp>
        <p:nvGrpSpPr>
          <p:cNvPr id="111" name="组合 110"/>
          <p:cNvGrpSpPr/>
          <p:nvPr/>
        </p:nvGrpSpPr>
        <p:grpSpPr>
          <a:xfrm rot="0">
            <a:off x="10048875" y="3594735"/>
            <a:ext cx="1804670" cy="787400"/>
            <a:chOff x="-1348385" y="3243824"/>
            <a:chExt cx="1804456" cy="787554"/>
          </a:xfrm>
          <a:effectLst/>
        </p:grpSpPr>
        <p:sp>
          <p:nvSpPr>
            <p:cNvPr id="121" name="矩形 120"/>
            <p:cNvSpPr/>
            <p:nvPr/>
          </p:nvSpPr>
          <p:spPr>
            <a:xfrm>
              <a:off x="-1348385" y="3243824"/>
              <a:ext cx="1804456" cy="787554"/>
            </a:xfrm>
            <a:prstGeom prst="rect">
              <a:avLst/>
            </a:prstGeom>
            <a:solidFill>
              <a:srgbClr val="FFFFFF"/>
            </a:solidFill>
            <a:ln w="6350" cap="flat">
              <a:solidFill>
                <a:srgbClr val="DCDCDC">
                  <a:alpha val="38221"/>
                </a:srgb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22" name="Title 2"/>
            <p:cNvSpPr txBox="1"/>
            <p:nvPr/>
          </p:nvSpPr>
          <p:spPr>
            <a:xfrm>
              <a:off x="-1260130" y="3622993"/>
              <a:ext cx="1589851" cy="307400"/>
            </a:xfrm>
            <a:prstGeom prst="rect">
              <a:avLst/>
            </a:prstGeom>
            <a:noFill/>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rPr>
                <a:t>需求层场景洞察、能力层技术融合、价值层规模转化</a:t>
              </a:r>
              <a:endParaRPr lang="zh-CN" altLang="en-US" sz="1000" dirty="0">
                <a:solidFill>
                  <a:srgbClr val="383838">
                    <a:alpha val="80000"/>
                  </a:srgbClr>
                </a:solidFill>
                <a:latin typeface="微软雅黑"/>
                <a:ea typeface="微软雅黑"/>
                <a:cs typeface="微软雅黑"/>
              </a:endParaRPr>
            </a:p>
          </p:txBody>
        </p:sp>
        <p:sp>
          <p:nvSpPr>
            <p:cNvPr id="123" name="Title 2"/>
            <p:cNvSpPr txBox="1"/>
            <p:nvPr/>
          </p:nvSpPr>
          <p:spPr>
            <a:xfrm>
              <a:off x="-1260765" y="3328931"/>
              <a:ext cx="1674931" cy="200064"/>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300" b="1" dirty="0">
                  <a:solidFill>
                    <a:srgbClr val="383838"/>
                  </a:solidFill>
                  <a:latin typeface="微软雅黑"/>
                  <a:ea typeface="微软雅黑"/>
                  <a:cs typeface="微软雅黑"/>
                </a:rPr>
                <a:t>数字化共创体系</a:t>
              </a:r>
              <a:endParaRPr lang="zh-CN" altLang="en-US" sz="1300" b="1" dirty="0">
                <a:solidFill>
                  <a:srgbClr val="383838"/>
                </a:solidFill>
                <a:latin typeface="微软雅黑"/>
                <a:ea typeface="微软雅黑"/>
                <a:cs typeface="微软雅黑"/>
              </a:endParaRPr>
            </a:p>
          </p:txBody>
        </p:sp>
      </p:grpSp>
      <p:grpSp>
        <p:nvGrpSpPr>
          <p:cNvPr id="124" name="组合 123"/>
          <p:cNvGrpSpPr/>
          <p:nvPr/>
        </p:nvGrpSpPr>
        <p:grpSpPr>
          <a:xfrm rot="0">
            <a:off x="10048875" y="4509135"/>
            <a:ext cx="1804670" cy="787400"/>
            <a:chOff x="-1348385" y="3243824"/>
            <a:chExt cx="1804456" cy="787554"/>
          </a:xfrm>
          <a:effectLst/>
        </p:grpSpPr>
        <p:sp>
          <p:nvSpPr>
            <p:cNvPr id="133" name="矩形 132"/>
            <p:cNvSpPr/>
            <p:nvPr/>
          </p:nvSpPr>
          <p:spPr>
            <a:xfrm>
              <a:off x="-1348385" y="3243824"/>
              <a:ext cx="1804456" cy="787554"/>
            </a:xfrm>
            <a:prstGeom prst="rect">
              <a:avLst/>
            </a:prstGeom>
            <a:solidFill>
              <a:srgbClr val="FFFFFF"/>
            </a:solidFill>
            <a:ln w="6350" cap="flat">
              <a:solidFill>
                <a:srgbClr val="DCDCDC">
                  <a:alpha val="38221"/>
                </a:srgb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34" name="Title 2"/>
            <p:cNvSpPr txBox="1"/>
            <p:nvPr/>
          </p:nvSpPr>
          <p:spPr>
            <a:xfrm>
              <a:off x="-1180765" y="3622993"/>
              <a:ext cx="1510486" cy="307400"/>
            </a:xfrm>
            <a:prstGeom prst="rect">
              <a:avLst/>
            </a:prstGeom>
            <a:noFill/>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sz="1000" dirty="0">
                  <a:solidFill>
                    <a:srgbClr val="383838">
                      <a:alpha val="80000"/>
                    </a:srgbClr>
                  </a:solidFill>
                  <a:latin typeface="微软雅黑"/>
                  <a:ea typeface="微软雅黑"/>
                  <a:cs typeface="微软雅黑"/>
                </a:rPr>
                <a:t>体验升级、交互革新、生态共建，从体验到共创</a:t>
              </a:r>
              <a:endParaRPr lang="zh-CN" sz="1000" dirty="0">
                <a:solidFill>
                  <a:srgbClr val="383838">
                    <a:alpha val="80000"/>
                  </a:srgbClr>
                </a:solidFill>
                <a:latin typeface="微软雅黑"/>
                <a:ea typeface="微软雅黑"/>
                <a:cs typeface="微软雅黑"/>
              </a:endParaRPr>
            </a:p>
          </p:txBody>
        </p:sp>
        <p:sp>
          <p:nvSpPr>
            <p:cNvPr id="135" name="Title 2"/>
            <p:cNvSpPr txBox="1"/>
            <p:nvPr/>
          </p:nvSpPr>
          <p:spPr>
            <a:xfrm>
              <a:off x="-1180846" y="3328753"/>
              <a:ext cx="1469379" cy="215307"/>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R="0" lvl="0" algn="ctr" defTabSz="914400" rtl="0" eaLnBrk="1" fontAlgn="auto" latinLnBrk="0" hangingPunct="1">
                <a:lnSpc>
                  <a:spcPct val="100000"/>
                </a:lnSpc>
                <a:spcBef>
                  <a:spcPct val="0"/>
                </a:spcBef>
                <a:spcAft>
                  <a:spcPts val="0"/>
                </a:spcAft>
                <a:buClrTx/>
                <a:buSzTx/>
                <a:defRPr>
                  <a:latin typeface="微软雅黑"/>
                  <a:ea typeface="微软雅黑"/>
                  <a:cs typeface="微软雅黑"/>
                </a:defRPr>
              </a:pPr>
              <a:r>
                <a:rPr lang="zh-CN" altLang="en-US" sz="1400" b="1" dirty="0">
                  <a:solidFill>
                    <a:srgbClr val="383838"/>
                  </a:solidFill>
                  <a:latin typeface="微软雅黑"/>
                  <a:ea typeface="微软雅黑"/>
                  <a:cs typeface="微软雅黑"/>
                </a:rPr>
                <a:t>全真互联</a:t>
              </a:r>
              <a:endParaRPr lang="zh-CN" altLang="en-US" sz="1400" b="1" dirty="0">
                <a:solidFill>
                  <a:srgbClr val="383838"/>
                </a:solidFill>
                <a:latin typeface="微软雅黑"/>
                <a:ea typeface="微软雅黑"/>
                <a:cs typeface="微软雅黑"/>
              </a:endParaRPr>
            </a:p>
          </p:txBody>
        </p:sp>
      </p:grpSp>
      <p:grpSp>
        <p:nvGrpSpPr>
          <p:cNvPr id="141" name="组合 140"/>
          <p:cNvGrpSpPr/>
          <p:nvPr/>
        </p:nvGrpSpPr>
        <p:grpSpPr>
          <a:xfrm flipH="1">
            <a:off x="9171940" y="3560445"/>
            <a:ext cx="623570" cy="334010"/>
            <a:chOff x="4034" y="5531"/>
            <a:chExt cx="982" cy="526"/>
          </a:xfrm>
        </p:grpSpPr>
        <p:sp>
          <p:nvSpPr>
            <p:cNvPr id="142" name="菱形 141"/>
            <p:cNvSpPr/>
            <p:nvPr/>
          </p:nvSpPr>
          <p:spPr>
            <a:xfrm rot="10800000" flipH="1" flipV="1">
              <a:off x="4258" y="5531"/>
              <a:ext cx="759" cy="51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43" name="菱形 142"/>
            <p:cNvSpPr/>
            <p:nvPr/>
          </p:nvSpPr>
          <p:spPr>
            <a:xfrm rot="10800000" flipH="1" flipV="1">
              <a:off x="4034" y="5545"/>
              <a:ext cx="759" cy="51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144" name="文本框 143"/>
          <p:cNvSpPr txBox="1"/>
          <p:nvPr/>
        </p:nvSpPr>
        <p:spPr>
          <a:xfrm>
            <a:off x="8265282" y="3504534"/>
            <a:ext cx="998733" cy="522199"/>
          </a:xfrm>
          <a:prstGeom prst="rect">
            <a:avLst/>
          </a:prstGeom>
          <a:noFill/>
          <a:extLst>
            <a:ext uri="{909E8E84-426E-40DD-AFC4-6F175D3DCCD1}">
              <a14:hiddenFill xmlns:a14="http://schemas.microsoft.com/office/drawing/2010/main">
                <a:grpFill/>
              </a14:hiddenFill>
            </a:ext>
          </a:extLst>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消费者</a:t>
            </a:r>
            <a:endParaRPr lang="zh-CN" altLang="en-US" sz="14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市场</a:t>
            </a:r>
            <a:endParaRPr lang="zh-CN" altLang="en-US" sz="1400">
              <a:solidFill>
                <a:srgbClr val="FFFFFF"/>
              </a:solidFill>
              <a:latin typeface="微软雅黑"/>
              <a:ea typeface="微软雅黑"/>
              <a:cs typeface="微软雅黑"/>
            </a:endParaRPr>
          </a:p>
        </p:txBody>
      </p:sp>
      <p:sp>
        <p:nvSpPr>
          <p:cNvPr id="145" name="文本框 144"/>
          <p:cNvSpPr txBox="1"/>
          <p:nvPr/>
        </p:nvSpPr>
        <p:spPr>
          <a:xfrm>
            <a:off x="5628005" y="1213485"/>
            <a:ext cx="99187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政策支持</a:t>
            </a:r>
            <a:endParaRPr lang="zh-CN" altLang="en-US" sz="1400" b="1">
              <a:solidFill>
                <a:srgbClr val="FFFFFF"/>
              </a:solidFill>
              <a:latin typeface="微软雅黑"/>
              <a:ea typeface="微软雅黑"/>
              <a:cs typeface="微软雅黑"/>
            </a:endParaRPr>
          </a:p>
        </p:txBody>
      </p:sp>
      <p:sp>
        <p:nvSpPr>
          <p:cNvPr id="146" name="梯形 145"/>
          <p:cNvSpPr/>
          <p:nvPr/>
        </p:nvSpPr>
        <p:spPr>
          <a:xfrm flipV="1">
            <a:off x="4801235" y="1021080"/>
            <a:ext cx="2818765" cy="589915"/>
          </a:xfrm>
          <a:prstGeom prst="trapezoid">
            <a:avLst>
              <a:gd name="adj" fmla="val 86842"/>
            </a:avLst>
          </a:prstGeom>
          <a:gradFill>
            <a:gsLst>
              <a:gs pos="100000">
                <a:srgbClr val="3368FF"/>
              </a:gs>
              <a:gs pos="0">
                <a:srgbClr val="668E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47" name="梯形 146"/>
          <p:cNvSpPr/>
          <p:nvPr/>
        </p:nvSpPr>
        <p:spPr>
          <a:xfrm flipV="1">
            <a:off x="5291455" y="1766570"/>
            <a:ext cx="1769110" cy="459105"/>
          </a:xfrm>
          <a:prstGeom prst="trapezoid">
            <a:avLst>
              <a:gd name="adj" fmla="val 86842"/>
            </a:avLst>
          </a:prstGeom>
          <a:gradFill>
            <a:gsLst>
              <a:gs pos="100000">
                <a:srgbClr val="668EFF"/>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48" name="文本框 147"/>
          <p:cNvSpPr txBox="1"/>
          <p:nvPr/>
        </p:nvSpPr>
        <p:spPr>
          <a:xfrm>
            <a:off x="5684520" y="1824355"/>
            <a:ext cx="99187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政府侧</a:t>
            </a:r>
            <a:endParaRPr lang="zh-CN" altLang="en-US" sz="1600" b="1">
              <a:solidFill>
                <a:srgbClr val="383838"/>
              </a:solidFill>
              <a:latin typeface="微软雅黑"/>
              <a:ea typeface="微软雅黑"/>
              <a:cs typeface="微软雅黑"/>
            </a:endParaRPr>
          </a:p>
        </p:txBody>
      </p:sp>
      <p:sp>
        <p:nvSpPr>
          <p:cNvPr id="153" name="文本框 152"/>
          <p:cNvSpPr txBox="1"/>
          <p:nvPr/>
        </p:nvSpPr>
        <p:spPr>
          <a:xfrm>
            <a:off x="5452110" y="1118870"/>
            <a:ext cx="1518285"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政策支持</a:t>
            </a:r>
            <a:endParaRPr lang="zh-CN" altLang="en-US" sz="1600" b="1">
              <a:solidFill>
                <a:srgbClr val="FFFFFF"/>
              </a:solidFill>
              <a:latin typeface="微软雅黑"/>
              <a:ea typeface="微软雅黑"/>
              <a:cs typeface="微软雅黑"/>
            </a:endParaRPr>
          </a:p>
        </p:txBody>
      </p:sp>
      <p:sp>
        <p:nvSpPr>
          <p:cNvPr id="154" name="梯形 153"/>
          <p:cNvSpPr/>
          <p:nvPr/>
        </p:nvSpPr>
        <p:spPr>
          <a:xfrm>
            <a:off x="4801870" y="6059170"/>
            <a:ext cx="2818765" cy="589915"/>
          </a:xfrm>
          <a:prstGeom prst="trapezoid">
            <a:avLst>
              <a:gd name="adj" fmla="val 86842"/>
            </a:avLst>
          </a:prstGeom>
          <a:gradFill>
            <a:gsLst>
              <a:gs pos="100000">
                <a:srgbClr val="3368FF"/>
              </a:gs>
              <a:gs pos="0">
                <a:srgbClr val="668E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55" name="梯形 154"/>
          <p:cNvSpPr/>
          <p:nvPr/>
        </p:nvSpPr>
        <p:spPr>
          <a:xfrm>
            <a:off x="5342255" y="5493385"/>
            <a:ext cx="1769110" cy="459105"/>
          </a:xfrm>
          <a:prstGeom prst="trapezoid">
            <a:avLst>
              <a:gd name="adj" fmla="val 86842"/>
            </a:avLst>
          </a:prstGeom>
          <a:gradFill>
            <a:gsLst>
              <a:gs pos="100000">
                <a:srgbClr val="668EFF"/>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56" name="文本框 155"/>
          <p:cNvSpPr txBox="1"/>
          <p:nvPr/>
        </p:nvSpPr>
        <p:spPr>
          <a:xfrm>
            <a:off x="5159375" y="6200775"/>
            <a:ext cx="2016760"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人才、学术支持</a:t>
            </a:r>
            <a:endParaRPr lang="zh-CN" altLang="en-US" sz="1600" b="1">
              <a:solidFill>
                <a:srgbClr val="FFFFFF"/>
              </a:solidFill>
              <a:latin typeface="微软雅黑"/>
              <a:ea typeface="微软雅黑"/>
              <a:cs typeface="微软雅黑"/>
            </a:endParaRPr>
          </a:p>
        </p:txBody>
      </p:sp>
      <p:sp>
        <p:nvSpPr>
          <p:cNvPr id="162" name="文本框 161"/>
          <p:cNvSpPr txBox="1"/>
          <p:nvPr/>
        </p:nvSpPr>
        <p:spPr>
          <a:xfrm>
            <a:off x="5730875" y="5569585"/>
            <a:ext cx="99187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高校侧</a:t>
            </a:r>
            <a:endParaRPr lang="zh-CN" altLang="en-US" sz="1600" b="1">
              <a:solidFill>
                <a:srgbClr val="383838"/>
              </a:solidFill>
              <a:latin typeface="微软雅黑"/>
              <a:ea typeface="微软雅黑"/>
              <a:cs typeface="微软雅黑"/>
            </a:endParaRP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明年目标及工作规划</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天蝎PPT2" descr="preencoded.png"/>
          <p:cNvSpPr/>
          <p:nvPr>
            <p:custDataLst>
              <p:tags r:id="rId3"/>
            </p:custDataLst>
          </p:nvPr>
        </p:nvSpPr>
        <p:spPr>
          <a:xfrm>
            <a:off x="1022685" y="1544059"/>
            <a:ext cx="6076061"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1000">
                <a:srgbClr val="3368FF">
                  <a:alpha val="0"/>
                </a:srgbClr>
              </a:gs>
              <a:gs pos="50000">
                <a:srgbClr val="3368FF">
                  <a:alpha val="30000"/>
                </a:srgbClr>
              </a:gs>
              <a:gs pos="79000">
                <a:srgbClr val="3368FF">
                  <a:alpha val="0"/>
                </a:srgbClr>
              </a:gs>
            </a:gsLst>
            <a:lin ang="0" scaled="0"/>
          </a:gradFill>
          <a:ln w="19050" cap="flat">
            <a:noFill/>
            <a:prstDash val="solid"/>
            <a:miter/>
          </a:ln>
        </p:spPr>
        <p:txBody>
          <a:bodyPr rtlCol="0" anchor="ctr"/>
          <a:lstStyle/>
          <a:p>
            <a:pPr defTabSz="731520">
              <a:defRPr>
                <a:latin typeface="微软雅黑"/>
                <a:ea typeface="微软雅黑"/>
                <a:cs typeface="微软雅黑"/>
              </a:defRPr>
            </a:pPr>
            <a:endParaRPr lang="zh-CN" altLang="en-US" sz="1440">
              <a:solidFill>
                <a:prstClr val="black"/>
              </a:solidFill>
              <a:latin typeface="微软雅黑"/>
              <a:ea typeface="微软雅黑"/>
              <a:cs typeface="微软雅黑"/>
              <a:sym typeface="微软雅黑"/>
            </a:endParaRPr>
          </a:p>
        </p:txBody>
      </p:sp>
      <p:sp>
        <p:nvSpPr>
          <p:cNvPr id="2" name="©天蝎PPT3"/>
          <p:cNvSpPr/>
          <p:nvPr>
            <p:custDataLst>
              <p:tags r:id="rId4"/>
            </p:custDataLst>
          </p:nvPr>
        </p:nvSpPr>
        <p:spPr>
          <a:xfrm>
            <a:off x="3786162" y="1489002"/>
            <a:ext cx="4714491" cy="4714491"/>
          </a:xfrm>
          <a:prstGeom prst="ellipse">
            <a:avLst/>
          </a:prstGeom>
          <a:solidFill>
            <a:srgbClr val="FFFFFF">
              <a:alpha val="50000"/>
            </a:srgbClr>
          </a:solidFill>
          <a:ln w="12700">
            <a:solidFill>
              <a:srgbClr val="B3D4FE">
                <a:alpha val="50049"/>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6" name="©天蝎PPT4" descr="preencoded.png"/>
          <p:cNvSpPr/>
          <p:nvPr>
            <p:custDataLst>
              <p:tags r:id="rId5"/>
            </p:custDataLst>
          </p:nvPr>
        </p:nvSpPr>
        <p:spPr>
          <a:xfrm rot="10800000">
            <a:off x="5188068" y="1229078"/>
            <a:ext cx="6076061" cy="5235778"/>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1000">
                <a:srgbClr val="3368FF">
                  <a:alpha val="0"/>
                </a:srgbClr>
              </a:gs>
              <a:gs pos="50000">
                <a:srgbClr val="3368FF">
                  <a:alpha val="30000"/>
                </a:srgbClr>
              </a:gs>
              <a:gs pos="79000">
                <a:srgbClr val="3368FF">
                  <a:alpha val="0"/>
                </a:srgbClr>
              </a:gs>
            </a:gsLst>
            <a:lin ang="0" scaled="0"/>
          </a:gradFill>
          <a:ln w="19050" cap="flat">
            <a:noFill/>
            <a:prstDash val="solid"/>
            <a:miter/>
          </a:ln>
        </p:spPr>
        <p:txBody>
          <a:bodyPr rtlCol="0" anchor="ctr">
            <a:noAutofit/>
          </a:bodyPr>
          <a:lstStyle/>
          <a:p>
            <a:pPr lvl="0" algn="l" defTabSz="731520">
              <a:buClrTx/>
              <a:buSzTx/>
              <a:buFontTx/>
              <a:defRPr>
                <a:latin typeface="微软雅黑"/>
                <a:ea typeface="微软雅黑"/>
                <a:cs typeface="微软雅黑"/>
              </a:defRPr>
            </a:pPr>
            <a:endParaRPr lang="zh-CN" altLang="en-US" sz="1440">
              <a:solidFill>
                <a:prstClr val="black"/>
              </a:solidFill>
              <a:latin typeface="微软雅黑"/>
              <a:ea typeface="微软雅黑"/>
              <a:cs typeface="微软雅黑"/>
              <a:sym typeface="微软雅黑"/>
            </a:endParaRPr>
          </a:p>
        </p:txBody>
      </p:sp>
      <p:sp>
        <p:nvSpPr>
          <p:cNvPr id="11" name="©天蝎PPT9"/>
          <p:cNvSpPr/>
          <p:nvPr>
            <p:custDataLst>
              <p:tags r:id="rId6"/>
            </p:custDataLst>
          </p:nvPr>
        </p:nvSpPr>
        <p:spPr>
          <a:xfrm>
            <a:off x="4371593" y="2074433"/>
            <a:ext cx="3543630" cy="3543630"/>
          </a:xfrm>
          <a:prstGeom prst="ellipse">
            <a:avLst/>
          </a:prstGeom>
          <a:gradFill>
            <a:gsLst>
              <a:gs pos="14000">
                <a:srgbClr val="B3D4FE">
                  <a:alpha val="70000"/>
                </a:srgbClr>
              </a:gs>
              <a:gs pos="77000">
                <a:srgbClr val="B3D4FE">
                  <a:alpha val="70000"/>
                </a:srgbClr>
              </a:gs>
            </a:gsLst>
            <a:lin ang="0" scaled="0"/>
          </a:gradFill>
          <a:ln w="12700">
            <a:solidFill>
              <a:srgbClr val="FFFFFF"/>
            </a:solidFill>
            <a:prstDash val="solid"/>
          </a:ln>
          <a:effectLst>
            <a:outerShdw blurRad="301201" sx="103000" sy="103000" algn="ctr" rotWithShape="0">
              <a:srgbClr val="B3D4FE">
                <a:alpha val="2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13" name="©天蝎PPT11"/>
          <p:cNvSpPr/>
          <p:nvPr>
            <p:custDataLst>
              <p:tags r:id="rId7"/>
            </p:custDataLst>
          </p:nvPr>
        </p:nvSpPr>
        <p:spPr>
          <a:xfrm rot="10800000">
            <a:off x="6643200" y="3029251"/>
            <a:ext cx="2659852" cy="1721416"/>
          </a:xfrm>
          <a:custGeom>
            <a:avLst/>
            <a:gdLst>
              <a:gd name="connsiteX0" fmla="*/ 3459763 w 3459762"/>
              <a:gd name="connsiteY0" fmla="*/ 0 h 2584980"/>
              <a:gd name="connsiteX1" fmla="*/ 1147649 w 3459762"/>
              <a:gd name="connsiteY1" fmla="*/ 650442 h 2584980"/>
              <a:gd name="connsiteX2" fmla="*/ 1147649 w 3459762"/>
              <a:gd name="connsiteY2" fmla="*/ 16786 h 2584980"/>
              <a:gd name="connsiteX3" fmla="*/ 0 w 3459762"/>
              <a:gd name="connsiteY3" fmla="*/ 1292490 h 2584980"/>
              <a:gd name="connsiteX4" fmla="*/ 1147649 w 3459762"/>
              <a:gd name="connsiteY4" fmla="*/ 2563999 h 2584980"/>
              <a:gd name="connsiteX5" fmla="*/ 1147649 w 3459762"/>
              <a:gd name="connsiteY5" fmla="*/ 1917754 h 2584980"/>
              <a:gd name="connsiteX6" fmla="*/ 3459763 w 3459762"/>
              <a:gd name="connsiteY6" fmla="*/ 2584981 h 2584980"/>
              <a:gd name="connsiteX7" fmla="*/ 3459763 w 3459762"/>
              <a:gd name="connsiteY7" fmla="*/ 0 h 258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9762" h="2584980">
                <a:moveTo>
                  <a:pt x="3459763" y="0"/>
                </a:moveTo>
                <a:cubicBezTo>
                  <a:pt x="2883836" y="730173"/>
                  <a:pt x="2484471" y="612674"/>
                  <a:pt x="1147649" y="650442"/>
                </a:cubicBezTo>
                <a:lnTo>
                  <a:pt x="1147649" y="16786"/>
                </a:lnTo>
                <a:lnTo>
                  <a:pt x="0" y="1292490"/>
                </a:lnTo>
                <a:lnTo>
                  <a:pt x="1147649" y="2563999"/>
                </a:lnTo>
                <a:lnTo>
                  <a:pt x="1147649" y="1917754"/>
                </a:lnTo>
                <a:cubicBezTo>
                  <a:pt x="2354152" y="1888379"/>
                  <a:pt x="2959505" y="1657577"/>
                  <a:pt x="3459763" y="2584981"/>
                </a:cubicBezTo>
                <a:lnTo>
                  <a:pt x="3459763" y="0"/>
                </a:lnTo>
                <a:close/>
              </a:path>
            </a:pathLst>
          </a:custGeom>
          <a:gradFill>
            <a:gsLst>
              <a:gs pos="55000">
                <a:srgbClr val="3368FF"/>
              </a:gs>
              <a:gs pos="0">
                <a:srgbClr val="0042FF"/>
              </a:gs>
            </a:gsLst>
            <a:lin ang="0" scaled="0"/>
          </a:gradFill>
          <a:ln w="41953"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4" name="©天蝎PPT12"/>
          <p:cNvSpPr/>
          <p:nvPr>
            <p:custDataLst>
              <p:tags r:id="rId8"/>
            </p:custDataLst>
          </p:nvPr>
        </p:nvSpPr>
        <p:spPr>
          <a:xfrm>
            <a:off x="950495" y="4825875"/>
            <a:ext cx="1495501" cy="409448"/>
          </a:xfrm>
          <a:prstGeom prst="roundRect">
            <a:avLst>
              <a:gd name="adj" fmla="val 5000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7" name="©天蝎PPT13"/>
          <p:cNvSpPr/>
          <p:nvPr>
            <p:custDataLst>
              <p:tags r:id="rId9"/>
            </p:custDataLst>
          </p:nvPr>
        </p:nvSpPr>
        <p:spPr>
          <a:xfrm>
            <a:off x="950495" y="2395930"/>
            <a:ext cx="1495501" cy="409448"/>
          </a:xfrm>
          <a:prstGeom prst="roundRect">
            <a:avLst>
              <a:gd name="adj" fmla="val 5000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6" name="©天蝎PPT14"/>
          <p:cNvSpPr txBox="1"/>
          <p:nvPr>
            <p:custDataLst>
              <p:tags r:id="rId10"/>
            </p:custDataLst>
          </p:nvPr>
        </p:nvSpPr>
        <p:spPr>
          <a:xfrm flipH="1">
            <a:off x="950495" y="2855247"/>
            <a:ext cx="1887802" cy="437364"/>
          </a:xfrm>
          <a:prstGeom prst="rect">
            <a:avLst/>
          </a:prstGeom>
          <a:noFill/>
        </p:spPr>
        <p:txBody>
          <a:bodyPr wrap="square" lIns="0" tIns="0" rIns="0" bIns="0" rtlCol="0">
            <a:spAutoFit/>
          </a:bodyPr>
          <a:lstStyle/>
          <a:p>
            <a:pPr algn="l">
              <a:lnSpc>
                <a:spcPct val="150000"/>
              </a:lnSpc>
              <a:defRPr>
                <a:latin typeface="微软雅黑"/>
                <a:ea typeface="微软雅黑"/>
                <a:cs typeface="微软雅黑"/>
              </a:defRPr>
            </a:pPr>
            <a:r>
              <a:rPr lang="zh-CN" altLang="en-US" sz="1000" dirty="0">
                <a:solidFill>
                  <a:srgbClr val="383838">
                    <a:alpha val="80000"/>
                  </a:srgbClr>
                </a:solidFill>
                <a:latin typeface="微软雅黑"/>
                <a:ea typeface="微软雅黑"/>
                <a:cs typeface="微软雅黑"/>
                <a:sym typeface="微软雅黑"/>
              </a:rPr>
              <a:t>制定针对性的推广策略，跟踪分析广告效果，调整投放策略</a:t>
            </a:r>
            <a:endParaRPr lang="zh-CN" altLang="en-US" sz="1000" dirty="0">
              <a:solidFill>
                <a:srgbClr val="383838">
                  <a:alpha val="80000"/>
                </a:srgbClr>
              </a:solidFill>
              <a:latin typeface="微软雅黑"/>
              <a:ea typeface="微软雅黑"/>
              <a:cs typeface="微软雅黑"/>
              <a:sym typeface="微软雅黑"/>
            </a:endParaRPr>
          </a:p>
        </p:txBody>
      </p:sp>
      <p:sp>
        <p:nvSpPr>
          <p:cNvPr id="17" name="©天蝎PPT15"/>
          <p:cNvSpPr txBox="1"/>
          <p:nvPr>
            <p:custDataLst>
              <p:tags r:id="rId11"/>
            </p:custDataLst>
          </p:nvPr>
        </p:nvSpPr>
        <p:spPr>
          <a:xfrm flipH="1">
            <a:off x="1019437" y="2475767"/>
            <a:ext cx="1355211" cy="23852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加大推广力度</a:t>
            </a:r>
            <a:endParaRPr lang="zh-CN" altLang="en-US" sz="1550" dirty="0">
              <a:solidFill>
                <a:srgbClr val="FFFFFF"/>
              </a:solidFill>
              <a:latin typeface="微软雅黑"/>
              <a:ea typeface="微软雅黑"/>
              <a:cs typeface="微软雅黑"/>
              <a:sym typeface="微软雅黑"/>
            </a:endParaRPr>
          </a:p>
        </p:txBody>
      </p:sp>
      <p:sp>
        <p:nvSpPr>
          <p:cNvPr id="18" name="©天蝎PPT16"/>
          <p:cNvSpPr txBox="1"/>
          <p:nvPr>
            <p:custDataLst>
              <p:tags r:id="rId12"/>
            </p:custDataLst>
          </p:nvPr>
        </p:nvSpPr>
        <p:spPr>
          <a:xfrm flipH="1">
            <a:off x="950494" y="4072421"/>
            <a:ext cx="1930063" cy="437364"/>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探索新的销售渠道和合作伙伴</a:t>
            </a:r>
            <a:endParaRPr lang="zh-CN" altLang="en-US" dirty="0">
              <a:solidFill>
                <a:srgbClr val="383838">
                  <a:alpha val="80000"/>
                </a:srgbClr>
              </a:solidFill>
              <a:latin typeface="微软雅黑"/>
              <a:ea typeface="微软雅黑"/>
              <a:cs typeface="微软雅黑"/>
              <a:sym typeface="微软雅黑"/>
            </a:endParaRPr>
          </a:p>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定期评估渠道效果，优化渠道布局</a:t>
            </a:r>
            <a:endParaRPr lang="zh-CN" altLang="en-US" dirty="0">
              <a:solidFill>
                <a:srgbClr val="383838">
                  <a:alpha val="80000"/>
                </a:srgbClr>
              </a:solidFill>
              <a:latin typeface="微软雅黑"/>
              <a:ea typeface="微软雅黑"/>
              <a:cs typeface="微软雅黑"/>
              <a:sym typeface="微软雅黑"/>
            </a:endParaRPr>
          </a:p>
        </p:txBody>
      </p:sp>
      <p:sp>
        <p:nvSpPr>
          <p:cNvPr id="19" name="©天蝎PPT17"/>
          <p:cNvSpPr txBox="1"/>
          <p:nvPr>
            <p:custDataLst>
              <p:tags r:id="rId13"/>
            </p:custDataLst>
          </p:nvPr>
        </p:nvSpPr>
        <p:spPr>
          <a:xfrm flipH="1">
            <a:off x="950495" y="5299844"/>
            <a:ext cx="1887802" cy="437364"/>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完善服务体系及定期组织老带新活动，提升客户满意度增强黏性</a:t>
            </a:r>
            <a:endParaRPr lang="zh-CN" altLang="en-US" dirty="0">
              <a:solidFill>
                <a:srgbClr val="383838">
                  <a:alpha val="80000"/>
                </a:srgbClr>
              </a:solidFill>
              <a:latin typeface="微软雅黑"/>
              <a:ea typeface="微软雅黑"/>
              <a:cs typeface="微软雅黑"/>
              <a:sym typeface="微软雅黑"/>
            </a:endParaRPr>
          </a:p>
        </p:txBody>
      </p:sp>
      <p:sp>
        <p:nvSpPr>
          <p:cNvPr id="20" name="©天蝎PPT18"/>
          <p:cNvSpPr/>
          <p:nvPr>
            <p:custDataLst>
              <p:tags r:id="rId14"/>
            </p:custDataLst>
          </p:nvPr>
        </p:nvSpPr>
        <p:spPr>
          <a:xfrm>
            <a:off x="950495" y="3607934"/>
            <a:ext cx="1495501" cy="409448"/>
          </a:xfrm>
          <a:prstGeom prst="roundRect">
            <a:avLst>
              <a:gd name="adj" fmla="val 50000"/>
            </a:avLst>
          </a:prstGeom>
          <a:gradFill>
            <a:gsLst>
              <a:gs pos="0">
                <a:srgbClr val="0042FF"/>
              </a:gs>
              <a:gs pos="10000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1" name="©天蝎PPT19"/>
          <p:cNvSpPr txBox="1"/>
          <p:nvPr>
            <p:custDataLst>
              <p:tags r:id="rId15"/>
            </p:custDataLst>
          </p:nvPr>
        </p:nvSpPr>
        <p:spPr>
          <a:xfrm flipH="1">
            <a:off x="1020639" y="3689202"/>
            <a:ext cx="1355211" cy="23852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拓展销售渠道</a:t>
            </a:r>
            <a:endParaRPr lang="zh-CN" altLang="en-US" sz="1550" dirty="0">
              <a:solidFill>
                <a:srgbClr val="FFFFFF"/>
              </a:solidFill>
              <a:latin typeface="微软雅黑"/>
              <a:ea typeface="微软雅黑"/>
              <a:cs typeface="微软雅黑"/>
              <a:sym typeface="微软雅黑"/>
            </a:endParaRPr>
          </a:p>
        </p:txBody>
      </p:sp>
      <p:sp>
        <p:nvSpPr>
          <p:cNvPr id="22" name="©天蝎PPT20"/>
          <p:cNvSpPr txBox="1"/>
          <p:nvPr>
            <p:custDataLst>
              <p:tags r:id="rId16"/>
            </p:custDataLst>
          </p:nvPr>
        </p:nvSpPr>
        <p:spPr>
          <a:xfrm flipH="1">
            <a:off x="993773" y="4907474"/>
            <a:ext cx="1355211" cy="238527"/>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强化老带新客</a:t>
            </a:r>
            <a:endParaRPr lang="zh-CN" altLang="en-US" sz="1550" dirty="0">
              <a:solidFill>
                <a:srgbClr val="FFFFFF"/>
              </a:solidFill>
              <a:latin typeface="微软雅黑"/>
              <a:ea typeface="微软雅黑"/>
              <a:cs typeface="微软雅黑"/>
              <a:sym typeface="微软雅黑"/>
            </a:endParaRPr>
          </a:p>
        </p:txBody>
      </p:sp>
      <p:grpSp>
        <p:nvGrpSpPr>
          <p:cNvPr id="8" name="©天蝎PPT21"/>
          <p:cNvGrpSpPr/>
          <p:nvPr/>
        </p:nvGrpSpPr>
        <p:grpSpPr>
          <a:xfrm>
            <a:off x="9595731" y="2294161"/>
            <a:ext cx="1997763" cy="3341278"/>
            <a:chOff x="738404" y="2609454"/>
            <a:chExt cx="1809612" cy="3026593"/>
          </a:xfrm>
        </p:grpSpPr>
        <p:sp>
          <p:nvSpPr>
            <p:cNvPr id="24" name="©天蝎PPT21-1"/>
            <p:cNvSpPr/>
            <p:nvPr>
              <p:custDataLst>
                <p:tags r:id="rId17"/>
              </p:custDataLst>
            </p:nvPr>
          </p:nvSpPr>
          <p:spPr>
            <a:xfrm>
              <a:off x="738405" y="4810544"/>
              <a:ext cx="1354653" cy="370886"/>
            </a:xfrm>
            <a:prstGeom prst="roundRect">
              <a:avLst>
                <a:gd name="adj" fmla="val 50000"/>
              </a:avLst>
            </a:prstGeom>
            <a:gradFill>
              <a:gsLst>
                <a:gs pos="55000">
                  <a:srgbClr val="3368FF"/>
                </a:gs>
                <a:gs pos="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9" name="©天蝎PPT21-2"/>
            <p:cNvSpPr/>
            <p:nvPr>
              <p:custDataLst>
                <p:tags r:id="rId18"/>
              </p:custDataLst>
            </p:nvPr>
          </p:nvSpPr>
          <p:spPr>
            <a:xfrm>
              <a:off x="738405" y="2609454"/>
              <a:ext cx="1354653" cy="370886"/>
            </a:xfrm>
            <a:prstGeom prst="roundRect">
              <a:avLst>
                <a:gd name="adj" fmla="val 50000"/>
              </a:avLst>
            </a:prstGeom>
            <a:gradFill>
              <a:gsLst>
                <a:gs pos="55000">
                  <a:srgbClr val="3368FF"/>
                </a:gs>
                <a:gs pos="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2" name="©天蝎PPT21-3"/>
            <p:cNvSpPr txBox="1"/>
            <p:nvPr>
              <p:custDataLst>
                <p:tags r:id="rId19"/>
              </p:custDataLst>
            </p:nvPr>
          </p:nvSpPr>
          <p:spPr>
            <a:xfrm flipH="1">
              <a:off x="738405" y="3025512"/>
              <a:ext cx="1710007" cy="396173"/>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精简供应链流程，降低成本，紧密联系确保品质与供应稳定性</a:t>
              </a:r>
              <a:endParaRPr lang="zh-CN" altLang="en-US" dirty="0">
                <a:solidFill>
                  <a:srgbClr val="383838">
                    <a:alpha val="80000"/>
                  </a:srgbClr>
                </a:solidFill>
                <a:latin typeface="微软雅黑"/>
                <a:ea typeface="微软雅黑"/>
                <a:cs typeface="微软雅黑"/>
                <a:sym typeface="微软雅黑"/>
              </a:endParaRPr>
            </a:p>
          </p:txBody>
        </p:sp>
        <p:sp>
          <p:nvSpPr>
            <p:cNvPr id="27" name="©天蝎PPT21-4"/>
            <p:cNvSpPr txBox="1"/>
            <p:nvPr>
              <p:custDataLst>
                <p:tags r:id="rId20"/>
              </p:custDataLst>
            </p:nvPr>
          </p:nvSpPr>
          <p:spPr>
            <a:xfrm flipH="1">
              <a:off x="800854" y="2681772"/>
              <a:ext cx="1227576" cy="216062"/>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优化供应链</a:t>
              </a:r>
              <a:endParaRPr lang="zh-CN" altLang="en-US" sz="1550" dirty="0">
                <a:solidFill>
                  <a:srgbClr val="FFFFFF"/>
                </a:solidFill>
                <a:latin typeface="微软雅黑"/>
                <a:ea typeface="微软雅黑"/>
                <a:cs typeface="微软雅黑"/>
                <a:sym typeface="微软雅黑"/>
              </a:endParaRPr>
            </a:p>
          </p:txBody>
        </p:sp>
        <p:sp>
          <p:nvSpPr>
            <p:cNvPr id="28" name="©天蝎PPT21-5"/>
            <p:cNvSpPr txBox="1"/>
            <p:nvPr>
              <p:custDataLst>
                <p:tags r:id="rId21"/>
              </p:custDataLst>
            </p:nvPr>
          </p:nvSpPr>
          <p:spPr>
            <a:xfrm flipH="1">
              <a:off x="738404" y="4128051"/>
              <a:ext cx="1809612" cy="396173"/>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明确各部门协作机制，引入项目管理工具，提高任务分配与跟踪效率</a:t>
              </a:r>
              <a:endParaRPr lang="zh-CN" altLang="en-US" dirty="0">
                <a:solidFill>
                  <a:srgbClr val="383838">
                    <a:alpha val="80000"/>
                  </a:srgbClr>
                </a:solidFill>
                <a:latin typeface="微软雅黑"/>
                <a:ea typeface="微软雅黑"/>
                <a:cs typeface="微软雅黑"/>
                <a:sym typeface="微软雅黑"/>
              </a:endParaRPr>
            </a:p>
          </p:txBody>
        </p:sp>
        <p:sp>
          <p:nvSpPr>
            <p:cNvPr id="29" name="©天蝎PPT21-6"/>
            <p:cNvSpPr txBox="1"/>
            <p:nvPr>
              <p:custDataLst>
                <p:tags r:id="rId22"/>
              </p:custDataLst>
            </p:nvPr>
          </p:nvSpPr>
          <p:spPr>
            <a:xfrm flipH="1">
              <a:off x="738405" y="5239874"/>
              <a:ext cx="1809611" cy="396173"/>
            </a:xfrm>
            <a:prstGeom prst="rect">
              <a:avLst/>
            </a:prstGeom>
            <a:noFill/>
          </p:spPr>
          <p:txBody>
            <a:bodyPr wrap="square" lIns="0" tIns="0" rIns="0" bIns="0" rtlCol="0">
              <a:spAutoFit/>
            </a:bodyPr>
            <a:lstStyle>
              <a:defPPr>
                <a:defRPr lang="zh-CN">
                  <a:latin typeface="微软雅黑"/>
                  <a:ea typeface="微软雅黑"/>
                  <a:cs typeface="微软雅黑"/>
                </a:defRPr>
              </a:defPPr>
              <a:lvl1pPr>
                <a:lnSpc>
                  <a:spcPct val="150000"/>
                </a:lnSpc>
                <a:defRPr sz="1000">
                  <a:solidFill>
                    <a:srgbClr val="383838"/>
                  </a:solidFill>
                  <a:ea typeface="微软雅黑"/>
                  <a:latin typeface="微软雅黑"/>
                  <a:cs typeface="微软雅黑"/>
                </a:defRPr>
              </a:lvl1pPr>
            </a:lstStyle>
            <a:p>
              <a:pPr>
                <a:defRPr>
                  <a:latin typeface="微软雅黑"/>
                  <a:ea typeface="微软雅黑"/>
                  <a:cs typeface="微软雅黑"/>
                </a:defRPr>
              </a:pPr>
              <a:r>
                <a:rPr lang="zh-CN" altLang="en-US" dirty="0">
                  <a:solidFill>
                    <a:srgbClr val="383838">
                      <a:alpha val="80000"/>
                    </a:srgbClr>
                  </a:solidFill>
                  <a:latin typeface="微软雅黑"/>
                  <a:ea typeface="微软雅黑"/>
                  <a:cs typeface="微软雅黑"/>
                  <a:sym typeface="微软雅黑"/>
                </a:rPr>
                <a:t>完善数据分析体系，定期对业务进行分析，以数据结果指导业务决策</a:t>
              </a:r>
              <a:endParaRPr lang="zh-CN" altLang="en-US" dirty="0">
                <a:solidFill>
                  <a:srgbClr val="383838">
                    <a:alpha val="80000"/>
                  </a:srgbClr>
                </a:solidFill>
                <a:latin typeface="微软雅黑"/>
                <a:ea typeface="微软雅黑"/>
                <a:cs typeface="微软雅黑"/>
                <a:sym typeface="微软雅黑"/>
              </a:endParaRPr>
            </a:p>
          </p:txBody>
        </p:sp>
        <p:sp>
          <p:nvSpPr>
            <p:cNvPr id="30" name="©天蝎PPT21-7"/>
            <p:cNvSpPr/>
            <p:nvPr>
              <p:custDataLst>
                <p:tags r:id="rId23"/>
              </p:custDataLst>
            </p:nvPr>
          </p:nvSpPr>
          <p:spPr>
            <a:xfrm>
              <a:off x="738405" y="3707310"/>
              <a:ext cx="1354653" cy="370886"/>
            </a:xfrm>
            <a:prstGeom prst="roundRect">
              <a:avLst>
                <a:gd name="adj" fmla="val 50000"/>
              </a:avLst>
            </a:prstGeom>
            <a:gradFill>
              <a:gsLst>
                <a:gs pos="55000">
                  <a:srgbClr val="3368FF"/>
                </a:gs>
                <a:gs pos="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31" name="©天蝎PPT21-8"/>
            <p:cNvSpPr txBox="1"/>
            <p:nvPr>
              <p:custDataLst>
                <p:tags r:id="rId24"/>
              </p:custDataLst>
            </p:nvPr>
          </p:nvSpPr>
          <p:spPr>
            <a:xfrm flipH="1">
              <a:off x="801943" y="3780924"/>
              <a:ext cx="1227576" cy="216062"/>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提升协同效率</a:t>
              </a:r>
              <a:endParaRPr lang="zh-CN" altLang="en-US" sz="1550" dirty="0">
                <a:solidFill>
                  <a:srgbClr val="FFFFFF"/>
                </a:solidFill>
                <a:latin typeface="微软雅黑"/>
                <a:ea typeface="微软雅黑"/>
                <a:cs typeface="微软雅黑"/>
                <a:sym typeface="微软雅黑"/>
              </a:endParaRPr>
            </a:p>
          </p:txBody>
        </p:sp>
        <p:sp>
          <p:nvSpPr>
            <p:cNvPr id="32" name="©天蝎PPT21-9"/>
            <p:cNvSpPr txBox="1"/>
            <p:nvPr>
              <p:custDataLst>
                <p:tags r:id="rId25"/>
              </p:custDataLst>
            </p:nvPr>
          </p:nvSpPr>
          <p:spPr>
            <a:xfrm flipH="1">
              <a:off x="777607" y="4884458"/>
              <a:ext cx="1227576" cy="223032"/>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550" dirty="0">
                  <a:solidFill>
                    <a:srgbClr val="FFFFFF"/>
                  </a:solidFill>
                  <a:latin typeface="微软雅黑"/>
                  <a:ea typeface="微软雅黑"/>
                  <a:cs typeface="微软雅黑"/>
                  <a:sym typeface="微软雅黑"/>
                </a:rPr>
                <a:t>数据驱动决策</a:t>
              </a:r>
              <a:endParaRPr lang="zh-CN" altLang="en-US" sz="1550" dirty="0">
                <a:solidFill>
                  <a:srgbClr val="FFFFFF"/>
                </a:solidFill>
                <a:latin typeface="微软雅黑"/>
                <a:ea typeface="微软雅黑"/>
                <a:cs typeface="微软雅黑"/>
                <a:sym typeface="微软雅黑"/>
              </a:endParaRPr>
            </a:p>
          </p:txBody>
        </p:sp>
      </p:grpSp>
      <p:sp>
        <p:nvSpPr>
          <p:cNvPr id="33" name="©天蝎PPT22"/>
          <p:cNvSpPr/>
          <p:nvPr>
            <p:custDataLst>
              <p:tags r:id="rId26"/>
            </p:custDataLst>
          </p:nvPr>
        </p:nvSpPr>
        <p:spPr>
          <a:xfrm>
            <a:off x="2995822" y="3037811"/>
            <a:ext cx="2659852" cy="1721416"/>
          </a:xfrm>
          <a:custGeom>
            <a:avLst/>
            <a:gdLst>
              <a:gd name="connsiteX0" fmla="*/ 3459763 w 3459762"/>
              <a:gd name="connsiteY0" fmla="*/ 0 h 2584980"/>
              <a:gd name="connsiteX1" fmla="*/ 1147649 w 3459762"/>
              <a:gd name="connsiteY1" fmla="*/ 650442 h 2584980"/>
              <a:gd name="connsiteX2" fmla="*/ 1147649 w 3459762"/>
              <a:gd name="connsiteY2" fmla="*/ 16786 h 2584980"/>
              <a:gd name="connsiteX3" fmla="*/ 0 w 3459762"/>
              <a:gd name="connsiteY3" fmla="*/ 1292490 h 2584980"/>
              <a:gd name="connsiteX4" fmla="*/ 1147649 w 3459762"/>
              <a:gd name="connsiteY4" fmla="*/ 2563999 h 2584980"/>
              <a:gd name="connsiteX5" fmla="*/ 1147649 w 3459762"/>
              <a:gd name="connsiteY5" fmla="*/ 1917754 h 2584980"/>
              <a:gd name="connsiteX6" fmla="*/ 3459763 w 3459762"/>
              <a:gd name="connsiteY6" fmla="*/ 2584981 h 2584980"/>
              <a:gd name="connsiteX7" fmla="*/ 3459763 w 3459762"/>
              <a:gd name="connsiteY7" fmla="*/ 0 h 258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9762" h="2584980">
                <a:moveTo>
                  <a:pt x="3459763" y="0"/>
                </a:moveTo>
                <a:cubicBezTo>
                  <a:pt x="2883836" y="730173"/>
                  <a:pt x="2484471" y="612674"/>
                  <a:pt x="1147649" y="650442"/>
                </a:cubicBezTo>
                <a:lnTo>
                  <a:pt x="1147649" y="16786"/>
                </a:lnTo>
                <a:lnTo>
                  <a:pt x="0" y="1292490"/>
                </a:lnTo>
                <a:lnTo>
                  <a:pt x="1147649" y="2563999"/>
                </a:lnTo>
                <a:lnTo>
                  <a:pt x="1147649" y="1917754"/>
                </a:lnTo>
                <a:cubicBezTo>
                  <a:pt x="2354152" y="1888379"/>
                  <a:pt x="2959505" y="1657577"/>
                  <a:pt x="3459763" y="2584981"/>
                </a:cubicBezTo>
                <a:lnTo>
                  <a:pt x="3459763" y="0"/>
                </a:lnTo>
                <a:close/>
              </a:path>
            </a:pathLst>
          </a:custGeom>
          <a:gradFill>
            <a:gsLst>
              <a:gs pos="55000">
                <a:srgbClr val="3368FF"/>
              </a:gs>
              <a:gs pos="0">
                <a:srgbClr val="0042FF"/>
              </a:gs>
            </a:gsLst>
            <a:lin ang="0" scaled="0"/>
          </a:gradFill>
          <a:ln w="41953"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4" name="©天蝎PPT23"/>
          <p:cNvSpPr/>
          <p:nvPr>
            <p:custDataLst>
              <p:tags r:id="rId27"/>
            </p:custDataLst>
          </p:nvPr>
        </p:nvSpPr>
        <p:spPr>
          <a:xfrm>
            <a:off x="4918811" y="2621651"/>
            <a:ext cx="2449195" cy="2449195"/>
          </a:xfrm>
          <a:prstGeom prst="ellipse">
            <a:avLst/>
          </a:prstGeom>
          <a:gradFill>
            <a:gsLst>
              <a:gs pos="55000">
                <a:srgbClr val="B3D4FE"/>
              </a:gs>
              <a:gs pos="0">
                <a:srgbClr val="3368FF"/>
              </a:gs>
            </a:gsLst>
            <a:lin ang="18900000" scaled="0"/>
          </a:gradFill>
          <a:ln w="12700">
            <a:solidFill>
              <a:srgbClr val="FFFFFF"/>
            </a:solidFill>
            <a:prstDash val="solid"/>
          </a:ln>
          <a:effectLst>
            <a:outerShdw blurRad="301201" sx="103000" sy="103000" algn="ctr" rotWithShape="0">
              <a:srgbClr val="B3D4FE">
                <a:alpha val="2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35" name="©天蝎PPT24"/>
          <p:cNvSpPr txBox="1"/>
          <p:nvPr>
            <p:custDataLst>
              <p:tags r:id="rId28"/>
            </p:custDataLst>
          </p:nvPr>
        </p:nvSpPr>
        <p:spPr>
          <a:xfrm rot="10800000">
            <a:off x="4567594" y="2211289"/>
            <a:ext cx="3128350" cy="3128350"/>
          </a:xfrm>
          <a:prstGeom prst="rect">
            <a:avLst/>
          </a:prstGeom>
          <a:noFill/>
        </p:spPr>
        <p:txBody>
          <a:bodyPr wrap="none" lIns="0" rIns="0" tIns="0" bIns="0">
            <a:prstTxWarp prst="textArchUp">
              <a:avLst/>
            </a:prstTxWarp>
            <a:spAutoFit/>
          </a:bodyPr>
          <a:lstStyle>
            <a:defPPr>
              <a:defRPr lang="zh-CN">
                <a:latin typeface="微软雅黑"/>
                <a:ea typeface="微软雅黑"/>
                <a:cs typeface="微软雅黑"/>
              </a:defRPr>
            </a:defPPr>
            <a:lvl1pPr>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dirty="0">
                <a:solidFill>
                  <a:srgbClr val="383838"/>
                </a:solidFill>
                <a:latin typeface="微软雅黑"/>
                <a:ea typeface="微软雅黑"/>
                <a:cs typeface="微软雅黑"/>
                <a:sym typeface="微软雅黑"/>
              </a:rPr>
              <a:t>核心产品销量占比</a:t>
            </a:r>
            <a:r>
              <a:rPr lang="en-US" altLang="zh-CN" dirty="0">
                <a:solidFill>
                  <a:srgbClr val="383838"/>
                </a:solidFill>
                <a:latin typeface="微软雅黑"/>
                <a:ea typeface="微软雅黑"/>
                <a:cs typeface="微软雅黑"/>
                <a:sym typeface="微软雅黑"/>
              </a:rPr>
              <a:t>&gt;60%</a:t>
            </a:r>
            <a:endParaRPr lang="en-US" altLang="zh-CN" dirty="0">
              <a:solidFill>
                <a:srgbClr val="383838"/>
              </a:solidFill>
              <a:latin typeface="微软雅黑"/>
              <a:ea typeface="微软雅黑"/>
              <a:cs typeface="微软雅黑"/>
              <a:sym typeface="微软雅黑"/>
            </a:endParaRPr>
          </a:p>
        </p:txBody>
      </p:sp>
      <p:sp>
        <p:nvSpPr>
          <p:cNvPr id="36" name="©天蝎PPT25"/>
          <p:cNvSpPr txBox="1"/>
          <p:nvPr>
            <p:custDataLst>
              <p:tags r:id="rId29"/>
            </p:custDataLst>
          </p:nvPr>
        </p:nvSpPr>
        <p:spPr>
          <a:xfrm>
            <a:off x="5640087" y="1665945"/>
            <a:ext cx="998220" cy="337185"/>
          </a:xfrm>
          <a:prstGeom prst="rect">
            <a:avLst/>
          </a:prstGeom>
          <a:noFill/>
        </p:spPr>
        <p:txBody>
          <a:bodyPr wrap="none" rtlCol="0">
            <a:spAutoFit/>
          </a:bodyPr>
          <a:lstStyle/>
          <a:p>
            <a:pPr>
              <a:defRPr>
                <a:latin typeface="微软雅黑"/>
                <a:ea typeface="微软雅黑"/>
                <a:cs typeface="微软雅黑"/>
              </a:defRPr>
            </a:pPr>
            <a:r>
              <a:rPr kumimoji="1" lang="zh-CN" altLang="en-US" sz="1600" b="1" dirty="0">
                <a:solidFill>
                  <a:srgbClr val="0042FF"/>
                </a:solidFill>
                <a:latin typeface="微软雅黑"/>
                <a:ea typeface="微软雅黑"/>
                <a:cs typeface="微软雅黑"/>
                <a:sym typeface="微软雅黑"/>
              </a:rPr>
              <a:t>年度目标</a:t>
            </a:r>
            <a:endParaRPr kumimoji="1" lang="zh-CN" altLang="en-US" sz="1600" b="1" dirty="0">
              <a:solidFill>
                <a:srgbClr val="0042FF"/>
              </a:solidFill>
              <a:latin typeface="微软雅黑"/>
              <a:ea typeface="微软雅黑"/>
              <a:cs typeface="微软雅黑"/>
              <a:sym typeface="微软雅黑"/>
            </a:endParaRPr>
          </a:p>
        </p:txBody>
      </p:sp>
      <p:sp>
        <p:nvSpPr>
          <p:cNvPr id="37" name="©天蝎PPT26"/>
          <p:cNvSpPr txBox="1"/>
          <p:nvPr>
            <p:custDataLst>
              <p:tags r:id="rId30"/>
            </p:custDataLst>
          </p:nvPr>
        </p:nvSpPr>
        <p:spPr>
          <a:xfrm>
            <a:off x="3639008" y="3693197"/>
            <a:ext cx="1024639" cy="338554"/>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zh-CN" altLang="en-US" sz="1600" b="1" dirty="0">
                <a:solidFill>
                  <a:srgbClr val="FFFFFF"/>
                </a:solidFill>
                <a:latin typeface="微软雅黑"/>
                <a:ea typeface="微软雅黑"/>
                <a:cs typeface="微软雅黑"/>
                <a:sym typeface="微软雅黑"/>
              </a:rPr>
              <a:t>市场拓展</a:t>
            </a:r>
            <a:endParaRPr kumimoji="1" lang="zh-CN" altLang="en-US" sz="1600" b="1" dirty="0">
              <a:solidFill>
                <a:srgbClr val="FFFFFF"/>
              </a:solidFill>
              <a:latin typeface="微软雅黑"/>
              <a:ea typeface="微软雅黑"/>
              <a:cs typeface="微软雅黑"/>
              <a:sym typeface="微软雅黑"/>
            </a:endParaRPr>
          </a:p>
        </p:txBody>
      </p:sp>
      <p:sp>
        <p:nvSpPr>
          <p:cNvPr id="38" name="©天蝎PPT27"/>
          <p:cNvSpPr txBox="1"/>
          <p:nvPr>
            <p:custDataLst>
              <p:tags r:id="rId31"/>
            </p:custDataLst>
          </p:nvPr>
        </p:nvSpPr>
        <p:spPr>
          <a:xfrm>
            <a:off x="7959217" y="3693197"/>
            <a:ext cx="1024639" cy="338554"/>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zh-CN" altLang="en-US" sz="1600" b="1" dirty="0">
                <a:solidFill>
                  <a:srgbClr val="FFFFFF"/>
                </a:solidFill>
                <a:latin typeface="微软雅黑"/>
                <a:ea typeface="微软雅黑"/>
                <a:cs typeface="微软雅黑"/>
                <a:sym typeface="微软雅黑"/>
              </a:rPr>
              <a:t>运营优化</a:t>
            </a:r>
            <a:endParaRPr kumimoji="1" lang="zh-CN" altLang="en-US" sz="1600" b="1" dirty="0">
              <a:solidFill>
                <a:srgbClr val="FFFFFF"/>
              </a:solidFill>
              <a:latin typeface="微软雅黑"/>
              <a:ea typeface="微软雅黑"/>
              <a:cs typeface="微软雅黑"/>
              <a:sym typeface="微软雅黑"/>
            </a:endParaRPr>
          </a:p>
        </p:txBody>
      </p:sp>
      <p:grpSp>
        <p:nvGrpSpPr>
          <p:cNvPr id="4" name="组合 3"/>
          <p:cNvGrpSpPr/>
          <p:nvPr/>
        </p:nvGrpSpPr>
        <p:grpSpPr>
          <a:xfrm>
            <a:off x="8738235" y="348615"/>
            <a:ext cx="3219450" cy="332740"/>
            <a:chOff x="13761" y="549"/>
            <a:chExt cx="5070" cy="524"/>
          </a:xfrm>
        </p:grpSpPr>
        <p:pic>
          <p:nvPicPr>
            <p:cNvPr id="15" name="图片 14"/>
            <p:cNvPicPr>
              <a:picLocks noChangeAspect="1"/>
            </p:cNvPicPr>
            <p:nvPr userDrawn="1"/>
          </p:nvPicPr>
          <p:blipFill>
            <a:blip r:embed="rId32"/>
            <a:srcRect l="17002" t="-1765" r="56499" b="-1176"/>
            <a:stretch>
              <a:fillRect/>
            </a:stretch>
          </p:blipFill>
          <p:spPr>
            <a:xfrm>
              <a:off x="13761" y="549"/>
              <a:ext cx="1582" cy="525"/>
            </a:xfrm>
            <a:prstGeom prst="rect">
              <a:avLst/>
            </a:prstGeom>
          </p:spPr>
        </p:pic>
        <p:sp>
          <p:nvSpPr>
            <p:cNvPr id="23" name="文本框 2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5"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49" name="©天蝎PPT28"/>
          <p:cNvSpPr txBox="1"/>
          <p:nvPr>
            <p:custDataLst>
              <p:tags r:id="rId33"/>
            </p:custDataLst>
          </p:nvPr>
        </p:nvSpPr>
        <p:spPr>
          <a:xfrm>
            <a:off x="4594054" y="2371174"/>
            <a:ext cx="3128350" cy="3128350"/>
          </a:xfrm>
          <a:prstGeom prst="rect">
            <a:avLst/>
          </a:prstGeom>
          <a:noFill/>
        </p:spPr>
        <p:txBody>
          <a:bodyPr wrap="none" lIns="0" rIns="0" tIns="0" bIns="0">
            <a:prstTxWarp prst="textArchUp">
              <a:avLst/>
            </a:prstTxWarp>
            <a:spAutoFit/>
          </a:bodyPr>
          <a:lstStyle>
            <a:defPPr>
              <a:defRPr lang="zh-CN">
                <a:latin typeface="微软雅黑"/>
                <a:ea typeface="微软雅黑"/>
                <a:cs typeface="微软雅黑"/>
              </a:defRPr>
            </a:defPPr>
            <a:lvl1pPr>
              <a:defRPr kumimoji="0" sz="14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dirty="0">
                <a:solidFill>
                  <a:srgbClr val="383838"/>
                </a:solidFill>
                <a:latin typeface="微软雅黑"/>
                <a:ea typeface="微软雅黑"/>
                <a:cs typeface="微软雅黑"/>
                <a:sym typeface="微软雅黑"/>
              </a:rPr>
              <a:t>利润目标同比</a:t>
            </a:r>
            <a:r>
              <a:rPr lang="en-US" altLang="zh-CN" dirty="0">
                <a:solidFill>
                  <a:srgbClr val="383838"/>
                </a:solidFill>
                <a:latin typeface="微软雅黑"/>
                <a:ea typeface="微软雅黑"/>
                <a:cs typeface="微软雅黑"/>
                <a:sym typeface="微软雅黑"/>
              </a:rPr>
              <a:t>+30%</a:t>
            </a:r>
            <a:endParaRPr lang="en-US" altLang="zh-CN" dirty="0">
              <a:solidFill>
                <a:srgbClr val="383838"/>
              </a:solidFill>
              <a:latin typeface="微软雅黑"/>
              <a:ea typeface="微软雅黑"/>
              <a:cs typeface="微软雅黑"/>
              <a:sym typeface="微软雅黑"/>
            </a:endParaRPr>
          </a:p>
        </p:txBody>
      </p:sp>
      <p:sp>
        <p:nvSpPr>
          <p:cNvPr id="50" name="©天蝎PPT29"/>
          <p:cNvSpPr txBox="1"/>
          <p:nvPr>
            <p:custDataLst>
              <p:tags r:id="rId34"/>
            </p:custDataLst>
          </p:nvPr>
        </p:nvSpPr>
        <p:spPr>
          <a:xfrm>
            <a:off x="5597962" y="3065306"/>
            <a:ext cx="996315" cy="398780"/>
          </a:xfrm>
          <a:prstGeom prst="rect">
            <a:avLst/>
          </a:prstGeom>
          <a:noFill/>
        </p:spPr>
        <p:txBody>
          <a:bodyPr wrap="none" lIns="0" rIns="0" tIns="0" bIns="0">
            <a:spAutoFit/>
          </a:bodyPr>
          <a:lstStyle>
            <a:defPPr>
              <a:defRPr lang="zh-CN">
                <a:latin typeface="微软雅黑"/>
                <a:ea typeface="微软雅黑"/>
                <a:cs typeface="微软雅黑"/>
              </a:defRPr>
            </a:defPPr>
            <a:lvl1pPr>
              <a:defRPr kumimoji="0" sz="105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sz="2000" dirty="0">
                <a:solidFill>
                  <a:srgbClr val="383838"/>
                </a:solidFill>
                <a:latin typeface="微软雅黑"/>
                <a:ea typeface="微软雅黑"/>
                <a:cs typeface="微软雅黑"/>
                <a:sym typeface="微软雅黑"/>
              </a:rPr>
              <a:t>年</a:t>
            </a:r>
            <a:r>
              <a:rPr lang="en-US" altLang="zh-CN" sz="2000" dirty="0">
                <a:solidFill>
                  <a:srgbClr val="383838"/>
                </a:solidFill>
                <a:latin typeface="微软雅黑"/>
                <a:ea typeface="微软雅黑"/>
                <a:cs typeface="微软雅黑"/>
                <a:sym typeface="微软雅黑"/>
              </a:rPr>
              <a:t>GMV</a:t>
            </a:r>
            <a:endParaRPr lang="en-US" altLang="zh-CN" sz="2000" dirty="0">
              <a:solidFill>
                <a:srgbClr val="383838"/>
              </a:solidFill>
              <a:latin typeface="微软雅黑"/>
              <a:ea typeface="微软雅黑"/>
              <a:cs typeface="微软雅黑"/>
              <a:sym typeface="微软雅黑"/>
            </a:endParaRPr>
          </a:p>
        </p:txBody>
      </p:sp>
      <p:sp>
        <p:nvSpPr>
          <p:cNvPr id="51" name="©天蝎PPT30"/>
          <p:cNvSpPr txBox="1"/>
          <p:nvPr>
            <p:custDataLst>
              <p:tags r:id="rId35"/>
            </p:custDataLst>
          </p:nvPr>
        </p:nvSpPr>
        <p:spPr>
          <a:xfrm>
            <a:off x="5294939" y="3464115"/>
            <a:ext cx="1673225" cy="645160"/>
          </a:xfrm>
          <a:prstGeom prst="rect">
            <a:avLst/>
          </a:prstGeom>
          <a:noFill/>
        </p:spPr>
        <p:txBody>
          <a:bodyPr wrap="none" lIns="0" rIns="0" tIns="0" bIns="0">
            <a:spAutoFit/>
          </a:bodyPr>
          <a:lstStyle>
            <a:defPPr>
              <a:defRPr lang="zh-CN">
                <a:latin typeface="微软雅黑"/>
                <a:ea typeface="微软雅黑"/>
                <a:cs typeface="微软雅黑"/>
              </a:defRPr>
            </a:defPPr>
            <a:lvl1pPr>
              <a:defRPr kumimoji="0" sz="105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en-US" altLang="zh-CN" sz="3600" b="1" dirty="0">
                <a:solidFill>
                  <a:srgbClr val="383838"/>
                </a:solidFill>
                <a:latin typeface="微软雅黑"/>
                <a:ea typeface="微软雅黑"/>
                <a:cs typeface="微软雅黑"/>
                <a:sym typeface="微软雅黑"/>
              </a:rPr>
              <a:t>5000W</a:t>
            </a:r>
            <a:endParaRPr lang="en-US" altLang="zh-CN" sz="3600" b="1" dirty="0">
              <a:solidFill>
                <a:srgbClr val="383838"/>
              </a:solidFill>
              <a:latin typeface="微软雅黑"/>
              <a:ea typeface="微软雅黑"/>
              <a:cs typeface="微软雅黑"/>
              <a:sym typeface="微软雅黑"/>
            </a:endParaRPr>
          </a:p>
        </p:txBody>
      </p:sp>
      <p:sp>
        <p:nvSpPr>
          <p:cNvPr id="52" name="©天蝎PPT31"/>
          <p:cNvSpPr txBox="1"/>
          <p:nvPr>
            <p:custDataLst>
              <p:tags r:id="rId36"/>
            </p:custDataLst>
          </p:nvPr>
        </p:nvSpPr>
        <p:spPr>
          <a:xfrm>
            <a:off x="5099329" y="4191749"/>
            <a:ext cx="2146742" cy="369332"/>
          </a:xfrm>
          <a:prstGeom prst="rect">
            <a:avLst/>
          </a:prstGeom>
          <a:noFill/>
        </p:spPr>
        <p:txBody>
          <a:bodyPr wrap="none" lIns="0" rIns="0" tIns="0" bIns="0">
            <a:spAutoFit/>
          </a:bodyPr>
          <a:lstStyle>
            <a:defPPr>
              <a:defRPr lang="zh-CN">
                <a:latin typeface="微软雅黑"/>
                <a:ea typeface="微软雅黑"/>
                <a:cs typeface="微软雅黑"/>
              </a:defRPr>
            </a:defPPr>
            <a:lvl1pPr>
              <a:defRPr kumimoji="0" sz="105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sz="1800" b="1" dirty="0">
                <a:solidFill>
                  <a:srgbClr val="383838"/>
                </a:solidFill>
                <a:latin typeface="微软雅黑"/>
                <a:ea typeface="微软雅黑"/>
                <a:cs typeface="微软雅黑"/>
                <a:sym typeface="微软雅黑"/>
              </a:rPr>
              <a:t>两大抓手 目标拆解</a:t>
            </a:r>
            <a:endParaRPr lang="zh-CN" altLang="en-US" sz="1800" b="1" dirty="0">
              <a:solidFill>
                <a:srgbClr val="383838"/>
              </a:solidFill>
              <a:latin typeface="微软雅黑"/>
              <a:ea typeface="微软雅黑"/>
              <a:cs typeface="微软雅黑"/>
              <a:sym typeface="微软雅黑"/>
            </a:endParaRP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年度工作总结回顾</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5" name="紫荆的职场Point1"/>
          <p:cNvSpPr/>
          <p:nvPr/>
        </p:nvSpPr>
        <p:spPr>
          <a:xfrm>
            <a:off x="4116408" y="6252466"/>
            <a:ext cx="3959184" cy="305343"/>
          </a:xfrm>
          <a:prstGeom prst="trapezoid">
            <a:avLst>
              <a:gd name="adj" fmla="val 87389"/>
            </a:avLst>
          </a:prstGeom>
          <a:gradFill flip="none" rotWithShape="1">
            <a:gsLst>
              <a:gs pos="100000">
                <a:srgbClr val="B3D4FE">
                  <a:alpha val="0"/>
                </a:srgbClr>
              </a:gs>
              <a:gs pos="0">
                <a:srgbClr val="B3D4FE">
                  <a:alpha val="50000"/>
                </a:srgbClr>
              </a:gs>
            </a:gsLst>
            <a:lin ang="16200000" scaled="1"/>
            <a:tileRect/>
          </a:gradFill>
          <a:ln>
            <a:gradFill flip="none" rotWithShape="1">
              <a:gsLst>
                <a:gs pos="0">
                  <a:srgbClr val="B3D4FE"/>
                </a:gs>
                <a:gs pos="100000">
                  <a:srgbClr val="B3D4FE">
                    <a:alpha val="0"/>
                  </a:srgbClr>
                </a:gs>
              </a:gsLst>
              <a:lin ang="162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 name="紫荆的职场Point2"/>
          <p:cNvSpPr/>
          <p:nvPr/>
        </p:nvSpPr>
        <p:spPr>
          <a:xfrm>
            <a:off x="3727957" y="1038451"/>
            <a:ext cx="4654892" cy="4654892"/>
          </a:xfrm>
          <a:prstGeom prst="donut">
            <a:avLst>
              <a:gd name="adj" fmla="val 15439"/>
            </a:avLst>
          </a:prstGeom>
          <a:gradFill>
            <a:gsLst>
              <a:gs pos="0">
                <a:srgbClr val="FFFFFF">
                  <a:alpha val="0"/>
                </a:srgbClr>
              </a:gs>
              <a:gs pos="97126">
                <a:srgbClr val="FFFFFF">
                  <a:alpha val="0"/>
                </a:srgbClr>
              </a:gs>
              <a:gs pos="48000">
                <a:srgbClr val="FFFFFF">
                  <a:alpha val="70000"/>
                </a:srgbClr>
              </a:gs>
            </a:gsLst>
            <a:lin ang="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87" name="不完整圆 86"/>
          <p:cNvSpPr/>
          <p:nvPr>
            <p:custDataLst>
              <p:tags r:id="rId3"/>
            </p:custDataLst>
          </p:nvPr>
        </p:nvSpPr>
        <p:spPr>
          <a:xfrm flipH="1">
            <a:off x="1286561" y="-1614678"/>
            <a:ext cx="9618878" cy="9618878"/>
          </a:xfrm>
          <a:prstGeom prst="pie">
            <a:avLst>
              <a:gd name="adj1" fmla="val 9465216"/>
              <a:gd name="adj2" fmla="val 12114446"/>
            </a:avLst>
          </a:prstGeom>
          <a:gradFill>
            <a:gsLst>
              <a:gs pos="100000">
                <a:srgbClr val="E6E6E6">
                  <a:alpha val="0"/>
                </a:srgbClr>
              </a:gs>
              <a:gs pos="0">
                <a:srgbClr val="E6E6E6">
                  <a:alpha val="60000"/>
                </a:srgbClr>
              </a:gs>
            </a:gsLst>
            <a:lin ang="0" scaled="1"/>
          </a:gradFill>
          <a:ln w="13716" cap="flat" cmpd="sng" algn="ctr">
            <a:noFill/>
            <a:prstDash val="dash"/>
            <a:miter lim="800000"/>
          </a:ln>
          <a:effectLst/>
        </p:spPr>
        <p:txBody>
          <a:bodyPr vert="horz" wrap="square" lIns="98755" tIns="49378" rIns="98755" bIns="49378" numCol="1" rtlCol="0" anchor="ctr" anchorCtr="0" compatLnSpc="0">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86" name="不完整圆 85"/>
          <p:cNvSpPr/>
          <p:nvPr>
            <p:custDataLst>
              <p:tags r:id="rId4"/>
            </p:custDataLst>
          </p:nvPr>
        </p:nvSpPr>
        <p:spPr>
          <a:xfrm>
            <a:off x="1272979" y="-1614678"/>
            <a:ext cx="9618878" cy="9618878"/>
          </a:xfrm>
          <a:prstGeom prst="pie">
            <a:avLst>
              <a:gd name="adj1" fmla="val 9465216"/>
              <a:gd name="adj2" fmla="val 12114446"/>
            </a:avLst>
          </a:prstGeom>
          <a:gradFill>
            <a:gsLst>
              <a:gs pos="100000">
                <a:srgbClr val="E6E6E6">
                  <a:alpha val="0"/>
                </a:srgbClr>
              </a:gs>
              <a:gs pos="0">
                <a:srgbClr val="E6E6E6">
                  <a:alpha val="60000"/>
                </a:srgbClr>
              </a:gs>
            </a:gsLst>
            <a:lin ang="0" scaled="1"/>
          </a:gradFill>
          <a:ln w="13716" cap="flat" cmpd="sng" algn="ctr">
            <a:noFill/>
            <a:prstDash val="dash"/>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5" name="不完整圆 22"/>
          <p:cNvSpPr/>
          <p:nvPr>
            <p:custDataLst>
              <p:tags r:id="rId5"/>
            </p:custDataLst>
          </p:nvPr>
        </p:nvSpPr>
        <p:spPr>
          <a:xfrm flipH="1">
            <a:off x="1918225" y="-975634"/>
            <a:ext cx="8340790" cy="8340790"/>
          </a:xfrm>
          <a:prstGeom prst="pie">
            <a:avLst>
              <a:gd name="adj1" fmla="val 9465216"/>
              <a:gd name="adj2" fmla="val 12114446"/>
            </a:avLst>
          </a:prstGeom>
          <a:gradFill>
            <a:gsLst>
              <a:gs pos="100000">
                <a:srgbClr val="668EFF">
                  <a:alpha val="0"/>
                </a:srgbClr>
              </a:gs>
              <a:gs pos="0">
                <a:srgbClr val="668EFF">
                  <a:alpha val="30000"/>
                </a:srgbClr>
              </a:gs>
            </a:gsLst>
            <a:lin ang="0" scaled="1"/>
          </a:gradFill>
          <a:ln w="13716" cap="flat" cmpd="sng" algn="ctr">
            <a:noFill/>
            <a:prstDash val="dash"/>
            <a:miter lim="800000"/>
          </a:ln>
          <a:effectLst/>
        </p:spPr>
        <p:txBody>
          <a:bodyPr vert="horz" wrap="square" lIns="98755" tIns="49378" rIns="98755" bIns="49378" numCol="1" rtlCol="0" anchor="ctr" anchorCtr="0" compatLnSpc="0">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6" name="不完整圆 23"/>
          <p:cNvSpPr/>
          <p:nvPr>
            <p:custDataLst>
              <p:tags r:id="rId6"/>
            </p:custDataLst>
          </p:nvPr>
        </p:nvSpPr>
        <p:spPr>
          <a:xfrm>
            <a:off x="1912023" y="-975634"/>
            <a:ext cx="8340790" cy="8340790"/>
          </a:xfrm>
          <a:prstGeom prst="pie">
            <a:avLst>
              <a:gd name="adj1" fmla="val 9465216"/>
              <a:gd name="adj2" fmla="val 12114446"/>
            </a:avLst>
          </a:prstGeom>
          <a:gradFill>
            <a:gsLst>
              <a:gs pos="100000">
                <a:srgbClr val="668EFF">
                  <a:alpha val="0"/>
                </a:srgbClr>
              </a:gs>
              <a:gs pos="0">
                <a:srgbClr val="668EFF">
                  <a:alpha val="30000"/>
                </a:srgbClr>
              </a:gs>
            </a:gsLst>
            <a:lin ang="0" scaled="1"/>
          </a:gradFill>
          <a:ln w="13716" cap="flat" cmpd="sng" algn="ctr">
            <a:noFill/>
            <a:prstDash val="dash"/>
            <a:miter lim="800000"/>
          </a:ln>
          <a:effectLst/>
        </p:spPr>
        <p:txBody>
          <a:bodyPr lIns="98755" tIns="49378" rIns="98755" bIns="49378" rtlCol="0" anchor="ctr">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7" name="紫荆的职场Point3"/>
          <p:cNvSpPr/>
          <p:nvPr/>
        </p:nvSpPr>
        <p:spPr>
          <a:xfrm>
            <a:off x="4592423" y="1902917"/>
            <a:ext cx="2925960" cy="2925960"/>
          </a:xfrm>
          <a:prstGeom prst="ellipse">
            <a:avLst/>
          </a:prstGeom>
          <a:solidFill>
            <a:srgbClr val="B3D4FE">
              <a:alpha val="50000"/>
            </a:srgbClr>
          </a:solidFill>
          <a:ln w="13716">
            <a:noFill/>
            <a:prstDash val="dash"/>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1200" cap="none" spc="0" normalizeH="0" baseline="0" noProof="0" dirty="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49" name="紫荆的职场Point5"/>
          <p:cNvSpPr/>
          <p:nvPr/>
        </p:nvSpPr>
        <p:spPr>
          <a:xfrm>
            <a:off x="4900983" y="2211477"/>
            <a:ext cx="2308840" cy="2308840"/>
          </a:xfrm>
          <a:prstGeom prst="ellipse">
            <a:avLst/>
          </a:prstGeom>
          <a:gradFill>
            <a:gsLst>
              <a:gs pos="100000">
                <a:srgbClr val="B3D4FE"/>
              </a:gs>
              <a:gs pos="0">
                <a:srgbClr val="3368FF"/>
              </a:gs>
            </a:gsLst>
            <a:lin ang="5400000" scaled="0"/>
          </a:gradFill>
          <a:ln w="38100">
            <a:noFill/>
          </a:ln>
          <a:effectLst>
            <a:outerShdw blurRad="469900" dist="123444" dir="5400000" sx="99000" sy="99000" algn="ctr" rotWithShape="0">
              <a:srgbClr val="B3D4FE">
                <a:alpha val="24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1200" cap="none" spc="0" normalizeH="0" baseline="0" noProof="0" dirty="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50" name="紫荆的职场Point6"/>
          <p:cNvSpPr txBox="1"/>
          <p:nvPr/>
        </p:nvSpPr>
        <p:spPr>
          <a:xfrm>
            <a:off x="5362582" y="3381904"/>
            <a:ext cx="1404620" cy="460375"/>
          </a:xfrm>
          <a:prstGeom prst="rect">
            <a:avLst/>
          </a:prstGeom>
          <a:noFill/>
        </p:spPr>
        <p:txBody>
          <a:bodyPr wrap="none">
            <a:spAutoFit/>
          </a:bodyPr>
          <a:lstStyle/>
          <a:p>
            <a:pPr algn="ctr">
              <a:defRPr>
                <a:latin typeface="微软雅黑"/>
                <a:ea typeface="微软雅黑"/>
                <a:cs typeface="微软雅黑"/>
              </a:defRPr>
            </a:pPr>
            <a:r>
              <a:rPr lang="zh-CN" altLang="en-US" sz="2400" b="1" dirty="0">
                <a:solidFill>
                  <a:srgbClr val="383838"/>
                </a:solidFill>
                <a:latin typeface="微软雅黑"/>
                <a:ea typeface="微软雅黑"/>
                <a:cs typeface="微软雅黑"/>
              </a:rPr>
              <a:t>年度总结</a:t>
            </a:r>
            <a:endParaRPr lang="zh-CN" altLang="en-US" sz="2400" b="1" dirty="0">
              <a:solidFill>
                <a:srgbClr val="383838"/>
              </a:solidFill>
              <a:latin typeface="微软雅黑"/>
              <a:ea typeface="微软雅黑"/>
              <a:cs typeface="微软雅黑"/>
            </a:endParaRPr>
          </a:p>
        </p:txBody>
      </p:sp>
      <p:sp>
        <p:nvSpPr>
          <p:cNvPr id="53" name="紫荆的职场Point8"/>
          <p:cNvSpPr txBox="1"/>
          <p:nvPr/>
        </p:nvSpPr>
        <p:spPr>
          <a:xfrm>
            <a:off x="2303417" y="2266823"/>
            <a:ext cx="1097280" cy="368300"/>
          </a:xfrm>
          <a:prstGeom prst="rect">
            <a:avLst/>
          </a:prstGeom>
          <a:noFill/>
        </p:spPr>
        <p:txBody>
          <a:bodyPr wrap="none" lIns="0" rIns="0" tIns="0" bIns="0">
            <a:spAutoFit/>
          </a:bodyPr>
          <a:lstStyle/>
          <a:p>
            <a:pPr lvl="0" algn="l">
              <a:buClrTx/>
              <a:buSzTx/>
              <a:buFontTx/>
              <a:defRPr>
                <a:latin typeface="微软雅黑"/>
                <a:ea typeface="微软雅黑"/>
                <a:cs typeface="微软雅黑"/>
              </a:defRPr>
            </a:pPr>
            <a:r>
              <a:rPr lang="zh-CN" altLang="en-US" b="1" dirty="0">
                <a:gradFill>
                  <a:gsLst>
                    <a:gs pos="0">
                      <a:srgbClr val="0042FF"/>
                    </a:gs>
                    <a:gs pos="100000">
                      <a:srgbClr val="0042FF"/>
                    </a:gs>
                  </a:gsLst>
                  <a:lin ang="5400000" scaled="0"/>
                </a:gradFill>
                <a:latin typeface="微软雅黑"/>
                <a:ea typeface="微软雅黑"/>
                <a:cs typeface="微软雅黑"/>
                <a:sym typeface="微软雅黑"/>
              </a:rPr>
              <a:t>业务发展</a:t>
            </a:r>
            <a:endParaRPr lang="en-US" altLang="zh-CN" b="1" dirty="0">
              <a:solidFill>
                <a:srgbClr val="0042FF"/>
              </a:solidFill>
              <a:latin typeface="微软雅黑"/>
              <a:ea typeface="微软雅黑"/>
              <a:cs typeface="微软雅黑"/>
              <a:sym typeface="微软雅黑"/>
            </a:endParaRPr>
          </a:p>
        </p:txBody>
      </p:sp>
      <p:sp>
        <p:nvSpPr>
          <p:cNvPr id="54" name="紫荆的职场Point9"/>
          <p:cNvSpPr txBox="1"/>
          <p:nvPr/>
        </p:nvSpPr>
        <p:spPr>
          <a:xfrm>
            <a:off x="8761410" y="2295517"/>
            <a:ext cx="1107996" cy="369332"/>
          </a:xfrm>
          <a:prstGeom prst="rect">
            <a:avLst/>
          </a:prstGeom>
          <a:noFill/>
        </p:spPr>
        <p:txBody>
          <a:bodyPr wrap="none" lIns="0" rIns="0" tIns="0" bIns="0">
            <a:spAutoFit/>
          </a:bodyPr>
          <a:lstStyle/>
          <a:p>
            <a:pPr algn="ctr">
              <a:defRPr>
                <a:latin typeface="微软雅黑"/>
                <a:ea typeface="微软雅黑"/>
                <a:cs typeface="微软雅黑"/>
              </a:defRPr>
            </a:pPr>
            <a:r>
              <a:rPr lang="zh-CN" altLang="en-US" b="1" dirty="0">
                <a:gradFill>
                  <a:gsLst>
                    <a:gs pos="0">
                      <a:srgbClr val="0042FF"/>
                    </a:gs>
                    <a:gs pos="100000">
                      <a:srgbClr val="0042FF"/>
                    </a:gs>
                  </a:gsLst>
                  <a:lin ang="5400000" scaled="0"/>
                </a:gradFill>
                <a:latin typeface="微软雅黑"/>
                <a:ea typeface="微软雅黑"/>
                <a:cs typeface="微软雅黑"/>
              </a:rPr>
              <a:t>内部管理</a:t>
            </a:r>
            <a:endParaRPr lang="zh-CN" altLang="en-US" b="1" dirty="0">
              <a:gradFill>
                <a:gsLst>
                  <a:gs pos="0">
                    <a:srgbClr val="0042FF"/>
                  </a:gs>
                  <a:gs pos="100000">
                    <a:srgbClr val="0042FF"/>
                  </a:gs>
                </a:gsLst>
                <a:lin ang="5400000" scaled="0"/>
              </a:gradFill>
              <a:latin typeface="微软雅黑"/>
              <a:ea typeface="微软雅黑"/>
              <a:cs typeface="微软雅黑"/>
            </a:endParaRPr>
          </a:p>
        </p:txBody>
      </p:sp>
      <p:sp>
        <p:nvSpPr>
          <p:cNvPr id="59" name="紫荆的职场Point10"/>
          <p:cNvSpPr txBox="1"/>
          <p:nvPr/>
        </p:nvSpPr>
        <p:spPr>
          <a:xfrm>
            <a:off x="2362059" y="2929227"/>
            <a:ext cx="543560" cy="368300"/>
          </a:xfrm>
          <a:prstGeom prst="rect">
            <a:avLst/>
          </a:prstGeom>
          <a:noFill/>
        </p:spPr>
        <p:txBody>
          <a:bodyPr wrap="none" lIns="0" rIns="0" tIns="0" bIns="0">
            <a:spAutoFit/>
          </a:bodyPr>
          <a:lstStyle/>
          <a:p>
            <a:pPr lvl="0" algn="l">
              <a:buClrTx/>
              <a:buSzTx/>
              <a:buFontTx/>
              <a:defRPr>
                <a:latin typeface="微软雅黑"/>
                <a:ea typeface="微软雅黑"/>
                <a:cs typeface="微软雅黑"/>
              </a:defRPr>
            </a:pPr>
            <a:r>
              <a:rPr lang="en-US" altLang="zh-CN" b="1" dirty="0">
                <a:solidFill>
                  <a:srgbClr val="0042FF"/>
                </a:solidFill>
                <a:latin typeface="微软雅黑"/>
                <a:ea typeface="微软雅黑"/>
                <a:cs typeface="微软雅黑"/>
                <a:sym typeface="微软雅黑"/>
              </a:rPr>
              <a:t>3个</a:t>
            </a:r>
            <a:endParaRPr lang="en-US" altLang="zh-CN" b="1" dirty="0">
              <a:solidFill>
                <a:srgbClr val="0042FF"/>
              </a:solidFill>
              <a:latin typeface="微软雅黑"/>
              <a:ea typeface="微软雅黑"/>
              <a:cs typeface="微软雅黑"/>
              <a:sym typeface="微软雅黑"/>
            </a:endParaRPr>
          </a:p>
        </p:txBody>
      </p:sp>
      <p:sp>
        <p:nvSpPr>
          <p:cNvPr id="71" name="紫荆的职场Point11"/>
          <p:cNvSpPr txBox="1"/>
          <p:nvPr/>
        </p:nvSpPr>
        <p:spPr>
          <a:xfrm>
            <a:off x="2118313" y="3227554"/>
            <a:ext cx="1031051" cy="261610"/>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新的区域市场</a:t>
            </a:r>
            <a:endParaRPr lang="zh-CN" altLang="en-US" sz="1050" dirty="0">
              <a:solidFill>
                <a:srgbClr val="383838"/>
              </a:solidFill>
              <a:latin typeface="微软雅黑"/>
              <a:ea typeface="微软雅黑"/>
              <a:cs typeface="微软雅黑"/>
            </a:endParaRPr>
          </a:p>
        </p:txBody>
      </p:sp>
      <p:sp>
        <p:nvSpPr>
          <p:cNvPr id="72" name="紫荆的职场Point12"/>
          <p:cNvSpPr txBox="1"/>
          <p:nvPr/>
        </p:nvSpPr>
        <p:spPr>
          <a:xfrm>
            <a:off x="3527483" y="2929227"/>
            <a:ext cx="642620" cy="368300"/>
          </a:xfrm>
          <a:prstGeom prst="rect">
            <a:avLst/>
          </a:prstGeom>
          <a:noFill/>
        </p:spPr>
        <p:txBody>
          <a:bodyPr wrap="none" lIns="0" rIns="0" tIns="0" bIns="0">
            <a:spAutoFit/>
          </a:bodyPr>
          <a:lstStyle/>
          <a:p>
            <a:pPr lvl="0" algn="l">
              <a:buClrTx/>
              <a:buSzTx/>
              <a:buFontTx/>
              <a:defRPr>
                <a:latin typeface="微软雅黑"/>
                <a:ea typeface="微软雅黑"/>
                <a:cs typeface="微软雅黑"/>
              </a:defRPr>
            </a:pPr>
            <a:r>
              <a:rPr lang="en-US" altLang="zh-CN" b="1" dirty="0">
                <a:solidFill>
                  <a:srgbClr val="0042FF"/>
                </a:solidFill>
                <a:latin typeface="微软雅黑"/>
                <a:ea typeface="微软雅黑"/>
                <a:cs typeface="微软雅黑"/>
                <a:sym typeface="微软雅黑"/>
              </a:rPr>
              <a:t>60%</a:t>
            </a:r>
            <a:endParaRPr lang="en-US" altLang="zh-CN" b="1" dirty="0">
              <a:solidFill>
                <a:srgbClr val="0042FF"/>
              </a:solidFill>
              <a:latin typeface="微软雅黑"/>
              <a:ea typeface="微软雅黑"/>
              <a:cs typeface="微软雅黑"/>
              <a:sym typeface="微软雅黑"/>
            </a:endParaRPr>
          </a:p>
        </p:txBody>
      </p:sp>
      <p:sp>
        <p:nvSpPr>
          <p:cNvPr id="73" name="紫荆的职场Point13"/>
          <p:cNvSpPr txBox="1"/>
          <p:nvPr/>
        </p:nvSpPr>
        <p:spPr>
          <a:xfrm>
            <a:off x="3285177" y="3235248"/>
            <a:ext cx="1127232" cy="253916"/>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销售额同比增长</a:t>
            </a:r>
            <a:endParaRPr lang="zh-CN" altLang="en-US" sz="1050" dirty="0">
              <a:solidFill>
                <a:srgbClr val="383838"/>
              </a:solidFill>
              <a:latin typeface="微软雅黑"/>
              <a:ea typeface="微软雅黑"/>
              <a:cs typeface="微软雅黑"/>
            </a:endParaRPr>
          </a:p>
        </p:txBody>
      </p:sp>
      <p:sp>
        <p:nvSpPr>
          <p:cNvPr id="78" name="紫荆的职场Point14"/>
          <p:cNvSpPr txBox="1"/>
          <p:nvPr/>
        </p:nvSpPr>
        <p:spPr>
          <a:xfrm>
            <a:off x="3285177" y="3742833"/>
            <a:ext cx="1204176" cy="369332"/>
          </a:xfrm>
          <a:prstGeom prst="rect">
            <a:avLst/>
          </a:prstGeom>
          <a:noFill/>
        </p:spPr>
        <p:txBody>
          <a:bodyPr wrap="none" lIns="0" rIns="0" tIns="0" bIns="0">
            <a:spAutoFit/>
          </a:bodyPr>
          <a:lstStyle/>
          <a:p>
            <a:pPr>
              <a:defRPr>
                <a:latin typeface="微软雅黑"/>
                <a:ea typeface="微软雅黑"/>
                <a:cs typeface="微软雅黑"/>
              </a:defRPr>
            </a:pPr>
            <a:r>
              <a:rPr lang="en-US" altLang="zh-CN" b="1" dirty="0">
                <a:solidFill>
                  <a:srgbClr val="0042FF"/>
                </a:solidFill>
                <a:latin typeface="微软雅黑"/>
                <a:ea typeface="微软雅黑"/>
                <a:cs typeface="微软雅黑"/>
              </a:rPr>
              <a:t>3000</a:t>
            </a:r>
            <a:r>
              <a:rPr lang="zh-CN" altLang="en-US" b="1" dirty="0">
                <a:solidFill>
                  <a:srgbClr val="0042FF"/>
                </a:solidFill>
                <a:latin typeface="微软雅黑"/>
                <a:ea typeface="微软雅黑"/>
                <a:cs typeface="微软雅黑"/>
              </a:rPr>
              <a:t>万元</a:t>
            </a:r>
            <a:endParaRPr lang="zh-CN" altLang="en-US" b="1" dirty="0">
              <a:solidFill>
                <a:srgbClr val="0042FF"/>
              </a:solidFill>
              <a:latin typeface="微软雅黑"/>
              <a:ea typeface="微软雅黑"/>
              <a:cs typeface="微软雅黑"/>
            </a:endParaRPr>
          </a:p>
        </p:txBody>
      </p:sp>
      <p:sp>
        <p:nvSpPr>
          <p:cNvPr id="79" name="紫荆的职场Point15"/>
          <p:cNvSpPr txBox="1"/>
          <p:nvPr/>
        </p:nvSpPr>
        <p:spPr>
          <a:xfrm>
            <a:off x="2294897" y="3764663"/>
            <a:ext cx="774065" cy="368300"/>
          </a:xfrm>
          <a:prstGeom prst="rect">
            <a:avLst/>
          </a:prstGeom>
          <a:noFill/>
        </p:spPr>
        <p:txBody>
          <a:bodyPr wrap="none" lIns="0" rIns="0" tIns="0" bIns="0">
            <a:spAutoFit/>
          </a:bodyPr>
          <a:lstStyle/>
          <a:p>
            <a:pPr lvl="0" algn="l">
              <a:buClrTx/>
              <a:buSzTx/>
              <a:buFontTx/>
              <a:defRPr>
                <a:latin typeface="微软雅黑"/>
                <a:ea typeface="微软雅黑"/>
                <a:cs typeface="微软雅黑"/>
              </a:defRPr>
            </a:pPr>
            <a:r>
              <a:rPr lang="en-US" altLang="zh-CN" b="1" dirty="0">
                <a:solidFill>
                  <a:srgbClr val="0042FF"/>
                </a:solidFill>
                <a:latin typeface="微软雅黑"/>
                <a:ea typeface="微软雅黑"/>
                <a:cs typeface="微软雅黑"/>
                <a:sym typeface="微软雅黑"/>
              </a:rPr>
              <a:t>110%</a:t>
            </a:r>
            <a:endParaRPr lang="en-US" altLang="zh-CN" b="1" dirty="0">
              <a:solidFill>
                <a:srgbClr val="0042FF"/>
              </a:solidFill>
              <a:latin typeface="微软雅黑"/>
              <a:ea typeface="微软雅黑"/>
              <a:cs typeface="微软雅黑"/>
              <a:sym typeface="微软雅黑"/>
            </a:endParaRPr>
          </a:p>
        </p:txBody>
      </p:sp>
      <p:sp>
        <p:nvSpPr>
          <p:cNvPr id="85" name="紫荆的职场Point16"/>
          <p:cNvSpPr txBox="1"/>
          <p:nvPr/>
        </p:nvSpPr>
        <p:spPr>
          <a:xfrm>
            <a:off x="2118313" y="4056815"/>
            <a:ext cx="1127232" cy="253916"/>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年度目标完成率</a:t>
            </a:r>
            <a:endParaRPr lang="zh-CN" altLang="en-US" sz="1050" dirty="0">
              <a:solidFill>
                <a:srgbClr val="383838"/>
              </a:solidFill>
              <a:latin typeface="微软雅黑"/>
              <a:ea typeface="微软雅黑"/>
              <a:cs typeface="微软雅黑"/>
            </a:endParaRPr>
          </a:p>
        </p:txBody>
      </p:sp>
      <p:grpSp>
        <p:nvGrpSpPr>
          <p:cNvPr id="88" name="紫荆的职场Point17"/>
          <p:cNvGrpSpPr/>
          <p:nvPr/>
        </p:nvGrpSpPr>
        <p:grpSpPr>
          <a:xfrm>
            <a:off x="7683538" y="2832707"/>
            <a:ext cx="1031051" cy="567631"/>
            <a:chOff x="7683538" y="2757777"/>
            <a:chExt cx="1031051" cy="567631"/>
          </a:xfrm>
        </p:grpSpPr>
        <p:sp>
          <p:nvSpPr>
            <p:cNvPr id="89" name="紫荆的职场Point17-1"/>
            <p:cNvSpPr txBox="1"/>
            <p:nvPr/>
          </p:nvSpPr>
          <p:spPr>
            <a:xfrm>
              <a:off x="7683538" y="2757777"/>
              <a:ext cx="660758" cy="369332"/>
            </a:xfrm>
            <a:prstGeom prst="rect">
              <a:avLst/>
            </a:prstGeom>
            <a:noFill/>
          </p:spPr>
          <p:txBody>
            <a:bodyPr wrap="none" lIns="0" rIns="0" tIns="0" bIns="0">
              <a:spAutoFit/>
            </a:bodyPr>
            <a:lstStyle/>
            <a:p>
              <a:pPr>
                <a:defRPr>
                  <a:latin typeface="微软雅黑"/>
                  <a:ea typeface="微软雅黑"/>
                  <a:cs typeface="微软雅黑"/>
                </a:defRPr>
              </a:pPr>
              <a:r>
                <a:rPr lang="en-US" altLang="zh-CN" b="1" dirty="0">
                  <a:solidFill>
                    <a:srgbClr val="0042FF"/>
                  </a:solidFill>
                  <a:latin typeface="微软雅黑"/>
                  <a:ea typeface="微软雅黑"/>
                  <a:cs typeface="微软雅黑"/>
                </a:rPr>
                <a:t>15%</a:t>
              </a:r>
              <a:endParaRPr lang="en-US" altLang="zh-CN" b="1" dirty="0">
                <a:solidFill>
                  <a:srgbClr val="0042FF"/>
                </a:solidFill>
                <a:latin typeface="微软雅黑"/>
                <a:ea typeface="微软雅黑"/>
                <a:cs typeface="微软雅黑"/>
              </a:endParaRPr>
            </a:p>
          </p:txBody>
        </p:sp>
        <p:sp>
          <p:nvSpPr>
            <p:cNvPr id="90" name="紫荆的职场Point17-2"/>
            <p:cNvSpPr txBox="1"/>
            <p:nvPr/>
          </p:nvSpPr>
          <p:spPr>
            <a:xfrm>
              <a:off x="7683538" y="3063798"/>
              <a:ext cx="1031051" cy="261610"/>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年度成本节约</a:t>
              </a:r>
              <a:endParaRPr lang="zh-CN" altLang="en-US" sz="1050" dirty="0">
                <a:solidFill>
                  <a:srgbClr val="383838"/>
                </a:solidFill>
                <a:latin typeface="微软雅黑"/>
                <a:ea typeface="微软雅黑"/>
                <a:cs typeface="微软雅黑"/>
              </a:endParaRPr>
            </a:p>
          </p:txBody>
        </p:sp>
      </p:grpSp>
      <p:grpSp>
        <p:nvGrpSpPr>
          <p:cNvPr id="91" name="紫荆的职场Point18"/>
          <p:cNvGrpSpPr/>
          <p:nvPr/>
        </p:nvGrpSpPr>
        <p:grpSpPr>
          <a:xfrm>
            <a:off x="7683538" y="3410525"/>
            <a:ext cx="1127232" cy="552243"/>
            <a:chOff x="7683538" y="3335595"/>
            <a:chExt cx="1127232" cy="552243"/>
          </a:xfrm>
        </p:grpSpPr>
        <p:sp>
          <p:nvSpPr>
            <p:cNvPr id="92" name="紫荆的职场Point18-1"/>
            <p:cNvSpPr txBox="1"/>
            <p:nvPr/>
          </p:nvSpPr>
          <p:spPr>
            <a:xfrm>
              <a:off x="7683538" y="3335595"/>
              <a:ext cx="660758" cy="369332"/>
            </a:xfrm>
            <a:prstGeom prst="rect">
              <a:avLst/>
            </a:prstGeom>
            <a:noFill/>
          </p:spPr>
          <p:txBody>
            <a:bodyPr wrap="none" lIns="0" rIns="0" tIns="0" bIns="0">
              <a:spAutoFit/>
            </a:bodyPr>
            <a:lstStyle/>
            <a:p>
              <a:pPr>
                <a:defRPr>
                  <a:latin typeface="微软雅黑"/>
                  <a:ea typeface="微软雅黑"/>
                  <a:cs typeface="微软雅黑"/>
                </a:defRPr>
              </a:pPr>
              <a:r>
                <a:rPr lang="en-US" altLang="zh-CN" b="1">
                  <a:solidFill>
                    <a:srgbClr val="0042FF"/>
                  </a:solidFill>
                  <a:latin typeface="微软雅黑"/>
                  <a:ea typeface="微软雅黑"/>
                  <a:cs typeface="微软雅黑"/>
                </a:rPr>
                <a:t>20%</a:t>
              </a:r>
              <a:endParaRPr lang="en-US" altLang="zh-CN" b="1" dirty="0">
                <a:solidFill>
                  <a:srgbClr val="0042FF"/>
                </a:solidFill>
                <a:latin typeface="微软雅黑"/>
                <a:ea typeface="微软雅黑"/>
                <a:cs typeface="微软雅黑"/>
              </a:endParaRPr>
            </a:p>
          </p:txBody>
        </p:sp>
        <p:sp>
          <p:nvSpPr>
            <p:cNvPr id="93" name="紫荆的职场Point18-2"/>
            <p:cNvSpPr txBox="1"/>
            <p:nvPr/>
          </p:nvSpPr>
          <p:spPr>
            <a:xfrm>
              <a:off x="7683538" y="3633922"/>
              <a:ext cx="1127232" cy="253916"/>
            </a:xfrm>
            <a:prstGeom prst="rect">
              <a:avLst/>
            </a:prstGeom>
            <a:noFill/>
          </p:spPr>
          <p:txBody>
            <a:bodyPr wrap="none">
              <a:spAutoFit/>
            </a:bodyPr>
            <a:lstStyle/>
            <a:p>
              <a:pPr>
                <a:defRPr>
                  <a:latin typeface="微软雅黑"/>
                  <a:ea typeface="微软雅黑"/>
                  <a:cs typeface="微软雅黑"/>
                </a:defRPr>
              </a:pPr>
              <a:r>
                <a:rPr lang="zh-CN" altLang="en-US" sz="1050">
                  <a:solidFill>
                    <a:srgbClr val="383838"/>
                  </a:solidFill>
                  <a:latin typeface="微软雅黑"/>
                  <a:ea typeface="微软雅黑"/>
                  <a:cs typeface="微软雅黑"/>
                </a:rPr>
                <a:t>提高了操作效率</a:t>
              </a:r>
              <a:endParaRPr lang="zh-CN" altLang="en-US" sz="1050" dirty="0">
                <a:solidFill>
                  <a:srgbClr val="383838"/>
                </a:solidFill>
                <a:latin typeface="微软雅黑"/>
                <a:ea typeface="微软雅黑"/>
                <a:cs typeface="微软雅黑"/>
              </a:endParaRPr>
            </a:p>
          </p:txBody>
        </p:sp>
      </p:grpSp>
      <p:sp>
        <p:nvSpPr>
          <p:cNvPr id="95" name="紫荆的职场Point19-1"/>
          <p:cNvSpPr/>
          <p:nvPr/>
        </p:nvSpPr>
        <p:spPr>
          <a:xfrm>
            <a:off x="3402965" y="2177415"/>
            <a:ext cx="547370" cy="547370"/>
          </a:xfrm>
          <a:prstGeom prst="ellipse">
            <a:avLst/>
          </a:prstGeom>
          <a:gradFill>
            <a:gsLst>
              <a:gs pos="100000">
                <a:srgbClr val="3368FF"/>
              </a:gs>
              <a:gs pos="0">
                <a:srgbClr val="0042FF"/>
              </a:gs>
            </a:gsLst>
            <a:lin ang="0" scaled="0"/>
          </a:gradFill>
          <a:ln w="38100">
            <a:noFill/>
          </a:ln>
          <a:effectLst>
            <a:outerShdw blurRad="469900" dist="123444" dir="5400000" sx="99000" sy="99000" algn="ctr" rotWithShape="0">
              <a:srgbClr val="0042FF">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945" noProof="0" dirty="0">
              <a:ln>
                <a:noFill/>
              </a:ln>
              <a:solidFill>
                <a:srgbClr val="FFFFFF"/>
              </a:solidFill>
              <a:effectLst/>
              <a:uLnTx/>
              <a:uFillTx/>
              <a:latin typeface="微软雅黑"/>
              <a:ea typeface="微软雅黑"/>
              <a:cs typeface="微软雅黑"/>
              <a:sym typeface="微软雅黑"/>
            </a:endParaRPr>
          </a:p>
        </p:txBody>
      </p:sp>
      <p:sp>
        <p:nvSpPr>
          <p:cNvPr id="96" name="紫荆的职场Point19-2"/>
          <p:cNvSpPr/>
          <p:nvPr/>
        </p:nvSpPr>
        <p:spPr>
          <a:xfrm>
            <a:off x="3562350" y="2314575"/>
            <a:ext cx="241300" cy="28702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E6E6E6"/>
          </a:solidFill>
          <a:ln w="38100">
            <a:noFill/>
          </a:ln>
          <a:effectLst>
            <a:outerShdw blurRad="469900" dist="123444" dir="5400000" sx="99000" sy="99000" algn="ctr" rotWithShape="0">
              <a:srgbClr val="0042FF">
                <a:alpha val="24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sz="1945" noProof="0" dirty="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97" name="紫荆的职场Point20"/>
          <p:cNvSpPr/>
          <p:nvPr/>
        </p:nvSpPr>
        <p:spPr>
          <a:xfrm>
            <a:off x="8760839" y="2909156"/>
            <a:ext cx="1364465" cy="332871"/>
          </a:xfrm>
          <a:prstGeom prst="roundRect">
            <a:avLst>
              <a:gd name="adj" fmla="val 50000"/>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dirty="0">
              <a:solidFill>
                <a:srgbClr val="383838"/>
              </a:solidFill>
              <a:effectLst/>
              <a:latin typeface="微软雅黑"/>
              <a:ea typeface="微软雅黑"/>
              <a:cs typeface="微软雅黑"/>
            </a:endParaRPr>
          </a:p>
        </p:txBody>
      </p:sp>
      <p:sp>
        <p:nvSpPr>
          <p:cNvPr id="98" name="紫荆的职场Point21"/>
          <p:cNvSpPr txBox="1"/>
          <p:nvPr/>
        </p:nvSpPr>
        <p:spPr>
          <a:xfrm>
            <a:off x="8786481" y="2944787"/>
            <a:ext cx="1313180" cy="261610"/>
          </a:xfrm>
          <a:prstGeom prst="rect">
            <a:avLst/>
          </a:prstGeom>
          <a:noFill/>
        </p:spPr>
        <p:txBody>
          <a:bodyPr wrap="none">
            <a:spAutoFit/>
          </a:bodyPr>
          <a:lstStyle/>
          <a:p>
            <a:pPr algn="ctr">
              <a:defRPr>
                <a:latin typeface="微软雅黑"/>
                <a:ea typeface="微软雅黑"/>
                <a:cs typeface="微软雅黑"/>
              </a:defRPr>
            </a:pPr>
            <a:r>
              <a:rPr lang="zh-CN" altLang="en-US" sz="1100" b="1" dirty="0">
                <a:solidFill>
                  <a:srgbClr val="0042FF"/>
                </a:solidFill>
                <a:latin typeface="微软雅黑"/>
                <a:ea typeface="微软雅黑"/>
                <a:cs typeface="微软雅黑"/>
              </a:rPr>
              <a:t>优化了供应链管理</a:t>
            </a:r>
            <a:endParaRPr lang="zh-CN" altLang="en-US" sz="1100" b="1" dirty="0">
              <a:solidFill>
                <a:srgbClr val="0042FF"/>
              </a:solidFill>
              <a:latin typeface="微软雅黑"/>
              <a:ea typeface="微软雅黑"/>
              <a:cs typeface="微软雅黑"/>
            </a:endParaRPr>
          </a:p>
        </p:txBody>
      </p:sp>
      <p:pic>
        <p:nvPicPr>
          <p:cNvPr id="99" name="紫荆的职场Point22"/>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727994" y="2677432"/>
            <a:ext cx="652982" cy="652982"/>
          </a:xfrm>
          <a:prstGeom prst="rect">
            <a:avLst/>
          </a:prstGeom>
        </p:spPr>
      </p:pic>
      <p:sp>
        <p:nvSpPr>
          <p:cNvPr id="100" name="紫荆的职场Point23"/>
          <p:cNvSpPr/>
          <p:nvPr/>
        </p:nvSpPr>
        <p:spPr>
          <a:xfrm>
            <a:off x="8760839" y="3443733"/>
            <a:ext cx="1364465" cy="332871"/>
          </a:xfrm>
          <a:prstGeom prst="roundRect">
            <a:avLst>
              <a:gd name="adj" fmla="val 50000"/>
            </a:avLst>
          </a:prstGeom>
          <a:solidFill>
            <a:srgbClr val="FFFF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latin typeface="微软雅黑"/>
              <a:ea typeface="微软雅黑"/>
              <a:cs typeface="微软雅黑"/>
              <a:sym typeface="微软雅黑"/>
            </a:endParaRPr>
          </a:p>
        </p:txBody>
      </p:sp>
      <p:sp>
        <p:nvSpPr>
          <p:cNvPr id="101" name="紫荆的职场Point24"/>
          <p:cNvSpPr txBox="1"/>
          <p:nvPr/>
        </p:nvSpPr>
        <p:spPr>
          <a:xfrm>
            <a:off x="8857013" y="3479364"/>
            <a:ext cx="1172116" cy="261610"/>
          </a:xfrm>
          <a:prstGeom prst="rect">
            <a:avLst/>
          </a:prstGeom>
          <a:noFill/>
        </p:spPr>
        <p:txBody>
          <a:bodyPr wrap="none">
            <a:spAutoFit/>
          </a:bodyPr>
          <a:lstStyle/>
          <a:p>
            <a:pPr algn="ctr">
              <a:defRPr>
                <a:latin typeface="微软雅黑"/>
                <a:ea typeface="微软雅黑"/>
                <a:cs typeface="微软雅黑"/>
              </a:defRPr>
            </a:pPr>
            <a:r>
              <a:rPr lang="zh-CN" altLang="en-US" sz="1100" b="1" dirty="0">
                <a:solidFill>
                  <a:srgbClr val="0042FF"/>
                </a:solidFill>
                <a:latin typeface="微软雅黑"/>
                <a:ea typeface="微软雅黑"/>
                <a:cs typeface="微软雅黑"/>
              </a:rPr>
              <a:t>减少了人为错误</a:t>
            </a:r>
            <a:endParaRPr lang="zh-CN" altLang="en-US" sz="1100" b="1" dirty="0">
              <a:solidFill>
                <a:srgbClr val="0042FF"/>
              </a:solidFill>
              <a:latin typeface="微软雅黑"/>
              <a:ea typeface="微软雅黑"/>
              <a:cs typeface="微软雅黑"/>
            </a:endParaRPr>
          </a:p>
        </p:txBody>
      </p:sp>
      <p:sp>
        <p:nvSpPr>
          <p:cNvPr id="103" name="紫荆的职场Point25-1"/>
          <p:cNvSpPr/>
          <p:nvPr/>
        </p:nvSpPr>
        <p:spPr>
          <a:xfrm>
            <a:off x="8146415" y="2206625"/>
            <a:ext cx="547370" cy="547370"/>
          </a:xfrm>
          <a:prstGeom prst="ellipse">
            <a:avLst/>
          </a:prstGeom>
          <a:gradFill>
            <a:gsLst>
              <a:gs pos="100000">
                <a:srgbClr val="3368FF"/>
              </a:gs>
              <a:gs pos="0">
                <a:srgbClr val="0042FF"/>
              </a:gs>
            </a:gsLst>
            <a:lin ang="0" scaled="0"/>
          </a:gradFill>
          <a:ln>
            <a:noFill/>
          </a:ln>
          <a:effectLst>
            <a:outerShdw blurRad="139700" dist="88900" dir="2700000" sx="99000" sy="99000" algn="tl" rotWithShape="0">
              <a:srgbClr val="0042FF">
                <a:alpha val="2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t">
            <a:noAutofit/>
          </a:bodyPr>
          <a:lstStyle/>
          <a:p>
            <a:pPr algn="ctr" defTabSz="456565">
              <a:spcBef>
                <a:spcPts val="1000"/>
              </a:spcBef>
              <a:defRPr>
                <a:solidFill>
                  <a:srgbClr val="FFFFFF"/>
                </a:solidFill>
                <a:latin typeface="微软雅黑"/>
                <a:ea typeface="微软雅黑"/>
                <a:cs typeface="微软雅黑"/>
              </a:defRPr>
            </a:pPr>
            <a:endParaRPr lang="en-US" sz="1400" b="1" dirty="0">
              <a:solidFill>
                <a:srgbClr val="FFFFFF"/>
              </a:solidFill>
              <a:latin typeface="微软雅黑"/>
              <a:ea typeface="微软雅黑"/>
              <a:cs typeface="微软雅黑"/>
            </a:endParaRPr>
          </a:p>
        </p:txBody>
      </p:sp>
      <p:pic>
        <p:nvPicPr>
          <p:cNvPr id="104" name="紫荆的职场Point25-2"/>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284845" y="2333625"/>
            <a:ext cx="271145" cy="254635"/>
          </a:xfrm>
          <a:prstGeom prst="rect">
            <a:avLst/>
          </a:prstGeom>
        </p:spPr>
      </p:pic>
      <p:sp>
        <p:nvSpPr>
          <p:cNvPr id="105" name="紫荆的职场Point26"/>
          <p:cNvSpPr/>
          <p:nvPr/>
        </p:nvSpPr>
        <p:spPr>
          <a:xfrm rot="5400000">
            <a:off x="8418823" y="2875363"/>
            <a:ext cx="253917" cy="33809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 name="connsiteX0-1" fmla="*/ 211655 w 425194"/>
              <a:gd name="connsiteY0-2" fmla="*/ 0 h 485927"/>
              <a:gd name="connsiteX1-3" fmla="*/ 383105 w 425194"/>
              <a:gd name="connsiteY1-4" fmla="*/ 157551 h 485927"/>
              <a:gd name="connsiteX2-5" fmla="*/ 303297 w 425194"/>
              <a:gd name="connsiteY2-6" fmla="*/ 157551 h 485927"/>
              <a:gd name="connsiteX3-7" fmla="*/ 315037 w 425194"/>
              <a:gd name="connsiteY3-8" fmla="*/ 222549 h 485927"/>
              <a:gd name="connsiteX4-9" fmla="*/ 425194 w 425194"/>
              <a:gd name="connsiteY4-10" fmla="*/ 485927 h 485927"/>
              <a:gd name="connsiteX5-11" fmla="*/ 9022 w 425194"/>
              <a:gd name="connsiteY5-12" fmla="*/ 485927 h 485927"/>
              <a:gd name="connsiteX6-13" fmla="*/ 131351 w 425194"/>
              <a:gd name="connsiteY6-14" fmla="*/ 157551 h 485927"/>
              <a:gd name="connsiteX7-15" fmla="*/ 40205 w 425194"/>
              <a:gd name="connsiteY7-16" fmla="*/ 157551 h 485927"/>
              <a:gd name="connsiteX8-17" fmla="*/ 211655 w 425194"/>
              <a:gd name="connsiteY8-18" fmla="*/ 0 h 485927"/>
              <a:gd name="connsiteX0-19" fmla="*/ 211655 w 425194"/>
              <a:gd name="connsiteY0-20" fmla="*/ 0 h 485927"/>
              <a:gd name="connsiteX1-21" fmla="*/ 383105 w 425194"/>
              <a:gd name="connsiteY1-22" fmla="*/ 157551 h 485927"/>
              <a:gd name="connsiteX2-23" fmla="*/ 303297 w 425194"/>
              <a:gd name="connsiteY2-24" fmla="*/ 157551 h 485927"/>
              <a:gd name="connsiteX3-25" fmla="*/ 425194 w 425194"/>
              <a:gd name="connsiteY3-26" fmla="*/ 485927 h 485927"/>
              <a:gd name="connsiteX4-27" fmla="*/ 9022 w 425194"/>
              <a:gd name="connsiteY4-28" fmla="*/ 485927 h 485927"/>
              <a:gd name="connsiteX5-29" fmla="*/ 131351 w 425194"/>
              <a:gd name="connsiteY5-30" fmla="*/ 157551 h 485927"/>
              <a:gd name="connsiteX6-31" fmla="*/ 40205 w 425194"/>
              <a:gd name="connsiteY6-32" fmla="*/ 157551 h 485927"/>
              <a:gd name="connsiteX7-33" fmla="*/ 211655 w 425194"/>
              <a:gd name="connsiteY7-34" fmla="*/ 0 h 485927"/>
              <a:gd name="connsiteX0-35" fmla="*/ 211655 w 425194"/>
              <a:gd name="connsiteY0-36" fmla="*/ 0 h 485927"/>
              <a:gd name="connsiteX1-37" fmla="*/ 383105 w 425194"/>
              <a:gd name="connsiteY1-38" fmla="*/ 157551 h 485927"/>
              <a:gd name="connsiteX2-39" fmla="*/ 303297 w 425194"/>
              <a:gd name="connsiteY2-40" fmla="*/ 157551 h 485927"/>
              <a:gd name="connsiteX3-41" fmla="*/ 425194 w 425194"/>
              <a:gd name="connsiteY3-42" fmla="*/ 485927 h 485927"/>
              <a:gd name="connsiteX4-43" fmla="*/ 9022 w 425194"/>
              <a:gd name="connsiteY4-44" fmla="*/ 485927 h 485927"/>
              <a:gd name="connsiteX5-45" fmla="*/ 131351 w 425194"/>
              <a:gd name="connsiteY5-46" fmla="*/ 157551 h 485927"/>
              <a:gd name="connsiteX6-47" fmla="*/ 40205 w 425194"/>
              <a:gd name="connsiteY6-48" fmla="*/ 157551 h 485927"/>
              <a:gd name="connsiteX7-49" fmla="*/ 211655 w 425194"/>
              <a:gd name="connsiteY7-50" fmla="*/ 0 h 485927"/>
              <a:gd name="connsiteX0-51" fmla="*/ 211655 w 425194"/>
              <a:gd name="connsiteY0-52" fmla="*/ 0 h 485927"/>
              <a:gd name="connsiteX1-53" fmla="*/ 383105 w 425194"/>
              <a:gd name="connsiteY1-54" fmla="*/ 157551 h 485927"/>
              <a:gd name="connsiteX2-55" fmla="*/ 303297 w 425194"/>
              <a:gd name="connsiteY2-56" fmla="*/ 157551 h 485927"/>
              <a:gd name="connsiteX3-57" fmla="*/ 425194 w 425194"/>
              <a:gd name="connsiteY3-58" fmla="*/ 485927 h 485927"/>
              <a:gd name="connsiteX4-59" fmla="*/ 9022 w 425194"/>
              <a:gd name="connsiteY4-60" fmla="*/ 485927 h 485927"/>
              <a:gd name="connsiteX5-61" fmla="*/ 131351 w 425194"/>
              <a:gd name="connsiteY5-62" fmla="*/ 157551 h 485927"/>
              <a:gd name="connsiteX6-63" fmla="*/ 40205 w 425194"/>
              <a:gd name="connsiteY6-64" fmla="*/ 157551 h 485927"/>
              <a:gd name="connsiteX7-65" fmla="*/ 211655 w 425194"/>
              <a:gd name="connsiteY7-66" fmla="*/ 0 h 485927"/>
              <a:gd name="connsiteX0-67" fmla="*/ 211049 w 424588"/>
              <a:gd name="connsiteY0-68" fmla="*/ 0 h 485927"/>
              <a:gd name="connsiteX1-69" fmla="*/ 382499 w 424588"/>
              <a:gd name="connsiteY1-70" fmla="*/ 157551 h 485927"/>
              <a:gd name="connsiteX2-71" fmla="*/ 302691 w 424588"/>
              <a:gd name="connsiteY2-72" fmla="*/ 157551 h 485927"/>
              <a:gd name="connsiteX3-73" fmla="*/ 424588 w 424588"/>
              <a:gd name="connsiteY3-74" fmla="*/ 485927 h 485927"/>
              <a:gd name="connsiteX4-75" fmla="*/ 8416 w 424588"/>
              <a:gd name="connsiteY4-76" fmla="*/ 485927 h 485927"/>
              <a:gd name="connsiteX5-77" fmla="*/ 130745 w 424588"/>
              <a:gd name="connsiteY5-78" fmla="*/ 157551 h 485927"/>
              <a:gd name="connsiteX6-79" fmla="*/ 39599 w 424588"/>
              <a:gd name="connsiteY6-80" fmla="*/ 157551 h 485927"/>
              <a:gd name="connsiteX7-81" fmla="*/ 211049 w 424588"/>
              <a:gd name="connsiteY7-82" fmla="*/ 0 h 485927"/>
              <a:gd name="connsiteX0-83" fmla="*/ 202633 w 416172"/>
              <a:gd name="connsiteY0-84" fmla="*/ 0 h 485927"/>
              <a:gd name="connsiteX1-85" fmla="*/ 374083 w 416172"/>
              <a:gd name="connsiteY1-86" fmla="*/ 157551 h 485927"/>
              <a:gd name="connsiteX2-87" fmla="*/ 294275 w 416172"/>
              <a:gd name="connsiteY2-88" fmla="*/ 157551 h 485927"/>
              <a:gd name="connsiteX3-89" fmla="*/ 416172 w 416172"/>
              <a:gd name="connsiteY3-90" fmla="*/ 485927 h 485927"/>
              <a:gd name="connsiteX4-91" fmla="*/ 0 w 416172"/>
              <a:gd name="connsiteY4-92" fmla="*/ 485927 h 485927"/>
              <a:gd name="connsiteX5-93" fmla="*/ 122329 w 416172"/>
              <a:gd name="connsiteY5-94" fmla="*/ 157551 h 485927"/>
              <a:gd name="connsiteX6-95" fmla="*/ 31183 w 416172"/>
              <a:gd name="connsiteY6-96" fmla="*/ 157551 h 485927"/>
              <a:gd name="connsiteX7-97" fmla="*/ 202633 w 416172"/>
              <a:gd name="connsiteY7-98" fmla="*/ 0 h 485927"/>
              <a:gd name="connsiteX0-99" fmla="*/ 204141 w 416172"/>
              <a:gd name="connsiteY0-100" fmla="*/ 0 h 493579"/>
              <a:gd name="connsiteX1-101" fmla="*/ 374083 w 416172"/>
              <a:gd name="connsiteY1-102" fmla="*/ 165203 h 493579"/>
              <a:gd name="connsiteX2-103" fmla="*/ 294275 w 416172"/>
              <a:gd name="connsiteY2-104" fmla="*/ 165203 h 493579"/>
              <a:gd name="connsiteX3-105" fmla="*/ 416172 w 416172"/>
              <a:gd name="connsiteY3-106" fmla="*/ 493579 h 493579"/>
              <a:gd name="connsiteX4-107" fmla="*/ 0 w 416172"/>
              <a:gd name="connsiteY4-108" fmla="*/ 493579 h 493579"/>
              <a:gd name="connsiteX5-109" fmla="*/ 122329 w 416172"/>
              <a:gd name="connsiteY5-110" fmla="*/ 165203 h 493579"/>
              <a:gd name="connsiteX6-111" fmla="*/ 31183 w 416172"/>
              <a:gd name="connsiteY6-112" fmla="*/ 165203 h 493579"/>
              <a:gd name="connsiteX7-113" fmla="*/ 204141 w 416172"/>
              <a:gd name="connsiteY7-114" fmla="*/ 0 h 493579"/>
              <a:gd name="connsiteX0-115" fmla="*/ 207157 w 416172"/>
              <a:gd name="connsiteY0-116" fmla="*/ 0 h 480187"/>
              <a:gd name="connsiteX1-117" fmla="*/ 374083 w 416172"/>
              <a:gd name="connsiteY1-118" fmla="*/ 151811 h 480187"/>
              <a:gd name="connsiteX2-119" fmla="*/ 294275 w 416172"/>
              <a:gd name="connsiteY2-120" fmla="*/ 151811 h 480187"/>
              <a:gd name="connsiteX3-121" fmla="*/ 416172 w 416172"/>
              <a:gd name="connsiteY3-122" fmla="*/ 480187 h 480187"/>
              <a:gd name="connsiteX4-123" fmla="*/ 0 w 416172"/>
              <a:gd name="connsiteY4-124" fmla="*/ 480187 h 480187"/>
              <a:gd name="connsiteX5-125" fmla="*/ 122329 w 416172"/>
              <a:gd name="connsiteY5-126" fmla="*/ 151811 h 480187"/>
              <a:gd name="connsiteX6-127" fmla="*/ 31183 w 416172"/>
              <a:gd name="connsiteY6-128" fmla="*/ 151811 h 480187"/>
              <a:gd name="connsiteX7-129" fmla="*/ 207157 w 416172"/>
              <a:gd name="connsiteY7-130" fmla="*/ 0 h 48018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16172" h="480187">
                <a:moveTo>
                  <a:pt x="207157" y="0"/>
                </a:moveTo>
                <a:cubicBezTo>
                  <a:pt x="242876" y="59661"/>
                  <a:pt x="269308" y="99294"/>
                  <a:pt x="374083" y="151811"/>
                </a:cubicBezTo>
                <a:lnTo>
                  <a:pt x="294275" y="151811"/>
                </a:lnTo>
                <a:cubicBezTo>
                  <a:pt x="294195" y="282314"/>
                  <a:pt x="348398" y="387946"/>
                  <a:pt x="416172" y="480187"/>
                </a:cubicBezTo>
                <a:lnTo>
                  <a:pt x="0" y="480187"/>
                </a:lnTo>
                <a:cubicBezTo>
                  <a:pt x="59593" y="423545"/>
                  <a:pt x="132211" y="237150"/>
                  <a:pt x="122329" y="151811"/>
                </a:cubicBezTo>
                <a:lnTo>
                  <a:pt x="31183" y="151811"/>
                </a:lnTo>
                <a:cubicBezTo>
                  <a:pt x="131195" y="101675"/>
                  <a:pt x="185726" y="45373"/>
                  <a:pt x="207157" y="0"/>
                </a:cubicBezTo>
                <a:close/>
              </a:path>
            </a:pathLst>
          </a:custGeom>
          <a:gradFill flip="none" rotWithShape="1">
            <a:gsLst>
              <a:gs pos="0">
                <a:srgbClr val="3368FF">
                  <a:alpha val="0"/>
                </a:srgbClr>
              </a:gs>
              <a:gs pos="60000">
                <a:srgbClr val="3368FF"/>
              </a:gs>
            </a:gsLst>
            <a:lin ang="16200000" scaled="1"/>
            <a:tileRect/>
          </a:gradFill>
          <a:ln w="38100">
            <a:noFill/>
          </a:ln>
          <a:effectLst>
            <a:outerShdw blurRad="411480" dist="123444" dir="5400000" sx="108000" sy="108000" algn="ctr" rotWithShape="0">
              <a:srgbClr val="0042FF">
                <a:alpha val="16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6" name="紫荆的职场Point27"/>
          <p:cNvSpPr/>
          <p:nvPr/>
        </p:nvSpPr>
        <p:spPr>
          <a:xfrm rot="5400000">
            <a:off x="8418823" y="3427608"/>
            <a:ext cx="253917" cy="33809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 name="connsiteX0-1" fmla="*/ 211655 w 425194"/>
              <a:gd name="connsiteY0-2" fmla="*/ 0 h 485927"/>
              <a:gd name="connsiteX1-3" fmla="*/ 383105 w 425194"/>
              <a:gd name="connsiteY1-4" fmla="*/ 157551 h 485927"/>
              <a:gd name="connsiteX2-5" fmla="*/ 303297 w 425194"/>
              <a:gd name="connsiteY2-6" fmla="*/ 157551 h 485927"/>
              <a:gd name="connsiteX3-7" fmla="*/ 315037 w 425194"/>
              <a:gd name="connsiteY3-8" fmla="*/ 222549 h 485927"/>
              <a:gd name="connsiteX4-9" fmla="*/ 425194 w 425194"/>
              <a:gd name="connsiteY4-10" fmla="*/ 485927 h 485927"/>
              <a:gd name="connsiteX5-11" fmla="*/ 9022 w 425194"/>
              <a:gd name="connsiteY5-12" fmla="*/ 485927 h 485927"/>
              <a:gd name="connsiteX6-13" fmla="*/ 131351 w 425194"/>
              <a:gd name="connsiteY6-14" fmla="*/ 157551 h 485927"/>
              <a:gd name="connsiteX7-15" fmla="*/ 40205 w 425194"/>
              <a:gd name="connsiteY7-16" fmla="*/ 157551 h 485927"/>
              <a:gd name="connsiteX8-17" fmla="*/ 211655 w 425194"/>
              <a:gd name="connsiteY8-18" fmla="*/ 0 h 485927"/>
              <a:gd name="connsiteX0-19" fmla="*/ 211655 w 425194"/>
              <a:gd name="connsiteY0-20" fmla="*/ 0 h 485927"/>
              <a:gd name="connsiteX1-21" fmla="*/ 383105 w 425194"/>
              <a:gd name="connsiteY1-22" fmla="*/ 157551 h 485927"/>
              <a:gd name="connsiteX2-23" fmla="*/ 303297 w 425194"/>
              <a:gd name="connsiteY2-24" fmla="*/ 157551 h 485927"/>
              <a:gd name="connsiteX3-25" fmla="*/ 425194 w 425194"/>
              <a:gd name="connsiteY3-26" fmla="*/ 485927 h 485927"/>
              <a:gd name="connsiteX4-27" fmla="*/ 9022 w 425194"/>
              <a:gd name="connsiteY4-28" fmla="*/ 485927 h 485927"/>
              <a:gd name="connsiteX5-29" fmla="*/ 131351 w 425194"/>
              <a:gd name="connsiteY5-30" fmla="*/ 157551 h 485927"/>
              <a:gd name="connsiteX6-31" fmla="*/ 40205 w 425194"/>
              <a:gd name="connsiteY6-32" fmla="*/ 157551 h 485927"/>
              <a:gd name="connsiteX7-33" fmla="*/ 211655 w 425194"/>
              <a:gd name="connsiteY7-34" fmla="*/ 0 h 485927"/>
              <a:gd name="connsiteX0-35" fmla="*/ 211655 w 425194"/>
              <a:gd name="connsiteY0-36" fmla="*/ 0 h 485927"/>
              <a:gd name="connsiteX1-37" fmla="*/ 383105 w 425194"/>
              <a:gd name="connsiteY1-38" fmla="*/ 157551 h 485927"/>
              <a:gd name="connsiteX2-39" fmla="*/ 303297 w 425194"/>
              <a:gd name="connsiteY2-40" fmla="*/ 157551 h 485927"/>
              <a:gd name="connsiteX3-41" fmla="*/ 425194 w 425194"/>
              <a:gd name="connsiteY3-42" fmla="*/ 485927 h 485927"/>
              <a:gd name="connsiteX4-43" fmla="*/ 9022 w 425194"/>
              <a:gd name="connsiteY4-44" fmla="*/ 485927 h 485927"/>
              <a:gd name="connsiteX5-45" fmla="*/ 131351 w 425194"/>
              <a:gd name="connsiteY5-46" fmla="*/ 157551 h 485927"/>
              <a:gd name="connsiteX6-47" fmla="*/ 40205 w 425194"/>
              <a:gd name="connsiteY6-48" fmla="*/ 157551 h 485927"/>
              <a:gd name="connsiteX7-49" fmla="*/ 211655 w 425194"/>
              <a:gd name="connsiteY7-50" fmla="*/ 0 h 485927"/>
              <a:gd name="connsiteX0-51" fmla="*/ 211655 w 425194"/>
              <a:gd name="connsiteY0-52" fmla="*/ 0 h 485927"/>
              <a:gd name="connsiteX1-53" fmla="*/ 383105 w 425194"/>
              <a:gd name="connsiteY1-54" fmla="*/ 157551 h 485927"/>
              <a:gd name="connsiteX2-55" fmla="*/ 303297 w 425194"/>
              <a:gd name="connsiteY2-56" fmla="*/ 157551 h 485927"/>
              <a:gd name="connsiteX3-57" fmla="*/ 425194 w 425194"/>
              <a:gd name="connsiteY3-58" fmla="*/ 485927 h 485927"/>
              <a:gd name="connsiteX4-59" fmla="*/ 9022 w 425194"/>
              <a:gd name="connsiteY4-60" fmla="*/ 485927 h 485927"/>
              <a:gd name="connsiteX5-61" fmla="*/ 131351 w 425194"/>
              <a:gd name="connsiteY5-62" fmla="*/ 157551 h 485927"/>
              <a:gd name="connsiteX6-63" fmla="*/ 40205 w 425194"/>
              <a:gd name="connsiteY6-64" fmla="*/ 157551 h 485927"/>
              <a:gd name="connsiteX7-65" fmla="*/ 211655 w 425194"/>
              <a:gd name="connsiteY7-66" fmla="*/ 0 h 485927"/>
              <a:gd name="connsiteX0-67" fmla="*/ 211049 w 424588"/>
              <a:gd name="connsiteY0-68" fmla="*/ 0 h 485927"/>
              <a:gd name="connsiteX1-69" fmla="*/ 382499 w 424588"/>
              <a:gd name="connsiteY1-70" fmla="*/ 157551 h 485927"/>
              <a:gd name="connsiteX2-71" fmla="*/ 302691 w 424588"/>
              <a:gd name="connsiteY2-72" fmla="*/ 157551 h 485927"/>
              <a:gd name="connsiteX3-73" fmla="*/ 424588 w 424588"/>
              <a:gd name="connsiteY3-74" fmla="*/ 485927 h 485927"/>
              <a:gd name="connsiteX4-75" fmla="*/ 8416 w 424588"/>
              <a:gd name="connsiteY4-76" fmla="*/ 485927 h 485927"/>
              <a:gd name="connsiteX5-77" fmla="*/ 130745 w 424588"/>
              <a:gd name="connsiteY5-78" fmla="*/ 157551 h 485927"/>
              <a:gd name="connsiteX6-79" fmla="*/ 39599 w 424588"/>
              <a:gd name="connsiteY6-80" fmla="*/ 157551 h 485927"/>
              <a:gd name="connsiteX7-81" fmla="*/ 211049 w 424588"/>
              <a:gd name="connsiteY7-82" fmla="*/ 0 h 485927"/>
              <a:gd name="connsiteX0-83" fmla="*/ 202633 w 416172"/>
              <a:gd name="connsiteY0-84" fmla="*/ 0 h 485927"/>
              <a:gd name="connsiteX1-85" fmla="*/ 374083 w 416172"/>
              <a:gd name="connsiteY1-86" fmla="*/ 157551 h 485927"/>
              <a:gd name="connsiteX2-87" fmla="*/ 294275 w 416172"/>
              <a:gd name="connsiteY2-88" fmla="*/ 157551 h 485927"/>
              <a:gd name="connsiteX3-89" fmla="*/ 416172 w 416172"/>
              <a:gd name="connsiteY3-90" fmla="*/ 485927 h 485927"/>
              <a:gd name="connsiteX4-91" fmla="*/ 0 w 416172"/>
              <a:gd name="connsiteY4-92" fmla="*/ 485927 h 485927"/>
              <a:gd name="connsiteX5-93" fmla="*/ 122329 w 416172"/>
              <a:gd name="connsiteY5-94" fmla="*/ 157551 h 485927"/>
              <a:gd name="connsiteX6-95" fmla="*/ 31183 w 416172"/>
              <a:gd name="connsiteY6-96" fmla="*/ 157551 h 485927"/>
              <a:gd name="connsiteX7-97" fmla="*/ 202633 w 416172"/>
              <a:gd name="connsiteY7-98" fmla="*/ 0 h 485927"/>
              <a:gd name="connsiteX0-99" fmla="*/ 204141 w 416172"/>
              <a:gd name="connsiteY0-100" fmla="*/ 0 h 493579"/>
              <a:gd name="connsiteX1-101" fmla="*/ 374083 w 416172"/>
              <a:gd name="connsiteY1-102" fmla="*/ 165203 h 493579"/>
              <a:gd name="connsiteX2-103" fmla="*/ 294275 w 416172"/>
              <a:gd name="connsiteY2-104" fmla="*/ 165203 h 493579"/>
              <a:gd name="connsiteX3-105" fmla="*/ 416172 w 416172"/>
              <a:gd name="connsiteY3-106" fmla="*/ 493579 h 493579"/>
              <a:gd name="connsiteX4-107" fmla="*/ 0 w 416172"/>
              <a:gd name="connsiteY4-108" fmla="*/ 493579 h 493579"/>
              <a:gd name="connsiteX5-109" fmla="*/ 122329 w 416172"/>
              <a:gd name="connsiteY5-110" fmla="*/ 165203 h 493579"/>
              <a:gd name="connsiteX6-111" fmla="*/ 31183 w 416172"/>
              <a:gd name="connsiteY6-112" fmla="*/ 165203 h 493579"/>
              <a:gd name="connsiteX7-113" fmla="*/ 204141 w 416172"/>
              <a:gd name="connsiteY7-114" fmla="*/ 0 h 493579"/>
              <a:gd name="connsiteX0-115" fmla="*/ 207157 w 416172"/>
              <a:gd name="connsiteY0-116" fmla="*/ 0 h 480187"/>
              <a:gd name="connsiteX1-117" fmla="*/ 374083 w 416172"/>
              <a:gd name="connsiteY1-118" fmla="*/ 151811 h 480187"/>
              <a:gd name="connsiteX2-119" fmla="*/ 294275 w 416172"/>
              <a:gd name="connsiteY2-120" fmla="*/ 151811 h 480187"/>
              <a:gd name="connsiteX3-121" fmla="*/ 416172 w 416172"/>
              <a:gd name="connsiteY3-122" fmla="*/ 480187 h 480187"/>
              <a:gd name="connsiteX4-123" fmla="*/ 0 w 416172"/>
              <a:gd name="connsiteY4-124" fmla="*/ 480187 h 480187"/>
              <a:gd name="connsiteX5-125" fmla="*/ 122329 w 416172"/>
              <a:gd name="connsiteY5-126" fmla="*/ 151811 h 480187"/>
              <a:gd name="connsiteX6-127" fmla="*/ 31183 w 416172"/>
              <a:gd name="connsiteY6-128" fmla="*/ 151811 h 480187"/>
              <a:gd name="connsiteX7-129" fmla="*/ 207157 w 416172"/>
              <a:gd name="connsiteY7-130" fmla="*/ 0 h 48018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16172" h="480187">
                <a:moveTo>
                  <a:pt x="207157" y="0"/>
                </a:moveTo>
                <a:cubicBezTo>
                  <a:pt x="242876" y="59661"/>
                  <a:pt x="269308" y="99294"/>
                  <a:pt x="374083" y="151811"/>
                </a:cubicBezTo>
                <a:lnTo>
                  <a:pt x="294275" y="151811"/>
                </a:lnTo>
                <a:cubicBezTo>
                  <a:pt x="294195" y="282314"/>
                  <a:pt x="348398" y="387946"/>
                  <a:pt x="416172" y="480187"/>
                </a:cubicBezTo>
                <a:lnTo>
                  <a:pt x="0" y="480187"/>
                </a:lnTo>
                <a:cubicBezTo>
                  <a:pt x="59593" y="423545"/>
                  <a:pt x="132211" y="237150"/>
                  <a:pt x="122329" y="151811"/>
                </a:cubicBezTo>
                <a:lnTo>
                  <a:pt x="31183" y="151811"/>
                </a:lnTo>
                <a:cubicBezTo>
                  <a:pt x="131195" y="101675"/>
                  <a:pt x="185726" y="45373"/>
                  <a:pt x="207157" y="0"/>
                </a:cubicBezTo>
                <a:close/>
              </a:path>
            </a:pathLst>
          </a:custGeom>
          <a:gradFill flip="none" rotWithShape="1">
            <a:gsLst>
              <a:gs pos="0">
                <a:srgbClr val="3368FF">
                  <a:alpha val="0"/>
                </a:srgbClr>
              </a:gs>
              <a:gs pos="60000">
                <a:srgbClr val="3368FF"/>
              </a:gs>
            </a:gsLst>
            <a:lin ang="16200000" scaled="1"/>
            <a:tileRect/>
          </a:gradFill>
          <a:ln w="38100">
            <a:noFill/>
          </a:ln>
          <a:effectLst>
            <a:outerShdw blurRad="411480" dist="123444" dir="5400000" sx="108000" sy="108000" algn="ctr" rotWithShape="0">
              <a:srgbClr val="0042FF">
                <a:alpha val="16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7" name="紫荆的职场Point28"/>
          <p:cNvSpPr/>
          <p:nvPr/>
        </p:nvSpPr>
        <p:spPr>
          <a:xfrm>
            <a:off x="429512" y="1694785"/>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rPr>
              <a:t>市场扩张与销售增长</a:t>
            </a:r>
            <a:endParaRPr lang="zh-CN" altLang="en-US" sz="1050" b="1" dirty="0">
              <a:solidFill>
                <a:srgbClr val="FFFFFF"/>
              </a:solidFill>
              <a:latin typeface="微软雅黑"/>
              <a:ea typeface="微软雅黑"/>
              <a:cs typeface="微软雅黑"/>
            </a:endParaRPr>
          </a:p>
        </p:txBody>
      </p:sp>
      <p:sp>
        <p:nvSpPr>
          <p:cNvPr id="108" name="紫荆的职场Point29"/>
          <p:cNvSpPr/>
          <p:nvPr/>
        </p:nvSpPr>
        <p:spPr>
          <a:xfrm>
            <a:off x="274495" y="2425723"/>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sym typeface="微软雅黑"/>
              </a:rPr>
              <a:t>销售渠道多样化</a:t>
            </a:r>
            <a:endParaRPr lang="zh-CN" altLang="en-US" sz="1050" b="1" dirty="0">
              <a:solidFill>
                <a:srgbClr val="FFFFFF"/>
              </a:solidFill>
              <a:latin typeface="微软雅黑"/>
              <a:ea typeface="微软雅黑"/>
              <a:cs typeface="微软雅黑"/>
              <a:sym typeface="微软雅黑"/>
            </a:endParaRPr>
          </a:p>
        </p:txBody>
      </p:sp>
      <p:sp>
        <p:nvSpPr>
          <p:cNvPr id="109" name="紫荆的职场Point30"/>
          <p:cNvSpPr/>
          <p:nvPr/>
        </p:nvSpPr>
        <p:spPr>
          <a:xfrm>
            <a:off x="210536" y="3156661"/>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sym typeface="微软雅黑"/>
              </a:rPr>
              <a:t>客户关系深化</a:t>
            </a:r>
            <a:endParaRPr lang="zh-CN" altLang="en-US" sz="1050" b="1" dirty="0">
              <a:solidFill>
                <a:srgbClr val="FFFFFF"/>
              </a:solidFill>
              <a:latin typeface="微软雅黑"/>
              <a:ea typeface="微软雅黑"/>
              <a:cs typeface="微软雅黑"/>
              <a:sym typeface="微软雅黑"/>
            </a:endParaRPr>
          </a:p>
        </p:txBody>
      </p:sp>
      <p:sp>
        <p:nvSpPr>
          <p:cNvPr id="110" name="紫荆的职场Point31"/>
          <p:cNvSpPr/>
          <p:nvPr/>
        </p:nvSpPr>
        <p:spPr>
          <a:xfrm>
            <a:off x="274495" y="3887599"/>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sym typeface="微软雅黑"/>
              </a:rPr>
              <a:t>创新研发投入</a:t>
            </a:r>
            <a:endParaRPr lang="zh-CN" altLang="en-US" sz="1050" b="1" dirty="0">
              <a:solidFill>
                <a:srgbClr val="FFFFFF"/>
              </a:solidFill>
              <a:latin typeface="微软雅黑"/>
              <a:ea typeface="微软雅黑"/>
              <a:cs typeface="微软雅黑"/>
              <a:sym typeface="微软雅黑"/>
            </a:endParaRPr>
          </a:p>
        </p:txBody>
      </p:sp>
      <p:sp>
        <p:nvSpPr>
          <p:cNvPr id="111" name="紫荆的职场Point32"/>
          <p:cNvSpPr/>
          <p:nvPr/>
        </p:nvSpPr>
        <p:spPr>
          <a:xfrm>
            <a:off x="429512" y="4618538"/>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dirty="0">
                <a:solidFill>
                  <a:srgbClr val="FFFFFF"/>
                </a:solidFill>
                <a:latin typeface="微软雅黑"/>
                <a:ea typeface="微软雅黑"/>
                <a:cs typeface="微软雅黑"/>
                <a:sym typeface="微软雅黑"/>
              </a:rPr>
              <a:t>社会责任实践</a:t>
            </a:r>
            <a:endParaRPr lang="zh-CN" altLang="en-US" sz="1050" b="1" dirty="0">
              <a:solidFill>
                <a:srgbClr val="FFFFFF"/>
              </a:solidFill>
              <a:latin typeface="微软雅黑"/>
              <a:ea typeface="微软雅黑"/>
              <a:cs typeface="微软雅黑"/>
              <a:sym typeface="微软雅黑"/>
            </a:endParaRPr>
          </a:p>
        </p:txBody>
      </p:sp>
      <p:sp>
        <p:nvSpPr>
          <p:cNvPr id="112" name="紫荆的职场Point33"/>
          <p:cNvSpPr/>
          <p:nvPr/>
        </p:nvSpPr>
        <p:spPr>
          <a:xfrm flipH="1">
            <a:off x="10233896" y="1694785"/>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rPr>
              <a:t>成本控制与效率提升</a:t>
            </a:r>
            <a:endParaRPr lang="zh-CN" altLang="en-US" sz="1050" b="1" dirty="0">
              <a:solidFill>
                <a:srgbClr val="FFFFFF"/>
              </a:solidFill>
              <a:latin typeface="微软雅黑"/>
              <a:ea typeface="微软雅黑"/>
              <a:cs typeface="微软雅黑"/>
            </a:endParaRPr>
          </a:p>
        </p:txBody>
      </p:sp>
      <p:sp>
        <p:nvSpPr>
          <p:cNvPr id="113" name="紫荆的职场Point34"/>
          <p:cNvSpPr/>
          <p:nvPr/>
        </p:nvSpPr>
        <p:spPr>
          <a:xfrm flipH="1">
            <a:off x="10388913" y="2425723"/>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sym typeface="微软雅黑"/>
              </a:rPr>
              <a:t>人力资源与团队发展</a:t>
            </a:r>
            <a:endParaRPr lang="zh-CN" altLang="en-US" sz="1050" b="1">
              <a:solidFill>
                <a:srgbClr val="FFFFFF"/>
              </a:solidFill>
              <a:latin typeface="微软雅黑"/>
              <a:ea typeface="微软雅黑"/>
              <a:cs typeface="微软雅黑"/>
              <a:sym typeface="微软雅黑"/>
            </a:endParaRPr>
          </a:p>
        </p:txBody>
      </p:sp>
      <p:sp>
        <p:nvSpPr>
          <p:cNvPr id="114" name="紫荆的职场Point35"/>
          <p:cNvSpPr/>
          <p:nvPr/>
        </p:nvSpPr>
        <p:spPr>
          <a:xfrm flipH="1">
            <a:off x="10452872" y="3156661"/>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sym typeface="微软雅黑"/>
              </a:rPr>
              <a:t>数字化转型</a:t>
            </a:r>
            <a:endParaRPr lang="zh-CN" altLang="en-US" sz="1050" b="1">
              <a:solidFill>
                <a:srgbClr val="FFFFFF"/>
              </a:solidFill>
              <a:latin typeface="微软雅黑"/>
              <a:ea typeface="微软雅黑"/>
              <a:cs typeface="微软雅黑"/>
              <a:sym typeface="微软雅黑"/>
            </a:endParaRPr>
          </a:p>
        </p:txBody>
      </p:sp>
      <p:sp>
        <p:nvSpPr>
          <p:cNvPr id="115" name="紫荆的职场Point36"/>
          <p:cNvSpPr/>
          <p:nvPr/>
        </p:nvSpPr>
        <p:spPr>
          <a:xfrm flipH="1">
            <a:off x="10388913" y="3887599"/>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sym typeface="微软雅黑"/>
              </a:rPr>
              <a:t>风险管理与合规</a:t>
            </a:r>
            <a:endParaRPr lang="zh-CN" altLang="en-US" sz="1050" b="1">
              <a:solidFill>
                <a:srgbClr val="FFFFFF"/>
              </a:solidFill>
              <a:latin typeface="微软雅黑"/>
              <a:ea typeface="微软雅黑"/>
              <a:cs typeface="微软雅黑"/>
              <a:sym typeface="微软雅黑"/>
            </a:endParaRPr>
          </a:p>
        </p:txBody>
      </p:sp>
      <p:sp>
        <p:nvSpPr>
          <p:cNvPr id="116" name="紫荆的职场Point37"/>
          <p:cNvSpPr/>
          <p:nvPr/>
        </p:nvSpPr>
        <p:spPr>
          <a:xfrm flipH="1">
            <a:off x="10233896" y="4618538"/>
            <a:ext cx="1528592" cy="419099"/>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50" b="1">
                <a:solidFill>
                  <a:srgbClr val="FFFFFF"/>
                </a:solidFill>
                <a:latin typeface="微软雅黑"/>
                <a:ea typeface="微软雅黑"/>
                <a:cs typeface="微软雅黑"/>
                <a:sym typeface="微软雅黑"/>
              </a:rPr>
              <a:t>企业文化建设</a:t>
            </a:r>
            <a:endParaRPr lang="zh-CN" altLang="en-US" sz="1050" b="1">
              <a:solidFill>
                <a:srgbClr val="FFFFFF"/>
              </a:solidFill>
              <a:latin typeface="微软雅黑"/>
              <a:ea typeface="微软雅黑"/>
              <a:cs typeface="微软雅黑"/>
              <a:sym typeface="微软雅黑"/>
            </a:endParaRPr>
          </a:p>
        </p:txBody>
      </p:sp>
      <p:sp>
        <p:nvSpPr>
          <p:cNvPr id="117" name="紫荆的职场Point38"/>
          <p:cNvSpPr/>
          <p:nvPr/>
        </p:nvSpPr>
        <p:spPr>
          <a:xfrm rot="10800000">
            <a:off x="3680326" y="3431405"/>
            <a:ext cx="253917" cy="33809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 name="connsiteX0-1" fmla="*/ 211655 w 425194"/>
              <a:gd name="connsiteY0-2" fmla="*/ 0 h 485927"/>
              <a:gd name="connsiteX1-3" fmla="*/ 383105 w 425194"/>
              <a:gd name="connsiteY1-4" fmla="*/ 157551 h 485927"/>
              <a:gd name="connsiteX2-5" fmla="*/ 303297 w 425194"/>
              <a:gd name="connsiteY2-6" fmla="*/ 157551 h 485927"/>
              <a:gd name="connsiteX3-7" fmla="*/ 315037 w 425194"/>
              <a:gd name="connsiteY3-8" fmla="*/ 222549 h 485927"/>
              <a:gd name="connsiteX4-9" fmla="*/ 425194 w 425194"/>
              <a:gd name="connsiteY4-10" fmla="*/ 485927 h 485927"/>
              <a:gd name="connsiteX5-11" fmla="*/ 9022 w 425194"/>
              <a:gd name="connsiteY5-12" fmla="*/ 485927 h 485927"/>
              <a:gd name="connsiteX6-13" fmla="*/ 131351 w 425194"/>
              <a:gd name="connsiteY6-14" fmla="*/ 157551 h 485927"/>
              <a:gd name="connsiteX7-15" fmla="*/ 40205 w 425194"/>
              <a:gd name="connsiteY7-16" fmla="*/ 157551 h 485927"/>
              <a:gd name="connsiteX8-17" fmla="*/ 211655 w 425194"/>
              <a:gd name="connsiteY8-18" fmla="*/ 0 h 485927"/>
              <a:gd name="connsiteX0-19" fmla="*/ 211655 w 425194"/>
              <a:gd name="connsiteY0-20" fmla="*/ 0 h 485927"/>
              <a:gd name="connsiteX1-21" fmla="*/ 383105 w 425194"/>
              <a:gd name="connsiteY1-22" fmla="*/ 157551 h 485927"/>
              <a:gd name="connsiteX2-23" fmla="*/ 303297 w 425194"/>
              <a:gd name="connsiteY2-24" fmla="*/ 157551 h 485927"/>
              <a:gd name="connsiteX3-25" fmla="*/ 425194 w 425194"/>
              <a:gd name="connsiteY3-26" fmla="*/ 485927 h 485927"/>
              <a:gd name="connsiteX4-27" fmla="*/ 9022 w 425194"/>
              <a:gd name="connsiteY4-28" fmla="*/ 485927 h 485927"/>
              <a:gd name="connsiteX5-29" fmla="*/ 131351 w 425194"/>
              <a:gd name="connsiteY5-30" fmla="*/ 157551 h 485927"/>
              <a:gd name="connsiteX6-31" fmla="*/ 40205 w 425194"/>
              <a:gd name="connsiteY6-32" fmla="*/ 157551 h 485927"/>
              <a:gd name="connsiteX7-33" fmla="*/ 211655 w 425194"/>
              <a:gd name="connsiteY7-34" fmla="*/ 0 h 485927"/>
              <a:gd name="connsiteX0-35" fmla="*/ 211655 w 425194"/>
              <a:gd name="connsiteY0-36" fmla="*/ 0 h 485927"/>
              <a:gd name="connsiteX1-37" fmla="*/ 383105 w 425194"/>
              <a:gd name="connsiteY1-38" fmla="*/ 157551 h 485927"/>
              <a:gd name="connsiteX2-39" fmla="*/ 303297 w 425194"/>
              <a:gd name="connsiteY2-40" fmla="*/ 157551 h 485927"/>
              <a:gd name="connsiteX3-41" fmla="*/ 425194 w 425194"/>
              <a:gd name="connsiteY3-42" fmla="*/ 485927 h 485927"/>
              <a:gd name="connsiteX4-43" fmla="*/ 9022 w 425194"/>
              <a:gd name="connsiteY4-44" fmla="*/ 485927 h 485927"/>
              <a:gd name="connsiteX5-45" fmla="*/ 131351 w 425194"/>
              <a:gd name="connsiteY5-46" fmla="*/ 157551 h 485927"/>
              <a:gd name="connsiteX6-47" fmla="*/ 40205 w 425194"/>
              <a:gd name="connsiteY6-48" fmla="*/ 157551 h 485927"/>
              <a:gd name="connsiteX7-49" fmla="*/ 211655 w 425194"/>
              <a:gd name="connsiteY7-50" fmla="*/ 0 h 485927"/>
              <a:gd name="connsiteX0-51" fmla="*/ 211655 w 425194"/>
              <a:gd name="connsiteY0-52" fmla="*/ 0 h 485927"/>
              <a:gd name="connsiteX1-53" fmla="*/ 383105 w 425194"/>
              <a:gd name="connsiteY1-54" fmla="*/ 157551 h 485927"/>
              <a:gd name="connsiteX2-55" fmla="*/ 303297 w 425194"/>
              <a:gd name="connsiteY2-56" fmla="*/ 157551 h 485927"/>
              <a:gd name="connsiteX3-57" fmla="*/ 425194 w 425194"/>
              <a:gd name="connsiteY3-58" fmla="*/ 485927 h 485927"/>
              <a:gd name="connsiteX4-59" fmla="*/ 9022 w 425194"/>
              <a:gd name="connsiteY4-60" fmla="*/ 485927 h 485927"/>
              <a:gd name="connsiteX5-61" fmla="*/ 131351 w 425194"/>
              <a:gd name="connsiteY5-62" fmla="*/ 157551 h 485927"/>
              <a:gd name="connsiteX6-63" fmla="*/ 40205 w 425194"/>
              <a:gd name="connsiteY6-64" fmla="*/ 157551 h 485927"/>
              <a:gd name="connsiteX7-65" fmla="*/ 211655 w 425194"/>
              <a:gd name="connsiteY7-66" fmla="*/ 0 h 485927"/>
              <a:gd name="connsiteX0-67" fmla="*/ 211049 w 424588"/>
              <a:gd name="connsiteY0-68" fmla="*/ 0 h 485927"/>
              <a:gd name="connsiteX1-69" fmla="*/ 382499 w 424588"/>
              <a:gd name="connsiteY1-70" fmla="*/ 157551 h 485927"/>
              <a:gd name="connsiteX2-71" fmla="*/ 302691 w 424588"/>
              <a:gd name="connsiteY2-72" fmla="*/ 157551 h 485927"/>
              <a:gd name="connsiteX3-73" fmla="*/ 424588 w 424588"/>
              <a:gd name="connsiteY3-74" fmla="*/ 485927 h 485927"/>
              <a:gd name="connsiteX4-75" fmla="*/ 8416 w 424588"/>
              <a:gd name="connsiteY4-76" fmla="*/ 485927 h 485927"/>
              <a:gd name="connsiteX5-77" fmla="*/ 130745 w 424588"/>
              <a:gd name="connsiteY5-78" fmla="*/ 157551 h 485927"/>
              <a:gd name="connsiteX6-79" fmla="*/ 39599 w 424588"/>
              <a:gd name="connsiteY6-80" fmla="*/ 157551 h 485927"/>
              <a:gd name="connsiteX7-81" fmla="*/ 211049 w 424588"/>
              <a:gd name="connsiteY7-82" fmla="*/ 0 h 485927"/>
              <a:gd name="connsiteX0-83" fmla="*/ 202633 w 416172"/>
              <a:gd name="connsiteY0-84" fmla="*/ 0 h 485927"/>
              <a:gd name="connsiteX1-85" fmla="*/ 374083 w 416172"/>
              <a:gd name="connsiteY1-86" fmla="*/ 157551 h 485927"/>
              <a:gd name="connsiteX2-87" fmla="*/ 294275 w 416172"/>
              <a:gd name="connsiteY2-88" fmla="*/ 157551 h 485927"/>
              <a:gd name="connsiteX3-89" fmla="*/ 416172 w 416172"/>
              <a:gd name="connsiteY3-90" fmla="*/ 485927 h 485927"/>
              <a:gd name="connsiteX4-91" fmla="*/ 0 w 416172"/>
              <a:gd name="connsiteY4-92" fmla="*/ 485927 h 485927"/>
              <a:gd name="connsiteX5-93" fmla="*/ 122329 w 416172"/>
              <a:gd name="connsiteY5-94" fmla="*/ 157551 h 485927"/>
              <a:gd name="connsiteX6-95" fmla="*/ 31183 w 416172"/>
              <a:gd name="connsiteY6-96" fmla="*/ 157551 h 485927"/>
              <a:gd name="connsiteX7-97" fmla="*/ 202633 w 416172"/>
              <a:gd name="connsiteY7-98" fmla="*/ 0 h 485927"/>
              <a:gd name="connsiteX0-99" fmla="*/ 204141 w 416172"/>
              <a:gd name="connsiteY0-100" fmla="*/ 0 h 493579"/>
              <a:gd name="connsiteX1-101" fmla="*/ 374083 w 416172"/>
              <a:gd name="connsiteY1-102" fmla="*/ 165203 h 493579"/>
              <a:gd name="connsiteX2-103" fmla="*/ 294275 w 416172"/>
              <a:gd name="connsiteY2-104" fmla="*/ 165203 h 493579"/>
              <a:gd name="connsiteX3-105" fmla="*/ 416172 w 416172"/>
              <a:gd name="connsiteY3-106" fmla="*/ 493579 h 493579"/>
              <a:gd name="connsiteX4-107" fmla="*/ 0 w 416172"/>
              <a:gd name="connsiteY4-108" fmla="*/ 493579 h 493579"/>
              <a:gd name="connsiteX5-109" fmla="*/ 122329 w 416172"/>
              <a:gd name="connsiteY5-110" fmla="*/ 165203 h 493579"/>
              <a:gd name="connsiteX6-111" fmla="*/ 31183 w 416172"/>
              <a:gd name="connsiteY6-112" fmla="*/ 165203 h 493579"/>
              <a:gd name="connsiteX7-113" fmla="*/ 204141 w 416172"/>
              <a:gd name="connsiteY7-114" fmla="*/ 0 h 493579"/>
              <a:gd name="connsiteX0-115" fmla="*/ 207157 w 416172"/>
              <a:gd name="connsiteY0-116" fmla="*/ 0 h 480187"/>
              <a:gd name="connsiteX1-117" fmla="*/ 374083 w 416172"/>
              <a:gd name="connsiteY1-118" fmla="*/ 151811 h 480187"/>
              <a:gd name="connsiteX2-119" fmla="*/ 294275 w 416172"/>
              <a:gd name="connsiteY2-120" fmla="*/ 151811 h 480187"/>
              <a:gd name="connsiteX3-121" fmla="*/ 416172 w 416172"/>
              <a:gd name="connsiteY3-122" fmla="*/ 480187 h 480187"/>
              <a:gd name="connsiteX4-123" fmla="*/ 0 w 416172"/>
              <a:gd name="connsiteY4-124" fmla="*/ 480187 h 480187"/>
              <a:gd name="connsiteX5-125" fmla="*/ 122329 w 416172"/>
              <a:gd name="connsiteY5-126" fmla="*/ 151811 h 480187"/>
              <a:gd name="connsiteX6-127" fmla="*/ 31183 w 416172"/>
              <a:gd name="connsiteY6-128" fmla="*/ 151811 h 480187"/>
              <a:gd name="connsiteX7-129" fmla="*/ 207157 w 416172"/>
              <a:gd name="connsiteY7-130" fmla="*/ 0 h 48018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16172" h="480187">
                <a:moveTo>
                  <a:pt x="207157" y="0"/>
                </a:moveTo>
                <a:cubicBezTo>
                  <a:pt x="242876" y="59661"/>
                  <a:pt x="269308" y="99294"/>
                  <a:pt x="374083" y="151811"/>
                </a:cubicBezTo>
                <a:lnTo>
                  <a:pt x="294275" y="151811"/>
                </a:lnTo>
                <a:cubicBezTo>
                  <a:pt x="294195" y="282314"/>
                  <a:pt x="348398" y="387946"/>
                  <a:pt x="416172" y="480187"/>
                </a:cubicBezTo>
                <a:lnTo>
                  <a:pt x="0" y="480187"/>
                </a:lnTo>
                <a:cubicBezTo>
                  <a:pt x="59593" y="423545"/>
                  <a:pt x="132211" y="237150"/>
                  <a:pt x="122329" y="151811"/>
                </a:cubicBezTo>
                <a:lnTo>
                  <a:pt x="31183" y="151811"/>
                </a:lnTo>
                <a:cubicBezTo>
                  <a:pt x="131195" y="101675"/>
                  <a:pt x="185726" y="45373"/>
                  <a:pt x="207157" y="0"/>
                </a:cubicBezTo>
                <a:close/>
              </a:path>
            </a:pathLst>
          </a:custGeom>
          <a:gradFill flip="none" rotWithShape="1">
            <a:gsLst>
              <a:gs pos="0">
                <a:srgbClr val="3368FF">
                  <a:alpha val="0"/>
                </a:srgbClr>
              </a:gs>
              <a:gs pos="60000">
                <a:srgbClr val="3368FF"/>
              </a:gs>
            </a:gsLst>
            <a:lin ang="16200000" scaled="1"/>
            <a:tileRect/>
          </a:gradFill>
          <a:ln w="38100">
            <a:noFill/>
          </a:ln>
          <a:effectLst>
            <a:outerShdw blurRad="411480" dist="123444" dir="5400000" sx="108000" sy="108000" algn="ctr" rotWithShape="0">
              <a:srgbClr val="0042FF">
                <a:alpha val="16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8" name="紫荆的职场Point39"/>
          <p:cNvSpPr txBox="1"/>
          <p:nvPr/>
        </p:nvSpPr>
        <p:spPr>
          <a:xfrm>
            <a:off x="3458845" y="1185545"/>
            <a:ext cx="5293995" cy="448310"/>
          </a:xfrm>
          <a:prstGeom prst="rect">
            <a:avLst/>
          </a:prstGeom>
          <a:solidFill>
            <a:srgbClr val="FFFFFF"/>
          </a:solidFill>
          <a:ln>
            <a:solidFill>
              <a:srgbClr val="3368FF"/>
            </a:solidFill>
          </a:ln>
        </p:spPr>
        <p:txBody>
          <a:bodyPr wrap="square" anchor="ctr" anchorCtr="0">
            <a:noAutofit/>
          </a:bodyPr>
          <a:lstStyle/>
          <a:p>
            <a:pPr algn="ct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rPr>
              <a:t>通过市场扩张、产品创新、客户服务和品牌建设取得了显著成果</a:t>
            </a:r>
            <a:endParaRPr lang="zh-CN" altLang="en-US" sz="1400" b="1" dirty="0">
              <a:solidFill>
                <a:srgbClr val="0042FF"/>
              </a:solidFill>
              <a:latin typeface="微软雅黑"/>
              <a:ea typeface="微软雅黑"/>
              <a:cs typeface="微软雅黑"/>
            </a:endParaRPr>
          </a:p>
        </p:txBody>
      </p:sp>
      <p:sp>
        <p:nvSpPr>
          <p:cNvPr id="120" name="紫荆的职场Point40-1"/>
          <p:cNvSpPr/>
          <p:nvPr/>
        </p:nvSpPr>
        <p:spPr>
          <a:xfrm>
            <a:off x="3636010" y="5771515"/>
            <a:ext cx="1142365" cy="342265"/>
          </a:xfrm>
          <a:custGeom>
            <a:avLst/>
            <a:gdLst>
              <a:gd name="connsiteX0" fmla="*/ 698 w 1142530"/>
              <a:gd name="connsiteY0" fmla="*/ 280767 h 342371"/>
              <a:gd name="connsiteX1" fmla="*/ 55489 w 1142530"/>
              <a:gd name="connsiteY1" fmla="*/ 61604 h 342371"/>
              <a:gd name="connsiteX2" fmla="*/ 134390 w 1142530"/>
              <a:gd name="connsiteY2" fmla="*/ 0 h 342371"/>
              <a:gd name="connsiteX3" fmla="*/ 1093734 w 1142530"/>
              <a:gd name="connsiteY3" fmla="*/ 0 h 342371"/>
              <a:gd name="connsiteX4" fmla="*/ 1141833 w 1142530"/>
              <a:gd name="connsiteY4" fmla="*/ 61604 h 342371"/>
              <a:gd name="connsiteX5" fmla="*/ 1087042 w 1142530"/>
              <a:gd name="connsiteY5" fmla="*/ 280767 h 342371"/>
              <a:gd name="connsiteX6" fmla="*/ 1008141 w 1142530"/>
              <a:gd name="connsiteY6" fmla="*/ 342371 h 342371"/>
              <a:gd name="connsiteX7" fmla="*/ 48797 w 1142530"/>
              <a:gd name="connsiteY7" fmla="*/ 342371 h 342371"/>
              <a:gd name="connsiteX8" fmla="*/ 698 w 1142530"/>
              <a:gd name="connsiteY8" fmla="*/ 280767 h 342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2530" h="342371">
                <a:moveTo>
                  <a:pt x="698" y="280767"/>
                </a:moveTo>
                <a:lnTo>
                  <a:pt x="55489" y="61604"/>
                </a:lnTo>
                <a:cubicBezTo>
                  <a:pt x="55489" y="61604"/>
                  <a:pt x="75700" y="6160"/>
                  <a:pt x="134390" y="0"/>
                </a:cubicBezTo>
                <a:lnTo>
                  <a:pt x="1093734" y="0"/>
                </a:lnTo>
                <a:cubicBezTo>
                  <a:pt x="1093734" y="0"/>
                  <a:pt x="1149344" y="6160"/>
                  <a:pt x="1141833" y="61604"/>
                </a:cubicBezTo>
                <a:lnTo>
                  <a:pt x="1087042" y="280767"/>
                </a:lnTo>
                <a:cubicBezTo>
                  <a:pt x="1087042" y="280767"/>
                  <a:pt x="1066831" y="336210"/>
                  <a:pt x="1008141" y="342371"/>
                </a:cubicBezTo>
                <a:lnTo>
                  <a:pt x="48797" y="342371"/>
                </a:lnTo>
                <a:cubicBezTo>
                  <a:pt x="48797" y="342371"/>
                  <a:pt x="-6813" y="336210"/>
                  <a:pt x="698" y="280767"/>
                </a:cubicBezTo>
              </a:path>
            </a:pathLst>
          </a:cu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21" name="紫荆的职场Point40-2"/>
          <p:cNvSpPr txBox="1"/>
          <p:nvPr/>
        </p:nvSpPr>
        <p:spPr>
          <a:xfrm>
            <a:off x="3756025" y="5737225"/>
            <a:ext cx="902970" cy="330835"/>
          </a:xfrm>
          <a:prstGeom prst="rect">
            <a:avLst/>
          </a:prstGeom>
          <a:noFill/>
        </p:spPr>
        <p:txBody>
          <a:bodyPr wrap="none">
            <a:spAutoFit/>
          </a:bodyPr>
          <a:lstStyle/>
          <a:p>
            <a:pP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成本控制</a:t>
            </a:r>
            <a:endParaRPr lang="zh-CN" altLang="en-US" sz="1400" dirty="0">
              <a:solidFill>
                <a:srgbClr val="383838"/>
              </a:solidFill>
              <a:latin typeface="微软雅黑"/>
              <a:ea typeface="微软雅黑"/>
              <a:cs typeface="微软雅黑"/>
            </a:endParaRPr>
          </a:p>
        </p:txBody>
      </p:sp>
      <p:sp>
        <p:nvSpPr>
          <p:cNvPr id="123" name="紫荆的职场Point41-1"/>
          <p:cNvSpPr/>
          <p:nvPr/>
        </p:nvSpPr>
        <p:spPr>
          <a:xfrm>
            <a:off x="4826635" y="5771515"/>
            <a:ext cx="1378585" cy="342265"/>
          </a:xfrm>
          <a:custGeom>
            <a:avLst/>
            <a:gdLst>
              <a:gd name="connsiteX0" fmla="*/ 698 w 1142530"/>
              <a:gd name="connsiteY0" fmla="*/ 280767 h 342371"/>
              <a:gd name="connsiteX1" fmla="*/ 55489 w 1142530"/>
              <a:gd name="connsiteY1" fmla="*/ 61604 h 342371"/>
              <a:gd name="connsiteX2" fmla="*/ 134390 w 1142530"/>
              <a:gd name="connsiteY2" fmla="*/ 0 h 342371"/>
              <a:gd name="connsiteX3" fmla="*/ 1093734 w 1142530"/>
              <a:gd name="connsiteY3" fmla="*/ 0 h 342371"/>
              <a:gd name="connsiteX4" fmla="*/ 1141833 w 1142530"/>
              <a:gd name="connsiteY4" fmla="*/ 61604 h 342371"/>
              <a:gd name="connsiteX5" fmla="*/ 1087042 w 1142530"/>
              <a:gd name="connsiteY5" fmla="*/ 280767 h 342371"/>
              <a:gd name="connsiteX6" fmla="*/ 1008141 w 1142530"/>
              <a:gd name="connsiteY6" fmla="*/ 342371 h 342371"/>
              <a:gd name="connsiteX7" fmla="*/ 48797 w 1142530"/>
              <a:gd name="connsiteY7" fmla="*/ 342371 h 342371"/>
              <a:gd name="connsiteX8" fmla="*/ 698 w 1142530"/>
              <a:gd name="connsiteY8" fmla="*/ 280767 h 342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2530" h="342371">
                <a:moveTo>
                  <a:pt x="698" y="280767"/>
                </a:moveTo>
                <a:lnTo>
                  <a:pt x="55489" y="61604"/>
                </a:lnTo>
                <a:cubicBezTo>
                  <a:pt x="55489" y="61604"/>
                  <a:pt x="75700" y="6160"/>
                  <a:pt x="134390" y="0"/>
                </a:cubicBezTo>
                <a:lnTo>
                  <a:pt x="1093734" y="0"/>
                </a:lnTo>
                <a:cubicBezTo>
                  <a:pt x="1093734" y="0"/>
                  <a:pt x="1149344" y="6160"/>
                  <a:pt x="1141833" y="61604"/>
                </a:cubicBezTo>
                <a:lnTo>
                  <a:pt x="1087042" y="280767"/>
                </a:lnTo>
                <a:cubicBezTo>
                  <a:pt x="1087042" y="280767"/>
                  <a:pt x="1066831" y="336210"/>
                  <a:pt x="1008141" y="342371"/>
                </a:cubicBezTo>
                <a:lnTo>
                  <a:pt x="48797" y="342371"/>
                </a:lnTo>
                <a:cubicBezTo>
                  <a:pt x="48797" y="342371"/>
                  <a:pt x="-6813" y="336210"/>
                  <a:pt x="698" y="280767"/>
                </a:cubicBezTo>
              </a:path>
            </a:pathLst>
          </a:cu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24" name="紫荆的职场Point41-2"/>
          <p:cNvSpPr txBox="1"/>
          <p:nvPr/>
        </p:nvSpPr>
        <p:spPr>
          <a:xfrm>
            <a:off x="4885055" y="5724525"/>
            <a:ext cx="1261745" cy="330835"/>
          </a:xfrm>
          <a:prstGeom prst="rect">
            <a:avLst/>
          </a:prstGeom>
          <a:noFill/>
          <a:extLst>
            <a:ext uri="{909E8E84-426E-40DD-AFC4-6F175D3DCCD1}">
              <a14:hiddenFill xmlns:a14="http://schemas.microsoft.com/office/drawing/2010/main">
                <a:grpFill/>
              </a14:hiddenFill>
            </a:ext>
          </a:extLst>
        </p:spPr>
        <p:txBody>
          <a:bodyPr wrap="none">
            <a:spAutoFit/>
          </a:bodyPr>
          <a:lstStyle/>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人力资源优化</a:t>
            </a:r>
            <a:endParaRPr lang="zh-CN" altLang="en-US" sz="1400" dirty="0">
              <a:solidFill>
                <a:srgbClr val="383838"/>
              </a:solidFill>
              <a:latin typeface="微软雅黑"/>
              <a:ea typeface="微软雅黑"/>
              <a:cs typeface="微软雅黑"/>
            </a:endParaRPr>
          </a:p>
        </p:txBody>
      </p:sp>
      <p:sp>
        <p:nvSpPr>
          <p:cNvPr id="140" name="紫荆的职场Point42-1"/>
          <p:cNvSpPr/>
          <p:nvPr/>
        </p:nvSpPr>
        <p:spPr>
          <a:xfrm>
            <a:off x="6252845" y="5771515"/>
            <a:ext cx="1264285" cy="342265"/>
          </a:xfrm>
          <a:custGeom>
            <a:avLst/>
            <a:gdLst>
              <a:gd name="connsiteX0" fmla="*/ 162128 w 2196357"/>
              <a:gd name="connsiteY0" fmla="*/ 0 h 342371"/>
              <a:gd name="connsiteX1" fmla="*/ 980125 w 2196357"/>
              <a:gd name="connsiteY1" fmla="*/ 0 h 342371"/>
              <a:gd name="connsiteX2" fmla="*/ 1319493 w 2196357"/>
              <a:gd name="connsiteY2" fmla="*/ 0 h 342371"/>
              <a:gd name="connsiteX3" fmla="*/ 2137489 w 2196357"/>
              <a:gd name="connsiteY3" fmla="*/ 0 h 342371"/>
              <a:gd name="connsiteX4" fmla="*/ 2195516 w 2196357"/>
              <a:gd name="connsiteY4" fmla="*/ 61604 h 342371"/>
              <a:gd name="connsiteX5" fmla="*/ 2129416 w 2196357"/>
              <a:gd name="connsiteY5" fmla="*/ 280767 h 342371"/>
              <a:gd name="connsiteX6" fmla="*/ 2034229 w 2196357"/>
              <a:gd name="connsiteY6" fmla="*/ 342371 h 342371"/>
              <a:gd name="connsiteX7" fmla="*/ 1216233 w 2196357"/>
              <a:gd name="connsiteY7" fmla="*/ 342371 h 342371"/>
              <a:gd name="connsiteX8" fmla="*/ 876865 w 2196357"/>
              <a:gd name="connsiteY8" fmla="*/ 342371 h 342371"/>
              <a:gd name="connsiteX9" fmla="*/ 58868 w 2196357"/>
              <a:gd name="connsiteY9" fmla="*/ 342371 h 342371"/>
              <a:gd name="connsiteX10" fmla="*/ 841 w 2196357"/>
              <a:gd name="connsiteY10" fmla="*/ 280767 h 342371"/>
              <a:gd name="connsiteX11" fmla="*/ 66941 w 2196357"/>
              <a:gd name="connsiteY11" fmla="*/ 61604 h 342371"/>
              <a:gd name="connsiteX12" fmla="*/ 162128 w 2196357"/>
              <a:gd name="connsiteY12" fmla="*/ 0 h 342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6357" h="342371">
                <a:moveTo>
                  <a:pt x="162128" y="0"/>
                </a:moveTo>
                <a:lnTo>
                  <a:pt x="980125" y="0"/>
                </a:lnTo>
                <a:lnTo>
                  <a:pt x="1319493" y="0"/>
                </a:lnTo>
                <a:lnTo>
                  <a:pt x="2137489" y="0"/>
                </a:lnTo>
                <a:cubicBezTo>
                  <a:pt x="2137489" y="0"/>
                  <a:pt x="2204577" y="6160"/>
                  <a:pt x="2195516" y="61604"/>
                </a:cubicBezTo>
                <a:lnTo>
                  <a:pt x="2129416" y="280767"/>
                </a:lnTo>
                <a:cubicBezTo>
                  <a:pt x="2129416" y="280767"/>
                  <a:pt x="2105033" y="336210"/>
                  <a:pt x="2034229" y="342371"/>
                </a:cubicBezTo>
                <a:lnTo>
                  <a:pt x="1216233" y="342371"/>
                </a:lnTo>
                <a:lnTo>
                  <a:pt x="876865" y="342371"/>
                </a:lnTo>
                <a:lnTo>
                  <a:pt x="58868" y="342371"/>
                </a:lnTo>
                <a:cubicBezTo>
                  <a:pt x="58868" y="342371"/>
                  <a:pt x="-8221" y="336210"/>
                  <a:pt x="841" y="280767"/>
                </a:cubicBezTo>
                <a:lnTo>
                  <a:pt x="66941" y="61604"/>
                </a:lnTo>
                <a:cubicBezTo>
                  <a:pt x="66941" y="61604"/>
                  <a:pt x="91324" y="6160"/>
                  <a:pt x="162128" y="0"/>
                </a:cubicBezTo>
                <a:close/>
              </a:path>
            </a:pathLst>
          </a:cu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41" name="紫荆的职场Point42-2"/>
          <p:cNvSpPr txBox="1"/>
          <p:nvPr/>
        </p:nvSpPr>
        <p:spPr>
          <a:xfrm>
            <a:off x="6339840" y="5737225"/>
            <a:ext cx="1071880" cy="349250"/>
          </a:xfrm>
          <a:prstGeom prst="rect">
            <a:avLst/>
          </a:prstGeom>
          <a:noFill/>
        </p:spPr>
        <p:txBody>
          <a:bodyPr wrap="none">
            <a:spAutoFit/>
          </a:bodyPr>
          <a:lstStyle/>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数字化转型</a:t>
            </a:r>
            <a:endParaRPr lang="zh-CN" altLang="en-US" sz="1400" dirty="0">
              <a:solidFill>
                <a:srgbClr val="383838"/>
              </a:solidFill>
              <a:latin typeface="微软雅黑"/>
              <a:ea typeface="微软雅黑"/>
              <a:cs typeface="微软雅黑"/>
            </a:endParaRPr>
          </a:p>
        </p:txBody>
      </p:sp>
      <p:sp>
        <p:nvSpPr>
          <p:cNvPr id="142" name="紫荆的职场Point43"/>
          <p:cNvSpPr txBox="1"/>
          <p:nvPr/>
        </p:nvSpPr>
        <p:spPr>
          <a:xfrm>
            <a:off x="4567377" y="6200216"/>
            <a:ext cx="3057247" cy="331053"/>
          </a:xfrm>
          <a:prstGeom prst="rect">
            <a:avLst/>
          </a:prstGeom>
          <a:noFill/>
        </p:spPr>
        <p:txBody>
          <a:bodyPr wrap="none">
            <a:spAutoFit/>
          </a:bodyPr>
          <a:lstStyle/>
          <a:p>
            <a:pPr algn="ctr">
              <a:lnSpc>
                <a:spcPct val="120000"/>
              </a:lnSpc>
              <a:defRPr>
                <a:latin typeface="微软雅黑"/>
                <a:ea typeface="微软雅黑"/>
                <a:cs typeface="微软雅黑"/>
              </a:defRPr>
            </a:pPr>
            <a:r>
              <a:rPr lang="zh-CN" altLang="en-US" sz="1400" b="1" dirty="0">
                <a:gradFill>
                  <a:gsLst>
                    <a:gs pos="0">
                      <a:srgbClr val="0042FF"/>
                    </a:gs>
                    <a:gs pos="100000">
                      <a:srgbClr val="0042FF"/>
                    </a:gs>
                  </a:gsLst>
                  <a:lin ang="5400000" scaled="0"/>
                </a:gradFill>
                <a:latin typeface="微软雅黑"/>
                <a:ea typeface="微软雅黑"/>
                <a:cs typeface="微软雅黑"/>
              </a:rPr>
              <a:t>提高了企业的整体运营效率和竞争力</a:t>
            </a:r>
            <a:endParaRPr lang="zh-CN" altLang="en-US" sz="1400" b="1" dirty="0">
              <a:gradFill>
                <a:gsLst>
                  <a:gs pos="0">
                    <a:srgbClr val="0042FF"/>
                  </a:gs>
                  <a:gs pos="100000">
                    <a:srgbClr val="0042FF"/>
                  </a:gs>
                </a:gsLst>
                <a:lin ang="5400000" scaled="0"/>
              </a:gradFill>
              <a:latin typeface="微软雅黑"/>
              <a:ea typeface="微软雅黑"/>
              <a:cs typeface="微软雅黑"/>
            </a:endParaRPr>
          </a:p>
        </p:txBody>
      </p:sp>
      <p:sp>
        <p:nvSpPr>
          <p:cNvPr id="143" name="紫荆的职场Point44"/>
          <p:cNvSpPr/>
          <p:nvPr/>
        </p:nvSpPr>
        <p:spPr>
          <a:xfrm rot="10800000" flipV="1">
            <a:off x="5354320" y="4829175"/>
            <a:ext cx="1503045" cy="93599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 name="connsiteX0-1" fmla="*/ 211655 w 425194"/>
              <a:gd name="connsiteY0-2" fmla="*/ 0 h 485927"/>
              <a:gd name="connsiteX1-3" fmla="*/ 383105 w 425194"/>
              <a:gd name="connsiteY1-4" fmla="*/ 157551 h 485927"/>
              <a:gd name="connsiteX2-5" fmla="*/ 303297 w 425194"/>
              <a:gd name="connsiteY2-6" fmla="*/ 157551 h 485927"/>
              <a:gd name="connsiteX3-7" fmla="*/ 315037 w 425194"/>
              <a:gd name="connsiteY3-8" fmla="*/ 222549 h 485927"/>
              <a:gd name="connsiteX4-9" fmla="*/ 425194 w 425194"/>
              <a:gd name="connsiteY4-10" fmla="*/ 485927 h 485927"/>
              <a:gd name="connsiteX5-11" fmla="*/ 9022 w 425194"/>
              <a:gd name="connsiteY5-12" fmla="*/ 485927 h 485927"/>
              <a:gd name="connsiteX6-13" fmla="*/ 131351 w 425194"/>
              <a:gd name="connsiteY6-14" fmla="*/ 157551 h 485927"/>
              <a:gd name="connsiteX7-15" fmla="*/ 40205 w 425194"/>
              <a:gd name="connsiteY7-16" fmla="*/ 157551 h 485927"/>
              <a:gd name="connsiteX8-17" fmla="*/ 211655 w 425194"/>
              <a:gd name="connsiteY8-18" fmla="*/ 0 h 485927"/>
              <a:gd name="connsiteX0-19" fmla="*/ 211655 w 425194"/>
              <a:gd name="connsiteY0-20" fmla="*/ 0 h 485927"/>
              <a:gd name="connsiteX1-21" fmla="*/ 383105 w 425194"/>
              <a:gd name="connsiteY1-22" fmla="*/ 157551 h 485927"/>
              <a:gd name="connsiteX2-23" fmla="*/ 303297 w 425194"/>
              <a:gd name="connsiteY2-24" fmla="*/ 157551 h 485927"/>
              <a:gd name="connsiteX3-25" fmla="*/ 425194 w 425194"/>
              <a:gd name="connsiteY3-26" fmla="*/ 485927 h 485927"/>
              <a:gd name="connsiteX4-27" fmla="*/ 9022 w 425194"/>
              <a:gd name="connsiteY4-28" fmla="*/ 485927 h 485927"/>
              <a:gd name="connsiteX5-29" fmla="*/ 131351 w 425194"/>
              <a:gd name="connsiteY5-30" fmla="*/ 157551 h 485927"/>
              <a:gd name="connsiteX6-31" fmla="*/ 40205 w 425194"/>
              <a:gd name="connsiteY6-32" fmla="*/ 157551 h 485927"/>
              <a:gd name="connsiteX7-33" fmla="*/ 211655 w 425194"/>
              <a:gd name="connsiteY7-34" fmla="*/ 0 h 485927"/>
              <a:gd name="connsiteX0-35" fmla="*/ 211655 w 425194"/>
              <a:gd name="connsiteY0-36" fmla="*/ 0 h 485927"/>
              <a:gd name="connsiteX1-37" fmla="*/ 383105 w 425194"/>
              <a:gd name="connsiteY1-38" fmla="*/ 157551 h 485927"/>
              <a:gd name="connsiteX2-39" fmla="*/ 303297 w 425194"/>
              <a:gd name="connsiteY2-40" fmla="*/ 157551 h 485927"/>
              <a:gd name="connsiteX3-41" fmla="*/ 425194 w 425194"/>
              <a:gd name="connsiteY3-42" fmla="*/ 485927 h 485927"/>
              <a:gd name="connsiteX4-43" fmla="*/ 9022 w 425194"/>
              <a:gd name="connsiteY4-44" fmla="*/ 485927 h 485927"/>
              <a:gd name="connsiteX5-45" fmla="*/ 131351 w 425194"/>
              <a:gd name="connsiteY5-46" fmla="*/ 157551 h 485927"/>
              <a:gd name="connsiteX6-47" fmla="*/ 40205 w 425194"/>
              <a:gd name="connsiteY6-48" fmla="*/ 157551 h 485927"/>
              <a:gd name="connsiteX7-49" fmla="*/ 211655 w 425194"/>
              <a:gd name="connsiteY7-50" fmla="*/ 0 h 485927"/>
              <a:gd name="connsiteX0-51" fmla="*/ 211655 w 425194"/>
              <a:gd name="connsiteY0-52" fmla="*/ 0 h 485927"/>
              <a:gd name="connsiteX1-53" fmla="*/ 383105 w 425194"/>
              <a:gd name="connsiteY1-54" fmla="*/ 157551 h 485927"/>
              <a:gd name="connsiteX2-55" fmla="*/ 303297 w 425194"/>
              <a:gd name="connsiteY2-56" fmla="*/ 157551 h 485927"/>
              <a:gd name="connsiteX3-57" fmla="*/ 425194 w 425194"/>
              <a:gd name="connsiteY3-58" fmla="*/ 485927 h 485927"/>
              <a:gd name="connsiteX4-59" fmla="*/ 9022 w 425194"/>
              <a:gd name="connsiteY4-60" fmla="*/ 485927 h 485927"/>
              <a:gd name="connsiteX5-61" fmla="*/ 131351 w 425194"/>
              <a:gd name="connsiteY5-62" fmla="*/ 157551 h 485927"/>
              <a:gd name="connsiteX6-63" fmla="*/ 40205 w 425194"/>
              <a:gd name="connsiteY6-64" fmla="*/ 157551 h 485927"/>
              <a:gd name="connsiteX7-65" fmla="*/ 211655 w 425194"/>
              <a:gd name="connsiteY7-66" fmla="*/ 0 h 485927"/>
              <a:gd name="connsiteX0-67" fmla="*/ 211049 w 424588"/>
              <a:gd name="connsiteY0-68" fmla="*/ 0 h 485927"/>
              <a:gd name="connsiteX1-69" fmla="*/ 382499 w 424588"/>
              <a:gd name="connsiteY1-70" fmla="*/ 157551 h 485927"/>
              <a:gd name="connsiteX2-71" fmla="*/ 302691 w 424588"/>
              <a:gd name="connsiteY2-72" fmla="*/ 157551 h 485927"/>
              <a:gd name="connsiteX3-73" fmla="*/ 424588 w 424588"/>
              <a:gd name="connsiteY3-74" fmla="*/ 485927 h 485927"/>
              <a:gd name="connsiteX4-75" fmla="*/ 8416 w 424588"/>
              <a:gd name="connsiteY4-76" fmla="*/ 485927 h 485927"/>
              <a:gd name="connsiteX5-77" fmla="*/ 130745 w 424588"/>
              <a:gd name="connsiteY5-78" fmla="*/ 157551 h 485927"/>
              <a:gd name="connsiteX6-79" fmla="*/ 39599 w 424588"/>
              <a:gd name="connsiteY6-80" fmla="*/ 157551 h 485927"/>
              <a:gd name="connsiteX7-81" fmla="*/ 211049 w 424588"/>
              <a:gd name="connsiteY7-82" fmla="*/ 0 h 485927"/>
              <a:gd name="connsiteX0-83" fmla="*/ 202633 w 416172"/>
              <a:gd name="connsiteY0-84" fmla="*/ 0 h 485927"/>
              <a:gd name="connsiteX1-85" fmla="*/ 374083 w 416172"/>
              <a:gd name="connsiteY1-86" fmla="*/ 157551 h 485927"/>
              <a:gd name="connsiteX2-87" fmla="*/ 294275 w 416172"/>
              <a:gd name="connsiteY2-88" fmla="*/ 157551 h 485927"/>
              <a:gd name="connsiteX3-89" fmla="*/ 416172 w 416172"/>
              <a:gd name="connsiteY3-90" fmla="*/ 485927 h 485927"/>
              <a:gd name="connsiteX4-91" fmla="*/ 0 w 416172"/>
              <a:gd name="connsiteY4-92" fmla="*/ 485927 h 485927"/>
              <a:gd name="connsiteX5-93" fmla="*/ 122329 w 416172"/>
              <a:gd name="connsiteY5-94" fmla="*/ 157551 h 485927"/>
              <a:gd name="connsiteX6-95" fmla="*/ 31183 w 416172"/>
              <a:gd name="connsiteY6-96" fmla="*/ 157551 h 485927"/>
              <a:gd name="connsiteX7-97" fmla="*/ 202633 w 416172"/>
              <a:gd name="connsiteY7-98" fmla="*/ 0 h 485927"/>
              <a:gd name="connsiteX0-99" fmla="*/ 204141 w 416172"/>
              <a:gd name="connsiteY0-100" fmla="*/ 0 h 493579"/>
              <a:gd name="connsiteX1-101" fmla="*/ 374083 w 416172"/>
              <a:gd name="connsiteY1-102" fmla="*/ 165203 h 493579"/>
              <a:gd name="connsiteX2-103" fmla="*/ 294275 w 416172"/>
              <a:gd name="connsiteY2-104" fmla="*/ 165203 h 493579"/>
              <a:gd name="connsiteX3-105" fmla="*/ 416172 w 416172"/>
              <a:gd name="connsiteY3-106" fmla="*/ 493579 h 493579"/>
              <a:gd name="connsiteX4-107" fmla="*/ 0 w 416172"/>
              <a:gd name="connsiteY4-108" fmla="*/ 493579 h 493579"/>
              <a:gd name="connsiteX5-109" fmla="*/ 122329 w 416172"/>
              <a:gd name="connsiteY5-110" fmla="*/ 165203 h 493579"/>
              <a:gd name="connsiteX6-111" fmla="*/ 31183 w 416172"/>
              <a:gd name="connsiteY6-112" fmla="*/ 165203 h 493579"/>
              <a:gd name="connsiteX7-113" fmla="*/ 204141 w 416172"/>
              <a:gd name="connsiteY7-114" fmla="*/ 0 h 493579"/>
              <a:gd name="connsiteX0-115" fmla="*/ 207157 w 416172"/>
              <a:gd name="connsiteY0-116" fmla="*/ 0 h 480187"/>
              <a:gd name="connsiteX1-117" fmla="*/ 374083 w 416172"/>
              <a:gd name="connsiteY1-118" fmla="*/ 151811 h 480187"/>
              <a:gd name="connsiteX2-119" fmla="*/ 294275 w 416172"/>
              <a:gd name="connsiteY2-120" fmla="*/ 151811 h 480187"/>
              <a:gd name="connsiteX3-121" fmla="*/ 416172 w 416172"/>
              <a:gd name="connsiteY3-122" fmla="*/ 480187 h 480187"/>
              <a:gd name="connsiteX4-123" fmla="*/ 0 w 416172"/>
              <a:gd name="connsiteY4-124" fmla="*/ 480187 h 480187"/>
              <a:gd name="connsiteX5-125" fmla="*/ 122329 w 416172"/>
              <a:gd name="connsiteY5-126" fmla="*/ 151811 h 480187"/>
              <a:gd name="connsiteX6-127" fmla="*/ 31183 w 416172"/>
              <a:gd name="connsiteY6-128" fmla="*/ 151811 h 480187"/>
              <a:gd name="connsiteX7-129" fmla="*/ 207157 w 416172"/>
              <a:gd name="connsiteY7-130" fmla="*/ 0 h 48018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16172" h="480187">
                <a:moveTo>
                  <a:pt x="207157" y="0"/>
                </a:moveTo>
                <a:cubicBezTo>
                  <a:pt x="242876" y="59661"/>
                  <a:pt x="269308" y="99294"/>
                  <a:pt x="374083" y="151811"/>
                </a:cubicBezTo>
                <a:lnTo>
                  <a:pt x="294275" y="151811"/>
                </a:lnTo>
                <a:cubicBezTo>
                  <a:pt x="294195" y="282314"/>
                  <a:pt x="348398" y="387946"/>
                  <a:pt x="416172" y="480187"/>
                </a:cubicBezTo>
                <a:lnTo>
                  <a:pt x="0" y="480187"/>
                </a:lnTo>
                <a:cubicBezTo>
                  <a:pt x="59593" y="423545"/>
                  <a:pt x="132211" y="237150"/>
                  <a:pt x="122329" y="151811"/>
                </a:cubicBezTo>
                <a:lnTo>
                  <a:pt x="31183" y="151811"/>
                </a:lnTo>
                <a:cubicBezTo>
                  <a:pt x="131195" y="101675"/>
                  <a:pt x="185726" y="45373"/>
                  <a:pt x="207157" y="0"/>
                </a:cubicBezTo>
                <a:close/>
              </a:path>
            </a:pathLst>
          </a:custGeom>
          <a:gradFill flip="none" rotWithShape="1">
            <a:gsLst>
              <a:gs pos="0">
                <a:srgbClr val="B3D4FE">
                  <a:alpha val="0"/>
                </a:srgbClr>
              </a:gs>
              <a:gs pos="60000">
                <a:srgbClr val="B3D4FE"/>
              </a:gs>
            </a:gsLst>
            <a:lin ang="16200000" scaled="1"/>
            <a:tileRect/>
          </a:gradFill>
          <a:ln w="38100">
            <a:noFill/>
          </a:ln>
          <a:effectLst>
            <a:outerShdw blurRad="411480" dist="123444" dir="5400000" sx="108000" sy="108000" algn="ctr" rotWithShape="0">
              <a:srgbClr val="0042FF">
                <a:alpha val="16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11"/>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2" name="紫荆的职场Point42-1"/>
          <p:cNvSpPr/>
          <p:nvPr/>
        </p:nvSpPr>
        <p:spPr>
          <a:xfrm>
            <a:off x="7576820" y="5753100"/>
            <a:ext cx="1075690" cy="342265"/>
          </a:xfrm>
          <a:custGeom>
            <a:avLst/>
            <a:gdLst>
              <a:gd name="connsiteX0" fmla="*/ 162128 w 2196357"/>
              <a:gd name="connsiteY0" fmla="*/ 0 h 342371"/>
              <a:gd name="connsiteX1" fmla="*/ 980125 w 2196357"/>
              <a:gd name="connsiteY1" fmla="*/ 0 h 342371"/>
              <a:gd name="connsiteX2" fmla="*/ 1319493 w 2196357"/>
              <a:gd name="connsiteY2" fmla="*/ 0 h 342371"/>
              <a:gd name="connsiteX3" fmla="*/ 2137489 w 2196357"/>
              <a:gd name="connsiteY3" fmla="*/ 0 h 342371"/>
              <a:gd name="connsiteX4" fmla="*/ 2195516 w 2196357"/>
              <a:gd name="connsiteY4" fmla="*/ 61604 h 342371"/>
              <a:gd name="connsiteX5" fmla="*/ 2129416 w 2196357"/>
              <a:gd name="connsiteY5" fmla="*/ 280767 h 342371"/>
              <a:gd name="connsiteX6" fmla="*/ 2034229 w 2196357"/>
              <a:gd name="connsiteY6" fmla="*/ 342371 h 342371"/>
              <a:gd name="connsiteX7" fmla="*/ 1216233 w 2196357"/>
              <a:gd name="connsiteY7" fmla="*/ 342371 h 342371"/>
              <a:gd name="connsiteX8" fmla="*/ 876865 w 2196357"/>
              <a:gd name="connsiteY8" fmla="*/ 342371 h 342371"/>
              <a:gd name="connsiteX9" fmla="*/ 58868 w 2196357"/>
              <a:gd name="connsiteY9" fmla="*/ 342371 h 342371"/>
              <a:gd name="connsiteX10" fmla="*/ 841 w 2196357"/>
              <a:gd name="connsiteY10" fmla="*/ 280767 h 342371"/>
              <a:gd name="connsiteX11" fmla="*/ 66941 w 2196357"/>
              <a:gd name="connsiteY11" fmla="*/ 61604 h 342371"/>
              <a:gd name="connsiteX12" fmla="*/ 162128 w 2196357"/>
              <a:gd name="connsiteY12" fmla="*/ 0 h 342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6357" h="342371">
                <a:moveTo>
                  <a:pt x="162128" y="0"/>
                </a:moveTo>
                <a:lnTo>
                  <a:pt x="980125" y="0"/>
                </a:lnTo>
                <a:lnTo>
                  <a:pt x="1319493" y="0"/>
                </a:lnTo>
                <a:lnTo>
                  <a:pt x="2137489" y="0"/>
                </a:lnTo>
                <a:cubicBezTo>
                  <a:pt x="2137489" y="0"/>
                  <a:pt x="2204577" y="6160"/>
                  <a:pt x="2195516" y="61604"/>
                </a:cubicBezTo>
                <a:lnTo>
                  <a:pt x="2129416" y="280767"/>
                </a:lnTo>
                <a:cubicBezTo>
                  <a:pt x="2129416" y="280767"/>
                  <a:pt x="2105033" y="336210"/>
                  <a:pt x="2034229" y="342371"/>
                </a:cubicBezTo>
                <a:lnTo>
                  <a:pt x="1216233" y="342371"/>
                </a:lnTo>
                <a:lnTo>
                  <a:pt x="876865" y="342371"/>
                </a:lnTo>
                <a:lnTo>
                  <a:pt x="58868" y="342371"/>
                </a:lnTo>
                <a:cubicBezTo>
                  <a:pt x="58868" y="342371"/>
                  <a:pt x="-8221" y="336210"/>
                  <a:pt x="841" y="280767"/>
                </a:cubicBezTo>
                <a:lnTo>
                  <a:pt x="66941" y="61604"/>
                </a:lnTo>
                <a:cubicBezTo>
                  <a:pt x="66941" y="61604"/>
                  <a:pt x="91324" y="6160"/>
                  <a:pt x="162128" y="0"/>
                </a:cubicBezTo>
                <a:close/>
              </a:path>
            </a:pathLst>
          </a:cu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 name="紫荆的职场Point42-2"/>
          <p:cNvSpPr txBox="1"/>
          <p:nvPr/>
        </p:nvSpPr>
        <p:spPr>
          <a:xfrm>
            <a:off x="7689850" y="5718810"/>
            <a:ext cx="894080" cy="349250"/>
          </a:xfrm>
          <a:prstGeom prst="rect">
            <a:avLst/>
          </a:prstGeom>
          <a:noFill/>
        </p:spPr>
        <p:txBody>
          <a:bodyPr wrap="none">
            <a:spAutoFit/>
          </a:bodyPr>
          <a:lstStyle/>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风险管理</a:t>
            </a:r>
            <a:endParaRPr lang="zh-CN" altLang="en-US" sz="1400" dirty="0">
              <a:solidFill>
                <a:srgbClr val="383838"/>
              </a:solidFill>
              <a:latin typeface="微软雅黑"/>
              <a:ea typeface="微软雅黑"/>
              <a:cs typeface="微软雅黑"/>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紫荆的职场Point5"/>
          <p:cNvSpPr/>
          <p:nvPr/>
        </p:nvSpPr>
        <p:spPr>
          <a:xfrm rot="5400000" flipH="1">
            <a:off x="8413750" y="1964690"/>
            <a:ext cx="2966720" cy="395033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 name="connsiteX0-1" fmla="*/ 211655 w 425194"/>
              <a:gd name="connsiteY0-2" fmla="*/ 0 h 485927"/>
              <a:gd name="connsiteX1-3" fmla="*/ 383105 w 425194"/>
              <a:gd name="connsiteY1-4" fmla="*/ 157551 h 485927"/>
              <a:gd name="connsiteX2-5" fmla="*/ 303297 w 425194"/>
              <a:gd name="connsiteY2-6" fmla="*/ 157551 h 485927"/>
              <a:gd name="connsiteX3-7" fmla="*/ 315037 w 425194"/>
              <a:gd name="connsiteY3-8" fmla="*/ 222549 h 485927"/>
              <a:gd name="connsiteX4-9" fmla="*/ 425194 w 425194"/>
              <a:gd name="connsiteY4-10" fmla="*/ 485927 h 485927"/>
              <a:gd name="connsiteX5-11" fmla="*/ 9022 w 425194"/>
              <a:gd name="connsiteY5-12" fmla="*/ 485927 h 485927"/>
              <a:gd name="connsiteX6-13" fmla="*/ 131351 w 425194"/>
              <a:gd name="connsiteY6-14" fmla="*/ 157551 h 485927"/>
              <a:gd name="connsiteX7-15" fmla="*/ 40205 w 425194"/>
              <a:gd name="connsiteY7-16" fmla="*/ 157551 h 485927"/>
              <a:gd name="connsiteX8-17" fmla="*/ 211655 w 425194"/>
              <a:gd name="connsiteY8-18" fmla="*/ 0 h 485927"/>
              <a:gd name="connsiteX0-19" fmla="*/ 211655 w 425194"/>
              <a:gd name="connsiteY0-20" fmla="*/ 0 h 485927"/>
              <a:gd name="connsiteX1-21" fmla="*/ 383105 w 425194"/>
              <a:gd name="connsiteY1-22" fmla="*/ 157551 h 485927"/>
              <a:gd name="connsiteX2-23" fmla="*/ 303297 w 425194"/>
              <a:gd name="connsiteY2-24" fmla="*/ 157551 h 485927"/>
              <a:gd name="connsiteX3-25" fmla="*/ 425194 w 425194"/>
              <a:gd name="connsiteY3-26" fmla="*/ 485927 h 485927"/>
              <a:gd name="connsiteX4-27" fmla="*/ 9022 w 425194"/>
              <a:gd name="connsiteY4-28" fmla="*/ 485927 h 485927"/>
              <a:gd name="connsiteX5-29" fmla="*/ 131351 w 425194"/>
              <a:gd name="connsiteY5-30" fmla="*/ 157551 h 485927"/>
              <a:gd name="connsiteX6-31" fmla="*/ 40205 w 425194"/>
              <a:gd name="connsiteY6-32" fmla="*/ 157551 h 485927"/>
              <a:gd name="connsiteX7-33" fmla="*/ 211655 w 425194"/>
              <a:gd name="connsiteY7-34" fmla="*/ 0 h 485927"/>
              <a:gd name="connsiteX0-35" fmla="*/ 211655 w 425194"/>
              <a:gd name="connsiteY0-36" fmla="*/ 0 h 485927"/>
              <a:gd name="connsiteX1-37" fmla="*/ 383105 w 425194"/>
              <a:gd name="connsiteY1-38" fmla="*/ 157551 h 485927"/>
              <a:gd name="connsiteX2-39" fmla="*/ 303297 w 425194"/>
              <a:gd name="connsiteY2-40" fmla="*/ 157551 h 485927"/>
              <a:gd name="connsiteX3-41" fmla="*/ 425194 w 425194"/>
              <a:gd name="connsiteY3-42" fmla="*/ 485927 h 485927"/>
              <a:gd name="connsiteX4-43" fmla="*/ 9022 w 425194"/>
              <a:gd name="connsiteY4-44" fmla="*/ 485927 h 485927"/>
              <a:gd name="connsiteX5-45" fmla="*/ 131351 w 425194"/>
              <a:gd name="connsiteY5-46" fmla="*/ 157551 h 485927"/>
              <a:gd name="connsiteX6-47" fmla="*/ 40205 w 425194"/>
              <a:gd name="connsiteY6-48" fmla="*/ 157551 h 485927"/>
              <a:gd name="connsiteX7-49" fmla="*/ 211655 w 425194"/>
              <a:gd name="connsiteY7-50" fmla="*/ 0 h 485927"/>
              <a:gd name="connsiteX0-51" fmla="*/ 211655 w 425194"/>
              <a:gd name="connsiteY0-52" fmla="*/ 0 h 485927"/>
              <a:gd name="connsiteX1-53" fmla="*/ 383105 w 425194"/>
              <a:gd name="connsiteY1-54" fmla="*/ 157551 h 485927"/>
              <a:gd name="connsiteX2-55" fmla="*/ 303297 w 425194"/>
              <a:gd name="connsiteY2-56" fmla="*/ 157551 h 485927"/>
              <a:gd name="connsiteX3-57" fmla="*/ 425194 w 425194"/>
              <a:gd name="connsiteY3-58" fmla="*/ 485927 h 485927"/>
              <a:gd name="connsiteX4-59" fmla="*/ 9022 w 425194"/>
              <a:gd name="connsiteY4-60" fmla="*/ 485927 h 485927"/>
              <a:gd name="connsiteX5-61" fmla="*/ 131351 w 425194"/>
              <a:gd name="connsiteY5-62" fmla="*/ 157551 h 485927"/>
              <a:gd name="connsiteX6-63" fmla="*/ 40205 w 425194"/>
              <a:gd name="connsiteY6-64" fmla="*/ 157551 h 485927"/>
              <a:gd name="connsiteX7-65" fmla="*/ 211655 w 425194"/>
              <a:gd name="connsiteY7-66" fmla="*/ 0 h 485927"/>
              <a:gd name="connsiteX0-67" fmla="*/ 211049 w 424588"/>
              <a:gd name="connsiteY0-68" fmla="*/ 0 h 485927"/>
              <a:gd name="connsiteX1-69" fmla="*/ 382499 w 424588"/>
              <a:gd name="connsiteY1-70" fmla="*/ 157551 h 485927"/>
              <a:gd name="connsiteX2-71" fmla="*/ 302691 w 424588"/>
              <a:gd name="connsiteY2-72" fmla="*/ 157551 h 485927"/>
              <a:gd name="connsiteX3-73" fmla="*/ 424588 w 424588"/>
              <a:gd name="connsiteY3-74" fmla="*/ 485927 h 485927"/>
              <a:gd name="connsiteX4-75" fmla="*/ 8416 w 424588"/>
              <a:gd name="connsiteY4-76" fmla="*/ 485927 h 485927"/>
              <a:gd name="connsiteX5-77" fmla="*/ 130745 w 424588"/>
              <a:gd name="connsiteY5-78" fmla="*/ 157551 h 485927"/>
              <a:gd name="connsiteX6-79" fmla="*/ 39599 w 424588"/>
              <a:gd name="connsiteY6-80" fmla="*/ 157551 h 485927"/>
              <a:gd name="connsiteX7-81" fmla="*/ 211049 w 424588"/>
              <a:gd name="connsiteY7-82" fmla="*/ 0 h 485927"/>
              <a:gd name="connsiteX0-83" fmla="*/ 202633 w 416172"/>
              <a:gd name="connsiteY0-84" fmla="*/ 0 h 485927"/>
              <a:gd name="connsiteX1-85" fmla="*/ 374083 w 416172"/>
              <a:gd name="connsiteY1-86" fmla="*/ 157551 h 485927"/>
              <a:gd name="connsiteX2-87" fmla="*/ 294275 w 416172"/>
              <a:gd name="connsiteY2-88" fmla="*/ 157551 h 485927"/>
              <a:gd name="connsiteX3-89" fmla="*/ 416172 w 416172"/>
              <a:gd name="connsiteY3-90" fmla="*/ 485927 h 485927"/>
              <a:gd name="connsiteX4-91" fmla="*/ 0 w 416172"/>
              <a:gd name="connsiteY4-92" fmla="*/ 485927 h 485927"/>
              <a:gd name="connsiteX5-93" fmla="*/ 122329 w 416172"/>
              <a:gd name="connsiteY5-94" fmla="*/ 157551 h 485927"/>
              <a:gd name="connsiteX6-95" fmla="*/ 31183 w 416172"/>
              <a:gd name="connsiteY6-96" fmla="*/ 157551 h 485927"/>
              <a:gd name="connsiteX7-97" fmla="*/ 202633 w 416172"/>
              <a:gd name="connsiteY7-98" fmla="*/ 0 h 485927"/>
              <a:gd name="connsiteX0-99" fmla="*/ 204141 w 416172"/>
              <a:gd name="connsiteY0-100" fmla="*/ 0 h 493579"/>
              <a:gd name="connsiteX1-101" fmla="*/ 374083 w 416172"/>
              <a:gd name="connsiteY1-102" fmla="*/ 165203 h 493579"/>
              <a:gd name="connsiteX2-103" fmla="*/ 294275 w 416172"/>
              <a:gd name="connsiteY2-104" fmla="*/ 165203 h 493579"/>
              <a:gd name="connsiteX3-105" fmla="*/ 416172 w 416172"/>
              <a:gd name="connsiteY3-106" fmla="*/ 493579 h 493579"/>
              <a:gd name="connsiteX4-107" fmla="*/ 0 w 416172"/>
              <a:gd name="connsiteY4-108" fmla="*/ 493579 h 493579"/>
              <a:gd name="connsiteX5-109" fmla="*/ 122329 w 416172"/>
              <a:gd name="connsiteY5-110" fmla="*/ 165203 h 493579"/>
              <a:gd name="connsiteX6-111" fmla="*/ 31183 w 416172"/>
              <a:gd name="connsiteY6-112" fmla="*/ 165203 h 493579"/>
              <a:gd name="connsiteX7-113" fmla="*/ 204141 w 416172"/>
              <a:gd name="connsiteY7-114" fmla="*/ 0 h 493579"/>
              <a:gd name="connsiteX0-115" fmla="*/ 207157 w 416172"/>
              <a:gd name="connsiteY0-116" fmla="*/ 0 h 480187"/>
              <a:gd name="connsiteX1-117" fmla="*/ 374083 w 416172"/>
              <a:gd name="connsiteY1-118" fmla="*/ 151811 h 480187"/>
              <a:gd name="connsiteX2-119" fmla="*/ 294275 w 416172"/>
              <a:gd name="connsiteY2-120" fmla="*/ 151811 h 480187"/>
              <a:gd name="connsiteX3-121" fmla="*/ 416172 w 416172"/>
              <a:gd name="connsiteY3-122" fmla="*/ 480187 h 480187"/>
              <a:gd name="connsiteX4-123" fmla="*/ 0 w 416172"/>
              <a:gd name="connsiteY4-124" fmla="*/ 480187 h 480187"/>
              <a:gd name="connsiteX5-125" fmla="*/ 122329 w 416172"/>
              <a:gd name="connsiteY5-126" fmla="*/ 151811 h 480187"/>
              <a:gd name="connsiteX6-127" fmla="*/ 31183 w 416172"/>
              <a:gd name="connsiteY6-128" fmla="*/ 151811 h 480187"/>
              <a:gd name="connsiteX7-129" fmla="*/ 207157 w 416172"/>
              <a:gd name="connsiteY7-130" fmla="*/ 0 h 48018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16172" h="480187">
                <a:moveTo>
                  <a:pt x="207157" y="0"/>
                </a:moveTo>
                <a:cubicBezTo>
                  <a:pt x="242876" y="59661"/>
                  <a:pt x="269308" y="99294"/>
                  <a:pt x="374083" y="151811"/>
                </a:cubicBezTo>
                <a:lnTo>
                  <a:pt x="294275" y="151811"/>
                </a:lnTo>
                <a:cubicBezTo>
                  <a:pt x="294195" y="282314"/>
                  <a:pt x="348398" y="387946"/>
                  <a:pt x="416172" y="480187"/>
                </a:cubicBezTo>
                <a:lnTo>
                  <a:pt x="0" y="480187"/>
                </a:lnTo>
                <a:cubicBezTo>
                  <a:pt x="59593" y="423545"/>
                  <a:pt x="132211" y="237150"/>
                  <a:pt x="122329" y="151811"/>
                </a:cubicBezTo>
                <a:lnTo>
                  <a:pt x="31183" y="151811"/>
                </a:lnTo>
                <a:cubicBezTo>
                  <a:pt x="131195" y="101675"/>
                  <a:pt x="185726" y="45373"/>
                  <a:pt x="207157" y="0"/>
                </a:cubicBezTo>
                <a:close/>
              </a:path>
            </a:pathLst>
          </a:custGeom>
          <a:gradFill flip="none" rotWithShape="1">
            <a:gsLst>
              <a:gs pos="0">
                <a:srgbClr val="FFFFFF"/>
              </a:gs>
              <a:gs pos="71000">
                <a:srgbClr val="FFFFFF">
                  <a:alpha val="0"/>
                </a:srgbClr>
              </a:gs>
            </a:gsLst>
            <a:lin ang="5400000" scaled="1"/>
          </a:gradFill>
          <a:ln>
            <a:gradFill>
              <a:gsLst>
                <a:gs pos="100000">
                  <a:srgbClr val="3368FF"/>
                </a:gs>
                <a:gs pos="51000">
                  <a:srgbClr val="B3D4FE"/>
                </a:gs>
                <a:gs pos="30000">
                  <a:srgbClr val="B3D4FE">
                    <a:alpha val="0"/>
                  </a:srgbClr>
                </a:gs>
              </a:gsLst>
              <a:lin ang="16740000" scaled="0"/>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122" name="紫荆的职场Point5"/>
          <p:cNvSpPr/>
          <p:nvPr/>
        </p:nvSpPr>
        <p:spPr>
          <a:xfrm rot="16200000">
            <a:off x="936625" y="2047875"/>
            <a:ext cx="2966720" cy="395033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 name="connsiteX0-1" fmla="*/ 211655 w 425194"/>
              <a:gd name="connsiteY0-2" fmla="*/ 0 h 485927"/>
              <a:gd name="connsiteX1-3" fmla="*/ 383105 w 425194"/>
              <a:gd name="connsiteY1-4" fmla="*/ 157551 h 485927"/>
              <a:gd name="connsiteX2-5" fmla="*/ 303297 w 425194"/>
              <a:gd name="connsiteY2-6" fmla="*/ 157551 h 485927"/>
              <a:gd name="connsiteX3-7" fmla="*/ 315037 w 425194"/>
              <a:gd name="connsiteY3-8" fmla="*/ 222549 h 485927"/>
              <a:gd name="connsiteX4-9" fmla="*/ 425194 w 425194"/>
              <a:gd name="connsiteY4-10" fmla="*/ 485927 h 485927"/>
              <a:gd name="connsiteX5-11" fmla="*/ 9022 w 425194"/>
              <a:gd name="connsiteY5-12" fmla="*/ 485927 h 485927"/>
              <a:gd name="connsiteX6-13" fmla="*/ 131351 w 425194"/>
              <a:gd name="connsiteY6-14" fmla="*/ 157551 h 485927"/>
              <a:gd name="connsiteX7-15" fmla="*/ 40205 w 425194"/>
              <a:gd name="connsiteY7-16" fmla="*/ 157551 h 485927"/>
              <a:gd name="connsiteX8-17" fmla="*/ 211655 w 425194"/>
              <a:gd name="connsiteY8-18" fmla="*/ 0 h 485927"/>
              <a:gd name="connsiteX0-19" fmla="*/ 211655 w 425194"/>
              <a:gd name="connsiteY0-20" fmla="*/ 0 h 485927"/>
              <a:gd name="connsiteX1-21" fmla="*/ 383105 w 425194"/>
              <a:gd name="connsiteY1-22" fmla="*/ 157551 h 485927"/>
              <a:gd name="connsiteX2-23" fmla="*/ 303297 w 425194"/>
              <a:gd name="connsiteY2-24" fmla="*/ 157551 h 485927"/>
              <a:gd name="connsiteX3-25" fmla="*/ 425194 w 425194"/>
              <a:gd name="connsiteY3-26" fmla="*/ 485927 h 485927"/>
              <a:gd name="connsiteX4-27" fmla="*/ 9022 w 425194"/>
              <a:gd name="connsiteY4-28" fmla="*/ 485927 h 485927"/>
              <a:gd name="connsiteX5-29" fmla="*/ 131351 w 425194"/>
              <a:gd name="connsiteY5-30" fmla="*/ 157551 h 485927"/>
              <a:gd name="connsiteX6-31" fmla="*/ 40205 w 425194"/>
              <a:gd name="connsiteY6-32" fmla="*/ 157551 h 485927"/>
              <a:gd name="connsiteX7-33" fmla="*/ 211655 w 425194"/>
              <a:gd name="connsiteY7-34" fmla="*/ 0 h 485927"/>
              <a:gd name="connsiteX0-35" fmla="*/ 211655 w 425194"/>
              <a:gd name="connsiteY0-36" fmla="*/ 0 h 485927"/>
              <a:gd name="connsiteX1-37" fmla="*/ 383105 w 425194"/>
              <a:gd name="connsiteY1-38" fmla="*/ 157551 h 485927"/>
              <a:gd name="connsiteX2-39" fmla="*/ 303297 w 425194"/>
              <a:gd name="connsiteY2-40" fmla="*/ 157551 h 485927"/>
              <a:gd name="connsiteX3-41" fmla="*/ 425194 w 425194"/>
              <a:gd name="connsiteY3-42" fmla="*/ 485927 h 485927"/>
              <a:gd name="connsiteX4-43" fmla="*/ 9022 w 425194"/>
              <a:gd name="connsiteY4-44" fmla="*/ 485927 h 485927"/>
              <a:gd name="connsiteX5-45" fmla="*/ 131351 w 425194"/>
              <a:gd name="connsiteY5-46" fmla="*/ 157551 h 485927"/>
              <a:gd name="connsiteX6-47" fmla="*/ 40205 w 425194"/>
              <a:gd name="connsiteY6-48" fmla="*/ 157551 h 485927"/>
              <a:gd name="connsiteX7-49" fmla="*/ 211655 w 425194"/>
              <a:gd name="connsiteY7-50" fmla="*/ 0 h 485927"/>
              <a:gd name="connsiteX0-51" fmla="*/ 211655 w 425194"/>
              <a:gd name="connsiteY0-52" fmla="*/ 0 h 485927"/>
              <a:gd name="connsiteX1-53" fmla="*/ 383105 w 425194"/>
              <a:gd name="connsiteY1-54" fmla="*/ 157551 h 485927"/>
              <a:gd name="connsiteX2-55" fmla="*/ 303297 w 425194"/>
              <a:gd name="connsiteY2-56" fmla="*/ 157551 h 485927"/>
              <a:gd name="connsiteX3-57" fmla="*/ 425194 w 425194"/>
              <a:gd name="connsiteY3-58" fmla="*/ 485927 h 485927"/>
              <a:gd name="connsiteX4-59" fmla="*/ 9022 w 425194"/>
              <a:gd name="connsiteY4-60" fmla="*/ 485927 h 485927"/>
              <a:gd name="connsiteX5-61" fmla="*/ 131351 w 425194"/>
              <a:gd name="connsiteY5-62" fmla="*/ 157551 h 485927"/>
              <a:gd name="connsiteX6-63" fmla="*/ 40205 w 425194"/>
              <a:gd name="connsiteY6-64" fmla="*/ 157551 h 485927"/>
              <a:gd name="connsiteX7-65" fmla="*/ 211655 w 425194"/>
              <a:gd name="connsiteY7-66" fmla="*/ 0 h 485927"/>
              <a:gd name="connsiteX0-67" fmla="*/ 211049 w 424588"/>
              <a:gd name="connsiteY0-68" fmla="*/ 0 h 485927"/>
              <a:gd name="connsiteX1-69" fmla="*/ 382499 w 424588"/>
              <a:gd name="connsiteY1-70" fmla="*/ 157551 h 485927"/>
              <a:gd name="connsiteX2-71" fmla="*/ 302691 w 424588"/>
              <a:gd name="connsiteY2-72" fmla="*/ 157551 h 485927"/>
              <a:gd name="connsiteX3-73" fmla="*/ 424588 w 424588"/>
              <a:gd name="connsiteY3-74" fmla="*/ 485927 h 485927"/>
              <a:gd name="connsiteX4-75" fmla="*/ 8416 w 424588"/>
              <a:gd name="connsiteY4-76" fmla="*/ 485927 h 485927"/>
              <a:gd name="connsiteX5-77" fmla="*/ 130745 w 424588"/>
              <a:gd name="connsiteY5-78" fmla="*/ 157551 h 485927"/>
              <a:gd name="connsiteX6-79" fmla="*/ 39599 w 424588"/>
              <a:gd name="connsiteY6-80" fmla="*/ 157551 h 485927"/>
              <a:gd name="connsiteX7-81" fmla="*/ 211049 w 424588"/>
              <a:gd name="connsiteY7-82" fmla="*/ 0 h 485927"/>
              <a:gd name="connsiteX0-83" fmla="*/ 202633 w 416172"/>
              <a:gd name="connsiteY0-84" fmla="*/ 0 h 485927"/>
              <a:gd name="connsiteX1-85" fmla="*/ 374083 w 416172"/>
              <a:gd name="connsiteY1-86" fmla="*/ 157551 h 485927"/>
              <a:gd name="connsiteX2-87" fmla="*/ 294275 w 416172"/>
              <a:gd name="connsiteY2-88" fmla="*/ 157551 h 485927"/>
              <a:gd name="connsiteX3-89" fmla="*/ 416172 w 416172"/>
              <a:gd name="connsiteY3-90" fmla="*/ 485927 h 485927"/>
              <a:gd name="connsiteX4-91" fmla="*/ 0 w 416172"/>
              <a:gd name="connsiteY4-92" fmla="*/ 485927 h 485927"/>
              <a:gd name="connsiteX5-93" fmla="*/ 122329 w 416172"/>
              <a:gd name="connsiteY5-94" fmla="*/ 157551 h 485927"/>
              <a:gd name="connsiteX6-95" fmla="*/ 31183 w 416172"/>
              <a:gd name="connsiteY6-96" fmla="*/ 157551 h 485927"/>
              <a:gd name="connsiteX7-97" fmla="*/ 202633 w 416172"/>
              <a:gd name="connsiteY7-98" fmla="*/ 0 h 485927"/>
              <a:gd name="connsiteX0-99" fmla="*/ 204141 w 416172"/>
              <a:gd name="connsiteY0-100" fmla="*/ 0 h 493579"/>
              <a:gd name="connsiteX1-101" fmla="*/ 374083 w 416172"/>
              <a:gd name="connsiteY1-102" fmla="*/ 165203 h 493579"/>
              <a:gd name="connsiteX2-103" fmla="*/ 294275 w 416172"/>
              <a:gd name="connsiteY2-104" fmla="*/ 165203 h 493579"/>
              <a:gd name="connsiteX3-105" fmla="*/ 416172 w 416172"/>
              <a:gd name="connsiteY3-106" fmla="*/ 493579 h 493579"/>
              <a:gd name="connsiteX4-107" fmla="*/ 0 w 416172"/>
              <a:gd name="connsiteY4-108" fmla="*/ 493579 h 493579"/>
              <a:gd name="connsiteX5-109" fmla="*/ 122329 w 416172"/>
              <a:gd name="connsiteY5-110" fmla="*/ 165203 h 493579"/>
              <a:gd name="connsiteX6-111" fmla="*/ 31183 w 416172"/>
              <a:gd name="connsiteY6-112" fmla="*/ 165203 h 493579"/>
              <a:gd name="connsiteX7-113" fmla="*/ 204141 w 416172"/>
              <a:gd name="connsiteY7-114" fmla="*/ 0 h 493579"/>
              <a:gd name="connsiteX0-115" fmla="*/ 207157 w 416172"/>
              <a:gd name="connsiteY0-116" fmla="*/ 0 h 480187"/>
              <a:gd name="connsiteX1-117" fmla="*/ 374083 w 416172"/>
              <a:gd name="connsiteY1-118" fmla="*/ 151811 h 480187"/>
              <a:gd name="connsiteX2-119" fmla="*/ 294275 w 416172"/>
              <a:gd name="connsiteY2-120" fmla="*/ 151811 h 480187"/>
              <a:gd name="connsiteX3-121" fmla="*/ 416172 w 416172"/>
              <a:gd name="connsiteY3-122" fmla="*/ 480187 h 480187"/>
              <a:gd name="connsiteX4-123" fmla="*/ 0 w 416172"/>
              <a:gd name="connsiteY4-124" fmla="*/ 480187 h 480187"/>
              <a:gd name="connsiteX5-125" fmla="*/ 122329 w 416172"/>
              <a:gd name="connsiteY5-126" fmla="*/ 151811 h 480187"/>
              <a:gd name="connsiteX6-127" fmla="*/ 31183 w 416172"/>
              <a:gd name="connsiteY6-128" fmla="*/ 151811 h 480187"/>
              <a:gd name="connsiteX7-129" fmla="*/ 207157 w 416172"/>
              <a:gd name="connsiteY7-130" fmla="*/ 0 h 48018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16172" h="480187">
                <a:moveTo>
                  <a:pt x="207157" y="0"/>
                </a:moveTo>
                <a:cubicBezTo>
                  <a:pt x="242876" y="59661"/>
                  <a:pt x="269308" y="99294"/>
                  <a:pt x="374083" y="151811"/>
                </a:cubicBezTo>
                <a:lnTo>
                  <a:pt x="294275" y="151811"/>
                </a:lnTo>
                <a:cubicBezTo>
                  <a:pt x="294195" y="282314"/>
                  <a:pt x="348398" y="387946"/>
                  <a:pt x="416172" y="480187"/>
                </a:cubicBezTo>
                <a:lnTo>
                  <a:pt x="0" y="480187"/>
                </a:lnTo>
                <a:cubicBezTo>
                  <a:pt x="59593" y="423545"/>
                  <a:pt x="132211" y="237150"/>
                  <a:pt x="122329" y="151811"/>
                </a:cubicBezTo>
                <a:lnTo>
                  <a:pt x="31183" y="151811"/>
                </a:lnTo>
                <a:cubicBezTo>
                  <a:pt x="131195" y="101675"/>
                  <a:pt x="185726" y="45373"/>
                  <a:pt x="207157" y="0"/>
                </a:cubicBezTo>
                <a:close/>
              </a:path>
            </a:pathLst>
          </a:custGeom>
          <a:gradFill flip="none" rotWithShape="1">
            <a:gsLst>
              <a:gs pos="0">
                <a:srgbClr val="FFFFFF"/>
              </a:gs>
              <a:gs pos="71000">
                <a:srgbClr val="FFFFFF">
                  <a:alpha val="0"/>
                </a:srgbClr>
              </a:gs>
            </a:gsLst>
            <a:lin ang="5400000" scaled="1"/>
          </a:gradFill>
          <a:ln>
            <a:gradFill>
              <a:gsLst>
                <a:gs pos="100000">
                  <a:srgbClr val="3368FF"/>
                </a:gs>
                <a:gs pos="51000">
                  <a:srgbClr val="B3D4FE"/>
                </a:gs>
                <a:gs pos="30000">
                  <a:srgbClr val="B3D4FE">
                    <a:alpha val="0"/>
                  </a:srgbClr>
                </a:gs>
              </a:gsLst>
              <a:lin ang="16740000" scaled="0"/>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生意增长引擎拆解</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51" name="椭圆 50"/>
          <p:cNvSpPr/>
          <p:nvPr/>
        </p:nvSpPr>
        <p:spPr>
          <a:xfrm rot="581017">
            <a:off x="5014595" y="2715260"/>
            <a:ext cx="2272665" cy="2272665"/>
          </a:xfrm>
          <a:prstGeom prst="ellipse">
            <a:avLst/>
          </a:prstGeom>
          <a:gradFill flip="none" rotWithShape="1">
            <a:gsLst>
              <a:gs pos="0">
                <a:srgbClr val="3368FF"/>
              </a:gs>
              <a:gs pos="100000">
                <a:srgbClr val="0042FF"/>
              </a:gs>
            </a:gsLst>
            <a:path path="circle">
              <a:fillToRect r="100000" b="100000"/>
            </a:path>
            <a:tileRect l="-100000" t="-100000"/>
          </a:gradFill>
          <a:ln>
            <a:noFill/>
          </a:ln>
          <a:effectLst>
            <a:outerShdw blurRad="368300" dist="127000" dir="2400000" sx="98000" sy="98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7" name="椭圆 6"/>
          <p:cNvSpPr/>
          <p:nvPr/>
        </p:nvSpPr>
        <p:spPr>
          <a:xfrm rot="581017">
            <a:off x="4857750" y="2559050"/>
            <a:ext cx="2585720" cy="2586355"/>
          </a:xfrm>
          <a:prstGeom prst="ellipse">
            <a:avLst/>
          </a:prstGeom>
          <a:noFill/>
          <a:ln w="19050" cap="flat" cmpd="sng" algn="ctr">
            <a:solidFill>
              <a:srgbClr val="3368FF">
                <a:alpha val="87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8" name="椭圆 7"/>
          <p:cNvSpPr/>
          <p:nvPr/>
        </p:nvSpPr>
        <p:spPr>
          <a:xfrm rot="581017">
            <a:off x="6750050" y="2694305"/>
            <a:ext cx="69850" cy="69850"/>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9" name="椭圆 8"/>
          <p:cNvSpPr/>
          <p:nvPr/>
        </p:nvSpPr>
        <p:spPr>
          <a:xfrm rot="581017">
            <a:off x="4860290" y="4101465"/>
            <a:ext cx="69850" cy="69850"/>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1" name="椭圆 10"/>
          <p:cNvSpPr/>
          <p:nvPr/>
        </p:nvSpPr>
        <p:spPr>
          <a:xfrm rot="581017">
            <a:off x="4616450" y="2317115"/>
            <a:ext cx="3069590" cy="3069590"/>
          </a:xfrm>
          <a:prstGeom prst="ellipse">
            <a:avLst/>
          </a:prstGeom>
          <a:noFill/>
          <a:ln w="19050" cap="flat" cmpd="sng" algn="ctr">
            <a:solidFill>
              <a:srgbClr val="3368FF">
                <a:alpha val="34000"/>
              </a:srgbClr>
            </a:solidFill>
            <a:prstDash val="sysDash"/>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2" name="椭圆 11"/>
          <p:cNvSpPr/>
          <p:nvPr/>
        </p:nvSpPr>
        <p:spPr>
          <a:xfrm rot="581017">
            <a:off x="4416425" y="2117090"/>
            <a:ext cx="3469005" cy="3469005"/>
          </a:xfrm>
          <a:prstGeom prst="ellipse">
            <a:avLst/>
          </a:prstGeom>
          <a:noFill/>
          <a:ln w="19050" cap="flat" cmpd="sng" algn="ctr">
            <a:solidFill>
              <a:srgbClr val="3368FF">
                <a:alpha val="12000"/>
              </a:srgbClr>
            </a:solidFill>
            <a:prstDash val="sysDash"/>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3" name="椭圆 12"/>
          <p:cNvSpPr/>
          <p:nvPr/>
        </p:nvSpPr>
        <p:spPr>
          <a:xfrm rot="581017">
            <a:off x="4203065" y="1904365"/>
            <a:ext cx="3895725" cy="3895725"/>
          </a:xfrm>
          <a:prstGeom prst="ellipse">
            <a:avLst/>
          </a:prstGeom>
          <a:noFill/>
          <a:ln w="19050" cap="flat" cmpd="sng" algn="ctr">
            <a:solidFill>
              <a:srgbClr val="3368FF">
                <a:alpha val="4000"/>
              </a:srgbClr>
            </a:solidFill>
            <a:prstDash val="sysDash"/>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grpSp>
        <p:nvGrpSpPr>
          <p:cNvPr id="14" name="组合 13"/>
          <p:cNvGrpSpPr/>
          <p:nvPr/>
        </p:nvGrpSpPr>
        <p:grpSpPr>
          <a:xfrm>
            <a:off x="1345565" y="1894840"/>
            <a:ext cx="2582545" cy="1267460"/>
            <a:chOff x="1270327" y="2133081"/>
            <a:chExt cx="2590232" cy="1271219"/>
          </a:xfrm>
        </p:grpSpPr>
        <p:sp>
          <p:nvSpPr>
            <p:cNvPr id="16" name="任意多边形: 形状 48"/>
            <p:cNvSpPr/>
            <p:nvPr/>
          </p:nvSpPr>
          <p:spPr>
            <a:xfrm rot="239111">
              <a:off x="1270327" y="2133081"/>
              <a:ext cx="2590232" cy="1053898"/>
            </a:xfrm>
            <a:custGeom>
              <a:avLst/>
              <a:gdLst>
                <a:gd name="connsiteX0" fmla="*/ 5090160 w 5090160"/>
                <a:gd name="connsiteY0" fmla="*/ 1554480 h 1554480"/>
                <a:gd name="connsiteX1" fmla="*/ 2811780 w 5090160"/>
                <a:gd name="connsiteY1" fmla="*/ 1089660 h 1554480"/>
                <a:gd name="connsiteX2" fmla="*/ 0 w 5090160"/>
                <a:gd name="connsiteY2" fmla="*/ 0 h 1554480"/>
              </a:gdLst>
              <a:ahLst/>
              <a:cxnLst>
                <a:cxn ang="0">
                  <a:pos x="connsiteX0" y="connsiteY0"/>
                </a:cxn>
                <a:cxn ang="0">
                  <a:pos x="connsiteX1" y="connsiteY1"/>
                </a:cxn>
                <a:cxn ang="0">
                  <a:pos x="connsiteX2" y="connsiteY2"/>
                </a:cxn>
              </a:cxnLst>
              <a:rect l="l" t="t" r="r" b="b"/>
              <a:pathLst>
                <a:path w="5090160" h="1554480">
                  <a:moveTo>
                    <a:pt x="5090160" y="1554480"/>
                  </a:moveTo>
                  <a:cubicBezTo>
                    <a:pt x="4375150" y="1451610"/>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7" name="任意多边形: 形状 49"/>
            <p:cNvSpPr/>
            <p:nvPr/>
          </p:nvSpPr>
          <p:spPr>
            <a:xfrm rot="21514572">
              <a:off x="1590347" y="2564836"/>
              <a:ext cx="2199139" cy="839464"/>
            </a:xfrm>
            <a:custGeom>
              <a:avLst/>
              <a:gdLst>
                <a:gd name="connsiteX0" fmla="*/ 5090160 w 5090160"/>
                <a:gd name="connsiteY0" fmla="*/ 1554480 h 1554480"/>
                <a:gd name="connsiteX1" fmla="*/ 2811780 w 5090160"/>
                <a:gd name="connsiteY1" fmla="*/ 1089660 h 1554480"/>
                <a:gd name="connsiteX2" fmla="*/ 0 w 5090160"/>
                <a:gd name="connsiteY2" fmla="*/ 0 h 1554480"/>
                <a:gd name="connsiteX0-1" fmla="*/ 5060039 w 5060039"/>
                <a:gd name="connsiteY0-2" fmla="*/ 1583828 h 1583828"/>
                <a:gd name="connsiteX1-3" fmla="*/ 2811780 w 5060039"/>
                <a:gd name="connsiteY1-4" fmla="*/ 1089660 h 1583828"/>
                <a:gd name="connsiteX2-5" fmla="*/ 0 w 5060039"/>
                <a:gd name="connsiteY2-6" fmla="*/ 0 h 1583828"/>
              </a:gdLst>
              <a:ahLst/>
              <a:cxnLst>
                <a:cxn ang="0">
                  <a:pos x="connsiteX0-1" y="connsiteY0-2"/>
                </a:cxn>
                <a:cxn ang="0">
                  <a:pos x="connsiteX1-3" y="connsiteY1-4"/>
                </a:cxn>
                <a:cxn ang="0">
                  <a:pos x="connsiteX2-5" y="connsiteY2-6"/>
                </a:cxn>
              </a:cxnLst>
              <a:rect l="l" t="t" r="r" b="b"/>
              <a:pathLst>
                <a:path w="5060039" h="1583828">
                  <a:moveTo>
                    <a:pt x="5060039" y="1583828"/>
                  </a:moveTo>
                  <a:cubicBezTo>
                    <a:pt x="4345029" y="1480958"/>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grpSp>
      <p:sp>
        <p:nvSpPr>
          <p:cNvPr id="20" name="任意多边形: 形状 11"/>
          <p:cNvSpPr/>
          <p:nvPr/>
        </p:nvSpPr>
        <p:spPr>
          <a:xfrm rot="21360889" flipV="1">
            <a:off x="1355725" y="4941570"/>
            <a:ext cx="2582545" cy="1050925"/>
          </a:xfrm>
          <a:custGeom>
            <a:avLst/>
            <a:gdLst>
              <a:gd name="connsiteX0" fmla="*/ 5090160 w 5090160"/>
              <a:gd name="connsiteY0" fmla="*/ 1554480 h 1554480"/>
              <a:gd name="connsiteX1" fmla="*/ 2811780 w 5090160"/>
              <a:gd name="connsiteY1" fmla="*/ 1089660 h 1554480"/>
              <a:gd name="connsiteX2" fmla="*/ 0 w 5090160"/>
              <a:gd name="connsiteY2" fmla="*/ 0 h 1554480"/>
            </a:gdLst>
            <a:ahLst/>
            <a:cxnLst>
              <a:cxn ang="0">
                <a:pos x="connsiteX0" y="connsiteY0"/>
              </a:cxn>
              <a:cxn ang="0">
                <a:pos x="connsiteX1" y="connsiteY1"/>
              </a:cxn>
              <a:cxn ang="0">
                <a:pos x="connsiteX2" y="connsiteY2"/>
              </a:cxn>
            </a:cxnLst>
            <a:rect l="l" t="t" r="r" b="b"/>
            <a:pathLst>
              <a:path w="5090160" h="1554480">
                <a:moveTo>
                  <a:pt x="5090160" y="1554480"/>
                </a:moveTo>
                <a:cubicBezTo>
                  <a:pt x="4375150" y="1451610"/>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21" name="任意多边形: 形状 12"/>
          <p:cNvSpPr/>
          <p:nvPr/>
        </p:nvSpPr>
        <p:spPr>
          <a:xfrm rot="85428" flipV="1">
            <a:off x="1675130" y="4725035"/>
            <a:ext cx="2192655" cy="836930"/>
          </a:xfrm>
          <a:custGeom>
            <a:avLst/>
            <a:gdLst>
              <a:gd name="connsiteX0" fmla="*/ 5090160 w 5090160"/>
              <a:gd name="connsiteY0" fmla="*/ 1554480 h 1554480"/>
              <a:gd name="connsiteX1" fmla="*/ 2811780 w 5090160"/>
              <a:gd name="connsiteY1" fmla="*/ 1089660 h 1554480"/>
              <a:gd name="connsiteX2" fmla="*/ 0 w 5090160"/>
              <a:gd name="connsiteY2" fmla="*/ 0 h 1554480"/>
              <a:gd name="connsiteX0-1" fmla="*/ 5060039 w 5060039"/>
              <a:gd name="connsiteY0-2" fmla="*/ 1583828 h 1583828"/>
              <a:gd name="connsiteX1-3" fmla="*/ 2811780 w 5060039"/>
              <a:gd name="connsiteY1-4" fmla="*/ 1089660 h 1583828"/>
              <a:gd name="connsiteX2-5" fmla="*/ 0 w 5060039"/>
              <a:gd name="connsiteY2-6" fmla="*/ 0 h 1583828"/>
            </a:gdLst>
            <a:ahLst/>
            <a:cxnLst>
              <a:cxn ang="0">
                <a:pos x="connsiteX0-1" y="connsiteY0-2"/>
              </a:cxn>
              <a:cxn ang="0">
                <a:pos x="connsiteX1-3" y="connsiteY1-4"/>
              </a:cxn>
              <a:cxn ang="0">
                <a:pos x="connsiteX2-5" y="connsiteY2-6"/>
              </a:cxn>
            </a:cxnLst>
            <a:rect l="l" t="t" r="r" b="b"/>
            <a:pathLst>
              <a:path w="5060039" h="1583828">
                <a:moveTo>
                  <a:pt x="5060039" y="1583828"/>
                </a:moveTo>
                <a:cubicBezTo>
                  <a:pt x="4345029" y="1480958"/>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67" name="文本框 66"/>
          <p:cNvSpPr txBox="1"/>
          <p:nvPr/>
        </p:nvSpPr>
        <p:spPr>
          <a:xfrm>
            <a:off x="5197793" y="3344228"/>
            <a:ext cx="1906270" cy="1014730"/>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sz="4000" b="1">
                <a:gradFill>
                  <a:gsLst>
                    <a:gs pos="100000">
                      <a:srgbClr val="0042FF"/>
                    </a:gs>
                    <a:gs pos="32000">
                      <a:srgbClr val="383838"/>
                    </a:gs>
                  </a:gsLst>
                  <a:path path="circle">
                    <a:fillToRect r="100000" b="100000"/>
                  </a:path>
                </a:gradFill>
                <a:solidFill>
                  <a:srgbClr val="FFFFFF"/>
                </a:solidFill>
                <a:effectLst>
                  <a:outerShdw blurRad="419100" dist="38100" dir="2700000" algn="tl">
                    <a:srgbClr val="0042FF">
                      <a:alpha val="43000"/>
                    </a:srgb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3000" b="1" i="0" u="none" strike="noStrike" kern="1200" cap="none" spc="0" normalizeH="0" baseline="0" noProof="0" dirty="0">
                <a:ln>
                  <a:noFill/>
                </a:ln>
                <a:solidFill>
                  <a:srgbClr val="FFFFFF"/>
                </a:solidFill>
                <a:effectLst>
                  <a:outerShdw blurRad="419100" dist="38100" dir="2700000" algn="tl">
                    <a:srgbClr val="0042FF">
                      <a:alpha val="43000"/>
                    </a:srgbClr>
                  </a:outerShdw>
                </a:effectLst>
                <a:uLnTx/>
                <a:uFillTx/>
                <a:latin typeface="微软雅黑"/>
                <a:ea typeface="微软雅黑"/>
                <a:cs typeface="微软雅黑"/>
                <a:sym typeface="微软雅黑"/>
              </a:rPr>
              <a:t>生意</a:t>
            </a:r>
            <a:endParaRPr kumimoji="0" lang="zh-CN" altLang="en-US" sz="3000" b="1" i="0" u="none" strike="noStrike" kern="1200" cap="none" spc="0" normalizeH="0" baseline="0" noProof="0" dirty="0">
              <a:ln>
                <a:noFill/>
              </a:ln>
              <a:solidFill>
                <a:srgbClr val="FFFFFF"/>
              </a:solidFill>
              <a:effectLst>
                <a:outerShdw blurRad="419100" dist="38100" dir="2700000" algn="tl">
                  <a:srgbClr val="0042FF">
                    <a:alpha val="43000"/>
                  </a:srgbClr>
                </a:outerShdw>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3000" b="1" i="0" u="none" strike="noStrike" kern="1200" cap="none" spc="0" normalizeH="0" baseline="0" noProof="0" dirty="0">
                <a:ln>
                  <a:noFill/>
                </a:ln>
                <a:solidFill>
                  <a:srgbClr val="FFFFFF"/>
                </a:solidFill>
                <a:effectLst>
                  <a:outerShdw blurRad="419100" dist="38100" dir="2700000" algn="tl">
                    <a:srgbClr val="0042FF">
                      <a:alpha val="43000"/>
                    </a:srgbClr>
                  </a:outerShdw>
                </a:effectLst>
                <a:uLnTx/>
                <a:uFillTx/>
                <a:latin typeface="微软雅黑"/>
                <a:ea typeface="微软雅黑"/>
                <a:cs typeface="微软雅黑"/>
                <a:sym typeface="微软雅黑"/>
              </a:rPr>
              <a:t>增长引擎</a:t>
            </a:r>
            <a:endParaRPr kumimoji="0" lang="zh-CN" altLang="en-US" sz="3000" b="1" i="0" u="none" strike="noStrike" kern="1200" cap="none" spc="0" normalizeH="0" baseline="0" noProof="0" dirty="0">
              <a:ln>
                <a:noFill/>
              </a:ln>
              <a:solidFill>
                <a:srgbClr val="FFFFFF"/>
              </a:solidFill>
              <a:effectLst>
                <a:outerShdw blurRad="419100" dist="38100" dir="2700000" algn="tl">
                  <a:srgbClr val="0042FF">
                    <a:alpha val="43000"/>
                  </a:srgbClr>
                </a:outerShdw>
              </a:effectLst>
              <a:uLnTx/>
              <a:uFillTx/>
              <a:latin typeface="微软雅黑"/>
              <a:ea typeface="微软雅黑"/>
              <a:cs typeface="微软雅黑"/>
              <a:sym typeface="微软雅黑"/>
            </a:endParaRPr>
          </a:p>
        </p:txBody>
      </p:sp>
      <p:sp>
        <p:nvSpPr>
          <p:cNvPr id="127" name="文本框 126"/>
          <p:cNvSpPr txBox="1"/>
          <p:nvPr/>
        </p:nvSpPr>
        <p:spPr>
          <a:xfrm>
            <a:off x="2430780" y="4445635"/>
            <a:ext cx="1633855" cy="260350"/>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prstClr val="white">
                    <a:alpha val="23000"/>
                  </a:prstClr>
                </a:solidFill>
                <a:effectLst>
                  <a:outerShdw blurRad="254000" algn="ctr" rotWithShape="0">
                    <a:prstClr val="black">
                      <a:alpha val="35000"/>
                    </a:prstClr>
                  </a:outerShdw>
                </a:effectLst>
                <a:uLnTx/>
                <a:uFillTx/>
                <a:latin typeface="微软雅黑"/>
                <a:ea typeface="微软雅黑"/>
                <a:cs typeface="微软雅黑"/>
                <a:sym typeface="微软雅黑"/>
              </a:rPr>
              <a:t>技能提升</a:t>
            </a:r>
            <a:endParaRPr kumimoji="0" lang="zh-CN" altLang="en-US" sz="1100" b="0" i="0" u="none" strike="noStrike" kern="1200" cap="none" spc="0" normalizeH="0" baseline="0" noProof="0" dirty="0">
              <a:ln>
                <a:noFill/>
              </a:ln>
              <a:solidFill>
                <a:prstClr val="white">
                  <a:alpha val="23000"/>
                </a:prstClr>
              </a:solidFill>
              <a:effectLst>
                <a:outerShdw blurRad="254000" algn="ctr" rotWithShape="0">
                  <a:prstClr val="black">
                    <a:alpha val="35000"/>
                  </a:prstClr>
                </a:outerShdw>
              </a:effectLst>
              <a:uLnTx/>
              <a:uFillTx/>
              <a:latin typeface="微软雅黑"/>
              <a:ea typeface="微软雅黑"/>
              <a:cs typeface="微软雅黑"/>
              <a:sym typeface="微软雅黑"/>
            </a:endParaRPr>
          </a:p>
        </p:txBody>
      </p:sp>
      <p:grpSp>
        <p:nvGrpSpPr>
          <p:cNvPr id="176" name="组合 175"/>
          <p:cNvGrpSpPr/>
          <p:nvPr/>
        </p:nvGrpSpPr>
        <p:grpSpPr>
          <a:xfrm>
            <a:off x="905510" y="3235960"/>
            <a:ext cx="3074670" cy="1336675"/>
            <a:chOff x="1426" y="5096"/>
            <a:chExt cx="4842" cy="2105"/>
          </a:xfrm>
        </p:grpSpPr>
        <p:sp>
          <p:nvSpPr>
            <p:cNvPr id="177" name="文本框 176"/>
            <p:cNvSpPr txBox="1"/>
            <p:nvPr/>
          </p:nvSpPr>
          <p:spPr>
            <a:xfrm>
              <a:off x="1426" y="5994"/>
              <a:ext cx="2365" cy="628"/>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000" b="1" i="0" u="none" strike="noStrike" kern="1200" cap="none" spc="0" normalizeH="0" baseline="0" noProof="0" dirty="0">
                  <a:ln>
                    <a:noFill/>
                  </a:ln>
                  <a:solidFill>
                    <a:srgbClr val="0042FF">
                      <a:alpha val="96000"/>
                    </a:srgbClr>
                  </a:solidFill>
                  <a:effectLst/>
                  <a:uLnTx/>
                  <a:uFillTx/>
                  <a:latin typeface="微软雅黑"/>
                  <a:ea typeface="微软雅黑"/>
                  <a:cs typeface="微软雅黑"/>
                  <a:sym typeface="微软雅黑"/>
                </a:rPr>
                <a:t>低成本动销</a:t>
              </a:r>
              <a:endParaRPr kumimoji="0" lang="zh-CN" altLang="en-US" sz="2000" b="1" i="0" u="none" strike="noStrike" kern="1200" cap="none" spc="0" normalizeH="0" baseline="0" noProof="0" dirty="0">
                <a:ln>
                  <a:noFill/>
                </a:ln>
                <a:solidFill>
                  <a:srgbClr val="0042FF">
                    <a:alpha val="96000"/>
                  </a:srgbClr>
                </a:solidFill>
                <a:effectLst/>
                <a:uLnTx/>
                <a:uFillTx/>
                <a:latin typeface="微软雅黑"/>
                <a:ea typeface="微软雅黑"/>
                <a:cs typeface="微软雅黑"/>
                <a:sym typeface="微软雅黑"/>
              </a:endParaRPr>
            </a:p>
          </p:txBody>
        </p:sp>
        <p:sp>
          <p:nvSpPr>
            <p:cNvPr id="178" name="文本框 177"/>
            <p:cNvSpPr txBox="1"/>
            <p:nvPr/>
          </p:nvSpPr>
          <p:spPr>
            <a:xfrm>
              <a:off x="3903" y="6094"/>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长客户生命周期</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79" name="文本框 178"/>
            <p:cNvSpPr txBox="1"/>
            <p:nvPr/>
          </p:nvSpPr>
          <p:spPr>
            <a:xfrm>
              <a:off x="3828" y="5096"/>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高用户影响力</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80" name="文本框 179"/>
            <p:cNvSpPr txBox="1"/>
            <p:nvPr/>
          </p:nvSpPr>
          <p:spPr>
            <a:xfrm>
              <a:off x="2818" y="5579"/>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高客户购买批次</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81" name="文本框 180"/>
            <p:cNvSpPr txBox="1"/>
            <p:nvPr/>
          </p:nvSpPr>
          <p:spPr>
            <a:xfrm>
              <a:off x="3742" y="6742"/>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围绕高消费客群</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82" name="文本框 181"/>
            <p:cNvSpPr txBox="1"/>
            <p:nvPr/>
          </p:nvSpPr>
          <p:spPr>
            <a:xfrm>
              <a:off x="1684" y="6577"/>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低获客成本</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grpSp>
      <p:grpSp>
        <p:nvGrpSpPr>
          <p:cNvPr id="183" name="组合 182"/>
          <p:cNvGrpSpPr/>
          <p:nvPr/>
        </p:nvGrpSpPr>
        <p:grpSpPr>
          <a:xfrm flipH="1">
            <a:off x="8506460" y="1815465"/>
            <a:ext cx="2582545" cy="1267460"/>
            <a:chOff x="1270327" y="2133081"/>
            <a:chExt cx="2590232" cy="1271219"/>
          </a:xfrm>
        </p:grpSpPr>
        <p:sp>
          <p:nvSpPr>
            <p:cNvPr id="184" name="任意多边形: 形状 48"/>
            <p:cNvSpPr/>
            <p:nvPr/>
          </p:nvSpPr>
          <p:spPr>
            <a:xfrm rot="239111">
              <a:off x="1270327" y="2133081"/>
              <a:ext cx="2590232" cy="1053898"/>
            </a:xfrm>
            <a:custGeom>
              <a:avLst/>
              <a:gdLst>
                <a:gd name="connsiteX0" fmla="*/ 5090160 w 5090160"/>
                <a:gd name="connsiteY0" fmla="*/ 1554480 h 1554480"/>
                <a:gd name="connsiteX1" fmla="*/ 2811780 w 5090160"/>
                <a:gd name="connsiteY1" fmla="*/ 1089660 h 1554480"/>
                <a:gd name="connsiteX2" fmla="*/ 0 w 5090160"/>
                <a:gd name="connsiteY2" fmla="*/ 0 h 1554480"/>
              </a:gdLst>
              <a:ahLst/>
              <a:cxnLst>
                <a:cxn ang="0">
                  <a:pos x="connsiteX0" y="connsiteY0"/>
                </a:cxn>
                <a:cxn ang="0">
                  <a:pos x="connsiteX1" y="connsiteY1"/>
                </a:cxn>
                <a:cxn ang="0">
                  <a:pos x="connsiteX2" y="connsiteY2"/>
                </a:cxn>
              </a:cxnLst>
              <a:rect l="l" t="t" r="r" b="b"/>
              <a:pathLst>
                <a:path w="5090160" h="1554480">
                  <a:moveTo>
                    <a:pt x="5090160" y="1554480"/>
                  </a:moveTo>
                  <a:cubicBezTo>
                    <a:pt x="4375150" y="1451610"/>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85" name="任意多边形: 形状 49"/>
            <p:cNvSpPr/>
            <p:nvPr/>
          </p:nvSpPr>
          <p:spPr>
            <a:xfrm rot="21514572">
              <a:off x="1590347" y="2564836"/>
              <a:ext cx="2199139" cy="839464"/>
            </a:xfrm>
            <a:custGeom>
              <a:avLst/>
              <a:gdLst>
                <a:gd name="connsiteX0" fmla="*/ 5090160 w 5090160"/>
                <a:gd name="connsiteY0" fmla="*/ 1554480 h 1554480"/>
                <a:gd name="connsiteX1" fmla="*/ 2811780 w 5090160"/>
                <a:gd name="connsiteY1" fmla="*/ 1089660 h 1554480"/>
                <a:gd name="connsiteX2" fmla="*/ 0 w 5090160"/>
                <a:gd name="connsiteY2" fmla="*/ 0 h 1554480"/>
                <a:gd name="connsiteX0-1" fmla="*/ 5060039 w 5060039"/>
                <a:gd name="connsiteY0-2" fmla="*/ 1583828 h 1583828"/>
                <a:gd name="connsiteX1-3" fmla="*/ 2811780 w 5060039"/>
                <a:gd name="connsiteY1-4" fmla="*/ 1089660 h 1583828"/>
                <a:gd name="connsiteX2-5" fmla="*/ 0 w 5060039"/>
                <a:gd name="connsiteY2-6" fmla="*/ 0 h 1583828"/>
              </a:gdLst>
              <a:ahLst/>
              <a:cxnLst>
                <a:cxn ang="0">
                  <a:pos x="connsiteX0-1" y="connsiteY0-2"/>
                </a:cxn>
                <a:cxn ang="0">
                  <a:pos x="connsiteX1-3" y="connsiteY1-4"/>
                </a:cxn>
                <a:cxn ang="0">
                  <a:pos x="connsiteX2-5" y="connsiteY2-6"/>
                </a:cxn>
              </a:cxnLst>
              <a:rect l="l" t="t" r="r" b="b"/>
              <a:pathLst>
                <a:path w="5060039" h="1583828">
                  <a:moveTo>
                    <a:pt x="5060039" y="1583828"/>
                  </a:moveTo>
                  <a:cubicBezTo>
                    <a:pt x="4345029" y="1480958"/>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grpSp>
      <p:sp>
        <p:nvSpPr>
          <p:cNvPr id="186" name="任意多边形: 形状 11"/>
          <p:cNvSpPr/>
          <p:nvPr/>
        </p:nvSpPr>
        <p:spPr>
          <a:xfrm rot="239110" flipH="1" flipV="1">
            <a:off x="8516620" y="4862195"/>
            <a:ext cx="2582545" cy="1050925"/>
          </a:xfrm>
          <a:custGeom>
            <a:avLst/>
            <a:gdLst>
              <a:gd name="connsiteX0" fmla="*/ 5090160 w 5090160"/>
              <a:gd name="connsiteY0" fmla="*/ 1554480 h 1554480"/>
              <a:gd name="connsiteX1" fmla="*/ 2811780 w 5090160"/>
              <a:gd name="connsiteY1" fmla="*/ 1089660 h 1554480"/>
              <a:gd name="connsiteX2" fmla="*/ 0 w 5090160"/>
              <a:gd name="connsiteY2" fmla="*/ 0 h 1554480"/>
            </a:gdLst>
            <a:ahLst/>
            <a:cxnLst>
              <a:cxn ang="0">
                <a:pos x="connsiteX0" y="connsiteY0"/>
              </a:cxn>
              <a:cxn ang="0">
                <a:pos x="connsiteX1" y="connsiteY1"/>
              </a:cxn>
              <a:cxn ang="0">
                <a:pos x="connsiteX2" y="connsiteY2"/>
              </a:cxn>
            </a:cxnLst>
            <a:rect l="l" t="t" r="r" b="b"/>
            <a:pathLst>
              <a:path w="5090160" h="1554480">
                <a:moveTo>
                  <a:pt x="5090160" y="1554480"/>
                </a:moveTo>
                <a:cubicBezTo>
                  <a:pt x="4375150" y="1451610"/>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89" name="文本框 188"/>
          <p:cNvSpPr txBox="1"/>
          <p:nvPr/>
        </p:nvSpPr>
        <p:spPr>
          <a:xfrm>
            <a:off x="9549765" y="3777615"/>
            <a:ext cx="1771015" cy="398780"/>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000" b="1" i="0" u="none" strike="noStrike" kern="1200" cap="none" spc="0" normalizeH="0" baseline="0" noProof="0" dirty="0">
                <a:ln>
                  <a:noFill/>
                </a:ln>
                <a:solidFill>
                  <a:srgbClr val="0042FF">
                    <a:alpha val="96000"/>
                  </a:srgbClr>
                </a:solidFill>
                <a:effectLst/>
                <a:uLnTx/>
                <a:uFillTx/>
                <a:latin typeface="微软雅黑"/>
                <a:ea typeface="微软雅黑"/>
                <a:cs typeface="微软雅黑"/>
                <a:sym typeface="微软雅黑"/>
              </a:rPr>
              <a:t>发展细分市场</a:t>
            </a:r>
            <a:endParaRPr kumimoji="0" lang="zh-CN" altLang="en-US" sz="2000" b="1" i="0" u="none" strike="noStrike" kern="1200" cap="none" spc="0" normalizeH="0" baseline="0" noProof="0" dirty="0">
              <a:ln>
                <a:noFill/>
              </a:ln>
              <a:solidFill>
                <a:srgbClr val="0042FF">
                  <a:alpha val="96000"/>
                </a:srgbClr>
              </a:solidFill>
              <a:effectLst/>
              <a:uLnTx/>
              <a:uFillTx/>
              <a:latin typeface="微软雅黑"/>
              <a:ea typeface="微软雅黑"/>
              <a:cs typeface="微软雅黑"/>
              <a:sym typeface="微软雅黑"/>
            </a:endParaRPr>
          </a:p>
        </p:txBody>
      </p:sp>
      <p:sp>
        <p:nvSpPr>
          <p:cNvPr id="190" name="任意多边形: 形状 12"/>
          <p:cNvSpPr/>
          <p:nvPr/>
        </p:nvSpPr>
        <p:spPr>
          <a:xfrm rot="21514572" flipH="1" flipV="1">
            <a:off x="8691245" y="4652010"/>
            <a:ext cx="2192655" cy="836930"/>
          </a:xfrm>
          <a:custGeom>
            <a:avLst/>
            <a:gdLst>
              <a:gd name="connsiteX0" fmla="*/ 5090160 w 5090160"/>
              <a:gd name="connsiteY0" fmla="*/ 1554480 h 1554480"/>
              <a:gd name="connsiteX1" fmla="*/ 2811780 w 5090160"/>
              <a:gd name="connsiteY1" fmla="*/ 1089660 h 1554480"/>
              <a:gd name="connsiteX2" fmla="*/ 0 w 5090160"/>
              <a:gd name="connsiteY2" fmla="*/ 0 h 1554480"/>
              <a:gd name="connsiteX0-1" fmla="*/ 5060039 w 5060039"/>
              <a:gd name="connsiteY0-2" fmla="*/ 1583828 h 1583828"/>
              <a:gd name="connsiteX1-3" fmla="*/ 2811780 w 5060039"/>
              <a:gd name="connsiteY1-4" fmla="*/ 1089660 h 1583828"/>
              <a:gd name="connsiteX2-5" fmla="*/ 0 w 5060039"/>
              <a:gd name="connsiteY2-6" fmla="*/ 0 h 1583828"/>
            </a:gdLst>
            <a:ahLst/>
            <a:cxnLst>
              <a:cxn ang="0">
                <a:pos x="connsiteX0-1" y="connsiteY0-2"/>
              </a:cxn>
              <a:cxn ang="0">
                <a:pos x="connsiteX1-3" y="connsiteY1-4"/>
              </a:cxn>
              <a:cxn ang="0">
                <a:pos x="connsiteX2-5" y="connsiteY2-6"/>
              </a:cxn>
            </a:cxnLst>
            <a:rect l="l" t="t" r="r" b="b"/>
            <a:pathLst>
              <a:path w="5060039" h="1583828">
                <a:moveTo>
                  <a:pt x="5060039" y="1583828"/>
                </a:moveTo>
                <a:cubicBezTo>
                  <a:pt x="4345029" y="1480958"/>
                  <a:pt x="3660140" y="1348740"/>
                  <a:pt x="2811780" y="1089660"/>
                </a:cubicBezTo>
                <a:cubicBezTo>
                  <a:pt x="1963420" y="830580"/>
                  <a:pt x="981710" y="415290"/>
                  <a:pt x="0" y="0"/>
                </a:cubicBezTo>
              </a:path>
            </a:pathLst>
          </a:custGeom>
          <a:noFill/>
          <a:ln>
            <a:gradFill>
              <a:gsLst>
                <a:gs pos="0">
                  <a:srgbClr val="B3D4FE">
                    <a:alpha val="0"/>
                  </a:srgbClr>
                </a:gs>
                <a:gs pos="74000">
                  <a:srgbClr val="B3D4FE"/>
                </a:gs>
                <a:gs pos="100000">
                  <a:srgbClr val="B3D4FE">
                    <a:alpha val="0"/>
                  </a:srgbClr>
                </a:gs>
              </a:gsLst>
              <a:lin ang="5400000" scaled="1"/>
            </a:gra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grpSp>
        <p:nvGrpSpPr>
          <p:cNvPr id="191" name="组合 190"/>
          <p:cNvGrpSpPr/>
          <p:nvPr/>
        </p:nvGrpSpPr>
        <p:grpSpPr>
          <a:xfrm>
            <a:off x="8312150" y="3189605"/>
            <a:ext cx="2983865" cy="1325880"/>
            <a:chOff x="2171" y="5066"/>
            <a:chExt cx="4699" cy="2088"/>
          </a:xfrm>
        </p:grpSpPr>
        <p:sp>
          <p:nvSpPr>
            <p:cNvPr id="193" name="文本框 192"/>
            <p:cNvSpPr txBox="1"/>
            <p:nvPr/>
          </p:nvSpPr>
          <p:spPr>
            <a:xfrm>
              <a:off x="4505" y="6498"/>
              <a:ext cx="2365" cy="483"/>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聚焦爆款产品</a:t>
              </a:r>
              <a:endParaRPr kumimoji="0" lang="zh-CN" altLang="en-US" sz="14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94" name="文本框 193"/>
            <p:cNvSpPr txBox="1"/>
            <p:nvPr/>
          </p:nvSpPr>
          <p:spPr>
            <a:xfrm>
              <a:off x="2424" y="5066"/>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集中营销火力</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95" name="文本框 194"/>
            <p:cNvSpPr txBox="1"/>
            <p:nvPr/>
          </p:nvSpPr>
          <p:spPr>
            <a:xfrm>
              <a:off x="3604" y="5574"/>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聚焦忠诚客户</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96" name="文本框 195"/>
            <p:cNvSpPr txBox="1"/>
            <p:nvPr/>
          </p:nvSpPr>
          <p:spPr>
            <a:xfrm>
              <a:off x="2171" y="6695"/>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聚焦有利市场</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sp>
          <p:nvSpPr>
            <p:cNvPr id="197" name="文本框 196"/>
            <p:cNvSpPr txBox="1"/>
            <p:nvPr/>
          </p:nvSpPr>
          <p:spPr>
            <a:xfrm>
              <a:off x="2171" y="6081"/>
              <a:ext cx="2365" cy="459"/>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defRPr>
                  <a:solidFill>
                    <a:srgbClr val="383838"/>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rPr>
                <a:t>数据分析</a:t>
              </a:r>
              <a:endParaRPr kumimoji="0" lang="zh-CN" altLang="en-US" sz="1300" i="0" u="none" strike="noStrike" kern="1200" cap="none" spc="0" normalizeH="0" baseline="0" noProof="0" dirty="0">
                <a:ln>
                  <a:noFill/>
                </a:ln>
                <a:solidFill>
                  <a:srgbClr val="383838">
                    <a:alpha val="70000"/>
                  </a:srgbClr>
                </a:solidFill>
                <a:effectLst/>
                <a:uLnTx/>
                <a:uFillTx/>
                <a:latin typeface="微软雅黑"/>
                <a:ea typeface="微软雅黑"/>
                <a:cs typeface="微软雅黑"/>
                <a:sym typeface="微软雅黑"/>
              </a:endParaRPr>
            </a:p>
          </p:txBody>
        </p:sp>
      </p:grpSp>
      <p:grpSp>
        <p:nvGrpSpPr>
          <p:cNvPr id="6" name="组合 5"/>
          <p:cNvGrpSpPr/>
          <p:nvPr/>
        </p:nvGrpSpPr>
        <p:grpSpPr>
          <a:xfrm>
            <a:off x="5783580" y="1544320"/>
            <a:ext cx="772160" cy="772160"/>
            <a:chOff x="9108" y="2432"/>
            <a:chExt cx="1216" cy="1216"/>
          </a:xfrm>
        </p:grpSpPr>
        <p:sp>
          <p:nvSpPr>
            <p:cNvPr id="15" name="PA-椭圆 36"/>
            <p:cNvSpPr/>
            <p:nvPr>
              <p:custDataLst>
                <p:tags r:id="rId3"/>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18" name="PA-椭圆 37"/>
            <p:cNvSpPr/>
            <p:nvPr>
              <p:custDataLst>
                <p:tags r:id="rId4"/>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9" name="文本框 18"/>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用户</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规模</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27" name="文本框 2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2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5" name="组合 34"/>
          <p:cNvGrpSpPr/>
          <p:nvPr/>
        </p:nvGrpSpPr>
        <p:grpSpPr>
          <a:xfrm>
            <a:off x="7048500" y="2012950"/>
            <a:ext cx="772160" cy="772160"/>
            <a:chOff x="9108" y="2432"/>
            <a:chExt cx="1216" cy="1216"/>
          </a:xfrm>
        </p:grpSpPr>
        <p:sp>
          <p:nvSpPr>
            <p:cNvPr id="36" name="PA-椭圆 36"/>
            <p:cNvSpPr/>
            <p:nvPr>
              <p:custDataLst>
                <p:tags r:id="rId6"/>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37" name="PA-椭圆 37"/>
            <p:cNvSpPr/>
            <p:nvPr>
              <p:custDataLst>
                <p:tags r:id="rId7"/>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38" name="文本框 37"/>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用户</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潜力</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43" name="组合 42"/>
          <p:cNvGrpSpPr/>
          <p:nvPr/>
        </p:nvGrpSpPr>
        <p:grpSpPr>
          <a:xfrm>
            <a:off x="7658100" y="3110230"/>
            <a:ext cx="772160" cy="772160"/>
            <a:chOff x="9108" y="2432"/>
            <a:chExt cx="1216" cy="1216"/>
          </a:xfrm>
        </p:grpSpPr>
        <p:sp>
          <p:nvSpPr>
            <p:cNvPr id="44" name="PA-椭圆 36"/>
            <p:cNvSpPr/>
            <p:nvPr>
              <p:custDataLst>
                <p:tags r:id="rId8"/>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46" name="PA-椭圆 37"/>
            <p:cNvSpPr/>
            <p:nvPr>
              <p:custDataLst>
                <p:tags r:id="rId9"/>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47" name="文本框 46"/>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产品</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SKU</a:t>
              </a:r>
              <a:endPar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53" name="组合 52"/>
          <p:cNvGrpSpPr/>
          <p:nvPr/>
        </p:nvGrpSpPr>
        <p:grpSpPr>
          <a:xfrm>
            <a:off x="7438390" y="4389755"/>
            <a:ext cx="772160" cy="772160"/>
            <a:chOff x="9108" y="2432"/>
            <a:chExt cx="1216" cy="1216"/>
          </a:xfrm>
        </p:grpSpPr>
        <p:sp>
          <p:nvSpPr>
            <p:cNvPr id="54" name="PA-椭圆 36"/>
            <p:cNvSpPr/>
            <p:nvPr>
              <p:custDataLst>
                <p:tags r:id="rId10"/>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60" name="PA-椭圆 37"/>
            <p:cNvSpPr/>
            <p:nvPr>
              <p:custDataLst>
                <p:tags r:id="rId11"/>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63" name="文本框 62"/>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营销</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活动</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70" name="组合 69"/>
          <p:cNvGrpSpPr/>
          <p:nvPr/>
        </p:nvGrpSpPr>
        <p:grpSpPr>
          <a:xfrm>
            <a:off x="6453505" y="5275580"/>
            <a:ext cx="772160" cy="772160"/>
            <a:chOff x="9108" y="2432"/>
            <a:chExt cx="1216" cy="1216"/>
          </a:xfrm>
        </p:grpSpPr>
        <p:sp>
          <p:nvSpPr>
            <p:cNvPr id="71" name="PA-椭圆 36"/>
            <p:cNvSpPr/>
            <p:nvPr>
              <p:custDataLst>
                <p:tags r:id="rId12"/>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72" name="PA-椭圆 37"/>
            <p:cNvSpPr/>
            <p:nvPr>
              <p:custDataLst>
                <p:tags r:id="rId13"/>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77" name="文本框 76"/>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促销</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购买</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86" name="组合 85"/>
          <p:cNvGrpSpPr/>
          <p:nvPr/>
        </p:nvGrpSpPr>
        <p:grpSpPr>
          <a:xfrm>
            <a:off x="5153025" y="5275580"/>
            <a:ext cx="772160" cy="772160"/>
            <a:chOff x="9108" y="2432"/>
            <a:chExt cx="1216" cy="1216"/>
          </a:xfrm>
        </p:grpSpPr>
        <p:sp>
          <p:nvSpPr>
            <p:cNvPr id="87" name="PA-椭圆 36"/>
            <p:cNvSpPr/>
            <p:nvPr>
              <p:custDataLst>
                <p:tags r:id="rId14"/>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88" name="PA-椭圆 37"/>
            <p:cNvSpPr/>
            <p:nvPr>
              <p:custDataLst>
                <p:tags r:id="rId15"/>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93" name="文本框 92"/>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会员</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入会</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102" name="组合 101"/>
          <p:cNvGrpSpPr/>
          <p:nvPr/>
        </p:nvGrpSpPr>
        <p:grpSpPr>
          <a:xfrm>
            <a:off x="4120515" y="4462145"/>
            <a:ext cx="772160" cy="772160"/>
            <a:chOff x="9108" y="2432"/>
            <a:chExt cx="1216" cy="1216"/>
          </a:xfrm>
        </p:grpSpPr>
        <p:sp>
          <p:nvSpPr>
            <p:cNvPr id="103" name="PA-椭圆 36"/>
            <p:cNvSpPr/>
            <p:nvPr>
              <p:custDataLst>
                <p:tags r:id="rId16"/>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104" name="PA-椭圆 37"/>
            <p:cNvSpPr/>
            <p:nvPr>
              <p:custDataLst>
                <p:tags r:id="rId17"/>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05" name="文本框 104"/>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客户</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互动</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110" name="组合 109"/>
          <p:cNvGrpSpPr/>
          <p:nvPr/>
        </p:nvGrpSpPr>
        <p:grpSpPr>
          <a:xfrm>
            <a:off x="3896995" y="3072130"/>
            <a:ext cx="772160" cy="772160"/>
            <a:chOff x="9108" y="2432"/>
            <a:chExt cx="1216" cy="1216"/>
          </a:xfrm>
        </p:grpSpPr>
        <p:sp>
          <p:nvSpPr>
            <p:cNvPr id="111" name="PA-椭圆 36"/>
            <p:cNvSpPr/>
            <p:nvPr>
              <p:custDataLst>
                <p:tags r:id="rId18"/>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112" name="PA-椭圆 37"/>
            <p:cNvSpPr/>
            <p:nvPr>
              <p:custDataLst>
                <p:tags r:id="rId19"/>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13" name="文本框 112"/>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引流</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能力</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nvGrpSpPr>
          <p:cNvPr id="118" name="组合 117"/>
          <p:cNvGrpSpPr/>
          <p:nvPr/>
        </p:nvGrpSpPr>
        <p:grpSpPr>
          <a:xfrm>
            <a:off x="4565015" y="1955165"/>
            <a:ext cx="772160" cy="772160"/>
            <a:chOff x="9108" y="2432"/>
            <a:chExt cx="1216" cy="1216"/>
          </a:xfrm>
        </p:grpSpPr>
        <p:sp>
          <p:nvSpPr>
            <p:cNvPr id="119" name="PA-椭圆 36"/>
            <p:cNvSpPr/>
            <p:nvPr>
              <p:custDataLst>
                <p:tags r:id="rId20"/>
              </p:custDataLst>
            </p:nvPr>
          </p:nvSpPr>
          <p:spPr>
            <a:xfrm rot="12581017">
              <a:off x="9152" y="2477"/>
              <a:ext cx="1127" cy="1127"/>
            </a:xfrm>
            <a:prstGeom prst="ellipse">
              <a:avLst/>
            </a:prstGeom>
            <a:gradFill flip="none" rotWithShape="1">
              <a:gsLst>
                <a:gs pos="0">
                  <a:srgbClr val="3368FF"/>
                </a:gs>
                <a:gs pos="10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3200">
                <a:solidFill>
                  <a:srgbClr val="FFFFFF"/>
                </a:solidFill>
                <a:latin typeface="微软雅黑"/>
                <a:ea typeface="微软雅黑"/>
                <a:cs typeface="微软雅黑"/>
                <a:sym typeface="微软雅黑"/>
              </a:endParaRPr>
            </a:p>
          </p:txBody>
        </p:sp>
        <p:sp>
          <p:nvSpPr>
            <p:cNvPr id="120" name="PA-椭圆 37"/>
            <p:cNvSpPr/>
            <p:nvPr>
              <p:custDataLst>
                <p:tags r:id="rId21"/>
              </p:custDataLst>
            </p:nvPr>
          </p:nvSpPr>
          <p:spPr>
            <a:xfrm rot="12581017">
              <a:off x="9108" y="2432"/>
              <a:ext cx="1216" cy="1216"/>
            </a:xfrm>
            <a:prstGeom prst="ellipse">
              <a:avLst/>
            </a:prstGeom>
            <a:noFill/>
            <a:ln w="6350" cap="flat" cmpd="sng" algn="ctr">
              <a:solidFill>
                <a:srgbClr val="668EFF">
                  <a:alpha val="70000"/>
                </a:srgbClr>
              </a:solid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21" name="文本框 120"/>
            <p:cNvSpPr txBox="1"/>
            <p:nvPr/>
          </p:nvSpPr>
          <p:spPr>
            <a:xfrm>
              <a:off x="9146" y="2630"/>
              <a:ext cx="1139" cy="82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effectLst>
                    <a:outerShdw blurRad="254000" algn="ctr" rotWithShape="0">
                      <a:prstClr val="black">
                        <a:alpha val="35000"/>
                      </a:prstClr>
                    </a:outerShdw>
                  </a:effectLst>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用户</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质量</a:t>
              </a:r>
              <a:endParaRPr kumimoji="0" 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领域驱动设计模型</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174" name="矩形: 圆角 1173"/>
          <p:cNvSpPr/>
          <p:nvPr>
            <p:custDataLst>
              <p:tags r:id="rId3"/>
            </p:custDataLst>
          </p:nvPr>
        </p:nvSpPr>
        <p:spPr>
          <a:xfrm>
            <a:off x="1755652" y="6112170"/>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76" name="矩形: 圆角 1175"/>
          <p:cNvSpPr/>
          <p:nvPr>
            <p:custDataLst>
              <p:tags r:id="rId4"/>
            </p:custDataLst>
          </p:nvPr>
        </p:nvSpPr>
        <p:spPr>
          <a:xfrm>
            <a:off x="2764620" y="6112170"/>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97" name="矩形: 圆角 1196"/>
          <p:cNvSpPr/>
          <p:nvPr>
            <p:custDataLst>
              <p:tags r:id="rId5"/>
            </p:custDataLst>
          </p:nvPr>
        </p:nvSpPr>
        <p:spPr>
          <a:xfrm>
            <a:off x="3738116" y="6112170"/>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25" name="矩形: 圆角 1024"/>
          <p:cNvSpPr/>
          <p:nvPr>
            <p:custDataLst>
              <p:tags r:id="rId6"/>
            </p:custDataLst>
          </p:nvPr>
        </p:nvSpPr>
        <p:spPr>
          <a:xfrm>
            <a:off x="4623181" y="6112170"/>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28" name="矩形: 圆角 1027"/>
          <p:cNvSpPr/>
          <p:nvPr>
            <p:custDataLst>
              <p:tags r:id="rId7"/>
            </p:custDataLst>
          </p:nvPr>
        </p:nvSpPr>
        <p:spPr>
          <a:xfrm>
            <a:off x="5632149" y="6112170"/>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30" name="矩形: 圆角 1029"/>
          <p:cNvSpPr/>
          <p:nvPr>
            <p:custDataLst>
              <p:tags r:id="rId8"/>
            </p:custDataLst>
          </p:nvPr>
        </p:nvSpPr>
        <p:spPr>
          <a:xfrm>
            <a:off x="6605645" y="6112170"/>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40" name="矩形: 圆角 1039"/>
          <p:cNvSpPr/>
          <p:nvPr>
            <p:custDataLst>
              <p:tags r:id="rId9"/>
            </p:custDataLst>
          </p:nvPr>
        </p:nvSpPr>
        <p:spPr>
          <a:xfrm>
            <a:off x="7631428" y="6112170"/>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42" name="矩形: 圆角 1041"/>
          <p:cNvSpPr/>
          <p:nvPr>
            <p:custDataLst>
              <p:tags r:id="rId10"/>
            </p:custDataLst>
          </p:nvPr>
        </p:nvSpPr>
        <p:spPr>
          <a:xfrm>
            <a:off x="8640396" y="6105563"/>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44" name="矩形: 圆角 1043"/>
          <p:cNvSpPr/>
          <p:nvPr>
            <p:custDataLst>
              <p:tags r:id="rId11"/>
            </p:custDataLst>
          </p:nvPr>
        </p:nvSpPr>
        <p:spPr>
          <a:xfrm>
            <a:off x="9613892" y="6105563"/>
            <a:ext cx="804950" cy="2559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61" name="矩形: 圆角 1160"/>
          <p:cNvSpPr/>
          <p:nvPr/>
        </p:nvSpPr>
        <p:spPr>
          <a:xfrm>
            <a:off x="2506605" y="5224184"/>
            <a:ext cx="1441638" cy="3507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80" name="Oval 8+"/>
          <p:cNvSpPr/>
          <p:nvPr/>
        </p:nvSpPr>
        <p:spPr>
          <a:xfrm>
            <a:off x="3541500" y="1126880"/>
            <a:ext cx="5067790" cy="5067790"/>
          </a:xfrm>
          <a:prstGeom prst="arc">
            <a:avLst>
              <a:gd name="adj1" fmla="val 11048810"/>
              <a:gd name="adj2" fmla="val 0"/>
            </a:avLst>
          </a:prstGeom>
          <a:noFill/>
          <a:ln w="13716">
            <a:solidFill>
              <a:srgbClr val="DCDCDC"/>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81" name="弧形 380"/>
          <p:cNvSpPr/>
          <p:nvPr/>
        </p:nvSpPr>
        <p:spPr>
          <a:xfrm>
            <a:off x="3977985" y="1563365"/>
            <a:ext cx="4194820" cy="4194820"/>
          </a:xfrm>
          <a:prstGeom prst="arc">
            <a:avLst>
              <a:gd name="adj1" fmla="val 10520692"/>
              <a:gd name="adj2" fmla="val 0"/>
            </a:avLst>
          </a:prstGeom>
          <a:solidFill>
            <a:srgbClr val="E6E6E6">
              <a:alpha val="20000"/>
            </a:srgbClr>
          </a:solidFill>
          <a:ln w="13716">
            <a:solidFill>
              <a:srgbClr val="DCDCDC"/>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82" name="弧形 381"/>
          <p:cNvSpPr/>
          <p:nvPr/>
        </p:nvSpPr>
        <p:spPr>
          <a:xfrm>
            <a:off x="4545805" y="2131185"/>
            <a:ext cx="3059180" cy="3059180"/>
          </a:xfrm>
          <a:prstGeom prst="arc">
            <a:avLst>
              <a:gd name="adj1" fmla="val 10706039"/>
              <a:gd name="adj2" fmla="val 0"/>
            </a:avLst>
          </a:prstGeom>
          <a:solidFill>
            <a:srgbClr val="FFFFFF"/>
          </a:solidFill>
          <a:ln w="13716">
            <a:solidFill>
              <a:srgbClr val="DCDCDC"/>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83" name="不完整圆 54"/>
          <p:cNvSpPr/>
          <p:nvPr>
            <p:custDataLst>
              <p:tags r:id="rId12"/>
            </p:custDataLst>
          </p:nvPr>
        </p:nvSpPr>
        <p:spPr>
          <a:xfrm flipH="1">
            <a:off x="1918225" y="-570437"/>
            <a:ext cx="8340790" cy="8340790"/>
          </a:xfrm>
          <a:prstGeom prst="pie">
            <a:avLst>
              <a:gd name="adj1" fmla="val 9465216"/>
              <a:gd name="adj2" fmla="val 12114446"/>
            </a:avLst>
          </a:prstGeom>
          <a:gradFill>
            <a:gsLst>
              <a:gs pos="100000">
                <a:srgbClr val="E6E6E6">
                  <a:alpha val="20000"/>
                </a:srgbClr>
              </a:gs>
              <a:gs pos="0">
                <a:srgbClr val="E6E6E6">
                  <a:alpha val="70000"/>
                </a:srgbClr>
              </a:gs>
            </a:gsLst>
            <a:lin ang="0" scaled="1"/>
          </a:gradFill>
          <a:ln w="13716">
            <a:gradFill flip="none" rotWithShape="1">
              <a:gsLst>
                <a:gs pos="100000">
                  <a:srgbClr val="3368FF">
                    <a:alpha val="0"/>
                  </a:srgbClr>
                </a:gs>
                <a:gs pos="31000">
                  <a:srgbClr val="3368FF"/>
                </a:gs>
              </a:gsLst>
              <a:lin ang="0" scaled="1"/>
              <a:tileRect/>
            </a:gra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84" name="不完整圆 30"/>
          <p:cNvSpPr/>
          <p:nvPr>
            <p:custDataLst>
              <p:tags r:id="rId13"/>
            </p:custDataLst>
          </p:nvPr>
        </p:nvSpPr>
        <p:spPr>
          <a:xfrm>
            <a:off x="1905000" y="-570437"/>
            <a:ext cx="8340790" cy="8340790"/>
          </a:xfrm>
          <a:prstGeom prst="pie">
            <a:avLst>
              <a:gd name="adj1" fmla="val 9465216"/>
              <a:gd name="adj2" fmla="val 12114446"/>
            </a:avLst>
          </a:prstGeom>
          <a:gradFill>
            <a:gsLst>
              <a:gs pos="100000">
                <a:srgbClr val="E6E6E6">
                  <a:alpha val="20000"/>
                </a:srgbClr>
              </a:gs>
              <a:gs pos="0">
                <a:srgbClr val="E6E6E6">
                  <a:alpha val="70000"/>
                </a:srgbClr>
              </a:gs>
            </a:gsLst>
            <a:lin ang="0" scaled="1"/>
          </a:gradFill>
          <a:ln w="13716">
            <a:gradFill flip="none" rotWithShape="1">
              <a:gsLst>
                <a:gs pos="100000">
                  <a:srgbClr val="3368FF">
                    <a:alpha val="0"/>
                  </a:srgbClr>
                </a:gs>
                <a:gs pos="31000">
                  <a:srgbClr val="3368FF"/>
                </a:gs>
              </a:gsLst>
              <a:lin ang="0" scaled="1"/>
              <a:tileRect/>
            </a:gra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85" name="椭圆 384"/>
          <p:cNvSpPr/>
          <p:nvPr/>
        </p:nvSpPr>
        <p:spPr>
          <a:xfrm>
            <a:off x="5107033" y="2765146"/>
            <a:ext cx="1906814" cy="1906814"/>
          </a:xfrm>
          <a:prstGeom prst="ellipse">
            <a:avLst/>
          </a:prstGeom>
          <a:gradFill flip="none" rotWithShape="1">
            <a:gsLst>
              <a:gs pos="10000">
                <a:srgbClr val="3368FF"/>
              </a:gs>
              <a:gs pos="100000">
                <a:srgbClr val="B3D4FE"/>
              </a:gs>
            </a:gsLst>
            <a:path path="circle">
              <a:fillToRect l="100000" t="100000"/>
            </a:path>
            <a:tileRect r="-100000" b="-100000"/>
          </a:gradFill>
          <a:ln w="38100">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386" name="空心弧 385"/>
          <p:cNvSpPr/>
          <p:nvPr/>
        </p:nvSpPr>
        <p:spPr>
          <a:xfrm rot="16200000">
            <a:off x="2269537" y="-119839"/>
            <a:ext cx="7622358" cy="7622358"/>
          </a:xfrm>
          <a:prstGeom prst="blockArc">
            <a:avLst>
              <a:gd name="adj1" fmla="val 15415805"/>
              <a:gd name="adj2" fmla="val 16978444"/>
              <a:gd name="adj3" fmla="val 9668"/>
            </a:avLst>
          </a:prstGeom>
          <a:gradFill flip="none" rotWithShape="1">
            <a:gsLst>
              <a:gs pos="0">
                <a:srgbClr val="0042FF"/>
              </a:gs>
              <a:gs pos="100000">
                <a:srgbClr val="3368FF"/>
              </a:gs>
            </a:gsLst>
            <a:lin ang="27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cxnSp>
        <p:nvCxnSpPr>
          <p:cNvPr id="1147" name="直接连接符 1146"/>
          <p:cNvCxnSpPr>
            <a:stCxn id="449" idx="3"/>
          </p:cNvCxnSpPr>
          <p:nvPr/>
        </p:nvCxnSpPr>
        <p:spPr>
          <a:xfrm>
            <a:off x="1529650" y="2168227"/>
            <a:ext cx="623570" cy="381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sp>
        <p:nvSpPr>
          <p:cNvPr id="449" name="矩形: 圆角 448"/>
          <p:cNvSpPr/>
          <p:nvPr>
            <p:custDataLst>
              <p:tags r:id="rId14"/>
            </p:custDataLst>
          </p:nvPr>
        </p:nvSpPr>
        <p:spPr>
          <a:xfrm>
            <a:off x="724668" y="2040370"/>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50" name="矩形: 圆角 449"/>
          <p:cNvSpPr/>
          <p:nvPr>
            <p:custDataLst>
              <p:tags r:id="rId15"/>
            </p:custDataLst>
          </p:nvPr>
        </p:nvSpPr>
        <p:spPr>
          <a:xfrm>
            <a:off x="724668" y="2519540"/>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51" name="矩形: 圆角 450"/>
          <p:cNvSpPr/>
          <p:nvPr>
            <p:custDataLst>
              <p:tags r:id="rId16"/>
            </p:custDataLst>
          </p:nvPr>
        </p:nvSpPr>
        <p:spPr>
          <a:xfrm>
            <a:off x="724668" y="3004009"/>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52" name="矩形: 圆角 451"/>
          <p:cNvSpPr/>
          <p:nvPr>
            <p:custDataLst>
              <p:tags r:id="rId17"/>
            </p:custDataLst>
          </p:nvPr>
        </p:nvSpPr>
        <p:spPr>
          <a:xfrm>
            <a:off x="724668" y="3464727"/>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53" name="矩形: 圆角 452"/>
          <p:cNvSpPr/>
          <p:nvPr>
            <p:custDataLst>
              <p:tags r:id="rId18"/>
            </p:custDataLst>
          </p:nvPr>
        </p:nvSpPr>
        <p:spPr>
          <a:xfrm>
            <a:off x="724668" y="3959262"/>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54" name="矩形: 圆角 453"/>
          <p:cNvSpPr/>
          <p:nvPr>
            <p:custDataLst>
              <p:tags r:id="rId19"/>
            </p:custDataLst>
          </p:nvPr>
        </p:nvSpPr>
        <p:spPr>
          <a:xfrm>
            <a:off x="724668" y="4443731"/>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55" name="矩形: 圆角 454"/>
          <p:cNvSpPr/>
          <p:nvPr>
            <p:custDataLst>
              <p:tags r:id="rId20"/>
            </p:custDataLst>
          </p:nvPr>
        </p:nvSpPr>
        <p:spPr>
          <a:xfrm>
            <a:off x="724668" y="4904448"/>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cxnSp>
        <p:nvCxnSpPr>
          <p:cNvPr id="456" name="直接连接符 455"/>
          <p:cNvCxnSpPr>
            <a:stCxn id="455" idx="3"/>
          </p:cNvCxnSpPr>
          <p:nvPr/>
        </p:nvCxnSpPr>
        <p:spPr>
          <a:xfrm flipV="1">
            <a:off x="1529715" y="5026678"/>
            <a:ext cx="623570" cy="5715"/>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57" name="直接连接符 456"/>
          <p:cNvCxnSpPr/>
          <p:nvPr/>
        </p:nvCxnSpPr>
        <p:spPr>
          <a:xfrm>
            <a:off x="1515329" y="2660796"/>
            <a:ext cx="505301"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58" name="直接连接符 457"/>
          <p:cNvCxnSpPr/>
          <p:nvPr/>
        </p:nvCxnSpPr>
        <p:spPr>
          <a:xfrm>
            <a:off x="1529617" y="3135424"/>
            <a:ext cx="392144" cy="0"/>
          </a:xfrm>
          <a:prstGeom prst="line">
            <a:avLst/>
          </a:prstGeom>
          <a:solidFill>
            <a:srgbClr val="3368FF"/>
          </a:solidFill>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59" name="直接连接符 458"/>
          <p:cNvCxnSpPr/>
          <p:nvPr/>
        </p:nvCxnSpPr>
        <p:spPr>
          <a:xfrm>
            <a:off x="1529617" y="4095173"/>
            <a:ext cx="392144" cy="0"/>
          </a:xfrm>
          <a:prstGeom prst="line">
            <a:avLst/>
          </a:prstGeom>
          <a:solidFill>
            <a:srgbClr val="3368FF"/>
          </a:solidFill>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60" name="直接连接符 459"/>
          <p:cNvCxnSpPr/>
          <p:nvPr/>
        </p:nvCxnSpPr>
        <p:spPr>
          <a:xfrm>
            <a:off x="1529618" y="3593191"/>
            <a:ext cx="353187" cy="596"/>
          </a:xfrm>
          <a:prstGeom prst="line">
            <a:avLst/>
          </a:prstGeom>
          <a:solidFill>
            <a:srgbClr val="3368FF"/>
          </a:solidFill>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61" name="直接连接符 460"/>
          <p:cNvCxnSpPr/>
          <p:nvPr/>
        </p:nvCxnSpPr>
        <p:spPr>
          <a:xfrm>
            <a:off x="1515329" y="4569415"/>
            <a:ext cx="505301"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sp>
        <p:nvSpPr>
          <p:cNvPr id="466" name="文本框 465"/>
          <p:cNvSpPr txBox="1"/>
          <p:nvPr/>
        </p:nvSpPr>
        <p:spPr>
          <a:xfrm>
            <a:off x="2216180" y="3345681"/>
            <a:ext cx="808388" cy="58477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智慧</a:t>
            </a:r>
            <a:endParaRPr lang="en-US" altLang="zh-CN" sz="16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商城</a:t>
            </a:r>
            <a:endParaRPr lang="zh-CN" altLang="en-US" sz="1600" dirty="0">
              <a:solidFill>
                <a:srgbClr val="FFFFFF"/>
              </a:solidFill>
              <a:latin typeface="微软雅黑"/>
              <a:ea typeface="微软雅黑"/>
              <a:cs typeface="微软雅黑"/>
            </a:endParaRPr>
          </a:p>
        </p:txBody>
      </p:sp>
      <p:sp>
        <p:nvSpPr>
          <p:cNvPr id="473" name="空心弧 472"/>
          <p:cNvSpPr/>
          <p:nvPr/>
        </p:nvSpPr>
        <p:spPr>
          <a:xfrm rot="5400000" flipH="1">
            <a:off x="2249926" y="-119839"/>
            <a:ext cx="7622358" cy="7622358"/>
          </a:xfrm>
          <a:prstGeom prst="blockArc">
            <a:avLst>
              <a:gd name="adj1" fmla="val 15415805"/>
              <a:gd name="adj2" fmla="val 16978444"/>
              <a:gd name="adj3" fmla="val 9668"/>
            </a:avLst>
          </a:prstGeom>
          <a:gradFill flip="none" rotWithShape="1">
            <a:gsLst>
              <a:gs pos="0">
                <a:srgbClr val="0042FF"/>
              </a:gs>
              <a:gs pos="100000">
                <a:srgbClr val="3368FF"/>
              </a:gs>
            </a:gsLst>
            <a:lin ang="27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cxnSp>
        <p:nvCxnSpPr>
          <p:cNvPr id="395" name="直接连接符 394"/>
          <p:cNvCxnSpPr>
            <a:stCxn id="396" idx="3"/>
          </p:cNvCxnSpPr>
          <p:nvPr/>
        </p:nvCxnSpPr>
        <p:spPr>
          <a:xfrm flipH="1">
            <a:off x="9988601" y="2168227"/>
            <a:ext cx="623570" cy="3810"/>
          </a:xfrm>
          <a:prstGeom prst="line">
            <a:avLst/>
          </a:prstGeom>
          <a:ln w="6858">
            <a:solidFill>
              <a:srgbClr val="668EFF"/>
            </a:solidFill>
            <a:tailEnd type="oval" w="sm" len="sm"/>
          </a:ln>
          <a:effectLst/>
        </p:spPr>
        <p:style>
          <a:lnRef idx="1">
            <a:srgbClr val="0042FF"/>
          </a:lnRef>
          <a:fillRef idx="0">
            <a:srgbClr val="0042FF"/>
          </a:fillRef>
          <a:effectRef idx="0">
            <a:srgbClr val="0042FF"/>
          </a:effectRef>
          <a:fontRef idx="minor">
            <a:srgbClr val="383838"/>
          </a:fontRef>
        </p:style>
      </p:cxnSp>
      <p:sp>
        <p:nvSpPr>
          <p:cNvPr id="396" name="矩形: 圆角 35"/>
          <p:cNvSpPr/>
          <p:nvPr>
            <p:custDataLst>
              <p:tags r:id="rId21"/>
            </p:custDataLst>
          </p:nvPr>
        </p:nvSpPr>
        <p:spPr>
          <a:xfrm flipH="1">
            <a:off x="10612203" y="2040370"/>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397" name="矩形: 圆角 36"/>
          <p:cNvSpPr/>
          <p:nvPr>
            <p:custDataLst>
              <p:tags r:id="rId22"/>
            </p:custDataLst>
          </p:nvPr>
        </p:nvSpPr>
        <p:spPr>
          <a:xfrm flipH="1">
            <a:off x="10612203" y="2519540"/>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98" name="矩形: 圆角 37"/>
          <p:cNvSpPr/>
          <p:nvPr>
            <p:custDataLst>
              <p:tags r:id="rId23"/>
            </p:custDataLst>
          </p:nvPr>
        </p:nvSpPr>
        <p:spPr>
          <a:xfrm flipH="1">
            <a:off x="10612203" y="3004009"/>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99" name="矩形: 圆角 38"/>
          <p:cNvSpPr/>
          <p:nvPr>
            <p:custDataLst>
              <p:tags r:id="rId24"/>
            </p:custDataLst>
          </p:nvPr>
        </p:nvSpPr>
        <p:spPr>
          <a:xfrm flipH="1">
            <a:off x="10612203" y="3464727"/>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00" name="矩形: 圆角 39"/>
          <p:cNvSpPr/>
          <p:nvPr>
            <p:custDataLst>
              <p:tags r:id="rId25"/>
            </p:custDataLst>
          </p:nvPr>
        </p:nvSpPr>
        <p:spPr>
          <a:xfrm flipH="1">
            <a:off x="10612203" y="3959262"/>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01" name="矩形: 圆角 40"/>
          <p:cNvSpPr/>
          <p:nvPr>
            <p:custDataLst>
              <p:tags r:id="rId26"/>
            </p:custDataLst>
          </p:nvPr>
        </p:nvSpPr>
        <p:spPr>
          <a:xfrm flipH="1">
            <a:off x="10612203" y="4443731"/>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02" name="矩形: 圆角 41"/>
          <p:cNvSpPr/>
          <p:nvPr>
            <p:custDataLst>
              <p:tags r:id="rId27"/>
            </p:custDataLst>
          </p:nvPr>
        </p:nvSpPr>
        <p:spPr>
          <a:xfrm flipH="1">
            <a:off x="10612203" y="4904448"/>
            <a:ext cx="804950" cy="255988"/>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cxnSp>
        <p:nvCxnSpPr>
          <p:cNvPr id="403" name="直接连接符 402"/>
          <p:cNvCxnSpPr/>
          <p:nvPr/>
        </p:nvCxnSpPr>
        <p:spPr>
          <a:xfrm flipH="1">
            <a:off x="9988445" y="5026678"/>
            <a:ext cx="581751" cy="0"/>
          </a:xfrm>
          <a:prstGeom prst="line">
            <a:avLst/>
          </a:prstGeom>
          <a:ln w="6858">
            <a:solidFill>
              <a:srgbClr val="668E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04" name="直接连接符 403"/>
          <p:cNvCxnSpPr/>
          <p:nvPr/>
        </p:nvCxnSpPr>
        <p:spPr>
          <a:xfrm flipH="1">
            <a:off x="10121191" y="2660796"/>
            <a:ext cx="505301" cy="0"/>
          </a:xfrm>
          <a:prstGeom prst="line">
            <a:avLst/>
          </a:prstGeom>
          <a:ln w="6858">
            <a:solidFill>
              <a:srgbClr val="668E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05" name="直接连接符 404"/>
          <p:cNvCxnSpPr/>
          <p:nvPr/>
        </p:nvCxnSpPr>
        <p:spPr>
          <a:xfrm flipH="1">
            <a:off x="10220060" y="3135424"/>
            <a:ext cx="392144" cy="0"/>
          </a:xfrm>
          <a:prstGeom prst="line">
            <a:avLst/>
          </a:prstGeom>
          <a:ln w="6858">
            <a:solidFill>
              <a:srgbClr val="668E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06" name="直接连接符 405"/>
          <p:cNvCxnSpPr/>
          <p:nvPr/>
        </p:nvCxnSpPr>
        <p:spPr>
          <a:xfrm flipH="1">
            <a:off x="10220060" y="4095173"/>
            <a:ext cx="392144" cy="0"/>
          </a:xfrm>
          <a:prstGeom prst="line">
            <a:avLst/>
          </a:prstGeom>
          <a:ln w="6858">
            <a:solidFill>
              <a:srgbClr val="668E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07" name="直接连接符 406"/>
          <p:cNvCxnSpPr/>
          <p:nvPr/>
        </p:nvCxnSpPr>
        <p:spPr>
          <a:xfrm flipH="1">
            <a:off x="10259016" y="3593191"/>
            <a:ext cx="353187" cy="596"/>
          </a:xfrm>
          <a:prstGeom prst="line">
            <a:avLst/>
          </a:prstGeom>
          <a:ln w="6858">
            <a:solidFill>
              <a:srgbClr val="668E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408" name="直接连接符 407"/>
          <p:cNvCxnSpPr/>
          <p:nvPr/>
        </p:nvCxnSpPr>
        <p:spPr>
          <a:xfrm flipH="1">
            <a:off x="10121191" y="4569415"/>
            <a:ext cx="505301" cy="0"/>
          </a:xfrm>
          <a:prstGeom prst="line">
            <a:avLst/>
          </a:prstGeom>
          <a:ln w="6858">
            <a:solidFill>
              <a:srgbClr val="668EFF"/>
            </a:solidFill>
            <a:tailEnd type="oval" w="sm" len="sm"/>
          </a:ln>
          <a:effectLst/>
        </p:spPr>
        <p:style>
          <a:lnRef idx="1">
            <a:srgbClr val="0042FF"/>
          </a:lnRef>
          <a:fillRef idx="0">
            <a:srgbClr val="0042FF"/>
          </a:fillRef>
          <a:effectRef idx="0">
            <a:srgbClr val="0042FF"/>
          </a:effectRef>
          <a:fontRef idx="minor">
            <a:srgbClr val="383838"/>
          </a:fontRef>
        </p:style>
      </p:cxnSp>
      <p:sp>
        <p:nvSpPr>
          <p:cNvPr id="409" name="文本框 408"/>
          <p:cNvSpPr txBox="1"/>
          <p:nvPr/>
        </p:nvSpPr>
        <p:spPr>
          <a:xfrm flipH="1">
            <a:off x="9117253" y="3345681"/>
            <a:ext cx="808388" cy="58477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智慧</a:t>
            </a:r>
            <a:endParaRPr lang="en-US" altLang="zh-CN" sz="16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600" dirty="0">
                <a:solidFill>
                  <a:srgbClr val="FFFFFF"/>
                </a:solidFill>
                <a:latin typeface="微软雅黑"/>
                <a:ea typeface="微软雅黑"/>
                <a:cs typeface="微软雅黑"/>
              </a:rPr>
              <a:t>办公</a:t>
            </a:r>
            <a:endParaRPr lang="zh-CN" altLang="en-US" sz="1600" dirty="0">
              <a:solidFill>
                <a:srgbClr val="FFFFFF"/>
              </a:solidFill>
              <a:latin typeface="微软雅黑"/>
              <a:ea typeface="微软雅黑"/>
              <a:cs typeface="微软雅黑"/>
            </a:endParaRPr>
          </a:p>
        </p:txBody>
      </p:sp>
      <p:sp>
        <p:nvSpPr>
          <p:cNvPr id="412" name="文本框 411"/>
          <p:cNvSpPr txBox="1"/>
          <p:nvPr/>
        </p:nvSpPr>
        <p:spPr>
          <a:xfrm>
            <a:off x="5838915" y="2335517"/>
            <a:ext cx="441146"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实体</a:t>
            </a:r>
            <a:endParaRPr lang="zh-CN" altLang="en-US" sz="1000" dirty="0">
              <a:solidFill>
                <a:srgbClr val="383838"/>
              </a:solidFill>
              <a:latin typeface="微软雅黑"/>
              <a:ea typeface="微软雅黑"/>
              <a:cs typeface="微软雅黑"/>
            </a:endParaRPr>
          </a:p>
        </p:txBody>
      </p:sp>
      <p:sp>
        <p:nvSpPr>
          <p:cNvPr id="413" name="文本框 412"/>
          <p:cNvSpPr txBox="1"/>
          <p:nvPr/>
        </p:nvSpPr>
        <p:spPr>
          <a:xfrm>
            <a:off x="5832503" y="1749372"/>
            <a:ext cx="453970" cy="253916"/>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聚合</a:t>
            </a:r>
            <a:endParaRPr lang="zh-CN" altLang="en-US" sz="1000" dirty="0">
              <a:solidFill>
                <a:srgbClr val="383838"/>
              </a:solidFill>
              <a:latin typeface="微软雅黑"/>
              <a:ea typeface="微软雅黑"/>
              <a:cs typeface="微软雅黑"/>
            </a:endParaRPr>
          </a:p>
        </p:txBody>
      </p:sp>
      <p:sp>
        <p:nvSpPr>
          <p:cNvPr id="414" name="文本框 413"/>
          <p:cNvSpPr txBox="1"/>
          <p:nvPr/>
        </p:nvSpPr>
        <p:spPr>
          <a:xfrm>
            <a:off x="5838916" y="1241952"/>
            <a:ext cx="441146"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领域</a:t>
            </a:r>
            <a:endParaRPr lang="zh-CN" altLang="en-US" sz="1000" dirty="0">
              <a:solidFill>
                <a:srgbClr val="383838"/>
              </a:solidFill>
              <a:latin typeface="微软雅黑"/>
              <a:ea typeface="微软雅黑"/>
              <a:cs typeface="微软雅黑"/>
            </a:endParaRPr>
          </a:p>
        </p:txBody>
      </p:sp>
      <p:cxnSp>
        <p:nvCxnSpPr>
          <p:cNvPr id="483" name="直接连接符 482"/>
          <p:cNvCxnSpPr/>
          <p:nvPr/>
        </p:nvCxnSpPr>
        <p:spPr>
          <a:xfrm>
            <a:off x="4979933" y="1379279"/>
            <a:ext cx="811252" cy="1434113"/>
          </a:xfrm>
          <a:prstGeom prst="line">
            <a:avLst/>
          </a:prstGeom>
          <a:ln>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486" name="直接连接符 485"/>
          <p:cNvCxnSpPr/>
          <p:nvPr/>
        </p:nvCxnSpPr>
        <p:spPr>
          <a:xfrm flipH="1">
            <a:off x="6362048" y="1368677"/>
            <a:ext cx="801680" cy="1444715"/>
          </a:xfrm>
          <a:prstGeom prst="line">
            <a:avLst/>
          </a:prstGeom>
          <a:ln>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489" name="文本框 488"/>
          <p:cNvSpPr txBox="1"/>
          <p:nvPr/>
        </p:nvSpPr>
        <p:spPr>
          <a:xfrm>
            <a:off x="4116052" y="1846262"/>
            <a:ext cx="697627"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应用服务</a:t>
            </a:r>
            <a:endParaRPr lang="zh-CN" altLang="en-US" sz="1000" dirty="0">
              <a:solidFill>
                <a:srgbClr val="383838"/>
              </a:solidFill>
              <a:latin typeface="微软雅黑"/>
              <a:ea typeface="微软雅黑"/>
              <a:cs typeface="微软雅黑"/>
            </a:endParaRPr>
          </a:p>
        </p:txBody>
      </p:sp>
      <p:sp>
        <p:nvSpPr>
          <p:cNvPr id="496" name="文本框 495"/>
          <p:cNvSpPr txBox="1"/>
          <p:nvPr/>
        </p:nvSpPr>
        <p:spPr>
          <a:xfrm>
            <a:off x="4496793" y="2207024"/>
            <a:ext cx="697627"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领域服务</a:t>
            </a:r>
            <a:endParaRPr lang="zh-CN" altLang="en-US" sz="1000" dirty="0">
              <a:solidFill>
                <a:srgbClr val="383838"/>
              </a:solidFill>
              <a:latin typeface="微软雅黑"/>
              <a:ea typeface="微软雅黑"/>
              <a:cs typeface="微软雅黑"/>
            </a:endParaRPr>
          </a:p>
        </p:txBody>
      </p:sp>
      <p:sp>
        <p:nvSpPr>
          <p:cNvPr id="497" name="文本框 496"/>
          <p:cNvSpPr txBox="1"/>
          <p:nvPr/>
        </p:nvSpPr>
        <p:spPr>
          <a:xfrm>
            <a:off x="4978448" y="2591517"/>
            <a:ext cx="569387"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实体类</a:t>
            </a:r>
            <a:endParaRPr lang="zh-CN" altLang="en-US" sz="1000" dirty="0">
              <a:solidFill>
                <a:srgbClr val="383838"/>
              </a:solidFill>
              <a:latin typeface="微软雅黑"/>
              <a:ea typeface="微软雅黑"/>
              <a:cs typeface="微软雅黑"/>
            </a:endParaRPr>
          </a:p>
        </p:txBody>
      </p:sp>
      <p:sp>
        <p:nvSpPr>
          <p:cNvPr id="498" name="文本框 497"/>
          <p:cNvSpPr txBox="1"/>
          <p:nvPr/>
        </p:nvSpPr>
        <p:spPr>
          <a:xfrm>
            <a:off x="7325870" y="1846262"/>
            <a:ext cx="697627"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通用语言</a:t>
            </a:r>
            <a:endParaRPr lang="zh-CN" altLang="en-US" sz="1000" dirty="0">
              <a:solidFill>
                <a:srgbClr val="383838"/>
              </a:solidFill>
              <a:latin typeface="微软雅黑"/>
              <a:ea typeface="微软雅黑"/>
              <a:cs typeface="微软雅黑"/>
            </a:endParaRPr>
          </a:p>
        </p:txBody>
      </p:sp>
      <p:sp>
        <p:nvSpPr>
          <p:cNvPr id="499" name="文本框 498"/>
          <p:cNvSpPr txBox="1"/>
          <p:nvPr/>
        </p:nvSpPr>
        <p:spPr>
          <a:xfrm>
            <a:off x="7069460" y="2207024"/>
            <a:ext cx="441146"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仓储</a:t>
            </a:r>
            <a:endParaRPr lang="zh-CN" altLang="en-US" sz="1000" dirty="0">
              <a:solidFill>
                <a:srgbClr val="383838"/>
              </a:solidFill>
              <a:latin typeface="微软雅黑"/>
              <a:ea typeface="微软雅黑"/>
              <a:cs typeface="微软雅黑"/>
            </a:endParaRPr>
          </a:p>
        </p:txBody>
      </p:sp>
      <p:sp>
        <p:nvSpPr>
          <p:cNvPr id="500" name="文本框 499"/>
          <p:cNvSpPr txBox="1"/>
          <p:nvPr/>
        </p:nvSpPr>
        <p:spPr>
          <a:xfrm>
            <a:off x="6517452" y="2591517"/>
            <a:ext cx="697627" cy="246221"/>
          </a:xfrm>
          <a:prstGeom prst="rect">
            <a:avLst/>
          </a:prstGeom>
          <a:noFill/>
        </p:spPr>
        <p:txBody>
          <a:bodyPr wrap="none" rtlCol="0" lIns="0" rIns="0" tIns="0" bIns="0">
            <a:spAutoFit/>
          </a:bodyPr>
          <a:lstStyle/>
          <a:p>
            <a:pPr algn="ctr">
              <a:defRPr>
                <a:solidFill>
                  <a:srgbClr val="383838"/>
                </a:solidFill>
                <a:latin typeface="微软雅黑"/>
                <a:ea typeface="微软雅黑"/>
                <a:cs typeface="微软雅黑"/>
              </a:defRPr>
            </a:pPr>
            <a:r>
              <a:rPr lang="zh-CN" altLang="en-US" sz="1000" dirty="0">
                <a:solidFill>
                  <a:srgbClr val="383838"/>
                </a:solidFill>
                <a:latin typeface="微软雅黑"/>
                <a:ea typeface="微软雅黑"/>
                <a:cs typeface="微软雅黑"/>
              </a:rPr>
              <a:t>唯一标识</a:t>
            </a:r>
            <a:endParaRPr lang="zh-CN" altLang="en-US" sz="1000" dirty="0">
              <a:solidFill>
                <a:srgbClr val="383838"/>
              </a:solidFill>
              <a:latin typeface="微软雅黑"/>
              <a:ea typeface="微软雅黑"/>
              <a:cs typeface="微软雅黑"/>
            </a:endParaRPr>
          </a:p>
        </p:txBody>
      </p:sp>
      <p:grpSp>
        <p:nvGrpSpPr>
          <p:cNvPr id="417" name="组合 416"/>
          <p:cNvGrpSpPr/>
          <p:nvPr/>
        </p:nvGrpSpPr>
        <p:grpSpPr>
          <a:xfrm>
            <a:off x="4754880" y="3424230"/>
            <a:ext cx="2611120" cy="588645"/>
            <a:chOff x="7488" y="5314"/>
            <a:chExt cx="4112" cy="927"/>
          </a:xfrm>
        </p:grpSpPr>
        <p:sp>
          <p:nvSpPr>
            <p:cNvPr id="468" name="文本框 467"/>
            <p:cNvSpPr txBox="1"/>
            <p:nvPr/>
          </p:nvSpPr>
          <p:spPr>
            <a:xfrm>
              <a:off x="8363" y="5314"/>
              <a:ext cx="2360" cy="531"/>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383838"/>
                  </a:solidFill>
                  <a:latin typeface="微软雅黑"/>
                  <a:ea typeface="微软雅黑"/>
                  <a:cs typeface="微软雅黑"/>
                </a:defRPr>
              </a:pPr>
              <a:r>
                <a:rPr lang="zh-CN" altLang="en-US" sz="1600" b="1" dirty="0">
                  <a:solidFill>
                    <a:srgbClr val="383838"/>
                  </a:solidFill>
                  <a:latin typeface="微软雅黑"/>
                  <a:ea typeface="微软雅黑"/>
                  <a:cs typeface="微软雅黑"/>
                </a:rPr>
                <a:t>领域驱动模型</a:t>
              </a:r>
              <a:endParaRPr lang="zh-CN" altLang="en-US" sz="1600" b="1" dirty="0">
                <a:solidFill>
                  <a:srgbClr val="383838"/>
                </a:solidFill>
                <a:latin typeface="微软雅黑"/>
                <a:ea typeface="微软雅黑"/>
                <a:cs typeface="微软雅黑"/>
              </a:endParaRPr>
            </a:p>
          </p:txBody>
        </p:sp>
        <p:sp>
          <p:nvSpPr>
            <p:cNvPr id="503" name="文本框 502"/>
            <p:cNvSpPr txBox="1"/>
            <p:nvPr/>
          </p:nvSpPr>
          <p:spPr>
            <a:xfrm>
              <a:off x="7488" y="5807"/>
              <a:ext cx="4113" cy="434"/>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200" b="0" u="none" strike="noStrike" kern="1200" cap="none" spc="0" normalizeH="0" baseline="0" noProof="0" dirty="0">
                  <a:ln>
                    <a:noFill/>
                  </a:ln>
                  <a:solidFill>
                    <a:srgbClr val="383838"/>
                  </a:solidFill>
                  <a:effectLst/>
                  <a:uLnTx/>
                  <a:uFillTx/>
                  <a:latin typeface="微软雅黑"/>
                  <a:ea typeface="微软雅黑"/>
                  <a:cs typeface="微软雅黑"/>
                </a:rPr>
                <a:t>Domain-Driven Design</a:t>
              </a:r>
              <a:endParaRPr kumimoji="0" lang="en-US" altLang="zh-CN" sz="1200" b="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165" name="矩形: 圆角 1164"/>
          <p:cNvSpPr/>
          <p:nvPr/>
        </p:nvSpPr>
        <p:spPr>
          <a:xfrm>
            <a:off x="5341282" y="5224184"/>
            <a:ext cx="1441638" cy="3507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67" name="矩形: 圆角 1166"/>
          <p:cNvSpPr/>
          <p:nvPr/>
        </p:nvSpPr>
        <p:spPr>
          <a:xfrm>
            <a:off x="8250063" y="5224184"/>
            <a:ext cx="1441638" cy="350788"/>
          </a:xfrm>
          <a:prstGeom prst="roundRect">
            <a:avLst>
              <a:gd name="adj" fmla="val 50000"/>
            </a:avLst>
          </a:prstGeom>
          <a:solidFill>
            <a:srgbClr val="B3D4FE"/>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69" name="右大括号 1168"/>
          <p:cNvSpPr/>
          <p:nvPr/>
        </p:nvSpPr>
        <p:spPr>
          <a:xfrm rot="5400000" flipH="1">
            <a:off x="5948230" y="2075601"/>
            <a:ext cx="254327" cy="5767936"/>
          </a:xfrm>
          <a:prstGeom prst="rightBrace">
            <a:avLst>
              <a:gd name="adj1" fmla="val 46441"/>
              <a:gd name="adj2" fmla="val 50000"/>
            </a:avLst>
          </a:prstGeom>
          <a:noFill/>
          <a:ln w="12700">
            <a:solidFill>
              <a:srgbClr val="3368FF">
                <a:alpha val="70000"/>
              </a:srgbClr>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1170" name="右大括号 1169"/>
          <p:cNvSpPr/>
          <p:nvPr/>
        </p:nvSpPr>
        <p:spPr>
          <a:xfrm rot="5400000" flipH="1">
            <a:off x="3059615" y="4804113"/>
            <a:ext cx="254327" cy="2028220"/>
          </a:xfrm>
          <a:prstGeom prst="rightBrace">
            <a:avLst>
              <a:gd name="adj1" fmla="val 46441"/>
              <a:gd name="adj2" fmla="val 50000"/>
            </a:avLst>
          </a:prstGeom>
          <a:noFill/>
          <a:ln w="12700">
            <a:solidFill>
              <a:srgbClr val="3368FF">
                <a:alpha val="70000"/>
              </a:srgbClr>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latin typeface="微软雅黑"/>
              <a:ea typeface="微软雅黑"/>
              <a:cs typeface="微软雅黑"/>
              <a:sym typeface="微软雅黑"/>
            </a:endParaRPr>
          </a:p>
        </p:txBody>
      </p:sp>
      <p:sp>
        <p:nvSpPr>
          <p:cNvPr id="1246" name="右大括号 1245"/>
          <p:cNvSpPr/>
          <p:nvPr/>
        </p:nvSpPr>
        <p:spPr>
          <a:xfrm rot="5400000" flipH="1">
            <a:off x="5927144" y="4804113"/>
            <a:ext cx="254327" cy="2028220"/>
          </a:xfrm>
          <a:prstGeom prst="rightBrace">
            <a:avLst>
              <a:gd name="adj1" fmla="val 46441"/>
              <a:gd name="adj2" fmla="val 50000"/>
            </a:avLst>
          </a:prstGeom>
          <a:noFill/>
          <a:ln w="12700">
            <a:solidFill>
              <a:srgbClr val="3368FF">
                <a:alpha val="70000"/>
              </a:srgbClr>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latin typeface="微软雅黑"/>
              <a:ea typeface="微软雅黑"/>
              <a:cs typeface="微软雅黑"/>
              <a:sym typeface="微软雅黑"/>
            </a:endParaRPr>
          </a:p>
        </p:txBody>
      </p:sp>
      <p:sp>
        <p:nvSpPr>
          <p:cNvPr id="1032" name="右大括号 1031"/>
          <p:cNvSpPr/>
          <p:nvPr/>
        </p:nvSpPr>
        <p:spPr>
          <a:xfrm rot="5400000" flipH="1">
            <a:off x="8935391" y="4804113"/>
            <a:ext cx="254327" cy="2028220"/>
          </a:xfrm>
          <a:prstGeom prst="rightBrace">
            <a:avLst>
              <a:gd name="adj1" fmla="val 46441"/>
              <a:gd name="adj2" fmla="val 50000"/>
            </a:avLst>
          </a:prstGeom>
          <a:noFill/>
          <a:ln w="12700">
            <a:solidFill>
              <a:srgbClr val="3368FF">
                <a:alpha val="70000"/>
              </a:srgbClr>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latin typeface="微软雅黑"/>
              <a:ea typeface="微软雅黑"/>
              <a:cs typeface="微软雅黑"/>
              <a:sym typeface="微软雅黑"/>
            </a:endParaRPr>
          </a:p>
        </p:txBody>
      </p:sp>
      <p:grpSp>
        <p:nvGrpSpPr>
          <p:cNvPr id="16" name="组合 15"/>
          <p:cNvGrpSpPr/>
          <p:nvPr/>
        </p:nvGrpSpPr>
        <p:grpSpPr>
          <a:xfrm>
            <a:off x="3313430" y="3202305"/>
            <a:ext cx="963930" cy="942340"/>
            <a:chOff x="5218" y="5043"/>
            <a:chExt cx="1518" cy="1484"/>
          </a:xfrm>
        </p:grpSpPr>
        <p:sp>
          <p:nvSpPr>
            <p:cNvPr id="422" name="Rounded Rectangle 5"/>
            <p:cNvSpPr/>
            <p:nvPr/>
          </p:nvSpPr>
          <p:spPr>
            <a:xfrm rot="2700000" flipH="1" flipV="1">
              <a:off x="5226" y="5035"/>
              <a:ext cx="1484" cy="150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484" h="1501">
                  <a:moveTo>
                    <a:pt x="396" y="166"/>
                  </a:moveTo>
                  <a:cubicBezTo>
                    <a:pt x="393" y="73"/>
                    <a:pt x="479" y="-2"/>
                    <a:pt x="562" y="0"/>
                  </a:cubicBezTo>
                  <a:lnTo>
                    <a:pt x="1301" y="0"/>
                  </a:lnTo>
                  <a:cubicBezTo>
                    <a:pt x="1350" y="-3"/>
                    <a:pt x="1403" y="29"/>
                    <a:pt x="1424" y="55"/>
                  </a:cubicBezTo>
                  <a:cubicBezTo>
                    <a:pt x="1461" y="82"/>
                    <a:pt x="1486" y="142"/>
                    <a:pt x="1484" y="180"/>
                  </a:cubicBezTo>
                  <a:lnTo>
                    <a:pt x="1484" y="184"/>
                  </a:lnTo>
                  <a:cubicBezTo>
                    <a:pt x="1484" y="191"/>
                    <a:pt x="1483" y="203"/>
                    <a:pt x="1483" y="204"/>
                  </a:cubicBezTo>
                  <a:lnTo>
                    <a:pt x="1483" y="920"/>
                  </a:lnTo>
                  <a:cubicBezTo>
                    <a:pt x="1485" y="1014"/>
                    <a:pt x="1400" y="1089"/>
                    <a:pt x="1316" y="1087"/>
                  </a:cubicBezTo>
                  <a:cubicBezTo>
                    <a:pt x="1223" y="1089"/>
                    <a:pt x="1148" y="1004"/>
                    <a:pt x="1150" y="920"/>
                  </a:cubicBezTo>
                  <a:lnTo>
                    <a:pt x="1150" y="585"/>
                  </a:lnTo>
                  <a:lnTo>
                    <a:pt x="284" y="1451"/>
                  </a:lnTo>
                  <a:cubicBezTo>
                    <a:pt x="253" y="1484"/>
                    <a:pt x="202" y="1501"/>
                    <a:pt x="168" y="1500"/>
                  </a:cubicBezTo>
                  <a:cubicBezTo>
                    <a:pt x="81" y="1509"/>
                    <a:pt x="-6" y="1414"/>
                    <a:pt x="0" y="1336"/>
                  </a:cubicBezTo>
                  <a:lnTo>
                    <a:pt x="0" y="1332"/>
                  </a:lnTo>
                  <a:cubicBezTo>
                    <a:pt x="-1" y="1291"/>
                    <a:pt x="22" y="1242"/>
                    <a:pt x="49" y="1216"/>
                  </a:cubicBezTo>
                  <a:lnTo>
                    <a:pt x="933" y="332"/>
                  </a:lnTo>
                  <a:lnTo>
                    <a:pt x="562" y="332"/>
                  </a:lnTo>
                  <a:cubicBezTo>
                    <a:pt x="469" y="335"/>
                    <a:pt x="394" y="250"/>
                    <a:pt x="396" y="166"/>
                  </a:cubicBezTo>
                  <a:close/>
                </a:path>
              </a:pathLst>
            </a:custGeom>
            <a:gradFill flip="none" rotWithShape="1">
              <a:gsLst>
                <a:gs pos="0">
                  <a:srgbClr val="0042FF"/>
                </a:gs>
                <a:gs pos="100000">
                  <a:srgbClr val="3368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23" name="文本框 422"/>
            <p:cNvSpPr txBox="1"/>
            <p:nvPr/>
          </p:nvSpPr>
          <p:spPr>
            <a:xfrm>
              <a:off x="5712" y="5574"/>
              <a:ext cx="1024" cy="398"/>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赋能</a:t>
              </a:r>
              <a:endParaRPr lang="zh-CN" altLang="en-US" sz="1050" dirty="0">
                <a:solidFill>
                  <a:srgbClr val="FFFFFF"/>
                </a:solidFill>
                <a:latin typeface="微软雅黑"/>
                <a:ea typeface="微软雅黑"/>
                <a:cs typeface="微软雅黑"/>
              </a:endParaRPr>
            </a:p>
          </p:txBody>
        </p:sp>
      </p:grpSp>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28"/>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789940" y="2052320"/>
            <a:ext cx="699770" cy="3112770"/>
            <a:chOff x="1237" y="3232"/>
            <a:chExt cx="1102" cy="4902"/>
          </a:xfrm>
          <a:solidFill>
            <a:srgbClr val="0042FF"/>
          </a:solidFill>
        </p:grpSpPr>
        <p:sp>
          <p:nvSpPr>
            <p:cNvPr id="3" name="文本框 2"/>
            <p:cNvSpPr txBox="1"/>
            <p:nvPr/>
          </p:nvSpPr>
          <p:spPr>
            <a:xfrm>
              <a:off x="1237" y="3232"/>
              <a:ext cx="1102"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商品管理</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 name="文本框 3"/>
            <p:cNvSpPr txBox="1"/>
            <p:nvPr/>
          </p:nvSpPr>
          <p:spPr>
            <a:xfrm>
              <a:off x="1237" y="3983"/>
              <a:ext cx="1102"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订单管理</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9" name="文本框 8"/>
            <p:cNvSpPr txBox="1"/>
            <p:nvPr/>
          </p:nvSpPr>
          <p:spPr>
            <a:xfrm>
              <a:off x="1237" y="4735"/>
              <a:ext cx="1102"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支付管理</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1" name="文本框 10"/>
            <p:cNvSpPr txBox="1"/>
            <p:nvPr/>
          </p:nvSpPr>
          <p:spPr>
            <a:xfrm>
              <a:off x="1237" y="5487"/>
              <a:ext cx="1102"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物流服务</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2" name="文本框 11"/>
            <p:cNvSpPr txBox="1"/>
            <p:nvPr/>
          </p:nvSpPr>
          <p:spPr>
            <a:xfrm>
              <a:off x="1237" y="6239"/>
              <a:ext cx="1102"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用户账号</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 name="文本框 13"/>
            <p:cNvSpPr txBox="1"/>
            <p:nvPr/>
          </p:nvSpPr>
          <p:spPr>
            <a:xfrm>
              <a:off x="1237" y="6991"/>
              <a:ext cx="1102"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营销活动</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 name="文本框 14"/>
            <p:cNvSpPr txBox="1"/>
            <p:nvPr/>
          </p:nvSpPr>
          <p:spPr>
            <a:xfrm>
              <a:off x="1237" y="7742"/>
              <a:ext cx="1102"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会员管理</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7" name="组合 16"/>
          <p:cNvGrpSpPr/>
          <p:nvPr/>
        </p:nvGrpSpPr>
        <p:grpSpPr>
          <a:xfrm flipH="1">
            <a:off x="7764145" y="3202305"/>
            <a:ext cx="963930" cy="942340"/>
            <a:chOff x="5218" y="5043"/>
            <a:chExt cx="1518" cy="1484"/>
          </a:xfrm>
        </p:grpSpPr>
        <p:sp>
          <p:nvSpPr>
            <p:cNvPr id="18" name="Rounded Rectangle 5"/>
            <p:cNvSpPr/>
            <p:nvPr/>
          </p:nvSpPr>
          <p:spPr>
            <a:xfrm rot="2700000" flipH="1" flipV="1">
              <a:off x="5226" y="5035"/>
              <a:ext cx="1484" cy="150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484" h="1501">
                  <a:moveTo>
                    <a:pt x="396" y="166"/>
                  </a:moveTo>
                  <a:cubicBezTo>
                    <a:pt x="393" y="73"/>
                    <a:pt x="479" y="-2"/>
                    <a:pt x="562" y="0"/>
                  </a:cubicBezTo>
                  <a:lnTo>
                    <a:pt x="1301" y="0"/>
                  </a:lnTo>
                  <a:cubicBezTo>
                    <a:pt x="1350" y="-3"/>
                    <a:pt x="1403" y="29"/>
                    <a:pt x="1424" y="55"/>
                  </a:cubicBezTo>
                  <a:cubicBezTo>
                    <a:pt x="1461" y="82"/>
                    <a:pt x="1486" y="142"/>
                    <a:pt x="1484" y="180"/>
                  </a:cubicBezTo>
                  <a:lnTo>
                    <a:pt x="1484" y="184"/>
                  </a:lnTo>
                  <a:cubicBezTo>
                    <a:pt x="1484" y="191"/>
                    <a:pt x="1483" y="203"/>
                    <a:pt x="1483" y="204"/>
                  </a:cubicBezTo>
                  <a:lnTo>
                    <a:pt x="1483" y="920"/>
                  </a:lnTo>
                  <a:cubicBezTo>
                    <a:pt x="1485" y="1014"/>
                    <a:pt x="1400" y="1089"/>
                    <a:pt x="1316" y="1087"/>
                  </a:cubicBezTo>
                  <a:cubicBezTo>
                    <a:pt x="1223" y="1089"/>
                    <a:pt x="1148" y="1004"/>
                    <a:pt x="1150" y="920"/>
                  </a:cubicBezTo>
                  <a:lnTo>
                    <a:pt x="1150" y="585"/>
                  </a:lnTo>
                  <a:lnTo>
                    <a:pt x="284" y="1451"/>
                  </a:lnTo>
                  <a:cubicBezTo>
                    <a:pt x="253" y="1484"/>
                    <a:pt x="202" y="1501"/>
                    <a:pt x="168" y="1500"/>
                  </a:cubicBezTo>
                  <a:cubicBezTo>
                    <a:pt x="81" y="1509"/>
                    <a:pt x="-6" y="1414"/>
                    <a:pt x="0" y="1336"/>
                  </a:cubicBezTo>
                  <a:lnTo>
                    <a:pt x="0" y="1332"/>
                  </a:lnTo>
                  <a:cubicBezTo>
                    <a:pt x="-1" y="1291"/>
                    <a:pt x="22" y="1242"/>
                    <a:pt x="49" y="1216"/>
                  </a:cubicBezTo>
                  <a:lnTo>
                    <a:pt x="933" y="332"/>
                  </a:lnTo>
                  <a:lnTo>
                    <a:pt x="562" y="332"/>
                  </a:lnTo>
                  <a:cubicBezTo>
                    <a:pt x="469" y="335"/>
                    <a:pt x="394" y="250"/>
                    <a:pt x="396" y="166"/>
                  </a:cubicBezTo>
                  <a:close/>
                </a:path>
              </a:pathLst>
            </a:custGeom>
            <a:gradFill flip="none" rotWithShape="1">
              <a:gsLst>
                <a:gs pos="0">
                  <a:srgbClr val="0042FF"/>
                </a:gs>
                <a:gs pos="100000">
                  <a:srgbClr val="3368FF"/>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9" name="文本框 18"/>
            <p:cNvSpPr txBox="1"/>
            <p:nvPr/>
          </p:nvSpPr>
          <p:spPr>
            <a:xfrm>
              <a:off x="5712" y="5574"/>
              <a:ext cx="1024" cy="398"/>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赋能</a:t>
              </a:r>
              <a:endParaRPr lang="zh-CN" altLang="en-US" sz="1050" dirty="0">
                <a:solidFill>
                  <a:srgbClr val="FFFFFF"/>
                </a:solidFill>
                <a:latin typeface="微软雅黑"/>
                <a:ea typeface="微软雅黑"/>
                <a:cs typeface="微软雅黑"/>
              </a:endParaRPr>
            </a:p>
          </p:txBody>
        </p:sp>
      </p:grpSp>
      <p:grpSp>
        <p:nvGrpSpPr>
          <p:cNvPr id="20" name="组合 19"/>
          <p:cNvGrpSpPr/>
          <p:nvPr/>
        </p:nvGrpSpPr>
        <p:grpSpPr>
          <a:xfrm>
            <a:off x="10666095" y="2045970"/>
            <a:ext cx="697865" cy="3113405"/>
            <a:chOff x="16784" y="3222"/>
            <a:chExt cx="1099" cy="4903"/>
          </a:xfrm>
          <a:solidFill>
            <a:srgbClr val="668EFF"/>
          </a:solidFill>
        </p:grpSpPr>
        <p:sp>
          <p:nvSpPr>
            <p:cNvPr id="21" name="文本框 20"/>
            <p:cNvSpPr txBox="1"/>
            <p:nvPr/>
          </p:nvSpPr>
          <p:spPr>
            <a:xfrm flipH="1">
              <a:off x="16784" y="3222"/>
              <a:ext cx="1099"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硬件销售</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2" name="文本框 21"/>
            <p:cNvSpPr txBox="1"/>
            <p:nvPr/>
          </p:nvSpPr>
          <p:spPr>
            <a:xfrm flipH="1">
              <a:off x="16784" y="3973"/>
              <a:ext cx="1099"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项目建设</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3" name="文本框 22"/>
            <p:cNvSpPr txBox="1"/>
            <p:nvPr/>
          </p:nvSpPr>
          <p:spPr>
            <a:xfrm flipH="1">
              <a:off x="16784" y="4725"/>
              <a:ext cx="1099"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a:ln>
                    <a:noFill/>
                  </a:ln>
                  <a:solidFill>
                    <a:srgbClr val="FFFFFF"/>
                  </a:solidFill>
                  <a:effectLst/>
                  <a:uLnTx/>
                  <a:uFillTx/>
                  <a:latin typeface="微软雅黑"/>
                  <a:ea typeface="微软雅黑"/>
                  <a:cs typeface="微软雅黑"/>
                </a:rPr>
                <a:t>技术支持</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4" name="文本框 23"/>
            <p:cNvSpPr txBox="1"/>
            <p:nvPr/>
          </p:nvSpPr>
          <p:spPr>
            <a:xfrm flipH="1">
              <a:off x="16784" y="5477"/>
              <a:ext cx="1099"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维保服务</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5" name="文本框 24"/>
            <p:cNvSpPr txBox="1"/>
            <p:nvPr/>
          </p:nvSpPr>
          <p:spPr>
            <a:xfrm flipH="1">
              <a:off x="16784" y="6229"/>
              <a:ext cx="1099"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a:ln>
                    <a:noFill/>
                  </a:ln>
                  <a:solidFill>
                    <a:srgbClr val="FFFFFF"/>
                  </a:solidFill>
                  <a:effectLst/>
                  <a:uLnTx/>
                  <a:uFillTx/>
                  <a:latin typeface="微软雅黑"/>
                  <a:ea typeface="微软雅黑"/>
                  <a:cs typeface="微软雅黑"/>
                </a:rPr>
                <a:t>支付返佣</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6" name="文本框 25"/>
            <p:cNvSpPr txBox="1"/>
            <p:nvPr/>
          </p:nvSpPr>
          <p:spPr>
            <a:xfrm flipH="1">
              <a:off x="16784" y="6981"/>
              <a:ext cx="1099"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a:ln>
                    <a:noFill/>
                  </a:ln>
                  <a:solidFill>
                    <a:srgbClr val="FFFFFF"/>
                  </a:solidFill>
                  <a:effectLst/>
                  <a:uLnTx/>
                  <a:uFillTx/>
                  <a:latin typeface="微软雅黑"/>
                  <a:ea typeface="微软雅黑"/>
                  <a:cs typeface="微软雅黑"/>
                </a:rPr>
                <a:t>服务分润</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7" name="文本框 26"/>
            <p:cNvSpPr txBox="1"/>
            <p:nvPr/>
          </p:nvSpPr>
          <p:spPr>
            <a:xfrm flipH="1">
              <a:off x="16784" y="7732"/>
              <a:ext cx="1099" cy="393"/>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chor="t">
              <a:noAutofit/>
            </a:bodyPr>
            <a:lstStyle/>
            <a:p>
              <a:pPr>
                <a:defRPr>
                  <a:solidFill>
                    <a:srgbClr val="FFFFFF"/>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接口收费</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28" name="组合 27"/>
          <p:cNvGrpSpPr/>
          <p:nvPr/>
        </p:nvGrpSpPr>
        <p:grpSpPr>
          <a:xfrm>
            <a:off x="1882775" y="5266690"/>
            <a:ext cx="8397875" cy="1109980"/>
            <a:chOff x="2946" y="8290"/>
            <a:chExt cx="13225" cy="1748"/>
          </a:xfrm>
        </p:grpSpPr>
        <p:sp>
          <p:nvSpPr>
            <p:cNvPr id="29" name="文本框 28"/>
            <p:cNvSpPr txBox="1"/>
            <p:nvPr/>
          </p:nvSpPr>
          <p:spPr>
            <a:xfrm>
              <a:off x="4065" y="8290"/>
              <a:ext cx="2035" cy="436"/>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四色模型</a:t>
              </a:r>
              <a:endParaRPr lang="zh-CN" altLang="en-US" sz="1200" dirty="0">
                <a:solidFill>
                  <a:srgbClr val="383838"/>
                </a:solidFill>
                <a:latin typeface="微软雅黑"/>
                <a:ea typeface="微软雅黑"/>
                <a:cs typeface="微软雅黑"/>
              </a:endParaRPr>
            </a:p>
          </p:txBody>
        </p:sp>
        <p:sp>
          <p:nvSpPr>
            <p:cNvPr id="30" name="文本框 29"/>
            <p:cNvSpPr txBox="1"/>
            <p:nvPr/>
          </p:nvSpPr>
          <p:spPr>
            <a:xfrm>
              <a:off x="8529" y="8290"/>
              <a:ext cx="2035" cy="436"/>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事件风暴</a:t>
              </a:r>
              <a:endParaRPr lang="zh-CN" altLang="en-US" sz="1200" dirty="0">
                <a:solidFill>
                  <a:srgbClr val="383838"/>
                </a:solidFill>
                <a:latin typeface="微软雅黑"/>
                <a:ea typeface="微软雅黑"/>
                <a:cs typeface="微软雅黑"/>
              </a:endParaRPr>
            </a:p>
          </p:txBody>
        </p:sp>
        <p:sp>
          <p:nvSpPr>
            <p:cNvPr id="31" name="文本框 30"/>
            <p:cNvSpPr txBox="1"/>
            <p:nvPr/>
          </p:nvSpPr>
          <p:spPr>
            <a:xfrm>
              <a:off x="13110" y="8290"/>
              <a:ext cx="2035" cy="436"/>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用例建模</a:t>
              </a:r>
              <a:endParaRPr lang="zh-CN" altLang="en-US" sz="1200" dirty="0">
                <a:solidFill>
                  <a:srgbClr val="383838"/>
                </a:solidFill>
                <a:latin typeface="微软雅黑"/>
                <a:ea typeface="微软雅黑"/>
                <a:cs typeface="微软雅黑"/>
              </a:endParaRPr>
            </a:p>
          </p:txBody>
        </p:sp>
        <p:sp>
          <p:nvSpPr>
            <p:cNvPr id="32" name="文本框 31"/>
            <p:cNvSpPr txBox="1"/>
            <p:nvPr/>
          </p:nvSpPr>
          <p:spPr>
            <a:xfrm>
              <a:off x="2946" y="9631"/>
              <a:ext cx="905" cy="393"/>
            </a:xfrm>
            <a:prstGeom prst="rect">
              <a:avLst/>
            </a:prstGeom>
            <a:noFill/>
            <a:effectLst/>
          </p:spPr>
          <p:txBody>
            <a:bodyPr wrap="square" lIns="0" tIns="0" rIns="0" bIns="0" rtlCol="0" anchor="t">
              <a:noAutofit/>
            </a:bodyPr>
            <a:lstStyle/>
            <a:p>
              <a:pPr>
                <a:defRPr>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人事物</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3" name="文本框 32"/>
            <p:cNvSpPr txBox="1"/>
            <p:nvPr/>
          </p:nvSpPr>
          <p:spPr>
            <a:xfrm>
              <a:off x="4634" y="9631"/>
              <a:ext cx="708" cy="393"/>
            </a:xfrm>
            <a:prstGeom prst="rect">
              <a:avLst/>
            </a:prstGeom>
            <a:noFill/>
            <a:effectLst/>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角色</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4" name="文本框 33"/>
            <p:cNvSpPr txBox="1"/>
            <p:nvPr/>
          </p:nvSpPr>
          <p:spPr>
            <a:xfrm>
              <a:off x="6167" y="9631"/>
              <a:ext cx="708" cy="393"/>
            </a:xfrm>
            <a:prstGeom prst="rect">
              <a:avLst/>
            </a:prstGeom>
            <a:noFill/>
            <a:effectLst/>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事件</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5" name="文本框 34"/>
            <p:cNvSpPr txBox="1"/>
            <p:nvPr/>
          </p:nvSpPr>
          <p:spPr>
            <a:xfrm>
              <a:off x="7560" y="9631"/>
              <a:ext cx="708" cy="393"/>
            </a:xfrm>
            <a:prstGeom prst="rect">
              <a:avLst/>
            </a:prstGeom>
            <a:noFill/>
            <a:effectLst/>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用户</a:t>
              </a:r>
              <a:r>
                <a:rPr lang="en-US" altLang="zh-CN" sz="1000" dirty="0">
                  <a:solidFill>
                    <a:srgbClr val="383838"/>
                  </a:solidFill>
                  <a:latin typeface="微软雅黑"/>
                  <a:ea typeface="微软雅黑"/>
                  <a:cs typeface="微软雅黑"/>
                </a:rPr>
                <a:t>	</a:t>
              </a:r>
              <a:endParaRPr lang="en-US" altLang="zh-CN" sz="1000" dirty="0">
                <a:solidFill>
                  <a:srgbClr val="383838"/>
                </a:solidFill>
                <a:latin typeface="微软雅黑"/>
                <a:ea typeface="微软雅黑"/>
                <a:cs typeface="微软雅黑"/>
              </a:endParaRPr>
            </a:p>
          </p:txBody>
        </p:sp>
        <p:sp>
          <p:nvSpPr>
            <p:cNvPr id="36" name="文本框 35"/>
            <p:cNvSpPr txBox="1"/>
            <p:nvPr/>
          </p:nvSpPr>
          <p:spPr>
            <a:xfrm>
              <a:off x="9149" y="9631"/>
              <a:ext cx="708" cy="393"/>
            </a:xfrm>
            <a:prstGeom prst="rect">
              <a:avLst/>
            </a:prstGeom>
            <a:noFill/>
            <a:effectLst/>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聚合</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7" name="文本框 36"/>
            <p:cNvSpPr txBox="1"/>
            <p:nvPr/>
          </p:nvSpPr>
          <p:spPr>
            <a:xfrm>
              <a:off x="10682" y="9631"/>
              <a:ext cx="708" cy="393"/>
            </a:xfrm>
            <a:prstGeom prst="rect">
              <a:avLst/>
            </a:prstGeom>
            <a:noFill/>
            <a:effectLst/>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策略</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8" name="文本框 37"/>
            <p:cNvSpPr txBox="1"/>
            <p:nvPr/>
          </p:nvSpPr>
          <p:spPr>
            <a:xfrm>
              <a:off x="12208" y="9631"/>
              <a:ext cx="887" cy="393"/>
            </a:xfrm>
            <a:prstGeom prst="rect">
              <a:avLst/>
            </a:prstGeom>
            <a:noFill/>
            <a:effectLst/>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kumimoji="0" lang="en-US" altLang="zh-CN" sz="1000" b="0" i="0" u="none" strike="noStrike" kern="1200" cap="none" spc="0" normalizeH="0" baseline="0" noProof="0" dirty="0" err="1">
                  <a:ln>
                    <a:noFill/>
                  </a:ln>
                  <a:solidFill>
                    <a:srgbClr val="383838"/>
                  </a:solidFill>
                  <a:effectLst/>
                  <a:uLnTx/>
                  <a:uFillTx/>
                  <a:latin typeface="微软雅黑"/>
                  <a:ea typeface="微软雅黑"/>
                  <a:cs typeface="微软雅黑"/>
                </a:rPr>
                <a:t>Uml</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图</a:t>
              </a:r>
              <a:endParaRPr lang="en-US" altLang="zh-CN" sz="1000" dirty="0">
                <a:solidFill>
                  <a:srgbClr val="383838"/>
                </a:solidFill>
                <a:latin typeface="微软雅黑"/>
                <a:ea typeface="微软雅黑"/>
                <a:cs typeface="微软雅黑"/>
              </a:endParaRPr>
            </a:p>
          </p:txBody>
        </p:sp>
        <p:sp>
          <p:nvSpPr>
            <p:cNvPr id="39" name="文本框 38"/>
            <p:cNvSpPr txBox="1"/>
            <p:nvPr/>
          </p:nvSpPr>
          <p:spPr>
            <a:xfrm>
              <a:off x="13910" y="9646"/>
              <a:ext cx="708" cy="393"/>
            </a:xfrm>
            <a:prstGeom prst="rect">
              <a:avLst/>
            </a:prstGeom>
            <a:noFill/>
            <a:effectLst/>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角色</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0" name="文本框 39"/>
            <p:cNvSpPr txBox="1"/>
            <p:nvPr/>
          </p:nvSpPr>
          <p:spPr>
            <a:xfrm>
              <a:off x="15421" y="9646"/>
              <a:ext cx="751" cy="393"/>
            </a:xfrm>
            <a:prstGeom prst="rect">
              <a:avLst/>
            </a:prstGeom>
            <a:noFill/>
            <a:effectLst/>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 事件</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 name="等腰三角形 194"/>
          <p:cNvSpPr/>
          <p:nvPr/>
        </p:nvSpPr>
        <p:spPr>
          <a:xfrm rot="16200000" flipH="1">
            <a:off x="4946592" y="405869"/>
            <a:ext cx="8994028" cy="6680749"/>
          </a:xfrm>
          <a:prstGeom prst="triangle">
            <a:avLst/>
          </a:prstGeom>
          <a:gradFill flip="none" rotWithShape="1">
            <a:gsLst>
              <a:gs pos="0">
                <a:srgbClr val="B3D4FE"/>
              </a:gs>
              <a:gs pos="100000">
                <a:srgbClr val="FFFFFF">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3" name="等腰三角形 42"/>
          <p:cNvSpPr/>
          <p:nvPr/>
        </p:nvSpPr>
        <p:spPr>
          <a:xfrm rot="5400000">
            <a:off x="-1734158" y="405868"/>
            <a:ext cx="8994028" cy="6680749"/>
          </a:xfrm>
          <a:prstGeom prst="triangle">
            <a:avLst/>
          </a:prstGeom>
          <a:gradFill flip="none" rotWithShape="1">
            <a:gsLst>
              <a:gs pos="0">
                <a:srgbClr val="B3D4FE"/>
              </a:gs>
              <a:gs pos="100000">
                <a:srgbClr val="FFFFFF">
                  <a:alpha val="0"/>
                </a:srgbClr>
              </a:gs>
            </a:gsLst>
            <a:lin ang="54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5" name="圆: 空心 21"/>
          <p:cNvSpPr/>
          <p:nvPr/>
        </p:nvSpPr>
        <p:spPr>
          <a:xfrm>
            <a:off x="2693071" y="-345942"/>
            <a:ext cx="6806549" cy="8204692"/>
          </a:xfrm>
          <a:custGeom>
            <a:avLst/>
            <a:gdLst>
              <a:gd name="adj" fmla="val 25286"/>
              <a:gd name="a" fmla="pin 0 adj 50000"/>
              <a:gd name="dr" fmla="*/ ss a 100000"/>
              <a:gd name="iwd2" fmla="+- wd2 0 dr"/>
              <a:gd name="ihd2" fmla="+- hd2 0 dr"/>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0719" h="12936">
                <a:moveTo>
                  <a:pt x="0" y="2847"/>
                </a:moveTo>
                <a:cubicBezTo>
                  <a:pt x="944" y="1231"/>
                  <a:pt x="3448" y="-110"/>
                  <a:pt x="5356" y="0"/>
                </a:cubicBezTo>
                <a:cubicBezTo>
                  <a:pt x="7593" y="-131"/>
                  <a:pt x="9886" y="1491"/>
                  <a:pt x="10719" y="2858"/>
                </a:cubicBezTo>
                <a:lnTo>
                  <a:pt x="8009" y="4682"/>
                </a:lnTo>
                <a:cubicBezTo>
                  <a:pt x="7530" y="3865"/>
                  <a:pt x="6303" y="3218"/>
                  <a:pt x="5356" y="3267"/>
                </a:cubicBezTo>
                <a:cubicBezTo>
                  <a:pt x="4254" y="3197"/>
                  <a:pt x="3110" y="4014"/>
                  <a:pt x="2710" y="4672"/>
                </a:cubicBezTo>
                <a:lnTo>
                  <a:pt x="0" y="2847"/>
                </a:lnTo>
                <a:close/>
                <a:moveTo>
                  <a:pt x="10719" y="10063"/>
                </a:moveTo>
                <a:cubicBezTo>
                  <a:pt x="9759" y="11704"/>
                  <a:pt x="7269" y="13024"/>
                  <a:pt x="5356" y="12921"/>
                </a:cubicBezTo>
                <a:cubicBezTo>
                  <a:pt x="3123" y="13059"/>
                  <a:pt x="816" y="11416"/>
                  <a:pt x="0" y="10073"/>
                </a:cubicBezTo>
                <a:lnTo>
                  <a:pt x="2710" y="8249"/>
                </a:lnTo>
                <a:cubicBezTo>
                  <a:pt x="3173" y="9042"/>
                  <a:pt x="4414" y="9710"/>
                  <a:pt x="5356" y="9654"/>
                </a:cubicBezTo>
                <a:cubicBezTo>
                  <a:pt x="6463" y="9717"/>
                  <a:pt x="7593" y="8920"/>
                  <a:pt x="8009" y="8238"/>
                </a:cubicBezTo>
                <a:lnTo>
                  <a:pt x="10719" y="10063"/>
                </a:lnTo>
                <a:close/>
              </a:path>
            </a:pathLst>
          </a:custGeom>
          <a:solidFill>
            <a:srgbClr val="E6E6E6">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59" name="任意多边形: 形状 258"/>
          <p:cNvSpPr/>
          <p:nvPr/>
        </p:nvSpPr>
        <p:spPr>
          <a:xfrm>
            <a:off x="0" y="0"/>
            <a:ext cx="1781938" cy="6858000"/>
          </a:xfrm>
          <a:custGeom>
            <a:avLst/>
            <a:gdLst>
              <a:gd name="connsiteX0" fmla="*/ 0 w 1781938"/>
              <a:gd name="connsiteY0" fmla="*/ 0 h 6858000"/>
              <a:gd name="connsiteX1" fmla="*/ 537825 w 1781938"/>
              <a:gd name="connsiteY1" fmla="*/ 0 h 6858000"/>
              <a:gd name="connsiteX2" fmla="*/ 1781938 w 1781938"/>
              <a:gd name="connsiteY2" fmla="*/ 837450 h 6858000"/>
              <a:gd name="connsiteX3" fmla="*/ 1646622 w 1781938"/>
              <a:gd name="connsiteY3" fmla="*/ 1048522 h 6858000"/>
              <a:gd name="connsiteX4" fmla="*/ 893428 w 1781938"/>
              <a:gd name="connsiteY4" fmla="*/ 3746244 h 6858000"/>
              <a:gd name="connsiteX5" fmla="*/ 1646622 w 1781938"/>
              <a:gd name="connsiteY5" fmla="*/ 6443967 h 6858000"/>
              <a:gd name="connsiteX6" fmla="*/ 1781936 w 1781938"/>
              <a:gd name="connsiteY6" fmla="*/ 6655037 h 6858000"/>
              <a:gd name="connsiteX7" fmla="*/ 1480415 w 1781938"/>
              <a:gd name="connsiteY7" fmla="*/ 6858000 h 6858000"/>
              <a:gd name="connsiteX8" fmla="*/ 0 w 1781938"/>
              <a:gd name="connsiteY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1938" h="6858000">
                <a:moveTo>
                  <a:pt x="0" y="0"/>
                </a:moveTo>
                <a:lnTo>
                  <a:pt x="537825" y="0"/>
                </a:lnTo>
                <a:lnTo>
                  <a:pt x="1781938" y="837450"/>
                </a:lnTo>
                <a:lnTo>
                  <a:pt x="1646622" y="1048522"/>
                </a:lnTo>
                <a:cubicBezTo>
                  <a:pt x="1168664" y="1835135"/>
                  <a:pt x="893428" y="2758547"/>
                  <a:pt x="893428" y="3746244"/>
                </a:cubicBezTo>
                <a:cubicBezTo>
                  <a:pt x="893428" y="4733941"/>
                  <a:pt x="1168664" y="5657354"/>
                  <a:pt x="1646622" y="6443967"/>
                </a:cubicBezTo>
                <a:lnTo>
                  <a:pt x="1781936" y="6655037"/>
                </a:lnTo>
                <a:lnTo>
                  <a:pt x="1480415" y="6858000"/>
                </a:lnTo>
                <a:lnTo>
                  <a:pt x="0" y="6858000"/>
                </a:ln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57" name="任意多边形: 形状 256"/>
          <p:cNvSpPr/>
          <p:nvPr/>
        </p:nvSpPr>
        <p:spPr>
          <a:xfrm>
            <a:off x="10414424" y="0"/>
            <a:ext cx="1777576" cy="6858000"/>
          </a:xfrm>
          <a:custGeom>
            <a:avLst/>
            <a:gdLst>
              <a:gd name="connsiteX0" fmla="*/ 1254215 w 1777576"/>
              <a:gd name="connsiteY0" fmla="*/ 0 h 6858000"/>
              <a:gd name="connsiteX1" fmla="*/ 1777576 w 1777576"/>
              <a:gd name="connsiteY1" fmla="*/ 0 h 6858000"/>
              <a:gd name="connsiteX2" fmla="*/ 1777576 w 1777576"/>
              <a:gd name="connsiteY2" fmla="*/ 6858000 h 6858000"/>
              <a:gd name="connsiteX3" fmla="*/ 311622 w 1777576"/>
              <a:gd name="connsiteY3" fmla="*/ 6858000 h 6858000"/>
              <a:gd name="connsiteX4" fmla="*/ 0 w 1777576"/>
              <a:gd name="connsiteY4" fmla="*/ 6648238 h 6858000"/>
              <a:gd name="connsiteX5" fmla="*/ 130956 w 1777576"/>
              <a:gd name="connsiteY5" fmla="*/ 6443967 h 6858000"/>
              <a:gd name="connsiteX6" fmla="*/ 884150 w 1777576"/>
              <a:gd name="connsiteY6" fmla="*/ 3746244 h 6858000"/>
              <a:gd name="connsiteX7" fmla="*/ 130956 w 1777576"/>
              <a:gd name="connsiteY7" fmla="*/ 1048522 h 6858000"/>
              <a:gd name="connsiteX8" fmla="*/ 0 w 1777576"/>
              <a:gd name="connsiteY8" fmla="*/ 84425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7576" h="6858000">
                <a:moveTo>
                  <a:pt x="1254215" y="0"/>
                </a:moveTo>
                <a:lnTo>
                  <a:pt x="1777576" y="0"/>
                </a:lnTo>
                <a:lnTo>
                  <a:pt x="1777576" y="6858000"/>
                </a:lnTo>
                <a:lnTo>
                  <a:pt x="311622" y="6858000"/>
                </a:lnTo>
                <a:lnTo>
                  <a:pt x="0" y="6648238"/>
                </a:lnTo>
                <a:lnTo>
                  <a:pt x="130956" y="6443967"/>
                </a:lnTo>
                <a:cubicBezTo>
                  <a:pt x="608914" y="5657354"/>
                  <a:pt x="884150" y="4733941"/>
                  <a:pt x="884150" y="3746244"/>
                </a:cubicBezTo>
                <a:cubicBezTo>
                  <a:pt x="884150" y="2758547"/>
                  <a:pt x="608914" y="1835135"/>
                  <a:pt x="130956" y="1048522"/>
                </a:cubicBezTo>
                <a:lnTo>
                  <a:pt x="0" y="844250"/>
                </a:ln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1" name="圆: 空心 21"/>
          <p:cNvSpPr/>
          <p:nvPr/>
        </p:nvSpPr>
        <p:spPr>
          <a:xfrm>
            <a:off x="12191754" y="-672967"/>
            <a:ext cx="8204694" cy="8204692"/>
          </a:xfrm>
          <a:prstGeom prst="donut">
            <a:avLst>
              <a:gd name="adj" fmla="val 25286"/>
            </a:avLst>
          </a:prstGeom>
          <a:solidFill>
            <a:srgbClr val="E6E6E6">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42" name="椭圆 41"/>
          <p:cNvSpPr/>
          <p:nvPr/>
        </p:nvSpPr>
        <p:spPr>
          <a:xfrm>
            <a:off x="5461000" y="5254625"/>
            <a:ext cx="1270000" cy="1270000"/>
          </a:xfrm>
          <a:prstGeom prst="ellipse">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81" name="矩形 280"/>
          <p:cNvSpPr/>
          <p:nvPr/>
        </p:nvSpPr>
        <p:spPr>
          <a:xfrm>
            <a:off x="0" y="0"/>
            <a:ext cx="12192000" cy="2020970"/>
          </a:xfrm>
          <a:prstGeom prst="rect">
            <a:avLst/>
          </a:prstGeom>
          <a:gradFill>
            <a:gsLst>
              <a:gs pos="54000">
                <a:srgbClr val="FFFFFF"/>
              </a:gs>
              <a:gs pos="100000">
                <a:srgbClr val="FFFFFF">
                  <a:alpha val="0"/>
                </a:srgbClr>
              </a:gs>
            </a:gsLst>
            <a:lin ang="5400000" scaled="1"/>
          </a:gradFill>
          <a:ln w="1905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9" name="弧形 248"/>
          <p:cNvSpPr/>
          <p:nvPr/>
        </p:nvSpPr>
        <p:spPr>
          <a:xfrm>
            <a:off x="4712934" y="2363177"/>
            <a:ext cx="2766132" cy="2766132"/>
          </a:xfrm>
          <a:prstGeom prst="arc">
            <a:avLst>
              <a:gd name="adj1" fmla="val 17846554"/>
              <a:gd name="adj2" fmla="val 4210296"/>
            </a:avLst>
          </a:prstGeom>
          <a:noFill/>
          <a:ln w="12700">
            <a:solidFill>
              <a:srgbClr val="0042FF"/>
            </a:solidFill>
            <a:prstDash val="sysDot"/>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5" name="文本框 44"/>
          <p:cNvSpPr txBox="1"/>
          <p:nvPr/>
        </p:nvSpPr>
        <p:spPr>
          <a:xfrm>
            <a:off x="5606123" y="5661883"/>
            <a:ext cx="979755" cy="523220"/>
          </a:xfrm>
          <a:prstGeom prst="rect">
            <a:avLst/>
          </a:prstGeom>
          <a:noFill/>
        </p:spPr>
        <p:txBody>
          <a:bodyPr wrap="none" anchor="ctr">
            <a:spAutoFit/>
          </a:body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消费</a:t>
            </a:r>
            <a:r>
              <a:rPr lang="en-US" altLang="zh-CN" sz="1400" dirty="0">
                <a:solidFill>
                  <a:srgbClr val="FFFFFF"/>
                </a:solidFill>
                <a:latin typeface="微软雅黑"/>
                <a:ea typeface="微软雅黑"/>
                <a:cs typeface="微软雅黑"/>
              </a:rPr>
              <a:t>/</a:t>
            </a:r>
            <a:r>
              <a:rPr lang="zh-CN" altLang="en-US" sz="1400" dirty="0">
                <a:solidFill>
                  <a:srgbClr val="FFFFFF"/>
                </a:solidFill>
                <a:latin typeface="微软雅黑"/>
                <a:ea typeface="微软雅黑"/>
                <a:cs typeface="微软雅黑"/>
              </a:rPr>
              <a:t>服务</a:t>
            </a:r>
            <a:endParaRPr lang="zh-CN" altLang="en-US" sz="14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社群</a:t>
            </a:r>
            <a:endParaRPr lang="zh-CN" altLang="en-US" sz="1400" dirty="0">
              <a:solidFill>
                <a:srgbClr val="FFFFFF"/>
              </a:solidFill>
              <a:latin typeface="微软雅黑"/>
              <a:ea typeface="微软雅黑"/>
              <a:cs typeface="微软雅黑"/>
            </a:endParaRPr>
          </a:p>
        </p:txBody>
      </p:sp>
      <p:sp>
        <p:nvSpPr>
          <p:cNvPr id="154" name="弧形 153"/>
          <p:cNvSpPr/>
          <p:nvPr/>
        </p:nvSpPr>
        <p:spPr>
          <a:xfrm>
            <a:off x="3622763" y="1273007"/>
            <a:ext cx="4946476" cy="4946474"/>
          </a:xfrm>
          <a:prstGeom prst="arc">
            <a:avLst>
              <a:gd name="adj1" fmla="val 8768609"/>
              <a:gd name="adj2" fmla="val 12832362"/>
            </a:avLst>
          </a:prstGeom>
          <a:noFill/>
          <a:ln w="8890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74" name="组合 173"/>
          <p:cNvGrpSpPr/>
          <p:nvPr/>
        </p:nvGrpSpPr>
        <p:grpSpPr>
          <a:xfrm flipH="1">
            <a:off x="11025383" y="4056268"/>
            <a:ext cx="601391" cy="601390"/>
            <a:chOff x="1445821" y="1329037"/>
            <a:chExt cx="515417" cy="515417"/>
          </a:xfrm>
        </p:grpSpPr>
        <p:sp>
          <p:nvSpPr>
            <p:cNvPr id="184" name="椭圆 183"/>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5" name="文本框 184"/>
            <p:cNvSpPr txBox="1"/>
            <p:nvPr/>
          </p:nvSpPr>
          <p:spPr>
            <a:xfrm>
              <a:off x="1476022" y="1436224"/>
              <a:ext cx="455017"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电商</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小程序</a:t>
              </a:r>
              <a:endParaRPr lang="zh-CN" altLang="en-US" sz="1000" dirty="0">
                <a:solidFill>
                  <a:srgbClr val="383838"/>
                </a:solidFill>
                <a:latin typeface="微软雅黑"/>
                <a:ea typeface="微软雅黑"/>
                <a:cs typeface="微软雅黑"/>
              </a:endParaRPr>
            </a:p>
          </p:txBody>
        </p:sp>
      </p:grpSp>
      <p:grpSp>
        <p:nvGrpSpPr>
          <p:cNvPr id="175" name="组合 174"/>
          <p:cNvGrpSpPr/>
          <p:nvPr/>
        </p:nvGrpSpPr>
        <p:grpSpPr>
          <a:xfrm flipH="1">
            <a:off x="10815720" y="4919889"/>
            <a:ext cx="601391" cy="601390"/>
            <a:chOff x="1445821" y="1329037"/>
            <a:chExt cx="515417" cy="515417"/>
          </a:xfrm>
        </p:grpSpPr>
        <p:sp>
          <p:nvSpPr>
            <p:cNvPr id="182" name="椭圆 181"/>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3" name="文本框 182"/>
            <p:cNvSpPr txBox="1"/>
            <p:nvPr/>
          </p:nvSpPr>
          <p:spPr>
            <a:xfrm>
              <a:off x="1476022" y="1436224"/>
              <a:ext cx="455017"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会员</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小程序</a:t>
              </a:r>
              <a:endParaRPr lang="zh-CN" altLang="en-US" sz="1000" dirty="0">
                <a:solidFill>
                  <a:srgbClr val="383838"/>
                </a:solidFill>
                <a:latin typeface="微软雅黑"/>
                <a:ea typeface="微软雅黑"/>
                <a:cs typeface="微软雅黑"/>
              </a:endParaRPr>
            </a:p>
          </p:txBody>
        </p:sp>
      </p:grpSp>
      <p:grpSp>
        <p:nvGrpSpPr>
          <p:cNvPr id="176" name="组合 175"/>
          <p:cNvGrpSpPr/>
          <p:nvPr/>
        </p:nvGrpSpPr>
        <p:grpSpPr>
          <a:xfrm flipH="1">
            <a:off x="10468746" y="5745238"/>
            <a:ext cx="601391" cy="601390"/>
            <a:chOff x="1445821" y="1329037"/>
            <a:chExt cx="515417" cy="515417"/>
          </a:xfrm>
        </p:grpSpPr>
        <p:sp>
          <p:nvSpPr>
            <p:cNvPr id="180" name="椭圆 179"/>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1" name="文本框 180"/>
            <p:cNvSpPr txBox="1"/>
            <p:nvPr/>
          </p:nvSpPr>
          <p:spPr>
            <a:xfrm>
              <a:off x="1476022" y="1436224"/>
              <a:ext cx="455017"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社群</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小程序</a:t>
              </a:r>
              <a:endParaRPr lang="zh-CN" altLang="en-US" sz="1000" dirty="0">
                <a:solidFill>
                  <a:srgbClr val="383838"/>
                </a:solidFill>
                <a:latin typeface="微软雅黑"/>
                <a:ea typeface="微软雅黑"/>
                <a:cs typeface="微软雅黑"/>
              </a:endParaRPr>
            </a:p>
          </p:txBody>
        </p:sp>
      </p:grpSp>
      <p:sp>
        <p:nvSpPr>
          <p:cNvPr id="194" name="弧形 193"/>
          <p:cNvSpPr/>
          <p:nvPr/>
        </p:nvSpPr>
        <p:spPr>
          <a:xfrm flipH="1">
            <a:off x="3622763" y="1273007"/>
            <a:ext cx="4946476" cy="4946474"/>
          </a:xfrm>
          <a:prstGeom prst="arc">
            <a:avLst>
              <a:gd name="adj1" fmla="val 8768609"/>
              <a:gd name="adj2" fmla="val 12832362"/>
            </a:avLst>
          </a:prstGeom>
          <a:noFill/>
          <a:ln w="8890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8" name="弧形 237"/>
          <p:cNvSpPr/>
          <p:nvPr/>
        </p:nvSpPr>
        <p:spPr>
          <a:xfrm>
            <a:off x="3555444" y="1205688"/>
            <a:ext cx="5081114" cy="5081112"/>
          </a:xfrm>
          <a:prstGeom prst="arc">
            <a:avLst>
              <a:gd name="adj1" fmla="val 6369486"/>
              <a:gd name="adj2" fmla="val 8664420"/>
            </a:avLst>
          </a:prstGeom>
          <a:noFill/>
          <a:ln w="12700">
            <a:solidFill>
              <a:srgbClr val="0042FF"/>
            </a:solidFill>
            <a:prstDash val="sysDot"/>
            <a:headEnd type="triangl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39" name="弧形 238"/>
          <p:cNvSpPr/>
          <p:nvPr/>
        </p:nvSpPr>
        <p:spPr>
          <a:xfrm>
            <a:off x="3671000" y="1321244"/>
            <a:ext cx="4850002" cy="4850000"/>
          </a:xfrm>
          <a:prstGeom prst="arc">
            <a:avLst>
              <a:gd name="adj1" fmla="val 6415237"/>
              <a:gd name="adj2" fmla="val 8664420"/>
            </a:avLst>
          </a:prstGeom>
          <a:noFill/>
          <a:ln w="12700">
            <a:solidFill>
              <a:srgbClr val="0042FF"/>
            </a:solidFill>
            <a:prstDash val="sysDot"/>
            <a:headEnd type="none"/>
            <a:tailEnd type="triangl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2" name="弧形 241"/>
          <p:cNvSpPr/>
          <p:nvPr/>
        </p:nvSpPr>
        <p:spPr>
          <a:xfrm rot="10800000">
            <a:off x="3671000" y="1321244"/>
            <a:ext cx="4850002" cy="4850000"/>
          </a:xfrm>
          <a:prstGeom prst="arc">
            <a:avLst>
              <a:gd name="adj1" fmla="val 6415237"/>
              <a:gd name="adj2" fmla="val 8664420"/>
            </a:avLst>
          </a:prstGeom>
          <a:noFill/>
          <a:ln w="12700">
            <a:solidFill>
              <a:srgbClr val="0042FF"/>
            </a:solidFill>
            <a:prstDash val="sysDot"/>
            <a:headEnd type="none"/>
            <a:tailEnd type="triangl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3" name="弧形 242"/>
          <p:cNvSpPr/>
          <p:nvPr/>
        </p:nvSpPr>
        <p:spPr>
          <a:xfrm rot="10800000">
            <a:off x="3555444" y="1205688"/>
            <a:ext cx="5081114" cy="5081112"/>
          </a:xfrm>
          <a:prstGeom prst="arc">
            <a:avLst>
              <a:gd name="adj1" fmla="val 6369486"/>
              <a:gd name="adj2" fmla="val 8664420"/>
            </a:avLst>
          </a:prstGeom>
          <a:noFill/>
          <a:ln w="12700">
            <a:solidFill>
              <a:srgbClr val="0042FF"/>
            </a:solidFill>
            <a:prstDash val="sysDot"/>
            <a:headEnd type="triangle"/>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8" name="文本框 247"/>
          <p:cNvSpPr txBox="1"/>
          <p:nvPr/>
        </p:nvSpPr>
        <p:spPr>
          <a:xfrm>
            <a:off x="5618946" y="4880482"/>
            <a:ext cx="954108" cy="276999"/>
          </a:xfrm>
          <a:prstGeom prst="rect">
            <a:avLst/>
          </a:prstGeom>
          <a:noFill/>
        </p:spPr>
        <p:txBody>
          <a:bodyPr wrap="none">
            <a:sp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个性化服务</a:t>
            </a:r>
            <a:endParaRPr lang="zh-CN" altLang="en-US" sz="1200" dirty="0">
              <a:solidFill>
                <a:srgbClr val="0042FF"/>
              </a:solidFill>
              <a:latin typeface="微软雅黑"/>
              <a:ea typeface="微软雅黑"/>
              <a:cs typeface="微软雅黑"/>
            </a:endParaRPr>
          </a:p>
        </p:txBody>
      </p:sp>
      <p:sp>
        <p:nvSpPr>
          <p:cNvPr id="250" name="弧形 249"/>
          <p:cNvSpPr/>
          <p:nvPr/>
        </p:nvSpPr>
        <p:spPr>
          <a:xfrm flipH="1">
            <a:off x="4712934" y="2363177"/>
            <a:ext cx="2766132" cy="2766132"/>
          </a:xfrm>
          <a:prstGeom prst="arc">
            <a:avLst>
              <a:gd name="adj1" fmla="val 17846554"/>
              <a:gd name="adj2" fmla="val 4210296"/>
            </a:avLst>
          </a:prstGeom>
          <a:noFill/>
          <a:ln w="12700">
            <a:solidFill>
              <a:srgbClr val="0042FF"/>
            </a:solidFill>
            <a:prstDash val="sysDot"/>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47" name="椭圆 46"/>
          <p:cNvSpPr/>
          <p:nvPr/>
        </p:nvSpPr>
        <p:spPr>
          <a:xfrm>
            <a:off x="5461000" y="996831"/>
            <a:ext cx="1270000" cy="1270000"/>
          </a:xfrm>
          <a:prstGeom prst="ellipse">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8" name="文本框 47"/>
          <p:cNvSpPr txBox="1"/>
          <p:nvPr/>
        </p:nvSpPr>
        <p:spPr>
          <a:xfrm>
            <a:off x="5644594" y="1370221"/>
            <a:ext cx="902811" cy="523220"/>
          </a:xfrm>
          <a:prstGeom prst="rect">
            <a:avLst/>
          </a:prstGeom>
          <a:noFill/>
        </p:spPr>
        <p:txBody>
          <a:bodyPr wrap="none" anchor="ctr">
            <a:sp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1V1</a:t>
            </a:r>
            <a:endParaRPr lang="en-US" altLang="zh-CN" sz="14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私聊体系</a:t>
            </a:r>
            <a:endParaRPr lang="zh-CN" altLang="en-US" sz="1400" dirty="0">
              <a:solidFill>
                <a:srgbClr val="FFFFFF"/>
              </a:solidFill>
              <a:latin typeface="微软雅黑"/>
              <a:ea typeface="微软雅黑"/>
              <a:cs typeface="微软雅黑"/>
            </a:endParaRPr>
          </a:p>
        </p:txBody>
      </p:sp>
      <p:sp>
        <p:nvSpPr>
          <p:cNvPr id="155" name="文本框 154"/>
          <p:cNvSpPr txBox="1"/>
          <p:nvPr/>
        </p:nvSpPr>
        <p:spPr>
          <a:xfrm>
            <a:off x="3477733" y="3229304"/>
            <a:ext cx="412442" cy="830997"/>
          </a:xfrm>
          <a:prstGeom prst="rect">
            <a:avLst/>
          </a:prstGeom>
          <a:noFill/>
        </p:spPr>
        <p:txBody>
          <a:bodyPr wrap="square" anchor="ctr">
            <a:spAutoFit/>
          </a:bodyP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公域场</a:t>
            </a:r>
            <a:endParaRPr lang="zh-CN" altLang="en-US" sz="1600" b="1" dirty="0">
              <a:solidFill>
                <a:srgbClr val="FFFFFF"/>
              </a:solidFill>
              <a:latin typeface="微软雅黑"/>
              <a:ea typeface="微软雅黑"/>
              <a:cs typeface="微软雅黑"/>
            </a:endParaRPr>
          </a:p>
        </p:txBody>
      </p:sp>
      <p:grpSp>
        <p:nvGrpSpPr>
          <p:cNvPr id="113" name="组合 112"/>
          <p:cNvGrpSpPr/>
          <p:nvPr/>
        </p:nvGrpSpPr>
        <p:grpSpPr>
          <a:xfrm>
            <a:off x="1699459" y="4186347"/>
            <a:ext cx="1029112" cy="1029112"/>
            <a:chOff x="1985021" y="3912158"/>
            <a:chExt cx="1029112" cy="1029112"/>
          </a:xfrm>
        </p:grpSpPr>
        <p:sp>
          <p:nvSpPr>
            <p:cNvPr id="105" name="椭圆 104"/>
            <p:cNvSpPr/>
            <p:nvPr/>
          </p:nvSpPr>
          <p:spPr>
            <a:xfrm>
              <a:off x="1985021" y="3912158"/>
              <a:ext cx="1029112" cy="1029112"/>
            </a:xfrm>
            <a:prstGeom prst="ellipse">
              <a:avLst/>
            </a:prstGeom>
            <a:solidFill>
              <a:srgbClr val="FFFFFF"/>
            </a:solidFill>
            <a:ln w="952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106" name="组合 105"/>
            <p:cNvGrpSpPr/>
            <p:nvPr/>
          </p:nvGrpSpPr>
          <p:grpSpPr>
            <a:xfrm>
              <a:off x="2071956" y="4009256"/>
              <a:ext cx="838570" cy="761722"/>
              <a:chOff x="1672478" y="2668869"/>
              <a:chExt cx="838570" cy="761722"/>
            </a:xfrm>
          </p:grpSpPr>
          <p:sp>
            <p:nvSpPr>
              <p:cNvPr id="108" name="文本框 107"/>
              <p:cNvSpPr txBox="1"/>
              <p:nvPr/>
            </p:nvSpPr>
            <p:spPr>
              <a:xfrm>
                <a:off x="1672478" y="2951181"/>
                <a:ext cx="838570" cy="479410"/>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其他生态</a:t>
                </a:r>
                <a:endParaRPr lang="zh-CN" altLang="en-US" sz="12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电商公域</a:t>
                </a:r>
                <a:endParaRPr lang="zh-CN" altLang="en-US" sz="1200" b="1" dirty="0">
                  <a:solidFill>
                    <a:srgbClr val="0042FF"/>
                  </a:solidFill>
                  <a:latin typeface="微软雅黑"/>
                  <a:ea typeface="微软雅黑"/>
                  <a:cs typeface="微软雅黑"/>
                </a:endParaRPr>
              </a:p>
            </p:txBody>
          </p:sp>
          <p:sp>
            <p:nvSpPr>
              <p:cNvPr id="109" name="文本框 108"/>
              <p:cNvSpPr txBox="1"/>
              <p:nvPr/>
            </p:nvSpPr>
            <p:spPr>
              <a:xfrm>
                <a:off x="1880942" y="2668869"/>
                <a:ext cx="421640" cy="337185"/>
              </a:xfrm>
              <a:prstGeom prst="rect">
                <a:avLst/>
              </a:prstGeom>
              <a:noFill/>
            </p:spPr>
            <p:txBody>
              <a:bodyPr wrap="none">
                <a:spAutoFit/>
              </a:bodyPr>
              <a:lstStyle/>
              <a:p>
                <a:pPr algn="ctr">
                  <a:defRPr>
                    <a:latin typeface="微软雅黑"/>
                    <a:ea typeface="微软雅黑"/>
                    <a:cs typeface="微软雅黑"/>
                  </a:defRPr>
                </a:pPr>
                <a:r>
                  <a:rPr lang="en-US" altLang="zh-CN" sz="1600" dirty="0">
                    <a:solidFill>
                      <a:srgbClr val="0042FF"/>
                    </a:solidFill>
                    <a:latin typeface="微软雅黑"/>
                    <a:ea typeface="微软雅黑"/>
                    <a:cs typeface="微软雅黑"/>
                  </a:rPr>
                  <a:t>02</a:t>
                </a:r>
                <a:endParaRPr lang="en-US" altLang="zh-CN" sz="1600" dirty="0">
                  <a:solidFill>
                    <a:srgbClr val="0042FF"/>
                  </a:solidFill>
                  <a:latin typeface="微软雅黑"/>
                  <a:ea typeface="微软雅黑"/>
                  <a:cs typeface="微软雅黑"/>
                </a:endParaRPr>
              </a:p>
            </p:txBody>
          </p:sp>
        </p:grpSp>
      </p:grpSp>
      <p:grpSp>
        <p:nvGrpSpPr>
          <p:cNvPr id="110" name="组合 109"/>
          <p:cNvGrpSpPr/>
          <p:nvPr/>
        </p:nvGrpSpPr>
        <p:grpSpPr>
          <a:xfrm>
            <a:off x="1699459" y="2154026"/>
            <a:ext cx="1029112" cy="1029112"/>
            <a:chOff x="1985021" y="2251075"/>
            <a:chExt cx="1029112" cy="1029112"/>
          </a:xfrm>
        </p:grpSpPr>
        <p:sp>
          <p:nvSpPr>
            <p:cNvPr id="81" name="椭圆 80"/>
            <p:cNvSpPr/>
            <p:nvPr/>
          </p:nvSpPr>
          <p:spPr>
            <a:xfrm>
              <a:off x="1985021" y="2251075"/>
              <a:ext cx="1029112" cy="1029112"/>
            </a:xfrm>
            <a:prstGeom prst="ellipse">
              <a:avLst/>
            </a:prstGeom>
            <a:solidFill>
              <a:srgbClr val="FFFFFF"/>
            </a:solidFill>
            <a:ln w="952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83" name="组合 82"/>
            <p:cNvGrpSpPr/>
            <p:nvPr/>
          </p:nvGrpSpPr>
          <p:grpSpPr>
            <a:xfrm>
              <a:off x="2071956" y="2393643"/>
              <a:ext cx="838570" cy="761722"/>
              <a:chOff x="1672478" y="2668869"/>
              <a:chExt cx="838570" cy="761722"/>
            </a:xfrm>
          </p:grpSpPr>
          <p:sp>
            <p:nvSpPr>
              <p:cNvPr id="85" name="文本框 84"/>
              <p:cNvSpPr txBox="1"/>
              <p:nvPr/>
            </p:nvSpPr>
            <p:spPr>
              <a:xfrm>
                <a:off x="1672478" y="2951181"/>
                <a:ext cx="838570" cy="479410"/>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微信生态</a:t>
                </a:r>
                <a:endParaRPr lang="zh-CN" altLang="en-US" sz="12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公域</a:t>
                </a:r>
                <a:endParaRPr lang="zh-CN" altLang="en-US" sz="1200" b="1" dirty="0">
                  <a:solidFill>
                    <a:srgbClr val="0042FF"/>
                  </a:solidFill>
                  <a:latin typeface="微软雅黑"/>
                  <a:ea typeface="微软雅黑"/>
                  <a:cs typeface="微软雅黑"/>
                </a:endParaRPr>
              </a:p>
            </p:txBody>
          </p:sp>
          <p:sp>
            <p:nvSpPr>
              <p:cNvPr id="87" name="文本框 86"/>
              <p:cNvSpPr txBox="1"/>
              <p:nvPr/>
            </p:nvSpPr>
            <p:spPr>
              <a:xfrm>
                <a:off x="1880943" y="2668869"/>
                <a:ext cx="421640" cy="337185"/>
              </a:xfrm>
              <a:prstGeom prst="rect">
                <a:avLst/>
              </a:prstGeom>
              <a:noFill/>
            </p:spPr>
            <p:txBody>
              <a:bodyPr wrap="none">
                <a:spAutoFit/>
              </a:bodyPr>
              <a:lstStyle/>
              <a:p>
                <a:pPr algn="ctr">
                  <a:defRPr>
                    <a:latin typeface="微软雅黑"/>
                    <a:ea typeface="微软雅黑"/>
                    <a:cs typeface="微软雅黑"/>
                  </a:defRPr>
                </a:pPr>
                <a:r>
                  <a:rPr lang="en-US" altLang="zh-CN" sz="1600" dirty="0">
                    <a:solidFill>
                      <a:srgbClr val="0042FF"/>
                    </a:solidFill>
                    <a:latin typeface="微软雅黑"/>
                    <a:ea typeface="微软雅黑"/>
                    <a:cs typeface="微软雅黑"/>
                  </a:rPr>
                  <a:t>01</a:t>
                </a:r>
                <a:endParaRPr lang="en-US" altLang="zh-CN" sz="1600" dirty="0">
                  <a:solidFill>
                    <a:srgbClr val="0042FF"/>
                  </a:solidFill>
                  <a:latin typeface="微软雅黑"/>
                  <a:ea typeface="微软雅黑"/>
                  <a:cs typeface="微软雅黑"/>
                </a:endParaRPr>
              </a:p>
            </p:txBody>
          </p:sp>
        </p:grpSp>
      </p:grpSp>
      <p:grpSp>
        <p:nvGrpSpPr>
          <p:cNvPr id="170" name="组合 169"/>
          <p:cNvGrpSpPr/>
          <p:nvPr/>
        </p:nvGrpSpPr>
        <p:grpSpPr>
          <a:xfrm flipH="1">
            <a:off x="10368947" y="894604"/>
            <a:ext cx="601391" cy="601390"/>
            <a:chOff x="1445821" y="1329037"/>
            <a:chExt cx="515417" cy="515417"/>
          </a:xfrm>
        </p:grpSpPr>
        <p:sp>
          <p:nvSpPr>
            <p:cNvPr id="192" name="椭圆 191"/>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3" name="文本框 192"/>
            <p:cNvSpPr txBox="1"/>
            <p:nvPr/>
          </p:nvSpPr>
          <p:spPr>
            <a:xfrm>
              <a:off x="1525480" y="1436224"/>
              <a:ext cx="356099"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会员</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服务</a:t>
              </a:r>
              <a:endParaRPr lang="zh-CN" altLang="en-US" sz="1000" dirty="0">
                <a:solidFill>
                  <a:srgbClr val="383838"/>
                </a:solidFill>
                <a:latin typeface="微软雅黑"/>
                <a:ea typeface="微软雅黑"/>
                <a:cs typeface="微软雅黑"/>
              </a:endParaRPr>
            </a:p>
          </p:txBody>
        </p:sp>
      </p:grpSp>
      <p:grpSp>
        <p:nvGrpSpPr>
          <p:cNvPr id="171" name="组合 170"/>
          <p:cNvGrpSpPr/>
          <p:nvPr/>
        </p:nvGrpSpPr>
        <p:grpSpPr>
          <a:xfrm flipH="1">
            <a:off x="10731248" y="1528436"/>
            <a:ext cx="601391" cy="601390"/>
            <a:chOff x="1445821" y="1329037"/>
            <a:chExt cx="515417" cy="515417"/>
          </a:xfrm>
        </p:grpSpPr>
        <p:sp>
          <p:nvSpPr>
            <p:cNvPr id="190" name="椭圆 189"/>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1" name="文本框 190"/>
            <p:cNvSpPr txBox="1"/>
            <p:nvPr/>
          </p:nvSpPr>
          <p:spPr>
            <a:xfrm>
              <a:off x="1525480" y="1436224"/>
              <a:ext cx="356099"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内容</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种草</a:t>
              </a:r>
              <a:endParaRPr lang="zh-CN" altLang="en-US" sz="1000" dirty="0">
                <a:solidFill>
                  <a:srgbClr val="383838"/>
                </a:solidFill>
                <a:latin typeface="微软雅黑"/>
                <a:ea typeface="微软雅黑"/>
                <a:cs typeface="微软雅黑"/>
              </a:endParaRPr>
            </a:p>
          </p:txBody>
        </p:sp>
      </p:grpSp>
      <p:grpSp>
        <p:nvGrpSpPr>
          <p:cNvPr id="173" name="组合 172"/>
          <p:cNvGrpSpPr/>
          <p:nvPr/>
        </p:nvGrpSpPr>
        <p:grpSpPr>
          <a:xfrm flipH="1">
            <a:off x="11047693" y="2945200"/>
            <a:ext cx="601391" cy="601390"/>
            <a:chOff x="1445821" y="1329037"/>
            <a:chExt cx="515417" cy="515417"/>
          </a:xfrm>
        </p:grpSpPr>
        <p:sp>
          <p:nvSpPr>
            <p:cNvPr id="186" name="椭圆 185"/>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7" name="文本框 186"/>
            <p:cNvSpPr txBox="1"/>
            <p:nvPr/>
          </p:nvSpPr>
          <p:spPr>
            <a:xfrm>
              <a:off x="1525480" y="1436224"/>
              <a:ext cx="356099"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品牌</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宣传</a:t>
              </a:r>
              <a:endParaRPr lang="zh-CN" altLang="en-US" sz="1000" dirty="0">
                <a:solidFill>
                  <a:srgbClr val="383838"/>
                </a:solidFill>
                <a:latin typeface="微软雅黑"/>
                <a:ea typeface="微软雅黑"/>
                <a:cs typeface="微软雅黑"/>
              </a:endParaRPr>
            </a:p>
          </p:txBody>
        </p:sp>
      </p:grpSp>
      <p:sp>
        <p:nvSpPr>
          <p:cNvPr id="196" name="文本框 195"/>
          <p:cNvSpPr txBox="1"/>
          <p:nvPr/>
        </p:nvSpPr>
        <p:spPr>
          <a:xfrm>
            <a:off x="8353270" y="3229304"/>
            <a:ext cx="412442" cy="830997"/>
          </a:xfrm>
          <a:prstGeom prst="rect">
            <a:avLst/>
          </a:prstGeom>
          <a:noFill/>
        </p:spPr>
        <p:txBody>
          <a:bodyPr wrap="square" anchor="ctr">
            <a:spAutoFit/>
          </a:bodyPr>
          <a:lstStyle/>
          <a:p>
            <a:pPr algn="ctr">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私域场</a:t>
            </a:r>
            <a:endParaRPr lang="zh-CN" altLang="en-US" sz="1600" b="1" dirty="0">
              <a:solidFill>
                <a:srgbClr val="FFFFFF"/>
              </a:solidFill>
              <a:latin typeface="微软雅黑"/>
              <a:ea typeface="微软雅黑"/>
              <a:cs typeface="微软雅黑"/>
            </a:endParaRPr>
          </a:p>
        </p:txBody>
      </p:sp>
      <p:cxnSp>
        <p:nvCxnSpPr>
          <p:cNvPr id="221" name="直接连接符 220"/>
          <p:cNvCxnSpPr/>
          <p:nvPr/>
        </p:nvCxnSpPr>
        <p:spPr>
          <a:xfrm>
            <a:off x="9013825" y="3746243"/>
            <a:ext cx="3178175" cy="0"/>
          </a:xfrm>
          <a:prstGeom prst="line">
            <a:avLst/>
          </a:prstGeom>
          <a:ln w="203200">
            <a:solidFill>
              <a:srgbClr val="FFFFFF"/>
            </a:solidFill>
          </a:ln>
        </p:spPr>
        <p:style>
          <a:lnRef idx="2">
            <a:srgbClr val="0042FF"/>
          </a:lnRef>
          <a:fillRef idx="0">
            <a:srgbClr val="0042FF"/>
          </a:fillRef>
          <a:effectRef idx="1">
            <a:srgbClr val="0042FF"/>
          </a:effectRef>
          <a:fontRef idx="minor">
            <a:srgbClr val="383838"/>
          </a:fontRef>
        </p:style>
      </p:cxnSp>
      <p:sp>
        <p:nvSpPr>
          <p:cNvPr id="247" name="文本框 246"/>
          <p:cNvSpPr txBox="1"/>
          <p:nvPr/>
        </p:nvSpPr>
        <p:spPr>
          <a:xfrm>
            <a:off x="5465058" y="2349096"/>
            <a:ext cx="1261884" cy="276999"/>
          </a:xfrm>
          <a:prstGeom prst="rect">
            <a:avLst/>
          </a:prstGeom>
          <a:noFill/>
        </p:spPr>
        <p:txBody>
          <a:bodyPr wrap="none">
            <a:spAutoFit/>
          </a:bodyPr>
          <a:lstStyle/>
          <a:p>
            <a:pPr algn="ctr">
              <a:defRPr>
                <a:latin typeface="微软雅黑"/>
                <a:ea typeface="微软雅黑"/>
                <a:cs typeface="微软雅黑"/>
              </a:defRPr>
            </a:pPr>
            <a:r>
              <a:rPr lang="zh-CN" altLang="en-US" sz="1200" dirty="0">
                <a:solidFill>
                  <a:srgbClr val="0042FF"/>
                </a:solidFill>
                <a:latin typeface="微软雅黑"/>
                <a:ea typeface="微软雅黑"/>
                <a:cs typeface="微软雅黑"/>
              </a:rPr>
              <a:t>数据收集与分析</a:t>
            </a:r>
            <a:endParaRPr lang="zh-CN" altLang="en-US" sz="1200" dirty="0">
              <a:solidFill>
                <a:srgbClr val="0042FF"/>
              </a:solidFill>
              <a:latin typeface="微软雅黑"/>
              <a:ea typeface="微软雅黑"/>
              <a:cs typeface="微软雅黑"/>
            </a:endParaRPr>
          </a:p>
        </p:txBody>
      </p:sp>
      <p:grpSp>
        <p:nvGrpSpPr>
          <p:cNvPr id="260" name="组合 259"/>
          <p:cNvGrpSpPr/>
          <p:nvPr/>
        </p:nvGrpSpPr>
        <p:grpSpPr>
          <a:xfrm>
            <a:off x="9295549" y="3628494"/>
            <a:ext cx="2550752" cy="230832"/>
            <a:chOff x="9243940" y="3652256"/>
            <a:chExt cx="2550752" cy="230832"/>
          </a:xfrm>
        </p:grpSpPr>
        <p:sp>
          <p:nvSpPr>
            <p:cNvPr id="261" name="文本框 260"/>
            <p:cNvSpPr txBox="1"/>
            <p:nvPr/>
          </p:nvSpPr>
          <p:spPr>
            <a:xfrm>
              <a:off x="9243940" y="3652256"/>
              <a:ext cx="761747" cy="230832"/>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私域留量池</a:t>
              </a:r>
              <a:endParaRPr lang="zh-CN" altLang="en-US" sz="1000" b="1" dirty="0">
                <a:solidFill>
                  <a:srgbClr val="383838"/>
                </a:solidFill>
                <a:latin typeface="微软雅黑"/>
                <a:ea typeface="微软雅黑"/>
                <a:cs typeface="微软雅黑"/>
              </a:endParaRPr>
            </a:p>
          </p:txBody>
        </p:sp>
        <p:sp>
          <p:nvSpPr>
            <p:cNvPr id="262" name="文本框 261"/>
            <p:cNvSpPr txBox="1"/>
            <p:nvPr/>
          </p:nvSpPr>
          <p:spPr>
            <a:xfrm>
              <a:off x="10138443" y="3652256"/>
              <a:ext cx="761747" cy="230832"/>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私域复购池</a:t>
              </a:r>
              <a:endParaRPr lang="zh-CN" altLang="en-US" sz="1000" b="1" dirty="0">
                <a:solidFill>
                  <a:srgbClr val="383838"/>
                </a:solidFill>
                <a:latin typeface="微软雅黑"/>
                <a:ea typeface="微软雅黑"/>
                <a:cs typeface="微软雅黑"/>
              </a:endParaRPr>
            </a:p>
          </p:txBody>
        </p:sp>
        <p:sp>
          <p:nvSpPr>
            <p:cNvPr id="263" name="文本框 262"/>
            <p:cNvSpPr txBox="1"/>
            <p:nvPr/>
          </p:nvSpPr>
          <p:spPr>
            <a:xfrm>
              <a:off x="11032945" y="3652256"/>
              <a:ext cx="761747" cy="230832"/>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私域转化场</a:t>
              </a:r>
              <a:endParaRPr lang="zh-CN" altLang="en-US" sz="1000" b="1" dirty="0">
                <a:solidFill>
                  <a:srgbClr val="383838"/>
                </a:solidFill>
                <a:latin typeface="微软雅黑"/>
                <a:ea typeface="微软雅黑"/>
                <a:cs typeface="微软雅黑"/>
              </a:endParaRPr>
            </a:p>
          </p:txBody>
        </p:sp>
      </p:grpSp>
      <p:grpSp>
        <p:nvGrpSpPr>
          <p:cNvPr id="126" name="组合 125"/>
          <p:cNvGrpSpPr/>
          <p:nvPr/>
        </p:nvGrpSpPr>
        <p:grpSpPr>
          <a:xfrm>
            <a:off x="1237244" y="927046"/>
            <a:ext cx="601392" cy="601390"/>
            <a:chOff x="1445821" y="1329037"/>
            <a:chExt cx="515417" cy="515417"/>
          </a:xfrm>
        </p:grpSpPr>
        <p:sp>
          <p:nvSpPr>
            <p:cNvPr id="122" name="椭圆 121"/>
            <p:cNvSpPr/>
            <p:nvPr/>
          </p:nvSpPr>
          <p:spPr>
            <a:xfrm>
              <a:off x="1445821" y="1329037"/>
              <a:ext cx="515417" cy="515417"/>
            </a:xfrm>
            <a:prstGeom prst="ellipse">
              <a:avLst/>
            </a:prstGeom>
            <a:solidFill>
              <a:srgbClr val="FFFFFF"/>
            </a:solidFill>
            <a:ln w="12700" cmpd="sng">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24" name="文本框 123"/>
            <p:cNvSpPr txBox="1"/>
            <p:nvPr/>
          </p:nvSpPr>
          <p:spPr>
            <a:xfrm>
              <a:off x="1476021" y="1436224"/>
              <a:ext cx="455016" cy="316533"/>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视频号</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直播</a:t>
              </a:r>
              <a:endParaRPr lang="zh-CN" altLang="en-US" sz="1000" dirty="0">
                <a:solidFill>
                  <a:srgbClr val="383838"/>
                </a:solidFill>
                <a:latin typeface="微软雅黑"/>
                <a:ea typeface="微软雅黑"/>
                <a:cs typeface="微软雅黑"/>
              </a:endParaRPr>
            </a:p>
          </p:txBody>
        </p:sp>
      </p:grpSp>
      <p:grpSp>
        <p:nvGrpSpPr>
          <p:cNvPr id="127" name="组合 126"/>
          <p:cNvGrpSpPr/>
          <p:nvPr/>
        </p:nvGrpSpPr>
        <p:grpSpPr>
          <a:xfrm>
            <a:off x="874940" y="1535357"/>
            <a:ext cx="601391" cy="601390"/>
            <a:chOff x="1445821" y="1329037"/>
            <a:chExt cx="515417" cy="515417"/>
          </a:xfrm>
        </p:grpSpPr>
        <p:sp>
          <p:nvSpPr>
            <p:cNvPr id="128" name="椭圆 127"/>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29" name="文本框 128"/>
            <p:cNvSpPr txBox="1"/>
            <p:nvPr/>
          </p:nvSpPr>
          <p:spPr>
            <a:xfrm>
              <a:off x="1525480" y="1436224"/>
              <a:ext cx="356099" cy="316533"/>
            </a:xfrm>
            <a:prstGeom prst="rect">
              <a:avLst/>
            </a:prstGeom>
            <a:noFill/>
            <a:ln>
              <a:solidFill>
                <a:srgbClr val="383838">
                  <a:alpha val="0"/>
                </a:srgbClr>
              </a:solid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广告</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投放</a:t>
              </a:r>
              <a:endParaRPr lang="zh-CN" altLang="en-US" sz="1000" dirty="0">
                <a:solidFill>
                  <a:srgbClr val="383838"/>
                </a:solidFill>
                <a:latin typeface="微软雅黑"/>
                <a:ea typeface="微软雅黑"/>
                <a:cs typeface="微软雅黑"/>
              </a:endParaRPr>
            </a:p>
          </p:txBody>
        </p:sp>
      </p:grpSp>
      <p:grpSp>
        <p:nvGrpSpPr>
          <p:cNvPr id="130" name="组合 129"/>
          <p:cNvGrpSpPr/>
          <p:nvPr/>
        </p:nvGrpSpPr>
        <p:grpSpPr>
          <a:xfrm>
            <a:off x="652931" y="2228034"/>
            <a:ext cx="646332" cy="601390"/>
            <a:chOff x="1426564" y="1329037"/>
            <a:chExt cx="553933" cy="515417"/>
          </a:xfrm>
        </p:grpSpPr>
        <p:sp>
          <p:nvSpPr>
            <p:cNvPr id="131" name="椭圆 130"/>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32" name="文本框 131"/>
            <p:cNvSpPr txBox="1"/>
            <p:nvPr/>
          </p:nvSpPr>
          <p:spPr>
            <a:xfrm>
              <a:off x="1426564" y="1436224"/>
              <a:ext cx="553933" cy="316533"/>
            </a:xfrm>
            <a:prstGeom prst="rect">
              <a:avLst/>
            </a:prstGeom>
            <a:noFill/>
            <a:ln>
              <a:solidFill>
                <a:srgbClr val="383838">
                  <a:alpha val="0"/>
                </a:srgbClr>
              </a:solid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微信</a:t>
              </a:r>
              <a:r>
                <a:rPr lang="en-US" altLang="zh-CN" sz="1000" dirty="0">
                  <a:solidFill>
                    <a:srgbClr val="383838"/>
                  </a:solidFill>
                  <a:latin typeface="微软雅黑"/>
                  <a:ea typeface="微软雅黑"/>
                  <a:cs typeface="微软雅黑"/>
                </a:rPr>
                <a:t>KOL</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/KOC</a:t>
              </a:r>
              <a:endParaRPr lang="en-US" altLang="zh-CN" sz="1000" dirty="0">
                <a:solidFill>
                  <a:srgbClr val="383838"/>
                </a:solidFill>
                <a:latin typeface="微软雅黑"/>
                <a:ea typeface="微软雅黑"/>
                <a:cs typeface="微软雅黑"/>
              </a:endParaRPr>
            </a:p>
          </p:txBody>
        </p:sp>
      </p:grpSp>
      <p:grpSp>
        <p:nvGrpSpPr>
          <p:cNvPr id="133" name="组合 132"/>
          <p:cNvGrpSpPr/>
          <p:nvPr/>
        </p:nvGrpSpPr>
        <p:grpSpPr>
          <a:xfrm>
            <a:off x="558497" y="2930057"/>
            <a:ext cx="601392" cy="601390"/>
            <a:chOff x="1445821" y="1329037"/>
            <a:chExt cx="515417" cy="515417"/>
          </a:xfrm>
        </p:grpSpPr>
        <p:sp>
          <p:nvSpPr>
            <p:cNvPr id="134" name="椭圆 133"/>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35" name="文本框 134"/>
            <p:cNvSpPr txBox="1"/>
            <p:nvPr/>
          </p:nvSpPr>
          <p:spPr>
            <a:xfrm>
              <a:off x="1476021" y="1436224"/>
              <a:ext cx="455016" cy="316533"/>
            </a:xfrm>
            <a:prstGeom prst="rect">
              <a:avLst/>
            </a:prstGeom>
            <a:noFill/>
            <a:ln>
              <a:solidFill>
                <a:srgbClr val="383838">
                  <a:alpha val="0"/>
                </a:srgbClr>
              </a:solid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品牌异</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业引流</a:t>
              </a:r>
              <a:endParaRPr lang="zh-CN" altLang="en-US" sz="1000" dirty="0">
                <a:solidFill>
                  <a:srgbClr val="383838"/>
                </a:solidFill>
                <a:latin typeface="微软雅黑"/>
                <a:ea typeface="微软雅黑"/>
                <a:cs typeface="微软雅黑"/>
              </a:endParaRPr>
            </a:p>
          </p:txBody>
        </p:sp>
      </p:grpSp>
      <p:grpSp>
        <p:nvGrpSpPr>
          <p:cNvPr id="137" name="组合 136"/>
          <p:cNvGrpSpPr/>
          <p:nvPr/>
        </p:nvGrpSpPr>
        <p:grpSpPr>
          <a:xfrm>
            <a:off x="478318" y="3952247"/>
            <a:ext cx="761748" cy="601390"/>
            <a:chOff x="1377106" y="1329037"/>
            <a:chExt cx="652849" cy="515417"/>
          </a:xfrm>
        </p:grpSpPr>
        <p:sp>
          <p:nvSpPr>
            <p:cNvPr id="138" name="椭圆 137"/>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39" name="文本框 138"/>
            <p:cNvSpPr txBox="1"/>
            <p:nvPr/>
          </p:nvSpPr>
          <p:spPr>
            <a:xfrm>
              <a:off x="1377106" y="1414455"/>
              <a:ext cx="652849" cy="316533"/>
            </a:xfrm>
            <a:prstGeom prst="rect">
              <a:avLst/>
            </a:prstGeom>
            <a:noFill/>
            <a:ln>
              <a:solidFill>
                <a:srgbClr val="383838">
                  <a:alpha val="0"/>
                </a:srgbClr>
              </a:solid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电商</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（包裹卡）</a:t>
              </a:r>
              <a:endParaRPr lang="zh-CN" altLang="en-US" sz="1000" dirty="0">
                <a:solidFill>
                  <a:srgbClr val="383838"/>
                </a:solidFill>
                <a:latin typeface="微软雅黑"/>
                <a:ea typeface="微软雅黑"/>
                <a:cs typeface="微软雅黑"/>
              </a:endParaRPr>
            </a:p>
          </p:txBody>
        </p:sp>
      </p:grpSp>
      <p:grpSp>
        <p:nvGrpSpPr>
          <p:cNvPr id="140" name="组合 139"/>
          <p:cNvGrpSpPr/>
          <p:nvPr/>
        </p:nvGrpSpPr>
        <p:grpSpPr>
          <a:xfrm>
            <a:off x="675400" y="4666712"/>
            <a:ext cx="601391" cy="601390"/>
            <a:chOff x="1445821" y="1329037"/>
            <a:chExt cx="515417" cy="515417"/>
          </a:xfrm>
        </p:grpSpPr>
        <p:sp>
          <p:nvSpPr>
            <p:cNvPr id="141" name="椭圆 140"/>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42" name="文本框 141"/>
            <p:cNvSpPr txBox="1"/>
            <p:nvPr/>
          </p:nvSpPr>
          <p:spPr>
            <a:xfrm>
              <a:off x="1525480" y="1436224"/>
              <a:ext cx="356099" cy="316533"/>
            </a:xfrm>
            <a:prstGeom prst="rect">
              <a:avLst/>
            </a:prstGeom>
            <a:noFill/>
            <a:ln>
              <a:solidFill>
                <a:srgbClr val="383838">
                  <a:alpha val="0"/>
                </a:srgbClr>
              </a:solid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直播</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电商</a:t>
              </a:r>
              <a:endParaRPr lang="zh-CN" altLang="en-US" sz="1000" dirty="0">
                <a:solidFill>
                  <a:srgbClr val="383838"/>
                </a:solidFill>
                <a:latin typeface="微软雅黑"/>
                <a:ea typeface="微软雅黑"/>
                <a:cs typeface="微软雅黑"/>
              </a:endParaRPr>
            </a:p>
          </p:txBody>
        </p:sp>
      </p:grpSp>
      <p:grpSp>
        <p:nvGrpSpPr>
          <p:cNvPr id="143" name="组合 142"/>
          <p:cNvGrpSpPr/>
          <p:nvPr/>
        </p:nvGrpSpPr>
        <p:grpSpPr>
          <a:xfrm>
            <a:off x="874940" y="5338927"/>
            <a:ext cx="601391" cy="601390"/>
            <a:chOff x="1445821" y="1329037"/>
            <a:chExt cx="515417" cy="515417"/>
          </a:xfrm>
        </p:grpSpPr>
        <p:sp>
          <p:nvSpPr>
            <p:cNvPr id="144" name="椭圆 143"/>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45" name="文本框 144"/>
            <p:cNvSpPr txBox="1"/>
            <p:nvPr/>
          </p:nvSpPr>
          <p:spPr>
            <a:xfrm>
              <a:off x="1525480" y="1436224"/>
              <a:ext cx="356099"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平台</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电商</a:t>
              </a:r>
              <a:endParaRPr lang="zh-CN" altLang="en-US" sz="1000" dirty="0">
                <a:solidFill>
                  <a:srgbClr val="383838"/>
                </a:solidFill>
                <a:latin typeface="微软雅黑"/>
                <a:ea typeface="微软雅黑"/>
                <a:cs typeface="微软雅黑"/>
              </a:endParaRPr>
            </a:p>
          </p:txBody>
        </p:sp>
      </p:grpSp>
      <p:grpSp>
        <p:nvGrpSpPr>
          <p:cNvPr id="150" name="组合 149"/>
          <p:cNvGrpSpPr/>
          <p:nvPr/>
        </p:nvGrpSpPr>
        <p:grpSpPr>
          <a:xfrm>
            <a:off x="1237244" y="5980985"/>
            <a:ext cx="601392" cy="601390"/>
            <a:chOff x="1445821" y="1329037"/>
            <a:chExt cx="515417" cy="515417"/>
          </a:xfrm>
        </p:grpSpPr>
        <p:sp>
          <p:nvSpPr>
            <p:cNvPr id="151" name="椭圆 150"/>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2" name="文本框 151"/>
            <p:cNvSpPr txBox="1"/>
            <p:nvPr/>
          </p:nvSpPr>
          <p:spPr>
            <a:xfrm>
              <a:off x="1489073" y="1436224"/>
              <a:ext cx="428913" cy="316533"/>
            </a:xfrm>
            <a:prstGeom prst="rect">
              <a:avLst/>
            </a:prstGeom>
            <a:noFill/>
            <a:ln>
              <a:no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电销</a:t>
              </a:r>
              <a:r>
                <a:rPr lang="en-US" altLang="zh-CN"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短信</a:t>
              </a:r>
              <a:endParaRPr lang="zh-CN" altLang="en-US" sz="1000" dirty="0">
                <a:solidFill>
                  <a:srgbClr val="383838"/>
                </a:solidFill>
                <a:latin typeface="微软雅黑"/>
                <a:ea typeface="微软雅黑"/>
                <a:cs typeface="微软雅黑"/>
              </a:endParaRPr>
            </a:p>
          </p:txBody>
        </p:sp>
      </p:grpSp>
      <p:grpSp>
        <p:nvGrpSpPr>
          <p:cNvPr id="172" name="组合 171"/>
          <p:cNvGrpSpPr/>
          <p:nvPr/>
        </p:nvGrpSpPr>
        <p:grpSpPr>
          <a:xfrm flipH="1">
            <a:off x="10930787" y="2230408"/>
            <a:ext cx="601391" cy="601390"/>
            <a:chOff x="1445821" y="1329037"/>
            <a:chExt cx="515417" cy="515417"/>
          </a:xfrm>
        </p:grpSpPr>
        <p:sp>
          <p:nvSpPr>
            <p:cNvPr id="188" name="椭圆 187"/>
            <p:cNvSpPr/>
            <p:nvPr/>
          </p:nvSpPr>
          <p:spPr>
            <a:xfrm>
              <a:off x="1445821" y="1329037"/>
              <a:ext cx="515417" cy="515417"/>
            </a:xfrm>
            <a:prstGeom prst="ellipse">
              <a:avLst/>
            </a:prstGeom>
            <a:solidFill>
              <a:srgbClr val="FFFFFF"/>
            </a:solidFill>
            <a:ln w="6350">
              <a:solidFill>
                <a:srgbClr val="B3D4FE"/>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9" name="文本框 188"/>
            <p:cNvSpPr txBox="1"/>
            <p:nvPr/>
          </p:nvSpPr>
          <p:spPr>
            <a:xfrm>
              <a:off x="1525480" y="1436224"/>
              <a:ext cx="356099" cy="316533"/>
            </a:xfrm>
            <a:prstGeom prst="rect">
              <a:avLst/>
            </a:prstGeom>
            <a:noFill/>
            <a:ln>
              <a:solidFill>
                <a:srgbClr val="383838">
                  <a:alpha val="0"/>
                </a:srgbClr>
              </a:solidFill>
              <a:prstDash val="solid"/>
            </a:ln>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活动</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推广</a:t>
              </a:r>
              <a:endParaRPr lang="zh-CN" altLang="en-US" sz="1000" dirty="0">
                <a:solidFill>
                  <a:srgbClr val="383838"/>
                </a:solidFill>
                <a:latin typeface="微软雅黑"/>
                <a:ea typeface="微软雅黑"/>
                <a:cs typeface="微软雅黑"/>
              </a:endParaRPr>
            </a:p>
          </p:txBody>
        </p:sp>
      </p:grpSp>
      <p:cxnSp>
        <p:nvCxnSpPr>
          <p:cNvPr id="283" name="直接连接符 282"/>
          <p:cNvCxnSpPr/>
          <p:nvPr/>
        </p:nvCxnSpPr>
        <p:spPr>
          <a:xfrm>
            <a:off x="-3368" y="3746243"/>
            <a:ext cx="3178175" cy="0"/>
          </a:xfrm>
          <a:prstGeom prst="line">
            <a:avLst/>
          </a:prstGeom>
          <a:ln w="203200">
            <a:solidFill>
              <a:srgbClr val="FFFFFF"/>
            </a:solidFill>
          </a:ln>
        </p:spPr>
        <p:style>
          <a:lnRef idx="2">
            <a:srgbClr val="0042FF"/>
          </a:lnRef>
          <a:fillRef idx="0">
            <a:srgbClr val="0042FF"/>
          </a:fillRef>
          <a:effectRef idx="1">
            <a:srgbClr val="0042FF"/>
          </a:effectRef>
          <a:fontRef idx="minor">
            <a:srgbClr val="383838"/>
          </a:fontRef>
        </p:style>
      </p:cxnSp>
      <p:grpSp>
        <p:nvGrpSpPr>
          <p:cNvPr id="284" name="组合 283"/>
          <p:cNvGrpSpPr/>
          <p:nvPr/>
        </p:nvGrpSpPr>
        <p:grpSpPr>
          <a:xfrm>
            <a:off x="371355" y="3628494"/>
            <a:ext cx="2435336" cy="230832"/>
            <a:chOff x="9301648" y="3652256"/>
            <a:chExt cx="2435336" cy="230832"/>
          </a:xfrm>
        </p:grpSpPr>
        <p:sp>
          <p:nvSpPr>
            <p:cNvPr id="285" name="文本框 284"/>
            <p:cNvSpPr txBox="1"/>
            <p:nvPr/>
          </p:nvSpPr>
          <p:spPr>
            <a:xfrm>
              <a:off x="9301648" y="3652256"/>
              <a:ext cx="646331" cy="230832"/>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搜索引擎</a:t>
              </a:r>
              <a:endParaRPr lang="zh-CN" altLang="en-US" sz="1000" b="1" dirty="0">
                <a:solidFill>
                  <a:srgbClr val="383838"/>
                </a:solidFill>
                <a:latin typeface="微软雅黑"/>
                <a:ea typeface="微软雅黑"/>
                <a:cs typeface="微软雅黑"/>
              </a:endParaRPr>
            </a:p>
          </p:txBody>
        </p:sp>
        <p:sp>
          <p:nvSpPr>
            <p:cNvPr id="286" name="文本框 285"/>
            <p:cNvSpPr txBox="1"/>
            <p:nvPr/>
          </p:nvSpPr>
          <p:spPr>
            <a:xfrm>
              <a:off x="10080735" y="3652256"/>
              <a:ext cx="877163" cy="230832"/>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社交媒体平台</a:t>
              </a:r>
              <a:endParaRPr lang="zh-CN" altLang="en-US" sz="1000" b="1" dirty="0">
                <a:solidFill>
                  <a:srgbClr val="383838"/>
                </a:solidFill>
                <a:latin typeface="微软雅黑"/>
                <a:ea typeface="微软雅黑"/>
                <a:cs typeface="微软雅黑"/>
              </a:endParaRPr>
            </a:p>
          </p:txBody>
        </p:sp>
        <p:sp>
          <p:nvSpPr>
            <p:cNvPr id="287" name="文本框 286"/>
            <p:cNvSpPr txBox="1"/>
            <p:nvPr/>
          </p:nvSpPr>
          <p:spPr>
            <a:xfrm>
              <a:off x="11090653" y="3652256"/>
              <a:ext cx="646331" cy="230832"/>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b="1" dirty="0">
                  <a:solidFill>
                    <a:srgbClr val="383838"/>
                  </a:solidFill>
                  <a:latin typeface="微软雅黑"/>
                  <a:ea typeface="微软雅黑"/>
                  <a:cs typeface="微软雅黑"/>
                </a:rPr>
                <a:t>电商平台</a:t>
              </a:r>
              <a:endParaRPr lang="zh-CN" altLang="en-US" sz="1000" b="1" dirty="0">
                <a:solidFill>
                  <a:srgbClr val="383838"/>
                </a:solidFill>
                <a:latin typeface="微软雅黑"/>
                <a:ea typeface="微软雅黑"/>
                <a:cs typeface="微软雅黑"/>
              </a:endParaRPr>
            </a:p>
          </p:txBody>
        </p:sp>
      </p:grpSp>
      <p:sp>
        <p:nvSpPr>
          <p:cNvPr id="288" name="弧形 287"/>
          <p:cNvSpPr/>
          <p:nvPr/>
        </p:nvSpPr>
        <p:spPr>
          <a:xfrm>
            <a:off x="4379511" y="2029755"/>
            <a:ext cx="3432980" cy="3432978"/>
          </a:xfrm>
          <a:prstGeom prst="arc">
            <a:avLst>
              <a:gd name="adj1" fmla="val 8768609"/>
              <a:gd name="adj2" fmla="val 12832362"/>
            </a:avLst>
          </a:prstGeom>
          <a:noFill/>
          <a:ln w="508000">
            <a:solidFill>
              <a:srgbClr val="3368FF">
                <a:alpha val="71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89" name="文本框 288"/>
          <p:cNvSpPr txBox="1"/>
          <p:nvPr/>
        </p:nvSpPr>
        <p:spPr>
          <a:xfrm>
            <a:off x="4199398" y="3327826"/>
            <a:ext cx="412442" cy="830997"/>
          </a:xfrm>
          <a:prstGeom prst="rect">
            <a:avLst/>
          </a:prstGeom>
          <a:noFill/>
        </p:spPr>
        <p:txBody>
          <a:bodyPr wrap="square">
            <a:spAutoFit/>
          </a:bodyPr>
          <a:lstStyle/>
          <a:p>
            <a:pPr algn="ctr">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流量转化</a:t>
            </a:r>
            <a:endParaRPr lang="zh-CN" altLang="en-US" sz="1200" dirty="0">
              <a:solidFill>
                <a:srgbClr val="383838"/>
              </a:solidFill>
              <a:latin typeface="微软雅黑"/>
              <a:ea typeface="微软雅黑"/>
              <a:cs typeface="微软雅黑"/>
            </a:endParaRPr>
          </a:p>
        </p:txBody>
      </p:sp>
      <p:sp>
        <p:nvSpPr>
          <p:cNvPr id="290" name="弧形 289"/>
          <p:cNvSpPr/>
          <p:nvPr/>
        </p:nvSpPr>
        <p:spPr>
          <a:xfrm flipH="1">
            <a:off x="4379511" y="2029755"/>
            <a:ext cx="3432980" cy="3432978"/>
          </a:xfrm>
          <a:prstGeom prst="arc">
            <a:avLst>
              <a:gd name="adj1" fmla="val 8768609"/>
              <a:gd name="adj2" fmla="val 12832362"/>
            </a:avLst>
          </a:prstGeom>
          <a:noFill/>
          <a:ln w="508000">
            <a:solidFill>
              <a:srgbClr val="3368FF">
                <a:alpha val="71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91" name="文本框 290"/>
          <p:cNvSpPr txBox="1"/>
          <p:nvPr/>
        </p:nvSpPr>
        <p:spPr>
          <a:xfrm>
            <a:off x="7586615" y="3327826"/>
            <a:ext cx="412442" cy="830997"/>
          </a:xfrm>
          <a:prstGeom prst="rect">
            <a:avLst/>
          </a:prstGeom>
          <a:noFill/>
        </p:spPr>
        <p:txBody>
          <a:bodyPr wrap="square">
            <a:spAutoFit/>
          </a:bodyPr>
          <a:lstStyle/>
          <a:p>
            <a:pPr algn="ctr">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用户管理</a:t>
            </a:r>
            <a:endParaRPr lang="zh-CN" altLang="en-US" sz="1200" dirty="0">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lang="zh-CN" altLang="en-US" sz="2500">
                <a:solidFill>
                  <a:srgbClr val="383838"/>
                </a:solidFill>
                <a:effectLst/>
                <a:latin typeface="微软雅黑"/>
                <a:ea typeface="微软雅黑"/>
                <a:cs typeface="微软雅黑"/>
              </a:rPr>
              <a:t>电商私域流量闭环模型</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 name="组合 5"/>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
        <p:nvSpPr>
          <p:cNvPr id="50" name="椭圆 49"/>
          <p:cNvSpPr/>
          <p:nvPr/>
        </p:nvSpPr>
        <p:spPr>
          <a:xfrm>
            <a:off x="5069305" y="2719548"/>
            <a:ext cx="2053390" cy="2053390"/>
          </a:xfrm>
          <a:prstGeom prst="ellipse">
            <a:avLst/>
          </a:prstGeom>
          <a:gradFill>
            <a:gsLst>
              <a:gs pos="0">
                <a:srgbClr val="3368FF"/>
              </a:gs>
              <a:gs pos="100000">
                <a:srgbClr val="B3D4FE"/>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1" name="文本框 50"/>
          <p:cNvSpPr txBox="1"/>
          <p:nvPr/>
        </p:nvSpPr>
        <p:spPr>
          <a:xfrm>
            <a:off x="5369561" y="3316031"/>
            <a:ext cx="1452880" cy="860425"/>
          </a:xfrm>
          <a:prstGeom prst="rect">
            <a:avLst/>
          </a:prstGeom>
          <a:noFill/>
        </p:spPr>
        <p:txBody>
          <a:bodyPr wrap="none" anchor="ctr">
            <a:spAutoFit/>
          </a:bodyPr>
          <a:lstStyle/>
          <a:p>
            <a:pPr algn="ctr">
              <a:defRPr>
                <a:latin typeface="微软雅黑"/>
                <a:ea typeface="微软雅黑"/>
                <a:cs typeface="微软雅黑"/>
              </a:defRPr>
            </a:pPr>
            <a:r>
              <a:rPr lang="zh-CN" altLang="en-US" sz="2500" b="1">
                <a:solidFill>
                  <a:srgbClr val="383838"/>
                </a:solidFill>
                <a:effectLst/>
                <a:latin typeface="微软雅黑"/>
                <a:ea typeface="微软雅黑"/>
                <a:cs typeface="微软雅黑"/>
                <a:sym typeface="微软雅黑"/>
              </a:rPr>
              <a:t>私域流量</a:t>
            </a:r>
            <a:endParaRPr lang="zh-CN" altLang="en-US" sz="2500" b="1">
              <a:solidFill>
                <a:srgbClr val="383838"/>
              </a:solidFill>
              <a:effectLst/>
              <a:latin typeface="微软雅黑"/>
              <a:ea typeface="微软雅黑"/>
              <a:cs typeface="微软雅黑"/>
              <a:sym typeface="微软雅黑"/>
            </a:endParaRPr>
          </a:p>
          <a:p>
            <a:pPr algn="ctr">
              <a:defRPr>
                <a:latin typeface="微软雅黑"/>
                <a:ea typeface="微软雅黑"/>
                <a:cs typeface="微软雅黑"/>
              </a:defRPr>
            </a:pPr>
            <a:r>
              <a:rPr lang="zh-CN" altLang="en-US" sz="2500" b="1">
                <a:solidFill>
                  <a:srgbClr val="383838"/>
                </a:solidFill>
                <a:effectLst/>
                <a:latin typeface="微软雅黑"/>
                <a:ea typeface="微软雅黑"/>
                <a:cs typeface="微软雅黑"/>
                <a:sym typeface="微软雅黑"/>
              </a:rPr>
              <a:t>闭环模型</a:t>
            </a:r>
            <a:endParaRPr lang="zh-CN" altLang="en-US" sz="2500" b="1" dirty="0">
              <a:solidFill>
                <a:srgbClr val="383838"/>
              </a:solidFill>
              <a:effectLst/>
              <a:latin typeface="微软雅黑"/>
              <a:ea typeface="微软雅黑"/>
              <a:cs typeface="微软雅黑"/>
              <a:sym typeface="微软雅黑"/>
            </a:endParaRPr>
          </a:p>
        </p:txBody>
      </p:sp>
      <p:grpSp>
        <p:nvGrpSpPr>
          <p:cNvPr id="64" name="组合 63"/>
          <p:cNvGrpSpPr/>
          <p:nvPr/>
        </p:nvGrpSpPr>
        <p:grpSpPr>
          <a:xfrm>
            <a:off x="9429949" y="2154026"/>
            <a:ext cx="1029112" cy="1029112"/>
            <a:chOff x="1985021" y="2251075"/>
            <a:chExt cx="1029112" cy="1029112"/>
          </a:xfrm>
        </p:grpSpPr>
        <p:sp>
          <p:nvSpPr>
            <p:cNvPr id="65" name="椭圆 64"/>
            <p:cNvSpPr/>
            <p:nvPr/>
          </p:nvSpPr>
          <p:spPr>
            <a:xfrm>
              <a:off x="1985021" y="2251075"/>
              <a:ext cx="1029112" cy="1029112"/>
            </a:xfrm>
            <a:prstGeom prst="ellipse">
              <a:avLst/>
            </a:prstGeom>
            <a:solidFill>
              <a:srgbClr val="FFFFFF"/>
            </a:solidFill>
            <a:ln w="952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66" name="组合 65"/>
            <p:cNvGrpSpPr/>
            <p:nvPr/>
          </p:nvGrpSpPr>
          <p:grpSpPr>
            <a:xfrm>
              <a:off x="2150945" y="2393643"/>
              <a:ext cx="680591" cy="762389"/>
              <a:chOff x="1751467" y="2668869"/>
              <a:chExt cx="680591" cy="762389"/>
            </a:xfrm>
          </p:grpSpPr>
          <p:sp>
            <p:nvSpPr>
              <p:cNvPr id="67" name="文本框 66"/>
              <p:cNvSpPr txBox="1"/>
              <p:nvPr/>
            </p:nvSpPr>
            <p:spPr>
              <a:xfrm>
                <a:off x="1751467" y="2951181"/>
                <a:ext cx="680591" cy="480077"/>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公众号</a:t>
                </a:r>
                <a:endParaRPr lang="zh-CN" altLang="en-US" sz="12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矩阵</a:t>
                </a:r>
                <a:endParaRPr lang="zh-CN" altLang="en-US" sz="1200" b="1" dirty="0">
                  <a:solidFill>
                    <a:srgbClr val="0042FF"/>
                  </a:solidFill>
                  <a:latin typeface="微软雅黑"/>
                  <a:ea typeface="微软雅黑"/>
                  <a:cs typeface="微软雅黑"/>
                </a:endParaRPr>
              </a:p>
            </p:txBody>
          </p:sp>
          <p:sp>
            <p:nvSpPr>
              <p:cNvPr id="68" name="文本框 67"/>
              <p:cNvSpPr txBox="1"/>
              <p:nvPr/>
            </p:nvSpPr>
            <p:spPr>
              <a:xfrm>
                <a:off x="1880943" y="2668869"/>
                <a:ext cx="421640" cy="337185"/>
              </a:xfrm>
              <a:prstGeom prst="rect">
                <a:avLst/>
              </a:prstGeom>
              <a:noFill/>
            </p:spPr>
            <p:txBody>
              <a:bodyPr wrap="none">
                <a:spAutoFit/>
              </a:bodyPr>
              <a:lstStyle/>
              <a:p>
                <a:pPr algn="ctr">
                  <a:defRPr>
                    <a:latin typeface="微软雅黑"/>
                    <a:ea typeface="微软雅黑"/>
                    <a:cs typeface="微软雅黑"/>
                  </a:defRPr>
                </a:pPr>
                <a:r>
                  <a:rPr lang="en-US" altLang="zh-CN" sz="1600" dirty="0">
                    <a:solidFill>
                      <a:srgbClr val="0042FF"/>
                    </a:solidFill>
                    <a:latin typeface="微软雅黑"/>
                    <a:ea typeface="微软雅黑"/>
                    <a:cs typeface="微软雅黑"/>
                  </a:rPr>
                  <a:t>01</a:t>
                </a:r>
                <a:endParaRPr lang="en-US" altLang="zh-CN" sz="1600" dirty="0">
                  <a:solidFill>
                    <a:srgbClr val="0042FF"/>
                  </a:solidFill>
                  <a:latin typeface="微软雅黑"/>
                  <a:ea typeface="微软雅黑"/>
                  <a:cs typeface="微软雅黑"/>
                </a:endParaRPr>
              </a:p>
            </p:txBody>
          </p:sp>
        </p:grpSp>
      </p:grpSp>
      <p:grpSp>
        <p:nvGrpSpPr>
          <p:cNvPr id="74" name="组合 73"/>
          <p:cNvGrpSpPr/>
          <p:nvPr/>
        </p:nvGrpSpPr>
        <p:grpSpPr>
          <a:xfrm>
            <a:off x="9432489" y="4176501"/>
            <a:ext cx="1029112" cy="1029112"/>
            <a:chOff x="1985021" y="2251075"/>
            <a:chExt cx="1029112" cy="1029112"/>
          </a:xfrm>
        </p:grpSpPr>
        <p:sp>
          <p:nvSpPr>
            <p:cNvPr id="75" name="椭圆 74"/>
            <p:cNvSpPr/>
            <p:nvPr/>
          </p:nvSpPr>
          <p:spPr>
            <a:xfrm>
              <a:off x="1985021" y="2251075"/>
              <a:ext cx="1029112" cy="1029112"/>
            </a:xfrm>
            <a:prstGeom prst="ellipse">
              <a:avLst/>
            </a:prstGeom>
            <a:solidFill>
              <a:srgbClr val="FFFFFF"/>
            </a:solidFill>
            <a:ln w="9525">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76" name="组合 75"/>
            <p:cNvGrpSpPr/>
            <p:nvPr/>
          </p:nvGrpSpPr>
          <p:grpSpPr>
            <a:xfrm>
              <a:off x="2171203" y="2393643"/>
              <a:ext cx="640080" cy="742687"/>
              <a:chOff x="1771725" y="2668869"/>
              <a:chExt cx="640080" cy="742687"/>
            </a:xfrm>
          </p:grpSpPr>
          <p:sp>
            <p:nvSpPr>
              <p:cNvPr id="77" name="文本框 76"/>
              <p:cNvSpPr txBox="1"/>
              <p:nvPr/>
            </p:nvSpPr>
            <p:spPr>
              <a:xfrm>
                <a:off x="1771725" y="2951181"/>
                <a:ext cx="640080" cy="460375"/>
              </a:xfrm>
              <a:prstGeom prst="rect">
                <a:avLst/>
              </a:prstGeom>
              <a:noFill/>
            </p:spPr>
            <p:txBody>
              <a:bodyPr wrap="none">
                <a:spAutoFit/>
              </a:bodyPr>
              <a:lstStyle/>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小程序</a:t>
                </a:r>
                <a:endParaRPr lang="zh-CN" altLang="en-US" sz="12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矩阵</a:t>
                </a:r>
                <a:endParaRPr lang="zh-CN" altLang="en-US" sz="1200" b="1" dirty="0">
                  <a:solidFill>
                    <a:srgbClr val="0042FF"/>
                  </a:solidFill>
                  <a:latin typeface="微软雅黑"/>
                  <a:ea typeface="微软雅黑"/>
                  <a:cs typeface="微软雅黑"/>
                </a:endParaRPr>
              </a:p>
            </p:txBody>
          </p:sp>
          <p:sp>
            <p:nvSpPr>
              <p:cNvPr id="78" name="文本框 77"/>
              <p:cNvSpPr txBox="1"/>
              <p:nvPr/>
            </p:nvSpPr>
            <p:spPr>
              <a:xfrm>
                <a:off x="1880943" y="2668869"/>
                <a:ext cx="421640" cy="337185"/>
              </a:xfrm>
              <a:prstGeom prst="rect">
                <a:avLst/>
              </a:prstGeom>
              <a:noFill/>
            </p:spPr>
            <p:txBody>
              <a:bodyPr wrap="none">
                <a:spAutoFit/>
              </a:bodyPr>
              <a:lstStyle/>
              <a:p>
                <a:pPr algn="ctr">
                  <a:defRPr>
                    <a:latin typeface="微软雅黑"/>
                    <a:ea typeface="微软雅黑"/>
                    <a:cs typeface="微软雅黑"/>
                  </a:defRPr>
                </a:pPr>
                <a:r>
                  <a:rPr lang="en-US" altLang="zh-CN" sz="1600" dirty="0">
                    <a:solidFill>
                      <a:srgbClr val="0042FF"/>
                    </a:solidFill>
                    <a:latin typeface="微软雅黑"/>
                    <a:ea typeface="微软雅黑"/>
                    <a:cs typeface="微软雅黑"/>
                  </a:rPr>
                  <a:t>02</a:t>
                </a:r>
                <a:endParaRPr lang="en-US" altLang="zh-CN" sz="1600" dirty="0">
                  <a:solidFill>
                    <a:srgbClr val="0042FF"/>
                  </a:solidFill>
                  <a:latin typeface="微软雅黑"/>
                  <a:ea typeface="微软雅黑"/>
                  <a:cs typeface="微软雅黑"/>
                </a:endParaRPr>
              </a:p>
            </p:txBody>
          </p:sp>
        </p:grpSp>
      </p:grpSp>
      <p:sp>
        <p:nvSpPr>
          <p:cNvPr id="82" name="文本框 81"/>
          <p:cNvSpPr txBox="1"/>
          <p:nvPr/>
        </p:nvSpPr>
        <p:spPr>
          <a:xfrm rot="2248431">
            <a:off x="5582069" y="1480208"/>
            <a:ext cx="3179006" cy="1687602"/>
          </a:xfrm>
          <a:prstGeom prst="rect">
            <a:avLst/>
          </a:prstGeom>
          <a:noFill/>
        </p:spPr>
        <p:txBody>
          <a:bodyPr wrap="none" rtlCol="0" lIns="0" rIns="0" tIns="0" bIns="0">
            <a:prstTxWarp prst="textArchUp">
              <a:avLst>
                <a:gd name="adj" fmla="val 14632127"/>
              </a:avLst>
            </a:prstTxWarp>
            <a:spAutoFit/>
          </a:bodyPr>
          <a:lstStyle/>
          <a:p>
            <a:pPr>
              <a:defRPr>
                <a:latin typeface="微软雅黑"/>
                <a:ea typeface="微软雅黑"/>
                <a:cs typeface="微软雅黑"/>
              </a:defRPr>
            </a:pPr>
            <a:r>
              <a:rPr lang="zh-CN" altLang="en-US" sz="1000" b="0" i="0" dirty="0">
                <a:solidFill>
                  <a:srgbClr val="0042FF"/>
                </a:solidFill>
                <a:effectLst/>
                <a:latin typeface="微软雅黑"/>
                <a:ea typeface="微软雅黑"/>
                <a:cs typeface="微软雅黑"/>
              </a:rPr>
              <a:t>构建信任关系</a:t>
            </a:r>
            <a:r>
              <a:rPr lang="en-US" altLang="zh-CN" sz="1000" b="0" i="0" dirty="0">
                <a:solidFill>
                  <a:srgbClr val="0042FF"/>
                </a:solidFill>
                <a:effectLst/>
                <a:latin typeface="微软雅黑"/>
                <a:ea typeface="微软雅黑"/>
                <a:cs typeface="微软雅黑"/>
              </a:rPr>
              <a:t>\</a:t>
            </a:r>
            <a:r>
              <a:rPr lang="zh-CN" altLang="en-US" sz="1000" b="0" i="0" dirty="0">
                <a:solidFill>
                  <a:srgbClr val="0042FF"/>
                </a:solidFill>
                <a:effectLst/>
                <a:latin typeface="微软雅黑"/>
                <a:ea typeface="微软雅黑"/>
                <a:cs typeface="微软雅黑"/>
              </a:rPr>
              <a:t>提升转化率</a:t>
            </a:r>
            <a:endParaRPr lang="zh-CN" altLang="en-US" sz="1000" b="0" i="0" dirty="0">
              <a:solidFill>
                <a:srgbClr val="0042FF"/>
              </a:solidFill>
              <a:effectLst/>
              <a:latin typeface="微软雅黑"/>
              <a:ea typeface="微软雅黑"/>
              <a:cs typeface="微软雅黑"/>
            </a:endParaRPr>
          </a:p>
        </p:txBody>
      </p:sp>
      <p:sp>
        <p:nvSpPr>
          <p:cNvPr id="84" name="文本框 83"/>
          <p:cNvSpPr txBox="1"/>
          <p:nvPr/>
        </p:nvSpPr>
        <p:spPr>
          <a:xfrm rot="2248431">
            <a:off x="5742724" y="1749061"/>
            <a:ext cx="2555826" cy="1356782"/>
          </a:xfrm>
          <a:prstGeom prst="rect">
            <a:avLst/>
          </a:prstGeom>
          <a:noFill/>
        </p:spPr>
        <p:txBody>
          <a:bodyPr wrap="none" rtlCol="0" lIns="0" rIns="0" tIns="0" bIns="0">
            <a:prstTxWarp prst="textArchUp">
              <a:avLst>
                <a:gd name="adj" fmla="val 15408728"/>
              </a:avLst>
            </a:prstTxWarp>
            <a:spAutoFit/>
          </a:bodyPr>
          <a:lstStyle/>
          <a:p>
            <a:pPr>
              <a:defRPr>
                <a:latin typeface="微软雅黑"/>
                <a:ea typeface="微软雅黑"/>
                <a:cs typeface="微软雅黑"/>
              </a:defRPr>
            </a:pPr>
            <a:r>
              <a:rPr lang="zh-CN" altLang="en-US" sz="1000" b="0" i="0" dirty="0">
                <a:solidFill>
                  <a:srgbClr val="0042FF"/>
                </a:solidFill>
                <a:effectLst/>
                <a:latin typeface="微软雅黑"/>
                <a:ea typeface="微软雅黑"/>
                <a:cs typeface="微软雅黑"/>
              </a:rPr>
              <a:t>精准营销</a:t>
            </a:r>
            <a:endParaRPr lang="zh-CN" altLang="en-US" sz="1000" b="0" i="0" dirty="0">
              <a:solidFill>
                <a:srgbClr val="0042FF"/>
              </a:solidFill>
              <a:effectLst/>
              <a:latin typeface="微软雅黑"/>
              <a:ea typeface="微软雅黑"/>
              <a:cs typeface="微软雅黑"/>
            </a:endParaRPr>
          </a:p>
        </p:txBody>
      </p:sp>
      <p:sp>
        <p:nvSpPr>
          <p:cNvPr id="86" name="文本框 85"/>
          <p:cNvSpPr txBox="1"/>
          <p:nvPr/>
        </p:nvSpPr>
        <p:spPr>
          <a:xfrm rot="2082995">
            <a:off x="3693196" y="4761925"/>
            <a:ext cx="2555826" cy="1356782"/>
          </a:xfrm>
          <a:prstGeom prst="rect">
            <a:avLst/>
          </a:prstGeom>
          <a:noFill/>
        </p:spPr>
        <p:txBody>
          <a:bodyPr wrap="none" rtlCol="0" lIns="0" rIns="0" tIns="0" bIns="0">
            <a:prstTxWarp prst="textArchDown">
              <a:avLst>
                <a:gd name="adj" fmla="val 3937228"/>
              </a:avLst>
            </a:prstTxWarp>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吸引潜在客户</a:t>
            </a:r>
            <a:endParaRPr lang="zh-CN" altLang="en-US" sz="1000" dirty="0">
              <a:solidFill>
                <a:srgbClr val="0042FF"/>
              </a:solidFill>
              <a:latin typeface="微软雅黑"/>
              <a:ea typeface="微软雅黑"/>
              <a:cs typeface="微软雅黑"/>
            </a:endParaRPr>
          </a:p>
        </p:txBody>
      </p:sp>
      <p:sp>
        <p:nvSpPr>
          <p:cNvPr id="88" name="文本框 87"/>
          <p:cNvSpPr txBox="1"/>
          <p:nvPr/>
        </p:nvSpPr>
        <p:spPr>
          <a:xfrm rot="2082995">
            <a:off x="3902857" y="4444793"/>
            <a:ext cx="2555826" cy="1356782"/>
          </a:xfrm>
          <a:prstGeom prst="rect">
            <a:avLst/>
          </a:prstGeom>
          <a:noFill/>
        </p:spPr>
        <p:txBody>
          <a:bodyPr wrap="none" rtlCol="0" lIns="0" rIns="0" tIns="0" bIns="0">
            <a:prstTxWarp prst="textArchDown">
              <a:avLst>
                <a:gd name="adj" fmla="val 3937228"/>
              </a:avLst>
            </a:prstTxWarp>
            <a:spAutoFit/>
          </a:bodyPr>
          <a:lstStyle/>
          <a:p>
            <a:pPr>
              <a:defRPr>
                <a:latin typeface="微软雅黑"/>
                <a:ea typeface="微软雅黑"/>
                <a:cs typeface="微软雅黑"/>
              </a:defRPr>
            </a:pPr>
            <a:r>
              <a:rPr lang="zh-CN" altLang="en-US" sz="1000" b="0" i="0" dirty="0">
                <a:solidFill>
                  <a:srgbClr val="0042FF"/>
                </a:solidFill>
                <a:effectLst/>
                <a:latin typeface="微软雅黑"/>
                <a:ea typeface="微软雅黑"/>
                <a:cs typeface="微软雅黑"/>
              </a:rPr>
              <a:t>社群形成</a:t>
            </a:r>
            <a:r>
              <a:rPr lang="en-US" altLang="zh-CN" sz="1000" b="0" i="0" dirty="0">
                <a:solidFill>
                  <a:srgbClr val="0042FF"/>
                </a:solidFill>
                <a:effectLst/>
                <a:latin typeface="微软雅黑"/>
                <a:ea typeface="微软雅黑"/>
                <a:cs typeface="微软雅黑"/>
              </a:rPr>
              <a:t>/</a:t>
            </a:r>
            <a:r>
              <a:rPr lang="zh-CN" altLang="en-US" sz="1000" b="0" i="0" dirty="0">
                <a:solidFill>
                  <a:srgbClr val="0042FF"/>
                </a:solidFill>
                <a:effectLst/>
                <a:latin typeface="微软雅黑"/>
                <a:ea typeface="微软雅黑"/>
                <a:cs typeface="微软雅黑"/>
              </a:rPr>
              <a:t>互动场所</a:t>
            </a:r>
            <a:endParaRPr lang="zh-CN" altLang="en-US" sz="1000" b="0" i="0" dirty="0">
              <a:solidFill>
                <a:srgbClr val="0042FF"/>
              </a:solidFill>
              <a:effectLst/>
              <a:latin typeface="微软雅黑"/>
              <a:ea typeface="微软雅黑"/>
              <a:cs typeface="微软雅黑"/>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lang="zh-CN" altLang="en-US" sz="2500">
                <a:solidFill>
                  <a:srgbClr val="383838"/>
                </a:solidFill>
                <a:effectLst/>
                <a:latin typeface="微软雅黑"/>
                <a:ea typeface="微软雅黑"/>
                <a:cs typeface="微软雅黑"/>
              </a:rPr>
              <a:t>产品运营规划策略分析</a:t>
            </a:r>
            <a:endParaRPr lang="zh-CN" altLang="en-US" sz="2500">
              <a:solidFill>
                <a:srgbClr val="383838"/>
              </a:solidFill>
              <a:effectLst/>
              <a:latin typeface="微软雅黑"/>
              <a:ea typeface="微软雅黑"/>
              <a:cs typeface="微软雅黑"/>
            </a:endParaRPr>
          </a:p>
        </p:txBody>
      </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9" name="组合 8"/>
          <p:cNvGrpSpPr/>
          <p:nvPr/>
        </p:nvGrpSpPr>
        <p:grpSpPr>
          <a:xfrm>
            <a:off x="8738235" y="348615"/>
            <a:ext cx="3219450" cy="332740"/>
            <a:chOff x="13761" y="549"/>
            <a:chExt cx="5070" cy="524"/>
          </a:xfrm>
        </p:grpSpPr>
        <p:pic>
          <p:nvPicPr>
            <p:cNvPr id="11" name="图片 10"/>
            <p:cNvPicPr>
              <a:picLocks noChangeAspect="1"/>
            </p:cNvPicPr>
            <p:nvPr userDrawn="1"/>
          </p:nvPicPr>
          <p:blipFill>
            <a:blip r:embed="rId1"/>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grpSp>
        <p:nvGrpSpPr>
          <p:cNvPr id="15" name="组 2"/>
          <p:cNvGrpSpPr/>
          <p:nvPr/>
        </p:nvGrpSpPr>
        <p:grpSpPr>
          <a:xfrm>
            <a:off x="1526831" y="1501253"/>
            <a:ext cx="9125442" cy="4673172"/>
            <a:chOff x="1631468" y="1350117"/>
            <a:chExt cx="8916168" cy="4566003"/>
          </a:xfrm>
        </p:grpSpPr>
        <p:sp>
          <p:nvSpPr>
            <p:cNvPr id="16" name="弧 147"/>
            <p:cNvSpPr/>
            <p:nvPr/>
          </p:nvSpPr>
          <p:spPr>
            <a:xfrm>
              <a:off x="7104640" y="1352799"/>
              <a:ext cx="3442996" cy="4563321"/>
            </a:xfrm>
            <a:prstGeom prst="arc">
              <a:avLst>
                <a:gd name="adj1" fmla="val 16870261"/>
                <a:gd name="adj2" fmla="val 4621400"/>
              </a:avLst>
            </a:prstGeom>
            <a:ln w="76200">
              <a:gradFill>
                <a:gsLst>
                  <a:gs pos="50000">
                    <a:srgbClr val="3368FF">
                      <a:alpha val="70000"/>
                    </a:srgbClr>
                  </a:gs>
                  <a:gs pos="100000">
                    <a:srgbClr val="3368FF">
                      <a:alpha val="0"/>
                    </a:srgbClr>
                  </a:gs>
                  <a:gs pos="0">
                    <a:srgbClr val="3368FF">
                      <a:alpha val="0"/>
                    </a:srgbClr>
                  </a:gs>
                </a:gsLst>
                <a:lin ang="5400000" scaled="1"/>
              </a:gradFill>
            </a:ln>
            <a:effectLst/>
          </p:spPr>
          <p:style>
            <a:lnRef idx="1">
              <a:srgbClr val="0042FF"/>
            </a:lnRef>
            <a:fillRef idx="0">
              <a:srgbClr val="0042FF"/>
            </a:fillRef>
            <a:effectRef idx="0">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63" name="弧 173"/>
            <p:cNvSpPr/>
            <p:nvPr/>
          </p:nvSpPr>
          <p:spPr>
            <a:xfrm flipH="1">
              <a:off x="1631468" y="1350117"/>
              <a:ext cx="3442996" cy="4563321"/>
            </a:xfrm>
            <a:prstGeom prst="arc">
              <a:avLst>
                <a:gd name="adj1" fmla="val 16870261"/>
                <a:gd name="adj2" fmla="val 4621400"/>
              </a:avLst>
            </a:prstGeom>
            <a:ln w="76200">
              <a:gradFill>
                <a:gsLst>
                  <a:gs pos="50000">
                    <a:srgbClr val="0042FF">
                      <a:alpha val="70195"/>
                    </a:srgbClr>
                  </a:gs>
                  <a:gs pos="100000">
                    <a:srgbClr val="FFFFFF">
                      <a:alpha val="0"/>
                    </a:srgbClr>
                  </a:gs>
                  <a:gs pos="0">
                    <a:srgbClr val="FFFFFF">
                      <a:alpha val="0"/>
                    </a:srgbClr>
                  </a:gs>
                </a:gsLst>
                <a:lin ang="5400000" scaled="1"/>
              </a:gradFill>
            </a:ln>
            <a:effectLst/>
          </p:spPr>
          <p:style>
            <a:lnRef idx="1">
              <a:srgbClr val="0042FF"/>
            </a:lnRef>
            <a:fillRef idx="0">
              <a:srgbClr val="0042FF"/>
            </a:fillRef>
            <a:effectRef idx="0">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grpSp>
      <p:sp>
        <p:nvSpPr>
          <p:cNvPr id="18" name="弧 2"/>
          <p:cNvSpPr/>
          <p:nvPr/>
        </p:nvSpPr>
        <p:spPr>
          <a:xfrm>
            <a:off x="4479290" y="1789430"/>
            <a:ext cx="3978910" cy="3978910"/>
          </a:xfrm>
          <a:prstGeom prst="arc">
            <a:avLst>
              <a:gd name="adj1" fmla="val 15524092"/>
              <a:gd name="adj2" fmla="val 5337427"/>
            </a:avLst>
          </a:prstGeom>
          <a:ln w="609600" cap="flat">
            <a:gradFill>
              <a:gsLst>
                <a:gs pos="100000">
                  <a:srgbClr val="B3D4FE"/>
                </a:gs>
                <a:gs pos="31000">
                  <a:srgbClr val="3368FF"/>
                </a:gs>
              </a:gsLst>
              <a:lin ang="8100000" scaled="1"/>
            </a:gradFill>
            <a:bevel/>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0042FF"/>
              </a:solidFill>
              <a:effectLst/>
              <a:uLnTx/>
              <a:uFillTx/>
              <a:latin typeface="微软雅黑"/>
              <a:ea typeface="微软雅黑"/>
              <a:cs typeface="微软雅黑"/>
              <a:sym typeface="微软雅黑"/>
            </a:endParaRPr>
          </a:p>
        </p:txBody>
      </p:sp>
      <p:sp>
        <p:nvSpPr>
          <p:cNvPr id="54" name="弧 164"/>
          <p:cNvSpPr/>
          <p:nvPr/>
        </p:nvSpPr>
        <p:spPr>
          <a:xfrm flipH="1">
            <a:off x="3726815" y="1786255"/>
            <a:ext cx="3978910" cy="3978910"/>
          </a:xfrm>
          <a:prstGeom prst="arc">
            <a:avLst>
              <a:gd name="adj1" fmla="val 16127514"/>
              <a:gd name="adj2" fmla="val 5337427"/>
            </a:avLst>
          </a:prstGeom>
          <a:ln w="609600" cap="flat">
            <a:gradFill>
              <a:gsLst>
                <a:gs pos="100000">
                  <a:srgbClr val="3368FF"/>
                </a:gs>
                <a:gs pos="31000">
                  <a:srgbClr val="0042FF"/>
                </a:gs>
              </a:gsLst>
              <a:lin ang="8100000" scaled="1"/>
            </a:gradFill>
            <a:bevel/>
          </a:ln>
        </p:spPr>
        <p:style>
          <a:lnRef idx="1">
            <a:srgbClr val="0042FF"/>
          </a:lnRef>
          <a:fillRef idx="0">
            <a:srgbClr val="0042FF"/>
          </a:fillRef>
          <a:effectRef idx="0">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20" name="椭圆 19"/>
          <p:cNvSpPr/>
          <p:nvPr/>
        </p:nvSpPr>
        <p:spPr>
          <a:xfrm>
            <a:off x="7947096" y="2472815"/>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1" name="Object60"/>
          <p:cNvSpPr/>
          <p:nvPr/>
        </p:nvSpPr>
        <p:spPr>
          <a:xfrm>
            <a:off x="9029061" y="2910460"/>
            <a:ext cx="832789" cy="153888"/>
          </a:xfrm>
          <a:prstGeom prst="rect">
            <a:avLst/>
          </a:prstGeom>
          <a:noFill/>
        </p:spPr>
        <p:txBody>
          <a:bodyPr wrap="square" lIns="0" tIns="0" rIns="0" bIns="0" rtlCol="0" anchor="t">
            <a:spAutoFit/>
          </a:bodyPr>
          <a:lstStyle/>
          <a:p>
            <a:pPr marL="0" marR="0" lvl="0" indent="0" algn="l"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rPr>
              <a:t>明确产品定位</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2" name="椭圆 21"/>
          <p:cNvSpPr/>
          <p:nvPr/>
        </p:nvSpPr>
        <p:spPr>
          <a:xfrm>
            <a:off x="8258361" y="2937175"/>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4" name="Object60"/>
          <p:cNvSpPr/>
          <p:nvPr/>
        </p:nvSpPr>
        <p:spPr>
          <a:xfrm>
            <a:off x="9192325" y="3374820"/>
            <a:ext cx="906795" cy="153888"/>
          </a:xfrm>
          <a:prstGeom prst="rect">
            <a:avLst/>
          </a:prstGeom>
          <a:noFill/>
        </p:spPr>
        <p:txBody>
          <a:bodyPr wrap="square" lIns="0" tIns="0" rIns="0" bIns="0" rtlCol="0" anchor="t">
            <a:spAutoFit/>
          </a:bodyPr>
          <a:lstStyle/>
          <a:p>
            <a:pPr marL="0" marR="0" lvl="0" indent="0" algn="l"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rPr>
              <a:t>功能全局规划</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 name="椭圆 22"/>
          <p:cNvSpPr/>
          <p:nvPr/>
        </p:nvSpPr>
        <p:spPr>
          <a:xfrm>
            <a:off x="8382988" y="3401535"/>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4" name="Object60"/>
          <p:cNvSpPr/>
          <p:nvPr/>
        </p:nvSpPr>
        <p:spPr>
          <a:xfrm>
            <a:off x="9233746" y="3839180"/>
            <a:ext cx="1007043" cy="153888"/>
          </a:xfrm>
          <a:prstGeom prst="rect">
            <a:avLst/>
          </a:prstGeom>
          <a:noFill/>
        </p:spPr>
        <p:txBody>
          <a:bodyPr wrap="square" lIns="0" tIns="0" rIns="0" bIns="0" rtlCol="0" anchor="t">
            <a:spAutoFit/>
          </a:bodyPr>
          <a:lstStyle/>
          <a:p>
            <a:pPr marL="0" marR="0" lvl="0" indent="0" algn="l"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技术可行性分析</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5" name="椭圆 24"/>
          <p:cNvSpPr/>
          <p:nvPr/>
        </p:nvSpPr>
        <p:spPr>
          <a:xfrm>
            <a:off x="8424409" y="3865895"/>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8" name="Object60"/>
          <p:cNvSpPr/>
          <p:nvPr/>
        </p:nvSpPr>
        <p:spPr>
          <a:xfrm>
            <a:off x="9175073" y="4303539"/>
            <a:ext cx="1021932" cy="153888"/>
          </a:xfrm>
          <a:prstGeom prst="rect">
            <a:avLst/>
          </a:prstGeom>
          <a:noFill/>
        </p:spPr>
        <p:txBody>
          <a:bodyPr wrap="square" lIns="0" tIns="0" rIns="0" bIns="0" rtlCol="0" anchor="t">
            <a:spAutoFit/>
          </a:bodyPr>
          <a:lstStyle/>
          <a:p>
            <a:pPr marL="0" marR="0" lvl="0" indent="0" algn="l"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产品原型设计</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9" name="椭圆 38"/>
          <p:cNvSpPr/>
          <p:nvPr/>
        </p:nvSpPr>
        <p:spPr>
          <a:xfrm>
            <a:off x="8339977" y="4330254"/>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5" name="Object60"/>
          <p:cNvSpPr/>
          <p:nvPr/>
        </p:nvSpPr>
        <p:spPr>
          <a:xfrm>
            <a:off x="8962199" y="4767899"/>
            <a:ext cx="1021932" cy="153888"/>
          </a:xfrm>
          <a:prstGeom prst="rect">
            <a:avLst/>
          </a:prstGeom>
          <a:noFill/>
        </p:spPr>
        <p:txBody>
          <a:bodyPr wrap="square" lIns="0" tIns="0" rIns="0" bIns="0" rtlCol="0" anchor="t">
            <a:spAutoFit/>
          </a:bodyPr>
          <a:lstStyle/>
          <a:p>
            <a:pPr marL="0" marR="0" lvl="0" indent="0" algn="l"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项目计划制定</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6" name="椭圆 35"/>
          <p:cNvSpPr/>
          <p:nvPr/>
        </p:nvSpPr>
        <p:spPr>
          <a:xfrm>
            <a:off x="8139982" y="4794614"/>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2" name="Object60"/>
          <p:cNvSpPr/>
          <p:nvPr/>
        </p:nvSpPr>
        <p:spPr>
          <a:xfrm>
            <a:off x="8646299" y="5239348"/>
            <a:ext cx="1246804" cy="153888"/>
          </a:xfrm>
          <a:prstGeom prst="rect">
            <a:avLst/>
          </a:prstGeom>
          <a:noFill/>
        </p:spPr>
        <p:txBody>
          <a:bodyPr wrap="square" lIns="0" tIns="0" rIns="0" bIns="0" rtlCol="0" anchor="t">
            <a:spAutoFit/>
          </a:bodyPr>
          <a:lstStyle/>
          <a:p>
            <a:pPr marL="0" marR="0" lvl="0" indent="0" algn="l"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风险评估和管理计划</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3" name="椭圆 32"/>
          <p:cNvSpPr/>
          <p:nvPr/>
        </p:nvSpPr>
        <p:spPr>
          <a:xfrm>
            <a:off x="7721050" y="5258975"/>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6" name="三角形 156"/>
          <p:cNvSpPr/>
          <p:nvPr/>
        </p:nvSpPr>
        <p:spPr>
          <a:xfrm rot="9121661">
            <a:off x="10165002" y="2268471"/>
            <a:ext cx="127627" cy="143893"/>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7" name="三角形 157"/>
          <p:cNvSpPr/>
          <p:nvPr/>
        </p:nvSpPr>
        <p:spPr>
          <a:xfrm rot="10140729">
            <a:off x="10555633" y="3334251"/>
            <a:ext cx="127627" cy="143893"/>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8" name="三角形 158"/>
          <p:cNvSpPr/>
          <p:nvPr/>
        </p:nvSpPr>
        <p:spPr>
          <a:xfrm rot="11034567">
            <a:off x="10551729" y="4295639"/>
            <a:ext cx="127627" cy="143893"/>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9" name="三角形 159"/>
          <p:cNvSpPr/>
          <p:nvPr/>
        </p:nvSpPr>
        <p:spPr>
          <a:xfrm rot="12560392">
            <a:off x="10157441" y="5314201"/>
            <a:ext cx="127627" cy="143893"/>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97" name="Object60"/>
          <p:cNvSpPr/>
          <p:nvPr/>
        </p:nvSpPr>
        <p:spPr>
          <a:xfrm flipH="1">
            <a:off x="2549193" y="2443418"/>
            <a:ext cx="944162" cy="153888"/>
          </a:xfrm>
          <a:prstGeom prst="rect">
            <a:avLst/>
          </a:prstGeom>
          <a:noFill/>
        </p:spPr>
        <p:txBody>
          <a:bodyPr wrap="square" lIns="0" tIns="0" rIns="0" bIns="0" rtlCol="0" anchor="t">
            <a:spAutoFit/>
          </a:bodyPr>
          <a:lstStyle/>
          <a:p>
            <a:pPr marL="0" marR="0" lvl="0" indent="0" algn="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rPr>
              <a:t>核心运营指标</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8" name="椭圆 97"/>
          <p:cNvSpPr/>
          <p:nvPr/>
        </p:nvSpPr>
        <p:spPr>
          <a:xfrm flipH="1">
            <a:off x="4168951" y="2470133"/>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99" name="直线连接符 209"/>
          <p:cNvCxnSpPr>
            <a:endCxn id="98" idx="6"/>
          </p:cNvCxnSpPr>
          <p:nvPr/>
        </p:nvCxnSpPr>
        <p:spPr>
          <a:xfrm>
            <a:off x="3536468" y="2520362"/>
            <a:ext cx="632460"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sp>
        <p:nvSpPr>
          <p:cNvPr id="94" name="Object60"/>
          <p:cNvSpPr/>
          <p:nvPr/>
        </p:nvSpPr>
        <p:spPr>
          <a:xfrm flipH="1">
            <a:off x="2356149" y="2907778"/>
            <a:ext cx="864578" cy="153888"/>
          </a:xfrm>
          <a:prstGeom prst="rect">
            <a:avLst/>
          </a:prstGeom>
          <a:noFill/>
        </p:spPr>
        <p:txBody>
          <a:bodyPr wrap="square" lIns="0" tIns="0" rIns="0" bIns="0" rtlCol="0" anchor="t">
            <a:spAutoFit/>
          </a:bodyPr>
          <a:lstStyle/>
          <a:p>
            <a:pPr marL="0" marR="0" lvl="0" indent="0" algn="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rPr>
              <a:t>渠道经营分析</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5" name="椭圆 94"/>
          <p:cNvSpPr/>
          <p:nvPr/>
        </p:nvSpPr>
        <p:spPr>
          <a:xfrm flipH="1">
            <a:off x="3870565" y="2934493"/>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96" name="直线连接符 206"/>
          <p:cNvCxnSpPr/>
          <p:nvPr/>
        </p:nvCxnSpPr>
        <p:spPr>
          <a:xfrm>
            <a:off x="3326786" y="2984722"/>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sp>
        <p:nvSpPr>
          <p:cNvPr id="91" name="Object60"/>
          <p:cNvSpPr/>
          <p:nvPr/>
        </p:nvSpPr>
        <p:spPr>
          <a:xfrm flipH="1">
            <a:off x="2212395" y="3372138"/>
            <a:ext cx="845067" cy="153888"/>
          </a:xfrm>
          <a:prstGeom prst="rect">
            <a:avLst/>
          </a:prstGeom>
          <a:noFill/>
        </p:spPr>
        <p:txBody>
          <a:bodyPr wrap="square" lIns="0" tIns="0" rIns="0" bIns="0" rtlCol="0" anchor="t">
            <a:spAutoFit/>
          </a:bodyPr>
          <a:lstStyle/>
          <a:p>
            <a:pPr marL="0" marR="0" lvl="0" indent="0" algn="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运营提效机制</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2" name="椭圆 91"/>
          <p:cNvSpPr/>
          <p:nvPr/>
        </p:nvSpPr>
        <p:spPr>
          <a:xfrm flipH="1">
            <a:off x="3720180" y="3411732"/>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93" name="直线连接符 203"/>
          <p:cNvCxnSpPr/>
          <p:nvPr/>
        </p:nvCxnSpPr>
        <p:spPr>
          <a:xfrm>
            <a:off x="3234173" y="3449082"/>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sp>
        <p:nvSpPr>
          <p:cNvPr id="31" name="Object60"/>
          <p:cNvSpPr/>
          <p:nvPr/>
        </p:nvSpPr>
        <p:spPr>
          <a:xfrm flipH="1">
            <a:off x="2144186" y="3836498"/>
            <a:ext cx="871856" cy="153888"/>
          </a:xfrm>
          <a:prstGeom prst="rect">
            <a:avLst/>
          </a:prstGeom>
          <a:noFill/>
        </p:spPr>
        <p:txBody>
          <a:bodyPr wrap="square" lIns="0" tIns="0" rIns="0" bIns="0" rtlCol="0" anchor="t">
            <a:spAutoFit/>
          </a:bodyPr>
          <a:lstStyle/>
          <a:p>
            <a:pPr marL="0" marR="0" lvl="0" indent="0" algn="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营销推广规划</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9" name="椭圆 88"/>
          <p:cNvSpPr/>
          <p:nvPr/>
        </p:nvSpPr>
        <p:spPr>
          <a:xfrm flipH="1">
            <a:off x="3717396" y="3863213"/>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90" name="直线连接符 200"/>
          <p:cNvCxnSpPr/>
          <p:nvPr/>
        </p:nvCxnSpPr>
        <p:spPr>
          <a:xfrm>
            <a:off x="3192752" y="3913442"/>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sp>
        <p:nvSpPr>
          <p:cNvPr id="34" name="Object60"/>
          <p:cNvSpPr/>
          <p:nvPr/>
        </p:nvSpPr>
        <p:spPr>
          <a:xfrm flipH="1">
            <a:off x="2052784" y="4300857"/>
            <a:ext cx="1021932" cy="153888"/>
          </a:xfrm>
          <a:prstGeom prst="rect">
            <a:avLst/>
          </a:prstGeom>
          <a:noFill/>
        </p:spPr>
        <p:txBody>
          <a:bodyPr wrap="square" lIns="0" tIns="0" rIns="0" bIns="0" rtlCol="0" anchor="t">
            <a:spAutoFit/>
          </a:bodyPr>
          <a:lstStyle/>
          <a:p>
            <a:pPr marL="0" marR="0" lvl="0" indent="0" algn="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补贴预算规划</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7" name="椭圆 36"/>
          <p:cNvSpPr/>
          <p:nvPr/>
        </p:nvSpPr>
        <p:spPr>
          <a:xfrm flipH="1">
            <a:off x="3776070" y="4327572"/>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40" name="直线连接符 197"/>
          <p:cNvCxnSpPr/>
          <p:nvPr/>
        </p:nvCxnSpPr>
        <p:spPr>
          <a:xfrm>
            <a:off x="3251426" y="4377801"/>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sp>
        <p:nvSpPr>
          <p:cNvPr id="46" name="Object60"/>
          <p:cNvSpPr/>
          <p:nvPr/>
        </p:nvSpPr>
        <p:spPr>
          <a:xfrm flipH="1">
            <a:off x="2265658" y="4765217"/>
            <a:ext cx="1021932" cy="153888"/>
          </a:xfrm>
          <a:prstGeom prst="rect">
            <a:avLst/>
          </a:prstGeom>
          <a:noFill/>
        </p:spPr>
        <p:txBody>
          <a:bodyPr wrap="square" lIns="0" tIns="0" rIns="0" bIns="0" rtlCol="0" anchor="t">
            <a:spAutoFit/>
          </a:bodyPr>
          <a:lstStyle/>
          <a:p>
            <a:pPr marL="0" marR="0" lvl="0" indent="0" algn="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运营指标体系</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9" name="椭圆 48"/>
          <p:cNvSpPr/>
          <p:nvPr/>
        </p:nvSpPr>
        <p:spPr>
          <a:xfrm flipH="1">
            <a:off x="3988944" y="4791932"/>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52" name="直线连接符 194"/>
          <p:cNvCxnSpPr/>
          <p:nvPr/>
        </p:nvCxnSpPr>
        <p:spPr>
          <a:xfrm>
            <a:off x="3425663" y="4842161"/>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sp>
        <p:nvSpPr>
          <p:cNvPr id="79" name="Object60"/>
          <p:cNvSpPr/>
          <p:nvPr/>
        </p:nvSpPr>
        <p:spPr>
          <a:xfrm flipH="1">
            <a:off x="2607316" y="5229578"/>
            <a:ext cx="1021932" cy="153888"/>
          </a:xfrm>
          <a:prstGeom prst="rect">
            <a:avLst/>
          </a:prstGeom>
          <a:noFill/>
        </p:spPr>
        <p:txBody>
          <a:bodyPr wrap="square" lIns="0" tIns="0" rIns="0" bIns="0" rtlCol="0" anchor="t">
            <a:spAutoFit/>
          </a:bodyPr>
          <a:lstStyle/>
          <a:p>
            <a:pPr marL="0" marR="0" lvl="0" indent="0" algn="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内容生产规划</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0" name="椭圆 79"/>
          <p:cNvSpPr/>
          <p:nvPr/>
        </p:nvSpPr>
        <p:spPr>
          <a:xfrm flipH="1">
            <a:off x="4420755" y="5256293"/>
            <a:ext cx="100459" cy="100459"/>
          </a:xfrm>
          <a:prstGeom prst="ellipse">
            <a:avLst/>
          </a:prstGeom>
          <a:solidFill>
            <a:srgbClr val="FFFFFF"/>
          </a:solidFill>
          <a:ln w="1270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cxnSp>
        <p:nvCxnSpPr>
          <p:cNvPr id="53" name="直线连接符 191"/>
          <p:cNvCxnSpPr>
            <a:endCxn id="80" idx="6"/>
          </p:cNvCxnSpPr>
          <p:nvPr/>
        </p:nvCxnSpPr>
        <p:spPr>
          <a:xfrm>
            <a:off x="3751093" y="5306522"/>
            <a:ext cx="669925"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sp>
        <p:nvSpPr>
          <p:cNvPr id="56" name="矩形: 圆角 114"/>
          <p:cNvSpPr/>
          <p:nvPr/>
        </p:nvSpPr>
        <p:spPr>
          <a:xfrm flipH="1">
            <a:off x="991286" y="3716164"/>
            <a:ext cx="1042241" cy="349732"/>
          </a:xfrm>
          <a:prstGeom prst="roundRect">
            <a:avLst>
              <a:gd name="adj" fmla="val 50000"/>
            </a:avLst>
          </a:prstGeom>
          <a:solidFill>
            <a:srgbClr val="FFFFFF"/>
          </a:solidFill>
          <a:ln w="254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7" name="Object60"/>
          <p:cNvSpPr/>
          <p:nvPr/>
        </p:nvSpPr>
        <p:spPr>
          <a:xfrm flipH="1">
            <a:off x="1070939" y="3815548"/>
            <a:ext cx="785356" cy="169277"/>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rPr>
              <a:t>发展环节</a:t>
            </a:r>
            <a:endPar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8" name="三角形 177"/>
          <p:cNvSpPr/>
          <p:nvPr/>
        </p:nvSpPr>
        <p:spPr>
          <a:xfrm rot="12478339" flipH="1">
            <a:off x="1871235" y="2265789"/>
            <a:ext cx="127627" cy="143893"/>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9" name="三角形 178"/>
          <p:cNvSpPr/>
          <p:nvPr/>
        </p:nvSpPr>
        <p:spPr>
          <a:xfrm rot="11459271" flipH="1">
            <a:off x="1495844" y="3331569"/>
            <a:ext cx="127627" cy="143893"/>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9" name="三角形 179"/>
          <p:cNvSpPr/>
          <p:nvPr/>
        </p:nvSpPr>
        <p:spPr>
          <a:xfrm rot="10565433" flipH="1">
            <a:off x="1512627" y="4292957"/>
            <a:ext cx="127627" cy="143893"/>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70" name="三角形 180"/>
          <p:cNvSpPr/>
          <p:nvPr/>
        </p:nvSpPr>
        <p:spPr>
          <a:xfrm rot="9039608" flipH="1">
            <a:off x="1906915" y="5311519"/>
            <a:ext cx="127627" cy="143893"/>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71" name="直线连接符 181"/>
          <p:cNvCxnSpPr/>
          <p:nvPr/>
        </p:nvCxnSpPr>
        <p:spPr>
          <a:xfrm>
            <a:off x="4258094" y="3763415"/>
            <a:ext cx="625819" cy="0"/>
          </a:xfrm>
          <a:prstGeom prst="line">
            <a:avLst/>
          </a:prstGeom>
          <a:ln w="34925">
            <a:gradFill>
              <a:gsLst>
                <a:gs pos="0">
                  <a:srgbClr val="0042FF">
                    <a:alpha val="0"/>
                  </a:srgbClr>
                </a:gs>
                <a:gs pos="100000">
                  <a:srgbClr val="0042FF"/>
                </a:gs>
              </a:gsLst>
              <a:lin ang="0" scaled="0"/>
            </a:gradFill>
            <a:tailEnd type="triangle"/>
          </a:ln>
        </p:spPr>
        <p:style>
          <a:lnRef idx="1">
            <a:srgbClr val="0042FF"/>
          </a:lnRef>
          <a:fillRef idx="0">
            <a:srgbClr val="0042FF"/>
          </a:fillRef>
          <a:effectRef idx="0">
            <a:srgbClr val="0042FF"/>
          </a:effectRef>
          <a:fontRef idx="minor">
            <a:srgbClr val="383838"/>
          </a:fontRef>
        </p:style>
      </p:cxnSp>
      <p:cxnSp>
        <p:nvCxnSpPr>
          <p:cNvPr id="72" name="直线连接符 182"/>
          <p:cNvCxnSpPr/>
          <p:nvPr/>
        </p:nvCxnSpPr>
        <p:spPr>
          <a:xfrm flipH="1">
            <a:off x="4282289" y="3884797"/>
            <a:ext cx="601624" cy="0"/>
          </a:xfrm>
          <a:prstGeom prst="line">
            <a:avLst/>
          </a:prstGeom>
          <a:ln w="34925">
            <a:gradFill>
              <a:gsLst>
                <a:gs pos="0">
                  <a:srgbClr val="0042FF">
                    <a:alpha val="0"/>
                  </a:srgbClr>
                </a:gs>
                <a:gs pos="100000">
                  <a:srgbClr val="0042FF"/>
                </a:gs>
              </a:gsLst>
              <a:lin ang="0" scaled="0"/>
            </a:gradFill>
            <a:tailEnd type="triangle"/>
          </a:ln>
        </p:spPr>
        <p:style>
          <a:lnRef idx="1">
            <a:srgbClr val="0042FF"/>
          </a:lnRef>
          <a:fillRef idx="0">
            <a:srgbClr val="0042FF"/>
          </a:fillRef>
          <a:effectRef idx="0">
            <a:srgbClr val="0042FF"/>
          </a:effectRef>
          <a:fontRef idx="minor">
            <a:srgbClr val="383838"/>
          </a:fontRef>
        </p:style>
      </p:cxnSp>
      <p:sp>
        <p:nvSpPr>
          <p:cNvPr id="60" name="椭圆 59"/>
          <p:cNvSpPr/>
          <p:nvPr/>
        </p:nvSpPr>
        <p:spPr>
          <a:xfrm>
            <a:off x="5107831" y="2785220"/>
            <a:ext cx="1980728" cy="1980730"/>
          </a:xfrm>
          <a:prstGeom prst="ellipse">
            <a:avLst/>
          </a:prstGeom>
          <a:gradFill>
            <a:gsLst>
              <a:gs pos="1000">
                <a:srgbClr val="B3D4FE"/>
              </a:gs>
              <a:gs pos="99000">
                <a:srgbClr val="3368FF"/>
              </a:gs>
            </a:gsLst>
            <a:lin ang="0" scaled="0"/>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nvGrpSpPr>
          <p:cNvPr id="136" name="组合 135"/>
          <p:cNvGrpSpPr/>
          <p:nvPr/>
        </p:nvGrpSpPr>
        <p:grpSpPr>
          <a:xfrm>
            <a:off x="5152461" y="3553470"/>
            <a:ext cx="1917554" cy="565591"/>
            <a:chOff x="5160862" y="3899342"/>
            <a:chExt cx="1917554" cy="565591"/>
          </a:xfrm>
        </p:grpSpPr>
        <p:sp>
          <p:nvSpPr>
            <p:cNvPr id="61" name="Object29"/>
            <p:cNvSpPr txBox="1"/>
            <p:nvPr/>
          </p:nvSpPr>
          <p:spPr>
            <a:xfrm>
              <a:off x="5160862" y="3899342"/>
              <a:ext cx="1917554" cy="368935"/>
            </a:xfrm>
            <a:prstGeom prst="rect">
              <a:avLst/>
            </a:prstGeom>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2400" i="0" u="none" strike="noStrike" kern="0" cap="none" spc="0" normalizeH="0" baseline="0" noProof="0" dirty="0">
                  <a:ln>
                    <a:noFill/>
                  </a:ln>
                  <a:solidFill>
                    <a:srgbClr val="383838"/>
                  </a:solidFill>
                  <a:effectLst/>
                  <a:uLnTx/>
                  <a:uFillTx/>
                  <a:latin typeface="微软雅黑"/>
                  <a:ea typeface="微软雅黑"/>
                  <a:cs typeface="微软雅黑"/>
                  <a:sym typeface="微软雅黑"/>
                </a:rPr>
                <a:t>商业模式</a:t>
              </a:r>
              <a:endParaRPr kumimoji="0" lang="zh-CN" altLang="en-US" sz="24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62" name="Object60"/>
            <p:cNvSpPr/>
            <p:nvPr/>
          </p:nvSpPr>
          <p:spPr>
            <a:xfrm>
              <a:off x="5295427" y="4311045"/>
              <a:ext cx="1619900" cy="153888"/>
            </a:xfrm>
            <a:prstGeom prst="rect">
              <a:avLst/>
            </a:prstGeom>
            <a:noFill/>
            <a:effectLst/>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b="0" i="0" u="none" strike="noStrike" kern="0" cap="none" spc="0" normalizeH="0" baseline="0" noProof="0" dirty="0">
                  <a:ln>
                    <a:noFill/>
                  </a:ln>
                  <a:solidFill>
                    <a:srgbClr val="383838"/>
                  </a:solidFill>
                  <a:effectLst/>
                  <a:uLnTx/>
                  <a:uFillTx/>
                  <a:latin typeface="微软雅黑"/>
                  <a:ea typeface="微软雅黑"/>
                  <a:cs typeface="微软雅黑"/>
                </a:rPr>
                <a:t> Business Model </a:t>
              </a:r>
              <a:endParaRPr kumimoji="0" lang="en-US" altLang="zh-CN" sz="1000" b="0" i="0" u="none" strike="noStrike" kern="0" cap="none" spc="0" normalizeH="0" baseline="0" noProof="0" dirty="0">
                <a:ln>
                  <a:noFill/>
                </a:ln>
                <a:solidFill>
                  <a:srgbClr val="383838"/>
                </a:solidFill>
                <a:effectLst/>
                <a:uLnTx/>
                <a:uFillTx/>
                <a:latin typeface="微软雅黑"/>
                <a:ea typeface="微软雅黑"/>
                <a:cs typeface="微软雅黑"/>
              </a:endParaRPr>
            </a:p>
          </p:txBody>
        </p:sp>
      </p:grpSp>
      <p:sp>
        <p:nvSpPr>
          <p:cNvPr id="73" name="右箭头 14"/>
          <p:cNvSpPr/>
          <p:nvPr/>
        </p:nvSpPr>
        <p:spPr>
          <a:xfrm rot="16200000">
            <a:off x="5920761" y="2398045"/>
            <a:ext cx="355194" cy="300992"/>
          </a:xfrm>
          <a:prstGeom prst="rightArrow">
            <a:avLst>
              <a:gd name="adj1" fmla="val 50000"/>
              <a:gd name="adj2" fmla="val 76449"/>
            </a:avLst>
          </a:prstGeom>
          <a:gradFill>
            <a:gsLst>
              <a:gs pos="1000">
                <a:srgbClr val="0042FF">
                  <a:alpha val="0"/>
                </a:srgbClr>
              </a:gs>
              <a:gs pos="99000">
                <a:srgbClr val="0042FF"/>
              </a:gs>
            </a:gsLst>
            <a:lin ang="0" scaled="0"/>
          </a:gradFill>
          <a:ln w="635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00" name="Object52"/>
          <p:cNvSpPr/>
          <p:nvPr/>
        </p:nvSpPr>
        <p:spPr>
          <a:xfrm>
            <a:off x="5658557" y="5558198"/>
            <a:ext cx="879603" cy="153888"/>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1000" b="0" i="0" u="none" strike="noStrike" kern="1200" cap="none" spc="0" normalizeH="0" baseline="0" noProof="0" dirty="0" err="1">
                <a:ln>
                  <a:noFill/>
                </a:ln>
                <a:solidFill>
                  <a:srgbClr val="0042FF"/>
                </a:solidFill>
                <a:effectLst/>
                <a:uLnTx/>
                <a:uFillTx/>
                <a:latin typeface="微软雅黑"/>
                <a:ea typeface="微软雅黑"/>
                <a:cs typeface="微软雅黑"/>
              </a:rPr>
              <a:t>核心</a:t>
            </a:r>
            <a:r>
              <a:rPr kumimoji="0"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用户</a:t>
            </a:r>
            <a:endParaRPr kumimoji="0" 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01" name="矩形: 圆角 114"/>
          <p:cNvSpPr/>
          <p:nvPr/>
        </p:nvSpPr>
        <p:spPr>
          <a:xfrm>
            <a:off x="5531111" y="1146248"/>
            <a:ext cx="1134494" cy="1162530"/>
          </a:xfrm>
          <a:prstGeom prst="roundRect">
            <a:avLst>
              <a:gd name="adj" fmla="val 50000"/>
            </a:avLst>
          </a:prstGeom>
          <a:solidFill>
            <a:srgbClr val="FFFFFF"/>
          </a:solidFill>
          <a:ln w="25400">
            <a:solidFill>
              <a:srgbClr val="0042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102" name="Object52"/>
          <p:cNvSpPr/>
          <p:nvPr/>
        </p:nvSpPr>
        <p:spPr>
          <a:xfrm>
            <a:off x="5658557" y="1501253"/>
            <a:ext cx="879603" cy="492125"/>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运营</a:t>
            </a:r>
            <a:endParaRPr kumimoji="0" lang="en-US" altLang="zh-CN" sz="1600" b="1"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策略</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03" name="矩形: 圆角 114"/>
          <p:cNvSpPr/>
          <p:nvPr/>
        </p:nvSpPr>
        <p:spPr>
          <a:xfrm>
            <a:off x="5531111" y="5289448"/>
            <a:ext cx="1134494" cy="1162530"/>
          </a:xfrm>
          <a:prstGeom prst="roundRect">
            <a:avLst>
              <a:gd name="adj" fmla="val 50000"/>
            </a:avLst>
          </a:prstGeom>
          <a:solidFill>
            <a:srgbClr val="FFFFFF"/>
          </a:solidFill>
          <a:ln w="25400">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104" name="Object52"/>
          <p:cNvSpPr/>
          <p:nvPr/>
        </p:nvSpPr>
        <p:spPr>
          <a:xfrm>
            <a:off x="5658557" y="5636083"/>
            <a:ext cx="879603" cy="492125"/>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产品</a:t>
            </a:r>
            <a:endParaRPr lang="en-US" altLang="zh-CN" sz="1600" b="1" dirty="0">
              <a:solidFill>
                <a:srgbClr val="0042FF"/>
              </a:solidFill>
              <a:latin typeface="微软雅黑"/>
              <a:ea typeface="微软雅黑"/>
              <a:cs typeface="微软雅黑"/>
            </a:endParaRPr>
          </a:p>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方向</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cxnSp>
        <p:nvCxnSpPr>
          <p:cNvPr id="107" name="直线连接符 181"/>
          <p:cNvCxnSpPr/>
          <p:nvPr/>
        </p:nvCxnSpPr>
        <p:spPr>
          <a:xfrm>
            <a:off x="7254309" y="3763415"/>
            <a:ext cx="625819" cy="0"/>
          </a:xfrm>
          <a:prstGeom prst="line">
            <a:avLst/>
          </a:prstGeom>
          <a:ln w="34925">
            <a:gradFill>
              <a:gsLst>
                <a:gs pos="0">
                  <a:srgbClr val="3368FF">
                    <a:alpha val="0"/>
                  </a:srgbClr>
                </a:gs>
                <a:gs pos="100000">
                  <a:srgbClr val="3368FF"/>
                </a:gs>
              </a:gsLst>
              <a:lin ang="0" scaled="0"/>
            </a:gradFill>
            <a:tailEnd type="triangle"/>
          </a:ln>
        </p:spPr>
        <p:style>
          <a:lnRef idx="1">
            <a:srgbClr val="0042FF"/>
          </a:lnRef>
          <a:fillRef idx="0">
            <a:srgbClr val="0042FF"/>
          </a:fillRef>
          <a:effectRef idx="0">
            <a:srgbClr val="0042FF"/>
          </a:effectRef>
          <a:fontRef idx="minor">
            <a:srgbClr val="383838"/>
          </a:fontRef>
        </p:style>
      </p:cxnSp>
      <p:cxnSp>
        <p:nvCxnSpPr>
          <p:cNvPr id="111" name="直线连接符 182"/>
          <p:cNvCxnSpPr/>
          <p:nvPr/>
        </p:nvCxnSpPr>
        <p:spPr>
          <a:xfrm flipH="1">
            <a:off x="7278504" y="3884797"/>
            <a:ext cx="601624" cy="0"/>
          </a:xfrm>
          <a:prstGeom prst="line">
            <a:avLst/>
          </a:prstGeom>
          <a:ln w="34925">
            <a:gradFill>
              <a:gsLst>
                <a:gs pos="0">
                  <a:srgbClr val="3368FF">
                    <a:alpha val="0"/>
                  </a:srgbClr>
                </a:gs>
                <a:gs pos="100000">
                  <a:srgbClr val="3368FF"/>
                </a:gs>
              </a:gsLst>
              <a:lin ang="0" scaled="0"/>
            </a:gradFill>
            <a:tailEnd type="triangle"/>
          </a:ln>
        </p:spPr>
        <p:style>
          <a:lnRef idx="1">
            <a:srgbClr val="0042FF"/>
          </a:lnRef>
          <a:fillRef idx="0">
            <a:srgbClr val="0042FF"/>
          </a:fillRef>
          <a:effectRef idx="0">
            <a:srgbClr val="0042FF"/>
          </a:effectRef>
          <a:fontRef idx="minor">
            <a:srgbClr val="383838"/>
          </a:fontRef>
        </p:style>
      </p:cxnSp>
      <p:sp>
        <p:nvSpPr>
          <p:cNvPr id="112" name="矩形: 圆角 114"/>
          <p:cNvSpPr/>
          <p:nvPr/>
        </p:nvSpPr>
        <p:spPr>
          <a:xfrm flipH="1">
            <a:off x="1145834" y="2685836"/>
            <a:ext cx="1042241" cy="349732"/>
          </a:xfrm>
          <a:prstGeom prst="roundRect">
            <a:avLst>
              <a:gd name="adj" fmla="val 50000"/>
            </a:avLst>
          </a:prstGeom>
          <a:solidFill>
            <a:srgbClr val="FFFFFF"/>
          </a:solidFill>
          <a:ln w="254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4" name="Object60"/>
          <p:cNvSpPr/>
          <p:nvPr/>
        </p:nvSpPr>
        <p:spPr>
          <a:xfrm flipH="1">
            <a:off x="1225487" y="2785220"/>
            <a:ext cx="785356" cy="169277"/>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rPr>
              <a:t>评估环节</a:t>
            </a:r>
            <a:endPar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5" name="矩形: 圆角 114"/>
          <p:cNvSpPr/>
          <p:nvPr/>
        </p:nvSpPr>
        <p:spPr>
          <a:xfrm flipH="1">
            <a:off x="1094318" y="4653582"/>
            <a:ext cx="1042241" cy="349732"/>
          </a:xfrm>
          <a:prstGeom prst="roundRect">
            <a:avLst>
              <a:gd name="adj" fmla="val 50000"/>
            </a:avLst>
          </a:prstGeom>
          <a:solidFill>
            <a:srgbClr val="FFFFFF"/>
          </a:solidFill>
          <a:ln w="254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6" name="Object60"/>
          <p:cNvSpPr/>
          <p:nvPr/>
        </p:nvSpPr>
        <p:spPr>
          <a:xfrm flipH="1">
            <a:off x="1225487" y="4752966"/>
            <a:ext cx="785356" cy="169277"/>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rPr>
              <a:t>成熟环节</a:t>
            </a:r>
            <a:endPar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7" name="矩形: 圆角 114"/>
          <p:cNvSpPr/>
          <p:nvPr/>
        </p:nvSpPr>
        <p:spPr>
          <a:xfrm flipH="1">
            <a:off x="10109621" y="3716164"/>
            <a:ext cx="1042241" cy="349732"/>
          </a:xfrm>
          <a:prstGeom prst="roundRect">
            <a:avLst>
              <a:gd name="adj" fmla="val 50000"/>
            </a:avLst>
          </a:prstGeom>
          <a:solidFill>
            <a:srgbClr val="FFFFFF"/>
          </a:solidFill>
          <a:ln w="254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8" name="Object60"/>
          <p:cNvSpPr/>
          <p:nvPr/>
        </p:nvSpPr>
        <p:spPr>
          <a:xfrm flipH="1">
            <a:off x="10240790" y="3815548"/>
            <a:ext cx="785356" cy="169277"/>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rPr>
              <a:t>发展环节</a:t>
            </a:r>
            <a:endPar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9" name="矩形: 圆角 114"/>
          <p:cNvSpPr/>
          <p:nvPr/>
        </p:nvSpPr>
        <p:spPr>
          <a:xfrm flipH="1">
            <a:off x="10019468" y="2685836"/>
            <a:ext cx="1042241" cy="349732"/>
          </a:xfrm>
          <a:prstGeom prst="roundRect">
            <a:avLst>
              <a:gd name="adj" fmla="val 50000"/>
            </a:avLst>
          </a:prstGeom>
          <a:solidFill>
            <a:srgbClr val="FFFFFF"/>
          </a:solidFill>
          <a:ln w="254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0" name="Object60"/>
          <p:cNvSpPr/>
          <p:nvPr/>
        </p:nvSpPr>
        <p:spPr>
          <a:xfrm flipH="1">
            <a:off x="10099121" y="2785220"/>
            <a:ext cx="785356" cy="169277"/>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rPr>
              <a:t>评估环节</a:t>
            </a:r>
            <a:endPar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1" name="矩形: 圆角 114"/>
          <p:cNvSpPr/>
          <p:nvPr/>
        </p:nvSpPr>
        <p:spPr>
          <a:xfrm flipH="1">
            <a:off x="9955073" y="4653582"/>
            <a:ext cx="1042241" cy="349732"/>
          </a:xfrm>
          <a:prstGeom prst="roundRect">
            <a:avLst>
              <a:gd name="adj" fmla="val 50000"/>
            </a:avLst>
          </a:prstGeom>
          <a:solidFill>
            <a:srgbClr val="FFFFFF"/>
          </a:solidFill>
          <a:ln w="25400">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3" name="Object60"/>
          <p:cNvSpPr/>
          <p:nvPr/>
        </p:nvSpPr>
        <p:spPr>
          <a:xfrm flipH="1">
            <a:off x="10104187" y="4752966"/>
            <a:ext cx="785356" cy="169277"/>
          </a:xfrm>
          <a:prstGeom prst="rect">
            <a:avLst/>
          </a:prstGeom>
          <a:noFill/>
        </p:spPr>
        <p:txBody>
          <a:bodyPr wrap="square" lIns="0" tIns="0" rIns="0" bIns="0" rtlCol="0" anchor="t">
            <a:spAutoFit/>
          </a:bodyP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rPr>
              <a:t>成熟环节</a:t>
            </a:r>
            <a:endParaRPr kumimoji="0" lang="zh-CN" altLang="en-US" sz="11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5" name="右箭头 14"/>
          <p:cNvSpPr/>
          <p:nvPr/>
        </p:nvSpPr>
        <p:spPr>
          <a:xfrm rot="5400000">
            <a:off x="5920761" y="4858735"/>
            <a:ext cx="355194" cy="300992"/>
          </a:xfrm>
          <a:prstGeom prst="rightArrow">
            <a:avLst>
              <a:gd name="adj1" fmla="val 50000"/>
              <a:gd name="adj2" fmla="val 76449"/>
            </a:avLst>
          </a:prstGeom>
          <a:gradFill>
            <a:gsLst>
              <a:gs pos="1000">
                <a:srgbClr val="3368FF">
                  <a:alpha val="0"/>
                </a:srgbClr>
              </a:gs>
              <a:gs pos="99000">
                <a:srgbClr val="3368FF"/>
              </a:gs>
            </a:gsLst>
            <a:lin ang="0" scaled="0"/>
          </a:gradFill>
          <a:ln w="635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46" name="Object60"/>
          <p:cNvSpPr/>
          <p:nvPr/>
        </p:nvSpPr>
        <p:spPr>
          <a:xfrm>
            <a:off x="8730676" y="2446100"/>
            <a:ext cx="877934" cy="153888"/>
          </a:xfrm>
          <a:prstGeom prst="rect">
            <a:avLst/>
          </a:prstGeom>
          <a:noFill/>
        </p:spPr>
        <p:txBody>
          <a:bodyPr wrap="square" lIns="0" tIns="0" rIns="0" bIns="0" rtlCol="0" anchor="t">
            <a:spAutoFit/>
          </a:bodyPr>
          <a:lstStyle/>
          <a:p>
            <a:pPr marL="0" marR="0" lvl="0" indent="0" algn="l"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rPr>
              <a:t>市场用户分析</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47" name="直线连接符 107"/>
          <p:cNvCxnSpPr>
            <a:endCxn id="20" idx="6"/>
          </p:cNvCxnSpPr>
          <p:nvPr/>
        </p:nvCxnSpPr>
        <p:spPr>
          <a:xfrm flipH="1">
            <a:off x="8047493" y="2523044"/>
            <a:ext cx="601980"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48" name="直线连接符 114"/>
          <p:cNvCxnSpPr/>
          <p:nvPr/>
        </p:nvCxnSpPr>
        <p:spPr>
          <a:xfrm flipH="1">
            <a:off x="8353337" y="2987404"/>
            <a:ext cx="491490"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49" name="直线连接符 129"/>
          <p:cNvCxnSpPr/>
          <p:nvPr/>
        </p:nvCxnSpPr>
        <p:spPr>
          <a:xfrm flipH="1">
            <a:off x="8483447" y="3451764"/>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53" name="直线连接符 134"/>
          <p:cNvCxnSpPr/>
          <p:nvPr/>
        </p:nvCxnSpPr>
        <p:spPr>
          <a:xfrm flipH="1">
            <a:off x="8524868" y="3916124"/>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56" name="直线连接符 138"/>
          <p:cNvCxnSpPr>
            <a:endCxn id="39" idx="6"/>
          </p:cNvCxnSpPr>
          <p:nvPr/>
        </p:nvCxnSpPr>
        <p:spPr>
          <a:xfrm flipH="1">
            <a:off x="8440293" y="4380483"/>
            <a:ext cx="550545"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57" name="直线连接符 142"/>
          <p:cNvCxnSpPr/>
          <p:nvPr/>
        </p:nvCxnSpPr>
        <p:spPr>
          <a:xfrm flipH="1">
            <a:off x="8253320" y="4844843"/>
            <a:ext cx="524644" cy="0"/>
          </a:xfrm>
          <a:prstGeom prst="line">
            <a:avLst/>
          </a:prstGeom>
          <a:ln w="12700">
            <a:solidFill>
              <a:srgbClr val="668EFF"/>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58" name="直线连接符 146"/>
          <p:cNvCxnSpPr>
            <a:endCxn id="33" idx="6"/>
          </p:cNvCxnSpPr>
          <p:nvPr/>
        </p:nvCxnSpPr>
        <p:spPr>
          <a:xfrm flipH="1">
            <a:off x="7821528" y="5309204"/>
            <a:ext cx="653415" cy="0"/>
          </a:xfrm>
          <a:prstGeom prst="line">
            <a:avLst/>
          </a:prstGeom>
          <a:ln w="12700">
            <a:solidFill>
              <a:srgbClr val="668EFF"/>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59" name="直线连接符 5"/>
          <p:cNvCxnSpPr/>
          <p:nvPr/>
        </p:nvCxnSpPr>
        <p:spPr>
          <a:xfrm>
            <a:off x="496165" y="966204"/>
            <a:ext cx="11459846" cy="0"/>
          </a:xfrm>
          <a:prstGeom prst="line">
            <a:avLst/>
          </a:prstGeom>
          <a:ln w="38100">
            <a:solidFill>
              <a:srgbClr val="FFFFFF"/>
            </a:solidFill>
          </a:ln>
        </p:spPr>
        <p:style>
          <a:lnRef idx="1">
            <a:srgbClr val="0042FF"/>
          </a:lnRef>
          <a:fillRef idx="0">
            <a:srgbClr val="0042FF"/>
          </a:fillRef>
          <a:effectRef idx="0">
            <a:srgbClr val="0042FF"/>
          </a:effectRef>
          <a:fontRef idx="minor">
            <a:srgbClr val="383838"/>
          </a:fontRef>
        </p:style>
      </p:cxnSp>
      <p:grpSp>
        <p:nvGrpSpPr>
          <p:cNvPr id="162" name="组合 161"/>
          <p:cNvGrpSpPr/>
          <p:nvPr/>
        </p:nvGrpSpPr>
        <p:grpSpPr>
          <a:xfrm>
            <a:off x="2661920" y="1601470"/>
            <a:ext cx="1327150" cy="410210"/>
            <a:chOff x="4474" y="2522"/>
            <a:chExt cx="2090" cy="646"/>
          </a:xfrm>
        </p:grpSpPr>
        <p:sp>
          <p:nvSpPr>
            <p:cNvPr id="30" name="Object29"/>
            <p:cNvSpPr/>
            <p:nvPr/>
          </p:nvSpPr>
          <p:spPr>
            <a:xfrm flipH="1">
              <a:off x="4679" y="2676"/>
              <a:ext cx="1680" cy="339"/>
            </a:xfrm>
            <a:prstGeom prst="rect">
              <a:avLst/>
            </a:prstGeom>
            <a:ln w="12700">
              <a:miter lim="400000"/>
            </a:ln>
          </p:spPr>
          <p:txBody>
            <a:bodyPr wrap="none" lIns="0" tIns="0" rIns="0" bIns="0" anchor="ctr">
              <a:spAutoFit/>
            </a:bodyPr>
            <a:lstStyle/>
            <a:p>
              <a:pPr marL="0" marR="0" lvl="0" indent="0" algn="ctr" defTabSz="12192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0" cap="none" spc="0" normalizeH="0" baseline="0" noProof="0" dirty="0">
                  <a:ln>
                    <a:noFill/>
                  </a:ln>
                  <a:solidFill>
                    <a:srgbClr val="0042FF"/>
                  </a:solidFill>
                  <a:effectLst/>
                  <a:uLnTx/>
                  <a:uFillTx/>
                  <a:latin typeface="微软雅黑"/>
                  <a:ea typeface="微软雅黑"/>
                  <a:cs typeface="微软雅黑"/>
                </a:rPr>
                <a:t>运营核心事项</a:t>
              </a:r>
              <a:endParaRPr kumimoji="0" lang="zh-CN" altLang="en-US" sz="1400" b="1" i="0" u="none" strike="noStrike" kern="0" cap="none" spc="0" normalizeH="0" baseline="0" noProof="0" dirty="0">
                <a:ln>
                  <a:noFill/>
                </a:ln>
                <a:solidFill>
                  <a:srgbClr val="0042FF"/>
                </a:solidFill>
                <a:effectLst/>
                <a:uLnTx/>
                <a:uFillTx/>
                <a:latin typeface="微软雅黑"/>
                <a:ea typeface="微软雅黑"/>
                <a:cs typeface="微软雅黑"/>
              </a:endParaRPr>
            </a:p>
          </p:txBody>
        </p:sp>
        <p:sp>
          <p:nvSpPr>
            <p:cNvPr id="161" name="矩形 160"/>
            <p:cNvSpPr/>
            <p:nvPr/>
          </p:nvSpPr>
          <p:spPr>
            <a:xfrm>
              <a:off x="4474" y="2522"/>
              <a:ext cx="2090" cy="646"/>
            </a:xfrm>
            <a:prstGeom prst="rect">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cxnSp>
        <p:nvCxnSpPr>
          <p:cNvPr id="164" name="直线连接符 142"/>
          <p:cNvCxnSpPr/>
          <p:nvPr/>
        </p:nvCxnSpPr>
        <p:spPr>
          <a:xfrm flipH="1">
            <a:off x="8253955" y="4844208"/>
            <a:ext cx="524644"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cxnSp>
        <p:nvCxnSpPr>
          <p:cNvPr id="165" name="直线连接符 146"/>
          <p:cNvCxnSpPr/>
          <p:nvPr/>
        </p:nvCxnSpPr>
        <p:spPr>
          <a:xfrm flipH="1">
            <a:off x="7822163" y="5308569"/>
            <a:ext cx="653415" cy="0"/>
          </a:xfrm>
          <a:prstGeom prst="line">
            <a:avLst/>
          </a:prstGeom>
          <a:ln w="12700">
            <a:solidFill>
              <a:srgbClr val="DCDCDC"/>
            </a:solidFill>
            <a:prstDash val="sysDash"/>
            <a:headEnd type="triangle"/>
          </a:ln>
        </p:spPr>
        <p:style>
          <a:lnRef idx="1">
            <a:srgbClr val="0042FF"/>
          </a:lnRef>
          <a:fillRef idx="0">
            <a:srgbClr val="0042FF"/>
          </a:fillRef>
          <a:effectRef idx="0">
            <a:srgbClr val="0042FF"/>
          </a:effectRef>
          <a:fontRef idx="minor">
            <a:srgbClr val="383838"/>
          </a:fontRef>
        </p:style>
      </p:cxnSp>
      <p:grpSp>
        <p:nvGrpSpPr>
          <p:cNvPr id="166" name="组合 165"/>
          <p:cNvGrpSpPr/>
          <p:nvPr/>
        </p:nvGrpSpPr>
        <p:grpSpPr>
          <a:xfrm>
            <a:off x="8140065" y="1601470"/>
            <a:ext cx="1327150" cy="410210"/>
            <a:chOff x="4474" y="2522"/>
            <a:chExt cx="2090" cy="646"/>
          </a:xfrm>
        </p:grpSpPr>
        <p:sp>
          <p:nvSpPr>
            <p:cNvPr id="167" name="Object29"/>
            <p:cNvSpPr/>
            <p:nvPr/>
          </p:nvSpPr>
          <p:spPr>
            <a:xfrm flipH="1">
              <a:off x="4679" y="2676"/>
              <a:ext cx="1680" cy="339"/>
            </a:xfrm>
            <a:prstGeom prst="rect">
              <a:avLst/>
            </a:prstGeom>
            <a:ln w="12700">
              <a:miter lim="400000"/>
            </a:ln>
          </p:spPr>
          <p:txBody>
            <a:bodyPr wrap="none" lIns="0" tIns="0" rIns="0" bIns="0" anchor="ctr">
              <a:spAutoFit/>
            </a:bodyPr>
            <a:lstStyle/>
            <a:p>
              <a:pPr marL="0" marR="0" lvl="0" indent="0" algn="ctr" defTabSz="12192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0" cap="none" spc="0" normalizeH="0" baseline="0" noProof="0" dirty="0">
                  <a:ln>
                    <a:noFill/>
                  </a:ln>
                  <a:solidFill>
                    <a:srgbClr val="0042FF"/>
                  </a:solidFill>
                  <a:effectLst/>
                  <a:uLnTx/>
                  <a:uFillTx/>
                  <a:latin typeface="微软雅黑"/>
                  <a:ea typeface="微软雅黑"/>
                  <a:cs typeface="微软雅黑"/>
                </a:rPr>
                <a:t>产品全局规划</a:t>
              </a:r>
              <a:endParaRPr kumimoji="0" lang="zh-CN" altLang="en-US" sz="1400" b="1" i="0" u="none" strike="noStrike" kern="0" cap="none" spc="0" normalizeH="0" baseline="0" noProof="0" dirty="0">
                <a:ln>
                  <a:noFill/>
                </a:ln>
                <a:solidFill>
                  <a:srgbClr val="0042FF"/>
                </a:solidFill>
                <a:effectLst/>
                <a:uLnTx/>
                <a:uFillTx/>
                <a:latin typeface="微软雅黑"/>
                <a:ea typeface="微软雅黑"/>
                <a:cs typeface="微软雅黑"/>
              </a:endParaRPr>
            </a:p>
          </p:txBody>
        </p:sp>
        <p:sp>
          <p:nvSpPr>
            <p:cNvPr id="168" name="矩形 167"/>
            <p:cNvSpPr/>
            <p:nvPr/>
          </p:nvSpPr>
          <p:spPr>
            <a:xfrm>
              <a:off x="4474" y="2522"/>
              <a:ext cx="2090" cy="646"/>
            </a:xfrm>
            <a:prstGeom prst="rect">
              <a:avLst/>
            </a:prstGeom>
            <a:no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10" name="图片 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 name="圆: 空心 15"/>
          <p:cNvSpPr/>
          <p:nvPr/>
        </p:nvSpPr>
        <p:spPr>
          <a:xfrm>
            <a:off x="6125650" y="1002371"/>
            <a:ext cx="2722333" cy="5480638"/>
          </a:xfrm>
          <a:custGeom>
            <a:avLst/>
            <a:gdLst>
              <a:gd name="adj" fmla="val 8088"/>
              <a:gd name="a" fmla="pin 0 adj 50000"/>
              <a:gd name="dr" fmla="*/ ss a 100000"/>
              <a:gd name="iwd2" fmla="+- wd2 0 dr"/>
              <a:gd name="ihd2" fmla="+- hd2 0 dr"/>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il" t="it" r="ir" b="ib"/>
            <a:pathLst>
              <a:path w="4290" h="8634">
                <a:moveTo>
                  <a:pt x="0" y="0"/>
                </a:moveTo>
                <a:cubicBezTo>
                  <a:pt x="2355" y="-75"/>
                  <a:pt x="4366" y="2144"/>
                  <a:pt x="4287" y="4315"/>
                </a:cubicBezTo>
                <a:cubicBezTo>
                  <a:pt x="4380" y="6738"/>
                  <a:pt x="2106" y="8691"/>
                  <a:pt x="0" y="8631"/>
                </a:cubicBezTo>
                <a:lnTo>
                  <a:pt x="0" y="7933"/>
                </a:lnTo>
                <a:cubicBezTo>
                  <a:pt x="1964" y="7996"/>
                  <a:pt x="3658" y="6136"/>
                  <a:pt x="3589" y="4315"/>
                </a:cubicBezTo>
                <a:cubicBezTo>
                  <a:pt x="3670" y="2285"/>
                  <a:pt x="1754" y="648"/>
                  <a:pt x="0" y="698"/>
                </a:cubicBezTo>
                <a:lnTo>
                  <a:pt x="0" y="0"/>
                </a:lnTo>
                <a:close/>
              </a:path>
            </a:pathLst>
          </a:custGeom>
          <a:gradFill>
            <a:gsLst>
              <a:gs pos="0">
                <a:srgbClr val="E6E6E6"/>
              </a:gs>
              <a:gs pos="100000">
                <a:srgbClr val="E6E6E6"/>
              </a:gs>
            </a:gsLst>
            <a:lin ang="18900000" scaled="1"/>
          </a:gradFill>
          <a:ln w="12700" cap="flat" cmpd="sng" algn="ctr">
            <a:noFill/>
            <a:prstDash val="solid"/>
            <a:miter lim="800000"/>
          </a:ln>
          <a:effectLst/>
        </p:spPr>
        <p:txBody>
          <a:bodyPr wrap="square" rtlCol="0" anchor="ctr" lIns="0" rIns="0" tIns="0" bIns="0">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97" name="椭圆 196"/>
          <p:cNvSpPr/>
          <p:nvPr/>
        </p:nvSpPr>
        <p:spPr>
          <a:xfrm>
            <a:off x="2727960" y="425450"/>
            <a:ext cx="6736080" cy="6736080"/>
          </a:xfrm>
          <a:prstGeom prst="ellipse">
            <a:avLst/>
          </a:prstGeom>
          <a:noFill/>
          <a:ln w="12700" cap="rnd" cmpd="sng" algn="ctr">
            <a:gradFill flip="none" rotWithShape="1">
              <a:gsLst>
                <a:gs pos="81000">
                  <a:srgbClr val="3368FF">
                    <a:alpha val="0"/>
                  </a:srgbClr>
                </a:gs>
                <a:gs pos="100000">
                  <a:srgbClr val="3368FF"/>
                </a:gs>
              </a:gsLst>
              <a:lin ang="0" scaled="0"/>
              <a:tileRect/>
            </a:gradFill>
            <a:prstDash val="sysDash"/>
            <a:miter lim="800000"/>
          </a:ln>
          <a:effectLst/>
        </p:spPr>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lang="zh-CN" altLang="en-US" sz="2500">
                <a:solidFill>
                  <a:srgbClr val="383838"/>
                </a:solidFill>
                <a:effectLst/>
                <a:latin typeface="微软雅黑"/>
                <a:ea typeface="微软雅黑"/>
                <a:cs typeface="微软雅黑"/>
              </a:rPr>
              <a:t>年度述职报告</a:t>
            </a:r>
            <a:r>
              <a:rPr lang="en-US" altLang="zh-CN" sz="2500">
                <a:solidFill>
                  <a:srgbClr val="383838"/>
                </a:solidFill>
                <a:effectLst/>
                <a:latin typeface="微软雅黑"/>
                <a:ea typeface="微软雅黑"/>
                <a:cs typeface="微软雅黑"/>
              </a:rPr>
              <a:t>-</a:t>
            </a:r>
            <a:r>
              <a:rPr sz="2500">
                <a:solidFill>
                  <a:srgbClr val="383838"/>
                </a:solidFill>
                <a:effectLst/>
                <a:latin typeface="微软雅黑"/>
                <a:ea typeface="微软雅黑"/>
                <a:cs typeface="微软雅黑"/>
              </a:rPr>
              <a:t>个人成长</a:t>
            </a:r>
            <a:endParaRPr sz="2500">
              <a:solidFill>
                <a:srgbClr val="383838"/>
              </a:solidFill>
              <a:effectLst/>
              <a:latin typeface="微软雅黑"/>
              <a:ea typeface="微软雅黑"/>
              <a:cs typeface="微软雅黑"/>
            </a:endParaRPr>
          </a:p>
        </p:txBody>
      </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9" name="组合 8"/>
          <p:cNvGrpSpPr/>
          <p:nvPr/>
        </p:nvGrpSpPr>
        <p:grpSpPr>
          <a:xfrm>
            <a:off x="8738235" y="348615"/>
            <a:ext cx="3219450" cy="332740"/>
            <a:chOff x="13761" y="549"/>
            <a:chExt cx="5070" cy="524"/>
          </a:xfrm>
        </p:grpSpPr>
        <p:pic>
          <p:nvPicPr>
            <p:cNvPr id="11" name="图片 10"/>
            <p:cNvPicPr>
              <a:picLocks noChangeAspect="1"/>
            </p:cNvPicPr>
            <p:nvPr userDrawn="1"/>
          </p:nvPicPr>
          <p:blipFill>
            <a:blip r:embed="rId1"/>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
        <p:nvSpPr>
          <p:cNvPr id="7" name="椭圆 6"/>
          <p:cNvSpPr/>
          <p:nvPr/>
        </p:nvSpPr>
        <p:spPr>
          <a:xfrm>
            <a:off x="4370460" y="2005720"/>
            <a:ext cx="3473940" cy="3473940"/>
          </a:xfrm>
          <a:prstGeom prst="ellipse">
            <a:avLst/>
          </a:prstGeom>
          <a:noFill/>
          <a:ln w="12700" cap="rnd" cmpd="sng" algn="ctr">
            <a:gradFill flip="none" rotWithShape="1">
              <a:gsLst>
                <a:gs pos="10000">
                  <a:srgbClr val="668EFF">
                    <a:alpha val="0"/>
                  </a:srgbClr>
                </a:gs>
                <a:gs pos="49000">
                  <a:srgbClr val="668EFF"/>
                </a:gs>
              </a:gsLst>
              <a:lin ang="0" scaled="1"/>
              <a:tileRect/>
            </a:gradFill>
            <a:prstDash val="solid"/>
            <a:miter lim="800000"/>
          </a:ln>
          <a:effectLst/>
        </p:spPr>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8" name="圆: 空心 15"/>
          <p:cNvSpPr/>
          <p:nvPr/>
        </p:nvSpPr>
        <p:spPr>
          <a:xfrm>
            <a:off x="3366877" y="1002366"/>
            <a:ext cx="2722773" cy="5480649"/>
          </a:xfrm>
          <a:custGeom>
            <a:avLst/>
            <a:gdLst>
              <a:gd name="adj" fmla="val 8088"/>
              <a:gd name="a" fmla="pin 0 adj 50000"/>
              <a:gd name="dr" fmla="*/ ss a 100000"/>
              <a:gd name="iwd2" fmla="+- wd2 0 dr"/>
              <a:gd name="ihd2" fmla="+- hd2 0 dr"/>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il" t="it" r="ir" b="ib"/>
            <a:pathLst>
              <a:path w="4291" h="8634">
                <a:moveTo>
                  <a:pt x="0" y="4315"/>
                </a:moveTo>
                <a:cubicBezTo>
                  <a:pt x="-93" y="1893"/>
                  <a:pt x="2181" y="-60"/>
                  <a:pt x="4288" y="0"/>
                </a:cubicBezTo>
                <a:lnTo>
                  <a:pt x="4288" y="698"/>
                </a:lnTo>
                <a:cubicBezTo>
                  <a:pt x="2323" y="635"/>
                  <a:pt x="630" y="2495"/>
                  <a:pt x="698" y="4315"/>
                </a:cubicBezTo>
                <a:cubicBezTo>
                  <a:pt x="618" y="6346"/>
                  <a:pt x="2532" y="7983"/>
                  <a:pt x="4288" y="7933"/>
                </a:cubicBezTo>
                <a:lnTo>
                  <a:pt x="4288" y="8631"/>
                </a:lnTo>
                <a:cubicBezTo>
                  <a:pt x="1931" y="8706"/>
                  <a:pt x="-78" y="6487"/>
                  <a:pt x="0" y="4315"/>
                </a:cubicBezTo>
                <a:close/>
              </a:path>
            </a:pathLst>
          </a:custGeom>
          <a:gradFill>
            <a:gsLst>
              <a:gs pos="0">
                <a:srgbClr val="FFFFFF"/>
              </a:gs>
              <a:gs pos="100000">
                <a:srgbClr val="FFFFFF"/>
              </a:gs>
            </a:gsLst>
            <a:lin ang="18900000" scaled="1"/>
          </a:gradFill>
          <a:ln w="12700" cap="flat" cmpd="sng" algn="ctr">
            <a:noFill/>
            <a:prstDash val="solid"/>
            <a:miter lim="800000"/>
          </a:ln>
          <a:effectLst/>
        </p:spPr>
        <p:txBody>
          <a:bodyPr wrap="square" rtlCol="0" anchor="ctr" lIns="0" rIns="0" tIns="0" bIns="0">
            <a:no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2" name="椭圆 1"/>
          <p:cNvSpPr/>
          <p:nvPr/>
        </p:nvSpPr>
        <p:spPr>
          <a:xfrm>
            <a:off x="4293235" y="1928495"/>
            <a:ext cx="3628390" cy="3628390"/>
          </a:xfrm>
          <a:prstGeom prst="ellipse">
            <a:avLst/>
          </a:prstGeom>
          <a:solidFill>
            <a:srgbClr val="FFFFFF"/>
          </a:solidFill>
          <a:ln w="12700" cap="flat" cmpd="sng" algn="ctr">
            <a:noFill/>
            <a:prstDash val="solid"/>
            <a:miter lim="800000"/>
          </a:ln>
          <a:effectLst>
            <a:outerShdw blurRad="368300" dist="127000" dir="2400000" sx="98000" sy="98000" algn="tl" rotWithShape="0">
              <a:srgbClr val="383838">
                <a:alpha val="40000"/>
              </a:srgbClr>
            </a:outerShdw>
          </a:effectLst>
        </p:spPr>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3" name="椭圆 2"/>
          <p:cNvSpPr/>
          <p:nvPr/>
        </p:nvSpPr>
        <p:spPr>
          <a:xfrm>
            <a:off x="4770755" y="2408555"/>
            <a:ext cx="2668270" cy="2668270"/>
          </a:xfrm>
          <a:prstGeom prst="ellipse">
            <a:avLst/>
          </a:prstGeom>
          <a:gradFill>
            <a:gsLst>
              <a:gs pos="1000">
                <a:srgbClr val="B3D4FE"/>
              </a:gs>
              <a:gs pos="99000">
                <a:srgbClr val="3368FF"/>
              </a:gs>
            </a:gsLst>
            <a:lin ang="0" scaled="0"/>
          </a:gradFill>
          <a:ln w="12700" cap="flat" cmpd="sng" algn="ctr">
            <a:noFill/>
            <a:prstDash val="solid"/>
            <a:miter lim="800000"/>
          </a:ln>
          <a:effectLst>
            <a:outerShdw blurRad="368300" dist="127000" dir="2400000" sx="98000" sy="98000" algn="tl" rotWithShape="0">
              <a:srgbClr val="383838">
                <a:alpha val="40000"/>
              </a:srgbClr>
            </a:outerShdw>
          </a:effectLst>
        </p:spPr>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pic>
        <p:nvPicPr>
          <p:cNvPr id="4" name="图形 25"/>
          <p:cNvPicPr>
            <a:picLocks noChangeAspect="1"/>
          </p:cNvPicPr>
          <p:nvPr/>
        </p:nvPicPr>
        <p:blipFill>
          <a:blip r:embed="rId2" cstate="email">
            <a:extLst>
              <a:ext uri="{96DAC541-7B7A-43D3-8B79-37D633B846F1}">
                <asvg:svgBlip xmlns:asvg="http://schemas.microsoft.com/office/drawing/2016/SVG/main" r:embed="rId3"/>
              </a:ext>
            </a:extLst>
          </a:blip>
          <a:stretch>
            <a:fillRect/>
          </a:stretch>
        </p:blipFill>
        <p:spPr>
          <a:xfrm>
            <a:off x="5672455" y="2957830"/>
            <a:ext cx="864870" cy="864870"/>
          </a:xfrm>
          <a:prstGeom prst="rect">
            <a:avLst/>
          </a:prstGeom>
        </p:spPr>
      </p:pic>
      <p:sp>
        <p:nvSpPr>
          <p:cNvPr id="6" name="矩形: 圆角 1"/>
          <p:cNvSpPr/>
          <p:nvPr/>
        </p:nvSpPr>
        <p:spPr>
          <a:xfrm>
            <a:off x="1664970" y="1546860"/>
            <a:ext cx="1358900" cy="385445"/>
          </a:xfrm>
          <a:prstGeom prst="roundRect">
            <a:avLst>
              <a:gd name="adj" fmla="val 50000"/>
            </a:avLst>
          </a:prstGeom>
          <a:gradFill>
            <a:gsLst>
              <a:gs pos="0">
                <a:srgbClr val="3368FF"/>
              </a:gs>
              <a:gs pos="100000">
                <a:srgbClr val="B3D4FE"/>
              </a:gs>
            </a:gsLst>
            <a:lin ang="18900000" scaled="0"/>
          </a:gradFill>
          <a:ln w="12700" cap="flat" cmpd="sng" algn="ctr">
            <a:noFill/>
            <a:prstDash val="solid"/>
            <a:miter lim="800000"/>
          </a:ln>
          <a:effectLst/>
        </p:spPr>
        <p:txBody>
          <a:bodyPr rtlCol="0" anchor="ctr"/>
          <a:lstStyle/>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管理加强</a:t>
            </a:r>
            <a:endParaRPr lang="zh-CN" altLang="en-US" sz="1600" b="1" dirty="0">
              <a:solidFill>
                <a:srgbClr val="383838"/>
              </a:solidFill>
              <a:latin typeface="微软雅黑"/>
              <a:ea typeface="微软雅黑"/>
              <a:cs typeface="微软雅黑"/>
            </a:endParaRPr>
          </a:p>
        </p:txBody>
      </p:sp>
      <p:sp>
        <p:nvSpPr>
          <p:cNvPr id="10" name="文本框 9"/>
          <p:cNvSpPr txBox="1"/>
          <p:nvPr>
            <p:custDataLst>
              <p:tags r:id="rId4"/>
            </p:custDataLst>
          </p:nvPr>
        </p:nvSpPr>
        <p:spPr>
          <a:xfrm>
            <a:off x="132715" y="2005965"/>
            <a:ext cx="2892425" cy="429895"/>
          </a:xfrm>
          <a:prstGeom prst="rect">
            <a:avLst/>
          </a:prstGeom>
          <a:noFill/>
        </p:spPr>
        <p:txBody>
          <a:bodyPr wrap="square" rtlCol="0" lIns="0" rIns="0" tIns="0" bIns="0">
            <a:spAutoFit/>
          </a:bodyPr>
          <a:lstStyle/>
          <a:p>
            <a:pPr marL="0" marR="0" lvl="0" algn="r" defTabSz="914400" rtl="0" eaLnBrk="1" fontAlgn="auto" latinLnBrk="0" hangingPunct="1">
              <a:lnSpc>
                <a:spcPct val="110000"/>
              </a:lnSpc>
              <a:spcBef>
                <a:spcPts val="0"/>
              </a:spcBef>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现场管理持续加强</a:t>
            </a:r>
            <a:endParaRPr lang="zh-CN" altLang="en-US" sz="1000" dirty="0">
              <a:solidFill>
                <a:srgbClr val="383838"/>
              </a:solidFill>
              <a:latin typeface="微软雅黑"/>
              <a:ea typeface="微软雅黑"/>
              <a:cs typeface="微软雅黑"/>
              <a:sym typeface="微软雅黑"/>
            </a:endParaRPr>
          </a:p>
          <a:p>
            <a:pPr marL="0" marR="0" lvl="0" algn="r" defTabSz="914400" rtl="0" eaLnBrk="1" fontAlgn="auto" latinLnBrk="0" hangingPunct="1">
              <a:lnSpc>
                <a:spcPct val="110000"/>
              </a:lnSpc>
              <a:spcBef>
                <a:spcPts val="0"/>
              </a:spcBef>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提高企业竞争力</a:t>
            </a:r>
            <a:endParaRPr lang="zh-CN" altLang="en-US" sz="1000" dirty="0">
              <a:solidFill>
                <a:srgbClr val="383838"/>
              </a:solidFill>
              <a:latin typeface="微软雅黑"/>
              <a:ea typeface="微软雅黑"/>
              <a:cs typeface="微软雅黑"/>
              <a:sym typeface="微软雅黑"/>
            </a:endParaRPr>
          </a:p>
        </p:txBody>
      </p:sp>
      <p:sp>
        <p:nvSpPr>
          <p:cNvPr id="17" name="矩形: 圆角 42"/>
          <p:cNvSpPr/>
          <p:nvPr/>
        </p:nvSpPr>
        <p:spPr>
          <a:xfrm>
            <a:off x="1174115" y="2710180"/>
            <a:ext cx="1358900" cy="385445"/>
          </a:xfrm>
          <a:prstGeom prst="roundRect">
            <a:avLst>
              <a:gd name="adj" fmla="val 50000"/>
            </a:avLst>
          </a:prstGeom>
          <a:gradFill>
            <a:gsLst>
              <a:gs pos="0">
                <a:srgbClr val="3368FF"/>
              </a:gs>
              <a:gs pos="100000">
                <a:srgbClr val="B3D4FE"/>
              </a:gs>
            </a:gsLst>
            <a:lin ang="18900000" scaled="0"/>
          </a:gradFill>
          <a:ln w="12700" cap="flat" cmpd="sng" algn="ctr">
            <a:noFill/>
            <a:prstDash val="solid"/>
            <a:miter lim="800000"/>
          </a:ln>
          <a:effectLst/>
        </p:spPr>
        <p:txBody>
          <a:bodyPr rtlCol="0" anchor="ctr">
            <a:noAutofit/>
          </a:bodyPr>
          <a:lstStyle/>
          <a:p>
            <a:pPr lvl="0" algn="ct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经验提升</a:t>
            </a:r>
            <a:endParaRPr lang="zh-CN" altLang="en-US" sz="1600" b="1" dirty="0">
              <a:solidFill>
                <a:srgbClr val="383838"/>
              </a:solidFill>
              <a:latin typeface="微软雅黑"/>
              <a:ea typeface="微软雅黑"/>
              <a:cs typeface="微软雅黑"/>
              <a:sym typeface="微软雅黑"/>
            </a:endParaRPr>
          </a:p>
        </p:txBody>
      </p:sp>
      <p:sp>
        <p:nvSpPr>
          <p:cNvPr id="14" name="文本框 13"/>
          <p:cNvSpPr txBox="1"/>
          <p:nvPr>
            <p:custDataLst>
              <p:tags r:id="rId5"/>
            </p:custDataLst>
          </p:nvPr>
        </p:nvSpPr>
        <p:spPr>
          <a:xfrm>
            <a:off x="379095" y="3215640"/>
            <a:ext cx="2108200" cy="429895"/>
          </a:xfrm>
          <a:prstGeom prst="rect">
            <a:avLst/>
          </a:prstGeom>
          <a:noFill/>
        </p:spPr>
        <p:txBody>
          <a:bodyPr wrap="square" rtlCol="0" lIns="0" rIns="0" tIns="0" bIns="0">
            <a:spAutoFit/>
          </a:bodyPr>
          <a:lstStyle/>
          <a:p>
            <a:pPr algn="r">
              <a:lnSpc>
                <a:spcPct val="110000"/>
              </a:lnSpc>
              <a:buClrTx/>
              <a:buSzTx/>
              <a:buNone/>
              <a:defRPr>
                <a:latin typeface="微软雅黑"/>
                <a:ea typeface="微软雅黑"/>
                <a:cs typeface="微软雅黑"/>
              </a:defRPr>
            </a:pPr>
            <a:r>
              <a:rPr lang="zh-CN" altLang="en-US" sz="1000" dirty="0">
                <a:solidFill>
                  <a:srgbClr val="383838"/>
                </a:solidFill>
                <a:latin typeface="微软雅黑"/>
                <a:ea typeface="微软雅黑"/>
                <a:cs typeface="微软雅黑"/>
              </a:rPr>
              <a:t>产品在设计、工艺、性能</a:t>
            </a:r>
            <a:endParaRPr lang="zh-CN" altLang="en-US" sz="1000" dirty="0">
              <a:solidFill>
                <a:srgbClr val="383838"/>
              </a:solidFill>
              <a:latin typeface="微软雅黑"/>
              <a:ea typeface="微软雅黑"/>
              <a:cs typeface="微软雅黑"/>
            </a:endParaRPr>
          </a:p>
          <a:p>
            <a:pPr algn="r">
              <a:lnSpc>
                <a:spcPct val="110000"/>
              </a:lnSpc>
              <a:buClrTx/>
              <a:buSzTx/>
              <a:buNone/>
              <a:defRPr>
                <a:latin typeface="微软雅黑"/>
                <a:ea typeface="微软雅黑"/>
                <a:cs typeface="微软雅黑"/>
              </a:defRPr>
            </a:pPr>
            <a:r>
              <a:rPr lang="zh-CN" altLang="en-US" sz="1000" dirty="0">
                <a:solidFill>
                  <a:srgbClr val="383838"/>
                </a:solidFill>
                <a:latin typeface="微软雅黑"/>
                <a:ea typeface="微软雅黑"/>
                <a:cs typeface="微软雅黑"/>
              </a:rPr>
              <a:t>可靠性均考虑客户需求</a:t>
            </a:r>
            <a:endParaRPr lang="zh-CN" altLang="en-US" sz="1000" dirty="0">
              <a:solidFill>
                <a:srgbClr val="383838"/>
              </a:solidFill>
              <a:latin typeface="微软雅黑"/>
              <a:ea typeface="微软雅黑"/>
              <a:cs typeface="微软雅黑"/>
            </a:endParaRPr>
          </a:p>
        </p:txBody>
      </p:sp>
      <p:sp>
        <p:nvSpPr>
          <p:cNvPr id="19" name="矩形: 圆角 45"/>
          <p:cNvSpPr/>
          <p:nvPr/>
        </p:nvSpPr>
        <p:spPr>
          <a:xfrm>
            <a:off x="1130935" y="4054475"/>
            <a:ext cx="1358900" cy="385445"/>
          </a:xfrm>
          <a:prstGeom prst="roundRect">
            <a:avLst>
              <a:gd name="adj" fmla="val 50000"/>
            </a:avLst>
          </a:prstGeom>
          <a:gradFill>
            <a:gsLst>
              <a:gs pos="0">
                <a:srgbClr val="3368FF"/>
              </a:gs>
              <a:gs pos="100000">
                <a:srgbClr val="B3D4FE"/>
              </a:gs>
            </a:gsLst>
            <a:lin ang="18900000" scaled="0"/>
          </a:gradFill>
          <a:ln w="12700" cap="flat" cmpd="sng" algn="ctr">
            <a:noFill/>
            <a:prstDash val="solid"/>
            <a:miter lim="800000"/>
          </a:ln>
          <a:effectLst/>
        </p:spPr>
        <p:txBody>
          <a:bodyPr rtlCol="0" anchor="ctr">
            <a:noAutofit/>
          </a:bodyPr>
          <a:lstStyle/>
          <a:p>
            <a:pPr lvl="0" algn="ct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定制产品</a:t>
            </a:r>
            <a:endParaRPr lang="zh-CN" altLang="en-US" sz="1600" b="1" dirty="0">
              <a:solidFill>
                <a:srgbClr val="383838"/>
              </a:solidFill>
              <a:latin typeface="微软雅黑"/>
              <a:ea typeface="微软雅黑"/>
              <a:cs typeface="微软雅黑"/>
              <a:sym typeface="微软雅黑"/>
            </a:endParaRPr>
          </a:p>
        </p:txBody>
      </p:sp>
      <p:sp>
        <p:nvSpPr>
          <p:cNvPr id="41" name="文本框 40"/>
          <p:cNvSpPr txBox="1"/>
          <p:nvPr>
            <p:custDataLst>
              <p:tags r:id="rId6"/>
            </p:custDataLst>
          </p:nvPr>
        </p:nvSpPr>
        <p:spPr>
          <a:xfrm>
            <a:off x="932180" y="4479290"/>
            <a:ext cx="1614805" cy="429895"/>
          </a:xfrm>
          <a:prstGeom prst="rect">
            <a:avLst/>
          </a:prstGeom>
          <a:noFill/>
        </p:spPr>
        <p:txBody>
          <a:bodyPr wrap="square" rtlCol="0" lIns="0" rIns="0" tIns="0" bIns="0">
            <a:spAutoFit/>
          </a:bodyPr>
          <a:lstStyle/>
          <a:p>
            <a:pPr algn="r">
              <a:lnSpc>
                <a:spcPct val="110000"/>
              </a:lnSpc>
              <a:buClrTx/>
              <a:buSzTx/>
              <a:buNone/>
              <a:defRPr>
                <a:latin typeface="微软雅黑"/>
                <a:ea typeface="微软雅黑"/>
                <a:cs typeface="微软雅黑"/>
              </a:defRPr>
            </a:pPr>
            <a:r>
              <a:rPr lang="zh-CN" altLang="en-US" sz="1000" dirty="0">
                <a:solidFill>
                  <a:srgbClr val="383838"/>
                </a:solidFill>
                <a:latin typeface="微软雅黑"/>
                <a:ea typeface="微软雅黑"/>
                <a:cs typeface="微软雅黑"/>
              </a:rPr>
              <a:t>对硬件、软件等特殊情况定制产品</a:t>
            </a:r>
            <a:endParaRPr lang="zh-CN" altLang="en-US" sz="1000" dirty="0">
              <a:solidFill>
                <a:srgbClr val="383838"/>
              </a:solidFill>
              <a:latin typeface="微软雅黑"/>
              <a:ea typeface="微软雅黑"/>
              <a:cs typeface="微软雅黑"/>
            </a:endParaRPr>
          </a:p>
        </p:txBody>
      </p:sp>
      <p:sp>
        <p:nvSpPr>
          <p:cNvPr id="42" name="矩形: 圆角 48"/>
          <p:cNvSpPr/>
          <p:nvPr/>
        </p:nvSpPr>
        <p:spPr>
          <a:xfrm>
            <a:off x="1636395" y="5450205"/>
            <a:ext cx="1358900" cy="385445"/>
          </a:xfrm>
          <a:prstGeom prst="roundRect">
            <a:avLst>
              <a:gd name="adj" fmla="val 50000"/>
            </a:avLst>
          </a:prstGeom>
          <a:gradFill>
            <a:gsLst>
              <a:gs pos="0">
                <a:srgbClr val="3368FF"/>
              </a:gs>
              <a:gs pos="100000">
                <a:srgbClr val="B3D4FE"/>
              </a:gs>
            </a:gsLst>
            <a:lin ang="18900000" scaled="0"/>
          </a:gradFill>
          <a:ln w="12700" cap="flat" cmpd="sng" algn="ctr">
            <a:noFill/>
            <a:prstDash val="solid"/>
            <a:miter lim="800000"/>
          </a:ln>
          <a:effectLst/>
        </p:spPr>
        <p:txBody>
          <a:bodyPr rtlCol="0" anchor="ctr">
            <a:noAutofit/>
          </a:bodyPr>
          <a:lstStyle/>
          <a:p>
            <a:pPr lvl="0" algn="ct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转型突破</a:t>
            </a:r>
            <a:endParaRPr lang="zh-CN" altLang="en-US" sz="1600" b="1" dirty="0">
              <a:solidFill>
                <a:srgbClr val="383838"/>
              </a:solidFill>
              <a:latin typeface="微软雅黑"/>
              <a:ea typeface="微软雅黑"/>
              <a:cs typeface="微软雅黑"/>
              <a:sym typeface="微软雅黑"/>
            </a:endParaRPr>
          </a:p>
        </p:txBody>
      </p:sp>
      <p:sp>
        <p:nvSpPr>
          <p:cNvPr id="43" name="文本框 42"/>
          <p:cNvSpPr txBox="1"/>
          <p:nvPr>
            <p:custDataLst>
              <p:tags r:id="rId7"/>
            </p:custDataLst>
          </p:nvPr>
        </p:nvSpPr>
        <p:spPr>
          <a:xfrm>
            <a:off x="1428750" y="5942965"/>
            <a:ext cx="1614805" cy="398780"/>
          </a:xfrm>
          <a:prstGeom prst="rect">
            <a:avLst/>
          </a:prstGeom>
          <a:noFill/>
        </p:spPr>
        <p:txBody>
          <a:bodyPr wrap="square" rtlCol="0" lIns="0" rIns="0" tIns="0" bIns="0">
            <a:spAutoFit/>
          </a:bodyPr>
          <a:lstStyle/>
          <a:p>
            <a:pPr marL="0" marR="0" lvl="0" indent="0" algn="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rPr>
              <a:t>结合中国市场</a:t>
            </a:r>
            <a:r>
              <a:rPr lang="zh-CN" altLang="en-US" sz="1000" dirty="0">
                <a:solidFill>
                  <a:srgbClr val="383838"/>
                </a:solidFill>
                <a:latin typeface="微软雅黑"/>
                <a:ea typeface="微软雅黑"/>
                <a:cs typeface="微软雅黑"/>
                <a:sym typeface="微软雅黑"/>
              </a:rPr>
              <a:t>完成数字化转型突破</a:t>
            </a:r>
            <a:endParaRPr lang="zh-CN" altLang="en-US" sz="1000" dirty="0">
              <a:solidFill>
                <a:srgbClr val="383838"/>
              </a:solidFill>
              <a:latin typeface="微软雅黑"/>
              <a:ea typeface="微软雅黑"/>
              <a:cs typeface="微软雅黑"/>
              <a:sym typeface="微软雅黑"/>
            </a:endParaRPr>
          </a:p>
        </p:txBody>
      </p:sp>
      <p:sp>
        <p:nvSpPr>
          <p:cNvPr id="51" name="矩形: 圆角 51"/>
          <p:cNvSpPr/>
          <p:nvPr/>
        </p:nvSpPr>
        <p:spPr>
          <a:xfrm>
            <a:off x="9254490" y="1546860"/>
            <a:ext cx="1358900" cy="385445"/>
          </a:xfrm>
          <a:prstGeom prst="roundRect">
            <a:avLst>
              <a:gd name="adj" fmla="val 50000"/>
            </a:avLst>
          </a:prstGeom>
          <a:gradFill>
            <a:gsLst>
              <a:gs pos="0">
                <a:srgbClr val="0042FF"/>
              </a:gs>
              <a:gs pos="100000">
                <a:srgbClr val="3368FF"/>
              </a:gs>
            </a:gsLst>
            <a:lin ang="18900000" scaled="0"/>
          </a:gradFill>
          <a:ln w="12700"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交货迅速</a:t>
            </a:r>
            <a:endParaRPr lang="zh-CN" altLang="en-US" sz="1600" b="1" dirty="0">
              <a:solidFill>
                <a:srgbClr val="FFFFFF"/>
              </a:solidFill>
              <a:latin typeface="微软雅黑"/>
              <a:ea typeface="微软雅黑"/>
              <a:cs typeface="微软雅黑"/>
              <a:sym typeface="微软雅黑"/>
            </a:endParaRPr>
          </a:p>
        </p:txBody>
      </p:sp>
      <p:sp>
        <p:nvSpPr>
          <p:cNvPr id="55" name="文本框 54"/>
          <p:cNvSpPr txBox="1"/>
          <p:nvPr>
            <p:custDataLst>
              <p:tags r:id="rId8"/>
            </p:custDataLst>
          </p:nvPr>
        </p:nvSpPr>
        <p:spPr>
          <a:xfrm flipH="1">
            <a:off x="9372600" y="1994535"/>
            <a:ext cx="1629410" cy="429895"/>
          </a:xfrm>
          <a:prstGeom prst="rect">
            <a:avLst/>
          </a:prstGeom>
          <a:noFill/>
        </p:spPr>
        <p:txBody>
          <a:bodyPr wrap="square" rtlCol="0" lIns="0" rIns="0" tIns="0" bIns="0">
            <a:spAutoFit/>
          </a:bodyPr>
          <a:lstStyle/>
          <a:p>
            <a:pPr algn="l">
              <a:lnSpc>
                <a:spcPct val="110000"/>
              </a:lnSpc>
              <a:buClrTx/>
              <a:buSzTx/>
              <a:buNone/>
              <a:defRPr>
                <a:latin typeface="微软雅黑"/>
                <a:ea typeface="微软雅黑"/>
                <a:cs typeface="微软雅黑"/>
              </a:defRPr>
            </a:pPr>
            <a:r>
              <a:rPr lang="zh-CN" altLang="en-US" sz="1000" dirty="0">
                <a:solidFill>
                  <a:srgbClr val="383838"/>
                </a:solidFill>
                <a:latin typeface="微软雅黑"/>
                <a:ea typeface="微软雅黑"/>
                <a:cs typeface="微软雅黑"/>
              </a:rPr>
              <a:t>各系统产品均有足够备货，以备急需</a:t>
            </a:r>
            <a:endParaRPr lang="zh-CN" altLang="en-US" sz="1000" dirty="0">
              <a:solidFill>
                <a:srgbClr val="383838"/>
              </a:solidFill>
              <a:latin typeface="微软雅黑"/>
              <a:ea typeface="微软雅黑"/>
              <a:cs typeface="微软雅黑"/>
            </a:endParaRPr>
          </a:p>
        </p:txBody>
      </p:sp>
      <p:sp>
        <p:nvSpPr>
          <p:cNvPr id="64" name="矩形: 圆角 54"/>
          <p:cNvSpPr/>
          <p:nvPr/>
        </p:nvSpPr>
        <p:spPr>
          <a:xfrm>
            <a:off x="9692640" y="2728595"/>
            <a:ext cx="1358900" cy="385445"/>
          </a:xfrm>
          <a:prstGeom prst="roundRect">
            <a:avLst>
              <a:gd name="adj" fmla="val 50000"/>
            </a:avLst>
          </a:prstGeom>
          <a:gradFill>
            <a:gsLst>
              <a:gs pos="0">
                <a:srgbClr val="0042FF"/>
              </a:gs>
              <a:gs pos="100000">
                <a:srgbClr val="3368FF"/>
              </a:gs>
            </a:gsLst>
            <a:lin ang="18900000" scaled="0"/>
          </a:gradFill>
          <a:ln w="12700"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强大支持</a:t>
            </a:r>
            <a:endParaRPr lang="zh-CN" altLang="en-US" sz="1600" b="1" dirty="0">
              <a:solidFill>
                <a:srgbClr val="FFFFFF"/>
              </a:solidFill>
              <a:latin typeface="微软雅黑"/>
              <a:ea typeface="微软雅黑"/>
              <a:cs typeface="微软雅黑"/>
              <a:sym typeface="微软雅黑"/>
            </a:endParaRPr>
          </a:p>
        </p:txBody>
      </p:sp>
      <p:sp>
        <p:nvSpPr>
          <p:cNvPr id="65" name="文本框 64"/>
          <p:cNvSpPr txBox="1"/>
          <p:nvPr>
            <p:custDataLst>
              <p:tags r:id="rId9"/>
            </p:custDataLst>
          </p:nvPr>
        </p:nvSpPr>
        <p:spPr>
          <a:xfrm flipH="1">
            <a:off x="9738360" y="3220085"/>
            <a:ext cx="1885950" cy="429895"/>
          </a:xfrm>
          <a:prstGeom prst="rect">
            <a:avLst/>
          </a:prstGeom>
          <a:noFill/>
        </p:spPr>
        <p:txBody>
          <a:bodyPr wrap="square" rtlCol="0" lIns="0" rIns="0" tIns="0" bIns="0">
            <a:spAutoFit/>
          </a:bodyPr>
          <a:lstStyle/>
          <a:p>
            <a:pPr algn="l">
              <a:lnSpc>
                <a:spcPct val="110000"/>
              </a:lnSpc>
              <a:buClrTx/>
              <a:buSzTx/>
              <a:buNone/>
              <a:defRPr>
                <a:latin typeface="微软雅黑"/>
                <a:ea typeface="微软雅黑"/>
                <a:cs typeface="微软雅黑"/>
              </a:defRPr>
            </a:pPr>
            <a:r>
              <a:rPr lang="zh-CN" altLang="en-US" sz="1000" dirty="0">
                <a:solidFill>
                  <a:srgbClr val="383838"/>
                </a:solidFill>
                <a:latin typeface="微软雅黑"/>
                <a:ea typeface="微软雅黑"/>
                <a:cs typeface="微软雅黑"/>
              </a:rPr>
              <a:t>售前/中/后均有资深工程师配合完成项目</a:t>
            </a:r>
            <a:endParaRPr lang="zh-CN" altLang="en-US" sz="1000" dirty="0">
              <a:solidFill>
                <a:srgbClr val="383838"/>
              </a:solidFill>
              <a:latin typeface="微软雅黑"/>
              <a:ea typeface="微软雅黑"/>
              <a:cs typeface="微软雅黑"/>
            </a:endParaRPr>
          </a:p>
        </p:txBody>
      </p:sp>
      <p:sp>
        <p:nvSpPr>
          <p:cNvPr id="66" name="矩形: 圆角 57"/>
          <p:cNvSpPr/>
          <p:nvPr/>
        </p:nvSpPr>
        <p:spPr>
          <a:xfrm>
            <a:off x="9810750" y="4054475"/>
            <a:ext cx="1358900" cy="385445"/>
          </a:xfrm>
          <a:prstGeom prst="roundRect">
            <a:avLst>
              <a:gd name="adj" fmla="val 50000"/>
            </a:avLst>
          </a:prstGeom>
          <a:gradFill>
            <a:gsLst>
              <a:gs pos="0">
                <a:srgbClr val="0042FF"/>
              </a:gs>
              <a:gs pos="100000">
                <a:srgbClr val="3368FF"/>
              </a:gs>
            </a:gsLst>
            <a:lin ang="18900000" scaled="0"/>
          </a:gradFill>
          <a:ln w="12700"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品牌优势</a:t>
            </a:r>
            <a:endParaRPr lang="zh-CN" altLang="en-US" sz="1600" b="1" dirty="0">
              <a:solidFill>
                <a:srgbClr val="FFFFFF"/>
              </a:solidFill>
              <a:latin typeface="微软雅黑"/>
              <a:ea typeface="微软雅黑"/>
              <a:cs typeface="微软雅黑"/>
              <a:sym typeface="微软雅黑"/>
            </a:endParaRPr>
          </a:p>
        </p:txBody>
      </p:sp>
      <p:sp>
        <p:nvSpPr>
          <p:cNvPr id="67" name="文本框 66"/>
          <p:cNvSpPr txBox="1"/>
          <p:nvPr>
            <p:custDataLst>
              <p:tags r:id="rId10"/>
            </p:custDataLst>
          </p:nvPr>
        </p:nvSpPr>
        <p:spPr>
          <a:xfrm flipH="1">
            <a:off x="9799955" y="4502150"/>
            <a:ext cx="2070100" cy="429895"/>
          </a:xfrm>
          <a:prstGeom prst="rect">
            <a:avLst/>
          </a:prstGeom>
          <a:noFill/>
        </p:spPr>
        <p:txBody>
          <a:bodyPr wrap="square" rtlCol="0" lIns="0" rIns="0" tIns="0" bIns="0">
            <a:spAutoFit/>
          </a:bodyPr>
          <a:lstStyle/>
          <a:p>
            <a:pPr algn="l">
              <a:lnSpc>
                <a:spcPct val="110000"/>
              </a:lnSpc>
              <a:buClrTx/>
              <a:buSzTx/>
              <a:buNone/>
              <a:defRPr>
                <a:latin typeface="微软雅黑"/>
                <a:ea typeface="微软雅黑"/>
                <a:cs typeface="微软雅黑"/>
              </a:defRPr>
            </a:pPr>
            <a:r>
              <a:rPr lang="zh-CN" altLang="en-US" sz="1000" dirty="0">
                <a:solidFill>
                  <a:srgbClr val="383838"/>
                </a:solidFill>
                <a:latin typeface="微软雅黑"/>
                <a:ea typeface="微软雅黑"/>
                <a:cs typeface="微软雅黑"/>
              </a:rPr>
              <a:t>超过十年的安防产品经验成为安防知名品牌</a:t>
            </a:r>
            <a:endParaRPr lang="zh-CN" altLang="en-US" sz="1000" dirty="0">
              <a:solidFill>
                <a:srgbClr val="383838"/>
              </a:solidFill>
              <a:latin typeface="微软雅黑"/>
              <a:ea typeface="微软雅黑"/>
              <a:cs typeface="微软雅黑"/>
            </a:endParaRPr>
          </a:p>
        </p:txBody>
      </p:sp>
      <p:sp>
        <p:nvSpPr>
          <p:cNvPr id="68" name="矩形: 圆角 60"/>
          <p:cNvSpPr/>
          <p:nvPr/>
        </p:nvSpPr>
        <p:spPr>
          <a:xfrm>
            <a:off x="9197975" y="5438140"/>
            <a:ext cx="1358900" cy="385445"/>
          </a:xfrm>
          <a:prstGeom prst="roundRect">
            <a:avLst>
              <a:gd name="adj" fmla="val 50000"/>
            </a:avLst>
          </a:prstGeom>
          <a:gradFill>
            <a:gsLst>
              <a:gs pos="0">
                <a:srgbClr val="0042FF"/>
              </a:gs>
              <a:gs pos="100000">
                <a:srgbClr val="3368FF"/>
              </a:gs>
            </a:gsLst>
            <a:lin ang="18900000" scaled="0"/>
          </a:gradFill>
          <a:ln w="12700" cap="flat" cmpd="sng" algn="ctr">
            <a:noFill/>
            <a:prstDash val="solid"/>
            <a:miter lim="800000"/>
          </a:ln>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营销网络</a:t>
            </a:r>
            <a:endParaRPr lang="zh-CN" altLang="en-US" sz="1600" b="1" dirty="0">
              <a:solidFill>
                <a:srgbClr val="FFFFFF"/>
              </a:solidFill>
              <a:latin typeface="微软雅黑"/>
              <a:ea typeface="微软雅黑"/>
              <a:cs typeface="微软雅黑"/>
              <a:sym typeface="微软雅黑"/>
            </a:endParaRPr>
          </a:p>
        </p:txBody>
      </p:sp>
      <p:sp>
        <p:nvSpPr>
          <p:cNvPr id="74" name="文本框 73"/>
          <p:cNvSpPr txBox="1"/>
          <p:nvPr>
            <p:custDataLst>
              <p:tags r:id="rId11"/>
            </p:custDataLst>
          </p:nvPr>
        </p:nvSpPr>
        <p:spPr>
          <a:xfrm flipH="1">
            <a:off x="9197975" y="5885815"/>
            <a:ext cx="1614805" cy="429895"/>
          </a:xfrm>
          <a:prstGeom prst="rect">
            <a:avLst/>
          </a:prstGeom>
          <a:noFill/>
        </p:spPr>
        <p:txBody>
          <a:bodyPr wrap="square" rtlCol="0" lIns="0" rIns="0" tIns="0" bIns="0">
            <a:spAutoFit/>
          </a:bodyPr>
          <a:lstStyle/>
          <a:p>
            <a:pPr algn="l">
              <a:lnSpc>
                <a:spcPct val="110000"/>
              </a:lnSpc>
              <a:buClrTx/>
              <a:buSzTx/>
              <a:buNone/>
              <a:defRPr>
                <a:latin typeface="微软雅黑"/>
                <a:ea typeface="微软雅黑"/>
                <a:cs typeface="微软雅黑"/>
              </a:defRPr>
            </a:pPr>
            <a:r>
              <a:rPr lang="zh-CN" altLang="en-US" sz="1000" dirty="0">
                <a:solidFill>
                  <a:srgbClr val="383838"/>
                </a:solidFill>
                <a:latin typeface="微软雅黑"/>
                <a:ea typeface="微软雅黑"/>
                <a:cs typeface="微软雅黑"/>
              </a:rPr>
              <a:t>在全球均有成熟营销网络，方便订购</a:t>
            </a:r>
            <a:endParaRPr lang="zh-CN" altLang="en-US" sz="1000" dirty="0">
              <a:solidFill>
                <a:srgbClr val="383838"/>
              </a:solidFill>
              <a:latin typeface="微软雅黑"/>
              <a:ea typeface="微软雅黑"/>
              <a:cs typeface="微软雅黑"/>
            </a:endParaRPr>
          </a:p>
        </p:txBody>
      </p:sp>
      <p:sp>
        <p:nvSpPr>
          <p:cNvPr id="82" name="椭圆 81"/>
          <p:cNvSpPr/>
          <p:nvPr/>
        </p:nvSpPr>
        <p:spPr>
          <a:xfrm>
            <a:off x="3789680" y="1475740"/>
            <a:ext cx="616585" cy="616585"/>
          </a:xfrm>
          <a:prstGeom prst="ellipse">
            <a:avLst/>
          </a:prstGeom>
          <a:solidFill>
            <a:srgbClr val="FFFFFF"/>
          </a:solidFill>
          <a:ln w="12700" cap="flat" cmpd="sng" algn="ctr">
            <a:solidFill>
              <a:srgbClr val="B3D4FE"/>
            </a:solidFill>
            <a:prstDash val="solid"/>
            <a:miter lim="800000"/>
          </a:ln>
          <a:effectLst>
            <a:outerShdw blurRad="254000" dist="101600" dir="2700000" sx="83000" sy="83000" algn="tl" rotWithShape="0">
              <a:srgbClr val="B3D4FE">
                <a:alpha val="25000"/>
              </a:srgbClr>
            </a:outerShdw>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83" name="组合 82"/>
          <p:cNvGrpSpPr/>
          <p:nvPr/>
        </p:nvGrpSpPr>
        <p:grpSpPr>
          <a:xfrm rot="0">
            <a:off x="3957320" y="1663700"/>
            <a:ext cx="273050" cy="212725"/>
            <a:chOff x="3888843" y="-804410"/>
            <a:chExt cx="272798" cy="212617"/>
          </a:xfrm>
          <a:solidFill>
            <a:srgbClr val="B3D4FE"/>
          </a:solidFill>
        </p:grpSpPr>
        <p:sp>
          <p:nvSpPr>
            <p:cNvPr id="84" name="任意多边形: 形状 458"/>
            <p:cNvSpPr/>
            <p:nvPr/>
          </p:nvSpPr>
          <p:spPr>
            <a:xfrm>
              <a:off x="3888843" y="-804410"/>
              <a:ext cx="272798" cy="159498"/>
            </a:xfrm>
            <a:custGeom>
              <a:avLst/>
              <a:gdLst>
                <a:gd name="connsiteX0" fmla="*/ 362298 w 362298"/>
                <a:gd name="connsiteY0" fmla="*/ 0 h 211826"/>
                <a:gd name="connsiteX1" fmla="*/ 349728 w 362298"/>
                <a:gd name="connsiteY1" fmla="*/ 36774 h 211826"/>
                <a:gd name="connsiteX2" fmla="*/ 337158 w 362298"/>
                <a:gd name="connsiteY2" fmla="*/ 73548 h 211826"/>
                <a:gd name="connsiteX3" fmla="*/ 322711 w 362298"/>
                <a:gd name="connsiteY3" fmla="*/ 57037 h 211826"/>
                <a:gd name="connsiteX4" fmla="*/ 205071 w 362298"/>
                <a:gd name="connsiteY4" fmla="*/ 157791 h 211826"/>
                <a:gd name="connsiteX5" fmla="*/ 196628 w 362298"/>
                <a:gd name="connsiteY5" fmla="*/ 165108 h 211826"/>
                <a:gd name="connsiteX6" fmla="*/ 186872 w 362298"/>
                <a:gd name="connsiteY6" fmla="*/ 159667 h 211826"/>
                <a:gd name="connsiteX7" fmla="*/ 144282 w 362298"/>
                <a:gd name="connsiteY7" fmla="*/ 136214 h 211826"/>
                <a:gd name="connsiteX8" fmla="*/ 16323 w 362298"/>
                <a:gd name="connsiteY8" fmla="*/ 211826 h 211826"/>
                <a:gd name="connsiteX9" fmla="*/ 0 w 362298"/>
                <a:gd name="connsiteY9" fmla="*/ 184058 h 211826"/>
                <a:gd name="connsiteX10" fmla="*/ 135839 w 362298"/>
                <a:gd name="connsiteY10" fmla="*/ 103755 h 211826"/>
                <a:gd name="connsiteX11" fmla="*/ 143719 w 362298"/>
                <a:gd name="connsiteY11" fmla="*/ 99065 h 211826"/>
                <a:gd name="connsiteX12" fmla="*/ 151787 w 362298"/>
                <a:gd name="connsiteY12" fmla="*/ 103568 h 211826"/>
                <a:gd name="connsiteX13" fmla="*/ 192501 w 362298"/>
                <a:gd name="connsiteY13" fmla="*/ 125895 h 211826"/>
                <a:gd name="connsiteX14" fmla="*/ 301509 w 362298"/>
                <a:gd name="connsiteY14" fmla="*/ 32647 h 211826"/>
                <a:gd name="connsiteX15" fmla="*/ 286124 w 362298"/>
                <a:gd name="connsiteY15" fmla="*/ 15010 h 211826"/>
                <a:gd name="connsiteX16" fmla="*/ 324212 w 362298"/>
                <a:gd name="connsiteY16" fmla="*/ 7505 h 211826"/>
                <a:gd name="connsiteX17" fmla="*/ 362298 w 362298"/>
                <a:gd name="connsiteY17" fmla="*/ 0 h 21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298" h="211826">
                  <a:moveTo>
                    <a:pt x="362298" y="0"/>
                  </a:moveTo>
                  <a:lnTo>
                    <a:pt x="349728" y="36774"/>
                  </a:lnTo>
                  <a:lnTo>
                    <a:pt x="337158" y="73548"/>
                  </a:lnTo>
                  <a:lnTo>
                    <a:pt x="322711" y="57037"/>
                  </a:lnTo>
                  <a:lnTo>
                    <a:pt x="205071" y="157791"/>
                  </a:lnTo>
                  <a:lnTo>
                    <a:pt x="196628" y="165108"/>
                  </a:lnTo>
                  <a:lnTo>
                    <a:pt x="186872" y="159667"/>
                  </a:lnTo>
                  <a:lnTo>
                    <a:pt x="144282" y="136214"/>
                  </a:lnTo>
                  <a:lnTo>
                    <a:pt x="16323" y="211826"/>
                  </a:lnTo>
                  <a:lnTo>
                    <a:pt x="0" y="184058"/>
                  </a:lnTo>
                  <a:lnTo>
                    <a:pt x="135839" y="103755"/>
                  </a:lnTo>
                  <a:lnTo>
                    <a:pt x="143719" y="99065"/>
                  </a:lnTo>
                  <a:lnTo>
                    <a:pt x="151787" y="103568"/>
                  </a:lnTo>
                  <a:lnTo>
                    <a:pt x="192501" y="125895"/>
                  </a:lnTo>
                  <a:lnTo>
                    <a:pt x="301509" y="32647"/>
                  </a:lnTo>
                  <a:lnTo>
                    <a:pt x="286124" y="15010"/>
                  </a:lnTo>
                  <a:lnTo>
                    <a:pt x="324212" y="7505"/>
                  </a:lnTo>
                  <a:lnTo>
                    <a:pt x="362298"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5" name="任意多边形: 形状 460"/>
            <p:cNvSpPr/>
            <p:nvPr/>
          </p:nvSpPr>
          <p:spPr>
            <a:xfrm>
              <a:off x="4102872" y="-735327"/>
              <a:ext cx="46479" cy="143533"/>
            </a:xfrm>
            <a:custGeom>
              <a:avLst/>
              <a:gdLst>
                <a:gd name="connsiteX0" fmla="*/ 36774 w 61728"/>
                <a:gd name="connsiteY0" fmla="*/ 0 h 190624"/>
                <a:gd name="connsiteX1" fmla="*/ 61728 w 61728"/>
                <a:gd name="connsiteY1" fmla="*/ 28518 h 190624"/>
                <a:gd name="connsiteX2" fmla="*/ 61728 w 61728"/>
                <a:gd name="connsiteY2" fmla="*/ 180493 h 190624"/>
                <a:gd name="connsiteX3" fmla="*/ 51596 w 61728"/>
                <a:gd name="connsiteY3" fmla="*/ 190624 h 190624"/>
                <a:gd name="connsiteX4" fmla="*/ 10132 w 61728"/>
                <a:gd name="connsiteY4" fmla="*/ 190624 h 190624"/>
                <a:gd name="connsiteX5" fmla="*/ 0 w 61728"/>
                <a:gd name="connsiteY5" fmla="*/ 180493 h 190624"/>
                <a:gd name="connsiteX6" fmla="*/ 0 w 61728"/>
                <a:gd name="connsiteY6" fmla="*/ 31520 h 190624"/>
                <a:gd name="connsiteX7" fmla="*/ 36774 w 61728"/>
                <a:gd name="connsiteY7" fmla="*/ 0 h 19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728" h="190624">
                  <a:moveTo>
                    <a:pt x="36774" y="0"/>
                  </a:moveTo>
                  <a:lnTo>
                    <a:pt x="61728" y="28518"/>
                  </a:lnTo>
                  <a:lnTo>
                    <a:pt x="61728" y="180493"/>
                  </a:lnTo>
                  <a:cubicBezTo>
                    <a:pt x="61728" y="186121"/>
                    <a:pt x="57037" y="190624"/>
                    <a:pt x="51596" y="190624"/>
                  </a:cubicBezTo>
                  <a:lnTo>
                    <a:pt x="10132" y="190624"/>
                  </a:lnTo>
                  <a:cubicBezTo>
                    <a:pt x="4503" y="190624"/>
                    <a:pt x="0" y="186121"/>
                    <a:pt x="0" y="180493"/>
                  </a:cubicBezTo>
                  <a:lnTo>
                    <a:pt x="0" y="31520"/>
                  </a:lnTo>
                  <a:lnTo>
                    <a:pt x="36774"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6" name="任意多边形: 形状 461"/>
            <p:cNvSpPr/>
            <p:nvPr/>
          </p:nvSpPr>
          <p:spPr>
            <a:xfrm>
              <a:off x="4037605" y="-695346"/>
              <a:ext cx="46478" cy="103553"/>
            </a:xfrm>
            <a:custGeom>
              <a:avLst/>
              <a:gdLst>
                <a:gd name="connsiteX0" fmla="*/ 61540 w 61727"/>
                <a:gd name="connsiteY0" fmla="*/ 0 h 137527"/>
                <a:gd name="connsiteX1" fmla="*/ 61727 w 61727"/>
                <a:gd name="connsiteY1" fmla="*/ 1501 h 137527"/>
                <a:gd name="connsiteX2" fmla="*/ 61727 w 61727"/>
                <a:gd name="connsiteY2" fmla="*/ 127396 h 137527"/>
                <a:gd name="connsiteX3" fmla="*/ 51596 w 61727"/>
                <a:gd name="connsiteY3" fmla="*/ 137527 h 137527"/>
                <a:gd name="connsiteX4" fmla="*/ 10131 w 61727"/>
                <a:gd name="connsiteY4" fmla="*/ 137527 h 137527"/>
                <a:gd name="connsiteX5" fmla="*/ 0 w 61727"/>
                <a:gd name="connsiteY5" fmla="*/ 127583 h 137527"/>
                <a:gd name="connsiteX6" fmla="*/ 0 w 61727"/>
                <a:gd name="connsiteY6" fmla="*/ 51596 h 137527"/>
                <a:gd name="connsiteX7" fmla="*/ 750 w 61727"/>
                <a:gd name="connsiteY7" fmla="*/ 51971 h 137527"/>
                <a:gd name="connsiteX8" fmla="*/ 61540 w 61727"/>
                <a:gd name="connsiteY8" fmla="*/ 0 h 13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27" h="137527">
                  <a:moveTo>
                    <a:pt x="61540" y="0"/>
                  </a:moveTo>
                  <a:cubicBezTo>
                    <a:pt x="61727" y="375"/>
                    <a:pt x="61727" y="938"/>
                    <a:pt x="61727" y="1501"/>
                  </a:cubicBezTo>
                  <a:lnTo>
                    <a:pt x="61727" y="127396"/>
                  </a:lnTo>
                  <a:cubicBezTo>
                    <a:pt x="61727" y="133024"/>
                    <a:pt x="57037" y="137527"/>
                    <a:pt x="51596" y="137527"/>
                  </a:cubicBezTo>
                  <a:lnTo>
                    <a:pt x="10131" y="137527"/>
                  </a:lnTo>
                  <a:cubicBezTo>
                    <a:pt x="4502" y="137527"/>
                    <a:pt x="0" y="133024"/>
                    <a:pt x="0" y="127583"/>
                  </a:cubicBezTo>
                  <a:lnTo>
                    <a:pt x="0" y="51596"/>
                  </a:lnTo>
                  <a:lnTo>
                    <a:pt x="750" y="51971"/>
                  </a:lnTo>
                  <a:lnTo>
                    <a:pt x="61540"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7" name="任意多边形: 形状 462"/>
            <p:cNvSpPr/>
            <p:nvPr/>
          </p:nvSpPr>
          <p:spPr>
            <a:xfrm>
              <a:off x="3972336" y="-678535"/>
              <a:ext cx="46479" cy="86742"/>
            </a:xfrm>
            <a:custGeom>
              <a:avLst/>
              <a:gdLst>
                <a:gd name="connsiteX0" fmla="*/ 33585 w 61728"/>
                <a:gd name="connsiteY0" fmla="*/ 0 h 115200"/>
                <a:gd name="connsiteX1" fmla="*/ 61728 w 61728"/>
                <a:gd name="connsiteY1" fmla="*/ 15385 h 115200"/>
                <a:gd name="connsiteX2" fmla="*/ 61728 w 61728"/>
                <a:gd name="connsiteY2" fmla="*/ 105069 h 115200"/>
                <a:gd name="connsiteX3" fmla="*/ 51596 w 61728"/>
                <a:gd name="connsiteY3" fmla="*/ 115200 h 115200"/>
                <a:gd name="connsiteX4" fmla="*/ 10132 w 61728"/>
                <a:gd name="connsiteY4" fmla="*/ 115200 h 115200"/>
                <a:gd name="connsiteX5" fmla="*/ 0 w 61728"/>
                <a:gd name="connsiteY5" fmla="*/ 105069 h 115200"/>
                <a:gd name="connsiteX6" fmla="*/ 0 w 61728"/>
                <a:gd name="connsiteY6" fmla="*/ 19888 h 115200"/>
                <a:gd name="connsiteX7" fmla="*/ 33585 w 61728"/>
                <a:gd name="connsiteY7" fmla="*/ 0 h 1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728" h="115200">
                  <a:moveTo>
                    <a:pt x="33585" y="0"/>
                  </a:moveTo>
                  <a:lnTo>
                    <a:pt x="61728" y="15385"/>
                  </a:lnTo>
                  <a:lnTo>
                    <a:pt x="61728" y="105069"/>
                  </a:lnTo>
                  <a:cubicBezTo>
                    <a:pt x="61728" y="110697"/>
                    <a:pt x="57037" y="115200"/>
                    <a:pt x="51596" y="115200"/>
                  </a:cubicBezTo>
                  <a:lnTo>
                    <a:pt x="10132" y="115200"/>
                  </a:lnTo>
                  <a:cubicBezTo>
                    <a:pt x="4503" y="115200"/>
                    <a:pt x="0" y="110697"/>
                    <a:pt x="0" y="105069"/>
                  </a:cubicBezTo>
                  <a:lnTo>
                    <a:pt x="0" y="19888"/>
                  </a:lnTo>
                  <a:lnTo>
                    <a:pt x="33585"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8" name="任意多边形: 形状 463"/>
            <p:cNvSpPr/>
            <p:nvPr/>
          </p:nvSpPr>
          <p:spPr>
            <a:xfrm>
              <a:off x="3907069" y="-652400"/>
              <a:ext cx="46478" cy="60606"/>
            </a:xfrm>
            <a:custGeom>
              <a:avLst/>
              <a:gdLst>
                <a:gd name="connsiteX0" fmla="*/ 61727 w 61727"/>
                <a:gd name="connsiteY0" fmla="*/ 0 h 80490"/>
                <a:gd name="connsiteX1" fmla="*/ 61727 w 61727"/>
                <a:gd name="connsiteY1" fmla="*/ 70359 h 80490"/>
                <a:gd name="connsiteX2" fmla="*/ 51596 w 61727"/>
                <a:gd name="connsiteY2" fmla="*/ 80490 h 80490"/>
                <a:gd name="connsiteX3" fmla="*/ 10131 w 61727"/>
                <a:gd name="connsiteY3" fmla="*/ 80490 h 80490"/>
                <a:gd name="connsiteX4" fmla="*/ 0 w 61727"/>
                <a:gd name="connsiteY4" fmla="*/ 70359 h 80490"/>
                <a:gd name="connsiteX5" fmla="*/ 0 w 61727"/>
                <a:gd name="connsiteY5" fmla="*/ 36399 h 80490"/>
                <a:gd name="connsiteX6" fmla="*/ 61727 w 61727"/>
                <a:gd name="connsiteY6" fmla="*/ 0 h 8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7" h="80490">
                  <a:moveTo>
                    <a:pt x="61727" y="0"/>
                  </a:moveTo>
                  <a:lnTo>
                    <a:pt x="61727" y="70359"/>
                  </a:lnTo>
                  <a:cubicBezTo>
                    <a:pt x="61727" y="75987"/>
                    <a:pt x="57037" y="80490"/>
                    <a:pt x="51596" y="80490"/>
                  </a:cubicBezTo>
                  <a:lnTo>
                    <a:pt x="10131" y="80490"/>
                  </a:lnTo>
                  <a:cubicBezTo>
                    <a:pt x="4502" y="80490"/>
                    <a:pt x="0" y="75987"/>
                    <a:pt x="0" y="70359"/>
                  </a:cubicBezTo>
                  <a:lnTo>
                    <a:pt x="0" y="36399"/>
                  </a:lnTo>
                  <a:lnTo>
                    <a:pt x="61727"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06" name="椭圆 105"/>
          <p:cNvSpPr/>
          <p:nvPr/>
        </p:nvSpPr>
        <p:spPr>
          <a:xfrm>
            <a:off x="3202940" y="2631440"/>
            <a:ext cx="616585" cy="616585"/>
          </a:xfrm>
          <a:prstGeom prst="ellipse">
            <a:avLst/>
          </a:prstGeom>
          <a:solidFill>
            <a:srgbClr val="FFFFFF"/>
          </a:solidFill>
          <a:ln w="12700" cap="flat" cmpd="sng" algn="ctr">
            <a:solidFill>
              <a:srgbClr val="B3D4FE"/>
            </a:solidFill>
            <a:prstDash val="solid"/>
            <a:miter lim="800000"/>
          </a:ln>
          <a:effectLst>
            <a:outerShdw blurRad="254000" dist="101600" dir="2700000" sx="83000" sy="83000" algn="tl" rotWithShape="0">
              <a:srgbClr val="B3D4FE">
                <a:alpha val="25000"/>
              </a:srgbClr>
            </a:outerShdw>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grpSp>
        <p:nvGrpSpPr>
          <p:cNvPr id="108" name="组合 107"/>
          <p:cNvGrpSpPr/>
          <p:nvPr/>
        </p:nvGrpSpPr>
        <p:grpSpPr>
          <a:xfrm rot="0">
            <a:off x="3343910" y="2813685"/>
            <a:ext cx="317500" cy="252095"/>
            <a:chOff x="5241058" y="-435927"/>
            <a:chExt cx="317500" cy="252095"/>
          </a:xfrm>
          <a:solidFill>
            <a:srgbClr val="B3D4FE"/>
          </a:solidFill>
        </p:grpSpPr>
        <p:sp>
          <p:nvSpPr>
            <p:cNvPr id="109" name="任意多边形: 形状 54"/>
            <p:cNvSpPr/>
            <p:nvPr/>
          </p:nvSpPr>
          <p:spPr>
            <a:xfrm>
              <a:off x="5280378" y="-435927"/>
              <a:ext cx="236698" cy="25333"/>
            </a:xfrm>
            <a:custGeom>
              <a:avLst/>
              <a:gdLst>
                <a:gd name="connsiteX0" fmla="*/ 47067 w 1241971"/>
                <a:gd name="connsiteY0" fmla="*/ 0 h 123341"/>
                <a:gd name="connsiteX1" fmla="*/ 1196578 w 1241971"/>
                <a:gd name="connsiteY1" fmla="*/ 0 h 123341"/>
                <a:gd name="connsiteX2" fmla="*/ 1241971 w 1241971"/>
                <a:gd name="connsiteY2" fmla="*/ 59717 h 123341"/>
                <a:gd name="connsiteX3" fmla="*/ 1241971 w 1241971"/>
                <a:gd name="connsiteY3" fmla="*/ 61764 h 123341"/>
                <a:gd name="connsiteX4" fmla="*/ 1194904 w 1241971"/>
                <a:gd name="connsiteY4" fmla="*/ 123341 h 123341"/>
                <a:gd name="connsiteX5" fmla="*/ 47067 w 1241971"/>
                <a:gd name="connsiteY5" fmla="*/ 123341 h 123341"/>
                <a:gd name="connsiteX6" fmla="*/ 47067 w 1241971"/>
                <a:gd name="connsiteY6" fmla="*/ 123155 h 123341"/>
                <a:gd name="connsiteX7" fmla="*/ 0 w 1241971"/>
                <a:gd name="connsiteY7" fmla="*/ 61578 h 123341"/>
                <a:gd name="connsiteX8" fmla="*/ 47067 w 1241971"/>
                <a:gd name="connsiteY8" fmla="*/ 0 h 12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971" h="123341">
                  <a:moveTo>
                    <a:pt x="47067" y="0"/>
                  </a:moveTo>
                  <a:lnTo>
                    <a:pt x="1196578" y="0"/>
                  </a:lnTo>
                  <a:cubicBezTo>
                    <a:pt x="1221693" y="0"/>
                    <a:pt x="1241971" y="26789"/>
                    <a:pt x="1241971" y="59717"/>
                  </a:cubicBezTo>
                  <a:lnTo>
                    <a:pt x="1241971" y="61764"/>
                  </a:lnTo>
                  <a:cubicBezTo>
                    <a:pt x="1241971" y="95808"/>
                    <a:pt x="1220949" y="123341"/>
                    <a:pt x="1194904" y="123341"/>
                  </a:cubicBezTo>
                  <a:lnTo>
                    <a:pt x="47067" y="123341"/>
                  </a:lnTo>
                  <a:lnTo>
                    <a:pt x="47067" y="123155"/>
                  </a:lnTo>
                  <a:cubicBezTo>
                    <a:pt x="21208" y="123155"/>
                    <a:pt x="0" y="95436"/>
                    <a:pt x="0" y="61578"/>
                  </a:cubicBezTo>
                  <a:cubicBezTo>
                    <a:pt x="0" y="27533"/>
                    <a:pt x="21022" y="0"/>
                    <a:pt x="47067" y="0"/>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0" name="任意多边形: 形状 55"/>
            <p:cNvSpPr/>
            <p:nvPr/>
          </p:nvSpPr>
          <p:spPr>
            <a:xfrm>
              <a:off x="5280378" y="-395734"/>
              <a:ext cx="236698" cy="25333"/>
            </a:xfrm>
            <a:custGeom>
              <a:avLst/>
              <a:gdLst>
                <a:gd name="connsiteX0" fmla="*/ 47067 w 1241971"/>
                <a:gd name="connsiteY0" fmla="*/ 0 h 123341"/>
                <a:gd name="connsiteX1" fmla="*/ 1196578 w 1241971"/>
                <a:gd name="connsiteY1" fmla="*/ 0 h 123341"/>
                <a:gd name="connsiteX2" fmla="*/ 1241971 w 1241971"/>
                <a:gd name="connsiteY2" fmla="*/ 59717 h 123341"/>
                <a:gd name="connsiteX3" fmla="*/ 1241971 w 1241971"/>
                <a:gd name="connsiteY3" fmla="*/ 61763 h 123341"/>
                <a:gd name="connsiteX4" fmla="*/ 1194904 w 1241971"/>
                <a:gd name="connsiteY4" fmla="*/ 123341 h 123341"/>
                <a:gd name="connsiteX5" fmla="*/ 47067 w 1241971"/>
                <a:gd name="connsiteY5" fmla="*/ 123341 h 123341"/>
                <a:gd name="connsiteX6" fmla="*/ 47067 w 1241971"/>
                <a:gd name="connsiteY6" fmla="*/ 123155 h 123341"/>
                <a:gd name="connsiteX7" fmla="*/ 0 w 1241971"/>
                <a:gd name="connsiteY7" fmla="*/ 61577 h 123341"/>
                <a:gd name="connsiteX8" fmla="*/ 47067 w 1241971"/>
                <a:gd name="connsiteY8" fmla="*/ 0 h 12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971" h="123341">
                  <a:moveTo>
                    <a:pt x="47067" y="0"/>
                  </a:moveTo>
                  <a:lnTo>
                    <a:pt x="1196578" y="0"/>
                  </a:lnTo>
                  <a:cubicBezTo>
                    <a:pt x="1221693" y="0"/>
                    <a:pt x="1241971" y="26789"/>
                    <a:pt x="1241971" y="59717"/>
                  </a:cubicBezTo>
                  <a:lnTo>
                    <a:pt x="1241971" y="61763"/>
                  </a:lnTo>
                  <a:cubicBezTo>
                    <a:pt x="1241971" y="95808"/>
                    <a:pt x="1220949" y="123341"/>
                    <a:pt x="1194904" y="123341"/>
                  </a:cubicBezTo>
                  <a:lnTo>
                    <a:pt x="47067" y="123341"/>
                  </a:lnTo>
                  <a:lnTo>
                    <a:pt x="47067" y="123155"/>
                  </a:lnTo>
                  <a:cubicBezTo>
                    <a:pt x="21208" y="123155"/>
                    <a:pt x="0" y="95436"/>
                    <a:pt x="0" y="61577"/>
                  </a:cubicBezTo>
                  <a:cubicBezTo>
                    <a:pt x="0" y="27533"/>
                    <a:pt x="21022" y="0"/>
                    <a:pt x="47067" y="0"/>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3" name="任意多边形: 形状 56"/>
            <p:cNvSpPr/>
            <p:nvPr/>
          </p:nvSpPr>
          <p:spPr>
            <a:xfrm>
              <a:off x="5280414" y="-355541"/>
              <a:ext cx="236662" cy="64040"/>
            </a:xfrm>
            <a:custGeom>
              <a:avLst/>
              <a:gdLst>
                <a:gd name="connsiteX0" fmla="*/ 27161 w 1241785"/>
                <a:gd name="connsiteY0" fmla="*/ 0 h 311795"/>
                <a:gd name="connsiteX1" fmla="*/ 1214624 w 1241785"/>
                <a:gd name="connsiteY1" fmla="*/ 0 h 311795"/>
                <a:gd name="connsiteX2" fmla="*/ 1241785 w 1241785"/>
                <a:gd name="connsiteY2" fmla="*/ 37207 h 311795"/>
                <a:gd name="connsiteX3" fmla="*/ 1214624 w 1241785"/>
                <a:gd name="connsiteY3" fmla="*/ 74414 h 311795"/>
                <a:gd name="connsiteX4" fmla="*/ 1090910 w 1241785"/>
                <a:gd name="connsiteY4" fmla="*/ 74414 h 311795"/>
                <a:gd name="connsiteX5" fmla="*/ 1023380 w 1241785"/>
                <a:gd name="connsiteY5" fmla="*/ 102133 h 311795"/>
                <a:gd name="connsiteX6" fmla="*/ 819485 w 1241785"/>
                <a:gd name="connsiteY6" fmla="*/ 292261 h 311795"/>
                <a:gd name="connsiteX7" fmla="*/ 772604 w 1241785"/>
                <a:gd name="connsiteY7" fmla="*/ 311795 h 311795"/>
                <a:gd name="connsiteX8" fmla="*/ 473832 w 1241785"/>
                <a:gd name="connsiteY8" fmla="*/ 311795 h 311795"/>
                <a:gd name="connsiteX9" fmla="*/ 459135 w 1241785"/>
                <a:gd name="connsiteY9" fmla="*/ 305284 h 311795"/>
                <a:gd name="connsiteX10" fmla="*/ 253008 w 1241785"/>
                <a:gd name="connsiteY10" fmla="*/ 103994 h 311795"/>
                <a:gd name="connsiteX11" fmla="*/ 183617 w 1241785"/>
                <a:gd name="connsiteY11" fmla="*/ 74414 h 311795"/>
                <a:gd name="connsiteX12" fmla="*/ 27161 w 1241785"/>
                <a:gd name="connsiteY12" fmla="*/ 74414 h 311795"/>
                <a:gd name="connsiteX13" fmla="*/ 0 w 1241785"/>
                <a:gd name="connsiteY13" fmla="*/ 37207 h 311795"/>
                <a:gd name="connsiteX14" fmla="*/ 27161 w 1241785"/>
                <a:gd name="connsiteY14" fmla="*/ 0 h 3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1785" h="311795">
                  <a:moveTo>
                    <a:pt x="27161" y="0"/>
                  </a:moveTo>
                  <a:lnTo>
                    <a:pt x="1214624" y="0"/>
                  </a:lnTo>
                  <a:cubicBezTo>
                    <a:pt x="1229320" y="0"/>
                    <a:pt x="1241785" y="17115"/>
                    <a:pt x="1241785" y="37207"/>
                  </a:cubicBezTo>
                  <a:cubicBezTo>
                    <a:pt x="1241785" y="57299"/>
                    <a:pt x="1229320" y="74414"/>
                    <a:pt x="1214624" y="74414"/>
                  </a:cubicBezTo>
                  <a:lnTo>
                    <a:pt x="1090910" y="74414"/>
                  </a:lnTo>
                  <a:cubicBezTo>
                    <a:pt x="1066540" y="74414"/>
                    <a:pt x="1042541" y="84274"/>
                    <a:pt x="1023380" y="102133"/>
                  </a:cubicBezTo>
                  <a:lnTo>
                    <a:pt x="819485" y="292261"/>
                  </a:lnTo>
                  <a:cubicBezTo>
                    <a:pt x="805718" y="305098"/>
                    <a:pt x="789533" y="311795"/>
                    <a:pt x="772604" y="311795"/>
                  </a:cubicBezTo>
                  <a:lnTo>
                    <a:pt x="473832" y="311795"/>
                  </a:lnTo>
                  <a:cubicBezTo>
                    <a:pt x="468623" y="311795"/>
                    <a:pt x="463414" y="309562"/>
                    <a:pt x="459135" y="305284"/>
                  </a:cubicBezTo>
                  <a:lnTo>
                    <a:pt x="253008" y="103994"/>
                  </a:lnTo>
                  <a:cubicBezTo>
                    <a:pt x="233474" y="85018"/>
                    <a:pt x="208731" y="74414"/>
                    <a:pt x="183617" y="74414"/>
                  </a:cubicBezTo>
                  <a:lnTo>
                    <a:pt x="27161" y="74414"/>
                  </a:lnTo>
                  <a:cubicBezTo>
                    <a:pt x="12464" y="74414"/>
                    <a:pt x="0" y="57299"/>
                    <a:pt x="0" y="37207"/>
                  </a:cubicBezTo>
                  <a:cubicBezTo>
                    <a:pt x="0" y="17115"/>
                    <a:pt x="12464" y="0"/>
                    <a:pt x="27161" y="0"/>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2" name="任意多边形: 形状 53"/>
            <p:cNvSpPr/>
            <p:nvPr/>
          </p:nvSpPr>
          <p:spPr>
            <a:xfrm>
              <a:off x="5241058" y="-322458"/>
              <a:ext cx="317500" cy="138626"/>
            </a:xfrm>
            <a:custGeom>
              <a:avLst/>
              <a:gdLst>
                <a:gd name="connsiteX0" fmla="*/ 79623 w 1665944"/>
                <a:gd name="connsiteY0" fmla="*/ 674750 h 674935"/>
                <a:gd name="connsiteX1" fmla="*/ 0 w 1665944"/>
                <a:gd name="connsiteY1" fmla="*/ 572802 h 674935"/>
                <a:gd name="connsiteX2" fmla="*/ 0 w 1665944"/>
                <a:gd name="connsiteY2" fmla="*/ 101947 h 674935"/>
                <a:gd name="connsiteX3" fmla="*/ 79623 w 1665944"/>
                <a:gd name="connsiteY3" fmla="*/ 0 h 674935"/>
                <a:gd name="connsiteX4" fmla="*/ 392906 w 1665944"/>
                <a:gd name="connsiteY4" fmla="*/ 0 h 674935"/>
                <a:gd name="connsiteX5" fmla="*/ 425090 w 1665944"/>
                <a:gd name="connsiteY5" fmla="*/ 372 h 674935"/>
                <a:gd name="connsiteX6" fmla="*/ 632334 w 1665944"/>
                <a:gd name="connsiteY6" fmla="*/ 207801 h 674935"/>
                <a:gd name="connsiteX7" fmla="*/ 701911 w 1665944"/>
                <a:gd name="connsiteY7" fmla="*/ 237567 h 674935"/>
                <a:gd name="connsiteX8" fmla="*/ 982080 w 1665944"/>
                <a:gd name="connsiteY8" fmla="*/ 237567 h 674935"/>
                <a:gd name="connsiteX9" fmla="*/ 1049610 w 1665944"/>
                <a:gd name="connsiteY9" fmla="*/ 209848 h 674935"/>
                <a:gd name="connsiteX10" fmla="*/ 1274341 w 1665944"/>
                <a:gd name="connsiteY10" fmla="*/ 186 h 674935"/>
                <a:gd name="connsiteX11" fmla="*/ 1586322 w 1665944"/>
                <a:gd name="connsiteY11" fmla="*/ 186 h 674935"/>
                <a:gd name="connsiteX12" fmla="*/ 1665945 w 1665944"/>
                <a:gd name="connsiteY12" fmla="*/ 102133 h 674935"/>
                <a:gd name="connsiteX13" fmla="*/ 1665945 w 1665944"/>
                <a:gd name="connsiteY13" fmla="*/ 572988 h 674935"/>
                <a:gd name="connsiteX14" fmla="*/ 1586322 w 1665944"/>
                <a:gd name="connsiteY14" fmla="*/ 674936 h 674935"/>
                <a:gd name="connsiteX15" fmla="*/ 79623 w 1665944"/>
                <a:gd name="connsiteY15" fmla="*/ 674936 h 67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5944" h="674935">
                  <a:moveTo>
                    <a:pt x="79623" y="674750"/>
                  </a:moveTo>
                  <a:cubicBezTo>
                    <a:pt x="35719" y="674750"/>
                    <a:pt x="0" y="628985"/>
                    <a:pt x="0" y="572802"/>
                  </a:cubicBezTo>
                  <a:lnTo>
                    <a:pt x="0" y="101947"/>
                  </a:lnTo>
                  <a:cubicBezTo>
                    <a:pt x="0" y="45765"/>
                    <a:pt x="35719" y="0"/>
                    <a:pt x="79623" y="0"/>
                  </a:cubicBezTo>
                  <a:lnTo>
                    <a:pt x="392906" y="0"/>
                  </a:lnTo>
                  <a:cubicBezTo>
                    <a:pt x="404440" y="0"/>
                    <a:pt x="418393" y="0"/>
                    <a:pt x="425090" y="372"/>
                  </a:cubicBezTo>
                  <a:lnTo>
                    <a:pt x="632334" y="207801"/>
                  </a:lnTo>
                  <a:cubicBezTo>
                    <a:pt x="652053" y="226963"/>
                    <a:pt x="676610" y="237567"/>
                    <a:pt x="701911" y="237567"/>
                  </a:cubicBezTo>
                  <a:lnTo>
                    <a:pt x="982080" y="237567"/>
                  </a:lnTo>
                  <a:cubicBezTo>
                    <a:pt x="1006450" y="237567"/>
                    <a:pt x="1030449" y="227707"/>
                    <a:pt x="1049610" y="209848"/>
                  </a:cubicBezTo>
                  <a:lnTo>
                    <a:pt x="1274341" y="186"/>
                  </a:lnTo>
                  <a:lnTo>
                    <a:pt x="1586322" y="186"/>
                  </a:lnTo>
                  <a:cubicBezTo>
                    <a:pt x="1630226" y="186"/>
                    <a:pt x="1665945" y="45951"/>
                    <a:pt x="1665945" y="102133"/>
                  </a:cubicBezTo>
                  <a:lnTo>
                    <a:pt x="1665945" y="572988"/>
                  </a:lnTo>
                  <a:cubicBezTo>
                    <a:pt x="1665945" y="629171"/>
                    <a:pt x="1630226" y="674936"/>
                    <a:pt x="1586322" y="674936"/>
                  </a:cubicBezTo>
                  <a:lnTo>
                    <a:pt x="79623" y="674936"/>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24" name="椭圆 123"/>
          <p:cNvSpPr/>
          <p:nvPr/>
        </p:nvSpPr>
        <p:spPr>
          <a:xfrm>
            <a:off x="3119755" y="3954145"/>
            <a:ext cx="616585" cy="616585"/>
          </a:xfrm>
          <a:prstGeom prst="ellipse">
            <a:avLst/>
          </a:prstGeom>
          <a:solidFill>
            <a:srgbClr val="FFFFFF"/>
          </a:solidFill>
          <a:ln w="12700" cap="flat" cmpd="sng" algn="ctr">
            <a:solidFill>
              <a:srgbClr val="B3D4FE"/>
            </a:solidFill>
            <a:prstDash val="solid"/>
            <a:miter lim="800000"/>
          </a:ln>
          <a:effectLst>
            <a:outerShdw blurRad="254000" dist="101600" dir="2700000" sx="83000" sy="83000" algn="tl" rotWithShape="0">
              <a:srgbClr val="B3D4FE">
                <a:alpha val="25000"/>
              </a:srgbClr>
            </a:outerShdw>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grpSp>
        <p:nvGrpSpPr>
          <p:cNvPr id="155" name="组合 154"/>
          <p:cNvGrpSpPr/>
          <p:nvPr/>
        </p:nvGrpSpPr>
        <p:grpSpPr>
          <a:xfrm rot="0">
            <a:off x="3263900" y="4095115"/>
            <a:ext cx="301625" cy="353060"/>
            <a:chOff x="5262604" y="2476499"/>
            <a:chExt cx="1554169" cy="1822037"/>
          </a:xfrm>
          <a:solidFill>
            <a:srgbClr val="B3D4FE"/>
          </a:solidFill>
        </p:grpSpPr>
        <p:sp>
          <p:nvSpPr>
            <p:cNvPr id="126" name="任意多边形: 形状 452"/>
            <p:cNvSpPr/>
            <p:nvPr/>
          </p:nvSpPr>
          <p:spPr>
            <a:xfrm>
              <a:off x="5262604" y="2476499"/>
              <a:ext cx="1338771" cy="1318214"/>
            </a:xfrm>
            <a:custGeom>
              <a:avLst/>
              <a:gdLst>
                <a:gd name="connsiteX0" fmla="*/ 642548 w 1338771"/>
                <a:gd name="connsiteY0" fmla="*/ 0 h 1318214"/>
                <a:gd name="connsiteX1" fmla="*/ 696203 w 1338771"/>
                <a:gd name="connsiteY1" fmla="*/ 0 h 1318214"/>
                <a:gd name="connsiteX2" fmla="*/ 803572 w 1338771"/>
                <a:gd name="connsiteY2" fmla="*/ 105663 h 1318214"/>
                <a:gd name="connsiteX3" fmla="*/ 803572 w 1338771"/>
                <a:gd name="connsiteY3" fmla="*/ 176700 h 1318214"/>
                <a:gd name="connsiteX4" fmla="*/ 925248 w 1338771"/>
                <a:gd name="connsiteY4" fmla="*/ 226803 h 1318214"/>
                <a:gd name="connsiteX5" fmla="*/ 987098 w 1338771"/>
                <a:gd name="connsiteY5" fmla="*/ 166005 h 1318214"/>
                <a:gd name="connsiteX6" fmla="*/ 1138935 w 1338771"/>
                <a:gd name="connsiteY6" fmla="*/ 166005 h 1318214"/>
                <a:gd name="connsiteX7" fmla="*/ 1176834 w 1338771"/>
                <a:gd name="connsiteY7" fmla="*/ 203448 h 1318214"/>
                <a:gd name="connsiteX8" fmla="*/ 1176834 w 1338771"/>
                <a:gd name="connsiteY8" fmla="*/ 352963 h 1318214"/>
                <a:gd name="connsiteX9" fmla="*/ 1113814 w 1338771"/>
                <a:gd name="connsiteY9" fmla="*/ 414932 h 1318214"/>
                <a:gd name="connsiteX10" fmla="*/ 1161357 w 1338771"/>
                <a:gd name="connsiteY10" fmla="*/ 530159 h 1318214"/>
                <a:gd name="connsiteX11" fmla="*/ 1231342 w 1338771"/>
                <a:gd name="connsiteY11" fmla="*/ 530159 h 1318214"/>
                <a:gd name="connsiteX12" fmla="*/ 1338771 w 1338771"/>
                <a:gd name="connsiteY12" fmla="*/ 635960 h 1318214"/>
                <a:gd name="connsiteX13" fmla="*/ 1338771 w 1338771"/>
                <a:gd name="connsiteY13" fmla="*/ 688861 h 1318214"/>
                <a:gd name="connsiteX14" fmla="*/ 1231342 w 1338771"/>
                <a:gd name="connsiteY14" fmla="*/ 794544 h 1318214"/>
                <a:gd name="connsiteX15" fmla="*/ 1160543 w 1338771"/>
                <a:gd name="connsiteY15" fmla="*/ 794544 h 1318214"/>
                <a:gd name="connsiteX16" fmla="*/ 1111254 w 1338771"/>
                <a:gd name="connsiteY16" fmla="*/ 910703 h 1318214"/>
                <a:gd name="connsiteX17" fmla="*/ 1176834 w 1338771"/>
                <a:gd name="connsiteY17" fmla="*/ 975232 h 1318214"/>
                <a:gd name="connsiteX18" fmla="*/ 1176834 w 1338771"/>
                <a:gd name="connsiteY18" fmla="*/ 1124747 h 1318214"/>
                <a:gd name="connsiteX19" fmla="*/ 1138935 w 1338771"/>
                <a:gd name="connsiteY19" fmla="*/ 1162071 h 1318214"/>
                <a:gd name="connsiteX20" fmla="*/ 987078 w 1338771"/>
                <a:gd name="connsiteY20" fmla="*/ 1162091 h 1318214"/>
                <a:gd name="connsiteX21" fmla="*/ 921041 w 1338771"/>
                <a:gd name="connsiteY21" fmla="*/ 1097205 h 1318214"/>
                <a:gd name="connsiteX22" fmla="*/ 803552 w 1338771"/>
                <a:gd name="connsiteY22" fmla="*/ 1144749 h 1318214"/>
                <a:gd name="connsiteX23" fmla="*/ 803552 w 1338771"/>
                <a:gd name="connsiteY23" fmla="*/ 1212531 h 1318214"/>
                <a:gd name="connsiteX24" fmla="*/ 696183 w 1338771"/>
                <a:gd name="connsiteY24" fmla="*/ 1318214 h 1318214"/>
                <a:gd name="connsiteX25" fmla="*/ 642528 w 1338771"/>
                <a:gd name="connsiteY25" fmla="*/ 1318214 h 1318214"/>
                <a:gd name="connsiteX26" fmla="*/ 535159 w 1338771"/>
                <a:gd name="connsiteY26" fmla="*/ 1212531 h 1318214"/>
                <a:gd name="connsiteX27" fmla="*/ 535159 w 1338771"/>
                <a:gd name="connsiteY27" fmla="*/ 1144749 h 1318214"/>
                <a:gd name="connsiteX28" fmla="*/ 417611 w 1338771"/>
                <a:gd name="connsiteY28" fmla="*/ 1097205 h 1318214"/>
                <a:gd name="connsiteX29" fmla="*/ 351693 w 1338771"/>
                <a:gd name="connsiteY29" fmla="*/ 1162091 h 1318214"/>
                <a:gd name="connsiteX30" fmla="*/ 199856 w 1338771"/>
                <a:gd name="connsiteY30" fmla="*/ 1162091 h 1318214"/>
                <a:gd name="connsiteX31" fmla="*/ 161897 w 1338771"/>
                <a:gd name="connsiteY31" fmla="*/ 1124767 h 1318214"/>
                <a:gd name="connsiteX32" fmla="*/ 161897 w 1338771"/>
                <a:gd name="connsiteY32" fmla="*/ 975252 h 1318214"/>
                <a:gd name="connsiteX33" fmla="*/ 227418 w 1338771"/>
                <a:gd name="connsiteY33" fmla="*/ 910723 h 1318214"/>
                <a:gd name="connsiteX34" fmla="*/ 178228 w 1338771"/>
                <a:gd name="connsiteY34" fmla="*/ 794564 h 1318214"/>
                <a:gd name="connsiteX35" fmla="*/ 107369 w 1338771"/>
                <a:gd name="connsiteY35" fmla="*/ 794564 h 1318214"/>
                <a:gd name="connsiteX36" fmla="*/ 0 w 1338771"/>
                <a:gd name="connsiteY36" fmla="*/ 688881 h 1318214"/>
                <a:gd name="connsiteX37" fmla="*/ 0 w 1338771"/>
                <a:gd name="connsiteY37" fmla="*/ 635980 h 1318214"/>
                <a:gd name="connsiteX38" fmla="*/ 107389 w 1338771"/>
                <a:gd name="connsiteY38" fmla="*/ 530179 h 1318214"/>
                <a:gd name="connsiteX39" fmla="*/ 177434 w 1338771"/>
                <a:gd name="connsiteY39" fmla="*/ 530179 h 1318214"/>
                <a:gd name="connsiteX40" fmla="*/ 224938 w 1338771"/>
                <a:gd name="connsiteY40" fmla="*/ 414952 h 1318214"/>
                <a:gd name="connsiteX41" fmla="*/ 161917 w 1338771"/>
                <a:gd name="connsiteY41" fmla="*/ 352983 h 1318214"/>
                <a:gd name="connsiteX42" fmla="*/ 161917 w 1338771"/>
                <a:gd name="connsiteY42" fmla="*/ 203468 h 1318214"/>
                <a:gd name="connsiteX43" fmla="*/ 199876 w 1338771"/>
                <a:gd name="connsiteY43" fmla="*/ 166024 h 1318214"/>
                <a:gd name="connsiteX44" fmla="*/ 351713 w 1338771"/>
                <a:gd name="connsiteY44" fmla="*/ 166024 h 1318214"/>
                <a:gd name="connsiteX45" fmla="*/ 413444 w 1338771"/>
                <a:gd name="connsiteY45" fmla="*/ 226823 h 1318214"/>
                <a:gd name="connsiteX46" fmla="*/ 535179 w 1338771"/>
                <a:gd name="connsiteY46" fmla="*/ 176720 h 1318214"/>
                <a:gd name="connsiteX47" fmla="*/ 535179 w 1338771"/>
                <a:gd name="connsiteY47" fmla="*/ 105683 h 1318214"/>
                <a:gd name="connsiteX48" fmla="*/ 642548 w 1338771"/>
                <a:gd name="connsiteY48" fmla="*/ 0 h 1318214"/>
                <a:gd name="connsiteX49" fmla="*/ 669395 w 1338771"/>
                <a:gd name="connsiteY49" fmla="*/ 373342 h 1318214"/>
                <a:gd name="connsiteX50" fmla="*/ 374076 w 1338771"/>
                <a:gd name="connsiteY50" fmla="*/ 664117 h 1318214"/>
                <a:gd name="connsiteX51" fmla="*/ 669395 w 1338771"/>
                <a:gd name="connsiteY51" fmla="*/ 954774 h 1318214"/>
                <a:gd name="connsiteX52" fmla="*/ 964656 w 1338771"/>
                <a:gd name="connsiteY52" fmla="*/ 664117 h 1318214"/>
                <a:gd name="connsiteX53" fmla="*/ 669395 w 1338771"/>
                <a:gd name="connsiteY53" fmla="*/ 373342 h 1318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38771" h="1318214">
                  <a:moveTo>
                    <a:pt x="642548" y="0"/>
                  </a:moveTo>
                  <a:lnTo>
                    <a:pt x="696203" y="0"/>
                  </a:lnTo>
                  <a:cubicBezTo>
                    <a:pt x="755493" y="0"/>
                    <a:pt x="803572" y="47325"/>
                    <a:pt x="803572" y="105663"/>
                  </a:cubicBezTo>
                  <a:lnTo>
                    <a:pt x="803572" y="176700"/>
                  </a:lnTo>
                  <a:cubicBezTo>
                    <a:pt x="846710" y="188328"/>
                    <a:pt x="887527" y="205174"/>
                    <a:pt x="925248" y="226803"/>
                  </a:cubicBezTo>
                  <a:lnTo>
                    <a:pt x="987098" y="166005"/>
                  </a:lnTo>
                  <a:cubicBezTo>
                    <a:pt x="1028946" y="124732"/>
                    <a:pt x="1096967" y="124732"/>
                    <a:pt x="1138935" y="166005"/>
                  </a:cubicBezTo>
                  <a:lnTo>
                    <a:pt x="1176834" y="203448"/>
                  </a:lnTo>
                  <a:cubicBezTo>
                    <a:pt x="1218802" y="244602"/>
                    <a:pt x="1218802" y="311571"/>
                    <a:pt x="1176834" y="352963"/>
                  </a:cubicBezTo>
                  <a:lnTo>
                    <a:pt x="1113814" y="414932"/>
                  </a:lnTo>
                  <a:cubicBezTo>
                    <a:pt x="1134391" y="450867"/>
                    <a:pt x="1150305" y="489580"/>
                    <a:pt x="1161357" y="530159"/>
                  </a:cubicBezTo>
                  <a:lnTo>
                    <a:pt x="1231342" y="530159"/>
                  </a:lnTo>
                  <a:cubicBezTo>
                    <a:pt x="1290633" y="530159"/>
                    <a:pt x="1338771" y="577603"/>
                    <a:pt x="1338771" y="635960"/>
                  </a:cubicBezTo>
                  <a:lnTo>
                    <a:pt x="1338771" y="688861"/>
                  </a:lnTo>
                  <a:cubicBezTo>
                    <a:pt x="1338771" y="747219"/>
                    <a:pt x="1290633" y="794544"/>
                    <a:pt x="1231342" y="794544"/>
                  </a:cubicBezTo>
                  <a:lnTo>
                    <a:pt x="1160543" y="794544"/>
                  </a:lnTo>
                  <a:cubicBezTo>
                    <a:pt x="1148916" y="835717"/>
                    <a:pt x="1132406" y="874550"/>
                    <a:pt x="1111254" y="910703"/>
                  </a:cubicBezTo>
                  <a:lnTo>
                    <a:pt x="1176834" y="975232"/>
                  </a:lnTo>
                  <a:cubicBezTo>
                    <a:pt x="1218802" y="1016505"/>
                    <a:pt x="1218802" y="1083474"/>
                    <a:pt x="1176834" y="1124747"/>
                  </a:cubicBezTo>
                  <a:lnTo>
                    <a:pt x="1138935" y="1162071"/>
                  </a:lnTo>
                  <a:cubicBezTo>
                    <a:pt x="1096967" y="1203364"/>
                    <a:pt x="1028946" y="1203364"/>
                    <a:pt x="987078" y="1162091"/>
                  </a:cubicBezTo>
                  <a:lnTo>
                    <a:pt x="921041" y="1097205"/>
                  </a:lnTo>
                  <a:cubicBezTo>
                    <a:pt x="884471" y="1117663"/>
                    <a:pt x="845123" y="1133696"/>
                    <a:pt x="803552" y="1144749"/>
                  </a:cubicBezTo>
                  <a:lnTo>
                    <a:pt x="803552" y="1212531"/>
                  </a:lnTo>
                  <a:cubicBezTo>
                    <a:pt x="803552" y="1270889"/>
                    <a:pt x="755473" y="1318214"/>
                    <a:pt x="696183" y="1318214"/>
                  </a:cubicBezTo>
                  <a:lnTo>
                    <a:pt x="642528" y="1318214"/>
                  </a:lnTo>
                  <a:cubicBezTo>
                    <a:pt x="583238" y="1318214"/>
                    <a:pt x="535159" y="1270889"/>
                    <a:pt x="535159" y="1212531"/>
                  </a:cubicBezTo>
                  <a:lnTo>
                    <a:pt x="535159" y="1144749"/>
                  </a:lnTo>
                  <a:cubicBezTo>
                    <a:pt x="493648" y="1133716"/>
                    <a:pt x="454240" y="1117663"/>
                    <a:pt x="417611" y="1097205"/>
                  </a:cubicBezTo>
                  <a:lnTo>
                    <a:pt x="351693" y="1162091"/>
                  </a:lnTo>
                  <a:cubicBezTo>
                    <a:pt x="309785" y="1203364"/>
                    <a:pt x="241764" y="1203364"/>
                    <a:pt x="199856" y="1162091"/>
                  </a:cubicBezTo>
                  <a:lnTo>
                    <a:pt x="161897" y="1124767"/>
                  </a:lnTo>
                  <a:cubicBezTo>
                    <a:pt x="119989" y="1083494"/>
                    <a:pt x="119989" y="1016525"/>
                    <a:pt x="161897" y="975252"/>
                  </a:cubicBezTo>
                  <a:lnTo>
                    <a:pt x="227418" y="910723"/>
                  </a:lnTo>
                  <a:cubicBezTo>
                    <a:pt x="206305" y="874550"/>
                    <a:pt x="189736" y="835717"/>
                    <a:pt x="178228" y="794564"/>
                  </a:cubicBezTo>
                  <a:lnTo>
                    <a:pt x="107369" y="794564"/>
                  </a:lnTo>
                  <a:cubicBezTo>
                    <a:pt x="48019" y="794564"/>
                    <a:pt x="0" y="747239"/>
                    <a:pt x="0" y="688881"/>
                  </a:cubicBezTo>
                  <a:lnTo>
                    <a:pt x="0" y="635980"/>
                  </a:lnTo>
                  <a:cubicBezTo>
                    <a:pt x="0" y="577603"/>
                    <a:pt x="48019" y="530179"/>
                    <a:pt x="107389" y="530179"/>
                  </a:cubicBezTo>
                  <a:lnTo>
                    <a:pt x="177434" y="530179"/>
                  </a:lnTo>
                  <a:cubicBezTo>
                    <a:pt x="188486" y="489600"/>
                    <a:pt x="204420" y="450887"/>
                    <a:pt x="224938" y="414952"/>
                  </a:cubicBezTo>
                  <a:lnTo>
                    <a:pt x="161917" y="352983"/>
                  </a:lnTo>
                  <a:cubicBezTo>
                    <a:pt x="120009" y="311591"/>
                    <a:pt x="120009" y="244622"/>
                    <a:pt x="161917" y="203468"/>
                  </a:cubicBezTo>
                  <a:lnTo>
                    <a:pt x="199876" y="166024"/>
                  </a:lnTo>
                  <a:cubicBezTo>
                    <a:pt x="241784" y="124751"/>
                    <a:pt x="309805" y="124751"/>
                    <a:pt x="351713" y="166024"/>
                  </a:cubicBezTo>
                  <a:lnTo>
                    <a:pt x="413444" y="226823"/>
                  </a:lnTo>
                  <a:cubicBezTo>
                    <a:pt x="451244" y="205214"/>
                    <a:pt x="492041" y="188347"/>
                    <a:pt x="535179" y="176720"/>
                  </a:cubicBezTo>
                  <a:lnTo>
                    <a:pt x="535179" y="105683"/>
                  </a:lnTo>
                  <a:cubicBezTo>
                    <a:pt x="535179" y="47325"/>
                    <a:pt x="583258" y="0"/>
                    <a:pt x="642548" y="0"/>
                  </a:cubicBezTo>
                  <a:close/>
                  <a:moveTo>
                    <a:pt x="669395" y="373342"/>
                  </a:moveTo>
                  <a:cubicBezTo>
                    <a:pt x="506328" y="373342"/>
                    <a:pt x="374076" y="503431"/>
                    <a:pt x="374076" y="664117"/>
                  </a:cubicBezTo>
                  <a:cubicBezTo>
                    <a:pt x="374076" y="824546"/>
                    <a:pt x="506328" y="954774"/>
                    <a:pt x="669395" y="954774"/>
                  </a:cubicBezTo>
                  <a:cubicBezTo>
                    <a:pt x="832463" y="954774"/>
                    <a:pt x="964656" y="824566"/>
                    <a:pt x="964656" y="664117"/>
                  </a:cubicBezTo>
                  <a:cubicBezTo>
                    <a:pt x="964656" y="503450"/>
                    <a:pt x="832463" y="373342"/>
                    <a:pt x="669395" y="373342"/>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7" name="任意多边形: 形状 453"/>
            <p:cNvSpPr/>
            <p:nvPr/>
          </p:nvSpPr>
          <p:spPr>
            <a:xfrm>
              <a:off x="5797763" y="3005051"/>
              <a:ext cx="268413" cy="264384"/>
            </a:xfrm>
            <a:custGeom>
              <a:avLst/>
              <a:gdLst>
                <a:gd name="connsiteX0" fmla="*/ 134236 w 268413"/>
                <a:gd name="connsiteY0" fmla="*/ 0 h 264384"/>
                <a:gd name="connsiteX1" fmla="*/ 268413 w 268413"/>
                <a:gd name="connsiteY1" fmla="*/ 132192 h 264384"/>
                <a:gd name="connsiteX2" fmla="*/ 134236 w 268413"/>
                <a:gd name="connsiteY2" fmla="*/ 264384 h 264384"/>
                <a:gd name="connsiteX3" fmla="*/ 0 w 268413"/>
                <a:gd name="connsiteY3" fmla="*/ 132192 h 264384"/>
                <a:gd name="connsiteX4" fmla="*/ 134236 w 268413"/>
                <a:gd name="connsiteY4" fmla="*/ 0 h 264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13" h="264384">
                  <a:moveTo>
                    <a:pt x="134236" y="0"/>
                  </a:moveTo>
                  <a:cubicBezTo>
                    <a:pt x="208369" y="0"/>
                    <a:pt x="268413" y="59290"/>
                    <a:pt x="268413" y="132192"/>
                  </a:cubicBezTo>
                  <a:cubicBezTo>
                    <a:pt x="268413" y="205213"/>
                    <a:pt x="208349" y="264384"/>
                    <a:pt x="134236" y="264384"/>
                  </a:cubicBezTo>
                  <a:cubicBezTo>
                    <a:pt x="60044" y="264384"/>
                    <a:pt x="0" y="205213"/>
                    <a:pt x="0" y="132192"/>
                  </a:cubicBezTo>
                  <a:cubicBezTo>
                    <a:pt x="0" y="59290"/>
                    <a:pt x="60064" y="0"/>
                    <a:pt x="134236" y="0"/>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8" name="任意多边形: 形状 454"/>
            <p:cNvSpPr/>
            <p:nvPr/>
          </p:nvSpPr>
          <p:spPr>
            <a:xfrm>
              <a:off x="6167438" y="3659202"/>
              <a:ext cx="649335" cy="639334"/>
            </a:xfrm>
            <a:custGeom>
              <a:avLst/>
              <a:gdLst>
                <a:gd name="connsiteX0" fmla="*/ 311690 w 649335"/>
                <a:gd name="connsiteY0" fmla="*/ 0 h 639334"/>
                <a:gd name="connsiteX1" fmla="*/ 337744 w 649335"/>
                <a:gd name="connsiteY1" fmla="*/ 0 h 639334"/>
                <a:gd name="connsiteX2" fmla="*/ 389831 w 649335"/>
                <a:gd name="connsiteY2" fmla="*/ 51274 h 639334"/>
                <a:gd name="connsiteX3" fmla="*/ 389831 w 649335"/>
                <a:gd name="connsiteY3" fmla="*/ 85681 h 639334"/>
                <a:gd name="connsiteX4" fmla="*/ 448784 w 649335"/>
                <a:gd name="connsiteY4" fmla="*/ 109989 h 639334"/>
                <a:gd name="connsiteX5" fmla="*/ 478667 w 649335"/>
                <a:gd name="connsiteY5" fmla="*/ 80463 h 639334"/>
                <a:gd name="connsiteX6" fmla="*/ 552383 w 649335"/>
                <a:gd name="connsiteY6" fmla="*/ 80463 h 639334"/>
                <a:gd name="connsiteX7" fmla="*/ 570758 w 649335"/>
                <a:gd name="connsiteY7" fmla="*/ 98599 h 639334"/>
                <a:gd name="connsiteX8" fmla="*/ 570758 w 649335"/>
                <a:gd name="connsiteY8" fmla="*/ 171144 h 639334"/>
                <a:gd name="connsiteX9" fmla="*/ 540299 w 649335"/>
                <a:gd name="connsiteY9" fmla="*/ 201265 h 639334"/>
                <a:gd name="connsiteX10" fmla="*/ 563317 w 649335"/>
                <a:gd name="connsiteY10" fmla="*/ 257182 h 639334"/>
                <a:gd name="connsiteX11" fmla="*/ 597267 w 649335"/>
                <a:gd name="connsiteY11" fmla="*/ 257182 h 639334"/>
                <a:gd name="connsiteX12" fmla="*/ 649335 w 649335"/>
                <a:gd name="connsiteY12" fmla="*/ 308456 h 639334"/>
                <a:gd name="connsiteX13" fmla="*/ 649335 w 649335"/>
                <a:gd name="connsiteY13" fmla="*/ 334033 h 639334"/>
                <a:gd name="connsiteX14" fmla="*/ 597248 w 649335"/>
                <a:gd name="connsiteY14" fmla="*/ 385307 h 639334"/>
                <a:gd name="connsiteX15" fmla="*/ 562840 w 649335"/>
                <a:gd name="connsiteY15" fmla="*/ 385307 h 639334"/>
                <a:gd name="connsiteX16" fmla="*/ 539009 w 649335"/>
                <a:gd name="connsiteY16" fmla="*/ 441700 h 639334"/>
                <a:gd name="connsiteX17" fmla="*/ 570758 w 649335"/>
                <a:gd name="connsiteY17" fmla="*/ 472972 h 639334"/>
                <a:gd name="connsiteX18" fmla="*/ 570758 w 649335"/>
                <a:gd name="connsiteY18" fmla="*/ 545517 h 639334"/>
                <a:gd name="connsiteX19" fmla="*/ 552383 w 649335"/>
                <a:gd name="connsiteY19" fmla="*/ 563535 h 639334"/>
                <a:gd name="connsiteX20" fmla="*/ 478667 w 649335"/>
                <a:gd name="connsiteY20" fmla="*/ 563535 h 639334"/>
                <a:gd name="connsiteX21" fmla="*/ 446820 w 649335"/>
                <a:gd name="connsiteY21" fmla="*/ 532143 h 639334"/>
                <a:gd name="connsiteX22" fmla="*/ 389851 w 649335"/>
                <a:gd name="connsiteY22" fmla="*/ 555161 h 639334"/>
                <a:gd name="connsiteX23" fmla="*/ 389851 w 649335"/>
                <a:gd name="connsiteY23" fmla="*/ 588060 h 639334"/>
                <a:gd name="connsiteX24" fmla="*/ 337764 w 649335"/>
                <a:gd name="connsiteY24" fmla="*/ 639334 h 639334"/>
                <a:gd name="connsiteX25" fmla="*/ 311710 w 649335"/>
                <a:gd name="connsiteY25" fmla="*/ 639334 h 639334"/>
                <a:gd name="connsiteX26" fmla="*/ 259623 w 649335"/>
                <a:gd name="connsiteY26" fmla="*/ 588060 h 639334"/>
                <a:gd name="connsiteX27" fmla="*/ 259623 w 649335"/>
                <a:gd name="connsiteY27" fmla="*/ 555161 h 639334"/>
                <a:gd name="connsiteX28" fmla="*/ 202655 w 649335"/>
                <a:gd name="connsiteY28" fmla="*/ 532143 h 639334"/>
                <a:gd name="connsiteX29" fmla="*/ 170569 w 649335"/>
                <a:gd name="connsiteY29" fmla="*/ 563535 h 639334"/>
                <a:gd name="connsiteX30" fmla="*/ 96972 w 649335"/>
                <a:gd name="connsiteY30" fmla="*/ 563535 h 639334"/>
                <a:gd name="connsiteX31" fmla="*/ 78479 w 649335"/>
                <a:gd name="connsiteY31" fmla="*/ 545517 h 639334"/>
                <a:gd name="connsiteX32" fmla="*/ 78479 w 649335"/>
                <a:gd name="connsiteY32" fmla="*/ 472972 h 639334"/>
                <a:gd name="connsiteX33" fmla="*/ 110326 w 649335"/>
                <a:gd name="connsiteY33" fmla="*/ 441700 h 639334"/>
                <a:gd name="connsiteX34" fmla="*/ 86495 w 649335"/>
                <a:gd name="connsiteY34" fmla="*/ 385307 h 639334"/>
                <a:gd name="connsiteX35" fmla="*/ 52088 w 649335"/>
                <a:gd name="connsiteY35" fmla="*/ 385307 h 639334"/>
                <a:gd name="connsiteX36" fmla="*/ 0 w 649335"/>
                <a:gd name="connsiteY36" fmla="*/ 334033 h 639334"/>
                <a:gd name="connsiteX37" fmla="*/ 0 w 649335"/>
                <a:gd name="connsiteY37" fmla="*/ 308456 h 639334"/>
                <a:gd name="connsiteX38" fmla="*/ 52088 w 649335"/>
                <a:gd name="connsiteY38" fmla="*/ 257182 h 639334"/>
                <a:gd name="connsiteX39" fmla="*/ 85999 w 649335"/>
                <a:gd name="connsiteY39" fmla="*/ 257182 h 639334"/>
                <a:gd name="connsiteX40" fmla="*/ 109017 w 649335"/>
                <a:gd name="connsiteY40" fmla="*/ 201265 h 639334"/>
                <a:gd name="connsiteX41" fmla="*/ 78439 w 649335"/>
                <a:gd name="connsiteY41" fmla="*/ 171144 h 639334"/>
                <a:gd name="connsiteX42" fmla="*/ 78439 w 649335"/>
                <a:gd name="connsiteY42" fmla="*/ 98599 h 639334"/>
                <a:gd name="connsiteX43" fmla="*/ 96932 w 649335"/>
                <a:gd name="connsiteY43" fmla="*/ 80463 h 639334"/>
                <a:gd name="connsiteX44" fmla="*/ 170529 w 649335"/>
                <a:gd name="connsiteY44" fmla="*/ 80463 h 639334"/>
                <a:gd name="connsiteX45" fmla="*/ 200531 w 649335"/>
                <a:gd name="connsiteY45" fmla="*/ 109989 h 639334"/>
                <a:gd name="connsiteX46" fmla="*/ 259603 w 649335"/>
                <a:gd name="connsiteY46" fmla="*/ 85681 h 639334"/>
                <a:gd name="connsiteX47" fmla="*/ 259603 w 649335"/>
                <a:gd name="connsiteY47" fmla="*/ 51274 h 639334"/>
                <a:gd name="connsiteX48" fmla="*/ 311690 w 649335"/>
                <a:gd name="connsiteY48" fmla="*/ 0 h 639334"/>
                <a:gd name="connsiteX49" fmla="*/ 324747 w 649335"/>
                <a:gd name="connsiteY49" fmla="*/ 181046 h 639334"/>
                <a:gd name="connsiteX50" fmla="*/ 181502 w 649335"/>
                <a:gd name="connsiteY50" fmla="*/ 322068 h 639334"/>
                <a:gd name="connsiteX51" fmla="*/ 324747 w 649335"/>
                <a:gd name="connsiteY51" fmla="*/ 463091 h 639334"/>
                <a:gd name="connsiteX52" fmla="*/ 467992 w 649335"/>
                <a:gd name="connsiteY52" fmla="*/ 322068 h 639334"/>
                <a:gd name="connsiteX53" fmla="*/ 324747 w 649335"/>
                <a:gd name="connsiteY53" fmla="*/ 181046 h 63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49335" h="639334">
                  <a:moveTo>
                    <a:pt x="311690" y="0"/>
                  </a:moveTo>
                  <a:lnTo>
                    <a:pt x="337744" y="0"/>
                  </a:lnTo>
                  <a:cubicBezTo>
                    <a:pt x="366456" y="0"/>
                    <a:pt x="389831" y="22899"/>
                    <a:pt x="389831" y="51274"/>
                  </a:cubicBezTo>
                  <a:lnTo>
                    <a:pt x="389831" y="85681"/>
                  </a:lnTo>
                  <a:cubicBezTo>
                    <a:pt x="410646" y="91277"/>
                    <a:pt x="430529" y="99532"/>
                    <a:pt x="448784" y="109989"/>
                  </a:cubicBezTo>
                  <a:lnTo>
                    <a:pt x="478667" y="80463"/>
                  </a:lnTo>
                  <a:cubicBezTo>
                    <a:pt x="499125" y="60461"/>
                    <a:pt x="532044" y="60461"/>
                    <a:pt x="552383" y="80463"/>
                  </a:cubicBezTo>
                  <a:lnTo>
                    <a:pt x="570758" y="98599"/>
                  </a:lnTo>
                  <a:cubicBezTo>
                    <a:pt x="591215" y="118700"/>
                    <a:pt x="591215" y="151143"/>
                    <a:pt x="570758" y="171144"/>
                  </a:cubicBezTo>
                  <a:lnTo>
                    <a:pt x="540299" y="201265"/>
                  </a:lnTo>
                  <a:cubicBezTo>
                    <a:pt x="550300" y="218707"/>
                    <a:pt x="557959" y="237419"/>
                    <a:pt x="563317" y="257182"/>
                  </a:cubicBezTo>
                  <a:lnTo>
                    <a:pt x="597267" y="257182"/>
                  </a:lnTo>
                  <a:cubicBezTo>
                    <a:pt x="626099" y="257182"/>
                    <a:pt x="649355" y="280101"/>
                    <a:pt x="649335" y="308456"/>
                  </a:cubicBezTo>
                  <a:lnTo>
                    <a:pt x="649335" y="334033"/>
                  </a:lnTo>
                  <a:cubicBezTo>
                    <a:pt x="649335" y="362408"/>
                    <a:pt x="626079" y="385307"/>
                    <a:pt x="597248" y="385307"/>
                  </a:cubicBezTo>
                  <a:lnTo>
                    <a:pt x="562840" y="385307"/>
                  </a:lnTo>
                  <a:cubicBezTo>
                    <a:pt x="557264" y="405309"/>
                    <a:pt x="549248" y="424139"/>
                    <a:pt x="539009" y="441700"/>
                  </a:cubicBezTo>
                  <a:lnTo>
                    <a:pt x="570758" y="472972"/>
                  </a:lnTo>
                  <a:cubicBezTo>
                    <a:pt x="591215" y="492974"/>
                    <a:pt x="591215" y="525397"/>
                    <a:pt x="570758" y="545517"/>
                  </a:cubicBezTo>
                  <a:lnTo>
                    <a:pt x="552383" y="563535"/>
                  </a:lnTo>
                  <a:cubicBezTo>
                    <a:pt x="532024" y="583655"/>
                    <a:pt x="499125" y="583655"/>
                    <a:pt x="478667" y="563535"/>
                  </a:cubicBezTo>
                  <a:lnTo>
                    <a:pt x="446820" y="532143"/>
                  </a:lnTo>
                  <a:cubicBezTo>
                    <a:pt x="429041" y="542025"/>
                    <a:pt x="409853" y="549803"/>
                    <a:pt x="389851" y="555161"/>
                  </a:cubicBezTo>
                  <a:lnTo>
                    <a:pt x="389851" y="588060"/>
                  </a:lnTo>
                  <a:cubicBezTo>
                    <a:pt x="389851" y="616316"/>
                    <a:pt x="366476" y="639334"/>
                    <a:pt x="337764" y="639334"/>
                  </a:cubicBezTo>
                  <a:lnTo>
                    <a:pt x="311710" y="639334"/>
                  </a:lnTo>
                  <a:cubicBezTo>
                    <a:pt x="282879" y="639334"/>
                    <a:pt x="259623" y="616316"/>
                    <a:pt x="259623" y="588060"/>
                  </a:cubicBezTo>
                  <a:lnTo>
                    <a:pt x="259623" y="555161"/>
                  </a:lnTo>
                  <a:cubicBezTo>
                    <a:pt x="239403" y="549823"/>
                    <a:pt x="220334" y="542025"/>
                    <a:pt x="202655" y="532143"/>
                  </a:cubicBezTo>
                  <a:lnTo>
                    <a:pt x="170569" y="563535"/>
                  </a:lnTo>
                  <a:cubicBezTo>
                    <a:pt x="150329" y="583655"/>
                    <a:pt x="117311" y="583655"/>
                    <a:pt x="96972" y="563535"/>
                  </a:cubicBezTo>
                  <a:lnTo>
                    <a:pt x="78479" y="545517"/>
                  </a:lnTo>
                  <a:cubicBezTo>
                    <a:pt x="58239" y="525417"/>
                    <a:pt x="58239" y="492974"/>
                    <a:pt x="78479" y="472972"/>
                  </a:cubicBezTo>
                  <a:lnTo>
                    <a:pt x="110326" y="441700"/>
                  </a:lnTo>
                  <a:cubicBezTo>
                    <a:pt x="100107" y="424139"/>
                    <a:pt x="92071" y="405309"/>
                    <a:pt x="86495" y="385307"/>
                  </a:cubicBezTo>
                  <a:lnTo>
                    <a:pt x="52088" y="385307"/>
                  </a:lnTo>
                  <a:cubicBezTo>
                    <a:pt x="23375" y="385307"/>
                    <a:pt x="0" y="362408"/>
                    <a:pt x="0" y="334033"/>
                  </a:cubicBezTo>
                  <a:lnTo>
                    <a:pt x="0" y="308456"/>
                  </a:lnTo>
                  <a:cubicBezTo>
                    <a:pt x="0" y="280081"/>
                    <a:pt x="23375" y="257182"/>
                    <a:pt x="52088" y="257182"/>
                  </a:cubicBezTo>
                  <a:lnTo>
                    <a:pt x="85999" y="257182"/>
                  </a:lnTo>
                  <a:cubicBezTo>
                    <a:pt x="91456" y="237419"/>
                    <a:pt x="99135" y="218707"/>
                    <a:pt x="109017" y="201265"/>
                  </a:cubicBezTo>
                  <a:lnTo>
                    <a:pt x="78439" y="171144"/>
                  </a:lnTo>
                  <a:cubicBezTo>
                    <a:pt x="58199" y="151143"/>
                    <a:pt x="58199" y="118720"/>
                    <a:pt x="78439" y="98599"/>
                  </a:cubicBezTo>
                  <a:lnTo>
                    <a:pt x="96932" y="80463"/>
                  </a:lnTo>
                  <a:cubicBezTo>
                    <a:pt x="117271" y="60461"/>
                    <a:pt x="150290" y="60461"/>
                    <a:pt x="170529" y="80463"/>
                  </a:cubicBezTo>
                  <a:lnTo>
                    <a:pt x="200531" y="109989"/>
                  </a:lnTo>
                  <a:cubicBezTo>
                    <a:pt x="218906" y="99512"/>
                    <a:pt x="238669" y="91257"/>
                    <a:pt x="259603" y="85681"/>
                  </a:cubicBezTo>
                  <a:lnTo>
                    <a:pt x="259603" y="51274"/>
                  </a:lnTo>
                  <a:cubicBezTo>
                    <a:pt x="259603" y="22899"/>
                    <a:pt x="282859" y="0"/>
                    <a:pt x="311690" y="0"/>
                  </a:cubicBezTo>
                  <a:close/>
                  <a:moveTo>
                    <a:pt x="324747" y="181046"/>
                  </a:moveTo>
                  <a:cubicBezTo>
                    <a:pt x="245574" y="181046"/>
                    <a:pt x="181502" y="244185"/>
                    <a:pt x="181502" y="322068"/>
                  </a:cubicBezTo>
                  <a:cubicBezTo>
                    <a:pt x="181502" y="399951"/>
                    <a:pt x="245574" y="463091"/>
                    <a:pt x="324747" y="463091"/>
                  </a:cubicBezTo>
                  <a:cubicBezTo>
                    <a:pt x="403801" y="463091"/>
                    <a:pt x="467992" y="399951"/>
                    <a:pt x="467992" y="322068"/>
                  </a:cubicBezTo>
                  <a:cubicBezTo>
                    <a:pt x="467992" y="244185"/>
                    <a:pt x="403801" y="181046"/>
                    <a:pt x="324747" y="181046"/>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9" name="任意多边形: 形状 455"/>
            <p:cNvSpPr/>
            <p:nvPr/>
          </p:nvSpPr>
          <p:spPr>
            <a:xfrm>
              <a:off x="6427081" y="3915572"/>
              <a:ext cx="130208" cy="128144"/>
            </a:xfrm>
            <a:custGeom>
              <a:avLst/>
              <a:gdLst>
                <a:gd name="connsiteX0" fmla="*/ 65104 w 130208"/>
                <a:gd name="connsiteY0" fmla="*/ 0 h 128144"/>
                <a:gd name="connsiteX1" fmla="*/ 130208 w 130208"/>
                <a:gd name="connsiteY1" fmla="*/ 64072 h 128144"/>
                <a:gd name="connsiteX2" fmla="*/ 65104 w 130208"/>
                <a:gd name="connsiteY2" fmla="*/ 128144 h 128144"/>
                <a:gd name="connsiteX3" fmla="*/ 0 w 130208"/>
                <a:gd name="connsiteY3" fmla="*/ 64072 h 128144"/>
                <a:gd name="connsiteX4" fmla="*/ 65104 w 130208"/>
                <a:gd name="connsiteY4" fmla="*/ 0 h 128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208" h="128144">
                  <a:moveTo>
                    <a:pt x="65104" y="0"/>
                  </a:moveTo>
                  <a:cubicBezTo>
                    <a:pt x="101019" y="0"/>
                    <a:pt x="130208" y="28712"/>
                    <a:pt x="130208" y="64072"/>
                  </a:cubicBezTo>
                  <a:cubicBezTo>
                    <a:pt x="130208" y="99551"/>
                    <a:pt x="101039" y="128144"/>
                    <a:pt x="65104" y="128144"/>
                  </a:cubicBezTo>
                  <a:cubicBezTo>
                    <a:pt x="29070" y="128144"/>
                    <a:pt x="0" y="99531"/>
                    <a:pt x="0" y="64072"/>
                  </a:cubicBezTo>
                  <a:cubicBezTo>
                    <a:pt x="0" y="28712"/>
                    <a:pt x="29070" y="0"/>
                    <a:pt x="65104" y="0"/>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78" name="椭圆 177"/>
          <p:cNvSpPr/>
          <p:nvPr/>
        </p:nvSpPr>
        <p:spPr>
          <a:xfrm>
            <a:off x="8483600" y="3954145"/>
            <a:ext cx="616585" cy="616585"/>
          </a:xfrm>
          <a:prstGeom prst="ellipse">
            <a:avLst/>
          </a:prstGeom>
          <a:solidFill>
            <a:srgbClr val="FFFFFF"/>
          </a:solidFill>
          <a:ln w="12700" cap="flat" cmpd="sng" algn="ctr">
            <a:solidFill>
              <a:srgbClr val="3368FF"/>
            </a:solidFill>
            <a:prstDash val="solid"/>
            <a:miter lim="800000"/>
          </a:ln>
          <a:effectLst>
            <a:outerShdw blurRad="254000" dist="101600" dir="2700000" sx="83000" sy="83000" algn="tl" rotWithShape="0">
              <a:srgbClr val="DCDCDC">
                <a:alpha val="25000"/>
              </a:srgbClr>
            </a:outerShdw>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179" name="组合 178"/>
          <p:cNvGrpSpPr/>
          <p:nvPr/>
        </p:nvGrpSpPr>
        <p:grpSpPr>
          <a:xfrm rot="0">
            <a:off x="8627745" y="4095115"/>
            <a:ext cx="301625" cy="353060"/>
            <a:chOff x="5262604" y="2476499"/>
            <a:chExt cx="1554169" cy="1822037"/>
          </a:xfrm>
          <a:solidFill>
            <a:srgbClr val="3368FF"/>
          </a:solidFill>
        </p:grpSpPr>
        <p:sp>
          <p:nvSpPr>
            <p:cNvPr id="180" name="任意多边形: 形状 452"/>
            <p:cNvSpPr/>
            <p:nvPr/>
          </p:nvSpPr>
          <p:spPr>
            <a:xfrm>
              <a:off x="5262604" y="2476499"/>
              <a:ext cx="1338771" cy="1318214"/>
            </a:xfrm>
            <a:custGeom>
              <a:avLst/>
              <a:gdLst>
                <a:gd name="connsiteX0" fmla="*/ 642548 w 1338771"/>
                <a:gd name="connsiteY0" fmla="*/ 0 h 1318214"/>
                <a:gd name="connsiteX1" fmla="*/ 696203 w 1338771"/>
                <a:gd name="connsiteY1" fmla="*/ 0 h 1318214"/>
                <a:gd name="connsiteX2" fmla="*/ 803572 w 1338771"/>
                <a:gd name="connsiteY2" fmla="*/ 105663 h 1318214"/>
                <a:gd name="connsiteX3" fmla="*/ 803572 w 1338771"/>
                <a:gd name="connsiteY3" fmla="*/ 176700 h 1318214"/>
                <a:gd name="connsiteX4" fmla="*/ 925248 w 1338771"/>
                <a:gd name="connsiteY4" fmla="*/ 226803 h 1318214"/>
                <a:gd name="connsiteX5" fmla="*/ 987098 w 1338771"/>
                <a:gd name="connsiteY5" fmla="*/ 166005 h 1318214"/>
                <a:gd name="connsiteX6" fmla="*/ 1138935 w 1338771"/>
                <a:gd name="connsiteY6" fmla="*/ 166005 h 1318214"/>
                <a:gd name="connsiteX7" fmla="*/ 1176834 w 1338771"/>
                <a:gd name="connsiteY7" fmla="*/ 203448 h 1318214"/>
                <a:gd name="connsiteX8" fmla="*/ 1176834 w 1338771"/>
                <a:gd name="connsiteY8" fmla="*/ 352963 h 1318214"/>
                <a:gd name="connsiteX9" fmla="*/ 1113814 w 1338771"/>
                <a:gd name="connsiteY9" fmla="*/ 414932 h 1318214"/>
                <a:gd name="connsiteX10" fmla="*/ 1161357 w 1338771"/>
                <a:gd name="connsiteY10" fmla="*/ 530159 h 1318214"/>
                <a:gd name="connsiteX11" fmla="*/ 1231342 w 1338771"/>
                <a:gd name="connsiteY11" fmla="*/ 530159 h 1318214"/>
                <a:gd name="connsiteX12" fmla="*/ 1338771 w 1338771"/>
                <a:gd name="connsiteY12" fmla="*/ 635960 h 1318214"/>
                <a:gd name="connsiteX13" fmla="*/ 1338771 w 1338771"/>
                <a:gd name="connsiteY13" fmla="*/ 688861 h 1318214"/>
                <a:gd name="connsiteX14" fmla="*/ 1231342 w 1338771"/>
                <a:gd name="connsiteY14" fmla="*/ 794544 h 1318214"/>
                <a:gd name="connsiteX15" fmla="*/ 1160543 w 1338771"/>
                <a:gd name="connsiteY15" fmla="*/ 794544 h 1318214"/>
                <a:gd name="connsiteX16" fmla="*/ 1111254 w 1338771"/>
                <a:gd name="connsiteY16" fmla="*/ 910703 h 1318214"/>
                <a:gd name="connsiteX17" fmla="*/ 1176834 w 1338771"/>
                <a:gd name="connsiteY17" fmla="*/ 975232 h 1318214"/>
                <a:gd name="connsiteX18" fmla="*/ 1176834 w 1338771"/>
                <a:gd name="connsiteY18" fmla="*/ 1124747 h 1318214"/>
                <a:gd name="connsiteX19" fmla="*/ 1138935 w 1338771"/>
                <a:gd name="connsiteY19" fmla="*/ 1162071 h 1318214"/>
                <a:gd name="connsiteX20" fmla="*/ 987078 w 1338771"/>
                <a:gd name="connsiteY20" fmla="*/ 1162091 h 1318214"/>
                <a:gd name="connsiteX21" fmla="*/ 921041 w 1338771"/>
                <a:gd name="connsiteY21" fmla="*/ 1097205 h 1318214"/>
                <a:gd name="connsiteX22" fmla="*/ 803552 w 1338771"/>
                <a:gd name="connsiteY22" fmla="*/ 1144749 h 1318214"/>
                <a:gd name="connsiteX23" fmla="*/ 803552 w 1338771"/>
                <a:gd name="connsiteY23" fmla="*/ 1212531 h 1318214"/>
                <a:gd name="connsiteX24" fmla="*/ 696183 w 1338771"/>
                <a:gd name="connsiteY24" fmla="*/ 1318214 h 1318214"/>
                <a:gd name="connsiteX25" fmla="*/ 642528 w 1338771"/>
                <a:gd name="connsiteY25" fmla="*/ 1318214 h 1318214"/>
                <a:gd name="connsiteX26" fmla="*/ 535159 w 1338771"/>
                <a:gd name="connsiteY26" fmla="*/ 1212531 h 1318214"/>
                <a:gd name="connsiteX27" fmla="*/ 535159 w 1338771"/>
                <a:gd name="connsiteY27" fmla="*/ 1144749 h 1318214"/>
                <a:gd name="connsiteX28" fmla="*/ 417611 w 1338771"/>
                <a:gd name="connsiteY28" fmla="*/ 1097205 h 1318214"/>
                <a:gd name="connsiteX29" fmla="*/ 351693 w 1338771"/>
                <a:gd name="connsiteY29" fmla="*/ 1162091 h 1318214"/>
                <a:gd name="connsiteX30" fmla="*/ 199856 w 1338771"/>
                <a:gd name="connsiteY30" fmla="*/ 1162091 h 1318214"/>
                <a:gd name="connsiteX31" fmla="*/ 161897 w 1338771"/>
                <a:gd name="connsiteY31" fmla="*/ 1124767 h 1318214"/>
                <a:gd name="connsiteX32" fmla="*/ 161897 w 1338771"/>
                <a:gd name="connsiteY32" fmla="*/ 975252 h 1318214"/>
                <a:gd name="connsiteX33" fmla="*/ 227418 w 1338771"/>
                <a:gd name="connsiteY33" fmla="*/ 910723 h 1318214"/>
                <a:gd name="connsiteX34" fmla="*/ 178228 w 1338771"/>
                <a:gd name="connsiteY34" fmla="*/ 794564 h 1318214"/>
                <a:gd name="connsiteX35" fmla="*/ 107369 w 1338771"/>
                <a:gd name="connsiteY35" fmla="*/ 794564 h 1318214"/>
                <a:gd name="connsiteX36" fmla="*/ 0 w 1338771"/>
                <a:gd name="connsiteY36" fmla="*/ 688881 h 1318214"/>
                <a:gd name="connsiteX37" fmla="*/ 0 w 1338771"/>
                <a:gd name="connsiteY37" fmla="*/ 635980 h 1318214"/>
                <a:gd name="connsiteX38" fmla="*/ 107389 w 1338771"/>
                <a:gd name="connsiteY38" fmla="*/ 530179 h 1318214"/>
                <a:gd name="connsiteX39" fmla="*/ 177434 w 1338771"/>
                <a:gd name="connsiteY39" fmla="*/ 530179 h 1318214"/>
                <a:gd name="connsiteX40" fmla="*/ 224938 w 1338771"/>
                <a:gd name="connsiteY40" fmla="*/ 414952 h 1318214"/>
                <a:gd name="connsiteX41" fmla="*/ 161917 w 1338771"/>
                <a:gd name="connsiteY41" fmla="*/ 352983 h 1318214"/>
                <a:gd name="connsiteX42" fmla="*/ 161917 w 1338771"/>
                <a:gd name="connsiteY42" fmla="*/ 203468 h 1318214"/>
                <a:gd name="connsiteX43" fmla="*/ 199876 w 1338771"/>
                <a:gd name="connsiteY43" fmla="*/ 166024 h 1318214"/>
                <a:gd name="connsiteX44" fmla="*/ 351713 w 1338771"/>
                <a:gd name="connsiteY44" fmla="*/ 166024 h 1318214"/>
                <a:gd name="connsiteX45" fmla="*/ 413444 w 1338771"/>
                <a:gd name="connsiteY45" fmla="*/ 226823 h 1318214"/>
                <a:gd name="connsiteX46" fmla="*/ 535179 w 1338771"/>
                <a:gd name="connsiteY46" fmla="*/ 176720 h 1318214"/>
                <a:gd name="connsiteX47" fmla="*/ 535179 w 1338771"/>
                <a:gd name="connsiteY47" fmla="*/ 105683 h 1318214"/>
                <a:gd name="connsiteX48" fmla="*/ 642548 w 1338771"/>
                <a:gd name="connsiteY48" fmla="*/ 0 h 1318214"/>
                <a:gd name="connsiteX49" fmla="*/ 669395 w 1338771"/>
                <a:gd name="connsiteY49" fmla="*/ 373342 h 1318214"/>
                <a:gd name="connsiteX50" fmla="*/ 374076 w 1338771"/>
                <a:gd name="connsiteY50" fmla="*/ 664117 h 1318214"/>
                <a:gd name="connsiteX51" fmla="*/ 669395 w 1338771"/>
                <a:gd name="connsiteY51" fmla="*/ 954774 h 1318214"/>
                <a:gd name="connsiteX52" fmla="*/ 964656 w 1338771"/>
                <a:gd name="connsiteY52" fmla="*/ 664117 h 1318214"/>
                <a:gd name="connsiteX53" fmla="*/ 669395 w 1338771"/>
                <a:gd name="connsiteY53" fmla="*/ 373342 h 1318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38771" h="1318214">
                  <a:moveTo>
                    <a:pt x="642548" y="0"/>
                  </a:moveTo>
                  <a:lnTo>
                    <a:pt x="696203" y="0"/>
                  </a:lnTo>
                  <a:cubicBezTo>
                    <a:pt x="755493" y="0"/>
                    <a:pt x="803572" y="47325"/>
                    <a:pt x="803572" y="105663"/>
                  </a:cubicBezTo>
                  <a:lnTo>
                    <a:pt x="803572" y="176700"/>
                  </a:lnTo>
                  <a:cubicBezTo>
                    <a:pt x="846710" y="188328"/>
                    <a:pt x="887527" y="205174"/>
                    <a:pt x="925248" y="226803"/>
                  </a:cubicBezTo>
                  <a:lnTo>
                    <a:pt x="987098" y="166005"/>
                  </a:lnTo>
                  <a:cubicBezTo>
                    <a:pt x="1028946" y="124732"/>
                    <a:pt x="1096967" y="124732"/>
                    <a:pt x="1138935" y="166005"/>
                  </a:cubicBezTo>
                  <a:lnTo>
                    <a:pt x="1176834" y="203448"/>
                  </a:lnTo>
                  <a:cubicBezTo>
                    <a:pt x="1218802" y="244602"/>
                    <a:pt x="1218802" y="311571"/>
                    <a:pt x="1176834" y="352963"/>
                  </a:cubicBezTo>
                  <a:lnTo>
                    <a:pt x="1113814" y="414932"/>
                  </a:lnTo>
                  <a:cubicBezTo>
                    <a:pt x="1134391" y="450867"/>
                    <a:pt x="1150305" y="489580"/>
                    <a:pt x="1161357" y="530159"/>
                  </a:cubicBezTo>
                  <a:lnTo>
                    <a:pt x="1231342" y="530159"/>
                  </a:lnTo>
                  <a:cubicBezTo>
                    <a:pt x="1290633" y="530159"/>
                    <a:pt x="1338771" y="577603"/>
                    <a:pt x="1338771" y="635960"/>
                  </a:cubicBezTo>
                  <a:lnTo>
                    <a:pt x="1338771" y="688861"/>
                  </a:lnTo>
                  <a:cubicBezTo>
                    <a:pt x="1338771" y="747219"/>
                    <a:pt x="1290633" y="794544"/>
                    <a:pt x="1231342" y="794544"/>
                  </a:cubicBezTo>
                  <a:lnTo>
                    <a:pt x="1160543" y="794544"/>
                  </a:lnTo>
                  <a:cubicBezTo>
                    <a:pt x="1148916" y="835717"/>
                    <a:pt x="1132406" y="874550"/>
                    <a:pt x="1111254" y="910703"/>
                  </a:cubicBezTo>
                  <a:lnTo>
                    <a:pt x="1176834" y="975232"/>
                  </a:lnTo>
                  <a:cubicBezTo>
                    <a:pt x="1218802" y="1016505"/>
                    <a:pt x="1218802" y="1083474"/>
                    <a:pt x="1176834" y="1124747"/>
                  </a:cubicBezTo>
                  <a:lnTo>
                    <a:pt x="1138935" y="1162071"/>
                  </a:lnTo>
                  <a:cubicBezTo>
                    <a:pt x="1096967" y="1203364"/>
                    <a:pt x="1028946" y="1203364"/>
                    <a:pt x="987078" y="1162091"/>
                  </a:cubicBezTo>
                  <a:lnTo>
                    <a:pt x="921041" y="1097205"/>
                  </a:lnTo>
                  <a:cubicBezTo>
                    <a:pt x="884471" y="1117663"/>
                    <a:pt x="845123" y="1133696"/>
                    <a:pt x="803552" y="1144749"/>
                  </a:cubicBezTo>
                  <a:lnTo>
                    <a:pt x="803552" y="1212531"/>
                  </a:lnTo>
                  <a:cubicBezTo>
                    <a:pt x="803552" y="1270889"/>
                    <a:pt x="755473" y="1318214"/>
                    <a:pt x="696183" y="1318214"/>
                  </a:cubicBezTo>
                  <a:lnTo>
                    <a:pt x="642528" y="1318214"/>
                  </a:lnTo>
                  <a:cubicBezTo>
                    <a:pt x="583238" y="1318214"/>
                    <a:pt x="535159" y="1270889"/>
                    <a:pt x="535159" y="1212531"/>
                  </a:cubicBezTo>
                  <a:lnTo>
                    <a:pt x="535159" y="1144749"/>
                  </a:lnTo>
                  <a:cubicBezTo>
                    <a:pt x="493648" y="1133716"/>
                    <a:pt x="454240" y="1117663"/>
                    <a:pt x="417611" y="1097205"/>
                  </a:cubicBezTo>
                  <a:lnTo>
                    <a:pt x="351693" y="1162091"/>
                  </a:lnTo>
                  <a:cubicBezTo>
                    <a:pt x="309785" y="1203364"/>
                    <a:pt x="241764" y="1203364"/>
                    <a:pt x="199856" y="1162091"/>
                  </a:cubicBezTo>
                  <a:lnTo>
                    <a:pt x="161897" y="1124767"/>
                  </a:lnTo>
                  <a:cubicBezTo>
                    <a:pt x="119989" y="1083494"/>
                    <a:pt x="119989" y="1016525"/>
                    <a:pt x="161897" y="975252"/>
                  </a:cubicBezTo>
                  <a:lnTo>
                    <a:pt x="227418" y="910723"/>
                  </a:lnTo>
                  <a:cubicBezTo>
                    <a:pt x="206305" y="874550"/>
                    <a:pt x="189736" y="835717"/>
                    <a:pt x="178228" y="794564"/>
                  </a:cubicBezTo>
                  <a:lnTo>
                    <a:pt x="107369" y="794564"/>
                  </a:lnTo>
                  <a:cubicBezTo>
                    <a:pt x="48019" y="794564"/>
                    <a:pt x="0" y="747239"/>
                    <a:pt x="0" y="688881"/>
                  </a:cubicBezTo>
                  <a:lnTo>
                    <a:pt x="0" y="635980"/>
                  </a:lnTo>
                  <a:cubicBezTo>
                    <a:pt x="0" y="577603"/>
                    <a:pt x="48019" y="530179"/>
                    <a:pt x="107389" y="530179"/>
                  </a:cubicBezTo>
                  <a:lnTo>
                    <a:pt x="177434" y="530179"/>
                  </a:lnTo>
                  <a:cubicBezTo>
                    <a:pt x="188486" y="489600"/>
                    <a:pt x="204420" y="450887"/>
                    <a:pt x="224938" y="414952"/>
                  </a:cubicBezTo>
                  <a:lnTo>
                    <a:pt x="161917" y="352983"/>
                  </a:lnTo>
                  <a:cubicBezTo>
                    <a:pt x="120009" y="311591"/>
                    <a:pt x="120009" y="244622"/>
                    <a:pt x="161917" y="203468"/>
                  </a:cubicBezTo>
                  <a:lnTo>
                    <a:pt x="199876" y="166024"/>
                  </a:lnTo>
                  <a:cubicBezTo>
                    <a:pt x="241784" y="124751"/>
                    <a:pt x="309805" y="124751"/>
                    <a:pt x="351713" y="166024"/>
                  </a:cubicBezTo>
                  <a:lnTo>
                    <a:pt x="413444" y="226823"/>
                  </a:lnTo>
                  <a:cubicBezTo>
                    <a:pt x="451244" y="205214"/>
                    <a:pt x="492041" y="188347"/>
                    <a:pt x="535179" y="176720"/>
                  </a:cubicBezTo>
                  <a:lnTo>
                    <a:pt x="535179" y="105683"/>
                  </a:lnTo>
                  <a:cubicBezTo>
                    <a:pt x="535179" y="47325"/>
                    <a:pt x="583258" y="0"/>
                    <a:pt x="642548" y="0"/>
                  </a:cubicBezTo>
                  <a:close/>
                  <a:moveTo>
                    <a:pt x="669395" y="373342"/>
                  </a:moveTo>
                  <a:cubicBezTo>
                    <a:pt x="506328" y="373342"/>
                    <a:pt x="374076" y="503431"/>
                    <a:pt x="374076" y="664117"/>
                  </a:cubicBezTo>
                  <a:cubicBezTo>
                    <a:pt x="374076" y="824546"/>
                    <a:pt x="506328" y="954774"/>
                    <a:pt x="669395" y="954774"/>
                  </a:cubicBezTo>
                  <a:cubicBezTo>
                    <a:pt x="832463" y="954774"/>
                    <a:pt x="964656" y="824566"/>
                    <a:pt x="964656" y="664117"/>
                  </a:cubicBezTo>
                  <a:cubicBezTo>
                    <a:pt x="964656" y="503450"/>
                    <a:pt x="832463" y="373342"/>
                    <a:pt x="669395" y="373342"/>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81" name="任意多边形: 形状 453"/>
            <p:cNvSpPr/>
            <p:nvPr/>
          </p:nvSpPr>
          <p:spPr>
            <a:xfrm>
              <a:off x="5797763" y="3005051"/>
              <a:ext cx="268413" cy="264384"/>
            </a:xfrm>
            <a:custGeom>
              <a:avLst/>
              <a:gdLst>
                <a:gd name="connsiteX0" fmla="*/ 134236 w 268413"/>
                <a:gd name="connsiteY0" fmla="*/ 0 h 264384"/>
                <a:gd name="connsiteX1" fmla="*/ 268413 w 268413"/>
                <a:gd name="connsiteY1" fmla="*/ 132192 h 264384"/>
                <a:gd name="connsiteX2" fmla="*/ 134236 w 268413"/>
                <a:gd name="connsiteY2" fmla="*/ 264384 h 264384"/>
                <a:gd name="connsiteX3" fmla="*/ 0 w 268413"/>
                <a:gd name="connsiteY3" fmla="*/ 132192 h 264384"/>
                <a:gd name="connsiteX4" fmla="*/ 134236 w 268413"/>
                <a:gd name="connsiteY4" fmla="*/ 0 h 264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13" h="264384">
                  <a:moveTo>
                    <a:pt x="134236" y="0"/>
                  </a:moveTo>
                  <a:cubicBezTo>
                    <a:pt x="208369" y="0"/>
                    <a:pt x="268413" y="59290"/>
                    <a:pt x="268413" y="132192"/>
                  </a:cubicBezTo>
                  <a:cubicBezTo>
                    <a:pt x="268413" y="205213"/>
                    <a:pt x="208349" y="264384"/>
                    <a:pt x="134236" y="264384"/>
                  </a:cubicBezTo>
                  <a:cubicBezTo>
                    <a:pt x="60044" y="264384"/>
                    <a:pt x="0" y="205213"/>
                    <a:pt x="0" y="132192"/>
                  </a:cubicBezTo>
                  <a:cubicBezTo>
                    <a:pt x="0" y="59290"/>
                    <a:pt x="60064" y="0"/>
                    <a:pt x="134236" y="0"/>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82" name="任意多边形: 形状 454"/>
            <p:cNvSpPr/>
            <p:nvPr/>
          </p:nvSpPr>
          <p:spPr>
            <a:xfrm>
              <a:off x="6167438" y="3659202"/>
              <a:ext cx="649335" cy="639334"/>
            </a:xfrm>
            <a:custGeom>
              <a:avLst/>
              <a:gdLst>
                <a:gd name="connsiteX0" fmla="*/ 311690 w 649335"/>
                <a:gd name="connsiteY0" fmla="*/ 0 h 639334"/>
                <a:gd name="connsiteX1" fmla="*/ 337744 w 649335"/>
                <a:gd name="connsiteY1" fmla="*/ 0 h 639334"/>
                <a:gd name="connsiteX2" fmla="*/ 389831 w 649335"/>
                <a:gd name="connsiteY2" fmla="*/ 51274 h 639334"/>
                <a:gd name="connsiteX3" fmla="*/ 389831 w 649335"/>
                <a:gd name="connsiteY3" fmla="*/ 85681 h 639334"/>
                <a:gd name="connsiteX4" fmla="*/ 448784 w 649335"/>
                <a:gd name="connsiteY4" fmla="*/ 109989 h 639334"/>
                <a:gd name="connsiteX5" fmla="*/ 478667 w 649335"/>
                <a:gd name="connsiteY5" fmla="*/ 80463 h 639334"/>
                <a:gd name="connsiteX6" fmla="*/ 552383 w 649335"/>
                <a:gd name="connsiteY6" fmla="*/ 80463 h 639334"/>
                <a:gd name="connsiteX7" fmla="*/ 570758 w 649335"/>
                <a:gd name="connsiteY7" fmla="*/ 98599 h 639334"/>
                <a:gd name="connsiteX8" fmla="*/ 570758 w 649335"/>
                <a:gd name="connsiteY8" fmla="*/ 171144 h 639334"/>
                <a:gd name="connsiteX9" fmla="*/ 540299 w 649335"/>
                <a:gd name="connsiteY9" fmla="*/ 201265 h 639334"/>
                <a:gd name="connsiteX10" fmla="*/ 563317 w 649335"/>
                <a:gd name="connsiteY10" fmla="*/ 257182 h 639334"/>
                <a:gd name="connsiteX11" fmla="*/ 597267 w 649335"/>
                <a:gd name="connsiteY11" fmla="*/ 257182 h 639334"/>
                <a:gd name="connsiteX12" fmla="*/ 649335 w 649335"/>
                <a:gd name="connsiteY12" fmla="*/ 308456 h 639334"/>
                <a:gd name="connsiteX13" fmla="*/ 649335 w 649335"/>
                <a:gd name="connsiteY13" fmla="*/ 334033 h 639334"/>
                <a:gd name="connsiteX14" fmla="*/ 597248 w 649335"/>
                <a:gd name="connsiteY14" fmla="*/ 385307 h 639334"/>
                <a:gd name="connsiteX15" fmla="*/ 562840 w 649335"/>
                <a:gd name="connsiteY15" fmla="*/ 385307 h 639334"/>
                <a:gd name="connsiteX16" fmla="*/ 539009 w 649335"/>
                <a:gd name="connsiteY16" fmla="*/ 441700 h 639334"/>
                <a:gd name="connsiteX17" fmla="*/ 570758 w 649335"/>
                <a:gd name="connsiteY17" fmla="*/ 472972 h 639334"/>
                <a:gd name="connsiteX18" fmla="*/ 570758 w 649335"/>
                <a:gd name="connsiteY18" fmla="*/ 545517 h 639334"/>
                <a:gd name="connsiteX19" fmla="*/ 552383 w 649335"/>
                <a:gd name="connsiteY19" fmla="*/ 563535 h 639334"/>
                <a:gd name="connsiteX20" fmla="*/ 478667 w 649335"/>
                <a:gd name="connsiteY20" fmla="*/ 563535 h 639334"/>
                <a:gd name="connsiteX21" fmla="*/ 446820 w 649335"/>
                <a:gd name="connsiteY21" fmla="*/ 532143 h 639334"/>
                <a:gd name="connsiteX22" fmla="*/ 389851 w 649335"/>
                <a:gd name="connsiteY22" fmla="*/ 555161 h 639334"/>
                <a:gd name="connsiteX23" fmla="*/ 389851 w 649335"/>
                <a:gd name="connsiteY23" fmla="*/ 588060 h 639334"/>
                <a:gd name="connsiteX24" fmla="*/ 337764 w 649335"/>
                <a:gd name="connsiteY24" fmla="*/ 639334 h 639334"/>
                <a:gd name="connsiteX25" fmla="*/ 311710 w 649335"/>
                <a:gd name="connsiteY25" fmla="*/ 639334 h 639334"/>
                <a:gd name="connsiteX26" fmla="*/ 259623 w 649335"/>
                <a:gd name="connsiteY26" fmla="*/ 588060 h 639334"/>
                <a:gd name="connsiteX27" fmla="*/ 259623 w 649335"/>
                <a:gd name="connsiteY27" fmla="*/ 555161 h 639334"/>
                <a:gd name="connsiteX28" fmla="*/ 202655 w 649335"/>
                <a:gd name="connsiteY28" fmla="*/ 532143 h 639334"/>
                <a:gd name="connsiteX29" fmla="*/ 170569 w 649335"/>
                <a:gd name="connsiteY29" fmla="*/ 563535 h 639334"/>
                <a:gd name="connsiteX30" fmla="*/ 96972 w 649335"/>
                <a:gd name="connsiteY30" fmla="*/ 563535 h 639334"/>
                <a:gd name="connsiteX31" fmla="*/ 78479 w 649335"/>
                <a:gd name="connsiteY31" fmla="*/ 545517 h 639334"/>
                <a:gd name="connsiteX32" fmla="*/ 78479 w 649335"/>
                <a:gd name="connsiteY32" fmla="*/ 472972 h 639334"/>
                <a:gd name="connsiteX33" fmla="*/ 110326 w 649335"/>
                <a:gd name="connsiteY33" fmla="*/ 441700 h 639334"/>
                <a:gd name="connsiteX34" fmla="*/ 86495 w 649335"/>
                <a:gd name="connsiteY34" fmla="*/ 385307 h 639334"/>
                <a:gd name="connsiteX35" fmla="*/ 52088 w 649335"/>
                <a:gd name="connsiteY35" fmla="*/ 385307 h 639334"/>
                <a:gd name="connsiteX36" fmla="*/ 0 w 649335"/>
                <a:gd name="connsiteY36" fmla="*/ 334033 h 639334"/>
                <a:gd name="connsiteX37" fmla="*/ 0 w 649335"/>
                <a:gd name="connsiteY37" fmla="*/ 308456 h 639334"/>
                <a:gd name="connsiteX38" fmla="*/ 52088 w 649335"/>
                <a:gd name="connsiteY38" fmla="*/ 257182 h 639334"/>
                <a:gd name="connsiteX39" fmla="*/ 85999 w 649335"/>
                <a:gd name="connsiteY39" fmla="*/ 257182 h 639334"/>
                <a:gd name="connsiteX40" fmla="*/ 109017 w 649335"/>
                <a:gd name="connsiteY40" fmla="*/ 201265 h 639334"/>
                <a:gd name="connsiteX41" fmla="*/ 78439 w 649335"/>
                <a:gd name="connsiteY41" fmla="*/ 171144 h 639334"/>
                <a:gd name="connsiteX42" fmla="*/ 78439 w 649335"/>
                <a:gd name="connsiteY42" fmla="*/ 98599 h 639334"/>
                <a:gd name="connsiteX43" fmla="*/ 96932 w 649335"/>
                <a:gd name="connsiteY43" fmla="*/ 80463 h 639334"/>
                <a:gd name="connsiteX44" fmla="*/ 170529 w 649335"/>
                <a:gd name="connsiteY44" fmla="*/ 80463 h 639334"/>
                <a:gd name="connsiteX45" fmla="*/ 200531 w 649335"/>
                <a:gd name="connsiteY45" fmla="*/ 109989 h 639334"/>
                <a:gd name="connsiteX46" fmla="*/ 259603 w 649335"/>
                <a:gd name="connsiteY46" fmla="*/ 85681 h 639334"/>
                <a:gd name="connsiteX47" fmla="*/ 259603 w 649335"/>
                <a:gd name="connsiteY47" fmla="*/ 51274 h 639334"/>
                <a:gd name="connsiteX48" fmla="*/ 311690 w 649335"/>
                <a:gd name="connsiteY48" fmla="*/ 0 h 639334"/>
                <a:gd name="connsiteX49" fmla="*/ 324747 w 649335"/>
                <a:gd name="connsiteY49" fmla="*/ 181046 h 639334"/>
                <a:gd name="connsiteX50" fmla="*/ 181502 w 649335"/>
                <a:gd name="connsiteY50" fmla="*/ 322068 h 639334"/>
                <a:gd name="connsiteX51" fmla="*/ 324747 w 649335"/>
                <a:gd name="connsiteY51" fmla="*/ 463091 h 639334"/>
                <a:gd name="connsiteX52" fmla="*/ 467992 w 649335"/>
                <a:gd name="connsiteY52" fmla="*/ 322068 h 639334"/>
                <a:gd name="connsiteX53" fmla="*/ 324747 w 649335"/>
                <a:gd name="connsiteY53" fmla="*/ 181046 h 63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49335" h="639334">
                  <a:moveTo>
                    <a:pt x="311690" y="0"/>
                  </a:moveTo>
                  <a:lnTo>
                    <a:pt x="337744" y="0"/>
                  </a:lnTo>
                  <a:cubicBezTo>
                    <a:pt x="366456" y="0"/>
                    <a:pt x="389831" y="22899"/>
                    <a:pt x="389831" y="51274"/>
                  </a:cubicBezTo>
                  <a:lnTo>
                    <a:pt x="389831" y="85681"/>
                  </a:lnTo>
                  <a:cubicBezTo>
                    <a:pt x="410646" y="91277"/>
                    <a:pt x="430529" y="99532"/>
                    <a:pt x="448784" y="109989"/>
                  </a:cubicBezTo>
                  <a:lnTo>
                    <a:pt x="478667" y="80463"/>
                  </a:lnTo>
                  <a:cubicBezTo>
                    <a:pt x="499125" y="60461"/>
                    <a:pt x="532044" y="60461"/>
                    <a:pt x="552383" y="80463"/>
                  </a:cubicBezTo>
                  <a:lnTo>
                    <a:pt x="570758" y="98599"/>
                  </a:lnTo>
                  <a:cubicBezTo>
                    <a:pt x="591215" y="118700"/>
                    <a:pt x="591215" y="151143"/>
                    <a:pt x="570758" y="171144"/>
                  </a:cubicBezTo>
                  <a:lnTo>
                    <a:pt x="540299" y="201265"/>
                  </a:lnTo>
                  <a:cubicBezTo>
                    <a:pt x="550300" y="218707"/>
                    <a:pt x="557959" y="237419"/>
                    <a:pt x="563317" y="257182"/>
                  </a:cubicBezTo>
                  <a:lnTo>
                    <a:pt x="597267" y="257182"/>
                  </a:lnTo>
                  <a:cubicBezTo>
                    <a:pt x="626099" y="257182"/>
                    <a:pt x="649355" y="280101"/>
                    <a:pt x="649335" y="308456"/>
                  </a:cubicBezTo>
                  <a:lnTo>
                    <a:pt x="649335" y="334033"/>
                  </a:lnTo>
                  <a:cubicBezTo>
                    <a:pt x="649335" y="362408"/>
                    <a:pt x="626079" y="385307"/>
                    <a:pt x="597248" y="385307"/>
                  </a:cubicBezTo>
                  <a:lnTo>
                    <a:pt x="562840" y="385307"/>
                  </a:lnTo>
                  <a:cubicBezTo>
                    <a:pt x="557264" y="405309"/>
                    <a:pt x="549248" y="424139"/>
                    <a:pt x="539009" y="441700"/>
                  </a:cubicBezTo>
                  <a:lnTo>
                    <a:pt x="570758" y="472972"/>
                  </a:lnTo>
                  <a:cubicBezTo>
                    <a:pt x="591215" y="492974"/>
                    <a:pt x="591215" y="525397"/>
                    <a:pt x="570758" y="545517"/>
                  </a:cubicBezTo>
                  <a:lnTo>
                    <a:pt x="552383" y="563535"/>
                  </a:lnTo>
                  <a:cubicBezTo>
                    <a:pt x="532024" y="583655"/>
                    <a:pt x="499125" y="583655"/>
                    <a:pt x="478667" y="563535"/>
                  </a:cubicBezTo>
                  <a:lnTo>
                    <a:pt x="446820" y="532143"/>
                  </a:lnTo>
                  <a:cubicBezTo>
                    <a:pt x="429041" y="542025"/>
                    <a:pt x="409853" y="549803"/>
                    <a:pt x="389851" y="555161"/>
                  </a:cubicBezTo>
                  <a:lnTo>
                    <a:pt x="389851" y="588060"/>
                  </a:lnTo>
                  <a:cubicBezTo>
                    <a:pt x="389851" y="616316"/>
                    <a:pt x="366476" y="639334"/>
                    <a:pt x="337764" y="639334"/>
                  </a:cubicBezTo>
                  <a:lnTo>
                    <a:pt x="311710" y="639334"/>
                  </a:lnTo>
                  <a:cubicBezTo>
                    <a:pt x="282879" y="639334"/>
                    <a:pt x="259623" y="616316"/>
                    <a:pt x="259623" y="588060"/>
                  </a:cubicBezTo>
                  <a:lnTo>
                    <a:pt x="259623" y="555161"/>
                  </a:lnTo>
                  <a:cubicBezTo>
                    <a:pt x="239403" y="549823"/>
                    <a:pt x="220334" y="542025"/>
                    <a:pt x="202655" y="532143"/>
                  </a:cubicBezTo>
                  <a:lnTo>
                    <a:pt x="170569" y="563535"/>
                  </a:lnTo>
                  <a:cubicBezTo>
                    <a:pt x="150329" y="583655"/>
                    <a:pt x="117311" y="583655"/>
                    <a:pt x="96972" y="563535"/>
                  </a:cubicBezTo>
                  <a:lnTo>
                    <a:pt x="78479" y="545517"/>
                  </a:lnTo>
                  <a:cubicBezTo>
                    <a:pt x="58239" y="525417"/>
                    <a:pt x="58239" y="492974"/>
                    <a:pt x="78479" y="472972"/>
                  </a:cubicBezTo>
                  <a:lnTo>
                    <a:pt x="110326" y="441700"/>
                  </a:lnTo>
                  <a:cubicBezTo>
                    <a:pt x="100107" y="424139"/>
                    <a:pt x="92071" y="405309"/>
                    <a:pt x="86495" y="385307"/>
                  </a:cubicBezTo>
                  <a:lnTo>
                    <a:pt x="52088" y="385307"/>
                  </a:lnTo>
                  <a:cubicBezTo>
                    <a:pt x="23375" y="385307"/>
                    <a:pt x="0" y="362408"/>
                    <a:pt x="0" y="334033"/>
                  </a:cubicBezTo>
                  <a:lnTo>
                    <a:pt x="0" y="308456"/>
                  </a:lnTo>
                  <a:cubicBezTo>
                    <a:pt x="0" y="280081"/>
                    <a:pt x="23375" y="257182"/>
                    <a:pt x="52088" y="257182"/>
                  </a:cubicBezTo>
                  <a:lnTo>
                    <a:pt x="85999" y="257182"/>
                  </a:lnTo>
                  <a:cubicBezTo>
                    <a:pt x="91456" y="237419"/>
                    <a:pt x="99135" y="218707"/>
                    <a:pt x="109017" y="201265"/>
                  </a:cubicBezTo>
                  <a:lnTo>
                    <a:pt x="78439" y="171144"/>
                  </a:lnTo>
                  <a:cubicBezTo>
                    <a:pt x="58199" y="151143"/>
                    <a:pt x="58199" y="118720"/>
                    <a:pt x="78439" y="98599"/>
                  </a:cubicBezTo>
                  <a:lnTo>
                    <a:pt x="96932" y="80463"/>
                  </a:lnTo>
                  <a:cubicBezTo>
                    <a:pt x="117271" y="60461"/>
                    <a:pt x="150290" y="60461"/>
                    <a:pt x="170529" y="80463"/>
                  </a:cubicBezTo>
                  <a:lnTo>
                    <a:pt x="200531" y="109989"/>
                  </a:lnTo>
                  <a:cubicBezTo>
                    <a:pt x="218906" y="99512"/>
                    <a:pt x="238669" y="91257"/>
                    <a:pt x="259603" y="85681"/>
                  </a:cubicBezTo>
                  <a:lnTo>
                    <a:pt x="259603" y="51274"/>
                  </a:lnTo>
                  <a:cubicBezTo>
                    <a:pt x="259603" y="22899"/>
                    <a:pt x="282859" y="0"/>
                    <a:pt x="311690" y="0"/>
                  </a:cubicBezTo>
                  <a:close/>
                  <a:moveTo>
                    <a:pt x="324747" y="181046"/>
                  </a:moveTo>
                  <a:cubicBezTo>
                    <a:pt x="245574" y="181046"/>
                    <a:pt x="181502" y="244185"/>
                    <a:pt x="181502" y="322068"/>
                  </a:cubicBezTo>
                  <a:cubicBezTo>
                    <a:pt x="181502" y="399951"/>
                    <a:pt x="245574" y="463091"/>
                    <a:pt x="324747" y="463091"/>
                  </a:cubicBezTo>
                  <a:cubicBezTo>
                    <a:pt x="403801" y="463091"/>
                    <a:pt x="467992" y="399951"/>
                    <a:pt x="467992" y="322068"/>
                  </a:cubicBezTo>
                  <a:cubicBezTo>
                    <a:pt x="467992" y="244185"/>
                    <a:pt x="403801" y="181046"/>
                    <a:pt x="324747" y="181046"/>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83" name="任意多边形: 形状 455"/>
            <p:cNvSpPr/>
            <p:nvPr/>
          </p:nvSpPr>
          <p:spPr>
            <a:xfrm>
              <a:off x="6427081" y="3915572"/>
              <a:ext cx="130208" cy="128144"/>
            </a:xfrm>
            <a:custGeom>
              <a:avLst/>
              <a:gdLst>
                <a:gd name="connsiteX0" fmla="*/ 65104 w 130208"/>
                <a:gd name="connsiteY0" fmla="*/ 0 h 128144"/>
                <a:gd name="connsiteX1" fmla="*/ 130208 w 130208"/>
                <a:gd name="connsiteY1" fmla="*/ 64072 h 128144"/>
                <a:gd name="connsiteX2" fmla="*/ 65104 w 130208"/>
                <a:gd name="connsiteY2" fmla="*/ 128144 h 128144"/>
                <a:gd name="connsiteX3" fmla="*/ 0 w 130208"/>
                <a:gd name="connsiteY3" fmla="*/ 64072 h 128144"/>
                <a:gd name="connsiteX4" fmla="*/ 65104 w 130208"/>
                <a:gd name="connsiteY4" fmla="*/ 0 h 128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208" h="128144">
                  <a:moveTo>
                    <a:pt x="65104" y="0"/>
                  </a:moveTo>
                  <a:cubicBezTo>
                    <a:pt x="101019" y="0"/>
                    <a:pt x="130208" y="28712"/>
                    <a:pt x="130208" y="64072"/>
                  </a:cubicBezTo>
                  <a:cubicBezTo>
                    <a:pt x="130208" y="99551"/>
                    <a:pt x="101039" y="128144"/>
                    <a:pt x="65104" y="128144"/>
                  </a:cubicBezTo>
                  <a:cubicBezTo>
                    <a:pt x="29070" y="128144"/>
                    <a:pt x="0" y="99531"/>
                    <a:pt x="0" y="64072"/>
                  </a:cubicBezTo>
                  <a:cubicBezTo>
                    <a:pt x="0" y="28712"/>
                    <a:pt x="29070" y="0"/>
                    <a:pt x="65104" y="0"/>
                  </a:cubicBez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31" name="椭圆 130"/>
          <p:cNvSpPr/>
          <p:nvPr/>
        </p:nvSpPr>
        <p:spPr>
          <a:xfrm>
            <a:off x="7833360" y="1475740"/>
            <a:ext cx="616585" cy="616585"/>
          </a:xfrm>
          <a:prstGeom prst="ellipse">
            <a:avLst/>
          </a:prstGeom>
          <a:solidFill>
            <a:srgbClr val="FFFFFF"/>
          </a:solidFill>
          <a:ln w="12700" cap="flat" cmpd="sng" algn="ctr">
            <a:solidFill>
              <a:srgbClr val="3368FF"/>
            </a:solidFill>
            <a:prstDash val="solid"/>
            <a:miter lim="800000"/>
          </a:ln>
          <a:effectLst>
            <a:outerShdw blurRad="254000" dist="101600" dir="2700000" sx="83000" sy="83000" algn="tl" rotWithShape="0">
              <a:srgbClr val="DCDCDC">
                <a:alpha val="25000"/>
              </a:srgbClr>
            </a:outerShdw>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132" name="组合 131"/>
          <p:cNvGrpSpPr/>
          <p:nvPr/>
        </p:nvGrpSpPr>
        <p:grpSpPr>
          <a:xfrm rot="0">
            <a:off x="8001000" y="1663700"/>
            <a:ext cx="273050" cy="212725"/>
            <a:chOff x="3888843" y="-804410"/>
            <a:chExt cx="272798" cy="212617"/>
          </a:xfrm>
          <a:solidFill>
            <a:srgbClr val="3368FF"/>
          </a:solidFill>
        </p:grpSpPr>
        <p:sp>
          <p:nvSpPr>
            <p:cNvPr id="133" name="任意多边形: 形状 458"/>
            <p:cNvSpPr/>
            <p:nvPr/>
          </p:nvSpPr>
          <p:spPr>
            <a:xfrm>
              <a:off x="3888843" y="-804410"/>
              <a:ext cx="272798" cy="159498"/>
            </a:xfrm>
            <a:custGeom>
              <a:avLst/>
              <a:gdLst>
                <a:gd name="connsiteX0" fmla="*/ 362298 w 362298"/>
                <a:gd name="connsiteY0" fmla="*/ 0 h 211826"/>
                <a:gd name="connsiteX1" fmla="*/ 349728 w 362298"/>
                <a:gd name="connsiteY1" fmla="*/ 36774 h 211826"/>
                <a:gd name="connsiteX2" fmla="*/ 337158 w 362298"/>
                <a:gd name="connsiteY2" fmla="*/ 73548 h 211826"/>
                <a:gd name="connsiteX3" fmla="*/ 322711 w 362298"/>
                <a:gd name="connsiteY3" fmla="*/ 57037 h 211826"/>
                <a:gd name="connsiteX4" fmla="*/ 205071 w 362298"/>
                <a:gd name="connsiteY4" fmla="*/ 157791 h 211826"/>
                <a:gd name="connsiteX5" fmla="*/ 196628 w 362298"/>
                <a:gd name="connsiteY5" fmla="*/ 165108 h 211826"/>
                <a:gd name="connsiteX6" fmla="*/ 186872 w 362298"/>
                <a:gd name="connsiteY6" fmla="*/ 159667 h 211826"/>
                <a:gd name="connsiteX7" fmla="*/ 144282 w 362298"/>
                <a:gd name="connsiteY7" fmla="*/ 136214 h 211826"/>
                <a:gd name="connsiteX8" fmla="*/ 16323 w 362298"/>
                <a:gd name="connsiteY8" fmla="*/ 211826 h 211826"/>
                <a:gd name="connsiteX9" fmla="*/ 0 w 362298"/>
                <a:gd name="connsiteY9" fmla="*/ 184058 h 211826"/>
                <a:gd name="connsiteX10" fmla="*/ 135839 w 362298"/>
                <a:gd name="connsiteY10" fmla="*/ 103755 h 211826"/>
                <a:gd name="connsiteX11" fmla="*/ 143719 w 362298"/>
                <a:gd name="connsiteY11" fmla="*/ 99065 h 211826"/>
                <a:gd name="connsiteX12" fmla="*/ 151787 w 362298"/>
                <a:gd name="connsiteY12" fmla="*/ 103568 h 211826"/>
                <a:gd name="connsiteX13" fmla="*/ 192501 w 362298"/>
                <a:gd name="connsiteY13" fmla="*/ 125895 h 211826"/>
                <a:gd name="connsiteX14" fmla="*/ 301509 w 362298"/>
                <a:gd name="connsiteY14" fmla="*/ 32647 h 211826"/>
                <a:gd name="connsiteX15" fmla="*/ 286124 w 362298"/>
                <a:gd name="connsiteY15" fmla="*/ 15010 h 211826"/>
                <a:gd name="connsiteX16" fmla="*/ 324212 w 362298"/>
                <a:gd name="connsiteY16" fmla="*/ 7505 h 211826"/>
                <a:gd name="connsiteX17" fmla="*/ 362298 w 362298"/>
                <a:gd name="connsiteY17" fmla="*/ 0 h 21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2298" h="211826">
                  <a:moveTo>
                    <a:pt x="362298" y="0"/>
                  </a:moveTo>
                  <a:lnTo>
                    <a:pt x="349728" y="36774"/>
                  </a:lnTo>
                  <a:lnTo>
                    <a:pt x="337158" y="73548"/>
                  </a:lnTo>
                  <a:lnTo>
                    <a:pt x="322711" y="57037"/>
                  </a:lnTo>
                  <a:lnTo>
                    <a:pt x="205071" y="157791"/>
                  </a:lnTo>
                  <a:lnTo>
                    <a:pt x="196628" y="165108"/>
                  </a:lnTo>
                  <a:lnTo>
                    <a:pt x="186872" y="159667"/>
                  </a:lnTo>
                  <a:lnTo>
                    <a:pt x="144282" y="136214"/>
                  </a:lnTo>
                  <a:lnTo>
                    <a:pt x="16323" y="211826"/>
                  </a:lnTo>
                  <a:lnTo>
                    <a:pt x="0" y="184058"/>
                  </a:lnTo>
                  <a:lnTo>
                    <a:pt x="135839" y="103755"/>
                  </a:lnTo>
                  <a:lnTo>
                    <a:pt x="143719" y="99065"/>
                  </a:lnTo>
                  <a:lnTo>
                    <a:pt x="151787" y="103568"/>
                  </a:lnTo>
                  <a:lnTo>
                    <a:pt x="192501" y="125895"/>
                  </a:lnTo>
                  <a:lnTo>
                    <a:pt x="301509" y="32647"/>
                  </a:lnTo>
                  <a:lnTo>
                    <a:pt x="286124" y="15010"/>
                  </a:lnTo>
                  <a:lnTo>
                    <a:pt x="324212" y="7505"/>
                  </a:lnTo>
                  <a:lnTo>
                    <a:pt x="362298"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4" name="任意多边形: 形状 460"/>
            <p:cNvSpPr/>
            <p:nvPr/>
          </p:nvSpPr>
          <p:spPr>
            <a:xfrm>
              <a:off x="4102872" y="-735327"/>
              <a:ext cx="46479" cy="143533"/>
            </a:xfrm>
            <a:custGeom>
              <a:avLst/>
              <a:gdLst>
                <a:gd name="connsiteX0" fmla="*/ 36774 w 61728"/>
                <a:gd name="connsiteY0" fmla="*/ 0 h 190624"/>
                <a:gd name="connsiteX1" fmla="*/ 61728 w 61728"/>
                <a:gd name="connsiteY1" fmla="*/ 28518 h 190624"/>
                <a:gd name="connsiteX2" fmla="*/ 61728 w 61728"/>
                <a:gd name="connsiteY2" fmla="*/ 180493 h 190624"/>
                <a:gd name="connsiteX3" fmla="*/ 51596 w 61728"/>
                <a:gd name="connsiteY3" fmla="*/ 190624 h 190624"/>
                <a:gd name="connsiteX4" fmla="*/ 10132 w 61728"/>
                <a:gd name="connsiteY4" fmla="*/ 190624 h 190624"/>
                <a:gd name="connsiteX5" fmla="*/ 0 w 61728"/>
                <a:gd name="connsiteY5" fmla="*/ 180493 h 190624"/>
                <a:gd name="connsiteX6" fmla="*/ 0 w 61728"/>
                <a:gd name="connsiteY6" fmla="*/ 31520 h 190624"/>
                <a:gd name="connsiteX7" fmla="*/ 36774 w 61728"/>
                <a:gd name="connsiteY7" fmla="*/ 0 h 19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728" h="190624">
                  <a:moveTo>
                    <a:pt x="36774" y="0"/>
                  </a:moveTo>
                  <a:lnTo>
                    <a:pt x="61728" y="28518"/>
                  </a:lnTo>
                  <a:lnTo>
                    <a:pt x="61728" y="180493"/>
                  </a:lnTo>
                  <a:cubicBezTo>
                    <a:pt x="61728" y="186121"/>
                    <a:pt x="57037" y="190624"/>
                    <a:pt x="51596" y="190624"/>
                  </a:cubicBezTo>
                  <a:lnTo>
                    <a:pt x="10132" y="190624"/>
                  </a:lnTo>
                  <a:cubicBezTo>
                    <a:pt x="4503" y="190624"/>
                    <a:pt x="0" y="186121"/>
                    <a:pt x="0" y="180493"/>
                  </a:cubicBezTo>
                  <a:lnTo>
                    <a:pt x="0" y="31520"/>
                  </a:lnTo>
                  <a:lnTo>
                    <a:pt x="36774"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35" name="任意多边形: 形状 461"/>
            <p:cNvSpPr/>
            <p:nvPr/>
          </p:nvSpPr>
          <p:spPr>
            <a:xfrm>
              <a:off x="4037605" y="-695346"/>
              <a:ext cx="46478" cy="103553"/>
            </a:xfrm>
            <a:custGeom>
              <a:avLst/>
              <a:gdLst>
                <a:gd name="connsiteX0" fmla="*/ 61540 w 61727"/>
                <a:gd name="connsiteY0" fmla="*/ 0 h 137527"/>
                <a:gd name="connsiteX1" fmla="*/ 61727 w 61727"/>
                <a:gd name="connsiteY1" fmla="*/ 1501 h 137527"/>
                <a:gd name="connsiteX2" fmla="*/ 61727 w 61727"/>
                <a:gd name="connsiteY2" fmla="*/ 127396 h 137527"/>
                <a:gd name="connsiteX3" fmla="*/ 51596 w 61727"/>
                <a:gd name="connsiteY3" fmla="*/ 137527 h 137527"/>
                <a:gd name="connsiteX4" fmla="*/ 10131 w 61727"/>
                <a:gd name="connsiteY4" fmla="*/ 137527 h 137527"/>
                <a:gd name="connsiteX5" fmla="*/ 0 w 61727"/>
                <a:gd name="connsiteY5" fmla="*/ 127583 h 137527"/>
                <a:gd name="connsiteX6" fmla="*/ 0 w 61727"/>
                <a:gd name="connsiteY6" fmla="*/ 51596 h 137527"/>
                <a:gd name="connsiteX7" fmla="*/ 750 w 61727"/>
                <a:gd name="connsiteY7" fmla="*/ 51971 h 137527"/>
                <a:gd name="connsiteX8" fmla="*/ 61540 w 61727"/>
                <a:gd name="connsiteY8" fmla="*/ 0 h 13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27" h="137527">
                  <a:moveTo>
                    <a:pt x="61540" y="0"/>
                  </a:moveTo>
                  <a:cubicBezTo>
                    <a:pt x="61727" y="375"/>
                    <a:pt x="61727" y="938"/>
                    <a:pt x="61727" y="1501"/>
                  </a:cubicBezTo>
                  <a:lnTo>
                    <a:pt x="61727" y="127396"/>
                  </a:lnTo>
                  <a:cubicBezTo>
                    <a:pt x="61727" y="133024"/>
                    <a:pt x="57037" y="137527"/>
                    <a:pt x="51596" y="137527"/>
                  </a:cubicBezTo>
                  <a:lnTo>
                    <a:pt x="10131" y="137527"/>
                  </a:lnTo>
                  <a:cubicBezTo>
                    <a:pt x="4502" y="137527"/>
                    <a:pt x="0" y="133024"/>
                    <a:pt x="0" y="127583"/>
                  </a:cubicBezTo>
                  <a:lnTo>
                    <a:pt x="0" y="51596"/>
                  </a:lnTo>
                  <a:lnTo>
                    <a:pt x="750" y="51971"/>
                  </a:lnTo>
                  <a:lnTo>
                    <a:pt x="61540"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37" name="任意多边形: 形状 462"/>
            <p:cNvSpPr/>
            <p:nvPr/>
          </p:nvSpPr>
          <p:spPr>
            <a:xfrm>
              <a:off x="3972336" y="-678535"/>
              <a:ext cx="46479" cy="86742"/>
            </a:xfrm>
            <a:custGeom>
              <a:avLst/>
              <a:gdLst>
                <a:gd name="connsiteX0" fmla="*/ 33585 w 61728"/>
                <a:gd name="connsiteY0" fmla="*/ 0 h 115200"/>
                <a:gd name="connsiteX1" fmla="*/ 61728 w 61728"/>
                <a:gd name="connsiteY1" fmla="*/ 15385 h 115200"/>
                <a:gd name="connsiteX2" fmla="*/ 61728 w 61728"/>
                <a:gd name="connsiteY2" fmla="*/ 105069 h 115200"/>
                <a:gd name="connsiteX3" fmla="*/ 51596 w 61728"/>
                <a:gd name="connsiteY3" fmla="*/ 115200 h 115200"/>
                <a:gd name="connsiteX4" fmla="*/ 10132 w 61728"/>
                <a:gd name="connsiteY4" fmla="*/ 115200 h 115200"/>
                <a:gd name="connsiteX5" fmla="*/ 0 w 61728"/>
                <a:gd name="connsiteY5" fmla="*/ 105069 h 115200"/>
                <a:gd name="connsiteX6" fmla="*/ 0 w 61728"/>
                <a:gd name="connsiteY6" fmla="*/ 19888 h 115200"/>
                <a:gd name="connsiteX7" fmla="*/ 33585 w 61728"/>
                <a:gd name="connsiteY7" fmla="*/ 0 h 1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728" h="115200">
                  <a:moveTo>
                    <a:pt x="33585" y="0"/>
                  </a:moveTo>
                  <a:lnTo>
                    <a:pt x="61728" y="15385"/>
                  </a:lnTo>
                  <a:lnTo>
                    <a:pt x="61728" y="105069"/>
                  </a:lnTo>
                  <a:cubicBezTo>
                    <a:pt x="61728" y="110697"/>
                    <a:pt x="57037" y="115200"/>
                    <a:pt x="51596" y="115200"/>
                  </a:cubicBezTo>
                  <a:lnTo>
                    <a:pt x="10132" y="115200"/>
                  </a:lnTo>
                  <a:cubicBezTo>
                    <a:pt x="4503" y="115200"/>
                    <a:pt x="0" y="110697"/>
                    <a:pt x="0" y="105069"/>
                  </a:cubicBezTo>
                  <a:lnTo>
                    <a:pt x="0" y="19888"/>
                  </a:lnTo>
                  <a:lnTo>
                    <a:pt x="33585"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38" name="任意多边形: 形状 463"/>
            <p:cNvSpPr/>
            <p:nvPr/>
          </p:nvSpPr>
          <p:spPr>
            <a:xfrm>
              <a:off x="3907069" y="-652400"/>
              <a:ext cx="46478" cy="60606"/>
            </a:xfrm>
            <a:custGeom>
              <a:avLst/>
              <a:gdLst>
                <a:gd name="connsiteX0" fmla="*/ 61727 w 61727"/>
                <a:gd name="connsiteY0" fmla="*/ 0 h 80490"/>
                <a:gd name="connsiteX1" fmla="*/ 61727 w 61727"/>
                <a:gd name="connsiteY1" fmla="*/ 70359 h 80490"/>
                <a:gd name="connsiteX2" fmla="*/ 51596 w 61727"/>
                <a:gd name="connsiteY2" fmla="*/ 80490 h 80490"/>
                <a:gd name="connsiteX3" fmla="*/ 10131 w 61727"/>
                <a:gd name="connsiteY3" fmla="*/ 80490 h 80490"/>
                <a:gd name="connsiteX4" fmla="*/ 0 w 61727"/>
                <a:gd name="connsiteY4" fmla="*/ 70359 h 80490"/>
                <a:gd name="connsiteX5" fmla="*/ 0 w 61727"/>
                <a:gd name="connsiteY5" fmla="*/ 36399 h 80490"/>
                <a:gd name="connsiteX6" fmla="*/ 61727 w 61727"/>
                <a:gd name="connsiteY6" fmla="*/ 0 h 8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7" h="80490">
                  <a:moveTo>
                    <a:pt x="61727" y="0"/>
                  </a:moveTo>
                  <a:lnTo>
                    <a:pt x="61727" y="70359"/>
                  </a:lnTo>
                  <a:cubicBezTo>
                    <a:pt x="61727" y="75987"/>
                    <a:pt x="57037" y="80490"/>
                    <a:pt x="51596" y="80490"/>
                  </a:cubicBezTo>
                  <a:lnTo>
                    <a:pt x="10131" y="80490"/>
                  </a:lnTo>
                  <a:cubicBezTo>
                    <a:pt x="4502" y="80490"/>
                    <a:pt x="0" y="75987"/>
                    <a:pt x="0" y="70359"/>
                  </a:cubicBezTo>
                  <a:lnTo>
                    <a:pt x="0" y="36399"/>
                  </a:lnTo>
                  <a:lnTo>
                    <a:pt x="61727" y="0"/>
                  </a:lnTo>
                  <a:close/>
                </a:path>
              </a:pathLst>
            </a:custGeom>
            <a:grpFill/>
            <a:ln w="10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40" name="椭圆 139"/>
          <p:cNvSpPr/>
          <p:nvPr/>
        </p:nvSpPr>
        <p:spPr>
          <a:xfrm>
            <a:off x="8428990" y="2631440"/>
            <a:ext cx="616585" cy="616585"/>
          </a:xfrm>
          <a:prstGeom prst="ellipse">
            <a:avLst/>
          </a:prstGeom>
          <a:solidFill>
            <a:srgbClr val="FFFFFF"/>
          </a:solidFill>
          <a:ln w="12700" cap="flat" cmpd="sng" algn="ctr">
            <a:solidFill>
              <a:srgbClr val="3368FF"/>
            </a:solidFill>
            <a:prstDash val="solid"/>
            <a:miter lim="800000"/>
          </a:ln>
          <a:effectLst>
            <a:outerShdw blurRad="254000" dist="101600" dir="2700000" sx="83000" sy="83000" algn="tl" rotWithShape="0">
              <a:srgbClr val="DCDCDC">
                <a:alpha val="25000"/>
              </a:srgbClr>
            </a:outerShdw>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141" name="组合 140"/>
          <p:cNvGrpSpPr/>
          <p:nvPr/>
        </p:nvGrpSpPr>
        <p:grpSpPr>
          <a:xfrm rot="0">
            <a:off x="8569960" y="2813685"/>
            <a:ext cx="317500" cy="252095"/>
            <a:chOff x="5241058" y="-435927"/>
            <a:chExt cx="317500" cy="252095"/>
          </a:xfrm>
          <a:solidFill>
            <a:srgbClr val="3368FF"/>
          </a:solidFill>
        </p:grpSpPr>
        <p:sp>
          <p:nvSpPr>
            <p:cNvPr id="142" name="任意多边形: 形状 54"/>
            <p:cNvSpPr/>
            <p:nvPr/>
          </p:nvSpPr>
          <p:spPr>
            <a:xfrm>
              <a:off x="5280378" y="-435927"/>
              <a:ext cx="236698" cy="25333"/>
            </a:xfrm>
            <a:custGeom>
              <a:avLst/>
              <a:gdLst>
                <a:gd name="connsiteX0" fmla="*/ 47067 w 1241971"/>
                <a:gd name="connsiteY0" fmla="*/ 0 h 123341"/>
                <a:gd name="connsiteX1" fmla="*/ 1196578 w 1241971"/>
                <a:gd name="connsiteY1" fmla="*/ 0 h 123341"/>
                <a:gd name="connsiteX2" fmla="*/ 1241971 w 1241971"/>
                <a:gd name="connsiteY2" fmla="*/ 59717 h 123341"/>
                <a:gd name="connsiteX3" fmla="*/ 1241971 w 1241971"/>
                <a:gd name="connsiteY3" fmla="*/ 61764 h 123341"/>
                <a:gd name="connsiteX4" fmla="*/ 1194904 w 1241971"/>
                <a:gd name="connsiteY4" fmla="*/ 123341 h 123341"/>
                <a:gd name="connsiteX5" fmla="*/ 47067 w 1241971"/>
                <a:gd name="connsiteY5" fmla="*/ 123341 h 123341"/>
                <a:gd name="connsiteX6" fmla="*/ 47067 w 1241971"/>
                <a:gd name="connsiteY6" fmla="*/ 123155 h 123341"/>
                <a:gd name="connsiteX7" fmla="*/ 0 w 1241971"/>
                <a:gd name="connsiteY7" fmla="*/ 61578 h 123341"/>
                <a:gd name="connsiteX8" fmla="*/ 47067 w 1241971"/>
                <a:gd name="connsiteY8" fmla="*/ 0 h 12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971" h="123341">
                  <a:moveTo>
                    <a:pt x="47067" y="0"/>
                  </a:moveTo>
                  <a:lnTo>
                    <a:pt x="1196578" y="0"/>
                  </a:lnTo>
                  <a:cubicBezTo>
                    <a:pt x="1221693" y="0"/>
                    <a:pt x="1241971" y="26789"/>
                    <a:pt x="1241971" y="59717"/>
                  </a:cubicBezTo>
                  <a:lnTo>
                    <a:pt x="1241971" y="61764"/>
                  </a:lnTo>
                  <a:cubicBezTo>
                    <a:pt x="1241971" y="95808"/>
                    <a:pt x="1220949" y="123341"/>
                    <a:pt x="1194904" y="123341"/>
                  </a:cubicBezTo>
                  <a:lnTo>
                    <a:pt x="47067" y="123341"/>
                  </a:lnTo>
                  <a:lnTo>
                    <a:pt x="47067" y="123155"/>
                  </a:lnTo>
                  <a:cubicBezTo>
                    <a:pt x="21208" y="123155"/>
                    <a:pt x="0" y="95436"/>
                    <a:pt x="0" y="61578"/>
                  </a:cubicBezTo>
                  <a:cubicBezTo>
                    <a:pt x="0" y="27533"/>
                    <a:pt x="21022" y="0"/>
                    <a:pt x="47067" y="0"/>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3" name="任意多边形: 形状 55"/>
            <p:cNvSpPr/>
            <p:nvPr/>
          </p:nvSpPr>
          <p:spPr>
            <a:xfrm>
              <a:off x="5280378" y="-395734"/>
              <a:ext cx="236698" cy="25333"/>
            </a:xfrm>
            <a:custGeom>
              <a:avLst/>
              <a:gdLst>
                <a:gd name="connsiteX0" fmla="*/ 47067 w 1241971"/>
                <a:gd name="connsiteY0" fmla="*/ 0 h 123341"/>
                <a:gd name="connsiteX1" fmla="*/ 1196578 w 1241971"/>
                <a:gd name="connsiteY1" fmla="*/ 0 h 123341"/>
                <a:gd name="connsiteX2" fmla="*/ 1241971 w 1241971"/>
                <a:gd name="connsiteY2" fmla="*/ 59717 h 123341"/>
                <a:gd name="connsiteX3" fmla="*/ 1241971 w 1241971"/>
                <a:gd name="connsiteY3" fmla="*/ 61763 h 123341"/>
                <a:gd name="connsiteX4" fmla="*/ 1194904 w 1241971"/>
                <a:gd name="connsiteY4" fmla="*/ 123341 h 123341"/>
                <a:gd name="connsiteX5" fmla="*/ 47067 w 1241971"/>
                <a:gd name="connsiteY5" fmla="*/ 123341 h 123341"/>
                <a:gd name="connsiteX6" fmla="*/ 47067 w 1241971"/>
                <a:gd name="connsiteY6" fmla="*/ 123155 h 123341"/>
                <a:gd name="connsiteX7" fmla="*/ 0 w 1241971"/>
                <a:gd name="connsiteY7" fmla="*/ 61577 h 123341"/>
                <a:gd name="connsiteX8" fmla="*/ 47067 w 1241971"/>
                <a:gd name="connsiteY8" fmla="*/ 0 h 12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971" h="123341">
                  <a:moveTo>
                    <a:pt x="47067" y="0"/>
                  </a:moveTo>
                  <a:lnTo>
                    <a:pt x="1196578" y="0"/>
                  </a:lnTo>
                  <a:cubicBezTo>
                    <a:pt x="1221693" y="0"/>
                    <a:pt x="1241971" y="26789"/>
                    <a:pt x="1241971" y="59717"/>
                  </a:cubicBezTo>
                  <a:lnTo>
                    <a:pt x="1241971" y="61763"/>
                  </a:lnTo>
                  <a:cubicBezTo>
                    <a:pt x="1241971" y="95808"/>
                    <a:pt x="1220949" y="123341"/>
                    <a:pt x="1194904" y="123341"/>
                  </a:cubicBezTo>
                  <a:lnTo>
                    <a:pt x="47067" y="123341"/>
                  </a:lnTo>
                  <a:lnTo>
                    <a:pt x="47067" y="123155"/>
                  </a:lnTo>
                  <a:cubicBezTo>
                    <a:pt x="21208" y="123155"/>
                    <a:pt x="0" y="95436"/>
                    <a:pt x="0" y="61577"/>
                  </a:cubicBezTo>
                  <a:cubicBezTo>
                    <a:pt x="0" y="27533"/>
                    <a:pt x="21022" y="0"/>
                    <a:pt x="47067" y="0"/>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4" name="任意多边形: 形状 56"/>
            <p:cNvSpPr/>
            <p:nvPr/>
          </p:nvSpPr>
          <p:spPr>
            <a:xfrm>
              <a:off x="5280414" y="-355541"/>
              <a:ext cx="236662" cy="64040"/>
            </a:xfrm>
            <a:custGeom>
              <a:avLst/>
              <a:gdLst>
                <a:gd name="connsiteX0" fmla="*/ 27161 w 1241785"/>
                <a:gd name="connsiteY0" fmla="*/ 0 h 311795"/>
                <a:gd name="connsiteX1" fmla="*/ 1214624 w 1241785"/>
                <a:gd name="connsiteY1" fmla="*/ 0 h 311795"/>
                <a:gd name="connsiteX2" fmla="*/ 1241785 w 1241785"/>
                <a:gd name="connsiteY2" fmla="*/ 37207 h 311795"/>
                <a:gd name="connsiteX3" fmla="*/ 1214624 w 1241785"/>
                <a:gd name="connsiteY3" fmla="*/ 74414 h 311795"/>
                <a:gd name="connsiteX4" fmla="*/ 1090910 w 1241785"/>
                <a:gd name="connsiteY4" fmla="*/ 74414 h 311795"/>
                <a:gd name="connsiteX5" fmla="*/ 1023380 w 1241785"/>
                <a:gd name="connsiteY5" fmla="*/ 102133 h 311795"/>
                <a:gd name="connsiteX6" fmla="*/ 819485 w 1241785"/>
                <a:gd name="connsiteY6" fmla="*/ 292261 h 311795"/>
                <a:gd name="connsiteX7" fmla="*/ 772604 w 1241785"/>
                <a:gd name="connsiteY7" fmla="*/ 311795 h 311795"/>
                <a:gd name="connsiteX8" fmla="*/ 473832 w 1241785"/>
                <a:gd name="connsiteY8" fmla="*/ 311795 h 311795"/>
                <a:gd name="connsiteX9" fmla="*/ 459135 w 1241785"/>
                <a:gd name="connsiteY9" fmla="*/ 305284 h 311795"/>
                <a:gd name="connsiteX10" fmla="*/ 253008 w 1241785"/>
                <a:gd name="connsiteY10" fmla="*/ 103994 h 311795"/>
                <a:gd name="connsiteX11" fmla="*/ 183617 w 1241785"/>
                <a:gd name="connsiteY11" fmla="*/ 74414 h 311795"/>
                <a:gd name="connsiteX12" fmla="*/ 27161 w 1241785"/>
                <a:gd name="connsiteY12" fmla="*/ 74414 h 311795"/>
                <a:gd name="connsiteX13" fmla="*/ 0 w 1241785"/>
                <a:gd name="connsiteY13" fmla="*/ 37207 h 311795"/>
                <a:gd name="connsiteX14" fmla="*/ 27161 w 1241785"/>
                <a:gd name="connsiteY14" fmla="*/ 0 h 3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1785" h="311795">
                  <a:moveTo>
                    <a:pt x="27161" y="0"/>
                  </a:moveTo>
                  <a:lnTo>
                    <a:pt x="1214624" y="0"/>
                  </a:lnTo>
                  <a:cubicBezTo>
                    <a:pt x="1229320" y="0"/>
                    <a:pt x="1241785" y="17115"/>
                    <a:pt x="1241785" y="37207"/>
                  </a:cubicBezTo>
                  <a:cubicBezTo>
                    <a:pt x="1241785" y="57299"/>
                    <a:pt x="1229320" y="74414"/>
                    <a:pt x="1214624" y="74414"/>
                  </a:cubicBezTo>
                  <a:lnTo>
                    <a:pt x="1090910" y="74414"/>
                  </a:lnTo>
                  <a:cubicBezTo>
                    <a:pt x="1066540" y="74414"/>
                    <a:pt x="1042541" y="84274"/>
                    <a:pt x="1023380" y="102133"/>
                  </a:cubicBezTo>
                  <a:lnTo>
                    <a:pt x="819485" y="292261"/>
                  </a:lnTo>
                  <a:cubicBezTo>
                    <a:pt x="805718" y="305098"/>
                    <a:pt x="789533" y="311795"/>
                    <a:pt x="772604" y="311795"/>
                  </a:cubicBezTo>
                  <a:lnTo>
                    <a:pt x="473832" y="311795"/>
                  </a:lnTo>
                  <a:cubicBezTo>
                    <a:pt x="468623" y="311795"/>
                    <a:pt x="463414" y="309562"/>
                    <a:pt x="459135" y="305284"/>
                  </a:cubicBezTo>
                  <a:lnTo>
                    <a:pt x="253008" y="103994"/>
                  </a:lnTo>
                  <a:cubicBezTo>
                    <a:pt x="233474" y="85018"/>
                    <a:pt x="208731" y="74414"/>
                    <a:pt x="183617" y="74414"/>
                  </a:cubicBezTo>
                  <a:lnTo>
                    <a:pt x="27161" y="74414"/>
                  </a:lnTo>
                  <a:cubicBezTo>
                    <a:pt x="12464" y="74414"/>
                    <a:pt x="0" y="57299"/>
                    <a:pt x="0" y="37207"/>
                  </a:cubicBezTo>
                  <a:cubicBezTo>
                    <a:pt x="0" y="17115"/>
                    <a:pt x="12464" y="0"/>
                    <a:pt x="27161" y="0"/>
                  </a:cubicBez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5" name="任意多边形: 形状 53"/>
            <p:cNvSpPr/>
            <p:nvPr/>
          </p:nvSpPr>
          <p:spPr>
            <a:xfrm>
              <a:off x="5241058" y="-322458"/>
              <a:ext cx="317500" cy="138626"/>
            </a:xfrm>
            <a:custGeom>
              <a:avLst/>
              <a:gdLst>
                <a:gd name="connsiteX0" fmla="*/ 79623 w 1665944"/>
                <a:gd name="connsiteY0" fmla="*/ 674750 h 674935"/>
                <a:gd name="connsiteX1" fmla="*/ 0 w 1665944"/>
                <a:gd name="connsiteY1" fmla="*/ 572802 h 674935"/>
                <a:gd name="connsiteX2" fmla="*/ 0 w 1665944"/>
                <a:gd name="connsiteY2" fmla="*/ 101947 h 674935"/>
                <a:gd name="connsiteX3" fmla="*/ 79623 w 1665944"/>
                <a:gd name="connsiteY3" fmla="*/ 0 h 674935"/>
                <a:gd name="connsiteX4" fmla="*/ 392906 w 1665944"/>
                <a:gd name="connsiteY4" fmla="*/ 0 h 674935"/>
                <a:gd name="connsiteX5" fmla="*/ 425090 w 1665944"/>
                <a:gd name="connsiteY5" fmla="*/ 372 h 674935"/>
                <a:gd name="connsiteX6" fmla="*/ 632334 w 1665944"/>
                <a:gd name="connsiteY6" fmla="*/ 207801 h 674935"/>
                <a:gd name="connsiteX7" fmla="*/ 701911 w 1665944"/>
                <a:gd name="connsiteY7" fmla="*/ 237567 h 674935"/>
                <a:gd name="connsiteX8" fmla="*/ 982080 w 1665944"/>
                <a:gd name="connsiteY8" fmla="*/ 237567 h 674935"/>
                <a:gd name="connsiteX9" fmla="*/ 1049610 w 1665944"/>
                <a:gd name="connsiteY9" fmla="*/ 209848 h 674935"/>
                <a:gd name="connsiteX10" fmla="*/ 1274341 w 1665944"/>
                <a:gd name="connsiteY10" fmla="*/ 186 h 674935"/>
                <a:gd name="connsiteX11" fmla="*/ 1586322 w 1665944"/>
                <a:gd name="connsiteY11" fmla="*/ 186 h 674935"/>
                <a:gd name="connsiteX12" fmla="*/ 1665945 w 1665944"/>
                <a:gd name="connsiteY12" fmla="*/ 102133 h 674935"/>
                <a:gd name="connsiteX13" fmla="*/ 1665945 w 1665944"/>
                <a:gd name="connsiteY13" fmla="*/ 572988 h 674935"/>
                <a:gd name="connsiteX14" fmla="*/ 1586322 w 1665944"/>
                <a:gd name="connsiteY14" fmla="*/ 674936 h 674935"/>
                <a:gd name="connsiteX15" fmla="*/ 79623 w 1665944"/>
                <a:gd name="connsiteY15" fmla="*/ 674936 h 67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5944" h="674935">
                  <a:moveTo>
                    <a:pt x="79623" y="674750"/>
                  </a:moveTo>
                  <a:cubicBezTo>
                    <a:pt x="35719" y="674750"/>
                    <a:pt x="0" y="628985"/>
                    <a:pt x="0" y="572802"/>
                  </a:cubicBezTo>
                  <a:lnTo>
                    <a:pt x="0" y="101947"/>
                  </a:lnTo>
                  <a:cubicBezTo>
                    <a:pt x="0" y="45765"/>
                    <a:pt x="35719" y="0"/>
                    <a:pt x="79623" y="0"/>
                  </a:cubicBezTo>
                  <a:lnTo>
                    <a:pt x="392906" y="0"/>
                  </a:lnTo>
                  <a:cubicBezTo>
                    <a:pt x="404440" y="0"/>
                    <a:pt x="418393" y="0"/>
                    <a:pt x="425090" y="372"/>
                  </a:cubicBezTo>
                  <a:lnTo>
                    <a:pt x="632334" y="207801"/>
                  </a:lnTo>
                  <a:cubicBezTo>
                    <a:pt x="652053" y="226963"/>
                    <a:pt x="676610" y="237567"/>
                    <a:pt x="701911" y="237567"/>
                  </a:cubicBezTo>
                  <a:lnTo>
                    <a:pt x="982080" y="237567"/>
                  </a:lnTo>
                  <a:cubicBezTo>
                    <a:pt x="1006450" y="237567"/>
                    <a:pt x="1030449" y="227707"/>
                    <a:pt x="1049610" y="209848"/>
                  </a:cubicBezTo>
                  <a:lnTo>
                    <a:pt x="1274341" y="186"/>
                  </a:lnTo>
                  <a:lnTo>
                    <a:pt x="1586322" y="186"/>
                  </a:lnTo>
                  <a:cubicBezTo>
                    <a:pt x="1630226" y="186"/>
                    <a:pt x="1665945" y="45951"/>
                    <a:pt x="1665945" y="102133"/>
                  </a:cubicBezTo>
                  <a:lnTo>
                    <a:pt x="1665945" y="572988"/>
                  </a:lnTo>
                  <a:cubicBezTo>
                    <a:pt x="1665945" y="629171"/>
                    <a:pt x="1630226" y="674936"/>
                    <a:pt x="1586322" y="674936"/>
                  </a:cubicBezTo>
                  <a:lnTo>
                    <a:pt x="79623" y="674936"/>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51" name="椭圆 150"/>
          <p:cNvSpPr/>
          <p:nvPr/>
        </p:nvSpPr>
        <p:spPr>
          <a:xfrm>
            <a:off x="3731260" y="5318125"/>
            <a:ext cx="616585" cy="616585"/>
          </a:xfrm>
          <a:prstGeom prst="ellipse">
            <a:avLst/>
          </a:prstGeom>
          <a:solidFill>
            <a:srgbClr val="FFFFFF"/>
          </a:solidFill>
          <a:ln w="12700" cap="flat" cmpd="sng" algn="ctr">
            <a:solidFill>
              <a:srgbClr val="B3D4FE"/>
            </a:solidFill>
            <a:prstDash val="solid"/>
            <a:miter lim="800000"/>
          </a:ln>
          <a:effectLst>
            <a:outerShdw blurRad="254000" dist="101600" dir="2700000" sx="83000" sy="83000" algn="tl" rotWithShape="0">
              <a:srgbClr val="B3D4FE">
                <a:alpha val="25000"/>
              </a:srgbClr>
            </a:outerShdw>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grpSp>
        <p:nvGrpSpPr>
          <p:cNvPr id="152" name="组合 151"/>
          <p:cNvGrpSpPr/>
          <p:nvPr/>
        </p:nvGrpSpPr>
        <p:grpSpPr>
          <a:xfrm rot="0">
            <a:off x="3903345" y="5495925"/>
            <a:ext cx="272415" cy="261620"/>
            <a:chOff x="7045653" y="-547053"/>
            <a:chExt cx="272306" cy="261511"/>
          </a:xfrm>
          <a:solidFill>
            <a:srgbClr val="B3D4FE"/>
          </a:solidFill>
        </p:grpSpPr>
        <p:sp>
          <p:nvSpPr>
            <p:cNvPr id="154" name="任意多边形: 形状 35"/>
            <p:cNvSpPr/>
            <p:nvPr/>
          </p:nvSpPr>
          <p:spPr>
            <a:xfrm>
              <a:off x="7235426" y="-547053"/>
              <a:ext cx="82533" cy="65246"/>
            </a:xfrm>
            <a:custGeom>
              <a:avLst/>
              <a:gdLst>
                <a:gd name="connsiteX0" fmla="*/ 0 w 483970"/>
                <a:gd name="connsiteY0" fmla="*/ 0 h 382972"/>
                <a:gd name="connsiteX1" fmla="*/ 112495 w 483970"/>
                <a:gd name="connsiteY1" fmla="*/ 112495 h 382972"/>
                <a:gd name="connsiteX2" fmla="*/ 269992 w 483970"/>
                <a:gd name="connsiteY2" fmla="*/ 33524 h 382972"/>
                <a:gd name="connsiteX3" fmla="*/ 483970 w 483970"/>
                <a:gd name="connsiteY3" fmla="*/ 315013 h 382972"/>
                <a:gd name="connsiteX4" fmla="*/ 315459 w 483970"/>
                <a:gd name="connsiteY4" fmla="*/ 213996 h 382972"/>
                <a:gd name="connsiteX5" fmla="*/ 258979 w 483970"/>
                <a:gd name="connsiteY5" fmla="*/ 236488 h 382972"/>
                <a:gd name="connsiteX6" fmla="*/ 405463 w 483970"/>
                <a:gd name="connsiteY6" fmla="*/ 382972 h 382972"/>
                <a:gd name="connsiteX7" fmla="*/ 0 w 483970"/>
                <a:gd name="connsiteY7" fmla="*/ 382972 h 382972"/>
                <a:gd name="connsiteX8" fmla="*/ 0 w 483970"/>
                <a:gd name="connsiteY8" fmla="*/ 0 h 38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970" h="382972">
                  <a:moveTo>
                    <a:pt x="0" y="0"/>
                  </a:moveTo>
                  <a:lnTo>
                    <a:pt x="112495" y="112495"/>
                  </a:lnTo>
                  <a:cubicBezTo>
                    <a:pt x="146019" y="78525"/>
                    <a:pt x="202499" y="33524"/>
                    <a:pt x="269992" y="33524"/>
                  </a:cubicBezTo>
                  <a:cubicBezTo>
                    <a:pt x="371475" y="33524"/>
                    <a:pt x="472492" y="157516"/>
                    <a:pt x="483970" y="315013"/>
                  </a:cubicBezTo>
                  <a:cubicBezTo>
                    <a:pt x="483970" y="315013"/>
                    <a:pt x="393966" y="180008"/>
                    <a:pt x="315459" y="213996"/>
                  </a:cubicBezTo>
                  <a:cubicBezTo>
                    <a:pt x="292968" y="213996"/>
                    <a:pt x="270457" y="236488"/>
                    <a:pt x="258979" y="236488"/>
                  </a:cubicBezTo>
                  <a:lnTo>
                    <a:pt x="405463" y="382972"/>
                  </a:lnTo>
                  <a:lnTo>
                    <a:pt x="0" y="382972"/>
                  </a:lnTo>
                  <a:lnTo>
                    <a:pt x="0"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0" name="任意多边形: 形状 36"/>
            <p:cNvSpPr/>
            <p:nvPr/>
          </p:nvSpPr>
          <p:spPr>
            <a:xfrm>
              <a:off x="7045653" y="-538634"/>
              <a:ext cx="178208" cy="178375"/>
            </a:xfrm>
            <a:custGeom>
              <a:avLst/>
              <a:gdLst>
                <a:gd name="connsiteX0" fmla="*/ 0 w 1058894"/>
                <a:gd name="connsiteY0" fmla="*/ 0 h 1058912"/>
                <a:gd name="connsiteX1" fmla="*/ 1058894 w 1058894"/>
                <a:gd name="connsiteY1" fmla="*/ 0 h 1058912"/>
                <a:gd name="connsiteX2" fmla="*/ 1058894 w 1058894"/>
                <a:gd name="connsiteY2" fmla="*/ 1058912 h 1058912"/>
                <a:gd name="connsiteX3" fmla="*/ 0 w 1058894"/>
                <a:gd name="connsiteY3" fmla="*/ 1058912 h 1058912"/>
                <a:gd name="connsiteX4" fmla="*/ 0 w 1058894"/>
                <a:gd name="connsiteY4" fmla="*/ 0 h 105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894" h="1058912">
                  <a:moveTo>
                    <a:pt x="0" y="0"/>
                  </a:moveTo>
                  <a:lnTo>
                    <a:pt x="1058894" y="0"/>
                  </a:lnTo>
                  <a:lnTo>
                    <a:pt x="1058894" y="1058912"/>
                  </a:lnTo>
                  <a:lnTo>
                    <a:pt x="0" y="1058912"/>
                  </a:lnTo>
                  <a:lnTo>
                    <a:pt x="0"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3" name="任意多边形: 形状 37"/>
            <p:cNvSpPr/>
            <p:nvPr/>
          </p:nvSpPr>
          <p:spPr>
            <a:xfrm>
              <a:off x="7120826" y="-463917"/>
              <a:ext cx="176105" cy="178375"/>
            </a:xfrm>
            <a:custGeom>
              <a:avLst/>
              <a:gdLst>
                <a:gd name="connsiteX0" fmla="*/ 664443 w 1047415"/>
                <a:gd name="connsiteY0" fmla="*/ 0 h 1058912"/>
                <a:gd name="connsiteX1" fmla="*/ 1047415 w 1047415"/>
                <a:gd name="connsiteY1" fmla="*/ 0 h 1058912"/>
                <a:gd name="connsiteX2" fmla="*/ 1047415 w 1047415"/>
                <a:gd name="connsiteY2" fmla="*/ 1058912 h 1058912"/>
                <a:gd name="connsiteX3" fmla="*/ 0 w 1047415"/>
                <a:gd name="connsiteY3" fmla="*/ 1058912 h 1058912"/>
                <a:gd name="connsiteX4" fmla="*/ 0 w 1047415"/>
                <a:gd name="connsiteY4" fmla="*/ 675940 h 1058912"/>
                <a:gd name="connsiteX5" fmla="*/ 168529 w 1047415"/>
                <a:gd name="connsiteY5" fmla="*/ 675940 h 1058912"/>
                <a:gd name="connsiteX6" fmla="*/ 168529 w 1047415"/>
                <a:gd name="connsiteY6" fmla="*/ 878439 h 1058912"/>
                <a:gd name="connsiteX7" fmla="*/ 878439 w 1047415"/>
                <a:gd name="connsiteY7" fmla="*/ 878439 h 1058912"/>
                <a:gd name="connsiteX8" fmla="*/ 878439 w 1047415"/>
                <a:gd name="connsiteY8" fmla="*/ 180008 h 1058912"/>
                <a:gd name="connsiteX9" fmla="*/ 664443 w 1047415"/>
                <a:gd name="connsiteY9" fmla="*/ 180008 h 1058912"/>
                <a:gd name="connsiteX10" fmla="*/ 664443 w 1047415"/>
                <a:gd name="connsiteY10" fmla="*/ 0 h 1058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415" h="1058912">
                  <a:moveTo>
                    <a:pt x="664443" y="0"/>
                  </a:moveTo>
                  <a:lnTo>
                    <a:pt x="1047415" y="0"/>
                  </a:lnTo>
                  <a:lnTo>
                    <a:pt x="1047415" y="1058912"/>
                  </a:lnTo>
                  <a:lnTo>
                    <a:pt x="0" y="1058912"/>
                  </a:lnTo>
                  <a:lnTo>
                    <a:pt x="0" y="675940"/>
                  </a:lnTo>
                  <a:lnTo>
                    <a:pt x="168529" y="675940"/>
                  </a:lnTo>
                  <a:lnTo>
                    <a:pt x="168529" y="878439"/>
                  </a:lnTo>
                  <a:lnTo>
                    <a:pt x="878439" y="878439"/>
                  </a:lnTo>
                  <a:lnTo>
                    <a:pt x="878439" y="180008"/>
                  </a:lnTo>
                  <a:lnTo>
                    <a:pt x="664443" y="180008"/>
                  </a:lnTo>
                  <a:lnTo>
                    <a:pt x="664443"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70" name="椭圆 169"/>
          <p:cNvSpPr/>
          <p:nvPr/>
        </p:nvSpPr>
        <p:spPr>
          <a:xfrm>
            <a:off x="7808595" y="5318125"/>
            <a:ext cx="616585" cy="616585"/>
          </a:xfrm>
          <a:prstGeom prst="ellipse">
            <a:avLst/>
          </a:prstGeom>
          <a:solidFill>
            <a:srgbClr val="FFFFFF"/>
          </a:solidFill>
          <a:ln w="12700" cap="flat" cmpd="sng" algn="ctr">
            <a:solidFill>
              <a:srgbClr val="3368FF"/>
            </a:solidFill>
            <a:prstDash val="solid"/>
            <a:miter lim="800000"/>
          </a:ln>
          <a:effectLst>
            <a:outerShdw blurRad="254000" dist="101600" dir="2700000" sx="83000" sy="83000" algn="tl" rotWithShape="0">
              <a:srgbClr val="DCDCDC">
                <a:alpha val="25000"/>
              </a:srgbClr>
            </a:outerShdw>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171" name="组合 170"/>
          <p:cNvGrpSpPr/>
          <p:nvPr/>
        </p:nvGrpSpPr>
        <p:grpSpPr>
          <a:xfrm rot="0">
            <a:off x="7980680" y="5495925"/>
            <a:ext cx="272415" cy="261620"/>
            <a:chOff x="7045653" y="-547053"/>
            <a:chExt cx="272306" cy="261511"/>
          </a:xfrm>
          <a:solidFill>
            <a:srgbClr val="3368FF"/>
          </a:solidFill>
        </p:grpSpPr>
        <p:sp>
          <p:nvSpPr>
            <p:cNvPr id="172" name="任意多边形: 形状 35"/>
            <p:cNvSpPr/>
            <p:nvPr/>
          </p:nvSpPr>
          <p:spPr>
            <a:xfrm>
              <a:off x="7235426" y="-547053"/>
              <a:ext cx="82533" cy="65246"/>
            </a:xfrm>
            <a:custGeom>
              <a:avLst/>
              <a:gdLst>
                <a:gd name="connsiteX0" fmla="*/ 0 w 483970"/>
                <a:gd name="connsiteY0" fmla="*/ 0 h 382972"/>
                <a:gd name="connsiteX1" fmla="*/ 112495 w 483970"/>
                <a:gd name="connsiteY1" fmla="*/ 112495 h 382972"/>
                <a:gd name="connsiteX2" fmla="*/ 269992 w 483970"/>
                <a:gd name="connsiteY2" fmla="*/ 33524 h 382972"/>
                <a:gd name="connsiteX3" fmla="*/ 483970 w 483970"/>
                <a:gd name="connsiteY3" fmla="*/ 315013 h 382972"/>
                <a:gd name="connsiteX4" fmla="*/ 315459 w 483970"/>
                <a:gd name="connsiteY4" fmla="*/ 213996 h 382972"/>
                <a:gd name="connsiteX5" fmla="*/ 258979 w 483970"/>
                <a:gd name="connsiteY5" fmla="*/ 236488 h 382972"/>
                <a:gd name="connsiteX6" fmla="*/ 405463 w 483970"/>
                <a:gd name="connsiteY6" fmla="*/ 382972 h 382972"/>
                <a:gd name="connsiteX7" fmla="*/ 0 w 483970"/>
                <a:gd name="connsiteY7" fmla="*/ 382972 h 382972"/>
                <a:gd name="connsiteX8" fmla="*/ 0 w 483970"/>
                <a:gd name="connsiteY8" fmla="*/ 0 h 38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970" h="382972">
                  <a:moveTo>
                    <a:pt x="0" y="0"/>
                  </a:moveTo>
                  <a:lnTo>
                    <a:pt x="112495" y="112495"/>
                  </a:lnTo>
                  <a:cubicBezTo>
                    <a:pt x="146019" y="78525"/>
                    <a:pt x="202499" y="33524"/>
                    <a:pt x="269992" y="33524"/>
                  </a:cubicBezTo>
                  <a:cubicBezTo>
                    <a:pt x="371475" y="33524"/>
                    <a:pt x="472492" y="157516"/>
                    <a:pt x="483970" y="315013"/>
                  </a:cubicBezTo>
                  <a:cubicBezTo>
                    <a:pt x="483970" y="315013"/>
                    <a:pt x="393966" y="180008"/>
                    <a:pt x="315459" y="213996"/>
                  </a:cubicBezTo>
                  <a:cubicBezTo>
                    <a:pt x="292968" y="213996"/>
                    <a:pt x="270457" y="236488"/>
                    <a:pt x="258979" y="236488"/>
                  </a:cubicBezTo>
                  <a:lnTo>
                    <a:pt x="405463" y="382972"/>
                  </a:lnTo>
                  <a:lnTo>
                    <a:pt x="0" y="382972"/>
                  </a:lnTo>
                  <a:lnTo>
                    <a:pt x="0"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3" name="任意多边形: 形状 36"/>
            <p:cNvSpPr/>
            <p:nvPr/>
          </p:nvSpPr>
          <p:spPr>
            <a:xfrm>
              <a:off x="7045653" y="-538634"/>
              <a:ext cx="178208" cy="178375"/>
            </a:xfrm>
            <a:custGeom>
              <a:avLst/>
              <a:gdLst>
                <a:gd name="connsiteX0" fmla="*/ 0 w 1058894"/>
                <a:gd name="connsiteY0" fmla="*/ 0 h 1058912"/>
                <a:gd name="connsiteX1" fmla="*/ 1058894 w 1058894"/>
                <a:gd name="connsiteY1" fmla="*/ 0 h 1058912"/>
                <a:gd name="connsiteX2" fmla="*/ 1058894 w 1058894"/>
                <a:gd name="connsiteY2" fmla="*/ 1058912 h 1058912"/>
                <a:gd name="connsiteX3" fmla="*/ 0 w 1058894"/>
                <a:gd name="connsiteY3" fmla="*/ 1058912 h 1058912"/>
                <a:gd name="connsiteX4" fmla="*/ 0 w 1058894"/>
                <a:gd name="connsiteY4" fmla="*/ 0 h 105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894" h="1058912">
                  <a:moveTo>
                    <a:pt x="0" y="0"/>
                  </a:moveTo>
                  <a:lnTo>
                    <a:pt x="1058894" y="0"/>
                  </a:lnTo>
                  <a:lnTo>
                    <a:pt x="1058894" y="1058912"/>
                  </a:lnTo>
                  <a:lnTo>
                    <a:pt x="0" y="1058912"/>
                  </a:lnTo>
                  <a:lnTo>
                    <a:pt x="0"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4" name="任意多边形: 形状 37"/>
            <p:cNvSpPr/>
            <p:nvPr/>
          </p:nvSpPr>
          <p:spPr>
            <a:xfrm>
              <a:off x="7120826" y="-463917"/>
              <a:ext cx="176105" cy="178375"/>
            </a:xfrm>
            <a:custGeom>
              <a:avLst/>
              <a:gdLst>
                <a:gd name="connsiteX0" fmla="*/ 664443 w 1047415"/>
                <a:gd name="connsiteY0" fmla="*/ 0 h 1058912"/>
                <a:gd name="connsiteX1" fmla="*/ 1047415 w 1047415"/>
                <a:gd name="connsiteY1" fmla="*/ 0 h 1058912"/>
                <a:gd name="connsiteX2" fmla="*/ 1047415 w 1047415"/>
                <a:gd name="connsiteY2" fmla="*/ 1058912 h 1058912"/>
                <a:gd name="connsiteX3" fmla="*/ 0 w 1047415"/>
                <a:gd name="connsiteY3" fmla="*/ 1058912 h 1058912"/>
                <a:gd name="connsiteX4" fmla="*/ 0 w 1047415"/>
                <a:gd name="connsiteY4" fmla="*/ 675940 h 1058912"/>
                <a:gd name="connsiteX5" fmla="*/ 168529 w 1047415"/>
                <a:gd name="connsiteY5" fmla="*/ 675940 h 1058912"/>
                <a:gd name="connsiteX6" fmla="*/ 168529 w 1047415"/>
                <a:gd name="connsiteY6" fmla="*/ 878439 h 1058912"/>
                <a:gd name="connsiteX7" fmla="*/ 878439 w 1047415"/>
                <a:gd name="connsiteY7" fmla="*/ 878439 h 1058912"/>
                <a:gd name="connsiteX8" fmla="*/ 878439 w 1047415"/>
                <a:gd name="connsiteY8" fmla="*/ 180008 h 1058912"/>
                <a:gd name="connsiteX9" fmla="*/ 664443 w 1047415"/>
                <a:gd name="connsiteY9" fmla="*/ 180008 h 1058912"/>
                <a:gd name="connsiteX10" fmla="*/ 664443 w 1047415"/>
                <a:gd name="connsiteY10" fmla="*/ 0 h 1058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415" h="1058912">
                  <a:moveTo>
                    <a:pt x="664443" y="0"/>
                  </a:moveTo>
                  <a:lnTo>
                    <a:pt x="1047415" y="0"/>
                  </a:lnTo>
                  <a:lnTo>
                    <a:pt x="1047415" y="1058912"/>
                  </a:lnTo>
                  <a:lnTo>
                    <a:pt x="0" y="1058912"/>
                  </a:lnTo>
                  <a:lnTo>
                    <a:pt x="0" y="675940"/>
                  </a:lnTo>
                  <a:lnTo>
                    <a:pt x="168529" y="675940"/>
                  </a:lnTo>
                  <a:lnTo>
                    <a:pt x="168529" y="878439"/>
                  </a:lnTo>
                  <a:lnTo>
                    <a:pt x="878439" y="878439"/>
                  </a:lnTo>
                  <a:lnTo>
                    <a:pt x="878439" y="180008"/>
                  </a:lnTo>
                  <a:lnTo>
                    <a:pt x="664443" y="180008"/>
                  </a:lnTo>
                  <a:lnTo>
                    <a:pt x="664443" y="0"/>
                  </a:lnTo>
                  <a:close/>
                </a:path>
              </a:pathLst>
            </a:custGeom>
            <a:grpFill/>
            <a:ln w="1860"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75" name="Object29"/>
          <p:cNvSpPr txBox="1"/>
          <p:nvPr/>
        </p:nvSpPr>
        <p:spPr>
          <a:xfrm>
            <a:off x="5146113" y="3879860"/>
            <a:ext cx="1917554" cy="738505"/>
          </a:xfrm>
          <a:prstGeom prst="rect">
            <a:avLst/>
          </a:prstGeom>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marL="0" marR="0" lvl="0" indent="0" algn="ctr" defTabSz="6096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2400" i="0" u="none" strike="noStrike" kern="0" cap="none" spc="0" normalizeH="0" baseline="0" noProof="0" dirty="0">
                <a:ln>
                  <a:noFill/>
                </a:ln>
                <a:solidFill>
                  <a:srgbClr val="383838"/>
                </a:solidFill>
                <a:effectLst/>
                <a:uLnTx/>
                <a:uFillTx/>
                <a:latin typeface="微软雅黑"/>
                <a:ea typeface="微软雅黑"/>
                <a:cs typeface="微软雅黑"/>
                <a:sym typeface="微软雅黑"/>
              </a:rPr>
              <a:t>个人成长</a:t>
            </a:r>
            <a:endParaRPr kumimoji="0" lang="zh-CN" altLang="en-US" sz="24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ctr" defTabSz="60960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2400" i="0" u="none" strike="noStrike" kern="0" cap="none" spc="0" normalizeH="0" baseline="0" noProof="0" dirty="0">
                <a:ln>
                  <a:noFill/>
                </a:ln>
                <a:solidFill>
                  <a:srgbClr val="383838"/>
                </a:solidFill>
                <a:effectLst/>
                <a:uLnTx/>
                <a:uFillTx/>
                <a:latin typeface="微软雅黑"/>
                <a:ea typeface="微软雅黑"/>
                <a:cs typeface="微软雅黑"/>
                <a:sym typeface="微软雅黑"/>
              </a:rPr>
              <a:t>与思考</a:t>
            </a:r>
            <a:endParaRPr kumimoji="0" lang="zh-CN" altLang="en-US" sz="240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84" name="椭圆 183"/>
          <p:cNvSpPr/>
          <p:nvPr/>
        </p:nvSpPr>
        <p:spPr>
          <a:xfrm>
            <a:off x="2727960" y="425450"/>
            <a:ext cx="6736080" cy="6736080"/>
          </a:xfrm>
          <a:prstGeom prst="ellipse">
            <a:avLst/>
          </a:prstGeom>
          <a:noFill/>
          <a:ln w="12700" cap="rnd" cmpd="sng" algn="ctr">
            <a:gradFill flip="none" rotWithShape="1">
              <a:gsLst>
                <a:gs pos="25000">
                  <a:srgbClr val="FFFFFF">
                    <a:alpha val="0"/>
                  </a:srgbClr>
                </a:gs>
                <a:gs pos="0">
                  <a:srgbClr val="B3D4FE"/>
                </a:gs>
              </a:gsLst>
              <a:lin ang="0" scaled="0"/>
              <a:tileRect/>
            </a:gradFill>
            <a:prstDash val="sysDash"/>
            <a:miter lim="800000"/>
          </a:ln>
          <a:effectLst/>
        </p:spPr>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nvGrpSpPr>
          <p:cNvPr id="185" name="组合 184"/>
          <p:cNvGrpSpPr/>
          <p:nvPr/>
        </p:nvGrpSpPr>
        <p:grpSpPr>
          <a:xfrm>
            <a:off x="3325495" y="1636395"/>
            <a:ext cx="229870" cy="229870"/>
            <a:chOff x="8569917" y="3182554"/>
            <a:chExt cx="108000" cy="108000"/>
          </a:xfrm>
        </p:grpSpPr>
        <p:sp>
          <p:nvSpPr>
            <p:cNvPr id="186" name="椭圆 185"/>
            <p:cNvSpPr/>
            <p:nvPr>
              <p:custDataLst>
                <p:tags r:id="rId12"/>
              </p:custDataLst>
            </p:nvPr>
          </p:nvSpPr>
          <p:spPr>
            <a:xfrm flipH="1">
              <a:off x="8569917" y="3182554"/>
              <a:ext cx="108000" cy="108000"/>
            </a:xfrm>
            <a:prstGeom prst="ellipse">
              <a:avLst/>
            </a:prstGeom>
            <a:solidFill>
              <a:srgbClr val="FFFFFF">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sp>
          <p:nvSpPr>
            <p:cNvPr id="187" name="椭圆 186"/>
            <p:cNvSpPr/>
            <p:nvPr/>
          </p:nvSpPr>
          <p:spPr>
            <a:xfrm flipH="1">
              <a:off x="8590055" y="3202692"/>
              <a:ext cx="67724" cy="67724"/>
            </a:xfrm>
            <a:prstGeom prst="ellips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grpSp>
      <p:grpSp>
        <p:nvGrpSpPr>
          <p:cNvPr id="188" name="组合 187"/>
          <p:cNvGrpSpPr/>
          <p:nvPr/>
        </p:nvGrpSpPr>
        <p:grpSpPr>
          <a:xfrm>
            <a:off x="2726690" y="2836545"/>
            <a:ext cx="229870" cy="229870"/>
            <a:chOff x="8569917" y="3182554"/>
            <a:chExt cx="108000" cy="108000"/>
          </a:xfrm>
        </p:grpSpPr>
        <p:sp>
          <p:nvSpPr>
            <p:cNvPr id="189" name="椭圆 188"/>
            <p:cNvSpPr/>
            <p:nvPr>
              <p:custDataLst>
                <p:tags r:id="rId13"/>
              </p:custDataLst>
            </p:nvPr>
          </p:nvSpPr>
          <p:spPr>
            <a:xfrm flipH="1">
              <a:off x="8569917" y="3182554"/>
              <a:ext cx="108000" cy="108000"/>
            </a:xfrm>
            <a:prstGeom prst="ellipse">
              <a:avLst/>
            </a:prstGeom>
            <a:solidFill>
              <a:srgbClr val="FFFFFF">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sp>
          <p:nvSpPr>
            <p:cNvPr id="190" name="椭圆 189"/>
            <p:cNvSpPr/>
            <p:nvPr/>
          </p:nvSpPr>
          <p:spPr>
            <a:xfrm flipH="1">
              <a:off x="8590055" y="3202692"/>
              <a:ext cx="67724" cy="67724"/>
            </a:xfrm>
            <a:prstGeom prst="ellips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grpSp>
      <p:grpSp>
        <p:nvGrpSpPr>
          <p:cNvPr id="191" name="组合 190"/>
          <p:cNvGrpSpPr/>
          <p:nvPr/>
        </p:nvGrpSpPr>
        <p:grpSpPr>
          <a:xfrm>
            <a:off x="2664460" y="4147820"/>
            <a:ext cx="229870" cy="229870"/>
            <a:chOff x="8569917" y="3182554"/>
            <a:chExt cx="108000" cy="108000"/>
          </a:xfrm>
        </p:grpSpPr>
        <p:sp>
          <p:nvSpPr>
            <p:cNvPr id="192" name="椭圆 191"/>
            <p:cNvSpPr/>
            <p:nvPr>
              <p:custDataLst>
                <p:tags r:id="rId14"/>
              </p:custDataLst>
            </p:nvPr>
          </p:nvSpPr>
          <p:spPr>
            <a:xfrm flipH="1">
              <a:off x="8569917" y="3182554"/>
              <a:ext cx="108000" cy="108000"/>
            </a:xfrm>
            <a:prstGeom prst="ellipse">
              <a:avLst/>
            </a:prstGeom>
            <a:solidFill>
              <a:srgbClr val="FFFFFF">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sp>
          <p:nvSpPr>
            <p:cNvPr id="193" name="椭圆 192"/>
            <p:cNvSpPr/>
            <p:nvPr/>
          </p:nvSpPr>
          <p:spPr>
            <a:xfrm flipH="1">
              <a:off x="8590055" y="3202692"/>
              <a:ext cx="67724" cy="67724"/>
            </a:xfrm>
            <a:prstGeom prst="ellips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grpSp>
      <p:grpSp>
        <p:nvGrpSpPr>
          <p:cNvPr id="194" name="组合 193"/>
          <p:cNvGrpSpPr/>
          <p:nvPr/>
        </p:nvGrpSpPr>
        <p:grpSpPr>
          <a:xfrm>
            <a:off x="3180080" y="5536565"/>
            <a:ext cx="229870" cy="229870"/>
            <a:chOff x="8569917" y="3182554"/>
            <a:chExt cx="108000" cy="108000"/>
          </a:xfrm>
        </p:grpSpPr>
        <p:sp>
          <p:nvSpPr>
            <p:cNvPr id="195" name="椭圆 194"/>
            <p:cNvSpPr/>
            <p:nvPr>
              <p:custDataLst>
                <p:tags r:id="rId15"/>
              </p:custDataLst>
            </p:nvPr>
          </p:nvSpPr>
          <p:spPr>
            <a:xfrm flipH="1">
              <a:off x="8569917" y="3182554"/>
              <a:ext cx="108000" cy="108000"/>
            </a:xfrm>
            <a:prstGeom prst="ellipse">
              <a:avLst/>
            </a:prstGeom>
            <a:solidFill>
              <a:srgbClr val="FFFFFF">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sp>
          <p:nvSpPr>
            <p:cNvPr id="196" name="椭圆 195"/>
            <p:cNvSpPr/>
            <p:nvPr/>
          </p:nvSpPr>
          <p:spPr>
            <a:xfrm flipH="1">
              <a:off x="8590055" y="3202692"/>
              <a:ext cx="67724" cy="67724"/>
            </a:xfrm>
            <a:prstGeom prst="ellips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latin typeface="微软雅黑"/>
                <a:ea typeface="微软雅黑"/>
                <a:cs typeface="微软雅黑"/>
              </a:endParaRPr>
            </a:p>
          </p:txBody>
        </p:sp>
      </p:grpSp>
      <p:grpSp>
        <p:nvGrpSpPr>
          <p:cNvPr id="201" name="组合 200"/>
          <p:cNvGrpSpPr/>
          <p:nvPr/>
        </p:nvGrpSpPr>
        <p:grpSpPr>
          <a:xfrm>
            <a:off x="8700770" y="1621155"/>
            <a:ext cx="229870" cy="229870"/>
            <a:chOff x="8569917" y="3182554"/>
            <a:chExt cx="108000" cy="108000"/>
          </a:xfrm>
        </p:grpSpPr>
        <p:sp>
          <p:nvSpPr>
            <p:cNvPr id="202" name="椭圆 201"/>
            <p:cNvSpPr/>
            <p:nvPr>
              <p:custDataLst>
                <p:tags r:id="rId16"/>
              </p:custDataLst>
            </p:nvPr>
          </p:nvSpPr>
          <p:spPr>
            <a:xfrm flipH="1">
              <a:off x="8569917" y="3182554"/>
              <a:ext cx="108000" cy="108000"/>
            </a:xfrm>
            <a:prstGeom prst="ellipse">
              <a:avLst/>
            </a:prstGeom>
            <a:solidFill>
              <a:srgbClr val="E6E6E6">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sp>
          <p:nvSpPr>
            <p:cNvPr id="203" name="椭圆 202"/>
            <p:cNvSpPr/>
            <p:nvPr/>
          </p:nvSpPr>
          <p:spPr>
            <a:xfrm flipH="1">
              <a:off x="8590055" y="3202692"/>
              <a:ext cx="67724" cy="67724"/>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grpSp>
      <p:grpSp>
        <p:nvGrpSpPr>
          <p:cNvPr id="207" name="组合 206"/>
          <p:cNvGrpSpPr/>
          <p:nvPr/>
        </p:nvGrpSpPr>
        <p:grpSpPr>
          <a:xfrm>
            <a:off x="9260840" y="2820670"/>
            <a:ext cx="229870" cy="229870"/>
            <a:chOff x="8569917" y="3182554"/>
            <a:chExt cx="108000" cy="108000"/>
          </a:xfrm>
        </p:grpSpPr>
        <p:sp>
          <p:nvSpPr>
            <p:cNvPr id="208" name="椭圆 207"/>
            <p:cNvSpPr/>
            <p:nvPr>
              <p:custDataLst>
                <p:tags r:id="rId17"/>
              </p:custDataLst>
            </p:nvPr>
          </p:nvSpPr>
          <p:spPr>
            <a:xfrm flipH="1">
              <a:off x="8569917" y="3182554"/>
              <a:ext cx="108000" cy="108000"/>
            </a:xfrm>
            <a:prstGeom prst="ellipse">
              <a:avLst/>
            </a:prstGeom>
            <a:solidFill>
              <a:srgbClr val="E6E6E6">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sp>
          <p:nvSpPr>
            <p:cNvPr id="209" name="椭圆 208"/>
            <p:cNvSpPr/>
            <p:nvPr/>
          </p:nvSpPr>
          <p:spPr>
            <a:xfrm flipH="1">
              <a:off x="8590055" y="3202692"/>
              <a:ext cx="67724" cy="67724"/>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grpSp>
      <p:grpSp>
        <p:nvGrpSpPr>
          <p:cNvPr id="213" name="组合 212"/>
          <p:cNvGrpSpPr/>
          <p:nvPr/>
        </p:nvGrpSpPr>
        <p:grpSpPr>
          <a:xfrm>
            <a:off x="9335770" y="4133850"/>
            <a:ext cx="229870" cy="229870"/>
            <a:chOff x="8569917" y="3182554"/>
            <a:chExt cx="108000" cy="108000"/>
          </a:xfrm>
        </p:grpSpPr>
        <p:sp>
          <p:nvSpPr>
            <p:cNvPr id="214" name="椭圆 213"/>
            <p:cNvSpPr/>
            <p:nvPr>
              <p:custDataLst>
                <p:tags r:id="rId18"/>
              </p:custDataLst>
            </p:nvPr>
          </p:nvSpPr>
          <p:spPr>
            <a:xfrm flipH="1">
              <a:off x="8569917" y="3182554"/>
              <a:ext cx="108000" cy="108000"/>
            </a:xfrm>
            <a:prstGeom prst="ellipse">
              <a:avLst/>
            </a:prstGeom>
            <a:solidFill>
              <a:srgbClr val="E6E6E6">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sp>
          <p:nvSpPr>
            <p:cNvPr id="215" name="椭圆 214"/>
            <p:cNvSpPr/>
            <p:nvPr/>
          </p:nvSpPr>
          <p:spPr>
            <a:xfrm flipH="1">
              <a:off x="8590055" y="3202692"/>
              <a:ext cx="67724" cy="67724"/>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grpSp>
      <p:grpSp>
        <p:nvGrpSpPr>
          <p:cNvPr id="219" name="组合 218"/>
          <p:cNvGrpSpPr/>
          <p:nvPr/>
        </p:nvGrpSpPr>
        <p:grpSpPr>
          <a:xfrm>
            <a:off x="8803640" y="5518785"/>
            <a:ext cx="229870" cy="229870"/>
            <a:chOff x="8569917" y="3182554"/>
            <a:chExt cx="108000" cy="108000"/>
          </a:xfrm>
        </p:grpSpPr>
        <p:sp>
          <p:nvSpPr>
            <p:cNvPr id="220" name="椭圆 219"/>
            <p:cNvSpPr/>
            <p:nvPr>
              <p:custDataLst>
                <p:tags r:id="rId19"/>
              </p:custDataLst>
            </p:nvPr>
          </p:nvSpPr>
          <p:spPr>
            <a:xfrm flipH="1">
              <a:off x="8569917" y="3182554"/>
              <a:ext cx="108000" cy="108000"/>
            </a:xfrm>
            <a:prstGeom prst="ellipse">
              <a:avLst/>
            </a:prstGeom>
            <a:solidFill>
              <a:srgbClr val="E6E6E6">
                <a:alpha val="50000"/>
              </a:srgbClr>
            </a:solidFill>
            <a:ln>
              <a:noFill/>
            </a:ln>
            <a:effectLst>
              <a:outerShdw blurRad="635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sp>
          <p:nvSpPr>
            <p:cNvPr id="221" name="椭圆 220"/>
            <p:cNvSpPr/>
            <p:nvPr/>
          </p:nvSpPr>
          <p:spPr>
            <a:xfrm flipH="1">
              <a:off x="8590055" y="3202692"/>
              <a:ext cx="67724" cy="67724"/>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endParaRPr>
            </a:p>
          </p:txBody>
        </p:sp>
      </p:grpSp>
      <p:pic>
        <p:nvPicPr>
          <p:cNvPr id="15" name="图片 14" descr="屋顶资源管理"/>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355600" y="186055"/>
            <a:ext cx="549910" cy="549910"/>
          </a:xfrm>
          <a:prstGeom prst="rect">
            <a:avLst/>
          </a:prstGeom>
        </p:spPr>
      </p:pic>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中心发散架构 | </a:t>
            </a:r>
            <a:r>
              <a:rPr sz="2500">
                <a:solidFill>
                  <a:srgbClr val="383838"/>
                </a:solidFill>
                <a:effectLst/>
                <a:latin typeface="微软雅黑"/>
                <a:ea typeface="微软雅黑"/>
                <a:cs typeface="微软雅黑"/>
              </a:rPr>
              <a:t>互动直播的模式拆解</a:t>
            </a:r>
            <a:endParaRPr lang="en-US" altLang="zh-CN"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54" name="组合 53"/>
          <p:cNvGrpSpPr/>
          <p:nvPr/>
        </p:nvGrpSpPr>
        <p:grpSpPr>
          <a:xfrm>
            <a:off x="4986816" y="2665867"/>
            <a:ext cx="2241925" cy="2241925"/>
            <a:chOff x="2422524" y="3155668"/>
            <a:chExt cx="2051108" cy="2051108"/>
          </a:xfrm>
          <a:gradFill>
            <a:gsLst>
              <a:gs pos="0">
                <a:srgbClr val="B3D4FE"/>
              </a:gs>
              <a:gs pos="100000">
                <a:srgbClr val="3368FF"/>
              </a:gs>
            </a:gsLst>
            <a:lin ang="18900000" scaled="0"/>
          </a:gradFill>
        </p:grpSpPr>
        <p:sp>
          <p:nvSpPr>
            <p:cNvPr id="114" name="椭圆 113"/>
            <p:cNvSpPr/>
            <p:nvPr/>
          </p:nvSpPr>
          <p:spPr>
            <a:xfrm>
              <a:off x="2422524" y="3155668"/>
              <a:ext cx="2051108" cy="2051108"/>
            </a:xfrm>
            <a:prstGeom prst="ellipse">
              <a:avLst/>
            </a:prstGeom>
            <a:grpFill/>
            <a:ln w="12700" cap="flat">
              <a:noFill/>
              <a:prstDash val="solid"/>
              <a:miter lim="800000"/>
            </a:ln>
            <a:effectLst/>
            <a:sp3d/>
          </p:spPr>
          <p:txBody>
            <a:bodyPr rot="0" spcFirstLastPara="1" vertOverflow="overflow" horzOverflow="overflow" vert="horz" wrap="square" lIns="0" tIns="0" rIns="0" bIns="0" numCol="1" spcCol="38100" rtlCol="0" anchor="ctr">
              <a:noAutofit/>
            </a:bodyPr>
            <a:lstStyle/>
            <a:p>
              <a:pPr marL="0" marR="0" lvl="0" indent="0" defTabSz="91440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1"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grpSp>
          <p:nvGrpSpPr>
            <p:cNvPr id="115" name="组合 114"/>
            <p:cNvGrpSpPr/>
            <p:nvPr/>
          </p:nvGrpSpPr>
          <p:grpSpPr>
            <a:xfrm>
              <a:off x="2747283" y="3782665"/>
              <a:ext cx="1401591" cy="780294"/>
              <a:chOff x="2781277" y="3782665"/>
              <a:chExt cx="1401591" cy="780294"/>
            </a:xfrm>
            <a:grpFill/>
          </p:grpSpPr>
          <p:sp>
            <p:nvSpPr>
              <p:cNvPr id="116" name="Object29"/>
              <p:cNvSpPr txBox="1"/>
              <p:nvPr/>
            </p:nvSpPr>
            <p:spPr>
              <a:xfrm>
                <a:off x="2781277" y="3782665"/>
                <a:ext cx="1401591" cy="337080"/>
              </a:xfrm>
              <a:prstGeom prst="rect">
                <a:avLst/>
              </a:prstGeom>
              <a:grpFill/>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hangingPunct="0">
                  <a:lnSpc>
                    <a:spcPct val="130000"/>
                  </a:lnSpc>
                  <a:defRPr>
                    <a:latin typeface="微软雅黑"/>
                    <a:ea typeface="微软雅黑"/>
                    <a:cs typeface="微软雅黑"/>
                  </a:defRPr>
                </a:pPr>
                <a:r>
                  <a:rPr lang="zh-CN" altLang="en-US" kern="0" dirty="0">
                    <a:latin typeface="微软雅黑"/>
                    <a:ea typeface="微软雅黑"/>
                    <a:cs typeface="微软雅黑"/>
                    <a:sym typeface="微软雅黑"/>
                  </a:rPr>
                  <a:t>互动直播</a:t>
                </a:r>
                <a:endParaRPr lang="zh-CN" altLang="en-US" kern="0" dirty="0">
                  <a:latin typeface="微软雅黑"/>
                  <a:ea typeface="微软雅黑"/>
                  <a:cs typeface="微软雅黑"/>
                  <a:sym typeface="微软雅黑"/>
                </a:endParaRPr>
              </a:p>
            </p:txBody>
          </p:sp>
          <p:cxnSp>
            <p:nvCxnSpPr>
              <p:cNvPr id="117" name="直线连接符 116"/>
              <p:cNvCxnSpPr/>
              <p:nvPr/>
            </p:nvCxnSpPr>
            <p:spPr>
              <a:xfrm flipH="1">
                <a:off x="2807096" y="4166082"/>
                <a:ext cx="1349952" cy="0"/>
              </a:xfrm>
              <a:prstGeom prst="line">
                <a:avLst/>
              </a:prstGeom>
              <a:grpFill/>
              <a:ln w="9525">
                <a:gradFill>
                  <a:gsLst>
                    <a:gs pos="0">
                      <a:srgbClr val="FFFFFF">
                        <a:alpha val="0"/>
                      </a:srgbClr>
                    </a:gs>
                    <a:gs pos="50000">
                      <a:srgbClr val="FFFFFF"/>
                    </a:gs>
                    <a:gs pos="100000">
                      <a:srgbClr val="FFFFFF">
                        <a:alpha val="0"/>
                      </a:srgbClr>
                    </a:gs>
                  </a:gsLst>
                  <a:lin ang="0" scaled="0"/>
                </a:gradFill>
                <a:prstDash val="dash"/>
              </a:ln>
            </p:spPr>
            <p:style>
              <a:lnRef idx="1">
                <a:srgbClr val="0042FF"/>
              </a:lnRef>
              <a:fillRef idx="0">
                <a:srgbClr val="0042FF"/>
              </a:fillRef>
              <a:effectRef idx="0">
                <a:srgbClr val="0042FF"/>
              </a:effectRef>
              <a:fontRef idx="minor">
                <a:srgbClr val="383838"/>
              </a:fontRef>
            </p:style>
          </p:cxnSp>
          <p:sp>
            <p:nvSpPr>
              <p:cNvPr id="3" name="Object60"/>
              <p:cNvSpPr/>
              <p:nvPr/>
            </p:nvSpPr>
            <p:spPr>
              <a:xfrm>
                <a:off x="2901122" y="4255182"/>
                <a:ext cx="1161901" cy="307777"/>
              </a:xfrm>
              <a:prstGeom prst="rect">
                <a:avLst/>
              </a:prstGeom>
              <a:grpFill/>
            </p:spPr>
            <p:txBody>
              <a:bodyPr wrap="square" lIns="0" tIns="0" rIns="0" bIns="0" rtlCol="0" anchor="t">
                <a:spAutoFit/>
              </a:bodyPr>
              <a:lstStyle/>
              <a:p>
                <a:pPr algn="ctr" defTabSz="731520">
                  <a:defRPr>
                    <a:latin typeface="微软雅黑"/>
                    <a:ea typeface="微软雅黑"/>
                    <a:cs typeface="微软雅黑"/>
                  </a:defRPr>
                </a:pPr>
                <a:r>
                  <a:rPr lang="zh-CN" altLang="en-US" sz="1000" b="1" dirty="0">
                    <a:solidFill>
                      <a:srgbClr val="383838"/>
                    </a:solidFill>
                    <a:latin typeface="微软雅黑"/>
                    <a:ea typeface="微软雅黑"/>
                    <a:cs typeface="微软雅黑"/>
                  </a:rPr>
                  <a:t>互动强 销售前置</a:t>
                </a:r>
                <a:endParaRPr lang="en-US" altLang="zh-CN" sz="1000" b="1" dirty="0">
                  <a:solidFill>
                    <a:srgbClr val="383838"/>
                  </a:solidFill>
                  <a:latin typeface="微软雅黑"/>
                  <a:ea typeface="微软雅黑"/>
                  <a:cs typeface="微软雅黑"/>
                </a:endParaRPr>
              </a:p>
              <a:p>
                <a:pPr algn="ctr" defTabSz="731520">
                  <a:defRPr>
                    <a:latin typeface="微软雅黑"/>
                    <a:ea typeface="微软雅黑"/>
                    <a:cs typeface="微软雅黑"/>
                  </a:defRPr>
                </a:pPr>
                <a:r>
                  <a:rPr lang="zh-CN" altLang="en-US" sz="1000" b="1" dirty="0">
                    <a:solidFill>
                      <a:srgbClr val="383838"/>
                    </a:solidFill>
                    <a:latin typeface="微软雅黑"/>
                    <a:ea typeface="微软雅黑"/>
                    <a:cs typeface="微软雅黑"/>
                  </a:rPr>
                  <a:t>成本低 覆盖广</a:t>
                </a:r>
                <a:endParaRPr lang="en-US" altLang="zh-CN" sz="1000" b="1" dirty="0">
                  <a:solidFill>
                    <a:srgbClr val="383838"/>
                  </a:solidFill>
                  <a:latin typeface="微软雅黑"/>
                  <a:ea typeface="微软雅黑"/>
                  <a:cs typeface="微软雅黑"/>
                </a:endParaRPr>
              </a:p>
            </p:txBody>
          </p:sp>
        </p:grpSp>
      </p:grpSp>
      <p:sp>
        <p:nvSpPr>
          <p:cNvPr id="4" name="梯形 17"/>
          <p:cNvSpPr/>
          <p:nvPr/>
        </p:nvSpPr>
        <p:spPr>
          <a:xfrm rot="16200000">
            <a:off x="6949545" y="3491785"/>
            <a:ext cx="1166833" cy="597029"/>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591374 h 898362"/>
              <a:gd name="connsiteX1-133" fmla="*/ 207061 w 1156675"/>
              <a:gd name="connsiteY1-134" fmla="*/ 58481 h 898362"/>
              <a:gd name="connsiteX2-135" fmla="*/ 962937 w 1156675"/>
              <a:gd name="connsiteY2-136" fmla="*/ 0 h 898362"/>
              <a:gd name="connsiteX3-137" fmla="*/ 1156675 w 1156675"/>
              <a:gd name="connsiteY3-138" fmla="*/ 586502 h 898362"/>
              <a:gd name="connsiteX4-139" fmla="*/ 0 w 1156675"/>
              <a:gd name="connsiteY4-140" fmla="*/ 591374 h 898362"/>
              <a:gd name="connsiteX0-141" fmla="*/ 0 w 1156675"/>
              <a:gd name="connsiteY0-142" fmla="*/ 532892 h 839880"/>
              <a:gd name="connsiteX1-143" fmla="*/ 207061 w 1156675"/>
              <a:gd name="connsiteY1-144" fmla="*/ -1 h 839880"/>
              <a:gd name="connsiteX2-145" fmla="*/ 949611 w 1156675"/>
              <a:gd name="connsiteY2-146" fmla="*/ 19491 h 839880"/>
              <a:gd name="connsiteX3-147" fmla="*/ 1156675 w 1156675"/>
              <a:gd name="connsiteY3-148" fmla="*/ 528020 h 839880"/>
              <a:gd name="connsiteX4-149" fmla="*/ 0 w 1156675"/>
              <a:gd name="connsiteY4-150" fmla="*/ 532892 h 839880"/>
              <a:gd name="connsiteX0-151" fmla="*/ 0 w 1140019"/>
              <a:gd name="connsiteY0-152" fmla="*/ 532894 h 846148"/>
              <a:gd name="connsiteX1-153" fmla="*/ 207061 w 1140019"/>
              <a:gd name="connsiteY1-154" fmla="*/ 1 h 846148"/>
              <a:gd name="connsiteX2-155" fmla="*/ 949611 w 1140019"/>
              <a:gd name="connsiteY2-156" fmla="*/ 19493 h 846148"/>
              <a:gd name="connsiteX3-157" fmla="*/ 1140019 w 1140019"/>
              <a:gd name="connsiteY3-158" fmla="*/ 542642 h 846148"/>
              <a:gd name="connsiteX4-159" fmla="*/ 0 w 1140019"/>
              <a:gd name="connsiteY4-160" fmla="*/ 532894 h 846148"/>
              <a:gd name="connsiteX0-161" fmla="*/ 1 w 1130027"/>
              <a:gd name="connsiteY0-162" fmla="*/ 542642 h 851698"/>
              <a:gd name="connsiteX1-163" fmla="*/ 197069 w 1130027"/>
              <a:gd name="connsiteY1-164" fmla="*/ -1 h 851698"/>
              <a:gd name="connsiteX2-165" fmla="*/ 939619 w 1130027"/>
              <a:gd name="connsiteY2-166" fmla="*/ 19491 h 851698"/>
              <a:gd name="connsiteX3-167" fmla="*/ 1130027 w 1130027"/>
              <a:gd name="connsiteY3-168" fmla="*/ 542640 h 851698"/>
              <a:gd name="connsiteX4-169" fmla="*/ 1 w 1130027"/>
              <a:gd name="connsiteY4-170" fmla="*/ 542642 h 851698"/>
              <a:gd name="connsiteX0-171" fmla="*/ 0 w 1130026"/>
              <a:gd name="connsiteY0-172" fmla="*/ 542644 h 835906"/>
              <a:gd name="connsiteX1-173" fmla="*/ 197068 w 1130026"/>
              <a:gd name="connsiteY1-174" fmla="*/ 1 h 835906"/>
              <a:gd name="connsiteX2-175" fmla="*/ 939618 w 1130026"/>
              <a:gd name="connsiteY2-176" fmla="*/ 19493 h 835906"/>
              <a:gd name="connsiteX3-177" fmla="*/ 1130026 w 1130026"/>
              <a:gd name="connsiteY3-178" fmla="*/ 542642 h 835906"/>
              <a:gd name="connsiteX4-179" fmla="*/ 0 w 1130026"/>
              <a:gd name="connsiteY4-180" fmla="*/ 542644 h 835906"/>
              <a:gd name="connsiteX0-181" fmla="*/ 0 w 1130026"/>
              <a:gd name="connsiteY0-182" fmla="*/ 542642 h 824387"/>
              <a:gd name="connsiteX1-183" fmla="*/ 197068 w 1130026"/>
              <a:gd name="connsiteY1-184" fmla="*/ -1 h 824387"/>
              <a:gd name="connsiteX2-185" fmla="*/ 939618 w 1130026"/>
              <a:gd name="connsiteY2-186" fmla="*/ 19491 h 824387"/>
              <a:gd name="connsiteX3-187" fmla="*/ 1130026 w 1130026"/>
              <a:gd name="connsiteY3-188" fmla="*/ 542640 h 824387"/>
              <a:gd name="connsiteX4-189" fmla="*/ 0 w 1130026"/>
              <a:gd name="connsiteY4-190" fmla="*/ 542642 h 824387"/>
              <a:gd name="connsiteX0-191" fmla="*/ 0 w 1120032"/>
              <a:gd name="connsiteY0-192" fmla="*/ 542644 h 816335"/>
              <a:gd name="connsiteX1-193" fmla="*/ 197068 w 1120032"/>
              <a:gd name="connsiteY1-194" fmla="*/ 1 h 816335"/>
              <a:gd name="connsiteX2-195" fmla="*/ 939618 w 1120032"/>
              <a:gd name="connsiteY2-196" fmla="*/ 19493 h 816335"/>
              <a:gd name="connsiteX3-197" fmla="*/ 1120032 w 1120032"/>
              <a:gd name="connsiteY3-198" fmla="*/ 523149 h 816335"/>
              <a:gd name="connsiteX4-199" fmla="*/ 0 w 1120032"/>
              <a:gd name="connsiteY4-200" fmla="*/ 542644 h 816335"/>
              <a:gd name="connsiteX0-201" fmla="*/ 0 w 1120032"/>
              <a:gd name="connsiteY0-202" fmla="*/ 542642 h 832391"/>
              <a:gd name="connsiteX1-203" fmla="*/ 197068 w 1120032"/>
              <a:gd name="connsiteY1-204" fmla="*/ -1 h 832391"/>
              <a:gd name="connsiteX2-205" fmla="*/ 939618 w 1120032"/>
              <a:gd name="connsiteY2-206" fmla="*/ 19491 h 832391"/>
              <a:gd name="connsiteX3-207" fmla="*/ 1120032 w 1120032"/>
              <a:gd name="connsiteY3-208" fmla="*/ 523147 h 832391"/>
              <a:gd name="connsiteX4-209" fmla="*/ 0 w 1120032"/>
              <a:gd name="connsiteY4-210" fmla="*/ 542642 h 832391"/>
              <a:gd name="connsiteX0-211" fmla="*/ 0 w 1120032"/>
              <a:gd name="connsiteY0-212" fmla="*/ 542644 h 838346"/>
              <a:gd name="connsiteX1-213" fmla="*/ 197068 w 1120032"/>
              <a:gd name="connsiteY1-214" fmla="*/ 1 h 838346"/>
              <a:gd name="connsiteX2-215" fmla="*/ 939618 w 1120032"/>
              <a:gd name="connsiteY2-216" fmla="*/ 19493 h 838346"/>
              <a:gd name="connsiteX3-217" fmla="*/ 1120032 w 1120032"/>
              <a:gd name="connsiteY3-218" fmla="*/ 523149 h 838346"/>
              <a:gd name="connsiteX4-219" fmla="*/ 0 w 1120032"/>
              <a:gd name="connsiteY4-220" fmla="*/ 542644 h 83834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20032" h="838346">
                <a:moveTo>
                  <a:pt x="0" y="542644"/>
                </a:moveTo>
                <a:lnTo>
                  <a:pt x="197068" y="1"/>
                </a:lnTo>
                <a:cubicBezTo>
                  <a:pt x="453624" y="150758"/>
                  <a:pt x="664010" y="168309"/>
                  <a:pt x="939618" y="19493"/>
                </a:cubicBezTo>
                <a:lnTo>
                  <a:pt x="1120032" y="523149"/>
                </a:lnTo>
                <a:cubicBezTo>
                  <a:pt x="877880" y="863249"/>
                  <a:pt x="385902" y="1008780"/>
                  <a:pt x="0" y="542644"/>
                </a:cubicBezTo>
                <a:close/>
              </a:path>
            </a:pathLst>
          </a:custGeom>
          <a:solidFill>
            <a:srgbClr val="0042FF">
              <a:alpha val="9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b="1">
              <a:solidFill>
                <a:srgbClr val="FFFFFF"/>
              </a:solidFill>
              <a:latin typeface="微软雅黑"/>
              <a:ea typeface="微软雅黑"/>
              <a:cs typeface="微软雅黑"/>
            </a:endParaRPr>
          </a:p>
        </p:txBody>
      </p:sp>
      <p:sp>
        <p:nvSpPr>
          <p:cNvPr id="6" name="梯形 17"/>
          <p:cNvSpPr/>
          <p:nvPr/>
        </p:nvSpPr>
        <p:spPr>
          <a:xfrm rot="16200000">
            <a:off x="7064406" y="3034678"/>
            <a:ext cx="2676841" cy="1493889"/>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944308">
                <a:moveTo>
                  <a:pt x="0" y="637320"/>
                </a:moveTo>
                <a:lnTo>
                  <a:pt x="303382" y="14308"/>
                </a:lnTo>
                <a:cubicBezTo>
                  <a:pt x="559938" y="228245"/>
                  <a:pt x="667771" y="171049"/>
                  <a:pt x="845153" y="0"/>
                </a:cubicBezTo>
                <a:lnTo>
                  <a:pt x="1156675" y="632448"/>
                </a:lnTo>
                <a:cubicBezTo>
                  <a:pt x="921192" y="957920"/>
                  <a:pt x="382573" y="1127818"/>
                  <a:pt x="0" y="637320"/>
                </a:cubicBezTo>
                <a:close/>
              </a:path>
            </a:pathLst>
          </a:custGeom>
          <a:solidFill>
            <a:srgbClr val="668EFF">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b="1">
              <a:latin typeface="微软雅黑"/>
              <a:ea typeface="微软雅黑"/>
              <a:cs typeface="微软雅黑"/>
            </a:endParaRPr>
          </a:p>
        </p:txBody>
      </p:sp>
      <p:sp>
        <p:nvSpPr>
          <p:cNvPr id="14" name="梯形 17"/>
          <p:cNvSpPr/>
          <p:nvPr/>
        </p:nvSpPr>
        <p:spPr>
          <a:xfrm rot="16200000">
            <a:off x="7494673" y="2475661"/>
            <a:ext cx="5005145" cy="2487942"/>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 name="connsiteX0-191" fmla="*/ 0 w 1156675"/>
              <a:gd name="connsiteY0-192" fmla="*/ 690178 h 997166"/>
              <a:gd name="connsiteX1-193" fmla="*/ 263120 w 1156675"/>
              <a:gd name="connsiteY1-194" fmla="*/ 0 h 997166"/>
              <a:gd name="connsiteX2-195" fmla="*/ 845153 w 1156675"/>
              <a:gd name="connsiteY2-196" fmla="*/ 52858 h 997166"/>
              <a:gd name="connsiteX3-197" fmla="*/ 1156675 w 1156675"/>
              <a:gd name="connsiteY3-198" fmla="*/ 685306 h 997166"/>
              <a:gd name="connsiteX4-199" fmla="*/ 0 w 1156675"/>
              <a:gd name="connsiteY4-200" fmla="*/ 690178 h 997166"/>
              <a:gd name="connsiteX0-201" fmla="*/ 0 w 1156675"/>
              <a:gd name="connsiteY0-202" fmla="*/ 690178 h 997166"/>
              <a:gd name="connsiteX1-203" fmla="*/ 263120 w 1156675"/>
              <a:gd name="connsiteY1-204" fmla="*/ 0 h 997166"/>
              <a:gd name="connsiteX2-205" fmla="*/ 845153 w 1156675"/>
              <a:gd name="connsiteY2-206" fmla="*/ 52858 h 997166"/>
              <a:gd name="connsiteX3-207" fmla="*/ 1156675 w 1156675"/>
              <a:gd name="connsiteY3-208" fmla="*/ 685306 h 997166"/>
              <a:gd name="connsiteX4-209" fmla="*/ 0 w 1156675"/>
              <a:gd name="connsiteY4-210" fmla="*/ 690178 h 997166"/>
              <a:gd name="connsiteX0-211" fmla="*/ 0 w 1156675"/>
              <a:gd name="connsiteY0-212" fmla="*/ 690178 h 997166"/>
              <a:gd name="connsiteX1-213" fmla="*/ 263120 w 1156675"/>
              <a:gd name="connsiteY1-214" fmla="*/ 0 h 997166"/>
              <a:gd name="connsiteX2-215" fmla="*/ 872700 w 1156675"/>
              <a:gd name="connsiteY2-216" fmla="*/ 2484 h 997166"/>
              <a:gd name="connsiteX3-217" fmla="*/ 1156675 w 1156675"/>
              <a:gd name="connsiteY3-218" fmla="*/ 685306 h 997166"/>
              <a:gd name="connsiteX4-219" fmla="*/ 0 w 1156675"/>
              <a:gd name="connsiteY4-220" fmla="*/ 690178 h 997166"/>
              <a:gd name="connsiteX0-221" fmla="*/ 0 w 1156675"/>
              <a:gd name="connsiteY0-222" fmla="*/ 690178 h 997166"/>
              <a:gd name="connsiteX1-223" fmla="*/ 263120 w 1156675"/>
              <a:gd name="connsiteY1-224" fmla="*/ 0 h 997166"/>
              <a:gd name="connsiteX2-225" fmla="*/ 872700 w 1156675"/>
              <a:gd name="connsiteY2-226" fmla="*/ 2484 h 997166"/>
              <a:gd name="connsiteX3-227" fmla="*/ 1156675 w 1156675"/>
              <a:gd name="connsiteY3-228" fmla="*/ 685306 h 997166"/>
              <a:gd name="connsiteX4-229" fmla="*/ 0 w 1156675"/>
              <a:gd name="connsiteY4-230" fmla="*/ 690178 h 997166"/>
              <a:gd name="connsiteX0-231" fmla="*/ 0 w 1156675"/>
              <a:gd name="connsiteY0-232" fmla="*/ 690178 h 997166"/>
              <a:gd name="connsiteX1-233" fmla="*/ 263120 w 1156675"/>
              <a:gd name="connsiteY1-234" fmla="*/ 0 h 997166"/>
              <a:gd name="connsiteX2-235" fmla="*/ 872700 w 1156675"/>
              <a:gd name="connsiteY2-236" fmla="*/ 2484 h 997166"/>
              <a:gd name="connsiteX3-237" fmla="*/ 1156675 w 1156675"/>
              <a:gd name="connsiteY3-238" fmla="*/ 685306 h 997166"/>
              <a:gd name="connsiteX4-239" fmla="*/ 0 w 1156675"/>
              <a:gd name="connsiteY4-240" fmla="*/ 690178 h 997166"/>
              <a:gd name="connsiteX0-241" fmla="*/ 0 w 1156675"/>
              <a:gd name="connsiteY0-242" fmla="*/ 699927 h 1006915"/>
              <a:gd name="connsiteX1-243" fmla="*/ 263120 w 1156675"/>
              <a:gd name="connsiteY1-244" fmla="*/ 9749 h 1006915"/>
              <a:gd name="connsiteX2-245" fmla="*/ 879647 w 1156675"/>
              <a:gd name="connsiteY2-246" fmla="*/ 0 h 1006915"/>
              <a:gd name="connsiteX3-247" fmla="*/ 1156675 w 1156675"/>
              <a:gd name="connsiteY3-248" fmla="*/ 695055 h 1006915"/>
              <a:gd name="connsiteX4-249" fmla="*/ 0 w 1156675"/>
              <a:gd name="connsiteY4-250" fmla="*/ 699927 h 1006915"/>
              <a:gd name="connsiteX0-251" fmla="*/ 0 w 1156675"/>
              <a:gd name="connsiteY0-252" fmla="*/ 705467 h 1012455"/>
              <a:gd name="connsiteX1-253" fmla="*/ 252700 w 1156675"/>
              <a:gd name="connsiteY1-254" fmla="*/ 0 h 1012455"/>
              <a:gd name="connsiteX2-255" fmla="*/ 879647 w 1156675"/>
              <a:gd name="connsiteY2-256" fmla="*/ 5540 h 1012455"/>
              <a:gd name="connsiteX3-257" fmla="*/ 1156675 w 1156675"/>
              <a:gd name="connsiteY3-258" fmla="*/ 700595 h 1012455"/>
              <a:gd name="connsiteX4-259" fmla="*/ 0 w 1156675"/>
              <a:gd name="connsiteY4-260" fmla="*/ 705467 h 1012455"/>
              <a:gd name="connsiteX0-261" fmla="*/ 0 w 1156675"/>
              <a:gd name="connsiteY0-262" fmla="*/ 705467 h 1012455"/>
              <a:gd name="connsiteX1-263" fmla="*/ 252700 w 1156675"/>
              <a:gd name="connsiteY1-264" fmla="*/ 0 h 1012455"/>
              <a:gd name="connsiteX2-265" fmla="*/ 879647 w 1156675"/>
              <a:gd name="connsiteY2-266" fmla="*/ 5540 h 1012455"/>
              <a:gd name="connsiteX3-267" fmla="*/ 1156675 w 1156675"/>
              <a:gd name="connsiteY3-268" fmla="*/ 700595 h 1012455"/>
              <a:gd name="connsiteX4-269" fmla="*/ 0 w 1156675"/>
              <a:gd name="connsiteY4-270" fmla="*/ 705467 h 101245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1012455">
                <a:moveTo>
                  <a:pt x="0" y="705467"/>
                </a:moveTo>
                <a:lnTo>
                  <a:pt x="252700" y="0"/>
                </a:lnTo>
                <a:cubicBezTo>
                  <a:pt x="487946" y="321535"/>
                  <a:pt x="701205" y="202710"/>
                  <a:pt x="879647" y="5540"/>
                </a:cubicBezTo>
                <a:lnTo>
                  <a:pt x="1156675" y="700595"/>
                </a:lnTo>
                <a:cubicBezTo>
                  <a:pt x="921192" y="1026067"/>
                  <a:pt x="382573" y="1195965"/>
                  <a:pt x="0" y="705467"/>
                </a:cubicBezTo>
                <a:close/>
              </a:path>
            </a:pathLst>
          </a:custGeom>
          <a:solidFill>
            <a:srgbClr val="E6E6E6">
              <a:alpha val="3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b="1">
              <a:latin typeface="微软雅黑"/>
              <a:ea typeface="微软雅黑"/>
              <a:cs typeface="微软雅黑"/>
            </a:endParaRPr>
          </a:p>
        </p:txBody>
      </p:sp>
      <p:sp>
        <p:nvSpPr>
          <p:cNvPr id="15" name="Object29"/>
          <p:cNvSpPr txBox="1"/>
          <p:nvPr/>
        </p:nvSpPr>
        <p:spPr>
          <a:xfrm>
            <a:off x="7323043" y="3535413"/>
            <a:ext cx="429304" cy="403691"/>
          </a:xfrm>
          <a:prstGeom prst="rect">
            <a:avLst/>
          </a:prstGeom>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hangingPunct="0">
              <a:lnSpc>
                <a:spcPct val="100000"/>
              </a:lnSpc>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智能</a:t>
            </a:r>
            <a:endParaRPr lang="en-US" altLang="zh-CN" sz="1200" kern="0" dirty="0">
              <a:solidFill>
                <a:srgbClr val="FFFFFF"/>
              </a:solidFill>
              <a:latin typeface="微软雅黑"/>
              <a:ea typeface="微软雅黑"/>
              <a:cs typeface="微软雅黑"/>
              <a:sym typeface="微软雅黑"/>
            </a:endParaRPr>
          </a:p>
          <a:p>
            <a:pPr hangingPunct="0">
              <a:lnSpc>
                <a:spcPct val="100000"/>
              </a:lnSpc>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分析</a:t>
            </a:r>
            <a:endParaRPr lang="en-US" altLang="zh-CN" sz="1200" kern="0" dirty="0">
              <a:solidFill>
                <a:srgbClr val="FFFFFF"/>
              </a:solidFill>
              <a:latin typeface="微软雅黑"/>
              <a:ea typeface="微软雅黑"/>
              <a:cs typeface="微软雅黑"/>
              <a:sym typeface="微软雅黑"/>
            </a:endParaRPr>
          </a:p>
        </p:txBody>
      </p:sp>
      <p:sp>
        <p:nvSpPr>
          <p:cNvPr id="16" name="Object29"/>
          <p:cNvSpPr txBox="1"/>
          <p:nvPr/>
        </p:nvSpPr>
        <p:spPr>
          <a:xfrm>
            <a:off x="8046834" y="3333567"/>
            <a:ext cx="826443" cy="201846"/>
          </a:xfrm>
          <a:prstGeom prst="rect">
            <a:avLst/>
          </a:prstGeom>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hangingPunct="0">
              <a:lnSpc>
                <a:spcPct val="100000"/>
              </a:lnSpc>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智能管理</a:t>
            </a:r>
            <a:endParaRPr lang="zh-CN" altLang="en-US" sz="1200" kern="0" dirty="0">
              <a:solidFill>
                <a:srgbClr val="383838"/>
              </a:solidFill>
              <a:latin typeface="微软雅黑"/>
              <a:ea typeface="微软雅黑"/>
              <a:cs typeface="微软雅黑"/>
              <a:sym typeface="微软雅黑"/>
            </a:endParaRPr>
          </a:p>
        </p:txBody>
      </p:sp>
      <p:sp>
        <p:nvSpPr>
          <p:cNvPr id="18" name="Object29"/>
          <p:cNvSpPr txBox="1"/>
          <p:nvPr/>
        </p:nvSpPr>
        <p:spPr>
          <a:xfrm>
            <a:off x="8046834" y="4035874"/>
            <a:ext cx="826443" cy="201846"/>
          </a:xfrm>
          <a:prstGeom prst="rect">
            <a:avLst/>
          </a:prstGeom>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hangingPunct="0">
              <a:lnSpc>
                <a:spcPct val="100000"/>
              </a:lnSpc>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数据分析</a:t>
            </a:r>
            <a:endParaRPr lang="zh-CN" altLang="en-US" sz="1200" kern="0" dirty="0">
              <a:solidFill>
                <a:srgbClr val="383838"/>
              </a:solidFill>
              <a:latin typeface="微软雅黑"/>
              <a:ea typeface="微软雅黑"/>
              <a:cs typeface="微软雅黑"/>
              <a:sym typeface="微软雅黑"/>
            </a:endParaRPr>
          </a:p>
        </p:txBody>
      </p:sp>
      <p:sp>
        <p:nvSpPr>
          <p:cNvPr id="112" name="Object60"/>
          <p:cNvSpPr/>
          <p:nvPr/>
        </p:nvSpPr>
        <p:spPr>
          <a:xfrm>
            <a:off x="9718909" y="3632884"/>
            <a:ext cx="825906" cy="245579"/>
          </a:xfrm>
          <a:prstGeom prst="rect">
            <a:avLst/>
          </a:prstGeom>
          <a:noFill/>
        </p:spPr>
        <p:txBody>
          <a:bodyPr wrap="square" lIns="0" tIns="0" rIns="0" bIns="0" rtlCol="0" anchor="t">
            <a:spAutoFit/>
          </a:bodyPr>
          <a:lstStyle/>
          <a:p>
            <a:pPr algn="ctr" defTabSz="731520">
              <a:lnSpc>
                <a:spcPct val="130000"/>
              </a:lnSpc>
              <a:defRPr>
                <a:latin typeface="微软雅黑"/>
                <a:ea typeface="微软雅黑"/>
                <a:cs typeface="微软雅黑"/>
              </a:defRPr>
            </a:pPr>
            <a:r>
              <a:rPr lang="zh-CN" altLang="en-US" sz="1200" b="1" dirty="0">
                <a:solidFill>
                  <a:srgbClr val="383838"/>
                </a:solidFill>
                <a:latin typeface="微软雅黑"/>
                <a:ea typeface="微软雅黑"/>
                <a:cs typeface="微软雅黑"/>
              </a:rPr>
              <a:t>客户成功</a:t>
            </a:r>
            <a:endParaRPr lang="zh-CN" altLang="en-US" sz="1200" b="1" dirty="0">
              <a:solidFill>
                <a:srgbClr val="383838"/>
              </a:solidFill>
              <a:latin typeface="微软雅黑"/>
              <a:ea typeface="微软雅黑"/>
              <a:cs typeface="微软雅黑"/>
            </a:endParaRPr>
          </a:p>
        </p:txBody>
      </p:sp>
      <p:cxnSp>
        <p:nvCxnSpPr>
          <p:cNvPr id="56" name="直线连接符 55"/>
          <p:cNvCxnSpPr/>
          <p:nvPr/>
        </p:nvCxnSpPr>
        <p:spPr>
          <a:xfrm flipH="1">
            <a:off x="7946208" y="3770281"/>
            <a:ext cx="1798081" cy="0"/>
          </a:xfrm>
          <a:prstGeom prst="line">
            <a:avLst/>
          </a:prstGeom>
          <a:ln w="15875">
            <a:solidFill>
              <a:srgbClr val="0042FF"/>
            </a:solidFill>
            <a:prstDash val="dash"/>
            <a:headEnd type="none"/>
            <a:tailEnd type="none"/>
          </a:ln>
        </p:spPr>
        <p:style>
          <a:lnRef idx="1">
            <a:srgbClr val="0042FF"/>
          </a:lnRef>
          <a:fillRef idx="0">
            <a:srgbClr val="0042FF"/>
          </a:fillRef>
          <a:effectRef idx="0">
            <a:srgbClr val="0042FF"/>
          </a:effectRef>
          <a:fontRef idx="minor">
            <a:srgbClr val="383838"/>
          </a:fontRef>
        </p:style>
      </p:cxnSp>
      <p:cxnSp>
        <p:nvCxnSpPr>
          <p:cNvPr id="57" name="直线连接符 56"/>
          <p:cNvCxnSpPr/>
          <p:nvPr/>
        </p:nvCxnSpPr>
        <p:spPr>
          <a:xfrm flipH="1">
            <a:off x="10484618" y="3771156"/>
            <a:ext cx="449324" cy="0"/>
          </a:xfrm>
          <a:prstGeom prst="line">
            <a:avLst/>
          </a:prstGeom>
          <a:ln w="15875">
            <a:solidFill>
              <a:srgbClr val="0042FF"/>
            </a:solidFill>
            <a:prstDash val="dash"/>
            <a:headEnd type="none"/>
            <a:tailEnd type="none"/>
          </a:ln>
        </p:spPr>
        <p:style>
          <a:lnRef idx="1">
            <a:srgbClr val="0042FF"/>
          </a:lnRef>
          <a:fillRef idx="0">
            <a:srgbClr val="0042FF"/>
          </a:fillRef>
          <a:effectRef idx="0">
            <a:srgbClr val="0042FF"/>
          </a:effectRef>
          <a:fontRef idx="minor">
            <a:srgbClr val="383838"/>
          </a:fontRef>
        </p:style>
      </p:cxnSp>
      <p:sp>
        <p:nvSpPr>
          <p:cNvPr id="58" name="矩形: 圆角 114"/>
          <p:cNvSpPr/>
          <p:nvPr/>
        </p:nvSpPr>
        <p:spPr>
          <a:xfrm>
            <a:off x="7250422" y="2485871"/>
            <a:ext cx="1794263" cy="2572732"/>
          </a:xfrm>
          <a:prstGeom prst="roundRect">
            <a:avLst>
              <a:gd name="adj" fmla="val 0"/>
            </a:avLst>
          </a:prstGeom>
          <a:noFill/>
          <a:ln w="19050" cap="flat">
            <a:solidFill>
              <a:srgbClr val="3368FF">
                <a:alpha val="99000"/>
              </a:srgbClr>
            </a:solidFill>
            <a:prstDash val="dash"/>
            <a:miter/>
          </a:ln>
          <a:effectLst>
            <a:outerShdw blurRad="190500" sx="102000" sy="102000" algn="ctr" rotWithShape="0">
              <a:srgbClr val="383838">
                <a:alpha val="20000"/>
              </a:srgbClr>
            </a:outerShdw>
          </a:effectLst>
        </p:spPr>
        <p:txBody>
          <a:bodyPr rtlCol="0" anchor="ctr"/>
          <a:lstStyle/>
          <a:p>
            <a:pPr defTabSz="731520">
              <a:defRPr>
                <a:latin typeface="微软雅黑"/>
                <a:ea typeface="微软雅黑"/>
                <a:cs typeface="微软雅黑"/>
              </a:defRPr>
            </a:pPr>
            <a:endParaRPr lang="zh-CN" altLang="en-US" sz="1440" b="1" dirty="0">
              <a:solidFill>
                <a:srgbClr val="383838"/>
              </a:solidFill>
              <a:latin typeface="微软雅黑"/>
              <a:ea typeface="微软雅黑"/>
              <a:cs typeface="微软雅黑"/>
            </a:endParaRPr>
          </a:p>
        </p:txBody>
      </p:sp>
      <p:sp>
        <p:nvSpPr>
          <p:cNvPr id="59" name="Object60"/>
          <p:cNvSpPr/>
          <p:nvPr/>
        </p:nvSpPr>
        <p:spPr>
          <a:xfrm>
            <a:off x="7299428" y="2553129"/>
            <a:ext cx="590813" cy="204649"/>
          </a:xfrm>
          <a:prstGeom prst="rect">
            <a:avLst/>
          </a:prstGeom>
          <a:noFill/>
        </p:spPr>
        <p:txBody>
          <a:bodyPr wrap="square" lIns="0" tIns="0" rIns="0" bIns="0" rtlCol="0" anchor="t">
            <a:spAutoFit/>
          </a:bodyPr>
          <a:lstStyle/>
          <a:p>
            <a:pPr algn="ctr" defTabSz="731520">
              <a:lnSpc>
                <a:spcPct val="130000"/>
              </a:lnSpc>
              <a:defRPr>
                <a:latin typeface="微软雅黑"/>
                <a:ea typeface="微软雅黑"/>
                <a:cs typeface="微软雅黑"/>
              </a:defRPr>
            </a:pPr>
            <a:r>
              <a:rPr lang="zh-CN" altLang="en-US" sz="1000" b="1" dirty="0">
                <a:solidFill>
                  <a:srgbClr val="0042FF"/>
                </a:solidFill>
                <a:latin typeface="微软雅黑"/>
                <a:ea typeface="微软雅黑"/>
                <a:cs typeface="微软雅黑"/>
              </a:rPr>
              <a:t>客户池</a:t>
            </a:r>
            <a:endParaRPr lang="zh-CN" altLang="en-US" sz="1000" b="1" dirty="0">
              <a:solidFill>
                <a:srgbClr val="0042FF"/>
              </a:solidFill>
              <a:latin typeface="微软雅黑"/>
              <a:ea typeface="微软雅黑"/>
              <a:cs typeface="微软雅黑"/>
            </a:endParaRPr>
          </a:p>
        </p:txBody>
      </p:sp>
      <p:cxnSp>
        <p:nvCxnSpPr>
          <p:cNvPr id="60" name="直线连接符 59"/>
          <p:cNvCxnSpPr/>
          <p:nvPr/>
        </p:nvCxnSpPr>
        <p:spPr>
          <a:xfrm flipV="1">
            <a:off x="6120806" y="2213684"/>
            <a:ext cx="0" cy="433798"/>
          </a:xfrm>
          <a:prstGeom prst="line">
            <a:avLst/>
          </a:prstGeom>
          <a:ln w="15875">
            <a:solidFill>
              <a:srgbClr val="3368FF"/>
            </a:solidFill>
            <a:prstDash val="solid"/>
            <a:headEnd type="none"/>
            <a:tailEnd type="none"/>
          </a:ln>
        </p:spPr>
        <p:style>
          <a:lnRef idx="1">
            <a:srgbClr val="0042FF"/>
          </a:lnRef>
          <a:fillRef idx="0">
            <a:srgbClr val="0042FF"/>
          </a:fillRef>
          <a:effectRef idx="0">
            <a:srgbClr val="0042FF"/>
          </a:effectRef>
          <a:fontRef idx="minor">
            <a:srgbClr val="383838"/>
          </a:fontRef>
        </p:style>
      </p:cxnSp>
      <p:grpSp>
        <p:nvGrpSpPr>
          <p:cNvPr id="61" name="组合 60"/>
          <p:cNvGrpSpPr/>
          <p:nvPr/>
        </p:nvGrpSpPr>
        <p:grpSpPr>
          <a:xfrm flipH="1">
            <a:off x="4014483" y="2213684"/>
            <a:ext cx="689245" cy="229518"/>
            <a:chOff x="7066511" y="2820800"/>
            <a:chExt cx="630581" cy="209983"/>
          </a:xfrm>
        </p:grpSpPr>
        <p:cxnSp>
          <p:nvCxnSpPr>
            <p:cNvPr id="19" name="直线连接符 101"/>
            <p:cNvCxnSpPr/>
            <p:nvPr/>
          </p:nvCxnSpPr>
          <p:spPr>
            <a:xfrm flipV="1">
              <a:off x="7697092" y="2820800"/>
              <a:ext cx="0" cy="209983"/>
            </a:xfrm>
            <a:prstGeom prst="line">
              <a:avLst/>
            </a:prstGeom>
            <a:ln w="15875">
              <a:solidFill>
                <a:srgbClr val="3368FF"/>
              </a:solidFill>
              <a:prstDash val="solid"/>
              <a:headEnd type="triangle" w="sm" len="sm"/>
              <a:tailEnd type="none" w="sm" len="med"/>
            </a:ln>
          </p:spPr>
          <p:style>
            <a:lnRef idx="1">
              <a:srgbClr val="0042FF"/>
            </a:lnRef>
            <a:fillRef idx="0">
              <a:srgbClr val="0042FF"/>
            </a:fillRef>
            <a:effectRef idx="0">
              <a:srgbClr val="0042FF"/>
            </a:effectRef>
            <a:fontRef idx="minor">
              <a:srgbClr val="383838"/>
            </a:fontRef>
          </p:style>
        </p:cxnSp>
        <p:cxnSp>
          <p:nvCxnSpPr>
            <p:cNvPr id="22" name="直线连接符 102"/>
            <p:cNvCxnSpPr/>
            <p:nvPr/>
          </p:nvCxnSpPr>
          <p:spPr>
            <a:xfrm>
              <a:off x="7066511" y="2820800"/>
              <a:ext cx="630581" cy="0"/>
            </a:xfrm>
            <a:prstGeom prst="line">
              <a:avLst/>
            </a:prstGeom>
            <a:ln w="15875">
              <a:solidFill>
                <a:srgbClr val="3368FF"/>
              </a:solidFill>
              <a:prstDash val="solid"/>
              <a:headEnd type="none"/>
              <a:tailEnd type="none"/>
            </a:ln>
          </p:spPr>
          <p:style>
            <a:lnRef idx="1">
              <a:srgbClr val="0042FF"/>
            </a:lnRef>
            <a:fillRef idx="0">
              <a:srgbClr val="0042FF"/>
            </a:fillRef>
            <a:effectRef idx="0">
              <a:srgbClr val="0042FF"/>
            </a:effectRef>
            <a:fontRef idx="minor">
              <a:srgbClr val="383838"/>
            </a:fontRef>
          </p:style>
        </p:cxnSp>
      </p:grpSp>
      <p:sp>
        <p:nvSpPr>
          <p:cNvPr id="62" name="Object29"/>
          <p:cNvSpPr/>
          <p:nvPr/>
        </p:nvSpPr>
        <p:spPr>
          <a:xfrm>
            <a:off x="6159094" y="2054597"/>
            <a:ext cx="1955353" cy="326986"/>
          </a:xfrm>
          <a:prstGeom prst="rect">
            <a:avLst/>
          </a:prstGeom>
          <a:ln w="12700">
            <a:miter lim="400000"/>
          </a:ln>
        </p:spPr>
        <p:txBody>
          <a:bodyPr wrap="square" lIns="0" tIns="0" rIns="0" bIns="0" anchor="ctr">
            <a:noAutofit/>
          </a:bodyPr>
          <a:lstStyle/>
          <a:p>
            <a:pPr algn="ctr" defTabSz="1219200" hangingPunct="0">
              <a:defRPr>
                <a:latin typeface="微软雅黑"/>
                <a:ea typeface="微软雅黑"/>
                <a:cs typeface="微软雅黑"/>
              </a:defRPr>
              <a:lnSpc>
                <a:spcPts val="1120"/>
              </a:lnSpc>
              <a:spcBef>
                <a:spcPts val="0"/>
              </a:spcBef>
              <a:spcAft>
                <a:spcPts val="0"/>
              </a:spcAft>
            </a:pPr>
            <a:r>
              <a:rPr lang="zh-CN" altLang="en-US" sz="1000" b="1" kern="0" dirty="0">
                <a:solidFill>
                  <a:srgbClr val="0042FF"/>
                </a:solidFill>
                <a:latin typeface="微软雅黑"/>
                <a:ea typeface="微软雅黑"/>
                <a:cs typeface="微软雅黑"/>
              </a:rPr>
              <a:t>通过直播持续做客户触达</a:t>
            </a:r>
            <a:endParaRPr lang="zh-CN" altLang="en-US" sz="1000" b="1" kern="0" dirty="0">
              <a:solidFill>
                <a:srgbClr val="0042FF"/>
              </a:solidFill>
              <a:latin typeface="微软雅黑"/>
              <a:ea typeface="微软雅黑"/>
              <a:cs typeface="微软雅黑"/>
            </a:endParaRPr>
          </a:p>
        </p:txBody>
      </p:sp>
      <p:cxnSp>
        <p:nvCxnSpPr>
          <p:cNvPr id="63" name="直线连接符 62"/>
          <p:cNvCxnSpPr/>
          <p:nvPr/>
        </p:nvCxnSpPr>
        <p:spPr>
          <a:xfrm>
            <a:off x="5426247" y="2213684"/>
            <a:ext cx="971415" cy="0"/>
          </a:xfrm>
          <a:prstGeom prst="line">
            <a:avLst/>
          </a:prstGeom>
          <a:ln w="15875">
            <a:solidFill>
              <a:srgbClr val="3368FF"/>
            </a:solidFill>
            <a:prstDash val="solid"/>
            <a:headEnd type="none"/>
            <a:tailEnd type="none"/>
          </a:ln>
        </p:spPr>
        <p:style>
          <a:lnRef idx="1">
            <a:srgbClr val="0042FF"/>
          </a:lnRef>
          <a:fillRef idx="0">
            <a:srgbClr val="0042FF"/>
          </a:fillRef>
          <a:effectRef idx="0">
            <a:srgbClr val="0042FF"/>
          </a:effectRef>
          <a:fontRef idx="minor">
            <a:srgbClr val="383838"/>
          </a:fontRef>
        </p:style>
      </p:cxnSp>
      <p:sp>
        <p:nvSpPr>
          <p:cNvPr id="64" name="Object29"/>
          <p:cNvSpPr/>
          <p:nvPr/>
        </p:nvSpPr>
        <p:spPr>
          <a:xfrm>
            <a:off x="4667305" y="2065426"/>
            <a:ext cx="788090" cy="326986"/>
          </a:xfrm>
          <a:prstGeom prst="rect">
            <a:avLst/>
          </a:prstGeom>
          <a:ln w="12700">
            <a:miter lim="400000"/>
          </a:ln>
        </p:spPr>
        <p:txBody>
          <a:bodyPr wrap="square" lIns="0" tIns="0" rIns="0" bIns="0" anchor="ctr">
            <a:noAutofit/>
          </a:bodyPr>
          <a:lstStyle/>
          <a:p>
            <a:pPr algn="ctr" defTabSz="1219200" hangingPunct="0">
              <a:defRPr>
                <a:latin typeface="微软雅黑"/>
                <a:ea typeface="微软雅黑"/>
                <a:cs typeface="微软雅黑"/>
              </a:defRPr>
              <a:lnSpc>
                <a:spcPts val="1120"/>
              </a:lnSpc>
              <a:spcBef>
                <a:spcPts val="0"/>
              </a:spcBef>
              <a:spcAft>
                <a:spcPts val="0"/>
              </a:spcAft>
            </a:pPr>
            <a:r>
              <a:rPr lang="zh-CN" altLang="en-US" sz="1000" b="1" kern="0" dirty="0">
                <a:solidFill>
                  <a:srgbClr val="0042FF"/>
                </a:solidFill>
                <a:latin typeface="微软雅黑"/>
                <a:ea typeface="微软雅黑"/>
                <a:cs typeface="微软雅黑"/>
              </a:rPr>
              <a:t>持续挖掘</a:t>
            </a:r>
            <a:endParaRPr lang="zh-CN" altLang="en-US" sz="1000" b="1" kern="0" dirty="0">
              <a:solidFill>
                <a:srgbClr val="0042FF"/>
              </a:solidFill>
              <a:latin typeface="微软雅黑"/>
              <a:ea typeface="微软雅黑"/>
              <a:cs typeface="微软雅黑"/>
            </a:endParaRPr>
          </a:p>
        </p:txBody>
      </p:sp>
      <p:grpSp>
        <p:nvGrpSpPr>
          <p:cNvPr id="65" name="组合 64"/>
          <p:cNvGrpSpPr/>
          <p:nvPr/>
        </p:nvGrpSpPr>
        <p:grpSpPr>
          <a:xfrm>
            <a:off x="7890240" y="2213684"/>
            <a:ext cx="368362" cy="229518"/>
            <a:chOff x="7360082" y="2820800"/>
            <a:chExt cx="337010" cy="209983"/>
          </a:xfrm>
        </p:grpSpPr>
        <p:cxnSp>
          <p:nvCxnSpPr>
            <p:cNvPr id="23" name="直线连接符 99"/>
            <p:cNvCxnSpPr/>
            <p:nvPr/>
          </p:nvCxnSpPr>
          <p:spPr>
            <a:xfrm flipV="1">
              <a:off x="7697092" y="2820800"/>
              <a:ext cx="0" cy="209983"/>
            </a:xfrm>
            <a:prstGeom prst="line">
              <a:avLst/>
            </a:prstGeom>
            <a:ln w="15875">
              <a:solidFill>
                <a:srgbClr val="3368FF"/>
              </a:solidFill>
              <a:prstDash val="solid"/>
              <a:headEnd type="triangle" w="sm" len="sm"/>
              <a:tailEnd type="none" w="sm" len="med"/>
            </a:ln>
          </p:spPr>
          <p:style>
            <a:lnRef idx="1">
              <a:srgbClr val="0042FF"/>
            </a:lnRef>
            <a:fillRef idx="0">
              <a:srgbClr val="0042FF"/>
            </a:fillRef>
            <a:effectRef idx="0">
              <a:srgbClr val="0042FF"/>
            </a:effectRef>
            <a:fontRef idx="minor">
              <a:srgbClr val="383838"/>
            </a:fontRef>
          </p:style>
        </p:cxnSp>
        <p:cxnSp>
          <p:nvCxnSpPr>
            <p:cNvPr id="25" name="直线连接符 100"/>
            <p:cNvCxnSpPr/>
            <p:nvPr/>
          </p:nvCxnSpPr>
          <p:spPr>
            <a:xfrm>
              <a:off x="7360082" y="2820800"/>
              <a:ext cx="337010" cy="0"/>
            </a:xfrm>
            <a:prstGeom prst="line">
              <a:avLst/>
            </a:prstGeom>
            <a:ln w="15875">
              <a:solidFill>
                <a:srgbClr val="3368FF"/>
              </a:solidFill>
              <a:prstDash val="solid"/>
              <a:headEnd type="none"/>
              <a:tailEnd type="none"/>
            </a:ln>
          </p:spPr>
          <p:style>
            <a:lnRef idx="1">
              <a:srgbClr val="0042FF"/>
            </a:lnRef>
            <a:fillRef idx="0">
              <a:srgbClr val="0042FF"/>
            </a:fillRef>
            <a:effectRef idx="0">
              <a:srgbClr val="0042FF"/>
            </a:effectRef>
            <a:fontRef idx="minor">
              <a:srgbClr val="383838"/>
            </a:fontRef>
          </p:style>
        </p:cxnSp>
      </p:grpSp>
      <p:sp>
        <p:nvSpPr>
          <p:cNvPr id="26" name="梯形 17"/>
          <p:cNvSpPr/>
          <p:nvPr/>
        </p:nvSpPr>
        <p:spPr>
          <a:xfrm rot="5400000" flipH="1">
            <a:off x="4062933" y="3475619"/>
            <a:ext cx="1205007" cy="612007"/>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591374 h 898362"/>
              <a:gd name="connsiteX1-133" fmla="*/ 210393 w 1156675"/>
              <a:gd name="connsiteY1-134" fmla="*/ 34111 h 898362"/>
              <a:gd name="connsiteX2-135" fmla="*/ 962937 w 1156675"/>
              <a:gd name="connsiteY2-136" fmla="*/ 0 h 898362"/>
              <a:gd name="connsiteX3-137" fmla="*/ 1156675 w 1156675"/>
              <a:gd name="connsiteY3-138" fmla="*/ 586502 h 898362"/>
              <a:gd name="connsiteX4-139" fmla="*/ 0 w 1156675"/>
              <a:gd name="connsiteY4-140" fmla="*/ 591374 h 898362"/>
              <a:gd name="connsiteX0-141" fmla="*/ 0 w 1156675"/>
              <a:gd name="connsiteY0-142" fmla="*/ 557262 h 864250"/>
              <a:gd name="connsiteX1-143" fmla="*/ 210393 w 1156675"/>
              <a:gd name="connsiteY1-144" fmla="*/ -1 h 864250"/>
              <a:gd name="connsiteX2-145" fmla="*/ 926293 w 1156675"/>
              <a:gd name="connsiteY2-146" fmla="*/ 4872 h 864250"/>
              <a:gd name="connsiteX3-147" fmla="*/ 1156675 w 1156675"/>
              <a:gd name="connsiteY3-148" fmla="*/ 552390 h 864250"/>
              <a:gd name="connsiteX4-149" fmla="*/ 0 w 1156675"/>
              <a:gd name="connsiteY4-150" fmla="*/ 557262 h 864250"/>
              <a:gd name="connsiteX0-151" fmla="*/ 0 w 1156675"/>
              <a:gd name="connsiteY0-152" fmla="*/ 552390 h 859378"/>
              <a:gd name="connsiteX1-153" fmla="*/ 207062 w 1156675"/>
              <a:gd name="connsiteY1-154" fmla="*/ 9746 h 859378"/>
              <a:gd name="connsiteX2-155" fmla="*/ 926293 w 1156675"/>
              <a:gd name="connsiteY2-156" fmla="*/ 0 h 859378"/>
              <a:gd name="connsiteX3-157" fmla="*/ 1156675 w 1156675"/>
              <a:gd name="connsiteY3-158" fmla="*/ 547518 h 859378"/>
              <a:gd name="connsiteX4-159" fmla="*/ 0 w 1156675"/>
              <a:gd name="connsiteY4-160" fmla="*/ 552390 h 859378"/>
              <a:gd name="connsiteX0-161" fmla="*/ 0 w 1156675"/>
              <a:gd name="connsiteY0-162" fmla="*/ 552390 h 859378"/>
              <a:gd name="connsiteX1-163" fmla="*/ 207062 w 1156675"/>
              <a:gd name="connsiteY1-164" fmla="*/ 0 h 859378"/>
              <a:gd name="connsiteX2-165" fmla="*/ 926293 w 1156675"/>
              <a:gd name="connsiteY2-166" fmla="*/ 0 h 859378"/>
              <a:gd name="connsiteX3-167" fmla="*/ 1156675 w 1156675"/>
              <a:gd name="connsiteY3-168" fmla="*/ 547518 h 859378"/>
              <a:gd name="connsiteX4-169" fmla="*/ 0 w 1156675"/>
              <a:gd name="connsiteY4-170" fmla="*/ 552390 h 85937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859378">
                <a:moveTo>
                  <a:pt x="0" y="552390"/>
                </a:moveTo>
                <a:lnTo>
                  <a:pt x="207062" y="0"/>
                </a:lnTo>
                <a:cubicBezTo>
                  <a:pt x="463618" y="150757"/>
                  <a:pt x="650685" y="148816"/>
                  <a:pt x="926293" y="0"/>
                </a:cubicBezTo>
                <a:lnTo>
                  <a:pt x="1156675" y="547518"/>
                </a:lnTo>
                <a:cubicBezTo>
                  <a:pt x="921192" y="872990"/>
                  <a:pt x="382573" y="1042888"/>
                  <a:pt x="0" y="552390"/>
                </a:cubicBezTo>
                <a:close/>
              </a:path>
            </a:pathLst>
          </a:custGeom>
          <a:solidFill>
            <a:srgbClr val="0042FF">
              <a:alpha val="9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b="1">
              <a:solidFill>
                <a:srgbClr val="FFFFFF"/>
              </a:solidFill>
              <a:latin typeface="微软雅黑"/>
              <a:ea typeface="微软雅黑"/>
              <a:cs typeface="微软雅黑"/>
            </a:endParaRPr>
          </a:p>
        </p:txBody>
      </p:sp>
      <p:sp>
        <p:nvSpPr>
          <p:cNvPr id="35" name="梯形 17"/>
          <p:cNvSpPr/>
          <p:nvPr/>
        </p:nvSpPr>
        <p:spPr>
          <a:xfrm rot="5400000" flipH="1">
            <a:off x="2450754" y="3034678"/>
            <a:ext cx="2676841" cy="1493889"/>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944308">
                <a:moveTo>
                  <a:pt x="0" y="637320"/>
                </a:moveTo>
                <a:lnTo>
                  <a:pt x="303382" y="14308"/>
                </a:lnTo>
                <a:cubicBezTo>
                  <a:pt x="559938" y="228245"/>
                  <a:pt x="667771" y="171049"/>
                  <a:pt x="845153" y="0"/>
                </a:cubicBezTo>
                <a:lnTo>
                  <a:pt x="1156675" y="632448"/>
                </a:lnTo>
                <a:cubicBezTo>
                  <a:pt x="921192" y="957920"/>
                  <a:pt x="382573" y="1127818"/>
                  <a:pt x="0" y="637320"/>
                </a:cubicBezTo>
                <a:close/>
              </a:path>
            </a:pathLst>
          </a:custGeom>
          <a:solidFill>
            <a:srgbClr val="668E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b="1">
              <a:latin typeface="微软雅黑"/>
              <a:ea typeface="微软雅黑"/>
              <a:cs typeface="微软雅黑"/>
              <a:sym typeface="微软雅黑"/>
            </a:endParaRPr>
          </a:p>
        </p:txBody>
      </p:sp>
      <p:sp>
        <p:nvSpPr>
          <p:cNvPr id="45" name="梯形 17"/>
          <p:cNvSpPr/>
          <p:nvPr/>
        </p:nvSpPr>
        <p:spPr>
          <a:xfrm rot="5400000" flipH="1">
            <a:off x="-307818" y="2475661"/>
            <a:ext cx="5005145" cy="2487942"/>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1" fmla="*/ 0 w 1133357"/>
              <a:gd name="connsiteY0-2" fmla="*/ 708329 h 742195"/>
              <a:gd name="connsiteX1-3" fmla="*/ 177082 w 1133357"/>
              <a:gd name="connsiteY1-4" fmla="*/ 0 h 742195"/>
              <a:gd name="connsiteX2-5" fmla="*/ 956275 w 1133357"/>
              <a:gd name="connsiteY2-6" fmla="*/ 0 h 742195"/>
              <a:gd name="connsiteX3-7" fmla="*/ 1133357 w 1133357"/>
              <a:gd name="connsiteY3-8" fmla="*/ 708329 h 742195"/>
              <a:gd name="connsiteX4-9" fmla="*/ 0 w 1133357"/>
              <a:gd name="connsiteY4-10" fmla="*/ 708329 h 742195"/>
              <a:gd name="connsiteX0-11" fmla="*/ 0 w 1133357"/>
              <a:gd name="connsiteY0-12" fmla="*/ 708329 h 760824"/>
              <a:gd name="connsiteX1-13" fmla="*/ 177082 w 1133357"/>
              <a:gd name="connsiteY1-14" fmla="*/ 0 h 760824"/>
              <a:gd name="connsiteX2-15" fmla="*/ 956275 w 1133357"/>
              <a:gd name="connsiteY2-16" fmla="*/ 0 h 760824"/>
              <a:gd name="connsiteX3-17" fmla="*/ 1133357 w 1133357"/>
              <a:gd name="connsiteY3-18" fmla="*/ 708329 h 760824"/>
              <a:gd name="connsiteX4-19" fmla="*/ 0 w 1133357"/>
              <a:gd name="connsiteY4-20" fmla="*/ 708329 h 760824"/>
              <a:gd name="connsiteX0-21" fmla="*/ 0 w 1133357"/>
              <a:gd name="connsiteY0-22" fmla="*/ 708329 h 760824"/>
              <a:gd name="connsiteX1-23" fmla="*/ 177082 w 1133357"/>
              <a:gd name="connsiteY1-24" fmla="*/ 0 h 760824"/>
              <a:gd name="connsiteX2-25" fmla="*/ 956275 w 1133357"/>
              <a:gd name="connsiteY2-26" fmla="*/ 0 h 760824"/>
              <a:gd name="connsiteX3-27" fmla="*/ 1133357 w 1133357"/>
              <a:gd name="connsiteY3-28" fmla="*/ 708329 h 760824"/>
              <a:gd name="connsiteX4-29" fmla="*/ 0 w 1133357"/>
              <a:gd name="connsiteY4-30" fmla="*/ 708329 h 760824"/>
              <a:gd name="connsiteX0-31" fmla="*/ 0 w 1133357"/>
              <a:gd name="connsiteY0-32" fmla="*/ 708329 h 760824"/>
              <a:gd name="connsiteX1-33" fmla="*/ 177082 w 1133357"/>
              <a:gd name="connsiteY1-34" fmla="*/ 0 h 760824"/>
              <a:gd name="connsiteX2-35" fmla="*/ 956275 w 1133357"/>
              <a:gd name="connsiteY2-36" fmla="*/ 0 h 760824"/>
              <a:gd name="connsiteX3-37" fmla="*/ 1133357 w 1133357"/>
              <a:gd name="connsiteY3-38" fmla="*/ 708329 h 760824"/>
              <a:gd name="connsiteX4-39" fmla="*/ 0 w 1133357"/>
              <a:gd name="connsiteY4-40" fmla="*/ 708329 h 760824"/>
              <a:gd name="connsiteX0-41" fmla="*/ 0 w 1133357"/>
              <a:gd name="connsiteY0-42" fmla="*/ 708329 h 818625"/>
              <a:gd name="connsiteX1-43" fmla="*/ 177082 w 1133357"/>
              <a:gd name="connsiteY1-44" fmla="*/ 0 h 818625"/>
              <a:gd name="connsiteX2-45" fmla="*/ 956275 w 1133357"/>
              <a:gd name="connsiteY2-46" fmla="*/ 0 h 818625"/>
              <a:gd name="connsiteX3-47" fmla="*/ 1133357 w 1133357"/>
              <a:gd name="connsiteY3-48" fmla="*/ 708329 h 818625"/>
              <a:gd name="connsiteX4-49" fmla="*/ 0 w 1133357"/>
              <a:gd name="connsiteY4-50" fmla="*/ 708329 h 818625"/>
              <a:gd name="connsiteX0-51" fmla="*/ 0 w 1133357"/>
              <a:gd name="connsiteY0-52" fmla="*/ 708329 h 855068"/>
              <a:gd name="connsiteX1-53" fmla="*/ 177082 w 1133357"/>
              <a:gd name="connsiteY1-54" fmla="*/ 0 h 855068"/>
              <a:gd name="connsiteX2-55" fmla="*/ 956275 w 1133357"/>
              <a:gd name="connsiteY2-56" fmla="*/ 0 h 855068"/>
              <a:gd name="connsiteX3-57" fmla="*/ 1133357 w 1133357"/>
              <a:gd name="connsiteY3-58" fmla="*/ 708329 h 855068"/>
              <a:gd name="connsiteX4-59" fmla="*/ 0 w 1133357"/>
              <a:gd name="connsiteY4-60" fmla="*/ 708329 h 855068"/>
              <a:gd name="connsiteX0-61" fmla="*/ 0 w 1133357"/>
              <a:gd name="connsiteY0-62" fmla="*/ 708329 h 857351"/>
              <a:gd name="connsiteX1-63" fmla="*/ 177082 w 1133357"/>
              <a:gd name="connsiteY1-64" fmla="*/ 0 h 857351"/>
              <a:gd name="connsiteX2-65" fmla="*/ 956275 w 1133357"/>
              <a:gd name="connsiteY2-66" fmla="*/ 0 h 857351"/>
              <a:gd name="connsiteX3-67" fmla="*/ 1133357 w 1133357"/>
              <a:gd name="connsiteY3-68" fmla="*/ 708329 h 857351"/>
              <a:gd name="connsiteX4-69" fmla="*/ 0 w 1133357"/>
              <a:gd name="connsiteY4-70" fmla="*/ 708329 h 857351"/>
              <a:gd name="connsiteX0-71" fmla="*/ 0 w 1133357"/>
              <a:gd name="connsiteY0-72" fmla="*/ 708329 h 857351"/>
              <a:gd name="connsiteX1-73" fmla="*/ 177082 w 1133357"/>
              <a:gd name="connsiteY1-74" fmla="*/ 0 h 857351"/>
              <a:gd name="connsiteX2-75" fmla="*/ 956275 w 1133357"/>
              <a:gd name="connsiteY2-76" fmla="*/ 0 h 857351"/>
              <a:gd name="connsiteX3-77" fmla="*/ 1133357 w 1133357"/>
              <a:gd name="connsiteY3-78" fmla="*/ 708329 h 857351"/>
              <a:gd name="connsiteX4-79" fmla="*/ 0 w 1133357"/>
              <a:gd name="connsiteY4-80" fmla="*/ 708329 h 857351"/>
              <a:gd name="connsiteX0-81" fmla="*/ 0 w 1133357"/>
              <a:gd name="connsiteY0-82" fmla="*/ 708329 h 857351"/>
              <a:gd name="connsiteX1-83" fmla="*/ 177082 w 1133357"/>
              <a:gd name="connsiteY1-84" fmla="*/ 0 h 857351"/>
              <a:gd name="connsiteX2-85" fmla="*/ 956275 w 1133357"/>
              <a:gd name="connsiteY2-86" fmla="*/ 0 h 857351"/>
              <a:gd name="connsiteX3-87" fmla="*/ 1133357 w 1133357"/>
              <a:gd name="connsiteY3-88" fmla="*/ 708329 h 857351"/>
              <a:gd name="connsiteX4-89" fmla="*/ 0 w 1133357"/>
              <a:gd name="connsiteY4-90" fmla="*/ 708329 h 857351"/>
              <a:gd name="connsiteX0-91" fmla="*/ 0 w 1150013"/>
              <a:gd name="connsiteY0-92" fmla="*/ 708329 h 812370"/>
              <a:gd name="connsiteX1-93" fmla="*/ 177082 w 1150013"/>
              <a:gd name="connsiteY1-94" fmla="*/ 0 h 812370"/>
              <a:gd name="connsiteX2-95" fmla="*/ 956275 w 1150013"/>
              <a:gd name="connsiteY2-96" fmla="*/ 0 h 812370"/>
              <a:gd name="connsiteX3-97" fmla="*/ 1150013 w 1150013"/>
              <a:gd name="connsiteY3-98" fmla="*/ 586502 h 812370"/>
              <a:gd name="connsiteX4-99" fmla="*/ 0 w 1150013"/>
              <a:gd name="connsiteY4-100" fmla="*/ 708329 h 812370"/>
              <a:gd name="connsiteX0-101" fmla="*/ 0 w 1156675"/>
              <a:gd name="connsiteY0-102" fmla="*/ 591374 h 738113"/>
              <a:gd name="connsiteX1-103" fmla="*/ 183744 w 1156675"/>
              <a:gd name="connsiteY1-104" fmla="*/ 0 h 738113"/>
              <a:gd name="connsiteX2-105" fmla="*/ 962937 w 1156675"/>
              <a:gd name="connsiteY2-106" fmla="*/ 0 h 738113"/>
              <a:gd name="connsiteX3-107" fmla="*/ 1156675 w 1156675"/>
              <a:gd name="connsiteY3-108" fmla="*/ 586502 h 738113"/>
              <a:gd name="connsiteX4-109" fmla="*/ 0 w 1156675"/>
              <a:gd name="connsiteY4-110" fmla="*/ 591374 h 738113"/>
              <a:gd name="connsiteX0-111" fmla="*/ 0 w 1156675"/>
              <a:gd name="connsiteY0-112" fmla="*/ 591374 h 854599"/>
              <a:gd name="connsiteX1-113" fmla="*/ 183744 w 1156675"/>
              <a:gd name="connsiteY1-114" fmla="*/ 0 h 854599"/>
              <a:gd name="connsiteX2-115" fmla="*/ 962937 w 1156675"/>
              <a:gd name="connsiteY2-116" fmla="*/ 0 h 854599"/>
              <a:gd name="connsiteX3-117" fmla="*/ 1156675 w 1156675"/>
              <a:gd name="connsiteY3-118" fmla="*/ 586502 h 854599"/>
              <a:gd name="connsiteX4-119" fmla="*/ 0 w 1156675"/>
              <a:gd name="connsiteY4-120" fmla="*/ 591374 h 854599"/>
              <a:gd name="connsiteX0-121" fmla="*/ 0 w 1156675"/>
              <a:gd name="connsiteY0-122" fmla="*/ 591374 h 898362"/>
              <a:gd name="connsiteX1-123" fmla="*/ 183744 w 1156675"/>
              <a:gd name="connsiteY1-124" fmla="*/ 0 h 898362"/>
              <a:gd name="connsiteX2-125" fmla="*/ 962937 w 1156675"/>
              <a:gd name="connsiteY2-126" fmla="*/ 0 h 898362"/>
              <a:gd name="connsiteX3-127" fmla="*/ 1156675 w 1156675"/>
              <a:gd name="connsiteY3-128" fmla="*/ 586502 h 898362"/>
              <a:gd name="connsiteX4-129" fmla="*/ 0 w 1156675"/>
              <a:gd name="connsiteY4-130" fmla="*/ 591374 h 898362"/>
              <a:gd name="connsiteX0-131" fmla="*/ 0 w 1156675"/>
              <a:gd name="connsiteY0-132" fmla="*/ 637320 h 944308"/>
              <a:gd name="connsiteX1-133" fmla="*/ 183744 w 1156675"/>
              <a:gd name="connsiteY1-134" fmla="*/ 45946 h 944308"/>
              <a:gd name="connsiteX2-135" fmla="*/ 845153 w 1156675"/>
              <a:gd name="connsiteY2-136" fmla="*/ 0 h 944308"/>
              <a:gd name="connsiteX3-137" fmla="*/ 1156675 w 1156675"/>
              <a:gd name="connsiteY3-138" fmla="*/ 632448 h 944308"/>
              <a:gd name="connsiteX4-139" fmla="*/ 0 w 1156675"/>
              <a:gd name="connsiteY4-140" fmla="*/ 637320 h 944308"/>
              <a:gd name="connsiteX0-141" fmla="*/ 0 w 1156675"/>
              <a:gd name="connsiteY0-142" fmla="*/ 637320 h 944308"/>
              <a:gd name="connsiteX1-143" fmla="*/ 309380 w 1156675"/>
              <a:gd name="connsiteY1-144" fmla="*/ 17231 h 944308"/>
              <a:gd name="connsiteX2-145" fmla="*/ 845153 w 1156675"/>
              <a:gd name="connsiteY2-146" fmla="*/ 0 h 944308"/>
              <a:gd name="connsiteX3-147" fmla="*/ 1156675 w 1156675"/>
              <a:gd name="connsiteY3-148" fmla="*/ 632448 h 944308"/>
              <a:gd name="connsiteX4-149" fmla="*/ 0 w 1156675"/>
              <a:gd name="connsiteY4-150" fmla="*/ 637320 h 944308"/>
              <a:gd name="connsiteX0-151" fmla="*/ 0 w 1156675"/>
              <a:gd name="connsiteY0-152" fmla="*/ 637320 h 944308"/>
              <a:gd name="connsiteX1-153" fmla="*/ 309380 w 1156675"/>
              <a:gd name="connsiteY1-154" fmla="*/ 17231 h 944308"/>
              <a:gd name="connsiteX2-155" fmla="*/ 845153 w 1156675"/>
              <a:gd name="connsiteY2-156" fmla="*/ 0 h 944308"/>
              <a:gd name="connsiteX3-157" fmla="*/ 1156675 w 1156675"/>
              <a:gd name="connsiteY3-158" fmla="*/ 632448 h 944308"/>
              <a:gd name="connsiteX4-159" fmla="*/ 0 w 1156675"/>
              <a:gd name="connsiteY4-160" fmla="*/ 637320 h 944308"/>
              <a:gd name="connsiteX0-161" fmla="*/ 0 w 1156675"/>
              <a:gd name="connsiteY0-162" fmla="*/ 637320 h 944308"/>
              <a:gd name="connsiteX1-163" fmla="*/ 309380 w 1156675"/>
              <a:gd name="connsiteY1-164" fmla="*/ 17231 h 944308"/>
              <a:gd name="connsiteX2-165" fmla="*/ 845153 w 1156675"/>
              <a:gd name="connsiteY2-166" fmla="*/ 0 h 944308"/>
              <a:gd name="connsiteX3-167" fmla="*/ 1156675 w 1156675"/>
              <a:gd name="connsiteY3-168" fmla="*/ 632448 h 944308"/>
              <a:gd name="connsiteX4-169" fmla="*/ 0 w 1156675"/>
              <a:gd name="connsiteY4-170" fmla="*/ 637320 h 944308"/>
              <a:gd name="connsiteX0-171" fmla="*/ 0 w 1156675"/>
              <a:gd name="connsiteY0-172" fmla="*/ 637320 h 944308"/>
              <a:gd name="connsiteX1-173" fmla="*/ 309380 w 1156675"/>
              <a:gd name="connsiteY1-174" fmla="*/ 17231 h 944308"/>
              <a:gd name="connsiteX2-175" fmla="*/ 845153 w 1156675"/>
              <a:gd name="connsiteY2-176" fmla="*/ 0 h 944308"/>
              <a:gd name="connsiteX3-177" fmla="*/ 1156675 w 1156675"/>
              <a:gd name="connsiteY3-178" fmla="*/ 632448 h 944308"/>
              <a:gd name="connsiteX4-179" fmla="*/ 0 w 1156675"/>
              <a:gd name="connsiteY4-180" fmla="*/ 637320 h 944308"/>
              <a:gd name="connsiteX0-181" fmla="*/ 0 w 1156675"/>
              <a:gd name="connsiteY0-182" fmla="*/ 637320 h 944308"/>
              <a:gd name="connsiteX1-183" fmla="*/ 303382 w 1156675"/>
              <a:gd name="connsiteY1-184" fmla="*/ 14308 h 944308"/>
              <a:gd name="connsiteX2-185" fmla="*/ 845153 w 1156675"/>
              <a:gd name="connsiteY2-186" fmla="*/ 0 h 944308"/>
              <a:gd name="connsiteX3-187" fmla="*/ 1156675 w 1156675"/>
              <a:gd name="connsiteY3-188" fmla="*/ 632448 h 944308"/>
              <a:gd name="connsiteX4-189" fmla="*/ 0 w 1156675"/>
              <a:gd name="connsiteY4-190" fmla="*/ 637320 h 944308"/>
              <a:gd name="connsiteX0-191" fmla="*/ 0 w 1156675"/>
              <a:gd name="connsiteY0-192" fmla="*/ 690178 h 997166"/>
              <a:gd name="connsiteX1-193" fmla="*/ 263120 w 1156675"/>
              <a:gd name="connsiteY1-194" fmla="*/ 0 h 997166"/>
              <a:gd name="connsiteX2-195" fmla="*/ 845153 w 1156675"/>
              <a:gd name="connsiteY2-196" fmla="*/ 52858 h 997166"/>
              <a:gd name="connsiteX3-197" fmla="*/ 1156675 w 1156675"/>
              <a:gd name="connsiteY3-198" fmla="*/ 685306 h 997166"/>
              <a:gd name="connsiteX4-199" fmla="*/ 0 w 1156675"/>
              <a:gd name="connsiteY4-200" fmla="*/ 690178 h 997166"/>
              <a:gd name="connsiteX0-201" fmla="*/ 0 w 1156675"/>
              <a:gd name="connsiteY0-202" fmla="*/ 690178 h 997166"/>
              <a:gd name="connsiteX1-203" fmla="*/ 263120 w 1156675"/>
              <a:gd name="connsiteY1-204" fmla="*/ 0 h 997166"/>
              <a:gd name="connsiteX2-205" fmla="*/ 845153 w 1156675"/>
              <a:gd name="connsiteY2-206" fmla="*/ 52858 h 997166"/>
              <a:gd name="connsiteX3-207" fmla="*/ 1156675 w 1156675"/>
              <a:gd name="connsiteY3-208" fmla="*/ 685306 h 997166"/>
              <a:gd name="connsiteX4-209" fmla="*/ 0 w 1156675"/>
              <a:gd name="connsiteY4-210" fmla="*/ 690178 h 997166"/>
              <a:gd name="connsiteX0-211" fmla="*/ 0 w 1156675"/>
              <a:gd name="connsiteY0-212" fmla="*/ 690178 h 997166"/>
              <a:gd name="connsiteX1-213" fmla="*/ 263120 w 1156675"/>
              <a:gd name="connsiteY1-214" fmla="*/ 0 h 997166"/>
              <a:gd name="connsiteX2-215" fmla="*/ 872700 w 1156675"/>
              <a:gd name="connsiteY2-216" fmla="*/ 2484 h 997166"/>
              <a:gd name="connsiteX3-217" fmla="*/ 1156675 w 1156675"/>
              <a:gd name="connsiteY3-218" fmla="*/ 685306 h 997166"/>
              <a:gd name="connsiteX4-219" fmla="*/ 0 w 1156675"/>
              <a:gd name="connsiteY4-220" fmla="*/ 690178 h 997166"/>
              <a:gd name="connsiteX0-221" fmla="*/ 0 w 1156675"/>
              <a:gd name="connsiteY0-222" fmla="*/ 690178 h 997166"/>
              <a:gd name="connsiteX1-223" fmla="*/ 263120 w 1156675"/>
              <a:gd name="connsiteY1-224" fmla="*/ 0 h 997166"/>
              <a:gd name="connsiteX2-225" fmla="*/ 872700 w 1156675"/>
              <a:gd name="connsiteY2-226" fmla="*/ 2484 h 997166"/>
              <a:gd name="connsiteX3-227" fmla="*/ 1156675 w 1156675"/>
              <a:gd name="connsiteY3-228" fmla="*/ 685306 h 997166"/>
              <a:gd name="connsiteX4-229" fmla="*/ 0 w 1156675"/>
              <a:gd name="connsiteY4-230" fmla="*/ 690178 h 997166"/>
              <a:gd name="connsiteX0-231" fmla="*/ 0 w 1156675"/>
              <a:gd name="connsiteY0-232" fmla="*/ 690178 h 997166"/>
              <a:gd name="connsiteX1-233" fmla="*/ 263120 w 1156675"/>
              <a:gd name="connsiteY1-234" fmla="*/ 0 h 997166"/>
              <a:gd name="connsiteX2-235" fmla="*/ 872700 w 1156675"/>
              <a:gd name="connsiteY2-236" fmla="*/ 2484 h 997166"/>
              <a:gd name="connsiteX3-237" fmla="*/ 1156675 w 1156675"/>
              <a:gd name="connsiteY3-238" fmla="*/ 685306 h 997166"/>
              <a:gd name="connsiteX4-239" fmla="*/ 0 w 1156675"/>
              <a:gd name="connsiteY4-240" fmla="*/ 690178 h 997166"/>
              <a:gd name="connsiteX0-241" fmla="*/ 0 w 1156675"/>
              <a:gd name="connsiteY0-242" fmla="*/ 699927 h 1006915"/>
              <a:gd name="connsiteX1-243" fmla="*/ 263120 w 1156675"/>
              <a:gd name="connsiteY1-244" fmla="*/ 9749 h 1006915"/>
              <a:gd name="connsiteX2-245" fmla="*/ 879647 w 1156675"/>
              <a:gd name="connsiteY2-246" fmla="*/ 0 h 1006915"/>
              <a:gd name="connsiteX3-247" fmla="*/ 1156675 w 1156675"/>
              <a:gd name="connsiteY3-248" fmla="*/ 695055 h 1006915"/>
              <a:gd name="connsiteX4-249" fmla="*/ 0 w 1156675"/>
              <a:gd name="connsiteY4-250" fmla="*/ 699927 h 1006915"/>
              <a:gd name="connsiteX0-251" fmla="*/ 0 w 1156675"/>
              <a:gd name="connsiteY0-252" fmla="*/ 705467 h 1012455"/>
              <a:gd name="connsiteX1-253" fmla="*/ 252700 w 1156675"/>
              <a:gd name="connsiteY1-254" fmla="*/ 0 h 1012455"/>
              <a:gd name="connsiteX2-255" fmla="*/ 879647 w 1156675"/>
              <a:gd name="connsiteY2-256" fmla="*/ 5540 h 1012455"/>
              <a:gd name="connsiteX3-257" fmla="*/ 1156675 w 1156675"/>
              <a:gd name="connsiteY3-258" fmla="*/ 700595 h 1012455"/>
              <a:gd name="connsiteX4-259" fmla="*/ 0 w 1156675"/>
              <a:gd name="connsiteY4-260" fmla="*/ 705467 h 1012455"/>
              <a:gd name="connsiteX0-261" fmla="*/ 0 w 1156675"/>
              <a:gd name="connsiteY0-262" fmla="*/ 705467 h 1012455"/>
              <a:gd name="connsiteX1-263" fmla="*/ 252700 w 1156675"/>
              <a:gd name="connsiteY1-264" fmla="*/ 0 h 1012455"/>
              <a:gd name="connsiteX2-265" fmla="*/ 879647 w 1156675"/>
              <a:gd name="connsiteY2-266" fmla="*/ 5540 h 1012455"/>
              <a:gd name="connsiteX3-267" fmla="*/ 1156675 w 1156675"/>
              <a:gd name="connsiteY3-268" fmla="*/ 700595 h 1012455"/>
              <a:gd name="connsiteX4-269" fmla="*/ 0 w 1156675"/>
              <a:gd name="connsiteY4-270" fmla="*/ 705467 h 101245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156675" h="1012455">
                <a:moveTo>
                  <a:pt x="0" y="705467"/>
                </a:moveTo>
                <a:lnTo>
                  <a:pt x="252700" y="0"/>
                </a:lnTo>
                <a:cubicBezTo>
                  <a:pt x="487946" y="321535"/>
                  <a:pt x="701205" y="202710"/>
                  <a:pt x="879647" y="5540"/>
                </a:cubicBezTo>
                <a:lnTo>
                  <a:pt x="1156675" y="700595"/>
                </a:lnTo>
                <a:cubicBezTo>
                  <a:pt x="921192" y="1026067"/>
                  <a:pt x="382573" y="1195965"/>
                  <a:pt x="0" y="705467"/>
                </a:cubicBezTo>
                <a:close/>
              </a:path>
            </a:pathLst>
          </a:custGeom>
          <a:solidFill>
            <a:srgbClr val="E6E6E6">
              <a:alpha val="3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b="1">
              <a:latin typeface="微软雅黑"/>
              <a:ea typeface="微软雅黑"/>
              <a:cs typeface="微软雅黑"/>
              <a:sym typeface="微软雅黑"/>
            </a:endParaRPr>
          </a:p>
        </p:txBody>
      </p:sp>
      <p:sp>
        <p:nvSpPr>
          <p:cNvPr id="46" name="Object29"/>
          <p:cNvSpPr txBox="1"/>
          <p:nvPr/>
        </p:nvSpPr>
        <p:spPr>
          <a:xfrm flipH="1">
            <a:off x="4439654" y="3680700"/>
            <a:ext cx="429304" cy="201846"/>
          </a:xfrm>
          <a:prstGeom prst="rect">
            <a:avLst/>
          </a:prstGeom>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hangingPunct="0">
              <a:lnSpc>
                <a:spcPct val="100000"/>
              </a:lnSpc>
              <a:defRPr>
                <a:solidFill>
                  <a:srgbClr val="FFFFFF"/>
                </a:solidFill>
                <a:latin typeface="微软雅黑"/>
                <a:ea typeface="微软雅黑"/>
                <a:cs typeface="微软雅黑"/>
              </a:defRPr>
            </a:pPr>
            <a:r>
              <a:rPr lang="zh-CN" altLang="en-US" sz="1200" kern="0" dirty="0">
                <a:solidFill>
                  <a:srgbClr val="FFFFFF"/>
                </a:solidFill>
                <a:latin typeface="微软雅黑"/>
                <a:ea typeface="微软雅黑"/>
                <a:cs typeface="微软雅黑"/>
                <a:sym typeface="微软雅黑"/>
              </a:rPr>
              <a:t>挖掘</a:t>
            </a:r>
            <a:endParaRPr lang="zh-CN" altLang="en-US" sz="1200" kern="0" dirty="0">
              <a:solidFill>
                <a:srgbClr val="FFFFFF"/>
              </a:solidFill>
              <a:latin typeface="微软雅黑"/>
              <a:ea typeface="微软雅黑"/>
              <a:cs typeface="微软雅黑"/>
              <a:sym typeface="微软雅黑"/>
            </a:endParaRPr>
          </a:p>
        </p:txBody>
      </p:sp>
      <p:sp>
        <p:nvSpPr>
          <p:cNvPr id="47" name="Object29"/>
          <p:cNvSpPr txBox="1"/>
          <p:nvPr/>
        </p:nvSpPr>
        <p:spPr>
          <a:xfrm flipH="1">
            <a:off x="3318724" y="3333567"/>
            <a:ext cx="826443" cy="1009228"/>
          </a:xfrm>
          <a:prstGeom prst="rect">
            <a:avLst/>
          </a:prstGeom>
          <a:ln w="12700">
            <a:miter lim="400000"/>
          </a:ln>
        </p:spPr>
        <p:txBody>
          <a:bodyPr wrap="square" lIns="0" tIns="0" rIns="0" bIns="0">
            <a:spAutoFit/>
          </a:bodyPr>
          <a:lstStyle>
            <a:lvl1pPr algn="ctr" defTabSz="609600">
              <a:lnSpc>
                <a:spcPts val="2000"/>
              </a:lnSpc>
              <a:defRPr b="1">
                <a:solidFill>
                  <a:srgbClr val="383838"/>
                </a:solidFill>
                <a:latin typeface="微软雅黑"/>
                <a:ea typeface="微软雅黑"/>
                <a:cs typeface="微软雅黑"/>
                <a:sym typeface="微软雅黑"/>
              </a:defRPr>
            </a:lvl1pPr>
          </a:lstStyle>
          <a:p>
            <a:pPr hangingPunct="0">
              <a:lnSpc>
                <a:spcPct val="100000"/>
              </a:lnSpc>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发现市场</a:t>
            </a:r>
            <a:endParaRPr lang="en-US" altLang="zh-CN" sz="1200" kern="0" dirty="0">
              <a:solidFill>
                <a:srgbClr val="383838"/>
              </a:solidFill>
              <a:latin typeface="微软雅黑"/>
              <a:ea typeface="微软雅黑"/>
              <a:cs typeface="微软雅黑"/>
              <a:sym typeface="微软雅黑"/>
            </a:endParaRPr>
          </a:p>
          <a:p>
            <a:pPr hangingPunct="0">
              <a:lnSpc>
                <a:spcPct val="100000"/>
              </a:lnSpc>
              <a:defRPr>
                <a:latin typeface="微软雅黑"/>
                <a:ea typeface="微软雅黑"/>
                <a:cs typeface="微软雅黑"/>
              </a:defRPr>
            </a:pPr>
            <a:endParaRPr lang="en-US" altLang="zh-CN" sz="1200" kern="0" dirty="0">
              <a:solidFill>
                <a:srgbClr val="383838"/>
              </a:solidFill>
              <a:latin typeface="微软雅黑"/>
              <a:ea typeface="微软雅黑"/>
              <a:cs typeface="微软雅黑"/>
              <a:sym typeface="微软雅黑"/>
            </a:endParaRPr>
          </a:p>
          <a:p>
            <a:pPr hangingPunct="0">
              <a:lnSpc>
                <a:spcPct val="100000"/>
              </a:lnSpc>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发现潜客</a:t>
            </a:r>
            <a:endParaRPr lang="en-US" altLang="zh-CN" sz="1200" kern="0" dirty="0">
              <a:solidFill>
                <a:srgbClr val="383838"/>
              </a:solidFill>
              <a:latin typeface="微软雅黑"/>
              <a:ea typeface="微软雅黑"/>
              <a:cs typeface="微软雅黑"/>
              <a:sym typeface="微软雅黑"/>
            </a:endParaRPr>
          </a:p>
          <a:p>
            <a:pPr hangingPunct="0">
              <a:lnSpc>
                <a:spcPct val="100000"/>
              </a:lnSpc>
              <a:defRPr>
                <a:latin typeface="微软雅黑"/>
                <a:ea typeface="微软雅黑"/>
                <a:cs typeface="微软雅黑"/>
              </a:defRPr>
            </a:pPr>
            <a:endParaRPr lang="en-US" altLang="zh-CN" sz="1200" kern="0" dirty="0">
              <a:solidFill>
                <a:srgbClr val="383838"/>
              </a:solidFill>
              <a:latin typeface="微软雅黑"/>
              <a:ea typeface="微软雅黑"/>
              <a:cs typeface="微软雅黑"/>
              <a:sym typeface="微软雅黑"/>
            </a:endParaRPr>
          </a:p>
          <a:p>
            <a:pPr hangingPunct="0">
              <a:lnSpc>
                <a:spcPct val="100000"/>
              </a:lnSpc>
              <a:defRPr>
                <a:latin typeface="微软雅黑"/>
                <a:ea typeface="微软雅黑"/>
                <a:cs typeface="微软雅黑"/>
              </a:defRPr>
            </a:pPr>
            <a:r>
              <a:rPr lang="zh-CN" altLang="en-US" sz="1200" kern="0" dirty="0">
                <a:solidFill>
                  <a:srgbClr val="383838"/>
                </a:solidFill>
                <a:latin typeface="微软雅黑"/>
                <a:ea typeface="微软雅黑"/>
                <a:cs typeface="微软雅黑"/>
                <a:sym typeface="微软雅黑"/>
              </a:rPr>
              <a:t>发现需求</a:t>
            </a:r>
            <a:endParaRPr lang="zh-CN" altLang="en-US" sz="1200" kern="0" dirty="0">
              <a:solidFill>
                <a:srgbClr val="383838"/>
              </a:solidFill>
              <a:latin typeface="微软雅黑"/>
              <a:ea typeface="微软雅黑"/>
              <a:cs typeface="微软雅黑"/>
              <a:sym typeface="微软雅黑"/>
            </a:endParaRPr>
          </a:p>
        </p:txBody>
      </p:sp>
      <p:sp>
        <p:nvSpPr>
          <p:cNvPr id="48" name="矩形: 圆角 114"/>
          <p:cNvSpPr/>
          <p:nvPr/>
        </p:nvSpPr>
        <p:spPr>
          <a:xfrm>
            <a:off x="3182000" y="2485871"/>
            <a:ext cx="1794263" cy="2572732"/>
          </a:xfrm>
          <a:prstGeom prst="roundRect">
            <a:avLst>
              <a:gd name="adj" fmla="val 0"/>
            </a:avLst>
          </a:prstGeom>
          <a:noFill/>
          <a:ln w="19050" cap="flat">
            <a:solidFill>
              <a:srgbClr val="3368FF"/>
            </a:solidFill>
            <a:prstDash val="dash"/>
            <a:miter/>
          </a:ln>
          <a:effectLst>
            <a:outerShdw blurRad="190500" sx="102000" sy="102000" algn="ctr" rotWithShape="0">
              <a:srgbClr val="383838">
                <a:alpha val="20000"/>
              </a:srgbClr>
            </a:outerShdw>
          </a:effectLst>
        </p:spPr>
        <p:txBody>
          <a:bodyPr rtlCol="0" anchor="ctr"/>
          <a:lstStyle/>
          <a:p>
            <a:pPr defTabSz="731520">
              <a:defRPr>
                <a:latin typeface="微软雅黑"/>
                <a:ea typeface="微软雅黑"/>
                <a:cs typeface="微软雅黑"/>
              </a:defRPr>
            </a:pPr>
            <a:endParaRPr lang="zh-CN" altLang="en-US" sz="1440" b="1" dirty="0">
              <a:solidFill>
                <a:srgbClr val="383838"/>
              </a:solidFill>
              <a:latin typeface="微软雅黑"/>
              <a:ea typeface="微软雅黑"/>
              <a:cs typeface="微软雅黑"/>
            </a:endParaRPr>
          </a:p>
        </p:txBody>
      </p:sp>
      <p:sp>
        <p:nvSpPr>
          <p:cNvPr id="68" name="Object60"/>
          <p:cNvSpPr/>
          <p:nvPr/>
        </p:nvSpPr>
        <p:spPr>
          <a:xfrm>
            <a:off x="4383334" y="2553129"/>
            <a:ext cx="590813" cy="182166"/>
          </a:xfrm>
          <a:prstGeom prst="rect">
            <a:avLst/>
          </a:prstGeom>
          <a:noFill/>
        </p:spPr>
        <p:txBody>
          <a:bodyPr wrap="square" lIns="0" tIns="0" rIns="0" bIns="0" rtlCol="0" anchor="t">
            <a:spAutoFit/>
          </a:bodyPr>
          <a:lstStyle/>
          <a:p>
            <a:pPr algn="ctr" defTabSz="731520">
              <a:lnSpc>
                <a:spcPct val="130000"/>
              </a:lnSpc>
              <a:defRPr>
                <a:latin typeface="微软雅黑"/>
                <a:ea typeface="微软雅黑"/>
                <a:cs typeface="微软雅黑"/>
              </a:defRPr>
            </a:pPr>
            <a:r>
              <a:rPr lang="zh-CN" altLang="en-US" sz="1000" b="1" dirty="0">
                <a:solidFill>
                  <a:srgbClr val="0042FF"/>
                </a:solidFill>
                <a:latin typeface="微软雅黑"/>
                <a:ea typeface="微软雅黑"/>
                <a:cs typeface="微软雅黑"/>
              </a:rPr>
              <a:t>潜客池</a:t>
            </a:r>
            <a:endParaRPr lang="zh-CN" altLang="en-US" sz="1000" b="1" dirty="0">
              <a:solidFill>
                <a:srgbClr val="0042FF"/>
              </a:solidFill>
              <a:latin typeface="微软雅黑"/>
              <a:ea typeface="微软雅黑"/>
              <a:cs typeface="微软雅黑"/>
            </a:endParaRPr>
          </a:p>
        </p:txBody>
      </p:sp>
      <p:sp>
        <p:nvSpPr>
          <p:cNvPr id="69" name="Object29"/>
          <p:cNvSpPr/>
          <p:nvPr/>
        </p:nvSpPr>
        <p:spPr>
          <a:xfrm>
            <a:off x="4123252" y="1305692"/>
            <a:ext cx="1836991" cy="326986"/>
          </a:xfrm>
          <a:prstGeom prst="rect">
            <a:avLst/>
          </a:prstGeom>
          <a:ln w="12700">
            <a:miter lim="400000"/>
          </a:ln>
        </p:spPr>
        <p:txBody>
          <a:bodyPr wrap="none" lIns="25400" tIns="25400" rIns="25400" bIns="25400" anchor="ctr">
            <a:noAutofit/>
          </a:bodyPr>
          <a:lstStyle/>
          <a:p>
            <a:pPr algn="ctr" defTabSz="1219200" hangingPunct="0">
              <a:defRPr>
                <a:latin typeface="微软雅黑"/>
                <a:ea typeface="微软雅黑"/>
                <a:cs typeface="微软雅黑"/>
              </a:defRPr>
            </a:pPr>
            <a:r>
              <a:rPr lang="zh-CN" altLang="en-US" sz="1200" b="1" kern="0" dirty="0">
                <a:solidFill>
                  <a:srgbClr val="383838"/>
                </a:solidFill>
                <a:latin typeface="微软雅黑"/>
                <a:ea typeface="微软雅黑"/>
                <a:cs typeface="微软雅黑"/>
              </a:rPr>
              <a:t>实时互动 提高营销转化</a:t>
            </a:r>
            <a:endParaRPr lang="zh-CN" altLang="en-US" sz="1200" b="1" kern="0" dirty="0">
              <a:solidFill>
                <a:srgbClr val="383838"/>
              </a:solidFill>
              <a:latin typeface="微软雅黑"/>
              <a:ea typeface="微软雅黑"/>
              <a:cs typeface="微软雅黑"/>
            </a:endParaRPr>
          </a:p>
        </p:txBody>
      </p:sp>
      <p:grpSp>
        <p:nvGrpSpPr>
          <p:cNvPr id="70" name="组合 69"/>
          <p:cNvGrpSpPr/>
          <p:nvPr/>
        </p:nvGrpSpPr>
        <p:grpSpPr>
          <a:xfrm>
            <a:off x="6579514" y="1305692"/>
            <a:ext cx="1114515" cy="517237"/>
            <a:chOff x="6168897" y="1196736"/>
            <a:chExt cx="1019655" cy="473213"/>
          </a:xfrm>
        </p:grpSpPr>
        <p:sp>
          <p:nvSpPr>
            <p:cNvPr id="49" name="Object29"/>
            <p:cNvSpPr/>
            <p:nvPr/>
          </p:nvSpPr>
          <p:spPr>
            <a:xfrm>
              <a:off x="6168897" y="1196736"/>
              <a:ext cx="1019655" cy="299155"/>
            </a:xfrm>
            <a:prstGeom prst="rect">
              <a:avLst/>
            </a:prstGeom>
            <a:ln w="12700">
              <a:miter lim="400000"/>
            </a:ln>
          </p:spPr>
          <p:txBody>
            <a:bodyPr wrap="none" lIns="25400" tIns="25400" rIns="25400" bIns="25400" anchor="ctr">
              <a:noAutofit/>
            </a:bodyPr>
            <a:lstStyle/>
            <a:p>
              <a:pPr algn="ctr" defTabSz="1219200" hangingPunct="0">
                <a:defRPr>
                  <a:latin typeface="微软雅黑"/>
                  <a:ea typeface="微软雅黑"/>
                  <a:cs typeface="微软雅黑"/>
                </a:defRPr>
              </a:pPr>
              <a:r>
                <a:rPr lang="zh-CN" altLang="en-US" sz="1200" b="1" kern="0" dirty="0">
                  <a:solidFill>
                    <a:srgbClr val="383838"/>
                  </a:solidFill>
                  <a:latin typeface="微软雅黑"/>
                  <a:ea typeface="微软雅黑"/>
                  <a:cs typeface="微软雅黑"/>
                </a:rPr>
                <a:t>智能化留存分析</a:t>
              </a:r>
              <a:endParaRPr lang="zh-CN" altLang="en-US" sz="1200" b="1" kern="0" dirty="0">
                <a:solidFill>
                  <a:srgbClr val="383838"/>
                </a:solidFill>
                <a:latin typeface="微软雅黑"/>
                <a:ea typeface="微软雅黑"/>
                <a:cs typeface="微软雅黑"/>
              </a:endParaRPr>
            </a:p>
          </p:txBody>
        </p:sp>
        <p:sp>
          <p:nvSpPr>
            <p:cNvPr id="88" name="Object29"/>
            <p:cNvSpPr/>
            <p:nvPr/>
          </p:nvSpPr>
          <p:spPr>
            <a:xfrm>
              <a:off x="6168897" y="1370794"/>
              <a:ext cx="1019654" cy="299155"/>
            </a:xfrm>
            <a:prstGeom prst="rect">
              <a:avLst/>
            </a:prstGeom>
            <a:ln w="12700">
              <a:miter lim="400000"/>
            </a:ln>
          </p:spPr>
          <p:txBody>
            <a:bodyPr wrap="none" lIns="0" tIns="0" rIns="0" bIns="0" anchor="ctr">
              <a:noAutofit/>
            </a:bodyPr>
            <a:lstStyle/>
            <a:p>
              <a:pPr algn="ctr" defTabSz="1219200" hangingPunct="0">
                <a:defRPr>
                  <a:latin typeface="微软雅黑"/>
                  <a:ea typeface="微软雅黑"/>
                  <a:cs typeface="微软雅黑"/>
                </a:defRPr>
              </a:pPr>
              <a:r>
                <a:rPr lang="zh-CN" altLang="en-US" sz="1000" b="1" kern="0" dirty="0">
                  <a:solidFill>
                    <a:srgbClr val="383838"/>
                  </a:solidFill>
                  <a:latin typeface="微软雅黑"/>
                  <a:ea typeface="微软雅黑"/>
                  <a:cs typeface="微软雅黑"/>
                </a:rPr>
                <a:t>关注客户留存率</a:t>
              </a:r>
              <a:endParaRPr lang="zh-CN" altLang="en-US" sz="1000" b="1" kern="0" dirty="0">
                <a:solidFill>
                  <a:srgbClr val="383838"/>
                </a:solidFill>
                <a:latin typeface="微软雅黑"/>
                <a:ea typeface="微软雅黑"/>
                <a:cs typeface="微软雅黑"/>
              </a:endParaRPr>
            </a:p>
          </p:txBody>
        </p:sp>
      </p:grpSp>
      <p:grpSp>
        <p:nvGrpSpPr>
          <p:cNvPr id="71" name="组合 70"/>
          <p:cNvGrpSpPr/>
          <p:nvPr/>
        </p:nvGrpSpPr>
        <p:grpSpPr>
          <a:xfrm>
            <a:off x="9574605" y="1318353"/>
            <a:ext cx="1114515" cy="517237"/>
            <a:chOff x="7242253" y="1196736"/>
            <a:chExt cx="1019655" cy="473213"/>
          </a:xfrm>
        </p:grpSpPr>
        <p:sp>
          <p:nvSpPr>
            <p:cNvPr id="50" name="Object29"/>
            <p:cNvSpPr/>
            <p:nvPr/>
          </p:nvSpPr>
          <p:spPr>
            <a:xfrm>
              <a:off x="7242253" y="1196736"/>
              <a:ext cx="1019655" cy="299155"/>
            </a:xfrm>
            <a:prstGeom prst="rect">
              <a:avLst/>
            </a:prstGeom>
            <a:ln w="12700">
              <a:miter lim="400000"/>
            </a:ln>
          </p:spPr>
          <p:txBody>
            <a:bodyPr wrap="none" lIns="25400" tIns="25400" rIns="25400" bIns="25400" anchor="ctr">
              <a:noAutofit/>
            </a:bodyPr>
            <a:lstStyle/>
            <a:p>
              <a:pPr algn="ctr" defTabSz="1219200" hangingPunct="0">
                <a:defRPr>
                  <a:latin typeface="微软雅黑"/>
                  <a:ea typeface="微软雅黑"/>
                  <a:cs typeface="微软雅黑"/>
                </a:defRPr>
              </a:pPr>
              <a:r>
                <a:rPr lang="zh-CN" altLang="en-US" sz="1200" b="1" kern="0" dirty="0">
                  <a:solidFill>
                    <a:srgbClr val="383838"/>
                  </a:solidFill>
                  <a:latin typeface="微软雅黑"/>
                  <a:ea typeface="微软雅黑"/>
                  <a:cs typeface="微软雅黑"/>
                </a:rPr>
                <a:t>客户成功</a:t>
              </a:r>
              <a:endParaRPr lang="zh-CN" altLang="en-US" sz="1200" b="1" kern="0" dirty="0">
                <a:solidFill>
                  <a:srgbClr val="383838"/>
                </a:solidFill>
                <a:latin typeface="微软雅黑"/>
                <a:ea typeface="微软雅黑"/>
                <a:cs typeface="微软雅黑"/>
              </a:endParaRPr>
            </a:p>
          </p:txBody>
        </p:sp>
        <p:sp>
          <p:nvSpPr>
            <p:cNvPr id="52" name="Object29"/>
            <p:cNvSpPr/>
            <p:nvPr/>
          </p:nvSpPr>
          <p:spPr>
            <a:xfrm>
              <a:off x="7242253" y="1370794"/>
              <a:ext cx="1019655" cy="299155"/>
            </a:xfrm>
            <a:prstGeom prst="rect">
              <a:avLst/>
            </a:prstGeom>
            <a:ln w="12700">
              <a:miter lim="400000"/>
            </a:ln>
          </p:spPr>
          <p:txBody>
            <a:bodyPr wrap="none" lIns="0" tIns="0" rIns="0" bIns="0" anchor="ctr">
              <a:noAutofit/>
            </a:bodyPr>
            <a:lstStyle/>
            <a:p>
              <a:pPr algn="ctr" defTabSz="1219200" hangingPunct="0">
                <a:defRPr>
                  <a:latin typeface="微软雅黑"/>
                  <a:ea typeface="微软雅黑"/>
                  <a:cs typeface="微软雅黑"/>
                </a:defRPr>
              </a:pPr>
              <a:r>
                <a:rPr lang="zh-CN" altLang="en-US" sz="1000" kern="0" dirty="0">
                  <a:solidFill>
                    <a:srgbClr val="383838"/>
                  </a:solidFill>
                  <a:latin typeface="微软雅黑"/>
                  <a:ea typeface="微软雅黑"/>
                  <a:cs typeface="微软雅黑"/>
                </a:rPr>
                <a:t>关注客户生命周期</a:t>
              </a:r>
              <a:endParaRPr lang="zh-CN" altLang="en-US" sz="1000" kern="0" dirty="0">
                <a:solidFill>
                  <a:srgbClr val="383838"/>
                </a:solidFill>
                <a:latin typeface="微软雅黑"/>
                <a:ea typeface="微软雅黑"/>
                <a:cs typeface="微软雅黑"/>
              </a:endParaRPr>
            </a:p>
          </p:txBody>
        </p:sp>
      </p:grpSp>
      <p:sp>
        <p:nvSpPr>
          <p:cNvPr id="72" name="Object29"/>
          <p:cNvSpPr/>
          <p:nvPr/>
        </p:nvSpPr>
        <p:spPr>
          <a:xfrm>
            <a:off x="4123252" y="1495943"/>
            <a:ext cx="1836991" cy="326986"/>
          </a:xfrm>
          <a:prstGeom prst="rect">
            <a:avLst/>
          </a:prstGeom>
          <a:ln w="12700">
            <a:miter lim="400000"/>
          </a:ln>
        </p:spPr>
        <p:txBody>
          <a:bodyPr wrap="none" lIns="0" tIns="0" rIns="0" bIns="0" anchor="ctr">
            <a:noAutofit/>
          </a:bodyPr>
          <a:lstStyle/>
          <a:p>
            <a:pPr algn="ctr" defTabSz="1219200" hangingPunct="0">
              <a:defRPr>
                <a:latin typeface="微软雅黑"/>
                <a:ea typeface="微软雅黑"/>
                <a:cs typeface="微软雅黑"/>
              </a:defRPr>
            </a:pPr>
            <a:r>
              <a:rPr lang="zh-CN" altLang="en-US" sz="1000" b="1" kern="0" dirty="0">
                <a:solidFill>
                  <a:srgbClr val="383838"/>
                </a:solidFill>
                <a:latin typeface="微软雅黑"/>
                <a:ea typeface="微软雅黑"/>
                <a:cs typeface="微软雅黑"/>
              </a:rPr>
              <a:t>关注客户转化率</a:t>
            </a:r>
            <a:endParaRPr lang="zh-CN" altLang="en-US" sz="1000" b="1" kern="0" dirty="0">
              <a:solidFill>
                <a:srgbClr val="383838"/>
              </a:solidFill>
              <a:latin typeface="微软雅黑"/>
              <a:ea typeface="微软雅黑"/>
              <a:cs typeface="微软雅黑"/>
            </a:endParaRPr>
          </a:p>
        </p:txBody>
      </p:sp>
      <p:grpSp>
        <p:nvGrpSpPr>
          <p:cNvPr id="73" name="组合 72"/>
          <p:cNvGrpSpPr/>
          <p:nvPr/>
        </p:nvGrpSpPr>
        <p:grpSpPr>
          <a:xfrm>
            <a:off x="1143910" y="1305692"/>
            <a:ext cx="1836991" cy="517237"/>
            <a:chOff x="7242253" y="1196736"/>
            <a:chExt cx="1019655" cy="473213"/>
          </a:xfrm>
        </p:grpSpPr>
        <p:sp>
          <p:nvSpPr>
            <p:cNvPr id="53" name="Object29"/>
            <p:cNvSpPr/>
            <p:nvPr/>
          </p:nvSpPr>
          <p:spPr>
            <a:xfrm>
              <a:off x="7242253" y="1196736"/>
              <a:ext cx="1019655" cy="299155"/>
            </a:xfrm>
            <a:prstGeom prst="rect">
              <a:avLst/>
            </a:prstGeom>
            <a:ln w="12700">
              <a:miter lim="400000"/>
            </a:ln>
          </p:spPr>
          <p:txBody>
            <a:bodyPr wrap="none" lIns="25400" tIns="25400" rIns="25400" bIns="25400" anchor="ctr">
              <a:noAutofit/>
            </a:bodyPr>
            <a:lstStyle/>
            <a:p>
              <a:pPr algn="ctr" defTabSz="1219200" hangingPunct="0">
                <a:defRPr>
                  <a:latin typeface="微软雅黑"/>
                  <a:ea typeface="微软雅黑"/>
                  <a:cs typeface="微软雅黑"/>
                </a:defRPr>
              </a:pPr>
              <a:r>
                <a:rPr lang="zh-CN" altLang="en-US" sz="1200" b="1" kern="0" dirty="0">
                  <a:solidFill>
                    <a:srgbClr val="383838"/>
                  </a:solidFill>
                  <a:latin typeface="微软雅黑"/>
                  <a:ea typeface="微软雅黑"/>
                  <a:cs typeface="微软雅黑"/>
                </a:rPr>
                <a:t>全渠道整合</a:t>
              </a:r>
              <a:endParaRPr lang="zh-CN" altLang="en-US" sz="1200" b="1" kern="0" dirty="0">
                <a:solidFill>
                  <a:srgbClr val="383838"/>
                </a:solidFill>
                <a:latin typeface="微软雅黑"/>
                <a:ea typeface="微软雅黑"/>
                <a:cs typeface="微软雅黑"/>
              </a:endParaRPr>
            </a:p>
          </p:txBody>
        </p:sp>
        <p:sp>
          <p:nvSpPr>
            <p:cNvPr id="55" name="Object29"/>
            <p:cNvSpPr/>
            <p:nvPr/>
          </p:nvSpPr>
          <p:spPr>
            <a:xfrm>
              <a:off x="7242253" y="1370794"/>
              <a:ext cx="1019655" cy="299155"/>
            </a:xfrm>
            <a:prstGeom prst="rect">
              <a:avLst/>
            </a:prstGeom>
            <a:ln w="12700">
              <a:miter lim="400000"/>
            </a:ln>
          </p:spPr>
          <p:txBody>
            <a:bodyPr wrap="none" lIns="0" tIns="0" rIns="0" bIns="0" anchor="ctr">
              <a:noAutofit/>
            </a:bodyPr>
            <a:lstStyle/>
            <a:p>
              <a:pPr algn="ctr" defTabSz="1219200" hangingPunct="0">
                <a:defRPr>
                  <a:latin typeface="微软雅黑"/>
                  <a:ea typeface="微软雅黑"/>
                  <a:cs typeface="微软雅黑"/>
                </a:defRPr>
              </a:pPr>
              <a:r>
                <a:rPr lang="zh-CN" altLang="en-US" sz="1000" kern="0" dirty="0">
                  <a:solidFill>
                    <a:srgbClr val="383838"/>
                  </a:solidFill>
                  <a:latin typeface="微软雅黑"/>
                  <a:ea typeface="微软雅黑"/>
                  <a:cs typeface="微软雅黑"/>
                </a:rPr>
                <a:t>关注潜客精准度</a:t>
              </a:r>
              <a:endParaRPr lang="zh-CN" altLang="en-US" sz="1000" kern="0" dirty="0">
                <a:solidFill>
                  <a:srgbClr val="383838"/>
                </a:solidFill>
                <a:latin typeface="微软雅黑"/>
                <a:ea typeface="微软雅黑"/>
                <a:cs typeface="微软雅黑"/>
              </a:endParaRPr>
            </a:p>
          </p:txBody>
        </p:sp>
      </p:grpSp>
      <p:cxnSp>
        <p:nvCxnSpPr>
          <p:cNvPr id="79" name="直线连接符 78"/>
          <p:cNvCxnSpPr/>
          <p:nvPr/>
        </p:nvCxnSpPr>
        <p:spPr>
          <a:xfrm flipV="1">
            <a:off x="10931015" y="1210292"/>
            <a:ext cx="3175" cy="4947285"/>
          </a:xfrm>
          <a:prstGeom prst="line">
            <a:avLst/>
          </a:prstGeom>
          <a:ln w="9525">
            <a:solidFill>
              <a:srgbClr val="DCDCDC"/>
            </a:solidFill>
            <a:prstDash val="dash"/>
            <a:headEnd type="none"/>
            <a:tailEnd type="none"/>
          </a:ln>
        </p:spPr>
        <p:style>
          <a:lnRef idx="1">
            <a:srgbClr val="0042FF"/>
          </a:lnRef>
          <a:fillRef idx="0">
            <a:srgbClr val="0042FF"/>
          </a:fillRef>
          <a:effectRef idx="0">
            <a:srgbClr val="0042FF"/>
          </a:effectRef>
          <a:fontRef idx="minor">
            <a:srgbClr val="383838"/>
          </a:fontRef>
        </p:style>
      </p:cxnSp>
      <p:cxnSp>
        <p:nvCxnSpPr>
          <p:cNvPr id="80" name="直线连接符 79"/>
          <p:cNvCxnSpPr/>
          <p:nvPr/>
        </p:nvCxnSpPr>
        <p:spPr>
          <a:xfrm flipH="1" flipV="1">
            <a:off x="9326605" y="1210292"/>
            <a:ext cx="2540" cy="4935220"/>
          </a:xfrm>
          <a:prstGeom prst="line">
            <a:avLst/>
          </a:prstGeom>
          <a:ln w="9525">
            <a:solidFill>
              <a:srgbClr val="DCDCDC"/>
            </a:solidFill>
            <a:prstDash val="dash"/>
            <a:headEnd type="none"/>
            <a:tailEnd type="none"/>
          </a:ln>
        </p:spPr>
        <p:style>
          <a:lnRef idx="1">
            <a:srgbClr val="0042FF"/>
          </a:lnRef>
          <a:fillRef idx="0">
            <a:srgbClr val="0042FF"/>
          </a:fillRef>
          <a:effectRef idx="0">
            <a:srgbClr val="0042FF"/>
          </a:effectRef>
          <a:fontRef idx="minor">
            <a:srgbClr val="383838"/>
          </a:fontRef>
        </p:style>
      </p:cxnSp>
      <p:cxnSp>
        <p:nvCxnSpPr>
          <p:cNvPr id="81" name="直线连接符 80"/>
          <p:cNvCxnSpPr/>
          <p:nvPr/>
        </p:nvCxnSpPr>
        <p:spPr>
          <a:xfrm flipV="1">
            <a:off x="2900718" y="1210292"/>
            <a:ext cx="3175" cy="4932045"/>
          </a:xfrm>
          <a:prstGeom prst="line">
            <a:avLst/>
          </a:prstGeom>
          <a:ln w="9525">
            <a:solidFill>
              <a:srgbClr val="DCDCDC"/>
            </a:solidFill>
            <a:prstDash val="dash"/>
            <a:headEnd type="none"/>
            <a:tailEnd type="none"/>
          </a:ln>
        </p:spPr>
        <p:style>
          <a:lnRef idx="1">
            <a:srgbClr val="0042FF"/>
          </a:lnRef>
          <a:fillRef idx="0">
            <a:srgbClr val="0042FF"/>
          </a:fillRef>
          <a:effectRef idx="0">
            <a:srgbClr val="0042FF"/>
          </a:effectRef>
          <a:fontRef idx="minor">
            <a:srgbClr val="383838"/>
          </a:fontRef>
        </p:style>
      </p:cxnSp>
      <p:cxnSp>
        <p:nvCxnSpPr>
          <p:cNvPr id="82" name="直线连接符 81"/>
          <p:cNvCxnSpPr/>
          <p:nvPr/>
        </p:nvCxnSpPr>
        <p:spPr>
          <a:xfrm flipH="1" flipV="1">
            <a:off x="1248355" y="1210292"/>
            <a:ext cx="2540" cy="4912360"/>
          </a:xfrm>
          <a:prstGeom prst="line">
            <a:avLst/>
          </a:prstGeom>
          <a:ln w="9525">
            <a:solidFill>
              <a:srgbClr val="DCDCDC"/>
            </a:solidFill>
            <a:prstDash val="dash"/>
            <a:headEnd type="none"/>
            <a:tailEnd type="none"/>
          </a:ln>
        </p:spPr>
        <p:style>
          <a:lnRef idx="1">
            <a:srgbClr val="0042FF"/>
          </a:lnRef>
          <a:fillRef idx="0">
            <a:srgbClr val="0042FF"/>
          </a:fillRef>
          <a:effectRef idx="0">
            <a:srgbClr val="0042FF"/>
          </a:effectRef>
          <a:fontRef idx="minor">
            <a:srgbClr val="383838"/>
          </a:fontRef>
        </p:style>
      </p:cxnSp>
      <p:sp>
        <p:nvSpPr>
          <p:cNvPr id="75" name="上箭头 74"/>
          <p:cNvSpPr/>
          <p:nvPr/>
        </p:nvSpPr>
        <p:spPr>
          <a:xfrm>
            <a:off x="4939402" y="1738212"/>
            <a:ext cx="270698" cy="361002"/>
          </a:xfrm>
          <a:prstGeom prst="upArrow">
            <a:avLst>
              <a:gd name="adj1" fmla="val 50000"/>
              <a:gd name="adj2" fmla="val 60345"/>
            </a:avLst>
          </a:prstGeom>
          <a:gradFill>
            <a:gsLst>
              <a:gs pos="0">
                <a:srgbClr val="3368FF">
                  <a:alpha val="100000"/>
                </a:srgbClr>
              </a:gs>
              <a:gs pos="100000">
                <a:srgbClr val="3368FF">
                  <a:alpha val="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76" name="上箭头 75"/>
          <p:cNvSpPr/>
          <p:nvPr/>
        </p:nvSpPr>
        <p:spPr>
          <a:xfrm rot="10800000">
            <a:off x="4088563" y="5119875"/>
            <a:ext cx="270698" cy="195852"/>
          </a:xfrm>
          <a:prstGeom prst="upArrow">
            <a:avLst>
              <a:gd name="adj1" fmla="val 50000"/>
              <a:gd name="adj2" fmla="val 60345"/>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77" name="上箭头 76"/>
          <p:cNvSpPr/>
          <p:nvPr/>
        </p:nvSpPr>
        <p:spPr>
          <a:xfrm rot="10800000">
            <a:off x="7001421" y="1738212"/>
            <a:ext cx="270698" cy="361002"/>
          </a:xfrm>
          <a:prstGeom prst="upArrow">
            <a:avLst>
              <a:gd name="adj1" fmla="val 50000"/>
              <a:gd name="adj2" fmla="val 60345"/>
            </a:avLst>
          </a:prstGeom>
          <a:gradFill>
            <a:gsLst>
              <a:gs pos="0">
                <a:srgbClr val="3368FF">
                  <a:alpha val="100000"/>
                </a:srgbClr>
              </a:gs>
              <a:gs pos="100000">
                <a:srgbClr val="3368FF">
                  <a:alpha val="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78" name="上箭头 77"/>
          <p:cNvSpPr/>
          <p:nvPr/>
        </p:nvSpPr>
        <p:spPr>
          <a:xfrm rot="10800000">
            <a:off x="8114440" y="5136385"/>
            <a:ext cx="270698" cy="195852"/>
          </a:xfrm>
          <a:prstGeom prst="upArrow">
            <a:avLst>
              <a:gd name="adj1" fmla="val 50000"/>
              <a:gd name="adj2" fmla="val 60345"/>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36" name="textbox 1570"/>
          <p:cNvSpPr/>
          <p:nvPr/>
        </p:nvSpPr>
        <p:spPr>
          <a:xfrm>
            <a:off x="3831680" y="5365199"/>
            <a:ext cx="893444" cy="292734"/>
          </a:xfrm>
          <a:prstGeom prst="rect">
            <a:avLst/>
          </a:prstGeom>
          <a:solidFill>
            <a:srgbClr val="3368FF"/>
          </a:solidFill>
        </p:spPr>
        <p:txBody>
          <a:bodyPr vert="horz" wrap="square" lIns="0" tIns="0" rIns="0" bIns="0"/>
          <a:lstStyle/>
          <a:p>
            <a:pPr algn="l" rtl="0" eaLnBrk="0">
              <a:lnSpc>
                <a:spcPct val="124000"/>
              </a:lnSpc>
              <a:defRPr>
                <a:solidFill>
                  <a:srgbClr val="FFFFFF"/>
                </a:solidFill>
                <a:latin typeface="微软雅黑"/>
                <a:ea typeface="微软雅黑"/>
                <a:cs typeface="微软雅黑"/>
              </a:defRPr>
            </a:pPr>
            <a:endParaRPr lang="en-US" altLang="en-US" sz="1000" b="1" dirty="0">
              <a:solidFill>
                <a:srgbClr val="FFFFFF"/>
              </a:solidFill>
              <a:latin typeface="微软雅黑"/>
              <a:ea typeface="微软雅黑"/>
              <a:cs typeface="微软雅黑"/>
            </a:endParaRPr>
          </a:p>
          <a:p>
            <a:pPr marL="161290" algn="l" rtl="0" eaLnBrk="0">
              <a:lnSpc>
                <a:spcPct val="92000"/>
              </a:lnSpc>
              <a:spcBef>
                <a:spcPts val="5"/>
              </a:spcBef>
              <a:defRPr>
                <a:solidFill>
                  <a:srgbClr val="FFFFFF"/>
                </a:solidFill>
                <a:latin typeface="微软雅黑"/>
                <a:ea typeface="微软雅黑"/>
                <a:cs typeface="微软雅黑"/>
              </a:defRPr>
            </a:pPr>
            <a:r>
              <a:rPr sz="1200" b="1" kern="0" spc="-30" dirty="0">
                <a:solidFill>
                  <a:srgbClr val="FFFFFF">
                    <a:alpha val="100000"/>
                  </a:srgbClr>
                </a:solidFill>
                <a:latin typeface="微软雅黑"/>
                <a:ea typeface="微软雅黑"/>
                <a:cs typeface="微软雅黑"/>
              </a:rPr>
              <a:t>自动驾驶</a:t>
            </a:r>
            <a:endParaRPr lang="en-US" altLang="en-US" sz="1200" b="1" dirty="0">
              <a:solidFill>
                <a:srgbClr val="FFFFFF"/>
              </a:solidFill>
              <a:latin typeface="微软雅黑"/>
              <a:ea typeface="微软雅黑"/>
              <a:cs typeface="微软雅黑"/>
            </a:endParaRPr>
          </a:p>
        </p:txBody>
      </p:sp>
      <p:sp>
        <p:nvSpPr>
          <p:cNvPr id="66" name="path"/>
          <p:cNvSpPr/>
          <p:nvPr/>
        </p:nvSpPr>
        <p:spPr>
          <a:xfrm>
            <a:off x="3416490" y="5360010"/>
            <a:ext cx="320039" cy="323088"/>
          </a:xfrm>
          <a:custGeom>
            <a:avLst/>
            <a:gdLst/>
            <a:ahLst/>
            <a:cxnLst/>
            <a:rect l="0" t="0" r="0" b="0"/>
            <a:pathLst>
              <a:path w="503" h="508">
                <a:moveTo>
                  <a:pt x="335" y="452"/>
                </a:moveTo>
                <a:lnTo>
                  <a:pt x="436" y="452"/>
                </a:lnTo>
                <a:lnTo>
                  <a:pt x="436" y="469"/>
                </a:lnTo>
                <a:cubicBezTo>
                  <a:pt x="436" y="490"/>
                  <a:pt x="419" y="508"/>
                  <a:pt x="397" y="508"/>
                </a:cubicBezTo>
                <a:lnTo>
                  <a:pt x="375" y="508"/>
                </a:lnTo>
                <a:cubicBezTo>
                  <a:pt x="353" y="508"/>
                  <a:pt x="335" y="490"/>
                  <a:pt x="335" y="469"/>
                </a:cubicBezTo>
                <a:lnTo>
                  <a:pt x="335" y="452"/>
                </a:lnTo>
                <a:close/>
                <a:moveTo>
                  <a:pt x="67" y="452"/>
                </a:moveTo>
                <a:lnTo>
                  <a:pt x="167" y="452"/>
                </a:lnTo>
                <a:lnTo>
                  <a:pt x="167" y="469"/>
                </a:lnTo>
                <a:cubicBezTo>
                  <a:pt x="167" y="490"/>
                  <a:pt x="150" y="508"/>
                  <a:pt x="128" y="508"/>
                </a:cubicBezTo>
                <a:lnTo>
                  <a:pt x="106" y="508"/>
                </a:lnTo>
                <a:cubicBezTo>
                  <a:pt x="84" y="508"/>
                  <a:pt x="67" y="490"/>
                  <a:pt x="67" y="469"/>
                </a:cubicBezTo>
                <a:lnTo>
                  <a:pt x="67" y="452"/>
                </a:lnTo>
                <a:close/>
                <a:moveTo>
                  <a:pt x="386" y="282"/>
                </a:moveTo>
                <a:cubicBezTo>
                  <a:pt x="395" y="282"/>
                  <a:pt x="403" y="290"/>
                  <a:pt x="403" y="299"/>
                </a:cubicBezTo>
                <a:cubicBezTo>
                  <a:pt x="403" y="308"/>
                  <a:pt x="395" y="316"/>
                  <a:pt x="386" y="316"/>
                </a:cubicBezTo>
                <a:cubicBezTo>
                  <a:pt x="377" y="316"/>
                  <a:pt x="369" y="308"/>
                  <a:pt x="369" y="299"/>
                </a:cubicBezTo>
                <a:cubicBezTo>
                  <a:pt x="369" y="290"/>
                  <a:pt x="377" y="282"/>
                  <a:pt x="386" y="282"/>
                </a:cubicBezTo>
                <a:moveTo>
                  <a:pt x="117" y="282"/>
                </a:moveTo>
                <a:cubicBezTo>
                  <a:pt x="126" y="282"/>
                  <a:pt x="134" y="290"/>
                  <a:pt x="134" y="299"/>
                </a:cubicBezTo>
                <a:cubicBezTo>
                  <a:pt x="134" y="308"/>
                  <a:pt x="126" y="316"/>
                  <a:pt x="117" y="316"/>
                </a:cubicBezTo>
                <a:cubicBezTo>
                  <a:pt x="108" y="316"/>
                  <a:pt x="100" y="308"/>
                  <a:pt x="100" y="299"/>
                </a:cubicBezTo>
                <a:cubicBezTo>
                  <a:pt x="100" y="290"/>
                  <a:pt x="108" y="282"/>
                  <a:pt x="117" y="282"/>
                </a:cubicBezTo>
                <a:moveTo>
                  <a:pt x="117" y="248"/>
                </a:moveTo>
                <a:cubicBezTo>
                  <a:pt x="89" y="248"/>
                  <a:pt x="67" y="271"/>
                  <a:pt x="67" y="299"/>
                </a:cubicBezTo>
                <a:cubicBezTo>
                  <a:pt x="67" y="327"/>
                  <a:pt x="89" y="350"/>
                  <a:pt x="117" y="350"/>
                </a:cubicBezTo>
                <a:cubicBezTo>
                  <a:pt x="139" y="350"/>
                  <a:pt x="158" y="336"/>
                  <a:pt x="165" y="316"/>
                </a:cubicBezTo>
                <a:lnTo>
                  <a:pt x="338" y="316"/>
                </a:lnTo>
                <a:cubicBezTo>
                  <a:pt x="345" y="336"/>
                  <a:pt x="364" y="350"/>
                  <a:pt x="386" y="350"/>
                </a:cubicBezTo>
                <a:cubicBezTo>
                  <a:pt x="414" y="350"/>
                  <a:pt x="436" y="327"/>
                  <a:pt x="436" y="299"/>
                </a:cubicBezTo>
                <a:cubicBezTo>
                  <a:pt x="436" y="271"/>
                  <a:pt x="414" y="248"/>
                  <a:pt x="386" y="248"/>
                </a:cubicBezTo>
                <a:cubicBezTo>
                  <a:pt x="364" y="248"/>
                  <a:pt x="345" y="262"/>
                  <a:pt x="338" y="282"/>
                </a:cubicBezTo>
                <a:lnTo>
                  <a:pt x="165" y="282"/>
                </a:lnTo>
                <a:cubicBezTo>
                  <a:pt x="158" y="262"/>
                  <a:pt x="139" y="248"/>
                  <a:pt x="117" y="248"/>
                </a:cubicBezTo>
                <a:moveTo>
                  <a:pt x="107" y="112"/>
                </a:moveTo>
                <a:lnTo>
                  <a:pt x="84" y="180"/>
                </a:lnTo>
                <a:lnTo>
                  <a:pt x="419" y="180"/>
                </a:lnTo>
                <a:lnTo>
                  <a:pt x="396" y="112"/>
                </a:lnTo>
                <a:lnTo>
                  <a:pt x="107" y="112"/>
                </a:lnTo>
                <a:close/>
                <a:moveTo>
                  <a:pt x="179" y="0"/>
                </a:moveTo>
                <a:lnTo>
                  <a:pt x="324" y="0"/>
                </a:lnTo>
                <a:lnTo>
                  <a:pt x="324" y="79"/>
                </a:lnTo>
                <a:lnTo>
                  <a:pt x="420" y="79"/>
                </a:lnTo>
                <a:lnTo>
                  <a:pt x="454" y="182"/>
                </a:lnTo>
                <a:cubicBezTo>
                  <a:pt x="482" y="187"/>
                  <a:pt x="503" y="213"/>
                  <a:pt x="503" y="243"/>
                </a:cubicBezTo>
                <a:lnTo>
                  <a:pt x="503" y="356"/>
                </a:lnTo>
                <a:cubicBezTo>
                  <a:pt x="503" y="390"/>
                  <a:pt x="476" y="418"/>
                  <a:pt x="442" y="418"/>
                </a:cubicBezTo>
                <a:lnTo>
                  <a:pt x="61" y="418"/>
                </a:lnTo>
                <a:cubicBezTo>
                  <a:pt x="27" y="418"/>
                  <a:pt x="0" y="390"/>
                  <a:pt x="0" y="356"/>
                </a:cubicBezTo>
                <a:lnTo>
                  <a:pt x="0" y="243"/>
                </a:lnTo>
                <a:cubicBezTo>
                  <a:pt x="0" y="213"/>
                  <a:pt x="21" y="187"/>
                  <a:pt x="49" y="182"/>
                </a:cubicBezTo>
                <a:lnTo>
                  <a:pt x="83" y="79"/>
                </a:lnTo>
                <a:lnTo>
                  <a:pt x="179" y="79"/>
                </a:lnTo>
                <a:lnTo>
                  <a:pt x="179" y="0"/>
                </a:lnTo>
                <a:close/>
              </a:path>
            </a:pathLst>
          </a:custGeom>
          <a:solidFill>
            <a:srgbClr val="3368FF"/>
          </a:solidFill>
          <a:ln cap="flat">
            <a:noFill/>
            <a:prstDash val="solid"/>
            <a:miter lim="0"/>
          </a:ln>
        </p:spPr>
        <p:txBody>
          <a:bodyPr rtlCol="0"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39" name="textbox 1574"/>
          <p:cNvSpPr/>
          <p:nvPr/>
        </p:nvSpPr>
        <p:spPr>
          <a:xfrm>
            <a:off x="7832196" y="5367163"/>
            <a:ext cx="893444" cy="289559"/>
          </a:xfrm>
          <a:prstGeom prst="rect">
            <a:avLst/>
          </a:prstGeom>
          <a:solidFill>
            <a:srgbClr val="0042FF"/>
          </a:solidFill>
        </p:spPr>
        <p:txBody>
          <a:bodyPr vert="horz" wrap="square" lIns="0" tIns="0" rIns="0" bIns="0"/>
          <a:lstStyle/>
          <a:p>
            <a:pPr algn="l" rtl="0" eaLnBrk="0">
              <a:lnSpc>
                <a:spcPct val="123000"/>
              </a:lnSpc>
              <a:defRPr>
                <a:solidFill>
                  <a:srgbClr val="FFFFFF"/>
                </a:solidFill>
                <a:latin typeface="微软雅黑"/>
                <a:ea typeface="微软雅黑"/>
                <a:cs typeface="微软雅黑"/>
              </a:defRPr>
            </a:pPr>
            <a:endParaRPr lang="en-US" altLang="en-US" sz="1000" b="1" dirty="0">
              <a:solidFill>
                <a:srgbClr val="FFFFFF"/>
              </a:solidFill>
              <a:latin typeface="微软雅黑"/>
              <a:ea typeface="微软雅黑"/>
              <a:cs typeface="微软雅黑"/>
            </a:endParaRPr>
          </a:p>
          <a:p>
            <a:pPr marL="144780" algn="l" rtl="0" eaLnBrk="0">
              <a:lnSpc>
                <a:spcPct val="92000"/>
              </a:lnSpc>
              <a:spcBef>
                <a:spcPts val="0"/>
              </a:spcBef>
              <a:defRPr>
                <a:solidFill>
                  <a:srgbClr val="FFFFFF"/>
                </a:solidFill>
                <a:latin typeface="微软雅黑"/>
                <a:ea typeface="微软雅黑"/>
                <a:cs typeface="微软雅黑"/>
              </a:defRPr>
            </a:pPr>
            <a:r>
              <a:rPr sz="1200" b="1" kern="0" spc="-10" dirty="0">
                <a:solidFill>
                  <a:srgbClr val="FFFFFF">
                    <a:alpha val="100000"/>
                  </a:srgbClr>
                </a:solidFill>
                <a:latin typeface="微软雅黑"/>
                <a:ea typeface="微软雅黑"/>
                <a:cs typeface="微软雅黑"/>
              </a:rPr>
              <a:t>智慧金融</a:t>
            </a:r>
            <a:endParaRPr lang="en-US" altLang="en-US" sz="1200" b="1" dirty="0">
              <a:solidFill>
                <a:srgbClr val="FFFFFF"/>
              </a:solidFill>
              <a:latin typeface="微软雅黑"/>
              <a:ea typeface="微软雅黑"/>
              <a:cs typeface="微软雅黑"/>
            </a:endParaRPr>
          </a:p>
        </p:txBody>
      </p:sp>
      <p:sp>
        <p:nvSpPr>
          <p:cNvPr id="74" name="path"/>
          <p:cNvSpPr/>
          <p:nvPr/>
        </p:nvSpPr>
        <p:spPr>
          <a:xfrm>
            <a:off x="7461805" y="5390661"/>
            <a:ext cx="299961" cy="286511"/>
          </a:xfrm>
          <a:custGeom>
            <a:avLst/>
            <a:gdLst/>
            <a:ahLst/>
            <a:cxnLst/>
            <a:rect l="0" t="0" r="0" b="0"/>
            <a:pathLst>
              <a:path w="472" h="451">
                <a:moveTo>
                  <a:pt x="330" y="326"/>
                </a:moveTo>
                <a:cubicBezTo>
                  <a:pt x="331" y="338"/>
                  <a:pt x="331" y="351"/>
                  <a:pt x="331" y="364"/>
                </a:cubicBezTo>
                <a:cubicBezTo>
                  <a:pt x="334" y="364"/>
                  <a:pt x="337" y="363"/>
                  <a:pt x="340" y="361"/>
                </a:cubicBezTo>
                <a:cubicBezTo>
                  <a:pt x="345" y="358"/>
                  <a:pt x="352" y="348"/>
                  <a:pt x="352" y="341"/>
                </a:cubicBezTo>
                <a:cubicBezTo>
                  <a:pt x="352" y="338"/>
                  <a:pt x="351" y="335"/>
                  <a:pt x="349" y="334"/>
                </a:cubicBezTo>
                <a:cubicBezTo>
                  <a:pt x="344" y="330"/>
                  <a:pt x="338" y="328"/>
                  <a:pt x="330" y="326"/>
                </a:cubicBezTo>
                <a:moveTo>
                  <a:pt x="304" y="273"/>
                </a:moveTo>
                <a:cubicBezTo>
                  <a:pt x="301" y="273"/>
                  <a:pt x="298" y="274"/>
                  <a:pt x="296" y="275"/>
                </a:cubicBezTo>
                <a:cubicBezTo>
                  <a:pt x="294" y="276"/>
                  <a:pt x="292" y="278"/>
                  <a:pt x="291" y="279"/>
                </a:cubicBezTo>
                <a:cubicBezTo>
                  <a:pt x="290" y="281"/>
                  <a:pt x="289" y="282"/>
                  <a:pt x="290" y="284"/>
                </a:cubicBezTo>
                <a:cubicBezTo>
                  <a:pt x="290" y="289"/>
                  <a:pt x="295" y="294"/>
                  <a:pt x="300" y="295"/>
                </a:cubicBezTo>
                <a:cubicBezTo>
                  <a:pt x="302" y="295"/>
                  <a:pt x="303" y="296"/>
                  <a:pt x="305" y="296"/>
                </a:cubicBezTo>
                <a:cubicBezTo>
                  <a:pt x="305" y="292"/>
                  <a:pt x="305" y="288"/>
                  <a:pt x="305" y="285"/>
                </a:cubicBezTo>
                <a:cubicBezTo>
                  <a:pt x="304" y="281"/>
                  <a:pt x="304" y="277"/>
                  <a:pt x="304" y="273"/>
                </a:cubicBezTo>
                <a:moveTo>
                  <a:pt x="314" y="237"/>
                </a:moveTo>
                <a:cubicBezTo>
                  <a:pt x="320" y="237"/>
                  <a:pt x="327" y="241"/>
                  <a:pt x="327" y="249"/>
                </a:cubicBezTo>
                <a:lnTo>
                  <a:pt x="327" y="250"/>
                </a:lnTo>
                <a:cubicBezTo>
                  <a:pt x="335" y="251"/>
                  <a:pt x="342" y="253"/>
                  <a:pt x="348" y="256"/>
                </a:cubicBezTo>
                <a:cubicBezTo>
                  <a:pt x="350" y="257"/>
                  <a:pt x="352" y="258"/>
                  <a:pt x="353" y="260"/>
                </a:cubicBezTo>
                <a:cubicBezTo>
                  <a:pt x="355" y="263"/>
                  <a:pt x="356" y="267"/>
                  <a:pt x="355" y="270"/>
                </a:cubicBezTo>
                <a:cubicBezTo>
                  <a:pt x="354" y="278"/>
                  <a:pt x="347" y="282"/>
                  <a:pt x="340" y="278"/>
                </a:cubicBezTo>
                <a:cubicBezTo>
                  <a:pt x="336" y="277"/>
                  <a:pt x="332" y="275"/>
                  <a:pt x="328" y="274"/>
                </a:cubicBezTo>
                <a:cubicBezTo>
                  <a:pt x="329" y="280"/>
                  <a:pt x="329" y="285"/>
                  <a:pt x="329" y="291"/>
                </a:cubicBezTo>
                <a:cubicBezTo>
                  <a:pt x="329" y="294"/>
                  <a:pt x="329" y="297"/>
                  <a:pt x="329" y="301"/>
                </a:cubicBezTo>
                <a:cubicBezTo>
                  <a:pt x="341" y="303"/>
                  <a:pt x="354" y="307"/>
                  <a:pt x="364" y="315"/>
                </a:cubicBezTo>
                <a:cubicBezTo>
                  <a:pt x="365" y="316"/>
                  <a:pt x="366" y="317"/>
                  <a:pt x="367" y="318"/>
                </a:cubicBezTo>
                <a:cubicBezTo>
                  <a:pt x="373" y="324"/>
                  <a:pt x="376" y="331"/>
                  <a:pt x="376" y="338"/>
                </a:cubicBezTo>
                <a:cubicBezTo>
                  <a:pt x="376" y="352"/>
                  <a:pt x="369" y="367"/>
                  <a:pt x="357" y="378"/>
                </a:cubicBezTo>
                <a:cubicBezTo>
                  <a:pt x="350" y="385"/>
                  <a:pt x="342" y="388"/>
                  <a:pt x="331" y="388"/>
                </a:cubicBezTo>
                <a:lnTo>
                  <a:pt x="331" y="389"/>
                </a:lnTo>
                <a:cubicBezTo>
                  <a:pt x="331" y="397"/>
                  <a:pt x="325" y="400"/>
                  <a:pt x="320" y="400"/>
                </a:cubicBezTo>
                <a:cubicBezTo>
                  <a:pt x="316" y="400"/>
                  <a:pt x="313" y="399"/>
                  <a:pt x="311" y="397"/>
                </a:cubicBezTo>
                <a:cubicBezTo>
                  <a:pt x="308" y="394"/>
                  <a:pt x="307" y="391"/>
                  <a:pt x="307" y="388"/>
                </a:cubicBezTo>
                <a:lnTo>
                  <a:pt x="307" y="384"/>
                </a:lnTo>
                <a:cubicBezTo>
                  <a:pt x="294" y="379"/>
                  <a:pt x="281" y="371"/>
                  <a:pt x="272" y="361"/>
                </a:cubicBezTo>
                <a:cubicBezTo>
                  <a:pt x="269" y="358"/>
                  <a:pt x="268" y="353"/>
                  <a:pt x="270" y="349"/>
                </a:cubicBezTo>
                <a:cubicBezTo>
                  <a:pt x="272" y="344"/>
                  <a:pt x="277" y="341"/>
                  <a:pt x="282" y="341"/>
                </a:cubicBezTo>
                <a:cubicBezTo>
                  <a:pt x="285" y="341"/>
                  <a:pt x="288" y="343"/>
                  <a:pt x="290" y="345"/>
                </a:cubicBezTo>
                <a:cubicBezTo>
                  <a:pt x="294" y="350"/>
                  <a:pt x="301" y="355"/>
                  <a:pt x="307" y="358"/>
                </a:cubicBezTo>
                <a:cubicBezTo>
                  <a:pt x="307" y="345"/>
                  <a:pt x="307" y="333"/>
                  <a:pt x="306" y="321"/>
                </a:cubicBezTo>
                <a:cubicBezTo>
                  <a:pt x="300" y="320"/>
                  <a:pt x="294" y="319"/>
                  <a:pt x="288" y="317"/>
                </a:cubicBezTo>
                <a:cubicBezTo>
                  <a:pt x="288" y="317"/>
                  <a:pt x="288" y="316"/>
                  <a:pt x="287" y="316"/>
                </a:cubicBezTo>
                <a:cubicBezTo>
                  <a:pt x="286" y="316"/>
                  <a:pt x="284" y="315"/>
                  <a:pt x="283" y="314"/>
                </a:cubicBezTo>
                <a:cubicBezTo>
                  <a:pt x="281" y="313"/>
                  <a:pt x="280" y="312"/>
                  <a:pt x="278" y="310"/>
                </a:cubicBezTo>
                <a:cubicBezTo>
                  <a:pt x="273" y="306"/>
                  <a:pt x="269" y="301"/>
                  <a:pt x="267" y="294"/>
                </a:cubicBezTo>
                <a:cubicBezTo>
                  <a:pt x="267" y="293"/>
                  <a:pt x="266" y="292"/>
                  <a:pt x="266" y="291"/>
                </a:cubicBezTo>
                <a:cubicBezTo>
                  <a:pt x="264" y="282"/>
                  <a:pt x="265" y="273"/>
                  <a:pt x="270" y="266"/>
                </a:cubicBezTo>
                <a:cubicBezTo>
                  <a:pt x="270" y="265"/>
                  <a:pt x="271" y="264"/>
                  <a:pt x="272" y="263"/>
                </a:cubicBezTo>
                <a:cubicBezTo>
                  <a:pt x="274" y="261"/>
                  <a:pt x="276" y="259"/>
                  <a:pt x="279" y="257"/>
                </a:cubicBezTo>
                <a:cubicBezTo>
                  <a:pt x="280" y="256"/>
                  <a:pt x="282" y="255"/>
                  <a:pt x="284" y="254"/>
                </a:cubicBezTo>
                <a:cubicBezTo>
                  <a:pt x="286" y="253"/>
                  <a:pt x="287" y="252"/>
                  <a:pt x="289" y="252"/>
                </a:cubicBezTo>
                <a:cubicBezTo>
                  <a:pt x="291" y="251"/>
                  <a:pt x="293" y="250"/>
                  <a:pt x="296" y="250"/>
                </a:cubicBezTo>
                <a:cubicBezTo>
                  <a:pt x="298" y="249"/>
                  <a:pt x="301" y="249"/>
                  <a:pt x="303" y="248"/>
                </a:cubicBezTo>
                <a:lnTo>
                  <a:pt x="303" y="248"/>
                </a:lnTo>
                <a:cubicBezTo>
                  <a:pt x="303" y="245"/>
                  <a:pt x="304" y="242"/>
                  <a:pt x="306" y="240"/>
                </a:cubicBezTo>
                <a:cubicBezTo>
                  <a:pt x="308" y="238"/>
                  <a:pt x="311" y="237"/>
                  <a:pt x="314" y="237"/>
                </a:cubicBezTo>
                <a:moveTo>
                  <a:pt x="315" y="219"/>
                </a:moveTo>
                <a:cubicBezTo>
                  <a:pt x="309" y="219"/>
                  <a:pt x="303" y="220"/>
                  <a:pt x="298" y="221"/>
                </a:cubicBezTo>
                <a:cubicBezTo>
                  <a:pt x="296" y="221"/>
                  <a:pt x="295" y="222"/>
                  <a:pt x="293" y="222"/>
                </a:cubicBezTo>
                <a:cubicBezTo>
                  <a:pt x="292" y="222"/>
                  <a:pt x="291" y="223"/>
                  <a:pt x="289" y="223"/>
                </a:cubicBezTo>
                <a:cubicBezTo>
                  <a:pt x="288" y="224"/>
                  <a:pt x="286" y="224"/>
                  <a:pt x="284" y="225"/>
                </a:cubicBezTo>
                <a:cubicBezTo>
                  <a:pt x="282" y="225"/>
                  <a:pt x="281" y="226"/>
                  <a:pt x="279" y="227"/>
                </a:cubicBezTo>
                <a:cubicBezTo>
                  <a:pt x="265" y="233"/>
                  <a:pt x="253" y="242"/>
                  <a:pt x="244" y="253"/>
                </a:cubicBezTo>
                <a:cubicBezTo>
                  <a:pt x="237" y="260"/>
                  <a:pt x="232" y="268"/>
                  <a:pt x="228" y="276"/>
                </a:cubicBezTo>
                <a:cubicBezTo>
                  <a:pt x="227" y="278"/>
                  <a:pt x="226" y="281"/>
                  <a:pt x="225" y="283"/>
                </a:cubicBezTo>
                <a:cubicBezTo>
                  <a:pt x="224" y="285"/>
                  <a:pt x="223" y="287"/>
                  <a:pt x="222" y="290"/>
                </a:cubicBezTo>
                <a:cubicBezTo>
                  <a:pt x="221" y="295"/>
                  <a:pt x="219" y="301"/>
                  <a:pt x="218" y="307"/>
                </a:cubicBezTo>
                <a:cubicBezTo>
                  <a:pt x="218" y="309"/>
                  <a:pt x="218" y="311"/>
                  <a:pt x="218" y="313"/>
                </a:cubicBezTo>
                <a:cubicBezTo>
                  <a:pt x="218" y="315"/>
                  <a:pt x="218" y="317"/>
                  <a:pt x="217" y="319"/>
                </a:cubicBezTo>
                <a:cubicBezTo>
                  <a:pt x="217" y="324"/>
                  <a:pt x="218" y="330"/>
                  <a:pt x="218" y="336"/>
                </a:cubicBezTo>
                <a:cubicBezTo>
                  <a:pt x="219" y="341"/>
                  <a:pt x="220" y="346"/>
                  <a:pt x="222" y="351"/>
                </a:cubicBezTo>
                <a:cubicBezTo>
                  <a:pt x="222" y="353"/>
                  <a:pt x="223" y="354"/>
                  <a:pt x="223" y="356"/>
                </a:cubicBezTo>
                <a:cubicBezTo>
                  <a:pt x="224" y="358"/>
                  <a:pt x="225" y="360"/>
                  <a:pt x="225" y="361"/>
                </a:cubicBezTo>
                <a:cubicBezTo>
                  <a:pt x="241" y="399"/>
                  <a:pt x="276" y="425"/>
                  <a:pt x="316" y="425"/>
                </a:cubicBezTo>
                <a:cubicBezTo>
                  <a:pt x="321" y="425"/>
                  <a:pt x="325" y="424"/>
                  <a:pt x="329" y="424"/>
                </a:cubicBezTo>
                <a:cubicBezTo>
                  <a:pt x="351" y="420"/>
                  <a:pt x="383" y="401"/>
                  <a:pt x="396" y="383"/>
                </a:cubicBezTo>
                <a:cubicBezTo>
                  <a:pt x="411" y="363"/>
                  <a:pt x="416" y="337"/>
                  <a:pt x="411" y="310"/>
                </a:cubicBezTo>
                <a:cubicBezTo>
                  <a:pt x="411" y="309"/>
                  <a:pt x="411" y="309"/>
                  <a:pt x="411" y="309"/>
                </a:cubicBezTo>
                <a:cubicBezTo>
                  <a:pt x="410" y="301"/>
                  <a:pt x="407" y="293"/>
                  <a:pt x="404" y="285"/>
                </a:cubicBezTo>
                <a:cubicBezTo>
                  <a:pt x="400" y="275"/>
                  <a:pt x="394" y="266"/>
                  <a:pt x="388" y="257"/>
                </a:cubicBezTo>
                <a:cubicBezTo>
                  <a:pt x="381" y="249"/>
                  <a:pt x="373" y="241"/>
                  <a:pt x="363" y="234"/>
                </a:cubicBezTo>
                <a:cubicBezTo>
                  <a:pt x="349" y="225"/>
                  <a:pt x="333" y="219"/>
                  <a:pt x="315" y="219"/>
                </a:cubicBezTo>
                <a:moveTo>
                  <a:pt x="315" y="193"/>
                </a:moveTo>
                <a:cubicBezTo>
                  <a:pt x="331" y="193"/>
                  <a:pt x="347" y="197"/>
                  <a:pt x="361" y="204"/>
                </a:cubicBezTo>
                <a:cubicBezTo>
                  <a:pt x="374" y="210"/>
                  <a:pt x="387" y="218"/>
                  <a:pt x="397" y="229"/>
                </a:cubicBezTo>
                <a:cubicBezTo>
                  <a:pt x="404" y="236"/>
                  <a:pt x="410" y="243"/>
                  <a:pt x="415" y="251"/>
                </a:cubicBezTo>
                <a:cubicBezTo>
                  <a:pt x="420" y="258"/>
                  <a:pt x="424" y="266"/>
                  <a:pt x="428" y="275"/>
                </a:cubicBezTo>
                <a:cubicBezTo>
                  <a:pt x="430" y="279"/>
                  <a:pt x="431" y="283"/>
                  <a:pt x="432" y="287"/>
                </a:cubicBezTo>
                <a:cubicBezTo>
                  <a:pt x="434" y="291"/>
                  <a:pt x="435" y="295"/>
                  <a:pt x="436" y="299"/>
                </a:cubicBezTo>
                <a:cubicBezTo>
                  <a:pt x="436" y="300"/>
                  <a:pt x="436" y="302"/>
                  <a:pt x="437" y="304"/>
                </a:cubicBezTo>
                <a:cubicBezTo>
                  <a:pt x="443" y="338"/>
                  <a:pt x="436" y="372"/>
                  <a:pt x="417" y="399"/>
                </a:cubicBezTo>
                <a:cubicBezTo>
                  <a:pt x="400" y="422"/>
                  <a:pt x="361" y="445"/>
                  <a:pt x="333" y="450"/>
                </a:cubicBezTo>
                <a:cubicBezTo>
                  <a:pt x="327" y="450"/>
                  <a:pt x="322" y="451"/>
                  <a:pt x="316" y="451"/>
                </a:cubicBezTo>
                <a:cubicBezTo>
                  <a:pt x="265" y="451"/>
                  <a:pt x="220" y="417"/>
                  <a:pt x="201" y="370"/>
                </a:cubicBezTo>
                <a:cubicBezTo>
                  <a:pt x="200" y="368"/>
                  <a:pt x="200" y="367"/>
                  <a:pt x="199" y="365"/>
                </a:cubicBezTo>
                <a:cubicBezTo>
                  <a:pt x="198" y="363"/>
                  <a:pt x="198" y="362"/>
                  <a:pt x="197" y="360"/>
                </a:cubicBezTo>
                <a:cubicBezTo>
                  <a:pt x="195" y="353"/>
                  <a:pt x="193" y="346"/>
                  <a:pt x="193" y="339"/>
                </a:cubicBezTo>
                <a:cubicBezTo>
                  <a:pt x="192" y="336"/>
                  <a:pt x="192" y="332"/>
                  <a:pt x="191" y="328"/>
                </a:cubicBezTo>
                <a:cubicBezTo>
                  <a:pt x="191" y="326"/>
                  <a:pt x="191" y="324"/>
                  <a:pt x="191" y="323"/>
                </a:cubicBezTo>
                <a:cubicBezTo>
                  <a:pt x="191" y="321"/>
                  <a:pt x="191" y="319"/>
                  <a:pt x="191" y="317"/>
                </a:cubicBezTo>
                <a:cubicBezTo>
                  <a:pt x="192" y="311"/>
                  <a:pt x="192" y="305"/>
                  <a:pt x="193" y="298"/>
                </a:cubicBezTo>
                <a:cubicBezTo>
                  <a:pt x="193" y="298"/>
                  <a:pt x="193" y="298"/>
                  <a:pt x="193" y="298"/>
                </a:cubicBezTo>
                <a:cubicBezTo>
                  <a:pt x="194" y="297"/>
                  <a:pt x="194" y="295"/>
                  <a:pt x="195" y="293"/>
                </a:cubicBezTo>
                <a:cubicBezTo>
                  <a:pt x="195" y="291"/>
                  <a:pt x="196" y="289"/>
                  <a:pt x="196" y="287"/>
                </a:cubicBezTo>
                <a:cubicBezTo>
                  <a:pt x="200" y="272"/>
                  <a:pt x="207" y="259"/>
                  <a:pt x="215" y="247"/>
                </a:cubicBezTo>
                <a:cubicBezTo>
                  <a:pt x="218" y="244"/>
                  <a:pt x="220" y="241"/>
                  <a:pt x="222" y="238"/>
                </a:cubicBezTo>
                <a:cubicBezTo>
                  <a:pt x="226" y="233"/>
                  <a:pt x="230" y="229"/>
                  <a:pt x="234" y="225"/>
                </a:cubicBezTo>
                <a:cubicBezTo>
                  <a:pt x="235" y="224"/>
                  <a:pt x="236" y="224"/>
                  <a:pt x="237" y="223"/>
                </a:cubicBezTo>
                <a:cubicBezTo>
                  <a:pt x="239" y="221"/>
                  <a:pt x="240" y="220"/>
                  <a:pt x="242" y="219"/>
                </a:cubicBezTo>
                <a:cubicBezTo>
                  <a:pt x="243" y="218"/>
                  <a:pt x="243" y="218"/>
                  <a:pt x="244" y="217"/>
                </a:cubicBezTo>
                <a:cubicBezTo>
                  <a:pt x="245" y="216"/>
                  <a:pt x="246" y="215"/>
                  <a:pt x="247" y="215"/>
                </a:cubicBezTo>
                <a:cubicBezTo>
                  <a:pt x="254" y="210"/>
                  <a:pt x="261" y="206"/>
                  <a:pt x="269" y="203"/>
                </a:cubicBezTo>
                <a:cubicBezTo>
                  <a:pt x="272" y="201"/>
                  <a:pt x="276" y="200"/>
                  <a:pt x="279" y="199"/>
                </a:cubicBezTo>
                <a:cubicBezTo>
                  <a:pt x="281" y="198"/>
                  <a:pt x="282" y="198"/>
                  <a:pt x="284" y="197"/>
                </a:cubicBezTo>
                <a:cubicBezTo>
                  <a:pt x="286" y="197"/>
                  <a:pt x="288" y="196"/>
                  <a:pt x="289" y="196"/>
                </a:cubicBezTo>
                <a:cubicBezTo>
                  <a:pt x="290" y="196"/>
                  <a:pt x="291" y="196"/>
                  <a:pt x="292" y="195"/>
                </a:cubicBezTo>
                <a:cubicBezTo>
                  <a:pt x="294" y="195"/>
                  <a:pt x="296" y="195"/>
                  <a:pt x="298" y="194"/>
                </a:cubicBezTo>
                <a:cubicBezTo>
                  <a:pt x="304" y="193"/>
                  <a:pt x="309" y="193"/>
                  <a:pt x="315" y="193"/>
                </a:cubicBezTo>
                <a:moveTo>
                  <a:pt x="34" y="136"/>
                </a:moveTo>
                <a:cubicBezTo>
                  <a:pt x="34" y="146"/>
                  <a:pt x="34" y="156"/>
                  <a:pt x="34" y="166"/>
                </a:cubicBezTo>
                <a:cubicBezTo>
                  <a:pt x="74" y="180"/>
                  <a:pt x="116" y="191"/>
                  <a:pt x="157" y="191"/>
                </a:cubicBezTo>
                <a:cubicBezTo>
                  <a:pt x="186" y="191"/>
                  <a:pt x="215" y="185"/>
                  <a:pt x="243" y="173"/>
                </a:cubicBezTo>
                <a:cubicBezTo>
                  <a:pt x="245" y="172"/>
                  <a:pt x="246" y="171"/>
                  <a:pt x="248" y="171"/>
                </a:cubicBezTo>
                <a:cubicBezTo>
                  <a:pt x="248" y="160"/>
                  <a:pt x="248" y="150"/>
                  <a:pt x="248" y="140"/>
                </a:cubicBezTo>
                <a:cubicBezTo>
                  <a:pt x="246" y="141"/>
                  <a:pt x="245" y="141"/>
                  <a:pt x="243" y="142"/>
                </a:cubicBezTo>
                <a:cubicBezTo>
                  <a:pt x="212" y="156"/>
                  <a:pt x="178" y="163"/>
                  <a:pt x="144" y="163"/>
                </a:cubicBezTo>
                <a:cubicBezTo>
                  <a:pt x="106" y="163"/>
                  <a:pt x="68" y="154"/>
                  <a:pt x="34" y="136"/>
                </a:cubicBezTo>
                <a:moveTo>
                  <a:pt x="250" y="77"/>
                </a:moveTo>
                <a:cubicBezTo>
                  <a:pt x="247" y="79"/>
                  <a:pt x="244" y="80"/>
                  <a:pt x="242" y="82"/>
                </a:cubicBezTo>
                <a:cubicBezTo>
                  <a:pt x="211" y="98"/>
                  <a:pt x="177" y="106"/>
                  <a:pt x="142" y="106"/>
                </a:cubicBezTo>
                <a:cubicBezTo>
                  <a:pt x="104" y="106"/>
                  <a:pt x="66" y="97"/>
                  <a:pt x="32" y="79"/>
                </a:cubicBezTo>
                <a:cubicBezTo>
                  <a:pt x="33" y="85"/>
                  <a:pt x="33" y="92"/>
                  <a:pt x="33" y="98"/>
                </a:cubicBezTo>
                <a:cubicBezTo>
                  <a:pt x="33" y="99"/>
                  <a:pt x="34" y="99"/>
                  <a:pt x="35" y="100"/>
                </a:cubicBezTo>
                <a:cubicBezTo>
                  <a:pt x="68" y="121"/>
                  <a:pt x="106" y="131"/>
                  <a:pt x="145" y="131"/>
                </a:cubicBezTo>
                <a:cubicBezTo>
                  <a:pt x="178" y="131"/>
                  <a:pt x="212" y="123"/>
                  <a:pt x="242" y="107"/>
                </a:cubicBezTo>
                <a:cubicBezTo>
                  <a:pt x="245" y="106"/>
                  <a:pt x="247" y="105"/>
                  <a:pt x="249" y="103"/>
                </a:cubicBezTo>
                <a:cubicBezTo>
                  <a:pt x="249" y="95"/>
                  <a:pt x="249" y="86"/>
                  <a:pt x="250" y="77"/>
                </a:cubicBezTo>
                <a:moveTo>
                  <a:pt x="133" y="31"/>
                </a:moveTo>
                <a:cubicBezTo>
                  <a:pt x="103" y="31"/>
                  <a:pt x="74" y="37"/>
                  <a:pt x="46" y="49"/>
                </a:cubicBezTo>
                <a:cubicBezTo>
                  <a:pt x="75" y="65"/>
                  <a:pt x="110" y="75"/>
                  <a:pt x="145" y="75"/>
                </a:cubicBezTo>
                <a:cubicBezTo>
                  <a:pt x="175" y="75"/>
                  <a:pt x="205" y="67"/>
                  <a:pt x="230" y="52"/>
                </a:cubicBezTo>
                <a:cubicBezTo>
                  <a:pt x="199" y="39"/>
                  <a:pt x="166" y="31"/>
                  <a:pt x="133" y="31"/>
                </a:cubicBezTo>
                <a:moveTo>
                  <a:pt x="348" y="27"/>
                </a:moveTo>
                <a:cubicBezTo>
                  <a:pt x="364" y="27"/>
                  <a:pt x="380" y="28"/>
                  <a:pt x="395" y="32"/>
                </a:cubicBezTo>
                <a:cubicBezTo>
                  <a:pt x="411" y="36"/>
                  <a:pt x="427" y="40"/>
                  <a:pt x="442" y="46"/>
                </a:cubicBezTo>
                <a:cubicBezTo>
                  <a:pt x="449" y="49"/>
                  <a:pt x="468" y="58"/>
                  <a:pt x="470" y="67"/>
                </a:cubicBezTo>
                <a:cubicBezTo>
                  <a:pt x="472" y="80"/>
                  <a:pt x="469" y="97"/>
                  <a:pt x="468" y="111"/>
                </a:cubicBezTo>
                <a:cubicBezTo>
                  <a:pt x="467" y="164"/>
                  <a:pt x="467" y="217"/>
                  <a:pt x="467" y="270"/>
                </a:cubicBezTo>
                <a:cubicBezTo>
                  <a:pt x="467" y="272"/>
                  <a:pt x="467" y="273"/>
                  <a:pt x="467" y="274"/>
                </a:cubicBezTo>
                <a:cubicBezTo>
                  <a:pt x="466" y="277"/>
                  <a:pt x="465" y="280"/>
                  <a:pt x="462" y="282"/>
                </a:cubicBezTo>
                <a:cubicBezTo>
                  <a:pt x="457" y="285"/>
                  <a:pt x="452" y="289"/>
                  <a:pt x="447" y="292"/>
                </a:cubicBezTo>
                <a:cubicBezTo>
                  <a:pt x="445" y="284"/>
                  <a:pt x="443" y="276"/>
                  <a:pt x="440" y="268"/>
                </a:cubicBezTo>
                <a:cubicBezTo>
                  <a:pt x="441" y="267"/>
                  <a:pt x="442" y="266"/>
                  <a:pt x="442" y="265"/>
                </a:cubicBezTo>
                <a:cubicBezTo>
                  <a:pt x="442" y="257"/>
                  <a:pt x="442" y="248"/>
                  <a:pt x="442" y="239"/>
                </a:cubicBezTo>
                <a:cubicBezTo>
                  <a:pt x="437" y="241"/>
                  <a:pt x="433" y="243"/>
                  <a:pt x="429" y="245"/>
                </a:cubicBezTo>
                <a:cubicBezTo>
                  <a:pt x="424" y="238"/>
                  <a:pt x="419" y="230"/>
                  <a:pt x="413" y="224"/>
                </a:cubicBezTo>
                <a:cubicBezTo>
                  <a:pt x="423" y="220"/>
                  <a:pt x="433" y="215"/>
                  <a:pt x="442" y="209"/>
                </a:cubicBezTo>
                <a:cubicBezTo>
                  <a:pt x="442" y="203"/>
                  <a:pt x="442" y="197"/>
                  <a:pt x="442" y="190"/>
                </a:cubicBezTo>
                <a:cubicBezTo>
                  <a:pt x="425" y="197"/>
                  <a:pt x="407" y="201"/>
                  <a:pt x="390" y="203"/>
                </a:cubicBezTo>
                <a:cubicBezTo>
                  <a:pt x="367" y="187"/>
                  <a:pt x="341" y="178"/>
                  <a:pt x="313" y="178"/>
                </a:cubicBezTo>
                <a:cubicBezTo>
                  <a:pt x="307" y="178"/>
                  <a:pt x="301" y="178"/>
                  <a:pt x="294" y="179"/>
                </a:cubicBezTo>
                <a:cubicBezTo>
                  <a:pt x="293" y="179"/>
                  <a:pt x="291" y="180"/>
                  <a:pt x="290" y="180"/>
                </a:cubicBezTo>
                <a:cubicBezTo>
                  <a:pt x="290" y="175"/>
                  <a:pt x="290" y="170"/>
                  <a:pt x="290" y="166"/>
                </a:cubicBezTo>
                <a:cubicBezTo>
                  <a:pt x="340" y="181"/>
                  <a:pt x="393" y="186"/>
                  <a:pt x="442" y="163"/>
                </a:cubicBezTo>
                <a:cubicBezTo>
                  <a:pt x="442" y="154"/>
                  <a:pt x="442" y="146"/>
                  <a:pt x="442" y="138"/>
                </a:cubicBezTo>
                <a:cubicBezTo>
                  <a:pt x="395" y="160"/>
                  <a:pt x="339" y="163"/>
                  <a:pt x="290" y="144"/>
                </a:cubicBezTo>
                <a:cubicBezTo>
                  <a:pt x="290" y="135"/>
                  <a:pt x="290" y="126"/>
                  <a:pt x="290" y="117"/>
                </a:cubicBezTo>
                <a:cubicBezTo>
                  <a:pt x="339" y="138"/>
                  <a:pt x="396" y="135"/>
                  <a:pt x="443" y="109"/>
                </a:cubicBezTo>
                <a:cubicBezTo>
                  <a:pt x="443" y="102"/>
                  <a:pt x="443" y="95"/>
                  <a:pt x="443" y="88"/>
                </a:cubicBezTo>
                <a:cubicBezTo>
                  <a:pt x="399" y="115"/>
                  <a:pt x="341" y="118"/>
                  <a:pt x="291" y="100"/>
                </a:cubicBezTo>
                <a:cubicBezTo>
                  <a:pt x="291" y="96"/>
                  <a:pt x="292" y="92"/>
                  <a:pt x="292" y="87"/>
                </a:cubicBezTo>
                <a:cubicBezTo>
                  <a:pt x="292" y="83"/>
                  <a:pt x="293" y="78"/>
                  <a:pt x="293" y="73"/>
                </a:cubicBezTo>
                <a:cubicBezTo>
                  <a:pt x="336" y="91"/>
                  <a:pt x="388" y="92"/>
                  <a:pt x="428" y="68"/>
                </a:cubicBezTo>
                <a:cubicBezTo>
                  <a:pt x="385" y="50"/>
                  <a:pt x="337" y="47"/>
                  <a:pt x="293" y="61"/>
                </a:cubicBezTo>
                <a:cubicBezTo>
                  <a:pt x="293" y="56"/>
                  <a:pt x="293" y="52"/>
                  <a:pt x="292" y="49"/>
                </a:cubicBezTo>
                <a:cubicBezTo>
                  <a:pt x="292" y="44"/>
                  <a:pt x="289" y="40"/>
                  <a:pt x="286" y="36"/>
                </a:cubicBezTo>
                <a:cubicBezTo>
                  <a:pt x="290" y="34"/>
                  <a:pt x="295" y="33"/>
                  <a:pt x="300" y="32"/>
                </a:cubicBezTo>
                <a:cubicBezTo>
                  <a:pt x="315" y="28"/>
                  <a:pt x="331" y="27"/>
                  <a:pt x="348" y="27"/>
                </a:cubicBezTo>
                <a:moveTo>
                  <a:pt x="132" y="0"/>
                </a:moveTo>
                <a:cubicBezTo>
                  <a:pt x="152" y="0"/>
                  <a:pt x="171" y="2"/>
                  <a:pt x="190" y="6"/>
                </a:cubicBezTo>
                <a:cubicBezTo>
                  <a:pt x="210" y="11"/>
                  <a:pt x="230" y="16"/>
                  <a:pt x="248" y="24"/>
                </a:cubicBezTo>
                <a:cubicBezTo>
                  <a:pt x="254" y="26"/>
                  <a:pt x="267" y="32"/>
                  <a:pt x="275" y="40"/>
                </a:cubicBezTo>
                <a:cubicBezTo>
                  <a:pt x="279" y="43"/>
                  <a:pt x="281" y="46"/>
                  <a:pt x="282" y="50"/>
                </a:cubicBezTo>
                <a:cubicBezTo>
                  <a:pt x="283" y="55"/>
                  <a:pt x="283" y="59"/>
                  <a:pt x="283" y="64"/>
                </a:cubicBezTo>
                <a:cubicBezTo>
                  <a:pt x="283" y="65"/>
                  <a:pt x="283" y="67"/>
                  <a:pt x="283" y="68"/>
                </a:cubicBezTo>
                <a:cubicBezTo>
                  <a:pt x="282" y="77"/>
                  <a:pt x="281" y="87"/>
                  <a:pt x="281" y="96"/>
                </a:cubicBezTo>
                <a:cubicBezTo>
                  <a:pt x="281" y="99"/>
                  <a:pt x="280" y="102"/>
                  <a:pt x="280" y="105"/>
                </a:cubicBezTo>
                <a:cubicBezTo>
                  <a:pt x="280" y="107"/>
                  <a:pt x="280" y="110"/>
                  <a:pt x="280" y="112"/>
                </a:cubicBezTo>
                <a:cubicBezTo>
                  <a:pt x="280" y="121"/>
                  <a:pt x="280" y="131"/>
                  <a:pt x="280" y="140"/>
                </a:cubicBezTo>
                <a:cubicBezTo>
                  <a:pt x="280" y="148"/>
                  <a:pt x="279" y="155"/>
                  <a:pt x="279" y="162"/>
                </a:cubicBezTo>
                <a:cubicBezTo>
                  <a:pt x="279" y="169"/>
                  <a:pt x="279" y="175"/>
                  <a:pt x="279" y="182"/>
                </a:cubicBezTo>
                <a:cubicBezTo>
                  <a:pt x="266" y="186"/>
                  <a:pt x="254" y="191"/>
                  <a:pt x="244" y="198"/>
                </a:cubicBezTo>
                <a:cubicBezTo>
                  <a:pt x="236" y="202"/>
                  <a:pt x="229" y="208"/>
                  <a:pt x="223" y="214"/>
                </a:cubicBezTo>
                <a:cubicBezTo>
                  <a:pt x="201" y="220"/>
                  <a:pt x="179" y="222"/>
                  <a:pt x="157" y="222"/>
                </a:cubicBezTo>
                <a:cubicBezTo>
                  <a:pt x="116" y="222"/>
                  <a:pt x="74" y="214"/>
                  <a:pt x="34" y="200"/>
                </a:cubicBezTo>
                <a:cubicBezTo>
                  <a:pt x="34" y="210"/>
                  <a:pt x="34" y="221"/>
                  <a:pt x="35" y="231"/>
                </a:cubicBezTo>
                <a:cubicBezTo>
                  <a:pt x="36" y="232"/>
                  <a:pt x="37" y="232"/>
                  <a:pt x="38" y="233"/>
                </a:cubicBezTo>
                <a:cubicBezTo>
                  <a:pt x="71" y="251"/>
                  <a:pt x="107" y="261"/>
                  <a:pt x="143" y="261"/>
                </a:cubicBezTo>
                <a:cubicBezTo>
                  <a:pt x="160" y="261"/>
                  <a:pt x="177" y="259"/>
                  <a:pt x="193" y="254"/>
                </a:cubicBezTo>
                <a:cubicBezTo>
                  <a:pt x="188" y="265"/>
                  <a:pt x="184" y="277"/>
                  <a:pt x="182" y="290"/>
                </a:cubicBezTo>
                <a:cubicBezTo>
                  <a:pt x="169" y="292"/>
                  <a:pt x="157" y="293"/>
                  <a:pt x="144" y="293"/>
                </a:cubicBezTo>
                <a:cubicBezTo>
                  <a:pt x="107" y="293"/>
                  <a:pt x="69" y="284"/>
                  <a:pt x="35" y="267"/>
                </a:cubicBezTo>
                <a:cubicBezTo>
                  <a:pt x="35" y="278"/>
                  <a:pt x="35" y="289"/>
                  <a:pt x="35" y="300"/>
                </a:cubicBezTo>
                <a:cubicBezTo>
                  <a:pt x="35" y="305"/>
                  <a:pt x="62" y="317"/>
                  <a:pt x="66" y="320"/>
                </a:cubicBezTo>
                <a:cubicBezTo>
                  <a:pt x="77" y="324"/>
                  <a:pt x="88" y="328"/>
                  <a:pt x="100" y="330"/>
                </a:cubicBezTo>
                <a:cubicBezTo>
                  <a:pt x="113" y="333"/>
                  <a:pt x="127" y="335"/>
                  <a:pt x="140" y="335"/>
                </a:cubicBezTo>
                <a:cubicBezTo>
                  <a:pt x="143" y="335"/>
                  <a:pt x="145" y="335"/>
                  <a:pt x="148" y="334"/>
                </a:cubicBezTo>
                <a:cubicBezTo>
                  <a:pt x="158" y="334"/>
                  <a:pt x="169" y="333"/>
                  <a:pt x="179" y="331"/>
                </a:cubicBezTo>
                <a:cubicBezTo>
                  <a:pt x="179" y="331"/>
                  <a:pt x="179" y="331"/>
                  <a:pt x="180" y="331"/>
                </a:cubicBezTo>
                <a:cubicBezTo>
                  <a:pt x="180" y="333"/>
                  <a:pt x="180" y="336"/>
                  <a:pt x="181" y="338"/>
                </a:cubicBezTo>
                <a:cubicBezTo>
                  <a:pt x="182" y="346"/>
                  <a:pt x="184" y="355"/>
                  <a:pt x="186" y="363"/>
                </a:cubicBezTo>
                <a:cubicBezTo>
                  <a:pt x="173" y="366"/>
                  <a:pt x="159" y="367"/>
                  <a:pt x="145" y="367"/>
                </a:cubicBezTo>
                <a:cubicBezTo>
                  <a:pt x="96" y="367"/>
                  <a:pt x="47" y="350"/>
                  <a:pt x="9" y="321"/>
                </a:cubicBezTo>
                <a:cubicBezTo>
                  <a:pt x="6" y="318"/>
                  <a:pt x="4" y="315"/>
                  <a:pt x="4" y="311"/>
                </a:cubicBezTo>
                <a:cubicBezTo>
                  <a:pt x="4" y="310"/>
                  <a:pt x="3" y="308"/>
                  <a:pt x="3" y="306"/>
                </a:cubicBezTo>
                <a:cubicBezTo>
                  <a:pt x="3" y="221"/>
                  <a:pt x="3" y="136"/>
                  <a:pt x="0" y="51"/>
                </a:cubicBezTo>
                <a:cubicBezTo>
                  <a:pt x="0" y="49"/>
                  <a:pt x="0" y="48"/>
                  <a:pt x="0" y="47"/>
                </a:cubicBezTo>
                <a:cubicBezTo>
                  <a:pt x="0" y="41"/>
                  <a:pt x="2" y="35"/>
                  <a:pt x="8" y="32"/>
                </a:cubicBezTo>
                <a:cubicBezTo>
                  <a:pt x="28" y="21"/>
                  <a:pt x="50" y="11"/>
                  <a:pt x="72" y="6"/>
                </a:cubicBezTo>
                <a:cubicBezTo>
                  <a:pt x="92" y="2"/>
                  <a:pt x="112" y="0"/>
                  <a:pt x="132" y="0"/>
                </a:cubicBezTo>
              </a:path>
            </a:pathLst>
          </a:custGeom>
          <a:solidFill>
            <a:srgbClr val="0042FF"/>
          </a:solidFill>
          <a:ln cap="flat">
            <a:noFill/>
            <a:prstDash val="solid"/>
            <a:miter lim="0"/>
          </a:ln>
        </p:spPr>
        <p:txBody>
          <a:bodyPr rtlCol="0"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98" name="直线箭头连接符 140"/>
          <p:cNvCxnSpPr/>
          <p:nvPr/>
        </p:nvCxnSpPr>
        <p:spPr>
          <a:xfrm>
            <a:off x="4868958" y="5433525"/>
            <a:ext cx="2403162" cy="0"/>
          </a:xfrm>
          <a:prstGeom prst="straightConnector1">
            <a:avLst/>
          </a:prstGeom>
          <a:ln>
            <a:solidFill>
              <a:srgbClr val="3368FF"/>
            </a:solidFill>
            <a:tailEnd type="triangle"/>
          </a:ln>
        </p:spPr>
        <p:style>
          <a:lnRef idx="1">
            <a:srgbClr val="0042FF"/>
          </a:lnRef>
          <a:fillRef idx="0">
            <a:srgbClr val="0042FF"/>
          </a:fillRef>
          <a:effectRef idx="0">
            <a:srgbClr val="0042FF"/>
          </a:effectRef>
          <a:fontRef idx="minor">
            <a:srgbClr val="383838"/>
          </a:fontRef>
        </p:style>
      </p:cxnSp>
      <p:cxnSp>
        <p:nvCxnSpPr>
          <p:cNvPr id="99" name="直线箭头连接符 141"/>
          <p:cNvCxnSpPr/>
          <p:nvPr/>
        </p:nvCxnSpPr>
        <p:spPr>
          <a:xfrm flipH="1">
            <a:off x="4868958" y="5576399"/>
            <a:ext cx="2403162" cy="0"/>
          </a:xfrm>
          <a:prstGeom prst="straightConnector1">
            <a:avLst/>
          </a:prstGeom>
          <a:ln>
            <a:solidFill>
              <a:srgbClr val="3368FF"/>
            </a:solidFill>
            <a:tailEnd type="triangle"/>
          </a:ln>
        </p:spPr>
        <p:style>
          <a:lnRef idx="1">
            <a:srgbClr val="0042FF"/>
          </a:lnRef>
          <a:fillRef idx="0">
            <a:srgbClr val="0042FF"/>
          </a:fillRef>
          <a:effectRef idx="0">
            <a:srgbClr val="0042FF"/>
          </a:effectRef>
          <a:fontRef idx="minor">
            <a:srgbClr val="383838"/>
          </a:fontRef>
        </p:style>
      </p:cxnSp>
      <p:sp>
        <p:nvSpPr>
          <p:cNvPr id="113" name="textbox 114"/>
          <p:cNvSpPr/>
          <p:nvPr/>
        </p:nvSpPr>
        <p:spPr>
          <a:xfrm>
            <a:off x="5129453" y="5635838"/>
            <a:ext cx="1882172" cy="155748"/>
          </a:xfrm>
          <a:prstGeom prst="rect">
            <a:avLst/>
          </a:prstGeom>
        </p:spPr>
        <p:txBody>
          <a:bodyPr vert="horz" wrap="square" lIns="0" tIns="0" rIns="0" bIns="0">
            <a:spAutoFit/>
          </a:bodyPr>
          <a:lstStyle/>
          <a:p>
            <a:pPr marL="12700" algn="ctr" eaLnBrk="0">
              <a:lnSpc>
                <a:spcPct val="92000"/>
              </a:lnSpc>
              <a:defRPr>
                <a:latin typeface="微软雅黑"/>
                <a:ea typeface="微软雅黑"/>
                <a:cs typeface="微软雅黑"/>
              </a:defRPr>
            </a:pPr>
            <a:r>
              <a:rPr lang="zh-CN" altLang="en-GB" sz="1100" b="1" kern="0" dirty="0">
                <a:solidFill>
                  <a:srgbClr val="0042FF"/>
                </a:solidFill>
                <a:latin typeface="微软雅黑"/>
                <a:ea typeface="微软雅黑"/>
                <a:cs typeface="微软雅黑"/>
              </a:rPr>
              <a:t>相互发展</a:t>
            </a:r>
            <a:endParaRPr lang="zh-CN" altLang="en-GB" sz="1100" b="1" kern="0" spc="0" dirty="0">
              <a:solidFill>
                <a:srgbClr val="0042FF"/>
              </a:solidFill>
              <a:latin typeface="微软雅黑"/>
              <a:ea typeface="微软雅黑"/>
              <a:cs typeface="微软雅黑"/>
            </a:endParaRPr>
          </a:p>
        </p:txBody>
      </p:sp>
      <p:sp>
        <p:nvSpPr>
          <p:cNvPr id="120" name="textbox 114"/>
          <p:cNvSpPr/>
          <p:nvPr/>
        </p:nvSpPr>
        <p:spPr>
          <a:xfrm>
            <a:off x="5129453" y="5238273"/>
            <a:ext cx="1882172" cy="155748"/>
          </a:xfrm>
          <a:prstGeom prst="rect">
            <a:avLst/>
          </a:prstGeom>
        </p:spPr>
        <p:txBody>
          <a:bodyPr vert="horz" wrap="square" lIns="0" tIns="0" rIns="0" bIns="0">
            <a:spAutoFit/>
          </a:bodyPr>
          <a:lstStyle/>
          <a:p>
            <a:pPr marL="12700" algn="ctr" eaLnBrk="0">
              <a:lnSpc>
                <a:spcPct val="92000"/>
              </a:lnSpc>
              <a:defRPr>
                <a:latin typeface="微软雅黑"/>
                <a:ea typeface="微软雅黑"/>
                <a:cs typeface="微软雅黑"/>
              </a:defRPr>
            </a:pPr>
            <a:r>
              <a:rPr lang="zh-CN" altLang="en-GB" sz="1100" b="1" kern="0" dirty="0">
                <a:solidFill>
                  <a:srgbClr val="0042FF"/>
                </a:solidFill>
                <a:latin typeface="微软雅黑"/>
                <a:ea typeface="微软雅黑"/>
                <a:cs typeface="微软雅黑"/>
              </a:rPr>
              <a:t>相互影响</a:t>
            </a:r>
            <a:endParaRPr lang="zh-CN" altLang="en-GB" sz="1100" b="1" kern="0" spc="0" dirty="0">
              <a:solidFill>
                <a:srgbClr val="0042FF"/>
              </a:solidFill>
              <a:latin typeface="微软雅黑"/>
              <a:ea typeface="微软雅黑"/>
              <a:cs typeface="微软雅黑"/>
            </a:endParaRPr>
          </a:p>
        </p:txBody>
      </p:sp>
      <p:sp>
        <p:nvSpPr>
          <p:cNvPr id="146" name="任意多边形: 形状 32"/>
          <p:cNvSpPr/>
          <p:nvPr/>
        </p:nvSpPr>
        <p:spPr>
          <a:xfrm>
            <a:off x="1971564" y="1969247"/>
            <a:ext cx="181683" cy="205126"/>
          </a:xfrm>
          <a:custGeom>
            <a:avLst/>
            <a:gdLst>
              <a:gd name="connsiteX0" fmla="*/ 223495 w 243099"/>
              <a:gd name="connsiteY0" fmla="*/ 0 h 274467"/>
              <a:gd name="connsiteX1" fmla="*/ 19605 w 243099"/>
              <a:gd name="connsiteY1" fmla="*/ 0 h 274467"/>
              <a:gd name="connsiteX2" fmla="*/ 0 w 243099"/>
              <a:gd name="connsiteY2" fmla="*/ 19605 h 274467"/>
              <a:gd name="connsiteX3" fmla="*/ 0 w 243099"/>
              <a:gd name="connsiteY3" fmla="*/ 62735 h 274467"/>
              <a:gd name="connsiteX4" fmla="*/ 37249 w 243099"/>
              <a:gd name="connsiteY4" fmla="*/ 62735 h 274467"/>
              <a:gd name="connsiteX5" fmla="*/ 37249 w 243099"/>
              <a:gd name="connsiteY5" fmla="*/ 90182 h 274467"/>
              <a:gd name="connsiteX6" fmla="*/ 0 w 243099"/>
              <a:gd name="connsiteY6" fmla="*/ 90182 h 274467"/>
              <a:gd name="connsiteX7" fmla="*/ 0 w 243099"/>
              <a:gd name="connsiteY7" fmla="*/ 125471 h 274467"/>
              <a:gd name="connsiteX8" fmla="*/ 37249 w 243099"/>
              <a:gd name="connsiteY8" fmla="*/ 125471 h 274467"/>
              <a:gd name="connsiteX9" fmla="*/ 37249 w 243099"/>
              <a:gd name="connsiteY9" fmla="*/ 152917 h 274467"/>
              <a:gd name="connsiteX10" fmla="*/ 0 w 243099"/>
              <a:gd name="connsiteY10" fmla="*/ 152917 h 274467"/>
              <a:gd name="connsiteX11" fmla="*/ 0 w 243099"/>
              <a:gd name="connsiteY11" fmla="*/ 188206 h 274467"/>
              <a:gd name="connsiteX12" fmla="*/ 37249 w 243099"/>
              <a:gd name="connsiteY12" fmla="*/ 188206 h 274467"/>
              <a:gd name="connsiteX13" fmla="*/ 37249 w 243099"/>
              <a:gd name="connsiteY13" fmla="*/ 215653 h 274467"/>
              <a:gd name="connsiteX14" fmla="*/ 0 w 243099"/>
              <a:gd name="connsiteY14" fmla="*/ 215653 h 274467"/>
              <a:gd name="connsiteX15" fmla="*/ 0 w 243099"/>
              <a:gd name="connsiteY15" fmla="*/ 254862 h 274467"/>
              <a:gd name="connsiteX16" fmla="*/ 19605 w 243099"/>
              <a:gd name="connsiteY16" fmla="*/ 274467 h 274467"/>
              <a:gd name="connsiteX17" fmla="*/ 223495 w 243099"/>
              <a:gd name="connsiteY17" fmla="*/ 274467 h 274467"/>
              <a:gd name="connsiteX18" fmla="*/ 243099 w 243099"/>
              <a:gd name="connsiteY18" fmla="*/ 254862 h 274467"/>
              <a:gd name="connsiteX19" fmla="*/ 243099 w 243099"/>
              <a:gd name="connsiteY19" fmla="*/ 19605 h 274467"/>
              <a:gd name="connsiteX20" fmla="*/ 223495 w 243099"/>
              <a:gd name="connsiteY20" fmla="*/ 0 h 274467"/>
              <a:gd name="connsiteX21" fmla="*/ 143115 w 243099"/>
              <a:gd name="connsiteY21" fmla="*/ 72538 h 274467"/>
              <a:gd name="connsiteX22" fmla="*/ 172522 w 243099"/>
              <a:gd name="connsiteY22" fmla="*/ 101945 h 274467"/>
              <a:gd name="connsiteX23" fmla="*/ 143115 w 243099"/>
              <a:gd name="connsiteY23" fmla="*/ 131352 h 274467"/>
              <a:gd name="connsiteX24" fmla="*/ 113708 w 243099"/>
              <a:gd name="connsiteY24" fmla="*/ 101945 h 274467"/>
              <a:gd name="connsiteX25" fmla="*/ 143115 w 243099"/>
              <a:gd name="connsiteY25" fmla="*/ 72538 h 274467"/>
              <a:gd name="connsiteX26" fmla="*/ 74498 w 243099"/>
              <a:gd name="connsiteY26" fmla="*/ 209771 h 274467"/>
              <a:gd name="connsiteX27" fmla="*/ 143115 w 243099"/>
              <a:gd name="connsiteY27" fmla="*/ 141155 h 274467"/>
              <a:gd name="connsiteX28" fmla="*/ 211732 w 243099"/>
              <a:gd name="connsiteY28" fmla="*/ 209771 h 274467"/>
              <a:gd name="connsiteX29" fmla="*/ 74498 w 243099"/>
              <a:gd name="connsiteY29" fmla="*/ 209771 h 27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3099" h="274467">
                <a:moveTo>
                  <a:pt x="223495" y="0"/>
                </a:moveTo>
                <a:lnTo>
                  <a:pt x="19605" y="0"/>
                </a:lnTo>
                <a:cubicBezTo>
                  <a:pt x="9802" y="0"/>
                  <a:pt x="0" y="9802"/>
                  <a:pt x="0" y="19605"/>
                </a:cubicBezTo>
                <a:lnTo>
                  <a:pt x="0" y="62735"/>
                </a:lnTo>
                <a:lnTo>
                  <a:pt x="37249" y="62735"/>
                </a:lnTo>
                <a:lnTo>
                  <a:pt x="37249" y="90182"/>
                </a:lnTo>
                <a:lnTo>
                  <a:pt x="0" y="90182"/>
                </a:lnTo>
                <a:lnTo>
                  <a:pt x="0" y="125471"/>
                </a:lnTo>
                <a:lnTo>
                  <a:pt x="37249" y="125471"/>
                </a:lnTo>
                <a:lnTo>
                  <a:pt x="37249" y="152917"/>
                </a:lnTo>
                <a:lnTo>
                  <a:pt x="0" y="152917"/>
                </a:lnTo>
                <a:lnTo>
                  <a:pt x="0" y="188206"/>
                </a:lnTo>
                <a:lnTo>
                  <a:pt x="37249" y="188206"/>
                </a:lnTo>
                <a:lnTo>
                  <a:pt x="37249" y="215653"/>
                </a:lnTo>
                <a:lnTo>
                  <a:pt x="0" y="215653"/>
                </a:lnTo>
                <a:lnTo>
                  <a:pt x="0" y="254862"/>
                </a:lnTo>
                <a:cubicBezTo>
                  <a:pt x="0" y="264665"/>
                  <a:pt x="9802" y="274467"/>
                  <a:pt x="19605" y="274467"/>
                </a:cubicBezTo>
                <a:lnTo>
                  <a:pt x="223495" y="274467"/>
                </a:lnTo>
                <a:cubicBezTo>
                  <a:pt x="233297" y="274467"/>
                  <a:pt x="243099" y="264665"/>
                  <a:pt x="243099" y="254862"/>
                </a:cubicBezTo>
                <a:lnTo>
                  <a:pt x="243099" y="19605"/>
                </a:lnTo>
                <a:cubicBezTo>
                  <a:pt x="243099" y="9802"/>
                  <a:pt x="233297" y="0"/>
                  <a:pt x="223495" y="0"/>
                </a:cubicBezTo>
                <a:close/>
                <a:moveTo>
                  <a:pt x="143115" y="72538"/>
                </a:moveTo>
                <a:cubicBezTo>
                  <a:pt x="158799" y="72538"/>
                  <a:pt x="172522" y="86261"/>
                  <a:pt x="172522" y="101945"/>
                </a:cubicBezTo>
                <a:cubicBezTo>
                  <a:pt x="172522" y="117629"/>
                  <a:pt x="158799" y="131352"/>
                  <a:pt x="143115" y="131352"/>
                </a:cubicBezTo>
                <a:cubicBezTo>
                  <a:pt x="127431" y="131352"/>
                  <a:pt x="113708" y="117629"/>
                  <a:pt x="113708" y="101945"/>
                </a:cubicBezTo>
                <a:cubicBezTo>
                  <a:pt x="113708" y="86261"/>
                  <a:pt x="125471" y="72538"/>
                  <a:pt x="143115" y="72538"/>
                </a:cubicBezTo>
                <a:close/>
                <a:moveTo>
                  <a:pt x="74498" y="209771"/>
                </a:moveTo>
                <a:cubicBezTo>
                  <a:pt x="74498" y="170562"/>
                  <a:pt x="103905" y="141155"/>
                  <a:pt x="143115" y="141155"/>
                </a:cubicBezTo>
                <a:cubicBezTo>
                  <a:pt x="182325" y="141155"/>
                  <a:pt x="211732" y="172522"/>
                  <a:pt x="211732" y="209771"/>
                </a:cubicBezTo>
                <a:lnTo>
                  <a:pt x="74498" y="209771"/>
                </a:lnTo>
                <a:close/>
              </a:path>
            </a:pathLst>
          </a:custGeom>
          <a:solidFill>
            <a:srgbClr val="3368FF"/>
          </a:solidFill>
          <a:ln w="7836"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54" name="文本框 153"/>
          <p:cNvSpPr txBox="1"/>
          <p:nvPr/>
        </p:nvSpPr>
        <p:spPr>
          <a:xfrm>
            <a:off x="1711704" y="2174373"/>
            <a:ext cx="713657" cy="230832"/>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企业通讯录</a:t>
            </a:r>
            <a:endParaRPr lang="zh-CN" altLang="en-US" sz="1000" dirty="0">
              <a:solidFill>
                <a:srgbClr val="383838"/>
              </a:solidFill>
              <a:latin typeface="微软雅黑"/>
              <a:ea typeface="微软雅黑"/>
              <a:cs typeface="微软雅黑"/>
            </a:endParaRPr>
          </a:p>
        </p:txBody>
      </p:sp>
      <p:sp>
        <p:nvSpPr>
          <p:cNvPr id="195" name="文本框 194"/>
          <p:cNvSpPr txBox="1"/>
          <p:nvPr/>
        </p:nvSpPr>
        <p:spPr>
          <a:xfrm>
            <a:off x="1567434" y="2301205"/>
            <a:ext cx="1002197" cy="31369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GB" altLang="zh-CN" sz="1000" dirty="0">
                <a:solidFill>
                  <a:srgbClr val="383838"/>
                </a:solidFill>
                <a:latin typeface="微软雅黑"/>
                <a:ea typeface="微软雅黑"/>
                <a:cs typeface="微软雅黑"/>
              </a:rPr>
              <a:t>Corporate Directory</a:t>
            </a:r>
            <a:endParaRPr lang="en-GB" altLang="zh-CN" sz="1000" dirty="0">
              <a:solidFill>
                <a:srgbClr val="383838"/>
              </a:solidFill>
              <a:latin typeface="微软雅黑"/>
              <a:ea typeface="微软雅黑"/>
              <a:cs typeface="微软雅黑"/>
            </a:endParaRPr>
          </a:p>
        </p:txBody>
      </p:sp>
      <p:sp>
        <p:nvSpPr>
          <p:cNvPr id="126" name="任意多边形: 形状 34"/>
          <p:cNvSpPr/>
          <p:nvPr/>
        </p:nvSpPr>
        <p:spPr>
          <a:xfrm>
            <a:off x="1962150" y="2753360"/>
            <a:ext cx="266700" cy="203835"/>
          </a:xfrm>
          <a:custGeom>
            <a:avLst/>
            <a:gdLst>
              <a:gd name="connsiteX0" fmla="*/ 181901 w 266625"/>
              <a:gd name="connsiteY0" fmla="*/ 112853 h 203889"/>
              <a:gd name="connsiteX1" fmla="*/ 90950 w 266625"/>
              <a:gd name="connsiteY1" fmla="*/ 36700 h 203889"/>
              <a:gd name="connsiteX2" fmla="*/ 0 w 266625"/>
              <a:gd name="connsiteY2" fmla="*/ 112853 h 203889"/>
              <a:gd name="connsiteX3" fmla="*/ 22396 w 266625"/>
              <a:gd name="connsiteY3" fmla="*/ 162877 h 203889"/>
              <a:gd name="connsiteX4" fmla="*/ 22883 w 266625"/>
              <a:gd name="connsiteY4" fmla="*/ 194613 h 203889"/>
              <a:gd name="connsiteX5" fmla="*/ 21659 w 266625"/>
              <a:gd name="connsiteY5" fmla="*/ 206007 h 203889"/>
              <a:gd name="connsiteX6" fmla="*/ 31336 w 266625"/>
              <a:gd name="connsiteY6" fmla="*/ 199726 h 203889"/>
              <a:gd name="connsiteX7" fmla="*/ 60406 w 266625"/>
              <a:gd name="connsiteY7" fmla="*/ 184622 h 203889"/>
              <a:gd name="connsiteX8" fmla="*/ 90950 w 266625"/>
              <a:gd name="connsiteY8" fmla="*/ 189006 h 203889"/>
              <a:gd name="connsiteX9" fmla="*/ 181901 w 266625"/>
              <a:gd name="connsiteY9" fmla="*/ 112853 h 203889"/>
              <a:gd name="connsiteX10" fmla="*/ 44542 w 266625"/>
              <a:gd name="connsiteY10" fmla="*/ 125965 h 203889"/>
              <a:gd name="connsiteX11" fmla="*/ 33822 w 266625"/>
              <a:gd name="connsiteY11" fmla="*/ 115151 h 203889"/>
              <a:gd name="connsiteX12" fmla="*/ 44605 w 266625"/>
              <a:gd name="connsiteY12" fmla="*/ 104431 h 203889"/>
              <a:gd name="connsiteX13" fmla="*/ 55325 w 266625"/>
              <a:gd name="connsiteY13" fmla="*/ 115237 h 203889"/>
              <a:gd name="connsiteX14" fmla="*/ 44542 w 266625"/>
              <a:gd name="connsiteY14" fmla="*/ 125965 h 203889"/>
              <a:gd name="connsiteX15" fmla="*/ 90739 w 266625"/>
              <a:gd name="connsiteY15" fmla="*/ 125965 h 203889"/>
              <a:gd name="connsiteX16" fmla="*/ 80011 w 266625"/>
              <a:gd name="connsiteY16" fmla="*/ 115151 h 203889"/>
              <a:gd name="connsiteX17" fmla="*/ 90794 w 266625"/>
              <a:gd name="connsiteY17" fmla="*/ 104431 h 203889"/>
              <a:gd name="connsiteX18" fmla="*/ 101521 w 266625"/>
              <a:gd name="connsiteY18" fmla="*/ 115237 h 203889"/>
              <a:gd name="connsiteX19" fmla="*/ 90739 w 266625"/>
              <a:gd name="connsiteY19" fmla="*/ 125965 h 203889"/>
              <a:gd name="connsiteX20" fmla="*/ 136896 w 266625"/>
              <a:gd name="connsiteY20" fmla="*/ 125965 h 203889"/>
              <a:gd name="connsiteX21" fmla="*/ 126176 w 266625"/>
              <a:gd name="connsiteY21" fmla="*/ 115151 h 203889"/>
              <a:gd name="connsiteX22" fmla="*/ 136959 w 266625"/>
              <a:gd name="connsiteY22" fmla="*/ 104431 h 203889"/>
              <a:gd name="connsiteX23" fmla="*/ 147679 w 266625"/>
              <a:gd name="connsiteY23" fmla="*/ 115237 h 203889"/>
              <a:gd name="connsiteX24" fmla="*/ 136896 w 266625"/>
              <a:gd name="connsiteY24" fmla="*/ 125965 h 203889"/>
              <a:gd name="connsiteX25" fmla="*/ 262736 w 266625"/>
              <a:gd name="connsiteY25" fmla="*/ 27298 h 203889"/>
              <a:gd name="connsiteX26" fmla="*/ 247146 w 266625"/>
              <a:gd name="connsiteY26" fmla="*/ 27298 h 203889"/>
              <a:gd name="connsiteX27" fmla="*/ 247146 w 266625"/>
              <a:gd name="connsiteY27" fmla="*/ 11700 h 203889"/>
              <a:gd name="connsiteX28" fmla="*/ 235446 w 266625"/>
              <a:gd name="connsiteY28" fmla="*/ 0 h 203889"/>
              <a:gd name="connsiteX29" fmla="*/ 223745 w 266625"/>
              <a:gd name="connsiteY29" fmla="*/ 11700 h 203889"/>
              <a:gd name="connsiteX30" fmla="*/ 223745 w 266625"/>
              <a:gd name="connsiteY30" fmla="*/ 27298 h 203889"/>
              <a:gd name="connsiteX31" fmla="*/ 208148 w 266625"/>
              <a:gd name="connsiteY31" fmla="*/ 27298 h 203889"/>
              <a:gd name="connsiteX32" fmla="*/ 196448 w 266625"/>
              <a:gd name="connsiteY32" fmla="*/ 38998 h 203889"/>
              <a:gd name="connsiteX33" fmla="*/ 208148 w 266625"/>
              <a:gd name="connsiteY33" fmla="*/ 50698 h 203889"/>
              <a:gd name="connsiteX34" fmla="*/ 223745 w 266625"/>
              <a:gd name="connsiteY34" fmla="*/ 50698 h 203889"/>
              <a:gd name="connsiteX35" fmla="*/ 223745 w 266625"/>
              <a:gd name="connsiteY35" fmla="*/ 66288 h 203889"/>
              <a:gd name="connsiteX36" fmla="*/ 235446 w 266625"/>
              <a:gd name="connsiteY36" fmla="*/ 77988 h 203889"/>
              <a:gd name="connsiteX37" fmla="*/ 247146 w 266625"/>
              <a:gd name="connsiteY37" fmla="*/ 66288 h 203889"/>
              <a:gd name="connsiteX38" fmla="*/ 247146 w 266625"/>
              <a:gd name="connsiteY38" fmla="*/ 50698 h 203889"/>
              <a:gd name="connsiteX39" fmla="*/ 262736 w 266625"/>
              <a:gd name="connsiteY39" fmla="*/ 50698 h 203889"/>
              <a:gd name="connsiteX40" fmla="*/ 274436 w 266625"/>
              <a:gd name="connsiteY40" fmla="*/ 38998 h 203889"/>
              <a:gd name="connsiteX41" fmla="*/ 262736 w 266625"/>
              <a:gd name="connsiteY41" fmla="*/ 27298 h 203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625" h="203889">
                <a:moveTo>
                  <a:pt x="181901" y="112853"/>
                </a:moveTo>
                <a:cubicBezTo>
                  <a:pt x="181901" y="70852"/>
                  <a:pt x="141099" y="36700"/>
                  <a:pt x="90950" y="36700"/>
                </a:cubicBezTo>
                <a:cubicBezTo>
                  <a:pt x="40802" y="36700"/>
                  <a:pt x="0" y="70852"/>
                  <a:pt x="0" y="112853"/>
                </a:cubicBezTo>
                <a:cubicBezTo>
                  <a:pt x="0" y="131383"/>
                  <a:pt x="8030" y="149240"/>
                  <a:pt x="22396" y="162877"/>
                </a:cubicBezTo>
                <a:cubicBezTo>
                  <a:pt x="24169" y="165629"/>
                  <a:pt x="24420" y="180458"/>
                  <a:pt x="22883" y="194613"/>
                </a:cubicBezTo>
                <a:lnTo>
                  <a:pt x="21659" y="206007"/>
                </a:lnTo>
                <a:lnTo>
                  <a:pt x="31336" y="199726"/>
                </a:lnTo>
                <a:cubicBezTo>
                  <a:pt x="42401" y="192558"/>
                  <a:pt x="56517" y="184897"/>
                  <a:pt x="60406" y="184622"/>
                </a:cubicBezTo>
                <a:cubicBezTo>
                  <a:pt x="70185" y="187532"/>
                  <a:pt x="80474" y="189006"/>
                  <a:pt x="90950" y="189006"/>
                </a:cubicBezTo>
                <a:cubicBezTo>
                  <a:pt x="141099" y="189006"/>
                  <a:pt x="181901" y="154847"/>
                  <a:pt x="181901" y="112853"/>
                </a:cubicBezTo>
                <a:close/>
                <a:moveTo>
                  <a:pt x="44542" y="125965"/>
                </a:moveTo>
                <a:cubicBezTo>
                  <a:pt x="38598" y="125933"/>
                  <a:pt x="33822" y="121095"/>
                  <a:pt x="33822" y="115151"/>
                </a:cubicBezTo>
                <a:cubicBezTo>
                  <a:pt x="33853" y="109207"/>
                  <a:pt x="38692" y="104399"/>
                  <a:pt x="44605" y="104431"/>
                </a:cubicBezTo>
                <a:cubicBezTo>
                  <a:pt x="50549" y="104454"/>
                  <a:pt x="55356" y="109301"/>
                  <a:pt x="55325" y="115237"/>
                </a:cubicBezTo>
                <a:cubicBezTo>
                  <a:pt x="55325" y="121181"/>
                  <a:pt x="50486" y="125996"/>
                  <a:pt x="44542" y="125965"/>
                </a:cubicBezTo>
                <a:close/>
                <a:moveTo>
                  <a:pt x="90739" y="125965"/>
                </a:moveTo>
                <a:cubicBezTo>
                  <a:pt x="84795" y="125933"/>
                  <a:pt x="80011" y="121095"/>
                  <a:pt x="80011" y="115151"/>
                </a:cubicBezTo>
                <a:cubicBezTo>
                  <a:pt x="80042" y="109207"/>
                  <a:pt x="84889" y="104399"/>
                  <a:pt x="90794" y="104431"/>
                </a:cubicBezTo>
                <a:cubicBezTo>
                  <a:pt x="96738" y="104454"/>
                  <a:pt x="101553" y="109301"/>
                  <a:pt x="101521" y="115237"/>
                </a:cubicBezTo>
                <a:cubicBezTo>
                  <a:pt x="101490" y="121181"/>
                  <a:pt x="96651" y="125996"/>
                  <a:pt x="90739" y="125965"/>
                </a:cubicBezTo>
                <a:close/>
                <a:moveTo>
                  <a:pt x="136896" y="125965"/>
                </a:moveTo>
                <a:cubicBezTo>
                  <a:pt x="130960" y="125933"/>
                  <a:pt x="126176" y="121095"/>
                  <a:pt x="126176" y="115151"/>
                </a:cubicBezTo>
                <a:cubicBezTo>
                  <a:pt x="126208" y="109207"/>
                  <a:pt x="131046" y="104399"/>
                  <a:pt x="136959" y="104431"/>
                </a:cubicBezTo>
                <a:cubicBezTo>
                  <a:pt x="142903" y="104454"/>
                  <a:pt x="147710" y="109301"/>
                  <a:pt x="147679" y="115237"/>
                </a:cubicBezTo>
                <a:cubicBezTo>
                  <a:pt x="147679" y="121181"/>
                  <a:pt x="142841" y="125996"/>
                  <a:pt x="136896" y="125965"/>
                </a:cubicBezTo>
                <a:close/>
                <a:moveTo>
                  <a:pt x="262736" y="27298"/>
                </a:moveTo>
                <a:lnTo>
                  <a:pt x="247146" y="27298"/>
                </a:lnTo>
                <a:lnTo>
                  <a:pt x="247146" y="11700"/>
                </a:lnTo>
                <a:cubicBezTo>
                  <a:pt x="247146" y="5238"/>
                  <a:pt x="241907" y="0"/>
                  <a:pt x="235446" y="0"/>
                </a:cubicBezTo>
                <a:cubicBezTo>
                  <a:pt x="228984" y="0"/>
                  <a:pt x="223745" y="5238"/>
                  <a:pt x="223745" y="11700"/>
                </a:cubicBezTo>
                <a:lnTo>
                  <a:pt x="223745" y="27298"/>
                </a:lnTo>
                <a:lnTo>
                  <a:pt x="208148" y="27298"/>
                </a:lnTo>
                <a:cubicBezTo>
                  <a:pt x="201686" y="27298"/>
                  <a:pt x="196448" y="32536"/>
                  <a:pt x="196448" y="38998"/>
                </a:cubicBezTo>
                <a:cubicBezTo>
                  <a:pt x="196448" y="45460"/>
                  <a:pt x="201686" y="50698"/>
                  <a:pt x="208148" y="50698"/>
                </a:cubicBezTo>
                <a:lnTo>
                  <a:pt x="223745" y="50698"/>
                </a:lnTo>
                <a:lnTo>
                  <a:pt x="223745" y="66288"/>
                </a:lnTo>
                <a:cubicBezTo>
                  <a:pt x="223745" y="72750"/>
                  <a:pt x="228984" y="77988"/>
                  <a:pt x="235446" y="77988"/>
                </a:cubicBezTo>
                <a:cubicBezTo>
                  <a:pt x="241907" y="77988"/>
                  <a:pt x="247146" y="72750"/>
                  <a:pt x="247146" y="66288"/>
                </a:cubicBezTo>
                <a:lnTo>
                  <a:pt x="247146" y="50698"/>
                </a:lnTo>
                <a:lnTo>
                  <a:pt x="262736" y="50698"/>
                </a:lnTo>
                <a:cubicBezTo>
                  <a:pt x="269197" y="50698"/>
                  <a:pt x="274436" y="45460"/>
                  <a:pt x="274436" y="38998"/>
                </a:cubicBezTo>
                <a:cubicBezTo>
                  <a:pt x="274436" y="32536"/>
                  <a:pt x="269197" y="27298"/>
                  <a:pt x="262736" y="27298"/>
                </a:cubicBezTo>
                <a:close/>
              </a:path>
            </a:pathLst>
          </a:custGeom>
          <a:solidFill>
            <a:srgbClr val="3368FF"/>
          </a:solidFill>
          <a:ln w="7836"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55" name="文本框 154"/>
          <p:cNvSpPr txBox="1"/>
          <p:nvPr/>
        </p:nvSpPr>
        <p:spPr>
          <a:xfrm>
            <a:off x="1758315" y="2937510"/>
            <a:ext cx="607695" cy="231140"/>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及时沟通</a:t>
            </a:r>
            <a:endParaRPr lang="zh-CN" altLang="en-US" sz="1000" dirty="0">
              <a:solidFill>
                <a:srgbClr val="383838"/>
              </a:solidFill>
              <a:latin typeface="微软雅黑"/>
              <a:ea typeface="微软雅黑"/>
              <a:cs typeface="微软雅黑"/>
            </a:endParaRPr>
          </a:p>
        </p:txBody>
      </p:sp>
      <p:sp>
        <p:nvSpPr>
          <p:cNvPr id="149" name="任意多边形: 形状 35"/>
          <p:cNvSpPr/>
          <p:nvPr/>
        </p:nvSpPr>
        <p:spPr>
          <a:xfrm>
            <a:off x="1962150" y="3515995"/>
            <a:ext cx="200660" cy="189865"/>
          </a:xfrm>
          <a:custGeom>
            <a:avLst/>
            <a:gdLst>
              <a:gd name="connsiteX0" fmla="*/ 238002 w 282309"/>
              <a:gd name="connsiteY0" fmla="*/ 179439 h 266625"/>
              <a:gd name="connsiteX1" fmla="*/ 197295 w 282309"/>
              <a:gd name="connsiteY1" fmla="*/ 204737 h 266625"/>
              <a:gd name="connsiteX2" fmla="*/ 107780 w 282309"/>
              <a:gd name="connsiteY2" fmla="*/ 166664 h 266625"/>
              <a:gd name="connsiteX3" fmla="*/ 115872 w 282309"/>
              <a:gd name="connsiteY3" fmla="*/ 137971 h 266625"/>
              <a:gd name="connsiteX4" fmla="*/ 114304 w 282309"/>
              <a:gd name="connsiteY4" fmla="*/ 124930 h 266625"/>
              <a:gd name="connsiteX5" fmla="*/ 171456 w 282309"/>
              <a:gd name="connsiteY5" fmla="*/ 80591 h 266625"/>
              <a:gd name="connsiteX6" fmla="*/ 199389 w 282309"/>
              <a:gd name="connsiteY6" fmla="*/ 89719 h 266625"/>
              <a:gd name="connsiteX7" fmla="*/ 244535 w 282309"/>
              <a:gd name="connsiteY7" fmla="*/ 44864 h 266625"/>
              <a:gd name="connsiteX8" fmla="*/ 199389 w 282309"/>
              <a:gd name="connsiteY8" fmla="*/ 0 h 266625"/>
              <a:gd name="connsiteX9" fmla="*/ 154502 w 282309"/>
              <a:gd name="connsiteY9" fmla="*/ 44864 h 266625"/>
              <a:gd name="connsiteX10" fmla="*/ 157889 w 282309"/>
              <a:gd name="connsiteY10" fmla="*/ 62594 h 266625"/>
              <a:gd name="connsiteX11" fmla="*/ 105168 w 282309"/>
              <a:gd name="connsiteY11" fmla="*/ 103019 h 266625"/>
              <a:gd name="connsiteX12" fmla="*/ 57936 w 282309"/>
              <a:gd name="connsiteY12" fmla="*/ 76412 h 266625"/>
              <a:gd name="connsiteX13" fmla="*/ 0 w 282309"/>
              <a:gd name="connsiteY13" fmla="*/ 134058 h 266625"/>
              <a:gd name="connsiteX14" fmla="*/ 0 w 282309"/>
              <a:gd name="connsiteY14" fmla="*/ 134317 h 266625"/>
              <a:gd name="connsiteX15" fmla="*/ 57685 w 282309"/>
              <a:gd name="connsiteY15" fmla="*/ 192221 h 266625"/>
              <a:gd name="connsiteX16" fmla="*/ 57936 w 282309"/>
              <a:gd name="connsiteY16" fmla="*/ 192221 h 266625"/>
              <a:gd name="connsiteX17" fmla="*/ 90292 w 282309"/>
              <a:gd name="connsiteY17" fmla="*/ 183360 h 266625"/>
              <a:gd name="connsiteX18" fmla="*/ 193123 w 282309"/>
              <a:gd name="connsiteY18" fmla="*/ 227173 h 266625"/>
              <a:gd name="connsiteX19" fmla="*/ 238002 w 282309"/>
              <a:gd name="connsiteY19" fmla="*/ 269425 h 266625"/>
              <a:gd name="connsiteX20" fmla="*/ 282897 w 282309"/>
              <a:gd name="connsiteY20" fmla="*/ 224561 h 266625"/>
              <a:gd name="connsiteX21" fmla="*/ 238010 w 282309"/>
              <a:gd name="connsiteY21" fmla="*/ 179439 h 266625"/>
              <a:gd name="connsiteX22" fmla="*/ 238002 w 282309"/>
              <a:gd name="connsiteY22" fmla="*/ 179439 h 266625"/>
              <a:gd name="connsiteX23" fmla="*/ 238002 w 282309"/>
              <a:gd name="connsiteY23" fmla="*/ 179439 h 2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2309" h="266625">
                <a:moveTo>
                  <a:pt x="238002" y="179439"/>
                </a:moveTo>
                <a:cubicBezTo>
                  <a:pt x="219488" y="179439"/>
                  <a:pt x="204345" y="189351"/>
                  <a:pt x="197295" y="204737"/>
                </a:cubicBezTo>
                <a:lnTo>
                  <a:pt x="107780" y="166664"/>
                </a:lnTo>
                <a:cubicBezTo>
                  <a:pt x="113002" y="158579"/>
                  <a:pt x="115872" y="148659"/>
                  <a:pt x="115872" y="137971"/>
                </a:cubicBezTo>
                <a:cubicBezTo>
                  <a:pt x="115872" y="133540"/>
                  <a:pt x="115347" y="129109"/>
                  <a:pt x="114304" y="124930"/>
                </a:cubicBezTo>
                <a:lnTo>
                  <a:pt x="171456" y="80591"/>
                </a:lnTo>
                <a:cubicBezTo>
                  <a:pt x="179031" y="86324"/>
                  <a:pt x="188685" y="89719"/>
                  <a:pt x="199389" y="89719"/>
                </a:cubicBezTo>
                <a:cubicBezTo>
                  <a:pt x="225220" y="89719"/>
                  <a:pt x="244535" y="70413"/>
                  <a:pt x="244535" y="44864"/>
                </a:cubicBezTo>
                <a:cubicBezTo>
                  <a:pt x="244535" y="19299"/>
                  <a:pt x="225220" y="0"/>
                  <a:pt x="199389" y="0"/>
                </a:cubicBezTo>
                <a:cubicBezTo>
                  <a:pt x="173550" y="0"/>
                  <a:pt x="154502" y="19299"/>
                  <a:pt x="154502" y="44864"/>
                </a:cubicBezTo>
                <a:cubicBezTo>
                  <a:pt x="154502" y="51380"/>
                  <a:pt x="155803" y="57379"/>
                  <a:pt x="157889" y="62594"/>
                </a:cubicBezTo>
                <a:lnTo>
                  <a:pt x="105168" y="103019"/>
                </a:lnTo>
                <a:cubicBezTo>
                  <a:pt x="94731" y="87367"/>
                  <a:pt x="77510" y="76412"/>
                  <a:pt x="57936" y="76412"/>
                </a:cubicBezTo>
                <a:cubicBezTo>
                  <a:pt x="26020" y="76333"/>
                  <a:pt x="79" y="102141"/>
                  <a:pt x="0" y="134058"/>
                </a:cubicBezTo>
                <a:cubicBezTo>
                  <a:pt x="0" y="134144"/>
                  <a:pt x="0" y="134230"/>
                  <a:pt x="0" y="134317"/>
                </a:cubicBezTo>
                <a:cubicBezTo>
                  <a:pt x="-63" y="166233"/>
                  <a:pt x="25769" y="192158"/>
                  <a:pt x="57685" y="192221"/>
                </a:cubicBezTo>
                <a:lnTo>
                  <a:pt x="57936" y="192221"/>
                </a:lnTo>
                <a:cubicBezTo>
                  <a:pt x="69942" y="192221"/>
                  <a:pt x="81156" y="189100"/>
                  <a:pt x="90292" y="183360"/>
                </a:cubicBezTo>
                <a:lnTo>
                  <a:pt x="193123" y="227173"/>
                </a:lnTo>
                <a:cubicBezTo>
                  <a:pt x="194433" y="251428"/>
                  <a:pt x="213222" y="269425"/>
                  <a:pt x="238002" y="269425"/>
                </a:cubicBezTo>
                <a:cubicBezTo>
                  <a:pt x="263849" y="269425"/>
                  <a:pt x="282897" y="250126"/>
                  <a:pt x="282897" y="224561"/>
                </a:cubicBezTo>
                <a:cubicBezTo>
                  <a:pt x="282897" y="199004"/>
                  <a:pt x="263583" y="179439"/>
                  <a:pt x="238010" y="179439"/>
                </a:cubicBezTo>
                <a:lnTo>
                  <a:pt x="238002" y="179439"/>
                </a:lnTo>
                <a:lnTo>
                  <a:pt x="238002" y="179439"/>
                </a:lnTo>
                <a:close/>
              </a:path>
            </a:pathLst>
          </a:custGeom>
          <a:solidFill>
            <a:srgbClr val="3368FF"/>
          </a:solidFill>
          <a:ln w="7836"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6" name="文本框 155"/>
          <p:cNvSpPr txBox="1"/>
          <p:nvPr/>
        </p:nvSpPr>
        <p:spPr>
          <a:xfrm>
            <a:off x="1758315" y="3726180"/>
            <a:ext cx="607695" cy="231140"/>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分享协作</a:t>
            </a:r>
            <a:endParaRPr lang="zh-CN" altLang="en-US" sz="1000" dirty="0">
              <a:solidFill>
                <a:srgbClr val="383838"/>
              </a:solidFill>
              <a:latin typeface="微软雅黑"/>
              <a:ea typeface="微软雅黑"/>
              <a:cs typeface="微软雅黑"/>
            </a:endParaRPr>
          </a:p>
        </p:txBody>
      </p:sp>
      <p:sp>
        <p:nvSpPr>
          <p:cNvPr id="129" name="任意多边形: 形状 36"/>
          <p:cNvSpPr/>
          <p:nvPr/>
        </p:nvSpPr>
        <p:spPr>
          <a:xfrm>
            <a:off x="1972945" y="4305300"/>
            <a:ext cx="179070" cy="210820"/>
          </a:xfrm>
          <a:custGeom>
            <a:avLst/>
            <a:gdLst>
              <a:gd name="connsiteX0" fmla="*/ 19754 w 266625"/>
              <a:gd name="connsiteY0" fmla="*/ 0 h 313676"/>
              <a:gd name="connsiteX1" fmla="*/ 188528 w 266625"/>
              <a:gd name="connsiteY1" fmla="*/ 0 h 313676"/>
              <a:gd name="connsiteX2" fmla="*/ 188433 w 266625"/>
              <a:gd name="connsiteY2" fmla="*/ 13998 h 313676"/>
              <a:gd name="connsiteX3" fmla="*/ 188441 w 266625"/>
              <a:gd name="connsiteY3" fmla="*/ 76945 h 313676"/>
              <a:gd name="connsiteX4" fmla="*/ 215057 w 266625"/>
              <a:gd name="connsiteY4" fmla="*/ 56501 h 313676"/>
              <a:gd name="connsiteX5" fmla="*/ 241821 w 266625"/>
              <a:gd name="connsiteY5" fmla="*/ 77023 h 313676"/>
              <a:gd name="connsiteX6" fmla="*/ 241821 w 266625"/>
              <a:gd name="connsiteY6" fmla="*/ 12610 h 313676"/>
              <a:gd name="connsiteX7" fmla="*/ 241766 w 266625"/>
              <a:gd name="connsiteY7" fmla="*/ 0 h 313676"/>
              <a:gd name="connsiteX8" fmla="*/ 249106 w 266625"/>
              <a:gd name="connsiteY8" fmla="*/ 0 h 313676"/>
              <a:gd name="connsiteX9" fmla="*/ 263034 w 266625"/>
              <a:gd name="connsiteY9" fmla="*/ 6485 h 313676"/>
              <a:gd name="connsiteX10" fmla="*/ 268868 w 266625"/>
              <a:gd name="connsiteY10" fmla="*/ 19746 h 313676"/>
              <a:gd name="connsiteX11" fmla="*/ 268868 w 266625"/>
              <a:gd name="connsiteY11" fmla="*/ 293923 h 313676"/>
              <a:gd name="connsiteX12" fmla="*/ 262375 w 266625"/>
              <a:gd name="connsiteY12" fmla="*/ 307842 h 313676"/>
              <a:gd name="connsiteX13" fmla="*/ 249114 w 266625"/>
              <a:gd name="connsiteY13" fmla="*/ 313677 h 313676"/>
              <a:gd name="connsiteX14" fmla="*/ 191084 w 266625"/>
              <a:gd name="connsiteY14" fmla="*/ 313677 h 313676"/>
              <a:gd name="connsiteX15" fmla="*/ 151600 w 266625"/>
              <a:gd name="connsiteY15" fmla="*/ 266037 h 313676"/>
              <a:gd name="connsiteX16" fmla="*/ 136904 w 266625"/>
              <a:gd name="connsiteY16" fmla="*/ 259622 h 313676"/>
              <a:gd name="connsiteX17" fmla="*/ 119244 w 266625"/>
              <a:gd name="connsiteY17" fmla="*/ 264226 h 313676"/>
              <a:gd name="connsiteX18" fmla="*/ 114555 w 266625"/>
              <a:gd name="connsiteY18" fmla="*/ 269299 h 313676"/>
              <a:gd name="connsiteX19" fmla="*/ 77776 w 266625"/>
              <a:gd name="connsiteY19" fmla="*/ 313677 h 313676"/>
              <a:gd name="connsiteX20" fmla="*/ 19746 w 266625"/>
              <a:gd name="connsiteY20" fmla="*/ 313677 h 313676"/>
              <a:gd name="connsiteX21" fmla="*/ 5497 w 266625"/>
              <a:gd name="connsiteY21" fmla="*/ 306831 h 313676"/>
              <a:gd name="connsiteX22" fmla="*/ 0 w 266625"/>
              <a:gd name="connsiteY22" fmla="*/ 293923 h 313676"/>
              <a:gd name="connsiteX23" fmla="*/ 0 w 266625"/>
              <a:gd name="connsiteY23" fmla="*/ 19762 h 313676"/>
              <a:gd name="connsiteX24" fmla="*/ 5662 w 266625"/>
              <a:gd name="connsiteY24" fmla="*/ 6666 h 313676"/>
              <a:gd name="connsiteX25" fmla="*/ 19754 w 266625"/>
              <a:gd name="connsiteY25" fmla="*/ 0 h 313676"/>
              <a:gd name="connsiteX26" fmla="*/ 126561 w 266625"/>
              <a:gd name="connsiteY26" fmla="*/ 70648 h 313676"/>
              <a:gd name="connsiteX27" fmla="*/ 97342 w 266625"/>
              <a:gd name="connsiteY27" fmla="*/ 79846 h 313676"/>
              <a:gd name="connsiteX28" fmla="*/ 70154 w 266625"/>
              <a:gd name="connsiteY28" fmla="*/ 105521 h 313676"/>
              <a:gd name="connsiteX29" fmla="*/ 58603 w 266625"/>
              <a:gd name="connsiteY29" fmla="*/ 140033 h 313676"/>
              <a:gd name="connsiteX30" fmla="*/ 63339 w 266625"/>
              <a:gd name="connsiteY30" fmla="*/ 173267 h 313676"/>
              <a:gd name="connsiteX31" fmla="*/ 86645 w 266625"/>
              <a:gd name="connsiteY31" fmla="*/ 205293 h 313676"/>
              <a:gd name="connsiteX32" fmla="*/ 120765 w 266625"/>
              <a:gd name="connsiteY32" fmla="*/ 220883 h 313676"/>
              <a:gd name="connsiteX33" fmla="*/ 162688 w 266625"/>
              <a:gd name="connsiteY33" fmla="*/ 216586 h 313676"/>
              <a:gd name="connsiteX34" fmla="*/ 194487 w 266625"/>
              <a:gd name="connsiteY34" fmla="*/ 192378 h 313676"/>
              <a:gd name="connsiteX35" fmla="*/ 209661 w 266625"/>
              <a:gd name="connsiteY35" fmla="*/ 155105 h 313676"/>
              <a:gd name="connsiteX36" fmla="*/ 202972 w 266625"/>
              <a:gd name="connsiteY36" fmla="*/ 113849 h 313676"/>
              <a:gd name="connsiteX37" fmla="*/ 177847 w 266625"/>
              <a:gd name="connsiteY37" fmla="*/ 84034 h 313676"/>
              <a:gd name="connsiteX38" fmla="*/ 126561 w 266625"/>
              <a:gd name="connsiteY38" fmla="*/ 70648 h 31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66625" h="313676">
                <a:moveTo>
                  <a:pt x="19754" y="0"/>
                </a:moveTo>
                <a:lnTo>
                  <a:pt x="188528" y="0"/>
                </a:lnTo>
                <a:cubicBezTo>
                  <a:pt x="188300" y="4658"/>
                  <a:pt x="188496" y="9332"/>
                  <a:pt x="188433" y="13998"/>
                </a:cubicBezTo>
                <a:cubicBezTo>
                  <a:pt x="188433" y="34983"/>
                  <a:pt x="188410" y="55968"/>
                  <a:pt x="188441" y="76945"/>
                </a:cubicBezTo>
                <a:cubicBezTo>
                  <a:pt x="197311" y="70122"/>
                  <a:pt x="206195" y="63331"/>
                  <a:pt x="215057" y="56501"/>
                </a:cubicBezTo>
                <a:cubicBezTo>
                  <a:pt x="223997" y="63324"/>
                  <a:pt x="232897" y="70193"/>
                  <a:pt x="241821" y="77023"/>
                </a:cubicBezTo>
                <a:lnTo>
                  <a:pt x="241821" y="12610"/>
                </a:lnTo>
                <a:cubicBezTo>
                  <a:pt x="241790" y="8406"/>
                  <a:pt x="241900" y="4203"/>
                  <a:pt x="241766" y="0"/>
                </a:cubicBezTo>
                <a:lnTo>
                  <a:pt x="249106" y="0"/>
                </a:lnTo>
                <a:cubicBezTo>
                  <a:pt x="254337" y="369"/>
                  <a:pt x="259426" y="2658"/>
                  <a:pt x="263034" y="6485"/>
                </a:cubicBezTo>
                <a:cubicBezTo>
                  <a:pt x="266476" y="10030"/>
                  <a:pt x="268507" y="14829"/>
                  <a:pt x="268868" y="19746"/>
                </a:cubicBezTo>
                <a:lnTo>
                  <a:pt x="268868" y="293923"/>
                </a:lnTo>
                <a:cubicBezTo>
                  <a:pt x="268492" y="299154"/>
                  <a:pt x="266202" y="304235"/>
                  <a:pt x="262375" y="307842"/>
                </a:cubicBezTo>
                <a:cubicBezTo>
                  <a:pt x="258830" y="311293"/>
                  <a:pt x="254031" y="313316"/>
                  <a:pt x="249114" y="313677"/>
                </a:cubicBezTo>
                <a:lnTo>
                  <a:pt x="191084" y="313677"/>
                </a:lnTo>
                <a:cubicBezTo>
                  <a:pt x="177925" y="297797"/>
                  <a:pt x="164759" y="281917"/>
                  <a:pt x="151600" y="266037"/>
                </a:cubicBezTo>
                <a:cubicBezTo>
                  <a:pt x="147812" y="262030"/>
                  <a:pt x="142292" y="260093"/>
                  <a:pt x="136904" y="259622"/>
                </a:cubicBezTo>
                <a:cubicBezTo>
                  <a:pt x="130748" y="259128"/>
                  <a:pt x="124232" y="260446"/>
                  <a:pt x="119244" y="264226"/>
                </a:cubicBezTo>
                <a:cubicBezTo>
                  <a:pt x="117362" y="265590"/>
                  <a:pt x="116053" y="267551"/>
                  <a:pt x="114555" y="269299"/>
                </a:cubicBezTo>
                <a:cubicBezTo>
                  <a:pt x="102298" y="284089"/>
                  <a:pt x="90033" y="298879"/>
                  <a:pt x="77776" y="313677"/>
                </a:cubicBezTo>
                <a:lnTo>
                  <a:pt x="19746" y="313677"/>
                </a:lnTo>
                <a:cubicBezTo>
                  <a:pt x="14359" y="313292"/>
                  <a:pt x="9120" y="310861"/>
                  <a:pt x="5497" y="306831"/>
                </a:cubicBezTo>
                <a:cubicBezTo>
                  <a:pt x="2243" y="303325"/>
                  <a:pt x="353" y="298675"/>
                  <a:pt x="0" y="293923"/>
                </a:cubicBezTo>
                <a:lnTo>
                  <a:pt x="0" y="19762"/>
                </a:lnTo>
                <a:cubicBezTo>
                  <a:pt x="353" y="14923"/>
                  <a:pt x="2313" y="10194"/>
                  <a:pt x="5662" y="6666"/>
                </a:cubicBezTo>
                <a:cubicBezTo>
                  <a:pt x="9277" y="2737"/>
                  <a:pt x="14437" y="376"/>
                  <a:pt x="19754" y="0"/>
                </a:cubicBezTo>
                <a:close/>
                <a:moveTo>
                  <a:pt x="126561" y="70648"/>
                </a:moveTo>
                <a:cubicBezTo>
                  <a:pt x="116335" y="71683"/>
                  <a:pt x="106313" y="74812"/>
                  <a:pt x="97342" y="79846"/>
                </a:cubicBezTo>
                <a:cubicBezTo>
                  <a:pt x="86324" y="85955"/>
                  <a:pt x="76906" y="94887"/>
                  <a:pt x="70154" y="105521"/>
                </a:cubicBezTo>
                <a:cubicBezTo>
                  <a:pt x="63567" y="115856"/>
                  <a:pt x="59567" y="127816"/>
                  <a:pt x="58603" y="140033"/>
                </a:cubicBezTo>
                <a:cubicBezTo>
                  <a:pt x="57701" y="151278"/>
                  <a:pt x="59301" y="162728"/>
                  <a:pt x="63339" y="173267"/>
                </a:cubicBezTo>
                <a:cubicBezTo>
                  <a:pt x="68091" y="185759"/>
                  <a:pt x="76247" y="196910"/>
                  <a:pt x="86645" y="205293"/>
                </a:cubicBezTo>
                <a:cubicBezTo>
                  <a:pt x="96471" y="213237"/>
                  <a:pt x="108321" y="218656"/>
                  <a:pt x="120765" y="220883"/>
                </a:cubicBezTo>
                <a:cubicBezTo>
                  <a:pt x="134779" y="223409"/>
                  <a:pt x="149491" y="221942"/>
                  <a:pt x="162688" y="216586"/>
                </a:cubicBezTo>
                <a:cubicBezTo>
                  <a:pt x="175188" y="211536"/>
                  <a:pt x="186308" y="203090"/>
                  <a:pt x="194487" y="192378"/>
                </a:cubicBezTo>
                <a:cubicBezTo>
                  <a:pt x="202800" y="181634"/>
                  <a:pt x="208101" y="168601"/>
                  <a:pt x="209661" y="155105"/>
                </a:cubicBezTo>
                <a:cubicBezTo>
                  <a:pt x="211316" y="141092"/>
                  <a:pt x="209018" y="126616"/>
                  <a:pt x="202972" y="113849"/>
                </a:cubicBezTo>
                <a:cubicBezTo>
                  <a:pt x="197373" y="101961"/>
                  <a:pt x="188630" y="91554"/>
                  <a:pt x="177847" y="84034"/>
                </a:cubicBezTo>
                <a:cubicBezTo>
                  <a:pt x="163120" y="73557"/>
                  <a:pt x="144526" y="68774"/>
                  <a:pt x="126561" y="70648"/>
                </a:cubicBezTo>
                <a:close/>
              </a:path>
            </a:pathLst>
          </a:custGeom>
          <a:solidFill>
            <a:srgbClr val="3368FF"/>
          </a:solidFill>
          <a:ln w="7836"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57" name="文本框 156"/>
          <p:cNvSpPr txBox="1"/>
          <p:nvPr/>
        </p:nvSpPr>
        <p:spPr>
          <a:xfrm>
            <a:off x="1758315" y="4533265"/>
            <a:ext cx="607695" cy="231140"/>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报表订阅</a:t>
            </a:r>
            <a:endParaRPr lang="zh-CN" altLang="en-US" sz="1000" dirty="0">
              <a:solidFill>
                <a:srgbClr val="383838"/>
              </a:solidFill>
              <a:latin typeface="微软雅黑"/>
              <a:ea typeface="微软雅黑"/>
              <a:cs typeface="微软雅黑"/>
            </a:endParaRPr>
          </a:p>
        </p:txBody>
      </p:sp>
      <p:grpSp>
        <p:nvGrpSpPr>
          <p:cNvPr id="165" name="组合 164"/>
          <p:cNvGrpSpPr/>
          <p:nvPr/>
        </p:nvGrpSpPr>
        <p:grpSpPr>
          <a:xfrm rot="0">
            <a:off x="1969135" y="5112385"/>
            <a:ext cx="172720" cy="219710"/>
            <a:chOff x="2489551" y="5906076"/>
            <a:chExt cx="172522" cy="219574"/>
          </a:xfrm>
          <a:solidFill>
            <a:srgbClr val="3368FF"/>
          </a:solidFill>
        </p:grpSpPr>
        <p:sp>
          <p:nvSpPr>
            <p:cNvPr id="131" name="任意多边形: 形状 42"/>
            <p:cNvSpPr/>
            <p:nvPr/>
          </p:nvSpPr>
          <p:spPr>
            <a:xfrm>
              <a:off x="2567970" y="6022261"/>
              <a:ext cx="94103" cy="101945"/>
            </a:xfrm>
            <a:custGeom>
              <a:avLst/>
              <a:gdLst>
                <a:gd name="connsiteX0" fmla="*/ 91492 w 94103"/>
                <a:gd name="connsiteY0" fmla="*/ 73314 h 101944"/>
                <a:gd name="connsiteX1" fmla="*/ 65354 w 94103"/>
                <a:gd name="connsiteY1" fmla="*/ 73314 h 101944"/>
                <a:gd name="connsiteX2" fmla="*/ 62853 w 94103"/>
                <a:gd name="connsiteY2" fmla="*/ 72820 h 101944"/>
                <a:gd name="connsiteX3" fmla="*/ 60736 w 94103"/>
                <a:gd name="connsiteY3" fmla="*/ 71401 h 101944"/>
                <a:gd name="connsiteX4" fmla="*/ 59316 w 94103"/>
                <a:gd name="connsiteY4" fmla="*/ 69284 h 101944"/>
                <a:gd name="connsiteX5" fmla="*/ 58814 w 94103"/>
                <a:gd name="connsiteY5" fmla="*/ 66782 h 101944"/>
                <a:gd name="connsiteX6" fmla="*/ 58814 w 94103"/>
                <a:gd name="connsiteY6" fmla="*/ 62861 h 101944"/>
                <a:gd name="connsiteX7" fmla="*/ 59936 w 94103"/>
                <a:gd name="connsiteY7" fmla="*/ 59238 h 101944"/>
                <a:gd name="connsiteX8" fmla="*/ 62869 w 94103"/>
                <a:gd name="connsiteY8" fmla="*/ 56846 h 101944"/>
                <a:gd name="connsiteX9" fmla="*/ 77956 w 94103"/>
                <a:gd name="connsiteY9" fmla="*/ 43742 h 101944"/>
                <a:gd name="connsiteX10" fmla="*/ 81195 w 94103"/>
                <a:gd name="connsiteY10" fmla="*/ 24028 h 101944"/>
                <a:gd name="connsiteX11" fmla="*/ 71079 w 94103"/>
                <a:gd name="connsiteY11" fmla="*/ 6791 h 101944"/>
                <a:gd name="connsiteX12" fmla="*/ 52282 w 94103"/>
                <a:gd name="connsiteY12" fmla="*/ 0 h 101944"/>
                <a:gd name="connsiteX13" fmla="*/ 33493 w 94103"/>
                <a:gd name="connsiteY13" fmla="*/ 6791 h 101944"/>
                <a:gd name="connsiteX14" fmla="*/ 23377 w 94103"/>
                <a:gd name="connsiteY14" fmla="*/ 24028 h 101944"/>
                <a:gd name="connsiteX15" fmla="*/ 26608 w 94103"/>
                <a:gd name="connsiteY15" fmla="*/ 43742 h 101944"/>
                <a:gd name="connsiteX16" fmla="*/ 41695 w 94103"/>
                <a:gd name="connsiteY16" fmla="*/ 56846 h 101944"/>
                <a:gd name="connsiteX17" fmla="*/ 44636 w 94103"/>
                <a:gd name="connsiteY17" fmla="*/ 59238 h 101944"/>
                <a:gd name="connsiteX18" fmla="*/ 45750 w 94103"/>
                <a:gd name="connsiteY18" fmla="*/ 62861 h 101944"/>
                <a:gd name="connsiteX19" fmla="*/ 45750 w 94103"/>
                <a:gd name="connsiteY19" fmla="*/ 66782 h 101944"/>
                <a:gd name="connsiteX20" fmla="*/ 45248 w 94103"/>
                <a:gd name="connsiteY20" fmla="*/ 69284 h 101944"/>
                <a:gd name="connsiteX21" fmla="*/ 43836 w 94103"/>
                <a:gd name="connsiteY21" fmla="*/ 71401 h 101944"/>
                <a:gd name="connsiteX22" fmla="*/ 41711 w 94103"/>
                <a:gd name="connsiteY22" fmla="*/ 72820 h 101944"/>
                <a:gd name="connsiteX23" fmla="*/ 39210 w 94103"/>
                <a:gd name="connsiteY23" fmla="*/ 73314 h 101944"/>
                <a:gd name="connsiteX24" fmla="*/ 6540 w 94103"/>
                <a:gd name="connsiteY24" fmla="*/ 73314 h 101944"/>
                <a:gd name="connsiteX25" fmla="*/ 4038 w 94103"/>
                <a:gd name="connsiteY25" fmla="*/ 73809 h 101944"/>
                <a:gd name="connsiteX26" fmla="*/ 1921 w 94103"/>
                <a:gd name="connsiteY26" fmla="*/ 75228 h 101944"/>
                <a:gd name="connsiteX27" fmla="*/ 502 w 94103"/>
                <a:gd name="connsiteY27" fmla="*/ 77345 h 101944"/>
                <a:gd name="connsiteX28" fmla="*/ 0 w 94103"/>
                <a:gd name="connsiteY28" fmla="*/ 79846 h 101944"/>
                <a:gd name="connsiteX29" fmla="*/ 0 w 94103"/>
                <a:gd name="connsiteY29" fmla="*/ 99451 h 101944"/>
                <a:gd name="connsiteX30" fmla="*/ 502 w 94103"/>
                <a:gd name="connsiteY30" fmla="*/ 101953 h 101944"/>
                <a:gd name="connsiteX31" fmla="*/ 1921 w 94103"/>
                <a:gd name="connsiteY31" fmla="*/ 104078 h 101944"/>
                <a:gd name="connsiteX32" fmla="*/ 4038 w 94103"/>
                <a:gd name="connsiteY32" fmla="*/ 105490 h 101944"/>
                <a:gd name="connsiteX33" fmla="*/ 6540 w 94103"/>
                <a:gd name="connsiteY33" fmla="*/ 105991 h 101944"/>
                <a:gd name="connsiteX34" fmla="*/ 91492 w 94103"/>
                <a:gd name="connsiteY34" fmla="*/ 105991 h 101944"/>
                <a:gd name="connsiteX35" fmla="*/ 96110 w 94103"/>
                <a:gd name="connsiteY35" fmla="*/ 104078 h 101944"/>
                <a:gd name="connsiteX36" fmla="*/ 98024 w 94103"/>
                <a:gd name="connsiteY36" fmla="*/ 99451 h 101944"/>
                <a:gd name="connsiteX37" fmla="*/ 98024 w 94103"/>
                <a:gd name="connsiteY37" fmla="*/ 79846 h 101944"/>
                <a:gd name="connsiteX38" fmla="*/ 96110 w 94103"/>
                <a:gd name="connsiteY38" fmla="*/ 75228 h 101944"/>
                <a:gd name="connsiteX39" fmla="*/ 91492 w 94103"/>
                <a:gd name="connsiteY39" fmla="*/ 73314 h 10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4103" h="101944">
                  <a:moveTo>
                    <a:pt x="91492" y="73314"/>
                  </a:moveTo>
                  <a:lnTo>
                    <a:pt x="65354" y="73314"/>
                  </a:lnTo>
                  <a:cubicBezTo>
                    <a:pt x="64492" y="73314"/>
                    <a:pt x="63645" y="73142"/>
                    <a:pt x="62853" y="72820"/>
                  </a:cubicBezTo>
                  <a:cubicBezTo>
                    <a:pt x="62061" y="72491"/>
                    <a:pt x="61339" y="72005"/>
                    <a:pt x="60736" y="71401"/>
                  </a:cubicBezTo>
                  <a:cubicBezTo>
                    <a:pt x="60124" y="70797"/>
                    <a:pt x="59646" y="70076"/>
                    <a:pt x="59316" y="69284"/>
                  </a:cubicBezTo>
                  <a:cubicBezTo>
                    <a:pt x="58987" y="68484"/>
                    <a:pt x="58814" y="67637"/>
                    <a:pt x="58814" y="66782"/>
                  </a:cubicBezTo>
                  <a:lnTo>
                    <a:pt x="58814" y="62861"/>
                  </a:lnTo>
                  <a:cubicBezTo>
                    <a:pt x="58822" y="61567"/>
                    <a:pt x="59214" y="60313"/>
                    <a:pt x="59936" y="59238"/>
                  </a:cubicBezTo>
                  <a:cubicBezTo>
                    <a:pt x="60657" y="58172"/>
                    <a:pt x="61677" y="57333"/>
                    <a:pt x="62869" y="56846"/>
                  </a:cubicBezTo>
                  <a:cubicBezTo>
                    <a:pt x="69275" y="54376"/>
                    <a:pt x="74616" y="49741"/>
                    <a:pt x="77956" y="43742"/>
                  </a:cubicBezTo>
                  <a:cubicBezTo>
                    <a:pt x="81305" y="37751"/>
                    <a:pt x="82450" y="30772"/>
                    <a:pt x="81195" y="24028"/>
                  </a:cubicBezTo>
                  <a:cubicBezTo>
                    <a:pt x="79933" y="17276"/>
                    <a:pt x="76357" y="11183"/>
                    <a:pt x="71079" y="6791"/>
                  </a:cubicBezTo>
                  <a:cubicBezTo>
                    <a:pt x="65794" y="2408"/>
                    <a:pt x="59152" y="0"/>
                    <a:pt x="52282" y="0"/>
                  </a:cubicBezTo>
                  <a:cubicBezTo>
                    <a:pt x="45420" y="0"/>
                    <a:pt x="38770" y="2408"/>
                    <a:pt x="33493" y="6791"/>
                  </a:cubicBezTo>
                  <a:cubicBezTo>
                    <a:pt x="28207" y="11183"/>
                    <a:pt x="24631" y="17276"/>
                    <a:pt x="23377" y="24028"/>
                  </a:cubicBezTo>
                  <a:cubicBezTo>
                    <a:pt x="22114" y="30772"/>
                    <a:pt x="23259" y="37751"/>
                    <a:pt x="26608" y="43742"/>
                  </a:cubicBezTo>
                  <a:cubicBezTo>
                    <a:pt x="29956" y="49741"/>
                    <a:pt x="35289" y="54376"/>
                    <a:pt x="41695" y="56846"/>
                  </a:cubicBezTo>
                  <a:cubicBezTo>
                    <a:pt x="42887" y="57333"/>
                    <a:pt x="43915" y="58172"/>
                    <a:pt x="44636" y="59238"/>
                  </a:cubicBezTo>
                  <a:cubicBezTo>
                    <a:pt x="45358" y="60313"/>
                    <a:pt x="45742" y="61567"/>
                    <a:pt x="45750" y="62861"/>
                  </a:cubicBezTo>
                  <a:lnTo>
                    <a:pt x="45750" y="66782"/>
                  </a:lnTo>
                  <a:cubicBezTo>
                    <a:pt x="45750" y="67637"/>
                    <a:pt x="45577" y="68484"/>
                    <a:pt x="45248" y="69284"/>
                  </a:cubicBezTo>
                  <a:cubicBezTo>
                    <a:pt x="44926" y="70076"/>
                    <a:pt x="44440" y="70797"/>
                    <a:pt x="43836" y="71401"/>
                  </a:cubicBezTo>
                  <a:cubicBezTo>
                    <a:pt x="43225" y="72005"/>
                    <a:pt x="42511" y="72491"/>
                    <a:pt x="41711" y="72820"/>
                  </a:cubicBezTo>
                  <a:cubicBezTo>
                    <a:pt x="40919" y="73142"/>
                    <a:pt x="40072" y="73314"/>
                    <a:pt x="39210" y="73314"/>
                  </a:cubicBezTo>
                  <a:lnTo>
                    <a:pt x="6540" y="73314"/>
                  </a:lnTo>
                  <a:cubicBezTo>
                    <a:pt x="5678" y="73314"/>
                    <a:pt x="4831" y="73487"/>
                    <a:pt x="4038" y="73809"/>
                  </a:cubicBezTo>
                  <a:cubicBezTo>
                    <a:pt x="3247" y="74138"/>
                    <a:pt x="2525" y="74624"/>
                    <a:pt x="1921" y="75228"/>
                  </a:cubicBezTo>
                  <a:cubicBezTo>
                    <a:pt x="1310" y="75832"/>
                    <a:pt x="831" y="76553"/>
                    <a:pt x="502" y="77345"/>
                  </a:cubicBezTo>
                  <a:cubicBezTo>
                    <a:pt x="173" y="78145"/>
                    <a:pt x="0" y="78992"/>
                    <a:pt x="0" y="79846"/>
                  </a:cubicBezTo>
                  <a:lnTo>
                    <a:pt x="0" y="99451"/>
                  </a:lnTo>
                  <a:cubicBezTo>
                    <a:pt x="0" y="100314"/>
                    <a:pt x="173" y="101161"/>
                    <a:pt x="502" y="101953"/>
                  </a:cubicBezTo>
                  <a:cubicBezTo>
                    <a:pt x="831" y="102745"/>
                    <a:pt x="1310" y="103467"/>
                    <a:pt x="1921" y="104078"/>
                  </a:cubicBezTo>
                  <a:cubicBezTo>
                    <a:pt x="2525" y="104682"/>
                    <a:pt x="3247" y="105160"/>
                    <a:pt x="4038" y="105490"/>
                  </a:cubicBezTo>
                  <a:cubicBezTo>
                    <a:pt x="4831" y="105819"/>
                    <a:pt x="5678" y="105991"/>
                    <a:pt x="6540" y="105991"/>
                  </a:cubicBezTo>
                  <a:lnTo>
                    <a:pt x="91492" y="105991"/>
                  </a:lnTo>
                  <a:cubicBezTo>
                    <a:pt x="93225" y="105991"/>
                    <a:pt x="94887" y="105302"/>
                    <a:pt x="96110" y="104078"/>
                  </a:cubicBezTo>
                  <a:cubicBezTo>
                    <a:pt x="97342" y="102847"/>
                    <a:pt x="98024" y="101184"/>
                    <a:pt x="98024" y="99451"/>
                  </a:cubicBezTo>
                  <a:lnTo>
                    <a:pt x="98024" y="79846"/>
                  </a:lnTo>
                  <a:cubicBezTo>
                    <a:pt x="98024" y="78113"/>
                    <a:pt x="97342" y="76451"/>
                    <a:pt x="96110" y="75228"/>
                  </a:cubicBezTo>
                  <a:cubicBezTo>
                    <a:pt x="94887" y="74004"/>
                    <a:pt x="93225" y="73314"/>
                    <a:pt x="91492" y="73314"/>
                  </a:cubicBezTo>
                  <a:close/>
                </a:path>
              </a:pathLst>
            </a:custGeom>
            <a:grpFill/>
            <a:ln w="7836"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53" name="任意多边形: 形状 43"/>
            <p:cNvSpPr/>
            <p:nvPr/>
          </p:nvSpPr>
          <p:spPr>
            <a:xfrm>
              <a:off x="2489551" y="5906076"/>
              <a:ext cx="172522" cy="219574"/>
            </a:xfrm>
            <a:custGeom>
              <a:avLst/>
              <a:gdLst>
                <a:gd name="connsiteX0" fmla="*/ 163378 w 172522"/>
                <a:gd name="connsiteY0" fmla="*/ 0 h 219573"/>
                <a:gd name="connsiteX1" fmla="*/ 13072 w 172522"/>
                <a:gd name="connsiteY1" fmla="*/ 0 h 219573"/>
                <a:gd name="connsiteX2" fmla="*/ 3835 w 172522"/>
                <a:gd name="connsiteY2" fmla="*/ 3827 h 219573"/>
                <a:gd name="connsiteX3" fmla="*/ 0 w 172522"/>
                <a:gd name="connsiteY3" fmla="*/ 13072 h 219573"/>
                <a:gd name="connsiteX4" fmla="*/ 0 w 172522"/>
                <a:gd name="connsiteY4" fmla="*/ 209120 h 219573"/>
                <a:gd name="connsiteX5" fmla="*/ 3835 w 172522"/>
                <a:gd name="connsiteY5" fmla="*/ 218358 h 219573"/>
                <a:gd name="connsiteX6" fmla="*/ 13072 w 172522"/>
                <a:gd name="connsiteY6" fmla="*/ 222185 h 219573"/>
                <a:gd name="connsiteX7" fmla="*/ 65354 w 172522"/>
                <a:gd name="connsiteY7" fmla="*/ 222185 h 219573"/>
                <a:gd name="connsiteX8" fmla="*/ 65354 w 172522"/>
                <a:gd name="connsiteY8" fmla="*/ 196048 h 219573"/>
                <a:gd name="connsiteX9" fmla="*/ 71095 w 172522"/>
                <a:gd name="connsiteY9" fmla="*/ 182183 h 219573"/>
                <a:gd name="connsiteX10" fmla="*/ 84959 w 172522"/>
                <a:gd name="connsiteY10" fmla="*/ 176443 h 219573"/>
                <a:gd name="connsiteX11" fmla="*/ 94103 w 172522"/>
                <a:gd name="connsiteY11" fmla="*/ 176443 h 219573"/>
                <a:gd name="connsiteX12" fmla="*/ 95836 w 172522"/>
                <a:gd name="connsiteY12" fmla="*/ 175941 h 219573"/>
                <a:gd name="connsiteX13" fmla="*/ 97036 w 172522"/>
                <a:gd name="connsiteY13" fmla="*/ 174592 h 219573"/>
                <a:gd name="connsiteX14" fmla="*/ 97342 w 172522"/>
                <a:gd name="connsiteY14" fmla="*/ 172820 h 219573"/>
                <a:gd name="connsiteX15" fmla="*/ 96651 w 172522"/>
                <a:gd name="connsiteY15" fmla="*/ 171150 h 219573"/>
                <a:gd name="connsiteX16" fmla="*/ 89029 w 172522"/>
                <a:gd name="connsiteY16" fmla="*/ 153913 h 219573"/>
                <a:gd name="connsiteX17" fmla="*/ 89610 w 172522"/>
                <a:gd name="connsiteY17" fmla="*/ 135077 h 219573"/>
                <a:gd name="connsiteX18" fmla="*/ 98291 w 172522"/>
                <a:gd name="connsiteY18" fmla="*/ 118342 h 219573"/>
                <a:gd name="connsiteX19" fmla="*/ 113347 w 172522"/>
                <a:gd name="connsiteY19" fmla="*/ 107011 h 219573"/>
                <a:gd name="connsiteX20" fmla="*/ 131831 w 172522"/>
                <a:gd name="connsiteY20" fmla="*/ 103310 h 219573"/>
                <a:gd name="connsiteX21" fmla="*/ 150086 w 172522"/>
                <a:gd name="connsiteY21" fmla="*/ 107975 h 219573"/>
                <a:gd name="connsiteX22" fmla="*/ 164539 w 172522"/>
                <a:gd name="connsiteY22" fmla="*/ 120076 h 219573"/>
                <a:gd name="connsiteX23" fmla="*/ 172326 w 172522"/>
                <a:gd name="connsiteY23" fmla="*/ 137234 h 219573"/>
                <a:gd name="connsiteX24" fmla="*/ 172930 w 172522"/>
                <a:gd name="connsiteY24" fmla="*/ 138692 h 219573"/>
                <a:gd name="connsiteX25" fmla="*/ 174389 w 172522"/>
                <a:gd name="connsiteY25" fmla="*/ 139288 h 219573"/>
                <a:gd name="connsiteX26" fmla="*/ 175847 w 172522"/>
                <a:gd name="connsiteY26" fmla="*/ 138692 h 219573"/>
                <a:gd name="connsiteX27" fmla="*/ 176443 w 172522"/>
                <a:gd name="connsiteY27" fmla="*/ 137234 h 219573"/>
                <a:gd name="connsiteX28" fmla="*/ 176443 w 172522"/>
                <a:gd name="connsiteY28" fmla="*/ 13072 h 219573"/>
                <a:gd name="connsiteX29" fmla="*/ 172616 w 172522"/>
                <a:gd name="connsiteY29" fmla="*/ 3827 h 219573"/>
                <a:gd name="connsiteX30" fmla="*/ 163378 w 172522"/>
                <a:gd name="connsiteY30" fmla="*/ 0 h 219573"/>
                <a:gd name="connsiteX31" fmla="*/ 83320 w 172522"/>
                <a:gd name="connsiteY31" fmla="*/ 98024 h 219573"/>
                <a:gd name="connsiteX32" fmla="*/ 44111 w 172522"/>
                <a:gd name="connsiteY32" fmla="*/ 98024 h 219573"/>
                <a:gd name="connsiteX33" fmla="*/ 39492 w 172522"/>
                <a:gd name="connsiteY33" fmla="*/ 96110 h 219573"/>
                <a:gd name="connsiteX34" fmla="*/ 37578 w 172522"/>
                <a:gd name="connsiteY34" fmla="*/ 91492 h 219573"/>
                <a:gd name="connsiteX35" fmla="*/ 38080 w 172522"/>
                <a:gd name="connsiteY35" fmla="*/ 88990 h 219573"/>
                <a:gd name="connsiteX36" fmla="*/ 39492 w 172522"/>
                <a:gd name="connsiteY36" fmla="*/ 86865 h 219573"/>
                <a:gd name="connsiteX37" fmla="*/ 41617 w 172522"/>
                <a:gd name="connsiteY37" fmla="*/ 85453 h 219573"/>
                <a:gd name="connsiteX38" fmla="*/ 44111 w 172522"/>
                <a:gd name="connsiteY38" fmla="*/ 84952 h 219573"/>
                <a:gd name="connsiteX39" fmla="*/ 83320 w 172522"/>
                <a:gd name="connsiteY39" fmla="*/ 84952 h 219573"/>
                <a:gd name="connsiteX40" fmla="*/ 85822 w 172522"/>
                <a:gd name="connsiteY40" fmla="*/ 85453 h 219573"/>
                <a:gd name="connsiteX41" fmla="*/ 87947 w 172522"/>
                <a:gd name="connsiteY41" fmla="*/ 86865 h 219573"/>
                <a:gd name="connsiteX42" fmla="*/ 89359 w 172522"/>
                <a:gd name="connsiteY42" fmla="*/ 88990 h 219573"/>
                <a:gd name="connsiteX43" fmla="*/ 89860 w 172522"/>
                <a:gd name="connsiteY43" fmla="*/ 91492 h 219573"/>
                <a:gd name="connsiteX44" fmla="*/ 89359 w 172522"/>
                <a:gd name="connsiteY44" fmla="*/ 93993 h 219573"/>
                <a:gd name="connsiteX45" fmla="*/ 87947 w 172522"/>
                <a:gd name="connsiteY45" fmla="*/ 96110 h 219573"/>
                <a:gd name="connsiteX46" fmla="*/ 85822 w 172522"/>
                <a:gd name="connsiteY46" fmla="*/ 97530 h 219573"/>
                <a:gd name="connsiteX47" fmla="*/ 83320 w 172522"/>
                <a:gd name="connsiteY47" fmla="*/ 98024 h 219573"/>
                <a:gd name="connsiteX48" fmla="*/ 122530 w 172522"/>
                <a:gd name="connsiteY48" fmla="*/ 65347 h 219573"/>
                <a:gd name="connsiteX49" fmla="*/ 44111 w 172522"/>
                <a:gd name="connsiteY49" fmla="*/ 65347 h 219573"/>
                <a:gd name="connsiteX50" fmla="*/ 39492 w 172522"/>
                <a:gd name="connsiteY50" fmla="*/ 63433 h 219573"/>
                <a:gd name="connsiteX51" fmla="*/ 37578 w 172522"/>
                <a:gd name="connsiteY51" fmla="*/ 58814 h 219573"/>
                <a:gd name="connsiteX52" fmla="*/ 39492 w 172522"/>
                <a:gd name="connsiteY52" fmla="*/ 54196 h 219573"/>
                <a:gd name="connsiteX53" fmla="*/ 44111 w 172522"/>
                <a:gd name="connsiteY53" fmla="*/ 52282 h 219573"/>
                <a:gd name="connsiteX54" fmla="*/ 122530 w 172522"/>
                <a:gd name="connsiteY54" fmla="*/ 52282 h 219573"/>
                <a:gd name="connsiteX55" fmla="*/ 125032 w 172522"/>
                <a:gd name="connsiteY55" fmla="*/ 52776 h 219573"/>
                <a:gd name="connsiteX56" fmla="*/ 127157 w 172522"/>
                <a:gd name="connsiteY56" fmla="*/ 54196 h 219573"/>
                <a:gd name="connsiteX57" fmla="*/ 128568 w 172522"/>
                <a:gd name="connsiteY57" fmla="*/ 56313 h 219573"/>
                <a:gd name="connsiteX58" fmla="*/ 129070 w 172522"/>
                <a:gd name="connsiteY58" fmla="*/ 58814 h 219573"/>
                <a:gd name="connsiteX59" fmla="*/ 128568 w 172522"/>
                <a:gd name="connsiteY59" fmla="*/ 61316 h 219573"/>
                <a:gd name="connsiteX60" fmla="*/ 127157 w 172522"/>
                <a:gd name="connsiteY60" fmla="*/ 63433 h 219573"/>
                <a:gd name="connsiteX61" fmla="*/ 125032 w 172522"/>
                <a:gd name="connsiteY61" fmla="*/ 64853 h 219573"/>
                <a:gd name="connsiteX62" fmla="*/ 122530 w 172522"/>
                <a:gd name="connsiteY62" fmla="*/ 65347 h 219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72522" h="219573">
                  <a:moveTo>
                    <a:pt x="163378" y="0"/>
                  </a:moveTo>
                  <a:lnTo>
                    <a:pt x="13072" y="0"/>
                  </a:lnTo>
                  <a:cubicBezTo>
                    <a:pt x="9606" y="0"/>
                    <a:pt x="6281" y="1380"/>
                    <a:pt x="3835" y="3827"/>
                  </a:cubicBezTo>
                  <a:cubicBezTo>
                    <a:pt x="1380" y="6282"/>
                    <a:pt x="0" y="9606"/>
                    <a:pt x="0" y="13072"/>
                  </a:cubicBezTo>
                  <a:lnTo>
                    <a:pt x="0" y="209120"/>
                  </a:lnTo>
                  <a:cubicBezTo>
                    <a:pt x="0" y="212587"/>
                    <a:pt x="1380" y="215912"/>
                    <a:pt x="3835" y="218358"/>
                  </a:cubicBezTo>
                  <a:cubicBezTo>
                    <a:pt x="6281" y="220813"/>
                    <a:pt x="9606" y="222185"/>
                    <a:pt x="13072" y="222185"/>
                  </a:cubicBezTo>
                  <a:lnTo>
                    <a:pt x="65354" y="222185"/>
                  </a:lnTo>
                  <a:lnTo>
                    <a:pt x="65354" y="196048"/>
                  </a:lnTo>
                  <a:cubicBezTo>
                    <a:pt x="65354" y="190849"/>
                    <a:pt x="67417" y="185861"/>
                    <a:pt x="71095" y="182183"/>
                  </a:cubicBezTo>
                  <a:cubicBezTo>
                    <a:pt x="74773" y="178506"/>
                    <a:pt x="79760" y="176443"/>
                    <a:pt x="84959" y="176443"/>
                  </a:cubicBezTo>
                  <a:lnTo>
                    <a:pt x="94103" y="176443"/>
                  </a:lnTo>
                  <a:cubicBezTo>
                    <a:pt x="94722" y="176443"/>
                    <a:pt x="95319" y="176263"/>
                    <a:pt x="95836" y="175941"/>
                  </a:cubicBezTo>
                  <a:cubicBezTo>
                    <a:pt x="96354" y="175612"/>
                    <a:pt x="96769" y="175141"/>
                    <a:pt x="97036" y="174592"/>
                  </a:cubicBezTo>
                  <a:cubicBezTo>
                    <a:pt x="97302" y="174043"/>
                    <a:pt x="97404" y="173424"/>
                    <a:pt x="97342" y="172820"/>
                  </a:cubicBezTo>
                  <a:cubicBezTo>
                    <a:pt x="97271" y="172209"/>
                    <a:pt x="97036" y="171628"/>
                    <a:pt x="96651" y="171150"/>
                  </a:cubicBezTo>
                  <a:cubicBezTo>
                    <a:pt x="92856" y="166045"/>
                    <a:pt x="90253" y="160155"/>
                    <a:pt x="89029" y="153913"/>
                  </a:cubicBezTo>
                  <a:cubicBezTo>
                    <a:pt x="87814" y="147671"/>
                    <a:pt x="88010" y="141233"/>
                    <a:pt x="89610" y="135077"/>
                  </a:cubicBezTo>
                  <a:cubicBezTo>
                    <a:pt x="91217" y="128921"/>
                    <a:pt x="94181" y="123204"/>
                    <a:pt x="98291" y="118342"/>
                  </a:cubicBezTo>
                  <a:cubicBezTo>
                    <a:pt x="102400" y="113488"/>
                    <a:pt x="107544" y="109615"/>
                    <a:pt x="113347" y="107011"/>
                  </a:cubicBezTo>
                  <a:cubicBezTo>
                    <a:pt x="119150" y="104415"/>
                    <a:pt x="125471" y="103145"/>
                    <a:pt x="131831" y="103310"/>
                  </a:cubicBezTo>
                  <a:cubicBezTo>
                    <a:pt x="138190" y="103482"/>
                    <a:pt x="144425" y="105074"/>
                    <a:pt x="150086" y="107975"/>
                  </a:cubicBezTo>
                  <a:cubicBezTo>
                    <a:pt x="155748" y="110869"/>
                    <a:pt x="160689" y="115010"/>
                    <a:pt x="164539" y="120076"/>
                  </a:cubicBezTo>
                  <a:cubicBezTo>
                    <a:pt x="168389" y="125133"/>
                    <a:pt x="171048" y="130999"/>
                    <a:pt x="172326" y="137234"/>
                  </a:cubicBezTo>
                  <a:cubicBezTo>
                    <a:pt x="172326" y="137783"/>
                    <a:pt x="172546" y="138300"/>
                    <a:pt x="172930" y="138692"/>
                  </a:cubicBezTo>
                  <a:cubicBezTo>
                    <a:pt x="173322" y="139076"/>
                    <a:pt x="173840" y="139288"/>
                    <a:pt x="174389" y="139288"/>
                  </a:cubicBezTo>
                  <a:cubicBezTo>
                    <a:pt x="174937" y="139288"/>
                    <a:pt x="175455" y="139076"/>
                    <a:pt x="175847" y="138692"/>
                  </a:cubicBezTo>
                  <a:cubicBezTo>
                    <a:pt x="176231" y="138300"/>
                    <a:pt x="176443" y="137783"/>
                    <a:pt x="176443" y="137234"/>
                  </a:cubicBezTo>
                  <a:lnTo>
                    <a:pt x="176443" y="13072"/>
                  </a:lnTo>
                  <a:cubicBezTo>
                    <a:pt x="176443" y="9606"/>
                    <a:pt x="175071" y="6282"/>
                    <a:pt x="172616" y="3827"/>
                  </a:cubicBezTo>
                  <a:cubicBezTo>
                    <a:pt x="170169" y="1380"/>
                    <a:pt x="166845" y="0"/>
                    <a:pt x="163378" y="0"/>
                  </a:cubicBezTo>
                  <a:close/>
                  <a:moveTo>
                    <a:pt x="83320" y="98024"/>
                  </a:moveTo>
                  <a:lnTo>
                    <a:pt x="44111" y="98024"/>
                  </a:lnTo>
                  <a:cubicBezTo>
                    <a:pt x="42378" y="98024"/>
                    <a:pt x="40723" y="97334"/>
                    <a:pt x="39492" y="96110"/>
                  </a:cubicBezTo>
                  <a:cubicBezTo>
                    <a:pt x="38269" y="94887"/>
                    <a:pt x="37578" y="93225"/>
                    <a:pt x="37578" y="91492"/>
                  </a:cubicBezTo>
                  <a:cubicBezTo>
                    <a:pt x="37578" y="90629"/>
                    <a:pt x="37751" y="89782"/>
                    <a:pt x="38080" y="88990"/>
                  </a:cubicBezTo>
                  <a:cubicBezTo>
                    <a:pt x="38402" y="88198"/>
                    <a:pt x="38888" y="87477"/>
                    <a:pt x="39492" y="86865"/>
                  </a:cubicBezTo>
                  <a:cubicBezTo>
                    <a:pt x="40103" y="86261"/>
                    <a:pt x="40817" y="85783"/>
                    <a:pt x="41617" y="85453"/>
                  </a:cubicBezTo>
                  <a:cubicBezTo>
                    <a:pt x="42409" y="85124"/>
                    <a:pt x="43256" y="84952"/>
                    <a:pt x="44111" y="84952"/>
                  </a:cubicBezTo>
                  <a:lnTo>
                    <a:pt x="83320" y="84952"/>
                  </a:lnTo>
                  <a:cubicBezTo>
                    <a:pt x="84183" y="84952"/>
                    <a:pt x="85030" y="85124"/>
                    <a:pt x="85822" y="85453"/>
                  </a:cubicBezTo>
                  <a:cubicBezTo>
                    <a:pt x="86622" y="85783"/>
                    <a:pt x="87335" y="86261"/>
                    <a:pt x="87947" y="86865"/>
                  </a:cubicBezTo>
                  <a:cubicBezTo>
                    <a:pt x="88551" y="87477"/>
                    <a:pt x="89037" y="88198"/>
                    <a:pt x="89359" y="88990"/>
                  </a:cubicBezTo>
                  <a:cubicBezTo>
                    <a:pt x="89688" y="89782"/>
                    <a:pt x="89860" y="90629"/>
                    <a:pt x="89860" y="91492"/>
                  </a:cubicBezTo>
                  <a:cubicBezTo>
                    <a:pt x="89860" y="92346"/>
                    <a:pt x="89688" y="93193"/>
                    <a:pt x="89359" y="93993"/>
                  </a:cubicBezTo>
                  <a:cubicBezTo>
                    <a:pt x="89037" y="94785"/>
                    <a:pt x="88551" y="95507"/>
                    <a:pt x="87947" y="96110"/>
                  </a:cubicBezTo>
                  <a:cubicBezTo>
                    <a:pt x="87335" y="96714"/>
                    <a:pt x="86622" y="97201"/>
                    <a:pt x="85822" y="97530"/>
                  </a:cubicBezTo>
                  <a:cubicBezTo>
                    <a:pt x="85030" y="97852"/>
                    <a:pt x="84183" y="98024"/>
                    <a:pt x="83320" y="98024"/>
                  </a:cubicBezTo>
                  <a:close/>
                  <a:moveTo>
                    <a:pt x="122530" y="65347"/>
                  </a:moveTo>
                  <a:lnTo>
                    <a:pt x="44111" y="65347"/>
                  </a:lnTo>
                  <a:cubicBezTo>
                    <a:pt x="42378" y="65347"/>
                    <a:pt x="40723" y="64664"/>
                    <a:pt x="39492" y="63433"/>
                  </a:cubicBezTo>
                  <a:cubicBezTo>
                    <a:pt x="38269" y="62210"/>
                    <a:pt x="37578" y="60548"/>
                    <a:pt x="37578" y="58814"/>
                  </a:cubicBezTo>
                  <a:cubicBezTo>
                    <a:pt x="37578" y="57081"/>
                    <a:pt x="38269" y="55419"/>
                    <a:pt x="39492" y="54196"/>
                  </a:cubicBezTo>
                  <a:cubicBezTo>
                    <a:pt x="40723" y="52965"/>
                    <a:pt x="42378" y="52282"/>
                    <a:pt x="44111" y="52282"/>
                  </a:cubicBezTo>
                  <a:lnTo>
                    <a:pt x="122530" y="52282"/>
                  </a:lnTo>
                  <a:cubicBezTo>
                    <a:pt x="123392" y="52282"/>
                    <a:pt x="124239" y="52447"/>
                    <a:pt x="125032" y="52776"/>
                  </a:cubicBezTo>
                  <a:cubicBezTo>
                    <a:pt x="125831" y="53105"/>
                    <a:pt x="126545" y="53584"/>
                    <a:pt x="127157" y="54196"/>
                  </a:cubicBezTo>
                  <a:cubicBezTo>
                    <a:pt x="127760" y="54799"/>
                    <a:pt x="128247" y="55521"/>
                    <a:pt x="128568" y="56313"/>
                  </a:cubicBezTo>
                  <a:cubicBezTo>
                    <a:pt x="128897" y="57105"/>
                    <a:pt x="129070" y="57960"/>
                    <a:pt x="129070" y="58814"/>
                  </a:cubicBezTo>
                  <a:cubicBezTo>
                    <a:pt x="129070" y="59669"/>
                    <a:pt x="128897" y="60524"/>
                    <a:pt x="128568" y="61316"/>
                  </a:cubicBezTo>
                  <a:cubicBezTo>
                    <a:pt x="128247" y="62108"/>
                    <a:pt x="127760" y="62830"/>
                    <a:pt x="127157" y="63433"/>
                  </a:cubicBezTo>
                  <a:cubicBezTo>
                    <a:pt x="126545" y="64045"/>
                    <a:pt x="125831" y="64524"/>
                    <a:pt x="125032" y="64853"/>
                  </a:cubicBezTo>
                  <a:cubicBezTo>
                    <a:pt x="124239" y="65182"/>
                    <a:pt x="123392" y="65347"/>
                    <a:pt x="122530" y="65347"/>
                  </a:cubicBezTo>
                  <a:close/>
                </a:path>
              </a:pathLst>
            </a:custGeom>
            <a:grpFill/>
            <a:ln w="7836"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158" name="文本框 157"/>
          <p:cNvSpPr txBox="1"/>
          <p:nvPr/>
        </p:nvSpPr>
        <p:spPr>
          <a:xfrm>
            <a:off x="1758315" y="5330190"/>
            <a:ext cx="607695" cy="23114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业务审批</a:t>
            </a:r>
            <a:endParaRPr lang="zh-CN" altLang="en-US" sz="1000" dirty="0">
              <a:solidFill>
                <a:srgbClr val="383838"/>
              </a:solidFill>
              <a:latin typeface="微软雅黑"/>
              <a:ea typeface="微软雅黑"/>
              <a:cs typeface="微软雅黑"/>
            </a:endParaRPr>
          </a:p>
        </p:txBody>
      </p:sp>
      <p:sp>
        <p:nvSpPr>
          <p:cNvPr id="167" name="文本框 166"/>
          <p:cNvSpPr txBox="1"/>
          <p:nvPr/>
        </p:nvSpPr>
        <p:spPr>
          <a:xfrm>
            <a:off x="640293" y="2209769"/>
            <a:ext cx="369330" cy="332398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800" b="1" u="none" strike="noStrike" cap="none" spc="0" normalizeH="0" baseline="0" dirty="0">
                <a:ln>
                  <a:noFill/>
                </a:ln>
                <a:solidFill>
                  <a:srgbClr val="0042FF"/>
                </a:solidFill>
                <a:effectLst/>
                <a:uFillTx/>
                <a:latin typeface="微软雅黑"/>
                <a:ea typeface="微软雅黑"/>
                <a:cs typeface="微软雅黑"/>
                <a:sym typeface="微软雅黑"/>
              </a:rPr>
              <a:t>用户自主购买高端产品的阻力大</a:t>
            </a:r>
            <a:endParaRPr kumimoji="0" lang="zh-CN" altLang="en-US" sz="1800" b="1" u="none" strike="noStrike" cap="none" spc="0" normalizeH="0" baseline="0" dirty="0">
              <a:ln>
                <a:noFill/>
              </a:ln>
              <a:solidFill>
                <a:srgbClr val="0042FF"/>
              </a:solidFill>
              <a:effectLst/>
              <a:uFillTx/>
              <a:latin typeface="微软雅黑"/>
              <a:ea typeface="微软雅黑"/>
              <a:cs typeface="微软雅黑"/>
              <a:sym typeface="微软雅黑"/>
            </a:endParaRPr>
          </a:p>
        </p:txBody>
      </p:sp>
      <p:sp>
        <p:nvSpPr>
          <p:cNvPr id="168" name="文本框 167"/>
          <p:cNvSpPr txBox="1"/>
          <p:nvPr/>
        </p:nvSpPr>
        <p:spPr>
          <a:xfrm>
            <a:off x="444877" y="1966112"/>
            <a:ext cx="246219" cy="374397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1" u="none" strike="noStrike" cap="none" spc="0" normalizeH="0" baseline="0" dirty="0">
                <a:ln>
                  <a:noFill/>
                </a:ln>
                <a:solidFill>
                  <a:srgbClr val="383838"/>
                </a:solidFill>
                <a:effectLst/>
                <a:uFillTx/>
                <a:latin typeface="微软雅黑"/>
                <a:ea typeface="微软雅黑"/>
                <a:cs typeface="微软雅黑"/>
                <a:sym typeface="微软雅黑"/>
              </a:rPr>
              <a:t>起购门槛高</a:t>
            </a:r>
            <a:r>
              <a:rPr kumimoji="0" lang="en-US" altLang="zh-CN" sz="1000" b="1" u="none" strike="noStrike" cap="none" spc="0" normalizeH="0" baseline="0" dirty="0">
                <a:ln>
                  <a:noFill/>
                </a:ln>
                <a:solidFill>
                  <a:srgbClr val="383838"/>
                </a:solidFill>
                <a:effectLst/>
                <a:uFillTx/>
                <a:latin typeface="微软雅黑"/>
                <a:ea typeface="微软雅黑"/>
                <a:cs typeface="微软雅黑"/>
                <a:sym typeface="微软雅黑"/>
              </a:rPr>
              <a:t>——</a:t>
            </a:r>
            <a:r>
              <a:rPr kumimoji="0" lang="zh-CN" altLang="en-US" sz="1000" b="1" u="none" strike="noStrike" cap="none" spc="0" normalizeH="0" baseline="0" dirty="0">
                <a:ln>
                  <a:noFill/>
                </a:ln>
                <a:solidFill>
                  <a:srgbClr val="383838"/>
                </a:solidFill>
                <a:effectLst/>
                <a:uFillTx/>
                <a:latin typeface="微软雅黑"/>
                <a:ea typeface="微软雅黑"/>
                <a:cs typeface="微软雅黑"/>
                <a:sym typeface="微软雅黑"/>
              </a:rPr>
              <a:t>收益风险顾虑</a:t>
            </a:r>
            <a:r>
              <a:rPr kumimoji="0" lang="en-US" altLang="zh-CN" sz="1000" b="1" u="none" strike="noStrike" cap="none" spc="0" normalizeH="0" baseline="0" dirty="0">
                <a:ln>
                  <a:noFill/>
                </a:ln>
                <a:solidFill>
                  <a:srgbClr val="383838"/>
                </a:solidFill>
                <a:effectLst/>
                <a:uFillTx/>
                <a:latin typeface="微软雅黑"/>
                <a:ea typeface="微软雅黑"/>
                <a:cs typeface="微软雅黑"/>
                <a:sym typeface="微软雅黑"/>
              </a:rPr>
              <a:t>——</a:t>
            </a:r>
            <a:r>
              <a:rPr kumimoji="0" lang="zh-CN" altLang="en-US" sz="1000" b="1" u="none" strike="noStrike" cap="none" spc="0" normalizeH="0" baseline="0" dirty="0">
                <a:ln>
                  <a:noFill/>
                </a:ln>
                <a:solidFill>
                  <a:srgbClr val="383838"/>
                </a:solidFill>
                <a:effectLst/>
                <a:uFillTx/>
                <a:latin typeface="微软雅黑"/>
                <a:ea typeface="微软雅黑"/>
                <a:cs typeface="微软雅黑"/>
                <a:sym typeface="微软雅黑"/>
              </a:rPr>
              <a:t>品牌安全担忧</a:t>
            </a:r>
            <a:r>
              <a:rPr kumimoji="0" lang="en-US" altLang="zh-CN" sz="1000" b="1" u="none" strike="noStrike" cap="none" spc="0" normalizeH="0" baseline="0" dirty="0">
                <a:ln>
                  <a:noFill/>
                </a:ln>
                <a:solidFill>
                  <a:srgbClr val="383838"/>
                </a:solidFill>
                <a:effectLst/>
                <a:uFillTx/>
                <a:latin typeface="微软雅黑"/>
                <a:ea typeface="微软雅黑"/>
                <a:cs typeface="微软雅黑"/>
                <a:sym typeface="微软雅黑"/>
              </a:rPr>
              <a:t>——</a:t>
            </a:r>
            <a:r>
              <a:rPr kumimoji="0" lang="zh-CN" altLang="en-US" sz="1000" b="1" u="none" strike="noStrike" cap="none" spc="0" normalizeH="0" baseline="0" dirty="0">
                <a:ln>
                  <a:noFill/>
                </a:ln>
                <a:solidFill>
                  <a:srgbClr val="383838"/>
                </a:solidFill>
                <a:effectLst/>
                <a:uFillTx/>
                <a:latin typeface="微软雅黑"/>
                <a:ea typeface="微软雅黑"/>
                <a:cs typeface="微软雅黑"/>
                <a:sym typeface="微软雅黑"/>
              </a:rPr>
              <a:t>操作流程繁琐</a:t>
            </a:r>
            <a:endParaRPr kumimoji="0" lang="zh-CN" altLang="en-US" sz="1000" b="1"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169" name="文本框 168"/>
          <p:cNvSpPr txBox="1"/>
          <p:nvPr/>
        </p:nvSpPr>
        <p:spPr>
          <a:xfrm>
            <a:off x="9446910" y="1999220"/>
            <a:ext cx="1002197" cy="307777"/>
          </a:xfrm>
          <a:prstGeom prst="rect">
            <a:avLst/>
          </a:prstGeom>
          <a:noFill/>
        </p:spPr>
        <p:txBody>
          <a:bodyPr wrap="none" rtlCol="0">
            <a:spAutoFit/>
          </a:bodyPr>
          <a:lstStyle/>
          <a:p>
            <a:pPr algn="ctr">
              <a:defRPr>
                <a:latin typeface="微软雅黑"/>
                <a:ea typeface="微软雅黑"/>
                <a:cs typeface="微软雅黑"/>
              </a:defRPr>
            </a:pPr>
            <a:r>
              <a:rPr lang="zh-CN" altLang="en-US" sz="1400" b="1" dirty="0">
                <a:solidFill>
                  <a:srgbClr val="383838"/>
                </a:solidFill>
                <a:effectLst/>
                <a:latin typeface="微软雅黑"/>
                <a:ea typeface="微软雅黑"/>
                <a:cs typeface="微软雅黑"/>
              </a:rPr>
              <a:t>从功能出发</a:t>
            </a:r>
            <a:endParaRPr kumimoji="1" lang="zh-CN" altLang="en-US" sz="1400" b="1" dirty="0">
              <a:solidFill>
                <a:srgbClr val="383838"/>
              </a:solidFill>
              <a:effectLst/>
              <a:latin typeface="微软雅黑"/>
              <a:ea typeface="微软雅黑"/>
              <a:cs typeface="微软雅黑"/>
            </a:endParaRPr>
          </a:p>
        </p:txBody>
      </p:sp>
      <p:sp>
        <p:nvSpPr>
          <p:cNvPr id="170" name="文本框 169"/>
          <p:cNvSpPr txBox="1"/>
          <p:nvPr/>
        </p:nvSpPr>
        <p:spPr>
          <a:xfrm>
            <a:off x="9446910" y="2168574"/>
            <a:ext cx="1416984" cy="145161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先对城市的治理、产业、环境等单个或多个重点功能领域进行数字化改造</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提升城市运行质量和效率。由此再推进城市横向更多单元、纵向更多区域的数字化</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并联动到需求的连接和运营</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以及行政管理的数字化提升</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最终构建平台。如</a:t>
            </a:r>
            <a:r>
              <a:rPr lang="en-US" altLang="zh-CN" sz="1000"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一网统管</a:t>
            </a:r>
            <a:endParaRPr kumimoji="1" lang="zh-CN" altLang="en-US" sz="1000" dirty="0">
              <a:solidFill>
                <a:srgbClr val="383838"/>
              </a:solidFill>
              <a:effectLst/>
              <a:latin typeface="微软雅黑"/>
              <a:ea typeface="微软雅黑"/>
              <a:cs typeface="微软雅黑"/>
            </a:endParaRPr>
          </a:p>
        </p:txBody>
      </p:sp>
      <p:grpSp>
        <p:nvGrpSpPr>
          <p:cNvPr id="192" name="组合 191"/>
          <p:cNvGrpSpPr/>
          <p:nvPr/>
        </p:nvGrpSpPr>
        <p:grpSpPr>
          <a:xfrm flipH="1">
            <a:off x="9469065" y="4112103"/>
            <a:ext cx="1317269" cy="1041400"/>
            <a:chOff x="9588488" y="4071099"/>
            <a:chExt cx="1317269" cy="1041400"/>
          </a:xfrm>
        </p:grpSpPr>
        <p:sp>
          <p:nvSpPr>
            <p:cNvPr id="171" name="矩形: 圆角 170"/>
            <p:cNvSpPr/>
            <p:nvPr/>
          </p:nvSpPr>
          <p:spPr>
            <a:xfrm>
              <a:off x="10706429" y="4192304"/>
              <a:ext cx="199328" cy="837713"/>
            </a:xfrm>
            <a:prstGeom prst="roundRect">
              <a:avLst>
                <a:gd name="adj" fmla="val 8000"/>
              </a:avLst>
            </a:prstGeom>
            <a:solidFill>
              <a:srgbClr val="0042FF"/>
            </a:solidFill>
            <a:ln w="6350" cap="flat">
              <a:noFill/>
              <a:prstDash val="solid"/>
              <a:miter/>
            </a:ln>
            <a:effectLst>
              <a:outerShdw blurRad="254000" dist="63500" dir="5400000" sx="80000" sy="80000" algn="t" rotWithShape="0">
                <a:srgbClr val="383838">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72" name="矩形: 圆角 240"/>
            <p:cNvSpPr/>
            <p:nvPr/>
          </p:nvSpPr>
          <p:spPr>
            <a:xfrm>
              <a:off x="9588488" y="4071099"/>
              <a:ext cx="592886" cy="222250"/>
            </a:xfrm>
            <a:prstGeom prst="roundRect">
              <a:avLst>
                <a:gd name="adj" fmla="val 8000"/>
              </a:avLst>
            </a:prstGeom>
            <a:solidFill>
              <a:srgbClr val="FFFFFF"/>
            </a:solidFill>
            <a:ln w="6350" cap="flat">
              <a:noFill/>
              <a:prstDash val="solid"/>
              <a:miter/>
            </a:ln>
            <a:effectLst>
              <a:outerShdw blurRad="254000" dist="63500" dir="5400000" sx="80000" sy="80000" algn="t" rotWithShape="0">
                <a:srgbClr val="383838">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173" name="矩形: 圆角 244"/>
            <p:cNvSpPr/>
            <p:nvPr/>
          </p:nvSpPr>
          <p:spPr>
            <a:xfrm>
              <a:off x="9588488" y="4344149"/>
              <a:ext cx="592886" cy="222250"/>
            </a:xfrm>
            <a:prstGeom prst="roundRect">
              <a:avLst>
                <a:gd name="adj" fmla="val 8000"/>
              </a:avLst>
            </a:prstGeom>
            <a:solidFill>
              <a:srgbClr val="FFFFFF"/>
            </a:solidFill>
            <a:ln w="6350" cap="flat">
              <a:noFill/>
              <a:prstDash val="solid"/>
              <a:miter/>
            </a:ln>
            <a:effectLst>
              <a:outerShdw blurRad="254000" dist="63500" dir="5400000" sx="80000" sy="80000" algn="t" rotWithShape="0">
                <a:srgbClr val="383838">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174" name="矩形: 圆角 250"/>
            <p:cNvSpPr/>
            <p:nvPr/>
          </p:nvSpPr>
          <p:spPr>
            <a:xfrm>
              <a:off x="9588488" y="4617199"/>
              <a:ext cx="592886" cy="222250"/>
            </a:xfrm>
            <a:prstGeom prst="roundRect">
              <a:avLst>
                <a:gd name="adj" fmla="val 8000"/>
              </a:avLst>
            </a:prstGeom>
            <a:solidFill>
              <a:srgbClr val="FFFFFF"/>
            </a:solidFill>
            <a:ln w="6350" cap="flat">
              <a:noFill/>
              <a:prstDash val="solid"/>
              <a:miter/>
            </a:ln>
            <a:effectLst>
              <a:outerShdw blurRad="254000" dist="63500" dir="5400000" sx="80000" sy="80000" algn="t" rotWithShape="0">
                <a:srgbClr val="383838">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175" name="矩形: 圆角 253"/>
            <p:cNvSpPr/>
            <p:nvPr/>
          </p:nvSpPr>
          <p:spPr>
            <a:xfrm>
              <a:off x="9588488" y="4890249"/>
              <a:ext cx="592886" cy="222250"/>
            </a:xfrm>
            <a:prstGeom prst="roundRect">
              <a:avLst>
                <a:gd name="adj" fmla="val 8000"/>
              </a:avLst>
            </a:prstGeom>
            <a:solidFill>
              <a:srgbClr val="FFFFFF"/>
            </a:solidFill>
            <a:ln w="6350" cap="flat">
              <a:noFill/>
              <a:prstDash val="solid"/>
              <a:miter/>
            </a:ln>
            <a:effectLst>
              <a:outerShdw blurRad="254000" dist="63500" dir="5400000" sx="80000" sy="80000" algn="t" rotWithShape="0">
                <a:srgbClr val="383838">
                  <a:alpha val="1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176" name="任意多边形: 形状 296"/>
            <p:cNvSpPr/>
            <p:nvPr/>
          </p:nvSpPr>
          <p:spPr>
            <a:xfrm>
              <a:off x="10169854" y="4198099"/>
              <a:ext cx="279400" cy="209550"/>
            </a:xfrm>
            <a:custGeom>
              <a:avLst/>
              <a:gdLst>
                <a:gd name="connsiteX0" fmla="*/ 279400 w 279400"/>
                <a:gd name="connsiteY0" fmla="*/ 209550 h 209550"/>
                <a:gd name="connsiteX1" fmla="*/ 279400 w 279400"/>
                <a:gd name="connsiteY1" fmla="*/ 0 h 209550"/>
                <a:gd name="connsiteX2" fmla="*/ 0 w 279400"/>
                <a:gd name="connsiteY2" fmla="*/ 0 h 209550"/>
              </a:gdLst>
              <a:ahLst/>
              <a:cxnLst>
                <a:cxn ang="0">
                  <a:pos x="connsiteX0" y="connsiteY0"/>
                </a:cxn>
                <a:cxn ang="0">
                  <a:pos x="connsiteX1" y="connsiteY1"/>
                </a:cxn>
                <a:cxn ang="0">
                  <a:pos x="connsiteX2" y="connsiteY2"/>
                </a:cxn>
              </a:cxnLst>
              <a:rect l="l" t="t" r="r" b="b"/>
              <a:pathLst>
                <a:path w="279400" h="209550">
                  <a:moveTo>
                    <a:pt x="279400" y="209550"/>
                  </a:moveTo>
                  <a:lnTo>
                    <a:pt x="279400" y="0"/>
                  </a:lnTo>
                  <a:lnTo>
                    <a:pt x="0" y="0"/>
                  </a:lnTo>
                </a:path>
              </a:pathLst>
            </a:custGeom>
            <a:noFill/>
            <a:ln w="12700" cap="flat">
              <a:gradFill>
                <a:gsLst>
                  <a:gs pos="0">
                    <a:srgbClr val="0042FF">
                      <a:alpha val="0"/>
                    </a:srgbClr>
                  </a:gs>
                  <a:gs pos="100000">
                    <a:srgbClr val="0042FF"/>
                  </a:gs>
                </a:gsLst>
                <a:lin ang="0" scaled="1"/>
              </a:gra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77" name="任意多边形: 形状 297"/>
            <p:cNvSpPr/>
            <p:nvPr/>
          </p:nvSpPr>
          <p:spPr>
            <a:xfrm>
              <a:off x="10433379" y="4394949"/>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3"/>
                    <a:pt x="24643" y="31750"/>
                    <a:pt x="15875" y="31750"/>
                  </a:cubicBezTo>
                  <a:cubicBezTo>
                    <a:pt x="7107" y="31750"/>
                    <a:pt x="0" y="24643"/>
                    <a:pt x="0" y="15875"/>
                  </a:cubicBezTo>
                  <a:cubicBezTo>
                    <a:pt x="0" y="7107"/>
                    <a:pt x="7107" y="0"/>
                    <a:pt x="15875" y="0"/>
                  </a:cubicBezTo>
                  <a:cubicBezTo>
                    <a:pt x="24643" y="0"/>
                    <a:pt x="31750" y="7107"/>
                    <a:pt x="31750" y="15875"/>
                  </a:cubicBezTo>
                  <a:close/>
                </a:path>
              </a:pathLst>
            </a:custGeom>
            <a:solidFill>
              <a:srgbClr val="0042FF"/>
            </a:solidFill>
            <a:ln w="635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78" name="任意多边形: 形状 298"/>
            <p:cNvSpPr/>
            <p:nvPr/>
          </p:nvSpPr>
          <p:spPr>
            <a:xfrm>
              <a:off x="10169854" y="4814049"/>
              <a:ext cx="279400" cy="209550"/>
            </a:xfrm>
            <a:custGeom>
              <a:avLst/>
              <a:gdLst>
                <a:gd name="connsiteX0" fmla="*/ 279400 w 279400"/>
                <a:gd name="connsiteY0" fmla="*/ 0 h 209550"/>
                <a:gd name="connsiteX1" fmla="*/ 279400 w 279400"/>
                <a:gd name="connsiteY1" fmla="*/ 209550 h 209550"/>
                <a:gd name="connsiteX2" fmla="*/ 0 w 279400"/>
                <a:gd name="connsiteY2" fmla="*/ 209550 h 209550"/>
              </a:gdLst>
              <a:ahLst/>
              <a:cxnLst>
                <a:cxn ang="0">
                  <a:pos x="connsiteX0" y="connsiteY0"/>
                </a:cxn>
                <a:cxn ang="0">
                  <a:pos x="connsiteX1" y="connsiteY1"/>
                </a:cxn>
                <a:cxn ang="0">
                  <a:pos x="connsiteX2" y="connsiteY2"/>
                </a:cxn>
              </a:cxnLst>
              <a:rect l="l" t="t" r="r" b="b"/>
              <a:pathLst>
                <a:path w="279400" h="209550">
                  <a:moveTo>
                    <a:pt x="279400" y="0"/>
                  </a:moveTo>
                  <a:lnTo>
                    <a:pt x="279400" y="209550"/>
                  </a:lnTo>
                  <a:lnTo>
                    <a:pt x="0" y="209550"/>
                  </a:lnTo>
                </a:path>
              </a:pathLst>
            </a:custGeom>
            <a:noFill/>
            <a:ln w="12700" cap="flat">
              <a:gradFill>
                <a:gsLst>
                  <a:gs pos="0">
                    <a:srgbClr val="0042FF">
                      <a:alpha val="0"/>
                    </a:srgbClr>
                  </a:gs>
                  <a:gs pos="100000">
                    <a:srgbClr val="0042FF"/>
                  </a:gs>
                </a:gsLst>
                <a:lin ang="0" scaled="1"/>
              </a:gra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79" name="任意多边形: 形状 299"/>
            <p:cNvSpPr/>
            <p:nvPr/>
          </p:nvSpPr>
          <p:spPr>
            <a:xfrm>
              <a:off x="10179379" y="4728324"/>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rgbClr val="0042FF">
                      <a:alpha val="0"/>
                    </a:srgbClr>
                  </a:gs>
                  <a:gs pos="100000">
                    <a:srgbClr val="0042FF"/>
                  </a:gs>
                </a:gsLst>
                <a:lin ang="0" scaled="1"/>
              </a:gra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80" name="任意多边形: 形状 300"/>
            <p:cNvSpPr/>
            <p:nvPr/>
          </p:nvSpPr>
          <p:spPr>
            <a:xfrm>
              <a:off x="10528629" y="4588624"/>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rgbClr val="0042FF">
                      <a:alpha val="0"/>
                    </a:srgbClr>
                  </a:gs>
                  <a:gs pos="100000">
                    <a:srgbClr val="0042FF"/>
                  </a:gs>
                </a:gsLst>
                <a:lin ang="0" scaled="1"/>
              </a:gra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81" name="任意多边形: 形状 301"/>
            <p:cNvSpPr/>
            <p:nvPr/>
          </p:nvSpPr>
          <p:spPr>
            <a:xfrm>
              <a:off x="10179379" y="4455274"/>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rgbClr val="0042FF">
                      <a:alpha val="0"/>
                    </a:srgbClr>
                  </a:gs>
                  <a:gs pos="100000">
                    <a:srgbClr val="0042FF"/>
                  </a:gs>
                </a:gsLst>
                <a:lin ang="0" scaled="1"/>
              </a:gra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82" name="任意多边形: 形状 302"/>
            <p:cNvSpPr/>
            <p:nvPr/>
          </p:nvSpPr>
          <p:spPr>
            <a:xfrm flipV="1">
              <a:off x="10433379" y="4794999"/>
              <a:ext cx="31750" cy="31750"/>
            </a:xfrm>
            <a:custGeom>
              <a:avLst/>
              <a:gdLst>
                <a:gd name="connsiteX0" fmla="*/ 33021 w 31750"/>
                <a:gd name="connsiteY0" fmla="*/ 16710 h 31750"/>
                <a:gd name="connsiteX1" fmla="*/ 17146 w 31750"/>
                <a:gd name="connsiteY1" fmla="*/ 32585 h 31750"/>
                <a:gd name="connsiteX2" fmla="*/ 1271 w 31750"/>
                <a:gd name="connsiteY2" fmla="*/ 16710 h 31750"/>
                <a:gd name="connsiteX3" fmla="*/ 17146 w 31750"/>
                <a:gd name="connsiteY3" fmla="*/ 835 h 31750"/>
                <a:gd name="connsiteX4" fmla="*/ 33021 w 31750"/>
                <a:gd name="connsiteY4" fmla="*/ 16710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21" y="16710"/>
                  </a:moveTo>
                  <a:cubicBezTo>
                    <a:pt x="33021" y="25477"/>
                    <a:pt x="25913" y="32585"/>
                    <a:pt x="17146" y="32585"/>
                  </a:cubicBezTo>
                  <a:cubicBezTo>
                    <a:pt x="8378" y="32585"/>
                    <a:pt x="1271" y="25477"/>
                    <a:pt x="1271" y="16710"/>
                  </a:cubicBezTo>
                  <a:cubicBezTo>
                    <a:pt x="1271" y="7942"/>
                    <a:pt x="8378" y="835"/>
                    <a:pt x="17146" y="835"/>
                  </a:cubicBezTo>
                  <a:cubicBezTo>
                    <a:pt x="25913" y="835"/>
                    <a:pt x="33021" y="7942"/>
                    <a:pt x="33021" y="16710"/>
                  </a:cubicBezTo>
                  <a:close/>
                </a:path>
              </a:pathLst>
            </a:custGeom>
            <a:solidFill>
              <a:srgbClr val="0042FF"/>
            </a:solidFill>
            <a:ln w="635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3" name="任意多边形: 形状 303"/>
            <p:cNvSpPr/>
            <p:nvPr/>
          </p:nvSpPr>
          <p:spPr>
            <a:xfrm rot="5400000" flipV="1">
              <a:off x="10309554" y="4712449"/>
              <a:ext cx="31750" cy="31750"/>
            </a:xfrm>
            <a:custGeom>
              <a:avLst/>
              <a:gdLst>
                <a:gd name="connsiteX0" fmla="*/ 33001 w 31750"/>
                <a:gd name="connsiteY0" fmla="*/ 16697 h 31750"/>
                <a:gd name="connsiteX1" fmla="*/ 17126 w 31750"/>
                <a:gd name="connsiteY1" fmla="*/ 32572 h 31750"/>
                <a:gd name="connsiteX2" fmla="*/ 1251 w 31750"/>
                <a:gd name="connsiteY2" fmla="*/ 16697 h 31750"/>
                <a:gd name="connsiteX3" fmla="*/ 17126 w 31750"/>
                <a:gd name="connsiteY3" fmla="*/ 822 h 31750"/>
                <a:gd name="connsiteX4" fmla="*/ 33001 w 31750"/>
                <a:gd name="connsiteY4" fmla="*/ 16697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01" y="16697"/>
                  </a:moveTo>
                  <a:cubicBezTo>
                    <a:pt x="33001" y="25464"/>
                    <a:pt x="25894" y="32572"/>
                    <a:pt x="17126" y="32572"/>
                  </a:cubicBezTo>
                  <a:cubicBezTo>
                    <a:pt x="8358" y="32572"/>
                    <a:pt x="1251" y="25464"/>
                    <a:pt x="1251" y="16697"/>
                  </a:cubicBezTo>
                  <a:cubicBezTo>
                    <a:pt x="1251" y="7929"/>
                    <a:pt x="8358" y="822"/>
                    <a:pt x="17126" y="822"/>
                  </a:cubicBezTo>
                  <a:cubicBezTo>
                    <a:pt x="25894" y="822"/>
                    <a:pt x="33001" y="7929"/>
                    <a:pt x="33001" y="16697"/>
                  </a:cubicBezTo>
                  <a:close/>
                </a:path>
              </a:pathLst>
            </a:custGeom>
            <a:solidFill>
              <a:srgbClr val="0042FF"/>
            </a:solidFill>
            <a:ln w="635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84" name="任意多边形: 形状 304"/>
            <p:cNvSpPr/>
            <p:nvPr/>
          </p:nvSpPr>
          <p:spPr>
            <a:xfrm rot="5400000" flipV="1">
              <a:off x="10658804" y="4572749"/>
              <a:ext cx="31750" cy="31750"/>
            </a:xfrm>
            <a:custGeom>
              <a:avLst/>
              <a:gdLst>
                <a:gd name="connsiteX0" fmla="*/ 33056 w 31750"/>
                <a:gd name="connsiteY0" fmla="*/ 16675 h 31750"/>
                <a:gd name="connsiteX1" fmla="*/ 17181 w 31750"/>
                <a:gd name="connsiteY1" fmla="*/ 32550 h 31750"/>
                <a:gd name="connsiteX2" fmla="*/ 1306 w 31750"/>
                <a:gd name="connsiteY2" fmla="*/ 16675 h 31750"/>
                <a:gd name="connsiteX3" fmla="*/ 17181 w 31750"/>
                <a:gd name="connsiteY3" fmla="*/ 800 h 31750"/>
                <a:gd name="connsiteX4" fmla="*/ 33056 w 31750"/>
                <a:gd name="connsiteY4" fmla="*/ 166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56" y="16675"/>
                  </a:moveTo>
                  <a:cubicBezTo>
                    <a:pt x="33056" y="25442"/>
                    <a:pt x="25949" y="32550"/>
                    <a:pt x="17181" y="32550"/>
                  </a:cubicBezTo>
                  <a:cubicBezTo>
                    <a:pt x="8413" y="32550"/>
                    <a:pt x="1306" y="25442"/>
                    <a:pt x="1306" y="16675"/>
                  </a:cubicBezTo>
                  <a:cubicBezTo>
                    <a:pt x="1306" y="7907"/>
                    <a:pt x="8413" y="800"/>
                    <a:pt x="17181" y="800"/>
                  </a:cubicBezTo>
                  <a:cubicBezTo>
                    <a:pt x="25949" y="800"/>
                    <a:pt x="33056" y="7907"/>
                    <a:pt x="33056" y="16675"/>
                  </a:cubicBezTo>
                  <a:close/>
                </a:path>
              </a:pathLst>
            </a:custGeom>
            <a:solidFill>
              <a:srgbClr val="0042FF"/>
            </a:solidFill>
            <a:ln w="635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5" name="任意多边形: 形状 305"/>
            <p:cNvSpPr/>
            <p:nvPr/>
          </p:nvSpPr>
          <p:spPr>
            <a:xfrm rot="5400000" flipV="1">
              <a:off x="10309554" y="4439399"/>
              <a:ext cx="31750" cy="31750"/>
            </a:xfrm>
            <a:custGeom>
              <a:avLst/>
              <a:gdLst>
                <a:gd name="connsiteX0" fmla="*/ 33001 w 31750"/>
                <a:gd name="connsiteY0" fmla="*/ 16654 h 31750"/>
                <a:gd name="connsiteX1" fmla="*/ 17126 w 31750"/>
                <a:gd name="connsiteY1" fmla="*/ 32529 h 31750"/>
                <a:gd name="connsiteX2" fmla="*/ 1251 w 31750"/>
                <a:gd name="connsiteY2" fmla="*/ 16654 h 31750"/>
                <a:gd name="connsiteX3" fmla="*/ 17126 w 31750"/>
                <a:gd name="connsiteY3" fmla="*/ 779 h 31750"/>
                <a:gd name="connsiteX4" fmla="*/ 33001 w 31750"/>
                <a:gd name="connsiteY4" fmla="*/ 16654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01" y="16654"/>
                  </a:moveTo>
                  <a:cubicBezTo>
                    <a:pt x="33001" y="25421"/>
                    <a:pt x="25894" y="32529"/>
                    <a:pt x="17126" y="32529"/>
                  </a:cubicBezTo>
                  <a:cubicBezTo>
                    <a:pt x="8358" y="32529"/>
                    <a:pt x="1251" y="25421"/>
                    <a:pt x="1251" y="16654"/>
                  </a:cubicBezTo>
                  <a:cubicBezTo>
                    <a:pt x="1251" y="7886"/>
                    <a:pt x="8358" y="779"/>
                    <a:pt x="17126" y="779"/>
                  </a:cubicBezTo>
                  <a:cubicBezTo>
                    <a:pt x="25894" y="779"/>
                    <a:pt x="33001" y="7886"/>
                    <a:pt x="33001" y="16654"/>
                  </a:cubicBezTo>
                  <a:close/>
                </a:path>
              </a:pathLst>
            </a:custGeom>
            <a:solidFill>
              <a:srgbClr val="0042FF"/>
            </a:solidFill>
            <a:ln w="6350"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6" name="文本框 185"/>
            <p:cNvSpPr txBox="1"/>
            <p:nvPr/>
          </p:nvSpPr>
          <p:spPr>
            <a:xfrm>
              <a:off x="9580130" y="4126343"/>
              <a:ext cx="609600" cy="260350"/>
            </a:xfrm>
            <a:prstGeom prst="rect">
              <a:avLst/>
            </a:prstGeom>
            <a:noFill/>
          </p:spPr>
          <p:txBody>
            <a:bodyPr wrap="none" lIns="0" tIns="0" rIns="0" bIns="0" rtlCol="0" anchor="ctr">
              <a:noAutofit/>
            </a:bodyPr>
            <a:lstStyle/>
            <a:p>
              <a:pPr algn="ctr">
                <a:lnSpc>
                  <a:spcPct val="100000"/>
                </a:lnSpc>
                <a:defRPr sz="1000">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锁屏杂志</a:t>
              </a:r>
              <a:endParaRPr lang="zh-CN" altLang="en-US" sz="1000" dirty="0">
                <a:solidFill>
                  <a:srgbClr val="383838"/>
                </a:solidFill>
                <a:effectLst/>
                <a:latin typeface="微软雅黑"/>
                <a:ea typeface="微软雅黑"/>
                <a:cs typeface="微软雅黑"/>
              </a:endParaRPr>
            </a:p>
          </p:txBody>
        </p:sp>
        <p:sp>
          <p:nvSpPr>
            <p:cNvPr id="187" name="文本框 186"/>
            <p:cNvSpPr txBox="1"/>
            <p:nvPr/>
          </p:nvSpPr>
          <p:spPr>
            <a:xfrm>
              <a:off x="9580130" y="4399393"/>
              <a:ext cx="609600" cy="260350"/>
            </a:xfrm>
            <a:prstGeom prst="rect">
              <a:avLst/>
            </a:prstGeom>
            <a:noFill/>
          </p:spPr>
          <p:txBody>
            <a:bodyPr wrap="none" lIns="0" tIns="0" rIns="0" bIns="0" rtlCol="0" anchor="ctr">
              <a:noAutofit/>
            </a:bodyPr>
            <a:lstStyle/>
            <a:p>
              <a:pPr algn="ctr">
                <a:lnSpc>
                  <a:spcPct val="100000"/>
                </a:lnSpc>
                <a:defRPr sz="1000">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主动</a:t>
              </a:r>
              <a:r>
                <a:rPr lang="en-US" altLang="zh-CN" sz="1000" dirty="0">
                  <a:solidFill>
                    <a:srgbClr val="383838"/>
                  </a:solidFill>
                  <a:effectLst/>
                  <a:latin typeface="微软雅黑"/>
                  <a:ea typeface="微软雅黑"/>
                  <a:cs typeface="微软雅黑"/>
                </a:rPr>
                <a:t>Push</a:t>
              </a:r>
              <a:endParaRPr lang="en-US" altLang="zh-CN" sz="1000" dirty="0">
                <a:solidFill>
                  <a:srgbClr val="383838"/>
                </a:solidFill>
                <a:effectLst/>
                <a:latin typeface="微软雅黑"/>
                <a:ea typeface="微软雅黑"/>
                <a:cs typeface="微软雅黑"/>
              </a:endParaRPr>
            </a:p>
          </p:txBody>
        </p:sp>
        <p:sp>
          <p:nvSpPr>
            <p:cNvPr id="188" name="文本框 187"/>
            <p:cNvSpPr txBox="1"/>
            <p:nvPr/>
          </p:nvSpPr>
          <p:spPr>
            <a:xfrm>
              <a:off x="9580130" y="4672443"/>
              <a:ext cx="609600" cy="260350"/>
            </a:xfrm>
            <a:prstGeom prst="rect">
              <a:avLst/>
            </a:prstGeom>
            <a:noFill/>
          </p:spPr>
          <p:txBody>
            <a:bodyPr wrap="none" lIns="0" tIns="0" rIns="0" bIns="0" rtlCol="0" anchor="ctr">
              <a:noAutofit/>
            </a:bodyPr>
            <a:lstStyle/>
            <a:p>
              <a:pPr algn="ctr">
                <a:lnSpc>
                  <a:spcPct val="100000"/>
                </a:lnSpc>
                <a:defRPr sz="1000">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全局搜索</a:t>
              </a:r>
              <a:endParaRPr lang="zh-CN" altLang="en-US" sz="1000" dirty="0">
                <a:solidFill>
                  <a:srgbClr val="383838"/>
                </a:solidFill>
                <a:effectLst/>
                <a:latin typeface="微软雅黑"/>
                <a:ea typeface="微软雅黑"/>
                <a:cs typeface="微软雅黑"/>
              </a:endParaRPr>
            </a:p>
          </p:txBody>
        </p:sp>
        <p:sp>
          <p:nvSpPr>
            <p:cNvPr id="189" name="文本框 188"/>
            <p:cNvSpPr txBox="1"/>
            <p:nvPr/>
          </p:nvSpPr>
          <p:spPr>
            <a:xfrm>
              <a:off x="9721424" y="4945493"/>
              <a:ext cx="327013" cy="313690"/>
            </a:xfrm>
            <a:prstGeom prst="rect">
              <a:avLst/>
            </a:prstGeom>
            <a:noFill/>
          </p:spPr>
          <p:txBody>
            <a:bodyPr wrap="square" lIns="0" tIns="0" rIns="0" bIns="0" rtlCol="0" anchor="t">
              <a:noAutofit/>
            </a:bodyPr>
            <a:lstStyle/>
            <a:p>
              <a:pPr algn="ctr">
                <a:lnSpc>
                  <a:spcPts val="1120"/>
                </a:lnSpc>
                <a:defRPr>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应用分发</a:t>
              </a:r>
              <a:endParaRPr lang="zh-CN" altLang="en-US" sz="1000" dirty="0">
                <a:solidFill>
                  <a:srgbClr val="383838"/>
                </a:solidFill>
                <a:effectLst/>
                <a:latin typeface="微软雅黑"/>
                <a:ea typeface="微软雅黑"/>
                <a:cs typeface="微软雅黑"/>
              </a:endParaRPr>
            </a:p>
          </p:txBody>
        </p:sp>
        <p:sp>
          <p:nvSpPr>
            <p:cNvPr id="190" name="文本框 189"/>
            <p:cNvSpPr txBox="1"/>
            <p:nvPr/>
          </p:nvSpPr>
          <p:spPr>
            <a:xfrm>
              <a:off x="10359059" y="4478928"/>
              <a:ext cx="185948" cy="621030"/>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effectLst/>
                  <a:latin typeface="微软雅黑"/>
                  <a:ea typeface="微软雅黑"/>
                  <a:cs typeface="微软雅黑"/>
                </a:rPr>
                <a:t>用户</a:t>
              </a:r>
              <a:endParaRPr lang="en-US" altLang="zh-CN" sz="1000" dirty="0">
                <a:solidFill>
                  <a:srgbClr val="0042FF"/>
                </a:solidFill>
                <a:effectLst/>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effectLst/>
                  <a:latin typeface="微软雅黑"/>
                  <a:ea typeface="微软雅黑"/>
                  <a:cs typeface="微软雅黑"/>
                </a:rPr>
                <a:t>关系</a:t>
              </a:r>
              <a:endParaRPr lang="zh-CN" altLang="en-US" sz="1000" dirty="0">
                <a:solidFill>
                  <a:srgbClr val="0042FF"/>
                </a:solidFill>
                <a:effectLst/>
                <a:latin typeface="微软雅黑"/>
                <a:ea typeface="微软雅黑"/>
                <a:cs typeface="微软雅黑"/>
              </a:endParaRPr>
            </a:p>
          </p:txBody>
        </p:sp>
        <p:sp>
          <p:nvSpPr>
            <p:cNvPr id="191" name="文本框 190"/>
            <p:cNvSpPr txBox="1"/>
            <p:nvPr/>
          </p:nvSpPr>
          <p:spPr>
            <a:xfrm>
              <a:off x="10744361" y="4259301"/>
              <a:ext cx="123463" cy="905510"/>
            </a:xfrm>
            <a:prstGeom prst="rect">
              <a:avLst/>
            </a:prstGeom>
            <a:noFill/>
          </p:spPr>
          <p:txBody>
            <a:bodyPr wrap="square" lIns="0" tIns="0" rIns="0" bIns="0" rtlCol="0" anchor="t">
              <a:noAutofit/>
            </a:bodyPr>
            <a:lstStyle/>
            <a:p>
              <a:pPr algn="ctr">
                <a:lnSpc>
                  <a:spcPts val="1120"/>
                </a:lnSpc>
                <a:defRPr>
                  <a:solidFill>
                    <a:srgbClr val="383838"/>
                  </a:solidFill>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商品</a:t>
              </a:r>
              <a:endParaRPr lang="en-US" altLang="zh-CN" sz="1000" dirty="0">
                <a:solidFill>
                  <a:srgbClr val="383838"/>
                </a:solidFill>
                <a:effectLst/>
                <a:latin typeface="微软雅黑"/>
                <a:ea typeface="微软雅黑"/>
                <a:cs typeface="微软雅黑"/>
              </a:endParaRPr>
            </a:p>
            <a:p>
              <a:pPr algn="ctr">
                <a:lnSpc>
                  <a:spcPts val="1120"/>
                </a:lnSpc>
                <a:defRPr>
                  <a:solidFill>
                    <a:srgbClr val="383838"/>
                  </a:solidFill>
                  <a:latin typeface="微软雅黑"/>
                  <a:ea typeface="微软雅黑"/>
                  <a:cs typeface="微软雅黑"/>
                </a:defRPr>
                <a:spcBef>
                  <a:spcPts val="0"/>
                </a:spcBef>
                <a:spcAft>
                  <a:spcPts val="0"/>
                </a:spcAft>
              </a:pPr>
              <a:r>
                <a:rPr lang="zh-CN" altLang="en-US" sz="1000" dirty="0">
                  <a:solidFill>
                    <a:srgbClr val="383838"/>
                  </a:solidFill>
                  <a:effectLst/>
                  <a:latin typeface="微软雅黑"/>
                  <a:ea typeface="微软雅黑"/>
                  <a:cs typeface="微软雅黑"/>
                </a:rPr>
                <a:t>品牌详情</a:t>
              </a:r>
              <a:endParaRPr lang="en-US" altLang="zh-CN" sz="1000" dirty="0">
                <a:solidFill>
                  <a:srgbClr val="383838"/>
                </a:solidFill>
                <a:effectLst/>
                <a:latin typeface="微软雅黑"/>
                <a:ea typeface="微软雅黑"/>
                <a:cs typeface="微软雅黑"/>
              </a:endParaRPr>
            </a:p>
          </p:txBody>
        </p:sp>
      </p:grpSp>
      <p:sp>
        <p:nvSpPr>
          <p:cNvPr id="193" name="文本框 192"/>
          <p:cNvSpPr txBox="1"/>
          <p:nvPr/>
        </p:nvSpPr>
        <p:spPr>
          <a:xfrm>
            <a:off x="11138985" y="2088303"/>
            <a:ext cx="369330" cy="355481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800" b="1" u="none" strike="noStrike" cap="none" spc="0" normalizeH="0" baseline="0" dirty="0">
                <a:ln>
                  <a:noFill/>
                </a:ln>
                <a:solidFill>
                  <a:srgbClr val="0042FF"/>
                </a:solidFill>
                <a:effectLst/>
                <a:uFillTx/>
                <a:latin typeface="微软雅黑"/>
                <a:ea typeface="微软雅黑"/>
                <a:cs typeface="微软雅黑"/>
                <a:sym typeface="微软雅黑"/>
              </a:rPr>
              <a:t>投顾懂用户需求，链接用户和产品</a:t>
            </a:r>
            <a:endParaRPr kumimoji="0" lang="zh-CN" altLang="en-US" sz="1800" b="1" u="none" strike="noStrike" cap="none" spc="0" normalizeH="0" baseline="0" dirty="0">
              <a:ln>
                <a:noFill/>
              </a:ln>
              <a:solidFill>
                <a:srgbClr val="0042FF"/>
              </a:solidFill>
              <a:effectLst/>
              <a:uFillTx/>
              <a:latin typeface="微软雅黑"/>
              <a:ea typeface="微软雅黑"/>
              <a:cs typeface="微软雅黑"/>
              <a:sym typeface="微软雅黑"/>
            </a:endParaRPr>
          </a:p>
        </p:txBody>
      </p:sp>
      <p:sp>
        <p:nvSpPr>
          <p:cNvPr id="194" name="文本框 193"/>
          <p:cNvSpPr txBox="1"/>
          <p:nvPr/>
        </p:nvSpPr>
        <p:spPr>
          <a:xfrm>
            <a:off x="11529409" y="2410349"/>
            <a:ext cx="246219" cy="304185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0" tIns="0" rIns="0" bIns="0"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000" b="1" u="none" strike="noStrike" cap="none" spc="0" normalizeH="0" baseline="0" dirty="0">
                <a:ln>
                  <a:noFill/>
                </a:ln>
                <a:solidFill>
                  <a:srgbClr val="383838"/>
                </a:solidFill>
                <a:effectLst/>
                <a:uFillTx/>
                <a:latin typeface="微软雅黑"/>
                <a:ea typeface="微软雅黑"/>
                <a:cs typeface="微软雅黑"/>
                <a:sym typeface="微软雅黑"/>
              </a:rPr>
              <a:t>根据用户需求，匹配满足需求的产品，并陪伴是服务</a:t>
            </a:r>
            <a:endParaRPr kumimoji="0" lang="zh-CN" altLang="en-US" sz="1000" b="1"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196" name="文本框 195"/>
          <p:cNvSpPr txBox="1"/>
          <p:nvPr/>
        </p:nvSpPr>
        <p:spPr>
          <a:xfrm>
            <a:off x="1567434" y="3065135"/>
            <a:ext cx="1074333" cy="313690"/>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en-GB" altLang="zh-CN" sz="1000" dirty="0">
                <a:solidFill>
                  <a:srgbClr val="383838"/>
                </a:solidFill>
                <a:latin typeface="微软雅黑"/>
                <a:ea typeface="微软雅黑"/>
                <a:cs typeface="微软雅黑"/>
              </a:rPr>
              <a:t>Communicate manner</a:t>
            </a:r>
            <a:endParaRPr lang="en-GB" altLang="zh-CN" sz="1000" dirty="0">
              <a:solidFill>
                <a:srgbClr val="383838"/>
              </a:solidFill>
              <a:latin typeface="微软雅黑"/>
              <a:ea typeface="微软雅黑"/>
              <a:cs typeface="微软雅黑"/>
            </a:endParaRPr>
          </a:p>
        </p:txBody>
      </p:sp>
      <p:sp>
        <p:nvSpPr>
          <p:cNvPr id="197" name="文本框 196"/>
          <p:cNvSpPr txBox="1"/>
          <p:nvPr/>
        </p:nvSpPr>
        <p:spPr>
          <a:xfrm>
            <a:off x="1567434" y="3840639"/>
            <a:ext cx="1074333" cy="313690"/>
          </a:xfrm>
          <a:prstGeom prst="rect">
            <a:avLst/>
          </a:prstGeom>
          <a:noFill/>
        </p:spPr>
        <p:txBody>
          <a:bodyPr wrap="square" rtlCol="0" lIns="0" rIns="0" tIns="0" bIns="0" anchor="t">
            <a:noAutofit/>
          </a:bodyPr>
          <a:lstStyle/>
          <a:p>
            <a:pPr>
              <a:defRPr>
                <a:latin typeface="微软雅黑"/>
                <a:ea typeface="微软雅黑"/>
                <a:cs typeface="微软雅黑"/>
              </a:defRPr>
              <a:lnSpc>
                <a:spcPts val="1120"/>
              </a:lnSpc>
              <a:spcBef>
                <a:spcPts val="0"/>
              </a:spcBef>
              <a:spcAft>
                <a:spcPts val="0"/>
              </a:spcAft>
            </a:pPr>
            <a:r>
              <a:rPr lang="en-GB" altLang="zh-CN" sz="1000" dirty="0">
                <a:solidFill>
                  <a:srgbClr val="383838"/>
                </a:solidFill>
                <a:latin typeface="微软雅黑"/>
                <a:ea typeface="微软雅黑"/>
                <a:cs typeface="微软雅黑"/>
              </a:rPr>
              <a:t>Share and collaborate</a:t>
            </a:r>
            <a:endParaRPr lang="en-GB" altLang="zh-CN" sz="1000" dirty="0">
              <a:solidFill>
                <a:srgbClr val="383838"/>
              </a:solidFill>
              <a:latin typeface="微软雅黑"/>
              <a:ea typeface="微软雅黑"/>
              <a:cs typeface="微软雅黑"/>
            </a:endParaRPr>
          </a:p>
        </p:txBody>
      </p:sp>
      <p:sp>
        <p:nvSpPr>
          <p:cNvPr id="198" name="文本框 197"/>
          <p:cNvSpPr txBox="1"/>
          <p:nvPr/>
        </p:nvSpPr>
        <p:spPr>
          <a:xfrm>
            <a:off x="1591479" y="4674016"/>
            <a:ext cx="1026243" cy="31369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GB" altLang="zh-CN" sz="1000" dirty="0">
                <a:solidFill>
                  <a:srgbClr val="383838"/>
                </a:solidFill>
                <a:latin typeface="微软雅黑"/>
                <a:ea typeface="微软雅黑"/>
                <a:cs typeface="微软雅黑"/>
              </a:rPr>
              <a:t>Report subscriptions</a:t>
            </a:r>
            <a:endParaRPr lang="en-GB" altLang="zh-CN" sz="1000" dirty="0">
              <a:solidFill>
                <a:srgbClr val="383838"/>
              </a:solidFill>
              <a:latin typeface="微软雅黑"/>
              <a:ea typeface="微软雅黑"/>
              <a:cs typeface="微软雅黑"/>
            </a:endParaRPr>
          </a:p>
        </p:txBody>
      </p:sp>
      <p:sp>
        <p:nvSpPr>
          <p:cNvPr id="199" name="文本框 198"/>
          <p:cNvSpPr txBox="1"/>
          <p:nvPr/>
        </p:nvSpPr>
        <p:spPr>
          <a:xfrm>
            <a:off x="1567434" y="5461094"/>
            <a:ext cx="957313" cy="313690"/>
          </a:xfrm>
          <a:prstGeom prst="rect">
            <a:avLst/>
          </a:prstGeom>
          <a:noFill/>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en-GB" altLang="zh-CN" sz="1000" dirty="0">
                <a:solidFill>
                  <a:srgbClr val="383838"/>
                </a:solidFill>
                <a:latin typeface="微软雅黑"/>
                <a:ea typeface="微软雅黑"/>
                <a:cs typeface="微软雅黑"/>
              </a:rPr>
              <a:t>Business approvals</a:t>
            </a:r>
            <a:endParaRPr lang="en-GB" altLang="zh-CN" sz="1000" dirty="0">
              <a:solidFill>
                <a:srgbClr val="383838"/>
              </a:solidFill>
              <a:latin typeface="微软雅黑"/>
              <a:ea typeface="微软雅黑"/>
              <a:cs typeface="微软雅黑"/>
            </a:endParaRPr>
          </a:p>
        </p:txBody>
      </p:sp>
      <p:sp>
        <p:nvSpPr>
          <p:cNvPr id="202" name="任意多边形: 形状 287"/>
          <p:cNvSpPr/>
          <p:nvPr/>
        </p:nvSpPr>
        <p:spPr>
          <a:xfrm>
            <a:off x="7478197" y="6270834"/>
            <a:ext cx="1832937" cy="99913"/>
          </a:xfrm>
          <a:custGeom>
            <a:avLst/>
            <a:gdLst>
              <a:gd name="connsiteX0" fmla="*/ 0 w 2095500"/>
              <a:gd name="connsiteY0" fmla="*/ 0 h 88900"/>
              <a:gd name="connsiteX1" fmla="*/ 0 w 2095500"/>
              <a:gd name="connsiteY1" fmla="*/ 88900 h 88900"/>
              <a:gd name="connsiteX2" fmla="*/ 2095500 w 2095500"/>
              <a:gd name="connsiteY2" fmla="*/ 88900 h 88900"/>
              <a:gd name="connsiteX3" fmla="*/ 2095500 w 2095500"/>
              <a:gd name="connsiteY3" fmla="*/ 0 h 88900"/>
            </a:gdLst>
            <a:ahLst/>
            <a:cxnLst>
              <a:cxn ang="0">
                <a:pos x="connsiteX0" y="connsiteY0"/>
              </a:cxn>
              <a:cxn ang="0">
                <a:pos x="connsiteX1" y="connsiteY1"/>
              </a:cxn>
              <a:cxn ang="0">
                <a:pos x="connsiteX2" y="connsiteY2"/>
              </a:cxn>
              <a:cxn ang="0">
                <a:pos x="connsiteX3" y="connsiteY3"/>
              </a:cxn>
            </a:cxnLst>
            <a:rect l="l" t="t" r="r" b="b"/>
            <a:pathLst>
              <a:path w="2095500" h="88900">
                <a:moveTo>
                  <a:pt x="0" y="0"/>
                </a:moveTo>
                <a:lnTo>
                  <a:pt x="0" y="88900"/>
                </a:lnTo>
                <a:lnTo>
                  <a:pt x="2095500" y="88900"/>
                </a:lnTo>
                <a:lnTo>
                  <a:pt x="2095500" y="0"/>
                </a:lnTo>
              </a:path>
            </a:pathLst>
          </a:custGeom>
          <a:noFill/>
          <a:ln w="6350" cap="flat">
            <a:solidFill>
              <a:srgbClr val="383838"/>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03" name="任意多边形: 形状 288"/>
          <p:cNvSpPr/>
          <p:nvPr/>
        </p:nvSpPr>
        <p:spPr>
          <a:xfrm>
            <a:off x="9341482" y="6288500"/>
            <a:ext cx="1585614" cy="82247"/>
          </a:xfrm>
          <a:custGeom>
            <a:avLst/>
            <a:gdLst>
              <a:gd name="connsiteX0" fmla="*/ 0 w 1885950"/>
              <a:gd name="connsiteY0" fmla="*/ 0 h 88900"/>
              <a:gd name="connsiteX1" fmla="*/ 0 w 1885950"/>
              <a:gd name="connsiteY1" fmla="*/ 88900 h 88900"/>
              <a:gd name="connsiteX2" fmla="*/ 1885950 w 1885950"/>
              <a:gd name="connsiteY2" fmla="*/ 88900 h 88900"/>
              <a:gd name="connsiteX3" fmla="*/ 1885950 w 1885950"/>
              <a:gd name="connsiteY3" fmla="*/ 0 h 88900"/>
            </a:gdLst>
            <a:ahLst/>
            <a:cxnLst>
              <a:cxn ang="0">
                <a:pos x="connsiteX0" y="connsiteY0"/>
              </a:cxn>
              <a:cxn ang="0">
                <a:pos x="connsiteX1" y="connsiteY1"/>
              </a:cxn>
              <a:cxn ang="0">
                <a:pos x="connsiteX2" y="connsiteY2"/>
              </a:cxn>
              <a:cxn ang="0">
                <a:pos x="connsiteX3" y="connsiteY3"/>
              </a:cxn>
            </a:cxnLst>
            <a:rect l="l" t="t" r="r" b="b"/>
            <a:pathLst>
              <a:path w="1885950" h="88900">
                <a:moveTo>
                  <a:pt x="0" y="0"/>
                </a:moveTo>
                <a:lnTo>
                  <a:pt x="0" y="88900"/>
                </a:lnTo>
                <a:lnTo>
                  <a:pt x="1885950" y="88900"/>
                </a:lnTo>
                <a:lnTo>
                  <a:pt x="1885950" y="0"/>
                </a:lnTo>
              </a:path>
            </a:pathLst>
          </a:custGeom>
          <a:noFill/>
          <a:ln w="6350" cap="flat">
            <a:solidFill>
              <a:srgbClr val="383838"/>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06" name="任意多边形: 形状 291"/>
          <p:cNvSpPr/>
          <p:nvPr/>
        </p:nvSpPr>
        <p:spPr>
          <a:xfrm>
            <a:off x="8392760" y="6346447"/>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rgbClr val="FFFFFF"/>
          </a:solidFill>
          <a:ln w="6350" cap="flat">
            <a:solidFill>
              <a:srgbClr val="383838"/>
            </a:solid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7" name="任意多边形: 形状 292"/>
          <p:cNvSpPr/>
          <p:nvPr/>
        </p:nvSpPr>
        <p:spPr>
          <a:xfrm>
            <a:off x="10115239" y="6346447"/>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rgbClr val="FFFFFF"/>
          </a:solidFill>
          <a:ln w="6350" cap="flat">
            <a:solidFill>
              <a:srgbClr val="383838"/>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10" name="文本框 209"/>
          <p:cNvSpPr txBox="1"/>
          <p:nvPr/>
        </p:nvSpPr>
        <p:spPr>
          <a:xfrm>
            <a:off x="7993426" y="6415619"/>
            <a:ext cx="836768" cy="184666"/>
          </a:xfrm>
          <a:prstGeom prst="rect">
            <a:avLst/>
          </a:prstGeom>
          <a:noFill/>
          <a:effectLst>
            <a:outerShdw blurRad="190500" dist="127000" dir="5400000" algn="t" rotWithShape="0">
              <a:srgbClr val="0042FF">
                <a:alpha val="10000"/>
              </a:srgbClr>
            </a:outerShdw>
          </a:effectLst>
        </p:spPr>
        <p:txBody>
          <a:bodyPr wrap="none" lIns="0" tIns="0" rIns="0" bIns="0" rtlCol="0">
            <a:spAutoFit/>
          </a:bodyPr>
          <a:lstStyle>
            <a:defPPr>
              <a:defRPr lang="zh-CN">
                <a:latin typeface="微软雅黑"/>
                <a:ea typeface="微软雅黑"/>
                <a:cs typeface="微软雅黑"/>
              </a:defRPr>
            </a:defPPr>
            <a:lvl1pPr>
              <a:defRPr sz="1400">
                <a:gradFill>
                  <a:gsLst>
                    <a:gs pos="0">
                      <a:srgbClr val="0042FF"/>
                    </a:gs>
                    <a:gs pos="50000">
                      <a:srgbClr val="0042FF"/>
                    </a:gs>
                    <a:gs pos="100000">
                      <a:srgbClr val="0042FF"/>
                    </a:gs>
                  </a:gsLst>
                  <a:lin ang="0" scaled="0"/>
                </a:gradFill>
                <a:effectLst/>
                <a:latin typeface="微软雅黑"/>
                <a:ea typeface="微软雅黑"/>
                <a:cs typeface="微软雅黑"/>
              </a:defRPr>
            </a:lvl1p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海量精选课程</a:t>
            </a:r>
            <a:endParaRPr lang="zh-CN" altLang="en-US" sz="1200" dirty="0">
              <a:solidFill>
                <a:srgbClr val="383838"/>
              </a:solidFill>
              <a:latin typeface="微软雅黑"/>
              <a:ea typeface="微软雅黑"/>
              <a:cs typeface="微软雅黑"/>
            </a:endParaRPr>
          </a:p>
        </p:txBody>
      </p:sp>
      <p:sp>
        <p:nvSpPr>
          <p:cNvPr id="211" name="文本框 210"/>
          <p:cNvSpPr txBox="1"/>
          <p:nvPr/>
        </p:nvSpPr>
        <p:spPr>
          <a:xfrm>
            <a:off x="9687051" y="6415619"/>
            <a:ext cx="894476" cy="184666"/>
          </a:xfrm>
          <a:prstGeom prst="rect">
            <a:avLst/>
          </a:prstGeom>
          <a:noFill/>
          <a:effectLst>
            <a:outerShdw blurRad="190500" dist="127000" dir="5400000" algn="t" rotWithShape="0">
              <a:srgbClr val="0042FF">
                <a:alpha val="10000"/>
              </a:srgbClr>
            </a:outerShdw>
          </a:effectLst>
        </p:spPr>
        <p:txBody>
          <a:bodyPr wrap="none" lIns="0" tIns="0" rIns="0" bIns="0" rtlCol="0">
            <a:spAutoFit/>
          </a:bodyPr>
          <a:lstStyle>
            <a:defPPr>
              <a:defRPr lang="zh-CN">
                <a:latin typeface="微软雅黑"/>
                <a:ea typeface="微软雅黑"/>
                <a:cs typeface="微软雅黑"/>
              </a:defRPr>
            </a:defPPr>
            <a:lvl1pPr>
              <a:defRPr sz="1400">
                <a:gradFill>
                  <a:gsLst>
                    <a:gs pos="0">
                      <a:srgbClr val="0042FF"/>
                    </a:gs>
                    <a:gs pos="50000">
                      <a:srgbClr val="0042FF"/>
                    </a:gs>
                    <a:gs pos="100000">
                      <a:srgbClr val="0042FF"/>
                    </a:gs>
                  </a:gsLst>
                  <a:lin ang="0" scaled="0"/>
                </a:gradFill>
                <a:effectLst/>
                <a:latin typeface="微软雅黑"/>
                <a:ea typeface="微软雅黑"/>
                <a:cs typeface="微软雅黑"/>
              </a:defRPr>
            </a:lvl1pPr>
          </a:lstStyle>
          <a:p>
            <a:pPr algn="ctr">
              <a:defRPr>
                <a:latin typeface="微软雅黑"/>
                <a:ea typeface="微软雅黑"/>
                <a:cs typeface="微软雅黑"/>
              </a:defRPr>
            </a:pPr>
            <a:r>
              <a:rPr lang="en-US" altLang="zh-CN" sz="1200" dirty="0">
                <a:solidFill>
                  <a:srgbClr val="383838"/>
                </a:solidFill>
                <a:latin typeface="微软雅黑"/>
                <a:ea typeface="微软雅黑"/>
                <a:cs typeface="微软雅黑"/>
              </a:rPr>
              <a:t>KOL</a:t>
            </a:r>
            <a:r>
              <a:rPr lang="zh-CN" altLang="en-US" sz="1200" dirty="0">
                <a:solidFill>
                  <a:srgbClr val="383838"/>
                </a:solidFill>
                <a:latin typeface="微软雅黑"/>
                <a:ea typeface="微软雅黑"/>
                <a:cs typeface="微软雅黑"/>
              </a:rPr>
              <a:t>分析复盘</a:t>
            </a:r>
            <a:endParaRPr lang="zh-CN" altLang="en-US" sz="1200" dirty="0">
              <a:solidFill>
                <a:srgbClr val="383838"/>
              </a:solidFill>
              <a:latin typeface="微软雅黑"/>
              <a:ea typeface="微软雅黑"/>
              <a:cs typeface="微软雅黑"/>
            </a:endParaRPr>
          </a:p>
        </p:txBody>
      </p:sp>
      <p:grpSp>
        <p:nvGrpSpPr>
          <p:cNvPr id="225" name="组合 224"/>
          <p:cNvGrpSpPr/>
          <p:nvPr/>
        </p:nvGrpSpPr>
        <p:grpSpPr>
          <a:xfrm>
            <a:off x="1248107" y="6268512"/>
            <a:ext cx="1649435" cy="107950"/>
            <a:chOff x="1248107" y="5948882"/>
            <a:chExt cx="1649435" cy="107950"/>
          </a:xfrm>
        </p:grpSpPr>
        <p:sp>
          <p:nvSpPr>
            <p:cNvPr id="218" name="任意多边形: 形状 288"/>
            <p:cNvSpPr/>
            <p:nvPr/>
          </p:nvSpPr>
          <p:spPr>
            <a:xfrm>
              <a:off x="1248107" y="5948882"/>
              <a:ext cx="1649435" cy="82247"/>
            </a:xfrm>
            <a:custGeom>
              <a:avLst/>
              <a:gdLst>
                <a:gd name="connsiteX0" fmla="*/ 0 w 1885950"/>
                <a:gd name="connsiteY0" fmla="*/ 0 h 88900"/>
                <a:gd name="connsiteX1" fmla="*/ 0 w 1885950"/>
                <a:gd name="connsiteY1" fmla="*/ 88900 h 88900"/>
                <a:gd name="connsiteX2" fmla="*/ 1885950 w 1885950"/>
                <a:gd name="connsiteY2" fmla="*/ 88900 h 88900"/>
                <a:gd name="connsiteX3" fmla="*/ 1885950 w 1885950"/>
                <a:gd name="connsiteY3" fmla="*/ 0 h 88900"/>
              </a:gdLst>
              <a:ahLst/>
              <a:cxnLst>
                <a:cxn ang="0">
                  <a:pos x="connsiteX0" y="connsiteY0"/>
                </a:cxn>
                <a:cxn ang="0">
                  <a:pos x="connsiteX1" y="connsiteY1"/>
                </a:cxn>
                <a:cxn ang="0">
                  <a:pos x="connsiteX2" y="connsiteY2"/>
                </a:cxn>
                <a:cxn ang="0">
                  <a:pos x="connsiteX3" y="connsiteY3"/>
                </a:cxn>
              </a:cxnLst>
              <a:rect l="l" t="t" r="r" b="b"/>
              <a:pathLst>
                <a:path w="1885950" h="88900">
                  <a:moveTo>
                    <a:pt x="0" y="0"/>
                  </a:moveTo>
                  <a:lnTo>
                    <a:pt x="0" y="88900"/>
                  </a:lnTo>
                  <a:lnTo>
                    <a:pt x="1885950" y="88900"/>
                  </a:lnTo>
                  <a:lnTo>
                    <a:pt x="1885950" y="0"/>
                  </a:lnTo>
                </a:path>
              </a:pathLst>
            </a:custGeom>
            <a:noFill/>
            <a:ln w="6350" cap="flat">
              <a:solidFill>
                <a:srgbClr val="383838"/>
              </a:solidFill>
              <a:prstDash val="solid"/>
              <a:miter/>
            </a:ln>
          </p:spPr>
          <p:txBody>
            <a:bodyPr rtlCol="0" anchor="ct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19" name="任意多边形: 形状 292"/>
            <p:cNvSpPr/>
            <p:nvPr/>
          </p:nvSpPr>
          <p:spPr>
            <a:xfrm>
              <a:off x="2053774" y="6018732"/>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rgbClr val="FFFFFF"/>
            </a:solidFill>
            <a:ln w="6350" cap="flat">
              <a:solidFill>
                <a:srgbClr val="383838"/>
              </a:solid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220" name="文本框 219"/>
          <p:cNvSpPr txBox="1"/>
          <p:nvPr/>
        </p:nvSpPr>
        <p:spPr>
          <a:xfrm>
            <a:off x="1584710" y="6404189"/>
            <a:ext cx="976229" cy="184666"/>
          </a:xfrm>
          <a:prstGeom prst="rect">
            <a:avLst/>
          </a:prstGeom>
          <a:noFill/>
          <a:effectLst>
            <a:outerShdw blurRad="190500" dist="127000" dir="5400000" algn="t" rotWithShape="0">
              <a:srgbClr val="0042FF">
                <a:alpha val="10000"/>
              </a:srgbClr>
            </a:outerShdw>
          </a:effectLst>
        </p:spPr>
        <p:txBody>
          <a:bodyPr wrap="none" lIns="0" tIns="0" rIns="0" bIns="0" rtlCol="0">
            <a:spAutoFit/>
          </a:bodyPr>
          <a:lstStyle>
            <a:defPPr>
              <a:defRPr lang="zh-CN">
                <a:latin typeface="微软雅黑"/>
                <a:ea typeface="微软雅黑"/>
                <a:cs typeface="微软雅黑"/>
              </a:defRPr>
            </a:defPPr>
            <a:lvl1pPr>
              <a:defRPr sz="1400">
                <a:gradFill>
                  <a:gsLst>
                    <a:gs pos="0">
                      <a:srgbClr val="0042FF"/>
                    </a:gs>
                    <a:gs pos="50000">
                      <a:srgbClr val="0042FF"/>
                    </a:gs>
                    <a:gs pos="100000">
                      <a:srgbClr val="0042FF"/>
                    </a:gs>
                  </a:gsLst>
                  <a:lin ang="0" scaled="0"/>
                </a:gradFill>
                <a:effectLst/>
                <a:latin typeface="微软雅黑"/>
                <a:ea typeface="微软雅黑"/>
                <a:cs typeface="微软雅黑"/>
              </a:defRPr>
            </a:lvl1p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营销方案、模版</a:t>
            </a:r>
            <a:endParaRPr lang="zh-CN" altLang="en-US" sz="1200" dirty="0">
              <a:solidFill>
                <a:srgbClr val="383838"/>
              </a:solidFill>
              <a:latin typeface="微软雅黑"/>
              <a:ea typeface="微软雅黑"/>
              <a:cs typeface="微软雅黑"/>
            </a:endParaRPr>
          </a:p>
        </p:txBody>
      </p:sp>
      <p:grpSp>
        <p:nvGrpSpPr>
          <p:cNvPr id="224" name="组合 223"/>
          <p:cNvGrpSpPr/>
          <p:nvPr/>
        </p:nvGrpSpPr>
        <p:grpSpPr>
          <a:xfrm>
            <a:off x="2935381" y="6278447"/>
            <a:ext cx="1812603" cy="92300"/>
            <a:chOff x="2912521" y="5967932"/>
            <a:chExt cx="1812603" cy="92300"/>
          </a:xfrm>
        </p:grpSpPr>
        <p:sp>
          <p:nvSpPr>
            <p:cNvPr id="221" name="任意多边形: 形状 288"/>
            <p:cNvSpPr/>
            <p:nvPr/>
          </p:nvSpPr>
          <p:spPr>
            <a:xfrm>
              <a:off x="2912521" y="5967932"/>
              <a:ext cx="1812603" cy="69850"/>
            </a:xfrm>
            <a:custGeom>
              <a:avLst/>
              <a:gdLst>
                <a:gd name="connsiteX0" fmla="*/ 0 w 1885950"/>
                <a:gd name="connsiteY0" fmla="*/ 0 h 88900"/>
                <a:gd name="connsiteX1" fmla="*/ 0 w 1885950"/>
                <a:gd name="connsiteY1" fmla="*/ 88900 h 88900"/>
                <a:gd name="connsiteX2" fmla="*/ 1885950 w 1885950"/>
                <a:gd name="connsiteY2" fmla="*/ 88900 h 88900"/>
                <a:gd name="connsiteX3" fmla="*/ 1885950 w 1885950"/>
                <a:gd name="connsiteY3" fmla="*/ 0 h 88900"/>
              </a:gdLst>
              <a:ahLst/>
              <a:cxnLst>
                <a:cxn ang="0">
                  <a:pos x="connsiteX0" y="connsiteY0"/>
                </a:cxn>
                <a:cxn ang="0">
                  <a:pos x="connsiteX1" y="connsiteY1"/>
                </a:cxn>
                <a:cxn ang="0">
                  <a:pos x="connsiteX2" y="connsiteY2"/>
                </a:cxn>
                <a:cxn ang="0">
                  <a:pos x="connsiteX3" y="connsiteY3"/>
                </a:cxn>
              </a:cxnLst>
              <a:rect l="l" t="t" r="r" b="b"/>
              <a:pathLst>
                <a:path w="1885950" h="88900">
                  <a:moveTo>
                    <a:pt x="0" y="0"/>
                  </a:moveTo>
                  <a:lnTo>
                    <a:pt x="0" y="88900"/>
                  </a:lnTo>
                  <a:lnTo>
                    <a:pt x="1885950" y="88900"/>
                  </a:lnTo>
                  <a:lnTo>
                    <a:pt x="1885950" y="0"/>
                  </a:lnTo>
                </a:path>
              </a:pathLst>
            </a:custGeom>
            <a:noFill/>
            <a:ln w="6350" cap="flat">
              <a:solidFill>
                <a:srgbClr val="383838"/>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22" name="任意多边形: 形状 292"/>
            <p:cNvSpPr/>
            <p:nvPr/>
          </p:nvSpPr>
          <p:spPr>
            <a:xfrm>
              <a:off x="3799772" y="6022132"/>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rgbClr val="FFFFFF"/>
            </a:solidFill>
            <a:ln w="6350" cap="flat">
              <a:solidFill>
                <a:srgbClr val="383838"/>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sp>
        <p:nvSpPr>
          <p:cNvPr id="223" name="文本框 222"/>
          <p:cNvSpPr txBox="1"/>
          <p:nvPr/>
        </p:nvSpPr>
        <p:spPr>
          <a:xfrm>
            <a:off x="3318854" y="6404189"/>
            <a:ext cx="836768" cy="184666"/>
          </a:xfrm>
          <a:prstGeom prst="rect">
            <a:avLst/>
          </a:prstGeom>
          <a:noFill/>
          <a:effectLst>
            <a:outerShdw blurRad="190500" dist="127000" dir="5400000" algn="t" rotWithShape="0">
              <a:srgbClr val="0042FF">
                <a:alpha val="10000"/>
              </a:srgbClr>
            </a:outerShdw>
          </a:effectLst>
        </p:spPr>
        <p:txBody>
          <a:bodyPr wrap="none" lIns="0" tIns="0" rIns="0" bIns="0" rtlCol="0">
            <a:spAutoFit/>
          </a:bodyPr>
          <a:lstStyle>
            <a:defPPr>
              <a:defRPr lang="zh-CN">
                <a:latin typeface="微软雅黑"/>
                <a:ea typeface="微软雅黑"/>
                <a:cs typeface="微软雅黑"/>
              </a:defRPr>
            </a:defPPr>
            <a:lvl1pPr>
              <a:defRPr sz="1400">
                <a:gradFill>
                  <a:gsLst>
                    <a:gs pos="0">
                      <a:srgbClr val="0042FF"/>
                    </a:gs>
                    <a:gs pos="50000">
                      <a:srgbClr val="0042FF"/>
                    </a:gs>
                    <a:gs pos="100000">
                      <a:srgbClr val="0042FF"/>
                    </a:gs>
                  </a:gsLst>
                  <a:lin ang="0" scaled="0"/>
                </a:gradFill>
                <a:effectLst/>
                <a:latin typeface="微软雅黑"/>
                <a:ea typeface="微软雅黑"/>
                <a:cs typeface="微软雅黑"/>
              </a:defRPr>
            </a:lvl1p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数据服务支持</a:t>
            </a:r>
            <a:endParaRPr lang="zh-CN" altLang="en-US" sz="1200" dirty="0">
              <a:solidFill>
                <a:srgbClr val="383838"/>
              </a:solidFill>
              <a:latin typeface="微软雅黑"/>
              <a:ea typeface="微软雅黑"/>
              <a:cs typeface="微软雅黑"/>
            </a:endParaRPr>
          </a:p>
        </p:txBody>
      </p:sp>
      <p:grpSp>
        <p:nvGrpSpPr>
          <p:cNvPr id="2" name="组合 1"/>
          <p:cNvGrpSpPr/>
          <p:nvPr/>
        </p:nvGrpSpPr>
        <p:grpSpPr>
          <a:xfrm>
            <a:off x="8738235" y="348615"/>
            <a:ext cx="3219450" cy="332740"/>
            <a:chOff x="13761" y="549"/>
            <a:chExt cx="5070" cy="524"/>
          </a:xfrm>
        </p:grpSpPr>
        <p:pic>
          <p:nvPicPr>
            <p:cNvPr id="7" name="图片 6"/>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cxnSp>
        <p:nvCxnSpPr>
          <p:cNvPr id="1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天蝎PPT1"/>
          <p:cNvPicPr>
            <a:picLocks noChangeAspect="1"/>
          </p:cNvPicPr>
          <p:nvPr/>
        </p:nvPicPr>
        <p:blipFill rotWithShape="1">
          <a:blip r:embed="rId1" cstate="email"/>
          <a:srcRect/>
          <a:stretch>
            <a:fillRect/>
          </a:stretch>
        </p:blipFill>
        <p:spPr>
          <a:xfrm flipH="1">
            <a:off x="4431665" y="1270"/>
            <a:ext cx="7755825" cy="6858000"/>
          </a:xfrm>
          <a:prstGeom prst="rect">
            <a:avLst/>
          </a:prstGeom>
        </p:spPr>
      </p:pic>
      <p:sp>
        <p:nvSpPr>
          <p:cNvPr id="36" name="矩形 35"/>
          <p:cNvSpPr/>
          <p:nvPr/>
        </p:nvSpPr>
        <p:spPr>
          <a:xfrm>
            <a:off x="0" y="-5080"/>
            <a:ext cx="12268200" cy="6858000"/>
          </a:xfrm>
          <a:prstGeom prst="rect">
            <a:avLst/>
          </a:prstGeom>
          <a:gradFill>
            <a:gsLst>
              <a:gs pos="0">
                <a:srgbClr val="FFFFFF"/>
              </a:gs>
              <a:gs pos="100000">
                <a:srgbClr val="DCDCDC">
                  <a:alpha val="50000"/>
                </a:srgbClr>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0" y="-5080"/>
            <a:ext cx="5048250" cy="6858000"/>
          </a:xfrm>
          <a:prstGeom prst="rect">
            <a:avLst/>
          </a:prstGeom>
          <a:gradFill>
            <a:gsLst>
              <a:gs pos="0">
                <a:srgbClr val="E6E6E6"/>
              </a:gs>
              <a:gs pos="100000">
                <a:srgbClr val="E6E6E6"/>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 name="文本框 5"/>
          <p:cNvSpPr txBox="1"/>
          <p:nvPr/>
        </p:nvSpPr>
        <p:spPr>
          <a:xfrm>
            <a:off x="585470" y="1805940"/>
            <a:ext cx="3877310" cy="58356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200" b="1" spc="-150" noProof="0" dirty="0">
                <a:ln>
                  <a:noFill/>
                </a:ln>
                <a:solidFill>
                  <a:srgbClr val="0042FF"/>
                </a:solidFill>
                <a:effectLst/>
                <a:uLnTx/>
                <a:uFillTx/>
                <a:latin typeface="微软雅黑"/>
                <a:ea typeface="微软雅黑"/>
                <a:cs typeface="微软雅黑"/>
                <a:sym typeface="微软雅黑"/>
              </a:rPr>
              <a:t>循环逻辑架构</a:t>
            </a:r>
            <a:endParaRPr lang="zh-CN" altLang="en-US" sz="3200" b="1" spc="-150" noProof="0" dirty="0">
              <a:ln>
                <a:noFill/>
              </a:ln>
              <a:solidFill>
                <a:srgbClr val="0042FF"/>
              </a:solidFill>
              <a:effectLst/>
              <a:uLnTx/>
              <a:uFillTx/>
              <a:latin typeface="微软雅黑"/>
              <a:ea typeface="微软雅黑"/>
              <a:cs typeface="微软雅黑"/>
              <a:sym typeface="微软雅黑"/>
            </a:endParaRPr>
          </a:p>
        </p:txBody>
      </p:sp>
      <p:sp>
        <p:nvSpPr>
          <p:cNvPr id="9" name="文本框 8"/>
          <p:cNvSpPr txBox="1"/>
          <p:nvPr/>
        </p:nvSpPr>
        <p:spPr>
          <a:xfrm>
            <a:off x="819150" y="2527300"/>
            <a:ext cx="3409950" cy="58356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en-US" altLang="zh-CN" sz="1600">
                <a:solidFill>
                  <a:srgbClr val="383838"/>
                </a:solidFill>
                <a:latin typeface="微软雅黑"/>
                <a:ea typeface="微软雅黑"/>
                <a:cs typeface="微软雅黑"/>
                <a:sym typeface="微软雅黑"/>
              </a:rPr>
              <a:t>Circular Logic Framework</a:t>
            </a:r>
            <a:endParaRPr lang="en-US" altLang="zh-CN" sz="1600">
              <a:solidFill>
                <a:srgbClr val="383838"/>
              </a:solidFill>
              <a:latin typeface="微软雅黑"/>
              <a:ea typeface="微软雅黑"/>
              <a:cs typeface="微软雅黑"/>
              <a:sym typeface="微软雅黑"/>
            </a:endParaRPr>
          </a:p>
          <a:p>
            <a:pPr lvl="0" algn="ctr" fontAlgn="ctr">
              <a:buClrTx/>
              <a:buSzTx/>
              <a:buFontTx/>
              <a:defRPr>
                <a:latin typeface="微软雅黑"/>
                <a:ea typeface="微软雅黑"/>
                <a:cs typeface="微软雅黑"/>
              </a:defRPr>
            </a:pPr>
            <a:endParaRPr lang="en-US" altLang="zh-CN" sz="1600">
              <a:solidFill>
                <a:srgbClr val="383838"/>
              </a:solidFill>
              <a:latin typeface="微软雅黑"/>
              <a:ea typeface="微软雅黑"/>
              <a:cs typeface="微软雅黑"/>
              <a:sym typeface="微软雅黑"/>
            </a:endParaRPr>
          </a:p>
        </p:txBody>
      </p:sp>
      <p:sp>
        <p:nvSpPr>
          <p:cNvPr id="12" name="矩形 11"/>
          <p:cNvSpPr/>
          <p:nvPr/>
        </p:nvSpPr>
        <p:spPr>
          <a:xfrm>
            <a:off x="1339215" y="2403475"/>
            <a:ext cx="396240" cy="36195"/>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0" name="文本框 29"/>
          <p:cNvSpPr txBox="1"/>
          <p:nvPr/>
        </p:nvSpPr>
        <p:spPr>
          <a:xfrm>
            <a:off x="2000885" y="833755"/>
            <a:ext cx="1046480" cy="860425"/>
          </a:xfrm>
          <a:prstGeom prst="rect">
            <a:avLst/>
          </a:prstGeom>
          <a:noFill/>
        </p:spPr>
        <p:txBody>
          <a:bodyPr wrap="square" rtlCol="0" anchor="ctr" anchorCtr="0">
            <a:noAutofit/>
          </a:bodyPr>
          <a:lstStyle/>
          <a:p>
            <a:pPr lvl="0" algn="ctr" fontAlgn="ctr">
              <a:buClrTx/>
              <a:buSzTx/>
              <a:buFontTx/>
              <a:defRPr>
                <a:latin typeface="微软雅黑"/>
                <a:ea typeface="微软雅黑"/>
                <a:cs typeface="微软雅黑"/>
              </a:defRPr>
            </a:pPr>
            <a:r>
              <a:rPr lang="zh-CN" altLang="en-US" sz="5000" b="1">
                <a:solidFill>
                  <a:srgbClr val="383838"/>
                </a:solidFill>
                <a:latin typeface="微软雅黑"/>
                <a:ea typeface="微软雅黑"/>
                <a:cs typeface="微软雅黑"/>
                <a:sym typeface="微软雅黑"/>
              </a:rPr>
              <a:t>④</a:t>
            </a:r>
            <a:endParaRPr lang="zh-CN" altLang="en-US" sz="5000" b="1">
              <a:solidFill>
                <a:srgbClr val="383838"/>
              </a:solidFill>
              <a:latin typeface="微软雅黑"/>
              <a:ea typeface="微软雅黑"/>
              <a:cs typeface="微软雅黑"/>
              <a:sym typeface="微软雅黑"/>
            </a:endParaRPr>
          </a:p>
        </p:txBody>
      </p:sp>
      <p:sp>
        <p:nvSpPr>
          <p:cNvPr id="52" name="文本框 51"/>
          <p:cNvSpPr txBox="1"/>
          <p:nvPr/>
        </p:nvSpPr>
        <p:spPr>
          <a:xfrm>
            <a:off x="5697220" y="2173605"/>
            <a:ext cx="5712460" cy="2676525"/>
          </a:xfrm>
          <a:prstGeom prst="rect">
            <a:avLst/>
          </a:prstGeom>
          <a:noFill/>
        </p:spPr>
        <p:txBody>
          <a:bodyPr wrap="square" rtlCol="0">
            <a:spAutoFit/>
          </a:bodyPr>
          <a:lstStyle/>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设计元素：</a:t>
            </a:r>
            <a:r>
              <a:rPr lang="zh-CN" altLang="en-US" sz="1400">
                <a:solidFill>
                  <a:srgbClr val="383838"/>
                </a:solidFill>
                <a:latin typeface="微软雅黑"/>
                <a:ea typeface="微软雅黑"/>
                <a:cs typeface="微软雅黑"/>
                <a:sym typeface="微软雅黑"/>
              </a:rPr>
              <a:t>以核心主体为中心，通过环形、树状或网状结构直观展示循环关系，添加箭头或渐变颜色标注循环方向，若涉及多层循环（如战略层、执行层），用嵌套环形图分层呈现。</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应用场景：</a:t>
            </a:r>
            <a:r>
              <a:rPr lang="zh-CN" altLang="en-US" sz="1400">
                <a:solidFill>
                  <a:srgbClr val="383838"/>
                </a:solidFill>
                <a:latin typeface="微软雅黑"/>
                <a:ea typeface="微软雅黑"/>
                <a:cs typeface="微软雅黑"/>
                <a:sym typeface="微软雅黑"/>
              </a:rPr>
              <a:t>主要应用如分析问题的起点和终点形成的思考闭环、业务流程循环图、时间上周期性的复盘、软件开发中</a:t>
            </a:r>
            <a:r>
              <a:rPr lang="en-US" altLang="zh-CN" sz="1400">
                <a:solidFill>
                  <a:srgbClr val="383838"/>
                </a:solidFill>
                <a:latin typeface="微软雅黑"/>
                <a:ea typeface="微软雅黑"/>
                <a:cs typeface="微软雅黑"/>
                <a:sym typeface="微软雅黑"/>
              </a:rPr>
              <a:t>“</a:t>
            </a:r>
            <a:r>
              <a:rPr lang="zh-CN" altLang="en-US" sz="1400">
                <a:solidFill>
                  <a:srgbClr val="383838"/>
                </a:solidFill>
                <a:latin typeface="微软雅黑"/>
                <a:ea typeface="微软雅黑"/>
                <a:cs typeface="微软雅黑"/>
                <a:sym typeface="微软雅黑"/>
              </a:rPr>
              <a:t>需求迭代</a:t>
            </a:r>
            <a:r>
              <a:rPr lang="en-US" altLang="zh-CN" sz="1400">
                <a:solidFill>
                  <a:srgbClr val="383838"/>
                </a:solidFill>
                <a:latin typeface="微软雅黑"/>
                <a:ea typeface="微软雅黑"/>
                <a:cs typeface="微软雅黑"/>
                <a:sym typeface="微软雅黑"/>
              </a:rPr>
              <a:t>”</a:t>
            </a:r>
            <a:r>
              <a:rPr lang="zh-CN" altLang="en-US" sz="1400">
                <a:solidFill>
                  <a:srgbClr val="383838"/>
                </a:solidFill>
                <a:latin typeface="微软雅黑"/>
                <a:ea typeface="微软雅黑"/>
                <a:cs typeface="微软雅黑"/>
                <a:sym typeface="微软雅黑"/>
              </a:rPr>
              <a:t>的循环等，循环逻辑架构</a:t>
            </a:r>
            <a:r>
              <a:rPr lang="en-US" altLang="zh-CN" sz="1400">
                <a:solidFill>
                  <a:srgbClr val="383838"/>
                </a:solidFill>
                <a:latin typeface="微软雅黑"/>
                <a:ea typeface="微软雅黑"/>
                <a:cs typeface="微软雅黑"/>
                <a:sym typeface="微软雅黑"/>
              </a:rPr>
              <a:t>PPT</a:t>
            </a:r>
            <a:r>
              <a:rPr lang="zh-CN" altLang="en-US" sz="1400">
                <a:solidFill>
                  <a:srgbClr val="383838"/>
                </a:solidFill>
                <a:latin typeface="微软雅黑"/>
                <a:ea typeface="微软雅黑"/>
                <a:cs typeface="微软雅黑"/>
                <a:sym typeface="微软雅黑"/>
              </a:rPr>
              <a:t>不仅能清晰传达动态闭环系统的复杂性，还能直接关联实际业务场景，增强决策说服力。</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核心关键词：</a:t>
            </a:r>
            <a:r>
              <a:rPr lang="zh-CN" altLang="en-US" sz="1400">
                <a:solidFill>
                  <a:srgbClr val="383838"/>
                </a:solidFill>
                <a:latin typeface="微软雅黑"/>
                <a:ea typeface="微软雅黑"/>
                <a:cs typeface="微软雅黑"/>
                <a:sym typeface="微软雅黑"/>
              </a:rPr>
              <a:t>「闭环结构、循环方向、动态反馈</a:t>
            </a:r>
            <a:r>
              <a:rPr lang="en-US" altLang="zh-CN" sz="1400">
                <a:solidFill>
                  <a:srgbClr val="383838"/>
                </a:solidFill>
                <a:latin typeface="微软雅黑"/>
                <a:ea typeface="微软雅黑"/>
                <a:cs typeface="微软雅黑"/>
                <a:sym typeface="微软雅黑"/>
              </a:rPr>
              <a:t>​</a:t>
            </a:r>
            <a:r>
              <a:rPr lang="zh-CN" altLang="en-US" sz="1400">
                <a:solidFill>
                  <a:srgbClr val="383838"/>
                </a:solidFill>
                <a:latin typeface="微软雅黑"/>
                <a:ea typeface="微软雅黑"/>
                <a:cs typeface="微软雅黑"/>
                <a:sym typeface="微软雅黑"/>
              </a:rPr>
              <a:t>」。</a:t>
            </a:r>
            <a:endParaRPr lang="zh-CN" altLang="en-US" sz="1400">
              <a:solidFill>
                <a:srgbClr val="383838"/>
              </a:solidFill>
              <a:latin typeface="微软雅黑"/>
              <a:ea typeface="微软雅黑"/>
              <a:cs typeface="微软雅黑"/>
              <a:sym typeface="微软雅黑"/>
            </a:endParaRPr>
          </a:p>
        </p:txBody>
      </p:sp>
      <p:grpSp>
        <p:nvGrpSpPr>
          <p:cNvPr id="159" name="组合 158"/>
          <p:cNvGrpSpPr/>
          <p:nvPr>
            <p:custDataLst>
              <p:tags r:id="rId2"/>
            </p:custDataLst>
          </p:nvPr>
        </p:nvGrpSpPr>
        <p:grpSpPr>
          <a:xfrm>
            <a:off x="1471295" y="3474720"/>
            <a:ext cx="2005330" cy="2004695"/>
            <a:chOff x="2917" y="9383"/>
            <a:chExt cx="2530" cy="2529"/>
          </a:xfrm>
        </p:grpSpPr>
        <p:pic>
          <p:nvPicPr>
            <p:cNvPr id="5" name="图片 4" descr="左右箭头-2"/>
            <p:cNvPicPr>
              <a:picLocks noChangeAspect="1"/>
            </p:cNvPicPr>
            <p:nvPr>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4171" y="10609"/>
              <a:ext cx="79" cy="79"/>
            </a:xfrm>
            <a:prstGeom prst="rect">
              <a:avLst/>
            </a:prstGeom>
          </p:spPr>
        </p:pic>
        <p:sp>
          <p:nvSpPr>
            <p:cNvPr id="7" name="紫荆的职场Point8"/>
            <p:cNvSpPr/>
            <p:nvPr>
              <p:custDataLst>
                <p:tags r:id="rId6"/>
              </p:custDataLst>
            </p:nvPr>
          </p:nvSpPr>
          <p:spPr bwMode="auto">
            <a:xfrm>
              <a:off x="4470" y="10061"/>
              <a:ext cx="479" cy="498"/>
            </a:xfrm>
            <a:custGeom>
              <a:avLst/>
              <a:gdLst>
                <a:gd name="connsiteX0" fmla="*/ 619628 w 1306515"/>
                <a:gd name="connsiteY0" fmla="*/ 0 h 1357311"/>
                <a:gd name="connsiteX1" fmla="*/ 1306515 w 1306515"/>
                <a:gd name="connsiteY1" fmla="*/ 1189815 h 1357311"/>
                <a:gd name="connsiteX2" fmla="*/ 357258 w 1306515"/>
                <a:gd name="connsiteY2" fmla="*/ 1357311 h 1357311"/>
                <a:gd name="connsiteX3" fmla="*/ 0 w 1306515"/>
                <a:gd name="connsiteY3" fmla="*/ 738585 h 1357311"/>
              </a:gdLst>
              <a:ahLst/>
              <a:cxnLst>
                <a:cxn ang="0">
                  <a:pos x="connsiteX0" y="connsiteY0"/>
                </a:cxn>
                <a:cxn ang="0">
                  <a:pos x="connsiteX1" y="connsiteY1"/>
                </a:cxn>
                <a:cxn ang="0">
                  <a:pos x="connsiteX2" y="connsiteY2"/>
                </a:cxn>
                <a:cxn ang="0">
                  <a:pos x="connsiteX3" y="connsiteY3"/>
                </a:cxn>
              </a:cxnLst>
              <a:rect l="l" t="t" r="r" b="b"/>
              <a:pathLst>
                <a:path w="1306515" h="1357311">
                  <a:moveTo>
                    <a:pt x="619628" y="0"/>
                  </a:moveTo>
                  <a:cubicBezTo>
                    <a:pt x="981268" y="303552"/>
                    <a:pt x="1224584" y="724865"/>
                    <a:pt x="1306515" y="1189815"/>
                  </a:cubicBezTo>
                  <a:lnTo>
                    <a:pt x="357258" y="1357311"/>
                  </a:lnTo>
                  <a:cubicBezTo>
                    <a:pt x="314577" y="1115499"/>
                    <a:pt x="188060" y="896363"/>
                    <a:pt x="0" y="738585"/>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8" name="紫荆的职场Point9"/>
            <p:cNvSpPr/>
            <p:nvPr>
              <p:custDataLst>
                <p:tags r:id="rId7"/>
              </p:custDataLst>
            </p:nvPr>
          </p:nvSpPr>
          <p:spPr bwMode="auto">
            <a:xfrm>
              <a:off x="4560" y="10531"/>
              <a:ext cx="405" cy="497"/>
            </a:xfrm>
            <a:custGeom>
              <a:avLst/>
              <a:gdLst>
                <a:gd name="connsiteX0" fmla="*/ 1072263 w 1102722"/>
                <a:gd name="connsiteY0" fmla="*/ 0 h 1352548"/>
                <a:gd name="connsiteX1" fmla="*/ 833940 w 1102722"/>
                <a:gd name="connsiteY1" fmla="*/ 1352548 h 1352548"/>
                <a:gd name="connsiteX2" fmla="*/ 0 w 1102722"/>
                <a:gd name="connsiteY2" fmla="*/ 870774 h 1352548"/>
                <a:gd name="connsiteX3" fmla="*/ 123920 w 1102722"/>
                <a:gd name="connsiteY3" fmla="*/ 167449 h 1352548"/>
              </a:gdLst>
              <a:ahLst/>
              <a:cxnLst>
                <a:cxn ang="0">
                  <a:pos x="connsiteX0" y="connsiteY0"/>
                </a:cxn>
                <a:cxn ang="0">
                  <a:pos x="connsiteX1" y="connsiteY1"/>
                </a:cxn>
                <a:cxn ang="0">
                  <a:pos x="connsiteX2" y="connsiteY2"/>
                </a:cxn>
                <a:cxn ang="0">
                  <a:pos x="connsiteX3" y="connsiteY3"/>
                </a:cxn>
              </a:cxnLst>
              <a:rect l="l" t="t" r="r" b="b"/>
              <a:pathLst>
                <a:path w="1102722" h="1352548">
                  <a:moveTo>
                    <a:pt x="1072263" y="0"/>
                  </a:moveTo>
                  <a:cubicBezTo>
                    <a:pt x="1154115" y="465010"/>
                    <a:pt x="1069788" y="943736"/>
                    <a:pt x="833940" y="1352548"/>
                  </a:cubicBezTo>
                  <a:lnTo>
                    <a:pt x="0" y="870774"/>
                  </a:lnTo>
                  <a:cubicBezTo>
                    <a:pt x="122588" y="658177"/>
                    <a:pt x="166560" y="409194"/>
                    <a:pt x="123920" y="167449"/>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8" name="紫荆的职场Point10"/>
            <p:cNvSpPr/>
            <p:nvPr>
              <p:custDataLst>
                <p:tags r:id="rId8"/>
              </p:custDataLst>
            </p:nvPr>
          </p:nvSpPr>
          <p:spPr bwMode="auto">
            <a:xfrm>
              <a:off x="4344" y="10874"/>
              <a:ext cx="507" cy="502"/>
            </a:xfrm>
            <a:custGeom>
              <a:avLst/>
              <a:gdLst>
                <a:gd name="connsiteX0" fmla="*/ 547519 w 1382715"/>
                <a:gd name="connsiteY0" fmla="*/ 0 h 1365248"/>
                <a:gd name="connsiteX1" fmla="*/ 1382715 w 1382715"/>
                <a:gd name="connsiteY1" fmla="*/ 482144 h 1365248"/>
                <a:gd name="connsiteX2" fmla="*/ 329808 w 1382715"/>
                <a:gd name="connsiteY2" fmla="*/ 1365248 h 1365248"/>
                <a:gd name="connsiteX3" fmla="*/ 0 w 1382715"/>
                <a:gd name="connsiteY3" fmla="*/ 459275 h 1365248"/>
                <a:gd name="connsiteX4" fmla="*/ 547519 w 1382715"/>
                <a:gd name="connsiteY4" fmla="*/ 0 h 1365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2715" h="1365248">
                  <a:moveTo>
                    <a:pt x="547519" y="0"/>
                  </a:moveTo>
                  <a:lnTo>
                    <a:pt x="1382715" y="482144"/>
                  </a:lnTo>
                  <a:cubicBezTo>
                    <a:pt x="1146512" y="891108"/>
                    <a:pt x="773810" y="1203835"/>
                    <a:pt x="329808" y="1365248"/>
                  </a:cubicBezTo>
                  <a:lnTo>
                    <a:pt x="0" y="459275"/>
                  </a:lnTo>
                  <a:cubicBezTo>
                    <a:pt x="230866" y="375424"/>
                    <a:pt x="424556" y="212677"/>
                    <a:pt x="547519"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0" name="紫荆的职场Point11"/>
            <p:cNvSpPr/>
            <p:nvPr>
              <p:custDataLst>
                <p:tags r:id="rId9"/>
              </p:custDataLst>
            </p:nvPr>
          </p:nvSpPr>
          <p:spPr bwMode="auto">
            <a:xfrm>
              <a:off x="3932" y="11053"/>
              <a:ext cx="504" cy="377"/>
            </a:xfrm>
            <a:custGeom>
              <a:avLst/>
              <a:gdLst>
                <a:gd name="connsiteX0" fmla="*/ 329870 w 1374777"/>
                <a:gd name="connsiteY0" fmla="*/ 0 h 1026426"/>
                <a:gd name="connsiteX1" fmla="*/ 1044716 w 1374777"/>
                <a:gd name="connsiteY1" fmla="*/ 0 h 1026426"/>
                <a:gd name="connsiteX2" fmla="*/ 1374777 w 1374777"/>
                <a:gd name="connsiteY2" fmla="*/ 905312 h 1026426"/>
                <a:gd name="connsiteX3" fmla="*/ 0 w 1374777"/>
                <a:gd name="connsiteY3" fmla="*/ 905312 h 1026426"/>
              </a:gdLst>
              <a:ahLst/>
              <a:cxnLst>
                <a:cxn ang="0">
                  <a:pos x="connsiteX0" y="connsiteY0"/>
                </a:cxn>
                <a:cxn ang="0">
                  <a:pos x="connsiteX1" y="connsiteY1"/>
                </a:cxn>
                <a:cxn ang="0">
                  <a:pos x="connsiteX2" y="connsiteY2"/>
                </a:cxn>
                <a:cxn ang="0">
                  <a:pos x="connsiteX3" y="connsiteY3"/>
                </a:cxn>
              </a:cxnLst>
              <a:rect l="l" t="t" r="r" b="b"/>
              <a:pathLst>
                <a:path w="1374777" h="1026426">
                  <a:moveTo>
                    <a:pt x="329870" y="0"/>
                  </a:moveTo>
                  <a:cubicBezTo>
                    <a:pt x="560779" y="83981"/>
                    <a:pt x="813807" y="83981"/>
                    <a:pt x="1044716" y="0"/>
                  </a:cubicBezTo>
                  <a:lnTo>
                    <a:pt x="1374777" y="905312"/>
                  </a:lnTo>
                  <a:cubicBezTo>
                    <a:pt x="930692" y="1066798"/>
                    <a:pt x="443895" y="1066798"/>
                    <a:pt x="0" y="905312"/>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2" name="紫荆的职场Point12"/>
            <p:cNvSpPr/>
            <p:nvPr>
              <p:custDataLst>
                <p:tags r:id="rId10"/>
              </p:custDataLst>
            </p:nvPr>
          </p:nvSpPr>
          <p:spPr bwMode="auto">
            <a:xfrm>
              <a:off x="3518" y="10874"/>
              <a:ext cx="507" cy="502"/>
            </a:xfrm>
            <a:custGeom>
              <a:avLst/>
              <a:gdLst>
                <a:gd name="connsiteX0" fmla="*/ 834237 w 1381127"/>
                <a:gd name="connsiteY0" fmla="*/ 0 h 1365248"/>
                <a:gd name="connsiteX1" fmla="*/ 1381127 w 1381127"/>
                <a:gd name="connsiteY1" fmla="*/ 459275 h 1365248"/>
                <a:gd name="connsiteX2" fmla="*/ 1051508 w 1381127"/>
                <a:gd name="connsiteY2" fmla="*/ 1365248 h 1365248"/>
                <a:gd name="connsiteX3" fmla="*/ 0 w 1381127"/>
                <a:gd name="connsiteY3" fmla="*/ 482144 h 1365248"/>
              </a:gdLst>
              <a:ahLst/>
              <a:cxnLst>
                <a:cxn ang="0">
                  <a:pos x="connsiteX0" y="connsiteY0"/>
                </a:cxn>
                <a:cxn ang="0">
                  <a:pos x="connsiteX1" y="connsiteY1"/>
                </a:cxn>
                <a:cxn ang="0">
                  <a:pos x="connsiteX2" y="connsiteY2"/>
                </a:cxn>
                <a:cxn ang="0">
                  <a:pos x="connsiteX3" y="connsiteY3"/>
                </a:cxn>
              </a:cxnLst>
              <a:rect l="l" t="t" r="r" b="b"/>
              <a:pathLst>
                <a:path w="1381127" h="1365248">
                  <a:moveTo>
                    <a:pt x="834237" y="0"/>
                  </a:moveTo>
                  <a:cubicBezTo>
                    <a:pt x="956868" y="212677"/>
                    <a:pt x="1150527" y="375424"/>
                    <a:pt x="1381127" y="459275"/>
                  </a:cubicBezTo>
                  <a:lnTo>
                    <a:pt x="1051508" y="1365248"/>
                  </a:lnTo>
                  <a:cubicBezTo>
                    <a:pt x="608206" y="1203835"/>
                    <a:pt x="235742" y="891108"/>
                    <a:pt x="0" y="482144"/>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 name="紫荆的职场Point13"/>
            <p:cNvSpPr/>
            <p:nvPr>
              <p:custDataLst>
                <p:tags r:id="rId11"/>
              </p:custDataLst>
            </p:nvPr>
          </p:nvSpPr>
          <p:spPr bwMode="auto">
            <a:xfrm>
              <a:off x="3404" y="10527"/>
              <a:ext cx="405" cy="497"/>
            </a:xfrm>
            <a:custGeom>
              <a:avLst/>
              <a:gdLst>
                <a:gd name="connsiteX0" fmla="*/ 30497 w 1104248"/>
                <a:gd name="connsiteY0" fmla="*/ 0 h 1352548"/>
                <a:gd name="connsiteX1" fmla="*/ 980178 w 1104248"/>
                <a:gd name="connsiteY1" fmla="*/ 167449 h 1352548"/>
                <a:gd name="connsiteX2" fmla="*/ 1104248 w 1104248"/>
                <a:gd name="connsiteY2" fmla="*/ 870774 h 1352548"/>
                <a:gd name="connsiteX3" fmla="*/ 269109 w 1104248"/>
                <a:gd name="connsiteY3" fmla="*/ 1352548 h 1352548"/>
                <a:gd name="connsiteX4" fmla="*/ 30497 w 1104248"/>
                <a:gd name="connsiteY4" fmla="*/ 0 h 135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248" h="1352548">
                  <a:moveTo>
                    <a:pt x="30497" y="0"/>
                  </a:moveTo>
                  <a:lnTo>
                    <a:pt x="980178" y="167449"/>
                  </a:lnTo>
                  <a:cubicBezTo>
                    <a:pt x="937487" y="409194"/>
                    <a:pt x="981321" y="658177"/>
                    <a:pt x="1104248" y="870774"/>
                  </a:cubicBezTo>
                  <a:lnTo>
                    <a:pt x="269109" y="1352548"/>
                  </a:lnTo>
                  <a:cubicBezTo>
                    <a:pt x="32975" y="943736"/>
                    <a:pt x="-51454" y="465010"/>
                    <a:pt x="30497"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4" name="紫荆的职场Point14"/>
            <p:cNvSpPr/>
            <p:nvPr>
              <p:custDataLst>
                <p:tags r:id="rId12"/>
              </p:custDataLst>
            </p:nvPr>
          </p:nvSpPr>
          <p:spPr bwMode="auto">
            <a:xfrm>
              <a:off x="3421" y="10061"/>
              <a:ext cx="479" cy="498"/>
            </a:xfrm>
            <a:custGeom>
              <a:avLst/>
              <a:gdLst>
                <a:gd name="connsiteX0" fmla="*/ 686888 w 1306515"/>
                <a:gd name="connsiteY0" fmla="*/ 0 h 1357311"/>
                <a:gd name="connsiteX1" fmla="*/ 1306515 w 1306515"/>
                <a:gd name="connsiteY1" fmla="*/ 738593 h 1357311"/>
                <a:gd name="connsiteX2" fmla="*/ 949353 w 1306515"/>
                <a:gd name="connsiteY2" fmla="*/ 1357311 h 1357311"/>
                <a:gd name="connsiteX3" fmla="*/ 0 w 1306515"/>
                <a:gd name="connsiteY3" fmla="*/ 1189887 h 1357311"/>
                <a:gd name="connsiteX4" fmla="*/ 686888 w 1306515"/>
                <a:gd name="connsiteY4" fmla="*/ 0 h 13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6515" h="1357311">
                  <a:moveTo>
                    <a:pt x="686888" y="0"/>
                  </a:moveTo>
                  <a:lnTo>
                    <a:pt x="1306515" y="738593"/>
                  </a:lnTo>
                  <a:cubicBezTo>
                    <a:pt x="1118455" y="896393"/>
                    <a:pt x="991938" y="1115465"/>
                    <a:pt x="949353" y="1357311"/>
                  </a:cubicBezTo>
                  <a:lnTo>
                    <a:pt x="0" y="1189887"/>
                  </a:lnTo>
                  <a:cubicBezTo>
                    <a:pt x="82027" y="724776"/>
                    <a:pt x="325248" y="303499"/>
                    <a:pt x="686888"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 name="紫荆的职场Point15"/>
            <p:cNvSpPr/>
            <p:nvPr>
              <p:custDataLst>
                <p:tags r:id="rId13"/>
              </p:custDataLst>
            </p:nvPr>
          </p:nvSpPr>
          <p:spPr bwMode="auto">
            <a:xfrm>
              <a:off x="3696" y="9869"/>
              <a:ext cx="474" cy="443"/>
            </a:xfrm>
            <a:custGeom>
              <a:avLst/>
              <a:gdLst>
                <a:gd name="connsiteX0" fmla="*/ 1290640 w 1290640"/>
                <a:gd name="connsiteY0" fmla="*/ 0 h 1208086"/>
                <a:gd name="connsiteX1" fmla="*/ 1290640 w 1290640"/>
                <a:gd name="connsiteY1" fmla="*/ 963840 h 1208086"/>
                <a:gd name="connsiteX2" fmla="*/ 619599 w 1290640"/>
                <a:gd name="connsiteY2" fmla="*/ 1208086 h 1208086"/>
                <a:gd name="connsiteX3" fmla="*/ 0 w 1290640"/>
                <a:gd name="connsiteY3" fmla="*/ 469631 h 1208086"/>
                <a:gd name="connsiteX4" fmla="*/ 1290640 w 1290640"/>
                <a:gd name="connsiteY4" fmla="*/ 0 h 120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40" h="1208086">
                  <a:moveTo>
                    <a:pt x="1290640" y="0"/>
                  </a:moveTo>
                  <a:lnTo>
                    <a:pt x="1290640" y="963840"/>
                  </a:lnTo>
                  <a:cubicBezTo>
                    <a:pt x="1045239" y="963840"/>
                    <a:pt x="807650" y="1050336"/>
                    <a:pt x="619599" y="1208086"/>
                  </a:cubicBezTo>
                  <a:lnTo>
                    <a:pt x="0" y="469631"/>
                  </a:lnTo>
                  <a:cubicBezTo>
                    <a:pt x="361623" y="166324"/>
                    <a:pt x="818701" y="0"/>
                    <a:pt x="1290640" y="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6" name="紫荆的职场Point16"/>
            <p:cNvSpPr/>
            <p:nvPr>
              <p:custDataLst>
                <p:tags r:id="rId14"/>
              </p:custDataLst>
            </p:nvPr>
          </p:nvSpPr>
          <p:spPr bwMode="auto">
            <a:xfrm>
              <a:off x="4200" y="9869"/>
              <a:ext cx="474" cy="443"/>
            </a:xfrm>
            <a:custGeom>
              <a:avLst/>
              <a:gdLst>
                <a:gd name="connsiteX0" fmla="*/ 0 w 1290640"/>
                <a:gd name="connsiteY0" fmla="*/ 0 h 1208086"/>
                <a:gd name="connsiteX1" fmla="*/ 1290640 w 1290640"/>
                <a:gd name="connsiteY1" fmla="*/ 469631 h 1208086"/>
                <a:gd name="connsiteX2" fmla="*/ 671133 w 1290640"/>
                <a:gd name="connsiteY2" fmla="*/ 1208086 h 1208086"/>
                <a:gd name="connsiteX3" fmla="*/ 0 w 1290640"/>
                <a:gd name="connsiteY3" fmla="*/ 963840 h 1208086"/>
              </a:gdLst>
              <a:ahLst/>
              <a:cxnLst>
                <a:cxn ang="0">
                  <a:pos x="connsiteX0" y="connsiteY0"/>
                </a:cxn>
                <a:cxn ang="0">
                  <a:pos x="connsiteX1" y="connsiteY1"/>
                </a:cxn>
                <a:cxn ang="0">
                  <a:pos x="connsiteX2" y="connsiteY2"/>
                </a:cxn>
                <a:cxn ang="0">
                  <a:pos x="connsiteX3" y="connsiteY3"/>
                </a:cxn>
              </a:cxnLst>
              <a:rect l="l" t="t" r="r" b="b"/>
              <a:pathLst>
                <a:path w="1290640" h="1208086">
                  <a:moveTo>
                    <a:pt x="0" y="0"/>
                  </a:moveTo>
                  <a:cubicBezTo>
                    <a:pt x="472060" y="0"/>
                    <a:pt x="929070" y="166324"/>
                    <a:pt x="1290640" y="469631"/>
                  </a:cubicBezTo>
                  <a:lnTo>
                    <a:pt x="671133" y="1208086"/>
                  </a:lnTo>
                  <a:cubicBezTo>
                    <a:pt x="483109" y="1050336"/>
                    <a:pt x="245555" y="963840"/>
                    <a:pt x="0" y="963840"/>
                  </a:cubicBezTo>
                  <a:close/>
                </a:path>
              </a:pathLst>
            </a:custGeom>
            <a:solidFill>
              <a:srgbClr val="668EFF"/>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7" name="紫荆的职场Point17"/>
            <p:cNvSpPr/>
            <p:nvPr>
              <p:custDataLst>
                <p:tags r:id="rId15"/>
              </p:custDataLst>
            </p:nvPr>
          </p:nvSpPr>
          <p:spPr>
            <a:xfrm>
              <a:off x="3820" y="10294"/>
              <a:ext cx="706" cy="706"/>
            </a:xfrm>
            <a:prstGeom prst="ellipse">
              <a:avLst/>
            </a:prstGeom>
            <a:solidFill>
              <a:srgbClr val="3368FF"/>
            </a:solidFill>
            <a:ln w="25617"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spcBef>
                  <a:spcPct val="0"/>
                </a:spcBef>
                <a:spcAft>
                  <a:spcPct val="0"/>
                </a:spcAft>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28" name="任意多边形: 形状 54"/>
            <p:cNvSpPr/>
            <p:nvPr>
              <p:custDataLst>
                <p:tags r:id="rId16"/>
              </p:custDataLst>
            </p:nvPr>
          </p:nvSpPr>
          <p:spPr>
            <a:xfrm>
              <a:off x="3005" y="9466"/>
              <a:ext cx="1184" cy="1176"/>
            </a:xfrm>
            <a:custGeom>
              <a:avLst/>
              <a:gdLst>
                <a:gd name="connsiteX0" fmla="*/ 720258 w 2418588"/>
                <a:gd name="connsiteY0" fmla="*/ 2400151 h 2400300"/>
                <a:gd name="connsiteX1" fmla="*/ 2414280 w 2418588"/>
                <a:gd name="connsiteY1" fmla="*/ 718417 h 2400300"/>
                <a:gd name="connsiteX2" fmla="*/ 2419805 w 2418588"/>
                <a:gd name="connsiteY2" fmla="*/ 718417 h 2400300"/>
                <a:gd name="connsiteX3" fmla="*/ 2419805 w 2418588"/>
                <a:gd name="connsiteY3" fmla="*/ -54 h 2400300"/>
                <a:gd name="connsiteX4" fmla="*/ 2413899 w 2418588"/>
                <a:gd name="connsiteY4" fmla="*/ -54 h 2400300"/>
                <a:gd name="connsiteX5" fmla="*/ 1216 w 2418588"/>
                <a:gd name="connsiteY5" fmla="*/ 2400247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8588" h="2400300">
                  <a:moveTo>
                    <a:pt x="720258" y="2400151"/>
                  </a:moveTo>
                  <a:cubicBezTo>
                    <a:pt x="727117" y="1470225"/>
                    <a:pt x="1482830" y="718417"/>
                    <a:pt x="2414280" y="718417"/>
                  </a:cubicBezTo>
                  <a:lnTo>
                    <a:pt x="2419805" y="718417"/>
                  </a:lnTo>
                  <a:lnTo>
                    <a:pt x="2419805" y="-54"/>
                  </a:lnTo>
                  <a:lnTo>
                    <a:pt x="2413899" y="-54"/>
                  </a:lnTo>
                  <a:cubicBezTo>
                    <a:pt x="1085543" y="-54"/>
                    <a:pt x="7980" y="1073509"/>
                    <a:pt x="1216" y="2400247"/>
                  </a:cubicBezTo>
                  <a:close/>
                </a:path>
              </a:pathLst>
            </a:custGeom>
            <a:solidFill>
              <a:srgbClr val="3368FF"/>
            </a:solidFill>
            <a:ln w="9525"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9" name="任意多边形: 形状 55"/>
            <p:cNvSpPr/>
            <p:nvPr>
              <p:custDataLst>
                <p:tags r:id="rId17"/>
              </p:custDataLst>
            </p:nvPr>
          </p:nvSpPr>
          <p:spPr>
            <a:xfrm>
              <a:off x="2917" y="10298"/>
              <a:ext cx="1271" cy="1532"/>
            </a:xfrm>
            <a:custGeom>
              <a:avLst/>
              <a:gdLst>
                <a:gd name="connsiteX0" fmla="*/ 2592778 w 2596610"/>
                <a:gd name="connsiteY0" fmla="*/ 2409581 h 3128200"/>
                <a:gd name="connsiteX1" fmla="*/ 898471 w 2596610"/>
                <a:gd name="connsiteY1" fmla="*/ 715274 h 3128200"/>
                <a:gd name="connsiteX2" fmla="*/ 898471 w 2596610"/>
                <a:gd name="connsiteY2" fmla="*/ 715179 h 3128200"/>
                <a:gd name="connsiteX3" fmla="*/ 898471 w 2596610"/>
                <a:gd name="connsiteY3" fmla="*/ 707749 h 3128200"/>
                <a:gd name="connsiteX4" fmla="*/ 1069921 w 2596610"/>
                <a:gd name="connsiteY4" fmla="*/ 707749 h 3128200"/>
                <a:gd name="connsiteX5" fmla="*/ 535568 w 2596610"/>
                <a:gd name="connsiteY5" fmla="*/ -54 h 3128200"/>
                <a:gd name="connsiteX6" fmla="*/ 1216 w 2596610"/>
                <a:gd name="connsiteY6" fmla="*/ 707749 h 3128200"/>
                <a:gd name="connsiteX7" fmla="*/ 179428 w 2596610"/>
                <a:gd name="connsiteY7" fmla="*/ 707749 h 3128200"/>
                <a:gd name="connsiteX8" fmla="*/ 179428 w 2596610"/>
                <a:gd name="connsiteY8" fmla="*/ 715179 h 3128200"/>
                <a:gd name="connsiteX9" fmla="*/ 2592302 w 2596610"/>
                <a:gd name="connsiteY9" fmla="*/ 3128147 h 3128200"/>
                <a:gd name="connsiteX10" fmla="*/ 2597826 w 2596610"/>
                <a:gd name="connsiteY10" fmla="*/ 3128147 h 3128200"/>
                <a:gd name="connsiteX11" fmla="*/ 2597826 w 2596610"/>
                <a:gd name="connsiteY11" fmla="*/ 2409391 h 312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6610" h="3128200">
                  <a:moveTo>
                    <a:pt x="2592778" y="2409581"/>
                  </a:moveTo>
                  <a:cubicBezTo>
                    <a:pt x="1657042" y="2409581"/>
                    <a:pt x="898471" y="1651010"/>
                    <a:pt x="898471" y="715274"/>
                  </a:cubicBezTo>
                  <a:cubicBezTo>
                    <a:pt x="898471" y="715245"/>
                    <a:pt x="898471" y="715207"/>
                    <a:pt x="898471" y="715179"/>
                  </a:cubicBezTo>
                  <a:cubicBezTo>
                    <a:pt x="898471" y="712702"/>
                    <a:pt x="898471" y="710226"/>
                    <a:pt x="898471" y="707749"/>
                  </a:cubicBezTo>
                  <a:lnTo>
                    <a:pt x="1069921" y="707749"/>
                  </a:lnTo>
                  <a:lnTo>
                    <a:pt x="535568" y="-54"/>
                  </a:lnTo>
                  <a:lnTo>
                    <a:pt x="1216" y="707749"/>
                  </a:lnTo>
                  <a:lnTo>
                    <a:pt x="179428" y="707749"/>
                  </a:lnTo>
                  <a:cubicBezTo>
                    <a:pt x="179428" y="710226"/>
                    <a:pt x="179428" y="712702"/>
                    <a:pt x="179428" y="715179"/>
                  </a:cubicBezTo>
                  <a:cubicBezTo>
                    <a:pt x="179428" y="2047822"/>
                    <a:pt x="1259754" y="3128147"/>
                    <a:pt x="2592302" y="3128147"/>
                  </a:cubicBezTo>
                  <a:lnTo>
                    <a:pt x="2597826" y="3128147"/>
                  </a:lnTo>
                  <a:lnTo>
                    <a:pt x="2597826" y="2409391"/>
                  </a:lnTo>
                  <a:close/>
                </a:path>
              </a:pathLst>
            </a:custGeom>
            <a:solidFill>
              <a:srgbClr val="668EFF"/>
            </a:soli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2" name="任意多边形: 形状 56"/>
            <p:cNvSpPr/>
            <p:nvPr>
              <p:custDataLst>
                <p:tags r:id="rId18"/>
              </p:custDataLst>
            </p:nvPr>
          </p:nvSpPr>
          <p:spPr>
            <a:xfrm>
              <a:off x="3848" y="10642"/>
              <a:ext cx="1519" cy="1270"/>
            </a:xfrm>
            <a:custGeom>
              <a:avLst/>
              <a:gdLst>
                <a:gd name="connsiteX0" fmla="*/ 3104937 w 3103721"/>
                <a:gd name="connsiteY0" fmla="*/ 12520 h 2592038"/>
                <a:gd name="connsiteX1" fmla="*/ 3104937 w 3103721"/>
                <a:gd name="connsiteY1" fmla="*/ -54 h 2592038"/>
                <a:gd name="connsiteX2" fmla="*/ 2386180 w 3103721"/>
                <a:gd name="connsiteY2" fmla="*/ -54 h 2592038"/>
                <a:gd name="connsiteX3" fmla="*/ 2386180 w 3103721"/>
                <a:gd name="connsiteY3" fmla="*/ 12520 h 2592038"/>
                <a:gd name="connsiteX4" fmla="*/ 708923 w 3103721"/>
                <a:gd name="connsiteY4" fmla="*/ 1706541 h 2592038"/>
                <a:gd name="connsiteX5" fmla="*/ 708923 w 3103721"/>
                <a:gd name="connsiteY5" fmla="*/ 1523280 h 2592038"/>
                <a:gd name="connsiteX6" fmla="*/ 1216 w 3103721"/>
                <a:gd name="connsiteY6" fmla="*/ 2057632 h 2592038"/>
                <a:gd name="connsiteX7" fmla="*/ 708923 w 3103721"/>
                <a:gd name="connsiteY7" fmla="*/ 2591985 h 2592038"/>
                <a:gd name="connsiteX8" fmla="*/ 708923 w 3103721"/>
                <a:gd name="connsiteY8" fmla="*/ 2425297 h 2592038"/>
                <a:gd name="connsiteX9" fmla="*/ 3104937 w 3103721"/>
                <a:gd name="connsiteY9" fmla="*/ 12520 h 259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3721" h="2592038">
                  <a:moveTo>
                    <a:pt x="3104937" y="12520"/>
                  </a:moveTo>
                  <a:cubicBezTo>
                    <a:pt x="3104937" y="8329"/>
                    <a:pt x="3104937" y="4137"/>
                    <a:pt x="3104937" y="-54"/>
                  </a:cubicBezTo>
                  <a:lnTo>
                    <a:pt x="2386180" y="-54"/>
                  </a:lnTo>
                  <a:cubicBezTo>
                    <a:pt x="2386180" y="4137"/>
                    <a:pt x="2386180" y="8329"/>
                    <a:pt x="2386180" y="12520"/>
                  </a:cubicBezTo>
                  <a:cubicBezTo>
                    <a:pt x="2386123" y="941550"/>
                    <a:pt x="1637906" y="1697244"/>
                    <a:pt x="708923" y="1706541"/>
                  </a:cubicBezTo>
                  <a:lnTo>
                    <a:pt x="708923" y="1523280"/>
                  </a:lnTo>
                  <a:lnTo>
                    <a:pt x="1216" y="2057632"/>
                  </a:lnTo>
                  <a:lnTo>
                    <a:pt x="708923" y="2591985"/>
                  </a:lnTo>
                  <a:lnTo>
                    <a:pt x="708923" y="2425297"/>
                  </a:lnTo>
                  <a:cubicBezTo>
                    <a:pt x="2033755" y="2416153"/>
                    <a:pt x="3104937" y="1339542"/>
                    <a:pt x="3104937" y="12520"/>
                  </a:cubicBezTo>
                  <a:close/>
                </a:path>
              </a:pathLst>
            </a:custGeom>
            <a:solidFill>
              <a:srgbClr val="3368FF"/>
            </a:solidFill>
            <a:ln w="9525"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3" name="任意多边形: 形状 57"/>
            <p:cNvSpPr/>
            <p:nvPr>
              <p:custDataLst>
                <p:tags r:id="rId19"/>
              </p:custDataLst>
            </p:nvPr>
          </p:nvSpPr>
          <p:spPr>
            <a:xfrm>
              <a:off x="4188" y="9466"/>
              <a:ext cx="1259" cy="1517"/>
            </a:xfrm>
            <a:custGeom>
              <a:avLst/>
              <a:gdLst>
                <a:gd name="connsiteX0" fmla="*/ 2408279 w 2570511"/>
                <a:gd name="connsiteY0" fmla="*/ 2389864 h 3097625"/>
                <a:gd name="connsiteX1" fmla="*/ 1216 w 2570511"/>
                <a:gd name="connsiteY1" fmla="*/ -54 h 3097625"/>
                <a:gd name="connsiteX2" fmla="*/ 1216 w 2570511"/>
                <a:gd name="connsiteY2" fmla="*/ 718608 h 3097625"/>
                <a:gd name="connsiteX3" fmla="*/ 1689522 w 2570511"/>
                <a:gd name="connsiteY3" fmla="*/ 2389864 h 3097625"/>
                <a:gd name="connsiteX4" fmla="*/ 1503023 w 2570511"/>
                <a:gd name="connsiteY4" fmla="*/ 2389864 h 3097625"/>
                <a:gd name="connsiteX5" fmla="*/ 2037375 w 2570511"/>
                <a:gd name="connsiteY5" fmla="*/ 3097572 h 3097625"/>
                <a:gd name="connsiteX6" fmla="*/ 2571728 w 2570511"/>
                <a:gd name="connsiteY6" fmla="*/ 2389864 h 309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0511" h="3097625">
                  <a:moveTo>
                    <a:pt x="2408279" y="2389864"/>
                  </a:moveTo>
                  <a:cubicBezTo>
                    <a:pt x="2395611" y="1069604"/>
                    <a:pt x="1323667" y="2899"/>
                    <a:pt x="1216" y="-54"/>
                  </a:cubicBezTo>
                  <a:lnTo>
                    <a:pt x="1216" y="718608"/>
                  </a:lnTo>
                  <a:cubicBezTo>
                    <a:pt x="926760" y="721465"/>
                    <a:pt x="1677616" y="1466511"/>
                    <a:pt x="1689522" y="2389864"/>
                  </a:cubicBezTo>
                  <a:lnTo>
                    <a:pt x="1503023" y="2389864"/>
                  </a:lnTo>
                  <a:lnTo>
                    <a:pt x="2037375" y="3097572"/>
                  </a:lnTo>
                  <a:lnTo>
                    <a:pt x="2571728" y="2389864"/>
                  </a:lnTo>
                  <a:close/>
                </a:path>
              </a:pathLst>
            </a:custGeom>
            <a:solidFill>
              <a:srgbClr val="668EFF"/>
            </a:soli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4" name="任意多边形: 形状 59"/>
            <p:cNvSpPr/>
            <p:nvPr>
              <p:custDataLst>
                <p:tags r:id="rId20"/>
              </p:custDataLst>
            </p:nvPr>
          </p:nvSpPr>
          <p:spPr>
            <a:xfrm>
              <a:off x="4150" y="9383"/>
              <a:ext cx="352" cy="524"/>
            </a:xfrm>
            <a:custGeom>
              <a:avLst/>
              <a:gdLst>
                <a:gd name="connsiteX0" fmla="*/ 0 w 718946"/>
                <a:gd name="connsiteY0" fmla="*/ 0 h 1068704"/>
                <a:gd name="connsiteX1" fmla="*/ 718947 w 718946"/>
                <a:gd name="connsiteY1" fmla="*/ 534353 h 1068704"/>
                <a:gd name="connsiteX2" fmla="*/ 0 w 718946"/>
                <a:gd name="connsiteY2" fmla="*/ 1068705 h 1068704"/>
                <a:gd name="connsiteX3" fmla="*/ 0 w 718946"/>
                <a:gd name="connsiteY3" fmla="*/ 0 h 1068704"/>
              </a:gdLst>
              <a:ahLst/>
              <a:cxnLst>
                <a:cxn ang="0">
                  <a:pos x="connsiteX0" y="connsiteY0"/>
                </a:cxn>
                <a:cxn ang="0">
                  <a:pos x="connsiteX1" y="connsiteY1"/>
                </a:cxn>
                <a:cxn ang="0">
                  <a:pos x="connsiteX2" y="connsiteY2"/>
                </a:cxn>
                <a:cxn ang="0">
                  <a:pos x="connsiteX3" y="connsiteY3"/>
                </a:cxn>
              </a:cxnLst>
              <a:rect l="l" t="t" r="r" b="b"/>
              <a:pathLst>
                <a:path w="718946" h="1068704">
                  <a:moveTo>
                    <a:pt x="0" y="0"/>
                  </a:moveTo>
                  <a:lnTo>
                    <a:pt x="718947" y="534353"/>
                  </a:lnTo>
                  <a:lnTo>
                    <a:pt x="0" y="1068705"/>
                  </a:lnTo>
                  <a:lnTo>
                    <a:pt x="0" y="0"/>
                  </a:lnTo>
                  <a:close/>
                </a:path>
              </a:pathLst>
            </a:custGeom>
            <a:solidFill>
              <a:srgbClr val="3368FF"/>
            </a:solidFill>
            <a:ln w="9525"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文本框 7"/>
          <p:cNvSpPr txBox="1"/>
          <p:nvPr/>
        </p:nvSpPr>
        <p:spPr>
          <a:xfrm>
            <a:off x="9378315" y="2435860"/>
            <a:ext cx="161099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数字化</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用户画像</a:t>
            </a:r>
            <a:endParaRPr lang="zh-CN" altLang="en-US" sz="1400">
              <a:solidFill>
                <a:srgbClr val="383838"/>
              </a:solidFill>
              <a:latin typeface="微软雅黑"/>
              <a:ea typeface="微软雅黑"/>
              <a:cs typeface="微软雅黑"/>
            </a:endParaRPr>
          </a:p>
        </p:txBody>
      </p:sp>
      <p:sp>
        <p:nvSpPr>
          <p:cNvPr id="155" name="文本框 154"/>
          <p:cNvSpPr txBox="1"/>
          <p:nvPr/>
        </p:nvSpPr>
        <p:spPr>
          <a:xfrm>
            <a:off x="9756140" y="2903855"/>
            <a:ext cx="161099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数字化</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内容创意</a:t>
            </a:r>
            <a:endParaRPr lang="zh-CN" altLang="en-US" sz="1400">
              <a:solidFill>
                <a:srgbClr val="383838"/>
              </a:solidFill>
              <a:latin typeface="微软雅黑"/>
              <a:ea typeface="微软雅黑"/>
              <a:cs typeface="微软雅黑"/>
            </a:endParaRPr>
          </a:p>
        </p:txBody>
      </p:sp>
      <p:sp>
        <p:nvSpPr>
          <p:cNvPr id="156" name="文本框 155"/>
          <p:cNvSpPr txBox="1"/>
          <p:nvPr/>
        </p:nvSpPr>
        <p:spPr>
          <a:xfrm>
            <a:off x="10001885" y="3371850"/>
            <a:ext cx="161099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数字化</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渠道管理</a:t>
            </a:r>
            <a:endParaRPr lang="zh-CN" altLang="en-US" sz="1400">
              <a:solidFill>
                <a:srgbClr val="383838"/>
              </a:solidFill>
              <a:latin typeface="微软雅黑"/>
              <a:ea typeface="微软雅黑"/>
              <a:cs typeface="微软雅黑"/>
            </a:endParaRPr>
          </a:p>
        </p:txBody>
      </p:sp>
      <p:sp>
        <p:nvSpPr>
          <p:cNvPr id="157" name="文本框 156"/>
          <p:cNvSpPr txBox="1"/>
          <p:nvPr/>
        </p:nvSpPr>
        <p:spPr>
          <a:xfrm>
            <a:off x="10001885" y="3839845"/>
            <a:ext cx="161099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数字化</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智能营销</a:t>
            </a:r>
            <a:endParaRPr lang="zh-CN" altLang="en-US" sz="1400">
              <a:solidFill>
                <a:srgbClr val="383838"/>
              </a:solidFill>
              <a:latin typeface="微软雅黑"/>
              <a:ea typeface="微软雅黑"/>
              <a:cs typeface="微软雅黑"/>
            </a:endParaRPr>
          </a:p>
        </p:txBody>
      </p:sp>
      <p:sp>
        <p:nvSpPr>
          <p:cNvPr id="158" name="文本框 157"/>
          <p:cNvSpPr txBox="1"/>
          <p:nvPr/>
        </p:nvSpPr>
        <p:spPr>
          <a:xfrm>
            <a:off x="10001885" y="4307840"/>
            <a:ext cx="161099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数字化</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体验优化</a:t>
            </a:r>
            <a:endParaRPr lang="zh-CN" altLang="en-US" sz="1400">
              <a:solidFill>
                <a:srgbClr val="383838"/>
              </a:solidFill>
              <a:latin typeface="微软雅黑"/>
              <a:ea typeface="微软雅黑"/>
              <a:cs typeface="微软雅黑"/>
            </a:endParaRPr>
          </a:p>
        </p:txBody>
      </p:sp>
      <p:sp>
        <p:nvSpPr>
          <p:cNvPr id="159" name="文本框 158"/>
          <p:cNvSpPr txBox="1"/>
          <p:nvPr/>
        </p:nvSpPr>
        <p:spPr>
          <a:xfrm>
            <a:off x="9756140" y="4775835"/>
            <a:ext cx="161099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数字化</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产品运营</a:t>
            </a:r>
            <a:endParaRPr lang="zh-CN" altLang="en-US" sz="1400">
              <a:solidFill>
                <a:srgbClr val="383838"/>
              </a:solidFill>
              <a:latin typeface="微软雅黑"/>
              <a:ea typeface="微软雅黑"/>
              <a:cs typeface="微软雅黑"/>
            </a:endParaRPr>
          </a:p>
        </p:txBody>
      </p:sp>
      <p:sp>
        <p:nvSpPr>
          <p:cNvPr id="9" name="文本框 8"/>
          <p:cNvSpPr txBox="1"/>
          <p:nvPr/>
        </p:nvSpPr>
        <p:spPr>
          <a:xfrm>
            <a:off x="9552940" y="5243830"/>
            <a:ext cx="161099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数字化</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社交裂变</a:t>
            </a:r>
            <a:endParaRPr lang="zh-CN" altLang="en-US" sz="1400">
              <a:solidFill>
                <a:srgbClr val="383838"/>
              </a:solidFill>
              <a:latin typeface="微软雅黑"/>
              <a:ea typeface="微软雅黑"/>
              <a:cs typeface="微软雅黑"/>
            </a:endParaRPr>
          </a:p>
        </p:txBody>
      </p:sp>
      <p:sp>
        <p:nvSpPr>
          <p:cNvPr id="143" name="文本框 142"/>
          <p:cNvSpPr txBox="1"/>
          <p:nvPr/>
        </p:nvSpPr>
        <p:spPr>
          <a:xfrm>
            <a:off x="829945" y="2929890"/>
            <a:ext cx="201485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公域运营</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内容种草</a:t>
            </a:r>
            <a:endParaRPr lang="zh-CN" altLang="en-US" sz="1400">
              <a:solidFill>
                <a:srgbClr val="383838"/>
              </a:solidFill>
              <a:latin typeface="微软雅黑"/>
              <a:ea typeface="微软雅黑"/>
              <a:cs typeface="微软雅黑"/>
            </a:endParaRPr>
          </a:p>
        </p:txBody>
      </p:sp>
      <p:sp>
        <p:nvSpPr>
          <p:cNvPr id="144" name="文本框 143"/>
          <p:cNvSpPr txBox="1"/>
          <p:nvPr/>
        </p:nvSpPr>
        <p:spPr>
          <a:xfrm>
            <a:off x="584200" y="3379470"/>
            <a:ext cx="2115820"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公域运营</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广告投放</a:t>
            </a:r>
            <a:endParaRPr lang="zh-CN" altLang="en-US" sz="1400">
              <a:solidFill>
                <a:srgbClr val="383838"/>
              </a:solidFill>
              <a:latin typeface="微软雅黑"/>
              <a:ea typeface="微软雅黑"/>
              <a:cs typeface="微软雅黑"/>
            </a:endParaRPr>
          </a:p>
        </p:txBody>
      </p:sp>
      <p:sp>
        <p:nvSpPr>
          <p:cNvPr id="145" name="文本框 144"/>
          <p:cNvSpPr txBox="1"/>
          <p:nvPr/>
        </p:nvSpPr>
        <p:spPr>
          <a:xfrm>
            <a:off x="540385" y="3829050"/>
            <a:ext cx="215963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私域运营</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会员体系</a:t>
            </a:r>
            <a:endParaRPr lang="zh-CN" altLang="en-US" sz="1400">
              <a:solidFill>
                <a:srgbClr val="383838"/>
              </a:solidFill>
              <a:latin typeface="微软雅黑"/>
              <a:ea typeface="微软雅黑"/>
              <a:cs typeface="微软雅黑"/>
            </a:endParaRPr>
          </a:p>
        </p:txBody>
      </p:sp>
      <p:sp>
        <p:nvSpPr>
          <p:cNvPr id="146" name="文本框 145"/>
          <p:cNvSpPr txBox="1"/>
          <p:nvPr/>
        </p:nvSpPr>
        <p:spPr>
          <a:xfrm>
            <a:off x="584200" y="4278630"/>
            <a:ext cx="2132330"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私域运营</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社群互动</a:t>
            </a:r>
            <a:endParaRPr lang="zh-CN" altLang="en-US" sz="1400">
              <a:solidFill>
                <a:srgbClr val="383838"/>
              </a:solidFill>
              <a:latin typeface="微软雅黑"/>
              <a:ea typeface="微软雅黑"/>
              <a:cs typeface="微软雅黑"/>
            </a:endParaRPr>
          </a:p>
        </p:txBody>
      </p:sp>
      <p:sp>
        <p:nvSpPr>
          <p:cNvPr id="147" name="文本框 146"/>
          <p:cNvSpPr txBox="1"/>
          <p:nvPr/>
        </p:nvSpPr>
        <p:spPr>
          <a:xfrm>
            <a:off x="829945" y="4728210"/>
            <a:ext cx="212788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精准营销</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用户洞察</a:t>
            </a:r>
            <a:endParaRPr lang="zh-CN" altLang="en-US" sz="1400">
              <a:solidFill>
                <a:srgbClr val="383838"/>
              </a:solidFill>
              <a:latin typeface="微软雅黑"/>
              <a:ea typeface="微软雅黑"/>
              <a:cs typeface="微软雅黑"/>
            </a:endParaRPr>
          </a:p>
        </p:txBody>
      </p:sp>
      <p:sp>
        <p:nvSpPr>
          <p:cNvPr id="6" name="文本框 5"/>
          <p:cNvSpPr txBox="1"/>
          <p:nvPr/>
        </p:nvSpPr>
        <p:spPr>
          <a:xfrm>
            <a:off x="1167130" y="2480310"/>
            <a:ext cx="201485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公域运营</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平台合作</a:t>
            </a:r>
            <a:endParaRPr lang="zh-CN" altLang="en-US" sz="1400">
              <a:solidFill>
                <a:srgbClr val="383838"/>
              </a:solidFill>
              <a:latin typeface="微软雅黑"/>
              <a:ea typeface="微软雅黑"/>
              <a:cs typeface="微软雅黑"/>
            </a:endParaRPr>
          </a:p>
        </p:txBody>
      </p:sp>
      <p:sp>
        <p:nvSpPr>
          <p:cNvPr id="7" name="文本框 6"/>
          <p:cNvSpPr txBox="1"/>
          <p:nvPr/>
        </p:nvSpPr>
        <p:spPr>
          <a:xfrm>
            <a:off x="1167130" y="5177790"/>
            <a:ext cx="212788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场景触发</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效果优化</a:t>
            </a:r>
            <a:endParaRPr lang="zh-CN" altLang="en-US" sz="1400">
              <a:solidFill>
                <a:srgbClr val="383838"/>
              </a:solidFill>
              <a:latin typeface="微软雅黑"/>
              <a:ea typeface="微软雅黑"/>
              <a:cs typeface="微软雅黑"/>
            </a:endParaRPr>
          </a:p>
        </p:txBody>
      </p:sp>
      <p:grpSp>
        <p:nvGrpSpPr>
          <p:cNvPr id="60" name="组合 59"/>
          <p:cNvGrpSpPr/>
          <p:nvPr/>
        </p:nvGrpSpPr>
        <p:grpSpPr>
          <a:xfrm>
            <a:off x="1639570" y="4711700"/>
            <a:ext cx="8904605" cy="1831975"/>
            <a:chOff x="2582" y="7420"/>
            <a:chExt cx="14023" cy="2885"/>
          </a:xfrm>
        </p:grpSpPr>
        <p:sp>
          <p:nvSpPr>
            <p:cNvPr id="52" name="梯形 51"/>
            <p:cNvSpPr/>
            <p:nvPr/>
          </p:nvSpPr>
          <p:spPr>
            <a:xfrm>
              <a:off x="2582" y="7420"/>
              <a:ext cx="14023" cy="2885"/>
            </a:xfrm>
            <a:prstGeom prst="trapezoid">
              <a:avLst>
                <a:gd name="adj" fmla="val 233450"/>
              </a:avLst>
            </a:prstGeom>
            <a:gradFill>
              <a:gsLst>
                <a:gs pos="0">
                  <a:srgbClr val="E6E6E6"/>
                </a:gs>
                <a:gs pos="100000">
                  <a:srgbClr val="E6E6E6">
                    <a:alpha val="20000"/>
                  </a:srgbClr>
                </a:gs>
              </a:gsLst>
              <a:lin ang="16200000" scaled="0"/>
            </a:gradFill>
            <a:ln>
              <a:solidFill>
                <a:srgbClr val="E6E6E6"/>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53" name="直接连接符 52"/>
            <p:cNvCxnSpPr/>
            <p:nvPr/>
          </p:nvCxnSpPr>
          <p:spPr>
            <a:xfrm>
              <a:off x="8823" y="7636"/>
              <a:ext cx="1532" cy="0"/>
            </a:xfrm>
            <a:prstGeom prst="line">
              <a:avLst/>
            </a:prstGeom>
            <a:gradFill>
              <a:gsLst>
                <a:gs pos="0">
                  <a:srgbClr val="E6E6E6"/>
                </a:gs>
                <a:gs pos="100000">
                  <a:srgbClr val="E6E6E6">
                    <a:alpha val="10000"/>
                  </a:srgbClr>
                </a:gs>
              </a:gsLst>
              <a:lin ang="16200000" scaled="0"/>
            </a:gradFill>
            <a:ln w="25400">
              <a:solidFill>
                <a:srgbClr val="668EFF"/>
              </a:solidFill>
            </a:ln>
          </p:spPr>
          <p:style>
            <a:lnRef idx="2">
              <a:srgbClr val="0042FF"/>
            </a:lnRef>
            <a:fillRef idx="1">
              <a:srgbClr val="0042FF"/>
            </a:fillRef>
            <a:effectRef idx="0">
              <a:srgbClr val="FFFFFF"/>
            </a:effectRef>
            <a:fontRef idx="minor">
              <a:srgbClr val="FFFFFF"/>
            </a:fontRef>
          </p:style>
        </p:cxnSp>
        <p:cxnSp>
          <p:nvCxnSpPr>
            <p:cNvPr id="55" name="直接连接符 54"/>
            <p:cNvCxnSpPr/>
            <p:nvPr/>
          </p:nvCxnSpPr>
          <p:spPr>
            <a:xfrm>
              <a:off x="7577" y="8039"/>
              <a:ext cx="4052" cy="0"/>
            </a:xfrm>
            <a:prstGeom prst="line">
              <a:avLst/>
            </a:prstGeom>
            <a:gradFill>
              <a:gsLst>
                <a:gs pos="0">
                  <a:srgbClr val="E6E6E6"/>
                </a:gs>
                <a:gs pos="100000">
                  <a:srgbClr val="E6E6E6">
                    <a:alpha val="10000"/>
                  </a:srgbClr>
                </a:gs>
              </a:gsLst>
              <a:lin ang="16200000" scaled="0"/>
            </a:gradFill>
            <a:ln w="25400">
              <a:solidFill>
                <a:srgbClr val="668EFF"/>
              </a:solidFill>
            </a:ln>
          </p:spPr>
          <p:style>
            <a:lnRef idx="2">
              <a:srgbClr val="0042FF"/>
            </a:lnRef>
            <a:fillRef idx="1">
              <a:srgbClr val="0042FF"/>
            </a:fillRef>
            <a:effectRef idx="0">
              <a:srgbClr val="FFFFFF"/>
            </a:effectRef>
            <a:fontRef idx="minor">
              <a:srgbClr val="FFFFFF"/>
            </a:fontRef>
          </p:style>
        </p:cxnSp>
        <p:cxnSp>
          <p:nvCxnSpPr>
            <p:cNvPr id="57" name="直接连接符 56"/>
            <p:cNvCxnSpPr/>
            <p:nvPr/>
          </p:nvCxnSpPr>
          <p:spPr>
            <a:xfrm>
              <a:off x="6891" y="8548"/>
              <a:ext cx="5477" cy="0"/>
            </a:xfrm>
            <a:prstGeom prst="line">
              <a:avLst/>
            </a:prstGeom>
            <a:gradFill>
              <a:gsLst>
                <a:gs pos="0">
                  <a:srgbClr val="E6E6E6"/>
                </a:gs>
                <a:gs pos="100000">
                  <a:srgbClr val="E6E6E6">
                    <a:alpha val="10000"/>
                  </a:srgbClr>
                </a:gs>
              </a:gsLst>
              <a:lin ang="16200000" scaled="0"/>
            </a:gradFill>
            <a:ln w="25400">
              <a:solidFill>
                <a:srgbClr val="668EFF"/>
              </a:solidFill>
            </a:ln>
          </p:spPr>
          <p:style>
            <a:lnRef idx="2">
              <a:srgbClr val="0042FF"/>
            </a:lnRef>
            <a:fillRef idx="1">
              <a:srgbClr val="0042FF"/>
            </a:fillRef>
            <a:effectRef idx="0">
              <a:srgbClr val="FFFFFF"/>
            </a:effectRef>
            <a:fontRef idx="minor">
              <a:srgbClr val="FFFFFF"/>
            </a:fontRef>
          </p:style>
        </p:cxnSp>
      </p:gr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循环逻辑架构 | </a:t>
            </a:r>
            <a:r>
              <a:rPr sz="2500">
                <a:solidFill>
                  <a:srgbClr val="383838"/>
                </a:solidFill>
                <a:latin typeface="微软雅黑"/>
                <a:ea typeface="微软雅黑"/>
                <a:cs typeface="微软雅黑"/>
              </a:rPr>
              <a:t>零售</a:t>
            </a:r>
            <a:r>
              <a:rPr lang="zh-CN" altLang="en-US" sz="2500">
                <a:solidFill>
                  <a:srgbClr val="383838"/>
                </a:solidFill>
                <a:effectLst/>
                <a:latin typeface="微软雅黑"/>
                <a:ea typeface="微软雅黑"/>
                <a:cs typeface="微软雅黑"/>
              </a:rPr>
              <a:t>私域全域运营框架</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11" name="组合 110"/>
          <p:cNvGrpSpPr/>
          <p:nvPr/>
        </p:nvGrpSpPr>
        <p:grpSpPr>
          <a:xfrm>
            <a:off x="2961640" y="2512060"/>
            <a:ext cx="6268085" cy="2931795"/>
            <a:chOff x="4664" y="3197"/>
            <a:chExt cx="9871" cy="4617"/>
          </a:xfrm>
        </p:grpSpPr>
        <p:sp>
          <p:nvSpPr>
            <p:cNvPr id="112" name="任意多边形: 形状 56"/>
            <p:cNvSpPr/>
            <p:nvPr/>
          </p:nvSpPr>
          <p:spPr>
            <a:xfrm>
              <a:off x="9326" y="5324"/>
              <a:ext cx="5207" cy="2490"/>
            </a:xfrm>
            <a:custGeom>
              <a:avLst/>
              <a:gdLst>
                <a:gd name="connsiteX0" fmla="*/ 323850 w 1082039"/>
                <a:gd name="connsiteY0" fmla="*/ 75248 h 1005840"/>
                <a:gd name="connsiteX1" fmla="*/ 631508 w 1082039"/>
                <a:gd name="connsiteY1" fmla="*/ 420053 h 1005840"/>
                <a:gd name="connsiteX2" fmla="*/ 1038225 w 1082039"/>
                <a:gd name="connsiteY2" fmla="*/ 681990 h 1005840"/>
                <a:gd name="connsiteX3" fmla="*/ 1082040 w 1082039"/>
                <a:gd name="connsiteY3" fmla="*/ 864870 h 1005840"/>
                <a:gd name="connsiteX4" fmla="*/ 932498 w 1082039"/>
                <a:gd name="connsiteY4" fmla="*/ 1005840 h 1005840"/>
                <a:gd name="connsiteX5" fmla="*/ 168592 w 1082039"/>
                <a:gd name="connsiteY5" fmla="*/ 423863 h 1005840"/>
                <a:gd name="connsiteX6" fmla="*/ 120967 w 1082039"/>
                <a:gd name="connsiteY6" fmla="*/ 363855 h 1005840"/>
                <a:gd name="connsiteX7" fmla="*/ 0 w 1082039"/>
                <a:gd name="connsiteY7" fmla="*/ 205740 h 1005840"/>
                <a:gd name="connsiteX8" fmla="*/ 193358 w 1082039"/>
                <a:gd name="connsiteY8" fmla="*/ 180023 h 1005840"/>
                <a:gd name="connsiteX9" fmla="*/ 267652 w 1082039"/>
                <a:gd name="connsiteY9" fmla="*/ 0 h 1005840"/>
                <a:gd name="connsiteX10" fmla="*/ 323850 w 1082039"/>
                <a:gd name="connsiteY10" fmla="*/ 75248 h 100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07" h="2491">
                  <a:moveTo>
                    <a:pt x="763" y="177"/>
                  </a:moveTo>
                  <a:cubicBezTo>
                    <a:pt x="1281" y="766"/>
                    <a:pt x="1555" y="1285"/>
                    <a:pt x="2589" y="1650"/>
                  </a:cubicBezTo>
                  <a:lnTo>
                    <a:pt x="2589" y="1649"/>
                  </a:lnTo>
                  <a:cubicBezTo>
                    <a:pt x="2688" y="1672"/>
                    <a:pt x="2805" y="1685"/>
                    <a:pt x="2903" y="1685"/>
                  </a:cubicBezTo>
                  <a:cubicBezTo>
                    <a:pt x="3697" y="1709"/>
                    <a:pt x="4354" y="1016"/>
                    <a:pt x="4399" y="319"/>
                  </a:cubicBezTo>
                  <a:lnTo>
                    <a:pt x="4810" y="81"/>
                  </a:lnTo>
                  <a:lnTo>
                    <a:pt x="5207" y="310"/>
                  </a:lnTo>
                  <a:cubicBezTo>
                    <a:pt x="5177" y="1541"/>
                    <a:pt x="4023" y="2520"/>
                    <a:pt x="2903" y="2490"/>
                  </a:cubicBezTo>
                  <a:cubicBezTo>
                    <a:pt x="2848" y="2493"/>
                    <a:pt x="2633" y="2487"/>
                    <a:pt x="2340" y="2414"/>
                  </a:cubicBezTo>
                  <a:lnTo>
                    <a:pt x="2341" y="2412"/>
                  </a:lnTo>
                  <a:lnTo>
                    <a:pt x="2197" y="2368"/>
                  </a:lnTo>
                  <a:lnTo>
                    <a:pt x="2196" y="2369"/>
                  </a:lnTo>
                  <a:cubicBezTo>
                    <a:pt x="445" y="1509"/>
                    <a:pt x="153" y="565"/>
                    <a:pt x="285" y="857"/>
                  </a:cubicBezTo>
                  <a:cubicBezTo>
                    <a:pt x="217" y="771"/>
                    <a:pt x="139" y="668"/>
                    <a:pt x="81" y="591"/>
                  </a:cubicBezTo>
                  <a:cubicBezTo>
                    <a:pt x="55" y="557"/>
                    <a:pt x="19" y="509"/>
                    <a:pt x="0" y="485"/>
                  </a:cubicBezTo>
                  <a:lnTo>
                    <a:pt x="455" y="424"/>
                  </a:lnTo>
                  <a:lnTo>
                    <a:pt x="630" y="0"/>
                  </a:lnTo>
                  <a:cubicBezTo>
                    <a:pt x="672" y="57"/>
                    <a:pt x="722" y="124"/>
                    <a:pt x="763" y="177"/>
                  </a:cubicBezTo>
                  <a:close/>
                </a:path>
              </a:pathLst>
            </a:custGeom>
            <a:gradFill>
              <a:gsLst>
                <a:gs pos="0">
                  <a:srgbClr val="B3D4FE"/>
                </a:gs>
                <a:gs pos="100000">
                  <a:srgbClr val="B3D4FE"/>
                </a:gs>
              </a:gsLst>
              <a:lin ang="16200000" scaled="0"/>
            </a:gradFill>
            <a:ln w="9525" cap="flat">
              <a:noFill/>
              <a:prstDash val="solid"/>
              <a:miter/>
            </a:ln>
          </p:spPr>
          <p:txBody>
            <a:bodyPr wrap="square" rtlCol="0" anchor="ctr" lIns="0" rIns="0" tIns="0" bIns="0">
              <a:noAutofit/>
            </a:bodyPr>
            <a:p>
              <a:pPr>
                <a:defRPr>
                  <a:latin typeface="微软雅黑"/>
                  <a:ea typeface="微软雅黑"/>
                  <a:cs typeface="微软雅黑"/>
                </a:defRPr>
              </a:pPr>
              <a:endParaRPr lang="en-US">
                <a:latin typeface="微软雅黑"/>
                <a:ea typeface="微软雅黑"/>
                <a:cs typeface="微软雅黑"/>
              </a:endParaRPr>
            </a:p>
          </p:txBody>
        </p:sp>
        <p:sp>
          <p:nvSpPr>
            <p:cNvPr id="113" name="任意多边形: 形状 57"/>
            <p:cNvSpPr/>
            <p:nvPr/>
          </p:nvSpPr>
          <p:spPr>
            <a:xfrm>
              <a:off x="9584" y="3197"/>
              <a:ext cx="4951" cy="2305"/>
            </a:xfrm>
            <a:custGeom>
              <a:avLst/>
              <a:gdLst>
                <a:gd name="connsiteX0" fmla="*/ 1286828 w 1286827"/>
                <a:gd name="connsiteY0" fmla="*/ 971550 h 972502"/>
                <a:gd name="connsiteX1" fmla="*/ 1117283 w 1286827"/>
                <a:gd name="connsiteY1" fmla="*/ 873443 h 972502"/>
                <a:gd name="connsiteX2" fmla="*/ 944880 w 1286827"/>
                <a:gd name="connsiteY2" fmla="*/ 972503 h 972502"/>
                <a:gd name="connsiteX3" fmla="*/ 307658 w 1286827"/>
                <a:gd name="connsiteY3" fmla="*/ 341948 h 972502"/>
                <a:gd name="connsiteX4" fmla="*/ 147638 w 1286827"/>
                <a:gd name="connsiteY4" fmla="*/ 366713 h 972502"/>
                <a:gd name="connsiteX5" fmla="*/ 0 w 1286827"/>
                <a:gd name="connsiteY5" fmla="*/ 226695 h 972502"/>
                <a:gd name="connsiteX6" fmla="*/ 44768 w 1286827"/>
                <a:gd name="connsiteY6" fmla="*/ 40958 h 972502"/>
                <a:gd name="connsiteX7" fmla="*/ 307658 w 1286827"/>
                <a:gd name="connsiteY7" fmla="*/ 0 h 972502"/>
                <a:gd name="connsiteX8" fmla="*/ 1286828 w 1286827"/>
                <a:gd name="connsiteY8" fmla="*/ 971550 h 9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1" h="2306">
                  <a:moveTo>
                    <a:pt x="4951" y="2288"/>
                  </a:moveTo>
                  <a:lnTo>
                    <a:pt x="4552" y="2057"/>
                  </a:lnTo>
                  <a:lnTo>
                    <a:pt x="4146" y="2290"/>
                  </a:lnTo>
                  <a:cubicBezTo>
                    <a:pt x="4162" y="1456"/>
                    <a:pt x="3393" y="785"/>
                    <a:pt x="2645" y="805"/>
                  </a:cubicBezTo>
                  <a:cubicBezTo>
                    <a:pt x="2535" y="804"/>
                    <a:pt x="2401" y="826"/>
                    <a:pt x="2307" y="852"/>
                  </a:cubicBezTo>
                  <a:lnTo>
                    <a:pt x="2308" y="853"/>
                  </a:lnTo>
                  <a:lnTo>
                    <a:pt x="2128" y="915"/>
                  </a:lnTo>
                  <a:lnTo>
                    <a:pt x="2128" y="915"/>
                  </a:lnTo>
                  <a:cubicBezTo>
                    <a:pt x="1466" y="1164"/>
                    <a:pt x="798" y="1908"/>
                    <a:pt x="505" y="2305"/>
                  </a:cubicBezTo>
                  <a:cubicBezTo>
                    <a:pt x="483" y="2276"/>
                    <a:pt x="455" y="2240"/>
                    <a:pt x="436" y="2215"/>
                  </a:cubicBezTo>
                  <a:cubicBezTo>
                    <a:pt x="415" y="2186"/>
                    <a:pt x="388" y="2151"/>
                    <a:pt x="370" y="2128"/>
                  </a:cubicBezTo>
                  <a:cubicBezTo>
                    <a:pt x="342" y="2088"/>
                    <a:pt x="307" y="2043"/>
                    <a:pt x="278" y="2007"/>
                  </a:cubicBezTo>
                  <a:cubicBezTo>
                    <a:pt x="188" y="1885"/>
                    <a:pt x="85" y="1748"/>
                    <a:pt x="0" y="1639"/>
                  </a:cubicBezTo>
                  <a:lnTo>
                    <a:pt x="13" y="1627"/>
                  </a:lnTo>
                  <a:cubicBezTo>
                    <a:pt x="372" y="1159"/>
                    <a:pt x="1162" y="404"/>
                    <a:pt x="1865" y="154"/>
                  </a:cubicBezTo>
                  <a:lnTo>
                    <a:pt x="1865" y="152"/>
                  </a:lnTo>
                  <a:lnTo>
                    <a:pt x="2025" y="97"/>
                  </a:lnTo>
                  <a:lnTo>
                    <a:pt x="2025" y="96"/>
                  </a:lnTo>
                  <a:lnTo>
                    <a:pt x="2031" y="95"/>
                  </a:lnTo>
                  <a:lnTo>
                    <a:pt x="2045" y="90"/>
                  </a:lnTo>
                  <a:lnTo>
                    <a:pt x="2045" y="91"/>
                  </a:lnTo>
                  <a:cubicBezTo>
                    <a:pt x="2234" y="33"/>
                    <a:pt x="2458" y="-1"/>
                    <a:pt x="2645" y="0"/>
                  </a:cubicBezTo>
                  <a:cubicBezTo>
                    <a:pt x="3928" y="-37"/>
                    <a:pt x="4972" y="1137"/>
                    <a:pt x="4951" y="2288"/>
                  </a:cubicBezTo>
                  <a:close/>
                </a:path>
              </a:pathLst>
            </a:custGeom>
            <a:gradFill>
              <a:gsLst>
                <a:gs pos="0">
                  <a:srgbClr val="3368FF"/>
                </a:gs>
                <a:gs pos="100000">
                  <a:srgbClr val="B3D4FE"/>
                </a:gs>
              </a:gsLst>
              <a:lin ang="16200000" scaled="0"/>
            </a:gradFill>
            <a:ln w="9525" cap="flat">
              <a:noFill/>
              <a:prstDash val="solid"/>
              <a:miter/>
            </a:ln>
          </p:spPr>
          <p:txBody>
            <a:bodyPr wrap="square" rtlCol="0" anchor="ctr" lIns="0" rIns="0" tIns="0" bIns="0">
              <a:noAutofit/>
            </a:bodyPr>
            <a:p>
              <a:pPr>
                <a:defRPr>
                  <a:latin typeface="微软雅黑"/>
                  <a:ea typeface="微软雅黑"/>
                  <a:cs typeface="微软雅黑"/>
                </a:defRPr>
              </a:pPr>
              <a:endParaRPr lang="en-US">
                <a:latin typeface="微软雅黑"/>
                <a:ea typeface="微软雅黑"/>
                <a:cs typeface="微软雅黑"/>
              </a:endParaRPr>
            </a:p>
          </p:txBody>
        </p:sp>
        <p:sp>
          <p:nvSpPr>
            <p:cNvPr id="114" name="任意多边形: 形状 64"/>
            <p:cNvSpPr/>
            <p:nvPr/>
          </p:nvSpPr>
          <p:spPr>
            <a:xfrm>
              <a:off x="4664" y="3199"/>
              <a:ext cx="5203" cy="2488"/>
            </a:xfrm>
            <a:custGeom>
              <a:avLst/>
              <a:gdLst>
                <a:gd name="connsiteX0" fmla="*/ 1247775 w 1292542"/>
                <a:gd name="connsiteY0" fmla="*/ 40005 h 973454"/>
                <a:gd name="connsiteX1" fmla="*/ 1292543 w 1292542"/>
                <a:gd name="connsiteY1" fmla="*/ 226695 h 973454"/>
                <a:gd name="connsiteX2" fmla="*/ 1145858 w 1292542"/>
                <a:gd name="connsiteY2" fmla="*/ 364808 h 973454"/>
                <a:gd name="connsiteX3" fmla="*/ 980123 w 1292542"/>
                <a:gd name="connsiteY3" fmla="*/ 340995 h 973454"/>
                <a:gd name="connsiteX4" fmla="*/ 342900 w 1292542"/>
                <a:gd name="connsiteY4" fmla="*/ 968693 h 973454"/>
                <a:gd name="connsiteX5" fmla="*/ 174308 w 1292542"/>
                <a:gd name="connsiteY5" fmla="*/ 872490 h 973454"/>
                <a:gd name="connsiteX6" fmla="*/ 0 w 1292542"/>
                <a:gd name="connsiteY6" fmla="*/ 973455 h 973454"/>
                <a:gd name="connsiteX7" fmla="*/ 979170 w 1292542"/>
                <a:gd name="connsiteY7" fmla="*/ 0 h 973454"/>
                <a:gd name="connsiteX8" fmla="*/ 1247775 w 1292542"/>
                <a:gd name="connsiteY8" fmla="*/ 40005 h 97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 h="2488">
                  <a:moveTo>
                    <a:pt x="2700" y="859"/>
                  </a:moveTo>
                  <a:lnTo>
                    <a:pt x="2699" y="860"/>
                  </a:lnTo>
                  <a:cubicBezTo>
                    <a:pt x="2579" y="823"/>
                    <a:pt x="2423" y="803"/>
                    <a:pt x="2314" y="804"/>
                  </a:cubicBezTo>
                  <a:lnTo>
                    <a:pt x="2308" y="804"/>
                  </a:lnTo>
                  <a:lnTo>
                    <a:pt x="2269" y="803"/>
                  </a:lnTo>
                  <a:cubicBezTo>
                    <a:pt x="1439" y="779"/>
                    <a:pt x="778" y="1620"/>
                    <a:pt x="808" y="2282"/>
                  </a:cubicBezTo>
                  <a:lnTo>
                    <a:pt x="411" y="2055"/>
                  </a:lnTo>
                  <a:lnTo>
                    <a:pt x="1" y="2293"/>
                  </a:lnTo>
                  <a:lnTo>
                    <a:pt x="0" y="2232"/>
                  </a:lnTo>
                  <a:cubicBezTo>
                    <a:pt x="-28" y="974"/>
                    <a:pt x="1242" y="-29"/>
                    <a:pt x="2251" y="0"/>
                  </a:cubicBezTo>
                  <a:lnTo>
                    <a:pt x="2306" y="1"/>
                  </a:lnTo>
                  <a:lnTo>
                    <a:pt x="2316" y="1"/>
                  </a:lnTo>
                  <a:lnTo>
                    <a:pt x="2326" y="1"/>
                  </a:lnTo>
                  <a:cubicBezTo>
                    <a:pt x="2526" y="-1"/>
                    <a:pt x="2770" y="45"/>
                    <a:pt x="2915" y="88"/>
                  </a:cubicBezTo>
                  <a:lnTo>
                    <a:pt x="2914" y="85"/>
                  </a:lnTo>
                  <a:lnTo>
                    <a:pt x="3087" y="141"/>
                  </a:lnTo>
                  <a:lnTo>
                    <a:pt x="3087" y="142"/>
                  </a:lnTo>
                  <a:lnTo>
                    <a:pt x="3087" y="142"/>
                  </a:lnTo>
                  <a:cubicBezTo>
                    <a:pt x="4534" y="854"/>
                    <a:pt x="4907" y="1681"/>
                    <a:pt x="4924" y="1635"/>
                  </a:cubicBezTo>
                  <a:cubicBezTo>
                    <a:pt x="5017" y="1755"/>
                    <a:pt x="5119" y="1892"/>
                    <a:pt x="5203" y="2003"/>
                  </a:cubicBezTo>
                  <a:lnTo>
                    <a:pt x="5028" y="2427"/>
                  </a:lnTo>
                  <a:lnTo>
                    <a:pt x="4572" y="2488"/>
                  </a:lnTo>
                  <a:cubicBezTo>
                    <a:pt x="4528" y="2432"/>
                    <a:pt x="4481" y="2370"/>
                    <a:pt x="4442" y="2319"/>
                  </a:cubicBezTo>
                  <a:cubicBezTo>
                    <a:pt x="4169" y="1982"/>
                    <a:pt x="3707" y="1300"/>
                    <a:pt x="2841" y="907"/>
                  </a:cubicBezTo>
                  <a:lnTo>
                    <a:pt x="2864" y="884"/>
                  </a:lnTo>
                  <a:lnTo>
                    <a:pt x="2839" y="904"/>
                  </a:lnTo>
                  <a:lnTo>
                    <a:pt x="2700" y="859"/>
                  </a:lnTo>
                  <a:close/>
                </a:path>
              </a:pathLst>
            </a:custGeom>
            <a:gradFill>
              <a:gsLst>
                <a:gs pos="0">
                  <a:srgbClr val="0042FF"/>
                </a:gs>
                <a:gs pos="100000">
                  <a:srgbClr val="3368FF"/>
                </a:gs>
              </a:gsLst>
              <a:lin ang="16200000" scaled="0"/>
            </a:gradFill>
            <a:ln w="9525" cap="flat">
              <a:noFill/>
              <a:prstDash val="solid"/>
              <a:miter/>
            </a:ln>
          </p:spPr>
          <p:txBody>
            <a:bodyPr wrap="square" rtlCol="0" anchor="ctr" lIns="0" rIns="0" tIns="0" bIns="0">
              <a:noAutofit/>
            </a:bodyPr>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5" name="任意多边形: 形状 65"/>
            <p:cNvSpPr/>
            <p:nvPr/>
          </p:nvSpPr>
          <p:spPr>
            <a:xfrm>
              <a:off x="4665" y="5403"/>
              <a:ext cx="4948" cy="2409"/>
            </a:xfrm>
            <a:custGeom>
              <a:avLst/>
              <a:gdLst>
                <a:gd name="connsiteX0" fmla="*/ 1073468 w 1220152"/>
                <a:gd name="connsiteY0" fmla="*/ 849630 h 1022985"/>
                <a:gd name="connsiteX1" fmla="*/ 1220153 w 1220152"/>
                <a:gd name="connsiteY1" fmla="*/ 988695 h 1022985"/>
                <a:gd name="connsiteX2" fmla="*/ 978218 w 1220152"/>
                <a:gd name="connsiteY2" fmla="*/ 1022985 h 1022985"/>
                <a:gd name="connsiteX3" fmla="*/ 0 w 1220152"/>
                <a:gd name="connsiteY3" fmla="*/ 100013 h 1022985"/>
                <a:gd name="connsiteX4" fmla="*/ 173355 w 1220152"/>
                <a:gd name="connsiteY4" fmla="*/ 0 h 1022985"/>
                <a:gd name="connsiteX5" fmla="*/ 342900 w 1220152"/>
                <a:gd name="connsiteY5" fmla="*/ 97155 h 1022985"/>
                <a:gd name="connsiteX6" fmla="*/ 978218 w 1220152"/>
                <a:gd name="connsiteY6" fmla="*/ 680085 h 1022985"/>
                <a:gd name="connsiteX7" fmla="*/ 1117283 w 1220152"/>
                <a:gd name="connsiteY7" fmla="*/ 661035 h 1022985"/>
                <a:gd name="connsiteX8" fmla="*/ 1073468 w 1220152"/>
                <a:gd name="connsiteY8" fmla="*/ 849630 h 1022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48" h="2410">
                  <a:moveTo>
                    <a:pt x="2554" y="2393"/>
                  </a:moveTo>
                  <a:cubicBezTo>
                    <a:pt x="2489" y="2402"/>
                    <a:pt x="2368" y="2410"/>
                    <a:pt x="2304" y="2409"/>
                  </a:cubicBezTo>
                  <a:cubicBezTo>
                    <a:pt x="1059" y="2447"/>
                    <a:pt x="34" y="1340"/>
                    <a:pt x="0" y="236"/>
                  </a:cubicBezTo>
                  <a:lnTo>
                    <a:pt x="408" y="0"/>
                  </a:lnTo>
                  <a:lnTo>
                    <a:pt x="808" y="229"/>
                  </a:lnTo>
                  <a:cubicBezTo>
                    <a:pt x="849" y="1011"/>
                    <a:pt x="1589" y="1620"/>
                    <a:pt x="2304" y="1602"/>
                  </a:cubicBezTo>
                  <a:cubicBezTo>
                    <a:pt x="2318" y="1602"/>
                    <a:pt x="2346" y="1601"/>
                    <a:pt x="2347" y="1601"/>
                  </a:cubicBezTo>
                  <a:lnTo>
                    <a:pt x="2347" y="1600"/>
                  </a:lnTo>
                  <a:cubicBezTo>
                    <a:pt x="2489" y="1593"/>
                    <a:pt x="2671" y="1553"/>
                    <a:pt x="2783" y="1510"/>
                  </a:cubicBezTo>
                  <a:lnTo>
                    <a:pt x="2783" y="1509"/>
                  </a:lnTo>
                  <a:cubicBezTo>
                    <a:pt x="2956" y="1442"/>
                    <a:pt x="2919" y="1447"/>
                    <a:pt x="2996" y="1409"/>
                  </a:cubicBezTo>
                  <a:lnTo>
                    <a:pt x="2997" y="1416"/>
                  </a:lnTo>
                  <a:cubicBezTo>
                    <a:pt x="3553" y="1154"/>
                    <a:pt x="4190" y="464"/>
                    <a:pt x="4446" y="109"/>
                  </a:cubicBezTo>
                  <a:cubicBezTo>
                    <a:pt x="4467" y="137"/>
                    <a:pt x="4493" y="171"/>
                    <a:pt x="4510" y="194"/>
                  </a:cubicBezTo>
                  <a:cubicBezTo>
                    <a:pt x="4531" y="221"/>
                    <a:pt x="4556" y="255"/>
                    <a:pt x="4573" y="277"/>
                  </a:cubicBezTo>
                  <a:cubicBezTo>
                    <a:pt x="4597" y="310"/>
                    <a:pt x="4626" y="348"/>
                    <a:pt x="4648" y="376"/>
                  </a:cubicBezTo>
                  <a:cubicBezTo>
                    <a:pt x="4655" y="385"/>
                    <a:pt x="4658" y="389"/>
                    <a:pt x="4668" y="402"/>
                  </a:cubicBezTo>
                  <a:cubicBezTo>
                    <a:pt x="4759" y="526"/>
                    <a:pt x="4862" y="661"/>
                    <a:pt x="4948" y="771"/>
                  </a:cubicBezTo>
                  <a:lnTo>
                    <a:pt x="4939" y="780"/>
                  </a:lnTo>
                  <a:cubicBezTo>
                    <a:pt x="4606" y="1213"/>
                    <a:pt x="3902" y="1899"/>
                    <a:pt x="3262" y="2179"/>
                  </a:cubicBezTo>
                  <a:lnTo>
                    <a:pt x="3265" y="2181"/>
                  </a:lnTo>
                  <a:cubicBezTo>
                    <a:pt x="2845" y="2379"/>
                    <a:pt x="2582" y="2390"/>
                    <a:pt x="2554" y="2395"/>
                  </a:cubicBezTo>
                  <a:lnTo>
                    <a:pt x="2554" y="2393"/>
                  </a:lnTo>
                  <a:close/>
                </a:path>
              </a:pathLst>
            </a:custGeom>
            <a:gradFill>
              <a:gsLst>
                <a:gs pos="0">
                  <a:srgbClr val="3368FF"/>
                </a:gs>
                <a:gs pos="100000">
                  <a:srgbClr val="668EFF"/>
                </a:gs>
              </a:gsLst>
              <a:lin ang="16200000" scaled="0"/>
            </a:gradFill>
            <a:ln w="9525" cap="flat">
              <a:noFill/>
              <a:prstDash val="solid"/>
              <a:miter/>
            </a:ln>
          </p:spPr>
          <p:txBody>
            <a:bodyPr wrap="square" rtlCol="0" anchor="ctr" lIns="0" rIns="0" tIns="0" bIns="0">
              <a:noAutofit/>
            </a:bodyPr>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117" name="任意多边形: 形状 70"/>
            <p:cNvSpPr/>
            <p:nvPr/>
          </p:nvSpPr>
          <p:spPr>
            <a:xfrm>
              <a:off x="5744" y="4267"/>
              <a:ext cx="2476" cy="2476"/>
            </a:xfrm>
            <a:custGeom>
              <a:avLst/>
              <a:gdLst>
                <a:gd name="connsiteX0" fmla="*/ 1051560 w 1051560"/>
                <a:gd name="connsiteY0" fmla="*/ 525780 h 1051560"/>
                <a:gd name="connsiteX1" fmla="*/ 525780 w 1051560"/>
                <a:gd name="connsiteY1" fmla="*/ 1051560 h 1051560"/>
                <a:gd name="connsiteX2" fmla="*/ 0 w 1051560"/>
                <a:gd name="connsiteY2" fmla="*/ 525780 h 1051560"/>
                <a:gd name="connsiteX3" fmla="*/ 525780 w 1051560"/>
                <a:gd name="connsiteY3" fmla="*/ 0 h 1051560"/>
                <a:gd name="connsiteX4" fmla="*/ 1051560 w 1051560"/>
                <a:gd name="connsiteY4" fmla="*/ 525780 h 1051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560" h="1051560">
                  <a:moveTo>
                    <a:pt x="1051560" y="525780"/>
                  </a:moveTo>
                  <a:cubicBezTo>
                    <a:pt x="1051560" y="816160"/>
                    <a:pt x="816160" y="1051560"/>
                    <a:pt x="525780" y="1051560"/>
                  </a:cubicBezTo>
                  <a:cubicBezTo>
                    <a:pt x="235400" y="1051560"/>
                    <a:pt x="0" y="816160"/>
                    <a:pt x="0" y="525780"/>
                  </a:cubicBezTo>
                  <a:cubicBezTo>
                    <a:pt x="0" y="235400"/>
                    <a:pt x="235400" y="0"/>
                    <a:pt x="525780" y="0"/>
                  </a:cubicBezTo>
                  <a:cubicBezTo>
                    <a:pt x="816160" y="0"/>
                    <a:pt x="1051560" y="235400"/>
                    <a:pt x="1051560" y="525780"/>
                  </a:cubicBezTo>
                  <a:close/>
                </a:path>
              </a:pathLst>
            </a:custGeom>
            <a:solidFill>
              <a:srgbClr val="FFFFFF"/>
            </a:solidFill>
            <a:ln w="63500" cap="flat">
              <a:gradFill>
                <a:gsLst>
                  <a:gs pos="0">
                    <a:srgbClr val="0042FF"/>
                  </a:gs>
                  <a:gs pos="100000">
                    <a:srgbClr val="3368FF"/>
                  </a:gs>
                </a:gsLst>
                <a:lin ang="16200000" scaled="1"/>
              </a:gradFill>
              <a:prstDash val="solid"/>
              <a:miter/>
            </a:ln>
          </p:spPr>
          <p:txBody>
            <a:bodyPr rtlCol="0" anchor="ctr" lIns="0" rIns="0" tIns="0" bIns="0"/>
            <a:p>
              <a:pPr>
                <a:defRPr>
                  <a:latin typeface="微软雅黑"/>
                  <a:ea typeface="微软雅黑"/>
                  <a:cs typeface="微软雅黑"/>
                </a:defRPr>
              </a:pPr>
              <a:endParaRPr lang="en-US">
                <a:latin typeface="微软雅黑"/>
                <a:ea typeface="微软雅黑"/>
                <a:cs typeface="微软雅黑"/>
              </a:endParaRPr>
            </a:p>
          </p:txBody>
        </p:sp>
        <p:sp>
          <p:nvSpPr>
            <p:cNvPr id="131" name="任意多边形: 形状 84"/>
            <p:cNvSpPr/>
            <p:nvPr/>
          </p:nvSpPr>
          <p:spPr>
            <a:xfrm>
              <a:off x="10980" y="4251"/>
              <a:ext cx="2476" cy="2476"/>
            </a:xfrm>
            <a:custGeom>
              <a:avLst/>
              <a:gdLst>
                <a:gd name="connsiteX0" fmla="*/ 1051560 w 1051559"/>
                <a:gd name="connsiteY0" fmla="*/ 525780 h 1051560"/>
                <a:gd name="connsiteX1" fmla="*/ 525780 w 1051559"/>
                <a:gd name="connsiteY1" fmla="*/ 1051560 h 1051560"/>
                <a:gd name="connsiteX2" fmla="*/ 0 w 1051559"/>
                <a:gd name="connsiteY2" fmla="*/ 525780 h 1051560"/>
                <a:gd name="connsiteX3" fmla="*/ 525780 w 1051559"/>
                <a:gd name="connsiteY3" fmla="*/ 0 h 1051560"/>
                <a:gd name="connsiteX4" fmla="*/ 1051560 w 1051559"/>
                <a:gd name="connsiteY4" fmla="*/ 525780 h 1051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559" h="1051560">
                  <a:moveTo>
                    <a:pt x="1051560" y="525780"/>
                  </a:moveTo>
                  <a:cubicBezTo>
                    <a:pt x="1051560" y="816160"/>
                    <a:pt x="816160" y="1051560"/>
                    <a:pt x="525780" y="1051560"/>
                  </a:cubicBezTo>
                  <a:cubicBezTo>
                    <a:pt x="235400" y="1051560"/>
                    <a:pt x="0" y="816160"/>
                    <a:pt x="0" y="525780"/>
                  </a:cubicBezTo>
                  <a:cubicBezTo>
                    <a:pt x="0" y="235400"/>
                    <a:pt x="235399" y="0"/>
                    <a:pt x="525780" y="0"/>
                  </a:cubicBezTo>
                  <a:cubicBezTo>
                    <a:pt x="816160" y="0"/>
                    <a:pt x="1051560" y="235400"/>
                    <a:pt x="1051560" y="525780"/>
                  </a:cubicBezTo>
                  <a:close/>
                </a:path>
              </a:pathLst>
            </a:custGeom>
            <a:solidFill>
              <a:srgbClr val="FFFFFF"/>
            </a:solidFill>
            <a:ln w="63500" cap="flat">
              <a:gradFill>
                <a:gsLst>
                  <a:gs pos="0">
                    <a:srgbClr val="3368FF"/>
                  </a:gs>
                  <a:gs pos="100000">
                    <a:srgbClr val="B3D4FE"/>
                  </a:gs>
                </a:gsLst>
                <a:lin ang="16200000" scaled="1"/>
              </a:gradFill>
              <a:prstDash val="solid"/>
              <a:miter/>
            </a:ln>
          </p:spPr>
          <p:txBody>
            <a:bodyPr rtlCol="0" anchor="ctr" lIns="0" rIns="0" tIns="0" bIns="0">
              <a:noAutofit/>
            </a:bodyPr>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32" name="文本框 131"/>
            <p:cNvSpPr txBox="1"/>
            <p:nvPr/>
          </p:nvSpPr>
          <p:spPr>
            <a:xfrm>
              <a:off x="6054" y="4903"/>
              <a:ext cx="2095" cy="628"/>
            </a:xfrm>
            <a:prstGeom prst="rect">
              <a:avLst/>
            </a:prstGeom>
            <a:noFill/>
          </p:spPr>
          <p:txBody>
            <a:bodyPr wrap="square">
              <a:spAutoFit/>
            </a:bodyPr>
            <a:p>
              <a:pPr algn="ctr">
                <a:defRPr>
                  <a:latin typeface="微软雅黑"/>
                  <a:ea typeface="微软雅黑"/>
                  <a:cs typeface="微软雅黑"/>
                </a:defRPr>
              </a:pPr>
              <a:r>
                <a:rPr lang="zh-CN" altLang="en-US" sz="2000" b="1" dirty="0">
                  <a:solidFill>
                    <a:srgbClr val="0042FF"/>
                  </a:solidFill>
                  <a:latin typeface="微软雅黑"/>
                  <a:ea typeface="微软雅黑"/>
                  <a:cs typeface="微软雅黑"/>
                </a:rPr>
                <a:t>价值重构：</a:t>
              </a:r>
              <a:endParaRPr lang="zh-CN" altLang="en-US" sz="2000" b="1" dirty="0">
                <a:solidFill>
                  <a:srgbClr val="0042FF"/>
                </a:solidFill>
                <a:latin typeface="微软雅黑"/>
                <a:ea typeface="微软雅黑"/>
                <a:cs typeface="微软雅黑"/>
              </a:endParaRPr>
            </a:p>
          </p:txBody>
        </p:sp>
      </p:grpSp>
      <p:sp>
        <p:nvSpPr>
          <p:cNvPr id="134" name="任意多边形: 形状 70"/>
          <p:cNvSpPr/>
          <p:nvPr/>
        </p:nvSpPr>
        <p:spPr>
          <a:xfrm>
            <a:off x="2769870" y="2426970"/>
            <a:ext cx="3150870" cy="3150870"/>
          </a:xfrm>
          <a:custGeom>
            <a:avLst/>
            <a:gdLst>
              <a:gd name="connsiteX0" fmla="*/ 1051560 w 1051560"/>
              <a:gd name="connsiteY0" fmla="*/ 525780 h 1051560"/>
              <a:gd name="connsiteX1" fmla="*/ 525780 w 1051560"/>
              <a:gd name="connsiteY1" fmla="*/ 1051560 h 1051560"/>
              <a:gd name="connsiteX2" fmla="*/ 0 w 1051560"/>
              <a:gd name="connsiteY2" fmla="*/ 525780 h 1051560"/>
              <a:gd name="connsiteX3" fmla="*/ 525780 w 1051560"/>
              <a:gd name="connsiteY3" fmla="*/ 0 h 1051560"/>
              <a:gd name="connsiteX4" fmla="*/ 1051560 w 1051560"/>
              <a:gd name="connsiteY4" fmla="*/ 525780 h 1051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560" h="1051560">
                <a:moveTo>
                  <a:pt x="1051560" y="525780"/>
                </a:moveTo>
                <a:cubicBezTo>
                  <a:pt x="1051560" y="816160"/>
                  <a:pt x="816160" y="1051560"/>
                  <a:pt x="525780" y="1051560"/>
                </a:cubicBezTo>
                <a:cubicBezTo>
                  <a:pt x="235400" y="1051560"/>
                  <a:pt x="0" y="816160"/>
                  <a:pt x="0" y="525780"/>
                </a:cubicBezTo>
                <a:cubicBezTo>
                  <a:pt x="0" y="235400"/>
                  <a:pt x="235400" y="0"/>
                  <a:pt x="525780" y="0"/>
                </a:cubicBezTo>
                <a:cubicBezTo>
                  <a:pt x="816160" y="0"/>
                  <a:pt x="1051560" y="235400"/>
                  <a:pt x="1051560" y="525780"/>
                </a:cubicBezTo>
                <a:close/>
              </a:path>
            </a:pathLst>
          </a:custGeom>
          <a:noFill/>
          <a:ln w="9525" cap="flat">
            <a:gradFill>
              <a:gsLst>
                <a:gs pos="0">
                  <a:srgbClr val="0042FF"/>
                </a:gs>
                <a:gs pos="32000">
                  <a:srgbClr val="0042FF">
                    <a:alpha val="0"/>
                  </a:srgbClr>
                </a:gs>
              </a:gsLst>
              <a:lin ang="0" scaled="1"/>
            </a:gradFill>
            <a:prstDash val="solid"/>
            <a:miter/>
          </a:ln>
          <a:extLst>
            <a:ext uri="{909E8E84-426E-40DD-AFC4-6F175D3DCCD1}">
              <a14:hiddenFill xmlns:a14="http://schemas.microsoft.com/office/drawing/2010/main">
                <a:solidFill>
                  <a:srgbClr val="FFFFFF"/>
                </a:solidFill>
              </a14:hiddenFill>
            </a:ext>
          </a:extLst>
        </p:spPr>
        <p:txBody>
          <a:bodyPr rtlCol="0" anchor="ctr" lIns="0" rIns="0" tIns="0" bIns="0"/>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135" name="任意多边形: 形状 70"/>
          <p:cNvSpPr/>
          <p:nvPr/>
        </p:nvSpPr>
        <p:spPr>
          <a:xfrm flipH="1">
            <a:off x="6246495" y="2417445"/>
            <a:ext cx="3150870" cy="3150870"/>
          </a:xfrm>
          <a:custGeom>
            <a:avLst/>
            <a:gdLst>
              <a:gd name="connsiteX0" fmla="*/ 1051560 w 1051560"/>
              <a:gd name="connsiteY0" fmla="*/ 525780 h 1051560"/>
              <a:gd name="connsiteX1" fmla="*/ 525780 w 1051560"/>
              <a:gd name="connsiteY1" fmla="*/ 1051560 h 1051560"/>
              <a:gd name="connsiteX2" fmla="*/ 0 w 1051560"/>
              <a:gd name="connsiteY2" fmla="*/ 525780 h 1051560"/>
              <a:gd name="connsiteX3" fmla="*/ 525780 w 1051560"/>
              <a:gd name="connsiteY3" fmla="*/ 0 h 1051560"/>
              <a:gd name="connsiteX4" fmla="*/ 1051560 w 1051560"/>
              <a:gd name="connsiteY4" fmla="*/ 525780 h 1051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560" h="1051560">
                <a:moveTo>
                  <a:pt x="1051560" y="525780"/>
                </a:moveTo>
                <a:cubicBezTo>
                  <a:pt x="1051560" y="816160"/>
                  <a:pt x="816160" y="1051560"/>
                  <a:pt x="525780" y="1051560"/>
                </a:cubicBezTo>
                <a:cubicBezTo>
                  <a:pt x="235400" y="1051560"/>
                  <a:pt x="0" y="816160"/>
                  <a:pt x="0" y="525780"/>
                </a:cubicBezTo>
                <a:cubicBezTo>
                  <a:pt x="0" y="235400"/>
                  <a:pt x="235400" y="0"/>
                  <a:pt x="525780" y="0"/>
                </a:cubicBezTo>
                <a:cubicBezTo>
                  <a:pt x="816160" y="0"/>
                  <a:pt x="1051560" y="235400"/>
                  <a:pt x="1051560" y="525780"/>
                </a:cubicBezTo>
                <a:close/>
              </a:path>
            </a:pathLst>
          </a:custGeom>
          <a:noFill/>
          <a:ln w="9525" cap="flat">
            <a:gradFill>
              <a:gsLst>
                <a:gs pos="0">
                  <a:srgbClr val="3368FF"/>
                </a:gs>
                <a:gs pos="32000">
                  <a:srgbClr val="3368FF">
                    <a:alpha val="0"/>
                  </a:srgbClr>
                </a:gs>
              </a:gsLst>
              <a:lin ang="0" scaled="1"/>
            </a:gradFill>
            <a:prstDash val="solid"/>
            <a:miter/>
          </a:ln>
          <a:extLst>
            <a:ext uri="{909E8E84-426E-40DD-AFC4-6F175D3DCCD1}">
              <a14:hiddenFill xmlns:a14="http://schemas.microsoft.com/office/drawing/2010/main">
                <a:solidFill>
                  <a:srgbClr val="FFFFFF"/>
                </a:solidFill>
              </a14:hiddenFill>
            </a:ext>
          </a:extLst>
        </p:spPr>
        <p:txBody>
          <a:bodyPr rtlCol="0" anchor="ctr" lIns="0" rIns="0" tIns="0" bIns="0"/>
          <a:p>
            <a:pPr>
              <a:defRPr>
                <a:latin typeface="微软雅黑"/>
                <a:ea typeface="微软雅黑"/>
                <a:cs typeface="微软雅黑"/>
              </a:defRPr>
            </a:pPr>
            <a:endParaRPr lang="en-US">
              <a:latin typeface="微软雅黑"/>
              <a:ea typeface="微软雅黑"/>
              <a:cs typeface="微软雅黑"/>
            </a:endParaRPr>
          </a:p>
        </p:txBody>
      </p:sp>
      <p:cxnSp>
        <p:nvCxnSpPr>
          <p:cNvPr id="136" name="直接连接符 135"/>
          <p:cNvCxnSpPr/>
          <p:nvPr/>
        </p:nvCxnSpPr>
        <p:spPr>
          <a:xfrm>
            <a:off x="2962275" y="2684145"/>
            <a:ext cx="246380" cy="151765"/>
          </a:xfrm>
          <a:prstGeom prst="line">
            <a:avLst/>
          </a:prstGeom>
          <a:ln>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37" name="直接连接符 136"/>
          <p:cNvCxnSpPr/>
          <p:nvPr/>
        </p:nvCxnSpPr>
        <p:spPr>
          <a:xfrm>
            <a:off x="2613025" y="3100070"/>
            <a:ext cx="311150" cy="114300"/>
          </a:xfrm>
          <a:prstGeom prst="line">
            <a:avLst/>
          </a:prstGeom>
          <a:ln>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38" name="直接连接符 137"/>
          <p:cNvCxnSpPr/>
          <p:nvPr/>
        </p:nvCxnSpPr>
        <p:spPr>
          <a:xfrm>
            <a:off x="2371090" y="3543300"/>
            <a:ext cx="398145" cy="52070"/>
          </a:xfrm>
          <a:prstGeom prst="line">
            <a:avLst/>
          </a:prstGeom>
          <a:ln>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39" name="直接连接符 138"/>
          <p:cNvCxnSpPr/>
          <p:nvPr/>
        </p:nvCxnSpPr>
        <p:spPr>
          <a:xfrm flipV="1">
            <a:off x="2322195" y="3980180"/>
            <a:ext cx="396875" cy="25400"/>
          </a:xfrm>
          <a:prstGeom prst="line">
            <a:avLst/>
          </a:prstGeom>
          <a:ln>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40" name="直接连接符 139"/>
          <p:cNvCxnSpPr/>
          <p:nvPr/>
        </p:nvCxnSpPr>
        <p:spPr>
          <a:xfrm flipV="1">
            <a:off x="2366010" y="4361180"/>
            <a:ext cx="394335" cy="86995"/>
          </a:xfrm>
          <a:prstGeom prst="line">
            <a:avLst/>
          </a:prstGeom>
          <a:ln>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41" name="直接连接符 140"/>
          <p:cNvCxnSpPr/>
          <p:nvPr/>
        </p:nvCxnSpPr>
        <p:spPr>
          <a:xfrm flipV="1">
            <a:off x="2552700" y="4749800"/>
            <a:ext cx="349250" cy="169545"/>
          </a:xfrm>
          <a:prstGeom prst="line">
            <a:avLst/>
          </a:prstGeom>
          <a:ln>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42" name="直接连接符 141"/>
          <p:cNvCxnSpPr/>
          <p:nvPr/>
        </p:nvCxnSpPr>
        <p:spPr>
          <a:xfrm flipV="1">
            <a:off x="2917190" y="5069840"/>
            <a:ext cx="206375" cy="174625"/>
          </a:xfrm>
          <a:prstGeom prst="line">
            <a:avLst/>
          </a:prstGeom>
          <a:ln>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48" name="直接连接符 147"/>
          <p:cNvCxnSpPr/>
          <p:nvPr/>
        </p:nvCxnSpPr>
        <p:spPr>
          <a:xfrm>
            <a:off x="9063990" y="5069840"/>
            <a:ext cx="246380" cy="151765"/>
          </a:xfrm>
          <a:prstGeom prst="line">
            <a:avLst/>
          </a:prstGeom>
          <a:ln>
            <a:solidFill>
              <a:srgbClr val="3368FF"/>
            </a:solidFill>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49" name="直接连接符 148"/>
          <p:cNvCxnSpPr/>
          <p:nvPr/>
        </p:nvCxnSpPr>
        <p:spPr>
          <a:xfrm>
            <a:off x="9286875" y="4753610"/>
            <a:ext cx="295275" cy="125730"/>
          </a:xfrm>
          <a:prstGeom prst="line">
            <a:avLst/>
          </a:prstGeom>
          <a:ln>
            <a:solidFill>
              <a:srgbClr val="3368FF"/>
            </a:solidFill>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50" name="直接连接符 149"/>
          <p:cNvCxnSpPr/>
          <p:nvPr/>
        </p:nvCxnSpPr>
        <p:spPr>
          <a:xfrm>
            <a:off x="9418320" y="4361180"/>
            <a:ext cx="377825" cy="57150"/>
          </a:xfrm>
          <a:prstGeom prst="line">
            <a:avLst/>
          </a:prstGeom>
          <a:ln>
            <a:solidFill>
              <a:srgbClr val="3368FF"/>
            </a:solidFill>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51" name="直接连接符 150"/>
          <p:cNvCxnSpPr/>
          <p:nvPr/>
        </p:nvCxnSpPr>
        <p:spPr>
          <a:xfrm flipV="1">
            <a:off x="9454515" y="3975100"/>
            <a:ext cx="378460" cy="9525"/>
          </a:xfrm>
          <a:prstGeom prst="line">
            <a:avLst/>
          </a:prstGeom>
          <a:ln>
            <a:solidFill>
              <a:srgbClr val="3368FF"/>
            </a:solidFill>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52" name="直接连接符 151"/>
          <p:cNvCxnSpPr/>
          <p:nvPr/>
        </p:nvCxnSpPr>
        <p:spPr>
          <a:xfrm flipV="1">
            <a:off x="9417685" y="3519170"/>
            <a:ext cx="378460" cy="85725"/>
          </a:xfrm>
          <a:prstGeom prst="line">
            <a:avLst/>
          </a:prstGeom>
          <a:ln>
            <a:solidFill>
              <a:srgbClr val="3368FF"/>
            </a:solidFill>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53" name="直接连接符 152"/>
          <p:cNvCxnSpPr/>
          <p:nvPr/>
        </p:nvCxnSpPr>
        <p:spPr>
          <a:xfrm flipV="1">
            <a:off x="9269730" y="3065145"/>
            <a:ext cx="323215" cy="153035"/>
          </a:xfrm>
          <a:prstGeom prst="line">
            <a:avLst/>
          </a:prstGeom>
          <a:ln>
            <a:solidFill>
              <a:srgbClr val="3368FF"/>
            </a:solidFill>
            <a:headEnd type="oval" w="sm" len="sm"/>
            <a:tailEnd type="oval" w="sm" len="sm"/>
          </a:ln>
        </p:spPr>
        <p:style>
          <a:lnRef idx="2">
            <a:srgbClr val="0042FF"/>
          </a:lnRef>
          <a:fillRef idx="0">
            <a:srgbClr val="FFFFFF"/>
          </a:fillRef>
          <a:effectRef idx="0">
            <a:srgbClr val="FFFFFF"/>
          </a:effectRef>
          <a:fontRef idx="minor">
            <a:srgbClr val="383838"/>
          </a:fontRef>
        </p:style>
      </p:cxnSp>
      <p:cxnSp>
        <p:nvCxnSpPr>
          <p:cNvPr id="154" name="直接连接符 153"/>
          <p:cNvCxnSpPr/>
          <p:nvPr/>
        </p:nvCxnSpPr>
        <p:spPr>
          <a:xfrm flipV="1">
            <a:off x="9030335" y="2722880"/>
            <a:ext cx="209550" cy="181610"/>
          </a:xfrm>
          <a:prstGeom prst="line">
            <a:avLst/>
          </a:prstGeom>
          <a:ln>
            <a:solidFill>
              <a:srgbClr val="3368FF"/>
            </a:solidFill>
            <a:headEnd type="oval" w="sm" len="sm"/>
            <a:tailEnd type="oval" w="sm" len="sm"/>
          </a:ln>
        </p:spPr>
        <p:style>
          <a:lnRef idx="2">
            <a:srgbClr val="0042FF"/>
          </a:lnRef>
          <a:fillRef idx="0">
            <a:srgbClr val="FFFFFF"/>
          </a:fillRef>
          <a:effectRef idx="0">
            <a:srgbClr val="FFFFFF"/>
          </a:effectRef>
          <a:fontRef idx="minor">
            <a:srgbClr val="383838"/>
          </a:fontRef>
        </p:style>
      </p:cxnSp>
      <p:sp>
        <p:nvSpPr>
          <p:cNvPr id="160" name="六边形 159"/>
          <p:cNvSpPr/>
          <p:nvPr/>
        </p:nvSpPr>
        <p:spPr>
          <a:xfrm rot="19860000">
            <a:off x="3658235" y="2179320"/>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1" name="六边形 160"/>
          <p:cNvSpPr/>
          <p:nvPr/>
        </p:nvSpPr>
        <p:spPr>
          <a:xfrm rot="21300000">
            <a:off x="4126865" y="2044065"/>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2" name="六边形 161"/>
          <p:cNvSpPr/>
          <p:nvPr/>
        </p:nvSpPr>
        <p:spPr>
          <a:xfrm rot="840000">
            <a:off x="4623435" y="2059940"/>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3" name="六边形 162"/>
          <p:cNvSpPr/>
          <p:nvPr/>
        </p:nvSpPr>
        <p:spPr>
          <a:xfrm rot="1680000">
            <a:off x="5102860" y="2246630"/>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4" name="六边形 163"/>
          <p:cNvSpPr/>
          <p:nvPr/>
        </p:nvSpPr>
        <p:spPr>
          <a:xfrm rot="2400000">
            <a:off x="5528310" y="2515235"/>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65" name="六边形 164"/>
          <p:cNvSpPr/>
          <p:nvPr/>
        </p:nvSpPr>
        <p:spPr>
          <a:xfrm rot="19860000">
            <a:off x="6556375" y="2245360"/>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6" name="六边形 165"/>
          <p:cNvSpPr/>
          <p:nvPr/>
        </p:nvSpPr>
        <p:spPr>
          <a:xfrm rot="19080000">
            <a:off x="6133465" y="2516505"/>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7" name="六边形 166"/>
          <p:cNvSpPr/>
          <p:nvPr/>
        </p:nvSpPr>
        <p:spPr>
          <a:xfrm rot="20880000">
            <a:off x="7039610" y="2065020"/>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8" name="六边形 167"/>
          <p:cNvSpPr/>
          <p:nvPr/>
        </p:nvSpPr>
        <p:spPr>
          <a:xfrm rot="180000">
            <a:off x="7529830" y="2040255"/>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9" name="六边形 168"/>
          <p:cNvSpPr/>
          <p:nvPr/>
        </p:nvSpPr>
        <p:spPr>
          <a:xfrm rot="1620000">
            <a:off x="8007350" y="2181860"/>
            <a:ext cx="361950" cy="314960"/>
          </a:xfrm>
          <a:prstGeom prst="hexagon">
            <a:avLst/>
          </a:prstGeom>
          <a:noFill/>
          <a:ln>
            <a:solidFill>
              <a:srgbClr val="DCDCDC"/>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文本框 2"/>
          <p:cNvSpPr txBox="1"/>
          <p:nvPr/>
        </p:nvSpPr>
        <p:spPr>
          <a:xfrm>
            <a:off x="402590" y="1005205"/>
            <a:ext cx="5114925" cy="737235"/>
          </a:xfrm>
          <a:prstGeom prst="rect">
            <a:avLst/>
          </a:prstGeom>
          <a:noFill/>
        </p:spPr>
        <p:txBody>
          <a:bodyPr wrap="square" rtlCol="0">
            <a:spAutoFit/>
          </a:bodyPr>
          <a:p>
            <a:pPr>
              <a:defRPr>
                <a:latin typeface="微软雅黑"/>
                <a:ea typeface="微软雅黑"/>
                <a:cs typeface="微软雅黑"/>
              </a:defRPr>
            </a:pPr>
            <a:r>
              <a:rPr lang="zh-CN" altLang="en-US" sz="1400">
                <a:latin typeface="微软雅黑"/>
                <a:ea typeface="微软雅黑"/>
                <a:cs typeface="微软雅黑"/>
              </a:rPr>
              <a:t>数字化营销</a:t>
            </a:r>
            <a:r>
              <a:rPr lang="en-US" altLang="zh-CN" sz="1400">
                <a:latin typeface="微软雅黑"/>
                <a:ea typeface="微软雅黑"/>
                <a:cs typeface="微软雅黑"/>
              </a:rPr>
              <a:t>+</a:t>
            </a:r>
            <a:r>
              <a:rPr lang="zh-CN" altLang="en-US" sz="1400">
                <a:latin typeface="微软雅黑"/>
                <a:ea typeface="微软雅黑"/>
                <a:cs typeface="微软雅黑"/>
              </a:rPr>
              <a:t>全域运营模式</a:t>
            </a:r>
            <a:r>
              <a:rPr lang="en-US" altLang="zh-CN" sz="1400">
                <a:latin typeface="微软雅黑"/>
                <a:ea typeface="微软雅黑"/>
                <a:cs typeface="微软雅黑"/>
              </a:rPr>
              <a:t> </a:t>
            </a:r>
            <a:r>
              <a:rPr lang="en-US" altLang="en-US" sz="1400">
                <a:latin typeface="微软雅黑"/>
                <a:ea typeface="微软雅黑"/>
                <a:cs typeface="微软雅黑"/>
              </a:rPr>
              <a:t>→</a:t>
            </a:r>
            <a:r>
              <a:rPr lang="en-US" altLang="zh-CN" sz="1400">
                <a:latin typeface="微软雅黑"/>
                <a:ea typeface="微软雅黑"/>
                <a:cs typeface="微软雅黑"/>
              </a:rPr>
              <a:t> </a:t>
            </a:r>
            <a:r>
              <a:rPr lang="zh-CN" altLang="en-US" sz="1400">
                <a:latin typeface="微软雅黑"/>
                <a:ea typeface="微软雅黑"/>
                <a:cs typeface="微软雅黑"/>
              </a:rPr>
              <a:t>聚焦会员价值</a:t>
            </a:r>
            <a:r>
              <a:rPr lang="en-US" altLang="zh-CN" sz="1400">
                <a:latin typeface="微软雅黑"/>
                <a:ea typeface="微软雅黑"/>
                <a:cs typeface="微软雅黑"/>
              </a:rPr>
              <a:t>+</a:t>
            </a:r>
            <a:r>
              <a:rPr lang="zh-CN" altLang="en-US" sz="1400">
                <a:latin typeface="微软雅黑"/>
                <a:ea typeface="微软雅黑"/>
                <a:cs typeface="微软雅黑"/>
              </a:rPr>
              <a:t>个性化体验</a:t>
            </a:r>
            <a:endParaRPr lang="zh-CN" altLang="en-US" sz="1400">
              <a:latin typeface="微软雅黑"/>
              <a:ea typeface="微软雅黑"/>
              <a:cs typeface="微软雅黑"/>
            </a:endParaRPr>
          </a:p>
          <a:p>
            <a:pPr marL="285750" indent="-285750">
              <a:buFont typeface="微软雅黑"/>
              <a:buChar char="◆"/>
              <a:defRPr>
                <a:latin typeface="微软雅黑"/>
                <a:ea typeface="微软雅黑"/>
                <a:cs typeface="微软雅黑"/>
              </a:defRPr>
            </a:pPr>
            <a:r>
              <a:rPr lang="zh-CN" altLang="en-US" sz="1400">
                <a:latin typeface="微软雅黑"/>
                <a:ea typeface="微软雅黑"/>
                <a:cs typeface="微软雅黑"/>
              </a:rPr>
              <a:t>对外：拓展公域流量，构建品牌声量</a:t>
            </a:r>
            <a:endParaRPr lang="zh-CN" altLang="en-US" sz="1400">
              <a:latin typeface="微软雅黑"/>
              <a:ea typeface="微软雅黑"/>
              <a:cs typeface="微软雅黑"/>
            </a:endParaRPr>
          </a:p>
          <a:p>
            <a:pPr marL="285750" indent="-285750">
              <a:buFont typeface="微软雅黑"/>
              <a:buChar char="◆"/>
              <a:defRPr>
                <a:latin typeface="微软雅黑"/>
                <a:ea typeface="微软雅黑"/>
                <a:cs typeface="微软雅黑"/>
              </a:defRPr>
            </a:pPr>
            <a:r>
              <a:rPr lang="zh-CN" altLang="en-US" sz="1400">
                <a:latin typeface="微软雅黑"/>
                <a:ea typeface="微软雅黑"/>
                <a:cs typeface="微软雅黑"/>
              </a:rPr>
              <a:t>对内：深耕私域用户，提升复购忠诚</a:t>
            </a:r>
            <a:endParaRPr lang="zh-CN" altLang="en-US" sz="1400">
              <a:latin typeface="微软雅黑"/>
              <a:ea typeface="微软雅黑"/>
              <a:cs typeface="微软雅黑"/>
            </a:endParaRPr>
          </a:p>
        </p:txBody>
      </p:sp>
      <p:sp>
        <p:nvSpPr>
          <p:cNvPr id="4" name="文本框 3"/>
          <p:cNvSpPr txBox="1"/>
          <p:nvPr/>
        </p:nvSpPr>
        <p:spPr>
          <a:xfrm>
            <a:off x="7430135" y="1005205"/>
            <a:ext cx="5114925" cy="737235"/>
          </a:xfrm>
          <a:prstGeom prst="rect">
            <a:avLst/>
          </a:prstGeom>
          <a:noFill/>
        </p:spPr>
        <p:txBody>
          <a:bodyPr wrap="square" rtlCol="0">
            <a:spAutoFit/>
          </a:bodyPr>
          <a:p>
            <a:pPr indent="0">
              <a:buFont typeface="微软雅黑"/>
              <a:buNone/>
              <a:defRPr>
                <a:latin typeface="微软雅黑"/>
                <a:ea typeface="微软雅黑"/>
                <a:cs typeface="微软雅黑"/>
              </a:defRPr>
            </a:pPr>
            <a:r>
              <a:rPr lang="zh-CN" altLang="en-US" sz="1400">
                <a:latin typeface="微软雅黑"/>
                <a:ea typeface="微软雅黑"/>
                <a:cs typeface="微软雅黑"/>
              </a:rPr>
              <a:t>鞋服企业提供战略转型，构建了：</a:t>
            </a:r>
            <a:endParaRPr lang="zh-CN" altLang="en-US" sz="1400">
              <a:latin typeface="微软雅黑"/>
              <a:ea typeface="微软雅黑"/>
              <a:cs typeface="微软雅黑"/>
            </a:endParaRPr>
          </a:p>
          <a:p>
            <a:pPr marL="285750" indent="-285750">
              <a:buFont typeface="微软雅黑"/>
              <a:buChar char="◆"/>
              <a:defRPr>
                <a:latin typeface="微软雅黑"/>
                <a:ea typeface="微软雅黑"/>
                <a:cs typeface="微软雅黑"/>
              </a:defRPr>
            </a:pPr>
            <a:r>
              <a:rPr lang="zh-CN" altLang="en-US" sz="1400">
                <a:latin typeface="微软雅黑"/>
                <a:ea typeface="微软雅黑"/>
                <a:cs typeface="微软雅黑"/>
              </a:rPr>
              <a:t>以会员为根基、圈层为纽带、达人为杠杆的增长飞轮</a:t>
            </a:r>
            <a:endParaRPr lang="zh-CN" altLang="en-US" sz="1400">
              <a:latin typeface="微软雅黑"/>
              <a:ea typeface="微软雅黑"/>
              <a:cs typeface="微软雅黑"/>
            </a:endParaRPr>
          </a:p>
          <a:p>
            <a:pPr marL="285750" indent="-285750">
              <a:buFont typeface="微软雅黑"/>
              <a:buChar char="◆"/>
              <a:defRPr>
                <a:latin typeface="微软雅黑"/>
                <a:ea typeface="微软雅黑"/>
                <a:cs typeface="微软雅黑"/>
              </a:defRPr>
            </a:pPr>
            <a:r>
              <a:rPr lang="zh-CN" altLang="en-US" sz="1400">
                <a:latin typeface="微软雅黑"/>
                <a:ea typeface="微软雅黑"/>
                <a:cs typeface="微软雅黑"/>
              </a:rPr>
              <a:t>实现从</a:t>
            </a:r>
            <a:r>
              <a:rPr lang="en-US" altLang="zh-CN" sz="1400">
                <a:latin typeface="微软雅黑"/>
                <a:ea typeface="微软雅黑"/>
                <a:cs typeface="微软雅黑"/>
              </a:rPr>
              <a:t>“</a:t>
            </a:r>
            <a:r>
              <a:rPr lang="zh-CN" altLang="en-US" sz="1400">
                <a:latin typeface="微软雅黑"/>
                <a:ea typeface="微软雅黑"/>
                <a:cs typeface="微软雅黑"/>
              </a:rPr>
              <a:t>流量收割</a:t>
            </a:r>
            <a:r>
              <a:rPr lang="en-US" altLang="zh-CN" sz="1400">
                <a:latin typeface="微软雅黑"/>
                <a:ea typeface="微软雅黑"/>
                <a:cs typeface="微软雅黑"/>
              </a:rPr>
              <a:t>”</a:t>
            </a:r>
            <a:r>
              <a:rPr lang="zh-CN" altLang="en-US" sz="1400">
                <a:latin typeface="微软雅黑"/>
                <a:ea typeface="微软雅黑"/>
                <a:cs typeface="微软雅黑"/>
              </a:rPr>
              <a:t>到</a:t>
            </a:r>
            <a:r>
              <a:rPr lang="en-US" altLang="zh-CN" sz="1400">
                <a:latin typeface="微软雅黑"/>
                <a:ea typeface="微软雅黑"/>
                <a:cs typeface="微软雅黑"/>
              </a:rPr>
              <a:t>“</a:t>
            </a:r>
            <a:r>
              <a:rPr lang="zh-CN" altLang="en-US" sz="1400">
                <a:latin typeface="微软雅黑"/>
                <a:ea typeface="微软雅黑"/>
                <a:cs typeface="微软雅黑"/>
              </a:rPr>
              <a:t>用户共生</a:t>
            </a:r>
            <a:r>
              <a:rPr lang="en-US" altLang="zh-CN" sz="1400">
                <a:latin typeface="微软雅黑"/>
                <a:ea typeface="微软雅黑"/>
                <a:cs typeface="微软雅黑"/>
              </a:rPr>
              <a:t>”</a:t>
            </a:r>
            <a:r>
              <a:rPr lang="zh-CN" altLang="en-US" sz="1400">
                <a:latin typeface="微软雅黑"/>
                <a:ea typeface="微软雅黑"/>
                <a:cs typeface="微软雅黑"/>
              </a:rPr>
              <a:t>的战略升级</a:t>
            </a:r>
            <a:endParaRPr lang="zh-CN" altLang="en-US" sz="1400">
              <a:latin typeface="微软雅黑"/>
              <a:ea typeface="微软雅黑"/>
              <a:cs typeface="微软雅黑"/>
            </a:endParaRPr>
          </a:p>
        </p:txBody>
      </p:sp>
      <p:sp>
        <p:nvSpPr>
          <p:cNvPr id="11" name="文本框 10"/>
          <p:cNvSpPr txBox="1"/>
          <p:nvPr/>
        </p:nvSpPr>
        <p:spPr>
          <a:xfrm>
            <a:off x="3813810" y="3972560"/>
            <a:ext cx="1228090" cy="521970"/>
          </a:xfrm>
          <a:prstGeom prst="rect">
            <a:avLst/>
          </a:prstGeom>
          <a:noFill/>
        </p:spPr>
        <p:txBody>
          <a:bodyPr wrap="square">
            <a:spAutoFit/>
          </a:bodyPr>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全域融合与体验升级</a:t>
            </a:r>
            <a:endParaRPr lang="zh-CN" altLang="en-US" sz="1400" dirty="0">
              <a:solidFill>
                <a:srgbClr val="383838"/>
              </a:solidFill>
              <a:latin typeface="微软雅黑"/>
              <a:ea typeface="微软雅黑"/>
              <a:cs typeface="微软雅黑"/>
            </a:endParaRPr>
          </a:p>
        </p:txBody>
      </p:sp>
      <p:sp>
        <p:nvSpPr>
          <p:cNvPr id="34" name="文本框 33"/>
          <p:cNvSpPr txBox="1"/>
          <p:nvPr/>
        </p:nvSpPr>
        <p:spPr>
          <a:xfrm>
            <a:off x="7166610" y="3519170"/>
            <a:ext cx="1330325" cy="398780"/>
          </a:xfrm>
          <a:prstGeom prst="rect">
            <a:avLst/>
          </a:prstGeom>
          <a:noFill/>
        </p:spPr>
        <p:txBody>
          <a:bodyPr wrap="square">
            <a:spAutoFit/>
          </a:bodyPr>
          <a:p>
            <a:pPr algn="ctr">
              <a:defRPr>
                <a:latin typeface="微软雅黑"/>
                <a:ea typeface="微软雅黑"/>
                <a:cs typeface="微软雅黑"/>
              </a:defRPr>
            </a:pPr>
            <a:r>
              <a:rPr lang="zh-CN" altLang="en-US" sz="2000" b="1" dirty="0">
                <a:solidFill>
                  <a:srgbClr val="0042FF"/>
                </a:solidFill>
                <a:latin typeface="微软雅黑"/>
                <a:ea typeface="微软雅黑"/>
                <a:cs typeface="微软雅黑"/>
              </a:rPr>
              <a:t>战略转型：</a:t>
            </a:r>
            <a:endParaRPr lang="zh-CN" altLang="en-US" sz="2000" b="1" dirty="0">
              <a:solidFill>
                <a:srgbClr val="0042FF"/>
              </a:solidFill>
              <a:latin typeface="微软雅黑"/>
              <a:ea typeface="微软雅黑"/>
              <a:cs typeface="微软雅黑"/>
            </a:endParaRPr>
          </a:p>
        </p:txBody>
      </p:sp>
      <p:sp>
        <p:nvSpPr>
          <p:cNvPr id="35" name="文本框 34"/>
          <p:cNvSpPr txBox="1"/>
          <p:nvPr/>
        </p:nvSpPr>
        <p:spPr>
          <a:xfrm>
            <a:off x="7169785" y="3972560"/>
            <a:ext cx="1228090" cy="521970"/>
          </a:xfrm>
          <a:prstGeom prst="rect">
            <a:avLst/>
          </a:prstGeom>
          <a:noFill/>
        </p:spPr>
        <p:txBody>
          <a:bodyPr wrap="square">
            <a:spAutoFit/>
          </a:bodyPr>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数据驱动的全域增长</a:t>
            </a:r>
            <a:endParaRPr lang="zh-CN" altLang="en-US" sz="1400" dirty="0">
              <a:solidFill>
                <a:srgbClr val="383838"/>
              </a:solidFill>
              <a:latin typeface="微软雅黑"/>
              <a:ea typeface="微软雅黑"/>
              <a:cs typeface="微软雅黑"/>
            </a:endParaRPr>
          </a:p>
        </p:txBody>
      </p:sp>
      <p:grpSp>
        <p:nvGrpSpPr>
          <p:cNvPr id="61" name="组合 60"/>
          <p:cNvGrpSpPr/>
          <p:nvPr/>
        </p:nvGrpSpPr>
        <p:grpSpPr>
          <a:xfrm>
            <a:off x="3813810" y="5551805"/>
            <a:ext cx="561975" cy="875665"/>
            <a:chOff x="6006" y="8756"/>
            <a:chExt cx="885" cy="1379"/>
          </a:xfrm>
        </p:grpSpPr>
        <p:sp>
          <p:nvSpPr>
            <p:cNvPr id="174" name="椭圆 173"/>
            <p:cNvSpPr/>
            <p:nvPr/>
          </p:nvSpPr>
          <p:spPr>
            <a:xfrm>
              <a:off x="6042" y="8756"/>
              <a:ext cx="813" cy="813"/>
            </a:xfrm>
            <a:prstGeom prst="ellipse">
              <a:avLst/>
            </a:prstGeom>
            <a:solidFill>
              <a:srgbClr val="FFFFFF"/>
            </a:solid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7" name="文本框 46"/>
            <p:cNvSpPr txBox="1"/>
            <p:nvPr/>
          </p:nvSpPr>
          <p:spPr>
            <a:xfrm>
              <a:off x="6006" y="9701"/>
              <a:ext cx="885" cy="434"/>
            </a:xfrm>
            <a:prstGeom prst="rect">
              <a:avLst/>
            </a:prstGeom>
            <a:noFill/>
            <a:ln>
              <a:noFill/>
            </a:ln>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数据</a:t>
              </a:r>
              <a:endParaRPr lang="zh-CN" altLang="en-US" sz="1200">
                <a:latin typeface="微软雅黑"/>
                <a:ea typeface="微软雅黑"/>
                <a:cs typeface="微软雅黑"/>
              </a:endParaRPr>
            </a:p>
          </p:txBody>
        </p:sp>
      </p:grpSp>
      <p:grpSp>
        <p:nvGrpSpPr>
          <p:cNvPr id="62" name="组合 61"/>
          <p:cNvGrpSpPr/>
          <p:nvPr/>
        </p:nvGrpSpPr>
        <p:grpSpPr>
          <a:xfrm>
            <a:off x="4500245" y="5551805"/>
            <a:ext cx="561975" cy="875665"/>
            <a:chOff x="6006" y="8756"/>
            <a:chExt cx="885" cy="1379"/>
          </a:xfrm>
        </p:grpSpPr>
        <p:sp>
          <p:nvSpPr>
            <p:cNvPr id="63" name="椭圆 62"/>
            <p:cNvSpPr/>
            <p:nvPr/>
          </p:nvSpPr>
          <p:spPr>
            <a:xfrm>
              <a:off x="6042" y="8756"/>
              <a:ext cx="813" cy="813"/>
            </a:xfrm>
            <a:prstGeom prst="ellipse">
              <a:avLst/>
            </a:prstGeom>
            <a:solidFill>
              <a:srgbClr val="FFFFFF"/>
            </a:solid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4" name="文本框 63"/>
            <p:cNvSpPr txBox="1"/>
            <p:nvPr/>
          </p:nvSpPr>
          <p:spPr>
            <a:xfrm>
              <a:off x="6006" y="9701"/>
              <a:ext cx="885" cy="434"/>
            </a:xfrm>
            <a:prstGeom prst="rect">
              <a:avLst/>
            </a:prstGeom>
            <a:noFill/>
            <a:ln>
              <a:noFill/>
            </a:ln>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精投</a:t>
              </a:r>
              <a:endParaRPr lang="zh-CN" altLang="en-US" sz="1200">
                <a:latin typeface="微软雅黑"/>
                <a:ea typeface="微软雅黑"/>
                <a:cs typeface="微软雅黑"/>
              </a:endParaRPr>
            </a:p>
          </p:txBody>
        </p:sp>
      </p:grpSp>
      <p:grpSp>
        <p:nvGrpSpPr>
          <p:cNvPr id="65" name="组合 64"/>
          <p:cNvGrpSpPr/>
          <p:nvPr/>
        </p:nvGrpSpPr>
        <p:grpSpPr>
          <a:xfrm>
            <a:off x="5186680" y="5551805"/>
            <a:ext cx="561975" cy="875665"/>
            <a:chOff x="6006" y="8756"/>
            <a:chExt cx="885" cy="1379"/>
          </a:xfrm>
        </p:grpSpPr>
        <p:sp>
          <p:nvSpPr>
            <p:cNvPr id="66" name="椭圆 65"/>
            <p:cNvSpPr/>
            <p:nvPr/>
          </p:nvSpPr>
          <p:spPr>
            <a:xfrm>
              <a:off x="6042" y="8756"/>
              <a:ext cx="813" cy="813"/>
            </a:xfrm>
            <a:prstGeom prst="ellipse">
              <a:avLst/>
            </a:prstGeom>
            <a:solidFill>
              <a:srgbClr val="FFFFFF"/>
            </a:solid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7" name="文本框 66"/>
            <p:cNvSpPr txBox="1"/>
            <p:nvPr/>
          </p:nvSpPr>
          <p:spPr>
            <a:xfrm>
              <a:off x="6006" y="9701"/>
              <a:ext cx="885" cy="434"/>
            </a:xfrm>
            <a:prstGeom prst="rect">
              <a:avLst/>
            </a:prstGeom>
            <a:noFill/>
            <a:ln>
              <a:noFill/>
            </a:ln>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智能</a:t>
              </a:r>
              <a:endParaRPr lang="zh-CN" altLang="en-US" sz="1200">
                <a:latin typeface="微软雅黑"/>
                <a:ea typeface="微软雅黑"/>
                <a:cs typeface="微软雅黑"/>
              </a:endParaRPr>
            </a:p>
          </p:txBody>
        </p:sp>
      </p:grpSp>
      <p:grpSp>
        <p:nvGrpSpPr>
          <p:cNvPr id="68" name="组合 67"/>
          <p:cNvGrpSpPr/>
          <p:nvPr/>
        </p:nvGrpSpPr>
        <p:grpSpPr>
          <a:xfrm>
            <a:off x="5873115" y="5551805"/>
            <a:ext cx="561975" cy="875665"/>
            <a:chOff x="6006" y="8756"/>
            <a:chExt cx="885" cy="1379"/>
          </a:xfrm>
        </p:grpSpPr>
        <p:sp>
          <p:nvSpPr>
            <p:cNvPr id="69" name="椭圆 68"/>
            <p:cNvSpPr/>
            <p:nvPr/>
          </p:nvSpPr>
          <p:spPr>
            <a:xfrm>
              <a:off x="6042" y="8756"/>
              <a:ext cx="813" cy="813"/>
            </a:xfrm>
            <a:prstGeom prst="ellipse">
              <a:avLst/>
            </a:prstGeom>
            <a:solidFill>
              <a:srgbClr val="FFFFFF"/>
            </a:solid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0" name="文本框 69"/>
            <p:cNvSpPr txBox="1"/>
            <p:nvPr/>
          </p:nvSpPr>
          <p:spPr>
            <a:xfrm>
              <a:off x="6006" y="9701"/>
              <a:ext cx="885" cy="434"/>
            </a:xfrm>
            <a:prstGeom prst="rect">
              <a:avLst/>
            </a:prstGeom>
            <a:noFill/>
            <a:ln>
              <a:noFill/>
            </a:ln>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制造</a:t>
              </a:r>
              <a:endParaRPr lang="zh-CN" altLang="en-US" sz="1200">
                <a:latin typeface="微软雅黑"/>
                <a:ea typeface="微软雅黑"/>
                <a:cs typeface="微软雅黑"/>
              </a:endParaRPr>
            </a:p>
          </p:txBody>
        </p:sp>
      </p:grpSp>
      <p:grpSp>
        <p:nvGrpSpPr>
          <p:cNvPr id="71" name="组合 70"/>
          <p:cNvGrpSpPr/>
          <p:nvPr/>
        </p:nvGrpSpPr>
        <p:grpSpPr>
          <a:xfrm>
            <a:off x="6559550" y="5551805"/>
            <a:ext cx="561975" cy="875665"/>
            <a:chOff x="6006" y="8756"/>
            <a:chExt cx="885" cy="1379"/>
          </a:xfrm>
        </p:grpSpPr>
        <p:sp>
          <p:nvSpPr>
            <p:cNvPr id="72" name="椭圆 71"/>
            <p:cNvSpPr/>
            <p:nvPr/>
          </p:nvSpPr>
          <p:spPr>
            <a:xfrm>
              <a:off x="6042" y="8756"/>
              <a:ext cx="813" cy="813"/>
            </a:xfrm>
            <a:prstGeom prst="ellipse">
              <a:avLst/>
            </a:prstGeom>
            <a:solidFill>
              <a:srgbClr val="FFFFFF"/>
            </a:solid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3" name="文本框 72"/>
            <p:cNvSpPr txBox="1"/>
            <p:nvPr/>
          </p:nvSpPr>
          <p:spPr>
            <a:xfrm>
              <a:off x="6006" y="9701"/>
              <a:ext cx="885" cy="434"/>
            </a:xfrm>
            <a:prstGeom prst="rect">
              <a:avLst/>
            </a:prstGeom>
            <a:noFill/>
            <a:ln>
              <a:noFill/>
            </a:ln>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安全</a:t>
              </a:r>
              <a:endParaRPr lang="zh-CN" altLang="en-US" sz="1200">
                <a:latin typeface="微软雅黑"/>
                <a:ea typeface="微软雅黑"/>
                <a:cs typeface="微软雅黑"/>
              </a:endParaRPr>
            </a:p>
          </p:txBody>
        </p:sp>
      </p:grpSp>
      <p:grpSp>
        <p:nvGrpSpPr>
          <p:cNvPr id="74" name="组合 73"/>
          <p:cNvGrpSpPr/>
          <p:nvPr/>
        </p:nvGrpSpPr>
        <p:grpSpPr>
          <a:xfrm>
            <a:off x="7245985" y="5551805"/>
            <a:ext cx="561975" cy="875665"/>
            <a:chOff x="6006" y="8756"/>
            <a:chExt cx="885" cy="1379"/>
          </a:xfrm>
          <a:solidFill>
            <a:srgbClr val="FFFFFF"/>
          </a:solidFill>
        </p:grpSpPr>
        <p:sp>
          <p:nvSpPr>
            <p:cNvPr id="75" name="椭圆 74"/>
            <p:cNvSpPr/>
            <p:nvPr/>
          </p:nvSpPr>
          <p:spPr>
            <a:xfrm>
              <a:off x="6042" y="8756"/>
              <a:ext cx="813" cy="813"/>
            </a:xfrm>
            <a:prstGeom prst="ellipse">
              <a:avLst/>
            </a:prstGeom>
            <a:solidFill>
              <a:srgbClr val="FFFFFF"/>
            </a:solid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6" name="文本框 75"/>
            <p:cNvSpPr txBox="1"/>
            <p:nvPr/>
          </p:nvSpPr>
          <p:spPr>
            <a:xfrm>
              <a:off x="6006" y="9701"/>
              <a:ext cx="885" cy="434"/>
            </a:xfrm>
            <a:prstGeom prst="rect">
              <a:avLst/>
            </a:prstGeom>
            <a:noFill/>
            <a:ln>
              <a:noFill/>
            </a:ln>
            <a:extLst>
              <a:ext uri="{909E8E84-426E-40DD-AFC4-6F175D3DCCD1}">
                <a14:hiddenFill xmlns:a14="http://schemas.microsoft.com/office/drawing/2010/main">
                  <a:grpFill/>
                </a14:hiddenFill>
              </a:ext>
            </a:extLst>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赋能</a:t>
              </a:r>
              <a:endParaRPr lang="zh-CN" altLang="en-US" sz="1200">
                <a:latin typeface="微软雅黑"/>
                <a:ea typeface="微软雅黑"/>
                <a:cs typeface="微软雅黑"/>
              </a:endParaRPr>
            </a:p>
          </p:txBody>
        </p:sp>
      </p:grpSp>
      <p:grpSp>
        <p:nvGrpSpPr>
          <p:cNvPr id="77" name="组合 76"/>
          <p:cNvGrpSpPr/>
          <p:nvPr/>
        </p:nvGrpSpPr>
        <p:grpSpPr>
          <a:xfrm>
            <a:off x="7932420" y="5551805"/>
            <a:ext cx="561975" cy="875665"/>
            <a:chOff x="6006" y="8756"/>
            <a:chExt cx="885" cy="1379"/>
          </a:xfrm>
        </p:grpSpPr>
        <p:sp>
          <p:nvSpPr>
            <p:cNvPr id="78" name="椭圆 77"/>
            <p:cNvSpPr/>
            <p:nvPr/>
          </p:nvSpPr>
          <p:spPr>
            <a:xfrm>
              <a:off x="6042" y="8756"/>
              <a:ext cx="813" cy="813"/>
            </a:xfrm>
            <a:prstGeom prst="ellipse">
              <a:avLst/>
            </a:prstGeom>
            <a:solidFill>
              <a:srgbClr val="FFFFFF"/>
            </a:solidFill>
            <a:ln w="38100">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9" name="文本框 78"/>
            <p:cNvSpPr txBox="1"/>
            <p:nvPr/>
          </p:nvSpPr>
          <p:spPr>
            <a:xfrm>
              <a:off x="6006" y="9701"/>
              <a:ext cx="885" cy="434"/>
            </a:xfrm>
            <a:prstGeom prst="rect">
              <a:avLst/>
            </a:prstGeom>
            <a:noFill/>
            <a:ln>
              <a:noFill/>
            </a:ln>
          </p:spPr>
          <p:txBody>
            <a:bodyPr wrap="square" rtlCol="0">
              <a:spAutoFit/>
            </a:bodyPr>
            <a:p>
              <a:pPr algn="ctr">
                <a:defRPr>
                  <a:latin typeface="微软雅黑"/>
                  <a:ea typeface="微软雅黑"/>
                  <a:cs typeface="微软雅黑"/>
                </a:defRPr>
              </a:pPr>
              <a:r>
                <a:rPr lang="zh-CN" altLang="en-US" sz="1200">
                  <a:latin typeface="微软雅黑"/>
                  <a:ea typeface="微软雅黑"/>
                  <a:cs typeface="微软雅黑"/>
                </a:rPr>
                <a:t>悦享</a:t>
              </a:r>
              <a:endParaRPr lang="zh-CN" altLang="en-US" sz="1200">
                <a:latin typeface="微软雅黑"/>
                <a:ea typeface="微软雅黑"/>
                <a:cs typeface="微软雅黑"/>
              </a:endParaRPr>
            </a:p>
          </p:txBody>
        </p:sp>
      </p:grpSp>
      <p:sp>
        <p:nvSpPr>
          <p:cNvPr id="80" name="矩形 79"/>
          <p:cNvSpPr/>
          <p:nvPr/>
        </p:nvSpPr>
        <p:spPr>
          <a:xfrm>
            <a:off x="4954905" y="1501140"/>
            <a:ext cx="618490" cy="321945"/>
          </a:xfrm>
          <a:prstGeom prst="rect">
            <a:avLst/>
          </a:prstGeom>
          <a:noFill/>
          <a:ln>
            <a:solidFill>
              <a:srgbClr val="DCDCDC"/>
            </a:soli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导购</a:t>
            </a:r>
            <a:endParaRPr lang="zh-CN" altLang="en-US" sz="1400">
              <a:solidFill>
                <a:srgbClr val="383838"/>
              </a:solidFill>
              <a:cs typeface="微软雅黑"/>
              <a:latin typeface="微软雅黑"/>
              <a:ea typeface="微软雅黑"/>
            </a:endParaRPr>
          </a:p>
        </p:txBody>
      </p:sp>
      <p:sp>
        <p:nvSpPr>
          <p:cNvPr id="81" name="矩形 80"/>
          <p:cNvSpPr/>
          <p:nvPr/>
        </p:nvSpPr>
        <p:spPr>
          <a:xfrm>
            <a:off x="5330825" y="1080135"/>
            <a:ext cx="618490" cy="321945"/>
          </a:xfrm>
          <a:prstGeom prst="rect">
            <a:avLst/>
          </a:prstGeom>
          <a:noFill/>
          <a:ln>
            <a:solidFill>
              <a:srgbClr val="DCDCDC"/>
            </a:soli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会员</a:t>
            </a:r>
            <a:endParaRPr lang="zh-CN" altLang="en-US" sz="1400">
              <a:solidFill>
                <a:srgbClr val="383838"/>
              </a:solidFill>
              <a:cs typeface="微软雅黑"/>
              <a:latin typeface="微软雅黑"/>
              <a:ea typeface="微软雅黑"/>
            </a:endParaRPr>
          </a:p>
        </p:txBody>
      </p:sp>
      <p:sp>
        <p:nvSpPr>
          <p:cNvPr id="82" name="矩形 81"/>
          <p:cNvSpPr/>
          <p:nvPr/>
        </p:nvSpPr>
        <p:spPr>
          <a:xfrm>
            <a:off x="6074410" y="1080135"/>
            <a:ext cx="618490" cy="321945"/>
          </a:xfrm>
          <a:prstGeom prst="rect">
            <a:avLst/>
          </a:prstGeom>
          <a:noFill/>
          <a:ln>
            <a:solidFill>
              <a:srgbClr val="DCDCDC"/>
            </a:soli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圈层</a:t>
            </a:r>
            <a:endParaRPr lang="zh-CN" altLang="en-US" sz="1400">
              <a:solidFill>
                <a:srgbClr val="383838"/>
              </a:solidFill>
              <a:cs typeface="微软雅黑"/>
              <a:latin typeface="微软雅黑"/>
              <a:ea typeface="微软雅黑"/>
            </a:endParaRPr>
          </a:p>
        </p:txBody>
      </p:sp>
      <p:sp>
        <p:nvSpPr>
          <p:cNvPr id="83" name="矩形 82"/>
          <p:cNvSpPr/>
          <p:nvPr/>
        </p:nvSpPr>
        <p:spPr>
          <a:xfrm>
            <a:off x="6465570" y="1501140"/>
            <a:ext cx="618490" cy="321945"/>
          </a:xfrm>
          <a:prstGeom prst="rect">
            <a:avLst/>
          </a:prstGeom>
          <a:noFill/>
          <a:ln>
            <a:solidFill>
              <a:srgbClr val="DCDCDC"/>
            </a:soli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达人</a:t>
            </a:r>
            <a:endParaRPr lang="zh-CN" altLang="en-US" sz="1400">
              <a:solidFill>
                <a:srgbClr val="383838"/>
              </a:solidFill>
              <a:cs typeface="微软雅黑"/>
              <a:latin typeface="微软雅黑"/>
              <a:ea typeface="微软雅黑"/>
            </a:endParaRPr>
          </a:p>
        </p:txBody>
      </p:sp>
      <p:cxnSp>
        <p:nvCxnSpPr>
          <p:cNvPr id="84" name="直接连接符 83"/>
          <p:cNvCxnSpPr>
            <a:stCxn id="80" idx="2"/>
          </p:cNvCxnSpPr>
          <p:nvPr/>
        </p:nvCxnSpPr>
        <p:spPr>
          <a:xfrm>
            <a:off x="5264150" y="1823085"/>
            <a:ext cx="0" cy="40386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85" name="直接连接符 84"/>
          <p:cNvCxnSpPr/>
          <p:nvPr/>
        </p:nvCxnSpPr>
        <p:spPr>
          <a:xfrm>
            <a:off x="5674995" y="1402080"/>
            <a:ext cx="0" cy="109347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86" name="直接连接符 85"/>
          <p:cNvCxnSpPr/>
          <p:nvPr/>
        </p:nvCxnSpPr>
        <p:spPr>
          <a:xfrm>
            <a:off x="6297295" y="1501140"/>
            <a:ext cx="0" cy="1073785"/>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87" name="直接连接符 86"/>
          <p:cNvCxnSpPr/>
          <p:nvPr/>
        </p:nvCxnSpPr>
        <p:spPr>
          <a:xfrm>
            <a:off x="6737350" y="1836420"/>
            <a:ext cx="0" cy="39497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pic>
        <p:nvPicPr>
          <p:cNvPr id="91" name="图片 90" descr="dc-icon-智能制造"/>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67730" y="5626735"/>
            <a:ext cx="362585" cy="362585"/>
          </a:xfrm>
          <a:prstGeom prst="rect">
            <a:avLst/>
          </a:prstGeom>
        </p:spPr>
      </p:pic>
      <p:pic>
        <p:nvPicPr>
          <p:cNvPr id="92" name="图片 91" descr="只能监控"/>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279390" y="5612765"/>
            <a:ext cx="374015" cy="374015"/>
          </a:xfrm>
          <a:prstGeom prst="rect">
            <a:avLst/>
          </a:prstGeom>
        </p:spPr>
      </p:pic>
      <p:pic>
        <p:nvPicPr>
          <p:cNvPr id="93" name="图片 92" descr="数据"/>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931920" y="5655945"/>
            <a:ext cx="283210" cy="283210"/>
          </a:xfrm>
          <a:prstGeom prst="rect">
            <a:avLst/>
          </a:prstGeom>
        </p:spPr>
      </p:pic>
      <p:pic>
        <p:nvPicPr>
          <p:cNvPr id="94" name="图片 93" descr="精准投放"/>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599305" y="5608320"/>
            <a:ext cx="390525" cy="390525"/>
          </a:xfrm>
          <a:prstGeom prst="rect">
            <a:avLst/>
          </a:prstGeom>
        </p:spPr>
      </p:pic>
      <p:pic>
        <p:nvPicPr>
          <p:cNvPr id="95" name="图片 94" descr="index-悦享康旅"/>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068310" y="5628005"/>
            <a:ext cx="316230" cy="316230"/>
          </a:xfrm>
          <a:prstGeom prst="rect">
            <a:avLst/>
          </a:prstGeom>
        </p:spPr>
      </p:pic>
      <p:pic>
        <p:nvPicPr>
          <p:cNvPr id="96" name="图片 95" descr="安全"/>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692900" y="5655945"/>
            <a:ext cx="299720" cy="299720"/>
          </a:xfrm>
          <a:prstGeom prst="rect">
            <a:avLst/>
          </a:prstGeom>
        </p:spPr>
      </p:pic>
      <p:pic>
        <p:nvPicPr>
          <p:cNvPr id="97" name="图片 96" descr="赋能科技研发"/>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7356475" y="5628005"/>
            <a:ext cx="322580" cy="322580"/>
          </a:xfrm>
          <a:prstGeom prst="rect">
            <a:avLst/>
          </a:prstGeom>
        </p:spPr>
      </p:pic>
      <p:sp>
        <p:nvSpPr>
          <p:cNvPr id="98" name="文本框 97"/>
          <p:cNvSpPr txBox="1"/>
          <p:nvPr/>
        </p:nvSpPr>
        <p:spPr>
          <a:xfrm rot="19800000">
            <a:off x="3465487" y="2941320"/>
            <a:ext cx="359410" cy="275590"/>
          </a:xfrm>
          <a:prstGeom prst="rect">
            <a:avLst/>
          </a:prstGeom>
          <a:noFill/>
        </p:spPr>
        <p:txBody>
          <a:bodyPr wrap="none" rtlCol="0">
            <a:spAutoFit/>
          </a:bodyPr>
          <a:p>
            <a:pPr algn="l">
              <a:defRPr>
                <a:solidFill>
                  <a:srgbClr val="FFFFFF"/>
                </a:solidFill>
                <a:latin typeface="微软雅黑"/>
                <a:ea typeface="微软雅黑"/>
                <a:cs typeface="微软雅黑"/>
              </a:defRPr>
            </a:pPr>
            <a:r>
              <a:rPr lang="en-US" sz="1200" b="1" spc="0" baseline="0" dirty="0">
                <a:solidFill>
                  <a:srgbClr val="FFFFFF">
                    <a:alpha val="80000"/>
                  </a:srgbClr>
                </a:solidFill>
                <a:latin typeface="微软雅黑"/>
                <a:ea typeface="微软雅黑"/>
                <a:cs typeface="微软雅黑"/>
                <a:sym typeface="微软雅黑"/>
                <a:rtl val="0"/>
              </a:rPr>
              <a:t>01</a:t>
            </a:r>
            <a:endParaRPr lang="en-US" sz="1200" b="1" spc="0" baseline="0" dirty="0">
              <a:solidFill>
                <a:srgbClr val="FFFFFF">
                  <a:alpha val="80000"/>
                </a:srgbClr>
              </a:solidFill>
              <a:latin typeface="微软雅黑"/>
              <a:ea typeface="微软雅黑"/>
              <a:cs typeface="微软雅黑"/>
              <a:sym typeface="微软雅黑"/>
              <a:rtl val="0"/>
            </a:endParaRPr>
          </a:p>
        </p:txBody>
      </p:sp>
      <p:sp>
        <p:nvSpPr>
          <p:cNvPr id="99" name="文本框 98"/>
          <p:cNvSpPr txBox="1"/>
          <p:nvPr/>
        </p:nvSpPr>
        <p:spPr>
          <a:xfrm>
            <a:off x="6614160" y="4682401"/>
            <a:ext cx="359410" cy="275590"/>
          </a:xfrm>
          <a:prstGeom prst="rect">
            <a:avLst/>
          </a:prstGeom>
          <a:noFill/>
        </p:spPr>
        <p:txBody>
          <a:bodyPr wrap="none" rtlCol="0">
            <a:spAutoFit/>
          </a:bodyPr>
          <a:p>
            <a:pPr algn="l">
              <a:defRPr>
                <a:latin typeface="微软雅黑"/>
                <a:ea typeface="微软雅黑"/>
                <a:cs typeface="微软雅黑"/>
              </a:defRPr>
            </a:pPr>
            <a:r>
              <a:rPr lang="en-US" sz="1200" b="1" spc="0" baseline="0">
                <a:solidFill>
                  <a:srgbClr val="383838"/>
                </a:solidFill>
                <a:latin typeface="微软雅黑"/>
                <a:ea typeface="微软雅黑"/>
                <a:cs typeface="微软雅黑"/>
                <a:sym typeface="微软雅黑"/>
                <a:rtl val="0"/>
              </a:rPr>
              <a:t>02</a:t>
            </a:r>
            <a:endParaRPr lang="en-US" sz="1200" b="1" spc="0" baseline="0">
              <a:solidFill>
                <a:srgbClr val="383838"/>
              </a:solidFill>
              <a:latin typeface="微软雅黑"/>
              <a:ea typeface="微软雅黑"/>
              <a:cs typeface="微软雅黑"/>
              <a:sym typeface="微软雅黑"/>
              <a:rtl val="0"/>
            </a:endParaRPr>
          </a:p>
        </p:txBody>
      </p:sp>
      <p:sp>
        <p:nvSpPr>
          <p:cNvPr id="100" name="文本框 99"/>
          <p:cNvSpPr txBox="1"/>
          <p:nvPr/>
        </p:nvSpPr>
        <p:spPr>
          <a:xfrm rot="18960000">
            <a:off x="6480467" y="3187065"/>
            <a:ext cx="359410" cy="275590"/>
          </a:xfrm>
          <a:prstGeom prst="rect">
            <a:avLst/>
          </a:prstGeom>
          <a:noFill/>
        </p:spPr>
        <p:txBody>
          <a:bodyPr wrap="none" rtlCol="0">
            <a:spAutoFit/>
          </a:bodyPr>
          <a:p>
            <a:pPr algn="l">
              <a:defRPr>
                <a:latin typeface="微软雅黑"/>
                <a:ea typeface="微软雅黑"/>
                <a:cs typeface="微软雅黑"/>
              </a:defRPr>
            </a:pPr>
            <a:r>
              <a:rPr lang="en-US" sz="1200" b="1" spc="0" baseline="0" dirty="0">
                <a:solidFill>
                  <a:srgbClr val="383838"/>
                </a:solidFill>
                <a:latin typeface="微软雅黑"/>
                <a:ea typeface="微软雅黑"/>
                <a:cs typeface="微软雅黑"/>
                <a:sym typeface="微软雅黑"/>
                <a:rtl val="0"/>
              </a:rPr>
              <a:t>03</a:t>
            </a:r>
            <a:endParaRPr lang="en-US" sz="1200" b="1" spc="0" baseline="0" dirty="0">
              <a:solidFill>
                <a:srgbClr val="383838"/>
              </a:solidFill>
              <a:latin typeface="微软雅黑"/>
              <a:ea typeface="微软雅黑"/>
              <a:cs typeface="微软雅黑"/>
              <a:sym typeface="微软雅黑"/>
              <a:rtl val="0"/>
            </a:endParaRPr>
          </a:p>
        </p:txBody>
      </p:sp>
      <p:sp>
        <p:nvSpPr>
          <p:cNvPr id="101" name="文本框 100"/>
          <p:cNvSpPr txBox="1"/>
          <p:nvPr/>
        </p:nvSpPr>
        <p:spPr>
          <a:xfrm rot="2580000">
            <a:off x="3226727" y="4648835"/>
            <a:ext cx="359410" cy="275590"/>
          </a:xfrm>
          <a:prstGeom prst="rect">
            <a:avLst/>
          </a:prstGeom>
          <a:noFill/>
        </p:spPr>
        <p:txBody>
          <a:bodyPr wrap="none" rtlCol="0">
            <a:spAutoFit/>
          </a:bodyPr>
          <a:p>
            <a:pPr algn="l">
              <a:defRPr>
                <a:solidFill>
                  <a:srgbClr val="FFFFFF"/>
                </a:solidFill>
                <a:latin typeface="微软雅黑"/>
                <a:ea typeface="微软雅黑"/>
                <a:cs typeface="微软雅黑"/>
              </a:defRPr>
            </a:pPr>
            <a:r>
              <a:rPr lang="en-US" sz="1200" b="1" spc="0" baseline="0" dirty="0">
                <a:solidFill>
                  <a:srgbClr val="FFFFFF"/>
                </a:solidFill>
                <a:latin typeface="微软雅黑"/>
                <a:ea typeface="微软雅黑"/>
                <a:cs typeface="微软雅黑"/>
                <a:sym typeface="微软雅黑"/>
                <a:rtl val="0"/>
              </a:rPr>
              <a:t>04</a:t>
            </a:r>
            <a:endParaRPr lang="en-US" sz="1200" b="1" spc="0" baseline="0" dirty="0">
              <a:solidFill>
                <a:srgbClr val="FFFFFF"/>
              </a:solidFill>
              <a:latin typeface="微软雅黑"/>
              <a:ea typeface="微软雅黑"/>
              <a:cs typeface="微软雅黑"/>
              <a:sym typeface="微软雅黑"/>
              <a:rtl val="0"/>
            </a:endParaRPr>
          </a:p>
        </p:txBody>
      </p:sp>
      <p:grpSp>
        <p:nvGrpSpPr>
          <p:cNvPr id="2" name="组合 1"/>
          <p:cNvGrpSpPr/>
          <p:nvPr/>
        </p:nvGrpSpPr>
        <p:grpSpPr>
          <a:xfrm>
            <a:off x="2978150" y="2299970"/>
            <a:ext cx="6263640" cy="3442335"/>
            <a:chOff x="4665" y="3639"/>
            <a:chExt cx="9864" cy="5421"/>
          </a:xfrm>
        </p:grpSpPr>
        <p:grpSp>
          <p:nvGrpSpPr>
            <p:cNvPr id="12" name="组合 11"/>
            <p:cNvGrpSpPr/>
            <p:nvPr/>
          </p:nvGrpSpPr>
          <p:grpSpPr>
            <a:xfrm>
              <a:off x="4665" y="3672"/>
              <a:ext cx="9865" cy="5388"/>
              <a:chOff x="4713" y="3644"/>
              <a:chExt cx="9865" cy="5388"/>
            </a:xfrm>
          </p:grpSpPr>
          <p:sp>
            <p:nvSpPr>
              <p:cNvPr id="13" name="文本框 12"/>
              <p:cNvSpPr txBox="1"/>
              <p:nvPr/>
            </p:nvSpPr>
            <p:spPr>
              <a:xfrm rot="600000">
                <a:off x="4717" y="4444"/>
                <a:ext cx="4588" cy="4588"/>
              </a:xfrm>
              <a:prstGeom prst="rect">
                <a:avLst/>
              </a:prstGeom>
              <a:noFill/>
            </p:spPr>
            <p:txBody>
              <a:bodyPr wrap="none" lIns="0" rIns="0" tIns="0" bIns="0">
                <a:prstTxWarp prst="textArchUp">
                  <a:avLst/>
                </a:prstTxWarp>
                <a:spAutoFit/>
              </a:bodyPr>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normalizeH="0" baseline="0" noProof="0" dirty="0">
                    <a:ln>
                      <a:noFill/>
                    </a:ln>
                    <a:solidFill>
                      <a:srgbClr val="383838"/>
                    </a:solidFill>
                    <a:effectLst/>
                    <a:uLnTx/>
                    <a:uFillTx/>
                    <a:latin typeface="微软雅黑"/>
                    <a:ea typeface="微软雅黑"/>
                    <a:cs typeface="微软雅黑"/>
                  </a:rPr>
                  <a:t>启动：系统化工具基础构建</a:t>
                </a:r>
                <a:endParaRPr kumimoji="0" lang="zh-CN" altLang="en-US" sz="1200" b="0" i="0" u="none" strike="noStrike" kern="1200" cap="none" normalizeH="0" baseline="0" noProof="0" dirty="0">
                  <a:ln>
                    <a:noFill/>
                  </a:ln>
                  <a:solidFill>
                    <a:srgbClr val="383838"/>
                  </a:solidFill>
                  <a:effectLst/>
                  <a:uLnTx/>
                  <a:uFillTx/>
                  <a:latin typeface="微软雅黑"/>
                  <a:ea typeface="微软雅黑"/>
                  <a:cs typeface="微软雅黑"/>
                </a:endParaRPr>
              </a:p>
            </p:txBody>
          </p:sp>
          <p:sp>
            <p:nvSpPr>
              <p:cNvPr id="14" name="文本框 13"/>
              <p:cNvSpPr txBox="1"/>
              <p:nvPr/>
            </p:nvSpPr>
            <p:spPr>
              <a:xfrm>
                <a:off x="9990" y="4401"/>
                <a:ext cx="4588" cy="4588"/>
              </a:xfrm>
              <a:prstGeom prst="rect">
                <a:avLst/>
              </a:prstGeom>
              <a:noFill/>
            </p:spPr>
            <p:txBody>
              <a:bodyPr wrap="none" lIns="0" rIns="0" tIns="0" bIns="0">
                <a:prstTxWarp prst="textArchUp">
                  <a:avLst/>
                </a:prstTxWarp>
                <a:spAutoFit/>
              </a:bodyPr>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normalizeH="0" baseline="0" noProof="0" dirty="0">
                    <a:ln>
                      <a:noFill/>
                    </a:ln>
                    <a:solidFill>
                      <a:srgbClr val="383838"/>
                    </a:solidFill>
                    <a:effectLst/>
                    <a:uLnTx/>
                    <a:uFillTx/>
                    <a:latin typeface="微软雅黑"/>
                    <a:ea typeface="微软雅黑"/>
                    <a:cs typeface="微软雅黑"/>
                  </a:rPr>
                  <a:t>整合：全域数据资产化与智能中台</a:t>
                </a:r>
                <a:endParaRPr kumimoji="0" lang="zh-CN" altLang="en-US" sz="1200" b="0" i="0" u="none" strike="noStrike" kern="1200" cap="none" normalizeH="0" baseline="0" noProof="0" dirty="0">
                  <a:ln>
                    <a:noFill/>
                  </a:ln>
                  <a:solidFill>
                    <a:srgbClr val="383838"/>
                  </a:solidFill>
                  <a:effectLst/>
                  <a:uLnTx/>
                  <a:uFillTx/>
                  <a:latin typeface="微软雅黑"/>
                  <a:ea typeface="微软雅黑"/>
                  <a:cs typeface="微软雅黑"/>
                </a:endParaRPr>
              </a:p>
            </p:txBody>
          </p:sp>
          <p:sp>
            <p:nvSpPr>
              <p:cNvPr id="15" name="文本框 14"/>
              <p:cNvSpPr txBox="1"/>
              <p:nvPr/>
            </p:nvSpPr>
            <p:spPr>
              <a:xfrm>
                <a:off x="4713" y="3644"/>
                <a:ext cx="4460" cy="4460"/>
              </a:xfrm>
              <a:prstGeom prst="rect">
                <a:avLst/>
              </a:prstGeom>
              <a:noFill/>
            </p:spPr>
            <p:txBody>
              <a:bodyPr wrap="none" lIns="0" rIns="0" tIns="0" bIns="0">
                <a:prstTxWarp prst="textArchDown">
                  <a:avLst/>
                </a:prstTxWarp>
                <a:spAutoFit/>
              </a:bodyPr>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sz="1200" b="0" i="0" u="none" strike="noStrike" kern="1200" cap="none" normalizeH="0" baseline="0" noProof="0" dirty="0">
                    <a:ln>
                      <a:noFill/>
                    </a:ln>
                    <a:solidFill>
                      <a:srgbClr val="383838"/>
                    </a:solidFill>
                    <a:effectLst/>
                    <a:uLnTx/>
                    <a:uFillTx/>
                    <a:latin typeface="微软雅黑"/>
                    <a:cs typeface="微软雅黑"/>
                    <a:ea typeface="微软雅黑"/>
                  </a:rPr>
                  <a:t>升级：数据驱动的全域增长</a:t>
                </a:r>
                <a:endParaRPr kumimoji="0" lang="zh-CN" sz="1200" b="0" i="0" u="none" strike="noStrike" kern="1200" cap="none" normalizeH="0" baseline="0" noProof="0" dirty="0">
                  <a:ln>
                    <a:noFill/>
                  </a:ln>
                  <a:solidFill>
                    <a:srgbClr val="383838"/>
                  </a:solidFill>
                  <a:effectLst/>
                  <a:uLnTx/>
                  <a:uFillTx/>
                  <a:latin typeface="微软雅黑"/>
                  <a:cs typeface="微软雅黑"/>
                  <a:ea typeface="微软雅黑"/>
                </a:endParaRPr>
              </a:p>
            </p:txBody>
          </p:sp>
        </p:grpSp>
        <p:sp>
          <p:nvSpPr>
            <p:cNvPr id="16" name="文本框 15"/>
            <p:cNvSpPr txBox="1"/>
            <p:nvPr/>
          </p:nvSpPr>
          <p:spPr>
            <a:xfrm rot="21360000">
              <a:off x="9935" y="3639"/>
              <a:ext cx="4460" cy="4460"/>
            </a:xfrm>
            <a:prstGeom prst="rect">
              <a:avLst/>
            </a:prstGeom>
            <a:noFill/>
          </p:spPr>
          <p:txBody>
            <a:bodyPr wrap="none" lIns="0" rIns="0" tIns="0" bIns="0">
              <a:prstTxWarp prst="textArchDown">
                <a:avLst/>
              </a:prstTxWarp>
              <a:spAutoFit/>
            </a:bodyPr>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normalizeH="0" baseline="0" noProof="0" dirty="0">
                  <a:ln>
                    <a:noFill/>
                  </a:ln>
                  <a:solidFill>
                    <a:srgbClr val="383838"/>
                  </a:solidFill>
                  <a:effectLst/>
                  <a:uLnTx/>
                  <a:uFillTx/>
                  <a:latin typeface="微软雅黑"/>
                  <a:cs typeface="微软雅黑"/>
                  <a:ea typeface="微软雅黑"/>
                </a:rPr>
                <a:t>深化：全域融合与体验升级</a:t>
              </a:r>
              <a:endParaRPr kumimoji="0" lang="zh-CN" altLang="en-US" sz="1200" b="0" i="0" u="none" strike="noStrike" kern="1200" cap="none" normalizeH="0" baseline="0" noProof="0" dirty="0">
                <a:ln>
                  <a:noFill/>
                </a:ln>
                <a:solidFill>
                  <a:srgbClr val="383838"/>
                </a:solidFill>
                <a:effectLst/>
                <a:uLnTx/>
                <a:uFillTx/>
                <a:latin typeface="微软雅黑"/>
                <a:cs typeface="微软雅黑"/>
                <a:ea typeface="微软雅黑"/>
              </a:endParaRPr>
            </a:p>
          </p:txBody>
        </p:sp>
      </p:gr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7"/>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5304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人力资源数字化转型路径</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11" name="组合 110"/>
          <p:cNvGrpSpPr/>
          <p:nvPr/>
        </p:nvGrpSpPr>
        <p:grpSpPr>
          <a:xfrm>
            <a:off x="1258412" y="1401429"/>
            <a:ext cx="9554218" cy="4193488"/>
            <a:chOff x="2030" y="2785"/>
            <a:chExt cx="15046" cy="6604"/>
          </a:xfrm>
          <a:effectLst/>
        </p:grpSpPr>
        <p:grpSp>
          <p:nvGrpSpPr>
            <p:cNvPr id="37" name="组合 36"/>
            <p:cNvGrpSpPr/>
            <p:nvPr/>
          </p:nvGrpSpPr>
          <p:grpSpPr>
            <a:xfrm>
              <a:off x="2030" y="2785"/>
              <a:ext cx="6823" cy="6604"/>
              <a:chOff x="512572" y="1536781"/>
              <a:chExt cx="4332613" cy="4193488"/>
            </a:xfrm>
          </p:grpSpPr>
          <p:sp>
            <p:nvSpPr>
              <p:cNvPr id="38" name="椭圆 37"/>
              <p:cNvSpPr/>
              <p:nvPr/>
            </p:nvSpPr>
            <p:spPr>
              <a:xfrm>
                <a:off x="651697" y="1536781"/>
                <a:ext cx="4193488" cy="4193488"/>
              </a:xfrm>
              <a:prstGeom prst="ellipse">
                <a:avLst/>
              </a:prstGeom>
              <a:noFill/>
              <a:ln w="31750">
                <a:gradFill flip="none" rotWithShape="1">
                  <a:gsLst>
                    <a:gs pos="76000">
                      <a:srgbClr val="FFFFFF">
                        <a:alpha val="0"/>
                      </a:srgbClr>
                    </a:gs>
                    <a:gs pos="100000">
                      <a:srgbClr val="0042FF"/>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39" name="三角形 36"/>
              <p:cNvSpPr>
                <a:spLocks noChangeAspect="1"/>
              </p:cNvSpPr>
              <p:nvPr/>
            </p:nvSpPr>
            <p:spPr>
              <a:xfrm rot="378549">
                <a:off x="512572" y="3425668"/>
                <a:ext cx="273081" cy="235414"/>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grpSp>
        <p:grpSp>
          <p:nvGrpSpPr>
            <p:cNvPr id="40" name="组合 39"/>
            <p:cNvGrpSpPr/>
            <p:nvPr/>
          </p:nvGrpSpPr>
          <p:grpSpPr>
            <a:xfrm rot="0">
              <a:off x="2935" y="3373"/>
              <a:ext cx="13446" cy="5492"/>
              <a:chOff x="1652" y="2893"/>
              <a:chExt cx="15796" cy="6451"/>
            </a:xfrm>
          </p:grpSpPr>
          <p:sp>
            <p:nvSpPr>
              <p:cNvPr id="13" name="任意多边形 12"/>
              <p:cNvSpPr/>
              <p:nvPr/>
            </p:nvSpPr>
            <p:spPr>
              <a:xfrm>
                <a:off x="3574" y="4649"/>
                <a:ext cx="8657" cy="294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658" h="2940">
                    <a:moveTo>
                      <a:pt x="2" y="1469"/>
                    </a:moveTo>
                    <a:lnTo>
                      <a:pt x="1" y="1430"/>
                    </a:lnTo>
                    <a:lnTo>
                      <a:pt x="1" y="1393"/>
                    </a:lnTo>
                    <a:lnTo>
                      <a:pt x="0" y="1355"/>
                    </a:lnTo>
                    <a:cubicBezTo>
                      <a:pt x="-23" y="585"/>
                      <a:pt x="916" y="-15"/>
                      <a:pt x="1354" y="0"/>
                    </a:cubicBezTo>
                    <a:lnTo>
                      <a:pt x="1378" y="0"/>
                    </a:lnTo>
                    <a:lnTo>
                      <a:pt x="1405" y="1"/>
                    </a:lnTo>
                    <a:lnTo>
                      <a:pt x="1436" y="2"/>
                    </a:lnTo>
                    <a:lnTo>
                      <a:pt x="8657" y="2"/>
                    </a:lnTo>
                    <a:lnTo>
                      <a:pt x="8657" y="140"/>
                    </a:lnTo>
                    <a:lnTo>
                      <a:pt x="1486" y="140"/>
                    </a:lnTo>
                    <a:lnTo>
                      <a:pt x="1454" y="138"/>
                    </a:lnTo>
                    <a:lnTo>
                      <a:pt x="1422" y="138"/>
                    </a:lnTo>
                    <a:lnTo>
                      <a:pt x="1391" y="138"/>
                    </a:lnTo>
                    <a:lnTo>
                      <a:pt x="1361" y="138"/>
                    </a:lnTo>
                    <a:cubicBezTo>
                      <a:pt x="732" y="131"/>
                      <a:pt x="134" y="917"/>
                      <a:pt x="152" y="1352"/>
                    </a:cubicBezTo>
                    <a:lnTo>
                      <a:pt x="153" y="1376"/>
                    </a:lnTo>
                    <a:lnTo>
                      <a:pt x="153" y="1404"/>
                    </a:lnTo>
                    <a:lnTo>
                      <a:pt x="153" y="1533"/>
                    </a:lnTo>
                    <a:lnTo>
                      <a:pt x="153" y="1564"/>
                    </a:lnTo>
                    <a:lnTo>
                      <a:pt x="153" y="1594"/>
                    </a:lnTo>
                    <a:cubicBezTo>
                      <a:pt x="146" y="2223"/>
                      <a:pt x="932" y="2819"/>
                      <a:pt x="1367" y="2802"/>
                    </a:cubicBezTo>
                    <a:lnTo>
                      <a:pt x="1391" y="2802"/>
                    </a:lnTo>
                    <a:lnTo>
                      <a:pt x="1419" y="2802"/>
                    </a:lnTo>
                    <a:lnTo>
                      <a:pt x="1450" y="2802"/>
                    </a:lnTo>
                    <a:lnTo>
                      <a:pt x="1486" y="2800"/>
                    </a:lnTo>
                    <a:lnTo>
                      <a:pt x="2247" y="2800"/>
                    </a:lnTo>
                    <a:lnTo>
                      <a:pt x="2247" y="2938"/>
                    </a:lnTo>
                    <a:lnTo>
                      <a:pt x="1471" y="2938"/>
                    </a:lnTo>
                    <a:lnTo>
                      <a:pt x="1432" y="2939"/>
                    </a:lnTo>
                    <a:lnTo>
                      <a:pt x="1394" y="2939"/>
                    </a:lnTo>
                    <a:lnTo>
                      <a:pt x="1357" y="2940"/>
                    </a:lnTo>
                    <a:cubicBezTo>
                      <a:pt x="585" y="2962"/>
                      <a:pt x="-15" y="2024"/>
                      <a:pt x="0" y="1587"/>
                    </a:cubicBezTo>
                    <a:lnTo>
                      <a:pt x="0" y="1564"/>
                    </a:lnTo>
                    <a:lnTo>
                      <a:pt x="1" y="1536"/>
                    </a:lnTo>
                    <a:lnTo>
                      <a:pt x="2" y="1505"/>
                    </a:lnTo>
                    <a:lnTo>
                      <a:pt x="2" y="1469"/>
                    </a:lnTo>
                    <a:close/>
                  </a:path>
                </a:pathLst>
              </a:cu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4" name="任意多边形 13"/>
              <p:cNvSpPr/>
              <p:nvPr/>
            </p:nvSpPr>
            <p:spPr>
              <a:xfrm>
                <a:off x="6941" y="4649"/>
                <a:ext cx="8649" cy="294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649" h="2941">
                    <a:moveTo>
                      <a:pt x="6158" y="1"/>
                    </a:moveTo>
                    <a:lnTo>
                      <a:pt x="7178" y="1"/>
                    </a:lnTo>
                    <a:lnTo>
                      <a:pt x="7217" y="0"/>
                    </a:lnTo>
                    <a:lnTo>
                      <a:pt x="7255" y="0"/>
                    </a:lnTo>
                    <a:lnTo>
                      <a:pt x="7292" y="0"/>
                    </a:lnTo>
                    <a:cubicBezTo>
                      <a:pt x="8064" y="-23"/>
                      <a:pt x="8664" y="915"/>
                      <a:pt x="8649" y="1353"/>
                    </a:cubicBezTo>
                    <a:lnTo>
                      <a:pt x="8649" y="1376"/>
                    </a:lnTo>
                    <a:lnTo>
                      <a:pt x="8648" y="1403"/>
                    </a:lnTo>
                    <a:lnTo>
                      <a:pt x="8647" y="1435"/>
                    </a:lnTo>
                    <a:lnTo>
                      <a:pt x="8647" y="1469"/>
                    </a:lnTo>
                    <a:lnTo>
                      <a:pt x="8648" y="1510"/>
                    </a:lnTo>
                    <a:lnTo>
                      <a:pt x="8648" y="1547"/>
                    </a:lnTo>
                    <a:lnTo>
                      <a:pt x="8648" y="1585"/>
                    </a:lnTo>
                    <a:cubicBezTo>
                      <a:pt x="8671" y="2356"/>
                      <a:pt x="7733" y="2956"/>
                      <a:pt x="7295" y="2940"/>
                    </a:cubicBezTo>
                    <a:lnTo>
                      <a:pt x="7271" y="2940"/>
                    </a:lnTo>
                    <a:lnTo>
                      <a:pt x="7244" y="2940"/>
                    </a:lnTo>
                    <a:lnTo>
                      <a:pt x="7213" y="2939"/>
                    </a:lnTo>
                    <a:lnTo>
                      <a:pt x="0" y="2939"/>
                    </a:lnTo>
                    <a:lnTo>
                      <a:pt x="0" y="2801"/>
                    </a:lnTo>
                    <a:lnTo>
                      <a:pt x="7195" y="2801"/>
                    </a:lnTo>
                    <a:lnTo>
                      <a:pt x="7227" y="2802"/>
                    </a:lnTo>
                    <a:lnTo>
                      <a:pt x="7258" y="2802"/>
                    </a:lnTo>
                    <a:lnTo>
                      <a:pt x="7288" y="2802"/>
                    </a:lnTo>
                    <a:cubicBezTo>
                      <a:pt x="7917" y="2809"/>
                      <a:pt x="8515" y="2023"/>
                      <a:pt x="8497" y="1588"/>
                    </a:cubicBezTo>
                    <a:lnTo>
                      <a:pt x="8496" y="1564"/>
                    </a:lnTo>
                    <a:lnTo>
                      <a:pt x="8496" y="1536"/>
                    </a:lnTo>
                    <a:lnTo>
                      <a:pt x="8496" y="1407"/>
                    </a:lnTo>
                    <a:lnTo>
                      <a:pt x="8496" y="1376"/>
                    </a:lnTo>
                    <a:lnTo>
                      <a:pt x="8496" y="1346"/>
                    </a:lnTo>
                    <a:cubicBezTo>
                      <a:pt x="8503" y="717"/>
                      <a:pt x="7717" y="120"/>
                      <a:pt x="7282" y="137"/>
                    </a:cubicBezTo>
                    <a:lnTo>
                      <a:pt x="7258" y="138"/>
                    </a:lnTo>
                    <a:lnTo>
                      <a:pt x="7230" y="138"/>
                    </a:lnTo>
                    <a:lnTo>
                      <a:pt x="7199" y="138"/>
                    </a:lnTo>
                    <a:lnTo>
                      <a:pt x="7163" y="139"/>
                    </a:lnTo>
                    <a:lnTo>
                      <a:pt x="6158" y="139"/>
                    </a:lnTo>
                    <a:lnTo>
                      <a:pt x="6158" y="1"/>
                    </a:lnTo>
                    <a:close/>
                  </a:path>
                </a:pathLst>
              </a:cu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3" name="组合 2"/>
              <p:cNvGrpSpPr/>
              <p:nvPr/>
            </p:nvGrpSpPr>
            <p:grpSpPr>
              <a:xfrm>
                <a:off x="1652" y="2893"/>
                <a:ext cx="15796" cy="6451"/>
                <a:chOff x="757" y="3944"/>
                <a:chExt cx="12944" cy="5286"/>
              </a:xfrm>
            </p:grpSpPr>
            <p:sp>
              <p:nvSpPr>
                <p:cNvPr id="6" name="圆角矩形 5"/>
                <p:cNvSpPr/>
                <p:nvPr/>
              </p:nvSpPr>
              <p:spPr>
                <a:xfrm>
                  <a:off x="757" y="3944"/>
                  <a:ext cx="12945" cy="5286"/>
                </a:xfrm>
                <a:prstGeom prst="roundRect">
                  <a:avLst>
                    <a:gd name="adj" fmla="val 50000"/>
                  </a:avLst>
                </a:prstGeom>
                <a:noFill/>
                <a:ln w="127000">
                  <a:solidFill>
                    <a:srgbClr val="E6E6E6"/>
                  </a:solidFill>
                </a:ln>
                <a:extLst>
                  <a:ext uri="{909E8E84-426E-40DD-AFC4-6F175D3DCCD1}">
                    <a14:hiddenFill xmlns:a14="http://schemas.microsoft.com/office/drawing/2010/main">
                      <a:solidFill>
                        <a:srgbClr val="E6E6E6"/>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95" name="组合 94"/>
                <p:cNvGrpSpPr/>
                <p:nvPr/>
              </p:nvGrpSpPr>
              <p:grpSpPr>
                <a:xfrm>
                  <a:off x="1083" y="4167"/>
                  <a:ext cx="12293" cy="4840"/>
                  <a:chOff x="981" y="4647"/>
                  <a:chExt cx="12293" cy="4840"/>
                </a:xfrm>
              </p:grpSpPr>
              <p:sp>
                <p:nvSpPr>
                  <p:cNvPr id="25" name="任意多边形 24"/>
                  <p:cNvSpPr/>
                  <p:nvPr/>
                </p:nvSpPr>
                <p:spPr>
                  <a:xfrm>
                    <a:off x="3768" y="8661"/>
                    <a:ext cx="3265" cy="82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265" h="825">
                        <a:moveTo>
                          <a:pt x="3265" y="825"/>
                        </a:moveTo>
                        <a:lnTo>
                          <a:pt x="326" y="825"/>
                        </a:lnTo>
                        <a:lnTo>
                          <a:pt x="0" y="398"/>
                        </a:lnTo>
                        <a:lnTo>
                          <a:pt x="303" y="0"/>
                        </a:lnTo>
                        <a:lnTo>
                          <a:pt x="3243" y="0"/>
                        </a:lnTo>
                        <a:lnTo>
                          <a:pt x="2940" y="398"/>
                        </a:lnTo>
                        <a:lnTo>
                          <a:pt x="3265" y="825"/>
                        </a:lnTo>
                        <a:close/>
                      </a:path>
                    </a:pathLst>
                  </a:custGeom>
                  <a:gradFill>
                    <a:gsLst>
                      <a:gs pos="100000">
                        <a:srgbClr val="B3D4FE"/>
                      </a:gs>
                      <a:gs pos="0">
                        <a:srgbClr val="B3D4FE"/>
                      </a:gs>
                    </a:gsLst>
                    <a:lin ang="81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6" name="任意多边形 25"/>
                  <p:cNvSpPr/>
                  <p:nvPr/>
                </p:nvSpPr>
                <p:spPr>
                  <a:xfrm>
                    <a:off x="7073" y="8661"/>
                    <a:ext cx="3355" cy="82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55" h="825">
                        <a:moveTo>
                          <a:pt x="3355" y="825"/>
                        </a:moveTo>
                        <a:lnTo>
                          <a:pt x="326" y="825"/>
                        </a:lnTo>
                        <a:lnTo>
                          <a:pt x="0" y="398"/>
                        </a:lnTo>
                        <a:lnTo>
                          <a:pt x="303" y="0"/>
                        </a:lnTo>
                        <a:lnTo>
                          <a:pt x="3333" y="0"/>
                        </a:lnTo>
                        <a:lnTo>
                          <a:pt x="3030" y="398"/>
                        </a:lnTo>
                        <a:lnTo>
                          <a:pt x="3355" y="825"/>
                        </a:lnTo>
                        <a:close/>
                      </a:path>
                    </a:pathLst>
                  </a:custGeom>
                  <a:gradFill>
                    <a:gsLst>
                      <a:gs pos="100000">
                        <a:srgbClr val="B3D4FE"/>
                      </a:gs>
                      <a:gs pos="0">
                        <a:srgbClr val="B3D4FE"/>
                      </a:gs>
                    </a:gsLst>
                    <a:lin ang="81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7" name="任意多边形 26"/>
                  <p:cNvSpPr/>
                  <p:nvPr/>
                </p:nvSpPr>
                <p:spPr>
                  <a:xfrm>
                    <a:off x="10468" y="4647"/>
                    <a:ext cx="2806" cy="484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807" h="4841">
                        <a:moveTo>
                          <a:pt x="50" y="1"/>
                        </a:moveTo>
                        <a:lnTo>
                          <a:pt x="385" y="1"/>
                        </a:lnTo>
                        <a:lnTo>
                          <a:pt x="450" y="0"/>
                        </a:lnTo>
                        <a:cubicBezTo>
                          <a:pt x="1778" y="-39"/>
                          <a:pt x="2837" y="1298"/>
                          <a:pt x="2806" y="2362"/>
                        </a:cubicBezTo>
                        <a:lnTo>
                          <a:pt x="2805" y="2420"/>
                        </a:lnTo>
                        <a:lnTo>
                          <a:pt x="2806" y="2484"/>
                        </a:lnTo>
                        <a:cubicBezTo>
                          <a:pt x="2845" y="3813"/>
                          <a:pt x="1508" y="4871"/>
                          <a:pt x="443" y="4840"/>
                        </a:cubicBezTo>
                        <a:lnTo>
                          <a:pt x="385" y="4839"/>
                        </a:lnTo>
                        <a:lnTo>
                          <a:pt x="326" y="4839"/>
                        </a:lnTo>
                        <a:lnTo>
                          <a:pt x="0" y="4412"/>
                        </a:lnTo>
                        <a:lnTo>
                          <a:pt x="303" y="4014"/>
                        </a:lnTo>
                        <a:lnTo>
                          <a:pt x="427" y="4014"/>
                        </a:lnTo>
                        <a:lnTo>
                          <a:pt x="465" y="4015"/>
                        </a:lnTo>
                        <a:cubicBezTo>
                          <a:pt x="1256" y="4041"/>
                          <a:pt x="2048" y="3245"/>
                          <a:pt x="2022" y="2462"/>
                        </a:cubicBezTo>
                        <a:lnTo>
                          <a:pt x="2022" y="2420"/>
                        </a:lnTo>
                        <a:lnTo>
                          <a:pt x="2022" y="2382"/>
                        </a:lnTo>
                        <a:cubicBezTo>
                          <a:pt x="2048" y="1591"/>
                          <a:pt x="1252" y="800"/>
                          <a:pt x="469" y="825"/>
                        </a:cubicBezTo>
                        <a:lnTo>
                          <a:pt x="427" y="826"/>
                        </a:lnTo>
                        <a:lnTo>
                          <a:pt x="51" y="826"/>
                        </a:lnTo>
                        <a:lnTo>
                          <a:pt x="366" y="414"/>
                        </a:lnTo>
                        <a:lnTo>
                          <a:pt x="50" y="1"/>
                        </a:lnTo>
                        <a:close/>
                      </a:path>
                    </a:pathLst>
                  </a:custGeom>
                  <a:gradFill>
                    <a:gsLst>
                      <a:gs pos="100000">
                        <a:srgbClr val="3368FF"/>
                      </a:gs>
                      <a:gs pos="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8" name="任意多边形 27"/>
                  <p:cNvSpPr/>
                  <p:nvPr/>
                </p:nvSpPr>
                <p:spPr>
                  <a:xfrm>
                    <a:off x="7123" y="4648"/>
                    <a:ext cx="3345" cy="82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345" h="825">
                        <a:moveTo>
                          <a:pt x="0" y="0"/>
                        </a:moveTo>
                        <a:lnTo>
                          <a:pt x="3030" y="0"/>
                        </a:lnTo>
                        <a:lnTo>
                          <a:pt x="3345" y="413"/>
                        </a:lnTo>
                        <a:lnTo>
                          <a:pt x="3031" y="825"/>
                        </a:lnTo>
                        <a:lnTo>
                          <a:pt x="1" y="825"/>
                        </a:lnTo>
                        <a:lnTo>
                          <a:pt x="315" y="413"/>
                        </a:lnTo>
                        <a:lnTo>
                          <a:pt x="0" y="0"/>
                        </a:lnTo>
                        <a:close/>
                      </a:path>
                    </a:pathLst>
                  </a:custGeom>
                  <a:gradFill>
                    <a:gsLst>
                      <a:gs pos="100000">
                        <a:srgbClr val="3368FF"/>
                      </a:gs>
                      <a:gs pos="0">
                        <a:srgbClr val="668EFF"/>
                      </a:gs>
                    </a:gsLst>
                    <a:lin ang="81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29" name="任意多边形 28"/>
                  <p:cNvSpPr/>
                  <p:nvPr/>
                </p:nvSpPr>
                <p:spPr>
                  <a:xfrm>
                    <a:off x="3818" y="4648"/>
                    <a:ext cx="3255" cy="82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3255" h="825">
                        <a:moveTo>
                          <a:pt x="0" y="0"/>
                        </a:moveTo>
                        <a:lnTo>
                          <a:pt x="2939" y="0"/>
                        </a:lnTo>
                        <a:lnTo>
                          <a:pt x="3255" y="413"/>
                        </a:lnTo>
                        <a:lnTo>
                          <a:pt x="2941" y="825"/>
                        </a:lnTo>
                        <a:lnTo>
                          <a:pt x="1" y="825"/>
                        </a:lnTo>
                        <a:lnTo>
                          <a:pt x="315" y="413"/>
                        </a:lnTo>
                        <a:lnTo>
                          <a:pt x="0" y="0"/>
                        </a:lnTo>
                        <a:close/>
                      </a:path>
                    </a:pathLst>
                  </a:custGeom>
                  <a:gradFill>
                    <a:gsLst>
                      <a:gs pos="100000">
                        <a:srgbClr val="3368FF"/>
                      </a:gs>
                      <a:gs pos="0">
                        <a:srgbClr val="668EFF"/>
                      </a:gs>
                    </a:gsLst>
                    <a:lin ang="81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9" name="任意多边形 58"/>
                  <p:cNvSpPr/>
                  <p:nvPr/>
                </p:nvSpPr>
                <p:spPr>
                  <a:xfrm>
                    <a:off x="981" y="4647"/>
                    <a:ext cx="2786" cy="484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2787" h="4841">
                        <a:moveTo>
                          <a:pt x="1" y="2420"/>
                        </a:moveTo>
                        <a:lnTo>
                          <a:pt x="0" y="2355"/>
                        </a:lnTo>
                        <a:cubicBezTo>
                          <a:pt x="-39" y="1027"/>
                          <a:pt x="1298" y="-31"/>
                          <a:pt x="2363" y="0"/>
                        </a:cubicBezTo>
                        <a:lnTo>
                          <a:pt x="2421" y="1"/>
                        </a:lnTo>
                        <a:lnTo>
                          <a:pt x="2471" y="1"/>
                        </a:lnTo>
                        <a:lnTo>
                          <a:pt x="2786" y="414"/>
                        </a:lnTo>
                        <a:lnTo>
                          <a:pt x="2472" y="825"/>
                        </a:lnTo>
                        <a:lnTo>
                          <a:pt x="2379" y="825"/>
                        </a:lnTo>
                        <a:lnTo>
                          <a:pt x="2341" y="825"/>
                        </a:lnTo>
                        <a:cubicBezTo>
                          <a:pt x="1550" y="799"/>
                          <a:pt x="758" y="1595"/>
                          <a:pt x="784" y="2377"/>
                        </a:cubicBezTo>
                        <a:lnTo>
                          <a:pt x="784" y="2420"/>
                        </a:lnTo>
                        <a:lnTo>
                          <a:pt x="784" y="2458"/>
                        </a:lnTo>
                        <a:cubicBezTo>
                          <a:pt x="758" y="3248"/>
                          <a:pt x="1554" y="4040"/>
                          <a:pt x="2337" y="4015"/>
                        </a:cubicBezTo>
                        <a:lnTo>
                          <a:pt x="2379" y="4014"/>
                        </a:lnTo>
                        <a:lnTo>
                          <a:pt x="2724" y="4014"/>
                        </a:lnTo>
                        <a:lnTo>
                          <a:pt x="2421" y="4412"/>
                        </a:lnTo>
                        <a:lnTo>
                          <a:pt x="2746" y="4839"/>
                        </a:lnTo>
                        <a:lnTo>
                          <a:pt x="2421" y="4839"/>
                        </a:lnTo>
                        <a:lnTo>
                          <a:pt x="2356" y="4840"/>
                        </a:lnTo>
                        <a:cubicBezTo>
                          <a:pt x="1028" y="4879"/>
                          <a:pt x="-31" y="3542"/>
                          <a:pt x="0" y="2478"/>
                        </a:cubicBezTo>
                        <a:lnTo>
                          <a:pt x="1" y="2420"/>
                        </a:lnTo>
                        <a:close/>
                      </a:path>
                    </a:pathLst>
                  </a:custGeom>
                  <a:gradFill>
                    <a:gsLst>
                      <a:gs pos="10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pic>
                <p:nvPicPr>
                  <p:cNvPr id="82" name="图片 81" descr="齿轮"/>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479" y="6032"/>
                    <a:ext cx="2070" cy="2070"/>
                  </a:xfrm>
                  <a:prstGeom prst="rect">
                    <a:avLst/>
                  </a:prstGeom>
                </p:spPr>
              </p:pic>
              <p:pic>
                <p:nvPicPr>
                  <p:cNvPr id="83" name="图片 82" descr="齿轮"/>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600" y="6032"/>
                    <a:ext cx="2070" cy="2070"/>
                  </a:xfrm>
                  <a:prstGeom prst="rect">
                    <a:avLst/>
                  </a:prstGeom>
                </p:spPr>
              </p:pic>
              <p:pic>
                <p:nvPicPr>
                  <p:cNvPr id="86" name="图片 85" descr="面-齿轮"/>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771" y="6570"/>
                    <a:ext cx="1489" cy="1489"/>
                  </a:xfrm>
                  <a:prstGeom prst="rect">
                    <a:avLst/>
                  </a:prstGeom>
                </p:spPr>
              </p:pic>
              <p:pic>
                <p:nvPicPr>
                  <p:cNvPr id="87" name="图片 86" descr="面-齿轮"/>
                  <p:cNvPicPr>
                    <a:picLocks noChangeAspect="1"/>
                  </p:cNvPicPr>
                  <p:nvPr/>
                </p:nvPicPr>
                <p:blipFill>
                  <a:blip r:embed="rId7">
                    <a:extLst>
                      <a:ext uri="{96DAC541-7B7A-43D3-8B79-37D633B846F1}">
                        <asvg:svgBlip xmlns:asvg="http://schemas.microsoft.com/office/drawing/2016/SVG/main" r:embed="rId9"/>
                      </a:ext>
                    </a:extLst>
                  </a:blip>
                  <a:stretch>
                    <a:fillRect/>
                  </a:stretch>
                </p:blipFill>
                <p:spPr>
                  <a:xfrm>
                    <a:off x="6947" y="6258"/>
                    <a:ext cx="1489" cy="1489"/>
                  </a:xfrm>
                  <a:prstGeom prst="rect">
                    <a:avLst/>
                  </a:prstGeom>
                </p:spPr>
              </p:pic>
              <p:pic>
                <p:nvPicPr>
                  <p:cNvPr id="88" name="图片 87" descr="面-齿轮"/>
                  <p:cNvPicPr>
                    <a:picLocks noChangeAspect="1"/>
                  </p:cNvPicPr>
                  <p:nvPr/>
                </p:nvPicPr>
                <p:blipFill>
                  <a:blip r:embed="rId7">
                    <a:extLst>
                      <a:ext uri="{96DAC541-7B7A-43D3-8B79-37D633B846F1}">
                        <asvg:svgBlip xmlns:asvg="http://schemas.microsoft.com/office/drawing/2016/SVG/main" r:embed="rId10"/>
                      </a:ext>
                    </a:extLst>
                  </a:blip>
                  <a:stretch>
                    <a:fillRect/>
                  </a:stretch>
                </p:blipFill>
                <p:spPr>
                  <a:xfrm>
                    <a:off x="8166" y="6564"/>
                    <a:ext cx="1489" cy="1489"/>
                  </a:xfrm>
                  <a:prstGeom prst="rect">
                    <a:avLst/>
                  </a:prstGeom>
                </p:spPr>
              </p:pic>
              <p:sp>
                <p:nvSpPr>
                  <p:cNvPr id="93" name="等腰三角形 92"/>
                  <p:cNvSpPr/>
                  <p:nvPr/>
                </p:nvSpPr>
                <p:spPr>
                  <a:xfrm rot="5400000">
                    <a:off x="9340" y="5786"/>
                    <a:ext cx="290" cy="303"/>
                  </a:xfrm>
                  <a:prstGeom prst="triangle">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94" name="等腰三角形 93"/>
                  <p:cNvSpPr/>
                  <p:nvPr/>
                </p:nvSpPr>
                <p:spPr>
                  <a:xfrm rot="16200000" flipH="1">
                    <a:off x="4692" y="8052"/>
                    <a:ext cx="290" cy="303"/>
                  </a:xfrm>
                  <a:prstGeom prst="triangle">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pic>
            <p:nvPicPr>
              <p:cNvPr id="16" name="图片 15" descr="面-齿轮"/>
              <p:cNvPicPr>
                <a:picLocks noChangeAspect="1"/>
              </p:cNvPicPr>
              <p:nvPr/>
            </p:nvPicPr>
            <p:blipFill>
              <a:blip r:embed="rId7">
                <a:extLst>
                  <a:ext uri="{96DAC541-7B7A-43D3-8B79-37D633B846F1}">
                    <asvg:svgBlip xmlns:asvg="http://schemas.microsoft.com/office/drawing/2016/SVG/main" r:embed="rId11"/>
                  </a:ext>
                </a:extLst>
              </a:blip>
              <a:stretch>
                <a:fillRect/>
              </a:stretch>
            </p:blipFill>
            <p:spPr>
              <a:xfrm>
                <a:off x="6404" y="5131"/>
                <a:ext cx="1817" cy="1817"/>
              </a:xfrm>
              <a:prstGeom prst="rect">
                <a:avLst/>
              </a:prstGeom>
            </p:spPr>
          </p:pic>
          <p:grpSp>
            <p:nvGrpSpPr>
              <p:cNvPr id="22" name="组合 21"/>
              <p:cNvGrpSpPr/>
              <p:nvPr/>
            </p:nvGrpSpPr>
            <p:grpSpPr>
              <a:xfrm>
                <a:off x="6843" y="5713"/>
                <a:ext cx="938" cy="654"/>
                <a:chOff x="6860" y="5713"/>
                <a:chExt cx="938" cy="654"/>
              </a:xfrm>
            </p:grpSpPr>
            <p:sp>
              <p:nvSpPr>
                <p:cNvPr id="17" name="椭圆 16"/>
                <p:cNvSpPr/>
                <p:nvPr/>
              </p:nvSpPr>
              <p:spPr>
                <a:xfrm>
                  <a:off x="6990" y="5713"/>
                  <a:ext cx="654" cy="654"/>
                </a:xfrm>
                <a:prstGeom prst="ellipse">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1" name="文本框 20"/>
                <p:cNvSpPr txBox="1"/>
                <p:nvPr/>
              </p:nvSpPr>
              <p:spPr>
                <a:xfrm>
                  <a:off x="6860" y="5816"/>
                  <a:ext cx="938" cy="447"/>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制度</a:t>
                  </a:r>
                  <a:endParaRPr lang="zh-CN" altLang="en-US" sz="1000">
                    <a:solidFill>
                      <a:srgbClr val="383838"/>
                    </a:solidFill>
                    <a:latin typeface="微软雅黑"/>
                    <a:ea typeface="微软雅黑"/>
                    <a:cs typeface="微软雅黑"/>
                  </a:endParaRPr>
                </a:p>
              </p:txBody>
            </p:sp>
          </p:grpSp>
          <p:grpSp>
            <p:nvGrpSpPr>
              <p:cNvPr id="23" name="组合 22"/>
              <p:cNvGrpSpPr/>
              <p:nvPr/>
            </p:nvGrpSpPr>
            <p:grpSpPr>
              <a:xfrm>
                <a:off x="8331" y="6094"/>
                <a:ext cx="946" cy="654"/>
                <a:chOff x="6813" y="5749"/>
                <a:chExt cx="946" cy="654"/>
              </a:xfrm>
            </p:grpSpPr>
            <p:sp>
              <p:nvSpPr>
                <p:cNvPr id="24" name="椭圆 23"/>
                <p:cNvSpPr/>
                <p:nvPr/>
              </p:nvSpPr>
              <p:spPr>
                <a:xfrm>
                  <a:off x="6959" y="5749"/>
                  <a:ext cx="654" cy="654"/>
                </a:xfrm>
                <a:prstGeom prst="ellipse">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nchorCtr="0"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0" name="文本框 29"/>
                <p:cNvSpPr txBox="1"/>
                <p:nvPr/>
              </p:nvSpPr>
              <p:spPr>
                <a:xfrm>
                  <a:off x="6813" y="5872"/>
                  <a:ext cx="946" cy="424"/>
                </a:xfrm>
                <a:prstGeom prst="rect">
                  <a:avLst/>
                </a:prstGeom>
              </p:spPr>
              <p:txBody>
                <a:bodyPr wrap="square" anchor="ctr" anchorCtr="0" lIns="0" rIns="0" tIns="0" bIns="0">
                  <a:noAutofit/>
                  <a:extLst>
                    <a:ext uri="{4A0BC546-FE56-4ADE-93B0-CB8AF2F6F144}">
                      <wpsdc:textFrameExt xmlns:wpsdc="http://www.wps.cn/officeDocument/2022/drawingmlCustomData" type="text"/>
                    </a:ext>
                  </a:extLst>
                </a:bodyPr>
                <a:p>
                  <a:pPr lvl="0" algn="ctr">
                    <a:buClrTx/>
                    <a:buSzTx/>
                    <a:buFontTx/>
                    <a:defRPr>
                      <a:latin typeface="微软雅黑"/>
                      <a:ea typeface="微软雅黑"/>
                      <a:cs typeface="微软雅黑"/>
                    </a:defRPr>
                  </a:pPr>
                  <a:r>
                    <a:rPr lang="zh-CN" altLang="en-US" sz="1000">
                      <a:solidFill>
                        <a:srgbClr val="383838"/>
                      </a:solidFill>
                      <a:latin typeface="微软雅黑"/>
                      <a:ea typeface="微软雅黑"/>
                      <a:cs typeface="微软雅黑"/>
                      <a:sym typeface="微软雅黑"/>
                    </a:rPr>
                    <a:t>流程</a:t>
                  </a:r>
                  <a:endParaRPr lang="zh-CN" altLang="en-US" sz="1000">
                    <a:solidFill>
                      <a:srgbClr val="383838"/>
                    </a:solidFill>
                    <a:latin typeface="微软雅黑"/>
                    <a:ea typeface="微软雅黑"/>
                    <a:cs typeface="微软雅黑"/>
                    <a:sym typeface="微软雅黑"/>
                  </a:endParaRPr>
                </a:p>
              </p:txBody>
            </p:sp>
          </p:grpSp>
          <p:grpSp>
            <p:nvGrpSpPr>
              <p:cNvPr id="31" name="组合 30"/>
              <p:cNvGrpSpPr/>
              <p:nvPr/>
            </p:nvGrpSpPr>
            <p:grpSpPr>
              <a:xfrm>
                <a:off x="9764" y="5713"/>
                <a:ext cx="950" cy="654"/>
                <a:chOff x="6865" y="5713"/>
                <a:chExt cx="950" cy="654"/>
              </a:xfrm>
            </p:grpSpPr>
            <p:sp>
              <p:nvSpPr>
                <p:cNvPr id="32" name="椭圆 31"/>
                <p:cNvSpPr/>
                <p:nvPr/>
              </p:nvSpPr>
              <p:spPr>
                <a:xfrm>
                  <a:off x="6994" y="5713"/>
                  <a:ext cx="654" cy="654"/>
                </a:xfrm>
                <a:prstGeom prst="ellipse">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nchorCtr="0"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 name="文本框 32"/>
                <p:cNvSpPr txBox="1"/>
                <p:nvPr/>
              </p:nvSpPr>
              <p:spPr>
                <a:xfrm>
                  <a:off x="6865" y="5844"/>
                  <a:ext cx="950" cy="391"/>
                </a:xfrm>
                <a:prstGeom prst="rect">
                  <a:avLst/>
                </a:prstGeom>
              </p:spPr>
              <p:txBody>
                <a:bodyPr wrap="square" anchor="ctr" anchorCtr="0" lIns="0" rIns="0" tIns="0" bIns="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员工</a:t>
                  </a:r>
                  <a:endParaRPr lang="zh-CN" altLang="en-US" sz="1000">
                    <a:solidFill>
                      <a:srgbClr val="383838"/>
                    </a:solidFill>
                    <a:latin typeface="微软雅黑"/>
                    <a:ea typeface="微软雅黑"/>
                    <a:cs typeface="微软雅黑"/>
                  </a:endParaRPr>
                </a:p>
              </p:txBody>
            </p:sp>
          </p:grpSp>
          <p:grpSp>
            <p:nvGrpSpPr>
              <p:cNvPr id="34" name="组合 33"/>
              <p:cNvGrpSpPr/>
              <p:nvPr/>
            </p:nvGrpSpPr>
            <p:grpSpPr>
              <a:xfrm>
                <a:off x="11266" y="6086"/>
                <a:ext cx="921" cy="654"/>
                <a:chOff x="6856" y="5733"/>
                <a:chExt cx="921" cy="654"/>
              </a:xfrm>
            </p:grpSpPr>
            <p:sp>
              <p:nvSpPr>
                <p:cNvPr id="35" name="椭圆 34"/>
                <p:cNvSpPr/>
                <p:nvPr/>
              </p:nvSpPr>
              <p:spPr>
                <a:xfrm>
                  <a:off x="6989" y="5733"/>
                  <a:ext cx="654" cy="654"/>
                </a:xfrm>
                <a:prstGeom prst="ellipse">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nchorCtr="0"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6" name="文本框 35"/>
                <p:cNvSpPr txBox="1"/>
                <p:nvPr/>
              </p:nvSpPr>
              <p:spPr>
                <a:xfrm>
                  <a:off x="6856" y="5825"/>
                  <a:ext cx="921" cy="453"/>
                </a:xfrm>
                <a:prstGeom prst="rect">
                  <a:avLst/>
                </a:prstGeom>
              </p:spPr>
              <p:txBody>
                <a:bodyPr wrap="square" anchor="ctr" anchorCtr="0" lIns="0" rIns="0" tIns="0" bIns="0">
                  <a:sp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平台</a:t>
                  </a:r>
                  <a:endParaRPr lang="zh-CN" altLang="en-US" sz="1000">
                    <a:solidFill>
                      <a:srgbClr val="383838"/>
                    </a:solidFill>
                    <a:latin typeface="微软雅黑"/>
                    <a:ea typeface="微软雅黑"/>
                    <a:cs typeface="微软雅黑"/>
                  </a:endParaRPr>
                </a:p>
              </p:txBody>
            </p:sp>
          </p:grpSp>
        </p:grpSp>
        <p:sp>
          <p:nvSpPr>
            <p:cNvPr id="4" name="文本框 3"/>
            <p:cNvSpPr txBox="1"/>
            <p:nvPr/>
          </p:nvSpPr>
          <p:spPr>
            <a:xfrm>
              <a:off x="5505" y="5278"/>
              <a:ext cx="774"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战略</a:t>
              </a:r>
              <a:endParaRPr lang="zh-CN" altLang="en-US" sz="1000">
                <a:solidFill>
                  <a:srgbClr val="FFFFFF"/>
                </a:solidFill>
                <a:latin typeface="微软雅黑"/>
                <a:ea typeface="微软雅黑"/>
                <a:cs typeface="微软雅黑"/>
              </a:endParaRPr>
            </a:p>
          </p:txBody>
        </p:sp>
        <p:sp>
          <p:nvSpPr>
            <p:cNvPr id="7" name="文本框 6"/>
            <p:cNvSpPr txBox="1"/>
            <p:nvPr/>
          </p:nvSpPr>
          <p:spPr>
            <a:xfrm>
              <a:off x="4786" y="5932"/>
              <a:ext cx="757"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目标</a:t>
              </a:r>
              <a:endParaRPr lang="zh-CN" altLang="en-US" sz="1000">
                <a:solidFill>
                  <a:srgbClr val="FFFFFF"/>
                </a:solidFill>
                <a:latin typeface="微软雅黑"/>
                <a:ea typeface="微软雅黑"/>
                <a:cs typeface="微软雅黑"/>
              </a:endParaRPr>
            </a:p>
          </p:txBody>
        </p:sp>
        <p:sp>
          <p:nvSpPr>
            <p:cNvPr id="8" name="文本框 7"/>
            <p:cNvSpPr txBox="1"/>
            <p:nvPr/>
          </p:nvSpPr>
          <p:spPr>
            <a:xfrm>
              <a:off x="6307" y="5932"/>
              <a:ext cx="757"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规划</a:t>
              </a:r>
              <a:endParaRPr lang="zh-CN" altLang="en-US" sz="1000">
                <a:solidFill>
                  <a:srgbClr val="FFFFFF"/>
                </a:solidFill>
                <a:latin typeface="微软雅黑"/>
                <a:ea typeface="微软雅黑"/>
                <a:cs typeface="微软雅黑"/>
              </a:endParaRPr>
            </a:p>
          </p:txBody>
        </p:sp>
        <p:sp>
          <p:nvSpPr>
            <p:cNvPr id="9" name="文本框 8"/>
            <p:cNvSpPr txBox="1"/>
            <p:nvPr/>
          </p:nvSpPr>
          <p:spPr>
            <a:xfrm>
              <a:off x="5505" y="6567"/>
              <a:ext cx="774"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愿景</a:t>
              </a:r>
              <a:endParaRPr lang="zh-CN" altLang="en-US" sz="1000">
                <a:solidFill>
                  <a:srgbClr val="FFFFFF"/>
                </a:solidFill>
                <a:latin typeface="微软雅黑"/>
                <a:ea typeface="微软雅黑"/>
                <a:cs typeface="微软雅黑"/>
              </a:endParaRPr>
            </a:p>
          </p:txBody>
        </p:sp>
        <p:sp>
          <p:nvSpPr>
            <p:cNvPr id="11" name="文本框 10"/>
            <p:cNvSpPr txBox="1"/>
            <p:nvPr/>
          </p:nvSpPr>
          <p:spPr>
            <a:xfrm>
              <a:off x="5395" y="5735"/>
              <a:ext cx="1020" cy="741"/>
            </a:xfrm>
            <a:prstGeom prst="rect">
              <a:avLst/>
            </a:prstGeom>
          </p:spPr>
          <p:txBody>
            <a:bodyPr wrap="square">
              <a:noAutofit/>
              <a:extLst>
                <a:ext uri="{4A0BC546-FE56-4ADE-93B0-CB8AF2F6F144}">
                  <wpsdc:textFrameExt xmlns:wpsdc="http://www.wps.cn/officeDocument/2022/drawingmlCustomData" type="text"/>
                </a:ext>
              </a:extLst>
            </a:bodyPr>
            <a:p>
              <a:pPr algn="ctr">
                <a:defRPr>
                  <a:solidFill>
                    <a:srgbClr val="383838"/>
                  </a:solidFill>
                  <a:latin typeface="微软雅黑"/>
                  <a:ea typeface="微软雅黑"/>
                  <a:cs typeface="微软雅黑"/>
                </a:defRPr>
              </a:pPr>
              <a:r>
                <a:rPr lang="zh-CN" altLang="en-US" sz="1200" b="1">
                  <a:solidFill>
                    <a:srgbClr val="383838"/>
                  </a:solidFill>
                  <a:latin typeface="微软雅黑"/>
                  <a:ea typeface="微软雅黑"/>
                  <a:cs typeface="微软雅黑"/>
                </a:rPr>
                <a:t>战略</a:t>
              </a:r>
              <a:endParaRPr lang="zh-CN" altLang="en-US" sz="1200" b="1">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r>
                <a:rPr lang="zh-CN" altLang="en-US" sz="1200" b="1">
                  <a:solidFill>
                    <a:srgbClr val="383838"/>
                  </a:solidFill>
                  <a:latin typeface="微软雅黑"/>
                  <a:ea typeface="微软雅黑"/>
                  <a:cs typeface="微软雅黑"/>
                </a:rPr>
                <a:t>价值</a:t>
              </a:r>
              <a:endParaRPr lang="zh-CN" altLang="en-US" sz="1200" b="1">
                <a:solidFill>
                  <a:srgbClr val="383838"/>
                </a:solidFill>
                <a:latin typeface="微软雅黑"/>
                <a:ea typeface="微软雅黑"/>
                <a:cs typeface="微软雅黑"/>
              </a:endParaRPr>
            </a:p>
          </p:txBody>
        </p:sp>
        <p:sp>
          <p:nvSpPr>
            <p:cNvPr id="12" name="文本框 11"/>
            <p:cNvSpPr txBox="1"/>
            <p:nvPr/>
          </p:nvSpPr>
          <p:spPr>
            <a:xfrm>
              <a:off x="12922" y="5278"/>
              <a:ext cx="774"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业务</a:t>
              </a:r>
              <a:endParaRPr lang="zh-CN" altLang="en-US" sz="1000">
                <a:solidFill>
                  <a:srgbClr val="FFFFFF"/>
                </a:solidFill>
                <a:latin typeface="微软雅黑"/>
                <a:ea typeface="微软雅黑"/>
                <a:cs typeface="微软雅黑"/>
              </a:endParaRPr>
            </a:p>
          </p:txBody>
        </p:sp>
        <p:sp>
          <p:nvSpPr>
            <p:cNvPr id="15" name="文本框 14"/>
            <p:cNvSpPr txBox="1"/>
            <p:nvPr/>
          </p:nvSpPr>
          <p:spPr>
            <a:xfrm>
              <a:off x="12203" y="5932"/>
              <a:ext cx="757"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数据</a:t>
              </a:r>
              <a:endParaRPr lang="zh-CN" altLang="en-US" sz="1000">
                <a:solidFill>
                  <a:srgbClr val="FFFFFF"/>
                </a:solidFill>
                <a:latin typeface="微软雅黑"/>
                <a:ea typeface="微软雅黑"/>
                <a:cs typeface="微软雅黑"/>
              </a:endParaRPr>
            </a:p>
          </p:txBody>
        </p:sp>
        <p:sp>
          <p:nvSpPr>
            <p:cNvPr id="18" name="文本框 17"/>
            <p:cNvSpPr txBox="1"/>
            <p:nvPr/>
          </p:nvSpPr>
          <p:spPr>
            <a:xfrm>
              <a:off x="13723" y="5932"/>
              <a:ext cx="757"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创新</a:t>
              </a:r>
              <a:endParaRPr lang="zh-CN" altLang="en-US" sz="1000">
                <a:solidFill>
                  <a:srgbClr val="FFFFFF"/>
                </a:solidFill>
                <a:latin typeface="微软雅黑"/>
                <a:ea typeface="微软雅黑"/>
                <a:cs typeface="微软雅黑"/>
              </a:endParaRPr>
            </a:p>
          </p:txBody>
        </p:sp>
        <p:sp>
          <p:nvSpPr>
            <p:cNvPr id="19" name="文本框 18"/>
            <p:cNvSpPr txBox="1"/>
            <p:nvPr/>
          </p:nvSpPr>
          <p:spPr>
            <a:xfrm>
              <a:off x="12922" y="6567"/>
              <a:ext cx="774" cy="380"/>
            </a:xfrm>
            <a:prstGeom prst="rect">
              <a:avLst/>
            </a:prstGeom>
          </p:spPr>
          <p:txBody>
            <a:bodyPr wrap="square"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技术</a:t>
              </a:r>
              <a:endParaRPr lang="zh-CN" altLang="en-US" sz="1000">
                <a:solidFill>
                  <a:srgbClr val="FFFFFF"/>
                </a:solidFill>
                <a:latin typeface="微软雅黑"/>
                <a:ea typeface="微软雅黑"/>
                <a:cs typeface="微软雅黑"/>
              </a:endParaRPr>
            </a:p>
          </p:txBody>
        </p:sp>
        <p:sp>
          <p:nvSpPr>
            <p:cNvPr id="20" name="文本框 19"/>
            <p:cNvSpPr txBox="1"/>
            <p:nvPr/>
          </p:nvSpPr>
          <p:spPr>
            <a:xfrm>
              <a:off x="12811" y="5735"/>
              <a:ext cx="1020" cy="741"/>
            </a:xfrm>
            <a:prstGeom prst="rect">
              <a:avLst/>
            </a:prstGeom>
          </p:spPr>
          <p:txBody>
            <a:bodyPr wrap="square">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数字</a:t>
              </a:r>
              <a:endParaRPr lang="zh-CN" altLang="en-US" sz="12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能力</a:t>
              </a:r>
              <a:endParaRPr lang="zh-CN" altLang="en-US" sz="1200" b="1">
                <a:solidFill>
                  <a:srgbClr val="383838"/>
                </a:solidFill>
                <a:latin typeface="微软雅黑"/>
                <a:ea typeface="微软雅黑"/>
                <a:cs typeface="微软雅黑"/>
              </a:endParaRPr>
            </a:p>
          </p:txBody>
        </p:sp>
        <p:sp>
          <p:nvSpPr>
            <p:cNvPr id="76" name="矩形 75"/>
            <p:cNvSpPr/>
            <p:nvPr/>
          </p:nvSpPr>
          <p:spPr>
            <a:xfrm>
              <a:off x="8581" y="4744"/>
              <a:ext cx="1481" cy="402"/>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b="1">
                  <a:solidFill>
                    <a:srgbClr val="0042FF"/>
                  </a:solidFill>
                  <a:cs typeface="微软雅黑"/>
                  <a:latin typeface="微软雅黑"/>
                  <a:ea typeface="微软雅黑"/>
                </a:rPr>
                <a:t>双轮驱动</a:t>
              </a:r>
              <a:endParaRPr lang="zh-CN" altLang="en-US" sz="1400" b="1">
                <a:solidFill>
                  <a:srgbClr val="0042FF"/>
                </a:solidFill>
                <a:cs typeface="微软雅黑"/>
                <a:latin typeface="微软雅黑"/>
                <a:ea typeface="微软雅黑"/>
              </a:endParaRPr>
            </a:p>
          </p:txBody>
        </p:sp>
        <p:sp>
          <p:nvSpPr>
            <p:cNvPr id="84" name="矩形 83"/>
            <p:cNvSpPr/>
            <p:nvPr/>
          </p:nvSpPr>
          <p:spPr>
            <a:xfrm>
              <a:off x="10173" y="7134"/>
              <a:ext cx="1481" cy="402"/>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b="1">
                  <a:solidFill>
                    <a:srgbClr val="0042FF"/>
                  </a:solidFill>
                  <a:cs typeface="微软雅黑"/>
                  <a:latin typeface="微软雅黑"/>
                  <a:ea typeface="微软雅黑"/>
                </a:rPr>
                <a:t>变革推进</a:t>
              </a:r>
              <a:endParaRPr lang="zh-CN" altLang="en-US" sz="1400" b="1">
                <a:solidFill>
                  <a:srgbClr val="0042FF"/>
                </a:solidFill>
                <a:cs typeface="微软雅黑"/>
                <a:latin typeface="微软雅黑"/>
                <a:ea typeface="微软雅黑"/>
              </a:endParaRPr>
            </a:p>
          </p:txBody>
        </p:sp>
        <p:sp>
          <p:nvSpPr>
            <p:cNvPr id="85" name="文本框 84"/>
            <p:cNvSpPr txBox="1"/>
            <p:nvPr/>
          </p:nvSpPr>
          <p:spPr>
            <a:xfrm>
              <a:off x="6547" y="3711"/>
              <a:ext cx="2730" cy="668"/>
            </a:xfrm>
            <a:prstGeom prst="rect">
              <a:avLst/>
            </a:prstGeom>
          </p:spPr>
          <p:txBody>
            <a:bodyPr wrap="square" anchor="ctr" anchorCtr="0"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b="1">
                  <a:solidFill>
                    <a:srgbClr val="FFFFFF"/>
                  </a:solidFill>
                  <a:latin typeface="微软雅黑"/>
                  <a:ea typeface="微软雅黑"/>
                  <a:cs typeface="微软雅黑"/>
                </a:rPr>
                <a:t>强化企业人力资源管控</a:t>
              </a:r>
              <a:endParaRPr lang="zh-CN" altLang="en-US"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b="1">
                  <a:solidFill>
                    <a:srgbClr val="FFFFFF"/>
                  </a:solidFill>
                  <a:latin typeface="微软雅黑"/>
                  <a:ea typeface="微软雅黑"/>
                  <a:cs typeface="微软雅黑"/>
                </a:rPr>
                <a:t>决策能力</a:t>
              </a:r>
              <a:endParaRPr lang="zh-CN" altLang="en-US" sz="1000" b="1">
                <a:solidFill>
                  <a:srgbClr val="FFFFFF"/>
                </a:solidFill>
                <a:latin typeface="微软雅黑"/>
                <a:ea typeface="微软雅黑"/>
                <a:cs typeface="微软雅黑"/>
              </a:endParaRPr>
            </a:p>
          </p:txBody>
        </p:sp>
        <p:sp>
          <p:nvSpPr>
            <p:cNvPr id="89" name="文本框 88"/>
            <p:cNvSpPr txBox="1"/>
            <p:nvPr/>
          </p:nvSpPr>
          <p:spPr>
            <a:xfrm>
              <a:off x="10045" y="3711"/>
              <a:ext cx="2730" cy="668"/>
            </a:xfrm>
            <a:prstGeom prst="rect">
              <a:avLst/>
            </a:prstGeom>
          </p:spPr>
          <p:txBody>
            <a:bodyPr wrap="square" anchor="ctr" anchorCtr="0" lIns="0" rIns="0" tIns="0" bIns="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000" b="1">
                  <a:solidFill>
                    <a:srgbClr val="FFFFFF"/>
                  </a:solidFill>
                  <a:latin typeface="微软雅黑"/>
                  <a:ea typeface="微软雅黑"/>
                  <a:cs typeface="微软雅黑"/>
                </a:rPr>
                <a:t>全面提升人力资源运营</a:t>
              </a:r>
              <a:endParaRPr lang="zh-CN" altLang="en-US" sz="10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000" b="1">
                  <a:solidFill>
                    <a:srgbClr val="FFFFFF"/>
                  </a:solidFill>
                  <a:latin typeface="微软雅黑"/>
                  <a:ea typeface="微软雅黑"/>
                  <a:cs typeface="微软雅黑"/>
                </a:rPr>
                <a:t>管理水平</a:t>
              </a:r>
              <a:endParaRPr lang="zh-CN" altLang="en-US" sz="1000" b="1">
                <a:solidFill>
                  <a:srgbClr val="FFFFFF"/>
                </a:solidFill>
                <a:latin typeface="微软雅黑"/>
                <a:ea typeface="微软雅黑"/>
                <a:cs typeface="微软雅黑"/>
              </a:endParaRPr>
            </a:p>
          </p:txBody>
        </p:sp>
        <p:sp>
          <p:nvSpPr>
            <p:cNvPr id="96" name="文本框 95"/>
            <p:cNvSpPr txBox="1"/>
            <p:nvPr/>
          </p:nvSpPr>
          <p:spPr>
            <a:xfrm>
              <a:off x="6547" y="7870"/>
              <a:ext cx="2730" cy="668"/>
            </a:xfrm>
            <a:prstGeom prst="rect">
              <a:avLst/>
            </a:prstGeom>
          </p:spPr>
          <p:txBody>
            <a:bodyPr wrap="square" anchor="ctr" anchorCtr="0" lIns="0" rIns="0" tIns="0" bIns="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提升管理者和员工</a:t>
              </a:r>
              <a:endParaRPr lang="zh-CN" altLang="en-US" sz="10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服务满意度</a:t>
              </a:r>
              <a:endParaRPr lang="zh-CN" altLang="en-US" sz="1000" b="1">
                <a:solidFill>
                  <a:srgbClr val="383838"/>
                </a:solidFill>
                <a:latin typeface="微软雅黑"/>
                <a:ea typeface="微软雅黑"/>
                <a:cs typeface="微软雅黑"/>
              </a:endParaRPr>
            </a:p>
          </p:txBody>
        </p:sp>
        <p:sp>
          <p:nvSpPr>
            <p:cNvPr id="97" name="文本框 96"/>
            <p:cNvSpPr txBox="1"/>
            <p:nvPr/>
          </p:nvSpPr>
          <p:spPr>
            <a:xfrm>
              <a:off x="10045" y="7870"/>
              <a:ext cx="2730" cy="668"/>
            </a:xfrm>
            <a:prstGeom prst="rect">
              <a:avLst/>
            </a:prstGeom>
          </p:spPr>
          <p:txBody>
            <a:bodyPr wrap="square" anchor="ctr" anchorCtr="0" lIns="0" rIns="0" tIns="0" bIns="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推进企业整体人力资源</a:t>
              </a:r>
              <a:endParaRPr lang="zh-CN" altLang="en-US" sz="10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b="1">
                  <a:solidFill>
                    <a:srgbClr val="383838"/>
                  </a:solidFill>
                  <a:latin typeface="微软雅黑"/>
                  <a:ea typeface="微软雅黑"/>
                  <a:cs typeface="微软雅黑"/>
                </a:rPr>
                <a:t>数字化建设</a:t>
              </a:r>
              <a:endParaRPr lang="zh-CN" altLang="en-US" sz="1000" b="1">
                <a:solidFill>
                  <a:srgbClr val="383838"/>
                </a:solidFill>
                <a:latin typeface="微软雅黑"/>
                <a:ea typeface="微软雅黑"/>
                <a:cs typeface="微软雅黑"/>
              </a:endParaRPr>
            </a:p>
          </p:txBody>
        </p:sp>
        <p:grpSp>
          <p:nvGrpSpPr>
            <p:cNvPr id="261" name="组合 260"/>
            <p:cNvGrpSpPr/>
            <p:nvPr/>
          </p:nvGrpSpPr>
          <p:grpSpPr>
            <a:xfrm>
              <a:off x="3363" y="3853"/>
              <a:ext cx="4674" cy="4529"/>
              <a:chOff x="24399" y="-3408"/>
              <a:chExt cx="4674" cy="4529"/>
            </a:xfrm>
          </p:grpSpPr>
          <p:sp>
            <p:nvSpPr>
              <p:cNvPr id="251" name="文本框 250"/>
              <p:cNvSpPr txBox="1"/>
              <p:nvPr/>
            </p:nvSpPr>
            <p:spPr>
              <a:xfrm>
                <a:off x="25779" y="636"/>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价值</a:t>
                </a:r>
                <a:endParaRPr lang="zh-CN" altLang="en-US" sz="1200" b="1">
                  <a:solidFill>
                    <a:srgbClr val="FFFFFF"/>
                  </a:solidFill>
                  <a:latin typeface="微软雅黑"/>
                  <a:ea typeface="微软雅黑"/>
                  <a:cs typeface="微软雅黑"/>
                </a:endParaRPr>
              </a:p>
            </p:txBody>
          </p:sp>
          <p:sp>
            <p:nvSpPr>
              <p:cNvPr id="252" name="文本框 251"/>
              <p:cNvSpPr txBox="1"/>
              <p:nvPr/>
            </p:nvSpPr>
            <p:spPr>
              <a:xfrm>
                <a:off x="24459" y="-446"/>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变革</a:t>
                </a:r>
                <a:endParaRPr lang="zh-CN" altLang="en-US" sz="1200" b="1">
                  <a:solidFill>
                    <a:srgbClr val="FFFFFF"/>
                  </a:solidFill>
                  <a:latin typeface="微软雅黑"/>
                  <a:ea typeface="微软雅黑"/>
                  <a:cs typeface="微软雅黑"/>
                </a:endParaRPr>
              </a:p>
            </p:txBody>
          </p:sp>
          <p:sp>
            <p:nvSpPr>
              <p:cNvPr id="253" name="文本框 252"/>
              <p:cNvSpPr txBox="1"/>
              <p:nvPr/>
            </p:nvSpPr>
            <p:spPr>
              <a:xfrm>
                <a:off x="24399" y="-2165"/>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驱动</a:t>
                </a:r>
                <a:endParaRPr lang="zh-CN" altLang="en-US" sz="1200" b="1">
                  <a:solidFill>
                    <a:srgbClr val="FFFFFF"/>
                  </a:solidFill>
                  <a:latin typeface="微软雅黑"/>
                  <a:ea typeface="微软雅黑"/>
                  <a:cs typeface="微软雅黑"/>
                </a:endParaRPr>
              </a:p>
            </p:txBody>
          </p:sp>
          <p:sp>
            <p:nvSpPr>
              <p:cNvPr id="254" name="文本框 253"/>
              <p:cNvSpPr txBox="1"/>
              <p:nvPr/>
            </p:nvSpPr>
            <p:spPr>
              <a:xfrm>
                <a:off x="25955" y="-3408"/>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业务</a:t>
                </a:r>
                <a:endParaRPr lang="zh-CN" altLang="en-US" sz="1200" b="1">
                  <a:solidFill>
                    <a:srgbClr val="FFFFFF"/>
                  </a:solidFill>
                  <a:latin typeface="微软雅黑"/>
                  <a:ea typeface="微软雅黑"/>
                  <a:cs typeface="微软雅黑"/>
                </a:endParaRPr>
              </a:p>
            </p:txBody>
          </p:sp>
          <p:sp>
            <p:nvSpPr>
              <p:cNvPr id="257" name="弧形 256"/>
              <p:cNvSpPr/>
              <p:nvPr/>
            </p:nvSpPr>
            <p:spPr>
              <a:xfrm>
                <a:off x="24726" y="-3271"/>
                <a:ext cx="4347" cy="4303"/>
              </a:xfrm>
              <a:prstGeom prst="arc">
                <a:avLst>
                  <a:gd name="adj1" fmla="val 7082432"/>
                  <a:gd name="adj2" fmla="val 8832058"/>
                </a:avLst>
              </a:prstGeom>
              <a:ln>
                <a:solidFill>
                  <a:srgbClr val="FFFFFF"/>
                </a:solidFill>
                <a:prstDash val="dash"/>
                <a:tailEnd type="triangl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58" name="弧形 257"/>
              <p:cNvSpPr/>
              <p:nvPr/>
            </p:nvSpPr>
            <p:spPr>
              <a:xfrm>
                <a:off x="24726" y="-3271"/>
                <a:ext cx="4347" cy="4303"/>
              </a:xfrm>
              <a:prstGeom prst="arc">
                <a:avLst>
                  <a:gd name="adj1" fmla="val 9688408"/>
                  <a:gd name="adj2" fmla="val 11689059"/>
                </a:avLst>
              </a:prstGeom>
              <a:ln>
                <a:solidFill>
                  <a:srgbClr val="FFFFFF"/>
                </a:solidFill>
                <a:prstDash val="dash"/>
                <a:tailEnd type="triangl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59" name="弧形 258"/>
              <p:cNvSpPr/>
              <p:nvPr/>
            </p:nvSpPr>
            <p:spPr>
              <a:xfrm>
                <a:off x="24726" y="-3271"/>
                <a:ext cx="4347" cy="4303"/>
              </a:xfrm>
              <a:prstGeom prst="arc">
                <a:avLst>
                  <a:gd name="adj1" fmla="val 12530004"/>
                  <a:gd name="adj2" fmla="val 14772534"/>
                </a:avLst>
              </a:prstGeom>
              <a:ln>
                <a:solidFill>
                  <a:srgbClr val="FFFFFF"/>
                </a:solidFill>
                <a:prstDash val="dash"/>
                <a:tailEnd type="triangl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grpSp>
          <p:nvGrpSpPr>
            <p:cNvPr id="262" name="组合 261"/>
            <p:cNvGrpSpPr/>
            <p:nvPr/>
          </p:nvGrpSpPr>
          <p:grpSpPr>
            <a:xfrm flipH="1">
              <a:off x="11307" y="3853"/>
              <a:ext cx="4674" cy="4502"/>
              <a:chOff x="24399" y="-3408"/>
              <a:chExt cx="4674" cy="4502"/>
            </a:xfrm>
          </p:grpSpPr>
          <p:sp>
            <p:nvSpPr>
              <p:cNvPr id="263" name="文本框 262"/>
              <p:cNvSpPr txBox="1"/>
              <p:nvPr/>
            </p:nvSpPr>
            <p:spPr>
              <a:xfrm>
                <a:off x="25780" y="609"/>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创新</a:t>
                </a:r>
                <a:endParaRPr lang="zh-CN" altLang="en-US" sz="1200" b="1">
                  <a:solidFill>
                    <a:srgbClr val="383838"/>
                  </a:solidFill>
                  <a:latin typeface="微软雅黑"/>
                  <a:ea typeface="微软雅黑"/>
                  <a:cs typeface="微软雅黑"/>
                </a:endParaRPr>
              </a:p>
            </p:txBody>
          </p:sp>
          <p:sp>
            <p:nvSpPr>
              <p:cNvPr id="264" name="文本框 263"/>
              <p:cNvSpPr txBox="1"/>
              <p:nvPr/>
            </p:nvSpPr>
            <p:spPr>
              <a:xfrm>
                <a:off x="24459" y="-446"/>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驱动</a:t>
                </a:r>
                <a:endParaRPr lang="zh-CN" altLang="en-US" sz="1200" b="1">
                  <a:solidFill>
                    <a:srgbClr val="383838"/>
                  </a:solidFill>
                  <a:latin typeface="微软雅黑"/>
                  <a:ea typeface="微软雅黑"/>
                  <a:cs typeface="微软雅黑"/>
                </a:endParaRPr>
              </a:p>
            </p:txBody>
          </p:sp>
          <p:sp>
            <p:nvSpPr>
              <p:cNvPr id="265" name="文本框 264"/>
              <p:cNvSpPr txBox="1"/>
              <p:nvPr/>
            </p:nvSpPr>
            <p:spPr>
              <a:xfrm>
                <a:off x="24399" y="-2165"/>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平台</a:t>
                </a:r>
                <a:endParaRPr lang="zh-CN" altLang="en-US" sz="1200" b="1">
                  <a:solidFill>
                    <a:srgbClr val="383838"/>
                  </a:solidFill>
                  <a:latin typeface="微软雅黑"/>
                  <a:ea typeface="微软雅黑"/>
                  <a:cs typeface="微软雅黑"/>
                </a:endParaRPr>
              </a:p>
            </p:txBody>
          </p:sp>
          <p:sp>
            <p:nvSpPr>
              <p:cNvPr id="266" name="文本框 265"/>
              <p:cNvSpPr txBox="1"/>
              <p:nvPr/>
            </p:nvSpPr>
            <p:spPr>
              <a:xfrm>
                <a:off x="25955" y="-3408"/>
                <a:ext cx="988" cy="485"/>
              </a:xfrm>
              <a:prstGeom prst="rect">
                <a:avLst/>
              </a:prstGeom>
            </p:spPr>
            <p:txBody>
              <a:bodyPr wrap="square" anchor="ctr" anchorCtr="0">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200" b="1">
                    <a:solidFill>
                      <a:srgbClr val="383838"/>
                    </a:solidFill>
                    <a:latin typeface="微软雅黑"/>
                    <a:ea typeface="微软雅黑"/>
                    <a:cs typeface="微软雅黑"/>
                  </a:rPr>
                  <a:t>数据</a:t>
                </a:r>
                <a:endParaRPr lang="zh-CN" altLang="en-US" sz="1200" b="1">
                  <a:solidFill>
                    <a:srgbClr val="383838"/>
                  </a:solidFill>
                  <a:latin typeface="微软雅黑"/>
                  <a:ea typeface="微软雅黑"/>
                  <a:cs typeface="微软雅黑"/>
                </a:endParaRPr>
              </a:p>
            </p:txBody>
          </p:sp>
          <p:sp>
            <p:nvSpPr>
              <p:cNvPr id="267" name="弧形 266"/>
              <p:cNvSpPr/>
              <p:nvPr/>
            </p:nvSpPr>
            <p:spPr>
              <a:xfrm>
                <a:off x="24726" y="-3271"/>
                <a:ext cx="4347" cy="4303"/>
              </a:xfrm>
              <a:prstGeom prst="arc">
                <a:avLst>
                  <a:gd name="adj1" fmla="val 7082432"/>
                  <a:gd name="adj2" fmla="val 8832058"/>
                </a:avLst>
              </a:prstGeom>
              <a:ln>
                <a:solidFill>
                  <a:srgbClr val="FFFFFF"/>
                </a:solidFill>
                <a:prstDash val="dash"/>
                <a:headEnd type="triangle"/>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68" name="弧形 267"/>
              <p:cNvSpPr/>
              <p:nvPr/>
            </p:nvSpPr>
            <p:spPr>
              <a:xfrm>
                <a:off x="24726" y="-3271"/>
                <a:ext cx="4347" cy="4303"/>
              </a:xfrm>
              <a:prstGeom prst="arc">
                <a:avLst>
                  <a:gd name="adj1" fmla="val 9688408"/>
                  <a:gd name="adj2" fmla="val 11689059"/>
                </a:avLst>
              </a:prstGeom>
              <a:ln>
                <a:solidFill>
                  <a:srgbClr val="FFFFFF"/>
                </a:solidFill>
                <a:prstDash val="dash"/>
                <a:headEnd type="triangle"/>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69" name="弧形 268"/>
              <p:cNvSpPr/>
              <p:nvPr/>
            </p:nvSpPr>
            <p:spPr>
              <a:xfrm>
                <a:off x="24726" y="-3271"/>
                <a:ext cx="4347" cy="4303"/>
              </a:xfrm>
              <a:prstGeom prst="arc">
                <a:avLst>
                  <a:gd name="adj1" fmla="val 12530004"/>
                  <a:gd name="adj2" fmla="val 14772534"/>
                </a:avLst>
              </a:prstGeom>
              <a:ln>
                <a:solidFill>
                  <a:srgbClr val="FFFFFF"/>
                </a:solidFill>
                <a:prstDash val="dash"/>
                <a:headEnd type="triangle"/>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grpSp>
          <p:nvGrpSpPr>
            <p:cNvPr id="62" name="组合 61"/>
            <p:cNvGrpSpPr/>
            <p:nvPr/>
          </p:nvGrpSpPr>
          <p:grpSpPr>
            <a:xfrm flipH="1">
              <a:off x="10253" y="2785"/>
              <a:ext cx="6823" cy="6604"/>
              <a:chOff x="512572" y="1536781"/>
              <a:chExt cx="4332613" cy="4193488"/>
            </a:xfrm>
          </p:grpSpPr>
          <p:sp>
            <p:nvSpPr>
              <p:cNvPr id="98" name="椭圆 97"/>
              <p:cNvSpPr/>
              <p:nvPr/>
            </p:nvSpPr>
            <p:spPr>
              <a:xfrm>
                <a:off x="651697" y="1536781"/>
                <a:ext cx="4193488" cy="4193488"/>
              </a:xfrm>
              <a:prstGeom prst="ellipse">
                <a:avLst/>
              </a:prstGeom>
              <a:noFill/>
              <a:ln w="31750">
                <a:gradFill flip="none" rotWithShape="1">
                  <a:gsLst>
                    <a:gs pos="76000">
                      <a:srgbClr val="FFFFFF">
                        <a:alpha val="0"/>
                      </a:srgbClr>
                    </a:gs>
                    <a:gs pos="100000">
                      <a:srgbClr val="0042FF"/>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99" name="三角形 36"/>
              <p:cNvSpPr>
                <a:spLocks noChangeAspect="1"/>
              </p:cNvSpPr>
              <p:nvPr/>
            </p:nvSpPr>
            <p:spPr>
              <a:xfrm flipV="1">
                <a:off x="512572" y="3425668"/>
                <a:ext cx="273081" cy="235414"/>
              </a:xfrm>
              <a:prstGeom prst="triangl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grpSp>
      </p:grpSp>
      <p:sp>
        <p:nvSpPr>
          <p:cNvPr id="113" name="矩形: 圆角 713"/>
          <p:cNvSpPr/>
          <p:nvPr/>
        </p:nvSpPr>
        <p:spPr>
          <a:xfrm>
            <a:off x="434975" y="5567045"/>
            <a:ext cx="11409680" cy="871220"/>
          </a:xfrm>
          <a:prstGeom prst="roundRect">
            <a:avLst>
              <a:gd name="adj" fmla="val 0"/>
            </a:avLst>
          </a:prstGeom>
          <a:gradFill>
            <a:gsLst>
              <a:gs pos="100000">
                <a:srgbClr val="3368FF"/>
              </a:gs>
              <a:gs pos="0">
                <a:srgbClr val="0042FF"/>
              </a:gs>
            </a:gsLst>
            <a:lin ang="0" scaled="0"/>
          </a:gradFill>
          <a:ln>
            <a:no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21" name="梯形 120"/>
          <p:cNvSpPr/>
          <p:nvPr/>
        </p:nvSpPr>
        <p:spPr>
          <a:xfrm>
            <a:off x="434975" y="5130800"/>
            <a:ext cx="11409680" cy="436245"/>
          </a:xfrm>
          <a:prstGeom prst="trapezoid">
            <a:avLst>
              <a:gd name="adj" fmla="val 125223"/>
            </a:avLst>
          </a:prstGeom>
          <a:gradFill>
            <a:gsLst>
              <a:gs pos="0">
                <a:srgbClr val="3368FF">
                  <a:alpha val="0"/>
                </a:srgbClr>
              </a:gs>
              <a:gs pos="100000">
                <a:srgbClr val="3368FF">
                  <a:alpha val="5000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nvGrpSpPr>
          <p:cNvPr id="126" name="组合 125"/>
          <p:cNvGrpSpPr/>
          <p:nvPr/>
        </p:nvGrpSpPr>
        <p:grpSpPr>
          <a:xfrm>
            <a:off x="776605" y="5756910"/>
            <a:ext cx="2232025" cy="491490"/>
            <a:chOff x="1008" y="8993"/>
            <a:chExt cx="3515" cy="774"/>
          </a:xfrm>
        </p:grpSpPr>
        <p:sp>
          <p:nvSpPr>
            <p:cNvPr id="124" name="圆角矩形 123"/>
            <p:cNvSpPr/>
            <p:nvPr/>
          </p:nvSpPr>
          <p:spPr>
            <a:xfrm>
              <a:off x="1008" y="9148"/>
              <a:ext cx="1096" cy="464"/>
            </a:xfrm>
            <a:prstGeom prst="roundRect">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技术</a:t>
              </a:r>
              <a:endParaRPr lang="zh-CN" altLang="en-US" sz="1400" b="1">
                <a:solidFill>
                  <a:srgbClr val="FFFFFF"/>
                </a:solidFill>
                <a:cs typeface="微软雅黑"/>
                <a:latin typeface="微软雅黑"/>
                <a:ea typeface="微软雅黑"/>
              </a:endParaRPr>
            </a:p>
          </p:txBody>
        </p:sp>
        <p:sp>
          <p:nvSpPr>
            <p:cNvPr id="125" name="文本框 124"/>
            <p:cNvSpPr txBox="1"/>
            <p:nvPr/>
          </p:nvSpPr>
          <p:spPr>
            <a:xfrm>
              <a:off x="2201" y="8993"/>
              <a:ext cx="2322" cy="774"/>
            </a:xfrm>
            <a:prstGeom prst="rect">
              <a:avLst/>
            </a:prstGeom>
            <a:noFill/>
            <a:ln w="9525">
              <a:noFill/>
            </a:ln>
          </p:spPr>
          <p:txBody>
            <a:bodyPr wrap="squar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数字化基础设施（如</a:t>
              </a: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AI</a:t>
              </a: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、云计算、大数据分析）</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27" name="组合 126"/>
          <p:cNvGrpSpPr/>
          <p:nvPr/>
        </p:nvGrpSpPr>
        <p:grpSpPr>
          <a:xfrm>
            <a:off x="3443605" y="5756910"/>
            <a:ext cx="2374900" cy="491490"/>
            <a:chOff x="1008" y="8993"/>
            <a:chExt cx="3740" cy="774"/>
          </a:xfrm>
        </p:grpSpPr>
        <p:sp>
          <p:nvSpPr>
            <p:cNvPr id="128" name="圆角矩形 127"/>
            <p:cNvSpPr/>
            <p:nvPr/>
          </p:nvSpPr>
          <p:spPr>
            <a:xfrm>
              <a:off x="1008" y="9148"/>
              <a:ext cx="1096" cy="464"/>
            </a:xfrm>
            <a:prstGeom prst="roundRect">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数据</a:t>
              </a:r>
              <a:endParaRPr lang="zh-CN" altLang="en-US" sz="1400" b="1">
                <a:solidFill>
                  <a:srgbClr val="FFFFFF"/>
                </a:solidFill>
                <a:cs typeface="微软雅黑"/>
                <a:latin typeface="微软雅黑"/>
                <a:ea typeface="微软雅黑"/>
              </a:endParaRPr>
            </a:p>
          </p:txBody>
        </p:sp>
        <p:sp>
          <p:nvSpPr>
            <p:cNvPr id="129" name="文本框 128"/>
            <p:cNvSpPr txBox="1"/>
            <p:nvPr/>
          </p:nvSpPr>
          <p:spPr>
            <a:xfrm>
              <a:off x="2201" y="8993"/>
              <a:ext cx="2547" cy="774"/>
            </a:xfrm>
            <a:prstGeom prst="rect">
              <a:avLst/>
            </a:prstGeom>
            <a:noFill/>
            <a:ln w="9525">
              <a:noFill/>
            </a:ln>
          </p:spPr>
          <p:txBody>
            <a:bodyPr wrap="squar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通过数据治理、分析洞察驱动决策（如人才画像）</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30" name="组合 129"/>
          <p:cNvGrpSpPr/>
          <p:nvPr/>
        </p:nvGrpSpPr>
        <p:grpSpPr>
          <a:xfrm>
            <a:off x="6253480" y="5756910"/>
            <a:ext cx="2552065" cy="491490"/>
            <a:chOff x="1008" y="8993"/>
            <a:chExt cx="4019" cy="774"/>
          </a:xfrm>
        </p:grpSpPr>
        <p:sp>
          <p:nvSpPr>
            <p:cNvPr id="131" name="圆角矩形 130"/>
            <p:cNvSpPr/>
            <p:nvPr/>
          </p:nvSpPr>
          <p:spPr>
            <a:xfrm>
              <a:off x="1008" y="9148"/>
              <a:ext cx="1096" cy="464"/>
            </a:xfrm>
            <a:prstGeom prst="roundRect">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平台</a:t>
              </a:r>
              <a:endParaRPr lang="zh-CN" altLang="en-US" sz="1400" b="1">
                <a:solidFill>
                  <a:srgbClr val="FFFFFF"/>
                </a:solidFill>
                <a:cs typeface="微软雅黑"/>
                <a:latin typeface="微软雅黑"/>
                <a:ea typeface="微软雅黑"/>
              </a:endParaRPr>
            </a:p>
          </p:txBody>
        </p:sp>
        <p:sp>
          <p:nvSpPr>
            <p:cNvPr id="132" name="文本框 131"/>
            <p:cNvSpPr txBox="1"/>
            <p:nvPr/>
          </p:nvSpPr>
          <p:spPr>
            <a:xfrm>
              <a:off x="2201" y="8993"/>
              <a:ext cx="2826" cy="774"/>
            </a:xfrm>
            <a:prstGeom prst="rect">
              <a:avLst/>
            </a:prstGeom>
            <a:noFill/>
            <a:ln w="9525">
              <a:noFill/>
            </a:ln>
          </p:spPr>
          <p:txBody>
            <a:bodyPr wrap="squar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一体化系统载体（如</a:t>
              </a: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HRIS</a:t>
              </a: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），整合流程、打破信息孤岛</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33" name="组合 132"/>
          <p:cNvGrpSpPr/>
          <p:nvPr/>
        </p:nvGrpSpPr>
        <p:grpSpPr>
          <a:xfrm>
            <a:off x="9240520" y="5756910"/>
            <a:ext cx="2353945" cy="491490"/>
            <a:chOff x="1008" y="8993"/>
            <a:chExt cx="3875" cy="774"/>
          </a:xfrm>
        </p:grpSpPr>
        <p:sp>
          <p:nvSpPr>
            <p:cNvPr id="134" name="圆角矩形 133"/>
            <p:cNvSpPr/>
            <p:nvPr/>
          </p:nvSpPr>
          <p:spPr>
            <a:xfrm>
              <a:off x="1008" y="9148"/>
              <a:ext cx="1096" cy="464"/>
            </a:xfrm>
            <a:prstGeom prst="roundRect">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创新</a:t>
              </a:r>
              <a:endParaRPr lang="zh-CN" altLang="en-US" sz="1400" b="1">
                <a:solidFill>
                  <a:srgbClr val="FFFFFF"/>
                </a:solidFill>
                <a:cs typeface="微软雅黑"/>
                <a:latin typeface="微软雅黑"/>
                <a:ea typeface="微软雅黑"/>
              </a:endParaRPr>
            </a:p>
          </p:txBody>
        </p:sp>
        <p:sp>
          <p:nvSpPr>
            <p:cNvPr id="135" name="文本框 134"/>
            <p:cNvSpPr txBox="1"/>
            <p:nvPr/>
          </p:nvSpPr>
          <p:spPr>
            <a:xfrm>
              <a:off x="2201" y="8993"/>
              <a:ext cx="2682" cy="774"/>
            </a:xfrm>
            <a:prstGeom prst="rect">
              <a:avLst/>
            </a:prstGeom>
            <a:noFill/>
            <a:ln w="9525">
              <a:noFill/>
            </a:ln>
          </p:spPr>
          <p:txBody>
            <a:bodyPr wrap="square" lIns="0" rIns="0" tIns="0" bIns="0">
              <a:spAutoFit/>
            </a:bodyPr>
            <a:lstStyle>
              <a:defPPr>
                <a:defRPr lang="zh-CN">
                  <a:solidFill>
                    <a:srgbClr val="FFFFFF"/>
                  </a:solidFill>
                  <a:latin typeface="微软雅黑"/>
                  <a:ea typeface="微软雅黑"/>
                  <a:cs typeface="微软雅黑"/>
                </a:defRPr>
              </a:defPPr>
              <a:lvl1pPr indent="0">
                <a:defRPr sz="1400" b="0">
                  <a:solidFill>
                    <a:srgbClr val="FFFFFF"/>
                  </a:solidFill>
                  <a:latin typeface="微软雅黑"/>
                  <a:ea typeface="微软雅黑"/>
                  <a:cs typeface="微软雅黑"/>
                </a:defRPr>
              </a:lvl1pPr>
            </a:lstStyle>
            <a:p>
              <a:pPr marL="0" marR="0" lvl="0" indent="0" algn="l" defTabSz="914400" rtl="0" eaLnBrk="1" fontAlgn="auto" latinLnBrk="0" hangingPunct="1">
                <a:lnSpc>
                  <a:spcPct val="13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rPr>
                <a:t>通过包容试错、敏捷迭代，推动模式与机制突破</a:t>
              </a: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cxnSp>
        <p:nvCxnSpPr>
          <p:cNvPr id="142" name="直线连接符 10"/>
          <p:cNvCxnSpPr/>
          <p:nvPr/>
        </p:nvCxnSpPr>
        <p:spPr>
          <a:xfrm>
            <a:off x="3170374" y="5742629"/>
            <a:ext cx="0" cy="525780"/>
          </a:xfrm>
          <a:prstGeom prst="line">
            <a:avLst/>
          </a:prstGeom>
          <a:ln>
            <a:solidFill>
              <a:srgbClr val="FFFFFF"/>
            </a:solidFill>
            <a:prstDash val="dash"/>
          </a:ln>
        </p:spPr>
        <p:style>
          <a:lnRef idx="1">
            <a:srgbClr val="0042FF"/>
          </a:lnRef>
          <a:fillRef idx="0">
            <a:srgbClr val="0042FF"/>
          </a:fillRef>
          <a:effectRef idx="0">
            <a:srgbClr val="0042FF"/>
          </a:effectRef>
          <a:fontRef idx="minor">
            <a:srgbClr val="383838"/>
          </a:fontRef>
        </p:style>
      </p:cxnSp>
      <p:cxnSp>
        <p:nvCxnSpPr>
          <p:cNvPr id="143" name="直线连接符 10"/>
          <p:cNvCxnSpPr/>
          <p:nvPr/>
        </p:nvCxnSpPr>
        <p:spPr>
          <a:xfrm>
            <a:off x="6006919" y="5742629"/>
            <a:ext cx="0" cy="525780"/>
          </a:xfrm>
          <a:prstGeom prst="line">
            <a:avLst/>
          </a:prstGeom>
          <a:ln>
            <a:solidFill>
              <a:srgbClr val="FFFFFF"/>
            </a:solidFill>
            <a:prstDash val="dash"/>
          </a:ln>
        </p:spPr>
        <p:style>
          <a:lnRef idx="1">
            <a:srgbClr val="0042FF"/>
          </a:lnRef>
          <a:fillRef idx="0">
            <a:srgbClr val="0042FF"/>
          </a:fillRef>
          <a:effectRef idx="0">
            <a:srgbClr val="0042FF"/>
          </a:effectRef>
          <a:fontRef idx="minor">
            <a:srgbClr val="383838"/>
          </a:fontRef>
        </p:style>
      </p:cxnSp>
      <p:cxnSp>
        <p:nvCxnSpPr>
          <p:cNvPr id="144" name="直线连接符 10"/>
          <p:cNvCxnSpPr/>
          <p:nvPr/>
        </p:nvCxnSpPr>
        <p:spPr>
          <a:xfrm>
            <a:off x="8955224" y="5742629"/>
            <a:ext cx="0" cy="525780"/>
          </a:xfrm>
          <a:prstGeom prst="line">
            <a:avLst/>
          </a:prstGeom>
          <a:ln>
            <a:solidFill>
              <a:srgbClr val="FFFFFF"/>
            </a:solidFill>
            <a:prstDash val="dash"/>
          </a:ln>
        </p:spPr>
        <p:style>
          <a:lnRef idx="1">
            <a:srgbClr val="0042FF"/>
          </a:lnRef>
          <a:fillRef idx="0">
            <a:srgbClr val="0042FF"/>
          </a:fillRef>
          <a:effectRef idx="0">
            <a:srgbClr val="0042FF"/>
          </a:effectRef>
          <a:fontRef idx="minor">
            <a:srgbClr val="383838"/>
          </a:fontRef>
        </p:style>
      </p:cxnSp>
      <p:sp>
        <p:nvSpPr>
          <p:cNvPr id="151" name="标题 1"/>
          <p:cNvSpPr txBox="1"/>
          <p:nvPr/>
        </p:nvSpPr>
        <p:spPr>
          <a:xfrm>
            <a:off x="2070735" y="1170623"/>
            <a:ext cx="8138160" cy="332105"/>
          </a:xfrm>
          <a:prstGeom prst="rect">
            <a:avLst/>
          </a:prstGeom>
          <a:noFill/>
        </p:spPr>
        <p:txBody>
          <a:bodyPr vert="horz" wrap="square" lIns="0" tIns="0" rIns="0" bIns="0" rtlCol="0" anchor="ctr">
            <a:spAutoFit/>
          </a:bodyPr>
          <a:lstStyle>
            <a:lvl1pPr algn="l" defTabSz="914400" rtl="0" eaLnBrk="1" latinLnBrk="0" hangingPunct="1">
              <a:lnSpc>
                <a:spcPct val="90000"/>
              </a:lnSpc>
              <a:spcBef>
                <a:spcPct val="0"/>
              </a:spcBef>
              <a:buNone/>
              <a:defRPr kumimoji="1" lang="zh-CN" altLang="en-US" sz="1800" kern="1200" dirty="0">
                <a:solidFill>
                  <a:srgbClr val="383838"/>
                </a:solidFill>
                <a:latin typeface="微软雅黑"/>
                <a:ea typeface="微软雅黑"/>
                <a:cs typeface="微软雅黑"/>
              </a:defRPr>
            </a:lvl1pPr>
          </a:lstStyle>
          <a:p>
            <a:pPr lvl="0" algn="ctr">
              <a:defRPr>
                <a:latin typeface="微软雅黑"/>
                <a:ea typeface="微软雅黑"/>
                <a:cs typeface="微软雅黑"/>
              </a:defRPr>
            </a:pPr>
            <a:r>
              <a:rPr kumimoji="1" sz="2400" b="1" i="0" u="none" strike="noStrike" kern="1200" cap="none" spc="0" normalizeH="0" baseline="0" noProof="0" dirty="0">
                <a:ln>
                  <a:noFill/>
                </a:ln>
                <a:solidFill>
                  <a:srgbClr val="0042FF"/>
                </a:solidFill>
                <a:effectLst/>
                <a:uLnTx/>
                <a:uFillTx/>
                <a:latin typeface="微软雅黑"/>
                <a:ea typeface="微软雅黑"/>
                <a:cs typeface="微软雅黑"/>
              </a:rPr>
              <a:t>双轮驱动：</a:t>
            </a:r>
            <a:r>
              <a:rPr kumimoji="1" lang="zh-CN" altLang="en-US" sz="2400" b="1" i="0" u="none" strike="noStrike" kern="1200" cap="none" spc="0" normalizeH="0" baseline="0" noProof="0" dirty="0">
                <a:ln>
                  <a:noFill/>
                </a:ln>
                <a:solidFill>
                  <a:srgbClr val="0042FF"/>
                </a:solidFill>
                <a:effectLst/>
                <a:uLnTx/>
                <a:uFillTx/>
                <a:latin typeface="微软雅黑"/>
                <a:ea typeface="微软雅黑"/>
                <a:cs typeface="微软雅黑"/>
              </a:rPr>
              <a:t>战略价值线牵引方向，数字能力线提供动能。</a:t>
            </a:r>
            <a:endParaRPr kumimoji="1" lang="zh-CN" altLang="en-US" sz="2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62" name="组合 161"/>
          <p:cNvGrpSpPr/>
          <p:nvPr/>
        </p:nvGrpSpPr>
        <p:grpSpPr>
          <a:xfrm>
            <a:off x="10497185" y="1957070"/>
            <a:ext cx="1221740" cy="2942590"/>
            <a:chOff x="16403" y="3082"/>
            <a:chExt cx="1924" cy="4634"/>
          </a:xfrm>
        </p:grpSpPr>
        <p:sp>
          <p:nvSpPr>
            <p:cNvPr id="152" name="矩形: 圆角 1"/>
            <p:cNvSpPr/>
            <p:nvPr>
              <p:custDataLst>
                <p:tags r:id="rId12"/>
              </p:custDataLst>
            </p:nvPr>
          </p:nvSpPr>
          <p:spPr>
            <a:xfrm>
              <a:off x="16403" y="3082"/>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数据治理</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53" name="矩形: 圆角 1"/>
            <p:cNvSpPr/>
            <p:nvPr>
              <p:custDataLst>
                <p:tags r:id="rId13"/>
              </p:custDataLst>
            </p:nvPr>
          </p:nvSpPr>
          <p:spPr>
            <a:xfrm>
              <a:off x="16883" y="4111"/>
              <a:ext cx="1444"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流程标准化</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54" name="矩形: 圆角 1"/>
            <p:cNvSpPr/>
            <p:nvPr>
              <p:custDataLst>
                <p:tags r:id="rId14"/>
              </p:custDataLst>
            </p:nvPr>
          </p:nvSpPr>
          <p:spPr>
            <a:xfrm>
              <a:off x="16992" y="5140"/>
              <a:ext cx="1335"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敏捷迭代</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55" name="矩形: 圆角 1"/>
            <p:cNvSpPr/>
            <p:nvPr>
              <p:custDataLst>
                <p:tags r:id="rId15"/>
              </p:custDataLst>
            </p:nvPr>
          </p:nvSpPr>
          <p:spPr>
            <a:xfrm>
              <a:off x="16991" y="6169"/>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强化管控</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56" name="矩形: 圆角 1"/>
            <p:cNvSpPr/>
            <p:nvPr>
              <p:custDataLst>
                <p:tags r:id="rId16"/>
              </p:custDataLst>
            </p:nvPr>
          </p:nvSpPr>
          <p:spPr>
            <a:xfrm>
              <a:off x="16403" y="7198"/>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动态循环</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grpSp>
      <p:grpSp>
        <p:nvGrpSpPr>
          <p:cNvPr id="163" name="组合 162"/>
          <p:cNvGrpSpPr/>
          <p:nvPr/>
        </p:nvGrpSpPr>
        <p:grpSpPr>
          <a:xfrm flipH="1">
            <a:off x="273685" y="1957070"/>
            <a:ext cx="1297940" cy="2942590"/>
            <a:chOff x="16403" y="3082"/>
            <a:chExt cx="2044" cy="4634"/>
          </a:xfrm>
        </p:grpSpPr>
        <p:sp>
          <p:nvSpPr>
            <p:cNvPr id="164" name="矩形: 圆角 1"/>
            <p:cNvSpPr/>
            <p:nvPr>
              <p:custDataLst>
                <p:tags r:id="rId17"/>
              </p:custDataLst>
            </p:nvPr>
          </p:nvSpPr>
          <p:spPr>
            <a:xfrm>
              <a:off x="16403" y="3082"/>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战略对齐</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65" name="矩形: 圆角 1"/>
            <p:cNvSpPr/>
            <p:nvPr>
              <p:custDataLst>
                <p:tags r:id="rId18"/>
              </p:custDataLst>
            </p:nvPr>
          </p:nvSpPr>
          <p:spPr>
            <a:xfrm>
              <a:off x="16883" y="4111"/>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制度保障</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66" name="矩形: 圆角 1"/>
            <p:cNvSpPr/>
            <p:nvPr>
              <p:custDataLst>
                <p:tags r:id="rId19"/>
              </p:custDataLst>
            </p:nvPr>
          </p:nvSpPr>
          <p:spPr>
            <a:xfrm>
              <a:off x="17179" y="5140"/>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分析洞察</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67" name="矩形: 圆角 1"/>
            <p:cNvSpPr/>
            <p:nvPr>
              <p:custDataLst>
                <p:tags r:id="rId20"/>
              </p:custDataLst>
            </p:nvPr>
          </p:nvSpPr>
          <p:spPr>
            <a:xfrm>
              <a:off x="16991" y="6169"/>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组织效能</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68" name="矩形: 圆角 1"/>
            <p:cNvSpPr/>
            <p:nvPr>
              <p:custDataLst>
                <p:tags r:id="rId21"/>
              </p:custDataLst>
            </p:nvPr>
          </p:nvSpPr>
          <p:spPr>
            <a:xfrm>
              <a:off x="16403" y="7198"/>
              <a:ext cx="1268" cy="518"/>
            </a:xfrm>
            <a:prstGeom prst="roundRect">
              <a:avLst>
                <a:gd name="adj" fmla="val 50000"/>
              </a:avLst>
            </a:prstGeom>
            <a:solidFill>
              <a:srgbClr val="FFFFFF"/>
            </a:solidFill>
            <a:ln w="12700" cap="flat" cmpd="sng" algn="ctr">
              <a:solidFill>
                <a:srgbClr val="0042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u="none" strike="noStrike" kern="0" cap="none" spc="0" normalizeH="0" baseline="0" noProof="0">
                  <a:ln>
                    <a:noFill/>
                  </a:ln>
                  <a:solidFill>
                    <a:srgbClr val="0042FF"/>
                  </a:solidFill>
                  <a:effectLst/>
                  <a:uLnTx/>
                  <a:uFillTx/>
                  <a:latin typeface="微软雅黑"/>
                  <a:ea typeface="微软雅黑"/>
                  <a:cs typeface="微软雅黑"/>
                </a:rPr>
                <a:t>模式突破</a:t>
              </a:r>
              <a:endParaRPr kumimoji="0" lang="zh-CN" altLang="en-US" sz="1000" u="none" strike="noStrike" kern="0" cap="none" spc="0" normalizeH="0" baseline="0" noProof="0">
                <a:ln>
                  <a:noFill/>
                </a:ln>
                <a:solidFill>
                  <a:srgbClr val="0042FF"/>
                </a:solidFill>
                <a:effectLst/>
                <a:uLnTx/>
                <a:uFillTx/>
                <a:latin typeface="微软雅黑"/>
                <a:ea typeface="微软雅黑"/>
                <a:cs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1" name="组合 40"/>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22"/>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任意多边形 73"/>
          <p:cNvSpPr/>
          <p:nvPr/>
        </p:nvSpPr>
        <p:spPr>
          <a:xfrm>
            <a:off x="867410" y="1442085"/>
            <a:ext cx="5214620" cy="4939030"/>
          </a:xfrm>
          <a:custGeom>
            <a:avLst/>
            <a:gdLst>
              <a:gd name="adj" fmla="val 40903"/>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213" h="7780">
                <a:moveTo>
                  <a:pt x="0" y="3181"/>
                </a:moveTo>
                <a:cubicBezTo>
                  <a:pt x="-55" y="1396"/>
                  <a:pt x="1580" y="-44"/>
                  <a:pt x="3181" y="0"/>
                </a:cubicBezTo>
                <a:lnTo>
                  <a:pt x="8212" y="0"/>
                </a:lnTo>
                <a:lnTo>
                  <a:pt x="8212" y="7778"/>
                </a:lnTo>
                <a:lnTo>
                  <a:pt x="3181" y="7778"/>
                </a:lnTo>
                <a:cubicBezTo>
                  <a:pt x="1396" y="7833"/>
                  <a:pt x="-44" y="6198"/>
                  <a:pt x="0" y="4597"/>
                </a:cubicBezTo>
                <a:lnTo>
                  <a:pt x="0" y="3181"/>
                </a:lnTo>
                <a:close/>
              </a:path>
            </a:pathLst>
          </a:custGeom>
          <a:gradFill>
            <a:gsLst>
              <a:gs pos="0">
                <a:srgbClr val="E6E6E6">
                  <a:alpha val="50000"/>
                </a:srgbClr>
              </a:gs>
              <a:gs pos="63000">
                <a:srgbClr val="E6E6E6">
                  <a:alpha val="0"/>
                </a:srgbClr>
              </a:gs>
            </a:gsLst>
            <a:lin ang="0" scaled="0"/>
          </a:gradFill>
          <a:ln>
            <a:no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6" name="任意多边形 75"/>
          <p:cNvSpPr/>
          <p:nvPr/>
        </p:nvSpPr>
        <p:spPr>
          <a:xfrm flipH="1">
            <a:off x="6014720" y="1442085"/>
            <a:ext cx="5214620" cy="4939030"/>
          </a:xfrm>
          <a:custGeom>
            <a:avLst/>
            <a:gdLst>
              <a:gd name="adj" fmla="val 40903"/>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213" h="7780">
                <a:moveTo>
                  <a:pt x="0" y="3181"/>
                </a:moveTo>
                <a:cubicBezTo>
                  <a:pt x="-55" y="1396"/>
                  <a:pt x="1580" y="-44"/>
                  <a:pt x="3181" y="0"/>
                </a:cubicBezTo>
                <a:lnTo>
                  <a:pt x="8212" y="0"/>
                </a:lnTo>
                <a:lnTo>
                  <a:pt x="8212" y="7778"/>
                </a:lnTo>
                <a:lnTo>
                  <a:pt x="3181" y="7778"/>
                </a:lnTo>
                <a:cubicBezTo>
                  <a:pt x="1396" y="7833"/>
                  <a:pt x="-44" y="6198"/>
                  <a:pt x="0" y="4597"/>
                </a:cubicBezTo>
                <a:lnTo>
                  <a:pt x="0" y="3181"/>
                </a:lnTo>
                <a:close/>
              </a:path>
            </a:pathLst>
          </a:custGeom>
          <a:gradFill>
            <a:gsLst>
              <a:gs pos="0">
                <a:srgbClr val="E6E6E6">
                  <a:alpha val="50000"/>
                </a:srgbClr>
              </a:gs>
              <a:gs pos="63000">
                <a:srgbClr val="E6E6E6">
                  <a:alpha val="0"/>
                </a:srgbClr>
              </a:gs>
            </a:gsLst>
            <a:lin ang="0" scaled="0"/>
          </a:gradFill>
          <a:ln>
            <a:no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5" name="标题 2"/>
          <p:cNvSpPr>
            <a:spLocks noGrp="1"/>
          </p:cNvSpPr>
          <p:nvPr/>
        </p:nvSpPr>
        <p:spPr>
          <a:xfrm>
            <a:off x="1105535" y="347980"/>
            <a:ext cx="724027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9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90">
                <a:solidFill>
                  <a:srgbClr val="0042FF"/>
                </a:solidFill>
                <a:effectLst/>
                <a:latin typeface="微软雅黑"/>
                <a:ea typeface="微软雅黑"/>
                <a:cs typeface="微软雅黑"/>
              </a:rPr>
              <a:t>业务框架</a:t>
            </a:r>
            <a:r>
              <a:rPr lang="en-US" altLang="zh-CN" sz="2490">
                <a:solidFill>
                  <a:srgbClr val="0042FF"/>
                </a:solidFill>
                <a:effectLst/>
                <a:latin typeface="微软雅黑"/>
                <a:ea typeface="微软雅黑"/>
                <a:cs typeface="微软雅黑"/>
              </a:rPr>
              <a:t>-</a:t>
            </a:r>
            <a:r>
              <a:rPr sz="2490">
                <a:solidFill>
                  <a:srgbClr val="0042FF"/>
                </a:solidFill>
                <a:effectLst/>
                <a:latin typeface="微软雅黑"/>
                <a:ea typeface="微软雅黑"/>
                <a:cs typeface="微软雅黑"/>
              </a:rPr>
              <a:t>循环逻辑架构 | </a:t>
            </a:r>
            <a:r>
              <a:rPr lang="en-US" altLang="zh-CN" sz="2490">
                <a:solidFill>
                  <a:srgbClr val="383838"/>
                </a:solidFill>
                <a:effectLst/>
                <a:latin typeface="微软雅黑"/>
                <a:ea typeface="微软雅黑"/>
                <a:cs typeface="微软雅黑"/>
                <a:sym typeface="微软雅黑"/>
              </a:rPr>
              <a:t>B2B</a:t>
            </a:r>
            <a:r>
              <a:rPr lang="zh-CN" altLang="en-US" sz="2490">
                <a:solidFill>
                  <a:srgbClr val="383838"/>
                </a:solidFill>
                <a:effectLst/>
                <a:latin typeface="微软雅黑"/>
                <a:ea typeface="微软雅黑"/>
                <a:cs typeface="微软雅黑"/>
              </a:rPr>
              <a:t>数字赋能家居建材业</a:t>
            </a:r>
            <a:endParaRPr lang="en-US" altLang="zh-CN" sz="249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圆角矩形 1"/>
          <p:cNvSpPr/>
          <p:nvPr/>
        </p:nvSpPr>
        <p:spPr>
          <a:xfrm>
            <a:off x="2186305" y="4806950"/>
            <a:ext cx="7729220" cy="1438910"/>
          </a:xfrm>
          <a:prstGeom prst="roundRect">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 name="矩形 5"/>
          <p:cNvSpPr/>
          <p:nvPr/>
        </p:nvSpPr>
        <p:spPr>
          <a:xfrm>
            <a:off x="2325370" y="5838190"/>
            <a:ext cx="7498080" cy="29972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技术中台</a:t>
            </a:r>
            <a:r>
              <a:rPr lang="en-US" altLang="zh-CN" sz="1200" b="1">
                <a:solidFill>
                  <a:srgbClr val="0042FF"/>
                </a:solidFill>
                <a:latin typeface="微软雅黑"/>
                <a:ea typeface="微软雅黑"/>
                <a:cs typeface="微软雅黑"/>
              </a:rPr>
              <a:t>+</a:t>
            </a:r>
            <a:r>
              <a:rPr lang="zh-CN" altLang="en-US" sz="1200" b="1">
                <a:solidFill>
                  <a:srgbClr val="0042FF"/>
                </a:solidFill>
                <a:latin typeface="微软雅黑"/>
                <a:ea typeface="微软雅黑"/>
                <a:cs typeface="微软雅黑"/>
              </a:rPr>
              <a:t>数据中台</a:t>
            </a:r>
            <a:r>
              <a:rPr lang="en-US" altLang="zh-CN" sz="1200" b="1">
                <a:solidFill>
                  <a:srgbClr val="0042FF"/>
                </a:solidFill>
                <a:latin typeface="微软雅黑"/>
                <a:ea typeface="微软雅黑"/>
                <a:cs typeface="微软雅黑"/>
              </a:rPr>
              <a:t>+</a:t>
            </a:r>
            <a:r>
              <a:rPr lang="zh-CN" altLang="en-US" sz="1200" b="1">
                <a:solidFill>
                  <a:srgbClr val="0042FF"/>
                </a:solidFill>
                <a:latin typeface="微软雅黑"/>
                <a:ea typeface="微软雅黑"/>
                <a:cs typeface="微软雅黑"/>
              </a:rPr>
              <a:t>业务中台</a:t>
            </a:r>
            <a:endParaRPr lang="zh-CN" altLang="en-US" sz="1200" b="1">
              <a:solidFill>
                <a:srgbClr val="0042FF"/>
              </a:solidFill>
              <a:latin typeface="微软雅黑"/>
              <a:ea typeface="微软雅黑"/>
              <a:cs typeface="微软雅黑"/>
            </a:endParaRPr>
          </a:p>
        </p:txBody>
      </p:sp>
      <p:sp>
        <p:nvSpPr>
          <p:cNvPr id="7" name="圆角矩形 6"/>
          <p:cNvSpPr/>
          <p:nvPr/>
        </p:nvSpPr>
        <p:spPr>
          <a:xfrm rot="2760000">
            <a:off x="5301615" y="2463165"/>
            <a:ext cx="1471930" cy="1471930"/>
          </a:xfrm>
          <a:prstGeom prst="roundRect">
            <a:avLst/>
          </a:prstGeom>
          <a:gradFill>
            <a:gsLst>
              <a:gs pos="0">
                <a:srgbClr val="0042FF"/>
              </a:gs>
              <a:gs pos="100000">
                <a:srgbClr val="3368FF"/>
              </a:gs>
            </a:gsLst>
            <a:lin ang="5400000" scaled="0"/>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5" name="文本框 14"/>
          <p:cNvSpPr txBox="1"/>
          <p:nvPr/>
        </p:nvSpPr>
        <p:spPr>
          <a:xfrm>
            <a:off x="5456555" y="3061970"/>
            <a:ext cx="1203325" cy="64516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家居建材</a:t>
            </a:r>
            <a:endParaRPr lang="zh-CN" altLang="en-US"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en-US" altLang="zh-CN" b="1">
                <a:solidFill>
                  <a:srgbClr val="FFFFFF"/>
                </a:solidFill>
                <a:latin typeface="微软雅黑"/>
                <a:ea typeface="微软雅黑"/>
                <a:cs typeface="微软雅黑"/>
              </a:rPr>
              <a:t>B2B</a:t>
            </a:r>
            <a:r>
              <a:rPr lang="zh-CN" altLang="en-US" b="1">
                <a:solidFill>
                  <a:srgbClr val="FFFFFF"/>
                </a:solidFill>
                <a:latin typeface="微软雅黑"/>
                <a:ea typeface="微软雅黑"/>
                <a:cs typeface="微软雅黑"/>
              </a:rPr>
              <a:t>平台</a:t>
            </a:r>
            <a:endParaRPr lang="zh-CN" altLang="en-US" b="1">
              <a:solidFill>
                <a:srgbClr val="FFFFFF"/>
              </a:solidFill>
              <a:latin typeface="微软雅黑"/>
              <a:ea typeface="微软雅黑"/>
              <a:cs typeface="微软雅黑"/>
            </a:endParaRPr>
          </a:p>
        </p:txBody>
      </p:sp>
      <p:sp>
        <p:nvSpPr>
          <p:cNvPr id="16" name="椭圆 15"/>
          <p:cNvSpPr/>
          <p:nvPr/>
        </p:nvSpPr>
        <p:spPr>
          <a:xfrm>
            <a:off x="4818380" y="1891030"/>
            <a:ext cx="2604135" cy="2604135"/>
          </a:xfrm>
          <a:prstGeom prst="ellipse">
            <a:avLst/>
          </a:prstGeom>
          <a:noFill/>
          <a:ln w="38100">
            <a:gradFill>
              <a:gsLst>
                <a:gs pos="0">
                  <a:srgbClr val="3368FF"/>
                </a:gs>
                <a:gs pos="42000">
                  <a:srgbClr val="3368FF">
                    <a:alpha val="0"/>
                  </a:srgbClr>
                </a:gs>
              </a:gsLst>
              <a:lin ang="0" scaled="1"/>
            </a:gradFill>
            <a:prstDash val="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7" name="椭圆 16"/>
          <p:cNvSpPr/>
          <p:nvPr/>
        </p:nvSpPr>
        <p:spPr>
          <a:xfrm>
            <a:off x="4735513" y="1877695"/>
            <a:ext cx="2604135" cy="2604135"/>
          </a:xfrm>
          <a:prstGeom prst="ellipse">
            <a:avLst/>
          </a:prstGeom>
          <a:noFill/>
          <a:ln w="38100">
            <a:gradFill>
              <a:gsLst>
                <a:gs pos="100000">
                  <a:srgbClr val="3368FF"/>
                </a:gs>
                <a:gs pos="42000">
                  <a:srgbClr val="3368FF">
                    <a:alpha val="0"/>
                  </a:srgbClr>
                </a:gs>
              </a:gsLst>
              <a:lin ang="0" scaled="1"/>
            </a:gradFill>
            <a:prstDash val="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8" name="圆角矩形 17"/>
          <p:cNvSpPr/>
          <p:nvPr/>
        </p:nvSpPr>
        <p:spPr>
          <a:xfrm>
            <a:off x="867410" y="1442085"/>
            <a:ext cx="10361930" cy="4939030"/>
          </a:xfrm>
          <a:prstGeom prst="roundRect">
            <a:avLst>
              <a:gd name="adj" fmla="val 40903"/>
            </a:avLst>
          </a:prstGeom>
          <a:noFill/>
          <a:ln>
            <a:gradFill>
              <a:gsLst>
                <a:gs pos="0">
                  <a:srgbClr val="3368FF"/>
                </a:gs>
                <a:gs pos="42000">
                  <a:srgbClr val="3368FF">
                    <a:alpha val="0"/>
                  </a:srgbClr>
                </a:gs>
              </a:gsLst>
              <a:lin ang="0" scaled="1"/>
            </a:gra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9" name="文本框 18"/>
          <p:cNvSpPr txBox="1"/>
          <p:nvPr/>
        </p:nvSpPr>
        <p:spPr>
          <a:xfrm>
            <a:off x="277495" y="2284095"/>
            <a:ext cx="521335" cy="2286000"/>
          </a:xfrm>
          <a:prstGeom prst="rect">
            <a:avLst/>
          </a:prstGeom>
          <a:noFill/>
        </p:spPr>
        <p:txBody>
          <a:bodyPr vert="eaVert" wrap="square" rtlCol="0">
            <a:spAutoFit/>
          </a:bodyPr>
          <a:p>
            <a:pPr algn="ctr">
              <a:defRPr>
                <a:latin typeface="微软雅黑"/>
                <a:ea typeface="微软雅黑"/>
                <a:cs typeface="微软雅黑"/>
              </a:defRPr>
            </a:pPr>
            <a:r>
              <a:rPr lang="zh-CN" altLang="en-US" sz="2200" b="1">
                <a:solidFill>
                  <a:srgbClr val="0042FF"/>
                </a:solidFill>
                <a:latin typeface="微软雅黑"/>
                <a:ea typeface="微软雅黑"/>
                <a:cs typeface="微软雅黑"/>
              </a:rPr>
              <a:t>上游客户</a:t>
            </a:r>
            <a:endParaRPr lang="zh-CN" altLang="en-US" sz="2200" b="1">
              <a:solidFill>
                <a:srgbClr val="0042FF"/>
              </a:solidFill>
              <a:latin typeface="微软雅黑"/>
              <a:ea typeface="微软雅黑"/>
              <a:cs typeface="微软雅黑"/>
            </a:endParaRPr>
          </a:p>
        </p:txBody>
      </p:sp>
      <p:sp>
        <p:nvSpPr>
          <p:cNvPr id="20" name="文本框 19"/>
          <p:cNvSpPr txBox="1"/>
          <p:nvPr/>
        </p:nvSpPr>
        <p:spPr>
          <a:xfrm>
            <a:off x="11303000" y="2284095"/>
            <a:ext cx="567055" cy="2286000"/>
          </a:xfrm>
          <a:prstGeom prst="rect">
            <a:avLst/>
          </a:prstGeom>
          <a:noFill/>
        </p:spPr>
        <p:txBody>
          <a:bodyPr vert="eaVert" wrap="square" rtlCol="0">
            <a:spAutoFit/>
          </a:bodyPr>
          <a:p>
            <a:pPr lvl="0" algn="ctr">
              <a:buClrTx/>
              <a:buSzTx/>
              <a:buFontTx/>
              <a:defRPr>
                <a:latin typeface="微软雅黑"/>
                <a:ea typeface="微软雅黑"/>
                <a:cs typeface="微软雅黑"/>
              </a:defRPr>
            </a:pPr>
            <a:r>
              <a:rPr lang="zh-CN" altLang="en-US" sz="2200" b="1">
                <a:solidFill>
                  <a:srgbClr val="0042FF"/>
                </a:solidFill>
                <a:latin typeface="微软雅黑"/>
                <a:ea typeface="微软雅黑"/>
                <a:cs typeface="微软雅黑"/>
                <a:sym typeface="微软雅黑"/>
              </a:rPr>
              <a:t>下游客户</a:t>
            </a:r>
            <a:endParaRPr lang="zh-CN" altLang="en-US" sz="2200" b="1">
              <a:solidFill>
                <a:srgbClr val="0042FF"/>
              </a:solidFill>
              <a:latin typeface="微软雅黑"/>
              <a:ea typeface="微软雅黑"/>
              <a:cs typeface="微软雅黑"/>
              <a:sym typeface="微软雅黑"/>
            </a:endParaRPr>
          </a:p>
        </p:txBody>
      </p:sp>
      <p:sp>
        <p:nvSpPr>
          <p:cNvPr id="32" name="文本框 31"/>
          <p:cNvSpPr txBox="1"/>
          <p:nvPr/>
        </p:nvSpPr>
        <p:spPr>
          <a:xfrm>
            <a:off x="7717155" y="1720215"/>
            <a:ext cx="2583180" cy="521970"/>
          </a:xfrm>
          <a:prstGeom prst="rect">
            <a:avLst/>
          </a:prstGeom>
          <a:noFill/>
        </p:spPr>
        <p:txBody>
          <a:bodyPr wrap="square" rtlCol="0">
            <a:spAutoFit/>
          </a:bodyPr>
          <a:p>
            <a:pPr>
              <a:defRPr>
                <a:latin typeface="微软雅黑"/>
                <a:ea typeface="微软雅黑"/>
                <a:cs typeface="微软雅黑"/>
              </a:defRPr>
            </a:pPr>
            <a:r>
              <a:rPr lang="zh-CN" altLang="en-US" sz="1400" b="1">
                <a:solidFill>
                  <a:srgbClr val="0042FF"/>
                </a:solidFill>
                <a:latin typeface="微软雅黑"/>
                <a:ea typeface="微软雅黑"/>
                <a:cs typeface="微软雅黑"/>
              </a:rPr>
              <a:t>面向下游提供智慧门店等服务，赋能经销终端</a:t>
            </a:r>
            <a:endParaRPr lang="zh-CN" altLang="en-US" sz="1400" b="1">
              <a:solidFill>
                <a:srgbClr val="0042FF"/>
              </a:solidFill>
              <a:latin typeface="微软雅黑"/>
              <a:ea typeface="微软雅黑"/>
              <a:cs typeface="微软雅黑"/>
            </a:endParaRPr>
          </a:p>
        </p:txBody>
      </p:sp>
      <p:sp>
        <p:nvSpPr>
          <p:cNvPr id="44" name="圆角矩形 43"/>
          <p:cNvSpPr/>
          <p:nvPr/>
        </p:nvSpPr>
        <p:spPr>
          <a:xfrm>
            <a:off x="4579620" y="4629150"/>
            <a:ext cx="2915920" cy="345440"/>
          </a:xfrm>
          <a:prstGeom prst="roundRect">
            <a:avLst/>
          </a:prstGeom>
          <a:gradFill>
            <a:gsLst>
              <a:gs pos="0">
                <a:srgbClr val="3368FF"/>
              </a:gs>
              <a:gs pos="100000">
                <a:srgbClr val="B3D4FE"/>
              </a:gs>
            </a:gsLst>
            <a:lin ang="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b="1">
                <a:cs typeface="微软雅黑"/>
                <a:latin typeface="微软雅黑"/>
                <a:ea typeface="微软雅黑"/>
              </a:rPr>
              <a:t>一站式深度价值服务</a:t>
            </a:r>
            <a:endParaRPr lang="zh-CN" altLang="en-US" sz="1400" b="1">
              <a:cs typeface="微软雅黑"/>
              <a:latin typeface="微软雅黑"/>
              <a:ea typeface="微软雅黑"/>
            </a:endParaRPr>
          </a:p>
        </p:txBody>
      </p:sp>
      <p:grpSp>
        <p:nvGrpSpPr>
          <p:cNvPr id="52" name="组合 51"/>
          <p:cNvGrpSpPr/>
          <p:nvPr/>
        </p:nvGrpSpPr>
        <p:grpSpPr>
          <a:xfrm rot="18960000">
            <a:off x="5043805" y="2409190"/>
            <a:ext cx="646430" cy="185420"/>
            <a:chOff x="6712" y="1983"/>
            <a:chExt cx="1018" cy="292"/>
          </a:xfrm>
        </p:grpSpPr>
        <p:sp>
          <p:nvSpPr>
            <p:cNvPr id="116" name="燕尾形 115"/>
            <p:cNvSpPr/>
            <p:nvPr>
              <p:custDataLst>
                <p:tags r:id="rId3"/>
              </p:custDataLst>
            </p:nvPr>
          </p:nvSpPr>
          <p:spPr>
            <a:xfrm rot="10800000">
              <a:off x="7081" y="1983"/>
              <a:ext cx="417" cy="292"/>
            </a:xfrm>
            <a:prstGeom prst="chevron">
              <a:avLst/>
            </a:prstGeom>
            <a:gradFill>
              <a:gsLst>
                <a:gs pos="0">
                  <a:srgbClr val="668EFF">
                    <a:alpha val="5000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7" name="燕尾形 116"/>
            <p:cNvSpPr/>
            <p:nvPr>
              <p:custDataLst>
                <p:tags r:id="rId4"/>
              </p:custDataLst>
            </p:nvPr>
          </p:nvSpPr>
          <p:spPr>
            <a:xfrm rot="10800000">
              <a:off x="7458" y="1983"/>
              <a:ext cx="273" cy="292"/>
            </a:xfrm>
            <a:prstGeom prst="chevron">
              <a:avLst/>
            </a:prstGeom>
            <a:gradFill>
              <a:gsLst>
                <a:gs pos="0">
                  <a:srgbClr val="668EFF">
                    <a:alpha val="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51" name="燕尾形 50"/>
            <p:cNvSpPr/>
            <p:nvPr>
              <p:custDataLst>
                <p:tags r:id="rId5"/>
              </p:custDataLst>
            </p:nvPr>
          </p:nvSpPr>
          <p:spPr>
            <a:xfrm rot="10800000">
              <a:off x="6712" y="1983"/>
              <a:ext cx="417" cy="292"/>
            </a:xfrm>
            <a:prstGeom prst="chevron">
              <a:avLst/>
            </a:prstGeom>
            <a:gradFill>
              <a:gsLst>
                <a:gs pos="0">
                  <a:srgbClr val="3368FF">
                    <a:alpha val="5000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sp>
        <p:nvSpPr>
          <p:cNvPr id="67" name="椭圆 66"/>
          <p:cNvSpPr/>
          <p:nvPr/>
        </p:nvSpPr>
        <p:spPr>
          <a:xfrm>
            <a:off x="5950268" y="1805305"/>
            <a:ext cx="174625" cy="174625"/>
          </a:xfrm>
          <a:prstGeom prst="ellipse">
            <a:avLst/>
          </a:prstGeom>
          <a:solidFill>
            <a:srgbClr val="E6E6E6"/>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2" name="圆角矩形 71"/>
          <p:cNvSpPr/>
          <p:nvPr/>
        </p:nvSpPr>
        <p:spPr>
          <a:xfrm>
            <a:off x="867410" y="1442085"/>
            <a:ext cx="10361930" cy="4939030"/>
          </a:xfrm>
          <a:prstGeom prst="roundRect">
            <a:avLst>
              <a:gd name="adj" fmla="val 40903"/>
            </a:avLst>
          </a:prstGeom>
          <a:noFill/>
          <a:ln>
            <a:gradFill>
              <a:gsLst>
                <a:gs pos="100000">
                  <a:srgbClr val="3368FF"/>
                </a:gs>
                <a:gs pos="42000">
                  <a:srgbClr val="3368FF">
                    <a:alpha val="0"/>
                  </a:srgbClr>
                </a:gs>
              </a:gsLst>
              <a:lin ang="0" scaled="1"/>
            </a:gra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73" name="圆角矩形 72"/>
          <p:cNvSpPr/>
          <p:nvPr/>
        </p:nvSpPr>
        <p:spPr>
          <a:xfrm>
            <a:off x="5217161" y="1216660"/>
            <a:ext cx="1640840" cy="508000"/>
          </a:xfrm>
          <a:prstGeom prst="roundRect">
            <a:avLst>
              <a:gd name="adj" fmla="val 50000"/>
            </a:avLst>
          </a:prstGeom>
          <a:gradFill>
            <a:gsLst>
              <a:gs pos="0">
                <a:srgbClr val="0042FF"/>
              </a:gs>
              <a:gs pos="100000">
                <a:srgbClr val="3368FF"/>
              </a:gs>
            </a:gsLst>
            <a:lin ang="0" scaled="0"/>
          </a:gradFill>
          <a:ln>
            <a:noFill/>
          </a:ln>
          <a:effectLst>
            <a:outerShdw blurRad="50800" dist="38100" dir="2700000" algn="tl" rotWithShape="0">
              <a:srgbClr val="0042FF">
                <a:alpha val="40000"/>
              </a:srgbClr>
            </a:outerShdw>
          </a:effectLst>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b="1">
                <a:solidFill>
                  <a:srgbClr val="FFFFFF"/>
                </a:solidFill>
                <a:cs typeface="微软雅黑"/>
                <a:latin typeface="微软雅黑"/>
                <a:ea typeface="微软雅黑"/>
              </a:rPr>
              <a:t>数字化赋能</a:t>
            </a:r>
            <a:endParaRPr lang="zh-CN" altLang="en-US" b="1">
              <a:solidFill>
                <a:srgbClr val="FFFFFF"/>
              </a:solidFill>
              <a:cs typeface="微软雅黑"/>
              <a:latin typeface="微软雅黑"/>
              <a:ea typeface="微软雅黑"/>
            </a:endParaRPr>
          </a:p>
        </p:txBody>
      </p:sp>
      <p:grpSp>
        <p:nvGrpSpPr>
          <p:cNvPr id="86" name="组合 85"/>
          <p:cNvGrpSpPr/>
          <p:nvPr/>
        </p:nvGrpSpPr>
        <p:grpSpPr>
          <a:xfrm>
            <a:off x="4962525" y="5056505"/>
            <a:ext cx="1052830" cy="781050"/>
            <a:chOff x="7763" y="7963"/>
            <a:chExt cx="1658" cy="1230"/>
          </a:xfrm>
        </p:grpSpPr>
        <p:sp>
          <p:nvSpPr>
            <p:cNvPr id="11" name="椭圆 10"/>
            <p:cNvSpPr/>
            <p:nvPr/>
          </p:nvSpPr>
          <p:spPr>
            <a:xfrm>
              <a:off x="8258" y="7963"/>
              <a:ext cx="669" cy="669"/>
            </a:xfrm>
            <a:prstGeom prst="ellipse">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7" name="文本框 46"/>
            <p:cNvSpPr txBox="1"/>
            <p:nvPr/>
          </p:nvSpPr>
          <p:spPr>
            <a:xfrm>
              <a:off x="7763" y="8711"/>
              <a:ext cx="1658" cy="483"/>
            </a:xfrm>
            <a:prstGeom prst="rect">
              <a:avLst/>
            </a:prstGeom>
            <a:noFill/>
          </p:spPr>
          <p:txBody>
            <a:bodyPr wrap="square" rtlCol="0">
              <a:spAutoFit/>
            </a:bodyPr>
            <a:p>
              <a:pPr algn="ctr">
                <a:defRPr>
                  <a:latin typeface="微软雅黑"/>
                  <a:ea typeface="微软雅黑"/>
                  <a:cs typeface="微软雅黑"/>
                </a:defRPr>
              </a:pPr>
              <a:r>
                <a:rPr lang="zh-CN" altLang="en-US" sz="1400">
                  <a:latin typeface="微软雅黑"/>
                  <a:ea typeface="微软雅黑"/>
                  <a:cs typeface="微软雅黑"/>
                </a:rPr>
                <a:t>交易服务</a:t>
              </a:r>
              <a:endParaRPr lang="zh-CN" altLang="en-US" sz="1400">
                <a:latin typeface="微软雅黑"/>
                <a:ea typeface="微软雅黑"/>
                <a:cs typeface="微软雅黑"/>
              </a:endParaRPr>
            </a:p>
          </p:txBody>
        </p:sp>
        <p:pic>
          <p:nvPicPr>
            <p:cNvPr id="77" name="图片 76" descr="债券交易服务"/>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345" y="8051"/>
              <a:ext cx="493" cy="493"/>
            </a:xfrm>
            <a:prstGeom prst="rect">
              <a:avLst/>
            </a:prstGeom>
          </p:spPr>
        </p:pic>
      </p:grpSp>
      <p:grpSp>
        <p:nvGrpSpPr>
          <p:cNvPr id="85" name="组合 84"/>
          <p:cNvGrpSpPr/>
          <p:nvPr/>
        </p:nvGrpSpPr>
        <p:grpSpPr>
          <a:xfrm>
            <a:off x="3724910" y="5056505"/>
            <a:ext cx="1052830" cy="781685"/>
            <a:chOff x="5840" y="7963"/>
            <a:chExt cx="1658" cy="1231"/>
          </a:xfrm>
        </p:grpSpPr>
        <p:sp>
          <p:nvSpPr>
            <p:cNvPr id="9" name="椭圆 8"/>
            <p:cNvSpPr/>
            <p:nvPr/>
          </p:nvSpPr>
          <p:spPr>
            <a:xfrm>
              <a:off x="6335" y="7963"/>
              <a:ext cx="669" cy="669"/>
            </a:xfrm>
            <a:prstGeom prst="ellipse">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6" name="文本框 45"/>
            <p:cNvSpPr txBox="1"/>
            <p:nvPr/>
          </p:nvSpPr>
          <p:spPr>
            <a:xfrm>
              <a:off x="5840" y="8711"/>
              <a:ext cx="1658" cy="483"/>
            </a:xfrm>
            <a:prstGeom prst="rect">
              <a:avLst/>
            </a:prstGeom>
            <a:noFill/>
          </p:spPr>
          <p:txBody>
            <a:bodyPr wrap="square" rtlCol="0">
              <a:spAutoFit/>
            </a:bodyPr>
            <a:p>
              <a:pPr algn="ctr">
                <a:defRPr>
                  <a:latin typeface="微软雅黑"/>
                  <a:ea typeface="微软雅黑"/>
                  <a:cs typeface="微软雅黑"/>
                </a:defRPr>
              </a:pPr>
              <a:r>
                <a:rPr lang="zh-CN" altLang="en-US" sz="1400">
                  <a:latin typeface="微软雅黑"/>
                  <a:ea typeface="微软雅黑"/>
                  <a:cs typeface="微软雅黑"/>
                </a:rPr>
                <a:t>营销服务</a:t>
              </a:r>
              <a:endParaRPr lang="zh-CN" altLang="en-US" sz="1400">
                <a:latin typeface="微软雅黑"/>
                <a:ea typeface="微软雅黑"/>
                <a:cs typeface="微软雅黑"/>
              </a:endParaRPr>
            </a:p>
          </p:txBody>
        </p:sp>
        <p:pic>
          <p:nvPicPr>
            <p:cNvPr id="78" name="图片 77" descr="营销服务"/>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447" y="8075"/>
              <a:ext cx="445" cy="445"/>
            </a:xfrm>
            <a:prstGeom prst="rect">
              <a:avLst/>
            </a:prstGeom>
          </p:spPr>
        </p:pic>
      </p:grpSp>
      <p:grpSp>
        <p:nvGrpSpPr>
          <p:cNvPr id="84" name="组合 83"/>
          <p:cNvGrpSpPr/>
          <p:nvPr/>
        </p:nvGrpSpPr>
        <p:grpSpPr>
          <a:xfrm>
            <a:off x="2487295" y="5056505"/>
            <a:ext cx="1052830" cy="781685"/>
            <a:chOff x="3917" y="7963"/>
            <a:chExt cx="1658" cy="1231"/>
          </a:xfrm>
        </p:grpSpPr>
        <p:sp>
          <p:nvSpPr>
            <p:cNvPr id="8" name="椭圆 7"/>
            <p:cNvSpPr/>
            <p:nvPr/>
          </p:nvSpPr>
          <p:spPr>
            <a:xfrm>
              <a:off x="4412" y="7963"/>
              <a:ext cx="669" cy="669"/>
            </a:xfrm>
            <a:prstGeom prst="ellipse">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5" name="文本框 44"/>
            <p:cNvSpPr txBox="1"/>
            <p:nvPr/>
          </p:nvSpPr>
          <p:spPr>
            <a:xfrm>
              <a:off x="3917" y="8711"/>
              <a:ext cx="1658" cy="483"/>
            </a:xfrm>
            <a:prstGeom prst="rect">
              <a:avLst/>
            </a:prstGeom>
            <a:noFill/>
          </p:spPr>
          <p:txBody>
            <a:bodyPr wrap="square" rtlCol="0">
              <a:spAutoFit/>
            </a:bodyPr>
            <a:p>
              <a:pPr algn="ctr">
                <a:defRPr>
                  <a:latin typeface="微软雅黑"/>
                  <a:ea typeface="微软雅黑"/>
                  <a:cs typeface="微软雅黑"/>
                </a:defRPr>
              </a:pPr>
              <a:r>
                <a:rPr lang="zh-CN" altLang="en-US" sz="1400">
                  <a:latin typeface="微软雅黑"/>
                  <a:ea typeface="微软雅黑"/>
                  <a:cs typeface="微软雅黑"/>
                </a:rPr>
                <a:t>信息服务</a:t>
              </a:r>
              <a:endParaRPr lang="zh-CN" altLang="en-US" sz="1400">
                <a:latin typeface="微软雅黑"/>
                <a:ea typeface="微软雅黑"/>
                <a:cs typeface="微软雅黑"/>
              </a:endParaRPr>
            </a:p>
          </p:txBody>
        </p:sp>
        <p:pic>
          <p:nvPicPr>
            <p:cNvPr id="79" name="图片 78" descr="信息服务-copy"/>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533" y="8084"/>
              <a:ext cx="428" cy="428"/>
            </a:xfrm>
            <a:prstGeom prst="rect">
              <a:avLst/>
            </a:prstGeom>
          </p:spPr>
        </p:pic>
      </p:grpSp>
      <p:grpSp>
        <p:nvGrpSpPr>
          <p:cNvPr id="88" name="组合 87"/>
          <p:cNvGrpSpPr/>
          <p:nvPr/>
        </p:nvGrpSpPr>
        <p:grpSpPr>
          <a:xfrm>
            <a:off x="7437755" y="5056505"/>
            <a:ext cx="1052830" cy="781050"/>
            <a:chOff x="11609" y="7963"/>
            <a:chExt cx="1658" cy="1230"/>
          </a:xfrm>
        </p:grpSpPr>
        <p:sp>
          <p:nvSpPr>
            <p:cNvPr id="13" name="椭圆 12"/>
            <p:cNvSpPr/>
            <p:nvPr/>
          </p:nvSpPr>
          <p:spPr>
            <a:xfrm>
              <a:off x="12104" y="7963"/>
              <a:ext cx="669" cy="669"/>
            </a:xfrm>
            <a:prstGeom prst="ellipse">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9" name="文本框 48"/>
            <p:cNvSpPr txBox="1"/>
            <p:nvPr/>
          </p:nvSpPr>
          <p:spPr>
            <a:xfrm>
              <a:off x="11609" y="8711"/>
              <a:ext cx="1658" cy="483"/>
            </a:xfrm>
            <a:prstGeom prst="rect">
              <a:avLst/>
            </a:prstGeom>
            <a:noFill/>
          </p:spPr>
          <p:txBody>
            <a:bodyPr wrap="square" rtlCol="0">
              <a:spAutoFit/>
            </a:bodyPr>
            <a:p>
              <a:pPr algn="ctr">
                <a:defRPr>
                  <a:latin typeface="微软雅黑"/>
                  <a:ea typeface="微软雅黑"/>
                  <a:cs typeface="微软雅黑"/>
                </a:defRPr>
              </a:pPr>
              <a:r>
                <a:rPr lang="zh-CN" altLang="en-US" sz="1400">
                  <a:latin typeface="微软雅黑"/>
                  <a:ea typeface="微软雅黑"/>
                  <a:cs typeface="微软雅黑"/>
                </a:rPr>
                <a:t>物流服务</a:t>
              </a:r>
              <a:endParaRPr lang="zh-CN" altLang="en-US" sz="1400">
                <a:latin typeface="微软雅黑"/>
                <a:ea typeface="微软雅黑"/>
                <a:cs typeface="微软雅黑"/>
              </a:endParaRPr>
            </a:p>
          </p:txBody>
        </p:sp>
        <p:pic>
          <p:nvPicPr>
            <p:cNvPr id="80" name="图片 79" descr="物流服务商时效"/>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2232" y="8092"/>
              <a:ext cx="412" cy="412"/>
            </a:xfrm>
            <a:prstGeom prst="rect">
              <a:avLst/>
            </a:prstGeom>
          </p:spPr>
        </p:pic>
      </p:grpSp>
      <p:grpSp>
        <p:nvGrpSpPr>
          <p:cNvPr id="89" name="组合 88"/>
          <p:cNvGrpSpPr/>
          <p:nvPr/>
        </p:nvGrpSpPr>
        <p:grpSpPr>
          <a:xfrm>
            <a:off x="8675370" y="5056505"/>
            <a:ext cx="1052830" cy="781050"/>
            <a:chOff x="13532" y="7963"/>
            <a:chExt cx="1658" cy="1230"/>
          </a:xfrm>
        </p:grpSpPr>
        <p:sp>
          <p:nvSpPr>
            <p:cNvPr id="14" name="椭圆 13"/>
            <p:cNvSpPr/>
            <p:nvPr/>
          </p:nvSpPr>
          <p:spPr>
            <a:xfrm>
              <a:off x="14027" y="7963"/>
              <a:ext cx="669" cy="669"/>
            </a:xfrm>
            <a:prstGeom prst="ellipse">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0" name="文本框 49"/>
            <p:cNvSpPr txBox="1"/>
            <p:nvPr/>
          </p:nvSpPr>
          <p:spPr>
            <a:xfrm>
              <a:off x="13532" y="8711"/>
              <a:ext cx="1658" cy="483"/>
            </a:xfrm>
            <a:prstGeom prst="rect">
              <a:avLst/>
            </a:prstGeom>
            <a:noFill/>
          </p:spPr>
          <p:txBody>
            <a:bodyPr wrap="square" rtlCol="0">
              <a:spAutoFit/>
            </a:bodyPr>
            <a:p>
              <a:pPr algn="ctr">
                <a:defRPr>
                  <a:latin typeface="微软雅黑"/>
                  <a:ea typeface="微软雅黑"/>
                  <a:cs typeface="微软雅黑"/>
                </a:defRPr>
              </a:pPr>
              <a:r>
                <a:rPr lang="zh-CN" altLang="en-US" sz="1400">
                  <a:latin typeface="微软雅黑"/>
                  <a:ea typeface="微软雅黑"/>
                  <a:cs typeface="微软雅黑"/>
                </a:rPr>
                <a:t>售后服务</a:t>
              </a:r>
              <a:endParaRPr lang="zh-CN" altLang="en-US" sz="1400">
                <a:latin typeface="微软雅黑"/>
                <a:ea typeface="微软雅黑"/>
                <a:cs typeface="微软雅黑"/>
              </a:endParaRPr>
            </a:p>
          </p:txBody>
        </p:sp>
        <p:pic>
          <p:nvPicPr>
            <p:cNvPr id="82" name="图片 81" descr="售后服务"/>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4159" y="8096"/>
              <a:ext cx="404" cy="404"/>
            </a:xfrm>
            <a:prstGeom prst="rect">
              <a:avLst/>
            </a:prstGeom>
          </p:spPr>
        </p:pic>
      </p:grpSp>
      <p:grpSp>
        <p:nvGrpSpPr>
          <p:cNvPr id="87" name="组合 86"/>
          <p:cNvGrpSpPr/>
          <p:nvPr/>
        </p:nvGrpSpPr>
        <p:grpSpPr>
          <a:xfrm>
            <a:off x="6200140" y="5056505"/>
            <a:ext cx="1052830" cy="777240"/>
            <a:chOff x="9686" y="7969"/>
            <a:chExt cx="1658" cy="1224"/>
          </a:xfrm>
        </p:grpSpPr>
        <p:sp>
          <p:nvSpPr>
            <p:cNvPr id="12" name="椭圆 11"/>
            <p:cNvSpPr/>
            <p:nvPr/>
          </p:nvSpPr>
          <p:spPr>
            <a:xfrm>
              <a:off x="10181" y="7969"/>
              <a:ext cx="669" cy="669"/>
            </a:xfrm>
            <a:prstGeom prst="ellipse">
              <a:avLst/>
            </a:prstGeom>
            <a:solidFill>
              <a:srgbClr val="FFFFFF"/>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8" name="文本框 47"/>
            <p:cNvSpPr txBox="1"/>
            <p:nvPr/>
          </p:nvSpPr>
          <p:spPr>
            <a:xfrm>
              <a:off x="9686" y="8711"/>
              <a:ext cx="1658" cy="483"/>
            </a:xfrm>
            <a:prstGeom prst="rect">
              <a:avLst/>
            </a:prstGeom>
            <a:noFill/>
          </p:spPr>
          <p:txBody>
            <a:bodyPr wrap="square" rtlCol="0">
              <a:spAutoFit/>
            </a:bodyPr>
            <a:p>
              <a:pPr algn="ctr">
                <a:defRPr>
                  <a:latin typeface="微软雅黑"/>
                  <a:ea typeface="微软雅黑"/>
                  <a:cs typeface="微软雅黑"/>
                </a:defRPr>
              </a:pPr>
              <a:r>
                <a:rPr lang="zh-CN" altLang="en-US" sz="1400">
                  <a:latin typeface="微软雅黑"/>
                  <a:ea typeface="微软雅黑"/>
                  <a:cs typeface="微软雅黑"/>
                </a:rPr>
                <a:t>金融服务</a:t>
              </a:r>
              <a:endParaRPr lang="zh-CN" altLang="en-US" sz="1400">
                <a:latin typeface="微软雅黑"/>
                <a:ea typeface="微软雅黑"/>
                <a:cs typeface="微软雅黑"/>
              </a:endParaRPr>
            </a:p>
          </p:txBody>
        </p:sp>
        <p:pic>
          <p:nvPicPr>
            <p:cNvPr id="83" name="图片 82" descr="金融服务"/>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268" y="8057"/>
              <a:ext cx="494" cy="494"/>
            </a:xfrm>
            <a:prstGeom prst="rect">
              <a:avLst/>
            </a:prstGeom>
          </p:spPr>
        </p:pic>
      </p:grpSp>
      <p:pic>
        <p:nvPicPr>
          <p:cNvPr id="90" name="图片 89" descr="家居建材"/>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5819775" y="2590800"/>
            <a:ext cx="476885" cy="406400"/>
          </a:xfrm>
          <a:prstGeom prst="rect">
            <a:avLst/>
          </a:prstGeom>
        </p:spPr>
      </p:pic>
      <p:sp>
        <p:nvSpPr>
          <p:cNvPr id="106" name="文本框 105"/>
          <p:cNvSpPr txBox="1"/>
          <p:nvPr/>
        </p:nvSpPr>
        <p:spPr>
          <a:xfrm>
            <a:off x="2194560" y="1724660"/>
            <a:ext cx="2583180" cy="521970"/>
          </a:xfrm>
          <a:prstGeom prst="rect">
            <a:avLst/>
          </a:prstGeom>
          <a:noFill/>
        </p:spPr>
        <p:txBody>
          <a:bodyPr wrap="square" rtlCol="0">
            <a:spAutoFit/>
          </a:bodyPr>
          <a:p>
            <a:pPr>
              <a:defRPr>
                <a:latin typeface="微软雅黑"/>
                <a:ea typeface="微软雅黑"/>
                <a:cs typeface="微软雅黑"/>
              </a:defRPr>
            </a:pPr>
            <a:r>
              <a:rPr lang="zh-CN" altLang="en-US" sz="1400" b="1">
                <a:solidFill>
                  <a:srgbClr val="0042FF"/>
                </a:solidFill>
                <a:latin typeface="微软雅黑"/>
                <a:ea typeface="微软雅黑"/>
                <a:cs typeface="微软雅黑"/>
              </a:rPr>
              <a:t>面向上游提供数据辅助决策、智能供应链协同等服务。</a:t>
            </a:r>
            <a:endParaRPr lang="zh-CN" altLang="en-US" sz="1400" b="1">
              <a:solidFill>
                <a:srgbClr val="0042FF"/>
              </a:solidFill>
              <a:latin typeface="微软雅黑"/>
              <a:ea typeface="微软雅黑"/>
              <a:cs typeface="微软雅黑"/>
            </a:endParaRPr>
          </a:p>
        </p:txBody>
      </p:sp>
      <p:grpSp>
        <p:nvGrpSpPr>
          <p:cNvPr id="111" name="组合 110"/>
          <p:cNvGrpSpPr/>
          <p:nvPr/>
        </p:nvGrpSpPr>
        <p:grpSpPr>
          <a:xfrm>
            <a:off x="1336040" y="2439670"/>
            <a:ext cx="3232150" cy="470535"/>
            <a:chOff x="2104" y="3840"/>
            <a:chExt cx="5090" cy="741"/>
          </a:xfrm>
        </p:grpSpPr>
        <p:cxnSp>
          <p:nvCxnSpPr>
            <p:cNvPr id="22" name="直接箭头连接符 21"/>
            <p:cNvCxnSpPr/>
            <p:nvPr/>
          </p:nvCxnSpPr>
          <p:spPr>
            <a:xfrm flipH="1">
              <a:off x="2104" y="4581"/>
              <a:ext cx="4725" cy="0"/>
            </a:xfrm>
            <a:prstGeom prst="straightConnector1">
              <a:avLst/>
            </a:prstGeom>
            <a:ln w="19050">
              <a:solidFill>
                <a:srgbClr val="0042FF"/>
              </a:solidFill>
              <a:prstDash val="sysDot"/>
              <a:tailEnd type="triangle" w="lg" len="lg"/>
            </a:ln>
          </p:spPr>
          <p:style>
            <a:lnRef idx="2">
              <a:srgbClr val="0042FF"/>
            </a:lnRef>
            <a:fillRef idx="0">
              <a:srgbClr val="FFFFFF"/>
            </a:fillRef>
            <a:effectRef idx="0">
              <a:srgbClr val="FFFFFF"/>
            </a:effectRef>
            <a:fontRef idx="minor">
              <a:srgbClr val="383838"/>
            </a:fontRef>
          </p:style>
        </p:cxnSp>
        <p:sp>
          <p:nvSpPr>
            <p:cNvPr id="26" name="文本框 25"/>
            <p:cNvSpPr txBox="1"/>
            <p:nvPr/>
          </p:nvSpPr>
          <p:spPr>
            <a:xfrm>
              <a:off x="3490" y="3840"/>
              <a:ext cx="3705" cy="628"/>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latin typeface="微软雅黑"/>
                  <a:ea typeface="微软雅黑"/>
                  <a:cs typeface="微软雅黑"/>
                </a:rPr>
                <a:t>通过市场数据预测与产能分析，辅助工厂实现多品类小批量柔性化定制生产。</a:t>
              </a:r>
              <a:endParaRPr lang="zh-CN" altLang="en-US" sz="1000">
                <a:latin typeface="微软雅黑"/>
                <a:ea typeface="微软雅黑"/>
                <a:cs typeface="微软雅黑"/>
              </a:endParaRPr>
            </a:p>
          </p:txBody>
        </p:sp>
        <p:sp>
          <p:nvSpPr>
            <p:cNvPr id="105" name="圆角矩形 104"/>
            <p:cNvSpPr/>
            <p:nvPr/>
          </p:nvSpPr>
          <p:spPr>
            <a:xfrm>
              <a:off x="2622" y="3862"/>
              <a:ext cx="868" cy="5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7" name="文本框 106"/>
            <p:cNvSpPr txBox="1"/>
            <p:nvPr/>
          </p:nvSpPr>
          <p:spPr>
            <a:xfrm>
              <a:off x="2683" y="3840"/>
              <a:ext cx="730"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生产</a:t>
              </a:r>
              <a:endParaRPr lang="zh-CN" altLang="en-US" sz="10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环节</a:t>
              </a:r>
              <a:endParaRPr lang="zh-CN" altLang="en-US" sz="1000" b="1">
                <a:solidFill>
                  <a:srgbClr val="0042FF"/>
                </a:solidFill>
                <a:latin typeface="微软雅黑"/>
                <a:ea typeface="微软雅黑"/>
                <a:cs typeface="微软雅黑"/>
                <a:sym typeface="微软雅黑"/>
              </a:endParaRPr>
            </a:p>
          </p:txBody>
        </p:sp>
      </p:grpSp>
      <p:grpSp>
        <p:nvGrpSpPr>
          <p:cNvPr id="121" name="组合 120"/>
          <p:cNvGrpSpPr/>
          <p:nvPr/>
        </p:nvGrpSpPr>
        <p:grpSpPr>
          <a:xfrm>
            <a:off x="1139190" y="3130550"/>
            <a:ext cx="3227070" cy="502920"/>
            <a:chOff x="1794" y="4866"/>
            <a:chExt cx="5082" cy="792"/>
          </a:xfrm>
        </p:grpSpPr>
        <p:cxnSp>
          <p:nvCxnSpPr>
            <p:cNvPr id="23" name="直接箭头连接符 22"/>
            <p:cNvCxnSpPr/>
            <p:nvPr/>
          </p:nvCxnSpPr>
          <p:spPr>
            <a:xfrm flipH="1">
              <a:off x="1794" y="5658"/>
              <a:ext cx="4725" cy="0"/>
            </a:xfrm>
            <a:prstGeom prst="straightConnector1">
              <a:avLst/>
            </a:prstGeom>
            <a:ln w="19050">
              <a:solidFill>
                <a:srgbClr val="0042FF"/>
              </a:solidFill>
              <a:prstDash val="sysDot"/>
              <a:tailEnd type="triangle" w="lg" len="lg"/>
            </a:ln>
          </p:spPr>
          <p:style>
            <a:lnRef idx="2">
              <a:srgbClr val="0042FF"/>
            </a:lnRef>
            <a:fillRef idx="0">
              <a:srgbClr val="FFFFFF"/>
            </a:fillRef>
            <a:effectRef idx="0">
              <a:srgbClr val="FFFFFF"/>
            </a:effectRef>
            <a:fontRef idx="minor">
              <a:srgbClr val="383838"/>
            </a:fontRef>
          </p:style>
        </p:cxnSp>
        <p:sp>
          <p:nvSpPr>
            <p:cNvPr id="108" name="文本框 107"/>
            <p:cNvSpPr txBox="1"/>
            <p:nvPr/>
          </p:nvSpPr>
          <p:spPr>
            <a:xfrm>
              <a:off x="3172" y="4894"/>
              <a:ext cx="3705" cy="628"/>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latin typeface="微软雅黑"/>
                  <a:ea typeface="微软雅黑"/>
                  <a:cs typeface="微软雅黑"/>
                </a:rPr>
                <a:t>依托智能仓储系统优化大件建材分拣调度，实现全链路可视化配送管理。</a:t>
              </a:r>
              <a:endParaRPr lang="zh-CN" altLang="en-US" sz="1000">
                <a:latin typeface="微软雅黑"/>
                <a:ea typeface="微软雅黑"/>
                <a:cs typeface="微软雅黑"/>
              </a:endParaRPr>
            </a:p>
          </p:txBody>
        </p:sp>
        <p:sp>
          <p:nvSpPr>
            <p:cNvPr id="109" name="圆角矩形 108"/>
            <p:cNvSpPr/>
            <p:nvPr/>
          </p:nvSpPr>
          <p:spPr>
            <a:xfrm>
              <a:off x="2304" y="4888"/>
              <a:ext cx="868" cy="5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10" name="文本框 109"/>
            <p:cNvSpPr txBox="1"/>
            <p:nvPr/>
          </p:nvSpPr>
          <p:spPr>
            <a:xfrm>
              <a:off x="2365" y="4866"/>
              <a:ext cx="730"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流通</a:t>
              </a:r>
              <a:endParaRPr lang="zh-CN" altLang="en-US" sz="10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环节</a:t>
              </a:r>
              <a:endParaRPr lang="zh-CN" altLang="en-US" sz="1000" b="1">
                <a:solidFill>
                  <a:srgbClr val="0042FF"/>
                </a:solidFill>
                <a:latin typeface="微软雅黑"/>
                <a:ea typeface="微软雅黑"/>
                <a:cs typeface="微软雅黑"/>
                <a:sym typeface="微软雅黑"/>
              </a:endParaRPr>
            </a:p>
          </p:txBody>
        </p:sp>
      </p:grpSp>
      <p:grpSp>
        <p:nvGrpSpPr>
          <p:cNvPr id="112" name="组合 111"/>
          <p:cNvGrpSpPr/>
          <p:nvPr/>
        </p:nvGrpSpPr>
        <p:grpSpPr>
          <a:xfrm>
            <a:off x="1336040" y="3853815"/>
            <a:ext cx="3232785" cy="470535"/>
            <a:chOff x="2104" y="3840"/>
            <a:chExt cx="5091" cy="741"/>
          </a:xfrm>
        </p:grpSpPr>
        <p:cxnSp>
          <p:nvCxnSpPr>
            <p:cNvPr id="113" name="直接箭头连接符 112"/>
            <p:cNvCxnSpPr/>
            <p:nvPr/>
          </p:nvCxnSpPr>
          <p:spPr>
            <a:xfrm flipH="1">
              <a:off x="2104" y="4581"/>
              <a:ext cx="4725" cy="0"/>
            </a:xfrm>
            <a:prstGeom prst="straightConnector1">
              <a:avLst/>
            </a:prstGeom>
            <a:ln w="19050">
              <a:solidFill>
                <a:srgbClr val="0042FF"/>
              </a:solidFill>
              <a:prstDash val="sysDot"/>
              <a:tailEnd type="triangle" w="lg" len="lg"/>
            </a:ln>
          </p:spPr>
          <p:style>
            <a:lnRef idx="2">
              <a:srgbClr val="0042FF"/>
            </a:lnRef>
            <a:fillRef idx="0">
              <a:srgbClr val="FFFFFF"/>
            </a:fillRef>
            <a:effectRef idx="0">
              <a:srgbClr val="FFFFFF"/>
            </a:effectRef>
            <a:fontRef idx="minor">
              <a:srgbClr val="383838"/>
            </a:fontRef>
          </p:style>
        </p:cxnSp>
        <p:sp>
          <p:nvSpPr>
            <p:cNvPr id="118" name="文本框 117"/>
            <p:cNvSpPr txBox="1"/>
            <p:nvPr/>
          </p:nvSpPr>
          <p:spPr>
            <a:xfrm>
              <a:off x="3490" y="3840"/>
              <a:ext cx="3705" cy="628"/>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latin typeface="微软雅黑"/>
                  <a:ea typeface="微软雅黑"/>
                  <a:cs typeface="微软雅黑"/>
                </a:rPr>
                <a:t>基于</a:t>
              </a:r>
              <a:r>
                <a:rPr lang="en-US" altLang="zh-CN" sz="1000">
                  <a:latin typeface="微软雅黑"/>
                  <a:ea typeface="微软雅黑"/>
                  <a:cs typeface="微软雅黑"/>
                </a:rPr>
                <a:t>SaaS</a:t>
              </a:r>
              <a:r>
                <a:rPr lang="zh-CN" altLang="en-US" sz="1000">
                  <a:latin typeface="微软雅黑"/>
                  <a:ea typeface="微软雅黑"/>
                  <a:cs typeface="微软雅黑"/>
                </a:rPr>
                <a:t>化</a:t>
              </a:r>
              <a:r>
                <a:rPr lang="en-US" altLang="zh-CN" sz="1000">
                  <a:latin typeface="微软雅黑"/>
                  <a:ea typeface="微软雅黑"/>
                  <a:cs typeface="微软雅黑"/>
                </a:rPr>
                <a:t>3D</a:t>
              </a:r>
              <a:r>
                <a:rPr lang="zh-CN" altLang="en-US" sz="1000">
                  <a:latin typeface="微软雅黑"/>
                  <a:ea typeface="微软雅黑"/>
                  <a:cs typeface="微软雅黑"/>
                </a:rPr>
                <a:t>设计工具赋能渠道商，精准触达装企与设计师群体。</a:t>
              </a:r>
              <a:endParaRPr lang="zh-CN" altLang="en-US" sz="1000">
                <a:latin typeface="微软雅黑"/>
                <a:ea typeface="微软雅黑"/>
                <a:cs typeface="微软雅黑"/>
              </a:endParaRPr>
            </a:p>
          </p:txBody>
        </p:sp>
        <p:sp>
          <p:nvSpPr>
            <p:cNvPr id="119" name="圆角矩形 118"/>
            <p:cNvSpPr/>
            <p:nvPr/>
          </p:nvSpPr>
          <p:spPr>
            <a:xfrm>
              <a:off x="2622" y="3862"/>
              <a:ext cx="868" cy="5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0" name="文本框 119"/>
            <p:cNvSpPr txBox="1"/>
            <p:nvPr/>
          </p:nvSpPr>
          <p:spPr>
            <a:xfrm>
              <a:off x="2683" y="3840"/>
              <a:ext cx="730"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营销</a:t>
              </a:r>
              <a:endParaRPr lang="zh-CN" altLang="en-US" sz="10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环节</a:t>
              </a:r>
              <a:endParaRPr lang="zh-CN" altLang="en-US" sz="1000" b="1">
                <a:solidFill>
                  <a:srgbClr val="0042FF"/>
                </a:solidFill>
                <a:latin typeface="微软雅黑"/>
                <a:ea typeface="微软雅黑"/>
                <a:cs typeface="微软雅黑"/>
                <a:sym typeface="微软雅黑"/>
              </a:endParaRPr>
            </a:p>
          </p:txBody>
        </p:sp>
      </p:grpSp>
      <p:grpSp>
        <p:nvGrpSpPr>
          <p:cNvPr id="122" name="组合 121"/>
          <p:cNvGrpSpPr/>
          <p:nvPr/>
        </p:nvGrpSpPr>
        <p:grpSpPr>
          <a:xfrm flipH="1">
            <a:off x="7751445" y="2439670"/>
            <a:ext cx="3158490" cy="470535"/>
            <a:chOff x="2104" y="3840"/>
            <a:chExt cx="4974" cy="741"/>
          </a:xfrm>
        </p:grpSpPr>
        <p:cxnSp>
          <p:nvCxnSpPr>
            <p:cNvPr id="123" name="直接箭头连接符 122"/>
            <p:cNvCxnSpPr/>
            <p:nvPr/>
          </p:nvCxnSpPr>
          <p:spPr>
            <a:xfrm flipH="1">
              <a:off x="2104" y="4581"/>
              <a:ext cx="4725" cy="0"/>
            </a:xfrm>
            <a:prstGeom prst="straightConnector1">
              <a:avLst/>
            </a:prstGeom>
            <a:ln w="19050">
              <a:solidFill>
                <a:srgbClr val="0042FF"/>
              </a:solidFill>
              <a:prstDash val="sysDot"/>
              <a:tailEnd type="triangle" w="lg" len="lg"/>
            </a:ln>
          </p:spPr>
          <p:style>
            <a:lnRef idx="2">
              <a:srgbClr val="0042FF"/>
            </a:lnRef>
            <a:fillRef idx="0">
              <a:srgbClr val="FFFFFF"/>
            </a:fillRef>
            <a:effectRef idx="0">
              <a:srgbClr val="FFFFFF"/>
            </a:effectRef>
            <a:fontRef idx="minor">
              <a:srgbClr val="383838"/>
            </a:fontRef>
          </p:style>
        </p:cxnSp>
        <p:sp>
          <p:nvSpPr>
            <p:cNvPr id="124" name="文本框 123"/>
            <p:cNvSpPr txBox="1"/>
            <p:nvPr/>
          </p:nvSpPr>
          <p:spPr>
            <a:xfrm>
              <a:off x="3490" y="3840"/>
              <a:ext cx="3588" cy="628"/>
            </a:xfrm>
            <a:prstGeom prst="rect">
              <a:avLst/>
            </a:prstGeom>
            <a:noFill/>
          </p:spPr>
          <p:txBody>
            <a:bodyPr wrap="square" rtlCol="0" lIns="0" rIns="0" tIns="0" bIns="0">
              <a:spAutoFit/>
            </a:bodyPr>
            <a:p>
              <a:pPr algn="r">
                <a:defRPr>
                  <a:latin typeface="微软雅黑"/>
                  <a:ea typeface="微软雅黑"/>
                  <a:cs typeface="微软雅黑"/>
                </a:defRPr>
              </a:pPr>
              <a:r>
                <a:rPr lang="zh-CN" altLang="en-US" sz="1000">
                  <a:latin typeface="微软雅黑"/>
                  <a:ea typeface="微软雅黑"/>
                  <a:cs typeface="微软雅黑"/>
                </a:rPr>
                <a:t>通过动态采购模型与滞销预警机制，辅助门店精准匹配区域消费趋势备货。</a:t>
              </a:r>
              <a:r>
                <a:rPr lang="en-US" altLang="zh-CN" sz="1000">
                  <a:latin typeface="微软雅黑"/>
                  <a:ea typeface="微软雅黑"/>
                  <a:cs typeface="微软雅黑"/>
                </a:rPr>
                <a:t> </a:t>
              </a:r>
              <a:endParaRPr lang="en-US" altLang="zh-CN" sz="1000">
                <a:latin typeface="微软雅黑"/>
                <a:ea typeface="微软雅黑"/>
                <a:cs typeface="微软雅黑"/>
              </a:endParaRPr>
            </a:p>
          </p:txBody>
        </p:sp>
        <p:sp>
          <p:nvSpPr>
            <p:cNvPr id="125" name="圆角矩形 124"/>
            <p:cNvSpPr/>
            <p:nvPr/>
          </p:nvSpPr>
          <p:spPr>
            <a:xfrm>
              <a:off x="2622" y="3862"/>
              <a:ext cx="868" cy="5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6" name="文本框 125"/>
            <p:cNvSpPr txBox="1"/>
            <p:nvPr/>
          </p:nvSpPr>
          <p:spPr>
            <a:xfrm>
              <a:off x="2683" y="3840"/>
              <a:ext cx="730"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采购环节</a:t>
              </a:r>
              <a:endParaRPr lang="zh-CN" altLang="en-US" sz="1000" b="1">
                <a:solidFill>
                  <a:srgbClr val="0042FF"/>
                </a:solidFill>
                <a:latin typeface="微软雅黑"/>
                <a:ea typeface="微软雅黑"/>
                <a:cs typeface="微软雅黑"/>
                <a:sym typeface="微软雅黑"/>
              </a:endParaRPr>
            </a:p>
          </p:txBody>
        </p:sp>
      </p:grpSp>
      <p:grpSp>
        <p:nvGrpSpPr>
          <p:cNvPr id="127" name="组合 126"/>
          <p:cNvGrpSpPr/>
          <p:nvPr/>
        </p:nvGrpSpPr>
        <p:grpSpPr>
          <a:xfrm flipH="1">
            <a:off x="7529830" y="3130550"/>
            <a:ext cx="3178175" cy="502920"/>
            <a:chOff x="1794" y="4866"/>
            <a:chExt cx="5005" cy="792"/>
          </a:xfrm>
        </p:grpSpPr>
        <p:cxnSp>
          <p:nvCxnSpPr>
            <p:cNvPr id="128" name="直接箭头连接符 127"/>
            <p:cNvCxnSpPr/>
            <p:nvPr/>
          </p:nvCxnSpPr>
          <p:spPr>
            <a:xfrm flipH="1">
              <a:off x="1794" y="5658"/>
              <a:ext cx="4725" cy="0"/>
            </a:xfrm>
            <a:prstGeom prst="straightConnector1">
              <a:avLst/>
            </a:prstGeom>
            <a:ln w="19050">
              <a:solidFill>
                <a:srgbClr val="0042FF"/>
              </a:solidFill>
              <a:prstDash val="sysDot"/>
              <a:tailEnd type="triangle" w="lg" len="lg"/>
            </a:ln>
          </p:spPr>
          <p:style>
            <a:lnRef idx="2">
              <a:srgbClr val="0042FF"/>
            </a:lnRef>
            <a:fillRef idx="0">
              <a:srgbClr val="FFFFFF"/>
            </a:fillRef>
            <a:effectRef idx="0">
              <a:srgbClr val="FFFFFF"/>
            </a:effectRef>
            <a:fontRef idx="minor">
              <a:srgbClr val="383838"/>
            </a:fontRef>
          </p:style>
        </p:cxnSp>
        <p:sp>
          <p:nvSpPr>
            <p:cNvPr id="129" name="文本框 128"/>
            <p:cNvSpPr txBox="1"/>
            <p:nvPr/>
          </p:nvSpPr>
          <p:spPr>
            <a:xfrm>
              <a:off x="3172" y="4894"/>
              <a:ext cx="3627" cy="628"/>
            </a:xfrm>
            <a:prstGeom prst="rect">
              <a:avLst/>
            </a:prstGeom>
            <a:noFill/>
          </p:spPr>
          <p:txBody>
            <a:bodyPr wrap="square" rtlCol="0" lIns="0" rIns="0" tIns="0" bIns="0">
              <a:spAutoFit/>
            </a:bodyPr>
            <a:p>
              <a:pPr algn="r">
                <a:defRPr>
                  <a:latin typeface="微软雅黑"/>
                  <a:ea typeface="微软雅黑"/>
                  <a:cs typeface="微软雅黑"/>
                </a:defRPr>
              </a:pPr>
              <a:r>
                <a:rPr lang="zh-CN" altLang="en-US" sz="1000">
                  <a:latin typeface="微软雅黑"/>
                  <a:ea typeface="微软雅黑"/>
                  <a:cs typeface="微软雅黑"/>
                </a:rPr>
                <a:t>基于云端</a:t>
              </a:r>
              <a:r>
                <a:rPr lang="en-US" altLang="zh-CN" sz="1000">
                  <a:latin typeface="微软雅黑"/>
                  <a:ea typeface="微软雅黑"/>
                  <a:cs typeface="微软雅黑"/>
                </a:rPr>
                <a:t>ERP</a:t>
              </a:r>
              <a:r>
                <a:rPr lang="zh-CN" altLang="en-US" sz="1000">
                  <a:latin typeface="微软雅黑"/>
                  <a:ea typeface="微软雅黑"/>
                  <a:cs typeface="微软雅黑"/>
                </a:rPr>
                <a:t>系统实现多店库存联动与财务自动化，降低人力管理成本。</a:t>
              </a:r>
              <a:endParaRPr lang="zh-CN" altLang="en-US" sz="1000">
                <a:latin typeface="微软雅黑"/>
                <a:ea typeface="微软雅黑"/>
                <a:cs typeface="微软雅黑"/>
              </a:endParaRPr>
            </a:p>
          </p:txBody>
        </p:sp>
        <p:sp>
          <p:nvSpPr>
            <p:cNvPr id="130" name="圆角矩形 129"/>
            <p:cNvSpPr/>
            <p:nvPr/>
          </p:nvSpPr>
          <p:spPr>
            <a:xfrm>
              <a:off x="2304" y="4888"/>
              <a:ext cx="868" cy="5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31" name="文本框 130"/>
            <p:cNvSpPr txBox="1"/>
            <p:nvPr/>
          </p:nvSpPr>
          <p:spPr>
            <a:xfrm>
              <a:off x="2365" y="4866"/>
              <a:ext cx="730"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经营</a:t>
              </a:r>
              <a:endParaRPr lang="zh-CN" altLang="en-US" sz="10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环节</a:t>
              </a:r>
              <a:endParaRPr lang="zh-CN" altLang="en-US" sz="1000" b="1">
                <a:solidFill>
                  <a:srgbClr val="0042FF"/>
                </a:solidFill>
                <a:latin typeface="微软雅黑"/>
                <a:ea typeface="微软雅黑"/>
                <a:cs typeface="微软雅黑"/>
                <a:sym typeface="微软雅黑"/>
              </a:endParaRPr>
            </a:p>
          </p:txBody>
        </p:sp>
      </p:grpSp>
      <p:grpSp>
        <p:nvGrpSpPr>
          <p:cNvPr id="132" name="组合 131"/>
          <p:cNvGrpSpPr/>
          <p:nvPr/>
        </p:nvGrpSpPr>
        <p:grpSpPr>
          <a:xfrm flipH="1">
            <a:off x="7832725" y="3853815"/>
            <a:ext cx="3077845" cy="470535"/>
            <a:chOff x="2104" y="3840"/>
            <a:chExt cx="4847" cy="741"/>
          </a:xfrm>
        </p:grpSpPr>
        <p:cxnSp>
          <p:nvCxnSpPr>
            <p:cNvPr id="133" name="直接箭头连接符 132"/>
            <p:cNvCxnSpPr/>
            <p:nvPr/>
          </p:nvCxnSpPr>
          <p:spPr>
            <a:xfrm flipH="1">
              <a:off x="2104" y="4581"/>
              <a:ext cx="4725" cy="0"/>
            </a:xfrm>
            <a:prstGeom prst="straightConnector1">
              <a:avLst/>
            </a:prstGeom>
            <a:ln w="19050">
              <a:solidFill>
                <a:srgbClr val="0042FF"/>
              </a:solidFill>
              <a:prstDash val="sysDot"/>
              <a:tailEnd type="triangle" w="lg" len="lg"/>
            </a:ln>
          </p:spPr>
          <p:style>
            <a:lnRef idx="2">
              <a:srgbClr val="0042FF"/>
            </a:lnRef>
            <a:fillRef idx="0">
              <a:srgbClr val="FFFFFF"/>
            </a:fillRef>
            <a:effectRef idx="0">
              <a:srgbClr val="FFFFFF"/>
            </a:effectRef>
            <a:fontRef idx="minor">
              <a:srgbClr val="383838"/>
            </a:fontRef>
          </p:style>
        </p:cxnSp>
        <p:sp>
          <p:nvSpPr>
            <p:cNvPr id="134" name="文本框 133"/>
            <p:cNvSpPr txBox="1"/>
            <p:nvPr/>
          </p:nvSpPr>
          <p:spPr>
            <a:xfrm>
              <a:off x="3490" y="3840"/>
              <a:ext cx="3461" cy="628"/>
            </a:xfrm>
            <a:prstGeom prst="rect">
              <a:avLst/>
            </a:prstGeom>
            <a:noFill/>
          </p:spPr>
          <p:txBody>
            <a:bodyPr wrap="square" rtlCol="0" lIns="0" rIns="0" tIns="0" bIns="0">
              <a:spAutoFit/>
            </a:bodyPr>
            <a:p>
              <a:pPr algn="r">
                <a:defRPr>
                  <a:latin typeface="微软雅黑"/>
                  <a:ea typeface="微软雅黑"/>
                  <a:cs typeface="微软雅黑"/>
                </a:defRPr>
              </a:pPr>
              <a:r>
                <a:rPr lang="zh-CN" altLang="en-US" sz="1000">
                  <a:latin typeface="微软雅黑"/>
                  <a:ea typeface="微软雅黑"/>
                  <a:cs typeface="微软雅黑"/>
                </a:rPr>
                <a:t>借力</a:t>
              </a:r>
              <a:r>
                <a:rPr lang="en-US" altLang="zh-CN" sz="1000">
                  <a:latin typeface="微软雅黑"/>
                  <a:ea typeface="微软雅黑"/>
                  <a:cs typeface="微软雅黑"/>
                </a:rPr>
                <a:t>AI</a:t>
              </a:r>
              <a:r>
                <a:rPr lang="zh-CN" altLang="en-US" sz="1000">
                  <a:latin typeface="微软雅黑"/>
                  <a:ea typeface="微软雅黑"/>
                  <a:cs typeface="微软雅黑"/>
                </a:rPr>
                <a:t>设计工具生成沉浸式家装方案，提升客户转化率与客单价。</a:t>
              </a:r>
              <a:endParaRPr lang="zh-CN" altLang="en-US" sz="1000">
                <a:latin typeface="微软雅黑"/>
                <a:ea typeface="微软雅黑"/>
                <a:cs typeface="微软雅黑"/>
              </a:endParaRPr>
            </a:p>
          </p:txBody>
        </p:sp>
        <p:sp>
          <p:nvSpPr>
            <p:cNvPr id="135" name="圆角矩形 134"/>
            <p:cNvSpPr/>
            <p:nvPr/>
          </p:nvSpPr>
          <p:spPr>
            <a:xfrm>
              <a:off x="2622" y="3862"/>
              <a:ext cx="868" cy="5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36" name="文本框 135"/>
            <p:cNvSpPr txBox="1"/>
            <p:nvPr/>
          </p:nvSpPr>
          <p:spPr>
            <a:xfrm>
              <a:off x="2683" y="3840"/>
              <a:ext cx="730" cy="628"/>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服务</a:t>
              </a:r>
              <a:endParaRPr lang="zh-CN" altLang="en-US" sz="10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a:solidFill>
                    <a:srgbClr val="0042FF"/>
                  </a:solidFill>
                  <a:latin typeface="微软雅黑"/>
                  <a:ea typeface="微软雅黑"/>
                  <a:cs typeface="微软雅黑"/>
                  <a:sym typeface="微软雅黑"/>
                </a:rPr>
                <a:t>环节</a:t>
              </a:r>
              <a:endParaRPr lang="zh-CN" altLang="en-US" sz="1000" b="1">
                <a:solidFill>
                  <a:srgbClr val="0042FF"/>
                </a:solidFill>
                <a:latin typeface="微软雅黑"/>
                <a:ea typeface="微软雅黑"/>
                <a:cs typeface="微软雅黑"/>
                <a:sym typeface="微软雅黑"/>
              </a:endParaRPr>
            </a:p>
          </p:txBody>
        </p:sp>
      </p:grpSp>
      <p:grpSp>
        <p:nvGrpSpPr>
          <p:cNvPr id="25" name="组合 24"/>
          <p:cNvGrpSpPr/>
          <p:nvPr/>
        </p:nvGrpSpPr>
        <p:grpSpPr>
          <a:xfrm rot="2880000">
            <a:off x="6420485" y="2430780"/>
            <a:ext cx="646430" cy="185420"/>
            <a:chOff x="6712" y="1983"/>
            <a:chExt cx="1018" cy="292"/>
          </a:xfrm>
        </p:grpSpPr>
        <p:sp>
          <p:nvSpPr>
            <p:cNvPr id="27" name="燕尾形 26"/>
            <p:cNvSpPr/>
            <p:nvPr>
              <p:custDataLst>
                <p:tags r:id="rId20"/>
              </p:custDataLst>
            </p:nvPr>
          </p:nvSpPr>
          <p:spPr>
            <a:xfrm rot="10800000">
              <a:off x="7081" y="1983"/>
              <a:ext cx="417" cy="292"/>
            </a:xfrm>
            <a:prstGeom prst="chevron">
              <a:avLst/>
            </a:prstGeom>
            <a:gradFill>
              <a:gsLst>
                <a:gs pos="0">
                  <a:srgbClr val="668EFF">
                    <a:alpha val="5000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8" name="燕尾形 27"/>
            <p:cNvSpPr/>
            <p:nvPr>
              <p:custDataLst>
                <p:tags r:id="rId21"/>
              </p:custDataLst>
            </p:nvPr>
          </p:nvSpPr>
          <p:spPr>
            <a:xfrm rot="10800000">
              <a:off x="7458" y="1983"/>
              <a:ext cx="273" cy="292"/>
            </a:xfrm>
            <a:prstGeom prst="chevron">
              <a:avLst/>
            </a:prstGeom>
            <a:gradFill>
              <a:gsLst>
                <a:gs pos="0">
                  <a:srgbClr val="668EFF">
                    <a:alpha val="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9" name="燕尾形 28"/>
            <p:cNvSpPr/>
            <p:nvPr>
              <p:custDataLst>
                <p:tags r:id="rId22"/>
              </p:custDataLst>
            </p:nvPr>
          </p:nvSpPr>
          <p:spPr>
            <a:xfrm rot="10800000">
              <a:off x="6712" y="1983"/>
              <a:ext cx="417" cy="292"/>
            </a:xfrm>
            <a:prstGeom prst="chevron">
              <a:avLst/>
            </a:prstGeom>
            <a:gradFill>
              <a:gsLst>
                <a:gs pos="0">
                  <a:srgbClr val="3368FF">
                    <a:alpha val="5000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grpSp>
        <p:nvGrpSpPr>
          <p:cNvPr id="35" name="组合 34"/>
          <p:cNvGrpSpPr/>
          <p:nvPr/>
        </p:nvGrpSpPr>
        <p:grpSpPr>
          <a:xfrm rot="8100000">
            <a:off x="6457315" y="3796030"/>
            <a:ext cx="646430" cy="185420"/>
            <a:chOff x="6712" y="1983"/>
            <a:chExt cx="1018" cy="292"/>
          </a:xfrm>
        </p:grpSpPr>
        <p:sp>
          <p:nvSpPr>
            <p:cNvPr id="36" name="燕尾形 35"/>
            <p:cNvSpPr/>
            <p:nvPr>
              <p:custDataLst>
                <p:tags r:id="rId23"/>
              </p:custDataLst>
            </p:nvPr>
          </p:nvSpPr>
          <p:spPr>
            <a:xfrm rot="10800000">
              <a:off x="7081" y="1983"/>
              <a:ext cx="417" cy="292"/>
            </a:xfrm>
            <a:prstGeom prst="chevron">
              <a:avLst/>
            </a:prstGeom>
            <a:gradFill>
              <a:gsLst>
                <a:gs pos="0">
                  <a:srgbClr val="668EFF">
                    <a:alpha val="5000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7" name="燕尾形 36"/>
            <p:cNvSpPr/>
            <p:nvPr>
              <p:custDataLst>
                <p:tags r:id="rId24"/>
              </p:custDataLst>
            </p:nvPr>
          </p:nvSpPr>
          <p:spPr>
            <a:xfrm rot="10800000">
              <a:off x="7458" y="1983"/>
              <a:ext cx="273" cy="292"/>
            </a:xfrm>
            <a:prstGeom prst="chevron">
              <a:avLst/>
            </a:prstGeom>
            <a:gradFill>
              <a:gsLst>
                <a:gs pos="0">
                  <a:srgbClr val="668EFF">
                    <a:alpha val="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8" name="燕尾形 37"/>
            <p:cNvSpPr/>
            <p:nvPr>
              <p:custDataLst>
                <p:tags r:id="rId25"/>
              </p:custDataLst>
            </p:nvPr>
          </p:nvSpPr>
          <p:spPr>
            <a:xfrm rot="10800000">
              <a:off x="6712" y="1983"/>
              <a:ext cx="417" cy="292"/>
            </a:xfrm>
            <a:prstGeom prst="chevron">
              <a:avLst/>
            </a:prstGeom>
            <a:gradFill>
              <a:gsLst>
                <a:gs pos="0">
                  <a:srgbClr val="3368FF">
                    <a:alpha val="5000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grpSp>
        <p:nvGrpSpPr>
          <p:cNvPr id="43" name="组合 42"/>
          <p:cNvGrpSpPr/>
          <p:nvPr/>
        </p:nvGrpSpPr>
        <p:grpSpPr>
          <a:xfrm rot="13560000">
            <a:off x="5046345" y="3808095"/>
            <a:ext cx="646430" cy="185420"/>
            <a:chOff x="6712" y="1983"/>
            <a:chExt cx="1018" cy="292"/>
          </a:xfrm>
        </p:grpSpPr>
        <p:sp>
          <p:nvSpPr>
            <p:cNvPr id="53" name="燕尾形 52"/>
            <p:cNvSpPr/>
            <p:nvPr>
              <p:custDataLst>
                <p:tags r:id="rId26"/>
              </p:custDataLst>
            </p:nvPr>
          </p:nvSpPr>
          <p:spPr>
            <a:xfrm rot="10800000">
              <a:off x="7081" y="1983"/>
              <a:ext cx="417" cy="292"/>
            </a:xfrm>
            <a:prstGeom prst="chevron">
              <a:avLst/>
            </a:prstGeom>
            <a:gradFill>
              <a:gsLst>
                <a:gs pos="0">
                  <a:srgbClr val="668EFF">
                    <a:alpha val="5000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4" name="燕尾形 53"/>
            <p:cNvSpPr/>
            <p:nvPr>
              <p:custDataLst>
                <p:tags r:id="rId27"/>
              </p:custDataLst>
            </p:nvPr>
          </p:nvSpPr>
          <p:spPr>
            <a:xfrm rot="10800000">
              <a:off x="7458" y="1983"/>
              <a:ext cx="273" cy="292"/>
            </a:xfrm>
            <a:prstGeom prst="chevron">
              <a:avLst/>
            </a:prstGeom>
            <a:gradFill>
              <a:gsLst>
                <a:gs pos="0">
                  <a:srgbClr val="668EFF">
                    <a:alpha val="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55" name="燕尾形 54"/>
            <p:cNvSpPr/>
            <p:nvPr>
              <p:custDataLst>
                <p:tags r:id="rId28"/>
              </p:custDataLst>
            </p:nvPr>
          </p:nvSpPr>
          <p:spPr>
            <a:xfrm rot="10800000">
              <a:off x="6712" y="1983"/>
              <a:ext cx="417" cy="292"/>
            </a:xfrm>
            <a:prstGeom prst="chevron">
              <a:avLst/>
            </a:prstGeom>
            <a:gradFill>
              <a:gsLst>
                <a:gs pos="0">
                  <a:srgbClr val="3368FF">
                    <a:alpha val="5000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sp>
        <p:nvSpPr>
          <p:cNvPr id="56" name="椭圆 55"/>
          <p:cNvSpPr/>
          <p:nvPr/>
        </p:nvSpPr>
        <p:spPr>
          <a:xfrm>
            <a:off x="5950268" y="4395470"/>
            <a:ext cx="174625" cy="174625"/>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21" name="图片 20"/>
            <p:cNvPicPr>
              <a:picLocks noChangeAspect="1"/>
            </p:cNvPicPr>
            <p:nvPr userDrawn="1"/>
          </p:nvPicPr>
          <p:blipFill>
            <a:blip r:embed="rId29"/>
            <a:srcRect l="17002" t="-1765" r="56499" b="-1176"/>
            <a:stretch>
              <a:fillRect/>
            </a:stretch>
          </p:blipFill>
          <p:spPr>
            <a:xfrm>
              <a:off x="13761" y="549"/>
              <a:ext cx="1582" cy="525"/>
            </a:xfrm>
            <a:prstGeom prst="rect">
              <a:avLst/>
            </a:prstGeom>
          </p:spPr>
        </p:pic>
        <p:sp>
          <p:nvSpPr>
            <p:cNvPr id="24" name="文本框 2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7" name="组合 636"/>
          <p:cNvGrpSpPr/>
          <p:nvPr/>
        </p:nvGrpSpPr>
        <p:grpSpPr>
          <a:xfrm>
            <a:off x="2613660" y="1157605"/>
            <a:ext cx="9131300" cy="1296000"/>
            <a:chOff x="4116" y="1834"/>
            <a:chExt cx="14380" cy="2108"/>
          </a:xfrm>
        </p:grpSpPr>
        <p:sp>
          <p:nvSpPr>
            <p:cNvPr id="635" name="熊大的PPT宝库6"/>
            <p:cNvSpPr/>
            <p:nvPr/>
          </p:nvSpPr>
          <p:spPr>
            <a:xfrm>
              <a:off x="4116" y="1834"/>
              <a:ext cx="14379" cy="2108"/>
            </a:xfrm>
            <a:prstGeom prst="roundRect">
              <a:avLst>
                <a:gd name="adj" fmla="val 0"/>
              </a:avLst>
            </a:prstGeom>
            <a:gradFill>
              <a:gsLst>
                <a:gs pos="11000">
                  <a:srgbClr val="E6E6E6">
                    <a:alpha val="0"/>
                  </a:srgbClr>
                </a:gs>
                <a:gs pos="100000">
                  <a:srgbClr val="E6E6E6">
                    <a:alpha val="50000"/>
                  </a:srgbClr>
                </a:gs>
              </a:gsLst>
              <a:lin ang="0" scaled="0"/>
            </a:gradFill>
            <a:ln w="9525"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defTabSz="457200">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36" name="熊大的PPT宝库7"/>
            <p:cNvSpPr/>
            <p:nvPr/>
          </p:nvSpPr>
          <p:spPr>
            <a:xfrm flipV="1">
              <a:off x="18384" y="1834"/>
              <a:ext cx="113" cy="2108"/>
            </a:xfrm>
            <a:prstGeom prst="roundRect">
              <a:avLst>
                <a:gd name="adj" fmla="val 0"/>
              </a:avLst>
            </a:prstGeom>
            <a:gradFill>
              <a:gsLst>
                <a:gs pos="0">
                  <a:srgbClr val="3368FF"/>
                </a:gs>
                <a:gs pos="78000">
                  <a:srgbClr val="0042FF"/>
                </a:gs>
              </a:gsLst>
              <a:lin ang="5400000" scaled="0"/>
            </a:gradFill>
            <a:ln w="9525"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grpSp>
      <p:grpSp>
        <p:nvGrpSpPr>
          <p:cNvPr id="644" name="组合 643"/>
          <p:cNvGrpSpPr/>
          <p:nvPr/>
        </p:nvGrpSpPr>
        <p:grpSpPr>
          <a:xfrm>
            <a:off x="2613660" y="5261575"/>
            <a:ext cx="9131300" cy="1295400"/>
            <a:chOff x="4116" y="1834"/>
            <a:chExt cx="14380" cy="2108"/>
          </a:xfrm>
        </p:grpSpPr>
        <p:sp>
          <p:nvSpPr>
            <p:cNvPr id="645" name="熊大的PPT宝库6"/>
            <p:cNvSpPr/>
            <p:nvPr/>
          </p:nvSpPr>
          <p:spPr>
            <a:xfrm>
              <a:off x="4116" y="1834"/>
              <a:ext cx="14379" cy="2108"/>
            </a:xfrm>
            <a:prstGeom prst="roundRect">
              <a:avLst>
                <a:gd name="adj" fmla="val 0"/>
              </a:avLst>
            </a:prstGeom>
            <a:gradFill>
              <a:gsLst>
                <a:gs pos="11000">
                  <a:srgbClr val="E6E6E6">
                    <a:alpha val="0"/>
                  </a:srgbClr>
                </a:gs>
                <a:gs pos="100000">
                  <a:srgbClr val="E6E6E6">
                    <a:alpha val="50000"/>
                  </a:srgbClr>
                </a:gs>
              </a:gsLst>
              <a:lin ang="0" scaled="0"/>
            </a:gradFill>
            <a:ln w="9525"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defTabSz="457200">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46" name="熊大的PPT宝库7"/>
            <p:cNvSpPr/>
            <p:nvPr/>
          </p:nvSpPr>
          <p:spPr>
            <a:xfrm flipV="1">
              <a:off x="18384" y="1834"/>
              <a:ext cx="113" cy="2108"/>
            </a:xfrm>
            <a:prstGeom prst="roundRect">
              <a:avLst>
                <a:gd name="adj" fmla="val 0"/>
              </a:avLst>
            </a:prstGeom>
            <a:gradFill>
              <a:gsLst>
                <a:gs pos="0">
                  <a:srgbClr val="0042FF">
                    <a:alpha val="67000"/>
                  </a:srgbClr>
                </a:gs>
                <a:gs pos="78000">
                  <a:srgbClr val="0042FF"/>
                </a:gs>
              </a:gsLst>
              <a:lin ang="5400000" scaled="0"/>
            </a:gradFill>
            <a:ln w="9525"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grpSp>
      <p:grpSp>
        <p:nvGrpSpPr>
          <p:cNvPr id="641" name="组合 640"/>
          <p:cNvGrpSpPr/>
          <p:nvPr/>
        </p:nvGrpSpPr>
        <p:grpSpPr>
          <a:xfrm>
            <a:off x="2613660" y="3893785"/>
            <a:ext cx="9131300" cy="1295400"/>
            <a:chOff x="4116" y="1834"/>
            <a:chExt cx="14380" cy="2108"/>
          </a:xfrm>
        </p:grpSpPr>
        <p:sp>
          <p:nvSpPr>
            <p:cNvPr id="642" name="熊大的PPT宝库6"/>
            <p:cNvSpPr/>
            <p:nvPr/>
          </p:nvSpPr>
          <p:spPr>
            <a:xfrm>
              <a:off x="4116" y="1834"/>
              <a:ext cx="14379" cy="2108"/>
            </a:xfrm>
            <a:prstGeom prst="roundRect">
              <a:avLst>
                <a:gd name="adj" fmla="val 0"/>
              </a:avLst>
            </a:prstGeom>
            <a:gradFill>
              <a:gsLst>
                <a:gs pos="11000">
                  <a:srgbClr val="FFFFFF">
                    <a:alpha val="0"/>
                  </a:srgbClr>
                </a:gs>
                <a:gs pos="100000">
                  <a:srgbClr val="FFFFFF">
                    <a:alpha val="50000"/>
                  </a:srgbClr>
                </a:gs>
              </a:gsLst>
              <a:lin ang="0" scaled="0"/>
            </a:gradFill>
            <a:ln w="9525"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defTabSz="457200">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43" name="熊大的PPT宝库7"/>
            <p:cNvSpPr/>
            <p:nvPr/>
          </p:nvSpPr>
          <p:spPr>
            <a:xfrm flipV="1">
              <a:off x="18384" y="1834"/>
              <a:ext cx="113" cy="2108"/>
            </a:xfrm>
            <a:prstGeom prst="roundRect">
              <a:avLst>
                <a:gd name="adj" fmla="val 0"/>
              </a:avLst>
            </a:prstGeom>
            <a:gradFill>
              <a:gsLst>
                <a:gs pos="0">
                  <a:srgbClr val="B3D4FE"/>
                </a:gs>
                <a:gs pos="78000">
                  <a:srgbClr val="3368FF"/>
                </a:gs>
              </a:gsLst>
              <a:lin ang="5400000" scaled="0"/>
            </a:gradFill>
            <a:ln w="9525"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grpSp>
      <p:grpSp>
        <p:nvGrpSpPr>
          <p:cNvPr id="638" name="组合 637"/>
          <p:cNvGrpSpPr/>
          <p:nvPr/>
        </p:nvGrpSpPr>
        <p:grpSpPr>
          <a:xfrm>
            <a:off x="2613660" y="2525995"/>
            <a:ext cx="9131300" cy="1295400"/>
            <a:chOff x="4116" y="1834"/>
            <a:chExt cx="14380" cy="2108"/>
          </a:xfrm>
        </p:grpSpPr>
        <p:sp>
          <p:nvSpPr>
            <p:cNvPr id="639" name="熊大的PPT宝库6"/>
            <p:cNvSpPr/>
            <p:nvPr/>
          </p:nvSpPr>
          <p:spPr>
            <a:xfrm>
              <a:off x="4116" y="1834"/>
              <a:ext cx="14379" cy="2108"/>
            </a:xfrm>
            <a:prstGeom prst="roundRect">
              <a:avLst>
                <a:gd name="adj" fmla="val 0"/>
              </a:avLst>
            </a:prstGeom>
            <a:gradFill>
              <a:gsLst>
                <a:gs pos="11000">
                  <a:srgbClr val="FFFFFF">
                    <a:alpha val="0"/>
                  </a:srgbClr>
                </a:gs>
                <a:gs pos="100000">
                  <a:srgbClr val="FFFFFF">
                    <a:alpha val="50000"/>
                  </a:srgbClr>
                </a:gs>
              </a:gsLst>
              <a:lin ang="0" scaled="0"/>
            </a:gradFill>
            <a:ln w="9525" cap="flat">
              <a:noFill/>
              <a:prstDash val="solid"/>
              <a:miter/>
            </a:ln>
          </p:spPr>
          <p:txBody>
            <a:bodyPr rot="0" spcFirstLastPara="0" vertOverflow="overflow" horzOverflow="overflow" vert="horz" wrap="square" lIns="0" tIns="0" rIns="0" bIns="0" numCol="1" spcCol="0" rtlCol="0" fromWordArt="0" anchor="ctr" anchorCtr="0" forceAA="0" compatLnSpc="1">
              <a:noAutofit/>
            </a:bodyPr>
            <a:lstStyle/>
            <a:p>
              <a:pPr defTabSz="457200">
                <a:defRPr>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40" name="熊大的PPT宝库7"/>
            <p:cNvSpPr/>
            <p:nvPr/>
          </p:nvSpPr>
          <p:spPr>
            <a:xfrm flipV="1">
              <a:off x="18384" y="1834"/>
              <a:ext cx="113" cy="2108"/>
            </a:xfrm>
            <a:prstGeom prst="roundRect">
              <a:avLst>
                <a:gd name="adj" fmla="val 0"/>
              </a:avLst>
            </a:prstGeom>
            <a:gradFill>
              <a:gsLst>
                <a:gs pos="0">
                  <a:srgbClr val="B3D4FE"/>
                </a:gs>
                <a:gs pos="78000">
                  <a:srgbClr val="3368FF"/>
                </a:gs>
              </a:gsLst>
              <a:lin ang="5400000" scaled="0"/>
            </a:gradFill>
            <a:ln w="9525"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grpSp>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a:solidFill>
                  <a:srgbClr val="383838"/>
                </a:solidFill>
                <a:effectLst/>
                <a:latin typeface="微软雅黑"/>
                <a:ea typeface="微软雅黑"/>
                <a:cs typeface="微软雅黑"/>
                <a:sym typeface="微软雅黑"/>
              </a:rPr>
              <a:t>运营管理的</a:t>
            </a:r>
            <a:r>
              <a:rPr lang="zh-CN" altLang="en-US" sz="2500" dirty="0">
                <a:solidFill>
                  <a:srgbClr val="383838"/>
                </a:solidFill>
                <a:effectLst/>
                <a:latin typeface="微软雅黑"/>
                <a:ea typeface="微软雅黑"/>
                <a:cs typeface="微软雅黑"/>
              </a:rPr>
              <a:t>一核四维三翼</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 name="椭圆 5"/>
          <p:cNvSpPr/>
          <p:nvPr/>
        </p:nvSpPr>
        <p:spPr>
          <a:xfrm>
            <a:off x="928370" y="1479550"/>
            <a:ext cx="4720590" cy="4720590"/>
          </a:xfrm>
          <a:prstGeom prst="ellipse">
            <a:avLst/>
          </a:prstGeom>
          <a:solidFill>
            <a:srgbClr val="E6E6E6">
              <a:alpha val="44000"/>
            </a:srgbClr>
          </a:solidFill>
          <a:ln w="3175">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 name="椭圆 1"/>
          <p:cNvSpPr/>
          <p:nvPr/>
        </p:nvSpPr>
        <p:spPr>
          <a:xfrm>
            <a:off x="2056130" y="2607310"/>
            <a:ext cx="2465705" cy="2465705"/>
          </a:xfrm>
          <a:prstGeom prst="ellipse">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cxnSp>
        <p:nvCxnSpPr>
          <p:cNvPr id="63" name="直接连接符 62"/>
          <p:cNvCxnSpPr/>
          <p:nvPr/>
        </p:nvCxnSpPr>
        <p:spPr>
          <a:xfrm flipH="1" flipV="1">
            <a:off x="968375" y="3425190"/>
            <a:ext cx="604520" cy="95885"/>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65" name="直接连接符 64"/>
          <p:cNvCxnSpPr/>
          <p:nvPr/>
        </p:nvCxnSpPr>
        <p:spPr>
          <a:xfrm flipH="1" flipV="1">
            <a:off x="3258820" y="1479550"/>
            <a:ext cx="4445" cy="112776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66" name="直接连接符 65"/>
          <p:cNvCxnSpPr/>
          <p:nvPr/>
        </p:nvCxnSpPr>
        <p:spPr>
          <a:xfrm flipV="1">
            <a:off x="4371975" y="1997710"/>
            <a:ext cx="405765" cy="50165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67" name="直接连接符 66"/>
          <p:cNvCxnSpPr/>
          <p:nvPr/>
        </p:nvCxnSpPr>
        <p:spPr>
          <a:xfrm flipV="1">
            <a:off x="4967605" y="3429000"/>
            <a:ext cx="598170" cy="92075"/>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68" name="直接连接符 67"/>
          <p:cNvCxnSpPr/>
          <p:nvPr/>
        </p:nvCxnSpPr>
        <p:spPr>
          <a:xfrm>
            <a:off x="4369435" y="4437380"/>
            <a:ext cx="965835" cy="54737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69" name="直接连接符 68"/>
          <p:cNvCxnSpPr/>
          <p:nvPr/>
        </p:nvCxnSpPr>
        <p:spPr>
          <a:xfrm>
            <a:off x="3853815" y="5438775"/>
            <a:ext cx="243840" cy="59944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70" name="直接连接符 69"/>
          <p:cNvCxnSpPr/>
          <p:nvPr/>
        </p:nvCxnSpPr>
        <p:spPr>
          <a:xfrm flipH="1">
            <a:off x="2492375" y="5438775"/>
            <a:ext cx="213360" cy="61468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sp>
        <p:nvSpPr>
          <p:cNvPr id="23" name="文本框 22"/>
          <p:cNvSpPr txBox="1"/>
          <p:nvPr/>
        </p:nvSpPr>
        <p:spPr>
          <a:xfrm rot="15480000">
            <a:off x="762000" y="3963035"/>
            <a:ext cx="1070610" cy="398780"/>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流程再造</a:t>
            </a: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sz="1000">
                <a:solidFill>
                  <a:srgbClr val="383838"/>
                </a:solidFill>
                <a:latin typeface="微软雅黑"/>
                <a:ea typeface="微软雅黑"/>
                <a:cs typeface="微软雅黑"/>
              </a:rPr>
              <a:t>打破部门的墙</a:t>
            </a:r>
            <a:endParaRPr lang="zh-CN" sz="1000">
              <a:solidFill>
                <a:srgbClr val="383838"/>
              </a:solidFill>
              <a:latin typeface="微软雅黑"/>
              <a:ea typeface="微软雅黑"/>
              <a:cs typeface="微软雅黑"/>
            </a:endParaRPr>
          </a:p>
        </p:txBody>
      </p:sp>
      <p:sp>
        <p:nvSpPr>
          <p:cNvPr id="24" name="文本框 23"/>
          <p:cNvSpPr txBox="1"/>
          <p:nvPr/>
        </p:nvSpPr>
        <p:spPr>
          <a:xfrm rot="18180000">
            <a:off x="1000125" y="2599690"/>
            <a:ext cx="1070610" cy="398780"/>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成本工程</a:t>
            </a: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sz="1000">
                <a:solidFill>
                  <a:srgbClr val="383838"/>
                </a:solidFill>
                <a:latin typeface="微软雅黑"/>
                <a:ea typeface="微软雅黑"/>
                <a:cs typeface="微软雅黑"/>
              </a:rPr>
              <a:t>构建成本优势</a:t>
            </a:r>
            <a:endParaRPr lang="zh-CN" sz="1000">
              <a:solidFill>
                <a:srgbClr val="383838"/>
              </a:solidFill>
              <a:latin typeface="微软雅黑"/>
              <a:ea typeface="微软雅黑"/>
              <a:cs typeface="微软雅黑"/>
            </a:endParaRPr>
          </a:p>
        </p:txBody>
      </p:sp>
      <p:sp>
        <p:nvSpPr>
          <p:cNvPr id="25" name="文本框 24"/>
          <p:cNvSpPr txBox="1"/>
          <p:nvPr/>
        </p:nvSpPr>
        <p:spPr>
          <a:xfrm rot="20400000">
            <a:off x="2082800" y="1722120"/>
            <a:ext cx="1070610" cy="398780"/>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质量固本</a:t>
            </a: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sz="1000">
                <a:solidFill>
                  <a:srgbClr val="383838"/>
                </a:solidFill>
                <a:latin typeface="微软雅黑"/>
                <a:ea typeface="微软雅黑"/>
                <a:cs typeface="微软雅黑"/>
              </a:rPr>
              <a:t>零缺陷交付</a:t>
            </a:r>
            <a:endParaRPr lang="zh-CN" sz="1000">
              <a:solidFill>
                <a:srgbClr val="383838"/>
              </a:solidFill>
              <a:latin typeface="微软雅黑"/>
              <a:ea typeface="微软雅黑"/>
              <a:cs typeface="微软雅黑"/>
            </a:endParaRPr>
          </a:p>
        </p:txBody>
      </p:sp>
      <p:sp>
        <p:nvSpPr>
          <p:cNvPr id="26" name="文本框 25"/>
          <p:cNvSpPr txBox="1"/>
          <p:nvPr/>
        </p:nvSpPr>
        <p:spPr>
          <a:xfrm rot="1620000">
            <a:off x="3471545" y="1752600"/>
            <a:ext cx="107061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需求深挖</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客户洞见机制</a:t>
            </a:r>
            <a:endParaRPr lang="zh-CN" altLang="en-US" sz="1000">
              <a:solidFill>
                <a:srgbClr val="383838"/>
              </a:solidFill>
              <a:latin typeface="微软雅黑"/>
              <a:ea typeface="微软雅黑"/>
              <a:cs typeface="微软雅黑"/>
            </a:endParaRPr>
          </a:p>
        </p:txBody>
      </p:sp>
      <p:sp>
        <p:nvSpPr>
          <p:cNvPr id="3" name="©显眼包PPT3"/>
          <p:cNvSpPr/>
          <p:nvPr/>
        </p:nvSpPr>
        <p:spPr>
          <a:xfrm>
            <a:off x="2177415" y="2729230"/>
            <a:ext cx="2226945" cy="2226945"/>
          </a:xfrm>
          <a:prstGeom prst="ellipse">
            <a:avLst/>
          </a:prstGeom>
          <a:gradFill flip="none" rotWithShape="1">
            <a:gsLst>
              <a:gs pos="39000">
                <a:srgbClr val="FFFFFF">
                  <a:alpha val="0"/>
                </a:srgbClr>
              </a:gs>
              <a:gs pos="100000">
                <a:srgbClr val="B3D4FE"/>
              </a:gs>
            </a:gsLst>
            <a:path path="circle">
              <a:fillToRect l="50000" t="50000" r="50000" b="50000"/>
            </a:path>
            <a:tileRect/>
          </a:gradFill>
          <a:ln>
            <a:no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sp>
        <p:nvSpPr>
          <p:cNvPr id="56" name="任意多边形 55"/>
          <p:cNvSpPr/>
          <p:nvPr/>
        </p:nvSpPr>
        <p:spPr>
          <a:xfrm rot="7200000">
            <a:off x="3277870" y="2000250"/>
            <a:ext cx="1691640" cy="2632710"/>
          </a:xfrm>
          <a:custGeom>
            <a:avLst/>
            <a:gdLst>
              <a:gd name="adj1" fmla="val 9092596"/>
              <a:gd name="adj2" fmla="val 15834864"/>
              <a:gd name="adj3" fmla="val 3817"/>
              <a:gd name="stAng" fmla="pin 0 adj1 21599999"/>
              <a:gd name="istAng" fmla="pin 0 adj2 21599999"/>
              <a:gd name="a3" fmla="pin 0 adj3 50000"/>
              <a:gd name="sw11" fmla="+- istAng 0 stAng"/>
              <a:gd name="sw12" fmla="+- sw11 21600000 0"/>
              <a:gd name="swAng" fmla="?: sw11 sw11 sw12"/>
              <a:gd name="iswAng" fmla="+- 0 0 swAng"/>
              <a:gd name="wt1" fmla="sin wd2 stAng"/>
              <a:gd name="ht1" fmla="cos hd2 stAng"/>
              <a:gd name="wt3" fmla="sin wd2 istAng"/>
              <a:gd name="ht3" fmla="cos hd2 istAng"/>
              <a:gd name="dx1" fmla="cat2 wd2 ht1 wt1"/>
              <a:gd name="dy1" fmla="sat2 hd2 ht1 wt1"/>
              <a:gd name="dx3" fmla="cat2 wd2 ht3 wt3"/>
              <a:gd name="dy3" fmla="sat2 hd2 ht3 wt3"/>
              <a:gd name="x1" fmla="+- hc dx1 0"/>
              <a:gd name="y1" fmla="+- vc dy1 0"/>
              <a:gd name="x3" fmla="+- hc dx3 0"/>
              <a:gd name="y3" fmla="+- vc dy3 0"/>
              <a:gd name="dr" fmla="*/ ss a3 100000"/>
              <a:gd name="iwd2" fmla="+- wd2 0 dr"/>
              <a:gd name="ihd2" fmla="+- hd2 0 dr"/>
              <a:gd name="wt2" fmla="sin iwd2 istAng"/>
              <a:gd name="ht2" fmla="cos ihd2 istAng"/>
              <a:gd name="wt4" fmla="sin iwd2 stAng"/>
              <a:gd name="ht4" fmla="cos ihd2 stAng"/>
              <a:gd name="dx2" fmla="cat2 iwd2 ht2 wt2"/>
              <a:gd name="dy2" fmla="sat2 ihd2 ht2 wt2"/>
              <a:gd name="dx4" fmla="cat2 iwd2 ht4 wt4"/>
              <a:gd name="dy4" fmla="sat2 ihd2 ht4 wt4"/>
              <a:gd name="x2" fmla="+- hc dx2 0"/>
              <a:gd name="y2" fmla="+- vc dy2 0"/>
              <a:gd name="x4" fmla="+- hc dx4 0"/>
              <a:gd name="y4" fmla="+- vc dy4 0"/>
              <a:gd name="sw0" fmla="+- 21600000 0 stAng"/>
              <a:gd name="da1" fmla="+- swAng 0 sw0"/>
              <a:gd name="g1" fmla="max x1 x2"/>
              <a:gd name="g2" fmla="max x3 x4"/>
              <a:gd name="g3" fmla="max g1 g2"/>
              <a:gd name="ir" fmla="?: da1 r g3"/>
              <a:gd name="sw1" fmla="+- cd4 0 stAng"/>
              <a:gd name="sw2" fmla="+- 27000000 0 stAng"/>
              <a:gd name="sw3" fmla="?: sw1 sw1 sw2"/>
              <a:gd name="da2" fmla="+- swAng 0 sw3"/>
              <a:gd name="g5" fmla="max y1 y2"/>
              <a:gd name="g6" fmla="max y3 y4"/>
              <a:gd name="g7" fmla="max g5 g6"/>
              <a:gd name="ib" fmla="?: da2 b g7"/>
              <a:gd name="sw4" fmla="+- cd2 0 stAng"/>
              <a:gd name="sw5" fmla="+- 32400000 0 stAng"/>
              <a:gd name="sw6" fmla="?: sw4 sw4 sw5"/>
              <a:gd name="da3" fmla="+- swAng 0 sw6"/>
              <a:gd name="g9" fmla="min x1 x2"/>
              <a:gd name="g10" fmla="min x3 x4"/>
              <a:gd name="g11" fmla="min g9 g10"/>
              <a:gd name="il" fmla="?: da3 l g11"/>
              <a:gd name="sw7" fmla="+- 3 0 stAng"/>
              <a:gd name="sw8" fmla="+- 37800000 0 stAng"/>
              <a:gd name="sw9" fmla="?: sw7 sw7 sw8"/>
              <a:gd name="da4" fmla="+- swAng 0 sw9"/>
              <a:gd name="g13" fmla="min y1 y2"/>
              <a:gd name="g14" fmla="min y3 y4"/>
              <a:gd name="g15" fmla="min g13 g14"/>
              <a:gd name="it" fmla="?: da4 t g15"/>
              <a:gd name="x5" fmla="+/ x1 x4 2"/>
              <a:gd name="y5" fmla="+/ y1 y4 2"/>
              <a:gd name="x6" fmla="+/ x3 x2 2"/>
              <a:gd name="y6" fmla="+/ y3 y2 2"/>
              <a:gd name="cang1" fmla="+- stAng 0 cd4"/>
              <a:gd name="cang2" fmla="+- istAng cd4 0"/>
              <a:gd name="cang3" fmla="+/ cang1 cang2 2"/>
            </a:gdLst>
            <a:ahLst/>
            <a:cxnLst>
              <a:cxn ang="cang1">
                <a:pos x="x5" y="y5"/>
              </a:cxn>
              <a:cxn ang="cang2">
                <a:pos x="x6" y="y6"/>
              </a:cxn>
              <a:cxn ang="cang3">
                <a:pos x="hc" y="vc"/>
              </a:cxn>
            </a:cxnLst>
            <a:rect l="l" t="t" r="r" b="b"/>
            <a:pathLst>
              <a:path w="2667" h="4146">
                <a:moveTo>
                  <a:pt x="324" y="4146"/>
                </a:moveTo>
                <a:cubicBezTo>
                  <a:pt x="114" y="3774"/>
                  <a:pt x="-4" y="3287"/>
                  <a:pt x="0" y="2866"/>
                </a:cubicBezTo>
                <a:cubicBezTo>
                  <a:pt x="-77" y="1465"/>
                  <a:pt x="1241" y="285"/>
                  <a:pt x="2346" y="202"/>
                </a:cubicBezTo>
                <a:lnTo>
                  <a:pt x="2349" y="0"/>
                </a:lnTo>
                <a:lnTo>
                  <a:pt x="2664" y="295"/>
                </a:lnTo>
                <a:lnTo>
                  <a:pt x="2339" y="578"/>
                </a:lnTo>
                <a:lnTo>
                  <a:pt x="2342" y="410"/>
                </a:lnTo>
                <a:cubicBezTo>
                  <a:pt x="1154" y="524"/>
                  <a:pt x="162" y="1722"/>
                  <a:pt x="206" y="2867"/>
                </a:cubicBezTo>
                <a:cubicBezTo>
                  <a:pt x="200" y="3291"/>
                  <a:pt x="330" y="3732"/>
                  <a:pt x="505" y="4049"/>
                </a:cubicBezTo>
                <a:lnTo>
                  <a:pt x="324" y="4146"/>
                </a:lnTo>
                <a:close/>
              </a:path>
            </a:pathLst>
          </a:custGeom>
          <a:gradFill>
            <a:gsLst>
              <a:gs pos="0">
                <a:srgbClr val="0042FF"/>
              </a:gs>
              <a:gs pos="100000">
                <a:srgbClr val="668E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53" name="任意多边形 152"/>
          <p:cNvSpPr/>
          <p:nvPr/>
        </p:nvSpPr>
        <p:spPr>
          <a:xfrm rot="7200000">
            <a:off x="2395220" y="3564255"/>
            <a:ext cx="1668780" cy="2468880"/>
          </a:xfrm>
          <a:custGeom>
            <a:avLst/>
            <a:gdLst>
              <a:gd name="adj1" fmla="val 16279792"/>
              <a:gd name="adj2" fmla="val 1457264"/>
              <a:gd name="adj3" fmla="val 3829"/>
              <a:gd name="stAng" fmla="pin 0 adj1 21599999"/>
              <a:gd name="istAng" fmla="pin 0 adj2 21599999"/>
              <a:gd name="a3" fmla="pin 0 adj3 50000"/>
              <a:gd name="sw11" fmla="+- istAng 0 stAng"/>
              <a:gd name="sw12" fmla="+- sw11 21600000 0"/>
              <a:gd name="swAng" fmla="?: sw11 sw11 sw12"/>
              <a:gd name="iswAng" fmla="+- 0 0 swAng"/>
              <a:gd name="wt1" fmla="sin wd2 stAng"/>
              <a:gd name="ht1" fmla="cos hd2 stAng"/>
              <a:gd name="wt3" fmla="sin wd2 istAng"/>
              <a:gd name="ht3" fmla="cos hd2 istAng"/>
              <a:gd name="dx1" fmla="cat2 wd2 ht1 wt1"/>
              <a:gd name="dy1" fmla="sat2 hd2 ht1 wt1"/>
              <a:gd name="dx3" fmla="cat2 wd2 ht3 wt3"/>
              <a:gd name="dy3" fmla="sat2 hd2 ht3 wt3"/>
              <a:gd name="x1" fmla="+- hc dx1 0"/>
              <a:gd name="y1" fmla="+- vc dy1 0"/>
              <a:gd name="x3" fmla="+- hc dx3 0"/>
              <a:gd name="y3" fmla="+- vc dy3 0"/>
              <a:gd name="dr" fmla="*/ ss a3 100000"/>
              <a:gd name="iwd2" fmla="+- wd2 0 dr"/>
              <a:gd name="ihd2" fmla="+- hd2 0 dr"/>
              <a:gd name="wt2" fmla="sin iwd2 istAng"/>
              <a:gd name="ht2" fmla="cos ihd2 istAng"/>
              <a:gd name="wt4" fmla="sin iwd2 stAng"/>
              <a:gd name="ht4" fmla="cos ihd2 stAng"/>
              <a:gd name="dx2" fmla="cat2 iwd2 ht2 wt2"/>
              <a:gd name="dy2" fmla="sat2 ihd2 ht2 wt2"/>
              <a:gd name="dx4" fmla="cat2 iwd2 ht4 wt4"/>
              <a:gd name="dy4" fmla="sat2 ihd2 ht4 wt4"/>
              <a:gd name="x2" fmla="+- hc dx2 0"/>
              <a:gd name="y2" fmla="+- vc dy2 0"/>
              <a:gd name="x4" fmla="+- hc dx4 0"/>
              <a:gd name="y4" fmla="+- vc dy4 0"/>
              <a:gd name="sw0" fmla="+- 21600000 0 stAng"/>
              <a:gd name="da1" fmla="+- swAng 0 sw0"/>
              <a:gd name="g1" fmla="max x1 x2"/>
              <a:gd name="g2" fmla="max x3 x4"/>
              <a:gd name="g3" fmla="max g1 g2"/>
              <a:gd name="ir" fmla="?: da1 r g3"/>
              <a:gd name="sw1" fmla="+- cd4 0 stAng"/>
              <a:gd name="sw2" fmla="+- 27000000 0 stAng"/>
              <a:gd name="sw3" fmla="?: sw1 sw1 sw2"/>
              <a:gd name="da2" fmla="+- swAng 0 sw3"/>
              <a:gd name="g5" fmla="max y1 y2"/>
              <a:gd name="g6" fmla="max y3 y4"/>
              <a:gd name="g7" fmla="max g5 g6"/>
              <a:gd name="ib" fmla="?: da2 b g7"/>
              <a:gd name="sw4" fmla="+- cd2 0 stAng"/>
              <a:gd name="sw5" fmla="+- 32400000 0 stAng"/>
              <a:gd name="sw6" fmla="?: sw4 sw4 sw5"/>
              <a:gd name="da3" fmla="+- swAng 0 sw6"/>
              <a:gd name="g9" fmla="min x1 x2"/>
              <a:gd name="g10" fmla="min x3 x4"/>
              <a:gd name="g11" fmla="min g9 g10"/>
              <a:gd name="il" fmla="?: da3 l g11"/>
              <a:gd name="sw7" fmla="+- 3 0 stAng"/>
              <a:gd name="sw8" fmla="+- 37800000 0 stAng"/>
              <a:gd name="sw9" fmla="?: sw7 sw7 sw8"/>
              <a:gd name="da4" fmla="+- swAng 0 sw9"/>
              <a:gd name="g13" fmla="min y1 y2"/>
              <a:gd name="g14" fmla="min y3 y4"/>
              <a:gd name="g15" fmla="min g13 g14"/>
              <a:gd name="it" fmla="?: da4 t g15"/>
              <a:gd name="x5" fmla="+/ x1 x4 2"/>
              <a:gd name="y5" fmla="+/ y1 y4 2"/>
              <a:gd name="x6" fmla="+/ x3 x2 2"/>
              <a:gd name="y6" fmla="+/ y3 y2 2"/>
              <a:gd name="cang1" fmla="+- stAng 0 cd4"/>
              <a:gd name="cang2" fmla="+- istAng cd4 0"/>
              <a:gd name="cang3" fmla="+/ cang1 cang2 2"/>
            </a:gdLst>
            <a:ahLst/>
            <a:cxnLst>
              <a:cxn ang="cang1">
                <a:pos x="x5" y="y5"/>
              </a:cxn>
              <a:cxn ang="cang2">
                <a:pos x="x6" y="y6"/>
              </a:cxn>
              <a:cxn ang="cang3">
                <a:pos x="hc" y="vc"/>
              </a:cxn>
            </a:cxnLst>
            <a:rect l="l" t="t" r="r" b="b"/>
            <a:pathLst>
              <a:path w="2629" h="3888">
                <a:moveTo>
                  <a:pt x="5" y="0"/>
                </a:moveTo>
                <a:cubicBezTo>
                  <a:pt x="1483" y="-12"/>
                  <a:pt x="2664" y="1352"/>
                  <a:pt x="2628" y="2685"/>
                </a:cubicBezTo>
                <a:cubicBezTo>
                  <a:pt x="2636" y="3021"/>
                  <a:pt x="2543" y="3422"/>
                  <a:pt x="2445" y="3662"/>
                </a:cubicBezTo>
                <a:lnTo>
                  <a:pt x="2622" y="3777"/>
                </a:lnTo>
                <a:lnTo>
                  <a:pt x="2205" y="3888"/>
                </a:lnTo>
                <a:lnTo>
                  <a:pt x="2137" y="3462"/>
                </a:lnTo>
                <a:lnTo>
                  <a:pt x="2268" y="3547"/>
                </a:lnTo>
                <a:cubicBezTo>
                  <a:pt x="2365" y="3299"/>
                  <a:pt x="2426" y="2952"/>
                  <a:pt x="2422" y="2684"/>
                </a:cubicBezTo>
                <a:cubicBezTo>
                  <a:pt x="2464" y="1313"/>
                  <a:pt x="1224" y="200"/>
                  <a:pt x="0" y="205"/>
                </a:cubicBezTo>
                <a:lnTo>
                  <a:pt x="5" y="0"/>
                </a:lnTo>
                <a:close/>
              </a:path>
            </a:pathLst>
          </a:custGeom>
          <a:gradFill>
            <a:gsLst>
              <a:gs pos="100000">
                <a:srgbClr val="0042FF"/>
              </a:gs>
              <a:gs pos="0">
                <a:srgbClr val="668E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55" name="文本框 154"/>
          <p:cNvSpPr txBox="1"/>
          <p:nvPr/>
        </p:nvSpPr>
        <p:spPr>
          <a:xfrm rot="3360000">
            <a:off x="4504055" y="2647315"/>
            <a:ext cx="107061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体验升级</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客户触点</a:t>
            </a:r>
            <a:r>
              <a:rPr lang="en-US" altLang="zh-CN" sz="1000">
                <a:solidFill>
                  <a:srgbClr val="383838"/>
                </a:solidFill>
                <a:latin typeface="微软雅黑"/>
                <a:ea typeface="微软雅黑"/>
                <a:cs typeface="微软雅黑"/>
              </a:rPr>
              <a:t>MOT</a:t>
            </a:r>
            <a:endParaRPr lang="en-US" altLang="zh-CN" sz="1000">
              <a:solidFill>
                <a:srgbClr val="383838"/>
              </a:solidFill>
              <a:latin typeface="微软雅黑"/>
              <a:ea typeface="微软雅黑"/>
              <a:cs typeface="微软雅黑"/>
            </a:endParaRPr>
          </a:p>
        </p:txBody>
      </p:sp>
      <p:sp>
        <p:nvSpPr>
          <p:cNvPr id="76" name="文本框 75"/>
          <p:cNvSpPr txBox="1"/>
          <p:nvPr/>
        </p:nvSpPr>
        <p:spPr>
          <a:xfrm rot="5580000">
            <a:off x="4697095" y="3940810"/>
            <a:ext cx="1155065"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服务延伸</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客户粘性与复购</a:t>
            </a:r>
            <a:endParaRPr lang="zh-CN" altLang="en-US" sz="1000">
              <a:solidFill>
                <a:srgbClr val="383838"/>
              </a:solidFill>
              <a:latin typeface="微软雅黑"/>
              <a:ea typeface="微软雅黑"/>
              <a:cs typeface="微软雅黑"/>
            </a:endParaRPr>
          </a:p>
        </p:txBody>
      </p:sp>
      <p:sp>
        <p:nvSpPr>
          <p:cNvPr id="77" name="文本框 76"/>
          <p:cNvSpPr txBox="1"/>
          <p:nvPr/>
        </p:nvSpPr>
        <p:spPr>
          <a:xfrm rot="2220000">
            <a:off x="1522730" y="5236210"/>
            <a:ext cx="107061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机制激活</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考核与激励</a:t>
            </a:r>
            <a:endParaRPr lang="zh-CN" altLang="en-US" sz="1000">
              <a:solidFill>
                <a:srgbClr val="383838"/>
              </a:solidFill>
              <a:latin typeface="微软雅黑"/>
              <a:ea typeface="微软雅黑"/>
              <a:cs typeface="微软雅黑"/>
            </a:endParaRPr>
          </a:p>
        </p:txBody>
      </p:sp>
      <p:sp>
        <p:nvSpPr>
          <p:cNvPr id="78" name="文本框 77"/>
          <p:cNvSpPr txBox="1"/>
          <p:nvPr/>
        </p:nvSpPr>
        <p:spPr>
          <a:xfrm>
            <a:off x="2807970" y="5639435"/>
            <a:ext cx="1070610" cy="39878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敏捷迭代</a:t>
            </a:r>
            <a:endParaRPr lang="zh-CN" altLang="en-US" sz="100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小步快跑机制</a:t>
            </a:r>
            <a:endParaRPr lang="zh-CN" altLang="en-US" sz="1000">
              <a:solidFill>
                <a:srgbClr val="383838"/>
              </a:solidFill>
              <a:latin typeface="微软雅黑"/>
              <a:ea typeface="微软雅黑"/>
              <a:cs typeface="微软雅黑"/>
            </a:endParaRPr>
          </a:p>
        </p:txBody>
      </p:sp>
      <p:sp>
        <p:nvSpPr>
          <p:cNvPr id="79" name="文本框 78"/>
          <p:cNvSpPr txBox="1"/>
          <p:nvPr/>
        </p:nvSpPr>
        <p:spPr>
          <a:xfrm rot="19260000">
            <a:off x="4035425" y="5226050"/>
            <a:ext cx="107061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赋能授权</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去中心化决策</a:t>
            </a:r>
            <a:endParaRPr lang="zh-CN" altLang="en-US" sz="1000">
              <a:solidFill>
                <a:srgbClr val="383838"/>
              </a:solidFill>
              <a:latin typeface="微软雅黑"/>
              <a:ea typeface="微软雅黑"/>
              <a:cs typeface="微软雅黑"/>
            </a:endParaRPr>
          </a:p>
        </p:txBody>
      </p:sp>
      <p:cxnSp>
        <p:nvCxnSpPr>
          <p:cNvPr id="81" name="直接连接符 80"/>
          <p:cNvCxnSpPr/>
          <p:nvPr/>
        </p:nvCxnSpPr>
        <p:spPr>
          <a:xfrm flipH="1">
            <a:off x="970280" y="5013960"/>
            <a:ext cx="279400" cy="17272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82" name="直接连接符 81"/>
          <p:cNvCxnSpPr/>
          <p:nvPr/>
        </p:nvCxnSpPr>
        <p:spPr>
          <a:xfrm>
            <a:off x="3258185" y="1194435"/>
            <a:ext cx="1270" cy="285115"/>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grpSp>
        <p:nvGrpSpPr>
          <p:cNvPr id="697" name="熊大的PPT宝库51"/>
          <p:cNvGrpSpPr/>
          <p:nvPr/>
        </p:nvGrpSpPr>
        <p:grpSpPr>
          <a:xfrm rot="0">
            <a:off x="5687060" y="1623060"/>
            <a:ext cx="487680" cy="271145"/>
            <a:chOff x="4856673" y="5108015"/>
            <a:chExt cx="487937" cy="271126"/>
          </a:xfrm>
          <a:gradFill>
            <a:gsLst>
              <a:gs pos="0">
                <a:srgbClr val="3368FF">
                  <a:alpha val="0"/>
                </a:srgbClr>
              </a:gs>
              <a:gs pos="100000">
                <a:srgbClr val="0042FF"/>
              </a:gs>
            </a:gsLst>
            <a:lin ang="0" scaled="0"/>
          </a:gradFill>
        </p:grpSpPr>
        <p:grpSp>
          <p:nvGrpSpPr>
            <p:cNvPr id="698" name="图形 6"/>
            <p:cNvGrpSpPr/>
            <p:nvPr/>
          </p:nvGrpSpPr>
          <p:grpSpPr>
            <a:xfrm>
              <a:off x="4856673" y="5108015"/>
              <a:ext cx="189077" cy="271126"/>
              <a:chOff x="4856673" y="5108015"/>
              <a:chExt cx="189077" cy="271126"/>
            </a:xfrm>
            <a:grpFill/>
          </p:grpSpPr>
          <p:sp>
            <p:nvSpPr>
              <p:cNvPr id="699" name="熊大的PPT宝库51-1"/>
              <p:cNvSpPr/>
              <p:nvPr/>
            </p:nvSpPr>
            <p:spPr>
              <a:xfrm>
                <a:off x="489594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0" name="熊大的PPT宝库51-2"/>
              <p:cNvSpPr/>
              <p:nvPr/>
            </p:nvSpPr>
            <p:spPr>
              <a:xfrm>
                <a:off x="493516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1" name="熊大的PPT宝库51-3"/>
              <p:cNvSpPr/>
              <p:nvPr/>
            </p:nvSpPr>
            <p:spPr>
              <a:xfrm>
                <a:off x="485669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2" name="熊大的PPT宝库51-4"/>
              <p:cNvSpPr/>
              <p:nvPr/>
            </p:nvSpPr>
            <p:spPr>
              <a:xfrm>
                <a:off x="489594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3" name="熊大的PPT宝库51-5"/>
              <p:cNvSpPr/>
              <p:nvPr/>
            </p:nvSpPr>
            <p:spPr>
              <a:xfrm>
                <a:off x="4856673"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44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184" y="32114"/>
                      <a:pt x="0" y="24930"/>
                      <a:pt x="0" y="16044"/>
                    </a:cubicBezTo>
                    <a:cubicBezTo>
                      <a:pt x="0" y="7184"/>
                      <a:pt x="7184" y="0"/>
                      <a:pt x="16044"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4" name="熊大的PPT宝库51-6"/>
              <p:cNvSpPr/>
              <p:nvPr/>
            </p:nvSpPr>
            <p:spPr>
              <a:xfrm>
                <a:off x="489594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5" name="熊大的PPT宝库51-7"/>
              <p:cNvSpPr/>
              <p:nvPr/>
            </p:nvSpPr>
            <p:spPr>
              <a:xfrm>
                <a:off x="493516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6" name="熊大的PPT宝库51-8"/>
              <p:cNvSpPr/>
              <p:nvPr/>
            </p:nvSpPr>
            <p:spPr>
              <a:xfrm>
                <a:off x="493516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7" name="熊大的PPT宝库51-9"/>
              <p:cNvSpPr/>
              <p:nvPr/>
            </p:nvSpPr>
            <p:spPr>
              <a:xfrm>
                <a:off x="489594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8" name="熊大的PPT宝库51-10"/>
              <p:cNvSpPr/>
              <p:nvPr/>
            </p:nvSpPr>
            <p:spPr>
              <a:xfrm>
                <a:off x="493516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3" y="32089"/>
                      <a:pt x="0" y="24905"/>
                      <a:pt x="0" y="16044"/>
                    </a:cubicBezTo>
                    <a:cubicBezTo>
                      <a:pt x="0" y="7183"/>
                      <a:pt x="7183" y="0"/>
                      <a:pt x="16044" y="0"/>
                    </a:cubicBezTo>
                    <a:cubicBezTo>
                      <a:pt x="24905" y="0"/>
                      <a:pt x="32089" y="7183"/>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09" name="熊大的PPT宝库51-11"/>
              <p:cNvSpPr/>
              <p:nvPr/>
            </p:nvSpPr>
            <p:spPr>
              <a:xfrm>
                <a:off x="497441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0" name="熊大的PPT宝库51-12"/>
              <p:cNvSpPr/>
              <p:nvPr/>
            </p:nvSpPr>
            <p:spPr>
              <a:xfrm>
                <a:off x="497441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1" name="熊大的PPT宝库51-13"/>
              <p:cNvSpPr/>
              <p:nvPr/>
            </p:nvSpPr>
            <p:spPr>
              <a:xfrm>
                <a:off x="5013637" y="5229311"/>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2" name="熊大的PPT宝库51-14"/>
              <p:cNvSpPr/>
              <p:nvPr/>
            </p:nvSpPr>
            <p:spPr>
              <a:xfrm>
                <a:off x="497441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713" name="图形 6"/>
            <p:cNvGrpSpPr/>
            <p:nvPr/>
          </p:nvGrpSpPr>
          <p:grpSpPr>
            <a:xfrm>
              <a:off x="5001822" y="5108015"/>
              <a:ext cx="189077" cy="271126"/>
              <a:chOff x="5001822" y="5108015"/>
              <a:chExt cx="189077" cy="271126"/>
            </a:xfrm>
            <a:grpFill/>
          </p:grpSpPr>
          <p:sp>
            <p:nvSpPr>
              <p:cNvPr id="714" name="熊大的PPT宝库51-15"/>
              <p:cNvSpPr/>
              <p:nvPr/>
            </p:nvSpPr>
            <p:spPr>
              <a:xfrm>
                <a:off x="504109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5" name="熊大的PPT宝库51-16"/>
              <p:cNvSpPr/>
              <p:nvPr/>
            </p:nvSpPr>
            <p:spPr>
              <a:xfrm>
                <a:off x="5080342"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6" name="熊大的PPT宝库51-17"/>
              <p:cNvSpPr/>
              <p:nvPr/>
            </p:nvSpPr>
            <p:spPr>
              <a:xfrm>
                <a:off x="5001822" y="5343473"/>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7" name="熊大的PPT宝库51-18"/>
              <p:cNvSpPr/>
              <p:nvPr/>
            </p:nvSpPr>
            <p:spPr>
              <a:xfrm>
                <a:off x="504109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8" name="熊大的PPT宝库51-19"/>
              <p:cNvSpPr/>
              <p:nvPr/>
            </p:nvSpPr>
            <p:spPr>
              <a:xfrm>
                <a:off x="5001822"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19" name="熊大的PPT宝库51-20"/>
              <p:cNvSpPr/>
              <p:nvPr/>
            </p:nvSpPr>
            <p:spPr>
              <a:xfrm>
                <a:off x="504109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0" name="熊大的PPT宝库51-21"/>
              <p:cNvSpPr/>
              <p:nvPr/>
            </p:nvSpPr>
            <p:spPr>
              <a:xfrm>
                <a:off x="5080342"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1" name="熊大的PPT宝库51-22"/>
              <p:cNvSpPr/>
              <p:nvPr/>
            </p:nvSpPr>
            <p:spPr>
              <a:xfrm>
                <a:off x="5080342"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2" name="熊大的PPT宝库51-23"/>
              <p:cNvSpPr/>
              <p:nvPr/>
            </p:nvSpPr>
            <p:spPr>
              <a:xfrm>
                <a:off x="504109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3" name="熊大的PPT宝库51-24"/>
              <p:cNvSpPr/>
              <p:nvPr/>
            </p:nvSpPr>
            <p:spPr>
              <a:xfrm>
                <a:off x="5080342"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4" name="熊大的PPT宝库51-25"/>
              <p:cNvSpPr/>
              <p:nvPr/>
            </p:nvSpPr>
            <p:spPr>
              <a:xfrm>
                <a:off x="5119589"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5" name="熊大的PPT宝库51-26"/>
              <p:cNvSpPr/>
              <p:nvPr/>
            </p:nvSpPr>
            <p:spPr>
              <a:xfrm>
                <a:off x="5119589"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6" name="熊大的PPT宝库51-27"/>
              <p:cNvSpPr/>
              <p:nvPr/>
            </p:nvSpPr>
            <p:spPr>
              <a:xfrm>
                <a:off x="5158811"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27" name="熊大的PPT宝库51-28"/>
              <p:cNvSpPr/>
              <p:nvPr/>
            </p:nvSpPr>
            <p:spPr>
              <a:xfrm>
                <a:off x="5119589"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728" name="图形 6"/>
            <p:cNvGrpSpPr/>
            <p:nvPr/>
          </p:nvGrpSpPr>
          <p:grpSpPr>
            <a:xfrm>
              <a:off x="5155558" y="5108015"/>
              <a:ext cx="189052" cy="271126"/>
              <a:chOff x="5155558" y="5108015"/>
              <a:chExt cx="189052" cy="271126"/>
            </a:xfrm>
            <a:grpFill/>
          </p:grpSpPr>
          <p:sp>
            <p:nvSpPr>
              <p:cNvPr id="729" name="熊大的PPT宝库51-29"/>
              <p:cNvSpPr/>
              <p:nvPr/>
            </p:nvSpPr>
            <p:spPr>
              <a:xfrm>
                <a:off x="519480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0" name="熊大的PPT宝库51-30"/>
              <p:cNvSpPr/>
              <p:nvPr/>
            </p:nvSpPr>
            <p:spPr>
              <a:xfrm>
                <a:off x="523402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1" name="熊大的PPT宝库51-31"/>
              <p:cNvSpPr/>
              <p:nvPr/>
            </p:nvSpPr>
            <p:spPr>
              <a:xfrm>
                <a:off x="515555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2" name="熊大的PPT宝库51-32"/>
              <p:cNvSpPr/>
              <p:nvPr/>
            </p:nvSpPr>
            <p:spPr>
              <a:xfrm>
                <a:off x="519480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3" name="熊大的PPT宝库51-33"/>
              <p:cNvSpPr/>
              <p:nvPr/>
            </p:nvSpPr>
            <p:spPr>
              <a:xfrm>
                <a:off x="5155558" y="510801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4" name="熊大的PPT宝库51-34"/>
              <p:cNvSpPr/>
              <p:nvPr/>
            </p:nvSpPr>
            <p:spPr>
              <a:xfrm>
                <a:off x="519480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5" name="熊大的PPT宝库51-35"/>
              <p:cNvSpPr/>
              <p:nvPr/>
            </p:nvSpPr>
            <p:spPr>
              <a:xfrm>
                <a:off x="523402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6" name="熊大的PPT宝库51-36"/>
              <p:cNvSpPr/>
              <p:nvPr/>
            </p:nvSpPr>
            <p:spPr>
              <a:xfrm>
                <a:off x="523402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7" name="熊大的PPT宝库51-37"/>
              <p:cNvSpPr/>
              <p:nvPr/>
            </p:nvSpPr>
            <p:spPr>
              <a:xfrm>
                <a:off x="519480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8" name="熊大的PPT宝库51-38"/>
              <p:cNvSpPr/>
              <p:nvPr/>
            </p:nvSpPr>
            <p:spPr>
              <a:xfrm>
                <a:off x="523402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39" name="熊大的PPT宝库51-39"/>
              <p:cNvSpPr/>
              <p:nvPr/>
            </p:nvSpPr>
            <p:spPr>
              <a:xfrm>
                <a:off x="527327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40" name="熊大的PPT宝库51-40"/>
              <p:cNvSpPr/>
              <p:nvPr/>
            </p:nvSpPr>
            <p:spPr>
              <a:xfrm>
                <a:off x="527327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41" name="熊大的PPT宝库51-41"/>
              <p:cNvSpPr/>
              <p:nvPr/>
            </p:nvSpPr>
            <p:spPr>
              <a:xfrm>
                <a:off x="5312522"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42" name="熊大的PPT宝库51-42"/>
              <p:cNvSpPr/>
              <p:nvPr/>
            </p:nvSpPr>
            <p:spPr>
              <a:xfrm>
                <a:off x="527327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grpSp>
        <p:nvGrpSpPr>
          <p:cNvPr id="745" name="熊大的PPT宝库51"/>
          <p:cNvGrpSpPr/>
          <p:nvPr/>
        </p:nvGrpSpPr>
        <p:grpSpPr>
          <a:xfrm rot="0">
            <a:off x="5687060" y="5727065"/>
            <a:ext cx="487680" cy="271145"/>
            <a:chOff x="4856673" y="5108015"/>
            <a:chExt cx="487937" cy="271126"/>
          </a:xfrm>
          <a:gradFill>
            <a:gsLst>
              <a:gs pos="0">
                <a:srgbClr val="3368FF">
                  <a:alpha val="0"/>
                </a:srgbClr>
              </a:gs>
              <a:gs pos="100000">
                <a:srgbClr val="0042FF"/>
              </a:gs>
            </a:gsLst>
            <a:lin ang="0" scaled="0"/>
          </a:gradFill>
        </p:grpSpPr>
        <p:grpSp>
          <p:nvGrpSpPr>
            <p:cNvPr id="746" name="图形 6"/>
            <p:cNvGrpSpPr/>
            <p:nvPr/>
          </p:nvGrpSpPr>
          <p:grpSpPr>
            <a:xfrm>
              <a:off x="4856673" y="5108015"/>
              <a:ext cx="189077" cy="271126"/>
              <a:chOff x="4856673" y="5108015"/>
              <a:chExt cx="189077" cy="271126"/>
            </a:xfrm>
            <a:grpFill/>
          </p:grpSpPr>
          <p:sp>
            <p:nvSpPr>
              <p:cNvPr id="747" name="熊大的PPT宝库51-1"/>
              <p:cNvSpPr/>
              <p:nvPr/>
            </p:nvSpPr>
            <p:spPr>
              <a:xfrm>
                <a:off x="489594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48" name="熊大的PPT宝库51-2"/>
              <p:cNvSpPr/>
              <p:nvPr/>
            </p:nvSpPr>
            <p:spPr>
              <a:xfrm>
                <a:off x="493516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49" name="熊大的PPT宝库51-3"/>
              <p:cNvSpPr/>
              <p:nvPr/>
            </p:nvSpPr>
            <p:spPr>
              <a:xfrm>
                <a:off x="485669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0" name="熊大的PPT宝库51-4"/>
              <p:cNvSpPr/>
              <p:nvPr/>
            </p:nvSpPr>
            <p:spPr>
              <a:xfrm>
                <a:off x="489594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1" name="熊大的PPT宝库51-5"/>
              <p:cNvSpPr/>
              <p:nvPr/>
            </p:nvSpPr>
            <p:spPr>
              <a:xfrm>
                <a:off x="4856673"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44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184" y="32114"/>
                      <a:pt x="0" y="24930"/>
                      <a:pt x="0" y="16044"/>
                    </a:cubicBezTo>
                    <a:cubicBezTo>
                      <a:pt x="0" y="7184"/>
                      <a:pt x="7184" y="0"/>
                      <a:pt x="16044"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2" name="熊大的PPT宝库51-6"/>
              <p:cNvSpPr/>
              <p:nvPr/>
            </p:nvSpPr>
            <p:spPr>
              <a:xfrm>
                <a:off x="489594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3" name="熊大的PPT宝库51-7"/>
              <p:cNvSpPr/>
              <p:nvPr/>
            </p:nvSpPr>
            <p:spPr>
              <a:xfrm>
                <a:off x="493516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4" name="熊大的PPT宝库51-8"/>
              <p:cNvSpPr/>
              <p:nvPr/>
            </p:nvSpPr>
            <p:spPr>
              <a:xfrm>
                <a:off x="493516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5" name="熊大的PPT宝库51-9"/>
              <p:cNvSpPr/>
              <p:nvPr/>
            </p:nvSpPr>
            <p:spPr>
              <a:xfrm>
                <a:off x="489594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6" name="熊大的PPT宝库51-10"/>
              <p:cNvSpPr/>
              <p:nvPr/>
            </p:nvSpPr>
            <p:spPr>
              <a:xfrm>
                <a:off x="493516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3" y="32089"/>
                      <a:pt x="0" y="24905"/>
                      <a:pt x="0" y="16044"/>
                    </a:cubicBezTo>
                    <a:cubicBezTo>
                      <a:pt x="0" y="7183"/>
                      <a:pt x="7183" y="0"/>
                      <a:pt x="16044" y="0"/>
                    </a:cubicBezTo>
                    <a:cubicBezTo>
                      <a:pt x="24905" y="0"/>
                      <a:pt x="32089" y="7183"/>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7" name="熊大的PPT宝库51-11"/>
              <p:cNvSpPr/>
              <p:nvPr/>
            </p:nvSpPr>
            <p:spPr>
              <a:xfrm>
                <a:off x="497441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8" name="熊大的PPT宝库51-12"/>
              <p:cNvSpPr/>
              <p:nvPr/>
            </p:nvSpPr>
            <p:spPr>
              <a:xfrm>
                <a:off x="497441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59" name="熊大的PPT宝库51-13"/>
              <p:cNvSpPr/>
              <p:nvPr/>
            </p:nvSpPr>
            <p:spPr>
              <a:xfrm>
                <a:off x="5013637" y="5229311"/>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0" name="熊大的PPT宝库51-14"/>
              <p:cNvSpPr/>
              <p:nvPr/>
            </p:nvSpPr>
            <p:spPr>
              <a:xfrm>
                <a:off x="497441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761" name="图形 6"/>
            <p:cNvGrpSpPr/>
            <p:nvPr/>
          </p:nvGrpSpPr>
          <p:grpSpPr>
            <a:xfrm>
              <a:off x="5001822" y="5108015"/>
              <a:ext cx="189077" cy="271126"/>
              <a:chOff x="5001822" y="5108015"/>
              <a:chExt cx="189077" cy="271126"/>
            </a:xfrm>
            <a:grpFill/>
          </p:grpSpPr>
          <p:sp>
            <p:nvSpPr>
              <p:cNvPr id="762" name="熊大的PPT宝库51-15"/>
              <p:cNvSpPr/>
              <p:nvPr/>
            </p:nvSpPr>
            <p:spPr>
              <a:xfrm>
                <a:off x="504109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3" name="熊大的PPT宝库51-16"/>
              <p:cNvSpPr/>
              <p:nvPr/>
            </p:nvSpPr>
            <p:spPr>
              <a:xfrm>
                <a:off x="5080342"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4" name="熊大的PPT宝库51-17"/>
              <p:cNvSpPr/>
              <p:nvPr/>
            </p:nvSpPr>
            <p:spPr>
              <a:xfrm>
                <a:off x="5001822" y="5343473"/>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5" name="熊大的PPT宝库51-18"/>
              <p:cNvSpPr/>
              <p:nvPr/>
            </p:nvSpPr>
            <p:spPr>
              <a:xfrm>
                <a:off x="504109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6" name="熊大的PPT宝库51-19"/>
              <p:cNvSpPr/>
              <p:nvPr/>
            </p:nvSpPr>
            <p:spPr>
              <a:xfrm>
                <a:off x="5001822"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7" name="熊大的PPT宝库51-20"/>
              <p:cNvSpPr/>
              <p:nvPr/>
            </p:nvSpPr>
            <p:spPr>
              <a:xfrm>
                <a:off x="504109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8" name="熊大的PPT宝库51-21"/>
              <p:cNvSpPr/>
              <p:nvPr/>
            </p:nvSpPr>
            <p:spPr>
              <a:xfrm>
                <a:off x="5080342"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69" name="熊大的PPT宝库51-22"/>
              <p:cNvSpPr/>
              <p:nvPr/>
            </p:nvSpPr>
            <p:spPr>
              <a:xfrm>
                <a:off x="5080342"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70" name="熊大的PPT宝库51-23"/>
              <p:cNvSpPr/>
              <p:nvPr/>
            </p:nvSpPr>
            <p:spPr>
              <a:xfrm>
                <a:off x="504109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71" name="熊大的PPT宝库51-24"/>
              <p:cNvSpPr/>
              <p:nvPr/>
            </p:nvSpPr>
            <p:spPr>
              <a:xfrm>
                <a:off x="5080342"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72" name="熊大的PPT宝库51-25"/>
              <p:cNvSpPr/>
              <p:nvPr/>
            </p:nvSpPr>
            <p:spPr>
              <a:xfrm>
                <a:off x="5119589"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73" name="熊大的PPT宝库51-26"/>
              <p:cNvSpPr/>
              <p:nvPr/>
            </p:nvSpPr>
            <p:spPr>
              <a:xfrm>
                <a:off x="5119589"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74" name="熊大的PPT宝库51-27"/>
              <p:cNvSpPr/>
              <p:nvPr/>
            </p:nvSpPr>
            <p:spPr>
              <a:xfrm>
                <a:off x="5158811"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775" name="熊大的PPT宝库51-28"/>
              <p:cNvSpPr/>
              <p:nvPr/>
            </p:nvSpPr>
            <p:spPr>
              <a:xfrm>
                <a:off x="5119589"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776" name="图形 6"/>
            <p:cNvGrpSpPr/>
            <p:nvPr/>
          </p:nvGrpSpPr>
          <p:grpSpPr>
            <a:xfrm>
              <a:off x="5155558" y="5108015"/>
              <a:ext cx="189052" cy="271126"/>
              <a:chOff x="5155558" y="5108015"/>
              <a:chExt cx="189052" cy="271126"/>
            </a:xfrm>
            <a:grpFill/>
          </p:grpSpPr>
          <p:sp>
            <p:nvSpPr>
              <p:cNvPr id="777" name="熊大的PPT宝库51-29"/>
              <p:cNvSpPr/>
              <p:nvPr/>
            </p:nvSpPr>
            <p:spPr>
              <a:xfrm>
                <a:off x="519480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78" name="熊大的PPT宝库51-30"/>
              <p:cNvSpPr/>
              <p:nvPr/>
            </p:nvSpPr>
            <p:spPr>
              <a:xfrm>
                <a:off x="523402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79" name="熊大的PPT宝库51-31"/>
              <p:cNvSpPr/>
              <p:nvPr/>
            </p:nvSpPr>
            <p:spPr>
              <a:xfrm>
                <a:off x="515555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0" name="熊大的PPT宝库51-32"/>
              <p:cNvSpPr/>
              <p:nvPr/>
            </p:nvSpPr>
            <p:spPr>
              <a:xfrm>
                <a:off x="519480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1" name="熊大的PPT宝库51-33"/>
              <p:cNvSpPr/>
              <p:nvPr/>
            </p:nvSpPr>
            <p:spPr>
              <a:xfrm>
                <a:off x="5155558" y="510801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2" name="熊大的PPT宝库51-34"/>
              <p:cNvSpPr/>
              <p:nvPr/>
            </p:nvSpPr>
            <p:spPr>
              <a:xfrm>
                <a:off x="519480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3" name="熊大的PPT宝库51-35"/>
              <p:cNvSpPr/>
              <p:nvPr/>
            </p:nvSpPr>
            <p:spPr>
              <a:xfrm>
                <a:off x="523402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4" name="熊大的PPT宝库51-36"/>
              <p:cNvSpPr/>
              <p:nvPr/>
            </p:nvSpPr>
            <p:spPr>
              <a:xfrm>
                <a:off x="523402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5" name="熊大的PPT宝库51-37"/>
              <p:cNvSpPr/>
              <p:nvPr/>
            </p:nvSpPr>
            <p:spPr>
              <a:xfrm>
                <a:off x="519480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6" name="熊大的PPT宝库51-38"/>
              <p:cNvSpPr/>
              <p:nvPr/>
            </p:nvSpPr>
            <p:spPr>
              <a:xfrm>
                <a:off x="523402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7" name="熊大的PPT宝库51-39"/>
              <p:cNvSpPr/>
              <p:nvPr/>
            </p:nvSpPr>
            <p:spPr>
              <a:xfrm>
                <a:off x="527327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88" name="熊大的PPT宝库51-40"/>
              <p:cNvSpPr/>
              <p:nvPr/>
            </p:nvSpPr>
            <p:spPr>
              <a:xfrm>
                <a:off x="527327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789" name="熊大的PPT宝库51-41"/>
              <p:cNvSpPr/>
              <p:nvPr/>
            </p:nvSpPr>
            <p:spPr>
              <a:xfrm>
                <a:off x="5312522"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0" name="熊大的PPT宝库51-42"/>
              <p:cNvSpPr/>
              <p:nvPr/>
            </p:nvSpPr>
            <p:spPr>
              <a:xfrm>
                <a:off x="527327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grpSp>
        <p:nvGrpSpPr>
          <p:cNvPr id="793" name="熊大的PPT宝库51"/>
          <p:cNvGrpSpPr/>
          <p:nvPr/>
        </p:nvGrpSpPr>
        <p:grpSpPr>
          <a:xfrm rot="0">
            <a:off x="6275705" y="2991485"/>
            <a:ext cx="487680" cy="271145"/>
            <a:chOff x="4856673" y="5108015"/>
            <a:chExt cx="487937" cy="271126"/>
          </a:xfrm>
          <a:gradFill>
            <a:gsLst>
              <a:gs pos="0">
                <a:srgbClr val="B3D4FE">
                  <a:alpha val="0"/>
                </a:srgbClr>
              </a:gs>
              <a:gs pos="100000">
                <a:srgbClr val="3368FF"/>
              </a:gs>
            </a:gsLst>
            <a:lin ang="0" scaled="0"/>
          </a:gradFill>
        </p:grpSpPr>
        <p:grpSp>
          <p:nvGrpSpPr>
            <p:cNvPr id="794" name="图形 6"/>
            <p:cNvGrpSpPr/>
            <p:nvPr/>
          </p:nvGrpSpPr>
          <p:grpSpPr>
            <a:xfrm>
              <a:off x="4856673" y="5108015"/>
              <a:ext cx="189077" cy="271126"/>
              <a:chOff x="4856673" y="5108015"/>
              <a:chExt cx="189077" cy="271126"/>
            </a:xfrm>
            <a:grpFill/>
          </p:grpSpPr>
          <p:sp>
            <p:nvSpPr>
              <p:cNvPr id="795" name="熊大的PPT宝库51-1"/>
              <p:cNvSpPr/>
              <p:nvPr/>
            </p:nvSpPr>
            <p:spPr>
              <a:xfrm>
                <a:off x="489594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6" name="熊大的PPT宝库51-2"/>
              <p:cNvSpPr/>
              <p:nvPr/>
            </p:nvSpPr>
            <p:spPr>
              <a:xfrm>
                <a:off x="493516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7" name="熊大的PPT宝库51-3"/>
              <p:cNvSpPr/>
              <p:nvPr/>
            </p:nvSpPr>
            <p:spPr>
              <a:xfrm>
                <a:off x="485669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8" name="熊大的PPT宝库51-4"/>
              <p:cNvSpPr/>
              <p:nvPr/>
            </p:nvSpPr>
            <p:spPr>
              <a:xfrm>
                <a:off x="489594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9" name="熊大的PPT宝库51-5"/>
              <p:cNvSpPr/>
              <p:nvPr/>
            </p:nvSpPr>
            <p:spPr>
              <a:xfrm>
                <a:off x="4856673"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44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184" y="32114"/>
                      <a:pt x="0" y="24930"/>
                      <a:pt x="0" y="16044"/>
                    </a:cubicBezTo>
                    <a:cubicBezTo>
                      <a:pt x="0" y="7184"/>
                      <a:pt x="7184" y="0"/>
                      <a:pt x="16044"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0" name="熊大的PPT宝库51-6"/>
              <p:cNvSpPr/>
              <p:nvPr/>
            </p:nvSpPr>
            <p:spPr>
              <a:xfrm>
                <a:off x="489594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1" name="熊大的PPT宝库51-7"/>
              <p:cNvSpPr/>
              <p:nvPr/>
            </p:nvSpPr>
            <p:spPr>
              <a:xfrm>
                <a:off x="493516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2" name="熊大的PPT宝库51-8"/>
              <p:cNvSpPr/>
              <p:nvPr/>
            </p:nvSpPr>
            <p:spPr>
              <a:xfrm>
                <a:off x="493516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3" name="熊大的PPT宝库51-9"/>
              <p:cNvSpPr/>
              <p:nvPr/>
            </p:nvSpPr>
            <p:spPr>
              <a:xfrm>
                <a:off x="489594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4" name="熊大的PPT宝库51-10"/>
              <p:cNvSpPr/>
              <p:nvPr/>
            </p:nvSpPr>
            <p:spPr>
              <a:xfrm>
                <a:off x="493516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3" y="32089"/>
                      <a:pt x="0" y="24905"/>
                      <a:pt x="0" y="16044"/>
                    </a:cubicBezTo>
                    <a:cubicBezTo>
                      <a:pt x="0" y="7183"/>
                      <a:pt x="7183" y="0"/>
                      <a:pt x="16044" y="0"/>
                    </a:cubicBezTo>
                    <a:cubicBezTo>
                      <a:pt x="24905" y="0"/>
                      <a:pt x="32089" y="7183"/>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5" name="熊大的PPT宝库51-11"/>
              <p:cNvSpPr/>
              <p:nvPr/>
            </p:nvSpPr>
            <p:spPr>
              <a:xfrm>
                <a:off x="497441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6" name="熊大的PPT宝库51-12"/>
              <p:cNvSpPr/>
              <p:nvPr/>
            </p:nvSpPr>
            <p:spPr>
              <a:xfrm>
                <a:off x="497441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7" name="熊大的PPT宝库51-13"/>
              <p:cNvSpPr/>
              <p:nvPr/>
            </p:nvSpPr>
            <p:spPr>
              <a:xfrm>
                <a:off x="5013637" y="5229311"/>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8" name="熊大的PPT宝库51-14"/>
              <p:cNvSpPr/>
              <p:nvPr/>
            </p:nvSpPr>
            <p:spPr>
              <a:xfrm>
                <a:off x="497441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809" name="图形 6"/>
            <p:cNvGrpSpPr/>
            <p:nvPr/>
          </p:nvGrpSpPr>
          <p:grpSpPr>
            <a:xfrm>
              <a:off x="5001822" y="5108015"/>
              <a:ext cx="189077" cy="271126"/>
              <a:chOff x="5001822" y="5108015"/>
              <a:chExt cx="189077" cy="271126"/>
            </a:xfrm>
            <a:grpFill/>
          </p:grpSpPr>
          <p:sp>
            <p:nvSpPr>
              <p:cNvPr id="810" name="熊大的PPT宝库51-15"/>
              <p:cNvSpPr/>
              <p:nvPr/>
            </p:nvSpPr>
            <p:spPr>
              <a:xfrm>
                <a:off x="504109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1" name="熊大的PPT宝库51-16"/>
              <p:cNvSpPr/>
              <p:nvPr/>
            </p:nvSpPr>
            <p:spPr>
              <a:xfrm>
                <a:off x="5080342"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2" name="熊大的PPT宝库51-17"/>
              <p:cNvSpPr/>
              <p:nvPr/>
            </p:nvSpPr>
            <p:spPr>
              <a:xfrm>
                <a:off x="5001822" y="5343473"/>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3" name="熊大的PPT宝库51-18"/>
              <p:cNvSpPr/>
              <p:nvPr/>
            </p:nvSpPr>
            <p:spPr>
              <a:xfrm>
                <a:off x="504109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4" name="熊大的PPT宝库51-19"/>
              <p:cNvSpPr/>
              <p:nvPr/>
            </p:nvSpPr>
            <p:spPr>
              <a:xfrm>
                <a:off x="5001822"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5" name="熊大的PPT宝库51-20"/>
              <p:cNvSpPr/>
              <p:nvPr/>
            </p:nvSpPr>
            <p:spPr>
              <a:xfrm>
                <a:off x="504109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6" name="熊大的PPT宝库51-21"/>
              <p:cNvSpPr/>
              <p:nvPr/>
            </p:nvSpPr>
            <p:spPr>
              <a:xfrm>
                <a:off x="5080342"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7" name="熊大的PPT宝库51-22"/>
              <p:cNvSpPr/>
              <p:nvPr/>
            </p:nvSpPr>
            <p:spPr>
              <a:xfrm>
                <a:off x="5080342"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8" name="熊大的PPT宝库51-23"/>
              <p:cNvSpPr/>
              <p:nvPr/>
            </p:nvSpPr>
            <p:spPr>
              <a:xfrm>
                <a:off x="504109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9" name="熊大的PPT宝库51-24"/>
              <p:cNvSpPr/>
              <p:nvPr/>
            </p:nvSpPr>
            <p:spPr>
              <a:xfrm>
                <a:off x="5080342"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0" name="熊大的PPT宝库51-25"/>
              <p:cNvSpPr/>
              <p:nvPr/>
            </p:nvSpPr>
            <p:spPr>
              <a:xfrm>
                <a:off x="5119589"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1" name="熊大的PPT宝库51-26"/>
              <p:cNvSpPr/>
              <p:nvPr/>
            </p:nvSpPr>
            <p:spPr>
              <a:xfrm>
                <a:off x="5119589"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2" name="熊大的PPT宝库51-27"/>
              <p:cNvSpPr/>
              <p:nvPr/>
            </p:nvSpPr>
            <p:spPr>
              <a:xfrm>
                <a:off x="5158811"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3" name="熊大的PPT宝库51-28"/>
              <p:cNvSpPr/>
              <p:nvPr/>
            </p:nvSpPr>
            <p:spPr>
              <a:xfrm>
                <a:off x="5119589"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824" name="图形 6"/>
            <p:cNvGrpSpPr/>
            <p:nvPr/>
          </p:nvGrpSpPr>
          <p:grpSpPr>
            <a:xfrm>
              <a:off x="5155558" y="5108015"/>
              <a:ext cx="189052" cy="271126"/>
              <a:chOff x="5155558" y="5108015"/>
              <a:chExt cx="189052" cy="271126"/>
            </a:xfrm>
            <a:grpFill/>
          </p:grpSpPr>
          <p:sp>
            <p:nvSpPr>
              <p:cNvPr id="825" name="熊大的PPT宝库51-29"/>
              <p:cNvSpPr/>
              <p:nvPr/>
            </p:nvSpPr>
            <p:spPr>
              <a:xfrm>
                <a:off x="519480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6" name="熊大的PPT宝库51-30"/>
              <p:cNvSpPr/>
              <p:nvPr/>
            </p:nvSpPr>
            <p:spPr>
              <a:xfrm>
                <a:off x="523402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7" name="熊大的PPT宝库51-31"/>
              <p:cNvSpPr/>
              <p:nvPr/>
            </p:nvSpPr>
            <p:spPr>
              <a:xfrm>
                <a:off x="515555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8" name="熊大的PPT宝库51-32"/>
              <p:cNvSpPr/>
              <p:nvPr/>
            </p:nvSpPr>
            <p:spPr>
              <a:xfrm>
                <a:off x="519480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9" name="熊大的PPT宝库51-33"/>
              <p:cNvSpPr/>
              <p:nvPr/>
            </p:nvSpPr>
            <p:spPr>
              <a:xfrm>
                <a:off x="5155558" y="510801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0" name="熊大的PPT宝库51-34"/>
              <p:cNvSpPr/>
              <p:nvPr/>
            </p:nvSpPr>
            <p:spPr>
              <a:xfrm>
                <a:off x="519480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1" name="熊大的PPT宝库51-35"/>
              <p:cNvSpPr/>
              <p:nvPr/>
            </p:nvSpPr>
            <p:spPr>
              <a:xfrm>
                <a:off x="523402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2" name="熊大的PPT宝库51-36"/>
              <p:cNvSpPr/>
              <p:nvPr/>
            </p:nvSpPr>
            <p:spPr>
              <a:xfrm>
                <a:off x="523402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3" name="熊大的PPT宝库51-37"/>
              <p:cNvSpPr/>
              <p:nvPr/>
            </p:nvSpPr>
            <p:spPr>
              <a:xfrm>
                <a:off x="519480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4" name="熊大的PPT宝库51-38"/>
              <p:cNvSpPr/>
              <p:nvPr/>
            </p:nvSpPr>
            <p:spPr>
              <a:xfrm>
                <a:off x="523402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5" name="熊大的PPT宝库51-39"/>
              <p:cNvSpPr/>
              <p:nvPr/>
            </p:nvSpPr>
            <p:spPr>
              <a:xfrm>
                <a:off x="527327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6" name="熊大的PPT宝库51-40"/>
              <p:cNvSpPr/>
              <p:nvPr/>
            </p:nvSpPr>
            <p:spPr>
              <a:xfrm>
                <a:off x="527327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7" name="熊大的PPT宝库51-41"/>
              <p:cNvSpPr/>
              <p:nvPr/>
            </p:nvSpPr>
            <p:spPr>
              <a:xfrm>
                <a:off x="5312522"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8" name="熊大的PPT宝库51-42"/>
              <p:cNvSpPr/>
              <p:nvPr/>
            </p:nvSpPr>
            <p:spPr>
              <a:xfrm>
                <a:off x="527327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grpSp>
        <p:nvGrpSpPr>
          <p:cNvPr id="841" name="熊大的PPT宝库51"/>
          <p:cNvGrpSpPr/>
          <p:nvPr/>
        </p:nvGrpSpPr>
        <p:grpSpPr>
          <a:xfrm rot="0">
            <a:off x="6275705" y="4359275"/>
            <a:ext cx="487680" cy="271145"/>
            <a:chOff x="4856673" y="5108015"/>
            <a:chExt cx="487937" cy="271126"/>
          </a:xfrm>
          <a:gradFill>
            <a:gsLst>
              <a:gs pos="0">
                <a:srgbClr val="B3D4FE">
                  <a:alpha val="0"/>
                </a:srgbClr>
              </a:gs>
              <a:gs pos="100000">
                <a:srgbClr val="3368FF"/>
              </a:gs>
            </a:gsLst>
            <a:lin ang="0" scaled="0"/>
          </a:gradFill>
        </p:grpSpPr>
        <p:grpSp>
          <p:nvGrpSpPr>
            <p:cNvPr id="842" name="图形 6"/>
            <p:cNvGrpSpPr/>
            <p:nvPr/>
          </p:nvGrpSpPr>
          <p:grpSpPr>
            <a:xfrm>
              <a:off x="4856673" y="5108015"/>
              <a:ext cx="189077" cy="271126"/>
              <a:chOff x="4856673" y="5108015"/>
              <a:chExt cx="189077" cy="271126"/>
            </a:xfrm>
            <a:grpFill/>
          </p:grpSpPr>
          <p:sp>
            <p:nvSpPr>
              <p:cNvPr id="843" name="熊大的PPT宝库51-1"/>
              <p:cNvSpPr/>
              <p:nvPr/>
            </p:nvSpPr>
            <p:spPr>
              <a:xfrm>
                <a:off x="489594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44" name="熊大的PPT宝库51-2"/>
              <p:cNvSpPr/>
              <p:nvPr/>
            </p:nvSpPr>
            <p:spPr>
              <a:xfrm>
                <a:off x="493516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45" name="熊大的PPT宝库51-3"/>
              <p:cNvSpPr/>
              <p:nvPr/>
            </p:nvSpPr>
            <p:spPr>
              <a:xfrm>
                <a:off x="485669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46" name="熊大的PPT宝库51-4"/>
              <p:cNvSpPr/>
              <p:nvPr/>
            </p:nvSpPr>
            <p:spPr>
              <a:xfrm>
                <a:off x="489594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47" name="熊大的PPT宝库51-5"/>
              <p:cNvSpPr/>
              <p:nvPr/>
            </p:nvSpPr>
            <p:spPr>
              <a:xfrm>
                <a:off x="4856673"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44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184" y="32114"/>
                      <a:pt x="0" y="24930"/>
                      <a:pt x="0" y="16044"/>
                    </a:cubicBezTo>
                    <a:cubicBezTo>
                      <a:pt x="0" y="7184"/>
                      <a:pt x="7184" y="0"/>
                      <a:pt x="16044"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48" name="熊大的PPT宝库51-6"/>
              <p:cNvSpPr/>
              <p:nvPr/>
            </p:nvSpPr>
            <p:spPr>
              <a:xfrm>
                <a:off x="489594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49" name="熊大的PPT宝库51-7"/>
              <p:cNvSpPr/>
              <p:nvPr/>
            </p:nvSpPr>
            <p:spPr>
              <a:xfrm>
                <a:off x="493516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0" name="熊大的PPT宝库51-8"/>
              <p:cNvSpPr/>
              <p:nvPr/>
            </p:nvSpPr>
            <p:spPr>
              <a:xfrm>
                <a:off x="493516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1" name="熊大的PPT宝库51-9"/>
              <p:cNvSpPr/>
              <p:nvPr/>
            </p:nvSpPr>
            <p:spPr>
              <a:xfrm>
                <a:off x="489594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2" name="熊大的PPT宝库51-10"/>
              <p:cNvSpPr/>
              <p:nvPr/>
            </p:nvSpPr>
            <p:spPr>
              <a:xfrm>
                <a:off x="493516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3" y="32089"/>
                      <a:pt x="0" y="24905"/>
                      <a:pt x="0" y="16044"/>
                    </a:cubicBezTo>
                    <a:cubicBezTo>
                      <a:pt x="0" y="7183"/>
                      <a:pt x="7183" y="0"/>
                      <a:pt x="16044" y="0"/>
                    </a:cubicBezTo>
                    <a:cubicBezTo>
                      <a:pt x="24905" y="0"/>
                      <a:pt x="32089" y="7183"/>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3" name="熊大的PPT宝库51-11"/>
              <p:cNvSpPr/>
              <p:nvPr/>
            </p:nvSpPr>
            <p:spPr>
              <a:xfrm>
                <a:off x="497441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4" name="熊大的PPT宝库51-12"/>
              <p:cNvSpPr/>
              <p:nvPr/>
            </p:nvSpPr>
            <p:spPr>
              <a:xfrm>
                <a:off x="497441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5" name="熊大的PPT宝库51-13"/>
              <p:cNvSpPr/>
              <p:nvPr/>
            </p:nvSpPr>
            <p:spPr>
              <a:xfrm>
                <a:off x="5013637" y="5229311"/>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6" name="熊大的PPT宝库51-14"/>
              <p:cNvSpPr/>
              <p:nvPr/>
            </p:nvSpPr>
            <p:spPr>
              <a:xfrm>
                <a:off x="497441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857" name="图形 6"/>
            <p:cNvGrpSpPr/>
            <p:nvPr/>
          </p:nvGrpSpPr>
          <p:grpSpPr>
            <a:xfrm>
              <a:off x="5001822" y="5108015"/>
              <a:ext cx="189077" cy="271126"/>
              <a:chOff x="5001822" y="5108015"/>
              <a:chExt cx="189077" cy="271126"/>
            </a:xfrm>
            <a:grpFill/>
          </p:grpSpPr>
          <p:sp>
            <p:nvSpPr>
              <p:cNvPr id="858" name="熊大的PPT宝库51-15"/>
              <p:cNvSpPr/>
              <p:nvPr/>
            </p:nvSpPr>
            <p:spPr>
              <a:xfrm>
                <a:off x="504109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59" name="熊大的PPT宝库51-16"/>
              <p:cNvSpPr/>
              <p:nvPr/>
            </p:nvSpPr>
            <p:spPr>
              <a:xfrm>
                <a:off x="5080342"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0" name="熊大的PPT宝库51-17"/>
              <p:cNvSpPr/>
              <p:nvPr/>
            </p:nvSpPr>
            <p:spPr>
              <a:xfrm>
                <a:off x="5001822" y="5343473"/>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1" name="熊大的PPT宝库51-18"/>
              <p:cNvSpPr/>
              <p:nvPr/>
            </p:nvSpPr>
            <p:spPr>
              <a:xfrm>
                <a:off x="504109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2" name="熊大的PPT宝库51-19"/>
              <p:cNvSpPr/>
              <p:nvPr/>
            </p:nvSpPr>
            <p:spPr>
              <a:xfrm>
                <a:off x="5001822"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3" name="熊大的PPT宝库51-20"/>
              <p:cNvSpPr/>
              <p:nvPr/>
            </p:nvSpPr>
            <p:spPr>
              <a:xfrm>
                <a:off x="504109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4" name="熊大的PPT宝库51-21"/>
              <p:cNvSpPr/>
              <p:nvPr/>
            </p:nvSpPr>
            <p:spPr>
              <a:xfrm>
                <a:off x="5080342"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5" name="熊大的PPT宝库51-22"/>
              <p:cNvSpPr/>
              <p:nvPr/>
            </p:nvSpPr>
            <p:spPr>
              <a:xfrm>
                <a:off x="5080342"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6" name="熊大的PPT宝库51-23"/>
              <p:cNvSpPr/>
              <p:nvPr/>
            </p:nvSpPr>
            <p:spPr>
              <a:xfrm>
                <a:off x="504109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7" name="熊大的PPT宝库51-24"/>
              <p:cNvSpPr/>
              <p:nvPr/>
            </p:nvSpPr>
            <p:spPr>
              <a:xfrm>
                <a:off x="5080342"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8" name="熊大的PPT宝库51-25"/>
              <p:cNvSpPr/>
              <p:nvPr/>
            </p:nvSpPr>
            <p:spPr>
              <a:xfrm>
                <a:off x="5119589"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69" name="熊大的PPT宝库51-26"/>
              <p:cNvSpPr/>
              <p:nvPr/>
            </p:nvSpPr>
            <p:spPr>
              <a:xfrm>
                <a:off x="5119589"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0" name="熊大的PPT宝库51-27"/>
              <p:cNvSpPr/>
              <p:nvPr/>
            </p:nvSpPr>
            <p:spPr>
              <a:xfrm>
                <a:off x="5158811"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1" name="熊大的PPT宝库51-28"/>
              <p:cNvSpPr/>
              <p:nvPr/>
            </p:nvSpPr>
            <p:spPr>
              <a:xfrm>
                <a:off x="5119589"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872" name="图形 6"/>
            <p:cNvGrpSpPr/>
            <p:nvPr/>
          </p:nvGrpSpPr>
          <p:grpSpPr>
            <a:xfrm>
              <a:off x="5155558" y="5108015"/>
              <a:ext cx="189052" cy="271126"/>
              <a:chOff x="5155558" y="5108015"/>
              <a:chExt cx="189052" cy="271126"/>
            </a:xfrm>
            <a:grpFill/>
          </p:grpSpPr>
          <p:sp>
            <p:nvSpPr>
              <p:cNvPr id="873" name="熊大的PPT宝库51-29"/>
              <p:cNvSpPr/>
              <p:nvPr/>
            </p:nvSpPr>
            <p:spPr>
              <a:xfrm>
                <a:off x="519480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4" name="熊大的PPT宝库51-30"/>
              <p:cNvSpPr/>
              <p:nvPr/>
            </p:nvSpPr>
            <p:spPr>
              <a:xfrm>
                <a:off x="523402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5" name="熊大的PPT宝库51-31"/>
              <p:cNvSpPr/>
              <p:nvPr/>
            </p:nvSpPr>
            <p:spPr>
              <a:xfrm>
                <a:off x="515555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6" name="熊大的PPT宝库51-32"/>
              <p:cNvSpPr/>
              <p:nvPr/>
            </p:nvSpPr>
            <p:spPr>
              <a:xfrm>
                <a:off x="519480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7" name="熊大的PPT宝库51-33"/>
              <p:cNvSpPr/>
              <p:nvPr/>
            </p:nvSpPr>
            <p:spPr>
              <a:xfrm>
                <a:off x="5155558" y="510801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8" name="熊大的PPT宝库51-34"/>
              <p:cNvSpPr/>
              <p:nvPr/>
            </p:nvSpPr>
            <p:spPr>
              <a:xfrm>
                <a:off x="519480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79" name="熊大的PPT宝库51-35"/>
              <p:cNvSpPr/>
              <p:nvPr/>
            </p:nvSpPr>
            <p:spPr>
              <a:xfrm>
                <a:off x="523402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80" name="熊大的PPT宝库51-36"/>
              <p:cNvSpPr/>
              <p:nvPr/>
            </p:nvSpPr>
            <p:spPr>
              <a:xfrm>
                <a:off x="523402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81" name="熊大的PPT宝库51-37"/>
              <p:cNvSpPr/>
              <p:nvPr/>
            </p:nvSpPr>
            <p:spPr>
              <a:xfrm>
                <a:off x="519480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82" name="熊大的PPT宝库51-38"/>
              <p:cNvSpPr/>
              <p:nvPr/>
            </p:nvSpPr>
            <p:spPr>
              <a:xfrm>
                <a:off x="523402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83" name="熊大的PPT宝库51-39"/>
              <p:cNvSpPr/>
              <p:nvPr/>
            </p:nvSpPr>
            <p:spPr>
              <a:xfrm>
                <a:off x="527327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84" name="熊大的PPT宝库51-40"/>
              <p:cNvSpPr/>
              <p:nvPr/>
            </p:nvSpPr>
            <p:spPr>
              <a:xfrm>
                <a:off x="527327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85" name="熊大的PPT宝库51-41"/>
              <p:cNvSpPr/>
              <p:nvPr/>
            </p:nvSpPr>
            <p:spPr>
              <a:xfrm>
                <a:off x="5312522"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86" name="熊大的PPT宝库51-42"/>
              <p:cNvSpPr/>
              <p:nvPr/>
            </p:nvSpPr>
            <p:spPr>
              <a:xfrm>
                <a:off x="527327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grpSp>
        <p:nvGrpSpPr>
          <p:cNvPr id="7" name="组合 6"/>
          <p:cNvGrpSpPr/>
          <p:nvPr/>
        </p:nvGrpSpPr>
        <p:grpSpPr>
          <a:xfrm>
            <a:off x="6272530" y="1444608"/>
            <a:ext cx="1231900" cy="721995"/>
            <a:chOff x="9914" y="2253"/>
            <a:chExt cx="1940" cy="1137"/>
          </a:xfrm>
        </p:grpSpPr>
        <p:sp>
          <p:nvSpPr>
            <p:cNvPr id="696" name="熊大的PPT宝库21"/>
            <p:cNvSpPr txBox="1"/>
            <p:nvPr/>
          </p:nvSpPr>
          <p:spPr>
            <a:xfrm>
              <a:off x="10027" y="2253"/>
              <a:ext cx="1716" cy="628"/>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dirty="0">
                  <a:gradFill>
                    <a:gsLst>
                      <a:gs pos="97000">
                        <a:srgbClr val="0042FF"/>
                      </a:gs>
                      <a:gs pos="0">
                        <a:srgbClr val="0042FF"/>
                      </a:gs>
                    </a:gsLst>
                    <a:lin ang="2700000" scaled="0"/>
                  </a:gradFill>
                  <a:latin typeface="微软雅黑"/>
                  <a:cs typeface="微软雅黑"/>
                  <a:ea typeface="微软雅黑"/>
                </a:rPr>
                <a:t>第一维</a:t>
              </a:r>
              <a:endParaRPr lang="zh-CN" dirty="0">
                <a:gradFill>
                  <a:gsLst>
                    <a:gs pos="97000">
                      <a:srgbClr val="0042FF"/>
                    </a:gs>
                    <a:gs pos="0">
                      <a:srgbClr val="0042FF"/>
                    </a:gs>
                  </a:gsLst>
                  <a:lin ang="2700000" scaled="0"/>
                </a:gradFill>
                <a:latin typeface="微软雅黑"/>
                <a:cs typeface="微软雅黑"/>
                <a:ea typeface="微软雅黑"/>
              </a:endParaRPr>
            </a:p>
          </p:txBody>
        </p:sp>
        <p:sp>
          <p:nvSpPr>
            <p:cNvPr id="4" name="熊大的PPT宝库21"/>
            <p:cNvSpPr txBox="1"/>
            <p:nvPr/>
          </p:nvSpPr>
          <p:spPr>
            <a:xfrm>
              <a:off x="9914" y="2860"/>
              <a:ext cx="1941" cy="531"/>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sz="1600" b="0" dirty="0">
                  <a:solidFill>
                    <a:srgbClr val="383838"/>
                  </a:solidFill>
                  <a:latin typeface="微软雅黑"/>
                  <a:cs typeface="微软雅黑"/>
                  <a:ea typeface="微软雅黑"/>
                </a:rPr>
                <a:t>（顶层牵引）</a:t>
              </a:r>
              <a:endParaRPr lang="zh-CN" sz="1600" b="0" dirty="0">
                <a:solidFill>
                  <a:srgbClr val="383838"/>
                </a:solidFill>
                <a:latin typeface="微软雅黑"/>
                <a:cs typeface="微软雅黑"/>
                <a:ea typeface="微软雅黑"/>
              </a:endParaRPr>
            </a:p>
          </p:txBody>
        </p:sp>
      </p:grpSp>
      <p:sp>
        <p:nvSpPr>
          <p:cNvPr id="8" name="熊大的PPT宝库20"/>
          <p:cNvSpPr txBox="1"/>
          <p:nvPr/>
        </p:nvSpPr>
        <p:spPr>
          <a:xfrm>
            <a:off x="7686675" y="1375410"/>
            <a:ext cx="3524885" cy="866140"/>
          </a:xfrm>
          <a:prstGeom prst="rect">
            <a:avLst/>
          </a:prstGeom>
          <a:noFill/>
        </p:spPr>
        <p:txBody>
          <a:bodyPr wrap="square">
            <a:spAutoFit/>
          </a:bodyPr>
          <a:lstStyle/>
          <a:p>
            <a:pPr marL="285750" indent="-285750" defTabSz="457200">
              <a:lnSpc>
                <a:spcPct val="120000"/>
              </a:lnSpc>
              <a:buFont typeface="微软雅黑"/>
              <a:buChar char="➢"/>
              <a:defRPr>
                <a:latin typeface="微软雅黑"/>
                <a:ea typeface="微软雅黑"/>
                <a:cs typeface="微软雅黑"/>
              </a:defRPr>
            </a:pPr>
            <a:r>
              <a:rPr lang="zh-CN" altLang="en-US" sz="1400" dirty="0">
                <a:solidFill>
                  <a:srgbClr val="383838"/>
                </a:solidFill>
                <a:latin typeface="微软雅黑"/>
                <a:cs typeface="微软雅黑"/>
                <a:ea typeface="微软雅黑"/>
              </a:rPr>
              <a:t>清晰的战略方向是否对齐？</a:t>
            </a:r>
            <a:endParaRPr lang="zh-CN" altLang="en-US" sz="1400" dirty="0">
              <a:solidFill>
                <a:srgbClr val="383838"/>
              </a:solidFill>
              <a:latin typeface="微软雅黑"/>
              <a:cs typeface="微软雅黑"/>
              <a:ea typeface="微软雅黑"/>
            </a:endParaRPr>
          </a:p>
          <a:p>
            <a:pPr marL="285750" indent="-285750" defTabSz="457200">
              <a:lnSpc>
                <a:spcPct val="120000"/>
              </a:lnSpc>
              <a:buFont typeface="微软雅黑"/>
              <a:buChar char="➢"/>
              <a:defRPr>
                <a:latin typeface="微软雅黑"/>
                <a:ea typeface="微软雅黑"/>
                <a:cs typeface="微软雅黑"/>
              </a:defRPr>
            </a:pPr>
            <a:r>
              <a:rPr lang="zh-CN" altLang="en-US" sz="1400" dirty="0">
                <a:solidFill>
                  <a:srgbClr val="383838"/>
                </a:solidFill>
                <a:latin typeface="微软雅黑"/>
                <a:cs typeface="微软雅黑"/>
                <a:ea typeface="微软雅黑"/>
              </a:rPr>
              <a:t>是否建立了鼓励创新、容忍失败、追求卓越的执行文化？</a:t>
            </a:r>
            <a:endParaRPr lang="zh-CN" altLang="en-US" sz="1400" dirty="0">
              <a:solidFill>
                <a:srgbClr val="383838"/>
              </a:solidFill>
              <a:latin typeface="微软雅黑"/>
              <a:cs typeface="微软雅黑"/>
              <a:ea typeface="微软雅黑"/>
            </a:endParaRPr>
          </a:p>
        </p:txBody>
      </p:sp>
      <p:grpSp>
        <p:nvGrpSpPr>
          <p:cNvPr id="9" name="组合 8"/>
          <p:cNvGrpSpPr/>
          <p:nvPr/>
        </p:nvGrpSpPr>
        <p:grpSpPr>
          <a:xfrm>
            <a:off x="6884670" y="2792713"/>
            <a:ext cx="1232535" cy="722630"/>
            <a:chOff x="9914" y="2253"/>
            <a:chExt cx="1941" cy="1138"/>
          </a:xfrm>
        </p:grpSpPr>
        <p:sp>
          <p:nvSpPr>
            <p:cNvPr id="11" name="熊大的PPT宝库21"/>
            <p:cNvSpPr txBox="1"/>
            <p:nvPr/>
          </p:nvSpPr>
          <p:spPr>
            <a:xfrm>
              <a:off x="10027" y="2253"/>
              <a:ext cx="1716" cy="628"/>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dirty="0">
                  <a:solidFill>
                    <a:srgbClr val="0042FF"/>
                  </a:solidFill>
                  <a:latin typeface="微软雅黑"/>
                  <a:cs typeface="微软雅黑"/>
                  <a:ea typeface="微软雅黑"/>
                </a:rPr>
                <a:t>第二维</a:t>
              </a:r>
              <a:endParaRPr lang="zh-CN" dirty="0">
                <a:solidFill>
                  <a:srgbClr val="0042FF"/>
                </a:solidFill>
                <a:latin typeface="微软雅黑"/>
                <a:cs typeface="微软雅黑"/>
                <a:ea typeface="微软雅黑"/>
              </a:endParaRPr>
            </a:p>
          </p:txBody>
        </p:sp>
        <p:sp>
          <p:nvSpPr>
            <p:cNvPr id="12" name="熊大的PPT宝库21"/>
            <p:cNvSpPr txBox="1"/>
            <p:nvPr/>
          </p:nvSpPr>
          <p:spPr>
            <a:xfrm>
              <a:off x="9914" y="2860"/>
              <a:ext cx="1941" cy="531"/>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sz="1600" b="0" dirty="0">
                  <a:solidFill>
                    <a:srgbClr val="383838"/>
                  </a:solidFill>
                  <a:latin typeface="微软雅黑"/>
                  <a:cs typeface="微软雅黑"/>
                  <a:ea typeface="微软雅黑"/>
                </a:rPr>
                <a:t>（运行法则）</a:t>
              </a:r>
              <a:endParaRPr lang="zh-CN" sz="1600" b="0" dirty="0">
                <a:solidFill>
                  <a:srgbClr val="383838"/>
                </a:solidFill>
                <a:latin typeface="微软雅黑"/>
                <a:cs typeface="微软雅黑"/>
                <a:ea typeface="微软雅黑"/>
              </a:endParaRPr>
            </a:p>
          </p:txBody>
        </p:sp>
      </p:grpSp>
      <p:grpSp>
        <p:nvGrpSpPr>
          <p:cNvPr id="21" name="组合 20"/>
          <p:cNvGrpSpPr/>
          <p:nvPr/>
        </p:nvGrpSpPr>
        <p:grpSpPr>
          <a:xfrm>
            <a:off x="6956425" y="4159233"/>
            <a:ext cx="1232535" cy="722630"/>
            <a:chOff x="9914" y="2253"/>
            <a:chExt cx="1941" cy="1138"/>
          </a:xfrm>
        </p:grpSpPr>
        <p:sp>
          <p:nvSpPr>
            <p:cNvPr id="42" name="熊大的PPT宝库21"/>
            <p:cNvSpPr txBox="1"/>
            <p:nvPr/>
          </p:nvSpPr>
          <p:spPr>
            <a:xfrm>
              <a:off x="10027" y="2253"/>
              <a:ext cx="1716" cy="628"/>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dirty="0">
                  <a:solidFill>
                    <a:srgbClr val="0042FF"/>
                  </a:solidFill>
                  <a:latin typeface="微软雅黑"/>
                  <a:cs typeface="微软雅黑"/>
                  <a:ea typeface="微软雅黑"/>
                </a:rPr>
                <a:t>第三维</a:t>
              </a:r>
              <a:endParaRPr lang="zh-CN" dirty="0">
                <a:solidFill>
                  <a:srgbClr val="0042FF"/>
                </a:solidFill>
                <a:latin typeface="微软雅黑"/>
                <a:cs typeface="微软雅黑"/>
                <a:ea typeface="微软雅黑"/>
              </a:endParaRPr>
            </a:p>
          </p:txBody>
        </p:sp>
        <p:sp>
          <p:nvSpPr>
            <p:cNvPr id="45" name="熊大的PPT宝库21"/>
            <p:cNvSpPr txBox="1"/>
            <p:nvPr/>
          </p:nvSpPr>
          <p:spPr>
            <a:xfrm>
              <a:off x="9914" y="2860"/>
              <a:ext cx="1941" cy="531"/>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sz="1600" b="0" dirty="0">
                  <a:solidFill>
                    <a:srgbClr val="383838"/>
                  </a:solidFill>
                  <a:latin typeface="微软雅黑"/>
                  <a:cs typeface="微软雅黑"/>
                  <a:ea typeface="微软雅黑"/>
                </a:rPr>
                <a:t>（执行主体）</a:t>
              </a:r>
              <a:endParaRPr lang="zh-CN" sz="1600" b="0" dirty="0">
                <a:solidFill>
                  <a:srgbClr val="383838"/>
                </a:solidFill>
                <a:latin typeface="微软雅黑"/>
                <a:cs typeface="微软雅黑"/>
                <a:ea typeface="微软雅黑"/>
              </a:endParaRPr>
            </a:p>
          </p:txBody>
        </p:sp>
      </p:grpSp>
      <p:grpSp>
        <p:nvGrpSpPr>
          <p:cNvPr id="47" name="组合 46"/>
          <p:cNvGrpSpPr/>
          <p:nvPr/>
        </p:nvGrpSpPr>
        <p:grpSpPr>
          <a:xfrm>
            <a:off x="6275705" y="5544803"/>
            <a:ext cx="1232535" cy="722630"/>
            <a:chOff x="9914" y="2253"/>
            <a:chExt cx="1941" cy="1138"/>
          </a:xfrm>
        </p:grpSpPr>
        <p:sp>
          <p:nvSpPr>
            <p:cNvPr id="48" name="熊大的PPT宝库21"/>
            <p:cNvSpPr txBox="1"/>
            <p:nvPr/>
          </p:nvSpPr>
          <p:spPr>
            <a:xfrm>
              <a:off x="10027" y="2253"/>
              <a:ext cx="1716" cy="628"/>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dirty="0">
                  <a:gradFill>
                    <a:gsLst>
                      <a:gs pos="97000">
                        <a:srgbClr val="0042FF"/>
                      </a:gs>
                      <a:gs pos="0">
                        <a:srgbClr val="0042FF"/>
                      </a:gs>
                    </a:gsLst>
                    <a:lin ang="2700000" scaled="0"/>
                  </a:gradFill>
                  <a:latin typeface="微软雅黑"/>
                  <a:cs typeface="微软雅黑"/>
                  <a:ea typeface="微软雅黑"/>
                </a:rPr>
                <a:t>第四维</a:t>
              </a:r>
              <a:endParaRPr lang="zh-CN" dirty="0">
                <a:gradFill>
                  <a:gsLst>
                    <a:gs pos="97000">
                      <a:srgbClr val="0042FF"/>
                    </a:gs>
                    <a:gs pos="0">
                      <a:srgbClr val="0042FF"/>
                    </a:gs>
                  </a:gsLst>
                  <a:lin ang="2700000" scaled="0"/>
                </a:gradFill>
                <a:latin typeface="微软雅黑"/>
                <a:cs typeface="微软雅黑"/>
                <a:ea typeface="微软雅黑"/>
              </a:endParaRPr>
            </a:p>
          </p:txBody>
        </p:sp>
        <p:sp>
          <p:nvSpPr>
            <p:cNvPr id="60" name="熊大的PPT宝库21"/>
            <p:cNvSpPr txBox="1"/>
            <p:nvPr/>
          </p:nvSpPr>
          <p:spPr>
            <a:xfrm>
              <a:off x="9914" y="2860"/>
              <a:ext cx="1941" cy="531"/>
            </a:xfrm>
            <a:prstGeom prst="rect">
              <a:avLst/>
            </a:prstGeom>
          </p:spPr>
          <p:txBody>
            <a:bodyPr wrap="square" rtlCol="0" lIns="0" rIns="0" tIns="0" bIns="0">
              <a:spAutoFit/>
            </a:bodyPr>
            <a:lstStyle>
              <a:defPPr>
                <a:defRPr lang="zh-CN">
                  <a:latin typeface="微软雅黑"/>
                  <a:ea typeface="微软雅黑"/>
                  <a:cs typeface="微软雅黑"/>
                </a:defRPr>
              </a:defPPr>
              <a:lvl1pPr>
                <a:defRPr sz="2000" b="1">
                  <a:gradFill>
                    <a:gsLst>
                      <a:gs pos="97000">
                        <a:srgbClr val="0042FF"/>
                      </a:gs>
                      <a:gs pos="0">
                        <a:srgbClr val="0042FF"/>
                      </a:gs>
                    </a:gsLst>
                    <a:lin ang="2700000" scaled="0"/>
                  </a:gradFill>
                  <a:latin typeface="微软雅黑"/>
                  <a:ea typeface="微软雅黑"/>
                  <a:cs typeface="微软雅黑"/>
                </a:defRPr>
              </a:lvl1pPr>
            </a:lstStyle>
            <a:p>
              <a:pPr algn="ctr" defTabSz="457200">
                <a:defRPr>
                  <a:latin typeface="微软雅黑"/>
                  <a:ea typeface="微软雅黑"/>
                  <a:cs typeface="微软雅黑"/>
                </a:defRPr>
              </a:pPr>
              <a:r>
                <a:rPr lang="zh-CN" sz="1600" b="0" dirty="0">
                  <a:solidFill>
                    <a:srgbClr val="383838"/>
                  </a:solidFill>
                  <a:latin typeface="微软雅黑"/>
                  <a:cs typeface="微软雅黑"/>
                  <a:ea typeface="微软雅黑"/>
                </a:rPr>
                <a:t>（智慧赋能）</a:t>
              </a:r>
              <a:endParaRPr lang="zh-CN" sz="1600" b="0" dirty="0">
                <a:solidFill>
                  <a:srgbClr val="383838"/>
                </a:solidFill>
                <a:latin typeface="微软雅黑"/>
                <a:cs typeface="微软雅黑"/>
                <a:ea typeface="微软雅黑"/>
              </a:endParaRPr>
            </a:p>
          </p:txBody>
        </p:sp>
      </p:grpSp>
      <p:grpSp>
        <p:nvGrpSpPr>
          <p:cNvPr id="107" name="组合 106"/>
          <p:cNvGrpSpPr/>
          <p:nvPr/>
        </p:nvGrpSpPr>
        <p:grpSpPr>
          <a:xfrm>
            <a:off x="8160385" y="2740025"/>
            <a:ext cx="1003300" cy="363220"/>
            <a:chOff x="12896" y="4362"/>
            <a:chExt cx="1676" cy="572"/>
          </a:xfrm>
        </p:grpSpPr>
        <p:sp>
          <p:nvSpPr>
            <p:cNvPr id="74" name="熊大的PPT宝库29-1"/>
            <p:cNvSpPr/>
            <p:nvPr/>
          </p:nvSpPr>
          <p:spPr>
            <a:xfrm>
              <a:off x="12896" y="4362"/>
              <a:ext cx="1676" cy="572"/>
            </a:xfrm>
            <a:prstGeom prst="roundRect">
              <a:avLst>
                <a:gd name="adj" fmla="val 50000"/>
              </a:avLst>
            </a:prstGeom>
            <a:gradFill>
              <a:gsLst>
                <a:gs pos="0">
                  <a:srgbClr val="FFFFFF"/>
                </a:gs>
                <a:gs pos="100000">
                  <a:srgbClr val="FFFFFF"/>
                </a:gs>
              </a:gsLst>
              <a:lin ang="2700000" scaled="1"/>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105" name="熊大的PPT宝库29-2"/>
            <p:cNvSpPr txBox="1"/>
            <p:nvPr/>
          </p:nvSpPr>
          <p:spPr>
            <a:xfrm>
              <a:off x="12896" y="4407"/>
              <a:ext cx="1675" cy="483"/>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量化指标</a:t>
              </a:r>
              <a:endParaRPr lang="zh-CN" altLang="en-US" sz="1400" dirty="0">
                <a:solidFill>
                  <a:srgbClr val="383838"/>
                </a:solidFill>
                <a:latin typeface="微软雅黑"/>
                <a:cs typeface="微软雅黑"/>
                <a:ea typeface="微软雅黑"/>
              </a:endParaRPr>
            </a:p>
          </p:txBody>
        </p:sp>
      </p:grpSp>
      <p:grpSp>
        <p:nvGrpSpPr>
          <p:cNvPr id="108" name="组合 107"/>
          <p:cNvGrpSpPr/>
          <p:nvPr/>
        </p:nvGrpSpPr>
        <p:grpSpPr>
          <a:xfrm>
            <a:off x="8160385" y="3251835"/>
            <a:ext cx="1003300" cy="363220"/>
            <a:chOff x="12896" y="4362"/>
            <a:chExt cx="1676" cy="572"/>
          </a:xfrm>
        </p:grpSpPr>
        <p:sp>
          <p:nvSpPr>
            <p:cNvPr id="109" name="熊大的PPT宝库29-1"/>
            <p:cNvSpPr/>
            <p:nvPr/>
          </p:nvSpPr>
          <p:spPr>
            <a:xfrm>
              <a:off x="12896" y="4362"/>
              <a:ext cx="1676" cy="572"/>
            </a:xfrm>
            <a:prstGeom prst="roundRect">
              <a:avLst>
                <a:gd name="adj" fmla="val 50000"/>
              </a:avLst>
            </a:prstGeom>
            <a:gradFill>
              <a:gsLst>
                <a:gs pos="0">
                  <a:srgbClr val="FFFFFF"/>
                </a:gs>
                <a:gs pos="100000">
                  <a:srgbClr val="FFFFFF"/>
                </a:gs>
              </a:gsLst>
              <a:lin ang="2700000" scaled="1"/>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110" name="熊大的PPT宝库29-2"/>
            <p:cNvSpPr txBox="1"/>
            <p:nvPr/>
          </p:nvSpPr>
          <p:spPr>
            <a:xfrm>
              <a:off x="12896" y="4407"/>
              <a:ext cx="1675" cy="483"/>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实时监控</a:t>
              </a:r>
              <a:endParaRPr lang="zh-CN" altLang="en-US" sz="1400" dirty="0">
                <a:solidFill>
                  <a:srgbClr val="383838"/>
                </a:solidFill>
                <a:latin typeface="微软雅黑"/>
                <a:cs typeface="微软雅黑"/>
                <a:ea typeface="微软雅黑"/>
              </a:endParaRPr>
            </a:p>
          </p:txBody>
        </p:sp>
      </p:grpSp>
      <p:grpSp>
        <p:nvGrpSpPr>
          <p:cNvPr id="111" name="组合 110"/>
          <p:cNvGrpSpPr/>
          <p:nvPr/>
        </p:nvGrpSpPr>
        <p:grpSpPr>
          <a:xfrm>
            <a:off x="9290050" y="2740025"/>
            <a:ext cx="1003300" cy="363220"/>
            <a:chOff x="12896" y="4362"/>
            <a:chExt cx="1676" cy="572"/>
          </a:xfrm>
        </p:grpSpPr>
        <p:sp>
          <p:nvSpPr>
            <p:cNvPr id="113" name="熊大的PPT宝库29-1"/>
            <p:cNvSpPr/>
            <p:nvPr/>
          </p:nvSpPr>
          <p:spPr>
            <a:xfrm>
              <a:off x="12896" y="4362"/>
              <a:ext cx="1676" cy="572"/>
            </a:xfrm>
            <a:prstGeom prst="roundRect">
              <a:avLst>
                <a:gd name="adj" fmla="val 50000"/>
              </a:avLst>
            </a:prstGeom>
            <a:gradFill>
              <a:gsLst>
                <a:gs pos="0">
                  <a:srgbClr val="FFFFFF"/>
                </a:gs>
                <a:gs pos="100000">
                  <a:srgbClr val="FFFFFF"/>
                </a:gs>
              </a:gsLst>
              <a:lin ang="2700000" scaled="1"/>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114" name="熊大的PPT宝库29-2"/>
            <p:cNvSpPr txBox="1"/>
            <p:nvPr/>
          </p:nvSpPr>
          <p:spPr>
            <a:xfrm>
              <a:off x="12896" y="4407"/>
              <a:ext cx="1675" cy="483"/>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节点标准</a:t>
              </a:r>
              <a:endParaRPr lang="zh-CN" altLang="en-US" sz="1400" dirty="0">
                <a:solidFill>
                  <a:srgbClr val="383838"/>
                </a:solidFill>
                <a:latin typeface="微软雅黑"/>
                <a:cs typeface="微软雅黑"/>
                <a:ea typeface="微软雅黑"/>
              </a:endParaRPr>
            </a:p>
          </p:txBody>
        </p:sp>
      </p:grpSp>
      <p:grpSp>
        <p:nvGrpSpPr>
          <p:cNvPr id="116" name="组合 115"/>
          <p:cNvGrpSpPr/>
          <p:nvPr/>
        </p:nvGrpSpPr>
        <p:grpSpPr>
          <a:xfrm>
            <a:off x="9310370" y="3251835"/>
            <a:ext cx="1003300" cy="363220"/>
            <a:chOff x="12896" y="4362"/>
            <a:chExt cx="1677" cy="572"/>
          </a:xfrm>
        </p:grpSpPr>
        <p:sp>
          <p:nvSpPr>
            <p:cNvPr id="117" name="熊大的PPT宝库29-1"/>
            <p:cNvSpPr/>
            <p:nvPr/>
          </p:nvSpPr>
          <p:spPr>
            <a:xfrm>
              <a:off x="12896" y="4362"/>
              <a:ext cx="1676" cy="572"/>
            </a:xfrm>
            <a:prstGeom prst="roundRect">
              <a:avLst>
                <a:gd name="adj" fmla="val 50000"/>
              </a:avLst>
            </a:prstGeom>
            <a:gradFill>
              <a:gsLst>
                <a:gs pos="0">
                  <a:srgbClr val="FFFFFF"/>
                </a:gs>
                <a:gs pos="100000">
                  <a:srgbClr val="FFFFFF"/>
                </a:gs>
              </a:gsLst>
              <a:lin ang="2700000" scaled="1"/>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118" name="熊大的PPT宝库29-2"/>
            <p:cNvSpPr txBox="1"/>
            <p:nvPr/>
          </p:nvSpPr>
          <p:spPr>
            <a:xfrm>
              <a:off x="12896" y="4407"/>
              <a:ext cx="1677" cy="483"/>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执行固化</a:t>
              </a:r>
              <a:endParaRPr lang="zh-CN" altLang="en-US" sz="1400" dirty="0">
                <a:solidFill>
                  <a:srgbClr val="383838"/>
                </a:solidFill>
                <a:latin typeface="微软雅黑"/>
                <a:cs typeface="微软雅黑"/>
                <a:ea typeface="微软雅黑"/>
              </a:endParaRPr>
            </a:p>
          </p:txBody>
        </p:sp>
      </p:grpSp>
      <p:grpSp>
        <p:nvGrpSpPr>
          <p:cNvPr id="119" name="组合 118"/>
          <p:cNvGrpSpPr/>
          <p:nvPr/>
        </p:nvGrpSpPr>
        <p:grpSpPr>
          <a:xfrm>
            <a:off x="10419715" y="2740025"/>
            <a:ext cx="1044575" cy="363220"/>
            <a:chOff x="12827" y="4362"/>
            <a:chExt cx="1745" cy="572"/>
          </a:xfrm>
        </p:grpSpPr>
        <p:sp>
          <p:nvSpPr>
            <p:cNvPr id="121" name="熊大的PPT宝库29-1"/>
            <p:cNvSpPr/>
            <p:nvPr/>
          </p:nvSpPr>
          <p:spPr>
            <a:xfrm>
              <a:off x="12896" y="4362"/>
              <a:ext cx="1676" cy="572"/>
            </a:xfrm>
            <a:prstGeom prst="roundRect">
              <a:avLst>
                <a:gd name="adj" fmla="val 50000"/>
              </a:avLst>
            </a:prstGeom>
            <a:gradFill>
              <a:gsLst>
                <a:gs pos="0">
                  <a:srgbClr val="FFFFFF"/>
                </a:gs>
                <a:gs pos="100000">
                  <a:srgbClr val="FFFFFF"/>
                </a:gs>
              </a:gsLst>
              <a:lin ang="2700000" scaled="1"/>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122" name="熊大的PPT宝库29-2"/>
            <p:cNvSpPr txBox="1"/>
            <p:nvPr/>
          </p:nvSpPr>
          <p:spPr>
            <a:xfrm>
              <a:off x="12827" y="4407"/>
              <a:ext cx="1744" cy="483"/>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流程显性</a:t>
              </a:r>
              <a:endParaRPr lang="zh-CN" altLang="en-US" sz="1400" dirty="0">
                <a:solidFill>
                  <a:srgbClr val="383838"/>
                </a:solidFill>
                <a:latin typeface="微软雅黑"/>
                <a:cs typeface="微软雅黑"/>
                <a:ea typeface="微软雅黑"/>
              </a:endParaRPr>
            </a:p>
          </p:txBody>
        </p:sp>
      </p:grpSp>
      <p:grpSp>
        <p:nvGrpSpPr>
          <p:cNvPr id="127" name="组合 126"/>
          <p:cNvGrpSpPr/>
          <p:nvPr/>
        </p:nvGrpSpPr>
        <p:grpSpPr>
          <a:xfrm>
            <a:off x="10460355" y="3251835"/>
            <a:ext cx="1003300" cy="363220"/>
            <a:chOff x="12896" y="4362"/>
            <a:chExt cx="1676" cy="572"/>
          </a:xfrm>
        </p:grpSpPr>
        <p:sp>
          <p:nvSpPr>
            <p:cNvPr id="128" name="熊大的PPT宝库29-1"/>
            <p:cNvSpPr/>
            <p:nvPr/>
          </p:nvSpPr>
          <p:spPr>
            <a:xfrm>
              <a:off x="12896" y="4362"/>
              <a:ext cx="1676" cy="572"/>
            </a:xfrm>
            <a:prstGeom prst="roundRect">
              <a:avLst>
                <a:gd name="adj" fmla="val 50000"/>
              </a:avLst>
            </a:prstGeom>
            <a:gradFill>
              <a:gsLst>
                <a:gs pos="0">
                  <a:srgbClr val="FFFFFF"/>
                </a:gs>
                <a:gs pos="100000">
                  <a:srgbClr val="FFFFFF"/>
                </a:gs>
              </a:gsLst>
              <a:lin ang="2700000" scaled="1"/>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129" name="熊大的PPT宝库29-2"/>
            <p:cNvSpPr txBox="1"/>
            <p:nvPr/>
          </p:nvSpPr>
          <p:spPr>
            <a:xfrm>
              <a:off x="12896" y="4407"/>
              <a:ext cx="1675" cy="483"/>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持续改进</a:t>
              </a:r>
              <a:endParaRPr lang="zh-CN" altLang="en-US" sz="1400" dirty="0">
                <a:solidFill>
                  <a:srgbClr val="383838"/>
                </a:solidFill>
                <a:latin typeface="微软雅黑"/>
                <a:cs typeface="微软雅黑"/>
                <a:ea typeface="微软雅黑"/>
              </a:endParaRPr>
            </a:p>
          </p:txBody>
        </p:sp>
      </p:grpSp>
      <p:grpSp>
        <p:nvGrpSpPr>
          <p:cNvPr id="138" name="组合 137"/>
          <p:cNvGrpSpPr/>
          <p:nvPr/>
        </p:nvGrpSpPr>
        <p:grpSpPr>
          <a:xfrm>
            <a:off x="8335010" y="4026364"/>
            <a:ext cx="1232424" cy="929065"/>
            <a:chOff x="12974" y="6190"/>
            <a:chExt cx="2353" cy="1773"/>
          </a:xfrm>
        </p:grpSpPr>
        <p:grpSp>
          <p:nvGrpSpPr>
            <p:cNvPr id="136" name="组合 135"/>
            <p:cNvGrpSpPr/>
            <p:nvPr/>
          </p:nvGrpSpPr>
          <p:grpSpPr>
            <a:xfrm>
              <a:off x="12974" y="6190"/>
              <a:ext cx="2353" cy="1773"/>
              <a:chOff x="13100" y="6250"/>
              <a:chExt cx="1831" cy="1773"/>
            </a:xfrm>
          </p:grpSpPr>
          <p:sp>
            <p:nvSpPr>
              <p:cNvPr id="130" name="熊大的PPT宝库35"/>
              <p:cNvSpPr/>
              <p:nvPr/>
            </p:nvSpPr>
            <p:spPr>
              <a:xfrm>
                <a:off x="13100" y="6348"/>
                <a:ext cx="1831" cy="1675"/>
              </a:xfrm>
              <a:prstGeom prst="roundRect">
                <a:avLst>
                  <a:gd name="adj" fmla="val 3421"/>
                </a:avLst>
              </a:prstGeom>
              <a:solidFill>
                <a:srgbClr val="FFFF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cs typeface="微软雅黑"/>
                  <a:ea typeface="微软雅黑"/>
                </a:endParaRPr>
              </a:p>
            </p:txBody>
          </p:sp>
          <p:sp>
            <p:nvSpPr>
              <p:cNvPr id="131" name="熊大的PPT宝库36"/>
              <p:cNvSpPr/>
              <p:nvPr/>
            </p:nvSpPr>
            <p:spPr>
              <a:xfrm>
                <a:off x="13100" y="6292"/>
                <a:ext cx="1831" cy="501"/>
              </a:xfrm>
              <a:prstGeom prst="roundRect">
                <a:avLst>
                  <a:gd name="adj" fmla="val 10322"/>
                </a:avLst>
              </a:prstGeom>
              <a:gradFill>
                <a:gsLst>
                  <a:gs pos="0">
                    <a:srgbClr val="B3D4FE"/>
                  </a:gs>
                  <a:gs pos="80000">
                    <a:srgbClr val="B3D4FE"/>
                  </a:gs>
                </a:gsLst>
                <a:lin ang="2700000" scaled="0"/>
              </a:gradFill>
              <a:ln w="9525" cap="flat">
                <a:noFill/>
                <a:prstDash val="solid"/>
                <a:miter/>
              </a:ln>
              <a:effectLst>
                <a:outerShdw blurRad="50800" dist="25400" dir="5400000" algn="t" rotWithShape="0">
                  <a:srgbClr val="B3D4FE">
                    <a:alpha val="2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133" name="熊大的PPT宝库37"/>
              <p:cNvSpPr txBox="1"/>
              <p:nvPr/>
            </p:nvSpPr>
            <p:spPr>
              <a:xfrm>
                <a:off x="13183" y="6250"/>
                <a:ext cx="1664" cy="585"/>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组织架构</a:t>
                </a:r>
                <a:endParaRPr lang="zh-CN" altLang="en-US" sz="1400" dirty="0">
                  <a:solidFill>
                    <a:srgbClr val="383838"/>
                  </a:solidFill>
                  <a:latin typeface="微软雅黑"/>
                  <a:cs typeface="微软雅黑"/>
                  <a:ea typeface="微软雅黑"/>
                </a:endParaRPr>
              </a:p>
            </p:txBody>
          </p:sp>
        </p:grpSp>
        <p:sp>
          <p:nvSpPr>
            <p:cNvPr id="137" name="熊大的PPT宝库29-2"/>
            <p:cNvSpPr txBox="1"/>
            <p:nvPr/>
          </p:nvSpPr>
          <p:spPr>
            <a:xfrm>
              <a:off x="13027" y="6946"/>
              <a:ext cx="2192" cy="879"/>
            </a:xfrm>
            <a:prstGeom prst="rect">
              <a:avLst/>
            </a:prstGeom>
            <a:noFill/>
          </p:spPr>
          <p:txBody>
            <a:bodyPr wrap="square">
              <a:spAutoFit/>
            </a:bodyPr>
            <a:lstStyle/>
            <a:p>
              <a:pPr algn="ctr" defTabSz="457200">
                <a:defRPr>
                  <a:latin typeface="微软雅黑"/>
                  <a:ea typeface="微软雅黑"/>
                  <a:cs typeface="微软雅黑"/>
                </a:defRPr>
              </a:pPr>
              <a:r>
                <a:rPr lang="zh-CN" altLang="en-US" sz="1200" dirty="0">
                  <a:solidFill>
                    <a:srgbClr val="383838"/>
                  </a:solidFill>
                  <a:latin typeface="微软雅黑"/>
                  <a:cs typeface="微软雅黑"/>
                  <a:ea typeface="微软雅黑"/>
                </a:rPr>
                <a:t>扁平化架构，快速响应市场</a:t>
              </a:r>
              <a:endParaRPr lang="zh-CN" altLang="en-US" sz="1200" dirty="0">
                <a:solidFill>
                  <a:srgbClr val="383838"/>
                </a:solidFill>
                <a:latin typeface="微软雅黑"/>
                <a:cs typeface="微软雅黑"/>
                <a:ea typeface="微软雅黑"/>
              </a:endParaRPr>
            </a:p>
          </p:txBody>
        </p:sp>
      </p:grpSp>
      <p:grpSp>
        <p:nvGrpSpPr>
          <p:cNvPr id="236" name="组合 235"/>
          <p:cNvGrpSpPr/>
          <p:nvPr/>
        </p:nvGrpSpPr>
        <p:grpSpPr>
          <a:xfrm>
            <a:off x="7745730" y="5455920"/>
            <a:ext cx="690245" cy="862330"/>
            <a:chOff x="12144" y="8529"/>
            <a:chExt cx="1087" cy="1358"/>
          </a:xfrm>
        </p:grpSpPr>
        <p:grpSp>
          <p:nvGrpSpPr>
            <p:cNvPr id="997" name="组合 996"/>
            <p:cNvGrpSpPr/>
            <p:nvPr/>
          </p:nvGrpSpPr>
          <p:grpSpPr>
            <a:xfrm rot="0">
              <a:off x="12144" y="8881"/>
              <a:ext cx="1087" cy="1006"/>
              <a:chOff x="1750980" y="5624548"/>
              <a:chExt cx="690236" cy="639134"/>
            </a:xfrm>
          </p:grpSpPr>
          <p:sp>
            <p:nvSpPr>
              <p:cNvPr id="999" name="@显眼包PPT15-1"/>
              <p:cNvSpPr txBox="1"/>
              <p:nvPr/>
            </p:nvSpPr>
            <p:spPr>
              <a:xfrm>
                <a:off x="1918301" y="5624548"/>
                <a:ext cx="355595" cy="430748"/>
              </a:xfrm>
              <a:prstGeom prst="rect">
                <a:avLst/>
              </a:prstGeom>
              <a:noFill/>
            </p:spPr>
            <p:txBody>
              <a:bodyPr wrap="none" lIns="0" tIns="0" rIns="0" bIns="0" rtlCol="0">
                <a:spAutoFit/>
                <a:scene3d>
                  <a:camera prst="orthographicFront"/>
                  <a:lightRig rig="threePt" dir="t"/>
                </a:scene3d>
              </a:bodyPr>
              <a:lstStyle/>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zh-CN" sz="1400" b="1" dirty="0">
                    <a:solidFill>
                      <a:srgbClr val="0042FF"/>
                    </a:solidFill>
                    <a:latin typeface="微软雅黑"/>
                    <a:ea typeface="微软雅黑"/>
                    <a:cs typeface="微软雅黑"/>
                  </a:rPr>
                  <a:t>数据</a:t>
                </a:r>
                <a:endParaRPr lang="zh-CN" sz="1400" b="1" dirty="0">
                  <a:solidFill>
                    <a:srgbClr val="0042FF"/>
                  </a:solidFill>
                  <a:latin typeface="微软雅黑"/>
                  <a:ea typeface="微软雅黑"/>
                  <a:cs typeface="微软雅黑"/>
                </a:endParaRPr>
              </a:p>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zh-CN" sz="1400" b="1" dirty="0">
                    <a:solidFill>
                      <a:srgbClr val="0042FF"/>
                    </a:solidFill>
                    <a:latin typeface="微软雅黑"/>
                    <a:ea typeface="微软雅黑"/>
                    <a:cs typeface="微软雅黑"/>
                  </a:rPr>
                  <a:t>打通</a:t>
                </a:r>
                <a:endParaRPr lang="zh-CN" sz="1400" b="1" dirty="0">
                  <a:solidFill>
                    <a:srgbClr val="0042FF"/>
                  </a:solidFill>
                  <a:latin typeface="微软雅黑"/>
                  <a:ea typeface="微软雅黑"/>
                  <a:cs typeface="微软雅黑"/>
                </a:endParaRPr>
              </a:p>
            </p:txBody>
          </p:sp>
          <p:grpSp>
            <p:nvGrpSpPr>
              <p:cNvPr id="1000" name="组合 999"/>
              <p:cNvGrpSpPr/>
              <p:nvPr/>
            </p:nvGrpSpPr>
            <p:grpSpPr>
              <a:xfrm>
                <a:off x="1750980" y="5816937"/>
                <a:ext cx="690236" cy="446745"/>
                <a:chOff x="1846211" y="5922627"/>
                <a:chExt cx="661308" cy="344058"/>
              </a:xfrm>
            </p:grpSpPr>
            <p:grpSp>
              <p:nvGrpSpPr>
                <p:cNvPr id="1001" name="组合 1000"/>
                <p:cNvGrpSpPr/>
                <p:nvPr/>
              </p:nvGrpSpPr>
              <p:grpSpPr>
                <a:xfrm>
                  <a:off x="1846211" y="6090853"/>
                  <a:ext cx="661308" cy="175832"/>
                  <a:chOff x="1160606" y="3870007"/>
                  <a:chExt cx="584190" cy="135236"/>
                </a:xfrm>
              </p:grpSpPr>
              <p:sp>
                <p:nvSpPr>
                  <p:cNvPr id="1012" name="@显眼包PPT15-2"/>
                  <p:cNvSpPr/>
                  <p:nvPr/>
                </p:nvSpPr>
                <p:spPr>
                  <a:xfrm>
                    <a:off x="1216805" y="3943756"/>
                    <a:ext cx="471792" cy="61487"/>
                  </a:xfrm>
                  <a:prstGeom prst="hexagon">
                    <a:avLst>
                      <a:gd name="adj" fmla="val 113646"/>
                      <a:gd name="vf" fmla="val 115470"/>
                    </a:avLst>
                  </a:prstGeom>
                  <a:gradFill flip="none" rotWithShape="1">
                    <a:gsLst>
                      <a:gs pos="12000">
                        <a:srgbClr val="3368FF">
                          <a:alpha val="27000"/>
                        </a:srgbClr>
                      </a:gs>
                      <a:gs pos="94000">
                        <a:srgbClr val="3368FF">
                          <a:alpha val="0"/>
                        </a:srgbClr>
                      </a:gs>
                    </a:gsLst>
                    <a:lin ang="16200000" scaled="1"/>
                    <a:tileRect/>
                  </a:gradFill>
                  <a:ln w="317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13" name="@显眼包PPT3-3"/>
                  <p:cNvSpPr/>
                  <p:nvPr/>
                </p:nvSpPr>
                <p:spPr>
                  <a:xfrm>
                    <a:off x="1160606" y="3870007"/>
                    <a:ext cx="584190" cy="93301"/>
                  </a:xfrm>
                  <a:prstGeom prst="hexagon">
                    <a:avLst>
                      <a:gd name="adj" fmla="val 113646"/>
                      <a:gd name="vf" fmla="val 115470"/>
                    </a:avLst>
                  </a:prstGeom>
                  <a:gradFill flip="none" rotWithShape="1">
                    <a:gsLst>
                      <a:gs pos="12000">
                        <a:srgbClr val="3368FF">
                          <a:alpha val="50000"/>
                        </a:srgbClr>
                      </a:gs>
                      <a:gs pos="94000">
                        <a:srgbClr val="3368FF">
                          <a:alpha val="0"/>
                        </a:srgbClr>
                      </a:gs>
                    </a:gsLst>
                    <a:lin ang="16200000" scaled="1"/>
                    <a:tileRect/>
                  </a:gradFill>
                  <a:ln w="12700">
                    <a:gradFill>
                      <a:gsLst>
                        <a:gs pos="7000">
                          <a:srgbClr val="3368FF">
                            <a:alpha val="0"/>
                          </a:srgbClr>
                        </a:gs>
                        <a:gs pos="88000">
                          <a:srgbClr val="3368FF"/>
                        </a:gs>
                      </a:gsLst>
                      <a:lin ang="5400000" scaled="1"/>
                    </a:gra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1002" name="组合 1001"/>
                <p:cNvGrpSpPr/>
                <p:nvPr/>
              </p:nvGrpSpPr>
              <p:grpSpPr>
                <a:xfrm>
                  <a:off x="1878900" y="5922627"/>
                  <a:ext cx="595930" cy="197490"/>
                  <a:chOff x="1184081" y="3694733"/>
                  <a:chExt cx="544509" cy="175270"/>
                </a:xfrm>
              </p:grpSpPr>
              <p:grpSp>
                <p:nvGrpSpPr>
                  <p:cNvPr id="1006" name="组合 1005"/>
                  <p:cNvGrpSpPr/>
                  <p:nvPr/>
                </p:nvGrpSpPr>
                <p:grpSpPr>
                  <a:xfrm>
                    <a:off x="1682870" y="3694733"/>
                    <a:ext cx="45720" cy="175270"/>
                    <a:chOff x="1144352" y="3690146"/>
                    <a:chExt cx="55150" cy="175270"/>
                  </a:xfrm>
                </p:grpSpPr>
                <p:cxnSp>
                  <p:nvCxnSpPr>
                    <p:cNvPr id="1010" name="@显眼包PPT3-4"/>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1011" name="@显眼包PPT3-5"/>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nvGrpSpPr>
                  <p:cNvPr id="1007" name="组合 1006"/>
                  <p:cNvGrpSpPr/>
                  <p:nvPr/>
                </p:nvGrpSpPr>
                <p:grpSpPr>
                  <a:xfrm flipH="1">
                    <a:off x="1184081" y="3694733"/>
                    <a:ext cx="45720" cy="175270"/>
                    <a:chOff x="1144352" y="3690146"/>
                    <a:chExt cx="55150" cy="175270"/>
                  </a:xfrm>
                </p:grpSpPr>
                <p:cxnSp>
                  <p:nvCxnSpPr>
                    <p:cNvPr id="1008" name="@显眼包PPT3-6"/>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1009" name="@显眼包PPT3-7"/>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grpSp>
              <p:nvGrpSpPr>
                <p:cNvPr id="1003" name="组合 1002"/>
                <p:cNvGrpSpPr/>
                <p:nvPr/>
              </p:nvGrpSpPr>
              <p:grpSpPr>
                <a:xfrm>
                  <a:off x="1935420" y="6154572"/>
                  <a:ext cx="482891" cy="28956"/>
                  <a:chOff x="1379689" y="4245602"/>
                  <a:chExt cx="482891" cy="28956"/>
                </a:xfrm>
              </p:grpSpPr>
              <p:sp>
                <p:nvSpPr>
                  <p:cNvPr id="1004" name="@显眼包PPT3-8"/>
                  <p:cNvSpPr/>
                  <p:nvPr/>
                </p:nvSpPr>
                <p:spPr>
                  <a:xfrm>
                    <a:off x="1379689"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05" name="@显眼包PPT3-9"/>
                  <p:cNvSpPr/>
                  <p:nvPr/>
                </p:nvSpPr>
                <p:spPr>
                  <a:xfrm flipH="1">
                    <a:off x="1698914"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grpSp>
        <p:sp>
          <p:nvSpPr>
            <p:cNvPr id="998" name="显眼包PPT13-1"/>
            <p:cNvSpPr/>
            <p:nvPr/>
          </p:nvSpPr>
          <p:spPr>
            <a:xfrm>
              <a:off x="12497" y="8529"/>
              <a:ext cx="354" cy="374"/>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23000">
                  <a:srgbClr val="3368FF">
                    <a:alpha val="0"/>
                  </a:srgbClr>
                </a:gs>
                <a:gs pos="100000">
                  <a:srgbClr val="3368FF"/>
                </a:gs>
              </a:gsLst>
              <a:lin ang="16200000" scaled="0"/>
              <a:tileRect/>
            </a:gradFill>
            <a:ln w="15875">
              <a:noFill/>
              <a:round/>
            </a:ln>
            <a:effec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dirty="0">
                <a:solidFill>
                  <a:srgbClr val="383838"/>
                </a:solidFill>
                <a:cs typeface="微软雅黑"/>
                <a:latin typeface="微软雅黑"/>
                <a:ea typeface="微软雅黑"/>
              </a:endParaRPr>
            </a:p>
          </p:txBody>
        </p:sp>
      </p:grpSp>
      <p:grpSp>
        <p:nvGrpSpPr>
          <p:cNvPr id="208" name="组合 207"/>
          <p:cNvGrpSpPr/>
          <p:nvPr/>
        </p:nvGrpSpPr>
        <p:grpSpPr>
          <a:xfrm>
            <a:off x="9954260" y="4026364"/>
            <a:ext cx="1232424" cy="929065"/>
            <a:chOff x="12974" y="6190"/>
            <a:chExt cx="2353" cy="1773"/>
          </a:xfrm>
        </p:grpSpPr>
        <p:grpSp>
          <p:nvGrpSpPr>
            <p:cNvPr id="209" name="组合 208"/>
            <p:cNvGrpSpPr/>
            <p:nvPr/>
          </p:nvGrpSpPr>
          <p:grpSpPr>
            <a:xfrm>
              <a:off x="12974" y="6190"/>
              <a:ext cx="2353" cy="1773"/>
              <a:chOff x="13100" y="6250"/>
              <a:chExt cx="1831" cy="1773"/>
            </a:xfrm>
          </p:grpSpPr>
          <p:sp>
            <p:nvSpPr>
              <p:cNvPr id="210" name="熊大的PPT宝库35"/>
              <p:cNvSpPr/>
              <p:nvPr/>
            </p:nvSpPr>
            <p:spPr>
              <a:xfrm>
                <a:off x="13100" y="6348"/>
                <a:ext cx="1831" cy="1675"/>
              </a:xfrm>
              <a:prstGeom prst="roundRect">
                <a:avLst>
                  <a:gd name="adj" fmla="val 3421"/>
                </a:avLst>
              </a:prstGeom>
              <a:solidFill>
                <a:srgbClr val="FFFF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cs typeface="微软雅黑"/>
                  <a:ea typeface="微软雅黑"/>
                </a:endParaRPr>
              </a:p>
            </p:txBody>
          </p:sp>
          <p:sp>
            <p:nvSpPr>
              <p:cNvPr id="211" name="熊大的PPT宝库36"/>
              <p:cNvSpPr/>
              <p:nvPr/>
            </p:nvSpPr>
            <p:spPr>
              <a:xfrm>
                <a:off x="13100" y="6292"/>
                <a:ext cx="1831" cy="501"/>
              </a:xfrm>
              <a:prstGeom prst="roundRect">
                <a:avLst>
                  <a:gd name="adj" fmla="val 10322"/>
                </a:avLst>
              </a:prstGeom>
              <a:gradFill>
                <a:gsLst>
                  <a:gs pos="0">
                    <a:srgbClr val="B3D4FE"/>
                  </a:gs>
                  <a:gs pos="80000">
                    <a:srgbClr val="B3D4FE"/>
                  </a:gs>
                </a:gsLst>
                <a:lin ang="2700000" scaled="0"/>
              </a:gradFill>
              <a:ln w="9525" cap="flat">
                <a:noFill/>
                <a:prstDash val="solid"/>
                <a:miter/>
              </a:ln>
              <a:effectLst>
                <a:outerShdw blurRad="50800" dist="25400" dir="5400000" algn="t" rotWithShape="0">
                  <a:srgbClr val="B3D4FE">
                    <a:alpha val="20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defTabSz="457200">
                  <a:defRPr>
                    <a:latin typeface="微软雅黑"/>
                    <a:ea typeface="微软雅黑"/>
                    <a:cs typeface="微软雅黑"/>
                  </a:defRPr>
                </a:pPr>
                <a:endParaRPr lang="zh-CN" altLang="en-US" dirty="0">
                  <a:latin typeface="微软雅黑"/>
                  <a:cs typeface="微软雅黑"/>
                  <a:ea typeface="微软雅黑"/>
                </a:endParaRPr>
              </a:p>
            </p:txBody>
          </p:sp>
          <p:sp>
            <p:nvSpPr>
              <p:cNvPr id="212" name="熊大的PPT宝库37"/>
              <p:cNvSpPr txBox="1"/>
              <p:nvPr/>
            </p:nvSpPr>
            <p:spPr>
              <a:xfrm>
                <a:off x="13183" y="6250"/>
                <a:ext cx="1664" cy="585"/>
              </a:xfrm>
              <a:prstGeom prst="rect">
                <a:avLst/>
              </a:prstGeom>
              <a:noFill/>
            </p:spPr>
            <p:txBody>
              <a:bodyPr wrap="square">
                <a:spAutoFit/>
              </a:bodyPr>
              <a:lstStyle/>
              <a:p>
                <a:pPr algn="ctr" defTabSz="457200">
                  <a:defRPr>
                    <a:latin typeface="微软雅黑"/>
                    <a:ea typeface="微软雅黑"/>
                    <a:cs typeface="微软雅黑"/>
                  </a:defRPr>
                </a:pPr>
                <a:r>
                  <a:rPr lang="zh-CN" altLang="en-US" sz="1400" dirty="0">
                    <a:solidFill>
                      <a:srgbClr val="383838"/>
                    </a:solidFill>
                    <a:latin typeface="微软雅黑"/>
                    <a:cs typeface="微软雅黑"/>
                    <a:ea typeface="微软雅黑"/>
                  </a:rPr>
                  <a:t>人才梯队</a:t>
                </a:r>
                <a:endParaRPr lang="zh-CN" altLang="en-US" sz="1400" dirty="0">
                  <a:solidFill>
                    <a:srgbClr val="383838"/>
                  </a:solidFill>
                  <a:latin typeface="微软雅黑"/>
                  <a:cs typeface="微软雅黑"/>
                  <a:ea typeface="微软雅黑"/>
                </a:endParaRPr>
              </a:p>
            </p:txBody>
          </p:sp>
        </p:grpSp>
        <p:sp>
          <p:nvSpPr>
            <p:cNvPr id="213" name="熊大的PPT宝库29-2"/>
            <p:cNvSpPr txBox="1"/>
            <p:nvPr/>
          </p:nvSpPr>
          <p:spPr>
            <a:xfrm>
              <a:off x="13027" y="6946"/>
              <a:ext cx="2192" cy="879"/>
            </a:xfrm>
            <a:prstGeom prst="rect">
              <a:avLst/>
            </a:prstGeom>
            <a:noFill/>
          </p:spPr>
          <p:txBody>
            <a:bodyPr wrap="square">
              <a:spAutoFit/>
            </a:bodyPr>
            <a:lstStyle/>
            <a:p>
              <a:pPr algn="ctr" defTabSz="457200">
                <a:defRPr>
                  <a:latin typeface="微软雅黑"/>
                  <a:ea typeface="微软雅黑"/>
                  <a:cs typeface="微软雅黑"/>
                </a:defRPr>
              </a:pPr>
              <a:r>
                <a:rPr lang="zh-CN" altLang="en-US" sz="1200" dirty="0">
                  <a:solidFill>
                    <a:srgbClr val="383838"/>
                  </a:solidFill>
                  <a:latin typeface="微软雅黑"/>
                  <a:cs typeface="微软雅黑"/>
                  <a:ea typeface="微软雅黑"/>
                </a:rPr>
                <a:t>具备支撑战略的核心能力</a:t>
              </a:r>
              <a:endParaRPr lang="zh-CN" altLang="en-US" sz="1200" dirty="0">
                <a:solidFill>
                  <a:srgbClr val="383838"/>
                </a:solidFill>
                <a:latin typeface="微软雅黑"/>
                <a:cs typeface="微软雅黑"/>
                <a:ea typeface="微软雅黑"/>
              </a:endParaRPr>
            </a:p>
          </p:txBody>
        </p:sp>
      </p:grpSp>
      <p:sp>
        <p:nvSpPr>
          <p:cNvPr id="302" name="©显眼包PPT5"/>
          <p:cNvSpPr/>
          <p:nvPr/>
        </p:nvSpPr>
        <p:spPr>
          <a:xfrm>
            <a:off x="2613660" y="3164205"/>
            <a:ext cx="1380490" cy="1380490"/>
          </a:xfrm>
          <a:prstGeom prst="ellipse">
            <a:avLst/>
          </a:prstGeom>
          <a:solidFill>
            <a:srgbClr val="FFFFFF"/>
          </a:solidFill>
          <a:ln>
            <a:solidFill>
              <a:srgbClr val="FFFFFF"/>
            </a:solidFill>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cxnSp>
        <p:nvCxnSpPr>
          <p:cNvPr id="303" name="直接连接符 302"/>
          <p:cNvCxnSpPr/>
          <p:nvPr/>
        </p:nvCxnSpPr>
        <p:spPr>
          <a:xfrm flipH="1">
            <a:off x="1252855" y="4425315"/>
            <a:ext cx="944880" cy="58928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304" name="直接连接符 303"/>
          <p:cNvCxnSpPr/>
          <p:nvPr/>
        </p:nvCxnSpPr>
        <p:spPr>
          <a:xfrm flipH="1" flipV="1">
            <a:off x="1781175" y="2033270"/>
            <a:ext cx="359410" cy="44196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sp>
        <p:nvSpPr>
          <p:cNvPr id="325" name="©显眼包PPT-13"/>
          <p:cNvSpPr txBox="1"/>
          <p:nvPr/>
        </p:nvSpPr>
        <p:spPr>
          <a:xfrm>
            <a:off x="3048000" y="2899410"/>
            <a:ext cx="494665" cy="336550"/>
          </a:xfrm>
          <a:prstGeom prst="rect">
            <a:avLst/>
          </a:prstGeom>
          <a:noFill/>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四维</a:t>
            </a:r>
            <a:endParaRPr lang="zh-CN" altLang="en-US" sz="1000" dirty="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支撑</a:t>
            </a:r>
            <a:endParaRPr lang="zh-CN" altLang="en-US" sz="1000" dirty="0">
              <a:solidFill>
                <a:srgbClr val="383838"/>
              </a:solidFill>
              <a:latin typeface="微软雅黑"/>
              <a:ea typeface="微软雅黑"/>
              <a:cs typeface="微软雅黑"/>
            </a:endParaRPr>
          </a:p>
        </p:txBody>
      </p:sp>
      <p:sp>
        <p:nvSpPr>
          <p:cNvPr id="327" name="©显眼包PPT-13"/>
          <p:cNvSpPr txBox="1"/>
          <p:nvPr/>
        </p:nvSpPr>
        <p:spPr>
          <a:xfrm>
            <a:off x="3028950" y="4634865"/>
            <a:ext cx="494665" cy="336550"/>
          </a:xfrm>
          <a:prstGeom prst="rect">
            <a:avLst/>
          </a:prstGeom>
          <a:noFill/>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四维</a:t>
            </a:r>
            <a:endParaRPr lang="zh-CN" altLang="en-US" sz="1000" dirty="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支撑</a:t>
            </a:r>
            <a:endParaRPr lang="zh-CN" altLang="en-US" sz="1000" dirty="0">
              <a:solidFill>
                <a:srgbClr val="383838"/>
              </a:solidFill>
              <a:latin typeface="微软雅黑"/>
              <a:ea typeface="微软雅黑"/>
              <a:cs typeface="微软雅黑"/>
            </a:endParaRPr>
          </a:p>
        </p:txBody>
      </p:sp>
      <p:sp>
        <p:nvSpPr>
          <p:cNvPr id="329" name="©显眼包PPT-13"/>
          <p:cNvSpPr txBox="1"/>
          <p:nvPr/>
        </p:nvSpPr>
        <p:spPr>
          <a:xfrm>
            <a:off x="2286000" y="3750945"/>
            <a:ext cx="219075" cy="598170"/>
          </a:xfrm>
          <a:prstGeom prst="rect">
            <a:avLst/>
          </a:prstGeom>
          <a:noFill/>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四维支撑</a:t>
            </a:r>
            <a:endParaRPr lang="zh-CN" altLang="en-US" sz="1000" dirty="0">
              <a:solidFill>
                <a:srgbClr val="383838"/>
              </a:solidFill>
              <a:latin typeface="微软雅黑"/>
              <a:ea typeface="微软雅黑"/>
              <a:cs typeface="微软雅黑"/>
            </a:endParaRPr>
          </a:p>
        </p:txBody>
      </p:sp>
      <p:sp>
        <p:nvSpPr>
          <p:cNvPr id="330" name="©显眼包PPT-13"/>
          <p:cNvSpPr txBox="1"/>
          <p:nvPr/>
        </p:nvSpPr>
        <p:spPr>
          <a:xfrm>
            <a:off x="4050665" y="3725545"/>
            <a:ext cx="219075" cy="598170"/>
          </a:xfrm>
          <a:prstGeom prst="rect">
            <a:avLst/>
          </a:prstGeom>
          <a:noFill/>
        </p:spPr>
        <p:txBody>
          <a:bodyPr wrap="square" lIns="0" tIns="0" rIns="0" bIns="0" rtlCol="0" anchor="t">
            <a:noAutofit/>
          </a:bodyPr>
          <a:lstStyle/>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四维支撑</a:t>
            </a:r>
            <a:endParaRPr lang="zh-CN" altLang="en-US" sz="1000" dirty="0">
              <a:solidFill>
                <a:srgbClr val="383838"/>
              </a:solidFill>
              <a:latin typeface="微软雅黑"/>
              <a:ea typeface="微软雅黑"/>
              <a:cs typeface="微软雅黑"/>
            </a:endParaRPr>
          </a:p>
        </p:txBody>
      </p:sp>
      <p:sp>
        <p:nvSpPr>
          <p:cNvPr id="333" name="任意多边形 332"/>
          <p:cNvSpPr/>
          <p:nvPr/>
        </p:nvSpPr>
        <p:spPr>
          <a:xfrm rot="5400000">
            <a:off x="1092835" y="2444750"/>
            <a:ext cx="2623185" cy="171958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4131" h="2711">
                <a:moveTo>
                  <a:pt x="0" y="320"/>
                </a:moveTo>
                <a:lnTo>
                  <a:pt x="289" y="0"/>
                </a:lnTo>
                <a:lnTo>
                  <a:pt x="578" y="320"/>
                </a:lnTo>
                <a:lnTo>
                  <a:pt x="400" y="320"/>
                </a:lnTo>
                <a:cubicBezTo>
                  <a:pt x="506" y="1557"/>
                  <a:pt x="1704" y="2524"/>
                  <a:pt x="2852" y="2491"/>
                </a:cubicBezTo>
                <a:cubicBezTo>
                  <a:pt x="3274" y="2497"/>
                  <a:pt x="3713" y="2368"/>
                  <a:pt x="4029" y="2193"/>
                </a:cubicBezTo>
                <a:lnTo>
                  <a:pt x="4131" y="2384"/>
                </a:lnTo>
                <a:cubicBezTo>
                  <a:pt x="3759" y="2594"/>
                  <a:pt x="3271" y="2711"/>
                  <a:pt x="2851" y="2708"/>
                </a:cubicBezTo>
                <a:cubicBezTo>
                  <a:pt x="1437" y="2779"/>
                  <a:pt x="255" y="1462"/>
                  <a:pt x="182" y="320"/>
                </a:cubicBezTo>
                <a:lnTo>
                  <a:pt x="0" y="320"/>
                </a:lnTo>
                <a:close/>
              </a:path>
            </a:pathLst>
          </a:custGeom>
          <a:gradFill>
            <a:gsLst>
              <a:gs pos="0">
                <a:srgbClr val="0042FF"/>
              </a:gs>
              <a:gs pos="100000">
                <a:srgbClr val="668EFF"/>
              </a:gs>
            </a:gsLst>
            <a:lin ang="54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120" name="组合 119"/>
          <p:cNvGrpSpPr/>
          <p:nvPr/>
        </p:nvGrpSpPr>
        <p:grpSpPr>
          <a:xfrm>
            <a:off x="2504758" y="3050223"/>
            <a:ext cx="1572260" cy="1584960"/>
            <a:chOff x="3994" y="4761"/>
            <a:chExt cx="2476" cy="2496"/>
          </a:xfrm>
        </p:grpSpPr>
        <p:sp>
          <p:nvSpPr>
            <p:cNvPr id="305" name="©显眼包PPT5"/>
            <p:cNvSpPr/>
            <p:nvPr/>
          </p:nvSpPr>
          <p:spPr>
            <a:xfrm>
              <a:off x="4116" y="4980"/>
              <a:ext cx="2174" cy="2174"/>
            </a:xfrm>
            <a:prstGeom prst="ellipse">
              <a:avLst/>
            </a:prstGeom>
            <a:solidFill>
              <a:srgbClr val="FFFFFF"/>
            </a:solidFill>
            <a:ln>
              <a:solidFill>
                <a:srgbClr val="B3D4FE"/>
              </a:solidFill>
              <a:prstDash val="sys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2000">
                <a:solidFill>
                  <a:srgbClr val="383838"/>
                </a:solidFill>
                <a:latin typeface="微软雅黑"/>
                <a:ea typeface="微软雅黑"/>
                <a:cs typeface="微软雅黑"/>
              </a:endParaRPr>
            </a:p>
          </p:txBody>
        </p:sp>
        <p:grpSp>
          <p:nvGrpSpPr>
            <p:cNvPr id="318" name="组合 317"/>
            <p:cNvGrpSpPr/>
            <p:nvPr/>
          </p:nvGrpSpPr>
          <p:grpSpPr>
            <a:xfrm>
              <a:off x="3994" y="4761"/>
              <a:ext cx="826" cy="826"/>
              <a:chOff x="3827" y="4787"/>
              <a:chExt cx="977" cy="977"/>
            </a:xfrm>
          </p:grpSpPr>
          <p:grpSp>
            <p:nvGrpSpPr>
              <p:cNvPr id="319" name="组合 318"/>
              <p:cNvGrpSpPr/>
              <p:nvPr/>
            </p:nvGrpSpPr>
            <p:grpSpPr>
              <a:xfrm rot="0">
                <a:off x="3827" y="4787"/>
                <a:ext cx="977" cy="977"/>
                <a:chOff x="8654" y="4120"/>
                <a:chExt cx="1146" cy="1146"/>
              </a:xfrm>
            </p:grpSpPr>
            <p:sp>
              <p:nvSpPr>
                <p:cNvPr id="320" name="©显眼包PPT-1"/>
                <p:cNvSpPr/>
                <p:nvPr/>
              </p:nvSpPr>
              <p:spPr>
                <a:xfrm>
                  <a:off x="8654" y="4120"/>
                  <a:ext cx="1146" cy="1146"/>
                </a:xfrm>
                <a:prstGeom prst="ellipse">
                  <a:avLst/>
                </a:pr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21" name="©显眼包PPT-2"/>
                <p:cNvSpPr/>
                <p:nvPr/>
              </p:nvSpPr>
              <p:spPr>
                <a:xfrm>
                  <a:off x="8710" y="4176"/>
                  <a:ext cx="1033" cy="1033"/>
                </a:xfrm>
                <a:prstGeom prst="ellipse">
                  <a:avLst/>
                </a:prstGeom>
                <a:gradFill flip="none" rotWithShape="1">
                  <a:gsLst>
                    <a:gs pos="39000">
                      <a:srgbClr val="FFFFFF"/>
                    </a:gs>
                    <a:gs pos="100000">
                      <a:srgbClr val="B3D4FE"/>
                    </a:gs>
                  </a:gsLst>
                  <a:path path="circle">
                    <a:fillToRect l="50000" t="50000" r="50000" b="50000"/>
                  </a:path>
                  <a:tileRect/>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22" name="©显眼包PPT-3"/>
                <p:cNvSpPr/>
                <p:nvPr/>
              </p:nvSpPr>
              <p:spPr>
                <a:xfrm>
                  <a:off x="8751" y="4217"/>
                  <a:ext cx="953" cy="953"/>
                </a:xfrm>
                <a:prstGeom prst="ellipse">
                  <a:avLst/>
                </a:prstGeom>
                <a:noFill/>
                <a:ln w="635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grpSp>
          <p:sp>
            <p:nvSpPr>
              <p:cNvPr id="323" name="©显眼包PPT-13"/>
              <p:cNvSpPr txBox="1"/>
              <p:nvPr/>
            </p:nvSpPr>
            <p:spPr>
              <a:xfrm>
                <a:off x="3830" y="4992"/>
                <a:ext cx="970" cy="331"/>
              </a:xfrm>
              <a:prstGeom prst="rect">
                <a:avLst/>
              </a:prstGeom>
              <a:noFill/>
            </p:spPr>
            <p:txBody>
              <a:bodyPr wrap="none" lIns="0" tIns="0" rIns="0" bIns="0" rtlCol="0" anchor="ctr">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a:t>
                </a:r>
                <a:r>
                  <a:rPr lang="zh-CN" altLang="en-US" sz="1000" b="1" dirty="0">
                    <a:solidFill>
                      <a:srgbClr val="0042FF"/>
                    </a:solidFill>
                    <a:latin typeface="微软雅黑"/>
                    <a:ea typeface="微软雅黑"/>
                    <a:cs typeface="微软雅黑"/>
                  </a:rPr>
                  <a:t>一维</a:t>
                </a:r>
                <a:r>
                  <a:rPr lang="en-US" altLang="zh-CN" sz="1000" b="1" dirty="0">
                    <a:solidFill>
                      <a:srgbClr val="0042FF"/>
                    </a:solidFill>
                    <a:latin typeface="微软雅黑"/>
                    <a:ea typeface="微软雅黑"/>
                    <a:cs typeface="微软雅黑"/>
                  </a:rPr>
                  <a:t>”</a:t>
                </a:r>
                <a:endParaRPr lang="en-US" altLang="zh-CN" sz="1000" b="1" dirty="0">
                  <a:solidFill>
                    <a:srgbClr val="0042FF"/>
                  </a:solidFill>
                  <a:latin typeface="微软雅黑"/>
                  <a:ea typeface="微软雅黑"/>
                  <a:cs typeface="微软雅黑"/>
                </a:endParaRPr>
              </a:p>
            </p:txBody>
          </p:sp>
          <p:sp>
            <p:nvSpPr>
              <p:cNvPr id="324" name="©显眼包PPT-13"/>
              <p:cNvSpPr txBox="1"/>
              <p:nvPr/>
            </p:nvSpPr>
            <p:spPr>
              <a:xfrm>
                <a:off x="3925" y="5277"/>
                <a:ext cx="779" cy="319"/>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战略</a:t>
                </a:r>
                <a:endParaRPr lang="zh-CN" altLang="en-US" sz="1000" dirty="0">
                  <a:solidFill>
                    <a:srgbClr val="383838"/>
                  </a:solidFill>
                  <a:latin typeface="微软雅黑"/>
                  <a:ea typeface="微软雅黑"/>
                  <a:cs typeface="微软雅黑"/>
                </a:endParaRPr>
              </a:p>
            </p:txBody>
          </p:sp>
        </p:grpSp>
        <p:sp>
          <p:nvSpPr>
            <p:cNvPr id="326" name="下箭头 325"/>
            <p:cNvSpPr/>
            <p:nvPr/>
          </p:nvSpPr>
          <p:spPr>
            <a:xfrm>
              <a:off x="5133" y="5175"/>
              <a:ext cx="222" cy="231"/>
            </a:xfrm>
            <a:prstGeom prst="downArrow">
              <a:avLst/>
            </a:prstGeom>
            <a:solidFill>
              <a:srgbClr val="FFFFFF">
                <a:alpha val="50000"/>
              </a:srgbClr>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28" name="下箭头 327"/>
            <p:cNvSpPr/>
            <p:nvPr/>
          </p:nvSpPr>
          <p:spPr>
            <a:xfrm flipH="1" flipV="1">
              <a:off x="5097" y="6757"/>
              <a:ext cx="222" cy="231"/>
            </a:xfrm>
            <a:prstGeom prst="downArrow">
              <a:avLst/>
            </a:prstGeom>
            <a:solidFill>
              <a:srgbClr val="FFFFFF">
                <a:alpha val="50000"/>
              </a:srgbClr>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31" name="下箭头 330"/>
            <p:cNvSpPr/>
            <p:nvPr/>
          </p:nvSpPr>
          <p:spPr>
            <a:xfrm rot="5400000" flipH="1" flipV="1">
              <a:off x="4195" y="5919"/>
              <a:ext cx="222" cy="231"/>
            </a:xfrm>
            <a:prstGeom prst="downArrow">
              <a:avLst/>
            </a:prstGeom>
            <a:solidFill>
              <a:srgbClr val="FFFFFF">
                <a:alpha val="50000"/>
              </a:srgbClr>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32" name="下箭头 331"/>
            <p:cNvSpPr/>
            <p:nvPr/>
          </p:nvSpPr>
          <p:spPr>
            <a:xfrm rot="16200000" flipV="1">
              <a:off x="5988" y="5935"/>
              <a:ext cx="222" cy="231"/>
            </a:xfrm>
            <a:prstGeom prst="downArrow">
              <a:avLst/>
            </a:prstGeom>
            <a:solidFill>
              <a:srgbClr val="FFFFFF">
                <a:alpha val="50000"/>
              </a:srgbClr>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334" name="组合 333"/>
            <p:cNvGrpSpPr/>
            <p:nvPr/>
          </p:nvGrpSpPr>
          <p:grpSpPr>
            <a:xfrm>
              <a:off x="5628" y="4761"/>
              <a:ext cx="826" cy="826"/>
              <a:chOff x="3827" y="4787"/>
              <a:chExt cx="977" cy="977"/>
            </a:xfrm>
          </p:grpSpPr>
          <p:grpSp>
            <p:nvGrpSpPr>
              <p:cNvPr id="335" name="组合 334"/>
              <p:cNvGrpSpPr/>
              <p:nvPr/>
            </p:nvGrpSpPr>
            <p:grpSpPr>
              <a:xfrm rot="0">
                <a:off x="3827" y="4787"/>
                <a:ext cx="977" cy="977"/>
                <a:chOff x="8654" y="4120"/>
                <a:chExt cx="1146" cy="1146"/>
              </a:xfrm>
            </p:grpSpPr>
            <p:sp>
              <p:nvSpPr>
                <p:cNvPr id="336" name="©显眼包PPT-1"/>
                <p:cNvSpPr/>
                <p:nvPr/>
              </p:nvSpPr>
              <p:spPr>
                <a:xfrm>
                  <a:off x="8654" y="4120"/>
                  <a:ext cx="1146" cy="1146"/>
                </a:xfrm>
                <a:prstGeom prst="ellipse">
                  <a:avLst/>
                </a:pr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37" name="©显眼包PPT-2"/>
                <p:cNvSpPr/>
                <p:nvPr/>
              </p:nvSpPr>
              <p:spPr>
                <a:xfrm>
                  <a:off x="8710" y="4176"/>
                  <a:ext cx="1033" cy="1033"/>
                </a:xfrm>
                <a:prstGeom prst="ellipse">
                  <a:avLst/>
                </a:prstGeom>
                <a:gradFill flip="none" rotWithShape="1">
                  <a:gsLst>
                    <a:gs pos="39000">
                      <a:srgbClr val="FFFFFF"/>
                    </a:gs>
                    <a:gs pos="100000">
                      <a:srgbClr val="B3D4FE"/>
                    </a:gs>
                  </a:gsLst>
                  <a:path path="circle">
                    <a:fillToRect l="50000" t="50000" r="50000" b="50000"/>
                  </a:path>
                  <a:tileRect/>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38" name="©显眼包PPT-3"/>
                <p:cNvSpPr/>
                <p:nvPr/>
              </p:nvSpPr>
              <p:spPr>
                <a:xfrm>
                  <a:off x="8751" y="4217"/>
                  <a:ext cx="953" cy="953"/>
                </a:xfrm>
                <a:prstGeom prst="ellipse">
                  <a:avLst/>
                </a:prstGeom>
                <a:noFill/>
                <a:ln w="635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grpSp>
          <p:sp>
            <p:nvSpPr>
              <p:cNvPr id="339" name="©显眼包PPT-13"/>
              <p:cNvSpPr txBox="1"/>
              <p:nvPr/>
            </p:nvSpPr>
            <p:spPr>
              <a:xfrm>
                <a:off x="3830" y="4992"/>
                <a:ext cx="970" cy="331"/>
              </a:xfrm>
              <a:prstGeom prst="rect">
                <a:avLst/>
              </a:prstGeom>
              <a:noFill/>
            </p:spPr>
            <p:txBody>
              <a:bodyPr wrap="none" lIns="0" tIns="0" rIns="0" bIns="0" rtlCol="0" anchor="ctr">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a:t>
                </a:r>
                <a:r>
                  <a:rPr lang="zh-CN" altLang="en-US" sz="1000" b="1" dirty="0">
                    <a:solidFill>
                      <a:srgbClr val="0042FF"/>
                    </a:solidFill>
                    <a:latin typeface="微软雅黑"/>
                    <a:ea typeface="微软雅黑"/>
                    <a:cs typeface="微软雅黑"/>
                  </a:rPr>
                  <a:t>二</a:t>
                </a:r>
                <a:r>
                  <a:rPr lang="zh-CN" altLang="en-US" sz="1000" b="1" dirty="0">
                    <a:solidFill>
                      <a:srgbClr val="0042FF"/>
                    </a:solidFill>
                    <a:latin typeface="微软雅黑"/>
                    <a:ea typeface="微软雅黑"/>
                    <a:cs typeface="微软雅黑"/>
                  </a:rPr>
                  <a:t>维</a:t>
                </a:r>
                <a:r>
                  <a:rPr lang="en-US" altLang="zh-CN" sz="1000" b="1" dirty="0">
                    <a:solidFill>
                      <a:srgbClr val="0042FF"/>
                    </a:solidFill>
                    <a:latin typeface="微软雅黑"/>
                    <a:ea typeface="微软雅黑"/>
                    <a:cs typeface="微软雅黑"/>
                  </a:rPr>
                  <a:t>”</a:t>
                </a:r>
                <a:endParaRPr lang="en-US" altLang="zh-CN" sz="1000" b="1" dirty="0">
                  <a:solidFill>
                    <a:srgbClr val="0042FF"/>
                  </a:solidFill>
                  <a:latin typeface="微软雅黑"/>
                  <a:ea typeface="微软雅黑"/>
                  <a:cs typeface="微软雅黑"/>
                </a:endParaRPr>
              </a:p>
            </p:txBody>
          </p:sp>
          <p:sp>
            <p:nvSpPr>
              <p:cNvPr id="340" name="©显眼包PPT-13"/>
              <p:cNvSpPr txBox="1"/>
              <p:nvPr/>
            </p:nvSpPr>
            <p:spPr>
              <a:xfrm>
                <a:off x="3925" y="5277"/>
                <a:ext cx="779" cy="319"/>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标准</a:t>
                </a:r>
                <a:endParaRPr lang="zh-CN" altLang="en-US" sz="1000" dirty="0">
                  <a:solidFill>
                    <a:srgbClr val="383838"/>
                  </a:solidFill>
                  <a:latin typeface="微软雅黑"/>
                  <a:ea typeface="微软雅黑"/>
                  <a:cs typeface="微软雅黑"/>
                </a:endParaRPr>
              </a:p>
            </p:txBody>
          </p:sp>
        </p:grpSp>
        <p:grpSp>
          <p:nvGrpSpPr>
            <p:cNvPr id="341" name="组合 340"/>
            <p:cNvGrpSpPr/>
            <p:nvPr/>
          </p:nvGrpSpPr>
          <p:grpSpPr>
            <a:xfrm>
              <a:off x="3994" y="6431"/>
              <a:ext cx="826" cy="826"/>
              <a:chOff x="3827" y="4787"/>
              <a:chExt cx="977" cy="977"/>
            </a:xfrm>
          </p:grpSpPr>
          <p:grpSp>
            <p:nvGrpSpPr>
              <p:cNvPr id="342" name="组合 341"/>
              <p:cNvGrpSpPr/>
              <p:nvPr/>
            </p:nvGrpSpPr>
            <p:grpSpPr>
              <a:xfrm rot="0">
                <a:off x="3827" y="4787"/>
                <a:ext cx="977" cy="977"/>
                <a:chOff x="8654" y="4120"/>
                <a:chExt cx="1146" cy="1146"/>
              </a:xfrm>
            </p:grpSpPr>
            <p:sp>
              <p:nvSpPr>
                <p:cNvPr id="343" name="©显眼包PPT-1"/>
                <p:cNvSpPr/>
                <p:nvPr/>
              </p:nvSpPr>
              <p:spPr>
                <a:xfrm>
                  <a:off x="8654" y="4120"/>
                  <a:ext cx="1146" cy="1146"/>
                </a:xfrm>
                <a:prstGeom prst="ellipse">
                  <a:avLst/>
                </a:pr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44" name="©显眼包PPT-2"/>
                <p:cNvSpPr/>
                <p:nvPr/>
              </p:nvSpPr>
              <p:spPr>
                <a:xfrm>
                  <a:off x="8710" y="4176"/>
                  <a:ext cx="1033" cy="1033"/>
                </a:xfrm>
                <a:prstGeom prst="ellipse">
                  <a:avLst/>
                </a:prstGeom>
                <a:gradFill flip="none" rotWithShape="1">
                  <a:gsLst>
                    <a:gs pos="39000">
                      <a:srgbClr val="FFFFFF"/>
                    </a:gs>
                    <a:gs pos="100000">
                      <a:srgbClr val="B3D4FE"/>
                    </a:gs>
                  </a:gsLst>
                  <a:path path="circle">
                    <a:fillToRect l="50000" t="50000" r="50000" b="50000"/>
                  </a:path>
                  <a:tileRect/>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45" name="©显眼包PPT-3"/>
                <p:cNvSpPr/>
                <p:nvPr/>
              </p:nvSpPr>
              <p:spPr>
                <a:xfrm>
                  <a:off x="8751" y="4217"/>
                  <a:ext cx="953" cy="953"/>
                </a:xfrm>
                <a:prstGeom prst="ellipse">
                  <a:avLst/>
                </a:prstGeom>
                <a:noFill/>
                <a:ln w="635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grpSp>
          <p:sp>
            <p:nvSpPr>
              <p:cNvPr id="346" name="©显眼包PPT-13"/>
              <p:cNvSpPr txBox="1"/>
              <p:nvPr/>
            </p:nvSpPr>
            <p:spPr>
              <a:xfrm>
                <a:off x="3830" y="4992"/>
                <a:ext cx="970" cy="331"/>
              </a:xfrm>
              <a:prstGeom prst="rect">
                <a:avLst/>
              </a:prstGeom>
              <a:noFill/>
            </p:spPr>
            <p:txBody>
              <a:bodyPr wrap="none" lIns="0" tIns="0" rIns="0" bIns="0" rtlCol="0" anchor="ctr">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a:t>
                </a:r>
                <a:r>
                  <a:rPr lang="zh-CN" altLang="en-US" sz="1000" b="1" dirty="0">
                    <a:solidFill>
                      <a:srgbClr val="0042FF"/>
                    </a:solidFill>
                    <a:latin typeface="微软雅黑"/>
                    <a:ea typeface="微软雅黑"/>
                    <a:cs typeface="微软雅黑"/>
                  </a:rPr>
                  <a:t>四</a:t>
                </a:r>
                <a:r>
                  <a:rPr lang="zh-CN" altLang="en-US" sz="1000" b="1" dirty="0">
                    <a:solidFill>
                      <a:srgbClr val="0042FF"/>
                    </a:solidFill>
                    <a:latin typeface="微软雅黑"/>
                    <a:ea typeface="微软雅黑"/>
                    <a:cs typeface="微软雅黑"/>
                  </a:rPr>
                  <a:t>维</a:t>
                </a:r>
                <a:r>
                  <a:rPr lang="en-US" altLang="zh-CN" sz="1000" b="1" dirty="0">
                    <a:solidFill>
                      <a:srgbClr val="0042FF"/>
                    </a:solidFill>
                    <a:latin typeface="微软雅黑"/>
                    <a:ea typeface="微软雅黑"/>
                    <a:cs typeface="微软雅黑"/>
                  </a:rPr>
                  <a:t>”</a:t>
                </a:r>
                <a:endParaRPr lang="en-US" altLang="zh-CN" sz="1000" b="1" dirty="0">
                  <a:solidFill>
                    <a:srgbClr val="0042FF"/>
                  </a:solidFill>
                  <a:latin typeface="微软雅黑"/>
                  <a:ea typeface="微软雅黑"/>
                  <a:cs typeface="微软雅黑"/>
                </a:endParaRPr>
              </a:p>
            </p:txBody>
          </p:sp>
          <p:sp>
            <p:nvSpPr>
              <p:cNvPr id="347" name="©显眼包PPT-13"/>
              <p:cNvSpPr txBox="1"/>
              <p:nvPr/>
            </p:nvSpPr>
            <p:spPr>
              <a:xfrm>
                <a:off x="3925" y="5277"/>
                <a:ext cx="779" cy="319"/>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技术</a:t>
                </a:r>
                <a:endParaRPr lang="zh-CN" altLang="en-US" sz="1000" dirty="0">
                  <a:solidFill>
                    <a:srgbClr val="383838"/>
                  </a:solidFill>
                  <a:latin typeface="微软雅黑"/>
                  <a:ea typeface="微软雅黑"/>
                  <a:cs typeface="微软雅黑"/>
                </a:endParaRPr>
              </a:p>
            </p:txBody>
          </p:sp>
        </p:grpSp>
        <p:grpSp>
          <p:nvGrpSpPr>
            <p:cNvPr id="348" name="组合 347"/>
            <p:cNvGrpSpPr/>
            <p:nvPr/>
          </p:nvGrpSpPr>
          <p:grpSpPr>
            <a:xfrm>
              <a:off x="5644" y="6431"/>
              <a:ext cx="826" cy="826"/>
              <a:chOff x="3827" y="4787"/>
              <a:chExt cx="977" cy="977"/>
            </a:xfrm>
          </p:grpSpPr>
          <p:grpSp>
            <p:nvGrpSpPr>
              <p:cNvPr id="349" name="组合 348"/>
              <p:cNvGrpSpPr/>
              <p:nvPr/>
            </p:nvGrpSpPr>
            <p:grpSpPr>
              <a:xfrm rot="0">
                <a:off x="3827" y="4787"/>
                <a:ext cx="977" cy="977"/>
                <a:chOff x="8654" y="4120"/>
                <a:chExt cx="1146" cy="1146"/>
              </a:xfrm>
            </p:grpSpPr>
            <p:sp>
              <p:nvSpPr>
                <p:cNvPr id="350" name="©显眼包PPT-1"/>
                <p:cNvSpPr/>
                <p:nvPr/>
              </p:nvSpPr>
              <p:spPr>
                <a:xfrm>
                  <a:off x="8654" y="4120"/>
                  <a:ext cx="1146" cy="1146"/>
                </a:xfrm>
                <a:prstGeom prst="ellipse">
                  <a:avLst/>
                </a:prstGeom>
                <a:solidFill>
                  <a:srgbClr val="FFFFFF"/>
                </a:solidFill>
                <a:ln w="952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51" name="©显眼包PPT-2"/>
                <p:cNvSpPr/>
                <p:nvPr/>
              </p:nvSpPr>
              <p:spPr>
                <a:xfrm>
                  <a:off x="8710" y="4176"/>
                  <a:ext cx="1033" cy="1033"/>
                </a:xfrm>
                <a:prstGeom prst="ellipse">
                  <a:avLst/>
                </a:prstGeom>
                <a:gradFill flip="none" rotWithShape="1">
                  <a:gsLst>
                    <a:gs pos="39000">
                      <a:srgbClr val="FFFFFF"/>
                    </a:gs>
                    <a:gs pos="100000">
                      <a:srgbClr val="B3D4FE"/>
                    </a:gs>
                  </a:gsLst>
                  <a:path path="circle">
                    <a:fillToRect l="50000" t="50000" r="50000" b="50000"/>
                  </a:path>
                  <a:tileRect/>
                </a:gradFill>
                <a:ln w="9525">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sp>
              <p:nvSpPr>
                <p:cNvPr id="352" name="©显眼包PPT-3"/>
                <p:cNvSpPr/>
                <p:nvPr/>
              </p:nvSpPr>
              <p:spPr>
                <a:xfrm>
                  <a:off x="8751" y="4217"/>
                  <a:ext cx="953" cy="953"/>
                </a:xfrm>
                <a:prstGeom prst="ellipse">
                  <a:avLst/>
                </a:prstGeom>
                <a:noFill/>
                <a:ln w="635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2000">
                    <a:solidFill>
                      <a:srgbClr val="0042FF"/>
                    </a:solidFill>
                    <a:latin typeface="微软雅黑"/>
                    <a:ea typeface="微软雅黑"/>
                    <a:cs typeface="微软雅黑"/>
                  </a:endParaRPr>
                </a:p>
              </p:txBody>
            </p:sp>
          </p:grpSp>
          <p:sp>
            <p:nvSpPr>
              <p:cNvPr id="353" name="©显眼包PPT-13"/>
              <p:cNvSpPr txBox="1"/>
              <p:nvPr/>
            </p:nvSpPr>
            <p:spPr>
              <a:xfrm>
                <a:off x="3830" y="4992"/>
                <a:ext cx="970" cy="331"/>
              </a:xfrm>
              <a:prstGeom prst="rect">
                <a:avLst/>
              </a:prstGeom>
              <a:noFill/>
            </p:spPr>
            <p:txBody>
              <a:bodyPr wrap="none" lIns="0" tIns="0" rIns="0" bIns="0" rtlCol="0" anchor="ctr">
                <a:noAutofit/>
              </a:bodyPr>
              <a:lstStyle/>
              <a:p>
                <a:pPr algn="ctr">
                  <a:defRPr sz="1000">
                    <a:latin typeface="微软雅黑"/>
                    <a:ea typeface="微软雅黑"/>
                    <a:cs typeface="微软雅黑"/>
                  </a:defRPr>
                  <a:lnSpc>
                    <a:spcPct val="100000"/>
                  </a:lnSpc>
                  <a:spcBef>
                    <a:spcPts val="0"/>
                  </a:spcBef>
                  <a:spcAft>
                    <a:spcPts val="0"/>
                  </a:spcAft>
                </a:pPr>
                <a:r>
                  <a:rPr lang="en-US" altLang="zh-CN" sz="1000" b="1" dirty="0">
                    <a:solidFill>
                      <a:srgbClr val="0042FF"/>
                    </a:solidFill>
                    <a:latin typeface="微软雅黑"/>
                    <a:ea typeface="微软雅黑"/>
                    <a:cs typeface="微软雅黑"/>
                  </a:rPr>
                  <a:t>“</a:t>
                </a:r>
                <a:r>
                  <a:rPr lang="zh-CN" altLang="en-US" sz="1000" b="1" dirty="0">
                    <a:solidFill>
                      <a:srgbClr val="0042FF"/>
                    </a:solidFill>
                    <a:latin typeface="微软雅黑"/>
                    <a:ea typeface="微软雅黑"/>
                    <a:cs typeface="微软雅黑"/>
                  </a:rPr>
                  <a:t>三维</a:t>
                </a:r>
                <a:r>
                  <a:rPr lang="en-US" altLang="zh-CN" sz="1000" b="1" dirty="0">
                    <a:solidFill>
                      <a:srgbClr val="0042FF"/>
                    </a:solidFill>
                    <a:latin typeface="微软雅黑"/>
                    <a:ea typeface="微软雅黑"/>
                    <a:cs typeface="微软雅黑"/>
                  </a:rPr>
                  <a:t>”</a:t>
                </a:r>
                <a:endParaRPr lang="en-US" altLang="zh-CN" sz="1000" b="1" dirty="0">
                  <a:solidFill>
                    <a:srgbClr val="0042FF"/>
                  </a:solidFill>
                  <a:latin typeface="微软雅黑"/>
                  <a:ea typeface="微软雅黑"/>
                  <a:cs typeface="微软雅黑"/>
                </a:endParaRPr>
              </a:p>
            </p:txBody>
          </p:sp>
          <p:sp>
            <p:nvSpPr>
              <p:cNvPr id="354" name="©显眼包PPT-13"/>
              <p:cNvSpPr txBox="1"/>
              <p:nvPr/>
            </p:nvSpPr>
            <p:spPr>
              <a:xfrm>
                <a:off x="3925" y="5277"/>
                <a:ext cx="779" cy="319"/>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组织</a:t>
                </a:r>
                <a:endParaRPr lang="zh-CN" altLang="en-US" sz="1000" dirty="0">
                  <a:solidFill>
                    <a:srgbClr val="383838"/>
                  </a:solidFill>
                  <a:latin typeface="微软雅黑"/>
                  <a:ea typeface="微软雅黑"/>
                  <a:cs typeface="微软雅黑"/>
                </a:endParaRPr>
              </a:p>
            </p:txBody>
          </p:sp>
        </p:grpSp>
      </p:grpSp>
      <p:cxnSp>
        <p:nvCxnSpPr>
          <p:cNvPr id="357" name="直接连接符 356"/>
          <p:cNvCxnSpPr/>
          <p:nvPr/>
        </p:nvCxnSpPr>
        <p:spPr>
          <a:xfrm flipH="1" flipV="1">
            <a:off x="5337175" y="4992370"/>
            <a:ext cx="262890" cy="158115"/>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grpSp>
        <p:nvGrpSpPr>
          <p:cNvPr id="14" name="组合 13"/>
          <p:cNvGrpSpPr/>
          <p:nvPr/>
        </p:nvGrpSpPr>
        <p:grpSpPr>
          <a:xfrm>
            <a:off x="8710930" y="5455920"/>
            <a:ext cx="690245" cy="862330"/>
            <a:chOff x="12144" y="8529"/>
            <a:chExt cx="1087" cy="1358"/>
          </a:xfrm>
        </p:grpSpPr>
        <p:grpSp>
          <p:nvGrpSpPr>
            <p:cNvPr id="15" name="组合 14"/>
            <p:cNvGrpSpPr/>
            <p:nvPr/>
          </p:nvGrpSpPr>
          <p:grpSpPr>
            <a:xfrm rot="0">
              <a:off x="12144" y="8881"/>
              <a:ext cx="1087" cy="1006"/>
              <a:chOff x="1750980" y="5624548"/>
              <a:chExt cx="690236" cy="639134"/>
            </a:xfrm>
          </p:grpSpPr>
          <p:sp>
            <p:nvSpPr>
              <p:cNvPr id="16" name="@显眼包PPT15-1"/>
              <p:cNvSpPr txBox="1"/>
              <p:nvPr/>
            </p:nvSpPr>
            <p:spPr>
              <a:xfrm>
                <a:off x="1918300" y="5624548"/>
                <a:ext cx="355595" cy="430748"/>
              </a:xfrm>
              <a:prstGeom prst="rect">
                <a:avLst/>
              </a:prstGeom>
              <a:noFill/>
            </p:spPr>
            <p:txBody>
              <a:bodyPr wrap="none" lIns="0" tIns="0" rIns="0" bIns="0" rtlCol="0">
                <a:spAutoFit/>
                <a:scene3d>
                  <a:camera prst="orthographicFront"/>
                  <a:lightRig rig="threePt" dir="t"/>
                </a:scene3d>
              </a:bodyPr>
              <a:lstStyle/>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en-US" altLang="zh-CN" sz="1400" b="1" dirty="0">
                    <a:solidFill>
                      <a:srgbClr val="0042FF"/>
                    </a:solidFill>
                    <a:latin typeface="微软雅黑"/>
                    <a:ea typeface="微软雅黑"/>
                    <a:cs typeface="微软雅黑"/>
                  </a:rPr>
                  <a:t>AI</a:t>
                </a:r>
                <a:endParaRPr lang="en-US" altLang="zh-CN" sz="1400" b="1" dirty="0">
                  <a:solidFill>
                    <a:srgbClr val="0042FF"/>
                  </a:solidFill>
                  <a:latin typeface="微软雅黑"/>
                  <a:ea typeface="微软雅黑"/>
                  <a:cs typeface="微软雅黑"/>
                </a:endParaRPr>
              </a:p>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zh-CN" altLang="en-US" sz="1400" b="1" dirty="0">
                    <a:solidFill>
                      <a:srgbClr val="0042FF"/>
                    </a:solidFill>
                    <a:latin typeface="微软雅黑"/>
                    <a:ea typeface="微软雅黑"/>
                    <a:cs typeface="微软雅黑"/>
                  </a:rPr>
                  <a:t>赋能</a:t>
                </a:r>
                <a:endParaRPr lang="zh-CN" altLang="en-US" sz="1400" b="1" dirty="0">
                  <a:solidFill>
                    <a:srgbClr val="0042FF"/>
                  </a:solidFill>
                  <a:latin typeface="微软雅黑"/>
                  <a:ea typeface="微软雅黑"/>
                  <a:cs typeface="微软雅黑"/>
                </a:endParaRPr>
              </a:p>
            </p:txBody>
          </p:sp>
          <p:grpSp>
            <p:nvGrpSpPr>
              <p:cNvPr id="17" name="组合 16"/>
              <p:cNvGrpSpPr/>
              <p:nvPr/>
            </p:nvGrpSpPr>
            <p:grpSpPr>
              <a:xfrm>
                <a:off x="1750980" y="5816937"/>
                <a:ext cx="690236" cy="446745"/>
                <a:chOff x="1846211" y="5922627"/>
                <a:chExt cx="661308" cy="344058"/>
              </a:xfrm>
            </p:grpSpPr>
            <p:grpSp>
              <p:nvGrpSpPr>
                <p:cNvPr id="18" name="组合 17"/>
                <p:cNvGrpSpPr/>
                <p:nvPr/>
              </p:nvGrpSpPr>
              <p:grpSpPr>
                <a:xfrm>
                  <a:off x="1846211" y="6090853"/>
                  <a:ext cx="661308" cy="175832"/>
                  <a:chOff x="1160606" y="3870007"/>
                  <a:chExt cx="584190" cy="135236"/>
                </a:xfrm>
              </p:grpSpPr>
              <p:sp>
                <p:nvSpPr>
                  <p:cNvPr id="19" name="@显眼包PPT15-2"/>
                  <p:cNvSpPr/>
                  <p:nvPr/>
                </p:nvSpPr>
                <p:spPr>
                  <a:xfrm>
                    <a:off x="1216805" y="3943756"/>
                    <a:ext cx="471792" cy="61487"/>
                  </a:xfrm>
                  <a:prstGeom prst="hexagon">
                    <a:avLst>
                      <a:gd name="adj" fmla="val 113646"/>
                      <a:gd name="vf" fmla="val 115470"/>
                    </a:avLst>
                  </a:prstGeom>
                  <a:gradFill flip="none" rotWithShape="1">
                    <a:gsLst>
                      <a:gs pos="12000">
                        <a:srgbClr val="3368FF">
                          <a:alpha val="27000"/>
                        </a:srgbClr>
                      </a:gs>
                      <a:gs pos="94000">
                        <a:srgbClr val="3368FF">
                          <a:alpha val="0"/>
                        </a:srgbClr>
                      </a:gs>
                    </a:gsLst>
                    <a:lin ang="16200000" scaled="1"/>
                    <a:tileRect/>
                  </a:gradFill>
                  <a:ln w="317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0" name="@显眼包PPT3-3"/>
                  <p:cNvSpPr/>
                  <p:nvPr/>
                </p:nvSpPr>
                <p:spPr>
                  <a:xfrm>
                    <a:off x="1160606" y="3870007"/>
                    <a:ext cx="584190" cy="93301"/>
                  </a:xfrm>
                  <a:prstGeom prst="hexagon">
                    <a:avLst>
                      <a:gd name="adj" fmla="val 113646"/>
                      <a:gd name="vf" fmla="val 115470"/>
                    </a:avLst>
                  </a:prstGeom>
                  <a:gradFill flip="none" rotWithShape="1">
                    <a:gsLst>
                      <a:gs pos="12000">
                        <a:srgbClr val="3368FF">
                          <a:alpha val="50000"/>
                        </a:srgbClr>
                      </a:gs>
                      <a:gs pos="94000">
                        <a:srgbClr val="3368FF">
                          <a:alpha val="0"/>
                        </a:srgbClr>
                      </a:gs>
                    </a:gsLst>
                    <a:lin ang="16200000" scaled="1"/>
                    <a:tileRect/>
                  </a:gradFill>
                  <a:ln w="12700">
                    <a:gradFill>
                      <a:gsLst>
                        <a:gs pos="7000">
                          <a:srgbClr val="3368FF">
                            <a:alpha val="0"/>
                          </a:srgbClr>
                        </a:gs>
                        <a:gs pos="88000">
                          <a:srgbClr val="3368FF"/>
                        </a:gs>
                      </a:gsLst>
                      <a:lin ang="5400000" scaled="1"/>
                    </a:gra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22" name="组合 21"/>
                <p:cNvGrpSpPr/>
                <p:nvPr/>
              </p:nvGrpSpPr>
              <p:grpSpPr>
                <a:xfrm>
                  <a:off x="1878900" y="5922627"/>
                  <a:ext cx="595930" cy="197490"/>
                  <a:chOff x="1184081" y="3694733"/>
                  <a:chExt cx="544509" cy="175270"/>
                </a:xfrm>
              </p:grpSpPr>
              <p:grpSp>
                <p:nvGrpSpPr>
                  <p:cNvPr id="27" name="组合 26"/>
                  <p:cNvGrpSpPr/>
                  <p:nvPr/>
                </p:nvGrpSpPr>
                <p:grpSpPr>
                  <a:xfrm>
                    <a:off x="1682870" y="3694733"/>
                    <a:ext cx="45720" cy="175270"/>
                    <a:chOff x="1144352" y="3690146"/>
                    <a:chExt cx="55150" cy="175270"/>
                  </a:xfrm>
                </p:grpSpPr>
                <p:cxnSp>
                  <p:nvCxnSpPr>
                    <p:cNvPr id="28" name="@显眼包PPT3-4"/>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29" name="@显眼包PPT3-5"/>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nvGrpSpPr>
                  <p:cNvPr id="30" name="组合 29"/>
                  <p:cNvGrpSpPr/>
                  <p:nvPr/>
                </p:nvGrpSpPr>
                <p:grpSpPr>
                  <a:xfrm flipH="1">
                    <a:off x="1184081" y="3694733"/>
                    <a:ext cx="45720" cy="175270"/>
                    <a:chOff x="1144352" y="3690146"/>
                    <a:chExt cx="55150" cy="175270"/>
                  </a:xfrm>
                </p:grpSpPr>
                <p:cxnSp>
                  <p:nvCxnSpPr>
                    <p:cNvPr id="31" name="@显眼包PPT3-6"/>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32" name="@显眼包PPT3-7"/>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grpSp>
              <p:nvGrpSpPr>
                <p:cNvPr id="33" name="组合 32"/>
                <p:cNvGrpSpPr/>
                <p:nvPr/>
              </p:nvGrpSpPr>
              <p:grpSpPr>
                <a:xfrm>
                  <a:off x="1935420" y="6154572"/>
                  <a:ext cx="482891" cy="28956"/>
                  <a:chOff x="1379689" y="4245602"/>
                  <a:chExt cx="482891" cy="28956"/>
                </a:xfrm>
              </p:grpSpPr>
              <p:sp>
                <p:nvSpPr>
                  <p:cNvPr id="34" name="@显眼包PPT3-8"/>
                  <p:cNvSpPr/>
                  <p:nvPr/>
                </p:nvSpPr>
                <p:spPr>
                  <a:xfrm>
                    <a:off x="1379689"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5" name="@显眼包PPT3-9"/>
                  <p:cNvSpPr/>
                  <p:nvPr/>
                </p:nvSpPr>
                <p:spPr>
                  <a:xfrm flipH="1">
                    <a:off x="1698914"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grpSp>
        <p:sp>
          <p:nvSpPr>
            <p:cNvPr id="36" name="显眼包PPT13-1"/>
            <p:cNvSpPr/>
            <p:nvPr/>
          </p:nvSpPr>
          <p:spPr>
            <a:xfrm>
              <a:off x="12497" y="8529"/>
              <a:ext cx="354" cy="374"/>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23000">
                  <a:srgbClr val="3368FF">
                    <a:alpha val="0"/>
                  </a:srgbClr>
                </a:gs>
                <a:gs pos="100000">
                  <a:srgbClr val="3368FF"/>
                </a:gs>
              </a:gsLst>
              <a:lin ang="16200000" scaled="0"/>
              <a:tileRect/>
            </a:gradFill>
            <a:ln w="15875">
              <a:noFill/>
              <a:round/>
            </a:ln>
            <a:effec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dirty="0">
                <a:solidFill>
                  <a:srgbClr val="383838"/>
                </a:solidFill>
                <a:cs typeface="微软雅黑"/>
                <a:latin typeface="微软雅黑"/>
                <a:ea typeface="微软雅黑"/>
              </a:endParaRPr>
            </a:p>
          </p:txBody>
        </p:sp>
      </p:grpSp>
      <p:grpSp>
        <p:nvGrpSpPr>
          <p:cNvPr id="37" name="组合 36"/>
          <p:cNvGrpSpPr/>
          <p:nvPr/>
        </p:nvGrpSpPr>
        <p:grpSpPr>
          <a:xfrm>
            <a:off x="9676130" y="5455920"/>
            <a:ext cx="690245" cy="862330"/>
            <a:chOff x="12144" y="8529"/>
            <a:chExt cx="1087" cy="1358"/>
          </a:xfrm>
        </p:grpSpPr>
        <p:grpSp>
          <p:nvGrpSpPr>
            <p:cNvPr id="38" name="组合 37"/>
            <p:cNvGrpSpPr/>
            <p:nvPr/>
          </p:nvGrpSpPr>
          <p:grpSpPr>
            <a:xfrm rot="0">
              <a:off x="12144" y="8881"/>
              <a:ext cx="1087" cy="1006"/>
              <a:chOff x="1750980" y="5624548"/>
              <a:chExt cx="690236" cy="639134"/>
            </a:xfrm>
          </p:grpSpPr>
          <p:sp>
            <p:nvSpPr>
              <p:cNvPr id="39" name="@显眼包PPT15-1"/>
              <p:cNvSpPr txBox="1"/>
              <p:nvPr/>
            </p:nvSpPr>
            <p:spPr>
              <a:xfrm>
                <a:off x="1918300" y="5624548"/>
                <a:ext cx="355595" cy="430748"/>
              </a:xfrm>
              <a:prstGeom prst="rect">
                <a:avLst/>
              </a:prstGeom>
              <a:noFill/>
            </p:spPr>
            <p:txBody>
              <a:bodyPr wrap="none" lIns="0" tIns="0" rIns="0" bIns="0" rtlCol="0">
                <a:spAutoFit/>
                <a:scene3d>
                  <a:camera prst="orthographicFront"/>
                  <a:lightRig rig="threePt" dir="t"/>
                </a:scene3d>
              </a:bodyPr>
              <a:lstStyle/>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en-US" altLang="zh-CN" sz="1400" b="1" dirty="0">
                    <a:solidFill>
                      <a:srgbClr val="0042FF"/>
                    </a:solidFill>
                    <a:latin typeface="微软雅黑"/>
                    <a:ea typeface="微软雅黑"/>
                    <a:cs typeface="微软雅黑"/>
                  </a:rPr>
                  <a:t>BI</a:t>
                </a:r>
                <a:endParaRPr lang="en-US" altLang="zh-CN" sz="1400" b="1" dirty="0">
                  <a:solidFill>
                    <a:srgbClr val="0042FF"/>
                  </a:solidFill>
                  <a:latin typeface="微软雅黑"/>
                  <a:ea typeface="微软雅黑"/>
                  <a:cs typeface="微软雅黑"/>
                </a:endParaRPr>
              </a:p>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zh-CN" altLang="en-US" sz="1400" b="1" dirty="0">
                    <a:solidFill>
                      <a:srgbClr val="0042FF"/>
                    </a:solidFill>
                    <a:latin typeface="微软雅黑"/>
                    <a:ea typeface="微软雅黑"/>
                    <a:cs typeface="微软雅黑"/>
                  </a:rPr>
                  <a:t>分析</a:t>
                </a:r>
                <a:endParaRPr lang="zh-CN" altLang="en-US" sz="1400" b="1" dirty="0">
                  <a:solidFill>
                    <a:srgbClr val="0042FF"/>
                  </a:solidFill>
                  <a:latin typeface="微软雅黑"/>
                  <a:ea typeface="微软雅黑"/>
                  <a:cs typeface="微软雅黑"/>
                </a:endParaRPr>
              </a:p>
            </p:txBody>
          </p:sp>
          <p:grpSp>
            <p:nvGrpSpPr>
              <p:cNvPr id="40" name="组合 39"/>
              <p:cNvGrpSpPr/>
              <p:nvPr/>
            </p:nvGrpSpPr>
            <p:grpSpPr>
              <a:xfrm>
                <a:off x="1750980" y="5816937"/>
                <a:ext cx="690236" cy="446745"/>
                <a:chOff x="1846211" y="5922627"/>
                <a:chExt cx="661308" cy="344058"/>
              </a:xfrm>
            </p:grpSpPr>
            <p:grpSp>
              <p:nvGrpSpPr>
                <p:cNvPr id="41" name="组合 40"/>
                <p:cNvGrpSpPr/>
                <p:nvPr/>
              </p:nvGrpSpPr>
              <p:grpSpPr>
                <a:xfrm>
                  <a:off x="1846211" y="6090853"/>
                  <a:ext cx="661308" cy="175832"/>
                  <a:chOff x="1160606" y="3870007"/>
                  <a:chExt cx="584190" cy="135236"/>
                </a:xfrm>
              </p:grpSpPr>
              <p:sp>
                <p:nvSpPr>
                  <p:cNvPr id="43" name="@显眼包PPT15-2"/>
                  <p:cNvSpPr/>
                  <p:nvPr/>
                </p:nvSpPr>
                <p:spPr>
                  <a:xfrm>
                    <a:off x="1216805" y="3943756"/>
                    <a:ext cx="471792" cy="61487"/>
                  </a:xfrm>
                  <a:prstGeom prst="hexagon">
                    <a:avLst>
                      <a:gd name="adj" fmla="val 113646"/>
                      <a:gd name="vf" fmla="val 115470"/>
                    </a:avLst>
                  </a:prstGeom>
                  <a:gradFill flip="none" rotWithShape="1">
                    <a:gsLst>
                      <a:gs pos="12000">
                        <a:srgbClr val="3368FF">
                          <a:alpha val="27000"/>
                        </a:srgbClr>
                      </a:gs>
                      <a:gs pos="94000">
                        <a:srgbClr val="3368FF">
                          <a:alpha val="0"/>
                        </a:srgbClr>
                      </a:gs>
                    </a:gsLst>
                    <a:lin ang="16200000" scaled="1"/>
                    <a:tileRect/>
                  </a:gradFill>
                  <a:ln w="317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4" name="@显眼包PPT3-3"/>
                  <p:cNvSpPr/>
                  <p:nvPr/>
                </p:nvSpPr>
                <p:spPr>
                  <a:xfrm>
                    <a:off x="1160606" y="3870007"/>
                    <a:ext cx="584190" cy="93301"/>
                  </a:xfrm>
                  <a:prstGeom prst="hexagon">
                    <a:avLst>
                      <a:gd name="adj" fmla="val 113646"/>
                      <a:gd name="vf" fmla="val 115470"/>
                    </a:avLst>
                  </a:prstGeom>
                  <a:gradFill flip="none" rotWithShape="1">
                    <a:gsLst>
                      <a:gs pos="12000">
                        <a:srgbClr val="3368FF">
                          <a:alpha val="50000"/>
                        </a:srgbClr>
                      </a:gs>
                      <a:gs pos="94000">
                        <a:srgbClr val="3368FF">
                          <a:alpha val="0"/>
                        </a:srgbClr>
                      </a:gs>
                    </a:gsLst>
                    <a:lin ang="16200000" scaled="1"/>
                    <a:tileRect/>
                  </a:gradFill>
                  <a:ln w="12700">
                    <a:gradFill>
                      <a:gsLst>
                        <a:gs pos="7000">
                          <a:srgbClr val="3368FF">
                            <a:alpha val="0"/>
                          </a:srgbClr>
                        </a:gs>
                        <a:gs pos="88000">
                          <a:srgbClr val="3368FF"/>
                        </a:gs>
                      </a:gsLst>
                      <a:lin ang="5400000" scaled="1"/>
                    </a:gra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46" name="组合 45"/>
                <p:cNvGrpSpPr/>
                <p:nvPr/>
              </p:nvGrpSpPr>
              <p:grpSpPr>
                <a:xfrm>
                  <a:off x="1878900" y="5922627"/>
                  <a:ext cx="595930" cy="197490"/>
                  <a:chOff x="1184081" y="3694733"/>
                  <a:chExt cx="544509" cy="175270"/>
                </a:xfrm>
              </p:grpSpPr>
              <p:grpSp>
                <p:nvGrpSpPr>
                  <p:cNvPr id="49" name="组合 48"/>
                  <p:cNvGrpSpPr/>
                  <p:nvPr/>
                </p:nvGrpSpPr>
                <p:grpSpPr>
                  <a:xfrm>
                    <a:off x="1682870" y="3694733"/>
                    <a:ext cx="45720" cy="175270"/>
                    <a:chOff x="1144352" y="3690146"/>
                    <a:chExt cx="55150" cy="175270"/>
                  </a:xfrm>
                </p:grpSpPr>
                <p:cxnSp>
                  <p:nvCxnSpPr>
                    <p:cNvPr id="50" name="@显眼包PPT3-4"/>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51" name="@显眼包PPT3-5"/>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nvGrpSpPr>
                  <p:cNvPr id="52" name="组合 51"/>
                  <p:cNvGrpSpPr/>
                  <p:nvPr/>
                </p:nvGrpSpPr>
                <p:grpSpPr>
                  <a:xfrm flipH="1">
                    <a:off x="1184081" y="3694733"/>
                    <a:ext cx="45720" cy="175270"/>
                    <a:chOff x="1144352" y="3690146"/>
                    <a:chExt cx="55150" cy="175270"/>
                  </a:xfrm>
                </p:grpSpPr>
                <p:cxnSp>
                  <p:nvCxnSpPr>
                    <p:cNvPr id="53" name="@显眼包PPT3-6"/>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54" name="@显眼包PPT3-7"/>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grpSp>
              <p:nvGrpSpPr>
                <p:cNvPr id="55" name="组合 54"/>
                <p:cNvGrpSpPr/>
                <p:nvPr/>
              </p:nvGrpSpPr>
              <p:grpSpPr>
                <a:xfrm>
                  <a:off x="1935420" y="6154572"/>
                  <a:ext cx="482891" cy="28956"/>
                  <a:chOff x="1379689" y="4245602"/>
                  <a:chExt cx="482891" cy="28956"/>
                </a:xfrm>
              </p:grpSpPr>
              <p:sp>
                <p:nvSpPr>
                  <p:cNvPr id="57" name="@显眼包PPT3-8"/>
                  <p:cNvSpPr/>
                  <p:nvPr/>
                </p:nvSpPr>
                <p:spPr>
                  <a:xfrm>
                    <a:off x="1379689"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58" name="@显眼包PPT3-9"/>
                  <p:cNvSpPr/>
                  <p:nvPr/>
                </p:nvSpPr>
                <p:spPr>
                  <a:xfrm flipH="1">
                    <a:off x="1698914"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grpSp>
        <p:sp>
          <p:nvSpPr>
            <p:cNvPr id="59" name="显眼包PPT13-1"/>
            <p:cNvSpPr/>
            <p:nvPr/>
          </p:nvSpPr>
          <p:spPr>
            <a:xfrm>
              <a:off x="12497" y="8529"/>
              <a:ext cx="354" cy="374"/>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23000">
                  <a:srgbClr val="3368FF">
                    <a:alpha val="0"/>
                  </a:srgbClr>
                </a:gs>
                <a:gs pos="100000">
                  <a:srgbClr val="3368FF"/>
                </a:gs>
              </a:gsLst>
              <a:lin ang="16200000" scaled="0"/>
              <a:tileRect/>
            </a:gradFill>
            <a:ln w="15875">
              <a:noFill/>
              <a:round/>
            </a:ln>
            <a:effec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dirty="0">
                <a:solidFill>
                  <a:srgbClr val="383838"/>
                </a:solidFill>
                <a:cs typeface="微软雅黑"/>
                <a:latin typeface="微软雅黑"/>
                <a:ea typeface="微软雅黑"/>
              </a:endParaRPr>
            </a:p>
          </p:txBody>
        </p:sp>
      </p:grpSp>
      <p:grpSp>
        <p:nvGrpSpPr>
          <p:cNvPr id="61" name="组合 60"/>
          <p:cNvGrpSpPr/>
          <p:nvPr/>
        </p:nvGrpSpPr>
        <p:grpSpPr>
          <a:xfrm>
            <a:off x="10641330" y="5455920"/>
            <a:ext cx="690245" cy="862330"/>
            <a:chOff x="12144" y="8529"/>
            <a:chExt cx="1087" cy="1358"/>
          </a:xfrm>
        </p:grpSpPr>
        <p:grpSp>
          <p:nvGrpSpPr>
            <p:cNvPr id="62" name="组合 61"/>
            <p:cNvGrpSpPr/>
            <p:nvPr/>
          </p:nvGrpSpPr>
          <p:grpSpPr>
            <a:xfrm rot="0">
              <a:off x="12144" y="8881"/>
              <a:ext cx="1087" cy="1006"/>
              <a:chOff x="1750980" y="5624548"/>
              <a:chExt cx="690236" cy="639134"/>
            </a:xfrm>
          </p:grpSpPr>
          <p:sp>
            <p:nvSpPr>
              <p:cNvPr id="64" name="@显眼包PPT15-1"/>
              <p:cNvSpPr txBox="1"/>
              <p:nvPr/>
            </p:nvSpPr>
            <p:spPr>
              <a:xfrm>
                <a:off x="1918301" y="5624548"/>
                <a:ext cx="355595" cy="430748"/>
              </a:xfrm>
              <a:prstGeom prst="rect">
                <a:avLst/>
              </a:prstGeom>
              <a:noFill/>
            </p:spPr>
            <p:txBody>
              <a:bodyPr wrap="none" lIns="0" tIns="0" rIns="0" bIns="0" rtlCol="0">
                <a:spAutoFit/>
                <a:scene3d>
                  <a:camera prst="orthographicFront"/>
                  <a:lightRig rig="threePt" dir="t"/>
                </a:scene3d>
              </a:bodyPr>
              <a:lstStyle/>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zh-CN" sz="1400" b="1" dirty="0">
                    <a:solidFill>
                      <a:srgbClr val="0042FF"/>
                    </a:solidFill>
                    <a:latin typeface="微软雅黑"/>
                    <a:ea typeface="微软雅黑"/>
                    <a:cs typeface="微软雅黑"/>
                  </a:rPr>
                  <a:t>技术</a:t>
                </a:r>
                <a:endParaRPr lang="zh-CN" sz="1400" b="1" dirty="0">
                  <a:solidFill>
                    <a:srgbClr val="0042FF"/>
                  </a:solidFill>
                  <a:latin typeface="微软雅黑"/>
                  <a:ea typeface="微软雅黑"/>
                  <a:cs typeface="微软雅黑"/>
                </a:endParaRPr>
              </a:p>
              <a:p>
                <a:pPr marL="0" marR="0" lvl="0" indent="0" algn="ctr" defTabSz="914400" rtl="0" eaLnBrk="1" fontAlgn="auto" latinLnBrk="0" hangingPunct="1">
                  <a:spcBef>
                    <a:spcPts val="0"/>
                  </a:spcBef>
                  <a:buClrTx/>
                  <a:buSzTx/>
                  <a:buFontTx/>
                  <a:buNone/>
                  <a:defRPr>
                    <a:latin typeface="微软雅黑"/>
                    <a:ea typeface="微软雅黑"/>
                    <a:cs typeface="微软雅黑"/>
                  </a:defRPr>
                </a:pPr>
                <a:r>
                  <a:rPr lang="zh-CN" sz="1400" b="1" dirty="0">
                    <a:solidFill>
                      <a:srgbClr val="0042FF"/>
                    </a:solidFill>
                    <a:latin typeface="微软雅黑"/>
                    <a:ea typeface="微软雅黑"/>
                    <a:cs typeface="微软雅黑"/>
                  </a:rPr>
                  <a:t>提效</a:t>
                </a:r>
                <a:endParaRPr lang="zh-CN" sz="1400" b="1" dirty="0">
                  <a:solidFill>
                    <a:srgbClr val="0042FF"/>
                  </a:solidFill>
                  <a:latin typeface="微软雅黑"/>
                  <a:ea typeface="微软雅黑"/>
                  <a:cs typeface="微软雅黑"/>
                </a:endParaRPr>
              </a:p>
            </p:txBody>
          </p:sp>
          <p:grpSp>
            <p:nvGrpSpPr>
              <p:cNvPr id="73" name="组合 72"/>
              <p:cNvGrpSpPr/>
              <p:nvPr/>
            </p:nvGrpSpPr>
            <p:grpSpPr>
              <a:xfrm>
                <a:off x="1750980" y="5816937"/>
                <a:ext cx="690236" cy="446745"/>
                <a:chOff x="1846211" y="5922627"/>
                <a:chExt cx="661308" cy="344058"/>
              </a:xfrm>
            </p:grpSpPr>
            <p:grpSp>
              <p:nvGrpSpPr>
                <p:cNvPr id="75" name="组合 74"/>
                <p:cNvGrpSpPr/>
                <p:nvPr/>
              </p:nvGrpSpPr>
              <p:grpSpPr>
                <a:xfrm>
                  <a:off x="1846211" y="6090853"/>
                  <a:ext cx="661308" cy="175832"/>
                  <a:chOff x="1160606" y="3870007"/>
                  <a:chExt cx="584190" cy="135236"/>
                </a:xfrm>
              </p:grpSpPr>
              <p:sp>
                <p:nvSpPr>
                  <p:cNvPr id="80" name="@显眼包PPT15-2"/>
                  <p:cNvSpPr/>
                  <p:nvPr/>
                </p:nvSpPr>
                <p:spPr>
                  <a:xfrm>
                    <a:off x="1216805" y="3943756"/>
                    <a:ext cx="471792" cy="61487"/>
                  </a:xfrm>
                  <a:prstGeom prst="hexagon">
                    <a:avLst>
                      <a:gd name="adj" fmla="val 113646"/>
                      <a:gd name="vf" fmla="val 115470"/>
                    </a:avLst>
                  </a:prstGeom>
                  <a:gradFill flip="none" rotWithShape="1">
                    <a:gsLst>
                      <a:gs pos="12000">
                        <a:srgbClr val="3368FF">
                          <a:alpha val="27000"/>
                        </a:srgbClr>
                      </a:gs>
                      <a:gs pos="94000">
                        <a:srgbClr val="3368FF">
                          <a:alpha val="0"/>
                        </a:srgbClr>
                      </a:gs>
                    </a:gsLst>
                    <a:lin ang="16200000" scaled="1"/>
                    <a:tileRect/>
                  </a:gradFill>
                  <a:ln w="3175">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83" name="@显眼包PPT3-3"/>
                  <p:cNvSpPr/>
                  <p:nvPr/>
                </p:nvSpPr>
                <p:spPr>
                  <a:xfrm>
                    <a:off x="1160606" y="3870007"/>
                    <a:ext cx="584190" cy="93301"/>
                  </a:xfrm>
                  <a:prstGeom prst="hexagon">
                    <a:avLst>
                      <a:gd name="adj" fmla="val 113646"/>
                      <a:gd name="vf" fmla="val 115470"/>
                    </a:avLst>
                  </a:prstGeom>
                  <a:gradFill flip="none" rotWithShape="1">
                    <a:gsLst>
                      <a:gs pos="12000">
                        <a:srgbClr val="3368FF">
                          <a:alpha val="50000"/>
                        </a:srgbClr>
                      </a:gs>
                      <a:gs pos="94000">
                        <a:srgbClr val="3368FF">
                          <a:alpha val="0"/>
                        </a:srgbClr>
                      </a:gs>
                    </a:gsLst>
                    <a:lin ang="16200000" scaled="1"/>
                    <a:tileRect/>
                  </a:gradFill>
                  <a:ln w="12700">
                    <a:gradFill>
                      <a:gsLst>
                        <a:gs pos="7000">
                          <a:srgbClr val="3368FF">
                            <a:alpha val="0"/>
                          </a:srgbClr>
                        </a:gs>
                        <a:gs pos="88000">
                          <a:srgbClr val="3368FF"/>
                        </a:gs>
                      </a:gsLst>
                      <a:lin ang="5400000" scaled="1"/>
                    </a:gradFill>
                  </a:ln>
                  <a:effectLst>
                    <a:innerShdw blurRad="114300">
                      <a:srgbClr val="3368FF"/>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85" name="组合 84"/>
                <p:cNvGrpSpPr/>
                <p:nvPr/>
              </p:nvGrpSpPr>
              <p:grpSpPr>
                <a:xfrm>
                  <a:off x="1878900" y="5922627"/>
                  <a:ext cx="595930" cy="197490"/>
                  <a:chOff x="1184081" y="3694733"/>
                  <a:chExt cx="544509" cy="175270"/>
                </a:xfrm>
              </p:grpSpPr>
              <p:grpSp>
                <p:nvGrpSpPr>
                  <p:cNvPr id="86" name="组合 85"/>
                  <p:cNvGrpSpPr/>
                  <p:nvPr/>
                </p:nvGrpSpPr>
                <p:grpSpPr>
                  <a:xfrm>
                    <a:off x="1682870" y="3694733"/>
                    <a:ext cx="45720" cy="175270"/>
                    <a:chOff x="1144352" y="3690146"/>
                    <a:chExt cx="55150" cy="175270"/>
                  </a:xfrm>
                </p:grpSpPr>
                <p:cxnSp>
                  <p:nvCxnSpPr>
                    <p:cNvPr id="87" name="@显眼包PPT3-4"/>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88" name="@显眼包PPT3-5"/>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nvGrpSpPr>
                  <p:cNvPr id="89" name="组合 88"/>
                  <p:cNvGrpSpPr/>
                  <p:nvPr/>
                </p:nvGrpSpPr>
                <p:grpSpPr>
                  <a:xfrm flipH="1">
                    <a:off x="1184081" y="3694733"/>
                    <a:ext cx="45720" cy="175270"/>
                    <a:chOff x="1144352" y="3690146"/>
                    <a:chExt cx="55150" cy="175270"/>
                  </a:xfrm>
                </p:grpSpPr>
                <p:cxnSp>
                  <p:nvCxnSpPr>
                    <p:cNvPr id="90" name="@显眼包PPT3-6"/>
                    <p:cNvCxnSpPr/>
                    <p:nvPr/>
                  </p:nvCxnSpPr>
                  <p:spPr>
                    <a:xfrm flipV="1">
                      <a:off x="1199502" y="3732792"/>
                      <a:ext cx="0" cy="132624"/>
                    </a:xfrm>
                    <a:prstGeom prst="line">
                      <a:avLst/>
                    </a:prstGeom>
                    <a:ln w="6350" cap="rnd">
                      <a:gradFill flip="none" rotWithShape="1">
                        <a:gsLst>
                          <a:gs pos="0">
                            <a:srgbClr val="3368FF"/>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cxnSp>
                  <p:nvCxnSpPr>
                    <p:cNvPr id="91" name="@显眼包PPT3-7"/>
                    <p:cNvCxnSpPr/>
                    <p:nvPr/>
                  </p:nvCxnSpPr>
                  <p:spPr>
                    <a:xfrm flipV="1">
                      <a:off x="1144352" y="3690146"/>
                      <a:ext cx="0" cy="66312"/>
                    </a:xfrm>
                    <a:prstGeom prst="line">
                      <a:avLst/>
                    </a:prstGeom>
                    <a:ln w="6350" cap="rnd">
                      <a:gradFill flip="none" rotWithShape="1">
                        <a:gsLst>
                          <a:gs pos="0">
                            <a:srgbClr val="3368FF">
                              <a:alpha val="54000"/>
                            </a:srgbClr>
                          </a:gs>
                          <a:gs pos="100000">
                            <a:srgbClr val="3368FF">
                              <a:alpha val="0"/>
                            </a:srgbClr>
                          </a:gs>
                        </a:gsLst>
                        <a:lin ang="16200000" scaled="1"/>
                        <a:tileRect/>
                      </a:gradFill>
                      <a:round/>
                    </a:ln>
                  </p:spPr>
                  <p:style>
                    <a:lnRef idx="1">
                      <a:srgbClr val="0042FF"/>
                    </a:lnRef>
                    <a:fillRef idx="0">
                      <a:srgbClr val="0042FF"/>
                    </a:fillRef>
                    <a:effectRef idx="0">
                      <a:srgbClr val="0042FF"/>
                    </a:effectRef>
                    <a:fontRef idx="minor">
                      <a:srgbClr val="383838"/>
                    </a:fontRef>
                  </p:style>
                </p:cxnSp>
              </p:grpSp>
            </p:grpSp>
            <p:grpSp>
              <p:nvGrpSpPr>
                <p:cNvPr id="92" name="组合 91"/>
                <p:cNvGrpSpPr/>
                <p:nvPr/>
              </p:nvGrpSpPr>
              <p:grpSpPr>
                <a:xfrm>
                  <a:off x="1935420" y="6154572"/>
                  <a:ext cx="482891" cy="28956"/>
                  <a:chOff x="1379689" y="4245602"/>
                  <a:chExt cx="482891" cy="28956"/>
                </a:xfrm>
              </p:grpSpPr>
              <p:sp>
                <p:nvSpPr>
                  <p:cNvPr id="93" name="@显眼包PPT3-8"/>
                  <p:cNvSpPr/>
                  <p:nvPr/>
                </p:nvSpPr>
                <p:spPr>
                  <a:xfrm>
                    <a:off x="1379689"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94" name="@显眼包PPT3-9"/>
                  <p:cNvSpPr/>
                  <p:nvPr/>
                </p:nvSpPr>
                <p:spPr>
                  <a:xfrm flipH="1">
                    <a:off x="1698914" y="4245602"/>
                    <a:ext cx="163666" cy="28956"/>
                  </a:xfrm>
                  <a:custGeom>
                    <a:avLst/>
                    <a:gdLst>
                      <a:gd name="connsiteX0" fmla="*/ 0 w 534073"/>
                      <a:gd name="connsiteY0" fmla="*/ 39973 h 79945"/>
                      <a:gd name="connsiteX1" fmla="*/ 90854 w 534073"/>
                      <a:gd name="connsiteY1" fmla="*/ 0 h 79945"/>
                      <a:gd name="connsiteX2" fmla="*/ 443219 w 534073"/>
                      <a:gd name="connsiteY2" fmla="*/ 0 h 79945"/>
                      <a:gd name="connsiteX3" fmla="*/ 534073 w 534073"/>
                      <a:gd name="connsiteY3" fmla="*/ 39973 h 79945"/>
                      <a:gd name="connsiteX4" fmla="*/ 443219 w 534073"/>
                      <a:gd name="connsiteY4" fmla="*/ 79945 h 79945"/>
                      <a:gd name="connsiteX5" fmla="*/ 90854 w 534073"/>
                      <a:gd name="connsiteY5" fmla="*/ 79945 h 79945"/>
                      <a:gd name="connsiteX6" fmla="*/ 0 w 534073"/>
                      <a:gd name="connsiteY6" fmla="*/ 39973 h 79945"/>
                      <a:gd name="connsiteX0-1" fmla="*/ 443219 w 534659"/>
                      <a:gd name="connsiteY0-2" fmla="*/ 79945 h 171385"/>
                      <a:gd name="connsiteX1-3" fmla="*/ 90854 w 534659"/>
                      <a:gd name="connsiteY1-4" fmla="*/ 79945 h 171385"/>
                      <a:gd name="connsiteX2-5" fmla="*/ 0 w 534659"/>
                      <a:gd name="connsiteY2-6" fmla="*/ 39973 h 171385"/>
                      <a:gd name="connsiteX3-7" fmla="*/ 90854 w 534659"/>
                      <a:gd name="connsiteY3-8" fmla="*/ 0 h 171385"/>
                      <a:gd name="connsiteX4-9" fmla="*/ 443219 w 534659"/>
                      <a:gd name="connsiteY4-10" fmla="*/ 0 h 171385"/>
                      <a:gd name="connsiteX5-11" fmla="*/ 534073 w 534659"/>
                      <a:gd name="connsiteY5-12" fmla="*/ 39973 h 171385"/>
                      <a:gd name="connsiteX6-13" fmla="*/ 534659 w 534659"/>
                      <a:gd name="connsiteY6-14" fmla="*/ 171385 h 171385"/>
                      <a:gd name="connsiteX0-15" fmla="*/ 443219 w 534659"/>
                      <a:gd name="connsiteY0-16" fmla="*/ 79945 h 171385"/>
                      <a:gd name="connsiteX1-17" fmla="*/ 90854 w 534659"/>
                      <a:gd name="connsiteY1-18" fmla="*/ 79945 h 171385"/>
                      <a:gd name="connsiteX2-19" fmla="*/ 0 w 534659"/>
                      <a:gd name="connsiteY2-20" fmla="*/ 39973 h 171385"/>
                      <a:gd name="connsiteX3-21" fmla="*/ 90854 w 534659"/>
                      <a:gd name="connsiteY3-22" fmla="*/ 0 h 171385"/>
                      <a:gd name="connsiteX4-23" fmla="*/ 443219 w 534659"/>
                      <a:gd name="connsiteY4-24" fmla="*/ 0 h 171385"/>
                      <a:gd name="connsiteX5-25" fmla="*/ 534659 w 534659"/>
                      <a:gd name="connsiteY5-26" fmla="*/ 171385 h 171385"/>
                      <a:gd name="connsiteX0-27" fmla="*/ 443219 w 534659"/>
                      <a:gd name="connsiteY0-28" fmla="*/ 79945 h 171385"/>
                      <a:gd name="connsiteX1-29" fmla="*/ 90854 w 534659"/>
                      <a:gd name="connsiteY1-30" fmla="*/ 79945 h 171385"/>
                      <a:gd name="connsiteX2-31" fmla="*/ 0 w 534659"/>
                      <a:gd name="connsiteY2-32" fmla="*/ 39973 h 171385"/>
                      <a:gd name="connsiteX3-33" fmla="*/ 90854 w 534659"/>
                      <a:gd name="connsiteY3-34" fmla="*/ 0 h 171385"/>
                      <a:gd name="connsiteX4-35" fmla="*/ 534659 w 534659"/>
                      <a:gd name="connsiteY4-36" fmla="*/ 171385 h 171385"/>
                      <a:gd name="connsiteX0-37" fmla="*/ 443219 w 534659"/>
                      <a:gd name="connsiteY0-38" fmla="*/ 39972 h 131412"/>
                      <a:gd name="connsiteX1-39" fmla="*/ 90854 w 534659"/>
                      <a:gd name="connsiteY1-40" fmla="*/ 39972 h 131412"/>
                      <a:gd name="connsiteX2-41" fmla="*/ 0 w 534659"/>
                      <a:gd name="connsiteY2-42" fmla="*/ 0 h 131412"/>
                      <a:gd name="connsiteX3-43" fmla="*/ 534659 w 534659"/>
                      <a:gd name="connsiteY3-44" fmla="*/ 131412 h 131412"/>
                      <a:gd name="connsiteX0-45" fmla="*/ 443219 w 443219"/>
                      <a:gd name="connsiteY0-46" fmla="*/ 39972 h 39972"/>
                      <a:gd name="connsiteX1-47" fmla="*/ 90854 w 443219"/>
                      <a:gd name="connsiteY1-48" fmla="*/ 39972 h 39972"/>
                      <a:gd name="connsiteX2-49" fmla="*/ 0 w 443219"/>
                      <a:gd name="connsiteY2-50" fmla="*/ 0 h 39972"/>
                      <a:gd name="connsiteX0-51" fmla="*/ 196717 w 196717"/>
                      <a:gd name="connsiteY0-52" fmla="*/ 41350 h 41350"/>
                      <a:gd name="connsiteX1-53" fmla="*/ 90854 w 196717"/>
                      <a:gd name="connsiteY1-54" fmla="*/ 39972 h 41350"/>
                      <a:gd name="connsiteX2-55" fmla="*/ 0 w 196717"/>
                      <a:gd name="connsiteY2-56" fmla="*/ 0 h 41350"/>
                      <a:gd name="connsiteX0-57" fmla="*/ 163666 w 163666"/>
                      <a:gd name="connsiteY0-58" fmla="*/ 28956 h 28956"/>
                      <a:gd name="connsiteX1-59" fmla="*/ 57803 w 163666"/>
                      <a:gd name="connsiteY1-60" fmla="*/ 27578 h 28956"/>
                      <a:gd name="connsiteX2-61" fmla="*/ 0 w 163666"/>
                      <a:gd name="connsiteY2-62" fmla="*/ 0 h 28956"/>
                    </a:gdLst>
                    <a:ahLst/>
                    <a:cxnLst>
                      <a:cxn ang="0">
                        <a:pos x="connsiteX0-1" y="connsiteY0-2"/>
                      </a:cxn>
                      <a:cxn ang="0">
                        <a:pos x="connsiteX1-3" y="connsiteY1-4"/>
                      </a:cxn>
                      <a:cxn ang="0">
                        <a:pos x="connsiteX2-5" y="connsiteY2-6"/>
                      </a:cxn>
                    </a:cxnLst>
                    <a:rect l="l" t="t" r="r" b="b"/>
                    <a:pathLst>
                      <a:path w="163666" h="28956">
                        <a:moveTo>
                          <a:pt x="163666" y="28956"/>
                        </a:moveTo>
                        <a:lnTo>
                          <a:pt x="57803" y="27578"/>
                        </a:lnTo>
                        <a:lnTo>
                          <a:pt x="0" y="0"/>
                        </a:lnTo>
                      </a:path>
                    </a:pathLst>
                  </a:custGeom>
                  <a:noFill/>
                  <a:ln w="3175">
                    <a:solidFill>
                      <a:srgbClr val="3368FF"/>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grpSp>
        <p:sp>
          <p:nvSpPr>
            <p:cNvPr id="95" name="显眼包PPT13-1"/>
            <p:cNvSpPr/>
            <p:nvPr/>
          </p:nvSpPr>
          <p:spPr>
            <a:xfrm>
              <a:off x="12497" y="8529"/>
              <a:ext cx="354" cy="374"/>
            </a:xfrm>
            <a:custGeom>
              <a:avLst/>
              <a:gdLst>
                <a:gd name="connsiteX0" fmla="*/ 492945 w 987251"/>
                <a:gd name="connsiteY0" fmla="*/ 0 h 785016"/>
                <a:gd name="connsiteX1" fmla="*/ 886379 w 987251"/>
                <a:gd name="connsiteY1" fmla="*/ 358284 h 785016"/>
                <a:gd name="connsiteX2" fmla="*/ 651185 w 987251"/>
                <a:gd name="connsiteY2" fmla="*/ 286423 h 785016"/>
                <a:gd name="connsiteX3" fmla="*/ 655826 w 987251"/>
                <a:gd name="connsiteY3" fmla="*/ 301395 h 785016"/>
                <a:gd name="connsiteX4" fmla="*/ 715976 w 987251"/>
                <a:gd name="connsiteY4" fmla="*/ 434705 h 785016"/>
                <a:gd name="connsiteX5" fmla="*/ 975009 w 987251"/>
                <a:gd name="connsiteY5" fmla="*/ 775178 h 785016"/>
                <a:gd name="connsiteX6" fmla="*/ 987251 w 987251"/>
                <a:gd name="connsiteY6" fmla="*/ 785016 h 785016"/>
                <a:gd name="connsiteX7" fmla="*/ 493625 w 987251"/>
                <a:gd name="connsiteY7" fmla="*/ 683361 h 785016"/>
                <a:gd name="connsiteX8" fmla="*/ 0 w 987251"/>
                <a:gd name="connsiteY8" fmla="*/ 785016 h 785016"/>
                <a:gd name="connsiteX9" fmla="*/ 12241 w 987251"/>
                <a:gd name="connsiteY9" fmla="*/ 775177 h 785016"/>
                <a:gd name="connsiteX10" fmla="*/ 271276 w 987251"/>
                <a:gd name="connsiteY10" fmla="*/ 434704 h 785016"/>
                <a:gd name="connsiteX11" fmla="*/ 331426 w 987251"/>
                <a:gd name="connsiteY11" fmla="*/ 301394 h 785016"/>
                <a:gd name="connsiteX12" fmla="*/ 336208 w 987251"/>
                <a:gd name="connsiteY12" fmla="*/ 285964 h 785016"/>
                <a:gd name="connsiteX13" fmla="*/ 99511 w 987251"/>
                <a:gd name="connsiteY13" fmla="*/ 358284 h 78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251" h="785016">
                  <a:moveTo>
                    <a:pt x="492945" y="0"/>
                  </a:moveTo>
                  <a:lnTo>
                    <a:pt x="886379" y="358284"/>
                  </a:lnTo>
                  <a:lnTo>
                    <a:pt x="651185" y="286423"/>
                  </a:lnTo>
                  <a:lnTo>
                    <a:pt x="655826" y="301395"/>
                  </a:lnTo>
                  <a:cubicBezTo>
                    <a:pt x="672513" y="345329"/>
                    <a:pt x="692548" y="389940"/>
                    <a:pt x="715976" y="434705"/>
                  </a:cubicBezTo>
                  <a:cubicBezTo>
                    <a:pt x="786260" y="569003"/>
                    <a:pt x="877099" y="685625"/>
                    <a:pt x="975009" y="775178"/>
                  </a:cubicBezTo>
                  <a:lnTo>
                    <a:pt x="987251" y="785016"/>
                  </a:lnTo>
                  <a:lnTo>
                    <a:pt x="493625" y="683361"/>
                  </a:lnTo>
                  <a:lnTo>
                    <a:pt x="0" y="785016"/>
                  </a:lnTo>
                  <a:lnTo>
                    <a:pt x="12241" y="775177"/>
                  </a:lnTo>
                  <a:cubicBezTo>
                    <a:pt x="110152" y="685624"/>
                    <a:pt x="200991" y="569002"/>
                    <a:pt x="271276" y="434704"/>
                  </a:cubicBezTo>
                  <a:cubicBezTo>
                    <a:pt x="294704" y="389939"/>
                    <a:pt x="314739" y="345328"/>
                    <a:pt x="331426" y="301394"/>
                  </a:cubicBezTo>
                  <a:lnTo>
                    <a:pt x="336208" y="285964"/>
                  </a:lnTo>
                  <a:lnTo>
                    <a:pt x="99511" y="358284"/>
                  </a:lnTo>
                  <a:close/>
                </a:path>
              </a:pathLst>
            </a:custGeom>
            <a:gradFill flip="none" rotWithShape="1">
              <a:gsLst>
                <a:gs pos="23000">
                  <a:srgbClr val="3368FF">
                    <a:alpha val="0"/>
                  </a:srgbClr>
                </a:gs>
                <a:gs pos="100000">
                  <a:srgbClr val="3368FF"/>
                </a:gs>
              </a:gsLst>
              <a:lin ang="16200000" scaled="0"/>
              <a:tileRect/>
            </a:gradFill>
            <a:ln w="15875">
              <a:noFill/>
              <a:round/>
            </a:ln>
            <a:effec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dirty="0">
                <a:solidFill>
                  <a:srgbClr val="383838"/>
                </a:solidFill>
                <a:cs typeface="微软雅黑"/>
                <a:latin typeface="微软雅黑"/>
                <a:ea typeface="微软雅黑"/>
              </a:endParaRPr>
            </a:p>
          </p:txBody>
        </p:sp>
      </p:grpSp>
      <p:sp>
        <p:nvSpPr>
          <p:cNvPr id="72" name="弧形 71"/>
          <p:cNvSpPr/>
          <p:nvPr/>
        </p:nvSpPr>
        <p:spPr>
          <a:xfrm flipH="1">
            <a:off x="631190" y="1194435"/>
            <a:ext cx="5309235" cy="5309235"/>
          </a:xfrm>
          <a:prstGeom prst="arc">
            <a:avLst>
              <a:gd name="adj1" fmla="val 9044368"/>
              <a:gd name="adj2" fmla="val 16181497"/>
            </a:avLst>
          </a:prstGeom>
          <a:ln>
            <a:headEnd type="triangle"/>
            <a:tailEnd type="triangl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3" name="弧形 12"/>
          <p:cNvSpPr/>
          <p:nvPr/>
        </p:nvSpPr>
        <p:spPr>
          <a:xfrm flipH="1">
            <a:off x="631190" y="1194435"/>
            <a:ext cx="5309235" cy="5309235"/>
          </a:xfrm>
          <a:prstGeom prst="arc">
            <a:avLst>
              <a:gd name="adj1" fmla="val 1885606"/>
              <a:gd name="adj2" fmla="val 8993183"/>
            </a:avLst>
          </a:prstGeom>
          <a:ln>
            <a:headEnd type="triangle"/>
            <a:tailEnd type="triangl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nvGrpSpPr>
          <p:cNvPr id="98" name="组合 97"/>
          <p:cNvGrpSpPr/>
          <p:nvPr/>
        </p:nvGrpSpPr>
        <p:grpSpPr>
          <a:xfrm rot="0">
            <a:off x="217805" y="1171575"/>
            <a:ext cx="6054090" cy="5308600"/>
            <a:chOff x="400" y="1881"/>
            <a:chExt cx="9534" cy="8360"/>
          </a:xfrm>
        </p:grpSpPr>
        <p:sp>
          <p:nvSpPr>
            <p:cNvPr id="99" name="文本框 98"/>
            <p:cNvSpPr txBox="1"/>
            <p:nvPr/>
          </p:nvSpPr>
          <p:spPr>
            <a:xfrm rot="2040000">
              <a:off x="1366" y="2882"/>
              <a:ext cx="4904" cy="5159"/>
            </a:xfrm>
            <a:prstGeom prst="rect">
              <a:avLst/>
            </a:prstGeom>
            <a:noFill/>
          </p:spPr>
          <p:txBody>
            <a:bodyPr wrap="square" rtlCol="0">
              <a:prstTxWarp prst="textArchUp">
                <a:avLst>
                  <a:gd name="adj" fmla="val 8606457"/>
                </a:avLst>
              </a:prstTxWarp>
              <a:noAutofit/>
            </a:bodyPr>
            <a:p>
              <a:pPr marL="1800225" indent="0" fontAlgn="auto">
                <a:lnSpc>
                  <a:spcPct val="150000"/>
                </a:lnSpc>
                <a:spcBef>
                  <a:spcPts val="0"/>
                </a:spcBef>
                <a:spcAft>
                  <a:spcPts val="0"/>
                </a:spcAft>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向内要效益</a:t>
              </a:r>
              <a:endParaRPr lang="zh-CN" altLang="en-US" sz="1400" b="1">
                <a:solidFill>
                  <a:srgbClr val="383838"/>
                </a:solidFill>
                <a:latin typeface="微软雅黑"/>
                <a:ea typeface="微软雅黑"/>
                <a:cs typeface="微软雅黑"/>
              </a:endParaRPr>
            </a:p>
          </p:txBody>
        </p:sp>
        <p:grpSp>
          <p:nvGrpSpPr>
            <p:cNvPr id="100" name="组合 99"/>
            <p:cNvGrpSpPr/>
            <p:nvPr/>
          </p:nvGrpSpPr>
          <p:grpSpPr>
            <a:xfrm>
              <a:off x="400" y="1881"/>
              <a:ext cx="9534" cy="8360"/>
              <a:chOff x="400" y="1881"/>
              <a:chExt cx="9534" cy="8360"/>
            </a:xfrm>
          </p:grpSpPr>
          <p:sp>
            <p:nvSpPr>
              <p:cNvPr id="101" name="弧形 100"/>
              <p:cNvSpPr/>
              <p:nvPr/>
            </p:nvSpPr>
            <p:spPr>
              <a:xfrm>
                <a:off x="956" y="1881"/>
                <a:ext cx="8361" cy="8361"/>
              </a:xfrm>
              <a:prstGeom prst="arc">
                <a:avLst>
                  <a:gd name="adj1" fmla="val 9018303"/>
                  <a:gd name="adj2" fmla="val 16151896"/>
                </a:avLst>
              </a:prstGeom>
              <a:ln>
                <a:solidFill>
                  <a:srgbClr val="0042FF"/>
                </a:solidFill>
                <a:headEnd type="triangle"/>
                <a:tailEnd type="triangle"/>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02" name="文本框 101"/>
              <p:cNvSpPr txBox="1"/>
              <p:nvPr/>
            </p:nvSpPr>
            <p:spPr>
              <a:xfrm rot="21420000">
                <a:off x="400" y="4620"/>
                <a:ext cx="9534" cy="5364"/>
              </a:xfrm>
              <a:prstGeom prst="rect">
                <a:avLst/>
              </a:prstGeom>
              <a:noFill/>
            </p:spPr>
            <p:txBody>
              <a:bodyPr wrap="square" rtlCol="0">
                <a:prstTxWarp prst="textArchDown">
                  <a:avLst>
                    <a:gd name="adj" fmla="val 21037961"/>
                  </a:avLst>
                </a:prstTxWarp>
                <a:no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向人要潜能</a:t>
                </a:r>
                <a:endParaRPr lang="zh-CN" altLang="en-US" sz="1400" b="1">
                  <a:solidFill>
                    <a:srgbClr val="0042FF"/>
                  </a:solidFill>
                  <a:latin typeface="微软雅黑"/>
                  <a:ea typeface="微软雅黑"/>
                  <a:cs typeface="微软雅黑"/>
                </a:endParaRPr>
              </a:p>
            </p:txBody>
          </p:sp>
          <p:sp>
            <p:nvSpPr>
              <p:cNvPr id="103" name="文本框 102"/>
              <p:cNvSpPr txBox="1"/>
              <p:nvPr/>
            </p:nvSpPr>
            <p:spPr>
              <a:xfrm rot="9300000">
                <a:off x="3893" y="2626"/>
                <a:ext cx="4904" cy="5159"/>
              </a:xfrm>
              <a:prstGeom prst="rect">
                <a:avLst/>
              </a:prstGeom>
              <a:noFill/>
            </p:spPr>
            <p:txBody>
              <a:bodyPr wrap="square" rtlCol="0">
                <a:prstTxWarp prst="textArchUp">
                  <a:avLst>
                    <a:gd name="adj" fmla="val 8606457"/>
                  </a:avLst>
                </a:prstTxWarp>
                <a:noAutofit/>
              </a:bodyPr>
              <a:p>
                <a:pPr marL="1800225" indent="0" fontAlgn="auto">
                  <a:lnSpc>
                    <a:spcPct val="150000"/>
                  </a:lnSpc>
                  <a:spcBef>
                    <a:spcPts val="0"/>
                  </a:spcBef>
                  <a:spcAft>
                    <a:spcPts val="0"/>
                  </a:spcAft>
                  <a:defRPr>
                    <a:latin typeface="微软雅黑"/>
                    <a:ea typeface="微软雅黑"/>
                    <a:cs typeface="微软雅黑"/>
                  </a:defRPr>
                </a:pPr>
                <a:r>
                  <a:rPr lang="zh-CN" altLang="en-US" sz="1400" b="1">
                    <a:solidFill>
                      <a:srgbClr val="0042FF"/>
                    </a:solidFill>
                    <a:latin typeface="微软雅黑"/>
                    <a:ea typeface="微软雅黑"/>
                    <a:cs typeface="微软雅黑"/>
                  </a:rPr>
                  <a:t>向外要增长</a:t>
                </a:r>
                <a:endParaRPr lang="zh-CN" altLang="en-US" sz="1400" b="1">
                  <a:solidFill>
                    <a:srgbClr val="0042FF"/>
                  </a:solidFill>
                  <a:latin typeface="微软雅黑"/>
                  <a:ea typeface="微软雅黑"/>
                  <a:cs typeface="微软雅黑"/>
                </a:endParaRPr>
              </a:p>
            </p:txBody>
          </p:sp>
        </p:grpSp>
      </p:grpSp>
      <p:grpSp>
        <p:nvGrpSpPr>
          <p:cNvPr id="123" name="组合 122"/>
          <p:cNvGrpSpPr/>
          <p:nvPr/>
        </p:nvGrpSpPr>
        <p:grpSpPr>
          <a:xfrm>
            <a:off x="2824163" y="3516313"/>
            <a:ext cx="933450" cy="652780"/>
            <a:chOff x="4494" y="5536"/>
            <a:chExt cx="1470" cy="1028"/>
          </a:xfrm>
        </p:grpSpPr>
        <p:grpSp>
          <p:nvGrpSpPr>
            <p:cNvPr id="124" name="©显眼包PPT"/>
            <p:cNvGrpSpPr/>
            <p:nvPr/>
          </p:nvGrpSpPr>
          <p:grpSpPr>
            <a:xfrm rot="0">
              <a:off x="4494" y="5536"/>
              <a:ext cx="1470" cy="1028"/>
              <a:chOff x="4959134" y="3759488"/>
              <a:chExt cx="2213528" cy="1548040"/>
            </a:xfrm>
          </p:grpSpPr>
          <p:grpSp>
            <p:nvGrpSpPr>
              <p:cNvPr id="125" name="显眼包PPT"/>
              <p:cNvGrpSpPr/>
              <p:nvPr/>
            </p:nvGrpSpPr>
            <p:grpSpPr>
              <a:xfrm>
                <a:off x="5321980" y="3759488"/>
                <a:ext cx="1548040" cy="1548040"/>
                <a:chOff x="8299422" y="3022983"/>
                <a:chExt cx="626975" cy="626974"/>
              </a:xfrm>
            </p:grpSpPr>
            <p:grpSp>
              <p:nvGrpSpPr>
                <p:cNvPr id="132" name="组合 131"/>
                <p:cNvGrpSpPr/>
                <p:nvPr/>
              </p:nvGrpSpPr>
              <p:grpSpPr>
                <a:xfrm>
                  <a:off x="8299422" y="3022983"/>
                  <a:ext cx="626975" cy="626974"/>
                  <a:chOff x="1252391" y="1250950"/>
                  <a:chExt cx="1419449" cy="1419449"/>
                </a:xfrm>
              </p:grpSpPr>
              <p:sp>
                <p:nvSpPr>
                  <p:cNvPr id="134" name="©显眼包PPT-1"/>
                  <p:cNvSpPr/>
                  <p:nvPr/>
                </p:nvSpPr>
                <p:spPr>
                  <a:xfrm>
                    <a:off x="1252391" y="1250950"/>
                    <a:ext cx="1419449" cy="1419449"/>
                  </a:xfrm>
                  <a:prstGeom prst="ellipse">
                    <a:avLst/>
                  </a:prstGeom>
                  <a:gradFill flip="none" rotWithShape="1">
                    <a:gsLst>
                      <a:gs pos="95000">
                        <a:srgbClr val="B3D4FE"/>
                      </a:gs>
                      <a:gs pos="0">
                        <a:srgbClr val="3368FF"/>
                      </a:gs>
                    </a:gsLst>
                    <a:path path="circle">
                      <a:fillToRect r="100000" b="100000"/>
                    </a:path>
                    <a:tileRect l="-100000" t="-100000"/>
                  </a:gradFill>
                  <a:ln w="9525">
                    <a:gradFill flip="none" rotWithShape="1">
                      <a:gsLst>
                        <a:gs pos="40000">
                          <a:srgbClr val="FFFFFF"/>
                        </a:gs>
                        <a:gs pos="95000">
                          <a:srgbClr val="FFFFFF"/>
                        </a:gs>
                        <a:gs pos="65000">
                          <a:srgbClr val="B3D4FE"/>
                        </a:gs>
                      </a:gsLst>
                      <a:lin ang="2700000" scaled="1"/>
                      <a:tileRect/>
                    </a:gradFill>
                  </a:ln>
                  <a:effectLst>
                    <a:outerShdw blurRad="304800" dist="254000" dir="5400000" sx="76000" sy="76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0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nvGrpSpPr>
                  <p:cNvPr id="135" name="组合 134"/>
                  <p:cNvGrpSpPr/>
                  <p:nvPr/>
                </p:nvGrpSpPr>
                <p:grpSpPr>
                  <a:xfrm rot="10800000">
                    <a:off x="1949528" y="1765204"/>
                    <a:ext cx="597318" cy="810050"/>
                    <a:chOff x="1364916" y="1364034"/>
                    <a:chExt cx="597318" cy="810048"/>
                  </a:xfrm>
                </p:grpSpPr>
                <p:sp>
                  <p:nvSpPr>
                    <p:cNvPr id="143" name="©显眼包PPT-8"/>
                    <p:cNvSpPr/>
                    <p:nvPr/>
                  </p:nvSpPr>
                  <p:spPr>
                    <a:xfrm>
                      <a:off x="1364916" y="1364034"/>
                      <a:ext cx="597318" cy="810048"/>
                    </a:xfrm>
                    <a:custGeom>
                      <a:avLst/>
                      <a:gdLst>
                        <a:gd name="connsiteX0" fmla="*/ 546803 w 571905"/>
                        <a:gd name="connsiteY0" fmla="*/ 0 h 775585"/>
                        <a:gd name="connsiteX1" fmla="*/ 571905 w 571905"/>
                        <a:gd name="connsiteY1" fmla="*/ 46247 h 775585"/>
                        <a:gd name="connsiteX2" fmla="*/ 465290 w 571905"/>
                        <a:gd name="connsiteY2" fmla="*/ 95007 h 775585"/>
                        <a:gd name="connsiteX3" fmla="*/ 65697 w 571905"/>
                        <a:gd name="connsiteY3" fmla="*/ 651256 h 775585"/>
                        <a:gd name="connsiteX4" fmla="*/ 54727 w 571905"/>
                        <a:gd name="connsiteY4" fmla="*/ 775585 h 775585"/>
                        <a:gd name="connsiteX5" fmla="*/ 35757 w 571905"/>
                        <a:gd name="connsiteY5" fmla="*/ 723754 h 775585"/>
                        <a:gd name="connsiteX6" fmla="*/ 0 w 571905"/>
                        <a:gd name="connsiteY6" fmla="*/ 487245 h 775585"/>
                        <a:gd name="connsiteX7" fmla="*/ 35757 w 571905"/>
                        <a:gd name="connsiteY7" fmla="*/ 250736 h 775585"/>
                        <a:gd name="connsiteX8" fmla="*/ 38558 w 571905"/>
                        <a:gd name="connsiteY8" fmla="*/ 243081 h 775585"/>
                        <a:gd name="connsiteX9" fmla="*/ 49635 w 571905"/>
                        <a:gd name="connsiteY9" fmla="*/ 229656 h 775585"/>
                        <a:gd name="connsiteX10" fmla="*/ 530705 w 571905"/>
                        <a:gd name="connsiteY10" fmla="*/ 813 h 77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1905" h="775585">
                          <a:moveTo>
                            <a:pt x="546803" y="0"/>
                          </a:moveTo>
                          <a:lnTo>
                            <a:pt x="571905" y="46247"/>
                          </a:lnTo>
                          <a:lnTo>
                            <a:pt x="465290" y="95007"/>
                          </a:lnTo>
                          <a:cubicBezTo>
                            <a:pt x="258973" y="208710"/>
                            <a:pt x="108551" y="411351"/>
                            <a:pt x="65697" y="651256"/>
                          </a:cubicBezTo>
                          <a:lnTo>
                            <a:pt x="54727" y="775585"/>
                          </a:lnTo>
                          <a:lnTo>
                            <a:pt x="35757" y="723754"/>
                          </a:lnTo>
                          <a:cubicBezTo>
                            <a:pt x="12519" y="649041"/>
                            <a:pt x="0" y="569605"/>
                            <a:pt x="0" y="487245"/>
                          </a:cubicBezTo>
                          <a:cubicBezTo>
                            <a:pt x="0" y="404885"/>
                            <a:pt x="12519" y="325449"/>
                            <a:pt x="35757" y="250736"/>
                          </a:cubicBezTo>
                          <a:lnTo>
                            <a:pt x="38558" y="243081"/>
                          </a:lnTo>
                          <a:lnTo>
                            <a:pt x="49635" y="229656"/>
                          </a:lnTo>
                          <a:cubicBezTo>
                            <a:pt x="175572" y="103719"/>
                            <a:pt x="343547" y="19820"/>
                            <a:pt x="530705" y="813"/>
                          </a:cubicBezTo>
                          <a:close/>
                        </a:path>
                      </a:pathLst>
                    </a:custGeom>
                    <a:gradFill flip="none" rotWithShape="1">
                      <a:gsLst>
                        <a:gs pos="20000">
                          <a:srgbClr val="FFFFFF">
                            <a:alpha val="60000"/>
                          </a:srgbClr>
                        </a:gs>
                        <a:gs pos="100000">
                          <a:srgbClr val="FFFFFF">
                            <a:alpha val="0"/>
                          </a:srgbClr>
                        </a:gs>
                      </a:gsLst>
                      <a:lin ang="10800000" scaled="1"/>
                      <a:tileRect/>
                    </a:gradFill>
                    <a:ln>
                      <a:noFill/>
                    </a:ln>
                    <a:effectLst>
                      <a:softEdge rad="38100"/>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000" b="0" i="0" u="none" strike="noStrike" kern="1200" cap="none" spc="0" normalizeH="0" baseline="0" noProof="0">
                        <a:ln>
                          <a:noFill/>
                        </a:ln>
                        <a:solidFill>
                          <a:srgbClr val="0042FF"/>
                        </a:solidFill>
                        <a:effectLst/>
                        <a:uLnTx/>
                        <a:uFillTx/>
                        <a:latin typeface="微软雅黑"/>
                        <a:ea typeface="微软雅黑"/>
                        <a:cs typeface="微软雅黑"/>
                      </a:endParaRPr>
                    </a:p>
                  </p:txBody>
                </p:sp>
                <p:sp>
                  <p:nvSpPr>
                    <p:cNvPr id="166" name="©显眼包PPT-9"/>
                    <p:cNvSpPr/>
                    <p:nvPr/>
                  </p:nvSpPr>
                  <p:spPr>
                    <a:xfrm>
                      <a:off x="1377622" y="1381265"/>
                      <a:ext cx="571906" cy="775586"/>
                    </a:xfrm>
                    <a:custGeom>
                      <a:avLst/>
                      <a:gdLst>
                        <a:gd name="connsiteX0" fmla="*/ 546803 w 571905"/>
                        <a:gd name="connsiteY0" fmla="*/ 0 h 775585"/>
                        <a:gd name="connsiteX1" fmla="*/ 571905 w 571905"/>
                        <a:gd name="connsiteY1" fmla="*/ 46247 h 775585"/>
                        <a:gd name="connsiteX2" fmla="*/ 465290 w 571905"/>
                        <a:gd name="connsiteY2" fmla="*/ 95007 h 775585"/>
                        <a:gd name="connsiteX3" fmla="*/ 65697 w 571905"/>
                        <a:gd name="connsiteY3" fmla="*/ 651256 h 775585"/>
                        <a:gd name="connsiteX4" fmla="*/ 54727 w 571905"/>
                        <a:gd name="connsiteY4" fmla="*/ 775585 h 775585"/>
                        <a:gd name="connsiteX5" fmla="*/ 35757 w 571905"/>
                        <a:gd name="connsiteY5" fmla="*/ 723754 h 775585"/>
                        <a:gd name="connsiteX6" fmla="*/ 0 w 571905"/>
                        <a:gd name="connsiteY6" fmla="*/ 487245 h 775585"/>
                        <a:gd name="connsiteX7" fmla="*/ 35757 w 571905"/>
                        <a:gd name="connsiteY7" fmla="*/ 250736 h 775585"/>
                        <a:gd name="connsiteX8" fmla="*/ 38558 w 571905"/>
                        <a:gd name="connsiteY8" fmla="*/ 243081 h 775585"/>
                        <a:gd name="connsiteX9" fmla="*/ 49635 w 571905"/>
                        <a:gd name="connsiteY9" fmla="*/ 229656 h 775585"/>
                        <a:gd name="connsiteX10" fmla="*/ 530705 w 571905"/>
                        <a:gd name="connsiteY10" fmla="*/ 813 h 77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1905" h="775585">
                          <a:moveTo>
                            <a:pt x="546803" y="0"/>
                          </a:moveTo>
                          <a:lnTo>
                            <a:pt x="571905" y="46247"/>
                          </a:lnTo>
                          <a:lnTo>
                            <a:pt x="465290" y="95007"/>
                          </a:lnTo>
                          <a:cubicBezTo>
                            <a:pt x="258973" y="208710"/>
                            <a:pt x="108551" y="411351"/>
                            <a:pt x="65697" y="651256"/>
                          </a:cubicBezTo>
                          <a:lnTo>
                            <a:pt x="54727" y="775585"/>
                          </a:lnTo>
                          <a:lnTo>
                            <a:pt x="35757" y="723754"/>
                          </a:lnTo>
                          <a:cubicBezTo>
                            <a:pt x="12519" y="649041"/>
                            <a:pt x="0" y="569605"/>
                            <a:pt x="0" y="487245"/>
                          </a:cubicBezTo>
                          <a:cubicBezTo>
                            <a:pt x="0" y="404885"/>
                            <a:pt x="12519" y="325449"/>
                            <a:pt x="35757" y="250736"/>
                          </a:cubicBezTo>
                          <a:lnTo>
                            <a:pt x="38558" y="243081"/>
                          </a:lnTo>
                          <a:lnTo>
                            <a:pt x="49635" y="229656"/>
                          </a:lnTo>
                          <a:cubicBezTo>
                            <a:pt x="175572" y="103719"/>
                            <a:pt x="343547" y="19820"/>
                            <a:pt x="530705" y="813"/>
                          </a:cubicBezTo>
                          <a:close/>
                        </a:path>
                      </a:pathLst>
                    </a:custGeom>
                    <a:gradFill flip="none" rotWithShape="1">
                      <a:gsLst>
                        <a:gs pos="20000">
                          <a:srgbClr val="FFFFFF">
                            <a:alpha val="30000"/>
                          </a:srgbClr>
                        </a:gs>
                        <a:gs pos="78000">
                          <a:srgbClr val="FFFFFF">
                            <a:alpha val="0"/>
                          </a:srgbClr>
                        </a:gs>
                      </a:gsLst>
                      <a:lin ang="10800000" scaled="1"/>
                      <a:tileRect/>
                    </a:gradFill>
                    <a:ln>
                      <a:noFill/>
                    </a:ln>
                    <a:effectLst>
                      <a:softEdge rad="63500"/>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000" b="0" i="0" u="none" strike="noStrike" kern="1200" cap="none" spc="0" normalizeH="0" baseline="0" noProof="0">
                        <a:ln>
                          <a:noFill/>
                        </a:ln>
                        <a:solidFill>
                          <a:srgbClr val="0042FF"/>
                        </a:solidFill>
                        <a:effectLst/>
                        <a:uLnTx/>
                        <a:uFillTx/>
                        <a:latin typeface="微软雅黑"/>
                        <a:ea typeface="微软雅黑"/>
                        <a:cs typeface="微软雅黑"/>
                      </a:endParaRPr>
                    </a:p>
                  </p:txBody>
                </p:sp>
              </p:grpSp>
            </p:grpSp>
            <p:sp>
              <p:nvSpPr>
                <p:cNvPr id="183" name="©显眼包PPT-10"/>
                <p:cNvSpPr txBox="1"/>
                <p:nvPr/>
              </p:nvSpPr>
              <p:spPr>
                <a:xfrm>
                  <a:off x="8698900" y="3480780"/>
                  <a:ext cx="51" cy="83344"/>
                </a:xfrm>
                <a:prstGeom prst="rect">
                  <a:avLst/>
                </a:prstGeom>
                <a:noFill/>
              </p:spPr>
              <p:txBody>
                <a:bodyPr wrap="square" lIns="0" tIns="0" rIns="0" bIns="0" rtlCol="0">
                  <a:spAutoFit/>
                </a:bodyPr>
                <a:lstStyle/>
                <a:p>
                  <a:pPr marL="0" marR="0" lvl="0" indent="0" algn="ctr" defTabSz="914400" rtl="0" eaLnBrk="1" fontAlgn="auto" latinLnBrk="0" hangingPunct="1">
                    <a:lnSpc>
                      <a:spcPct val="120000"/>
                    </a:lnSpc>
                    <a:spcBef>
                      <a:spcPts val="0"/>
                    </a:spcBef>
                    <a:spcAft>
                      <a:spcPts val="1200"/>
                    </a:spcAft>
                    <a:buClrTx/>
                    <a:buSzTx/>
                    <a:buFontTx/>
                    <a:buNone/>
                    <a:defRPr>
                      <a:latin typeface="微软雅黑"/>
                      <a:ea typeface="微软雅黑"/>
                      <a:cs typeface="微软雅黑"/>
                    </a:defRPr>
                  </a:pPr>
                  <a:endParaRPr kumimoji="0"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sp>
            <p:nvSpPr>
              <p:cNvPr id="184" name="©显眼包PPT-11"/>
              <p:cNvSpPr/>
              <p:nvPr/>
            </p:nvSpPr>
            <p:spPr>
              <a:xfrm rot="864717">
                <a:off x="5075592" y="4227313"/>
                <a:ext cx="2013357" cy="753022"/>
              </a:xfrm>
              <a:prstGeom prst="ellipse">
                <a:avLst/>
              </a:prstGeom>
              <a:noFill/>
              <a:ln w="9525">
                <a:gradFill>
                  <a:gsLst>
                    <a:gs pos="13000">
                      <a:srgbClr val="FFFFFF">
                        <a:alpha val="0"/>
                      </a:srgbClr>
                    </a:gs>
                    <a:gs pos="74000">
                      <a:srgbClr val="B3D4FE"/>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dirty="0">
                  <a:solidFill>
                    <a:srgbClr val="383838"/>
                  </a:solidFill>
                  <a:latin typeface="微软雅黑"/>
                  <a:ea typeface="微软雅黑"/>
                  <a:cs typeface="微软雅黑"/>
                </a:endParaRPr>
              </a:p>
            </p:txBody>
          </p:sp>
          <p:sp>
            <p:nvSpPr>
              <p:cNvPr id="185" name="©显眼包PPT-12"/>
              <p:cNvSpPr/>
              <p:nvPr/>
            </p:nvSpPr>
            <p:spPr>
              <a:xfrm rot="864717">
                <a:off x="4959134" y="4237614"/>
                <a:ext cx="2213528" cy="827887"/>
              </a:xfrm>
              <a:prstGeom prst="ellipse">
                <a:avLst/>
              </a:prstGeom>
              <a:noFill/>
              <a:ln w="6350">
                <a:gradFill>
                  <a:gsLst>
                    <a:gs pos="13000">
                      <a:srgbClr val="FFFFFF">
                        <a:alpha val="0"/>
                      </a:srgbClr>
                    </a:gs>
                    <a:gs pos="74000">
                      <a:srgbClr val="B3D4FE"/>
                    </a:gs>
                    <a:gs pos="100000">
                      <a:srgbClr val="3368FF"/>
                    </a:gs>
                  </a:gsLst>
                  <a:lin ang="5400000" scaled="1"/>
                </a:gradFill>
                <a:prstDash val="dash"/>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050" dirty="0">
                  <a:solidFill>
                    <a:srgbClr val="383838"/>
                  </a:solidFill>
                  <a:latin typeface="微软雅黑"/>
                  <a:ea typeface="微软雅黑"/>
                  <a:cs typeface="微软雅黑"/>
                </a:endParaRPr>
              </a:p>
            </p:txBody>
          </p:sp>
          <p:sp>
            <p:nvSpPr>
              <p:cNvPr id="186" name="©显眼包PPT-13"/>
              <p:cNvSpPr txBox="1"/>
              <p:nvPr/>
            </p:nvSpPr>
            <p:spPr>
              <a:xfrm>
                <a:off x="5501367" y="4117980"/>
                <a:ext cx="1173335" cy="436800"/>
              </a:xfrm>
              <a:prstGeom prst="rect">
                <a:avLst/>
              </a:prstGeom>
              <a:noFill/>
            </p:spPr>
            <p:txBody>
              <a:bodyPr wrap="square" lIns="0" tIns="0" rIns="0" bIns="0" rtlCol="0">
                <a:spAutoFit/>
              </a:bodyPr>
              <a:lstStyle/>
              <a:p>
                <a:pPr algn="ctr">
                  <a:defRPr>
                    <a:latin typeface="微软雅黑"/>
                    <a:ea typeface="微软雅黑"/>
                    <a:cs typeface="微软雅黑"/>
                  </a:defRPr>
                </a:pPr>
                <a:r>
                  <a:rPr lang="en-US" altLang="zh-CN" sz="1200" b="1" dirty="0">
                    <a:solidFill>
                      <a:srgbClr val="383838"/>
                    </a:solidFill>
                    <a:latin typeface="微软雅黑"/>
                    <a:ea typeface="微软雅黑"/>
                    <a:cs typeface="微软雅黑"/>
                  </a:rPr>
                  <a:t>“</a:t>
                </a:r>
                <a:r>
                  <a:rPr lang="zh-CN" altLang="en-US" sz="1200" b="1" dirty="0">
                    <a:solidFill>
                      <a:srgbClr val="383838"/>
                    </a:solidFill>
                    <a:latin typeface="微软雅黑"/>
                    <a:ea typeface="微软雅黑"/>
                    <a:cs typeface="微软雅黑"/>
                  </a:rPr>
                  <a:t>一核</a:t>
                </a:r>
                <a:r>
                  <a:rPr lang="en-US" altLang="zh-CN" sz="1200" b="1" dirty="0">
                    <a:solidFill>
                      <a:srgbClr val="383838"/>
                    </a:solidFill>
                    <a:latin typeface="微软雅黑"/>
                    <a:ea typeface="微软雅黑"/>
                    <a:cs typeface="微软雅黑"/>
                  </a:rPr>
                  <a:t>”</a:t>
                </a:r>
                <a:endParaRPr lang="zh-CN" altLang="en-US" sz="1200" b="1" dirty="0">
                  <a:solidFill>
                    <a:srgbClr val="383838"/>
                  </a:solidFill>
                  <a:latin typeface="微软雅黑"/>
                  <a:ea typeface="微软雅黑"/>
                  <a:cs typeface="微软雅黑"/>
                </a:endParaRPr>
              </a:p>
            </p:txBody>
          </p:sp>
        </p:grpSp>
        <p:sp>
          <p:nvSpPr>
            <p:cNvPr id="187" name="©显眼包PPT-13"/>
            <p:cNvSpPr txBox="1"/>
            <p:nvPr/>
          </p:nvSpPr>
          <p:spPr>
            <a:xfrm>
              <a:off x="4886" y="6108"/>
              <a:ext cx="758" cy="494"/>
            </a:xfrm>
            <a:prstGeom prst="rect">
              <a:avLst/>
            </a:prstGeom>
            <a:noFill/>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价值增长</a:t>
              </a:r>
              <a:endParaRPr lang="zh-CN" altLang="en-US" sz="1000" dirty="0">
                <a:solidFill>
                  <a:srgbClr val="383838"/>
                </a:solidFill>
                <a:latin typeface="微软雅黑"/>
                <a:ea typeface="微软雅黑"/>
                <a:cs typeface="微软雅黑"/>
              </a:endParaRPr>
            </a:p>
          </p:txBody>
        </p:sp>
      </p:grpSp>
      <p:grpSp>
        <p:nvGrpSpPr>
          <p:cNvPr id="190" name="组合 189"/>
          <p:cNvGrpSpPr/>
          <p:nvPr/>
        </p:nvGrpSpPr>
        <p:grpSpPr>
          <a:xfrm>
            <a:off x="1346835" y="1954530"/>
            <a:ext cx="3949700" cy="3648710"/>
            <a:chOff x="3936" y="12583"/>
            <a:chExt cx="6220" cy="5746"/>
          </a:xfrm>
        </p:grpSpPr>
        <p:sp>
          <p:nvSpPr>
            <p:cNvPr id="191" name="文本框 190"/>
            <p:cNvSpPr txBox="1"/>
            <p:nvPr/>
          </p:nvSpPr>
          <p:spPr>
            <a:xfrm rot="1800000">
              <a:off x="4713" y="13170"/>
              <a:ext cx="5443" cy="5159"/>
            </a:xfrm>
            <a:prstGeom prst="rect">
              <a:avLst/>
            </a:prstGeom>
            <a:noFill/>
          </p:spPr>
          <p:txBody>
            <a:bodyPr wrap="square" rtlCol="0" lIns="0" rIns="0" tIns="0" bIns="0">
              <a:prstTxWarp prst="textArchUp">
                <a:avLst>
                  <a:gd name="adj" fmla="val 8606457"/>
                </a:avLst>
              </a:prstTxWarp>
              <a:noAutofit/>
            </a:bodyPr>
            <a:p>
              <a:pPr>
                <a:defRPr>
                  <a:solidFill>
                    <a:srgbClr val="383838"/>
                  </a:solidFill>
                  <a:latin typeface="微软雅黑"/>
                  <a:ea typeface="微软雅黑"/>
                  <a:cs typeface="微软雅黑"/>
                </a:defRPr>
              </a:pPr>
              <a:r>
                <a:rPr lang="zh-CN" altLang="en-US" sz="1000" b="1">
                  <a:solidFill>
                    <a:srgbClr val="383838"/>
                  </a:solidFill>
                  <a:latin typeface="微软雅黑"/>
                  <a:ea typeface="微软雅黑"/>
                  <a:cs typeface="微软雅黑"/>
                </a:rPr>
                <a:t>第一翼：</a:t>
              </a:r>
              <a:r>
                <a:rPr lang="zh-CN" altLang="en-US" sz="1000">
                  <a:solidFill>
                    <a:srgbClr val="383838"/>
                  </a:solidFill>
                  <a:latin typeface="微软雅黑"/>
                  <a:ea typeface="微软雅黑"/>
                  <a:cs typeface="微软雅黑"/>
                </a:rPr>
                <a:t>精益管理翼（提效率、降成本）</a:t>
              </a:r>
              <a:endParaRPr lang="zh-CN" altLang="en-US" sz="1000">
                <a:solidFill>
                  <a:srgbClr val="383838"/>
                </a:solidFill>
                <a:latin typeface="微软雅黑"/>
                <a:ea typeface="微软雅黑"/>
                <a:cs typeface="微软雅黑"/>
              </a:endParaRPr>
            </a:p>
          </p:txBody>
        </p:sp>
        <p:sp>
          <p:nvSpPr>
            <p:cNvPr id="192" name="文本框 191"/>
            <p:cNvSpPr txBox="1"/>
            <p:nvPr/>
          </p:nvSpPr>
          <p:spPr>
            <a:xfrm rot="18360000">
              <a:off x="4318" y="12503"/>
              <a:ext cx="4924" cy="5083"/>
            </a:xfrm>
            <a:prstGeom prst="rect">
              <a:avLst/>
            </a:prstGeom>
            <a:noFill/>
          </p:spPr>
          <p:txBody>
            <a:bodyPr wrap="square" rtlCol="0" lIns="0" rIns="0" tIns="0" bIns="0">
              <a:prstTxWarp prst="textArchDown">
                <a:avLst/>
              </a:prstTxWarp>
              <a:noAutofit/>
            </a:bodyPr>
            <a:p>
              <a:pPr>
                <a:defRPr>
                  <a:solidFill>
                    <a:srgbClr val="383838"/>
                  </a:solidFill>
                  <a:latin typeface="微软雅黑"/>
                  <a:ea typeface="微软雅黑"/>
                  <a:cs typeface="微软雅黑"/>
                </a:defRPr>
              </a:pPr>
              <a:r>
                <a:rPr lang="zh-CN" altLang="en-US" sz="1000" b="1">
                  <a:solidFill>
                    <a:srgbClr val="383838"/>
                  </a:solidFill>
                  <a:latin typeface="微软雅黑"/>
                  <a:ea typeface="微软雅黑"/>
                  <a:cs typeface="微软雅黑"/>
                </a:rPr>
                <a:t>第三翼：</a:t>
              </a:r>
              <a:r>
                <a:rPr lang="zh-CN" altLang="en-US" sz="1000">
                  <a:solidFill>
                    <a:srgbClr val="383838"/>
                  </a:solidFill>
                  <a:latin typeface="微软雅黑"/>
                  <a:ea typeface="微软雅黑"/>
                  <a:cs typeface="微软雅黑"/>
                </a:rPr>
                <a:t>组织创新翼（激活力、促变革）</a:t>
              </a:r>
              <a:endParaRPr lang="zh-CN" altLang="en-US" sz="1000">
                <a:solidFill>
                  <a:srgbClr val="383838"/>
                </a:solidFill>
                <a:latin typeface="微软雅黑"/>
                <a:ea typeface="微软雅黑"/>
                <a:cs typeface="微软雅黑"/>
              </a:endParaRPr>
            </a:p>
          </p:txBody>
        </p:sp>
        <p:sp>
          <p:nvSpPr>
            <p:cNvPr id="193" name="文本框 192"/>
            <p:cNvSpPr txBox="1"/>
            <p:nvPr/>
          </p:nvSpPr>
          <p:spPr>
            <a:xfrm rot="8760000">
              <a:off x="3936" y="13166"/>
              <a:ext cx="5291" cy="5159"/>
            </a:xfrm>
            <a:prstGeom prst="rect">
              <a:avLst/>
            </a:prstGeom>
            <a:noFill/>
          </p:spPr>
          <p:txBody>
            <a:bodyPr wrap="square" rtlCol="0" lIns="0" rIns="0" tIns="0" bIns="0">
              <a:prstTxWarp prst="textArchUp">
                <a:avLst>
                  <a:gd name="adj" fmla="val 8606457"/>
                </a:avLst>
              </a:prstTxWarp>
              <a:noAutofit/>
            </a:bodyPr>
            <a:p>
              <a:pPr>
                <a:defRPr>
                  <a:solidFill>
                    <a:srgbClr val="383838"/>
                  </a:solidFill>
                  <a:latin typeface="微软雅黑"/>
                  <a:ea typeface="微软雅黑"/>
                  <a:cs typeface="微软雅黑"/>
                </a:defRPr>
              </a:pPr>
              <a:r>
                <a:rPr lang="zh-CN" altLang="en-US" sz="1000" b="1">
                  <a:solidFill>
                    <a:srgbClr val="383838"/>
                  </a:solidFill>
                  <a:latin typeface="微软雅黑"/>
                  <a:ea typeface="微软雅黑"/>
                  <a:cs typeface="微软雅黑"/>
                </a:rPr>
                <a:t>第二翼：</a:t>
              </a:r>
              <a:r>
                <a:rPr lang="zh-CN" altLang="en-US" sz="1000">
                  <a:solidFill>
                    <a:srgbClr val="383838"/>
                  </a:solidFill>
                  <a:latin typeface="微软雅黑"/>
                  <a:ea typeface="微软雅黑"/>
                  <a:cs typeface="微软雅黑"/>
                </a:rPr>
                <a:t>客户价值翼（创收入、塑品牌）</a:t>
              </a:r>
              <a:endParaRPr lang="zh-CN" altLang="en-US" sz="1000">
                <a:solidFill>
                  <a:srgbClr val="383838"/>
                </a:solidFill>
                <a:latin typeface="微软雅黑"/>
                <a:ea typeface="微软雅黑"/>
                <a:cs typeface="微软雅黑"/>
              </a:endParaRPr>
            </a:p>
          </p:txBody>
        </p:sp>
      </p:grpSp>
      <p:cxnSp>
        <p:nvCxnSpPr>
          <p:cNvPr id="7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84" name="组合 83"/>
          <p:cNvGrpSpPr/>
          <p:nvPr/>
        </p:nvGrpSpPr>
        <p:grpSpPr>
          <a:xfrm>
            <a:off x="8738235" y="348615"/>
            <a:ext cx="3219450" cy="332740"/>
            <a:chOff x="13761" y="549"/>
            <a:chExt cx="5070" cy="524"/>
          </a:xfrm>
        </p:grpSpPr>
        <p:pic>
          <p:nvPicPr>
            <p:cNvPr id="96" name="图片 95"/>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97" name="文本框 9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熊大的PPT宝库1"/>
          <p:cNvSpPr/>
          <p:nvPr/>
        </p:nvSpPr>
        <p:spPr>
          <a:xfrm flipH="1" flipV="1">
            <a:off x="2632710" y="1043305"/>
            <a:ext cx="3897630" cy="5418455"/>
          </a:xfrm>
          <a:custGeom>
            <a:avLst/>
            <a:gdLst>
              <a:gd name="connsiteX0" fmla="*/ 0 w 8928484"/>
              <a:gd name="connsiteY0" fmla="*/ 0 h 6858000"/>
              <a:gd name="connsiteX1" fmla="*/ 498456 w 8928484"/>
              <a:gd name="connsiteY1" fmla="*/ 0 h 6858000"/>
              <a:gd name="connsiteX2" fmla="*/ 888782 w 8928484"/>
              <a:gd name="connsiteY2" fmla="*/ 136240 h 6858000"/>
              <a:gd name="connsiteX3" fmla="*/ 8928484 w 8928484"/>
              <a:gd name="connsiteY3" fmla="*/ 1391779 h 6858000"/>
              <a:gd name="connsiteX4" fmla="*/ 8928484 w 8928484"/>
              <a:gd name="connsiteY4" fmla="*/ 6132034 h 6858000"/>
              <a:gd name="connsiteX5" fmla="*/ 2739265 w 8928484"/>
              <a:gd name="connsiteY5" fmla="*/ 6851344 h 6858000"/>
              <a:gd name="connsiteX6" fmla="*/ 2713283 w 8928484"/>
              <a:gd name="connsiteY6" fmla="*/ 6858000 h 6858000"/>
              <a:gd name="connsiteX7" fmla="*/ 0 w 8928484"/>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80" h="10516">
                <a:moveTo>
                  <a:pt x="1" y="0"/>
                </a:moveTo>
                <a:lnTo>
                  <a:pt x="324" y="0"/>
                </a:lnTo>
                <a:lnTo>
                  <a:pt x="576" y="180"/>
                </a:lnTo>
                <a:cubicBezTo>
                  <a:pt x="2826" y="1738"/>
                  <a:pt x="4966" y="1851"/>
                  <a:pt x="5527" y="1844"/>
                </a:cubicBezTo>
                <a:cubicBezTo>
                  <a:pt x="5705" y="1843"/>
                  <a:pt x="5791" y="1834"/>
                  <a:pt x="5779" y="1835"/>
                </a:cubicBezTo>
                <a:lnTo>
                  <a:pt x="5779" y="8084"/>
                </a:lnTo>
                <a:lnTo>
                  <a:pt x="5778" y="8084"/>
                </a:lnTo>
                <a:lnTo>
                  <a:pt x="5778" y="8681"/>
                </a:lnTo>
                <a:cubicBezTo>
                  <a:pt x="5798" y="8681"/>
                  <a:pt x="5628" y="8671"/>
                  <a:pt x="5526" y="8672"/>
                </a:cubicBezTo>
                <a:cubicBezTo>
                  <a:pt x="4906" y="8610"/>
                  <a:pt x="2554" y="8934"/>
                  <a:pt x="575" y="10336"/>
                </a:cubicBezTo>
                <a:lnTo>
                  <a:pt x="323" y="10516"/>
                </a:lnTo>
                <a:lnTo>
                  <a:pt x="0" y="10516"/>
                </a:lnTo>
                <a:lnTo>
                  <a:pt x="0" y="1475"/>
                </a:lnTo>
                <a:lnTo>
                  <a:pt x="1" y="1475"/>
                </a:lnTo>
                <a:lnTo>
                  <a:pt x="1" y="0"/>
                </a:lnTo>
                <a:close/>
              </a:path>
            </a:pathLst>
          </a:custGeom>
          <a:gradFill flip="none" rotWithShape="1">
            <a:gsLst>
              <a:gs pos="0">
                <a:srgbClr val="E6E6E6">
                  <a:alpha val="0"/>
                </a:srgbClr>
              </a:gs>
              <a:gs pos="100000">
                <a:srgbClr val="E6E6E6"/>
              </a:gs>
            </a:gsLst>
            <a:lin ang="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latin typeface="微软雅黑"/>
                <a:ea typeface="微软雅黑"/>
                <a:cs typeface="微软雅黑"/>
              </a:defRPr>
            </a:pPr>
            <a:endParaRPr lang="en-US" altLang="en-US">
              <a:solidFill>
                <a:srgbClr val="383838"/>
              </a:solidFill>
              <a:latin typeface="微软雅黑"/>
              <a:ea typeface="微软雅黑"/>
              <a:cs typeface="微软雅黑"/>
            </a:endParaRPr>
          </a:p>
        </p:txBody>
      </p:sp>
      <p:sp>
        <p:nvSpPr>
          <p:cNvPr id="41" name="椭圆 40"/>
          <p:cNvSpPr/>
          <p:nvPr/>
        </p:nvSpPr>
        <p:spPr>
          <a:xfrm>
            <a:off x="1267803" y="1827530"/>
            <a:ext cx="3933612" cy="3933616"/>
          </a:xfrm>
          <a:prstGeom prst="ellipse">
            <a:avLst/>
          </a:prstGeom>
          <a:solidFill>
            <a:srgbClr val="FFFFFF"/>
          </a:solidFill>
          <a:ln w="13716">
            <a:no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5" name="标题 2"/>
          <p:cNvSpPr>
            <a:spLocks noGrp="1"/>
          </p:cNvSpPr>
          <p:nvPr/>
        </p:nvSpPr>
        <p:spPr>
          <a:xfrm>
            <a:off x="1105535" y="348298"/>
            <a:ext cx="733869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企业数字化转型中的困难</a:t>
            </a:r>
            <a:endParaRPr lang="en-US" altLang="zh-CN"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椭圆 2"/>
          <p:cNvSpPr/>
          <p:nvPr/>
        </p:nvSpPr>
        <p:spPr>
          <a:xfrm>
            <a:off x="1268095" y="1827530"/>
            <a:ext cx="3933825" cy="3933825"/>
          </a:xfrm>
          <a:prstGeom prst="ellipse">
            <a:avLst/>
          </a:prstGeom>
          <a:gradFill flip="none" rotWithShape="1">
            <a:gsLst>
              <a:gs pos="40000">
                <a:srgbClr val="E6E6E6">
                  <a:alpha val="0"/>
                </a:srgbClr>
              </a:gs>
              <a:gs pos="100000">
                <a:srgbClr val="E6E6E6">
                  <a:alpha val="80000"/>
                </a:srgbClr>
              </a:gs>
            </a:gsLst>
            <a:path path="circle">
              <a:fillToRect l="50000" t="50000" r="50000" b="50000"/>
            </a:path>
            <a:tileRect/>
          </a:gradFill>
          <a:ln w="13716">
            <a:solidFill>
              <a:srgbClr val="668EFF"/>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6" name="椭圆 5"/>
          <p:cNvSpPr/>
          <p:nvPr/>
        </p:nvSpPr>
        <p:spPr>
          <a:xfrm>
            <a:off x="2130425" y="2679700"/>
            <a:ext cx="2229485" cy="2229485"/>
          </a:xfrm>
          <a:prstGeom prst="ellipse">
            <a:avLst/>
          </a:prstGeom>
          <a:gradFill flip="none" rotWithShape="1">
            <a:gsLst>
              <a:gs pos="40000">
                <a:srgbClr val="E6E6E6">
                  <a:alpha val="50000"/>
                </a:srgbClr>
              </a:gs>
              <a:gs pos="100000">
                <a:srgbClr val="E6E6E6">
                  <a:alpha val="0"/>
                </a:srgbClr>
              </a:gs>
            </a:gsLst>
            <a:path path="circle">
              <a:fillToRect l="50000" t="50000" r="50000" b="50000"/>
            </a:path>
            <a:tileRect/>
          </a:gradFill>
          <a:ln w="13716">
            <a:solidFill>
              <a:srgbClr val="0042FF"/>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7" name="椭圆 6"/>
          <p:cNvSpPr/>
          <p:nvPr/>
        </p:nvSpPr>
        <p:spPr>
          <a:xfrm>
            <a:off x="2640965" y="3197860"/>
            <a:ext cx="1226820" cy="1226820"/>
          </a:xfrm>
          <a:prstGeom prst="ellipse">
            <a:avLst/>
          </a:prstGeom>
          <a:gradFill>
            <a:gsLst>
              <a:gs pos="0">
                <a:srgbClr val="0042FF"/>
              </a:gs>
              <a:gs pos="100000">
                <a:srgbClr val="3368FF"/>
              </a:gs>
            </a:gsLst>
            <a:lin ang="2700000" scaled="0"/>
          </a:gradFill>
          <a:ln w="38100">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b="1"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40" name="文本框 39"/>
          <p:cNvSpPr txBox="1"/>
          <p:nvPr/>
        </p:nvSpPr>
        <p:spPr>
          <a:xfrm>
            <a:off x="2820035" y="3585210"/>
            <a:ext cx="883285" cy="492125"/>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sz="1600" b="1" dirty="0">
                <a:solidFill>
                  <a:srgbClr val="FFFFFF"/>
                </a:solidFill>
                <a:latin typeface="微软雅黑"/>
                <a:ea typeface="微软雅黑"/>
                <a:cs typeface="微软雅黑"/>
                <a:sym typeface="微软雅黑"/>
              </a:rPr>
              <a:t>数字化</a:t>
            </a:r>
            <a:endParaRPr lang="zh-CN" sz="16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sz="1600" b="1" dirty="0">
                <a:solidFill>
                  <a:srgbClr val="FFFFFF"/>
                </a:solidFill>
                <a:latin typeface="微软雅黑"/>
                <a:ea typeface="微软雅黑"/>
                <a:cs typeface="微软雅黑"/>
                <a:sym typeface="微软雅黑"/>
              </a:rPr>
              <a:t>转型困难</a:t>
            </a:r>
            <a:endParaRPr lang="zh-CN" sz="1600" b="1" dirty="0">
              <a:solidFill>
                <a:srgbClr val="FFFFFF"/>
              </a:solidFill>
              <a:latin typeface="微软雅黑"/>
              <a:ea typeface="微软雅黑"/>
              <a:cs typeface="微软雅黑"/>
              <a:sym typeface="微软雅黑"/>
            </a:endParaRPr>
          </a:p>
        </p:txBody>
      </p:sp>
      <p:sp>
        <p:nvSpPr>
          <p:cNvPr id="15" name="îṧļïḑe"/>
          <p:cNvSpPr txBox="1"/>
          <p:nvPr/>
        </p:nvSpPr>
        <p:spPr>
          <a:xfrm rot="19387322">
            <a:off x="1674495" y="2347595"/>
            <a:ext cx="1645285" cy="769620"/>
          </a:xfrm>
          <a:prstGeom prst="rect">
            <a:avLst/>
          </a:prstGeom>
          <a:noFill/>
        </p:spPr>
        <p:txBody>
          <a:bodyPr wrap="square" lIns="91440" tIns="45720" rIns="91440" bIns="45720" rtlCol="0" anchor="ctr" anchorCtr="0">
            <a:prstTxWarp prst="textArchUp">
              <a:avLst/>
            </a:prstTxWarp>
            <a:noAutofit/>
          </a:bodyPr>
          <a:lstStyle/>
          <a:p>
            <a:pPr algn="ctr">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投资回报不确定</a:t>
            </a:r>
            <a:endParaRPr lang="zh-CN" altLang="en-US" sz="1400" dirty="0">
              <a:solidFill>
                <a:srgbClr val="0042FF"/>
              </a:solidFill>
              <a:latin typeface="微软雅黑"/>
              <a:ea typeface="微软雅黑"/>
              <a:cs typeface="微软雅黑"/>
              <a:sym typeface="微软雅黑"/>
            </a:endParaRPr>
          </a:p>
        </p:txBody>
      </p:sp>
      <p:sp>
        <p:nvSpPr>
          <p:cNvPr id="8" name="îṧļïḑe"/>
          <p:cNvSpPr txBox="1"/>
          <p:nvPr/>
        </p:nvSpPr>
        <p:spPr>
          <a:xfrm rot="1973401">
            <a:off x="3080385" y="2267585"/>
            <a:ext cx="1645285" cy="769620"/>
          </a:xfrm>
          <a:prstGeom prst="rect">
            <a:avLst/>
          </a:prstGeom>
          <a:noFill/>
        </p:spPr>
        <p:txBody>
          <a:bodyPr wrap="square" lIns="91440" tIns="45720" rIns="91440" bIns="45720" rtlCol="0" anchor="ctr" anchorCtr="0">
            <a:prstTxWarp prst="textArchUp">
              <a:avLst/>
            </a:prstTxWarp>
            <a:noAutofit/>
          </a:bodyPr>
          <a:lstStyle/>
          <a:p>
            <a:pPr algn="ctr">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技术迭代迅速</a:t>
            </a:r>
            <a:endParaRPr lang="zh-CN" altLang="en-US" sz="1400" dirty="0">
              <a:solidFill>
                <a:srgbClr val="0042FF"/>
              </a:solidFill>
              <a:latin typeface="微软雅黑"/>
              <a:ea typeface="微软雅黑"/>
              <a:cs typeface="微软雅黑"/>
              <a:sym typeface="微软雅黑"/>
            </a:endParaRPr>
          </a:p>
        </p:txBody>
      </p:sp>
      <p:sp>
        <p:nvSpPr>
          <p:cNvPr id="9" name="îṧļïḑe"/>
          <p:cNvSpPr txBox="1"/>
          <p:nvPr/>
        </p:nvSpPr>
        <p:spPr>
          <a:xfrm rot="16200000">
            <a:off x="3723005" y="3444875"/>
            <a:ext cx="1645285" cy="769620"/>
          </a:xfrm>
          <a:prstGeom prst="rect">
            <a:avLst/>
          </a:prstGeom>
          <a:noFill/>
        </p:spPr>
        <p:txBody>
          <a:bodyPr wrap="square" lIns="91440" tIns="45720" rIns="91440" bIns="45720" rtlCol="0" anchor="ctr" anchorCtr="0">
            <a:prstTxWarp prst="textArchDown">
              <a:avLst>
                <a:gd name="adj" fmla="val 1000281"/>
              </a:avLst>
            </a:prstTxWarp>
            <a:noAutofit/>
          </a:bodyPr>
          <a:lstStyle/>
          <a:p>
            <a:pPr algn="ctr">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组织架构僵化</a:t>
            </a:r>
            <a:endParaRPr lang="zh-CN" altLang="en-US" sz="1400" dirty="0">
              <a:solidFill>
                <a:srgbClr val="0042FF"/>
              </a:solidFill>
              <a:latin typeface="微软雅黑"/>
              <a:ea typeface="微软雅黑"/>
              <a:cs typeface="微软雅黑"/>
              <a:sym typeface="微软雅黑"/>
            </a:endParaRPr>
          </a:p>
        </p:txBody>
      </p:sp>
      <p:sp>
        <p:nvSpPr>
          <p:cNvPr id="11" name="îṧļïḑe"/>
          <p:cNvSpPr txBox="1"/>
          <p:nvPr/>
        </p:nvSpPr>
        <p:spPr>
          <a:xfrm rot="19981576">
            <a:off x="2985770" y="4542790"/>
            <a:ext cx="1645285" cy="769620"/>
          </a:xfrm>
          <a:prstGeom prst="rect">
            <a:avLst/>
          </a:prstGeom>
          <a:noFill/>
        </p:spPr>
        <p:txBody>
          <a:bodyPr wrap="square" lIns="91440" tIns="45720" rIns="91440" bIns="45720" rtlCol="0" anchor="ctr" anchorCtr="0">
            <a:prstTxWarp prst="textArchDown">
              <a:avLst>
                <a:gd name="adj" fmla="val 1580621"/>
              </a:avLst>
            </a:prstTxWarp>
            <a:noAutofit/>
          </a:bodyPr>
          <a:lstStyle/>
          <a:p>
            <a:pPr algn="ctr">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数据形成孤岛</a:t>
            </a:r>
            <a:endParaRPr lang="zh-CN" altLang="en-US" sz="1400" dirty="0">
              <a:solidFill>
                <a:srgbClr val="0042FF"/>
              </a:solidFill>
              <a:latin typeface="微软雅黑"/>
              <a:ea typeface="微软雅黑"/>
              <a:cs typeface="微软雅黑"/>
              <a:sym typeface="微软雅黑"/>
            </a:endParaRPr>
          </a:p>
        </p:txBody>
      </p:sp>
      <p:sp>
        <p:nvSpPr>
          <p:cNvPr id="12" name="îṧļïḑe"/>
          <p:cNvSpPr txBox="1"/>
          <p:nvPr/>
        </p:nvSpPr>
        <p:spPr>
          <a:xfrm rot="2298444">
            <a:off x="1657985" y="4390390"/>
            <a:ext cx="1645285" cy="821055"/>
          </a:xfrm>
          <a:prstGeom prst="rect">
            <a:avLst/>
          </a:prstGeom>
          <a:noFill/>
        </p:spPr>
        <p:txBody>
          <a:bodyPr wrap="square" lIns="91440" tIns="45720" rIns="91440" bIns="45720" rtlCol="0" anchor="ctr" anchorCtr="0">
            <a:prstTxWarp prst="textArchDown">
              <a:avLst>
                <a:gd name="adj" fmla="val 655720"/>
              </a:avLst>
            </a:prstTxWarp>
            <a:noAutofit/>
          </a:bodyPr>
          <a:lstStyle/>
          <a:p>
            <a:pPr algn="ctr">
              <a:defRPr>
                <a:latin typeface="微软雅黑"/>
                <a:ea typeface="微软雅黑"/>
                <a:cs typeface="微软雅黑"/>
              </a:defRPr>
            </a:pPr>
            <a:r>
              <a:rPr lang="zh-CN" sz="1400" dirty="0">
                <a:solidFill>
                  <a:srgbClr val="0042FF"/>
                </a:solidFill>
                <a:latin typeface="微软雅黑"/>
                <a:ea typeface="微软雅黑"/>
                <a:cs typeface="微软雅黑"/>
                <a:sym typeface="微软雅黑"/>
              </a:rPr>
              <a:t>人才技能短缺</a:t>
            </a:r>
            <a:endParaRPr lang="zh-CN" sz="1400" dirty="0">
              <a:solidFill>
                <a:srgbClr val="0042FF"/>
              </a:solidFill>
              <a:latin typeface="微软雅黑"/>
              <a:ea typeface="微软雅黑"/>
              <a:cs typeface="微软雅黑"/>
              <a:sym typeface="微软雅黑"/>
            </a:endParaRPr>
          </a:p>
        </p:txBody>
      </p:sp>
      <p:sp>
        <p:nvSpPr>
          <p:cNvPr id="13" name="îṧļïḑe"/>
          <p:cNvSpPr txBox="1"/>
          <p:nvPr/>
        </p:nvSpPr>
        <p:spPr>
          <a:xfrm rot="16442167">
            <a:off x="1118870" y="3394075"/>
            <a:ext cx="1645285" cy="769620"/>
          </a:xfrm>
          <a:prstGeom prst="rect">
            <a:avLst/>
          </a:prstGeom>
          <a:noFill/>
        </p:spPr>
        <p:txBody>
          <a:bodyPr wrap="square" lIns="91440" tIns="45720" rIns="91440" bIns="45720" rtlCol="0" anchor="ctr" anchorCtr="0">
            <a:prstTxWarp prst="textArchUp">
              <a:avLst>
                <a:gd name="adj" fmla="val 12012906"/>
              </a:avLst>
            </a:prstTxWarp>
            <a:noAutofit/>
          </a:bodyPr>
          <a:lstStyle/>
          <a:p>
            <a:pPr algn="ctr">
              <a:defRPr>
                <a:latin typeface="微软雅黑"/>
                <a:ea typeface="微软雅黑"/>
                <a:cs typeface="微软雅黑"/>
              </a:defRPr>
            </a:pPr>
            <a:r>
              <a:rPr lang="zh-CN" altLang="en-US" sz="1400" dirty="0">
                <a:solidFill>
                  <a:srgbClr val="0042FF"/>
                </a:solidFill>
                <a:latin typeface="微软雅黑"/>
                <a:ea typeface="微软雅黑"/>
                <a:cs typeface="微软雅黑"/>
                <a:sym typeface="微软雅黑"/>
              </a:rPr>
              <a:t>业务流程受阻</a:t>
            </a:r>
            <a:endParaRPr lang="zh-CN" altLang="en-US" sz="1400" dirty="0">
              <a:solidFill>
                <a:srgbClr val="0042FF"/>
              </a:solidFill>
              <a:latin typeface="微软雅黑"/>
              <a:ea typeface="微软雅黑"/>
              <a:cs typeface="微软雅黑"/>
              <a:sym typeface="微软雅黑"/>
            </a:endParaRPr>
          </a:p>
        </p:txBody>
      </p:sp>
      <p:sp>
        <p:nvSpPr>
          <p:cNvPr id="47" name="椭圆 46"/>
          <p:cNvSpPr/>
          <p:nvPr>
            <p:custDataLst>
              <p:tags r:id="rId3"/>
            </p:custDataLst>
          </p:nvPr>
        </p:nvSpPr>
        <p:spPr>
          <a:xfrm flipH="1">
            <a:off x="3506470" y="4610100"/>
            <a:ext cx="499745" cy="499745"/>
          </a:xfrm>
          <a:prstGeom prst="ellipse">
            <a:avLst/>
          </a:prstGeom>
          <a:solidFill>
            <a:srgbClr val="3368FF"/>
          </a:solidFill>
          <a:ln w="12700" cap="flat" cmpd="sng" algn="ctr">
            <a:solidFill>
              <a:srgbClr val="FFFFFF"/>
            </a:solidFill>
            <a:prstDash val="solid"/>
            <a:miter lim="800000"/>
          </a:ln>
          <a:effectLst>
            <a:outerShdw blurRad="50800" dist="38100" dir="2700000" algn="tl" rotWithShape="0">
              <a:srgbClr val="3368FF">
                <a:alpha val="40000"/>
              </a:srgbClr>
            </a:outerShdw>
          </a:effectLst>
        </p:spPr>
        <p:txBody>
          <a:bodyPr lIns="0" tIns="0" rIns="0" bIns="0" rtlCol="0" anchor="ctr">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945" kern="0" noProof="0" dirty="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44" name="椭圆 43"/>
          <p:cNvSpPr/>
          <p:nvPr>
            <p:custDataLst>
              <p:tags r:id="rId4"/>
            </p:custDataLst>
          </p:nvPr>
        </p:nvSpPr>
        <p:spPr>
          <a:xfrm flipH="1">
            <a:off x="4189730" y="3519170"/>
            <a:ext cx="499745" cy="499745"/>
          </a:xfrm>
          <a:prstGeom prst="ellipse">
            <a:avLst/>
          </a:prstGeom>
          <a:solidFill>
            <a:srgbClr val="B3D4FE"/>
          </a:solidFill>
          <a:ln w="12700" cap="flat" cmpd="sng" algn="ctr">
            <a:solidFill>
              <a:srgbClr val="FFFFFF"/>
            </a:solidFill>
            <a:prstDash val="solid"/>
            <a:miter lim="800000"/>
          </a:ln>
          <a:effectLst>
            <a:outerShdw blurRad="50800" dist="38100" dir="2700000" algn="tl" rotWithShape="0">
              <a:srgbClr val="B3D4FE">
                <a:alpha val="40000"/>
              </a:srgbClr>
            </a:outerShdw>
          </a:effectLst>
        </p:spPr>
        <p:txBody>
          <a:bodyPr lIns="0" tIns="0" rIns="0" bIns="0" rtlCol="0" anchor="ctr">
            <a:noAutofit/>
          </a:bodyPr>
          <a:lstStyle/>
          <a:p>
            <a:pPr lvl="0" algn="ctr">
              <a:spcBef>
                <a:spcPts val="0"/>
              </a:spcBef>
              <a:spcAft>
                <a:spcPts val="0"/>
              </a:spcAft>
              <a:buClrTx/>
              <a:buSzTx/>
              <a:buFontTx/>
              <a:defRPr>
                <a:latin typeface="微软雅黑"/>
                <a:ea typeface="微软雅黑"/>
                <a:cs typeface="微软雅黑"/>
              </a:defRPr>
            </a:pPr>
            <a:endParaRPr lang="zh-CN" altLang="en-US" sz="1945" kern="0" noProof="0" dirty="0">
              <a:ln>
                <a:noFill/>
              </a:ln>
              <a:solidFill>
                <a:prstClr val="white"/>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6" name="椭圆 15"/>
          <p:cNvSpPr/>
          <p:nvPr>
            <p:custDataLst>
              <p:tags r:id="rId5"/>
            </p:custDataLst>
          </p:nvPr>
        </p:nvSpPr>
        <p:spPr>
          <a:xfrm flipH="1">
            <a:off x="2320290" y="2556510"/>
            <a:ext cx="499745" cy="499745"/>
          </a:xfrm>
          <a:prstGeom prst="ellipse">
            <a:avLst/>
          </a:prstGeom>
          <a:solidFill>
            <a:srgbClr val="3368FF"/>
          </a:solidFill>
          <a:ln w="12700" cap="flat" cmpd="sng" algn="ctr">
            <a:solidFill>
              <a:srgbClr val="FFFFFF"/>
            </a:solidFill>
            <a:prstDash val="solid"/>
            <a:miter lim="800000"/>
          </a:ln>
          <a:effectLst>
            <a:outerShdw blurRad="50800" dist="38100" dir="2700000" algn="tl" rotWithShape="0">
              <a:srgbClr val="3368FF">
                <a:alpha val="40000"/>
              </a:srgbClr>
            </a:outerShdw>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u="none" strike="noStrike" kern="0" cap="none" spc="0" normalizeH="0" baseline="0" noProof="0" dirty="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39" name="椭圆 38"/>
          <p:cNvSpPr/>
          <p:nvPr>
            <p:custDataLst>
              <p:tags r:id="rId6"/>
            </p:custDataLst>
          </p:nvPr>
        </p:nvSpPr>
        <p:spPr>
          <a:xfrm flipH="1">
            <a:off x="3559175" y="2512060"/>
            <a:ext cx="499745" cy="499745"/>
          </a:xfrm>
          <a:prstGeom prst="ellipse">
            <a:avLst/>
          </a:prstGeom>
          <a:solidFill>
            <a:srgbClr val="3368FF"/>
          </a:solidFill>
          <a:ln w="12700" cap="flat" cmpd="sng" algn="ctr">
            <a:solidFill>
              <a:srgbClr val="FFFFFF"/>
            </a:solidFill>
            <a:prstDash val="solid"/>
            <a:miter lim="800000"/>
          </a:ln>
          <a:effectLst>
            <a:outerShdw blurRad="50800" dist="38100" dir="2700000" algn="tl" rotWithShape="0">
              <a:srgbClr val="3368FF">
                <a:alpha val="40000"/>
              </a:srgbClr>
            </a:outerShdw>
          </a:effectLst>
        </p:spPr>
        <p:txBody>
          <a:bodyPr lIns="0" tIns="0" rIns="0" bIns="0" rtlCol="0" anchor="ctr">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945" kern="0" noProof="0" dirty="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53" name="椭圆 52"/>
          <p:cNvSpPr/>
          <p:nvPr>
            <p:custDataLst>
              <p:tags r:id="rId7"/>
            </p:custDataLst>
          </p:nvPr>
        </p:nvSpPr>
        <p:spPr>
          <a:xfrm flipH="1">
            <a:off x="1757045" y="3502660"/>
            <a:ext cx="499745" cy="499745"/>
          </a:xfrm>
          <a:prstGeom prst="ellipse">
            <a:avLst/>
          </a:prstGeom>
          <a:solidFill>
            <a:srgbClr val="B3D4FE"/>
          </a:solidFill>
          <a:ln w="12700" cap="flat" cmpd="sng" algn="ctr">
            <a:solidFill>
              <a:srgbClr val="FFFFFF"/>
            </a:solidFill>
            <a:prstDash val="solid"/>
            <a:miter lim="800000"/>
          </a:ln>
          <a:effectLst>
            <a:outerShdw blurRad="50800" dist="38100" dir="2700000" algn="tl" rotWithShape="0">
              <a:srgbClr val="B3D4FE">
                <a:alpha val="40000"/>
              </a:srgbClr>
            </a:outerShdw>
          </a:effectLst>
        </p:spPr>
        <p:txBody>
          <a:bodyPr lIns="0" tIns="0" rIns="0" bIns="0" rtlCol="0" anchor="ctr">
            <a:noAutofit/>
          </a:bodyPr>
          <a:lstStyle/>
          <a:p>
            <a:pPr lvl="0" algn="ctr">
              <a:spcBef>
                <a:spcPts val="0"/>
              </a:spcBef>
              <a:spcAft>
                <a:spcPts val="0"/>
              </a:spcAft>
              <a:buClrTx/>
              <a:buSzTx/>
              <a:buFontTx/>
              <a:defRPr>
                <a:latin typeface="微软雅黑"/>
                <a:ea typeface="微软雅黑"/>
                <a:cs typeface="微软雅黑"/>
              </a:defRPr>
            </a:pPr>
            <a:endParaRPr lang="zh-CN" altLang="en-US" sz="1945" kern="0" noProof="0" dirty="0">
              <a:ln>
                <a:noFill/>
              </a:ln>
              <a:solidFill>
                <a:prstClr val="white"/>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7" name="Oval 4+"/>
          <p:cNvSpPr/>
          <p:nvPr/>
        </p:nvSpPr>
        <p:spPr>
          <a:xfrm>
            <a:off x="2259330" y="2648585"/>
            <a:ext cx="2229485" cy="2229485"/>
          </a:xfrm>
          <a:prstGeom prst="arc">
            <a:avLst>
              <a:gd name="adj1" fmla="val 18657190"/>
              <a:gd name="adj2" fmla="val 20613723"/>
            </a:avLst>
          </a:prstGeom>
          <a:noFill/>
          <a:ln w="13716">
            <a:gradFill flip="none" rotWithShape="1">
              <a:gsLst>
                <a:gs pos="13000">
                  <a:srgbClr val="0042FF">
                    <a:alpha val="0"/>
                  </a:srgbClr>
                </a:gs>
                <a:gs pos="100000">
                  <a:srgbClr val="0042FF"/>
                </a:gs>
              </a:gsLst>
              <a:lin ang="2700000" scaled="1"/>
              <a:tileRect/>
            </a:gradFill>
            <a:prstDash val="solid"/>
            <a:tailEnd type="stealt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8" name="Oval 4++"/>
          <p:cNvSpPr/>
          <p:nvPr/>
        </p:nvSpPr>
        <p:spPr>
          <a:xfrm>
            <a:off x="2247900" y="2764155"/>
            <a:ext cx="2229485" cy="2229485"/>
          </a:xfrm>
          <a:prstGeom prst="arc">
            <a:avLst>
              <a:gd name="adj1" fmla="val 713063"/>
              <a:gd name="adj2" fmla="val 2859865"/>
            </a:avLst>
          </a:prstGeom>
          <a:noFill/>
          <a:ln w="13716">
            <a:gradFill flip="none" rotWithShape="1">
              <a:gsLst>
                <a:gs pos="57000">
                  <a:srgbClr val="0042FF">
                    <a:alpha val="0"/>
                  </a:srgbClr>
                </a:gs>
                <a:gs pos="100000">
                  <a:srgbClr val="0042FF"/>
                </a:gs>
              </a:gsLst>
              <a:lin ang="2700000" scaled="1"/>
              <a:tileRect/>
            </a:gradFill>
            <a:prstDash val="solid"/>
            <a:tailEnd type="stealt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9" name="Oval 4+++"/>
          <p:cNvSpPr/>
          <p:nvPr/>
        </p:nvSpPr>
        <p:spPr>
          <a:xfrm>
            <a:off x="2130425" y="2793365"/>
            <a:ext cx="2229485" cy="2229485"/>
          </a:xfrm>
          <a:prstGeom prst="arc">
            <a:avLst>
              <a:gd name="adj1" fmla="val 4605080"/>
              <a:gd name="adj2" fmla="val 6902473"/>
            </a:avLst>
          </a:prstGeom>
          <a:noFill/>
          <a:ln w="13716">
            <a:gradFill flip="none" rotWithShape="1">
              <a:gsLst>
                <a:gs pos="45000">
                  <a:srgbClr val="0042FF">
                    <a:alpha val="0"/>
                  </a:srgbClr>
                </a:gs>
                <a:gs pos="100000">
                  <a:srgbClr val="0042FF"/>
                </a:gs>
              </a:gsLst>
              <a:lin ang="8100000" scaled="1"/>
              <a:tileRect/>
            </a:gradFill>
            <a:prstDash val="solid"/>
            <a:tailEnd type="stealt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0" name="Oval 4++++"/>
          <p:cNvSpPr/>
          <p:nvPr/>
        </p:nvSpPr>
        <p:spPr>
          <a:xfrm>
            <a:off x="1960245" y="2711450"/>
            <a:ext cx="2229485" cy="2229485"/>
          </a:xfrm>
          <a:prstGeom prst="arc">
            <a:avLst>
              <a:gd name="adj1" fmla="val 7546148"/>
              <a:gd name="adj2" fmla="val 9985660"/>
            </a:avLst>
          </a:prstGeom>
          <a:noFill/>
          <a:ln w="13716">
            <a:gradFill flip="none" rotWithShape="1">
              <a:gsLst>
                <a:gs pos="49000">
                  <a:srgbClr val="0042FF">
                    <a:alpha val="0"/>
                  </a:srgbClr>
                </a:gs>
                <a:gs pos="100000">
                  <a:srgbClr val="0042FF"/>
                </a:gs>
              </a:gsLst>
              <a:lin ang="13500000" scaled="1"/>
              <a:tileRect/>
            </a:gradFill>
            <a:prstDash val="solid"/>
            <a:tailEnd type="stealt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50" name="椭圆 49"/>
          <p:cNvSpPr/>
          <p:nvPr>
            <p:custDataLst>
              <p:tags r:id="rId8"/>
            </p:custDataLst>
          </p:nvPr>
        </p:nvSpPr>
        <p:spPr>
          <a:xfrm flipH="1">
            <a:off x="2247900" y="4440555"/>
            <a:ext cx="499745" cy="499745"/>
          </a:xfrm>
          <a:prstGeom prst="ellipse">
            <a:avLst/>
          </a:prstGeom>
          <a:solidFill>
            <a:srgbClr val="3368FF"/>
          </a:solidFill>
          <a:ln w="12700" cap="flat" cmpd="sng" algn="ctr">
            <a:solidFill>
              <a:srgbClr val="FFFFFF"/>
            </a:solidFill>
            <a:prstDash val="solid"/>
            <a:miter lim="800000"/>
          </a:ln>
          <a:effectLst>
            <a:outerShdw blurRad="50800" dist="38100" dir="2700000" algn="tl" rotWithShape="0">
              <a:srgbClr val="3368FF">
                <a:alpha val="40000"/>
              </a:srgbClr>
            </a:outerShdw>
          </a:effectLst>
        </p:spPr>
        <p:txBody>
          <a:bodyPr lIns="0" tIns="0" rIns="0" bIns="0" rtlCol="0" anchor="ctr">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945" kern="0" noProof="0" dirty="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21" name="Oval 4+++++"/>
          <p:cNvSpPr/>
          <p:nvPr/>
        </p:nvSpPr>
        <p:spPr>
          <a:xfrm>
            <a:off x="2017395" y="2648585"/>
            <a:ext cx="2229485" cy="2229485"/>
          </a:xfrm>
          <a:prstGeom prst="arc">
            <a:avLst>
              <a:gd name="adj1" fmla="val 11864422"/>
              <a:gd name="adj2" fmla="val 13276569"/>
            </a:avLst>
          </a:prstGeom>
          <a:noFill/>
          <a:ln w="13716">
            <a:gradFill flip="none" rotWithShape="1">
              <a:gsLst>
                <a:gs pos="49000">
                  <a:srgbClr val="0042FF">
                    <a:alpha val="0"/>
                  </a:srgbClr>
                </a:gs>
                <a:gs pos="100000">
                  <a:srgbClr val="0042FF"/>
                </a:gs>
              </a:gsLst>
              <a:lin ang="13500000" scaled="1"/>
              <a:tileRect/>
            </a:gradFill>
            <a:prstDash val="solid"/>
            <a:tailEnd type="stealt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2" name="Oval 4++++++"/>
          <p:cNvSpPr/>
          <p:nvPr/>
        </p:nvSpPr>
        <p:spPr>
          <a:xfrm>
            <a:off x="2130425" y="2556510"/>
            <a:ext cx="2229485" cy="2229485"/>
          </a:xfrm>
          <a:prstGeom prst="arc">
            <a:avLst>
              <a:gd name="adj1" fmla="val 14961700"/>
              <a:gd name="adj2" fmla="val 16748381"/>
            </a:avLst>
          </a:prstGeom>
          <a:noFill/>
          <a:ln w="13716">
            <a:gradFill flip="none" rotWithShape="1">
              <a:gsLst>
                <a:gs pos="49000">
                  <a:srgbClr val="0042FF">
                    <a:alpha val="0"/>
                  </a:srgbClr>
                </a:gs>
                <a:gs pos="100000">
                  <a:srgbClr val="0042FF"/>
                </a:gs>
              </a:gsLst>
              <a:lin ang="18900000" scaled="1"/>
              <a:tileRect/>
            </a:gradFill>
            <a:prstDash val="solid"/>
            <a:tailEnd type="stealt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effectLst>
                <a:outerShdw blurRad="137160" dist="41148" dir="2699997" algn="tl">
                  <a:srgbClr val="383838">
                    <a:alpha val="40000"/>
                  </a:srgbClr>
                </a:outerShdw>
              </a:effectLst>
              <a:latin typeface="微软雅黑"/>
              <a:ea typeface="微软雅黑"/>
              <a:cs typeface="微软雅黑"/>
            </a:endParaRPr>
          </a:p>
        </p:txBody>
      </p:sp>
      <p:cxnSp>
        <p:nvCxnSpPr>
          <p:cNvPr id="23" name="直接连接符 22"/>
          <p:cNvCxnSpPr/>
          <p:nvPr/>
        </p:nvCxnSpPr>
        <p:spPr>
          <a:xfrm>
            <a:off x="4184650" y="4398010"/>
            <a:ext cx="699770" cy="453390"/>
          </a:xfrm>
          <a:prstGeom prst="line">
            <a:avLst/>
          </a:prstGeom>
          <a:ln>
            <a:solidFill>
              <a:srgbClr val="0042FF">
                <a:alpha val="50000"/>
              </a:srgbClr>
            </a:solidFill>
            <a:prstDash val="dash"/>
          </a:ln>
        </p:spPr>
        <p:style>
          <a:lnRef idx="1">
            <a:srgbClr val="0042FF"/>
          </a:lnRef>
          <a:fillRef idx="0">
            <a:srgbClr val="0042FF"/>
          </a:fillRef>
          <a:effectRef idx="0">
            <a:srgbClr val="0042FF"/>
          </a:effectRef>
          <a:fontRef idx="minor">
            <a:srgbClr val="383838"/>
          </a:fontRef>
        </p:style>
      </p:cxnSp>
      <p:cxnSp>
        <p:nvCxnSpPr>
          <p:cNvPr id="24" name="直接连接符 23"/>
          <p:cNvCxnSpPr/>
          <p:nvPr/>
        </p:nvCxnSpPr>
        <p:spPr>
          <a:xfrm>
            <a:off x="3186430" y="4918710"/>
            <a:ext cx="0" cy="842645"/>
          </a:xfrm>
          <a:prstGeom prst="line">
            <a:avLst/>
          </a:prstGeom>
          <a:ln>
            <a:solidFill>
              <a:srgbClr val="0042FF">
                <a:alpha val="50000"/>
              </a:srgbClr>
            </a:solidFill>
            <a:prstDash val="dash"/>
          </a:ln>
        </p:spPr>
        <p:style>
          <a:lnRef idx="1">
            <a:srgbClr val="0042FF"/>
          </a:lnRef>
          <a:fillRef idx="0">
            <a:srgbClr val="0042FF"/>
          </a:fillRef>
          <a:effectRef idx="0">
            <a:srgbClr val="0042FF"/>
          </a:effectRef>
          <a:fontRef idx="minor">
            <a:srgbClr val="383838"/>
          </a:fontRef>
        </p:style>
      </p:cxnSp>
      <p:cxnSp>
        <p:nvCxnSpPr>
          <p:cNvPr id="81" name="直接连接符 80"/>
          <p:cNvCxnSpPr/>
          <p:nvPr/>
        </p:nvCxnSpPr>
        <p:spPr>
          <a:xfrm flipV="1">
            <a:off x="4228465" y="2893695"/>
            <a:ext cx="753745" cy="364490"/>
          </a:xfrm>
          <a:prstGeom prst="line">
            <a:avLst/>
          </a:prstGeom>
          <a:ln>
            <a:solidFill>
              <a:srgbClr val="0042FF">
                <a:alpha val="50000"/>
              </a:srgbClr>
            </a:solidFill>
            <a:prstDash val="dash"/>
          </a:ln>
        </p:spPr>
        <p:style>
          <a:lnRef idx="1">
            <a:srgbClr val="0042FF"/>
          </a:lnRef>
          <a:fillRef idx="0">
            <a:srgbClr val="0042FF"/>
          </a:fillRef>
          <a:effectRef idx="0">
            <a:srgbClr val="0042FF"/>
          </a:effectRef>
          <a:fontRef idx="minor">
            <a:srgbClr val="383838"/>
          </a:fontRef>
        </p:style>
      </p:cxnSp>
      <p:cxnSp>
        <p:nvCxnSpPr>
          <p:cNvPr id="25" name="直接连接符 24"/>
          <p:cNvCxnSpPr/>
          <p:nvPr/>
        </p:nvCxnSpPr>
        <p:spPr>
          <a:xfrm flipH="1" flipV="1">
            <a:off x="3126105" y="1829435"/>
            <a:ext cx="17780" cy="855980"/>
          </a:xfrm>
          <a:prstGeom prst="line">
            <a:avLst/>
          </a:prstGeom>
          <a:ln>
            <a:solidFill>
              <a:srgbClr val="0042FF">
                <a:alpha val="50000"/>
              </a:srgbClr>
            </a:solidFill>
            <a:prstDash val="dash"/>
          </a:ln>
        </p:spPr>
        <p:style>
          <a:lnRef idx="1">
            <a:srgbClr val="0042FF"/>
          </a:lnRef>
          <a:fillRef idx="0">
            <a:srgbClr val="0042FF"/>
          </a:fillRef>
          <a:effectRef idx="0">
            <a:srgbClr val="0042FF"/>
          </a:effectRef>
          <a:fontRef idx="minor">
            <a:srgbClr val="383838"/>
          </a:fontRef>
        </p:style>
      </p:cxnSp>
      <p:cxnSp>
        <p:nvCxnSpPr>
          <p:cNvPr id="90" name="直接连接符 89"/>
          <p:cNvCxnSpPr/>
          <p:nvPr/>
        </p:nvCxnSpPr>
        <p:spPr>
          <a:xfrm flipH="1">
            <a:off x="1385570" y="4229100"/>
            <a:ext cx="828040" cy="198120"/>
          </a:xfrm>
          <a:prstGeom prst="line">
            <a:avLst/>
          </a:prstGeom>
          <a:ln>
            <a:solidFill>
              <a:srgbClr val="0042FF">
                <a:alpha val="50000"/>
              </a:srgbClr>
            </a:solidFill>
            <a:prstDash val="dash"/>
          </a:ln>
        </p:spPr>
        <p:style>
          <a:lnRef idx="1">
            <a:srgbClr val="0042FF"/>
          </a:lnRef>
          <a:fillRef idx="0">
            <a:srgbClr val="0042FF"/>
          </a:fillRef>
          <a:effectRef idx="0">
            <a:srgbClr val="0042FF"/>
          </a:effectRef>
          <a:fontRef idx="minor">
            <a:srgbClr val="383838"/>
          </a:fontRef>
        </p:style>
      </p:cxnSp>
      <p:cxnSp>
        <p:nvCxnSpPr>
          <p:cNvPr id="95" name="直接连接符 94"/>
          <p:cNvCxnSpPr/>
          <p:nvPr/>
        </p:nvCxnSpPr>
        <p:spPr>
          <a:xfrm flipH="1" flipV="1">
            <a:off x="1499235" y="2890520"/>
            <a:ext cx="759460" cy="367665"/>
          </a:xfrm>
          <a:prstGeom prst="line">
            <a:avLst/>
          </a:prstGeom>
          <a:ln>
            <a:solidFill>
              <a:srgbClr val="0042FF">
                <a:alpha val="50000"/>
              </a:srgbClr>
            </a:solidFill>
            <a:prstDash val="dash"/>
          </a:ln>
        </p:spPr>
        <p:style>
          <a:lnRef idx="1">
            <a:srgbClr val="0042FF"/>
          </a:lnRef>
          <a:fillRef idx="0">
            <a:srgbClr val="0042FF"/>
          </a:fillRef>
          <a:effectRef idx="0">
            <a:srgbClr val="0042FF"/>
          </a:effectRef>
          <a:fontRef idx="minor">
            <a:srgbClr val="383838"/>
          </a:fontRef>
        </p:style>
      </p:cxnSp>
      <p:sp>
        <p:nvSpPr>
          <p:cNvPr id="55" name="不完整圆 235"/>
          <p:cNvSpPr/>
          <p:nvPr/>
        </p:nvSpPr>
        <p:spPr>
          <a:xfrm>
            <a:off x="1160145" y="5518785"/>
            <a:ext cx="4234815" cy="51943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57150">
            <a:gradFill flip="none" rotWithShape="1">
              <a:gsLst>
                <a:gs pos="0">
                  <a:srgbClr val="3368FF">
                    <a:alpha val="0"/>
                  </a:srgbClr>
                </a:gs>
                <a:gs pos="100000">
                  <a:srgbClr val="3368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59" name="组合 58"/>
          <p:cNvGrpSpPr/>
          <p:nvPr/>
        </p:nvGrpSpPr>
        <p:grpSpPr>
          <a:xfrm rot="1140000">
            <a:off x="862330" y="1443355"/>
            <a:ext cx="4830445" cy="4830445"/>
            <a:chOff x="6206" y="826"/>
            <a:chExt cx="9730" cy="9730"/>
          </a:xfrm>
        </p:grpSpPr>
        <p:sp>
          <p:nvSpPr>
            <p:cNvPr id="57" name="熊大的PPT宝库6-23"/>
            <p:cNvSpPr/>
            <p:nvPr/>
          </p:nvSpPr>
          <p:spPr>
            <a:xfrm rot="35677214">
              <a:off x="6206" y="826"/>
              <a:ext cx="9731" cy="9731"/>
            </a:xfrm>
            <a:prstGeom prst="arc">
              <a:avLst>
                <a:gd name="adj1" fmla="val 15876070"/>
                <a:gd name="adj2" fmla="val 20374532"/>
              </a:avLst>
            </a:prstGeom>
            <a:ln w="76200">
              <a:gradFill>
                <a:gsLst>
                  <a:gs pos="10000">
                    <a:srgbClr val="3368FF">
                      <a:alpha val="0"/>
                    </a:srgbClr>
                  </a:gs>
                  <a:gs pos="100000">
                    <a:srgbClr val="3368FF"/>
                  </a:gs>
                </a:gsLst>
                <a:lin ang="0" scaled="0"/>
              </a:gradFill>
            </a:ln>
          </p:spPr>
          <p:style>
            <a:lnRef idx="1">
              <a:srgbClr val="0042FF"/>
            </a:lnRef>
            <a:fillRef idx="0">
              <a:srgbClr val="0042FF"/>
            </a:fillRef>
            <a:effectRef idx="0">
              <a:srgbClr val="0042FF"/>
            </a:effectRef>
            <a:fontRef idx="minor">
              <a:srgbClr val="383838"/>
            </a:fontRef>
          </p:style>
          <p:txBody>
            <a:bodyPr wrap="square" rtlCol="0" anchor="ctr" anchorCtr="0"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58" name="熊大的PPT宝库6-24"/>
            <p:cNvSpPr/>
            <p:nvPr/>
          </p:nvSpPr>
          <p:spPr>
            <a:xfrm rot="23874641">
              <a:off x="6873" y="2622"/>
              <a:ext cx="557" cy="480"/>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anchorCtr="0"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60" name="组合 59"/>
          <p:cNvGrpSpPr/>
          <p:nvPr/>
        </p:nvGrpSpPr>
        <p:grpSpPr>
          <a:xfrm rot="10800000">
            <a:off x="659765" y="1424305"/>
            <a:ext cx="4830445" cy="4830445"/>
            <a:chOff x="6206" y="826"/>
            <a:chExt cx="9730" cy="9730"/>
          </a:xfrm>
        </p:grpSpPr>
        <p:sp>
          <p:nvSpPr>
            <p:cNvPr id="61" name="熊大的PPT宝库6-23"/>
            <p:cNvSpPr/>
            <p:nvPr/>
          </p:nvSpPr>
          <p:spPr>
            <a:xfrm rot="35677214">
              <a:off x="6206" y="826"/>
              <a:ext cx="9731" cy="9731"/>
            </a:xfrm>
            <a:prstGeom prst="arc">
              <a:avLst>
                <a:gd name="adj1" fmla="val 15876070"/>
                <a:gd name="adj2" fmla="val 20374532"/>
              </a:avLst>
            </a:prstGeom>
            <a:ln w="76200">
              <a:gradFill>
                <a:gsLst>
                  <a:gs pos="10000">
                    <a:srgbClr val="3368FF">
                      <a:alpha val="0"/>
                    </a:srgbClr>
                  </a:gs>
                  <a:gs pos="100000">
                    <a:srgbClr val="3368FF"/>
                  </a:gs>
                </a:gsLst>
                <a:lin ang="0" scaled="0"/>
              </a:gradFill>
            </a:ln>
          </p:spPr>
          <p:style>
            <a:lnRef idx="1">
              <a:srgbClr val="0042FF"/>
            </a:lnRef>
            <a:fillRef idx="0">
              <a:srgbClr val="0042FF"/>
            </a:fillRef>
            <a:effectRef idx="0">
              <a:srgbClr val="0042FF"/>
            </a:effectRef>
            <a:fontRef idx="minor">
              <a:srgbClr val="383838"/>
            </a:fontRef>
          </p:style>
          <p:txBody>
            <a:bodyPr wrap="square" rtlCol="0" anchor="ctr" anchorCtr="0"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62" name="熊大的PPT宝库6-24"/>
            <p:cNvSpPr/>
            <p:nvPr/>
          </p:nvSpPr>
          <p:spPr>
            <a:xfrm rot="23874641">
              <a:off x="6873" y="2622"/>
              <a:ext cx="557" cy="480"/>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anchorCtr="0"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64" name="组合 63"/>
          <p:cNvGrpSpPr/>
          <p:nvPr/>
        </p:nvGrpSpPr>
        <p:grpSpPr>
          <a:xfrm rot="0">
            <a:off x="5916930" y="2849245"/>
            <a:ext cx="481330" cy="372745"/>
            <a:chOff x="8321" y="4205"/>
            <a:chExt cx="758" cy="587"/>
          </a:xfrm>
          <a:gradFill>
            <a:gsLst>
              <a:gs pos="0">
                <a:srgbClr val="3368FF"/>
              </a:gs>
              <a:gs pos="100000">
                <a:srgbClr val="3368FF">
                  <a:alpha val="0"/>
                </a:srgbClr>
              </a:gs>
            </a:gsLst>
            <a:lin ang="2700000" scaled="0"/>
          </a:gradFill>
        </p:grpSpPr>
        <p:sp>
          <p:nvSpPr>
            <p:cNvPr id="1059" name="箭头: V 形 1058"/>
            <p:cNvSpPr/>
            <p:nvPr/>
          </p:nvSpPr>
          <p:spPr>
            <a:xfrm>
              <a:off x="8321" y="4205"/>
              <a:ext cx="440" cy="578"/>
            </a:xfrm>
            <a:prstGeom prst="chevron">
              <a:avLst>
                <a:gd name="adj" fmla="val 61179"/>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63" name="箭头: V 形 1058"/>
            <p:cNvSpPr/>
            <p:nvPr/>
          </p:nvSpPr>
          <p:spPr>
            <a:xfrm>
              <a:off x="8639" y="4214"/>
              <a:ext cx="440" cy="578"/>
            </a:xfrm>
            <a:prstGeom prst="chevron">
              <a:avLst>
                <a:gd name="adj" fmla="val 61179"/>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grpSp>
        <p:nvGrpSpPr>
          <p:cNvPr id="65" name="组合 64"/>
          <p:cNvGrpSpPr/>
          <p:nvPr/>
        </p:nvGrpSpPr>
        <p:grpSpPr>
          <a:xfrm rot="0">
            <a:off x="5916930" y="4284345"/>
            <a:ext cx="481330" cy="372745"/>
            <a:chOff x="8321" y="4205"/>
            <a:chExt cx="758" cy="587"/>
          </a:xfrm>
          <a:gradFill>
            <a:gsLst>
              <a:gs pos="0">
                <a:srgbClr val="3368FF"/>
              </a:gs>
              <a:gs pos="100000">
                <a:srgbClr val="3368FF">
                  <a:alpha val="0"/>
                </a:srgbClr>
              </a:gs>
            </a:gsLst>
            <a:lin ang="2700000" scaled="0"/>
          </a:gradFill>
        </p:grpSpPr>
        <p:sp>
          <p:nvSpPr>
            <p:cNvPr id="66" name="箭头: V 形 1058"/>
            <p:cNvSpPr/>
            <p:nvPr/>
          </p:nvSpPr>
          <p:spPr>
            <a:xfrm>
              <a:off x="8321" y="4205"/>
              <a:ext cx="440" cy="578"/>
            </a:xfrm>
            <a:prstGeom prst="chevron">
              <a:avLst>
                <a:gd name="adj" fmla="val 61179"/>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67" name="箭头: V 形 1058"/>
            <p:cNvSpPr/>
            <p:nvPr/>
          </p:nvSpPr>
          <p:spPr>
            <a:xfrm>
              <a:off x="8639" y="4214"/>
              <a:ext cx="440" cy="578"/>
            </a:xfrm>
            <a:prstGeom prst="chevron">
              <a:avLst>
                <a:gd name="adj" fmla="val 61179"/>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sp>
        <p:nvSpPr>
          <p:cNvPr id="136" name="@显眼包PPT4"/>
          <p:cNvSpPr/>
          <p:nvPr/>
        </p:nvSpPr>
        <p:spPr>
          <a:xfrm flipH="1">
            <a:off x="6825615" y="1262380"/>
            <a:ext cx="4766945" cy="5017770"/>
          </a:xfrm>
          <a:prstGeom prst="roundRect">
            <a:avLst>
              <a:gd name="adj" fmla="val 3076"/>
            </a:avLst>
          </a:prstGeom>
          <a:gradFill>
            <a:gsLst>
              <a:gs pos="0">
                <a:srgbClr val="FFFFFF"/>
              </a:gs>
              <a:gs pos="100000">
                <a:srgbClr val="FFFFFF">
                  <a:alpha val="9000"/>
                </a:srgbClr>
              </a:gs>
            </a:gsLst>
            <a:lin ang="5400000" scaled="1"/>
          </a:gradFill>
          <a:ln w="15875">
            <a:gradFill>
              <a:gsLst>
                <a:gs pos="0">
                  <a:srgbClr val="3368FF"/>
                </a:gs>
                <a:gs pos="100000">
                  <a:srgbClr val="3368FF">
                    <a:alpha val="100000"/>
                  </a:srgbClr>
                </a:gs>
              </a:gsLst>
              <a:lin ang="5400000" scaled="1"/>
            </a:gra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03" name="@显眼包PPT24"/>
          <p:cNvSpPr txBox="1"/>
          <p:nvPr/>
        </p:nvSpPr>
        <p:spPr>
          <a:xfrm>
            <a:off x="7098665" y="2209800"/>
            <a:ext cx="4184650" cy="607060"/>
          </a:xfrm>
          <a:prstGeom prst="rect">
            <a:avLst/>
          </a:prstGeom>
          <a:noFill/>
        </p:spPr>
        <p:txBody>
          <a:bodyPr wrap="square" lIns="0" tIns="0" rIns="0" bIns="0">
            <a:noAutofit/>
          </a:bodyPr>
          <a:lstStyle>
            <a:defPPr>
              <a:defRPr lang="en-US">
                <a:latin typeface="微软雅黑"/>
                <a:ea typeface="微软雅黑"/>
                <a:cs typeface="微软雅黑"/>
              </a:defRPr>
            </a:defPPr>
            <a:lvl1pPr marL="228600" indent="-228600" algn="just">
              <a:lnSpc>
                <a:spcPct val="120000"/>
              </a:lnSpc>
              <a:buClr>
                <a:srgbClr val="0042FF"/>
              </a:buClr>
              <a:buFont typeface="微软雅黑"/>
              <a:buAutoNum type="circleNumDbPlain"/>
              <a:defRPr sz="1000">
                <a:solidFill>
                  <a:srgbClr val="0042FF"/>
                </a:solidFill>
                <a:latin typeface="微软雅黑"/>
                <a:ea typeface="微软雅黑"/>
                <a:cs typeface="微软雅黑"/>
              </a:defRPr>
            </a:lvl1pPr>
          </a:lstStyle>
          <a:p>
            <a:pPr marL="0" lvl="0" algn="just">
              <a:spcBef>
                <a:spcPts val="0"/>
              </a:spcBef>
              <a:spcAft>
                <a:spcPts val="0"/>
              </a:spcAft>
              <a:buSzTx/>
              <a:buNone/>
              <a:defRPr>
                <a:latin typeface="微软雅黑"/>
                <a:ea typeface="微软雅黑"/>
                <a:cs typeface="微软雅黑"/>
              </a:defRPr>
            </a:pPr>
            <a:r>
              <a:rPr lang="zh-CN" altLang="en-US" sz="1400" noProof="0" dirty="0">
                <a:ln>
                  <a:noFill/>
                </a:ln>
                <a:solidFill>
                  <a:srgbClr val="383838"/>
                </a:solidFill>
                <a:effectLst/>
                <a:uLnTx/>
                <a:uFillTx/>
                <a:latin typeface="微软雅黑"/>
                <a:ea typeface="微软雅黑"/>
                <a:cs typeface="微软雅黑"/>
                <a:sym typeface="微软雅黑"/>
              </a:rPr>
              <a:t>技术迭代迅速、组织架构僵化、数据孤岛、人才技能短缺、安全风险、投资回报不确定等多重因素。</a:t>
            </a:r>
            <a:endParaRPr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374" name="@显眼包PPT25"/>
          <p:cNvSpPr/>
          <p:nvPr/>
        </p:nvSpPr>
        <p:spPr>
          <a:xfrm>
            <a:off x="6964680" y="1350645"/>
            <a:ext cx="4489450" cy="664210"/>
          </a:xfrm>
          <a:prstGeom prst="round2SameRect">
            <a:avLst/>
          </a:prstGeom>
          <a:gradFill flip="none" rotWithShape="1">
            <a:gsLst>
              <a:gs pos="0">
                <a:srgbClr val="3368FF"/>
              </a:gs>
              <a:gs pos="10000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1" i="0" u="none" strike="noStrike" kern="1200" cap="none" spc="0" normalizeH="0" baseline="0" noProof="0" dirty="0">
                <a:ln>
                  <a:noFill/>
                </a:ln>
                <a:solidFill>
                  <a:srgbClr val="FFFFFF"/>
                </a:solidFill>
                <a:effectLst/>
                <a:uLnTx/>
                <a:uFillTx/>
                <a:latin typeface="微软雅黑"/>
                <a:ea typeface="微软雅黑"/>
                <a:cs typeface="微软雅黑"/>
              </a:rPr>
              <a:t>企业数字化转型难的根本原因</a:t>
            </a:r>
            <a:endParaRPr kumimoji="0" lang="zh-CN" altLang="en-US" sz="18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nvGrpSpPr>
          <p:cNvPr id="179" name="@显眼包PPT27"/>
          <p:cNvGrpSpPr/>
          <p:nvPr/>
        </p:nvGrpSpPr>
        <p:grpSpPr>
          <a:xfrm rot="0">
            <a:off x="7098665" y="3046095"/>
            <a:ext cx="4221480" cy="1416050"/>
            <a:chOff x="989288" y="4050860"/>
            <a:chExt cx="2644955" cy="960937"/>
          </a:xfrm>
        </p:grpSpPr>
        <p:grpSp>
          <p:nvGrpSpPr>
            <p:cNvPr id="180" name="组合 179"/>
            <p:cNvGrpSpPr/>
            <p:nvPr/>
          </p:nvGrpSpPr>
          <p:grpSpPr>
            <a:xfrm>
              <a:off x="989288" y="4050860"/>
              <a:ext cx="2644941" cy="249272"/>
              <a:chOff x="579243" y="1516572"/>
              <a:chExt cx="2644941" cy="249272"/>
            </a:xfrm>
          </p:grpSpPr>
          <p:sp>
            <p:nvSpPr>
              <p:cNvPr id="182" name="@显眼包PPT27-1"/>
              <p:cNvSpPr/>
              <p:nvPr/>
            </p:nvSpPr>
            <p:spPr>
              <a:xfrm>
                <a:off x="579243" y="1516572"/>
                <a:ext cx="2644941" cy="249272"/>
              </a:xfrm>
              <a:prstGeom prst="roundRect">
                <a:avLst>
                  <a:gd name="adj" fmla="val 50000"/>
                </a:avLst>
              </a:prstGeom>
              <a:gradFill>
                <a:gsLst>
                  <a:gs pos="0">
                    <a:srgbClr val="3368FF">
                      <a:alpha val="18000"/>
                    </a:srgbClr>
                  </a:gs>
                  <a:gs pos="100000">
                    <a:srgbClr val="3368FF">
                      <a:alpha val="0"/>
                    </a:srgbClr>
                  </a:gs>
                </a:gsLst>
                <a:lin ang="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84" name="显眼包PPT-9"/>
              <p:cNvSpPr txBox="1"/>
              <p:nvPr/>
            </p:nvSpPr>
            <p:spPr>
              <a:xfrm>
                <a:off x="874082" y="1576455"/>
                <a:ext cx="2077471" cy="124965"/>
              </a:xfrm>
              <a:prstGeom prst="rect">
                <a:avLst/>
              </a:prstGeom>
              <a:noFill/>
              <a:effectLst/>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传统企业在数字化转型中的天然不足</a:t>
                </a:r>
                <a:endParaRPr lang="zh-CN" altLang="en-US" sz="1200" dirty="0">
                  <a:solidFill>
                    <a:srgbClr val="0042FF"/>
                  </a:solidFill>
                  <a:latin typeface="微软雅黑"/>
                  <a:ea typeface="微软雅黑"/>
                  <a:cs typeface="微软雅黑"/>
                  <a:sym typeface="微软雅黑"/>
                </a:endParaRPr>
              </a:p>
            </p:txBody>
          </p:sp>
        </p:grpSp>
        <p:sp>
          <p:nvSpPr>
            <p:cNvPr id="181" name="显眼包PPT-10"/>
            <p:cNvSpPr txBox="1"/>
            <p:nvPr/>
          </p:nvSpPr>
          <p:spPr>
            <a:xfrm>
              <a:off x="1049762" y="4339572"/>
              <a:ext cx="2584481" cy="672225"/>
            </a:xfrm>
            <a:prstGeom prst="rect">
              <a:avLst/>
            </a:prstGeom>
            <a:noFill/>
          </p:spPr>
          <p:txBody>
            <a:bodyPr wrap="square" lIns="0" tIns="0" rIns="0" bIns="0">
              <a:noAutofit/>
            </a:bodyPr>
            <a:lstStyle>
              <a:defPPr>
                <a:defRPr lang="en-US">
                  <a:latin typeface="微软雅黑"/>
                  <a:ea typeface="微软雅黑"/>
                  <a:cs typeface="微软雅黑"/>
                </a:defRPr>
              </a:defPPr>
              <a:lvl1pPr marL="228600" indent="-228600" algn="just">
                <a:lnSpc>
                  <a:spcPct val="120000"/>
                </a:lnSpc>
                <a:buClr>
                  <a:srgbClr val="0042FF"/>
                </a:buClr>
                <a:buFont typeface="微软雅黑"/>
                <a:buAutoNum type="circleNumDbPlain"/>
                <a:defRPr sz="1000">
                  <a:solidFill>
                    <a:srgbClr val="0042FF"/>
                  </a:solidFill>
                  <a:latin typeface="微软雅黑"/>
                  <a:ea typeface="微软雅黑"/>
                  <a:cs typeface="微软雅黑"/>
                </a:defRPr>
              </a:lvl1pPr>
            </a:lstStyle>
            <a:p>
              <a:pPr marL="0" marR="0" lvl="0" indent="0" algn="just" defTabSz="914400" rtl="0" eaLnBrk="1" fontAlgn="auto" latinLnBrk="0" hangingPunct="1">
                <a:lnSpc>
                  <a:spcPct val="120000"/>
                </a:lnSpc>
                <a:spcBef>
                  <a:spcPts val="0"/>
                </a:spcBef>
                <a:spcAft>
                  <a:spcPts val="0"/>
                </a:spcAft>
                <a:buClr>
                  <a:srgbClr val="383838"/>
                </a:buClr>
                <a:buSzTx/>
                <a:buFont typeface="微软雅黑"/>
                <a:buNone/>
                <a:defRPr>
                  <a:latin typeface="微软雅黑"/>
                  <a:ea typeface="微软雅黑"/>
                  <a:cs typeface="微软雅黑"/>
                </a:defRPr>
              </a:pPr>
              <a:r>
                <a:rPr kumimoji="0" lang="zh-CN" altLang="en-US" sz="1200" b="1" i="0" u="none" strike="noStrike" kern="1200" cap="none" spc="0" normalizeH="0" baseline="0" noProof="0" dirty="0">
                  <a:ln>
                    <a:noFill/>
                  </a:ln>
                  <a:effectLst/>
                  <a:uLnTx/>
                  <a:uFillTx/>
                  <a:latin typeface="微软雅黑"/>
                  <a:ea typeface="微软雅黑"/>
                  <a:cs typeface="微软雅黑"/>
                </a:rPr>
                <a:t>表象：</a:t>
              </a:r>
              <a:r>
                <a:rPr lang="zh-CN" altLang="en-US" sz="1200" dirty="0">
                  <a:solidFill>
                    <a:srgbClr val="383838"/>
                  </a:solidFill>
                  <a:latin typeface="微软雅黑"/>
                  <a:ea typeface="微软雅黑"/>
                  <a:cs typeface="微软雅黑"/>
                  <a:sym typeface="微软雅黑"/>
                </a:rPr>
                <a:t>传统企业在数字化转型领域面临基础设施薄弱、数据治理混乱、员工数字化技能不足。</a:t>
              </a:r>
              <a:endParaRPr lang="zh-CN" altLang="en-US" sz="1200" dirty="0">
                <a:solidFill>
                  <a:srgbClr val="383838"/>
                </a:solidFill>
                <a:latin typeface="微软雅黑"/>
                <a:ea typeface="微软雅黑"/>
                <a:cs typeface="微软雅黑"/>
                <a:sym typeface="微软雅黑"/>
              </a:endParaRPr>
            </a:p>
            <a:p>
              <a:pPr marL="0" marR="0" lvl="0" indent="0" algn="just" defTabSz="914400" rtl="0" eaLnBrk="1" fontAlgn="auto" latinLnBrk="0" hangingPunct="1">
                <a:lnSpc>
                  <a:spcPct val="120000"/>
                </a:lnSpc>
                <a:spcBef>
                  <a:spcPts val="0"/>
                </a:spcBef>
                <a:spcAft>
                  <a:spcPts val="0"/>
                </a:spcAft>
                <a:buClr>
                  <a:srgbClr val="383838"/>
                </a:buClr>
                <a:buSzTx/>
                <a:buFont typeface="微软雅黑"/>
                <a:buNone/>
                <a:defRPr>
                  <a:latin typeface="微软雅黑"/>
                  <a:ea typeface="微软雅黑"/>
                  <a:cs typeface="微软雅黑"/>
                </a:defRPr>
              </a:pPr>
              <a:r>
                <a:rPr lang="zh-CN" altLang="en-US" sz="1200" b="1" dirty="0">
                  <a:solidFill>
                    <a:srgbClr val="0042FF"/>
                  </a:solidFill>
                  <a:latin typeface="微软雅黑"/>
                  <a:ea typeface="微软雅黑"/>
                  <a:cs typeface="微软雅黑"/>
                </a:rPr>
                <a:t>原因：</a:t>
              </a:r>
              <a:r>
                <a:rPr lang="zh-CN" altLang="en-US" sz="1200" dirty="0">
                  <a:solidFill>
                    <a:srgbClr val="383838"/>
                  </a:solidFill>
                  <a:latin typeface="微软雅黑"/>
                  <a:ea typeface="微软雅黑"/>
                  <a:cs typeface="微软雅黑"/>
                  <a:sym typeface="微软雅黑"/>
                </a:rPr>
                <a:t>根本原因是企业对于数字化转型战略布局仍停留在传统视角，缺乏顶层设计和系统规划</a:t>
              </a: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grpSp>
        <p:nvGrpSpPr>
          <p:cNvPr id="186" name="组合 185"/>
          <p:cNvGrpSpPr/>
          <p:nvPr/>
        </p:nvGrpSpPr>
        <p:grpSpPr>
          <a:xfrm rot="0">
            <a:off x="7098665" y="4662805"/>
            <a:ext cx="4221480" cy="367125"/>
            <a:chOff x="579243" y="1516572"/>
            <a:chExt cx="2644941" cy="249272"/>
          </a:xfrm>
        </p:grpSpPr>
        <p:sp>
          <p:nvSpPr>
            <p:cNvPr id="188" name="@显眼包PPT28-1"/>
            <p:cNvSpPr/>
            <p:nvPr/>
          </p:nvSpPr>
          <p:spPr>
            <a:xfrm>
              <a:off x="579243" y="1516572"/>
              <a:ext cx="2644941" cy="249272"/>
            </a:xfrm>
            <a:prstGeom prst="roundRect">
              <a:avLst>
                <a:gd name="adj" fmla="val 50000"/>
              </a:avLst>
            </a:prstGeom>
            <a:gradFill>
              <a:gsLst>
                <a:gs pos="0">
                  <a:srgbClr val="B3D4FE">
                    <a:alpha val="18000"/>
                  </a:srgbClr>
                </a:gs>
                <a:gs pos="100000">
                  <a:srgbClr val="B3D4FE">
                    <a:alpha val="0"/>
                  </a:srgbClr>
                </a:gs>
              </a:gsLst>
              <a:lin ang="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90" name="显眼包PPT-9"/>
            <p:cNvSpPr txBox="1"/>
            <p:nvPr/>
          </p:nvSpPr>
          <p:spPr>
            <a:xfrm>
              <a:off x="874082" y="1578691"/>
              <a:ext cx="2077471" cy="125035"/>
            </a:xfrm>
            <a:prstGeom prst="rect">
              <a:avLst/>
            </a:prstGeom>
            <a:noFill/>
            <a:effectLst/>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转变传统视角，实现智慧化的全面转型</a:t>
              </a:r>
              <a:endParaRPr lang="zh-CN" altLang="en-US" sz="1200" dirty="0">
                <a:solidFill>
                  <a:srgbClr val="0042FF"/>
                </a:solidFill>
                <a:latin typeface="微软雅黑"/>
                <a:ea typeface="微软雅黑"/>
                <a:cs typeface="微软雅黑"/>
                <a:sym typeface="微软雅黑"/>
              </a:endParaRPr>
            </a:p>
          </p:txBody>
        </p:sp>
      </p:grpSp>
      <p:sp>
        <p:nvSpPr>
          <p:cNvPr id="34" name="显眼包PPT-10"/>
          <p:cNvSpPr txBox="1"/>
          <p:nvPr/>
        </p:nvSpPr>
        <p:spPr>
          <a:xfrm>
            <a:off x="7176135" y="5118735"/>
            <a:ext cx="4224020" cy="777240"/>
          </a:xfrm>
          <a:prstGeom prst="rect">
            <a:avLst/>
          </a:prstGeom>
          <a:noFill/>
        </p:spPr>
        <p:txBody>
          <a:bodyPr wrap="square" lIns="0" tIns="0" rIns="0" bIns="0">
            <a:noAutofit/>
          </a:bodyPr>
          <a:lstStyle>
            <a:defPPr>
              <a:defRPr lang="en-US">
                <a:latin typeface="微软雅黑"/>
                <a:ea typeface="微软雅黑"/>
                <a:cs typeface="微软雅黑"/>
              </a:defRPr>
            </a:defPPr>
            <a:lvl1pPr marL="228600" indent="-228600" algn="just">
              <a:lnSpc>
                <a:spcPct val="120000"/>
              </a:lnSpc>
              <a:buClr>
                <a:srgbClr val="0042FF"/>
              </a:buClr>
              <a:buFont typeface="微软雅黑"/>
              <a:buAutoNum type="circleNumDbPlain"/>
              <a:defRPr sz="1000">
                <a:solidFill>
                  <a:srgbClr val="0042FF"/>
                </a:solidFill>
                <a:latin typeface="微软雅黑"/>
                <a:ea typeface="微软雅黑"/>
                <a:cs typeface="微软雅黑"/>
              </a:defRPr>
            </a:lvl1pPr>
          </a:lstStyle>
          <a:p>
            <a:pPr marL="0" marR="0" lvl="0" indent="0" algn="just" defTabSz="914400" rtl="0" eaLnBrk="1" fontAlgn="auto" latinLnBrk="0" hangingPunct="1">
              <a:lnSpc>
                <a:spcPct val="120000"/>
              </a:lnSpc>
              <a:spcBef>
                <a:spcPts val="0"/>
              </a:spcBef>
              <a:spcAft>
                <a:spcPts val="0"/>
              </a:spcAft>
              <a:buClr>
                <a:srgbClr val="383838"/>
              </a:buClr>
              <a:buSzTx/>
              <a:buFont typeface="微软雅黑"/>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改变：</a:t>
            </a:r>
            <a:r>
              <a:rPr lang="zh-CN" altLang="en-US" sz="1200" dirty="0">
                <a:solidFill>
                  <a:srgbClr val="383838"/>
                </a:solidFill>
                <a:latin typeface="微软雅黑"/>
                <a:ea typeface="微软雅黑"/>
                <a:cs typeface="微软雅黑"/>
              </a:rPr>
              <a:t>企业需要转换传统数字化转型视角，采用新模式、新工具和新思维来应对困难和挑战。</a:t>
            </a:r>
            <a:endParaRPr lang="zh-CN" altLang="en-US" sz="1200" dirty="0">
              <a:solidFill>
                <a:srgbClr val="383838"/>
              </a:solidFill>
              <a:latin typeface="微软雅黑"/>
              <a:ea typeface="微软雅黑"/>
              <a:cs typeface="微软雅黑"/>
            </a:endParaRPr>
          </a:p>
          <a:p>
            <a:pPr marL="0" marR="0" lvl="0" indent="0" algn="just" defTabSz="914400" rtl="0" eaLnBrk="1" fontAlgn="auto" latinLnBrk="0" hangingPunct="1">
              <a:lnSpc>
                <a:spcPct val="120000"/>
              </a:lnSpc>
              <a:spcBef>
                <a:spcPts val="0"/>
              </a:spcBef>
              <a:spcAft>
                <a:spcPts val="0"/>
              </a:spcAft>
              <a:buClr>
                <a:srgbClr val="383838"/>
              </a:buClr>
              <a:buSzTx/>
              <a:buFont typeface="微软雅黑"/>
              <a:buNone/>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实现：</a:t>
            </a:r>
            <a:r>
              <a:rPr lang="zh-CN" altLang="en-US" sz="1200" dirty="0">
                <a:solidFill>
                  <a:srgbClr val="383838"/>
                </a:solidFill>
                <a:latin typeface="微软雅黑"/>
                <a:ea typeface="微软雅黑"/>
                <a:cs typeface="微软雅黑"/>
                <a:sym typeface="微软雅黑"/>
              </a:rPr>
              <a:t>公司致力于为企业打造智慧企业数字化转型全链条产品及服务，实现企业数字化转型的数智化、全域化、闭环化。</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35" name="椭圆 34"/>
          <p:cNvSpPr/>
          <p:nvPr/>
        </p:nvSpPr>
        <p:spPr>
          <a:xfrm>
            <a:off x="7203440" y="3111500"/>
            <a:ext cx="246380" cy="246380"/>
          </a:xfrm>
          <a:prstGeom prst="ellipse">
            <a:avLst/>
          </a:prstGeom>
          <a:gradFill flip="none" rotWithShape="1">
            <a:gsLst>
              <a:gs pos="100000">
                <a:srgbClr val="3368FF"/>
              </a:gs>
              <a:gs pos="18000">
                <a:srgbClr val="0042FF"/>
              </a:gs>
            </a:gsLst>
            <a:lin ang="2700000"/>
          </a:gradFill>
          <a:ln w="16828">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en-US" altLang="zh-CN" sz="1200" b="1" noProof="0">
                <a:ln>
                  <a:noFill/>
                </a:ln>
                <a:solidFill>
                  <a:srgbClr val="FFFFFF"/>
                </a:solidFill>
                <a:effectLst/>
                <a:uLnTx/>
                <a:uFillTx/>
                <a:latin typeface="微软雅黑"/>
                <a:ea typeface="微软雅黑"/>
                <a:cs typeface="微软雅黑"/>
                <a:sym typeface="微软雅黑"/>
              </a:rPr>
              <a:t>1</a:t>
            </a:r>
            <a:endParaRPr lang="en-US" altLang="zh-CN" sz="1200" b="1" noProof="0">
              <a:ln>
                <a:noFill/>
              </a:ln>
              <a:solidFill>
                <a:srgbClr val="FFFFFF"/>
              </a:solidFill>
              <a:effectLst/>
              <a:uLnTx/>
              <a:uFillTx/>
              <a:latin typeface="微软雅黑"/>
              <a:ea typeface="微软雅黑"/>
              <a:cs typeface="微软雅黑"/>
              <a:sym typeface="微软雅黑"/>
            </a:endParaRPr>
          </a:p>
        </p:txBody>
      </p:sp>
      <p:sp>
        <p:nvSpPr>
          <p:cNvPr id="38" name="椭圆 37"/>
          <p:cNvSpPr/>
          <p:nvPr/>
        </p:nvSpPr>
        <p:spPr>
          <a:xfrm>
            <a:off x="7226300" y="4721860"/>
            <a:ext cx="246380" cy="246380"/>
          </a:xfrm>
          <a:prstGeom prst="ellipse">
            <a:avLst/>
          </a:prstGeom>
          <a:gradFill flip="none" rotWithShape="1">
            <a:gsLst>
              <a:gs pos="100000">
                <a:srgbClr val="B3D4FE"/>
              </a:gs>
              <a:gs pos="18000">
                <a:srgbClr val="3368FF"/>
              </a:gs>
            </a:gsLst>
            <a:lin ang="2700000"/>
          </a:gradFill>
          <a:ln w="16828">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non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r>
              <a:rPr lang="en-US" altLang="zh-CN" sz="1200" b="1" noProof="0">
                <a:ln>
                  <a:noFill/>
                </a:ln>
                <a:solidFill>
                  <a:srgbClr val="383838"/>
                </a:solidFill>
                <a:effectLst/>
                <a:uLnTx/>
                <a:uFillTx/>
                <a:latin typeface="微软雅黑"/>
                <a:ea typeface="微软雅黑"/>
                <a:cs typeface="微软雅黑"/>
                <a:sym typeface="微软雅黑"/>
              </a:rPr>
              <a:t>2</a:t>
            </a:r>
            <a:endParaRPr lang="en-US" altLang="zh-CN" sz="1200" b="1" noProof="0">
              <a:ln>
                <a:noFill/>
              </a:ln>
              <a:solidFill>
                <a:srgbClr val="383838"/>
              </a:solidFill>
              <a:effectLst/>
              <a:uLnTx/>
              <a:uFillTx/>
              <a:latin typeface="微软雅黑"/>
              <a:ea typeface="微软雅黑"/>
              <a:cs typeface="微软雅黑"/>
              <a:sym typeface="微软雅黑"/>
            </a:endParaRPr>
          </a:p>
        </p:txBody>
      </p:sp>
      <p:pic>
        <p:nvPicPr>
          <p:cNvPr id="167" name="图片 166" descr="营销"/>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451100" y="2659380"/>
            <a:ext cx="234315" cy="234315"/>
          </a:xfrm>
          <a:prstGeom prst="rect">
            <a:avLst/>
          </a:prstGeom>
        </p:spPr>
      </p:pic>
      <p:pic>
        <p:nvPicPr>
          <p:cNvPr id="169" name="图片 168" descr="团队5"/>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2383155" y="4568825"/>
            <a:ext cx="220980" cy="220980"/>
          </a:xfrm>
          <a:prstGeom prst="rect">
            <a:avLst/>
          </a:prstGeom>
        </p:spPr>
      </p:pic>
      <p:pic>
        <p:nvPicPr>
          <p:cNvPr id="43" name="图片 42" descr="空间数据"/>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654425" y="4741545"/>
            <a:ext cx="244475" cy="244475"/>
          </a:xfrm>
          <a:prstGeom prst="rect">
            <a:avLst/>
          </a:prstGeom>
        </p:spPr>
      </p:pic>
      <p:pic>
        <p:nvPicPr>
          <p:cNvPr id="45" name="图片 44" descr="组织结构"/>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4283710" y="3609975"/>
            <a:ext cx="312420" cy="312420"/>
          </a:xfrm>
          <a:prstGeom prst="rect">
            <a:avLst/>
          </a:prstGeom>
        </p:spPr>
      </p:pic>
      <p:pic>
        <p:nvPicPr>
          <p:cNvPr id="48" name="图片 47" descr="技术"/>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857375" y="3609975"/>
            <a:ext cx="299720" cy="299720"/>
          </a:xfrm>
          <a:prstGeom prst="rect">
            <a:avLst/>
          </a:prstGeom>
        </p:spPr>
      </p:pic>
      <p:pic>
        <p:nvPicPr>
          <p:cNvPr id="49" name="图片 48" descr="信贷技术"/>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3667760" y="2614930"/>
            <a:ext cx="282575" cy="282575"/>
          </a:xfrm>
          <a:prstGeom prst="rect">
            <a:avLst/>
          </a:prstGeom>
        </p:spPr>
      </p:pic>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14" name="图片 13"/>
            <p:cNvPicPr>
              <a:picLocks noChangeAspect="1"/>
            </p:cNvPicPr>
            <p:nvPr userDrawn="1"/>
          </p:nvPicPr>
          <p:blipFill>
            <a:blip r:embed="rId21"/>
            <a:srcRect l="17002" t="-1765" r="56499" b="-1176"/>
            <a:stretch>
              <a:fillRect/>
            </a:stretch>
          </p:blipFill>
          <p:spPr>
            <a:xfrm>
              <a:off x="13761" y="549"/>
              <a:ext cx="1582" cy="525"/>
            </a:xfrm>
            <a:prstGeom prst="rect">
              <a:avLst/>
            </a:prstGeom>
          </p:spPr>
        </p:pic>
        <p:sp>
          <p:nvSpPr>
            <p:cNvPr id="26" name="文本框 2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图形 61"/>
          <p:cNvSpPr/>
          <p:nvPr/>
        </p:nvSpPr>
        <p:spPr>
          <a:xfrm>
            <a:off x="5278223" y="981075"/>
            <a:ext cx="1640736" cy="5564504"/>
          </a:xfrm>
          <a:custGeom>
            <a:avLst/>
            <a:gdLst>
              <a:gd name="connsiteX0" fmla="*/ 1216850 w 1217294"/>
              <a:gd name="connsiteY0" fmla="*/ 4156332 h 4157090"/>
              <a:gd name="connsiteX1" fmla="*/ 980630 w 1217294"/>
              <a:gd name="connsiteY1" fmla="*/ 3907634 h 4157090"/>
              <a:gd name="connsiteX2" fmla="*/ -445 w 1217294"/>
              <a:gd name="connsiteY2" fmla="*/ 3486343 h 4157090"/>
              <a:gd name="connsiteX3" fmla="*/ -445 w 1217294"/>
              <a:gd name="connsiteY3" fmla="*/ 3486343 h 4157090"/>
              <a:gd name="connsiteX4" fmla="*/ -445 w 1217294"/>
              <a:gd name="connsiteY4" fmla="*/ 669230 h 4157090"/>
              <a:gd name="connsiteX5" fmla="*/ -445 w 1217294"/>
              <a:gd name="connsiteY5" fmla="*/ 669230 h 4157090"/>
              <a:gd name="connsiteX6" fmla="*/ 980630 w 1217294"/>
              <a:gd name="connsiteY6" fmla="*/ 247939 h 4157090"/>
              <a:gd name="connsiteX7" fmla="*/ 1216850 w 1217294"/>
              <a:gd name="connsiteY7" fmla="*/ -759 h 4157090"/>
              <a:gd name="connsiteX8" fmla="*/ 1216850 w 1217294"/>
              <a:gd name="connsiteY8" fmla="*/ 4156332 h 415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7294" h="4157090">
                <a:moveTo>
                  <a:pt x="1216850" y="4156332"/>
                </a:moveTo>
                <a:lnTo>
                  <a:pt x="980630" y="3907634"/>
                </a:lnTo>
                <a:cubicBezTo>
                  <a:pt x="725179" y="3638648"/>
                  <a:pt x="370506" y="3486343"/>
                  <a:pt x="-445" y="3486343"/>
                </a:cubicBezTo>
                <a:lnTo>
                  <a:pt x="-445" y="3486343"/>
                </a:lnTo>
                <a:lnTo>
                  <a:pt x="-445" y="669230"/>
                </a:lnTo>
                <a:lnTo>
                  <a:pt x="-445" y="669230"/>
                </a:lnTo>
                <a:cubicBezTo>
                  <a:pt x="370506" y="669211"/>
                  <a:pt x="725179" y="516906"/>
                  <a:pt x="980630" y="247939"/>
                </a:cubicBezTo>
                <a:lnTo>
                  <a:pt x="1216850" y="-759"/>
                </a:lnTo>
                <a:lnTo>
                  <a:pt x="1216850" y="4156332"/>
                </a:lnTo>
                <a:close/>
              </a:path>
            </a:pathLst>
          </a:custGeom>
          <a:gradFill flip="none" rotWithShape="1">
            <a:gsLst>
              <a:gs pos="20000">
                <a:srgbClr val="3368FF">
                  <a:alpha val="5000"/>
                </a:srgbClr>
              </a:gs>
              <a:gs pos="0">
                <a:srgbClr val="3368FF">
                  <a:alpha val="0"/>
                </a:srgbClr>
              </a:gs>
              <a:gs pos="100000">
                <a:srgbClr val="3368FF">
                  <a:alpha val="10000"/>
                </a:srgbClr>
              </a:gs>
            </a:gsLst>
            <a:lin ang="0" scaled="1"/>
            <a:tileRect/>
          </a:gradFill>
          <a:ln w="9525" cap="flat">
            <a:noFill/>
            <a:prstDash val="solid"/>
            <a:miter/>
          </a:ln>
        </p:spPr>
        <p:txBody>
          <a:bodyPr rtlCol="0" anchor="ctr" lIns="0" rIns="0" tIns="0" bIns="0"/>
          <a:lstStyle/>
          <a:p>
            <a:pPr>
              <a:defRPr>
                <a:latin typeface="微软雅黑"/>
                <a:ea typeface="微软雅黑"/>
                <a:cs typeface="微软雅黑"/>
              </a:defRPr>
            </a:pPr>
            <a:endParaRPr lang="en-US">
              <a:cs typeface="微软雅黑"/>
              <a:latin typeface="微软雅黑"/>
              <a:ea typeface="微软雅黑"/>
            </a:endParaRPr>
          </a:p>
        </p:txBody>
      </p:sp>
      <p:sp>
        <p:nvSpPr>
          <p:cNvPr id="5" name="标题 2"/>
          <p:cNvSpPr>
            <a:spLocks noGrp="1"/>
          </p:cNvSpPr>
          <p:nvPr/>
        </p:nvSpPr>
        <p:spPr>
          <a:xfrm>
            <a:off x="1105535" y="347980"/>
            <a:ext cx="72517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80">
                <a:solidFill>
                  <a:srgbClr val="0042FF"/>
                </a:solidFill>
                <a:effectLst/>
                <a:latin typeface="微软雅黑"/>
                <a:ea typeface="微软雅黑"/>
                <a:cs typeface="微软雅黑"/>
              </a:rPr>
              <a:t>业务框架</a:t>
            </a:r>
            <a:r>
              <a:rPr lang="en-US" altLang="zh-CN" sz="2480">
                <a:solidFill>
                  <a:srgbClr val="0042FF"/>
                </a:solidFill>
                <a:effectLst/>
                <a:latin typeface="微软雅黑"/>
                <a:ea typeface="微软雅黑"/>
                <a:cs typeface="微软雅黑"/>
              </a:rPr>
              <a:t>-</a:t>
            </a:r>
            <a:r>
              <a:rPr sz="2480">
                <a:solidFill>
                  <a:srgbClr val="0042FF"/>
                </a:solidFill>
                <a:effectLst/>
                <a:latin typeface="微软雅黑"/>
                <a:ea typeface="微软雅黑"/>
                <a:cs typeface="微软雅黑"/>
              </a:rPr>
              <a:t>循环逻辑架构 | </a:t>
            </a:r>
            <a:r>
              <a:rPr sz="2480">
                <a:solidFill>
                  <a:srgbClr val="383838"/>
                </a:solidFill>
                <a:effectLst/>
                <a:latin typeface="微软雅黑"/>
                <a:ea typeface="微软雅黑"/>
                <a:cs typeface="微软雅黑"/>
              </a:rPr>
              <a:t>碳中和循环发展战略框架</a:t>
            </a:r>
            <a:endParaRPr sz="248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724" name="组合 723"/>
          <p:cNvGrpSpPr/>
          <p:nvPr/>
        </p:nvGrpSpPr>
        <p:grpSpPr>
          <a:xfrm>
            <a:off x="932180" y="1806575"/>
            <a:ext cx="5092065" cy="4163695"/>
            <a:chOff x="1968" y="3445"/>
            <a:chExt cx="8019" cy="6557"/>
          </a:xfrm>
        </p:grpSpPr>
        <p:sp>
          <p:nvSpPr>
            <p:cNvPr id="710" name="文本框 709"/>
            <p:cNvSpPr txBox="1"/>
            <p:nvPr/>
          </p:nvSpPr>
          <p:spPr>
            <a:xfrm>
              <a:off x="1968" y="6121"/>
              <a:ext cx="1297" cy="628"/>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合规与</a:t>
              </a:r>
              <a:endParaRPr lang="zh-CN" altLang="en-US" sz="1000">
                <a:solidFill>
                  <a:srgbClr val="383838"/>
                </a:solidFill>
                <a:latin typeface="微软雅黑"/>
                <a:ea typeface="微软雅黑"/>
                <a:cs typeface="微软雅黑"/>
              </a:endParaRPr>
            </a:p>
            <a:p>
              <a:pPr>
                <a:defRPr>
                  <a:latin typeface="微软雅黑"/>
                  <a:ea typeface="微软雅黑"/>
                  <a:cs typeface="微软雅黑"/>
                </a:defRPr>
              </a:pPr>
              <a:r>
                <a:rPr lang="zh-CN" altLang="en-US" sz="1000">
                  <a:solidFill>
                    <a:srgbClr val="383838"/>
                  </a:solidFill>
                  <a:latin typeface="微软雅黑"/>
                  <a:ea typeface="微软雅黑"/>
                  <a:cs typeface="微软雅黑"/>
                </a:rPr>
                <a:t>商业道德</a:t>
              </a:r>
              <a:endParaRPr lang="zh-CN" altLang="en-US" sz="1000">
                <a:solidFill>
                  <a:srgbClr val="383838"/>
                </a:solidFill>
                <a:latin typeface="微软雅黑"/>
                <a:ea typeface="微软雅黑"/>
                <a:cs typeface="微软雅黑"/>
              </a:endParaRPr>
            </a:p>
          </p:txBody>
        </p:sp>
        <p:sp>
          <p:nvSpPr>
            <p:cNvPr id="711" name="文本框 710"/>
            <p:cNvSpPr txBox="1"/>
            <p:nvPr/>
          </p:nvSpPr>
          <p:spPr>
            <a:xfrm>
              <a:off x="2013" y="7323"/>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透明度</a:t>
              </a:r>
              <a:endParaRPr lang="zh-CN" altLang="en-US" sz="1000">
                <a:solidFill>
                  <a:srgbClr val="383838"/>
                </a:solidFill>
                <a:latin typeface="微软雅黑"/>
                <a:ea typeface="微软雅黑"/>
                <a:cs typeface="微软雅黑"/>
              </a:endParaRPr>
            </a:p>
          </p:txBody>
        </p:sp>
        <p:grpSp>
          <p:nvGrpSpPr>
            <p:cNvPr id="657" name="组合 656"/>
            <p:cNvGrpSpPr/>
            <p:nvPr/>
          </p:nvGrpSpPr>
          <p:grpSpPr>
            <a:xfrm>
              <a:off x="3351" y="4182"/>
              <a:ext cx="5096" cy="5095"/>
              <a:chOff x="23036" y="4108"/>
              <a:chExt cx="5096" cy="5095"/>
            </a:xfrm>
          </p:grpSpPr>
          <p:sp>
            <p:nvSpPr>
              <p:cNvPr id="642" name="任意多边形 641"/>
              <p:cNvSpPr/>
              <p:nvPr/>
            </p:nvSpPr>
            <p:spPr>
              <a:xfrm>
                <a:off x="24641" y="4108"/>
                <a:ext cx="897" cy="229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923" h="2266">
                    <a:moveTo>
                      <a:pt x="0" y="190"/>
                    </a:moveTo>
                    <a:cubicBezTo>
                      <a:pt x="180" y="85"/>
                      <a:pt x="810" y="-20"/>
                      <a:pt x="923" y="0"/>
                    </a:cubicBezTo>
                    <a:lnTo>
                      <a:pt x="923" y="2263"/>
                    </a:lnTo>
                    <a:lnTo>
                      <a:pt x="0" y="190"/>
                    </a:lnTo>
                    <a:close/>
                  </a:path>
                </a:pathLst>
              </a:custGeom>
              <a:solidFill>
                <a:srgbClr val="0042FF"/>
              </a:solidFill>
              <a:ln w="12700">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43" name="任意多边形 642"/>
              <p:cNvSpPr/>
              <p:nvPr/>
            </p:nvSpPr>
            <p:spPr>
              <a:xfrm>
                <a:off x="23735" y="4332"/>
                <a:ext cx="1733" cy="2108"/>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733" h="2108">
                    <a:moveTo>
                      <a:pt x="0" y="570"/>
                    </a:moveTo>
                    <a:cubicBezTo>
                      <a:pt x="158" y="364"/>
                      <a:pt x="677" y="37"/>
                      <a:pt x="802" y="0"/>
                    </a:cubicBezTo>
                    <a:lnTo>
                      <a:pt x="1733" y="2093"/>
                    </a:lnTo>
                    <a:cubicBezTo>
                      <a:pt x="1727" y="2095"/>
                      <a:pt x="1700" y="2112"/>
                      <a:pt x="1707" y="2108"/>
                    </a:cubicBezTo>
                    <a:lnTo>
                      <a:pt x="0" y="570"/>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44" name="任意多边形 643"/>
              <p:cNvSpPr/>
              <p:nvPr/>
            </p:nvSpPr>
            <p:spPr>
              <a:xfrm>
                <a:off x="25716" y="4339"/>
                <a:ext cx="1724" cy="210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724" h="2106">
                    <a:moveTo>
                      <a:pt x="0" y="2094"/>
                    </a:moveTo>
                    <a:lnTo>
                      <a:pt x="932" y="0"/>
                    </a:lnTo>
                    <a:cubicBezTo>
                      <a:pt x="1226" y="118"/>
                      <a:pt x="1603" y="429"/>
                      <a:pt x="1724" y="570"/>
                    </a:cubicBezTo>
                    <a:lnTo>
                      <a:pt x="18" y="2106"/>
                    </a:lnTo>
                    <a:lnTo>
                      <a:pt x="14" y="2103"/>
                    </a:lnTo>
                    <a:lnTo>
                      <a:pt x="9" y="2100"/>
                    </a:lnTo>
                    <a:lnTo>
                      <a:pt x="3" y="2096"/>
                    </a:lnTo>
                    <a:lnTo>
                      <a:pt x="0" y="2094"/>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45" name="任意多边形 644"/>
              <p:cNvSpPr/>
              <p:nvPr/>
            </p:nvSpPr>
            <p:spPr>
              <a:xfrm>
                <a:off x="25623" y="4108"/>
                <a:ext cx="948" cy="2295"/>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948" h="2297">
                    <a:moveTo>
                      <a:pt x="0" y="0"/>
                    </a:moveTo>
                    <a:cubicBezTo>
                      <a:pt x="247" y="-19"/>
                      <a:pt x="817" y="122"/>
                      <a:pt x="948" y="198"/>
                    </a:cubicBezTo>
                    <a:lnTo>
                      <a:pt x="14" y="2295"/>
                    </a:lnTo>
                    <a:lnTo>
                      <a:pt x="14" y="2295"/>
                    </a:lnTo>
                    <a:lnTo>
                      <a:pt x="7" y="2294"/>
                    </a:lnTo>
                    <a:lnTo>
                      <a:pt x="1" y="2293"/>
                    </a:lnTo>
                    <a:lnTo>
                      <a:pt x="0" y="2292"/>
                    </a:lnTo>
                    <a:lnTo>
                      <a:pt x="0" y="0"/>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46" name="任意多边形 645"/>
              <p:cNvSpPr/>
              <p:nvPr/>
            </p:nvSpPr>
            <p:spPr>
              <a:xfrm>
                <a:off x="23053" y="6709"/>
                <a:ext cx="2284" cy="1168"/>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284" h="1168">
                    <a:moveTo>
                      <a:pt x="295" y="1168"/>
                    </a:moveTo>
                    <a:cubicBezTo>
                      <a:pt x="140" y="930"/>
                      <a:pt x="5" y="401"/>
                      <a:pt x="0" y="240"/>
                    </a:cubicBezTo>
                    <a:lnTo>
                      <a:pt x="2279" y="0"/>
                    </a:lnTo>
                    <a:lnTo>
                      <a:pt x="2280" y="5"/>
                    </a:lnTo>
                    <a:lnTo>
                      <a:pt x="2281" y="11"/>
                    </a:lnTo>
                    <a:lnTo>
                      <a:pt x="2283" y="17"/>
                    </a:lnTo>
                    <a:lnTo>
                      <a:pt x="2284" y="20"/>
                    </a:lnTo>
                    <a:lnTo>
                      <a:pt x="295" y="1168"/>
                    </a:lnTo>
                    <a:close/>
                  </a:path>
                </a:pathLst>
              </a:custGeom>
              <a:solidFill>
                <a:srgbClr val="0042FF"/>
              </a:soli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47" name="任意多边形 646"/>
              <p:cNvSpPr/>
              <p:nvPr/>
            </p:nvSpPr>
            <p:spPr>
              <a:xfrm>
                <a:off x="23390" y="6806"/>
                <a:ext cx="2006" cy="1882"/>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006" h="1882">
                    <a:moveTo>
                      <a:pt x="657" y="1882"/>
                    </a:moveTo>
                    <a:cubicBezTo>
                      <a:pt x="473" y="1771"/>
                      <a:pt x="73" y="1313"/>
                      <a:pt x="0" y="1146"/>
                    </a:cubicBezTo>
                    <a:lnTo>
                      <a:pt x="1984" y="0"/>
                    </a:lnTo>
                    <a:cubicBezTo>
                      <a:pt x="1984" y="1"/>
                      <a:pt x="2011" y="33"/>
                      <a:pt x="2006" y="26"/>
                    </a:cubicBezTo>
                    <a:lnTo>
                      <a:pt x="657" y="1882"/>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48" name="任意多边形 647"/>
              <p:cNvSpPr/>
              <p:nvPr/>
            </p:nvSpPr>
            <p:spPr>
              <a:xfrm>
                <a:off x="24116" y="6883"/>
                <a:ext cx="1376" cy="225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376" h="2256">
                    <a:moveTo>
                      <a:pt x="899" y="2256"/>
                    </a:moveTo>
                    <a:cubicBezTo>
                      <a:pt x="673" y="2233"/>
                      <a:pt x="98" y="1952"/>
                      <a:pt x="0" y="1855"/>
                    </a:cubicBezTo>
                    <a:lnTo>
                      <a:pt x="1347" y="0"/>
                    </a:lnTo>
                    <a:cubicBezTo>
                      <a:pt x="1349" y="1"/>
                      <a:pt x="1380" y="15"/>
                      <a:pt x="1376" y="13"/>
                    </a:cubicBezTo>
                    <a:lnTo>
                      <a:pt x="899" y="2256"/>
                    </a:lnTo>
                    <a:close/>
                  </a:path>
                </a:pathLst>
              </a:custGeom>
              <a:solidFill>
                <a:srgbClr val="0042FF"/>
              </a:soli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49" name="任意多边形 648"/>
              <p:cNvSpPr/>
              <p:nvPr/>
            </p:nvSpPr>
            <p:spPr>
              <a:xfrm>
                <a:off x="25098" y="6913"/>
                <a:ext cx="978" cy="229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978" h="2292">
                    <a:moveTo>
                      <a:pt x="978" y="2243"/>
                    </a:moveTo>
                    <a:cubicBezTo>
                      <a:pt x="883" y="2269"/>
                      <a:pt x="538" y="2298"/>
                      <a:pt x="486" y="2290"/>
                    </a:cubicBezTo>
                    <a:cubicBezTo>
                      <a:pt x="322" y="2298"/>
                      <a:pt x="-1" y="2248"/>
                      <a:pt x="0" y="2244"/>
                    </a:cubicBezTo>
                    <a:lnTo>
                      <a:pt x="477" y="0"/>
                    </a:lnTo>
                    <a:lnTo>
                      <a:pt x="479" y="0"/>
                    </a:lnTo>
                    <a:lnTo>
                      <a:pt x="486" y="0"/>
                    </a:lnTo>
                    <a:lnTo>
                      <a:pt x="493" y="0"/>
                    </a:lnTo>
                    <a:lnTo>
                      <a:pt x="499" y="0"/>
                    </a:lnTo>
                    <a:lnTo>
                      <a:pt x="501" y="0"/>
                    </a:lnTo>
                    <a:lnTo>
                      <a:pt x="978" y="2243"/>
                    </a:lnTo>
                    <a:close/>
                  </a:path>
                </a:pathLst>
              </a:custGeom>
              <a:solidFill>
                <a:srgbClr val="0042FF"/>
              </a:soli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50" name="任意多边形 649"/>
              <p:cNvSpPr/>
              <p:nvPr/>
            </p:nvSpPr>
            <p:spPr>
              <a:xfrm>
                <a:off x="25682" y="6884"/>
                <a:ext cx="1368" cy="2254"/>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368" h="2254">
                    <a:moveTo>
                      <a:pt x="1368" y="1855"/>
                    </a:moveTo>
                    <a:cubicBezTo>
                      <a:pt x="1196" y="2014"/>
                      <a:pt x="586" y="2250"/>
                      <a:pt x="477" y="2254"/>
                    </a:cubicBezTo>
                    <a:lnTo>
                      <a:pt x="0" y="10"/>
                    </a:lnTo>
                    <a:lnTo>
                      <a:pt x="4" y="8"/>
                    </a:lnTo>
                    <a:lnTo>
                      <a:pt x="10" y="5"/>
                    </a:lnTo>
                    <a:lnTo>
                      <a:pt x="16" y="3"/>
                    </a:lnTo>
                    <a:lnTo>
                      <a:pt x="21" y="0"/>
                    </a:lnTo>
                    <a:lnTo>
                      <a:pt x="1368" y="1855"/>
                    </a:lnTo>
                    <a:close/>
                  </a:path>
                </a:pathLst>
              </a:custGeom>
              <a:solidFill>
                <a:srgbClr val="0042FF"/>
              </a:soli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51" name="任意多边形 650"/>
              <p:cNvSpPr/>
              <p:nvPr/>
            </p:nvSpPr>
            <p:spPr>
              <a:xfrm>
                <a:off x="25771" y="6801"/>
                <a:ext cx="2010" cy="1888"/>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010" h="1889">
                    <a:moveTo>
                      <a:pt x="2010" y="1145"/>
                    </a:moveTo>
                    <a:cubicBezTo>
                      <a:pt x="1878" y="1421"/>
                      <a:pt x="1456" y="1823"/>
                      <a:pt x="1348" y="1888"/>
                    </a:cubicBezTo>
                    <a:lnTo>
                      <a:pt x="0" y="32"/>
                    </a:lnTo>
                    <a:cubicBezTo>
                      <a:pt x="6" y="28"/>
                      <a:pt x="30" y="-5"/>
                      <a:pt x="26" y="0"/>
                    </a:cubicBezTo>
                    <a:lnTo>
                      <a:pt x="2010" y="1145"/>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52" name="任意多边形 651"/>
              <p:cNvSpPr/>
              <p:nvPr/>
            </p:nvSpPr>
            <p:spPr>
              <a:xfrm>
                <a:off x="25833" y="6709"/>
                <a:ext cx="2282" cy="1163"/>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282" h="1163">
                    <a:moveTo>
                      <a:pt x="2282" y="240"/>
                    </a:moveTo>
                    <a:cubicBezTo>
                      <a:pt x="2273" y="504"/>
                      <a:pt x="2083" y="1025"/>
                      <a:pt x="1990" y="1163"/>
                    </a:cubicBezTo>
                    <a:lnTo>
                      <a:pt x="0" y="14"/>
                    </a:lnTo>
                    <a:lnTo>
                      <a:pt x="1" y="11"/>
                    </a:lnTo>
                    <a:lnTo>
                      <a:pt x="2" y="5"/>
                    </a:lnTo>
                    <a:lnTo>
                      <a:pt x="3" y="0"/>
                    </a:lnTo>
                    <a:lnTo>
                      <a:pt x="2282" y="240"/>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53" name="任意多边形 652"/>
              <p:cNvSpPr/>
              <p:nvPr/>
            </p:nvSpPr>
            <p:spPr>
              <a:xfrm>
                <a:off x="25836" y="5892"/>
                <a:ext cx="2296" cy="973"/>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297" h="973">
                    <a:moveTo>
                      <a:pt x="2180" y="0"/>
                    </a:moveTo>
                    <a:cubicBezTo>
                      <a:pt x="2259" y="217"/>
                      <a:pt x="2303" y="615"/>
                      <a:pt x="2296" y="763"/>
                    </a:cubicBezTo>
                    <a:lnTo>
                      <a:pt x="2295" y="830"/>
                    </a:lnTo>
                    <a:lnTo>
                      <a:pt x="2293" y="897"/>
                    </a:lnTo>
                    <a:lnTo>
                      <a:pt x="2288" y="963"/>
                    </a:lnTo>
                    <a:lnTo>
                      <a:pt x="2287" y="973"/>
                    </a:lnTo>
                    <a:lnTo>
                      <a:pt x="4" y="733"/>
                    </a:lnTo>
                    <a:cubicBezTo>
                      <a:pt x="4" y="731"/>
                      <a:pt x="-1" y="700"/>
                      <a:pt x="0" y="708"/>
                    </a:cubicBezTo>
                    <a:lnTo>
                      <a:pt x="2180" y="0"/>
                    </a:lnTo>
                    <a:close/>
                  </a:path>
                </a:pathLst>
              </a:custGeom>
              <a:solidFill>
                <a:srgbClr val="0042FF"/>
              </a:soli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54" name="任意多边形 653"/>
              <p:cNvSpPr/>
              <p:nvPr/>
            </p:nvSpPr>
            <p:spPr>
              <a:xfrm>
                <a:off x="25794" y="4972"/>
                <a:ext cx="2194" cy="1548"/>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194" h="1548">
                    <a:moveTo>
                      <a:pt x="0" y="1533"/>
                    </a:moveTo>
                    <a:lnTo>
                      <a:pt x="1703" y="0"/>
                    </a:lnTo>
                    <a:cubicBezTo>
                      <a:pt x="1911" y="209"/>
                      <a:pt x="2143" y="661"/>
                      <a:pt x="2194" y="838"/>
                    </a:cubicBezTo>
                    <a:lnTo>
                      <a:pt x="10" y="1548"/>
                    </a:lnTo>
                    <a:lnTo>
                      <a:pt x="9" y="1547"/>
                    </a:lnTo>
                    <a:lnTo>
                      <a:pt x="6" y="1542"/>
                    </a:lnTo>
                    <a:lnTo>
                      <a:pt x="2" y="1536"/>
                    </a:lnTo>
                    <a:lnTo>
                      <a:pt x="0" y="1533"/>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55" name="任意多边形 654"/>
              <p:cNvSpPr/>
              <p:nvPr/>
            </p:nvSpPr>
            <p:spPr>
              <a:xfrm>
                <a:off x="23180" y="4964"/>
                <a:ext cx="2200" cy="1554"/>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200" h="1554">
                    <a:moveTo>
                      <a:pt x="0" y="844"/>
                    </a:moveTo>
                    <a:cubicBezTo>
                      <a:pt x="64" y="572"/>
                      <a:pt x="421" y="62"/>
                      <a:pt x="498" y="0"/>
                    </a:cubicBezTo>
                    <a:lnTo>
                      <a:pt x="2200" y="1533"/>
                    </a:lnTo>
                    <a:cubicBezTo>
                      <a:pt x="2199" y="1533"/>
                      <a:pt x="2183" y="1557"/>
                      <a:pt x="2185" y="1554"/>
                    </a:cubicBezTo>
                    <a:lnTo>
                      <a:pt x="0" y="844"/>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656" name="任意多边形 655"/>
              <p:cNvSpPr/>
              <p:nvPr/>
            </p:nvSpPr>
            <p:spPr>
              <a:xfrm>
                <a:off x="23036" y="5889"/>
                <a:ext cx="2296" cy="975"/>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297" h="975">
                    <a:moveTo>
                      <a:pt x="0" y="766"/>
                    </a:moveTo>
                    <a:cubicBezTo>
                      <a:pt x="-10" y="506"/>
                      <a:pt x="71" y="128"/>
                      <a:pt x="117" y="0"/>
                    </a:cubicBezTo>
                    <a:lnTo>
                      <a:pt x="2296" y="708"/>
                    </a:lnTo>
                    <a:cubicBezTo>
                      <a:pt x="2295" y="714"/>
                      <a:pt x="2291" y="741"/>
                      <a:pt x="2292" y="735"/>
                    </a:cubicBezTo>
                    <a:lnTo>
                      <a:pt x="9" y="975"/>
                    </a:lnTo>
                    <a:lnTo>
                      <a:pt x="8" y="965"/>
                    </a:lnTo>
                    <a:lnTo>
                      <a:pt x="3" y="899"/>
                    </a:lnTo>
                    <a:lnTo>
                      <a:pt x="1" y="832"/>
                    </a:lnTo>
                    <a:lnTo>
                      <a:pt x="0" y="766"/>
                    </a:lnTo>
                    <a:close/>
                  </a:path>
                </a:pathLst>
              </a:custGeom>
              <a:gradFill>
                <a:gsLst>
                  <a:gs pos="0">
                    <a:srgbClr val="3368FF"/>
                  </a:gs>
                  <a:gs pos="100000">
                    <a:srgbClr val="668EFF"/>
                  </a:gs>
                </a:gsLst>
                <a:lin ang="0" scaled="0"/>
              </a:gradFill>
              <a:ln w="12700">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sp>
          <p:nvSpPr>
            <p:cNvPr id="679" name="空心弧 678"/>
            <p:cNvSpPr/>
            <p:nvPr/>
          </p:nvSpPr>
          <p:spPr>
            <a:xfrm>
              <a:off x="3109" y="3964"/>
              <a:ext cx="5525" cy="5524"/>
            </a:xfrm>
            <a:prstGeom prst="blockArc">
              <a:avLst>
                <a:gd name="adj1" fmla="val 9047133"/>
                <a:gd name="adj2" fmla="val 16142709"/>
                <a:gd name="adj3" fmla="val 1658"/>
              </a:avLst>
            </a:prstGeom>
            <a:gradFill>
              <a:gsLst>
                <a:gs pos="0">
                  <a:srgbClr val="0042FF">
                    <a:alpha val="40000"/>
                  </a:srgbClr>
                </a:gs>
                <a:gs pos="100000">
                  <a:srgbClr val="0042FF">
                    <a:alpha val="10000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80" name="空心弧 679"/>
            <p:cNvSpPr/>
            <p:nvPr/>
          </p:nvSpPr>
          <p:spPr>
            <a:xfrm>
              <a:off x="3139" y="4023"/>
              <a:ext cx="5525" cy="5524"/>
            </a:xfrm>
            <a:prstGeom prst="blockArc">
              <a:avLst>
                <a:gd name="adj1" fmla="val 1849346"/>
                <a:gd name="adj2" fmla="val 8990298"/>
                <a:gd name="adj3" fmla="val 1545"/>
              </a:avLst>
            </a:prstGeom>
            <a:gradFill>
              <a:gsLst>
                <a:gs pos="0">
                  <a:srgbClr val="3368FF">
                    <a:alpha val="4000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81" name="空心弧 680"/>
            <p:cNvSpPr/>
            <p:nvPr/>
          </p:nvSpPr>
          <p:spPr>
            <a:xfrm>
              <a:off x="3165" y="3964"/>
              <a:ext cx="5525" cy="5524"/>
            </a:xfrm>
            <a:prstGeom prst="blockArc">
              <a:avLst>
                <a:gd name="adj1" fmla="val 16192750"/>
                <a:gd name="adj2" fmla="val 1742964"/>
                <a:gd name="adj3" fmla="val 1540"/>
              </a:avLst>
            </a:prstGeom>
            <a:gradFill>
              <a:gsLst>
                <a:gs pos="100000">
                  <a:srgbClr val="3368FF"/>
                </a:gs>
                <a:gs pos="0">
                  <a:srgbClr val="3368FF">
                    <a:alpha val="4000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84" name="椭圆 683"/>
            <p:cNvSpPr/>
            <p:nvPr/>
          </p:nvSpPr>
          <p:spPr>
            <a:xfrm>
              <a:off x="3409" y="5269"/>
              <a:ext cx="203" cy="203"/>
            </a:xfrm>
            <a:prstGeom prst="ellipse">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85" name="椭圆 684"/>
            <p:cNvSpPr/>
            <p:nvPr/>
          </p:nvSpPr>
          <p:spPr>
            <a:xfrm>
              <a:off x="3062" y="6369"/>
              <a:ext cx="203" cy="203"/>
            </a:xfrm>
            <a:prstGeom prst="ellipse">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86" name="椭圆 685"/>
            <p:cNvSpPr/>
            <p:nvPr/>
          </p:nvSpPr>
          <p:spPr>
            <a:xfrm>
              <a:off x="3165" y="7469"/>
              <a:ext cx="203" cy="203"/>
            </a:xfrm>
            <a:prstGeom prst="ellipse">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87" name="椭圆 686"/>
            <p:cNvSpPr/>
            <p:nvPr/>
          </p:nvSpPr>
          <p:spPr>
            <a:xfrm>
              <a:off x="3740" y="8448"/>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88" name="椭圆 687"/>
            <p:cNvSpPr/>
            <p:nvPr/>
          </p:nvSpPr>
          <p:spPr>
            <a:xfrm>
              <a:off x="4648" y="9125"/>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89" name="椭圆 688"/>
            <p:cNvSpPr/>
            <p:nvPr/>
          </p:nvSpPr>
          <p:spPr>
            <a:xfrm>
              <a:off x="5828" y="9366"/>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0" name="椭圆 689"/>
            <p:cNvSpPr/>
            <p:nvPr/>
          </p:nvSpPr>
          <p:spPr>
            <a:xfrm>
              <a:off x="6886" y="9147"/>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1" name="椭圆 690"/>
            <p:cNvSpPr/>
            <p:nvPr/>
          </p:nvSpPr>
          <p:spPr>
            <a:xfrm>
              <a:off x="4134" y="4463"/>
              <a:ext cx="203" cy="203"/>
            </a:xfrm>
            <a:prstGeom prst="ellipse">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2" name="椭圆 691"/>
            <p:cNvSpPr/>
            <p:nvPr/>
          </p:nvSpPr>
          <p:spPr>
            <a:xfrm>
              <a:off x="5210" y="3936"/>
              <a:ext cx="203" cy="203"/>
            </a:xfrm>
            <a:prstGeom prst="ellipse">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3" name="椭圆 692"/>
            <p:cNvSpPr/>
            <p:nvPr/>
          </p:nvSpPr>
          <p:spPr>
            <a:xfrm>
              <a:off x="6391" y="3964"/>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4" name="椭圆 693"/>
            <p:cNvSpPr/>
            <p:nvPr/>
          </p:nvSpPr>
          <p:spPr>
            <a:xfrm>
              <a:off x="7449" y="4463"/>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5" name="椭圆 694"/>
            <p:cNvSpPr/>
            <p:nvPr/>
          </p:nvSpPr>
          <p:spPr>
            <a:xfrm>
              <a:off x="8147" y="5221"/>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6" name="椭圆 695"/>
            <p:cNvSpPr/>
            <p:nvPr/>
          </p:nvSpPr>
          <p:spPr>
            <a:xfrm>
              <a:off x="8550" y="6303"/>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7" name="椭圆 696"/>
            <p:cNvSpPr/>
            <p:nvPr/>
          </p:nvSpPr>
          <p:spPr>
            <a:xfrm>
              <a:off x="8430" y="7469"/>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8" name="椭圆 697"/>
            <p:cNvSpPr/>
            <p:nvPr/>
          </p:nvSpPr>
          <p:spPr>
            <a:xfrm>
              <a:off x="7832" y="8487"/>
              <a:ext cx="203" cy="203"/>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9" name="文本框 698"/>
            <p:cNvSpPr txBox="1"/>
            <p:nvPr/>
          </p:nvSpPr>
          <p:spPr>
            <a:xfrm>
              <a:off x="4556" y="3445"/>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架构与监管</a:t>
              </a:r>
              <a:endParaRPr lang="zh-CN" altLang="en-US" sz="1000">
                <a:solidFill>
                  <a:srgbClr val="383838"/>
                </a:solidFill>
                <a:latin typeface="微软雅黑"/>
                <a:ea typeface="微软雅黑"/>
                <a:cs typeface="微软雅黑"/>
              </a:endParaRPr>
            </a:p>
          </p:txBody>
        </p:sp>
        <p:sp>
          <p:nvSpPr>
            <p:cNvPr id="700" name="文本框 699"/>
            <p:cNvSpPr txBox="1"/>
            <p:nvPr/>
          </p:nvSpPr>
          <p:spPr>
            <a:xfrm>
              <a:off x="6152" y="3445"/>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自然资源</a:t>
              </a:r>
              <a:endParaRPr lang="zh-CN" altLang="en-US" sz="1000">
                <a:solidFill>
                  <a:srgbClr val="383838"/>
                </a:solidFill>
                <a:latin typeface="微软雅黑"/>
                <a:ea typeface="微软雅黑"/>
                <a:cs typeface="微软雅黑"/>
              </a:endParaRPr>
            </a:p>
          </p:txBody>
        </p:sp>
        <p:sp>
          <p:nvSpPr>
            <p:cNvPr id="702" name="文本框 701"/>
            <p:cNvSpPr txBox="1"/>
            <p:nvPr/>
          </p:nvSpPr>
          <p:spPr>
            <a:xfrm>
              <a:off x="7456" y="4075"/>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能源利用率</a:t>
              </a:r>
              <a:endParaRPr lang="zh-CN" altLang="en-US" sz="1000">
                <a:solidFill>
                  <a:srgbClr val="383838"/>
                </a:solidFill>
                <a:latin typeface="微软雅黑"/>
                <a:ea typeface="微软雅黑"/>
                <a:cs typeface="微软雅黑"/>
              </a:endParaRPr>
            </a:p>
          </p:txBody>
        </p:sp>
        <p:sp>
          <p:nvSpPr>
            <p:cNvPr id="703" name="文本框 702"/>
            <p:cNvSpPr txBox="1"/>
            <p:nvPr/>
          </p:nvSpPr>
          <p:spPr>
            <a:xfrm>
              <a:off x="8312" y="5018"/>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污染物排放</a:t>
              </a:r>
              <a:endParaRPr lang="zh-CN" altLang="en-US" sz="1000">
                <a:solidFill>
                  <a:srgbClr val="383838"/>
                </a:solidFill>
                <a:latin typeface="微软雅黑"/>
                <a:ea typeface="微软雅黑"/>
                <a:cs typeface="微软雅黑"/>
              </a:endParaRPr>
            </a:p>
          </p:txBody>
        </p:sp>
        <p:sp>
          <p:nvSpPr>
            <p:cNvPr id="704" name="文本框 703"/>
            <p:cNvSpPr txBox="1"/>
            <p:nvPr/>
          </p:nvSpPr>
          <p:spPr>
            <a:xfrm>
              <a:off x="8690" y="6203"/>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污染与废弃</a:t>
              </a:r>
              <a:endParaRPr lang="zh-CN" altLang="en-US" sz="1000">
                <a:solidFill>
                  <a:srgbClr val="383838"/>
                </a:solidFill>
                <a:latin typeface="微软雅黑"/>
                <a:ea typeface="微软雅黑"/>
                <a:cs typeface="微软雅黑"/>
              </a:endParaRPr>
            </a:p>
          </p:txBody>
        </p:sp>
        <p:sp>
          <p:nvSpPr>
            <p:cNvPr id="705" name="文本框 704"/>
            <p:cNvSpPr txBox="1"/>
            <p:nvPr/>
          </p:nvSpPr>
          <p:spPr>
            <a:xfrm>
              <a:off x="8580" y="7469"/>
              <a:ext cx="1371" cy="628"/>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创新环保机会</a:t>
              </a:r>
              <a:endParaRPr lang="zh-CN" altLang="en-US" sz="1000">
                <a:solidFill>
                  <a:srgbClr val="383838"/>
                </a:solidFill>
                <a:latin typeface="微软雅黑"/>
                <a:ea typeface="微软雅黑"/>
                <a:cs typeface="微软雅黑"/>
              </a:endParaRPr>
            </a:p>
          </p:txBody>
        </p:sp>
        <p:sp>
          <p:nvSpPr>
            <p:cNvPr id="706" name="文本框 705"/>
            <p:cNvSpPr txBox="1"/>
            <p:nvPr/>
          </p:nvSpPr>
          <p:spPr>
            <a:xfrm>
              <a:off x="8096" y="8532"/>
              <a:ext cx="1371"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社会与社区</a:t>
              </a:r>
              <a:endParaRPr lang="zh-CN" altLang="en-US" sz="1000">
                <a:solidFill>
                  <a:srgbClr val="383838"/>
                </a:solidFill>
                <a:latin typeface="微软雅黑"/>
                <a:ea typeface="微软雅黑"/>
                <a:cs typeface="微软雅黑"/>
              </a:endParaRPr>
            </a:p>
          </p:txBody>
        </p:sp>
        <p:sp>
          <p:nvSpPr>
            <p:cNvPr id="707" name="文本框 706"/>
            <p:cNvSpPr txBox="1"/>
            <p:nvPr/>
          </p:nvSpPr>
          <p:spPr>
            <a:xfrm>
              <a:off x="7059" y="9277"/>
              <a:ext cx="1371"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员工待遇</a:t>
              </a:r>
              <a:endParaRPr lang="zh-CN" altLang="en-US" sz="1000">
                <a:solidFill>
                  <a:srgbClr val="383838"/>
                </a:solidFill>
                <a:latin typeface="微软雅黑"/>
                <a:ea typeface="微软雅黑"/>
                <a:cs typeface="微软雅黑"/>
              </a:endParaRPr>
            </a:p>
          </p:txBody>
        </p:sp>
        <p:sp>
          <p:nvSpPr>
            <p:cNvPr id="708" name="文本框 707"/>
            <p:cNvSpPr txBox="1"/>
            <p:nvPr/>
          </p:nvSpPr>
          <p:spPr>
            <a:xfrm>
              <a:off x="3310" y="4020"/>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补偿政策</a:t>
              </a:r>
              <a:endParaRPr lang="zh-CN" altLang="en-US" sz="1000">
                <a:solidFill>
                  <a:srgbClr val="383838"/>
                </a:solidFill>
                <a:latin typeface="微软雅黑"/>
                <a:ea typeface="微软雅黑"/>
                <a:cs typeface="微软雅黑"/>
              </a:endParaRPr>
            </a:p>
          </p:txBody>
        </p:sp>
        <p:sp>
          <p:nvSpPr>
            <p:cNvPr id="709" name="文本框 708"/>
            <p:cNvSpPr txBox="1"/>
            <p:nvPr/>
          </p:nvSpPr>
          <p:spPr>
            <a:xfrm>
              <a:off x="2253" y="4883"/>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供应链管理</a:t>
              </a:r>
              <a:endParaRPr lang="zh-CN" altLang="en-US" sz="1000">
                <a:solidFill>
                  <a:srgbClr val="383838"/>
                </a:solidFill>
                <a:latin typeface="微软雅黑"/>
                <a:ea typeface="微软雅黑"/>
                <a:cs typeface="微软雅黑"/>
              </a:endParaRPr>
            </a:p>
          </p:txBody>
        </p:sp>
        <p:sp>
          <p:nvSpPr>
            <p:cNvPr id="712" name="文本框 711"/>
            <p:cNvSpPr txBox="1"/>
            <p:nvPr/>
          </p:nvSpPr>
          <p:spPr>
            <a:xfrm>
              <a:off x="2837" y="8553"/>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产品责任</a:t>
              </a:r>
              <a:endParaRPr lang="zh-CN" altLang="en-US" sz="1000">
                <a:solidFill>
                  <a:srgbClr val="383838"/>
                </a:solidFill>
                <a:latin typeface="微软雅黑"/>
                <a:ea typeface="微软雅黑"/>
                <a:cs typeface="微软雅黑"/>
              </a:endParaRPr>
            </a:p>
          </p:txBody>
        </p:sp>
        <p:sp>
          <p:nvSpPr>
            <p:cNvPr id="713" name="文本框 712"/>
            <p:cNvSpPr txBox="1"/>
            <p:nvPr/>
          </p:nvSpPr>
          <p:spPr>
            <a:xfrm>
              <a:off x="3913" y="9376"/>
              <a:ext cx="1586"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多样性与机会</a:t>
              </a:r>
              <a:endParaRPr lang="zh-CN" altLang="en-US" sz="1000">
                <a:solidFill>
                  <a:srgbClr val="383838"/>
                </a:solidFill>
                <a:latin typeface="微软雅黑"/>
                <a:ea typeface="微软雅黑"/>
                <a:cs typeface="微软雅黑"/>
              </a:endParaRPr>
            </a:p>
          </p:txBody>
        </p:sp>
        <p:sp>
          <p:nvSpPr>
            <p:cNvPr id="714" name="文本框 713"/>
            <p:cNvSpPr txBox="1"/>
            <p:nvPr/>
          </p:nvSpPr>
          <p:spPr>
            <a:xfrm>
              <a:off x="5647" y="9616"/>
              <a:ext cx="129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人权</a:t>
              </a:r>
              <a:endParaRPr lang="zh-CN" altLang="en-US" sz="1000">
                <a:solidFill>
                  <a:srgbClr val="383838"/>
                </a:solidFill>
                <a:latin typeface="微软雅黑"/>
                <a:ea typeface="微软雅黑"/>
                <a:cs typeface="微软雅黑"/>
              </a:endParaRPr>
            </a:p>
          </p:txBody>
        </p:sp>
        <p:grpSp>
          <p:nvGrpSpPr>
            <p:cNvPr id="723" name="组合 722"/>
            <p:cNvGrpSpPr/>
            <p:nvPr/>
          </p:nvGrpSpPr>
          <p:grpSpPr>
            <a:xfrm>
              <a:off x="4467" y="5309"/>
              <a:ext cx="2847" cy="2847"/>
              <a:chOff x="4512" y="5384"/>
              <a:chExt cx="2847" cy="2847"/>
            </a:xfrm>
          </p:grpSpPr>
          <p:sp>
            <p:nvSpPr>
              <p:cNvPr id="720" name="椭圆 719"/>
              <p:cNvSpPr/>
              <p:nvPr/>
            </p:nvSpPr>
            <p:spPr>
              <a:xfrm>
                <a:off x="5074" y="5946"/>
                <a:ext cx="1723" cy="1723"/>
              </a:xfrm>
              <a:prstGeom prst="ellipse">
                <a:avLst/>
              </a:prstGeom>
              <a:noFill/>
              <a:ln>
                <a:solidFill>
                  <a:srgbClr val="FFFFFF"/>
                </a:solidFill>
              </a:ln>
              <a:extLst>
                <a:ext uri="{909E8E84-426E-40DD-AFC4-6F175D3DCCD1}">
                  <a14:hiddenFill xmlns:a14="http://schemas.microsoft.com/office/drawing/2010/main">
                    <a:solidFill>
                      <a:srgbClr val="383838">
                        <a:alpha val="0"/>
                      </a:srgbClr>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21" name="椭圆 720"/>
              <p:cNvSpPr/>
              <p:nvPr/>
            </p:nvSpPr>
            <p:spPr>
              <a:xfrm>
                <a:off x="4512" y="5384"/>
                <a:ext cx="2847" cy="2847"/>
              </a:xfrm>
              <a:prstGeom prst="ellipse">
                <a:avLst/>
              </a:prstGeom>
              <a:noFill/>
              <a:ln>
                <a:solidFill>
                  <a:srgbClr val="FFFFFF"/>
                </a:solidFill>
                <a:prstDash val="dashDot"/>
              </a:ln>
              <a:extLst>
                <a:ext uri="{909E8E84-426E-40DD-AFC4-6F175D3DCCD1}">
                  <a14:hiddenFill xmlns:a14="http://schemas.microsoft.com/office/drawing/2010/main">
                    <a:solidFill>
                      <a:srgbClr val="383838">
                        <a:alpha val="0"/>
                      </a:srgbClr>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grpSp>
        <p:nvGrpSpPr>
          <p:cNvPr id="753" name="组合 752"/>
          <p:cNvGrpSpPr/>
          <p:nvPr/>
        </p:nvGrpSpPr>
        <p:grpSpPr>
          <a:xfrm>
            <a:off x="6918960" y="981075"/>
            <a:ext cx="4830445" cy="1783715"/>
            <a:chOff x="10896" y="1545"/>
            <a:chExt cx="7607" cy="2809"/>
          </a:xfrm>
        </p:grpSpPr>
        <p:sp>
          <p:nvSpPr>
            <p:cNvPr id="22" name="矩形 21"/>
            <p:cNvSpPr/>
            <p:nvPr/>
          </p:nvSpPr>
          <p:spPr>
            <a:xfrm>
              <a:off x="10896" y="1545"/>
              <a:ext cx="7607" cy="2809"/>
            </a:xfrm>
            <a:prstGeom prst="rect">
              <a:avLst/>
            </a:prstGeom>
            <a:solidFill>
              <a:srgbClr val="3368FF">
                <a:alpha val="5000"/>
              </a:srgbClr>
            </a:solidFill>
            <a:ln w="19050" cap="flat" cmpd="sng" algn="ctr">
              <a:noFill/>
              <a:prstDash val="solid"/>
              <a:miter lim="800000"/>
            </a:ln>
            <a:effectLst/>
          </p:spPr>
          <p:txBody>
            <a:bodyPr rtlCol="0" anchor="ctr"/>
            <a:lstStyle/>
            <a:p>
              <a:pPr algn="ctr">
                <a:defRPr>
                  <a:latin typeface="微软雅黑"/>
                  <a:ea typeface="微软雅黑"/>
                  <a:cs typeface="微软雅黑"/>
                </a:defRPr>
              </a:pPr>
              <a:endParaRPr lang="en-US" sz="1400" dirty="0">
                <a:solidFill>
                  <a:srgbClr val="383838"/>
                </a:solidFill>
                <a:latin typeface="微软雅黑"/>
                <a:cs typeface="微软雅黑"/>
                <a:ea typeface="微软雅黑"/>
              </a:endParaRPr>
            </a:p>
          </p:txBody>
        </p:sp>
        <p:sp>
          <p:nvSpPr>
            <p:cNvPr id="23" name="矩形 22"/>
            <p:cNvSpPr/>
            <p:nvPr/>
          </p:nvSpPr>
          <p:spPr>
            <a:xfrm>
              <a:off x="18414" y="1545"/>
              <a:ext cx="88" cy="2809"/>
            </a:xfrm>
            <a:prstGeom prst="rect">
              <a:avLst/>
            </a:prstGeom>
            <a:gradFill flip="none" rotWithShape="1">
              <a:gsLst>
                <a:gs pos="0">
                  <a:srgbClr val="3368FF"/>
                </a:gs>
                <a:gs pos="100000">
                  <a:srgbClr val="668EFF"/>
                </a:gs>
              </a:gsLst>
              <a:lin ang="16200000" scaled="1"/>
              <a:tileRect/>
            </a:gradFill>
            <a:ln w="19050" cap="flat" cmpd="sng" algn="ctr">
              <a:noFill/>
              <a:prstDash val="solid"/>
              <a:miter lim="800000"/>
            </a:ln>
            <a:effectLst/>
          </p:spPr>
          <p:txBody>
            <a:bodyPr rtlCol="0" anchor="ctr" lIns="0" rIns="0" tIns="0" bIns="0"/>
            <a:lstStyle/>
            <a:p>
              <a:pPr algn="ctr">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grpSp>
          <p:nvGrpSpPr>
            <p:cNvPr id="728" name="组合 727"/>
            <p:cNvGrpSpPr/>
            <p:nvPr/>
          </p:nvGrpSpPr>
          <p:grpSpPr>
            <a:xfrm>
              <a:off x="11244" y="2265"/>
              <a:ext cx="1252" cy="1362"/>
              <a:chOff x="11244" y="2265"/>
              <a:chExt cx="1252" cy="1362"/>
            </a:xfrm>
          </p:grpSpPr>
          <p:pic>
            <p:nvPicPr>
              <p:cNvPr id="726" name="图片 725" descr="联合国环境署"/>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402" y="2265"/>
                <a:ext cx="935" cy="810"/>
              </a:xfrm>
              <a:prstGeom prst="rect">
                <a:avLst/>
              </a:prstGeom>
            </p:spPr>
          </p:pic>
          <p:sp>
            <p:nvSpPr>
              <p:cNvPr id="727" name="文本框 726"/>
              <p:cNvSpPr txBox="1"/>
              <p:nvPr/>
            </p:nvSpPr>
            <p:spPr>
              <a:xfrm>
                <a:off x="11244" y="3193"/>
                <a:ext cx="1252" cy="434"/>
              </a:xfrm>
              <a:prstGeom prst="rect">
                <a:avLst/>
              </a:prstGeom>
              <a:noFill/>
            </p:spPr>
            <p:txBody>
              <a:bodyPr wrap="none">
                <a:spAutoFit/>
              </a:bodyPr>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环境维度</a:t>
                </a:r>
                <a:endParaRPr lang="zh-CN" altLang="en-US" sz="1200" b="1" dirty="0">
                  <a:solidFill>
                    <a:srgbClr val="0042FF"/>
                  </a:solidFill>
                  <a:latin typeface="微软雅黑"/>
                  <a:ea typeface="微软雅黑"/>
                  <a:cs typeface="微软雅黑"/>
                </a:endParaRPr>
              </a:p>
            </p:txBody>
          </p:sp>
        </p:grpSp>
        <p:cxnSp>
          <p:nvCxnSpPr>
            <p:cNvPr id="729" name="直接连接符 728"/>
            <p:cNvCxnSpPr/>
            <p:nvPr/>
          </p:nvCxnSpPr>
          <p:spPr>
            <a:xfrm>
              <a:off x="12602" y="2106"/>
              <a:ext cx="0" cy="1584"/>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730" name="文本框 729"/>
            <p:cNvSpPr txBox="1"/>
            <p:nvPr/>
          </p:nvSpPr>
          <p:spPr>
            <a:xfrm>
              <a:off x="12686" y="2166"/>
              <a:ext cx="151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b="1">
                  <a:solidFill>
                    <a:srgbClr val="383838"/>
                  </a:solidFill>
                  <a:latin typeface="微软雅黑"/>
                  <a:ea typeface="微软雅黑"/>
                  <a:cs typeface="微软雅黑"/>
                </a:rPr>
                <a:t>工业能效升级</a:t>
              </a:r>
              <a:endParaRPr lang="zh-CN" altLang="en-US" sz="1000" b="1">
                <a:solidFill>
                  <a:srgbClr val="383838"/>
                </a:solidFill>
                <a:latin typeface="微软雅黑"/>
                <a:ea typeface="微软雅黑"/>
                <a:cs typeface="微软雅黑"/>
              </a:endParaRPr>
            </a:p>
          </p:txBody>
        </p:sp>
        <p:sp>
          <p:nvSpPr>
            <p:cNvPr id="731" name="文本框 730"/>
            <p:cNvSpPr txBox="1"/>
            <p:nvPr/>
          </p:nvSpPr>
          <p:spPr>
            <a:xfrm>
              <a:off x="12746" y="2577"/>
              <a:ext cx="1457" cy="1113"/>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重点领域单位产值碳排放下降</a:t>
              </a:r>
              <a:endParaRPr lang="zh-CN" altLang="en-US" sz="1000">
                <a:solidFill>
                  <a:srgbClr val="383838"/>
                </a:solidFill>
                <a:latin typeface="微软雅黑"/>
                <a:ea typeface="微软雅黑"/>
                <a:cs typeface="微软雅黑"/>
              </a:endParaRPr>
            </a:p>
            <a:p>
              <a:pPr>
                <a:defRPr>
                  <a:latin typeface="微软雅黑"/>
                  <a:ea typeface="微软雅黑"/>
                  <a:cs typeface="微软雅黑"/>
                </a:defRPr>
              </a:pPr>
              <a:r>
                <a:rPr lang="en-US" altLang="zh-CN" sz="1000" b="1">
                  <a:solidFill>
                    <a:srgbClr val="0042FF"/>
                  </a:solidFill>
                  <a:latin typeface="微软雅黑"/>
                  <a:ea typeface="微软雅黑"/>
                  <a:cs typeface="微软雅黑"/>
                </a:rPr>
                <a:t>-45%</a:t>
              </a:r>
              <a:endParaRPr lang="en-US" altLang="zh-CN" sz="1000" b="1">
                <a:solidFill>
                  <a:srgbClr val="0042FF"/>
                </a:solidFill>
                <a:latin typeface="微软雅黑"/>
                <a:ea typeface="微软雅黑"/>
                <a:cs typeface="微软雅黑"/>
              </a:endParaRPr>
            </a:p>
          </p:txBody>
        </p:sp>
        <p:sp>
          <p:nvSpPr>
            <p:cNvPr id="732" name="文本框 731"/>
            <p:cNvSpPr txBox="1"/>
            <p:nvPr/>
          </p:nvSpPr>
          <p:spPr>
            <a:xfrm>
              <a:off x="14873" y="1919"/>
              <a:ext cx="3541" cy="628"/>
            </a:xfrm>
            <a:prstGeom prst="rect">
              <a:avLst/>
            </a:prstGeom>
            <a:noFill/>
          </p:spPr>
          <p:txBody>
            <a:bodyPr wrap="square" rtlCol="0" lIns="0" rIns="0" tIns="0" bIns="0">
              <a:spAutoFit/>
            </a:bodyPr>
            <a:p>
              <a:pPr marL="228600" indent="-22860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目标：</a:t>
              </a:r>
              <a:r>
                <a:rPr lang="en-US" altLang="zh-CN" sz="1000">
                  <a:solidFill>
                    <a:srgbClr val="383838"/>
                  </a:solidFill>
                  <a:latin typeface="微软雅黑"/>
                  <a:ea typeface="微软雅黑"/>
                  <a:cs typeface="微软雅黑"/>
                </a:rPr>
                <a:t>2030</a:t>
              </a:r>
              <a:r>
                <a:rPr lang="zh-CN" altLang="en-US" sz="1000">
                  <a:solidFill>
                    <a:srgbClr val="383838"/>
                  </a:solidFill>
                  <a:latin typeface="微软雅黑"/>
                  <a:ea typeface="微软雅黑"/>
                  <a:cs typeface="微软雅黑"/>
                </a:rPr>
                <a:t>年工业能源利用率提升至</a:t>
              </a:r>
              <a:r>
                <a:rPr lang="en-US" altLang="zh-CN" sz="1000">
                  <a:solidFill>
                    <a:srgbClr val="383838"/>
                  </a:solidFill>
                  <a:latin typeface="微软雅黑"/>
                  <a:ea typeface="微软雅黑"/>
                  <a:cs typeface="微软雅黑"/>
                </a:rPr>
                <a:t>50%</a:t>
              </a:r>
              <a:r>
                <a:rPr lang="zh-CN" altLang="en-US" sz="1000">
                  <a:solidFill>
                    <a:srgbClr val="383838"/>
                  </a:solidFill>
                  <a:latin typeface="微软雅黑"/>
                  <a:ea typeface="微软雅黑"/>
                  <a:cs typeface="微软雅黑"/>
                </a:rPr>
                <a:t>（</a:t>
              </a:r>
              <a:r>
                <a:rPr lang="en-US" altLang="zh-CN" sz="1000">
                  <a:solidFill>
                    <a:srgbClr val="383838"/>
                  </a:solidFill>
                  <a:latin typeface="微软雅黑"/>
                  <a:ea typeface="微软雅黑"/>
                  <a:cs typeface="微软雅黑"/>
                </a:rPr>
                <a:t>2023</a:t>
              </a:r>
              <a:r>
                <a:rPr lang="zh-CN" altLang="en-US" sz="1000">
                  <a:solidFill>
                    <a:srgbClr val="383838"/>
                  </a:solidFill>
                  <a:latin typeface="微软雅黑"/>
                  <a:ea typeface="微软雅黑"/>
                  <a:cs typeface="微软雅黑"/>
                </a:rPr>
                <a:t>年基准：</a:t>
              </a:r>
              <a:r>
                <a:rPr lang="en-US" altLang="zh-CN" sz="1000">
                  <a:solidFill>
                    <a:srgbClr val="383838"/>
                  </a:solidFill>
                  <a:latin typeface="微软雅黑"/>
                  <a:ea typeface="微软雅黑"/>
                  <a:cs typeface="微软雅黑"/>
                </a:rPr>
                <a:t>32%</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733" name="紫荆的职场Point99-4"/>
            <p:cNvSpPr/>
            <p:nvPr/>
          </p:nvSpPr>
          <p:spPr>
            <a:xfrm rot="5400000" flipH="1">
              <a:off x="14180" y="2532"/>
              <a:ext cx="565" cy="641"/>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cxnSp>
          <p:nvCxnSpPr>
            <p:cNvPr id="734" name="直接连接符 733"/>
            <p:cNvCxnSpPr/>
            <p:nvPr/>
          </p:nvCxnSpPr>
          <p:spPr>
            <a:xfrm>
              <a:off x="15004" y="2571"/>
              <a:ext cx="3118" cy="0"/>
            </a:xfrm>
            <a:prstGeom prst="line">
              <a:avLst/>
            </a:prstGeom>
            <a:ln>
              <a:solidFill>
                <a:srgbClr val="383838">
                  <a:alpha val="70000"/>
                </a:srgbClr>
              </a:solidFill>
              <a:prstDash val="sysDash"/>
            </a:ln>
          </p:spPr>
          <p:style>
            <a:lnRef idx="2">
              <a:srgbClr val="0042FF"/>
            </a:lnRef>
            <a:fillRef idx="0">
              <a:srgbClr val="FFFFFF"/>
            </a:fillRef>
            <a:effectRef idx="0">
              <a:srgbClr val="FFFFFF"/>
            </a:effectRef>
            <a:fontRef idx="minor">
              <a:srgbClr val="383838"/>
            </a:fontRef>
          </p:style>
        </p:cxnSp>
        <p:sp>
          <p:nvSpPr>
            <p:cNvPr id="735" name="文本框 734"/>
            <p:cNvSpPr txBox="1"/>
            <p:nvPr/>
          </p:nvSpPr>
          <p:spPr>
            <a:xfrm>
              <a:off x="14873" y="2684"/>
              <a:ext cx="3353" cy="628"/>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投资：</a:t>
              </a:r>
              <a:r>
                <a:rPr lang="zh-CN" altLang="en-US" sz="1000">
                  <a:solidFill>
                    <a:srgbClr val="383838"/>
                  </a:solidFill>
                  <a:latin typeface="微软雅黑"/>
                  <a:ea typeface="微软雅黑"/>
                  <a:cs typeface="微软雅黑"/>
                </a:rPr>
                <a:t>创新环保技术研发投入</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年营收的</a:t>
              </a:r>
              <a:r>
                <a:rPr lang="en-US" altLang="zh-CN" sz="1000">
                  <a:solidFill>
                    <a:srgbClr val="383838"/>
                  </a:solidFill>
                  <a:latin typeface="微软雅黑"/>
                  <a:ea typeface="微软雅黑"/>
                  <a:cs typeface="微软雅黑"/>
                </a:rPr>
                <a:t>5%</a:t>
              </a:r>
              <a:r>
                <a:rPr lang="zh-CN" altLang="en-US" sz="1000">
                  <a:solidFill>
                    <a:srgbClr val="383838"/>
                  </a:solidFill>
                  <a:latin typeface="微软雅黑"/>
                  <a:ea typeface="微软雅黑"/>
                  <a:cs typeface="微软雅黑"/>
                </a:rPr>
                <a:t>（示例：宁德时代）</a:t>
              </a:r>
              <a:endParaRPr lang="zh-CN" altLang="en-US" sz="1000">
                <a:solidFill>
                  <a:srgbClr val="383838"/>
                </a:solidFill>
                <a:latin typeface="微软雅黑"/>
                <a:ea typeface="微软雅黑"/>
                <a:cs typeface="微软雅黑"/>
              </a:endParaRPr>
            </a:p>
          </p:txBody>
        </p:sp>
        <p:cxnSp>
          <p:nvCxnSpPr>
            <p:cNvPr id="736" name="直接连接符 735"/>
            <p:cNvCxnSpPr/>
            <p:nvPr/>
          </p:nvCxnSpPr>
          <p:spPr>
            <a:xfrm>
              <a:off x="15004" y="3340"/>
              <a:ext cx="3118" cy="0"/>
            </a:xfrm>
            <a:prstGeom prst="line">
              <a:avLst/>
            </a:prstGeom>
            <a:ln>
              <a:solidFill>
                <a:srgbClr val="383838">
                  <a:alpha val="70000"/>
                </a:srgbClr>
              </a:solidFill>
              <a:prstDash val="sysDash"/>
            </a:ln>
          </p:spPr>
          <p:style>
            <a:lnRef idx="2">
              <a:srgbClr val="0042FF"/>
            </a:lnRef>
            <a:fillRef idx="0">
              <a:srgbClr val="FFFFFF"/>
            </a:fillRef>
            <a:effectRef idx="0">
              <a:srgbClr val="FFFFFF"/>
            </a:effectRef>
            <a:fontRef idx="minor">
              <a:srgbClr val="383838"/>
            </a:fontRef>
          </p:style>
        </p:cxnSp>
        <p:sp>
          <p:nvSpPr>
            <p:cNvPr id="737" name="文本框 736"/>
            <p:cNvSpPr txBox="1"/>
            <p:nvPr/>
          </p:nvSpPr>
          <p:spPr>
            <a:xfrm>
              <a:off x="14873" y="3449"/>
              <a:ext cx="3353" cy="628"/>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减排量：</a:t>
              </a:r>
              <a:r>
                <a:rPr lang="zh-CN" altLang="en-US" sz="1000">
                  <a:solidFill>
                    <a:srgbClr val="383838"/>
                  </a:solidFill>
                  <a:latin typeface="微软雅黑"/>
                  <a:ea typeface="微软雅黑"/>
                  <a:cs typeface="微软雅黑"/>
                </a:rPr>
                <a:t>钢铁</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化工行业污染物排放强度降低</a:t>
              </a:r>
              <a:r>
                <a:rPr lang="en-US" altLang="zh-CN" sz="1000">
                  <a:solidFill>
                    <a:srgbClr val="383838"/>
                  </a:solidFill>
                  <a:latin typeface="微软雅黑"/>
                  <a:ea typeface="微软雅黑"/>
                  <a:cs typeface="微软雅黑"/>
                </a:rPr>
                <a:t>40%</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grpSp>
      <p:grpSp>
        <p:nvGrpSpPr>
          <p:cNvPr id="754" name="组合 753"/>
          <p:cNvGrpSpPr/>
          <p:nvPr/>
        </p:nvGrpSpPr>
        <p:grpSpPr>
          <a:xfrm>
            <a:off x="6918325" y="2840990"/>
            <a:ext cx="4830445" cy="1788795"/>
            <a:chOff x="10895" y="1537"/>
            <a:chExt cx="7607" cy="2817"/>
          </a:xfrm>
        </p:grpSpPr>
        <p:sp>
          <p:nvSpPr>
            <p:cNvPr id="755" name="矩形 754"/>
            <p:cNvSpPr/>
            <p:nvPr/>
          </p:nvSpPr>
          <p:spPr>
            <a:xfrm>
              <a:off x="10895" y="1537"/>
              <a:ext cx="7607" cy="2809"/>
            </a:xfrm>
            <a:prstGeom prst="rect">
              <a:avLst/>
            </a:prstGeom>
            <a:solidFill>
              <a:srgbClr val="3368FF">
                <a:alpha val="5000"/>
              </a:srgbClr>
            </a:solidFill>
            <a:ln w="19050" cap="flat" cmpd="sng" algn="ctr">
              <a:noFill/>
              <a:prstDash val="solid"/>
              <a:miter lim="800000"/>
            </a:ln>
            <a:effectLst/>
          </p:spPr>
          <p:txBody>
            <a:bodyPr rtlCol="0" anchor="ctr"/>
            <a:p>
              <a:pPr algn="ctr">
                <a:defRPr>
                  <a:latin typeface="微软雅黑"/>
                  <a:ea typeface="微软雅黑"/>
                  <a:cs typeface="微软雅黑"/>
                </a:defRPr>
              </a:pPr>
              <a:endParaRPr lang="en-US" sz="1400" dirty="0">
                <a:solidFill>
                  <a:srgbClr val="383838"/>
                </a:solidFill>
                <a:latin typeface="微软雅黑"/>
                <a:cs typeface="微软雅黑"/>
                <a:ea typeface="微软雅黑"/>
              </a:endParaRPr>
            </a:p>
          </p:txBody>
        </p:sp>
        <p:sp>
          <p:nvSpPr>
            <p:cNvPr id="756" name="矩形 755"/>
            <p:cNvSpPr/>
            <p:nvPr/>
          </p:nvSpPr>
          <p:spPr>
            <a:xfrm>
              <a:off x="18414" y="1545"/>
              <a:ext cx="88" cy="2809"/>
            </a:xfrm>
            <a:prstGeom prst="rect">
              <a:avLst/>
            </a:prstGeom>
            <a:gradFill flip="none" rotWithShape="1">
              <a:gsLst>
                <a:gs pos="0">
                  <a:srgbClr val="3368FF"/>
                </a:gs>
                <a:gs pos="100000">
                  <a:srgbClr val="668EFF"/>
                </a:gs>
              </a:gsLst>
              <a:lin ang="16200000" scaled="1"/>
              <a:tileRect/>
            </a:gradFill>
            <a:ln w="19050" cap="flat" cmpd="sng" algn="ctr">
              <a:noFill/>
              <a:prstDash val="solid"/>
              <a:miter lim="800000"/>
            </a:ln>
            <a:effectLst/>
          </p:spPr>
          <p:txBody>
            <a:bodyPr rtlCol="0" anchor="ctr" lIns="0" rIns="0" tIns="0" bIns="0"/>
            <a:p>
              <a:pPr algn="ctr">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759" name="文本框 758"/>
            <p:cNvSpPr txBox="1"/>
            <p:nvPr/>
          </p:nvSpPr>
          <p:spPr>
            <a:xfrm>
              <a:off x="11248" y="3193"/>
              <a:ext cx="1252" cy="434"/>
            </a:xfrm>
            <a:prstGeom prst="rect">
              <a:avLst/>
            </a:prstGeom>
            <a:noFill/>
          </p:spPr>
          <p:txBody>
            <a:bodyPr wrap="none">
              <a:spAutoFit/>
            </a:bodyPr>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社会维度</a:t>
              </a:r>
              <a:endParaRPr lang="zh-CN" altLang="en-US" sz="1200" b="1" dirty="0">
                <a:solidFill>
                  <a:srgbClr val="0042FF"/>
                </a:solidFill>
                <a:latin typeface="微软雅黑"/>
                <a:ea typeface="微软雅黑"/>
                <a:cs typeface="微软雅黑"/>
              </a:endParaRPr>
            </a:p>
          </p:txBody>
        </p:sp>
        <p:cxnSp>
          <p:nvCxnSpPr>
            <p:cNvPr id="760" name="直接连接符 759"/>
            <p:cNvCxnSpPr/>
            <p:nvPr/>
          </p:nvCxnSpPr>
          <p:spPr>
            <a:xfrm>
              <a:off x="12602" y="2106"/>
              <a:ext cx="0" cy="1584"/>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761" name="文本框 760"/>
            <p:cNvSpPr txBox="1"/>
            <p:nvPr/>
          </p:nvSpPr>
          <p:spPr>
            <a:xfrm>
              <a:off x="12686" y="2166"/>
              <a:ext cx="1517"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b="1">
                  <a:solidFill>
                    <a:srgbClr val="383838"/>
                  </a:solidFill>
                  <a:latin typeface="微软雅黑"/>
                  <a:ea typeface="微软雅黑"/>
                  <a:cs typeface="微软雅黑"/>
                </a:rPr>
                <a:t>绿色就业计划</a:t>
              </a:r>
              <a:endParaRPr lang="zh-CN" altLang="en-US" sz="1000" b="1">
                <a:solidFill>
                  <a:srgbClr val="383838"/>
                </a:solidFill>
                <a:latin typeface="微软雅黑"/>
                <a:ea typeface="微软雅黑"/>
                <a:cs typeface="微软雅黑"/>
              </a:endParaRPr>
            </a:p>
          </p:txBody>
        </p:sp>
        <p:sp>
          <p:nvSpPr>
            <p:cNvPr id="762" name="文本框 761"/>
            <p:cNvSpPr txBox="1"/>
            <p:nvPr/>
          </p:nvSpPr>
          <p:spPr>
            <a:xfrm>
              <a:off x="12687" y="2577"/>
              <a:ext cx="1516" cy="1355"/>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构建绿色就业机制，带动低碳产业链新增就业</a:t>
              </a:r>
              <a:endParaRPr lang="zh-CN" altLang="en-US" sz="1000">
                <a:solidFill>
                  <a:srgbClr val="383838"/>
                </a:solidFill>
                <a:latin typeface="微软雅黑"/>
                <a:ea typeface="微软雅黑"/>
                <a:cs typeface="微软雅黑"/>
              </a:endParaRPr>
            </a:p>
            <a:p>
              <a:pPr>
                <a:defRPr>
                  <a:latin typeface="微软雅黑"/>
                  <a:ea typeface="微软雅黑"/>
                  <a:cs typeface="微软雅黑"/>
                </a:defRPr>
              </a:pPr>
              <a:r>
                <a:rPr lang="en-US" altLang="zh-CN" sz="1000" b="1">
                  <a:solidFill>
                    <a:srgbClr val="0042FF"/>
                  </a:solidFill>
                  <a:latin typeface="微软雅黑"/>
                  <a:ea typeface="微软雅黑"/>
                  <a:cs typeface="微软雅黑"/>
                </a:rPr>
                <a:t>+120</a:t>
              </a:r>
              <a:r>
                <a:rPr lang="zh-CN" altLang="en-US" sz="1000" b="1">
                  <a:solidFill>
                    <a:srgbClr val="0042FF"/>
                  </a:solidFill>
                  <a:latin typeface="微软雅黑"/>
                  <a:ea typeface="微软雅黑"/>
                  <a:cs typeface="微软雅黑"/>
                </a:rPr>
                <a:t>万人</a:t>
              </a:r>
              <a:endParaRPr lang="en-US" altLang="zh-CN" sz="1000" b="1">
                <a:solidFill>
                  <a:srgbClr val="0042FF"/>
                </a:solidFill>
                <a:latin typeface="微软雅黑"/>
                <a:ea typeface="微软雅黑"/>
                <a:cs typeface="微软雅黑"/>
              </a:endParaRPr>
            </a:p>
          </p:txBody>
        </p:sp>
        <p:sp>
          <p:nvSpPr>
            <p:cNvPr id="763" name="文本框 762"/>
            <p:cNvSpPr txBox="1"/>
            <p:nvPr/>
          </p:nvSpPr>
          <p:spPr>
            <a:xfrm>
              <a:off x="14873" y="1919"/>
              <a:ext cx="3403" cy="628"/>
            </a:xfrm>
            <a:prstGeom prst="rect">
              <a:avLst/>
            </a:prstGeom>
            <a:noFill/>
          </p:spPr>
          <p:txBody>
            <a:bodyPr wrap="square" rtlCol="0" lIns="0" rIns="0" tIns="0" bIns="0">
              <a:spAutoFit/>
            </a:bodyPr>
            <a:p>
              <a:pPr marL="228600" indent="-22860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就业规模：</a:t>
              </a:r>
              <a:r>
                <a:rPr lang="zh-CN" altLang="en-US" sz="1000">
                  <a:solidFill>
                    <a:srgbClr val="383838"/>
                  </a:solidFill>
                  <a:latin typeface="微软雅黑"/>
                  <a:ea typeface="微软雅黑"/>
                  <a:cs typeface="微软雅黑"/>
                </a:rPr>
                <a:t>新能源车</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光伏供应链新增岗位</a:t>
              </a:r>
              <a:r>
                <a:rPr lang="en-US" altLang="zh-CN" sz="1000">
                  <a:solidFill>
                    <a:srgbClr val="383838"/>
                  </a:solidFill>
                  <a:latin typeface="微软雅黑"/>
                  <a:ea typeface="微软雅黑"/>
                  <a:cs typeface="微软雅黑"/>
                </a:rPr>
                <a:t>80</a:t>
              </a:r>
              <a:r>
                <a:rPr lang="zh-CN" altLang="en-US" sz="1000">
                  <a:solidFill>
                    <a:srgbClr val="383838"/>
                  </a:solidFill>
                  <a:latin typeface="微软雅黑"/>
                  <a:ea typeface="微软雅黑"/>
                  <a:cs typeface="微软雅黑"/>
                </a:rPr>
                <a:t>万；</a:t>
              </a:r>
              <a:endParaRPr lang="zh-CN" altLang="en-US" sz="1000">
                <a:solidFill>
                  <a:srgbClr val="383838"/>
                </a:solidFill>
                <a:latin typeface="微软雅黑"/>
                <a:ea typeface="微软雅黑"/>
                <a:cs typeface="微软雅黑"/>
              </a:endParaRPr>
            </a:p>
          </p:txBody>
        </p:sp>
        <p:sp>
          <p:nvSpPr>
            <p:cNvPr id="764" name="紫荆的职场Point99-4"/>
            <p:cNvSpPr/>
            <p:nvPr/>
          </p:nvSpPr>
          <p:spPr>
            <a:xfrm rot="5400000" flipH="1">
              <a:off x="14180" y="2532"/>
              <a:ext cx="565" cy="641"/>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cxnSp>
          <p:nvCxnSpPr>
            <p:cNvPr id="765" name="直接连接符 764"/>
            <p:cNvCxnSpPr/>
            <p:nvPr/>
          </p:nvCxnSpPr>
          <p:spPr>
            <a:xfrm>
              <a:off x="15004" y="2571"/>
              <a:ext cx="3118" cy="0"/>
            </a:xfrm>
            <a:prstGeom prst="line">
              <a:avLst/>
            </a:prstGeom>
            <a:ln>
              <a:solidFill>
                <a:srgbClr val="383838">
                  <a:alpha val="70000"/>
                </a:srgbClr>
              </a:solidFill>
              <a:prstDash val="sysDash"/>
            </a:ln>
          </p:spPr>
          <p:style>
            <a:lnRef idx="2">
              <a:srgbClr val="0042FF"/>
            </a:lnRef>
            <a:fillRef idx="0">
              <a:srgbClr val="FFFFFF"/>
            </a:fillRef>
            <a:effectRef idx="0">
              <a:srgbClr val="FFFFFF"/>
            </a:effectRef>
            <a:fontRef idx="minor">
              <a:srgbClr val="383838"/>
            </a:fontRef>
          </p:style>
        </p:cxnSp>
        <p:sp>
          <p:nvSpPr>
            <p:cNvPr id="766" name="文本框 765"/>
            <p:cNvSpPr txBox="1"/>
            <p:nvPr/>
          </p:nvSpPr>
          <p:spPr>
            <a:xfrm>
              <a:off x="14873" y="2684"/>
              <a:ext cx="3353" cy="628"/>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社区覆盖：</a:t>
              </a:r>
              <a:r>
                <a:rPr lang="zh-CN" altLang="en-US" sz="1000">
                  <a:solidFill>
                    <a:srgbClr val="383838"/>
                  </a:solidFill>
                  <a:latin typeface="微软雅黑"/>
                  <a:ea typeface="微软雅黑"/>
                  <a:cs typeface="微软雅黑"/>
                </a:rPr>
                <a:t>建立</a:t>
              </a:r>
              <a:r>
                <a:rPr lang="en-US" altLang="zh-CN" sz="1000">
                  <a:solidFill>
                    <a:srgbClr val="383838"/>
                  </a:solidFill>
                  <a:latin typeface="微软雅黑"/>
                  <a:ea typeface="微软雅黑"/>
                  <a:cs typeface="微软雅黑"/>
                </a:rPr>
                <a:t>200</a:t>
              </a:r>
              <a:r>
                <a:rPr lang="zh-CN" altLang="en-US" sz="1000">
                  <a:solidFill>
                    <a:srgbClr val="383838"/>
                  </a:solidFill>
                  <a:latin typeface="微软雅黑"/>
                  <a:ea typeface="微软雅黑"/>
                  <a:cs typeface="微软雅黑"/>
                </a:rPr>
                <a:t>个零碳示范社区（</a:t>
              </a:r>
              <a:r>
                <a:rPr lang="en-US" altLang="zh-CN" sz="1000">
                  <a:solidFill>
                    <a:srgbClr val="383838"/>
                  </a:solidFill>
                  <a:latin typeface="微软雅黑"/>
                  <a:ea typeface="微软雅黑"/>
                  <a:cs typeface="微软雅黑"/>
                </a:rPr>
                <a:t>2025</a:t>
              </a:r>
              <a:r>
                <a:rPr lang="zh-CN" altLang="en-US" sz="1000">
                  <a:solidFill>
                    <a:srgbClr val="383838"/>
                  </a:solidFill>
                  <a:latin typeface="微软雅黑"/>
                  <a:ea typeface="微软雅黑"/>
                  <a:cs typeface="微软雅黑"/>
                </a:rPr>
                <a:t>年试点：</a:t>
              </a:r>
              <a:r>
                <a:rPr lang="en-US" altLang="zh-CN" sz="1000">
                  <a:solidFill>
                    <a:srgbClr val="383838"/>
                  </a:solidFill>
                  <a:latin typeface="微软雅黑"/>
                  <a:ea typeface="微软雅黑"/>
                  <a:cs typeface="微软雅黑"/>
                </a:rPr>
                <a:t>20</a:t>
              </a:r>
              <a:r>
                <a:rPr lang="zh-CN" altLang="en-US" sz="1000">
                  <a:solidFill>
                    <a:srgbClr val="383838"/>
                  </a:solidFill>
                  <a:latin typeface="微软雅黑"/>
                  <a:ea typeface="微软雅黑"/>
                  <a:cs typeface="微软雅黑"/>
                </a:rPr>
                <a:t>个）</a:t>
              </a:r>
              <a:endParaRPr lang="zh-CN" altLang="en-US" sz="1000">
                <a:solidFill>
                  <a:srgbClr val="383838"/>
                </a:solidFill>
                <a:latin typeface="微软雅黑"/>
                <a:ea typeface="微软雅黑"/>
                <a:cs typeface="微软雅黑"/>
              </a:endParaRPr>
            </a:p>
          </p:txBody>
        </p:sp>
        <p:cxnSp>
          <p:nvCxnSpPr>
            <p:cNvPr id="767" name="直接连接符 766"/>
            <p:cNvCxnSpPr/>
            <p:nvPr/>
          </p:nvCxnSpPr>
          <p:spPr>
            <a:xfrm>
              <a:off x="15004" y="3340"/>
              <a:ext cx="3118" cy="0"/>
            </a:xfrm>
            <a:prstGeom prst="line">
              <a:avLst/>
            </a:prstGeom>
            <a:ln>
              <a:solidFill>
                <a:srgbClr val="383838">
                  <a:alpha val="70000"/>
                </a:srgbClr>
              </a:solidFill>
              <a:prstDash val="sysDash"/>
            </a:ln>
          </p:spPr>
          <p:style>
            <a:lnRef idx="2">
              <a:srgbClr val="0042FF"/>
            </a:lnRef>
            <a:fillRef idx="0">
              <a:srgbClr val="FFFFFF"/>
            </a:fillRef>
            <a:effectRef idx="0">
              <a:srgbClr val="FFFFFF"/>
            </a:effectRef>
            <a:fontRef idx="minor">
              <a:srgbClr val="383838"/>
            </a:fontRef>
          </p:style>
        </p:cxnSp>
        <p:sp>
          <p:nvSpPr>
            <p:cNvPr id="768" name="文本框 767"/>
            <p:cNvSpPr txBox="1"/>
            <p:nvPr/>
          </p:nvSpPr>
          <p:spPr>
            <a:xfrm>
              <a:off x="14873" y="3457"/>
              <a:ext cx="3353" cy="628"/>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公平性指标：</a:t>
              </a:r>
              <a:r>
                <a:rPr lang="zh-CN" altLang="en-US" sz="1000">
                  <a:solidFill>
                    <a:srgbClr val="383838"/>
                  </a:solidFill>
                  <a:latin typeface="微软雅黑"/>
                  <a:ea typeface="微软雅黑"/>
                  <a:cs typeface="微软雅黑"/>
                </a:rPr>
                <a:t>女性在绿色技术岗位占比提升至</a:t>
              </a:r>
              <a:r>
                <a:rPr lang="en-US" altLang="zh-CN" sz="1000">
                  <a:solidFill>
                    <a:srgbClr val="383838"/>
                  </a:solidFill>
                  <a:latin typeface="微软雅黑"/>
                  <a:ea typeface="微软雅黑"/>
                  <a:cs typeface="微软雅黑"/>
                </a:rPr>
                <a:t>35%</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grpSp>
      <p:pic>
        <p:nvPicPr>
          <p:cNvPr id="769" name="图片 768" descr="社会 (1)"/>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265670" y="3289935"/>
            <a:ext cx="578485" cy="565150"/>
          </a:xfrm>
          <a:prstGeom prst="rect">
            <a:avLst/>
          </a:prstGeom>
        </p:spPr>
      </p:pic>
      <p:grpSp>
        <p:nvGrpSpPr>
          <p:cNvPr id="770" name="组合 769"/>
          <p:cNvGrpSpPr/>
          <p:nvPr/>
        </p:nvGrpSpPr>
        <p:grpSpPr>
          <a:xfrm>
            <a:off x="6918325" y="4733290"/>
            <a:ext cx="4830445" cy="1788795"/>
            <a:chOff x="10895" y="1537"/>
            <a:chExt cx="7607" cy="2817"/>
          </a:xfrm>
        </p:grpSpPr>
        <p:sp>
          <p:nvSpPr>
            <p:cNvPr id="771" name="矩形 770"/>
            <p:cNvSpPr/>
            <p:nvPr/>
          </p:nvSpPr>
          <p:spPr>
            <a:xfrm>
              <a:off x="10895" y="1537"/>
              <a:ext cx="7607" cy="2809"/>
            </a:xfrm>
            <a:prstGeom prst="rect">
              <a:avLst/>
            </a:prstGeom>
            <a:solidFill>
              <a:srgbClr val="3368FF">
                <a:alpha val="5000"/>
              </a:srgbClr>
            </a:solidFill>
            <a:ln w="19050" cap="flat" cmpd="sng" algn="ctr">
              <a:noFill/>
              <a:prstDash val="solid"/>
              <a:miter lim="800000"/>
            </a:ln>
            <a:effectLst/>
          </p:spPr>
          <p:txBody>
            <a:bodyPr rtlCol="0" anchor="ctr"/>
            <a:p>
              <a:pPr algn="ctr">
                <a:defRPr>
                  <a:latin typeface="微软雅黑"/>
                  <a:ea typeface="微软雅黑"/>
                  <a:cs typeface="微软雅黑"/>
                </a:defRPr>
              </a:pPr>
              <a:endParaRPr lang="en-US" sz="1400" dirty="0">
                <a:solidFill>
                  <a:srgbClr val="383838"/>
                </a:solidFill>
                <a:latin typeface="微软雅黑"/>
                <a:cs typeface="微软雅黑"/>
                <a:ea typeface="微软雅黑"/>
              </a:endParaRPr>
            </a:p>
          </p:txBody>
        </p:sp>
        <p:sp>
          <p:nvSpPr>
            <p:cNvPr id="772" name="矩形 771"/>
            <p:cNvSpPr/>
            <p:nvPr/>
          </p:nvSpPr>
          <p:spPr>
            <a:xfrm>
              <a:off x="18414" y="1545"/>
              <a:ext cx="88" cy="2809"/>
            </a:xfrm>
            <a:prstGeom prst="rect">
              <a:avLst/>
            </a:prstGeom>
            <a:gradFill flip="none" rotWithShape="1">
              <a:gsLst>
                <a:gs pos="0">
                  <a:srgbClr val="3368FF"/>
                </a:gs>
                <a:gs pos="100000">
                  <a:srgbClr val="668EFF"/>
                </a:gs>
              </a:gsLst>
              <a:lin ang="16200000" scaled="1"/>
              <a:tileRect/>
            </a:gradFill>
            <a:ln w="19050" cap="flat" cmpd="sng" algn="ctr">
              <a:noFill/>
              <a:prstDash val="solid"/>
              <a:miter lim="800000"/>
            </a:ln>
            <a:effectLst/>
          </p:spPr>
          <p:txBody>
            <a:bodyPr rtlCol="0" anchor="ctr" lIns="0" rIns="0" tIns="0" bIns="0"/>
            <a:p>
              <a:pPr algn="ctr">
                <a:defRPr>
                  <a:solidFill>
                    <a:srgbClr val="FFFFFF"/>
                  </a:solidFill>
                  <a:latin typeface="微软雅黑"/>
                  <a:ea typeface="微软雅黑"/>
                  <a:cs typeface="微软雅黑"/>
                </a:defRPr>
              </a:pPr>
              <a:endParaRPr lang="en-US" sz="1000" dirty="0">
                <a:solidFill>
                  <a:srgbClr val="FFFFFF"/>
                </a:solidFill>
                <a:latin typeface="微软雅黑"/>
                <a:ea typeface="微软雅黑"/>
                <a:cs typeface="微软雅黑"/>
              </a:endParaRPr>
            </a:p>
          </p:txBody>
        </p:sp>
        <p:sp>
          <p:nvSpPr>
            <p:cNvPr id="773" name="文本框 772"/>
            <p:cNvSpPr txBox="1"/>
            <p:nvPr/>
          </p:nvSpPr>
          <p:spPr>
            <a:xfrm>
              <a:off x="11251" y="3193"/>
              <a:ext cx="1252" cy="434"/>
            </a:xfrm>
            <a:prstGeom prst="rect">
              <a:avLst/>
            </a:prstGeom>
            <a:noFill/>
          </p:spPr>
          <p:txBody>
            <a:bodyPr wrap="none">
              <a:spAutoFit/>
            </a:bodyPr>
            <a:p>
              <a:pPr algn="ctr">
                <a:defRPr>
                  <a:latin typeface="微软雅黑"/>
                  <a:ea typeface="微软雅黑"/>
                  <a:cs typeface="微软雅黑"/>
                </a:defRPr>
              </a:pPr>
              <a:r>
                <a:rPr lang="zh-CN" altLang="en-US" sz="1200" b="1" dirty="0">
                  <a:solidFill>
                    <a:srgbClr val="0042FF"/>
                  </a:solidFill>
                  <a:latin typeface="微软雅黑"/>
                  <a:ea typeface="微软雅黑"/>
                  <a:cs typeface="微软雅黑"/>
                </a:rPr>
                <a:t>治理维度</a:t>
              </a:r>
              <a:endParaRPr lang="zh-CN" altLang="en-US" sz="1200" b="1" dirty="0">
                <a:solidFill>
                  <a:srgbClr val="0042FF"/>
                </a:solidFill>
                <a:latin typeface="微软雅黑"/>
                <a:ea typeface="微软雅黑"/>
                <a:cs typeface="微软雅黑"/>
              </a:endParaRPr>
            </a:p>
          </p:txBody>
        </p:sp>
        <p:cxnSp>
          <p:nvCxnSpPr>
            <p:cNvPr id="774" name="直接连接符 773"/>
            <p:cNvCxnSpPr/>
            <p:nvPr/>
          </p:nvCxnSpPr>
          <p:spPr>
            <a:xfrm>
              <a:off x="12602" y="2106"/>
              <a:ext cx="0" cy="1584"/>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775" name="文本框 774"/>
            <p:cNvSpPr txBox="1"/>
            <p:nvPr/>
          </p:nvSpPr>
          <p:spPr>
            <a:xfrm>
              <a:off x="12686" y="2166"/>
              <a:ext cx="1898" cy="386"/>
            </a:xfrm>
            <a:prstGeom prst="rect">
              <a:avLst/>
            </a:prstGeom>
            <a:noFill/>
          </p:spPr>
          <p:txBody>
            <a:bodyPr wrap="square" rtlCol="0" lIns="0" rIns="0" tIns="0" bIns="0">
              <a:spAutoFit/>
            </a:bodyPr>
            <a:p>
              <a:pPr>
                <a:defRPr>
                  <a:latin typeface="微软雅黑"/>
                  <a:ea typeface="微软雅黑"/>
                  <a:cs typeface="微软雅黑"/>
                </a:defRPr>
              </a:pPr>
              <a:r>
                <a:rPr lang="zh-CN" altLang="en-US" sz="1000" b="1">
                  <a:solidFill>
                    <a:srgbClr val="383838"/>
                  </a:solidFill>
                  <a:latin typeface="微软雅黑"/>
                  <a:ea typeface="微软雅黑"/>
                  <a:cs typeface="微软雅黑"/>
                </a:rPr>
                <a:t>碳透明披露机制</a:t>
              </a:r>
              <a:endParaRPr lang="zh-CN" altLang="en-US" sz="1000" b="1">
                <a:solidFill>
                  <a:srgbClr val="383838"/>
                </a:solidFill>
                <a:latin typeface="微软雅黑"/>
                <a:ea typeface="微软雅黑"/>
                <a:cs typeface="微软雅黑"/>
              </a:endParaRPr>
            </a:p>
          </p:txBody>
        </p:sp>
        <p:sp>
          <p:nvSpPr>
            <p:cNvPr id="776" name="文本框 775"/>
            <p:cNvSpPr txBox="1"/>
            <p:nvPr/>
          </p:nvSpPr>
          <p:spPr>
            <a:xfrm>
              <a:off x="12687" y="2577"/>
              <a:ext cx="1516" cy="1598"/>
            </a:xfrm>
            <a:prstGeom prst="rect">
              <a:avLst/>
            </a:prstGeom>
            <a:noFill/>
          </p:spPr>
          <p:txBody>
            <a:bodyPr wrap="square" rtlCol="0" lIns="0" rIns="0" tIns="0" bIns="0">
              <a:sp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治理架构升级，实现企业碳足迹</a:t>
              </a:r>
              <a:r>
                <a:rPr lang="en-US" altLang="zh-CN" sz="1000" b="1">
                  <a:solidFill>
                    <a:srgbClr val="0042FF"/>
                  </a:solidFill>
                  <a:latin typeface="微软雅黑"/>
                  <a:ea typeface="微软雅黑"/>
                  <a:cs typeface="微软雅黑"/>
                </a:rPr>
                <a:t>100%</a:t>
              </a:r>
              <a:r>
                <a:rPr lang="zh-CN" altLang="en-US" sz="1000" b="1">
                  <a:solidFill>
                    <a:srgbClr val="0042FF"/>
                  </a:solidFill>
                  <a:latin typeface="微软雅黑"/>
                  <a:ea typeface="微软雅黑"/>
                  <a:cs typeface="微软雅黑"/>
                </a:rPr>
                <a:t>可追溯</a:t>
              </a:r>
              <a:r>
                <a:rPr lang="zh-CN" altLang="en-US" sz="1000">
                  <a:solidFill>
                    <a:srgbClr val="383838"/>
                  </a:solidFill>
                  <a:latin typeface="微软雅黑"/>
                  <a:ea typeface="微软雅黑"/>
                  <a:cs typeface="微软雅黑"/>
                </a:rPr>
                <a:t>，绿证交易覆盖率</a:t>
              </a:r>
              <a:r>
                <a:rPr lang="zh-CN" altLang="en-US" sz="1000" b="1">
                  <a:solidFill>
                    <a:srgbClr val="0042FF"/>
                  </a:solidFill>
                  <a:latin typeface="微软雅黑"/>
                  <a:ea typeface="微软雅黑"/>
                  <a:cs typeface="微软雅黑"/>
                </a:rPr>
                <a:t>提升至</a:t>
              </a:r>
              <a:r>
                <a:rPr lang="en-US" altLang="zh-CN" sz="1000" b="1">
                  <a:solidFill>
                    <a:srgbClr val="0042FF"/>
                  </a:solidFill>
                  <a:latin typeface="微软雅黑"/>
                  <a:ea typeface="微软雅黑"/>
                  <a:cs typeface="微软雅黑"/>
                </a:rPr>
                <a:t>90%</a:t>
              </a:r>
              <a:r>
                <a:rPr lang="zh-CN" altLang="en-US" sz="1000" b="1">
                  <a:solidFill>
                    <a:srgbClr val="0042FF"/>
                  </a:solidFill>
                  <a:latin typeface="微软雅黑"/>
                  <a:ea typeface="微软雅黑"/>
                  <a:cs typeface="微软雅黑"/>
                </a:rPr>
                <a:t>。</a:t>
              </a:r>
              <a:endParaRPr lang="zh-CN" altLang="en-US" sz="1000" b="1">
                <a:solidFill>
                  <a:srgbClr val="0042FF"/>
                </a:solidFill>
                <a:latin typeface="微软雅黑"/>
                <a:ea typeface="微软雅黑"/>
                <a:cs typeface="微软雅黑"/>
              </a:endParaRPr>
            </a:p>
          </p:txBody>
        </p:sp>
        <p:sp>
          <p:nvSpPr>
            <p:cNvPr id="777" name="文本框 776"/>
            <p:cNvSpPr txBox="1"/>
            <p:nvPr/>
          </p:nvSpPr>
          <p:spPr>
            <a:xfrm>
              <a:off x="14873" y="1919"/>
              <a:ext cx="3403" cy="628"/>
            </a:xfrm>
            <a:prstGeom prst="rect">
              <a:avLst/>
            </a:prstGeom>
            <a:noFill/>
          </p:spPr>
          <p:txBody>
            <a:bodyPr wrap="square" rtlCol="0" lIns="0" rIns="0" tIns="0" bIns="0">
              <a:spAutoFit/>
            </a:bodyPr>
            <a:p>
              <a:pPr marL="228600" indent="-22860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监管要求：</a:t>
              </a:r>
              <a:r>
                <a:rPr lang="en-US" altLang="zh-CN" sz="1000">
                  <a:solidFill>
                    <a:srgbClr val="383838"/>
                  </a:solidFill>
                  <a:latin typeface="微软雅黑"/>
                  <a:ea typeface="微软雅黑"/>
                  <a:cs typeface="微软雅黑"/>
                </a:rPr>
                <a:t>2026</a:t>
              </a:r>
              <a:r>
                <a:rPr lang="zh-CN" altLang="en-US" sz="1000">
                  <a:solidFill>
                    <a:srgbClr val="383838"/>
                  </a:solidFill>
                  <a:latin typeface="微软雅黑"/>
                  <a:ea typeface="微软雅黑"/>
                  <a:cs typeface="微软雅黑"/>
                </a:rPr>
                <a:t>年起上市公司</a:t>
              </a:r>
              <a:r>
                <a:rPr lang="en-US" altLang="zh-CN" sz="1000">
                  <a:solidFill>
                    <a:srgbClr val="383838"/>
                  </a:solidFill>
                  <a:latin typeface="微软雅黑"/>
                  <a:ea typeface="微软雅黑"/>
                  <a:cs typeface="微软雅黑"/>
                </a:rPr>
                <a:t>Scope 1-3</a:t>
              </a:r>
              <a:r>
                <a:rPr lang="zh-CN" altLang="en-US" sz="1000">
                  <a:solidFill>
                    <a:srgbClr val="383838"/>
                  </a:solidFill>
                  <a:latin typeface="微软雅黑"/>
                  <a:ea typeface="微软雅黑"/>
                  <a:cs typeface="微软雅黑"/>
                </a:rPr>
                <a:t>碳排放强制披露；</a:t>
              </a:r>
              <a:endParaRPr lang="zh-CN" altLang="en-US" sz="1000">
                <a:solidFill>
                  <a:srgbClr val="383838"/>
                </a:solidFill>
                <a:latin typeface="微软雅黑"/>
                <a:ea typeface="微软雅黑"/>
                <a:cs typeface="微软雅黑"/>
              </a:endParaRPr>
            </a:p>
          </p:txBody>
        </p:sp>
        <p:sp>
          <p:nvSpPr>
            <p:cNvPr id="778" name="紫荆的职场Point99-4"/>
            <p:cNvSpPr/>
            <p:nvPr/>
          </p:nvSpPr>
          <p:spPr>
            <a:xfrm rot="5400000" flipH="1">
              <a:off x="14180" y="2532"/>
              <a:ext cx="565" cy="641"/>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cxnSp>
          <p:nvCxnSpPr>
            <p:cNvPr id="779" name="直接连接符 778"/>
            <p:cNvCxnSpPr/>
            <p:nvPr/>
          </p:nvCxnSpPr>
          <p:spPr>
            <a:xfrm>
              <a:off x="15004" y="2571"/>
              <a:ext cx="3118" cy="0"/>
            </a:xfrm>
            <a:prstGeom prst="line">
              <a:avLst/>
            </a:prstGeom>
            <a:ln>
              <a:solidFill>
                <a:srgbClr val="383838">
                  <a:alpha val="70000"/>
                </a:srgbClr>
              </a:solidFill>
              <a:prstDash val="sysDash"/>
            </a:ln>
          </p:spPr>
          <p:style>
            <a:lnRef idx="2">
              <a:srgbClr val="0042FF"/>
            </a:lnRef>
            <a:fillRef idx="0">
              <a:srgbClr val="FFFFFF"/>
            </a:fillRef>
            <a:effectRef idx="0">
              <a:srgbClr val="FFFFFF"/>
            </a:effectRef>
            <a:fontRef idx="minor">
              <a:srgbClr val="383838"/>
            </a:fontRef>
          </p:style>
        </p:cxnSp>
        <p:sp>
          <p:nvSpPr>
            <p:cNvPr id="780" name="文本框 779"/>
            <p:cNvSpPr txBox="1"/>
            <p:nvPr/>
          </p:nvSpPr>
          <p:spPr>
            <a:xfrm>
              <a:off x="14873" y="2684"/>
              <a:ext cx="3353" cy="628"/>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技术支撑：</a:t>
              </a:r>
              <a:r>
                <a:rPr lang="zh-CN" altLang="en-US" sz="1000">
                  <a:solidFill>
                    <a:srgbClr val="383838"/>
                  </a:solidFill>
                  <a:latin typeface="微软雅黑"/>
                  <a:ea typeface="微软雅黑"/>
                  <a:cs typeface="微软雅黑"/>
                </a:rPr>
                <a:t>区块链碳账本覆盖</a:t>
              </a:r>
              <a:r>
                <a:rPr lang="en-US" altLang="zh-CN" sz="1000">
                  <a:solidFill>
                    <a:srgbClr val="383838"/>
                  </a:solidFill>
                  <a:latin typeface="微软雅黑"/>
                  <a:ea typeface="微软雅黑"/>
                  <a:cs typeface="微软雅黑"/>
                </a:rPr>
                <a:t>80%</a:t>
              </a:r>
              <a:r>
                <a:rPr lang="zh-CN" altLang="en-US" sz="1000">
                  <a:solidFill>
                    <a:srgbClr val="383838"/>
                  </a:solidFill>
                  <a:latin typeface="微软雅黑"/>
                  <a:ea typeface="微软雅黑"/>
                  <a:cs typeface="微软雅黑"/>
                </a:rPr>
                <a:t>供应链节点；</a:t>
              </a:r>
              <a:endParaRPr lang="zh-CN" altLang="en-US" sz="1000">
                <a:solidFill>
                  <a:srgbClr val="383838"/>
                </a:solidFill>
                <a:latin typeface="微软雅黑"/>
                <a:ea typeface="微软雅黑"/>
                <a:cs typeface="微软雅黑"/>
              </a:endParaRPr>
            </a:p>
          </p:txBody>
        </p:sp>
        <p:cxnSp>
          <p:nvCxnSpPr>
            <p:cNvPr id="781" name="直接连接符 780"/>
            <p:cNvCxnSpPr/>
            <p:nvPr/>
          </p:nvCxnSpPr>
          <p:spPr>
            <a:xfrm>
              <a:off x="15004" y="3340"/>
              <a:ext cx="3118" cy="0"/>
            </a:xfrm>
            <a:prstGeom prst="line">
              <a:avLst/>
            </a:prstGeom>
            <a:ln>
              <a:solidFill>
                <a:srgbClr val="383838">
                  <a:alpha val="70000"/>
                </a:srgbClr>
              </a:solidFill>
              <a:prstDash val="sysDash"/>
            </a:ln>
          </p:spPr>
          <p:style>
            <a:lnRef idx="2">
              <a:srgbClr val="0042FF"/>
            </a:lnRef>
            <a:fillRef idx="0">
              <a:srgbClr val="FFFFFF"/>
            </a:fillRef>
            <a:effectRef idx="0">
              <a:srgbClr val="FFFFFF"/>
            </a:effectRef>
            <a:fontRef idx="minor">
              <a:srgbClr val="383838"/>
            </a:fontRef>
          </p:style>
        </p:cxnSp>
        <p:sp>
          <p:nvSpPr>
            <p:cNvPr id="782" name="文本框 781"/>
            <p:cNvSpPr txBox="1"/>
            <p:nvPr/>
          </p:nvSpPr>
          <p:spPr>
            <a:xfrm>
              <a:off x="14873" y="3457"/>
              <a:ext cx="3353" cy="628"/>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b="1">
                  <a:solidFill>
                    <a:srgbClr val="383838"/>
                  </a:solidFill>
                  <a:latin typeface="微软雅黑"/>
                  <a:ea typeface="微软雅黑"/>
                  <a:cs typeface="微软雅黑"/>
                </a:rPr>
                <a:t>市场机制：</a:t>
              </a:r>
              <a:r>
                <a:rPr lang="zh-CN" altLang="en-US" sz="1000">
                  <a:solidFill>
                    <a:srgbClr val="383838"/>
                  </a:solidFill>
                  <a:latin typeface="微软雅黑"/>
                  <a:ea typeface="微软雅黑"/>
                  <a:cs typeface="微软雅黑"/>
                </a:rPr>
                <a:t>碳交易额突破</a:t>
              </a:r>
              <a:r>
                <a:rPr lang="en-US" altLang="zh-CN" sz="1000">
                  <a:solidFill>
                    <a:srgbClr val="383838"/>
                  </a:solidFill>
                  <a:latin typeface="微软雅黑"/>
                  <a:ea typeface="微软雅黑"/>
                  <a:cs typeface="微软雅黑"/>
                </a:rPr>
                <a:t>5000</a:t>
              </a:r>
              <a:r>
                <a:rPr lang="zh-CN" altLang="en-US" sz="1000">
                  <a:solidFill>
                    <a:srgbClr val="383838"/>
                  </a:solidFill>
                  <a:latin typeface="微软雅黑"/>
                  <a:ea typeface="微软雅黑"/>
                  <a:cs typeface="微软雅黑"/>
                </a:rPr>
                <a:t>亿</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年（</a:t>
              </a:r>
              <a:r>
                <a:rPr lang="en-US" altLang="zh-CN" sz="1000">
                  <a:solidFill>
                    <a:srgbClr val="383838"/>
                  </a:solidFill>
                  <a:latin typeface="微软雅黑"/>
                  <a:ea typeface="微软雅黑"/>
                  <a:cs typeface="微软雅黑"/>
                </a:rPr>
                <a:t>2023</a:t>
              </a:r>
              <a:r>
                <a:rPr lang="zh-CN" altLang="en-US" sz="1000">
                  <a:solidFill>
                    <a:srgbClr val="383838"/>
                  </a:solidFill>
                  <a:latin typeface="微软雅黑"/>
                  <a:ea typeface="微软雅黑"/>
                  <a:cs typeface="微软雅黑"/>
                </a:rPr>
                <a:t>年：</a:t>
              </a:r>
              <a:r>
                <a:rPr lang="en-US" altLang="zh-CN" sz="1000">
                  <a:solidFill>
                    <a:srgbClr val="383838"/>
                  </a:solidFill>
                  <a:latin typeface="微软雅黑"/>
                  <a:ea typeface="微软雅黑"/>
                  <a:cs typeface="微软雅黑"/>
                </a:rPr>
                <a:t>2100</a:t>
              </a:r>
              <a:r>
                <a:rPr lang="zh-CN" altLang="en-US" sz="1000">
                  <a:solidFill>
                    <a:srgbClr val="383838"/>
                  </a:solidFill>
                  <a:latin typeface="微软雅黑"/>
                  <a:ea typeface="微软雅黑"/>
                  <a:cs typeface="微软雅黑"/>
                </a:rPr>
                <a:t>亿）。</a:t>
              </a:r>
              <a:endParaRPr lang="zh-CN" altLang="en-US" sz="1000">
                <a:solidFill>
                  <a:srgbClr val="383838"/>
                </a:solidFill>
                <a:latin typeface="微软雅黑"/>
                <a:ea typeface="微软雅黑"/>
                <a:cs typeface="微软雅黑"/>
              </a:endParaRPr>
            </a:p>
          </p:txBody>
        </p:sp>
      </p:grpSp>
      <p:pic>
        <p:nvPicPr>
          <p:cNvPr id="784" name="图片 783" descr="市域治理"/>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225030" y="5203190"/>
            <a:ext cx="666115" cy="516890"/>
          </a:xfrm>
          <a:prstGeom prst="rect">
            <a:avLst/>
          </a:prstGeom>
        </p:spPr>
      </p:pic>
      <p:grpSp>
        <p:nvGrpSpPr>
          <p:cNvPr id="787" name="组合 786"/>
          <p:cNvGrpSpPr/>
          <p:nvPr/>
        </p:nvGrpSpPr>
        <p:grpSpPr>
          <a:xfrm>
            <a:off x="395605" y="2274570"/>
            <a:ext cx="868045" cy="409575"/>
            <a:chOff x="1108" y="3567"/>
            <a:chExt cx="1367" cy="645"/>
          </a:xfrm>
        </p:grpSpPr>
        <p:sp>
          <p:nvSpPr>
            <p:cNvPr id="785" name="椭圆 784"/>
            <p:cNvSpPr/>
            <p:nvPr/>
          </p:nvSpPr>
          <p:spPr>
            <a:xfrm>
              <a:off x="1108" y="3567"/>
              <a:ext cx="645" cy="645"/>
            </a:xfrm>
            <a:prstGeom prst="ellipse">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en-US" altLang="zh-CN" b="1">
                  <a:solidFill>
                    <a:srgbClr val="0042FF"/>
                  </a:solidFill>
                  <a:cs typeface="微软雅黑"/>
                  <a:latin typeface="微软雅黑"/>
                  <a:ea typeface="微软雅黑"/>
                </a:rPr>
                <a:t>G</a:t>
              </a:r>
              <a:endParaRPr lang="en-US" altLang="zh-CN" b="1">
                <a:solidFill>
                  <a:srgbClr val="0042FF"/>
                </a:solidFill>
                <a:cs typeface="微软雅黑"/>
                <a:latin typeface="微软雅黑"/>
                <a:ea typeface="微软雅黑"/>
              </a:endParaRPr>
            </a:p>
          </p:txBody>
        </p:sp>
        <p:sp>
          <p:nvSpPr>
            <p:cNvPr id="786" name="文本框 785"/>
            <p:cNvSpPr txBox="1"/>
            <p:nvPr/>
          </p:nvSpPr>
          <p:spPr>
            <a:xfrm>
              <a:off x="1741" y="3567"/>
              <a:ext cx="734" cy="628"/>
            </a:xfrm>
            <a:prstGeom prst="rect">
              <a:avLst/>
            </a:prstGeom>
            <a:noFill/>
          </p:spPr>
          <p:txBody>
            <a:bodyPr wrap="square" rtlCol="0" lIns="0" rIns="0" tIns="0" bIns="0">
              <a:spAutoFit/>
            </a:bodyPr>
            <a:p>
              <a:pPr>
                <a:defRPr>
                  <a:latin typeface="微软雅黑"/>
                  <a:ea typeface="微软雅黑"/>
                  <a:cs typeface="微软雅黑"/>
                </a:defRPr>
              </a:pPr>
              <a:r>
                <a:rPr lang="zh-CN" altLang="en-US" sz="1000" b="1">
                  <a:solidFill>
                    <a:srgbClr val="0042FF"/>
                  </a:solidFill>
                  <a:latin typeface="微软雅黑"/>
                  <a:ea typeface="微软雅黑"/>
                  <a:cs typeface="微软雅黑"/>
                </a:rPr>
                <a:t>治理维度</a:t>
              </a:r>
              <a:endParaRPr lang="zh-CN" altLang="en-US" sz="1000" b="1">
                <a:solidFill>
                  <a:srgbClr val="0042FF"/>
                </a:solidFill>
                <a:latin typeface="微软雅黑"/>
                <a:ea typeface="微软雅黑"/>
                <a:cs typeface="微软雅黑"/>
              </a:endParaRPr>
            </a:p>
          </p:txBody>
        </p:sp>
      </p:grpSp>
      <p:grpSp>
        <p:nvGrpSpPr>
          <p:cNvPr id="788" name="组合 787"/>
          <p:cNvGrpSpPr/>
          <p:nvPr/>
        </p:nvGrpSpPr>
        <p:grpSpPr>
          <a:xfrm>
            <a:off x="3917315" y="5941695"/>
            <a:ext cx="868045" cy="409575"/>
            <a:chOff x="1108" y="3567"/>
            <a:chExt cx="1367" cy="645"/>
          </a:xfrm>
        </p:grpSpPr>
        <p:sp>
          <p:nvSpPr>
            <p:cNvPr id="789" name="椭圆 788"/>
            <p:cNvSpPr/>
            <p:nvPr/>
          </p:nvSpPr>
          <p:spPr>
            <a:xfrm>
              <a:off x="1108" y="3567"/>
              <a:ext cx="645" cy="645"/>
            </a:xfrm>
            <a:prstGeom prst="ellipse">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en-US" altLang="zh-CN" b="1">
                  <a:solidFill>
                    <a:srgbClr val="0042FF"/>
                  </a:solidFill>
                  <a:cs typeface="微软雅黑"/>
                  <a:latin typeface="微软雅黑"/>
                  <a:ea typeface="微软雅黑"/>
                </a:rPr>
                <a:t>S</a:t>
              </a:r>
              <a:endParaRPr lang="en-US" altLang="zh-CN" b="1">
                <a:solidFill>
                  <a:srgbClr val="0042FF"/>
                </a:solidFill>
                <a:cs typeface="微软雅黑"/>
                <a:latin typeface="微软雅黑"/>
                <a:ea typeface="微软雅黑"/>
              </a:endParaRPr>
            </a:p>
          </p:txBody>
        </p:sp>
        <p:sp>
          <p:nvSpPr>
            <p:cNvPr id="790" name="文本框 789"/>
            <p:cNvSpPr txBox="1"/>
            <p:nvPr/>
          </p:nvSpPr>
          <p:spPr>
            <a:xfrm>
              <a:off x="1741" y="3567"/>
              <a:ext cx="734" cy="628"/>
            </a:xfrm>
            <a:prstGeom prst="rect">
              <a:avLst/>
            </a:prstGeom>
            <a:noFill/>
          </p:spPr>
          <p:txBody>
            <a:bodyPr wrap="square" rtlCol="0" lIns="0" rIns="0" tIns="0" bIns="0">
              <a:spAutoFit/>
            </a:bodyPr>
            <a:p>
              <a:pPr>
                <a:defRPr>
                  <a:latin typeface="微软雅黑"/>
                  <a:ea typeface="微软雅黑"/>
                  <a:cs typeface="微软雅黑"/>
                </a:defRPr>
              </a:pPr>
              <a:r>
                <a:rPr lang="zh-CN" altLang="en-US" sz="1000" b="1">
                  <a:solidFill>
                    <a:srgbClr val="0042FF"/>
                  </a:solidFill>
                  <a:latin typeface="微软雅黑"/>
                  <a:ea typeface="微软雅黑"/>
                  <a:cs typeface="微软雅黑"/>
                </a:rPr>
                <a:t>社会维度</a:t>
              </a:r>
              <a:endParaRPr lang="zh-CN" altLang="en-US" sz="1000" b="1">
                <a:solidFill>
                  <a:srgbClr val="0042FF"/>
                </a:solidFill>
                <a:latin typeface="微软雅黑"/>
                <a:ea typeface="微软雅黑"/>
                <a:cs typeface="微软雅黑"/>
              </a:endParaRPr>
            </a:p>
          </p:txBody>
        </p:sp>
      </p:grpSp>
      <p:grpSp>
        <p:nvGrpSpPr>
          <p:cNvPr id="791" name="组合 790"/>
          <p:cNvGrpSpPr/>
          <p:nvPr/>
        </p:nvGrpSpPr>
        <p:grpSpPr>
          <a:xfrm>
            <a:off x="4453890" y="1581150"/>
            <a:ext cx="868045" cy="409575"/>
            <a:chOff x="1108" y="3567"/>
            <a:chExt cx="1367" cy="645"/>
          </a:xfrm>
        </p:grpSpPr>
        <p:sp>
          <p:nvSpPr>
            <p:cNvPr id="792" name="椭圆 791"/>
            <p:cNvSpPr/>
            <p:nvPr/>
          </p:nvSpPr>
          <p:spPr>
            <a:xfrm>
              <a:off x="1108" y="3567"/>
              <a:ext cx="645" cy="645"/>
            </a:xfrm>
            <a:prstGeom prst="ellipse">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en-US" altLang="zh-CN" b="1">
                  <a:solidFill>
                    <a:srgbClr val="0042FF"/>
                  </a:solidFill>
                  <a:cs typeface="微软雅黑"/>
                  <a:latin typeface="微软雅黑"/>
                  <a:ea typeface="微软雅黑"/>
                </a:rPr>
                <a:t>E</a:t>
              </a:r>
              <a:endParaRPr lang="en-US" altLang="zh-CN" b="1">
                <a:solidFill>
                  <a:srgbClr val="0042FF"/>
                </a:solidFill>
                <a:cs typeface="微软雅黑"/>
                <a:latin typeface="微软雅黑"/>
                <a:ea typeface="微软雅黑"/>
              </a:endParaRPr>
            </a:p>
          </p:txBody>
        </p:sp>
        <p:sp>
          <p:nvSpPr>
            <p:cNvPr id="793" name="文本框 792"/>
            <p:cNvSpPr txBox="1"/>
            <p:nvPr/>
          </p:nvSpPr>
          <p:spPr>
            <a:xfrm>
              <a:off x="1741" y="3567"/>
              <a:ext cx="734" cy="628"/>
            </a:xfrm>
            <a:prstGeom prst="rect">
              <a:avLst/>
            </a:prstGeom>
            <a:noFill/>
          </p:spPr>
          <p:txBody>
            <a:bodyPr wrap="square" rtlCol="0" lIns="0" rIns="0" tIns="0" bIns="0">
              <a:spAutoFit/>
            </a:bodyPr>
            <a:p>
              <a:pPr>
                <a:defRPr>
                  <a:latin typeface="微软雅黑"/>
                  <a:ea typeface="微软雅黑"/>
                  <a:cs typeface="微软雅黑"/>
                </a:defRPr>
              </a:pPr>
              <a:r>
                <a:rPr lang="zh-CN" altLang="en-US" sz="1000" b="1">
                  <a:solidFill>
                    <a:srgbClr val="0042FF"/>
                  </a:solidFill>
                  <a:latin typeface="微软雅黑"/>
                  <a:ea typeface="微软雅黑"/>
                  <a:cs typeface="微软雅黑"/>
                </a:rPr>
                <a:t>环境维度</a:t>
              </a:r>
              <a:endParaRPr lang="zh-CN" altLang="en-US" sz="1000" b="1">
                <a:solidFill>
                  <a:srgbClr val="0042FF"/>
                </a:solidFill>
                <a:latin typeface="微软雅黑"/>
                <a:ea typeface="微软雅黑"/>
                <a:cs typeface="微软雅黑"/>
              </a:endParaRPr>
            </a:p>
          </p:txBody>
        </p:sp>
      </p:grpSp>
      <p:sp>
        <p:nvSpPr>
          <p:cNvPr id="794" name="文本框 793"/>
          <p:cNvSpPr txBox="1"/>
          <p:nvPr/>
        </p:nvSpPr>
        <p:spPr>
          <a:xfrm>
            <a:off x="6349365" y="3093720"/>
            <a:ext cx="349250" cy="974090"/>
          </a:xfrm>
          <a:prstGeom prst="rect">
            <a:avLst/>
          </a:prstGeom>
          <a:noFill/>
        </p:spPr>
        <p:txBody>
          <a:bodyPr wrap="square" rtlCol="0">
            <a:noAutofit/>
          </a:bodyPr>
          <a:p>
            <a:pPr>
              <a:defRPr>
                <a:latin typeface="微软雅黑"/>
                <a:ea typeface="微软雅黑"/>
                <a:cs typeface="微软雅黑"/>
              </a:defRPr>
            </a:pPr>
            <a:r>
              <a:rPr lang="zh-CN" altLang="en-US" sz="1600" b="1">
                <a:solidFill>
                  <a:srgbClr val="0042FF"/>
                </a:solidFill>
                <a:latin typeface="微软雅黑"/>
                <a:ea typeface="微软雅黑"/>
                <a:cs typeface="微软雅黑"/>
              </a:rPr>
              <a:t>战略方向</a:t>
            </a:r>
            <a:endParaRPr lang="zh-CN" altLang="en-US" sz="1600" b="1">
              <a:solidFill>
                <a:srgbClr val="0042FF"/>
              </a:solidFill>
              <a:latin typeface="微软雅黑"/>
              <a:ea typeface="微软雅黑"/>
              <a:cs typeface="微软雅黑"/>
            </a:endParaRPr>
          </a:p>
        </p:txBody>
      </p:sp>
      <p:sp>
        <p:nvSpPr>
          <p:cNvPr id="806" name="文本框 805"/>
          <p:cNvSpPr txBox="1"/>
          <p:nvPr/>
        </p:nvSpPr>
        <p:spPr>
          <a:xfrm rot="900000">
            <a:off x="3450590" y="242125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资源可持续管理</a:t>
            </a:r>
            <a:endParaRPr lang="zh-CN" altLang="en-US" sz="1000">
              <a:solidFill>
                <a:srgbClr val="FFFFFF"/>
              </a:solidFill>
              <a:latin typeface="微软雅黑"/>
              <a:ea typeface="微软雅黑"/>
              <a:cs typeface="微软雅黑"/>
            </a:endParaRPr>
          </a:p>
        </p:txBody>
      </p:sp>
      <p:sp>
        <p:nvSpPr>
          <p:cNvPr id="807" name="文本框 806"/>
          <p:cNvSpPr txBox="1"/>
          <p:nvPr/>
        </p:nvSpPr>
        <p:spPr>
          <a:xfrm rot="2040000">
            <a:off x="3930650" y="261810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能效提升与清洁能源</a:t>
            </a:r>
            <a:endParaRPr lang="zh-CN" altLang="en-US" sz="1000">
              <a:solidFill>
                <a:srgbClr val="FFFFFF"/>
              </a:solidFill>
              <a:latin typeface="微软雅黑"/>
              <a:ea typeface="微软雅黑"/>
              <a:cs typeface="微软雅黑"/>
            </a:endParaRPr>
          </a:p>
        </p:txBody>
      </p:sp>
      <p:sp>
        <p:nvSpPr>
          <p:cNvPr id="808" name="文本框 807"/>
          <p:cNvSpPr txBox="1"/>
          <p:nvPr/>
        </p:nvSpPr>
        <p:spPr>
          <a:xfrm rot="20880000">
            <a:off x="2933065" y="2468245"/>
            <a:ext cx="48895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a:solidFill>
                  <a:srgbClr val="FFFFFF"/>
                </a:solidFill>
                <a:latin typeface="微软雅黑"/>
                <a:ea typeface="微软雅黑"/>
                <a:cs typeface="微软雅黑"/>
              </a:rPr>
              <a:t>ESG</a:t>
            </a:r>
            <a:r>
              <a:rPr lang="zh-CN" altLang="en-US" sz="1000">
                <a:solidFill>
                  <a:srgbClr val="FFFFFF"/>
                </a:solidFill>
                <a:latin typeface="微软雅黑"/>
                <a:ea typeface="微软雅黑"/>
                <a:cs typeface="微软雅黑"/>
              </a:rPr>
              <a:t>管理架构</a:t>
            </a:r>
            <a:endParaRPr lang="zh-CN" altLang="en-US" sz="1000">
              <a:solidFill>
                <a:srgbClr val="FFFFFF"/>
              </a:solidFill>
              <a:latin typeface="微软雅黑"/>
              <a:ea typeface="微软雅黑"/>
              <a:cs typeface="微软雅黑"/>
            </a:endParaRPr>
          </a:p>
        </p:txBody>
      </p:sp>
      <p:sp>
        <p:nvSpPr>
          <p:cNvPr id="809" name="文本框 808"/>
          <p:cNvSpPr txBox="1"/>
          <p:nvPr/>
        </p:nvSpPr>
        <p:spPr>
          <a:xfrm rot="19620000">
            <a:off x="2472055" y="264096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激励与问责机制</a:t>
            </a:r>
            <a:endParaRPr lang="zh-CN" altLang="en-US" sz="1000">
              <a:solidFill>
                <a:srgbClr val="FFFFFF"/>
              </a:solidFill>
              <a:latin typeface="微软雅黑"/>
              <a:ea typeface="微软雅黑"/>
              <a:cs typeface="微软雅黑"/>
            </a:endParaRPr>
          </a:p>
        </p:txBody>
      </p:sp>
      <p:sp>
        <p:nvSpPr>
          <p:cNvPr id="810" name="文本框 809"/>
          <p:cNvSpPr txBox="1"/>
          <p:nvPr/>
        </p:nvSpPr>
        <p:spPr>
          <a:xfrm rot="3060000">
            <a:off x="4307840" y="3004185"/>
            <a:ext cx="488950" cy="460375"/>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减排技术与监控</a:t>
            </a:r>
            <a:endParaRPr lang="zh-CN" altLang="en-US" sz="1000">
              <a:solidFill>
                <a:srgbClr val="383838"/>
              </a:solidFill>
              <a:latin typeface="微软雅黑"/>
              <a:ea typeface="微软雅黑"/>
              <a:cs typeface="微软雅黑"/>
            </a:endParaRPr>
          </a:p>
        </p:txBody>
      </p:sp>
      <p:sp>
        <p:nvSpPr>
          <p:cNvPr id="811" name="文本框 810"/>
          <p:cNvSpPr txBox="1"/>
          <p:nvPr/>
        </p:nvSpPr>
        <p:spPr>
          <a:xfrm rot="18300000">
            <a:off x="2068830" y="3077845"/>
            <a:ext cx="488950" cy="33718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可持续供应链</a:t>
            </a:r>
            <a:endParaRPr lang="zh-CN" altLang="en-US" sz="1000">
              <a:solidFill>
                <a:srgbClr val="FFFFFF"/>
              </a:solidFill>
              <a:latin typeface="微软雅黑"/>
              <a:ea typeface="微软雅黑"/>
              <a:cs typeface="微软雅黑"/>
            </a:endParaRPr>
          </a:p>
        </p:txBody>
      </p:sp>
      <p:grpSp>
        <p:nvGrpSpPr>
          <p:cNvPr id="821" name="组合 820"/>
          <p:cNvGrpSpPr/>
          <p:nvPr/>
        </p:nvGrpSpPr>
        <p:grpSpPr>
          <a:xfrm>
            <a:off x="2490470" y="2969895"/>
            <a:ext cx="1773555" cy="1869440"/>
            <a:chOff x="3687" y="4698"/>
            <a:chExt cx="2793" cy="2944"/>
          </a:xfrm>
        </p:grpSpPr>
        <p:sp>
          <p:nvSpPr>
            <p:cNvPr id="822" name="等腰三角形 821"/>
            <p:cNvSpPr/>
            <p:nvPr/>
          </p:nvSpPr>
          <p:spPr>
            <a:xfrm rot="5880000">
              <a:off x="5409" y="4698"/>
              <a:ext cx="131" cy="131"/>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23" name="等腰三角形 822"/>
            <p:cNvSpPr/>
            <p:nvPr/>
          </p:nvSpPr>
          <p:spPr>
            <a:xfrm rot="8820000">
              <a:off x="6349" y="5412"/>
              <a:ext cx="131" cy="131"/>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24" name="等腰三角形 823"/>
            <p:cNvSpPr/>
            <p:nvPr/>
          </p:nvSpPr>
          <p:spPr>
            <a:xfrm rot="13320000">
              <a:off x="6127" y="7070"/>
              <a:ext cx="131" cy="131"/>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25" name="等腰三角形 824"/>
            <p:cNvSpPr/>
            <p:nvPr/>
          </p:nvSpPr>
          <p:spPr>
            <a:xfrm rot="16500000">
              <a:off x="5158" y="7511"/>
              <a:ext cx="131" cy="131"/>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26" name="等腰三角形 825"/>
            <p:cNvSpPr/>
            <p:nvPr/>
          </p:nvSpPr>
          <p:spPr>
            <a:xfrm rot="19380000">
              <a:off x="3997" y="7000"/>
              <a:ext cx="131" cy="131"/>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27" name="等腰三角形 826"/>
            <p:cNvSpPr/>
            <p:nvPr/>
          </p:nvSpPr>
          <p:spPr>
            <a:xfrm rot="1020000">
              <a:off x="3687" y="5837"/>
              <a:ext cx="131" cy="131"/>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28" name="等腰三角形 827"/>
            <p:cNvSpPr/>
            <p:nvPr/>
          </p:nvSpPr>
          <p:spPr>
            <a:xfrm rot="3240000">
              <a:off x="4275" y="4919"/>
              <a:ext cx="131" cy="131"/>
            </a:xfrm>
            <a:prstGeom prst="triangl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sp>
        <p:nvSpPr>
          <p:cNvPr id="829" name="文本框 828"/>
          <p:cNvSpPr txBox="1"/>
          <p:nvPr/>
        </p:nvSpPr>
        <p:spPr>
          <a:xfrm rot="17100000">
            <a:off x="1916430" y="3484880"/>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道德规范与反贪腐</a:t>
            </a:r>
            <a:endParaRPr lang="zh-CN" altLang="en-US" sz="1000">
              <a:solidFill>
                <a:srgbClr val="FFFFFF"/>
              </a:solidFill>
              <a:latin typeface="微软雅黑"/>
              <a:ea typeface="微软雅黑"/>
              <a:cs typeface="微软雅黑"/>
            </a:endParaRPr>
          </a:p>
        </p:txBody>
      </p:sp>
      <p:sp>
        <p:nvSpPr>
          <p:cNvPr id="830" name="文本框 829"/>
          <p:cNvSpPr txBox="1"/>
          <p:nvPr/>
        </p:nvSpPr>
        <p:spPr>
          <a:xfrm rot="20640000">
            <a:off x="3695065" y="488251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公平雇佣与福利</a:t>
            </a:r>
            <a:endParaRPr lang="zh-CN" altLang="en-US" sz="1000">
              <a:solidFill>
                <a:srgbClr val="FFFFFF"/>
              </a:solidFill>
              <a:latin typeface="微软雅黑"/>
              <a:ea typeface="微软雅黑"/>
              <a:cs typeface="微软雅黑"/>
            </a:endParaRPr>
          </a:p>
        </p:txBody>
      </p:sp>
      <p:sp>
        <p:nvSpPr>
          <p:cNvPr id="831" name="文本框 830"/>
          <p:cNvSpPr txBox="1"/>
          <p:nvPr/>
        </p:nvSpPr>
        <p:spPr>
          <a:xfrm>
            <a:off x="3173730" y="500951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人权保障与劳工权益</a:t>
            </a:r>
            <a:endParaRPr lang="zh-CN" altLang="en-US" sz="1000">
              <a:solidFill>
                <a:srgbClr val="FFFFFF"/>
              </a:solidFill>
              <a:latin typeface="微软雅黑"/>
              <a:ea typeface="微软雅黑"/>
              <a:cs typeface="微软雅黑"/>
            </a:endParaRPr>
          </a:p>
        </p:txBody>
      </p:sp>
      <p:sp>
        <p:nvSpPr>
          <p:cNvPr id="832" name="文本框 831"/>
          <p:cNvSpPr txBox="1"/>
          <p:nvPr/>
        </p:nvSpPr>
        <p:spPr>
          <a:xfrm rot="1560000">
            <a:off x="2670810" y="489013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多元包容与平等机会</a:t>
            </a:r>
            <a:endParaRPr lang="zh-CN" altLang="en-US" sz="1000">
              <a:solidFill>
                <a:srgbClr val="FFFFFF"/>
              </a:solidFill>
              <a:latin typeface="微软雅黑"/>
              <a:ea typeface="微软雅黑"/>
              <a:cs typeface="微软雅黑"/>
            </a:endParaRPr>
          </a:p>
        </p:txBody>
      </p:sp>
      <p:sp>
        <p:nvSpPr>
          <p:cNvPr id="833" name="文本框 832"/>
          <p:cNvSpPr txBox="1"/>
          <p:nvPr/>
        </p:nvSpPr>
        <p:spPr>
          <a:xfrm rot="2640000">
            <a:off x="2197735" y="4568190"/>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安全与可持续产品</a:t>
            </a:r>
            <a:endParaRPr lang="zh-CN" altLang="en-US" sz="1000">
              <a:solidFill>
                <a:srgbClr val="FFFFFF"/>
              </a:solidFill>
              <a:latin typeface="微软雅黑"/>
              <a:ea typeface="微软雅黑"/>
              <a:cs typeface="微软雅黑"/>
            </a:endParaRPr>
          </a:p>
        </p:txBody>
      </p:sp>
      <p:sp>
        <p:nvSpPr>
          <p:cNvPr id="834" name="文本框 833"/>
          <p:cNvSpPr txBox="1"/>
          <p:nvPr/>
        </p:nvSpPr>
        <p:spPr>
          <a:xfrm rot="18840000">
            <a:off x="4182745" y="4545965"/>
            <a:ext cx="488950" cy="460375"/>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社区发展与公益</a:t>
            </a:r>
            <a:endParaRPr lang="zh-CN" altLang="en-US" sz="1000">
              <a:solidFill>
                <a:srgbClr val="383838"/>
              </a:solidFill>
              <a:latin typeface="微软雅黑"/>
              <a:ea typeface="微软雅黑"/>
              <a:cs typeface="微软雅黑"/>
            </a:endParaRPr>
          </a:p>
        </p:txBody>
      </p:sp>
      <p:sp>
        <p:nvSpPr>
          <p:cNvPr id="835" name="文本框 834"/>
          <p:cNvSpPr txBox="1"/>
          <p:nvPr/>
        </p:nvSpPr>
        <p:spPr>
          <a:xfrm rot="17520000">
            <a:off x="4404995" y="4001135"/>
            <a:ext cx="488950" cy="598170"/>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低碳技术研发与绿色创新</a:t>
            </a:r>
            <a:endParaRPr lang="zh-CN" altLang="en-US" sz="1000">
              <a:solidFill>
                <a:srgbClr val="383838"/>
              </a:solidFill>
              <a:latin typeface="微软雅黑"/>
              <a:ea typeface="微软雅黑"/>
              <a:cs typeface="微软雅黑"/>
            </a:endParaRPr>
          </a:p>
        </p:txBody>
      </p:sp>
      <p:sp>
        <p:nvSpPr>
          <p:cNvPr id="836" name="文本框 835"/>
          <p:cNvSpPr txBox="1"/>
          <p:nvPr/>
        </p:nvSpPr>
        <p:spPr>
          <a:xfrm rot="4380000">
            <a:off x="4472305" y="352488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废弃物循环处理</a:t>
            </a:r>
            <a:endParaRPr lang="zh-CN" altLang="en-US" sz="1000">
              <a:solidFill>
                <a:srgbClr val="FFFFFF"/>
              </a:solidFill>
              <a:latin typeface="微软雅黑"/>
              <a:ea typeface="微软雅黑"/>
              <a:cs typeface="微软雅黑"/>
            </a:endParaRPr>
          </a:p>
        </p:txBody>
      </p:sp>
      <p:sp>
        <p:nvSpPr>
          <p:cNvPr id="838" name="文本框 837"/>
          <p:cNvSpPr txBox="1"/>
          <p:nvPr/>
        </p:nvSpPr>
        <p:spPr>
          <a:xfrm rot="3720000">
            <a:off x="1901825" y="4059555"/>
            <a:ext cx="488950" cy="46037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信息披露与审计</a:t>
            </a:r>
            <a:endParaRPr lang="zh-CN" altLang="en-US" sz="1000">
              <a:solidFill>
                <a:srgbClr val="FFFFFF"/>
              </a:solidFill>
              <a:latin typeface="微软雅黑"/>
              <a:ea typeface="微软雅黑"/>
              <a:cs typeface="微软雅黑"/>
            </a:endParaRPr>
          </a:p>
        </p:txBody>
      </p:sp>
      <p:sp>
        <p:nvSpPr>
          <p:cNvPr id="839" name="Circle"/>
          <p:cNvSpPr/>
          <p:nvPr/>
        </p:nvSpPr>
        <p:spPr>
          <a:xfrm>
            <a:off x="3521710" y="3123565"/>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1</a:t>
            </a:r>
            <a:endParaRPr lang="en-US" sz="1000" b="1">
              <a:solidFill>
                <a:srgbClr val="FFFFFF"/>
              </a:solidFill>
              <a:latin typeface="微软雅黑"/>
              <a:ea typeface="微软雅黑"/>
              <a:sym typeface="微软雅黑"/>
              <a:cs typeface="微软雅黑"/>
            </a:endParaRPr>
          </a:p>
        </p:txBody>
      </p:sp>
      <p:sp>
        <p:nvSpPr>
          <p:cNvPr id="840" name="Circle"/>
          <p:cNvSpPr/>
          <p:nvPr/>
        </p:nvSpPr>
        <p:spPr>
          <a:xfrm>
            <a:off x="3810635" y="3240405"/>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2</a:t>
            </a:r>
            <a:endParaRPr lang="en-US" sz="1000" b="1">
              <a:solidFill>
                <a:srgbClr val="FFFFFF"/>
              </a:solidFill>
              <a:latin typeface="微软雅黑"/>
              <a:ea typeface="微软雅黑"/>
              <a:sym typeface="微软雅黑"/>
              <a:cs typeface="微软雅黑"/>
            </a:endParaRPr>
          </a:p>
        </p:txBody>
      </p:sp>
      <p:sp>
        <p:nvSpPr>
          <p:cNvPr id="841" name="Circle"/>
          <p:cNvSpPr/>
          <p:nvPr/>
        </p:nvSpPr>
        <p:spPr>
          <a:xfrm>
            <a:off x="4033520" y="3462655"/>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3</a:t>
            </a:r>
            <a:endParaRPr lang="en-US" sz="1000" b="1">
              <a:solidFill>
                <a:srgbClr val="FFFFFF"/>
              </a:solidFill>
              <a:latin typeface="微软雅黑"/>
              <a:ea typeface="微软雅黑"/>
              <a:sym typeface="微软雅黑"/>
              <a:cs typeface="微软雅黑"/>
            </a:endParaRPr>
          </a:p>
        </p:txBody>
      </p:sp>
      <p:sp>
        <p:nvSpPr>
          <p:cNvPr id="842" name="Circle"/>
          <p:cNvSpPr/>
          <p:nvPr/>
        </p:nvSpPr>
        <p:spPr>
          <a:xfrm>
            <a:off x="4131310" y="375539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4</a:t>
            </a:r>
            <a:endParaRPr lang="en-US" sz="1000" b="1">
              <a:solidFill>
                <a:srgbClr val="FFFFFF"/>
              </a:solidFill>
              <a:latin typeface="微软雅黑"/>
              <a:ea typeface="微软雅黑"/>
              <a:sym typeface="微软雅黑"/>
              <a:cs typeface="微软雅黑"/>
            </a:endParaRPr>
          </a:p>
        </p:txBody>
      </p:sp>
      <p:sp>
        <p:nvSpPr>
          <p:cNvPr id="843" name="Circle"/>
          <p:cNvSpPr/>
          <p:nvPr/>
        </p:nvSpPr>
        <p:spPr>
          <a:xfrm>
            <a:off x="4100195" y="405638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5</a:t>
            </a:r>
            <a:endParaRPr lang="en-US" sz="1000" b="1">
              <a:solidFill>
                <a:srgbClr val="FFFFFF"/>
              </a:solidFill>
              <a:latin typeface="微软雅黑"/>
              <a:ea typeface="微软雅黑"/>
              <a:sym typeface="微软雅黑"/>
              <a:cs typeface="微软雅黑"/>
            </a:endParaRPr>
          </a:p>
        </p:txBody>
      </p:sp>
      <p:sp>
        <p:nvSpPr>
          <p:cNvPr id="844" name="Circle"/>
          <p:cNvSpPr/>
          <p:nvPr/>
        </p:nvSpPr>
        <p:spPr>
          <a:xfrm>
            <a:off x="3948430" y="4308475"/>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1</a:t>
            </a:r>
            <a:endParaRPr lang="en-US" sz="1000" b="1">
              <a:solidFill>
                <a:srgbClr val="FFFFFF"/>
              </a:solidFill>
              <a:latin typeface="微软雅黑"/>
              <a:ea typeface="微软雅黑"/>
              <a:sym typeface="微软雅黑"/>
              <a:cs typeface="微软雅黑"/>
            </a:endParaRPr>
          </a:p>
        </p:txBody>
      </p:sp>
      <p:sp>
        <p:nvSpPr>
          <p:cNvPr id="845" name="Circle"/>
          <p:cNvSpPr/>
          <p:nvPr/>
        </p:nvSpPr>
        <p:spPr>
          <a:xfrm>
            <a:off x="3686175" y="449072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2</a:t>
            </a:r>
            <a:endParaRPr lang="en-US" sz="1000" b="1">
              <a:solidFill>
                <a:srgbClr val="FFFFFF"/>
              </a:solidFill>
              <a:latin typeface="微软雅黑"/>
              <a:ea typeface="微软雅黑"/>
              <a:sym typeface="微软雅黑"/>
              <a:cs typeface="微软雅黑"/>
            </a:endParaRPr>
          </a:p>
        </p:txBody>
      </p:sp>
      <p:sp>
        <p:nvSpPr>
          <p:cNvPr id="846" name="Circle"/>
          <p:cNvSpPr/>
          <p:nvPr/>
        </p:nvSpPr>
        <p:spPr>
          <a:xfrm>
            <a:off x="3383280" y="454406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3</a:t>
            </a:r>
            <a:endParaRPr lang="en-US" sz="1000" b="1">
              <a:solidFill>
                <a:srgbClr val="FFFFFF"/>
              </a:solidFill>
              <a:latin typeface="微软雅黑"/>
              <a:ea typeface="微软雅黑"/>
              <a:sym typeface="微软雅黑"/>
              <a:cs typeface="微软雅黑"/>
            </a:endParaRPr>
          </a:p>
        </p:txBody>
      </p:sp>
      <p:sp>
        <p:nvSpPr>
          <p:cNvPr id="847" name="Circle"/>
          <p:cNvSpPr/>
          <p:nvPr/>
        </p:nvSpPr>
        <p:spPr>
          <a:xfrm>
            <a:off x="3098800" y="445897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4</a:t>
            </a:r>
            <a:endParaRPr lang="en-US" sz="1000" b="1">
              <a:solidFill>
                <a:srgbClr val="FFFFFF"/>
              </a:solidFill>
              <a:latin typeface="微软雅黑"/>
              <a:ea typeface="微软雅黑"/>
              <a:sym typeface="微软雅黑"/>
              <a:cs typeface="微软雅黑"/>
            </a:endParaRPr>
          </a:p>
        </p:txBody>
      </p:sp>
      <p:sp>
        <p:nvSpPr>
          <p:cNvPr id="848" name="Circle"/>
          <p:cNvSpPr/>
          <p:nvPr/>
        </p:nvSpPr>
        <p:spPr>
          <a:xfrm>
            <a:off x="2856865" y="4290695"/>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5</a:t>
            </a:r>
            <a:endParaRPr lang="en-US" sz="1000" b="1">
              <a:solidFill>
                <a:srgbClr val="FFFFFF"/>
              </a:solidFill>
              <a:latin typeface="微软雅黑"/>
              <a:ea typeface="微软雅黑"/>
              <a:sym typeface="微软雅黑"/>
              <a:cs typeface="微软雅黑"/>
            </a:endParaRPr>
          </a:p>
        </p:txBody>
      </p:sp>
      <p:sp>
        <p:nvSpPr>
          <p:cNvPr id="849" name="Circle"/>
          <p:cNvSpPr/>
          <p:nvPr/>
        </p:nvSpPr>
        <p:spPr>
          <a:xfrm>
            <a:off x="2722880" y="4036695"/>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1</a:t>
            </a:r>
            <a:endParaRPr lang="en-US" sz="1000" b="1">
              <a:solidFill>
                <a:srgbClr val="FFFFFF"/>
              </a:solidFill>
              <a:latin typeface="微软雅黑"/>
              <a:ea typeface="微软雅黑"/>
              <a:sym typeface="微软雅黑"/>
              <a:cs typeface="微软雅黑"/>
            </a:endParaRPr>
          </a:p>
        </p:txBody>
      </p:sp>
      <p:sp>
        <p:nvSpPr>
          <p:cNvPr id="851" name="Circle"/>
          <p:cNvSpPr/>
          <p:nvPr/>
        </p:nvSpPr>
        <p:spPr>
          <a:xfrm>
            <a:off x="2778125" y="348234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3</a:t>
            </a:r>
            <a:endParaRPr lang="en-US" sz="1000" b="1">
              <a:solidFill>
                <a:srgbClr val="FFFFFF"/>
              </a:solidFill>
              <a:latin typeface="微软雅黑"/>
              <a:ea typeface="微软雅黑"/>
              <a:sym typeface="微软雅黑"/>
              <a:cs typeface="微软雅黑"/>
            </a:endParaRPr>
          </a:p>
        </p:txBody>
      </p:sp>
      <p:sp>
        <p:nvSpPr>
          <p:cNvPr id="852" name="Circle"/>
          <p:cNvSpPr/>
          <p:nvPr/>
        </p:nvSpPr>
        <p:spPr>
          <a:xfrm>
            <a:off x="3235960" y="3133725"/>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5</a:t>
            </a:r>
            <a:endParaRPr lang="en-US" sz="1000" b="1">
              <a:solidFill>
                <a:srgbClr val="FFFFFF"/>
              </a:solidFill>
              <a:latin typeface="微软雅黑"/>
              <a:ea typeface="微软雅黑"/>
              <a:sym typeface="微软雅黑"/>
              <a:cs typeface="微软雅黑"/>
            </a:endParaRPr>
          </a:p>
        </p:txBody>
      </p:sp>
      <p:sp>
        <p:nvSpPr>
          <p:cNvPr id="853" name="Circle"/>
          <p:cNvSpPr/>
          <p:nvPr/>
        </p:nvSpPr>
        <p:spPr>
          <a:xfrm>
            <a:off x="2974340" y="326136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4</a:t>
            </a:r>
            <a:endParaRPr lang="en-US" sz="1000" b="1">
              <a:solidFill>
                <a:srgbClr val="FFFFFF"/>
              </a:solidFill>
              <a:latin typeface="微软雅黑"/>
              <a:ea typeface="微软雅黑"/>
              <a:sym typeface="微软雅黑"/>
              <a:cs typeface="微软雅黑"/>
            </a:endParaRPr>
          </a:p>
        </p:txBody>
      </p:sp>
      <p:sp>
        <p:nvSpPr>
          <p:cNvPr id="855" name="Circle"/>
          <p:cNvSpPr/>
          <p:nvPr/>
        </p:nvSpPr>
        <p:spPr>
          <a:xfrm>
            <a:off x="2698115" y="3755390"/>
            <a:ext cx="106680" cy="171450"/>
          </a:xfrm>
          <a:prstGeom prst="ellipse">
            <a:avLst/>
          </a:prstGeom>
          <a:solidFill>
            <a:srgbClr val="3368FF"/>
          </a:solidFill>
          <a:ln w="6350" cap="flat">
            <a:solidFill>
              <a:srgbClr val="FFFFFF"/>
            </a:solidFill>
            <a:miter lim="400000"/>
          </a:ln>
          <a:effectLst>
            <a:outerShdw blurRad="50800" dist="38100" dir="2700000" algn="tl" rotWithShape="0">
              <a:prstClr val="black">
                <a:alpha val="40000"/>
              </a:prstClr>
            </a:outerShdw>
          </a:effectLst>
        </p:spPr>
        <p:txBody>
          <a:bodyPr wrap="square" lIns="0" tIns="0" rIns="0" bIns="0" numCol="1" anchor="ctr">
            <a:noAutofit/>
          </a:bodyPr>
          <a:p>
            <a:pPr algn="ctr">
              <a:defRPr sz="3200" b="0">
                <a:solidFill>
                  <a:srgbClr val="FFFFFF"/>
                </a:solidFill>
                <a:latin typeface="微软雅黑"/>
                <a:ea typeface="微软雅黑"/>
                <a:cs typeface="微软雅黑"/>
                <a:sym typeface="微软雅黑"/>
              </a:defRPr>
              <a:lnSpc>
                <a:spcPts val="1120"/>
              </a:lnSpc>
              <a:spcBef>
                <a:spcPts val="0"/>
              </a:spcBef>
              <a:spcAft>
                <a:spcPts val="0"/>
              </a:spcAft>
            </a:pPr>
            <a:r>
              <a:rPr lang="en-US" sz="1000" b="1">
                <a:solidFill>
                  <a:srgbClr val="FFFFFF"/>
                </a:solidFill>
                <a:latin typeface="微软雅黑"/>
                <a:ea typeface="微软雅黑"/>
                <a:sym typeface="微软雅黑"/>
                <a:cs typeface="微软雅黑"/>
              </a:rPr>
              <a:t>2</a:t>
            </a:r>
            <a:endParaRPr lang="en-US" sz="1000" b="1">
              <a:solidFill>
                <a:srgbClr val="FFFFFF"/>
              </a:solidFill>
              <a:latin typeface="微软雅黑"/>
              <a:ea typeface="微软雅黑"/>
              <a:sym typeface="微软雅黑"/>
              <a:cs typeface="微软雅黑"/>
            </a:endParaRPr>
          </a:p>
        </p:txBody>
      </p:sp>
      <p:sp>
        <p:nvSpPr>
          <p:cNvPr id="856" name="文本框 855"/>
          <p:cNvSpPr txBox="1"/>
          <p:nvPr/>
        </p:nvSpPr>
        <p:spPr>
          <a:xfrm rot="20880000">
            <a:off x="3265170" y="3381375"/>
            <a:ext cx="158115" cy="171450"/>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sz="1000">
                <a:solidFill>
                  <a:srgbClr val="FFFFFF"/>
                </a:solidFill>
                <a:latin typeface="微软雅黑"/>
                <a:ea typeface="微软雅黑"/>
                <a:cs typeface="微软雅黑"/>
              </a:rPr>
              <a:t>G</a:t>
            </a:r>
            <a:endParaRPr lang="en-US" sz="1000">
              <a:solidFill>
                <a:srgbClr val="FFFFFF"/>
              </a:solidFill>
              <a:latin typeface="微软雅黑"/>
              <a:ea typeface="微软雅黑"/>
              <a:cs typeface="微软雅黑"/>
            </a:endParaRPr>
          </a:p>
        </p:txBody>
      </p:sp>
      <p:sp>
        <p:nvSpPr>
          <p:cNvPr id="857" name="文本框 856"/>
          <p:cNvSpPr txBox="1"/>
          <p:nvPr/>
        </p:nvSpPr>
        <p:spPr>
          <a:xfrm rot="780000">
            <a:off x="3435985" y="3390900"/>
            <a:ext cx="158115" cy="171450"/>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sz="1000">
                <a:solidFill>
                  <a:srgbClr val="FFFFFF"/>
                </a:solidFill>
                <a:latin typeface="微软雅黑"/>
                <a:ea typeface="微软雅黑"/>
                <a:cs typeface="微软雅黑"/>
              </a:rPr>
              <a:t>E</a:t>
            </a:r>
            <a:endParaRPr lang="en-US" sz="1000">
              <a:solidFill>
                <a:srgbClr val="FFFFFF"/>
              </a:solidFill>
              <a:latin typeface="微软雅黑"/>
              <a:ea typeface="微软雅黑"/>
              <a:cs typeface="微软雅黑"/>
            </a:endParaRPr>
          </a:p>
        </p:txBody>
      </p:sp>
      <p:sp>
        <p:nvSpPr>
          <p:cNvPr id="858" name="文本框 857"/>
          <p:cNvSpPr txBox="1"/>
          <p:nvPr/>
        </p:nvSpPr>
        <p:spPr>
          <a:xfrm rot="1860000">
            <a:off x="3599815" y="3459480"/>
            <a:ext cx="158115" cy="171450"/>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sz="1000">
                <a:solidFill>
                  <a:srgbClr val="FFFFFF"/>
                </a:solidFill>
                <a:latin typeface="微软雅黑"/>
                <a:ea typeface="微软雅黑"/>
                <a:cs typeface="微软雅黑"/>
              </a:rPr>
              <a:t>E</a:t>
            </a:r>
            <a:endParaRPr lang="en-US" sz="1000">
              <a:solidFill>
                <a:srgbClr val="FFFFFF"/>
              </a:solidFill>
              <a:latin typeface="微软雅黑"/>
              <a:ea typeface="微软雅黑"/>
              <a:cs typeface="微软雅黑"/>
            </a:endParaRPr>
          </a:p>
        </p:txBody>
      </p:sp>
      <p:sp>
        <p:nvSpPr>
          <p:cNvPr id="859" name="文本框 858"/>
          <p:cNvSpPr txBox="1"/>
          <p:nvPr/>
        </p:nvSpPr>
        <p:spPr>
          <a:xfrm rot="3420000">
            <a:off x="3726815" y="3573780"/>
            <a:ext cx="158115" cy="177800"/>
          </a:xfrm>
          <a:prstGeom prst="rect">
            <a:avLst/>
          </a:prstGeom>
          <a:noFill/>
        </p:spPr>
        <p:txBody>
          <a:bodyPr wrap="none" rtlCol="0" lIns="0" rIns="0" tIns="0" bIns="0" anchor="ctr">
            <a:noAutofit/>
          </a:bodyPr>
          <a:p>
            <a:pPr algn="ctr">
              <a:defRPr sz="1000">
                <a:solidFill>
                  <a:srgbClr val="FFFFFF"/>
                </a:solidFill>
                <a:latin typeface="微软雅黑"/>
                <a:ea typeface="微软雅黑"/>
                <a:cs typeface="微软雅黑"/>
              </a:defRPr>
              <a:lnSpc>
                <a:spcPct val="100000"/>
              </a:lnSpc>
              <a:spcBef>
                <a:spcPts val="0"/>
              </a:spcBef>
              <a:spcAft>
                <a:spcPts val="0"/>
              </a:spcAft>
            </a:pPr>
            <a:r>
              <a:rPr lang="en-US" sz="1000">
                <a:solidFill>
                  <a:srgbClr val="FFFFFF"/>
                </a:solidFill>
                <a:latin typeface="微软雅黑"/>
                <a:ea typeface="微软雅黑"/>
                <a:cs typeface="微软雅黑"/>
              </a:rPr>
              <a:t>E</a:t>
            </a:r>
            <a:endParaRPr lang="en-US" sz="1000">
              <a:solidFill>
                <a:srgbClr val="FFFFFF"/>
              </a:solidFill>
              <a:latin typeface="微软雅黑"/>
              <a:ea typeface="微软雅黑"/>
              <a:cs typeface="微软雅黑"/>
            </a:endParaRPr>
          </a:p>
        </p:txBody>
      </p:sp>
      <p:sp>
        <p:nvSpPr>
          <p:cNvPr id="860" name="文本框 859"/>
          <p:cNvSpPr txBox="1"/>
          <p:nvPr/>
        </p:nvSpPr>
        <p:spPr>
          <a:xfrm rot="5100000">
            <a:off x="3782695" y="3742055"/>
            <a:ext cx="158115" cy="177800"/>
          </a:xfrm>
          <a:prstGeom prst="rect">
            <a:avLst/>
          </a:prstGeom>
          <a:noFill/>
        </p:spPr>
        <p:txBody>
          <a:bodyPr wrap="none" rtlCol="0" lIns="0" rIns="0" tIns="0" bIns="0" anchor="ctr">
            <a:noAutofit/>
          </a:bodyPr>
          <a:p>
            <a:pPr algn="ctr">
              <a:defRPr sz="1000">
                <a:solidFill>
                  <a:srgbClr val="FFFFFF"/>
                </a:solidFill>
                <a:latin typeface="微软雅黑"/>
                <a:ea typeface="微软雅黑"/>
                <a:cs typeface="微软雅黑"/>
              </a:defRPr>
              <a:lnSpc>
                <a:spcPct val="100000"/>
              </a:lnSpc>
              <a:spcBef>
                <a:spcPts val="0"/>
              </a:spcBef>
              <a:spcAft>
                <a:spcPts val="0"/>
              </a:spcAft>
            </a:pPr>
            <a:r>
              <a:rPr lang="en-US" sz="1000">
                <a:solidFill>
                  <a:srgbClr val="FFFFFF"/>
                </a:solidFill>
                <a:latin typeface="微软雅黑"/>
                <a:ea typeface="微软雅黑"/>
                <a:cs typeface="微软雅黑"/>
              </a:rPr>
              <a:t>E</a:t>
            </a:r>
            <a:endParaRPr lang="en-US" sz="1000">
              <a:solidFill>
                <a:srgbClr val="FFFFFF"/>
              </a:solidFill>
              <a:latin typeface="微软雅黑"/>
              <a:ea typeface="微软雅黑"/>
              <a:cs typeface="微软雅黑"/>
            </a:endParaRPr>
          </a:p>
        </p:txBody>
      </p:sp>
      <p:sp>
        <p:nvSpPr>
          <p:cNvPr id="861" name="文本框 860"/>
          <p:cNvSpPr txBox="1"/>
          <p:nvPr/>
        </p:nvSpPr>
        <p:spPr>
          <a:xfrm>
            <a:off x="3345180" y="4250690"/>
            <a:ext cx="158115" cy="171450"/>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sz="1000">
                <a:solidFill>
                  <a:srgbClr val="FFFFFF"/>
                </a:solidFill>
                <a:latin typeface="微软雅黑"/>
                <a:ea typeface="微软雅黑"/>
                <a:cs typeface="微软雅黑"/>
              </a:rPr>
              <a:t>S</a:t>
            </a:r>
            <a:endParaRPr lang="en-US" sz="1000">
              <a:solidFill>
                <a:srgbClr val="FFFFFF"/>
              </a:solidFill>
              <a:latin typeface="微软雅黑"/>
              <a:ea typeface="微软雅黑"/>
              <a:cs typeface="微软雅黑"/>
            </a:endParaRPr>
          </a:p>
        </p:txBody>
      </p:sp>
      <p:sp>
        <p:nvSpPr>
          <p:cNvPr id="862" name="文本框 861"/>
          <p:cNvSpPr txBox="1"/>
          <p:nvPr/>
        </p:nvSpPr>
        <p:spPr>
          <a:xfrm rot="1140000">
            <a:off x="3167380" y="4208145"/>
            <a:ext cx="158115" cy="171450"/>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sz="1000">
                <a:solidFill>
                  <a:srgbClr val="FFFFFF"/>
                </a:solidFill>
                <a:latin typeface="微软雅黑"/>
                <a:ea typeface="微软雅黑"/>
                <a:cs typeface="微软雅黑"/>
              </a:rPr>
              <a:t>S</a:t>
            </a:r>
            <a:endParaRPr lang="en-US" sz="1000">
              <a:solidFill>
                <a:srgbClr val="FFFFFF"/>
              </a:solidFill>
              <a:latin typeface="微软雅黑"/>
              <a:ea typeface="微软雅黑"/>
              <a:cs typeface="微软雅黑"/>
            </a:endParaRPr>
          </a:p>
        </p:txBody>
      </p:sp>
      <p:sp>
        <p:nvSpPr>
          <p:cNvPr id="863" name="文本框 862"/>
          <p:cNvSpPr txBox="1"/>
          <p:nvPr/>
        </p:nvSpPr>
        <p:spPr>
          <a:xfrm rot="20160000">
            <a:off x="3513455" y="4203700"/>
            <a:ext cx="158115" cy="171450"/>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sz="1000">
                <a:solidFill>
                  <a:srgbClr val="FFFFFF"/>
                </a:solidFill>
                <a:latin typeface="微软雅黑"/>
                <a:ea typeface="微软雅黑"/>
                <a:cs typeface="微软雅黑"/>
              </a:rPr>
              <a:t>S</a:t>
            </a:r>
            <a:endParaRPr lang="en-US" sz="1000">
              <a:solidFill>
                <a:srgbClr val="FFFFFF"/>
              </a:solidFill>
              <a:latin typeface="微软雅黑"/>
              <a:ea typeface="微软雅黑"/>
              <a:cs typeface="微软雅黑"/>
            </a:endParaRPr>
          </a:p>
        </p:txBody>
      </p:sp>
      <p:sp>
        <p:nvSpPr>
          <p:cNvPr id="864" name="文本框 863"/>
          <p:cNvSpPr txBox="1"/>
          <p:nvPr/>
        </p:nvSpPr>
        <p:spPr>
          <a:xfrm rot="19860000">
            <a:off x="3099435" y="3448050"/>
            <a:ext cx="158115" cy="171450"/>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rPr>
              <a:t>G</a:t>
            </a:r>
            <a:endParaRPr lang="en-US" sz="1000">
              <a:solidFill>
                <a:srgbClr val="383838"/>
              </a:solidFill>
              <a:latin typeface="微软雅黑"/>
              <a:ea typeface="微软雅黑"/>
              <a:cs typeface="微软雅黑"/>
            </a:endParaRPr>
          </a:p>
        </p:txBody>
      </p:sp>
      <p:sp>
        <p:nvSpPr>
          <p:cNvPr id="865" name="文本框 864"/>
          <p:cNvSpPr txBox="1"/>
          <p:nvPr/>
        </p:nvSpPr>
        <p:spPr>
          <a:xfrm rot="18060000">
            <a:off x="2970530" y="3583305"/>
            <a:ext cx="158115" cy="165100"/>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rPr>
              <a:t>G</a:t>
            </a:r>
            <a:endParaRPr lang="en-US" sz="1000">
              <a:solidFill>
                <a:srgbClr val="383838"/>
              </a:solidFill>
              <a:latin typeface="微软雅黑"/>
              <a:ea typeface="微软雅黑"/>
              <a:cs typeface="微软雅黑"/>
            </a:endParaRPr>
          </a:p>
        </p:txBody>
      </p:sp>
      <p:sp>
        <p:nvSpPr>
          <p:cNvPr id="866" name="文本框 865"/>
          <p:cNvSpPr txBox="1"/>
          <p:nvPr/>
        </p:nvSpPr>
        <p:spPr>
          <a:xfrm rot="2700000">
            <a:off x="3019425" y="4094480"/>
            <a:ext cx="158115" cy="171450"/>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rPr>
              <a:t>S</a:t>
            </a:r>
            <a:endParaRPr lang="en-US" sz="1000">
              <a:solidFill>
                <a:srgbClr val="383838"/>
              </a:solidFill>
              <a:latin typeface="微软雅黑"/>
              <a:ea typeface="微软雅黑"/>
              <a:cs typeface="微软雅黑"/>
            </a:endParaRPr>
          </a:p>
        </p:txBody>
      </p:sp>
      <p:sp>
        <p:nvSpPr>
          <p:cNvPr id="867" name="文本框 866"/>
          <p:cNvSpPr txBox="1"/>
          <p:nvPr/>
        </p:nvSpPr>
        <p:spPr>
          <a:xfrm rot="4140000">
            <a:off x="2930525" y="3923982"/>
            <a:ext cx="158115" cy="177800"/>
          </a:xfrm>
          <a:prstGeom prst="rect">
            <a:avLst/>
          </a:prstGeom>
          <a:noFill/>
        </p:spPr>
        <p:txBody>
          <a:bodyPr wrap="none" rtlCol="0" lIns="0" rIns="0" tIns="0" bIns="0" anchor="ctr">
            <a:noAutofit/>
          </a:bodyPr>
          <a:p>
            <a:pPr algn="ctr">
              <a:defRPr sz="1000">
                <a:solidFill>
                  <a:srgbClr val="FFFFFF"/>
                </a:solidFill>
                <a:latin typeface="微软雅黑"/>
                <a:ea typeface="微软雅黑"/>
                <a:cs typeface="微软雅黑"/>
              </a:defRPr>
              <a:lnSpc>
                <a:spcPct val="100000"/>
              </a:lnSpc>
              <a:spcBef>
                <a:spcPts val="0"/>
              </a:spcBef>
              <a:spcAft>
                <a:spcPts val="0"/>
              </a:spcAft>
            </a:pPr>
            <a:r>
              <a:rPr lang="en-US" sz="1000">
                <a:solidFill>
                  <a:srgbClr val="FFFFFF"/>
                </a:solidFill>
                <a:latin typeface="微软雅黑"/>
                <a:ea typeface="微软雅黑"/>
                <a:cs typeface="微软雅黑"/>
              </a:rPr>
              <a:t>G</a:t>
            </a:r>
            <a:endParaRPr lang="en-US" sz="1000">
              <a:solidFill>
                <a:srgbClr val="FFFFFF"/>
              </a:solidFill>
              <a:latin typeface="微软雅黑"/>
              <a:ea typeface="微软雅黑"/>
              <a:cs typeface="微软雅黑"/>
            </a:endParaRPr>
          </a:p>
        </p:txBody>
      </p:sp>
      <p:sp>
        <p:nvSpPr>
          <p:cNvPr id="868" name="文本框 867"/>
          <p:cNvSpPr txBox="1"/>
          <p:nvPr/>
        </p:nvSpPr>
        <p:spPr>
          <a:xfrm rot="18840000">
            <a:off x="3669665" y="4087495"/>
            <a:ext cx="158115" cy="171450"/>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en-US" sz="1000">
                <a:solidFill>
                  <a:srgbClr val="FFFFFF"/>
                </a:solidFill>
                <a:latin typeface="微软雅黑"/>
                <a:ea typeface="微软雅黑"/>
                <a:cs typeface="微软雅黑"/>
              </a:rPr>
              <a:t>S</a:t>
            </a:r>
            <a:endParaRPr lang="en-US" sz="1000">
              <a:solidFill>
                <a:srgbClr val="FFFFFF"/>
              </a:solidFill>
              <a:latin typeface="微软雅黑"/>
              <a:ea typeface="微软雅黑"/>
              <a:cs typeface="微软雅黑"/>
            </a:endParaRPr>
          </a:p>
        </p:txBody>
      </p:sp>
      <p:sp>
        <p:nvSpPr>
          <p:cNvPr id="869" name="文本框 868"/>
          <p:cNvSpPr txBox="1"/>
          <p:nvPr/>
        </p:nvSpPr>
        <p:spPr>
          <a:xfrm rot="17880000">
            <a:off x="3760470" y="3914458"/>
            <a:ext cx="158115" cy="177800"/>
          </a:xfrm>
          <a:prstGeom prst="rect">
            <a:avLst/>
          </a:prstGeom>
          <a:noFill/>
        </p:spPr>
        <p:txBody>
          <a:bodyPr wrap="none" rtlCol="0" lIns="0" rIns="0" tIns="0" bIns="0" anchor="ctr">
            <a:noAutofit/>
          </a:bodyPr>
          <a:p>
            <a:pPr algn="ctr">
              <a:defRPr sz="1000">
                <a:solidFill>
                  <a:srgbClr val="FFFFFF"/>
                </a:solidFill>
                <a:latin typeface="微软雅黑"/>
                <a:ea typeface="微软雅黑"/>
                <a:cs typeface="微软雅黑"/>
              </a:defRPr>
              <a:lnSpc>
                <a:spcPct val="100000"/>
              </a:lnSpc>
              <a:spcBef>
                <a:spcPts val="0"/>
              </a:spcBef>
              <a:spcAft>
                <a:spcPts val="0"/>
              </a:spcAft>
            </a:pPr>
            <a:r>
              <a:rPr lang="en-US" sz="1000">
                <a:solidFill>
                  <a:srgbClr val="FFFFFF"/>
                </a:solidFill>
                <a:latin typeface="微软雅黑"/>
                <a:ea typeface="微软雅黑"/>
                <a:cs typeface="微软雅黑"/>
              </a:rPr>
              <a:t>E</a:t>
            </a:r>
            <a:endParaRPr lang="en-US" sz="1000">
              <a:solidFill>
                <a:srgbClr val="FFFFFF"/>
              </a:solidFill>
              <a:latin typeface="微软雅黑"/>
              <a:ea typeface="微软雅黑"/>
              <a:cs typeface="微软雅黑"/>
            </a:endParaRPr>
          </a:p>
        </p:txBody>
      </p:sp>
      <p:sp>
        <p:nvSpPr>
          <p:cNvPr id="870" name="文本框 869"/>
          <p:cNvSpPr txBox="1"/>
          <p:nvPr/>
        </p:nvSpPr>
        <p:spPr>
          <a:xfrm rot="16380000">
            <a:off x="2900045" y="3761105"/>
            <a:ext cx="161290" cy="165735"/>
          </a:xfrm>
          <a:prstGeom prst="rect">
            <a:avLst/>
          </a:prstGeom>
          <a:noFill/>
        </p:spPr>
        <p:txBody>
          <a:bodyPr wrap="square" rtlCol="0" lIns="0" rIns="0" tIns="0" bIns="0" anchor="t">
            <a:noAutofit/>
          </a:bodyPr>
          <a:p>
            <a:pPr algn="ctr">
              <a:defRPr>
                <a:solidFill>
                  <a:srgbClr val="383838"/>
                </a:solidFill>
                <a:latin typeface="微软雅黑"/>
                <a:ea typeface="微软雅黑"/>
                <a:cs typeface="微软雅黑"/>
              </a:defRPr>
              <a:lnSpc>
                <a:spcPts val="1120"/>
              </a:lnSpc>
              <a:spcBef>
                <a:spcPts val="0"/>
              </a:spcBef>
              <a:spcAft>
                <a:spcPts val="0"/>
              </a:spcAft>
            </a:pPr>
            <a:r>
              <a:rPr lang="en-US" sz="1000">
                <a:solidFill>
                  <a:srgbClr val="383838"/>
                </a:solidFill>
                <a:latin typeface="微软雅黑"/>
                <a:ea typeface="微软雅黑"/>
                <a:cs typeface="微软雅黑"/>
              </a:rPr>
              <a:t>G</a:t>
            </a:r>
            <a:endParaRPr lang="en-US" sz="1000">
              <a:solidFill>
                <a:srgbClr val="383838"/>
              </a:solidFill>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9"/>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知识付费的运营模型</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89" name="椭圆 88"/>
          <p:cNvSpPr/>
          <p:nvPr/>
        </p:nvSpPr>
        <p:spPr>
          <a:xfrm>
            <a:off x="509270" y="1246505"/>
            <a:ext cx="5868035" cy="4302760"/>
          </a:xfrm>
          <a:prstGeom prst="ellipse">
            <a:avLst/>
          </a:prstGeom>
          <a:noFill/>
          <a:ln w="12700" cmpd="sng">
            <a:gradFill>
              <a:gsLst>
                <a:gs pos="88000">
                  <a:srgbClr val="0042FF">
                    <a:alpha val="0"/>
                  </a:srgbClr>
                </a:gs>
                <a:gs pos="51000">
                  <a:srgbClr val="0042FF"/>
                </a:gs>
              </a:gsLst>
              <a:lin ang="0" scaled="1"/>
            </a:gradFill>
            <a:prstDash val="sysDash"/>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 name="任意多边形 6"/>
          <p:cNvSpPr/>
          <p:nvPr/>
        </p:nvSpPr>
        <p:spPr>
          <a:xfrm>
            <a:off x="1069975" y="1726565"/>
            <a:ext cx="4587240" cy="339217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7225" h="5346">
                <a:moveTo>
                  <a:pt x="2" y="2671"/>
                </a:moveTo>
                <a:lnTo>
                  <a:pt x="0" y="2600"/>
                </a:lnTo>
                <a:cubicBezTo>
                  <a:pt x="-61" y="1134"/>
                  <a:pt x="2029" y="-34"/>
                  <a:pt x="3692" y="0"/>
                </a:cubicBezTo>
                <a:lnTo>
                  <a:pt x="3782" y="1"/>
                </a:lnTo>
                <a:lnTo>
                  <a:pt x="3883" y="0"/>
                </a:lnTo>
                <a:cubicBezTo>
                  <a:pt x="5384" y="-62"/>
                  <a:pt x="6810" y="865"/>
                  <a:pt x="7224" y="1570"/>
                </a:cubicBezTo>
                <a:cubicBezTo>
                  <a:pt x="7059" y="1786"/>
                  <a:pt x="6904" y="2274"/>
                  <a:pt x="6896" y="2455"/>
                </a:cubicBezTo>
                <a:cubicBezTo>
                  <a:pt x="6837" y="1571"/>
                  <a:pt x="5325" y="542"/>
                  <a:pt x="3888" y="603"/>
                </a:cubicBezTo>
                <a:lnTo>
                  <a:pt x="3805" y="604"/>
                </a:lnTo>
                <a:lnTo>
                  <a:pt x="3731" y="603"/>
                </a:lnTo>
                <a:cubicBezTo>
                  <a:pt x="2190" y="569"/>
                  <a:pt x="647" y="1616"/>
                  <a:pt x="697" y="2644"/>
                </a:cubicBezTo>
                <a:lnTo>
                  <a:pt x="698" y="2700"/>
                </a:lnTo>
                <a:lnTo>
                  <a:pt x="697" y="2750"/>
                </a:lnTo>
                <a:cubicBezTo>
                  <a:pt x="646" y="3789"/>
                  <a:pt x="2198" y="4830"/>
                  <a:pt x="3722" y="4797"/>
                </a:cubicBezTo>
                <a:lnTo>
                  <a:pt x="3805" y="4796"/>
                </a:lnTo>
                <a:lnTo>
                  <a:pt x="3879" y="4797"/>
                </a:lnTo>
                <a:cubicBezTo>
                  <a:pt x="5311" y="4848"/>
                  <a:pt x="6783" y="3868"/>
                  <a:pt x="6889" y="3003"/>
                </a:cubicBezTo>
                <a:cubicBezTo>
                  <a:pt x="6895" y="3266"/>
                  <a:pt x="7069" y="3716"/>
                  <a:pt x="7170" y="3870"/>
                </a:cubicBezTo>
                <a:cubicBezTo>
                  <a:pt x="6587" y="4749"/>
                  <a:pt x="5020" y="5371"/>
                  <a:pt x="3873" y="5342"/>
                </a:cubicBezTo>
                <a:lnTo>
                  <a:pt x="3782" y="5341"/>
                </a:lnTo>
                <a:lnTo>
                  <a:pt x="3682" y="5342"/>
                </a:lnTo>
                <a:cubicBezTo>
                  <a:pt x="1606" y="5385"/>
                  <a:pt x="-48" y="3909"/>
                  <a:pt x="0" y="2735"/>
                </a:cubicBezTo>
                <a:lnTo>
                  <a:pt x="2" y="2671"/>
                </a:lnTo>
                <a:close/>
              </a:path>
            </a:pathLst>
          </a:custGeom>
          <a:solidFill>
            <a:srgbClr val="E6E6E6">
              <a:alpha val="50000"/>
            </a:srgbClr>
          </a:solidFill>
          <a:ln w="12700" cmpd="sng">
            <a:solidFill>
              <a:srgbClr val="0042FF">
                <a:alpha val="20000"/>
              </a:srgbClr>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1" name="任意多边形 20"/>
          <p:cNvSpPr/>
          <p:nvPr/>
        </p:nvSpPr>
        <p:spPr>
          <a:xfrm>
            <a:off x="5622925" y="2039620"/>
            <a:ext cx="2729865" cy="289306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4300" h="4561">
                <a:moveTo>
                  <a:pt x="54" y="1077"/>
                </a:moveTo>
                <a:cubicBezTo>
                  <a:pt x="389" y="478"/>
                  <a:pt x="1321" y="-43"/>
                  <a:pt x="1950" y="0"/>
                </a:cubicBezTo>
                <a:lnTo>
                  <a:pt x="2005" y="1"/>
                </a:lnTo>
                <a:lnTo>
                  <a:pt x="2066" y="0"/>
                </a:lnTo>
                <a:cubicBezTo>
                  <a:pt x="3325" y="-37"/>
                  <a:pt x="4328" y="1222"/>
                  <a:pt x="4299" y="2223"/>
                </a:cubicBezTo>
                <a:lnTo>
                  <a:pt x="4298" y="2278"/>
                </a:lnTo>
                <a:lnTo>
                  <a:pt x="4299" y="2339"/>
                </a:lnTo>
                <a:cubicBezTo>
                  <a:pt x="4336" y="3589"/>
                  <a:pt x="3068" y="4585"/>
                  <a:pt x="2060" y="4556"/>
                </a:cubicBezTo>
                <a:lnTo>
                  <a:pt x="2005" y="4555"/>
                </a:lnTo>
                <a:lnTo>
                  <a:pt x="1943" y="4556"/>
                </a:lnTo>
                <a:cubicBezTo>
                  <a:pt x="1101" y="4613"/>
                  <a:pt x="257" y="3888"/>
                  <a:pt x="0" y="3376"/>
                </a:cubicBezTo>
                <a:cubicBezTo>
                  <a:pt x="200" y="3164"/>
                  <a:pt x="438" y="2511"/>
                  <a:pt x="395" y="2249"/>
                </a:cubicBezTo>
                <a:lnTo>
                  <a:pt x="394" y="2178"/>
                </a:lnTo>
                <a:lnTo>
                  <a:pt x="395" y="2114"/>
                </a:lnTo>
                <a:cubicBezTo>
                  <a:pt x="425" y="1775"/>
                  <a:pt x="184" y="1248"/>
                  <a:pt x="54" y="1077"/>
                </a:cubicBezTo>
                <a:close/>
                <a:moveTo>
                  <a:pt x="451" y="2278"/>
                </a:moveTo>
                <a:lnTo>
                  <a:pt x="450" y="2237"/>
                </a:lnTo>
                <a:cubicBezTo>
                  <a:pt x="425" y="1390"/>
                  <a:pt x="1284" y="715"/>
                  <a:pt x="1967" y="735"/>
                </a:cubicBezTo>
                <a:lnTo>
                  <a:pt x="2005" y="736"/>
                </a:lnTo>
                <a:lnTo>
                  <a:pt x="2046" y="735"/>
                </a:lnTo>
                <a:cubicBezTo>
                  <a:pt x="2899" y="710"/>
                  <a:pt x="3578" y="1563"/>
                  <a:pt x="3559" y="2241"/>
                </a:cubicBezTo>
                <a:lnTo>
                  <a:pt x="3558" y="2278"/>
                </a:lnTo>
                <a:lnTo>
                  <a:pt x="3559" y="2319"/>
                </a:lnTo>
                <a:cubicBezTo>
                  <a:pt x="3584" y="3166"/>
                  <a:pt x="2725" y="3841"/>
                  <a:pt x="2042" y="3821"/>
                </a:cubicBezTo>
                <a:lnTo>
                  <a:pt x="2005" y="3820"/>
                </a:lnTo>
                <a:lnTo>
                  <a:pt x="1963" y="3821"/>
                </a:lnTo>
                <a:cubicBezTo>
                  <a:pt x="1110" y="3846"/>
                  <a:pt x="431" y="2993"/>
                  <a:pt x="451" y="2315"/>
                </a:cubicBezTo>
                <a:lnTo>
                  <a:pt x="451" y="2278"/>
                </a:lnTo>
                <a:close/>
              </a:path>
            </a:pathLst>
          </a:custGeom>
          <a:solidFill>
            <a:srgbClr val="668EFF">
              <a:alpha val="50000"/>
            </a:srgbClr>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4" name="椭圆 23"/>
          <p:cNvSpPr/>
          <p:nvPr/>
        </p:nvSpPr>
        <p:spPr>
          <a:xfrm>
            <a:off x="1647190" y="2265680"/>
            <a:ext cx="3715385" cy="2301240"/>
          </a:xfrm>
          <a:prstGeom prst="ellipse">
            <a:avLst/>
          </a:prstGeom>
          <a:noFill/>
          <a:ln w="12700" cmpd="sng">
            <a:solidFill>
              <a:srgbClr val="0042FF"/>
            </a:solidFill>
            <a:prstDash val="sysDash"/>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5" name="椭圆 24"/>
          <p:cNvSpPr/>
          <p:nvPr/>
        </p:nvSpPr>
        <p:spPr>
          <a:xfrm>
            <a:off x="2998470" y="1701165"/>
            <a:ext cx="430530" cy="430530"/>
          </a:xfrm>
          <a:prstGeom prst="ellipse">
            <a:avLst/>
          </a:prstGeom>
          <a:solidFill>
            <a:srgbClr val="0042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2" name="椭圆 31"/>
          <p:cNvSpPr/>
          <p:nvPr/>
        </p:nvSpPr>
        <p:spPr>
          <a:xfrm>
            <a:off x="5968365" y="2218055"/>
            <a:ext cx="505460" cy="505460"/>
          </a:xfrm>
          <a:prstGeom prst="ellipse">
            <a:avLst/>
          </a:prstGeom>
          <a:solidFill>
            <a:srgbClr val="3368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000"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9" name="椭圆 38"/>
          <p:cNvSpPr/>
          <p:nvPr/>
        </p:nvSpPr>
        <p:spPr>
          <a:xfrm>
            <a:off x="5438775" y="1629410"/>
            <a:ext cx="434975" cy="434975"/>
          </a:xfrm>
          <a:prstGeom prst="ellipse">
            <a:avLst/>
          </a:prstGeom>
          <a:solidFill>
            <a:srgbClr val="3368FF"/>
          </a:solidFill>
          <a:ln w="12700" cmpd="sng">
            <a:solidFill>
              <a:srgbClr val="FFFFFF"/>
            </a:solidFill>
            <a:prstDash val="solid"/>
          </a:ln>
          <a:effectLst>
            <a:glow rad="63500">
              <a:srgbClr val="B3D4FE">
                <a:alpha val="40000"/>
              </a:srgbClr>
            </a:glo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46" name="弧 57"/>
          <p:cNvSpPr/>
          <p:nvPr/>
        </p:nvSpPr>
        <p:spPr>
          <a:xfrm rot="6352716">
            <a:off x="4831715" y="1494790"/>
            <a:ext cx="4171950" cy="4207510"/>
          </a:xfrm>
          <a:prstGeom prst="arc">
            <a:avLst>
              <a:gd name="adj1" fmla="val 15948615"/>
              <a:gd name="adj2" fmla="val 1240212"/>
            </a:avLst>
          </a:prstGeom>
          <a:ln w="25400">
            <a:solidFill>
              <a:srgbClr val="3368FF"/>
            </a:solidFill>
            <a:prstDash val="sysDot"/>
            <a:tailEnd type="triangle"/>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49" name="文本框 48"/>
          <p:cNvSpPr txBox="1"/>
          <p:nvPr/>
        </p:nvSpPr>
        <p:spPr>
          <a:xfrm>
            <a:off x="2769870" y="2921635"/>
            <a:ext cx="1652270" cy="475615"/>
          </a:xfrm>
          <a:prstGeom prst="rect">
            <a:avLst/>
          </a:prstGeom>
          <a:noFill/>
        </p:spPr>
        <p:txBody>
          <a:bodyPr wrap="square" rtlCol="0">
            <a:spAutoFit/>
          </a:bodyPr>
          <a:p>
            <a:pPr algn="ctr">
              <a:defRPr>
                <a:latin typeface="微软雅黑"/>
                <a:ea typeface="微软雅黑"/>
                <a:cs typeface="微软雅黑"/>
              </a:defRPr>
            </a:pPr>
            <a:r>
              <a:rPr lang="zh-CN" altLang="en-US" sz="2500" b="1">
                <a:solidFill>
                  <a:srgbClr val="0042FF"/>
                </a:solidFill>
                <a:latin typeface="微软雅黑"/>
                <a:ea typeface="微软雅黑"/>
                <a:cs typeface="微软雅黑"/>
              </a:rPr>
              <a:t>公域阵地</a:t>
            </a:r>
            <a:endParaRPr lang="zh-CN" altLang="en-US" sz="2500" b="1">
              <a:solidFill>
                <a:srgbClr val="0042FF"/>
              </a:solidFill>
              <a:latin typeface="微软雅黑"/>
              <a:ea typeface="微软雅黑"/>
              <a:cs typeface="微软雅黑"/>
            </a:endParaRPr>
          </a:p>
        </p:txBody>
      </p:sp>
      <p:sp>
        <p:nvSpPr>
          <p:cNvPr id="50" name="文本框 49"/>
          <p:cNvSpPr txBox="1"/>
          <p:nvPr/>
        </p:nvSpPr>
        <p:spPr>
          <a:xfrm>
            <a:off x="2267585" y="3470275"/>
            <a:ext cx="2608580" cy="36830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a:solidFill>
                  <a:srgbClr val="383838"/>
                </a:solidFill>
                <a:latin typeface="微软雅黑"/>
                <a:ea typeface="微软雅黑"/>
                <a:cs typeface="微软雅黑"/>
              </a:rPr>
              <a:t>精准获客及流量转化</a:t>
            </a:r>
            <a:endParaRPr lang="zh-CN" altLang="en-US">
              <a:solidFill>
                <a:srgbClr val="383838"/>
              </a:solidFill>
              <a:latin typeface="微软雅黑"/>
              <a:ea typeface="微软雅黑"/>
              <a:cs typeface="微软雅黑"/>
            </a:endParaRPr>
          </a:p>
        </p:txBody>
      </p:sp>
      <p:sp>
        <p:nvSpPr>
          <p:cNvPr id="71" name="文本框 70"/>
          <p:cNvSpPr txBox="1"/>
          <p:nvPr/>
        </p:nvSpPr>
        <p:spPr>
          <a:xfrm>
            <a:off x="2267585" y="1726565"/>
            <a:ext cx="798195" cy="460375"/>
          </a:xfrm>
          <a:prstGeom prst="rect">
            <a:avLst/>
          </a:prstGeom>
          <a:noFill/>
        </p:spPr>
        <p:txBody>
          <a:bodyPr wrap="square" rtlCol="0">
            <a:spAutoFit/>
          </a:bodyPr>
          <a:p>
            <a:pPr algn="ctr">
              <a:defRPr>
                <a:latin typeface="微软雅黑"/>
                <a:ea typeface="微软雅黑"/>
                <a:cs typeface="微软雅黑"/>
              </a:defRPr>
            </a:pPr>
            <a:r>
              <a:rPr lang="zh-CN" sz="1200">
                <a:latin typeface="微软雅黑"/>
                <a:ea typeface="微软雅黑"/>
                <a:cs typeface="微软雅黑"/>
              </a:rPr>
              <a:t>知乎等搜索引擎</a:t>
            </a:r>
            <a:endParaRPr lang="zh-CN" sz="1200">
              <a:latin typeface="微软雅黑"/>
              <a:ea typeface="微软雅黑"/>
              <a:cs typeface="微软雅黑"/>
            </a:endParaRPr>
          </a:p>
        </p:txBody>
      </p:sp>
      <p:sp>
        <p:nvSpPr>
          <p:cNvPr id="72" name="文本框 71"/>
          <p:cNvSpPr txBox="1"/>
          <p:nvPr/>
        </p:nvSpPr>
        <p:spPr>
          <a:xfrm>
            <a:off x="4016375" y="1783080"/>
            <a:ext cx="628650" cy="460375"/>
          </a:xfrm>
          <a:prstGeom prst="rect">
            <a:avLst/>
          </a:prstGeom>
          <a:noFill/>
        </p:spPr>
        <p:txBody>
          <a:bodyPr wrap="square" rtlCol="0">
            <a:spAutoFit/>
          </a:bodyPr>
          <a:p>
            <a:pPr>
              <a:defRPr>
                <a:latin typeface="微软雅黑"/>
                <a:ea typeface="微软雅黑"/>
                <a:cs typeface="微软雅黑"/>
              </a:defRPr>
            </a:pPr>
            <a:r>
              <a:rPr lang="zh-CN" altLang="en-US" sz="1200">
                <a:latin typeface="微软雅黑"/>
                <a:ea typeface="微软雅黑"/>
                <a:cs typeface="微软雅黑"/>
              </a:rPr>
              <a:t>钉钉课堂</a:t>
            </a:r>
            <a:endParaRPr lang="zh-CN" altLang="en-US" sz="1200">
              <a:latin typeface="微软雅黑"/>
              <a:ea typeface="微软雅黑"/>
              <a:cs typeface="微软雅黑"/>
            </a:endParaRPr>
          </a:p>
        </p:txBody>
      </p:sp>
      <p:sp>
        <p:nvSpPr>
          <p:cNvPr id="73" name="文本框 72"/>
          <p:cNvSpPr txBox="1"/>
          <p:nvPr/>
        </p:nvSpPr>
        <p:spPr>
          <a:xfrm>
            <a:off x="4264025" y="4564380"/>
            <a:ext cx="749935" cy="460375"/>
          </a:xfrm>
          <a:prstGeom prst="rect">
            <a:avLst/>
          </a:prstGeom>
          <a:noFill/>
        </p:spPr>
        <p:txBody>
          <a:bodyPr wrap="square" rtlCol="0">
            <a:spAutoFit/>
          </a:bodyPr>
          <a:p>
            <a:pPr>
              <a:defRPr>
                <a:latin typeface="微软雅黑"/>
                <a:ea typeface="微软雅黑"/>
                <a:cs typeface="微软雅黑"/>
              </a:defRPr>
            </a:pPr>
            <a:r>
              <a:rPr lang="en-US" altLang="zh-CN" sz="1200">
                <a:latin typeface="微软雅黑"/>
                <a:ea typeface="微软雅黑"/>
                <a:cs typeface="微软雅黑"/>
              </a:rPr>
              <a:t>B</a:t>
            </a:r>
            <a:r>
              <a:rPr lang="zh-CN" altLang="en-US" sz="1200">
                <a:latin typeface="微软雅黑"/>
                <a:ea typeface="微软雅黑"/>
                <a:cs typeface="微软雅黑"/>
              </a:rPr>
              <a:t>站等视频平台</a:t>
            </a:r>
            <a:endParaRPr lang="zh-CN" altLang="en-US" sz="1200">
              <a:latin typeface="微软雅黑"/>
              <a:ea typeface="微软雅黑"/>
              <a:cs typeface="微软雅黑"/>
            </a:endParaRPr>
          </a:p>
        </p:txBody>
      </p:sp>
      <p:sp>
        <p:nvSpPr>
          <p:cNvPr id="74" name="文本框 73"/>
          <p:cNvSpPr txBox="1"/>
          <p:nvPr/>
        </p:nvSpPr>
        <p:spPr>
          <a:xfrm>
            <a:off x="1095375" y="3815080"/>
            <a:ext cx="680085" cy="460375"/>
          </a:xfrm>
          <a:prstGeom prst="rect">
            <a:avLst/>
          </a:prstGeom>
          <a:noFill/>
        </p:spPr>
        <p:txBody>
          <a:bodyPr wrap="square" rtlCol="0">
            <a:spAutoFit/>
          </a:bodyPr>
          <a:p>
            <a:pPr algn="ctr">
              <a:defRPr>
                <a:latin typeface="微软雅黑"/>
                <a:ea typeface="微软雅黑"/>
                <a:cs typeface="微软雅黑"/>
              </a:defRPr>
            </a:pPr>
            <a:r>
              <a:rPr lang="zh-CN" sz="1200">
                <a:latin typeface="微软雅黑"/>
                <a:ea typeface="微软雅黑"/>
                <a:cs typeface="微软雅黑"/>
              </a:rPr>
              <a:t>小红书种草</a:t>
            </a:r>
            <a:endParaRPr lang="zh-CN" sz="1200">
              <a:latin typeface="微软雅黑"/>
              <a:ea typeface="微软雅黑"/>
              <a:cs typeface="微软雅黑"/>
            </a:endParaRPr>
          </a:p>
        </p:txBody>
      </p:sp>
      <p:sp>
        <p:nvSpPr>
          <p:cNvPr id="75" name="文本框 74"/>
          <p:cNvSpPr txBox="1"/>
          <p:nvPr/>
        </p:nvSpPr>
        <p:spPr>
          <a:xfrm>
            <a:off x="5156835" y="1322705"/>
            <a:ext cx="1135380" cy="275590"/>
          </a:xfrm>
          <a:prstGeom prst="rect">
            <a:avLst/>
          </a:prstGeom>
          <a:noFill/>
        </p:spPr>
        <p:txBody>
          <a:bodyPr wrap="square" rtlCol="0">
            <a:spAutoFit/>
          </a:bodyPr>
          <a:p>
            <a:pPr algn="ctr">
              <a:defRPr>
                <a:latin typeface="微软雅黑"/>
                <a:ea typeface="微软雅黑"/>
                <a:cs typeface="微软雅黑"/>
              </a:defRPr>
            </a:pPr>
            <a:r>
              <a:rPr lang="zh-CN" sz="1200" b="1">
                <a:solidFill>
                  <a:srgbClr val="0042FF"/>
                </a:solidFill>
                <a:latin typeface="微软雅黑"/>
                <a:ea typeface="微软雅黑"/>
                <a:cs typeface="微软雅黑"/>
              </a:rPr>
              <a:t>以客户为中心</a:t>
            </a:r>
            <a:endParaRPr lang="zh-CN" sz="1200" b="1">
              <a:solidFill>
                <a:srgbClr val="0042FF"/>
              </a:solidFill>
              <a:latin typeface="微软雅黑"/>
              <a:ea typeface="微软雅黑"/>
              <a:cs typeface="微软雅黑"/>
            </a:endParaRPr>
          </a:p>
        </p:txBody>
      </p:sp>
      <p:sp>
        <p:nvSpPr>
          <p:cNvPr id="86" name="矩形 85"/>
          <p:cNvSpPr/>
          <p:nvPr/>
        </p:nvSpPr>
        <p:spPr>
          <a:xfrm rot="180000">
            <a:off x="3261360" y="1120775"/>
            <a:ext cx="882015" cy="36195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200" dirty="0">
                <a:solidFill>
                  <a:srgbClr val="383838"/>
                </a:solidFill>
                <a:effectLst/>
                <a:latin typeface="微软雅黑"/>
                <a:ea typeface="微软雅黑"/>
                <a:cs typeface="微软雅黑"/>
                <a:sym typeface="微软雅黑"/>
              </a:rPr>
              <a:t>流量导入</a:t>
            </a:r>
            <a:endParaRPr lang="zh-CN" altLang="en-US" sz="1200" dirty="0">
              <a:solidFill>
                <a:srgbClr val="383838"/>
              </a:solidFill>
              <a:effectLst/>
              <a:latin typeface="微软雅黑"/>
              <a:ea typeface="微软雅黑"/>
              <a:cs typeface="微软雅黑"/>
              <a:sym typeface="微软雅黑"/>
            </a:endParaRPr>
          </a:p>
        </p:txBody>
      </p:sp>
      <p:sp>
        <p:nvSpPr>
          <p:cNvPr id="87" name="矩形 86"/>
          <p:cNvSpPr/>
          <p:nvPr/>
        </p:nvSpPr>
        <p:spPr>
          <a:xfrm rot="21360000">
            <a:off x="336550" y="3242945"/>
            <a:ext cx="416560" cy="79756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p>
            <a:pPr lvl="0" algn="ctr">
              <a:buClrTx/>
              <a:buSzTx/>
              <a:buFontTx/>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产品种草</a:t>
            </a:r>
            <a:endParaRPr lang="zh-CN" altLang="en-US" sz="1000" dirty="0">
              <a:solidFill>
                <a:srgbClr val="383838"/>
              </a:solidFill>
              <a:effectLst/>
              <a:latin typeface="微软雅黑"/>
              <a:ea typeface="微软雅黑"/>
              <a:cs typeface="微软雅黑"/>
              <a:sym typeface="微软雅黑"/>
            </a:endParaRPr>
          </a:p>
        </p:txBody>
      </p:sp>
      <p:sp>
        <p:nvSpPr>
          <p:cNvPr id="88" name="文本框 87"/>
          <p:cNvSpPr txBox="1"/>
          <p:nvPr/>
        </p:nvSpPr>
        <p:spPr>
          <a:xfrm>
            <a:off x="1336675" y="2395220"/>
            <a:ext cx="655320" cy="460375"/>
          </a:xfrm>
          <a:prstGeom prst="rect">
            <a:avLst/>
          </a:prstGeom>
          <a:noFill/>
        </p:spPr>
        <p:txBody>
          <a:bodyPr wrap="square" rtlCol="0">
            <a:spAutoFit/>
          </a:bodyPr>
          <a:p>
            <a:pPr algn="ctr">
              <a:defRPr>
                <a:latin typeface="微软雅黑"/>
                <a:ea typeface="微软雅黑"/>
                <a:cs typeface="微软雅黑"/>
              </a:defRPr>
            </a:pPr>
            <a:r>
              <a:rPr lang="zh-CN" sz="1200">
                <a:latin typeface="微软雅黑"/>
                <a:ea typeface="微软雅黑"/>
                <a:cs typeface="微软雅黑"/>
              </a:rPr>
              <a:t>微信公众号</a:t>
            </a:r>
            <a:endParaRPr lang="zh-CN" sz="1200">
              <a:latin typeface="微软雅黑"/>
              <a:ea typeface="微软雅黑"/>
              <a:cs typeface="微软雅黑"/>
            </a:endParaRPr>
          </a:p>
        </p:txBody>
      </p:sp>
      <p:sp>
        <p:nvSpPr>
          <p:cNvPr id="90" name="等腰三角形 89"/>
          <p:cNvSpPr/>
          <p:nvPr/>
        </p:nvSpPr>
        <p:spPr>
          <a:xfrm rot="18360000" flipV="1">
            <a:off x="5271135" y="1691640"/>
            <a:ext cx="76200" cy="76200"/>
          </a:xfrm>
          <a:prstGeom prst="triangle">
            <a:avLst/>
          </a:prstGeom>
          <a:solidFill>
            <a:srgbClr val="0042FF"/>
          </a:solidFill>
          <a:ln w="12700" cmpd="sng">
            <a:solidFill>
              <a:srgbClr val="0042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1" name="矩形 90"/>
          <p:cNvSpPr/>
          <p:nvPr/>
        </p:nvSpPr>
        <p:spPr>
          <a:xfrm rot="180000">
            <a:off x="1732280" y="1537970"/>
            <a:ext cx="128905" cy="16002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200" dirty="0">
              <a:solidFill>
                <a:srgbClr val="0042FF"/>
              </a:solidFill>
              <a:effectLst/>
              <a:latin typeface="微软雅黑"/>
              <a:ea typeface="微软雅黑"/>
              <a:cs typeface="微软雅黑"/>
              <a:sym typeface="微软雅黑"/>
            </a:endParaRPr>
          </a:p>
        </p:txBody>
      </p:sp>
      <p:sp>
        <p:nvSpPr>
          <p:cNvPr id="92" name="等腰三角形 91"/>
          <p:cNvSpPr/>
          <p:nvPr/>
        </p:nvSpPr>
        <p:spPr>
          <a:xfrm rot="14580000" flipV="1">
            <a:off x="1685925" y="1612265"/>
            <a:ext cx="76200" cy="76200"/>
          </a:xfrm>
          <a:prstGeom prst="triangle">
            <a:avLst/>
          </a:prstGeom>
          <a:solidFill>
            <a:srgbClr val="0042FF"/>
          </a:solidFill>
          <a:ln w="12700" cmpd="sng">
            <a:solidFill>
              <a:srgbClr val="0042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3" name="矩形 92"/>
          <p:cNvSpPr/>
          <p:nvPr/>
        </p:nvSpPr>
        <p:spPr>
          <a:xfrm rot="180000">
            <a:off x="1995805" y="5189220"/>
            <a:ext cx="128905" cy="16002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200" dirty="0">
              <a:solidFill>
                <a:srgbClr val="0042FF"/>
              </a:solidFill>
              <a:effectLst/>
              <a:latin typeface="微软雅黑"/>
              <a:ea typeface="微软雅黑"/>
              <a:cs typeface="微软雅黑"/>
              <a:sym typeface="微软雅黑"/>
            </a:endParaRPr>
          </a:p>
        </p:txBody>
      </p:sp>
      <p:sp>
        <p:nvSpPr>
          <p:cNvPr id="94" name="等腰三角形 93"/>
          <p:cNvSpPr/>
          <p:nvPr/>
        </p:nvSpPr>
        <p:spPr>
          <a:xfrm rot="7200000" flipV="1">
            <a:off x="2105025" y="5288280"/>
            <a:ext cx="76200" cy="76200"/>
          </a:xfrm>
          <a:prstGeom prst="triangle">
            <a:avLst/>
          </a:prstGeom>
          <a:solidFill>
            <a:srgbClr val="0042FF"/>
          </a:solidFill>
          <a:ln w="12700" cmpd="sng">
            <a:solidFill>
              <a:srgbClr val="0042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5" name="矩形 94"/>
          <p:cNvSpPr/>
          <p:nvPr/>
        </p:nvSpPr>
        <p:spPr>
          <a:xfrm>
            <a:off x="3354070" y="5382895"/>
            <a:ext cx="882015" cy="36195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200" dirty="0">
                <a:solidFill>
                  <a:srgbClr val="383838"/>
                </a:solidFill>
                <a:effectLst/>
                <a:latin typeface="微软雅黑"/>
                <a:ea typeface="微软雅黑"/>
                <a:cs typeface="微软雅黑"/>
                <a:sym typeface="微软雅黑"/>
              </a:rPr>
              <a:t>内容分发</a:t>
            </a:r>
            <a:endParaRPr lang="zh-CN" altLang="en-US" sz="1200" dirty="0">
              <a:solidFill>
                <a:srgbClr val="383838"/>
              </a:solidFill>
              <a:effectLst/>
              <a:latin typeface="微软雅黑"/>
              <a:ea typeface="微软雅黑"/>
              <a:cs typeface="微软雅黑"/>
              <a:sym typeface="微软雅黑"/>
            </a:endParaRPr>
          </a:p>
        </p:txBody>
      </p:sp>
      <p:sp>
        <p:nvSpPr>
          <p:cNvPr id="96" name="椭圆 95"/>
          <p:cNvSpPr/>
          <p:nvPr/>
        </p:nvSpPr>
        <p:spPr>
          <a:xfrm>
            <a:off x="6085840" y="2656205"/>
            <a:ext cx="1663700" cy="1663700"/>
          </a:xfrm>
          <a:prstGeom prst="ellipse">
            <a:avLst/>
          </a:prstGeom>
          <a:noFill/>
          <a:ln w="12700" cmpd="sng">
            <a:solidFill>
              <a:srgbClr val="3368FF"/>
            </a:solidFill>
            <a:prstDash val="sysDash"/>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7" name="椭圆 96"/>
          <p:cNvSpPr/>
          <p:nvPr/>
        </p:nvSpPr>
        <p:spPr>
          <a:xfrm>
            <a:off x="5041900" y="1610360"/>
            <a:ext cx="3750945" cy="3755390"/>
          </a:xfrm>
          <a:prstGeom prst="ellipse">
            <a:avLst/>
          </a:prstGeom>
          <a:noFill/>
          <a:ln w="12700" cmpd="sng">
            <a:gradFill>
              <a:gsLst>
                <a:gs pos="15000">
                  <a:srgbClr val="3368FF">
                    <a:alpha val="0"/>
                  </a:srgbClr>
                </a:gs>
                <a:gs pos="100000">
                  <a:srgbClr val="3368FF"/>
                </a:gs>
              </a:gsLst>
              <a:lin ang="0" scaled="1"/>
            </a:gradFill>
            <a:prstDash val="sysDash"/>
          </a:ln>
          <a:extLst>
            <a:ext uri="{909E8E84-426E-40DD-AFC4-6F175D3DCCD1}">
              <a14:hiddenFill xmlns:a14="http://schemas.microsoft.com/office/drawing/2010/main">
                <a:solidFill>
                  <a:srgbClr val="FFFF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945" b="1">
                <a:solidFill>
                  <a:srgbClr val="383838"/>
                </a:solidFill>
                <a:latin typeface="微软雅黑"/>
                <a:ea typeface="微软雅黑"/>
                <a:cs typeface="微软雅黑"/>
                <a:sym typeface="微软雅黑"/>
              </a:rPr>
              <a:t>私域阵地</a:t>
            </a:r>
            <a:endParaRPr lang="zh-CN" altLang="en-US" sz="1945" b="1">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endParaRPr lang="zh-CN" altLang="en-US" sz="1945" b="1">
              <a:solidFill>
                <a:srgbClr val="383838"/>
              </a:solidFill>
              <a:latin typeface="微软雅黑"/>
              <a:ea typeface="微软雅黑"/>
              <a:cs typeface="微软雅黑"/>
            </a:endParaRPr>
          </a:p>
          <a:p>
            <a:pPr lvl="0" algn="ctr">
              <a:buClrTx/>
              <a:buSzTx/>
              <a:buFontTx/>
              <a:defRPr>
                <a:latin typeface="微软雅黑"/>
                <a:ea typeface="微软雅黑"/>
                <a:cs typeface="微软雅黑"/>
              </a:defRPr>
            </a:pPr>
            <a:endParaRPr lang="zh-CN" altLang="en-US" sz="1945" b="1"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8" name="矩形 97"/>
          <p:cNvSpPr/>
          <p:nvPr/>
        </p:nvSpPr>
        <p:spPr>
          <a:xfrm>
            <a:off x="6386195" y="1398270"/>
            <a:ext cx="882015" cy="36195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200" dirty="0">
                <a:solidFill>
                  <a:srgbClr val="383838"/>
                </a:solidFill>
                <a:effectLst/>
                <a:latin typeface="微软雅黑"/>
                <a:ea typeface="微软雅黑"/>
                <a:cs typeface="微软雅黑"/>
                <a:sym typeface="微软雅黑"/>
              </a:rPr>
              <a:t>深度互动</a:t>
            </a:r>
            <a:endParaRPr lang="zh-CN" altLang="en-US" sz="1200" dirty="0">
              <a:solidFill>
                <a:srgbClr val="383838"/>
              </a:solidFill>
              <a:effectLst/>
              <a:latin typeface="微软雅黑"/>
              <a:ea typeface="微软雅黑"/>
              <a:cs typeface="微软雅黑"/>
              <a:sym typeface="微软雅黑"/>
            </a:endParaRPr>
          </a:p>
        </p:txBody>
      </p:sp>
      <p:sp>
        <p:nvSpPr>
          <p:cNvPr id="99" name="矩形 98"/>
          <p:cNvSpPr/>
          <p:nvPr/>
        </p:nvSpPr>
        <p:spPr>
          <a:xfrm>
            <a:off x="8193405" y="2294255"/>
            <a:ext cx="549910" cy="36195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200" dirty="0">
                <a:solidFill>
                  <a:srgbClr val="383838"/>
                </a:solidFill>
                <a:effectLst/>
                <a:latin typeface="微软雅黑"/>
                <a:ea typeface="微软雅黑"/>
                <a:cs typeface="微软雅黑"/>
                <a:sym typeface="微软雅黑"/>
              </a:rPr>
              <a:t>用户</a:t>
            </a:r>
            <a:endParaRPr lang="zh-CN" altLang="en-US" sz="1200" dirty="0">
              <a:solidFill>
                <a:srgbClr val="383838"/>
              </a:solidFill>
              <a:effectLst/>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200" dirty="0">
                <a:solidFill>
                  <a:srgbClr val="383838"/>
                </a:solidFill>
                <a:effectLst/>
                <a:latin typeface="微软雅黑"/>
                <a:ea typeface="微软雅黑"/>
                <a:cs typeface="微软雅黑"/>
                <a:sym typeface="微软雅黑"/>
              </a:rPr>
              <a:t>运营</a:t>
            </a:r>
            <a:endParaRPr lang="zh-CN" altLang="en-US" sz="1200" dirty="0">
              <a:solidFill>
                <a:srgbClr val="383838"/>
              </a:solidFill>
              <a:effectLst/>
              <a:latin typeface="微软雅黑"/>
              <a:ea typeface="微软雅黑"/>
              <a:cs typeface="微软雅黑"/>
              <a:sym typeface="微软雅黑"/>
            </a:endParaRPr>
          </a:p>
        </p:txBody>
      </p:sp>
      <p:sp>
        <p:nvSpPr>
          <p:cNvPr id="100" name="矩形 99"/>
          <p:cNvSpPr/>
          <p:nvPr/>
        </p:nvSpPr>
        <p:spPr>
          <a:xfrm rot="480000">
            <a:off x="8468995" y="3665220"/>
            <a:ext cx="549910" cy="36195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200" dirty="0">
                <a:solidFill>
                  <a:srgbClr val="383838"/>
                </a:solidFill>
                <a:effectLst/>
                <a:latin typeface="微软雅黑"/>
                <a:ea typeface="微软雅黑"/>
                <a:cs typeface="微软雅黑"/>
                <a:sym typeface="微软雅黑"/>
              </a:rPr>
              <a:t>课程试听</a:t>
            </a:r>
            <a:endParaRPr lang="zh-CN" altLang="en-US" sz="1200" dirty="0">
              <a:solidFill>
                <a:srgbClr val="383838"/>
              </a:solidFill>
              <a:effectLst/>
              <a:latin typeface="微软雅黑"/>
              <a:ea typeface="微软雅黑"/>
              <a:cs typeface="微软雅黑"/>
              <a:sym typeface="微软雅黑"/>
            </a:endParaRPr>
          </a:p>
        </p:txBody>
      </p:sp>
      <p:sp>
        <p:nvSpPr>
          <p:cNvPr id="101" name="矩形 100"/>
          <p:cNvSpPr/>
          <p:nvPr/>
        </p:nvSpPr>
        <p:spPr>
          <a:xfrm rot="21060000">
            <a:off x="6985000" y="5059045"/>
            <a:ext cx="1005205" cy="36195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200" dirty="0">
                <a:solidFill>
                  <a:srgbClr val="383838"/>
                </a:solidFill>
                <a:effectLst/>
                <a:latin typeface="微软雅黑"/>
                <a:ea typeface="微软雅黑"/>
                <a:cs typeface="微软雅黑"/>
                <a:sym typeface="微软雅黑"/>
              </a:rPr>
              <a:t>社交分享</a:t>
            </a:r>
            <a:endParaRPr lang="zh-CN" altLang="en-US" sz="1200" dirty="0">
              <a:solidFill>
                <a:srgbClr val="383838"/>
              </a:solidFill>
              <a:effectLst/>
              <a:latin typeface="微软雅黑"/>
              <a:ea typeface="微软雅黑"/>
              <a:cs typeface="微软雅黑"/>
              <a:sym typeface="微软雅黑"/>
            </a:endParaRPr>
          </a:p>
        </p:txBody>
      </p:sp>
      <p:sp>
        <p:nvSpPr>
          <p:cNvPr id="104" name="等腰三角形 103"/>
          <p:cNvSpPr/>
          <p:nvPr/>
        </p:nvSpPr>
        <p:spPr>
          <a:xfrm rot="6420000" flipV="1">
            <a:off x="6142990" y="5177155"/>
            <a:ext cx="76200" cy="76200"/>
          </a:xfrm>
          <a:prstGeom prst="triangle">
            <a:avLst/>
          </a:prstGeom>
          <a:solidFill>
            <a:srgbClr val="3368FF"/>
          </a:solidFill>
          <a:ln w="12700" cmpd="sng">
            <a:solidFill>
              <a:srgbClr val="3368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6" name="矩形 105"/>
          <p:cNvSpPr/>
          <p:nvPr/>
        </p:nvSpPr>
        <p:spPr>
          <a:xfrm rot="180000">
            <a:off x="8009255" y="1979930"/>
            <a:ext cx="128905" cy="16002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200" dirty="0">
              <a:solidFill>
                <a:srgbClr val="0042FF"/>
              </a:solidFill>
              <a:effectLst/>
              <a:latin typeface="微软雅黑"/>
              <a:ea typeface="微软雅黑"/>
              <a:cs typeface="微软雅黑"/>
              <a:sym typeface="微软雅黑"/>
            </a:endParaRPr>
          </a:p>
        </p:txBody>
      </p:sp>
      <p:sp>
        <p:nvSpPr>
          <p:cNvPr id="107" name="等腰三角形 106"/>
          <p:cNvSpPr/>
          <p:nvPr/>
        </p:nvSpPr>
        <p:spPr>
          <a:xfrm rot="18000000" flipV="1">
            <a:off x="7966075" y="1919605"/>
            <a:ext cx="76200" cy="76200"/>
          </a:xfrm>
          <a:prstGeom prst="triangle">
            <a:avLst/>
          </a:prstGeom>
          <a:solidFill>
            <a:srgbClr val="3368FF"/>
          </a:solidFill>
          <a:ln w="12700" cmpd="sng">
            <a:solidFill>
              <a:srgbClr val="3368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8" name="矩形 107"/>
          <p:cNvSpPr/>
          <p:nvPr/>
        </p:nvSpPr>
        <p:spPr>
          <a:xfrm rot="180000">
            <a:off x="8706485" y="3148330"/>
            <a:ext cx="128905" cy="16002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200" dirty="0">
              <a:solidFill>
                <a:srgbClr val="0042FF"/>
              </a:solidFill>
              <a:effectLst/>
              <a:latin typeface="微软雅黑"/>
              <a:ea typeface="微软雅黑"/>
              <a:cs typeface="微软雅黑"/>
              <a:sym typeface="微软雅黑"/>
            </a:endParaRPr>
          </a:p>
        </p:txBody>
      </p:sp>
      <p:sp>
        <p:nvSpPr>
          <p:cNvPr id="109" name="等腰三角形 108"/>
          <p:cNvSpPr/>
          <p:nvPr/>
        </p:nvSpPr>
        <p:spPr>
          <a:xfrm rot="20400000" flipV="1">
            <a:off x="8713470" y="3077210"/>
            <a:ext cx="76200" cy="76200"/>
          </a:xfrm>
          <a:prstGeom prst="triangle">
            <a:avLst/>
          </a:prstGeom>
          <a:solidFill>
            <a:srgbClr val="3368FF"/>
          </a:solidFill>
          <a:ln w="12700" cmpd="sng">
            <a:solidFill>
              <a:srgbClr val="3368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0" name="矩形 109"/>
          <p:cNvSpPr/>
          <p:nvPr/>
        </p:nvSpPr>
        <p:spPr>
          <a:xfrm rot="180000">
            <a:off x="8356600" y="4570095"/>
            <a:ext cx="128905" cy="16002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200" dirty="0">
              <a:solidFill>
                <a:srgbClr val="0042FF"/>
              </a:solidFill>
              <a:effectLst/>
              <a:latin typeface="微软雅黑"/>
              <a:ea typeface="微软雅黑"/>
              <a:cs typeface="微软雅黑"/>
              <a:sym typeface="微软雅黑"/>
            </a:endParaRPr>
          </a:p>
        </p:txBody>
      </p:sp>
      <p:sp>
        <p:nvSpPr>
          <p:cNvPr id="111" name="等腰三角形 110"/>
          <p:cNvSpPr/>
          <p:nvPr/>
        </p:nvSpPr>
        <p:spPr>
          <a:xfrm rot="2100000" flipV="1">
            <a:off x="8422640" y="4535805"/>
            <a:ext cx="76200" cy="76200"/>
          </a:xfrm>
          <a:prstGeom prst="triangle">
            <a:avLst/>
          </a:prstGeom>
          <a:solidFill>
            <a:srgbClr val="3368FF"/>
          </a:solidFill>
          <a:ln w="12700" cmpd="sng">
            <a:solidFill>
              <a:srgbClr val="3368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2" name="矩形 111"/>
          <p:cNvSpPr/>
          <p:nvPr/>
        </p:nvSpPr>
        <p:spPr>
          <a:xfrm rot="20280000">
            <a:off x="7214870" y="5573395"/>
            <a:ext cx="1005205" cy="361950"/>
          </a:xfrm>
          <a:prstGeom prst="rect">
            <a:avLst/>
          </a:prstGeom>
          <a:solidFill>
            <a:srgbClr val="FFFFFF"/>
          </a:solidFill>
          <a:ln w="12700" cmpd="sng">
            <a:no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200" b="1" dirty="0">
                <a:solidFill>
                  <a:srgbClr val="0042FF"/>
                </a:solidFill>
                <a:effectLst/>
                <a:latin typeface="微软雅黑"/>
                <a:ea typeface="微软雅黑"/>
                <a:cs typeface="微软雅黑"/>
                <a:sym typeface="微软雅黑"/>
              </a:rPr>
              <a:t>裂变拉新</a:t>
            </a:r>
            <a:endParaRPr lang="zh-CN" altLang="en-US" sz="1200" b="1" dirty="0">
              <a:solidFill>
                <a:srgbClr val="0042FF"/>
              </a:solidFill>
              <a:effectLst/>
              <a:latin typeface="微软雅黑"/>
              <a:ea typeface="微软雅黑"/>
              <a:cs typeface="微软雅黑"/>
              <a:sym typeface="微软雅黑"/>
            </a:endParaRPr>
          </a:p>
        </p:txBody>
      </p:sp>
      <p:sp>
        <p:nvSpPr>
          <p:cNvPr id="114" name="椭圆 113"/>
          <p:cNvSpPr/>
          <p:nvPr/>
        </p:nvSpPr>
        <p:spPr>
          <a:xfrm>
            <a:off x="1837055" y="2073910"/>
            <a:ext cx="430530" cy="430530"/>
          </a:xfrm>
          <a:prstGeom prst="ellipse">
            <a:avLst/>
          </a:prstGeom>
          <a:solidFill>
            <a:srgbClr val="0042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5" name="椭圆 114"/>
          <p:cNvSpPr/>
          <p:nvPr/>
        </p:nvSpPr>
        <p:spPr>
          <a:xfrm>
            <a:off x="1069975" y="3339465"/>
            <a:ext cx="430530" cy="430530"/>
          </a:xfrm>
          <a:prstGeom prst="ellipse">
            <a:avLst/>
          </a:prstGeom>
          <a:solidFill>
            <a:srgbClr val="0042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6" name="椭圆 115"/>
          <p:cNvSpPr/>
          <p:nvPr/>
        </p:nvSpPr>
        <p:spPr>
          <a:xfrm>
            <a:off x="2091055" y="4502150"/>
            <a:ext cx="430530" cy="430530"/>
          </a:xfrm>
          <a:prstGeom prst="ellipse">
            <a:avLst/>
          </a:prstGeom>
          <a:solidFill>
            <a:srgbClr val="0042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7" name="椭圆 116"/>
          <p:cNvSpPr/>
          <p:nvPr/>
        </p:nvSpPr>
        <p:spPr>
          <a:xfrm>
            <a:off x="3816985" y="4643120"/>
            <a:ext cx="430530" cy="430530"/>
          </a:xfrm>
          <a:prstGeom prst="ellipse">
            <a:avLst/>
          </a:prstGeom>
          <a:solidFill>
            <a:srgbClr val="0042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8" name="椭圆 117"/>
          <p:cNvSpPr/>
          <p:nvPr/>
        </p:nvSpPr>
        <p:spPr>
          <a:xfrm>
            <a:off x="4497070" y="1964690"/>
            <a:ext cx="430530" cy="430530"/>
          </a:xfrm>
          <a:prstGeom prst="ellipse">
            <a:avLst/>
          </a:prstGeom>
          <a:solidFill>
            <a:srgbClr val="0042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cxnSp>
        <p:nvCxnSpPr>
          <p:cNvPr id="119" name="直接箭头连接符 118"/>
          <p:cNvCxnSpPr/>
          <p:nvPr/>
        </p:nvCxnSpPr>
        <p:spPr>
          <a:xfrm flipV="1">
            <a:off x="5657215" y="4411345"/>
            <a:ext cx="0" cy="793750"/>
          </a:xfrm>
          <a:prstGeom prst="straightConnector1">
            <a:avLst/>
          </a:prstGeom>
          <a:ln>
            <a:solidFill>
              <a:srgbClr val="3368FF"/>
            </a:solidFill>
            <a:prstDash val="sysDash"/>
            <a:tailEnd type="triangle"/>
          </a:ln>
        </p:spPr>
        <p:style>
          <a:lnRef idx="2">
            <a:srgbClr val="0042FF"/>
          </a:lnRef>
          <a:fillRef idx="0">
            <a:srgbClr val="FFFFFF"/>
          </a:fillRef>
          <a:effectRef idx="0">
            <a:srgbClr val="FFFFFF"/>
          </a:effectRef>
          <a:fontRef idx="minor">
            <a:srgbClr val="383838"/>
          </a:fontRef>
        </p:style>
      </p:cxnSp>
      <p:cxnSp>
        <p:nvCxnSpPr>
          <p:cNvPr id="120" name="直接箭头连接符 119"/>
          <p:cNvCxnSpPr/>
          <p:nvPr/>
        </p:nvCxnSpPr>
        <p:spPr>
          <a:xfrm>
            <a:off x="5664200" y="2115820"/>
            <a:ext cx="0" cy="438150"/>
          </a:xfrm>
          <a:prstGeom prst="straightConnector1">
            <a:avLst/>
          </a:prstGeom>
          <a:ln>
            <a:solidFill>
              <a:srgbClr val="3368FF"/>
            </a:solidFill>
            <a:prstDash val="sysDash"/>
            <a:tailEnd type="triangle"/>
          </a:ln>
        </p:spPr>
        <p:style>
          <a:lnRef idx="2">
            <a:srgbClr val="0042FF"/>
          </a:lnRef>
          <a:fillRef idx="0">
            <a:srgbClr val="FFFFFF"/>
          </a:fillRef>
          <a:effectRef idx="0">
            <a:srgbClr val="FFFFFF"/>
          </a:effectRef>
          <a:fontRef idx="minor">
            <a:srgbClr val="383838"/>
          </a:fontRef>
        </p:style>
      </p:cxnSp>
      <p:sp>
        <p:nvSpPr>
          <p:cNvPr id="121" name="椭圆 120"/>
          <p:cNvSpPr/>
          <p:nvPr/>
        </p:nvSpPr>
        <p:spPr>
          <a:xfrm>
            <a:off x="6907530" y="2034540"/>
            <a:ext cx="505460" cy="505460"/>
          </a:xfrm>
          <a:prstGeom prst="ellipse">
            <a:avLst/>
          </a:prstGeom>
          <a:solidFill>
            <a:srgbClr val="3368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en-US" altLang="zh-CN"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2" name="椭圆 121"/>
          <p:cNvSpPr/>
          <p:nvPr/>
        </p:nvSpPr>
        <p:spPr>
          <a:xfrm>
            <a:off x="7672070" y="2599690"/>
            <a:ext cx="505460" cy="505460"/>
          </a:xfrm>
          <a:prstGeom prst="ellipse">
            <a:avLst/>
          </a:prstGeom>
          <a:solidFill>
            <a:srgbClr val="3368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en-US" altLang="zh-CN"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3" name="椭圆 122"/>
          <p:cNvSpPr/>
          <p:nvPr/>
        </p:nvSpPr>
        <p:spPr>
          <a:xfrm>
            <a:off x="7863840" y="3358515"/>
            <a:ext cx="505460" cy="505460"/>
          </a:xfrm>
          <a:prstGeom prst="ellipse">
            <a:avLst/>
          </a:prstGeom>
          <a:solidFill>
            <a:srgbClr val="3368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en-US" altLang="zh-CN"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4" name="椭圆 123"/>
          <p:cNvSpPr/>
          <p:nvPr/>
        </p:nvSpPr>
        <p:spPr>
          <a:xfrm>
            <a:off x="7500620" y="4124960"/>
            <a:ext cx="505460" cy="505460"/>
          </a:xfrm>
          <a:prstGeom prst="ellipse">
            <a:avLst/>
          </a:prstGeom>
          <a:solidFill>
            <a:srgbClr val="3368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en-US" altLang="zh-CN"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5" name="椭圆 124"/>
          <p:cNvSpPr/>
          <p:nvPr/>
        </p:nvSpPr>
        <p:spPr>
          <a:xfrm>
            <a:off x="6678295" y="4427220"/>
            <a:ext cx="505460" cy="505460"/>
          </a:xfrm>
          <a:prstGeom prst="ellipse">
            <a:avLst/>
          </a:prstGeom>
          <a:solidFill>
            <a:srgbClr val="3368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en-US" altLang="zh-CN"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6" name="椭圆 125"/>
          <p:cNvSpPr/>
          <p:nvPr/>
        </p:nvSpPr>
        <p:spPr>
          <a:xfrm>
            <a:off x="5723255" y="4063365"/>
            <a:ext cx="505460" cy="505460"/>
          </a:xfrm>
          <a:prstGeom prst="ellipse">
            <a:avLst/>
          </a:prstGeom>
          <a:solidFill>
            <a:srgbClr val="3368FF"/>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endParaRPr lang="en-US" altLang="zh-CN"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7" name="文本框 126"/>
          <p:cNvSpPr txBox="1"/>
          <p:nvPr/>
        </p:nvSpPr>
        <p:spPr>
          <a:xfrm>
            <a:off x="5982970" y="2271395"/>
            <a:ext cx="47625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a:solidFill>
                  <a:srgbClr val="FFFFFF"/>
                </a:solidFill>
                <a:latin typeface="微软雅黑"/>
                <a:ea typeface="微软雅黑"/>
                <a:cs typeface="微软雅黑"/>
              </a:rPr>
              <a:t>小程序</a:t>
            </a:r>
            <a:endParaRPr lang="zh-CN" sz="1000">
              <a:solidFill>
                <a:srgbClr val="FFFFFF"/>
              </a:solidFill>
              <a:latin typeface="微软雅黑"/>
              <a:ea typeface="微软雅黑"/>
              <a:cs typeface="微软雅黑"/>
            </a:endParaRPr>
          </a:p>
        </p:txBody>
      </p:sp>
      <p:sp>
        <p:nvSpPr>
          <p:cNvPr id="130" name="文本框 129"/>
          <p:cNvSpPr txBox="1"/>
          <p:nvPr/>
        </p:nvSpPr>
        <p:spPr>
          <a:xfrm>
            <a:off x="6922135" y="2087880"/>
            <a:ext cx="47625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a:solidFill>
                  <a:srgbClr val="FFFFFF"/>
                </a:solidFill>
                <a:latin typeface="微软雅黑"/>
                <a:ea typeface="微软雅黑"/>
                <a:cs typeface="微软雅黑"/>
              </a:rPr>
              <a:t>知识店铺</a:t>
            </a:r>
            <a:endParaRPr lang="zh-CN" sz="1000">
              <a:solidFill>
                <a:srgbClr val="FFFFFF"/>
              </a:solidFill>
              <a:latin typeface="微软雅黑"/>
              <a:ea typeface="微软雅黑"/>
              <a:cs typeface="微软雅黑"/>
            </a:endParaRPr>
          </a:p>
        </p:txBody>
      </p:sp>
      <p:sp>
        <p:nvSpPr>
          <p:cNvPr id="131" name="文本框 130"/>
          <p:cNvSpPr txBox="1"/>
          <p:nvPr/>
        </p:nvSpPr>
        <p:spPr>
          <a:xfrm>
            <a:off x="7701280" y="2656205"/>
            <a:ext cx="47625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a:solidFill>
                  <a:srgbClr val="FFFFFF"/>
                </a:solidFill>
                <a:latin typeface="微软雅黑"/>
                <a:ea typeface="微软雅黑"/>
                <a:cs typeface="微软雅黑"/>
              </a:rPr>
              <a:t>品牌</a:t>
            </a:r>
            <a:r>
              <a:rPr lang="en-US" altLang="zh-CN" sz="1000">
                <a:solidFill>
                  <a:srgbClr val="FFFFFF"/>
                </a:solidFill>
                <a:latin typeface="微软雅黑"/>
                <a:ea typeface="微软雅黑"/>
                <a:cs typeface="微软雅黑"/>
              </a:rPr>
              <a:t>APP</a:t>
            </a:r>
            <a:endParaRPr lang="en-US" altLang="zh-CN" sz="1000">
              <a:solidFill>
                <a:srgbClr val="FFFFFF"/>
              </a:solidFill>
              <a:latin typeface="微软雅黑"/>
              <a:ea typeface="微软雅黑"/>
              <a:cs typeface="微软雅黑"/>
            </a:endParaRPr>
          </a:p>
        </p:txBody>
      </p:sp>
      <p:sp>
        <p:nvSpPr>
          <p:cNvPr id="134" name="文本框 133"/>
          <p:cNvSpPr txBox="1"/>
          <p:nvPr/>
        </p:nvSpPr>
        <p:spPr>
          <a:xfrm>
            <a:off x="2506345" y="4658360"/>
            <a:ext cx="795020" cy="460375"/>
          </a:xfrm>
          <a:prstGeom prst="rect">
            <a:avLst/>
          </a:prstGeom>
          <a:noFill/>
        </p:spPr>
        <p:txBody>
          <a:bodyPr wrap="square" rtlCol="0">
            <a:spAutoFit/>
          </a:bodyPr>
          <a:p>
            <a:pPr algn="ctr">
              <a:defRPr>
                <a:latin typeface="微软雅黑"/>
                <a:ea typeface="微软雅黑"/>
                <a:cs typeface="微软雅黑"/>
              </a:defRPr>
            </a:pPr>
            <a:r>
              <a:rPr lang="zh-CN" sz="1200">
                <a:latin typeface="微软雅黑"/>
                <a:ea typeface="微软雅黑"/>
                <a:cs typeface="微软雅黑"/>
              </a:rPr>
              <a:t>得到等课程平台</a:t>
            </a:r>
            <a:endParaRPr lang="zh-CN" sz="1200">
              <a:latin typeface="微软雅黑"/>
              <a:ea typeface="微软雅黑"/>
              <a:cs typeface="微软雅黑"/>
            </a:endParaRPr>
          </a:p>
        </p:txBody>
      </p:sp>
      <p:sp>
        <p:nvSpPr>
          <p:cNvPr id="135" name="矩形 134"/>
          <p:cNvSpPr/>
          <p:nvPr/>
        </p:nvSpPr>
        <p:spPr>
          <a:xfrm>
            <a:off x="724535" y="6007735"/>
            <a:ext cx="7851140" cy="534670"/>
          </a:xfrm>
          <a:prstGeom prst="rect">
            <a:avLst/>
          </a:prstGeom>
          <a:solidFill>
            <a:srgbClr val="3368FF">
              <a:alpha val="20000"/>
            </a:srgbClr>
          </a:solidFill>
          <a:ln w="12700" cmpd="sng">
            <a:solidFill>
              <a:srgbClr val="3368FF">
                <a:alpha val="70000"/>
              </a:srgbClr>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r>
              <a:rPr lang="zh-CN" altLang="en-US" sz="1945" dirty="0">
                <a:solidFill>
                  <a:srgbClr val="0042FF"/>
                </a:solidFill>
                <a:effectLst/>
                <a:latin typeface="微软雅黑"/>
                <a:ea typeface="微软雅黑"/>
                <a:cs typeface="微软雅黑"/>
                <a:sym typeface="微软雅黑"/>
              </a:rPr>
              <a:t>公域做广度</a:t>
            </a:r>
            <a:r>
              <a:rPr lang="en-US" altLang="zh-CN" sz="1945" dirty="0">
                <a:solidFill>
                  <a:srgbClr val="0042FF"/>
                </a:solidFill>
                <a:effectLst/>
                <a:latin typeface="微软雅黑"/>
                <a:ea typeface="微软雅黑"/>
                <a:cs typeface="微软雅黑"/>
                <a:sym typeface="微软雅黑"/>
              </a:rPr>
              <a:t> + </a:t>
            </a:r>
            <a:r>
              <a:rPr lang="zh-CN" altLang="en-US" sz="1945" dirty="0">
                <a:solidFill>
                  <a:srgbClr val="0042FF"/>
                </a:solidFill>
                <a:effectLst/>
                <a:latin typeface="微软雅黑"/>
                <a:ea typeface="微软雅黑"/>
                <a:cs typeface="微软雅黑"/>
                <a:sym typeface="微软雅黑"/>
              </a:rPr>
              <a:t>私域做深度</a:t>
            </a:r>
            <a:r>
              <a:rPr lang="en-US" altLang="zh-CN" sz="1945" dirty="0">
                <a:solidFill>
                  <a:srgbClr val="0042FF"/>
                </a:solidFill>
                <a:effectLst/>
                <a:latin typeface="微软雅黑"/>
                <a:ea typeface="微软雅黑"/>
                <a:cs typeface="微软雅黑"/>
                <a:sym typeface="微软雅黑"/>
              </a:rPr>
              <a:t> + </a:t>
            </a:r>
            <a:r>
              <a:rPr lang="zh-CN" altLang="en-US" sz="1945" dirty="0">
                <a:solidFill>
                  <a:srgbClr val="0042FF"/>
                </a:solidFill>
                <a:effectLst/>
                <a:latin typeface="微软雅黑"/>
                <a:ea typeface="微软雅黑"/>
                <a:cs typeface="微软雅黑"/>
                <a:sym typeface="微软雅黑"/>
              </a:rPr>
              <a:t>数据做连接</a:t>
            </a:r>
            <a:r>
              <a:rPr lang="en-US" altLang="zh-CN" sz="1945" dirty="0">
                <a:solidFill>
                  <a:srgbClr val="0042FF"/>
                </a:solidFill>
                <a:effectLst/>
                <a:latin typeface="微软雅黑"/>
                <a:ea typeface="微软雅黑"/>
                <a:cs typeface="微软雅黑"/>
                <a:sym typeface="微软雅黑"/>
              </a:rPr>
              <a:t> </a:t>
            </a:r>
            <a:r>
              <a:rPr lang="en-US" altLang="zh-CN" sz="1945" b="1" dirty="0">
                <a:solidFill>
                  <a:srgbClr val="0042FF"/>
                </a:solidFill>
                <a:effectLst/>
                <a:latin typeface="微软雅黑"/>
                <a:ea typeface="微软雅黑"/>
                <a:cs typeface="微软雅黑"/>
                <a:sym typeface="微软雅黑"/>
              </a:rPr>
              <a:t>= </a:t>
            </a:r>
            <a:r>
              <a:rPr lang="zh-CN" altLang="en-US" sz="1945" b="1" dirty="0">
                <a:solidFill>
                  <a:srgbClr val="0042FF"/>
                </a:solidFill>
                <a:effectLst/>
                <a:latin typeface="微软雅黑"/>
                <a:ea typeface="微软雅黑"/>
                <a:cs typeface="微软雅黑"/>
                <a:sym typeface="微软雅黑"/>
              </a:rPr>
              <a:t>知识付费最佳运营实践</a:t>
            </a:r>
            <a:endParaRPr lang="zh-CN" altLang="en-US" sz="1945" b="1" dirty="0">
              <a:solidFill>
                <a:srgbClr val="0042FF"/>
              </a:solidFill>
              <a:effectLst/>
              <a:latin typeface="微软雅黑"/>
              <a:ea typeface="微软雅黑"/>
              <a:cs typeface="微软雅黑"/>
              <a:sym typeface="微软雅黑"/>
            </a:endParaRPr>
          </a:p>
        </p:txBody>
      </p:sp>
      <p:grpSp>
        <p:nvGrpSpPr>
          <p:cNvPr id="2" name="组合 1"/>
          <p:cNvGrpSpPr/>
          <p:nvPr/>
        </p:nvGrpSpPr>
        <p:grpSpPr>
          <a:xfrm>
            <a:off x="9230360" y="1202690"/>
            <a:ext cx="2647950" cy="5340350"/>
            <a:chOff x="14316" y="1894"/>
            <a:chExt cx="4170" cy="8410"/>
          </a:xfrm>
        </p:grpSpPr>
        <p:sp>
          <p:nvSpPr>
            <p:cNvPr id="136" name="矩形 135"/>
            <p:cNvSpPr/>
            <p:nvPr/>
          </p:nvSpPr>
          <p:spPr>
            <a:xfrm>
              <a:off x="14316" y="1895"/>
              <a:ext cx="4170" cy="8409"/>
            </a:xfrm>
            <a:prstGeom prst="rect">
              <a:avLst/>
            </a:prstGeom>
            <a:solidFill>
              <a:srgbClr val="E6E6E6">
                <a:alpha val="20000"/>
              </a:srgbClr>
            </a:solidFill>
            <a:ln w="12700" cmpd="sng">
              <a:solidFill>
                <a:srgbClr val="0042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37" name="文本框 136"/>
            <p:cNvSpPr txBox="1"/>
            <p:nvPr/>
          </p:nvSpPr>
          <p:spPr>
            <a:xfrm>
              <a:off x="14555" y="3504"/>
              <a:ext cx="3802" cy="1888"/>
            </a:xfrm>
            <a:prstGeom prst="rect">
              <a:avLst/>
            </a:prstGeom>
            <a:noFill/>
          </p:spPr>
          <p:txBody>
            <a:bodyPr wrap="square" rtlCol="0" lIns="0" rIns="0" tIns="0" bIns="0">
              <a:spAutoFit/>
            </a:bodyPr>
            <a:p>
              <a:pPr marL="285750" indent="-285750">
                <a:buFont typeface="微软雅黑"/>
                <a:buChar char="◆"/>
                <a:defRPr>
                  <a:latin typeface="微软雅黑"/>
                  <a:ea typeface="微软雅黑"/>
                  <a:cs typeface="微软雅黑"/>
                </a:defRPr>
              </a:pPr>
              <a:r>
                <a:rPr lang="zh-CN" altLang="en-US" sz="1400" b="1">
                  <a:solidFill>
                    <a:srgbClr val="0042FF"/>
                  </a:solidFill>
                  <a:latin typeface="微软雅黑"/>
                  <a:ea typeface="微软雅黑"/>
                  <a:cs typeface="微软雅黑"/>
                </a:rPr>
                <a:t>公域内容矩阵：</a:t>
              </a:r>
              <a:endParaRPr lang="zh-CN" altLang="en-US" sz="1400" b="1">
                <a:solidFill>
                  <a:srgbClr val="0042FF"/>
                </a:solidFill>
                <a:latin typeface="微软雅黑"/>
                <a:ea typeface="微软雅黑"/>
                <a:cs typeface="微软雅黑"/>
              </a:endParaRPr>
            </a:p>
            <a:p>
              <a:pPr indent="0">
                <a:buFont typeface="微软雅黑"/>
                <a:buNone/>
                <a:defRPr>
                  <a:latin typeface="微软雅黑"/>
                  <a:ea typeface="微软雅黑"/>
                  <a:cs typeface="微软雅黑"/>
                </a:defRPr>
              </a:pPr>
              <a:endParaRPr lang="zh-CN" altLang="en-US" sz="1000" b="1">
                <a:latin typeface="微软雅黑"/>
                <a:ea typeface="微软雅黑"/>
                <a:cs typeface="微软雅黑"/>
              </a:endParaRPr>
            </a:p>
            <a:p>
              <a:pPr>
                <a:defRPr>
                  <a:latin typeface="微软雅黑"/>
                  <a:ea typeface="微软雅黑"/>
                  <a:cs typeface="微软雅黑"/>
                </a:defRPr>
              </a:pPr>
              <a:r>
                <a:rPr lang="zh-CN" altLang="en-US" sz="1200">
                  <a:solidFill>
                    <a:srgbClr val="383838"/>
                  </a:solidFill>
                  <a:latin typeface="微软雅黑"/>
                  <a:ea typeface="微软雅黑"/>
                  <a:cs typeface="微软雅黑"/>
                </a:rPr>
                <a:t>①抖音发布「</a:t>
              </a:r>
              <a:r>
                <a:rPr lang="en-US" altLang="zh-CN" sz="1200">
                  <a:solidFill>
                    <a:srgbClr val="383838"/>
                  </a:solidFill>
                  <a:latin typeface="微软雅黑"/>
                  <a:ea typeface="微软雅黑"/>
                  <a:cs typeface="微软雅黑"/>
                </a:rPr>
                <a:t>3</a:t>
              </a:r>
              <a:r>
                <a:rPr lang="zh-CN" altLang="en-US" sz="1200">
                  <a:solidFill>
                    <a:srgbClr val="383838"/>
                  </a:solidFill>
                  <a:latin typeface="微软雅黑"/>
                  <a:ea typeface="微软雅黑"/>
                  <a:cs typeface="微软雅黑"/>
                </a:rPr>
                <a:t>分钟职场干货」短视频，引流转化</a:t>
              </a:r>
              <a:r>
                <a:rPr lang="en-US" altLang="zh-CN" sz="1200">
                  <a:solidFill>
                    <a:srgbClr val="383838"/>
                  </a:solidFill>
                  <a:latin typeface="微软雅黑"/>
                  <a:ea typeface="微软雅黑"/>
                  <a:cs typeface="微软雅黑"/>
                </a:rPr>
                <a:t>9.9</a:t>
              </a:r>
              <a:r>
                <a:rPr lang="zh-CN" altLang="en-US" sz="1200">
                  <a:solidFill>
                    <a:srgbClr val="383838"/>
                  </a:solidFill>
                  <a:latin typeface="微软雅黑"/>
                  <a:ea typeface="微软雅黑"/>
                  <a:cs typeface="微软雅黑"/>
                </a:rPr>
                <a:t>元体验课；</a:t>
              </a:r>
              <a:endParaRPr lang="zh-CN" altLang="en-US" sz="1200">
                <a:solidFill>
                  <a:srgbClr val="383838"/>
                </a:solidFill>
                <a:latin typeface="微软雅黑"/>
                <a:ea typeface="微软雅黑"/>
                <a:cs typeface="微软雅黑"/>
              </a:endParaRPr>
            </a:p>
            <a:p>
              <a:pPr>
                <a:defRPr>
                  <a:latin typeface="微软雅黑"/>
                  <a:ea typeface="微软雅黑"/>
                  <a:cs typeface="微软雅黑"/>
                </a:defRPr>
              </a:pPr>
              <a:endParaRPr lang="zh-CN" altLang="en-US" sz="1000">
                <a:solidFill>
                  <a:srgbClr val="383838"/>
                </a:solidFill>
                <a:latin typeface="微软雅黑"/>
                <a:ea typeface="微软雅黑"/>
                <a:cs typeface="微软雅黑"/>
              </a:endParaRPr>
            </a:p>
            <a:p>
              <a:pPr>
                <a:defRPr>
                  <a:latin typeface="微软雅黑"/>
                  <a:ea typeface="微软雅黑"/>
                  <a:cs typeface="微软雅黑"/>
                </a:defRPr>
              </a:pPr>
              <a:r>
                <a:rPr lang="zh-CN" altLang="en-US" sz="1200">
                  <a:solidFill>
                    <a:srgbClr val="383838"/>
                  </a:solidFill>
                  <a:latin typeface="微软雅黑"/>
                  <a:ea typeface="微软雅黑"/>
                  <a:cs typeface="微软雅黑"/>
                </a:rPr>
                <a:t>②知乎回答「如何升职加薪」收藏量</a:t>
              </a:r>
              <a:r>
                <a:rPr lang="en-US" altLang="zh-CN" sz="1200">
                  <a:solidFill>
                    <a:srgbClr val="383838"/>
                  </a:solidFill>
                  <a:latin typeface="微软雅黑"/>
                  <a:ea typeface="微软雅黑"/>
                  <a:cs typeface="微软雅黑"/>
                </a:rPr>
                <a:t>10</a:t>
              </a:r>
              <a:r>
                <a:rPr lang="zh-CN" altLang="en-US" sz="1200">
                  <a:solidFill>
                    <a:srgbClr val="383838"/>
                  </a:solidFill>
                  <a:latin typeface="微软雅黑"/>
                  <a:ea typeface="微软雅黑"/>
                  <a:cs typeface="微软雅黑"/>
                </a:rPr>
                <a:t>万</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，植入系统课链接</a:t>
              </a:r>
              <a:r>
                <a:rPr lang="zh-CN" sz="1200">
                  <a:solidFill>
                    <a:srgbClr val="383838"/>
                  </a:solidFill>
                  <a:latin typeface="微软雅黑"/>
                  <a:ea typeface="微软雅黑"/>
                  <a:cs typeface="微软雅黑"/>
                </a:rPr>
                <a:t>。</a:t>
              </a:r>
              <a:endParaRPr lang="zh-CN" sz="1400">
                <a:latin typeface="微软雅黑"/>
                <a:ea typeface="微软雅黑"/>
                <a:cs typeface="微软雅黑"/>
              </a:endParaRPr>
            </a:p>
          </p:txBody>
        </p:sp>
        <p:sp>
          <p:nvSpPr>
            <p:cNvPr id="138" name="文本框 137"/>
            <p:cNvSpPr txBox="1"/>
            <p:nvPr/>
          </p:nvSpPr>
          <p:spPr>
            <a:xfrm>
              <a:off x="14555" y="5822"/>
              <a:ext cx="3723" cy="1888"/>
            </a:xfrm>
            <a:prstGeom prst="rect">
              <a:avLst/>
            </a:prstGeom>
            <a:noFill/>
          </p:spPr>
          <p:txBody>
            <a:bodyPr wrap="square" rtlCol="0" lIns="0" rIns="0" tIns="0" bIns="0">
              <a:spAutoFit/>
            </a:bodyPr>
            <a:p>
              <a:pPr marL="285750" indent="-285750">
                <a:buFont typeface="微软雅黑"/>
                <a:buChar char="◆"/>
                <a:defRPr>
                  <a:latin typeface="微软雅黑"/>
                  <a:ea typeface="微软雅黑"/>
                  <a:cs typeface="微软雅黑"/>
                </a:defRPr>
              </a:pPr>
              <a:r>
                <a:rPr lang="zh-CN" altLang="en-US" sz="1400" b="1">
                  <a:solidFill>
                    <a:srgbClr val="0042FF"/>
                  </a:solidFill>
                  <a:latin typeface="微软雅黑"/>
                  <a:ea typeface="微软雅黑"/>
                  <a:cs typeface="微软雅黑"/>
                </a:rPr>
                <a:t>私域深度服务：</a:t>
              </a:r>
              <a:endParaRPr lang="zh-CN" altLang="en-US" sz="1400" b="1">
                <a:solidFill>
                  <a:srgbClr val="0042FF"/>
                </a:solidFill>
                <a:latin typeface="微软雅黑"/>
                <a:ea typeface="微软雅黑"/>
                <a:cs typeface="微软雅黑"/>
              </a:endParaRPr>
            </a:p>
            <a:p>
              <a:pPr indent="0">
                <a:buFont typeface="微软雅黑"/>
                <a:buNone/>
                <a:defRPr>
                  <a:latin typeface="微软雅黑"/>
                  <a:ea typeface="微软雅黑"/>
                  <a:cs typeface="微软雅黑"/>
                </a:defRPr>
              </a:pPr>
              <a:endParaRPr lang="zh-CN" altLang="en-US" sz="1000" b="1">
                <a:latin typeface="微软雅黑"/>
                <a:ea typeface="微软雅黑"/>
                <a:cs typeface="微软雅黑"/>
              </a:endParaRPr>
            </a:p>
            <a:p>
              <a:pPr>
                <a:defRPr>
                  <a:latin typeface="微软雅黑"/>
                  <a:ea typeface="微软雅黑"/>
                  <a:cs typeface="微软雅黑"/>
                </a:defRPr>
              </a:pPr>
              <a:r>
                <a:rPr lang="zh-CN" altLang="en-US" sz="1200">
                  <a:solidFill>
                    <a:srgbClr val="383838"/>
                  </a:solidFill>
                  <a:latin typeface="微软雅黑"/>
                  <a:ea typeface="微软雅黑"/>
                  <a:cs typeface="微软雅黑"/>
                </a:rPr>
                <a:t>①企业微信社群「</a:t>
              </a:r>
              <a:r>
                <a:rPr lang="en-US" altLang="zh-CN" sz="1200">
                  <a:solidFill>
                    <a:srgbClr val="383838"/>
                  </a:solidFill>
                  <a:latin typeface="微软雅黑"/>
                  <a:ea typeface="微软雅黑"/>
                  <a:cs typeface="微软雅黑"/>
                </a:rPr>
                <a:t>21</a:t>
              </a:r>
              <a:r>
                <a:rPr lang="zh-CN" altLang="en-US" sz="1200">
                  <a:solidFill>
                    <a:srgbClr val="383838"/>
                  </a:solidFill>
                  <a:latin typeface="微软雅黑"/>
                  <a:ea typeface="微软雅黑"/>
                  <a:cs typeface="微软雅黑"/>
                </a:rPr>
                <a:t>天成长计划」</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每日打卡</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导师晚</a:t>
              </a:r>
              <a:r>
                <a:rPr lang="en-US" altLang="zh-CN" sz="1200">
                  <a:solidFill>
                    <a:srgbClr val="383838"/>
                  </a:solidFill>
                  <a:latin typeface="微软雅黑"/>
                  <a:ea typeface="微软雅黑"/>
                  <a:cs typeface="微软雅黑"/>
                </a:rPr>
                <a:t>8</a:t>
              </a:r>
              <a:r>
                <a:rPr lang="zh-CN" altLang="en-US" sz="1200">
                  <a:solidFill>
                    <a:srgbClr val="383838"/>
                  </a:solidFill>
                  <a:latin typeface="微软雅黑"/>
                  <a:ea typeface="微软雅黑"/>
                  <a:cs typeface="微软雅黑"/>
                </a:rPr>
                <a:t>点答疑</a:t>
              </a:r>
              <a:r>
                <a:rPr lang="zh-CN" sz="1200">
                  <a:solidFill>
                    <a:srgbClr val="383838"/>
                  </a:solidFill>
                  <a:latin typeface="微软雅黑"/>
                  <a:ea typeface="微软雅黑"/>
                  <a:cs typeface="微软雅黑"/>
                </a:rPr>
                <a:t>；</a:t>
              </a:r>
              <a:endParaRPr lang="zh-CN" sz="1200">
                <a:solidFill>
                  <a:srgbClr val="383838"/>
                </a:solidFill>
                <a:latin typeface="微软雅黑"/>
                <a:ea typeface="微软雅黑"/>
                <a:cs typeface="微软雅黑"/>
              </a:endParaRPr>
            </a:p>
            <a:p>
              <a:pPr>
                <a:defRPr>
                  <a:latin typeface="微软雅黑"/>
                  <a:ea typeface="微软雅黑"/>
                  <a:cs typeface="微软雅黑"/>
                </a:defRPr>
              </a:pPr>
              <a:endParaRPr lang="en-US" altLang="zh-CN" sz="1000">
                <a:solidFill>
                  <a:srgbClr val="383838"/>
                </a:solidFill>
                <a:latin typeface="微软雅黑"/>
                <a:ea typeface="微软雅黑"/>
                <a:cs typeface="微软雅黑"/>
              </a:endParaRPr>
            </a:p>
            <a:p>
              <a:pPr>
                <a:defRPr>
                  <a:latin typeface="微软雅黑"/>
                  <a:ea typeface="微软雅黑"/>
                  <a:cs typeface="微软雅黑"/>
                </a:defRPr>
              </a:pPr>
              <a:r>
                <a:rPr lang="zh-CN" altLang="en-US" sz="1200">
                  <a:solidFill>
                    <a:srgbClr val="383838"/>
                  </a:solidFill>
                  <a:latin typeface="微软雅黑"/>
                  <a:ea typeface="微软雅黑"/>
                  <a:cs typeface="微软雅黑"/>
                </a:rPr>
                <a:t>②会员分层权益：普通会员免费直播，年费会员：</a:t>
              </a:r>
              <a:r>
                <a:rPr lang="en-US" altLang="zh-CN" sz="1200">
                  <a:solidFill>
                    <a:srgbClr val="383838"/>
                  </a:solidFill>
                  <a:latin typeface="微软雅黑"/>
                  <a:ea typeface="微软雅黑"/>
                  <a:cs typeface="微软雅黑"/>
                </a:rPr>
                <a:t>1v1</a:t>
              </a:r>
              <a:r>
                <a:rPr lang="zh-CN" altLang="en-US" sz="1200">
                  <a:solidFill>
                    <a:srgbClr val="383838"/>
                  </a:solidFill>
                  <a:latin typeface="微软雅黑"/>
                  <a:ea typeface="微软雅黑"/>
                  <a:cs typeface="微软雅黑"/>
                </a:rPr>
                <a:t>职业规划</a:t>
              </a:r>
              <a:r>
                <a:rPr lang="zh-CN" sz="1200">
                  <a:solidFill>
                    <a:srgbClr val="383838"/>
                  </a:solidFill>
                  <a:latin typeface="微软雅黑"/>
                  <a:ea typeface="微软雅黑"/>
                  <a:cs typeface="微软雅黑"/>
                </a:rPr>
                <a:t>。</a:t>
              </a:r>
              <a:endParaRPr lang="en-US" altLang="zh-CN" sz="1400">
                <a:latin typeface="微软雅黑"/>
                <a:ea typeface="微软雅黑"/>
                <a:cs typeface="微软雅黑"/>
              </a:endParaRPr>
            </a:p>
          </p:txBody>
        </p:sp>
        <p:sp>
          <p:nvSpPr>
            <p:cNvPr id="139" name="文本框 138"/>
            <p:cNvSpPr txBox="1"/>
            <p:nvPr/>
          </p:nvSpPr>
          <p:spPr>
            <a:xfrm>
              <a:off x="14555" y="8140"/>
              <a:ext cx="3723" cy="1888"/>
            </a:xfrm>
            <a:prstGeom prst="rect">
              <a:avLst/>
            </a:prstGeom>
            <a:noFill/>
          </p:spPr>
          <p:txBody>
            <a:bodyPr wrap="square" rtlCol="0" lIns="0" rIns="0" tIns="0" bIns="0">
              <a:spAutoFit/>
            </a:bodyPr>
            <a:p>
              <a:pPr marL="285750" indent="-285750">
                <a:buFont typeface="微软雅黑"/>
                <a:buChar char="◆"/>
                <a:defRPr>
                  <a:latin typeface="微软雅黑"/>
                  <a:ea typeface="微软雅黑"/>
                  <a:cs typeface="微软雅黑"/>
                </a:defRPr>
              </a:pPr>
              <a:r>
                <a:rPr lang="zh-CN" altLang="en-US" sz="1400" b="1">
                  <a:solidFill>
                    <a:srgbClr val="0042FF"/>
                  </a:solidFill>
                  <a:latin typeface="微软雅黑"/>
                  <a:ea typeface="微软雅黑"/>
                  <a:cs typeface="微软雅黑"/>
                </a:rPr>
                <a:t>数据化运营：</a:t>
              </a:r>
              <a:endParaRPr lang="zh-CN" altLang="en-US" sz="1400" b="1">
                <a:solidFill>
                  <a:srgbClr val="0042FF"/>
                </a:solidFill>
                <a:latin typeface="微软雅黑"/>
                <a:ea typeface="微软雅黑"/>
                <a:cs typeface="微软雅黑"/>
              </a:endParaRPr>
            </a:p>
            <a:p>
              <a:pPr indent="0">
                <a:buFont typeface="微软雅黑"/>
                <a:buNone/>
                <a:defRPr>
                  <a:latin typeface="微软雅黑"/>
                  <a:ea typeface="微软雅黑"/>
                  <a:cs typeface="微软雅黑"/>
                </a:defRPr>
              </a:pPr>
              <a:endParaRPr lang="zh-CN" altLang="en-US" sz="1000" b="1">
                <a:latin typeface="微软雅黑"/>
                <a:ea typeface="微软雅黑"/>
                <a:cs typeface="微软雅黑"/>
              </a:endParaRPr>
            </a:p>
            <a:p>
              <a:pPr>
                <a:defRPr>
                  <a:latin typeface="微软雅黑"/>
                  <a:ea typeface="微软雅黑"/>
                  <a:cs typeface="微软雅黑"/>
                </a:defRPr>
              </a:pPr>
              <a:r>
                <a:rPr lang="zh-CN" altLang="en-US" sz="1200">
                  <a:solidFill>
                    <a:srgbClr val="383838"/>
                  </a:solidFill>
                  <a:latin typeface="微软雅黑"/>
                  <a:ea typeface="微软雅黑"/>
                  <a:cs typeface="微软雅黑"/>
                </a:rPr>
                <a:t>①</a:t>
              </a:r>
              <a:r>
                <a:rPr lang="en-US" altLang="zh-CN" sz="1200">
                  <a:solidFill>
                    <a:srgbClr val="383838"/>
                  </a:solidFill>
                  <a:latin typeface="微软雅黑"/>
                  <a:ea typeface="微软雅黑"/>
                  <a:cs typeface="微软雅黑"/>
                </a:rPr>
                <a:t>CDP</a:t>
              </a:r>
              <a:r>
                <a:rPr lang="zh-CN" altLang="en-US" sz="1200">
                  <a:solidFill>
                    <a:srgbClr val="383838"/>
                  </a:solidFill>
                  <a:latin typeface="微软雅黑"/>
                  <a:ea typeface="微软雅黑"/>
                  <a:cs typeface="微软雅黑"/>
                </a:rPr>
                <a:t>识别「高潜力用户」，推送</a:t>
              </a:r>
              <a:r>
                <a:rPr lang="en-US" altLang="zh-CN" sz="1200">
                  <a:solidFill>
                    <a:srgbClr val="383838"/>
                  </a:solidFill>
                  <a:latin typeface="微软雅黑"/>
                  <a:ea typeface="微软雅黑"/>
                  <a:cs typeface="微软雅黑"/>
                </a:rPr>
                <a:t>4999</a:t>
              </a:r>
              <a:r>
                <a:rPr lang="zh-CN" altLang="en-US" sz="1200">
                  <a:solidFill>
                    <a:srgbClr val="383838"/>
                  </a:solidFill>
                  <a:latin typeface="微软雅黑"/>
                  <a:ea typeface="微软雅黑"/>
                  <a:cs typeface="微软雅黑"/>
                </a:rPr>
                <a:t>元私教课</a:t>
              </a:r>
              <a:r>
                <a:rPr lang="en-US" altLang="zh-CN" sz="1200">
                  <a:solidFill>
                    <a:srgbClr val="383838"/>
                  </a:solidFill>
                  <a:latin typeface="微软雅黑"/>
                  <a:ea typeface="微软雅黑"/>
                  <a:cs typeface="微软雅黑"/>
                </a:rPr>
                <a:t>;</a:t>
              </a:r>
              <a:endParaRPr lang="en-US" altLang="zh-CN" sz="1200">
                <a:solidFill>
                  <a:srgbClr val="383838"/>
                </a:solidFill>
                <a:latin typeface="微软雅黑"/>
                <a:ea typeface="微软雅黑"/>
                <a:cs typeface="微软雅黑"/>
              </a:endParaRPr>
            </a:p>
            <a:p>
              <a:pPr>
                <a:defRPr>
                  <a:latin typeface="微软雅黑"/>
                  <a:ea typeface="微软雅黑"/>
                  <a:cs typeface="微软雅黑"/>
                </a:defRPr>
              </a:pPr>
              <a:endParaRPr lang="zh-CN" altLang="en-US" sz="1000">
                <a:solidFill>
                  <a:srgbClr val="383838"/>
                </a:solidFill>
                <a:latin typeface="微软雅黑"/>
                <a:ea typeface="微软雅黑"/>
                <a:cs typeface="微软雅黑"/>
              </a:endParaRPr>
            </a:p>
            <a:p>
              <a:pPr>
                <a:defRPr>
                  <a:latin typeface="微软雅黑"/>
                  <a:ea typeface="微软雅黑"/>
                  <a:cs typeface="微软雅黑"/>
                </a:defRPr>
              </a:pPr>
              <a:r>
                <a:rPr lang="zh-CN" altLang="en-US" sz="1200">
                  <a:solidFill>
                    <a:srgbClr val="383838"/>
                  </a:solidFill>
                  <a:latin typeface="微软雅黑"/>
                  <a:ea typeface="微软雅黑"/>
                  <a:cs typeface="微软雅黑"/>
                </a:rPr>
                <a:t>②</a:t>
              </a:r>
              <a:r>
                <a:rPr lang="en-US" altLang="zh-CN" sz="1200">
                  <a:solidFill>
                    <a:srgbClr val="383838"/>
                  </a:solidFill>
                  <a:latin typeface="微软雅黑"/>
                  <a:ea typeface="微软雅黑"/>
                  <a:cs typeface="微软雅黑"/>
                </a:rPr>
                <a:t>A/B</a:t>
              </a:r>
              <a:r>
                <a:rPr lang="zh-CN" altLang="en-US" sz="1200">
                  <a:solidFill>
                    <a:srgbClr val="383838"/>
                  </a:solidFill>
                  <a:latin typeface="微软雅黑"/>
                  <a:ea typeface="微软雅黑"/>
                  <a:cs typeface="微软雅黑"/>
                </a:rPr>
                <a:t>测试社群话术，优化后</a:t>
              </a:r>
              <a:r>
                <a:rPr lang="en-US" altLang="zh-CN" sz="1200">
                  <a:solidFill>
                    <a:srgbClr val="383838"/>
                  </a:solidFill>
                  <a:latin typeface="微软雅黑"/>
                  <a:ea typeface="微软雅黑"/>
                  <a:cs typeface="微软雅黑"/>
                </a:rPr>
                <a:t>7</a:t>
              </a:r>
              <a:r>
                <a:rPr lang="zh-CN" altLang="en-US" sz="1200">
                  <a:solidFill>
                    <a:srgbClr val="383838"/>
                  </a:solidFill>
                  <a:latin typeface="微软雅黑"/>
                  <a:ea typeface="微软雅黑"/>
                  <a:cs typeface="微软雅黑"/>
                </a:rPr>
                <a:t>日留存率从</a:t>
              </a:r>
              <a:r>
                <a:rPr lang="en-US" altLang="zh-CN" sz="1200">
                  <a:solidFill>
                    <a:srgbClr val="383838"/>
                  </a:solidFill>
                  <a:latin typeface="微软雅黑"/>
                  <a:ea typeface="微软雅黑"/>
                  <a:cs typeface="微软雅黑"/>
                </a:rPr>
                <a:t>40%</a:t>
              </a:r>
              <a:r>
                <a:rPr lang="zh-CN" altLang="en-US" sz="1200">
                  <a:solidFill>
                    <a:srgbClr val="383838"/>
                  </a:solidFill>
                  <a:latin typeface="微软雅黑"/>
                  <a:ea typeface="微软雅黑"/>
                  <a:cs typeface="微软雅黑"/>
                </a:rPr>
                <a:t>提升至</a:t>
              </a:r>
              <a:r>
                <a:rPr lang="en-US" altLang="zh-CN" sz="1200">
                  <a:solidFill>
                    <a:srgbClr val="383838"/>
                  </a:solidFill>
                  <a:latin typeface="微软雅黑"/>
                  <a:ea typeface="微软雅黑"/>
                  <a:cs typeface="微软雅黑"/>
                </a:rPr>
                <a:t>58%</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sp>
          <p:nvSpPr>
            <p:cNvPr id="140" name="矩形 139"/>
            <p:cNvSpPr/>
            <p:nvPr/>
          </p:nvSpPr>
          <p:spPr>
            <a:xfrm>
              <a:off x="14316" y="1894"/>
              <a:ext cx="4170" cy="1271"/>
            </a:xfrm>
            <a:prstGeom prst="rect">
              <a:avLst/>
            </a:prstGeom>
            <a:gradFill flip="none" rotWithShape="1">
              <a:gsLst>
                <a:gs pos="0">
                  <a:srgbClr val="0042FF"/>
                </a:gs>
                <a:gs pos="100000">
                  <a:srgbClr val="3368FF"/>
                </a:gs>
              </a:gsLst>
              <a:lin ang="16200000"/>
            </a:gradFill>
            <a:ln w="12700" cmpd="sng">
              <a:solidFill>
                <a:srgbClr val="0042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solidFill>
                    <a:srgbClr val="FFFFFF"/>
                  </a:solidFill>
                  <a:latin typeface="微软雅黑"/>
                  <a:ea typeface="微软雅黑"/>
                  <a:cs typeface="微软雅黑"/>
                </a:defRPr>
              </a:pPr>
              <a:r>
                <a:rPr lang="zh-CN" altLang="en-US" sz="1945" b="1" dirty="0">
                  <a:solidFill>
                    <a:srgbClr val="FFFFFF"/>
                  </a:solidFill>
                  <a:effectLst/>
                  <a:latin typeface="微软雅黑"/>
                  <a:ea typeface="微软雅黑"/>
                  <a:cs typeface="微软雅黑"/>
                  <a:sym typeface="微软雅黑"/>
                </a:rPr>
                <a:t>标杆案例：某职场教育品牌运营实践</a:t>
              </a:r>
              <a:endParaRPr lang="zh-CN" altLang="en-US" sz="1945" b="1" dirty="0">
                <a:solidFill>
                  <a:srgbClr val="FFFFFF"/>
                </a:solidFill>
                <a:effectLst/>
                <a:latin typeface="微软雅黑"/>
                <a:ea typeface="微软雅黑"/>
                <a:cs typeface="微软雅黑"/>
                <a:sym typeface="微软雅黑"/>
              </a:endParaRPr>
            </a:p>
          </p:txBody>
        </p:sp>
      </p:grpSp>
      <p:pic>
        <p:nvPicPr>
          <p:cNvPr id="3" name="图片 2" descr="知乎 (1)"/>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087370" y="1778635"/>
            <a:ext cx="244475" cy="244475"/>
          </a:xfrm>
          <a:prstGeom prst="rect">
            <a:avLst/>
          </a:prstGeom>
        </p:spPr>
      </p:pic>
      <p:pic>
        <p:nvPicPr>
          <p:cNvPr id="6" name="图片 5" descr="微信"/>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11350" y="2127250"/>
            <a:ext cx="306705" cy="306705"/>
          </a:xfrm>
          <a:prstGeom prst="rect">
            <a:avLst/>
          </a:prstGeom>
        </p:spPr>
      </p:pic>
      <p:pic>
        <p:nvPicPr>
          <p:cNvPr id="8" name="图片 7" descr="钉钉"/>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584065" y="2033905"/>
            <a:ext cx="283845" cy="283845"/>
          </a:xfrm>
          <a:prstGeom prst="rect">
            <a:avLst/>
          </a:prstGeom>
        </p:spPr>
      </p:pic>
      <p:pic>
        <p:nvPicPr>
          <p:cNvPr id="9" name="图片 8" descr="得到"/>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162810" y="4643120"/>
            <a:ext cx="287020" cy="136525"/>
          </a:xfrm>
          <a:prstGeom prst="rect">
            <a:avLst/>
          </a:prstGeom>
        </p:spPr>
      </p:pic>
      <p:pic>
        <p:nvPicPr>
          <p:cNvPr id="11" name="图片 10" descr="b站"/>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3909695" y="4733290"/>
            <a:ext cx="242570" cy="232410"/>
          </a:xfrm>
          <a:prstGeom prst="rect">
            <a:avLst/>
          </a:prstGeom>
        </p:spPr>
      </p:pic>
      <p:pic>
        <p:nvPicPr>
          <p:cNvPr id="13" name="图片 12" descr="小红书 (1)"/>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095375" y="3358515"/>
            <a:ext cx="356235" cy="356235"/>
          </a:xfrm>
          <a:prstGeom prst="rect">
            <a:avLst/>
          </a:prstGeom>
        </p:spPr>
      </p:pic>
      <p:pic>
        <p:nvPicPr>
          <p:cNvPr id="14" name="图片 13" descr="系统用户"/>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5501005" y="1681480"/>
            <a:ext cx="310515" cy="310515"/>
          </a:xfrm>
          <a:prstGeom prst="rect">
            <a:avLst/>
          </a:prstGeom>
        </p:spPr>
      </p:pic>
      <p:sp>
        <p:nvSpPr>
          <p:cNvPr id="4" name="文本框 3"/>
          <p:cNvSpPr txBox="1"/>
          <p:nvPr/>
        </p:nvSpPr>
        <p:spPr>
          <a:xfrm>
            <a:off x="5737860" y="4116705"/>
            <a:ext cx="47625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a:solidFill>
                  <a:srgbClr val="FFFFFF"/>
                </a:solidFill>
                <a:latin typeface="微软雅黑"/>
                <a:ea typeface="微软雅黑"/>
                <a:cs typeface="微软雅黑"/>
              </a:rPr>
              <a:t>会员中心</a:t>
            </a:r>
            <a:endParaRPr lang="zh-CN" sz="1000">
              <a:solidFill>
                <a:srgbClr val="FFFFFF"/>
              </a:solidFill>
              <a:latin typeface="微软雅黑"/>
              <a:ea typeface="微软雅黑"/>
              <a:cs typeface="微软雅黑"/>
            </a:endParaRPr>
          </a:p>
        </p:txBody>
      </p:sp>
      <p:sp>
        <p:nvSpPr>
          <p:cNvPr id="12" name="文本框 11"/>
          <p:cNvSpPr txBox="1"/>
          <p:nvPr/>
        </p:nvSpPr>
        <p:spPr>
          <a:xfrm>
            <a:off x="6692900" y="4480560"/>
            <a:ext cx="47625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学习社群</a:t>
            </a:r>
            <a:endParaRPr lang="zh-CN" altLang="en-US" sz="1000">
              <a:solidFill>
                <a:srgbClr val="FFFFFF"/>
              </a:solidFill>
              <a:latin typeface="微软雅黑"/>
              <a:ea typeface="微软雅黑"/>
              <a:cs typeface="微软雅黑"/>
            </a:endParaRPr>
          </a:p>
        </p:txBody>
      </p:sp>
      <p:sp>
        <p:nvSpPr>
          <p:cNvPr id="15" name="文本框 14"/>
          <p:cNvSpPr txBox="1"/>
          <p:nvPr/>
        </p:nvSpPr>
        <p:spPr>
          <a:xfrm>
            <a:off x="7893050" y="3416300"/>
            <a:ext cx="47625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sz="1000">
                <a:solidFill>
                  <a:srgbClr val="FFFFFF"/>
                </a:solidFill>
                <a:latin typeface="微软雅黑"/>
                <a:ea typeface="微软雅黑"/>
                <a:cs typeface="微软雅黑"/>
              </a:rPr>
              <a:t>企业网信</a:t>
            </a:r>
            <a:endParaRPr lang="en-US" altLang="zh-CN" sz="1000">
              <a:solidFill>
                <a:srgbClr val="FFFFFF"/>
              </a:solidFill>
              <a:latin typeface="微软雅黑"/>
              <a:ea typeface="微软雅黑"/>
              <a:cs typeface="微软雅黑"/>
            </a:endParaRPr>
          </a:p>
        </p:txBody>
      </p:sp>
      <p:sp>
        <p:nvSpPr>
          <p:cNvPr id="16" name="文本框 15"/>
          <p:cNvSpPr txBox="1"/>
          <p:nvPr/>
        </p:nvSpPr>
        <p:spPr>
          <a:xfrm>
            <a:off x="7515225" y="4178300"/>
            <a:ext cx="476250" cy="39878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直播课程</a:t>
            </a:r>
            <a:endParaRPr lang="zh-CN" altLang="en-US" sz="1000">
              <a:solidFill>
                <a:srgbClr val="FFFFFF"/>
              </a:solidFill>
              <a:latin typeface="微软雅黑"/>
              <a:ea typeface="微软雅黑"/>
              <a:cs typeface="微软雅黑"/>
            </a:endParaRPr>
          </a:p>
        </p:txBody>
      </p:sp>
      <p:sp>
        <p:nvSpPr>
          <p:cNvPr id="18" name="任意多边形 17"/>
          <p:cNvSpPr/>
          <p:nvPr/>
        </p:nvSpPr>
        <p:spPr>
          <a:xfrm>
            <a:off x="5442585" y="2716762"/>
            <a:ext cx="431165" cy="1461552"/>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684" h="2302">
                <a:moveTo>
                  <a:pt x="338" y="0"/>
                </a:moveTo>
                <a:cubicBezTo>
                  <a:pt x="565" y="309"/>
                  <a:pt x="694" y="843"/>
                  <a:pt x="679" y="1111"/>
                </a:cubicBezTo>
                <a:cubicBezTo>
                  <a:pt x="721" y="1522"/>
                  <a:pt x="419" y="2140"/>
                  <a:pt x="283" y="2302"/>
                </a:cubicBezTo>
                <a:cubicBezTo>
                  <a:pt x="96" y="2000"/>
                  <a:pt x="-10" y="1486"/>
                  <a:pt x="0" y="1198"/>
                </a:cubicBezTo>
                <a:cubicBezTo>
                  <a:pt x="-20" y="767"/>
                  <a:pt x="179" y="240"/>
                  <a:pt x="338" y="0"/>
                </a:cubicBezTo>
                <a:close/>
              </a:path>
            </a:pathLst>
          </a:custGeom>
          <a:solidFill>
            <a:srgbClr val="3368FF"/>
          </a:soli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0" name="文本框 19"/>
          <p:cNvSpPr txBox="1"/>
          <p:nvPr/>
        </p:nvSpPr>
        <p:spPr>
          <a:xfrm>
            <a:off x="5316220" y="3014345"/>
            <a:ext cx="680085" cy="64516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200">
                <a:solidFill>
                  <a:srgbClr val="FFFFFF"/>
                </a:solidFill>
                <a:latin typeface="微软雅黑"/>
                <a:ea typeface="微软雅黑"/>
                <a:cs typeface="微软雅黑"/>
              </a:rPr>
              <a:t>公私</a:t>
            </a:r>
            <a:endParaRPr lang="zh-CN" sz="12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200">
                <a:solidFill>
                  <a:srgbClr val="FFFFFF"/>
                </a:solidFill>
                <a:latin typeface="微软雅黑"/>
                <a:ea typeface="微软雅黑"/>
                <a:cs typeface="微软雅黑"/>
              </a:rPr>
              <a:t>域全</a:t>
            </a:r>
            <a:endParaRPr lang="zh-CN" sz="12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sz="1200">
                <a:solidFill>
                  <a:srgbClr val="FFFFFF"/>
                </a:solidFill>
                <a:latin typeface="微软雅黑"/>
                <a:ea typeface="微软雅黑"/>
                <a:cs typeface="微软雅黑"/>
              </a:rPr>
              <a:t>联动</a:t>
            </a:r>
            <a:endParaRPr lang="zh-CN" sz="1200">
              <a:solidFill>
                <a:srgbClr val="FFFFFF"/>
              </a:solidFill>
              <a:latin typeface="微软雅黑"/>
              <a:ea typeface="微软雅黑"/>
              <a:cs typeface="微软雅黑"/>
            </a:endParaRPr>
          </a:p>
        </p:txBody>
      </p:sp>
      <p:sp>
        <p:nvSpPr>
          <p:cNvPr id="22" name="左右箭头 21"/>
          <p:cNvSpPr/>
          <p:nvPr/>
        </p:nvSpPr>
        <p:spPr>
          <a:xfrm>
            <a:off x="5514340" y="3667125"/>
            <a:ext cx="278765" cy="144780"/>
          </a:xfrm>
          <a:prstGeom prst="leftRightArrow">
            <a:avLst/>
          </a:prstGeom>
          <a:solidFill>
            <a:srgbClr val="FFFFFF"/>
          </a:solidFill>
          <a:ln w="12700" cmpd="sng">
            <a:solidFill>
              <a:srgbClr val="3368FF"/>
            </a:soli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3" name="文本框 22"/>
          <p:cNvSpPr txBox="1"/>
          <p:nvPr/>
        </p:nvSpPr>
        <p:spPr>
          <a:xfrm>
            <a:off x="6236970" y="3408680"/>
            <a:ext cx="1442720" cy="521970"/>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深度运营及客户价值挖掘</a:t>
            </a:r>
            <a:endParaRPr lang="zh-CN" altLang="en-US" sz="1400">
              <a:solidFill>
                <a:srgbClr val="383838"/>
              </a:solidFill>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9" name="组合 18"/>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7"/>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互联网消费者行为洞察</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Freeform 5"/>
          <p:cNvSpPr/>
          <p:nvPr/>
        </p:nvSpPr>
        <p:spPr bwMode="auto">
          <a:xfrm>
            <a:off x="7701747" y="2441510"/>
            <a:ext cx="2349601" cy="815022"/>
          </a:xfrm>
          <a:custGeom>
            <a:avLst/>
            <a:gdLst>
              <a:gd name="T0" fmla="*/ 212 w 3802"/>
              <a:gd name="T1" fmla="*/ 0 h 1318"/>
              <a:gd name="T2" fmla="*/ 165 w 3802"/>
              <a:gd name="T3" fmla="*/ 47 h 1318"/>
              <a:gd name="T4" fmla="*/ 140 w 3802"/>
              <a:gd name="T5" fmla="*/ 72 h 1318"/>
              <a:gd name="T6" fmla="*/ 131 w 3802"/>
              <a:gd name="T7" fmla="*/ 81 h 1318"/>
              <a:gd name="T8" fmla="*/ 129 w 3802"/>
              <a:gd name="T9" fmla="*/ 82 h 1318"/>
              <a:gd name="T10" fmla="*/ 0 w 3802"/>
              <a:gd name="T11" fmla="*/ 215 h 1318"/>
              <a:gd name="T12" fmla="*/ 177 w 3802"/>
              <a:gd name="T13" fmla="*/ 301 h 1318"/>
              <a:gd name="T14" fmla="*/ 271 w 3802"/>
              <a:gd name="T15" fmla="*/ 347 h 1318"/>
              <a:gd name="T16" fmla="*/ 307 w 3802"/>
              <a:gd name="T17" fmla="*/ 364 h 1318"/>
              <a:gd name="T18" fmla="*/ 312 w 3802"/>
              <a:gd name="T19" fmla="*/ 366 h 1318"/>
              <a:gd name="T20" fmla="*/ 387 w 3802"/>
              <a:gd name="T21" fmla="*/ 402 h 1318"/>
              <a:gd name="T22" fmla="*/ 426 w 3802"/>
              <a:gd name="T23" fmla="*/ 421 h 1318"/>
              <a:gd name="T24" fmla="*/ 440 w 3802"/>
              <a:gd name="T25" fmla="*/ 428 h 1318"/>
              <a:gd name="T26" fmla="*/ 442 w 3802"/>
              <a:gd name="T27" fmla="*/ 429 h 1318"/>
              <a:gd name="T28" fmla="*/ 671 w 3802"/>
              <a:gd name="T29" fmla="*/ 452 h 1318"/>
              <a:gd name="T30" fmla="*/ 906 w 3802"/>
              <a:gd name="T31" fmla="*/ 491 h 1318"/>
              <a:gd name="T32" fmla="*/ 1147 w 3802"/>
              <a:gd name="T33" fmla="*/ 547 h 1318"/>
              <a:gd name="T34" fmla="*/ 1395 w 3802"/>
              <a:gd name="T35" fmla="*/ 622 h 1318"/>
              <a:gd name="T36" fmla="*/ 1730 w 3802"/>
              <a:gd name="T37" fmla="*/ 752 h 1318"/>
              <a:gd name="T38" fmla="*/ 2032 w 3802"/>
              <a:gd name="T39" fmla="*/ 909 h 1318"/>
              <a:gd name="T40" fmla="*/ 2294 w 3802"/>
              <a:gd name="T41" fmla="*/ 1090 h 1318"/>
              <a:gd name="T42" fmla="*/ 2504 w 3802"/>
              <a:gd name="T43" fmla="*/ 1290 h 1318"/>
              <a:gd name="T44" fmla="*/ 2565 w 3802"/>
              <a:gd name="T45" fmla="*/ 1249 h 1318"/>
              <a:gd name="T46" fmla="*/ 2596 w 3802"/>
              <a:gd name="T47" fmla="*/ 1229 h 1318"/>
              <a:gd name="T48" fmla="*/ 2607 w 3802"/>
              <a:gd name="T49" fmla="*/ 1221 h 1318"/>
              <a:gd name="T50" fmla="*/ 2609 w 3802"/>
              <a:gd name="T51" fmla="*/ 1220 h 1318"/>
              <a:gd name="T52" fmla="*/ 2745 w 3802"/>
              <a:gd name="T53" fmla="*/ 1130 h 1318"/>
              <a:gd name="T54" fmla="*/ 2813 w 3802"/>
              <a:gd name="T55" fmla="*/ 1086 h 1318"/>
              <a:gd name="T56" fmla="*/ 2838 w 3802"/>
              <a:gd name="T57" fmla="*/ 1070 h 1318"/>
              <a:gd name="T58" fmla="*/ 2841 w 3802"/>
              <a:gd name="T59" fmla="*/ 1067 h 1318"/>
              <a:gd name="T60" fmla="*/ 3172 w 3802"/>
              <a:gd name="T61" fmla="*/ 1154 h 1318"/>
              <a:gd name="T62" fmla="*/ 3347 w 3802"/>
              <a:gd name="T63" fmla="*/ 1200 h 1318"/>
              <a:gd name="T64" fmla="*/ 3412 w 3802"/>
              <a:gd name="T65" fmla="*/ 1217 h 1318"/>
              <a:gd name="T66" fmla="*/ 3421 w 3802"/>
              <a:gd name="T67" fmla="*/ 1220 h 1318"/>
              <a:gd name="T68" fmla="*/ 3639 w 3802"/>
              <a:gd name="T69" fmla="*/ 1276 h 1318"/>
              <a:gd name="T70" fmla="*/ 3753 w 3802"/>
              <a:gd name="T71" fmla="*/ 1306 h 1318"/>
              <a:gd name="T72" fmla="*/ 3796 w 3802"/>
              <a:gd name="T73" fmla="*/ 1317 h 1318"/>
              <a:gd name="T74" fmla="*/ 3802 w 3802"/>
              <a:gd name="T75" fmla="*/ 1318 h 1318"/>
              <a:gd name="T76" fmla="*/ 3351 w 3802"/>
              <a:gd name="T77" fmla="*/ 985 h 1318"/>
              <a:gd name="T78" fmla="*/ 2852 w 3802"/>
              <a:gd name="T79" fmla="*/ 701 h 1318"/>
              <a:gd name="T80" fmla="*/ 2323 w 3802"/>
              <a:gd name="T81" fmla="*/ 466 h 1318"/>
              <a:gd name="T82" fmla="*/ 1775 w 3802"/>
              <a:gd name="T83" fmla="*/ 276 h 1318"/>
              <a:gd name="T84" fmla="*/ 1357 w 3802"/>
              <a:gd name="T85" fmla="*/ 165 h 1318"/>
              <a:gd name="T86" fmla="*/ 959 w 3802"/>
              <a:gd name="T87" fmla="*/ 84 h 1318"/>
              <a:gd name="T88" fmla="*/ 578 w 3802"/>
              <a:gd name="T89" fmla="*/ 30 h 1318"/>
              <a:gd name="T90" fmla="*/ 212 w 3802"/>
              <a:gd name="T91" fmla="*/ 0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2" h="1318">
                <a:moveTo>
                  <a:pt x="212" y="0"/>
                </a:moveTo>
                <a:cubicBezTo>
                  <a:pt x="192" y="20"/>
                  <a:pt x="176" y="36"/>
                  <a:pt x="165" y="47"/>
                </a:cubicBezTo>
                <a:cubicBezTo>
                  <a:pt x="153" y="59"/>
                  <a:pt x="145" y="67"/>
                  <a:pt x="140" y="72"/>
                </a:cubicBezTo>
                <a:cubicBezTo>
                  <a:pt x="135" y="77"/>
                  <a:pt x="132" y="80"/>
                  <a:pt x="131" y="81"/>
                </a:cubicBezTo>
                <a:cubicBezTo>
                  <a:pt x="129" y="82"/>
                  <a:pt x="129" y="82"/>
                  <a:pt x="129" y="82"/>
                </a:cubicBezTo>
                <a:cubicBezTo>
                  <a:pt x="0" y="215"/>
                  <a:pt x="0" y="215"/>
                  <a:pt x="0" y="215"/>
                </a:cubicBezTo>
                <a:cubicBezTo>
                  <a:pt x="76" y="252"/>
                  <a:pt x="133" y="280"/>
                  <a:pt x="177" y="301"/>
                </a:cubicBezTo>
                <a:cubicBezTo>
                  <a:pt x="222" y="323"/>
                  <a:pt x="251" y="337"/>
                  <a:pt x="271" y="347"/>
                </a:cubicBezTo>
                <a:cubicBezTo>
                  <a:pt x="292" y="357"/>
                  <a:pt x="302" y="361"/>
                  <a:pt x="307" y="364"/>
                </a:cubicBezTo>
                <a:cubicBezTo>
                  <a:pt x="312" y="366"/>
                  <a:pt x="312" y="366"/>
                  <a:pt x="312" y="366"/>
                </a:cubicBezTo>
                <a:cubicBezTo>
                  <a:pt x="344" y="382"/>
                  <a:pt x="368" y="394"/>
                  <a:pt x="387" y="402"/>
                </a:cubicBezTo>
                <a:cubicBezTo>
                  <a:pt x="405" y="411"/>
                  <a:pt x="417" y="417"/>
                  <a:pt x="426" y="421"/>
                </a:cubicBezTo>
                <a:cubicBezTo>
                  <a:pt x="434" y="425"/>
                  <a:pt x="438" y="427"/>
                  <a:pt x="440" y="428"/>
                </a:cubicBezTo>
                <a:cubicBezTo>
                  <a:pt x="442" y="429"/>
                  <a:pt x="442" y="429"/>
                  <a:pt x="442" y="429"/>
                </a:cubicBezTo>
                <a:cubicBezTo>
                  <a:pt x="517" y="435"/>
                  <a:pt x="593" y="442"/>
                  <a:pt x="671" y="452"/>
                </a:cubicBezTo>
                <a:cubicBezTo>
                  <a:pt x="748" y="463"/>
                  <a:pt x="827" y="476"/>
                  <a:pt x="906" y="491"/>
                </a:cubicBezTo>
                <a:cubicBezTo>
                  <a:pt x="986" y="507"/>
                  <a:pt x="1066" y="525"/>
                  <a:pt x="1147" y="547"/>
                </a:cubicBezTo>
                <a:cubicBezTo>
                  <a:pt x="1229" y="569"/>
                  <a:pt x="1312" y="594"/>
                  <a:pt x="1395" y="622"/>
                </a:cubicBezTo>
                <a:cubicBezTo>
                  <a:pt x="1513" y="661"/>
                  <a:pt x="1625" y="705"/>
                  <a:pt x="1730" y="752"/>
                </a:cubicBezTo>
                <a:cubicBezTo>
                  <a:pt x="1838" y="801"/>
                  <a:pt x="1939" y="854"/>
                  <a:pt x="2032" y="909"/>
                </a:cubicBezTo>
                <a:cubicBezTo>
                  <a:pt x="2128" y="967"/>
                  <a:pt x="2216" y="1027"/>
                  <a:pt x="2294" y="1090"/>
                </a:cubicBezTo>
                <a:cubicBezTo>
                  <a:pt x="2375" y="1155"/>
                  <a:pt x="2445" y="1222"/>
                  <a:pt x="2504" y="1290"/>
                </a:cubicBezTo>
                <a:cubicBezTo>
                  <a:pt x="2531" y="1272"/>
                  <a:pt x="2550" y="1259"/>
                  <a:pt x="2565" y="1249"/>
                </a:cubicBezTo>
                <a:cubicBezTo>
                  <a:pt x="2580" y="1239"/>
                  <a:pt x="2589" y="1233"/>
                  <a:pt x="2596" y="1229"/>
                </a:cubicBezTo>
                <a:cubicBezTo>
                  <a:pt x="2602" y="1224"/>
                  <a:pt x="2606" y="1222"/>
                  <a:pt x="2607" y="1221"/>
                </a:cubicBezTo>
                <a:cubicBezTo>
                  <a:pt x="2609" y="1220"/>
                  <a:pt x="2609" y="1220"/>
                  <a:pt x="2609" y="1220"/>
                </a:cubicBezTo>
                <a:cubicBezTo>
                  <a:pt x="2668" y="1181"/>
                  <a:pt x="2712" y="1152"/>
                  <a:pt x="2745" y="1130"/>
                </a:cubicBezTo>
                <a:cubicBezTo>
                  <a:pt x="2777" y="1109"/>
                  <a:pt x="2799" y="1095"/>
                  <a:pt x="2813" y="1086"/>
                </a:cubicBezTo>
                <a:cubicBezTo>
                  <a:pt x="2827" y="1076"/>
                  <a:pt x="2834" y="1072"/>
                  <a:pt x="2838" y="1070"/>
                </a:cubicBezTo>
                <a:cubicBezTo>
                  <a:pt x="2841" y="1067"/>
                  <a:pt x="2841" y="1067"/>
                  <a:pt x="2841" y="1067"/>
                </a:cubicBezTo>
                <a:cubicBezTo>
                  <a:pt x="2983" y="1104"/>
                  <a:pt x="3090" y="1133"/>
                  <a:pt x="3172" y="1154"/>
                </a:cubicBezTo>
                <a:cubicBezTo>
                  <a:pt x="3254" y="1176"/>
                  <a:pt x="3310" y="1190"/>
                  <a:pt x="3347" y="1200"/>
                </a:cubicBezTo>
                <a:cubicBezTo>
                  <a:pt x="3384" y="1210"/>
                  <a:pt x="3403" y="1215"/>
                  <a:pt x="3412" y="1217"/>
                </a:cubicBezTo>
                <a:cubicBezTo>
                  <a:pt x="3421" y="1220"/>
                  <a:pt x="3421" y="1220"/>
                  <a:pt x="3421" y="1220"/>
                </a:cubicBezTo>
                <a:cubicBezTo>
                  <a:pt x="3515" y="1244"/>
                  <a:pt x="3586" y="1262"/>
                  <a:pt x="3639" y="1276"/>
                </a:cubicBezTo>
                <a:cubicBezTo>
                  <a:pt x="3693" y="1290"/>
                  <a:pt x="3729" y="1299"/>
                  <a:pt x="3753" y="1306"/>
                </a:cubicBezTo>
                <a:cubicBezTo>
                  <a:pt x="3778" y="1312"/>
                  <a:pt x="3790" y="1315"/>
                  <a:pt x="3796" y="1317"/>
                </a:cubicBezTo>
                <a:cubicBezTo>
                  <a:pt x="3802" y="1318"/>
                  <a:pt x="3802" y="1318"/>
                  <a:pt x="3802" y="1318"/>
                </a:cubicBezTo>
                <a:cubicBezTo>
                  <a:pt x="3666" y="1202"/>
                  <a:pt x="3514" y="1090"/>
                  <a:pt x="3351" y="985"/>
                </a:cubicBezTo>
                <a:cubicBezTo>
                  <a:pt x="3194" y="884"/>
                  <a:pt x="3027" y="789"/>
                  <a:pt x="2852" y="701"/>
                </a:cubicBezTo>
                <a:cubicBezTo>
                  <a:pt x="2683" y="616"/>
                  <a:pt x="2506" y="538"/>
                  <a:pt x="2323" y="466"/>
                </a:cubicBezTo>
                <a:cubicBezTo>
                  <a:pt x="2147" y="396"/>
                  <a:pt x="1963" y="332"/>
                  <a:pt x="1775" y="276"/>
                </a:cubicBezTo>
                <a:cubicBezTo>
                  <a:pt x="1634" y="234"/>
                  <a:pt x="1494" y="197"/>
                  <a:pt x="1357" y="165"/>
                </a:cubicBezTo>
                <a:cubicBezTo>
                  <a:pt x="1222" y="133"/>
                  <a:pt x="1089" y="106"/>
                  <a:pt x="959" y="84"/>
                </a:cubicBezTo>
                <a:cubicBezTo>
                  <a:pt x="830" y="62"/>
                  <a:pt x="702" y="44"/>
                  <a:pt x="578" y="30"/>
                </a:cubicBezTo>
                <a:cubicBezTo>
                  <a:pt x="454" y="16"/>
                  <a:pt x="332" y="6"/>
                  <a:pt x="212" y="0"/>
                </a:cubicBezTo>
              </a:path>
            </a:pathLst>
          </a:custGeom>
          <a:gradFill>
            <a:gsLst>
              <a:gs pos="0">
                <a:srgbClr val="B3D4FE"/>
              </a:gs>
              <a:gs pos="100000">
                <a:srgbClr val="B3D4FE"/>
              </a:gs>
            </a:gsLst>
            <a:lin ang="54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 name="Freeform 6"/>
          <p:cNvSpPr/>
          <p:nvPr/>
        </p:nvSpPr>
        <p:spPr bwMode="auto">
          <a:xfrm>
            <a:off x="2348121" y="2437849"/>
            <a:ext cx="2572712" cy="810576"/>
          </a:xfrm>
          <a:custGeom>
            <a:avLst/>
            <a:gdLst>
              <a:gd name="T0" fmla="*/ 3840 w 4163"/>
              <a:gd name="T1" fmla="*/ 0 h 1311"/>
              <a:gd name="T2" fmla="*/ 3419 w 4163"/>
              <a:gd name="T3" fmla="*/ 17 h 1311"/>
              <a:gd name="T4" fmla="*/ 2975 w 4163"/>
              <a:gd name="T5" fmla="*/ 66 h 1311"/>
              <a:gd name="T6" fmla="*/ 2506 w 4163"/>
              <a:gd name="T7" fmla="*/ 153 h 1311"/>
              <a:gd name="T8" fmla="*/ 2010 w 4163"/>
              <a:gd name="T9" fmla="*/ 282 h 1311"/>
              <a:gd name="T10" fmla="*/ 1465 w 4163"/>
              <a:gd name="T11" fmla="*/ 470 h 1311"/>
              <a:gd name="T12" fmla="*/ 942 w 4163"/>
              <a:gd name="T13" fmla="*/ 703 h 1311"/>
              <a:gd name="T14" fmla="*/ 448 w 4163"/>
              <a:gd name="T15" fmla="*/ 983 h 1311"/>
              <a:gd name="T16" fmla="*/ 0 w 4163"/>
              <a:gd name="T17" fmla="*/ 1311 h 1311"/>
              <a:gd name="T18" fmla="*/ 192 w 4163"/>
              <a:gd name="T19" fmla="*/ 1261 h 1311"/>
              <a:gd name="T20" fmla="*/ 290 w 4163"/>
              <a:gd name="T21" fmla="*/ 1236 h 1311"/>
              <a:gd name="T22" fmla="*/ 325 w 4163"/>
              <a:gd name="T23" fmla="*/ 1227 h 1311"/>
              <a:gd name="T24" fmla="*/ 330 w 4163"/>
              <a:gd name="T25" fmla="*/ 1225 h 1311"/>
              <a:gd name="T26" fmla="*/ 911 w 4163"/>
              <a:gd name="T27" fmla="*/ 1073 h 1311"/>
              <a:gd name="T28" fmla="*/ 1043 w 4163"/>
              <a:gd name="T29" fmla="*/ 1160 h 1311"/>
              <a:gd name="T30" fmla="*/ 1113 w 4163"/>
              <a:gd name="T31" fmla="*/ 1206 h 1311"/>
              <a:gd name="T32" fmla="*/ 1139 w 4163"/>
              <a:gd name="T33" fmla="*/ 1223 h 1311"/>
              <a:gd name="T34" fmla="*/ 1143 w 4163"/>
              <a:gd name="T35" fmla="*/ 1225 h 1311"/>
              <a:gd name="T36" fmla="*/ 1215 w 4163"/>
              <a:gd name="T37" fmla="*/ 1272 h 1311"/>
              <a:gd name="T38" fmla="*/ 1253 w 4163"/>
              <a:gd name="T39" fmla="*/ 1297 h 1311"/>
              <a:gd name="T40" fmla="*/ 1267 w 4163"/>
              <a:gd name="T41" fmla="*/ 1306 h 1311"/>
              <a:gd name="T42" fmla="*/ 1269 w 4163"/>
              <a:gd name="T43" fmla="*/ 1307 h 1311"/>
              <a:gd name="T44" fmla="*/ 1479 w 4163"/>
              <a:gd name="T45" fmla="*/ 1104 h 1311"/>
              <a:gd name="T46" fmla="*/ 1743 w 4163"/>
              <a:gd name="T47" fmla="*/ 920 h 1311"/>
              <a:gd name="T48" fmla="*/ 2049 w 4163"/>
              <a:gd name="T49" fmla="*/ 761 h 1311"/>
              <a:gd name="T50" fmla="*/ 2390 w 4163"/>
              <a:gd name="T51" fmla="*/ 628 h 1311"/>
              <a:gd name="T52" fmla="*/ 2695 w 4163"/>
              <a:gd name="T53" fmla="*/ 538 h 1311"/>
              <a:gd name="T54" fmla="*/ 2990 w 4163"/>
              <a:gd name="T55" fmla="*/ 477 h 1311"/>
              <a:gd name="T56" fmla="*/ 3274 w 4163"/>
              <a:gd name="T57" fmla="*/ 442 h 1311"/>
              <a:gd name="T58" fmla="*/ 3545 w 4163"/>
              <a:gd name="T59" fmla="*/ 430 h 1311"/>
              <a:gd name="T60" fmla="*/ 3578 w 4163"/>
              <a:gd name="T61" fmla="*/ 430 h 1311"/>
              <a:gd name="T62" fmla="*/ 3610 w 4163"/>
              <a:gd name="T63" fmla="*/ 430 h 1311"/>
              <a:gd name="T64" fmla="*/ 3640 w 4163"/>
              <a:gd name="T65" fmla="*/ 430 h 1311"/>
              <a:gd name="T66" fmla="*/ 3670 w 4163"/>
              <a:gd name="T67" fmla="*/ 430 h 1311"/>
              <a:gd name="T68" fmla="*/ 3740 w 4163"/>
              <a:gd name="T69" fmla="*/ 409 h 1311"/>
              <a:gd name="T70" fmla="*/ 3775 w 4163"/>
              <a:gd name="T71" fmla="*/ 398 h 1311"/>
              <a:gd name="T72" fmla="*/ 3788 w 4163"/>
              <a:gd name="T73" fmla="*/ 394 h 1311"/>
              <a:gd name="T74" fmla="*/ 3790 w 4163"/>
              <a:gd name="T75" fmla="*/ 393 h 1311"/>
              <a:gd name="T76" fmla="*/ 4008 w 4163"/>
              <a:gd name="T77" fmla="*/ 325 h 1311"/>
              <a:gd name="T78" fmla="*/ 4117 w 4163"/>
              <a:gd name="T79" fmla="*/ 291 h 1311"/>
              <a:gd name="T80" fmla="*/ 4157 w 4163"/>
              <a:gd name="T81" fmla="*/ 279 h 1311"/>
              <a:gd name="T82" fmla="*/ 4163 w 4163"/>
              <a:gd name="T83" fmla="*/ 277 h 1311"/>
              <a:gd name="T84" fmla="*/ 4147 w 4163"/>
              <a:gd name="T85" fmla="*/ 183 h 1311"/>
              <a:gd name="T86" fmla="*/ 4139 w 4163"/>
              <a:gd name="T87" fmla="*/ 137 h 1311"/>
              <a:gd name="T88" fmla="*/ 4136 w 4163"/>
              <a:gd name="T89" fmla="*/ 120 h 1311"/>
              <a:gd name="T90" fmla="*/ 4135 w 4163"/>
              <a:gd name="T91" fmla="*/ 118 h 1311"/>
              <a:gd name="T92" fmla="*/ 4123 w 4163"/>
              <a:gd name="T93" fmla="*/ 53 h 1311"/>
              <a:gd name="T94" fmla="*/ 4117 w 4163"/>
              <a:gd name="T95" fmla="*/ 20 h 1311"/>
              <a:gd name="T96" fmla="*/ 4114 w 4163"/>
              <a:gd name="T97" fmla="*/ 8 h 1311"/>
              <a:gd name="T98" fmla="*/ 4114 w 4163"/>
              <a:gd name="T99" fmla="*/ 7 h 1311"/>
              <a:gd name="T100" fmla="*/ 4047 w 4163"/>
              <a:gd name="T101" fmla="*/ 4 h 1311"/>
              <a:gd name="T102" fmla="*/ 3980 w 4163"/>
              <a:gd name="T103" fmla="*/ 2 h 1311"/>
              <a:gd name="T104" fmla="*/ 3911 w 4163"/>
              <a:gd name="T105" fmla="*/ 1 h 1311"/>
              <a:gd name="T106" fmla="*/ 3840 w 4163"/>
              <a:gd name="T107" fmla="*/ 0 h 1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63" h="1311">
                <a:moveTo>
                  <a:pt x="3840" y="0"/>
                </a:moveTo>
                <a:cubicBezTo>
                  <a:pt x="3704" y="0"/>
                  <a:pt x="3563" y="6"/>
                  <a:pt x="3419" y="17"/>
                </a:cubicBezTo>
                <a:cubicBezTo>
                  <a:pt x="3275" y="28"/>
                  <a:pt x="3126" y="44"/>
                  <a:pt x="2975" y="66"/>
                </a:cubicBezTo>
                <a:cubicBezTo>
                  <a:pt x="2822" y="89"/>
                  <a:pt x="2665" y="118"/>
                  <a:pt x="2506" y="153"/>
                </a:cubicBezTo>
                <a:cubicBezTo>
                  <a:pt x="2344" y="189"/>
                  <a:pt x="2178" y="232"/>
                  <a:pt x="2010" y="282"/>
                </a:cubicBezTo>
                <a:cubicBezTo>
                  <a:pt x="1822" y="338"/>
                  <a:pt x="1640" y="401"/>
                  <a:pt x="1465" y="470"/>
                </a:cubicBezTo>
                <a:cubicBezTo>
                  <a:pt x="1284" y="541"/>
                  <a:pt x="1109" y="619"/>
                  <a:pt x="942" y="703"/>
                </a:cubicBezTo>
                <a:cubicBezTo>
                  <a:pt x="768" y="790"/>
                  <a:pt x="603" y="884"/>
                  <a:pt x="448" y="983"/>
                </a:cubicBezTo>
                <a:cubicBezTo>
                  <a:pt x="286" y="1087"/>
                  <a:pt x="136" y="1197"/>
                  <a:pt x="0" y="1311"/>
                </a:cubicBezTo>
                <a:cubicBezTo>
                  <a:pt x="84" y="1289"/>
                  <a:pt x="146" y="1273"/>
                  <a:pt x="192" y="1261"/>
                </a:cubicBezTo>
                <a:cubicBezTo>
                  <a:pt x="239" y="1249"/>
                  <a:pt x="269" y="1241"/>
                  <a:pt x="290" y="1236"/>
                </a:cubicBezTo>
                <a:cubicBezTo>
                  <a:pt x="310" y="1231"/>
                  <a:pt x="320" y="1228"/>
                  <a:pt x="325" y="1227"/>
                </a:cubicBezTo>
                <a:cubicBezTo>
                  <a:pt x="330" y="1225"/>
                  <a:pt x="330" y="1225"/>
                  <a:pt x="330" y="1225"/>
                </a:cubicBezTo>
                <a:cubicBezTo>
                  <a:pt x="911" y="1073"/>
                  <a:pt x="911" y="1073"/>
                  <a:pt x="911" y="1073"/>
                </a:cubicBezTo>
                <a:cubicBezTo>
                  <a:pt x="968" y="1110"/>
                  <a:pt x="1011" y="1138"/>
                  <a:pt x="1043" y="1160"/>
                </a:cubicBezTo>
                <a:cubicBezTo>
                  <a:pt x="1076" y="1181"/>
                  <a:pt x="1098" y="1196"/>
                  <a:pt x="1113" y="1206"/>
                </a:cubicBezTo>
                <a:cubicBezTo>
                  <a:pt x="1128" y="1215"/>
                  <a:pt x="1135" y="1220"/>
                  <a:pt x="1139" y="1223"/>
                </a:cubicBezTo>
                <a:cubicBezTo>
                  <a:pt x="1143" y="1225"/>
                  <a:pt x="1143" y="1225"/>
                  <a:pt x="1143" y="1225"/>
                </a:cubicBezTo>
                <a:cubicBezTo>
                  <a:pt x="1174" y="1245"/>
                  <a:pt x="1198" y="1261"/>
                  <a:pt x="1215" y="1272"/>
                </a:cubicBezTo>
                <a:cubicBezTo>
                  <a:pt x="1233" y="1284"/>
                  <a:pt x="1245" y="1292"/>
                  <a:pt x="1253" y="1297"/>
                </a:cubicBezTo>
                <a:cubicBezTo>
                  <a:pt x="1261" y="1302"/>
                  <a:pt x="1265" y="1305"/>
                  <a:pt x="1267" y="1306"/>
                </a:cubicBezTo>
                <a:cubicBezTo>
                  <a:pt x="1269" y="1307"/>
                  <a:pt x="1269" y="1307"/>
                  <a:pt x="1269" y="1307"/>
                </a:cubicBezTo>
                <a:cubicBezTo>
                  <a:pt x="1328" y="1238"/>
                  <a:pt x="1398" y="1169"/>
                  <a:pt x="1479" y="1104"/>
                </a:cubicBezTo>
                <a:cubicBezTo>
                  <a:pt x="1558" y="1040"/>
                  <a:pt x="1646" y="978"/>
                  <a:pt x="1743" y="920"/>
                </a:cubicBezTo>
                <a:cubicBezTo>
                  <a:pt x="1837" y="864"/>
                  <a:pt x="1940" y="810"/>
                  <a:pt x="2049" y="761"/>
                </a:cubicBezTo>
                <a:cubicBezTo>
                  <a:pt x="2156" y="712"/>
                  <a:pt x="2270" y="668"/>
                  <a:pt x="2390" y="628"/>
                </a:cubicBezTo>
                <a:cubicBezTo>
                  <a:pt x="2492" y="593"/>
                  <a:pt x="2594" y="563"/>
                  <a:pt x="2695" y="538"/>
                </a:cubicBezTo>
                <a:cubicBezTo>
                  <a:pt x="2794" y="513"/>
                  <a:pt x="2893" y="493"/>
                  <a:pt x="2990" y="477"/>
                </a:cubicBezTo>
                <a:cubicBezTo>
                  <a:pt x="3086" y="461"/>
                  <a:pt x="3181" y="449"/>
                  <a:pt x="3274" y="442"/>
                </a:cubicBezTo>
                <a:cubicBezTo>
                  <a:pt x="3367" y="434"/>
                  <a:pt x="3457" y="430"/>
                  <a:pt x="3545" y="430"/>
                </a:cubicBezTo>
                <a:cubicBezTo>
                  <a:pt x="3557" y="430"/>
                  <a:pt x="3568" y="430"/>
                  <a:pt x="3578" y="430"/>
                </a:cubicBezTo>
                <a:cubicBezTo>
                  <a:pt x="3589" y="430"/>
                  <a:pt x="3600" y="430"/>
                  <a:pt x="3610" y="430"/>
                </a:cubicBezTo>
                <a:cubicBezTo>
                  <a:pt x="3620" y="430"/>
                  <a:pt x="3630" y="430"/>
                  <a:pt x="3640" y="430"/>
                </a:cubicBezTo>
                <a:cubicBezTo>
                  <a:pt x="3650" y="430"/>
                  <a:pt x="3660" y="430"/>
                  <a:pt x="3670" y="430"/>
                </a:cubicBezTo>
                <a:cubicBezTo>
                  <a:pt x="3700" y="421"/>
                  <a:pt x="3723" y="414"/>
                  <a:pt x="3740" y="409"/>
                </a:cubicBezTo>
                <a:cubicBezTo>
                  <a:pt x="3756" y="404"/>
                  <a:pt x="3767" y="400"/>
                  <a:pt x="3775" y="398"/>
                </a:cubicBezTo>
                <a:cubicBezTo>
                  <a:pt x="3782" y="396"/>
                  <a:pt x="3786" y="394"/>
                  <a:pt x="3788" y="394"/>
                </a:cubicBezTo>
                <a:cubicBezTo>
                  <a:pt x="3790" y="393"/>
                  <a:pt x="3790" y="393"/>
                  <a:pt x="3790" y="393"/>
                </a:cubicBezTo>
                <a:cubicBezTo>
                  <a:pt x="3885" y="364"/>
                  <a:pt x="3956" y="342"/>
                  <a:pt x="4008" y="325"/>
                </a:cubicBezTo>
                <a:cubicBezTo>
                  <a:pt x="4060" y="309"/>
                  <a:pt x="4094" y="298"/>
                  <a:pt x="4117" y="291"/>
                </a:cubicBezTo>
                <a:cubicBezTo>
                  <a:pt x="4140" y="284"/>
                  <a:pt x="4151" y="281"/>
                  <a:pt x="4157" y="279"/>
                </a:cubicBezTo>
                <a:cubicBezTo>
                  <a:pt x="4163" y="277"/>
                  <a:pt x="4163" y="277"/>
                  <a:pt x="4163" y="277"/>
                </a:cubicBezTo>
                <a:cubicBezTo>
                  <a:pt x="4156" y="236"/>
                  <a:pt x="4150" y="206"/>
                  <a:pt x="4147" y="183"/>
                </a:cubicBezTo>
                <a:cubicBezTo>
                  <a:pt x="4143" y="161"/>
                  <a:pt x="4140" y="147"/>
                  <a:pt x="4139" y="137"/>
                </a:cubicBezTo>
                <a:cubicBezTo>
                  <a:pt x="4137" y="127"/>
                  <a:pt x="4136" y="122"/>
                  <a:pt x="4136" y="120"/>
                </a:cubicBezTo>
                <a:cubicBezTo>
                  <a:pt x="4135" y="118"/>
                  <a:pt x="4135" y="118"/>
                  <a:pt x="4135" y="118"/>
                </a:cubicBezTo>
                <a:cubicBezTo>
                  <a:pt x="4130" y="89"/>
                  <a:pt x="4126" y="68"/>
                  <a:pt x="4123" y="53"/>
                </a:cubicBezTo>
                <a:cubicBezTo>
                  <a:pt x="4120" y="37"/>
                  <a:pt x="4118" y="27"/>
                  <a:pt x="4117" y="20"/>
                </a:cubicBezTo>
                <a:cubicBezTo>
                  <a:pt x="4115" y="13"/>
                  <a:pt x="4115" y="10"/>
                  <a:pt x="4114" y="8"/>
                </a:cubicBezTo>
                <a:cubicBezTo>
                  <a:pt x="4114" y="7"/>
                  <a:pt x="4114" y="7"/>
                  <a:pt x="4114" y="7"/>
                </a:cubicBezTo>
                <a:cubicBezTo>
                  <a:pt x="4092" y="6"/>
                  <a:pt x="4070" y="5"/>
                  <a:pt x="4047" y="4"/>
                </a:cubicBezTo>
                <a:cubicBezTo>
                  <a:pt x="4025" y="3"/>
                  <a:pt x="4003" y="2"/>
                  <a:pt x="3980" y="2"/>
                </a:cubicBezTo>
                <a:cubicBezTo>
                  <a:pt x="3957" y="1"/>
                  <a:pt x="3934" y="1"/>
                  <a:pt x="3911" y="1"/>
                </a:cubicBezTo>
                <a:cubicBezTo>
                  <a:pt x="3888" y="1"/>
                  <a:pt x="3864" y="0"/>
                  <a:pt x="3840" y="0"/>
                </a:cubicBezTo>
              </a:path>
            </a:pathLst>
          </a:custGeom>
          <a:gradFill>
            <a:gsLst>
              <a:gs pos="0">
                <a:srgbClr val="668EFF"/>
              </a:gs>
              <a:gs pos="100000">
                <a:srgbClr val="3368FF"/>
              </a:gs>
            </a:gsLst>
            <a:lin ang="54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7" name="Freeform 7"/>
          <p:cNvSpPr/>
          <p:nvPr/>
        </p:nvSpPr>
        <p:spPr bwMode="auto">
          <a:xfrm>
            <a:off x="6268657" y="3224360"/>
            <a:ext cx="2926866" cy="1482787"/>
          </a:xfrm>
          <a:custGeom>
            <a:avLst/>
            <a:gdLst>
              <a:gd name="T0" fmla="*/ 897 w 4736"/>
              <a:gd name="T1" fmla="*/ 0 h 2398"/>
              <a:gd name="T2" fmla="*/ 874 w 4736"/>
              <a:gd name="T3" fmla="*/ 102 h 2398"/>
              <a:gd name="T4" fmla="*/ 862 w 4736"/>
              <a:gd name="T5" fmla="*/ 156 h 2398"/>
              <a:gd name="T6" fmla="*/ 858 w 4736"/>
              <a:gd name="T7" fmla="*/ 176 h 2398"/>
              <a:gd name="T8" fmla="*/ 857 w 4736"/>
              <a:gd name="T9" fmla="*/ 179 h 2398"/>
              <a:gd name="T10" fmla="*/ 811 w 4736"/>
              <a:gd name="T11" fmla="*/ 356 h 2398"/>
              <a:gd name="T12" fmla="*/ 786 w 4736"/>
              <a:gd name="T13" fmla="*/ 452 h 2398"/>
              <a:gd name="T14" fmla="*/ 776 w 4736"/>
              <a:gd name="T15" fmla="*/ 488 h 2398"/>
              <a:gd name="T16" fmla="*/ 775 w 4736"/>
              <a:gd name="T17" fmla="*/ 494 h 2398"/>
              <a:gd name="T18" fmla="*/ 465 w 4736"/>
              <a:gd name="T19" fmla="*/ 516 h 2398"/>
              <a:gd name="T20" fmla="*/ 305 w 4736"/>
              <a:gd name="T21" fmla="*/ 527 h 2398"/>
              <a:gd name="T22" fmla="*/ 246 w 4736"/>
              <a:gd name="T23" fmla="*/ 531 h 2398"/>
              <a:gd name="T24" fmla="*/ 237 w 4736"/>
              <a:gd name="T25" fmla="*/ 532 h 2398"/>
              <a:gd name="T26" fmla="*/ 100 w 4736"/>
              <a:gd name="T27" fmla="*/ 543 h 2398"/>
              <a:gd name="T28" fmla="*/ 30 w 4736"/>
              <a:gd name="T29" fmla="*/ 549 h 2398"/>
              <a:gd name="T30" fmla="*/ 4 w 4736"/>
              <a:gd name="T31" fmla="*/ 551 h 2398"/>
              <a:gd name="T32" fmla="*/ 0 w 4736"/>
              <a:gd name="T33" fmla="*/ 552 h 2398"/>
              <a:gd name="T34" fmla="*/ 767 w 4736"/>
              <a:gd name="T35" fmla="*/ 1029 h 2398"/>
              <a:gd name="T36" fmla="*/ 1217 w 4736"/>
              <a:gd name="T37" fmla="*/ 1310 h 2398"/>
              <a:gd name="T38" fmla="*/ 1394 w 4736"/>
              <a:gd name="T39" fmla="*/ 1420 h 2398"/>
              <a:gd name="T40" fmla="*/ 1420 w 4736"/>
              <a:gd name="T41" fmla="*/ 1436 h 2398"/>
              <a:gd name="T42" fmla="*/ 2132 w 4736"/>
              <a:gd name="T43" fmla="*/ 1813 h 2398"/>
              <a:gd name="T44" fmla="*/ 2951 w 4736"/>
              <a:gd name="T45" fmla="*/ 2117 h 2398"/>
              <a:gd name="T46" fmla="*/ 3825 w 4736"/>
              <a:gd name="T47" fmla="*/ 2319 h 2398"/>
              <a:gd name="T48" fmla="*/ 4689 w 4736"/>
              <a:gd name="T49" fmla="*/ 2398 h 2398"/>
              <a:gd name="T50" fmla="*/ 4702 w 4736"/>
              <a:gd name="T51" fmla="*/ 2193 h 2398"/>
              <a:gd name="T52" fmla="*/ 4709 w 4736"/>
              <a:gd name="T53" fmla="*/ 2092 h 2398"/>
              <a:gd name="T54" fmla="*/ 4711 w 4736"/>
              <a:gd name="T55" fmla="*/ 2056 h 2398"/>
              <a:gd name="T56" fmla="*/ 4712 w 4736"/>
              <a:gd name="T57" fmla="*/ 2051 h 2398"/>
              <a:gd name="T58" fmla="*/ 4736 w 4736"/>
              <a:gd name="T59" fmla="*/ 1593 h 2398"/>
              <a:gd name="T60" fmla="*/ 4342 w 4736"/>
              <a:gd name="T61" fmla="*/ 1367 h 2398"/>
              <a:gd name="T62" fmla="*/ 4151 w 4736"/>
              <a:gd name="T63" fmla="*/ 1257 h 2398"/>
              <a:gd name="T64" fmla="*/ 4082 w 4736"/>
              <a:gd name="T65" fmla="*/ 1217 h 2398"/>
              <a:gd name="T66" fmla="*/ 4072 w 4736"/>
              <a:gd name="T67" fmla="*/ 1211 h 2398"/>
              <a:gd name="T68" fmla="*/ 3938 w 4736"/>
              <a:gd name="T69" fmla="*/ 1134 h 2398"/>
              <a:gd name="T70" fmla="*/ 3871 w 4736"/>
              <a:gd name="T71" fmla="*/ 1095 h 2398"/>
              <a:gd name="T72" fmla="*/ 3847 w 4736"/>
              <a:gd name="T73" fmla="*/ 1081 h 2398"/>
              <a:gd name="T74" fmla="*/ 3843 w 4736"/>
              <a:gd name="T75" fmla="*/ 1078 h 2398"/>
              <a:gd name="T76" fmla="*/ 3440 w 4736"/>
              <a:gd name="T77" fmla="*/ 1049 h 2398"/>
              <a:gd name="T78" fmla="*/ 3026 w 4736"/>
              <a:gd name="T79" fmla="*/ 970 h 2398"/>
              <a:gd name="T80" fmla="*/ 2623 w 4736"/>
              <a:gd name="T81" fmla="*/ 848 h 2398"/>
              <a:gd name="T82" fmla="*/ 2251 w 4736"/>
              <a:gd name="T83" fmla="*/ 687 h 2398"/>
              <a:gd name="T84" fmla="*/ 1424 w 4736"/>
              <a:gd name="T85" fmla="*/ 267 h 2398"/>
              <a:gd name="T86" fmla="*/ 1047 w 4736"/>
              <a:gd name="T87" fmla="*/ 76 h 2398"/>
              <a:gd name="T88" fmla="*/ 916 w 4736"/>
              <a:gd name="T89" fmla="*/ 9 h 2398"/>
              <a:gd name="T90" fmla="*/ 897 w 4736"/>
              <a:gd name="T91" fmla="*/ 0 h 2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36" h="2398">
                <a:moveTo>
                  <a:pt x="897" y="0"/>
                </a:moveTo>
                <a:cubicBezTo>
                  <a:pt x="887" y="43"/>
                  <a:pt x="880" y="76"/>
                  <a:pt x="874" y="102"/>
                </a:cubicBezTo>
                <a:cubicBezTo>
                  <a:pt x="868" y="127"/>
                  <a:pt x="865" y="144"/>
                  <a:pt x="862" y="156"/>
                </a:cubicBezTo>
                <a:cubicBezTo>
                  <a:pt x="859" y="167"/>
                  <a:pt x="858" y="173"/>
                  <a:pt x="858" y="176"/>
                </a:cubicBezTo>
                <a:cubicBezTo>
                  <a:pt x="857" y="179"/>
                  <a:pt x="857" y="179"/>
                  <a:pt x="857" y="179"/>
                </a:cubicBezTo>
                <a:cubicBezTo>
                  <a:pt x="837" y="254"/>
                  <a:pt x="822" y="312"/>
                  <a:pt x="811" y="356"/>
                </a:cubicBezTo>
                <a:cubicBezTo>
                  <a:pt x="799" y="401"/>
                  <a:pt x="791" y="432"/>
                  <a:pt x="786" y="452"/>
                </a:cubicBezTo>
                <a:cubicBezTo>
                  <a:pt x="780" y="473"/>
                  <a:pt x="777" y="483"/>
                  <a:pt x="776" y="488"/>
                </a:cubicBezTo>
                <a:cubicBezTo>
                  <a:pt x="775" y="494"/>
                  <a:pt x="775" y="494"/>
                  <a:pt x="775" y="494"/>
                </a:cubicBezTo>
                <a:cubicBezTo>
                  <a:pt x="641" y="503"/>
                  <a:pt x="540" y="510"/>
                  <a:pt x="465" y="516"/>
                </a:cubicBezTo>
                <a:cubicBezTo>
                  <a:pt x="389" y="521"/>
                  <a:pt x="338" y="525"/>
                  <a:pt x="305" y="527"/>
                </a:cubicBezTo>
                <a:cubicBezTo>
                  <a:pt x="271" y="530"/>
                  <a:pt x="254" y="531"/>
                  <a:pt x="246" y="531"/>
                </a:cubicBezTo>
                <a:cubicBezTo>
                  <a:pt x="237" y="532"/>
                  <a:pt x="237" y="532"/>
                  <a:pt x="237" y="532"/>
                </a:cubicBezTo>
                <a:cubicBezTo>
                  <a:pt x="178" y="537"/>
                  <a:pt x="134" y="541"/>
                  <a:pt x="100" y="543"/>
                </a:cubicBezTo>
                <a:cubicBezTo>
                  <a:pt x="67" y="546"/>
                  <a:pt x="45" y="548"/>
                  <a:pt x="30" y="549"/>
                </a:cubicBezTo>
                <a:cubicBezTo>
                  <a:pt x="15" y="550"/>
                  <a:pt x="7" y="551"/>
                  <a:pt x="4" y="551"/>
                </a:cubicBezTo>
                <a:cubicBezTo>
                  <a:pt x="0" y="552"/>
                  <a:pt x="0" y="552"/>
                  <a:pt x="0" y="552"/>
                </a:cubicBezTo>
                <a:cubicBezTo>
                  <a:pt x="315" y="748"/>
                  <a:pt x="568" y="905"/>
                  <a:pt x="767" y="1029"/>
                </a:cubicBezTo>
                <a:cubicBezTo>
                  <a:pt x="975" y="1159"/>
                  <a:pt x="1119" y="1248"/>
                  <a:pt x="1217" y="1310"/>
                </a:cubicBezTo>
                <a:cubicBezTo>
                  <a:pt x="1318" y="1372"/>
                  <a:pt x="1369" y="1404"/>
                  <a:pt x="1394" y="1420"/>
                </a:cubicBezTo>
                <a:cubicBezTo>
                  <a:pt x="1420" y="1436"/>
                  <a:pt x="1420" y="1436"/>
                  <a:pt x="1420" y="1436"/>
                </a:cubicBezTo>
                <a:cubicBezTo>
                  <a:pt x="1640" y="1574"/>
                  <a:pt x="1879" y="1700"/>
                  <a:pt x="2132" y="1813"/>
                </a:cubicBezTo>
                <a:cubicBezTo>
                  <a:pt x="2394" y="1931"/>
                  <a:pt x="2669" y="2032"/>
                  <a:pt x="2951" y="2117"/>
                </a:cubicBezTo>
                <a:cubicBezTo>
                  <a:pt x="3240" y="2204"/>
                  <a:pt x="3534" y="2271"/>
                  <a:pt x="3825" y="2319"/>
                </a:cubicBezTo>
                <a:cubicBezTo>
                  <a:pt x="4121" y="2367"/>
                  <a:pt x="4411" y="2393"/>
                  <a:pt x="4689" y="2398"/>
                </a:cubicBezTo>
                <a:cubicBezTo>
                  <a:pt x="4695" y="2308"/>
                  <a:pt x="4699" y="2242"/>
                  <a:pt x="4702" y="2193"/>
                </a:cubicBezTo>
                <a:cubicBezTo>
                  <a:pt x="4705" y="2145"/>
                  <a:pt x="4708" y="2113"/>
                  <a:pt x="4709" y="2092"/>
                </a:cubicBezTo>
                <a:cubicBezTo>
                  <a:pt x="4710" y="2072"/>
                  <a:pt x="4711" y="2061"/>
                  <a:pt x="4711" y="2056"/>
                </a:cubicBezTo>
                <a:cubicBezTo>
                  <a:pt x="4712" y="2051"/>
                  <a:pt x="4712" y="2051"/>
                  <a:pt x="4712" y="2051"/>
                </a:cubicBezTo>
                <a:cubicBezTo>
                  <a:pt x="4736" y="1593"/>
                  <a:pt x="4736" y="1593"/>
                  <a:pt x="4736" y="1593"/>
                </a:cubicBezTo>
                <a:cubicBezTo>
                  <a:pt x="4562" y="1493"/>
                  <a:pt x="4435" y="1420"/>
                  <a:pt x="4342" y="1367"/>
                </a:cubicBezTo>
                <a:cubicBezTo>
                  <a:pt x="4250" y="1314"/>
                  <a:pt x="4190" y="1279"/>
                  <a:pt x="4151" y="1257"/>
                </a:cubicBezTo>
                <a:cubicBezTo>
                  <a:pt x="4111" y="1234"/>
                  <a:pt x="4091" y="1223"/>
                  <a:pt x="4082" y="1217"/>
                </a:cubicBezTo>
                <a:cubicBezTo>
                  <a:pt x="4072" y="1211"/>
                  <a:pt x="4072" y="1211"/>
                  <a:pt x="4072" y="1211"/>
                </a:cubicBezTo>
                <a:cubicBezTo>
                  <a:pt x="4014" y="1178"/>
                  <a:pt x="3970" y="1153"/>
                  <a:pt x="3938" y="1134"/>
                </a:cubicBezTo>
                <a:cubicBezTo>
                  <a:pt x="3906" y="1115"/>
                  <a:pt x="3885" y="1103"/>
                  <a:pt x="3871" y="1095"/>
                </a:cubicBezTo>
                <a:cubicBezTo>
                  <a:pt x="3857" y="1087"/>
                  <a:pt x="3850" y="1083"/>
                  <a:pt x="3847" y="1081"/>
                </a:cubicBezTo>
                <a:cubicBezTo>
                  <a:pt x="3843" y="1078"/>
                  <a:pt x="3843" y="1078"/>
                  <a:pt x="3843" y="1078"/>
                </a:cubicBezTo>
                <a:cubicBezTo>
                  <a:pt x="3713" y="1077"/>
                  <a:pt x="3578" y="1067"/>
                  <a:pt x="3440" y="1049"/>
                </a:cubicBezTo>
                <a:cubicBezTo>
                  <a:pt x="3303" y="1031"/>
                  <a:pt x="3164" y="1004"/>
                  <a:pt x="3026" y="970"/>
                </a:cubicBezTo>
                <a:cubicBezTo>
                  <a:pt x="2889" y="937"/>
                  <a:pt x="2754" y="896"/>
                  <a:pt x="2623" y="848"/>
                </a:cubicBezTo>
                <a:cubicBezTo>
                  <a:pt x="2494" y="801"/>
                  <a:pt x="2369" y="747"/>
                  <a:pt x="2251" y="687"/>
                </a:cubicBezTo>
                <a:cubicBezTo>
                  <a:pt x="1877" y="497"/>
                  <a:pt x="1613" y="363"/>
                  <a:pt x="1424" y="267"/>
                </a:cubicBezTo>
                <a:cubicBezTo>
                  <a:pt x="1242" y="175"/>
                  <a:pt x="1124" y="115"/>
                  <a:pt x="1047" y="76"/>
                </a:cubicBezTo>
                <a:cubicBezTo>
                  <a:pt x="972" y="37"/>
                  <a:pt x="934" y="18"/>
                  <a:pt x="916" y="9"/>
                </a:cubicBezTo>
                <a:cubicBezTo>
                  <a:pt x="897" y="0"/>
                  <a:pt x="897" y="0"/>
                  <a:pt x="897" y="0"/>
                </a:cubicBezTo>
              </a:path>
            </a:pathLst>
          </a:custGeom>
          <a:gradFill>
            <a:gsLst>
              <a:gs pos="34000">
                <a:srgbClr val="668EFF"/>
              </a:gs>
              <a:gs pos="100000">
                <a:srgbClr val="3368FF"/>
              </a:gs>
            </a:gsLst>
            <a:lin ang="0" scaled="0"/>
          </a:gradFill>
          <a:ln w="35814">
            <a:solidFill>
              <a:srgbClr val="FFFFFF"/>
            </a:solidFill>
          </a:ln>
          <a:effectLst/>
        </p:spPr>
        <p:txBody>
          <a:bodyPr vert="horz" wrap="square" lIns="114597" tIns="57299" rIns="114597" bIns="57299" numCol="1" spcCol="0" rtlCol="0" fromWordArt="0" anchor="t" anchorCtr="0" forceAA="0" compatLnSpc="1">
            <a:noAutofit/>
          </a:bodyPr>
          <a:lstStyle/>
          <a:p>
            <a:pPr lvl="0" algn="l">
              <a:buClrTx/>
              <a:buSzTx/>
              <a:buFontTx/>
              <a:defRPr>
                <a:solidFill>
                  <a:srgbClr val="383838"/>
                </a:solidFill>
                <a:latin typeface="微软雅黑"/>
                <a:ea typeface="微软雅黑"/>
                <a:cs typeface="微软雅黑"/>
              </a:defRPr>
            </a:pPr>
            <a:endParaRPr lang="en-US" sz="3010">
              <a:solidFill>
                <a:srgbClr val="383838"/>
              </a:solidFill>
              <a:latin typeface="微软雅黑"/>
              <a:ea typeface="微软雅黑"/>
              <a:cs typeface="微软雅黑"/>
              <a:sym typeface="微软雅黑"/>
            </a:endParaRPr>
          </a:p>
        </p:txBody>
      </p:sp>
      <p:sp>
        <p:nvSpPr>
          <p:cNvPr id="6" name="Freeform 8"/>
          <p:cNvSpPr/>
          <p:nvPr/>
        </p:nvSpPr>
        <p:spPr bwMode="auto">
          <a:xfrm>
            <a:off x="8676323" y="3113723"/>
            <a:ext cx="1821249" cy="1593425"/>
          </a:xfrm>
          <a:custGeom>
            <a:avLst/>
            <a:gdLst>
              <a:gd name="T0" fmla="*/ 1287 w 2947"/>
              <a:gd name="T1" fmla="*/ 0 h 2577"/>
              <a:gd name="T2" fmla="*/ 1153 w 2947"/>
              <a:gd name="T3" fmla="*/ 85 h 2577"/>
              <a:gd name="T4" fmla="*/ 1082 w 2947"/>
              <a:gd name="T5" fmla="*/ 131 h 2577"/>
              <a:gd name="T6" fmla="*/ 1055 w 2947"/>
              <a:gd name="T7" fmla="*/ 148 h 2577"/>
              <a:gd name="T8" fmla="*/ 1051 w 2947"/>
              <a:gd name="T9" fmla="*/ 150 h 2577"/>
              <a:gd name="T10" fmla="*/ 990 w 2947"/>
              <a:gd name="T11" fmla="*/ 193 h 2577"/>
              <a:gd name="T12" fmla="*/ 958 w 2947"/>
              <a:gd name="T13" fmla="*/ 215 h 2577"/>
              <a:gd name="T14" fmla="*/ 946 w 2947"/>
              <a:gd name="T15" fmla="*/ 224 h 2577"/>
              <a:gd name="T16" fmla="*/ 944 w 2947"/>
              <a:gd name="T17" fmla="*/ 225 h 2577"/>
              <a:gd name="T18" fmla="*/ 1049 w 2947"/>
              <a:gd name="T19" fmla="*/ 383 h 2577"/>
              <a:gd name="T20" fmla="*/ 1109 w 2947"/>
              <a:gd name="T21" fmla="*/ 545 h 2577"/>
              <a:gd name="T22" fmla="*/ 1116 w 2947"/>
              <a:gd name="T23" fmla="*/ 707 h 2577"/>
              <a:gd name="T24" fmla="*/ 1062 w 2947"/>
              <a:gd name="T25" fmla="*/ 865 h 2577"/>
              <a:gd name="T26" fmla="*/ 907 w 2947"/>
              <a:gd name="T27" fmla="*/ 1026 h 2577"/>
              <a:gd name="T28" fmla="*/ 670 w 2947"/>
              <a:gd name="T29" fmla="*/ 1148 h 2577"/>
              <a:gd name="T30" fmla="*/ 363 w 2947"/>
              <a:gd name="T31" fmla="*/ 1227 h 2577"/>
              <a:gd name="T32" fmla="*/ 0 w 2947"/>
              <a:gd name="T33" fmla="*/ 1257 h 2577"/>
              <a:gd name="T34" fmla="*/ 132 w 2947"/>
              <a:gd name="T35" fmla="*/ 1333 h 2577"/>
              <a:gd name="T36" fmla="*/ 201 w 2947"/>
              <a:gd name="T37" fmla="*/ 1373 h 2577"/>
              <a:gd name="T38" fmla="*/ 227 w 2947"/>
              <a:gd name="T39" fmla="*/ 1387 h 2577"/>
              <a:gd name="T40" fmla="*/ 230 w 2947"/>
              <a:gd name="T41" fmla="*/ 1390 h 2577"/>
              <a:gd name="T42" fmla="*/ 606 w 2947"/>
              <a:gd name="T43" fmla="*/ 1605 h 2577"/>
              <a:gd name="T44" fmla="*/ 810 w 2947"/>
              <a:gd name="T45" fmla="*/ 1721 h 2577"/>
              <a:gd name="T46" fmla="*/ 887 w 2947"/>
              <a:gd name="T47" fmla="*/ 1765 h 2577"/>
              <a:gd name="T48" fmla="*/ 898 w 2947"/>
              <a:gd name="T49" fmla="*/ 1771 h 2577"/>
              <a:gd name="T50" fmla="*/ 887 w 2947"/>
              <a:gd name="T51" fmla="*/ 2029 h 2577"/>
              <a:gd name="T52" fmla="*/ 881 w 2947"/>
              <a:gd name="T53" fmla="*/ 2169 h 2577"/>
              <a:gd name="T54" fmla="*/ 879 w 2947"/>
              <a:gd name="T55" fmla="*/ 2222 h 2577"/>
              <a:gd name="T56" fmla="*/ 879 w 2947"/>
              <a:gd name="T57" fmla="*/ 2230 h 2577"/>
              <a:gd name="T58" fmla="*/ 867 w 2947"/>
              <a:gd name="T59" fmla="*/ 2426 h 2577"/>
              <a:gd name="T60" fmla="*/ 861 w 2947"/>
              <a:gd name="T61" fmla="*/ 2532 h 2577"/>
              <a:gd name="T62" fmla="*/ 859 w 2947"/>
              <a:gd name="T63" fmla="*/ 2571 h 2577"/>
              <a:gd name="T64" fmla="*/ 859 w 2947"/>
              <a:gd name="T65" fmla="*/ 2577 h 2577"/>
              <a:gd name="T66" fmla="*/ 1649 w 2947"/>
              <a:gd name="T67" fmla="*/ 2509 h 2577"/>
              <a:gd name="T68" fmla="*/ 2283 w 2947"/>
              <a:gd name="T69" fmla="*/ 2311 h 2577"/>
              <a:gd name="T70" fmla="*/ 2714 w 2947"/>
              <a:gd name="T71" fmla="*/ 2004 h 2577"/>
              <a:gd name="T72" fmla="*/ 2920 w 2947"/>
              <a:gd name="T73" fmla="*/ 1614 h 2577"/>
              <a:gd name="T74" fmla="*/ 2921 w 2947"/>
              <a:gd name="T75" fmla="*/ 1248 h 2577"/>
              <a:gd name="T76" fmla="*/ 2785 w 2947"/>
              <a:gd name="T77" fmla="*/ 891 h 2577"/>
              <a:gd name="T78" fmla="*/ 2549 w 2947"/>
              <a:gd name="T79" fmla="*/ 556 h 2577"/>
              <a:gd name="T80" fmla="*/ 2241 w 2947"/>
              <a:gd name="T81" fmla="*/ 249 h 2577"/>
              <a:gd name="T82" fmla="*/ 2025 w 2947"/>
              <a:gd name="T83" fmla="*/ 194 h 2577"/>
              <a:gd name="T84" fmla="*/ 1916 w 2947"/>
              <a:gd name="T85" fmla="*/ 166 h 2577"/>
              <a:gd name="T86" fmla="*/ 1876 w 2947"/>
              <a:gd name="T87" fmla="*/ 155 h 2577"/>
              <a:gd name="T88" fmla="*/ 1871 w 2947"/>
              <a:gd name="T89" fmla="*/ 154 h 2577"/>
              <a:gd name="T90" fmla="*/ 1287 w 2947"/>
              <a:gd name="T91" fmla="*/ 0 h 2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47" h="2577">
                <a:moveTo>
                  <a:pt x="1287" y="0"/>
                </a:moveTo>
                <a:cubicBezTo>
                  <a:pt x="1230" y="36"/>
                  <a:pt x="1186" y="64"/>
                  <a:pt x="1153" y="85"/>
                </a:cubicBezTo>
                <a:cubicBezTo>
                  <a:pt x="1119" y="107"/>
                  <a:pt x="1097" y="121"/>
                  <a:pt x="1082" y="131"/>
                </a:cubicBezTo>
                <a:cubicBezTo>
                  <a:pt x="1066" y="140"/>
                  <a:pt x="1059" y="145"/>
                  <a:pt x="1055" y="148"/>
                </a:cubicBezTo>
                <a:cubicBezTo>
                  <a:pt x="1051" y="150"/>
                  <a:pt x="1051" y="150"/>
                  <a:pt x="1051" y="150"/>
                </a:cubicBezTo>
                <a:cubicBezTo>
                  <a:pt x="1025" y="168"/>
                  <a:pt x="1005" y="182"/>
                  <a:pt x="990" y="193"/>
                </a:cubicBezTo>
                <a:cubicBezTo>
                  <a:pt x="974" y="204"/>
                  <a:pt x="964" y="211"/>
                  <a:pt x="958" y="215"/>
                </a:cubicBezTo>
                <a:cubicBezTo>
                  <a:pt x="951" y="220"/>
                  <a:pt x="947" y="222"/>
                  <a:pt x="946" y="224"/>
                </a:cubicBezTo>
                <a:cubicBezTo>
                  <a:pt x="944" y="225"/>
                  <a:pt x="944" y="225"/>
                  <a:pt x="944" y="225"/>
                </a:cubicBezTo>
                <a:cubicBezTo>
                  <a:pt x="986" y="277"/>
                  <a:pt x="1021" y="331"/>
                  <a:pt x="1049" y="383"/>
                </a:cubicBezTo>
                <a:cubicBezTo>
                  <a:pt x="1077" y="438"/>
                  <a:pt x="1097" y="492"/>
                  <a:pt x="1109" y="545"/>
                </a:cubicBezTo>
                <a:cubicBezTo>
                  <a:pt x="1120" y="600"/>
                  <a:pt x="1123" y="654"/>
                  <a:pt x="1116" y="707"/>
                </a:cubicBezTo>
                <a:cubicBezTo>
                  <a:pt x="1108" y="761"/>
                  <a:pt x="1091" y="814"/>
                  <a:pt x="1062" y="865"/>
                </a:cubicBezTo>
                <a:cubicBezTo>
                  <a:pt x="1025" y="925"/>
                  <a:pt x="972" y="978"/>
                  <a:pt x="907" y="1026"/>
                </a:cubicBezTo>
                <a:cubicBezTo>
                  <a:pt x="841" y="1074"/>
                  <a:pt x="761" y="1115"/>
                  <a:pt x="670" y="1148"/>
                </a:cubicBezTo>
                <a:cubicBezTo>
                  <a:pt x="578" y="1182"/>
                  <a:pt x="475" y="1209"/>
                  <a:pt x="363" y="1227"/>
                </a:cubicBezTo>
                <a:cubicBezTo>
                  <a:pt x="250" y="1245"/>
                  <a:pt x="128" y="1255"/>
                  <a:pt x="0" y="1257"/>
                </a:cubicBezTo>
                <a:cubicBezTo>
                  <a:pt x="57" y="1289"/>
                  <a:pt x="100" y="1314"/>
                  <a:pt x="132" y="1333"/>
                </a:cubicBezTo>
                <a:cubicBezTo>
                  <a:pt x="165" y="1352"/>
                  <a:pt x="187" y="1364"/>
                  <a:pt x="201" y="1373"/>
                </a:cubicBezTo>
                <a:cubicBezTo>
                  <a:pt x="216" y="1381"/>
                  <a:pt x="223" y="1385"/>
                  <a:pt x="227" y="1387"/>
                </a:cubicBezTo>
                <a:cubicBezTo>
                  <a:pt x="230" y="1390"/>
                  <a:pt x="230" y="1390"/>
                  <a:pt x="230" y="1390"/>
                </a:cubicBezTo>
                <a:cubicBezTo>
                  <a:pt x="390" y="1481"/>
                  <a:pt x="512" y="1551"/>
                  <a:pt x="606" y="1605"/>
                </a:cubicBezTo>
                <a:cubicBezTo>
                  <a:pt x="702" y="1659"/>
                  <a:pt x="766" y="1696"/>
                  <a:pt x="810" y="1721"/>
                </a:cubicBezTo>
                <a:cubicBezTo>
                  <a:pt x="854" y="1746"/>
                  <a:pt x="876" y="1759"/>
                  <a:pt x="887" y="1765"/>
                </a:cubicBezTo>
                <a:cubicBezTo>
                  <a:pt x="898" y="1771"/>
                  <a:pt x="898" y="1771"/>
                  <a:pt x="898" y="1771"/>
                </a:cubicBezTo>
                <a:cubicBezTo>
                  <a:pt x="893" y="1880"/>
                  <a:pt x="890" y="1964"/>
                  <a:pt x="887" y="2029"/>
                </a:cubicBezTo>
                <a:cubicBezTo>
                  <a:pt x="884" y="2094"/>
                  <a:pt x="882" y="2139"/>
                  <a:pt x="881" y="2169"/>
                </a:cubicBezTo>
                <a:cubicBezTo>
                  <a:pt x="880" y="2199"/>
                  <a:pt x="879" y="2214"/>
                  <a:pt x="879" y="2222"/>
                </a:cubicBezTo>
                <a:cubicBezTo>
                  <a:pt x="879" y="2230"/>
                  <a:pt x="879" y="2230"/>
                  <a:pt x="879" y="2230"/>
                </a:cubicBezTo>
                <a:cubicBezTo>
                  <a:pt x="874" y="2313"/>
                  <a:pt x="870" y="2377"/>
                  <a:pt x="867" y="2426"/>
                </a:cubicBezTo>
                <a:cubicBezTo>
                  <a:pt x="865" y="2476"/>
                  <a:pt x="863" y="2509"/>
                  <a:pt x="861" y="2532"/>
                </a:cubicBezTo>
                <a:cubicBezTo>
                  <a:pt x="860" y="2554"/>
                  <a:pt x="860" y="2565"/>
                  <a:pt x="859" y="2571"/>
                </a:cubicBezTo>
                <a:cubicBezTo>
                  <a:pt x="859" y="2577"/>
                  <a:pt x="859" y="2577"/>
                  <a:pt x="859" y="2577"/>
                </a:cubicBezTo>
                <a:cubicBezTo>
                  <a:pt x="1141" y="2577"/>
                  <a:pt x="1407" y="2554"/>
                  <a:pt x="1649" y="2509"/>
                </a:cubicBezTo>
                <a:cubicBezTo>
                  <a:pt x="1889" y="2464"/>
                  <a:pt x="2102" y="2398"/>
                  <a:pt x="2283" y="2311"/>
                </a:cubicBezTo>
                <a:cubicBezTo>
                  <a:pt x="2460" y="2227"/>
                  <a:pt x="2605" y="2124"/>
                  <a:pt x="2714" y="2004"/>
                </a:cubicBezTo>
                <a:cubicBezTo>
                  <a:pt x="2818" y="1888"/>
                  <a:pt x="2888" y="1758"/>
                  <a:pt x="2920" y="1614"/>
                </a:cubicBezTo>
                <a:cubicBezTo>
                  <a:pt x="2947" y="1495"/>
                  <a:pt x="2946" y="1372"/>
                  <a:pt x="2921" y="1248"/>
                </a:cubicBezTo>
                <a:cubicBezTo>
                  <a:pt x="2896" y="1129"/>
                  <a:pt x="2850" y="1010"/>
                  <a:pt x="2785" y="891"/>
                </a:cubicBezTo>
                <a:cubicBezTo>
                  <a:pt x="2723" y="778"/>
                  <a:pt x="2643" y="666"/>
                  <a:pt x="2549" y="556"/>
                </a:cubicBezTo>
                <a:cubicBezTo>
                  <a:pt x="2459" y="451"/>
                  <a:pt x="2355" y="348"/>
                  <a:pt x="2241" y="249"/>
                </a:cubicBezTo>
                <a:cubicBezTo>
                  <a:pt x="2147" y="225"/>
                  <a:pt x="2077" y="207"/>
                  <a:pt x="2025" y="194"/>
                </a:cubicBezTo>
                <a:cubicBezTo>
                  <a:pt x="1973" y="180"/>
                  <a:pt x="1939" y="171"/>
                  <a:pt x="1916" y="166"/>
                </a:cubicBezTo>
                <a:cubicBezTo>
                  <a:pt x="1893" y="160"/>
                  <a:pt x="1882" y="157"/>
                  <a:pt x="1876" y="155"/>
                </a:cubicBezTo>
                <a:cubicBezTo>
                  <a:pt x="1871" y="154"/>
                  <a:pt x="1871" y="154"/>
                  <a:pt x="1871" y="154"/>
                </a:cubicBezTo>
                <a:cubicBezTo>
                  <a:pt x="1287" y="0"/>
                  <a:pt x="1287" y="0"/>
                  <a:pt x="1287" y="0"/>
                </a:cubicBezTo>
              </a:path>
            </a:pathLst>
          </a:custGeom>
          <a:gradFill>
            <a:gsLst>
              <a:gs pos="0">
                <a:srgbClr val="B3D4FE"/>
              </a:gs>
              <a:gs pos="100000">
                <a:srgbClr val="668EFF"/>
              </a:gs>
            </a:gsLst>
            <a:lin ang="5400000" scaled="0"/>
          </a:gradFill>
          <a:ln w="190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 name="Freeform 9"/>
          <p:cNvSpPr/>
          <p:nvPr/>
        </p:nvSpPr>
        <p:spPr bwMode="auto">
          <a:xfrm>
            <a:off x="3569350" y="3178587"/>
            <a:ext cx="2623977" cy="1466832"/>
          </a:xfrm>
          <a:custGeom>
            <a:avLst/>
            <a:gdLst>
              <a:gd name="T0" fmla="*/ 3377 w 4246"/>
              <a:gd name="T1" fmla="*/ 0 h 2372"/>
              <a:gd name="T2" fmla="*/ 2566 w 4246"/>
              <a:gd name="T3" fmla="*/ 411 h 2372"/>
              <a:gd name="T4" fmla="*/ 2092 w 4246"/>
              <a:gd name="T5" fmla="*/ 651 h 2372"/>
              <a:gd name="T6" fmla="*/ 1905 w 4246"/>
              <a:gd name="T7" fmla="*/ 746 h 2372"/>
              <a:gd name="T8" fmla="*/ 1878 w 4246"/>
              <a:gd name="T9" fmla="*/ 759 h 2372"/>
              <a:gd name="T10" fmla="*/ 1603 w 4246"/>
              <a:gd name="T11" fmla="*/ 882 h 2372"/>
              <a:gd name="T12" fmla="*/ 1309 w 4246"/>
              <a:gd name="T13" fmla="*/ 984 h 2372"/>
              <a:gd name="T14" fmla="*/ 1004 w 4246"/>
              <a:gd name="T15" fmla="*/ 1065 h 2372"/>
              <a:gd name="T16" fmla="*/ 693 w 4246"/>
              <a:gd name="T17" fmla="*/ 1121 h 2372"/>
              <a:gd name="T18" fmla="*/ 607 w 4246"/>
              <a:gd name="T19" fmla="*/ 1190 h 2372"/>
              <a:gd name="T20" fmla="*/ 561 w 4246"/>
              <a:gd name="T21" fmla="*/ 1225 h 2372"/>
              <a:gd name="T22" fmla="*/ 545 w 4246"/>
              <a:gd name="T23" fmla="*/ 1239 h 2372"/>
              <a:gd name="T24" fmla="*/ 542 w 4246"/>
              <a:gd name="T25" fmla="*/ 1240 h 2372"/>
              <a:gd name="T26" fmla="*/ 238 w 4246"/>
              <a:gd name="T27" fmla="*/ 1478 h 2372"/>
              <a:gd name="T28" fmla="*/ 72 w 4246"/>
              <a:gd name="T29" fmla="*/ 1608 h 2372"/>
              <a:gd name="T30" fmla="*/ 9 w 4246"/>
              <a:gd name="T31" fmla="*/ 1657 h 2372"/>
              <a:gd name="T32" fmla="*/ 0 w 4246"/>
              <a:gd name="T33" fmla="*/ 1665 h 2372"/>
              <a:gd name="T34" fmla="*/ 124 w 4246"/>
              <a:gd name="T35" fmla="*/ 1882 h 2372"/>
              <a:gd name="T36" fmla="*/ 191 w 4246"/>
              <a:gd name="T37" fmla="*/ 2000 h 2372"/>
              <a:gd name="T38" fmla="*/ 217 w 4246"/>
              <a:gd name="T39" fmla="*/ 2044 h 2372"/>
              <a:gd name="T40" fmla="*/ 220 w 4246"/>
              <a:gd name="T41" fmla="*/ 2050 h 2372"/>
              <a:gd name="T42" fmla="*/ 326 w 4246"/>
              <a:gd name="T43" fmla="*/ 2233 h 2372"/>
              <a:gd name="T44" fmla="*/ 382 w 4246"/>
              <a:gd name="T45" fmla="*/ 2330 h 2372"/>
              <a:gd name="T46" fmla="*/ 403 w 4246"/>
              <a:gd name="T47" fmla="*/ 2367 h 2372"/>
              <a:gd name="T48" fmla="*/ 406 w 4246"/>
              <a:gd name="T49" fmla="*/ 2372 h 2372"/>
              <a:gd name="T50" fmla="*/ 1039 w 4246"/>
              <a:gd name="T51" fmla="*/ 2227 h 2372"/>
              <a:gd name="T52" fmla="*/ 1645 w 4246"/>
              <a:gd name="T53" fmla="*/ 2030 h 2372"/>
              <a:gd name="T54" fmla="*/ 2207 w 4246"/>
              <a:gd name="T55" fmla="*/ 1787 h 2372"/>
              <a:gd name="T56" fmla="*/ 2710 w 4246"/>
              <a:gd name="T57" fmla="*/ 1508 h 2372"/>
              <a:gd name="T58" fmla="*/ 3609 w 4246"/>
              <a:gd name="T59" fmla="*/ 946 h 2372"/>
              <a:gd name="T60" fmla="*/ 4037 w 4246"/>
              <a:gd name="T61" fmla="*/ 678 h 2372"/>
              <a:gd name="T62" fmla="*/ 4208 w 4246"/>
              <a:gd name="T63" fmla="*/ 572 h 2372"/>
              <a:gd name="T64" fmla="*/ 4246 w 4246"/>
              <a:gd name="T65" fmla="*/ 548 h 2372"/>
              <a:gd name="T66" fmla="*/ 4246 w 4246"/>
              <a:gd name="T67" fmla="*/ 547 h 2372"/>
              <a:gd name="T68" fmla="*/ 4245 w 4246"/>
              <a:gd name="T69" fmla="*/ 547 h 2372"/>
              <a:gd name="T70" fmla="*/ 4245 w 4246"/>
              <a:gd name="T71" fmla="*/ 547 h 2372"/>
              <a:gd name="T72" fmla="*/ 4245 w 4246"/>
              <a:gd name="T73" fmla="*/ 547 h 2372"/>
              <a:gd name="T74" fmla="*/ 4230 w 4246"/>
              <a:gd name="T75" fmla="*/ 537 h 2372"/>
              <a:gd name="T76" fmla="*/ 4126 w 4246"/>
              <a:gd name="T77" fmla="*/ 472 h 2372"/>
              <a:gd name="T78" fmla="*/ 3855 w 4246"/>
              <a:gd name="T79" fmla="*/ 301 h 2372"/>
              <a:gd name="T80" fmla="*/ 3377 w 4246"/>
              <a:gd name="T81" fmla="*/ 0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46" h="2372">
                <a:moveTo>
                  <a:pt x="3377" y="0"/>
                </a:moveTo>
                <a:cubicBezTo>
                  <a:pt x="3043" y="169"/>
                  <a:pt x="2776" y="304"/>
                  <a:pt x="2566" y="411"/>
                </a:cubicBezTo>
                <a:cubicBezTo>
                  <a:pt x="2347" y="522"/>
                  <a:pt x="2195" y="599"/>
                  <a:pt x="2092" y="651"/>
                </a:cubicBezTo>
                <a:cubicBezTo>
                  <a:pt x="1986" y="705"/>
                  <a:pt x="1932" y="732"/>
                  <a:pt x="1905" y="746"/>
                </a:cubicBezTo>
                <a:cubicBezTo>
                  <a:pt x="1878" y="759"/>
                  <a:pt x="1878" y="759"/>
                  <a:pt x="1878" y="759"/>
                </a:cubicBezTo>
                <a:cubicBezTo>
                  <a:pt x="1789" y="803"/>
                  <a:pt x="1697" y="844"/>
                  <a:pt x="1603" y="882"/>
                </a:cubicBezTo>
                <a:cubicBezTo>
                  <a:pt x="1507" y="919"/>
                  <a:pt x="1409" y="954"/>
                  <a:pt x="1309" y="984"/>
                </a:cubicBezTo>
                <a:cubicBezTo>
                  <a:pt x="1209" y="1015"/>
                  <a:pt x="1106" y="1042"/>
                  <a:pt x="1004" y="1065"/>
                </a:cubicBezTo>
                <a:cubicBezTo>
                  <a:pt x="900" y="1088"/>
                  <a:pt x="796" y="1107"/>
                  <a:pt x="693" y="1121"/>
                </a:cubicBezTo>
                <a:cubicBezTo>
                  <a:pt x="656" y="1151"/>
                  <a:pt x="628" y="1173"/>
                  <a:pt x="607" y="1190"/>
                </a:cubicBezTo>
                <a:cubicBezTo>
                  <a:pt x="585" y="1206"/>
                  <a:pt x="571" y="1218"/>
                  <a:pt x="561" y="1225"/>
                </a:cubicBezTo>
                <a:cubicBezTo>
                  <a:pt x="552" y="1233"/>
                  <a:pt x="547" y="1237"/>
                  <a:pt x="545" y="1239"/>
                </a:cubicBezTo>
                <a:cubicBezTo>
                  <a:pt x="542" y="1240"/>
                  <a:pt x="542" y="1240"/>
                  <a:pt x="542" y="1240"/>
                </a:cubicBezTo>
                <a:cubicBezTo>
                  <a:pt x="414" y="1341"/>
                  <a:pt x="314" y="1419"/>
                  <a:pt x="238" y="1478"/>
                </a:cubicBezTo>
                <a:cubicBezTo>
                  <a:pt x="160" y="1539"/>
                  <a:pt x="108" y="1580"/>
                  <a:pt x="72" y="1608"/>
                </a:cubicBezTo>
                <a:cubicBezTo>
                  <a:pt x="36" y="1636"/>
                  <a:pt x="18" y="1650"/>
                  <a:pt x="9" y="1657"/>
                </a:cubicBezTo>
                <a:cubicBezTo>
                  <a:pt x="0" y="1665"/>
                  <a:pt x="0" y="1665"/>
                  <a:pt x="0" y="1665"/>
                </a:cubicBezTo>
                <a:cubicBezTo>
                  <a:pt x="53" y="1757"/>
                  <a:pt x="93" y="1828"/>
                  <a:pt x="124" y="1882"/>
                </a:cubicBezTo>
                <a:cubicBezTo>
                  <a:pt x="156" y="1937"/>
                  <a:pt x="177" y="1975"/>
                  <a:pt x="191" y="2000"/>
                </a:cubicBezTo>
                <a:cubicBezTo>
                  <a:pt x="206" y="2025"/>
                  <a:pt x="213" y="2038"/>
                  <a:pt x="217" y="2044"/>
                </a:cubicBezTo>
                <a:cubicBezTo>
                  <a:pt x="220" y="2050"/>
                  <a:pt x="220" y="2050"/>
                  <a:pt x="220" y="2050"/>
                </a:cubicBezTo>
                <a:cubicBezTo>
                  <a:pt x="265" y="2128"/>
                  <a:pt x="300" y="2187"/>
                  <a:pt x="326" y="2233"/>
                </a:cubicBezTo>
                <a:cubicBezTo>
                  <a:pt x="352" y="2278"/>
                  <a:pt x="370" y="2309"/>
                  <a:pt x="382" y="2330"/>
                </a:cubicBezTo>
                <a:cubicBezTo>
                  <a:pt x="394" y="2351"/>
                  <a:pt x="400" y="2361"/>
                  <a:pt x="403" y="2367"/>
                </a:cubicBezTo>
                <a:cubicBezTo>
                  <a:pt x="406" y="2372"/>
                  <a:pt x="406" y="2372"/>
                  <a:pt x="406" y="2372"/>
                </a:cubicBezTo>
                <a:cubicBezTo>
                  <a:pt x="618" y="2333"/>
                  <a:pt x="830" y="2285"/>
                  <a:pt x="1039" y="2227"/>
                </a:cubicBezTo>
                <a:cubicBezTo>
                  <a:pt x="1245" y="2170"/>
                  <a:pt x="1447" y="2104"/>
                  <a:pt x="1645" y="2030"/>
                </a:cubicBezTo>
                <a:cubicBezTo>
                  <a:pt x="1839" y="1957"/>
                  <a:pt x="2026" y="1876"/>
                  <a:pt x="2207" y="1787"/>
                </a:cubicBezTo>
                <a:cubicBezTo>
                  <a:pt x="2383" y="1701"/>
                  <a:pt x="2551" y="1607"/>
                  <a:pt x="2710" y="1508"/>
                </a:cubicBezTo>
                <a:cubicBezTo>
                  <a:pt x="3111" y="1257"/>
                  <a:pt x="3399" y="1077"/>
                  <a:pt x="3609" y="946"/>
                </a:cubicBezTo>
                <a:cubicBezTo>
                  <a:pt x="3809" y="821"/>
                  <a:pt x="3944" y="736"/>
                  <a:pt x="4037" y="678"/>
                </a:cubicBezTo>
                <a:cubicBezTo>
                  <a:pt x="4127" y="622"/>
                  <a:pt x="4179" y="590"/>
                  <a:pt x="4208" y="572"/>
                </a:cubicBezTo>
                <a:cubicBezTo>
                  <a:pt x="4237" y="553"/>
                  <a:pt x="4244" y="549"/>
                  <a:pt x="4246" y="548"/>
                </a:cubicBezTo>
                <a:cubicBezTo>
                  <a:pt x="4246" y="548"/>
                  <a:pt x="4246" y="547"/>
                  <a:pt x="4246" y="547"/>
                </a:cubicBezTo>
                <a:cubicBezTo>
                  <a:pt x="4246" y="547"/>
                  <a:pt x="4246" y="547"/>
                  <a:pt x="4245" y="547"/>
                </a:cubicBezTo>
                <a:cubicBezTo>
                  <a:pt x="4245" y="547"/>
                  <a:pt x="4245" y="547"/>
                  <a:pt x="4245" y="547"/>
                </a:cubicBezTo>
                <a:cubicBezTo>
                  <a:pt x="4245" y="547"/>
                  <a:pt x="4245" y="547"/>
                  <a:pt x="4245" y="547"/>
                </a:cubicBezTo>
                <a:cubicBezTo>
                  <a:pt x="4245" y="547"/>
                  <a:pt x="4245" y="547"/>
                  <a:pt x="4230" y="537"/>
                </a:cubicBezTo>
                <a:cubicBezTo>
                  <a:pt x="4215" y="528"/>
                  <a:pt x="4185" y="509"/>
                  <a:pt x="4126" y="472"/>
                </a:cubicBezTo>
                <a:cubicBezTo>
                  <a:pt x="4067" y="435"/>
                  <a:pt x="3981" y="380"/>
                  <a:pt x="3855" y="301"/>
                </a:cubicBezTo>
                <a:cubicBezTo>
                  <a:pt x="3733" y="224"/>
                  <a:pt x="3577" y="125"/>
                  <a:pt x="3377" y="0"/>
                </a:cubicBezTo>
              </a:path>
            </a:pathLst>
          </a:custGeom>
          <a:gradFill>
            <a:gsLst>
              <a:gs pos="34000">
                <a:srgbClr val="3368FF"/>
              </a:gs>
              <a:gs pos="100000">
                <a:srgbClr val="0042FF"/>
              </a:gs>
            </a:gsLst>
            <a:lin ang="0" scaled="0"/>
          </a:gradFill>
          <a:ln w="35814">
            <a:solidFill>
              <a:srgbClr val="FFFFFF"/>
            </a:solidFill>
          </a:ln>
          <a:effectLst/>
        </p:spPr>
        <p:txBody>
          <a:bodyPr vert="horz" wrap="square" lIns="114597" tIns="57299" rIns="114597" bIns="57299" numCol="1" anchor="t" anchorCtr="0" compatLnSpc="1"/>
          <a:lstStyle/>
          <a:p>
            <a:pPr>
              <a:defRPr>
                <a:solidFill>
                  <a:srgbClr val="383838"/>
                </a:solidFill>
                <a:latin typeface="微软雅黑"/>
                <a:ea typeface="微软雅黑"/>
                <a:cs typeface="微软雅黑"/>
              </a:defRPr>
            </a:pPr>
            <a:endParaRPr lang="en-US" sz="3010">
              <a:solidFill>
                <a:srgbClr val="383838"/>
              </a:solidFill>
              <a:latin typeface="微软雅黑"/>
              <a:ea typeface="微软雅黑"/>
              <a:cs typeface="微软雅黑"/>
            </a:endParaRPr>
          </a:p>
        </p:txBody>
      </p:sp>
      <p:sp>
        <p:nvSpPr>
          <p:cNvPr id="9" name="Freeform 10"/>
          <p:cNvSpPr/>
          <p:nvPr/>
        </p:nvSpPr>
        <p:spPr bwMode="auto">
          <a:xfrm>
            <a:off x="6193851" y="2437850"/>
            <a:ext cx="1760042" cy="740739"/>
          </a:xfrm>
          <a:custGeom>
            <a:avLst/>
            <a:gdLst>
              <a:gd name="T0" fmla="*/ 2382 w 2848"/>
              <a:gd name="T1" fmla="*/ 0 h 1198"/>
              <a:gd name="T2" fmla="*/ 1983 w 2848"/>
              <a:gd name="T3" fmla="*/ 17 h 1198"/>
              <a:gd name="T4" fmla="*/ 1607 w 2848"/>
              <a:gd name="T5" fmla="*/ 67 h 1198"/>
              <a:gd name="T6" fmla="*/ 1257 w 2848"/>
              <a:gd name="T7" fmla="*/ 153 h 1198"/>
              <a:gd name="T8" fmla="*/ 937 w 2848"/>
              <a:gd name="T9" fmla="*/ 282 h 1198"/>
              <a:gd name="T10" fmla="*/ 465 w 2848"/>
              <a:gd name="T11" fmla="*/ 522 h 1198"/>
              <a:gd name="T12" fmla="*/ 172 w 2848"/>
              <a:gd name="T13" fmla="*/ 670 h 1198"/>
              <a:gd name="T14" fmla="*/ 35 w 2848"/>
              <a:gd name="T15" fmla="*/ 739 h 1198"/>
              <a:gd name="T16" fmla="*/ 0 w 2848"/>
              <a:gd name="T17" fmla="*/ 758 h 1198"/>
              <a:gd name="T18" fmla="*/ 27 w 2848"/>
              <a:gd name="T19" fmla="*/ 771 h 1198"/>
              <a:gd name="T20" fmla="*/ 135 w 2848"/>
              <a:gd name="T21" fmla="*/ 826 h 1198"/>
              <a:gd name="T22" fmla="*/ 387 w 2848"/>
              <a:gd name="T23" fmla="*/ 952 h 1198"/>
              <a:gd name="T24" fmla="*/ 873 w 2848"/>
              <a:gd name="T25" fmla="*/ 1197 h 1198"/>
              <a:gd name="T26" fmla="*/ 875 w 2848"/>
              <a:gd name="T27" fmla="*/ 1198 h 1198"/>
              <a:gd name="T28" fmla="*/ 1434 w 2848"/>
              <a:gd name="T29" fmla="*/ 851 h 1198"/>
              <a:gd name="T30" fmla="*/ 1690 w 2848"/>
              <a:gd name="T31" fmla="*/ 692 h 1198"/>
              <a:gd name="T32" fmla="*/ 1780 w 2848"/>
              <a:gd name="T33" fmla="*/ 636 h 1198"/>
              <a:gd name="T34" fmla="*/ 1792 w 2848"/>
              <a:gd name="T35" fmla="*/ 628 h 1198"/>
              <a:gd name="T36" fmla="*/ 1974 w 2848"/>
              <a:gd name="T37" fmla="*/ 538 h 1198"/>
              <a:gd name="T38" fmla="*/ 2185 w 2848"/>
              <a:gd name="T39" fmla="*/ 477 h 1198"/>
              <a:gd name="T40" fmla="*/ 2421 w 2848"/>
              <a:gd name="T41" fmla="*/ 442 h 1198"/>
              <a:gd name="T42" fmla="*/ 2676 w 2848"/>
              <a:gd name="T43" fmla="*/ 430 h 1198"/>
              <a:gd name="T44" fmla="*/ 2719 w 2848"/>
              <a:gd name="T45" fmla="*/ 430 h 1198"/>
              <a:gd name="T46" fmla="*/ 2761 w 2848"/>
              <a:gd name="T47" fmla="*/ 431 h 1198"/>
              <a:gd name="T48" fmla="*/ 2804 w 2848"/>
              <a:gd name="T49" fmla="*/ 431 h 1198"/>
              <a:gd name="T50" fmla="*/ 2848 w 2848"/>
              <a:gd name="T51" fmla="*/ 433 h 1198"/>
              <a:gd name="T52" fmla="*/ 2773 w 2848"/>
              <a:gd name="T53" fmla="*/ 396 h 1198"/>
              <a:gd name="T54" fmla="*/ 2735 w 2848"/>
              <a:gd name="T55" fmla="*/ 378 h 1198"/>
              <a:gd name="T56" fmla="*/ 2721 w 2848"/>
              <a:gd name="T57" fmla="*/ 371 h 1198"/>
              <a:gd name="T58" fmla="*/ 2719 w 2848"/>
              <a:gd name="T59" fmla="*/ 370 h 1198"/>
              <a:gd name="T60" fmla="*/ 2410 w 2848"/>
              <a:gd name="T61" fmla="*/ 222 h 1198"/>
              <a:gd name="T62" fmla="*/ 2487 w 2848"/>
              <a:gd name="T63" fmla="*/ 144 h 1198"/>
              <a:gd name="T64" fmla="*/ 2525 w 2848"/>
              <a:gd name="T65" fmla="*/ 105 h 1198"/>
              <a:gd name="T66" fmla="*/ 2539 w 2848"/>
              <a:gd name="T67" fmla="*/ 91 h 1198"/>
              <a:gd name="T68" fmla="*/ 2541 w 2848"/>
              <a:gd name="T69" fmla="*/ 89 h 1198"/>
              <a:gd name="T70" fmla="*/ 2591 w 2848"/>
              <a:gd name="T71" fmla="*/ 40 h 1198"/>
              <a:gd name="T72" fmla="*/ 2617 w 2848"/>
              <a:gd name="T73" fmla="*/ 15 h 1198"/>
              <a:gd name="T74" fmla="*/ 2626 w 2848"/>
              <a:gd name="T75" fmla="*/ 6 h 1198"/>
              <a:gd name="T76" fmla="*/ 2627 w 2848"/>
              <a:gd name="T77" fmla="*/ 5 h 1198"/>
              <a:gd name="T78" fmla="*/ 2565 w 2848"/>
              <a:gd name="T79" fmla="*/ 3 h 1198"/>
              <a:gd name="T80" fmla="*/ 2504 w 2848"/>
              <a:gd name="T81" fmla="*/ 2 h 1198"/>
              <a:gd name="T82" fmla="*/ 2443 w 2848"/>
              <a:gd name="T83" fmla="*/ 1 h 1198"/>
              <a:gd name="T84" fmla="*/ 2382 w 2848"/>
              <a:gd name="T85" fmla="*/ 0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48" h="1198">
                <a:moveTo>
                  <a:pt x="2382" y="0"/>
                </a:moveTo>
                <a:cubicBezTo>
                  <a:pt x="2245" y="0"/>
                  <a:pt x="2112" y="6"/>
                  <a:pt x="1983" y="17"/>
                </a:cubicBezTo>
                <a:cubicBezTo>
                  <a:pt x="1854" y="28"/>
                  <a:pt x="1728" y="44"/>
                  <a:pt x="1607" y="67"/>
                </a:cubicBezTo>
                <a:cubicBezTo>
                  <a:pt x="1485" y="89"/>
                  <a:pt x="1368" y="118"/>
                  <a:pt x="1257" y="153"/>
                </a:cubicBezTo>
                <a:cubicBezTo>
                  <a:pt x="1144" y="189"/>
                  <a:pt x="1037" y="232"/>
                  <a:pt x="937" y="282"/>
                </a:cubicBezTo>
                <a:cubicBezTo>
                  <a:pt x="746" y="379"/>
                  <a:pt x="590" y="458"/>
                  <a:pt x="465" y="522"/>
                </a:cubicBezTo>
                <a:cubicBezTo>
                  <a:pt x="336" y="587"/>
                  <a:pt x="241" y="635"/>
                  <a:pt x="172" y="670"/>
                </a:cubicBezTo>
                <a:cubicBezTo>
                  <a:pt x="103" y="705"/>
                  <a:pt x="61" y="727"/>
                  <a:pt x="35" y="739"/>
                </a:cubicBezTo>
                <a:cubicBezTo>
                  <a:pt x="10" y="752"/>
                  <a:pt x="2" y="756"/>
                  <a:pt x="0" y="758"/>
                </a:cubicBezTo>
                <a:cubicBezTo>
                  <a:pt x="2" y="759"/>
                  <a:pt x="8" y="762"/>
                  <a:pt x="27" y="771"/>
                </a:cubicBezTo>
                <a:cubicBezTo>
                  <a:pt x="47" y="781"/>
                  <a:pt x="79" y="798"/>
                  <a:pt x="135" y="826"/>
                </a:cubicBezTo>
                <a:cubicBezTo>
                  <a:pt x="191" y="854"/>
                  <a:pt x="271" y="894"/>
                  <a:pt x="387" y="952"/>
                </a:cubicBezTo>
                <a:cubicBezTo>
                  <a:pt x="505" y="1012"/>
                  <a:pt x="662" y="1091"/>
                  <a:pt x="873" y="1197"/>
                </a:cubicBezTo>
                <a:cubicBezTo>
                  <a:pt x="875" y="1198"/>
                  <a:pt x="875" y="1198"/>
                  <a:pt x="875" y="1198"/>
                </a:cubicBezTo>
                <a:cubicBezTo>
                  <a:pt x="1127" y="1041"/>
                  <a:pt x="1306" y="930"/>
                  <a:pt x="1434" y="851"/>
                </a:cubicBezTo>
                <a:cubicBezTo>
                  <a:pt x="1558" y="774"/>
                  <a:pt x="1638" y="724"/>
                  <a:pt x="1690" y="692"/>
                </a:cubicBezTo>
                <a:cubicBezTo>
                  <a:pt x="1742" y="660"/>
                  <a:pt x="1767" y="644"/>
                  <a:pt x="1780" y="636"/>
                </a:cubicBezTo>
                <a:cubicBezTo>
                  <a:pt x="1792" y="628"/>
                  <a:pt x="1792" y="628"/>
                  <a:pt x="1792" y="628"/>
                </a:cubicBezTo>
                <a:cubicBezTo>
                  <a:pt x="1847" y="593"/>
                  <a:pt x="1908" y="563"/>
                  <a:pt x="1974" y="538"/>
                </a:cubicBezTo>
                <a:cubicBezTo>
                  <a:pt x="2039" y="514"/>
                  <a:pt x="2110" y="493"/>
                  <a:pt x="2185" y="477"/>
                </a:cubicBezTo>
                <a:cubicBezTo>
                  <a:pt x="2260" y="461"/>
                  <a:pt x="2339" y="450"/>
                  <a:pt x="2421" y="442"/>
                </a:cubicBezTo>
                <a:cubicBezTo>
                  <a:pt x="2503" y="434"/>
                  <a:pt x="2588" y="430"/>
                  <a:pt x="2676" y="430"/>
                </a:cubicBezTo>
                <a:cubicBezTo>
                  <a:pt x="2690" y="430"/>
                  <a:pt x="2704" y="430"/>
                  <a:pt x="2719" y="430"/>
                </a:cubicBezTo>
                <a:cubicBezTo>
                  <a:pt x="2733" y="430"/>
                  <a:pt x="2747" y="430"/>
                  <a:pt x="2761" y="431"/>
                </a:cubicBezTo>
                <a:cubicBezTo>
                  <a:pt x="2776" y="431"/>
                  <a:pt x="2790" y="431"/>
                  <a:pt x="2804" y="431"/>
                </a:cubicBezTo>
                <a:cubicBezTo>
                  <a:pt x="2819" y="432"/>
                  <a:pt x="2833" y="432"/>
                  <a:pt x="2848" y="433"/>
                </a:cubicBezTo>
                <a:cubicBezTo>
                  <a:pt x="2815" y="417"/>
                  <a:pt x="2791" y="405"/>
                  <a:pt x="2773" y="396"/>
                </a:cubicBezTo>
                <a:cubicBezTo>
                  <a:pt x="2755" y="388"/>
                  <a:pt x="2743" y="382"/>
                  <a:pt x="2735" y="378"/>
                </a:cubicBezTo>
                <a:cubicBezTo>
                  <a:pt x="2727" y="374"/>
                  <a:pt x="2723" y="372"/>
                  <a:pt x="2721" y="371"/>
                </a:cubicBezTo>
                <a:cubicBezTo>
                  <a:pt x="2719" y="370"/>
                  <a:pt x="2719" y="370"/>
                  <a:pt x="2719" y="370"/>
                </a:cubicBezTo>
                <a:cubicBezTo>
                  <a:pt x="2410" y="222"/>
                  <a:pt x="2410" y="222"/>
                  <a:pt x="2410" y="222"/>
                </a:cubicBezTo>
                <a:cubicBezTo>
                  <a:pt x="2443" y="188"/>
                  <a:pt x="2468" y="162"/>
                  <a:pt x="2487" y="144"/>
                </a:cubicBezTo>
                <a:cubicBezTo>
                  <a:pt x="2505" y="125"/>
                  <a:pt x="2517" y="113"/>
                  <a:pt x="2525" y="105"/>
                </a:cubicBezTo>
                <a:cubicBezTo>
                  <a:pt x="2533" y="97"/>
                  <a:pt x="2537" y="93"/>
                  <a:pt x="2539" y="91"/>
                </a:cubicBezTo>
                <a:cubicBezTo>
                  <a:pt x="2541" y="89"/>
                  <a:pt x="2541" y="89"/>
                  <a:pt x="2541" y="89"/>
                </a:cubicBezTo>
                <a:cubicBezTo>
                  <a:pt x="2563" y="67"/>
                  <a:pt x="2579" y="51"/>
                  <a:pt x="2591" y="40"/>
                </a:cubicBezTo>
                <a:cubicBezTo>
                  <a:pt x="2603" y="28"/>
                  <a:pt x="2611" y="20"/>
                  <a:pt x="2617" y="15"/>
                </a:cubicBezTo>
                <a:cubicBezTo>
                  <a:pt x="2622" y="10"/>
                  <a:pt x="2625" y="7"/>
                  <a:pt x="2626" y="6"/>
                </a:cubicBezTo>
                <a:cubicBezTo>
                  <a:pt x="2627" y="5"/>
                  <a:pt x="2627" y="5"/>
                  <a:pt x="2627" y="5"/>
                </a:cubicBezTo>
                <a:cubicBezTo>
                  <a:pt x="2607" y="4"/>
                  <a:pt x="2586" y="4"/>
                  <a:pt x="2565" y="3"/>
                </a:cubicBezTo>
                <a:cubicBezTo>
                  <a:pt x="2545" y="3"/>
                  <a:pt x="2524" y="2"/>
                  <a:pt x="2504" y="2"/>
                </a:cubicBezTo>
                <a:cubicBezTo>
                  <a:pt x="2483" y="1"/>
                  <a:pt x="2463" y="1"/>
                  <a:pt x="2443" y="1"/>
                </a:cubicBezTo>
                <a:cubicBezTo>
                  <a:pt x="2422" y="1"/>
                  <a:pt x="2402" y="0"/>
                  <a:pt x="2382" y="0"/>
                </a:cubicBezTo>
              </a:path>
            </a:pathLst>
          </a:custGeom>
          <a:gradFill>
            <a:gsLst>
              <a:gs pos="0">
                <a:srgbClr val="FFFFFF"/>
              </a:gs>
              <a:gs pos="100000">
                <a:srgbClr val="B3D4FE"/>
              </a:gs>
            </a:gsLst>
            <a:lin ang="54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 name="Freeform 11"/>
          <p:cNvSpPr/>
          <p:nvPr/>
        </p:nvSpPr>
        <p:spPr bwMode="auto">
          <a:xfrm>
            <a:off x="4640181" y="2442819"/>
            <a:ext cx="2163629" cy="1109278"/>
          </a:xfrm>
          <a:custGeom>
            <a:avLst/>
            <a:gdLst>
              <a:gd name="T0" fmla="*/ 447 w 3501"/>
              <a:gd name="T1" fmla="*/ 65 h 1794"/>
              <a:gd name="T2" fmla="*/ 456 w 3501"/>
              <a:gd name="T3" fmla="*/ 112 h 1794"/>
              <a:gd name="T4" fmla="*/ 472 w 3501"/>
              <a:gd name="T5" fmla="*/ 204 h 1794"/>
              <a:gd name="T6" fmla="*/ 484 w 3501"/>
              <a:gd name="T7" fmla="*/ 271 h 1794"/>
              <a:gd name="T8" fmla="*/ 272 w 3501"/>
              <a:gd name="T9" fmla="*/ 340 h 1794"/>
              <a:gd name="T10" fmla="*/ 118 w 3501"/>
              <a:gd name="T11" fmla="*/ 388 h 1794"/>
              <a:gd name="T12" fmla="*/ 48 w 3501"/>
              <a:gd name="T13" fmla="*/ 409 h 1794"/>
              <a:gd name="T14" fmla="*/ 2 w 3501"/>
              <a:gd name="T15" fmla="*/ 423 h 1794"/>
              <a:gd name="T16" fmla="*/ 207 w 3501"/>
              <a:gd name="T17" fmla="*/ 444 h 1794"/>
              <a:gd name="T18" fmla="*/ 574 w 3501"/>
              <a:gd name="T19" fmla="*/ 540 h 1794"/>
              <a:gd name="T20" fmla="*/ 1227 w 3501"/>
              <a:gd name="T21" fmla="*/ 931 h 1794"/>
              <a:gd name="T22" fmla="*/ 1628 w 3501"/>
              <a:gd name="T23" fmla="*/ 1179 h 1794"/>
              <a:gd name="T24" fmla="*/ 1644 w 3501"/>
              <a:gd name="T25" fmla="*/ 1189 h 1794"/>
              <a:gd name="T26" fmla="*/ 1644 w 3501"/>
              <a:gd name="T27" fmla="*/ 1190 h 1794"/>
              <a:gd name="T28" fmla="*/ 2122 w 3501"/>
              <a:gd name="T29" fmla="*/ 1491 h 1794"/>
              <a:gd name="T30" fmla="*/ 2497 w 3501"/>
              <a:gd name="T31" fmla="*/ 1727 h 1794"/>
              <a:gd name="T32" fmla="*/ 2512 w 3501"/>
              <a:gd name="T33" fmla="*/ 1737 h 1794"/>
              <a:gd name="T34" fmla="*/ 2513 w 3501"/>
              <a:gd name="T35" fmla="*/ 1737 h 1794"/>
              <a:gd name="T36" fmla="*/ 2565 w 3501"/>
              <a:gd name="T37" fmla="*/ 1770 h 1794"/>
              <a:gd name="T38" fmla="*/ 2602 w 3501"/>
              <a:gd name="T39" fmla="*/ 1794 h 1794"/>
              <a:gd name="T40" fmla="*/ 2741 w 3501"/>
              <a:gd name="T41" fmla="*/ 1783 h 1794"/>
              <a:gd name="T42" fmla="*/ 2836 w 3501"/>
              <a:gd name="T43" fmla="*/ 1775 h 1794"/>
              <a:gd name="T44" fmla="*/ 3155 w 3501"/>
              <a:gd name="T45" fmla="*/ 1750 h 1794"/>
              <a:gd name="T46" fmla="*/ 3374 w 3501"/>
              <a:gd name="T47" fmla="*/ 1733 h 1794"/>
              <a:gd name="T48" fmla="*/ 3428 w 3501"/>
              <a:gd name="T49" fmla="*/ 1550 h 1794"/>
              <a:gd name="T50" fmla="*/ 3459 w 3501"/>
              <a:gd name="T51" fmla="*/ 1429 h 1794"/>
              <a:gd name="T52" fmla="*/ 3484 w 3501"/>
              <a:gd name="T53" fmla="*/ 1321 h 1794"/>
              <a:gd name="T54" fmla="*/ 3501 w 3501"/>
              <a:gd name="T55" fmla="*/ 1250 h 1794"/>
              <a:gd name="T56" fmla="*/ 3389 w 3501"/>
              <a:gd name="T57" fmla="*/ 1190 h 1794"/>
              <a:gd name="T58" fmla="*/ 2901 w 3501"/>
              <a:gd name="T59" fmla="*/ 944 h 1794"/>
              <a:gd name="T60" fmla="*/ 2541 w 3501"/>
              <a:gd name="T61" fmla="*/ 763 h 1794"/>
              <a:gd name="T62" fmla="*/ 2513 w 3501"/>
              <a:gd name="T63" fmla="*/ 749 h 1794"/>
              <a:gd name="T64" fmla="*/ 2513 w 3501"/>
              <a:gd name="T65" fmla="*/ 749 h 1794"/>
              <a:gd name="T66" fmla="*/ 1947 w 3501"/>
              <a:gd name="T67" fmla="*/ 460 h 1794"/>
              <a:gd name="T68" fmla="*/ 1593 w 3501"/>
              <a:gd name="T69" fmla="*/ 280 h 1794"/>
              <a:gd name="T70" fmla="*/ 1322 w 3501"/>
              <a:gd name="T71" fmla="*/ 164 h 1794"/>
              <a:gd name="T72" fmla="*/ 747 w 3501"/>
              <a:gd name="T73" fmla="*/ 30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01" h="1794">
                <a:moveTo>
                  <a:pt x="435" y="0"/>
                </a:moveTo>
                <a:cubicBezTo>
                  <a:pt x="440" y="28"/>
                  <a:pt x="444" y="49"/>
                  <a:pt x="447" y="65"/>
                </a:cubicBezTo>
                <a:cubicBezTo>
                  <a:pt x="450" y="81"/>
                  <a:pt x="452" y="92"/>
                  <a:pt x="453" y="99"/>
                </a:cubicBezTo>
                <a:cubicBezTo>
                  <a:pt x="455" y="106"/>
                  <a:pt x="455" y="110"/>
                  <a:pt x="456" y="112"/>
                </a:cubicBezTo>
                <a:cubicBezTo>
                  <a:pt x="456" y="113"/>
                  <a:pt x="456" y="113"/>
                  <a:pt x="456" y="113"/>
                </a:cubicBezTo>
                <a:cubicBezTo>
                  <a:pt x="463" y="152"/>
                  <a:pt x="468" y="182"/>
                  <a:pt x="472" y="204"/>
                </a:cubicBezTo>
                <a:cubicBezTo>
                  <a:pt x="476" y="227"/>
                  <a:pt x="479" y="242"/>
                  <a:pt x="481" y="253"/>
                </a:cubicBezTo>
                <a:cubicBezTo>
                  <a:pt x="483" y="263"/>
                  <a:pt x="484" y="268"/>
                  <a:pt x="484" y="271"/>
                </a:cubicBezTo>
                <a:cubicBezTo>
                  <a:pt x="484" y="273"/>
                  <a:pt x="484" y="273"/>
                  <a:pt x="484" y="273"/>
                </a:cubicBezTo>
                <a:cubicBezTo>
                  <a:pt x="394" y="302"/>
                  <a:pt x="324" y="323"/>
                  <a:pt x="272" y="340"/>
                </a:cubicBezTo>
                <a:cubicBezTo>
                  <a:pt x="219" y="356"/>
                  <a:pt x="184" y="367"/>
                  <a:pt x="160" y="375"/>
                </a:cubicBezTo>
                <a:cubicBezTo>
                  <a:pt x="136" y="382"/>
                  <a:pt x="124" y="386"/>
                  <a:pt x="118" y="388"/>
                </a:cubicBezTo>
                <a:cubicBezTo>
                  <a:pt x="112" y="390"/>
                  <a:pt x="112" y="390"/>
                  <a:pt x="112" y="390"/>
                </a:cubicBezTo>
                <a:cubicBezTo>
                  <a:pt x="84" y="398"/>
                  <a:pt x="64" y="405"/>
                  <a:pt x="48" y="409"/>
                </a:cubicBezTo>
                <a:cubicBezTo>
                  <a:pt x="32" y="414"/>
                  <a:pt x="21" y="417"/>
                  <a:pt x="14" y="420"/>
                </a:cubicBezTo>
                <a:cubicBezTo>
                  <a:pt x="7" y="422"/>
                  <a:pt x="4" y="423"/>
                  <a:pt x="2" y="423"/>
                </a:cubicBezTo>
                <a:cubicBezTo>
                  <a:pt x="0" y="424"/>
                  <a:pt x="0" y="424"/>
                  <a:pt x="0" y="424"/>
                </a:cubicBezTo>
                <a:cubicBezTo>
                  <a:pt x="72" y="428"/>
                  <a:pt x="141" y="435"/>
                  <a:pt x="207" y="444"/>
                </a:cubicBezTo>
                <a:cubicBezTo>
                  <a:pt x="274" y="454"/>
                  <a:pt x="339" y="467"/>
                  <a:pt x="400" y="483"/>
                </a:cubicBezTo>
                <a:cubicBezTo>
                  <a:pt x="461" y="499"/>
                  <a:pt x="520" y="518"/>
                  <a:pt x="574" y="540"/>
                </a:cubicBezTo>
                <a:cubicBezTo>
                  <a:pt x="629" y="563"/>
                  <a:pt x="680" y="589"/>
                  <a:pt x="726" y="619"/>
                </a:cubicBezTo>
                <a:cubicBezTo>
                  <a:pt x="934" y="748"/>
                  <a:pt x="1099" y="851"/>
                  <a:pt x="1227" y="931"/>
                </a:cubicBezTo>
                <a:cubicBezTo>
                  <a:pt x="1361" y="1014"/>
                  <a:pt x="1453" y="1071"/>
                  <a:pt x="1516" y="1110"/>
                </a:cubicBezTo>
                <a:cubicBezTo>
                  <a:pt x="1579" y="1149"/>
                  <a:pt x="1612" y="1169"/>
                  <a:pt x="1628" y="1179"/>
                </a:cubicBezTo>
                <a:cubicBezTo>
                  <a:pt x="1644" y="1189"/>
                  <a:pt x="1644" y="1189"/>
                  <a:pt x="1644" y="1189"/>
                </a:cubicBezTo>
                <a:cubicBezTo>
                  <a:pt x="1644" y="1189"/>
                  <a:pt x="1644" y="1189"/>
                  <a:pt x="1644" y="1189"/>
                </a:cubicBezTo>
                <a:cubicBezTo>
                  <a:pt x="1644" y="1189"/>
                  <a:pt x="1644" y="1190"/>
                  <a:pt x="1644" y="1190"/>
                </a:cubicBezTo>
                <a:cubicBezTo>
                  <a:pt x="1644" y="1190"/>
                  <a:pt x="1644" y="1190"/>
                  <a:pt x="1644" y="1190"/>
                </a:cubicBezTo>
                <a:cubicBezTo>
                  <a:pt x="1644" y="1190"/>
                  <a:pt x="1644" y="1190"/>
                  <a:pt x="1644" y="1190"/>
                </a:cubicBezTo>
                <a:cubicBezTo>
                  <a:pt x="1844" y="1315"/>
                  <a:pt x="2000" y="1414"/>
                  <a:pt x="2122" y="1491"/>
                </a:cubicBezTo>
                <a:cubicBezTo>
                  <a:pt x="2248" y="1570"/>
                  <a:pt x="2334" y="1625"/>
                  <a:pt x="2393" y="1662"/>
                </a:cubicBezTo>
                <a:cubicBezTo>
                  <a:pt x="2452" y="1699"/>
                  <a:pt x="2482" y="1718"/>
                  <a:pt x="2497" y="1727"/>
                </a:cubicBezTo>
                <a:cubicBezTo>
                  <a:pt x="2512" y="1737"/>
                  <a:pt x="2512" y="1737"/>
                  <a:pt x="2512" y="1737"/>
                </a:cubicBezTo>
                <a:cubicBezTo>
                  <a:pt x="2512" y="1737"/>
                  <a:pt x="2512" y="1737"/>
                  <a:pt x="2512" y="1737"/>
                </a:cubicBezTo>
                <a:cubicBezTo>
                  <a:pt x="2512" y="1737"/>
                  <a:pt x="2512" y="1737"/>
                  <a:pt x="2512" y="1737"/>
                </a:cubicBezTo>
                <a:cubicBezTo>
                  <a:pt x="2513" y="1737"/>
                  <a:pt x="2513" y="1737"/>
                  <a:pt x="2513" y="1737"/>
                </a:cubicBezTo>
                <a:cubicBezTo>
                  <a:pt x="2513" y="1737"/>
                  <a:pt x="2513" y="1738"/>
                  <a:pt x="2513" y="1738"/>
                </a:cubicBezTo>
                <a:cubicBezTo>
                  <a:pt x="2536" y="1752"/>
                  <a:pt x="2553" y="1762"/>
                  <a:pt x="2565" y="1770"/>
                </a:cubicBezTo>
                <a:cubicBezTo>
                  <a:pt x="2578" y="1778"/>
                  <a:pt x="2587" y="1784"/>
                  <a:pt x="2592" y="1787"/>
                </a:cubicBezTo>
                <a:cubicBezTo>
                  <a:pt x="2598" y="1791"/>
                  <a:pt x="2601" y="1793"/>
                  <a:pt x="2602" y="1794"/>
                </a:cubicBezTo>
                <a:cubicBezTo>
                  <a:pt x="2604" y="1794"/>
                  <a:pt x="2604" y="1794"/>
                  <a:pt x="2604" y="1794"/>
                </a:cubicBezTo>
                <a:cubicBezTo>
                  <a:pt x="2663" y="1790"/>
                  <a:pt x="2707" y="1786"/>
                  <a:pt x="2741" y="1783"/>
                </a:cubicBezTo>
                <a:cubicBezTo>
                  <a:pt x="2774" y="1781"/>
                  <a:pt x="2796" y="1779"/>
                  <a:pt x="2811" y="1778"/>
                </a:cubicBezTo>
                <a:cubicBezTo>
                  <a:pt x="2825" y="1776"/>
                  <a:pt x="2833" y="1776"/>
                  <a:pt x="2836" y="1775"/>
                </a:cubicBezTo>
                <a:cubicBezTo>
                  <a:pt x="2840" y="1775"/>
                  <a:pt x="2840" y="1775"/>
                  <a:pt x="2840" y="1775"/>
                </a:cubicBezTo>
                <a:cubicBezTo>
                  <a:pt x="2977" y="1764"/>
                  <a:pt x="3079" y="1756"/>
                  <a:pt x="3155" y="1750"/>
                </a:cubicBezTo>
                <a:cubicBezTo>
                  <a:pt x="3231" y="1744"/>
                  <a:pt x="3282" y="1740"/>
                  <a:pt x="3315" y="1738"/>
                </a:cubicBezTo>
                <a:cubicBezTo>
                  <a:pt x="3349" y="1735"/>
                  <a:pt x="3366" y="1734"/>
                  <a:pt x="3374" y="1733"/>
                </a:cubicBezTo>
                <a:cubicBezTo>
                  <a:pt x="3383" y="1732"/>
                  <a:pt x="3383" y="1732"/>
                  <a:pt x="3383" y="1732"/>
                </a:cubicBezTo>
                <a:cubicBezTo>
                  <a:pt x="3403" y="1652"/>
                  <a:pt x="3418" y="1593"/>
                  <a:pt x="3428" y="1550"/>
                </a:cubicBezTo>
                <a:cubicBezTo>
                  <a:pt x="3439" y="1508"/>
                  <a:pt x="3446" y="1480"/>
                  <a:pt x="3451" y="1461"/>
                </a:cubicBezTo>
                <a:cubicBezTo>
                  <a:pt x="3455" y="1443"/>
                  <a:pt x="3457" y="1434"/>
                  <a:pt x="3459" y="1429"/>
                </a:cubicBezTo>
                <a:cubicBezTo>
                  <a:pt x="3460" y="1425"/>
                  <a:pt x="3460" y="1425"/>
                  <a:pt x="3460" y="1425"/>
                </a:cubicBezTo>
                <a:cubicBezTo>
                  <a:pt x="3470" y="1379"/>
                  <a:pt x="3478" y="1346"/>
                  <a:pt x="3484" y="1321"/>
                </a:cubicBezTo>
                <a:cubicBezTo>
                  <a:pt x="3490" y="1296"/>
                  <a:pt x="3494" y="1280"/>
                  <a:pt x="3496" y="1269"/>
                </a:cubicBezTo>
                <a:cubicBezTo>
                  <a:pt x="3499" y="1258"/>
                  <a:pt x="3500" y="1253"/>
                  <a:pt x="3501" y="1250"/>
                </a:cubicBezTo>
                <a:cubicBezTo>
                  <a:pt x="3501" y="1247"/>
                  <a:pt x="3501" y="1247"/>
                  <a:pt x="3501" y="1247"/>
                </a:cubicBezTo>
                <a:cubicBezTo>
                  <a:pt x="3389" y="1190"/>
                  <a:pt x="3389" y="1190"/>
                  <a:pt x="3389" y="1190"/>
                </a:cubicBezTo>
                <a:cubicBezTo>
                  <a:pt x="3387" y="1189"/>
                  <a:pt x="3387" y="1189"/>
                  <a:pt x="3387" y="1189"/>
                </a:cubicBezTo>
                <a:cubicBezTo>
                  <a:pt x="3176" y="1083"/>
                  <a:pt x="3019" y="1004"/>
                  <a:pt x="2901" y="944"/>
                </a:cubicBezTo>
                <a:cubicBezTo>
                  <a:pt x="2785" y="886"/>
                  <a:pt x="2705" y="846"/>
                  <a:pt x="2649" y="818"/>
                </a:cubicBezTo>
                <a:cubicBezTo>
                  <a:pt x="2593" y="790"/>
                  <a:pt x="2561" y="773"/>
                  <a:pt x="2541" y="763"/>
                </a:cubicBezTo>
                <a:cubicBezTo>
                  <a:pt x="2522" y="754"/>
                  <a:pt x="2516" y="751"/>
                  <a:pt x="2514" y="750"/>
                </a:cubicBezTo>
                <a:cubicBezTo>
                  <a:pt x="2513" y="749"/>
                  <a:pt x="2513" y="749"/>
                  <a:pt x="2513" y="749"/>
                </a:cubicBezTo>
                <a:cubicBezTo>
                  <a:pt x="2513" y="749"/>
                  <a:pt x="2513" y="749"/>
                  <a:pt x="2513" y="749"/>
                </a:cubicBezTo>
                <a:cubicBezTo>
                  <a:pt x="2513" y="749"/>
                  <a:pt x="2513" y="749"/>
                  <a:pt x="2513" y="749"/>
                </a:cubicBezTo>
                <a:cubicBezTo>
                  <a:pt x="2513" y="749"/>
                  <a:pt x="2513" y="749"/>
                  <a:pt x="2513" y="749"/>
                </a:cubicBezTo>
                <a:cubicBezTo>
                  <a:pt x="2258" y="619"/>
                  <a:pt x="2077" y="527"/>
                  <a:pt x="1947" y="460"/>
                </a:cubicBezTo>
                <a:cubicBezTo>
                  <a:pt x="1821" y="396"/>
                  <a:pt x="1739" y="354"/>
                  <a:pt x="1685" y="327"/>
                </a:cubicBezTo>
                <a:cubicBezTo>
                  <a:pt x="1633" y="300"/>
                  <a:pt x="1606" y="287"/>
                  <a:pt x="1593" y="280"/>
                </a:cubicBezTo>
                <a:cubicBezTo>
                  <a:pt x="1581" y="273"/>
                  <a:pt x="1581" y="273"/>
                  <a:pt x="1581" y="273"/>
                </a:cubicBezTo>
                <a:cubicBezTo>
                  <a:pt x="1499" y="232"/>
                  <a:pt x="1413" y="196"/>
                  <a:pt x="1322" y="164"/>
                </a:cubicBezTo>
                <a:cubicBezTo>
                  <a:pt x="1233" y="133"/>
                  <a:pt x="1140" y="107"/>
                  <a:pt x="1043" y="84"/>
                </a:cubicBezTo>
                <a:cubicBezTo>
                  <a:pt x="948" y="62"/>
                  <a:pt x="848" y="44"/>
                  <a:pt x="747" y="30"/>
                </a:cubicBezTo>
                <a:cubicBezTo>
                  <a:pt x="646" y="17"/>
                  <a:pt x="541" y="6"/>
                  <a:pt x="435" y="0"/>
                </a:cubicBezTo>
              </a:path>
            </a:pathLst>
          </a:custGeom>
          <a:gradFill>
            <a:gsLst>
              <a:gs pos="0">
                <a:srgbClr val="E6E6E6"/>
              </a:gs>
              <a:gs pos="100000">
                <a:srgbClr val="668EFF"/>
              </a:gs>
            </a:gsLst>
            <a:lin ang="5400000" scaled="0"/>
          </a:gradFill>
          <a:ln w="19050" cap="flat" cmpd="sng" algn="ctr">
            <a:no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2" name="Freeform 12"/>
          <p:cNvSpPr/>
          <p:nvPr/>
        </p:nvSpPr>
        <p:spPr bwMode="auto">
          <a:xfrm>
            <a:off x="3239259" y="2774738"/>
            <a:ext cx="2156830" cy="960972"/>
          </a:xfrm>
          <a:custGeom>
            <a:avLst/>
            <a:gdLst>
              <a:gd name="T0" fmla="*/ 2021 w 3490"/>
              <a:gd name="T1" fmla="*/ 0 h 1554"/>
              <a:gd name="T2" fmla="*/ 1791 w 3490"/>
              <a:gd name="T3" fmla="*/ 10 h 1554"/>
              <a:gd name="T4" fmla="*/ 1550 w 3490"/>
              <a:gd name="T5" fmla="*/ 41 h 1554"/>
              <a:gd name="T6" fmla="*/ 1300 w 3490"/>
              <a:gd name="T7" fmla="*/ 94 h 1554"/>
              <a:gd name="T8" fmla="*/ 1044 w 3490"/>
              <a:gd name="T9" fmla="*/ 171 h 1554"/>
              <a:gd name="T10" fmla="*/ 575 w 3490"/>
              <a:gd name="T11" fmla="*/ 383 h 1554"/>
              <a:gd name="T12" fmla="*/ 219 w 3490"/>
              <a:gd name="T13" fmla="*/ 651 h 1554"/>
              <a:gd name="T14" fmla="*/ 29 w 3490"/>
              <a:gd name="T15" fmla="*/ 954 h 1554"/>
              <a:gd name="T16" fmla="*/ 77 w 3490"/>
              <a:gd name="T17" fmla="*/ 1255 h 1554"/>
              <a:gd name="T18" fmla="*/ 210 w 3490"/>
              <a:gd name="T19" fmla="*/ 1382 h 1554"/>
              <a:gd name="T20" fmla="*/ 407 w 3490"/>
              <a:gd name="T21" fmla="*/ 1476 h 1554"/>
              <a:gd name="T22" fmla="*/ 659 w 3490"/>
              <a:gd name="T23" fmla="*/ 1534 h 1554"/>
              <a:gd name="T24" fmla="*/ 954 w 3490"/>
              <a:gd name="T25" fmla="*/ 1554 h 1554"/>
              <a:gd name="T26" fmla="*/ 1275 w 3490"/>
              <a:gd name="T27" fmla="*/ 1534 h 1554"/>
              <a:gd name="T28" fmla="*/ 1607 w 3490"/>
              <a:gd name="T29" fmla="*/ 1476 h 1554"/>
              <a:gd name="T30" fmla="*/ 1934 w 3490"/>
              <a:gd name="T31" fmla="*/ 1382 h 1554"/>
              <a:gd name="T32" fmla="*/ 2241 w 3490"/>
              <a:gd name="T33" fmla="*/ 1255 h 1554"/>
              <a:gd name="T34" fmla="*/ 3490 w 3490"/>
              <a:gd name="T35" fmla="*/ 651 h 1554"/>
              <a:gd name="T36" fmla="*/ 2763 w 3490"/>
              <a:gd name="T37" fmla="*/ 171 h 1554"/>
              <a:gd name="T38" fmla="*/ 2613 w 3490"/>
              <a:gd name="T39" fmla="*/ 94 h 1554"/>
              <a:gd name="T40" fmla="*/ 2436 w 3490"/>
              <a:gd name="T41" fmla="*/ 41 h 1554"/>
              <a:gd name="T42" fmla="*/ 2237 w 3490"/>
              <a:gd name="T43" fmla="*/ 10 h 1554"/>
              <a:gd name="T44" fmla="*/ 2021 w 3490"/>
              <a:gd name="T45" fmla="*/ 0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90" h="1554">
                <a:moveTo>
                  <a:pt x="2021" y="0"/>
                </a:moveTo>
                <a:cubicBezTo>
                  <a:pt x="1947" y="0"/>
                  <a:pt x="1870" y="3"/>
                  <a:pt x="1791" y="10"/>
                </a:cubicBezTo>
                <a:cubicBezTo>
                  <a:pt x="1712" y="17"/>
                  <a:pt x="1631" y="27"/>
                  <a:pt x="1550" y="41"/>
                </a:cubicBezTo>
                <a:cubicBezTo>
                  <a:pt x="1467" y="55"/>
                  <a:pt x="1384" y="73"/>
                  <a:pt x="1300" y="94"/>
                </a:cubicBezTo>
                <a:cubicBezTo>
                  <a:pt x="1215" y="116"/>
                  <a:pt x="1129" y="141"/>
                  <a:pt x="1044" y="171"/>
                </a:cubicBezTo>
                <a:cubicBezTo>
                  <a:pt x="870" y="231"/>
                  <a:pt x="712" y="303"/>
                  <a:pt x="575" y="383"/>
                </a:cubicBezTo>
                <a:cubicBezTo>
                  <a:pt x="433" y="465"/>
                  <a:pt x="312" y="556"/>
                  <a:pt x="219" y="651"/>
                </a:cubicBezTo>
                <a:cubicBezTo>
                  <a:pt x="123" y="750"/>
                  <a:pt x="56" y="853"/>
                  <a:pt x="29" y="954"/>
                </a:cubicBezTo>
                <a:cubicBezTo>
                  <a:pt x="0" y="1060"/>
                  <a:pt x="13" y="1163"/>
                  <a:pt x="77" y="1255"/>
                </a:cubicBezTo>
                <a:cubicBezTo>
                  <a:pt x="110" y="1303"/>
                  <a:pt x="155" y="1345"/>
                  <a:pt x="210" y="1382"/>
                </a:cubicBezTo>
                <a:cubicBezTo>
                  <a:pt x="266" y="1419"/>
                  <a:pt x="332" y="1451"/>
                  <a:pt x="407" y="1476"/>
                </a:cubicBezTo>
                <a:cubicBezTo>
                  <a:pt x="483" y="1502"/>
                  <a:pt x="568" y="1521"/>
                  <a:pt x="659" y="1534"/>
                </a:cubicBezTo>
                <a:cubicBezTo>
                  <a:pt x="751" y="1547"/>
                  <a:pt x="850" y="1554"/>
                  <a:pt x="954" y="1554"/>
                </a:cubicBezTo>
                <a:cubicBezTo>
                  <a:pt x="1057" y="1554"/>
                  <a:pt x="1165" y="1547"/>
                  <a:pt x="1275" y="1534"/>
                </a:cubicBezTo>
                <a:cubicBezTo>
                  <a:pt x="1384" y="1521"/>
                  <a:pt x="1496" y="1502"/>
                  <a:pt x="1607" y="1476"/>
                </a:cubicBezTo>
                <a:cubicBezTo>
                  <a:pt x="1717" y="1451"/>
                  <a:pt x="1827" y="1419"/>
                  <a:pt x="1934" y="1382"/>
                </a:cubicBezTo>
                <a:cubicBezTo>
                  <a:pt x="2039" y="1345"/>
                  <a:pt x="2142" y="1303"/>
                  <a:pt x="2241" y="1255"/>
                </a:cubicBezTo>
                <a:cubicBezTo>
                  <a:pt x="3490" y="651"/>
                  <a:pt x="3490" y="651"/>
                  <a:pt x="3490" y="651"/>
                </a:cubicBezTo>
                <a:cubicBezTo>
                  <a:pt x="2763" y="171"/>
                  <a:pt x="2763" y="171"/>
                  <a:pt x="2763" y="171"/>
                </a:cubicBezTo>
                <a:cubicBezTo>
                  <a:pt x="2718" y="141"/>
                  <a:pt x="2668" y="116"/>
                  <a:pt x="2613" y="94"/>
                </a:cubicBezTo>
                <a:cubicBezTo>
                  <a:pt x="2558" y="73"/>
                  <a:pt x="2499" y="55"/>
                  <a:pt x="2436" y="41"/>
                </a:cubicBezTo>
                <a:cubicBezTo>
                  <a:pt x="2373" y="27"/>
                  <a:pt x="2307" y="17"/>
                  <a:pt x="2237" y="10"/>
                </a:cubicBezTo>
                <a:cubicBezTo>
                  <a:pt x="2168" y="3"/>
                  <a:pt x="2096" y="0"/>
                  <a:pt x="2021" y="0"/>
                </a:cubicBezTo>
              </a:path>
            </a:pathLst>
          </a:custGeom>
          <a:solidFill>
            <a:srgbClr val="E6E6E6">
              <a:alpha val="50000"/>
            </a:srgbClr>
          </a:solidFill>
          <a:ln>
            <a:noFill/>
          </a:ln>
          <a:effectLst/>
        </p:spPr>
        <p:txBody>
          <a:bodyPr vert="horz" wrap="square" lIns="114597" tIns="57299" rIns="114597" bIns="57299" numCol="1" anchor="t" anchorCtr="0" compatLnSpc="1"/>
          <a:lstStyle/>
          <a:p>
            <a:pPr>
              <a:defRPr>
                <a:latin typeface="微软雅黑"/>
                <a:ea typeface="微软雅黑"/>
                <a:cs typeface="微软雅黑"/>
              </a:defRPr>
            </a:pPr>
            <a:endParaRPr lang="en-US" sz="3010">
              <a:latin typeface="微软雅黑"/>
              <a:ea typeface="微软雅黑"/>
              <a:cs typeface="微软雅黑"/>
            </a:endParaRPr>
          </a:p>
        </p:txBody>
      </p:sp>
      <p:sp>
        <p:nvSpPr>
          <p:cNvPr id="23" name="Freeform 13"/>
          <p:cNvSpPr/>
          <p:nvPr/>
        </p:nvSpPr>
        <p:spPr bwMode="auto">
          <a:xfrm>
            <a:off x="6989778" y="2774738"/>
            <a:ext cx="2156307" cy="960972"/>
          </a:xfrm>
          <a:custGeom>
            <a:avLst/>
            <a:gdLst>
              <a:gd name="T0" fmla="*/ 1469 w 3489"/>
              <a:gd name="T1" fmla="*/ 0 h 1554"/>
              <a:gd name="T2" fmla="*/ 1253 w 3489"/>
              <a:gd name="T3" fmla="*/ 10 h 1554"/>
              <a:gd name="T4" fmla="*/ 1055 w 3489"/>
              <a:gd name="T5" fmla="*/ 41 h 1554"/>
              <a:gd name="T6" fmla="*/ 878 w 3489"/>
              <a:gd name="T7" fmla="*/ 94 h 1554"/>
              <a:gd name="T8" fmla="*/ 727 w 3489"/>
              <a:gd name="T9" fmla="*/ 171 h 1554"/>
              <a:gd name="T10" fmla="*/ 0 w 3489"/>
              <a:gd name="T11" fmla="*/ 651 h 1554"/>
              <a:gd name="T12" fmla="*/ 1248 w 3489"/>
              <a:gd name="T13" fmla="*/ 1255 h 1554"/>
              <a:gd name="T14" fmla="*/ 1555 w 3489"/>
              <a:gd name="T15" fmla="*/ 1382 h 1554"/>
              <a:gd name="T16" fmla="*/ 1882 w 3489"/>
              <a:gd name="T17" fmla="*/ 1476 h 1554"/>
              <a:gd name="T18" fmla="*/ 2214 w 3489"/>
              <a:gd name="T19" fmla="*/ 1534 h 1554"/>
              <a:gd name="T20" fmla="*/ 2535 w 3489"/>
              <a:gd name="T21" fmla="*/ 1554 h 1554"/>
              <a:gd name="T22" fmla="*/ 2829 w 3489"/>
              <a:gd name="T23" fmla="*/ 1534 h 1554"/>
              <a:gd name="T24" fmla="*/ 3081 w 3489"/>
              <a:gd name="T25" fmla="*/ 1476 h 1554"/>
              <a:gd name="T26" fmla="*/ 3279 w 3489"/>
              <a:gd name="T27" fmla="*/ 1382 h 1554"/>
              <a:gd name="T28" fmla="*/ 3412 w 3489"/>
              <a:gd name="T29" fmla="*/ 1255 h 1554"/>
              <a:gd name="T30" fmla="*/ 3461 w 3489"/>
              <a:gd name="T31" fmla="*/ 954 h 1554"/>
              <a:gd name="T32" fmla="*/ 3270 w 3489"/>
              <a:gd name="T33" fmla="*/ 651 h 1554"/>
              <a:gd name="T34" fmla="*/ 2915 w 3489"/>
              <a:gd name="T35" fmla="*/ 383 h 1554"/>
              <a:gd name="T36" fmla="*/ 2446 w 3489"/>
              <a:gd name="T37" fmla="*/ 171 h 1554"/>
              <a:gd name="T38" fmla="*/ 2191 w 3489"/>
              <a:gd name="T39" fmla="*/ 94 h 1554"/>
              <a:gd name="T40" fmla="*/ 1941 w 3489"/>
              <a:gd name="T41" fmla="*/ 41 h 1554"/>
              <a:gd name="T42" fmla="*/ 1700 w 3489"/>
              <a:gd name="T43" fmla="*/ 10 h 1554"/>
              <a:gd name="T44" fmla="*/ 1469 w 3489"/>
              <a:gd name="T45" fmla="*/ 0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89" h="1554">
                <a:moveTo>
                  <a:pt x="1469" y="0"/>
                </a:moveTo>
                <a:cubicBezTo>
                  <a:pt x="1395" y="0"/>
                  <a:pt x="1322" y="3"/>
                  <a:pt x="1253" y="10"/>
                </a:cubicBezTo>
                <a:cubicBezTo>
                  <a:pt x="1184" y="17"/>
                  <a:pt x="1117" y="27"/>
                  <a:pt x="1055" y="41"/>
                </a:cubicBezTo>
                <a:cubicBezTo>
                  <a:pt x="991" y="55"/>
                  <a:pt x="932" y="73"/>
                  <a:pt x="878" y="94"/>
                </a:cubicBezTo>
                <a:cubicBezTo>
                  <a:pt x="822" y="116"/>
                  <a:pt x="772" y="141"/>
                  <a:pt x="727" y="171"/>
                </a:cubicBezTo>
                <a:cubicBezTo>
                  <a:pt x="0" y="651"/>
                  <a:pt x="0" y="651"/>
                  <a:pt x="0" y="651"/>
                </a:cubicBezTo>
                <a:cubicBezTo>
                  <a:pt x="1248" y="1255"/>
                  <a:pt x="1248" y="1255"/>
                  <a:pt x="1248" y="1255"/>
                </a:cubicBezTo>
                <a:cubicBezTo>
                  <a:pt x="1346" y="1303"/>
                  <a:pt x="1449" y="1345"/>
                  <a:pt x="1555" y="1382"/>
                </a:cubicBezTo>
                <a:cubicBezTo>
                  <a:pt x="1662" y="1419"/>
                  <a:pt x="1771" y="1451"/>
                  <a:pt x="1882" y="1476"/>
                </a:cubicBezTo>
                <a:cubicBezTo>
                  <a:pt x="1993" y="1502"/>
                  <a:pt x="2104" y="1521"/>
                  <a:pt x="2214" y="1534"/>
                </a:cubicBezTo>
                <a:cubicBezTo>
                  <a:pt x="2324" y="1547"/>
                  <a:pt x="2431" y="1554"/>
                  <a:pt x="2535" y="1554"/>
                </a:cubicBezTo>
                <a:cubicBezTo>
                  <a:pt x="2638" y="1554"/>
                  <a:pt x="2737" y="1547"/>
                  <a:pt x="2829" y="1534"/>
                </a:cubicBezTo>
                <a:cubicBezTo>
                  <a:pt x="2921" y="1521"/>
                  <a:pt x="3005" y="1502"/>
                  <a:pt x="3081" y="1476"/>
                </a:cubicBezTo>
                <a:cubicBezTo>
                  <a:pt x="3157" y="1451"/>
                  <a:pt x="3223" y="1419"/>
                  <a:pt x="3279" y="1382"/>
                </a:cubicBezTo>
                <a:cubicBezTo>
                  <a:pt x="3334" y="1345"/>
                  <a:pt x="3379" y="1303"/>
                  <a:pt x="3412" y="1255"/>
                </a:cubicBezTo>
                <a:cubicBezTo>
                  <a:pt x="3476" y="1163"/>
                  <a:pt x="3489" y="1060"/>
                  <a:pt x="3461" y="954"/>
                </a:cubicBezTo>
                <a:cubicBezTo>
                  <a:pt x="3433" y="853"/>
                  <a:pt x="3367" y="750"/>
                  <a:pt x="3270" y="651"/>
                </a:cubicBezTo>
                <a:cubicBezTo>
                  <a:pt x="3178" y="556"/>
                  <a:pt x="3057" y="465"/>
                  <a:pt x="2915" y="383"/>
                </a:cubicBezTo>
                <a:cubicBezTo>
                  <a:pt x="2778" y="303"/>
                  <a:pt x="2620" y="231"/>
                  <a:pt x="2446" y="171"/>
                </a:cubicBezTo>
                <a:cubicBezTo>
                  <a:pt x="2361" y="141"/>
                  <a:pt x="2275" y="116"/>
                  <a:pt x="2191" y="94"/>
                </a:cubicBezTo>
                <a:cubicBezTo>
                  <a:pt x="2107" y="73"/>
                  <a:pt x="2023" y="55"/>
                  <a:pt x="1941" y="41"/>
                </a:cubicBezTo>
                <a:cubicBezTo>
                  <a:pt x="1859" y="27"/>
                  <a:pt x="1779" y="17"/>
                  <a:pt x="1700" y="10"/>
                </a:cubicBezTo>
                <a:cubicBezTo>
                  <a:pt x="1621" y="3"/>
                  <a:pt x="1544" y="0"/>
                  <a:pt x="1469" y="0"/>
                </a:cubicBezTo>
              </a:path>
            </a:pathLst>
          </a:custGeom>
          <a:solidFill>
            <a:srgbClr val="FFFFFF">
              <a:alpha val="50000"/>
            </a:srgbClr>
          </a:solidFill>
          <a:ln>
            <a:noFill/>
          </a:ln>
          <a:effectLst/>
        </p:spPr>
        <p:txBody>
          <a:bodyPr vert="horz" wrap="square" lIns="114597" tIns="57299" rIns="114597" bIns="57299" numCol="1" anchor="t" anchorCtr="0" compatLnSpc="1"/>
          <a:lstStyle/>
          <a:p>
            <a:pPr>
              <a:defRPr>
                <a:latin typeface="微软雅黑"/>
                <a:ea typeface="微软雅黑"/>
                <a:cs typeface="微软雅黑"/>
              </a:defRPr>
            </a:pPr>
            <a:endParaRPr lang="en-US" sz="3010">
              <a:latin typeface="微软雅黑"/>
              <a:ea typeface="微软雅黑"/>
              <a:cs typeface="微软雅黑"/>
            </a:endParaRPr>
          </a:p>
        </p:txBody>
      </p:sp>
      <p:sp>
        <p:nvSpPr>
          <p:cNvPr id="24" name="Freeform 14"/>
          <p:cNvSpPr/>
          <p:nvPr/>
        </p:nvSpPr>
        <p:spPr bwMode="auto">
          <a:xfrm>
            <a:off x="1907199" y="3106102"/>
            <a:ext cx="2071562" cy="1590287"/>
          </a:xfrm>
          <a:custGeom>
            <a:avLst/>
            <a:gdLst>
              <a:gd name="T0" fmla="*/ 1625 w 3352"/>
              <a:gd name="T1" fmla="*/ 0 h 2572"/>
              <a:gd name="T2" fmla="*/ 1294 w 3352"/>
              <a:gd name="T3" fmla="*/ 85 h 2572"/>
              <a:gd name="T4" fmla="*/ 1119 w 3352"/>
              <a:gd name="T5" fmla="*/ 131 h 2572"/>
              <a:gd name="T6" fmla="*/ 1054 w 3352"/>
              <a:gd name="T7" fmla="*/ 147 h 2572"/>
              <a:gd name="T8" fmla="*/ 1045 w 3352"/>
              <a:gd name="T9" fmla="*/ 150 h 2572"/>
              <a:gd name="T10" fmla="*/ 854 w 3352"/>
              <a:gd name="T11" fmla="*/ 200 h 2572"/>
              <a:gd name="T12" fmla="*/ 755 w 3352"/>
              <a:gd name="T13" fmla="*/ 226 h 2572"/>
              <a:gd name="T14" fmla="*/ 718 w 3352"/>
              <a:gd name="T15" fmla="*/ 235 h 2572"/>
              <a:gd name="T16" fmla="*/ 712 w 3352"/>
              <a:gd name="T17" fmla="*/ 237 h 2572"/>
              <a:gd name="T18" fmla="*/ 402 w 3352"/>
              <a:gd name="T19" fmla="*/ 545 h 2572"/>
              <a:gd name="T20" fmla="*/ 163 w 3352"/>
              <a:gd name="T21" fmla="*/ 883 h 2572"/>
              <a:gd name="T22" fmla="*/ 26 w 3352"/>
              <a:gd name="T23" fmla="*/ 1242 h 2572"/>
              <a:gd name="T24" fmla="*/ 27 w 3352"/>
              <a:gd name="T25" fmla="*/ 1612 h 2572"/>
              <a:gd name="T26" fmla="*/ 227 w 3352"/>
              <a:gd name="T27" fmla="*/ 1999 h 2572"/>
              <a:gd name="T28" fmla="*/ 649 w 3352"/>
              <a:gd name="T29" fmla="*/ 2306 h 2572"/>
              <a:gd name="T30" fmla="*/ 1275 w 3352"/>
              <a:gd name="T31" fmla="*/ 2504 h 2572"/>
              <a:gd name="T32" fmla="*/ 2060 w 3352"/>
              <a:gd name="T33" fmla="*/ 2572 h 2572"/>
              <a:gd name="T34" fmla="*/ 2301 w 3352"/>
              <a:gd name="T35" fmla="*/ 2567 h 2572"/>
              <a:gd name="T36" fmla="*/ 2549 w 3352"/>
              <a:gd name="T37" fmla="*/ 2551 h 2572"/>
              <a:gd name="T38" fmla="*/ 2800 w 3352"/>
              <a:gd name="T39" fmla="*/ 2523 h 2572"/>
              <a:gd name="T40" fmla="*/ 3053 w 3352"/>
              <a:gd name="T41" fmla="*/ 2485 h 2572"/>
              <a:gd name="T42" fmla="*/ 2946 w 3352"/>
              <a:gd name="T43" fmla="*/ 2295 h 2572"/>
              <a:gd name="T44" fmla="*/ 2892 w 3352"/>
              <a:gd name="T45" fmla="*/ 2202 h 2572"/>
              <a:gd name="T46" fmla="*/ 2873 w 3352"/>
              <a:gd name="T47" fmla="*/ 2168 h 2572"/>
              <a:gd name="T48" fmla="*/ 2870 w 3352"/>
              <a:gd name="T49" fmla="*/ 2163 h 2572"/>
              <a:gd name="T50" fmla="*/ 2654 w 3352"/>
              <a:gd name="T51" fmla="*/ 1776 h 2572"/>
              <a:gd name="T52" fmla="*/ 2979 w 3352"/>
              <a:gd name="T53" fmla="*/ 1523 h 2572"/>
              <a:gd name="T54" fmla="*/ 3136 w 3352"/>
              <a:gd name="T55" fmla="*/ 1401 h 2572"/>
              <a:gd name="T56" fmla="*/ 3193 w 3352"/>
              <a:gd name="T57" fmla="*/ 1357 h 2572"/>
              <a:gd name="T58" fmla="*/ 3201 w 3352"/>
              <a:gd name="T59" fmla="*/ 1351 h 2572"/>
              <a:gd name="T60" fmla="*/ 3289 w 3352"/>
              <a:gd name="T61" fmla="*/ 1281 h 2572"/>
              <a:gd name="T62" fmla="*/ 3334 w 3352"/>
              <a:gd name="T63" fmla="*/ 1246 h 2572"/>
              <a:gd name="T64" fmla="*/ 3350 w 3352"/>
              <a:gd name="T65" fmla="*/ 1233 h 2572"/>
              <a:gd name="T66" fmla="*/ 3352 w 3352"/>
              <a:gd name="T67" fmla="*/ 1232 h 2572"/>
              <a:gd name="T68" fmla="*/ 3255 w 3352"/>
              <a:gd name="T69" fmla="*/ 1242 h 2572"/>
              <a:gd name="T70" fmla="*/ 3159 w 3352"/>
              <a:gd name="T71" fmla="*/ 1249 h 2572"/>
              <a:gd name="T72" fmla="*/ 3064 w 3352"/>
              <a:gd name="T73" fmla="*/ 1254 h 2572"/>
              <a:gd name="T74" fmla="*/ 2971 w 3352"/>
              <a:gd name="T75" fmla="*/ 1255 h 2572"/>
              <a:gd name="T76" fmla="*/ 2599 w 3352"/>
              <a:gd name="T77" fmla="*/ 1229 h 2572"/>
              <a:gd name="T78" fmla="*/ 2282 w 3352"/>
              <a:gd name="T79" fmla="*/ 1151 h 2572"/>
              <a:gd name="T80" fmla="*/ 2040 w 3352"/>
              <a:gd name="T81" fmla="*/ 1028 h 2572"/>
              <a:gd name="T82" fmla="*/ 1885 w 3352"/>
              <a:gd name="T83" fmla="*/ 864 h 2572"/>
              <a:gd name="T84" fmla="*/ 1827 w 3352"/>
              <a:gd name="T85" fmla="*/ 710 h 2572"/>
              <a:gd name="T86" fmla="*/ 1830 w 3352"/>
              <a:gd name="T87" fmla="*/ 552 h 2572"/>
              <a:gd name="T88" fmla="*/ 1886 w 3352"/>
              <a:gd name="T89" fmla="*/ 395 h 2572"/>
              <a:gd name="T90" fmla="*/ 1985 w 3352"/>
              <a:gd name="T91" fmla="*/ 241 h 2572"/>
              <a:gd name="T92" fmla="*/ 1910 w 3352"/>
              <a:gd name="T93" fmla="*/ 190 h 2572"/>
              <a:gd name="T94" fmla="*/ 1872 w 3352"/>
              <a:gd name="T95" fmla="*/ 164 h 2572"/>
              <a:gd name="T96" fmla="*/ 1858 w 3352"/>
              <a:gd name="T97" fmla="*/ 155 h 2572"/>
              <a:gd name="T98" fmla="*/ 1856 w 3352"/>
              <a:gd name="T99" fmla="*/ 154 h 2572"/>
              <a:gd name="T100" fmla="*/ 1720 w 3352"/>
              <a:gd name="T101" fmla="*/ 63 h 2572"/>
              <a:gd name="T102" fmla="*/ 1653 w 3352"/>
              <a:gd name="T103" fmla="*/ 18 h 2572"/>
              <a:gd name="T104" fmla="*/ 1628 w 3352"/>
              <a:gd name="T105" fmla="*/ 2 h 2572"/>
              <a:gd name="T106" fmla="*/ 1625 w 3352"/>
              <a:gd name="T107" fmla="*/ 0 h 2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52" h="2572">
                <a:moveTo>
                  <a:pt x="1625" y="0"/>
                </a:moveTo>
                <a:cubicBezTo>
                  <a:pt x="1483" y="36"/>
                  <a:pt x="1375" y="64"/>
                  <a:pt x="1294" y="85"/>
                </a:cubicBezTo>
                <a:cubicBezTo>
                  <a:pt x="1212" y="107"/>
                  <a:pt x="1156" y="121"/>
                  <a:pt x="1119" y="131"/>
                </a:cubicBezTo>
                <a:cubicBezTo>
                  <a:pt x="1082" y="140"/>
                  <a:pt x="1063" y="145"/>
                  <a:pt x="1054" y="147"/>
                </a:cubicBezTo>
                <a:cubicBezTo>
                  <a:pt x="1045" y="150"/>
                  <a:pt x="1045" y="150"/>
                  <a:pt x="1045" y="150"/>
                </a:cubicBezTo>
                <a:cubicBezTo>
                  <a:pt x="963" y="171"/>
                  <a:pt x="901" y="187"/>
                  <a:pt x="854" y="200"/>
                </a:cubicBezTo>
                <a:cubicBezTo>
                  <a:pt x="807" y="212"/>
                  <a:pt x="776" y="220"/>
                  <a:pt x="755" y="226"/>
                </a:cubicBezTo>
                <a:cubicBezTo>
                  <a:pt x="734" y="231"/>
                  <a:pt x="723" y="234"/>
                  <a:pt x="718" y="235"/>
                </a:cubicBezTo>
                <a:cubicBezTo>
                  <a:pt x="712" y="237"/>
                  <a:pt x="712" y="237"/>
                  <a:pt x="712" y="237"/>
                </a:cubicBezTo>
                <a:cubicBezTo>
                  <a:pt x="597" y="336"/>
                  <a:pt x="493" y="439"/>
                  <a:pt x="402" y="545"/>
                </a:cubicBezTo>
                <a:cubicBezTo>
                  <a:pt x="307" y="655"/>
                  <a:pt x="226" y="768"/>
                  <a:pt x="163" y="883"/>
                </a:cubicBezTo>
                <a:cubicBezTo>
                  <a:pt x="97" y="1002"/>
                  <a:pt x="50" y="1123"/>
                  <a:pt x="26" y="1242"/>
                </a:cubicBezTo>
                <a:cubicBezTo>
                  <a:pt x="1" y="1368"/>
                  <a:pt x="0" y="1492"/>
                  <a:pt x="27" y="1612"/>
                </a:cubicBezTo>
                <a:cubicBezTo>
                  <a:pt x="58" y="1754"/>
                  <a:pt x="125" y="1884"/>
                  <a:pt x="227" y="1999"/>
                </a:cubicBezTo>
                <a:cubicBezTo>
                  <a:pt x="333" y="2119"/>
                  <a:pt x="475" y="2221"/>
                  <a:pt x="649" y="2306"/>
                </a:cubicBezTo>
                <a:cubicBezTo>
                  <a:pt x="828" y="2393"/>
                  <a:pt x="1038" y="2459"/>
                  <a:pt x="1275" y="2504"/>
                </a:cubicBezTo>
                <a:cubicBezTo>
                  <a:pt x="1515" y="2550"/>
                  <a:pt x="1779" y="2572"/>
                  <a:pt x="2060" y="2572"/>
                </a:cubicBezTo>
                <a:cubicBezTo>
                  <a:pt x="2139" y="2572"/>
                  <a:pt x="2220" y="2571"/>
                  <a:pt x="2301" y="2567"/>
                </a:cubicBezTo>
                <a:cubicBezTo>
                  <a:pt x="2383" y="2563"/>
                  <a:pt x="2465" y="2558"/>
                  <a:pt x="2549" y="2551"/>
                </a:cubicBezTo>
                <a:cubicBezTo>
                  <a:pt x="2632" y="2543"/>
                  <a:pt x="2716" y="2534"/>
                  <a:pt x="2800" y="2523"/>
                </a:cubicBezTo>
                <a:cubicBezTo>
                  <a:pt x="2884" y="2512"/>
                  <a:pt x="2969" y="2500"/>
                  <a:pt x="3053" y="2485"/>
                </a:cubicBezTo>
                <a:cubicBezTo>
                  <a:pt x="3006" y="2402"/>
                  <a:pt x="2971" y="2341"/>
                  <a:pt x="2946" y="2295"/>
                </a:cubicBezTo>
                <a:cubicBezTo>
                  <a:pt x="2920" y="2251"/>
                  <a:pt x="2903" y="2221"/>
                  <a:pt x="2892" y="2202"/>
                </a:cubicBezTo>
                <a:cubicBezTo>
                  <a:pt x="2881" y="2182"/>
                  <a:pt x="2876" y="2173"/>
                  <a:pt x="2873" y="2168"/>
                </a:cubicBezTo>
                <a:cubicBezTo>
                  <a:pt x="2870" y="2163"/>
                  <a:pt x="2870" y="2163"/>
                  <a:pt x="2870" y="2163"/>
                </a:cubicBezTo>
                <a:cubicBezTo>
                  <a:pt x="2654" y="1776"/>
                  <a:pt x="2654" y="1776"/>
                  <a:pt x="2654" y="1776"/>
                </a:cubicBezTo>
                <a:cubicBezTo>
                  <a:pt x="2798" y="1664"/>
                  <a:pt x="2902" y="1583"/>
                  <a:pt x="2979" y="1523"/>
                </a:cubicBezTo>
                <a:cubicBezTo>
                  <a:pt x="3054" y="1465"/>
                  <a:pt x="3104" y="1426"/>
                  <a:pt x="3136" y="1401"/>
                </a:cubicBezTo>
                <a:cubicBezTo>
                  <a:pt x="3169" y="1376"/>
                  <a:pt x="3185" y="1364"/>
                  <a:pt x="3193" y="1357"/>
                </a:cubicBezTo>
                <a:cubicBezTo>
                  <a:pt x="3201" y="1351"/>
                  <a:pt x="3201" y="1351"/>
                  <a:pt x="3201" y="1351"/>
                </a:cubicBezTo>
                <a:cubicBezTo>
                  <a:pt x="3239" y="1321"/>
                  <a:pt x="3268" y="1298"/>
                  <a:pt x="3289" y="1281"/>
                </a:cubicBezTo>
                <a:cubicBezTo>
                  <a:pt x="3310" y="1265"/>
                  <a:pt x="3324" y="1254"/>
                  <a:pt x="3334" y="1246"/>
                </a:cubicBezTo>
                <a:cubicBezTo>
                  <a:pt x="3343" y="1239"/>
                  <a:pt x="3348" y="1235"/>
                  <a:pt x="3350" y="1233"/>
                </a:cubicBezTo>
                <a:cubicBezTo>
                  <a:pt x="3352" y="1232"/>
                  <a:pt x="3352" y="1232"/>
                  <a:pt x="3352" y="1232"/>
                </a:cubicBezTo>
                <a:cubicBezTo>
                  <a:pt x="3320" y="1235"/>
                  <a:pt x="3288" y="1239"/>
                  <a:pt x="3255" y="1242"/>
                </a:cubicBezTo>
                <a:cubicBezTo>
                  <a:pt x="3223" y="1245"/>
                  <a:pt x="3191" y="1247"/>
                  <a:pt x="3159" y="1249"/>
                </a:cubicBezTo>
                <a:cubicBezTo>
                  <a:pt x="3127" y="1251"/>
                  <a:pt x="3096" y="1253"/>
                  <a:pt x="3064" y="1254"/>
                </a:cubicBezTo>
                <a:cubicBezTo>
                  <a:pt x="3033" y="1255"/>
                  <a:pt x="3002" y="1255"/>
                  <a:pt x="2971" y="1255"/>
                </a:cubicBezTo>
                <a:cubicBezTo>
                  <a:pt x="2840" y="1255"/>
                  <a:pt x="2715" y="1246"/>
                  <a:pt x="2599" y="1229"/>
                </a:cubicBezTo>
                <a:cubicBezTo>
                  <a:pt x="2483" y="1211"/>
                  <a:pt x="2377" y="1185"/>
                  <a:pt x="2282" y="1151"/>
                </a:cubicBezTo>
                <a:cubicBezTo>
                  <a:pt x="2189" y="1118"/>
                  <a:pt x="2108" y="1076"/>
                  <a:pt x="2040" y="1028"/>
                </a:cubicBezTo>
                <a:cubicBezTo>
                  <a:pt x="1974" y="980"/>
                  <a:pt x="1921" y="925"/>
                  <a:pt x="1885" y="864"/>
                </a:cubicBezTo>
                <a:cubicBezTo>
                  <a:pt x="1855" y="814"/>
                  <a:pt x="1836" y="763"/>
                  <a:pt x="1827" y="710"/>
                </a:cubicBezTo>
                <a:cubicBezTo>
                  <a:pt x="1819" y="658"/>
                  <a:pt x="1820" y="605"/>
                  <a:pt x="1830" y="552"/>
                </a:cubicBezTo>
                <a:cubicBezTo>
                  <a:pt x="1841" y="500"/>
                  <a:pt x="1859" y="447"/>
                  <a:pt x="1886" y="395"/>
                </a:cubicBezTo>
                <a:cubicBezTo>
                  <a:pt x="1912" y="343"/>
                  <a:pt x="1945" y="292"/>
                  <a:pt x="1985" y="241"/>
                </a:cubicBezTo>
                <a:cubicBezTo>
                  <a:pt x="1953" y="219"/>
                  <a:pt x="1928" y="202"/>
                  <a:pt x="1910" y="190"/>
                </a:cubicBezTo>
                <a:cubicBezTo>
                  <a:pt x="1892" y="178"/>
                  <a:pt x="1880" y="170"/>
                  <a:pt x="1872" y="164"/>
                </a:cubicBezTo>
                <a:cubicBezTo>
                  <a:pt x="1864" y="159"/>
                  <a:pt x="1860" y="156"/>
                  <a:pt x="1858" y="155"/>
                </a:cubicBezTo>
                <a:cubicBezTo>
                  <a:pt x="1856" y="154"/>
                  <a:pt x="1856" y="154"/>
                  <a:pt x="1856" y="154"/>
                </a:cubicBezTo>
                <a:cubicBezTo>
                  <a:pt x="1797" y="114"/>
                  <a:pt x="1753" y="85"/>
                  <a:pt x="1720" y="63"/>
                </a:cubicBezTo>
                <a:cubicBezTo>
                  <a:pt x="1688" y="42"/>
                  <a:pt x="1667" y="28"/>
                  <a:pt x="1653" y="18"/>
                </a:cubicBezTo>
                <a:cubicBezTo>
                  <a:pt x="1639" y="9"/>
                  <a:pt x="1632" y="4"/>
                  <a:pt x="1628" y="2"/>
                </a:cubicBezTo>
                <a:cubicBezTo>
                  <a:pt x="1625" y="0"/>
                  <a:pt x="1625" y="0"/>
                  <a:pt x="1625" y="0"/>
                </a:cubicBezTo>
              </a:path>
            </a:pathLst>
          </a:custGeom>
          <a:gradFill>
            <a:gsLst>
              <a:gs pos="0">
                <a:srgbClr val="3368FF"/>
              </a:gs>
              <a:gs pos="100000">
                <a:srgbClr val="3368FF"/>
              </a:gs>
            </a:gsLst>
            <a:lin ang="5400000" scaled="0"/>
          </a:gradFill>
          <a:ln w="19050" cap="flat" cmpd="sng" algn="ctr">
            <a:solidFill>
              <a:srgbClr val="FFFFFF"/>
            </a:solidFill>
            <a:prstDash val="solid"/>
            <a:miter lim="800000"/>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5" name="Rectangle 74"/>
          <p:cNvSpPr/>
          <p:nvPr/>
        </p:nvSpPr>
        <p:spPr>
          <a:xfrm>
            <a:off x="3430795" y="3023103"/>
            <a:ext cx="1420497" cy="384175"/>
          </a:xfrm>
          <a:prstGeom prst="rect">
            <a:avLst/>
          </a:prstGeom>
          <a:effectLst/>
        </p:spPr>
        <p:txBody>
          <a:bodyPr wrap="square" lIns="0" tIns="0" rIns="0" bIns="0" anchor="ctr">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精准触达</a:t>
            </a:r>
            <a:endParaRPr lang="en-US" sz="14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流量获取与客户转化</a:t>
            </a:r>
            <a:endParaRPr lang="zh-CN" altLang="en-US" sz="1100" dirty="0">
              <a:solidFill>
                <a:srgbClr val="0042FF"/>
              </a:solidFill>
              <a:latin typeface="微软雅黑"/>
              <a:ea typeface="微软雅黑"/>
              <a:cs typeface="微软雅黑"/>
            </a:endParaRPr>
          </a:p>
        </p:txBody>
      </p:sp>
      <p:sp>
        <p:nvSpPr>
          <p:cNvPr id="26" name="Rectangle 75"/>
          <p:cNvSpPr/>
          <p:nvPr/>
        </p:nvSpPr>
        <p:spPr>
          <a:xfrm>
            <a:off x="7473568" y="3023323"/>
            <a:ext cx="1420497" cy="384175"/>
          </a:xfrm>
          <a:prstGeom prst="rect">
            <a:avLst/>
          </a:prstGeom>
          <a:effectLst/>
        </p:spPr>
        <p:txBody>
          <a:bodyPr wrap="square" lIns="0" tIns="0" rIns="0" bIns="0" anchor="ctr">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提升忠诚</a:t>
            </a:r>
            <a:endParaRPr lang="en-US" altLang="zh-CN" sz="14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100" dirty="0">
                <a:solidFill>
                  <a:srgbClr val="0042FF"/>
                </a:solidFill>
                <a:latin typeface="微软雅黑"/>
                <a:ea typeface="微软雅黑"/>
                <a:cs typeface="微软雅黑"/>
              </a:rPr>
              <a:t>消费洞察与价值创造</a:t>
            </a:r>
            <a:endParaRPr lang="zh-CN" altLang="en-US" sz="1100" dirty="0">
              <a:solidFill>
                <a:srgbClr val="0042FF"/>
              </a:solidFill>
              <a:latin typeface="微软雅黑"/>
              <a:ea typeface="微软雅黑"/>
              <a:cs typeface="微软雅黑"/>
            </a:endParaRPr>
          </a:p>
        </p:txBody>
      </p:sp>
      <p:cxnSp>
        <p:nvCxnSpPr>
          <p:cNvPr id="27" name="Straight Connector 80"/>
          <p:cNvCxnSpPr/>
          <p:nvPr/>
        </p:nvCxnSpPr>
        <p:spPr>
          <a:xfrm flipH="1">
            <a:off x="5230531" y="3926237"/>
            <a:ext cx="1" cy="763002"/>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cxnSp>
        <p:nvCxnSpPr>
          <p:cNvPr id="31" name="Straight Connector 92"/>
          <p:cNvCxnSpPr/>
          <p:nvPr/>
        </p:nvCxnSpPr>
        <p:spPr>
          <a:xfrm>
            <a:off x="3735114" y="1816361"/>
            <a:ext cx="0" cy="829310"/>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cxnSp>
        <p:nvCxnSpPr>
          <p:cNvPr id="33" name="Straight Connector 103"/>
          <p:cNvCxnSpPr/>
          <p:nvPr/>
        </p:nvCxnSpPr>
        <p:spPr>
          <a:xfrm>
            <a:off x="5679954" y="2114852"/>
            <a:ext cx="0" cy="715645"/>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cxnSp>
        <p:nvCxnSpPr>
          <p:cNvPr id="35" name="Straight Connector 107"/>
          <p:cNvCxnSpPr/>
          <p:nvPr/>
        </p:nvCxnSpPr>
        <p:spPr>
          <a:xfrm>
            <a:off x="7593896" y="4116298"/>
            <a:ext cx="0" cy="543560"/>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cxnSp>
        <p:nvCxnSpPr>
          <p:cNvPr id="37" name="Straight Connector 111"/>
          <p:cNvCxnSpPr/>
          <p:nvPr/>
        </p:nvCxnSpPr>
        <p:spPr>
          <a:xfrm>
            <a:off x="9948655" y="2769298"/>
            <a:ext cx="0" cy="1031240"/>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cxnSp>
        <p:nvCxnSpPr>
          <p:cNvPr id="39" name="Straight Connector 115"/>
          <p:cNvCxnSpPr/>
          <p:nvPr/>
        </p:nvCxnSpPr>
        <p:spPr>
          <a:xfrm flipH="1">
            <a:off x="8709749" y="1678905"/>
            <a:ext cx="1" cy="1004830"/>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cxnSp>
        <p:nvCxnSpPr>
          <p:cNvPr id="41" name="Straight Connector 119"/>
          <p:cNvCxnSpPr/>
          <p:nvPr/>
        </p:nvCxnSpPr>
        <p:spPr>
          <a:xfrm>
            <a:off x="6984258" y="1645056"/>
            <a:ext cx="3810" cy="1009015"/>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sp>
        <p:nvSpPr>
          <p:cNvPr id="542" name="椭圆 541"/>
          <p:cNvSpPr/>
          <p:nvPr/>
        </p:nvSpPr>
        <p:spPr>
          <a:xfrm>
            <a:off x="5530720" y="2720988"/>
            <a:ext cx="306291" cy="30629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r>
              <a:rPr lang="en-US" altLang="zh-CN" sz="1100" b="1">
                <a:solidFill>
                  <a:srgbClr val="0042FF"/>
                </a:solidFill>
                <a:latin typeface="微软雅黑"/>
                <a:ea typeface="微软雅黑"/>
                <a:cs typeface="微软雅黑"/>
              </a:rPr>
              <a:t>4</a:t>
            </a:r>
            <a:endParaRPr lang="en-US" altLang="zh-CN" sz="1100" b="1">
              <a:solidFill>
                <a:srgbClr val="0042FF"/>
              </a:solidFill>
              <a:latin typeface="微软雅黑"/>
              <a:ea typeface="微软雅黑"/>
              <a:cs typeface="微软雅黑"/>
            </a:endParaRPr>
          </a:p>
        </p:txBody>
      </p:sp>
      <p:sp>
        <p:nvSpPr>
          <p:cNvPr id="543" name="椭圆 542"/>
          <p:cNvSpPr/>
          <p:nvPr/>
        </p:nvSpPr>
        <p:spPr>
          <a:xfrm>
            <a:off x="5033932" y="3549311"/>
            <a:ext cx="386874" cy="386874"/>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r>
              <a:rPr lang="en-US" altLang="zh-CN" sz="1600" b="1" dirty="0">
                <a:solidFill>
                  <a:srgbClr val="0042FF"/>
                </a:solidFill>
                <a:latin typeface="微软雅黑"/>
                <a:ea typeface="微软雅黑"/>
                <a:cs typeface="微软雅黑"/>
              </a:rPr>
              <a:t>1</a:t>
            </a:r>
            <a:endParaRPr lang="en-US" altLang="zh-CN" sz="1600" b="1" dirty="0">
              <a:solidFill>
                <a:srgbClr val="0042FF"/>
              </a:solidFill>
              <a:latin typeface="微软雅黑"/>
              <a:ea typeface="微软雅黑"/>
              <a:cs typeface="微软雅黑"/>
            </a:endParaRPr>
          </a:p>
        </p:txBody>
      </p:sp>
      <p:sp>
        <p:nvSpPr>
          <p:cNvPr id="544" name="椭圆 543"/>
          <p:cNvSpPr/>
          <p:nvPr/>
        </p:nvSpPr>
        <p:spPr>
          <a:xfrm>
            <a:off x="2176717" y="3813980"/>
            <a:ext cx="451601" cy="45160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r>
              <a:rPr lang="en-US" altLang="zh-CN" sz="2400" b="1">
                <a:solidFill>
                  <a:srgbClr val="0042FF"/>
                </a:solidFill>
                <a:latin typeface="微软雅黑"/>
                <a:ea typeface="微软雅黑"/>
                <a:cs typeface="微软雅黑"/>
              </a:rPr>
              <a:t>2</a:t>
            </a:r>
            <a:endParaRPr lang="en-US" altLang="zh-CN" sz="2400" b="1">
              <a:solidFill>
                <a:srgbClr val="0042FF"/>
              </a:solidFill>
              <a:latin typeface="微软雅黑"/>
              <a:ea typeface="微软雅黑"/>
              <a:cs typeface="微软雅黑"/>
            </a:endParaRPr>
          </a:p>
        </p:txBody>
      </p:sp>
      <p:sp>
        <p:nvSpPr>
          <p:cNvPr id="546" name="椭圆 545"/>
          <p:cNvSpPr/>
          <p:nvPr/>
        </p:nvSpPr>
        <p:spPr>
          <a:xfrm>
            <a:off x="3636629" y="2606261"/>
            <a:ext cx="211835" cy="211835"/>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b="1">
                <a:solidFill>
                  <a:srgbClr val="0042FF"/>
                </a:solidFill>
                <a:latin typeface="微软雅黑"/>
                <a:ea typeface="微软雅黑"/>
                <a:cs typeface="微软雅黑"/>
              </a:rPr>
              <a:t>3</a:t>
            </a:r>
            <a:endParaRPr lang="en-US" altLang="zh-CN" sz="1000" b="1">
              <a:solidFill>
                <a:srgbClr val="0042FF"/>
              </a:solidFill>
              <a:latin typeface="微软雅黑"/>
              <a:ea typeface="微软雅黑"/>
              <a:cs typeface="微软雅黑"/>
            </a:endParaRPr>
          </a:p>
        </p:txBody>
      </p:sp>
      <p:sp>
        <p:nvSpPr>
          <p:cNvPr id="547" name="椭圆 546"/>
          <p:cNvSpPr/>
          <p:nvPr/>
        </p:nvSpPr>
        <p:spPr>
          <a:xfrm>
            <a:off x="7439215" y="3828873"/>
            <a:ext cx="306291" cy="30629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r>
              <a:rPr lang="en-US" altLang="zh-CN" sz="1100" b="1">
                <a:solidFill>
                  <a:srgbClr val="0042FF"/>
                </a:solidFill>
                <a:latin typeface="微软雅黑"/>
                <a:ea typeface="微软雅黑"/>
                <a:cs typeface="微软雅黑"/>
              </a:rPr>
              <a:t>5</a:t>
            </a:r>
            <a:endParaRPr lang="en-US" altLang="zh-CN" sz="1100" b="1">
              <a:solidFill>
                <a:srgbClr val="0042FF"/>
              </a:solidFill>
              <a:latin typeface="微软雅黑"/>
              <a:ea typeface="微软雅黑"/>
              <a:cs typeface="微软雅黑"/>
            </a:endParaRPr>
          </a:p>
        </p:txBody>
      </p:sp>
      <p:sp>
        <p:nvSpPr>
          <p:cNvPr id="549" name="椭圆 548"/>
          <p:cNvSpPr/>
          <p:nvPr/>
        </p:nvSpPr>
        <p:spPr>
          <a:xfrm>
            <a:off x="9586949" y="3717798"/>
            <a:ext cx="414615" cy="414615"/>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r>
              <a:rPr lang="en-US" altLang="zh-CN" sz="2070" b="1" dirty="0">
                <a:solidFill>
                  <a:srgbClr val="0042FF"/>
                </a:solidFill>
                <a:latin typeface="微软雅黑"/>
                <a:ea typeface="微软雅黑"/>
                <a:cs typeface="微软雅黑"/>
              </a:rPr>
              <a:t>6</a:t>
            </a:r>
            <a:endParaRPr lang="en-US" altLang="zh-CN" sz="2070" b="1" dirty="0">
              <a:solidFill>
                <a:srgbClr val="0042FF"/>
              </a:solidFill>
              <a:latin typeface="微软雅黑"/>
              <a:ea typeface="微软雅黑"/>
              <a:cs typeface="微软雅黑"/>
            </a:endParaRPr>
          </a:p>
        </p:txBody>
      </p:sp>
      <p:sp>
        <p:nvSpPr>
          <p:cNvPr id="550" name="椭圆 549"/>
          <p:cNvSpPr/>
          <p:nvPr/>
        </p:nvSpPr>
        <p:spPr>
          <a:xfrm>
            <a:off x="8602898" y="2620790"/>
            <a:ext cx="211835" cy="211835"/>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latin typeface="微软雅黑"/>
                <a:ea typeface="微软雅黑"/>
                <a:cs typeface="微软雅黑"/>
              </a:defRPr>
              <a:lnSpc>
                <a:spcPts val="1120"/>
              </a:lnSpc>
              <a:spcBef>
                <a:spcPts val="0"/>
              </a:spcBef>
              <a:spcAft>
                <a:spcPts val="0"/>
              </a:spcAft>
            </a:pPr>
            <a:r>
              <a:rPr lang="en-US" altLang="zh-CN" sz="1000" b="1" dirty="0">
                <a:solidFill>
                  <a:srgbClr val="0042FF"/>
                </a:solidFill>
                <a:latin typeface="微软雅黑"/>
                <a:ea typeface="微软雅黑"/>
                <a:cs typeface="微软雅黑"/>
              </a:rPr>
              <a:t>7</a:t>
            </a:r>
            <a:endParaRPr lang="en-US" altLang="zh-CN" sz="1000" b="1" dirty="0">
              <a:solidFill>
                <a:srgbClr val="0042FF"/>
              </a:solidFill>
              <a:latin typeface="微软雅黑"/>
              <a:ea typeface="微软雅黑"/>
              <a:cs typeface="微软雅黑"/>
            </a:endParaRPr>
          </a:p>
        </p:txBody>
      </p:sp>
      <p:sp>
        <p:nvSpPr>
          <p:cNvPr id="553" name="椭圆 552"/>
          <p:cNvSpPr/>
          <p:nvPr/>
        </p:nvSpPr>
        <p:spPr>
          <a:xfrm>
            <a:off x="6850374" y="2608173"/>
            <a:ext cx="274323" cy="274323"/>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r>
              <a:rPr lang="en-US" altLang="zh-CN" sz="1130" b="1">
                <a:solidFill>
                  <a:srgbClr val="0042FF"/>
                </a:solidFill>
                <a:latin typeface="微软雅黑"/>
                <a:ea typeface="微软雅黑"/>
                <a:cs typeface="微软雅黑"/>
              </a:rPr>
              <a:t>8</a:t>
            </a:r>
            <a:endParaRPr lang="en-US" altLang="zh-CN" sz="1130" b="1">
              <a:solidFill>
                <a:srgbClr val="0042FF"/>
              </a:solidFill>
              <a:latin typeface="微软雅黑"/>
              <a:ea typeface="微软雅黑"/>
              <a:cs typeface="微软雅黑"/>
            </a:endParaRPr>
          </a:p>
        </p:txBody>
      </p:sp>
      <p:grpSp>
        <p:nvGrpSpPr>
          <p:cNvPr id="159" name="组合 158"/>
          <p:cNvGrpSpPr/>
          <p:nvPr/>
        </p:nvGrpSpPr>
        <p:grpSpPr>
          <a:xfrm>
            <a:off x="316230" y="4469765"/>
            <a:ext cx="183515" cy="183515"/>
            <a:chOff x="5734988" y="949771"/>
            <a:chExt cx="347205" cy="347205"/>
          </a:xfrm>
        </p:grpSpPr>
        <p:sp>
          <p:nvSpPr>
            <p:cNvPr id="160" name="椭圆 159"/>
            <p:cNvSpPr/>
            <p:nvPr/>
          </p:nvSpPr>
          <p:spPr>
            <a:xfrm>
              <a:off x="5734988" y="949771"/>
              <a:ext cx="347205" cy="347205"/>
            </a:xfrm>
            <a:prstGeom prst="ellipse">
              <a:avLst/>
            </a:prstGeom>
            <a:solidFill>
              <a:srgbClr val="0042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61"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sp>
        <p:nvSpPr>
          <p:cNvPr id="163" name="小红书30"/>
          <p:cNvSpPr/>
          <p:nvPr/>
        </p:nvSpPr>
        <p:spPr>
          <a:xfrm>
            <a:off x="3807460" y="5256530"/>
            <a:ext cx="2578735" cy="773430"/>
          </a:xfrm>
          <a:prstGeom prst="roundRect">
            <a:avLst>
              <a:gd name="adj" fmla="val 6749"/>
            </a:avLst>
          </a:prstGeom>
          <a:solidFill>
            <a:srgbClr val="E6E6E6">
              <a:alpha val="20000"/>
            </a:srgbClr>
          </a:solidFill>
          <a:ln w="12700" cap="flat" cmpd="sng" algn="ctr">
            <a:solidFill>
              <a:srgbClr val="0042FF"/>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64" name="文本框 163"/>
          <p:cNvSpPr txBox="1"/>
          <p:nvPr/>
        </p:nvSpPr>
        <p:spPr>
          <a:xfrm>
            <a:off x="4196595" y="4704178"/>
            <a:ext cx="1783080" cy="553085"/>
          </a:xfrm>
          <a:prstGeom prst="rect">
            <a:avLst/>
          </a:prstGeom>
          <a:noFill/>
        </p:spPr>
        <p:txBody>
          <a:bodyPr wrap="none">
            <a:spAutoFit/>
          </a:bodyPr>
          <a:lstStyle/>
          <a:p>
            <a:pPr algn="ctr">
              <a:defRPr>
                <a:latin typeface="微软雅黑"/>
                <a:ea typeface="微软雅黑"/>
                <a:cs typeface="微软雅黑"/>
              </a:defRPr>
            </a:pPr>
            <a:r>
              <a:rPr lang="zh-CN" sz="1600" b="1" dirty="0">
                <a:solidFill>
                  <a:srgbClr val="0042FF"/>
                </a:solidFill>
                <a:latin typeface="微软雅黑"/>
                <a:ea typeface="微软雅黑"/>
                <a:cs typeface="微软雅黑"/>
              </a:rPr>
              <a:t>用户需求</a:t>
            </a:r>
            <a:endParaRPr lang="zh-CN"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明确需求与触达场景</a:t>
            </a:r>
            <a:endParaRPr lang="zh-CN" altLang="en-US" sz="1400" dirty="0">
              <a:solidFill>
                <a:srgbClr val="383838"/>
              </a:solidFill>
              <a:latin typeface="微软雅黑"/>
              <a:ea typeface="微软雅黑"/>
              <a:cs typeface="微软雅黑"/>
            </a:endParaRPr>
          </a:p>
        </p:txBody>
      </p:sp>
      <p:sp>
        <p:nvSpPr>
          <p:cNvPr id="43" name="对话气泡: 矩形 42"/>
          <p:cNvSpPr/>
          <p:nvPr/>
        </p:nvSpPr>
        <p:spPr>
          <a:xfrm>
            <a:off x="354965" y="1081405"/>
            <a:ext cx="2580640" cy="946785"/>
          </a:xfrm>
          <a:prstGeom prst="wedgeRectCallout">
            <a:avLst>
              <a:gd name="adj1" fmla="val 61572"/>
              <a:gd name="adj2" fmla="val -8428"/>
            </a:avLst>
          </a:prstGeom>
          <a:solidFill>
            <a:srgbClr val="FFFFFF"/>
          </a:solidFill>
          <a:ln w="19050">
            <a:solidFill>
              <a:srgbClr val="0042FF"/>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47" name="对话气泡: 矩形 46"/>
          <p:cNvSpPr/>
          <p:nvPr/>
        </p:nvSpPr>
        <p:spPr>
          <a:xfrm>
            <a:off x="433070" y="3091815"/>
            <a:ext cx="1198880" cy="1235710"/>
          </a:xfrm>
          <a:prstGeom prst="wedgeRectCallout">
            <a:avLst>
              <a:gd name="adj1" fmla="val 43114"/>
              <a:gd name="adj2" fmla="val -69630"/>
            </a:avLst>
          </a:prstGeom>
          <a:solidFill>
            <a:srgbClr val="0042FF"/>
          </a:solidFill>
          <a:ln w="12700" cap="flat" cmpd="sng" algn="ctr">
            <a:solidFill>
              <a:srgbClr val="0042FF"/>
            </a:solidFill>
            <a:prstDash val="solid"/>
            <a:miter lim="800000"/>
          </a:ln>
          <a:effectLst/>
        </p:spPr>
        <p:txBody>
          <a:bodyPr lIns="0" tIns="0" rIns="0" bIns="0" rtlCol="0" anchor="ctr">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en-US" noProof="0" dirty="0">
              <a:ln>
                <a:noFill/>
              </a:ln>
              <a:solidFill>
                <a:srgbClr val="FFFFFF"/>
              </a:solidFill>
              <a:effectLst/>
              <a:uLnTx/>
              <a:uFillTx/>
              <a:latin typeface="微软雅黑"/>
              <a:ea typeface="微软雅黑"/>
              <a:cs typeface="微软雅黑"/>
              <a:sym typeface="微软雅黑"/>
            </a:endParaRPr>
          </a:p>
        </p:txBody>
      </p:sp>
      <p:sp>
        <p:nvSpPr>
          <p:cNvPr id="51" name="对话气泡: 矩形 50"/>
          <p:cNvSpPr/>
          <p:nvPr/>
        </p:nvSpPr>
        <p:spPr>
          <a:xfrm flipH="1">
            <a:off x="9594927" y="1045112"/>
            <a:ext cx="2224970" cy="983556"/>
          </a:xfrm>
          <a:prstGeom prst="wedgeRectCallout">
            <a:avLst>
              <a:gd name="adj1" fmla="val 61572"/>
              <a:gd name="adj2" fmla="val -8428"/>
            </a:avLst>
          </a:prstGeom>
          <a:solidFill>
            <a:srgbClr val="3368FF"/>
          </a:solidFill>
          <a:ln w="35814">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52" name="对话气泡: 矩形 51"/>
          <p:cNvSpPr/>
          <p:nvPr/>
        </p:nvSpPr>
        <p:spPr>
          <a:xfrm>
            <a:off x="4476115" y="1035685"/>
            <a:ext cx="1623060" cy="458470"/>
          </a:xfrm>
          <a:prstGeom prst="wedgeRectCallout">
            <a:avLst>
              <a:gd name="adj1" fmla="val -137"/>
              <a:gd name="adj2" fmla="val 71496"/>
            </a:avLst>
          </a:prstGeom>
          <a:solidFill>
            <a:srgbClr val="E6E6E6"/>
          </a:solidFill>
          <a:ln w="15875">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8" name="矩形: 圆角 56"/>
          <p:cNvSpPr/>
          <p:nvPr/>
        </p:nvSpPr>
        <p:spPr>
          <a:xfrm>
            <a:off x="442914" y="6149948"/>
            <a:ext cx="11306174" cy="381797"/>
          </a:xfrm>
          <a:prstGeom prst="roundRect">
            <a:avLst>
              <a:gd name="adj" fmla="val 0"/>
            </a:avLst>
          </a:prstGeom>
          <a:solidFill>
            <a:srgbClr val="0042FF"/>
          </a:solidFill>
          <a:ln w="1905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spc="100" dirty="0">
                <a:solidFill>
                  <a:srgbClr val="FFFFFF"/>
                </a:solidFill>
                <a:latin typeface="微软雅黑"/>
                <a:ea typeface="微软雅黑"/>
                <a:cs typeface="微软雅黑"/>
              </a:rPr>
              <a:t>围绕精准触达和提升忠诚两大核心目标，构建的互联网消费者行为洞察框架</a:t>
            </a:r>
            <a:endParaRPr lang="zh-CN" altLang="en-US" sz="1400" spc="100" dirty="0">
              <a:solidFill>
                <a:srgbClr val="FFFFFF"/>
              </a:solidFill>
              <a:latin typeface="微软雅黑"/>
              <a:ea typeface="微软雅黑"/>
              <a:cs typeface="微软雅黑"/>
            </a:endParaRPr>
          </a:p>
        </p:txBody>
      </p:sp>
      <p:sp>
        <p:nvSpPr>
          <p:cNvPr id="28" name="文本框 27"/>
          <p:cNvSpPr txBox="1"/>
          <p:nvPr/>
        </p:nvSpPr>
        <p:spPr>
          <a:xfrm>
            <a:off x="3125350" y="1272638"/>
            <a:ext cx="1249680" cy="553085"/>
          </a:xfrm>
          <a:prstGeom prst="rect">
            <a:avLst/>
          </a:prstGeom>
          <a:noFill/>
        </p:spPr>
        <p:txBody>
          <a:bodyPr wrap="none">
            <a:spAutoFit/>
          </a:bodyPr>
          <a:lstStyle/>
          <a:p>
            <a:pPr algn="ctr">
              <a:defRPr>
                <a:latin typeface="微软雅黑"/>
                <a:ea typeface="微软雅黑"/>
                <a:cs typeface="微软雅黑"/>
              </a:defRPr>
            </a:pPr>
            <a:r>
              <a:rPr lang="zh-CN" sz="1600" b="1" dirty="0">
                <a:solidFill>
                  <a:srgbClr val="0042FF"/>
                </a:solidFill>
                <a:latin typeface="微软雅黑"/>
                <a:ea typeface="微软雅黑"/>
                <a:cs typeface="微软雅黑"/>
              </a:rPr>
              <a:t>用户分群</a:t>
            </a:r>
            <a:endParaRPr lang="zh-CN"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生成客户画像</a:t>
            </a:r>
            <a:endParaRPr lang="zh-CN" altLang="en-US" sz="1400" dirty="0">
              <a:solidFill>
                <a:srgbClr val="383838"/>
              </a:solidFill>
              <a:latin typeface="微软雅黑"/>
              <a:ea typeface="微软雅黑"/>
              <a:cs typeface="微软雅黑"/>
            </a:endParaRPr>
          </a:p>
        </p:txBody>
      </p:sp>
      <p:sp>
        <p:nvSpPr>
          <p:cNvPr id="30" name="文本框 29"/>
          <p:cNvSpPr txBox="1"/>
          <p:nvPr/>
        </p:nvSpPr>
        <p:spPr>
          <a:xfrm>
            <a:off x="433070" y="1313815"/>
            <a:ext cx="2453640" cy="645160"/>
          </a:xfrm>
          <a:prstGeom prst="rect">
            <a:avLst/>
          </a:prstGeom>
          <a:noFill/>
        </p:spPr>
        <p:txBody>
          <a:bodyPr wrap="square" lIns="0" rIns="0" tIns="0" bIns="0" anchor="t">
            <a:noAutofit/>
          </a:bodyPr>
          <a:lstStyle/>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价值分层：</a:t>
            </a:r>
            <a:r>
              <a:rPr lang="en-US" altLang="zh-CN" sz="1000" dirty="0">
                <a:solidFill>
                  <a:srgbClr val="383838"/>
                </a:solidFill>
                <a:latin typeface="微软雅黑"/>
                <a:ea typeface="微软雅黑"/>
                <a:cs typeface="微软雅黑"/>
              </a:rPr>
              <a:t>RFM</a:t>
            </a:r>
            <a:r>
              <a:rPr lang="zh-CN" altLang="en-US" sz="1000" dirty="0">
                <a:solidFill>
                  <a:srgbClr val="383838"/>
                </a:solidFill>
                <a:latin typeface="微软雅黑"/>
                <a:ea typeface="微软雅黑"/>
                <a:cs typeface="微软雅黑"/>
              </a:rPr>
              <a:t>模型；</a:t>
            </a:r>
            <a:endParaRPr lang="en-US" altLang="zh-CN"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行为聚类：</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冲动型</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与</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理性比价者</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场景定向：如</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母婴类用户</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晚</a:t>
            </a:r>
            <a:r>
              <a:rPr lang="en-US" altLang="zh-CN" sz="1000" dirty="0">
                <a:solidFill>
                  <a:srgbClr val="383838"/>
                </a:solidFill>
                <a:latin typeface="微软雅黑"/>
                <a:ea typeface="微软雅黑"/>
                <a:cs typeface="微软雅黑"/>
              </a:rPr>
              <a:t>8</a:t>
            </a:r>
            <a:r>
              <a:rPr lang="zh-CN" altLang="en-US" sz="1000" dirty="0">
                <a:solidFill>
                  <a:srgbClr val="383838"/>
                </a:solidFill>
                <a:latin typeface="微软雅黑"/>
                <a:ea typeface="微软雅黑"/>
                <a:cs typeface="微软雅黑"/>
              </a:rPr>
              <a:t>点后活跃</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关注奶粉折扣</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cxnSp>
        <p:nvCxnSpPr>
          <p:cNvPr id="32" name="Straight Connector 84"/>
          <p:cNvCxnSpPr/>
          <p:nvPr/>
        </p:nvCxnSpPr>
        <p:spPr>
          <a:xfrm>
            <a:off x="2379712" y="2683804"/>
            <a:ext cx="0" cy="1166495"/>
          </a:xfrm>
          <a:prstGeom prst="line">
            <a:avLst/>
          </a:prstGeom>
          <a:ln w="5969">
            <a:solidFill>
              <a:srgbClr val="DCDCDC"/>
            </a:solidFill>
          </a:ln>
          <a:effectLst/>
        </p:spPr>
        <p:style>
          <a:lnRef idx="1">
            <a:srgbClr val="0042FF"/>
          </a:lnRef>
          <a:fillRef idx="0">
            <a:srgbClr val="0042FF"/>
          </a:fillRef>
          <a:effectRef idx="0">
            <a:srgbClr val="0042FF"/>
          </a:effectRef>
          <a:fontRef idx="minor">
            <a:srgbClr val="383838"/>
          </a:fontRef>
        </p:style>
      </p:cxnSp>
      <p:sp>
        <p:nvSpPr>
          <p:cNvPr id="34" name="文本框 33"/>
          <p:cNvSpPr txBox="1"/>
          <p:nvPr/>
        </p:nvSpPr>
        <p:spPr>
          <a:xfrm>
            <a:off x="1098430" y="2291178"/>
            <a:ext cx="1249680" cy="553085"/>
          </a:xfrm>
          <a:prstGeom prst="rect">
            <a:avLst/>
          </a:prstGeom>
          <a:noFill/>
        </p:spPr>
        <p:txBody>
          <a:bodyPr wrap="none">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数据整合</a:t>
            </a:r>
            <a:endParaRPr lang="zh-CN" altLang="en-US"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构建用户标签</a:t>
            </a:r>
            <a:endParaRPr lang="zh-CN" altLang="en-US" sz="1400" dirty="0">
              <a:solidFill>
                <a:srgbClr val="383838"/>
              </a:solidFill>
              <a:latin typeface="微软雅黑"/>
              <a:ea typeface="微软雅黑"/>
              <a:cs typeface="微软雅黑"/>
            </a:endParaRPr>
          </a:p>
        </p:txBody>
      </p:sp>
      <p:sp>
        <p:nvSpPr>
          <p:cNvPr id="11" name="Rectangle 88"/>
          <p:cNvSpPr/>
          <p:nvPr/>
        </p:nvSpPr>
        <p:spPr>
          <a:xfrm>
            <a:off x="543560" y="4486910"/>
            <a:ext cx="1456055"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sz="1110" dirty="0">
                <a:solidFill>
                  <a:srgbClr val="0042FF"/>
                </a:solidFill>
                <a:latin typeface="微软雅黑"/>
                <a:ea typeface="微软雅黑"/>
                <a:cs typeface="微软雅黑"/>
              </a:rPr>
              <a:t>静态标签：</a:t>
            </a:r>
            <a:r>
              <a:rPr lang="zh-CN" sz="1110" dirty="0">
                <a:solidFill>
                  <a:srgbClr val="383838"/>
                </a:solidFill>
                <a:latin typeface="微软雅黑"/>
                <a:ea typeface="微软雅黑"/>
                <a:cs typeface="微软雅黑"/>
              </a:rPr>
              <a:t>性别、年龄</a:t>
            </a:r>
            <a:endParaRPr lang="zh-CN" sz="1110" dirty="0">
              <a:solidFill>
                <a:srgbClr val="383838"/>
              </a:solidFill>
              <a:latin typeface="微软雅黑"/>
              <a:ea typeface="微软雅黑"/>
              <a:cs typeface="微软雅黑"/>
            </a:endParaRPr>
          </a:p>
        </p:txBody>
      </p:sp>
      <p:sp>
        <p:nvSpPr>
          <p:cNvPr id="512" name="Rectangle 88"/>
          <p:cNvSpPr/>
          <p:nvPr/>
        </p:nvSpPr>
        <p:spPr>
          <a:xfrm>
            <a:off x="543560" y="4782185"/>
            <a:ext cx="1630045"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sz="1110" dirty="0">
                <a:solidFill>
                  <a:srgbClr val="0042FF"/>
                </a:solidFill>
                <a:latin typeface="微软雅黑"/>
                <a:ea typeface="微软雅黑"/>
                <a:cs typeface="微软雅黑"/>
              </a:rPr>
              <a:t>动态标签：</a:t>
            </a:r>
            <a:r>
              <a:rPr lang="zh-CN" sz="1110" dirty="0">
                <a:solidFill>
                  <a:srgbClr val="383838"/>
                </a:solidFill>
                <a:latin typeface="微软雅黑"/>
                <a:ea typeface="微软雅黑"/>
                <a:cs typeface="微软雅黑"/>
              </a:rPr>
              <a:t>浏览、加购</a:t>
            </a:r>
            <a:endParaRPr lang="zh-CN" sz="1110" dirty="0">
              <a:solidFill>
                <a:srgbClr val="383838"/>
              </a:solidFill>
              <a:latin typeface="微软雅黑"/>
              <a:ea typeface="微软雅黑"/>
              <a:cs typeface="微软雅黑"/>
            </a:endParaRPr>
          </a:p>
        </p:txBody>
      </p:sp>
      <p:sp>
        <p:nvSpPr>
          <p:cNvPr id="517" name="Rectangle 88"/>
          <p:cNvSpPr/>
          <p:nvPr/>
        </p:nvSpPr>
        <p:spPr>
          <a:xfrm>
            <a:off x="543560" y="5077460"/>
            <a:ext cx="1775460"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sz="1110" dirty="0">
                <a:solidFill>
                  <a:srgbClr val="0042FF"/>
                </a:solidFill>
                <a:latin typeface="微软雅黑"/>
                <a:ea typeface="微软雅黑"/>
                <a:cs typeface="微软雅黑"/>
              </a:rPr>
              <a:t>场景标签：</a:t>
            </a:r>
            <a:r>
              <a:rPr lang="zh-CN" sz="1110" dirty="0">
                <a:solidFill>
                  <a:srgbClr val="383838"/>
                </a:solidFill>
                <a:latin typeface="微软雅黑"/>
                <a:ea typeface="微软雅黑"/>
                <a:cs typeface="微软雅黑"/>
              </a:rPr>
              <a:t>活跃时段、活动</a:t>
            </a:r>
            <a:endParaRPr lang="zh-CN" sz="1110" dirty="0">
              <a:solidFill>
                <a:srgbClr val="383838"/>
              </a:solidFill>
              <a:latin typeface="微软雅黑"/>
              <a:ea typeface="微软雅黑"/>
              <a:cs typeface="微软雅黑"/>
            </a:endParaRPr>
          </a:p>
        </p:txBody>
      </p:sp>
      <p:sp>
        <p:nvSpPr>
          <p:cNvPr id="524" name="Rectangle 88"/>
          <p:cNvSpPr/>
          <p:nvPr/>
        </p:nvSpPr>
        <p:spPr>
          <a:xfrm>
            <a:off x="543560" y="5372735"/>
            <a:ext cx="1984375"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sz="1110" dirty="0">
                <a:solidFill>
                  <a:srgbClr val="0042FF"/>
                </a:solidFill>
                <a:latin typeface="微软雅黑"/>
                <a:ea typeface="微软雅黑"/>
                <a:cs typeface="微软雅黑"/>
              </a:rPr>
              <a:t>兴趣标签：</a:t>
            </a:r>
            <a:r>
              <a:rPr lang="zh-CN" sz="1110" dirty="0">
                <a:solidFill>
                  <a:srgbClr val="383838"/>
                </a:solidFill>
                <a:latin typeface="微软雅黑"/>
                <a:ea typeface="微软雅黑"/>
                <a:cs typeface="微软雅黑"/>
              </a:rPr>
              <a:t>品类、价位区间</a:t>
            </a:r>
            <a:endParaRPr lang="zh-CN" altLang="zh-CN" sz="1110" dirty="0">
              <a:solidFill>
                <a:srgbClr val="383838"/>
              </a:solidFill>
              <a:latin typeface="微软雅黑"/>
              <a:ea typeface="微软雅黑"/>
              <a:cs typeface="微软雅黑"/>
            </a:endParaRPr>
          </a:p>
        </p:txBody>
      </p:sp>
      <p:sp>
        <p:nvSpPr>
          <p:cNvPr id="40" name="文本框 39"/>
          <p:cNvSpPr txBox="1"/>
          <p:nvPr/>
        </p:nvSpPr>
        <p:spPr>
          <a:xfrm>
            <a:off x="479425" y="3210560"/>
            <a:ext cx="1073785" cy="1014730"/>
          </a:xfrm>
          <a:prstGeom prst="rect">
            <a:avLst/>
          </a:prstGeom>
          <a:noFill/>
        </p:spPr>
        <p:txBody>
          <a:bodyPr wrap="square" lIns="0" rIns="0" tIns="0" bIns="0">
            <a:spAutoFit/>
          </a:bodyPr>
          <a:lstStyle/>
          <a:p>
            <a:pPr indent="0" algn="l">
              <a:buFont typeface="微软雅黑"/>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通过</a:t>
            </a:r>
            <a:r>
              <a:rPr lang="en-US" altLang="zh-CN" sz="1000" dirty="0">
                <a:solidFill>
                  <a:srgbClr val="FFFFFF"/>
                </a:solidFill>
                <a:latin typeface="微软雅黑"/>
                <a:ea typeface="微软雅黑"/>
                <a:cs typeface="微软雅黑"/>
              </a:rPr>
              <a:t>CDP</a:t>
            </a:r>
            <a:r>
              <a:rPr lang="zh-CN" altLang="en-US" sz="1000" dirty="0">
                <a:solidFill>
                  <a:srgbClr val="FFFFFF"/>
                </a:solidFill>
                <a:latin typeface="微软雅黑"/>
                <a:ea typeface="微软雅黑"/>
                <a:cs typeface="微软雅黑"/>
              </a:rPr>
              <a:t>（客户数据平台）整合数据，从而</a:t>
            </a:r>
            <a:endParaRPr lang="zh-CN" altLang="en-US" sz="1000" dirty="0">
              <a:solidFill>
                <a:srgbClr val="FFFFFF"/>
              </a:solidFill>
              <a:latin typeface="微软雅黑"/>
              <a:ea typeface="微软雅黑"/>
              <a:cs typeface="微软雅黑"/>
            </a:endParaRPr>
          </a:p>
          <a:p>
            <a:pPr indent="0" algn="l">
              <a:buFont typeface="微软雅黑"/>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聚合多源数据，构建用户标签体系。</a:t>
            </a:r>
            <a:endParaRPr lang="zh-CN" altLang="en-US" sz="1000" dirty="0">
              <a:solidFill>
                <a:srgbClr val="FFFFFF"/>
              </a:solidFill>
              <a:latin typeface="微软雅黑"/>
              <a:ea typeface="微软雅黑"/>
              <a:cs typeface="微软雅黑"/>
            </a:endParaRPr>
          </a:p>
        </p:txBody>
      </p:sp>
      <p:sp>
        <p:nvSpPr>
          <p:cNvPr id="42" name="文本框 41"/>
          <p:cNvSpPr txBox="1"/>
          <p:nvPr/>
        </p:nvSpPr>
        <p:spPr>
          <a:xfrm>
            <a:off x="850145" y="1094203"/>
            <a:ext cx="1249680" cy="306705"/>
          </a:xfrm>
          <a:prstGeom prst="rect">
            <a:avLst/>
          </a:prstGeom>
          <a:noFill/>
        </p:spPr>
        <p:txBody>
          <a:bodyPr wrap="none">
            <a:spAutoFit/>
          </a:bodyPr>
          <a:lstStyle/>
          <a:p>
            <a:pPr algn="ctr">
              <a:defRPr>
                <a:latin typeface="微软雅黑"/>
                <a:ea typeface="微软雅黑"/>
                <a:cs typeface="微软雅黑"/>
              </a:defRPr>
            </a:pPr>
            <a:r>
              <a:rPr lang="zh-CN" sz="1400" dirty="0">
                <a:solidFill>
                  <a:srgbClr val="0042FF"/>
                </a:solidFill>
                <a:latin typeface="微软雅黑"/>
                <a:ea typeface="微软雅黑"/>
                <a:cs typeface="微软雅黑"/>
              </a:rPr>
              <a:t>用户画像看板</a:t>
            </a:r>
            <a:endParaRPr lang="zh-CN" altLang="en-US" sz="1400" dirty="0">
              <a:solidFill>
                <a:srgbClr val="0042FF"/>
              </a:solidFill>
              <a:latin typeface="微软雅黑"/>
              <a:ea typeface="微软雅黑"/>
              <a:cs typeface="微软雅黑"/>
            </a:endParaRPr>
          </a:p>
        </p:txBody>
      </p:sp>
      <p:sp>
        <p:nvSpPr>
          <p:cNvPr id="44" name="小红书30"/>
          <p:cNvSpPr/>
          <p:nvPr/>
        </p:nvSpPr>
        <p:spPr>
          <a:xfrm>
            <a:off x="6554470" y="5234305"/>
            <a:ext cx="2578735" cy="773430"/>
          </a:xfrm>
          <a:prstGeom prst="roundRect">
            <a:avLst>
              <a:gd name="adj" fmla="val 6749"/>
            </a:avLst>
          </a:prstGeom>
          <a:solidFill>
            <a:srgbClr val="FFFFFF">
              <a:alpha val="20000"/>
            </a:srgbClr>
          </a:solidFill>
          <a:ln w="12700" cap="flat" cmpd="sng" algn="ctr">
            <a:solidFill>
              <a:srgbClr val="3368FF"/>
            </a:solidFill>
            <a:prstDash val="dash"/>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r>
              <a:rPr lang="en-US" noProof="0" dirty="0">
                <a:ln>
                  <a:noFill/>
                </a:ln>
                <a:solidFill>
                  <a:srgbClr val="383838"/>
                </a:solidFill>
                <a:effectLst/>
                <a:uLnTx/>
                <a:uFillTx/>
                <a:latin typeface="微软雅黑"/>
                <a:ea typeface="微软雅黑"/>
                <a:cs typeface="微软雅黑"/>
                <a:sym typeface="微软雅黑"/>
              </a:rPr>
              <a:t>.</a:t>
            </a:r>
            <a:endParaRPr lang="en-US" noProof="0" dirty="0">
              <a:ln>
                <a:noFill/>
              </a:ln>
              <a:solidFill>
                <a:srgbClr val="383838"/>
              </a:solidFill>
              <a:effectLst/>
              <a:uLnTx/>
              <a:uFillTx/>
              <a:latin typeface="微软雅黑"/>
              <a:ea typeface="微软雅黑"/>
              <a:cs typeface="微软雅黑"/>
              <a:sym typeface="微软雅黑"/>
            </a:endParaRPr>
          </a:p>
        </p:txBody>
      </p:sp>
      <p:sp>
        <p:nvSpPr>
          <p:cNvPr id="45" name="文本框 44"/>
          <p:cNvSpPr txBox="1"/>
          <p:nvPr/>
        </p:nvSpPr>
        <p:spPr>
          <a:xfrm>
            <a:off x="6803905" y="4681953"/>
            <a:ext cx="1783080" cy="553085"/>
          </a:xfrm>
          <a:prstGeom prst="rect">
            <a:avLst/>
          </a:prstGeom>
          <a:noFill/>
        </p:spPr>
        <p:txBody>
          <a:bodyPr wrap="none">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用户行为</a:t>
            </a:r>
            <a:endParaRPr lang="en-US" altLang="zh-CN"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关键节点与体验断点</a:t>
            </a:r>
            <a:endParaRPr lang="zh-CN" altLang="en-US" sz="1400" dirty="0">
              <a:solidFill>
                <a:srgbClr val="383838"/>
              </a:solidFill>
              <a:latin typeface="微软雅黑"/>
              <a:ea typeface="微软雅黑"/>
              <a:cs typeface="微软雅黑"/>
            </a:endParaRPr>
          </a:p>
        </p:txBody>
      </p:sp>
      <p:sp>
        <p:nvSpPr>
          <p:cNvPr id="46" name="文本框 45"/>
          <p:cNvSpPr txBox="1"/>
          <p:nvPr/>
        </p:nvSpPr>
        <p:spPr>
          <a:xfrm>
            <a:off x="3868420" y="5370830"/>
            <a:ext cx="2400300" cy="553085"/>
          </a:xfrm>
          <a:prstGeom prst="rect">
            <a:avLst/>
          </a:prstGeom>
          <a:noFill/>
        </p:spPr>
        <p:txBody>
          <a:bodyPr wrap="square" lIns="0" rIns="0" tIns="0" bIns="0">
            <a:spAutoFit/>
          </a:bodyPr>
          <a:lstStyle/>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需求挖掘：通过搜索关键词分析、社交媒体话题识别用户痛点。</a:t>
            </a:r>
            <a:endParaRPr lang="zh-CN" altLang="en-US"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场景划分：确定用户高频触达场景。</a:t>
            </a:r>
            <a:endParaRPr lang="zh-CN" altLang="en-US" sz="1000" dirty="0">
              <a:solidFill>
                <a:srgbClr val="383838"/>
              </a:solidFill>
              <a:latin typeface="微软雅黑"/>
              <a:ea typeface="微软雅黑"/>
              <a:cs typeface="微软雅黑"/>
            </a:endParaRPr>
          </a:p>
        </p:txBody>
      </p:sp>
      <p:sp>
        <p:nvSpPr>
          <p:cNvPr id="48" name="文本框 47"/>
          <p:cNvSpPr txBox="1"/>
          <p:nvPr/>
        </p:nvSpPr>
        <p:spPr>
          <a:xfrm>
            <a:off x="6644005" y="5300980"/>
            <a:ext cx="2400300" cy="706755"/>
          </a:xfrm>
          <a:prstGeom prst="rect">
            <a:avLst/>
          </a:prstGeom>
          <a:noFill/>
        </p:spPr>
        <p:txBody>
          <a:bodyPr wrap="square" lIns="0" rIns="0" tIns="0" bIns="0">
            <a:spAutoFit/>
          </a:bodyPr>
          <a:lstStyle/>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漏斗分析：监测从</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浏览</a:t>
            </a:r>
            <a:r>
              <a:rPr lang="en-US" altLang="en-US"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加购</a:t>
            </a:r>
            <a:r>
              <a:rPr lang="en-US" altLang="en-US"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支付</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的转化率，定位流失环节。</a:t>
            </a:r>
            <a:endParaRPr lang="zh-CN" altLang="en-US" sz="10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rPr>
              <a:t>归因分析：首次点击</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末次点击归因分析，识别影响复购的核心渠道。</a:t>
            </a:r>
            <a:endParaRPr lang="zh-CN" altLang="en-US" sz="1000" dirty="0">
              <a:solidFill>
                <a:srgbClr val="383838"/>
              </a:solidFill>
              <a:latin typeface="微软雅黑"/>
              <a:ea typeface="微软雅黑"/>
              <a:cs typeface="微软雅黑"/>
            </a:endParaRPr>
          </a:p>
        </p:txBody>
      </p:sp>
      <p:grpSp>
        <p:nvGrpSpPr>
          <p:cNvPr id="49" name="组合 48"/>
          <p:cNvGrpSpPr/>
          <p:nvPr/>
        </p:nvGrpSpPr>
        <p:grpSpPr>
          <a:xfrm>
            <a:off x="316230" y="4760595"/>
            <a:ext cx="183515" cy="183515"/>
            <a:chOff x="5734988" y="949771"/>
            <a:chExt cx="347205" cy="347205"/>
          </a:xfrm>
        </p:grpSpPr>
        <p:sp>
          <p:nvSpPr>
            <p:cNvPr id="50" name="椭圆 49"/>
            <p:cNvSpPr/>
            <p:nvPr/>
          </p:nvSpPr>
          <p:spPr>
            <a:xfrm>
              <a:off x="5734988" y="949771"/>
              <a:ext cx="347205" cy="347205"/>
            </a:xfrm>
            <a:prstGeom prst="ellipse">
              <a:avLst/>
            </a:prstGeom>
            <a:solidFill>
              <a:srgbClr val="0042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54"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12" name="组合 11"/>
          <p:cNvGrpSpPr/>
          <p:nvPr/>
        </p:nvGrpSpPr>
        <p:grpSpPr>
          <a:xfrm>
            <a:off x="316230" y="5051425"/>
            <a:ext cx="183515" cy="183515"/>
            <a:chOff x="5734988" y="949771"/>
            <a:chExt cx="347205" cy="347205"/>
          </a:xfrm>
        </p:grpSpPr>
        <p:sp>
          <p:nvSpPr>
            <p:cNvPr id="13" name="椭圆 12"/>
            <p:cNvSpPr/>
            <p:nvPr/>
          </p:nvSpPr>
          <p:spPr>
            <a:xfrm>
              <a:off x="5734988" y="949771"/>
              <a:ext cx="347205" cy="347205"/>
            </a:xfrm>
            <a:prstGeom prst="ellipse">
              <a:avLst/>
            </a:prstGeom>
            <a:solidFill>
              <a:srgbClr val="0042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4"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16" name="组合 15"/>
          <p:cNvGrpSpPr/>
          <p:nvPr/>
        </p:nvGrpSpPr>
        <p:grpSpPr>
          <a:xfrm>
            <a:off x="316230" y="5342255"/>
            <a:ext cx="183515" cy="183515"/>
            <a:chOff x="5734988" y="949771"/>
            <a:chExt cx="347205" cy="347205"/>
          </a:xfrm>
        </p:grpSpPr>
        <p:sp>
          <p:nvSpPr>
            <p:cNvPr id="18" name="椭圆 17"/>
            <p:cNvSpPr/>
            <p:nvPr/>
          </p:nvSpPr>
          <p:spPr>
            <a:xfrm>
              <a:off x="5734988" y="949771"/>
              <a:ext cx="347205" cy="347205"/>
            </a:xfrm>
            <a:prstGeom prst="ellipse">
              <a:avLst/>
            </a:prstGeom>
            <a:solidFill>
              <a:srgbClr val="0042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9"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grpSp>
      <p:sp>
        <p:nvSpPr>
          <p:cNvPr id="20" name="对话气泡: 矩形 46"/>
          <p:cNvSpPr/>
          <p:nvPr/>
        </p:nvSpPr>
        <p:spPr>
          <a:xfrm>
            <a:off x="10690860" y="3091815"/>
            <a:ext cx="1198880" cy="1235710"/>
          </a:xfrm>
          <a:prstGeom prst="wedgeRectCallout">
            <a:avLst>
              <a:gd name="adj1" fmla="val -54343"/>
              <a:gd name="adj2" fmla="val -80729"/>
            </a:avLst>
          </a:prstGeom>
          <a:solidFill>
            <a:srgbClr val="FFFFFF"/>
          </a:solidFill>
          <a:ln w="19050" cap="flat" cmpd="sng" algn="ctr">
            <a:solidFill>
              <a:srgbClr val="3368FF"/>
            </a:solidFill>
            <a:prstDash val="solid"/>
            <a:miter lim="800000"/>
          </a:ln>
          <a:effectLst/>
        </p:spPr>
        <p:txBody>
          <a:bodyPr lIns="0" tIns="0" rIns="0" bIns="0" rtlCol="0" anchor="ctr">
            <a:noAutofit/>
          </a:bodyPr>
          <a:lstStyle/>
          <a:p>
            <a:pPr lvl="0" algn="ctr">
              <a:spcBef>
                <a:spcPts val="0"/>
              </a:spcBef>
              <a:spcAft>
                <a:spcPts val="0"/>
              </a:spcAft>
              <a:buClrTx/>
              <a:buSzTx/>
              <a:buFontTx/>
              <a:defRPr>
                <a:latin typeface="微软雅黑"/>
                <a:ea typeface="微软雅黑"/>
                <a:cs typeface="微软雅黑"/>
              </a:defRPr>
            </a:pPr>
            <a:endParaRPr lang="en-US" noProof="0" dirty="0">
              <a:ln>
                <a:noFill/>
              </a:ln>
              <a:solidFill>
                <a:srgbClr val="383838"/>
              </a:solidFill>
              <a:effectLst/>
              <a:uLnTx/>
              <a:uFillTx/>
              <a:latin typeface="微软雅黑"/>
              <a:ea typeface="微软雅黑"/>
              <a:cs typeface="微软雅黑"/>
              <a:sym typeface="微软雅黑"/>
            </a:endParaRPr>
          </a:p>
        </p:txBody>
      </p:sp>
      <p:sp>
        <p:nvSpPr>
          <p:cNvPr id="21" name="文本框 20"/>
          <p:cNvSpPr txBox="1"/>
          <p:nvPr/>
        </p:nvSpPr>
        <p:spPr>
          <a:xfrm>
            <a:off x="9348350" y="2173068"/>
            <a:ext cx="1605280" cy="553085"/>
          </a:xfrm>
          <a:prstGeom prst="rect">
            <a:avLst/>
          </a:prstGeom>
          <a:noFill/>
        </p:spPr>
        <p:txBody>
          <a:bodyPr wrap="square">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情感洞察</a:t>
            </a:r>
            <a:endParaRPr lang="en-US" altLang="zh-CN"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深层需求挖掘</a:t>
            </a:r>
            <a:endParaRPr lang="zh-CN" altLang="en-US" sz="1400" dirty="0">
              <a:solidFill>
                <a:srgbClr val="383838"/>
              </a:solidFill>
              <a:latin typeface="微软雅黑"/>
              <a:ea typeface="微软雅黑"/>
              <a:cs typeface="微软雅黑"/>
            </a:endParaRPr>
          </a:p>
        </p:txBody>
      </p:sp>
      <p:sp>
        <p:nvSpPr>
          <p:cNvPr id="29" name="文本框 28"/>
          <p:cNvSpPr txBox="1"/>
          <p:nvPr/>
        </p:nvSpPr>
        <p:spPr>
          <a:xfrm>
            <a:off x="10746105" y="3213735"/>
            <a:ext cx="1073785" cy="1014730"/>
          </a:xfrm>
          <a:prstGeom prst="rect">
            <a:avLst/>
          </a:prstGeom>
          <a:noFill/>
        </p:spPr>
        <p:txBody>
          <a:bodyPr wrap="square" lIns="0" rIns="0" tIns="0" bIns="0">
            <a:spAutoFit/>
          </a:bodyPr>
          <a:lstStyle/>
          <a:p>
            <a:pPr indent="0" algn="l">
              <a:buFont typeface="微软雅黑"/>
              <a:buNone/>
              <a:defRPr>
                <a:latin typeface="微软雅黑"/>
                <a:ea typeface="微软雅黑"/>
                <a:cs typeface="微软雅黑"/>
              </a:defRPr>
            </a:pPr>
            <a:r>
              <a:rPr lang="zh-CN" altLang="en-US" sz="1000" dirty="0">
                <a:solidFill>
                  <a:srgbClr val="0042FF"/>
                </a:solidFill>
                <a:latin typeface="微软雅黑"/>
                <a:ea typeface="微软雅黑"/>
                <a:cs typeface="微软雅黑"/>
              </a:rPr>
              <a:t>通过挖掘用户未表达的隐性需求与情感倾向，形成用户需求矩阵（显性需求</a:t>
            </a:r>
            <a:r>
              <a:rPr lang="en-US" altLang="zh-CN" sz="1000" dirty="0">
                <a:solidFill>
                  <a:srgbClr val="0042FF"/>
                </a:solidFill>
                <a:latin typeface="微软雅黑"/>
                <a:ea typeface="微软雅黑"/>
                <a:cs typeface="微软雅黑"/>
              </a:rPr>
              <a:t>vs</a:t>
            </a:r>
            <a:r>
              <a:rPr lang="zh-CN" altLang="en-US" sz="1000" dirty="0">
                <a:solidFill>
                  <a:srgbClr val="0042FF"/>
                </a:solidFill>
                <a:latin typeface="微软雅黑"/>
                <a:ea typeface="微软雅黑"/>
                <a:cs typeface="微软雅黑"/>
              </a:rPr>
              <a:t>隐性需求）。</a:t>
            </a:r>
            <a:endParaRPr lang="zh-CN" altLang="en-US" sz="1000" dirty="0">
              <a:solidFill>
                <a:srgbClr val="0042FF"/>
              </a:solidFill>
              <a:latin typeface="微软雅黑"/>
              <a:ea typeface="微软雅黑"/>
              <a:cs typeface="微软雅黑"/>
            </a:endParaRPr>
          </a:p>
        </p:txBody>
      </p:sp>
      <p:grpSp>
        <p:nvGrpSpPr>
          <p:cNvPr id="36" name="组合 35"/>
          <p:cNvGrpSpPr/>
          <p:nvPr/>
        </p:nvGrpSpPr>
        <p:grpSpPr>
          <a:xfrm>
            <a:off x="10270490" y="4566285"/>
            <a:ext cx="183515" cy="183515"/>
            <a:chOff x="5734988" y="949771"/>
            <a:chExt cx="347205" cy="347205"/>
          </a:xfrm>
        </p:grpSpPr>
        <p:sp>
          <p:nvSpPr>
            <p:cNvPr id="38" name="椭圆 37"/>
            <p:cNvSpPr/>
            <p:nvPr/>
          </p:nvSpPr>
          <p:spPr>
            <a:xfrm>
              <a:off x="5734988" y="949771"/>
              <a:ext cx="347205" cy="347205"/>
            </a:xfrm>
            <a:prstGeom prst="ellipse">
              <a:avLst/>
            </a:prstGeom>
            <a:solidFill>
              <a:srgbClr val="3368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53"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grpSp>
      <p:sp>
        <p:nvSpPr>
          <p:cNvPr id="56" name="Rectangle 88"/>
          <p:cNvSpPr/>
          <p:nvPr/>
        </p:nvSpPr>
        <p:spPr>
          <a:xfrm>
            <a:off x="10497820" y="4583430"/>
            <a:ext cx="1456055"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altLang="en-US" sz="1110" dirty="0">
                <a:solidFill>
                  <a:srgbClr val="0042FF"/>
                </a:solidFill>
                <a:latin typeface="微软雅黑"/>
                <a:ea typeface="微软雅黑"/>
                <a:cs typeface="微软雅黑"/>
              </a:rPr>
              <a:t>情感分析</a:t>
            </a:r>
            <a:r>
              <a:rPr lang="zh-CN" sz="1110" dirty="0">
                <a:solidFill>
                  <a:srgbClr val="0042FF"/>
                </a:solidFill>
                <a:latin typeface="微软雅黑"/>
                <a:ea typeface="微软雅黑"/>
                <a:cs typeface="微软雅黑"/>
              </a:rPr>
              <a:t>：</a:t>
            </a:r>
            <a:r>
              <a:rPr lang="en-US" altLang="zh-CN" sz="1110" dirty="0">
                <a:solidFill>
                  <a:srgbClr val="383838"/>
                </a:solidFill>
                <a:latin typeface="微软雅黑"/>
                <a:ea typeface="微软雅黑"/>
                <a:cs typeface="微软雅黑"/>
              </a:rPr>
              <a:t>NLP</a:t>
            </a:r>
            <a:r>
              <a:rPr lang="zh-CN" altLang="en-US" sz="1110" dirty="0">
                <a:solidFill>
                  <a:srgbClr val="383838"/>
                </a:solidFill>
                <a:latin typeface="微软雅黑"/>
                <a:ea typeface="微软雅黑"/>
                <a:cs typeface="微软雅黑"/>
              </a:rPr>
              <a:t>解析</a:t>
            </a:r>
            <a:endParaRPr lang="zh-CN" altLang="en-US" sz="1110" dirty="0">
              <a:solidFill>
                <a:srgbClr val="383838"/>
              </a:solidFill>
              <a:latin typeface="微软雅黑"/>
              <a:ea typeface="微软雅黑"/>
              <a:cs typeface="微软雅黑"/>
            </a:endParaRPr>
          </a:p>
        </p:txBody>
      </p:sp>
      <p:sp>
        <p:nvSpPr>
          <p:cNvPr id="113" name="Rectangle 88"/>
          <p:cNvSpPr/>
          <p:nvPr/>
        </p:nvSpPr>
        <p:spPr>
          <a:xfrm>
            <a:off x="10497820" y="4878705"/>
            <a:ext cx="1630045"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sz="1110" dirty="0">
                <a:solidFill>
                  <a:srgbClr val="0042FF"/>
                </a:solidFill>
                <a:latin typeface="微软雅黑"/>
                <a:ea typeface="微软雅黑"/>
                <a:cs typeface="微软雅黑"/>
              </a:rPr>
              <a:t>行为关联：</a:t>
            </a:r>
            <a:r>
              <a:rPr lang="zh-CN" sz="1110" dirty="0">
                <a:solidFill>
                  <a:srgbClr val="383838"/>
                </a:solidFill>
                <a:latin typeface="微软雅黑"/>
                <a:ea typeface="微软雅黑"/>
                <a:cs typeface="微软雅黑"/>
              </a:rPr>
              <a:t>购物</a:t>
            </a:r>
            <a:r>
              <a:rPr lang="en-US" altLang="zh-CN" sz="1110" dirty="0">
                <a:solidFill>
                  <a:srgbClr val="383838"/>
                </a:solidFill>
                <a:latin typeface="微软雅黑"/>
                <a:ea typeface="微软雅黑"/>
                <a:cs typeface="微软雅黑"/>
              </a:rPr>
              <a:t>     </a:t>
            </a:r>
            <a:r>
              <a:rPr lang="zh-CN" sz="1110" dirty="0">
                <a:solidFill>
                  <a:srgbClr val="383838"/>
                </a:solidFill>
                <a:latin typeface="微软雅黑"/>
                <a:ea typeface="微软雅黑"/>
                <a:cs typeface="微软雅黑"/>
              </a:rPr>
              <a:t>浏览</a:t>
            </a:r>
            <a:endParaRPr lang="zh-CN" sz="1110" dirty="0">
              <a:solidFill>
                <a:srgbClr val="383838"/>
              </a:solidFill>
              <a:latin typeface="微软雅黑"/>
              <a:ea typeface="微软雅黑"/>
              <a:cs typeface="微软雅黑"/>
            </a:endParaRPr>
          </a:p>
        </p:txBody>
      </p:sp>
      <p:sp>
        <p:nvSpPr>
          <p:cNvPr id="155" name="Rectangle 88"/>
          <p:cNvSpPr/>
          <p:nvPr/>
        </p:nvSpPr>
        <p:spPr>
          <a:xfrm>
            <a:off x="10497820" y="5173980"/>
            <a:ext cx="1775460"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sz="1110" dirty="0">
                <a:solidFill>
                  <a:srgbClr val="0042FF"/>
                </a:solidFill>
                <a:latin typeface="微软雅黑"/>
                <a:ea typeface="微软雅黑"/>
                <a:cs typeface="微软雅黑"/>
              </a:rPr>
              <a:t>深度访谈：</a:t>
            </a:r>
            <a:r>
              <a:rPr lang="en-US" altLang="zh-CN" sz="1110" dirty="0">
                <a:solidFill>
                  <a:srgbClr val="383838"/>
                </a:solidFill>
                <a:latin typeface="微软雅黑"/>
                <a:ea typeface="微软雅黑"/>
                <a:cs typeface="微软雅黑"/>
              </a:rPr>
              <a:t>5Why</a:t>
            </a:r>
            <a:r>
              <a:rPr lang="zh-CN" altLang="en-US" sz="1110" dirty="0">
                <a:solidFill>
                  <a:srgbClr val="383838"/>
                </a:solidFill>
                <a:latin typeface="微软雅黑"/>
                <a:ea typeface="微软雅黑"/>
                <a:cs typeface="微软雅黑"/>
              </a:rPr>
              <a:t>分析法</a:t>
            </a:r>
            <a:endParaRPr lang="zh-CN" altLang="en-US" sz="1110" dirty="0">
              <a:solidFill>
                <a:srgbClr val="383838"/>
              </a:solidFill>
              <a:latin typeface="微软雅黑"/>
              <a:ea typeface="微软雅黑"/>
              <a:cs typeface="微软雅黑"/>
            </a:endParaRPr>
          </a:p>
        </p:txBody>
      </p:sp>
      <p:sp>
        <p:nvSpPr>
          <p:cNvPr id="156" name="Rectangle 88"/>
          <p:cNvSpPr/>
          <p:nvPr/>
        </p:nvSpPr>
        <p:spPr>
          <a:xfrm>
            <a:off x="10497820" y="5469255"/>
            <a:ext cx="1984375" cy="170180"/>
          </a:xfrm>
          <a:prstGeom prst="rect">
            <a:avLst/>
          </a:prstGeom>
          <a:effectLst/>
        </p:spPr>
        <p:txBody>
          <a:bodyPr wrap="square" lIns="0" tIns="0" rIns="0" bIns="0" anchor="ctr">
            <a:spAutoFit/>
          </a:bodyPr>
          <a:lstStyle/>
          <a:p>
            <a:pPr>
              <a:defRPr>
                <a:latin typeface="微软雅黑"/>
                <a:ea typeface="微软雅黑"/>
                <a:cs typeface="微软雅黑"/>
              </a:defRPr>
            </a:pPr>
            <a:r>
              <a:rPr lang="zh-CN" sz="1110" dirty="0">
                <a:solidFill>
                  <a:srgbClr val="0042FF"/>
                </a:solidFill>
                <a:latin typeface="微软雅黑"/>
                <a:ea typeface="微软雅黑"/>
                <a:cs typeface="微软雅黑"/>
              </a:rPr>
              <a:t>需求分析：</a:t>
            </a:r>
            <a:r>
              <a:rPr lang="zh-CN" altLang="en-US" sz="1110" dirty="0">
                <a:solidFill>
                  <a:srgbClr val="383838"/>
                </a:solidFill>
                <a:latin typeface="微软雅黑"/>
                <a:ea typeface="微软雅黑"/>
                <a:cs typeface="微软雅黑"/>
              </a:rPr>
              <a:t>用户需求矩阵</a:t>
            </a:r>
            <a:endParaRPr lang="zh-CN" altLang="en-US" sz="1110" dirty="0">
              <a:solidFill>
                <a:srgbClr val="383838"/>
              </a:solidFill>
              <a:latin typeface="微软雅黑"/>
              <a:ea typeface="微软雅黑"/>
              <a:cs typeface="微软雅黑"/>
            </a:endParaRPr>
          </a:p>
        </p:txBody>
      </p:sp>
      <p:grpSp>
        <p:nvGrpSpPr>
          <p:cNvPr id="157" name="组合 156"/>
          <p:cNvGrpSpPr/>
          <p:nvPr/>
        </p:nvGrpSpPr>
        <p:grpSpPr>
          <a:xfrm>
            <a:off x="10270490" y="4857115"/>
            <a:ext cx="183515" cy="183515"/>
            <a:chOff x="5734988" y="949771"/>
            <a:chExt cx="347205" cy="347205"/>
          </a:xfrm>
        </p:grpSpPr>
        <p:sp>
          <p:nvSpPr>
            <p:cNvPr id="158" name="椭圆 157"/>
            <p:cNvSpPr/>
            <p:nvPr/>
          </p:nvSpPr>
          <p:spPr>
            <a:xfrm>
              <a:off x="5734988" y="949771"/>
              <a:ext cx="347205" cy="347205"/>
            </a:xfrm>
            <a:prstGeom prst="ellipse">
              <a:avLst/>
            </a:prstGeom>
            <a:solidFill>
              <a:srgbClr val="3368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62"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165" name="组合 164"/>
          <p:cNvGrpSpPr/>
          <p:nvPr/>
        </p:nvGrpSpPr>
        <p:grpSpPr>
          <a:xfrm>
            <a:off x="10270490" y="5147945"/>
            <a:ext cx="183515" cy="183515"/>
            <a:chOff x="5734988" y="949771"/>
            <a:chExt cx="347205" cy="347205"/>
          </a:xfrm>
        </p:grpSpPr>
        <p:sp>
          <p:nvSpPr>
            <p:cNvPr id="166" name="椭圆 165"/>
            <p:cNvSpPr/>
            <p:nvPr/>
          </p:nvSpPr>
          <p:spPr>
            <a:xfrm>
              <a:off x="5734988" y="949771"/>
              <a:ext cx="347205" cy="347205"/>
            </a:xfrm>
            <a:prstGeom prst="ellipse">
              <a:avLst/>
            </a:prstGeom>
            <a:solidFill>
              <a:srgbClr val="3368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67"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grpSp>
      <p:grpSp>
        <p:nvGrpSpPr>
          <p:cNvPr id="168" name="组合 167"/>
          <p:cNvGrpSpPr/>
          <p:nvPr/>
        </p:nvGrpSpPr>
        <p:grpSpPr>
          <a:xfrm>
            <a:off x="10270490" y="5438775"/>
            <a:ext cx="183515" cy="183515"/>
            <a:chOff x="5734988" y="949771"/>
            <a:chExt cx="347205" cy="347205"/>
          </a:xfrm>
        </p:grpSpPr>
        <p:sp>
          <p:nvSpPr>
            <p:cNvPr id="169" name="椭圆 168"/>
            <p:cNvSpPr/>
            <p:nvPr/>
          </p:nvSpPr>
          <p:spPr>
            <a:xfrm>
              <a:off x="5734988" y="949771"/>
              <a:ext cx="347205" cy="347205"/>
            </a:xfrm>
            <a:prstGeom prst="ellipse">
              <a:avLst/>
            </a:prstGeom>
            <a:solidFill>
              <a:srgbClr val="3368FF"/>
            </a:solidFill>
            <a:ln w="38100" cap="flat" cmpd="sng" algn="ctr">
              <a:solidFill>
                <a:srgbClr val="FFFFFF"/>
              </a:solidFill>
              <a:prstDash val="solid"/>
              <a:miter lim="800000"/>
            </a:ln>
            <a:effectLst/>
          </p:spPr>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0" name="Freeform 29"/>
            <p:cNvSpPr/>
            <p:nvPr/>
          </p:nvSpPr>
          <p:spPr bwMode="auto">
            <a:xfrm>
              <a:off x="5810061" y="1055694"/>
              <a:ext cx="201613" cy="155575"/>
            </a:xfrm>
            <a:custGeom>
              <a:avLst/>
              <a:gdLst/>
              <a:ahLst/>
              <a:cxnLst>
                <a:cxn ang="0">
                  <a:pos x="58" y="12"/>
                </a:cxn>
                <a:cxn ang="0">
                  <a:pos x="30" y="39"/>
                </a:cxn>
                <a:cxn ang="0">
                  <a:pos x="25" y="44"/>
                </a:cxn>
                <a:cxn ang="0">
                  <a:pos x="23" y="45"/>
                </a:cxn>
                <a:cxn ang="0">
                  <a:pos x="20" y="44"/>
                </a:cxn>
                <a:cxn ang="0">
                  <a:pos x="15" y="39"/>
                </a:cxn>
                <a:cxn ang="0">
                  <a:pos x="1" y="26"/>
                </a:cxn>
                <a:cxn ang="0">
                  <a:pos x="0" y="23"/>
                </a:cxn>
                <a:cxn ang="0">
                  <a:pos x="1" y="20"/>
                </a:cxn>
                <a:cxn ang="0">
                  <a:pos x="6" y="15"/>
                </a:cxn>
                <a:cxn ang="0">
                  <a:pos x="9" y="14"/>
                </a:cxn>
                <a:cxn ang="0">
                  <a:pos x="11" y="15"/>
                </a:cxn>
                <a:cxn ang="0">
                  <a:pos x="23" y="26"/>
                </a:cxn>
                <a:cxn ang="0">
                  <a:pos x="47" y="1"/>
                </a:cxn>
                <a:cxn ang="0">
                  <a:pos x="50" y="0"/>
                </a:cxn>
                <a:cxn ang="0">
                  <a:pos x="53" y="1"/>
                </a:cxn>
                <a:cxn ang="0">
                  <a:pos x="58" y="7"/>
                </a:cxn>
                <a:cxn ang="0">
                  <a:pos x="59" y="9"/>
                </a:cxn>
                <a:cxn ang="0">
                  <a:pos x="58" y="12"/>
                </a:cxn>
              </a:cxnLst>
              <a:rect l="0" t="0" r="r" b="b"/>
              <a:pathLst>
                <a:path w="59" h="45">
                  <a:moveTo>
                    <a:pt x="58" y="12"/>
                  </a:moveTo>
                  <a:cubicBezTo>
                    <a:pt x="30" y="39"/>
                    <a:pt x="30" y="39"/>
                    <a:pt x="30" y="39"/>
                  </a:cubicBezTo>
                  <a:cubicBezTo>
                    <a:pt x="25" y="44"/>
                    <a:pt x="25" y="44"/>
                    <a:pt x="25" y="44"/>
                  </a:cubicBezTo>
                  <a:cubicBezTo>
                    <a:pt x="24" y="45"/>
                    <a:pt x="24" y="45"/>
                    <a:pt x="23" y="45"/>
                  </a:cubicBezTo>
                  <a:cubicBezTo>
                    <a:pt x="22" y="45"/>
                    <a:pt x="21" y="45"/>
                    <a:pt x="20" y="44"/>
                  </a:cubicBezTo>
                  <a:cubicBezTo>
                    <a:pt x="15" y="39"/>
                    <a:pt x="15" y="39"/>
                    <a:pt x="15" y="39"/>
                  </a:cubicBezTo>
                  <a:cubicBezTo>
                    <a:pt x="1" y="26"/>
                    <a:pt x="1" y="26"/>
                    <a:pt x="1" y="26"/>
                  </a:cubicBezTo>
                  <a:cubicBezTo>
                    <a:pt x="0" y="25"/>
                    <a:pt x="0" y="24"/>
                    <a:pt x="0" y="23"/>
                  </a:cubicBezTo>
                  <a:cubicBezTo>
                    <a:pt x="0" y="22"/>
                    <a:pt x="0" y="21"/>
                    <a:pt x="1" y="20"/>
                  </a:cubicBezTo>
                  <a:cubicBezTo>
                    <a:pt x="6" y="15"/>
                    <a:pt x="6" y="15"/>
                    <a:pt x="6" y="15"/>
                  </a:cubicBezTo>
                  <a:cubicBezTo>
                    <a:pt x="7" y="14"/>
                    <a:pt x="8" y="14"/>
                    <a:pt x="9" y="14"/>
                  </a:cubicBezTo>
                  <a:cubicBezTo>
                    <a:pt x="10" y="14"/>
                    <a:pt x="11" y="14"/>
                    <a:pt x="11" y="15"/>
                  </a:cubicBezTo>
                  <a:cubicBezTo>
                    <a:pt x="23" y="26"/>
                    <a:pt x="23" y="26"/>
                    <a:pt x="23" y="26"/>
                  </a:cubicBezTo>
                  <a:cubicBezTo>
                    <a:pt x="47" y="1"/>
                    <a:pt x="47" y="1"/>
                    <a:pt x="47" y="1"/>
                  </a:cubicBezTo>
                  <a:cubicBezTo>
                    <a:pt x="48" y="1"/>
                    <a:pt x="49" y="0"/>
                    <a:pt x="50" y="0"/>
                  </a:cubicBezTo>
                  <a:cubicBezTo>
                    <a:pt x="51" y="0"/>
                    <a:pt x="52" y="1"/>
                    <a:pt x="53" y="1"/>
                  </a:cubicBezTo>
                  <a:cubicBezTo>
                    <a:pt x="58" y="7"/>
                    <a:pt x="58" y="7"/>
                    <a:pt x="58" y="7"/>
                  </a:cubicBezTo>
                  <a:cubicBezTo>
                    <a:pt x="58" y="7"/>
                    <a:pt x="59" y="8"/>
                    <a:pt x="59" y="9"/>
                  </a:cubicBezTo>
                  <a:cubicBezTo>
                    <a:pt x="59" y="10"/>
                    <a:pt x="58" y="11"/>
                    <a:pt x="58" y="12"/>
                  </a:cubicBezTo>
                  <a:close/>
                </a:path>
              </a:pathLst>
            </a:custGeom>
            <a:solidFill>
              <a:srgbClr val="FFFFFF"/>
            </a:solidFill>
            <a:ln w="9525">
              <a:noFill/>
              <a:round/>
            </a:ln>
          </p:spPr>
          <p:txBody>
            <a:bodyPr vert="horz" wrap="square" lIns="0" tIns="0" rIns="0" bIns="0" numCol="1" anchor="t" anchorCtr="0" compatLnSpc="1"/>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grpSp>
      <p:pic>
        <p:nvPicPr>
          <p:cNvPr id="171" name="图片 170" descr="左右箭头-2"/>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487150" y="4857115"/>
            <a:ext cx="171450" cy="171450"/>
          </a:xfrm>
          <a:prstGeom prst="rect">
            <a:avLst/>
          </a:prstGeom>
        </p:spPr>
      </p:pic>
      <p:sp>
        <p:nvSpPr>
          <p:cNvPr id="172" name="文本框 171"/>
          <p:cNvSpPr txBox="1"/>
          <p:nvPr/>
        </p:nvSpPr>
        <p:spPr>
          <a:xfrm>
            <a:off x="7953890" y="1177388"/>
            <a:ext cx="1605280" cy="553085"/>
          </a:xfrm>
          <a:prstGeom prst="rect">
            <a:avLst/>
          </a:prstGeom>
          <a:noFill/>
        </p:spPr>
        <p:txBody>
          <a:bodyPr wrap="square">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忠诚计划</a:t>
            </a:r>
            <a:endParaRPr lang="en-US" altLang="zh-CN"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忠诚度驱动策略</a:t>
            </a:r>
            <a:endParaRPr lang="zh-CN" altLang="en-US" sz="1400" dirty="0">
              <a:solidFill>
                <a:srgbClr val="383838"/>
              </a:solidFill>
              <a:latin typeface="微软雅黑"/>
              <a:ea typeface="微软雅黑"/>
              <a:cs typeface="微软雅黑"/>
            </a:endParaRPr>
          </a:p>
        </p:txBody>
      </p:sp>
      <p:sp>
        <p:nvSpPr>
          <p:cNvPr id="173" name="文本框 172"/>
          <p:cNvSpPr txBox="1"/>
          <p:nvPr/>
        </p:nvSpPr>
        <p:spPr>
          <a:xfrm>
            <a:off x="9657715" y="1186815"/>
            <a:ext cx="2099310" cy="706755"/>
          </a:xfrm>
          <a:prstGeom prst="rect">
            <a:avLst/>
          </a:prstGeom>
          <a:noFill/>
        </p:spPr>
        <p:txBody>
          <a:bodyPr wrap="square" lIns="0" rIns="0" tIns="0" bIns="0">
            <a:spAutoFit/>
          </a:bodyPr>
          <a:lstStyle/>
          <a:p>
            <a:pPr marL="171450" indent="-171450" algn="l">
              <a:buFont typeface="微软雅黑"/>
              <a:buChar cha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会员体系：阶梯式权益；</a:t>
            </a:r>
            <a:endParaRPr lang="en-US" altLang="zh-CN" sz="1000" dirty="0">
              <a:solidFill>
                <a:srgbClr val="FFFFFF"/>
              </a:solidFill>
              <a:latin typeface="微软雅黑"/>
              <a:ea typeface="微软雅黑"/>
              <a:cs typeface="微软雅黑"/>
            </a:endParaRPr>
          </a:p>
          <a:p>
            <a:pPr marL="171450" indent="-171450" algn="l">
              <a:buFont typeface="微软雅黑"/>
              <a:buChar cha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个性化体验：基于浏览历史的首页推荐；</a:t>
            </a:r>
            <a:endParaRPr lang="zh-CN" altLang="en-US" sz="1000" dirty="0">
              <a:solidFill>
                <a:srgbClr val="FFFFFF"/>
              </a:solidFill>
              <a:latin typeface="微软雅黑"/>
              <a:ea typeface="微软雅黑"/>
              <a:cs typeface="微软雅黑"/>
            </a:endParaRPr>
          </a:p>
          <a:p>
            <a:pPr marL="171450" indent="-171450" algn="l">
              <a:buFont typeface="微软雅黑"/>
              <a:buChar cha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社交裂变：老客砍一刀邀请；</a:t>
            </a:r>
            <a:endParaRPr lang="zh-CN" altLang="en-US" sz="1000" dirty="0">
              <a:solidFill>
                <a:srgbClr val="FFFFFF"/>
              </a:solidFill>
              <a:latin typeface="微软雅黑"/>
              <a:ea typeface="微软雅黑"/>
              <a:cs typeface="微软雅黑"/>
            </a:endParaRPr>
          </a:p>
        </p:txBody>
      </p:sp>
      <p:sp>
        <p:nvSpPr>
          <p:cNvPr id="174" name="文本框 173"/>
          <p:cNvSpPr txBox="1"/>
          <p:nvPr/>
        </p:nvSpPr>
        <p:spPr>
          <a:xfrm>
            <a:off x="6224785" y="1142463"/>
            <a:ext cx="1605280" cy="553085"/>
          </a:xfrm>
          <a:prstGeom prst="rect">
            <a:avLst/>
          </a:prstGeom>
          <a:noFill/>
        </p:spPr>
        <p:txBody>
          <a:bodyPr wrap="square">
            <a:spAutoFit/>
          </a:bodyPr>
          <a:lstStyle/>
          <a:p>
            <a:pPr algn="ctr">
              <a:defRPr>
                <a:latin typeface="微软雅黑"/>
                <a:ea typeface="微软雅黑"/>
                <a:cs typeface="微软雅黑"/>
              </a:defRPr>
            </a:pPr>
            <a:r>
              <a:rPr lang="zh-CN" sz="1600" b="1" dirty="0">
                <a:solidFill>
                  <a:srgbClr val="0042FF"/>
                </a:solidFill>
                <a:latin typeface="微软雅黑"/>
                <a:ea typeface="微软雅黑"/>
                <a:cs typeface="微软雅黑"/>
              </a:rPr>
              <a:t>闭环迭代</a:t>
            </a:r>
            <a:endParaRPr lang="zh-CN"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效果闭环监测</a:t>
            </a:r>
            <a:endParaRPr lang="zh-CN" altLang="en-US" sz="1400" dirty="0">
              <a:solidFill>
                <a:srgbClr val="383838"/>
              </a:solidFill>
              <a:latin typeface="微软雅黑"/>
              <a:ea typeface="微软雅黑"/>
              <a:cs typeface="微软雅黑"/>
            </a:endParaRPr>
          </a:p>
        </p:txBody>
      </p:sp>
      <p:sp>
        <p:nvSpPr>
          <p:cNvPr id="175" name="文本框 174"/>
          <p:cNvSpPr txBox="1"/>
          <p:nvPr/>
        </p:nvSpPr>
        <p:spPr>
          <a:xfrm>
            <a:off x="4851915" y="1560928"/>
            <a:ext cx="1605280" cy="553085"/>
          </a:xfrm>
          <a:prstGeom prst="rect">
            <a:avLst/>
          </a:prstGeom>
          <a:noFill/>
        </p:spPr>
        <p:txBody>
          <a:bodyPr wrap="square">
            <a:spAutoFit/>
          </a:bodyPr>
          <a:lstStyle/>
          <a:p>
            <a:pPr algn="ctr">
              <a:defRPr>
                <a:latin typeface="微软雅黑"/>
                <a:ea typeface="微软雅黑"/>
                <a:cs typeface="微软雅黑"/>
              </a:defRPr>
            </a:pPr>
            <a:r>
              <a:rPr lang="zh-CN" sz="1600" b="1" dirty="0">
                <a:solidFill>
                  <a:srgbClr val="0042FF"/>
                </a:solidFill>
                <a:latin typeface="微软雅黑"/>
                <a:ea typeface="微软雅黑"/>
                <a:cs typeface="微软雅黑"/>
              </a:rPr>
              <a:t>精准触达</a:t>
            </a:r>
            <a:endParaRPr lang="zh-CN" sz="16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精准营销策略</a:t>
            </a:r>
            <a:endParaRPr lang="zh-CN" altLang="en-US" sz="1400" dirty="0">
              <a:solidFill>
                <a:srgbClr val="383838"/>
              </a:solidFill>
              <a:latin typeface="微软雅黑"/>
              <a:ea typeface="微软雅黑"/>
              <a:cs typeface="微软雅黑"/>
            </a:endParaRPr>
          </a:p>
        </p:txBody>
      </p:sp>
      <p:sp>
        <p:nvSpPr>
          <p:cNvPr id="176" name="矩形: 圆角 297"/>
          <p:cNvSpPr/>
          <p:nvPr/>
        </p:nvSpPr>
        <p:spPr>
          <a:xfrm>
            <a:off x="4581525" y="1142365"/>
            <a:ext cx="647700" cy="227330"/>
          </a:xfrm>
          <a:prstGeom prst="roundRect">
            <a:avLst>
              <a:gd name="adj" fmla="val 50000"/>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en-US" altLang="zh-SG" sz="1000" dirty="0">
                <a:solidFill>
                  <a:srgbClr val="0042FF"/>
                </a:solidFill>
                <a:latin typeface="微软雅黑"/>
                <a:ea typeface="微软雅黑"/>
                <a:cs typeface="微软雅黑"/>
              </a:rPr>
              <a:t>A/B</a:t>
            </a:r>
            <a:r>
              <a:rPr lang="zh-CN" altLang="en-US" sz="1000" dirty="0">
                <a:solidFill>
                  <a:srgbClr val="0042FF"/>
                </a:solidFill>
                <a:latin typeface="微软雅黑"/>
                <a:ea typeface="微软雅黑"/>
                <a:cs typeface="微软雅黑"/>
              </a:rPr>
              <a:t>文案</a:t>
            </a:r>
            <a:endParaRPr lang="zh-CN" altLang="en-US" sz="1000" dirty="0">
              <a:solidFill>
                <a:srgbClr val="0042FF"/>
              </a:solidFill>
              <a:latin typeface="微软雅黑"/>
              <a:ea typeface="微软雅黑"/>
              <a:cs typeface="微软雅黑"/>
            </a:endParaRPr>
          </a:p>
        </p:txBody>
      </p:sp>
      <p:sp>
        <p:nvSpPr>
          <p:cNvPr id="177" name="矩形: 圆角 298"/>
          <p:cNvSpPr/>
          <p:nvPr/>
        </p:nvSpPr>
        <p:spPr>
          <a:xfrm>
            <a:off x="5314315" y="1142365"/>
            <a:ext cx="645795" cy="227330"/>
          </a:xfrm>
          <a:prstGeom prst="roundRect">
            <a:avLst>
              <a:gd name="adj" fmla="val 50000"/>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zh-SG" sz="1000" dirty="0">
                <a:solidFill>
                  <a:srgbClr val="0042FF"/>
                </a:solidFill>
                <a:latin typeface="微软雅黑"/>
                <a:ea typeface="微软雅黑"/>
                <a:cs typeface="微软雅黑"/>
              </a:rPr>
              <a:t>触达时机</a:t>
            </a:r>
            <a:endParaRPr lang="zh-CN" altLang="zh-SG" sz="1000" dirty="0">
              <a:solidFill>
                <a:srgbClr val="0042FF"/>
              </a:solidFill>
              <a:latin typeface="微软雅黑"/>
              <a:ea typeface="微软雅黑"/>
              <a:cs typeface="微软雅黑"/>
            </a:endParaRPr>
          </a:p>
        </p:txBody>
      </p:sp>
      <p:sp>
        <p:nvSpPr>
          <p:cNvPr id="178" name="对话气泡: 矩形 51"/>
          <p:cNvSpPr/>
          <p:nvPr/>
        </p:nvSpPr>
        <p:spPr>
          <a:xfrm>
            <a:off x="7124700" y="1767840"/>
            <a:ext cx="1358265" cy="405765"/>
          </a:xfrm>
          <a:prstGeom prst="wedgeRectCallout">
            <a:avLst>
              <a:gd name="adj1" fmla="val -43944"/>
              <a:gd name="adj2" fmla="val -75844"/>
            </a:avLst>
          </a:prstGeom>
          <a:solidFill>
            <a:srgbClr val="FFFFFF"/>
          </a:solidFill>
          <a:ln w="15875">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179" name="矩形: 圆角 297"/>
          <p:cNvSpPr/>
          <p:nvPr/>
        </p:nvSpPr>
        <p:spPr>
          <a:xfrm>
            <a:off x="7218680" y="1866900"/>
            <a:ext cx="546100" cy="227330"/>
          </a:xfrm>
          <a:prstGeom prst="roundRect">
            <a:avLst>
              <a:gd name="adj" fmla="val 50000"/>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指标监控</a:t>
            </a:r>
            <a:endParaRPr lang="zh-CN" altLang="en-US" sz="1000" dirty="0">
              <a:solidFill>
                <a:srgbClr val="0042FF"/>
              </a:solidFill>
              <a:latin typeface="微软雅黑"/>
              <a:ea typeface="微软雅黑"/>
              <a:cs typeface="微软雅黑"/>
            </a:endParaRPr>
          </a:p>
        </p:txBody>
      </p:sp>
      <p:sp>
        <p:nvSpPr>
          <p:cNvPr id="180" name="矩形: 圆角 298"/>
          <p:cNvSpPr/>
          <p:nvPr/>
        </p:nvSpPr>
        <p:spPr>
          <a:xfrm>
            <a:off x="7849235" y="1866900"/>
            <a:ext cx="537210" cy="227330"/>
          </a:xfrm>
          <a:prstGeom prst="roundRect">
            <a:avLst>
              <a:gd name="adj" fmla="val 50000"/>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zh-SG" sz="1000" dirty="0">
                <a:solidFill>
                  <a:srgbClr val="0042FF"/>
                </a:solidFill>
                <a:latin typeface="微软雅黑"/>
                <a:ea typeface="微软雅黑"/>
                <a:cs typeface="微软雅黑"/>
              </a:rPr>
              <a:t>敏捷迭代</a:t>
            </a:r>
            <a:endParaRPr lang="zh-CN" altLang="zh-SG" sz="1000" dirty="0">
              <a:solidFill>
                <a:srgbClr val="0042FF"/>
              </a:solidFill>
              <a:latin typeface="微软雅黑"/>
              <a:ea typeface="微软雅黑"/>
              <a:cs typeface="微软雅黑"/>
            </a:endParaRPr>
          </a:p>
        </p:txBody>
      </p:sp>
      <p:cxnSp>
        <p:nvCxnSpPr>
          <p:cNvPr id="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55" name="组合 54"/>
          <p:cNvGrpSpPr/>
          <p:nvPr/>
        </p:nvGrpSpPr>
        <p:grpSpPr>
          <a:xfrm>
            <a:off x="8738235" y="348615"/>
            <a:ext cx="3219450" cy="332740"/>
            <a:chOff x="13761" y="549"/>
            <a:chExt cx="5070" cy="524"/>
          </a:xfrm>
        </p:grpSpPr>
        <p:pic>
          <p:nvPicPr>
            <p:cNvPr id="57" name="图片 56"/>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58" name="文本框 5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循环逻辑架构 | </a:t>
            </a:r>
            <a:r>
              <a:rPr lang="zh-CN" altLang="en-US" sz="2500">
                <a:solidFill>
                  <a:srgbClr val="383838"/>
                </a:solidFill>
                <a:effectLst/>
                <a:latin typeface="微软雅黑"/>
                <a:ea typeface="微软雅黑"/>
                <a:cs typeface="微软雅黑"/>
              </a:rPr>
              <a:t>汽车产业生态架构布局</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9" name="矩形 28"/>
          <p:cNvSpPr/>
          <p:nvPr/>
        </p:nvSpPr>
        <p:spPr>
          <a:xfrm>
            <a:off x="980440" y="5495925"/>
            <a:ext cx="10537825" cy="897255"/>
          </a:xfrm>
          <a:prstGeom prst="rect">
            <a:avLst/>
          </a:prstGeom>
          <a:gradFill>
            <a:gsLst>
              <a:gs pos="74000">
                <a:srgbClr val="3368FF"/>
              </a:gs>
              <a:gs pos="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cxnSp>
        <p:nvCxnSpPr>
          <p:cNvPr id="30" name="直接连接符 29"/>
          <p:cNvCxnSpPr/>
          <p:nvPr/>
        </p:nvCxnSpPr>
        <p:spPr>
          <a:xfrm>
            <a:off x="2955290" y="5612130"/>
            <a:ext cx="0" cy="624840"/>
          </a:xfrm>
          <a:prstGeom prst="line">
            <a:avLst/>
          </a:prstGeom>
          <a:ln w="19050">
            <a:solidFill>
              <a:srgbClr val="FFFFFF"/>
            </a:solidFill>
          </a:ln>
        </p:spPr>
        <p:style>
          <a:lnRef idx="2">
            <a:srgbClr val="0042FF"/>
          </a:lnRef>
          <a:fillRef idx="0">
            <a:srgbClr val="FFFFFF"/>
          </a:fillRef>
          <a:effectRef idx="0">
            <a:srgbClr val="FFFFFF"/>
          </a:effectRef>
          <a:fontRef idx="minor">
            <a:srgbClr val="383838"/>
          </a:fontRef>
        </p:style>
      </p:cxnSp>
      <p:cxnSp>
        <p:nvCxnSpPr>
          <p:cNvPr id="31" name="直接连接符 30"/>
          <p:cNvCxnSpPr/>
          <p:nvPr/>
        </p:nvCxnSpPr>
        <p:spPr>
          <a:xfrm>
            <a:off x="9904730" y="5628640"/>
            <a:ext cx="0" cy="609600"/>
          </a:xfrm>
          <a:prstGeom prst="line">
            <a:avLst/>
          </a:prstGeom>
          <a:ln w="19050">
            <a:solidFill>
              <a:srgbClr val="FFFFFF"/>
            </a:solidFill>
          </a:ln>
        </p:spPr>
        <p:style>
          <a:lnRef idx="2">
            <a:srgbClr val="0042FF"/>
          </a:lnRef>
          <a:fillRef idx="0">
            <a:srgbClr val="FFFFFF"/>
          </a:fillRef>
          <a:effectRef idx="0">
            <a:srgbClr val="FFFFFF"/>
          </a:effectRef>
          <a:fontRef idx="minor">
            <a:srgbClr val="383838"/>
          </a:fontRef>
        </p:style>
      </p:cxnSp>
      <p:cxnSp>
        <p:nvCxnSpPr>
          <p:cNvPr id="32" name="直接连接符 31"/>
          <p:cNvCxnSpPr/>
          <p:nvPr/>
        </p:nvCxnSpPr>
        <p:spPr>
          <a:xfrm>
            <a:off x="8100695" y="5598160"/>
            <a:ext cx="0" cy="629920"/>
          </a:xfrm>
          <a:prstGeom prst="line">
            <a:avLst/>
          </a:prstGeom>
          <a:ln w="19050">
            <a:solidFill>
              <a:srgbClr val="FFFFFF"/>
            </a:solidFill>
          </a:ln>
        </p:spPr>
        <p:style>
          <a:lnRef idx="2">
            <a:srgbClr val="0042FF"/>
          </a:lnRef>
          <a:fillRef idx="0">
            <a:srgbClr val="FFFFFF"/>
          </a:fillRef>
          <a:effectRef idx="0">
            <a:srgbClr val="FFFFFF"/>
          </a:effectRef>
          <a:fontRef idx="minor">
            <a:srgbClr val="383838"/>
          </a:fontRef>
        </p:style>
      </p:cxnSp>
      <p:cxnSp>
        <p:nvCxnSpPr>
          <p:cNvPr id="33" name="直接连接符 32"/>
          <p:cNvCxnSpPr/>
          <p:nvPr/>
        </p:nvCxnSpPr>
        <p:spPr>
          <a:xfrm>
            <a:off x="6385560" y="5581650"/>
            <a:ext cx="0" cy="640080"/>
          </a:xfrm>
          <a:prstGeom prst="line">
            <a:avLst/>
          </a:prstGeom>
          <a:ln w="19050">
            <a:solidFill>
              <a:srgbClr val="FFFFFF"/>
            </a:solidFill>
          </a:ln>
        </p:spPr>
        <p:style>
          <a:lnRef idx="2">
            <a:srgbClr val="0042FF"/>
          </a:lnRef>
          <a:fillRef idx="0">
            <a:srgbClr val="FFFFFF"/>
          </a:fillRef>
          <a:effectRef idx="0">
            <a:srgbClr val="FFFFFF"/>
          </a:effectRef>
          <a:fontRef idx="minor">
            <a:srgbClr val="383838"/>
          </a:fontRef>
        </p:style>
      </p:cxnSp>
      <p:cxnSp>
        <p:nvCxnSpPr>
          <p:cNvPr id="34" name="直接连接符 33"/>
          <p:cNvCxnSpPr/>
          <p:nvPr/>
        </p:nvCxnSpPr>
        <p:spPr>
          <a:xfrm>
            <a:off x="4670425" y="5604510"/>
            <a:ext cx="0" cy="617220"/>
          </a:xfrm>
          <a:prstGeom prst="line">
            <a:avLst/>
          </a:prstGeom>
          <a:ln w="19050">
            <a:solidFill>
              <a:srgbClr val="FFFFFF"/>
            </a:solidFill>
          </a:ln>
        </p:spPr>
        <p:style>
          <a:lnRef idx="2">
            <a:srgbClr val="0042FF"/>
          </a:lnRef>
          <a:fillRef idx="0">
            <a:srgbClr val="FFFFFF"/>
          </a:fillRef>
          <a:effectRef idx="0">
            <a:srgbClr val="FFFFFF"/>
          </a:effectRef>
          <a:fontRef idx="minor">
            <a:srgbClr val="383838"/>
          </a:fontRef>
        </p:style>
      </p:cxnSp>
      <p:sp>
        <p:nvSpPr>
          <p:cNvPr id="2" name="任意多边形 1"/>
          <p:cNvSpPr/>
          <p:nvPr/>
        </p:nvSpPr>
        <p:spPr>
          <a:xfrm>
            <a:off x="4901565" y="3324860"/>
            <a:ext cx="1238885" cy="127000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612" h="1652">
                <a:moveTo>
                  <a:pt x="0" y="26"/>
                </a:moveTo>
                <a:lnTo>
                  <a:pt x="0" y="0"/>
                </a:lnTo>
                <a:lnTo>
                  <a:pt x="1611" y="0"/>
                </a:lnTo>
                <a:lnTo>
                  <a:pt x="1611" y="1651"/>
                </a:lnTo>
                <a:cubicBezTo>
                  <a:pt x="732" y="1680"/>
                  <a:pt x="-32" y="844"/>
                  <a:pt x="0" y="26"/>
                </a:cubicBezTo>
                <a:close/>
              </a:path>
            </a:pathLst>
          </a:custGeom>
          <a:gradFill>
            <a:gsLst>
              <a:gs pos="100000">
                <a:srgbClr val="3368FF"/>
              </a:gs>
              <a:gs pos="0">
                <a:srgbClr val="E6E6E6"/>
              </a:gs>
            </a:gsLst>
            <a:lin ang="16200000" scaled="0"/>
          </a:gra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7" name="任意多边形 16"/>
          <p:cNvSpPr/>
          <p:nvPr/>
        </p:nvSpPr>
        <p:spPr>
          <a:xfrm>
            <a:off x="6165215" y="2094865"/>
            <a:ext cx="1238250" cy="120777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610" h="1572">
                <a:moveTo>
                  <a:pt x="0" y="0"/>
                </a:moveTo>
                <a:cubicBezTo>
                  <a:pt x="864" y="-36"/>
                  <a:pt x="1622" y="799"/>
                  <a:pt x="1610" y="1571"/>
                </a:cubicBezTo>
                <a:lnTo>
                  <a:pt x="0" y="1571"/>
                </a:lnTo>
                <a:lnTo>
                  <a:pt x="0" y="0"/>
                </a:lnTo>
                <a:close/>
              </a:path>
            </a:pathLst>
          </a:custGeom>
          <a:gradFill>
            <a:gsLst>
              <a:gs pos="100000">
                <a:srgbClr val="3368FF"/>
              </a:gs>
              <a:gs pos="0">
                <a:srgbClr val="E6E6E6"/>
              </a:gs>
            </a:gsLst>
            <a:lin ang="5400000" scaled="0"/>
          </a:gra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8" name="任意多边形 17"/>
          <p:cNvSpPr/>
          <p:nvPr/>
        </p:nvSpPr>
        <p:spPr>
          <a:xfrm>
            <a:off x="4902835" y="2094865"/>
            <a:ext cx="1238250" cy="120777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611" h="1572">
                <a:moveTo>
                  <a:pt x="0" y="1571"/>
                </a:moveTo>
                <a:cubicBezTo>
                  <a:pt x="-15" y="706"/>
                  <a:pt x="840" y="-30"/>
                  <a:pt x="1610" y="0"/>
                </a:cubicBezTo>
                <a:lnTo>
                  <a:pt x="1610" y="1571"/>
                </a:lnTo>
                <a:lnTo>
                  <a:pt x="0" y="1571"/>
                </a:lnTo>
                <a:close/>
              </a:path>
            </a:pathLst>
          </a:custGeom>
          <a:gradFill>
            <a:gsLst>
              <a:gs pos="100000">
                <a:srgbClr val="3368FF"/>
              </a:gs>
              <a:gs pos="0">
                <a:srgbClr val="E6E6E6"/>
              </a:gs>
            </a:gsLst>
            <a:lin ang="5400000" scaled="0"/>
          </a:gra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9" name="任意多边形 18"/>
          <p:cNvSpPr/>
          <p:nvPr/>
        </p:nvSpPr>
        <p:spPr>
          <a:xfrm>
            <a:off x="6165215" y="3325495"/>
            <a:ext cx="1238885" cy="127000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612" h="1652">
                <a:moveTo>
                  <a:pt x="0" y="0"/>
                </a:moveTo>
                <a:lnTo>
                  <a:pt x="1611" y="0"/>
                </a:lnTo>
                <a:lnTo>
                  <a:pt x="1611" y="26"/>
                </a:lnTo>
                <a:cubicBezTo>
                  <a:pt x="1649" y="938"/>
                  <a:pt x="785" y="1674"/>
                  <a:pt x="0" y="1651"/>
                </a:cubicBezTo>
                <a:lnTo>
                  <a:pt x="0" y="0"/>
                </a:lnTo>
                <a:close/>
              </a:path>
            </a:pathLst>
          </a:custGeom>
          <a:gradFill>
            <a:gsLst>
              <a:gs pos="100000">
                <a:srgbClr val="3368FF"/>
              </a:gs>
              <a:gs pos="0">
                <a:srgbClr val="E6E6E6"/>
              </a:gs>
            </a:gsLst>
            <a:lin ang="16200000" scaled="0"/>
          </a:gra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20" name="椭圆 19"/>
          <p:cNvSpPr/>
          <p:nvPr/>
        </p:nvSpPr>
        <p:spPr>
          <a:xfrm>
            <a:off x="5732780" y="2877820"/>
            <a:ext cx="849630" cy="849630"/>
          </a:xfrm>
          <a:prstGeom prst="ellipse">
            <a:avLst/>
          </a:prstGeom>
          <a:gradFill>
            <a:gsLst>
              <a:gs pos="0">
                <a:srgbClr val="3368FF"/>
              </a:gs>
              <a:gs pos="75000">
                <a:srgbClr val="0042FF"/>
              </a:gs>
            </a:gsLst>
            <a:lin ang="5400000" scaled="0"/>
          </a:gradFill>
          <a:ln>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1" name="椭圆 20"/>
          <p:cNvSpPr/>
          <p:nvPr/>
        </p:nvSpPr>
        <p:spPr>
          <a:xfrm>
            <a:off x="5704205" y="1473835"/>
            <a:ext cx="936625" cy="936625"/>
          </a:xfrm>
          <a:prstGeom prst="ellipse">
            <a:avLst/>
          </a:prstGeom>
          <a:solidFill>
            <a:srgbClr val="FFFFFF"/>
          </a:solidFill>
          <a:ln>
            <a:gradFill>
              <a:gsLst>
                <a:gs pos="0">
                  <a:srgbClr val="3368FF"/>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0" name="文本框 39"/>
          <p:cNvSpPr txBox="1"/>
          <p:nvPr/>
        </p:nvSpPr>
        <p:spPr>
          <a:xfrm>
            <a:off x="5765165" y="3121660"/>
            <a:ext cx="817245" cy="368300"/>
          </a:xfrm>
          <a:prstGeom prst="rect">
            <a:avLst/>
          </a:prstGeom>
          <a:noFill/>
        </p:spPr>
        <p:txBody>
          <a:bodyPr wrap="square" rtlCol="0" lIns="0" rIns="0" tIns="0" bIns="0">
            <a:spAutoFit/>
          </a:bodyPr>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车联</a:t>
            </a:r>
            <a:r>
              <a:rPr lang="en-US" altLang="zh-CN" b="1">
                <a:solidFill>
                  <a:srgbClr val="FFFFFF"/>
                </a:solidFill>
                <a:latin typeface="微软雅黑"/>
                <a:ea typeface="微软雅黑"/>
                <a:cs typeface="微软雅黑"/>
              </a:rPr>
              <a:t>+</a:t>
            </a:r>
            <a:endParaRPr lang="en-US" altLang="zh-CN" b="1">
              <a:solidFill>
                <a:srgbClr val="FFFFFF"/>
              </a:solidFill>
              <a:latin typeface="微软雅黑"/>
              <a:ea typeface="微软雅黑"/>
              <a:cs typeface="微软雅黑"/>
            </a:endParaRPr>
          </a:p>
        </p:txBody>
      </p:sp>
      <p:sp>
        <p:nvSpPr>
          <p:cNvPr id="41" name="文本框 40"/>
          <p:cNvSpPr txBox="1"/>
          <p:nvPr/>
        </p:nvSpPr>
        <p:spPr>
          <a:xfrm>
            <a:off x="5183505" y="2581910"/>
            <a:ext cx="94996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车联网</a:t>
            </a:r>
            <a:endParaRPr lang="zh-CN" altLang="en-US" sz="1400" b="1">
              <a:solidFill>
                <a:srgbClr val="383838"/>
              </a:solidFill>
              <a:latin typeface="微软雅黑"/>
              <a:ea typeface="微软雅黑"/>
              <a:cs typeface="微软雅黑"/>
            </a:endParaRPr>
          </a:p>
        </p:txBody>
      </p:sp>
      <p:sp>
        <p:nvSpPr>
          <p:cNvPr id="42" name="文本框 41"/>
          <p:cNvSpPr txBox="1"/>
          <p:nvPr/>
        </p:nvSpPr>
        <p:spPr>
          <a:xfrm>
            <a:off x="6207760" y="2581910"/>
            <a:ext cx="94996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智慧出行</a:t>
            </a:r>
            <a:endParaRPr lang="zh-CN" altLang="en-US" sz="1400" b="1">
              <a:solidFill>
                <a:srgbClr val="383838"/>
              </a:solidFill>
              <a:latin typeface="微软雅黑"/>
              <a:ea typeface="微软雅黑"/>
              <a:cs typeface="微软雅黑"/>
            </a:endParaRPr>
          </a:p>
        </p:txBody>
      </p:sp>
      <p:sp>
        <p:nvSpPr>
          <p:cNvPr id="43" name="文本框 42"/>
          <p:cNvSpPr txBox="1"/>
          <p:nvPr/>
        </p:nvSpPr>
        <p:spPr>
          <a:xfrm>
            <a:off x="5270500" y="3825240"/>
            <a:ext cx="94996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车主运营</a:t>
            </a:r>
            <a:endParaRPr lang="zh-CN" altLang="en-US" sz="1400" b="1">
              <a:solidFill>
                <a:srgbClr val="383838"/>
              </a:solidFill>
              <a:latin typeface="微软雅黑"/>
              <a:ea typeface="微软雅黑"/>
              <a:cs typeface="微软雅黑"/>
            </a:endParaRPr>
          </a:p>
        </p:txBody>
      </p:sp>
      <p:sp>
        <p:nvSpPr>
          <p:cNvPr id="44" name="文本框 43"/>
          <p:cNvSpPr txBox="1"/>
          <p:nvPr/>
        </p:nvSpPr>
        <p:spPr>
          <a:xfrm>
            <a:off x="6247765" y="3825240"/>
            <a:ext cx="949960" cy="306705"/>
          </a:xfrm>
          <a:prstGeom prst="rect">
            <a:avLst/>
          </a:prstGeom>
          <a:noFill/>
        </p:spPr>
        <p:txBody>
          <a:bodyPr wrap="square" rtlCol="0">
            <a:spAutoFit/>
          </a:bodyPr>
          <a:p>
            <a:pPr algn="ctr">
              <a:defRPr>
                <a:latin typeface="微软雅黑"/>
                <a:ea typeface="微软雅黑"/>
                <a:cs typeface="微软雅黑"/>
              </a:defRPr>
            </a:pPr>
            <a:r>
              <a:rPr lang="zh-CN" sz="1400" b="1">
                <a:solidFill>
                  <a:srgbClr val="383838"/>
                </a:solidFill>
                <a:latin typeface="微软雅黑"/>
                <a:ea typeface="微软雅黑"/>
                <a:cs typeface="微软雅黑"/>
              </a:rPr>
              <a:t>增值业务</a:t>
            </a:r>
            <a:endParaRPr lang="zh-CN" sz="1400" b="1">
              <a:solidFill>
                <a:srgbClr val="383838"/>
              </a:solidFill>
              <a:latin typeface="微软雅黑"/>
              <a:ea typeface="微软雅黑"/>
              <a:cs typeface="微软雅黑"/>
            </a:endParaRPr>
          </a:p>
        </p:txBody>
      </p:sp>
      <p:sp>
        <p:nvSpPr>
          <p:cNvPr id="45" name="文本框 44"/>
          <p:cNvSpPr txBox="1"/>
          <p:nvPr/>
        </p:nvSpPr>
        <p:spPr>
          <a:xfrm>
            <a:off x="5763895" y="1947545"/>
            <a:ext cx="817245" cy="306705"/>
          </a:xfrm>
          <a:prstGeom prst="rect">
            <a:avLst/>
          </a:prstGeom>
          <a:noFill/>
        </p:spPr>
        <p:txBody>
          <a:bodyPr wrap="square" rtlCol="0">
            <a:spAutoFit/>
          </a:bodyPr>
          <a:p>
            <a:pPr algn="ctr">
              <a:defRPr>
                <a:latin typeface="微软雅黑"/>
                <a:ea typeface="微软雅黑"/>
                <a:cs typeface="微软雅黑"/>
              </a:defRPr>
            </a:pPr>
            <a:r>
              <a:rPr lang="zh-CN" altLang="en-US" sz="1400" b="1">
                <a:gradFill>
                  <a:gsLst>
                    <a:gs pos="0">
                      <a:srgbClr val="0042FF"/>
                    </a:gs>
                    <a:gs pos="100000">
                      <a:srgbClr val="0042FF"/>
                    </a:gs>
                  </a:gsLst>
                  <a:lin ang="5400000" scaled="0"/>
                </a:gradFill>
                <a:latin typeface="微软雅黑"/>
                <a:ea typeface="微软雅黑"/>
                <a:cs typeface="微软雅黑"/>
              </a:rPr>
              <a:t>经销商</a:t>
            </a:r>
            <a:endParaRPr lang="zh-CN" altLang="en-US" sz="1400" b="1">
              <a:gradFill>
                <a:gsLst>
                  <a:gs pos="0">
                    <a:srgbClr val="0042FF"/>
                  </a:gs>
                  <a:gs pos="100000">
                    <a:srgbClr val="0042FF"/>
                  </a:gs>
                </a:gsLst>
                <a:lin ang="5400000" scaled="0"/>
              </a:gradFill>
              <a:latin typeface="微软雅黑"/>
              <a:ea typeface="微软雅黑"/>
              <a:cs typeface="微软雅黑"/>
            </a:endParaRPr>
          </a:p>
        </p:txBody>
      </p:sp>
      <p:pic>
        <p:nvPicPr>
          <p:cNvPr id="47" name="图片 46" descr="4-2商户"/>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96623" y="1623060"/>
            <a:ext cx="351790" cy="298450"/>
          </a:xfrm>
          <a:prstGeom prst="rect">
            <a:avLst/>
          </a:prstGeom>
        </p:spPr>
      </p:pic>
      <p:sp>
        <p:nvSpPr>
          <p:cNvPr id="48" name="椭圆 47"/>
          <p:cNvSpPr/>
          <p:nvPr/>
        </p:nvSpPr>
        <p:spPr>
          <a:xfrm>
            <a:off x="4322445" y="3392805"/>
            <a:ext cx="936625" cy="936625"/>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gradFill>
                <a:gsLst>
                  <a:gs pos="0">
                    <a:srgbClr val="0042FF"/>
                  </a:gs>
                  <a:gs pos="100000">
                    <a:srgbClr val="0042FF"/>
                  </a:gs>
                </a:gsLst>
                <a:lin ang="5400000" scaled="0"/>
              </a:gradFill>
              <a:cs typeface="微软雅黑"/>
              <a:latin typeface="微软雅黑"/>
              <a:ea typeface="微软雅黑"/>
            </a:endParaRPr>
          </a:p>
        </p:txBody>
      </p:sp>
      <p:sp>
        <p:nvSpPr>
          <p:cNvPr id="49" name="文本框 48"/>
          <p:cNvSpPr txBox="1"/>
          <p:nvPr/>
        </p:nvSpPr>
        <p:spPr>
          <a:xfrm>
            <a:off x="4323080" y="3893185"/>
            <a:ext cx="935990" cy="306705"/>
          </a:xfrm>
          <a:prstGeom prst="rect">
            <a:avLst/>
          </a:prstGeom>
          <a:noFill/>
        </p:spPr>
        <p:txBody>
          <a:bodyPr wrap="square" rtlCol="0">
            <a:spAutoFit/>
          </a:bodyPr>
          <a:p>
            <a:pPr algn="ctr">
              <a:defRPr>
                <a:latin typeface="微软雅黑"/>
                <a:ea typeface="微软雅黑"/>
                <a:cs typeface="微软雅黑"/>
              </a:defRPr>
            </a:pPr>
            <a:r>
              <a:rPr lang="zh-CN" altLang="en-US" sz="1400" b="1">
                <a:gradFill>
                  <a:gsLst>
                    <a:gs pos="0">
                      <a:srgbClr val="0042FF"/>
                    </a:gs>
                    <a:gs pos="100000">
                      <a:srgbClr val="0042FF"/>
                    </a:gs>
                  </a:gsLst>
                  <a:lin ang="5400000" scaled="0"/>
                </a:gradFill>
                <a:latin typeface="微软雅黑"/>
                <a:ea typeface="微软雅黑"/>
                <a:cs typeface="微软雅黑"/>
              </a:rPr>
              <a:t>车联平台</a:t>
            </a:r>
            <a:endParaRPr lang="zh-CN" altLang="en-US" sz="1400" b="1">
              <a:gradFill>
                <a:gsLst>
                  <a:gs pos="0">
                    <a:srgbClr val="0042FF"/>
                  </a:gs>
                  <a:gs pos="100000">
                    <a:srgbClr val="0042FF"/>
                  </a:gs>
                </a:gsLst>
                <a:lin ang="5400000" scaled="0"/>
              </a:gradFill>
              <a:latin typeface="微软雅黑"/>
              <a:ea typeface="微软雅黑"/>
              <a:cs typeface="微软雅黑"/>
            </a:endParaRPr>
          </a:p>
        </p:txBody>
      </p:sp>
      <p:pic>
        <p:nvPicPr>
          <p:cNvPr id="51" name="图片 50" descr="银行 (1)"/>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578985" y="3485515"/>
            <a:ext cx="423545" cy="423545"/>
          </a:xfrm>
          <a:prstGeom prst="rect">
            <a:avLst/>
          </a:prstGeom>
        </p:spPr>
      </p:pic>
      <p:sp>
        <p:nvSpPr>
          <p:cNvPr id="52" name="椭圆 51"/>
          <p:cNvSpPr/>
          <p:nvPr/>
        </p:nvSpPr>
        <p:spPr>
          <a:xfrm>
            <a:off x="7131050" y="3299460"/>
            <a:ext cx="936625" cy="936625"/>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gradFill>
                <a:gsLst>
                  <a:gs pos="0">
                    <a:srgbClr val="0042FF"/>
                  </a:gs>
                  <a:gs pos="100000">
                    <a:srgbClr val="0042FF"/>
                  </a:gs>
                </a:gsLst>
                <a:lin ang="5400000" scaled="0"/>
              </a:gradFill>
              <a:cs typeface="微软雅黑"/>
              <a:sym typeface="微软雅黑"/>
              <a:latin typeface="微软雅黑"/>
              <a:ea typeface="微软雅黑"/>
            </a:endParaRPr>
          </a:p>
        </p:txBody>
      </p:sp>
      <p:sp>
        <p:nvSpPr>
          <p:cNvPr id="53" name="文本框 52"/>
          <p:cNvSpPr txBox="1"/>
          <p:nvPr/>
        </p:nvSpPr>
        <p:spPr>
          <a:xfrm>
            <a:off x="7190740" y="3768090"/>
            <a:ext cx="817245" cy="306705"/>
          </a:xfrm>
          <a:prstGeom prst="rect">
            <a:avLst/>
          </a:prstGeom>
          <a:noFill/>
        </p:spPr>
        <p:txBody>
          <a:bodyPr wrap="square" rtlCol="0">
            <a:spAutoFit/>
          </a:bodyPr>
          <a:p>
            <a:pPr algn="ctr">
              <a:defRPr>
                <a:latin typeface="微软雅黑"/>
                <a:ea typeface="微软雅黑"/>
                <a:cs typeface="微软雅黑"/>
              </a:defRPr>
            </a:pPr>
            <a:r>
              <a:rPr lang="zh-CN" altLang="en-US" sz="1400" b="1">
                <a:gradFill>
                  <a:gsLst>
                    <a:gs pos="0">
                      <a:srgbClr val="0042FF"/>
                    </a:gs>
                    <a:gs pos="100000">
                      <a:srgbClr val="0042FF"/>
                    </a:gs>
                  </a:gsLst>
                  <a:lin ang="5400000" scaled="0"/>
                </a:gradFill>
                <a:latin typeface="微软雅黑"/>
                <a:ea typeface="微软雅黑"/>
                <a:cs typeface="微软雅黑"/>
              </a:rPr>
              <a:t>车主</a:t>
            </a:r>
            <a:endParaRPr lang="zh-CN" altLang="en-US" sz="1400" b="1">
              <a:gradFill>
                <a:gsLst>
                  <a:gs pos="0">
                    <a:srgbClr val="0042FF"/>
                  </a:gs>
                  <a:gs pos="100000">
                    <a:srgbClr val="0042FF"/>
                  </a:gs>
                </a:gsLst>
                <a:lin ang="5400000" scaled="0"/>
              </a:gradFill>
              <a:latin typeface="微软雅黑"/>
              <a:ea typeface="微软雅黑"/>
              <a:cs typeface="微软雅黑"/>
            </a:endParaRPr>
          </a:p>
        </p:txBody>
      </p:sp>
      <p:pic>
        <p:nvPicPr>
          <p:cNvPr id="55" name="图片 54" descr="消费者-2-copy"/>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423785" y="3416935"/>
            <a:ext cx="351155" cy="351155"/>
          </a:xfrm>
          <a:prstGeom prst="rect">
            <a:avLst/>
          </a:prstGeom>
        </p:spPr>
      </p:pic>
      <p:sp>
        <p:nvSpPr>
          <p:cNvPr id="73" name="弧形 72"/>
          <p:cNvSpPr/>
          <p:nvPr/>
        </p:nvSpPr>
        <p:spPr>
          <a:xfrm rot="540000" flipV="1">
            <a:off x="5116195" y="4013200"/>
            <a:ext cx="1784350" cy="927735"/>
          </a:xfrm>
          <a:prstGeom prst="arc">
            <a:avLst>
              <a:gd name="adj1" fmla="val 11858649"/>
              <a:gd name="adj2" fmla="val 18038571"/>
            </a:avLst>
          </a:prstGeom>
          <a:noFill/>
          <a:ln>
            <a:gradFill>
              <a:gsLst>
                <a:gs pos="0">
                  <a:srgbClr val="3368FF"/>
                </a:gs>
                <a:gs pos="100000">
                  <a:srgbClr val="3368FF">
                    <a:alpha val="0"/>
                  </a:srgbClr>
                </a:gs>
              </a:gsLst>
              <a:lin ang="0" scaled="1"/>
            </a:gradFill>
            <a:headEnd type="triangle" w="med" len="med"/>
            <a:tailEnd type="none"/>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4" name="弧形 73"/>
          <p:cNvSpPr/>
          <p:nvPr/>
        </p:nvSpPr>
        <p:spPr>
          <a:xfrm rot="20640000" flipH="1" flipV="1">
            <a:off x="5573395" y="4042410"/>
            <a:ext cx="1784350" cy="927735"/>
          </a:xfrm>
          <a:prstGeom prst="arc">
            <a:avLst>
              <a:gd name="adj1" fmla="val 12249290"/>
              <a:gd name="adj2" fmla="val 18340016"/>
            </a:avLst>
          </a:prstGeom>
          <a:noFill/>
          <a:ln>
            <a:gradFill>
              <a:gsLst>
                <a:gs pos="0">
                  <a:srgbClr val="3368FF"/>
                </a:gs>
                <a:gs pos="100000">
                  <a:srgbClr val="3368FF">
                    <a:alpha val="0"/>
                  </a:srgbClr>
                </a:gs>
              </a:gsLst>
              <a:lin ang="0" scaled="1"/>
            </a:gradFill>
            <a:headEnd type="triangle" w="med" len="med"/>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5" name="弧形 74"/>
          <p:cNvSpPr/>
          <p:nvPr/>
        </p:nvSpPr>
        <p:spPr>
          <a:xfrm rot="2880000" flipV="1">
            <a:off x="4960620" y="1724660"/>
            <a:ext cx="1057275" cy="1647190"/>
          </a:xfrm>
          <a:prstGeom prst="arc">
            <a:avLst>
              <a:gd name="adj1" fmla="val 7678758"/>
              <a:gd name="adj2" fmla="val 13603036"/>
            </a:avLst>
          </a:prstGeom>
          <a:noFill/>
          <a:ln>
            <a:gradFill>
              <a:gsLst>
                <a:gs pos="0">
                  <a:srgbClr val="B3D4FE"/>
                </a:gs>
                <a:gs pos="100000">
                  <a:srgbClr val="B3D4FE">
                    <a:alpha val="0"/>
                  </a:srgbClr>
                </a:gs>
              </a:gsLst>
              <a:lin ang="16200000" scaled="1"/>
            </a:gradFill>
            <a:headEnd type="triangle" w="med" len="med"/>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9" name="文本框 78"/>
          <p:cNvSpPr txBox="1"/>
          <p:nvPr/>
        </p:nvSpPr>
        <p:spPr>
          <a:xfrm rot="1080000">
            <a:off x="5185410" y="4639310"/>
            <a:ext cx="931545" cy="46037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车联服务</a:t>
            </a:r>
            <a:endParaRPr lang="zh-CN" altLang="en-US"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endParaRPr lang="zh-CN" altLang="en-US"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en-US" altLang="zh-CN" sz="1000">
                <a:solidFill>
                  <a:srgbClr val="0042FF"/>
                </a:solidFill>
                <a:latin typeface="微软雅黑"/>
                <a:ea typeface="微软雅黑"/>
                <a:cs typeface="微软雅黑"/>
              </a:rPr>
              <a:t> </a:t>
            </a:r>
            <a:r>
              <a:rPr lang="zh-CN" altLang="en-US" sz="1000">
                <a:solidFill>
                  <a:srgbClr val="0042FF"/>
                </a:solidFill>
                <a:latin typeface="微软雅黑"/>
                <a:ea typeface="微软雅黑"/>
                <a:cs typeface="微软雅黑"/>
              </a:rPr>
              <a:t>生命周期转化</a:t>
            </a:r>
            <a:r>
              <a:rPr lang="en-US" altLang="zh-CN" sz="1000">
                <a:solidFill>
                  <a:srgbClr val="0042FF"/>
                </a:solidFill>
                <a:latin typeface="微软雅黑"/>
                <a:ea typeface="微软雅黑"/>
                <a:cs typeface="微软雅黑"/>
              </a:rPr>
              <a:t> </a:t>
            </a:r>
            <a:endParaRPr lang="en-US" altLang="zh-CN" sz="1000">
              <a:solidFill>
                <a:srgbClr val="0042FF"/>
              </a:solidFill>
              <a:latin typeface="微软雅黑"/>
              <a:ea typeface="微软雅黑"/>
              <a:cs typeface="微软雅黑"/>
            </a:endParaRPr>
          </a:p>
        </p:txBody>
      </p:sp>
      <p:sp>
        <p:nvSpPr>
          <p:cNvPr id="80" name="文本框 79"/>
          <p:cNvSpPr txBox="1"/>
          <p:nvPr/>
        </p:nvSpPr>
        <p:spPr>
          <a:xfrm rot="19980000">
            <a:off x="6365875" y="4639310"/>
            <a:ext cx="837565" cy="501650"/>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动态权益</a:t>
            </a:r>
            <a:endParaRPr 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en-US" altLang="zh-CN" sz="1000">
                <a:solidFill>
                  <a:srgbClr val="0042FF"/>
                </a:solidFill>
                <a:latin typeface="微软雅黑"/>
                <a:ea typeface="微软雅黑"/>
                <a:cs typeface="微软雅黑"/>
              </a:rPr>
              <a:t> </a:t>
            </a:r>
            <a:endParaRPr lang="en-US" alt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a:solidFill>
                  <a:srgbClr val="0042FF"/>
                </a:solidFill>
                <a:latin typeface="微软雅黑"/>
                <a:ea typeface="微软雅黑"/>
                <a:cs typeface="微软雅黑"/>
              </a:rPr>
              <a:t>刺激出行</a:t>
            </a:r>
            <a:endParaRPr lang="zh-CN" altLang="en-US" sz="1000">
              <a:solidFill>
                <a:srgbClr val="0042FF"/>
              </a:solidFill>
              <a:latin typeface="微软雅黑"/>
              <a:ea typeface="微软雅黑"/>
              <a:cs typeface="微软雅黑"/>
            </a:endParaRPr>
          </a:p>
        </p:txBody>
      </p:sp>
      <p:sp>
        <p:nvSpPr>
          <p:cNvPr id="81" name="文本框 80"/>
          <p:cNvSpPr txBox="1"/>
          <p:nvPr/>
        </p:nvSpPr>
        <p:spPr>
          <a:xfrm rot="19320000">
            <a:off x="4681855" y="1875790"/>
            <a:ext cx="1026795" cy="501650"/>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383838"/>
                </a:solidFill>
                <a:latin typeface="微软雅黑"/>
                <a:ea typeface="微软雅黑"/>
                <a:cs typeface="微软雅黑"/>
              </a:rPr>
              <a:t>车生态金融</a:t>
            </a:r>
            <a:endParaRPr lang="zh-CN"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 </a:t>
            </a:r>
            <a:endParaRPr lang="en-US" altLang="zh-CN" sz="100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降低</a:t>
            </a:r>
            <a:r>
              <a:rPr lang="en-US" altLang="zh-CN" sz="1000">
                <a:solidFill>
                  <a:srgbClr val="383838"/>
                </a:solidFill>
                <a:latin typeface="微软雅黑"/>
                <a:ea typeface="微软雅黑"/>
                <a:cs typeface="微软雅黑"/>
              </a:rPr>
              <a:t>TCO</a:t>
            </a:r>
            <a:endParaRPr lang="en-US" altLang="zh-CN" sz="1000">
              <a:solidFill>
                <a:srgbClr val="383838"/>
              </a:solidFill>
              <a:latin typeface="微软雅黑"/>
              <a:ea typeface="微软雅黑"/>
              <a:cs typeface="微软雅黑"/>
            </a:endParaRPr>
          </a:p>
        </p:txBody>
      </p:sp>
      <p:sp>
        <p:nvSpPr>
          <p:cNvPr id="82" name="文本框 81"/>
          <p:cNvSpPr txBox="1"/>
          <p:nvPr/>
        </p:nvSpPr>
        <p:spPr>
          <a:xfrm rot="17340000">
            <a:off x="4017645" y="2618105"/>
            <a:ext cx="1249680" cy="501650"/>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车辆生命周期</a:t>
            </a:r>
            <a:endParaRPr 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en-US" altLang="zh-CN" sz="1000">
                <a:solidFill>
                  <a:srgbClr val="0042FF"/>
                </a:solidFill>
                <a:latin typeface="微软雅黑"/>
                <a:ea typeface="微软雅黑"/>
                <a:cs typeface="微软雅黑"/>
              </a:rPr>
              <a:t> </a:t>
            </a:r>
            <a:endParaRPr lang="en-US" alt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出行场景运营</a:t>
            </a:r>
            <a:endParaRPr lang="zh-CN" sz="1000">
              <a:solidFill>
                <a:srgbClr val="0042FF"/>
              </a:solidFill>
              <a:latin typeface="微软雅黑"/>
              <a:ea typeface="微软雅黑"/>
              <a:cs typeface="微软雅黑"/>
            </a:endParaRPr>
          </a:p>
        </p:txBody>
      </p:sp>
      <p:sp>
        <p:nvSpPr>
          <p:cNvPr id="83" name="弧形 82"/>
          <p:cNvSpPr/>
          <p:nvPr/>
        </p:nvSpPr>
        <p:spPr>
          <a:xfrm rot="1500000">
            <a:off x="4625975" y="2106930"/>
            <a:ext cx="958850" cy="1647190"/>
          </a:xfrm>
          <a:prstGeom prst="arc">
            <a:avLst>
              <a:gd name="adj1" fmla="val 7310304"/>
              <a:gd name="adj2" fmla="val 13253095"/>
            </a:avLst>
          </a:prstGeom>
          <a:noFill/>
          <a:ln>
            <a:gradFill>
              <a:gsLst>
                <a:gs pos="0">
                  <a:srgbClr val="3368FF"/>
                </a:gs>
                <a:gs pos="100000">
                  <a:srgbClr val="3368FF">
                    <a:alpha val="0"/>
                  </a:srgbClr>
                </a:gs>
              </a:gsLst>
              <a:lin ang="16200000" scaled="1"/>
            </a:gradFill>
            <a:headEnd type="triangle" w="med" len="med"/>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4" name="弧形 83"/>
          <p:cNvSpPr/>
          <p:nvPr/>
        </p:nvSpPr>
        <p:spPr>
          <a:xfrm rot="18660000" flipH="1" flipV="1">
            <a:off x="6350000" y="1696720"/>
            <a:ext cx="996950" cy="1647190"/>
          </a:xfrm>
          <a:prstGeom prst="arc">
            <a:avLst>
              <a:gd name="adj1" fmla="val 7660376"/>
              <a:gd name="adj2" fmla="val 13776152"/>
            </a:avLst>
          </a:prstGeom>
          <a:noFill/>
          <a:ln>
            <a:gradFill>
              <a:gsLst>
                <a:gs pos="0">
                  <a:srgbClr val="B3D4FE"/>
                </a:gs>
                <a:gs pos="100000">
                  <a:srgbClr val="B3D4FE">
                    <a:alpha val="0"/>
                  </a:srgbClr>
                </a:gs>
              </a:gsLst>
              <a:lin ang="16200000" scaled="1"/>
            </a:gradFill>
            <a:headEnd type="triangle" w="med" len="med"/>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5" name="弧形 84"/>
          <p:cNvSpPr/>
          <p:nvPr/>
        </p:nvSpPr>
        <p:spPr>
          <a:xfrm rot="20040000" flipH="1">
            <a:off x="6788150" y="2078355"/>
            <a:ext cx="904875" cy="1647190"/>
          </a:xfrm>
          <a:prstGeom prst="arc">
            <a:avLst>
              <a:gd name="adj1" fmla="val 7297488"/>
              <a:gd name="adj2" fmla="val 13253095"/>
            </a:avLst>
          </a:prstGeom>
          <a:noFill/>
          <a:ln>
            <a:gradFill>
              <a:gsLst>
                <a:gs pos="0">
                  <a:srgbClr val="3368FF"/>
                </a:gs>
                <a:gs pos="100000">
                  <a:srgbClr val="3368FF">
                    <a:alpha val="0"/>
                  </a:srgbClr>
                </a:gs>
              </a:gsLst>
              <a:lin ang="16200000" scaled="1"/>
            </a:gradFill>
            <a:headEnd type="triangle" w="med" len="med"/>
            <a:tailEnd type="none"/>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6" name="文本框 85"/>
          <p:cNvSpPr txBox="1"/>
          <p:nvPr/>
        </p:nvSpPr>
        <p:spPr>
          <a:xfrm rot="2160000">
            <a:off x="6662420" y="1856740"/>
            <a:ext cx="830580" cy="46037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无感服务</a:t>
            </a:r>
            <a:endParaRPr 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endParaRPr 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en-US" altLang="zh-CN" sz="1000">
                <a:solidFill>
                  <a:srgbClr val="0042FF"/>
                </a:solidFill>
                <a:latin typeface="微软雅黑"/>
                <a:ea typeface="微软雅黑"/>
                <a:cs typeface="微软雅黑"/>
              </a:rPr>
              <a:t> </a:t>
            </a:r>
            <a:r>
              <a:rPr lang="zh-CN" altLang="en-US" sz="1000">
                <a:solidFill>
                  <a:srgbClr val="0042FF"/>
                </a:solidFill>
                <a:latin typeface="微软雅黑"/>
                <a:ea typeface="微软雅黑"/>
                <a:cs typeface="微软雅黑"/>
              </a:rPr>
              <a:t>生态交叉</a:t>
            </a:r>
            <a:endParaRPr lang="zh-CN" altLang="en-US" sz="1000">
              <a:solidFill>
                <a:srgbClr val="0042FF"/>
              </a:solidFill>
              <a:latin typeface="微软雅黑"/>
              <a:ea typeface="微软雅黑"/>
              <a:cs typeface="微软雅黑"/>
            </a:endParaRPr>
          </a:p>
        </p:txBody>
      </p:sp>
      <p:sp>
        <p:nvSpPr>
          <p:cNvPr id="87" name="文本框 86"/>
          <p:cNvSpPr txBox="1"/>
          <p:nvPr/>
        </p:nvSpPr>
        <p:spPr>
          <a:xfrm rot="4020000">
            <a:off x="7258050" y="2545080"/>
            <a:ext cx="800735" cy="46037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solidFill>
                  <a:srgbClr val="0042FF"/>
                </a:solidFill>
                <a:latin typeface="微软雅黑"/>
                <a:ea typeface="微软雅黑"/>
                <a:cs typeface="微软雅黑"/>
              </a:rPr>
              <a:t>车主社群</a:t>
            </a:r>
            <a:endParaRPr 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endParaRPr lang="zh-CN" altLang="zh-CN" sz="100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en-US" altLang="zh-CN" sz="1000">
                <a:solidFill>
                  <a:srgbClr val="0042FF"/>
                </a:solidFill>
                <a:latin typeface="微软雅黑"/>
                <a:ea typeface="微软雅黑"/>
                <a:cs typeface="微软雅黑"/>
              </a:rPr>
              <a:t> </a:t>
            </a:r>
            <a:r>
              <a:rPr lang="zh-CN" altLang="en-US" sz="1000">
                <a:solidFill>
                  <a:srgbClr val="0042FF"/>
                </a:solidFill>
                <a:latin typeface="微软雅黑"/>
                <a:ea typeface="微软雅黑"/>
                <a:cs typeface="微软雅黑"/>
              </a:rPr>
              <a:t>增强</a:t>
            </a:r>
            <a:r>
              <a:rPr lang="en-US" altLang="zh-CN" sz="1000">
                <a:solidFill>
                  <a:srgbClr val="0042FF"/>
                </a:solidFill>
                <a:latin typeface="微软雅黑"/>
                <a:ea typeface="微软雅黑"/>
                <a:cs typeface="微软雅黑"/>
              </a:rPr>
              <a:t>LTV</a:t>
            </a:r>
            <a:endParaRPr lang="en-US" altLang="zh-CN" sz="1000">
              <a:solidFill>
                <a:srgbClr val="0042FF"/>
              </a:solidFill>
              <a:latin typeface="微软雅黑"/>
              <a:ea typeface="微软雅黑"/>
              <a:cs typeface="微软雅黑"/>
            </a:endParaRPr>
          </a:p>
        </p:txBody>
      </p:sp>
      <p:sp>
        <p:nvSpPr>
          <p:cNvPr id="27" name="圆角矩形 26"/>
          <p:cNvSpPr/>
          <p:nvPr/>
        </p:nvSpPr>
        <p:spPr>
          <a:xfrm>
            <a:off x="1082040" y="1532255"/>
            <a:ext cx="2900680" cy="1167765"/>
          </a:xfrm>
          <a:prstGeom prst="roundRect">
            <a:avLst>
              <a:gd name="adj" fmla="val 8124"/>
            </a:avLst>
          </a:prstGeom>
          <a:gradFill>
            <a:gsLst>
              <a:gs pos="0">
                <a:srgbClr val="FFFFFF">
                  <a:alpha val="0"/>
                </a:srgbClr>
              </a:gs>
              <a:gs pos="100000">
                <a:srgbClr val="FFFFFF"/>
              </a:gs>
            </a:gsLst>
            <a:lin ang="16200000" scaled="0"/>
          </a:gradFill>
          <a:ln>
            <a:gradFill>
              <a:gsLst>
                <a:gs pos="0">
                  <a:srgbClr val="B3D4FE"/>
                </a:gs>
                <a:gs pos="100000">
                  <a:srgbClr val="B3D4FE">
                    <a:alpha val="0"/>
                  </a:srgbClr>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9" name="圆角矩形 88"/>
          <p:cNvSpPr/>
          <p:nvPr/>
        </p:nvSpPr>
        <p:spPr>
          <a:xfrm>
            <a:off x="1722755" y="1670050"/>
            <a:ext cx="1289050" cy="27749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200" b="1">
                <a:solidFill>
                  <a:srgbClr val="0042FF"/>
                </a:solidFill>
                <a:cs typeface="微软雅黑"/>
                <a:latin typeface="微软雅黑"/>
                <a:ea typeface="微软雅黑"/>
              </a:rPr>
              <a:t>车联网</a:t>
            </a:r>
            <a:r>
              <a:rPr lang="zh-CN" altLang="en-US" sz="1000">
                <a:solidFill>
                  <a:srgbClr val="0042FF"/>
                </a:solidFill>
                <a:cs typeface="微软雅黑"/>
                <a:latin typeface="微软雅黑"/>
                <a:ea typeface="微软雅黑"/>
              </a:rPr>
              <a:t>服务</a:t>
            </a:r>
            <a:endParaRPr lang="zh-CN" altLang="en-US" sz="1000">
              <a:solidFill>
                <a:srgbClr val="0042FF"/>
              </a:solidFill>
              <a:cs typeface="微软雅黑"/>
              <a:latin typeface="微软雅黑"/>
              <a:ea typeface="微软雅黑"/>
            </a:endParaRPr>
          </a:p>
        </p:txBody>
      </p:sp>
      <p:sp>
        <p:nvSpPr>
          <p:cNvPr id="90" name="文本框 89"/>
          <p:cNvSpPr txBox="1"/>
          <p:nvPr/>
        </p:nvSpPr>
        <p:spPr>
          <a:xfrm>
            <a:off x="1104900" y="2085975"/>
            <a:ext cx="2853690" cy="521970"/>
          </a:xfrm>
          <a:prstGeom prst="rect">
            <a:avLst/>
          </a:prstGeom>
          <a:noFill/>
        </p:spPr>
        <p:txBody>
          <a:bodyPr wrap="square" rtlCol="0" lIns="0" rIns="0" tIns="0" bIns="0" anchor="t">
            <a:noAutofit/>
          </a:bodyPr>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智能车联平台：</a:t>
            </a:r>
            <a:r>
              <a:rPr lang="zh-CN" altLang="en-US" sz="1000">
                <a:solidFill>
                  <a:srgbClr val="383838"/>
                </a:solidFill>
                <a:latin typeface="微软雅黑"/>
                <a:ea typeface="微软雅黑"/>
                <a:cs typeface="微软雅黑"/>
              </a:rPr>
              <a:t>提供车辆数据管理、远程诊断、</a:t>
            </a:r>
            <a:r>
              <a:rPr lang="en-US" altLang="zh-CN" sz="1000">
                <a:solidFill>
                  <a:srgbClr val="383838"/>
                </a:solidFill>
                <a:latin typeface="微软雅黑"/>
                <a:ea typeface="微软雅黑"/>
                <a:cs typeface="微软雅黑"/>
              </a:rPr>
              <a:t>OTA</a:t>
            </a:r>
            <a:r>
              <a:rPr lang="zh-CN" altLang="en-US" sz="1000">
                <a:solidFill>
                  <a:srgbClr val="383838"/>
                </a:solidFill>
                <a:latin typeface="微软雅黑"/>
                <a:ea typeface="微软雅黑"/>
                <a:cs typeface="微软雅黑"/>
              </a:rPr>
              <a:t>升级服务；</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安全出行保障：</a:t>
            </a:r>
            <a:r>
              <a:rPr lang="zh-CN" altLang="en-US" sz="1000">
                <a:solidFill>
                  <a:srgbClr val="383838"/>
                </a:solidFill>
                <a:latin typeface="微软雅黑"/>
                <a:ea typeface="微软雅黑"/>
                <a:cs typeface="微软雅黑"/>
              </a:rPr>
              <a:t>构建端到端加密的车云通信体系。</a:t>
            </a:r>
            <a:endParaRPr lang="zh-CN" altLang="en-US" sz="1000">
              <a:solidFill>
                <a:srgbClr val="383838"/>
              </a:solidFill>
              <a:latin typeface="微软雅黑"/>
              <a:ea typeface="微软雅黑"/>
              <a:cs typeface="微软雅黑"/>
            </a:endParaRPr>
          </a:p>
        </p:txBody>
      </p:sp>
      <p:sp>
        <p:nvSpPr>
          <p:cNvPr id="28" name="圆角矩形 27"/>
          <p:cNvSpPr/>
          <p:nvPr/>
        </p:nvSpPr>
        <p:spPr>
          <a:xfrm>
            <a:off x="1082040" y="3188335"/>
            <a:ext cx="2900680" cy="1167765"/>
          </a:xfrm>
          <a:prstGeom prst="roundRect">
            <a:avLst>
              <a:gd name="adj" fmla="val 8124"/>
            </a:avLst>
          </a:prstGeom>
          <a:gradFill>
            <a:gsLst>
              <a:gs pos="0">
                <a:srgbClr val="E6E6E6">
                  <a:alpha val="0"/>
                </a:srgbClr>
              </a:gs>
              <a:gs pos="100000">
                <a:srgbClr val="E6E6E6"/>
              </a:gs>
            </a:gsLst>
            <a:lin ang="16200000" scaled="0"/>
          </a:gradFill>
          <a:ln>
            <a:gradFill>
              <a:gsLst>
                <a:gs pos="0">
                  <a:srgbClr val="3368FF"/>
                </a:gs>
                <a:gs pos="100000">
                  <a:srgbClr val="3368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2" name="圆角矩形 91"/>
          <p:cNvSpPr/>
          <p:nvPr/>
        </p:nvSpPr>
        <p:spPr>
          <a:xfrm>
            <a:off x="1740535" y="3343910"/>
            <a:ext cx="1289050" cy="277495"/>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车主生态</a:t>
            </a:r>
            <a:r>
              <a:rPr lang="zh-CN" altLang="en-US" sz="1000">
                <a:solidFill>
                  <a:srgbClr val="0042FF"/>
                </a:solidFill>
                <a:cs typeface="微软雅黑"/>
                <a:sym typeface="微软雅黑"/>
                <a:latin typeface="微软雅黑"/>
                <a:ea typeface="微软雅黑"/>
              </a:rPr>
              <a:t>运营</a:t>
            </a:r>
            <a:endParaRPr lang="zh-CN" altLang="en-US" sz="1000">
              <a:solidFill>
                <a:srgbClr val="0042FF"/>
              </a:solidFill>
              <a:cs typeface="微软雅黑"/>
              <a:sym typeface="微软雅黑"/>
              <a:latin typeface="微软雅黑"/>
              <a:ea typeface="微软雅黑"/>
            </a:endParaRPr>
          </a:p>
        </p:txBody>
      </p:sp>
      <p:sp>
        <p:nvSpPr>
          <p:cNvPr id="94" name="圆角矩形 93"/>
          <p:cNvSpPr/>
          <p:nvPr/>
        </p:nvSpPr>
        <p:spPr>
          <a:xfrm>
            <a:off x="8536940" y="1532255"/>
            <a:ext cx="2900680" cy="1167765"/>
          </a:xfrm>
          <a:prstGeom prst="roundRect">
            <a:avLst>
              <a:gd name="adj" fmla="val 8124"/>
            </a:avLst>
          </a:prstGeom>
          <a:gradFill>
            <a:gsLst>
              <a:gs pos="0">
                <a:srgbClr val="FFFFFF">
                  <a:alpha val="0"/>
                </a:srgbClr>
              </a:gs>
              <a:gs pos="100000">
                <a:srgbClr val="FFFFFF"/>
              </a:gs>
            </a:gsLst>
            <a:lin ang="16200000" scaled="0"/>
          </a:gradFill>
          <a:ln>
            <a:gradFill>
              <a:gsLst>
                <a:gs pos="0">
                  <a:srgbClr val="B3D4FE"/>
                </a:gs>
                <a:gs pos="100000">
                  <a:srgbClr val="B3D4FE">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7" name="圆角矩形 96"/>
          <p:cNvSpPr/>
          <p:nvPr/>
        </p:nvSpPr>
        <p:spPr>
          <a:xfrm>
            <a:off x="9177655" y="1670050"/>
            <a:ext cx="1289050" cy="277495"/>
          </a:xfrm>
          <a:prstGeom prst="roundRect">
            <a:avLst>
              <a:gd name="adj" fmla="val 500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智慧出行</a:t>
            </a:r>
            <a:r>
              <a:rPr lang="zh-CN" altLang="en-US" sz="1000">
                <a:solidFill>
                  <a:srgbClr val="0042FF"/>
                </a:solidFill>
                <a:cs typeface="微软雅黑"/>
                <a:sym typeface="微软雅黑"/>
                <a:latin typeface="微软雅黑"/>
                <a:ea typeface="微软雅黑"/>
              </a:rPr>
              <a:t>方案</a:t>
            </a:r>
            <a:endParaRPr lang="zh-CN" altLang="en-US" sz="1000" b="1">
              <a:solidFill>
                <a:srgbClr val="0042FF"/>
              </a:solidFill>
              <a:cs typeface="微软雅黑"/>
              <a:sym typeface="微软雅黑"/>
              <a:latin typeface="微软雅黑"/>
              <a:ea typeface="微软雅黑"/>
            </a:endParaRPr>
          </a:p>
        </p:txBody>
      </p:sp>
      <p:sp>
        <p:nvSpPr>
          <p:cNvPr id="95" name="圆角矩形 94"/>
          <p:cNvSpPr/>
          <p:nvPr/>
        </p:nvSpPr>
        <p:spPr>
          <a:xfrm>
            <a:off x="8536940" y="3137535"/>
            <a:ext cx="2900680" cy="1167765"/>
          </a:xfrm>
          <a:prstGeom prst="roundRect">
            <a:avLst>
              <a:gd name="adj" fmla="val 8124"/>
            </a:avLst>
          </a:prstGeom>
          <a:gradFill>
            <a:gsLst>
              <a:gs pos="0">
                <a:srgbClr val="E6E6E6">
                  <a:alpha val="0"/>
                </a:srgbClr>
              </a:gs>
              <a:gs pos="100000">
                <a:srgbClr val="E6E6E6"/>
              </a:gs>
            </a:gsLst>
            <a:lin ang="16200000" scaled="0"/>
          </a:gradFill>
          <a:ln>
            <a:gradFill>
              <a:gsLst>
                <a:gs pos="0">
                  <a:srgbClr val="3368FF"/>
                </a:gs>
                <a:gs pos="100000">
                  <a:srgbClr val="3368FF">
                    <a:alpha val="0"/>
                  </a:srgbClr>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0" name="圆角矩形 99"/>
          <p:cNvSpPr/>
          <p:nvPr/>
        </p:nvSpPr>
        <p:spPr>
          <a:xfrm>
            <a:off x="9195435" y="3293110"/>
            <a:ext cx="1289050" cy="277495"/>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200" b="1">
                <a:solidFill>
                  <a:srgbClr val="0042FF"/>
                </a:solidFill>
                <a:cs typeface="微软雅黑"/>
                <a:latin typeface="微软雅黑"/>
                <a:ea typeface="微软雅黑"/>
              </a:rPr>
              <a:t>增值衍生</a:t>
            </a:r>
            <a:r>
              <a:rPr lang="zh-CN" altLang="en-US" sz="1000">
                <a:solidFill>
                  <a:srgbClr val="0042FF"/>
                </a:solidFill>
                <a:cs typeface="微软雅黑"/>
                <a:latin typeface="微软雅黑"/>
                <a:ea typeface="微软雅黑"/>
              </a:rPr>
              <a:t>业务</a:t>
            </a:r>
            <a:endParaRPr lang="zh-CN" altLang="en-US" sz="1000">
              <a:solidFill>
                <a:srgbClr val="0042FF"/>
              </a:solidFill>
              <a:cs typeface="微软雅黑"/>
              <a:latin typeface="微软雅黑"/>
              <a:ea typeface="微软雅黑"/>
            </a:endParaRPr>
          </a:p>
        </p:txBody>
      </p:sp>
      <p:sp>
        <p:nvSpPr>
          <p:cNvPr id="106" name="文本框 105"/>
          <p:cNvSpPr txBox="1"/>
          <p:nvPr/>
        </p:nvSpPr>
        <p:spPr>
          <a:xfrm>
            <a:off x="1104900" y="5038725"/>
            <a:ext cx="1191895"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核心优势：</a:t>
            </a:r>
            <a:endParaRPr lang="zh-CN" altLang="en-US" sz="1600" b="1">
              <a:solidFill>
                <a:srgbClr val="0042FF"/>
              </a:solidFill>
              <a:latin typeface="微软雅黑"/>
              <a:ea typeface="微软雅黑"/>
              <a:cs typeface="微软雅黑"/>
            </a:endParaRPr>
          </a:p>
        </p:txBody>
      </p:sp>
      <p:sp>
        <p:nvSpPr>
          <p:cNvPr id="107" name="文本框 106"/>
          <p:cNvSpPr txBox="1"/>
          <p:nvPr/>
        </p:nvSpPr>
        <p:spPr>
          <a:xfrm>
            <a:off x="1150620" y="5621655"/>
            <a:ext cx="171323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主机厂战略合作</a:t>
            </a:r>
            <a:endParaRPr lang="zh-CN" altLang="en-US" sz="1600" b="1">
              <a:solidFill>
                <a:srgbClr val="383838"/>
              </a:solidFill>
              <a:latin typeface="微软雅黑"/>
              <a:ea typeface="微软雅黑"/>
              <a:cs typeface="微软雅黑"/>
            </a:endParaRPr>
          </a:p>
        </p:txBody>
      </p:sp>
      <p:sp>
        <p:nvSpPr>
          <p:cNvPr id="108" name="文本框 107"/>
          <p:cNvSpPr txBox="1"/>
          <p:nvPr/>
        </p:nvSpPr>
        <p:spPr>
          <a:xfrm>
            <a:off x="2955925" y="5621655"/>
            <a:ext cx="1715135"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车规级安全认证</a:t>
            </a:r>
            <a:endParaRPr lang="zh-CN" altLang="en-US" sz="1600" b="1">
              <a:solidFill>
                <a:srgbClr val="383838"/>
              </a:solidFill>
              <a:latin typeface="微软雅黑"/>
              <a:ea typeface="微软雅黑"/>
              <a:cs typeface="微软雅黑"/>
            </a:endParaRPr>
          </a:p>
        </p:txBody>
      </p:sp>
      <p:sp>
        <p:nvSpPr>
          <p:cNvPr id="109" name="文本框 108"/>
          <p:cNvSpPr txBox="1"/>
          <p:nvPr/>
        </p:nvSpPr>
        <p:spPr>
          <a:xfrm>
            <a:off x="4671695" y="5621655"/>
            <a:ext cx="1677035"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覆盖率</a:t>
            </a:r>
            <a:endParaRPr lang="zh-CN" altLang="en-US" sz="1600" b="1">
              <a:solidFill>
                <a:srgbClr val="383838"/>
              </a:solidFill>
              <a:latin typeface="微软雅黑"/>
              <a:ea typeface="微软雅黑"/>
              <a:cs typeface="微软雅黑"/>
            </a:endParaRPr>
          </a:p>
        </p:txBody>
      </p:sp>
      <p:sp>
        <p:nvSpPr>
          <p:cNvPr id="110" name="文本框 109"/>
          <p:cNvSpPr txBox="1"/>
          <p:nvPr/>
        </p:nvSpPr>
        <p:spPr>
          <a:xfrm>
            <a:off x="6343650" y="5621655"/>
            <a:ext cx="1713230" cy="337185"/>
          </a:xfrm>
          <a:prstGeom prst="rect">
            <a:avLst/>
          </a:prstGeom>
          <a:noFill/>
        </p:spPr>
        <p:txBody>
          <a:bodyPr wrap="square" rtlCol="0">
            <a:spAutoFit/>
          </a:bodyPr>
          <a:p>
            <a:pPr algn="ctr">
              <a:defRPr>
                <a:latin typeface="微软雅黑"/>
                <a:ea typeface="微软雅黑"/>
                <a:cs typeface="微软雅黑"/>
              </a:defRPr>
            </a:pPr>
            <a:r>
              <a:rPr lang="en-US" altLang="zh-CN" sz="1600" b="1">
                <a:solidFill>
                  <a:srgbClr val="383838"/>
                </a:solidFill>
                <a:latin typeface="微软雅黑"/>
                <a:ea typeface="微软雅黑"/>
                <a:cs typeface="微软雅黑"/>
                <a:sym typeface="微软雅黑"/>
              </a:rPr>
              <a:t>10</a:t>
            </a:r>
            <a:r>
              <a:rPr lang="zh-CN" altLang="en-US" sz="1600" b="1">
                <a:solidFill>
                  <a:srgbClr val="383838"/>
                </a:solidFill>
                <a:latin typeface="微软雅黑"/>
                <a:ea typeface="微软雅黑"/>
                <a:cs typeface="微软雅黑"/>
                <a:sym typeface="微软雅黑"/>
              </a:rPr>
              <a:t>大核心领域</a:t>
            </a:r>
            <a:endParaRPr lang="en-US" altLang="zh-CN" sz="1600" b="1">
              <a:solidFill>
                <a:srgbClr val="383838"/>
              </a:solidFill>
              <a:latin typeface="微软雅黑"/>
              <a:ea typeface="微软雅黑"/>
              <a:cs typeface="微软雅黑"/>
            </a:endParaRPr>
          </a:p>
        </p:txBody>
      </p:sp>
      <p:sp>
        <p:nvSpPr>
          <p:cNvPr id="111" name="文本框 110"/>
          <p:cNvSpPr txBox="1"/>
          <p:nvPr/>
        </p:nvSpPr>
        <p:spPr>
          <a:xfrm>
            <a:off x="8132445" y="5621655"/>
            <a:ext cx="1687195" cy="337185"/>
          </a:xfrm>
          <a:prstGeom prst="rect">
            <a:avLst/>
          </a:prstGeom>
          <a:noFill/>
        </p:spPr>
        <p:txBody>
          <a:bodyPr wrap="square" rtlCol="0">
            <a:spAutoFit/>
          </a:bodyPr>
          <a:p>
            <a:pPr algn="ctr">
              <a:defRPr>
                <a:latin typeface="微软雅黑"/>
                <a:ea typeface="微软雅黑"/>
                <a:cs typeface="微软雅黑"/>
              </a:defRPr>
            </a:pPr>
            <a:r>
              <a:rPr lang="en-US" sz="1600" b="1">
                <a:solidFill>
                  <a:srgbClr val="383838"/>
                </a:solidFill>
                <a:latin typeface="微软雅黑"/>
                <a:ea typeface="微软雅黑"/>
                <a:cs typeface="微软雅黑"/>
              </a:rPr>
              <a:t>50+</a:t>
            </a:r>
            <a:r>
              <a:rPr lang="zh-CN" altLang="en-US" sz="1600" b="1">
                <a:solidFill>
                  <a:srgbClr val="383838"/>
                </a:solidFill>
                <a:latin typeface="微软雅黑"/>
                <a:ea typeface="微软雅黑"/>
                <a:cs typeface="微软雅黑"/>
              </a:rPr>
              <a:t>创新场景</a:t>
            </a:r>
            <a:endParaRPr lang="zh-CN" altLang="en-US" sz="1600" b="1">
              <a:solidFill>
                <a:srgbClr val="383838"/>
              </a:solidFill>
              <a:latin typeface="微软雅黑"/>
              <a:ea typeface="微软雅黑"/>
              <a:cs typeface="微软雅黑"/>
            </a:endParaRPr>
          </a:p>
        </p:txBody>
      </p:sp>
      <p:sp>
        <p:nvSpPr>
          <p:cNvPr id="112" name="文本框 111"/>
          <p:cNvSpPr txBox="1"/>
          <p:nvPr/>
        </p:nvSpPr>
        <p:spPr>
          <a:xfrm>
            <a:off x="9805670" y="5621655"/>
            <a:ext cx="1713230" cy="337185"/>
          </a:xfrm>
          <a:prstGeom prst="rect">
            <a:avLst/>
          </a:prstGeom>
          <a:noFill/>
        </p:spPr>
        <p:txBody>
          <a:bodyPr wrap="square" rtlCol="0">
            <a:spAutoFit/>
          </a:bodyPr>
          <a:p>
            <a:pPr algn="ctr">
              <a:defRPr>
                <a:latin typeface="微软雅黑"/>
                <a:ea typeface="微软雅黑"/>
                <a:cs typeface="微软雅黑"/>
              </a:defRPr>
            </a:pPr>
            <a:r>
              <a:rPr lang="en-US" sz="1600" b="1">
                <a:solidFill>
                  <a:srgbClr val="383838"/>
                </a:solidFill>
                <a:latin typeface="微软雅黑"/>
                <a:ea typeface="微软雅黑"/>
                <a:cs typeface="微软雅黑"/>
              </a:rPr>
              <a:t>200+</a:t>
            </a:r>
            <a:endParaRPr lang="en-US" sz="1600" b="1">
              <a:solidFill>
                <a:srgbClr val="383838"/>
              </a:solidFill>
              <a:latin typeface="微软雅黑"/>
              <a:ea typeface="微软雅黑"/>
              <a:cs typeface="微软雅黑"/>
            </a:endParaRPr>
          </a:p>
        </p:txBody>
      </p:sp>
      <p:sp>
        <p:nvSpPr>
          <p:cNvPr id="113" name="文本框 112"/>
          <p:cNvSpPr txBox="1"/>
          <p:nvPr/>
        </p:nvSpPr>
        <p:spPr>
          <a:xfrm>
            <a:off x="1150620" y="5958840"/>
            <a:ext cx="1713230"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与头部车企联合研发</a:t>
            </a:r>
            <a:endParaRPr lang="zh-CN" altLang="en-US" sz="1200">
              <a:solidFill>
                <a:srgbClr val="FFFFFF"/>
              </a:solidFill>
              <a:latin typeface="微软雅黑"/>
              <a:ea typeface="微软雅黑"/>
              <a:cs typeface="微软雅黑"/>
            </a:endParaRPr>
          </a:p>
        </p:txBody>
      </p:sp>
      <p:sp>
        <p:nvSpPr>
          <p:cNvPr id="114" name="文本框 113"/>
          <p:cNvSpPr txBox="1"/>
          <p:nvPr/>
        </p:nvSpPr>
        <p:spPr>
          <a:xfrm>
            <a:off x="3029585" y="5958840"/>
            <a:ext cx="1567180"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altLang="zh-CN" sz="1200">
                <a:solidFill>
                  <a:srgbClr val="FFFFFF"/>
                </a:solidFill>
                <a:latin typeface="微软雅黑"/>
                <a:ea typeface="微软雅黑"/>
                <a:cs typeface="微软雅黑"/>
                <a:sym typeface="微软雅黑"/>
              </a:rPr>
              <a:t>ISO</a:t>
            </a:r>
            <a:r>
              <a:rPr lang="zh-CN" altLang="en-US" sz="1200">
                <a:solidFill>
                  <a:srgbClr val="FFFFFF"/>
                </a:solidFill>
                <a:latin typeface="微软雅黑"/>
                <a:ea typeface="微软雅黑"/>
                <a:cs typeface="微软雅黑"/>
                <a:sym typeface="微软雅黑"/>
              </a:rPr>
              <a:t>功能安全认证</a:t>
            </a:r>
            <a:endParaRPr lang="zh-CN" altLang="en-US" sz="1200">
              <a:solidFill>
                <a:srgbClr val="FFFFFF"/>
              </a:solidFill>
              <a:latin typeface="微软雅黑"/>
              <a:ea typeface="微软雅黑"/>
              <a:cs typeface="微软雅黑"/>
              <a:sym typeface="微软雅黑"/>
            </a:endParaRPr>
          </a:p>
        </p:txBody>
      </p:sp>
      <p:sp>
        <p:nvSpPr>
          <p:cNvPr id="115" name="文本框 114"/>
          <p:cNvSpPr txBox="1"/>
          <p:nvPr/>
        </p:nvSpPr>
        <p:spPr>
          <a:xfrm>
            <a:off x="4652010" y="5958840"/>
            <a:ext cx="1713230"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覆盖生产</a:t>
            </a:r>
            <a:r>
              <a:rPr lang="en-US" altLang="zh-CN" sz="1200">
                <a:solidFill>
                  <a:srgbClr val="FFFFFF"/>
                </a:solidFill>
                <a:latin typeface="微软雅黑"/>
                <a:ea typeface="微软雅黑"/>
                <a:cs typeface="微软雅黑"/>
              </a:rPr>
              <a:t>-</a:t>
            </a:r>
            <a:r>
              <a:rPr lang="zh-CN" altLang="en-US" sz="1200">
                <a:solidFill>
                  <a:srgbClr val="FFFFFF"/>
                </a:solidFill>
                <a:latin typeface="微软雅黑"/>
                <a:ea typeface="微软雅黑"/>
                <a:cs typeface="微软雅黑"/>
              </a:rPr>
              <a:t>零售产业链</a:t>
            </a:r>
            <a:endParaRPr lang="zh-CN" altLang="en-US" sz="1200">
              <a:solidFill>
                <a:srgbClr val="FFFFFF"/>
              </a:solidFill>
              <a:latin typeface="微软雅黑"/>
              <a:ea typeface="微软雅黑"/>
              <a:cs typeface="微软雅黑"/>
            </a:endParaRPr>
          </a:p>
        </p:txBody>
      </p:sp>
      <p:sp>
        <p:nvSpPr>
          <p:cNvPr id="116" name="文本框 115"/>
          <p:cNvSpPr txBox="1"/>
          <p:nvPr/>
        </p:nvSpPr>
        <p:spPr>
          <a:xfrm>
            <a:off x="6349365" y="5958840"/>
            <a:ext cx="1713230"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sym typeface="微软雅黑"/>
              </a:rPr>
              <a:t>智能驾驶</a:t>
            </a:r>
            <a:r>
              <a:rPr lang="en-US" altLang="zh-CN" sz="1200">
                <a:solidFill>
                  <a:srgbClr val="FFFFFF"/>
                </a:solidFill>
                <a:latin typeface="微软雅黑"/>
                <a:ea typeface="微软雅黑"/>
                <a:cs typeface="微软雅黑"/>
                <a:sym typeface="微软雅黑"/>
              </a:rPr>
              <a:t>/</a:t>
            </a:r>
            <a:r>
              <a:rPr lang="zh-CN" altLang="en-US" sz="1200">
                <a:solidFill>
                  <a:srgbClr val="FFFFFF"/>
                </a:solidFill>
                <a:latin typeface="微软雅黑"/>
                <a:ea typeface="微软雅黑"/>
                <a:cs typeface="微软雅黑"/>
                <a:sym typeface="微软雅黑"/>
              </a:rPr>
              <a:t>电动化等</a:t>
            </a:r>
            <a:endParaRPr lang="zh-CN" altLang="en-US" sz="1200">
              <a:solidFill>
                <a:srgbClr val="FFFFFF"/>
              </a:solidFill>
              <a:latin typeface="微软雅黑"/>
              <a:ea typeface="微软雅黑"/>
              <a:cs typeface="微软雅黑"/>
              <a:sym typeface="微软雅黑"/>
            </a:endParaRPr>
          </a:p>
        </p:txBody>
      </p:sp>
      <p:sp>
        <p:nvSpPr>
          <p:cNvPr id="117" name="文本框 116"/>
          <p:cNvSpPr txBox="1"/>
          <p:nvPr/>
        </p:nvSpPr>
        <p:spPr>
          <a:xfrm>
            <a:off x="8089265" y="5958840"/>
            <a:ext cx="1803400"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en-US" altLang="zh-CN" sz="1200">
                <a:solidFill>
                  <a:srgbClr val="FFFFFF"/>
                </a:solidFill>
                <a:latin typeface="微软雅黑"/>
                <a:ea typeface="微软雅黑"/>
                <a:cs typeface="微软雅黑"/>
                <a:sym typeface="微软雅黑"/>
              </a:rPr>
              <a:t>AR</a:t>
            </a:r>
            <a:r>
              <a:rPr lang="zh-CN" altLang="en-US" sz="1200">
                <a:solidFill>
                  <a:srgbClr val="FFFFFF"/>
                </a:solidFill>
                <a:latin typeface="微软雅黑"/>
                <a:ea typeface="微软雅黑"/>
                <a:cs typeface="微软雅黑"/>
                <a:sym typeface="微软雅黑"/>
              </a:rPr>
              <a:t>维修指导等场景方案</a:t>
            </a:r>
            <a:endParaRPr lang="zh-CN" altLang="en-US" sz="1200">
              <a:solidFill>
                <a:srgbClr val="FFFFFF"/>
              </a:solidFill>
              <a:latin typeface="微软雅黑"/>
              <a:ea typeface="微软雅黑"/>
              <a:cs typeface="微软雅黑"/>
              <a:sym typeface="微软雅黑"/>
            </a:endParaRPr>
          </a:p>
        </p:txBody>
      </p:sp>
      <p:sp>
        <p:nvSpPr>
          <p:cNvPr id="118" name="文本框 117"/>
          <p:cNvSpPr txBox="1"/>
          <p:nvPr/>
        </p:nvSpPr>
        <p:spPr>
          <a:xfrm>
            <a:off x="9815195" y="5958840"/>
            <a:ext cx="1713230" cy="27559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200">
                <a:solidFill>
                  <a:srgbClr val="FFFFFF"/>
                </a:solidFill>
                <a:latin typeface="微软雅黑"/>
                <a:ea typeface="微软雅黑"/>
                <a:cs typeface="微软雅黑"/>
              </a:rPr>
              <a:t>整合产业联盟伙伴</a:t>
            </a:r>
            <a:endParaRPr lang="zh-CN" altLang="en-US" sz="1200">
              <a:solidFill>
                <a:srgbClr val="FFFFFF"/>
              </a:solidFill>
              <a:latin typeface="微软雅黑"/>
              <a:ea typeface="微软雅黑"/>
              <a:cs typeface="微软雅黑"/>
            </a:endParaRPr>
          </a:p>
        </p:txBody>
      </p:sp>
      <p:sp>
        <p:nvSpPr>
          <p:cNvPr id="119" name="文本框 118"/>
          <p:cNvSpPr txBox="1"/>
          <p:nvPr/>
        </p:nvSpPr>
        <p:spPr>
          <a:xfrm>
            <a:off x="1082040" y="3755390"/>
            <a:ext cx="2853690" cy="478790"/>
          </a:xfrm>
          <a:prstGeom prst="rect">
            <a:avLst/>
          </a:prstGeom>
          <a:noFill/>
        </p:spPr>
        <p:txBody>
          <a:bodyPr wrap="square" rtlCol="0" lIns="0" rIns="0" tIns="0" bIns="0" anchor="t">
            <a:noAutofit/>
          </a:bodyPr>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车主生活圈：</a:t>
            </a:r>
            <a:r>
              <a:rPr lang="zh-CN" altLang="en-US" sz="1000">
                <a:solidFill>
                  <a:srgbClr val="383838"/>
                </a:solidFill>
                <a:latin typeface="微软雅黑"/>
                <a:ea typeface="微软雅黑"/>
                <a:cs typeface="微软雅黑"/>
              </a:rPr>
              <a:t>整合充电、保险、维保等消费场景；</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数据价值转化：</a:t>
            </a:r>
            <a:r>
              <a:rPr lang="zh-CN" altLang="en-US" sz="1000">
                <a:solidFill>
                  <a:srgbClr val="383838"/>
                </a:solidFill>
                <a:latin typeface="微软雅黑"/>
                <a:ea typeface="微软雅黑"/>
                <a:cs typeface="微软雅黑"/>
              </a:rPr>
              <a:t>驾驶行为分析驱动的精准服务推荐。</a:t>
            </a:r>
            <a:endParaRPr lang="zh-CN" altLang="en-US" sz="1000">
              <a:solidFill>
                <a:srgbClr val="383838"/>
              </a:solidFill>
              <a:latin typeface="微软雅黑"/>
              <a:ea typeface="微软雅黑"/>
              <a:cs typeface="微软雅黑"/>
            </a:endParaRPr>
          </a:p>
        </p:txBody>
      </p:sp>
      <p:sp>
        <p:nvSpPr>
          <p:cNvPr id="120" name="文本框 119"/>
          <p:cNvSpPr txBox="1"/>
          <p:nvPr/>
        </p:nvSpPr>
        <p:spPr>
          <a:xfrm>
            <a:off x="8623300" y="2094865"/>
            <a:ext cx="2853690" cy="621030"/>
          </a:xfrm>
          <a:prstGeom prst="rect">
            <a:avLst/>
          </a:prstGeom>
          <a:noFill/>
        </p:spPr>
        <p:txBody>
          <a:bodyPr wrap="square" rtlCol="0" lIns="0" rIns="0" tIns="0" bIns="0" anchor="t">
            <a:noAutofit/>
          </a:bodyPr>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行业定制平台：</a:t>
            </a:r>
            <a:r>
              <a:rPr lang="zh-CN" altLang="en-US" sz="1000">
                <a:solidFill>
                  <a:srgbClr val="383838"/>
                </a:solidFill>
                <a:latin typeface="微软雅黑"/>
                <a:ea typeface="微软雅黑"/>
                <a:cs typeface="微软雅黑"/>
              </a:rPr>
              <a:t>车厂数字展厅、</a:t>
            </a: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店智能管理系统；</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新基建赋能：</a:t>
            </a:r>
            <a:r>
              <a:rPr lang="en-US" altLang="zh-CN" sz="1000">
                <a:solidFill>
                  <a:srgbClr val="383838"/>
                </a:solidFill>
                <a:latin typeface="微软雅黑"/>
                <a:ea typeface="微软雅黑"/>
                <a:cs typeface="微软雅黑"/>
              </a:rPr>
              <a:t>V2X</a:t>
            </a:r>
            <a:r>
              <a:rPr lang="zh-CN" altLang="en-US" sz="1000">
                <a:solidFill>
                  <a:srgbClr val="383838"/>
                </a:solidFill>
                <a:latin typeface="微软雅黑"/>
                <a:ea typeface="微软雅黑"/>
                <a:cs typeface="微软雅黑"/>
              </a:rPr>
              <a:t>车路协同系统、智慧停车场集成。</a:t>
            </a:r>
            <a:endParaRPr lang="zh-CN" altLang="en-US" sz="1000">
              <a:solidFill>
                <a:srgbClr val="383838"/>
              </a:solidFill>
              <a:latin typeface="微软雅黑"/>
              <a:ea typeface="微软雅黑"/>
              <a:cs typeface="微软雅黑"/>
            </a:endParaRPr>
          </a:p>
        </p:txBody>
      </p:sp>
      <p:sp>
        <p:nvSpPr>
          <p:cNvPr id="121" name="文本框 120"/>
          <p:cNvSpPr txBox="1"/>
          <p:nvPr/>
        </p:nvSpPr>
        <p:spPr>
          <a:xfrm>
            <a:off x="8623300" y="3782695"/>
            <a:ext cx="2853690" cy="398780"/>
          </a:xfrm>
          <a:prstGeom prst="rect">
            <a:avLst/>
          </a:prstGeom>
          <a:noFill/>
        </p:spPr>
        <p:txBody>
          <a:bodyPr wrap="square" rtlCol="0" lIns="0" rIns="0" tIns="0" bIns="0" anchor="t">
            <a:noAutofit/>
          </a:bodyPr>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移动服务网络：</a:t>
            </a:r>
            <a:r>
              <a:rPr lang="zh-CN" altLang="en-US" sz="1000">
                <a:solidFill>
                  <a:srgbClr val="383838"/>
                </a:solidFill>
                <a:latin typeface="微软雅黑"/>
                <a:ea typeface="微软雅黑"/>
                <a:cs typeface="微软雅黑"/>
              </a:rPr>
              <a:t>一键上门洗车、充电车救援；</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ea typeface="微软雅黑"/>
                <a:cs typeface="微软雅黑"/>
              </a:rPr>
              <a:t>汽车金融科技：</a:t>
            </a:r>
            <a:r>
              <a:rPr lang="zh-CN" altLang="en-US" sz="1000">
                <a:solidFill>
                  <a:srgbClr val="383838"/>
                </a:solidFill>
                <a:latin typeface="微软雅黑"/>
                <a:ea typeface="微软雅黑"/>
                <a:cs typeface="微软雅黑"/>
              </a:rPr>
              <a:t>融资租赁风控模型、供应链金融</a:t>
            </a:r>
            <a:r>
              <a:rPr lang="en-US" altLang="zh-CN" sz="1000">
                <a:solidFill>
                  <a:srgbClr val="383838"/>
                </a:solidFill>
                <a:latin typeface="微软雅黑"/>
                <a:ea typeface="微软雅黑"/>
                <a:cs typeface="微软雅黑"/>
              </a:rPr>
              <a:t>.</a:t>
            </a:r>
            <a:endParaRPr lang="en-US" altLang="zh-CN" sz="1000">
              <a:solidFill>
                <a:srgbClr val="383838"/>
              </a:solidFill>
              <a:latin typeface="微软雅黑"/>
              <a:ea typeface="微软雅黑"/>
              <a:cs typeface="微软雅黑"/>
            </a:endParaRPr>
          </a:p>
        </p:txBody>
      </p:sp>
      <p:grpSp>
        <p:nvGrpSpPr>
          <p:cNvPr id="125" name="组合 124"/>
          <p:cNvGrpSpPr/>
          <p:nvPr/>
        </p:nvGrpSpPr>
        <p:grpSpPr>
          <a:xfrm rot="5400000">
            <a:off x="2766695" y="5095240"/>
            <a:ext cx="481965" cy="382270"/>
            <a:chOff x="6647" y="8054"/>
            <a:chExt cx="759" cy="602"/>
          </a:xfrm>
        </p:grpSpPr>
        <p:sp>
          <p:nvSpPr>
            <p:cNvPr id="123" name="菱形 122"/>
            <p:cNvSpPr/>
            <p:nvPr/>
          </p:nvSpPr>
          <p:spPr>
            <a:xfrm rot="10800000" flipH="1" flipV="1">
              <a:off x="6647"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24" name="菱形 123"/>
            <p:cNvSpPr/>
            <p:nvPr/>
          </p:nvSpPr>
          <p:spPr>
            <a:xfrm rot="10800000" flipH="1" flipV="1">
              <a:off x="6840"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129" name="组合 128"/>
          <p:cNvGrpSpPr/>
          <p:nvPr/>
        </p:nvGrpSpPr>
        <p:grpSpPr>
          <a:xfrm rot="5400000">
            <a:off x="4219575" y="5095240"/>
            <a:ext cx="481965" cy="382270"/>
            <a:chOff x="6647" y="8054"/>
            <a:chExt cx="759" cy="602"/>
          </a:xfrm>
        </p:grpSpPr>
        <p:sp>
          <p:nvSpPr>
            <p:cNvPr id="130" name="菱形 129"/>
            <p:cNvSpPr/>
            <p:nvPr/>
          </p:nvSpPr>
          <p:spPr>
            <a:xfrm rot="10800000" flipH="1" flipV="1">
              <a:off x="6647"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31" name="菱形 130"/>
            <p:cNvSpPr/>
            <p:nvPr/>
          </p:nvSpPr>
          <p:spPr>
            <a:xfrm rot="10800000" flipH="1" flipV="1">
              <a:off x="6840"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132" name="组合 131"/>
          <p:cNvGrpSpPr/>
          <p:nvPr/>
        </p:nvGrpSpPr>
        <p:grpSpPr>
          <a:xfrm rot="5400000">
            <a:off x="7958455" y="5062855"/>
            <a:ext cx="481965" cy="382270"/>
            <a:chOff x="6647" y="8054"/>
            <a:chExt cx="759" cy="602"/>
          </a:xfrm>
        </p:grpSpPr>
        <p:sp>
          <p:nvSpPr>
            <p:cNvPr id="133" name="菱形 132"/>
            <p:cNvSpPr/>
            <p:nvPr/>
          </p:nvSpPr>
          <p:spPr>
            <a:xfrm rot="10800000" flipH="1" flipV="1">
              <a:off x="6647"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34" name="菱形 133"/>
            <p:cNvSpPr/>
            <p:nvPr/>
          </p:nvSpPr>
          <p:spPr>
            <a:xfrm rot="10800000" flipH="1" flipV="1">
              <a:off x="6840"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135" name="组合 134"/>
          <p:cNvGrpSpPr/>
          <p:nvPr/>
        </p:nvGrpSpPr>
        <p:grpSpPr>
          <a:xfrm rot="5400000">
            <a:off x="9411335" y="5062855"/>
            <a:ext cx="481965" cy="382270"/>
            <a:chOff x="6647" y="8054"/>
            <a:chExt cx="759" cy="602"/>
          </a:xfrm>
        </p:grpSpPr>
        <p:sp>
          <p:nvSpPr>
            <p:cNvPr id="136" name="菱形 135"/>
            <p:cNvSpPr/>
            <p:nvPr/>
          </p:nvSpPr>
          <p:spPr>
            <a:xfrm rot="10800000" flipH="1" flipV="1">
              <a:off x="6647"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37" name="菱形 136"/>
            <p:cNvSpPr/>
            <p:nvPr/>
          </p:nvSpPr>
          <p:spPr>
            <a:xfrm rot="10800000" flipH="1" flipV="1">
              <a:off x="6840" y="8054"/>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pic>
        <p:nvPicPr>
          <p:cNvPr id="139" name="图片 138" descr="车联网 (1)"/>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304925" y="1677670"/>
            <a:ext cx="279400" cy="279400"/>
          </a:xfrm>
          <a:prstGeom prst="rect">
            <a:avLst/>
          </a:prstGeom>
        </p:spPr>
      </p:pic>
      <p:pic>
        <p:nvPicPr>
          <p:cNvPr id="140" name="图片 139" descr="kj_cloudServices"/>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773795" y="1670050"/>
            <a:ext cx="281940" cy="281940"/>
          </a:xfrm>
          <a:prstGeom prst="rect">
            <a:avLst/>
          </a:prstGeom>
        </p:spPr>
      </p:pic>
      <p:pic>
        <p:nvPicPr>
          <p:cNvPr id="141" name="图片 140" descr="客户运营"/>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243330" y="3294380"/>
            <a:ext cx="403225" cy="403225"/>
          </a:xfrm>
          <a:prstGeom prst="rect">
            <a:avLst/>
          </a:prstGeom>
        </p:spPr>
      </p:pic>
      <p:pic>
        <p:nvPicPr>
          <p:cNvPr id="142" name="图片 141" descr="增值服务"/>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8764905" y="3266440"/>
            <a:ext cx="308610" cy="308610"/>
          </a:xfrm>
          <a:prstGeom prst="rect">
            <a:avLst/>
          </a:prstGeom>
        </p:spPr>
      </p:pic>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17"/>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矩形: 圆角 121"/>
          <p:cNvSpPr/>
          <p:nvPr/>
        </p:nvSpPr>
        <p:spPr>
          <a:xfrm>
            <a:off x="2635885" y="1495425"/>
            <a:ext cx="7016115" cy="2686685"/>
          </a:xfrm>
          <a:prstGeom prst="roundRect">
            <a:avLst>
              <a:gd name="adj" fmla="val 50000"/>
            </a:avLst>
          </a:prstGeom>
          <a:solidFill>
            <a:srgbClr val="FFFFFF"/>
          </a:solidFill>
          <a:ln w="12700">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nvGrpSpPr>
          <p:cNvPr id="105" name="组合 104"/>
          <p:cNvGrpSpPr/>
          <p:nvPr/>
        </p:nvGrpSpPr>
        <p:grpSpPr>
          <a:xfrm rot="0">
            <a:off x="2863434" y="1681480"/>
            <a:ext cx="2289372" cy="2286635"/>
            <a:chOff x="10043699" y="1470929"/>
            <a:chExt cx="4562633" cy="4557715"/>
          </a:xfrm>
          <a:solidFill>
            <a:srgbClr val="FFFFFF"/>
          </a:solidFill>
        </p:grpSpPr>
        <p:sp>
          <p:nvSpPr>
            <p:cNvPr id="106" name="任意多边形: 形状 105"/>
            <p:cNvSpPr/>
            <p:nvPr/>
          </p:nvSpPr>
          <p:spPr>
            <a:xfrm>
              <a:off x="10043699" y="1470929"/>
              <a:ext cx="4551680" cy="4551680"/>
            </a:xfrm>
            <a:custGeom>
              <a:avLst/>
              <a:gdLst>
                <a:gd name="connsiteX0" fmla="*/ 2275840 w 4551680"/>
                <a:gd name="connsiteY0" fmla="*/ 0 h 4551680"/>
                <a:gd name="connsiteX1" fmla="*/ 4440292 w 4551680"/>
                <a:gd name="connsiteY1" fmla="*/ 1572567 h 4551680"/>
                <a:gd name="connsiteX2" fmla="*/ 2275840 w 4551680"/>
                <a:gd name="connsiteY2" fmla="*/ 2275840 h 4551680"/>
                <a:gd name="connsiteX3" fmla="*/ 2275840 w 4551680"/>
                <a:gd name="connsiteY3" fmla="*/ 0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2275840" y="0"/>
                  </a:moveTo>
                  <a:cubicBezTo>
                    <a:pt x="3261794" y="0"/>
                    <a:pt x="4135616" y="634869"/>
                    <a:pt x="4440292" y="1572567"/>
                  </a:cubicBezTo>
                  <a:lnTo>
                    <a:pt x="2275840" y="2275840"/>
                  </a:lnTo>
                  <a:lnTo>
                    <a:pt x="2275840" y="0"/>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08" name="任意多边形: 形状 107"/>
            <p:cNvSpPr/>
            <p:nvPr/>
          </p:nvSpPr>
          <p:spPr>
            <a:xfrm>
              <a:off x="10054652" y="1476964"/>
              <a:ext cx="4551680" cy="4551680"/>
            </a:xfrm>
            <a:custGeom>
              <a:avLst/>
              <a:gdLst>
                <a:gd name="connsiteX0" fmla="*/ 4440292 w 4551680"/>
                <a:gd name="connsiteY0" fmla="*/ 1572567 h 4551680"/>
                <a:gd name="connsiteX1" fmla="*/ 3613545 w 4551680"/>
                <a:gd name="connsiteY1" fmla="*/ 4117033 h 4551680"/>
                <a:gd name="connsiteX2" fmla="*/ 2275840 w 4551680"/>
                <a:gd name="connsiteY2" fmla="*/ 2275840 h 4551680"/>
                <a:gd name="connsiteX3" fmla="*/ 4440292 w 4551680"/>
                <a:gd name="connsiteY3" fmla="*/ 1572567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4440292" y="1572567"/>
                  </a:moveTo>
                  <a:cubicBezTo>
                    <a:pt x="4744968" y="2510265"/>
                    <a:pt x="4411198" y="3537504"/>
                    <a:pt x="3613545" y="4117033"/>
                  </a:cubicBezTo>
                  <a:lnTo>
                    <a:pt x="2275840" y="2275840"/>
                  </a:lnTo>
                  <a:lnTo>
                    <a:pt x="4440292" y="1572567"/>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09" name="任意多边形: 形状 108"/>
            <p:cNvSpPr/>
            <p:nvPr/>
          </p:nvSpPr>
          <p:spPr>
            <a:xfrm>
              <a:off x="10054652" y="1476964"/>
              <a:ext cx="4551680" cy="4551680"/>
            </a:xfrm>
            <a:custGeom>
              <a:avLst/>
              <a:gdLst>
                <a:gd name="connsiteX0" fmla="*/ 3613545 w 4551680"/>
                <a:gd name="connsiteY0" fmla="*/ 4117033 h 4551680"/>
                <a:gd name="connsiteX1" fmla="*/ 938135 w 4551680"/>
                <a:gd name="connsiteY1" fmla="*/ 4117033 h 4551680"/>
                <a:gd name="connsiteX2" fmla="*/ 2275840 w 4551680"/>
                <a:gd name="connsiteY2" fmla="*/ 2275840 h 4551680"/>
                <a:gd name="connsiteX3" fmla="*/ 3613545 w 4551680"/>
                <a:gd name="connsiteY3" fmla="*/ 4117033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3613545" y="4117033"/>
                  </a:moveTo>
                  <a:cubicBezTo>
                    <a:pt x="2815892" y="4696562"/>
                    <a:pt x="1735788" y="4696562"/>
                    <a:pt x="938135" y="4117033"/>
                  </a:cubicBezTo>
                  <a:lnTo>
                    <a:pt x="2275840" y="2275840"/>
                  </a:lnTo>
                  <a:lnTo>
                    <a:pt x="3613545" y="4117033"/>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10" name="任意多边形: 形状 109"/>
            <p:cNvSpPr/>
            <p:nvPr/>
          </p:nvSpPr>
          <p:spPr>
            <a:xfrm>
              <a:off x="10054652" y="1476964"/>
              <a:ext cx="4551680" cy="4551680"/>
            </a:xfrm>
            <a:custGeom>
              <a:avLst/>
              <a:gdLst>
                <a:gd name="connsiteX0" fmla="*/ 938135 w 4551680"/>
                <a:gd name="connsiteY0" fmla="*/ 4117033 h 4551680"/>
                <a:gd name="connsiteX1" fmla="*/ 111388 w 4551680"/>
                <a:gd name="connsiteY1" fmla="*/ 1572567 h 4551680"/>
                <a:gd name="connsiteX2" fmla="*/ 2275840 w 4551680"/>
                <a:gd name="connsiteY2" fmla="*/ 2275840 h 4551680"/>
                <a:gd name="connsiteX3" fmla="*/ 938135 w 4551680"/>
                <a:gd name="connsiteY3" fmla="*/ 4117033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938135" y="4117033"/>
                  </a:moveTo>
                  <a:cubicBezTo>
                    <a:pt x="140482" y="3537504"/>
                    <a:pt x="-193289" y="2510264"/>
                    <a:pt x="111388" y="1572567"/>
                  </a:cubicBezTo>
                  <a:lnTo>
                    <a:pt x="2275840" y="2275840"/>
                  </a:lnTo>
                  <a:lnTo>
                    <a:pt x="938135" y="4117033"/>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11" name="任意多边形: 形状 110"/>
            <p:cNvSpPr/>
            <p:nvPr/>
          </p:nvSpPr>
          <p:spPr>
            <a:xfrm>
              <a:off x="10054652" y="1476964"/>
              <a:ext cx="4551680" cy="4551680"/>
            </a:xfrm>
            <a:custGeom>
              <a:avLst/>
              <a:gdLst>
                <a:gd name="connsiteX0" fmla="*/ 111388 w 4551680"/>
                <a:gd name="connsiteY0" fmla="*/ 1572567 h 4551680"/>
                <a:gd name="connsiteX1" fmla="*/ 2275840 w 4551680"/>
                <a:gd name="connsiteY1" fmla="*/ 0 h 4551680"/>
                <a:gd name="connsiteX2" fmla="*/ 2275840 w 4551680"/>
                <a:gd name="connsiteY2" fmla="*/ 2275840 h 4551680"/>
                <a:gd name="connsiteX3" fmla="*/ 111388 w 4551680"/>
                <a:gd name="connsiteY3" fmla="*/ 1572567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111388" y="1572567"/>
                  </a:moveTo>
                  <a:cubicBezTo>
                    <a:pt x="416064" y="634869"/>
                    <a:pt x="1289887" y="0"/>
                    <a:pt x="2275840" y="0"/>
                  </a:cubicBezTo>
                  <a:lnTo>
                    <a:pt x="2275840" y="2275840"/>
                  </a:lnTo>
                  <a:lnTo>
                    <a:pt x="111388" y="1572567"/>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horz" wrap="square" lIns="0" tIns="0" rIns="0" bIns="0" numCol="1" spcCol="1270" anchor="ctr" anchorCtr="0">
              <a:noAutofit/>
            </a:bodyPr>
            <a:lstStyle/>
            <a:p>
              <a:pPr marL="0" marR="0" lvl="0" indent="0" algn="ctr" defTabSz="1866900" rtl="0" eaLnBrk="1" fontAlgn="auto" latinLnBrk="0" hangingPunct="1">
                <a:lnSpc>
                  <a:spcPct val="90000"/>
                </a:lnSpc>
                <a:spcBef>
                  <a:spcPct val="0"/>
                </a:spcBef>
                <a:spcAft>
                  <a:spcPct val="35000"/>
                </a:spcAft>
                <a:buClrTx/>
                <a:buSzTx/>
                <a:buFontTx/>
                <a:buNone/>
                <a:defRPr>
                  <a:solidFill>
                    <a:srgbClr val="FFFFFF"/>
                  </a:solidFill>
                  <a:latin typeface="微软雅黑"/>
                  <a:ea typeface="微软雅黑"/>
                  <a:cs typeface="微软雅黑"/>
                </a:defRPr>
              </a:pPr>
              <a:endParaRPr kumimoji="0" lang="zh-CN" altLang="en-US" sz="42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公域引流</a:t>
            </a:r>
            <a:r>
              <a:rPr lang="en-US" altLang="zh-CN" sz="2500" dirty="0">
                <a:solidFill>
                  <a:srgbClr val="383838"/>
                </a:solidFill>
                <a:effectLst/>
                <a:latin typeface="微软雅黑"/>
                <a:ea typeface="微软雅黑"/>
                <a:cs typeface="微软雅黑"/>
              </a:rPr>
              <a:t>+</a:t>
            </a:r>
            <a:r>
              <a:rPr sz="2500" dirty="0">
                <a:solidFill>
                  <a:srgbClr val="383838"/>
                </a:solidFill>
                <a:effectLst/>
                <a:latin typeface="微软雅黑"/>
                <a:ea typeface="微软雅黑"/>
                <a:cs typeface="微软雅黑"/>
              </a:rPr>
              <a:t>私域深耕</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6" name="椭圆 25"/>
          <p:cNvSpPr/>
          <p:nvPr/>
        </p:nvSpPr>
        <p:spPr>
          <a:xfrm>
            <a:off x="3220085" y="2030730"/>
            <a:ext cx="1584325" cy="1583690"/>
          </a:xfrm>
          <a:prstGeom prst="ellipse">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nvGrpSpPr>
          <p:cNvPr id="130" name="组合 129"/>
          <p:cNvGrpSpPr/>
          <p:nvPr/>
        </p:nvGrpSpPr>
        <p:grpSpPr>
          <a:xfrm rot="0">
            <a:off x="5861050" y="4082415"/>
            <a:ext cx="476885" cy="188595"/>
            <a:chOff x="5991197" y="5285973"/>
            <a:chExt cx="550743" cy="217820"/>
          </a:xfrm>
          <a:solidFill>
            <a:srgbClr val="DCDCDC"/>
          </a:solidFill>
        </p:grpSpPr>
        <p:sp>
          <p:nvSpPr>
            <p:cNvPr id="126" name="等腰三角形 125"/>
            <p:cNvSpPr/>
            <p:nvPr/>
          </p:nvSpPr>
          <p:spPr>
            <a:xfrm rot="16195239">
              <a:off x="5976175" y="5300995"/>
              <a:ext cx="217819" cy="187775"/>
            </a:xfrm>
            <a:prstGeom prst="triangle">
              <a:avLst>
                <a:gd name="adj" fmla="val 50723"/>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7" name="等腰三角形 126"/>
            <p:cNvSpPr/>
            <p:nvPr/>
          </p:nvSpPr>
          <p:spPr>
            <a:xfrm rot="16195239">
              <a:off x="6158596" y="5300996"/>
              <a:ext cx="217819" cy="187775"/>
            </a:xfrm>
            <a:prstGeom prst="triangle">
              <a:avLst>
                <a:gd name="adj" fmla="val 50723"/>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8" name="等腰三角形 127"/>
            <p:cNvSpPr/>
            <p:nvPr/>
          </p:nvSpPr>
          <p:spPr>
            <a:xfrm rot="16195239">
              <a:off x="6339143" y="5300995"/>
              <a:ext cx="217819" cy="187775"/>
            </a:xfrm>
            <a:prstGeom prst="triangle">
              <a:avLst>
                <a:gd name="adj" fmla="val 50723"/>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132" name="组合 131"/>
          <p:cNvGrpSpPr/>
          <p:nvPr/>
        </p:nvGrpSpPr>
        <p:grpSpPr>
          <a:xfrm rot="10800000">
            <a:off x="5909945" y="1399540"/>
            <a:ext cx="476885" cy="188595"/>
            <a:chOff x="5991197" y="5285973"/>
            <a:chExt cx="550743" cy="217820"/>
          </a:xfrm>
          <a:solidFill>
            <a:srgbClr val="DCDCDC"/>
          </a:solidFill>
        </p:grpSpPr>
        <p:sp>
          <p:nvSpPr>
            <p:cNvPr id="133" name="等腰三角形 132"/>
            <p:cNvSpPr/>
            <p:nvPr/>
          </p:nvSpPr>
          <p:spPr>
            <a:xfrm rot="16195239">
              <a:off x="5976175" y="5300995"/>
              <a:ext cx="217819" cy="187775"/>
            </a:xfrm>
            <a:prstGeom prst="triangle">
              <a:avLst>
                <a:gd name="adj" fmla="val 50723"/>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34" name="等腰三角形 133"/>
            <p:cNvSpPr/>
            <p:nvPr/>
          </p:nvSpPr>
          <p:spPr>
            <a:xfrm rot="16195239">
              <a:off x="6158596" y="5300996"/>
              <a:ext cx="217819" cy="187775"/>
            </a:xfrm>
            <a:prstGeom prst="triangle">
              <a:avLst>
                <a:gd name="adj" fmla="val 50723"/>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36" name="等腰三角形 135"/>
            <p:cNvSpPr/>
            <p:nvPr/>
          </p:nvSpPr>
          <p:spPr>
            <a:xfrm rot="16195239">
              <a:off x="6339143" y="5300995"/>
              <a:ext cx="217819" cy="187775"/>
            </a:xfrm>
            <a:prstGeom prst="triangle">
              <a:avLst>
                <a:gd name="adj" fmla="val 50723"/>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6" name="圆角矩形 5"/>
          <p:cNvSpPr/>
          <p:nvPr/>
        </p:nvSpPr>
        <p:spPr>
          <a:xfrm>
            <a:off x="1123950" y="1479550"/>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cs typeface="微软雅黑"/>
                <a:latin typeface="微软雅黑"/>
                <a:ea typeface="微软雅黑"/>
              </a:rPr>
              <a:t>引入流量</a:t>
            </a:r>
            <a:endParaRPr lang="zh-CN" altLang="en-US" sz="1400">
              <a:solidFill>
                <a:srgbClr val="0042FF"/>
              </a:solidFill>
              <a:cs typeface="微软雅黑"/>
              <a:latin typeface="微软雅黑"/>
              <a:ea typeface="微软雅黑"/>
            </a:endParaRPr>
          </a:p>
        </p:txBody>
      </p:sp>
      <p:sp>
        <p:nvSpPr>
          <p:cNvPr id="7" name="圆角矩形 6"/>
          <p:cNvSpPr/>
          <p:nvPr/>
        </p:nvSpPr>
        <p:spPr>
          <a:xfrm>
            <a:off x="802005" y="2078990"/>
            <a:ext cx="144970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cs typeface="微软雅黑"/>
                <a:sym typeface="微软雅黑"/>
                <a:latin typeface="微软雅黑"/>
                <a:ea typeface="微软雅黑"/>
              </a:rPr>
              <a:t>覆盖潜客</a:t>
            </a:r>
            <a:endParaRPr lang="zh-CN" altLang="en-US" sz="1400">
              <a:solidFill>
                <a:srgbClr val="0042FF"/>
              </a:solidFill>
              <a:cs typeface="微软雅黑"/>
              <a:sym typeface="微软雅黑"/>
              <a:latin typeface="微软雅黑"/>
              <a:ea typeface="微软雅黑"/>
            </a:endParaRPr>
          </a:p>
        </p:txBody>
      </p:sp>
      <p:sp>
        <p:nvSpPr>
          <p:cNvPr id="8" name="圆角矩形 7"/>
          <p:cNvSpPr/>
          <p:nvPr/>
        </p:nvSpPr>
        <p:spPr>
          <a:xfrm>
            <a:off x="1106170" y="3927475"/>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cs typeface="微软雅黑"/>
                <a:sym typeface="微软雅黑"/>
                <a:latin typeface="微软雅黑"/>
                <a:ea typeface="微软雅黑"/>
              </a:rPr>
              <a:t>线上</a:t>
            </a:r>
            <a:r>
              <a:rPr lang="en-US" altLang="zh-CN" sz="1400">
                <a:solidFill>
                  <a:srgbClr val="0042FF"/>
                </a:solidFill>
                <a:cs typeface="微软雅黑"/>
                <a:sym typeface="微软雅黑"/>
                <a:latin typeface="微软雅黑"/>
                <a:ea typeface="微软雅黑"/>
              </a:rPr>
              <a:t>+</a:t>
            </a:r>
            <a:r>
              <a:rPr lang="zh-CN" altLang="en-US" sz="1400">
                <a:solidFill>
                  <a:srgbClr val="0042FF"/>
                </a:solidFill>
                <a:cs typeface="微软雅黑"/>
                <a:sym typeface="微软雅黑"/>
                <a:latin typeface="微软雅黑"/>
                <a:ea typeface="微软雅黑"/>
              </a:rPr>
              <a:t>线下</a:t>
            </a:r>
            <a:endParaRPr lang="zh-CN" altLang="en-US" sz="1400">
              <a:solidFill>
                <a:srgbClr val="0042FF"/>
              </a:solidFill>
              <a:cs typeface="微软雅黑"/>
              <a:sym typeface="微软雅黑"/>
              <a:latin typeface="微软雅黑"/>
              <a:ea typeface="微软雅黑"/>
            </a:endParaRPr>
          </a:p>
        </p:txBody>
      </p:sp>
      <p:sp>
        <p:nvSpPr>
          <p:cNvPr id="9" name="圆角矩形 8"/>
          <p:cNvSpPr/>
          <p:nvPr/>
        </p:nvSpPr>
        <p:spPr>
          <a:xfrm>
            <a:off x="771525" y="3315335"/>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cs typeface="微软雅黑"/>
                <a:sym typeface="微软雅黑"/>
                <a:latin typeface="微软雅黑"/>
                <a:ea typeface="微软雅黑"/>
              </a:rPr>
              <a:t>拓展渠道</a:t>
            </a:r>
            <a:endParaRPr lang="zh-CN" altLang="en-US" sz="1400">
              <a:solidFill>
                <a:srgbClr val="0042FF"/>
              </a:solidFill>
              <a:cs typeface="微软雅黑"/>
              <a:sym typeface="微软雅黑"/>
              <a:latin typeface="微软雅黑"/>
              <a:ea typeface="微软雅黑"/>
            </a:endParaRPr>
          </a:p>
        </p:txBody>
      </p:sp>
      <p:sp>
        <p:nvSpPr>
          <p:cNvPr id="11" name="圆角矩形 10"/>
          <p:cNvSpPr/>
          <p:nvPr/>
        </p:nvSpPr>
        <p:spPr>
          <a:xfrm>
            <a:off x="597535" y="2696210"/>
            <a:ext cx="127063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cs typeface="微软雅黑"/>
                <a:sym typeface="微软雅黑"/>
                <a:latin typeface="微软雅黑"/>
                <a:ea typeface="微软雅黑"/>
              </a:rPr>
              <a:t>广泛分发</a:t>
            </a:r>
            <a:endParaRPr lang="zh-CN" altLang="en-US" sz="1400">
              <a:solidFill>
                <a:srgbClr val="0042FF"/>
              </a:solidFill>
              <a:cs typeface="微软雅黑"/>
              <a:sym typeface="微软雅黑"/>
              <a:latin typeface="微软雅黑"/>
              <a:ea typeface="微软雅黑"/>
            </a:endParaRPr>
          </a:p>
        </p:txBody>
      </p:sp>
      <p:sp>
        <p:nvSpPr>
          <p:cNvPr id="12" name="圆角矩形 11"/>
          <p:cNvSpPr/>
          <p:nvPr/>
        </p:nvSpPr>
        <p:spPr>
          <a:xfrm>
            <a:off x="2436495" y="3927475"/>
            <a:ext cx="51371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cs typeface="微软雅黑"/>
                <a:sym typeface="微软雅黑"/>
                <a:latin typeface="微软雅黑"/>
                <a:ea typeface="微软雅黑"/>
              </a:rPr>
              <a:t>…</a:t>
            </a:r>
            <a:endParaRPr lang="zh-CN" altLang="en-US" sz="1400">
              <a:solidFill>
                <a:srgbClr val="0042FF"/>
              </a:solidFill>
              <a:cs typeface="微软雅黑"/>
              <a:sym typeface="微软雅黑"/>
              <a:latin typeface="微软雅黑"/>
              <a:ea typeface="微软雅黑"/>
            </a:endParaRPr>
          </a:p>
        </p:txBody>
      </p:sp>
      <p:grpSp>
        <p:nvGrpSpPr>
          <p:cNvPr id="793" name="熊大的PPT宝库51"/>
          <p:cNvGrpSpPr/>
          <p:nvPr/>
        </p:nvGrpSpPr>
        <p:grpSpPr>
          <a:xfrm rot="0" flipH="1">
            <a:off x="2026285" y="2739390"/>
            <a:ext cx="487680" cy="271145"/>
            <a:chOff x="4856673" y="5108015"/>
            <a:chExt cx="487937" cy="271126"/>
          </a:xfrm>
          <a:gradFill>
            <a:gsLst>
              <a:gs pos="0">
                <a:srgbClr val="3368FF">
                  <a:alpha val="50000"/>
                </a:srgbClr>
              </a:gs>
              <a:gs pos="100000">
                <a:srgbClr val="0042FF"/>
              </a:gs>
            </a:gsLst>
            <a:lin ang="0" scaled="0"/>
          </a:gradFill>
        </p:grpSpPr>
        <p:grpSp>
          <p:nvGrpSpPr>
            <p:cNvPr id="794" name="图形 6"/>
            <p:cNvGrpSpPr/>
            <p:nvPr/>
          </p:nvGrpSpPr>
          <p:grpSpPr>
            <a:xfrm>
              <a:off x="4856673" y="5108015"/>
              <a:ext cx="189077" cy="271126"/>
              <a:chOff x="4856673" y="5108015"/>
              <a:chExt cx="189077" cy="271126"/>
            </a:xfrm>
            <a:grpFill/>
          </p:grpSpPr>
          <p:sp>
            <p:nvSpPr>
              <p:cNvPr id="795" name="熊大的PPT宝库51-1"/>
              <p:cNvSpPr/>
              <p:nvPr/>
            </p:nvSpPr>
            <p:spPr>
              <a:xfrm>
                <a:off x="489594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6" name="熊大的PPT宝库51-2"/>
              <p:cNvSpPr/>
              <p:nvPr/>
            </p:nvSpPr>
            <p:spPr>
              <a:xfrm>
                <a:off x="493516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797" name="熊大的PPT宝库51-3"/>
              <p:cNvSpPr/>
              <p:nvPr/>
            </p:nvSpPr>
            <p:spPr>
              <a:xfrm>
                <a:off x="485669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8" name="熊大的PPT宝库51-4"/>
              <p:cNvSpPr/>
              <p:nvPr/>
            </p:nvSpPr>
            <p:spPr>
              <a:xfrm>
                <a:off x="489594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799" name="熊大的PPT宝库51-5"/>
              <p:cNvSpPr/>
              <p:nvPr/>
            </p:nvSpPr>
            <p:spPr>
              <a:xfrm>
                <a:off x="4856673"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44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184" y="32114"/>
                      <a:pt x="0" y="24930"/>
                      <a:pt x="0" y="16044"/>
                    </a:cubicBezTo>
                    <a:cubicBezTo>
                      <a:pt x="0" y="7184"/>
                      <a:pt x="7184" y="0"/>
                      <a:pt x="16044"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0" name="熊大的PPT宝库51-6"/>
              <p:cNvSpPr/>
              <p:nvPr/>
            </p:nvSpPr>
            <p:spPr>
              <a:xfrm>
                <a:off x="489594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1" name="熊大的PPT宝库51-7"/>
              <p:cNvSpPr/>
              <p:nvPr/>
            </p:nvSpPr>
            <p:spPr>
              <a:xfrm>
                <a:off x="493516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02" name="熊大的PPT宝库51-8"/>
              <p:cNvSpPr/>
              <p:nvPr/>
            </p:nvSpPr>
            <p:spPr>
              <a:xfrm>
                <a:off x="493516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03" name="熊大的PPT宝库51-9"/>
              <p:cNvSpPr/>
              <p:nvPr/>
            </p:nvSpPr>
            <p:spPr>
              <a:xfrm>
                <a:off x="489594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4" name="熊大的PPT宝库51-10"/>
              <p:cNvSpPr/>
              <p:nvPr/>
            </p:nvSpPr>
            <p:spPr>
              <a:xfrm>
                <a:off x="493516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3" y="32089"/>
                      <a:pt x="0" y="24905"/>
                      <a:pt x="0" y="16044"/>
                    </a:cubicBezTo>
                    <a:cubicBezTo>
                      <a:pt x="0" y="7183"/>
                      <a:pt x="7183" y="0"/>
                      <a:pt x="16044" y="0"/>
                    </a:cubicBezTo>
                    <a:cubicBezTo>
                      <a:pt x="24905" y="0"/>
                      <a:pt x="32089" y="7183"/>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05" name="熊大的PPT宝库51-11"/>
              <p:cNvSpPr/>
              <p:nvPr/>
            </p:nvSpPr>
            <p:spPr>
              <a:xfrm>
                <a:off x="497441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6" name="熊大的PPT宝库51-12"/>
              <p:cNvSpPr/>
              <p:nvPr/>
            </p:nvSpPr>
            <p:spPr>
              <a:xfrm>
                <a:off x="497441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07" name="熊大的PPT宝库51-13"/>
              <p:cNvSpPr/>
              <p:nvPr/>
            </p:nvSpPr>
            <p:spPr>
              <a:xfrm>
                <a:off x="5013637" y="5229311"/>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08" name="熊大的PPT宝库51-14"/>
              <p:cNvSpPr/>
              <p:nvPr/>
            </p:nvSpPr>
            <p:spPr>
              <a:xfrm>
                <a:off x="497441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809" name="图形 6"/>
            <p:cNvGrpSpPr/>
            <p:nvPr/>
          </p:nvGrpSpPr>
          <p:grpSpPr>
            <a:xfrm>
              <a:off x="5001822" y="5108015"/>
              <a:ext cx="189077" cy="271126"/>
              <a:chOff x="5001822" y="5108015"/>
              <a:chExt cx="189077" cy="271126"/>
            </a:xfrm>
            <a:grpFill/>
          </p:grpSpPr>
          <p:sp>
            <p:nvSpPr>
              <p:cNvPr id="810" name="熊大的PPT宝库51-15"/>
              <p:cNvSpPr/>
              <p:nvPr/>
            </p:nvSpPr>
            <p:spPr>
              <a:xfrm>
                <a:off x="504109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1" name="熊大的PPT宝库51-16"/>
              <p:cNvSpPr/>
              <p:nvPr/>
            </p:nvSpPr>
            <p:spPr>
              <a:xfrm>
                <a:off x="5080342"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12" name="熊大的PPT宝库51-17"/>
              <p:cNvSpPr/>
              <p:nvPr/>
            </p:nvSpPr>
            <p:spPr>
              <a:xfrm>
                <a:off x="5001822" y="5343473"/>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13" name="熊大的PPT宝库51-18"/>
              <p:cNvSpPr/>
              <p:nvPr/>
            </p:nvSpPr>
            <p:spPr>
              <a:xfrm>
                <a:off x="504109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4" name="熊大的PPT宝库51-19"/>
              <p:cNvSpPr/>
              <p:nvPr/>
            </p:nvSpPr>
            <p:spPr>
              <a:xfrm>
                <a:off x="5001822"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15" name="熊大的PPT宝库51-20"/>
              <p:cNvSpPr/>
              <p:nvPr/>
            </p:nvSpPr>
            <p:spPr>
              <a:xfrm>
                <a:off x="504109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6" name="熊大的PPT宝库51-21"/>
              <p:cNvSpPr/>
              <p:nvPr/>
            </p:nvSpPr>
            <p:spPr>
              <a:xfrm>
                <a:off x="5080342"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17" name="熊大的PPT宝库51-22"/>
              <p:cNvSpPr/>
              <p:nvPr/>
            </p:nvSpPr>
            <p:spPr>
              <a:xfrm>
                <a:off x="5080342"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18" name="熊大的PPT宝库51-23"/>
              <p:cNvSpPr/>
              <p:nvPr/>
            </p:nvSpPr>
            <p:spPr>
              <a:xfrm>
                <a:off x="504109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19" name="熊大的PPT宝库51-24"/>
              <p:cNvSpPr/>
              <p:nvPr/>
            </p:nvSpPr>
            <p:spPr>
              <a:xfrm>
                <a:off x="5080342"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20" name="熊大的PPT宝库51-25"/>
              <p:cNvSpPr/>
              <p:nvPr/>
            </p:nvSpPr>
            <p:spPr>
              <a:xfrm>
                <a:off x="5119589"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1" name="熊大的PPT宝库51-26"/>
              <p:cNvSpPr/>
              <p:nvPr/>
            </p:nvSpPr>
            <p:spPr>
              <a:xfrm>
                <a:off x="5119589"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2" name="熊大的PPT宝库51-27"/>
              <p:cNvSpPr/>
              <p:nvPr/>
            </p:nvSpPr>
            <p:spPr>
              <a:xfrm>
                <a:off x="5158811"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3" name="熊大的PPT宝库51-28"/>
              <p:cNvSpPr/>
              <p:nvPr/>
            </p:nvSpPr>
            <p:spPr>
              <a:xfrm>
                <a:off x="5119589"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824" name="图形 6"/>
            <p:cNvGrpSpPr/>
            <p:nvPr/>
          </p:nvGrpSpPr>
          <p:grpSpPr>
            <a:xfrm>
              <a:off x="5155558" y="5108015"/>
              <a:ext cx="189052" cy="271126"/>
              <a:chOff x="5155558" y="5108015"/>
              <a:chExt cx="189052" cy="271126"/>
            </a:xfrm>
            <a:grpFill/>
          </p:grpSpPr>
          <p:sp>
            <p:nvSpPr>
              <p:cNvPr id="825" name="熊大的PPT宝库51-29"/>
              <p:cNvSpPr/>
              <p:nvPr/>
            </p:nvSpPr>
            <p:spPr>
              <a:xfrm>
                <a:off x="519480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6" name="熊大的PPT宝库51-30"/>
              <p:cNvSpPr/>
              <p:nvPr/>
            </p:nvSpPr>
            <p:spPr>
              <a:xfrm>
                <a:off x="523402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27" name="熊大的PPT宝库51-31"/>
              <p:cNvSpPr/>
              <p:nvPr/>
            </p:nvSpPr>
            <p:spPr>
              <a:xfrm>
                <a:off x="515555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28" name="熊大的PPT宝库51-32"/>
              <p:cNvSpPr/>
              <p:nvPr/>
            </p:nvSpPr>
            <p:spPr>
              <a:xfrm>
                <a:off x="519480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29" name="熊大的PPT宝库51-33"/>
              <p:cNvSpPr/>
              <p:nvPr/>
            </p:nvSpPr>
            <p:spPr>
              <a:xfrm>
                <a:off x="5155558" y="510801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30" name="熊大的PPT宝库51-34"/>
              <p:cNvSpPr/>
              <p:nvPr/>
            </p:nvSpPr>
            <p:spPr>
              <a:xfrm>
                <a:off x="519480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1" name="熊大的PPT宝库51-35"/>
              <p:cNvSpPr/>
              <p:nvPr/>
            </p:nvSpPr>
            <p:spPr>
              <a:xfrm>
                <a:off x="523402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832" name="熊大的PPT宝库51-36"/>
              <p:cNvSpPr/>
              <p:nvPr/>
            </p:nvSpPr>
            <p:spPr>
              <a:xfrm>
                <a:off x="523402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3" name="熊大的PPT宝库51-37"/>
              <p:cNvSpPr/>
              <p:nvPr/>
            </p:nvSpPr>
            <p:spPr>
              <a:xfrm>
                <a:off x="519480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4" name="熊大的PPT宝库51-38"/>
              <p:cNvSpPr/>
              <p:nvPr/>
            </p:nvSpPr>
            <p:spPr>
              <a:xfrm>
                <a:off x="523402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5" name="熊大的PPT宝库51-39"/>
              <p:cNvSpPr/>
              <p:nvPr/>
            </p:nvSpPr>
            <p:spPr>
              <a:xfrm>
                <a:off x="527327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6" name="熊大的PPT宝库51-40"/>
              <p:cNvSpPr/>
              <p:nvPr/>
            </p:nvSpPr>
            <p:spPr>
              <a:xfrm>
                <a:off x="527327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7" name="熊大的PPT宝库51-41"/>
              <p:cNvSpPr/>
              <p:nvPr/>
            </p:nvSpPr>
            <p:spPr>
              <a:xfrm>
                <a:off x="5312522"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838" name="熊大的PPT宝库51-42"/>
              <p:cNvSpPr/>
              <p:nvPr/>
            </p:nvSpPr>
            <p:spPr>
              <a:xfrm>
                <a:off x="527327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sp>
        <p:nvSpPr>
          <p:cNvPr id="15" name="圆角矩形 14"/>
          <p:cNvSpPr/>
          <p:nvPr/>
        </p:nvSpPr>
        <p:spPr>
          <a:xfrm>
            <a:off x="9877425" y="1480185"/>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增强粘性</a:t>
            </a:r>
            <a:endParaRPr lang="zh-CN" altLang="en-US" sz="1400">
              <a:solidFill>
                <a:srgbClr val="383838"/>
              </a:solidFill>
              <a:cs typeface="微软雅黑"/>
              <a:sym typeface="微软雅黑"/>
              <a:latin typeface="微软雅黑"/>
              <a:ea typeface="微软雅黑"/>
            </a:endParaRPr>
          </a:p>
        </p:txBody>
      </p:sp>
      <p:sp>
        <p:nvSpPr>
          <p:cNvPr id="16" name="圆角矩形 15"/>
          <p:cNvSpPr/>
          <p:nvPr/>
        </p:nvSpPr>
        <p:spPr>
          <a:xfrm>
            <a:off x="10225405" y="2078990"/>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挖掘需求</a:t>
            </a:r>
            <a:endParaRPr lang="zh-CN" altLang="en-US" sz="1400">
              <a:solidFill>
                <a:srgbClr val="383838"/>
              </a:solidFill>
              <a:cs typeface="微软雅黑"/>
              <a:sym typeface="微软雅黑"/>
              <a:latin typeface="微软雅黑"/>
              <a:ea typeface="微软雅黑"/>
            </a:endParaRPr>
          </a:p>
        </p:txBody>
      </p:sp>
      <p:sp>
        <p:nvSpPr>
          <p:cNvPr id="17" name="圆角矩形 16"/>
          <p:cNvSpPr/>
          <p:nvPr/>
        </p:nvSpPr>
        <p:spPr>
          <a:xfrm>
            <a:off x="10401935" y="2696210"/>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精准触达</a:t>
            </a:r>
            <a:endParaRPr lang="zh-CN" altLang="en-US" sz="1400">
              <a:solidFill>
                <a:srgbClr val="383838"/>
              </a:solidFill>
              <a:cs typeface="微软雅黑"/>
              <a:sym typeface="微软雅黑"/>
              <a:latin typeface="微软雅黑"/>
              <a:ea typeface="微软雅黑"/>
            </a:endParaRPr>
          </a:p>
        </p:txBody>
      </p:sp>
      <p:sp>
        <p:nvSpPr>
          <p:cNvPr id="18" name="圆角矩形 17"/>
          <p:cNvSpPr/>
          <p:nvPr/>
        </p:nvSpPr>
        <p:spPr>
          <a:xfrm>
            <a:off x="10225405" y="3315335"/>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高频互动</a:t>
            </a:r>
            <a:endParaRPr lang="zh-CN" altLang="en-US" sz="1400">
              <a:solidFill>
                <a:srgbClr val="383838"/>
              </a:solidFill>
              <a:cs typeface="微软雅黑"/>
              <a:sym typeface="微软雅黑"/>
              <a:latin typeface="微软雅黑"/>
              <a:ea typeface="微软雅黑"/>
            </a:endParaRPr>
          </a:p>
        </p:txBody>
      </p:sp>
      <p:sp>
        <p:nvSpPr>
          <p:cNvPr id="19" name="圆角矩形 18"/>
          <p:cNvSpPr/>
          <p:nvPr/>
        </p:nvSpPr>
        <p:spPr>
          <a:xfrm>
            <a:off x="9877425" y="3927475"/>
            <a:ext cx="1278255"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提升好感</a:t>
            </a:r>
            <a:endParaRPr lang="zh-CN" altLang="en-US" sz="1400">
              <a:solidFill>
                <a:srgbClr val="383838"/>
              </a:solidFill>
              <a:cs typeface="微软雅黑"/>
              <a:sym typeface="微软雅黑"/>
              <a:latin typeface="微软雅黑"/>
              <a:ea typeface="微软雅黑"/>
            </a:endParaRPr>
          </a:p>
        </p:txBody>
      </p:sp>
      <p:sp>
        <p:nvSpPr>
          <p:cNvPr id="20" name="圆角矩形 19"/>
          <p:cNvSpPr/>
          <p:nvPr/>
        </p:nvSpPr>
        <p:spPr>
          <a:xfrm>
            <a:off x="9337675" y="3927475"/>
            <a:ext cx="490220" cy="350520"/>
          </a:xfrm>
          <a:prstGeom prst="roundRect">
            <a:avLst>
              <a:gd name="adj" fmla="val 50000"/>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en-US" altLang="zh-CN" sz="1400">
                <a:solidFill>
                  <a:srgbClr val="383838"/>
                </a:solidFill>
                <a:cs typeface="微软雅黑"/>
                <a:sym typeface="微软雅黑"/>
                <a:latin typeface="微软雅黑"/>
                <a:ea typeface="微软雅黑"/>
              </a:rPr>
              <a:t>…</a:t>
            </a:r>
            <a:endParaRPr lang="en-US" altLang="zh-CN" sz="1400">
              <a:solidFill>
                <a:srgbClr val="383838"/>
              </a:solidFill>
              <a:cs typeface="微软雅黑"/>
              <a:sym typeface="微软雅黑"/>
              <a:latin typeface="微软雅黑"/>
              <a:ea typeface="微软雅黑"/>
            </a:endParaRPr>
          </a:p>
        </p:txBody>
      </p:sp>
      <p:grpSp>
        <p:nvGrpSpPr>
          <p:cNvPr id="21" name="熊大的PPT宝库51"/>
          <p:cNvGrpSpPr/>
          <p:nvPr/>
        </p:nvGrpSpPr>
        <p:grpSpPr>
          <a:xfrm rot="0">
            <a:off x="9762490" y="2746375"/>
            <a:ext cx="487680" cy="271145"/>
            <a:chOff x="4856673" y="5108015"/>
            <a:chExt cx="487937" cy="271126"/>
          </a:xfrm>
          <a:gradFill>
            <a:gsLst>
              <a:gs pos="0">
                <a:srgbClr val="3368FF">
                  <a:alpha val="50000"/>
                </a:srgbClr>
              </a:gs>
              <a:gs pos="100000">
                <a:srgbClr val="0042FF"/>
              </a:gs>
            </a:gsLst>
            <a:lin ang="0" scaled="0"/>
          </a:gradFill>
        </p:grpSpPr>
        <p:grpSp>
          <p:nvGrpSpPr>
            <p:cNvPr id="22" name="图形 6"/>
            <p:cNvGrpSpPr/>
            <p:nvPr/>
          </p:nvGrpSpPr>
          <p:grpSpPr>
            <a:xfrm>
              <a:off x="4856673" y="5108015"/>
              <a:ext cx="189077" cy="271126"/>
              <a:chOff x="4856673" y="5108015"/>
              <a:chExt cx="189077" cy="271126"/>
            </a:xfrm>
            <a:grpFill/>
          </p:grpSpPr>
          <p:sp>
            <p:nvSpPr>
              <p:cNvPr id="23" name="熊大的PPT宝库51-1"/>
              <p:cNvSpPr/>
              <p:nvPr/>
            </p:nvSpPr>
            <p:spPr>
              <a:xfrm>
                <a:off x="489594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24" name="熊大的PPT宝库51-2"/>
              <p:cNvSpPr/>
              <p:nvPr/>
            </p:nvSpPr>
            <p:spPr>
              <a:xfrm>
                <a:off x="493516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25" name="熊大的PPT宝库51-3"/>
              <p:cNvSpPr/>
              <p:nvPr/>
            </p:nvSpPr>
            <p:spPr>
              <a:xfrm>
                <a:off x="485669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28" name="熊大的PPT宝库51-4"/>
              <p:cNvSpPr/>
              <p:nvPr/>
            </p:nvSpPr>
            <p:spPr>
              <a:xfrm>
                <a:off x="489594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29" name="熊大的PPT宝库51-5"/>
              <p:cNvSpPr/>
              <p:nvPr/>
            </p:nvSpPr>
            <p:spPr>
              <a:xfrm>
                <a:off x="4856673"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44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184" y="32114"/>
                      <a:pt x="0" y="24930"/>
                      <a:pt x="0" y="16044"/>
                    </a:cubicBezTo>
                    <a:cubicBezTo>
                      <a:pt x="0" y="7184"/>
                      <a:pt x="7184" y="0"/>
                      <a:pt x="16044"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0" name="熊大的PPT宝库51-6"/>
              <p:cNvSpPr/>
              <p:nvPr/>
            </p:nvSpPr>
            <p:spPr>
              <a:xfrm>
                <a:off x="489594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1" name="熊大的PPT宝库51-7"/>
              <p:cNvSpPr/>
              <p:nvPr/>
            </p:nvSpPr>
            <p:spPr>
              <a:xfrm>
                <a:off x="493516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2" name="熊大的PPT宝库51-8"/>
              <p:cNvSpPr/>
              <p:nvPr/>
            </p:nvSpPr>
            <p:spPr>
              <a:xfrm>
                <a:off x="493516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3" name="熊大的PPT宝库51-9"/>
              <p:cNvSpPr/>
              <p:nvPr/>
            </p:nvSpPr>
            <p:spPr>
              <a:xfrm>
                <a:off x="489594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4" name="熊大的PPT宝库51-10"/>
              <p:cNvSpPr/>
              <p:nvPr/>
            </p:nvSpPr>
            <p:spPr>
              <a:xfrm>
                <a:off x="493516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3" y="32089"/>
                      <a:pt x="0" y="24905"/>
                      <a:pt x="0" y="16044"/>
                    </a:cubicBezTo>
                    <a:cubicBezTo>
                      <a:pt x="0" y="7183"/>
                      <a:pt x="7183" y="0"/>
                      <a:pt x="16044" y="0"/>
                    </a:cubicBezTo>
                    <a:cubicBezTo>
                      <a:pt x="24905" y="0"/>
                      <a:pt x="32089" y="7183"/>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5" name="熊大的PPT宝库51-11"/>
              <p:cNvSpPr/>
              <p:nvPr/>
            </p:nvSpPr>
            <p:spPr>
              <a:xfrm>
                <a:off x="497441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6" name="熊大的PPT宝库51-12"/>
              <p:cNvSpPr/>
              <p:nvPr/>
            </p:nvSpPr>
            <p:spPr>
              <a:xfrm>
                <a:off x="497441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7" name="熊大的PPT宝库51-13"/>
              <p:cNvSpPr/>
              <p:nvPr/>
            </p:nvSpPr>
            <p:spPr>
              <a:xfrm>
                <a:off x="5013637" y="5229311"/>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38" name="熊大的PPT宝库51-14"/>
              <p:cNvSpPr/>
              <p:nvPr/>
            </p:nvSpPr>
            <p:spPr>
              <a:xfrm>
                <a:off x="497441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39" name="图形 6"/>
            <p:cNvGrpSpPr/>
            <p:nvPr/>
          </p:nvGrpSpPr>
          <p:grpSpPr>
            <a:xfrm>
              <a:off x="5001822" y="5108015"/>
              <a:ext cx="189077" cy="271126"/>
              <a:chOff x="5001822" y="5108015"/>
              <a:chExt cx="189077" cy="271126"/>
            </a:xfrm>
            <a:grpFill/>
          </p:grpSpPr>
          <p:sp>
            <p:nvSpPr>
              <p:cNvPr id="40" name="熊大的PPT宝库51-15"/>
              <p:cNvSpPr/>
              <p:nvPr/>
            </p:nvSpPr>
            <p:spPr>
              <a:xfrm>
                <a:off x="504109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1" name="熊大的PPT宝库51-16"/>
              <p:cNvSpPr/>
              <p:nvPr/>
            </p:nvSpPr>
            <p:spPr>
              <a:xfrm>
                <a:off x="5080342"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2" name="熊大的PPT宝库51-17"/>
              <p:cNvSpPr/>
              <p:nvPr/>
            </p:nvSpPr>
            <p:spPr>
              <a:xfrm>
                <a:off x="5001822" y="5343473"/>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3" name="熊大的PPT宝库51-18"/>
              <p:cNvSpPr/>
              <p:nvPr/>
            </p:nvSpPr>
            <p:spPr>
              <a:xfrm>
                <a:off x="504109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4" name="熊大的PPT宝库51-19"/>
              <p:cNvSpPr/>
              <p:nvPr/>
            </p:nvSpPr>
            <p:spPr>
              <a:xfrm>
                <a:off x="5001822" y="5108015"/>
                <a:ext cx="32113" cy="32088"/>
              </a:xfrm>
              <a:custGeom>
                <a:avLst/>
                <a:gdLst>
                  <a:gd name="connsiteX0" fmla="*/ 32114 w 32113"/>
                  <a:gd name="connsiteY0" fmla="*/ 16044 h 32088"/>
                  <a:gd name="connsiteX1" fmla="*/ 16069 w 32113"/>
                  <a:gd name="connsiteY1" fmla="*/ 32089 h 32088"/>
                  <a:gd name="connsiteX2" fmla="*/ 0 w 32113"/>
                  <a:gd name="connsiteY2" fmla="*/ 16044 h 32088"/>
                  <a:gd name="connsiteX3" fmla="*/ 16069 w 32113"/>
                  <a:gd name="connsiteY3" fmla="*/ 0 h 32088"/>
                  <a:gd name="connsiteX4" fmla="*/ 32114 w 32113"/>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3" h="32088">
                    <a:moveTo>
                      <a:pt x="32114" y="16044"/>
                    </a:moveTo>
                    <a:cubicBezTo>
                      <a:pt x="32114" y="24905"/>
                      <a:pt x="24930" y="32089"/>
                      <a:pt x="16069" y="32089"/>
                    </a:cubicBezTo>
                    <a:cubicBezTo>
                      <a:pt x="7209" y="32089"/>
                      <a:pt x="0" y="24905"/>
                      <a:pt x="0" y="16044"/>
                    </a:cubicBezTo>
                    <a:cubicBezTo>
                      <a:pt x="0" y="7184"/>
                      <a:pt x="7184" y="0"/>
                      <a:pt x="16069" y="0"/>
                    </a:cubicBezTo>
                    <a:cubicBezTo>
                      <a:pt x="24930" y="0"/>
                      <a:pt x="32114" y="7184"/>
                      <a:pt x="32114"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5" name="熊大的PPT宝库51-20"/>
              <p:cNvSpPr/>
              <p:nvPr/>
            </p:nvSpPr>
            <p:spPr>
              <a:xfrm>
                <a:off x="504109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6" name="熊大的PPT宝库51-21"/>
              <p:cNvSpPr/>
              <p:nvPr/>
            </p:nvSpPr>
            <p:spPr>
              <a:xfrm>
                <a:off x="5080342"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7" name="熊大的PPT宝库51-22"/>
              <p:cNvSpPr/>
              <p:nvPr/>
            </p:nvSpPr>
            <p:spPr>
              <a:xfrm>
                <a:off x="5080342"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8" name="熊大的PPT宝库51-23"/>
              <p:cNvSpPr/>
              <p:nvPr/>
            </p:nvSpPr>
            <p:spPr>
              <a:xfrm>
                <a:off x="504109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49" name="熊大的PPT宝库51-24"/>
              <p:cNvSpPr/>
              <p:nvPr/>
            </p:nvSpPr>
            <p:spPr>
              <a:xfrm>
                <a:off x="5080342"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0" name="熊大的PPT宝库51-25"/>
              <p:cNvSpPr/>
              <p:nvPr/>
            </p:nvSpPr>
            <p:spPr>
              <a:xfrm>
                <a:off x="5119589"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1" name="熊大的PPT宝库51-26"/>
              <p:cNvSpPr/>
              <p:nvPr/>
            </p:nvSpPr>
            <p:spPr>
              <a:xfrm>
                <a:off x="5119589"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2" name="熊大的PPT宝库51-27"/>
              <p:cNvSpPr/>
              <p:nvPr/>
            </p:nvSpPr>
            <p:spPr>
              <a:xfrm>
                <a:off x="5158811"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3" name="熊大的PPT宝库51-28"/>
              <p:cNvSpPr/>
              <p:nvPr/>
            </p:nvSpPr>
            <p:spPr>
              <a:xfrm>
                <a:off x="5119589"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880"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nvGrpSpPr>
            <p:cNvPr id="54" name="图形 6"/>
            <p:cNvGrpSpPr/>
            <p:nvPr/>
          </p:nvGrpSpPr>
          <p:grpSpPr>
            <a:xfrm>
              <a:off x="5155558" y="5108015"/>
              <a:ext cx="189052" cy="271126"/>
              <a:chOff x="5155558" y="5108015"/>
              <a:chExt cx="189052" cy="271126"/>
            </a:xfrm>
            <a:grpFill/>
          </p:grpSpPr>
          <p:sp>
            <p:nvSpPr>
              <p:cNvPr id="55" name="熊大的PPT宝库51-29"/>
              <p:cNvSpPr/>
              <p:nvPr/>
            </p:nvSpPr>
            <p:spPr>
              <a:xfrm>
                <a:off x="5194805" y="530780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6" name="熊大的PPT宝库51-30"/>
              <p:cNvSpPr/>
              <p:nvPr/>
            </p:nvSpPr>
            <p:spPr>
              <a:xfrm>
                <a:off x="5234027" y="5311360"/>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7" name="熊大的PPT宝库51-31"/>
              <p:cNvSpPr/>
              <p:nvPr/>
            </p:nvSpPr>
            <p:spPr>
              <a:xfrm>
                <a:off x="5155558" y="534347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8" name="熊大的PPT宝库51-32"/>
              <p:cNvSpPr/>
              <p:nvPr/>
            </p:nvSpPr>
            <p:spPr>
              <a:xfrm>
                <a:off x="5194805" y="5347053"/>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59" name="熊大的PPT宝库51-33"/>
              <p:cNvSpPr/>
              <p:nvPr/>
            </p:nvSpPr>
            <p:spPr>
              <a:xfrm>
                <a:off x="5155558" y="510801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0" name="熊大的PPT宝库51-34"/>
              <p:cNvSpPr/>
              <p:nvPr/>
            </p:nvSpPr>
            <p:spPr>
              <a:xfrm>
                <a:off x="5194805" y="5111594"/>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1" name="熊大的PPT宝库51-35"/>
              <p:cNvSpPr/>
              <p:nvPr/>
            </p:nvSpPr>
            <p:spPr>
              <a:xfrm>
                <a:off x="5234027" y="5271236"/>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2" name="熊大的PPT宝库51-36"/>
              <p:cNvSpPr/>
              <p:nvPr/>
            </p:nvSpPr>
            <p:spPr>
              <a:xfrm>
                <a:off x="5234027" y="5190965"/>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3" name="熊大的PPT宝库51-37"/>
              <p:cNvSpPr/>
              <p:nvPr/>
            </p:nvSpPr>
            <p:spPr>
              <a:xfrm>
                <a:off x="5194805"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4" name="熊大的PPT宝库51-38"/>
              <p:cNvSpPr/>
              <p:nvPr/>
            </p:nvSpPr>
            <p:spPr>
              <a:xfrm>
                <a:off x="5234027" y="515084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5" name="熊大的PPT宝库51-39"/>
              <p:cNvSpPr/>
              <p:nvPr/>
            </p:nvSpPr>
            <p:spPr>
              <a:xfrm>
                <a:off x="5273274"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6" name="熊大的PPT宝库51-40"/>
              <p:cNvSpPr/>
              <p:nvPr/>
            </p:nvSpPr>
            <p:spPr>
              <a:xfrm>
                <a:off x="5273274" y="526855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sp>
            <p:nvSpPr>
              <p:cNvPr id="67" name="熊大的PPT宝库51-41"/>
              <p:cNvSpPr/>
              <p:nvPr/>
            </p:nvSpPr>
            <p:spPr>
              <a:xfrm>
                <a:off x="5312522" y="5229311"/>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0"/>
                      <a:pt x="32089" y="7184"/>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68" name="熊大的PPT宝库51-42"/>
              <p:cNvSpPr/>
              <p:nvPr/>
            </p:nvSpPr>
            <p:spPr>
              <a:xfrm>
                <a:off x="5273274" y="5190088"/>
                <a:ext cx="32088" cy="32088"/>
              </a:xfrm>
              <a:custGeom>
                <a:avLst/>
                <a:gdLst>
                  <a:gd name="connsiteX0" fmla="*/ 32089 w 32088"/>
                  <a:gd name="connsiteY0" fmla="*/ 16044 h 32088"/>
                  <a:gd name="connsiteX1" fmla="*/ 16044 w 32088"/>
                  <a:gd name="connsiteY1" fmla="*/ 32089 h 32088"/>
                  <a:gd name="connsiteX2" fmla="*/ 0 w 32088"/>
                  <a:gd name="connsiteY2" fmla="*/ 16044 h 32088"/>
                  <a:gd name="connsiteX3" fmla="*/ 16044 w 32088"/>
                  <a:gd name="connsiteY3" fmla="*/ 0 h 32088"/>
                  <a:gd name="connsiteX4" fmla="*/ 32089 w 32088"/>
                  <a:gd name="connsiteY4" fmla="*/ 16044 h 32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88" h="32088">
                    <a:moveTo>
                      <a:pt x="32089" y="16044"/>
                    </a:moveTo>
                    <a:cubicBezTo>
                      <a:pt x="32089" y="24905"/>
                      <a:pt x="24905" y="32089"/>
                      <a:pt x="16044" y="32089"/>
                    </a:cubicBezTo>
                    <a:cubicBezTo>
                      <a:pt x="7184" y="32089"/>
                      <a:pt x="0" y="24905"/>
                      <a:pt x="0" y="16044"/>
                    </a:cubicBezTo>
                    <a:cubicBezTo>
                      <a:pt x="0" y="7184"/>
                      <a:pt x="7184" y="0"/>
                      <a:pt x="16044" y="0"/>
                    </a:cubicBezTo>
                    <a:cubicBezTo>
                      <a:pt x="24905" y="-25"/>
                      <a:pt x="32089" y="7159"/>
                      <a:pt x="32089" y="16044"/>
                    </a:cubicBezTo>
                    <a:close/>
                  </a:path>
                </a:pathLst>
              </a:custGeom>
              <a:grpFill/>
              <a:ln w="0">
                <a:noFill/>
                <a:prstDash val="solid"/>
                <a:round/>
              </a:ln>
            </p:spPr>
            <p:txBody>
              <a:bodyPr vert="horz" wrap="square" lIns="0" tIns="0" rIns="0" bIns="0" numCol="1" anchor="t" anchorCtr="0" compatLnSpc="1"/>
              <a:lstStyle/>
              <a:p>
                <a:pPr defTabSz="457200">
                  <a:defRPr>
                    <a:solidFill>
                      <a:srgbClr val="383838"/>
                    </a:solidFill>
                    <a:latin typeface="微软雅黑"/>
                    <a:ea typeface="微软雅黑"/>
                    <a:cs typeface="微软雅黑"/>
                  </a:defRPr>
                </a:pPr>
                <a:endParaRPr lang="zh-CN" altLang="en-US">
                  <a:solidFill>
                    <a:srgbClr val="383838"/>
                  </a:solidFill>
                  <a:latin typeface="微软雅黑"/>
                  <a:cs typeface="微软雅黑"/>
                  <a:ea typeface="微软雅黑"/>
                </a:endParaRPr>
              </a:p>
            </p:txBody>
          </p:sp>
        </p:grpSp>
      </p:grpSp>
      <p:sp>
        <p:nvSpPr>
          <p:cNvPr id="168" name="梯形 167"/>
          <p:cNvSpPr/>
          <p:nvPr/>
        </p:nvSpPr>
        <p:spPr>
          <a:xfrm flipH="1">
            <a:off x="227011" y="4381789"/>
            <a:ext cx="11737975" cy="664087"/>
          </a:xfrm>
          <a:prstGeom prst="trapezoid">
            <a:avLst>
              <a:gd name="adj" fmla="val 479390"/>
            </a:avLst>
          </a:prstGeom>
          <a:gradFill flip="none" rotWithShape="1">
            <a:gsLst>
              <a:gs pos="0">
                <a:srgbClr val="B3D4FE">
                  <a:alpha val="0"/>
                </a:srgbClr>
              </a:gs>
              <a:gs pos="100000">
                <a:srgbClr val="B3D4FE">
                  <a:alpha val="5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en-US" altLang="zh-CN">
                <a:latin typeface="微软雅黑"/>
                <a:cs typeface="微软雅黑"/>
                <a:ea typeface="微软雅黑"/>
              </a:rPr>
              <a:t> </a:t>
            </a:r>
            <a:endParaRPr lang="en-US" altLang="zh-CN">
              <a:latin typeface="微软雅黑"/>
              <a:cs typeface="微软雅黑"/>
              <a:ea typeface="微软雅黑"/>
            </a:endParaRPr>
          </a:p>
        </p:txBody>
      </p:sp>
      <p:grpSp>
        <p:nvGrpSpPr>
          <p:cNvPr id="94" name="组合 93"/>
          <p:cNvGrpSpPr/>
          <p:nvPr/>
        </p:nvGrpSpPr>
        <p:grpSpPr>
          <a:xfrm>
            <a:off x="3020060" y="1890395"/>
            <a:ext cx="1946910" cy="1901825"/>
            <a:chOff x="4851" y="3015"/>
            <a:chExt cx="3066" cy="2995"/>
          </a:xfrm>
        </p:grpSpPr>
        <p:sp>
          <p:nvSpPr>
            <p:cNvPr id="92" name="文本框 91"/>
            <p:cNvSpPr txBox="1"/>
            <p:nvPr/>
          </p:nvSpPr>
          <p:spPr>
            <a:xfrm rot="10800000">
              <a:off x="5035" y="3128"/>
              <a:ext cx="2882" cy="2882"/>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内容营销</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93" name="文本框 92"/>
            <p:cNvSpPr txBox="1"/>
            <p:nvPr/>
          </p:nvSpPr>
          <p:spPr>
            <a:xfrm rot="19463872">
              <a:off x="4851" y="3015"/>
              <a:ext cx="2882" cy="2882"/>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达人合作</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35" name="PPT14"/>
          <p:cNvSpPr txBox="1"/>
          <p:nvPr/>
        </p:nvSpPr>
        <p:spPr>
          <a:xfrm>
            <a:off x="3584205" y="2842908"/>
            <a:ext cx="804685" cy="433070"/>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2815" b="1" dirty="0">
                <a:solidFill>
                  <a:srgbClr val="FFFFFF"/>
                </a:solidFill>
                <a:latin typeface="微软雅黑"/>
                <a:ea typeface="微软雅黑"/>
                <a:cs typeface="微软雅黑"/>
              </a:rPr>
              <a:t>公域</a:t>
            </a:r>
            <a:endParaRPr lang="zh-CN" altLang="en-US" sz="2815" b="1" dirty="0">
              <a:solidFill>
                <a:srgbClr val="FFFFFF"/>
              </a:solidFill>
              <a:latin typeface="微软雅黑"/>
              <a:ea typeface="微软雅黑"/>
              <a:cs typeface="微软雅黑"/>
            </a:endParaRPr>
          </a:p>
        </p:txBody>
      </p:sp>
      <p:sp>
        <p:nvSpPr>
          <p:cNvPr id="138" name="文本框 137"/>
          <p:cNvSpPr txBox="1"/>
          <p:nvPr/>
        </p:nvSpPr>
        <p:spPr>
          <a:xfrm rot="6609597">
            <a:off x="3185795" y="1878330"/>
            <a:ext cx="1830070" cy="1830070"/>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线下引流</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nvGrpSpPr>
          <p:cNvPr id="139" name="组合 138"/>
          <p:cNvGrpSpPr/>
          <p:nvPr/>
        </p:nvGrpSpPr>
        <p:grpSpPr>
          <a:xfrm>
            <a:off x="3037840" y="1865313"/>
            <a:ext cx="1962785" cy="1899920"/>
            <a:chOff x="4911" y="4141"/>
            <a:chExt cx="3091" cy="2992"/>
          </a:xfrm>
        </p:grpSpPr>
        <p:sp>
          <p:nvSpPr>
            <p:cNvPr id="140" name="文本框 139"/>
            <p:cNvSpPr txBox="1"/>
            <p:nvPr/>
          </p:nvSpPr>
          <p:spPr>
            <a:xfrm rot="2256641">
              <a:off x="5120" y="4141"/>
              <a:ext cx="2882" cy="2882"/>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搜索优化</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1" name="文本框 140"/>
            <p:cNvSpPr txBox="1"/>
            <p:nvPr/>
          </p:nvSpPr>
          <p:spPr>
            <a:xfrm rot="15133517">
              <a:off x="4911" y="4251"/>
              <a:ext cx="2882" cy="2882"/>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平台曝光</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42" name="组合 141"/>
          <p:cNvGrpSpPr/>
          <p:nvPr/>
        </p:nvGrpSpPr>
        <p:grpSpPr>
          <a:xfrm rot="0">
            <a:off x="7077294" y="1732915"/>
            <a:ext cx="2289372" cy="2286635"/>
            <a:chOff x="10043699" y="1470929"/>
            <a:chExt cx="4562633" cy="4557715"/>
          </a:xfrm>
          <a:solidFill>
            <a:srgbClr val="FFFFFF"/>
          </a:solidFill>
        </p:grpSpPr>
        <p:sp>
          <p:nvSpPr>
            <p:cNvPr id="143" name="任意多边形: 形状 105"/>
            <p:cNvSpPr/>
            <p:nvPr/>
          </p:nvSpPr>
          <p:spPr>
            <a:xfrm>
              <a:off x="10043699" y="1470929"/>
              <a:ext cx="4551680" cy="4551680"/>
            </a:xfrm>
            <a:custGeom>
              <a:avLst/>
              <a:gdLst>
                <a:gd name="connsiteX0" fmla="*/ 2275840 w 4551680"/>
                <a:gd name="connsiteY0" fmla="*/ 0 h 4551680"/>
                <a:gd name="connsiteX1" fmla="*/ 4440292 w 4551680"/>
                <a:gd name="connsiteY1" fmla="*/ 1572567 h 4551680"/>
                <a:gd name="connsiteX2" fmla="*/ 2275840 w 4551680"/>
                <a:gd name="connsiteY2" fmla="*/ 2275840 h 4551680"/>
                <a:gd name="connsiteX3" fmla="*/ 2275840 w 4551680"/>
                <a:gd name="connsiteY3" fmla="*/ 0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2275840" y="0"/>
                  </a:moveTo>
                  <a:cubicBezTo>
                    <a:pt x="3261794" y="0"/>
                    <a:pt x="4135616" y="634869"/>
                    <a:pt x="4440292" y="1572567"/>
                  </a:cubicBezTo>
                  <a:lnTo>
                    <a:pt x="2275840" y="2275840"/>
                  </a:lnTo>
                  <a:lnTo>
                    <a:pt x="2275840" y="0"/>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44" name="任意多边形: 形状 107"/>
            <p:cNvSpPr/>
            <p:nvPr/>
          </p:nvSpPr>
          <p:spPr>
            <a:xfrm>
              <a:off x="10054652" y="1476964"/>
              <a:ext cx="4551680" cy="4551680"/>
            </a:xfrm>
            <a:custGeom>
              <a:avLst/>
              <a:gdLst>
                <a:gd name="connsiteX0" fmla="*/ 4440292 w 4551680"/>
                <a:gd name="connsiteY0" fmla="*/ 1572567 h 4551680"/>
                <a:gd name="connsiteX1" fmla="*/ 3613545 w 4551680"/>
                <a:gd name="connsiteY1" fmla="*/ 4117033 h 4551680"/>
                <a:gd name="connsiteX2" fmla="*/ 2275840 w 4551680"/>
                <a:gd name="connsiteY2" fmla="*/ 2275840 h 4551680"/>
                <a:gd name="connsiteX3" fmla="*/ 4440292 w 4551680"/>
                <a:gd name="connsiteY3" fmla="*/ 1572567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4440292" y="1572567"/>
                  </a:moveTo>
                  <a:cubicBezTo>
                    <a:pt x="4744968" y="2510265"/>
                    <a:pt x="4411198" y="3537504"/>
                    <a:pt x="3613545" y="4117033"/>
                  </a:cubicBezTo>
                  <a:lnTo>
                    <a:pt x="2275840" y="2275840"/>
                  </a:lnTo>
                  <a:lnTo>
                    <a:pt x="4440292" y="1572567"/>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45" name="任意多边形: 形状 108"/>
            <p:cNvSpPr/>
            <p:nvPr/>
          </p:nvSpPr>
          <p:spPr>
            <a:xfrm>
              <a:off x="10054652" y="1476964"/>
              <a:ext cx="4551680" cy="4551680"/>
            </a:xfrm>
            <a:custGeom>
              <a:avLst/>
              <a:gdLst>
                <a:gd name="connsiteX0" fmla="*/ 3613545 w 4551680"/>
                <a:gd name="connsiteY0" fmla="*/ 4117033 h 4551680"/>
                <a:gd name="connsiteX1" fmla="*/ 938135 w 4551680"/>
                <a:gd name="connsiteY1" fmla="*/ 4117033 h 4551680"/>
                <a:gd name="connsiteX2" fmla="*/ 2275840 w 4551680"/>
                <a:gd name="connsiteY2" fmla="*/ 2275840 h 4551680"/>
                <a:gd name="connsiteX3" fmla="*/ 3613545 w 4551680"/>
                <a:gd name="connsiteY3" fmla="*/ 4117033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3613545" y="4117033"/>
                  </a:moveTo>
                  <a:cubicBezTo>
                    <a:pt x="2815892" y="4696562"/>
                    <a:pt x="1735788" y="4696562"/>
                    <a:pt x="938135" y="4117033"/>
                  </a:cubicBezTo>
                  <a:lnTo>
                    <a:pt x="2275840" y="2275840"/>
                  </a:lnTo>
                  <a:lnTo>
                    <a:pt x="3613545" y="4117033"/>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46" name="任意多边形: 形状 109"/>
            <p:cNvSpPr/>
            <p:nvPr/>
          </p:nvSpPr>
          <p:spPr>
            <a:xfrm>
              <a:off x="10054652" y="1476964"/>
              <a:ext cx="4551680" cy="4551680"/>
            </a:xfrm>
            <a:custGeom>
              <a:avLst/>
              <a:gdLst>
                <a:gd name="connsiteX0" fmla="*/ 938135 w 4551680"/>
                <a:gd name="connsiteY0" fmla="*/ 4117033 h 4551680"/>
                <a:gd name="connsiteX1" fmla="*/ 111388 w 4551680"/>
                <a:gd name="connsiteY1" fmla="*/ 1572567 h 4551680"/>
                <a:gd name="connsiteX2" fmla="*/ 2275840 w 4551680"/>
                <a:gd name="connsiteY2" fmla="*/ 2275840 h 4551680"/>
                <a:gd name="connsiteX3" fmla="*/ 938135 w 4551680"/>
                <a:gd name="connsiteY3" fmla="*/ 4117033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938135" y="4117033"/>
                  </a:moveTo>
                  <a:cubicBezTo>
                    <a:pt x="140482" y="3537504"/>
                    <a:pt x="-193289" y="2510264"/>
                    <a:pt x="111388" y="1572567"/>
                  </a:cubicBezTo>
                  <a:lnTo>
                    <a:pt x="2275840" y="2275840"/>
                  </a:lnTo>
                  <a:lnTo>
                    <a:pt x="938135" y="4117033"/>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Overflow="overflow" horzOverflow="overflow" vert="horz" wrap="square" lIns="0" tIns="0" rIns="0" bIns="0" numCol="1" spcCol="1270" rtlCol="0" fromWordArt="0" anchor="ctr" anchorCtr="0" forceAA="0" compatLnSpc="1">
              <a:noAutofit/>
            </a:bodyPr>
            <a:lstStyle/>
            <a:p>
              <a:pPr lvl="0" algn="ctr" defTabSz="1866900">
                <a:lnSpc>
                  <a:spcPct val="90000"/>
                </a:lnSpc>
                <a:spcAft>
                  <a:spcPct val="35000"/>
                </a:spcAft>
                <a:buClrTx/>
                <a:buSzTx/>
                <a:buFontTx/>
                <a:defRPr>
                  <a:solidFill>
                    <a:srgbClr val="FFFFFF"/>
                  </a:solidFill>
                  <a:latin typeface="微软雅黑"/>
                  <a:ea typeface="微软雅黑"/>
                  <a:cs typeface="微软雅黑"/>
                </a:defRPr>
              </a:pPr>
              <a:endParaRPr lang="zh-CN" altLang="en-US" sz="4200" noProof="0">
                <a:ln>
                  <a:noFill/>
                </a:ln>
                <a:solidFill>
                  <a:srgbClr val="FFFFFF"/>
                </a:solidFill>
                <a:effectLst/>
                <a:uLnTx/>
                <a:uFillTx/>
                <a:latin typeface="微软雅黑"/>
                <a:ea typeface="微软雅黑"/>
                <a:cs typeface="微软雅黑"/>
                <a:sym typeface="微软雅黑"/>
              </a:endParaRPr>
            </a:p>
          </p:txBody>
        </p:sp>
        <p:sp>
          <p:nvSpPr>
            <p:cNvPr id="147" name="任意多边形: 形状 110"/>
            <p:cNvSpPr/>
            <p:nvPr/>
          </p:nvSpPr>
          <p:spPr>
            <a:xfrm>
              <a:off x="10054652" y="1476964"/>
              <a:ext cx="4551680" cy="4551680"/>
            </a:xfrm>
            <a:custGeom>
              <a:avLst/>
              <a:gdLst>
                <a:gd name="connsiteX0" fmla="*/ 111388 w 4551680"/>
                <a:gd name="connsiteY0" fmla="*/ 1572567 h 4551680"/>
                <a:gd name="connsiteX1" fmla="*/ 2275840 w 4551680"/>
                <a:gd name="connsiteY1" fmla="*/ 0 h 4551680"/>
                <a:gd name="connsiteX2" fmla="*/ 2275840 w 4551680"/>
                <a:gd name="connsiteY2" fmla="*/ 2275840 h 4551680"/>
                <a:gd name="connsiteX3" fmla="*/ 111388 w 4551680"/>
                <a:gd name="connsiteY3" fmla="*/ 1572567 h 4551680"/>
              </a:gdLst>
              <a:ahLst/>
              <a:cxnLst>
                <a:cxn ang="0">
                  <a:pos x="connsiteX0" y="connsiteY0"/>
                </a:cxn>
                <a:cxn ang="0">
                  <a:pos x="connsiteX1" y="connsiteY1"/>
                </a:cxn>
                <a:cxn ang="0">
                  <a:pos x="connsiteX2" y="connsiteY2"/>
                </a:cxn>
                <a:cxn ang="0">
                  <a:pos x="connsiteX3" y="connsiteY3"/>
                </a:cxn>
              </a:cxnLst>
              <a:rect l="l" t="t" r="r" b="b"/>
              <a:pathLst>
                <a:path w="4551680" h="4551680">
                  <a:moveTo>
                    <a:pt x="111388" y="1572567"/>
                  </a:moveTo>
                  <a:cubicBezTo>
                    <a:pt x="416064" y="634869"/>
                    <a:pt x="1289887" y="0"/>
                    <a:pt x="2275840" y="0"/>
                  </a:cubicBezTo>
                  <a:lnTo>
                    <a:pt x="2275840" y="2275840"/>
                  </a:lnTo>
                  <a:lnTo>
                    <a:pt x="111388" y="1572567"/>
                  </a:lnTo>
                  <a:close/>
                </a:path>
              </a:pathLst>
            </a:custGeom>
            <a:solidFill>
              <a:srgbClr val="E6E6E6">
                <a:alpha val="20000"/>
              </a:srgbClr>
            </a:solidFill>
            <a:ln>
              <a:solidFill>
                <a:srgbClr val="E6E6E6">
                  <a:alpha val="70000"/>
                </a:srgbClr>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spcFirstLastPara="0" vert="horz" wrap="square" lIns="0" tIns="0" rIns="0" bIns="0" numCol="1" spcCol="1270" anchor="ctr" anchorCtr="0">
              <a:noAutofit/>
            </a:bodyPr>
            <a:lstStyle/>
            <a:p>
              <a:pPr marL="0" marR="0" lvl="0" indent="0" algn="ctr" defTabSz="1866900" rtl="0" eaLnBrk="1" fontAlgn="auto" latinLnBrk="0" hangingPunct="1">
                <a:lnSpc>
                  <a:spcPct val="90000"/>
                </a:lnSpc>
                <a:spcBef>
                  <a:spcPct val="0"/>
                </a:spcBef>
                <a:spcAft>
                  <a:spcPct val="35000"/>
                </a:spcAft>
                <a:buClrTx/>
                <a:buSzTx/>
                <a:buFontTx/>
                <a:buNone/>
                <a:defRPr>
                  <a:solidFill>
                    <a:srgbClr val="FFFFFF"/>
                  </a:solidFill>
                  <a:latin typeface="微软雅黑"/>
                  <a:ea typeface="微软雅黑"/>
                  <a:cs typeface="微软雅黑"/>
                </a:defRPr>
              </a:pPr>
              <a:endParaRPr kumimoji="0" lang="zh-CN" altLang="en-US" sz="42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148" name="椭圆 147"/>
          <p:cNvSpPr/>
          <p:nvPr/>
        </p:nvSpPr>
        <p:spPr>
          <a:xfrm>
            <a:off x="7433945" y="2082165"/>
            <a:ext cx="1584325" cy="1583690"/>
          </a:xfrm>
          <a:prstGeom prst="ellipse">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6" name="PPT14"/>
          <p:cNvSpPr txBox="1"/>
          <p:nvPr/>
        </p:nvSpPr>
        <p:spPr>
          <a:xfrm>
            <a:off x="7823765" y="2894343"/>
            <a:ext cx="804685" cy="433070"/>
          </a:xfrm>
          <a:prstGeom prst="rect">
            <a:avLst/>
          </a:prstGeom>
          <a:noFill/>
          <a:effectLst/>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2815" b="1" dirty="0">
                <a:solidFill>
                  <a:srgbClr val="FFFFFF"/>
                </a:solidFill>
                <a:latin typeface="微软雅黑"/>
                <a:ea typeface="微软雅黑"/>
                <a:cs typeface="微软雅黑"/>
              </a:rPr>
              <a:t>私域</a:t>
            </a:r>
            <a:endParaRPr lang="zh-CN" altLang="en-US" sz="2815" b="1" dirty="0">
              <a:solidFill>
                <a:srgbClr val="FFFFFF"/>
              </a:solidFill>
              <a:latin typeface="微软雅黑"/>
              <a:ea typeface="微软雅黑"/>
              <a:cs typeface="微软雅黑"/>
            </a:endParaRPr>
          </a:p>
        </p:txBody>
      </p:sp>
      <p:pic>
        <p:nvPicPr>
          <p:cNvPr id="165" name="图片 164" descr="私域"/>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970520" y="2331720"/>
            <a:ext cx="511175" cy="511175"/>
          </a:xfrm>
          <a:prstGeom prst="rect">
            <a:avLst/>
          </a:prstGeom>
        </p:spPr>
      </p:pic>
      <p:pic>
        <p:nvPicPr>
          <p:cNvPr id="166" name="图片 165" descr="公域"/>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703320" y="2186305"/>
            <a:ext cx="628015" cy="628015"/>
          </a:xfrm>
          <a:prstGeom prst="rect">
            <a:avLst/>
          </a:prstGeom>
        </p:spPr>
      </p:pic>
      <p:sp>
        <p:nvSpPr>
          <p:cNvPr id="167" name="文本框 166"/>
          <p:cNvSpPr txBox="1"/>
          <p:nvPr/>
        </p:nvSpPr>
        <p:spPr>
          <a:xfrm rot="15133517">
            <a:off x="9307830" y="4836795"/>
            <a:ext cx="1830070" cy="1830070"/>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rPr>
              <a:t>社群互动</a:t>
            </a:r>
            <a:endPar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sp>
        <p:nvSpPr>
          <p:cNvPr id="169" name="文本框 168"/>
          <p:cNvSpPr txBox="1"/>
          <p:nvPr/>
        </p:nvSpPr>
        <p:spPr>
          <a:xfrm rot="2256641">
            <a:off x="7374255" y="1924685"/>
            <a:ext cx="1830070" cy="1830070"/>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口碑传播</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nvGrpSpPr>
          <p:cNvPr id="203" name="组合 202"/>
          <p:cNvGrpSpPr/>
          <p:nvPr/>
        </p:nvGrpSpPr>
        <p:grpSpPr>
          <a:xfrm>
            <a:off x="7252970" y="1931035"/>
            <a:ext cx="1946910" cy="1901825"/>
            <a:chOff x="4851" y="3015"/>
            <a:chExt cx="3066" cy="2995"/>
          </a:xfrm>
        </p:grpSpPr>
        <p:sp>
          <p:nvSpPr>
            <p:cNvPr id="205" name="文本框 204"/>
            <p:cNvSpPr txBox="1"/>
            <p:nvPr/>
          </p:nvSpPr>
          <p:spPr>
            <a:xfrm rot="10800000">
              <a:off x="5035" y="3128"/>
              <a:ext cx="2882" cy="2882"/>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私域直播</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06" name="文本框 205"/>
            <p:cNvSpPr txBox="1"/>
            <p:nvPr/>
          </p:nvSpPr>
          <p:spPr>
            <a:xfrm rot="19463872">
              <a:off x="4851" y="3015"/>
              <a:ext cx="2882" cy="2882"/>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私域内容</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212" name="文本框 211"/>
          <p:cNvSpPr txBox="1"/>
          <p:nvPr/>
        </p:nvSpPr>
        <p:spPr>
          <a:xfrm>
            <a:off x="5366068" y="1631950"/>
            <a:ext cx="1506855" cy="306705"/>
          </a:xfrm>
          <a:prstGeom prst="rect">
            <a:avLst/>
          </a:prstGeom>
        </p:spPr>
        <p:txBody>
          <a:bodyPr wrap="square">
            <a:sp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精准引流</a:t>
            </a:r>
            <a:endParaRPr lang="zh-CN" altLang="en-US" sz="1400">
              <a:solidFill>
                <a:srgbClr val="383838"/>
              </a:solidFill>
              <a:latin typeface="微软雅黑"/>
              <a:ea typeface="微软雅黑"/>
              <a:cs typeface="微软雅黑"/>
            </a:endParaRPr>
          </a:p>
        </p:txBody>
      </p:sp>
      <p:sp>
        <p:nvSpPr>
          <p:cNvPr id="213" name="文本框 212"/>
          <p:cNvSpPr txBox="1"/>
          <p:nvPr/>
        </p:nvSpPr>
        <p:spPr>
          <a:xfrm>
            <a:off x="5569903" y="3726180"/>
            <a:ext cx="1099185" cy="306705"/>
          </a:xfrm>
          <a:prstGeom prst="rect">
            <a:avLst/>
          </a:prstGeom>
          <a:noFill/>
          <a:extLst>
            <a:ext uri="{909E8E84-426E-40DD-AFC4-6F175D3DCCD1}">
              <a14:hiddenFill xmlns:a14="http://schemas.microsoft.com/office/drawing/2010/main">
                <a:solidFill>
                  <a:srgbClr val="DCDCDC"/>
                </a:solidFill>
              </a14:hiddenFill>
            </a:ext>
          </a:extLst>
        </p:spPr>
        <p:txBody>
          <a:bodyPr wrap="square">
            <a:sp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400">
                <a:solidFill>
                  <a:srgbClr val="383838"/>
                </a:solidFill>
                <a:latin typeface="微软雅黑"/>
                <a:ea typeface="微软雅黑"/>
                <a:cs typeface="微软雅黑"/>
              </a:rPr>
              <a:t>数据赋能</a:t>
            </a:r>
            <a:endParaRPr lang="zh-CN" altLang="en-US" sz="1400">
              <a:solidFill>
                <a:srgbClr val="383838"/>
              </a:solidFill>
              <a:latin typeface="微软雅黑"/>
              <a:ea typeface="微软雅黑"/>
              <a:cs typeface="微软雅黑"/>
            </a:endParaRPr>
          </a:p>
        </p:txBody>
      </p:sp>
      <p:sp>
        <p:nvSpPr>
          <p:cNvPr id="215" name="弧形 214"/>
          <p:cNvSpPr/>
          <p:nvPr/>
        </p:nvSpPr>
        <p:spPr>
          <a:xfrm>
            <a:off x="2807335" y="1540510"/>
            <a:ext cx="2489200" cy="2489200"/>
          </a:xfrm>
          <a:prstGeom prst="arc">
            <a:avLst>
              <a:gd name="adj1" fmla="val 18819948"/>
              <a:gd name="adj2" fmla="val 2010368"/>
            </a:avLst>
          </a:prstGeom>
          <a:noFill/>
          <a:ln w="19050">
            <a:gradFill>
              <a:gsLst>
                <a:gs pos="7000">
                  <a:srgbClr val="3368FF">
                    <a:alpha val="0"/>
                  </a:srgbClr>
                </a:gs>
                <a:gs pos="100000">
                  <a:srgbClr val="3368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216" name="弧形 215"/>
          <p:cNvSpPr/>
          <p:nvPr/>
        </p:nvSpPr>
        <p:spPr>
          <a:xfrm flipH="1">
            <a:off x="6929120" y="1600200"/>
            <a:ext cx="2489200" cy="2489200"/>
          </a:xfrm>
          <a:prstGeom prst="arc">
            <a:avLst>
              <a:gd name="adj1" fmla="val 18819948"/>
              <a:gd name="adj2" fmla="val 2010368"/>
            </a:avLst>
          </a:prstGeom>
          <a:noFill/>
          <a:ln w="19050">
            <a:gradFill>
              <a:gsLst>
                <a:gs pos="7000">
                  <a:srgbClr val="3368FF">
                    <a:alpha val="0"/>
                  </a:srgbClr>
                </a:gs>
                <a:gs pos="100000">
                  <a:srgbClr val="3368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217" name="子陵职场PPT5"/>
          <p:cNvSpPr/>
          <p:nvPr/>
        </p:nvSpPr>
        <p:spPr>
          <a:xfrm>
            <a:off x="5595620" y="2179320"/>
            <a:ext cx="1050925" cy="1053465"/>
          </a:xfrm>
          <a:prstGeom prst="ellipse">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r>
              <a:rPr lang="zh-CN" altLang="en-US" b="1" noProof="0" dirty="0">
                <a:ln>
                  <a:noFill/>
                </a:ln>
                <a:solidFill>
                  <a:prstClr val="white"/>
                </a:solidFill>
                <a:effectLst/>
                <a:uLnTx/>
                <a:uFillTx/>
                <a:latin typeface="微软雅黑"/>
                <a:ea typeface="微软雅黑"/>
                <a:cs typeface="微软雅黑"/>
                <a:sym typeface="微软雅黑"/>
              </a:rPr>
              <a:t>双轮驱动</a:t>
            </a:r>
            <a:endParaRPr lang="zh-CN" altLang="en-US" b="1" noProof="0" dirty="0">
              <a:ln>
                <a:noFill/>
              </a:ln>
              <a:solidFill>
                <a:prstClr val="white"/>
              </a:solidFill>
              <a:effectLst/>
              <a:uLnTx/>
              <a:uFillTx/>
              <a:latin typeface="微软雅黑"/>
              <a:ea typeface="微软雅黑"/>
              <a:cs typeface="微软雅黑"/>
              <a:sym typeface="微软雅黑"/>
            </a:endParaRPr>
          </a:p>
        </p:txBody>
      </p:sp>
      <p:grpSp>
        <p:nvGrpSpPr>
          <p:cNvPr id="224" name="组合 223"/>
          <p:cNvGrpSpPr/>
          <p:nvPr/>
        </p:nvGrpSpPr>
        <p:grpSpPr>
          <a:xfrm>
            <a:off x="148590" y="5120005"/>
            <a:ext cx="2914015" cy="1546860"/>
            <a:chOff x="234" y="8063"/>
            <a:chExt cx="4589" cy="2436"/>
          </a:xfrm>
        </p:grpSpPr>
        <p:sp>
          <p:nvSpPr>
            <p:cNvPr id="170" name="矩形 169"/>
            <p:cNvSpPr/>
            <p:nvPr/>
          </p:nvSpPr>
          <p:spPr>
            <a:xfrm>
              <a:off x="357" y="8063"/>
              <a:ext cx="4467" cy="2436"/>
            </a:xfrm>
            <a:prstGeom prst="rect">
              <a:avLst/>
            </a:prstGeom>
            <a:solidFill>
              <a:srgbClr val="FFFFFF"/>
            </a:solidFill>
            <a:ln w="15875">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175" name="矩形: 圆角 174"/>
            <p:cNvSpPr/>
            <p:nvPr/>
          </p:nvSpPr>
          <p:spPr>
            <a:xfrm rot="16200000">
              <a:off x="1980" y="6494"/>
              <a:ext cx="551" cy="4042"/>
            </a:xfrm>
            <a:prstGeom prst="roundRect">
              <a:avLst>
                <a:gd name="adj" fmla="val 50000"/>
              </a:avLst>
            </a:prstGeom>
            <a:gradFill flip="none" rotWithShape="1">
              <a:gsLst>
                <a:gs pos="30000">
                  <a:srgbClr val="FFFFFF">
                    <a:alpha val="0"/>
                  </a:srgbClr>
                </a:gs>
                <a:gs pos="100000">
                  <a:srgbClr val="FFFFFF"/>
                </a:gs>
              </a:gsLst>
              <a:lin ang="5400000" scaled="1"/>
              <a:tileRect/>
            </a:gradFill>
            <a:ln>
              <a:gradFill>
                <a:gsLst>
                  <a:gs pos="12000">
                    <a:srgbClr val="B3D4FE">
                      <a:alpha val="0"/>
                    </a:srgbClr>
                  </a:gs>
                  <a:gs pos="100000">
                    <a:srgbClr val="B3D4FE"/>
                  </a:gs>
                </a:gsLst>
                <a:lin ang="5400000" scaled="1"/>
              </a:gra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latin typeface="微软雅黑"/>
                <a:ea typeface="微软雅黑"/>
                <a:cs typeface="微软雅黑"/>
              </a:endParaRPr>
            </a:p>
          </p:txBody>
        </p:sp>
        <p:sp>
          <p:nvSpPr>
            <p:cNvPr id="177" name="文本框 176"/>
            <p:cNvSpPr txBox="1"/>
            <p:nvPr/>
          </p:nvSpPr>
          <p:spPr>
            <a:xfrm>
              <a:off x="650" y="8131"/>
              <a:ext cx="637" cy="824"/>
            </a:xfrm>
            <a:prstGeom prst="rect">
              <a:avLst/>
            </a:prstGeom>
            <a:noFill/>
          </p:spPr>
          <p:txBody>
            <a:bodyPr wrap="square">
              <a:spAutoFit/>
            </a:bodyPr>
            <a:lstStyle/>
            <a:p>
              <a:pPr>
                <a:defRPr>
                  <a:latin typeface="微软雅黑"/>
                  <a:ea typeface="微软雅黑"/>
                  <a:cs typeface="微软雅黑"/>
                </a:defRPr>
              </a:pPr>
              <a:r>
                <a:rPr lang="en-US" altLang="zh-CN" sz="2800">
                  <a:ln>
                    <a:solidFill>
                      <a:srgbClr val="0042FF"/>
                    </a:solidFill>
                  </a:ln>
                  <a:solidFill>
                    <a:srgbClr val="383838"/>
                  </a:solidFill>
                  <a:effectLst/>
                  <a:latin typeface="微软雅黑"/>
                  <a:ea typeface="微软雅黑"/>
                  <a:cs typeface="微软雅黑"/>
                </a:rPr>
                <a:t>1</a:t>
              </a:r>
              <a:endParaRPr lang="en-US" altLang="zh-CN" sz="2800">
                <a:ln>
                  <a:solidFill>
                    <a:srgbClr val="0042FF"/>
                  </a:solidFill>
                </a:ln>
                <a:solidFill>
                  <a:srgbClr val="383838"/>
                </a:solidFill>
                <a:effectLst/>
                <a:latin typeface="微软雅黑"/>
                <a:ea typeface="微软雅黑"/>
                <a:cs typeface="微软雅黑"/>
              </a:endParaRPr>
            </a:p>
          </p:txBody>
        </p:sp>
        <p:sp>
          <p:nvSpPr>
            <p:cNvPr id="178" name="文本框 177"/>
            <p:cNvSpPr txBox="1"/>
            <p:nvPr/>
          </p:nvSpPr>
          <p:spPr>
            <a:xfrm>
              <a:off x="691" y="8890"/>
              <a:ext cx="3661" cy="1537"/>
            </a:xfrm>
            <a:prstGeom prst="rect">
              <a:avLst/>
            </a:prstGeom>
            <a:noFill/>
          </p:spPr>
          <p:txBody>
            <a:bodyPr wrap="square">
              <a:spAutoFit/>
            </a:bodyPr>
            <a:lstStyle/>
            <a:p>
              <a:pPr>
                <a:lnSpc>
                  <a:spcPct val="120000"/>
                </a:lnSpc>
                <a:spcBef>
                  <a:spcPts val="600"/>
                </a:spcBef>
                <a:defRPr>
                  <a:latin typeface="微软雅黑"/>
                  <a:ea typeface="微软雅黑"/>
                  <a:cs typeface="微软雅黑"/>
                </a:defRPr>
              </a:pPr>
              <a:r>
                <a:rPr lang="zh-CN" altLang="en-US" sz="1200">
                  <a:solidFill>
                    <a:srgbClr val="383838"/>
                  </a:solidFill>
                  <a:latin typeface="微软雅黑"/>
                  <a:cs typeface="微软雅黑"/>
                  <a:ea typeface="微软雅黑"/>
                </a:rPr>
                <a:t>在公域平台通过优质内容吸引目标用户，再以福利或服务为诱饵，将其引导至私域池沉淀，完成流量闭环的第一步。</a:t>
              </a:r>
              <a:endParaRPr lang="zh-CN" altLang="en-US" sz="1200">
                <a:solidFill>
                  <a:srgbClr val="383838"/>
                </a:solidFill>
                <a:latin typeface="微软雅黑"/>
                <a:cs typeface="微软雅黑"/>
                <a:ea typeface="微软雅黑"/>
              </a:endParaRPr>
            </a:p>
          </p:txBody>
        </p:sp>
        <p:sp>
          <p:nvSpPr>
            <p:cNvPr id="223" name="文本框 222"/>
            <p:cNvSpPr txBox="1"/>
            <p:nvPr/>
          </p:nvSpPr>
          <p:spPr>
            <a:xfrm>
              <a:off x="1226" y="8276"/>
              <a:ext cx="3050" cy="483"/>
            </a:xfrm>
            <a:prstGeom prst="rect">
              <a:avLst/>
            </a:prstGeom>
            <a:noFill/>
          </p:spPr>
          <p:txBody>
            <a:bodyPr wrap="square">
              <a:spAutoFit/>
            </a:bodyPr>
            <a:lstStyle/>
            <a:p>
              <a:pPr>
                <a:defRPr>
                  <a:latin typeface="微软雅黑"/>
                  <a:ea typeface="微软雅黑"/>
                  <a:cs typeface="微软雅黑"/>
                </a:defRPr>
              </a:pPr>
              <a:r>
                <a:rPr lang="zh-CN" altLang="en-US" sz="1400" b="1">
                  <a:solidFill>
                    <a:srgbClr val="0042FF"/>
                  </a:solidFill>
                  <a:latin typeface="微软雅黑"/>
                  <a:ea typeface="微软雅黑"/>
                  <a:cs typeface="微软雅黑"/>
                </a:rPr>
                <a:t>精准引流，沉淀私域</a:t>
              </a:r>
              <a:endParaRPr lang="zh-CN" altLang="en-US" sz="1400" b="1">
                <a:solidFill>
                  <a:srgbClr val="0042FF"/>
                </a:solidFill>
                <a:latin typeface="微软雅黑"/>
                <a:ea typeface="微软雅黑"/>
                <a:cs typeface="微软雅黑"/>
              </a:endParaRPr>
            </a:p>
          </p:txBody>
        </p:sp>
      </p:grpSp>
      <p:grpSp>
        <p:nvGrpSpPr>
          <p:cNvPr id="225" name="组合 224"/>
          <p:cNvGrpSpPr/>
          <p:nvPr/>
        </p:nvGrpSpPr>
        <p:grpSpPr>
          <a:xfrm>
            <a:off x="3123565" y="5120005"/>
            <a:ext cx="2914015" cy="1546860"/>
            <a:chOff x="235" y="8063"/>
            <a:chExt cx="4589" cy="2436"/>
          </a:xfrm>
        </p:grpSpPr>
        <p:sp>
          <p:nvSpPr>
            <p:cNvPr id="226" name="矩形 225"/>
            <p:cNvSpPr/>
            <p:nvPr/>
          </p:nvSpPr>
          <p:spPr>
            <a:xfrm>
              <a:off x="357" y="8063"/>
              <a:ext cx="4467" cy="2436"/>
            </a:xfrm>
            <a:prstGeom prst="rect">
              <a:avLst/>
            </a:prstGeom>
            <a:solidFill>
              <a:srgbClr val="FFFFFF"/>
            </a:solidFill>
            <a:ln w="15875">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227" name="矩形: 圆角 174"/>
            <p:cNvSpPr/>
            <p:nvPr/>
          </p:nvSpPr>
          <p:spPr>
            <a:xfrm rot="16200000">
              <a:off x="1980" y="6494"/>
              <a:ext cx="551" cy="4042"/>
            </a:xfrm>
            <a:prstGeom prst="roundRect">
              <a:avLst>
                <a:gd name="adj" fmla="val 50000"/>
              </a:avLst>
            </a:prstGeom>
            <a:gradFill flip="none" rotWithShape="1">
              <a:gsLst>
                <a:gs pos="30000">
                  <a:srgbClr val="FFFFFF">
                    <a:alpha val="0"/>
                  </a:srgbClr>
                </a:gs>
                <a:gs pos="100000">
                  <a:srgbClr val="FFFFFF"/>
                </a:gs>
              </a:gsLst>
              <a:lin ang="5400000" scaled="1"/>
              <a:tileRect/>
            </a:gradFill>
            <a:ln>
              <a:gradFill>
                <a:gsLst>
                  <a:gs pos="12000">
                    <a:srgbClr val="B3D4FE">
                      <a:alpha val="0"/>
                    </a:srgbClr>
                  </a:gs>
                  <a:gs pos="100000">
                    <a:srgbClr val="B3D4FE"/>
                  </a:gs>
                </a:gsLst>
                <a:lin ang="5400000" scaled="1"/>
              </a:gra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latin typeface="微软雅黑"/>
                <a:ea typeface="微软雅黑"/>
                <a:cs typeface="微软雅黑"/>
              </a:endParaRPr>
            </a:p>
          </p:txBody>
        </p:sp>
        <p:sp>
          <p:nvSpPr>
            <p:cNvPr id="228" name="文本框 227"/>
            <p:cNvSpPr txBox="1"/>
            <p:nvPr/>
          </p:nvSpPr>
          <p:spPr>
            <a:xfrm>
              <a:off x="650" y="8131"/>
              <a:ext cx="637" cy="822"/>
            </a:xfrm>
            <a:prstGeom prst="rect">
              <a:avLst/>
            </a:prstGeom>
            <a:noFill/>
          </p:spPr>
          <p:txBody>
            <a:bodyPr wrap="square">
              <a:spAutoFit/>
            </a:bodyPr>
            <a:lstStyle/>
            <a:p>
              <a:pPr>
                <a:defRPr>
                  <a:latin typeface="微软雅黑"/>
                  <a:ea typeface="微软雅黑"/>
                  <a:cs typeface="微软雅黑"/>
                </a:defRPr>
              </a:pPr>
              <a:r>
                <a:rPr lang="en-US" altLang="zh-CN" sz="2800">
                  <a:ln>
                    <a:solidFill>
                      <a:srgbClr val="0042FF"/>
                    </a:solidFill>
                  </a:ln>
                  <a:solidFill>
                    <a:srgbClr val="383838"/>
                  </a:solidFill>
                  <a:effectLst/>
                  <a:latin typeface="微软雅黑"/>
                  <a:ea typeface="微软雅黑"/>
                  <a:cs typeface="微软雅黑"/>
                </a:rPr>
                <a:t>2</a:t>
              </a:r>
              <a:endParaRPr lang="en-US" altLang="zh-CN" sz="2800">
                <a:ln>
                  <a:solidFill>
                    <a:srgbClr val="0042FF"/>
                  </a:solidFill>
                </a:ln>
                <a:solidFill>
                  <a:srgbClr val="383838"/>
                </a:solidFill>
                <a:effectLst/>
                <a:latin typeface="微软雅黑"/>
                <a:ea typeface="微软雅黑"/>
                <a:cs typeface="微软雅黑"/>
              </a:endParaRPr>
            </a:p>
          </p:txBody>
        </p:sp>
        <p:sp>
          <p:nvSpPr>
            <p:cNvPr id="229" name="文本框 228"/>
            <p:cNvSpPr txBox="1"/>
            <p:nvPr/>
          </p:nvSpPr>
          <p:spPr>
            <a:xfrm>
              <a:off x="691" y="8890"/>
              <a:ext cx="3661" cy="1537"/>
            </a:xfrm>
            <a:prstGeom prst="rect">
              <a:avLst/>
            </a:prstGeom>
            <a:noFill/>
          </p:spPr>
          <p:txBody>
            <a:bodyPr wrap="square">
              <a:spAutoFit/>
            </a:bodyPr>
            <a:lstStyle/>
            <a:p>
              <a:pPr>
                <a:lnSpc>
                  <a:spcPct val="120000"/>
                </a:lnSpc>
                <a:spcBef>
                  <a:spcPts val="600"/>
                </a:spcBef>
                <a:defRPr>
                  <a:latin typeface="微软雅黑"/>
                  <a:ea typeface="微软雅黑"/>
                  <a:cs typeface="微软雅黑"/>
                </a:defRPr>
              </a:pPr>
              <a:r>
                <a:rPr lang="zh-CN" altLang="en-US" sz="1200">
                  <a:solidFill>
                    <a:srgbClr val="383838"/>
                  </a:solidFill>
                  <a:latin typeface="微软雅黑"/>
                  <a:cs typeface="微软雅黑"/>
                  <a:ea typeface="微软雅黑"/>
                </a:rPr>
                <a:t>在私域内对用户打标签分层，实施精细化、个性化互动，通过专属服务和社群活动，有效提升用户粘性与长期忠诚度。</a:t>
              </a:r>
              <a:endParaRPr lang="zh-CN" altLang="en-US" sz="1200">
                <a:solidFill>
                  <a:srgbClr val="383838"/>
                </a:solidFill>
                <a:latin typeface="微软雅黑"/>
                <a:cs typeface="微软雅黑"/>
                <a:ea typeface="微软雅黑"/>
              </a:endParaRPr>
            </a:p>
          </p:txBody>
        </p:sp>
        <p:sp>
          <p:nvSpPr>
            <p:cNvPr id="230" name="文本框 229"/>
            <p:cNvSpPr txBox="1"/>
            <p:nvPr/>
          </p:nvSpPr>
          <p:spPr>
            <a:xfrm>
              <a:off x="1226" y="8276"/>
              <a:ext cx="3050" cy="483"/>
            </a:xfrm>
            <a:prstGeom prst="rect">
              <a:avLst/>
            </a:prstGeom>
            <a:noFill/>
          </p:spPr>
          <p:txBody>
            <a:bodyPr wrap="square">
              <a:spAutoFit/>
            </a:bodyPr>
            <a:lstStyle/>
            <a:p>
              <a:pPr>
                <a:defRPr>
                  <a:latin typeface="微软雅黑"/>
                  <a:ea typeface="微软雅黑"/>
                  <a:cs typeface="微软雅黑"/>
                </a:defRPr>
              </a:pPr>
              <a:r>
                <a:rPr lang="zh-CN" altLang="en-US" sz="1400" b="1">
                  <a:solidFill>
                    <a:srgbClr val="0042FF"/>
                  </a:solidFill>
                  <a:latin typeface="微软雅黑"/>
                  <a:ea typeface="微软雅黑"/>
                  <a:cs typeface="微软雅黑"/>
                </a:rPr>
                <a:t>分层运营，深耕用户</a:t>
              </a:r>
              <a:endParaRPr lang="zh-CN" altLang="en-US" sz="1400" b="1">
                <a:solidFill>
                  <a:srgbClr val="0042FF"/>
                </a:solidFill>
                <a:latin typeface="微软雅黑"/>
                <a:ea typeface="微软雅黑"/>
                <a:cs typeface="微软雅黑"/>
              </a:endParaRPr>
            </a:p>
          </p:txBody>
        </p:sp>
      </p:grpSp>
      <p:grpSp>
        <p:nvGrpSpPr>
          <p:cNvPr id="231" name="组合 230"/>
          <p:cNvGrpSpPr/>
          <p:nvPr/>
        </p:nvGrpSpPr>
        <p:grpSpPr>
          <a:xfrm>
            <a:off x="6097905" y="5120005"/>
            <a:ext cx="2914015" cy="1546860"/>
            <a:chOff x="235" y="8063"/>
            <a:chExt cx="4589" cy="2436"/>
          </a:xfrm>
        </p:grpSpPr>
        <p:sp>
          <p:nvSpPr>
            <p:cNvPr id="232" name="矩形 231"/>
            <p:cNvSpPr/>
            <p:nvPr/>
          </p:nvSpPr>
          <p:spPr>
            <a:xfrm>
              <a:off x="357" y="8063"/>
              <a:ext cx="4467" cy="2436"/>
            </a:xfrm>
            <a:prstGeom prst="rect">
              <a:avLst/>
            </a:prstGeom>
            <a:solidFill>
              <a:srgbClr val="FFFFFF"/>
            </a:solidFill>
            <a:ln w="15875">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233" name="矩形: 圆角 174"/>
            <p:cNvSpPr/>
            <p:nvPr/>
          </p:nvSpPr>
          <p:spPr>
            <a:xfrm rot="16200000">
              <a:off x="1980" y="6494"/>
              <a:ext cx="551" cy="4042"/>
            </a:xfrm>
            <a:prstGeom prst="roundRect">
              <a:avLst>
                <a:gd name="adj" fmla="val 50000"/>
              </a:avLst>
            </a:prstGeom>
            <a:gradFill flip="none" rotWithShape="1">
              <a:gsLst>
                <a:gs pos="30000">
                  <a:srgbClr val="FFFFFF">
                    <a:alpha val="0"/>
                  </a:srgbClr>
                </a:gs>
                <a:gs pos="100000">
                  <a:srgbClr val="FFFFFF"/>
                </a:gs>
              </a:gsLst>
              <a:lin ang="5400000" scaled="1"/>
              <a:tileRect/>
            </a:gradFill>
            <a:ln>
              <a:gradFill>
                <a:gsLst>
                  <a:gs pos="12000">
                    <a:srgbClr val="B3D4FE">
                      <a:alpha val="0"/>
                    </a:srgbClr>
                  </a:gs>
                  <a:gs pos="100000">
                    <a:srgbClr val="B3D4FE"/>
                  </a:gs>
                </a:gsLst>
                <a:lin ang="5400000" scaled="1"/>
              </a:gra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latin typeface="微软雅黑"/>
                <a:ea typeface="微软雅黑"/>
                <a:cs typeface="微软雅黑"/>
              </a:endParaRPr>
            </a:p>
          </p:txBody>
        </p:sp>
        <p:sp>
          <p:nvSpPr>
            <p:cNvPr id="234" name="文本框 233"/>
            <p:cNvSpPr txBox="1"/>
            <p:nvPr/>
          </p:nvSpPr>
          <p:spPr>
            <a:xfrm>
              <a:off x="650" y="8131"/>
              <a:ext cx="637" cy="822"/>
            </a:xfrm>
            <a:prstGeom prst="rect">
              <a:avLst/>
            </a:prstGeom>
            <a:noFill/>
          </p:spPr>
          <p:txBody>
            <a:bodyPr wrap="square">
              <a:spAutoFit/>
            </a:bodyPr>
            <a:lstStyle/>
            <a:p>
              <a:pPr>
                <a:defRPr>
                  <a:latin typeface="微软雅黑"/>
                  <a:ea typeface="微软雅黑"/>
                  <a:cs typeface="微软雅黑"/>
                </a:defRPr>
              </a:pPr>
              <a:r>
                <a:rPr lang="en-US" altLang="zh-CN" sz="2800">
                  <a:ln>
                    <a:solidFill>
                      <a:srgbClr val="0042FF"/>
                    </a:solidFill>
                  </a:ln>
                  <a:solidFill>
                    <a:srgbClr val="383838"/>
                  </a:solidFill>
                  <a:effectLst/>
                  <a:latin typeface="微软雅黑"/>
                  <a:ea typeface="微软雅黑"/>
                  <a:cs typeface="微软雅黑"/>
                </a:rPr>
                <a:t>3</a:t>
              </a:r>
              <a:endParaRPr lang="en-US" altLang="zh-CN" sz="2800">
                <a:ln>
                  <a:solidFill>
                    <a:srgbClr val="0042FF"/>
                  </a:solidFill>
                </a:ln>
                <a:solidFill>
                  <a:srgbClr val="383838"/>
                </a:solidFill>
                <a:effectLst/>
                <a:latin typeface="微软雅黑"/>
                <a:ea typeface="微软雅黑"/>
                <a:cs typeface="微软雅黑"/>
              </a:endParaRPr>
            </a:p>
          </p:txBody>
        </p:sp>
        <p:sp>
          <p:nvSpPr>
            <p:cNvPr id="235" name="文本框 234"/>
            <p:cNvSpPr txBox="1"/>
            <p:nvPr/>
          </p:nvSpPr>
          <p:spPr>
            <a:xfrm>
              <a:off x="691" y="8890"/>
              <a:ext cx="3661" cy="1537"/>
            </a:xfrm>
            <a:prstGeom prst="rect">
              <a:avLst/>
            </a:prstGeom>
            <a:noFill/>
          </p:spPr>
          <p:txBody>
            <a:bodyPr wrap="square">
              <a:spAutoFit/>
            </a:bodyPr>
            <a:lstStyle/>
            <a:p>
              <a:pPr>
                <a:lnSpc>
                  <a:spcPct val="120000"/>
                </a:lnSpc>
                <a:spcBef>
                  <a:spcPts val="600"/>
                </a:spcBef>
                <a:defRPr>
                  <a:latin typeface="微软雅黑"/>
                  <a:ea typeface="微软雅黑"/>
                  <a:cs typeface="微软雅黑"/>
                </a:defRPr>
              </a:pPr>
              <a:r>
                <a:rPr lang="zh-CN" altLang="en-US" sz="1200">
                  <a:solidFill>
                    <a:srgbClr val="383838"/>
                  </a:solidFill>
                  <a:latin typeface="微软雅黑"/>
                  <a:cs typeface="微软雅黑"/>
                  <a:ea typeface="微软雅黑"/>
                </a:rPr>
                <a:t>激励私域用户进行口碑分享与内容生产（</a:t>
              </a:r>
              <a:r>
                <a:rPr lang="en-US" altLang="zh-CN" sz="1200">
                  <a:solidFill>
                    <a:srgbClr val="383838"/>
                  </a:solidFill>
                  <a:latin typeface="微软雅黑"/>
                  <a:cs typeface="微软雅黑"/>
                  <a:ea typeface="微软雅黑"/>
                </a:rPr>
                <a:t>UGC</a:t>
              </a:r>
              <a:r>
                <a:rPr lang="zh-CN" altLang="en-US" sz="1200">
                  <a:solidFill>
                    <a:srgbClr val="383838"/>
                  </a:solidFill>
                  <a:latin typeface="微软雅黑"/>
                  <a:cs typeface="微软雅黑"/>
                  <a:ea typeface="微软雅黑"/>
                </a:rPr>
                <a:t>），筛选优质内容反哺公域，借助真实体验吸引新用户，实现裂变式增长。</a:t>
              </a:r>
              <a:endParaRPr lang="zh-CN" altLang="en-US" sz="1200">
                <a:solidFill>
                  <a:srgbClr val="383838"/>
                </a:solidFill>
                <a:latin typeface="微软雅黑"/>
                <a:cs typeface="微软雅黑"/>
                <a:ea typeface="微软雅黑"/>
              </a:endParaRPr>
            </a:p>
          </p:txBody>
        </p:sp>
        <p:sp>
          <p:nvSpPr>
            <p:cNvPr id="236" name="文本框 235"/>
            <p:cNvSpPr txBox="1"/>
            <p:nvPr/>
          </p:nvSpPr>
          <p:spPr>
            <a:xfrm>
              <a:off x="1226" y="8276"/>
              <a:ext cx="3050" cy="483"/>
            </a:xfrm>
            <a:prstGeom prst="rect">
              <a:avLst/>
            </a:prstGeom>
            <a:noFill/>
          </p:spPr>
          <p:txBody>
            <a:bodyPr wrap="square">
              <a:spAutoFit/>
            </a:bodyPr>
            <a:lstStyle/>
            <a:p>
              <a:pPr>
                <a:defRPr>
                  <a:latin typeface="微软雅黑"/>
                  <a:ea typeface="微软雅黑"/>
                  <a:cs typeface="微软雅黑"/>
                </a:defRPr>
              </a:pPr>
              <a:r>
                <a:rPr lang="zh-CN" altLang="en-US" sz="1400" b="1">
                  <a:solidFill>
                    <a:srgbClr val="0042FF"/>
                  </a:solidFill>
                  <a:latin typeface="微软雅黑"/>
                  <a:ea typeface="微软雅黑"/>
                  <a:cs typeface="微软雅黑"/>
                </a:rPr>
                <a:t>内容共创，放大声量</a:t>
              </a:r>
              <a:endParaRPr lang="zh-CN" altLang="en-US" sz="1400" b="1">
                <a:solidFill>
                  <a:srgbClr val="0042FF"/>
                </a:solidFill>
                <a:latin typeface="微软雅黑"/>
                <a:ea typeface="微软雅黑"/>
                <a:cs typeface="微软雅黑"/>
              </a:endParaRPr>
            </a:p>
          </p:txBody>
        </p:sp>
      </p:grpSp>
      <p:grpSp>
        <p:nvGrpSpPr>
          <p:cNvPr id="237" name="组合 236"/>
          <p:cNvGrpSpPr/>
          <p:nvPr/>
        </p:nvGrpSpPr>
        <p:grpSpPr>
          <a:xfrm>
            <a:off x="9072245" y="5120005"/>
            <a:ext cx="2914015" cy="1546860"/>
            <a:chOff x="235" y="8063"/>
            <a:chExt cx="4589" cy="2436"/>
          </a:xfrm>
        </p:grpSpPr>
        <p:sp>
          <p:nvSpPr>
            <p:cNvPr id="238" name="矩形 237"/>
            <p:cNvSpPr/>
            <p:nvPr/>
          </p:nvSpPr>
          <p:spPr>
            <a:xfrm>
              <a:off x="357" y="8063"/>
              <a:ext cx="4467" cy="2436"/>
            </a:xfrm>
            <a:prstGeom prst="rect">
              <a:avLst/>
            </a:prstGeom>
            <a:solidFill>
              <a:srgbClr val="FFFFFF"/>
            </a:solidFill>
            <a:ln w="15875">
              <a:solidFill>
                <a:srgbClr val="DCDCDC"/>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cs typeface="微软雅黑"/>
                <a:ea typeface="微软雅黑"/>
              </a:endParaRPr>
            </a:p>
          </p:txBody>
        </p:sp>
        <p:sp>
          <p:nvSpPr>
            <p:cNvPr id="239" name="矩形: 圆角 174"/>
            <p:cNvSpPr/>
            <p:nvPr/>
          </p:nvSpPr>
          <p:spPr>
            <a:xfrm rot="16200000">
              <a:off x="1980" y="6494"/>
              <a:ext cx="551" cy="4042"/>
            </a:xfrm>
            <a:prstGeom prst="roundRect">
              <a:avLst>
                <a:gd name="adj" fmla="val 50000"/>
              </a:avLst>
            </a:prstGeom>
            <a:gradFill flip="none" rotWithShape="1">
              <a:gsLst>
                <a:gs pos="30000">
                  <a:srgbClr val="FFFFFF">
                    <a:alpha val="0"/>
                  </a:srgbClr>
                </a:gs>
                <a:gs pos="100000">
                  <a:srgbClr val="FFFFFF"/>
                </a:gs>
              </a:gsLst>
              <a:lin ang="5400000" scaled="1"/>
              <a:tileRect/>
            </a:gradFill>
            <a:ln>
              <a:gradFill>
                <a:gsLst>
                  <a:gs pos="12000">
                    <a:srgbClr val="B3D4FE">
                      <a:alpha val="0"/>
                    </a:srgbClr>
                  </a:gs>
                  <a:gs pos="100000">
                    <a:srgbClr val="B3D4FE"/>
                  </a:gs>
                </a:gsLst>
                <a:lin ang="5400000" scaled="1"/>
              </a:gra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latin typeface="微软雅黑"/>
                <a:ea typeface="微软雅黑"/>
                <a:cs typeface="微软雅黑"/>
              </a:endParaRPr>
            </a:p>
          </p:txBody>
        </p:sp>
        <p:sp>
          <p:nvSpPr>
            <p:cNvPr id="240" name="文本框 239"/>
            <p:cNvSpPr txBox="1"/>
            <p:nvPr/>
          </p:nvSpPr>
          <p:spPr>
            <a:xfrm>
              <a:off x="650" y="8131"/>
              <a:ext cx="637" cy="822"/>
            </a:xfrm>
            <a:prstGeom prst="rect">
              <a:avLst/>
            </a:prstGeom>
            <a:noFill/>
          </p:spPr>
          <p:txBody>
            <a:bodyPr wrap="square">
              <a:spAutoFit/>
            </a:bodyPr>
            <a:lstStyle/>
            <a:p>
              <a:pPr>
                <a:defRPr>
                  <a:latin typeface="微软雅黑"/>
                  <a:ea typeface="微软雅黑"/>
                  <a:cs typeface="微软雅黑"/>
                </a:defRPr>
              </a:pPr>
              <a:r>
                <a:rPr lang="en-US" altLang="zh-CN" sz="2800">
                  <a:ln>
                    <a:solidFill>
                      <a:srgbClr val="0042FF"/>
                    </a:solidFill>
                  </a:ln>
                  <a:solidFill>
                    <a:srgbClr val="383838"/>
                  </a:solidFill>
                  <a:effectLst/>
                  <a:latin typeface="微软雅黑"/>
                  <a:ea typeface="微软雅黑"/>
                  <a:cs typeface="微软雅黑"/>
                </a:rPr>
                <a:t>4</a:t>
              </a:r>
              <a:endParaRPr lang="en-US" altLang="zh-CN" sz="2800">
                <a:ln>
                  <a:solidFill>
                    <a:srgbClr val="0042FF"/>
                  </a:solidFill>
                </a:ln>
                <a:solidFill>
                  <a:srgbClr val="383838"/>
                </a:solidFill>
                <a:effectLst/>
                <a:latin typeface="微软雅黑"/>
                <a:ea typeface="微软雅黑"/>
                <a:cs typeface="微软雅黑"/>
              </a:endParaRPr>
            </a:p>
          </p:txBody>
        </p:sp>
        <p:sp>
          <p:nvSpPr>
            <p:cNvPr id="241" name="文本框 240"/>
            <p:cNvSpPr txBox="1"/>
            <p:nvPr/>
          </p:nvSpPr>
          <p:spPr>
            <a:xfrm>
              <a:off x="691" y="8890"/>
              <a:ext cx="3661" cy="1537"/>
            </a:xfrm>
            <a:prstGeom prst="rect">
              <a:avLst/>
            </a:prstGeom>
            <a:noFill/>
          </p:spPr>
          <p:txBody>
            <a:bodyPr wrap="square">
              <a:spAutoFit/>
            </a:bodyPr>
            <a:lstStyle/>
            <a:p>
              <a:pPr>
                <a:lnSpc>
                  <a:spcPct val="120000"/>
                </a:lnSpc>
                <a:spcBef>
                  <a:spcPts val="600"/>
                </a:spcBef>
                <a:defRPr>
                  <a:latin typeface="微软雅黑"/>
                  <a:ea typeface="微软雅黑"/>
                  <a:cs typeface="微软雅黑"/>
                </a:defRPr>
              </a:pPr>
              <a:r>
                <a:rPr lang="zh-CN" altLang="en-US" sz="1200">
                  <a:solidFill>
                    <a:srgbClr val="383838"/>
                  </a:solidFill>
                  <a:latin typeface="微软雅黑"/>
                  <a:cs typeface="微软雅黑"/>
                  <a:ea typeface="微软雅黑"/>
                </a:rPr>
                <a:t>打通公私域数据，分析用户全生命周期行为，用私域的深度洞察反哺公域的广告投放与内容策略，形成持续优化的增长飞轮。</a:t>
              </a:r>
              <a:endParaRPr lang="zh-CN" altLang="en-US" sz="1200">
                <a:solidFill>
                  <a:srgbClr val="383838"/>
                </a:solidFill>
                <a:latin typeface="微软雅黑"/>
                <a:cs typeface="微软雅黑"/>
                <a:ea typeface="微软雅黑"/>
              </a:endParaRPr>
            </a:p>
          </p:txBody>
        </p:sp>
        <p:sp>
          <p:nvSpPr>
            <p:cNvPr id="242" name="文本框 241"/>
            <p:cNvSpPr txBox="1"/>
            <p:nvPr/>
          </p:nvSpPr>
          <p:spPr>
            <a:xfrm>
              <a:off x="1226" y="8276"/>
              <a:ext cx="3050" cy="483"/>
            </a:xfrm>
            <a:prstGeom prst="rect">
              <a:avLst/>
            </a:prstGeom>
            <a:noFill/>
          </p:spPr>
          <p:txBody>
            <a:bodyPr wrap="square">
              <a:spAutoFit/>
            </a:bodyPr>
            <a:lstStyle/>
            <a:p>
              <a:pPr>
                <a:defRPr>
                  <a:latin typeface="微软雅黑"/>
                  <a:ea typeface="微软雅黑"/>
                  <a:cs typeface="微软雅黑"/>
                </a:defRPr>
              </a:pPr>
              <a:r>
                <a:rPr lang="zh-CN" altLang="en-US" sz="1400" b="1">
                  <a:solidFill>
                    <a:srgbClr val="0042FF"/>
                  </a:solidFill>
                  <a:latin typeface="微软雅黑"/>
                  <a:ea typeface="微软雅黑"/>
                  <a:cs typeface="微软雅黑"/>
                </a:rPr>
                <a:t>数据闭环，驱动增长</a:t>
              </a:r>
              <a:endParaRPr lang="zh-CN" altLang="en-US" sz="1400" b="1">
                <a:solidFill>
                  <a:srgbClr val="0042FF"/>
                </a:solidFill>
                <a:latin typeface="微软雅黑"/>
                <a:ea typeface="微软雅黑"/>
                <a:cs typeface="微软雅黑"/>
              </a:endParaRPr>
            </a:p>
          </p:txBody>
        </p:sp>
      </p:grpSp>
      <p:sp>
        <p:nvSpPr>
          <p:cNvPr id="263" name="PPT63"/>
          <p:cNvSpPr txBox="1"/>
          <p:nvPr/>
        </p:nvSpPr>
        <p:spPr>
          <a:xfrm>
            <a:off x="3553460" y="4601071"/>
            <a:ext cx="1815465" cy="245745"/>
          </a:xfrm>
          <a:prstGeom prst="rect">
            <a:avLst/>
          </a:prstGeom>
          <a:noFill/>
        </p:spPr>
        <p:txBody>
          <a:bodyPr wrap="square" lIns="0" tIns="0" rIns="0" bIns="0">
            <a:spAutoFit/>
          </a:bodyPr>
          <a:lstStyle/>
          <a:p>
            <a:pPr>
              <a:defRPr>
                <a:latin typeface="微软雅黑"/>
                <a:ea typeface="微软雅黑"/>
                <a:cs typeface="微软雅黑"/>
              </a:defRPr>
            </a:pPr>
            <a:r>
              <a:rPr lang="zh-CN" altLang="en-US" sz="1600" b="1" i="0" dirty="0">
                <a:solidFill>
                  <a:srgbClr val="383838"/>
                </a:solidFill>
                <a:effectLst/>
                <a:latin typeface="微软雅黑"/>
                <a:ea typeface="微软雅黑"/>
                <a:cs typeface="微软雅黑"/>
              </a:rPr>
              <a:t>广泛拓展</a:t>
            </a:r>
            <a:r>
              <a:rPr lang="en-US" altLang="zh-CN" sz="1600" b="1" i="0" dirty="0">
                <a:solidFill>
                  <a:srgbClr val="383838"/>
                </a:solidFill>
                <a:effectLst/>
                <a:latin typeface="微软雅黑"/>
                <a:ea typeface="微软雅黑"/>
                <a:cs typeface="微软雅黑"/>
              </a:rPr>
              <a:t> </a:t>
            </a:r>
            <a:r>
              <a:rPr lang="zh-CN" altLang="en-US" sz="1600" b="1" i="0" dirty="0">
                <a:solidFill>
                  <a:srgbClr val="383838"/>
                </a:solidFill>
                <a:effectLst/>
                <a:latin typeface="微软雅黑"/>
                <a:ea typeface="微软雅黑"/>
                <a:cs typeface="微软雅黑"/>
              </a:rPr>
              <a:t>打响品牌</a:t>
            </a:r>
            <a:endParaRPr lang="zh-CN" altLang="en-US" sz="1600" b="1" i="0" dirty="0">
              <a:solidFill>
                <a:srgbClr val="383838"/>
              </a:solidFill>
              <a:effectLst/>
              <a:latin typeface="微软雅黑"/>
              <a:ea typeface="微软雅黑"/>
              <a:cs typeface="微软雅黑"/>
            </a:endParaRPr>
          </a:p>
        </p:txBody>
      </p:sp>
      <p:sp>
        <p:nvSpPr>
          <p:cNvPr id="264" name="PPT64"/>
          <p:cNvSpPr txBox="1"/>
          <p:nvPr/>
        </p:nvSpPr>
        <p:spPr>
          <a:xfrm>
            <a:off x="6721475" y="4601071"/>
            <a:ext cx="1990725" cy="245745"/>
          </a:xfrm>
          <a:prstGeom prst="rect">
            <a:avLst/>
          </a:prstGeom>
          <a:noFill/>
        </p:spPr>
        <p:txBody>
          <a:bodyPr wrap="square" lIns="0" tIns="0" rIns="0" bIns="0">
            <a:spAutoFit/>
          </a:bodyPr>
          <a:lstStyle/>
          <a:p>
            <a:pPr lvl="0" algn="l">
              <a:buClrTx/>
              <a:buSzTx/>
              <a:buFontTx/>
              <a:defRPr>
                <a:latin typeface="微软雅黑"/>
                <a:ea typeface="微软雅黑"/>
                <a:cs typeface="微软雅黑"/>
              </a:defRPr>
            </a:pPr>
            <a:r>
              <a:rPr lang="zh-CN" altLang="en-US" sz="1600" b="1" dirty="0">
                <a:solidFill>
                  <a:srgbClr val="383838"/>
                </a:solidFill>
                <a:effectLst/>
                <a:latin typeface="微软雅黑"/>
                <a:ea typeface="微软雅黑"/>
                <a:cs typeface="微软雅黑"/>
                <a:sym typeface="微软雅黑"/>
              </a:rPr>
              <a:t>精耕细作</a:t>
            </a:r>
            <a:r>
              <a:rPr lang="en-US" altLang="zh-CN" sz="1600" b="1" dirty="0">
                <a:solidFill>
                  <a:srgbClr val="383838"/>
                </a:solidFill>
                <a:effectLst/>
                <a:latin typeface="微软雅黑"/>
                <a:ea typeface="微软雅黑"/>
                <a:cs typeface="微软雅黑"/>
                <a:sym typeface="微软雅黑"/>
              </a:rPr>
              <a:t> </a:t>
            </a:r>
            <a:r>
              <a:rPr lang="zh-CN" altLang="en-US" sz="1600" b="1" dirty="0">
                <a:solidFill>
                  <a:srgbClr val="383838"/>
                </a:solidFill>
                <a:effectLst/>
                <a:latin typeface="微软雅黑"/>
                <a:ea typeface="微软雅黑"/>
                <a:cs typeface="微软雅黑"/>
                <a:sym typeface="微软雅黑"/>
              </a:rPr>
              <a:t>沉淀用户</a:t>
            </a:r>
            <a:endParaRPr lang="zh-CN" altLang="en-US" sz="1600" b="1" dirty="0">
              <a:solidFill>
                <a:srgbClr val="383838"/>
              </a:solidFill>
              <a:effectLst/>
              <a:latin typeface="微软雅黑"/>
              <a:ea typeface="微软雅黑"/>
              <a:cs typeface="微软雅黑"/>
              <a:sym typeface="微软雅黑"/>
            </a:endParaRPr>
          </a:p>
        </p:txBody>
      </p:sp>
      <p:sp>
        <p:nvSpPr>
          <p:cNvPr id="280" name="PPT67"/>
          <p:cNvSpPr/>
          <p:nvPr/>
        </p:nvSpPr>
        <p:spPr>
          <a:xfrm>
            <a:off x="5758014" y="4548228"/>
            <a:ext cx="675971" cy="351430"/>
          </a:xfrm>
          <a:custGeom>
            <a:avLst/>
            <a:gdLst>
              <a:gd name="connsiteX0" fmla="*/ 157356 w 675971"/>
              <a:gd name="connsiteY0" fmla="*/ 0 h 351430"/>
              <a:gd name="connsiteX1" fmla="*/ 157356 w 675971"/>
              <a:gd name="connsiteY1" fmla="*/ 107477 h 351430"/>
              <a:gd name="connsiteX2" fmla="*/ 518615 w 675971"/>
              <a:gd name="connsiteY2" fmla="*/ 107477 h 351430"/>
              <a:gd name="connsiteX3" fmla="*/ 518615 w 675971"/>
              <a:gd name="connsiteY3" fmla="*/ 0 h 351430"/>
              <a:gd name="connsiteX4" fmla="*/ 675971 w 675971"/>
              <a:gd name="connsiteY4" fmla="*/ 175715 h 351430"/>
              <a:gd name="connsiteX5" fmla="*/ 518615 w 675971"/>
              <a:gd name="connsiteY5" fmla="*/ 351430 h 351430"/>
              <a:gd name="connsiteX6" fmla="*/ 518615 w 675971"/>
              <a:gd name="connsiteY6" fmla="*/ 243954 h 351430"/>
              <a:gd name="connsiteX7" fmla="*/ 157356 w 675971"/>
              <a:gd name="connsiteY7" fmla="*/ 243954 h 351430"/>
              <a:gd name="connsiteX8" fmla="*/ 157356 w 675971"/>
              <a:gd name="connsiteY8" fmla="*/ 351430 h 351430"/>
              <a:gd name="connsiteX9" fmla="*/ 0 w 675971"/>
              <a:gd name="connsiteY9" fmla="*/ 175715 h 35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971" h="351430">
                <a:moveTo>
                  <a:pt x="157356" y="0"/>
                </a:moveTo>
                <a:lnTo>
                  <a:pt x="157356" y="107477"/>
                </a:lnTo>
                <a:lnTo>
                  <a:pt x="518615" y="107477"/>
                </a:lnTo>
                <a:lnTo>
                  <a:pt x="518615" y="0"/>
                </a:lnTo>
                <a:lnTo>
                  <a:pt x="675971" y="175715"/>
                </a:lnTo>
                <a:lnTo>
                  <a:pt x="518615" y="351430"/>
                </a:lnTo>
                <a:lnTo>
                  <a:pt x="518615" y="243954"/>
                </a:lnTo>
                <a:lnTo>
                  <a:pt x="157356" y="243954"/>
                </a:lnTo>
                <a:lnTo>
                  <a:pt x="157356" y="351430"/>
                </a:lnTo>
                <a:lnTo>
                  <a:pt x="0" y="175715"/>
                </a:lnTo>
                <a:close/>
              </a:path>
            </a:pathLst>
          </a:cu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3" name="文本框 242"/>
          <p:cNvSpPr txBox="1"/>
          <p:nvPr/>
        </p:nvSpPr>
        <p:spPr>
          <a:xfrm rot="6609597">
            <a:off x="7390765" y="1958340"/>
            <a:ext cx="1830070" cy="1830070"/>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会员专享受</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45" name="文本框 244"/>
          <p:cNvSpPr txBox="1"/>
          <p:nvPr/>
        </p:nvSpPr>
        <p:spPr>
          <a:xfrm rot="15133517">
            <a:off x="7270115" y="1998028"/>
            <a:ext cx="1830070" cy="1830070"/>
          </a:xfrm>
          <a:prstGeom prst="rect">
            <a:avLst/>
          </a:prstGeom>
          <a:noFill/>
        </p:spPr>
        <p:txBody>
          <a:bodyPr wrap="square" rtlCol="0" lIns="0" rIns="0" tIns="0" bIns="0">
            <a:prstTxWarp prst="textArchUp">
              <a:avLst>
                <a:gd name="adj" fmla="val 13561318"/>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rPr>
              <a:t>社群历史</a:t>
            </a:r>
            <a:endParaRPr kumimoji="0" 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46" name="子陵职场PPT17"/>
          <p:cNvSpPr/>
          <p:nvPr/>
        </p:nvSpPr>
        <p:spPr>
          <a:xfrm rot="5400000">
            <a:off x="5979160" y="3257550"/>
            <a:ext cx="350520" cy="413385"/>
          </a:xfrm>
          <a:prstGeom prst="stripedRightArrow">
            <a:avLst>
              <a:gd name="adj1" fmla="val 50000"/>
              <a:gd name="adj2" fmla="val 50000"/>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247" name="子陵职场PPT15"/>
          <p:cNvSpPr/>
          <p:nvPr/>
        </p:nvSpPr>
        <p:spPr>
          <a:xfrm rot="10800000" flipH="1">
            <a:off x="6686568" y="2580594"/>
            <a:ext cx="181707" cy="250917"/>
          </a:xfrm>
          <a:prstGeom prst="stripedRightArrow">
            <a:avLst>
              <a:gd name="adj1" fmla="val 50000"/>
              <a:gd name="adj2" fmla="val 50000"/>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sp>
        <p:nvSpPr>
          <p:cNvPr id="248" name="子陵职场PPT15"/>
          <p:cNvSpPr/>
          <p:nvPr/>
        </p:nvSpPr>
        <p:spPr>
          <a:xfrm rot="10800000">
            <a:off x="5371483" y="2574879"/>
            <a:ext cx="181707" cy="250917"/>
          </a:xfrm>
          <a:prstGeom prst="stripedRightArrow">
            <a:avLst>
              <a:gd name="adj1" fmla="val 50000"/>
              <a:gd name="adj2" fmla="val 50000"/>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prstClr val="white"/>
              </a:solidFill>
              <a:effectLst/>
              <a:uLnTx/>
              <a:uFillTx/>
              <a:latin typeface="微软雅黑"/>
              <a:ea typeface="微软雅黑"/>
              <a:cs typeface="微软雅黑"/>
              <a:sym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7"/>
            <a:srcRect l="17002" t="-1765" r="56499" b="-1176"/>
            <a:stretch>
              <a:fillRect/>
            </a:stretch>
          </p:blipFill>
          <p:spPr>
            <a:xfrm>
              <a:off x="13761" y="549"/>
              <a:ext cx="1582" cy="525"/>
            </a:xfrm>
            <a:prstGeom prst="rect">
              <a:avLst/>
            </a:prstGeom>
          </p:spPr>
        </p:pic>
        <p:sp>
          <p:nvSpPr>
            <p:cNvPr id="13" name="文本框 1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新能源</a:t>
            </a:r>
            <a:r>
              <a:rPr sz="2500" dirty="0">
                <a:solidFill>
                  <a:srgbClr val="383838"/>
                </a:solidFill>
                <a:effectLst/>
                <a:latin typeface="微软雅黑"/>
                <a:ea typeface="微软雅黑"/>
                <a:cs typeface="微软雅黑"/>
              </a:rPr>
              <a:t>电池的循环经济</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57" name="弧形 56"/>
          <p:cNvSpPr/>
          <p:nvPr/>
        </p:nvSpPr>
        <p:spPr>
          <a:xfrm>
            <a:off x="4091940" y="2423795"/>
            <a:ext cx="3646805" cy="3646805"/>
          </a:xfrm>
          <a:prstGeom prst="arc">
            <a:avLst>
              <a:gd name="adj1" fmla="val 12895476"/>
              <a:gd name="adj2" fmla="val 5822840"/>
            </a:avLst>
          </a:prstGeom>
          <a:ln w="25400">
            <a:solidFill>
              <a:srgbClr val="3368FF"/>
            </a:solidFill>
            <a:prstDash val="sysDash"/>
            <a:headEnd type="triangle" w="lg" len="lg"/>
          </a:ln>
        </p:spPr>
        <p:style>
          <a:lnRef idx="1">
            <a:srgbClr val="0042FF"/>
          </a:lnRef>
          <a:fillRef idx="0">
            <a:srgbClr val="0042FF"/>
          </a:fillRef>
          <a:effectRef idx="0">
            <a:srgbClr val="0042FF"/>
          </a:effectRef>
          <a:fontRef idx="minor">
            <a:srgbClr val="383838"/>
          </a:fontRef>
        </p:style>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58" name="弧形 57"/>
          <p:cNvSpPr/>
          <p:nvPr/>
        </p:nvSpPr>
        <p:spPr>
          <a:xfrm>
            <a:off x="4555490" y="3392805"/>
            <a:ext cx="2623185" cy="2623185"/>
          </a:xfrm>
          <a:prstGeom prst="arc">
            <a:avLst>
              <a:gd name="adj1" fmla="val 12947354"/>
              <a:gd name="adj2" fmla="val 5701267"/>
            </a:avLst>
          </a:prstGeom>
          <a:ln w="25400">
            <a:solidFill>
              <a:srgbClr val="3368FF"/>
            </a:solidFill>
            <a:prstDash val="sysDash"/>
            <a:headEnd type="triangle" w="lg" len="lg"/>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59" name="弧形 58"/>
          <p:cNvSpPr/>
          <p:nvPr/>
        </p:nvSpPr>
        <p:spPr>
          <a:xfrm>
            <a:off x="5143500" y="4558665"/>
            <a:ext cx="1366520" cy="1366520"/>
          </a:xfrm>
          <a:prstGeom prst="arc">
            <a:avLst>
              <a:gd name="adj1" fmla="val 11770703"/>
              <a:gd name="adj2" fmla="val 5789954"/>
            </a:avLst>
          </a:prstGeom>
          <a:ln w="25400">
            <a:solidFill>
              <a:srgbClr val="3368FF"/>
            </a:solidFill>
            <a:prstDash val="sysDash"/>
            <a:headEnd type="triangle" w="lg" len="lg"/>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61" name="弧形 60"/>
          <p:cNvSpPr/>
          <p:nvPr/>
        </p:nvSpPr>
        <p:spPr>
          <a:xfrm>
            <a:off x="4901565" y="4051300"/>
            <a:ext cx="1920875" cy="1920875"/>
          </a:xfrm>
          <a:prstGeom prst="arc">
            <a:avLst>
              <a:gd name="adj1" fmla="val 11821370"/>
              <a:gd name="adj2" fmla="val 5707787"/>
            </a:avLst>
          </a:prstGeom>
          <a:ln w="25400">
            <a:solidFill>
              <a:srgbClr val="3368FF"/>
            </a:solidFill>
            <a:prstDash val="sysDash"/>
            <a:headEnd type="triangle" w="lg" len="lg"/>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black"/>
              </a:solidFill>
              <a:effectLst/>
              <a:uLnTx/>
              <a:uFillTx/>
              <a:latin typeface="微软雅黑"/>
              <a:ea typeface="微软雅黑"/>
              <a:cs typeface="微软雅黑"/>
              <a:sym typeface="微软雅黑"/>
            </a:endParaRPr>
          </a:p>
        </p:txBody>
      </p:sp>
      <p:sp>
        <p:nvSpPr>
          <p:cNvPr id="64" name="椭圆 63"/>
          <p:cNvSpPr/>
          <p:nvPr/>
        </p:nvSpPr>
        <p:spPr>
          <a:xfrm rot="10800000" flipH="1">
            <a:off x="3725545" y="1859280"/>
            <a:ext cx="5377815" cy="4728210"/>
          </a:xfrm>
          <a:prstGeom prst="ellipse">
            <a:avLst/>
          </a:prstGeom>
          <a:noFill/>
          <a:ln w="63500">
            <a:gradFill>
              <a:gsLst>
                <a:gs pos="70000">
                  <a:srgbClr val="3368FF">
                    <a:alpha val="0"/>
                  </a:srgbClr>
                </a:gs>
                <a:gs pos="100000">
                  <a:srgbClr val="3368FF"/>
                </a:gs>
              </a:gsLst>
              <a:lin ang="0" scaled="0"/>
            </a:gra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65" name="椭圆 64"/>
          <p:cNvSpPr/>
          <p:nvPr/>
        </p:nvSpPr>
        <p:spPr>
          <a:xfrm>
            <a:off x="3061970" y="1761490"/>
            <a:ext cx="663575" cy="663575"/>
          </a:xfrm>
          <a:prstGeom prst="ellipse">
            <a:avLst/>
          </a:prstGeom>
          <a:solidFill>
            <a:srgbClr val="0042FF"/>
          </a:solidFill>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6" name="椭圆 65"/>
          <p:cNvSpPr/>
          <p:nvPr/>
        </p:nvSpPr>
        <p:spPr>
          <a:xfrm>
            <a:off x="3061970" y="5282565"/>
            <a:ext cx="663575" cy="663575"/>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7" name="椭圆 66"/>
          <p:cNvSpPr/>
          <p:nvPr/>
        </p:nvSpPr>
        <p:spPr>
          <a:xfrm>
            <a:off x="4946650" y="5084445"/>
            <a:ext cx="663575" cy="663575"/>
          </a:xfrm>
          <a:prstGeom prst="ellipse">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71" name="椭圆 70"/>
          <p:cNvSpPr/>
          <p:nvPr/>
        </p:nvSpPr>
        <p:spPr>
          <a:xfrm>
            <a:off x="4255135" y="3895725"/>
            <a:ext cx="520065" cy="520065"/>
          </a:xfrm>
          <a:prstGeom prst="ellipse">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72" name="椭圆 71"/>
          <p:cNvSpPr/>
          <p:nvPr/>
        </p:nvSpPr>
        <p:spPr>
          <a:xfrm>
            <a:off x="3738880" y="3007995"/>
            <a:ext cx="516255" cy="516255"/>
          </a:xfrm>
          <a:prstGeom prst="ellipse">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cxnSp>
        <p:nvCxnSpPr>
          <p:cNvPr id="80" name="直接箭头连接符 79"/>
          <p:cNvCxnSpPr/>
          <p:nvPr/>
        </p:nvCxnSpPr>
        <p:spPr>
          <a:xfrm flipH="1">
            <a:off x="3891280" y="5462270"/>
            <a:ext cx="1010285" cy="123190"/>
          </a:xfrm>
          <a:prstGeom prst="straightConnector1">
            <a:avLst/>
          </a:prstGeom>
          <a:ln>
            <a:solidFill>
              <a:srgbClr val="3368FF"/>
            </a:solidFill>
            <a:tailEnd type="triangle" w="med" len="lg"/>
          </a:ln>
        </p:spPr>
        <p:style>
          <a:lnRef idx="2">
            <a:srgbClr val="0042FF"/>
          </a:lnRef>
          <a:fillRef idx="0">
            <a:srgbClr val="FFFFFF"/>
          </a:fillRef>
          <a:effectRef idx="0">
            <a:srgbClr val="FFFFFF"/>
          </a:effectRef>
          <a:fontRef idx="minor">
            <a:srgbClr val="383838"/>
          </a:fontRef>
        </p:style>
      </p:cxnSp>
      <p:sp>
        <p:nvSpPr>
          <p:cNvPr id="82" name="文本框 81"/>
          <p:cNvSpPr txBox="1"/>
          <p:nvPr/>
        </p:nvSpPr>
        <p:spPr>
          <a:xfrm>
            <a:off x="1967865" y="1859280"/>
            <a:ext cx="1188085" cy="521970"/>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电池原</a:t>
            </a:r>
            <a:endParaRPr lang="zh-CN" altLang="en-US" sz="14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材料开采</a:t>
            </a:r>
            <a:endParaRPr lang="zh-CN" altLang="en-US" sz="1400" b="1">
              <a:solidFill>
                <a:srgbClr val="0042FF"/>
              </a:solidFill>
              <a:latin typeface="微软雅黑"/>
              <a:ea typeface="微软雅黑"/>
              <a:cs typeface="微软雅黑"/>
              <a:sym typeface="微软雅黑"/>
            </a:endParaRPr>
          </a:p>
        </p:txBody>
      </p:sp>
      <p:sp>
        <p:nvSpPr>
          <p:cNvPr id="83" name="文本框 82"/>
          <p:cNvSpPr txBox="1"/>
          <p:nvPr/>
        </p:nvSpPr>
        <p:spPr>
          <a:xfrm>
            <a:off x="2493010" y="3067050"/>
            <a:ext cx="1685925" cy="521970"/>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电芯</a:t>
            </a:r>
            <a:endParaRPr lang="zh-CN" altLang="en-US" sz="14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生产商</a:t>
            </a:r>
            <a:endParaRPr lang="zh-CN" altLang="en-US" sz="1400" b="1">
              <a:solidFill>
                <a:srgbClr val="0042FF"/>
              </a:solidFill>
              <a:latin typeface="微软雅黑"/>
              <a:ea typeface="微软雅黑"/>
              <a:cs typeface="微软雅黑"/>
              <a:sym typeface="微软雅黑"/>
            </a:endParaRPr>
          </a:p>
        </p:txBody>
      </p:sp>
      <p:sp>
        <p:nvSpPr>
          <p:cNvPr id="84" name="文本框 83"/>
          <p:cNvSpPr txBox="1"/>
          <p:nvPr/>
        </p:nvSpPr>
        <p:spPr>
          <a:xfrm>
            <a:off x="2959100" y="3976370"/>
            <a:ext cx="1685925" cy="521970"/>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新能源</a:t>
            </a:r>
            <a:endParaRPr lang="zh-CN" altLang="en-US" sz="14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汽车厂商</a:t>
            </a:r>
            <a:endParaRPr lang="zh-CN" altLang="en-US" sz="1400" b="1">
              <a:solidFill>
                <a:srgbClr val="0042FF"/>
              </a:solidFill>
              <a:latin typeface="微软雅黑"/>
              <a:ea typeface="微软雅黑"/>
              <a:cs typeface="微软雅黑"/>
              <a:sym typeface="微软雅黑"/>
            </a:endParaRPr>
          </a:p>
        </p:txBody>
      </p:sp>
      <p:sp>
        <p:nvSpPr>
          <p:cNvPr id="85" name="文本框 84"/>
          <p:cNvSpPr txBox="1"/>
          <p:nvPr/>
        </p:nvSpPr>
        <p:spPr>
          <a:xfrm>
            <a:off x="4361180" y="5836285"/>
            <a:ext cx="1685925" cy="306705"/>
          </a:xfrm>
          <a:prstGeom prst="rect">
            <a:avLst/>
          </a:prstGeom>
          <a:noFill/>
        </p:spPr>
        <p:txBody>
          <a:bodyPr wrap="square" rtlCol="0">
            <a:spAutoFit/>
          </a:bodyPr>
          <a:p>
            <a:pPr>
              <a:defRPr>
                <a:latin typeface="微软雅黑"/>
                <a:ea typeface="微软雅黑"/>
                <a:cs typeface="微软雅黑"/>
              </a:defRPr>
            </a:pPr>
            <a:r>
              <a:rPr lang="zh-CN" altLang="en-US" sz="1400" b="1">
                <a:solidFill>
                  <a:srgbClr val="0042FF"/>
                </a:solidFill>
                <a:latin typeface="微软雅黑"/>
                <a:ea typeface="微软雅黑"/>
                <a:cs typeface="微软雅黑"/>
              </a:rPr>
              <a:t>用户</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消费者</a:t>
            </a:r>
            <a:endParaRPr lang="zh-CN" altLang="en-US" sz="1400" b="1">
              <a:solidFill>
                <a:srgbClr val="0042FF"/>
              </a:solidFill>
              <a:latin typeface="微软雅黑"/>
              <a:ea typeface="微软雅黑"/>
              <a:cs typeface="微软雅黑"/>
            </a:endParaRPr>
          </a:p>
        </p:txBody>
      </p:sp>
      <p:sp>
        <p:nvSpPr>
          <p:cNvPr id="87" name="文本框 86"/>
          <p:cNvSpPr txBox="1"/>
          <p:nvPr/>
        </p:nvSpPr>
        <p:spPr>
          <a:xfrm>
            <a:off x="9051925" y="2313305"/>
            <a:ext cx="1884680" cy="337185"/>
          </a:xfrm>
          <a:prstGeom prst="rect">
            <a:avLst/>
          </a:prstGeom>
          <a:noFill/>
        </p:spPr>
        <p:txBody>
          <a:bodyPr wrap="square" rtlCol="0">
            <a:spAutoFit/>
          </a:bodyPr>
          <a:p>
            <a:pPr>
              <a:defRPr>
                <a:latin typeface="微软雅黑"/>
                <a:ea typeface="微软雅黑"/>
                <a:cs typeface="微软雅黑"/>
              </a:defRPr>
            </a:pPr>
            <a:r>
              <a:rPr lang="zh-CN" sz="1600" b="1">
                <a:solidFill>
                  <a:srgbClr val="0042FF"/>
                </a:solidFill>
                <a:latin typeface="微软雅黑"/>
                <a:ea typeface="微软雅黑"/>
                <a:cs typeface="微软雅黑"/>
              </a:rPr>
              <a:t>电池模块再设计</a:t>
            </a:r>
            <a:endParaRPr lang="zh-CN" sz="1600" b="1">
              <a:solidFill>
                <a:srgbClr val="0042FF"/>
              </a:solidFill>
              <a:latin typeface="微软雅黑"/>
              <a:ea typeface="微软雅黑"/>
              <a:cs typeface="微软雅黑"/>
            </a:endParaRPr>
          </a:p>
        </p:txBody>
      </p:sp>
      <p:sp>
        <p:nvSpPr>
          <p:cNvPr id="92" name="文本框 91"/>
          <p:cNvSpPr txBox="1"/>
          <p:nvPr/>
        </p:nvSpPr>
        <p:spPr>
          <a:xfrm>
            <a:off x="1616075" y="5474970"/>
            <a:ext cx="1938655" cy="521970"/>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不可回收</a:t>
            </a:r>
            <a:endParaRPr lang="zh-CN" altLang="en-US" sz="1400" b="1">
              <a:solidFill>
                <a:srgbClr val="0042FF"/>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废弃物</a:t>
            </a:r>
            <a:endParaRPr lang="zh-CN" altLang="en-US" sz="1400" b="1">
              <a:solidFill>
                <a:srgbClr val="0042FF"/>
              </a:solidFill>
              <a:latin typeface="微软雅黑"/>
              <a:ea typeface="微软雅黑"/>
              <a:cs typeface="微软雅黑"/>
              <a:sym typeface="微软雅黑"/>
            </a:endParaRPr>
          </a:p>
        </p:txBody>
      </p:sp>
      <p:cxnSp>
        <p:nvCxnSpPr>
          <p:cNvPr id="93" name="直接箭头连接符 92"/>
          <p:cNvCxnSpPr/>
          <p:nvPr/>
        </p:nvCxnSpPr>
        <p:spPr>
          <a:xfrm>
            <a:off x="3597910" y="2423795"/>
            <a:ext cx="293370" cy="510540"/>
          </a:xfrm>
          <a:prstGeom prst="straightConnector1">
            <a:avLst/>
          </a:prstGeom>
          <a:ln>
            <a:solidFill>
              <a:srgbClr val="0042FF"/>
            </a:solidFill>
            <a:tailEnd type="triangle" w="med" len="lg"/>
          </a:ln>
        </p:spPr>
        <p:style>
          <a:lnRef idx="2">
            <a:srgbClr val="0042FF"/>
          </a:lnRef>
          <a:fillRef idx="0">
            <a:srgbClr val="FFFFFF"/>
          </a:fillRef>
          <a:effectRef idx="0">
            <a:srgbClr val="FFFFFF"/>
          </a:effectRef>
          <a:fontRef idx="minor">
            <a:srgbClr val="383838"/>
          </a:fontRef>
        </p:style>
      </p:cxnSp>
      <p:cxnSp>
        <p:nvCxnSpPr>
          <p:cNvPr id="94" name="直接连接符 93"/>
          <p:cNvCxnSpPr/>
          <p:nvPr/>
        </p:nvCxnSpPr>
        <p:spPr>
          <a:xfrm>
            <a:off x="4683125" y="4415790"/>
            <a:ext cx="398145" cy="667385"/>
          </a:xfrm>
          <a:prstGeom prst="line">
            <a:avLst/>
          </a:prstGeom>
          <a:ln>
            <a:solidFill>
              <a:srgbClr val="0042FF"/>
            </a:solidFill>
            <a:tailEnd type="triangle" w="med" len="lg"/>
          </a:ln>
        </p:spPr>
        <p:style>
          <a:lnRef idx="2">
            <a:srgbClr val="0042FF"/>
          </a:lnRef>
          <a:fillRef idx="0">
            <a:srgbClr val="FFFFFF"/>
          </a:fillRef>
          <a:effectRef idx="0">
            <a:srgbClr val="FFFFFF"/>
          </a:effectRef>
          <a:fontRef idx="minor">
            <a:srgbClr val="383838"/>
          </a:fontRef>
        </p:style>
      </p:cxnSp>
      <p:cxnSp>
        <p:nvCxnSpPr>
          <p:cNvPr id="95" name="直接箭头连接符 94"/>
          <p:cNvCxnSpPr/>
          <p:nvPr/>
        </p:nvCxnSpPr>
        <p:spPr>
          <a:xfrm>
            <a:off x="4178935" y="3509645"/>
            <a:ext cx="207645" cy="362585"/>
          </a:xfrm>
          <a:prstGeom prst="straightConnector1">
            <a:avLst/>
          </a:prstGeom>
          <a:ln>
            <a:solidFill>
              <a:srgbClr val="0042FF"/>
            </a:solidFill>
            <a:tailEnd type="triangle" w="med" len="lg"/>
          </a:ln>
        </p:spPr>
        <p:style>
          <a:lnRef idx="2">
            <a:srgbClr val="0042FF"/>
          </a:lnRef>
          <a:fillRef idx="0">
            <a:srgbClr val="FFFFFF"/>
          </a:fillRef>
          <a:effectRef idx="0">
            <a:srgbClr val="FFFFFF"/>
          </a:effectRef>
          <a:fontRef idx="minor">
            <a:srgbClr val="383838"/>
          </a:fontRef>
        </p:style>
      </p:cxnSp>
      <p:sp>
        <p:nvSpPr>
          <p:cNvPr id="97" name="文本框 96"/>
          <p:cNvSpPr txBox="1"/>
          <p:nvPr/>
        </p:nvSpPr>
        <p:spPr>
          <a:xfrm>
            <a:off x="9103360" y="2623820"/>
            <a:ext cx="2110740" cy="645160"/>
          </a:xfrm>
          <a:prstGeom prst="rect">
            <a:avLst/>
          </a:prstGeom>
          <a:noFill/>
        </p:spPr>
        <p:txBody>
          <a:bodyPr wrap="square" rtlCol="0">
            <a:spAutoFit/>
          </a:bodyPr>
          <a:p>
            <a:pPr>
              <a:defRPr>
                <a:latin typeface="微软雅黑"/>
                <a:ea typeface="微软雅黑"/>
                <a:cs typeface="微软雅黑"/>
              </a:defRPr>
            </a:pPr>
            <a:r>
              <a:rPr lang="zh-CN" altLang="en-US" sz="1200">
                <a:latin typeface="微软雅黑"/>
                <a:ea typeface="微软雅黑"/>
                <a:cs typeface="微软雅黑"/>
              </a:rPr>
              <a:t>针对退役电池的模块化结构进行重新设计，使其适应新场景或提升性能。</a:t>
            </a:r>
            <a:endParaRPr lang="zh-CN" altLang="en-US" sz="1200">
              <a:latin typeface="微软雅黑"/>
              <a:ea typeface="微软雅黑"/>
              <a:cs typeface="微软雅黑"/>
            </a:endParaRPr>
          </a:p>
        </p:txBody>
      </p:sp>
      <p:sp>
        <p:nvSpPr>
          <p:cNvPr id="98" name="文本框 97"/>
          <p:cNvSpPr txBox="1"/>
          <p:nvPr/>
        </p:nvSpPr>
        <p:spPr>
          <a:xfrm>
            <a:off x="9476740" y="3712845"/>
            <a:ext cx="1884680" cy="337185"/>
          </a:xfrm>
          <a:prstGeom prst="rect">
            <a:avLst/>
          </a:prstGeom>
          <a:noFill/>
        </p:spPr>
        <p:txBody>
          <a:bodyPr wrap="square" rtlCol="0">
            <a:spAutoFit/>
          </a:bodyPr>
          <a:p>
            <a:pPr>
              <a:defRPr>
                <a:latin typeface="微软雅黑"/>
                <a:ea typeface="微软雅黑"/>
                <a:cs typeface="微软雅黑"/>
              </a:defRPr>
            </a:pPr>
            <a:r>
              <a:rPr lang="zh-CN" altLang="en-US" sz="1600" b="1">
                <a:solidFill>
                  <a:srgbClr val="0042FF"/>
                </a:solidFill>
                <a:latin typeface="微软雅黑"/>
                <a:ea typeface="微软雅黑"/>
                <a:cs typeface="微软雅黑"/>
              </a:rPr>
              <a:t>减少资源消耗</a:t>
            </a:r>
            <a:endParaRPr lang="zh-CN" altLang="en-US" sz="1600" b="1">
              <a:solidFill>
                <a:srgbClr val="0042FF"/>
              </a:solidFill>
              <a:latin typeface="微软雅黑"/>
              <a:ea typeface="微软雅黑"/>
              <a:cs typeface="微软雅黑"/>
            </a:endParaRPr>
          </a:p>
        </p:txBody>
      </p:sp>
      <p:sp>
        <p:nvSpPr>
          <p:cNvPr id="99" name="文本框 98"/>
          <p:cNvSpPr txBox="1"/>
          <p:nvPr/>
        </p:nvSpPr>
        <p:spPr>
          <a:xfrm>
            <a:off x="9476740" y="4023360"/>
            <a:ext cx="2110740" cy="645160"/>
          </a:xfrm>
          <a:prstGeom prst="rect">
            <a:avLst/>
          </a:prstGeom>
          <a:noFill/>
        </p:spPr>
        <p:txBody>
          <a:bodyPr wrap="square" rtlCol="0">
            <a:spAutoFit/>
          </a:bodyPr>
          <a:p>
            <a:pPr>
              <a:defRPr>
                <a:latin typeface="微软雅黑"/>
                <a:ea typeface="微软雅黑"/>
                <a:cs typeface="微软雅黑"/>
              </a:defRPr>
            </a:pPr>
            <a:r>
              <a:rPr lang="zh-CN" altLang="en-US" sz="1200">
                <a:latin typeface="微软雅黑"/>
                <a:ea typeface="微软雅黑"/>
                <a:cs typeface="微软雅黑"/>
              </a:rPr>
              <a:t>通过循环再生技术，闭环回收、材料替代，降低对钴、锂、镍等稀缺金属的依赖。</a:t>
            </a:r>
            <a:endParaRPr lang="zh-CN" altLang="en-US" sz="1200">
              <a:latin typeface="微软雅黑"/>
              <a:ea typeface="微软雅黑"/>
              <a:cs typeface="微软雅黑"/>
            </a:endParaRPr>
          </a:p>
        </p:txBody>
      </p:sp>
      <p:sp>
        <p:nvSpPr>
          <p:cNvPr id="100" name="文本框 99"/>
          <p:cNvSpPr txBox="1"/>
          <p:nvPr/>
        </p:nvSpPr>
        <p:spPr>
          <a:xfrm>
            <a:off x="9115425" y="5272405"/>
            <a:ext cx="1884680" cy="337185"/>
          </a:xfrm>
          <a:prstGeom prst="rect">
            <a:avLst/>
          </a:prstGeom>
          <a:noFill/>
        </p:spPr>
        <p:txBody>
          <a:bodyPr wrap="square" rtlCol="0">
            <a:spAutoFit/>
          </a:bodyPr>
          <a:p>
            <a:pPr>
              <a:defRPr>
                <a:latin typeface="微软雅黑"/>
                <a:ea typeface="微软雅黑"/>
                <a:cs typeface="微软雅黑"/>
              </a:defRPr>
            </a:pPr>
            <a:r>
              <a:rPr lang="zh-CN" altLang="en-US" sz="1600" b="1">
                <a:solidFill>
                  <a:srgbClr val="0042FF"/>
                </a:solidFill>
                <a:latin typeface="微软雅黑"/>
                <a:ea typeface="微软雅黑"/>
                <a:cs typeface="微软雅黑"/>
              </a:rPr>
              <a:t>共享电池模式</a:t>
            </a:r>
            <a:endParaRPr lang="zh-CN" altLang="en-US" sz="1600" b="1">
              <a:solidFill>
                <a:srgbClr val="0042FF"/>
              </a:solidFill>
              <a:latin typeface="微软雅黑"/>
              <a:ea typeface="微软雅黑"/>
              <a:cs typeface="微软雅黑"/>
            </a:endParaRPr>
          </a:p>
        </p:txBody>
      </p:sp>
      <p:sp>
        <p:nvSpPr>
          <p:cNvPr id="101" name="文本框 100"/>
          <p:cNvSpPr txBox="1"/>
          <p:nvPr/>
        </p:nvSpPr>
        <p:spPr>
          <a:xfrm>
            <a:off x="9115425" y="5582920"/>
            <a:ext cx="2472055" cy="645160"/>
          </a:xfrm>
          <a:prstGeom prst="rect">
            <a:avLst/>
          </a:prstGeom>
          <a:noFill/>
        </p:spPr>
        <p:txBody>
          <a:bodyPr wrap="square" rtlCol="0">
            <a:spAutoFit/>
          </a:bodyPr>
          <a:p>
            <a:pPr>
              <a:defRPr>
                <a:latin typeface="微软雅黑"/>
                <a:ea typeface="微软雅黑"/>
                <a:cs typeface="微软雅黑"/>
              </a:defRPr>
            </a:pPr>
            <a:r>
              <a:rPr lang="zh-CN" altLang="en-US" sz="1200">
                <a:latin typeface="微软雅黑"/>
                <a:ea typeface="微软雅黑"/>
                <a:cs typeface="微软雅黑"/>
              </a:rPr>
              <a:t>以蔚来汽车为例，电池所有权分离，用户按月付费租赁电池，退役电池由蔚来统一回收用于储能站。</a:t>
            </a:r>
            <a:endParaRPr lang="zh-CN" altLang="en-US" sz="1200">
              <a:latin typeface="微软雅黑"/>
              <a:ea typeface="微软雅黑"/>
              <a:cs typeface="微软雅黑"/>
            </a:endParaRPr>
          </a:p>
        </p:txBody>
      </p:sp>
      <p:sp>
        <p:nvSpPr>
          <p:cNvPr id="20" name="文本框 19"/>
          <p:cNvSpPr txBox="1"/>
          <p:nvPr/>
        </p:nvSpPr>
        <p:spPr>
          <a:xfrm>
            <a:off x="5499100" y="4923790"/>
            <a:ext cx="965200" cy="245110"/>
          </a:xfrm>
          <a:prstGeom prst="rect">
            <a:avLst/>
          </a:prstGeom>
          <a:noFill/>
        </p:spPr>
        <p:txBody>
          <a:bodyPr wrap="square" rtlCol="0" lIns="0" rIns="0" tIns="0" bIns="0">
            <a:spAutoFit/>
          </a:bodyPr>
          <a:p>
            <a:pPr algn="ctr">
              <a:defRPr>
                <a:latin typeface="微软雅黑"/>
                <a:ea typeface="微软雅黑"/>
                <a:cs typeface="微软雅黑"/>
              </a:defRPr>
            </a:pPr>
            <a:r>
              <a:rPr lang="zh-CN" sz="1000">
                <a:latin typeface="微软雅黑"/>
                <a:ea typeface="微软雅黑"/>
                <a:cs typeface="微软雅黑"/>
                <a:sym typeface="微软雅黑"/>
              </a:rPr>
              <a:t>接收旧电池</a:t>
            </a:r>
            <a:endParaRPr lang="zh-CN" altLang="en-US" sz="1000">
              <a:latin typeface="微软雅黑"/>
              <a:ea typeface="微软雅黑"/>
              <a:cs typeface="微软雅黑"/>
            </a:endParaRPr>
          </a:p>
        </p:txBody>
      </p:sp>
      <p:sp>
        <p:nvSpPr>
          <p:cNvPr id="25" name="文本框 24"/>
          <p:cNvSpPr txBox="1"/>
          <p:nvPr/>
        </p:nvSpPr>
        <p:spPr>
          <a:xfrm>
            <a:off x="5379085" y="4146550"/>
            <a:ext cx="965200" cy="245110"/>
          </a:xfrm>
          <a:prstGeom prst="rect">
            <a:avLst/>
          </a:prstGeom>
          <a:noFill/>
        </p:spPr>
        <p:txBody>
          <a:bodyPr wrap="square" rtlCol="0" lIns="0" rIns="0" tIns="0" bIns="0">
            <a:spAutoFit/>
          </a:bodyPr>
          <a:p>
            <a:pPr algn="ctr">
              <a:defRPr>
                <a:latin typeface="微软雅黑"/>
                <a:ea typeface="微软雅黑"/>
                <a:cs typeface="微软雅黑"/>
              </a:defRPr>
            </a:pPr>
            <a:r>
              <a:rPr lang="zh-CN" sz="1000">
                <a:latin typeface="微软雅黑"/>
                <a:ea typeface="微软雅黑"/>
                <a:cs typeface="微软雅黑"/>
                <a:sym typeface="微软雅黑"/>
              </a:rPr>
              <a:t>电池维修</a:t>
            </a:r>
            <a:endParaRPr lang="zh-CN" altLang="en-US" sz="1000">
              <a:latin typeface="微软雅黑"/>
              <a:ea typeface="微软雅黑"/>
              <a:cs typeface="微软雅黑"/>
            </a:endParaRPr>
          </a:p>
        </p:txBody>
      </p:sp>
      <p:sp>
        <p:nvSpPr>
          <p:cNvPr id="26" name="文本框 25"/>
          <p:cNvSpPr txBox="1"/>
          <p:nvPr/>
        </p:nvSpPr>
        <p:spPr>
          <a:xfrm>
            <a:off x="5753735" y="3585845"/>
            <a:ext cx="965200" cy="368300"/>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latin typeface="微软雅黑"/>
                <a:ea typeface="微软雅黑"/>
                <a:cs typeface="微软雅黑"/>
                <a:sym typeface="微软雅黑"/>
              </a:rPr>
              <a:t>电池翻新</a:t>
            </a:r>
            <a:endParaRPr lang="zh-CN" sz="1000">
              <a:latin typeface="微软雅黑"/>
              <a:ea typeface="微软雅黑"/>
              <a:cs typeface="微软雅黑"/>
              <a:sym typeface="微软雅黑"/>
            </a:endParaRPr>
          </a:p>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（性能恢复</a:t>
            </a:r>
            <a:r>
              <a:rPr lang="en-US" altLang="zh-CN" sz="1000">
                <a:latin typeface="微软雅黑"/>
                <a:ea typeface="微软雅黑"/>
                <a:cs typeface="微软雅黑"/>
              </a:rPr>
              <a:t>)</a:t>
            </a:r>
            <a:endParaRPr lang="en-US" altLang="zh-CN" sz="1000">
              <a:latin typeface="微软雅黑"/>
              <a:ea typeface="微软雅黑"/>
              <a:cs typeface="微软雅黑"/>
            </a:endParaRPr>
          </a:p>
        </p:txBody>
      </p:sp>
      <p:sp>
        <p:nvSpPr>
          <p:cNvPr id="27" name="文本框 26"/>
          <p:cNvSpPr txBox="1"/>
          <p:nvPr/>
        </p:nvSpPr>
        <p:spPr>
          <a:xfrm>
            <a:off x="6236335" y="2823845"/>
            <a:ext cx="965200" cy="368300"/>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sz="1000">
                <a:latin typeface="微软雅黑"/>
                <a:ea typeface="微软雅黑"/>
                <a:cs typeface="微软雅黑"/>
                <a:sym typeface="微软雅黑"/>
              </a:rPr>
              <a:t>梯次利用</a:t>
            </a:r>
            <a:endParaRPr lang="zh-CN" sz="1000">
              <a:latin typeface="微软雅黑"/>
              <a:ea typeface="微软雅黑"/>
              <a:cs typeface="微软雅黑"/>
              <a:sym typeface="微软雅黑"/>
            </a:endParaRPr>
          </a:p>
          <a:p>
            <a:pPr algn="ctr">
              <a:defRPr>
                <a:latin typeface="微软雅黑"/>
                <a:ea typeface="微软雅黑"/>
                <a:cs typeface="微软雅黑"/>
              </a:defRPr>
              <a:lnSpc>
                <a:spcPts val="1120"/>
              </a:lnSpc>
              <a:spcBef>
                <a:spcPts val="0"/>
              </a:spcBef>
              <a:spcAft>
                <a:spcPts val="0"/>
              </a:spcAft>
            </a:pPr>
            <a:r>
              <a:rPr lang="zh-CN" altLang="en-US" sz="1000">
                <a:latin typeface="微软雅黑"/>
                <a:ea typeface="微软雅黑"/>
                <a:cs typeface="微软雅黑"/>
              </a:rPr>
              <a:t>（储能系统）</a:t>
            </a:r>
            <a:endParaRPr lang="zh-CN" altLang="en-US" sz="1000">
              <a:latin typeface="微软雅黑"/>
              <a:ea typeface="微软雅黑"/>
              <a:cs typeface="微软雅黑"/>
            </a:endParaRPr>
          </a:p>
        </p:txBody>
      </p:sp>
      <p:pic>
        <p:nvPicPr>
          <p:cNvPr id="33" name="图片 32" descr="垃圾箱"/>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219450" y="5412740"/>
            <a:ext cx="361950" cy="361950"/>
          </a:xfrm>
          <a:prstGeom prst="rect">
            <a:avLst/>
          </a:prstGeom>
        </p:spPr>
      </p:pic>
      <p:pic>
        <p:nvPicPr>
          <p:cNvPr id="34" name="图片 33" descr="daolushigong"/>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219450" y="1852930"/>
            <a:ext cx="422275" cy="422275"/>
          </a:xfrm>
          <a:prstGeom prst="rect">
            <a:avLst/>
          </a:prstGeom>
        </p:spPr>
      </p:pic>
      <p:pic>
        <p:nvPicPr>
          <p:cNvPr id="35" name="图片 34" descr="化工厂"/>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839210" y="3089275"/>
            <a:ext cx="316230" cy="316230"/>
          </a:xfrm>
          <a:prstGeom prst="rect">
            <a:avLst/>
          </a:prstGeom>
        </p:spPr>
      </p:pic>
      <p:pic>
        <p:nvPicPr>
          <p:cNvPr id="36" name="图片 35" descr="机动车辅助管理"/>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386580" y="4036060"/>
            <a:ext cx="284480" cy="226695"/>
          </a:xfrm>
          <a:prstGeom prst="rect">
            <a:avLst/>
          </a:prstGeom>
        </p:spPr>
      </p:pic>
      <p:pic>
        <p:nvPicPr>
          <p:cNvPr id="37" name="图片 36" descr="消费者"/>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081270" y="5168900"/>
            <a:ext cx="361315" cy="361315"/>
          </a:xfrm>
          <a:prstGeom prst="rect">
            <a:avLst/>
          </a:prstGeom>
        </p:spPr>
      </p:pic>
      <p:sp>
        <p:nvSpPr>
          <p:cNvPr id="43" name="对话气泡: 矩形 42"/>
          <p:cNvSpPr/>
          <p:nvPr/>
        </p:nvSpPr>
        <p:spPr>
          <a:xfrm>
            <a:off x="4671060" y="1142365"/>
            <a:ext cx="2580640" cy="946785"/>
          </a:xfrm>
          <a:prstGeom prst="wedgeRectCallout">
            <a:avLst>
              <a:gd name="adj1" fmla="val -5314"/>
              <a:gd name="adj2" fmla="val 76894"/>
            </a:avLst>
          </a:prstGeom>
          <a:solidFill>
            <a:srgbClr val="FFFFFF"/>
          </a:solidFill>
          <a:ln w="19050">
            <a:solidFill>
              <a:srgbClr val="DCDCDC"/>
            </a:solidFill>
          </a:ln>
          <a:effectLst/>
        </p:spPr>
        <p:style>
          <a:lnRef idx="2">
            <a:srgbClr val="0042FF"/>
          </a:lnRef>
          <a:fillRef idx="1">
            <a:srgbClr val="0042FF"/>
          </a:fillRef>
          <a:effectRef idx="0">
            <a:srgbClr val="0042FF"/>
          </a:effectRef>
          <a:fontRef idx="minor">
            <a:srgbClr val="FFFFFF"/>
          </a:fontRef>
        </p:style>
        <p:txBody>
          <a:bodyPr lIns="0" tIns="0" rIns="0" bIns="0" rtlCol="0" anchor="ctr"/>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38" name="文本框 37"/>
          <p:cNvSpPr txBox="1"/>
          <p:nvPr/>
        </p:nvSpPr>
        <p:spPr>
          <a:xfrm>
            <a:off x="4801235" y="1262380"/>
            <a:ext cx="2400300" cy="706755"/>
          </a:xfrm>
          <a:prstGeom prst="rect">
            <a:avLst/>
          </a:prstGeom>
          <a:noFill/>
        </p:spPr>
        <p:txBody>
          <a:bodyPr wrap="square" lIns="0" rIns="0" tIns="0" bIns="0">
            <a:spAutoFit/>
          </a:bodyPr>
          <a:p>
            <a:pPr indent="0" algn="l">
              <a:buFont typeface="微软雅黑"/>
              <a:buNone/>
              <a:defRPr>
                <a:latin typeface="微软雅黑"/>
                <a:ea typeface="微软雅黑"/>
                <a:cs typeface="微软雅黑"/>
              </a:defRPr>
            </a:pPr>
            <a:r>
              <a:rPr lang="zh-CN" altLang="en-US" sz="1000" b="1" dirty="0">
                <a:solidFill>
                  <a:srgbClr val="383838"/>
                </a:solidFill>
                <a:latin typeface="微软雅黑"/>
                <a:ea typeface="微软雅黑"/>
                <a:cs typeface="微软雅黑"/>
              </a:rPr>
              <a:t>新能源汽车电池循环经济的关键路径：</a:t>
            </a:r>
            <a:endParaRPr lang="zh-CN" altLang="en-US" sz="1000" b="1" dirty="0">
              <a:solidFill>
                <a:srgbClr val="383838"/>
              </a:solidFill>
              <a:latin typeface="微软雅黑"/>
              <a:ea typeface="微软雅黑"/>
              <a:cs typeface="微软雅黑"/>
            </a:endParaRPr>
          </a:p>
          <a:p>
            <a:pPr indent="0" algn="l">
              <a:buFont typeface="微软雅黑"/>
              <a:buNone/>
              <a:defRPr>
                <a:latin typeface="微软雅黑"/>
                <a:ea typeface="微软雅黑"/>
                <a:cs typeface="微软雅黑"/>
              </a:defRPr>
            </a:pPr>
            <a:r>
              <a:rPr lang="en-US" altLang="zh-CN" sz="1000" dirty="0">
                <a:solidFill>
                  <a:srgbClr val="383838"/>
                </a:solidFill>
                <a:latin typeface="微软雅黑"/>
                <a:ea typeface="微软雅黑"/>
                <a:cs typeface="微软雅黑"/>
              </a:rPr>
              <a:t>1</a:t>
            </a:r>
            <a:r>
              <a:rPr lang="zh-CN" altLang="en-US" sz="1000" dirty="0">
                <a:solidFill>
                  <a:srgbClr val="383838"/>
                </a:solidFill>
                <a:latin typeface="微软雅黑"/>
                <a:ea typeface="微软雅黑"/>
                <a:cs typeface="微软雅黑"/>
              </a:rPr>
              <a:t>、梯次利用：储能电站、备用电源；</a:t>
            </a:r>
            <a:endParaRPr lang="zh-CN" altLang="en-US" sz="1000" dirty="0">
              <a:solidFill>
                <a:srgbClr val="383838"/>
              </a:solidFill>
              <a:latin typeface="微软雅黑"/>
              <a:ea typeface="微软雅黑"/>
              <a:cs typeface="微软雅黑"/>
            </a:endParaRPr>
          </a:p>
          <a:p>
            <a:pPr indent="0" algn="l">
              <a:buFont typeface="微软雅黑"/>
              <a:buNone/>
              <a:defRPr>
                <a:latin typeface="微软雅黑"/>
                <a:ea typeface="微软雅黑"/>
                <a:cs typeface="微软雅黑"/>
              </a:defRPr>
            </a:pPr>
            <a:r>
              <a:rPr lang="en-US" altLang="zh-CN" sz="1000" dirty="0">
                <a:solidFill>
                  <a:srgbClr val="383838"/>
                </a:solidFill>
                <a:latin typeface="微软雅黑"/>
                <a:ea typeface="微软雅黑"/>
                <a:cs typeface="微软雅黑"/>
              </a:rPr>
              <a:t>2</a:t>
            </a:r>
            <a:r>
              <a:rPr lang="zh-CN" altLang="en-US" sz="1000" dirty="0">
                <a:solidFill>
                  <a:srgbClr val="383838"/>
                </a:solidFill>
                <a:latin typeface="微软雅黑"/>
                <a:ea typeface="微软雅黑"/>
                <a:cs typeface="微软雅黑"/>
              </a:rPr>
              <a:t>、材料再生：湿法冶金、直接回收；</a:t>
            </a:r>
            <a:endParaRPr lang="zh-CN" altLang="en-US" sz="1000" dirty="0">
              <a:solidFill>
                <a:srgbClr val="383838"/>
              </a:solidFill>
              <a:latin typeface="微软雅黑"/>
              <a:ea typeface="微软雅黑"/>
              <a:cs typeface="微软雅黑"/>
            </a:endParaRPr>
          </a:p>
          <a:p>
            <a:pPr indent="0" algn="l">
              <a:buFont typeface="微软雅黑"/>
              <a:buNone/>
              <a:defRPr>
                <a:latin typeface="微软雅黑"/>
                <a:ea typeface="微软雅黑"/>
                <a:cs typeface="微软雅黑"/>
              </a:defRPr>
            </a:pPr>
            <a:r>
              <a:rPr lang="en-US" altLang="zh-CN" sz="1000" dirty="0">
                <a:solidFill>
                  <a:srgbClr val="383838"/>
                </a:solidFill>
                <a:latin typeface="微软雅黑"/>
                <a:ea typeface="微软雅黑"/>
                <a:cs typeface="微软雅黑"/>
              </a:rPr>
              <a:t>3</a:t>
            </a:r>
            <a:r>
              <a:rPr lang="zh-CN" altLang="en-US" sz="1000" dirty="0">
                <a:solidFill>
                  <a:srgbClr val="383838"/>
                </a:solidFill>
                <a:latin typeface="微软雅黑"/>
                <a:ea typeface="微软雅黑"/>
                <a:cs typeface="微软雅黑"/>
              </a:rPr>
              <a:t>、模式创新：</a:t>
            </a:r>
            <a:r>
              <a:rPr lang="en-US" altLang="zh-CN" sz="1000" dirty="0">
                <a:solidFill>
                  <a:srgbClr val="383838"/>
                </a:solidFill>
                <a:latin typeface="微软雅黑"/>
                <a:ea typeface="微软雅黑"/>
                <a:cs typeface="微软雅黑"/>
              </a:rPr>
              <a:t>BaaS</a:t>
            </a:r>
            <a:r>
              <a:rPr lang="zh-CN" altLang="en-US" sz="1000" dirty="0">
                <a:solidFill>
                  <a:srgbClr val="383838"/>
                </a:solidFill>
                <a:latin typeface="微软雅黑"/>
                <a:ea typeface="微软雅黑"/>
                <a:cs typeface="微软雅黑"/>
              </a:rPr>
              <a:t>（电池即服务）</a:t>
            </a:r>
            <a:endParaRPr lang="zh-CN" altLang="en-US" sz="1000" dirty="0">
              <a:solidFill>
                <a:srgbClr val="383838"/>
              </a:solidFill>
              <a:latin typeface="微软雅黑"/>
              <a:ea typeface="微软雅黑"/>
              <a:cs typeface="微软雅黑"/>
            </a:endParaRPr>
          </a:p>
        </p:txBody>
      </p:sp>
      <p:sp>
        <p:nvSpPr>
          <p:cNvPr id="163" name="小红书30"/>
          <p:cNvSpPr/>
          <p:nvPr/>
        </p:nvSpPr>
        <p:spPr>
          <a:xfrm>
            <a:off x="844550" y="2505710"/>
            <a:ext cx="1050290" cy="2776855"/>
          </a:xfrm>
          <a:prstGeom prst="roundRect">
            <a:avLst>
              <a:gd name="adj" fmla="val 6749"/>
            </a:avLst>
          </a:prstGeom>
          <a:solidFill>
            <a:srgbClr val="E6E6E6">
              <a:alpha val="50000"/>
            </a:srgbClr>
          </a:solidFill>
          <a:ln w="12700" cap="flat" cmpd="sng" algn="ctr">
            <a:solidFill>
              <a:srgbClr val="0042FF"/>
            </a:solidFill>
            <a:prstDash val="dash"/>
            <a:miter lim="800000"/>
          </a:ln>
          <a:effectLst/>
        </p:spPr>
        <p:txBody>
          <a:bodyPr rtlCol="0" anchor="ctr" lIns="0" rIns="0" tIns="0" bIns="0"/>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grpSp>
        <p:nvGrpSpPr>
          <p:cNvPr id="40" name="组合 39"/>
          <p:cNvGrpSpPr/>
          <p:nvPr/>
        </p:nvGrpSpPr>
        <p:grpSpPr>
          <a:xfrm>
            <a:off x="2001520" y="2650490"/>
            <a:ext cx="490855" cy="382270"/>
            <a:chOff x="2641" y="4174"/>
            <a:chExt cx="773" cy="602"/>
          </a:xfrm>
        </p:grpSpPr>
        <p:sp>
          <p:nvSpPr>
            <p:cNvPr id="287" name="菱形 286"/>
            <p:cNvSpPr/>
            <p:nvPr/>
          </p:nvSpPr>
          <p:spPr>
            <a:xfrm rot="10800000" flipV="1">
              <a:off x="2848" y="4174"/>
              <a:ext cx="567" cy="603"/>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9" name="菱形 38"/>
            <p:cNvSpPr/>
            <p:nvPr/>
          </p:nvSpPr>
          <p:spPr>
            <a:xfrm rot="10800000" flipV="1">
              <a:off x="2641" y="4174"/>
              <a:ext cx="567" cy="603"/>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41" name="组合 40"/>
          <p:cNvGrpSpPr/>
          <p:nvPr/>
        </p:nvGrpSpPr>
        <p:grpSpPr>
          <a:xfrm>
            <a:off x="2001520" y="3659505"/>
            <a:ext cx="490855" cy="382270"/>
            <a:chOff x="2641" y="4174"/>
            <a:chExt cx="773" cy="602"/>
          </a:xfrm>
        </p:grpSpPr>
        <p:sp>
          <p:nvSpPr>
            <p:cNvPr id="42" name="菱形 41"/>
            <p:cNvSpPr/>
            <p:nvPr/>
          </p:nvSpPr>
          <p:spPr>
            <a:xfrm rot="10800000" flipV="1">
              <a:off x="2848" y="4174"/>
              <a:ext cx="567" cy="603"/>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4" name="菱形 43"/>
            <p:cNvSpPr/>
            <p:nvPr/>
          </p:nvSpPr>
          <p:spPr>
            <a:xfrm rot="10800000" flipV="1">
              <a:off x="2641" y="4174"/>
              <a:ext cx="567" cy="603"/>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45" name="组合 44"/>
          <p:cNvGrpSpPr/>
          <p:nvPr/>
        </p:nvGrpSpPr>
        <p:grpSpPr>
          <a:xfrm>
            <a:off x="2001520" y="4668520"/>
            <a:ext cx="490855" cy="382270"/>
            <a:chOff x="2641" y="4174"/>
            <a:chExt cx="773" cy="602"/>
          </a:xfrm>
        </p:grpSpPr>
        <p:sp>
          <p:nvSpPr>
            <p:cNvPr id="46" name="菱形 45"/>
            <p:cNvSpPr/>
            <p:nvPr/>
          </p:nvSpPr>
          <p:spPr>
            <a:xfrm rot="10800000" flipV="1">
              <a:off x="2848" y="4174"/>
              <a:ext cx="567" cy="603"/>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7" name="菱形 46"/>
            <p:cNvSpPr/>
            <p:nvPr/>
          </p:nvSpPr>
          <p:spPr>
            <a:xfrm rot="10800000" flipV="1">
              <a:off x="2641" y="4174"/>
              <a:ext cx="567" cy="603"/>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136" name="组合 135"/>
          <p:cNvGrpSpPr/>
          <p:nvPr/>
        </p:nvGrpSpPr>
        <p:grpSpPr>
          <a:xfrm>
            <a:off x="963295" y="2706688"/>
            <a:ext cx="812800" cy="2217420"/>
            <a:chOff x="1589" y="4350"/>
            <a:chExt cx="1280" cy="3492"/>
          </a:xfrm>
        </p:grpSpPr>
        <p:sp>
          <p:nvSpPr>
            <p:cNvPr id="49" name="文本框 48"/>
            <p:cNvSpPr txBox="1"/>
            <p:nvPr/>
          </p:nvSpPr>
          <p:spPr>
            <a:xfrm>
              <a:off x="1589" y="4791"/>
              <a:ext cx="675" cy="2859"/>
            </a:xfrm>
            <a:prstGeom prst="rect">
              <a:avLst/>
            </a:prstGeom>
            <a:noFill/>
          </p:spPr>
          <p:txBody>
            <a:bodyPr vert="eaVert" wrap="square" rtlCol="0">
              <a:spAutoFit/>
            </a:bodyPr>
            <a:p>
              <a:pPr algn="ctr">
                <a:defRPr>
                  <a:latin typeface="微软雅黑"/>
                  <a:ea typeface="微软雅黑"/>
                  <a:cs typeface="微软雅黑"/>
                </a:defRPr>
              </a:pPr>
              <a:r>
                <a:rPr lang="zh-CN" altLang="en-US" sz="1600">
                  <a:solidFill>
                    <a:srgbClr val="0042FF"/>
                  </a:solidFill>
                  <a:latin typeface="微软雅黑"/>
                  <a:ea typeface="微软雅黑"/>
                  <a:cs typeface="微软雅黑"/>
                </a:rPr>
                <a:t>循环经济框架下的</a:t>
              </a:r>
              <a:endParaRPr lang="en-US" altLang="zh-CN" sz="1600">
                <a:solidFill>
                  <a:srgbClr val="0042FF"/>
                </a:solidFill>
                <a:latin typeface="微软雅黑"/>
                <a:ea typeface="微软雅黑"/>
                <a:cs typeface="微软雅黑"/>
              </a:endParaRPr>
            </a:p>
          </p:txBody>
        </p:sp>
        <p:sp>
          <p:nvSpPr>
            <p:cNvPr id="50" name="文本框 49"/>
            <p:cNvSpPr txBox="1"/>
            <p:nvPr/>
          </p:nvSpPr>
          <p:spPr>
            <a:xfrm>
              <a:off x="2145" y="4350"/>
              <a:ext cx="724" cy="3492"/>
            </a:xfrm>
            <a:prstGeom prst="rect">
              <a:avLst/>
            </a:prstGeom>
            <a:noFill/>
          </p:spPr>
          <p:txBody>
            <a:bodyPr vert="eaVert" wrap="square" rtlCol="0" lIns="0" rIns="0" tIns="0" bIns="0">
              <a:spAutoFit/>
            </a:bodyPr>
            <a:p>
              <a:pPr algn="ctr">
                <a:defRPr>
                  <a:latin typeface="微软雅黑"/>
                  <a:ea typeface="微软雅黑"/>
                  <a:cs typeface="微软雅黑"/>
                </a:defRPr>
              </a:pPr>
              <a:r>
                <a:rPr lang="zh-CN" altLang="en-US" b="1">
                  <a:solidFill>
                    <a:srgbClr val="0042FF"/>
                  </a:solidFill>
                  <a:latin typeface="微软雅黑"/>
                  <a:ea typeface="微软雅黑"/>
                  <a:cs typeface="微软雅黑"/>
                </a:rPr>
                <a:t>电池全生命周期阶段</a:t>
              </a:r>
              <a:endParaRPr lang="zh-CN" altLang="en-US" b="1">
                <a:solidFill>
                  <a:srgbClr val="0042FF"/>
                </a:solidFill>
                <a:latin typeface="微软雅黑"/>
                <a:ea typeface="微软雅黑"/>
                <a:cs typeface="微软雅黑"/>
              </a:endParaRPr>
            </a:p>
          </p:txBody>
        </p:sp>
      </p:grpSp>
      <p:grpSp>
        <p:nvGrpSpPr>
          <p:cNvPr id="6" name="组合 5"/>
          <p:cNvGrpSpPr/>
          <p:nvPr/>
        </p:nvGrpSpPr>
        <p:grpSpPr>
          <a:xfrm>
            <a:off x="8316595" y="2510155"/>
            <a:ext cx="662940" cy="662940"/>
            <a:chOff x="13097" y="3953"/>
            <a:chExt cx="1044" cy="1044"/>
          </a:xfrm>
        </p:grpSpPr>
        <p:sp>
          <p:nvSpPr>
            <p:cNvPr id="2" name="椭圆 1"/>
            <p:cNvSpPr/>
            <p:nvPr/>
          </p:nvSpPr>
          <p:spPr>
            <a:xfrm>
              <a:off x="13097" y="3953"/>
              <a:ext cx="1045" cy="1045"/>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椭圆 2"/>
            <p:cNvSpPr/>
            <p:nvPr/>
          </p:nvSpPr>
          <p:spPr>
            <a:xfrm>
              <a:off x="13097" y="3953"/>
              <a:ext cx="1045" cy="1045"/>
            </a:xfrm>
            <a:prstGeom prst="ellipse">
              <a:avLst/>
            </a:prstGeom>
            <a:solidFill>
              <a:srgbClr val="FFFFFF">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pic>
          <p:nvPicPr>
            <p:cNvPr id="4" name="图片 3" descr="114329-OP492S-104_ji"/>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3226" y="4047"/>
              <a:ext cx="818" cy="818"/>
            </a:xfrm>
            <a:prstGeom prst="rect">
              <a:avLst/>
            </a:prstGeom>
          </p:spPr>
        </p:pic>
      </p:grpSp>
      <p:grpSp>
        <p:nvGrpSpPr>
          <p:cNvPr id="13" name="组合 12"/>
          <p:cNvGrpSpPr/>
          <p:nvPr/>
        </p:nvGrpSpPr>
        <p:grpSpPr>
          <a:xfrm>
            <a:off x="8748395" y="3869055"/>
            <a:ext cx="662940" cy="662940"/>
            <a:chOff x="13777" y="6041"/>
            <a:chExt cx="1044" cy="1044"/>
          </a:xfrm>
        </p:grpSpPr>
        <p:grpSp>
          <p:nvGrpSpPr>
            <p:cNvPr id="7" name="组合 6"/>
            <p:cNvGrpSpPr/>
            <p:nvPr/>
          </p:nvGrpSpPr>
          <p:grpSpPr>
            <a:xfrm>
              <a:off x="13777" y="6041"/>
              <a:ext cx="1045" cy="1045"/>
              <a:chOff x="13097" y="3953"/>
              <a:chExt cx="1045" cy="1045"/>
            </a:xfrm>
          </p:grpSpPr>
          <p:sp>
            <p:nvSpPr>
              <p:cNvPr id="8" name="椭圆 7"/>
              <p:cNvSpPr/>
              <p:nvPr/>
            </p:nvSpPr>
            <p:spPr>
              <a:xfrm>
                <a:off x="13097" y="3953"/>
                <a:ext cx="1045" cy="1045"/>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 name="椭圆 8"/>
              <p:cNvSpPr/>
              <p:nvPr/>
            </p:nvSpPr>
            <p:spPr>
              <a:xfrm>
                <a:off x="13097" y="3953"/>
                <a:ext cx="1045" cy="1045"/>
              </a:xfrm>
              <a:prstGeom prst="ellipse">
                <a:avLst/>
              </a:prstGeom>
              <a:solidFill>
                <a:srgbClr val="FFFFFF">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12" name="图片 11" descr="回收百分率"/>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3892" y="6154"/>
              <a:ext cx="815" cy="815"/>
            </a:xfrm>
            <a:prstGeom prst="rect">
              <a:avLst/>
            </a:prstGeom>
            <a:gradFill>
              <a:gsLst>
                <a:gs pos="0">
                  <a:srgbClr val="FFFFFF"/>
                </a:gs>
                <a:gs pos="100000">
                  <a:srgbClr val="B3D4FE"/>
                </a:gs>
              </a:gsLst>
              <a:lin ang="5400000" scaled="0"/>
            </a:gradFill>
          </p:spPr>
        </p:pic>
      </p:grpSp>
      <p:grpSp>
        <p:nvGrpSpPr>
          <p:cNvPr id="32" name="组合 31"/>
          <p:cNvGrpSpPr/>
          <p:nvPr/>
        </p:nvGrpSpPr>
        <p:grpSpPr>
          <a:xfrm>
            <a:off x="8254365" y="5227955"/>
            <a:ext cx="662940" cy="662940"/>
            <a:chOff x="12847" y="8429"/>
            <a:chExt cx="1044" cy="1044"/>
          </a:xfrm>
        </p:grpSpPr>
        <p:grpSp>
          <p:nvGrpSpPr>
            <p:cNvPr id="15" name="组合 14"/>
            <p:cNvGrpSpPr/>
            <p:nvPr/>
          </p:nvGrpSpPr>
          <p:grpSpPr>
            <a:xfrm rot="0">
              <a:off x="12847" y="8429"/>
              <a:ext cx="1045" cy="1045"/>
              <a:chOff x="13097" y="3953"/>
              <a:chExt cx="1045" cy="1045"/>
            </a:xfrm>
          </p:grpSpPr>
          <p:sp>
            <p:nvSpPr>
              <p:cNvPr id="16" name="椭圆 15"/>
              <p:cNvSpPr/>
              <p:nvPr/>
            </p:nvSpPr>
            <p:spPr>
              <a:xfrm>
                <a:off x="13097" y="3953"/>
                <a:ext cx="1045" cy="1045"/>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7" name="椭圆 16"/>
              <p:cNvSpPr/>
              <p:nvPr/>
            </p:nvSpPr>
            <p:spPr>
              <a:xfrm>
                <a:off x="13097" y="3953"/>
                <a:ext cx="1045" cy="1045"/>
              </a:xfrm>
              <a:prstGeom prst="ellipse">
                <a:avLst/>
              </a:prstGeom>
              <a:solidFill>
                <a:srgbClr val="FFFFFF">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21" name="图片 20" descr="接通电源4"/>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3097" y="8622"/>
              <a:ext cx="656" cy="656"/>
            </a:xfrm>
            <a:prstGeom prst="rect">
              <a:avLst/>
            </a:prstGeom>
          </p:spPr>
        </p:pic>
      </p:grpSp>
      <p:grpSp>
        <p:nvGrpSpPr>
          <p:cNvPr id="62" name="组合 61"/>
          <p:cNvGrpSpPr/>
          <p:nvPr/>
        </p:nvGrpSpPr>
        <p:grpSpPr>
          <a:xfrm>
            <a:off x="7051040" y="2860040"/>
            <a:ext cx="487680" cy="487680"/>
            <a:chOff x="12042" y="4884"/>
            <a:chExt cx="768" cy="768"/>
          </a:xfrm>
        </p:grpSpPr>
        <p:grpSp>
          <p:nvGrpSpPr>
            <p:cNvPr id="63" name="组合 62"/>
            <p:cNvGrpSpPr/>
            <p:nvPr/>
          </p:nvGrpSpPr>
          <p:grpSpPr>
            <a:xfrm>
              <a:off x="12042" y="4884"/>
              <a:ext cx="768" cy="768"/>
              <a:chOff x="12810" y="5708"/>
              <a:chExt cx="768" cy="768"/>
            </a:xfrm>
          </p:grpSpPr>
          <p:sp>
            <p:nvSpPr>
              <p:cNvPr id="68" name="椭圆 67"/>
              <p:cNvSpPr/>
              <p:nvPr/>
            </p:nvSpPr>
            <p:spPr>
              <a:xfrm>
                <a:off x="12810" y="5708"/>
                <a:ext cx="768" cy="768"/>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9" name="椭圆 68"/>
              <p:cNvSpPr/>
              <p:nvPr/>
            </p:nvSpPr>
            <p:spPr>
              <a:xfrm>
                <a:off x="12810" y="5708"/>
                <a:ext cx="768" cy="768"/>
              </a:xfrm>
              <a:prstGeom prst="ellipse">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70" name="图片 69" descr="Build_up-and-down"/>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12224" y="5039"/>
              <a:ext cx="405" cy="405"/>
            </a:xfrm>
            <a:prstGeom prst="rect">
              <a:avLst/>
            </a:prstGeom>
          </p:spPr>
        </p:pic>
      </p:grpSp>
      <p:grpSp>
        <p:nvGrpSpPr>
          <p:cNvPr id="89" name="组合 88"/>
          <p:cNvGrpSpPr/>
          <p:nvPr/>
        </p:nvGrpSpPr>
        <p:grpSpPr>
          <a:xfrm>
            <a:off x="6553835" y="3498850"/>
            <a:ext cx="487680" cy="487680"/>
            <a:chOff x="11216" y="5728"/>
            <a:chExt cx="768" cy="768"/>
          </a:xfrm>
        </p:grpSpPr>
        <p:grpSp>
          <p:nvGrpSpPr>
            <p:cNvPr id="90" name="组合 89"/>
            <p:cNvGrpSpPr/>
            <p:nvPr/>
          </p:nvGrpSpPr>
          <p:grpSpPr>
            <a:xfrm rot="0">
              <a:off x="11216" y="5728"/>
              <a:ext cx="768" cy="768"/>
              <a:chOff x="12810" y="5708"/>
              <a:chExt cx="768" cy="768"/>
            </a:xfrm>
          </p:grpSpPr>
          <p:sp>
            <p:nvSpPr>
              <p:cNvPr id="91" name="椭圆 90"/>
              <p:cNvSpPr/>
              <p:nvPr/>
            </p:nvSpPr>
            <p:spPr>
              <a:xfrm>
                <a:off x="12810" y="5708"/>
                <a:ext cx="768" cy="768"/>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6" name="椭圆 95"/>
              <p:cNvSpPr/>
              <p:nvPr/>
            </p:nvSpPr>
            <p:spPr>
              <a:xfrm>
                <a:off x="12810" y="5708"/>
                <a:ext cx="768" cy="768"/>
              </a:xfrm>
              <a:prstGeom prst="ellipse">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103" name="图片 102" descr="翻新改造"/>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11394" y="5894"/>
              <a:ext cx="445" cy="445"/>
            </a:xfrm>
            <a:prstGeom prst="rect">
              <a:avLst/>
            </a:prstGeom>
          </p:spPr>
        </p:pic>
      </p:grpSp>
      <p:grpSp>
        <p:nvGrpSpPr>
          <p:cNvPr id="119" name="组合 118"/>
          <p:cNvGrpSpPr/>
          <p:nvPr/>
        </p:nvGrpSpPr>
        <p:grpSpPr>
          <a:xfrm>
            <a:off x="6137275" y="3976370"/>
            <a:ext cx="487680" cy="487680"/>
            <a:chOff x="10466" y="6646"/>
            <a:chExt cx="768" cy="768"/>
          </a:xfrm>
        </p:grpSpPr>
        <p:grpSp>
          <p:nvGrpSpPr>
            <p:cNvPr id="120" name="组合 119"/>
            <p:cNvGrpSpPr/>
            <p:nvPr/>
          </p:nvGrpSpPr>
          <p:grpSpPr>
            <a:xfrm rot="0">
              <a:off x="10466" y="6646"/>
              <a:ext cx="768" cy="768"/>
              <a:chOff x="12810" y="5708"/>
              <a:chExt cx="768" cy="768"/>
            </a:xfrm>
          </p:grpSpPr>
          <p:sp>
            <p:nvSpPr>
              <p:cNvPr id="121" name="椭圆 120"/>
              <p:cNvSpPr/>
              <p:nvPr/>
            </p:nvSpPr>
            <p:spPr>
              <a:xfrm>
                <a:off x="12810" y="5708"/>
                <a:ext cx="768" cy="768"/>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2" name="椭圆 121"/>
              <p:cNvSpPr/>
              <p:nvPr/>
            </p:nvSpPr>
            <p:spPr>
              <a:xfrm>
                <a:off x="12810" y="5708"/>
                <a:ext cx="768" cy="768"/>
              </a:xfrm>
              <a:prstGeom prst="ellipse">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123" name="图片 122" descr="维修"/>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10650" y="6830"/>
              <a:ext cx="401" cy="401"/>
            </a:xfrm>
            <a:prstGeom prst="rect">
              <a:avLst/>
            </a:prstGeom>
          </p:spPr>
        </p:pic>
      </p:grpSp>
      <p:grpSp>
        <p:nvGrpSpPr>
          <p:cNvPr id="131" name="组合 130"/>
          <p:cNvGrpSpPr/>
          <p:nvPr/>
        </p:nvGrpSpPr>
        <p:grpSpPr>
          <a:xfrm>
            <a:off x="5788660" y="4415790"/>
            <a:ext cx="487680" cy="487680"/>
            <a:chOff x="10499" y="6916"/>
            <a:chExt cx="768" cy="768"/>
          </a:xfrm>
        </p:grpSpPr>
        <p:grpSp>
          <p:nvGrpSpPr>
            <p:cNvPr id="132" name="组合 131"/>
            <p:cNvGrpSpPr/>
            <p:nvPr/>
          </p:nvGrpSpPr>
          <p:grpSpPr>
            <a:xfrm rot="0">
              <a:off x="10499" y="6916"/>
              <a:ext cx="768" cy="768"/>
              <a:chOff x="12810" y="5708"/>
              <a:chExt cx="768" cy="768"/>
            </a:xfrm>
          </p:grpSpPr>
          <p:sp>
            <p:nvSpPr>
              <p:cNvPr id="133" name="椭圆 132"/>
              <p:cNvSpPr/>
              <p:nvPr/>
            </p:nvSpPr>
            <p:spPr>
              <a:xfrm>
                <a:off x="12810" y="5708"/>
                <a:ext cx="768" cy="768"/>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34" name="椭圆 133"/>
              <p:cNvSpPr/>
              <p:nvPr/>
            </p:nvSpPr>
            <p:spPr>
              <a:xfrm>
                <a:off x="12810" y="5708"/>
                <a:ext cx="768" cy="768"/>
              </a:xfrm>
              <a:prstGeom prst="ellipse">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pic>
          <p:nvPicPr>
            <p:cNvPr id="135" name="图片 134" descr="回收站"/>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10702" y="7119"/>
              <a:ext cx="363" cy="363"/>
            </a:xfrm>
            <a:prstGeom prst="rect">
              <a:avLst/>
            </a:prstGeom>
          </p:spPr>
        </p:pic>
      </p:grpSp>
      <p:cxnSp>
        <p:nvCxnSpPr>
          <p:cNvPr id="11"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4" name="组合 13"/>
          <p:cNvGrpSpPr/>
          <p:nvPr/>
        </p:nvGrpSpPr>
        <p:grpSpPr>
          <a:xfrm>
            <a:off x="8738235" y="348615"/>
            <a:ext cx="3219450" cy="332740"/>
            <a:chOff x="13761" y="549"/>
            <a:chExt cx="5070" cy="524"/>
          </a:xfrm>
        </p:grpSpPr>
        <p:pic>
          <p:nvPicPr>
            <p:cNvPr id="18" name="图片 17"/>
            <p:cNvPicPr>
              <a:picLocks noChangeAspect="1"/>
            </p:cNvPicPr>
            <p:nvPr userDrawn="1"/>
          </p:nvPicPr>
          <p:blipFill>
            <a:blip r:embed="rId27"/>
            <a:srcRect l="17002" t="-1765" r="56499" b="-1176"/>
            <a:stretch>
              <a:fillRect/>
            </a:stretch>
          </p:blipFill>
          <p:spPr>
            <a:xfrm>
              <a:off x="13761" y="549"/>
              <a:ext cx="1582" cy="525"/>
            </a:xfrm>
            <a:prstGeom prst="rect">
              <a:avLst/>
            </a:prstGeom>
          </p:spPr>
        </p:pic>
        <p:sp>
          <p:nvSpPr>
            <p:cNvPr id="19" name="文本框 1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循环逻辑架构 | </a:t>
            </a:r>
            <a:r>
              <a:rPr sz="2500">
                <a:solidFill>
                  <a:srgbClr val="383838"/>
                </a:solidFill>
                <a:effectLst/>
                <a:latin typeface="微软雅黑"/>
                <a:ea typeface="微软雅黑"/>
                <a:cs typeface="微软雅黑"/>
              </a:rPr>
              <a:t>线上线下业务联动模型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04" name="椭圆 103"/>
          <p:cNvSpPr>
            <a:spLocks noChangeAspect="1"/>
          </p:cNvSpPr>
          <p:nvPr/>
        </p:nvSpPr>
        <p:spPr>
          <a:xfrm>
            <a:off x="4657794" y="2204679"/>
            <a:ext cx="3096000" cy="3096000"/>
          </a:xfrm>
          <a:prstGeom prst="ellipse">
            <a:avLst/>
          </a:prstGeom>
          <a:gradFill>
            <a:gsLst>
              <a:gs pos="33000">
                <a:srgbClr val="E6E6E6">
                  <a:alpha val="50000"/>
                </a:srgbClr>
              </a:gs>
              <a:gs pos="89000">
                <a:srgbClr val="E6E6E6"/>
              </a:gs>
            </a:gsLst>
            <a:path path="circle">
              <a:fillToRect r="100000" b="100000"/>
            </a:path>
            <a:tileRect l="-100000" t="-100000"/>
          </a:gra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05" name="文本框 104"/>
          <p:cNvSpPr txBox="1"/>
          <p:nvPr/>
        </p:nvSpPr>
        <p:spPr>
          <a:xfrm>
            <a:off x="5190473" y="3099395"/>
            <a:ext cx="2087880" cy="475615"/>
          </a:xfrm>
          <a:prstGeom prst="rect">
            <a:avLst/>
          </a:prstGeom>
          <a:noFill/>
        </p:spPr>
        <p:txBody>
          <a:bodyPr wrap="none" rtlCol="0" lIns="0" rIns="0" tIns="0" bIns="0">
            <a:spAutoFit/>
          </a:bodyPr>
          <a:lstStyle/>
          <a:p>
            <a:pPr lvl="0" algn="ctr" fontAlgn="ctr">
              <a:defRPr>
                <a:latin typeface="微软雅黑"/>
                <a:ea typeface="微软雅黑"/>
                <a:cs typeface="微软雅黑"/>
              </a:defRPr>
            </a:pPr>
            <a:r>
              <a:rPr lang="zh-CN" altLang="en-US" sz="2500" b="1" dirty="0">
                <a:gradFill>
                  <a:gsLst>
                    <a:gs pos="0">
                      <a:srgbClr val="0042FF"/>
                    </a:gs>
                    <a:gs pos="100000">
                      <a:srgbClr val="0042FF"/>
                    </a:gs>
                  </a:gsLst>
                  <a:lin ang="5400000" scaled="0"/>
                </a:gradFill>
                <a:latin typeface="微软雅黑"/>
                <a:ea typeface="微软雅黑"/>
                <a:cs typeface="微软雅黑"/>
                <a:sym typeface="微软雅黑"/>
              </a:rPr>
              <a:t>线上线下联动</a:t>
            </a:r>
            <a:endParaRPr lang="zh-CN" altLang="en-US" sz="2500" b="1" dirty="0">
              <a:gradFill>
                <a:gsLst>
                  <a:gs pos="0">
                    <a:srgbClr val="0042FF"/>
                  </a:gs>
                  <a:gs pos="100000">
                    <a:srgbClr val="0042FF"/>
                  </a:gs>
                </a:gsLst>
                <a:lin ang="5400000" scaled="0"/>
              </a:gradFill>
              <a:latin typeface="微软雅黑"/>
              <a:ea typeface="微软雅黑"/>
              <a:cs typeface="微软雅黑"/>
              <a:sym typeface="微软雅黑"/>
            </a:endParaRPr>
          </a:p>
        </p:txBody>
      </p:sp>
      <p:grpSp>
        <p:nvGrpSpPr>
          <p:cNvPr id="158" name="组合 157"/>
          <p:cNvGrpSpPr/>
          <p:nvPr/>
        </p:nvGrpSpPr>
        <p:grpSpPr>
          <a:xfrm>
            <a:off x="5145405" y="3971925"/>
            <a:ext cx="1066800" cy="275590"/>
            <a:chOff x="8103" y="6255"/>
            <a:chExt cx="1680" cy="434"/>
          </a:xfrm>
        </p:grpSpPr>
        <p:sp>
          <p:nvSpPr>
            <p:cNvPr id="108" name="圆角矩形 107"/>
            <p:cNvSpPr/>
            <p:nvPr/>
          </p:nvSpPr>
          <p:spPr>
            <a:xfrm>
              <a:off x="8103" y="6255"/>
              <a:ext cx="1681" cy="434"/>
            </a:xfrm>
            <a:prstGeom prst="round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09" name="文本框 108"/>
            <p:cNvSpPr txBox="1"/>
            <p:nvPr/>
          </p:nvSpPr>
          <p:spPr>
            <a:xfrm flipH="1">
              <a:off x="8145" y="6326"/>
              <a:ext cx="1599" cy="290"/>
            </a:xfrm>
            <a:prstGeom prst="rect">
              <a:avLst/>
            </a:prstGeom>
            <a:noFill/>
          </p:spPr>
          <p:txBody>
            <a:bodyPr wrap="square" lIns="0" tIns="0" rIns="0" bIns="0" rtlCol="0">
              <a:spAutoFit/>
            </a:bodyPr>
            <a:lstStyle/>
            <a:p>
              <a:pPr lvl="0" algn="ctr">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实时数据共享</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grpSp>
      <p:sp>
        <p:nvSpPr>
          <p:cNvPr id="112" name="文本框 111"/>
          <p:cNvSpPr txBox="1"/>
          <p:nvPr/>
        </p:nvSpPr>
        <p:spPr>
          <a:xfrm>
            <a:off x="5308507" y="3558021"/>
            <a:ext cx="1821332" cy="261610"/>
          </a:xfrm>
          <a:prstGeom prst="rect">
            <a:avLst/>
          </a:prstGeom>
          <a:noFill/>
        </p:spPr>
        <p:txBody>
          <a:bodyPr wrap="none" rtlCol="0" lIns="0" rIns="0" tIns="0" bIns="0">
            <a:spAutoFit/>
          </a:bodyPr>
          <a:lstStyle/>
          <a:p>
            <a:pPr marL="0" marR="0" lvl="0" indent="0" algn="ctr" defTabSz="914400" rtl="0" eaLnBrk="1" fontAlgn="ctr"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b="0" i="0" u="none" strike="noStrike" kern="1200" cap="all" spc="0" normalizeH="0" baseline="0" noProof="0" dirty="0">
                <a:ln>
                  <a:noFill/>
                </a:ln>
                <a:solidFill>
                  <a:srgbClr val="383838"/>
                </a:solidFill>
                <a:effectLst/>
                <a:uLnTx/>
                <a:uFillTx/>
                <a:latin typeface="微软雅黑"/>
                <a:ea typeface="微软雅黑"/>
                <a:cs typeface="微软雅黑"/>
                <a:sym typeface="微软雅黑"/>
              </a:rPr>
              <a:t>Marketing strategy</a:t>
            </a:r>
            <a:endParaRPr kumimoji="0" lang="zh-CN" altLang="en-US" sz="1100" b="0" i="0" u="none" strike="noStrike" kern="1200" cap="all"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13" name="文本框 112"/>
          <p:cNvSpPr txBox="1"/>
          <p:nvPr/>
        </p:nvSpPr>
        <p:spPr>
          <a:xfrm>
            <a:off x="5461872" y="1188670"/>
            <a:ext cx="1560157" cy="228396"/>
          </a:xfrm>
          <a:prstGeom prst="rect">
            <a:avLst/>
          </a:prstGeom>
          <a:noFill/>
          <a:effectLst/>
        </p:spPr>
        <p:txBody>
          <a:bodyPr wrap="square" lIns="0" tIns="0" rIns="0" bIns="0" rtlCol="0">
            <a:spAutoFit/>
          </a:bodyPr>
          <a:lstStyle/>
          <a:p>
            <a:pPr marL="0" marR="0" lvl="0" indent="0" algn="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投放</a:t>
            </a:r>
            <a:r>
              <a:rPr kumimoji="0" lang="en-US" altLang="zh-CN" sz="13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a:t>
            </a:r>
            <a:r>
              <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吸引目标受众</a:t>
            </a:r>
            <a:endPar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14" name="文本框 113"/>
          <p:cNvSpPr txBox="1"/>
          <p:nvPr/>
        </p:nvSpPr>
        <p:spPr>
          <a:xfrm>
            <a:off x="4742881" y="1485862"/>
            <a:ext cx="2699155" cy="228396"/>
          </a:xfrm>
          <a:prstGeom prst="rect">
            <a:avLst/>
          </a:prstGeom>
          <a:noFill/>
          <a:effectLst/>
        </p:spPr>
        <p:txBody>
          <a:bodyPr wrap="square" lIns="0" tIns="0" rIns="0" bIns="0" rtlCol="0">
            <a:spAutoFit/>
          </a:bodyPr>
          <a:lstStyle/>
          <a:p>
            <a:pPr lvl="0" algn="r">
              <a:lnSpc>
                <a:spcPct val="120000"/>
              </a:lnSpc>
              <a:defRPr>
                <a:latin typeface="微软雅黑"/>
                <a:ea typeface="微软雅黑"/>
                <a:cs typeface="微软雅黑"/>
              </a:defRPr>
            </a:pPr>
            <a:r>
              <a:rPr lang="zh-CN" altLang="en-US" sz="1300" dirty="0">
                <a:solidFill>
                  <a:srgbClr val="383838"/>
                </a:solidFill>
                <a:latin typeface="微软雅黑"/>
                <a:ea typeface="微软雅黑"/>
                <a:cs typeface="微软雅黑"/>
                <a:sym typeface="微软雅黑"/>
              </a:rPr>
              <a:t>线下购买转化、分享线上传播发酵</a:t>
            </a:r>
            <a:endParaRPr lang="zh-CN" altLang="en-US" sz="1300" dirty="0">
              <a:solidFill>
                <a:srgbClr val="383838"/>
              </a:solidFill>
              <a:latin typeface="微软雅黑"/>
              <a:ea typeface="微软雅黑"/>
              <a:cs typeface="微软雅黑"/>
              <a:sym typeface="微软雅黑"/>
            </a:endParaRPr>
          </a:p>
        </p:txBody>
      </p:sp>
      <p:sp>
        <p:nvSpPr>
          <p:cNvPr id="115" name="任意形状 82"/>
          <p:cNvSpPr/>
          <p:nvPr/>
        </p:nvSpPr>
        <p:spPr>
          <a:xfrm>
            <a:off x="3875889" y="1285622"/>
            <a:ext cx="6946638" cy="2751183"/>
          </a:xfrm>
          <a:custGeom>
            <a:avLst/>
            <a:gdLst>
              <a:gd name="connsiteX0" fmla="*/ 2361543 w 7219132"/>
              <a:gd name="connsiteY0" fmla="*/ 1097 h 2859103"/>
              <a:gd name="connsiteX1" fmla="*/ 3013584 w 7219132"/>
              <a:gd name="connsiteY1" fmla="*/ 65033 h 2859103"/>
              <a:gd name="connsiteX2" fmla="*/ 5016582 w 7219132"/>
              <a:gd name="connsiteY2" fmla="*/ 2321219 h 2859103"/>
              <a:gd name="connsiteX3" fmla="*/ 5023844 w 7219132"/>
              <a:gd name="connsiteY3" fmla="*/ 2437903 h 2859103"/>
              <a:gd name="connsiteX4" fmla="*/ 7219132 w 7219132"/>
              <a:gd name="connsiteY4" fmla="*/ 2437903 h 2859103"/>
              <a:gd name="connsiteX5" fmla="*/ 7219132 w 7219132"/>
              <a:gd name="connsiteY5" fmla="*/ 2859103 h 2859103"/>
              <a:gd name="connsiteX6" fmla="*/ 4339132 w 7219132"/>
              <a:gd name="connsiteY6" fmla="*/ 2859103 h 2859103"/>
              <a:gd name="connsiteX7" fmla="*/ 4339132 w 7219132"/>
              <a:gd name="connsiteY7" fmla="*/ 2556048 h 2859103"/>
              <a:gd name="connsiteX8" fmla="*/ 4336031 w 7219132"/>
              <a:gd name="connsiteY8" fmla="*/ 2556109 h 2859103"/>
              <a:gd name="connsiteX9" fmla="*/ 2859317 w 7219132"/>
              <a:gd name="connsiteY9" fmla="*/ 742134 h 2859103"/>
              <a:gd name="connsiteX10" fmla="*/ 821801 w 7219132"/>
              <a:gd name="connsiteY10" fmla="*/ 1595789 h 2859103"/>
              <a:gd name="connsiteX11" fmla="*/ 763661 w 7219132"/>
              <a:gd name="connsiteY11" fmla="*/ 1699687 h 2859103"/>
              <a:gd name="connsiteX12" fmla="*/ 933379 w 7219132"/>
              <a:gd name="connsiteY12" fmla="*/ 1797674 h 2859103"/>
              <a:gd name="connsiteX13" fmla="*/ 289463 w 7219132"/>
              <a:gd name="connsiteY13" fmla="*/ 1835195 h 2859103"/>
              <a:gd name="connsiteX14" fmla="*/ 0 w 7219132"/>
              <a:gd name="connsiteY14" fmla="*/ 1258788 h 2859103"/>
              <a:gd name="connsiteX15" fmla="*/ 162172 w 7219132"/>
              <a:gd name="connsiteY15" fmla="*/ 1352417 h 2859103"/>
              <a:gd name="connsiteX16" fmla="*/ 209514 w 7219132"/>
              <a:gd name="connsiteY16" fmla="*/ 1266220 h 2859103"/>
              <a:gd name="connsiteX17" fmla="*/ 2361543 w 7219132"/>
              <a:gd name="connsiteY17" fmla="*/ 1097 h 2859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19132" h="2859103">
                <a:moveTo>
                  <a:pt x="2361543" y="1097"/>
                </a:moveTo>
                <a:cubicBezTo>
                  <a:pt x="2576961" y="-5185"/>
                  <a:pt x="2795816" y="15418"/>
                  <a:pt x="3013584" y="65033"/>
                </a:cubicBezTo>
                <a:cubicBezTo>
                  <a:pt x="4102425" y="313110"/>
                  <a:pt x="4901564" y="1226671"/>
                  <a:pt x="5016582" y="2321219"/>
                </a:cubicBezTo>
                <a:lnTo>
                  <a:pt x="5023844" y="2437903"/>
                </a:lnTo>
                <a:lnTo>
                  <a:pt x="7219132" y="2437903"/>
                </a:lnTo>
                <a:lnTo>
                  <a:pt x="7219132" y="2859103"/>
                </a:lnTo>
                <a:lnTo>
                  <a:pt x="4339132" y="2859103"/>
                </a:lnTo>
                <a:lnTo>
                  <a:pt x="4339132" y="2556048"/>
                </a:lnTo>
                <a:lnTo>
                  <a:pt x="4336031" y="2556109"/>
                </a:lnTo>
                <a:cubicBezTo>
                  <a:pt x="4318810" y="1684064"/>
                  <a:pt x="3709739" y="935890"/>
                  <a:pt x="2859317" y="742134"/>
                </a:cubicBezTo>
                <a:cubicBezTo>
                  <a:pt x="2062047" y="560488"/>
                  <a:pt x="1244883" y="909921"/>
                  <a:pt x="821801" y="1595789"/>
                </a:cubicBezTo>
                <a:lnTo>
                  <a:pt x="763661" y="1699687"/>
                </a:lnTo>
                <a:lnTo>
                  <a:pt x="933379" y="1797674"/>
                </a:lnTo>
                <a:lnTo>
                  <a:pt x="289463" y="1835195"/>
                </a:lnTo>
                <a:lnTo>
                  <a:pt x="0" y="1258788"/>
                </a:lnTo>
                <a:lnTo>
                  <a:pt x="162172" y="1352417"/>
                </a:lnTo>
                <a:lnTo>
                  <a:pt x="209514" y="1266220"/>
                </a:lnTo>
                <a:cubicBezTo>
                  <a:pt x="667978" y="495853"/>
                  <a:pt x="1486405" y="26618"/>
                  <a:pt x="2361543" y="1097"/>
                </a:cubicBezTo>
                <a:close/>
              </a:path>
            </a:pathLst>
          </a:custGeom>
          <a:gradFill>
            <a:gsLst>
              <a:gs pos="92000">
                <a:srgbClr val="3368FF"/>
              </a:gs>
              <a:gs pos="33000">
                <a:srgbClr val="B3D4FE"/>
              </a:gs>
            </a:gsLst>
            <a:lin ang="0" scaled="0"/>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262" name="任意形状 83"/>
          <p:cNvSpPr/>
          <p:nvPr/>
        </p:nvSpPr>
        <p:spPr>
          <a:xfrm rot="1800000">
            <a:off x="1731034" y="2819409"/>
            <a:ext cx="6743209" cy="2930213"/>
          </a:xfrm>
          <a:custGeom>
            <a:avLst/>
            <a:gdLst>
              <a:gd name="connsiteX0" fmla="*/ 0 w 7007723"/>
              <a:gd name="connsiteY0" fmla="*/ 2680386 h 3045156"/>
              <a:gd name="connsiteX1" fmla="*/ 2494153 w 7007723"/>
              <a:gd name="connsiteY1" fmla="*/ 1240386 h 3045156"/>
              <a:gd name="connsiteX2" fmla="*/ 2590294 w 7007723"/>
              <a:gd name="connsiteY2" fmla="*/ 1406909 h 3045156"/>
              <a:gd name="connsiteX3" fmla="*/ 2592951 w 7007723"/>
              <a:gd name="connsiteY3" fmla="*/ 1405304 h 3045156"/>
              <a:gd name="connsiteX4" fmla="*/ 4778810 w 7007723"/>
              <a:gd name="connsiteY4" fmla="*/ 2237896 h 3045156"/>
              <a:gd name="connsiteX5" fmla="*/ 6116523 w 7007723"/>
              <a:gd name="connsiteY5" fmla="*/ 479851 h 3045156"/>
              <a:gd name="connsiteX6" fmla="*/ 6114840 w 7007723"/>
              <a:gd name="connsiteY6" fmla="*/ 354452 h 3045156"/>
              <a:gd name="connsiteX7" fmla="*/ 5929950 w 7007723"/>
              <a:gd name="connsiteY7" fmla="*/ 354452 h 3045156"/>
              <a:gd name="connsiteX8" fmla="*/ 6468837 w 7007723"/>
              <a:gd name="connsiteY8" fmla="*/ 0 h 3045156"/>
              <a:gd name="connsiteX9" fmla="*/ 7007723 w 7007723"/>
              <a:gd name="connsiteY9" fmla="*/ 354452 h 3045156"/>
              <a:gd name="connsiteX10" fmla="*/ 6808730 w 7007723"/>
              <a:gd name="connsiteY10" fmla="*/ 354452 h 3045156"/>
              <a:gd name="connsiteX11" fmla="*/ 6810689 w 7007723"/>
              <a:gd name="connsiteY11" fmla="*/ 500435 h 3045156"/>
              <a:gd name="connsiteX12" fmla="*/ 4983762 w 7007723"/>
              <a:gd name="connsiteY12" fmla="*/ 2901416 h 3045156"/>
              <a:gd name="connsiteX13" fmla="*/ 2256918 w 7007723"/>
              <a:gd name="connsiteY13" fmla="*/ 2120363 h 3045156"/>
              <a:gd name="connsiteX14" fmla="*/ 2125648 w 7007723"/>
              <a:gd name="connsiteY14" fmla="*/ 1939502 h 3045156"/>
              <a:gd name="connsiteX15" fmla="*/ 210600 w 7007723"/>
              <a:gd name="connsiteY15" fmla="*/ 3045156 h 304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07723" h="3045156">
                <a:moveTo>
                  <a:pt x="0" y="2680386"/>
                </a:moveTo>
                <a:lnTo>
                  <a:pt x="2494153" y="1240386"/>
                </a:lnTo>
                <a:lnTo>
                  <a:pt x="2590294" y="1406909"/>
                </a:lnTo>
                <a:lnTo>
                  <a:pt x="2592951" y="1405304"/>
                </a:lnTo>
                <a:cubicBezTo>
                  <a:pt x="3043887" y="2151907"/>
                  <a:pt x="3945445" y="2495309"/>
                  <a:pt x="4778810" y="2237896"/>
                </a:cubicBezTo>
                <a:cubicBezTo>
                  <a:pt x="5560090" y="1996571"/>
                  <a:pt x="6093058" y="1285371"/>
                  <a:pt x="6116523" y="479851"/>
                </a:cubicBezTo>
                <a:lnTo>
                  <a:pt x="6114840" y="354452"/>
                </a:lnTo>
                <a:lnTo>
                  <a:pt x="5929950" y="354452"/>
                </a:lnTo>
                <a:lnTo>
                  <a:pt x="6468837" y="0"/>
                </a:lnTo>
                <a:lnTo>
                  <a:pt x="7007723" y="354452"/>
                </a:lnTo>
                <a:lnTo>
                  <a:pt x="6808730" y="354452"/>
                </a:lnTo>
                <a:lnTo>
                  <a:pt x="6810689" y="500435"/>
                </a:lnTo>
                <a:cubicBezTo>
                  <a:pt x="6778643" y="1600544"/>
                  <a:pt x="6050763" y="2571835"/>
                  <a:pt x="4983762" y="2901416"/>
                </a:cubicBezTo>
                <a:cubicBezTo>
                  <a:pt x="3987893" y="3209023"/>
                  <a:pt x="2920721" y="2888405"/>
                  <a:pt x="2256918" y="2120363"/>
                </a:cubicBezTo>
                <a:lnTo>
                  <a:pt x="2125648" y="1939502"/>
                </a:lnTo>
                <a:lnTo>
                  <a:pt x="210600" y="3045156"/>
                </a:lnTo>
                <a:close/>
              </a:path>
            </a:pathLst>
          </a:custGeom>
          <a:gradFill>
            <a:gsLst>
              <a:gs pos="29000">
                <a:srgbClr val="0042FF"/>
              </a:gs>
              <a:gs pos="99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16" name="任意多边形: 形状 105"/>
          <p:cNvSpPr/>
          <p:nvPr/>
        </p:nvSpPr>
        <p:spPr>
          <a:xfrm>
            <a:off x="10188274" y="3099692"/>
            <a:ext cx="1331374" cy="1331374"/>
          </a:xfrm>
          <a:custGeom>
            <a:avLst/>
            <a:gdLst>
              <a:gd name="connsiteX0" fmla="*/ 2286381 w 2286381"/>
              <a:gd name="connsiteY0" fmla="*/ 1143191 h 2286380"/>
              <a:gd name="connsiteX1" fmla="*/ 1143190 w 2286381"/>
              <a:gd name="connsiteY1" fmla="*/ 2286381 h 2286380"/>
              <a:gd name="connsiteX2" fmla="*/ -1 w 2286381"/>
              <a:gd name="connsiteY2" fmla="*/ 1143191 h 2286380"/>
              <a:gd name="connsiteX3" fmla="*/ 1143190 w 2286381"/>
              <a:gd name="connsiteY3" fmla="*/ 0 h 2286380"/>
              <a:gd name="connsiteX4" fmla="*/ 2286381 w 2286381"/>
              <a:gd name="connsiteY4" fmla="*/ 1143191 h 2286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381" h="2286380">
                <a:moveTo>
                  <a:pt x="2286381" y="1143191"/>
                </a:moveTo>
                <a:cubicBezTo>
                  <a:pt x="2286381" y="1774557"/>
                  <a:pt x="1774557" y="2286381"/>
                  <a:pt x="1143190" y="2286381"/>
                </a:cubicBezTo>
                <a:cubicBezTo>
                  <a:pt x="511823" y="2286381"/>
                  <a:pt x="-1" y="1774557"/>
                  <a:pt x="-1" y="1143191"/>
                </a:cubicBezTo>
                <a:cubicBezTo>
                  <a:pt x="-1" y="511824"/>
                  <a:pt x="511823" y="0"/>
                  <a:pt x="1143190" y="0"/>
                </a:cubicBezTo>
                <a:cubicBezTo>
                  <a:pt x="1774557" y="0"/>
                  <a:pt x="2286381" y="511824"/>
                  <a:pt x="2286381" y="1143191"/>
                </a:cubicBezTo>
                <a:close/>
              </a:path>
            </a:pathLst>
          </a:cu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6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grpSp>
        <p:nvGrpSpPr>
          <p:cNvPr id="157" name="组合 156"/>
          <p:cNvGrpSpPr/>
          <p:nvPr/>
        </p:nvGrpSpPr>
        <p:grpSpPr>
          <a:xfrm>
            <a:off x="10259601" y="3314065"/>
            <a:ext cx="1188720" cy="720090"/>
            <a:chOff x="16144" y="5219"/>
            <a:chExt cx="1872" cy="1134"/>
          </a:xfrm>
        </p:grpSpPr>
        <p:sp>
          <p:nvSpPr>
            <p:cNvPr id="117" name="Object27"/>
            <p:cNvSpPr/>
            <p:nvPr/>
          </p:nvSpPr>
          <p:spPr>
            <a:xfrm>
              <a:off x="16144" y="5219"/>
              <a:ext cx="1873" cy="1128"/>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216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线下</a:t>
              </a:r>
              <a:endParaRPr kumimoji="0" lang="en-US" altLang="en-US" sz="216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18" name="文本框 117"/>
            <p:cNvSpPr txBox="1"/>
            <p:nvPr/>
          </p:nvSpPr>
          <p:spPr>
            <a:xfrm>
              <a:off x="16293" y="6015"/>
              <a:ext cx="1654" cy="339"/>
            </a:xfrm>
            <a:prstGeom prst="rect">
              <a:avLst/>
            </a:prstGeom>
            <a:noFill/>
          </p:spPr>
          <p:txBody>
            <a:bodyPr wrap="square" rtlCol="0" lIns="0" rIns="0" tIns="0" bIns="0" anchor="t">
              <a:noAutofit/>
            </a:bodyPr>
            <a:lstStyle/>
            <a:p>
              <a:pPr marL="0" marR="0" lvl="0" indent="0" algn="l"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Brand marketing</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sp>
        <p:nvSpPr>
          <p:cNvPr id="119" name="椭圆 118"/>
          <p:cNvSpPr/>
          <p:nvPr/>
        </p:nvSpPr>
        <p:spPr>
          <a:xfrm>
            <a:off x="8414059" y="1359366"/>
            <a:ext cx="687450" cy="687450"/>
          </a:xfrm>
          <a:prstGeom prst="ellipse">
            <a:avLst/>
          </a:prstGeom>
          <a:solidFill>
            <a:srgbClr val="B3D4FE"/>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20" name="文本框 119"/>
          <p:cNvSpPr txBox="1"/>
          <p:nvPr/>
        </p:nvSpPr>
        <p:spPr>
          <a:xfrm flipH="1">
            <a:off x="9277622" y="1660833"/>
            <a:ext cx="2016000" cy="344197"/>
          </a:xfrm>
          <a:prstGeom prst="rect">
            <a:avLst/>
          </a:prstGeom>
          <a:noFill/>
        </p:spPr>
        <p:txBody>
          <a:bodyPr wrap="square" lIns="0" tIns="0" rIns="0" bIns="0" rtlCol="0">
            <a:spAutoFit/>
          </a:bodyPr>
          <a:lstStyle/>
          <a:p>
            <a:pPr lvl="0">
              <a:lnSpc>
                <a:spcPct val="114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包括销售额、客流量等，找出销售业绩的增长点和下降点。</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21" name="文本框 120"/>
          <p:cNvSpPr txBox="1"/>
          <p:nvPr/>
        </p:nvSpPr>
        <p:spPr>
          <a:xfrm flipH="1">
            <a:off x="9277622" y="1386931"/>
            <a:ext cx="1741933" cy="238125"/>
          </a:xfrm>
          <a:prstGeom prst="rect">
            <a:avLst/>
          </a:prstGeom>
          <a:noFill/>
        </p:spPr>
        <p:txBody>
          <a:bodyPr wrap="square" lIns="0" tIns="0" rIns="0" bIns="0" rtlCol="0">
            <a:spAutoFit/>
          </a:bodyPr>
          <a:lstStyle/>
          <a:p>
            <a:pPr lvl="0">
              <a:defRPr>
                <a:latin typeface="微软雅黑"/>
                <a:ea typeface="微软雅黑"/>
                <a:cs typeface="微软雅黑"/>
              </a:defRPr>
            </a:pPr>
            <a:r>
              <a:rPr lang="zh-CN" altLang="en-US" sz="1550" b="1" dirty="0">
                <a:solidFill>
                  <a:srgbClr val="383838"/>
                </a:solidFill>
                <a:latin typeface="微软雅黑"/>
                <a:ea typeface="微软雅黑"/>
                <a:cs typeface="微软雅黑"/>
                <a:sym typeface="微软雅黑"/>
              </a:rPr>
              <a:t>销售漏斗分析</a:t>
            </a:r>
            <a:endPar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23" name="椭圆 122"/>
          <p:cNvSpPr/>
          <p:nvPr/>
        </p:nvSpPr>
        <p:spPr>
          <a:xfrm>
            <a:off x="8924639" y="2271587"/>
            <a:ext cx="687450" cy="687450"/>
          </a:xfrm>
          <a:prstGeom prst="ellipse">
            <a:avLst/>
          </a:prstGeom>
          <a:solidFill>
            <a:srgbClr val="B3D4FE"/>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24" name="文本框 123"/>
          <p:cNvSpPr txBox="1"/>
          <p:nvPr/>
        </p:nvSpPr>
        <p:spPr>
          <a:xfrm flipH="1">
            <a:off x="9788202" y="2587602"/>
            <a:ext cx="2016000" cy="344197"/>
          </a:xfrm>
          <a:prstGeom prst="rect">
            <a:avLst/>
          </a:prstGeom>
          <a:noFill/>
        </p:spPr>
        <p:txBody>
          <a:bodyPr wrap="square" lIns="0" tIns="0" rIns="0" bIns="0" rtlCol="0">
            <a:spAutoFit/>
          </a:bodyPr>
          <a:lstStyle/>
          <a:p>
            <a:pPr lvl="0">
              <a:lnSpc>
                <a:spcPct val="114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通过客户调查、投诉分析等方式，了解客户在门店的购物体验。</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25" name="文本框 124"/>
          <p:cNvSpPr txBox="1"/>
          <p:nvPr/>
        </p:nvSpPr>
        <p:spPr>
          <a:xfrm flipH="1">
            <a:off x="9788202" y="2313700"/>
            <a:ext cx="1741933" cy="238125"/>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550" b="1" dirty="0">
                <a:solidFill>
                  <a:srgbClr val="383838"/>
                </a:solidFill>
                <a:latin typeface="微软雅黑"/>
                <a:ea typeface="微软雅黑"/>
                <a:cs typeface="微软雅黑"/>
                <a:sym typeface="微软雅黑"/>
              </a:rPr>
              <a:t>客户体验</a:t>
            </a:r>
            <a:endParaRPr lang="zh-CN" altLang="en-US" sz="1550" b="1" dirty="0">
              <a:solidFill>
                <a:srgbClr val="383838"/>
              </a:solidFill>
              <a:latin typeface="微软雅黑"/>
              <a:ea typeface="微软雅黑"/>
              <a:cs typeface="微软雅黑"/>
              <a:sym typeface="微软雅黑"/>
            </a:endParaRPr>
          </a:p>
        </p:txBody>
      </p:sp>
      <p:sp>
        <p:nvSpPr>
          <p:cNvPr id="127" name="椭圆 126"/>
          <p:cNvSpPr/>
          <p:nvPr/>
        </p:nvSpPr>
        <p:spPr>
          <a:xfrm>
            <a:off x="8924639" y="4557587"/>
            <a:ext cx="687450" cy="68745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28" name="文本框 127"/>
          <p:cNvSpPr txBox="1"/>
          <p:nvPr/>
        </p:nvSpPr>
        <p:spPr>
          <a:xfrm flipH="1">
            <a:off x="9788202" y="4873602"/>
            <a:ext cx="2016000" cy="349885"/>
          </a:xfrm>
          <a:prstGeom prst="rect">
            <a:avLst/>
          </a:prstGeom>
          <a:noFill/>
        </p:spPr>
        <p:txBody>
          <a:bodyPr wrap="square" lIns="0" tIns="0" rIns="0" bIns="0" rtlCol="0">
            <a:spAutoFit/>
          </a:bodyPr>
          <a:lstStyle/>
          <a:p>
            <a:pPr lvl="0" algn="l">
              <a:lnSpc>
                <a:spcPct val="114000"/>
              </a:lnSpc>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分析活动对销售的促进作用，以及活动成本和收益的关系。</a:t>
            </a:r>
            <a:endParaRPr lang="zh-CN" altLang="en-US" sz="1000" dirty="0">
              <a:solidFill>
                <a:srgbClr val="383838"/>
              </a:solidFill>
              <a:latin typeface="微软雅黑"/>
              <a:ea typeface="微软雅黑"/>
              <a:cs typeface="微软雅黑"/>
              <a:sym typeface="微软雅黑"/>
            </a:endParaRPr>
          </a:p>
        </p:txBody>
      </p:sp>
      <p:sp>
        <p:nvSpPr>
          <p:cNvPr id="129" name="文本框 128"/>
          <p:cNvSpPr txBox="1"/>
          <p:nvPr/>
        </p:nvSpPr>
        <p:spPr>
          <a:xfrm flipH="1">
            <a:off x="9788202" y="4599700"/>
            <a:ext cx="1741933" cy="238125"/>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550" b="1" dirty="0">
                <a:solidFill>
                  <a:srgbClr val="0042FF"/>
                </a:solidFill>
                <a:latin typeface="微软雅黑"/>
                <a:ea typeface="微软雅黑"/>
                <a:cs typeface="微软雅黑"/>
                <a:sym typeface="微软雅黑"/>
              </a:rPr>
              <a:t>促销活动评估</a:t>
            </a:r>
            <a:endParaRPr lang="zh-CN" altLang="en-US" sz="1550" b="1" dirty="0">
              <a:solidFill>
                <a:srgbClr val="0042FF"/>
              </a:solidFill>
              <a:latin typeface="微软雅黑"/>
              <a:ea typeface="微软雅黑"/>
              <a:cs typeface="微软雅黑"/>
              <a:sym typeface="微软雅黑"/>
            </a:endParaRPr>
          </a:p>
        </p:txBody>
      </p:sp>
      <p:sp>
        <p:nvSpPr>
          <p:cNvPr id="131" name="椭圆 130"/>
          <p:cNvSpPr/>
          <p:nvPr/>
        </p:nvSpPr>
        <p:spPr>
          <a:xfrm>
            <a:off x="8414059" y="5543439"/>
            <a:ext cx="687450" cy="68745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32" name="文本框 131"/>
          <p:cNvSpPr txBox="1"/>
          <p:nvPr/>
        </p:nvSpPr>
        <p:spPr>
          <a:xfrm flipH="1">
            <a:off x="9277622" y="5844906"/>
            <a:ext cx="2016000" cy="349885"/>
          </a:xfrm>
          <a:prstGeom prst="rect">
            <a:avLst/>
          </a:prstGeom>
          <a:noFill/>
        </p:spPr>
        <p:txBody>
          <a:bodyPr wrap="square" lIns="0" tIns="0" rIns="0" bIns="0" rtlCol="0">
            <a:spAutoFit/>
          </a:bodyPr>
          <a:lstStyle/>
          <a:p>
            <a:pPr lvl="0" algn="l">
              <a:lnSpc>
                <a:spcPct val="114000"/>
              </a:lnSpc>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检查门店的日常运营管理，包括商品陈列、库存管理等。</a:t>
            </a:r>
            <a:endParaRPr lang="zh-CN" altLang="en-US" sz="1000" dirty="0">
              <a:solidFill>
                <a:srgbClr val="383838"/>
              </a:solidFill>
              <a:latin typeface="微软雅黑"/>
              <a:ea typeface="微软雅黑"/>
              <a:cs typeface="微软雅黑"/>
              <a:sym typeface="微软雅黑"/>
            </a:endParaRPr>
          </a:p>
        </p:txBody>
      </p:sp>
      <p:sp>
        <p:nvSpPr>
          <p:cNvPr id="133" name="文本框 132"/>
          <p:cNvSpPr txBox="1"/>
          <p:nvPr/>
        </p:nvSpPr>
        <p:spPr>
          <a:xfrm flipH="1">
            <a:off x="9277622" y="5571004"/>
            <a:ext cx="1741933" cy="238125"/>
          </a:xfrm>
          <a:prstGeom prst="rect">
            <a:avLst/>
          </a:prstGeom>
          <a:noFill/>
        </p:spPr>
        <p:txBody>
          <a:bodyPr wrap="square" lIns="0" tIns="0" rIns="0" bIns="0" rtlCol="0">
            <a:spAutoFit/>
          </a:bodyPr>
          <a:lstStyle/>
          <a:p>
            <a:pPr lvl="0" algn="l">
              <a:buClrTx/>
              <a:buSzTx/>
              <a:buFontTx/>
              <a:defRPr>
                <a:latin typeface="微软雅黑"/>
                <a:ea typeface="微软雅黑"/>
                <a:cs typeface="微软雅黑"/>
              </a:defRPr>
            </a:pPr>
            <a:r>
              <a:rPr lang="zh-CN" altLang="en-US" sz="1550" b="1" dirty="0">
                <a:solidFill>
                  <a:srgbClr val="0042FF"/>
                </a:solidFill>
                <a:latin typeface="微软雅黑"/>
                <a:ea typeface="微软雅黑"/>
                <a:cs typeface="微软雅黑"/>
                <a:sym typeface="微软雅黑"/>
              </a:rPr>
              <a:t>门店运营管理</a:t>
            </a:r>
            <a:endParaRPr lang="zh-CN" altLang="en-US" sz="1550" b="1" dirty="0">
              <a:solidFill>
                <a:srgbClr val="0042FF"/>
              </a:solidFill>
              <a:latin typeface="微软雅黑"/>
              <a:ea typeface="微软雅黑"/>
              <a:cs typeface="微软雅黑"/>
              <a:sym typeface="微软雅黑"/>
            </a:endParaRPr>
          </a:p>
        </p:txBody>
      </p:sp>
      <p:sp>
        <p:nvSpPr>
          <p:cNvPr id="135" name="任意多边形: 形状 105"/>
          <p:cNvSpPr/>
          <p:nvPr/>
        </p:nvSpPr>
        <p:spPr>
          <a:xfrm>
            <a:off x="642920" y="3099692"/>
            <a:ext cx="1331374" cy="1331374"/>
          </a:xfrm>
          <a:custGeom>
            <a:avLst/>
            <a:gdLst>
              <a:gd name="connsiteX0" fmla="*/ 2286381 w 2286381"/>
              <a:gd name="connsiteY0" fmla="*/ 1143191 h 2286380"/>
              <a:gd name="connsiteX1" fmla="*/ 1143190 w 2286381"/>
              <a:gd name="connsiteY1" fmla="*/ 2286381 h 2286380"/>
              <a:gd name="connsiteX2" fmla="*/ -1 w 2286381"/>
              <a:gd name="connsiteY2" fmla="*/ 1143191 h 2286380"/>
              <a:gd name="connsiteX3" fmla="*/ 1143190 w 2286381"/>
              <a:gd name="connsiteY3" fmla="*/ 0 h 2286380"/>
              <a:gd name="connsiteX4" fmla="*/ 2286381 w 2286381"/>
              <a:gd name="connsiteY4" fmla="*/ 1143191 h 2286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381" h="2286380">
                <a:moveTo>
                  <a:pt x="2286381" y="1143191"/>
                </a:moveTo>
                <a:cubicBezTo>
                  <a:pt x="2286381" y="1774557"/>
                  <a:pt x="1774557" y="2286381"/>
                  <a:pt x="1143190" y="2286381"/>
                </a:cubicBezTo>
                <a:cubicBezTo>
                  <a:pt x="511823" y="2286381"/>
                  <a:pt x="-1" y="1774557"/>
                  <a:pt x="-1" y="1143191"/>
                </a:cubicBezTo>
                <a:cubicBezTo>
                  <a:pt x="-1" y="511824"/>
                  <a:pt x="511823" y="0"/>
                  <a:pt x="1143190" y="0"/>
                </a:cubicBezTo>
                <a:cubicBezTo>
                  <a:pt x="1774557" y="0"/>
                  <a:pt x="2286381" y="511824"/>
                  <a:pt x="2286381" y="1143191"/>
                </a:cubicBezTo>
                <a:close/>
              </a:path>
            </a:pathLst>
          </a:custGeom>
          <a:solidFill>
            <a:srgbClr val="0042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6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36" name="Object27"/>
          <p:cNvSpPr/>
          <p:nvPr/>
        </p:nvSpPr>
        <p:spPr>
          <a:xfrm>
            <a:off x="706270" y="3314288"/>
            <a:ext cx="1189342" cy="716280"/>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216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线上</a:t>
            </a:r>
            <a:endParaRPr kumimoji="0" lang="en-US" altLang="en-US" sz="216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7" name="文本框 136"/>
          <p:cNvSpPr txBox="1"/>
          <p:nvPr/>
        </p:nvSpPr>
        <p:spPr>
          <a:xfrm>
            <a:off x="800644" y="3819699"/>
            <a:ext cx="1050288" cy="215444"/>
          </a:xfrm>
          <a:prstGeom prst="rect">
            <a:avLst/>
          </a:prstGeom>
          <a:noFill/>
        </p:spPr>
        <p:txBody>
          <a:bodyPr wrap="square" rtlCol="0" lIns="0" rIns="0" tIns="0" bIns="0" anchor="t">
            <a:noAutofit/>
          </a:bodyPr>
          <a:lstStyle/>
          <a:p>
            <a:pPr marL="0" marR="0" lvl="0" indent="0" algn="l"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Brand marketing</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8" name="椭圆 137"/>
          <p:cNvSpPr/>
          <p:nvPr/>
        </p:nvSpPr>
        <p:spPr>
          <a:xfrm>
            <a:off x="3263612" y="1359366"/>
            <a:ext cx="687450" cy="687450"/>
          </a:xfrm>
          <a:prstGeom prst="ellipse">
            <a:avLst/>
          </a:prstGeom>
          <a:solidFill>
            <a:srgbClr val="B3D4FE"/>
          </a:solidFill>
          <a:ln w="12700" cap="flat" cmpd="sng" algn="ctr">
            <a:no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kern="0" noProof="0">
              <a:ln>
                <a:noFill/>
              </a:ln>
              <a:solidFill>
                <a:srgbClr val="383838"/>
              </a:solidFill>
              <a:effectLst/>
              <a:uLnTx/>
              <a:uFillTx/>
              <a:latin typeface="微软雅黑"/>
              <a:ea typeface="微软雅黑"/>
              <a:cs typeface="微软雅黑"/>
              <a:sym typeface="微软雅黑"/>
            </a:endParaRPr>
          </a:p>
        </p:txBody>
      </p:sp>
      <p:sp>
        <p:nvSpPr>
          <p:cNvPr id="139" name="文本框 138"/>
          <p:cNvSpPr txBox="1"/>
          <p:nvPr/>
        </p:nvSpPr>
        <p:spPr>
          <a:xfrm flipH="1">
            <a:off x="1105993" y="1660833"/>
            <a:ext cx="2016000" cy="349885"/>
          </a:xfrm>
          <a:prstGeom prst="rect">
            <a:avLst/>
          </a:prstGeom>
          <a:noFill/>
        </p:spPr>
        <p:txBody>
          <a:bodyPr wrap="square" lIns="0" tIns="0" rIns="0" bIns="0" rtlCol="0">
            <a:spAutoFit/>
          </a:bodyPr>
          <a:lstStyle/>
          <a:p>
            <a:pPr lvl="0" algn="r">
              <a:lnSpc>
                <a:spcPct val="114000"/>
              </a:lnSpc>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回顾线上业务的关键指标，分析数据的变化趋势和原因。</a:t>
            </a:r>
            <a:endParaRPr lang="zh-CN" altLang="en-US" sz="1000" dirty="0">
              <a:solidFill>
                <a:srgbClr val="383838"/>
              </a:solidFill>
              <a:latin typeface="微软雅黑"/>
              <a:ea typeface="微软雅黑"/>
              <a:cs typeface="微软雅黑"/>
              <a:sym typeface="微软雅黑"/>
            </a:endParaRPr>
          </a:p>
        </p:txBody>
      </p:sp>
      <p:sp>
        <p:nvSpPr>
          <p:cNvPr id="140" name="文本框 139"/>
          <p:cNvSpPr txBox="1"/>
          <p:nvPr/>
        </p:nvSpPr>
        <p:spPr>
          <a:xfrm flipH="1">
            <a:off x="1380060" y="1386931"/>
            <a:ext cx="1741933" cy="238125"/>
          </a:xfrm>
          <a:prstGeom prst="rect">
            <a:avLst/>
          </a:prstGeom>
          <a:noFill/>
        </p:spPr>
        <p:txBody>
          <a:bodyPr wrap="square" lIns="0" tIns="0" rIns="0" bIns="0" rtlCol="0">
            <a:spAutoFit/>
          </a:bodyPr>
          <a:lstStyle/>
          <a:p>
            <a:pPr lvl="0" algn="r">
              <a:buClrTx/>
              <a:buSzTx/>
              <a:buFontTx/>
              <a:defRPr>
                <a:latin typeface="微软雅黑"/>
                <a:ea typeface="微软雅黑"/>
                <a:cs typeface="微软雅黑"/>
              </a:defRPr>
            </a:pPr>
            <a:r>
              <a:rPr lang="zh-CN" altLang="en-US" sz="1550" b="1" dirty="0">
                <a:solidFill>
                  <a:srgbClr val="0042FF"/>
                </a:solidFill>
                <a:latin typeface="微软雅黑"/>
                <a:ea typeface="微软雅黑"/>
                <a:cs typeface="微软雅黑"/>
                <a:sym typeface="微软雅黑"/>
              </a:rPr>
              <a:t>指标分析</a:t>
            </a:r>
            <a:endParaRPr lang="zh-CN" altLang="en-US" sz="1550" b="1" dirty="0">
              <a:solidFill>
                <a:srgbClr val="0042FF"/>
              </a:solidFill>
              <a:latin typeface="微软雅黑"/>
              <a:ea typeface="微软雅黑"/>
              <a:cs typeface="微软雅黑"/>
              <a:sym typeface="微软雅黑"/>
            </a:endParaRPr>
          </a:p>
        </p:txBody>
      </p:sp>
      <p:sp>
        <p:nvSpPr>
          <p:cNvPr id="142" name="椭圆 141"/>
          <p:cNvSpPr/>
          <p:nvPr/>
        </p:nvSpPr>
        <p:spPr>
          <a:xfrm>
            <a:off x="2806585" y="2272418"/>
            <a:ext cx="687450" cy="687450"/>
          </a:xfrm>
          <a:prstGeom prst="ellipse">
            <a:avLst/>
          </a:prstGeom>
          <a:solidFill>
            <a:srgbClr val="B3D4FE"/>
          </a:solidFill>
          <a:ln w="12700" cap="flat" cmpd="sng" algn="ctr">
            <a:no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kern="0" noProof="0">
              <a:ln>
                <a:noFill/>
              </a:ln>
              <a:solidFill>
                <a:srgbClr val="383838"/>
              </a:solidFill>
              <a:effectLst/>
              <a:uLnTx/>
              <a:uFillTx/>
              <a:latin typeface="微软雅黑"/>
              <a:ea typeface="微软雅黑"/>
              <a:cs typeface="微软雅黑"/>
              <a:sym typeface="微软雅黑"/>
            </a:endParaRPr>
          </a:p>
        </p:txBody>
      </p:sp>
      <p:sp>
        <p:nvSpPr>
          <p:cNvPr id="144" name="文本框 143"/>
          <p:cNvSpPr txBox="1"/>
          <p:nvPr/>
        </p:nvSpPr>
        <p:spPr>
          <a:xfrm flipH="1">
            <a:off x="648966" y="2573885"/>
            <a:ext cx="2016000" cy="349885"/>
          </a:xfrm>
          <a:prstGeom prst="rect">
            <a:avLst/>
          </a:prstGeom>
          <a:noFill/>
        </p:spPr>
        <p:txBody>
          <a:bodyPr wrap="square" lIns="0" tIns="0" rIns="0" bIns="0" rtlCol="0">
            <a:spAutoFit/>
          </a:bodyPr>
          <a:lstStyle/>
          <a:p>
            <a:pPr lvl="0" algn="r">
              <a:lnSpc>
                <a:spcPct val="114000"/>
              </a:lnSpc>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收集用户的反馈和评价，了解用户对产品或服务的满意度。</a:t>
            </a:r>
            <a:endParaRPr lang="zh-CN" altLang="en-US" sz="1000" dirty="0">
              <a:solidFill>
                <a:srgbClr val="383838"/>
              </a:solidFill>
              <a:latin typeface="微软雅黑"/>
              <a:ea typeface="微软雅黑"/>
              <a:cs typeface="微软雅黑"/>
              <a:sym typeface="微软雅黑"/>
            </a:endParaRPr>
          </a:p>
        </p:txBody>
      </p:sp>
      <p:sp>
        <p:nvSpPr>
          <p:cNvPr id="145" name="文本框 144"/>
          <p:cNvSpPr txBox="1"/>
          <p:nvPr/>
        </p:nvSpPr>
        <p:spPr>
          <a:xfrm flipH="1">
            <a:off x="923033" y="2299983"/>
            <a:ext cx="1741933" cy="238125"/>
          </a:xfrm>
          <a:prstGeom prst="rect">
            <a:avLst/>
          </a:prstGeom>
          <a:noFill/>
        </p:spPr>
        <p:txBody>
          <a:bodyPr wrap="square" lIns="0" tIns="0" rIns="0" bIns="0" rtlCol="0">
            <a:spAutoFit/>
          </a:bodyPr>
          <a:lstStyle/>
          <a:p>
            <a:pPr lvl="0" algn="r">
              <a:buClrTx/>
              <a:buSzTx/>
              <a:buFontTx/>
              <a:defRPr>
                <a:latin typeface="微软雅黑"/>
                <a:ea typeface="微软雅黑"/>
                <a:cs typeface="微软雅黑"/>
              </a:defRPr>
            </a:pPr>
            <a:r>
              <a:rPr lang="zh-CN" altLang="en-US" sz="1550" b="1" dirty="0">
                <a:solidFill>
                  <a:srgbClr val="0042FF"/>
                </a:solidFill>
                <a:latin typeface="微软雅黑"/>
                <a:ea typeface="微软雅黑"/>
                <a:cs typeface="微软雅黑"/>
                <a:sym typeface="微软雅黑"/>
              </a:rPr>
              <a:t>用户反馈</a:t>
            </a:r>
            <a:endParaRPr lang="zh-CN" altLang="en-US" sz="1550" b="1" dirty="0">
              <a:solidFill>
                <a:srgbClr val="0042FF"/>
              </a:solidFill>
              <a:latin typeface="微软雅黑"/>
              <a:ea typeface="微软雅黑"/>
              <a:cs typeface="微软雅黑"/>
              <a:sym typeface="微软雅黑"/>
            </a:endParaRPr>
          </a:p>
        </p:txBody>
      </p:sp>
      <p:sp>
        <p:nvSpPr>
          <p:cNvPr id="147" name="椭圆 146"/>
          <p:cNvSpPr/>
          <p:nvPr/>
        </p:nvSpPr>
        <p:spPr>
          <a:xfrm>
            <a:off x="2806585" y="4557587"/>
            <a:ext cx="687450" cy="68745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48" name="文本框 147"/>
          <p:cNvSpPr txBox="1"/>
          <p:nvPr/>
        </p:nvSpPr>
        <p:spPr>
          <a:xfrm flipH="1">
            <a:off x="648966" y="4859054"/>
            <a:ext cx="2016000" cy="349885"/>
          </a:xfrm>
          <a:prstGeom prst="rect">
            <a:avLst/>
          </a:prstGeom>
          <a:noFill/>
        </p:spPr>
        <p:txBody>
          <a:bodyPr wrap="square" lIns="0" tIns="0" rIns="0" bIns="0" rtlCol="0">
            <a:spAutoFit/>
          </a:bodyPr>
          <a:lstStyle/>
          <a:p>
            <a:pPr lvl="0" algn="r">
              <a:lnSpc>
                <a:spcPct val="114000"/>
              </a:lnSpc>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包括广告投放、社交媒体推广等，分析哪些策略有效，哪些需要调整。</a:t>
            </a:r>
            <a:endParaRPr lang="zh-CN" altLang="en-US" sz="1000" dirty="0">
              <a:solidFill>
                <a:srgbClr val="383838"/>
              </a:solidFill>
              <a:latin typeface="微软雅黑"/>
              <a:ea typeface="微软雅黑"/>
              <a:cs typeface="微软雅黑"/>
              <a:sym typeface="微软雅黑"/>
            </a:endParaRPr>
          </a:p>
        </p:txBody>
      </p:sp>
      <p:sp>
        <p:nvSpPr>
          <p:cNvPr id="149" name="文本框 148"/>
          <p:cNvSpPr txBox="1"/>
          <p:nvPr/>
        </p:nvSpPr>
        <p:spPr>
          <a:xfrm flipH="1">
            <a:off x="923033" y="4585152"/>
            <a:ext cx="1741933" cy="238125"/>
          </a:xfrm>
          <a:prstGeom prst="rect">
            <a:avLst/>
          </a:prstGeom>
          <a:noFill/>
        </p:spPr>
        <p:txBody>
          <a:bodyPr wrap="square" lIns="0" tIns="0" rIns="0" bIns="0" rtlCol="0">
            <a:spAutoFit/>
          </a:bodyPr>
          <a:lstStyle/>
          <a:p>
            <a:pPr lvl="0" algn="r">
              <a:buClrTx/>
              <a:buSzTx/>
              <a:buFontTx/>
              <a:defRPr>
                <a:solidFill>
                  <a:srgbClr val="383838"/>
                </a:solidFill>
                <a:latin typeface="微软雅黑"/>
                <a:ea typeface="微软雅黑"/>
                <a:cs typeface="微软雅黑"/>
              </a:defRPr>
            </a:pPr>
            <a:r>
              <a:rPr lang="zh-CN" altLang="en-US" sz="1550" b="1" dirty="0">
                <a:solidFill>
                  <a:srgbClr val="383838"/>
                </a:solidFill>
                <a:latin typeface="微软雅黑"/>
                <a:ea typeface="微软雅黑"/>
                <a:cs typeface="微软雅黑"/>
                <a:sym typeface="微软雅黑"/>
              </a:rPr>
              <a:t>营销策略评估</a:t>
            </a:r>
            <a:endParaRPr lang="zh-CN" altLang="en-US" sz="1550" b="1" dirty="0">
              <a:solidFill>
                <a:srgbClr val="383838"/>
              </a:solidFill>
              <a:latin typeface="微软雅黑"/>
              <a:ea typeface="微软雅黑"/>
              <a:cs typeface="微软雅黑"/>
              <a:sym typeface="微软雅黑"/>
            </a:endParaRPr>
          </a:p>
        </p:txBody>
      </p:sp>
      <p:sp>
        <p:nvSpPr>
          <p:cNvPr id="151" name="椭圆 150"/>
          <p:cNvSpPr/>
          <p:nvPr/>
        </p:nvSpPr>
        <p:spPr>
          <a:xfrm>
            <a:off x="3263612" y="5543439"/>
            <a:ext cx="687450" cy="68745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52" name="文本框 151"/>
          <p:cNvSpPr txBox="1"/>
          <p:nvPr/>
        </p:nvSpPr>
        <p:spPr>
          <a:xfrm flipH="1">
            <a:off x="1105993" y="5844906"/>
            <a:ext cx="2016000" cy="349885"/>
          </a:xfrm>
          <a:prstGeom prst="rect">
            <a:avLst/>
          </a:prstGeom>
          <a:noFill/>
        </p:spPr>
        <p:txBody>
          <a:bodyPr wrap="square" lIns="0" tIns="0" rIns="0" bIns="0" rtlCol="0">
            <a:spAutoFit/>
          </a:bodyPr>
          <a:lstStyle/>
          <a:p>
            <a:pPr lvl="0" algn="r">
              <a:lnSpc>
                <a:spcPct val="114000"/>
              </a:lnSpc>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是否存在沟通不畅或工作流程不合理的地方。</a:t>
            </a:r>
            <a:endParaRPr lang="zh-CN" altLang="en-US" sz="1000" dirty="0">
              <a:solidFill>
                <a:srgbClr val="383838"/>
              </a:solidFill>
              <a:latin typeface="微软雅黑"/>
              <a:ea typeface="微软雅黑"/>
              <a:cs typeface="微软雅黑"/>
              <a:sym typeface="微软雅黑"/>
            </a:endParaRPr>
          </a:p>
        </p:txBody>
      </p:sp>
      <p:sp>
        <p:nvSpPr>
          <p:cNvPr id="153" name="文本框 152"/>
          <p:cNvSpPr txBox="1"/>
          <p:nvPr/>
        </p:nvSpPr>
        <p:spPr>
          <a:xfrm flipH="1">
            <a:off x="1380060" y="5571004"/>
            <a:ext cx="1741933" cy="238125"/>
          </a:xfrm>
          <a:prstGeom prst="rect">
            <a:avLst/>
          </a:prstGeom>
          <a:noFill/>
        </p:spPr>
        <p:txBody>
          <a:bodyPr wrap="square" lIns="0" tIns="0" rIns="0" bIns="0" rtlCol="0">
            <a:spAutoFit/>
          </a:bodyPr>
          <a:lstStyle/>
          <a:p>
            <a:pPr lvl="0" algn="r">
              <a:buClrTx/>
              <a:buSzTx/>
              <a:buFontTx/>
              <a:defRPr>
                <a:solidFill>
                  <a:srgbClr val="383838"/>
                </a:solidFill>
                <a:latin typeface="微软雅黑"/>
                <a:ea typeface="微软雅黑"/>
                <a:cs typeface="微软雅黑"/>
              </a:defRPr>
            </a:pPr>
            <a:r>
              <a:rPr lang="zh-CN" altLang="en-US" sz="1550" b="1" dirty="0">
                <a:solidFill>
                  <a:srgbClr val="383838"/>
                </a:solidFill>
                <a:latin typeface="微软雅黑"/>
                <a:ea typeface="微软雅黑"/>
                <a:cs typeface="微软雅黑"/>
                <a:sym typeface="微软雅黑"/>
              </a:rPr>
              <a:t>团队协作</a:t>
            </a:r>
            <a:endParaRPr lang="zh-CN" altLang="en-US" sz="1550" b="1" dirty="0">
              <a:solidFill>
                <a:srgbClr val="383838"/>
              </a:solidFill>
              <a:latin typeface="微软雅黑"/>
              <a:ea typeface="微软雅黑"/>
              <a:cs typeface="微软雅黑"/>
              <a:sym typeface="微软雅黑"/>
            </a:endParaRPr>
          </a:p>
        </p:txBody>
      </p:sp>
      <p:sp>
        <p:nvSpPr>
          <p:cNvPr id="155" name="文本框 154"/>
          <p:cNvSpPr txBox="1"/>
          <p:nvPr/>
        </p:nvSpPr>
        <p:spPr>
          <a:xfrm>
            <a:off x="4841013" y="1671601"/>
            <a:ext cx="2814823" cy="1358042"/>
          </a:xfrm>
          <a:prstGeom prst="rect">
            <a:avLst/>
          </a:prstGeom>
          <a:noFill/>
          <a:effectLst/>
        </p:spPr>
        <p:txBody>
          <a:bodyPr wrap="square" lIns="0" tIns="0" rIns="0" bIns="0" rtlCol="0">
            <a:prstTxWarp prst="textArchUp">
              <a:avLst/>
            </a:prstTxWarp>
            <a:noAutofit/>
          </a:bodyPr>
          <a:lstStyle/>
          <a:p>
            <a:pPr lvl="0" algn="ctr">
              <a:lnSpc>
                <a:spcPct val="120000"/>
              </a:lnSpc>
              <a:defRPr>
                <a:latin typeface="微软雅黑"/>
                <a:ea typeface="微软雅黑"/>
                <a:cs typeface="微软雅黑"/>
              </a:defRPr>
            </a:pPr>
            <a:r>
              <a:rPr lang="zh-CN" altLang="en-US" sz="1300" dirty="0">
                <a:solidFill>
                  <a:srgbClr val="383838"/>
                </a:solidFill>
                <a:latin typeface="微软雅黑"/>
                <a:ea typeface="微软雅黑"/>
                <a:cs typeface="微软雅黑"/>
                <a:sym typeface="微软雅黑"/>
              </a:rPr>
              <a:t>提供无缝的数字化服务和产品</a:t>
            </a:r>
            <a:endPar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56" name="文本框 155"/>
          <p:cNvSpPr txBox="1"/>
          <p:nvPr/>
        </p:nvSpPr>
        <p:spPr>
          <a:xfrm>
            <a:off x="4857055" y="4501920"/>
            <a:ext cx="2724236" cy="1370859"/>
          </a:xfrm>
          <a:prstGeom prst="rect">
            <a:avLst/>
          </a:prstGeom>
          <a:noFill/>
          <a:effectLst/>
        </p:spPr>
        <p:txBody>
          <a:bodyPr wrap="square" lIns="0" tIns="0" rIns="0" bIns="0" rtlCol="0">
            <a:prstTxWarp prst="textArchDown">
              <a:avLst/>
            </a:prstTxWarp>
            <a:noAutofit/>
          </a:bodyPr>
          <a:lstStyle/>
          <a:p>
            <a:pPr lvl="0" algn="ctr">
              <a:lnSpc>
                <a:spcPct val="120000"/>
              </a:lnSpc>
              <a:defRPr>
                <a:solidFill>
                  <a:srgbClr val="383838"/>
                </a:solidFill>
                <a:latin typeface="微软雅黑"/>
                <a:ea typeface="微软雅黑"/>
                <a:cs typeface="微软雅黑"/>
              </a:defRPr>
            </a:pPr>
            <a:r>
              <a:rPr lang="zh-CN" altLang="en-US" sz="1300" dirty="0">
                <a:solidFill>
                  <a:srgbClr val="383838"/>
                </a:solidFill>
                <a:latin typeface="微软雅黑"/>
                <a:ea typeface="微软雅黑"/>
                <a:cs typeface="微软雅黑"/>
                <a:sym typeface="微软雅黑"/>
              </a:rPr>
              <a:t>提供直接的人际交互和产品体验</a:t>
            </a:r>
            <a:endPar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grpSp>
        <p:nvGrpSpPr>
          <p:cNvPr id="159" name="组合 158"/>
          <p:cNvGrpSpPr/>
          <p:nvPr/>
        </p:nvGrpSpPr>
        <p:grpSpPr>
          <a:xfrm>
            <a:off x="6358255" y="3971290"/>
            <a:ext cx="1067435" cy="275590"/>
            <a:chOff x="8103" y="6255"/>
            <a:chExt cx="1681" cy="434"/>
          </a:xfrm>
        </p:grpSpPr>
        <p:sp>
          <p:nvSpPr>
            <p:cNvPr id="160" name="圆角矩形 159"/>
            <p:cNvSpPr/>
            <p:nvPr/>
          </p:nvSpPr>
          <p:spPr>
            <a:xfrm>
              <a:off x="8103" y="6255"/>
              <a:ext cx="1681" cy="434"/>
            </a:xfrm>
            <a:prstGeom prst="round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61" name="文本框 160"/>
            <p:cNvSpPr txBox="1"/>
            <p:nvPr/>
          </p:nvSpPr>
          <p:spPr>
            <a:xfrm flipH="1">
              <a:off x="8145" y="6326"/>
              <a:ext cx="1599" cy="290"/>
            </a:xfrm>
            <a:prstGeom prst="rect">
              <a:avLst/>
            </a:prstGeom>
            <a:noFill/>
          </p:spPr>
          <p:txBody>
            <a:bodyPr wrap="square" lIns="0" tIns="0" rIns="0" bIns="0" rtlCol="0">
              <a:spAutoFit/>
            </a:bodyPr>
            <a:lstStyle/>
            <a:p>
              <a:pPr lvl="0" algn="ctr">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无缝用户体验</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grpSp>
      <p:grpSp>
        <p:nvGrpSpPr>
          <p:cNvPr id="162" name="组合 161"/>
          <p:cNvGrpSpPr/>
          <p:nvPr/>
        </p:nvGrpSpPr>
        <p:grpSpPr>
          <a:xfrm>
            <a:off x="5671820" y="4373880"/>
            <a:ext cx="1067435" cy="275590"/>
            <a:chOff x="8103" y="6255"/>
            <a:chExt cx="1681" cy="434"/>
          </a:xfrm>
        </p:grpSpPr>
        <p:sp>
          <p:nvSpPr>
            <p:cNvPr id="163" name="圆角矩形 162"/>
            <p:cNvSpPr/>
            <p:nvPr/>
          </p:nvSpPr>
          <p:spPr>
            <a:xfrm>
              <a:off x="8103" y="6255"/>
              <a:ext cx="1681" cy="434"/>
            </a:xfrm>
            <a:prstGeom prst="roundRect">
              <a:avLst/>
            </a:prstGeom>
            <a:solidFill>
              <a:srgbClr val="FFFFFF"/>
            </a:solidFill>
            <a:ln w="127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64" name="文本框 163"/>
            <p:cNvSpPr txBox="1"/>
            <p:nvPr/>
          </p:nvSpPr>
          <p:spPr>
            <a:xfrm flipH="1">
              <a:off x="8145" y="6326"/>
              <a:ext cx="1599" cy="290"/>
            </a:xfrm>
            <a:prstGeom prst="rect">
              <a:avLst/>
            </a:prstGeom>
            <a:noFill/>
          </p:spPr>
          <p:txBody>
            <a:bodyPr wrap="square" lIns="0" tIns="0" rIns="0" bIns="0" rtlCol="0">
              <a:spAutoFit/>
            </a:bodyPr>
            <a:lstStyle/>
            <a:p>
              <a:pPr lvl="0" algn="ctr">
                <a:defRPr>
                  <a:latin typeface="微软雅黑"/>
                  <a:ea typeface="微软雅黑"/>
                  <a:cs typeface="微软雅黑"/>
                </a:defRPr>
              </a:pPr>
              <a:r>
                <a:rPr lang="zh-CN" altLang="en-US" sz="1200" dirty="0">
                  <a:solidFill>
                    <a:srgbClr val="0042FF"/>
                  </a:solidFill>
                  <a:latin typeface="微软雅黑"/>
                  <a:ea typeface="微软雅黑"/>
                  <a:cs typeface="微软雅黑"/>
                  <a:sym typeface="微软雅黑"/>
                </a:rPr>
                <a:t>线上线下互补</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grpSp>
      <p:pic>
        <p:nvPicPr>
          <p:cNvPr id="165" name="图片 164" descr="store"/>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595360" y="5728335"/>
            <a:ext cx="340995" cy="323215"/>
          </a:xfrm>
          <a:prstGeom prst="rect">
            <a:avLst/>
          </a:prstGeom>
        </p:spPr>
      </p:pic>
      <p:pic>
        <p:nvPicPr>
          <p:cNvPr id="167" name="图片 166" descr="营销"/>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422870" y="1498304"/>
            <a:ext cx="368935" cy="368935"/>
          </a:xfrm>
          <a:prstGeom prst="rect">
            <a:avLst/>
          </a:prstGeom>
        </p:spPr>
      </p:pic>
      <p:pic>
        <p:nvPicPr>
          <p:cNvPr id="168" name="图片 167" descr="营销 (1)"/>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898140" y="4640580"/>
            <a:ext cx="495300" cy="495300"/>
          </a:xfrm>
          <a:prstGeom prst="rect">
            <a:avLst/>
          </a:prstGeom>
        </p:spPr>
      </p:pic>
      <p:pic>
        <p:nvPicPr>
          <p:cNvPr id="169" name="图片 168" descr="团队5"/>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443605" y="5706110"/>
            <a:ext cx="343535" cy="343535"/>
          </a:xfrm>
          <a:prstGeom prst="rect">
            <a:avLst/>
          </a:prstGeom>
        </p:spPr>
      </p:pic>
      <p:pic>
        <p:nvPicPr>
          <p:cNvPr id="170" name="图片 169" descr="销售"/>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595360" y="1520825"/>
            <a:ext cx="351790" cy="346710"/>
          </a:xfrm>
          <a:prstGeom prst="rect">
            <a:avLst/>
          </a:prstGeom>
        </p:spPr>
      </p:pic>
      <p:pic>
        <p:nvPicPr>
          <p:cNvPr id="172" name="图片 171" descr="体验金"/>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061450" y="4747895"/>
            <a:ext cx="424815" cy="298450"/>
          </a:xfrm>
          <a:prstGeom prst="rect">
            <a:avLst/>
          </a:prstGeom>
        </p:spPr>
      </p:pic>
      <p:pic>
        <p:nvPicPr>
          <p:cNvPr id="173" name="图片 172" descr="体验-亮"/>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069070" y="2379345"/>
            <a:ext cx="437515" cy="437515"/>
          </a:xfrm>
          <a:prstGeom prst="rect">
            <a:avLst/>
          </a:prstGeom>
        </p:spPr>
      </p:pic>
      <p:pic>
        <p:nvPicPr>
          <p:cNvPr id="174" name="图片 173" descr="用户反馈"/>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2971800" y="2419350"/>
            <a:ext cx="357505" cy="357505"/>
          </a:xfrm>
          <a:prstGeom prst="rect">
            <a:avLst/>
          </a:prstGeom>
        </p:spPr>
      </p:pic>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9"/>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客户业务管理三环运营</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79" name="组合 78"/>
          <p:cNvGrpSpPr/>
          <p:nvPr/>
        </p:nvGrpSpPr>
        <p:grpSpPr>
          <a:xfrm>
            <a:off x="3534410" y="1277620"/>
            <a:ext cx="5215255" cy="5215255"/>
            <a:chOff x="1746" y="1847"/>
            <a:chExt cx="8213" cy="8213"/>
          </a:xfrm>
        </p:grpSpPr>
        <p:grpSp>
          <p:nvGrpSpPr>
            <p:cNvPr id="36" name="组合 35"/>
            <p:cNvGrpSpPr/>
            <p:nvPr/>
          </p:nvGrpSpPr>
          <p:grpSpPr>
            <a:xfrm>
              <a:off x="2167" y="2172"/>
              <a:ext cx="7371" cy="7371"/>
              <a:chOff x="4783" y="1898"/>
              <a:chExt cx="8293" cy="8293"/>
            </a:xfrm>
          </p:grpSpPr>
          <p:grpSp>
            <p:nvGrpSpPr>
              <p:cNvPr id="2" name="组合 1"/>
              <p:cNvGrpSpPr/>
              <p:nvPr/>
            </p:nvGrpSpPr>
            <p:grpSpPr>
              <a:xfrm>
                <a:off x="6163" y="3162"/>
                <a:ext cx="5534" cy="5568"/>
                <a:chOff x="6548" y="3641"/>
                <a:chExt cx="6077" cy="6065"/>
              </a:xfrm>
            </p:grpSpPr>
            <p:sp>
              <p:nvSpPr>
                <p:cNvPr id="11" name="任意形状 10"/>
                <p:cNvSpPr/>
                <p:nvPr/>
              </p:nvSpPr>
              <p:spPr>
                <a:xfrm>
                  <a:off x="9069" y="3658"/>
                  <a:ext cx="3556" cy="4742"/>
                </a:xfrm>
                <a:custGeom>
                  <a:avLst/>
                  <a:gdLst>
                    <a:gd name="connsiteX0" fmla="*/ 4101 w 2257956"/>
                    <a:gd name="connsiteY0" fmla="*/ 442976 h 3011049"/>
                    <a:gd name="connsiteX1" fmla="*/ 443795 w 2257956"/>
                    <a:gd name="connsiteY1" fmla="*/ 1009572 h 3011049"/>
                    <a:gd name="connsiteX2" fmla="*/ 840569 w 2257956"/>
                    <a:gd name="connsiteY2" fmla="*/ 1158856 h 3011049"/>
                    <a:gd name="connsiteX3" fmla="*/ 1127136 w 2257956"/>
                    <a:gd name="connsiteY3" fmla="*/ 1470817 h 3011049"/>
                    <a:gd name="connsiteX4" fmla="*/ 1241803 w 2257956"/>
                    <a:gd name="connsiteY4" fmla="*/ 1878286 h 3011049"/>
                    <a:gd name="connsiteX5" fmla="*/ 1159890 w 2257956"/>
                    <a:gd name="connsiteY5" fmla="*/ 2293560 h 3011049"/>
                    <a:gd name="connsiteX6" fmla="*/ 1410720 w 2257956"/>
                    <a:gd name="connsiteY6" fmla="*/ 2965100 h 3011049"/>
                    <a:gd name="connsiteX7" fmla="*/ 2083500 w 2257956"/>
                    <a:gd name="connsiteY7" fmla="*/ 2714732 h 3011049"/>
                    <a:gd name="connsiteX8" fmla="*/ 2256435 w 2257956"/>
                    <a:gd name="connsiteY8" fmla="*/ 1838048 h 3011049"/>
                    <a:gd name="connsiteX9" fmla="*/ 2014362 w 2257956"/>
                    <a:gd name="connsiteY9" fmla="*/ 977822 h 3011049"/>
                    <a:gd name="connsiteX10" fmla="*/ 1409381 w 2257956"/>
                    <a:gd name="connsiteY10" fmla="*/ 319247 h 3011049"/>
                    <a:gd name="connsiteX11" fmla="*/ 571746 w 2257956"/>
                    <a:gd name="connsiteY11" fmla="*/ 4094 h 3011049"/>
                    <a:gd name="connsiteX12" fmla="*/ 4101 w 2257956"/>
                    <a:gd name="connsiteY12" fmla="*/ 442976 h 3011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7956" h="3011049">
                      <a:moveTo>
                        <a:pt x="4101" y="442976"/>
                      </a:moveTo>
                      <a:cubicBezTo>
                        <a:pt x="-31230" y="720632"/>
                        <a:pt x="165624" y="974306"/>
                        <a:pt x="443795" y="1009572"/>
                      </a:cubicBezTo>
                      <a:cubicBezTo>
                        <a:pt x="585949" y="1027594"/>
                        <a:pt x="721865" y="1078734"/>
                        <a:pt x="840569" y="1158856"/>
                      </a:cubicBezTo>
                      <a:cubicBezTo>
                        <a:pt x="959273" y="1238978"/>
                        <a:pt x="1057439" y="1345839"/>
                        <a:pt x="1127136" y="1470817"/>
                      </a:cubicBezTo>
                      <a:cubicBezTo>
                        <a:pt x="1196839" y="1595789"/>
                        <a:pt x="1236117" y="1735368"/>
                        <a:pt x="1241803" y="1878286"/>
                      </a:cubicBezTo>
                      <a:cubicBezTo>
                        <a:pt x="1247496" y="2021211"/>
                        <a:pt x="1219432" y="2163464"/>
                        <a:pt x="1159890" y="2293560"/>
                      </a:cubicBezTo>
                      <a:cubicBezTo>
                        <a:pt x="1043369" y="2548141"/>
                        <a:pt x="1155670" y="2848800"/>
                        <a:pt x="1410720" y="2965100"/>
                      </a:cubicBezTo>
                      <a:cubicBezTo>
                        <a:pt x="1665765" y="3081405"/>
                        <a:pt x="1966980" y="2969312"/>
                        <a:pt x="2083500" y="2714732"/>
                      </a:cubicBezTo>
                      <a:cubicBezTo>
                        <a:pt x="2209204" y="2440076"/>
                        <a:pt x="2268449" y="2139772"/>
                        <a:pt x="2256435" y="1838048"/>
                      </a:cubicBezTo>
                      <a:cubicBezTo>
                        <a:pt x="2244427" y="1536331"/>
                        <a:pt x="2161505" y="1241658"/>
                        <a:pt x="2014362" y="977822"/>
                      </a:cubicBezTo>
                      <a:cubicBezTo>
                        <a:pt x="1867220" y="713993"/>
                        <a:pt x="1659983" y="488394"/>
                        <a:pt x="1409381" y="319247"/>
                      </a:cubicBezTo>
                      <a:cubicBezTo>
                        <a:pt x="1158786" y="150099"/>
                        <a:pt x="871850" y="42143"/>
                        <a:pt x="571746" y="4094"/>
                      </a:cubicBezTo>
                      <a:cubicBezTo>
                        <a:pt x="293575" y="-31174"/>
                        <a:pt x="39438" y="165321"/>
                        <a:pt x="4101" y="442976"/>
                      </a:cubicBezTo>
                      <a:close/>
                    </a:path>
                  </a:pathLst>
                </a:custGeom>
                <a:gradFill flip="none" rotWithShape="1">
                  <a:gsLst>
                    <a:gs pos="0">
                      <a:srgbClr val="3368FF"/>
                    </a:gs>
                    <a:gs pos="79000">
                      <a:srgbClr val="3368FF">
                        <a:alpha val="0"/>
                      </a:srgbClr>
                    </a:gs>
                  </a:gsLst>
                  <a:lin ang="13500000" scaled="1"/>
                  <a:tileRect/>
                </a:gradFill>
                <a:ln w="25400" cap="flat">
                  <a:gradFill>
                    <a:gsLst>
                      <a:gs pos="0">
                        <a:srgbClr val="FFFFFF"/>
                      </a:gs>
                      <a:gs pos="90000">
                        <a:srgbClr val="FFFFFF">
                          <a:alpha val="0"/>
                        </a:srgbClr>
                      </a:gs>
                    </a:gsLst>
                    <a:lin ang="13500000" scaled="0"/>
                  </a:gradFill>
                  <a:prstDash val="solid"/>
                  <a:miter/>
                </a:ln>
                <a:effectLst>
                  <a:outerShdw blurRad="254000" dist="190500" dir="5400000" algn="t" rotWithShape="0">
                    <a:srgbClr val="668EFF">
                      <a:alpha val="20000"/>
                    </a:srgbClr>
                  </a:outerShdw>
                </a:effectLst>
              </p:spPr>
              <p:txBody>
                <a:bodyPr rtlCol="0" anchor="ctr" lIns="0" rIns="0" tIns="0" bIns="0"/>
                <a:lstStyle/>
                <a:p>
                  <a:pPr>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14" name="任意形状 13"/>
                <p:cNvSpPr/>
                <p:nvPr/>
              </p:nvSpPr>
              <p:spPr>
                <a:xfrm>
                  <a:off x="6548" y="3641"/>
                  <a:ext cx="4052" cy="5057"/>
                </a:xfrm>
                <a:custGeom>
                  <a:avLst/>
                  <a:gdLst>
                    <a:gd name="connsiteX0" fmla="*/ 2114017 w 2573163"/>
                    <a:gd name="connsiteY0" fmla="*/ 8846 h 3211110"/>
                    <a:gd name="connsiteX1" fmla="*/ 1062487 w 2573163"/>
                    <a:gd name="connsiteY1" fmla="*/ 205317 h 3211110"/>
                    <a:gd name="connsiteX2" fmla="*/ 277477 w 2573163"/>
                    <a:gd name="connsiteY2" fmla="*/ 930757 h 3211110"/>
                    <a:gd name="connsiteX3" fmla="*/ 344 w 2573163"/>
                    <a:gd name="connsiteY3" fmla="*/ 1962129 h 3211110"/>
                    <a:gd name="connsiteX4" fmla="*/ 316297 w 2573163"/>
                    <a:gd name="connsiteY4" fmla="*/ 2982313 h 3211110"/>
                    <a:gd name="connsiteX5" fmla="*/ 1019332 w 2573163"/>
                    <a:gd name="connsiteY5" fmla="*/ 3127968 h 3211110"/>
                    <a:gd name="connsiteX6" fmla="*/ 1165255 w 2573163"/>
                    <a:gd name="connsiteY6" fmla="*/ 2426237 h 3211110"/>
                    <a:gd name="connsiteX7" fmla="*/ 1015594 w 2573163"/>
                    <a:gd name="connsiteY7" fmla="*/ 1942985 h 3211110"/>
                    <a:gd name="connsiteX8" fmla="*/ 1146870 w 2573163"/>
                    <a:gd name="connsiteY8" fmla="*/ 1454444 h 3211110"/>
                    <a:gd name="connsiteX9" fmla="*/ 1518714 w 2573163"/>
                    <a:gd name="connsiteY9" fmla="*/ 1110816 h 3211110"/>
                    <a:gd name="connsiteX10" fmla="*/ 2016808 w 2573163"/>
                    <a:gd name="connsiteY10" fmla="*/ 1017752 h 3211110"/>
                    <a:gd name="connsiteX11" fmla="*/ 2570796 w 2573163"/>
                    <a:gd name="connsiteY11" fmla="*/ 561813 h 3211110"/>
                    <a:gd name="connsiteX12" fmla="*/ 2114017 w 2573163"/>
                    <a:gd name="connsiteY12" fmla="*/ 8846 h 321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3163" h="3211110">
                      <a:moveTo>
                        <a:pt x="2114017" y="8846"/>
                      </a:moveTo>
                      <a:cubicBezTo>
                        <a:pt x="1751965" y="-25910"/>
                        <a:pt x="1387438" y="42199"/>
                        <a:pt x="1062487" y="205317"/>
                      </a:cubicBezTo>
                      <a:cubicBezTo>
                        <a:pt x="737543" y="368436"/>
                        <a:pt x="465408" y="619919"/>
                        <a:pt x="277477" y="930757"/>
                      </a:cubicBezTo>
                      <a:cubicBezTo>
                        <a:pt x="89547" y="1241603"/>
                        <a:pt x="-6524" y="1599135"/>
                        <a:pt x="344" y="1962129"/>
                      </a:cubicBezTo>
                      <a:cubicBezTo>
                        <a:pt x="7213" y="2325122"/>
                        <a:pt x="116742" y="2678778"/>
                        <a:pt x="316297" y="2982313"/>
                      </a:cubicBezTo>
                      <a:cubicBezTo>
                        <a:pt x="470138" y="3216319"/>
                        <a:pt x="784894" y="3281528"/>
                        <a:pt x="1019332" y="3127968"/>
                      </a:cubicBezTo>
                      <a:cubicBezTo>
                        <a:pt x="1253763" y="2974414"/>
                        <a:pt x="1319099" y="2660236"/>
                        <a:pt x="1165255" y="2426237"/>
                      </a:cubicBezTo>
                      <a:cubicBezTo>
                        <a:pt x="1070731" y="2282451"/>
                        <a:pt x="1018849" y="2114929"/>
                        <a:pt x="1015594" y="1942985"/>
                      </a:cubicBezTo>
                      <a:cubicBezTo>
                        <a:pt x="1012338" y="1771048"/>
                        <a:pt x="1057848" y="1601688"/>
                        <a:pt x="1146870" y="1454444"/>
                      </a:cubicBezTo>
                      <a:cubicBezTo>
                        <a:pt x="1235885" y="1307205"/>
                        <a:pt x="1364794" y="1188081"/>
                        <a:pt x="1518714" y="1110816"/>
                      </a:cubicBezTo>
                      <a:cubicBezTo>
                        <a:pt x="1672641" y="1033551"/>
                        <a:pt x="1845308" y="1001288"/>
                        <a:pt x="2016808" y="1017752"/>
                      </a:cubicBezTo>
                      <a:cubicBezTo>
                        <a:pt x="2295925" y="1044542"/>
                        <a:pt x="2543950" y="840411"/>
                        <a:pt x="2570796" y="561813"/>
                      </a:cubicBezTo>
                      <a:cubicBezTo>
                        <a:pt x="2597641" y="283212"/>
                        <a:pt x="2393133" y="35640"/>
                        <a:pt x="2114017" y="8846"/>
                      </a:cubicBezTo>
                      <a:close/>
                    </a:path>
                  </a:pathLst>
                </a:custGeom>
                <a:gradFill flip="none" rotWithShape="1">
                  <a:gsLst>
                    <a:gs pos="0">
                      <a:srgbClr val="B3D4FE"/>
                    </a:gs>
                    <a:gs pos="80000">
                      <a:srgbClr val="B3D4FE">
                        <a:alpha val="0"/>
                      </a:srgbClr>
                    </a:gs>
                  </a:gsLst>
                  <a:lin ang="8100000" scaled="1"/>
                  <a:tileRect/>
                </a:gradFill>
                <a:ln w="25400" cap="flat">
                  <a:gradFill>
                    <a:gsLst>
                      <a:gs pos="0">
                        <a:srgbClr val="FFFFFF"/>
                      </a:gs>
                      <a:gs pos="80000">
                        <a:srgbClr val="FFFFFF">
                          <a:alpha val="0"/>
                        </a:srgbClr>
                      </a:gs>
                    </a:gsLst>
                    <a:lin ang="8100000" scaled="0"/>
                  </a:gradFill>
                  <a:prstDash val="solid"/>
                  <a:miter/>
                </a:ln>
                <a:effectLst>
                  <a:outerShdw blurRad="254000" dist="190500" dir="5400000" algn="t" rotWithShape="0">
                    <a:srgbClr val="3368FF">
                      <a:alpha val="20000"/>
                    </a:srgbClr>
                  </a:outerShdw>
                </a:effectLst>
              </p:spPr>
              <p:txBody>
                <a:bodyPr rtlCol="0" anchor="ctr" lIns="0" rIns="0" tIns="0" bIns="0"/>
                <a:lstStyle/>
                <a:p>
                  <a:pPr>
                    <a:defRPr>
                      <a:latin typeface="微软雅黑"/>
                      <a:ea typeface="微软雅黑"/>
                      <a:cs typeface="微软雅黑"/>
                    </a:defRPr>
                  </a:pPr>
                  <a:endParaRPr lang="zh-CN" altLang="en-US" sz="1000">
                    <a:latin typeface="微软雅黑"/>
                    <a:ea typeface="微软雅黑"/>
                    <a:cs typeface="微软雅黑"/>
                  </a:endParaRPr>
                </a:p>
              </p:txBody>
            </p:sp>
            <p:sp>
              <p:nvSpPr>
                <p:cNvPr id="17" name="任意形状 16"/>
                <p:cNvSpPr/>
                <p:nvPr/>
              </p:nvSpPr>
              <p:spPr>
                <a:xfrm>
                  <a:off x="6948" y="7001"/>
                  <a:ext cx="5372" cy="2705"/>
                </a:xfrm>
                <a:custGeom>
                  <a:avLst/>
                  <a:gdLst>
                    <a:gd name="connsiteX0" fmla="*/ 3159384 w 3411413"/>
                    <a:gd name="connsiteY0" fmla="*/ 69086 h 1717793"/>
                    <a:gd name="connsiteX1" fmla="*/ 2465026 w 3411413"/>
                    <a:gd name="connsiteY1" fmla="*/ 251565 h 1717793"/>
                    <a:gd name="connsiteX2" fmla="*/ 2146327 w 3411413"/>
                    <a:gd name="connsiteY2" fmla="*/ 573902 h 1717793"/>
                    <a:gd name="connsiteX3" fmla="*/ 1711596 w 3411413"/>
                    <a:gd name="connsiteY3" fmla="*/ 703529 h 1717793"/>
                    <a:gd name="connsiteX4" fmla="*/ 1267986 w 3411413"/>
                    <a:gd name="connsiteY4" fmla="*/ 608489 h 1717793"/>
                    <a:gd name="connsiteX5" fmla="*/ 924833 w 3411413"/>
                    <a:gd name="connsiteY5" fmla="*/ 312214 h 1717793"/>
                    <a:gd name="connsiteX6" fmla="*/ 218239 w 3411413"/>
                    <a:gd name="connsiteY6" fmla="*/ 184892 h 1717793"/>
                    <a:gd name="connsiteX7" fmla="*/ 90685 w 3411413"/>
                    <a:gd name="connsiteY7" fmla="*/ 890189 h 1717793"/>
                    <a:gd name="connsiteX8" fmla="*/ 815110 w 3411413"/>
                    <a:gd name="connsiteY8" fmla="*/ 1515662 h 1717793"/>
                    <a:gd name="connsiteX9" fmla="*/ 1751623 w 3411413"/>
                    <a:gd name="connsiteY9" fmla="*/ 1716296 h 1717793"/>
                    <a:gd name="connsiteX10" fmla="*/ 2669388 w 3411413"/>
                    <a:gd name="connsiteY10" fmla="*/ 1442648 h 1717793"/>
                    <a:gd name="connsiteX11" fmla="*/ 3342200 w 3411413"/>
                    <a:gd name="connsiteY11" fmla="*/ 762157 h 1717793"/>
                    <a:gd name="connsiteX12" fmla="*/ 3159384 w 3411413"/>
                    <a:gd name="connsiteY12" fmla="*/ 69086 h 1717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1413" h="1717793">
                      <a:moveTo>
                        <a:pt x="3159384" y="69086"/>
                      </a:moveTo>
                      <a:cubicBezTo>
                        <a:pt x="2917160" y="-71912"/>
                        <a:pt x="2606285" y="9787"/>
                        <a:pt x="2465026" y="251565"/>
                      </a:cubicBezTo>
                      <a:cubicBezTo>
                        <a:pt x="2387631" y="384043"/>
                        <a:pt x="2278016" y="494907"/>
                        <a:pt x="2146327" y="573902"/>
                      </a:cubicBezTo>
                      <a:cubicBezTo>
                        <a:pt x="2014638" y="652902"/>
                        <a:pt x="1865116" y="697480"/>
                        <a:pt x="1711596" y="703529"/>
                      </a:cubicBezTo>
                      <a:cubicBezTo>
                        <a:pt x="1558075" y="709573"/>
                        <a:pt x="1405500" y="676886"/>
                        <a:pt x="1267986" y="608489"/>
                      </a:cubicBezTo>
                      <a:cubicBezTo>
                        <a:pt x="1130471" y="540093"/>
                        <a:pt x="1012452" y="438193"/>
                        <a:pt x="924833" y="312214"/>
                      </a:cubicBezTo>
                      <a:cubicBezTo>
                        <a:pt x="764935" y="82294"/>
                        <a:pt x="448584" y="25288"/>
                        <a:pt x="218239" y="184892"/>
                      </a:cubicBezTo>
                      <a:cubicBezTo>
                        <a:pt x="-12106" y="344495"/>
                        <a:pt x="-69213" y="660270"/>
                        <a:pt x="90685" y="890189"/>
                      </a:cubicBezTo>
                      <a:cubicBezTo>
                        <a:pt x="275647" y="1156146"/>
                        <a:pt x="524798" y="1371268"/>
                        <a:pt x="815110" y="1515662"/>
                      </a:cubicBezTo>
                      <a:cubicBezTo>
                        <a:pt x="1105421" y="1660056"/>
                        <a:pt x="1427516" y="1729060"/>
                        <a:pt x="1751623" y="1716296"/>
                      </a:cubicBezTo>
                      <a:cubicBezTo>
                        <a:pt x="2075723" y="1703538"/>
                        <a:pt x="2391376" y="1609416"/>
                        <a:pt x="2669388" y="1442648"/>
                      </a:cubicBezTo>
                      <a:cubicBezTo>
                        <a:pt x="2947400" y="1275873"/>
                        <a:pt x="3178804" y="1041836"/>
                        <a:pt x="3342200" y="762157"/>
                      </a:cubicBezTo>
                      <a:cubicBezTo>
                        <a:pt x="3483459" y="520379"/>
                        <a:pt x="3401609" y="210078"/>
                        <a:pt x="3159384" y="69086"/>
                      </a:cubicBezTo>
                      <a:close/>
                    </a:path>
                  </a:pathLst>
                </a:custGeom>
                <a:gradFill flip="none" rotWithShape="1">
                  <a:gsLst>
                    <a:gs pos="0">
                      <a:srgbClr val="3368FF"/>
                    </a:gs>
                    <a:gs pos="80000">
                      <a:srgbClr val="3368FF">
                        <a:alpha val="0"/>
                      </a:srgbClr>
                    </a:gs>
                  </a:gsLst>
                  <a:lin ang="0" scaled="1"/>
                  <a:tileRect/>
                </a:gradFill>
                <a:ln w="25400" cap="flat">
                  <a:gradFill>
                    <a:gsLst>
                      <a:gs pos="0">
                        <a:srgbClr val="FFFFFF"/>
                      </a:gs>
                      <a:gs pos="80000">
                        <a:srgbClr val="FFFFFF">
                          <a:alpha val="0"/>
                        </a:srgbClr>
                      </a:gs>
                    </a:gsLst>
                    <a:lin ang="0" scaled="0"/>
                  </a:gradFill>
                  <a:prstDash val="solid"/>
                  <a:miter/>
                </a:ln>
                <a:effectLst>
                  <a:outerShdw blurRad="254000" dist="190500" dir="5400000" algn="t" rotWithShape="0">
                    <a:srgbClr val="383838">
                      <a:alpha val="20000"/>
                    </a:srgbClr>
                  </a:outerShdw>
                </a:effectLst>
              </p:spPr>
              <p:txBody>
                <a:bodyPr rtlCol="0" anchor="ctr" lIns="0" rIns="0" tIns="0" bIns="0"/>
                <a:lstStyle/>
                <a:p>
                  <a:pPr>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25" name="文本框 24"/>
                <p:cNvSpPr txBox="1"/>
                <p:nvPr/>
              </p:nvSpPr>
              <p:spPr>
                <a:xfrm>
                  <a:off x="11141" y="6182"/>
                  <a:ext cx="1304" cy="413"/>
                </a:xfrm>
                <a:prstGeom prst="rect">
                  <a:avLst/>
                </a:prstGeom>
                <a:noFill/>
              </p:spPr>
              <p:txBody>
                <a:bodyPr wrap="square" rtlCol="0" lIns="0" rIns="0" tIns="0" bIns="0" anchor="t">
                  <a:noAutofit/>
                </a:bodyPr>
                <a:lstStyle/>
                <a:p>
                  <a:pPr lvl="0" algn="l">
                    <a:buClrTx/>
                    <a:buSzTx/>
                    <a:buFontTx/>
                    <a:defRPr>
                      <a:solidFill>
                        <a:srgbClr val="383838"/>
                      </a:solidFill>
                      <a:latin typeface="微软雅黑"/>
                      <a:ea typeface="微软雅黑"/>
                      <a:cs typeface="微软雅黑"/>
                    </a:defRPr>
                    <a:lnSpc>
                      <a:spcPts val="1120"/>
                    </a:lnSpc>
                    <a:spcBef>
                      <a:spcPts val="0"/>
                    </a:spcBef>
                    <a:spcAft>
                      <a:spcPts val="0"/>
                    </a:spcAft>
                  </a:pPr>
                  <a:r>
                    <a:rPr kumimoji="1" lang="en-US" altLang="zh-CN" sz="1000" dirty="0">
                      <a:solidFill>
                        <a:srgbClr val="383838"/>
                      </a:solidFill>
                      <a:latin typeface="微软雅黑"/>
                      <a:ea typeface="微软雅黑"/>
                      <a:cs typeface="微软雅黑"/>
                      <a:sym typeface="微软雅黑"/>
                    </a:rPr>
                    <a:t>BUSINESS</a:t>
                  </a:r>
                  <a:endParaRPr kumimoji="1" lang="en-US" altLang="zh-CN" sz="1000" dirty="0">
                    <a:solidFill>
                      <a:srgbClr val="383838"/>
                    </a:solidFill>
                    <a:latin typeface="微软雅黑"/>
                    <a:ea typeface="微软雅黑"/>
                    <a:cs typeface="微软雅黑"/>
                    <a:sym typeface="微软雅黑"/>
                  </a:endParaRPr>
                </a:p>
              </p:txBody>
            </p:sp>
            <p:sp>
              <p:nvSpPr>
                <p:cNvPr id="26" name="文本框 25"/>
                <p:cNvSpPr txBox="1"/>
                <p:nvPr/>
              </p:nvSpPr>
              <p:spPr>
                <a:xfrm>
                  <a:off x="11142" y="5596"/>
                  <a:ext cx="1380" cy="651"/>
                </a:xfrm>
                <a:prstGeom prst="rect">
                  <a:avLst/>
                </a:prstGeom>
                <a:noFill/>
              </p:spPr>
              <p:txBody>
                <a:bodyPr wrap="square" rtlCol="0">
                  <a:spAutoFit/>
                </a:bodyPr>
                <a:lstStyle/>
                <a:p>
                  <a:pPr lvl="0" algn="l">
                    <a:buClrTx/>
                    <a:buSzTx/>
                    <a:buFontTx/>
                    <a:defRPr>
                      <a:solidFill>
                        <a:srgbClr val="383838"/>
                      </a:solidFill>
                      <a:latin typeface="微软雅黑"/>
                      <a:ea typeface="微软雅黑"/>
                      <a:cs typeface="微软雅黑"/>
                    </a:defRPr>
                  </a:pPr>
                  <a:r>
                    <a:rPr kumimoji="1" lang="zh-CN" altLang="en-US" sz="1600" b="1" dirty="0">
                      <a:solidFill>
                        <a:srgbClr val="383838"/>
                      </a:solidFill>
                      <a:latin typeface="微软雅黑"/>
                      <a:ea typeface="微软雅黑"/>
                      <a:cs typeface="微软雅黑"/>
                      <a:sym typeface="微软雅黑"/>
                    </a:rPr>
                    <a:t>业务</a:t>
                  </a:r>
                  <a:endParaRPr kumimoji="1" lang="zh-CN" altLang="en-US" sz="1600" b="1" dirty="0">
                    <a:solidFill>
                      <a:srgbClr val="383838"/>
                    </a:solidFill>
                    <a:latin typeface="微软雅黑"/>
                    <a:ea typeface="微软雅黑"/>
                    <a:cs typeface="微软雅黑"/>
                    <a:sym typeface="微软雅黑"/>
                  </a:endParaRPr>
                </a:p>
              </p:txBody>
            </p:sp>
            <p:sp>
              <p:nvSpPr>
                <p:cNvPr id="29" name="文本框 28"/>
                <p:cNvSpPr txBox="1"/>
                <p:nvPr/>
              </p:nvSpPr>
              <p:spPr>
                <a:xfrm>
                  <a:off x="8914" y="8880"/>
                  <a:ext cx="1100" cy="403"/>
                </a:xfrm>
                <a:prstGeom prst="rect">
                  <a:avLst/>
                </a:prstGeom>
                <a:noFill/>
              </p:spPr>
              <p:txBody>
                <a:bodyPr wrap="square" rtlCol="0" lIns="0" rIns="0" tIns="0" bIns="0" anchor="t">
                  <a:noAutofit/>
                </a:bodyPr>
                <a:lstStyle/>
                <a:p>
                  <a:pPr lvl="0" algn="l">
                    <a:buClrTx/>
                    <a:buSzTx/>
                    <a:buFontTx/>
                    <a:defRPr>
                      <a:solidFill>
                        <a:srgbClr val="383838"/>
                      </a:solidFill>
                      <a:latin typeface="微软雅黑"/>
                      <a:ea typeface="微软雅黑"/>
                      <a:cs typeface="微软雅黑"/>
                    </a:defRPr>
                    <a:lnSpc>
                      <a:spcPts val="1120"/>
                    </a:lnSpc>
                    <a:spcBef>
                      <a:spcPts val="0"/>
                    </a:spcBef>
                    <a:spcAft>
                      <a:spcPts val="0"/>
                    </a:spcAft>
                  </a:pPr>
                  <a:r>
                    <a:rPr kumimoji="1" lang="en-US" altLang="zh-CN" sz="1000" dirty="0">
                      <a:solidFill>
                        <a:srgbClr val="383838"/>
                      </a:solidFill>
                      <a:latin typeface="微软雅黑"/>
                      <a:ea typeface="微软雅黑"/>
                      <a:cs typeface="微软雅黑"/>
                      <a:sym typeface="微软雅黑"/>
                    </a:rPr>
                    <a:t>ADMIN</a:t>
                  </a:r>
                  <a:endParaRPr kumimoji="1" lang="en-US" altLang="zh-CN" sz="1000" dirty="0">
                    <a:solidFill>
                      <a:srgbClr val="383838"/>
                    </a:solidFill>
                    <a:latin typeface="微软雅黑"/>
                    <a:ea typeface="微软雅黑"/>
                    <a:cs typeface="微软雅黑"/>
                    <a:sym typeface="微软雅黑"/>
                  </a:endParaRPr>
                </a:p>
              </p:txBody>
            </p:sp>
            <p:sp>
              <p:nvSpPr>
                <p:cNvPr id="30" name="文本框 29"/>
                <p:cNvSpPr txBox="1"/>
                <p:nvPr/>
              </p:nvSpPr>
              <p:spPr>
                <a:xfrm>
                  <a:off x="8780" y="8345"/>
                  <a:ext cx="1367" cy="651"/>
                </a:xfrm>
                <a:prstGeom prst="rect">
                  <a:avLst/>
                </a:prstGeom>
                <a:noFill/>
              </p:spPr>
              <p:txBody>
                <a:bodyPr wrap="square" rtlCol="0">
                  <a:spAutoFit/>
                </a:bodyPr>
                <a:lstStyle/>
                <a:p>
                  <a:pPr lvl="0" algn="l">
                    <a:buClrTx/>
                    <a:buSzTx/>
                    <a:buFontTx/>
                    <a:defRPr>
                      <a:solidFill>
                        <a:srgbClr val="383838"/>
                      </a:solidFill>
                      <a:latin typeface="微软雅黑"/>
                      <a:ea typeface="微软雅黑"/>
                      <a:cs typeface="微软雅黑"/>
                    </a:defRPr>
                  </a:pPr>
                  <a:r>
                    <a:rPr kumimoji="1" lang="zh-CN" altLang="en-US" sz="1600" b="1" dirty="0">
                      <a:solidFill>
                        <a:srgbClr val="383838"/>
                      </a:solidFill>
                      <a:latin typeface="微软雅黑"/>
                      <a:ea typeface="微软雅黑"/>
                      <a:cs typeface="微软雅黑"/>
                      <a:sym typeface="微软雅黑"/>
                    </a:rPr>
                    <a:t>管理</a:t>
                  </a:r>
                  <a:endParaRPr kumimoji="1" lang="zh-CN" altLang="en-US" sz="1600" b="1" dirty="0">
                    <a:solidFill>
                      <a:srgbClr val="383838"/>
                    </a:solidFill>
                    <a:latin typeface="微软雅黑"/>
                    <a:ea typeface="微软雅黑"/>
                    <a:cs typeface="微软雅黑"/>
                    <a:sym typeface="微软雅黑"/>
                  </a:endParaRPr>
                </a:p>
              </p:txBody>
            </p:sp>
            <p:sp>
              <p:nvSpPr>
                <p:cNvPr id="31" name="文本框 30"/>
                <p:cNvSpPr txBox="1"/>
                <p:nvPr/>
              </p:nvSpPr>
              <p:spPr>
                <a:xfrm>
                  <a:off x="9223" y="4080"/>
                  <a:ext cx="980" cy="711"/>
                </a:xfrm>
                <a:prstGeom prst="rect">
                  <a:avLst/>
                </a:prstGeom>
                <a:noFill/>
              </p:spPr>
              <p:txBody>
                <a:bodyPr wrap="square" rtlCol="0" lIns="0" rIns="0" tIns="0" bIns="0">
                  <a:spAutoFit/>
                </a:bodyPr>
                <a:lstStyle/>
                <a:p>
                  <a:pPr>
                    <a:defRPr>
                      <a:latin typeface="微软雅黑"/>
                      <a:ea typeface="微软雅黑"/>
                      <a:cs typeface="微软雅黑"/>
                    </a:defRPr>
                  </a:pPr>
                  <a:r>
                    <a:rPr kumimoji="1" lang="en-US" altLang="zh-CN" b="1" dirty="0">
                      <a:solidFill>
                        <a:srgbClr val="383838"/>
                      </a:solidFill>
                      <a:latin typeface="微软雅黑"/>
                      <a:ea typeface="微软雅黑"/>
                      <a:cs typeface="微软雅黑"/>
                    </a:rPr>
                    <a:t>01</a:t>
                  </a:r>
                  <a:endParaRPr kumimoji="1" lang="en-US" altLang="zh-CN" b="1" dirty="0">
                    <a:solidFill>
                      <a:srgbClr val="383838"/>
                    </a:solidFill>
                    <a:latin typeface="微软雅黑"/>
                    <a:ea typeface="微软雅黑"/>
                    <a:cs typeface="微软雅黑"/>
                  </a:endParaRPr>
                </a:p>
              </p:txBody>
            </p:sp>
            <p:sp>
              <p:nvSpPr>
                <p:cNvPr id="32" name="文本框 31"/>
                <p:cNvSpPr txBox="1"/>
                <p:nvPr/>
              </p:nvSpPr>
              <p:spPr>
                <a:xfrm>
                  <a:off x="11198" y="7304"/>
                  <a:ext cx="940" cy="711"/>
                </a:xfrm>
                <a:prstGeom prst="rect">
                  <a:avLst/>
                </a:prstGeom>
                <a:noFill/>
              </p:spPr>
              <p:txBody>
                <a:bodyPr wrap="square" rtlCol="0" lIns="0" rIns="0" tIns="0" bIns="0">
                  <a:spAutoFit/>
                </a:bodyPr>
                <a:lstStyle/>
                <a:p>
                  <a:pPr lvl="0" algn="l">
                    <a:buClrTx/>
                    <a:buSzTx/>
                    <a:buFontTx/>
                    <a:defRPr>
                      <a:solidFill>
                        <a:srgbClr val="383838"/>
                      </a:solidFill>
                      <a:latin typeface="微软雅黑"/>
                      <a:ea typeface="微软雅黑"/>
                      <a:cs typeface="微软雅黑"/>
                    </a:defRPr>
                  </a:pPr>
                  <a:r>
                    <a:rPr kumimoji="1" lang="en-US" altLang="zh-CN" b="1" dirty="0">
                      <a:solidFill>
                        <a:srgbClr val="383838"/>
                      </a:solidFill>
                      <a:latin typeface="微软雅黑"/>
                      <a:ea typeface="微软雅黑"/>
                      <a:cs typeface="微软雅黑"/>
                      <a:sym typeface="微软雅黑"/>
                    </a:rPr>
                    <a:t>02</a:t>
                  </a:r>
                  <a:endParaRPr kumimoji="1" lang="en-US" altLang="zh-CN" b="1" dirty="0">
                    <a:solidFill>
                      <a:srgbClr val="383838"/>
                    </a:solidFill>
                    <a:latin typeface="微软雅黑"/>
                    <a:ea typeface="微软雅黑"/>
                    <a:cs typeface="微软雅黑"/>
                    <a:sym typeface="微软雅黑"/>
                  </a:endParaRPr>
                </a:p>
              </p:txBody>
            </p:sp>
            <p:sp>
              <p:nvSpPr>
                <p:cNvPr id="33" name="文本框 32"/>
                <p:cNvSpPr txBox="1"/>
                <p:nvPr/>
              </p:nvSpPr>
              <p:spPr>
                <a:xfrm>
                  <a:off x="7223" y="7509"/>
                  <a:ext cx="1092" cy="711"/>
                </a:xfrm>
                <a:prstGeom prst="rect">
                  <a:avLst/>
                </a:prstGeom>
                <a:noFill/>
              </p:spPr>
              <p:txBody>
                <a:bodyPr wrap="square" rtlCol="0" lIns="0" rIns="0" tIns="0" bIns="0">
                  <a:spAutoFit/>
                </a:bodyPr>
                <a:lstStyle/>
                <a:p>
                  <a:pPr lvl="0" algn="l">
                    <a:buClrTx/>
                    <a:buSzTx/>
                    <a:buFontTx/>
                    <a:defRPr>
                      <a:solidFill>
                        <a:srgbClr val="FFFFFF"/>
                      </a:solidFill>
                      <a:latin typeface="微软雅黑"/>
                      <a:ea typeface="微软雅黑"/>
                      <a:cs typeface="微软雅黑"/>
                    </a:defRPr>
                  </a:pPr>
                  <a:r>
                    <a:rPr kumimoji="1" lang="en-US" altLang="zh-CN" b="1" dirty="0">
                      <a:solidFill>
                        <a:srgbClr val="FFFFFF"/>
                      </a:solidFill>
                      <a:latin typeface="微软雅黑"/>
                      <a:ea typeface="微软雅黑"/>
                      <a:cs typeface="微软雅黑"/>
                      <a:sym typeface="微软雅黑"/>
                    </a:rPr>
                    <a:t>03</a:t>
                  </a:r>
                  <a:endParaRPr kumimoji="1" lang="en-US" altLang="zh-CN" b="1" dirty="0">
                    <a:solidFill>
                      <a:srgbClr val="FFFFFF"/>
                    </a:solidFill>
                    <a:latin typeface="微软雅黑"/>
                    <a:ea typeface="微软雅黑"/>
                    <a:cs typeface="微软雅黑"/>
                    <a:sym typeface="微软雅黑"/>
                  </a:endParaRPr>
                </a:p>
              </p:txBody>
            </p:sp>
          </p:grpSp>
          <p:sp>
            <p:nvSpPr>
              <p:cNvPr id="12" name="任意多边形 11"/>
              <p:cNvSpPr/>
              <p:nvPr/>
            </p:nvSpPr>
            <p:spPr>
              <a:xfrm>
                <a:off x="4783" y="6006"/>
                <a:ext cx="8293" cy="4185"/>
              </a:xfrm>
              <a:custGeom>
                <a:avLst/>
                <a:gdLst>
                  <a:gd name="adj" fmla="val 10959"/>
                  <a:gd name="a" fmla="pin 0 adj 50000"/>
                  <a:gd name="dr" fmla="*/ ss a 100000"/>
                  <a:gd name="iwd2" fmla="+- wd2 0 dr"/>
                  <a:gd name="ihd2" fmla="+- hd2 0 dr"/>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8296" h="4187">
                    <a:moveTo>
                      <a:pt x="8293" y="20"/>
                    </a:moveTo>
                    <a:lnTo>
                      <a:pt x="8293" y="39"/>
                    </a:lnTo>
                    <a:cubicBezTo>
                      <a:pt x="8364" y="2366"/>
                      <a:pt x="6233" y="4242"/>
                      <a:pt x="4146" y="4185"/>
                    </a:cubicBezTo>
                    <a:cubicBezTo>
                      <a:pt x="1819" y="4259"/>
                      <a:pt x="-57" y="2121"/>
                      <a:pt x="0" y="42"/>
                    </a:cubicBezTo>
                    <a:lnTo>
                      <a:pt x="427" y="375"/>
                    </a:lnTo>
                    <a:lnTo>
                      <a:pt x="909" y="0"/>
                    </a:lnTo>
                    <a:lnTo>
                      <a:pt x="909" y="39"/>
                    </a:lnTo>
                    <a:cubicBezTo>
                      <a:pt x="853" y="1856"/>
                      <a:pt x="2517" y="3321"/>
                      <a:pt x="4146" y="3276"/>
                    </a:cubicBezTo>
                    <a:cubicBezTo>
                      <a:pt x="5964" y="3332"/>
                      <a:pt x="7429" y="1668"/>
                      <a:pt x="7384" y="39"/>
                    </a:cubicBezTo>
                    <a:lnTo>
                      <a:pt x="7384" y="23"/>
                    </a:lnTo>
                    <a:lnTo>
                      <a:pt x="7836" y="375"/>
                    </a:lnTo>
                    <a:lnTo>
                      <a:pt x="8293" y="20"/>
                    </a:lnTo>
                    <a:close/>
                  </a:path>
                </a:pathLst>
              </a:custGeom>
              <a:gradFill>
                <a:gsLst>
                  <a:gs pos="0">
                    <a:srgbClr val="B3D4FE"/>
                  </a:gs>
                  <a:gs pos="100000">
                    <a:srgbClr val="B3D4FE">
                      <a:alpha val="0"/>
                    </a:srgbClr>
                  </a:gs>
                </a:gsLst>
                <a:lin ang="0" scaled="0"/>
              </a:gra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3" name="任意多边形 12"/>
              <p:cNvSpPr/>
              <p:nvPr/>
            </p:nvSpPr>
            <p:spPr>
              <a:xfrm>
                <a:off x="4789" y="1898"/>
                <a:ext cx="8279" cy="4249"/>
              </a:xfrm>
              <a:custGeom>
                <a:avLst/>
                <a:gdLst>
                  <a:gd name="adj" fmla="val 10959"/>
                  <a:gd name="a" fmla="pin 0 adj 50000"/>
                  <a:gd name="dr" fmla="*/ ss a 100000"/>
                  <a:gd name="iwd2" fmla="+- wd2 0 dr"/>
                  <a:gd name="ihd2" fmla="+- hd2 0 dr"/>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8279" h="4252">
                    <a:moveTo>
                      <a:pt x="0" y="3921"/>
                    </a:moveTo>
                    <a:cubicBezTo>
                      <a:pt x="42" y="1715"/>
                      <a:pt x="2127" y="-61"/>
                      <a:pt x="4140" y="0"/>
                    </a:cubicBezTo>
                    <a:cubicBezTo>
                      <a:pt x="6390" y="-90"/>
                      <a:pt x="8236" y="1980"/>
                      <a:pt x="8279" y="3899"/>
                    </a:cubicBezTo>
                    <a:lnTo>
                      <a:pt x="7830" y="4249"/>
                    </a:lnTo>
                    <a:lnTo>
                      <a:pt x="7368" y="3889"/>
                    </a:lnTo>
                    <a:cubicBezTo>
                      <a:pt x="7293" y="2201"/>
                      <a:pt x="5684" y="864"/>
                      <a:pt x="4140" y="909"/>
                    </a:cubicBezTo>
                    <a:cubicBezTo>
                      <a:pt x="2414" y="835"/>
                      <a:pt x="985" y="2416"/>
                      <a:pt x="915" y="3865"/>
                    </a:cubicBezTo>
                    <a:lnTo>
                      <a:pt x="421" y="4249"/>
                    </a:lnTo>
                    <a:lnTo>
                      <a:pt x="0" y="3921"/>
                    </a:lnTo>
                    <a:close/>
                  </a:path>
                </a:pathLst>
              </a:custGeom>
              <a:gradFill>
                <a:gsLst>
                  <a:gs pos="100000">
                    <a:srgbClr val="3368FF">
                      <a:alpha val="0"/>
                    </a:srgbClr>
                  </a:gs>
                  <a:gs pos="0">
                    <a:srgbClr val="3368FF"/>
                  </a:gs>
                </a:gsLst>
                <a:lin ang="0" scaled="0"/>
              </a:gradFill>
              <a:ln>
                <a:solidFill>
                  <a:srgbClr val="3368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118" name="组合 117"/>
            <p:cNvGrpSpPr/>
            <p:nvPr/>
          </p:nvGrpSpPr>
          <p:grpSpPr>
            <a:xfrm rot="20520000">
              <a:off x="1746" y="1847"/>
              <a:ext cx="8213" cy="8213"/>
              <a:chOff x="6377" y="2769"/>
              <a:chExt cx="6626" cy="6626"/>
            </a:xfrm>
          </p:grpSpPr>
          <p:sp>
            <p:nvSpPr>
              <p:cNvPr id="114" name="弧形 113"/>
              <p:cNvSpPr/>
              <p:nvPr/>
            </p:nvSpPr>
            <p:spPr>
              <a:xfrm>
                <a:off x="6377" y="2769"/>
                <a:ext cx="6627" cy="6627"/>
              </a:xfrm>
              <a:prstGeom prst="arc">
                <a:avLst>
                  <a:gd name="adj1" fmla="val 17281646"/>
                  <a:gd name="adj2" fmla="val 21406547"/>
                </a:avLst>
              </a:prstGeom>
              <a:noFill/>
              <a:ln w="19050">
                <a:gradFill>
                  <a:gsLst>
                    <a:gs pos="7000">
                      <a:srgbClr val="0042FF">
                        <a:alpha val="0"/>
                      </a:srgbClr>
                    </a:gs>
                    <a:gs pos="100000">
                      <a:srgbClr val="0042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15" name="弧形 114"/>
              <p:cNvSpPr/>
              <p:nvPr/>
            </p:nvSpPr>
            <p:spPr>
              <a:xfrm rot="16200000">
                <a:off x="6377" y="2769"/>
                <a:ext cx="6627" cy="6627"/>
              </a:xfrm>
              <a:prstGeom prst="arc">
                <a:avLst>
                  <a:gd name="adj1" fmla="val 17281646"/>
                  <a:gd name="adj2" fmla="val 21406547"/>
                </a:avLst>
              </a:prstGeom>
              <a:noFill/>
              <a:ln w="19050">
                <a:gradFill>
                  <a:gsLst>
                    <a:gs pos="7000">
                      <a:srgbClr val="0042FF">
                        <a:alpha val="0"/>
                      </a:srgbClr>
                    </a:gs>
                    <a:gs pos="100000">
                      <a:srgbClr val="0042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16" name="弧形 115"/>
              <p:cNvSpPr/>
              <p:nvPr/>
            </p:nvSpPr>
            <p:spPr>
              <a:xfrm rot="16200000" flipH="1" flipV="1">
                <a:off x="6377" y="2769"/>
                <a:ext cx="6627" cy="6627"/>
              </a:xfrm>
              <a:prstGeom prst="arc">
                <a:avLst>
                  <a:gd name="adj1" fmla="val 17281646"/>
                  <a:gd name="adj2" fmla="val 21406547"/>
                </a:avLst>
              </a:prstGeom>
              <a:noFill/>
              <a:ln w="19050">
                <a:gradFill>
                  <a:gsLst>
                    <a:gs pos="7000">
                      <a:srgbClr val="3368FF">
                        <a:alpha val="0"/>
                      </a:srgbClr>
                    </a:gs>
                    <a:gs pos="100000">
                      <a:srgbClr val="3368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17" name="弧形 116"/>
              <p:cNvSpPr/>
              <p:nvPr/>
            </p:nvSpPr>
            <p:spPr>
              <a:xfrm flipH="1" flipV="1">
                <a:off x="6377" y="2769"/>
                <a:ext cx="6627" cy="6627"/>
              </a:xfrm>
              <a:prstGeom prst="arc">
                <a:avLst>
                  <a:gd name="adj1" fmla="val 17281646"/>
                  <a:gd name="adj2" fmla="val 21406547"/>
                </a:avLst>
              </a:prstGeom>
              <a:noFill/>
              <a:ln w="19050">
                <a:gradFill>
                  <a:gsLst>
                    <a:gs pos="7000">
                      <a:srgbClr val="3368FF">
                        <a:alpha val="0"/>
                      </a:srgbClr>
                    </a:gs>
                    <a:gs pos="100000">
                      <a:srgbClr val="3368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sp>
          <p:nvSpPr>
            <p:cNvPr id="74" name="文本框 73"/>
            <p:cNvSpPr txBox="1"/>
            <p:nvPr/>
          </p:nvSpPr>
          <p:spPr>
            <a:xfrm>
              <a:off x="4923" y="5859"/>
              <a:ext cx="1857" cy="523"/>
            </a:xfrm>
            <a:prstGeom prst="rect">
              <a:avLst/>
            </a:prstGeom>
            <a:noFill/>
          </p:spPr>
          <p:txBody>
            <a:bodyPr wrap="square" rtlCol="0" lIns="0" rIns="0" tIns="0" bIns="0">
              <a:spAutoFit/>
            </a:bodyPr>
            <a:lstStyle/>
            <a:p>
              <a:pPr algn="ctr">
                <a:defRPr>
                  <a:latin typeface="微软雅黑"/>
                  <a:ea typeface="微软雅黑"/>
                  <a:cs typeface="微软雅黑"/>
                </a:defRPr>
              </a:pPr>
              <a:r>
                <a:rPr kumimoji="1" lang="zh-CN" altLang="en-US" sz="1000" b="1" dirty="0">
                  <a:solidFill>
                    <a:srgbClr val="0042FF"/>
                  </a:solidFill>
                  <a:latin typeface="微软雅黑"/>
                  <a:ea typeface="微软雅黑"/>
                  <a:cs typeface="微软雅黑"/>
                </a:rPr>
                <a:t>客户运营的</a:t>
              </a:r>
              <a:endParaRPr kumimoji="1" lang="zh-CN" altLang="en-US" sz="1000" b="1" dirty="0">
                <a:solidFill>
                  <a:srgbClr val="0042FF"/>
                </a:solidFill>
                <a:latin typeface="微软雅黑"/>
                <a:ea typeface="微软雅黑"/>
                <a:cs typeface="微软雅黑"/>
              </a:endParaRPr>
            </a:p>
            <a:p>
              <a:pPr algn="ctr">
                <a:defRPr>
                  <a:latin typeface="微软雅黑"/>
                  <a:ea typeface="微软雅黑"/>
                  <a:cs typeface="微软雅黑"/>
                </a:defRPr>
              </a:pPr>
              <a:r>
                <a:rPr kumimoji="1" lang="en-US" altLang="zh-CN" sz="1000" b="1" dirty="0">
                  <a:solidFill>
                    <a:srgbClr val="0042FF"/>
                  </a:solidFill>
                  <a:latin typeface="微软雅黑"/>
                  <a:ea typeface="微软雅黑"/>
                  <a:cs typeface="微软雅黑"/>
                </a:rPr>
                <a:t>“</a:t>
              </a:r>
              <a:r>
                <a:rPr kumimoji="1" lang="zh-CN" altLang="en-US" sz="1000" b="1" dirty="0">
                  <a:solidFill>
                    <a:srgbClr val="0042FF"/>
                  </a:solidFill>
                  <a:latin typeface="微软雅黑"/>
                  <a:ea typeface="微软雅黑"/>
                  <a:cs typeface="微软雅黑"/>
                </a:rPr>
                <a:t>三环模型</a:t>
              </a:r>
              <a:r>
                <a:rPr kumimoji="1" lang="en-US" altLang="zh-CN" sz="1000" b="1" dirty="0">
                  <a:solidFill>
                    <a:srgbClr val="0042FF"/>
                  </a:solidFill>
                  <a:latin typeface="微软雅黑"/>
                  <a:ea typeface="微软雅黑"/>
                  <a:cs typeface="微软雅黑"/>
                </a:rPr>
                <a:t>”</a:t>
              </a:r>
              <a:endParaRPr kumimoji="1" lang="en-US" altLang="zh-CN" sz="1000" b="1" dirty="0">
                <a:solidFill>
                  <a:srgbClr val="0042FF"/>
                </a:solidFill>
                <a:latin typeface="微软雅黑"/>
                <a:ea typeface="微软雅黑"/>
                <a:cs typeface="微软雅黑"/>
              </a:endParaRPr>
            </a:p>
          </p:txBody>
        </p:sp>
        <p:grpSp>
          <p:nvGrpSpPr>
            <p:cNvPr id="78" name="组合 77"/>
            <p:cNvGrpSpPr/>
            <p:nvPr/>
          </p:nvGrpSpPr>
          <p:grpSpPr>
            <a:xfrm>
              <a:off x="4204" y="3937"/>
              <a:ext cx="1377" cy="768"/>
              <a:chOff x="7942" y="4391"/>
              <a:chExt cx="1377" cy="768"/>
            </a:xfrm>
          </p:grpSpPr>
          <p:sp>
            <p:nvSpPr>
              <p:cNvPr id="76" name="文本框 75"/>
              <p:cNvSpPr txBox="1"/>
              <p:nvPr/>
            </p:nvSpPr>
            <p:spPr>
              <a:xfrm>
                <a:off x="7942" y="4823"/>
                <a:ext cx="1204" cy="337"/>
              </a:xfrm>
              <a:prstGeom prst="rect">
                <a:avLst/>
              </a:prstGeom>
              <a:noFill/>
            </p:spPr>
            <p:txBody>
              <a:bodyPr wrap="square" rtlCol="0" lIns="0" rIns="0" tIns="0" bIns="0" anchor="t">
                <a:noAutofit/>
              </a:bodyPr>
              <a:lstStyle/>
              <a:p>
                <a:pPr>
                  <a:defRPr>
                    <a:solidFill>
                      <a:srgbClr val="383838"/>
                    </a:solidFill>
                    <a:latin typeface="微软雅黑"/>
                    <a:ea typeface="微软雅黑"/>
                    <a:cs typeface="微软雅黑"/>
                  </a:defRPr>
                  <a:lnSpc>
                    <a:spcPts val="1120"/>
                  </a:lnSpc>
                  <a:spcBef>
                    <a:spcPts val="0"/>
                  </a:spcBef>
                  <a:spcAft>
                    <a:spcPts val="0"/>
                  </a:spcAft>
                </a:pPr>
                <a:r>
                  <a:rPr kumimoji="1" lang="en-US" altLang="zh-CN" sz="1000" dirty="0">
                    <a:solidFill>
                      <a:srgbClr val="383838"/>
                    </a:solidFill>
                    <a:latin typeface="微软雅黑"/>
                    <a:ea typeface="微软雅黑"/>
                    <a:cs typeface="微软雅黑"/>
                  </a:rPr>
                  <a:t>CUSTOMER</a:t>
                </a:r>
                <a:endParaRPr kumimoji="1" lang="en-US" altLang="zh-CN" sz="1000" dirty="0">
                  <a:solidFill>
                    <a:srgbClr val="383838"/>
                  </a:solidFill>
                  <a:latin typeface="微软雅黑"/>
                  <a:ea typeface="微软雅黑"/>
                  <a:cs typeface="微软雅黑"/>
                </a:endParaRPr>
              </a:p>
            </p:txBody>
          </p:sp>
          <p:sp>
            <p:nvSpPr>
              <p:cNvPr id="77" name="文本框 76"/>
              <p:cNvSpPr txBox="1"/>
              <p:nvPr/>
            </p:nvSpPr>
            <p:spPr>
              <a:xfrm>
                <a:off x="8081" y="4391"/>
                <a:ext cx="1239" cy="531"/>
              </a:xfrm>
              <a:prstGeom prst="rect">
                <a:avLst/>
              </a:prstGeom>
              <a:noFill/>
            </p:spPr>
            <p:txBody>
              <a:bodyPr wrap="square" rtlCol="0">
                <a:spAutoFit/>
              </a:bodyPr>
              <a:lstStyle/>
              <a:p>
                <a:pPr>
                  <a:defRPr>
                    <a:solidFill>
                      <a:srgbClr val="383838"/>
                    </a:solidFill>
                    <a:latin typeface="微软雅黑"/>
                    <a:ea typeface="微软雅黑"/>
                    <a:cs typeface="微软雅黑"/>
                  </a:defRPr>
                </a:pPr>
                <a:r>
                  <a:rPr kumimoji="1" lang="zh-CN" altLang="en-US" sz="1600" b="1" dirty="0">
                    <a:solidFill>
                      <a:srgbClr val="383838"/>
                    </a:solidFill>
                    <a:latin typeface="微软雅黑"/>
                    <a:ea typeface="微软雅黑"/>
                    <a:cs typeface="微软雅黑"/>
                  </a:rPr>
                  <a:t>客户</a:t>
                </a:r>
                <a:endParaRPr kumimoji="1" lang="zh-CN" altLang="en-US" sz="1600" b="1" dirty="0">
                  <a:solidFill>
                    <a:srgbClr val="383838"/>
                  </a:solidFill>
                  <a:latin typeface="微软雅黑"/>
                  <a:ea typeface="微软雅黑"/>
                  <a:cs typeface="微软雅黑"/>
                </a:endParaRPr>
              </a:p>
            </p:txBody>
          </p:sp>
        </p:grpSp>
      </p:grpSp>
      <p:sp>
        <p:nvSpPr>
          <p:cNvPr id="104" name="矩形 103"/>
          <p:cNvSpPr/>
          <p:nvPr>
            <p:custDataLst>
              <p:tags r:id="rId3"/>
            </p:custDataLst>
          </p:nvPr>
        </p:nvSpPr>
        <p:spPr>
          <a:xfrm>
            <a:off x="485628" y="1910864"/>
            <a:ext cx="2433024" cy="4488942"/>
          </a:xfrm>
          <a:prstGeom prst="rect">
            <a:avLst/>
          </a:prstGeom>
          <a:solidFill>
            <a:srgbClr val="FFFFFF">
              <a:alpha val="4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5" name="矩形 104"/>
          <p:cNvSpPr/>
          <p:nvPr/>
        </p:nvSpPr>
        <p:spPr>
          <a:xfrm>
            <a:off x="485627" y="1431234"/>
            <a:ext cx="2431389" cy="668733"/>
          </a:xfrm>
          <a:prstGeom prst="rect">
            <a:avLst/>
          </a:prstGeom>
          <a:gradFill>
            <a:gsLst>
              <a:gs pos="0">
                <a:srgbClr val="3368FF"/>
              </a:gs>
              <a:gs pos="100000">
                <a:srgbClr val="B3D4FE"/>
              </a:gs>
            </a:gsLst>
            <a:lin ang="0" scaled="0"/>
          </a:gra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7" name="文本框 6"/>
          <p:cNvSpPr txBox="1"/>
          <p:nvPr/>
        </p:nvSpPr>
        <p:spPr>
          <a:xfrm>
            <a:off x="738505" y="1565910"/>
            <a:ext cx="1209675" cy="398780"/>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000" b="1" i="0" u="none" strike="noStrike" kern="1200" cap="none" spc="0" normalizeH="0" baseline="0" noProof="0" dirty="0">
                <a:ln>
                  <a:noFill/>
                </a:ln>
                <a:solidFill>
                  <a:srgbClr val="383838"/>
                </a:solidFill>
                <a:effectLst/>
                <a:uLnTx/>
                <a:uFillTx/>
                <a:latin typeface="微软雅黑"/>
                <a:ea typeface="微软雅黑"/>
                <a:cs typeface="微软雅黑"/>
              </a:rPr>
              <a:t>客户环</a:t>
            </a:r>
            <a:endParaRPr kumimoji="0" lang="zh-CN" altLang="en-US" sz="2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8" name="矩形 107"/>
          <p:cNvSpPr/>
          <p:nvPr/>
        </p:nvSpPr>
        <p:spPr>
          <a:xfrm>
            <a:off x="2040395" y="1497948"/>
            <a:ext cx="652780" cy="553085"/>
          </a:xfrm>
          <a:prstGeom prst="rect">
            <a:avLst/>
          </a:prstGeom>
        </p:spPr>
        <p:txBody>
          <a:bodyPr wrap="none">
            <a:spAutoFit/>
          </a:bodyPr>
          <a:lstStyle/>
          <a:p>
            <a:pPr>
              <a:defRPr>
                <a:latin typeface="微软雅黑"/>
                <a:ea typeface="微软雅黑"/>
                <a:cs typeface="微软雅黑"/>
              </a:defRPr>
            </a:pPr>
            <a:r>
              <a:rPr kumimoji="1" lang="en-US" altLang="zh-CN" sz="3000" b="1" dirty="0">
                <a:gradFill>
                  <a:gsLst>
                    <a:gs pos="0">
                      <a:srgbClr val="FFFFFF">
                        <a:alpha val="0"/>
                      </a:srgbClr>
                    </a:gs>
                    <a:gs pos="91000">
                      <a:srgbClr val="FFFFFF"/>
                    </a:gs>
                  </a:gsLst>
                  <a:lin ang="16200000" scaled="0"/>
                </a:gradFill>
                <a:solidFill>
                  <a:srgbClr val="383838"/>
                </a:solidFill>
                <a:latin typeface="微软雅黑"/>
                <a:ea typeface="微软雅黑"/>
                <a:cs typeface="微软雅黑"/>
              </a:rPr>
              <a:t>01</a:t>
            </a:r>
            <a:endParaRPr kumimoji="1" lang="en-US" altLang="zh-CN" sz="3000" b="1" dirty="0">
              <a:gradFill>
                <a:gsLst>
                  <a:gs pos="0">
                    <a:srgbClr val="FFFFFF">
                      <a:alpha val="0"/>
                    </a:srgbClr>
                  </a:gs>
                  <a:gs pos="91000">
                    <a:srgbClr val="FFFFFF"/>
                  </a:gs>
                </a:gsLst>
                <a:lin ang="16200000" scaled="0"/>
              </a:gradFill>
              <a:solidFill>
                <a:srgbClr val="383838"/>
              </a:solidFill>
              <a:latin typeface="微软雅黑"/>
              <a:ea typeface="微软雅黑"/>
              <a:cs typeface="微软雅黑"/>
            </a:endParaRPr>
          </a:p>
        </p:txBody>
      </p:sp>
      <p:cxnSp>
        <p:nvCxnSpPr>
          <p:cNvPr id="109" name="直线连接符 108"/>
          <p:cNvCxnSpPr/>
          <p:nvPr>
            <p:custDataLst>
              <p:tags r:id="rId4"/>
            </p:custDataLst>
          </p:nvPr>
        </p:nvCxnSpPr>
        <p:spPr>
          <a:xfrm>
            <a:off x="665487" y="3569314"/>
            <a:ext cx="2073307" cy="0"/>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9" name="直线连接符 110"/>
          <p:cNvCxnSpPr/>
          <p:nvPr>
            <p:custDataLst>
              <p:tags r:id="rId5"/>
            </p:custDataLst>
          </p:nvPr>
        </p:nvCxnSpPr>
        <p:spPr>
          <a:xfrm>
            <a:off x="665487" y="4953366"/>
            <a:ext cx="2073307" cy="0"/>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163" name="文本框 162"/>
          <p:cNvSpPr txBox="1"/>
          <p:nvPr>
            <p:custDataLst>
              <p:tags r:id="rId6"/>
            </p:custDataLst>
          </p:nvPr>
        </p:nvSpPr>
        <p:spPr>
          <a:xfrm>
            <a:off x="769491" y="2308225"/>
            <a:ext cx="1953895" cy="174625"/>
          </a:xfrm>
          <a:prstGeom prst="rect">
            <a:avLst/>
          </a:prstGeom>
          <a:noFill/>
        </p:spPr>
        <p:txBody>
          <a:bodyPr wrap="square" lIns="0" tIns="0" rIns="0" bIns="0" rtlCol="0">
            <a:spAutoFit/>
          </a:body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模块一：客户洞察</a:t>
            </a:r>
            <a:endParaRPr kumimoji="0" lang="en-US" altLang="zh-CN"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7" name="文本框 26"/>
          <p:cNvSpPr txBox="1"/>
          <p:nvPr>
            <p:custDataLst>
              <p:tags r:id="rId7"/>
            </p:custDataLst>
          </p:nvPr>
        </p:nvSpPr>
        <p:spPr>
          <a:xfrm>
            <a:off x="723373" y="2550650"/>
            <a:ext cx="2046131" cy="87503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建立客户数据平台，整合交易数据、行为数据、客服记录和社交舆情；运用</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RFM</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模型、用户画像、同理心地图等工具进行分析；定期开展用户访谈和体验监测。</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8" name="文本框 27"/>
          <p:cNvSpPr txBox="1"/>
          <p:nvPr>
            <p:custDataLst>
              <p:tags r:id="rId8"/>
            </p:custDataLst>
          </p:nvPr>
        </p:nvSpPr>
        <p:spPr>
          <a:xfrm>
            <a:off x="769491" y="3695700"/>
            <a:ext cx="1953895" cy="174625"/>
          </a:xfrm>
          <a:prstGeom prst="rect">
            <a:avLst/>
          </a:prstGeom>
          <a:noFill/>
        </p:spPr>
        <p:txBody>
          <a:bodyPr wrap="square" lIns="0" tIns="0" rIns="0" bIns="0" rtlCol="0">
            <a:spAutoFit/>
          </a:body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模块二：客户交互</a:t>
            </a:r>
            <a:endParaRPr kumimoji="0" lang="en-US" altLang="zh-CN"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4" name="文本框 33"/>
          <p:cNvSpPr txBox="1"/>
          <p:nvPr>
            <p:custDataLst>
              <p:tags r:id="rId9"/>
            </p:custDataLst>
          </p:nvPr>
        </p:nvSpPr>
        <p:spPr>
          <a:xfrm>
            <a:off x="723373" y="3938125"/>
            <a:ext cx="2046131" cy="87503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将洞察转化为实际体验的过程，核心在于</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连接与服务</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。它涵盖了客户从认知、购买到使用、求助的全部触点，线上线下全渠道布局，确保体验的一致性。</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5" name="文本框 34"/>
          <p:cNvSpPr txBox="1"/>
          <p:nvPr>
            <p:custDataLst>
              <p:tags r:id="rId10"/>
            </p:custDataLst>
          </p:nvPr>
        </p:nvSpPr>
        <p:spPr>
          <a:xfrm>
            <a:off x="769491" y="5120640"/>
            <a:ext cx="1953895" cy="174625"/>
          </a:xfrm>
          <a:prstGeom prst="rect">
            <a:avLst/>
          </a:prstGeom>
          <a:noFill/>
        </p:spPr>
        <p:txBody>
          <a:bodyPr wrap="square" lIns="0" tIns="0" rIns="0" bIns="0" rtlCol="0">
            <a:spAutoFit/>
          </a:body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模块三：客户资产</a:t>
            </a:r>
            <a:endParaRPr kumimoji="0" lang="en-US" altLang="zh-CN" sz="10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7" name="文本框 36"/>
          <p:cNvSpPr txBox="1"/>
          <p:nvPr>
            <p:custDataLst>
              <p:tags r:id="rId11"/>
            </p:custDataLst>
          </p:nvPr>
        </p:nvSpPr>
        <p:spPr>
          <a:xfrm>
            <a:off x="723373" y="5363065"/>
            <a:ext cx="2046131" cy="87503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设计分层级的会员体系和权益；开展老带新裂变活动；建立</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NPS</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（净推荐值）监测机制，并将客户反馈闭环至业务改进中；鼓励</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UGC</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（用户原创内容）和口碑传播。</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8" name="矩形 37"/>
          <p:cNvSpPr/>
          <p:nvPr/>
        </p:nvSpPr>
        <p:spPr>
          <a:xfrm>
            <a:off x="9306560" y="1749425"/>
            <a:ext cx="2433320" cy="2120900"/>
          </a:xfrm>
          <a:prstGeom prst="rect">
            <a:avLst/>
          </a:prstGeom>
          <a:solidFill>
            <a:srgbClr val="E6E6E6">
              <a:alpha val="4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9" name="矩形 38"/>
          <p:cNvSpPr/>
          <p:nvPr/>
        </p:nvSpPr>
        <p:spPr>
          <a:xfrm>
            <a:off x="9306412" y="1269944"/>
            <a:ext cx="2431389" cy="668733"/>
          </a:xfrm>
          <a:prstGeom prst="rect">
            <a:avLst/>
          </a:prstGeom>
          <a:gradFill>
            <a:gsLst>
              <a:gs pos="0">
                <a:srgbClr val="0042FF"/>
              </a:gs>
              <a:gs pos="100000">
                <a:srgbClr val="3368FF"/>
              </a:gs>
            </a:gsLst>
            <a:lin ang="0" scaled="0"/>
          </a:gra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40" name="文本框 39"/>
          <p:cNvSpPr txBox="1"/>
          <p:nvPr/>
        </p:nvSpPr>
        <p:spPr>
          <a:xfrm>
            <a:off x="9559290" y="1404620"/>
            <a:ext cx="1209675" cy="398780"/>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2000" b="1" i="0" u="none" strike="noStrike" kern="1200" cap="none" spc="0" normalizeH="0" baseline="0" noProof="0" dirty="0">
                <a:ln>
                  <a:noFill/>
                </a:ln>
                <a:solidFill>
                  <a:srgbClr val="FFFFFF"/>
                </a:solidFill>
                <a:effectLst/>
                <a:uLnTx/>
                <a:uFillTx/>
                <a:latin typeface="微软雅黑"/>
                <a:ea typeface="微软雅黑"/>
                <a:cs typeface="微软雅黑"/>
              </a:rPr>
              <a:t>业务环</a:t>
            </a:r>
            <a:endParaRPr kumimoji="0" lang="zh-CN" altLang="en-US" sz="20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1" name="矩形 40"/>
          <p:cNvSpPr/>
          <p:nvPr/>
        </p:nvSpPr>
        <p:spPr>
          <a:xfrm>
            <a:off x="10861180" y="1336658"/>
            <a:ext cx="652780" cy="553085"/>
          </a:xfrm>
          <a:prstGeom prst="rect">
            <a:avLst/>
          </a:prstGeom>
        </p:spPr>
        <p:txBody>
          <a:bodyPr wrap="none">
            <a:spAutoFit/>
          </a:bodyPr>
          <a:lstStyle/>
          <a:p>
            <a:pPr>
              <a:defRPr>
                <a:solidFill>
                  <a:srgbClr val="FFFFFF"/>
                </a:solidFill>
                <a:latin typeface="微软雅黑"/>
                <a:ea typeface="微软雅黑"/>
                <a:cs typeface="微软雅黑"/>
              </a:defRPr>
            </a:pPr>
            <a:r>
              <a:rPr kumimoji="1" lang="en-US" altLang="zh-CN" sz="3000" b="1" dirty="0">
                <a:solidFill>
                  <a:srgbClr val="FFFFFF"/>
                </a:solidFill>
                <a:gradFill>
                  <a:gsLst>
                    <a:gs pos="0">
                      <a:srgbClr val="FFFFFF">
                        <a:alpha val="0"/>
                      </a:srgbClr>
                    </a:gs>
                    <a:gs pos="91000">
                      <a:srgbClr val="FFFFFF"/>
                    </a:gs>
                  </a:gsLst>
                  <a:lin ang="16200000" scaled="0"/>
                </a:gradFill>
                <a:latin typeface="微软雅黑"/>
                <a:ea typeface="微软雅黑"/>
                <a:cs typeface="微软雅黑"/>
              </a:rPr>
              <a:t>02</a:t>
            </a:r>
            <a:endParaRPr kumimoji="1" lang="en-US" altLang="zh-CN" sz="3000" b="1" dirty="0">
              <a:solidFill>
                <a:srgbClr val="FFFFFF"/>
              </a:solidFill>
              <a:gradFill>
                <a:gsLst>
                  <a:gs pos="0">
                    <a:srgbClr val="FFFFFF">
                      <a:alpha val="0"/>
                    </a:srgbClr>
                  </a:gs>
                  <a:gs pos="91000">
                    <a:srgbClr val="FFFFFF"/>
                  </a:gs>
                </a:gsLst>
                <a:lin ang="16200000" scaled="0"/>
              </a:gradFill>
              <a:latin typeface="微软雅黑"/>
              <a:ea typeface="微软雅黑"/>
              <a:cs typeface="微软雅黑"/>
            </a:endParaRPr>
          </a:p>
        </p:txBody>
      </p:sp>
      <p:sp>
        <p:nvSpPr>
          <p:cNvPr id="50" name="矩形 49"/>
          <p:cNvSpPr/>
          <p:nvPr/>
        </p:nvSpPr>
        <p:spPr>
          <a:xfrm>
            <a:off x="9304655" y="4570095"/>
            <a:ext cx="2433320" cy="2120900"/>
          </a:xfrm>
          <a:prstGeom prst="rect">
            <a:avLst/>
          </a:prstGeom>
          <a:solidFill>
            <a:srgbClr val="E6E6E6">
              <a:alpha val="4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51" name="矩形 50"/>
          <p:cNvSpPr/>
          <p:nvPr/>
        </p:nvSpPr>
        <p:spPr>
          <a:xfrm>
            <a:off x="9304507" y="4090614"/>
            <a:ext cx="2431389" cy="668733"/>
          </a:xfrm>
          <a:prstGeom prst="rect">
            <a:avLst/>
          </a:prstGeom>
          <a:gradFill>
            <a:gsLst>
              <a:gs pos="0">
                <a:srgbClr val="0042FF"/>
              </a:gs>
              <a:gs pos="100000">
                <a:srgbClr val="3368FF"/>
              </a:gs>
            </a:gsLst>
            <a:lin ang="0" scaled="0"/>
          </a:gradFill>
          <a:ln w="38100" cap="flat" cmpd="sng" algn="ctr">
            <a:noFill/>
            <a:prstDash val="solid"/>
            <a:miter lim="800000"/>
          </a:ln>
          <a:effectLst/>
        </p:spPr>
        <p:txBody>
          <a:bodyPr lIns="0" tIns="0" rIns="0" bIns="0" rtlCol="0" anchor="ctr">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945" kern="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52" name="文本框 51"/>
          <p:cNvSpPr txBox="1"/>
          <p:nvPr/>
        </p:nvSpPr>
        <p:spPr>
          <a:xfrm>
            <a:off x="9557385" y="4225290"/>
            <a:ext cx="1209675" cy="398780"/>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2000" b="1" i="0" u="none" strike="noStrike" kern="1200" cap="none" spc="0" normalizeH="0" baseline="0" noProof="0" dirty="0">
                <a:ln>
                  <a:noFill/>
                </a:ln>
                <a:solidFill>
                  <a:srgbClr val="FFFFFF"/>
                </a:solidFill>
                <a:effectLst/>
                <a:uLnTx/>
                <a:uFillTx/>
                <a:latin typeface="微软雅黑"/>
                <a:ea typeface="微软雅黑"/>
                <a:cs typeface="微软雅黑"/>
              </a:rPr>
              <a:t>管理环</a:t>
            </a:r>
            <a:endParaRPr kumimoji="0" lang="zh-CN" altLang="en-US" sz="20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3" name="矩形 52"/>
          <p:cNvSpPr/>
          <p:nvPr/>
        </p:nvSpPr>
        <p:spPr>
          <a:xfrm>
            <a:off x="10859275" y="4157328"/>
            <a:ext cx="652780" cy="553085"/>
          </a:xfrm>
          <a:prstGeom prst="rect">
            <a:avLst/>
          </a:prstGeom>
        </p:spPr>
        <p:txBody>
          <a:bodyPr wrap="none">
            <a:spAutoFit/>
          </a:bodyPr>
          <a:lstStyle/>
          <a:p>
            <a:pPr>
              <a:defRPr>
                <a:solidFill>
                  <a:srgbClr val="FFFFFF"/>
                </a:solidFill>
                <a:latin typeface="微软雅黑"/>
                <a:ea typeface="微软雅黑"/>
                <a:cs typeface="微软雅黑"/>
              </a:defRPr>
            </a:pPr>
            <a:r>
              <a:rPr kumimoji="1" lang="en-US" altLang="zh-CN" sz="3000" b="1" dirty="0">
                <a:solidFill>
                  <a:srgbClr val="FFFFFF"/>
                </a:solidFill>
                <a:gradFill>
                  <a:gsLst>
                    <a:gs pos="0">
                      <a:srgbClr val="FFFFFF">
                        <a:alpha val="0"/>
                      </a:srgbClr>
                    </a:gs>
                    <a:gs pos="91000">
                      <a:srgbClr val="FFFFFF"/>
                    </a:gs>
                  </a:gsLst>
                  <a:lin ang="16200000" scaled="0"/>
                </a:gradFill>
                <a:latin typeface="微软雅黑"/>
                <a:ea typeface="微软雅黑"/>
                <a:cs typeface="微软雅黑"/>
              </a:rPr>
              <a:t>03</a:t>
            </a:r>
            <a:endParaRPr kumimoji="1" lang="en-US" altLang="zh-CN" sz="3000" b="1" dirty="0">
              <a:solidFill>
                <a:srgbClr val="FFFFFF"/>
              </a:solidFill>
              <a:gradFill>
                <a:gsLst>
                  <a:gs pos="0">
                    <a:srgbClr val="FFFFFF">
                      <a:alpha val="0"/>
                    </a:srgbClr>
                  </a:gs>
                  <a:gs pos="91000">
                    <a:srgbClr val="FFFFFF"/>
                  </a:gs>
                </a:gsLst>
                <a:lin ang="16200000" scaled="0"/>
              </a:gradFill>
              <a:latin typeface="微软雅黑"/>
              <a:ea typeface="微软雅黑"/>
              <a:cs typeface="微软雅黑"/>
            </a:endParaRPr>
          </a:p>
        </p:txBody>
      </p:sp>
      <p:sp>
        <p:nvSpPr>
          <p:cNvPr id="54" name="文本框 53"/>
          <p:cNvSpPr txBox="1"/>
          <p:nvPr/>
        </p:nvSpPr>
        <p:spPr>
          <a:xfrm>
            <a:off x="9467958" y="2099800"/>
            <a:ext cx="2046131" cy="1615440"/>
          </a:xfrm>
          <a:prstGeom prst="rect">
            <a:avLst/>
          </a:prstGeom>
          <a:noFill/>
        </p:spPr>
        <p:txBody>
          <a:bodyPr wrap="square" lIns="0" tIns="0" rIns="0" bIns="0" rtlCol="0">
            <a:spAutoFit/>
          </a:bodyPr>
          <a:lstStyle/>
          <a:p>
            <a:pPr marL="171450" marR="0" lvl="0" indent="-171450" algn="l"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业务环涵盖产品、服务、渠道、营销等环节，是将客户需求转化为实际交付的过程。运营需优化业务组合，提升产品竞争力，拓展触达渠道，并通过数据驱动决策，实现精准营销与高效转化。</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业务环的核心是</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创新</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执行</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，即不断迭代业务模式，同时确保落地效率。</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5" name="文本框 54"/>
          <p:cNvSpPr txBox="1"/>
          <p:nvPr/>
        </p:nvSpPr>
        <p:spPr>
          <a:xfrm>
            <a:off x="9467958" y="4911580"/>
            <a:ext cx="2046131" cy="1615440"/>
          </a:xfrm>
          <a:prstGeom prst="rect">
            <a:avLst/>
          </a:prstGeom>
          <a:noFill/>
        </p:spPr>
        <p:txBody>
          <a:bodyPr wrap="square" lIns="0" tIns="0" rIns="0" bIns="0" rtlCol="0">
            <a:spAutoFit/>
          </a:bodyPr>
          <a:lstStyle/>
          <a:p>
            <a:pPr marL="171450" marR="0" lvl="0" indent="-171450" algn="l"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管理环包括组织、流程、资源、绩效等支撑体系，为业务运营提供稳定保障。运营需建立敏捷的组织架构，优化流程效率，合理配置资源，并通过数字化工具提升管理透明度。</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l"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管理环的核心是</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协同</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优化</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，即协调各方资源，持续改进运营效能。</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6" name="Title 2"/>
          <p:cNvSpPr txBox="1"/>
          <p:nvPr/>
        </p:nvSpPr>
        <p:spPr>
          <a:xfrm>
            <a:off x="4785995" y="1765300"/>
            <a:ext cx="2639695" cy="1028065"/>
          </a:xfrm>
          <a:prstGeom prst="rect">
            <a:avLst/>
          </a:prstGeom>
        </p:spPr>
        <p:txBody>
          <a:bodyPr vert="horz" wrap="square" lIns="0" tIns="0" rIns="0" bIns="0" rtlCol="0" anchor="t" anchorCtr="0">
            <a:prstTxWarp prst="textArchUp">
              <a:avLst/>
            </a:prstTxWarp>
            <a:no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383838"/>
                </a:solidFill>
                <a:latin typeface="微软雅黑"/>
                <a:ea typeface="微软雅黑"/>
                <a:cs typeface="微软雅黑"/>
              </a:defRPr>
            </a:pPr>
            <a:r>
              <a:rPr lang="zh-CN" altLang="en-US" sz="1500" dirty="0">
                <a:solidFill>
                  <a:srgbClr val="383838"/>
                </a:solidFill>
                <a:latin typeface="微软雅黑"/>
                <a:ea typeface="微软雅黑"/>
                <a:cs typeface="微软雅黑"/>
              </a:rPr>
              <a:t>三环联动：运营闭环的构建</a:t>
            </a:r>
            <a:endParaRPr lang="zh-CN" altLang="en-US" sz="1500" dirty="0">
              <a:solidFill>
                <a:srgbClr val="383838"/>
              </a:solidFill>
              <a:latin typeface="微软雅黑"/>
              <a:ea typeface="微软雅黑"/>
              <a:cs typeface="微软雅黑"/>
            </a:endParaRPr>
          </a:p>
        </p:txBody>
      </p:sp>
      <p:sp>
        <p:nvSpPr>
          <p:cNvPr id="57" name="Title 2"/>
          <p:cNvSpPr txBox="1"/>
          <p:nvPr/>
        </p:nvSpPr>
        <p:spPr>
          <a:xfrm>
            <a:off x="4785995" y="4839970"/>
            <a:ext cx="2639695" cy="1028065"/>
          </a:xfrm>
          <a:prstGeom prst="rect">
            <a:avLst/>
          </a:prstGeom>
        </p:spPr>
        <p:txBody>
          <a:bodyPr vert="horz" wrap="square" lIns="0" tIns="0" rIns="0" bIns="0" rtlCol="0" anchor="t" anchorCtr="0">
            <a:prstTxWarp prst="textArchDown">
              <a:avLst/>
            </a:prstTxWarp>
            <a:no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500" dirty="0">
                <a:solidFill>
                  <a:srgbClr val="383838"/>
                </a:solidFill>
                <a:latin typeface="微软雅黑"/>
                <a:ea typeface="微软雅黑"/>
                <a:cs typeface="微软雅黑"/>
              </a:rPr>
              <a:t>相互依存，实现动态平衡</a:t>
            </a:r>
            <a:endParaRPr lang="zh-CN" altLang="en-US" sz="1500" dirty="0">
              <a:solidFill>
                <a:srgbClr val="383838"/>
              </a:solidFill>
              <a:latin typeface="微软雅黑"/>
              <a:ea typeface="微软雅黑"/>
              <a:cs typeface="微软雅黑"/>
            </a:endParaRPr>
          </a:p>
        </p:txBody>
      </p:sp>
      <p:pic>
        <p:nvPicPr>
          <p:cNvPr id="58" name="图片 57" descr="客户运营"/>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885815" y="3286125"/>
            <a:ext cx="516255" cy="516255"/>
          </a:xfrm>
          <a:prstGeom prst="rect">
            <a:avLst/>
          </a:prstGeom>
        </p:spPr>
      </p:pic>
      <p:sp>
        <p:nvSpPr>
          <p:cNvPr id="59" name="文本框 58"/>
          <p:cNvSpPr txBox="1"/>
          <p:nvPr>
            <p:custDataLst>
              <p:tags r:id="rId14"/>
            </p:custDataLst>
          </p:nvPr>
        </p:nvSpPr>
        <p:spPr>
          <a:xfrm>
            <a:off x="5210810" y="1158875"/>
            <a:ext cx="1694815" cy="245110"/>
          </a:xfrm>
          <a:prstGeom prst="rect">
            <a:avLst/>
          </a:prstGeom>
          <a:noFill/>
        </p:spPr>
        <p:txBody>
          <a:bodyPr wrap="square" lIns="0" tIns="0" rIns="0" bIns="0" rtlCol="0">
            <a:spAutoFit/>
          </a:body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rPr>
              <a:t>价值导向的核心</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61" name="文本框 60"/>
          <p:cNvSpPr txBox="1"/>
          <p:nvPr/>
        </p:nvSpPr>
        <p:spPr>
          <a:xfrm>
            <a:off x="8539480" y="2818130"/>
            <a:ext cx="398145" cy="1691640"/>
          </a:xfrm>
          <a:prstGeom prst="rect">
            <a:avLst/>
          </a:prstGeom>
        </p:spPr>
        <p:txBody>
          <a:bodyPr vert="eaVert" wrap="square">
            <a:sp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价值创造的载体</a:t>
            </a:r>
            <a:endParaRPr lang="zh-CN" altLang="en-US" sz="1400" b="1">
              <a:solidFill>
                <a:srgbClr val="0042FF"/>
              </a:solidFill>
              <a:latin typeface="微软雅黑"/>
              <a:ea typeface="微软雅黑"/>
              <a:cs typeface="微软雅黑"/>
            </a:endParaRPr>
          </a:p>
        </p:txBody>
      </p:sp>
      <p:sp>
        <p:nvSpPr>
          <p:cNvPr id="62" name="文本框 61"/>
          <p:cNvSpPr txBox="1"/>
          <p:nvPr>
            <p:custDataLst>
              <p:tags r:id="rId15"/>
            </p:custDataLst>
          </p:nvPr>
        </p:nvSpPr>
        <p:spPr>
          <a:xfrm>
            <a:off x="5488940" y="6299200"/>
            <a:ext cx="1694815" cy="245110"/>
          </a:xfrm>
          <a:prstGeom prst="rect">
            <a:avLst/>
          </a:prstGeom>
          <a:noFill/>
        </p:spPr>
        <p:txBody>
          <a:bodyPr wrap="square" lIns="0" tIns="0" rIns="0" bIns="0" rtlCol="0">
            <a:spAutoFit/>
          </a:body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rPr>
              <a:t>价值保障的基石</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63" name="文本框 62"/>
          <p:cNvSpPr txBox="1"/>
          <p:nvPr/>
        </p:nvSpPr>
        <p:spPr>
          <a:xfrm>
            <a:off x="3355340" y="3093085"/>
            <a:ext cx="398145" cy="1691640"/>
          </a:xfrm>
          <a:prstGeom prst="rect">
            <a:avLst/>
          </a:prstGeom>
        </p:spPr>
        <p:txBody>
          <a:bodyPr vert="eaVert" wrap="square">
            <a:sp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运营闭环的构建</a:t>
            </a:r>
            <a:endParaRPr lang="zh-CN" altLang="en-US" sz="1400" b="1">
              <a:solidFill>
                <a:srgbClr val="0042FF"/>
              </a:solidFill>
              <a:latin typeface="微软雅黑"/>
              <a:ea typeface="微软雅黑"/>
              <a:cs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6"/>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p:cNvGrpSpPr/>
          <p:nvPr>
            <p:custDataLst>
              <p:tags r:id="rId1"/>
            </p:custDataLst>
          </p:nvPr>
        </p:nvGrpSpPr>
        <p:grpSpPr>
          <a:xfrm>
            <a:off x="6816090" y="3864610"/>
            <a:ext cx="4956175" cy="1027430"/>
            <a:chOff x="10734" y="2022"/>
            <a:chExt cx="7805" cy="1618"/>
          </a:xfrm>
        </p:grpSpPr>
        <p:sp>
          <p:nvSpPr>
            <p:cNvPr id="69" name="矩形 68"/>
            <p:cNvSpPr/>
            <p:nvPr>
              <p:custDataLst>
                <p:tags r:id="rId2"/>
              </p:custDataLst>
            </p:nvPr>
          </p:nvSpPr>
          <p:spPr>
            <a:xfrm>
              <a:off x="10991" y="2022"/>
              <a:ext cx="7549" cy="1619"/>
            </a:xfrm>
            <a:prstGeom prst="rect">
              <a:avLst/>
            </a:prstGeom>
            <a:gradFill>
              <a:gsLst>
                <a:gs pos="0">
                  <a:srgbClr val="E6E6E6"/>
                </a:gs>
                <a:gs pos="100000">
                  <a:srgbClr val="E6E6E6">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64" name="YOYOON18"/>
            <p:cNvGrpSpPr/>
            <p:nvPr>
              <p:custDataLst>
                <p:tags r:id="rId3"/>
              </p:custDataLst>
            </p:nvPr>
          </p:nvGrpSpPr>
          <p:grpSpPr>
            <a:xfrm>
              <a:off x="10734" y="2266"/>
              <a:ext cx="1358" cy="1196"/>
              <a:chOff x="980251" y="2951842"/>
              <a:chExt cx="862530" cy="759408"/>
            </a:xfrm>
          </p:grpSpPr>
          <p:grpSp>
            <p:nvGrpSpPr>
              <p:cNvPr id="65" name="YOYOON22"/>
              <p:cNvGrpSpPr/>
              <p:nvPr/>
            </p:nvGrpSpPr>
            <p:grpSpPr>
              <a:xfrm>
                <a:off x="980251" y="2951842"/>
                <a:ext cx="862530" cy="759408"/>
                <a:chOff x="10369242" y="4351570"/>
                <a:chExt cx="1067876" cy="940203"/>
              </a:xfrm>
            </p:grpSpPr>
            <p:sp>
              <p:nvSpPr>
                <p:cNvPr id="66" name="YOYOON1"/>
                <p:cNvSpPr/>
                <p:nvPr>
                  <p:custDataLst>
                    <p:tags r:id="rId4"/>
                  </p:custDataLst>
                </p:nvPr>
              </p:nvSpPr>
              <p:spPr>
                <a:xfrm>
                  <a:off x="10369260" y="4517462"/>
                  <a:ext cx="1067841" cy="774311"/>
                </a:xfrm>
                <a:custGeom>
                  <a:avLst/>
                  <a:gdLst>
                    <a:gd name="connsiteX0" fmla="*/ 1322137 w 1322136"/>
                    <a:gd name="connsiteY0" fmla="*/ 273998 h 958705"/>
                    <a:gd name="connsiteX1" fmla="*/ 1267787 w 1322136"/>
                    <a:gd name="connsiteY1" fmla="*/ 273998 h 958705"/>
                    <a:gd name="connsiteX2" fmla="*/ 1115711 w 1322136"/>
                    <a:gd name="connsiteY2" fmla="*/ 121837 h 958705"/>
                    <a:gd name="connsiteX3" fmla="*/ 206426 w 1322136"/>
                    <a:gd name="connsiteY3" fmla="*/ 121837 h 958705"/>
                    <a:gd name="connsiteX4" fmla="*/ 54350 w 1322136"/>
                    <a:gd name="connsiteY4" fmla="*/ 273998 h 958705"/>
                    <a:gd name="connsiteX5" fmla="*/ 0 w 1322136"/>
                    <a:gd name="connsiteY5" fmla="*/ 273998 h 958705"/>
                    <a:gd name="connsiteX6" fmla="*/ 0 w 1322136"/>
                    <a:gd name="connsiteY6" fmla="*/ 479310 h 958705"/>
                    <a:gd name="connsiteX7" fmla="*/ 0 w 1322136"/>
                    <a:gd name="connsiteY7" fmla="*/ 479310 h 958705"/>
                    <a:gd name="connsiteX8" fmla="*/ 206426 w 1322136"/>
                    <a:gd name="connsiteY8" fmla="*/ 836869 h 958705"/>
                    <a:gd name="connsiteX9" fmla="*/ 206426 w 1322136"/>
                    <a:gd name="connsiteY9" fmla="*/ 836869 h 958705"/>
                    <a:gd name="connsiteX10" fmla="*/ 1115711 w 1322136"/>
                    <a:gd name="connsiteY10" fmla="*/ 836869 h 958705"/>
                    <a:gd name="connsiteX11" fmla="*/ 1115711 w 1322136"/>
                    <a:gd name="connsiteY11" fmla="*/ 836869 h 958705"/>
                    <a:gd name="connsiteX12" fmla="*/ 1322137 w 1322136"/>
                    <a:gd name="connsiteY12" fmla="*/ 479310 h 958705"/>
                    <a:gd name="connsiteX13" fmla="*/ 1322137 w 1322136"/>
                    <a:gd name="connsiteY13" fmla="*/ 479310 h 958705"/>
                    <a:gd name="connsiteX14" fmla="*/ 1322137 w 1322136"/>
                    <a:gd name="connsiteY14" fmla="*/ 273998 h 958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2136" h="958705">
                      <a:moveTo>
                        <a:pt x="1322137" y="273998"/>
                      </a:moveTo>
                      <a:lnTo>
                        <a:pt x="1267787" y="273998"/>
                      </a:lnTo>
                      <a:cubicBezTo>
                        <a:pt x="1233411" y="213734"/>
                        <a:pt x="1182919" y="160584"/>
                        <a:pt x="1115711" y="121837"/>
                      </a:cubicBezTo>
                      <a:cubicBezTo>
                        <a:pt x="834361" y="-40612"/>
                        <a:pt x="487775" y="-40612"/>
                        <a:pt x="206426" y="121837"/>
                      </a:cubicBezTo>
                      <a:cubicBezTo>
                        <a:pt x="139217" y="160670"/>
                        <a:pt x="88725" y="213734"/>
                        <a:pt x="54350" y="273998"/>
                      </a:cubicBezTo>
                      <a:lnTo>
                        <a:pt x="0" y="273998"/>
                      </a:lnTo>
                      <a:lnTo>
                        <a:pt x="0" y="479310"/>
                      </a:lnTo>
                      <a:lnTo>
                        <a:pt x="0" y="479310"/>
                      </a:lnTo>
                      <a:cubicBezTo>
                        <a:pt x="0" y="618356"/>
                        <a:pt x="68837" y="757402"/>
                        <a:pt x="206426" y="836869"/>
                      </a:cubicBezTo>
                      <a:lnTo>
                        <a:pt x="206426" y="836869"/>
                      </a:lnTo>
                      <a:cubicBezTo>
                        <a:pt x="487775" y="999318"/>
                        <a:pt x="834361" y="999318"/>
                        <a:pt x="1115711" y="836869"/>
                      </a:cubicBezTo>
                      <a:lnTo>
                        <a:pt x="1115711" y="836869"/>
                      </a:lnTo>
                      <a:cubicBezTo>
                        <a:pt x="1253300" y="757402"/>
                        <a:pt x="1322137" y="618356"/>
                        <a:pt x="1322137" y="479310"/>
                      </a:cubicBezTo>
                      <a:lnTo>
                        <a:pt x="1322137" y="479310"/>
                      </a:lnTo>
                      <a:lnTo>
                        <a:pt x="1322137" y="273998"/>
                      </a:lnTo>
                      <a:close/>
                    </a:path>
                  </a:pathLst>
                </a:custGeom>
                <a:solidFill>
                  <a:srgbClr val="0042FF"/>
                </a:solidFill>
                <a:ln w="8572" cap="flat">
                  <a:noFill/>
                  <a:prstDash val="solid"/>
                  <a:miter/>
                </a:ln>
              </p:spPr>
              <p:txBody>
                <a:bodyPr rtlCol="0" anchor="ctr"/>
                <a:lstStyle/>
                <a:p>
                  <a:pPr defTabSz="1828165">
                    <a:defRPr>
                      <a:solidFill>
                        <a:srgbClr val="FFFFFF"/>
                      </a:solidFill>
                      <a:latin typeface="微软雅黑"/>
                      <a:ea typeface="微软雅黑"/>
                      <a:cs typeface="微软雅黑"/>
                    </a:defRPr>
                  </a:pPr>
                  <a:endParaRPr lang="en-US" sz="1350">
                    <a:solidFill>
                      <a:srgbClr val="FFFFFF"/>
                    </a:solidFill>
                    <a:latin typeface="微软雅黑"/>
                    <a:ea typeface="微软雅黑"/>
                    <a:cs typeface="微软雅黑"/>
                  </a:endParaRPr>
                </a:p>
              </p:txBody>
            </p:sp>
            <p:sp>
              <p:nvSpPr>
                <p:cNvPr id="67" name="YOYOON2"/>
                <p:cNvSpPr/>
                <p:nvPr>
                  <p:custDataLst>
                    <p:tags r:id="rId5"/>
                  </p:custDataLst>
                </p:nvPr>
              </p:nvSpPr>
              <p:spPr>
                <a:xfrm>
                  <a:off x="10369242" y="4351570"/>
                  <a:ext cx="1067876" cy="774328"/>
                </a:xfrm>
                <a:custGeom>
                  <a:avLst/>
                  <a:gdLst>
                    <a:gd name="connsiteX0" fmla="*/ 1115732 w 1322179"/>
                    <a:gd name="connsiteY0" fmla="*/ 836955 h 958726"/>
                    <a:gd name="connsiteX1" fmla="*/ 1115732 w 1322179"/>
                    <a:gd name="connsiteY1" fmla="*/ 836955 h 958726"/>
                    <a:gd name="connsiteX2" fmla="*/ 1115732 w 1322179"/>
                    <a:gd name="connsiteY2" fmla="*/ 121837 h 958726"/>
                    <a:gd name="connsiteX3" fmla="*/ 1115732 w 1322179"/>
                    <a:gd name="connsiteY3" fmla="*/ 121837 h 958726"/>
                    <a:gd name="connsiteX4" fmla="*/ 206447 w 1322179"/>
                    <a:gd name="connsiteY4" fmla="*/ 121837 h 958726"/>
                    <a:gd name="connsiteX5" fmla="*/ 206447 w 1322179"/>
                    <a:gd name="connsiteY5" fmla="*/ 121837 h 958726"/>
                    <a:gd name="connsiteX6" fmla="*/ 206447 w 1322179"/>
                    <a:gd name="connsiteY6" fmla="*/ 836955 h 958726"/>
                    <a:gd name="connsiteX7" fmla="*/ 206447 w 1322179"/>
                    <a:gd name="connsiteY7" fmla="*/ 836955 h 958726"/>
                    <a:gd name="connsiteX8" fmla="*/ 1115732 w 1322179"/>
                    <a:gd name="connsiteY8" fmla="*/ 836955 h 95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2179" h="958726">
                      <a:moveTo>
                        <a:pt x="1115732" y="836955"/>
                      </a:moveTo>
                      <a:lnTo>
                        <a:pt x="1115732" y="836955"/>
                      </a:lnTo>
                      <a:cubicBezTo>
                        <a:pt x="1390995" y="678021"/>
                        <a:pt x="1390995" y="280771"/>
                        <a:pt x="1115732" y="121837"/>
                      </a:cubicBezTo>
                      <a:lnTo>
                        <a:pt x="1115732" y="121837"/>
                      </a:lnTo>
                      <a:cubicBezTo>
                        <a:pt x="834383" y="-40612"/>
                        <a:pt x="487797" y="-40612"/>
                        <a:pt x="206447" y="121837"/>
                      </a:cubicBezTo>
                      <a:lnTo>
                        <a:pt x="206447" y="121837"/>
                      </a:lnTo>
                      <a:cubicBezTo>
                        <a:pt x="-68816" y="280771"/>
                        <a:pt x="-68816" y="678021"/>
                        <a:pt x="206447" y="836955"/>
                      </a:cubicBezTo>
                      <a:lnTo>
                        <a:pt x="206447" y="836955"/>
                      </a:lnTo>
                      <a:cubicBezTo>
                        <a:pt x="487797" y="999318"/>
                        <a:pt x="834469" y="999318"/>
                        <a:pt x="1115732" y="836955"/>
                      </a:cubicBezTo>
                      <a:close/>
                    </a:path>
                  </a:pathLst>
                </a:custGeom>
                <a:solidFill>
                  <a:srgbClr val="3368FF"/>
                </a:solidFill>
                <a:ln w="8572" cap="flat">
                  <a:noFill/>
                  <a:prstDash val="solid"/>
                  <a:miter/>
                </a:ln>
              </p:spPr>
              <p:txBody>
                <a:bodyPr rtlCol="0" anchor="ctr"/>
                <a:lstStyle/>
                <a:p>
                  <a:pPr defTabSz="1828165">
                    <a:defRPr>
                      <a:solidFill>
                        <a:srgbClr val="FFFFFF"/>
                      </a:solidFill>
                      <a:latin typeface="微软雅黑"/>
                      <a:ea typeface="微软雅黑"/>
                      <a:cs typeface="微软雅黑"/>
                    </a:defRPr>
                  </a:pPr>
                  <a:endParaRPr lang="en-US" sz="1350">
                    <a:solidFill>
                      <a:srgbClr val="FFFFFF"/>
                    </a:solidFill>
                    <a:latin typeface="微软雅黑"/>
                    <a:ea typeface="微软雅黑"/>
                    <a:cs typeface="微软雅黑"/>
                  </a:endParaRPr>
                </a:p>
              </p:txBody>
            </p:sp>
          </p:grpSp>
          <p:sp>
            <p:nvSpPr>
              <p:cNvPr id="68" name="YOYOON23"/>
              <p:cNvSpPr/>
              <p:nvPr>
                <p:custDataLst>
                  <p:tags r:id="rId6"/>
                </p:custDataLst>
              </p:nvPr>
            </p:nvSpPr>
            <p:spPr>
              <a:xfrm>
                <a:off x="1082510" y="3105501"/>
                <a:ext cx="633877" cy="260332"/>
              </a:xfrm>
              <a:prstGeom prst="rect">
                <a:avLst/>
              </a:prstGeom>
              <a:ln w="12700">
                <a:miter lim="400000"/>
              </a:ln>
            </p:spPr>
            <p:txBody>
              <a:bodyPr lIns="25398" tIns="25398" rIns="25398" bIns="25398" anchor="ctr"/>
              <a:lstStyle>
                <a:lvl1pPr marL="40640" marR="40640" defTabSz="914400">
                  <a:buClr>
                    <a:srgbClr val="FFFFFF"/>
                  </a:buClr>
                  <a:buFont typeface="微软雅黑"/>
                  <a:defRPr sz="2400" b="1">
                    <a:solidFill>
                      <a:srgbClr val="FFFFFF"/>
                    </a:solidFill>
                    <a:uFill>
                      <a:solidFill>
                        <a:srgbClr val="383838"/>
                      </a:solidFill>
                    </a:uFill>
                    <a:latin typeface="微软雅黑"/>
                    <a:ea typeface="微软雅黑"/>
                    <a:cs typeface="微软雅黑"/>
                    <a:sym typeface="微软雅黑"/>
                  </a:defRPr>
                </a:lvl1pPr>
              </a:lstStyle>
              <a:p>
                <a:pPr lvl="0" algn="ctr">
                  <a:defRPr sz="1800" b="0">
                    <a:solidFill>
                      <a:srgbClr val="FFFFFF"/>
                    </a:solidFill>
                    <a:uFillTx/>
                    <a:latin typeface="微软雅黑"/>
                    <a:ea typeface="微软雅黑"/>
                    <a:cs typeface="微软雅黑"/>
                  </a:defRPr>
                </a:pPr>
                <a:r>
                  <a:rPr lang="zh-CN" sz="1200" b="1" dirty="0">
                    <a:solidFill>
                      <a:srgbClr val="FFFFFF"/>
                    </a:solidFill>
                    <a:latin typeface="微软雅黑"/>
                    <a:ea typeface="微软雅黑"/>
                    <a:cs typeface="微软雅黑"/>
                    <a:sym typeface="微软雅黑"/>
                  </a:rPr>
                  <a:t>③</a:t>
                </a:r>
                <a:r>
                  <a:rPr lang="en-US" altLang="zh-CN" sz="1200" b="1" dirty="0">
                    <a:solidFill>
                      <a:srgbClr val="FFFFFF"/>
                    </a:solidFill>
                    <a:latin typeface="微软雅黑"/>
                    <a:ea typeface="微软雅黑"/>
                    <a:cs typeface="微软雅黑"/>
                    <a:sym typeface="微软雅黑"/>
                  </a:rPr>
                  <a:t> </a:t>
                </a:r>
                <a:endParaRPr lang="en-US" altLang="zh-CN" sz="1200" b="1" dirty="0">
                  <a:solidFill>
                    <a:srgbClr val="FFFFFF"/>
                  </a:solidFill>
                  <a:latin typeface="微软雅黑"/>
                  <a:ea typeface="微软雅黑"/>
                  <a:cs typeface="微软雅黑"/>
                  <a:sym typeface="微软雅黑"/>
                </a:endParaRPr>
              </a:p>
              <a:p>
                <a:pPr lvl="0" algn="ctr">
                  <a:defRPr sz="1800" b="0">
                    <a:solidFill>
                      <a:srgbClr val="FFFFFF"/>
                    </a:solidFill>
                    <a:uFillTx/>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好效果</a:t>
                </a:r>
                <a:endParaRPr lang="zh-CN" altLang="en-US" sz="1200" b="1" dirty="0">
                  <a:solidFill>
                    <a:srgbClr val="FFFFFF"/>
                  </a:solidFill>
                  <a:latin typeface="微软雅黑"/>
                  <a:ea typeface="微软雅黑"/>
                  <a:cs typeface="微软雅黑"/>
                  <a:sym typeface="微软雅黑"/>
                </a:endParaRPr>
              </a:p>
            </p:txBody>
          </p:sp>
        </p:grpSp>
      </p:grpSp>
      <p:sp>
        <p:nvSpPr>
          <p:cNvPr id="25" name="椭圆 24"/>
          <p:cNvSpPr/>
          <p:nvPr/>
        </p:nvSpPr>
        <p:spPr>
          <a:xfrm>
            <a:off x="1583690" y="2398395"/>
            <a:ext cx="3142615" cy="3142615"/>
          </a:xfrm>
          <a:prstGeom prst="ellipse">
            <a:avLst/>
          </a:prstGeom>
          <a:solidFill>
            <a:srgbClr val="E6E6E6">
              <a:alpha val="3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en-US" altLang="zh-CN">
                <a:latin typeface="微软雅黑"/>
                <a:ea typeface="微软雅黑"/>
                <a:cs typeface="微软雅黑"/>
              </a:rPr>
              <a:t>.</a:t>
            </a:r>
            <a:endParaRPr lang="en-US" altLang="zh-CN">
              <a:latin typeface="微软雅黑"/>
              <a:ea typeface="微软雅黑"/>
              <a:cs typeface="微软雅黑"/>
            </a:endParaRPr>
          </a:p>
        </p:txBody>
      </p:sp>
      <p:sp>
        <p:nvSpPr>
          <p:cNvPr id="24" name="椭圆 23"/>
          <p:cNvSpPr/>
          <p:nvPr/>
        </p:nvSpPr>
        <p:spPr>
          <a:xfrm>
            <a:off x="1985963" y="2800668"/>
            <a:ext cx="2338070" cy="2338070"/>
          </a:xfrm>
          <a:prstGeom prst="ellipse">
            <a:avLst/>
          </a:prstGeom>
          <a:noFill/>
          <a:ln>
            <a:solidFill>
              <a:srgbClr val="668EFF">
                <a:alpha val="3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小红书客资经营链路图</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5600" y="186055"/>
            <a:ext cx="549910" cy="549910"/>
          </a:xfrm>
          <a:prstGeom prst="rect">
            <a:avLst/>
          </a:prstGeom>
        </p:spPr>
      </p:pic>
      <p:sp>
        <p:nvSpPr>
          <p:cNvPr id="97" name="空心弧 96"/>
          <p:cNvSpPr/>
          <p:nvPr/>
        </p:nvSpPr>
        <p:spPr>
          <a:xfrm flipH="1">
            <a:off x="430863" y="758771"/>
            <a:ext cx="6099349" cy="6099349"/>
          </a:xfrm>
          <a:prstGeom prst="blockArc">
            <a:avLst>
              <a:gd name="adj1" fmla="val 7769797"/>
              <a:gd name="adj2" fmla="val 13892912"/>
              <a:gd name="adj3" fmla="val 1736"/>
            </a:avLst>
          </a:prstGeom>
          <a:gradFill>
            <a:gsLst>
              <a:gs pos="0">
                <a:srgbClr val="B3D4FE"/>
              </a:gs>
              <a:gs pos="100000">
                <a:srgbClr val="3368FF">
                  <a:alpha val="70000"/>
                </a:srgbClr>
              </a:gs>
            </a:gsLst>
            <a:lin ang="162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98" name="等腰三角形 4"/>
          <p:cNvSpPr/>
          <p:nvPr/>
        </p:nvSpPr>
        <p:spPr>
          <a:xfrm rot="5400000">
            <a:off x="6449796" y="3671020"/>
            <a:ext cx="338555" cy="202622"/>
          </a:xfrm>
          <a:prstGeom prst="triangle">
            <a:avLst/>
          </a:prstGeom>
          <a:solidFill>
            <a:srgbClr val="B3D4FE"/>
          </a:soli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1"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99" name="文本框 98"/>
          <p:cNvSpPr txBox="1"/>
          <p:nvPr/>
        </p:nvSpPr>
        <p:spPr>
          <a:xfrm>
            <a:off x="5478780" y="3216910"/>
            <a:ext cx="881380" cy="829945"/>
          </a:xfrm>
          <a:prstGeom prst="rect">
            <a:avLst/>
          </a:prstGeom>
          <a:noFill/>
        </p:spPr>
        <p:txBody>
          <a:bodyPr wrap="squar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2400" b="1" i="0" u="none" strike="noStrike" kern="1200" cap="none" spc="0" normalizeH="0" baseline="0" noProof="0" dirty="0">
                <a:ln>
                  <a:noFill/>
                </a:ln>
                <a:solidFill>
                  <a:srgbClr val="383838"/>
                </a:solidFill>
                <a:effectLst/>
                <a:uLnTx/>
                <a:uFillTx/>
                <a:latin typeface="微软雅黑"/>
                <a:ea typeface="微软雅黑"/>
                <a:cs typeface="微软雅黑"/>
              </a:rPr>
              <a:t>核心逻辑</a:t>
            </a:r>
            <a:endParaRPr kumimoji="0" lang="zh-CN" altLang="en-US" sz="2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91" name="子陵职场PPT1"/>
          <p:cNvGrpSpPr/>
          <p:nvPr/>
        </p:nvGrpSpPr>
        <p:grpSpPr>
          <a:xfrm>
            <a:off x="6530340" y="5594350"/>
            <a:ext cx="5474970" cy="633095"/>
            <a:chOff x="1146486" y="4584771"/>
            <a:chExt cx="9845364" cy="633404"/>
          </a:xfrm>
        </p:grpSpPr>
        <p:sp>
          <p:nvSpPr>
            <p:cNvPr id="92" name="子陵职场PPT1-1"/>
            <p:cNvSpPr/>
            <p:nvPr/>
          </p:nvSpPr>
          <p:spPr>
            <a:xfrm>
              <a:off x="1147029" y="4584771"/>
              <a:ext cx="9844821" cy="524131"/>
            </a:xfrm>
            <a:prstGeom prst="trapezoid">
              <a:avLst>
                <a:gd name="adj" fmla="val 119447"/>
              </a:avLst>
            </a:prstGeom>
            <a:noFill/>
            <a:ln w="12700">
              <a:gradFill>
                <a:gsLst>
                  <a:gs pos="0">
                    <a:srgbClr val="FFFFFF"/>
                  </a:gs>
                  <a:gs pos="89000">
                    <a:srgbClr val="B3D4FE"/>
                  </a:gs>
                </a:gsLst>
                <a:lin ang="5400000" scaled="1"/>
              </a:grad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93" name="子陵职场PPT1-2"/>
            <p:cNvSpPr/>
            <p:nvPr/>
          </p:nvSpPr>
          <p:spPr>
            <a:xfrm>
              <a:off x="1146486" y="5109193"/>
              <a:ext cx="9845364" cy="108982"/>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74" name="组合 73"/>
          <p:cNvGrpSpPr/>
          <p:nvPr/>
        </p:nvGrpSpPr>
        <p:grpSpPr>
          <a:xfrm>
            <a:off x="6920230" y="5111115"/>
            <a:ext cx="1451610" cy="828675"/>
            <a:chOff x="10611" y="7965"/>
            <a:chExt cx="2286" cy="1305"/>
          </a:xfrm>
        </p:grpSpPr>
        <p:sp>
          <p:nvSpPr>
            <p:cNvPr id="149" name="子陵职场PPT80"/>
            <p:cNvSpPr txBox="1"/>
            <p:nvPr/>
          </p:nvSpPr>
          <p:spPr>
            <a:xfrm>
              <a:off x="10611" y="8690"/>
              <a:ext cx="2286" cy="580"/>
            </a:xfrm>
            <a:prstGeom prst="rect">
              <a:avLst/>
            </a:prstGeom>
            <a:noFill/>
          </p:spPr>
          <p:txBody>
            <a:bodyPr wrap="square" rtlCol="0">
              <a:spAutoFit/>
            </a:bodyPr>
            <a:lstStyle/>
            <a:p>
              <a:pPr algn="ctr">
                <a:lnSpc>
                  <a:spcPct val="90000"/>
                </a:lnSpc>
                <a:buClrTx/>
                <a:buSzTx/>
                <a:buFontTx/>
                <a:defRPr>
                  <a:latin typeface="微软雅黑"/>
                  <a:ea typeface="微软雅黑"/>
                  <a:cs typeface="微软雅黑"/>
                </a:defRPr>
              </a:pPr>
              <a:r>
                <a:rPr lang="zh-CN" altLang="en-US" sz="2000">
                  <a:solidFill>
                    <a:srgbClr val="0042FF"/>
                  </a:solidFill>
                  <a:effectLst/>
                  <a:latin typeface="微软雅黑"/>
                  <a:ea typeface="微软雅黑"/>
                  <a:cs typeface="微软雅黑"/>
                  <a:sym typeface="微软雅黑"/>
                </a:rPr>
                <a:t>心智起点</a:t>
              </a:r>
              <a:endParaRPr lang="zh-CN" altLang="en-US" sz="2000">
                <a:solidFill>
                  <a:srgbClr val="0042FF"/>
                </a:solidFill>
                <a:effectLst/>
                <a:latin typeface="微软雅黑"/>
                <a:ea typeface="微软雅黑"/>
                <a:cs typeface="微软雅黑"/>
                <a:sym typeface="微软雅黑"/>
              </a:endParaRPr>
            </a:p>
          </p:txBody>
        </p:sp>
        <p:sp>
          <p:nvSpPr>
            <p:cNvPr id="6" name="子陵职场PPT84"/>
            <p:cNvSpPr/>
            <p:nvPr/>
          </p:nvSpPr>
          <p:spPr>
            <a:xfrm>
              <a:off x="11337" y="7965"/>
              <a:ext cx="754" cy="726"/>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alpha val="7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11" name="子陵职场PPT8-37"/>
          <p:cNvSpPr/>
          <p:nvPr/>
        </p:nvSpPr>
        <p:spPr>
          <a:xfrm>
            <a:off x="2303145" y="3117850"/>
            <a:ext cx="1704340" cy="1704340"/>
          </a:xfrm>
          <a:prstGeom prst="ellipse">
            <a:avLst/>
          </a:prstGeom>
          <a:gradFill flip="none" rotWithShape="1">
            <a:gsLst>
              <a:gs pos="100000">
                <a:srgbClr val="0042FF">
                  <a:alpha val="10000"/>
                </a:srgbClr>
              </a:gs>
              <a:gs pos="88000">
                <a:srgbClr val="FFFFFF">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sp>
        <p:nvSpPr>
          <p:cNvPr id="12" name="子陵职场PPT8-38"/>
          <p:cNvSpPr/>
          <p:nvPr/>
        </p:nvSpPr>
        <p:spPr>
          <a:xfrm>
            <a:off x="2590800" y="3406140"/>
            <a:ext cx="1128395" cy="1129030"/>
          </a:xfrm>
          <a:prstGeom prst="ellipse">
            <a:avLst/>
          </a:prstGeom>
          <a:gradFill flip="none" rotWithShape="1">
            <a:gsLst>
              <a:gs pos="0">
                <a:srgbClr val="3368FF"/>
              </a:gs>
              <a:gs pos="100000">
                <a:srgbClr val="0042FF"/>
              </a:gs>
            </a:gsLst>
            <a:lin ang="2700000" scaled="1"/>
          </a:gradFill>
          <a:ln w="254000">
            <a:solidFill>
              <a:srgbClr val="0042FF">
                <a:alpha val="10000"/>
              </a:srgbClr>
            </a:soli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defRPr>
                <a:solidFill>
                  <a:srgbClr val="FFFFFF"/>
                </a:solidFill>
                <a:latin typeface="微软雅黑"/>
                <a:ea typeface="微软雅黑"/>
                <a:cs typeface="微软雅黑"/>
              </a:defRPr>
            </a:pPr>
            <a:endParaRPr kumimoji="1" lang="zh-CN" altLang="en-US" sz="2000">
              <a:solidFill>
                <a:srgbClr val="FFFFFF"/>
              </a:solidFill>
              <a:latin typeface="微软雅黑"/>
              <a:ea typeface="微软雅黑"/>
              <a:cs typeface="微软雅黑"/>
            </a:endParaRPr>
          </a:p>
        </p:txBody>
      </p:sp>
      <p:sp>
        <p:nvSpPr>
          <p:cNvPr id="13" name="子陵职场PPT8-45"/>
          <p:cNvSpPr txBox="1"/>
          <p:nvPr/>
        </p:nvSpPr>
        <p:spPr>
          <a:xfrm>
            <a:off x="2633345" y="3710305"/>
            <a:ext cx="1043940" cy="429895"/>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sz="2200" b="1" dirty="0">
                <a:solidFill>
                  <a:srgbClr val="FFFFFF"/>
                </a:solidFill>
                <a:latin typeface="微软雅黑"/>
                <a:ea typeface="微软雅黑"/>
                <a:cs typeface="微软雅黑"/>
                <a:sym typeface="微软雅黑"/>
              </a:rPr>
              <a:t>用户</a:t>
            </a:r>
            <a:endParaRPr kumimoji="1" lang="zh-CN" sz="2200" b="1" dirty="0">
              <a:solidFill>
                <a:srgbClr val="FFFFFF"/>
              </a:solidFill>
              <a:latin typeface="微软雅黑"/>
              <a:ea typeface="微软雅黑"/>
              <a:cs typeface="微软雅黑"/>
              <a:sym typeface="微软雅黑"/>
            </a:endParaRPr>
          </a:p>
        </p:txBody>
      </p:sp>
      <p:sp>
        <p:nvSpPr>
          <p:cNvPr id="14" name="圆角矩形 13"/>
          <p:cNvSpPr/>
          <p:nvPr/>
        </p:nvSpPr>
        <p:spPr>
          <a:xfrm>
            <a:off x="585153" y="4386580"/>
            <a:ext cx="1255395" cy="975360"/>
          </a:xfrm>
          <a:prstGeom prst="roundRect">
            <a:avLst>
              <a:gd name="adj" fmla="val 12209"/>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 name="圆角矩形 14"/>
          <p:cNvSpPr/>
          <p:nvPr/>
        </p:nvSpPr>
        <p:spPr>
          <a:xfrm>
            <a:off x="4548823" y="4386580"/>
            <a:ext cx="1255395" cy="975360"/>
          </a:xfrm>
          <a:prstGeom prst="roundRect">
            <a:avLst>
              <a:gd name="adj" fmla="val 12209"/>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6" name="圆角矩形 15"/>
          <p:cNvSpPr/>
          <p:nvPr/>
        </p:nvSpPr>
        <p:spPr>
          <a:xfrm>
            <a:off x="2573338" y="1473835"/>
            <a:ext cx="1255395" cy="975360"/>
          </a:xfrm>
          <a:prstGeom prst="roundRect">
            <a:avLst>
              <a:gd name="adj" fmla="val 12209"/>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cxnSp>
        <p:nvCxnSpPr>
          <p:cNvPr id="17" name="直接箭头连接符 16"/>
          <p:cNvCxnSpPr/>
          <p:nvPr/>
        </p:nvCxnSpPr>
        <p:spPr>
          <a:xfrm flipH="1">
            <a:off x="2036445" y="4508500"/>
            <a:ext cx="670560" cy="386715"/>
          </a:xfrm>
          <a:prstGeom prst="straightConnector1">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18" name="直接箭头连接符 17"/>
          <p:cNvCxnSpPr/>
          <p:nvPr/>
        </p:nvCxnSpPr>
        <p:spPr>
          <a:xfrm>
            <a:off x="3633470" y="4520565"/>
            <a:ext cx="640080" cy="372110"/>
          </a:xfrm>
          <a:prstGeom prst="straightConnector1">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19" name="直接箭头连接符 18"/>
          <p:cNvCxnSpPr/>
          <p:nvPr/>
        </p:nvCxnSpPr>
        <p:spPr>
          <a:xfrm flipH="1" flipV="1">
            <a:off x="3152140" y="2600325"/>
            <a:ext cx="8255" cy="682625"/>
          </a:xfrm>
          <a:prstGeom prst="straightConnector1">
            <a:avLst/>
          </a:prstGeom>
          <a:ln>
            <a:solidFill>
              <a:srgbClr val="B3D4FE"/>
            </a:solidFill>
            <a:tailEnd type="triangle"/>
          </a:ln>
        </p:spPr>
        <p:style>
          <a:lnRef idx="2">
            <a:srgbClr val="0042FF"/>
          </a:lnRef>
          <a:fillRef idx="0">
            <a:srgbClr val="FFFFFF"/>
          </a:fillRef>
          <a:effectRef idx="0">
            <a:srgbClr val="FFFFFF"/>
          </a:effectRef>
          <a:fontRef idx="minor">
            <a:srgbClr val="383838"/>
          </a:fontRef>
        </p:style>
      </p:cxnSp>
      <p:sp>
        <p:nvSpPr>
          <p:cNvPr id="20" name="弧形 19"/>
          <p:cNvSpPr/>
          <p:nvPr/>
        </p:nvSpPr>
        <p:spPr>
          <a:xfrm>
            <a:off x="1421130" y="2251710"/>
            <a:ext cx="3432175" cy="3432175"/>
          </a:xfrm>
          <a:prstGeom prst="arc">
            <a:avLst>
              <a:gd name="adj1" fmla="val 10288608"/>
              <a:gd name="adj2" fmla="val 14206022"/>
            </a:avLst>
          </a:prstGeom>
          <a:ln>
            <a:gradFill>
              <a:gsLst>
                <a:gs pos="0">
                  <a:srgbClr val="3368FF">
                    <a:alpha val="0"/>
                  </a:srgbClr>
                </a:gs>
                <a:gs pos="100000">
                  <a:srgbClr val="3368FF"/>
                </a:gs>
              </a:gsLst>
              <a:lin ang="16200000" scaled="1"/>
            </a:gra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1" name="等腰三角形 20"/>
          <p:cNvSpPr/>
          <p:nvPr/>
        </p:nvSpPr>
        <p:spPr>
          <a:xfrm rot="3720000">
            <a:off x="2159635" y="2413635"/>
            <a:ext cx="174625" cy="17462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 name="弧形 21"/>
          <p:cNvSpPr/>
          <p:nvPr/>
        </p:nvSpPr>
        <p:spPr>
          <a:xfrm>
            <a:off x="1421130" y="2251710"/>
            <a:ext cx="3432175" cy="3432175"/>
          </a:xfrm>
          <a:prstGeom prst="arc">
            <a:avLst>
              <a:gd name="adj1" fmla="val 17754356"/>
              <a:gd name="adj2" fmla="val 236515"/>
            </a:avLst>
          </a:prstGeom>
          <a:ln>
            <a:gradFill>
              <a:gsLst>
                <a:gs pos="0">
                  <a:srgbClr val="3368FF">
                    <a:alpha val="0"/>
                  </a:srgbClr>
                </a:gs>
                <a:gs pos="100000">
                  <a:srgbClr val="3368FF"/>
                </a:gs>
              </a:gsLst>
              <a:lin ang="5400000" scaled="1"/>
            </a:gra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3" name="弧形 22"/>
          <p:cNvSpPr/>
          <p:nvPr/>
        </p:nvSpPr>
        <p:spPr>
          <a:xfrm>
            <a:off x="1421130" y="2251710"/>
            <a:ext cx="3432175" cy="3432175"/>
          </a:xfrm>
          <a:prstGeom prst="arc">
            <a:avLst>
              <a:gd name="adj1" fmla="val 2977330"/>
              <a:gd name="adj2" fmla="val 7250850"/>
            </a:avLst>
          </a:prstGeom>
          <a:ln>
            <a:gradFill>
              <a:gsLst>
                <a:gs pos="0">
                  <a:srgbClr val="3368FF">
                    <a:alpha val="0"/>
                  </a:srgbClr>
                </a:gs>
                <a:gs pos="100000">
                  <a:srgbClr val="3368FF"/>
                </a:gs>
              </a:gsLst>
              <a:lin ang="10800000" scaled="1"/>
            </a:gra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7" name="等腰三角形 26"/>
          <p:cNvSpPr/>
          <p:nvPr/>
        </p:nvSpPr>
        <p:spPr>
          <a:xfrm rot="10800000">
            <a:off x="4766310" y="4046855"/>
            <a:ext cx="174625" cy="17462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4" name="©天蝎PPT27"/>
          <p:cNvSpPr txBox="1"/>
          <p:nvPr>
            <p:custDataLst>
              <p:tags r:id="rId9"/>
            </p:custDataLst>
          </p:nvPr>
        </p:nvSpPr>
        <p:spPr>
          <a:xfrm>
            <a:off x="2573020" y="1654493"/>
            <a:ext cx="1256030" cy="614045"/>
          </a:xfrm>
          <a:prstGeom prst="rect">
            <a:avLst/>
          </a:prstGeom>
          <a:noFill/>
        </p:spPr>
        <p:txBody>
          <a:bodyPr wrap="square">
            <a:spAutoFit/>
          </a:bodyPr>
          <a:lstStyle/>
          <a:p>
            <a:pPr algn="ctr" rtl="0">
              <a:defRPr>
                <a:latin typeface="微软雅黑"/>
                <a:ea typeface="微软雅黑"/>
                <a:cs typeface="微软雅黑"/>
              </a:defRPr>
            </a:pPr>
            <a:r>
              <a:rPr lang="zh-CN" altLang="en-US" sz="2000" b="1" dirty="0">
                <a:solidFill>
                  <a:srgbClr val="383838"/>
                </a:solidFill>
                <a:effectLst/>
                <a:latin typeface="微软雅黑"/>
                <a:ea typeface="微软雅黑"/>
                <a:cs typeface="微软雅黑"/>
                <a:sym typeface="微软雅黑"/>
              </a:rPr>
              <a:t>好内容</a:t>
            </a:r>
            <a:endParaRPr lang="zh-CN" altLang="en-US" sz="2000" b="1" dirty="0">
              <a:solidFill>
                <a:srgbClr val="383838"/>
              </a:solidFill>
              <a:effectLst/>
              <a:latin typeface="微软雅黑"/>
              <a:ea typeface="微软雅黑"/>
              <a:cs typeface="微软雅黑"/>
              <a:sym typeface="微软雅黑"/>
            </a:endParaRPr>
          </a:p>
          <a:p>
            <a:pPr algn="ctr" rtl="0">
              <a:defRPr>
                <a:latin typeface="微软雅黑"/>
                <a:ea typeface="微软雅黑"/>
                <a:cs typeface="微软雅黑"/>
              </a:defRPr>
            </a:pPr>
            <a:r>
              <a:rPr lang="zh-CN" altLang="en-US" sz="1400" dirty="0">
                <a:solidFill>
                  <a:srgbClr val="383838"/>
                </a:solidFill>
                <a:effectLst/>
                <a:latin typeface="微软雅黑"/>
                <a:ea typeface="微软雅黑"/>
                <a:cs typeface="微软雅黑"/>
                <a:sym typeface="微软雅黑"/>
              </a:rPr>
              <a:t>心智起点</a:t>
            </a:r>
            <a:endParaRPr lang="zh-CN" altLang="en-US" sz="1400" dirty="0">
              <a:solidFill>
                <a:srgbClr val="383838"/>
              </a:solidFill>
              <a:effectLst/>
              <a:latin typeface="微软雅黑"/>
              <a:ea typeface="微软雅黑"/>
              <a:cs typeface="微软雅黑"/>
              <a:sym typeface="微软雅黑"/>
            </a:endParaRPr>
          </a:p>
        </p:txBody>
      </p:sp>
      <p:sp>
        <p:nvSpPr>
          <p:cNvPr id="30" name="等腰三角形 29"/>
          <p:cNvSpPr/>
          <p:nvPr/>
        </p:nvSpPr>
        <p:spPr>
          <a:xfrm rot="17760000">
            <a:off x="2134870" y="5339715"/>
            <a:ext cx="174625" cy="17462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 name="©天蝎PPT27"/>
          <p:cNvSpPr txBox="1"/>
          <p:nvPr>
            <p:custDataLst>
              <p:tags r:id="rId10"/>
            </p:custDataLst>
          </p:nvPr>
        </p:nvSpPr>
        <p:spPr>
          <a:xfrm>
            <a:off x="584835" y="4567238"/>
            <a:ext cx="1256030" cy="614045"/>
          </a:xfrm>
          <a:prstGeom prst="rect">
            <a:avLst/>
          </a:prstGeom>
          <a:noFill/>
        </p:spPr>
        <p:txBody>
          <a:bodyPr wrap="square">
            <a:spAutoFit/>
          </a:bodyPr>
          <a:lstStyle/>
          <a:p>
            <a:pPr algn="ctr" rtl="0">
              <a:defRPr>
                <a:solidFill>
                  <a:srgbClr val="FFFFFF"/>
                </a:solidFill>
                <a:latin typeface="微软雅黑"/>
                <a:ea typeface="微软雅黑"/>
                <a:cs typeface="微软雅黑"/>
              </a:defRPr>
            </a:pPr>
            <a:r>
              <a:rPr lang="zh-CN" altLang="en-US" sz="2000" b="1" dirty="0">
                <a:solidFill>
                  <a:srgbClr val="FFFFFF"/>
                </a:solidFill>
                <a:effectLst/>
                <a:latin typeface="微软雅黑"/>
                <a:ea typeface="微软雅黑"/>
                <a:cs typeface="微软雅黑"/>
                <a:sym typeface="微软雅黑"/>
              </a:rPr>
              <a:t>有效投放</a:t>
            </a:r>
            <a:endParaRPr lang="zh-CN" altLang="en-US" sz="2000" b="1" dirty="0">
              <a:solidFill>
                <a:srgbClr val="FFFFFF"/>
              </a:solidFill>
              <a:effectLst/>
              <a:latin typeface="微软雅黑"/>
              <a:ea typeface="微软雅黑"/>
              <a:cs typeface="微软雅黑"/>
              <a:sym typeface="微软雅黑"/>
            </a:endParaRPr>
          </a:p>
          <a:p>
            <a:pPr algn="ctr" rtl="0">
              <a:defRPr>
                <a:solidFill>
                  <a:srgbClr val="FFFFFF"/>
                </a:solidFill>
                <a:latin typeface="微软雅黑"/>
                <a:ea typeface="微软雅黑"/>
                <a:cs typeface="微软雅黑"/>
              </a:defRPr>
            </a:pPr>
            <a:r>
              <a:rPr lang="zh-CN" altLang="en-US" sz="1400" dirty="0">
                <a:solidFill>
                  <a:srgbClr val="FFFFFF"/>
                </a:solidFill>
                <a:effectLst/>
                <a:latin typeface="微软雅黑"/>
                <a:ea typeface="微软雅黑"/>
                <a:cs typeface="微软雅黑"/>
                <a:sym typeface="微软雅黑"/>
              </a:rPr>
              <a:t>生意放大</a:t>
            </a:r>
            <a:endParaRPr lang="zh-CN" altLang="en-US" sz="1400" dirty="0">
              <a:solidFill>
                <a:srgbClr val="FFFFFF"/>
              </a:solidFill>
              <a:effectLst/>
              <a:latin typeface="微软雅黑"/>
              <a:ea typeface="微软雅黑"/>
              <a:cs typeface="微软雅黑"/>
              <a:sym typeface="微软雅黑"/>
            </a:endParaRPr>
          </a:p>
        </p:txBody>
      </p:sp>
      <p:sp>
        <p:nvSpPr>
          <p:cNvPr id="32" name="©天蝎PPT27"/>
          <p:cNvSpPr txBox="1"/>
          <p:nvPr>
            <p:custDataLst>
              <p:tags r:id="rId11"/>
            </p:custDataLst>
          </p:nvPr>
        </p:nvSpPr>
        <p:spPr>
          <a:xfrm>
            <a:off x="4548505" y="4567238"/>
            <a:ext cx="1256030" cy="614045"/>
          </a:xfrm>
          <a:prstGeom prst="rect">
            <a:avLst/>
          </a:prstGeom>
          <a:noFill/>
        </p:spPr>
        <p:txBody>
          <a:bodyPr wrap="square">
            <a:spAutoFit/>
          </a:bodyPr>
          <a:lstStyle/>
          <a:p>
            <a:pPr algn="ctr" rtl="0">
              <a:defRPr>
                <a:solidFill>
                  <a:srgbClr val="FFFFFF"/>
                </a:solidFill>
                <a:latin typeface="微软雅黑"/>
                <a:ea typeface="微软雅黑"/>
                <a:cs typeface="微软雅黑"/>
              </a:defRPr>
            </a:pPr>
            <a:r>
              <a:rPr lang="zh-CN" altLang="en-US" sz="2000" b="1" dirty="0">
                <a:solidFill>
                  <a:srgbClr val="FFFFFF"/>
                </a:solidFill>
                <a:effectLst/>
                <a:latin typeface="微软雅黑"/>
                <a:ea typeface="微软雅黑"/>
                <a:cs typeface="微软雅黑"/>
                <a:sym typeface="微软雅黑"/>
              </a:rPr>
              <a:t>私信承接</a:t>
            </a:r>
            <a:endParaRPr lang="zh-CN" altLang="en-US" sz="2000" b="1" dirty="0">
              <a:solidFill>
                <a:srgbClr val="FFFFFF"/>
              </a:solidFill>
              <a:effectLst/>
              <a:latin typeface="微软雅黑"/>
              <a:ea typeface="微软雅黑"/>
              <a:cs typeface="微软雅黑"/>
              <a:sym typeface="微软雅黑"/>
            </a:endParaRPr>
          </a:p>
          <a:p>
            <a:pPr algn="ctr" rtl="0">
              <a:defRPr>
                <a:solidFill>
                  <a:srgbClr val="FFFFFF"/>
                </a:solidFill>
                <a:latin typeface="微软雅黑"/>
                <a:ea typeface="微软雅黑"/>
                <a:cs typeface="微软雅黑"/>
              </a:defRPr>
            </a:pPr>
            <a:r>
              <a:rPr lang="zh-CN" altLang="en-US" sz="1400" dirty="0">
                <a:solidFill>
                  <a:srgbClr val="FFFFFF"/>
                </a:solidFill>
                <a:effectLst/>
                <a:latin typeface="微软雅黑"/>
                <a:ea typeface="微软雅黑"/>
                <a:cs typeface="微软雅黑"/>
                <a:sym typeface="微软雅黑"/>
              </a:rPr>
              <a:t>经营通道</a:t>
            </a:r>
            <a:endParaRPr lang="zh-CN" altLang="en-US" sz="1400" dirty="0">
              <a:solidFill>
                <a:srgbClr val="FFFFFF"/>
              </a:solidFill>
              <a:effectLst/>
              <a:latin typeface="微软雅黑"/>
              <a:ea typeface="微软雅黑"/>
              <a:cs typeface="微软雅黑"/>
              <a:sym typeface="微软雅黑"/>
            </a:endParaRPr>
          </a:p>
        </p:txBody>
      </p:sp>
      <p:sp>
        <p:nvSpPr>
          <p:cNvPr id="33" name="©天蝎PPT27"/>
          <p:cNvSpPr txBox="1"/>
          <p:nvPr>
            <p:custDataLst>
              <p:tags r:id="rId12"/>
            </p:custDataLst>
          </p:nvPr>
        </p:nvSpPr>
        <p:spPr>
          <a:xfrm>
            <a:off x="3068320" y="2800668"/>
            <a:ext cx="1256030" cy="306705"/>
          </a:xfrm>
          <a:prstGeom prst="rect">
            <a:avLst/>
          </a:prstGeom>
          <a:noFill/>
        </p:spPr>
        <p:txBody>
          <a:bodyPr wrap="square">
            <a:spAutoFit/>
          </a:bodyPr>
          <a:lstStyle/>
          <a:p>
            <a:pPr algn="ctr" rtl="0">
              <a:defRPr>
                <a:latin typeface="微软雅黑"/>
                <a:ea typeface="微软雅黑"/>
                <a:cs typeface="微软雅黑"/>
              </a:defRPr>
            </a:pPr>
            <a:r>
              <a:rPr lang="zh-CN" altLang="en-US" sz="1400" dirty="0">
                <a:solidFill>
                  <a:srgbClr val="383838"/>
                </a:solidFill>
                <a:effectLst/>
                <a:latin typeface="微软雅黑"/>
                <a:ea typeface="微软雅黑"/>
                <a:cs typeface="微软雅黑"/>
                <a:sym typeface="微软雅黑"/>
              </a:rPr>
              <a:t>消费内容</a:t>
            </a:r>
            <a:endParaRPr lang="zh-CN" altLang="en-US" sz="1400" dirty="0">
              <a:solidFill>
                <a:srgbClr val="383838"/>
              </a:solidFill>
              <a:effectLst/>
              <a:latin typeface="微软雅黑"/>
              <a:ea typeface="微软雅黑"/>
              <a:cs typeface="微软雅黑"/>
              <a:sym typeface="微软雅黑"/>
            </a:endParaRPr>
          </a:p>
        </p:txBody>
      </p:sp>
      <p:sp>
        <p:nvSpPr>
          <p:cNvPr id="34" name="©天蝎PPT27"/>
          <p:cNvSpPr txBox="1"/>
          <p:nvPr>
            <p:custDataLst>
              <p:tags r:id="rId13"/>
            </p:custDataLst>
          </p:nvPr>
        </p:nvSpPr>
        <p:spPr>
          <a:xfrm>
            <a:off x="1619250" y="4260533"/>
            <a:ext cx="1256030" cy="306705"/>
          </a:xfrm>
          <a:prstGeom prst="rect">
            <a:avLst/>
          </a:prstGeom>
          <a:noFill/>
        </p:spPr>
        <p:txBody>
          <a:bodyPr wrap="square">
            <a:spAutoFit/>
          </a:bodyPr>
          <a:lstStyle/>
          <a:p>
            <a:pPr algn="ctr" rtl="0">
              <a:defRPr>
                <a:latin typeface="微软雅黑"/>
                <a:ea typeface="微软雅黑"/>
                <a:cs typeface="微软雅黑"/>
              </a:defRPr>
            </a:pPr>
            <a:r>
              <a:rPr lang="zh-CN" altLang="en-US" sz="1400" dirty="0">
                <a:solidFill>
                  <a:srgbClr val="383838"/>
                </a:solidFill>
                <a:effectLst/>
                <a:latin typeface="微软雅黑"/>
                <a:ea typeface="微软雅黑"/>
                <a:cs typeface="微软雅黑"/>
                <a:sym typeface="微软雅黑"/>
              </a:rPr>
              <a:t>洞察助力</a:t>
            </a:r>
            <a:endParaRPr lang="zh-CN" altLang="en-US" sz="1400" dirty="0">
              <a:solidFill>
                <a:srgbClr val="383838"/>
              </a:solidFill>
              <a:effectLst/>
              <a:latin typeface="微软雅黑"/>
              <a:ea typeface="微软雅黑"/>
              <a:cs typeface="微软雅黑"/>
              <a:sym typeface="微软雅黑"/>
            </a:endParaRPr>
          </a:p>
        </p:txBody>
      </p:sp>
      <p:sp>
        <p:nvSpPr>
          <p:cNvPr id="35" name="©天蝎PPT27"/>
          <p:cNvSpPr txBox="1"/>
          <p:nvPr>
            <p:custDataLst>
              <p:tags r:id="rId14"/>
            </p:custDataLst>
          </p:nvPr>
        </p:nvSpPr>
        <p:spPr>
          <a:xfrm>
            <a:off x="3510280" y="4296728"/>
            <a:ext cx="1256030" cy="306705"/>
          </a:xfrm>
          <a:prstGeom prst="rect">
            <a:avLst/>
          </a:prstGeom>
          <a:noFill/>
        </p:spPr>
        <p:txBody>
          <a:bodyPr wrap="square">
            <a:spAutoFit/>
          </a:bodyPr>
          <a:lstStyle/>
          <a:p>
            <a:pPr algn="ctr" rtl="0">
              <a:defRPr>
                <a:latin typeface="微软雅黑"/>
                <a:ea typeface="微软雅黑"/>
                <a:cs typeface="微软雅黑"/>
              </a:defRPr>
            </a:pPr>
            <a:r>
              <a:rPr lang="zh-CN" altLang="en-US" sz="1400" dirty="0">
                <a:solidFill>
                  <a:srgbClr val="383838"/>
                </a:solidFill>
                <a:effectLst/>
                <a:latin typeface="微软雅黑"/>
                <a:ea typeface="微软雅黑"/>
                <a:cs typeface="微软雅黑"/>
                <a:sym typeface="微软雅黑"/>
              </a:rPr>
              <a:t>人感咨询</a:t>
            </a:r>
            <a:endParaRPr lang="zh-CN" altLang="en-US" sz="1400" dirty="0">
              <a:solidFill>
                <a:srgbClr val="383838"/>
              </a:solidFill>
              <a:effectLst/>
              <a:latin typeface="微软雅黑"/>
              <a:ea typeface="微软雅黑"/>
              <a:cs typeface="微软雅黑"/>
              <a:sym typeface="微软雅黑"/>
            </a:endParaRPr>
          </a:p>
        </p:txBody>
      </p:sp>
      <p:grpSp>
        <p:nvGrpSpPr>
          <p:cNvPr id="61" name="组合 60"/>
          <p:cNvGrpSpPr/>
          <p:nvPr>
            <p:custDataLst>
              <p:tags r:id="rId15"/>
            </p:custDataLst>
          </p:nvPr>
        </p:nvGrpSpPr>
        <p:grpSpPr>
          <a:xfrm>
            <a:off x="6816090" y="1283970"/>
            <a:ext cx="4956175" cy="1027430"/>
            <a:chOff x="10734" y="2022"/>
            <a:chExt cx="7805" cy="1618"/>
          </a:xfrm>
        </p:grpSpPr>
        <p:sp>
          <p:nvSpPr>
            <p:cNvPr id="48" name="矩形 47"/>
            <p:cNvSpPr/>
            <p:nvPr>
              <p:custDataLst>
                <p:tags r:id="rId16"/>
              </p:custDataLst>
            </p:nvPr>
          </p:nvSpPr>
          <p:spPr>
            <a:xfrm>
              <a:off x="10991" y="2022"/>
              <a:ext cx="7549" cy="1619"/>
            </a:xfrm>
            <a:prstGeom prst="rect">
              <a:avLst/>
            </a:prstGeom>
            <a:gradFill>
              <a:gsLst>
                <a:gs pos="0">
                  <a:srgbClr val="E6E6E6"/>
                </a:gs>
                <a:gs pos="100000">
                  <a:srgbClr val="E6E6E6">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41" name="YOYOON18"/>
            <p:cNvGrpSpPr/>
            <p:nvPr>
              <p:custDataLst>
                <p:tags r:id="rId17"/>
              </p:custDataLst>
            </p:nvPr>
          </p:nvGrpSpPr>
          <p:grpSpPr>
            <a:xfrm>
              <a:off x="10734" y="2266"/>
              <a:ext cx="1358" cy="1196"/>
              <a:chOff x="980251" y="2951842"/>
              <a:chExt cx="862530" cy="759408"/>
            </a:xfrm>
          </p:grpSpPr>
          <p:grpSp>
            <p:nvGrpSpPr>
              <p:cNvPr id="44" name="YOYOON22"/>
              <p:cNvGrpSpPr/>
              <p:nvPr/>
            </p:nvGrpSpPr>
            <p:grpSpPr>
              <a:xfrm>
                <a:off x="980251" y="2951842"/>
                <a:ext cx="862530" cy="759408"/>
                <a:chOff x="10369242" y="4351570"/>
                <a:chExt cx="1067876" cy="940203"/>
              </a:xfrm>
            </p:grpSpPr>
            <p:sp>
              <p:nvSpPr>
                <p:cNvPr id="45" name="YOYOON1"/>
                <p:cNvSpPr/>
                <p:nvPr>
                  <p:custDataLst>
                    <p:tags r:id="rId18"/>
                  </p:custDataLst>
                </p:nvPr>
              </p:nvSpPr>
              <p:spPr>
                <a:xfrm>
                  <a:off x="10369260" y="4517462"/>
                  <a:ext cx="1067841" cy="774311"/>
                </a:xfrm>
                <a:custGeom>
                  <a:avLst/>
                  <a:gdLst>
                    <a:gd name="connsiteX0" fmla="*/ 1322137 w 1322136"/>
                    <a:gd name="connsiteY0" fmla="*/ 273998 h 958705"/>
                    <a:gd name="connsiteX1" fmla="*/ 1267787 w 1322136"/>
                    <a:gd name="connsiteY1" fmla="*/ 273998 h 958705"/>
                    <a:gd name="connsiteX2" fmla="*/ 1115711 w 1322136"/>
                    <a:gd name="connsiteY2" fmla="*/ 121837 h 958705"/>
                    <a:gd name="connsiteX3" fmla="*/ 206426 w 1322136"/>
                    <a:gd name="connsiteY3" fmla="*/ 121837 h 958705"/>
                    <a:gd name="connsiteX4" fmla="*/ 54350 w 1322136"/>
                    <a:gd name="connsiteY4" fmla="*/ 273998 h 958705"/>
                    <a:gd name="connsiteX5" fmla="*/ 0 w 1322136"/>
                    <a:gd name="connsiteY5" fmla="*/ 273998 h 958705"/>
                    <a:gd name="connsiteX6" fmla="*/ 0 w 1322136"/>
                    <a:gd name="connsiteY6" fmla="*/ 479310 h 958705"/>
                    <a:gd name="connsiteX7" fmla="*/ 0 w 1322136"/>
                    <a:gd name="connsiteY7" fmla="*/ 479310 h 958705"/>
                    <a:gd name="connsiteX8" fmla="*/ 206426 w 1322136"/>
                    <a:gd name="connsiteY8" fmla="*/ 836869 h 958705"/>
                    <a:gd name="connsiteX9" fmla="*/ 206426 w 1322136"/>
                    <a:gd name="connsiteY9" fmla="*/ 836869 h 958705"/>
                    <a:gd name="connsiteX10" fmla="*/ 1115711 w 1322136"/>
                    <a:gd name="connsiteY10" fmla="*/ 836869 h 958705"/>
                    <a:gd name="connsiteX11" fmla="*/ 1115711 w 1322136"/>
                    <a:gd name="connsiteY11" fmla="*/ 836869 h 958705"/>
                    <a:gd name="connsiteX12" fmla="*/ 1322137 w 1322136"/>
                    <a:gd name="connsiteY12" fmla="*/ 479310 h 958705"/>
                    <a:gd name="connsiteX13" fmla="*/ 1322137 w 1322136"/>
                    <a:gd name="connsiteY13" fmla="*/ 479310 h 958705"/>
                    <a:gd name="connsiteX14" fmla="*/ 1322137 w 1322136"/>
                    <a:gd name="connsiteY14" fmla="*/ 273998 h 958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2136" h="958705">
                      <a:moveTo>
                        <a:pt x="1322137" y="273998"/>
                      </a:moveTo>
                      <a:lnTo>
                        <a:pt x="1267787" y="273998"/>
                      </a:lnTo>
                      <a:cubicBezTo>
                        <a:pt x="1233411" y="213734"/>
                        <a:pt x="1182919" y="160584"/>
                        <a:pt x="1115711" y="121837"/>
                      </a:cubicBezTo>
                      <a:cubicBezTo>
                        <a:pt x="834361" y="-40612"/>
                        <a:pt x="487775" y="-40612"/>
                        <a:pt x="206426" y="121837"/>
                      </a:cubicBezTo>
                      <a:cubicBezTo>
                        <a:pt x="139217" y="160670"/>
                        <a:pt x="88725" y="213734"/>
                        <a:pt x="54350" y="273998"/>
                      </a:cubicBezTo>
                      <a:lnTo>
                        <a:pt x="0" y="273998"/>
                      </a:lnTo>
                      <a:lnTo>
                        <a:pt x="0" y="479310"/>
                      </a:lnTo>
                      <a:lnTo>
                        <a:pt x="0" y="479310"/>
                      </a:lnTo>
                      <a:cubicBezTo>
                        <a:pt x="0" y="618356"/>
                        <a:pt x="68837" y="757402"/>
                        <a:pt x="206426" y="836869"/>
                      </a:cubicBezTo>
                      <a:lnTo>
                        <a:pt x="206426" y="836869"/>
                      </a:lnTo>
                      <a:cubicBezTo>
                        <a:pt x="487775" y="999318"/>
                        <a:pt x="834361" y="999318"/>
                        <a:pt x="1115711" y="836869"/>
                      </a:cubicBezTo>
                      <a:lnTo>
                        <a:pt x="1115711" y="836869"/>
                      </a:lnTo>
                      <a:cubicBezTo>
                        <a:pt x="1253300" y="757402"/>
                        <a:pt x="1322137" y="618356"/>
                        <a:pt x="1322137" y="479310"/>
                      </a:cubicBezTo>
                      <a:lnTo>
                        <a:pt x="1322137" y="479310"/>
                      </a:lnTo>
                      <a:lnTo>
                        <a:pt x="1322137" y="273998"/>
                      </a:lnTo>
                      <a:close/>
                    </a:path>
                  </a:pathLst>
                </a:custGeom>
                <a:solidFill>
                  <a:srgbClr val="0042FF"/>
                </a:solidFill>
                <a:ln w="8572" cap="flat">
                  <a:noFill/>
                  <a:prstDash val="solid"/>
                  <a:miter/>
                </a:ln>
              </p:spPr>
              <p:txBody>
                <a:bodyPr rtlCol="0" anchor="ctr"/>
                <a:lstStyle/>
                <a:p>
                  <a:pPr defTabSz="1828165">
                    <a:defRPr>
                      <a:solidFill>
                        <a:srgbClr val="FFFFFF"/>
                      </a:solidFill>
                      <a:latin typeface="微软雅黑"/>
                      <a:ea typeface="微软雅黑"/>
                      <a:cs typeface="微软雅黑"/>
                    </a:defRPr>
                  </a:pPr>
                  <a:endParaRPr lang="en-US" sz="1350">
                    <a:solidFill>
                      <a:srgbClr val="FFFFFF"/>
                    </a:solidFill>
                    <a:latin typeface="微软雅黑"/>
                    <a:ea typeface="微软雅黑"/>
                    <a:cs typeface="微软雅黑"/>
                  </a:endParaRPr>
                </a:p>
              </p:txBody>
            </p:sp>
            <p:sp>
              <p:nvSpPr>
                <p:cNvPr id="46" name="YOYOON2"/>
                <p:cNvSpPr/>
                <p:nvPr>
                  <p:custDataLst>
                    <p:tags r:id="rId19"/>
                  </p:custDataLst>
                </p:nvPr>
              </p:nvSpPr>
              <p:spPr>
                <a:xfrm>
                  <a:off x="10369242" y="4351570"/>
                  <a:ext cx="1067876" cy="774328"/>
                </a:xfrm>
                <a:custGeom>
                  <a:avLst/>
                  <a:gdLst>
                    <a:gd name="connsiteX0" fmla="*/ 1115732 w 1322179"/>
                    <a:gd name="connsiteY0" fmla="*/ 836955 h 958726"/>
                    <a:gd name="connsiteX1" fmla="*/ 1115732 w 1322179"/>
                    <a:gd name="connsiteY1" fmla="*/ 836955 h 958726"/>
                    <a:gd name="connsiteX2" fmla="*/ 1115732 w 1322179"/>
                    <a:gd name="connsiteY2" fmla="*/ 121837 h 958726"/>
                    <a:gd name="connsiteX3" fmla="*/ 1115732 w 1322179"/>
                    <a:gd name="connsiteY3" fmla="*/ 121837 h 958726"/>
                    <a:gd name="connsiteX4" fmla="*/ 206447 w 1322179"/>
                    <a:gd name="connsiteY4" fmla="*/ 121837 h 958726"/>
                    <a:gd name="connsiteX5" fmla="*/ 206447 w 1322179"/>
                    <a:gd name="connsiteY5" fmla="*/ 121837 h 958726"/>
                    <a:gd name="connsiteX6" fmla="*/ 206447 w 1322179"/>
                    <a:gd name="connsiteY6" fmla="*/ 836955 h 958726"/>
                    <a:gd name="connsiteX7" fmla="*/ 206447 w 1322179"/>
                    <a:gd name="connsiteY7" fmla="*/ 836955 h 958726"/>
                    <a:gd name="connsiteX8" fmla="*/ 1115732 w 1322179"/>
                    <a:gd name="connsiteY8" fmla="*/ 836955 h 95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2179" h="958726">
                      <a:moveTo>
                        <a:pt x="1115732" y="836955"/>
                      </a:moveTo>
                      <a:lnTo>
                        <a:pt x="1115732" y="836955"/>
                      </a:lnTo>
                      <a:cubicBezTo>
                        <a:pt x="1390995" y="678021"/>
                        <a:pt x="1390995" y="280771"/>
                        <a:pt x="1115732" y="121837"/>
                      </a:cubicBezTo>
                      <a:lnTo>
                        <a:pt x="1115732" y="121837"/>
                      </a:lnTo>
                      <a:cubicBezTo>
                        <a:pt x="834383" y="-40612"/>
                        <a:pt x="487797" y="-40612"/>
                        <a:pt x="206447" y="121837"/>
                      </a:cubicBezTo>
                      <a:lnTo>
                        <a:pt x="206447" y="121837"/>
                      </a:lnTo>
                      <a:cubicBezTo>
                        <a:pt x="-68816" y="280771"/>
                        <a:pt x="-68816" y="678021"/>
                        <a:pt x="206447" y="836955"/>
                      </a:cubicBezTo>
                      <a:lnTo>
                        <a:pt x="206447" y="836955"/>
                      </a:lnTo>
                      <a:cubicBezTo>
                        <a:pt x="487797" y="999318"/>
                        <a:pt x="834469" y="999318"/>
                        <a:pt x="1115732" y="836955"/>
                      </a:cubicBezTo>
                      <a:close/>
                    </a:path>
                  </a:pathLst>
                </a:custGeom>
                <a:solidFill>
                  <a:srgbClr val="3368FF"/>
                </a:solidFill>
                <a:ln w="8572" cap="flat">
                  <a:noFill/>
                  <a:prstDash val="solid"/>
                  <a:miter/>
                </a:ln>
              </p:spPr>
              <p:txBody>
                <a:bodyPr rtlCol="0" anchor="ctr"/>
                <a:lstStyle/>
                <a:p>
                  <a:pPr defTabSz="1828165">
                    <a:defRPr>
                      <a:solidFill>
                        <a:srgbClr val="FFFFFF"/>
                      </a:solidFill>
                      <a:latin typeface="微软雅黑"/>
                      <a:ea typeface="微软雅黑"/>
                      <a:cs typeface="微软雅黑"/>
                    </a:defRPr>
                  </a:pPr>
                  <a:endParaRPr lang="en-US" sz="1350">
                    <a:solidFill>
                      <a:srgbClr val="FFFFFF"/>
                    </a:solidFill>
                    <a:latin typeface="微软雅黑"/>
                    <a:ea typeface="微软雅黑"/>
                    <a:cs typeface="微软雅黑"/>
                  </a:endParaRPr>
                </a:p>
              </p:txBody>
            </p:sp>
          </p:grpSp>
          <p:sp>
            <p:nvSpPr>
              <p:cNvPr id="47" name="YOYOON23"/>
              <p:cNvSpPr/>
              <p:nvPr>
                <p:custDataLst>
                  <p:tags r:id="rId20"/>
                </p:custDataLst>
              </p:nvPr>
            </p:nvSpPr>
            <p:spPr>
              <a:xfrm>
                <a:off x="1097733" y="3105522"/>
                <a:ext cx="633770" cy="260367"/>
              </a:xfrm>
              <a:prstGeom prst="rect">
                <a:avLst/>
              </a:prstGeom>
              <a:ln w="12700">
                <a:miter lim="400000"/>
              </a:ln>
            </p:spPr>
            <p:txBody>
              <a:bodyPr lIns="25398" tIns="25398" rIns="25398" bIns="25398" anchor="ctr"/>
              <a:lstStyle>
                <a:lvl1pPr marL="40640" marR="40640" defTabSz="914400">
                  <a:buClr>
                    <a:srgbClr val="FFFFFF"/>
                  </a:buClr>
                  <a:buFont typeface="微软雅黑"/>
                  <a:defRPr sz="2400" b="1">
                    <a:solidFill>
                      <a:srgbClr val="FFFFFF"/>
                    </a:solidFill>
                    <a:uFill>
                      <a:solidFill>
                        <a:srgbClr val="383838"/>
                      </a:solidFill>
                    </a:uFill>
                    <a:latin typeface="微软雅黑"/>
                    <a:ea typeface="微软雅黑"/>
                    <a:cs typeface="微软雅黑"/>
                    <a:sym typeface="微软雅黑"/>
                  </a:defRPr>
                </a:lvl1pPr>
              </a:lstStyle>
              <a:p>
                <a:pPr lvl="0" algn="ctr">
                  <a:defRPr sz="1800" b="0">
                    <a:solidFill>
                      <a:srgbClr val="FFFFFF"/>
                    </a:solidFill>
                    <a:uFillTx/>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①</a:t>
                </a:r>
                <a:endParaRPr lang="zh-CN" altLang="en-US" sz="1200" b="1" dirty="0">
                  <a:solidFill>
                    <a:srgbClr val="FFFFFF"/>
                  </a:solidFill>
                  <a:latin typeface="微软雅黑"/>
                  <a:ea typeface="微软雅黑"/>
                  <a:cs typeface="微软雅黑"/>
                  <a:sym typeface="微软雅黑"/>
                </a:endParaRPr>
              </a:p>
              <a:p>
                <a:pPr lvl="0" algn="ctr">
                  <a:defRPr sz="1800" b="0">
                    <a:solidFill>
                      <a:srgbClr val="FFFFFF"/>
                    </a:solidFill>
                    <a:uFillTx/>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好内容</a:t>
                </a:r>
                <a:endParaRPr lang="zh-CN" altLang="en-US" sz="1200" b="1" dirty="0">
                  <a:solidFill>
                    <a:srgbClr val="FFFFFF"/>
                  </a:solidFill>
                  <a:latin typeface="微软雅黑"/>
                  <a:ea typeface="微软雅黑"/>
                  <a:cs typeface="微软雅黑"/>
                  <a:sym typeface="微软雅黑"/>
                </a:endParaRPr>
              </a:p>
            </p:txBody>
          </p:sp>
        </p:grpSp>
      </p:grpSp>
      <p:grpSp>
        <p:nvGrpSpPr>
          <p:cNvPr id="62" name="组合 61"/>
          <p:cNvGrpSpPr/>
          <p:nvPr>
            <p:custDataLst>
              <p:tags r:id="rId21"/>
            </p:custDataLst>
          </p:nvPr>
        </p:nvGrpSpPr>
        <p:grpSpPr>
          <a:xfrm>
            <a:off x="7071837" y="2549525"/>
            <a:ext cx="4701698" cy="1028065"/>
            <a:chOff x="11394" y="4411"/>
            <a:chExt cx="7404" cy="1619"/>
          </a:xfrm>
        </p:grpSpPr>
        <p:sp>
          <p:nvSpPr>
            <p:cNvPr id="54" name="矩形 53"/>
            <p:cNvSpPr/>
            <p:nvPr>
              <p:custDataLst>
                <p:tags r:id="rId22"/>
              </p:custDataLst>
            </p:nvPr>
          </p:nvSpPr>
          <p:spPr>
            <a:xfrm>
              <a:off x="11651" y="4411"/>
              <a:ext cx="7147" cy="1619"/>
            </a:xfrm>
            <a:prstGeom prst="rect">
              <a:avLst/>
            </a:prstGeom>
            <a:gradFill>
              <a:gsLst>
                <a:gs pos="0">
                  <a:srgbClr val="FFFFFF"/>
                </a:gs>
                <a:gs pos="100000">
                  <a:srgbClr val="FFFFFF">
                    <a:alpha val="0"/>
                  </a:srgbClr>
                </a:gs>
              </a:gsLst>
              <a:lin ang="108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49" name="YOYOON18"/>
            <p:cNvGrpSpPr/>
            <p:nvPr>
              <p:custDataLst>
                <p:tags r:id="rId23"/>
              </p:custDataLst>
            </p:nvPr>
          </p:nvGrpSpPr>
          <p:grpSpPr>
            <a:xfrm>
              <a:off x="11394" y="4655"/>
              <a:ext cx="1358" cy="1196"/>
              <a:chOff x="980251" y="2951842"/>
              <a:chExt cx="862530" cy="759408"/>
            </a:xfrm>
          </p:grpSpPr>
          <p:grpSp>
            <p:nvGrpSpPr>
              <p:cNvPr id="50" name="YOYOON22"/>
              <p:cNvGrpSpPr/>
              <p:nvPr/>
            </p:nvGrpSpPr>
            <p:grpSpPr>
              <a:xfrm>
                <a:off x="980251" y="2951842"/>
                <a:ext cx="862530" cy="759408"/>
                <a:chOff x="10369242" y="4351570"/>
                <a:chExt cx="1067876" cy="940203"/>
              </a:xfrm>
            </p:grpSpPr>
            <p:sp>
              <p:nvSpPr>
                <p:cNvPr id="51" name="YOYOON1"/>
                <p:cNvSpPr/>
                <p:nvPr>
                  <p:custDataLst>
                    <p:tags r:id="rId24"/>
                  </p:custDataLst>
                </p:nvPr>
              </p:nvSpPr>
              <p:spPr>
                <a:xfrm>
                  <a:off x="10369260" y="4517462"/>
                  <a:ext cx="1067841" cy="774311"/>
                </a:xfrm>
                <a:custGeom>
                  <a:avLst/>
                  <a:gdLst>
                    <a:gd name="connsiteX0" fmla="*/ 1322137 w 1322136"/>
                    <a:gd name="connsiteY0" fmla="*/ 273998 h 958705"/>
                    <a:gd name="connsiteX1" fmla="*/ 1267787 w 1322136"/>
                    <a:gd name="connsiteY1" fmla="*/ 273998 h 958705"/>
                    <a:gd name="connsiteX2" fmla="*/ 1115711 w 1322136"/>
                    <a:gd name="connsiteY2" fmla="*/ 121837 h 958705"/>
                    <a:gd name="connsiteX3" fmla="*/ 206426 w 1322136"/>
                    <a:gd name="connsiteY3" fmla="*/ 121837 h 958705"/>
                    <a:gd name="connsiteX4" fmla="*/ 54350 w 1322136"/>
                    <a:gd name="connsiteY4" fmla="*/ 273998 h 958705"/>
                    <a:gd name="connsiteX5" fmla="*/ 0 w 1322136"/>
                    <a:gd name="connsiteY5" fmla="*/ 273998 h 958705"/>
                    <a:gd name="connsiteX6" fmla="*/ 0 w 1322136"/>
                    <a:gd name="connsiteY6" fmla="*/ 479310 h 958705"/>
                    <a:gd name="connsiteX7" fmla="*/ 0 w 1322136"/>
                    <a:gd name="connsiteY7" fmla="*/ 479310 h 958705"/>
                    <a:gd name="connsiteX8" fmla="*/ 206426 w 1322136"/>
                    <a:gd name="connsiteY8" fmla="*/ 836869 h 958705"/>
                    <a:gd name="connsiteX9" fmla="*/ 206426 w 1322136"/>
                    <a:gd name="connsiteY9" fmla="*/ 836869 h 958705"/>
                    <a:gd name="connsiteX10" fmla="*/ 1115711 w 1322136"/>
                    <a:gd name="connsiteY10" fmla="*/ 836869 h 958705"/>
                    <a:gd name="connsiteX11" fmla="*/ 1115711 w 1322136"/>
                    <a:gd name="connsiteY11" fmla="*/ 836869 h 958705"/>
                    <a:gd name="connsiteX12" fmla="*/ 1322137 w 1322136"/>
                    <a:gd name="connsiteY12" fmla="*/ 479310 h 958705"/>
                    <a:gd name="connsiteX13" fmla="*/ 1322137 w 1322136"/>
                    <a:gd name="connsiteY13" fmla="*/ 479310 h 958705"/>
                    <a:gd name="connsiteX14" fmla="*/ 1322137 w 1322136"/>
                    <a:gd name="connsiteY14" fmla="*/ 273998 h 958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2136" h="958705">
                      <a:moveTo>
                        <a:pt x="1322137" y="273998"/>
                      </a:moveTo>
                      <a:lnTo>
                        <a:pt x="1267787" y="273998"/>
                      </a:lnTo>
                      <a:cubicBezTo>
                        <a:pt x="1233411" y="213734"/>
                        <a:pt x="1182919" y="160584"/>
                        <a:pt x="1115711" y="121837"/>
                      </a:cubicBezTo>
                      <a:cubicBezTo>
                        <a:pt x="834361" y="-40612"/>
                        <a:pt x="487775" y="-40612"/>
                        <a:pt x="206426" y="121837"/>
                      </a:cubicBezTo>
                      <a:cubicBezTo>
                        <a:pt x="139217" y="160670"/>
                        <a:pt x="88725" y="213734"/>
                        <a:pt x="54350" y="273998"/>
                      </a:cubicBezTo>
                      <a:lnTo>
                        <a:pt x="0" y="273998"/>
                      </a:lnTo>
                      <a:lnTo>
                        <a:pt x="0" y="479310"/>
                      </a:lnTo>
                      <a:lnTo>
                        <a:pt x="0" y="479310"/>
                      </a:lnTo>
                      <a:cubicBezTo>
                        <a:pt x="0" y="618356"/>
                        <a:pt x="68837" y="757402"/>
                        <a:pt x="206426" y="836869"/>
                      </a:cubicBezTo>
                      <a:lnTo>
                        <a:pt x="206426" y="836869"/>
                      </a:lnTo>
                      <a:cubicBezTo>
                        <a:pt x="487775" y="999318"/>
                        <a:pt x="834361" y="999318"/>
                        <a:pt x="1115711" y="836869"/>
                      </a:cubicBezTo>
                      <a:lnTo>
                        <a:pt x="1115711" y="836869"/>
                      </a:lnTo>
                      <a:cubicBezTo>
                        <a:pt x="1253300" y="757402"/>
                        <a:pt x="1322137" y="618356"/>
                        <a:pt x="1322137" y="479310"/>
                      </a:cubicBezTo>
                      <a:lnTo>
                        <a:pt x="1322137" y="479310"/>
                      </a:lnTo>
                      <a:lnTo>
                        <a:pt x="1322137" y="273998"/>
                      </a:lnTo>
                      <a:close/>
                    </a:path>
                  </a:pathLst>
                </a:custGeom>
                <a:solidFill>
                  <a:srgbClr val="3368FF"/>
                </a:solidFill>
                <a:ln w="8572" cap="flat">
                  <a:noFill/>
                  <a:prstDash val="solid"/>
                  <a:miter/>
                </a:ln>
              </p:spPr>
              <p:txBody>
                <a:bodyPr rtlCol="0" anchor="ctr"/>
                <a:lstStyle/>
                <a:p>
                  <a:pPr defTabSz="1828165">
                    <a:defRPr>
                      <a:solidFill>
                        <a:srgbClr val="383838"/>
                      </a:solidFill>
                      <a:latin typeface="微软雅黑"/>
                      <a:ea typeface="微软雅黑"/>
                      <a:cs typeface="微软雅黑"/>
                    </a:defRPr>
                  </a:pPr>
                  <a:endParaRPr lang="en-US" sz="1350">
                    <a:solidFill>
                      <a:srgbClr val="383838"/>
                    </a:solidFill>
                    <a:latin typeface="微软雅黑"/>
                    <a:ea typeface="微软雅黑"/>
                    <a:cs typeface="微软雅黑"/>
                  </a:endParaRPr>
                </a:p>
              </p:txBody>
            </p:sp>
            <p:sp>
              <p:nvSpPr>
                <p:cNvPr id="52" name="YOYOON2"/>
                <p:cNvSpPr/>
                <p:nvPr>
                  <p:custDataLst>
                    <p:tags r:id="rId25"/>
                  </p:custDataLst>
                </p:nvPr>
              </p:nvSpPr>
              <p:spPr>
                <a:xfrm>
                  <a:off x="10369242" y="4351570"/>
                  <a:ext cx="1067876" cy="774328"/>
                </a:xfrm>
                <a:custGeom>
                  <a:avLst/>
                  <a:gdLst>
                    <a:gd name="connsiteX0" fmla="*/ 1115732 w 1322179"/>
                    <a:gd name="connsiteY0" fmla="*/ 836955 h 958726"/>
                    <a:gd name="connsiteX1" fmla="*/ 1115732 w 1322179"/>
                    <a:gd name="connsiteY1" fmla="*/ 836955 h 958726"/>
                    <a:gd name="connsiteX2" fmla="*/ 1115732 w 1322179"/>
                    <a:gd name="connsiteY2" fmla="*/ 121837 h 958726"/>
                    <a:gd name="connsiteX3" fmla="*/ 1115732 w 1322179"/>
                    <a:gd name="connsiteY3" fmla="*/ 121837 h 958726"/>
                    <a:gd name="connsiteX4" fmla="*/ 206447 w 1322179"/>
                    <a:gd name="connsiteY4" fmla="*/ 121837 h 958726"/>
                    <a:gd name="connsiteX5" fmla="*/ 206447 w 1322179"/>
                    <a:gd name="connsiteY5" fmla="*/ 121837 h 958726"/>
                    <a:gd name="connsiteX6" fmla="*/ 206447 w 1322179"/>
                    <a:gd name="connsiteY6" fmla="*/ 836955 h 958726"/>
                    <a:gd name="connsiteX7" fmla="*/ 206447 w 1322179"/>
                    <a:gd name="connsiteY7" fmla="*/ 836955 h 958726"/>
                    <a:gd name="connsiteX8" fmla="*/ 1115732 w 1322179"/>
                    <a:gd name="connsiteY8" fmla="*/ 836955 h 95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2179" h="958726">
                      <a:moveTo>
                        <a:pt x="1115732" y="836955"/>
                      </a:moveTo>
                      <a:lnTo>
                        <a:pt x="1115732" y="836955"/>
                      </a:lnTo>
                      <a:cubicBezTo>
                        <a:pt x="1390995" y="678021"/>
                        <a:pt x="1390995" y="280771"/>
                        <a:pt x="1115732" y="121837"/>
                      </a:cubicBezTo>
                      <a:lnTo>
                        <a:pt x="1115732" y="121837"/>
                      </a:lnTo>
                      <a:cubicBezTo>
                        <a:pt x="834383" y="-40612"/>
                        <a:pt x="487797" y="-40612"/>
                        <a:pt x="206447" y="121837"/>
                      </a:cubicBezTo>
                      <a:lnTo>
                        <a:pt x="206447" y="121837"/>
                      </a:lnTo>
                      <a:cubicBezTo>
                        <a:pt x="-68816" y="280771"/>
                        <a:pt x="-68816" y="678021"/>
                        <a:pt x="206447" y="836955"/>
                      </a:cubicBezTo>
                      <a:lnTo>
                        <a:pt x="206447" y="836955"/>
                      </a:lnTo>
                      <a:cubicBezTo>
                        <a:pt x="487797" y="999318"/>
                        <a:pt x="834469" y="999318"/>
                        <a:pt x="1115732" y="836955"/>
                      </a:cubicBezTo>
                      <a:close/>
                    </a:path>
                  </a:pathLst>
                </a:custGeom>
                <a:solidFill>
                  <a:srgbClr val="B3D4FE"/>
                </a:solidFill>
                <a:ln w="8572" cap="flat">
                  <a:noFill/>
                  <a:prstDash val="solid"/>
                  <a:miter/>
                </a:ln>
              </p:spPr>
              <p:txBody>
                <a:bodyPr rtlCol="0" anchor="ctr"/>
                <a:lstStyle/>
                <a:p>
                  <a:pPr defTabSz="1828165">
                    <a:defRPr>
                      <a:latin typeface="微软雅黑"/>
                      <a:ea typeface="微软雅黑"/>
                      <a:cs typeface="微软雅黑"/>
                    </a:defRPr>
                  </a:pPr>
                  <a:endParaRPr lang="en-US" sz="1350">
                    <a:latin typeface="微软雅黑"/>
                    <a:ea typeface="微软雅黑"/>
                    <a:cs typeface="微软雅黑"/>
                  </a:endParaRPr>
                </a:p>
              </p:txBody>
            </p:sp>
          </p:grpSp>
          <p:sp>
            <p:nvSpPr>
              <p:cNvPr id="53" name="YOYOON23"/>
              <p:cNvSpPr/>
              <p:nvPr>
                <p:custDataLst>
                  <p:tags r:id="rId26"/>
                </p:custDataLst>
              </p:nvPr>
            </p:nvSpPr>
            <p:spPr>
              <a:xfrm>
                <a:off x="1072967" y="3105522"/>
                <a:ext cx="647741" cy="260367"/>
              </a:xfrm>
              <a:prstGeom prst="rect">
                <a:avLst/>
              </a:prstGeom>
              <a:ln w="12700">
                <a:miter lim="400000"/>
              </a:ln>
            </p:spPr>
            <p:txBody>
              <a:bodyPr lIns="25398" tIns="25398" rIns="25398" bIns="25398" anchor="ctr"/>
              <a:lstStyle>
                <a:lvl1pPr marL="40640" marR="40640" defTabSz="914400">
                  <a:buClr>
                    <a:srgbClr val="FFFFFF"/>
                  </a:buClr>
                  <a:buFont typeface="微软雅黑"/>
                  <a:defRPr sz="2400" b="1">
                    <a:solidFill>
                      <a:srgbClr val="383838"/>
                    </a:solidFill>
                    <a:uFill>
                      <a:solidFill>
                        <a:srgbClr val="383838"/>
                      </a:solidFill>
                    </a:uFill>
                    <a:latin typeface="微软雅黑"/>
                    <a:ea typeface="微软雅黑"/>
                    <a:cs typeface="微软雅黑"/>
                    <a:sym typeface="微软雅黑"/>
                  </a:defRPr>
                </a:lvl1pPr>
              </a:lstStyle>
              <a:p>
                <a:pPr lvl="0" algn="ctr">
                  <a:defRPr sz="1800" b="0">
                    <a:solidFill>
                      <a:srgbClr val="383838"/>
                    </a:solidFill>
                    <a:uFillTx/>
                    <a:latin typeface="微软雅黑"/>
                    <a:ea typeface="微软雅黑"/>
                    <a:cs typeface="微软雅黑"/>
                  </a:defRPr>
                </a:pPr>
                <a:r>
                  <a:rPr lang="zh-CN" sz="1200" b="1" dirty="0">
                    <a:solidFill>
                      <a:srgbClr val="383838"/>
                    </a:solidFill>
                    <a:latin typeface="微软雅黑"/>
                    <a:ea typeface="微软雅黑"/>
                    <a:cs typeface="微软雅黑"/>
                    <a:sym typeface="微软雅黑"/>
                  </a:rPr>
                  <a:t>②</a:t>
                </a:r>
                <a:endParaRPr lang="zh-CN" sz="1200" b="1" dirty="0">
                  <a:solidFill>
                    <a:srgbClr val="383838"/>
                  </a:solidFill>
                  <a:latin typeface="微软雅黑"/>
                  <a:ea typeface="微软雅黑"/>
                  <a:cs typeface="微软雅黑"/>
                  <a:sym typeface="微软雅黑"/>
                </a:endParaRPr>
              </a:p>
              <a:p>
                <a:pPr lvl="0" algn="ctr">
                  <a:defRPr sz="1800" b="0">
                    <a:solidFill>
                      <a:srgbClr val="383838"/>
                    </a:solidFill>
                    <a:uFillTx/>
                    <a:latin typeface="微软雅黑"/>
                    <a:ea typeface="微软雅黑"/>
                    <a:cs typeface="微软雅黑"/>
                  </a:defRPr>
                </a:pPr>
                <a:r>
                  <a:rPr lang="zh-CN" sz="1200" b="1" dirty="0">
                    <a:solidFill>
                      <a:srgbClr val="383838"/>
                    </a:solidFill>
                    <a:latin typeface="微软雅黑"/>
                    <a:ea typeface="微软雅黑"/>
                    <a:cs typeface="微软雅黑"/>
                    <a:sym typeface="微软雅黑"/>
                  </a:rPr>
                  <a:t>好服务</a:t>
                </a:r>
                <a:endParaRPr lang="zh-CN" sz="1200" b="1" dirty="0">
                  <a:solidFill>
                    <a:srgbClr val="383838"/>
                  </a:solidFill>
                  <a:latin typeface="微软雅黑"/>
                  <a:ea typeface="微软雅黑"/>
                  <a:cs typeface="微软雅黑"/>
                  <a:sym typeface="微软雅黑"/>
                </a:endParaRPr>
              </a:p>
            </p:txBody>
          </p:sp>
        </p:grpSp>
      </p:grpSp>
      <p:sp>
        <p:nvSpPr>
          <p:cNvPr id="70" name="©天蝎PPT27"/>
          <p:cNvSpPr txBox="1"/>
          <p:nvPr>
            <p:custDataLst>
              <p:tags r:id="rId27"/>
            </p:custDataLst>
          </p:nvPr>
        </p:nvSpPr>
        <p:spPr>
          <a:xfrm>
            <a:off x="7762875" y="1360170"/>
            <a:ext cx="3911600" cy="860425"/>
          </a:xfrm>
          <a:prstGeom prst="rect">
            <a:avLst/>
          </a:prstGeom>
          <a:noFill/>
        </p:spPr>
        <p:txBody>
          <a:bodyPr wrap="square" lIns="0" rIns="0" tIns="0" bIns="0">
            <a:spAutoFit/>
          </a:bodyPr>
          <a:lstStyle/>
          <a:p>
            <a:pPr marL="285750" indent="-285750" algn="l" rtl="0">
              <a:buFont typeface="微软雅黑"/>
              <a:buChar char="●"/>
              <a:defRPr>
                <a:latin typeface="微软雅黑"/>
                <a:ea typeface="微软雅黑"/>
                <a:cs typeface="微软雅黑"/>
              </a:defRPr>
            </a:pPr>
            <a:r>
              <a:rPr lang="zh-CN" altLang="en-US" sz="1000" b="1" dirty="0">
                <a:solidFill>
                  <a:srgbClr val="0042FF"/>
                </a:solidFill>
                <a:effectLst/>
                <a:latin typeface="微软雅黑"/>
                <a:ea typeface="微软雅黑"/>
                <a:cs typeface="微软雅黑"/>
                <a:sym typeface="微软雅黑"/>
              </a:rPr>
              <a:t>这是整个经营链条的基石</a:t>
            </a:r>
            <a:r>
              <a:rPr lang="zh-CN" altLang="en-US" sz="1000" dirty="0">
                <a:solidFill>
                  <a:srgbClr val="0042FF"/>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在小红书平台，用户是基于兴趣和搜索发现内容的。</a:t>
            </a:r>
            <a:endParaRPr lang="zh-CN" altLang="en-US" sz="1000" dirty="0">
              <a:solidFill>
                <a:srgbClr val="383838"/>
              </a:solidFill>
              <a:effectLst/>
              <a:latin typeface="微软雅黑"/>
              <a:ea typeface="微软雅黑"/>
              <a:cs typeface="微软雅黑"/>
              <a:sym typeface="微软雅黑"/>
            </a:endParaRPr>
          </a:p>
          <a:p>
            <a:pPr marL="285750" indent="-285750" algn="l" rtl="0">
              <a:buFont typeface="微软雅黑"/>
              <a:buChar char="●"/>
              <a:defRPr>
                <a:latin typeface="微软雅黑"/>
                <a:ea typeface="微软雅黑"/>
                <a:cs typeface="微软雅黑"/>
              </a:defRPr>
            </a:pPr>
            <a:r>
              <a:rPr lang="zh-CN" altLang="en-US" sz="1000" b="1" dirty="0">
                <a:solidFill>
                  <a:srgbClr val="0042FF"/>
                </a:solidFill>
                <a:effectLst/>
                <a:latin typeface="微软雅黑"/>
                <a:ea typeface="微软雅黑"/>
                <a:cs typeface="微软雅黑"/>
                <a:sym typeface="微软雅黑"/>
              </a:rPr>
              <a:t>心智起点：</a:t>
            </a:r>
            <a:r>
              <a:rPr lang="zh-CN" altLang="en-US" sz="1000" dirty="0">
                <a:solidFill>
                  <a:srgbClr val="383838"/>
                </a:solidFill>
                <a:effectLst/>
                <a:latin typeface="微软雅黑"/>
                <a:ea typeface="微软雅黑"/>
                <a:cs typeface="微软雅黑"/>
                <a:sym typeface="微软雅黑"/>
              </a:rPr>
              <a:t>优质的内容能够在用户心中种下草，建立初步的信任感和兴趣，让用户产生</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想要了解更多</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或</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这个能解决我的问题</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的想法。</a:t>
            </a:r>
            <a:endParaRPr lang="zh-CN" altLang="en-US" sz="1000" dirty="0">
              <a:solidFill>
                <a:srgbClr val="383838"/>
              </a:solidFill>
              <a:effectLst/>
              <a:latin typeface="微软雅黑"/>
              <a:ea typeface="微软雅黑"/>
              <a:cs typeface="微软雅黑"/>
              <a:sym typeface="微软雅黑"/>
            </a:endParaRPr>
          </a:p>
        </p:txBody>
      </p:sp>
      <p:sp>
        <p:nvSpPr>
          <p:cNvPr id="72" name="©天蝎PPT27"/>
          <p:cNvSpPr txBox="1"/>
          <p:nvPr>
            <p:custDataLst>
              <p:tags r:id="rId28"/>
            </p:custDataLst>
          </p:nvPr>
        </p:nvSpPr>
        <p:spPr>
          <a:xfrm>
            <a:off x="7999730" y="2618740"/>
            <a:ext cx="3674110" cy="860425"/>
          </a:xfrm>
          <a:prstGeom prst="rect">
            <a:avLst/>
          </a:prstGeom>
          <a:noFill/>
        </p:spPr>
        <p:txBody>
          <a:bodyPr wrap="square" lIns="0" rIns="0" tIns="0" bIns="0">
            <a:spAutoFit/>
          </a:bodyPr>
          <a:lstStyle/>
          <a:p>
            <a:pPr marL="285750" indent="-285750" algn="l" rtl="0">
              <a:buFont typeface="微软雅黑"/>
              <a:buChar char="●"/>
              <a:defRPr>
                <a:latin typeface="微软雅黑"/>
                <a:ea typeface="微软雅黑"/>
                <a:cs typeface="微软雅黑"/>
              </a:defRPr>
            </a:pPr>
            <a:r>
              <a:rPr lang="zh-CN" altLang="en-US" sz="1000" b="1" dirty="0">
                <a:solidFill>
                  <a:srgbClr val="0042FF"/>
                </a:solidFill>
                <a:effectLst/>
                <a:latin typeface="微软雅黑"/>
                <a:ea typeface="微软雅黑"/>
                <a:cs typeface="微软雅黑"/>
                <a:sym typeface="微软雅黑"/>
              </a:rPr>
              <a:t>好服务是经营通路</a:t>
            </a:r>
            <a:r>
              <a:rPr lang="zh-CN" altLang="en-US" sz="1000" dirty="0">
                <a:solidFill>
                  <a:srgbClr val="0042FF"/>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当用户被内容吸引后，下一步就是互动和咨询。</a:t>
            </a:r>
            <a:endParaRPr lang="zh-CN" altLang="en-US" sz="1000" dirty="0">
              <a:solidFill>
                <a:srgbClr val="383838"/>
              </a:solidFill>
              <a:effectLst/>
              <a:latin typeface="微软雅黑"/>
              <a:ea typeface="微软雅黑"/>
              <a:cs typeface="微软雅黑"/>
              <a:sym typeface="微软雅黑"/>
            </a:endParaRPr>
          </a:p>
          <a:p>
            <a:pPr marL="285750" indent="-285750" algn="l" rtl="0">
              <a:buFont typeface="微软雅黑"/>
              <a:buChar char="●"/>
              <a:defRPr>
                <a:latin typeface="微软雅黑"/>
                <a:ea typeface="微软雅黑"/>
                <a:cs typeface="微软雅黑"/>
              </a:defRPr>
            </a:pPr>
            <a:r>
              <a:rPr lang="zh-CN" altLang="en-US" sz="1000" b="1" dirty="0">
                <a:solidFill>
                  <a:srgbClr val="0042FF"/>
                </a:solidFill>
                <a:effectLst/>
                <a:latin typeface="微软雅黑"/>
                <a:ea typeface="微软雅黑"/>
                <a:cs typeface="微软雅黑"/>
                <a:sym typeface="微软雅黑"/>
              </a:rPr>
              <a:t>人感咨询：</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人感</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意味着咨询过程要像朋友之间的建议，真诚、专业且有温度，针对用户的具体问题（如预算、肤质、档期）提供个性化解答。</a:t>
            </a:r>
            <a:endParaRPr lang="zh-CN" altLang="en-US" sz="1000" dirty="0">
              <a:solidFill>
                <a:srgbClr val="383838"/>
              </a:solidFill>
              <a:effectLst/>
              <a:latin typeface="微软雅黑"/>
              <a:ea typeface="微软雅黑"/>
              <a:cs typeface="微软雅黑"/>
              <a:sym typeface="微软雅黑"/>
            </a:endParaRPr>
          </a:p>
        </p:txBody>
      </p:sp>
      <p:sp>
        <p:nvSpPr>
          <p:cNvPr id="73" name="©天蝎PPT27"/>
          <p:cNvSpPr txBox="1"/>
          <p:nvPr>
            <p:custDataLst>
              <p:tags r:id="rId29"/>
            </p:custDataLst>
          </p:nvPr>
        </p:nvSpPr>
        <p:spPr>
          <a:xfrm>
            <a:off x="7812405" y="4022725"/>
            <a:ext cx="3911600" cy="706755"/>
          </a:xfrm>
          <a:prstGeom prst="rect">
            <a:avLst/>
          </a:prstGeom>
          <a:noFill/>
        </p:spPr>
        <p:txBody>
          <a:bodyPr wrap="square" lIns="0" rIns="0" tIns="0" bIns="0">
            <a:spAutoFit/>
          </a:bodyPr>
          <a:lstStyle/>
          <a:p>
            <a:pPr marL="285750" indent="-285750" algn="l" rtl="0">
              <a:buFont typeface="微软雅黑"/>
              <a:buChar char="●"/>
              <a:defRPr>
                <a:latin typeface="微软雅黑"/>
                <a:ea typeface="微软雅黑"/>
                <a:cs typeface="微软雅黑"/>
              </a:defRPr>
            </a:pPr>
            <a:r>
              <a:rPr lang="zh-CN" altLang="en-US" sz="1000" b="1" dirty="0">
                <a:solidFill>
                  <a:srgbClr val="0042FF"/>
                </a:solidFill>
                <a:effectLst/>
                <a:latin typeface="微软雅黑"/>
                <a:ea typeface="微软雅黑"/>
                <a:cs typeface="微软雅黑"/>
                <a:sym typeface="微软雅黑"/>
              </a:rPr>
              <a:t>有效投放放大生意效果</a:t>
            </a:r>
            <a:r>
              <a:rPr lang="zh-CN" altLang="en-US" sz="1000" dirty="0">
                <a:solidFill>
                  <a:srgbClr val="0042FF"/>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有了好的内容（素材）和好的服务（转化能力），最后需要通过投放来放大成果。</a:t>
            </a:r>
            <a:endParaRPr lang="zh-CN" altLang="en-US" sz="1000" b="1" dirty="0">
              <a:solidFill>
                <a:srgbClr val="0042FF"/>
              </a:solidFill>
              <a:effectLst/>
              <a:latin typeface="微软雅黑"/>
              <a:ea typeface="微软雅黑"/>
              <a:cs typeface="微软雅黑"/>
              <a:sym typeface="微软雅黑"/>
            </a:endParaRPr>
          </a:p>
          <a:p>
            <a:pPr marL="285750" indent="-285750" algn="l" rtl="0">
              <a:buFont typeface="微软雅黑"/>
              <a:buChar char="●"/>
              <a:defRPr>
                <a:latin typeface="微软雅黑"/>
                <a:ea typeface="微软雅黑"/>
                <a:cs typeface="微软雅黑"/>
              </a:defRPr>
            </a:pPr>
            <a:r>
              <a:rPr lang="zh-CN" altLang="en-US" sz="1000" b="1" dirty="0">
                <a:solidFill>
                  <a:srgbClr val="0042FF"/>
                </a:solidFill>
                <a:effectLst/>
                <a:latin typeface="微软雅黑"/>
                <a:ea typeface="微软雅黑"/>
                <a:cs typeface="微软雅黑"/>
                <a:sym typeface="微软雅黑"/>
              </a:rPr>
              <a:t>生意放大：</a:t>
            </a:r>
            <a:r>
              <a:rPr lang="zh-CN" altLang="en-US" sz="1000" dirty="0">
                <a:solidFill>
                  <a:srgbClr val="383838"/>
                </a:solidFill>
                <a:effectLst/>
                <a:latin typeface="微软雅黑"/>
                <a:ea typeface="微软雅黑"/>
                <a:cs typeface="微软雅黑"/>
                <a:sym typeface="微软雅黑"/>
              </a:rPr>
              <a:t>放不是盲目花钱，而是把已经验证过的</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好内容</a:t>
            </a:r>
            <a:r>
              <a:rPr lang="en-US" altLang="zh-CN" sz="1000" dirty="0">
                <a:solidFill>
                  <a:srgbClr val="383838"/>
                </a:solidFill>
                <a:effectLst/>
                <a:latin typeface="微软雅黑"/>
                <a:ea typeface="微软雅黑"/>
                <a:cs typeface="微软雅黑"/>
                <a:sym typeface="微软雅黑"/>
              </a:rPr>
              <a:t>”</a:t>
            </a:r>
            <a:r>
              <a:rPr lang="zh-CN" altLang="en-US" sz="1000" dirty="0">
                <a:solidFill>
                  <a:srgbClr val="383838"/>
                </a:solidFill>
                <a:effectLst/>
                <a:latin typeface="微软雅黑"/>
                <a:ea typeface="微软雅黑"/>
                <a:cs typeface="微软雅黑"/>
                <a:sym typeface="微软雅黑"/>
              </a:rPr>
              <a:t>投给更精准的人群，从而获取更多的客资。</a:t>
            </a:r>
            <a:endParaRPr lang="zh-CN" altLang="en-US" sz="1000" dirty="0">
              <a:solidFill>
                <a:srgbClr val="383838"/>
              </a:solidFill>
              <a:effectLst/>
              <a:latin typeface="微软雅黑"/>
              <a:ea typeface="微软雅黑"/>
              <a:cs typeface="微软雅黑"/>
              <a:sym typeface="微软雅黑"/>
            </a:endParaRPr>
          </a:p>
        </p:txBody>
      </p:sp>
      <p:grpSp>
        <p:nvGrpSpPr>
          <p:cNvPr id="75" name="组合 74"/>
          <p:cNvGrpSpPr/>
          <p:nvPr/>
        </p:nvGrpSpPr>
        <p:grpSpPr>
          <a:xfrm>
            <a:off x="8457565" y="5111115"/>
            <a:ext cx="1451610" cy="828675"/>
            <a:chOff x="10611" y="7965"/>
            <a:chExt cx="2286" cy="1305"/>
          </a:xfrm>
        </p:grpSpPr>
        <p:sp>
          <p:nvSpPr>
            <p:cNvPr id="76" name="子陵职场PPT80"/>
            <p:cNvSpPr txBox="1"/>
            <p:nvPr/>
          </p:nvSpPr>
          <p:spPr>
            <a:xfrm>
              <a:off x="10611" y="8690"/>
              <a:ext cx="2286" cy="580"/>
            </a:xfrm>
            <a:prstGeom prst="rect">
              <a:avLst/>
            </a:prstGeom>
            <a:noFill/>
          </p:spPr>
          <p:txBody>
            <a:bodyPr wrap="square" rtlCol="0">
              <a:spAutoFit/>
            </a:bodyPr>
            <a:lstStyle/>
            <a:p>
              <a:pPr algn="ctr">
                <a:lnSpc>
                  <a:spcPct val="90000"/>
                </a:lnSpc>
                <a:buClrTx/>
                <a:buSzTx/>
                <a:buFontTx/>
                <a:defRPr>
                  <a:latin typeface="微软雅黑"/>
                  <a:ea typeface="微软雅黑"/>
                  <a:cs typeface="微软雅黑"/>
                </a:defRPr>
              </a:pPr>
              <a:r>
                <a:rPr lang="zh-CN" altLang="en-US" sz="2000">
                  <a:solidFill>
                    <a:srgbClr val="0042FF"/>
                  </a:solidFill>
                  <a:effectLst/>
                  <a:latin typeface="微软雅黑"/>
                  <a:ea typeface="微软雅黑"/>
                  <a:cs typeface="微软雅黑"/>
                  <a:sym typeface="微软雅黑"/>
                </a:rPr>
                <a:t>经营通路</a:t>
              </a:r>
              <a:endParaRPr lang="zh-CN" altLang="en-US" sz="2000">
                <a:solidFill>
                  <a:srgbClr val="0042FF"/>
                </a:solidFill>
                <a:effectLst/>
                <a:latin typeface="微软雅黑"/>
                <a:ea typeface="微软雅黑"/>
                <a:cs typeface="微软雅黑"/>
                <a:sym typeface="微软雅黑"/>
              </a:endParaRPr>
            </a:p>
          </p:txBody>
        </p:sp>
        <p:sp>
          <p:nvSpPr>
            <p:cNvPr id="77" name="子陵职场PPT84"/>
            <p:cNvSpPr/>
            <p:nvPr/>
          </p:nvSpPr>
          <p:spPr>
            <a:xfrm>
              <a:off x="11337" y="7965"/>
              <a:ext cx="754" cy="726"/>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alpha val="7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78" name="组合 77"/>
          <p:cNvGrpSpPr/>
          <p:nvPr/>
        </p:nvGrpSpPr>
        <p:grpSpPr>
          <a:xfrm>
            <a:off x="9994900" y="5111115"/>
            <a:ext cx="1451610" cy="828675"/>
            <a:chOff x="10611" y="7965"/>
            <a:chExt cx="2286" cy="1305"/>
          </a:xfrm>
        </p:grpSpPr>
        <p:sp>
          <p:nvSpPr>
            <p:cNvPr id="79" name="子陵职场PPT80"/>
            <p:cNvSpPr txBox="1"/>
            <p:nvPr/>
          </p:nvSpPr>
          <p:spPr>
            <a:xfrm>
              <a:off x="10611" y="8690"/>
              <a:ext cx="2286" cy="580"/>
            </a:xfrm>
            <a:prstGeom prst="rect">
              <a:avLst/>
            </a:prstGeom>
            <a:noFill/>
          </p:spPr>
          <p:txBody>
            <a:bodyPr wrap="square" rtlCol="0">
              <a:spAutoFit/>
            </a:bodyPr>
            <a:lstStyle/>
            <a:p>
              <a:pPr algn="ctr">
                <a:lnSpc>
                  <a:spcPct val="90000"/>
                </a:lnSpc>
                <a:buClrTx/>
                <a:buSzTx/>
                <a:buFontTx/>
                <a:defRPr>
                  <a:latin typeface="微软雅黑"/>
                  <a:ea typeface="微软雅黑"/>
                  <a:cs typeface="微软雅黑"/>
                </a:defRPr>
              </a:pPr>
              <a:r>
                <a:rPr lang="zh-CN" altLang="en-US" sz="2000">
                  <a:solidFill>
                    <a:srgbClr val="0042FF"/>
                  </a:solidFill>
                  <a:effectLst/>
                  <a:latin typeface="微软雅黑"/>
                  <a:ea typeface="微软雅黑"/>
                  <a:cs typeface="微软雅黑"/>
                  <a:sym typeface="微软雅黑"/>
                </a:rPr>
                <a:t>转化生意</a:t>
              </a:r>
              <a:endParaRPr lang="zh-CN" altLang="en-US" sz="2000">
                <a:solidFill>
                  <a:srgbClr val="0042FF"/>
                </a:solidFill>
                <a:effectLst/>
                <a:latin typeface="微软雅黑"/>
                <a:ea typeface="微软雅黑"/>
                <a:cs typeface="微软雅黑"/>
                <a:sym typeface="微软雅黑"/>
              </a:endParaRPr>
            </a:p>
          </p:txBody>
        </p:sp>
        <p:sp>
          <p:nvSpPr>
            <p:cNvPr id="80" name="子陵职场PPT84"/>
            <p:cNvSpPr/>
            <p:nvPr/>
          </p:nvSpPr>
          <p:spPr>
            <a:xfrm>
              <a:off x="11337" y="7965"/>
              <a:ext cx="754" cy="726"/>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alpha val="7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gr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3" name="图片 2"/>
            <p:cNvPicPr>
              <a:picLocks noChangeAspect="1"/>
            </p:cNvPicPr>
            <p:nvPr userDrawn="1"/>
          </p:nvPicPr>
          <p:blipFill>
            <a:blip r:embed="rId30"/>
            <a:srcRect l="17002" t="-1765" r="56499" b="-1176"/>
            <a:stretch>
              <a:fillRect/>
            </a:stretch>
          </p:blipFill>
          <p:spPr>
            <a:xfrm>
              <a:off x="13761" y="549"/>
              <a:ext cx="1582" cy="525"/>
            </a:xfrm>
            <a:prstGeom prst="rect">
              <a:avLst/>
            </a:prstGeom>
          </p:spPr>
        </p:pic>
        <p:sp>
          <p:nvSpPr>
            <p:cNvPr id="4" name="文本框 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en-US" altLang="zh-CN" sz="2500" dirty="0">
                <a:solidFill>
                  <a:srgbClr val="383838"/>
                </a:solidFill>
                <a:effectLst/>
                <a:latin typeface="微软雅黑"/>
                <a:ea typeface="微软雅黑"/>
                <a:cs typeface="微软雅黑"/>
              </a:rPr>
              <a:t>PDCA</a:t>
            </a:r>
            <a:r>
              <a:rPr sz="2500" dirty="0">
                <a:solidFill>
                  <a:srgbClr val="383838"/>
                </a:solidFill>
                <a:effectLst/>
                <a:latin typeface="微软雅黑"/>
                <a:ea typeface="微软雅黑"/>
                <a:cs typeface="微软雅黑"/>
              </a:rPr>
              <a:t>循环工作法</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12" name="组合 111"/>
          <p:cNvGrpSpPr/>
          <p:nvPr/>
        </p:nvGrpSpPr>
        <p:grpSpPr>
          <a:xfrm>
            <a:off x="3983990" y="1711325"/>
            <a:ext cx="4274820" cy="4188460"/>
            <a:chOff x="6167" y="2566"/>
            <a:chExt cx="6732" cy="6596"/>
          </a:xfrm>
        </p:grpSpPr>
        <p:sp>
          <p:nvSpPr>
            <p:cNvPr id="82" name="熊大的PPT宝库5"/>
            <p:cNvSpPr/>
            <p:nvPr/>
          </p:nvSpPr>
          <p:spPr>
            <a:xfrm rot="10800000">
              <a:off x="6766" y="3029"/>
              <a:ext cx="5669" cy="5669"/>
            </a:xfrm>
            <a:prstGeom prst="arc">
              <a:avLst/>
            </a:prstGeom>
            <a:noFill/>
            <a:ln w="762000" cap="rnd">
              <a:gradFill>
                <a:gsLst>
                  <a:gs pos="0">
                    <a:srgbClr val="FFFFFF"/>
                  </a:gs>
                  <a:gs pos="82000">
                    <a:srgbClr val="B3D4FE"/>
                  </a:gs>
                </a:gsLst>
                <a:lin ang="3600000" scaled="0"/>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defTabSz="914400">
                <a:defRPr>
                  <a:latin typeface="微软雅黑"/>
                  <a:ea typeface="微软雅黑"/>
                  <a:cs typeface="微软雅黑"/>
                </a:defRPr>
              </a:pPr>
              <a:endParaRPr lang="en-US" dirty="0">
                <a:solidFill>
                  <a:prstClr val="white"/>
                </a:solidFill>
                <a:latin typeface="微软雅黑"/>
                <a:ea typeface="微软雅黑"/>
                <a:cs typeface="微软雅黑"/>
              </a:endParaRPr>
            </a:p>
          </p:txBody>
        </p:sp>
        <p:sp>
          <p:nvSpPr>
            <p:cNvPr id="83" name="熊大的PPT宝库6"/>
            <p:cNvSpPr/>
            <p:nvPr/>
          </p:nvSpPr>
          <p:spPr>
            <a:xfrm rot="5400000">
              <a:off x="6766" y="3029"/>
              <a:ext cx="5669" cy="5669"/>
            </a:xfrm>
            <a:prstGeom prst="arc">
              <a:avLst/>
            </a:prstGeom>
            <a:noFill/>
            <a:ln w="762000" cap="rnd">
              <a:gradFill>
                <a:gsLst>
                  <a:gs pos="0">
                    <a:srgbClr val="FFFFFF"/>
                  </a:gs>
                  <a:gs pos="80000">
                    <a:srgbClr val="3368FF"/>
                  </a:gs>
                </a:gsLst>
                <a:lin ang="3600000" scaled="0"/>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4" name="熊大的PPT宝库3"/>
            <p:cNvSpPr/>
            <p:nvPr/>
          </p:nvSpPr>
          <p:spPr>
            <a:xfrm>
              <a:off x="6766" y="3029"/>
              <a:ext cx="5669" cy="5669"/>
            </a:xfrm>
            <a:prstGeom prst="arc">
              <a:avLst/>
            </a:prstGeom>
            <a:noFill/>
            <a:ln w="762000" cap="rnd">
              <a:gradFill>
                <a:gsLst>
                  <a:gs pos="0">
                    <a:srgbClr val="FFFFFF"/>
                  </a:gs>
                  <a:gs pos="80000">
                    <a:srgbClr val="B3D4FE"/>
                  </a:gs>
                </a:gsLst>
                <a:lin ang="3600000" scaled="0"/>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defTabSz="914400">
                <a:defRPr>
                  <a:latin typeface="微软雅黑"/>
                  <a:ea typeface="微软雅黑"/>
                  <a:cs typeface="微软雅黑"/>
                </a:defRPr>
              </a:pPr>
              <a:endParaRPr lang="en-US" dirty="0">
                <a:solidFill>
                  <a:prstClr val="white"/>
                </a:solidFill>
                <a:latin typeface="微软雅黑"/>
                <a:ea typeface="微软雅黑"/>
                <a:cs typeface="微软雅黑"/>
              </a:endParaRPr>
            </a:p>
          </p:txBody>
        </p:sp>
        <p:sp>
          <p:nvSpPr>
            <p:cNvPr id="81" name="熊大的PPT宝库4"/>
            <p:cNvSpPr/>
            <p:nvPr/>
          </p:nvSpPr>
          <p:spPr>
            <a:xfrm rot="16200000">
              <a:off x="6766" y="3029"/>
              <a:ext cx="5669" cy="5669"/>
            </a:xfrm>
            <a:prstGeom prst="arc">
              <a:avLst/>
            </a:prstGeom>
            <a:noFill/>
            <a:ln w="762000" cap="rnd">
              <a:gradFill>
                <a:gsLst>
                  <a:gs pos="0">
                    <a:srgbClr val="FFFFFF"/>
                  </a:gs>
                  <a:gs pos="80000">
                    <a:srgbClr val="3368FF"/>
                  </a:gs>
                </a:gsLst>
                <a:lin ang="3600000" scaled="0"/>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defTabSz="914400">
                <a:defRPr>
                  <a:latin typeface="微软雅黑"/>
                  <a:ea typeface="微软雅黑"/>
                  <a:cs typeface="微软雅黑"/>
                </a:defRPr>
              </a:pPr>
              <a:endParaRPr lang="en-US" dirty="0">
                <a:solidFill>
                  <a:prstClr val="white"/>
                </a:solidFill>
                <a:latin typeface="微软雅黑"/>
                <a:ea typeface="微软雅黑"/>
                <a:cs typeface="微软雅黑"/>
              </a:endParaRPr>
            </a:p>
          </p:txBody>
        </p:sp>
        <p:sp>
          <p:nvSpPr>
            <p:cNvPr id="84" name="熊大的PPT宝库7"/>
            <p:cNvSpPr/>
            <p:nvPr/>
          </p:nvSpPr>
          <p:spPr>
            <a:xfrm>
              <a:off x="9138" y="2566"/>
              <a:ext cx="926" cy="926"/>
            </a:xfrm>
            <a:prstGeom prst="ellipse">
              <a:avLst/>
            </a:prstGeom>
            <a:noFill/>
            <a:ln>
              <a:solidFill>
                <a:srgbClr val="FFFF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2400" i="0" u="none" strike="noStrike" kern="1200" cap="none" spc="0" normalizeH="0" baseline="0" noProof="0" dirty="0">
                  <a:ln>
                    <a:noFill/>
                  </a:ln>
                  <a:solidFill>
                    <a:srgbClr val="383838"/>
                  </a:solidFill>
                  <a:effectLst/>
                  <a:uLnTx/>
                  <a:uFillTx/>
                  <a:latin typeface="微软雅黑"/>
                  <a:ea typeface="微软雅黑"/>
                  <a:cs typeface="微软雅黑"/>
                </a:rPr>
                <a:t>01</a:t>
              </a:r>
              <a:endParaRPr kumimoji="0" lang="en-US" sz="24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5" name="熊大的PPT宝库8"/>
            <p:cNvSpPr/>
            <p:nvPr/>
          </p:nvSpPr>
          <p:spPr>
            <a:xfrm>
              <a:off x="11973" y="5401"/>
              <a:ext cx="926" cy="926"/>
            </a:xfrm>
            <a:prstGeom prst="ellipse">
              <a:avLst/>
            </a:prstGeom>
            <a:noFill/>
            <a:ln>
              <a:solidFill>
                <a:srgbClr val="FFFF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2400" i="0" u="none" strike="noStrike" kern="1200" cap="none" spc="0" normalizeH="0" baseline="0" noProof="0" dirty="0">
                  <a:ln>
                    <a:noFill/>
                  </a:ln>
                  <a:solidFill>
                    <a:srgbClr val="383838"/>
                  </a:solidFill>
                  <a:effectLst/>
                  <a:uLnTx/>
                  <a:uFillTx/>
                  <a:latin typeface="微软雅黑"/>
                  <a:ea typeface="微软雅黑"/>
                  <a:cs typeface="微软雅黑"/>
                </a:rPr>
                <a:t>02</a:t>
              </a:r>
              <a:endParaRPr kumimoji="0" lang="en-US" sz="24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6" name="熊大的PPT宝库9"/>
            <p:cNvSpPr/>
            <p:nvPr/>
          </p:nvSpPr>
          <p:spPr>
            <a:xfrm>
              <a:off x="9138" y="8236"/>
              <a:ext cx="926" cy="926"/>
            </a:xfrm>
            <a:prstGeom prst="ellipse">
              <a:avLst/>
            </a:prstGeom>
            <a:noFill/>
            <a:ln>
              <a:solidFill>
                <a:srgbClr val="FFFF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2400" i="0" u="none" strike="noStrike" kern="1200" cap="none" spc="0" normalizeH="0" baseline="0" noProof="0" dirty="0">
                  <a:ln>
                    <a:noFill/>
                  </a:ln>
                  <a:solidFill>
                    <a:srgbClr val="383838"/>
                  </a:solidFill>
                  <a:effectLst/>
                  <a:uLnTx/>
                  <a:uFillTx/>
                  <a:latin typeface="微软雅黑"/>
                  <a:ea typeface="微软雅黑"/>
                  <a:cs typeface="微软雅黑"/>
                </a:rPr>
                <a:t>03</a:t>
              </a:r>
              <a:endParaRPr kumimoji="0" lang="en-US" sz="24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6" name="椭圆 105"/>
            <p:cNvSpPr/>
            <p:nvPr/>
          </p:nvSpPr>
          <p:spPr>
            <a:xfrm>
              <a:off x="6167" y="5271"/>
              <a:ext cx="1200" cy="1200"/>
            </a:xfrm>
            <a:prstGeom prst="ellipse">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7" name="熊大的PPT宝库10"/>
            <p:cNvSpPr/>
            <p:nvPr/>
          </p:nvSpPr>
          <p:spPr>
            <a:xfrm>
              <a:off x="6302" y="5545"/>
              <a:ext cx="926" cy="926"/>
            </a:xfrm>
            <a:prstGeom prst="ellipse">
              <a:avLst/>
            </a:prstGeom>
            <a:noFill/>
            <a:ln>
              <a:solidFill>
                <a:srgbClr val="FFFFFF"/>
              </a:solid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2400" i="0" u="none" strike="noStrike" kern="1200" cap="none" spc="0" normalizeH="0" baseline="0" noProof="0" dirty="0">
                  <a:ln>
                    <a:noFill/>
                  </a:ln>
                  <a:solidFill>
                    <a:srgbClr val="383838"/>
                  </a:solidFill>
                  <a:effectLst/>
                  <a:uLnTx/>
                  <a:uFillTx/>
                  <a:latin typeface="微软雅黑"/>
                  <a:ea typeface="微软雅黑"/>
                  <a:cs typeface="微软雅黑"/>
                </a:rPr>
                <a:t>04</a:t>
              </a:r>
              <a:endParaRPr kumimoji="0" lang="en-US" sz="24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11" name="组合 110"/>
          <p:cNvGrpSpPr/>
          <p:nvPr/>
        </p:nvGrpSpPr>
        <p:grpSpPr>
          <a:xfrm>
            <a:off x="5247005" y="2955925"/>
            <a:ext cx="1727200" cy="1727200"/>
            <a:chOff x="7898" y="4870"/>
            <a:chExt cx="2720" cy="2720"/>
          </a:xfrm>
        </p:grpSpPr>
        <p:sp>
          <p:nvSpPr>
            <p:cNvPr id="68" name="熊大的PPT宝库15-1"/>
            <p:cNvSpPr/>
            <p:nvPr/>
          </p:nvSpPr>
          <p:spPr>
            <a:xfrm>
              <a:off x="7898" y="4870"/>
              <a:ext cx="2721" cy="2721"/>
            </a:xfrm>
            <a:prstGeom prst="ellipse">
              <a:avLst/>
            </a:prstGeom>
            <a:gradFill>
              <a:gsLst>
                <a:gs pos="0">
                  <a:srgbClr val="3368FF"/>
                </a:gs>
                <a:gs pos="100000">
                  <a:srgbClr val="0042FF"/>
                </a:gs>
              </a:gsLst>
              <a:lin ang="18900000" scaled="0"/>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13" name="©天蝎PPT9-42"/>
            <p:cNvSpPr txBox="1"/>
            <p:nvPr/>
          </p:nvSpPr>
          <p:spPr>
            <a:xfrm>
              <a:off x="8215" y="5638"/>
              <a:ext cx="2088" cy="1186"/>
            </a:xfrm>
            <a:prstGeom prst="rect">
              <a:avLst/>
            </a:prstGeom>
            <a:noFill/>
          </p:spPr>
          <p:txBody>
            <a:bodyPr wrap="none" rtlCol="0" lIns="0" rIns="0" tIns="0" bIns="0">
              <a:spAutoFit/>
            </a:bodyPr>
            <a:lstStyle/>
            <a:p>
              <a:pPr algn="ctr">
                <a:defRPr>
                  <a:solidFill>
                    <a:srgbClr val="FFFFFF"/>
                  </a:solidFill>
                  <a:latin typeface="微软雅黑"/>
                  <a:ea typeface="微软雅黑"/>
                  <a:cs typeface="微软雅黑"/>
                </a:defRPr>
              </a:pPr>
              <a:r>
                <a:rPr kumimoji="1" lang="en-US" altLang="zh-CN" sz="2500" b="1" dirty="0">
                  <a:solidFill>
                    <a:srgbClr val="FFFFFF"/>
                  </a:solidFill>
                  <a:latin typeface="微软雅黑"/>
                  <a:ea typeface="微软雅黑"/>
                  <a:cs typeface="微软雅黑"/>
                  <a:sym typeface="微软雅黑"/>
                </a:rPr>
                <a:t>PDCA</a:t>
              </a:r>
              <a:endParaRPr kumimoji="1" lang="en-US" altLang="zh-CN" sz="25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kumimoji="1" lang="zh-CN" altLang="en-US" b="1" dirty="0">
                  <a:solidFill>
                    <a:srgbClr val="FFFFFF"/>
                  </a:solidFill>
                  <a:latin typeface="微软雅黑"/>
                  <a:ea typeface="微软雅黑"/>
                  <a:cs typeface="微软雅黑"/>
                  <a:sym typeface="微软雅黑"/>
                </a:rPr>
                <a:t>循环工作法</a:t>
              </a:r>
              <a:endParaRPr kumimoji="1" lang="en-US" altLang="zh-CN" b="1" dirty="0">
                <a:solidFill>
                  <a:srgbClr val="FFFFFF"/>
                </a:solidFill>
                <a:latin typeface="微软雅黑"/>
                <a:ea typeface="微软雅黑"/>
                <a:cs typeface="微软雅黑"/>
                <a:sym typeface="微软雅黑"/>
              </a:endParaRPr>
            </a:p>
          </p:txBody>
        </p:sp>
      </p:grpSp>
      <p:grpSp>
        <p:nvGrpSpPr>
          <p:cNvPr id="118" name="组合 117"/>
          <p:cNvGrpSpPr/>
          <p:nvPr/>
        </p:nvGrpSpPr>
        <p:grpSpPr>
          <a:xfrm>
            <a:off x="3665855" y="1344295"/>
            <a:ext cx="4950460" cy="4950460"/>
            <a:chOff x="6377" y="2769"/>
            <a:chExt cx="6626" cy="6626"/>
          </a:xfrm>
        </p:grpSpPr>
        <p:sp>
          <p:nvSpPr>
            <p:cNvPr id="114" name="弧形 113"/>
            <p:cNvSpPr/>
            <p:nvPr/>
          </p:nvSpPr>
          <p:spPr>
            <a:xfrm>
              <a:off x="6377" y="2769"/>
              <a:ext cx="6627" cy="6627"/>
            </a:xfrm>
            <a:prstGeom prst="arc">
              <a:avLst>
                <a:gd name="adj1" fmla="val 17281646"/>
                <a:gd name="adj2" fmla="val 21406547"/>
              </a:avLst>
            </a:prstGeom>
            <a:noFill/>
            <a:ln w="19050">
              <a:gradFill>
                <a:gsLst>
                  <a:gs pos="7000">
                    <a:srgbClr val="3368FF">
                      <a:alpha val="0"/>
                    </a:srgbClr>
                  </a:gs>
                  <a:gs pos="100000">
                    <a:srgbClr val="3368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15" name="弧形 114"/>
            <p:cNvSpPr/>
            <p:nvPr/>
          </p:nvSpPr>
          <p:spPr>
            <a:xfrm rot="16200000">
              <a:off x="6377" y="2769"/>
              <a:ext cx="6627" cy="6627"/>
            </a:xfrm>
            <a:prstGeom prst="arc">
              <a:avLst>
                <a:gd name="adj1" fmla="val 17281646"/>
                <a:gd name="adj2" fmla="val 21406547"/>
              </a:avLst>
            </a:prstGeom>
            <a:noFill/>
            <a:ln w="19050">
              <a:gradFill>
                <a:gsLst>
                  <a:gs pos="7000">
                    <a:srgbClr val="0042FF">
                      <a:alpha val="0"/>
                    </a:srgbClr>
                  </a:gs>
                  <a:gs pos="100000">
                    <a:srgbClr val="0042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16" name="弧形 115"/>
            <p:cNvSpPr/>
            <p:nvPr/>
          </p:nvSpPr>
          <p:spPr>
            <a:xfrm rot="16200000" flipH="1" flipV="1">
              <a:off x="6377" y="2769"/>
              <a:ext cx="6627" cy="6627"/>
            </a:xfrm>
            <a:prstGeom prst="arc">
              <a:avLst>
                <a:gd name="adj1" fmla="val 17281646"/>
                <a:gd name="adj2" fmla="val 21406547"/>
              </a:avLst>
            </a:prstGeom>
            <a:noFill/>
            <a:ln w="19050">
              <a:gradFill>
                <a:gsLst>
                  <a:gs pos="7000">
                    <a:srgbClr val="0042FF">
                      <a:alpha val="0"/>
                    </a:srgbClr>
                  </a:gs>
                  <a:gs pos="100000">
                    <a:srgbClr val="0042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17" name="弧形 116"/>
            <p:cNvSpPr/>
            <p:nvPr/>
          </p:nvSpPr>
          <p:spPr>
            <a:xfrm flipH="1" flipV="1">
              <a:off x="6377" y="2769"/>
              <a:ext cx="6627" cy="6627"/>
            </a:xfrm>
            <a:prstGeom prst="arc">
              <a:avLst>
                <a:gd name="adj1" fmla="val 17281646"/>
                <a:gd name="adj2" fmla="val 21406547"/>
              </a:avLst>
            </a:prstGeom>
            <a:noFill/>
            <a:ln w="19050">
              <a:gradFill>
                <a:gsLst>
                  <a:gs pos="7000">
                    <a:srgbClr val="3368FF">
                      <a:alpha val="0"/>
                    </a:srgbClr>
                  </a:gs>
                  <a:gs pos="100000">
                    <a:srgbClr val="3368FF"/>
                  </a:gs>
                </a:gsLst>
                <a:lin ang="5400000" scaled="1"/>
              </a:gradFill>
              <a:tailEnd type="stealth" w="lg" len="lg"/>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sp>
        <p:nvSpPr>
          <p:cNvPr id="119" name="熊大的PPT宝库14"/>
          <p:cNvSpPr txBox="1"/>
          <p:nvPr/>
        </p:nvSpPr>
        <p:spPr>
          <a:xfrm rot="18900000">
            <a:off x="4270075" y="2019947"/>
            <a:ext cx="3600000" cy="3600000"/>
          </a:xfrm>
          <a:prstGeom prst="rect">
            <a:avLst/>
          </a:prstGeom>
          <a:noFill/>
        </p:spPr>
        <p:txBody>
          <a:bodyPr wrap="none" lIns="0" rIns="0" tIns="0" bIns="0">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en-US" altLang="zh-CN" sz="2000" b="1" dirty="0">
                <a:solidFill>
                  <a:srgbClr val="383838"/>
                </a:solidFill>
                <a:latin typeface="微软雅黑"/>
                <a:cs typeface="微软雅黑"/>
                <a:ea typeface="微软雅黑"/>
              </a:rPr>
              <a:t>Check </a:t>
            </a:r>
            <a:r>
              <a:rPr lang="zh-CN" altLang="en-US" sz="2000" b="1" dirty="0">
                <a:solidFill>
                  <a:srgbClr val="383838"/>
                </a:solidFill>
                <a:latin typeface="微软雅黑"/>
                <a:cs typeface="微软雅黑"/>
                <a:ea typeface="微软雅黑"/>
              </a:rPr>
              <a:t>检查</a:t>
            </a:r>
            <a:endParaRPr kumimoji="0" lang="zh-CN" altLang="en-US" sz="2000" b="1" i="0" u="none" strike="noStrike" kern="1200" cap="none" spc="0" normalizeH="0" baseline="0" noProof="0" dirty="0">
              <a:ln>
                <a:noFill/>
              </a:ln>
              <a:solidFill>
                <a:srgbClr val="383838"/>
              </a:solidFill>
              <a:effectLst/>
              <a:uLnTx/>
              <a:uFillTx/>
              <a:latin typeface="微软雅黑"/>
              <a:cs typeface="微软雅黑"/>
              <a:ea typeface="微软雅黑"/>
            </a:endParaRPr>
          </a:p>
        </p:txBody>
      </p:sp>
      <p:sp>
        <p:nvSpPr>
          <p:cNvPr id="122" name="熊大的PPT宝库13"/>
          <p:cNvSpPr txBox="1"/>
          <p:nvPr/>
        </p:nvSpPr>
        <p:spPr>
          <a:xfrm rot="2700000">
            <a:off x="4354129" y="1952512"/>
            <a:ext cx="3564120" cy="3564855"/>
          </a:xfrm>
          <a:prstGeom prst="rect">
            <a:avLst/>
          </a:prstGeom>
          <a:noFill/>
        </p:spPr>
        <p:txBody>
          <a:bodyPr wrap="none" lIns="0" rIns="0" tIns="0" bIns="0">
            <a:prstTxWarp prst="textArchUp">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a:noFill/>
                </a:ln>
                <a:solidFill>
                  <a:prstClr val="white"/>
                </a:solidFill>
                <a:effectLst/>
                <a:uLnTx/>
                <a:uFillTx/>
                <a:latin typeface="微软雅黑"/>
                <a:cs typeface="微软雅黑"/>
                <a:ea typeface="微软雅黑"/>
              </a:rPr>
              <a:t>Do </a:t>
            </a:r>
            <a:r>
              <a:rPr kumimoji="0" lang="zh-CN" altLang="en-US" sz="2000" b="1" i="0" u="none" strike="noStrike" kern="1200" cap="none" spc="0" normalizeH="0" baseline="0" noProof="0" dirty="0">
                <a:ln>
                  <a:noFill/>
                </a:ln>
                <a:solidFill>
                  <a:prstClr val="white"/>
                </a:solidFill>
                <a:effectLst/>
                <a:uLnTx/>
                <a:uFillTx/>
                <a:latin typeface="微软雅黑"/>
                <a:cs typeface="微软雅黑"/>
                <a:ea typeface="微软雅黑"/>
              </a:rPr>
              <a:t>执行</a:t>
            </a:r>
            <a:endParaRPr kumimoji="0" lang="zh-CN" altLang="en-US" sz="2000" b="1" i="0" u="none" strike="noStrike" kern="1200" cap="none" spc="0" normalizeH="0" baseline="0" noProof="0" dirty="0">
              <a:ln>
                <a:noFill/>
              </a:ln>
              <a:solidFill>
                <a:prstClr val="white"/>
              </a:solidFill>
              <a:effectLst/>
              <a:uLnTx/>
              <a:uFillTx/>
              <a:latin typeface="微软雅黑"/>
              <a:cs typeface="微软雅黑"/>
              <a:ea typeface="微软雅黑"/>
            </a:endParaRPr>
          </a:p>
        </p:txBody>
      </p:sp>
      <p:sp>
        <p:nvSpPr>
          <p:cNvPr id="124" name="熊大的PPT宝库12"/>
          <p:cNvSpPr txBox="1"/>
          <p:nvPr/>
        </p:nvSpPr>
        <p:spPr>
          <a:xfrm rot="2700000">
            <a:off x="4361516" y="1909701"/>
            <a:ext cx="3600000" cy="3600000"/>
          </a:xfrm>
          <a:prstGeom prst="rect">
            <a:avLst/>
          </a:prstGeom>
          <a:noFill/>
        </p:spPr>
        <p:txBody>
          <a:bodyPr wrap="none" lIns="0" rIns="0" tIns="0" bIns="0">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a:noFill/>
                </a:ln>
                <a:solidFill>
                  <a:prstClr val="white"/>
                </a:solidFill>
                <a:effectLst/>
                <a:uLnTx/>
                <a:uFillTx/>
                <a:latin typeface="微软雅黑"/>
                <a:cs typeface="微软雅黑"/>
                <a:ea typeface="微软雅黑"/>
              </a:rPr>
              <a:t>Act </a:t>
            </a:r>
            <a:r>
              <a:rPr kumimoji="0" lang="zh-CN" altLang="en-US" sz="2000" b="1" i="0" u="none" strike="noStrike" kern="1200" cap="none" spc="0" normalizeH="0" baseline="0" noProof="0" dirty="0">
                <a:ln>
                  <a:noFill/>
                </a:ln>
                <a:solidFill>
                  <a:prstClr val="white"/>
                </a:solidFill>
                <a:effectLst/>
                <a:uLnTx/>
                <a:uFillTx/>
                <a:latin typeface="微软雅黑"/>
                <a:cs typeface="微软雅黑"/>
                <a:ea typeface="微软雅黑"/>
              </a:rPr>
              <a:t>处理</a:t>
            </a:r>
            <a:endParaRPr kumimoji="0" lang="zh-CN" altLang="en-US" sz="2000" b="1" i="0" u="none" strike="noStrike" kern="1200" cap="none" spc="0" normalizeH="0" baseline="0" noProof="0" dirty="0">
              <a:ln>
                <a:noFill/>
              </a:ln>
              <a:solidFill>
                <a:prstClr val="white"/>
              </a:solidFill>
              <a:effectLst/>
              <a:uLnTx/>
              <a:uFillTx/>
              <a:latin typeface="微软雅黑"/>
              <a:cs typeface="微软雅黑"/>
              <a:ea typeface="微软雅黑"/>
            </a:endParaRPr>
          </a:p>
        </p:txBody>
      </p:sp>
      <p:sp>
        <p:nvSpPr>
          <p:cNvPr id="126" name="熊大的PPT宝库11"/>
          <p:cNvSpPr txBox="1"/>
          <p:nvPr/>
        </p:nvSpPr>
        <p:spPr>
          <a:xfrm rot="18720000">
            <a:off x="4407923" y="1941717"/>
            <a:ext cx="3564120" cy="3564855"/>
          </a:xfrm>
          <a:prstGeom prst="rect">
            <a:avLst/>
          </a:prstGeom>
          <a:noFill/>
        </p:spPr>
        <p:txBody>
          <a:bodyPr wrap="none" lIns="0" rIns="0" tIns="0" bIns="0">
            <a:prstTxWarp prst="textArchUp">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2000" b="1" i="0" u="none" strike="noStrike" kern="1200" cap="none" spc="0" normalizeH="0" baseline="0" noProof="0" dirty="0">
                <a:ln>
                  <a:noFill/>
                </a:ln>
                <a:solidFill>
                  <a:prstClr val="white"/>
                </a:solidFill>
                <a:effectLst/>
                <a:uLnTx/>
                <a:uFillTx/>
                <a:latin typeface="微软雅黑"/>
                <a:cs typeface="微软雅黑"/>
                <a:ea typeface="微软雅黑"/>
              </a:rPr>
              <a:t>Plan </a:t>
            </a:r>
            <a:r>
              <a:rPr kumimoji="0" lang="zh-CN" altLang="en-US" sz="2000" b="1" i="0" u="none" strike="noStrike" kern="1200" cap="none" spc="0" normalizeH="0" baseline="0" noProof="0" dirty="0">
                <a:ln>
                  <a:noFill/>
                </a:ln>
                <a:solidFill>
                  <a:prstClr val="white"/>
                </a:solidFill>
                <a:effectLst/>
                <a:uLnTx/>
                <a:uFillTx/>
                <a:latin typeface="微软雅黑"/>
                <a:cs typeface="微软雅黑"/>
                <a:ea typeface="微软雅黑"/>
              </a:rPr>
              <a:t>计划</a:t>
            </a:r>
            <a:endParaRPr kumimoji="0" lang="zh-CN" altLang="en-US" sz="2000" b="1" i="0" u="none" strike="noStrike" kern="1200" cap="none" spc="0" normalizeH="0" baseline="0" noProof="0" dirty="0">
              <a:ln>
                <a:noFill/>
              </a:ln>
              <a:solidFill>
                <a:prstClr val="white"/>
              </a:solidFill>
              <a:effectLst/>
              <a:uLnTx/>
              <a:uFillTx/>
              <a:latin typeface="微软雅黑"/>
              <a:cs typeface="微软雅黑"/>
              <a:ea typeface="微软雅黑"/>
            </a:endParaRPr>
          </a:p>
        </p:txBody>
      </p:sp>
      <p:grpSp>
        <p:nvGrpSpPr>
          <p:cNvPr id="155" name="组合 154"/>
          <p:cNvGrpSpPr/>
          <p:nvPr/>
        </p:nvGrpSpPr>
        <p:grpSpPr>
          <a:xfrm>
            <a:off x="427355" y="1393825"/>
            <a:ext cx="3688080" cy="2117725"/>
            <a:chOff x="875" y="1987"/>
            <a:chExt cx="5808" cy="3335"/>
          </a:xfrm>
        </p:grpSpPr>
        <p:grpSp>
          <p:nvGrpSpPr>
            <p:cNvPr id="141" name="组合 140"/>
            <p:cNvGrpSpPr/>
            <p:nvPr/>
          </p:nvGrpSpPr>
          <p:grpSpPr>
            <a:xfrm>
              <a:off x="875" y="1987"/>
              <a:ext cx="5808" cy="1466"/>
              <a:chOff x="371749" y="1226561"/>
              <a:chExt cx="4190587" cy="930822"/>
            </a:xfrm>
          </p:grpSpPr>
          <p:grpSp>
            <p:nvGrpSpPr>
              <p:cNvPr id="142" name="组合 141"/>
              <p:cNvGrpSpPr/>
              <p:nvPr/>
            </p:nvGrpSpPr>
            <p:grpSpPr>
              <a:xfrm>
                <a:off x="447536" y="1601758"/>
                <a:ext cx="4114800" cy="555625"/>
                <a:chOff x="447536" y="1601758"/>
                <a:chExt cx="4114800" cy="555625"/>
              </a:xfrm>
            </p:grpSpPr>
            <p:sp>
              <p:nvSpPr>
                <p:cNvPr id="143" name="任意多边形: 形状 535"/>
                <p:cNvSpPr/>
                <p:nvPr/>
              </p:nvSpPr>
              <p:spPr>
                <a:xfrm>
                  <a:off x="447536" y="1646843"/>
                  <a:ext cx="4114800" cy="510540"/>
                </a:xfrm>
                <a:custGeom>
                  <a:avLst/>
                  <a:gdLst>
                    <a:gd name="connsiteX0" fmla="*/ 5094514 w 5094514"/>
                    <a:gd name="connsiteY0" fmla="*/ 740228 h 740228"/>
                    <a:gd name="connsiteX1" fmla="*/ 4354286 w 5094514"/>
                    <a:gd name="connsiteY1" fmla="*/ 0 h 740228"/>
                    <a:gd name="connsiteX2" fmla="*/ 0 w 5094514"/>
                    <a:gd name="connsiteY2" fmla="*/ 0 h 740228"/>
                    <a:gd name="connsiteX0-1" fmla="*/ 6691302 w 6691302"/>
                    <a:gd name="connsiteY0-2" fmla="*/ 740228 h 740228"/>
                    <a:gd name="connsiteX1-3" fmla="*/ 5951074 w 6691302"/>
                    <a:gd name="connsiteY1-4" fmla="*/ 0 h 740228"/>
                    <a:gd name="connsiteX2-5" fmla="*/ 0 w 6691302"/>
                    <a:gd name="connsiteY2-6" fmla="*/ 0 h 740228"/>
                  </a:gdLst>
                  <a:ahLst/>
                  <a:cxnLst>
                    <a:cxn ang="0">
                      <a:pos x="connsiteX0-1" y="connsiteY0-2"/>
                    </a:cxn>
                    <a:cxn ang="0">
                      <a:pos x="connsiteX1-3" y="connsiteY1-4"/>
                    </a:cxn>
                    <a:cxn ang="0">
                      <a:pos x="connsiteX2-5" y="connsiteY2-6"/>
                    </a:cxn>
                  </a:cxnLst>
                  <a:rect l="l" t="t" r="r" b="b"/>
                  <a:pathLst>
                    <a:path w="6691302" h="740228">
                      <a:moveTo>
                        <a:pt x="6691302" y="740228"/>
                      </a:moveTo>
                      <a:lnTo>
                        <a:pt x="5951074" y="0"/>
                      </a:lnTo>
                      <a:lnTo>
                        <a:pt x="0" y="0"/>
                      </a:lnTo>
                    </a:path>
                  </a:pathLst>
                </a:custGeom>
                <a:noFill/>
                <a:ln w="9525">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44" name="矩形 143"/>
                <p:cNvSpPr/>
                <p:nvPr/>
              </p:nvSpPr>
              <p:spPr>
                <a:xfrm flipV="1">
                  <a:off x="447536" y="1601758"/>
                  <a:ext cx="1227152" cy="45719"/>
                </a:xfrm>
                <a:prstGeom prst="rect">
                  <a:avLst/>
                </a:prstGeom>
                <a:solidFill>
                  <a:srgbClr val="0042FF"/>
                </a:solidFill>
                <a:ln w="12700" cap="flat" cmpd="sng" algn="ctr">
                  <a:noFill/>
                  <a:prstDash val="solid"/>
                  <a:miter lim="800000"/>
                </a:ln>
                <a:effectLst/>
              </p:spPr>
              <p:txBody>
                <a:bodyPr rtlCol="0" anchor="ctr" lIns="0" rIns="0" tIns="0" bIns="0"/>
                <a:lstStyle/>
                <a:p>
                  <a:pPr algn="ctr">
                    <a:defRPr>
                      <a:solidFill>
                        <a:srgbClr val="FFFFFF"/>
                      </a:solidFill>
                      <a:latin typeface="微软雅黑"/>
                      <a:ea typeface="微软雅黑"/>
                      <a:cs typeface="微软雅黑"/>
                    </a:defRPr>
                  </a:pPr>
                  <a:endParaRPr kumimoji="1" lang="zh-CN" altLang="en-US" dirty="0">
                    <a:gradFill>
                      <a:gsLst>
                        <a:gs pos="100000">
                          <a:srgbClr val="0042FF"/>
                        </a:gs>
                        <a:gs pos="0">
                          <a:srgbClr val="0042FF"/>
                        </a:gs>
                      </a:gsLst>
                      <a:lin ang="2700000" scaled="1"/>
                    </a:gradFill>
                    <a:solidFill>
                      <a:srgbClr val="FFFFFF"/>
                    </a:solidFill>
                    <a:latin typeface="微软雅黑"/>
                    <a:ea typeface="微软雅黑"/>
                    <a:cs typeface="微软雅黑"/>
                  </a:endParaRPr>
                </a:p>
              </p:txBody>
            </p:sp>
          </p:grpSp>
          <p:sp>
            <p:nvSpPr>
              <p:cNvPr id="145" name="文本框 144"/>
              <p:cNvSpPr txBox="1"/>
              <p:nvPr/>
            </p:nvSpPr>
            <p:spPr>
              <a:xfrm>
                <a:off x="371749" y="1226561"/>
                <a:ext cx="1386761" cy="337153"/>
              </a:xfrm>
              <a:prstGeom prst="rect">
                <a:avLst/>
              </a:prstGeom>
              <a:noFill/>
            </p:spPr>
            <p:txBody>
              <a:bodyPr wrap="square" rtlCol="0">
                <a:spAutoFit/>
              </a:bodyPr>
              <a:lstStyle/>
              <a:p>
                <a:pPr>
                  <a:defRPr>
                    <a:latin typeface="微软雅黑"/>
                    <a:ea typeface="微软雅黑"/>
                    <a:cs typeface="微软雅黑"/>
                  </a:defRPr>
                </a:pPr>
                <a:r>
                  <a:rPr kumimoji="1" lang="zh-CN" altLang="en-US" sz="1600" b="1" dirty="0">
                    <a:solidFill>
                      <a:srgbClr val="0042FF"/>
                    </a:solidFill>
                    <a:latin typeface="微软雅黑"/>
                    <a:ea typeface="微软雅黑"/>
                    <a:cs typeface="微软雅黑"/>
                  </a:rPr>
                  <a:t>计划阶段</a:t>
                </a:r>
                <a:endParaRPr kumimoji="1" lang="zh-CN" altLang="en-US" sz="1600" b="1" dirty="0">
                  <a:solidFill>
                    <a:srgbClr val="0042FF"/>
                  </a:solidFill>
                  <a:latin typeface="微软雅黑"/>
                  <a:ea typeface="微软雅黑"/>
                  <a:cs typeface="微软雅黑"/>
                </a:endParaRPr>
              </a:p>
            </p:txBody>
          </p:sp>
        </p:grpSp>
        <p:sp>
          <p:nvSpPr>
            <p:cNvPr id="153" name="矩形: 圆角 1040"/>
            <p:cNvSpPr/>
            <p:nvPr>
              <p:custDataLst>
                <p:tags r:id="rId3"/>
              </p:custDataLst>
            </p:nvPr>
          </p:nvSpPr>
          <p:spPr>
            <a:xfrm>
              <a:off x="980" y="2807"/>
              <a:ext cx="4241" cy="2515"/>
            </a:xfrm>
            <a:prstGeom prst="roundRect">
              <a:avLst>
                <a:gd name="adj" fmla="val 0"/>
              </a:avLst>
            </a:prstGeom>
            <a:solidFill>
              <a:srgbClr val="E6E6E6">
                <a:alpha val="20000"/>
              </a:srgbClr>
            </a:solidFill>
            <a:ln w="12700" cap="flat" cmpd="sng" algn="ctr">
              <a:solidFill>
                <a:srgbClr val="0042FF">
                  <a:alpha val="50000"/>
                </a:srgbClr>
              </a:solidFill>
              <a:prstDash val="dash"/>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4" name="文本框 153"/>
            <p:cNvSpPr txBox="1"/>
            <p:nvPr>
              <p:custDataLst>
                <p:tags r:id="rId4"/>
              </p:custDataLst>
            </p:nvPr>
          </p:nvSpPr>
          <p:spPr>
            <a:xfrm>
              <a:off x="1093" y="2996"/>
              <a:ext cx="4077" cy="2179"/>
            </a:xfrm>
            <a:prstGeom prst="rect">
              <a:avLst/>
            </a:prstGeom>
            <a:noFill/>
          </p:spPr>
          <p:txBody>
            <a:bodyPr wrap="square">
              <a:spAutoFit/>
            </a:bodyPr>
            <a:lstStyle/>
            <a:p>
              <a:pPr algn="l">
                <a:defRPr>
                  <a:latin typeface="微软雅黑"/>
                  <a:ea typeface="微软雅黑"/>
                  <a:cs typeface="微软雅黑"/>
                </a:defRPr>
              </a:pPr>
              <a:r>
                <a:rPr lang="zh-CN" altLang="en-US" sz="1400" b="0" i="0" dirty="0">
                  <a:solidFill>
                    <a:srgbClr val="383838"/>
                  </a:solidFill>
                  <a:effectLst/>
                  <a:latin typeface="微软雅黑"/>
                  <a:ea typeface="微软雅黑"/>
                  <a:cs typeface="微软雅黑"/>
                </a:rPr>
                <a:t>基于现状调查与数据分析，设定清晰可量化的目标，并制定详细实施步骤。需明确</a:t>
              </a:r>
              <a:r>
                <a:rPr lang="en-US" altLang="zh-CN" sz="1400" b="0" i="0" dirty="0">
                  <a:solidFill>
                    <a:srgbClr val="383838"/>
                  </a:solidFill>
                  <a:effectLst/>
                  <a:latin typeface="微软雅黑"/>
                  <a:ea typeface="微软雅黑"/>
                  <a:cs typeface="微软雅黑"/>
                </a:rPr>
                <a:t>5W1H</a:t>
              </a:r>
              <a:r>
                <a:rPr lang="zh-CN" altLang="en-US" sz="1400" b="0" i="0" dirty="0">
                  <a:solidFill>
                    <a:srgbClr val="383838"/>
                  </a:solidFill>
                  <a:effectLst/>
                  <a:latin typeface="微软雅黑"/>
                  <a:ea typeface="微软雅黑"/>
                  <a:cs typeface="微软雅黑"/>
                </a:rPr>
                <a:t>（为何做、做什么、何处、何时、谁做、如何做），同时预判潜在障碍并制定预案。</a:t>
              </a:r>
              <a:endParaRPr lang="zh-CN" altLang="en-US" sz="1400" b="0" i="0" dirty="0">
                <a:solidFill>
                  <a:srgbClr val="383838"/>
                </a:solidFill>
                <a:effectLst/>
                <a:latin typeface="微软雅黑"/>
                <a:ea typeface="微软雅黑"/>
                <a:cs typeface="微软雅黑"/>
              </a:endParaRPr>
            </a:p>
          </p:txBody>
        </p:sp>
      </p:grpSp>
      <p:grpSp>
        <p:nvGrpSpPr>
          <p:cNvPr id="156" name="组合 155"/>
          <p:cNvGrpSpPr/>
          <p:nvPr/>
        </p:nvGrpSpPr>
        <p:grpSpPr>
          <a:xfrm flipH="1">
            <a:off x="8319111" y="1584960"/>
            <a:ext cx="3489349" cy="2061210"/>
            <a:chOff x="875" y="1987"/>
            <a:chExt cx="5495" cy="3246"/>
          </a:xfrm>
        </p:grpSpPr>
        <p:grpSp>
          <p:nvGrpSpPr>
            <p:cNvPr id="157" name="组合 156"/>
            <p:cNvGrpSpPr/>
            <p:nvPr/>
          </p:nvGrpSpPr>
          <p:grpSpPr>
            <a:xfrm>
              <a:off x="875" y="1987"/>
              <a:ext cx="5495" cy="1466"/>
              <a:chOff x="371749" y="1226561"/>
              <a:chExt cx="3964779" cy="930770"/>
            </a:xfrm>
          </p:grpSpPr>
          <p:grpSp>
            <p:nvGrpSpPr>
              <p:cNvPr id="158" name="组合 157"/>
              <p:cNvGrpSpPr/>
              <p:nvPr/>
            </p:nvGrpSpPr>
            <p:grpSpPr>
              <a:xfrm>
                <a:off x="447536" y="1601758"/>
                <a:ext cx="3888992" cy="555573"/>
                <a:chOff x="447536" y="1601758"/>
                <a:chExt cx="3888992" cy="555573"/>
              </a:xfrm>
            </p:grpSpPr>
            <p:sp>
              <p:nvSpPr>
                <p:cNvPr id="159" name="任意多边形: 形状 535"/>
                <p:cNvSpPr/>
                <p:nvPr/>
              </p:nvSpPr>
              <p:spPr>
                <a:xfrm>
                  <a:off x="447536" y="1646839"/>
                  <a:ext cx="3888992" cy="510492"/>
                </a:xfrm>
                <a:custGeom>
                  <a:avLst/>
                  <a:gdLst>
                    <a:gd name="connsiteX0" fmla="*/ 5094514 w 5094514"/>
                    <a:gd name="connsiteY0" fmla="*/ 740228 h 740228"/>
                    <a:gd name="connsiteX1" fmla="*/ 4354286 w 5094514"/>
                    <a:gd name="connsiteY1" fmla="*/ 0 h 740228"/>
                    <a:gd name="connsiteX2" fmla="*/ 0 w 5094514"/>
                    <a:gd name="connsiteY2" fmla="*/ 0 h 740228"/>
                    <a:gd name="connsiteX0-1" fmla="*/ 6691302 w 6691302"/>
                    <a:gd name="connsiteY0-2" fmla="*/ 740228 h 740228"/>
                    <a:gd name="connsiteX1-3" fmla="*/ 5951074 w 6691302"/>
                    <a:gd name="connsiteY1-4" fmla="*/ 0 h 740228"/>
                    <a:gd name="connsiteX2-5" fmla="*/ 0 w 6691302"/>
                    <a:gd name="connsiteY2-6" fmla="*/ 0 h 740228"/>
                  </a:gdLst>
                  <a:ahLst/>
                  <a:cxnLst>
                    <a:cxn ang="0">
                      <a:pos x="connsiteX0-1" y="connsiteY0-2"/>
                    </a:cxn>
                    <a:cxn ang="0">
                      <a:pos x="connsiteX1-3" y="connsiteY1-4"/>
                    </a:cxn>
                    <a:cxn ang="0">
                      <a:pos x="connsiteX2-5" y="connsiteY2-6"/>
                    </a:cxn>
                  </a:cxnLst>
                  <a:rect l="l" t="t" r="r" b="b"/>
                  <a:pathLst>
                    <a:path w="6691302" h="740228">
                      <a:moveTo>
                        <a:pt x="6691302" y="740228"/>
                      </a:moveTo>
                      <a:lnTo>
                        <a:pt x="5951074" y="0"/>
                      </a:lnTo>
                      <a:lnTo>
                        <a:pt x="0" y="0"/>
                      </a:lnTo>
                    </a:path>
                  </a:pathLst>
                </a:custGeom>
                <a:noFill/>
                <a:ln w="9525">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61" name="矩形 160"/>
                <p:cNvSpPr/>
                <p:nvPr/>
              </p:nvSpPr>
              <p:spPr>
                <a:xfrm flipV="1">
                  <a:off x="447536" y="1601758"/>
                  <a:ext cx="1227152" cy="45719"/>
                </a:xfrm>
                <a:prstGeom prst="rect">
                  <a:avLst/>
                </a:prstGeom>
                <a:solidFill>
                  <a:srgbClr val="3368FF"/>
                </a:solidFill>
                <a:ln w="12700" cap="flat" cmpd="sng" algn="ctr">
                  <a:no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kumimoji="1" lang="zh-CN" altLang="en-US" dirty="0">
                    <a:gradFill>
                      <a:gsLst>
                        <a:gs pos="100000">
                          <a:srgbClr val="0042FF"/>
                        </a:gs>
                        <a:gs pos="0">
                          <a:srgbClr val="0042FF"/>
                        </a:gs>
                      </a:gsLst>
                      <a:lin ang="2700000" scaled="1"/>
                    </a:gradFill>
                    <a:solidFill>
                      <a:srgbClr val="383838"/>
                    </a:solidFill>
                    <a:latin typeface="微软雅黑"/>
                    <a:ea typeface="微软雅黑"/>
                    <a:cs typeface="微软雅黑"/>
                  </a:endParaRPr>
                </a:p>
              </p:txBody>
            </p:sp>
          </p:grpSp>
          <p:sp>
            <p:nvSpPr>
              <p:cNvPr id="162" name="文本框 161"/>
              <p:cNvSpPr txBox="1"/>
              <p:nvPr/>
            </p:nvSpPr>
            <p:spPr>
              <a:xfrm>
                <a:off x="371749" y="1226561"/>
                <a:ext cx="1386761" cy="337153"/>
              </a:xfrm>
              <a:prstGeom prst="rect">
                <a:avLst/>
              </a:prstGeom>
              <a:noFill/>
            </p:spPr>
            <p:txBody>
              <a:bodyPr wrap="square" rtlCol="0">
                <a:spAutoFit/>
              </a:bodyPr>
              <a:lstStyle/>
              <a:p>
                <a:pPr>
                  <a:defRPr>
                    <a:latin typeface="微软雅黑"/>
                    <a:ea typeface="微软雅黑"/>
                    <a:cs typeface="微软雅黑"/>
                  </a:defRPr>
                </a:pPr>
                <a:r>
                  <a:rPr kumimoji="1" lang="zh-CN" altLang="en-US" sz="1600" b="1" dirty="0">
                    <a:solidFill>
                      <a:srgbClr val="0042FF"/>
                    </a:solidFill>
                    <a:latin typeface="微软雅黑"/>
                    <a:ea typeface="微软雅黑"/>
                    <a:cs typeface="微软雅黑"/>
                  </a:rPr>
                  <a:t>执行阶段</a:t>
                </a:r>
                <a:endParaRPr kumimoji="1" lang="zh-CN" altLang="en-US" sz="1600" b="1" dirty="0">
                  <a:solidFill>
                    <a:srgbClr val="0042FF"/>
                  </a:solidFill>
                  <a:latin typeface="微软雅黑"/>
                  <a:ea typeface="微软雅黑"/>
                  <a:cs typeface="微软雅黑"/>
                </a:endParaRPr>
              </a:p>
            </p:txBody>
          </p:sp>
        </p:grpSp>
        <p:sp>
          <p:nvSpPr>
            <p:cNvPr id="163" name="矩形: 圆角 1040"/>
            <p:cNvSpPr/>
            <p:nvPr>
              <p:custDataLst>
                <p:tags r:id="rId5"/>
              </p:custDataLst>
            </p:nvPr>
          </p:nvSpPr>
          <p:spPr>
            <a:xfrm>
              <a:off x="980" y="2807"/>
              <a:ext cx="4490" cy="2426"/>
            </a:xfrm>
            <a:prstGeom prst="roundRect">
              <a:avLst>
                <a:gd name="adj" fmla="val 0"/>
              </a:avLst>
            </a:prstGeom>
            <a:solidFill>
              <a:srgbClr val="FFFFFF">
                <a:alpha val="20000"/>
              </a:srgbClr>
            </a:solidFill>
            <a:ln w="12700" cap="flat" cmpd="sng" algn="ctr">
              <a:solidFill>
                <a:srgbClr val="3368FF">
                  <a:alpha val="50000"/>
                </a:srgbClr>
              </a:solidFill>
              <a:prstDash val="dash"/>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64" name="文本框 163"/>
            <p:cNvSpPr txBox="1"/>
            <p:nvPr>
              <p:custDataLst>
                <p:tags r:id="rId6"/>
              </p:custDataLst>
            </p:nvPr>
          </p:nvSpPr>
          <p:spPr>
            <a:xfrm>
              <a:off x="1165" y="2944"/>
              <a:ext cx="4077" cy="2179"/>
            </a:xfrm>
            <a:prstGeom prst="rect">
              <a:avLst/>
            </a:prstGeom>
            <a:noFill/>
          </p:spPr>
          <p:txBody>
            <a:bodyPr wrap="square">
              <a:spAutoFit/>
            </a:bodyPr>
            <a:lstStyle/>
            <a:p>
              <a:pPr algn="l">
                <a:defRPr>
                  <a:latin typeface="微软雅黑"/>
                  <a:ea typeface="微软雅黑"/>
                  <a:cs typeface="微软雅黑"/>
                </a:defRPr>
              </a:pPr>
              <a:r>
                <a:rPr lang="zh-CN" altLang="en-US" sz="1400" b="0" i="0" dirty="0">
                  <a:solidFill>
                    <a:srgbClr val="383838"/>
                  </a:solidFill>
                  <a:effectLst/>
                  <a:latin typeface="微软雅黑"/>
                  <a:ea typeface="微软雅黑"/>
                  <a:cs typeface="微软雅黑"/>
                </a:rPr>
                <a:t>严格按照既定计划展开行动，落实各项措施。在执行过程中注重过程管控与数据记录，确保动作不走样。同时做好人员沟通与资源协调，及时解决突发问题，保证执行进度与质量。</a:t>
              </a:r>
              <a:endParaRPr lang="zh-CN" altLang="en-US" sz="1400" b="0" i="0" dirty="0">
                <a:solidFill>
                  <a:srgbClr val="383838"/>
                </a:solidFill>
                <a:effectLst/>
                <a:latin typeface="微软雅黑"/>
                <a:ea typeface="微软雅黑"/>
                <a:cs typeface="微软雅黑"/>
              </a:endParaRPr>
            </a:p>
          </p:txBody>
        </p:sp>
      </p:grpSp>
      <p:grpSp>
        <p:nvGrpSpPr>
          <p:cNvPr id="165" name="组合 164"/>
          <p:cNvGrpSpPr/>
          <p:nvPr/>
        </p:nvGrpSpPr>
        <p:grpSpPr>
          <a:xfrm flipH="1" flipV="1">
            <a:off x="8116570" y="4274185"/>
            <a:ext cx="3621405" cy="1715770"/>
            <a:chOff x="980" y="2578"/>
            <a:chExt cx="5703" cy="2702"/>
          </a:xfrm>
        </p:grpSpPr>
        <p:grpSp>
          <p:nvGrpSpPr>
            <p:cNvPr id="167" name="组合 166"/>
            <p:cNvGrpSpPr/>
            <p:nvPr/>
          </p:nvGrpSpPr>
          <p:grpSpPr>
            <a:xfrm rot="0">
              <a:off x="980" y="2578"/>
              <a:ext cx="5703" cy="875"/>
              <a:chOff x="447536" y="1601758"/>
              <a:chExt cx="4114800" cy="555625"/>
            </a:xfrm>
          </p:grpSpPr>
          <p:sp>
            <p:nvSpPr>
              <p:cNvPr id="168" name="任意多边形: 形状 535"/>
              <p:cNvSpPr/>
              <p:nvPr/>
            </p:nvSpPr>
            <p:spPr>
              <a:xfrm>
                <a:off x="447536" y="1646843"/>
                <a:ext cx="4114800" cy="510540"/>
              </a:xfrm>
              <a:custGeom>
                <a:avLst/>
                <a:gdLst>
                  <a:gd name="connsiteX0" fmla="*/ 5094514 w 5094514"/>
                  <a:gd name="connsiteY0" fmla="*/ 740228 h 740228"/>
                  <a:gd name="connsiteX1" fmla="*/ 4354286 w 5094514"/>
                  <a:gd name="connsiteY1" fmla="*/ 0 h 740228"/>
                  <a:gd name="connsiteX2" fmla="*/ 0 w 5094514"/>
                  <a:gd name="connsiteY2" fmla="*/ 0 h 740228"/>
                  <a:gd name="connsiteX0-1" fmla="*/ 6691302 w 6691302"/>
                  <a:gd name="connsiteY0-2" fmla="*/ 740228 h 740228"/>
                  <a:gd name="connsiteX1-3" fmla="*/ 5951074 w 6691302"/>
                  <a:gd name="connsiteY1-4" fmla="*/ 0 h 740228"/>
                  <a:gd name="connsiteX2-5" fmla="*/ 0 w 6691302"/>
                  <a:gd name="connsiteY2-6" fmla="*/ 0 h 740228"/>
                </a:gdLst>
                <a:ahLst/>
                <a:cxnLst>
                  <a:cxn ang="0">
                    <a:pos x="connsiteX0-1" y="connsiteY0-2"/>
                  </a:cxn>
                  <a:cxn ang="0">
                    <a:pos x="connsiteX1-3" y="connsiteY1-4"/>
                  </a:cxn>
                  <a:cxn ang="0">
                    <a:pos x="connsiteX2-5" y="connsiteY2-6"/>
                  </a:cxn>
                </a:cxnLst>
                <a:rect l="l" t="t" r="r" b="b"/>
                <a:pathLst>
                  <a:path w="6691302" h="740228">
                    <a:moveTo>
                      <a:pt x="6691302" y="740228"/>
                    </a:moveTo>
                    <a:lnTo>
                      <a:pt x="5951074" y="0"/>
                    </a:lnTo>
                    <a:lnTo>
                      <a:pt x="0" y="0"/>
                    </a:lnTo>
                  </a:path>
                </a:pathLst>
              </a:custGeom>
              <a:noFill/>
              <a:ln w="9525">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69" name="矩形 168"/>
              <p:cNvSpPr/>
              <p:nvPr/>
            </p:nvSpPr>
            <p:spPr>
              <a:xfrm flipV="1">
                <a:off x="447536" y="1601758"/>
                <a:ext cx="1227152" cy="45719"/>
              </a:xfrm>
              <a:prstGeom prst="rect">
                <a:avLst/>
              </a:prstGeom>
              <a:solidFill>
                <a:srgbClr val="0042FF"/>
              </a:solidFill>
              <a:ln w="12700" cap="flat" cmpd="sng" algn="ctr">
                <a:no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kumimoji="1" lang="zh-CN" altLang="en-US" dirty="0">
                  <a:gradFill>
                    <a:gsLst>
                      <a:gs pos="100000">
                        <a:srgbClr val="0042FF"/>
                      </a:gs>
                      <a:gs pos="0">
                        <a:srgbClr val="0042FF"/>
                      </a:gs>
                    </a:gsLst>
                    <a:lin ang="2700000" scaled="1"/>
                  </a:gradFill>
                  <a:solidFill>
                    <a:srgbClr val="383838"/>
                  </a:solidFill>
                  <a:latin typeface="微软雅黑"/>
                  <a:ea typeface="微软雅黑"/>
                  <a:cs typeface="微软雅黑"/>
                </a:endParaRPr>
              </a:p>
            </p:txBody>
          </p:sp>
        </p:grpSp>
        <p:sp>
          <p:nvSpPr>
            <p:cNvPr id="171" name="矩形: 圆角 1040"/>
            <p:cNvSpPr/>
            <p:nvPr>
              <p:custDataLst>
                <p:tags r:id="rId7"/>
              </p:custDataLst>
            </p:nvPr>
          </p:nvSpPr>
          <p:spPr>
            <a:xfrm>
              <a:off x="980" y="2807"/>
              <a:ext cx="4490" cy="2473"/>
            </a:xfrm>
            <a:prstGeom prst="roundRect">
              <a:avLst>
                <a:gd name="adj" fmla="val 0"/>
              </a:avLst>
            </a:prstGeom>
            <a:solidFill>
              <a:srgbClr val="E6E6E6">
                <a:alpha val="20000"/>
              </a:srgbClr>
            </a:solidFill>
            <a:ln w="12700" cap="flat" cmpd="sng" algn="ctr">
              <a:solidFill>
                <a:srgbClr val="0042FF">
                  <a:alpha val="50000"/>
                </a:srgbClr>
              </a:solidFill>
              <a:prstDash val="dash"/>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173" name="文本框 172"/>
          <p:cNvSpPr txBox="1"/>
          <p:nvPr/>
        </p:nvSpPr>
        <p:spPr>
          <a:xfrm>
            <a:off x="10577830" y="6028055"/>
            <a:ext cx="1220470" cy="337185"/>
          </a:xfrm>
          <a:prstGeom prst="rect">
            <a:avLst/>
          </a:prstGeom>
          <a:noFill/>
        </p:spPr>
        <p:txBody>
          <a:bodyPr wrap="square" rtlCol="0">
            <a:spAutoFit/>
          </a:bodyPr>
          <a:lstStyle/>
          <a:p>
            <a:pPr algn="r">
              <a:defRPr>
                <a:latin typeface="微软雅黑"/>
                <a:ea typeface="微软雅黑"/>
                <a:cs typeface="微软雅黑"/>
              </a:defRPr>
            </a:pPr>
            <a:r>
              <a:rPr kumimoji="1" lang="zh-CN" altLang="en-US" sz="1600" b="1" dirty="0">
                <a:solidFill>
                  <a:srgbClr val="0042FF"/>
                </a:solidFill>
                <a:latin typeface="微软雅黑"/>
                <a:ea typeface="微软雅黑"/>
                <a:cs typeface="微软雅黑"/>
              </a:rPr>
              <a:t>检查阶段</a:t>
            </a:r>
            <a:endParaRPr kumimoji="1" lang="zh-CN" altLang="en-US" sz="1600" b="1" dirty="0">
              <a:solidFill>
                <a:srgbClr val="0042FF"/>
              </a:solidFill>
              <a:latin typeface="微软雅黑"/>
              <a:ea typeface="微软雅黑"/>
              <a:cs typeface="微软雅黑"/>
            </a:endParaRPr>
          </a:p>
        </p:txBody>
      </p:sp>
      <p:grpSp>
        <p:nvGrpSpPr>
          <p:cNvPr id="174" name="组合 173"/>
          <p:cNvGrpSpPr/>
          <p:nvPr/>
        </p:nvGrpSpPr>
        <p:grpSpPr>
          <a:xfrm flipV="1">
            <a:off x="498475" y="4274185"/>
            <a:ext cx="3621405" cy="1715770"/>
            <a:chOff x="980" y="2578"/>
            <a:chExt cx="5703" cy="2702"/>
          </a:xfrm>
        </p:grpSpPr>
        <p:grpSp>
          <p:nvGrpSpPr>
            <p:cNvPr id="175" name="组合 174"/>
            <p:cNvGrpSpPr/>
            <p:nvPr/>
          </p:nvGrpSpPr>
          <p:grpSpPr>
            <a:xfrm rot="0">
              <a:off x="980" y="2578"/>
              <a:ext cx="5703" cy="875"/>
              <a:chOff x="447536" y="1601758"/>
              <a:chExt cx="4114800" cy="555625"/>
            </a:xfrm>
          </p:grpSpPr>
          <p:sp>
            <p:nvSpPr>
              <p:cNvPr id="176" name="任意多边形: 形状 535"/>
              <p:cNvSpPr/>
              <p:nvPr/>
            </p:nvSpPr>
            <p:spPr>
              <a:xfrm>
                <a:off x="447536" y="1646843"/>
                <a:ext cx="4114800" cy="510540"/>
              </a:xfrm>
              <a:custGeom>
                <a:avLst/>
                <a:gdLst>
                  <a:gd name="connsiteX0" fmla="*/ 5094514 w 5094514"/>
                  <a:gd name="connsiteY0" fmla="*/ 740228 h 740228"/>
                  <a:gd name="connsiteX1" fmla="*/ 4354286 w 5094514"/>
                  <a:gd name="connsiteY1" fmla="*/ 0 h 740228"/>
                  <a:gd name="connsiteX2" fmla="*/ 0 w 5094514"/>
                  <a:gd name="connsiteY2" fmla="*/ 0 h 740228"/>
                  <a:gd name="connsiteX0-1" fmla="*/ 6691302 w 6691302"/>
                  <a:gd name="connsiteY0-2" fmla="*/ 740228 h 740228"/>
                  <a:gd name="connsiteX1-3" fmla="*/ 5951074 w 6691302"/>
                  <a:gd name="connsiteY1-4" fmla="*/ 0 h 740228"/>
                  <a:gd name="connsiteX2-5" fmla="*/ 0 w 6691302"/>
                  <a:gd name="connsiteY2-6" fmla="*/ 0 h 740228"/>
                </a:gdLst>
                <a:ahLst/>
                <a:cxnLst>
                  <a:cxn ang="0">
                    <a:pos x="connsiteX0-1" y="connsiteY0-2"/>
                  </a:cxn>
                  <a:cxn ang="0">
                    <a:pos x="connsiteX1-3" y="connsiteY1-4"/>
                  </a:cxn>
                  <a:cxn ang="0">
                    <a:pos x="connsiteX2-5" y="connsiteY2-6"/>
                  </a:cxn>
                </a:cxnLst>
                <a:rect l="l" t="t" r="r" b="b"/>
                <a:pathLst>
                  <a:path w="6691302" h="740228">
                    <a:moveTo>
                      <a:pt x="6691302" y="740228"/>
                    </a:moveTo>
                    <a:lnTo>
                      <a:pt x="5951074" y="0"/>
                    </a:lnTo>
                    <a:lnTo>
                      <a:pt x="0" y="0"/>
                    </a:lnTo>
                  </a:path>
                </a:pathLst>
              </a:custGeom>
              <a:noFill/>
              <a:ln w="9525">
                <a:solidFill>
                  <a:srgbClr val="DCDCDC"/>
                </a:solid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77" name="矩形 176"/>
              <p:cNvSpPr/>
              <p:nvPr/>
            </p:nvSpPr>
            <p:spPr>
              <a:xfrm flipV="1">
                <a:off x="447536" y="1601758"/>
                <a:ext cx="1227152" cy="45719"/>
              </a:xfrm>
              <a:prstGeom prst="rect">
                <a:avLst/>
              </a:prstGeom>
              <a:solidFill>
                <a:srgbClr val="3368FF"/>
              </a:solidFill>
              <a:ln w="12700" cap="flat" cmpd="sng" algn="ctr">
                <a:no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kumimoji="1" lang="zh-CN" altLang="en-US" dirty="0">
                  <a:gradFill>
                    <a:gsLst>
                      <a:gs pos="100000">
                        <a:srgbClr val="0042FF"/>
                      </a:gs>
                      <a:gs pos="0">
                        <a:srgbClr val="0042FF"/>
                      </a:gs>
                    </a:gsLst>
                    <a:lin ang="2700000" scaled="1"/>
                  </a:gradFill>
                  <a:solidFill>
                    <a:srgbClr val="383838"/>
                  </a:solidFill>
                  <a:latin typeface="微软雅黑"/>
                  <a:ea typeface="微软雅黑"/>
                  <a:cs typeface="微软雅黑"/>
                </a:endParaRPr>
              </a:p>
            </p:txBody>
          </p:sp>
        </p:grpSp>
        <p:sp>
          <p:nvSpPr>
            <p:cNvPr id="178" name="矩形: 圆角 1040"/>
            <p:cNvSpPr/>
            <p:nvPr>
              <p:custDataLst>
                <p:tags r:id="rId8"/>
              </p:custDataLst>
            </p:nvPr>
          </p:nvSpPr>
          <p:spPr>
            <a:xfrm>
              <a:off x="980" y="2807"/>
              <a:ext cx="4531" cy="2473"/>
            </a:xfrm>
            <a:prstGeom prst="roundRect">
              <a:avLst>
                <a:gd name="adj" fmla="val 0"/>
              </a:avLst>
            </a:prstGeom>
            <a:solidFill>
              <a:srgbClr val="FFFFFF">
                <a:alpha val="20000"/>
              </a:srgbClr>
            </a:solidFill>
            <a:ln w="12700" cap="flat" cmpd="sng" algn="ctr">
              <a:solidFill>
                <a:srgbClr val="3368FF">
                  <a:alpha val="50000"/>
                </a:srgbClr>
              </a:solidFill>
              <a:prstDash val="dash"/>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180" name="文本框 179"/>
          <p:cNvSpPr txBox="1"/>
          <p:nvPr>
            <p:custDataLst>
              <p:tags r:id="rId9"/>
            </p:custDataLst>
          </p:nvPr>
        </p:nvSpPr>
        <p:spPr>
          <a:xfrm flipH="1">
            <a:off x="8978265" y="4368165"/>
            <a:ext cx="2703195" cy="1383665"/>
          </a:xfrm>
          <a:prstGeom prst="rect">
            <a:avLst/>
          </a:prstGeom>
          <a:noFill/>
        </p:spPr>
        <p:txBody>
          <a:bodyPr wrap="square">
            <a:spAutoFit/>
          </a:bodyPr>
          <a:lstStyle/>
          <a:p>
            <a:pPr algn="l">
              <a:defRPr>
                <a:latin typeface="微软雅黑"/>
                <a:ea typeface="微软雅黑"/>
                <a:cs typeface="微软雅黑"/>
              </a:defRPr>
            </a:pPr>
            <a:r>
              <a:rPr lang="zh-CN" altLang="en-US" sz="1400" b="0" i="0" dirty="0">
                <a:solidFill>
                  <a:srgbClr val="383838"/>
                </a:solidFill>
                <a:effectLst/>
                <a:latin typeface="微软雅黑"/>
                <a:ea typeface="微软雅黑"/>
                <a:cs typeface="微软雅黑"/>
              </a:rPr>
              <a:t>将执行结果与计划目标进行对比分析，评估达成情况。通过数据统计与现场验证，找出成功经验与存在的偏差，深入剖析问题根源。既要肯定成果，也要不回避短板，为改进提供客观依据。</a:t>
            </a:r>
            <a:endParaRPr lang="zh-CN" altLang="en-US" sz="1400" b="0" i="0" dirty="0">
              <a:solidFill>
                <a:srgbClr val="383838"/>
              </a:solidFill>
              <a:effectLst/>
              <a:latin typeface="微软雅黑"/>
              <a:ea typeface="微软雅黑"/>
              <a:cs typeface="微软雅黑"/>
            </a:endParaRPr>
          </a:p>
        </p:txBody>
      </p:sp>
      <p:sp>
        <p:nvSpPr>
          <p:cNvPr id="181" name="文本框 180"/>
          <p:cNvSpPr txBox="1"/>
          <p:nvPr>
            <p:custDataLst>
              <p:tags r:id="rId10"/>
            </p:custDataLst>
          </p:nvPr>
        </p:nvSpPr>
        <p:spPr>
          <a:xfrm flipH="1">
            <a:off x="621665" y="4368165"/>
            <a:ext cx="2703195" cy="1383665"/>
          </a:xfrm>
          <a:prstGeom prst="rect">
            <a:avLst/>
          </a:prstGeom>
          <a:noFill/>
        </p:spPr>
        <p:txBody>
          <a:bodyPr wrap="square">
            <a:spAutoFit/>
          </a:bodyPr>
          <a:lstStyle/>
          <a:p>
            <a:pPr algn="l">
              <a:defRPr>
                <a:latin typeface="微软雅黑"/>
                <a:ea typeface="微软雅黑"/>
                <a:cs typeface="微软雅黑"/>
              </a:defRPr>
            </a:pPr>
            <a:r>
              <a:rPr lang="zh-CN" altLang="en-US" sz="1400" b="0" i="0" dirty="0">
                <a:solidFill>
                  <a:srgbClr val="383838"/>
                </a:solidFill>
                <a:effectLst/>
                <a:latin typeface="微软雅黑"/>
                <a:ea typeface="微软雅黑"/>
                <a:cs typeface="微软雅黑"/>
              </a:rPr>
              <a:t>对检查结果进行总结处理。将有效措施标准化纳入制度，防止问题复发；未解决问题转入下一循环持续改进。通过固化成果与迭代升级，推动工作质量螺旋式上升，实现管理闭环。</a:t>
            </a:r>
            <a:endParaRPr lang="zh-CN" altLang="en-US" sz="1400" b="0" i="0" dirty="0">
              <a:solidFill>
                <a:srgbClr val="383838"/>
              </a:solidFill>
              <a:effectLst/>
              <a:latin typeface="微软雅黑"/>
              <a:ea typeface="微软雅黑"/>
              <a:cs typeface="微软雅黑"/>
            </a:endParaRPr>
          </a:p>
        </p:txBody>
      </p:sp>
      <p:sp>
        <p:nvSpPr>
          <p:cNvPr id="182" name="文本框 181"/>
          <p:cNvSpPr txBox="1"/>
          <p:nvPr/>
        </p:nvSpPr>
        <p:spPr>
          <a:xfrm flipH="1">
            <a:off x="485140" y="6049010"/>
            <a:ext cx="1220470" cy="337185"/>
          </a:xfrm>
          <a:prstGeom prst="rect">
            <a:avLst/>
          </a:prstGeom>
          <a:noFill/>
        </p:spPr>
        <p:txBody>
          <a:bodyPr wrap="square" rtlCol="0">
            <a:spAutoFit/>
          </a:bodyPr>
          <a:lstStyle/>
          <a:p>
            <a:pPr>
              <a:defRPr>
                <a:latin typeface="微软雅黑"/>
                <a:ea typeface="微软雅黑"/>
                <a:cs typeface="微软雅黑"/>
              </a:defRPr>
            </a:pPr>
            <a:r>
              <a:rPr kumimoji="1" lang="zh-CN" altLang="en-US" sz="1600" b="1" dirty="0">
                <a:solidFill>
                  <a:srgbClr val="0042FF"/>
                </a:solidFill>
                <a:latin typeface="微软雅黑"/>
                <a:ea typeface="微软雅黑"/>
                <a:cs typeface="微软雅黑"/>
              </a:rPr>
              <a:t>处理阶段</a:t>
            </a:r>
            <a:endParaRPr kumimoji="1" lang="zh-CN" altLang="en-US" sz="1600" b="1" dirty="0">
              <a:solidFill>
                <a:srgbClr val="0042FF"/>
              </a:solidFill>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1"/>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p:cNvGrpSpPr/>
          <p:nvPr/>
        </p:nvGrpSpPr>
        <p:grpSpPr>
          <a:xfrm>
            <a:off x="3801443" y="1426233"/>
            <a:ext cx="4621563" cy="4595786"/>
            <a:chOff x="6700" y="2615"/>
            <a:chExt cx="5664" cy="5632"/>
          </a:xfrm>
        </p:grpSpPr>
        <p:sp>
          <p:nvSpPr>
            <p:cNvPr id="14" name="任意多边形: 形状 106"/>
            <p:cNvSpPr/>
            <p:nvPr/>
          </p:nvSpPr>
          <p:spPr>
            <a:xfrm rot="19566226">
              <a:off x="6700" y="3324"/>
              <a:ext cx="3328" cy="1608"/>
            </a:xfrm>
            <a:custGeom>
              <a:avLst/>
              <a:gdLst>
                <a:gd name="connsiteX0" fmla="*/ 1241011 w 2113030"/>
                <a:gd name="connsiteY0" fmla="*/ 766 h 1020885"/>
                <a:gd name="connsiteX1" fmla="*/ 1931044 w 2113030"/>
                <a:gd name="connsiteY1" fmla="*/ 188998 h 1020885"/>
                <a:gd name="connsiteX2" fmla="*/ 2038420 w 2113030"/>
                <a:gd name="connsiteY2" fmla="*/ 254872 h 1020885"/>
                <a:gd name="connsiteX3" fmla="*/ 2095836 w 2113030"/>
                <a:gd name="connsiteY3" fmla="*/ 171791 h 1020885"/>
                <a:gd name="connsiteX4" fmla="*/ 2113030 w 2113030"/>
                <a:gd name="connsiteY4" fmla="*/ 818914 h 1020885"/>
                <a:gd name="connsiteX5" fmla="*/ 1588900 w 2113030"/>
                <a:gd name="connsiteY5" fmla="*/ 905327 h 1020885"/>
                <a:gd name="connsiteX6" fmla="*/ 1653684 w 2113030"/>
                <a:gd name="connsiteY6" fmla="*/ 811584 h 1020885"/>
                <a:gd name="connsiteX7" fmla="*/ 1590351 w 2113030"/>
                <a:gd name="connsiteY7" fmla="*/ 773755 h 1020885"/>
                <a:gd name="connsiteX8" fmla="*/ 543487 w 2113030"/>
                <a:gd name="connsiteY8" fmla="*/ 1020885 h 1020885"/>
                <a:gd name="connsiteX9" fmla="*/ 464950 w 2113030"/>
                <a:gd name="connsiteY9" fmla="*/ 594175 h 1020885"/>
                <a:gd name="connsiteX10" fmla="*/ 0 w 2113030"/>
                <a:gd name="connsiteY10" fmla="*/ 605678 h 1020885"/>
                <a:gd name="connsiteX11" fmla="*/ 1241011 w 2113030"/>
                <a:gd name="connsiteY11" fmla="*/ 766 h 10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3030" h="1020885">
                  <a:moveTo>
                    <a:pt x="1241011" y="766"/>
                  </a:moveTo>
                  <a:cubicBezTo>
                    <a:pt x="1477911" y="8253"/>
                    <a:pt x="1715229" y="70628"/>
                    <a:pt x="1931044" y="188998"/>
                  </a:cubicBezTo>
                  <a:lnTo>
                    <a:pt x="2038420" y="254872"/>
                  </a:lnTo>
                  <a:lnTo>
                    <a:pt x="2095836" y="171791"/>
                  </a:lnTo>
                  <a:lnTo>
                    <a:pt x="2113030" y="818914"/>
                  </a:lnTo>
                  <a:lnTo>
                    <a:pt x="1588900" y="905327"/>
                  </a:lnTo>
                  <a:lnTo>
                    <a:pt x="1653684" y="811584"/>
                  </a:lnTo>
                  <a:lnTo>
                    <a:pt x="1590351" y="773755"/>
                  </a:lnTo>
                  <a:cubicBezTo>
                    <a:pt x="1236350" y="589629"/>
                    <a:pt x="706551" y="701189"/>
                    <a:pt x="543487" y="1020885"/>
                  </a:cubicBezTo>
                  <a:lnTo>
                    <a:pt x="464950" y="594175"/>
                  </a:lnTo>
                  <a:lnTo>
                    <a:pt x="0" y="605678"/>
                  </a:lnTo>
                  <a:cubicBezTo>
                    <a:pt x="295084" y="190377"/>
                    <a:pt x="767211" y="-14207"/>
                    <a:pt x="1241011" y="766"/>
                  </a:cubicBezTo>
                  <a:close/>
                </a:path>
              </a:pathLst>
            </a:custGeom>
            <a:gradFill flip="none" rotWithShape="1">
              <a:gsLst>
                <a:gs pos="23000">
                  <a:srgbClr val="0042FF"/>
                </a:gs>
                <a:gs pos="100000">
                  <a:srgbClr val="3368FF"/>
                </a:gs>
              </a:gsLst>
              <a:lin ang="10800000" scaled="1"/>
              <a:tileRect/>
            </a:gradFill>
            <a:ln w="9525">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8" name="Freeform 39++"/>
            <p:cNvSpPr/>
            <p:nvPr/>
          </p:nvSpPr>
          <p:spPr>
            <a:xfrm rot="14166226">
              <a:off x="6549" y="5779"/>
              <a:ext cx="3328" cy="1608"/>
            </a:xfrm>
            <a:custGeom>
              <a:avLst/>
              <a:gdLst>
                <a:gd name="connsiteX0" fmla="*/ 1241011 w 2113030"/>
                <a:gd name="connsiteY0" fmla="*/ 766 h 1020885"/>
                <a:gd name="connsiteX1" fmla="*/ 1931044 w 2113030"/>
                <a:gd name="connsiteY1" fmla="*/ 188998 h 1020885"/>
                <a:gd name="connsiteX2" fmla="*/ 2038420 w 2113030"/>
                <a:gd name="connsiteY2" fmla="*/ 254872 h 1020885"/>
                <a:gd name="connsiteX3" fmla="*/ 2095836 w 2113030"/>
                <a:gd name="connsiteY3" fmla="*/ 171791 h 1020885"/>
                <a:gd name="connsiteX4" fmla="*/ 2113030 w 2113030"/>
                <a:gd name="connsiteY4" fmla="*/ 818914 h 1020885"/>
                <a:gd name="connsiteX5" fmla="*/ 1588900 w 2113030"/>
                <a:gd name="connsiteY5" fmla="*/ 905327 h 1020885"/>
                <a:gd name="connsiteX6" fmla="*/ 1653684 w 2113030"/>
                <a:gd name="connsiteY6" fmla="*/ 811584 h 1020885"/>
                <a:gd name="connsiteX7" fmla="*/ 1590351 w 2113030"/>
                <a:gd name="connsiteY7" fmla="*/ 773755 h 1020885"/>
                <a:gd name="connsiteX8" fmla="*/ 543487 w 2113030"/>
                <a:gd name="connsiteY8" fmla="*/ 1020885 h 1020885"/>
                <a:gd name="connsiteX9" fmla="*/ 464950 w 2113030"/>
                <a:gd name="connsiteY9" fmla="*/ 594175 h 1020885"/>
                <a:gd name="connsiteX10" fmla="*/ 0 w 2113030"/>
                <a:gd name="connsiteY10" fmla="*/ 605678 h 1020885"/>
                <a:gd name="connsiteX11" fmla="*/ 1241011 w 2113030"/>
                <a:gd name="connsiteY11" fmla="*/ 766 h 10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3030" h="1020885">
                  <a:moveTo>
                    <a:pt x="1241011" y="766"/>
                  </a:moveTo>
                  <a:cubicBezTo>
                    <a:pt x="1477911" y="8253"/>
                    <a:pt x="1715229" y="70628"/>
                    <a:pt x="1931044" y="188998"/>
                  </a:cubicBezTo>
                  <a:lnTo>
                    <a:pt x="2038420" y="254872"/>
                  </a:lnTo>
                  <a:lnTo>
                    <a:pt x="2095836" y="171791"/>
                  </a:lnTo>
                  <a:lnTo>
                    <a:pt x="2113030" y="818914"/>
                  </a:lnTo>
                  <a:lnTo>
                    <a:pt x="1588900" y="905327"/>
                  </a:lnTo>
                  <a:lnTo>
                    <a:pt x="1653684" y="811584"/>
                  </a:lnTo>
                  <a:lnTo>
                    <a:pt x="1590351" y="773755"/>
                  </a:lnTo>
                  <a:cubicBezTo>
                    <a:pt x="1236350" y="589629"/>
                    <a:pt x="706551" y="701189"/>
                    <a:pt x="543487" y="1020885"/>
                  </a:cubicBezTo>
                  <a:lnTo>
                    <a:pt x="464950" y="594175"/>
                  </a:lnTo>
                  <a:lnTo>
                    <a:pt x="0" y="605678"/>
                  </a:lnTo>
                  <a:cubicBezTo>
                    <a:pt x="295084" y="190377"/>
                    <a:pt x="767211" y="-14207"/>
                    <a:pt x="1241011" y="766"/>
                  </a:cubicBezTo>
                  <a:close/>
                </a:path>
              </a:pathLst>
            </a:custGeom>
            <a:gradFill flip="none" rotWithShape="1">
              <a:gsLst>
                <a:gs pos="100000">
                  <a:srgbClr val="B3D4FE"/>
                </a:gs>
                <a:gs pos="0">
                  <a:srgbClr val="B3D4FE"/>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algn="ctr">
                <a:defRPr>
                  <a:latin typeface="微软雅黑"/>
                  <a:ea typeface="微软雅黑"/>
                  <a:cs typeface="微软雅黑"/>
                </a:defRPr>
              </a:pPr>
              <a:endParaRPr lang="zh-CN" altLang="en-US">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9" name="Freeform 39+++"/>
            <p:cNvSpPr/>
            <p:nvPr/>
          </p:nvSpPr>
          <p:spPr>
            <a:xfrm rot="8766226">
              <a:off x="9036" y="5962"/>
              <a:ext cx="3328" cy="1608"/>
            </a:xfrm>
            <a:custGeom>
              <a:avLst/>
              <a:gdLst>
                <a:gd name="connsiteX0" fmla="*/ 1241011 w 2113030"/>
                <a:gd name="connsiteY0" fmla="*/ 766 h 1020885"/>
                <a:gd name="connsiteX1" fmla="*/ 1931044 w 2113030"/>
                <a:gd name="connsiteY1" fmla="*/ 188998 h 1020885"/>
                <a:gd name="connsiteX2" fmla="*/ 2038420 w 2113030"/>
                <a:gd name="connsiteY2" fmla="*/ 254872 h 1020885"/>
                <a:gd name="connsiteX3" fmla="*/ 2095836 w 2113030"/>
                <a:gd name="connsiteY3" fmla="*/ 171791 h 1020885"/>
                <a:gd name="connsiteX4" fmla="*/ 2113030 w 2113030"/>
                <a:gd name="connsiteY4" fmla="*/ 818914 h 1020885"/>
                <a:gd name="connsiteX5" fmla="*/ 1588900 w 2113030"/>
                <a:gd name="connsiteY5" fmla="*/ 905327 h 1020885"/>
                <a:gd name="connsiteX6" fmla="*/ 1653684 w 2113030"/>
                <a:gd name="connsiteY6" fmla="*/ 811584 h 1020885"/>
                <a:gd name="connsiteX7" fmla="*/ 1590351 w 2113030"/>
                <a:gd name="connsiteY7" fmla="*/ 773755 h 1020885"/>
                <a:gd name="connsiteX8" fmla="*/ 543487 w 2113030"/>
                <a:gd name="connsiteY8" fmla="*/ 1020885 h 1020885"/>
                <a:gd name="connsiteX9" fmla="*/ 464950 w 2113030"/>
                <a:gd name="connsiteY9" fmla="*/ 594175 h 1020885"/>
                <a:gd name="connsiteX10" fmla="*/ 0 w 2113030"/>
                <a:gd name="connsiteY10" fmla="*/ 605678 h 1020885"/>
                <a:gd name="connsiteX11" fmla="*/ 1241011 w 2113030"/>
                <a:gd name="connsiteY11" fmla="*/ 766 h 10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3030" h="1020885">
                  <a:moveTo>
                    <a:pt x="1241011" y="766"/>
                  </a:moveTo>
                  <a:cubicBezTo>
                    <a:pt x="1477911" y="8253"/>
                    <a:pt x="1715229" y="70628"/>
                    <a:pt x="1931044" y="188998"/>
                  </a:cubicBezTo>
                  <a:lnTo>
                    <a:pt x="2038420" y="254872"/>
                  </a:lnTo>
                  <a:lnTo>
                    <a:pt x="2095836" y="171791"/>
                  </a:lnTo>
                  <a:lnTo>
                    <a:pt x="2113030" y="818914"/>
                  </a:lnTo>
                  <a:lnTo>
                    <a:pt x="1588900" y="905327"/>
                  </a:lnTo>
                  <a:lnTo>
                    <a:pt x="1653684" y="811584"/>
                  </a:lnTo>
                  <a:lnTo>
                    <a:pt x="1590351" y="773755"/>
                  </a:lnTo>
                  <a:cubicBezTo>
                    <a:pt x="1236350" y="589629"/>
                    <a:pt x="706551" y="701189"/>
                    <a:pt x="543487" y="1020885"/>
                  </a:cubicBezTo>
                  <a:lnTo>
                    <a:pt x="464950" y="594175"/>
                  </a:lnTo>
                  <a:lnTo>
                    <a:pt x="0" y="605678"/>
                  </a:lnTo>
                  <a:cubicBezTo>
                    <a:pt x="295084" y="190377"/>
                    <a:pt x="767211" y="-14207"/>
                    <a:pt x="1241011" y="766"/>
                  </a:cubicBezTo>
                  <a:close/>
                </a:path>
              </a:pathLst>
            </a:custGeom>
            <a:gradFill flip="none" rotWithShape="1">
              <a:gsLst>
                <a:gs pos="23000">
                  <a:srgbClr val="3368FF"/>
                </a:gs>
                <a:gs pos="100000">
                  <a:srgbClr val="B3D4FE"/>
                </a:gs>
              </a:gsLst>
              <a:lin ang="10800000" scaled="1"/>
              <a:tileRect/>
            </a:gradFill>
            <a:ln w="9525">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10" name="Freeform 39++++"/>
            <p:cNvSpPr/>
            <p:nvPr/>
          </p:nvSpPr>
          <p:spPr>
            <a:xfrm rot="3366226">
              <a:off x="9175" y="3475"/>
              <a:ext cx="3328" cy="1608"/>
            </a:xfrm>
            <a:custGeom>
              <a:avLst/>
              <a:gdLst>
                <a:gd name="connsiteX0" fmla="*/ 1241011 w 2113030"/>
                <a:gd name="connsiteY0" fmla="*/ 766 h 1020885"/>
                <a:gd name="connsiteX1" fmla="*/ 1931044 w 2113030"/>
                <a:gd name="connsiteY1" fmla="*/ 188998 h 1020885"/>
                <a:gd name="connsiteX2" fmla="*/ 2038420 w 2113030"/>
                <a:gd name="connsiteY2" fmla="*/ 254872 h 1020885"/>
                <a:gd name="connsiteX3" fmla="*/ 2095836 w 2113030"/>
                <a:gd name="connsiteY3" fmla="*/ 171791 h 1020885"/>
                <a:gd name="connsiteX4" fmla="*/ 2113030 w 2113030"/>
                <a:gd name="connsiteY4" fmla="*/ 818914 h 1020885"/>
                <a:gd name="connsiteX5" fmla="*/ 1588900 w 2113030"/>
                <a:gd name="connsiteY5" fmla="*/ 905327 h 1020885"/>
                <a:gd name="connsiteX6" fmla="*/ 1653684 w 2113030"/>
                <a:gd name="connsiteY6" fmla="*/ 811584 h 1020885"/>
                <a:gd name="connsiteX7" fmla="*/ 1590351 w 2113030"/>
                <a:gd name="connsiteY7" fmla="*/ 773755 h 1020885"/>
                <a:gd name="connsiteX8" fmla="*/ 543487 w 2113030"/>
                <a:gd name="connsiteY8" fmla="*/ 1020885 h 1020885"/>
                <a:gd name="connsiteX9" fmla="*/ 464950 w 2113030"/>
                <a:gd name="connsiteY9" fmla="*/ 594175 h 1020885"/>
                <a:gd name="connsiteX10" fmla="*/ 0 w 2113030"/>
                <a:gd name="connsiteY10" fmla="*/ 605678 h 1020885"/>
                <a:gd name="connsiteX11" fmla="*/ 1241011 w 2113030"/>
                <a:gd name="connsiteY11" fmla="*/ 766 h 10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3030" h="1020885">
                  <a:moveTo>
                    <a:pt x="1241011" y="766"/>
                  </a:moveTo>
                  <a:cubicBezTo>
                    <a:pt x="1477911" y="8253"/>
                    <a:pt x="1715229" y="70628"/>
                    <a:pt x="1931044" y="188998"/>
                  </a:cubicBezTo>
                  <a:lnTo>
                    <a:pt x="2038420" y="254872"/>
                  </a:lnTo>
                  <a:lnTo>
                    <a:pt x="2095836" y="171791"/>
                  </a:lnTo>
                  <a:lnTo>
                    <a:pt x="2113030" y="818914"/>
                  </a:lnTo>
                  <a:lnTo>
                    <a:pt x="1588900" y="905327"/>
                  </a:lnTo>
                  <a:lnTo>
                    <a:pt x="1653684" y="811584"/>
                  </a:lnTo>
                  <a:lnTo>
                    <a:pt x="1590351" y="773755"/>
                  </a:lnTo>
                  <a:cubicBezTo>
                    <a:pt x="1236350" y="589629"/>
                    <a:pt x="706551" y="701189"/>
                    <a:pt x="543487" y="1020885"/>
                  </a:cubicBezTo>
                  <a:lnTo>
                    <a:pt x="464950" y="594175"/>
                  </a:lnTo>
                  <a:lnTo>
                    <a:pt x="0" y="605678"/>
                  </a:lnTo>
                  <a:cubicBezTo>
                    <a:pt x="295084" y="190377"/>
                    <a:pt x="767211" y="-14207"/>
                    <a:pt x="1241011" y="766"/>
                  </a:cubicBezTo>
                  <a:close/>
                </a:path>
              </a:pathLst>
            </a:custGeom>
            <a:gradFill flip="none" rotWithShape="1">
              <a:gsLst>
                <a:gs pos="100000">
                  <a:srgbClr val="3368FF"/>
                </a:gs>
                <a:gs pos="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3" name="文本框 122"/>
            <p:cNvSpPr txBox="1"/>
            <p:nvPr/>
          </p:nvSpPr>
          <p:spPr>
            <a:xfrm rot="19075733">
              <a:off x="7473" y="3841"/>
              <a:ext cx="2689" cy="1127"/>
            </a:xfrm>
            <a:prstGeom prst="rect">
              <a:avLst/>
            </a:prstGeom>
            <a:noFill/>
          </p:spPr>
          <p:txBody>
            <a:bodyPr wrap="square" rtlCol="0" lIns="0" rIns="0" tIns="0" bIns="0">
              <a:prstTxWarp prst="textArchUp">
                <a:avLst/>
              </a:prstTxWarp>
              <a:spAutoFit/>
            </a:bodyPr>
            <a:lstStyle/>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1" lang="en-US" altLang="zh-CN" sz="2000" b="1" noProof="0" dirty="0">
                  <a:ln>
                    <a:noFill/>
                  </a:ln>
                  <a:solidFill>
                    <a:srgbClr val="FFFFFF"/>
                  </a:solidFill>
                  <a:effectLst/>
                  <a:uLnTx/>
                  <a:uFillTx/>
                  <a:latin typeface="微软雅黑"/>
                  <a:ea typeface="微软雅黑"/>
                  <a:cs typeface="微软雅黑"/>
                  <a:sym typeface="微软雅黑"/>
                </a:rPr>
                <a:t>S</a:t>
              </a:r>
              <a:r>
                <a:rPr kumimoji="1" lang="en-US" altLang="zh-CN" sz="1600" b="1" noProof="0" dirty="0">
                  <a:ln>
                    <a:noFill/>
                  </a:ln>
                  <a:solidFill>
                    <a:srgbClr val="FFFFFF"/>
                  </a:solidFill>
                  <a:effectLst/>
                  <a:uLnTx/>
                  <a:uFillTx/>
                  <a:latin typeface="微软雅黑"/>
                  <a:ea typeface="微软雅黑"/>
                  <a:cs typeface="微软雅黑"/>
                  <a:sym typeface="微软雅黑"/>
                </a:rPr>
                <a:t>trengths</a:t>
              </a:r>
              <a:endParaRPr kumimoji="1" lang="en-US" altLang="zh-CN" sz="1600" b="1" noProof="0" dirty="0">
                <a:ln>
                  <a:noFill/>
                </a:ln>
                <a:solidFill>
                  <a:srgbClr val="FFFFFF"/>
                </a:solidFill>
                <a:effectLst/>
                <a:uLnTx/>
                <a:uFillTx/>
                <a:latin typeface="微软雅黑"/>
                <a:ea typeface="微软雅黑"/>
                <a:cs typeface="微软雅黑"/>
                <a:sym typeface="微软雅黑"/>
              </a:endParaRPr>
            </a:p>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1" lang="zh-CN" altLang="en-US" sz="2000" b="1" noProof="0" dirty="0">
                  <a:ln>
                    <a:noFill/>
                  </a:ln>
                  <a:solidFill>
                    <a:srgbClr val="FFFFFF"/>
                  </a:solidFill>
                  <a:effectLst/>
                  <a:uLnTx/>
                  <a:uFillTx/>
                  <a:latin typeface="微软雅黑"/>
                  <a:ea typeface="微软雅黑"/>
                  <a:cs typeface="微软雅黑"/>
                  <a:sym typeface="微软雅黑"/>
                </a:rPr>
                <a:t>优势</a:t>
              </a:r>
              <a:endParaRPr lang="zh-CN" altLang="en-US" sz="2000" b="1" dirty="0">
                <a:solidFill>
                  <a:srgbClr val="FFFFFF">
                    <a:alpha val="90000"/>
                  </a:srgbClr>
                </a:solidFill>
                <a:latin typeface="微软雅黑"/>
                <a:ea typeface="微软雅黑"/>
                <a:cs typeface="微软雅黑"/>
                <a:sym typeface="微软雅黑"/>
              </a:endParaRPr>
            </a:p>
          </p:txBody>
        </p:sp>
      </p:gr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en-US" altLang="zh-CN" sz="2500" dirty="0">
                <a:solidFill>
                  <a:srgbClr val="383838"/>
                </a:solidFill>
                <a:effectLst/>
                <a:latin typeface="微软雅黑"/>
                <a:ea typeface="微软雅黑"/>
                <a:cs typeface="微软雅黑"/>
              </a:rPr>
              <a:t>SWOT</a:t>
            </a:r>
            <a:r>
              <a:rPr sz="2500" dirty="0">
                <a:solidFill>
                  <a:srgbClr val="383838"/>
                </a:solidFill>
                <a:effectLst/>
                <a:latin typeface="微软雅黑"/>
                <a:ea typeface="微软雅黑"/>
                <a:cs typeface="微软雅黑"/>
              </a:rPr>
              <a:t>分析法模型</a:t>
            </a:r>
            <a:endParaRPr sz="2500" dirty="0">
              <a:solidFill>
                <a:srgbClr val="383838"/>
              </a:solidFill>
              <a:effectLst/>
              <a:latin typeface="微软雅黑"/>
              <a:ea typeface="微软雅黑"/>
              <a:cs typeface="微软雅黑"/>
            </a:endParaRPr>
          </a:p>
        </p:txBody>
      </p:sp>
      <p:sp>
        <p:nvSpPr>
          <p:cNvPr id="2" name="熊大的PPT宝库3"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p:nvPr/>
        </p:nvSpPr>
        <p:spPr>
          <a:xfrm>
            <a:off x="3576000" y="1252700"/>
            <a:ext cx="5040000" cy="5040000"/>
          </a:xfrm>
          <a:prstGeom prst="ellipse">
            <a:avLst/>
          </a:prstGeom>
          <a:noFill/>
          <a:ln>
            <a:gradFill flip="none" rotWithShape="1">
              <a:gsLst>
                <a:gs pos="0">
                  <a:srgbClr val="3368FF"/>
                </a:gs>
                <a:gs pos="50000">
                  <a:srgbClr val="3368FF">
                    <a:alpha val="0"/>
                  </a:srgbClr>
                </a:gs>
                <a:gs pos="100000">
                  <a:srgbClr val="3368FF"/>
                </a:gs>
              </a:gsLst>
              <a:lin ang="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20" name="熊大的PPT宝库14"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p:nvPr/>
        </p:nvSpPr>
        <p:spPr>
          <a:xfrm>
            <a:off x="434974" y="1390237"/>
            <a:ext cx="3859375" cy="1994515"/>
          </a:xfrm>
          <a:custGeom>
            <a:avLst/>
            <a:gdLst>
              <a:gd name="connsiteX0" fmla="*/ 0 w 3859375"/>
              <a:gd name="connsiteY0" fmla="*/ 0 h 1994515"/>
              <a:gd name="connsiteX1" fmla="*/ 3859375 w 3859375"/>
              <a:gd name="connsiteY1" fmla="*/ 0 h 1994515"/>
              <a:gd name="connsiteX2" fmla="*/ 3758978 w 3859375"/>
              <a:gd name="connsiteY2" fmla="*/ 75075 h 1994515"/>
              <a:gd name="connsiteX3" fmla="*/ 2731571 w 3859375"/>
              <a:gd name="connsiteY3" fmla="*/ 1779832 h 1994515"/>
              <a:gd name="connsiteX4" fmla="*/ 2698807 w 3859375"/>
              <a:gd name="connsiteY4" fmla="*/ 1994515 h 1994515"/>
              <a:gd name="connsiteX5" fmla="*/ 0 w 3859375"/>
              <a:gd name="connsiteY5" fmla="*/ 1994515 h 1994515"/>
              <a:gd name="connsiteX6" fmla="*/ 0 w 3859375"/>
              <a:gd name="connsiteY6" fmla="*/ 0 h 1994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59375" h="1994515">
                <a:moveTo>
                  <a:pt x="0" y="0"/>
                </a:moveTo>
                <a:lnTo>
                  <a:pt x="3859375" y="0"/>
                </a:lnTo>
                <a:lnTo>
                  <a:pt x="3758978" y="75075"/>
                </a:lnTo>
                <a:cubicBezTo>
                  <a:pt x="3242094" y="501646"/>
                  <a:pt x="2870984" y="1098539"/>
                  <a:pt x="2731571" y="1779832"/>
                </a:cubicBezTo>
                <a:lnTo>
                  <a:pt x="2698807" y="1994515"/>
                </a:lnTo>
                <a:lnTo>
                  <a:pt x="0" y="1994515"/>
                </a:lnTo>
                <a:lnTo>
                  <a:pt x="0" y="0"/>
                </a:lnTo>
                <a:close/>
              </a:path>
            </a:pathLst>
          </a:custGeom>
          <a:solidFill>
            <a:srgbClr val="E6E6E6">
              <a:alpha val="40000"/>
            </a:srgbClr>
          </a:solidFill>
          <a:ln w="12700">
            <a:solidFill>
              <a:srgbClr val="668EFF"/>
            </a:solid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lang="zh-CN" altLang="en-US">
              <a:latin typeface="微软雅黑"/>
              <a:ea typeface="微软雅黑"/>
              <a:cs typeface="微软雅黑"/>
            </a:endParaRPr>
          </a:p>
        </p:txBody>
      </p:sp>
      <p:sp>
        <p:nvSpPr>
          <p:cNvPr id="21" name="熊大的PPT宝库15"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p:nvPr/>
        </p:nvSpPr>
        <p:spPr>
          <a:xfrm>
            <a:off x="7897652" y="1390237"/>
            <a:ext cx="3813514" cy="1994515"/>
          </a:xfrm>
          <a:custGeom>
            <a:avLst/>
            <a:gdLst>
              <a:gd name="connsiteX0" fmla="*/ 0 w 3813514"/>
              <a:gd name="connsiteY0" fmla="*/ 0 h 1994515"/>
              <a:gd name="connsiteX1" fmla="*/ 3813514 w 3813514"/>
              <a:gd name="connsiteY1" fmla="*/ 0 h 1994515"/>
              <a:gd name="connsiteX2" fmla="*/ 3813514 w 3813514"/>
              <a:gd name="connsiteY2" fmla="*/ 1994515 h 1994515"/>
              <a:gd name="connsiteX3" fmla="*/ 1160567 w 3813514"/>
              <a:gd name="connsiteY3" fmla="*/ 1994515 h 1994515"/>
              <a:gd name="connsiteX4" fmla="*/ 1127803 w 3813514"/>
              <a:gd name="connsiteY4" fmla="*/ 1779832 h 1994515"/>
              <a:gd name="connsiteX5" fmla="*/ 100396 w 3813514"/>
              <a:gd name="connsiteY5" fmla="*/ 75075 h 1994515"/>
              <a:gd name="connsiteX6" fmla="*/ 0 w 3813514"/>
              <a:gd name="connsiteY6" fmla="*/ 0 h 1994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3514" h="1994515">
                <a:moveTo>
                  <a:pt x="0" y="0"/>
                </a:moveTo>
                <a:lnTo>
                  <a:pt x="3813514" y="0"/>
                </a:lnTo>
                <a:lnTo>
                  <a:pt x="3813514" y="1994515"/>
                </a:lnTo>
                <a:lnTo>
                  <a:pt x="1160567" y="1994515"/>
                </a:lnTo>
                <a:lnTo>
                  <a:pt x="1127803" y="1779832"/>
                </a:lnTo>
                <a:cubicBezTo>
                  <a:pt x="988390" y="1098539"/>
                  <a:pt x="617280" y="501646"/>
                  <a:pt x="100396" y="75075"/>
                </a:cubicBezTo>
                <a:lnTo>
                  <a:pt x="0" y="0"/>
                </a:lnTo>
                <a:close/>
              </a:path>
            </a:pathLst>
          </a:custGeom>
          <a:solidFill>
            <a:srgbClr val="E6E6E6">
              <a:alpha val="40000"/>
            </a:srgbClr>
          </a:solidFill>
          <a:ln w="12700">
            <a:solidFill>
              <a:srgbClr val="668EFF"/>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2" name="熊大的PPT宝库16"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p:nvPr/>
        </p:nvSpPr>
        <p:spPr>
          <a:xfrm>
            <a:off x="434974" y="4192259"/>
            <a:ext cx="3901648" cy="1994515"/>
          </a:xfrm>
          <a:custGeom>
            <a:avLst/>
            <a:gdLst>
              <a:gd name="connsiteX0" fmla="*/ 0 w 3901648"/>
              <a:gd name="connsiteY0" fmla="*/ 0 h 1994515"/>
              <a:gd name="connsiteX1" fmla="*/ 2703631 w 3901648"/>
              <a:gd name="connsiteY1" fmla="*/ 0 h 1994515"/>
              <a:gd name="connsiteX2" fmla="*/ 2731571 w 3901648"/>
              <a:gd name="connsiteY2" fmla="*/ 183072 h 1994515"/>
              <a:gd name="connsiteX3" fmla="*/ 3758978 w 3901648"/>
              <a:gd name="connsiteY3" fmla="*/ 1887829 h 1994515"/>
              <a:gd name="connsiteX4" fmla="*/ 3901648 w 3901648"/>
              <a:gd name="connsiteY4" fmla="*/ 1994515 h 1994515"/>
              <a:gd name="connsiteX5" fmla="*/ 0 w 3901648"/>
              <a:gd name="connsiteY5" fmla="*/ 1994515 h 1994515"/>
              <a:gd name="connsiteX6" fmla="*/ 0 w 3901648"/>
              <a:gd name="connsiteY6" fmla="*/ 0 h 1994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1648" h="1994515">
                <a:moveTo>
                  <a:pt x="0" y="0"/>
                </a:moveTo>
                <a:lnTo>
                  <a:pt x="2703631" y="0"/>
                </a:lnTo>
                <a:lnTo>
                  <a:pt x="2731571" y="183072"/>
                </a:lnTo>
                <a:cubicBezTo>
                  <a:pt x="2870984" y="864365"/>
                  <a:pt x="3242094" y="1461259"/>
                  <a:pt x="3758978" y="1887829"/>
                </a:cubicBezTo>
                <a:lnTo>
                  <a:pt x="3901648" y="1994515"/>
                </a:lnTo>
                <a:lnTo>
                  <a:pt x="0" y="1994515"/>
                </a:lnTo>
                <a:lnTo>
                  <a:pt x="0" y="0"/>
                </a:lnTo>
                <a:close/>
              </a:path>
            </a:pathLst>
          </a:custGeom>
          <a:solidFill>
            <a:srgbClr val="FFFFFF">
              <a:alpha val="40000"/>
            </a:srgbClr>
          </a:solidFill>
          <a:ln w="1270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3" name="熊大的PPT宝库17"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p:nvPr/>
        </p:nvSpPr>
        <p:spPr>
          <a:xfrm>
            <a:off x="7855379" y="4192259"/>
            <a:ext cx="3855787" cy="1994515"/>
          </a:xfrm>
          <a:custGeom>
            <a:avLst/>
            <a:gdLst>
              <a:gd name="connsiteX0" fmla="*/ 1198016 w 3855787"/>
              <a:gd name="connsiteY0" fmla="*/ 0 h 1994515"/>
              <a:gd name="connsiteX1" fmla="*/ 3855787 w 3855787"/>
              <a:gd name="connsiteY1" fmla="*/ 0 h 1994515"/>
              <a:gd name="connsiteX2" fmla="*/ 3855787 w 3855787"/>
              <a:gd name="connsiteY2" fmla="*/ 1994515 h 1994515"/>
              <a:gd name="connsiteX3" fmla="*/ 0 w 3855787"/>
              <a:gd name="connsiteY3" fmla="*/ 1994515 h 1994515"/>
              <a:gd name="connsiteX4" fmla="*/ 142669 w 3855787"/>
              <a:gd name="connsiteY4" fmla="*/ 1887829 h 1994515"/>
              <a:gd name="connsiteX5" fmla="*/ 1170076 w 3855787"/>
              <a:gd name="connsiteY5" fmla="*/ 183072 h 1994515"/>
              <a:gd name="connsiteX6" fmla="*/ 1198016 w 3855787"/>
              <a:gd name="connsiteY6" fmla="*/ 0 h 1994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55787" h="1994515">
                <a:moveTo>
                  <a:pt x="1198016" y="0"/>
                </a:moveTo>
                <a:lnTo>
                  <a:pt x="3855787" y="0"/>
                </a:lnTo>
                <a:lnTo>
                  <a:pt x="3855787" y="1994515"/>
                </a:lnTo>
                <a:lnTo>
                  <a:pt x="0" y="1994515"/>
                </a:lnTo>
                <a:lnTo>
                  <a:pt x="142669" y="1887829"/>
                </a:lnTo>
                <a:cubicBezTo>
                  <a:pt x="659553" y="1461259"/>
                  <a:pt x="1030663" y="864365"/>
                  <a:pt x="1170076" y="183072"/>
                </a:cubicBezTo>
                <a:lnTo>
                  <a:pt x="1198016" y="0"/>
                </a:lnTo>
                <a:close/>
              </a:path>
            </a:pathLst>
          </a:custGeom>
          <a:solidFill>
            <a:srgbClr val="FFFFFF">
              <a:alpha val="40000"/>
            </a:srgbClr>
          </a:solidFill>
          <a:ln w="1270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6" name="熊大的PPT宝库18"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txBox="1"/>
          <p:nvPr/>
        </p:nvSpPr>
        <p:spPr>
          <a:xfrm>
            <a:off x="858444" y="1495732"/>
            <a:ext cx="2206625" cy="368300"/>
          </a:xfrm>
          <a:prstGeom prst="rect">
            <a:avLst/>
          </a:prstGeom>
          <a:noFill/>
        </p:spPr>
        <p:txBody>
          <a:bodyPr wrap="none" rtlCol="0" lIns="0" rIns="0" tIns="0" bIns="0">
            <a:spAutoFit/>
          </a:bodyPr>
          <a:lstStyle/>
          <a:p>
            <a:pPr algn="l" defTabSz="457200">
              <a:defRPr>
                <a:latin typeface="微软雅黑"/>
                <a:ea typeface="微软雅黑"/>
                <a:cs typeface="微软雅黑"/>
              </a:defRPr>
            </a:pPr>
            <a:r>
              <a:rPr lang="zh-CN" altLang="en-US" b="1" dirty="0">
                <a:solidFill>
                  <a:srgbClr val="0042FF"/>
                </a:solidFill>
                <a:latin typeface="微软雅黑"/>
                <a:ea typeface="微软雅黑"/>
                <a:cs typeface="微软雅黑"/>
              </a:rPr>
              <a:t>优势（</a:t>
            </a:r>
            <a:r>
              <a:rPr lang="en-US" altLang="zh-CN" b="1" dirty="0">
                <a:solidFill>
                  <a:srgbClr val="0042FF"/>
                </a:solidFill>
                <a:latin typeface="微软雅黑"/>
                <a:ea typeface="微软雅黑"/>
                <a:cs typeface="微软雅黑"/>
              </a:rPr>
              <a:t>Strengths</a:t>
            </a:r>
            <a:r>
              <a:rPr lang="zh-CN" altLang="en-US" b="1" dirty="0">
                <a:solidFill>
                  <a:srgbClr val="0042FF"/>
                </a:solidFill>
                <a:latin typeface="微软雅黑"/>
                <a:ea typeface="微软雅黑"/>
                <a:cs typeface="微软雅黑"/>
              </a:rPr>
              <a:t>）</a:t>
            </a:r>
            <a:endParaRPr lang="zh-CN" altLang="en-US" b="1" dirty="0">
              <a:solidFill>
                <a:srgbClr val="0042FF"/>
              </a:solidFill>
              <a:latin typeface="微软雅黑"/>
              <a:ea typeface="微软雅黑"/>
              <a:cs typeface="微软雅黑"/>
            </a:endParaRPr>
          </a:p>
        </p:txBody>
      </p:sp>
      <p:sp>
        <p:nvSpPr>
          <p:cNvPr id="33" name="熊大的PPT宝库21"/>
          <p:cNvSpPr/>
          <p:nvPr/>
        </p:nvSpPr>
        <p:spPr>
          <a:xfrm flipH="1">
            <a:off x="580642" y="2286896"/>
            <a:ext cx="2474049" cy="1021080"/>
          </a:xfrm>
          <a:prstGeom prst="rect">
            <a:avLst/>
          </a:prstGeom>
          <a:ln>
            <a:noFill/>
          </a:ln>
        </p:spPr>
        <p:txBody>
          <a:bodyPr wrap="square" lIns="0" tIns="0" rIns="0" bIns="0" anchor="t">
            <a:spAutoFit/>
          </a:bodyPr>
          <a:lstStyle/>
          <a:p>
            <a:pPr marL="0" marR="0" lvl="0" indent="0" algn="just"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rPr>
              <a:t>组织内部具备的积极因素，是提升竞争力的基石，有助于在市场中占据有利地位。识别优势能让企业聚焦核心能力，在战略制定中最大限度地利用现有资产，巩固市场地位。</a:t>
            </a:r>
            <a:endPar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 name="文本框 23"/>
          <p:cNvSpPr txBox="1"/>
          <p:nvPr/>
        </p:nvSpPr>
        <p:spPr>
          <a:xfrm rot="2695732">
            <a:off x="5881550" y="2716295"/>
            <a:ext cx="2194109" cy="919711"/>
          </a:xfrm>
          <a:prstGeom prst="rect">
            <a:avLst/>
          </a:prstGeom>
          <a:noFill/>
        </p:spPr>
        <p:txBody>
          <a:bodyPr wrap="square" rtlCol="0" lIns="0" rIns="0" tIns="0" bIns="0">
            <a:prstTxWarp prst="textArchUp">
              <a:avLst/>
            </a:prstTxWarp>
            <a:spAutoFit/>
          </a:bodyPr>
          <a:lstStyle/>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383838"/>
                </a:solidFill>
                <a:latin typeface="微软雅黑"/>
                <a:ea typeface="微软雅黑"/>
                <a:cs typeface="微软雅黑"/>
              </a:defRPr>
            </a:pPr>
            <a:r>
              <a:rPr kumimoji="1" lang="en-US" altLang="zh-CN" sz="2000" b="1" noProof="0" dirty="0">
                <a:ln>
                  <a:noFill/>
                </a:ln>
                <a:solidFill>
                  <a:srgbClr val="383838"/>
                </a:solidFill>
                <a:effectLst/>
                <a:uLnTx/>
                <a:uFillTx/>
                <a:latin typeface="微软雅黑"/>
                <a:ea typeface="微软雅黑"/>
                <a:cs typeface="微软雅黑"/>
                <a:sym typeface="微软雅黑"/>
              </a:rPr>
              <a:t>W</a:t>
            </a:r>
            <a:r>
              <a:rPr kumimoji="1" lang="en-US" altLang="zh-CN" sz="1600" b="1" noProof="0" dirty="0">
                <a:ln>
                  <a:noFill/>
                </a:ln>
                <a:solidFill>
                  <a:srgbClr val="383838"/>
                </a:solidFill>
                <a:effectLst/>
                <a:uLnTx/>
                <a:uFillTx/>
                <a:latin typeface="微软雅黑"/>
                <a:ea typeface="微软雅黑"/>
                <a:cs typeface="微软雅黑"/>
                <a:sym typeface="微软雅黑"/>
              </a:rPr>
              <a:t>eaknesses</a:t>
            </a:r>
            <a:endParaRPr kumimoji="1" lang="en-US" altLang="zh-CN" sz="1600" b="1" noProof="0" dirty="0">
              <a:ln>
                <a:noFill/>
              </a:ln>
              <a:solidFill>
                <a:srgbClr val="383838"/>
              </a:solidFill>
              <a:effectLst/>
              <a:uLnTx/>
              <a:uFillTx/>
              <a:latin typeface="微软雅黑"/>
              <a:ea typeface="微软雅黑"/>
              <a:cs typeface="微软雅黑"/>
              <a:sym typeface="微软雅黑"/>
            </a:endParaRPr>
          </a:p>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383838"/>
                </a:solidFill>
                <a:latin typeface="微软雅黑"/>
                <a:ea typeface="微软雅黑"/>
                <a:cs typeface="微软雅黑"/>
              </a:defRPr>
            </a:pPr>
            <a:r>
              <a:rPr kumimoji="1" lang="zh-CN" altLang="en-US" sz="2000" b="1" noProof="0" dirty="0">
                <a:ln>
                  <a:noFill/>
                </a:ln>
                <a:solidFill>
                  <a:srgbClr val="383838"/>
                </a:solidFill>
                <a:effectLst/>
                <a:uLnTx/>
                <a:uFillTx/>
                <a:latin typeface="微软雅黑"/>
                <a:ea typeface="微软雅黑"/>
                <a:cs typeface="微软雅黑"/>
                <a:sym typeface="微软雅黑"/>
              </a:rPr>
              <a:t>劣势</a:t>
            </a:r>
            <a:endParaRPr lang="zh-CN" altLang="en-US" sz="2000" b="1" dirty="0">
              <a:solidFill>
                <a:srgbClr val="383838"/>
              </a:solidFill>
              <a:latin typeface="微软雅黑"/>
              <a:ea typeface="微软雅黑"/>
              <a:cs typeface="微软雅黑"/>
              <a:sym typeface="微软雅黑"/>
            </a:endParaRPr>
          </a:p>
        </p:txBody>
      </p:sp>
      <p:sp>
        <p:nvSpPr>
          <p:cNvPr id="25" name="文本框 24"/>
          <p:cNvSpPr txBox="1"/>
          <p:nvPr/>
        </p:nvSpPr>
        <p:spPr>
          <a:xfrm rot="3295730">
            <a:off x="4164510" y="3697370"/>
            <a:ext cx="2194109" cy="919711"/>
          </a:xfrm>
          <a:prstGeom prst="rect">
            <a:avLst/>
          </a:prstGeom>
          <a:noFill/>
        </p:spPr>
        <p:txBody>
          <a:bodyPr wrap="square" rtlCol="0" lIns="0" rIns="0" tIns="0" bIns="0">
            <a:prstTxWarp prst="textArchDown">
              <a:avLst/>
            </a:prstTxWarp>
            <a:spAutoFit/>
          </a:bodyPr>
          <a:lstStyle/>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1" lang="en-US" altLang="zh-CN" sz="2000" b="1" noProof="0" dirty="0">
                <a:ln>
                  <a:noFill/>
                </a:ln>
                <a:solidFill>
                  <a:srgbClr val="FFFFFF"/>
                </a:solidFill>
                <a:effectLst/>
                <a:uLnTx/>
                <a:uFillTx/>
                <a:latin typeface="微软雅黑"/>
                <a:ea typeface="微软雅黑"/>
                <a:cs typeface="微软雅黑"/>
                <a:sym typeface="微软雅黑"/>
              </a:rPr>
              <a:t>T</a:t>
            </a:r>
            <a:r>
              <a:rPr kumimoji="1" lang="en-US" altLang="zh-CN" sz="1600" b="1" noProof="0" dirty="0">
                <a:ln>
                  <a:noFill/>
                </a:ln>
                <a:solidFill>
                  <a:srgbClr val="FFFFFF"/>
                </a:solidFill>
                <a:effectLst/>
                <a:uLnTx/>
                <a:uFillTx/>
                <a:latin typeface="微软雅黑"/>
                <a:ea typeface="微软雅黑"/>
                <a:cs typeface="微软雅黑"/>
                <a:sym typeface="微软雅黑"/>
              </a:rPr>
              <a:t>hreats</a:t>
            </a:r>
            <a:endParaRPr kumimoji="1" lang="en-US" altLang="zh-CN" sz="1600" b="1" noProof="0" dirty="0">
              <a:ln>
                <a:noFill/>
              </a:ln>
              <a:solidFill>
                <a:srgbClr val="FFFFFF"/>
              </a:solidFill>
              <a:effectLst/>
              <a:uLnTx/>
              <a:uFillTx/>
              <a:latin typeface="微软雅黑"/>
              <a:ea typeface="微软雅黑"/>
              <a:cs typeface="微软雅黑"/>
              <a:sym typeface="微软雅黑"/>
            </a:endParaRPr>
          </a:p>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FFFFFF"/>
                </a:solidFill>
                <a:latin typeface="微软雅黑"/>
                <a:ea typeface="微软雅黑"/>
                <a:cs typeface="微软雅黑"/>
              </a:defRPr>
            </a:pPr>
            <a:r>
              <a:rPr kumimoji="1" lang="zh-CN" altLang="en-US" sz="2000" b="1" noProof="0" dirty="0">
                <a:ln>
                  <a:noFill/>
                </a:ln>
                <a:solidFill>
                  <a:srgbClr val="FFFFFF"/>
                </a:solidFill>
                <a:effectLst/>
                <a:uLnTx/>
                <a:uFillTx/>
                <a:latin typeface="微软雅黑"/>
                <a:ea typeface="微软雅黑"/>
                <a:cs typeface="微软雅黑"/>
                <a:sym typeface="微软雅黑"/>
              </a:rPr>
              <a:t>威胁</a:t>
            </a:r>
            <a:endParaRPr kumimoji="1" lang="zh-CN" altLang="en-US" sz="2000" b="1" noProof="0" dirty="0">
              <a:ln>
                <a:noFill/>
              </a:ln>
              <a:solidFill>
                <a:srgbClr val="FFFFFF"/>
              </a:solidFill>
              <a:effectLst/>
              <a:uLnTx/>
              <a:uFillTx/>
              <a:latin typeface="微软雅黑"/>
              <a:ea typeface="微软雅黑"/>
              <a:cs typeface="微软雅黑"/>
              <a:sym typeface="微软雅黑"/>
            </a:endParaRPr>
          </a:p>
        </p:txBody>
      </p:sp>
      <p:grpSp>
        <p:nvGrpSpPr>
          <p:cNvPr id="30" name="组合 29"/>
          <p:cNvGrpSpPr/>
          <p:nvPr/>
        </p:nvGrpSpPr>
        <p:grpSpPr>
          <a:xfrm>
            <a:off x="5210810" y="2893060"/>
            <a:ext cx="1727835" cy="1727835"/>
            <a:chOff x="7898" y="4870"/>
            <a:chExt cx="2721" cy="2721"/>
          </a:xfrm>
        </p:grpSpPr>
        <p:sp>
          <p:nvSpPr>
            <p:cNvPr id="35" name="熊大的PPT宝库15-1"/>
            <p:cNvSpPr/>
            <p:nvPr/>
          </p:nvSpPr>
          <p:spPr>
            <a:xfrm>
              <a:off x="7898" y="4870"/>
              <a:ext cx="2721" cy="2721"/>
            </a:xfrm>
            <a:prstGeom prst="ellipse">
              <a:avLst/>
            </a:prstGeom>
            <a:gradFill>
              <a:gsLst>
                <a:gs pos="0">
                  <a:srgbClr val="3368FF"/>
                </a:gs>
                <a:gs pos="100000">
                  <a:srgbClr val="0042FF"/>
                </a:gs>
              </a:gsLst>
              <a:lin ang="18900000" scaled="0"/>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6" name="©天蝎PPT9-42"/>
            <p:cNvSpPr txBox="1"/>
            <p:nvPr/>
          </p:nvSpPr>
          <p:spPr>
            <a:xfrm>
              <a:off x="8347" y="5638"/>
              <a:ext cx="1827" cy="1186"/>
            </a:xfrm>
            <a:prstGeom prst="rect">
              <a:avLst/>
            </a:prstGeom>
            <a:noFill/>
          </p:spPr>
          <p:txBody>
            <a:bodyPr wrap="none" rtlCol="0" lIns="0" rIns="0" tIns="0" bIns="0">
              <a:spAutoFit/>
            </a:bodyPr>
            <a:lstStyle/>
            <a:p>
              <a:pPr algn="ctr">
                <a:defRPr>
                  <a:solidFill>
                    <a:srgbClr val="FFFFFF"/>
                  </a:solidFill>
                  <a:latin typeface="微软雅黑"/>
                  <a:ea typeface="微软雅黑"/>
                  <a:cs typeface="微软雅黑"/>
                </a:defRPr>
              </a:pPr>
              <a:r>
                <a:rPr kumimoji="1" lang="en-US" sz="2500" b="1" dirty="0">
                  <a:solidFill>
                    <a:srgbClr val="FFFFFF"/>
                  </a:solidFill>
                  <a:latin typeface="微软雅黑"/>
                  <a:ea typeface="微软雅黑"/>
                  <a:cs typeface="微软雅黑"/>
                  <a:sym typeface="微软雅黑"/>
                </a:rPr>
                <a:t>SWOT</a:t>
              </a:r>
              <a:endParaRPr kumimoji="1" lang="en-US" sz="25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kumimoji="1" lang="zh-CN" altLang="en-US" b="1" dirty="0">
                  <a:solidFill>
                    <a:srgbClr val="FFFFFF"/>
                  </a:solidFill>
                  <a:latin typeface="微软雅黑"/>
                  <a:ea typeface="微软雅黑"/>
                  <a:cs typeface="微软雅黑"/>
                  <a:sym typeface="微软雅黑"/>
                </a:rPr>
                <a:t>分析法</a:t>
              </a:r>
              <a:endParaRPr kumimoji="1" lang="zh-CN" altLang="en-US" b="1" dirty="0">
                <a:solidFill>
                  <a:srgbClr val="FFFFFF"/>
                </a:solidFill>
                <a:latin typeface="微软雅黑"/>
                <a:ea typeface="微软雅黑"/>
                <a:cs typeface="微软雅黑"/>
                <a:sym typeface="微软雅黑"/>
              </a:endParaRPr>
            </a:p>
          </p:txBody>
        </p:sp>
      </p:grpSp>
      <p:sp>
        <p:nvSpPr>
          <p:cNvPr id="99" name="圆角矩形 98"/>
          <p:cNvSpPr/>
          <p:nvPr/>
        </p:nvSpPr>
        <p:spPr>
          <a:xfrm>
            <a:off x="581025" y="1954530"/>
            <a:ext cx="793115" cy="240030"/>
          </a:xfrm>
          <a:prstGeom prst="roundRect">
            <a:avLst>
              <a:gd name="adj" fmla="val 50000"/>
            </a:avLst>
          </a:prstGeom>
          <a:solidFill>
            <a:srgbClr val="FFFFFF"/>
          </a:solidFill>
          <a:ln w="6350">
            <a:solidFill>
              <a:srgbClr val="0042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技术领先</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7" name="圆角矩形 36"/>
          <p:cNvSpPr/>
          <p:nvPr/>
        </p:nvSpPr>
        <p:spPr>
          <a:xfrm>
            <a:off x="1454785" y="1954530"/>
            <a:ext cx="793115" cy="240030"/>
          </a:xfrm>
          <a:prstGeom prst="roundRect">
            <a:avLst>
              <a:gd name="adj" fmla="val 50000"/>
            </a:avLst>
          </a:prstGeom>
          <a:solidFill>
            <a:srgbClr val="FFFFFF"/>
          </a:solidFill>
          <a:ln w="6350">
            <a:solidFill>
              <a:srgbClr val="0042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品牌声誉</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8" name="圆角矩形 37"/>
          <p:cNvSpPr/>
          <p:nvPr/>
        </p:nvSpPr>
        <p:spPr>
          <a:xfrm>
            <a:off x="2328545" y="1954530"/>
            <a:ext cx="793115" cy="240030"/>
          </a:xfrm>
          <a:prstGeom prst="roundRect">
            <a:avLst>
              <a:gd name="adj" fmla="val 50000"/>
            </a:avLst>
          </a:prstGeom>
          <a:solidFill>
            <a:srgbClr val="FFFFFF"/>
          </a:solidFill>
          <a:ln w="6350">
            <a:solidFill>
              <a:srgbClr val="0042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成本优势</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9" name="熊大的PPT宝库18"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txBox="1"/>
          <p:nvPr/>
        </p:nvSpPr>
        <p:spPr>
          <a:xfrm>
            <a:off x="9223299" y="1494462"/>
            <a:ext cx="2491740" cy="368300"/>
          </a:xfrm>
          <a:prstGeom prst="rect">
            <a:avLst/>
          </a:prstGeom>
          <a:noFill/>
        </p:spPr>
        <p:txBody>
          <a:bodyPr wrap="none" rtlCol="0" lIns="0" rIns="0" tIns="0" bIns="0">
            <a:spAutoFit/>
          </a:bodyPr>
          <a:lstStyle/>
          <a:p>
            <a:pPr algn="l" defTabSz="457200">
              <a:defRPr>
                <a:latin typeface="微软雅黑"/>
                <a:ea typeface="微软雅黑"/>
                <a:cs typeface="微软雅黑"/>
              </a:defRPr>
            </a:pPr>
            <a:r>
              <a:rPr lang="zh-CN" altLang="en-US" b="1" dirty="0">
                <a:solidFill>
                  <a:srgbClr val="0042FF"/>
                </a:solidFill>
                <a:latin typeface="微软雅黑"/>
                <a:ea typeface="微软雅黑"/>
                <a:cs typeface="微软雅黑"/>
              </a:rPr>
              <a:t>劣势（</a:t>
            </a:r>
            <a:r>
              <a:rPr lang="en-US" altLang="zh-CN" b="1" dirty="0">
                <a:solidFill>
                  <a:srgbClr val="0042FF"/>
                </a:solidFill>
                <a:latin typeface="微软雅黑"/>
                <a:ea typeface="微软雅黑"/>
                <a:cs typeface="微软雅黑"/>
              </a:rPr>
              <a:t>Weaknesses</a:t>
            </a:r>
            <a:r>
              <a:rPr lang="zh-CN" altLang="en-US" b="1" dirty="0">
                <a:solidFill>
                  <a:srgbClr val="0042FF"/>
                </a:solidFill>
                <a:latin typeface="微软雅黑"/>
                <a:ea typeface="微软雅黑"/>
                <a:cs typeface="微软雅黑"/>
              </a:rPr>
              <a:t>）</a:t>
            </a:r>
            <a:endParaRPr lang="zh-CN" altLang="en-US" b="1" dirty="0">
              <a:solidFill>
                <a:srgbClr val="0042FF"/>
              </a:solidFill>
              <a:latin typeface="微软雅黑"/>
              <a:ea typeface="微软雅黑"/>
              <a:cs typeface="微软雅黑"/>
            </a:endParaRPr>
          </a:p>
        </p:txBody>
      </p:sp>
      <p:sp>
        <p:nvSpPr>
          <p:cNvPr id="40" name="熊大的PPT宝库21"/>
          <p:cNvSpPr/>
          <p:nvPr/>
        </p:nvSpPr>
        <p:spPr>
          <a:xfrm flipH="1">
            <a:off x="9094722" y="2286896"/>
            <a:ext cx="2474049" cy="1021080"/>
          </a:xfrm>
          <a:prstGeom prst="rect">
            <a:avLst/>
          </a:prstGeom>
          <a:ln>
            <a:noFill/>
          </a:ln>
        </p:spPr>
        <p:txBody>
          <a:bodyPr wrap="square" lIns="0" tIns="0" rIns="0" bIns="0" anchor="t">
            <a:spAutoFit/>
          </a:bodyPr>
          <a:lstStyle/>
          <a:p>
            <a:pPr marL="0" marR="0" lvl="0" indent="0" algn="just"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rPr>
              <a:t>组织内部存在的限制性或薄弱环节，这些因素可能阻碍发展，增加运营风险。通过坦诚评估自身不足，企业可以制定针对性的改进计划，弥补短板，防止在竞争中错失良机。</a:t>
            </a:r>
            <a:endPar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1" name="圆角矩形 40"/>
          <p:cNvSpPr/>
          <p:nvPr/>
        </p:nvSpPr>
        <p:spPr>
          <a:xfrm>
            <a:off x="9095105" y="1954530"/>
            <a:ext cx="793115" cy="240030"/>
          </a:xfrm>
          <a:prstGeom prst="roundRect">
            <a:avLst>
              <a:gd name="adj" fmla="val 50000"/>
            </a:avLst>
          </a:prstGeom>
          <a:solidFill>
            <a:srgbClr val="FFFFFF"/>
          </a:solidFill>
          <a:ln w="6350">
            <a:solidFill>
              <a:srgbClr val="0042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资金短缺</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42" name="圆角矩形 41"/>
          <p:cNvSpPr/>
          <p:nvPr/>
        </p:nvSpPr>
        <p:spPr>
          <a:xfrm>
            <a:off x="9968865" y="1954530"/>
            <a:ext cx="793115" cy="240030"/>
          </a:xfrm>
          <a:prstGeom prst="roundRect">
            <a:avLst>
              <a:gd name="adj" fmla="val 50000"/>
            </a:avLst>
          </a:prstGeom>
          <a:solidFill>
            <a:srgbClr val="FFFFFF"/>
          </a:solidFill>
          <a:ln w="6350">
            <a:solidFill>
              <a:srgbClr val="0042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技术落后</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46" name="圆角矩形 45"/>
          <p:cNvSpPr/>
          <p:nvPr/>
        </p:nvSpPr>
        <p:spPr>
          <a:xfrm>
            <a:off x="10842625" y="1954530"/>
            <a:ext cx="793115" cy="240030"/>
          </a:xfrm>
          <a:prstGeom prst="roundRect">
            <a:avLst>
              <a:gd name="adj" fmla="val 50000"/>
            </a:avLst>
          </a:prstGeom>
          <a:solidFill>
            <a:srgbClr val="FFFFFF"/>
          </a:solidFill>
          <a:ln w="6350">
            <a:solidFill>
              <a:srgbClr val="0042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管理混乱</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47" name="熊大的PPT宝库18"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txBox="1"/>
          <p:nvPr/>
        </p:nvSpPr>
        <p:spPr>
          <a:xfrm>
            <a:off x="9154160" y="4301490"/>
            <a:ext cx="2391410" cy="337185"/>
          </a:xfrm>
          <a:prstGeom prst="rect">
            <a:avLst/>
          </a:prstGeom>
          <a:noFill/>
        </p:spPr>
        <p:txBody>
          <a:bodyPr wrap="square" rtlCol="0">
            <a:spAutoFit/>
          </a:bodyPr>
          <a:lstStyle/>
          <a:p>
            <a:pPr algn="ctr" defTabSz="457200">
              <a:defRPr>
                <a:latin typeface="微软雅黑"/>
                <a:ea typeface="微软雅黑"/>
                <a:cs typeface="微软雅黑"/>
              </a:defRPr>
            </a:pPr>
            <a:r>
              <a:rPr lang="zh-CN" altLang="en-US" sz="1600" b="1" dirty="0">
                <a:solidFill>
                  <a:srgbClr val="0042FF"/>
                </a:solidFill>
                <a:latin typeface="微软雅黑"/>
                <a:ea typeface="微软雅黑"/>
                <a:cs typeface="微软雅黑"/>
              </a:rPr>
              <a:t>机遇（</a:t>
            </a:r>
            <a:r>
              <a:rPr lang="en-US" altLang="zh-CN" sz="1600" b="1" dirty="0">
                <a:solidFill>
                  <a:srgbClr val="0042FF"/>
                </a:solidFill>
                <a:latin typeface="微软雅黑"/>
                <a:ea typeface="微软雅黑"/>
                <a:cs typeface="微软雅黑"/>
              </a:rPr>
              <a:t>Opportunities</a:t>
            </a:r>
            <a:r>
              <a:rPr lang="zh-CN" altLang="en-US" sz="1600" b="1" dirty="0">
                <a:solidFill>
                  <a:srgbClr val="0042FF"/>
                </a:solidFill>
                <a:latin typeface="微软雅黑"/>
                <a:ea typeface="微软雅黑"/>
                <a:cs typeface="微软雅黑"/>
              </a:rPr>
              <a:t>）</a:t>
            </a:r>
            <a:endParaRPr lang="zh-CN" altLang="en-US" sz="1600" b="1" dirty="0">
              <a:solidFill>
                <a:srgbClr val="0042FF"/>
              </a:solidFill>
              <a:latin typeface="微软雅黑"/>
              <a:ea typeface="微软雅黑"/>
              <a:cs typeface="微软雅黑"/>
            </a:endParaRPr>
          </a:p>
        </p:txBody>
      </p:sp>
      <p:sp>
        <p:nvSpPr>
          <p:cNvPr id="48" name="熊大的PPT宝库21"/>
          <p:cNvSpPr/>
          <p:nvPr/>
        </p:nvSpPr>
        <p:spPr>
          <a:xfrm flipH="1">
            <a:off x="8952230" y="5093970"/>
            <a:ext cx="2613660" cy="1021080"/>
          </a:xfrm>
          <a:prstGeom prst="rect">
            <a:avLst/>
          </a:prstGeom>
          <a:ln>
            <a:noFill/>
          </a:ln>
        </p:spPr>
        <p:txBody>
          <a:bodyPr wrap="square" lIns="0" tIns="0" rIns="0" bIns="0" anchor="t">
            <a:spAutoFit/>
          </a:bodyPr>
          <a:lstStyle/>
          <a:p>
            <a:pPr marL="0" marR="0" lvl="0" indent="0" algn="just"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rPr>
              <a:t>外部环境中有利于组织发展的趋势或变化，抓住机会可以帮助企业实现快速增长。通过扫描宏观环境，企业能够提前布局，借助外部利好因素拓展业务版图或实现转型升级。</a:t>
            </a:r>
            <a:endPar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9" name="圆角矩形 48"/>
          <p:cNvSpPr/>
          <p:nvPr/>
        </p:nvSpPr>
        <p:spPr>
          <a:xfrm>
            <a:off x="9025890" y="4761865"/>
            <a:ext cx="793115" cy="240030"/>
          </a:xfrm>
          <a:prstGeom prst="roundRect">
            <a:avLst>
              <a:gd name="adj" fmla="val 50000"/>
            </a:avLst>
          </a:prstGeom>
          <a:solidFill>
            <a:srgbClr val="FFFFFF"/>
          </a:solidFill>
          <a:ln w="6350">
            <a:solidFill>
              <a:srgbClr val="3368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政策支持</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0" name="圆角矩形 49"/>
          <p:cNvSpPr/>
          <p:nvPr/>
        </p:nvSpPr>
        <p:spPr>
          <a:xfrm>
            <a:off x="9899650" y="4761865"/>
            <a:ext cx="793115" cy="240030"/>
          </a:xfrm>
          <a:prstGeom prst="roundRect">
            <a:avLst>
              <a:gd name="adj" fmla="val 50000"/>
            </a:avLst>
          </a:prstGeom>
          <a:solidFill>
            <a:srgbClr val="FFFFFF"/>
          </a:solidFill>
          <a:ln w="6350">
            <a:solidFill>
              <a:srgbClr val="3368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需求增长</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1" name="圆角矩形 50"/>
          <p:cNvSpPr/>
          <p:nvPr/>
        </p:nvSpPr>
        <p:spPr>
          <a:xfrm>
            <a:off x="10773410" y="4761865"/>
            <a:ext cx="793115" cy="240030"/>
          </a:xfrm>
          <a:prstGeom prst="roundRect">
            <a:avLst>
              <a:gd name="adj" fmla="val 50000"/>
            </a:avLst>
          </a:prstGeom>
          <a:solidFill>
            <a:srgbClr val="FFFFFF"/>
          </a:solidFill>
          <a:ln w="6350">
            <a:solidFill>
              <a:srgbClr val="3368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新技术</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2" name="熊大的PPT宝库18" descr="e7d195523061f1c0c30ee18c1b05f65d12b38e2533cb2ccdAE0CC34CB5CBEBFAEC353FED4DECE97C3E379FD1D933F5E4DC18EF8EA6B7A1130D5F6DE9DD2BE4B0A8C9126ACE5083D1F5A9E323B29CCFC7C592C3DE36010C775864093B1AE11BE7779DB11EA877BF5E93C7A894F3BEF923282315AE05C47AF469CA43A0F5CB487DFDD3FC124DFDF1BD"/>
          <p:cNvSpPr txBox="1"/>
          <p:nvPr/>
        </p:nvSpPr>
        <p:spPr>
          <a:xfrm>
            <a:off x="764540" y="4300855"/>
            <a:ext cx="2285365" cy="368300"/>
          </a:xfrm>
          <a:prstGeom prst="rect">
            <a:avLst/>
          </a:prstGeom>
          <a:noFill/>
        </p:spPr>
        <p:txBody>
          <a:bodyPr wrap="square" rtlCol="0" lIns="0" rIns="0" tIns="0" bIns="0">
            <a:spAutoFit/>
          </a:bodyPr>
          <a:lstStyle/>
          <a:p>
            <a:pPr algn="ctr" defTabSz="457200">
              <a:defRPr>
                <a:latin typeface="微软雅黑"/>
                <a:ea typeface="微软雅黑"/>
                <a:cs typeface="微软雅黑"/>
              </a:defRPr>
            </a:pPr>
            <a:r>
              <a:rPr lang="zh-CN" altLang="en-US" b="1" dirty="0">
                <a:solidFill>
                  <a:srgbClr val="0042FF"/>
                </a:solidFill>
                <a:latin typeface="微软雅黑"/>
                <a:ea typeface="微软雅黑"/>
                <a:cs typeface="微软雅黑"/>
              </a:rPr>
              <a:t>威胁（</a:t>
            </a:r>
            <a:r>
              <a:rPr lang="en-US" altLang="zh-CN" b="1" dirty="0">
                <a:solidFill>
                  <a:srgbClr val="0042FF"/>
                </a:solidFill>
                <a:latin typeface="微软雅黑"/>
                <a:ea typeface="微软雅黑"/>
                <a:cs typeface="微软雅黑"/>
              </a:rPr>
              <a:t>Threats</a:t>
            </a:r>
            <a:r>
              <a:rPr lang="zh-CN" altLang="en-US" b="1" dirty="0">
                <a:solidFill>
                  <a:srgbClr val="0042FF"/>
                </a:solidFill>
                <a:latin typeface="微软雅黑"/>
                <a:ea typeface="微软雅黑"/>
                <a:cs typeface="微软雅黑"/>
              </a:rPr>
              <a:t>）</a:t>
            </a:r>
            <a:endParaRPr lang="zh-CN" altLang="en-US" b="1" dirty="0">
              <a:solidFill>
                <a:srgbClr val="0042FF"/>
              </a:solidFill>
              <a:latin typeface="微软雅黑"/>
              <a:ea typeface="微软雅黑"/>
              <a:cs typeface="微软雅黑"/>
            </a:endParaRPr>
          </a:p>
        </p:txBody>
      </p:sp>
      <p:sp>
        <p:nvSpPr>
          <p:cNvPr id="53" name="熊大的PPT宝库21"/>
          <p:cNvSpPr/>
          <p:nvPr/>
        </p:nvSpPr>
        <p:spPr>
          <a:xfrm flipH="1">
            <a:off x="562610" y="5093335"/>
            <a:ext cx="2613660" cy="1021080"/>
          </a:xfrm>
          <a:prstGeom prst="rect">
            <a:avLst/>
          </a:prstGeom>
          <a:ln>
            <a:noFill/>
          </a:ln>
        </p:spPr>
        <p:txBody>
          <a:bodyPr wrap="square" lIns="0" tIns="0" rIns="0" bIns="0" anchor="t">
            <a:spAutoFit/>
          </a:bodyPr>
          <a:lstStyle/>
          <a:p>
            <a:pPr marL="0" marR="0" lvl="0" indent="0" algn="just" defTabSz="914400" rtl="0" eaLnBrk="1" fontAlgn="auto" latinLnBrk="0" hangingPunct="1">
              <a:lnSpc>
                <a:spcPct val="110000"/>
              </a:lnSpc>
              <a:spcBef>
                <a:spcPts val="0"/>
              </a:spcBef>
              <a:spcAft>
                <a:spcPts val="0"/>
              </a:spcAft>
              <a:buClrTx/>
              <a:buSzTx/>
              <a:buFontTx/>
              <a:buNone/>
              <a:defRPr>
                <a:latin typeface="微软雅黑"/>
                <a:ea typeface="微软雅黑"/>
                <a:cs typeface="微软雅黑"/>
              </a:defRPr>
            </a:pPr>
            <a:r>
              <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rPr>
              <a:t>外部环境中可能对组织造成不利影响的挑战，这些因素可能侵蚀利润或引发危机。识别威胁有助于企业建立预警机制，制定应对策略，降低外部冲击带来的不确定性。</a:t>
            </a:r>
            <a:endParaRPr kumimoji="0" lang="zh-CN" altLang="en-US" sz="11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4" name="圆角矩形 53"/>
          <p:cNvSpPr/>
          <p:nvPr/>
        </p:nvSpPr>
        <p:spPr>
          <a:xfrm>
            <a:off x="636270" y="4761230"/>
            <a:ext cx="793115" cy="240030"/>
          </a:xfrm>
          <a:prstGeom prst="roundRect">
            <a:avLst>
              <a:gd name="adj" fmla="val 50000"/>
            </a:avLst>
          </a:prstGeom>
          <a:solidFill>
            <a:srgbClr val="FFFFFF"/>
          </a:solidFill>
          <a:ln w="6350">
            <a:solidFill>
              <a:srgbClr val="3368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竞品崛起</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5" name="圆角矩形 54"/>
          <p:cNvSpPr/>
          <p:nvPr/>
        </p:nvSpPr>
        <p:spPr>
          <a:xfrm>
            <a:off x="1510030" y="4761230"/>
            <a:ext cx="793115" cy="240030"/>
          </a:xfrm>
          <a:prstGeom prst="roundRect">
            <a:avLst>
              <a:gd name="adj" fmla="val 50000"/>
            </a:avLst>
          </a:prstGeom>
          <a:solidFill>
            <a:srgbClr val="FFFFFF"/>
          </a:solidFill>
          <a:ln w="6350">
            <a:solidFill>
              <a:srgbClr val="3368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法规收紧</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6" name="圆角矩形 55"/>
          <p:cNvSpPr/>
          <p:nvPr/>
        </p:nvSpPr>
        <p:spPr>
          <a:xfrm>
            <a:off x="2383790" y="4761230"/>
            <a:ext cx="793115" cy="240030"/>
          </a:xfrm>
          <a:prstGeom prst="roundRect">
            <a:avLst>
              <a:gd name="adj" fmla="val 50000"/>
            </a:avLst>
          </a:prstGeom>
          <a:solidFill>
            <a:srgbClr val="FFFFFF"/>
          </a:solidFill>
          <a:ln w="6350">
            <a:solidFill>
              <a:srgbClr val="3368FF"/>
            </a:solidFill>
            <a:prstDash val="solid"/>
          </a:ln>
          <a:effectLst>
            <a:outerShdw blurRad="101600" sx="102000" sy="102000" algn="ctr" rotWithShape="0">
              <a:srgbClr val="E6E6E6">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rPr>
              <a:t>材料上涨</a:t>
            </a:r>
            <a:endParaRPr kumimoji="1" lang="zh-CN" altLang="en-US" sz="10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7" name="文本框 56"/>
          <p:cNvSpPr txBox="1"/>
          <p:nvPr/>
        </p:nvSpPr>
        <p:spPr>
          <a:xfrm rot="19375728">
            <a:off x="5586910" y="4130440"/>
            <a:ext cx="2194109" cy="919711"/>
          </a:xfrm>
          <a:prstGeom prst="rect">
            <a:avLst/>
          </a:prstGeom>
          <a:noFill/>
        </p:spPr>
        <p:txBody>
          <a:bodyPr wrap="square" rtlCol="0" lIns="0" rIns="0" tIns="0" bIns="0">
            <a:prstTxWarp prst="textArchDown">
              <a:avLst/>
            </a:prstTxWarp>
            <a:spAutoFit/>
          </a:bodyPr>
          <a:lstStyle/>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383838"/>
                </a:solidFill>
                <a:latin typeface="微软雅黑"/>
                <a:ea typeface="微软雅黑"/>
                <a:cs typeface="微软雅黑"/>
              </a:defRPr>
            </a:pPr>
            <a:r>
              <a:rPr kumimoji="1" lang="en-US" altLang="zh-CN" sz="2000" b="1" noProof="0" dirty="0">
                <a:ln>
                  <a:noFill/>
                </a:ln>
                <a:solidFill>
                  <a:srgbClr val="383838"/>
                </a:solidFill>
                <a:effectLst/>
                <a:uLnTx/>
                <a:uFillTx/>
                <a:latin typeface="微软雅黑"/>
                <a:ea typeface="微软雅黑"/>
                <a:cs typeface="微软雅黑"/>
                <a:sym typeface="微软雅黑"/>
              </a:rPr>
              <a:t>O</a:t>
            </a:r>
            <a:r>
              <a:rPr kumimoji="1" lang="en-US" altLang="zh-CN" sz="1600" b="1" noProof="0" dirty="0">
                <a:ln>
                  <a:noFill/>
                </a:ln>
                <a:solidFill>
                  <a:srgbClr val="383838"/>
                </a:solidFill>
                <a:effectLst/>
                <a:uLnTx/>
                <a:uFillTx/>
                <a:latin typeface="微软雅黑"/>
                <a:ea typeface="微软雅黑"/>
                <a:cs typeface="微软雅黑"/>
                <a:sym typeface="微软雅黑"/>
              </a:rPr>
              <a:t>pportunities</a:t>
            </a:r>
            <a:endParaRPr kumimoji="1" lang="en-US" altLang="zh-CN" sz="1600" b="1" noProof="0" dirty="0">
              <a:ln>
                <a:noFill/>
              </a:ln>
              <a:solidFill>
                <a:srgbClr val="383838"/>
              </a:solidFill>
              <a:effectLst/>
              <a:uLnTx/>
              <a:uFillTx/>
              <a:latin typeface="微软雅黑"/>
              <a:ea typeface="微软雅黑"/>
              <a:cs typeface="微软雅黑"/>
              <a:sym typeface="微软雅黑"/>
            </a:endParaRPr>
          </a:p>
          <a:p>
            <a:pPr marL="285750" marR="0" lvl="0" indent="-285750" algn="ctr" defTabSz="457200" rtl="0" eaLnBrk="1" fontAlgn="auto" latinLnBrk="0" hangingPunct="1">
              <a:lnSpc>
                <a:spcPct val="100000"/>
              </a:lnSpc>
              <a:spcBef>
                <a:spcPts val="0"/>
              </a:spcBef>
              <a:spcAft>
                <a:spcPts val="0"/>
              </a:spcAft>
              <a:buClrTx/>
              <a:buSzTx/>
              <a:buFont typeface="微软雅黑"/>
              <a:buChar char="●"/>
              <a:defRPr>
                <a:solidFill>
                  <a:srgbClr val="383838"/>
                </a:solidFill>
                <a:latin typeface="微软雅黑"/>
                <a:ea typeface="微软雅黑"/>
                <a:cs typeface="微软雅黑"/>
              </a:defRPr>
            </a:pPr>
            <a:r>
              <a:rPr kumimoji="1" lang="zh-CN" altLang="en-US" sz="1600" b="1" noProof="0" dirty="0">
                <a:ln>
                  <a:noFill/>
                </a:ln>
                <a:solidFill>
                  <a:srgbClr val="383838"/>
                </a:solidFill>
                <a:effectLst/>
                <a:uLnTx/>
                <a:uFillTx/>
                <a:latin typeface="微软雅黑"/>
                <a:ea typeface="微软雅黑"/>
                <a:cs typeface="微软雅黑"/>
                <a:sym typeface="微软雅黑"/>
              </a:rPr>
              <a:t>机遇</a:t>
            </a:r>
            <a:endParaRPr kumimoji="1" lang="zh-CN" altLang="en-US" sz="1600" b="1" noProof="0" dirty="0">
              <a:ln>
                <a:noFill/>
              </a:ln>
              <a:solidFill>
                <a:srgbClr val="383838"/>
              </a:solidFill>
              <a:effectLst/>
              <a:uLnTx/>
              <a:uFillTx/>
              <a:latin typeface="微软雅黑"/>
              <a:ea typeface="微软雅黑"/>
              <a:cs typeface="微软雅黑"/>
              <a:sym typeface="微软雅黑"/>
            </a:endParaRPr>
          </a:p>
        </p:txBody>
      </p:sp>
      <p:cxnSp>
        <p:nvCxnSpPr>
          <p:cNvPr id="5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59" name="组合 58"/>
          <p:cNvGrpSpPr/>
          <p:nvPr/>
        </p:nvGrpSpPr>
        <p:grpSpPr>
          <a:xfrm>
            <a:off x="8738235" y="348615"/>
            <a:ext cx="3219450" cy="332740"/>
            <a:chOff x="13761" y="549"/>
            <a:chExt cx="5070" cy="524"/>
          </a:xfrm>
        </p:grpSpPr>
        <p:pic>
          <p:nvPicPr>
            <p:cNvPr id="60" name="图片 59"/>
            <p:cNvPicPr>
              <a:picLocks noChangeAspect="1"/>
            </p:cNvPicPr>
            <p:nvPr userDrawn="1"/>
          </p:nvPicPr>
          <p:blipFill>
            <a:blip r:embed="rId1"/>
            <a:srcRect l="17002" t="-1765" r="56499" b="-1176"/>
            <a:stretch>
              <a:fillRect/>
            </a:stretch>
          </p:blipFill>
          <p:spPr>
            <a:xfrm>
              <a:off x="13761" y="549"/>
              <a:ext cx="1582" cy="525"/>
            </a:xfrm>
            <a:prstGeom prst="rect">
              <a:avLst/>
            </a:prstGeom>
          </p:spPr>
        </p:pic>
        <p:sp>
          <p:nvSpPr>
            <p:cNvPr id="61" name="文本框 6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pic>
        <p:nvPicPr>
          <p:cNvPr id="3" name="图片 2"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紫荆的职场Point9"/>
          <p:cNvSpPr/>
          <p:nvPr/>
        </p:nvSpPr>
        <p:spPr bwMode="auto">
          <a:xfrm>
            <a:off x="6766560" y="3687445"/>
            <a:ext cx="882650" cy="1083310"/>
          </a:xfrm>
          <a:custGeom>
            <a:avLst/>
            <a:gdLst>
              <a:gd name="connsiteX0" fmla="*/ 1072263 w 1102722"/>
              <a:gd name="connsiteY0" fmla="*/ 0 h 1352548"/>
              <a:gd name="connsiteX1" fmla="*/ 833940 w 1102722"/>
              <a:gd name="connsiteY1" fmla="*/ 1352548 h 1352548"/>
              <a:gd name="connsiteX2" fmla="*/ 0 w 1102722"/>
              <a:gd name="connsiteY2" fmla="*/ 870774 h 1352548"/>
              <a:gd name="connsiteX3" fmla="*/ 123920 w 1102722"/>
              <a:gd name="connsiteY3" fmla="*/ 167449 h 1352548"/>
            </a:gdLst>
            <a:ahLst/>
            <a:cxnLst>
              <a:cxn ang="0">
                <a:pos x="connsiteX0" y="connsiteY0"/>
              </a:cxn>
              <a:cxn ang="0">
                <a:pos x="connsiteX1" y="connsiteY1"/>
              </a:cxn>
              <a:cxn ang="0">
                <a:pos x="connsiteX2" y="connsiteY2"/>
              </a:cxn>
              <a:cxn ang="0">
                <a:pos x="connsiteX3" y="connsiteY3"/>
              </a:cxn>
            </a:cxnLst>
            <a:rect l="l" t="t" r="r" b="b"/>
            <a:pathLst>
              <a:path w="1102722" h="1352548">
                <a:moveTo>
                  <a:pt x="1072263" y="0"/>
                </a:moveTo>
                <a:cubicBezTo>
                  <a:pt x="1154115" y="465010"/>
                  <a:pt x="1069788" y="943736"/>
                  <a:pt x="833940" y="1352548"/>
                </a:cubicBezTo>
                <a:lnTo>
                  <a:pt x="0" y="870774"/>
                </a:lnTo>
                <a:cubicBezTo>
                  <a:pt x="122588" y="658177"/>
                  <a:pt x="166560" y="409194"/>
                  <a:pt x="123920" y="167449"/>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5" name="紫荆的职场Point13"/>
          <p:cNvSpPr/>
          <p:nvPr/>
        </p:nvSpPr>
        <p:spPr bwMode="auto">
          <a:xfrm>
            <a:off x="4244340" y="3679190"/>
            <a:ext cx="883920" cy="1083310"/>
          </a:xfrm>
          <a:custGeom>
            <a:avLst/>
            <a:gdLst>
              <a:gd name="connsiteX0" fmla="*/ 30497 w 1104248"/>
              <a:gd name="connsiteY0" fmla="*/ 0 h 1352548"/>
              <a:gd name="connsiteX1" fmla="*/ 980178 w 1104248"/>
              <a:gd name="connsiteY1" fmla="*/ 167449 h 1352548"/>
              <a:gd name="connsiteX2" fmla="*/ 1104248 w 1104248"/>
              <a:gd name="connsiteY2" fmla="*/ 870774 h 1352548"/>
              <a:gd name="connsiteX3" fmla="*/ 269109 w 1104248"/>
              <a:gd name="connsiteY3" fmla="*/ 1352548 h 1352548"/>
              <a:gd name="connsiteX4" fmla="*/ 30497 w 1104248"/>
              <a:gd name="connsiteY4" fmla="*/ 0 h 135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248" h="1352548">
                <a:moveTo>
                  <a:pt x="30497" y="0"/>
                </a:moveTo>
                <a:lnTo>
                  <a:pt x="980178" y="167449"/>
                </a:lnTo>
                <a:cubicBezTo>
                  <a:pt x="937487" y="409194"/>
                  <a:pt x="981321" y="658177"/>
                  <a:pt x="1104248" y="870774"/>
                </a:cubicBezTo>
                <a:lnTo>
                  <a:pt x="269109" y="1352548"/>
                </a:lnTo>
                <a:cubicBezTo>
                  <a:pt x="32975" y="943736"/>
                  <a:pt x="-51454" y="465010"/>
                  <a:pt x="30497" y="0"/>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3" name="紫荆的职场Point11"/>
          <p:cNvSpPr/>
          <p:nvPr/>
        </p:nvSpPr>
        <p:spPr bwMode="auto">
          <a:xfrm>
            <a:off x="5396230" y="4825365"/>
            <a:ext cx="1100455" cy="821690"/>
          </a:xfrm>
          <a:custGeom>
            <a:avLst/>
            <a:gdLst>
              <a:gd name="connsiteX0" fmla="*/ 329870 w 1374777"/>
              <a:gd name="connsiteY0" fmla="*/ 0 h 1026426"/>
              <a:gd name="connsiteX1" fmla="*/ 1044716 w 1374777"/>
              <a:gd name="connsiteY1" fmla="*/ 0 h 1026426"/>
              <a:gd name="connsiteX2" fmla="*/ 1374777 w 1374777"/>
              <a:gd name="connsiteY2" fmla="*/ 905312 h 1026426"/>
              <a:gd name="connsiteX3" fmla="*/ 0 w 1374777"/>
              <a:gd name="connsiteY3" fmla="*/ 905312 h 1026426"/>
            </a:gdLst>
            <a:ahLst/>
            <a:cxnLst>
              <a:cxn ang="0">
                <a:pos x="connsiteX0" y="connsiteY0"/>
              </a:cxn>
              <a:cxn ang="0">
                <a:pos x="connsiteX1" y="connsiteY1"/>
              </a:cxn>
              <a:cxn ang="0">
                <a:pos x="connsiteX2" y="connsiteY2"/>
              </a:cxn>
              <a:cxn ang="0">
                <a:pos x="connsiteX3" y="connsiteY3"/>
              </a:cxn>
            </a:cxnLst>
            <a:rect l="l" t="t" r="r" b="b"/>
            <a:pathLst>
              <a:path w="1374777" h="1026426">
                <a:moveTo>
                  <a:pt x="329870" y="0"/>
                </a:moveTo>
                <a:cubicBezTo>
                  <a:pt x="560779" y="83981"/>
                  <a:pt x="813807" y="83981"/>
                  <a:pt x="1044716" y="0"/>
                </a:cubicBezTo>
                <a:lnTo>
                  <a:pt x="1374777" y="905312"/>
                </a:lnTo>
                <a:cubicBezTo>
                  <a:pt x="930692" y="1066798"/>
                  <a:pt x="443895" y="1066798"/>
                  <a:pt x="0" y="905312"/>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2" name="任意多边形: 形状 54"/>
          <p:cNvSpPr/>
          <p:nvPr/>
        </p:nvSpPr>
        <p:spPr>
          <a:xfrm>
            <a:off x="3371850" y="1364615"/>
            <a:ext cx="2583180" cy="2563495"/>
          </a:xfrm>
          <a:custGeom>
            <a:avLst/>
            <a:gdLst>
              <a:gd name="connsiteX0" fmla="*/ 720258 w 2418588"/>
              <a:gd name="connsiteY0" fmla="*/ 2400151 h 2400300"/>
              <a:gd name="connsiteX1" fmla="*/ 2414280 w 2418588"/>
              <a:gd name="connsiteY1" fmla="*/ 718417 h 2400300"/>
              <a:gd name="connsiteX2" fmla="*/ 2419805 w 2418588"/>
              <a:gd name="connsiteY2" fmla="*/ 718417 h 2400300"/>
              <a:gd name="connsiteX3" fmla="*/ 2419805 w 2418588"/>
              <a:gd name="connsiteY3" fmla="*/ -54 h 2400300"/>
              <a:gd name="connsiteX4" fmla="*/ 2413899 w 2418588"/>
              <a:gd name="connsiteY4" fmla="*/ -54 h 2400300"/>
              <a:gd name="connsiteX5" fmla="*/ 1216 w 2418588"/>
              <a:gd name="connsiteY5" fmla="*/ 2400247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8588" h="2400300">
                <a:moveTo>
                  <a:pt x="720258" y="2400151"/>
                </a:moveTo>
                <a:cubicBezTo>
                  <a:pt x="727117" y="1470225"/>
                  <a:pt x="1482830" y="718417"/>
                  <a:pt x="2414280" y="718417"/>
                </a:cubicBezTo>
                <a:lnTo>
                  <a:pt x="2419805" y="718417"/>
                </a:lnTo>
                <a:lnTo>
                  <a:pt x="2419805" y="-54"/>
                </a:lnTo>
                <a:lnTo>
                  <a:pt x="2413899" y="-54"/>
                </a:lnTo>
                <a:cubicBezTo>
                  <a:pt x="1085543" y="-54"/>
                  <a:pt x="7980" y="1073509"/>
                  <a:pt x="1216" y="2400247"/>
                </a:cubicBezTo>
                <a:close/>
              </a:path>
            </a:pathLst>
          </a:custGeom>
          <a:gradFill flip="none" rotWithShape="1">
            <a:gsLst>
              <a:gs pos="0">
                <a:srgbClr val="3368FF"/>
              </a:gs>
              <a:gs pos="79000">
                <a:srgbClr val="0042FF"/>
              </a:gs>
            </a:gsLst>
            <a:lin ang="0" scaled="1"/>
            <a:tileRect/>
          </a:gra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4" name="任意多边形: 形状 55"/>
          <p:cNvSpPr/>
          <p:nvPr/>
        </p:nvSpPr>
        <p:spPr>
          <a:xfrm>
            <a:off x="3180715" y="3178175"/>
            <a:ext cx="2773045" cy="3341370"/>
          </a:xfrm>
          <a:custGeom>
            <a:avLst/>
            <a:gdLst>
              <a:gd name="connsiteX0" fmla="*/ 2592778 w 2596610"/>
              <a:gd name="connsiteY0" fmla="*/ 2409581 h 3128200"/>
              <a:gd name="connsiteX1" fmla="*/ 898471 w 2596610"/>
              <a:gd name="connsiteY1" fmla="*/ 715274 h 3128200"/>
              <a:gd name="connsiteX2" fmla="*/ 898471 w 2596610"/>
              <a:gd name="connsiteY2" fmla="*/ 715179 h 3128200"/>
              <a:gd name="connsiteX3" fmla="*/ 898471 w 2596610"/>
              <a:gd name="connsiteY3" fmla="*/ 707749 h 3128200"/>
              <a:gd name="connsiteX4" fmla="*/ 1069921 w 2596610"/>
              <a:gd name="connsiteY4" fmla="*/ 707749 h 3128200"/>
              <a:gd name="connsiteX5" fmla="*/ 535568 w 2596610"/>
              <a:gd name="connsiteY5" fmla="*/ -54 h 3128200"/>
              <a:gd name="connsiteX6" fmla="*/ 1216 w 2596610"/>
              <a:gd name="connsiteY6" fmla="*/ 707749 h 3128200"/>
              <a:gd name="connsiteX7" fmla="*/ 179428 w 2596610"/>
              <a:gd name="connsiteY7" fmla="*/ 707749 h 3128200"/>
              <a:gd name="connsiteX8" fmla="*/ 179428 w 2596610"/>
              <a:gd name="connsiteY8" fmla="*/ 715179 h 3128200"/>
              <a:gd name="connsiteX9" fmla="*/ 2592302 w 2596610"/>
              <a:gd name="connsiteY9" fmla="*/ 3128147 h 3128200"/>
              <a:gd name="connsiteX10" fmla="*/ 2597826 w 2596610"/>
              <a:gd name="connsiteY10" fmla="*/ 3128147 h 3128200"/>
              <a:gd name="connsiteX11" fmla="*/ 2597826 w 2596610"/>
              <a:gd name="connsiteY11" fmla="*/ 2409391 h 312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6610" h="3128200">
                <a:moveTo>
                  <a:pt x="2592778" y="2409581"/>
                </a:moveTo>
                <a:cubicBezTo>
                  <a:pt x="1657042" y="2409581"/>
                  <a:pt x="898471" y="1651010"/>
                  <a:pt x="898471" y="715274"/>
                </a:cubicBezTo>
                <a:cubicBezTo>
                  <a:pt x="898471" y="715245"/>
                  <a:pt x="898471" y="715207"/>
                  <a:pt x="898471" y="715179"/>
                </a:cubicBezTo>
                <a:cubicBezTo>
                  <a:pt x="898471" y="712702"/>
                  <a:pt x="898471" y="710226"/>
                  <a:pt x="898471" y="707749"/>
                </a:cubicBezTo>
                <a:lnTo>
                  <a:pt x="1069921" y="707749"/>
                </a:lnTo>
                <a:lnTo>
                  <a:pt x="535568" y="-54"/>
                </a:lnTo>
                <a:lnTo>
                  <a:pt x="1216" y="707749"/>
                </a:lnTo>
                <a:lnTo>
                  <a:pt x="179428" y="707749"/>
                </a:lnTo>
                <a:cubicBezTo>
                  <a:pt x="179428" y="710226"/>
                  <a:pt x="179428" y="712702"/>
                  <a:pt x="179428" y="715179"/>
                </a:cubicBezTo>
                <a:cubicBezTo>
                  <a:pt x="179428" y="2047822"/>
                  <a:pt x="1259754" y="3128147"/>
                  <a:pt x="2592302" y="3128147"/>
                </a:cubicBezTo>
                <a:lnTo>
                  <a:pt x="2597826" y="3128147"/>
                </a:lnTo>
                <a:lnTo>
                  <a:pt x="2597826" y="2409391"/>
                </a:lnTo>
                <a:close/>
              </a:path>
            </a:pathLst>
          </a:custGeom>
          <a:gradFill flip="none" rotWithShape="1">
            <a:gsLst>
              <a:gs pos="72000">
                <a:srgbClr val="B3D4FE"/>
              </a:gs>
              <a:gs pos="0">
                <a:srgbClr val="B3D4FE"/>
              </a:gs>
            </a:gsLst>
            <a:lin ang="0" scaled="1"/>
            <a:tileRect/>
          </a:gradFill>
          <a:ln w="9525" cap="flat">
            <a:no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60" name="任意多边形: 形状 56"/>
          <p:cNvSpPr/>
          <p:nvPr/>
        </p:nvSpPr>
        <p:spPr>
          <a:xfrm>
            <a:off x="5211445" y="3928745"/>
            <a:ext cx="3314700" cy="2768600"/>
          </a:xfrm>
          <a:custGeom>
            <a:avLst/>
            <a:gdLst>
              <a:gd name="connsiteX0" fmla="*/ 3104937 w 3103721"/>
              <a:gd name="connsiteY0" fmla="*/ 12520 h 2592038"/>
              <a:gd name="connsiteX1" fmla="*/ 3104937 w 3103721"/>
              <a:gd name="connsiteY1" fmla="*/ -54 h 2592038"/>
              <a:gd name="connsiteX2" fmla="*/ 2386180 w 3103721"/>
              <a:gd name="connsiteY2" fmla="*/ -54 h 2592038"/>
              <a:gd name="connsiteX3" fmla="*/ 2386180 w 3103721"/>
              <a:gd name="connsiteY3" fmla="*/ 12520 h 2592038"/>
              <a:gd name="connsiteX4" fmla="*/ 708923 w 3103721"/>
              <a:gd name="connsiteY4" fmla="*/ 1706541 h 2592038"/>
              <a:gd name="connsiteX5" fmla="*/ 708923 w 3103721"/>
              <a:gd name="connsiteY5" fmla="*/ 1523280 h 2592038"/>
              <a:gd name="connsiteX6" fmla="*/ 1216 w 3103721"/>
              <a:gd name="connsiteY6" fmla="*/ 2057632 h 2592038"/>
              <a:gd name="connsiteX7" fmla="*/ 708923 w 3103721"/>
              <a:gd name="connsiteY7" fmla="*/ 2591985 h 2592038"/>
              <a:gd name="connsiteX8" fmla="*/ 708923 w 3103721"/>
              <a:gd name="connsiteY8" fmla="*/ 2425297 h 2592038"/>
              <a:gd name="connsiteX9" fmla="*/ 3104937 w 3103721"/>
              <a:gd name="connsiteY9" fmla="*/ 12520 h 259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3721" h="2592038">
                <a:moveTo>
                  <a:pt x="3104937" y="12520"/>
                </a:moveTo>
                <a:cubicBezTo>
                  <a:pt x="3104937" y="8329"/>
                  <a:pt x="3104937" y="4137"/>
                  <a:pt x="3104937" y="-54"/>
                </a:cubicBezTo>
                <a:lnTo>
                  <a:pt x="2386180" y="-54"/>
                </a:lnTo>
                <a:cubicBezTo>
                  <a:pt x="2386180" y="4137"/>
                  <a:pt x="2386180" y="8329"/>
                  <a:pt x="2386180" y="12520"/>
                </a:cubicBezTo>
                <a:cubicBezTo>
                  <a:pt x="2386123" y="941550"/>
                  <a:pt x="1637906" y="1697244"/>
                  <a:pt x="708923" y="1706541"/>
                </a:cubicBezTo>
                <a:lnTo>
                  <a:pt x="708923" y="1523280"/>
                </a:lnTo>
                <a:lnTo>
                  <a:pt x="1216" y="2057632"/>
                </a:lnTo>
                <a:lnTo>
                  <a:pt x="708923" y="2591985"/>
                </a:lnTo>
                <a:lnTo>
                  <a:pt x="708923" y="2425297"/>
                </a:lnTo>
                <a:cubicBezTo>
                  <a:pt x="2033755" y="2416153"/>
                  <a:pt x="3104937" y="1339542"/>
                  <a:pt x="3104937" y="12520"/>
                </a:cubicBezTo>
                <a:close/>
              </a:path>
            </a:pathLst>
          </a:custGeom>
          <a:gradFill flip="none" rotWithShape="1">
            <a:gsLst>
              <a:gs pos="75000">
                <a:srgbClr val="B3D4FE"/>
              </a:gs>
              <a:gs pos="0">
                <a:srgbClr val="3368FF"/>
              </a:gs>
            </a:gsLst>
            <a:lin ang="0" scaled="1"/>
            <a:tileRect/>
          </a:gradFill>
          <a:ln w="9525" cap="flat">
            <a:no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zh-CN" altLang="en-US" b="1">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循环逻辑架构 | </a:t>
            </a:r>
            <a:r>
              <a:rPr lang="en-US" altLang="zh-CN" sz="2500">
                <a:solidFill>
                  <a:srgbClr val="383838"/>
                </a:solidFill>
                <a:effectLst/>
                <a:latin typeface="微软雅黑"/>
                <a:ea typeface="微软雅黑"/>
                <a:cs typeface="微软雅黑"/>
              </a:rPr>
              <a:t>PDCA</a:t>
            </a:r>
            <a:r>
              <a:rPr sz="2500">
                <a:solidFill>
                  <a:srgbClr val="383838"/>
                </a:solidFill>
                <a:effectLst/>
                <a:latin typeface="微软雅黑"/>
                <a:ea typeface="微软雅黑"/>
                <a:cs typeface="微软雅黑"/>
              </a:rPr>
              <a:t>复盘工作法</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任意多边形 1"/>
          <p:cNvSpPr/>
          <p:nvPr/>
        </p:nvSpPr>
        <p:spPr>
          <a:xfrm>
            <a:off x="442914" y="1057275"/>
            <a:ext cx="4772089" cy="2619375"/>
          </a:xfrm>
          <a:custGeom>
            <a:avLst/>
            <a:gdLst/>
            <a:ahLst/>
            <a:cxnLst>
              <a:cxn ang="3">
                <a:pos x="hc" y="t"/>
              </a:cxn>
              <a:cxn ang="cd2">
                <a:pos x="l" y="vc"/>
              </a:cxn>
              <a:cxn ang="cd4">
                <a:pos x="hc" y="b"/>
              </a:cxn>
              <a:cxn ang="0">
                <a:pos x="r" y="vc"/>
              </a:cxn>
            </a:cxnLst>
            <a:rect l="l" t="t" r="r" b="b"/>
            <a:pathLst>
              <a:path w="7515" h="4125">
                <a:moveTo>
                  <a:pt x="0" y="0"/>
                </a:moveTo>
                <a:lnTo>
                  <a:pt x="7515" y="0"/>
                </a:lnTo>
                <a:lnTo>
                  <a:pt x="7468" y="13"/>
                </a:lnTo>
                <a:cubicBezTo>
                  <a:pt x="5624" y="537"/>
                  <a:pt x="4240" y="2156"/>
                  <a:pt x="4066" y="4122"/>
                </a:cubicBezTo>
                <a:lnTo>
                  <a:pt x="4065" y="4125"/>
                </a:lnTo>
                <a:lnTo>
                  <a:pt x="0" y="4125"/>
                </a:lnTo>
                <a:lnTo>
                  <a:pt x="0" y="0"/>
                </a:lnTo>
                <a:close/>
              </a:path>
            </a:pathLst>
          </a:custGeom>
          <a:solidFill>
            <a:srgbClr val="E6E6E6">
              <a:alpha val="35000"/>
            </a:srgbClr>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3" name="任意多边形 2"/>
          <p:cNvSpPr/>
          <p:nvPr/>
        </p:nvSpPr>
        <p:spPr>
          <a:xfrm>
            <a:off x="442914" y="3980434"/>
            <a:ext cx="4185879" cy="2619375"/>
          </a:xfrm>
          <a:custGeom>
            <a:avLst/>
            <a:gdLst/>
            <a:ahLst/>
            <a:cxnLst>
              <a:cxn ang="3">
                <a:pos x="hc" y="t"/>
              </a:cxn>
              <a:cxn ang="cd2">
                <a:pos x="l" y="vc"/>
              </a:cxn>
              <a:cxn ang="cd4">
                <a:pos x="hc" y="b"/>
              </a:cxn>
              <a:cxn ang="0">
                <a:pos x="r" y="vc"/>
              </a:cxn>
            </a:cxnLst>
            <a:rect l="l" t="t" r="r" b="b"/>
            <a:pathLst>
              <a:path w="6592" h="4125">
                <a:moveTo>
                  <a:pt x="0" y="0"/>
                </a:moveTo>
                <a:lnTo>
                  <a:pt x="4047" y="0"/>
                </a:lnTo>
                <a:lnTo>
                  <a:pt x="4047" y="2"/>
                </a:lnTo>
                <a:cubicBezTo>
                  <a:pt x="4070" y="1785"/>
                  <a:pt x="5083" y="3329"/>
                  <a:pt x="6562" y="4110"/>
                </a:cubicBezTo>
                <a:lnTo>
                  <a:pt x="6592" y="4125"/>
                </a:lnTo>
                <a:lnTo>
                  <a:pt x="0" y="4125"/>
                </a:lnTo>
                <a:lnTo>
                  <a:pt x="0" y="0"/>
                </a:lnTo>
                <a:close/>
              </a:path>
            </a:pathLst>
          </a:custGeom>
          <a:solidFill>
            <a:srgbClr val="FFFFFF">
              <a:alpha val="35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 name="任意多边形 5"/>
          <p:cNvSpPr/>
          <p:nvPr/>
        </p:nvSpPr>
        <p:spPr>
          <a:xfrm>
            <a:off x="6785861" y="1057275"/>
            <a:ext cx="4955739" cy="2619375"/>
          </a:xfrm>
          <a:custGeom>
            <a:avLst/>
            <a:gdLst/>
            <a:ahLst/>
            <a:cxnLst>
              <a:cxn ang="3">
                <a:pos x="hc" y="t"/>
              </a:cxn>
              <a:cxn ang="cd2">
                <a:pos x="l" y="vc"/>
              </a:cxn>
              <a:cxn ang="cd4">
                <a:pos x="hc" y="b"/>
              </a:cxn>
              <a:cxn ang="0">
                <a:pos x="r" y="vc"/>
              </a:cxn>
            </a:cxnLst>
            <a:rect l="l" t="t" r="r" b="b"/>
            <a:pathLst>
              <a:path w="7804" h="4125">
                <a:moveTo>
                  <a:pt x="0" y="0"/>
                </a:moveTo>
                <a:lnTo>
                  <a:pt x="7804" y="0"/>
                </a:lnTo>
                <a:lnTo>
                  <a:pt x="7804" y="4125"/>
                </a:lnTo>
                <a:lnTo>
                  <a:pt x="3450" y="4125"/>
                </a:lnTo>
                <a:lnTo>
                  <a:pt x="3449" y="4122"/>
                </a:lnTo>
                <a:cubicBezTo>
                  <a:pt x="3275" y="2156"/>
                  <a:pt x="1892" y="537"/>
                  <a:pt x="48" y="13"/>
                </a:cubicBezTo>
                <a:lnTo>
                  <a:pt x="0" y="0"/>
                </a:lnTo>
                <a:close/>
              </a:path>
            </a:pathLst>
          </a:custGeom>
          <a:solidFill>
            <a:srgbClr val="E6E6E6">
              <a:alpha val="35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 name="任意多边形 6"/>
          <p:cNvSpPr/>
          <p:nvPr/>
        </p:nvSpPr>
        <p:spPr>
          <a:xfrm>
            <a:off x="7378421" y="3980434"/>
            <a:ext cx="4369529" cy="2619375"/>
          </a:xfrm>
          <a:custGeom>
            <a:avLst/>
            <a:gdLst/>
            <a:ahLst/>
            <a:cxnLst>
              <a:cxn ang="3">
                <a:pos x="hc" y="t"/>
              </a:cxn>
              <a:cxn ang="cd2">
                <a:pos x="l" y="vc"/>
              </a:cxn>
              <a:cxn ang="cd4">
                <a:pos x="hc" y="b"/>
              </a:cxn>
              <a:cxn ang="0">
                <a:pos x="r" y="vc"/>
              </a:cxn>
            </a:cxnLst>
            <a:rect l="l" t="t" r="r" b="b"/>
            <a:pathLst>
              <a:path w="6881" h="4125">
                <a:moveTo>
                  <a:pt x="2545" y="0"/>
                </a:moveTo>
                <a:lnTo>
                  <a:pt x="6881" y="0"/>
                </a:lnTo>
                <a:lnTo>
                  <a:pt x="6881" y="4125"/>
                </a:lnTo>
                <a:lnTo>
                  <a:pt x="0" y="4125"/>
                </a:lnTo>
                <a:lnTo>
                  <a:pt x="30" y="4110"/>
                </a:lnTo>
                <a:cubicBezTo>
                  <a:pt x="1509" y="3329"/>
                  <a:pt x="2522" y="1785"/>
                  <a:pt x="2545" y="2"/>
                </a:cubicBezTo>
                <a:lnTo>
                  <a:pt x="2545" y="0"/>
                </a:lnTo>
                <a:close/>
              </a:path>
            </a:pathLst>
          </a:custGeom>
          <a:solidFill>
            <a:srgbClr val="FFFFFF">
              <a:alpha val="35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pic>
        <p:nvPicPr>
          <p:cNvPr id="8" name="图片 7" descr="左右箭头-2"/>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17882" y="3857308"/>
            <a:ext cx="171450" cy="171450"/>
          </a:xfrm>
          <a:prstGeom prst="rect">
            <a:avLst/>
          </a:prstGeom>
        </p:spPr>
      </p:pic>
      <p:sp>
        <p:nvSpPr>
          <p:cNvPr id="9" name="紫荆的职场Point8"/>
          <p:cNvSpPr/>
          <p:nvPr/>
        </p:nvSpPr>
        <p:spPr bwMode="auto">
          <a:xfrm>
            <a:off x="6567805" y="2661285"/>
            <a:ext cx="1045845" cy="1086485"/>
          </a:xfrm>
          <a:custGeom>
            <a:avLst/>
            <a:gdLst>
              <a:gd name="connsiteX0" fmla="*/ 619628 w 1306515"/>
              <a:gd name="connsiteY0" fmla="*/ 0 h 1357311"/>
              <a:gd name="connsiteX1" fmla="*/ 1306515 w 1306515"/>
              <a:gd name="connsiteY1" fmla="*/ 1189815 h 1357311"/>
              <a:gd name="connsiteX2" fmla="*/ 357258 w 1306515"/>
              <a:gd name="connsiteY2" fmla="*/ 1357311 h 1357311"/>
              <a:gd name="connsiteX3" fmla="*/ 0 w 1306515"/>
              <a:gd name="connsiteY3" fmla="*/ 738585 h 1357311"/>
            </a:gdLst>
            <a:ahLst/>
            <a:cxnLst>
              <a:cxn ang="0">
                <a:pos x="connsiteX0" y="connsiteY0"/>
              </a:cxn>
              <a:cxn ang="0">
                <a:pos x="connsiteX1" y="connsiteY1"/>
              </a:cxn>
              <a:cxn ang="0">
                <a:pos x="connsiteX2" y="connsiteY2"/>
              </a:cxn>
              <a:cxn ang="0">
                <a:pos x="connsiteX3" y="connsiteY3"/>
              </a:cxn>
            </a:cxnLst>
            <a:rect l="l" t="t" r="r" b="b"/>
            <a:pathLst>
              <a:path w="1306515" h="1357311">
                <a:moveTo>
                  <a:pt x="619628" y="0"/>
                </a:moveTo>
                <a:cubicBezTo>
                  <a:pt x="981268" y="303552"/>
                  <a:pt x="1224584" y="724865"/>
                  <a:pt x="1306515" y="1189815"/>
                </a:cubicBezTo>
                <a:lnTo>
                  <a:pt x="357258" y="1357311"/>
                </a:lnTo>
                <a:cubicBezTo>
                  <a:pt x="314577" y="1115499"/>
                  <a:pt x="188060" y="896363"/>
                  <a:pt x="0" y="738585"/>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2" name="紫荆的职场Point10"/>
          <p:cNvSpPr/>
          <p:nvPr/>
        </p:nvSpPr>
        <p:spPr bwMode="auto">
          <a:xfrm>
            <a:off x="6294755" y="4434840"/>
            <a:ext cx="1106805" cy="1093470"/>
          </a:xfrm>
          <a:custGeom>
            <a:avLst/>
            <a:gdLst>
              <a:gd name="connsiteX0" fmla="*/ 547519 w 1382715"/>
              <a:gd name="connsiteY0" fmla="*/ 0 h 1365248"/>
              <a:gd name="connsiteX1" fmla="*/ 1382715 w 1382715"/>
              <a:gd name="connsiteY1" fmla="*/ 482144 h 1365248"/>
              <a:gd name="connsiteX2" fmla="*/ 329808 w 1382715"/>
              <a:gd name="connsiteY2" fmla="*/ 1365248 h 1365248"/>
              <a:gd name="connsiteX3" fmla="*/ 0 w 1382715"/>
              <a:gd name="connsiteY3" fmla="*/ 459275 h 1365248"/>
              <a:gd name="connsiteX4" fmla="*/ 547519 w 1382715"/>
              <a:gd name="connsiteY4" fmla="*/ 0 h 1365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2715" h="1365248">
                <a:moveTo>
                  <a:pt x="547519" y="0"/>
                </a:moveTo>
                <a:lnTo>
                  <a:pt x="1382715" y="482144"/>
                </a:lnTo>
                <a:cubicBezTo>
                  <a:pt x="1146512" y="891108"/>
                  <a:pt x="773810" y="1203835"/>
                  <a:pt x="329808" y="1365248"/>
                </a:cubicBezTo>
                <a:lnTo>
                  <a:pt x="0" y="459275"/>
                </a:lnTo>
                <a:cubicBezTo>
                  <a:pt x="230866" y="375424"/>
                  <a:pt x="424556" y="212677"/>
                  <a:pt x="547519" y="0"/>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4" name="紫荆的职场Point12"/>
          <p:cNvSpPr/>
          <p:nvPr/>
        </p:nvSpPr>
        <p:spPr bwMode="auto">
          <a:xfrm>
            <a:off x="4492625" y="4434840"/>
            <a:ext cx="1105535" cy="1093470"/>
          </a:xfrm>
          <a:custGeom>
            <a:avLst/>
            <a:gdLst>
              <a:gd name="connsiteX0" fmla="*/ 834237 w 1381127"/>
              <a:gd name="connsiteY0" fmla="*/ 0 h 1365248"/>
              <a:gd name="connsiteX1" fmla="*/ 1381127 w 1381127"/>
              <a:gd name="connsiteY1" fmla="*/ 459275 h 1365248"/>
              <a:gd name="connsiteX2" fmla="*/ 1051508 w 1381127"/>
              <a:gd name="connsiteY2" fmla="*/ 1365248 h 1365248"/>
              <a:gd name="connsiteX3" fmla="*/ 0 w 1381127"/>
              <a:gd name="connsiteY3" fmla="*/ 482144 h 1365248"/>
            </a:gdLst>
            <a:ahLst/>
            <a:cxnLst>
              <a:cxn ang="0">
                <a:pos x="connsiteX0" y="connsiteY0"/>
              </a:cxn>
              <a:cxn ang="0">
                <a:pos x="connsiteX1" y="connsiteY1"/>
              </a:cxn>
              <a:cxn ang="0">
                <a:pos x="connsiteX2" y="connsiteY2"/>
              </a:cxn>
              <a:cxn ang="0">
                <a:pos x="connsiteX3" y="connsiteY3"/>
              </a:cxn>
            </a:cxnLst>
            <a:rect l="l" t="t" r="r" b="b"/>
            <a:pathLst>
              <a:path w="1381127" h="1365248">
                <a:moveTo>
                  <a:pt x="834237" y="0"/>
                </a:moveTo>
                <a:cubicBezTo>
                  <a:pt x="956868" y="212677"/>
                  <a:pt x="1150527" y="375424"/>
                  <a:pt x="1381127" y="459275"/>
                </a:cubicBezTo>
                <a:lnTo>
                  <a:pt x="1051508" y="1365248"/>
                </a:lnTo>
                <a:cubicBezTo>
                  <a:pt x="608206" y="1203835"/>
                  <a:pt x="235742" y="891108"/>
                  <a:pt x="0" y="482144"/>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6" name="紫荆的职场Point14"/>
          <p:cNvSpPr/>
          <p:nvPr/>
        </p:nvSpPr>
        <p:spPr bwMode="auto">
          <a:xfrm>
            <a:off x="4279900" y="2661285"/>
            <a:ext cx="1045845" cy="1086485"/>
          </a:xfrm>
          <a:custGeom>
            <a:avLst/>
            <a:gdLst>
              <a:gd name="connsiteX0" fmla="*/ 686888 w 1306515"/>
              <a:gd name="connsiteY0" fmla="*/ 0 h 1357311"/>
              <a:gd name="connsiteX1" fmla="*/ 1306515 w 1306515"/>
              <a:gd name="connsiteY1" fmla="*/ 738593 h 1357311"/>
              <a:gd name="connsiteX2" fmla="*/ 949353 w 1306515"/>
              <a:gd name="connsiteY2" fmla="*/ 1357311 h 1357311"/>
              <a:gd name="connsiteX3" fmla="*/ 0 w 1306515"/>
              <a:gd name="connsiteY3" fmla="*/ 1189887 h 1357311"/>
              <a:gd name="connsiteX4" fmla="*/ 686888 w 1306515"/>
              <a:gd name="connsiteY4" fmla="*/ 0 h 13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6515" h="1357311">
                <a:moveTo>
                  <a:pt x="686888" y="0"/>
                </a:moveTo>
                <a:lnTo>
                  <a:pt x="1306515" y="738593"/>
                </a:lnTo>
                <a:cubicBezTo>
                  <a:pt x="1118455" y="896393"/>
                  <a:pt x="991938" y="1115465"/>
                  <a:pt x="949353" y="1357311"/>
                </a:cubicBezTo>
                <a:lnTo>
                  <a:pt x="0" y="1189887"/>
                </a:lnTo>
                <a:cubicBezTo>
                  <a:pt x="82027" y="724776"/>
                  <a:pt x="325248" y="303499"/>
                  <a:pt x="686888" y="0"/>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7" name="紫荆的职场Point15"/>
          <p:cNvSpPr/>
          <p:nvPr/>
        </p:nvSpPr>
        <p:spPr bwMode="auto">
          <a:xfrm>
            <a:off x="4879975" y="2243455"/>
            <a:ext cx="1033780" cy="967105"/>
          </a:xfrm>
          <a:custGeom>
            <a:avLst/>
            <a:gdLst>
              <a:gd name="connsiteX0" fmla="*/ 1290640 w 1290640"/>
              <a:gd name="connsiteY0" fmla="*/ 0 h 1208086"/>
              <a:gd name="connsiteX1" fmla="*/ 1290640 w 1290640"/>
              <a:gd name="connsiteY1" fmla="*/ 963840 h 1208086"/>
              <a:gd name="connsiteX2" fmla="*/ 619599 w 1290640"/>
              <a:gd name="connsiteY2" fmla="*/ 1208086 h 1208086"/>
              <a:gd name="connsiteX3" fmla="*/ 0 w 1290640"/>
              <a:gd name="connsiteY3" fmla="*/ 469631 h 1208086"/>
              <a:gd name="connsiteX4" fmla="*/ 1290640 w 1290640"/>
              <a:gd name="connsiteY4" fmla="*/ 0 h 120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40" h="1208086">
                <a:moveTo>
                  <a:pt x="1290640" y="0"/>
                </a:moveTo>
                <a:lnTo>
                  <a:pt x="1290640" y="963840"/>
                </a:lnTo>
                <a:cubicBezTo>
                  <a:pt x="1045239" y="963840"/>
                  <a:pt x="807650" y="1050336"/>
                  <a:pt x="619599" y="1208086"/>
                </a:cubicBezTo>
                <a:lnTo>
                  <a:pt x="0" y="469631"/>
                </a:lnTo>
                <a:cubicBezTo>
                  <a:pt x="361623" y="166324"/>
                  <a:pt x="818701" y="0"/>
                  <a:pt x="1290640" y="0"/>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8" name="紫荆的职场Point16"/>
          <p:cNvSpPr/>
          <p:nvPr/>
        </p:nvSpPr>
        <p:spPr bwMode="auto">
          <a:xfrm>
            <a:off x="5979795" y="2243455"/>
            <a:ext cx="1033780" cy="967105"/>
          </a:xfrm>
          <a:custGeom>
            <a:avLst/>
            <a:gdLst>
              <a:gd name="connsiteX0" fmla="*/ 0 w 1290640"/>
              <a:gd name="connsiteY0" fmla="*/ 0 h 1208086"/>
              <a:gd name="connsiteX1" fmla="*/ 1290640 w 1290640"/>
              <a:gd name="connsiteY1" fmla="*/ 469631 h 1208086"/>
              <a:gd name="connsiteX2" fmla="*/ 671133 w 1290640"/>
              <a:gd name="connsiteY2" fmla="*/ 1208086 h 1208086"/>
              <a:gd name="connsiteX3" fmla="*/ 0 w 1290640"/>
              <a:gd name="connsiteY3" fmla="*/ 963840 h 1208086"/>
            </a:gdLst>
            <a:ahLst/>
            <a:cxnLst>
              <a:cxn ang="0">
                <a:pos x="connsiteX0" y="connsiteY0"/>
              </a:cxn>
              <a:cxn ang="0">
                <a:pos x="connsiteX1" y="connsiteY1"/>
              </a:cxn>
              <a:cxn ang="0">
                <a:pos x="connsiteX2" y="connsiteY2"/>
              </a:cxn>
              <a:cxn ang="0">
                <a:pos x="connsiteX3" y="connsiteY3"/>
              </a:cxn>
            </a:cxnLst>
            <a:rect l="l" t="t" r="r" b="b"/>
            <a:pathLst>
              <a:path w="1290640" h="1208086">
                <a:moveTo>
                  <a:pt x="0" y="0"/>
                </a:moveTo>
                <a:cubicBezTo>
                  <a:pt x="472060" y="0"/>
                  <a:pt x="929070" y="166324"/>
                  <a:pt x="1290640" y="469631"/>
                </a:cubicBezTo>
                <a:lnTo>
                  <a:pt x="671133" y="1208086"/>
                </a:lnTo>
                <a:cubicBezTo>
                  <a:pt x="483109" y="1050336"/>
                  <a:pt x="245555" y="963840"/>
                  <a:pt x="0" y="963840"/>
                </a:cubicBezTo>
                <a:close/>
              </a:path>
            </a:pathLst>
          </a:custGeom>
          <a:solidFill>
            <a:srgbClr val="E6E6E6">
              <a:alpha val="70000"/>
            </a:srgbClr>
          </a:solidFill>
          <a:ln w="12700" cap="flat">
            <a:gradFill flip="none" rotWithShape="1">
              <a:gsLst>
                <a:gs pos="1000">
                  <a:srgbClr val="FFFFFF">
                    <a:alpha val="0"/>
                  </a:srgbClr>
                </a:gs>
                <a:gs pos="20000">
                  <a:srgbClr val="FFFFFF">
                    <a:alpha val="0"/>
                  </a:srgbClr>
                </a:gs>
                <a:gs pos="100000">
                  <a:srgbClr val="FFFFFF"/>
                </a:gs>
              </a:gsLst>
              <a:lin ang="2700000" scaled="0"/>
              <a:tileRect/>
            </a:gradFill>
            <a:prstDash val="solid"/>
            <a:round/>
          </a:ln>
        </p:spPr>
        <p:txBody>
          <a:bodyPr vert="horz" wrap="square" lIns="0" tIns="0" rIns="0" bIns="0" numCol="1" anchor="t" anchorCtr="0" compatLnSpc="1">
            <a:noAutofit/>
          </a:bodyPr>
          <a:lstStyle/>
          <a:p>
            <a:pPr lvl="0" algn="l">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9" name="紫荆的职场Point17"/>
          <p:cNvSpPr/>
          <p:nvPr>
            <p:custDataLst>
              <p:tags r:id="rId5"/>
            </p:custDataLst>
          </p:nvPr>
        </p:nvSpPr>
        <p:spPr>
          <a:xfrm>
            <a:off x="5151120" y="3169920"/>
            <a:ext cx="1540510" cy="1540510"/>
          </a:xfrm>
          <a:prstGeom prst="ellipse">
            <a:avLst/>
          </a:prstGeom>
          <a:solidFill>
            <a:srgbClr val="FFFFFF"/>
          </a:solidFill>
          <a:ln w="25617">
            <a:solidFill>
              <a:srgbClr val="0042FF"/>
            </a:solidFill>
          </a:ln>
          <a:effectLst>
            <a:outerShdw blurRad="153699" dist="136622" dir="2699999" algn="tl"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spcBef>
                <a:spcPct val="0"/>
              </a:spcBef>
              <a:spcAft>
                <a:spcPct val="0"/>
              </a:spcAft>
              <a:defRPr>
                <a:latin typeface="微软雅黑"/>
                <a:ea typeface="微软雅黑"/>
                <a:cs typeface="微软雅黑"/>
              </a:defRPr>
            </a:pPr>
            <a:endParaRPr lang="en-US" sz="1000" dirty="0">
              <a:solidFill>
                <a:srgbClr val="383838"/>
              </a:solidFill>
              <a:latin typeface="微软雅黑"/>
              <a:ea typeface="微软雅黑"/>
              <a:cs typeface="微软雅黑"/>
            </a:endParaRPr>
          </a:p>
        </p:txBody>
      </p:sp>
      <p:sp>
        <p:nvSpPr>
          <p:cNvPr id="20" name="紫荆的职场Point18"/>
          <p:cNvSpPr txBox="1"/>
          <p:nvPr/>
        </p:nvSpPr>
        <p:spPr>
          <a:xfrm>
            <a:off x="5275580" y="3578860"/>
            <a:ext cx="1291590" cy="721995"/>
          </a:xfrm>
          <a:prstGeom prst="rect">
            <a:avLst/>
          </a:prstGeom>
          <a:noFill/>
        </p:spPr>
        <p:txBody>
          <a:bodyPr wrap="square" rtlCol="0">
            <a:spAutoFit/>
          </a:bodyPr>
          <a:lstStyle/>
          <a:p>
            <a:pPr algn="ctr">
              <a:defRPr>
                <a:latin typeface="微软雅黑"/>
                <a:ea typeface="微软雅黑"/>
                <a:cs typeface="微软雅黑"/>
              </a:defRPr>
            </a:pPr>
            <a:r>
              <a:rPr lang="en-US" altLang="zh-CN" sz="2500" b="1" dirty="0">
                <a:solidFill>
                  <a:srgbClr val="0042FF"/>
                </a:solidFill>
                <a:latin typeface="微软雅黑"/>
                <a:ea typeface="微软雅黑"/>
                <a:cs typeface="微软雅黑"/>
              </a:rPr>
              <a:t>PDCA</a:t>
            </a:r>
            <a:endParaRPr lang="en-US" altLang="zh-CN" sz="25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复盘工作法</a:t>
            </a:r>
            <a:endParaRPr lang="zh-CN" altLang="en-US" sz="1600" b="1" dirty="0">
              <a:solidFill>
                <a:srgbClr val="0042FF"/>
              </a:solidFill>
              <a:latin typeface="微软雅黑"/>
              <a:ea typeface="微软雅黑"/>
              <a:cs typeface="微软雅黑"/>
            </a:endParaRPr>
          </a:p>
        </p:txBody>
      </p:sp>
      <p:sp>
        <p:nvSpPr>
          <p:cNvPr id="21" name="紫荆的职场Point20"/>
          <p:cNvSpPr txBox="1"/>
          <p:nvPr/>
        </p:nvSpPr>
        <p:spPr>
          <a:xfrm rot="20400000">
            <a:off x="5148580" y="2598420"/>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分析原因</a:t>
            </a:r>
            <a:endParaRPr lang="zh-CN" altLang="en-US" sz="1000" b="1" dirty="0">
              <a:solidFill>
                <a:srgbClr val="383838"/>
              </a:solidFill>
              <a:effectLst/>
              <a:latin typeface="微软雅黑"/>
              <a:ea typeface="微软雅黑"/>
              <a:cs typeface="微软雅黑"/>
            </a:endParaRPr>
          </a:p>
        </p:txBody>
      </p:sp>
      <p:sp>
        <p:nvSpPr>
          <p:cNvPr id="22" name="紫荆的职场Point21"/>
          <p:cNvSpPr txBox="1"/>
          <p:nvPr/>
        </p:nvSpPr>
        <p:spPr>
          <a:xfrm rot="1200000">
            <a:off x="6060440" y="2606040"/>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制定计划</a:t>
            </a:r>
            <a:endParaRPr lang="zh-CN" altLang="en-US" sz="1000" b="1" dirty="0">
              <a:solidFill>
                <a:srgbClr val="383838"/>
              </a:solidFill>
              <a:effectLst/>
              <a:latin typeface="微软雅黑"/>
              <a:ea typeface="微软雅黑"/>
              <a:cs typeface="微软雅黑"/>
            </a:endParaRPr>
          </a:p>
        </p:txBody>
      </p:sp>
      <p:sp>
        <p:nvSpPr>
          <p:cNvPr id="23" name="紫荆的职场Point22"/>
          <p:cNvSpPr txBox="1"/>
          <p:nvPr/>
        </p:nvSpPr>
        <p:spPr>
          <a:xfrm rot="3420000">
            <a:off x="6674485" y="3128645"/>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采取措施</a:t>
            </a:r>
            <a:endParaRPr lang="zh-CN" altLang="en-US" sz="1000" b="1" dirty="0">
              <a:solidFill>
                <a:srgbClr val="383838"/>
              </a:solidFill>
              <a:effectLst/>
              <a:latin typeface="微软雅黑"/>
              <a:ea typeface="微软雅黑"/>
              <a:cs typeface="微软雅黑"/>
            </a:endParaRPr>
          </a:p>
        </p:txBody>
      </p:sp>
      <p:sp>
        <p:nvSpPr>
          <p:cNvPr id="24" name="紫荆的职场Point23"/>
          <p:cNvSpPr txBox="1"/>
          <p:nvPr/>
        </p:nvSpPr>
        <p:spPr>
          <a:xfrm rot="18180000">
            <a:off x="4467225" y="3121025"/>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发现问题</a:t>
            </a:r>
            <a:endParaRPr lang="zh-CN" altLang="en-US" sz="1000" b="1" dirty="0">
              <a:solidFill>
                <a:srgbClr val="383838"/>
              </a:solidFill>
              <a:effectLst/>
              <a:latin typeface="微软雅黑"/>
              <a:ea typeface="微软雅黑"/>
              <a:cs typeface="微软雅黑"/>
            </a:endParaRPr>
          </a:p>
        </p:txBody>
      </p:sp>
      <p:sp>
        <p:nvSpPr>
          <p:cNvPr id="25" name="紫荆的职场Point24"/>
          <p:cNvSpPr txBox="1"/>
          <p:nvPr/>
        </p:nvSpPr>
        <p:spPr>
          <a:xfrm rot="15660000">
            <a:off x="4255135" y="4008120"/>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周而复始</a:t>
            </a:r>
            <a:endParaRPr lang="zh-CN" altLang="en-US" sz="1000" b="1" dirty="0">
              <a:solidFill>
                <a:srgbClr val="383838"/>
              </a:solidFill>
              <a:effectLst/>
              <a:latin typeface="微软雅黑"/>
              <a:ea typeface="微软雅黑"/>
              <a:cs typeface="微软雅黑"/>
            </a:endParaRPr>
          </a:p>
        </p:txBody>
      </p:sp>
      <p:sp>
        <p:nvSpPr>
          <p:cNvPr id="26" name="紫荆的职场Point25"/>
          <p:cNvSpPr txBox="1"/>
          <p:nvPr/>
        </p:nvSpPr>
        <p:spPr>
          <a:xfrm rot="5760000">
            <a:off x="6888480" y="4011930"/>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执行方案</a:t>
            </a:r>
            <a:endParaRPr lang="zh-CN" altLang="en-US" sz="1000" b="1" dirty="0">
              <a:solidFill>
                <a:srgbClr val="383838"/>
              </a:solidFill>
              <a:effectLst/>
              <a:latin typeface="微软雅黑"/>
              <a:ea typeface="微软雅黑"/>
              <a:cs typeface="微软雅黑"/>
            </a:endParaRPr>
          </a:p>
        </p:txBody>
      </p:sp>
      <p:sp>
        <p:nvSpPr>
          <p:cNvPr id="27" name="紫荆的职场Point26"/>
          <p:cNvSpPr txBox="1"/>
          <p:nvPr/>
        </p:nvSpPr>
        <p:spPr>
          <a:xfrm rot="2340000">
            <a:off x="4690745" y="4848860"/>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总结经验</a:t>
            </a:r>
            <a:endParaRPr lang="zh-CN" altLang="en-US" sz="1000" b="1" dirty="0">
              <a:solidFill>
                <a:srgbClr val="383838"/>
              </a:solidFill>
              <a:effectLst/>
              <a:latin typeface="微软雅黑"/>
              <a:ea typeface="微软雅黑"/>
              <a:cs typeface="微软雅黑"/>
            </a:endParaRPr>
          </a:p>
        </p:txBody>
      </p:sp>
      <p:sp>
        <p:nvSpPr>
          <p:cNvPr id="28" name="紫荆的职场Point27"/>
          <p:cNvSpPr txBox="1"/>
          <p:nvPr/>
        </p:nvSpPr>
        <p:spPr>
          <a:xfrm>
            <a:off x="5598160" y="5160645"/>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分析结果</a:t>
            </a:r>
            <a:endParaRPr lang="zh-CN" altLang="en-US" sz="1000" b="1" dirty="0">
              <a:solidFill>
                <a:srgbClr val="383838"/>
              </a:solidFill>
              <a:effectLst/>
              <a:latin typeface="微软雅黑"/>
              <a:ea typeface="微软雅黑"/>
              <a:cs typeface="微软雅黑"/>
            </a:endParaRPr>
          </a:p>
        </p:txBody>
      </p:sp>
      <p:sp>
        <p:nvSpPr>
          <p:cNvPr id="29" name="紫荆的职场Point28"/>
          <p:cNvSpPr txBox="1"/>
          <p:nvPr/>
        </p:nvSpPr>
        <p:spPr>
          <a:xfrm rot="19260000">
            <a:off x="6448425" y="4845685"/>
            <a:ext cx="722630" cy="24511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检查对比</a:t>
            </a:r>
            <a:endParaRPr lang="zh-CN" altLang="en-US" sz="1000" b="1" dirty="0">
              <a:solidFill>
                <a:srgbClr val="383838"/>
              </a:solidFill>
              <a:effectLst/>
              <a:latin typeface="微软雅黑"/>
              <a:ea typeface="微软雅黑"/>
              <a:cs typeface="微软雅黑"/>
            </a:endParaRPr>
          </a:p>
        </p:txBody>
      </p:sp>
      <p:sp>
        <p:nvSpPr>
          <p:cNvPr id="35" name="任意多边形: 形状 57"/>
          <p:cNvSpPr/>
          <p:nvPr/>
        </p:nvSpPr>
        <p:spPr>
          <a:xfrm>
            <a:off x="5955030" y="1364615"/>
            <a:ext cx="2745740" cy="3308350"/>
          </a:xfrm>
          <a:custGeom>
            <a:avLst/>
            <a:gdLst>
              <a:gd name="connsiteX0" fmla="*/ 2408279 w 2570511"/>
              <a:gd name="connsiteY0" fmla="*/ 2389864 h 3097625"/>
              <a:gd name="connsiteX1" fmla="*/ 1216 w 2570511"/>
              <a:gd name="connsiteY1" fmla="*/ -54 h 3097625"/>
              <a:gd name="connsiteX2" fmla="*/ 1216 w 2570511"/>
              <a:gd name="connsiteY2" fmla="*/ 718608 h 3097625"/>
              <a:gd name="connsiteX3" fmla="*/ 1689522 w 2570511"/>
              <a:gd name="connsiteY3" fmla="*/ 2389864 h 3097625"/>
              <a:gd name="connsiteX4" fmla="*/ 1503023 w 2570511"/>
              <a:gd name="connsiteY4" fmla="*/ 2389864 h 3097625"/>
              <a:gd name="connsiteX5" fmla="*/ 2037375 w 2570511"/>
              <a:gd name="connsiteY5" fmla="*/ 3097572 h 3097625"/>
              <a:gd name="connsiteX6" fmla="*/ 2571728 w 2570511"/>
              <a:gd name="connsiteY6" fmla="*/ 2389864 h 309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0511" h="3097625">
                <a:moveTo>
                  <a:pt x="2408279" y="2389864"/>
                </a:moveTo>
                <a:cubicBezTo>
                  <a:pt x="2395611" y="1069604"/>
                  <a:pt x="1323667" y="2899"/>
                  <a:pt x="1216" y="-54"/>
                </a:cubicBezTo>
                <a:lnTo>
                  <a:pt x="1216" y="718608"/>
                </a:lnTo>
                <a:cubicBezTo>
                  <a:pt x="926760" y="721465"/>
                  <a:pt x="1677616" y="1466511"/>
                  <a:pt x="1689522" y="2389864"/>
                </a:cubicBezTo>
                <a:lnTo>
                  <a:pt x="1503023" y="2389864"/>
                </a:lnTo>
                <a:lnTo>
                  <a:pt x="2037375" y="3097572"/>
                </a:lnTo>
                <a:lnTo>
                  <a:pt x="2571728" y="2389864"/>
                </a:lnTo>
                <a:close/>
              </a:path>
            </a:pathLst>
          </a:custGeom>
          <a:gradFill flip="none" rotWithShape="1">
            <a:gsLst>
              <a:gs pos="0">
                <a:srgbClr val="3368FF"/>
              </a:gs>
              <a:gs pos="70000">
                <a:srgbClr val="668EFF"/>
              </a:gs>
            </a:gsLst>
            <a:lin ang="0" scaled="1"/>
            <a:tileRect/>
          </a:gra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6" name="任意多边形: 形状 59"/>
          <p:cNvSpPr/>
          <p:nvPr/>
        </p:nvSpPr>
        <p:spPr>
          <a:xfrm>
            <a:off x="5871210" y="1183640"/>
            <a:ext cx="767715" cy="1141730"/>
          </a:xfrm>
          <a:custGeom>
            <a:avLst/>
            <a:gdLst>
              <a:gd name="connsiteX0" fmla="*/ 0 w 718946"/>
              <a:gd name="connsiteY0" fmla="*/ 0 h 1068704"/>
              <a:gd name="connsiteX1" fmla="*/ 718947 w 718946"/>
              <a:gd name="connsiteY1" fmla="*/ 534353 h 1068704"/>
              <a:gd name="connsiteX2" fmla="*/ 0 w 718946"/>
              <a:gd name="connsiteY2" fmla="*/ 1068705 h 1068704"/>
              <a:gd name="connsiteX3" fmla="*/ 0 w 718946"/>
              <a:gd name="connsiteY3" fmla="*/ 0 h 1068704"/>
            </a:gdLst>
            <a:ahLst/>
            <a:cxnLst>
              <a:cxn ang="0">
                <a:pos x="connsiteX0" y="connsiteY0"/>
              </a:cxn>
              <a:cxn ang="0">
                <a:pos x="connsiteX1" y="connsiteY1"/>
              </a:cxn>
              <a:cxn ang="0">
                <a:pos x="connsiteX2" y="connsiteY2"/>
              </a:cxn>
              <a:cxn ang="0">
                <a:pos x="connsiteX3" y="connsiteY3"/>
              </a:cxn>
            </a:cxnLst>
            <a:rect l="l" t="t" r="r" b="b"/>
            <a:pathLst>
              <a:path w="718946" h="1068704">
                <a:moveTo>
                  <a:pt x="0" y="0"/>
                </a:moveTo>
                <a:lnTo>
                  <a:pt x="718947" y="534353"/>
                </a:lnTo>
                <a:lnTo>
                  <a:pt x="0" y="1068705"/>
                </a:lnTo>
                <a:lnTo>
                  <a:pt x="0" y="0"/>
                </a:lnTo>
                <a:close/>
              </a:path>
            </a:pathLst>
          </a:custGeom>
          <a:solidFill>
            <a:srgbClr val="0042FF"/>
          </a:solidFill>
          <a:ln w="9525" cap="flat">
            <a:noFill/>
            <a:prstDash val="solid"/>
            <a:miter/>
          </a:ln>
        </p:spPr>
        <p:txBody>
          <a:bodyPr rtlCol="0" anchor="ctr"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41" name="文本框 40"/>
          <p:cNvSpPr txBox="1"/>
          <p:nvPr/>
        </p:nvSpPr>
        <p:spPr>
          <a:xfrm>
            <a:off x="5644515" y="1498531"/>
            <a:ext cx="648970" cy="58356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en-US" altLang="zh-CN" sz="3200" dirty="0">
                <a:solidFill>
                  <a:srgbClr val="FFFFFF">
                    <a:alpha val="60000"/>
                  </a:srgbClr>
                </a:solidFill>
                <a:latin typeface="微软雅黑"/>
                <a:ea typeface="微软雅黑"/>
                <a:cs typeface="微软雅黑"/>
              </a:rPr>
              <a:t>04</a:t>
            </a:r>
            <a:endParaRPr lang="en-US" altLang="zh-CN" sz="3200" dirty="0">
              <a:solidFill>
                <a:srgbClr val="FFFFFF">
                  <a:alpha val="60000"/>
                </a:srgbClr>
              </a:solidFill>
              <a:latin typeface="微软雅黑"/>
              <a:ea typeface="微软雅黑"/>
              <a:cs typeface="微软雅黑"/>
            </a:endParaRPr>
          </a:p>
        </p:txBody>
      </p:sp>
      <p:sp>
        <p:nvSpPr>
          <p:cNvPr id="42" name="文本框 41"/>
          <p:cNvSpPr txBox="1"/>
          <p:nvPr/>
        </p:nvSpPr>
        <p:spPr>
          <a:xfrm>
            <a:off x="7843598" y="3568185"/>
            <a:ext cx="648970" cy="583565"/>
          </a:xfrm>
          <a:prstGeom prst="rect">
            <a:avLst/>
          </a:prstGeom>
          <a:noFill/>
        </p:spPr>
        <p:txBody>
          <a:bodyPr wrap="none" rtlCol="0">
            <a:spAutoFit/>
          </a:bodyPr>
          <a:lstStyle/>
          <a:p>
            <a:pPr algn="ctr">
              <a:defRPr>
                <a:solidFill>
                  <a:srgbClr val="383838"/>
                </a:solidFill>
                <a:latin typeface="微软雅黑"/>
                <a:ea typeface="微软雅黑"/>
                <a:cs typeface="微软雅黑"/>
              </a:defRPr>
            </a:pPr>
            <a:r>
              <a:rPr lang="en-US" altLang="zh-CN" sz="3200" dirty="0">
                <a:solidFill>
                  <a:srgbClr val="383838"/>
                </a:solidFill>
                <a:latin typeface="微软雅黑"/>
                <a:ea typeface="微软雅黑"/>
                <a:cs typeface="微软雅黑"/>
              </a:rPr>
              <a:t>01</a:t>
            </a:r>
            <a:endParaRPr lang="en-US" altLang="zh-CN" sz="3200" dirty="0">
              <a:solidFill>
                <a:srgbClr val="383838"/>
              </a:solidFill>
              <a:latin typeface="微软雅黑"/>
              <a:ea typeface="微软雅黑"/>
              <a:cs typeface="微软雅黑"/>
            </a:endParaRPr>
          </a:p>
        </p:txBody>
      </p:sp>
      <p:sp>
        <p:nvSpPr>
          <p:cNvPr id="43" name="文本框 42"/>
          <p:cNvSpPr txBox="1"/>
          <p:nvPr/>
        </p:nvSpPr>
        <p:spPr>
          <a:xfrm>
            <a:off x="3449594" y="3568185"/>
            <a:ext cx="648970" cy="583565"/>
          </a:xfrm>
          <a:prstGeom prst="rect">
            <a:avLst/>
          </a:prstGeom>
          <a:noFill/>
        </p:spPr>
        <p:txBody>
          <a:bodyPr wrap="none" rtlCol="0">
            <a:spAutoFit/>
          </a:bodyPr>
          <a:lstStyle/>
          <a:p>
            <a:pPr algn="ctr">
              <a:defRPr>
                <a:latin typeface="微软雅黑"/>
                <a:ea typeface="微软雅黑"/>
                <a:cs typeface="微软雅黑"/>
              </a:defRPr>
            </a:pPr>
            <a:r>
              <a:rPr lang="en-US" altLang="zh-CN" sz="3200" dirty="0">
                <a:solidFill>
                  <a:srgbClr val="383838"/>
                </a:solidFill>
                <a:latin typeface="微软雅黑"/>
                <a:ea typeface="微软雅黑"/>
                <a:cs typeface="微软雅黑"/>
              </a:rPr>
              <a:t>03</a:t>
            </a:r>
            <a:endParaRPr lang="en-US" altLang="zh-CN" sz="3200" dirty="0">
              <a:solidFill>
                <a:srgbClr val="383838"/>
              </a:solidFill>
              <a:latin typeface="微软雅黑"/>
              <a:ea typeface="微软雅黑"/>
              <a:cs typeface="微软雅黑"/>
            </a:endParaRPr>
          </a:p>
        </p:txBody>
      </p:sp>
      <p:sp>
        <p:nvSpPr>
          <p:cNvPr id="44" name="文本框 43"/>
          <p:cNvSpPr txBox="1"/>
          <p:nvPr/>
        </p:nvSpPr>
        <p:spPr>
          <a:xfrm>
            <a:off x="5771515" y="5783664"/>
            <a:ext cx="648970" cy="583565"/>
          </a:xfrm>
          <a:prstGeom prst="rect">
            <a:avLst/>
          </a:prstGeom>
          <a:noFill/>
        </p:spPr>
        <p:txBody>
          <a:bodyPr wrap="none" rtlCol="0">
            <a:spAutoFit/>
          </a:bodyPr>
          <a:lstStyle/>
          <a:p>
            <a:pPr algn="ctr">
              <a:defRPr>
                <a:solidFill>
                  <a:srgbClr val="383838"/>
                </a:solidFill>
                <a:latin typeface="微软雅黑"/>
                <a:ea typeface="微软雅黑"/>
                <a:cs typeface="微软雅黑"/>
              </a:defRPr>
            </a:pPr>
            <a:r>
              <a:rPr lang="en-US" altLang="zh-CN" sz="3200" dirty="0">
                <a:solidFill>
                  <a:srgbClr val="383838"/>
                </a:solidFill>
                <a:latin typeface="微软雅黑"/>
                <a:ea typeface="微软雅黑"/>
                <a:cs typeface="微软雅黑"/>
              </a:rPr>
              <a:t>02</a:t>
            </a:r>
            <a:endParaRPr lang="en-US" altLang="zh-CN" sz="3200" dirty="0">
              <a:solidFill>
                <a:srgbClr val="383838"/>
              </a:solidFill>
              <a:latin typeface="微软雅黑"/>
              <a:ea typeface="微软雅黑"/>
              <a:cs typeface="微软雅黑"/>
            </a:endParaRPr>
          </a:p>
        </p:txBody>
      </p:sp>
      <p:grpSp>
        <p:nvGrpSpPr>
          <p:cNvPr id="45" name="组合 44"/>
          <p:cNvGrpSpPr/>
          <p:nvPr/>
        </p:nvGrpSpPr>
        <p:grpSpPr>
          <a:xfrm>
            <a:off x="9131300" y="2818765"/>
            <a:ext cx="2397760" cy="581025"/>
            <a:chOff x="14236" y="4439"/>
            <a:chExt cx="3776" cy="915"/>
          </a:xfrm>
        </p:grpSpPr>
        <p:sp>
          <p:nvSpPr>
            <p:cNvPr id="46" name="文本框 45"/>
            <p:cNvSpPr txBox="1"/>
            <p:nvPr/>
          </p:nvSpPr>
          <p:spPr>
            <a:xfrm>
              <a:off x="14631" y="4726"/>
              <a:ext cx="1154" cy="628"/>
            </a:xfrm>
            <a:prstGeom prst="rect">
              <a:avLst/>
            </a:prstGeom>
            <a:noFill/>
          </p:spPr>
          <p:txBody>
            <a:bodyPr wrap="none">
              <a:spAutoFit/>
            </a:bodyPr>
            <a:lstStyle/>
            <a:p>
              <a:pPr>
                <a:defRPr>
                  <a:latin typeface="微软雅黑"/>
                  <a:ea typeface="微软雅黑"/>
                  <a:cs typeface="微软雅黑"/>
                </a:defRPr>
              </a:pPr>
              <a:r>
                <a:rPr lang="en-US" altLang="zh-CN" sz="2000" b="1" dirty="0">
                  <a:solidFill>
                    <a:srgbClr val="0042FF"/>
                  </a:solidFill>
                  <a:latin typeface="微软雅黑"/>
                  <a:ea typeface="微软雅黑"/>
                  <a:cs typeface="微软雅黑"/>
                </a:rPr>
                <a:t>20%</a:t>
              </a:r>
              <a:endParaRPr lang="en-US" altLang="zh-CN" sz="2000" b="1" dirty="0">
                <a:solidFill>
                  <a:srgbClr val="0042FF"/>
                </a:solidFill>
                <a:latin typeface="微软雅黑"/>
                <a:ea typeface="微软雅黑"/>
                <a:cs typeface="微软雅黑"/>
              </a:endParaRPr>
            </a:p>
          </p:txBody>
        </p:sp>
        <p:sp>
          <p:nvSpPr>
            <p:cNvPr id="47" name="文本框 46"/>
            <p:cNvSpPr txBox="1"/>
            <p:nvPr/>
          </p:nvSpPr>
          <p:spPr>
            <a:xfrm>
              <a:off x="14236" y="4439"/>
              <a:ext cx="1906" cy="400"/>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目标生产效率提升</a:t>
              </a:r>
              <a:endParaRPr lang="zh-CN" altLang="en-US" sz="1050" dirty="0">
                <a:solidFill>
                  <a:srgbClr val="383838"/>
                </a:solidFill>
                <a:latin typeface="微软雅黑"/>
                <a:ea typeface="微软雅黑"/>
                <a:cs typeface="微软雅黑"/>
              </a:endParaRPr>
            </a:p>
          </p:txBody>
        </p:sp>
        <p:sp>
          <p:nvSpPr>
            <p:cNvPr id="48" name="文本框 47"/>
            <p:cNvSpPr txBox="1"/>
            <p:nvPr/>
          </p:nvSpPr>
          <p:spPr>
            <a:xfrm>
              <a:off x="16684" y="4726"/>
              <a:ext cx="1154" cy="628"/>
            </a:xfrm>
            <a:prstGeom prst="rect">
              <a:avLst/>
            </a:prstGeom>
            <a:noFill/>
          </p:spPr>
          <p:txBody>
            <a:bodyPr wrap="none">
              <a:spAutoFit/>
            </a:bodyPr>
            <a:lstStyle/>
            <a:p>
              <a:pPr>
                <a:defRPr>
                  <a:latin typeface="微软雅黑"/>
                  <a:ea typeface="微软雅黑"/>
                  <a:cs typeface="微软雅黑"/>
                </a:defRPr>
              </a:pPr>
              <a:r>
                <a:rPr lang="en-US" altLang="zh-CN" sz="2000" b="1" dirty="0">
                  <a:solidFill>
                    <a:srgbClr val="0042FF"/>
                  </a:solidFill>
                  <a:latin typeface="微软雅黑"/>
                  <a:ea typeface="微软雅黑"/>
                  <a:cs typeface="微软雅黑"/>
                </a:rPr>
                <a:t>80%</a:t>
              </a:r>
              <a:endParaRPr lang="en-US" altLang="zh-CN" sz="2000" b="1" dirty="0">
                <a:solidFill>
                  <a:srgbClr val="0042FF"/>
                </a:solidFill>
                <a:latin typeface="微软雅黑"/>
                <a:ea typeface="微软雅黑"/>
                <a:cs typeface="微软雅黑"/>
              </a:endParaRPr>
            </a:p>
          </p:txBody>
        </p:sp>
        <p:sp>
          <p:nvSpPr>
            <p:cNvPr id="49" name="文本框 48"/>
            <p:cNvSpPr txBox="1"/>
            <p:nvPr/>
          </p:nvSpPr>
          <p:spPr>
            <a:xfrm>
              <a:off x="16509" y="4439"/>
              <a:ext cx="1503" cy="400"/>
            </a:xfrm>
            <a:prstGeom prst="rect">
              <a:avLst/>
            </a:prstGeom>
            <a:noFill/>
          </p:spPr>
          <p:txBody>
            <a:bodyPr wrap="none">
              <a:spAutoFit/>
            </a:bodyPr>
            <a:lstStyle/>
            <a:p>
              <a:pPr>
                <a:defRPr>
                  <a:latin typeface="微软雅黑"/>
                  <a:ea typeface="微软雅黑"/>
                  <a:cs typeface="微软雅黑"/>
                </a:defRPr>
              </a:pPr>
              <a:r>
                <a:rPr lang="zh-CN" altLang="en-US" sz="1050">
                  <a:solidFill>
                    <a:srgbClr val="383838"/>
                  </a:solidFill>
                  <a:latin typeface="微软雅黑"/>
                  <a:ea typeface="微软雅黑"/>
                  <a:cs typeface="微软雅黑"/>
                </a:rPr>
                <a:t>当前生产效率</a:t>
              </a:r>
              <a:endParaRPr lang="zh-CN" altLang="en-US" sz="1050" dirty="0">
                <a:solidFill>
                  <a:srgbClr val="383838"/>
                </a:solidFill>
                <a:latin typeface="微软雅黑"/>
                <a:ea typeface="微软雅黑"/>
                <a:cs typeface="微软雅黑"/>
              </a:endParaRPr>
            </a:p>
          </p:txBody>
        </p:sp>
        <p:cxnSp>
          <p:nvCxnSpPr>
            <p:cNvPr id="50" name="直接连接符 49"/>
            <p:cNvCxnSpPr/>
            <p:nvPr/>
          </p:nvCxnSpPr>
          <p:spPr>
            <a:xfrm>
              <a:off x="16294" y="4518"/>
              <a:ext cx="0" cy="728"/>
            </a:xfrm>
            <a:prstGeom prst="line">
              <a:avLst/>
            </a:prstGeom>
            <a:ln w="9525">
              <a:solidFill>
                <a:srgbClr val="DCDCDC"/>
              </a:solidFill>
            </a:ln>
          </p:spPr>
          <p:style>
            <a:lnRef idx="2">
              <a:srgbClr val="0042FF"/>
            </a:lnRef>
            <a:fillRef idx="0">
              <a:srgbClr val="0042FF"/>
            </a:fillRef>
            <a:effectRef idx="1">
              <a:srgbClr val="0042FF"/>
            </a:effectRef>
            <a:fontRef idx="minor">
              <a:srgbClr val="383838"/>
            </a:fontRef>
          </p:style>
        </p:cxnSp>
      </p:grpSp>
      <p:sp>
        <p:nvSpPr>
          <p:cNvPr id="51" name="矩形: 圆角 117"/>
          <p:cNvSpPr/>
          <p:nvPr/>
        </p:nvSpPr>
        <p:spPr>
          <a:xfrm>
            <a:off x="10831830" y="1318260"/>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目标设定</a:t>
            </a:r>
            <a:endParaRPr lang="zh-CN" altLang="en-US" sz="1000" dirty="0">
              <a:solidFill>
                <a:srgbClr val="FFFFFF"/>
              </a:solidFill>
              <a:latin typeface="微软雅黑"/>
              <a:ea typeface="微软雅黑"/>
              <a:cs typeface="微软雅黑"/>
            </a:endParaRPr>
          </a:p>
        </p:txBody>
      </p:sp>
      <p:sp>
        <p:nvSpPr>
          <p:cNvPr id="52" name="文本框 51"/>
          <p:cNvSpPr txBox="1"/>
          <p:nvPr/>
        </p:nvSpPr>
        <p:spPr>
          <a:xfrm>
            <a:off x="8800465" y="1307465"/>
            <a:ext cx="1979930" cy="254000"/>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明确改进目标，如提高生产效率</a:t>
            </a:r>
            <a:endParaRPr lang="zh-CN" altLang="en-US" sz="1050" dirty="0">
              <a:solidFill>
                <a:srgbClr val="383838"/>
              </a:solidFill>
              <a:latin typeface="微软雅黑"/>
              <a:ea typeface="微软雅黑"/>
              <a:cs typeface="微软雅黑"/>
            </a:endParaRPr>
          </a:p>
        </p:txBody>
      </p:sp>
      <p:sp>
        <p:nvSpPr>
          <p:cNvPr id="53" name="矩形: 圆角 119"/>
          <p:cNvSpPr/>
          <p:nvPr/>
        </p:nvSpPr>
        <p:spPr>
          <a:xfrm>
            <a:off x="10831830" y="1654175"/>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现状分析</a:t>
            </a:r>
            <a:endParaRPr lang="zh-CN" altLang="en-US" sz="1000" dirty="0">
              <a:solidFill>
                <a:srgbClr val="FFFFFF"/>
              </a:solidFill>
              <a:latin typeface="微软雅黑"/>
              <a:ea typeface="微软雅黑"/>
              <a:cs typeface="微软雅黑"/>
              <a:sym typeface="微软雅黑"/>
            </a:endParaRPr>
          </a:p>
        </p:txBody>
      </p:sp>
      <p:sp>
        <p:nvSpPr>
          <p:cNvPr id="54" name="文本框 53"/>
          <p:cNvSpPr txBox="1"/>
          <p:nvPr/>
        </p:nvSpPr>
        <p:spPr>
          <a:xfrm>
            <a:off x="9185275" y="1643380"/>
            <a:ext cx="1595120" cy="254000"/>
          </a:xfrm>
          <a:prstGeom prst="rect">
            <a:avLst/>
          </a:prstGeom>
          <a:noFill/>
        </p:spPr>
        <p:txBody>
          <a:bodyPr wrap="none">
            <a:spAutoFit/>
          </a:bodyPr>
          <a:lstStyle/>
          <a:p>
            <a:pPr>
              <a:defRPr>
                <a:latin typeface="微软雅黑"/>
                <a:ea typeface="微软雅黑"/>
                <a:cs typeface="微软雅黑"/>
              </a:defRPr>
            </a:pPr>
            <a:r>
              <a:rPr lang="zh-CN" altLang="en-US" sz="1050">
                <a:solidFill>
                  <a:srgbClr val="383838"/>
                </a:solidFill>
                <a:latin typeface="微软雅黑"/>
                <a:ea typeface="微软雅黑"/>
                <a:cs typeface="微软雅黑"/>
              </a:rPr>
              <a:t>收集并分析当前流程数据</a:t>
            </a:r>
            <a:endParaRPr lang="zh-CN" altLang="en-US" sz="1050" dirty="0">
              <a:solidFill>
                <a:srgbClr val="383838"/>
              </a:solidFill>
              <a:latin typeface="微软雅黑"/>
              <a:ea typeface="微软雅黑"/>
              <a:cs typeface="微软雅黑"/>
            </a:endParaRPr>
          </a:p>
        </p:txBody>
      </p:sp>
      <p:sp>
        <p:nvSpPr>
          <p:cNvPr id="55" name="矩形: 圆角 123"/>
          <p:cNvSpPr/>
          <p:nvPr/>
        </p:nvSpPr>
        <p:spPr>
          <a:xfrm>
            <a:off x="10831830" y="1989455"/>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原因分析</a:t>
            </a:r>
            <a:endParaRPr lang="zh-CN" altLang="en-US" sz="1000" dirty="0">
              <a:solidFill>
                <a:srgbClr val="FFFFFF"/>
              </a:solidFill>
              <a:latin typeface="微软雅黑"/>
              <a:ea typeface="微软雅黑"/>
              <a:cs typeface="微软雅黑"/>
              <a:sym typeface="微软雅黑"/>
            </a:endParaRPr>
          </a:p>
        </p:txBody>
      </p:sp>
      <p:sp>
        <p:nvSpPr>
          <p:cNvPr id="56" name="文本框 55"/>
          <p:cNvSpPr txBox="1"/>
          <p:nvPr/>
        </p:nvSpPr>
        <p:spPr>
          <a:xfrm>
            <a:off x="9057005" y="1978660"/>
            <a:ext cx="1723390" cy="254000"/>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识别问题根源，如设备老化</a:t>
            </a:r>
            <a:endParaRPr lang="zh-CN" altLang="en-US" sz="1050" dirty="0">
              <a:solidFill>
                <a:srgbClr val="383838"/>
              </a:solidFill>
              <a:latin typeface="微软雅黑"/>
              <a:ea typeface="微软雅黑"/>
              <a:cs typeface="微软雅黑"/>
            </a:endParaRPr>
          </a:p>
        </p:txBody>
      </p:sp>
      <p:sp>
        <p:nvSpPr>
          <p:cNvPr id="57" name="矩形: 圆角 125"/>
          <p:cNvSpPr/>
          <p:nvPr/>
        </p:nvSpPr>
        <p:spPr>
          <a:xfrm>
            <a:off x="10831830" y="2325370"/>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改进策略</a:t>
            </a:r>
            <a:endParaRPr lang="zh-CN" altLang="en-US" sz="1000" dirty="0">
              <a:solidFill>
                <a:srgbClr val="FFFFFF"/>
              </a:solidFill>
              <a:latin typeface="微软雅黑"/>
              <a:ea typeface="微软雅黑"/>
              <a:cs typeface="微软雅黑"/>
              <a:sym typeface="微软雅黑"/>
            </a:endParaRPr>
          </a:p>
        </p:txBody>
      </p:sp>
      <p:sp>
        <p:nvSpPr>
          <p:cNvPr id="58" name="文本框 57"/>
          <p:cNvSpPr txBox="1"/>
          <p:nvPr/>
        </p:nvSpPr>
        <p:spPr>
          <a:xfrm>
            <a:off x="9441815" y="2314575"/>
            <a:ext cx="1338580" cy="254000"/>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制定具体的改进措施</a:t>
            </a:r>
            <a:endParaRPr lang="zh-CN" altLang="en-US" sz="1050" dirty="0">
              <a:solidFill>
                <a:srgbClr val="383838"/>
              </a:solidFill>
              <a:latin typeface="微软雅黑"/>
              <a:ea typeface="微软雅黑"/>
              <a:cs typeface="微软雅黑"/>
            </a:endParaRPr>
          </a:p>
        </p:txBody>
      </p:sp>
      <p:grpSp>
        <p:nvGrpSpPr>
          <p:cNvPr id="59" name="组合 58"/>
          <p:cNvGrpSpPr/>
          <p:nvPr/>
        </p:nvGrpSpPr>
        <p:grpSpPr>
          <a:xfrm>
            <a:off x="9105657" y="5721618"/>
            <a:ext cx="2396979" cy="581317"/>
            <a:chOff x="14440" y="9010"/>
            <a:chExt cx="3775" cy="915"/>
          </a:xfrm>
        </p:grpSpPr>
        <p:sp>
          <p:nvSpPr>
            <p:cNvPr id="61" name="文本框 60"/>
            <p:cNvSpPr txBox="1"/>
            <p:nvPr/>
          </p:nvSpPr>
          <p:spPr>
            <a:xfrm>
              <a:off x="17033" y="9297"/>
              <a:ext cx="1182" cy="628"/>
            </a:xfrm>
            <a:prstGeom prst="rect">
              <a:avLst/>
            </a:prstGeom>
            <a:noFill/>
          </p:spPr>
          <p:txBody>
            <a:bodyPr wrap="none">
              <a:spAutoFit/>
            </a:bodyPr>
            <a:lstStyle/>
            <a:p>
              <a:pPr algn="r">
                <a:defRPr>
                  <a:latin typeface="微软雅黑"/>
                  <a:ea typeface="微软雅黑"/>
                  <a:cs typeface="微软雅黑"/>
                </a:defRPr>
              </a:pPr>
              <a:r>
                <a:rPr lang="en-US" altLang="zh-CN" sz="2000" b="1" dirty="0">
                  <a:solidFill>
                    <a:srgbClr val="0042FF"/>
                  </a:solidFill>
                  <a:latin typeface="微软雅黑"/>
                  <a:ea typeface="微软雅黑"/>
                  <a:cs typeface="微软雅黑"/>
                </a:rPr>
                <a:t>15</a:t>
              </a:r>
              <a:r>
                <a:rPr lang="zh-CN" altLang="en-US" sz="2000" b="1" dirty="0">
                  <a:solidFill>
                    <a:srgbClr val="0042FF"/>
                  </a:solidFill>
                  <a:latin typeface="微软雅黑"/>
                  <a:ea typeface="微软雅黑"/>
                  <a:cs typeface="微软雅黑"/>
                </a:rPr>
                <a:t>条</a:t>
              </a:r>
              <a:endParaRPr lang="zh-CN" altLang="en-US" sz="2000" b="1" dirty="0">
                <a:solidFill>
                  <a:srgbClr val="0042FF"/>
                </a:solidFill>
                <a:latin typeface="微软雅黑"/>
                <a:ea typeface="微软雅黑"/>
                <a:cs typeface="微软雅黑"/>
              </a:endParaRPr>
            </a:p>
          </p:txBody>
        </p:sp>
        <p:sp>
          <p:nvSpPr>
            <p:cNvPr id="62" name="文本框 61"/>
            <p:cNvSpPr txBox="1"/>
            <p:nvPr/>
          </p:nvSpPr>
          <p:spPr>
            <a:xfrm>
              <a:off x="16511" y="9010"/>
              <a:ext cx="1704" cy="400"/>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收集的反馈数量</a:t>
              </a:r>
              <a:endParaRPr lang="zh-CN" altLang="en-US" sz="1050" dirty="0">
                <a:solidFill>
                  <a:srgbClr val="383838"/>
                </a:solidFill>
                <a:latin typeface="微软雅黑"/>
                <a:ea typeface="微软雅黑"/>
                <a:cs typeface="微软雅黑"/>
              </a:endParaRPr>
            </a:p>
          </p:txBody>
        </p:sp>
        <p:sp>
          <p:nvSpPr>
            <p:cNvPr id="64" name="文本框 63"/>
            <p:cNvSpPr txBox="1"/>
            <p:nvPr/>
          </p:nvSpPr>
          <p:spPr>
            <a:xfrm>
              <a:off x="14760" y="9297"/>
              <a:ext cx="1182" cy="628"/>
            </a:xfrm>
            <a:prstGeom prst="rect">
              <a:avLst/>
            </a:prstGeom>
            <a:noFill/>
          </p:spPr>
          <p:txBody>
            <a:bodyPr wrap="none">
              <a:spAutoFit/>
            </a:bodyPr>
            <a:lstStyle/>
            <a:p>
              <a:pPr algn="r">
                <a:defRPr>
                  <a:latin typeface="微软雅黑"/>
                  <a:ea typeface="微软雅黑"/>
                  <a:cs typeface="微软雅黑"/>
                </a:defRPr>
              </a:pPr>
              <a:r>
                <a:rPr lang="en-US" altLang="zh-CN" sz="2000" b="1" dirty="0">
                  <a:solidFill>
                    <a:srgbClr val="0042FF"/>
                  </a:solidFill>
                  <a:latin typeface="微软雅黑"/>
                  <a:ea typeface="微软雅黑"/>
                  <a:cs typeface="微软雅黑"/>
                </a:rPr>
                <a:t>30</a:t>
              </a:r>
              <a:r>
                <a:rPr lang="zh-CN" altLang="en-US" sz="2000" b="1" dirty="0">
                  <a:solidFill>
                    <a:srgbClr val="0042FF"/>
                  </a:solidFill>
                  <a:latin typeface="微软雅黑"/>
                  <a:ea typeface="微软雅黑"/>
                  <a:cs typeface="微软雅黑"/>
                </a:rPr>
                <a:t>人</a:t>
              </a:r>
              <a:endParaRPr lang="zh-CN" altLang="en-US" sz="2000" b="1" dirty="0">
                <a:solidFill>
                  <a:srgbClr val="0042FF"/>
                </a:solidFill>
                <a:latin typeface="微软雅黑"/>
                <a:ea typeface="微软雅黑"/>
                <a:cs typeface="微软雅黑"/>
              </a:endParaRPr>
            </a:p>
          </p:txBody>
        </p:sp>
        <p:sp>
          <p:nvSpPr>
            <p:cNvPr id="65" name="文本框 64"/>
            <p:cNvSpPr txBox="1"/>
            <p:nvPr/>
          </p:nvSpPr>
          <p:spPr>
            <a:xfrm>
              <a:off x="14440" y="9010"/>
              <a:ext cx="1503" cy="400"/>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培训员工人数</a:t>
              </a:r>
              <a:endParaRPr lang="zh-CN" altLang="en-US" sz="1050" dirty="0">
                <a:solidFill>
                  <a:srgbClr val="383838"/>
                </a:solidFill>
                <a:latin typeface="微软雅黑"/>
                <a:ea typeface="微软雅黑"/>
                <a:cs typeface="微软雅黑"/>
              </a:endParaRPr>
            </a:p>
          </p:txBody>
        </p:sp>
        <p:cxnSp>
          <p:nvCxnSpPr>
            <p:cNvPr id="66" name="直接连接符 65"/>
            <p:cNvCxnSpPr/>
            <p:nvPr/>
          </p:nvCxnSpPr>
          <p:spPr>
            <a:xfrm>
              <a:off x="16261" y="9089"/>
              <a:ext cx="0" cy="728"/>
            </a:xfrm>
            <a:prstGeom prst="line">
              <a:avLst/>
            </a:prstGeom>
            <a:ln w="9525">
              <a:solidFill>
                <a:srgbClr val="DCDCDC"/>
              </a:solidFill>
            </a:ln>
          </p:spPr>
          <p:style>
            <a:lnRef idx="2">
              <a:srgbClr val="0042FF"/>
            </a:lnRef>
            <a:fillRef idx="0">
              <a:srgbClr val="0042FF"/>
            </a:fillRef>
            <a:effectRef idx="1">
              <a:srgbClr val="0042FF"/>
            </a:effectRef>
            <a:fontRef idx="minor">
              <a:srgbClr val="383838"/>
            </a:fontRef>
          </p:style>
        </p:cxnSp>
      </p:grpSp>
      <p:sp>
        <p:nvSpPr>
          <p:cNvPr id="67" name="矩形: 圆角 151"/>
          <p:cNvSpPr/>
          <p:nvPr/>
        </p:nvSpPr>
        <p:spPr>
          <a:xfrm>
            <a:off x="10831830" y="4277360"/>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改进实施</a:t>
            </a:r>
            <a:endParaRPr lang="zh-CN" altLang="en-US" sz="1000" dirty="0">
              <a:solidFill>
                <a:srgbClr val="FFFFFF"/>
              </a:solidFill>
              <a:latin typeface="微软雅黑"/>
              <a:ea typeface="微软雅黑"/>
              <a:cs typeface="微软雅黑"/>
            </a:endParaRPr>
          </a:p>
        </p:txBody>
      </p:sp>
      <p:sp>
        <p:nvSpPr>
          <p:cNvPr id="71" name="文本框 70"/>
          <p:cNvSpPr txBox="1"/>
          <p:nvPr/>
        </p:nvSpPr>
        <p:spPr>
          <a:xfrm>
            <a:off x="9313545" y="4267200"/>
            <a:ext cx="1466850" cy="254000"/>
          </a:xfrm>
          <a:prstGeom prst="rect">
            <a:avLst/>
          </a:prstGeom>
          <a:noFill/>
        </p:spPr>
        <p:txBody>
          <a:bodyPr wrap="none">
            <a:spAutoFit/>
          </a:bodyPr>
          <a:lstStyle/>
          <a:p>
            <a:pPr algn="r">
              <a:defRPr>
                <a:latin typeface="微软雅黑"/>
                <a:ea typeface="微软雅黑"/>
                <a:cs typeface="微软雅黑"/>
              </a:defRPr>
            </a:pPr>
            <a:r>
              <a:rPr lang="zh-CN" altLang="en-US" sz="1050">
                <a:solidFill>
                  <a:srgbClr val="383838"/>
                </a:solidFill>
                <a:latin typeface="微软雅黑"/>
                <a:ea typeface="微软雅黑"/>
                <a:cs typeface="微软雅黑"/>
              </a:rPr>
              <a:t>按照计划执行改进措施</a:t>
            </a:r>
            <a:endParaRPr lang="zh-CN" altLang="en-US" sz="1050" dirty="0">
              <a:solidFill>
                <a:srgbClr val="383838"/>
              </a:solidFill>
              <a:latin typeface="微软雅黑"/>
              <a:ea typeface="微软雅黑"/>
              <a:cs typeface="微软雅黑"/>
            </a:endParaRPr>
          </a:p>
        </p:txBody>
      </p:sp>
      <p:sp>
        <p:nvSpPr>
          <p:cNvPr id="72" name="矩形: 圆角 149"/>
          <p:cNvSpPr/>
          <p:nvPr/>
        </p:nvSpPr>
        <p:spPr>
          <a:xfrm>
            <a:off x="10831830" y="4613275"/>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员工培训</a:t>
            </a:r>
            <a:endParaRPr lang="zh-CN" altLang="en-US" sz="1000" dirty="0">
              <a:solidFill>
                <a:srgbClr val="FFFFFF"/>
              </a:solidFill>
              <a:latin typeface="微软雅黑"/>
              <a:ea typeface="微软雅黑"/>
              <a:cs typeface="微软雅黑"/>
            </a:endParaRPr>
          </a:p>
        </p:txBody>
      </p:sp>
      <p:sp>
        <p:nvSpPr>
          <p:cNvPr id="73" name="文本框 72"/>
          <p:cNvSpPr txBox="1"/>
          <p:nvPr/>
        </p:nvSpPr>
        <p:spPr>
          <a:xfrm>
            <a:off x="9313545" y="4603115"/>
            <a:ext cx="1466850" cy="254000"/>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对员工进行新流程培训</a:t>
            </a:r>
            <a:endParaRPr lang="zh-CN" altLang="en-US" sz="1050" dirty="0">
              <a:solidFill>
                <a:srgbClr val="383838"/>
              </a:solidFill>
              <a:latin typeface="微软雅黑"/>
              <a:ea typeface="微软雅黑"/>
              <a:cs typeface="微软雅黑"/>
            </a:endParaRPr>
          </a:p>
        </p:txBody>
      </p:sp>
      <p:sp>
        <p:nvSpPr>
          <p:cNvPr id="74" name="矩形: 圆角 147"/>
          <p:cNvSpPr/>
          <p:nvPr/>
        </p:nvSpPr>
        <p:spPr>
          <a:xfrm>
            <a:off x="10831830" y="4948555"/>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流程测试</a:t>
            </a:r>
            <a:endParaRPr lang="zh-CN" altLang="en-US" sz="1000" dirty="0">
              <a:solidFill>
                <a:srgbClr val="FFFFFF"/>
              </a:solidFill>
              <a:latin typeface="微软雅黑"/>
              <a:ea typeface="微软雅黑"/>
              <a:cs typeface="微软雅黑"/>
            </a:endParaRPr>
          </a:p>
        </p:txBody>
      </p:sp>
      <p:sp>
        <p:nvSpPr>
          <p:cNvPr id="75" name="文本框 74"/>
          <p:cNvSpPr txBox="1"/>
          <p:nvPr/>
        </p:nvSpPr>
        <p:spPr>
          <a:xfrm>
            <a:off x="9185275" y="4938395"/>
            <a:ext cx="1595120" cy="254000"/>
          </a:xfrm>
          <a:prstGeom prst="rect">
            <a:avLst/>
          </a:prstGeom>
          <a:noFill/>
        </p:spPr>
        <p:txBody>
          <a:bodyPr wrap="none">
            <a:spAutoFit/>
          </a:bodyPr>
          <a:lstStyle/>
          <a:p>
            <a:pPr algn="r">
              <a:defRPr>
                <a:latin typeface="微软雅黑"/>
                <a:ea typeface="微软雅黑"/>
                <a:cs typeface="微软雅黑"/>
              </a:defRPr>
            </a:pPr>
            <a:r>
              <a:rPr lang="zh-CN" altLang="en-US" sz="1050">
                <a:solidFill>
                  <a:srgbClr val="383838"/>
                </a:solidFill>
                <a:latin typeface="微软雅黑"/>
                <a:ea typeface="微软雅黑"/>
                <a:cs typeface="微软雅黑"/>
              </a:rPr>
              <a:t>在控制环境中测试新流程</a:t>
            </a:r>
            <a:endParaRPr lang="zh-CN" altLang="en-US" sz="1050" dirty="0">
              <a:solidFill>
                <a:srgbClr val="383838"/>
              </a:solidFill>
              <a:latin typeface="微软雅黑"/>
              <a:ea typeface="微软雅黑"/>
              <a:cs typeface="微软雅黑"/>
            </a:endParaRPr>
          </a:p>
        </p:txBody>
      </p:sp>
      <p:sp>
        <p:nvSpPr>
          <p:cNvPr id="76" name="矩形: 圆角 145"/>
          <p:cNvSpPr/>
          <p:nvPr/>
        </p:nvSpPr>
        <p:spPr>
          <a:xfrm>
            <a:off x="10831830" y="5284470"/>
            <a:ext cx="632460" cy="233680"/>
          </a:xfrm>
          <a:prstGeom prst="roundRect">
            <a:avLst/>
          </a:prstGeom>
          <a:solidFill>
            <a:srgbClr val="3368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反馈收集</a:t>
            </a:r>
            <a:endParaRPr lang="zh-CN" altLang="en-US" sz="1000" dirty="0">
              <a:solidFill>
                <a:srgbClr val="FFFFFF"/>
              </a:solidFill>
              <a:latin typeface="微软雅黑"/>
              <a:ea typeface="微软雅黑"/>
              <a:cs typeface="微软雅黑"/>
            </a:endParaRPr>
          </a:p>
        </p:txBody>
      </p:sp>
      <p:sp>
        <p:nvSpPr>
          <p:cNvPr id="77" name="文本框 76"/>
          <p:cNvSpPr txBox="1"/>
          <p:nvPr/>
        </p:nvSpPr>
        <p:spPr>
          <a:xfrm>
            <a:off x="9313545" y="5274310"/>
            <a:ext cx="1466850" cy="254000"/>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收集员工和客户的反馈</a:t>
            </a:r>
            <a:endParaRPr lang="zh-CN" altLang="en-US" sz="1050" dirty="0">
              <a:solidFill>
                <a:srgbClr val="383838"/>
              </a:solidFill>
              <a:latin typeface="微软雅黑"/>
              <a:ea typeface="微软雅黑"/>
              <a:cs typeface="微软雅黑"/>
            </a:endParaRPr>
          </a:p>
        </p:txBody>
      </p:sp>
      <p:sp>
        <p:nvSpPr>
          <p:cNvPr id="78" name="文本框 77"/>
          <p:cNvSpPr txBox="1"/>
          <p:nvPr/>
        </p:nvSpPr>
        <p:spPr>
          <a:xfrm>
            <a:off x="1990336" y="5794262"/>
            <a:ext cx="982980" cy="252730"/>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预期生产效率</a:t>
            </a:r>
            <a:endParaRPr lang="zh-CN" altLang="en-US" sz="1050" dirty="0">
              <a:solidFill>
                <a:srgbClr val="383838"/>
              </a:solidFill>
              <a:latin typeface="微软雅黑"/>
              <a:ea typeface="微软雅黑"/>
              <a:cs typeface="微软雅黑"/>
            </a:endParaRPr>
          </a:p>
        </p:txBody>
      </p:sp>
      <p:sp>
        <p:nvSpPr>
          <p:cNvPr id="79" name="文本框 78"/>
          <p:cNvSpPr txBox="1"/>
          <p:nvPr/>
        </p:nvSpPr>
        <p:spPr>
          <a:xfrm>
            <a:off x="2159246" y="5976104"/>
            <a:ext cx="732790" cy="398780"/>
          </a:xfrm>
          <a:prstGeom prst="rect">
            <a:avLst/>
          </a:prstGeom>
          <a:noFill/>
        </p:spPr>
        <p:txBody>
          <a:bodyPr wrap="none">
            <a:spAutoFit/>
          </a:bodyPr>
          <a:lstStyle/>
          <a:p>
            <a:pPr algn="r">
              <a:defRPr>
                <a:latin typeface="微软雅黑"/>
                <a:ea typeface="微软雅黑"/>
                <a:cs typeface="微软雅黑"/>
              </a:defRPr>
            </a:pPr>
            <a:r>
              <a:rPr lang="en-US" altLang="zh-CN" sz="2000" b="1" dirty="0">
                <a:solidFill>
                  <a:srgbClr val="0042FF"/>
                </a:solidFill>
                <a:latin typeface="微软雅黑"/>
                <a:ea typeface="微软雅黑"/>
                <a:cs typeface="微软雅黑"/>
              </a:rPr>
              <a:t>82%</a:t>
            </a:r>
            <a:endParaRPr lang="en-US" altLang="zh-CN" sz="2000" b="1" dirty="0">
              <a:solidFill>
                <a:srgbClr val="0042FF"/>
              </a:solidFill>
              <a:latin typeface="微软雅黑"/>
              <a:ea typeface="微软雅黑"/>
              <a:cs typeface="微软雅黑"/>
            </a:endParaRPr>
          </a:p>
        </p:txBody>
      </p:sp>
      <p:sp>
        <p:nvSpPr>
          <p:cNvPr id="80" name="文本框 79"/>
          <p:cNvSpPr txBox="1"/>
          <p:nvPr/>
        </p:nvSpPr>
        <p:spPr>
          <a:xfrm>
            <a:off x="827499" y="5976104"/>
            <a:ext cx="732790" cy="398780"/>
          </a:xfrm>
          <a:prstGeom prst="rect">
            <a:avLst/>
          </a:prstGeom>
          <a:noFill/>
        </p:spPr>
        <p:txBody>
          <a:bodyPr wrap="none">
            <a:spAutoFit/>
          </a:bodyPr>
          <a:lstStyle/>
          <a:p>
            <a:pPr algn="r">
              <a:defRPr>
                <a:latin typeface="微软雅黑"/>
                <a:ea typeface="微软雅黑"/>
                <a:cs typeface="微软雅黑"/>
              </a:defRPr>
            </a:pPr>
            <a:r>
              <a:rPr lang="en-US" altLang="zh-CN" sz="2000" b="1" dirty="0">
                <a:solidFill>
                  <a:srgbClr val="0042FF"/>
                </a:solidFill>
                <a:latin typeface="微软雅黑"/>
                <a:ea typeface="微软雅黑"/>
                <a:cs typeface="微软雅黑"/>
              </a:rPr>
              <a:t>85%</a:t>
            </a:r>
            <a:endParaRPr lang="en-US" altLang="zh-CN" sz="2000" b="1" dirty="0">
              <a:solidFill>
                <a:srgbClr val="0042FF"/>
              </a:solidFill>
              <a:latin typeface="微软雅黑"/>
              <a:ea typeface="微软雅黑"/>
              <a:cs typeface="微软雅黑"/>
            </a:endParaRPr>
          </a:p>
        </p:txBody>
      </p:sp>
      <p:sp>
        <p:nvSpPr>
          <p:cNvPr id="81" name="文本框 80"/>
          <p:cNvSpPr txBox="1"/>
          <p:nvPr/>
        </p:nvSpPr>
        <p:spPr>
          <a:xfrm>
            <a:off x="728102" y="5794262"/>
            <a:ext cx="954107" cy="253916"/>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实际生产效率</a:t>
            </a:r>
            <a:endParaRPr lang="zh-CN" altLang="en-US" sz="1050" dirty="0">
              <a:solidFill>
                <a:srgbClr val="383838"/>
              </a:solidFill>
              <a:latin typeface="微软雅黑"/>
              <a:ea typeface="微软雅黑"/>
              <a:cs typeface="微软雅黑"/>
            </a:endParaRPr>
          </a:p>
        </p:txBody>
      </p:sp>
      <p:cxnSp>
        <p:nvCxnSpPr>
          <p:cNvPr id="82" name="直接连接符 81"/>
          <p:cNvCxnSpPr/>
          <p:nvPr/>
        </p:nvCxnSpPr>
        <p:spPr>
          <a:xfrm>
            <a:off x="1833646" y="5838311"/>
            <a:ext cx="0" cy="461963"/>
          </a:xfrm>
          <a:prstGeom prst="line">
            <a:avLst/>
          </a:prstGeom>
          <a:ln w="9525">
            <a:solidFill>
              <a:srgbClr val="DCDCDC"/>
            </a:solidFill>
          </a:ln>
        </p:spPr>
        <p:style>
          <a:lnRef idx="2">
            <a:srgbClr val="0042FF"/>
          </a:lnRef>
          <a:fillRef idx="0">
            <a:srgbClr val="0042FF"/>
          </a:fillRef>
          <a:effectRef idx="1">
            <a:srgbClr val="0042FF"/>
          </a:effectRef>
          <a:fontRef idx="minor">
            <a:srgbClr val="383838"/>
          </a:fontRef>
        </p:style>
      </p:cxnSp>
      <p:sp>
        <p:nvSpPr>
          <p:cNvPr id="83" name="矩形: 圆角 162"/>
          <p:cNvSpPr/>
          <p:nvPr/>
        </p:nvSpPr>
        <p:spPr>
          <a:xfrm>
            <a:off x="751483" y="4350032"/>
            <a:ext cx="632347" cy="233691"/>
          </a:xfrm>
          <a:prstGeom prst="roundRect">
            <a:avLst/>
          </a:prstGeom>
          <a:solidFill>
            <a:srgbClr val="B3D4FE"/>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结果监控</a:t>
            </a:r>
            <a:endParaRPr lang="zh-CN" altLang="en-US" sz="1000" dirty="0">
              <a:solidFill>
                <a:srgbClr val="383838"/>
              </a:solidFill>
              <a:latin typeface="微软雅黑"/>
              <a:ea typeface="微软雅黑"/>
              <a:cs typeface="微软雅黑"/>
            </a:endParaRPr>
          </a:p>
        </p:txBody>
      </p:sp>
      <p:sp>
        <p:nvSpPr>
          <p:cNvPr id="84" name="文本框 83"/>
          <p:cNvSpPr txBox="1"/>
          <p:nvPr/>
        </p:nvSpPr>
        <p:spPr>
          <a:xfrm>
            <a:off x="1433578" y="4360239"/>
            <a:ext cx="1338828" cy="253916"/>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监控改进措施的效果</a:t>
            </a:r>
            <a:endParaRPr lang="zh-CN" altLang="en-US" sz="1050" dirty="0">
              <a:solidFill>
                <a:srgbClr val="383838"/>
              </a:solidFill>
              <a:latin typeface="微软雅黑"/>
              <a:ea typeface="微软雅黑"/>
              <a:cs typeface="微软雅黑"/>
            </a:endParaRPr>
          </a:p>
        </p:txBody>
      </p:sp>
      <p:sp>
        <p:nvSpPr>
          <p:cNvPr id="85" name="矩形: 圆角 164"/>
          <p:cNvSpPr/>
          <p:nvPr/>
        </p:nvSpPr>
        <p:spPr>
          <a:xfrm>
            <a:off x="751483" y="4685679"/>
            <a:ext cx="632347" cy="233691"/>
          </a:xfrm>
          <a:prstGeom prst="roundRect">
            <a:avLst/>
          </a:prstGeom>
          <a:solidFill>
            <a:srgbClr val="B3D4FE"/>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数据分析</a:t>
            </a:r>
            <a:endParaRPr lang="zh-CN" altLang="en-US" sz="1000" dirty="0">
              <a:solidFill>
                <a:srgbClr val="383838"/>
              </a:solidFill>
              <a:latin typeface="微软雅黑"/>
              <a:ea typeface="微软雅黑"/>
              <a:cs typeface="微软雅黑"/>
            </a:endParaRPr>
          </a:p>
        </p:txBody>
      </p:sp>
      <p:sp>
        <p:nvSpPr>
          <p:cNvPr id="86" name="文本框 85"/>
          <p:cNvSpPr txBox="1"/>
          <p:nvPr/>
        </p:nvSpPr>
        <p:spPr>
          <a:xfrm>
            <a:off x="1387987" y="4695886"/>
            <a:ext cx="1649730" cy="252730"/>
          </a:xfrm>
          <a:prstGeom prst="rect">
            <a:avLst/>
          </a:prstGeom>
          <a:noFill/>
        </p:spPr>
        <p:txBody>
          <a:bodyPr wrap="none">
            <a:spAutoFit/>
          </a:bodyPr>
          <a:lstStyle/>
          <a:p>
            <a:pPr algn="l">
              <a:defRPr>
                <a:latin typeface="微软雅黑"/>
                <a:ea typeface="微软雅黑"/>
                <a:cs typeface="微软雅黑"/>
              </a:defRPr>
            </a:pPr>
            <a:r>
              <a:rPr lang="zh-CN" altLang="en-US" sz="1050" dirty="0">
                <a:solidFill>
                  <a:srgbClr val="383838"/>
                </a:solidFill>
                <a:latin typeface="微软雅黑"/>
                <a:ea typeface="微软雅黑"/>
                <a:cs typeface="微软雅黑"/>
              </a:rPr>
              <a:t>分析改进后的数据与预期</a:t>
            </a:r>
            <a:endParaRPr lang="zh-CN" altLang="en-US" sz="1050" dirty="0">
              <a:solidFill>
                <a:srgbClr val="383838"/>
              </a:solidFill>
              <a:latin typeface="微软雅黑"/>
              <a:ea typeface="微软雅黑"/>
              <a:cs typeface="微软雅黑"/>
            </a:endParaRPr>
          </a:p>
        </p:txBody>
      </p:sp>
      <p:sp>
        <p:nvSpPr>
          <p:cNvPr id="87" name="矩形: 圆角 166"/>
          <p:cNvSpPr/>
          <p:nvPr/>
        </p:nvSpPr>
        <p:spPr>
          <a:xfrm>
            <a:off x="751483" y="5021326"/>
            <a:ext cx="632347" cy="233691"/>
          </a:xfrm>
          <a:prstGeom prst="roundRect">
            <a:avLst/>
          </a:prstGeom>
          <a:solidFill>
            <a:srgbClr val="B3D4FE"/>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成效评估</a:t>
            </a:r>
            <a:endParaRPr lang="zh-CN" altLang="en-US" sz="1000" dirty="0">
              <a:solidFill>
                <a:srgbClr val="383838"/>
              </a:solidFill>
              <a:latin typeface="微软雅黑"/>
              <a:ea typeface="微软雅黑"/>
              <a:cs typeface="微软雅黑"/>
            </a:endParaRPr>
          </a:p>
        </p:txBody>
      </p:sp>
      <p:sp>
        <p:nvSpPr>
          <p:cNvPr id="88" name="文本框 87"/>
          <p:cNvSpPr txBox="1"/>
          <p:nvPr/>
        </p:nvSpPr>
        <p:spPr>
          <a:xfrm>
            <a:off x="1398118" y="5031533"/>
            <a:ext cx="1783080" cy="252730"/>
          </a:xfrm>
          <a:prstGeom prst="rect">
            <a:avLst/>
          </a:prstGeom>
          <a:noFill/>
        </p:spPr>
        <p:txBody>
          <a:bodyPr wrap="none">
            <a:spAutoFit/>
          </a:bodyPr>
          <a:lstStyle/>
          <a:p>
            <a:pPr algn="r">
              <a:defRPr>
                <a:latin typeface="微软雅黑"/>
                <a:ea typeface="微软雅黑"/>
                <a:cs typeface="微软雅黑"/>
              </a:defRPr>
            </a:pPr>
            <a:r>
              <a:rPr lang="zh-CN" altLang="en-US" sz="1050" dirty="0">
                <a:solidFill>
                  <a:srgbClr val="383838"/>
                </a:solidFill>
                <a:latin typeface="微软雅黑"/>
                <a:ea typeface="微软雅黑"/>
                <a:cs typeface="微软雅黑"/>
              </a:rPr>
              <a:t>评估实际成效与目标的差距</a:t>
            </a:r>
            <a:endParaRPr lang="zh-CN" altLang="en-US" sz="1050" dirty="0">
              <a:solidFill>
                <a:srgbClr val="383838"/>
              </a:solidFill>
              <a:latin typeface="微软雅黑"/>
              <a:ea typeface="微软雅黑"/>
              <a:cs typeface="微软雅黑"/>
            </a:endParaRPr>
          </a:p>
        </p:txBody>
      </p:sp>
      <p:sp>
        <p:nvSpPr>
          <p:cNvPr id="89" name="矩形: 圆角 168"/>
          <p:cNvSpPr/>
          <p:nvPr/>
        </p:nvSpPr>
        <p:spPr>
          <a:xfrm>
            <a:off x="751483" y="5356972"/>
            <a:ext cx="632347" cy="233691"/>
          </a:xfrm>
          <a:prstGeom prst="roundRect">
            <a:avLst/>
          </a:prstGeom>
          <a:solidFill>
            <a:srgbClr val="B3D4FE"/>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问题识别</a:t>
            </a:r>
            <a:endParaRPr lang="zh-CN" altLang="en-US" sz="1000" dirty="0">
              <a:solidFill>
                <a:srgbClr val="383838"/>
              </a:solidFill>
              <a:latin typeface="微软雅黑"/>
              <a:ea typeface="微软雅黑"/>
              <a:cs typeface="微软雅黑"/>
            </a:endParaRPr>
          </a:p>
        </p:txBody>
      </p:sp>
      <p:sp>
        <p:nvSpPr>
          <p:cNvPr id="90" name="文本框 89"/>
          <p:cNvSpPr txBox="1"/>
          <p:nvPr/>
        </p:nvSpPr>
        <p:spPr>
          <a:xfrm>
            <a:off x="1433578" y="5367179"/>
            <a:ext cx="1595309" cy="253916"/>
          </a:xfrm>
          <a:prstGeom prst="rect">
            <a:avLst/>
          </a:prstGeom>
          <a:noFill/>
        </p:spPr>
        <p:txBody>
          <a:bodyPr wrap="none">
            <a:spAutoFit/>
          </a:bodyPr>
          <a:lstStyle/>
          <a:p>
            <a:pPr algn="r">
              <a:defRPr>
                <a:latin typeface="微软雅黑"/>
                <a:ea typeface="微软雅黑"/>
                <a:cs typeface="微软雅黑"/>
              </a:defRPr>
            </a:pPr>
            <a:r>
              <a:rPr lang="zh-CN" altLang="en-US" sz="1050">
                <a:solidFill>
                  <a:srgbClr val="383838"/>
                </a:solidFill>
                <a:latin typeface="微软雅黑"/>
                <a:ea typeface="微软雅黑"/>
                <a:cs typeface="微软雅黑"/>
              </a:rPr>
              <a:t>识别实施过程中的新问题</a:t>
            </a:r>
            <a:endParaRPr lang="zh-CN" altLang="en-US" sz="1050" dirty="0">
              <a:solidFill>
                <a:srgbClr val="383838"/>
              </a:solidFill>
              <a:latin typeface="微软雅黑"/>
              <a:ea typeface="微软雅黑"/>
              <a:cs typeface="微软雅黑"/>
            </a:endParaRPr>
          </a:p>
        </p:txBody>
      </p:sp>
      <p:sp>
        <p:nvSpPr>
          <p:cNvPr id="91" name="文本框 90"/>
          <p:cNvSpPr txBox="1"/>
          <p:nvPr/>
        </p:nvSpPr>
        <p:spPr>
          <a:xfrm>
            <a:off x="648724" y="2762772"/>
            <a:ext cx="1082348" cy="253916"/>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标准化流程数量</a:t>
            </a:r>
            <a:endParaRPr lang="zh-CN" altLang="en-US" sz="1050" dirty="0">
              <a:solidFill>
                <a:srgbClr val="383838"/>
              </a:solidFill>
              <a:latin typeface="微软雅黑"/>
              <a:ea typeface="微软雅黑"/>
              <a:cs typeface="微软雅黑"/>
            </a:endParaRPr>
          </a:p>
        </p:txBody>
      </p:sp>
      <p:sp>
        <p:nvSpPr>
          <p:cNvPr id="92" name="文本框 91"/>
          <p:cNvSpPr txBox="1"/>
          <p:nvPr/>
        </p:nvSpPr>
        <p:spPr>
          <a:xfrm>
            <a:off x="816364" y="2944614"/>
            <a:ext cx="593725" cy="398780"/>
          </a:xfrm>
          <a:prstGeom prst="rect">
            <a:avLst/>
          </a:prstGeom>
          <a:noFill/>
        </p:spPr>
        <p:txBody>
          <a:bodyPr wrap="none">
            <a:spAutoFit/>
          </a:bodyPr>
          <a:lstStyle/>
          <a:p>
            <a:pPr>
              <a:defRPr>
                <a:latin typeface="微软雅黑"/>
                <a:ea typeface="微软雅黑"/>
                <a:cs typeface="微软雅黑"/>
              </a:defRPr>
            </a:pPr>
            <a:r>
              <a:rPr lang="en-US" altLang="zh-CN" sz="2000" b="1" dirty="0">
                <a:solidFill>
                  <a:srgbClr val="0042FF"/>
                </a:solidFill>
                <a:latin typeface="微软雅黑"/>
                <a:ea typeface="微软雅黑"/>
                <a:cs typeface="微软雅黑"/>
              </a:rPr>
              <a:t>4</a:t>
            </a:r>
            <a:r>
              <a:rPr lang="zh-CN" altLang="en-US" sz="2000" b="1" dirty="0">
                <a:solidFill>
                  <a:srgbClr val="0042FF"/>
                </a:solidFill>
                <a:latin typeface="微软雅黑"/>
                <a:ea typeface="微软雅黑"/>
                <a:cs typeface="微软雅黑"/>
              </a:rPr>
              <a:t>个</a:t>
            </a:r>
            <a:endParaRPr lang="zh-CN" altLang="en-US" sz="2000" b="1" dirty="0">
              <a:solidFill>
                <a:srgbClr val="0042FF"/>
              </a:solidFill>
              <a:latin typeface="微软雅黑"/>
              <a:ea typeface="微软雅黑"/>
              <a:cs typeface="微软雅黑"/>
            </a:endParaRPr>
          </a:p>
        </p:txBody>
      </p:sp>
      <p:sp>
        <p:nvSpPr>
          <p:cNvPr id="93" name="文本框 92"/>
          <p:cNvSpPr txBox="1"/>
          <p:nvPr/>
        </p:nvSpPr>
        <p:spPr>
          <a:xfrm>
            <a:off x="2132871" y="2944614"/>
            <a:ext cx="593725" cy="398780"/>
          </a:xfrm>
          <a:prstGeom prst="rect">
            <a:avLst/>
          </a:prstGeom>
          <a:noFill/>
        </p:spPr>
        <p:txBody>
          <a:bodyPr wrap="none">
            <a:spAutoFit/>
          </a:bodyPr>
          <a:lstStyle/>
          <a:p>
            <a:pPr>
              <a:defRPr>
                <a:latin typeface="微软雅黑"/>
                <a:ea typeface="微软雅黑"/>
                <a:cs typeface="微软雅黑"/>
              </a:defRPr>
            </a:pPr>
            <a:r>
              <a:rPr lang="en-US" altLang="zh-CN" sz="2000" b="1" dirty="0">
                <a:solidFill>
                  <a:srgbClr val="0042FF"/>
                </a:solidFill>
                <a:latin typeface="微软雅黑"/>
                <a:ea typeface="微软雅黑"/>
                <a:cs typeface="微软雅黑"/>
              </a:rPr>
              <a:t>2</a:t>
            </a:r>
            <a:r>
              <a:rPr lang="zh-CN" altLang="en-US" sz="2000" b="1" dirty="0">
                <a:solidFill>
                  <a:srgbClr val="0042FF"/>
                </a:solidFill>
                <a:latin typeface="微软雅黑"/>
                <a:ea typeface="微软雅黑"/>
                <a:cs typeface="微软雅黑"/>
              </a:rPr>
              <a:t>个</a:t>
            </a:r>
            <a:endParaRPr lang="zh-CN" altLang="en-US" sz="2000" b="1" dirty="0">
              <a:solidFill>
                <a:srgbClr val="0042FF"/>
              </a:solidFill>
              <a:latin typeface="微软雅黑"/>
              <a:ea typeface="微软雅黑"/>
              <a:cs typeface="微软雅黑"/>
            </a:endParaRPr>
          </a:p>
        </p:txBody>
      </p:sp>
      <p:sp>
        <p:nvSpPr>
          <p:cNvPr id="94" name="文本框 93"/>
          <p:cNvSpPr txBox="1"/>
          <p:nvPr/>
        </p:nvSpPr>
        <p:spPr>
          <a:xfrm>
            <a:off x="1934751" y="2762772"/>
            <a:ext cx="1082348" cy="253916"/>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解决的问题数量</a:t>
            </a:r>
            <a:endParaRPr lang="zh-CN" altLang="en-US" sz="1050" dirty="0">
              <a:solidFill>
                <a:srgbClr val="383838"/>
              </a:solidFill>
              <a:latin typeface="微软雅黑"/>
              <a:ea typeface="微软雅黑"/>
              <a:cs typeface="微软雅黑"/>
            </a:endParaRPr>
          </a:p>
        </p:txBody>
      </p:sp>
      <p:cxnSp>
        <p:nvCxnSpPr>
          <p:cNvPr id="95" name="直接连接符 94"/>
          <p:cNvCxnSpPr/>
          <p:nvPr/>
        </p:nvCxnSpPr>
        <p:spPr>
          <a:xfrm>
            <a:off x="1823954" y="2812536"/>
            <a:ext cx="0" cy="461963"/>
          </a:xfrm>
          <a:prstGeom prst="line">
            <a:avLst/>
          </a:prstGeom>
          <a:ln w="9525">
            <a:solidFill>
              <a:srgbClr val="DCDCDC"/>
            </a:solidFill>
          </a:ln>
        </p:spPr>
        <p:style>
          <a:lnRef idx="2">
            <a:srgbClr val="0042FF"/>
          </a:lnRef>
          <a:fillRef idx="0">
            <a:srgbClr val="0042FF"/>
          </a:fillRef>
          <a:effectRef idx="1">
            <a:srgbClr val="0042FF"/>
          </a:effectRef>
          <a:fontRef idx="minor">
            <a:srgbClr val="383838"/>
          </a:fontRef>
        </p:style>
      </p:cxnSp>
      <p:sp>
        <p:nvSpPr>
          <p:cNvPr id="96" name="矩形: 圆角 187"/>
          <p:cNvSpPr/>
          <p:nvPr/>
        </p:nvSpPr>
        <p:spPr>
          <a:xfrm>
            <a:off x="751483" y="1318542"/>
            <a:ext cx="632347" cy="233691"/>
          </a:xfrm>
          <a:prstGeom prst="roundRect">
            <a:avLst/>
          </a:prstGeom>
          <a:solidFill>
            <a:srgbClr val="0042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标准化</a:t>
            </a:r>
            <a:endParaRPr lang="zh-CN" altLang="en-US" sz="1000" dirty="0">
              <a:solidFill>
                <a:srgbClr val="FFFFFF"/>
              </a:solidFill>
              <a:latin typeface="微软雅黑"/>
              <a:ea typeface="微软雅黑"/>
              <a:cs typeface="微软雅黑"/>
            </a:endParaRPr>
          </a:p>
        </p:txBody>
      </p:sp>
      <p:sp>
        <p:nvSpPr>
          <p:cNvPr id="97" name="文本框 96"/>
          <p:cNvSpPr txBox="1"/>
          <p:nvPr/>
        </p:nvSpPr>
        <p:spPr>
          <a:xfrm>
            <a:off x="1397787" y="1308429"/>
            <a:ext cx="1851789" cy="253916"/>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将有效措施纳入标准操作流程</a:t>
            </a:r>
            <a:endParaRPr lang="zh-CN" altLang="en-US" sz="1050" dirty="0">
              <a:solidFill>
                <a:srgbClr val="383838"/>
              </a:solidFill>
              <a:latin typeface="微软雅黑"/>
              <a:ea typeface="微软雅黑"/>
              <a:cs typeface="微软雅黑"/>
            </a:endParaRPr>
          </a:p>
        </p:txBody>
      </p:sp>
      <p:sp>
        <p:nvSpPr>
          <p:cNvPr id="98" name="矩形: 圆角 185"/>
          <p:cNvSpPr/>
          <p:nvPr/>
        </p:nvSpPr>
        <p:spPr>
          <a:xfrm>
            <a:off x="751483" y="1654189"/>
            <a:ext cx="632347" cy="233691"/>
          </a:xfrm>
          <a:prstGeom prst="roundRect">
            <a:avLst/>
          </a:prstGeom>
          <a:solidFill>
            <a:srgbClr val="0042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问题解决</a:t>
            </a:r>
            <a:endParaRPr lang="zh-CN" altLang="en-US" sz="1000" dirty="0">
              <a:solidFill>
                <a:srgbClr val="FFFFFF"/>
              </a:solidFill>
              <a:latin typeface="微软雅黑"/>
              <a:ea typeface="微软雅黑"/>
              <a:cs typeface="微软雅黑"/>
              <a:sym typeface="微软雅黑"/>
            </a:endParaRPr>
          </a:p>
        </p:txBody>
      </p:sp>
      <p:sp>
        <p:nvSpPr>
          <p:cNvPr id="99" name="文本框 98"/>
          <p:cNvSpPr txBox="1"/>
          <p:nvPr/>
        </p:nvSpPr>
        <p:spPr>
          <a:xfrm>
            <a:off x="1397787" y="1644076"/>
            <a:ext cx="1595309" cy="253916"/>
          </a:xfrm>
          <a:prstGeom prst="rect">
            <a:avLst/>
          </a:prstGeom>
          <a:noFill/>
        </p:spPr>
        <p:txBody>
          <a:bodyPr wrap="none">
            <a:spAutoFit/>
          </a:bodyPr>
          <a:lstStyle/>
          <a:p>
            <a:pPr>
              <a:defRPr>
                <a:latin typeface="微软雅黑"/>
                <a:ea typeface="微软雅黑"/>
                <a:cs typeface="微软雅黑"/>
              </a:defRPr>
            </a:pPr>
            <a:r>
              <a:rPr lang="zh-CN" altLang="en-US" sz="1050">
                <a:solidFill>
                  <a:srgbClr val="383838"/>
                </a:solidFill>
                <a:latin typeface="微软雅黑"/>
                <a:ea typeface="微软雅黑"/>
                <a:cs typeface="微软雅黑"/>
              </a:rPr>
              <a:t>针对新问题制定解决方案</a:t>
            </a:r>
            <a:endParaRPr lang="zh-CN" altLang="en-US" sz="1050" dirty="0">
              <a:solidFill>
                <a:srgbClr val="383838"/>
              </a:solidFill>
              <a:latin typeface="微软雅黑"/>
              <a:ea typeface="微软雅黑"/>
              <a:cs typeface="微软雅黑"/>
            </a:endParaRPr>
          </a:p>
        </p:txBody>
      </p:sp>
      <p:sp>
        <p:nvSpPr>
          <p:cNvPr id="100" name="矩形: 圆角 183"/>
          <p:cNvSpPr/>
          <p:nvPr/>
        </p:nvSpPr>
        <p:spPr>
          <a:xfrm>
            <a:off x="751483" y="1989836"/>
            <a:ext cx="632347" cy="233691"/>
          </a:xfrm>
          <a:prstGeom prst="roundRect">
            <a:avLst/>
          </a:prstGeom>
          <a:solidFill>
            <a:srgbClr val="0042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持续改进</a:t>
            </a:r>
            <a:endParaRPr lang="zh-CN" altLang="en-US" sz="1000" dirty="0">
              <a:solidFill>
                <a:srgbClr val="FFFFFF"/>
              </a:solidFill>
              <a:latin typeface="微软雅黑"/>
              <a:ea typeface="微软雅黑"/>
              <a:cs typeface="微软雅黑"/>
              <a:sym typeface="微软雅黑"/>
            </a:endParaRPr>
          </a:p>
        </p:txBody>
      </p:sp>
      <p:sp>
        <p:nvSpPr>
          <p:cNvPr id="101" name="文本框 100"/>
          <p:cNvSpPr txBox="1"/>
          <p:nvPr/>
        </p:nvSpPr>
        <p:spPr>
          <a:xfrm>
            <a:off x="1397787" y="1979723"/>
            <a:ext cx="1595309" cy="253916"/>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制定下一阶段的改进计划</a:t>
            </a:r>
            <a:endParaRPr lang="zh-CN" altLang="en-US" sz="1050" dirty="0">
              <a:solidFill>
                <a:srgbClr val="383838"/>
              </a:solidFill>
              <a:latin typeface="微软雅黑"/>
              <a:ea typeface="微软雅黑"/>
              <a:cs typeface="微软雅黑"/>
            </a:endParaRPr>
          </a:p>
        </p:txBody>
      </p:sp>
      <p:sp>
        <p:nvSpPr>
          <p:cNvPr id="102" name="矩形: 圆角 181"/>
          <p:cNvSpPr/>
          <p:nvPr/>
        </p:nvSpPr>
        <p:spPr>
          <a:xfrm>
            <a:off x="751483" y="2325482"/>
            <a:ext cx="632347" cy="233691"/>
          </a:xfrm>
          <a:prstGeom prst="roundRect">
            <a:avLst/>
          </a:prstGeom>
          <a:solidFill>
            <a:srgbClr val="0042FF"/>
          </a:solidFill>
          <a:ln w="9525" cap="flat">
            <a:noFill/>
            <a:prstDash val="solid"/>
            <a:miter/>
          </a:ln>
        </p:spPr>
        <p:txBody>
          <a:bodyPr rot="0" spcFirstLastPara="0" vertOverflow="overflow" horzOverflow="overflow" vert="horz" wrap="non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循环迭代</a:t>
            </a:r>
            <a:endParaRPr lang="zh-CN" altLang="en-US" sz="1000" dirty="0">
              <a:solidFill>
                <a:srgbClr val="FFFFFF"/>
              </a:solidFill>
              <a:latin typeface="微软雅黑"/>
              <a:ea typeface="微软雅黑"/>
              <a:cs typeface="微软雅黑"/>
              <a:sym typeface="微软雅黑"/>
            </a:endParaRPr>
          </a:p>
        </p:txBody>
      </p:sp>
      <p:sp>
        <p:nvSpPr>
          <p:cNvPr id="103" name="文本框 102"/>
          <p:cNvSpPr txBox="1"/>
          <p:nvPr/>
        </p:nvSpPr>
        <p:spPr>
          <a:xfrm>
            <a:off x="1397787" y="2315369"/>
            <a:ext cx="1718740" cy="253916"/>
          </a:xfrm>
          <a:prstGeom prst="rect">
            <a:avLst/>
          </a:prstGeom>
          <a:noFill/>
        </p:spPr>
        <p:txBody>
          <a:bodyPr wrap="none">
            <a:spAutoFit/>
          </a:bodyPr>
          <a:lstStyle/>
          <a:p>
            <a:pPr>
              <a:defRPr>
                <a:latin typeface="微软雅黑"/>
                <a:ea typeface="微软雅黑"/>
                <a:cs typeface="微软雅黑"/>
              </a:defRPr>
            </a:pPr>
            <a:r>
              <a:rPr lang="zh-CN" altLang="en-US" sz="1050" dirty="0">
                <a:solidFill>
                  <a:srgbClr val="383838"/>
                </a:solidFill>
                <a:latin typeface="微软雅黑"/>
                <a:ea typeface="微软雅黑"/>
                <a:cs typeface="微软雅黑"/>
              </a:rPr>
              <a:t>准备进入下一个</a:t>
            </a:r>
            <a:r>
              <a:rPr lang="en-US" altLang="zh-CN" sz="1050" dirty="0">
                <a:solidFill>
                  <a:srgbClr val="383838"/>
                </a:solidFill>
                <a:latin typeface="微软雅黑"/>
                <a:ea typeface="微软雅黑"/>
                <a:cs typeface="微软雅黑"/>
              </a:rPr>
              <a:t>PDAC</a:t>
            </a:r>
            <a:r>
              <a:rPr lang="zh-CN" altLang="en-US" sz="1050" dirty="0">
                <a:solidFill>
                  <a:srgbClr val="383838"/>
                </a:solidFill>
                <a:latin typeface="微软雅黑"/>
                <a:ea typeface="微软雅黑"/>
                <a:cs typeface="微软雅黑"/>
              </a:rPr>
              <a:t>循环</a:t>
            </a:r>
            <a:endParaRPr lang="zh-CN" altLang="en-US" sz="1050" dirty="0">
              <a:solidFill>
                <a:srgbClr val="383838"/>
              </a:solidFill>
              <a:latin typeface="微软雅黑"/>
              <a:ea typeface="微软雅黑"/>
              <a:cs typeface="微软雅黑"/>
            </a:endParaRPr>
          </a:p>
        </p:txBody>
      </p:sp>
      <p:sp>
        <p:nvSpPr>
          <p:cNvPr id="110" name="文本框 109"/>
          <p:cNvSpPr txBox="1"/>
          <p:nvPr/>
        </p:nvSpPr>
        <p:spPr>
          <a:xfrm>
            <a:off x="8946515" y="3815080"/>
            <a:ext cx="4064000" cy="368300"/>
          </a:xfrm>
          <a:prstGeom prst="rect">
            <a:avLst/>
          </a:prstGeom>
          <a:noFill/>
        </p:spPr>
        <p:txBody>
          <a:bodyPr wrap="square" rtlCol="0" lIns="0" rIns="0" tIns="0" bIns="0">
            <a:spAutoFit/>
          </a:bodyPr>
          <a:p>
            <a:pPr>
              <a:defRPr>
                <a:latin typeface="微软雅黑"/>
                <a:ea typeface="微软雅黑"/>
                <a:cs typeface="微软雅黑"/>
              </a:defRPr>
            </a:pPr>
            <a:endParaRPr lang="en-US" altLang="zh-CN">
              <a:latin typeface="微软雅黑"/>
              <a:ea typeface="微软雅黑"/>
              <a:cs typeface="微软雅黑"/>
            </a:endParaRPr>
          </a:p>
        </p:txBody>
      </p:sp>
      <p:grpSp>
        <p:nvGrpSpPr>
          <p:cNvPr id="116" name="组合 115"/>
          <p:cNvGrpSpPr/>
          <p:nvPr/>
        </p:nvGrpSpPr>
        <p:grpSpPr>
          <a:xfrm>
            <a:off x="3886835" y="1940560"/>
            <a:ext cx="4182110" cy="3994150"/>
            <a:chOff x="6155" y="3056"/>
            <a:chExt cx="6586" cy="6290"/>
          </a:xfrm>
        </p:grpSpPr>
        <p:sp>
          <p:nvSpPr>
            <p:cNvPr id="117" name="文本框 116"/>
            <p:cNvSpPr txBox="1"/>
            <p:nvPr/>
          </p:nvSpPr>
          <p:spPr>
            <a:xfrm rot="18900000">
              <a:off x="6155" y="3056"/>
              <a:ext cx="4402" cy="3463"/>
            </a:xfrm>
            <a:prstGeom prst="rect">
              <a:avLst/>
            </a:prstGeom>
            <a:noFill/>
          </p:spPr>
          <p:txBody>
            <a:bodyPr wrap="square" rtlCol="0">
              <a:prstTxWarp prst="textArchUp">
                <a:avLst/>
              </a:prstTxWarp>
              <a:spAutoFit/>
            </a:bodyPr>
            <a:lstStyle/>
            <a:p>
              <a:pPr algn="ctr">
                <a:defRPr>
                  <a:solidFill>
                    <a:srgbClr val="383838"/>
                  </a:solidFill>
                  <a:latin typeface="微软雅黑"/>
                  <a:ea typeface="微软雅黑"/>
                  <a:cs typeface="微软雅黑"/>
                </a:defRPr>
              </a:pPr>
              <a:r>
                <a:rPr lang="zh-CN" altLang="en-US" sz="2000" b="1" spc="300" dirty="0">
                  <a:solidFill>
                    <a:srgbClr val="383838"/>
                  </a:solidFill>
                  <a:latin typeface="微软雅黑"/>
                  <a:ea typeface="微软雅黑"/>
                  <a:cs typeface="微软雅黑"/>
                </a:rPr>
                <a:t>行动</a:t>
              </a:r>
              <a:endParaRPr lang="zh-CN" altLang="en-US" sz="2000" b="1" spc="300" dirty="0">
                <a:solidFill>
                  <a:srgbClr val="383838"/>
                </a:solidFill>
                <a:latin typeface="微软雅黑"/>
                <a:ea typeface="微软雅黑"/>
                <a:cs typeface="微软雅黑"/>
              </a:endParaRPr>
            </a:p>
          </p:txBody>
        </p:sp>
        <p:sp>
          <p:nvSpPr>
            <p:cNvPr id="118" name="文本框 117"/>
            <p:cNvSpPr txBox="1"/>
            <p:nvPr/>
          </p:nvSpPr>
          <p:spPr>
            <a:xfrm rot="2700000">
              <a:off x="8643" y="3606"/>
              <a:ext cx="4402" cy="3463"/>
            </a:xfrm>
            <a:prstGeom prst="rect">
              <a:avLst/>
            </a:prstGeom>
            <a:noFill/>
          </p:spPr>
          <p:txBody>
            <a:bodyPr wrap="square" rtlCol="0">
              <a:prstTxWarp prst="textArchUp">
                <a:avLst/>
              </a:prstTxWarp>
              <a:spAutoFit/>
            </a:bodyPr>
            <a:lstStyle/>
            <a:p>
              <a:pPr algn="ctr">
                <a:defRPr>
                  <a:solidFill>
                    <a:srgbClr val="383838"/>
                  </a:solidFill>
                  <a:latin typeface="微软雅黑"/>
                  <a:ea typeface="微软雅黑"/>
                  <a:cs typeface="微软雅黑"/>
                </a:defRPr>
              </a:pPr>
              <a:r>
                <a:rPr lang="zh-CN" altLang="en-US" sz="2000" b="1" spc="300" dirty="0">
                  <a:solidFill>
                    <a:srgbClr val="383838"/>
                  </a:solidFill>
                  <a:latin typeface="微软雅黑"/>
                  <a:ea typeface="微软雅黑"/>
                  <a:cs typeface="微软雅黑"/>
                </a:rPr>
                <a:t>计划</a:t>
              </a:r>
              <a:endParaRPr lang="zh-CN" altLang="en-US" sz="2000" b="1" spc="300" dirty="0">
                <a:solidFill>
                  <a:srgbClr val="383838"/>
                </a:solidFill>
                <a:latin typeface="微软雅黑"/>
                <a:ea typeface="微软雅黑"/>
                <a:cs typeface="微软雅黑"/>
              </a:endParaRPr>
            </a:p>
          </p:txBody>
        </p:sp>
        <p:sp>
          <p:nvSpPr>
            <p:cNvPr id="119" name="文本框 118"/>
            <p:cNvSpPr txBox="1"/>
            <p:nvPr/>
          </p:nvSpPr>
          <p:spPr>
            <a:xfrm rot="18900000">
              <a:off x="8339" y="5701"/>
              <a:ext cx="4402" cy="3463"/>
            </a:xfrm>
            <a:prstGeom prst="rect">
              <a:avLst/>
            </a:prstGeom>
            <a:noFill/>
          </p:spPr>
          <p:txBody>
            <a:bodyPr wrap="square" rtlCol="0">
              <a:prstTxWarp prst="textArchDown">
                <a:avLst/>
              </a:prstTxWarp>
              <a:spAutoFit/>
            </a:bodyPr>
            <a:lstStyle/>
            <a:p>
              <a:pPr algn="ctr">
                <a:defRPr>
                  <a:latin typeface="微软雅黑"/>
                  <a:ea typeface="微软雅黑"/>
                  <a:cs typeface="微软雅黑"/>
                </a:defRPr>
              </a:pPr>
              <a:r>
                <a:rPr lang="zh-CN" altLang="en-US" sz="2000" b="1" spc="300" dirty="0">
                  <a:solidFill>
                    <a:srgbClr val="383838"/>
                  </a:solidFill>
                  <a:latin typeface="微软雅黑"/>
                  <a:ea typeface="微软雅黑"/>
                  <a:cs typeface="微软雅黑"/>
                </a:rPr>
                <a:t>执行</a:t>
              </a:r>
              <a:endParaRPr lang="zh-CN" altLang="en-US" sz="2000" b="1" spc="300" dirty="0">
                <a:solidFill>
                  <a:srgbClr val="383838"/>
                </a:solidFill>
                <a:latin typeface="微软雅黑"/>
                <a:ea typeface="微软雅黑"/>
                <a:cs typeface="微软雅黑"/>
              </a:endParaRPr>
            </a:p>
          </p:txBody>
        </p:sp>
        <p:sp>
          <p:nvSpPr>
            <p:cNvPr id="120" name="文本框 119"/>
            <p:cNvSpPr txBox="1"/>
            <p:nvPr/>
          </p:nvSpPr>
          <p:spPr>
            <a:xfrm rot="2700000">
              <a:off x="5732" y="5414"/>
              <a:ext cx="4402" cy="3463"/>
            </a:xfrm>
            <a:prstGeom prst="rect">
              <a:avLst/>
            </a:prstGeom>
            <a:noFill/>
          </p:spPr>
          <p:txBody>
            <a:bodyPr wrap="square" rtlCol="0">
              <a:prstTxWarp prst="textArchDown">
                <a:avLst/>
              </a:prstTxWarp>
              <a:spAutoFit/>
            </a:bodyPr>
            <a:lstStyle/>
            <a:p>
              <a:pPr algn="ctr">
                <a:defRPr>
                  <a:latin typeface="微软雅黑"/>
                  <a:ea typeface="微软雅黑"/>
                  <a:cs typeface="微软雅黑"/>
                </a:defRPr>
              </a:pPr>
              <a:r>
                <a:rPr lang="zh-CN" altLang="en-US" sz="2000" b="1" spc="300" dirty="0">
                  <a:solidFill>
                    <a:srgbClr val="383838"/>
                  </a:solidFill>
                  <a:latin typeface="微软雅黑"/>
                  <a:ea typeface="微软雅黑"/>
                  <a:cs typeface="微软雅黑"/>
                </a:rPr>
                <a:t>检查</a:t>
              </a:r>
              <a:endParaRPr lang="zh-CN" altLang="en-US" sz="2000" b="1" spc="300" dirty="0">
                <a:solidFill>
                  <a:srgbClr val="383838"/>
                </a:solidFill>
                <a:latin typeface="微软雅黑"/>
                <a:ea typeface="微软雅黑"/>
                <a:cs typeface="微软雅黑"/>
              </a:endParaRPr>
            </a:p>
          </p:txBody>
        </p:sp>
      </p:grpSp>
      <p:cxnSp>
        <p:nvCxnSpPr>
          <p:cNvPr id="3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1" name="组合 30"/>
          <p:cNvGrpSpPr/>
          <p:nvPr/>
        </p:nvGrpSpPr>
        <p:grpSpPr>
          <a:xfrm>
            <a:off x="8738235" y="348615"/>
            <a:ext cx="3219450" cy="332740"/>
            <a:chOff x="13761" y="549"/>
            <a:chExt cx="5070" cy="524"/>
          </a:xfrm>
        </p:grpSpPr>
        <p:pic>
          <p:nvPicPr>
            <p:cNvPr id="33" name="图片 32"/>
            <p:cNvPicPr>
              <a:picLocks noChangeAspect="1"/>
            </p:cNvPicPr>
            <p:nvPr userDrawn="1"/>
          </p:nvPicPr>
          <p:blipFill>
            <a:blip r:embed="rId6"/>
            <a:srcRect l="17002" t="-1765" r="56499" b="-1176"/>
            <a:stretch>
              <a:fillRect/>
            </a:stretch>
          </p:blipFill>
          <p:spPr>
            <a:xfrm>
              <a:off x="13761" y="549"/>
              <a:ext cx="1582" cy="525"/>
            </a:xfrm>
            <a:prstGeom prst="rect">
              <a:avLst/>
            </a:prstGeom>
          </p:spPr>
        </p:pic>
        <p:sp>
          <p:nvSpPr>
            <p:cNvPr id="34" name="文本框 3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690914" y="1456169"/>
            <a:ext cx="5134289" cy="2007355"/>
          </a:xfrm>
          <a:prstGeom prst="roundRect">
            <a:avLst>
              <a:gd name="adj" fmla="val 7242"/>
            </a:avLst>
          </a:prstGeom>
          <a:gradFill flip="none" rotWithShape="1">
            <a:gsLst>
              <a:gs pos="100000">
                <a:srgbClr val="E6E6E6">
                  <a:alpha val="0"/>
                </a:srgbClr>
              </a:gs>
              <a:gs pos="0">
                <a:srgbClr val="E6E6E6">
                  <a:alpha val="50000"/>
                </a:srgbClr>
              </a:gs>
            </a:gsLst>
            <a:lin ang="0" scaled="1"/>
            <a:tileRect/>
          </a:gradFill>
          <a:ln w="6350">
            <a:noFill/>
            <a:prstDash val="solid"/>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en-US" altLang="zh-CN" sz="2500" dirty="0">
                <a:solidFill>
                  <a:srgbClr val="383838"/>
                </a:solidFill>
                <a:effectLst/>
                <a:latin typeface="微软雅黑"/>
                <a:ea typeface="微软雅黑"/>
                <a:cs typeface="微软雅黑"/>
              </a:rPr>
              <a:t>PDCA</a:t>
            </a:r>
            <a:r>
              <a:rPr sz="2500" dirty="0">
                <a:solidFill>
                  <a:srgbClr val="383838"/>
                </a:solidFill>
                <a:effectLst/>
                <a:latin typeface="微软雅黑"/>
                <a:ea typeface="微软雅黑"/>
                <a:cs typeface="微软雅黑"/>
              </a:rPr>
              <a:t>循环工作法</a:t>
            </a:r>
            <a:endParaRPr sz="2500" dirty="0">
              <a:solidFill>
                <a:srgbClr val="383838"/>
              </a:solidFill>
              <a:effectLst/>
              <a:latin typeface="微软雅黑"/>
              <a:ea typeface="微软雅黑"/>
              <a:cs typeface="微软雅黑"/>
            </a:endParaRPr>
          </a:p>
        </p:txBody>
      </p:sp>
      <p:sp>
        <p:nvSpPr>
          <p:cNvPr id="50" name="圆角矩形 49"/>
          <p:cNvSpPr/>
          <p:nvPr/>
        </p:nvSpPr>
        <p:spPr>
          <a:xfrm flipH="1">
            <a:off x="6409348" y="3937404"/>
            <a:ext cx="5134288" cy="2007355"/>
          </a:xfrm>
          <a:prstGeom prst="roundRect">
            <a:avLst>
              <a:gd name="adj" fmla="val 7242"/>
            </a:avLst>
          </a:prstGeom>
          <a:gradFill flip="none" rotWithShape="1">
            <a:gsLst>
              <a:gs pos="100000">
                <a:srgbClr val="E6E6E6">
                  <a:alpha val="0"/>
                </a:srgbClr>
              </a:gs>
              <a:gs pos="0">
                <a:srgbClr val="E6E6E6">
                  <a:alpha val="50000"/>
                </a:srgbClr>
              </a:gs>
            </a:gsLst>
            <a:lin ang="0" scaled="1"/>
            <a:tileRect/>
          </a:gradFill>
          <a:ln w="6350">
            <a:no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51" name="圆角矩形 50"/>
          <p:cNvSpPr/>
          <p:nvPr/>
        </p:nvSpPr>
        <p:spPr>
          <a:xfrm flipH="1">
            <a:off x="6409348" y="1456169"/>
            <a:ext cx="5134288" cy="2007355"/>
          </a:xfrm>
          <a:prstGeom prst="roundRect">
            <a:avLst>
              <a:gd name="adj" fmla="val 6719"/>
            </a:avLst>
          </a:prstGeom>
          <a:gradFill flip="none" rotWithShape="1">
            <a:gsLst>
              <a:gs pos="100000">
                <a:srgbClr val="FFFFFF">
                  <a:alpha val="0"/>
                </a:srgbClr>
              </a:gs>
              <a:gs pos="0">
                <a:srgbClr val="FFFFFF">
                  <a:alpha val="50000"/>
                </a:srgbClr>
              </a:gs>
            </a:gsLst>
            <a:lin ang="0" scaled="1"/>
            <a:tileRect/>
          </a:gradFill>
          <a:ln w="6350">
            <a:no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49" name="圆角矩形 48"/>
          <p:cNvSpPr/>
          <p:nvPr/>
        </p:nvSpPr>
        <p:spPr>
          <a:xfrm>
            <a:off x="718171" y="3972478"/>
            <a:ext cx="5134289" cy="2007355"/>
          </a:xfrm>
          <a:prstGeom prst="roundRect">
            <a:avLst>
              <a:gd name="adj" fmla="val 8290"/>
            </a:avLst>
          </a:prstGeom>
          <a:gradFill flip="none" rotWithShape="1">
            <a:gsLst>
              <a:gs pos="100000">
                <a:srgbClr val="FFFFFF">
                  <a:alpha val="0"/>
                </a:srgbClr>
              </a:gs>
              <a:gs pos="0">
                <a:srgbClr val="FFFFFF">
                  <a:alpha val="50000"/>
                </a:srgbClr>
              </a:gs>
            </a:gsLst>
            <a:lin ang="0" scaled="1"/>
            <a:tileRect/>
          </a:gradFill>
          <a:ln w="6350">
            <a:no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46" name="椭圆 45"/>
          <p:cNvSpPr/>
          <p:nvPr/>
        </p:nvSpPr>
        <p:spPr>
          <a:xfrm>
            <a:off x="3487687" y="1166127"/>
            <a:ext cx="5262346" cy="5262346"/>
          </a:xfrm>
          <a:prstGeom prst="ellipse">
            <a:avLst/>
          </a:prstGeom>
          <a:gradFill flip="none" rotWithShape="1">
            <a:gsLst>
              <a:gs pos="100000">
                <a:srgbClr val="E6E6E6">
                  <a:alpha val="30000"/>
                </a:srgbClr>
              </a:gs>
              <a:gs pos="0">
                <a:srgbClr val="E6E6E6">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2" name="圆角矩形 41"/>
          <p:cNvSpPr/>
          <p:nvPr/>
        </p:nvSpPr>
        <p:spPr>
          <a:xfrm>
            <a:off x="524499" y="1847663"/>
            <a:ext cx="382095" cy="1224366"/>
          </a:xfrm>
          <a:prstGeom prst="roundRect">
            <a:avLst>
              <a:gd name="adj" fmla="val 50000"/>
            </a:avLst>
          </a:prstGeom>
          <a:gradFill flip="none" rotWithShape="1">
            <a:gsLst>
              <a:gs pos="0">
                <a:srgbClr val="0042FF"/>
              </a:gs>
              <a:gs pos="100000">
                <a:srgbClr val="3368FF"/>
              </a:gs>
            </a:gsLst>
            <a:path path="circle">
              <a:fillToRect r="100000" b="100000"/>
            </a:path>
            <a:tileRect l="-100000" t="-100000"/>
          </a:gradFill>
          <a:ln w="707" cap="flat">
            <a:noFill/>
            <a:prstDash val="solid"/>
            <a:miter/>
          </a:ln>
          <a:effectLst>
            <a:outerShdw blurRad="254000" dist="101600" dir="5400000" algn="t" rotWithShape="0">
              <a:srgbClr val="0042FF">
                <a:alpha val="25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marL="285750" marR="0" lvl="0" indent="-285750" algn="l" defTabSz="457200" rtl="0" eaLnBrk="1" fontAlgn="auto" latinLnBrk="0" hangingPunct="1">
              <a:lnSpc>
                <a:spcPct val="100000"/>
              </a:lnSpc>
              <a:spcBef>
                <a:spcPts val="0"/>
              </a:spcBef>
              <a:spcAft>
                <a:spcPts val="0"/>
              </a:spcAft>
              <a:buClrTx/>
              <a:buSzTx/>
              <a:buFont typeface="微软雅黑"/>
              <a:buChar char="➢"/>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3" name="文本框 42"/>
          <p:cNvSpPr txBox="1"/>
          <p:nvPr/>
        </p:nvSpPr>
        <p:spPr>
          <a:xfrm>
            <a:off x="515491" y="1977663"/>
            <a:ext cx="400110" cy="964367"/>
          </a:xfrm>
          <a:prstGeom prst="rect">
            <a:avLst/>
          </a:prstGeom>
          <a:noFill/>
        </p:spPr>
        <p:txBody>
          <a:bodyPr vert="eaVert" wrap="none" rtlCol="0" anchor="ctr" anchorCtr="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300" normalizeH="0" baseline="0" noProof="0" dirty="0">
                <a:ln>
                  <a:noFill/>
                </a:ln>
                <a:solidFill>
                  <a:srgbClr val="FFFFFF"/>
                </a:solidFill>
                <a:effectLst/>
                <a:uLnTx/>
                <a:uFillTx/>
                <a:latin typeface="微软雅黑"/>
                <a:ea typeface="微软雅黑"/>
                <a:cs typeface="微软雅黑"/>
              </a:rPr>
              <a:t>制定计划</a:t>
            </a:r>
            <a:endParaRPr kumimoji="1" lang="zh-CN" altLang="en-US" sz="1400" b="1" i="0" u="none" strike="noStrike" kern="1200" cap="none" spc="300" normalizeH="0" baseline="0" noProof="0" dirty="0">
              <a:ln>
                <a:noFill/>
              </a:ln>
              <a:solidFill>
                <a:srgbClr val="FFFFFF"/>
              </a:solidFill>
              <a:effectLst/>
              <a:uLnTx/>
              <a:uFillTx/>
              <a:latin typeface="微软雅黑"/>
              <a:ea typeface="微软雅黑"/>
              <a:cs typeface="微软雅黑"/>
            </a:endParaRPr>
          </a:p>
        </p:txBody>
      </p:sp>
      <p:sp>
        <p:nvSpPr>
          <p:cNvPr id="44" name="圆角矩形 43"/>
          <p:cNvSpPr/>
          <p:nvPr/>
        </p:nvSpPr>
        <p:spPr>
          <a:xfrm>
            <a:off x="524499" y="4396783"/>
            <a:ext cx="382095" cy="1224366"/>
          </a:xfrm>
          <a:prstGeom prst="roundRect">
            <a:avLst>
              <a:gd name="adj" fmla="val 50000"/>
            </a:avLst>
          </a:prstGeom>
          <a:gradFill flip="none" rotWithShape="1">
            <a:gsLst>
              <a:gs pos="0">
                <a:srgbClr val="3368FF"/>
              </a:gs>
              <a:gs pos="100000">
                <a:srgbClr val="B3D4FE"/>
              </a:gs>
            </a:gsLst>
            <a:path path="circle">
              <a:fillToRect r="100000" b="100000"/>
            </a:path>
            <a:tileRect l="-100000" t="-100000"/>
          </a:gradFill>
          <a:ln w="707" cap="flat">
            <a:noFill/>
            <a:prstDash val="solid"/>
            <a:miter/>
          </a:ln>
          <a:effectLst>
            <a:outerShdw blurRad="254000" dist="101600" dir="5400000" algn="t" rotWithShape="0">
              <a:srgbClr val="3368FF">
                <a:alpha val="25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marL="285750" lvl="0" indent="-285750" algn="l" defTabSz="457200">
              <a:spcBef>
                <a:spcPts val="0"/>
              </a:spcBef>
              <a:spcAft>
                <a:spcPts val="0"/>
              </a:spcAft>
              <a:buClrTx/>
              <a:buSzTx/>
              <a:buFont typeface="微软雅黑"/>
              <a:buChar char="➢"/>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45" name="文本框 44"/>
          <p:cNvSpPr txBox="1"/>
          <p:nvPr/>
        </p:nvSpPr>
        <p:spPr>
          <a:xfrm>
            <a:off x="515491" y="4526780"/>
            <a:ext cx="400110" cy="964367"/>
          </a:xfrm>
          <a:prstGeom prst="rect">
            <a:avLst/>
          </a:prstGeom>
          <a:noFill/>
        </p:spPr>
        <p:txBody>
          <a:bodyPr vert="eaVert" wrap="none" rtlCol="0" anchor="ctr" anchorCtr="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300" normalizeH="0" baseline="0" noProof="0" dirty="0">
                <a:ln>
                  <a:noFill/>
                </a:ln>
                <a:solidFill>
                  <a:srgbClr val="383838"/>
                </a:solidFill>
                <a:effectLst/>
                <a:uLnTx/>
                <a:uFillTx/>
                <a:latin typeface="微软雅黑"/>
                <a:ea typeface="微软雅黑"/>
                <a:cs typeface="微软雅黑"/>
              </a:rPr>
              <a:t>执行行动</a:t>
            </a:r>
            <a:endParaRPr kumimoji="1" lang="zh-CN" altLang="en-US" sz="1400" b="1" i="0" u="none" strike="noStrike" kern="1200" cap="none" spc="300" normalizeH="0" baseline="0" noProof="0" dirty="0">
              <a:ln>
                <a:noFill/>
              </a:ln>
              <a:solidFill>
                <a:srgbClr val="383838"/>
              </a:solidFill>
              <a:effectLst/>
              <a:uLnTx/>
              <a:uFillTx/>
              <a:latin typeface="微软雅黑"/>
              <a:ea typeface="微软雅黑"/>
              <a:cs typeface="微软雅黑"/>
            </a:endParaRPr>
          </a:p>
        </p:txBody>
      </p:sp>
      <p:sp>
        <p:nvSpPr>
          <p:cNvPr id="47" name="圆角矩形 46"/>
          <p:cNvSpPr/>
          <p:nvPr/>
        </p:nvSpPr>
        <p:spPr>
          <a:xfrm>
            <a:off x="11356960" y="1847663"/>
            <a:ext cx="382095" cy="1224366"/>
          </a:xfrm>
          <a:prstGeom prst="roundRect">
            <a:avLst>
              <a:gd name="adj" fmla="val 50000"/>
            </a:avLst>
          </a:prstGeom>
          <a:gradFill flip="none" rotWithShape="1">
            <a:gsLst>
              <a:gs pos="0">
                <a:srgbClr val="3368FF"/>
              </a:gs>
              <a:gs pos="100000">
                <a:srgbClr val="B3D4FE"/>
              </a:gs>
            </a:gsLst>
            <a:path path="circle">
              <a:fillToRect r="100000" b="100000"/>
            </a:path>
            <a:tileRect l="-100000" t="-100000"/>
          </a:gradFill>
          <a:ln w="707" cap="flat">
            <a:noFill/>
            <a:prstDash val="solid"/>
            <a:miter/>
          </a:ln>
          <a:effectLst>
            <a:outerShdw blurRad="254000" dist="101600" dir="5400000" algn="t" rotWithShape="0">
              <a:srgbClr val="3368FF">
                <a:alpha val="25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marL="285750" lvl="0" indent="-285750" algn="l" defTabSz="457200">
              <a:spcBef>
                <a:spcPts val="0"/>
              </a:spcBef>
              <a:spcAft>
                <a:spcPts val="0"/>
              </a:spcAft>
              <a:buClrTx/>
              <a:buSzTx/>
              <a:buFont typeface="微软雅黑"/>
              <a:buChar char="➢"/>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48" name="文本框 47"/>
          <p:cNvSpPr txBox="1"/>
          <p:nvPr/>
        </p:nvSpPr>
        <p:spPr>
          <a:xfrm>
            <a:off x="11347952" y="1977661"/>
            <a:ext cx="400110" cy="964367"/>
          </a:xfrm>
          <a:prstGeom prst="rect">
            <a:avLst/>
          </a:prstGeom>
          <a:noFill/>
        </p:spPr>
        <p:txBody>
          <a:bodyPr vert="eaVert" wrap="none" rtlCol="0" anchor="ctr" anchorCtr="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300" normalizeH="0" baseline="0" noProof="0" dirty="0">
                <a:ln>
                  <a:noFill/>
                </a:ln>
                <a:solidFill>
                  <a:srgbClr val="383838"/>
                </a:solidFill>
                <a:effectLst/>
                <a:uLnTx/>
                <a:uFillTx/>
                <a:latin typeface="微软雅黑"/>
                <a:ea typeface="微软雅黑"/>
                <a:cs typeface="微软雅黑"/>
              </a:rPr>
              <a:t>执行计划</a:t>
            </a:r>
            <a:endParaRPr kumimoji="1" lang="zh-CN" altLang="en-US" sz="1400" b="1" i="0" u="none" strike="noStrike" kern="1200" cap="none" spc="300" normalizeH="0" baseline="0" noProof="0" dirty="0">
              <a:ln>
                <a:noFill/>
              </a:ln>
              <a:solidFill>
                <a:srgbClr val="383838"/>
              </a:solidFill>
              <a:effectLst/>
              <a:uLnTx/>
              <a:uFillTx/>
              <a:latin typeface="微软雅黑"/>
              <a:ea typeface="微软雅黑"/>
              <a:cs typeface="微软雅黑"/>
            </a:endParaRPr>
          </a:p>
        </p:txBody>
      </p:sp>
      <p:sp>
        <p:nvSpPr>
          <p:cNvPr id="52" name="圆角矩形 51"/>
          <p:cNvSpPr/>
          <p:nvPr/>
        </p:nvSpPr>
        <p:spPr>
          <a:xfrm>
            <a:off x="11356960" y="4396783"/>
            <a:ext cx="382095" cy="1224366"/>
          </a:xfrm>
          <a:prstGeom prst="roundRect">
            <a:avLst>
              <a:gd name="adj" fmla="val 50000"/>
            </a:avLst>
          </a:prstGeom>
          <a:gradFill flip="none" rotWithShape="1">
            <a:gsLst>
              <a:gs pos="0">
                <a:srgbClr val="0042FF"/>
              </a:gs>
              <a:gs pos="100000">
                <a:srgbClr val="3368FF"/>
              </a:gs>
            </a:gsLst>
            <a:path path="circle">
              <a:fillToRect r="100000" b="100000"/>
            </a:path>
            <a:tileRect l="-100000" t="-100000"/>
          </a:gradFill>
          <a:ln w="707" cap="flat">
            <a:noFill/>
            <a:prstDash val="solid"/>
            <a:miter/>
          </a:ln>
          <a:effectLst>
            <a:outerShdw blurRad="254000" dist="101600" dir="5400000" algn="t" rotWithShape="0">
              <a:srgbClr val="0042FF">
                <a:alpha val="25000"/>
              </a:srgbClr>
            </a:outerShdw>
          </a:effectLst>
        </p:spPr>
        <p:txBody>
          <a:bodyPr rot="0" spcFirstLastPara="0" vertOverflow="overflow" horzOverflow="overflow" vert="horz" wrap="square" lIns="0" tIns="0" rIns="0" bIns="0" numCol="1" spcCol="0" rtlCol="0" fromWordArt="0" anchor="ctr" anchorCtr="0" forceAA="0" compatLnSpc="1">
            <a:noAutofit/>
          </a:bodyPr>
          <a:lstStyle/>
          <a:p>
            <a:pPr marL="285750" lvl="0" indent="-285750" algn="l" defTabSz="457200">
              <a:spcBef>
                <a:spcPts val="0"/>
              </a:spcBef>
              <a:spcAft>
                <a:spcPts val="0"/>
              </a:spcAft>
              <a:buClrTx/>
              <a:buSzTx/>
              <a:buFont typeface="微软雅黑"/>
              <a:buChar char="➢"/>
              <a:defRPr>
                <a:solidFill>
                  <a:srgbClr val="FFFFFF"/>
                </a:solidFill>
                <a:latin typeface="微软雅黑"/>
                <a:ea typeface="微软雅黑"/>
                <a:cs typeface="微软雅黑"/>
              </a:defRPr>
            </a:pPr>
            <a:endParaRPr kumimoji="1" lang="zh-CN" altLang="en-US" noProof="0">
              <a:ln>
                <a:noFill/>
              </a:ln>
              <a:solidFill>
                <a:srgbClr val="FFFFFF"/>
              </a:solidFill>
              <a:effectLst/>
              <a:uLnTx/>
              <a:uFillTx/>
              <a:latin typeface="微软雅黑"/>
              <a:ea typeface="微软雅黑"/>
              <a:cs typeface="微软雅黑"/>
              <a:sym typeface="微软雅黑"/>
            </a:endParaRPr>
          </a:p>
        </p:txBody>
      </p:sp>
      <p:sp>
        <p:nvSpPr>
          <p:cNvPr id="53" name="文本框 52"/>
          <p:cNvSpPr txBox="1"/>
          <p:nvPr/>
        </p:nvSpPr>
        <p:spPr>
          <a:xfrm>
            <a:off x="11347952" y="4526778"/>
            <a:ext cx="400110" cy="964367"/>
          </a:xfrm>
          <a:prstGeom prst="rect">
            <a:avLst/>
          </a:prstGeom>
          <a:noFill/>
        </p:spPr>
        <p:txBody>
          <a:bodyPr vert="eaVert"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300" normalizeH="0" baseline="0" noProof="0" dirty="0">
                <a:ln>
                  <a:noFill/>
                </a:ln>
                <a:solidFill>
                  <a:srgbClr val="FFFFFF"/>
                </a:solidFill>
                <a:effectLst/>
                <a:uLnTx/>
                <a:uFillTx/>
                <a:latin typeface="微软雅黑"/>
                <a:ea typeface="微软雅黑"/>
                <a:cs typeface="微软雅黑"/>
              </a:rPr>
              <a:t>评估检查</a:t>
            </a:r>
            <a:endParaRPr kumimoji="1" lang="zh-CN" altLang="en-US" sz="1400" b="1" i="0" u="none" strike="noStrike" kern="1200" cap="none" spc="300" normalizeH="0" baseline="0" noProof="0" dirty="0">
              <a:ln>
                <a:noFill/>
              </a:ln>
              <a:solidFill>
                <a:srgbClr val="FFFFFF"/>
              </a:solidFill>
              <a:effectLst/>
              <a:uLnTx/>
              <a:uFillTx/>
              <a:latin typeface="微软雅黑"/>
              <a:ea typeface="微软雅黑"/>
              <a:cs typeface="微软雅黑"/>
            </a:endParaRPr>
          </a:p>
        </p:txBody>
      </p:sp>
      <p:sp>
        <p:nvSpPr>
          <p:cNvPr id="62" name="椭圆 61"/>
          <p:cNvSpPr/>
          <p:nvPr/>
        </p:nvSpPr>
        <p:spPr>
          <a:xfrm>
            <a:off x="1072258" y="1885693"/>
            <a:ext cx="120028" cy="120028"/>
          </a:xfrm>
          <a:prstGeom prst="ellipse">
            <a:avLst/>
          </a:prstGeom>
          <a:solidFill>
            <a:srgbClr val="FFFFFF"/>
          </a:solidFill>
          <a:ln>
            <a:solidFill>
              <a:srgbClr val="0042FF"/>
            </a:solidFill>
          </a:ln>
          <a:effectLst>
            <a:outerShdw blurRad="101600" dist="635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3" name="文本框 62"/>
          <p:cNvSpPr txBox="1"/>
          <p:nvPr/>
        </p:nvSpPr>
        <p:spPr>
          <a:xfrm>
            <a:off x="1252220" y="1807210"/>
            <a:ext cx="2173605" cy="441960"/>
          </a:xfrm>
          <a:prstGeom prst="rect">
            <a:avLst/>
          </a:prstGeom>
          <a:noFill/>
        </p:spPr>
        <p:txBody>
          <a:bodyPr wrap="square" rtlCol="0" lIns="0" rIns="0" tIns="0" bIns="0">
            <a:no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减少生产线停机时间至少</a:t>
            </a:r>
            <a:r>
              <a:rPr kumimoji="1"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20%</a:t>
            </a:r>
            <a:endParaRPr kumimoji="1" lang="en-US" alt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 name="椭圆 2"/>
          <p:cNvSpPr/>
          <p:nvPr/>
        </p:nvSpPr>
        <p:spPr>
          <a:xfrm>
            <a:off x="1072258" y="2399833"/>
            <a:ext cx="120028" cy="120028"/>
          </a:xfrm>
          <a:prstGeom prst="ellipse">
            <a:avLst/>
          </a:prstGeom>
          <a:solidFill>
            <a:srgbClr val="FFFFFF"/>
          </a:solidFill>
          <a:ln>
            <a:solidFill>
              <a:srgbClr val="0042FF"/>
            </a:solidFill>
          </a:ln>
          <a:effectLst>
            <a:outerShdw blurRad="101600" dist="635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9" name="文本框 68"/>
          <p:cNvSpPr txBox="1"/>
          <p:nvPr/>
        </p:nvSpPr>
        <p:spPr>
          <a:xfrm>
            <a:off x="1252491" y="2214799"/>
            <a:ext cx="2185053"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记录每次停机时间，分析停机原因</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0" name="椭圆 69"/>
          <p:cNvSpPr/>
          <p:nvPr/>
        </p:nvSpPr>
        <p:spPr>
          <a:xfrm>
            <a:off x="1072258" y="2913973"/>
            <a:ext cx="120028" cy="120028"/>
          </a:xfrm>
          <a:prstGeom prst="ellipse">
            <a:avLst/>
          </a:prstGeom>
          <a:solidFill>
            <a:srgbClr val="FFFFFF"/>
          </a:solidFill>
          <a:ln>
            <a:solidFill>
              <a:srgbClr val="0042FF"/>
            </a:solidFill>
          </a:ln>
          <a:effectLst>
            <a:outerShdw blurRad="101600" dist="635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1" name="文本框 70"/>
          <p:cNvSpPr txBox="1"/>
          <p:nvPr/>
        </p:nvSpPr>
        <p:spPr>
          <a:xfrm>
            <a:off x="1252491" y="2727137"/>
            <a:ext cx="2185053"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分析常见停机原因，制定改进措施</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5" name="椭圆 54"/>
          <p:cNvSpPr/>
          <p:nvPr/>
        </p:nvSpPr>
        <p:spPr>
          <a:xfrm>
            <a:off x="1072258" y="4434807"/>
            <a:ext cx="120028" cy="120028"/>
          </a:xfrm>
          <a:prstGeom prst="ellipse">
            <a:avLst/>
          </a:prstGeom>
          <a:solidFill>
            <a:srgbClr val="FFFFFF"/>
          </a:solidFill>
          <a:ln>
            <a:solidFill>
              <a:srgbClr val="3368FF"/>
            </a:solidFill>
          </a:ln>
          <a:effectLst>
            <a:outerShdw blurRad="101600" dist="63500" dir="5400000" algn="t"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56" name="文本框 55"/>
          <p:cNvSpPr txBox="1"/>
          <p:nvPr/>
        </p:nvSpPr>
        <p:spPr>
          <a:xfrm>
            <a:off x="1252491" y="4356321"/>
            <a:ext cx="2185053" cy="280718"/>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生产线停机时间减少了</a:t>
            </a:r>
            <a:r>
              <a:rPr kumimoji="1"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25%</a:t>
            </a:r>
            <a:endParaRPr kumimoji="1" lang="en-US" alt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7" name="椭圆 56"/>
          <p:cNvSpPr/>
          <p:nvPr/>
        </p:nvSpPr>
        <p:spPr>
          <a:xfrm>
            <a:off x="1072258" y="4948947"/>
            <a:ext cx="120028" cy="120028"/>
          </a:xfrm>
          <a:prstGeom prst="ellipse">
            <a:avLst/>
          </a:prstGeom>
          <a:solidFill>
            <a:srgbClr val="FFFFFF"/>
          </a:solidFill>
          <a:ln>
            <a:solidFill>
              <a:srgbClr val="3368FF"/>
            </a:solidFill>
          </a:ln>
          <a:effectLst>
            <a:outerShdw blurRad="101600" dist="63500" dir="5400000" algn="t"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58" name="文本框 57"/>
          <p:cNvSpPr txBox="1"/>
          <p:nvPr/>
        </p:nvSpPr>
        <p:spPr>
          <a:xfrm>
            <a:off x="1252491" y="4765030"/>
            <a:ext cx="2185053"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持续监控生产线运行情况，进一步优化设备维护计划</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9" name="椭圆 58"/>
          <p:cNvSpPr/>
          <p:nvPr/>
        </p:nvSpPr>
        <p:spPr>
          <a:xfrm>
            <a:off x="1072258" y="5463087"/>
            <a:ext cx="120028" cy="120028"/>
          </a:xfrm>
          <a:prstGeom prst="ellipse">
            <a:avLst/>
          </a:prstGeom>
          <a:solidFill>
            <a:srgbClr val="FFFFFF"/>
          </a:solidFill>
          <a:ln>
            <a:solidFill>
              <a:srgbClr val="3368FF"/>
            </a:solidFill>
          </a:ln>
          <a:effectLst>
            <a:outerShdw blurRad="101600" dist="63500" dir="5400000" algn="t"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60" name="文本框 59"/>
          <p:cNvSpPr txBox="1"/>
          <p:nvPr/>
        </p:nvSpPr>
        <p:spPr>
          <a:xfrm>
            <a:off x="1252492" y="5275240"/>
            <a:ext cx="2185052"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发现新的停机原因，制定解决方案并执行，确保持续改进</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4" name="椭圆 63"/>
          <p:cNvSpPr/>
          <p:nvPr/>
        </p:nvSpPr>
        <p:spPr>
          <a:xfrm>
            <a:off x="8848105" y="1885693"/>
            <a:ext cx="120028" cy="120028"/>
          </a:xfrm>
          <a:prstGeom prst="ellipse">
            <a:avLst/>
          </a:prstGeom>
          <a:solidFill>
            <a:srgbClr val="FFFFFF"/>
          </a:solidFill>
          <a:ln>
            <a:solidFill>
              <a:srgbClr val="3368FF"/>
            </a:solidFill>
          </a:ln>
          <a:effectLst>
            <a:outerShdw blurRad="101600" dist="63500" dir="5400000" algn="t"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5" name="文本框 64"/>
          <p:cNvSpPr txBox="1"/>
          <p:nvPr/>
        </p:nvSpPr>
        <p:spPr>
          <a:xfrm>
            <a:off x="8997858" y="1746883"/>
            <a:ext cx="2198084"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提供设备操作和维护的培训课程</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6" name="椭圆 65"/>
          <p:cNvSpPr/>
          <p:nvPr/>
        </p:nvSpPr>
        <p:spPr>
          <a:xfrm>
            <a:off x="8848105" y="2399833"/>
            <a:ext cx="120028" cy="120028"/>
          </a:xfrm>
          <a:prstGeom prst="ellipse">
            <a:avLst/>
          </a:prstGeom>
          <a:solidFill>
            <a:srgbClr val="FFFFFF"/>
          </a:solidFill>
          <a:ln>
            <a:solidFill>
              <a:srgbClr val="3368FF"/>
            </a:solidFill>
          </a:ln>
          <a:effectLst>
            <a:outerShdw blurRad="101600" dist="63500" dir="5400000" algn="t"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67" name="文本框 66"/>
          <p:cNvSpPr txBox="1"/>
          <p:nvPr/>
        </p:nvSpPr>
        <p:spPr>
          <a:xfrm>
            <a:off x="8997858" y="2218560"/>
            <a:ext cx="2188420"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制定设备维护计划，定期对设备进行检查和保养</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2" name="椭圆 71"/>
          <p:cNvSpPr/>
          <p:nvPr/>
        </p:nvSpPr>
        <p:spPr>
          <a:xfrm>
            <a:off x="8848105" y="2913973"/>
            <a:ext cx="120028" cy="120028"/>
          </a:xfrm>
          <a:prstGeom prst="ellipse">
            <a:avLst/>
          </a:prstGeom>
          <a:solidFill>
            <a:srgbClr val="FFFFFF"/>
          </a:solidFill>
          <a:ln>
            <a:solidFill>
              <a:srgbClr val="3368FF"/>
            </a:solidFill>
          </a:ln>
          <a:effectLst>
            <a:outerShdw blurRad="101600" dist="63500" dir="5400000" algn="t"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73" name="文本框 72"/>
          <p:cNvSpPr txBox="1"/>
          <p:nvPr/>
        </p:nvSpPr>
        <p:spPr>
          <a:xfrm>
            <a:off x="8997859" y="2776936"/>
            <a:ext cx="2188420"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针对常见停机原因，采取相应的改进措施，更换易损件等</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5" name="椭圆 74"/>
          <p:cNvSpPr/>
          <p:nvPr/>
        </p:nvSpPr>
        <p:spPr>
          <a:xfrm>
            <a:off x="8848105" y="4434807"/>
            <a:ext cx="120028" cy="120028"/>
          </a:xfrm>
          <a:prstGeom prst="ellipse">
            <a:avLst/>
          </a:prstGeom>
          <a:solidFill>
            <a:srgbClr val="FFFFFF"/>
          </a:solidFill>
          <a:ln>
            <a:solidFill>
              <a:srgbClr val="0042FF"/>
            </a:solidFill>
          </a:ln>
          <a:effectLst>
            <a:outerShdw blurRad="101600" dist="635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76" name="文本框 75"/>
          <p:cNvSpPr txBox="1"/>
          <p:nvPr/>
        </p:nvSpPr>
        <p:spPr>
          <a:xfrm>
            <a:off x="9012520" y="4249360"/>
            <a:ext cx="2188420"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记录生产线停机时间及停机原因，建立停机时间数据统计表</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7" name="椭圆 76"/>
          <p:cNvSpPr/>
          <p:nvPr/>
        </p:nvSpPr>
        <p:spPr>
          <a:xfrm>
            <a:off x="8848105" y="4948947"/>
            <a:ext cx="120028" cy="120028"/>
          </a:xfrm>
          <a:prstGeom prst="ellipse">
            <a:avLst/>
          </a:prstGeom>
          <a:solidFill>
            <a:srgbClr val="FFFFFF"/>
          </a:solidFill>
          <a:ln>
            <a:solidFill>
              <a:srgbClr val="0042FF"/>
            </a:solidFill>
          </a:ln>
          <a:effectLst>
            <a:outerShdw blurRad="101600" dist="635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78" name="文本框 77"/>
          <p:cNvSpPr txBox="1"/>
          <p:nvPr/>
        </p:nvSpPr>
        <p:spPr>
          <a:xfrm>
            <a:off x="8997858" y="4765030"/>
            <a:ext cx="2188420"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分析停机时间数据，识别主要停机原因和频率</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9" name="椭圆 78"/>
          <p:cNvSpPr/>
          <p:nvPr/>
        </p:nvSpPr>
        <p:spPr>
          <a:xfrm>
            <a:off x="8848105" y="5463087"/>
            <a:ext cx="120028" cy="120028"/>
          </a:xfrm>
          <a:prstGeom prst="ellipse">
            <a:avLst/>
          </a:prstGeom>
          <a:solidFill>
            <a:srgbClr val="FFFFFF"/>
          </a:solidFill>
          <a:ln>
            <a:solidFill>
              <a:srgbClr val="0042FF"/>
            </a:solidFill>
          </a:ln>
          <a:effectLst>
            <a:outerShdw blurRad="101600" dist="63500" dir="5400000" algn="t" rotWithShape="0">
              <a:srgbClr val="0042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solidFill>
                <a:srgbClr val="383838"/>
              </a:solidFill>
              <a:effectLst/>
              <a:uLnTx/>
              <a:uFillTx/>
              <a:latin typeface="微软雅黑"/>
              <a:ea typeface="微软雅黑"/>
              <a:cs typeface="微软雅黑"/>
              <a:sym typeface="微软雅黑"/>
            </a:endParaRPr>
          </a:p>
        </p:txBody>
      </p:sp>
      <p:sp>
        <p:nvSpPr>
          <p:cNvPr id="80" name="文本框 79"/>
          <p:cNvSpPr txBox="1"/>
          <p:nvPr/>
        </p:nvSpPr>
        <p:spPr>
          <a:xfrm>
            <a:off x="8997858" y="5277205"/>
            <a:ext cx="2188420" cy="502317"/>
          </a:xfrm>
          <a:prstGeom prst="rect">
            <a:avLst/>
          </a:prstGeom>
          <a:noFill/>
        </p:spPr>
        <p:txBody>
          <a:bodyPr wrap="square" rtlCol="0" lIns="0" rIns="0" tIns="0" bIns="0">
            <a:spAutoFit/>
          </a:bodyPr>
          <a:lstStyle/>
          <a:p>
            <a:pPr marL="0" marR="0" lvl="0" indent="0" algn="just" defTabSz="4572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比较改进前后的停机时间数据，评估效果是否达到预期目标</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 name="文本框 6"/>
          <p:cNvSpPr txBox="1"/>
          <p:nvPr/>
        </p:nvSpPr>
        <p:spPr>
          <a:xfrm>
            <a:off x="13788736" y="6819554"/>
            <a:ext cx="184731" cy="369332"/>
          </a:xfrm>
          <a:prstGeom prst="rect">
            <a:avLst/>
          </a:prstGeom>
          <a:noFill/>
        </p:spPr>
        <p:txBody>
          <a:bodyPr wrap="none" rtlCol="0" lIns="0" rIns="0" tIns="0" bIns="0">
            <a:spAutoFit/>
          </a:bodyPr>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96" name="组合 95"/>
          <p:cNvGrpSpPr/>
          <p:nvPr/>
        </p:nvGrpSpPr>
        <p:grpSpPr>
          <a:xfrm>
            <a:off x="3700145" y="1370330"/>
            <a:ext cx="4837430" cy="4853940"/>
            <a:chOff x="5875" y="2038"/>
            <a:chExt cx="7618" cy="7644"/>
          </a:xfrm>
        </p:grpSpPr>
        <p:sp>
          <p:nvSpPr>
            <p:cNvPr id="9" name="椭圆 8"/>
            <p:cNvSpPr/>
            <p:nvPr/>
          </p:nvSpPr>
          <p:spPr>
            <a:xfrm>
              <a:off x="8453" y="4629"/>
              <a:ext cx="2463" cy="2463"/>
            </a:xfrm>
            <a:prstGeom prst="ellipse">
              <a:avLst/>
            </a:prstGeom>
            <a:gradFill flip="none" rotWithShape="1">
              <a:gsLst>
                <a:gs pos="0">
                  <a:srgbClr val="3368FF"/>
                </a:gs>
                <a:gs pos="100000">
                  <a:srgbClr val="0042FF"/>
                </a:gs>
              </a:gsLst>
              <a:lin ang="1200000" scaled="0"/>
              <a:tileRect/>
            </a:gradFill>
            <a:ln w="101600" cap="flat">
              <a:solidFill>
                <a:srgbClr val="E6E6E6"/>
              </a:solidFill>
              <a:prstDash val="solid"/>
              <a:miter/>
            </a:ln>
          </p:spPr>
          <p:txBody>
            <a:bodyPr rtlCol="0" anchor="ctr" lIns="0" rIns="0" tIns="0" bIns="0"/>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 name="同心圆 1"/>
            <p:cNvSpPr/>
            <p:nvPr/>
          </p:nvSpPr>
          <p:spPr>
            <a:xfrm>
              <a:off x="6370" y="2547"/>
              <a:ext cx="6627" cy="6627"/>
            </a:xfrm>
            <a:prstGeom prst="donut">
              <a:avLst>
                <a:gd name="adj" fmla="val 16353"/>
              </a:avLst>
            </a:prstGeom>
            <a:gradFill flip="none" rotWithShape="1">
              <a:gsLst>
                <a:gs pos="100000">
                  <a:srgbClr val="0042FF"/>
                </a:gs>
                <a:gs pos="62000">
                  <a:srgbClr val="3368FF"/>
                </a:gs>
                <a:gs pos="0">
                  <a:srgbClr val="E6E6E6"/>
                </a:gs>
                <a:gs pos="30000">
                  <a:srgbClr val="3368FF"/>
                </a:gs>
              </a:gsLst>
              <a:lin ang="1200000" scaled="0"/>
              <a:tileRect/>
            </a:gradFill>
            <a:ln w="1860" cap="flat">
              <a:noFill/>
              <a:prstDash val="solid"/>
              <a:miter/>
            </a:ln>
          </p:spPr>
          <p:txBody>
            <a:bodyPr rtlCol="0" anchor="ctr" lIns="0" rIns="0" tIns="0" bIns="0"/>
            <a:lstStyle/>
            <a:p>
              <a:pPr marL="0" marR="0" lvl="0" indent="0" algn="l" defTabSz="4572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5" name="椭圆 34"/>
            <p:cNvSpPr/>
            <p:nvPr/>
          </p:nvSpPr>
          <p:spPr>
            <a:xfrm>
              <a:off x="8727" y="2038"/>
              <a:ext cx="1829" cy="1829"/>
            </a:xfrm>
            <a:prstGeom prst="ellipse">
              <a:avLst/>
            </a:prstGeom>
            <a:gradFill flip="none" rotWithShape="1">
              <a:gsLst>
                <a:gs pos="0">
                  <a:srgbClr val="0042FF"/>
                </a:gs>
                <a:gs pos="100000">
                  <a:srgbClr val="3368FF"/>
                </a:gs>
              </a:gsLst>
              <a:lin ang="10800000" scaled="1"/>
              <a:tileRect/>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solidFill>
                    <a:srgbClr val="FFFFFF"/>
                  </a:solidFill>
                  <a:latin typeface="微软雅黑"/>
                  <a:ea typeface="微软雅黑"/>
                  <a:cs typeface="微软雅黑"/>
                </a:defRPr>
              </a:pPr>
              <a:endParaRPr kumimoji="1" lang="zh-CN" altLang="en-US" noProof="0" dirty="0">
                <a:ln>
                  <a:noFill/>
                </a:ln>
                <a:solidFill>
                  <a:srgbClr val="FFFFFF"/>
                </a:solidFill>
                <a:effectLst/>
                <a:uLnTx/>
                <a:uFillTx/>
                <a:latin typeface="微软雅黑"/>
                <a:ea typeface="微软雅黑"/>
                <a:cs typeface="微软雅黑"/>
                <a:sym typeface="微软雅黑"/>
              </a:endParaRPr>
            </a:p>
          </p:txBody>
        </p:sp>
        <p:sp>
          <p:nvSpPr>
            <p:cNvPr id="36" name="椭圆 35"/>
            <p:cNvSpPr/>
            <p:nvPr/>
          </p:nvSpPr>
          <p:spPr>
            <a:xfrm>
              <a:off x="8770" y="7854"/>
              <a:ext cx="1829" cy="1829"/>
            </a:xfrm>
            <a:prstGeom prst="ellipse">
              <a:avLst/>
            </a:prstGeom>
            <a:gradFill flip="none" rotWithShape="1">
              <a:gsLst>
                <a:gs pos="0">
                  <a:srgbClr val="0042FF"/>
                </a:gs>
                <a:gs pos="100000">
                  <a:srgbClr val="3368FF"/>
                </a:gs>
              </a:gsLst>
              <a:lin ang="10800000" scaled="1"/>
              <a:tileRect/>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7" name="椭圆 36"/>
            <p:cNvSpPr/>
            <p:nvPr/>
          </p:nvSpPr>
          <p:spPr>
            <a:xfrm>
              <a:off x="5875" y="4946"/>
              <a:ext cx="1829" cy="1829"/>
            </a:xfrm>
            <a:prstGeom prst="ellipse">
              <a:avLst/>
            </a:prstGeom>
            <a:gradFill flip="none" rotWithShape="1">
              <a:gsLst>
                <a:gs pos="32000">
                  <a:srgbClr val="3368FF"/>
                </a:gs>
                <a:gs pos="100000">
                  <a:srgbClr val="B3D4FE"/>
                </a:gs>
              </a:gsLst>
              <a:lin ang="10800000" scaled="1"/>
              <a:tileRect/>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8" name="椭圆 37"/>
            <p:cNvSpPr/>
            <p:nvPr/>
          </p:nvSpPr>
          <p:spPr>
            <a:xfrm>
              <a:off x="11665" y="4946"/>
              <a:ext cx="1829" cy="1829"/>
            </a:xfrm>
            <a:prstGeom prst="ellipse">
              <a:avLst/>
            </a:prstGeom>
            <a:gradFill flip="none" rotWithShape="1">
              <a:gsLst>
                <a:gs pos="32000">
                  <a:srgbClr val="3368FF"/>
                </a:gs>
                <a:gs pos="100000">
                  <a:srgbClr val="B3D4FE"/>
                </a:gs>
              </a:gsLst>
              <a:lin ang="10800000" scaled="1"/>
              <a:tileRect/>
            </a:gradFill>
            <a:ln w="25400">
              <a:solidFill>
                <a:srgbClr val="FFFFFF"/>
              </a:solidFill>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9" name="文本框 18"/>
            <p:cNvSpPr txBox="1"/>
            <p:nvPr/>
          </p:nvSpPr>
          <p:spPr>
            <a:xfrm>
              <a:off x="9054" y="2379"/>
              <a:ext cx="1260" cy="727"/>
            </a:xfrm>
            <a:prstGeom prst="rect">
              <a:avLst/>
            </a:prstGeom>
            <a:noFill/>
          </p:spPr>
          <p:txBody>
            <a:bodyPr wrap="none" rtlCol="0" lIns="0" rIns="0" tIns="0" bIns="0">
              <a:spAutoFit/>
            </a:bodyPr>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rPr>
                <a:t>计划</a:t>
              </a:r>
              <a:endPar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0" name="文本框 19"/>
            <p:cNvSpPr txBox="1"/>
            <p:nvPr/>
          </p:nvSpPr>
          <p:spPr>
            <a:xfrm>
              <a:off x="11766" y="5296"/>
              <a:ext cx="1626" cy="727"/>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rPr>
                <a:t>执行</a:t>
              </a:r>
              <a:endPar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1" name="文本框 20"/>
            <p:cNvSpPr txBox="1"/>
            <p:nvPr/>
          </p:nvSpPr>
          <p:spPr>
            <a:xfrm>
              <a:off x="9054" y="8239"/>
              <a:ext cx="1260" cy="727"/>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rPr>
                <a:t>检查</a:t>
              </a:r>
              <a:endPar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2" name="文本框 21"/>
            <p:cNvSpPr txBox="1"/>
            <p:nvPr/>
          </p:nvSpPr>
          <p:spPr>
            <a:xfrm>
              <a:off x="6159" y="5296"/>
              <a:ext cx="1260" cy="727"/>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rPr>
                <a:t>行动</a:t>
              </a:r>
              <a:endParaRPr kumimoji="1" lang="zh-CN" altLang="en-US" sz="2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3" name="文本框 22"/>
            <p:cNvSpPr txBox="1"/>
            <p:nvPr/>
          </p:nvSpPr>
          <p:spPr>
            <a:xfrm>
              <a:off x="8993" y="3057"/>
              <a:ext cx="1382" cy="485"/>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Plan</a:t>
              </a:r>
              <a:endPar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4" name="文本框 23"/>
            <p:cNvSpPr txBox="1"/>
            <p:nvPr/>
          </p:nvSpPr>
          <p:spPr>
            <a:xfrm>
              <a:off x="11864" y="5966"/>
              <a:ext cx="1429" cy="485"/>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Do</a:t>
              </a:r>
              <a:endPar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5" name="文本框 24"/>
            <p:cNvSpPr txBox="1"/>
            <p:nvPr/>
          </p:nvSpPr>
          <p:spPr>
            <a:xfrm>
              <a:off x="9034" y="8892"/>
              <a:ext cx="1299" cy="485"/>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Check</a:t>
              </a:r>
              <a:endPar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6" name="文本框 25"/>
            <p:cNvSpPr txBox="1"/>
            <p:nvPr/>
          </p:nvSpPr>
          <p:spPr>
            <a:xfrm>
              <a:off x="6055" y="5966"/>
              <a:ext cx="1467" cy="485"/>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Action</a:t>
              </a:r>
              <a:endParaRPr kumimoji="1" lang="en-US" altLang="zh-CN"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7" name="文本框 26"/>
            <p:cNvSpPr txBox="1"/>
            <p:nvPr/>
          </p:nvSpPr>
          <p:spPr>
            <a:xfrm>
              <a:off x="8812" y="5351"/>
              <a:ext cx="1745" cy="1018"/>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3600" b="1" i="0" u="none" strike="noStrike" kern="1200" cap="none" spc="0" normalizeH="0" baseline="0" noProof="0" dirty="0">
                  <a:ln>
                    <a:noFill/>
                  </a:ln>
                  <a:solidFill>
                    <a:srgbClr val="FFFFFF"/>
                  </a:solidFill>
                  <a:effectLst/>
                  <a:uLnTx/>
                  <a:uFillTx/>
                  <a:latin typeface="微软雅黑"/>
                  <a:ea typeface="微软雅黑"/>
                  <a:cs typeface="微软雅黑"/>
                </a:rPr>
                <a:t>目标</a:t>
              </a:r>
              <a:endParaRPr kumimoji="1" lang="zh-CN" altLang="en-US" sz="36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9" name="图形 14" descr="箭头顺时针弯曲"/>
            <p:cNvSpPr/>
            <p:nvPr/>
          </p:nvSpPr>
          <p:spPr>
            <a:xfrm rot="3790758">
              <a:off x="7455" y="3362"/>
              <a:ext cx="747" cy="953"/>
            </a:xfrm>
            <a:custGeom>
              <a:avLst/>
              <a:gdLst>
                <a:gd name="connsiteX0" fmla="*/ 552450 w 552450"/>
                <a:gd name="connsiteY0" fmla="*/ 704876 h 704876"/>
                <a:gd name="connsiteX1" fmla="*/ 323850 w 552450"/>
                <a:gd name="connsiteY1" fmla="*/ 228626 h 704876"/>
                <a:gd name="connsiteX2" fmla="*/ 457200 w 552450"/>
                <a:gd name="connsiteY2" fmla="*/ 228626 h 704876"/>
                <a:gd name="connsiteX3" fmla="*/ 228600 w 552450"/>
                <a:gd name="connsiteY3" fmla="*/ 26 h 704876"/>
                <a:gd name="connsiteX4" fmla="*/ 0 w 552450"/>
                <a:gd name="connsiteY4" fmla="*/ 228626 h 704876"/>
                <a:gd name="connsiteX5" fmla="*/ 123825 w 552450"/>
                <a:gd name="connsiteY5" fmla="*/ 228626 h 704876"/>
                <a:gd name="connsiteX6" fmla="*/ 552450 w 552450"/>
                <a:gd name="connsiteY6" fmla="*/ 704876 h 70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704876">
                  <a:moveTo>
                    <a:pt x="552450" y="704876"/>
                  </a:moveTo>
                  <a:cubicBezTo>
                    <a:pt x="552450" y="704876"/>
                    <a:pt x="323850" y="633439"/>
                    <a:pt x="323850" y="228626"/>
                  </a:cubicBezTo>
                  <a:lnTo>
                    <a:pt x="457200" y="228626"/>
                  </a:lnTo>
                  <a:lnTo>
                    <a:pt x="228600" y="26"/>
                  </a:lnTo>
                  <a:cubicBezTo>
                    <a:pt x="228600" y="-2831"/>
                    <a:pt x="0" y="228626"/>
                    <a:pt x="0" y="228626"/>
                  </a:cubicBezTo>
                  <a:lnTo>
                    <a:pt x="123825" y="228626"/>
                  </a:lnTo>
                  <a:cubicBezTo>
                    <a:pt x="123825" y="229579"/>
                    <a:pt x="159068" y="615341"/>
                    <a:pt x="552450" y="704876"/>
                  </a:cubicBezTo>
                  <a:close/>
                </a:path>
              </a:pathLst>
            </a:custGeom>
            <a:solidFill>
              <a:srgbClr val="FFFFFF"/>
            </a:solidFill>
            <a:ln w="9525" cap="flat">
              <a:noFill/>
              <a:prstDash val="solid"/>
              <a:miter/>
            </a:ln>
          </p:spPr>
          <p:txBody>
            <a:bodyPr rtlCol="0" anchor="ctr" lIns="0" rIns="0" tIns="0" bIns="0"/>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9" name="图形 14" descr="箭头顺时针弯曲"/>
            <p:cNvSpPr/>
            <p:nvPr/>
          </p:nvSpPr>
          <p:spPr>
            <a:xfrm rot="14196843">
              <a:off x="11398" y="7282"/>
              <a:ext cx="747" cy="953"/>
            </a:xfrm>
            <a:custGeom>
              <a:avLst/>
              <a:gdLst>
                <a:gd name="connsiteX0" fmla="*/ 552450 w 552450"/>
                <a:gd name="connsiteY0" fmla="*/ 704876 h 704876"/>
                <a:gd name="connsiteX1" fmla="*/ 323850 w 552450"/>
                <a:gd name="connsiteY1" fmla="*/ 228626 h 704876"/>
                <a:gd name="connsiteX2" fmla="*/ 457200 w 552450"/>
                <a:gd name="connsiteY2" fmla="*/ 228626 h 704876"/>
                <a:gd name="connsiteX3" fmla="*/ 228600 w 552450"/>
                <a:gd name="connsiteY3" fmla="*/ 26 h 704876"/>
                <a:gd name="connsiteX4" fmla="*/ 0 w 552450"/>
                <a:gd name="connsiteY4" fmla="*/ 228626 h 704876"/>
                <a:gd name="connsiteX5" fmla="*/ 123825 w 552450"/>
                <a:gd name="connsiteY5" fmla="*/ 228626 h 704876"/>
                <a:gd name="connsiteX6" fmla="*/ 552450 w 552450"/>
                <a:gd name="connsiteY6" fmla="*/ 704876 h 70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704876">
                  <a:moveTo>
                    <a:pt x="552450" y="704876"/>
                  </a:moveTo>
                  <a:cubicBezTo>
                    <a:pt x="552450" y="704876"/>
                    <a:pt x="323850" y="633439"/>
                    <a:pt x="323850" y="228626"/>
                  </a:cubicBezTo>
                  <a:lnTo>
                    <a:pt x="457200" y="228626"/>
                  </a:lnTo>
                  <a:lnTo>
                    <a:pt x="228600" y="26"/>
                  </a:lnTo>
                  <a:cubicBezTo>
                    <a:pt x="228600" y="-2831"/>
                    <a:pt x="0" y="228626"/>
                    <a:pt x="0" y="228626"/>
                  </a:cubicBezTo>
                  <a:lnTo>
                    <a:pt x="123825" y="228626"/>
                  </a:lnTo>
                  <a:cubicBezTo>
                    <a:pt x="123825" y="229579"/>
                    <a:pt x="159068" y="615341"/>
                    <a:pt x="552450" y="704876"/>
                  </a:cubicBezTo>
                  <a:close/>
                </a:path>
              </a:pathLst>
            </a:custGeom>
            <a:solidFill>
              <a:srgbClr val="FFFFFF"/>
            </a:solidFill>
            <a:ln w="9525" cap="flat">
              <a:noFill/>
              <a:prstDash val="solid"/>
              <a:miter/>
            </a:ln>
          </p:spPr>
          <p:txBody>
            <a:bodyPr rtlCol="0" anchor="ctr" lIns="0" rIns="0" tIns="0" bIns="0"/>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0" name="图形 14" descr="箭头顺时针弯曲"/>
            <p:cNvSpPr/>
            <p:nvPr/>
          </p:nvSpPr>
          <p:spPr>
            <a:xfrm rot="19984679">
              <a:off x="7380" y="7358"/>
              <a:ext cx="747" cy="953"/>
            </a:xfrm>
            <a:custGeom>
              <a:avLst/>
              <a:gdLst>
                <a:gd name="connsiteX0" fmla="*/ 552450 w 552450"/>
                <a:gd name="connsiteY0" fmla="*/ 704876 h 704876"/>
                <a:gd name="connsiteX1" fmla="*/ 323850 w 552450"/>
                <a:gd name="connsiteY1" fmla="*/ 228626 h 704876"/>
                <a:gd name="connsiteX2" fmla="*/ 457200 w 552450"/>
                <a:gd name="connsiteY2" fmla="*/ 228626 h 704876"/>
                <a:gd name="connsiteX3" fmla="*/ 228600 w 552450"/>
                <a:gd name="connsiteY3" fmla="*/ 26 h 704876"/>
                <a:gd name="connsiteX4" fmla="*/ 0 w 552450"/>
                <a:gd name="connsiteY4" fmla="*/ 228626 h 704876"/>
                <a:gd name="connsiteX5" fmla="*/ 123825 w 552450"/>
                <a:gd name="connsiteY5" fmla="*/ 228626 h 704876"/>
                <a:gd name="connsiteX6" fmla="*/ 552450 w 552450"/>
                <a:gd name="connsiteY6" fmla="*/ 704876 h 70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704876">
                  <a:moveTo>
                    <a:pt x="552450" y="704876"/>
                  </a:moveTo>
                  <a:cubicBezTo>
                    <a:pt x="552450" y="704876"/>
                    <a:pt x="323850" y="633439"/>
                    <a:pt x="323850" y="228626"/>
                  </a:cubicBezTo>
                  <a:lnTo>
                    <a:pt x="457200" y="228626"/>
                  </a:lnTo>
                  <a:lnTo>
                    <a:pt x="228600" y="26"/>
                  </a:lnTo>
                  <a:cubicBezTo>
                    <a:pt x="228600" y="-2831"/>
                    <a:pt x="0" y="228626"/>
                    <a:pt x="0" y="228626"/>
                  </a:cubicBezTo>
                  <a:lnTo>
                    <a:pt x="123825" y="228626"/>
                  </a:lnTo>
                  <a:cubicBezTo>
                    <a:pt x="123825" y="229579"/>
                    <a:pt x="159068" y="615341"/>
                    <a:pt x="552450" y="704876"/>
                  </a:cubicBezTo>
                  <a:close/>
                </a:path>
              </a:pathLst>
            </a:custGeom>
            <a:solidFill>
              <a:srgbClr val="FFFFFF"/>
            </a:solidFill>
            <a:ln w="9525" cap="flat">
              <a:noFill/>
              <a:prstDash val="solid"/>
              <a:miter/>
            </a:ln>
          </p:spPr>
          <p:txBody>
            <a:bodyPr rtlCol="0" anchor="ctr" lIns="0" rIns="0" tIns="0" bIns="0"/>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1" name="图形 14" descr="箭头顺时针弯曲"/>
            <p:cNvSpPr/>
            <p:nvPr/>
          </p:nvSpPr>
          <p:spPr>
            <a:xfrm rot="9546975">
              <a:off x="11271" y="3460"/>
              <a:ext cx="747" cy="953"/>
            </a:xfrm>
            <a:custGeom>
              <a:avLst/>
              <a:gdLst>
                <a:gd name="connsiteX0" fmla="*/ 552450 w 552450"/>
                <a:gd name="connsiteY0" fmla="*/ 704876 h 704876"/>
                <a:gd name="connsiteX1" fmla="*/ 323850 w 552450"/>
                <a:gd name="connsiteY1" fmla="*/ 228626 h 704876"/>
                <a:gd name="connsiteX2" fmla="*/ 457200 w 552450"/>
                <a:gd name="connsiteY2" fmla="*/ 228626 h 704876"/>
                <a:gd name="connsiteX3" fmla="*/ 228600 w 552450"/>
                <a:gd name="connsiteY3" fmla="*/ 26 h 704876"/>
                <a:gd name="connsiteX4" fmla="*/ 0 w 552450"/>
                <a:gd name="connsiteY4" fmla="*/ 228626 h 704876"/>
                <a:gd name="connsiteX5" fmla="*/ 123825 w 552450"/>
                <a:gd name="connsiteY5" fmla="*/ 228626 h 704876"/>
                <a:gd name="connsiteX6" fmla="*/ 552450 w 552450"/>
                <a:gd name="connsiteY6" fmla="*/ 704876 h 70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704876">
                  <a:moveTo>
                    <a:pt x="552450" y="704876"/>
                  </a:moveTo>
                  <a:cubicBezTo>
                    <a:pt x="552450" y="704876"/>
                    <a:pt x="323850" y="633439"/>
                    <a:pt x="323850" y="228626"/>
                  </a:cubicBezTo>
                  <a:lnTo>
                    <a:pt x="457200" y="228626"/>
                  </a:lnTo>
                  <a:lnTo>
                    <a:pt x="228600" y="26"/>
                  </a:lnTo>
                  <a:cubicBezTo>
                    <a:pt x="228600" y="-2831"/>
                    <a:pt x="0" y="228626"/>
                    <a:pt x="0" y="228626"/>
                  </a:cubicBezTo>
                  <a:lnTo>
                    <a:pt x="123825" y="228626"/>
                  </a:lnTo>
                  <a:cubicBezTo>
                    <a:pt x="123825" y="229579"/>
                    <a:pt x="159068" y="615341"/>
                    <a:pt x="552450" y="704876"/>
                  </a:cubicBezTo>
                  <a:close/>
                </a:path>
              </a:pathLst>
            </a:custGeom>
            <a:solidFill>
              <a:srgbClr val="FFFFFF"/>
            </a:solidFill>
            <a:ln w="9525" cap="flat">
              <a:noFill/>
              <a:prstDash val="solid"/>
              <a:miter/>
            </a:ln>
          </p:spPr>
          <p:txBody>
            <a:bodyPr rtlCol="0" anchor="ctr" lIns="0" rIns="0" tIns="0" bIns="0"/>
            <a:lstStyle/>
            <a:p>
              <a:pPr marL="0" marR="0" lvl="0" indent="0" algn="l"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7" name="椭圆 16"/>
            <p:cNvSpPr/>
            <p:nvPr/>
          </p:nvSpPr>
          <p:spPr>
            <a:xfrm>
              <a:off x="7878" y="4055"/>
              <a:ext cx="3611" cy="3611"/>
            </a:xfrm>
            <a:prstGeom prst="ellipse">
              <a:avLst/>
            </a:prstGeom>
            <a:noFill/>
            <a:ln>
              <a:solidFill>
                <a:srgbClr val="668E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90" name="组 92"/>
          <p:cNvGrpSpPr/>
          <p:nvPr/>
        </p:nvGrpSpPr>
        <p:grpSpPr>
          <a:xfrm rot="16540936">
            <a:off x="3357880" y="1036320"/>
            <a:ext cx="5521960" cy="5521960"/>
            <a:chOff x="554448" y="1521383"/>
            <a:chExt cx="4926965" cy="4926965"/>
          </a:xfrm>
        </p:grpSpPr>
        <p:sp>
          <p:nvSpPr>
            <p:cNvPr id="91" name="弧形 61"/>
            <p:cNvSpPr/>
            <p:nvPr/>
          </p:nvSpPr>
          <p:spPr>
            <a:xfrm>
              <a:off x="554448" y="1521383"/>
              <a:ext cx="4926965" cy="4926965"/>
            </a:xfrm>
            <a:prstGeom prst="arc">
              <a:avLst>
                <a:gd name="adj1" fmla="val 5354757"/>
                <a:gd name="adj2" fmla="val 15907736"/>
              </a:avLst>
            </a:prstGeom>
            <a:ln w="38100" cap="sq" cmpd="sng">
              <a:gradFill>
                <a:gsLst>
                  <a:gs pos="100000">
                    <a:srgbClr val="B3D4FE">
                      <a:alpha val="0"/>
                    </a:srgbClr>
                  </a:gs>
                  <a:gs pos="0">
                    <a:srgbClr val="B3D4FE"/>
                  </a:gs>
                </a:gsLst>
                <a:lin ang="5400000" scaled="1"/>
              </a:gradFill>
              <a:prstDash val="solid"/>
              <a:miter lim="800000"/>
              <a:headEnd type="none"/>
              <a:tailEnd type="triangle"/>
            </a:ln>
          </p:spPr>
          <p:style>
            <a:lnRef idx="2">
              <a:srgbClr val="0042FF"/>
            </a:lnRef>
            <a:fillRef idx="0">
              <a:srgbClr val="FFFFFF"/>
            </a:fillRef>
            <a:effectRef idx="0">
              <a:srgbClr val="FFFFFF"/>
            </a:effectRef>
            <a:fontRef idx="minor">
              <a:srgbClr val="383838"/>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92" name="弧形 61"/>
            <p:cNvSpPr/>
            <p:nvPr/>
          </p:nvSpPr>
          <p:spPr>
            <a:xfrm>
              <a:off x="554448" y="1521383"/>
              <a:ext cx="4926965" cy="4926965"/>
            </a:xfrm>
            <a:prstGeom prst="arc">
              <a:avLst>
                <a:gd name="adj1" fmla="val 16270707"/>
                <a:gd name="adj2" fmla="val 5004990"/>
              </a:avLst>
            </a:prstGeom>
            <a:ln w="38100" cap="sq" cmpd="sng">
              <a:gradFill>
                <a:gsLst>
                  <a:gs pos="0">
                    <a:srgbClr val="3368FF">
                      <a:alpha val="0"/>
                    </a:srgbClr>
                  </a:gs>
                  <a:gs pos="99000">
                    <a:srgbClr val="3368FF"/>
                  </a:gs>
                </a:gsLst>
                <a:lin ang="5400000" scaled="1"/>
              </a:gradFill>
              <a:prstDash val="solid"/>
              <a:miter lim="800000"/>
              <a:headEnd type="none"/>
              <a:tailEnd type="triangle"/>
            </a:ln>
          </p:spPr>
          <p:style>
            <a:lnRef idx="2">
              <a:srgbClr val="0042FF"/>
            </a:lnRef>
            <a:fillRef idx="0">
              <a:srgbClr val="FFFFFF"/>
            </a:fillRef>
            <a:effectRef idx="0">
              <a:srgbClr val="FFFFFF"/>
            </a:effectRef>
            <a:fontRef idx="minor">
              <a:srgbClr val="383838"/>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pic>
        <p:nvPicPr>
          <p:cNvPr id="4" name="图片 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0" name="组合 9"/>
          <p:cNvGrpSpPr/>
          <p:nvPr/>
        </p:nvGrpSpPr>
        <p:grpSpPr>
          <a:xfrm>
            <a:off x="8738235" y="348615"/>
            <a:ext cx="3219450" cy="332740"/>
            <a:chOff x="13761" y="549"/>
            <a:chExt cx="5070" cy="524"/>
          </a:xfrm>
        </p:grpSpPr>
        <p:pic>
          <p:nvPicPr>
            <p:cNvPr id="8" name="图片 7"/>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3285"/>
            <a:ext cx="7137400" cy="40626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 </a:t>
            </a:r>
            <a:r>
              <a:rPr lang="en-US" altLang="zh-CN" sz="2500" dirty="0">
                <a:solidFill>
                  <a:srgbClr val="383838"/>
                </a:solidFill>
                <a:effectLst/>
                <a:latin typeface="微软雅黑"/>
                <a:ea typeface="微软雅黑"/>
                <a:cs typeface="微软雅黑"/>
              </a:rPr>
              <a:t>STAR</a:t>
            </a:r>
            <a:r>
              <a:rPr lang="zh-CN" altLang="en-US" sz="2500" dirty="0">
                <a:solidFill>
                  <a:srgbClr val="383838"/>
                </a:solidFill>
                <a:effectLst/>
                <a:latin typeface="微软雅黑"/>
                <a:ea typeface="微软雅黑"/>
                <a:cs typeface="微软雅黑"/>
              </a:rPr>
              <a:t>复盘法模型</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04" name="组合 103"/>
          <p:cNvGrpSpPr/>
          <p:nvPr/>
        </p:nvGrpSpPr>
        <p:grpSpPr>
          <a:xfrm rot="0" flipH="1">
            <a:off x="7618095" y="5487035"/>
            <a:ext cx="3577590" cy="0"/>
            <a:chOff x="2035" y="9189"/>
            <a:chExt cx="5290" cy="0"/>
          </a:xfrm>
        </p:grpSpPr>
        <p:sp>
          <p:nvSpPr>
            <p:cNvPr id="144" name="Line 299"/>
            <p:cNvSpPr>
              <a:spLocks noChangeShapeType="1"/>
            </p:cNvSpPr>
            <p:nvPr>
              <p:custDataLst>
                <p:tags r:id="rId3"/>
              </p:custDataLst>
            </p:nvPr>
          </p:nvSpPr>
          <p:spPr bwMode="auto">
            <a:xfrm>
              <a:off x="2371" y="9189"/>
              <a:ext cx="4954" cy="0"/>
            </a:xfrm>
            <a:prstGeom prst="line">
              <a:avLst/>
            </a:prstGeom>
            <a:noFill/>
            <a:ln w="3175" cap="flat">
              <a:solidFill>
                <a:srgbClr val="3368FF"/>
              </a:solidFill>
              <a:prstDash val="dash"/>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sp>
          <p:nvSpPr>
            <p:cNvPr id="145" name="Line 23"/>
            <p:cNvSpPr>
              <a:spLocks noChangeShapeType="1"/>
            </p:cNvSpPr>
            <p:nvPr>
              <p:custDataLst>
                <p:tags r:id="rId4"/>
              </p:custDataLst>
            </p:nvPr>
          </p:nvSpPr>
          <p:spPr bwMode="auto">
            <a:xfrm flipH="1">
              <a:off x="2035" y="9189"/>
              <a:ext cx="336" cy="0"/>
            </a:xfrm>
            <a:prstGeom prst="line">
              <a:avLst/>
            </a:prstGeom>
            <a:noFill/>
            <a:ln w="25400" cap="rnd">
              <a:solidFill>
                <a:srgbClr val="3368FF"/>
              </a:solidFill>
              <a:prstDash val="solid"/>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grpSp>
      <p:grpSp>
        <p:nvGrpSpPr>
          <p:cNvPr id="105" name="组合 104"/>
          <p:cNvGrpSpPr/>
          <p:nvPr/>
        </p:nvGrpSpPr>
        <p:grpSpPr>
          <a:xfrm rot="0" flipH="1">
            <a:off x="7618095" y="1990725"/>
            <a:ext cx="3577590" cy="0"/>
            <a:chOff x="2035" y="9189"/>
            <a:chExt cx="5290" cy="0"/>
          </a:xfrm>
        </p:grpSpPr>
        <p:sp>
          <p:nvSpPr>
            <p:cNvPr id="142" name="Line 299"/>
            <p:cNvSpPr>
              <a:spLocks noChangeShapeType="1"/>
            </p:cNvSpPr>
            <p:nvPr>
              <p:custDataLst>
                <p:tags r:id="rId5"/>
              </p:custDataLst>
            </p:nvPr>
          </p:nvSpPr>
          <p:spPr bwMode="auto">
            <a:xfrm>
              <a:off x="2371" y="9189"/>
              <a:ext cx="4954" cy="0"/>
            </a:xfrm>
            <a:prstGeom prst="line">
              <a:avLst/>
            </a:prstGeom>
            <a:noFill/>
            <a:ln w="3175" cap="flat">
              <a:solidFill>
                <a:srgbClr val="3368FF"/>
              </a:solidFill>
              <a:prstDash val="dash"/>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sp>
          <p:nvSpPr>
            <p:cNvPr id="143" name="Line 23"/>
            <p:cNvSpPr>
              <a:spLocks noChangeShapeType="1"/>
            </p:cNvSpPr>
            <p:nvPr>
              <p:custDataLst>
                <p:tags r:id="rId6"/>
              </p:custDataLst>
            </p:nvPr>
          </p:nvSpPr>
          <p:spPr bwMode="auto">
            <a:xfrm flipH="1">
              <a:off x="2035" y="9189"/>
              <a:ext cx="336" cy="0"/>
            </a:xfrm>
            <a:prstGeom prst="line">
              <a:avLst/>
            </a:prstGeom>
            <a:noFill/>
            <a:ln w="25400" cap="rnd">
              <a:solidFill>
                <a:srgbClr val="3368FF"/>
              </a:solidFill>
              <a:prstDash val="solid"/>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grpSp>
      <p:grpSp>
        <p:nvGrpSpPr>
          <p:cNvPr id="106" name="组合 105"/>
          <p:cNvGrpSpPr/>
          <p:nvPr/>
        </p:nvGrpSpPr>
        <p:grpSpPr>
          <a:xfrm rot="0">
            <a:off x="1016635" y="1990725"/>
            <a:ext cx="3577590" cy="0"/>
            <a:chOff x="2035" y="9189"/>
            <a:chExt cx="5290" cy="0"/>
          </a:xfrm>
        </p:grpSpPr>
        <p:sp>
          <p:nvSpPr>
            <p:cNvPr id="140" name="Line 299"/>
            <p:cNvSpPr>
              <a:spLocks noChangeShapeType="1"/>
            </p:cNvSpPr>
            <p:nvPr>
              <p:custDataLst>
                <p:tags r:id="rId7"/>
              </p:custDataLst>
            </p:nvPr>
          </p:nvSpPr>
          <p:spPr bwMode="auto">
            <a:xfrm>
              <a:off x="2371" y="9189"/>
              <a:ext cx="4954" cy="0"/>
            </a:xfrm>
            <a:prstGeom prst="line">
              <a:avLst/>
            </a:prstGeom>
            <a:noFill/>
            <a:ln w="3175" cap="flat">
              <a:solidFill>
                <a:srgbClr val="0042FF"/>
              </a:solidFill>
              <a:prstDash val="dash"/>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sp>
          <p:nvSpPr>
            <p:cNvPr id="141" name="Line 23"/>
            <p:cNvSpPr>
              <a:spLocks noChangeShapeType="1"/>
            </p:cNvSpPr>
            <p:nvPr>
              <p:custDataLst>
                <p:tags r:id="rId8"/>
              </p:custDataLst>
            </p:nvPr>
          </p:nvSpPr>
          <p:spPr bwMode="auto">
            <a:xfrm flipH="1">
              <a:off x="2035" y="9189"/>
              <a:ext cx="336" cy="0"/>
            </a:xfrm>
            <a:prstGeom prst="line">
              <a:avLst/>
            </a:prstGeom>
            <a:noFill/>
            <a:ln w="25400" cap="rnd">
              <a:solidFill>
                <a:srgbClr val="0042FF"/>
              </a:solidFill>
              <a:prstDash val="solid"/>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grpSp>
      <p:sp>
        <p:nvSpPr>
          <p:cNvPr id="107" name="TextBox 7"/>
          <p:cNvSpPr txBox="1"/>
          <p:nvPr>
            <p:custDataLst>
              <p:tags r:id="rId9"/>
            </p:custDataLst>
          </p:nvPr>
        </p:nvSpPr>
        <p:spPr>
          <a:xfrm>
            <a:off x="1049020" y="1557655"/>
            <a:ext cx="2432050" cy="307975"/>
          </a:xfrm>
          <a:prstGeom prst="rect">
            <a:avLst/>
          </a:prstGeom>
          <a:noFill/>
        </p:spPr>
        <p:txBody>
          <a:bodyPr wrap="square" lIns="0" tIns="0" rIns="0" bIns="0" rtlCol="0">
            <a:spAutoFit/>
          </a:bodyPr>
          <a:lstStyle/>
          <a:p>
            <a:pPr>
              <a:defRPr>
                <a:latin typeface="微软雅黑"/>
                <a:ea typeface="微软雅黑"/>
                <a:cs typeface="微软雅黑"/>
              </a:defRPr>
            </a:pPr>
            <a:r>
              <a:rPr lang="en-US" altLang="zh-CN" sz="2000" b="1">
                <a:solidFill>
                  <a:srgbClr val="0042FF"/>
                </a:solidFill>
                <a:latin typeface="微软雅黑"/>
                <a:ea typeface="微软雅黑"/>
                <a:cs typeface="微软雅黑"/>
              </a:rPr>
              <a:t>Situation</a:t>
            </a:r>
            <a:r>
              <a:rPr lang="zh-CN" altLang="en-US" sz="2000" b="1">
                <a:solidFill>
                  <a:srgbClr val="0042FF"/>
                </a:solidFill>
                <a:latin typeface="微软雅黑"/>
                <a:ea typeface="微软雅黑"/>
                <a:cs typeface="微软雅黑"/>
              </a:rPr>
              <a:t>：情境</a:t>
            </a:r>
            <a:endParaRPr lang="zh-CN" altLang="en-US" sz="2000" b="1">
              <a:solidFill>
                <a:srgbClr val="0042FF"/>
              </a:solidFill>
              <a:latin typeface="微软雅黑"/>
              <a:ea typeface="微软雅黑"/>
              <a:cs typeface="微软雅黑"/>
            </a:endParaRPr>
          </a:p>
        </p:txBody>
      </p:sp>
      <p:grpSp>
        <p:nvGrpSpPr>
          <p:cNvPr id="108" name="组合 107"/>
          <p:cNvGrpSpPr/>
          <p:nvPr/>
        </p:nvGrpSpPr>
        <p:grpSpPr>
          <a:xfrm rot="0">
            <a:off x="1048385" y="5537835"/>
            <a:ext cx="3592830" cy="451485"/>
            <a:chOff x="1522" y="9189"/>
            <a:chExt cx="5313" cy="668"/>
          </a:xfrm>
        </p:grpSpPr>
        <p:sp>
          <p:nvSpPr>
            <p:cNvPr id="137" name="Line 299"/>
            <p:cNvSpPr>
              <a:spLocks noChangeShapeType="1"/>
            </p:cNvSpPr>
            <p:nvPr>
              <p:custDataLst>
                <p:tags r:id="rId10"/>
              </p:custDataLst>
            </p:nvPr>
          </p:nvSpPr>
          <p:spPr bwMode="auto">
            <a:xfrm>
              <a:off x="1881" y="9189"/>
              <a:ext cx="4954" cy="0"/>
            </a:xfrm>
            <a:prstGeom prst="line">
              <a:avLst/>
            </a:prstGeom>
            <a:noFill/>
            <a:ln w="3175" cap="flat">
              <a:solidFill>
                <a:srgbClr val="B3D4FE"/>
              </a:solidFill>
              <a:prstDash val="dash"/>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sp>
          <p:nvSpPr>
            <p:cNvPr id="138" name="Line 23"/>
            <p:cNvSpPr>
              <a:spLocks noChangeShapeType="1"/>
            </p:cNvSpPr>
            <p:nvPr>
              <p:custDataLst>
                <p:tags r:id="rId11"/>
              </p:custDataLst>
            </p:nvPr>
          </p:nvSpPr>
          <p:spPr bwMode="auto">
            <a:xfrm flipH="1">
              <a:off x="1545" y="9189"/>
              <a:ext cx="336" cy="0"/>
            </a:xfrm>
            <a:prstGeom prst="line">
              <a:avLst/>
            </a:prstGeom>
            <a:noFill/>
            <a:ln w="25400" cap="rnd">
              <a:solidFill>
                <a:srgbClr val="B3D4FE"/>
              </a:solidFill>
              <a:prstDash val="solid"/>
              <a:miter lim="800000"/>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cs typeface="微软雅黑"/>
                <a:latin typeface="微软雅黑"/>
                <a:ea typeface="微软雅黑"/>
              </a:endParaRPr>
            </a:p>
          </p:txBody>
        </p:sp>
        <p:sp>
          <p:nvSpPr>
            <p:cNvPr id="139" name="TextBox 7"/>
            <p:cNvSpPr txBox="1"/>
            <p:nvPr>
              <p:custDataLst>
                <p:tags r:id="rId12"/>
              </p:custDataLst>
            </p:nvPr>
          </p:nvSpPr>
          <p:spPr>
            <a:xfrm>
              <a:off x="1522" y="9402"/>
              <a:ext cx="3596" cy="455"/>
            </a:xfrm>
            <a:prstGeom prst="rect">
              <a:avLst/>
            </a:prstGeom>
            <a:noFill/>
          </p:spPr>
          <p:txBody>
            <a:bodyPr wrap="square" lIns="0" tIns="0" rIns="0" bIns="0" rtlCol="0">
              <a:spAutoFit/>
            </a:bodyPr>
            <a:lstStyle/>
            <a:p>
              <a:pPr>
                <a:defRPr>
                  <a:latin typeface="微软雅黑"/>
                  <a:ea typeface="微软雅黑"/>
                  <a:cs typeface="微软雅黑"/>
                </a:defRPr>
              </a:pPr>
              <a:r>
                <a:rPr lang="en-US" altLang="zh-CN" sz="2000" b="1">
                  <a:solidFill>
                    <a:srgbClr val="0042FF"/>
                  </a:solidFill>
                  <a:latin typeface="微软雅黑"/>
                  <a:ea typeface="微软雅黑"/>
                  <a:cs typeface="微软雅黑"/>
                </a:rPr>
                <a:t>Result</a:t>
              </a:r>
              <a:r>
                <a:rPr lang="zh-CN" altLang="en-US" sz="2000" b="1">
                  <a:solidFill>
                    <a:srgbClr val="0042FF"/>
                  </a:solidFill>
                  <a:latin typeface="微软雅黑"/>
                  <a:ea typeface="微软雅黑"/>
                  <a:cs typeface="微软雅黑"/>
                </a:rPr>
                <a:t>：结果</a:t>
              </a:r>
              <a:endParaRPr lang="zh-CN" altLang="en-US" sz="2000" b="1">
                <a:solidFill>
                  <a:srgbClr val="0042FF"/>
                </a:solidFill>
                <a:latin typeface="微软雅黑"/>
                <a:ea typeface="微软雅黑"/>
                <a:cs typeface="微软雅黑"/>
              </a:endParaRPr>
            </a:p>
          </p:txBody>
        </p:sp>
      </p:grpSp>
      <p:sp>
        <p:nvSpPr>
          <p:cNvPr id="109" name="Freeform 5"/>
          <p:cNvSpPr/>
          <p:nvPr/>
        </p:nvSpPr>
        <p:spPr bwMode="auto">
          <a:xfrm>
            <a:off x="3692525" y="1338580"/>
            <a:ext cx="3513455" cy="1983105"/>
          </a:xfrm>
          <a:custGeom>
            <a:avLst/>
            <a:gdLst>
              <a:gd name="T0" fmla="*/ 1248 w 1248"/>
              <a:gd name="T1" fmla="*/ 705 h 705"/>
              <a:gd name="T2" fmla="*/ 1233 w 1248"/>
              <a:gd name="T3" fmla="*/ 519 h 705"/>
              <a:gd name="T4" fmla="*/ 1192 w 1248"/>
              <a:gd name="T5" fmla="*/ 567 h 705"/>
              <a:gd name="T6" fmla="*/ 1182 w 1248"/>
              <a:gd name="T7" fmla="*/ 542 h 705"/>
              <a:gd name="T8" fmla="*/ 623 w 1248"/>
              <a:gd name="T9" fmla="*/ 281 h 705"/>
              <a:gd name="T10" fmla="*/ 312 w 1248"/>
              <a:gd name="T11" fmla="*/ 0 h 705"/>
              <a:gd name="T12" fmla="*/ 0 w 1248"/>
              <a:gd name="T13" fmla="*/ 312 h 705"/>
              <a:gd name="T14" fmla="*/ 226 w 1248"/>
              <a:gd name="T15" fmla="*/ 612 h 705"/>
              <a:gd name="T16" fmla="*/ 226 w 1248"/>
              <a:gd name="T17" fmla="*/ 612 h 705"/>
              <a:gd name="T18" fmla="*/ 250 w 1248"/>
              <a:gd name="T19" fmla="*/ 618 h 705"/>
              <a:gd name="T20" fmla="*/ 251 w 1248"/>
              <a:gd name="T21" fmla="*/ 618 h 705"/>
              <a:gd name="T22" fmla="*/ 251 w 1248"/>
              <a:gd name="T23" fmla="*/ 618 h 705"/>
              <a:gd name="T24" fmla="*/ 511 w 1248"/>
              <a:gd name="T25" fmla="*/ 368 h 705"/>
              <a:gd name="T26" fmla="*/ 627 w 1248"/>
              <a:gd name="T27" fmla="*/ 328 h 705"/>
              <a:gd name="T28" fmla="*/ 1181 w 1248"/>
              <a:gd name="T29" fmla="*/ 571 h 705"/>
              <a:gd name="T30" fmla="*/ 1117 w 1248"/>
              <a:gd name="T31" fmla="*/ 572 h 705"/>
              <a:gd name="T32" fmla="*/ 1248 w 1248"/>
              <a:gd name="T33" fmla="*/ 705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8" h="705">
                <a:moveTo>
                  <a:pt x="1248" y="705"/>
                </a:moveTo>
                <a:cubicBezTo>
                  <a:pt x="1233" y="519"/>
                  <a:pt x="1233" y="519"/>
                  <a:pt x="1233" y="519"/>
                </a:cubicBezTo>
                <a:cubicBezTo>
                  <a:pt x="1192" y="567"/>
                  <a:pt x="1192" y="567"/>
                  <a:pt x="1192" y="567"/>
                </a:cubicBezTo>
                <a:cubicBezTo>
                  <a:pt x="1188" y="556"/>
                  <a:pt x="1187" y="553"/>
                  <a:pt x="1182" y="542"/>
                </a:cubicBezTo>
                <a:cubicBezTo>
                  <a:pt x="1087" y="335"/>
                  <a:pt x="851" y="233"/>
                  <a:pt x="623" y="281"/>
                </a:cubicBezTo>
                <a:cubicBezTo>
                  <a:pt x="607" y="123"/>
                  <a:pt x="474" y="0"/>
                  <a:pt x="312" y="0"/>
                </a:cubicBezTo>
                <a:cubicBezTo>
                  <a:pt x="140" y="0"/>
                  <a:pt x="0" y="139"/>
                  <a:pt x="0" y="312"/>
                </a:cubicBezTo>
                <a:cubicBezTo>
                  <a:pt x="0" y="454"/>
                  <a:pt x="96" y="574"/>
                  <a:pt x="226" y="612"/>
                </a:cubicBezTo>
                <a:cubicBezTo>
                  <a:pt x="226" y="612"/>
                  <a:pt x="226" y="612"/>
                  <a:pt x="226" y="612"/>
                </a:cubicBezTo>
                <a:cubicBezTo>
                  <a:pt x="234" y="614"/>
                  <a:pt x="242" y="616"/>
                  <a:pt x="250" y="618"/>
                </a:cubicBezTo>
                <a:cubicBezTo>
                  <a:pt x="251" y="618"/>
                  <a:pt x="251" y="618"/>
                  <a:pt x="251" y="618"/>
                </a:cubicBezTo>
                <a:cubicBezTo>
                  <a:pt x="251" y="618"/>
                  <a:pt x="251" y="618"/>
                  <a:pt x="251" y="618"/>
                </a:cubicBezTo>
                <a:cubicBezTo>
                  <a:pt x="303" y="513"/>
                  <a:pt x="393" y="423"/>
                  <a:pt x="511" y="368"/>
                </a:cubicBezTo>
                <a:cubicBezTo>
                  <a:pt x="580" y="336"/>
                  <a:pt x="626" y="328"/>
                  <a:pt x="627" y="328"/>
                </a:cubicBezTo>
                <a:cubicBezTo>
                  <a:pt x="853" y="278"/>
                  <a:pt x="1082" y="370"/>
                  <a:pt x="1181" y="571"/>
                </a:cubicBezTo>
                <a:cubicBezTo>
                  <a:pt x="1117" y="572"/>
                  <a:pt x="1117" y="572"/>
                  <a:pt x="1117" y="572"/>
                </a:cubicBezTo>
                <a:lnTo>
                  <a:pt x="1248" y="705"/>
                </a:lnTo>
                <a:close/>
              </a:path>
            </a:pathLst>
          </a:custGeom>
          <a:solidFill>
            <a:srgbClr val="0042FF"/>
          </a:solidFill>
          <a:ln w="25400">
            <a:noFill/>
            <a:miter lim="800000"/>
          </a:ln>
          <a:effectLst/>
        </p:spPr>
        <p:txBody>
          <a:bodyPr vert="horz" wrap="square" lIns="0" tIns="0" rIns="0" bIns="0" numCol="1" anchor="ctr"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2645"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0" name="Freeform 8"/>
          <p:cNvSpPr/>
          <p:nvPr/>
        </p:nvSpPr>
        <p:spPr bwMode="auto">
          <a:xfrm>
            <a:off x="4968875" y="4330700"/>
            <a:ext cx="3575050" cy="1894205"/>
          </a:xfrm>
          <a:custGeom>
            <a:avLst/>
            <a:gdLst>
              <a:gd name="T0" fmla="*/ 0 w 1270"/>
              <a:gd name="T1" fmla="*/ 0 h 673"/>
              <a:gd name="T2" fmla="*/ 22 w 1270"/>
              <a:gd name="T3" fmla="*/ 185 h 673"/>
              <a:gd name="T4" fmla="*/ 62 w 1270"/>
              <a:gd name="T5" fmla="*/ 136 h 673"/>
              <a:gd name="T6" fmla="*/ 73 w 1270"/>
              <a:gd name="T7" fmla="*/ 161 h 673"/>
              <a:gd name="T8" fmla="*/ 642 w 1270"/>
              <a:gd name="T9" fmla="*/ 398 h 673"/>
              <a:gd name="T10" fmla="*/ 964 w 1270"/>
              <a:gd name="T11" fmla="*/ 666 h 673"/>
              <a:gd name="T12" fmla="*/ 1263 w 1270"/>
              <a:gd name="T13" fmla="*/ 342 h 673"/>
              <a:gd name="T14" fmla="*/ 1025 w 1270"/>
              <a:gd name="T15" fmla="*/ 51 h 673"/>
              <a:gd name="T16" fmla="*/ 1025 w 1270"/>
              <a:gd name="T17" fmla="*/ 51 h 673"/>
              <a:gd name="T18" fmla="*/ 1000 w 1270"/>
              <a:gd name="T19" fmla="*/ 46 h 673"/>
              <a:gd name="T20" fmla="*/ 1000 w 1270"/>
              <a:gd name="T21" fmla="*/ 46 h 673"/>
              <a:gd name="T22" fmla="*/ 999 w 1270"/>
              <a:gd name="T23" fmla="*/ 46 h 673"/>
              <a:gd name="T24" fmla="*/ 750 w 1270"/>
              <a:gd name="T25" fmla="*/ 306 h 673"/>
              <a:gd name="T26" fmla="*/ 636 w 1270"/>
              <a:gd name="T27" fmla="*/ 351 h 673"/>
              <a:gd name="T28" fmla="*/ 72 w 1270"/>
              <a:gd name="T29" fmla="*/ 131 h 673"/>
              <a:gd name="T30" fmla="*/ 136 w 1270"/>
              <a:gd name="T31" fmla="*/ 127 h 673"/>
              <a:gd name="T32" fmla="*/ 0 w 1270"/>
              <a:gd name="T33" fmla="*/ 0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0" h="673">
                <a:moveTo>
                  <a:pt x="0" y="0"/>
                </a:moveTo>
                <a:cubicBezTo>
                  <a:pt x="22" y="185"/>
                  <a:pt x="22" y="185"/>
                  <a:pt x="22" y="185"/>
                </a:cubicBezTo>
                <a:cubicBezTo>
                  <a:pt x="62" y="136"/>
                  <a:pt x="62" y="136"/>
                  <a:pt x="62" y="136"/>
                </a:cubicBezTo>
                <a:cubicBezTo>
                  <a:pt x="66" y="147"/>
                  <a:pt x="67" y="150"/>
                  <a:pt x="73" y="161"/>
                </a:cubicBezTo>
                <a:cubicBezTo>
                  <a:pt x="176" y="363"/>
                  <a:pt x="416" y="456"/>
                  <a:pt x="642" y="398"/>
                </a:cubicBezTo>
                <a:cubicBezTo>
                  <a:pt x="664" y="555"/>
                  <a:pt x="802" y="673"/>
                  <a:pt x="964" y="666"/>
                </a:cubicBezTo>
                <a:cubicBezTo>
                  <a:pt x="1136" y="659"/>
                  <a:pt x="1270" y="514"/>
                  <a:pt x="1263" y="342"/>
                </a:cubicBezTo>
                <a:cubicBezTo>
                  <a:pt x="1257" y="199"/>
                  <a:pt x="1156" y="83"/>
                  <a:pt x="1025" y="51"/>
                </a:cubicBezTo>
                <a:cubicBezTo>
                  <a:pt x="1025" y="51"/>
                  <a:pt x="1025" y="51"/>
                  <a:pt x="1025" y="51"/>
                </a:cubicBezTo>
                <a:cubicBezTo>
                  <a:pt x="1017" y="49"/>
                  <a:pt x="1008" y="47"/>
                  <a:pt x="1000" y="46"/>
                </a:cubicBezTo>
                <a:cubicBezTo>
                  <a:pt x="1000" y="46"/>
                  <a:pt x="1000" y="46"/>
                  <a:pt x="1000" y="46"/>
                </a:cubicBezTo>
                <a:cubicBezTo>
                  <a:pt x="1000" y="46"/>
                  <a:pt x="999" y="46"/>
                  <a:pt x="999" y="46"/>
                </a:cubicBezTo>
                <a:cubicBezTo>
                  <a:pt x="951" y="153"/>
                  <a:pt x="865" y="247"/>
                  <a:pt x="750" y="306"/>
                </a:cubicBezTo>
                <a:cubicBezTo>
                  <a:pt x="682" y="341"/>
                  <a:pt x="637" y="351"/>
                  <a:pt x="636" y="351"/>
                </a:cubicBezTo>
                <a:cubicBezTo>
                  <a:pt x="412" y="411"/>
                  <a:pt x="179" y="328"/>
                  <a:pt x="72" y="131"/>
                </a:cubicBezTo>
                <a:cubicBezTo>
                  <a:pt x="136" y="127"/>
                  <a:pt x="136" y="127"/>
                  <a:pt x="136" y="127"/>
                </a:cubicBezTo>
                <a:lnTo>
                  <a:pt x="0" y="0"/>
                </a:lnTo>
                <a:close/>
              </a:path>
            </a:pathLst>
          </a:custGeom>
          <a:solidFill>
            <a:srgbClr val="3368FF"/>
          </a:solidFill>
          <a:ln w="25400">
            <a:noFill/>
            <a:miter lim="800000"/>
          </a:ln>
          <a:effectLst/>
        </p:spPr>
        <p:txBody>
          <a:bodyPr vert="horz" wrap="square" lIns="0" tIns="0" rIns="0" bIns="0" numCol="1" anchor="ctr"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2645"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1" name="Freeform 9"/>
          <p:cNvSpPr/>
          <p:nvPr/>
        </p:nvSpPr>
        <p:spPr bwMode="auto">
          <a:xfrm>
            <a:off x="3692525" y="2647315"/>
            <a:ext cx="1892300" cy="3577590"/>
          </a:xfrm>
          <a:custGeom>
            <a:avLst/>
            <a:gdLst>
              <a:gd name="T0" fmla="*/ 672 w 672"/>
              <a:gd name="T1" fmla="*/ 0 h 1271"/>
              <a:gd name="T2" fmla="*/ 487 w 672"/>
              <a:gd name="T3" fmla="*/ 23 h 1271"/>
              <a:gd name="T4" fmla="*/ 536 w 672"/>
              <a:gd name="T5" fmla="*/ 62 h 1271"/>
              <a:gd name="T6" fmla="*/ 511 w 672"/>
              <a:gd name="T7" fmla="*/ 73 h 1271"/>
              <a:gd name="T8" fmla="*/ 274 w 672"/>
              <a:gd name="T9" fmla="*/ 643 h 1271"/>
              <a:gd name="T10" fmla="*/ 6 w 672"/>
              <a:gd name="T11" fmla="*/ 965 h 1271"/>
              <a:gd name="T12" fmla="*/ 331 w 672"/>
              <a:gd name="T13" fmla="*/ 1264 h 1271"/>
              <a:gd name="T14" fmla="*/ 622 w 672"/>
              <a:gd name="T15" fmla="*/ 1025 h 1271"/>
              <a:gd name="T16" fmla="*/ 622 w 672"/>
              <a:gd name="T17" fmla="*/ 1025 h 1271"/>
              <a:gd name="T18" fmla="*/ 627 w 672"/>
              <a:gd name="T19" fmla="*/ 1000 h 1271"/>
              <a:gd name="T20" fmla="*/ 627 w 672"/>
              <a:gd name="T21" fmla="*/ 1000 h 1271"/>
              <a:gd name="T22" fmla="*/ 627 w 672"/>
              <a:gd name="T23" fmla="*/ 1000 h 1271"/>
              <a:gd name="T24" fmla="*/ 366 w 672"/>
              <a:gd name="T25" fmla="*/ 750 h 1271"/>
              <a:gd name="T26" fmla="*/ 321 w 672"/>
              <a:gd name="T27" fmla="*/ 637 h 1271"/>
              <a:gd name="T28" fmla="*/ 540 w 672"/>
              <a:gd name="T29" fmla="*/ 73 h 1271"/>
              <a:gd name="T30" fmla="*/ 545 w 672"/>
              <a:gd name="T31" fmla="*/ 137 h 1271"/>
              <a:gd name="T32" fmla="*/ 672 w 672"/>
              <a:gd name="T33" fmla="*/ 0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2" h="1271">
                <a:moveTo>
                  <a:pt x="672" y="0"/>
                </a:moveTo>
                <a:cubicBezTo>
                  <a:pt x="487" y="23"/>
                  <a:pt x="487" y="23"/>
                  <a:pt x="487" y="23"/>
                </a:cubicBezTo>
                <a:cubicBezTo>
                  <a:pt x="536" y="62"/>
                  <a:pt x="536" y="62"/>
                  <a:pt x="536" y="62"/>
                </a:cubicBezTo>
                <a:cubicBezTo>
                  <a:pt x="525" y="67"/>
                  <a:pt x="522" y="68"/>
                  <a:pt x="511" y="73"/>
                </a:cubicBezTo>
                <a:cubicBezTo>
                  <a:pt x="309" y="177"/>
                  <a:pt x="216" y="417"/>
                  <a:pt x="274" y="643"/>
                </a:cubicBezTo>
                <a:cubicBezTo>
                  <a:pt x="117" y="665"/>
                  <a:pt x="0" y="803"/>
                  <a:pt x="6" y="965"/>
                </a:cubicBezTo>
                <a:cubicBezTo>
                  <a:pt x="14" y="1137"/>
                  <a:pt x="159" y="1271"/>
                  <a:pt x="331" y="1264"/>
                </a:cubicBezTo>
                <a:cubicBezTo>
                  <a:pt x="474" y="1258"/>
                  <a:pt x="590" y="1157"/>
                  <a:pt x="622" y="1025"/>
                </a:cubicBezTo>
                <a:cubicBezTo>
                  <a:pt x="622" y="1025"/>
                  <a:pt x="622" y="1025"/>
                  <a:pt x="622" y="1025"/>
                </a:cubicBezTo>
                <a:cubicBezTo>
                  <a:pt x="624" y="1017"/>
                  <a:pt x="625" y="1009"/>
                  <a:pt x="627" y="1000"/>
                </a:cubicBezTo>
                <a:cubicBezTo>
                  <a:pt x="627" y="1000"/>
                  <a:pt x="627" y="1000"/>
                  <a:pt x="627" y="1000"/>
                </a:cubicBezTo>
                <a:cubicBezTo>
                  <a:pt x="627" y="1000"/>
                  <a:pt x="627" y="1000"/>
                  <a:pt x="627" y="1000"/>
                </a:cubicBezTo>
                <a:cubicBezTo>
                  <a:pt x="520" y="952"/>
                  <a:pt x="426" y="866"/>
                  <a:pt x="366" y="750"/>
                </a:cubicBezTo>
                <a:cubicBezTo>
                  <a:pt x="331" y="683"/>
                  <a:pt x="322" y="638"/>
                  <a:pt x="321" y="637"/>
                </a:cubicBezTo>
                <a:cubicBezTo>
                  <a:pt x="261" y="413"/>
                  <a:pt x="344" y="180"/>
                  <a:pt x="540" y="73"/>
                </a:cubicBezTo>
                <a:cubicBezTo>
                  <a:pt x="545" y="137"/>
                  <a:pt x="545" y="137"/>
                  <a:pt x="545" y="137"/>
                </a:cubicBezTo>
                <a:lnTo>
                  <a:pt x="672" y="0"/>
                </a:lnTo>
                <a:close/>
              </a:path>
            </a:pathLst>
          </a:custGeom>
          <a:solidFill>
            <a:srgbClr val="B3D4FE"/>
          </a:solidFill>
          <a:ln w="25400">
            <a:noFill/>
            <a:miter lim="800000"/>
          </a:ln>
          <a:effectLst/>
        </p:spPr>
        <p:txBody>
          <a:bodyPr vert="horz" wrap="square" lIns="0" tIns="0" rIns="0" bIns="0" numCol="1" anchor="b" anchorCtr="0" compatLnSpc="1"/>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2645"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2" name="Freeform 7"/>
          <p:cNvSpPr/>
          <p:nvPr/>
        </p:nvSpPr>
        <p:spPr bwMode="auto">
          <a:xfrm>
            <a:off x="6559550" y="1338580"/>
            <a:ext cx="1985010" cy="3516630"/>
          </a:xfrm>
          <a:custGeom>
            <a:avLst/>
            <a:gdLst>
              <a:gd name="T0" fmla="*/ 0 w 705"/>
              <a:gd name="T1" fmla="*/ 1249 h 1249"/>
              <a:gd name="T2" fmla="*/ 186 w 705"/>
              <a:gd name="T3" fmla="*/ 1234 h 1249"/>
              <a:gd name="T4" fmla="*/ 139 w 705"/>
              <a:gd name="T5" fmla="*/ 1192 h 1249"/>
              <a:gd name="T6" fmla="*/ 164 w 705"/>
              <a:gd name="T7" fmla="*/ 1182 h 1249"/>
              <a:gd name="T8" fmla="*/ 424 w 705"/>
              <a:gd name="T9" fmla="*/ 623 h 1249"/>
              <a:gd name="T10" fmla="*/ 705 w 705"/>
              <a:gd name="T11" fmla="*/ 312 h 1249"/>
              <a:gd name="T12" fmla="*/ 393 w 705"/>
              <a:gd name="T13" fmla="*/ 0 h 1249"/>
              <a:gd name="T14" fmla="*/ 93 w 705"/>
              <a:gd name="T15" fmla="*/ 227 h 1249"/>
              <a:gd name="T16" fmla="*/ 93 w 705"/>
              <a:gd name="T17" fmla="*/ 227 h 1249"/>
              <a:gd name="T18" fmla="*/ 87 w 705"/>
              <a:gd name="T19" fmla="*/ 251 h 1249"/>
              <a:gd name="T20" fmla="*/ 87 w 705"/>
              <a:gd name="T21" fmla="*/ 251 h 1249"/>
              <a:gd name="T22" fmla="*/ 87 w 705"/>
              <a:gd name="T23" fmla="*/ 252 h 1249"/>
              <a:gd name="T24" fmla="*/ 337 w 705"/>
              <a:gd name="T25" fmla="*/ 512 h 1249"/>
              <a:gd name="T26" fmla="*/ 377 w 705"/>
              <a:gd name="T27" fmla="*/ 627 h 1249"/>
              <a:gd name="T28" fmla="*/ 135 w 705"/>
              <a:gd name="T29" fmla="*/ 1182 h 1249"/>
              <a:gd name="T30" fmla="*/ 133 w 705"/>
              <a:gd name="T31" fmla="*/ 1118 h 1249"/>
              <a:gd name="T32" fmla="*/ 0 w 705"/>
              <a:gd name="T33" fmla="*/ 1249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5" h="1249">
                <a:moveTo>
                  <a:pt x="0" y="1249"/>
                </a:moveTo>
                <a:cubicBezTo>
                  <a:pt x="186" y="1234"/>
                  <a:pt x="186" y="1234"/>
                  <a:pt x="186" y="1234"/>
                </a:cubicBezTo>
                <a:cubicBezTo>
                  <a:pt x="139" y="1192"/>
                  <a:pt x="139" y="1192"/>
                  <a:pt x="139" y="1192"/>
                </a:cubicBezTo>
                <a:cubicBezTo>
                  <a:pt x="150" y="1188"/>
                  <a:pt x="153" y="1187"/>
                  <a:pt x="164" y="1182"/>
                </a:cubicBezTo>
                <a:cubicBezTo>
                  <a:pt x="370" y="1087"/>
                  <a:pt x="473" y="851"/>
                  <a:pt x="424" y="623"/>
                </a:cubicBezTo>
                <a:cubicBezTo>
                  <a:pt x="582" y="608"/>
                  <a:pt x="705" y="474"/>
                  <a:pt x="705" y="312"/>
                </a:cubicBezTo>
                <a:cubicBezTo>
                  <a:pt x="705" y="140"/>
                  <a:pt x="565" y="0"/>
                  <a:pt x="393" y="0"/>
                </a:cubicBezTo>
                <a:cubicBezTo>
                  <a:pt x="250" y="1"/>
                  <a:pt x="130" y="96"/>
                  <a:pt x="93" y="227"/>
                </a:cubicBezTo>
                <a:cubicBezTo>
                  <a:pt x="93" y="227"/>
                  <a:pt x="93" y="227"/>
                  <a:pt x="93" y="227"/>
                </a:cubicBezTo>
                <a:cubicBezTo>
                  <a:pt x="90" y="235"/>
                  <a:pt x="88" y="243"/>
                  <a:pt x="87" y="251"/>
                </a:cubicBezTo>
                <a:cubicBezTo>
                  <a:pt x="87" y="251"/>
                  <a:pt x="87" y="251"/>
                  <a:pt x="87" y="251"/>
                </a:cubicBezTo>
                <a:cubicBezTo>
                  <a:pt x="87" y="252"/>
                  <a:pt x="87" y="252"/>
                  <a:pt x="87" y="252"/>
                </a:cubicBezTo>
                <a:cubicBezTo>
                  <a:pt x="192" y="304"/>
                  <a:pt x="282" y="394"/>
                  <a:pt x="337" y="512"/>
                </a:cubicBezTo>
                <a:cubicBezTo>
                  <a:pt x="369" y="580"/>
                  <a:pt x="377" y="626"/>
                  <a:pt x="377" y="627"/>
                </a:cubicBezTo>
                <a:cubicBezTo>
                  <a:pt x="428" y="854"/>
                  <a:pt x="336" y="1083"/>
                  <a:pt x="135" y="1182"/>
                </a:cubicBezTo>
                <a:cubicBezTo>
                  <a:pt x="133" y="1118"/>
                  <a:pt x="133" y="1118"/>
                  <a:pt x="133" y="1118"/>
                </a:cubicBezTo>
                <a:lnTo>
                  <a:pt x="0" y="1249"/>
                </a:lnTo>
                <a:close/>
              </a:path>
            </a:pathLst>
          </a:custGeom>
          <a:solidFill>
            <a:srgbClr val="3368FF"/>
          </a:solidFill>
          <a:ln w="25400">
            <a:noFill/>
            <a:miter lim="800000"/>
          </a:ln>
          <a:effectLst/>
        </p:spPr>
        <p:txBody>
          <a:bodyPr vert="horz" wrap="square" lIns="0" tIns="0" rIns="0" bIns="0" numCol="1" anchor="ctr"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2645"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3" name="椭圆 112"/>
          <p:cNvSpPr/>
          <p:nvPr/>
        </p:nvSpPr>
        <p:spPr>
          <a:xfrm>
            <a:off x="5169535" y="2851150"/>
            <a:ext cx="1844675" cy="1844675"/>
          </a:xfrm>
          <a:prstGeom prst="ellipse">
            <a:avLst/>
          </a:prstGeom>
          <a:solidFill>
            <a:srgbClr val="FFFFFF"/>
          </a:solidFill>
          <a:ln w="25400" cap="flat" cmpd="sng" algn="ctr">
            <a:solidFill>
              <a:srgbClr val="3368FF"/>
            </a:solidFill>
            <a:prstDash val="solid"/>
            <a:miter lim="800000"/>
          </a:ln>
          <a:effectLst>
            <a:outerShdw blurRad="50800" dist="38100" dir="2700000" algn="tl" rotWithShape="0">
              <a:srgbClr val="3368FF">
                <a:alpha val="34000"/>
              </a:srgbClr>
            </a:outerShdw>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5169535" y="3258185"/>
            <a:ext cx="1844675" cy="967740"/>
          </a:xfrm>
          <a:prstGeom prst="rect">
            <a:avLst/>
          </a:prstGeom>
          <a:ln w="12700">
            <a:miter lim="400000"/>
          </a:ln>
        </p:spPr>
        <p:txBody>
          <a:bodyPr wrap="square" lIns="22400" tIns="22400" rIns="22400" bIns="22400">
            <a:spAutoFit/>
          </a:bodyPr>
          <a:lstStyle>
            <a:lvl1pPr>
              <a:lnSpc>
                <a:spcPct val="130000"/>
              </a:lnSpc>
              <a:defRPr sz="2000">
                <a:solidFill>
                  <a:srgbClr val="383838"/>
                </a:solidFill>
                <a:latin typeface="微软雅黑"/>
                <a:ea typeface="微软雅黑"/>
                <a:cs typeface="微软雅黑"/>
                <a:sym typeface="微软雅黑"/>
              </a:defRPr>
            </a:lvl1pPr>
          </a:lstStyle>
          <a:p>
            <a:pPr indent="0" algn="ctr" fontAlgn="auto">
              <a:lnSpc>
                <a:spcPct val="100000"/>
              </a:lnSpc>
              <a:defRPr>
                <a:latin typeface="微软雅黑"/>
                <a:ea typeface="微软雅黑"/>
                <a:cs typeface="微软雅黑"/>
              </a:defRPr>
            </a:pPr>
            <a:r>
              <a:rPr lang="en-US" altLang="zh-CN" sz="3000" b="1" dirty="0">
                <a:solidFill>
                  <a:srgbClr val="0042FF"/>
                </a:solidFill>
                <a:latin typeface="微软雅黑"/>
                <a:ea typeface="微软雅黑"/>
                <a:cs typeface="微软雅黑"/>
                <a:sym typeface="微软雅黑"/>
              </a:rPr>
              <a:t>STAR</a:t>
            </a:r>
            <a:endParaRPr lang="en-US" altLang="zh-CN" sz="3000" b="1" dirty="0">
              <a:solidFill>
                <a:srgbClr val="0042FF"/>
              </a:solidFill>
              <a:latin typeface="微软雅黑"/>
              <a:ea typeface="微软雅黑"/>
              <a:cs typeface="微软雅黑"/>
              <a:sym typeface="微软雅黑"/>
            </a:endParaRPr>
          </a:p>
          <a:p>
            <a:pPr indent="0" algn="ctr" fontAlgn="auto">
              <a:lnSpc>
                <a:spcPct val="100000"/>
              </a:lnSpc>
              <a:defRPr>
                <a:latin typeface="微软雅黑"/>
                <a:ea typeface="微软雅黑"/>
                <a:cs typeface="微软雅黑"/>
              </a:defRPr>
            </a:pPr>
            <a:r>
              <a:rPr lang="zh-CN" altLang="en-US" sz="3000" b="1" dirty="0">
                <a:solidFill>
                  <a:srgbClr val="0042FF"/>
                </a:solidFill>
                <a:latin typeface="微软雅黑"/>
                <a:ea typeface="微软雅黑"/>
                <a:cs typeface="微软雅黑"/>
                <a:sym typeface="微软雅黑"/>
              </a:rPr>
              <a:t>复盘法</a:t>
            </a:r>
            <a:endParaRPr lang="zh-CN" altLang="en-US" sz="3000" b="1" dirty="0">
              <a:solidFill>
                <a:srgbClr val="0042FF"/>
              </a:solidFill>
              <a:latin typeface="微软雅黑"/>
              <a:ea typeface="微软雅黑"/>
              <a:cs typeface="微软雅黑"/>
              <a:sym typeface="微软雅黑"/>
            </a:endParaRPr>
          </a:p>
        </p:txBody>
      </p:sp>
      <p:grpSp>
        <p:nvGrpSpPr>
          <p:cNvPr id="115" name="组合 114"/>
          <p:cNvGrpSpPr/>
          <p:nvPr/>
        </p:nvGrpSpPr>
        <p:grpSpPr>
          <a:xfrm rot="0">
            <a:off x="3998595" y="1565275"/>
            <a:ext cx="1113155" cy="706755"/>
            <a:chOff x="7815" y="28528"/>
            <a:chExt cx="1646" cy="1045"/>
          </a:xfrm>
        </p:grpSpPr>
        <p:sp>
          <p:nvSpPr>
            <p:cNvPr id="135" name="文本框 134"/>
            <p:cNvSpPr txBox="1"/>
            <p:nvPr/>
          </p:nvSpPr>
          <p:spPr>
            <a:xfrm>
              <a:off x="7815" y="28528"/>
              <a:ext cx="732" cy="1045"/>
            </a:xfrm>
            <a:prstGeom prst="rect">
              <a:avLst/>
            </a:prstGeom>
            <a:noFill/>
          </p:spPr>
          <p:txBody>
            <a:bodyPr wrap="square" rtlCol="0">
              <a:spAutoFit/>
            </a:bodyPr>
            <a:lstStyle/>
            <a:p>
              <a:pPr>
                <a:defRPr>
                  <a:solidFill>
                    <a:srgbClr val="FFFFFF"/>
                  </a:solidFill>
                  <a:latin typeface="微软雅黑"/>
                  <a:ea typeface="微软雅黑"/>
                  <a:cs typeface="微软雅黑"/>
                </a:defRPr>
              </a:pPr>
              <a:r>
                <a:rPr kumimoji="1" lang="en-US" altLang="zh-CN" sz="4000" b="1" dirty="0">
                  <a:solidFill>
                    <a:srgbClr val="FFFFFF"/>
                  </a:solidFill>
                  <a:latin typeface="微软雅黑"/>
                  <a:ea typeface="微软雅黑"/>
                  <a:cs typeface="微软雅黑"/>
                </a:rPr>
                <a:t>S</a:t>
              </a:r>
              <a:endParaRPr kumimoji="1" lang="en-US" altLang="zh-CN" sz="4000" b="1" dirty="0">
                <a:solidFill>
                  <a:srgbClr val="FFFFFF"/>
                </a:solidFill>
                <a:latin typeface="微软雅黑"/>
                <a:ea typeface="微软雅黑"/>
                <a:cs typeface="微软雅黑"/>
              </a:endParaRPr>
            </a:p>
          </p:txBody>
        </p:sp>
        <p:sp>
          <p:nvSpPr>
            <p:cNvPr id="136" name="文本框 135"/>
            <p:cNvSpPr txBox="1"/>
            <p:nvPr/>
          </p:nvSpPr>
          <p:spPr>
            <a:xfrm>
              <a:off x="8373" y="28918"/>
              <a:ext cx="1088" cy="581"/>
            </a:xfrm>
            <a:prstGeom prst="rect">
              <a:avLst/>
            </a:prstGeom>
            <a:noFill/>
          </p:spPr>
          <p:txBody>
            <a:bodyPr wrap="square" rtlCol="0">
              <a:spAutoFit/>
            </a:bodyPr>
            <a:lstStyle/>
            <a:p>
              <a:pPr>
                <a:defRPr>
                  <a:solidFill>
                    <a:srgbClr val="FFFFFF"/>
                  </a:solidFill>
                  <a:latin typeface="微软雅黑"/>
                  <a:ea typeface="微软雅黑"/>
                  <a:cs typeface="微软雅黑"/>
                </a:defRPr>
              </a:pPr>
              <a:r>
                <a:rPr kumimoji="1" lang="zh-CN" altLang="en-US" sz="2000" dirty="0">
                  <a:solidFill>
                    <a:srgbClr val="FFFFFF"/>
                  </a:solidFill>
                  <a:latin typeface="微软雅黑"/>
                  <a:ea typeface="微软雅黑"/>
                  <a:cs typeface="微软雅黑"/>
                </a:rPr>
                <a:t>情境</a:t>
              </a:r>
              <a:endParaRPr kumimoji="1" lang="zh-CN" altLang="en-US" sz="2000" dirty="0">
                <a:solidFill>
                  <a:srgbClr val="FFFFFF"/>
                </a:solidFill>
                <a:latin typeface="微软雅黑"/>
                <a:ea typeface="微软雅黑"/>
                <a:cs typeface="微软雅黑"/>
              </a:endParaRPr>
            </a:p>
          </p:txBody>
        </p:sp>
      </p:grpSp>
      <p:grpSp>
        <p:nvGrpSpPr>
          <p:cNvPr id="116" name="组合 115"/>
          <p:cNvGrpSpPr/>
          <p:nvPr/>
        </p:nvGrpSpPr>
        <p:grpSpPr>
          <a:xfrm rot="0">
            <a:off x="7228840" y="1565275"/>
            <a:ext cx="1042670" cy="706755"/>
            <a:chOff x="11345" y="28528"/>
            <a:chExt cx="1542" cy="1045"/>
          </a:xfrm>
        </p:grpSpPr>
        <p:sp>
          <p:nvSpPr>
            <p:cNvPr id="133" name="文本框 132"/>
            <p:cNvSpPr txBox="1"/>
            <p:nvPr/>
          </p:nvSpPr>
          <p:spPr>
            <a:xfrm>
              <a:off x="12132" y="28528"/>
              <a:ext cx="755" cy="1045"/>
            </a:xfrm>
            <a:prstGeom prst="rect">
              <a:avLst/>
            </a:prstGeom>
            <a:noFill/>
          </p:spPr>
          <p:txBody>
            <a:bodyPr wrap="square" rtlCol="0">
              <a:spAutoFit/>
            </a:bodyPr>
            <a:lstStyle/>
            <a:p>
              <a:pPr>
                <a:defRPr>
                  <a:solidFill>
                    <a:srgbClr val="FFFFFF"/>
                  </a:solidFill>
                  <a:latin typeface="微软雅黑"/>
                  <a:ea typeface="微软雅黑"/>
                  <a:cs typeface="微软雅黑"/>
                </a:defRPr>
              </a:pPr>
              <a:r>
                <a:rPr kumimoji="1" lang="en-US" altLang="zh-CN" sz="4000" b="1" dirty="0">
                  <a:solidFill>
                    <a:srgbClr val="FFFFFF"/>
                  </a:solidFill>
                  <a:latin typeface="微软雅黑"/>
                  <a:ea typeface="微软雅黑"/>
                  <a:cs typeface="微软雅黑"/>
                </a:rPr>
                <a:t>T</a:t>
              </a:r>
              <a:endParaRPr kumimoji="1" lang="en-US" altLang="zh-CN" sz="4000" b="1" dirty="0">
                <a:solidFill>
                  <a:srgbClr val="FFFFFF"/>
                </a:solidFill>
                <a:latin typeface="微软雅黑"/>
                <a:ea typeface="微软雅黑"/>
                <a:cs typeface="微软雅黑"/>
              </a:endParaRPr>
            </a:p>
          </p:txBody>
        </p:sp>
        <p:sp>
          <p:nvSpPr>
            <p:cNvPr id="134" name="文本框 133"/>
            <p:cNvSpPr txBox="1"/>
            <p:nvPr/>
          </p:nvSpPr>
          <p:spPr>
            <a:xfrm>
              <a:off x="11345" y="28919"/>
              <a:ext cx="1089" cy="581"/>
            </a:xfrm>
            <a:prstGeom prst="rect">
              <a:avLst/>
            </a:prstGeom>
            <a:noFill/>
          </p:spPr>
          <p:txBody>
            <a:bodyPr wrap="square" rtlCol="0">
              <a:spAutoFit/>
            </a:bodyPr>
            <a:lstStyle/>
            <a:p>
              <a:pPr>
                <a:defRPr>
                  <a:solidFill>
                    <a:srgbClr val="FFFFFF"/>
                  </a:solidFill>
                  <a:latin typeface="微软雅黑"/>
                  <a:ea typeface="微软雅黑"/>
                  <a:cs typeface="微软雅黑"/>
                </a:defRPr>
              </a:pPr>
              <a:r>
                <a:rPr kumimoji="1" lang="zh-CN" altLang="en-US" sz="2000" dirty="0">
                  <a:solidFill>
                    <a:srgbClr val="FFFFFF"/>
                  </a:solidFill>
                  <a:latin typeface="微软雅黑"/>
                  <a:ea typeface="微软雅黑"/>
                  <a:cs typeface="微软雅黑"/>
                </a:rPr>
                <a:t>任务</a:t>
              </a:r>
              <a:endParaRPr kumimoji="1" lang="zh-CN" altLang="en-US" sz="2000" dirty="0">
                <a:solidFill>
                  <a:srgbClr val="FFFFFF"/>
                </a:solidFill>
                <a:latin typeface="微软雅黑"/>
                <a:ea typeface="微软雅黑"/>
                <a:cs typeface="微软雅黑"/>
              </a:endParaRPr>
            </a:p>
          </p:txBody>
        </p:sp>
      </p:grpSp>
      <p:grpSp>
        <p:nvGrpSpPr>
          <p:cNvPr id="117" name="组合 116"/>
          <p:cNvGrpSpPr/>
          <p:nvPr/>
        </p:nvGrpSpPr>
        <p:grpSpPr>
          <a:xfrm rot="0">
            <a:off x="7087235" y="5198110"/>
            <a:ext cx="1165860" cy="706755"/>
            <a:chOff x="11233" y="32426"/>
            <a:chExt cx="1724" cy="1045"/>
          </a:xfrm>
        </p:grpSpPr>
        <p:sp>
          <p:nvSpPr>
            <p:cNvPr id="131" name="文本框 130"/>
            <p:cNvSpPr txBox="1"/>
            <p:nvPr/>
          </p:nvSpPr>
          <p:spPr>
            <a:xfrm>
              <a:off x="12132" y="32426"/>
              <a:ext cx="825" cy="1045"/>
            </a:xfrm>
            <a:prstGeom prst="rect">
              <a:avLst/>
            </a:prstGeom>
            <a:noFill/>
          </p:spPr>
          <p:txBody>
            <a:bodyPr wrap="square" rtlCol="0">
              <a:spAutoFit/>
            </a:bodyPr>
            <a:lstStyle/>
            <a:p>
              <a:pPr>
                <a:defRPr>
                  <a:solidFill>
                    <a:srgbClr val="FFFFFF"/>
                  </a:solidFill>
                  <a:latin typeface="微软雅黑"/>
                  <a:ea typeface="微软雅黑"/>
                  <a:cs typeface="微软雅黑"/>
                </a:defRPr>
              </a:pPr>
              <a:r>
                <a:rPr kumimoji="1" lang="en-US" altLang="zh-CN" sz="4000" b="1" dirty="0">
                  <a:solidFill>
                    <a:srgbClr val="FFFFFF"/>
                  </a:solidFill>
                  <a:latin typeface="微软雅黑"/>
                  <a:ea typeface="微软雅黑"/>
                  <a:cs typeface="微软雅黑"/>
                </a:rPr>
                <a:t>A</a:t>
              </a:r>
              <a:endParaRPr kumimoji="1" lang="en-US" altLang="zh-CN" sz="4000" b="1" dirty="0">
                <a:solidFill>
                  <a:srgbClr val="FFFFFF"/>
                </a:solidFill>
                <a:latin typeface="微软雅黑"/>
                <a:ea typeface="微软雅黑"/>
                <a:cs typeface="微软雅黑"/>
              </a:endParaRPr>
            </a:p>
          </p:txBody>
        </p:sp>
        <p:sp>
          <p:nvSpPr>
            <p:cNvPr id="132" name="文本框 131"/>
            <p:cNvSpPr txBox="1"/>
            <p:nvPr/>
          </p:nvSpPr>
          <p:spPr>
            <a:xfrm>
              <a:off x="11233" y="32484"/>
              <a:ext cx="1089" cy="581"/>
            </a:xfrm>
            <a:prstGeom prst="rect">
              <a:avLst/>
            </a:prstGeom>
            <a:noFill/>
          </p:spPr>
          <p:txBody>
            <a:bodyPr wrap="square" rtlCol="0">
              <a:spAutoFit/>
            </a:bodyPr>
            <a:lstStyle/>
            <a:p>
              <a:pPr>
                <a:defRPr>
                  <a:solidFill>
                    <a:srgbClr val="FFFFFF"/>
                  </a:solidFill>
                  <a:latin typeface="微软雅黑"/>
                  <a:ea typeface="微软雅黑"/>
                  <a:cs typeface="微软雅黑"/>
                </a:defRPr>
              </a:pPr>
              <a:r>
                <a:rPr kumimoji="1" lang="zh-CN" altLang="en-US" sz="2000" dirty="0">
                  <a:solidFill>
                    <a:srgbClr val="FFFFFF"/>
                  </a:solidFill>
                  <a:latin typeface="微软雅黑"/>
                  <a:ea typeface="微软雅黑"/>
                  <a:cs typeface="微软雅黑"/>
                </a:rPr>
                <a:t>行动</a:t>
              </a:r>
              <a:endParaRPr kumimoji="1" lang="zh-CN" altLang="en-US" sz="2000" dirty="0">
                <a:solidFill>
                  <a:srgbClr val="FFFFFF"/>
                </a:solidFill>
                <a:latin typeface="微软雅黑"/>
                <a:ea typeface="微软雅黑"/>
                <a:cs typeface="微软雅黑"/>
              </a:endParaRPr>
            </a:p>
          </p:txBody>
        </p:sp>
      </p:grpSp>
      <p:grpSp>
        <p:nvGrpSpPr>
          <p:cNvPr id="118" name="组合 117"/>
          <p:cNvGrpSpPr/>
          <p:nvPr/>
        </p:nvGrpSpPr>
        <p:grpSpPr>
          <a:xfrm rot="0">
            <a:off x="3943985" y="5198110"/>
            <a:ext cx="1167765" cy="706755"/>
            <a:chOff x="16414" y="30709"/>
            <a:chExt cx="1727" cy="1045"/>
          </a:xfrm>
        </p:grpSpPr>
        <p:sp>
          <p:nvSpPr>
            <p:cNvPr id="129" name="文本框 128"/>
            <p:cNvSpPr txBox="1"/>
            <p:nvPr/>
          </p:nvSpPr>
          <p:spPr>
            <a:xfrm>
              <a:off x="16414" y="30709"/>
              <a:ext cx="813" cy="1045"/>
            </a:xfrm>
            <a:prstGeom prst="rect">
              <a:avLst/>
            </a:prstGeom>
            <a:noFill/>
          </p:spPr>
          <p:txBody>
            <a:bodyPr wrap="square" rtlCol="0">
              <a:spAutoFit/>
            </a:bodyPr>
            <a:lstStyle/>
            <a:p>
              <a:pPr>
                <a:defRPr>
                  <a:latin typeface="微软雅黑"/>
                  <a:ea typeface="微软雅黑"/>
                  <a:cs typeface="微软雅黑"/>
                </a:defRPr>
              </a:pPr>
              <a:r>
                <a:rPr kumimoji="1" lang="en-US" altLang="zh-CN" sz="4000" b="1" dirty="0">
                  <a:solidFill>
                    <a:srgbClr val="383838"/>
                  </a:solidFill>
                  <a:latin typeface="微软雅黑"/>
                  <a:ea typeface="微软雅黑"/>
                  <a:cs typeface="微软雅黑"/>
                </a:rPr>
                <a:t>R</a:t>
              </a:r>
              <a:endParaRPr kumimoji="1" lang="en-US" altLang="zh-CN" sz="4000" b="1" dirty="0">
                <a:solidFill>
                  <a:srgbClr val="383838"/>
                </a:solidFill>
                <a:latin typeface="微软雅黑"/>
                <a:ea typeface="微软雅黑"/>
                <a:cs typeface="微软雅黑"/>
              </a:endParaRPr>
            </a:p>
          </p:txBody>
        </p:sp>
        <p:sp>
          <p:nvSpPr>
            <p:cNvPr id="130" name="文本框 129"/>
            <p:cNvSpPr txBox="1"/>
            <p:nvPr/>
          </p:nvSpPr>
          <p:spPr>
            <a:xfrm>
              <a:off x="17053" y="30767"/>
              <a:ext cx="1088" cy="581"/>
            </a:xfrm>
            <a:prstGeom prst="rect">
              <a:avLst/>
            </a:prstGeom>
            <a:noFill/>
          </p:spPr>
          <p:txBody>
            <a:bodyPr wrap="square" rtlCol="0">
              <a:spAutoFit/>
            </a:bodyPr>
            <a:lstStyle/>
            <a:p>
              <a:pPr>
                <a:defRPr>
                  <a:latin typeface="微软雅黑"/>
                  <a:ea typeface="微软雅黑"/>
                  <a:cs typeface="微软雅黑"/>
                </a:defRPr>
              </a:pPr>
              <a:r>
                <a:rPr kumimoji="1" lang="zh-CN" altLang="en-US" sz="2000" dirty="0">
                  <a:solidFill>
                    <a:srgbClr val="383838"/>
                  </a:solidFill>
                  <a:latin typeface="微软雅黑"/>
                  <a:ea typeface="微软雅黑"/>
                  <a:cs typeface="微软雅黑"/>
                </a:rPr>
                <a:t>结果</a:t>
              </a:r>
              <a:endParaRPr kumimoji="1" lang="zh-CN" altLang="en-US" sz="2000" dirty="0">
                <a:solidFill>
                  <a:srgbClr val="383838"/>
                </a:solidFill>
                <a:latin typeface="微软雅黑"/>
                <a:ea typeface="微软雅黑"/>
                <a:cs typeface="微软雅黑"/>
              </a:endParaRPr>
            </a:p>
          </p:txBody>
        </p:sp>
      </p:grpSp>
      <p:sp>
        <p:nvSpPr>
          <p:cNvPr id="119" name="TextBox 6"/>
          <p:cNvSpPr txBox="1"/>
          <p:nvPr>
            <p:custDataLst>
              <p:tags r:id="rId13"/>
            </p:custDataLst>
          </p:nvPr>
        </p:nvSpPr>
        <p:spPr>
          <a:xfrm>
            <a:off x="1000760" y="2150110"/>
            <a:ext cx="2494915" cy="466725"/>
          </a:xfrm>
          <a:prstGeom prst="rect">
            <a:avLst/>
          </a:prstGeom>
          <a:noFill/>
        </p:spPr>
        <p:txBody>
          <a:bodyPr wrap="square" lIns="0" tIns="0" rIns="0" bIns="0" rtlCol="0">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rPr>
              <a:t>定义：</a:t>
            </a:r>
            <a:r>
              <a:rPr lang="zh-CN" altLang="en-US" sz="1600" dirty="0" err="1">
                <a:solidFill>
                  <a:srgbClr val="383838"/>
                </a:solidFill>
                <a:latin typeface="微软雅黑"/>
                <a:ea typeface="微软雅黑"/>
                <a:cs typeface="微软雅黑"/>
              </a:rPr>
              <a:t>明确事件发生的背景、环境和条件。</a:t>
            </a:r>
            <a:endParaRPr lang="zh-CN" altLang="en-US" sz="1600" dirty="0" err="1">
              <a:solidFill>
                <a:srgbClr val="383838"/>
              </a:solidFill>
              <a:latin typeface="微软雅黑"/>
              <a:ea typeface="微软雅黑"/>
              <a:cs typeface="微软雅黑"/>
            </a:endParaRPr>
          </a:p>
        </p:txBody>
      </p:sp>
      <p:sp>
        <p:nvSpPr>
          <p:cNvPr id="120" name="文本框 119"/>
          <p:cNvSpPr txBox="1"/>
          <p:nvPr/>
        </p:nvSpPr>
        <p:spPr>
          <a:xfrm>
            <a:off x="905510" y="2707640"/>
            <a:ext cx="2590165" cy="558165"/>
          </a:xfrm>
          <a:prstGeom prst="rect">
            <a:avLst/>
          </a:prstGeom>
          <a:noFill/>
        </p:spPr>
        <p:txBody>
          <a:bodyPr wrap="square" rtlCol="0" anchor="t">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sym typeface="微软雅黑"/>
              </a:rPr>
              <a:t>关键问题：</a:t>
            </a:r>
            <a:r>
              <a:rPr lang="zh-CN" altLang="en-US" sz="1600" dirty="0" err="1">
                <a:solidFill>
                  <a:srgbClr val="383838"/>
                </a:solidFill>
                <a:latin typeface="微软雅黑"/>
                <a:ea typeface="微软雅黑"/>
                <a:cs typeface="微软雅黑"/>
                <a:sym typeface="微软雅黑"/>
              </a:rPr>
              <a:t>当时发生了什么？有哪些外部因素影响？</a:t>
            </a:r>
            <a:endParaRPr lang="zh-CN" altLang="en-US" sz="1600" dirty="0" err="1">
              <a:solidFill>
                <a:srgbClr val="383838"/>
              </a:solidFill>
              <a:latin typeface="微软雅黑"/>
              <a:ea typeface="微软雅黑"/>
              <a:cs typeface="微软雅黑"/>
              <a:sym typeface="微软雅黑"/>
            </a:endParaRPr>
          </a:p>
        </p:txBody>
      </p:sp>
      <p:sp>
        <p:nvSpPr>
          <p:cNvPr id="121" name="TextBox 6"/>
          <p:cNvSpPr txBox="1"/>
          <p:nvPr>
            <p:custDataLst>
              <p:tags r:id="rId14"/>
            </p:custDataLst>
          </p:nvPr>
        </p:nvSpPr>
        <p:spPr>
          <a:xfrm>
            <a:off x="1049020" y="4254500"/>
            <a:ext cx="2642870" cy="466725"/>
          </a:xfrm>
          <a:prstGeom prst="rect">
            <a:avLst/>
          </a:prstGeom>
          <a:noFill/>
        </p:spPr>
        <p:txBody>
          <a:bodyPr wrap="square" lIns="0" tIns="0" rIns="0" bIns="0" rtlCol="0">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rPr>
              <a:t>定义：</a:t>
            </a:r>
            <a:r>
              <a:rPr lang="zh-CN" altLang="en-US" sz="1600" dirty="0" err="1">
                <a:solidFill>
                  <a:srgbClr val="383838"/>
                </a:solidFill>
                <a:latin typeface="微软雅黑"/>
                <a:ea typeface="微软雅黑"/>
                <a:cs typeface="微软雅黑"/>
              </a:rPr>
              <a:t>评估最终成果，分析目标与实际的差距及原因。</a:t>
            </a:r>
            <a:endParaRPr lang="zh-CN" altLang="en-US" sz="1600" dirty="0" err="1">
              <a:solidFill>
                <a:srgbClr val="383838"/>
              </a:solidFill>
              <a:latin typeface="微软雅黑"/>
              <a:ea typeface="微软雅黑"/>
              <a:cs typeface="微软雅黑"/>
            </a:endParaRPr>
          </a:p>
        </p:txBody>
      </p:sp>
      <p:sp>
        <p:nvSpPr>
          <p:cNvPr id="122" name="文本框 121"/>
          <p:cNvSpPr txBox="1"/>
          <p:nvPr/>
        </p:nvSpPr>
        <p:spPr>
          <a:xfrm>
            <a:off x="953770" y="4812030"/>
            <a:ext cx="2590165" cy="558165"/>
          </a:xfrm>
          <a:prstGeom prst="rect">
            <a:avLst/>
          </a:prstGeom>
          <a:noFill/>
        </p:spPr>
        <p:txBody>
          <a:bodyPr wrap="square" rtlCol="0" anchor="t">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sym typeface="微软雅黑"/>
              </a:rPr>
              <a:t>关键问题：</a:t>
            </a:r>
            <a:r>
              <a:rPr lang="zh-CN" altLang="en-US" sz="1600" dirty="0" err="1">
                <a:solidFill>
                  <a:srgbClr val="383838"/>
                </a:solidFill>
                <a:latin typeface="微软雅黑"/>
                <a:ea typeface="微软雅黑"/>
                <a:cs typeface="微软雅黑"/>
                <a:sym typeface="微软雅黑"/>
              </a:rPr>
              <a:t>是否达成预期？有哪些意外收获或教训？</a:t>
            </a:r>
            <a:endParaRPr lang="zh-CN" altLang="en-US" sz="1600" dirty="0" err="1">
              <a:solidFill>
                <a:srgbClr val="383838"/>
              </a:solidFill>
              <a:latin typeface="微软雅黑"/>
              <a:ea typeface="微软雅黑"/>
              <a:cs typeface="微软雅黑"/>
              <a:sym typeface="微软雅黑"/>
            </a:endParaRPr>
          </a:p>
        </p:txBody>
      </p:sp>
      <p:sp>
        <p:nvSpPr>
          <p:cNvPr id="123" name="TextBox 7"/>
          <p:cNvSpPr txBox="1"/>
          <p:nvPr>
            <p:custDataLst>
              <p:tags r:id="rId15"/>
            </p:custDataLst>
          </p:nvPr>
        </p:nvSpPr>
        <p:spPr>
          <a:xfrm>
            <a:off x="9803765" y="1518920"/>
            <a:ext cx="1901190" cy="307975"/>
          </a:xfrm>
          <a:prstGeom prst="rect">
            <a:avLst/>
          </a:prstGeom>
          <a:noFill/>
        </p:spPr>
        <p:txBody>
          <a:bodyPr wrap="square" lIns="0" tIns="0" rIns="0" bIns="0" rtlCol="0">
            <a:spAutoFit/>
          </a:bodyPr>
          <a:lstStyle/>
          <a:p>
            <a:pPr>
              <a:defRPr>
                <a:latin typeface="微软雅黑"/>
                <a:ea typeface="微软雅黑"/>
                <a:cs typeface="微软雅黑"/>
              </a:defRPr>
            </a:pPr>
            <a:r>
              <a:rPr lang="en-US" altLang="zh-CN" sz="2000" b="1">
                <a:solidFill>
                  <a:srgbClr val="0042FF"/>
                </a:solidFill>
                <a:latin typeface="微软雅黑"/>
                <a:ea typeface="微软雅黑"/>
                <a:cs typeface="微软雅黑"/>
              </a:rPr>
              <a:t>Task</a:t>
            </a:r>
            <a:r>
              <a:rPr lang="zh-CN" altLang="en-US" sz="2000" b="1">
                <a:solidFill>
                  <a:srgbClr val="0042FF"/>
                </a:solidFill>
                <a:latin typeface="微软雅黑"/>
                <a:ea typeface="微软雅黑"/>
                <a:cs typeface="微软雅黑"/>
              </a:rPr>
              <a:t>：任务</a:t>
            </a:r>
            <a:endParaRPr lang="zh-CN" altLang="en-US" sz="2000" b="1">
              <a:solidFill>
                <a:srgbClr val="0042FF"/>
              </a:solidFill>
              <a:latin typeface="微软雅黑"/>
              <a:ea typeface="微软雅黑"/>
              <a:cs typeface="微软雅黑"/>
            </a:endParaRPr>
          </a:p>
        </p:txBody>
      </p:sp>
      <p:sp>
        <p:nvSpPr>
          <p:cNvPr id="124" name="TextBox 6"/>
          <p:cNvSpPr txBox="1"/>
          <p:nvPr>
            <p:custDataLst>
              <p:tags r:id="rId16"/>
            </p:custDataLst>
          </p:nvPr>
        </p:nvSpPr>
        <p:spPr>
          <a:xfrm>
            <a:off x="8766175" y="2197735"/>
            <a:ext cx="2708910" cy="466725"/>
          </a:xfrm>
          <a:prstGeom prst="rect">
            <a:avLst/>
          </a:prstGeom>
          <a:noFill/>
        </p:spPr>
        <p:txBody>
          <a:bodyPr wrap="square" lIns="0" tIns="0" rIns="0" bIns="0" rtlCol="0">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rPr>
              <a:t>定义：</a:t>
            </a:r>
            <a:r>
              <a:rPr lang="zh-CN" altLang="en-US" sz="1600" dirty="0" err="1">
                <a:solidFill>
                  <a:srgbClr val="383838"/>
                </a:solidFill>
                <a:latin typeface="微软雅黑"/>
                <a:ea typeface="微软雅黑"/>
                <a:cs typeface="微软雅黑"/>
              </a:rPr>
              <a:t>明确事件中需要完成的具体目标或责任。</a:t>
            </a:r>
            <a:endParaRPr lang="zh-CN" altLang="en-US" sz="1600" dirty="0" err="1">
              <a:solidFill>
                <a:srgbClr val="383838"/>
              </a:solidFill>
              <a:latin typeface="微软雅黑"/>
              <a:ea typeface="微软雅黑"/>
              <a:cs typeface="微软雅黑"/>
            </a:endParaRPr>
          </a:p>
        </p:txBody>
      </p:sp>
      <p:sp>
        <p:nvSpPr>
          <p:cNvPr id="125" name="文本框 124"/>
          <p:cNvSpPr txBox="1"/>
          <p:nvPr/>
        </p:nvSpPr>
        <p:spPr>
          <a:xfrm>
            <a:off x="8671560" y="2755900"/>
            <a:ext cx="2891155" cy="558165"/>
          </a:xfrm>
          <a:prstGeom prst="rect">
            <a:avLst/>
          </a:prstGeom>
          <a:noFill/>
        </p:spPr>
        <p:txBody>
          <a:bodyPr wrap="square" rtlCol="0" anchor="t">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sym typeface="微软雅黑"/>
              </a:rPr>
              <a:t>关键问题：</a:t>
            </a:r>
            <a:r>
              <a:rPr lang="zh-CN" altLang="en-US" sz="1600" dirty="0" err="1">
                <a:solidFill>
                  <a:srgbClr val="383838"/>
                </a:solidFill>
                <a:latin typeface="微软雅黑"/>
                <a:ea typeface="微软雅黑"/>
                <a:cs typeface="微软雅黑"/>
                <a:sym typeface="微软雅黑"/>
              </a:rPr>
              <a:t>你的角色是什么？预期达成哪些量化成果？</a:t>
            </a:r>
            <a:endParaRPr lang="zh-CN" altLang="en-US" sz="1600" dirty="0" err="1">
              <a:solidFill>
                <a:srgbClr val="383838"/>
              </a:solidFill>
              <a:latin typeface="微软雅黑"/>
              <a:ea typeface="微软雅黑"/>
              <a:cs typeface="微软雅黑"/>
              <a:sym typeface="微软雅黑"/>
            </a:endParaRPr>
          </a:p>
        </p:txBody>
      </p:sp>
      <p:sp>
        <p:nvSpPr>
          <p:cNvPr id="126" name="TextBox 7"/>
          <p:cNvSpPr txBox="1"/>
          <p:nvPr>
            <p:custDataLst>
              <p:tags r:id="rId17"/>
            </p:custDataLst>
          </p:nvPr>
        </p:nvSpPr>
        <p:spPr>
          <a:xfrm>
            <a:off x="9662160" y="5678805"/>
            <a:ext cx="1901190" cy="307975"/>
          </a:xfrm>
          <a:prstGeom prst="rect">
            <a:avLst/>
          </a:prstGeom>
          <a:noFill/>
        </p:spPr>
        <p:txBody>
          <a:bodyPr wrap="square" lIns="0" tIns="0" rIns="0" bIns="0" rtlCol="0">
            <a:spAutoFit/>
          </a:bodyPr>
          <a:lstStyle/>
          <a:p>
            <a:pPr>
              <a:defRPr>
                <a:latin typeface="微软雅黑"/>
                <a:ea typeface="微软雅黑"/>
                <a:cs typeface="微软雅黑"/>
              </a:defRPr>
            </a:pPr>
            <a:r>
              <a:rPr lang="en-US" altLang="zh-CN" sz="2000" b="1">
                <a:solidFill>
                  <a:srgbClr val="0042FF"/>
                </a:solidFill>
                <a:latin typeface="微软雅黑"/>
                <a:ea typeface="微软雅黑"/>
                <a:cs typeface="微软雅黑"/>
              </a:rPr>
              <a:t>Action</a:t>
            </a:r>
            <a:r>
              <a:rPr lang="zh-CN" altLang="en-US" sz="2000" b="1">
                <a:solidFill>
                  <a:srgbClr val="0042FF"/>
                </a:solidFill>
                <a:latin typeface="微软雅黑"/>
                <a:ea typeface="微软雅黑"/>
                <a:cs typeface="微软雅黑"/>
              </a:rPr>
              <a:t>：行动</a:t>
            </a:r>
            <a:endParaRPr lang="zh-CN" altLang="en-US" sz="2000" b="1">
              <a:solidFill>
                <a:srgbClr val="0042FF"/>
              </a:solidFill>
              <a:latin typeface="微软雅黑"/>
              <a:ea typeface="微软雅黑"/>
              <a:cs typeface="微软雅黑"/>
            </a:endParaRPr>
          </a:p>
        </p:txBody>
      </p:sp>
      <p:sp>
        <p:nvSpPr>
          <p:cNvPr id="127" name="TextBox 6"/>
          <p:cNvSpPr txBox="1"/>
          <p:nvPr>
            <p:custDataLst>
              <p:tags r:id="rId18"/>
            </p:custDataLst>
          </p:nvPr>
        </p:nvSpPr>
        <p:spPr>
          <a:xfrm>
            <a:off x="8766175" y="4246245"/>
            <a:ext cx="2642870" cy="466725"/>
          </a:xfrm>
          <a:prstGeom prst="rect">
            <a:avLst/>
          </a:prstGeom>
          <a:noFill/>
        </p:spPr>
        <p:txBody>
          <a:bodyPr wrap="square" lIns="0" tIns="0" rIns="0" bIns="0" rtlCol="0">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rPr>
              <a:t>定义：</a:t>
            </a:r>
            <a:r>
              <a:rPr lang="zh-CN" altLang="en-US" sz="1600" dirty="0" err="1">
                <a:solidFill>
                  <a:srgbClr val="383838"/>
                </a:solidFill>
                <a:latin typeface="微软雅黑"/>
                <a:ea typeface="微软雅黑"/>
                <a:cs typeface="微软雅黑"/>
              </a:rPr>
              <a:t>梳理实际采取的措施，包括计划、执行和协作过程。</a:t>
            </a:r>
            <a:endParaRPr lang="zh-CN" altLang="en-US" sz="1600" dirty="0" err="1">
              <a:solidFill>
                <a:srgbClr val="383838"/>
              </a:solidFill>
              <a:latin typeface="微软雅黑"/>
              <a:ea typeface="微软雅黑"/>
              <a:cs typeface="微软雅黑"/>
            </a:endParaRPr>
          </a:p>
        </p:txBody>
      </p:sp>
      <p:sp>
        <p:nvSpPr>
          <p:cNvPr id="128" name="文本框 127"/>
          <p:cNvSpPr txBox="1"/>
          <p:nvPr/>
        </p:nvSpPr>
        <p:spPr>
          <a:xfrm>
            <a:off x="8671560" y="4804410"/>
            <a:ext cx="2590165" cy="558165"/>
          </a:xfrm>
          <a:prstGeom prst="rect">
            <a:avLst/>
          </a:prstGeom>
          <a:noFill/>
        </p:spPr>
        <p:txBody>
          <a:bodyPr wrap="square" rtlCol="0" anchor="t">
            <a:spAutoFit/>
          </a:bodyPr>
          <a:lstStyle/>
          <a:p>
            <a:pPr indent="0" algn="l" fontAlgn="auto">
              <a:lnSpc>
                <a:spcPts val="1820"/>
              </a:lnSpc>
              <a:spcBef>
                <a:spcPts val="0"/>
              </a:spcBef>
              <a:spcAft>
                <a:spcPts val="0"/>
              </a:spcAft>
              <a:defRPr>
                <a:latin typeface="微软雅黑"/>
                <a:ea typeface="微软雅黑"/>
                <a:cs typeface="微软雅黑"/>
              </a:defRPr>
            </a:pPr>
            <a:r>
              <a:rPr lang="zh-CN" altLang="en-US" sz="1600" b="1" dirty="0" err="1">
                <a:solidFill>
                  <a:srgbClr val="0042FF"/>
                </a:solidFill>
                <a:latin typeface="微软雅黑"/>
                <a:ea typeface="微软雅黑"/>
                <a:cs typeface="微软雅黑"/>
                <a:sym typeface="微软雅黑"/>
              </a:rPr>
              <a:t>关键问题：</a:t>
            </a:r>
            <a:r>
              <a:rPr lang="zh-CN" altLang="en-US" sz="1600" dirty="0" err="1">
                <a:solidFill>
                  <a:srgbClr val="383838"/>
                </a:solidFill>
                <a:latin typeface="微软雅黑"/>
                <a:ea typeface="微软雅黑"/>
                <a:cs typeface="微软雅黑"/>
                <a:sym typeface="微软雅黑"/>
              </a:rPr>
              <a:t>如何分配资源？遇到问题如何解决？</a:t>
            </a:r>
            <a:endParaRPr lang="zh-CN" altLang="en-US" sz="1600" dirty="0" err="1">
              <a:solidFill>
                <a:srgbClr val="383838"/>
              </a:solidFill>
              <a:latin typeface="微软雅黑"/>
              <a:ea typeface="微软雅黑"/>
              <a:cs typeface="微软雅黑"/>
              <a:sym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9"/>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人力资源</a:t>
            </a:r>
            <a:r>
              <a:rPr lang="en-US" altLang="zh-CN" sz="2500" dirty="0">
                <a:solidFill>
                  <a:srgbClr val="383838"/>
                </a:solidFill>
                <a:effectLst/>
                <a:latin typeface="微软雅黑"/>
                <a:ea typeface="微软雅黑"/>
                <a:cs typeface="微软雅黑"/>
              </a:rPr>
              <a:t>"</a:t>
            </a:r>
            <a:r>
              <a:rPr lang="zh-CN" altLang="en-US" sz="2500" dirty="0">
                <a:solidFill>
                  <a:srgbClr val="383838"/>
                </a:solidFill>
                <a:effectLst/>
                <a:latin typeface="微软雅黑"/>
                <a:ea typeface="微软雅黑"/>
                <a:cs typeface="微软雅黑"/>
              </a:rPr>
              <a:t>五步工作法</a:t>
            </a:r>
            <a:r>
              <a:rPr lang="en-US" altLang="zh-CN" sz="2500" dirty="0">
                <a:solidFill>
                  <a:srgbClr val="383838"/>
                </a:solidFill>
                <a:effectLst/>
                <a:latin typeface="微软雅黑"/>
                <a:ea typeface="微软雅黑"/>
                <a:cs typeface="微软雅黑"/>
              </a:rPr>
              <a:t>"</a:t>
            </a:r>
            <a:endParaRPr lang="en-US" altLang="zh-CN"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95" name="子陵职场PPT2"/>
          <p:cNvSpPr/>
          <p:nvPr/>
        </p:nvSpPr>
        <p:spPr>
          <a:xfrm>
            <a:off x="481330" y="1028065"/>
            <a:ext cx="5029200" cy="2181225"/>
          </a:xfrm>
          <a:custGeom>
            <a:avLst/>
            <a:gdLst>
              <a:gd name="connsiteX0" fmla="*/ 0 w 5287599"/>
              <a:gd name="connsiteY0" fmla="*/ 0 h 1851489"/>
              <a:gd name="connsiteX1" fmla="*/ 5287599 w 5287599"/>
              <a:gd name="connsiteY1" fmla="*/ 0 h 1851489"/>
              <a:gd name="connsiteX2" fmla="*/ 5105417 w 5287599"/>
              <a:gd name="connsiteY2" fmla="*/ 32974 h 1851489"/>
              <a:gd name="connsiteX3" fmla="*/ 4301855 w 5287599"/>
              <a:gd name="connsiteY3" fmla="*/ 353801 h 1851489"/>
              <a:gd name="connsiteX4" fmla="*/ 3054898 w 5287599"/>
              <a:gd name="connsiteY4" fmla="*/ 1845650 h 1851489"/>
              <a:gd name="connsiteX5" fmla="*/ 3053071 w 5287599"/>
              <a:gd name="connsiteY5" fmla="*/ 1851489 h 1851489"/>
              <a:gd name="connsiteX6" fmla="*/ 0 w 5287599"/>
              <a:gd name="connsiteY6" fmla="*/ 1851489 h 1851489"/>
              <a:gd name="connsiteX7" fmla="*/ 0 w 5287599"/>
              <a:gd name="connsiteY7" fmla="*/ 0 h 185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87599" h="1851489">
                <a:moveTo>
                  <a:pt x="0" y="0"/>
                </a:moveTo>
                <a:lnTo>
                  <a:pt x="5287599" y="0"/>
                </a:lnTo>
                <a:lnTo>
                  <a:pt x="5105417" y="32974"/>
                </a:lnTo>
                <a:cubicBezTo>
                  <a:pt x="4829736" y="97048"/>
                  <a:pt x="4558914" y="203215"/>
                  <a:pt x="4301855" y="353801"/>
                </a:cubicBezTo>
                <a:cubicBezTo>
                  <a:pt x="3702053" y="705167"/>
                  <a:pt x="3276552" y="1240156"/>
                  <a:pt x="3054898" y="1845650"/>
                </a:cubicBezTo>
                <a:lnTo>
                  <a:pt x="3053071" y="1851489"/>
                </a:lnTo>
                <a:lnTo>
                  <a:pt x="0" y="1851489"/>
                </a:lnTo>
                <a:lnTo>
                  <a:pt x="0" y="0"/>
                </a:lnTo>
                <a:close/>
              </a:path>
            </a:pathLst>
          </a:custGeom>
          <a:gradFill flip="none" rotWithShape="1">
            <a:gsLst>
              <a:gs pos="100000">
                <a:srgbClr val="FFFFFF">
                  <a:alpha val="0"/>
                </a:srgbClr>
              </a:gs>
              <a:gs pos="63000">
                <a:srgbClr val="FFFFFF"/>
              </a:gs>
              <a:gs pos="86000">
                <a:srgbClr val="FFFFFF">
                  <a:alpha val="80000"/>
                </a:srgbClr>
              </a:gs>
              <a:gs pos="0">
                <a:srgbClr val="FFFFFF"/>
              </a:gs>
            </a:gsLst>
            <a:path path="circle">
              <a:fillToRect t="100000" r="100000"/>
            </a:path>
            <a:tileRect l="-100000" b="-100000"/>
          </a:gradFill>
          <a:ln>
            <a:noFill/>
          </a:ln>
          <a:effectLst>
            <a:outerShdw blurRad="254000" sx="102000" sy="102000" algn="ctr" rotWithShape="0">
              <a:srgbClr val="0042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96" name="子陵职场PPT3"/>
          <p:cNvSpPr/>
          <p:nvPr/>
        </p:nvSpPr>
        <p:spPr>
          <a:xfrm>
            <a:off x="6613525" y="1028065"/>
            <a:ext cx="5034915" cy="1760855"/>
          </a:xfrm>
          <a:custGeom>
            <a:avLst/>
            <a:gdLst>
              <a:gd name="connsiteX0" fmla="*/ 0 w 5293301"/>
              <a:gd name="connsiteY0" fmla="*/ 0 h 1851489"/>
              <a:gd name="connsiteX1" fmla="*/ 5293301 w 5293301"/>
              <a:gd name="connsiteY1" fmla="*/ 0 h 1851489"/>
              <a:gd name="connsiteX2" fmla="*/ 5293301 w 5293301"/>
              <a:gd name="connsiteY2" fmla="*/ 1851489 h 1851489"/>
              <a:gd name="connsiteX3" fmla="*/ 2223524 w 5293301"/>
              <a:gd name="connsiteY3" fmla="*/ 1851489 h 1851489"/>
              <a:gd name="connsiteX4" fmla="*/ 2140744 w 5293301"/>
              <a:gd name="connsiteY4" fmla="*/ 1643309 h 1851489"/>
              <a:gd name="connsiteX5" fmla="*/ 2004879 w 5293301"/>
              <a:gd name="connsiteY5" fmla="*/ 1381993 h 1851489"/>
              <a:gd name="connsiteX6" fmla="*/ 249547 w 5293301"/>
              <a:gd name="connsiteY6" fmla="*/ 52609 h 1851489"/>
              <a:gd name="connsiteX7" fmla="*/ 0 w 5293301"/>
              <a:gd name="connsiteY7" fmla="*/ 0 h 185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3301" h="1851489">
                <a:moveTo>
                  <a:pt x="0" y="0"/>
                </a:moveTo>
                <a:lnTo>
                  <a:pt x="5293301" y="0"/>
                </a:lnTo>
                <a:lnTo>
                  <a:pt x="5293301" y="1851489"/>
                </a:lnTo>
                <a:lnTo>
                  <a:pt x="2223524" y="1851489"/>
                </a:lnTo>
                <a:lnTo>
                  <a:pt x="2140744" y="1643309"/>
                </a:lnTo>
                <a:cubicBezTo>
                  <a:pt x="2100334" y="1554894"/>
                  <a:pt x="2055074" y="1467679"/>
                  <a:pt x="2004879" y="1381993"/>
                </a:cubicBezTo>
                <a:cubicBezTo>
                  <a:pt x="1603319" y="696505"/>
                  <a:pt x="961924" y="238675"/>
                  <a:pt x="249547" y="52609"/>
                </a:cubicBezTo>
                <a:lnTo>
                  <a:pt x="0" y="0"/>
                </a:lnTo>
                <a:close/>
              </a:path>
            </a:pathLst>
          </a:custGeom>
          <a:gradFill flip="none" rotWithShape="1">
            <a:gsLst>
              <a:gs pos="100000">
                <a:srgbClr val="FFFFFF">
                  <a:alpha val="0"/>
                </a:srgbClr>
              </a:gs>
              <a:gs pos="63000">
                <a:srgbClr val="FFFFFF"/>
              </a:gs>
              <a:gs pos="86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0042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97" name="子陵职场PPT4"/>
          <p:cNvSpPr/>
          <p:nvPr/>
        </p:nvSpPr>
        <p:spPr>
          <a:xfrm>
            <a:off x="473710" y="3509645"/>
            <a:ext cx="4960177" cy="3037840"/>
          </a:xfrm>
          <a:custGeom>
            <a:avLst/>
            <a:gdLst>
              <a:gd name="connsiteX0" fmla="*/ 0 w 3032101"/>
              <a:gd name="connsiteY0" fmla="*/ 0 h 1835305"/>
              <a:gd name="connsiteX1" fmla="*/ 3032101 w 3032101"/>
              <a:gd name="connsiteY1" fmla="*/ 0 h 1835305"/>
              <a:gd name="connsiteX2" fmla="*/ 2972470 w 3032101"/>
              <a:gd name="connsiteY2" fmla="*/ 190612 h 1835305"/>
              <a:gd name="connsiteX3" fmla="*/ 2952834 w 3032101"/>
              <a:gd name="connsiteY3" fmla="*/ 1568277 h 1835305"/>
              <a:gd name="connsiteX4" fmla="*/ 3029110 w 3032101"/>
              <a:gd name="connsiteY4" fmla="*/ 1835305 h 1835305"/>
              <a:gd name="connsiteX5" fmla="*/ 0 w 3032101"/>
              <a:gd name="connsiteY5" fmla="*/ 1835305 h 1835305"/>
              <a:gd name="connsiteX6" fmla="*/ 0 w 3032101"/>
              <a:gd name="connsiteY6" fmla="*/ 0 h 1835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1" h="4784">
                <a:moveTo>
                  <a:pt x="0" y="0"/>
                </a:moveTo>
                <a:lnTo>
                  <a:pt x="4550" y="0"/>
                </a:lnTo>
                <a:cubicBezTo>
                  <a:pt x="4524" y="164"/>
                  <a:pt x="4510" y="527"/>
                  <a:pt x="4515" y="552"/>
                </a:cubicBezTo>
                <a:cubicBezTo>
                  <a:pt x="4401" y="2630"/>
                  <a:pt x="6233" y="4465"/>
                  <a:pt x="7811" y="4784"/>
                </a:cubicBezTo>
                <a:lnTo>
                  <a:pt x="0" y="4784"/>
                </a:lnTo>
                <a:lnTo>
                  <a:pt x="0" y="0"/>
                </a:lnTo>
                <a:close/>
              </a:path>
            </a:pathLst>
          </a:custGeom>
          <a:gradFill flip="none" rotWithShape="1">
            <a:gsLst>
              <a:gs pos="100000">
                <a:srgbClr val="FFFFFF">
                  <a:alpha val="0"/>
                </a:srgbClr>
              </a:gs>
              <a:gs pos="70000">
                <a:srgbClr val="FFFFFF"/>
              </a:gs>
              <a:gs pos="88000">
                <a:srgbClr val="FFFFFF">
                  <a:alpha val="80000"/>
                </a:srgbClr>
              </a:gs>
              <a:gs pos="0">
                <a:srgbClr val="FFFFFF"/>
              </a:gs>
            </a:gsLst>
            <a:path path="circle">
              <a:fillToRect t="100000" r="100000"/>
            </a:path>
            <a:tileRect l="-100000" b="-100000"/>
          </a:gradFill>
          <a:ln>
            <a:noFill/>
          </a:ln>
          <a:effectLst>
            <a:outerShdw blurRad="254000" sx="102000" sy="102000" algn="ctr" rotWithShape="0">
              <a:srgbClr val="668E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98" name="子陵职场PPT5"/>
          <p:cNvSpPr/>
          <p:nvPr/>
        </p:nvSpPr>
        <p:spPr>
          <a:xfrm>
            <a:off x="8750300" y="2882265"/>
            <a:ext cx="2898140" cy="1745615"/>
          </a:xfrm>
          <a:custGeom>
            <a:avLst/>
            <a:gdLst>
              <a:gd name="connsiteX0" fmla="*/ 2989 w 3046862"/>
              <a:gd name="connsiteY0" fmla="*/ 0 h 1835305"/>
              <a:gd name="connsiteX1" fmla="*/ 3046862 w 3046862"/>
              <a:gd name="connsiteY1" fmla="*/ 0 h 1835305"/>
              <a:gd name="connsiteX2" fmla="*/ 3046862 w 3046862"/>
              <a:gd name="connsiteY2" fmla="*/ 1835305 h 1835305"/>
              <a:gd name="connsiteX3" fmla="*/ 0 w 3046862"/>
              <a:gd name="connsiteY3" fmla="*/ 1835305 h 1835305"/>
              <a:gd name="connsiteX4" fmla="*/ 59631 w 3046862"/>
              <a:gd name="connsiteY4" fmla="*/ 1644693 h 1835305"/>
              <a:gd name="connsiteX5" fmla="*/ 79266 w 3046862"/>
              <a:gd name="connsiteY5" fmla="*/ 267029 h 1835305"/>
              <a:gd name="connsiteX6" fmla="*/ 2989 w 3046862"/>
              <a:gd name="connsiteY6" fmla="*/ 0 h 1835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6862" h="1835305">
                <a:moveTo>
                  <a:pt x="2989" y="0"/>
                </a:moveTo>
                <a:lnTo>
                  <a:pt x="3046862" y="0"/>
                </a:lnTo>
                <a:lnTo>
                  <a:pt x="3046862" y="1835305"/>
                </a:lnTo>
                <a:lnTo>
                  <a:pt x="0" y="1835305"/>
                </a:lnTo>
                <a:lnTo>
                  <a:pt x="59631" y="1644693"/>
                </a:lnTo>
                <a:cubicBezTo>
                  <a:pt x="175923" y="1199458"/>
                  <a:pt x="186057" y="726495"/>
                  <a:pt x="79266" y="267029"/>
                </a:cubicBezTo>
                <a:lnTo>
                  <a:pt x="2989" y="0"/>
                </a:lnTo>
                <a:close/>
              </a:path>
            </a:pathLst>
          </a:custGeom>
          <a:gradFill flip="none" rotWithShape="1">
            <a:gsLst>
              <a:gs pos="100000">
                <a:srgbClr val="FFFFFF">
                  <a:alpha val="0"/>
                </a:srgbClr>
              </a:gs>
              <a:gs pos="70000">
                <a:srgbClr val="FFFFFF"/>
              </a:gs>
              <a:gs pos="88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668E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99" name="子陵职场PPT7"/>
          <p:cNvSpPr/>
          <p:nvPr/>
        </p:nvSpPr>
        <p:spPr>
          <a:xfrm>
            <a:off x="6604635" y="4720590"/>
            <a:ext cx="5043170" cy="1760220"/>
          </a:xfrm>
          <a:custGeom>
            <a:avLst/>
            <a:gdLst>
              <a:gd name="connsiteX0" fmla="*/ 2234520 w 5302353"/>
              <a:gd name="connsiteY0" fmla="*/ 0 h 1851488"/>
              <a:gd name="connsiteX1" fmla="*/ 5302353 w 5302353"/>
              <a:gd name="connsiteY1" fmla="*/ 0 h 1851488"/>
              <a:gd name="connsiteX2" fmla="*/ 5302353 w 5302353"/>
              <a:gd name="connsiteY2" fmla="*/ 1851488 h 1851488"/>
              <a:gd name="connsiteX3" fmla="*/ 0 w 5302353"/>
              <a:gd name="connsiteY3" fmla="*/ 1851488 h 1851488"/>
              <a:gd name="connsiteX4" fmla="*/ 182176 w 5302353"/>
              <a:gd name="connsiteY4" fmla="*/ 1818516 h 1851488"/>
              <a:gd name="connsiteX5" fmla="*/ 985736 w 5302353"/>
              <a:gd name="connsiteY5" fmla="*/ 1497689 h 1851488"/>
              <a:gd name="connsiteX6" fmla="*/ 2232694 w 5302353"/>
              <a:gd name="connsiteY6" fmla="*/ 5838 h 1851488"/>
              <a:gd name="connsiteX7" fmla="*/ 2234520 w 5302353"/>
              <a:gd name="connsiteY7" fmla="*/ 0 h 185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02353" h="1851488">
                <a:moveTo>
                  <a:pt x="2234520" y="0"/>
                </a:moveTo>
                <a:lnTo>
                  <a:pt x="5302353" y="0"/>
                </a:lnTo>
                <a:lnTo>
                  <a:pt x="5302353" y="1851488"/>
                </a:lnTo>
                <a:lnTo>
                  <a:pt x="0" y="1851488"/>
                </a:lnTo>
                <a:lnTo>
                  <a:pt x="182176" y="1818516"/>
                </a:lnTo>
                <a:cubicBezTo>
                  <a:pt x="457856" y="1754441"/>
                  <a:pt x="728677" y="1648274"/>
                  <a:pt x="985736" y="1497689"/>
                </a:cubicBezTo>
                <a:cubicBezTo>
                  <a:pt x="1585540" y="1146322"/>
                  <a:pt x="2011041" y="611333"/>
                  <a:pt x="2232694" y="5838"/>
                </a:cubicBezTo>
                <a:lnTo>
                  <a:pt x="2234520" y="0"/>
                </a:lnTo>
                <a:close/>
              </a:path>
            </a:pathLst>
          </a:custGeom>
          <a:gradFill flip="none" rotWithShape="1">
            <a:gsLst>
              <a:gs pos="100000">
                <a:srgbClr val="FFFFFF">
                  <a:alpha val="0"/>
                </a:srgbClr>
              </a:gs>
              <a:gs pos="63000">
                <a:srgbClr val="FFFFFF"/>
              </a:gs>
              <a:gs pos="86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0042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131" name="子陵职场PPT8-36"/>
          <p:cNvSpPr/>
          <p:nvPr/>
        </p:nvSpPr>
        <p:spPr>
          <a:xfrm>
            <a:off x="3226435" y="6007100"/>
            <a:ext cx="5657215" cy="273050"/>
          </a:xfrm>
          <a:prstGeom prst="ellipse">
            <a:avLst/>
          </a:prstGeom>
          <a:gradFill>
            <a:gsLst>
              <a:gs pos="69000">
                <a:srgbClr val="FFFFFF">
                  <a:alpha val="0"/>
                </a:srgbClr>
              </a:gs>
              <a:gs pos="98000">
                <a:srgbClr val="FFFFFF"/>
              </a:gs>
            </a:gsLst>
            <a:lin ang="5400000" scaled="1"/>
          </a:gradFill>
          <a:ln w="25400">
            <a:gradFill>
              <a:gsLst>
                <a:gs pos="24000">
                  <a:srgbClr val="E6E6E6">
                    <a:alpha val="0"/>
                  </a:srgbClr>
                </a:gs>
                <a:gs pos="100000">
                  <a:srgbClr val="3368FF"/>
                </a:gs>
              </a:gsLst>
              <a:lin ang="5400000" scaled="1"/>
            </a:gradFill>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134" name="子陵职场PPT8-37"/>
          <p:cNvSpPr/>
          <p:nvPr/>
        </p:nvSpPr>
        <p:spPr>
          <a:xfrm>
            <a:off x="4860290" y="2496185"/>
            <a:ext cx="2393315" cy="2393315"/>
          </a:xfrm>
          <a:prstGeom prst="ellipse">
            <a:avLst/>
          </a:prstGeom>
          <a:gradFill flip="none" rotWithShape="1">
            <a:gsLst>
              <a:gs pos="100000">
                <a:srgbClr val="0042FF">
                  <a:alpha val="10000"/>
                </a:srgbClr>
              </a:gs>
              <a:gs pos="88000">
                <a:srgbClr val="FFFFFF">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sp>
        <p:nvSpPr>
          <p:cNvPr id="135" name="子陵职场PPT8-38"/>
          <p:cNvSpPr/>
          <p:nvPr/>
        </p:nvSpPr>
        <p:spPr>
          <a:xfrm>
            <a:off x="5264785" y="2901315"/>
            <a:ext cx="1584960" cy="1585595"/>
          </a:xfrm>
          <a:prstGeom prst="ellipse">
            <a:avLst/>
          </a:prstGeom>
          <a:gradFill flip="none" rotWithShape="1">
            <a:gsLst>
              <a:gs pos="0">
                <a:srgbClr val="3368FF"/>
              </a:gs>
              <a:gs pos="99000">
                <a:srgbClr val="0042FF"/>
              </a:gs>
            </a:gsLst>
            <a:lin ang="0" scaled="1"/>
            <a:tileRect/>
          </a:gradFill>
          <a:ln w="254000">
            <a:solidFill>
              <a:srgbClr val="0042FF">
                <a:alpha val="10000"/>
              </a:srgbClr>
            </a:solid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defRPr>
                <a:solidFill>
                  <a:srgbClr val="FFFFFF"/>
                </a:solidFill>
                <a:latin typeface="微软雅黑"/>
                <a:ea typeface="微软雅黑"/>
                <a:cs typeface="微软雅黑"/>
              </a:defRPr>
            </a:pPr>
            <a:endParaRPr kumimoji="1" lang="zh-CN" altLang="en-US" sz="2000">
              <a:solidFill>
                <a:srgbClr val="FFFFFF"/>
              </a:solidFill>
              <a:latin typeface="微软雅黑"/>
              <a:ea typeface="微软雅黑"/>
              <a:cs typeface="微软雅黑"/>
            </a:endParaRPr>
          </a:p>
        </p:txBody>
      </p:sp>
      <p:sp>
        <p:nvSpPr>
          <p:cNvPr id="139" name="子陵职场PPT8-45"/>
          <p:cNvSpPr txBox="1"/>
          <p:nvPr/>
        </p:nvSpPr>
        <p:spPr>
          <a:xfrm>
            <a:off x="5324475" y="3328670"/>
            <a:ext cx="1466215" cy="76835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2200" b="1" dirty="0">
                <a:solidFill>
                  <a:srgbClr val="FFFFFF"/>
                </a:solidFill>
                <a:latin typeface="微软雅黑"/>
                <a:ea typeface="微软雅黑"/>
                <a:cs typeface="微软雅黑"/>
                <a:sym typeface="微软雅黑"/>
              </a:rPr>
              <a:t>人力资源</a:t>
            </a:r>
            <a:endParaRPr kumimoji="1" lang="en-US" sz="22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kumimoji="1" lang="en-US" altLang="zh-CN" sz="2200" b="1" dirty="0">
                <a:solidFill>
                  <a:srgbClr val="FFFFFF"/>
                </a:solidFill>
                <a:latin typeface="微软雅黑"/>
                <a:ea typeface="微软雅黑"/>
                <a:cs typeface="微软雅黑"/>
              </a:rPr>
              <a:t>“</a:t>
            </a:r>
            <a:r>
              <a:rPr kumimoji="1" lang="zh-CN" altLang="en-US" sz="2200" b="1" dirty="0">
                <a:solidFill>
                  <a:srgbClr val="FFFFFF"/>
                </a:solidFill>
                <a:latin typeface="微软雅黑"/>
                <a:ea typeface="微软雅黑"/>
                <a:cs typeface="微软雅黑"/>
              </a:rPr>
              <a:t>五步法</a:t>
            </a:r>
            <a:r>
              <a:rPr kumimoji="1" lang="en-US" altLang="zh-CN" sz="2200" b="1" dirty="0">
                <a:solidFill>
                  <a:srgbClr val="FFFFFF"/>
                </a:solidFill>
                <a:latin typeface="微软雅黑"/>
                <a:ea typeface="微软雅黑"/>
                <a:cs typeface="微软雅黑"/>
              </a:rPr>
              <a:t>”</a:t>
            </a:r>
            <a:endParaRPr kumimoji="1" lang="en-US" altLang="zh-CN" sz="2200" b="1" dirty="0">
              <a:solidFill>
                <a:srgbClr val="FFFFFF"/>
              </a:solidFill>
              <a:latin typeface="微软雅黑"/>
              <a:ea typeface="微软雅黑"/>
              <a:cs typeface="微软雅黑"/>
            </a:endParaRPr>
          </a:p>
        </p:txBody>
      </p:sp>
      <p:sp>
        <p:nvSpPr>
          <p:cNvPr id="140" name="子陵职场PPT8-50"/>
          <p:cNvSpPr/>
          <p:nvPr/>
        </p:nvSpPr>
        <p:spPr>
          <a:xfrm>
            <a:off x="3949065" y="6307455"/>
            <a:ext cx="4212590" cy="252730"/>
          </a:xfrm>
          <a:prstGeom prst="ellipse">
            <a:avLst/>
          </a:prstGeom>
          <a:gradFill>
            <a:gsLst>
              <a:gs pos="69000">
                <a:srgbClr val="FFFFFF">
                  <a:alpha val="0"/>
                </a:srgbClr>
              </a:gs>
              <a:gs pos="98000">
                <a:srgbClr val="FFFFFF"/>
              </a:gs>
            </a:gsLst>
            <a:lin ang="5400000" scaled="1"/>
          </a:gradFill>
          <a:ln w="25400">
            <a:gradFill>
              <a:gsLst>
                <a:gs pos="24000">
                  <a:srgbClr val="E6E6E6">
                    <a:alpha val="0"/>
                  </a:srgbClr>
                </a:gs>
                <a:gs pos="100000">
                  <a:srgbClr val="3368FF"/>
                </a:gs>
              </a:gsLst>
              <a:lin ang="5400000" scaled="1"/>
            </a:gradFill>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141" name="子陵职场PPT9"/>
          <p:cNvSpPr/>
          <p:nvPr/>
        </p:nvSpPr>
        <p:spPr>
          <a:xfrm>
            <a:off x="473710" y="1031875"/>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1">
            <a:gsLst>
              <a:gs pos="23000">
                <a:srgbClr val="3368FF"/>
              </a:gs>
              <a:gs pos="100000">
                <a:srgbClr val="B3D4FE"/>
              </a:gs>
            </a:gsLst>
            <a:lin ang="2700000" scaled="1"/>
            <a:tileRect/>
          </a:gradFill>
          <a:ln w="12700" cap="flat" cmpd="sng" algn="ctr">
            <a:noFill/>
            <a:prstDash val="solid"/>
            <a:miter lim="800000"/>
          </a:ln>
          <a:effectLst/>
        </p:spPr>
        <p:txBody>
          <a:bodyPr lIns="0" tIns="0" rIns="0" bIns="0" rtlCol="0" anchor="ctr"/>
          <a:lstStyle/>
          <a:p>
            <a:pPr marL="0" marR="0" lvl="0" indent="0" algn="l" defTabSz="45720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2000" b="1" i="0" u="none" strike="noStrike" kern="0" cap="none" spc="0" normalizeH="0" baseline="0" noProof="0" dirty="0">
                <a:ln>
                  <a:noFill/>
                </a:ln>
                <a:solidFill>
                  <a:srgbClr val="383838"/>
                </a:solidFill>
                <a:effectLst/>
                <a:uLnTx/>
                <a:uFillTx/>
                <a:latin typeface="微软雅黑"/>
                <a:ea typeface="微软雅黑"/>
                <a:cs typeface="微软雅黑"/>
              </a:rPr>
              <a:t> </a:t>
            </a:r>
            <a:r>
              <a:rPr kumimoji="0" lang="zh-CN" sz="2000" b="1" i="0" u="none" strike="noStrike" kern="0" cap="none" spc="0" normalizeH="0" baseline="0" noProof="0" dirty="0">
                <a:ln>
                  <a:noFill/>
                </a:ln>
                <a:solidFill>
                  <a:srgbClr val="383838"/>
                </a:solidFill>
                <a:effectLst/>
                <a:uLnTx/>
                <a:uFillTx/>
                <a:latin typeface="微软雅黑"/>
                <a:ea typeface="微软雅黑"/>
                <a:cs typeface="微软雅黑"/>
              </a:rPr>
              <a:t>⑤</a:t>
            </a:r>
            <a:r>
              <a:rPr kumimoji="0" lang="en-US" altLang="zh-CN" sz="2000" b="1" i="0" u="none" strike="noStrike" kern="0" cap="none" spc="0" normalizeH="0" baseline="0" noProof="0" dirty="0">
                <a:ln>
                  <a:noFill/>
                </a:ln>
                <a:solidFill>
                  <a:srgbClr val="383838"/>
                </a:solidFill>
                <a:effectLst/>
                <a:uLnTx/>
                <a:uFillTx/>
                <a:latin typeface="微软雅黑"/>
                <a:ea typeface="微软雅黑"/>
                <a:cs typeface="微软雅黑"/>
              </a:rPr>
              <a:t>-</a:t>
            </a:r>
            <a:r>
              <a:rPr kumimoji="0" lang="zh-CN" altLang="en-US" sz="2000" b="1" i="0" u="none" strike="noStrike" kern="0" cap="none" spc="0" normalizeH="0" baseline="0" noProof="0" dirty="0">
                <a:ln>
                  <a:noFill/>
                </a:ln>
                <a:solidFill>
                  <a:srgbClr val="383838"/>
                </a:solidFill>
                <a:effectLst/>
                <a:uLnTx/>
                <a:uFillTx/>
                <a:latin typeface="微软雅黑"/>
                <a:ea typeface="微软雅黑"/>
                <a:cs typeface="微软雅黑"/>
              </a:rPr>
              <a:t>优化</a:t>
            </a:r>
            <a:endParaRPr kumimoji="0" lang="zh-CN" altLang="en-US" sz="2000" b="1"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164" name="子陵职场PPT10"/>
          <p:cNvSpPr/>
          <p:nvPr/>
        </p:nvSpPr>
        <p:spPr>
          <a:xfrm>
            <a:off x="480695" y="3518535"/>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1">
            <a:gsLst>
              <a:gs pos="23000">
                <a:srgbClr val="3368FF"/>
              </a:gs>
              <a:gs pos="100000">
                <a:srgbClr val="668EFF"/>
              </a:gs>
            </a:gsLst>
            <a:lin ang="2700000" scaled="1"/>
            <a:tileRect/>
          </a:gradFill>
          <a:ln w="12700" cap="flat" cmpd="sng" algn="ctr">
            <a:noFill/>
            <a:prstDash val="solid"/>
            <a:miter lim="800000"/>
          </a:ln>
          <a:effectLst/>
        </p:spPr>
        <p:txBody>
          <a:bodyPr lIns="0" tIns="0" rIns="0" bIns="0" rtlCol="0" anchor="ctr"/>
          <a:lstStyle/>
          <a:p>
            <a:pPr marL="0" marR="0" lvl="0" indent="0" defTabSz="45720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sz="2000" b="1" i="0" u="none" strike="noStrike" kern="0" cap="none" spc="0" normalizeH="0" baseline="0" noProof="0" dirty="0">
                <a:ln>
                  <a:noFill/>
                </a:ln>
                <a:solidFill>
                  <a:srgbClr val="FFFFFF"/>
                </a:solidFill>
                <a:effectLst/>
                <a:uLnTx/>
                <a:uFillTx/>
                <a:latin typeface="微软雅黑"/>
                <a:ea typeface="微软雅黑"/>
                <a:cs typeface="微软雅黑"/>
              </a:rPr>
              <a:t> </a:t>
            </a:r>
            <a:r>
              <a:rPr kumimoji="0" lang="zh-CN" altLang="en-US" sz="2000" b="1" i="0" u="none" strike="noStrike" kern="0" cap="none" spc="0" normalizeH="0" baseline="0" noProof="0" dirty="0">
                <a:ln>
                  <a:noFill/>
                </a:ln>
                <a:solidFill>
                  <a:srgbClr val="FFFFFF"/>
                </a:solidFill>
                <a:effectLst/>
                <a:uLnTx/>
                <a:uFillTx/>
                <a:latin typeface="微软雅黑"/>
                <a:ea typeface="微软雅黑"/>
                <a:cs typeface="微软雅黑"/>
              </a:rPr>
              <a:t>④</a:t>
            </a:r>
            <a:r>
              <a:rPr kumimoji="0" lang="en-US" altLang="zh-CN" sz="2000" b="1" i="0" u="none" strike="noStrike" kern="0" cap="none" spc="0" normalizeH="0" baseline="0" noProof="0" dirty="0">
                <a:ln>
                  <a:noFill/>
                </a:ln>
                <a:solidFill>
                  <a:srgbClr val="FFFFFF"/>
                </a:solidFill>
                <a:effectLst/>
                <a:uLnTx/>
                <a:uFillTx/>
                <a:latin typeface="微软雅黑"/>
                <a:ea typeface="微软雅黑"/>
                <a:cs typeface="微软雅黑"/>
              </a:rPr>
              <a:t>-</a:t>
            </a:r>
            <a:r>
              <a:rPr kumimoji="0" lang="zh-CN" altLang="en-US" sz="2000" b="1" i="0" u="none" strike="noStrike" kern="0" cap="none" spc="0" normalizeH="0" baseline="0" noProof="0" dirty="0">
                <a:ln>
                  <a:noFill/>
                </a:ln>
                <a:solidFill>
                  <a:srgbClr val="FFFFFF"/>
                </a:solidFill>
                <a:effectLst/>
                <a:uLnTx/>
                <a:uFillTx/>
                <a:latin typeface="微软雅黑"/>
                <a:ea typeface="微软雅黑"/>
                <a:cs typeface="微软雅黑"/>
              </a:rPr>
              <a:t>留人</a:t>
            </a:r>
            <a:endParaRPr kumimoji="0" lang="zh-CN" altLang="en-US" sz="2000" b="1"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68" name="子陵职场PPT11"/>
          <p:cNvSpPr/>
          <p:nvPr/>
        </p:nvSpPr>
        <p:spPr>
          <a:xfrm flipH="1">
            <a:off x="9733280" y="2872740"/>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B3D4FE"/>
              </a:gs>
              <a:gs pos="100000">
                <a:srgbClr val="3368FF"/>
              </a:gs>
            </a:gsLst>
            <a:lin ang="2700000" scaled="1"/>
            <a:tileRect/>
          </a:gradFill>
          <a:ln w="12700" cap="flat" cmpd="sng" algn="ctr">
            <a:noFill/>
            <a:prstDash val="solid"/>
            <a:miter lim="800000"/>
          </a:ln>
          <a:effectLst/>
        </p:spPr>
        <p:txBody>
          <a:bodyPr lIns="0" tIns="0" rIns="144000" bIns="36000" rtlCol="0" anchor="ctr">
            <a:noAutofit/>
          </a:bodyPr>
          <a:lstStyle/>
          <a:p>
            <a:pPr lvl="0" algn="l" defTabSz="457200">
              <a:buClrTx/>
              <a:buSzTx/>
              <a:buFontTx/>
              <a:defRPr>
                <a:latin typeface="微软雅黑"/>
                <a:ea typeface="微软雅黑"/>
                <a:cs typeface="微软雅黑"/>
              </a:defRPr>
            </a:pPr>
            <a:r>
              <a:rPr lang="en-US" sz="2000" b="1" kern="0" dirty="0">
                <a:solidFill>
                  <a:srgbClr val="383838"/>
                </a:solidFill>
                <a:latin typeface="微软雅黑"/>
                <a:ea typeface="微软雅黑"/>
                <a:cs typeface="微软雅黑"/>
                <a:sym typeface="微软雅黑"/>
              </a:rPr>
              <a:t>     </a:t>
            </a:r>
            <a:r>
              <a:rPr lang="zh-CN" altLang="en-US" sz="2000" b="1" kern="0" dirty="0">
                <a:solidFill>
                  <a:srgbClr val="383838"/>
                </a:solidFill>
                <a:latin typeface="微软雅黑"/>
                <a:ea typeface="微软雅黑"/>
                <a:cs typeface="微软雅黑"/>
                <a:sym typeface="微软雅黑"/>
              </a:rPr>
              <a:t>②</a:t>
            </a:r>
            <a:r>
              <a:rPr lang="en-US" altLang="zh-CN" sz="2000" b="1" kern="0" dirty="0">
                <a:solidFill>
                  <a:srgbClr val="383838"/>
                </a:solidFill>
                <a:latin typeface="微软雅黑"/>
                <a:ea typeface="微软雅黑"/>
                <a:cs typeface="微软雅黑"/>
                <a:sym typeface="微软雅黑"/>
              </a:rPr>
              <a:t>-</a:t>
            </a:r>
            <a:r>
              <a:rPr lang="zh-CN" altLang="en-US" sz="2000" b="1" kern="0" dirty="0">
                <a:solidFill>
                  <a:srgbClr val="383838"/>
                </a:solidFill>
                <a:latin typeface="微软雅黑"/>
                <a:ea typeface="微软雅黑"/>
                <a:cs typeface="微软雅黑"/>
                <a:sym typeface="微软雅黑"/>
              </a:rPr>
              <a:t>育人</a:t>
            </a:r>
            <a:endParaRPr lang="zh-CN" altLang="en-US" sz="2000" b="1" kern="0" dirty="0">
              <a:solidFill>
                <a:srgbClr val="383838"/>
              </a:solidFill>
              <a:latin typeface="微软雅黑"/>
              <a:ea typeface="微软雅黑"/>
              <a:cs typeface="微软雅黑"/>
              <a:sym typeface="微软雅黑"/>
            </a:endParaRPr>
          </a:p>
        </p:txBody>
      </p:sp>
      <p:sp>
        <p:nvSpPr>
          <p:cNvPr id="170" name="子陵职场PPT12"/>
          <p:cNvSpPr/>
          <p:nvPr/>
        </p:nvSpPr>
        <p:spPr>
          <a:xfrm flipH="1">
            <a:off x="9704070" y="1021715"/>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3368FF"/>
              </a:gs>
              <a:gs pos="100000">
                <a:srgbClr val="0042FF"/>
              </a:gs>
            </a:gsLst>
            <a:lin ang="2700000" scaled="1"/>
            <a:tileRect/>
          </a:gradFill>
          <a:ln w="12700" cap="flat" cmpd="sng" algn="ctr">
            <a:noFill/>
            <a:prstDash val="solid"/>
            <a:miter lim="800000"/>
          </a:ln>
          <a:effectLst/>
        </p:spPr>
        <p:txBody>
          <a:bodyPr lIns="0" tIns="0" rIns="144000" bIns="36000" rtlCol="0" anchor="ctr"/>
          <a:lstStyle/>
          <a:p>
            <a:pPr algn="l" defTabSz="457200">
              <a:defRPr>
                <a:solidFill>
                  <a:srgbClr val="FFFFFF"/>
                </a:solidFill>
                <a:latin typeface="微软雅黑"/>
                <a:ea typeface="微软雅黑"/>
                <a:cs typeface="微软雅黑"/>
              </a:defRPr>
            </a:pPr>
            <a:r>
              <a:rPr lang="en-US" sz="2000" b="1" kern="0" dirty="0">
                <a:solidFill>
                  <a:srgbClr val="FFFFFF"/>
                </a:solidFill>
                <a:latin typeface="微软雅黑"/>
                <a:ea typeface="微软雅黑"/>
                <a:cs typeface="微软雅黑"/>
              </a:rPr>
              <a:t>      </a:t>
            </a:r>
            <a:r>
              <a:rPr lang="zh-CN" altLang="en-US" sz="2000" b="1" kern="0" dirty="0">
                <a:solidFill>
                  <a:srgbClr val="FFFFFF"/>
                </a:solidFill>
                <a:latin typeface="微软雅黑"/>
                <a:ea typeface="微软雅黑"/>
                <a:cs typeface="微软雅黑"/>
              </a:rPr>
              <a:t>①</a:t>
            </a:r>
            <a:r>
              <a:rPr lang="en-US" altLang="zh-CN" sz="2000" b="1" kern="0" dirty="0">
                <a:solidFill>
                  <a:srgbClr val="FFFFFF"/>
                </a:solidFill>
                <a:latin typeface="微软雅黑"/>
                <a:ea typeface="微软雅黑"/>
                <a:cs typeface="微软雅黑"/>
              </a:rPr>
              <a:t>-</a:t>
            </a:r>
            <a:r>
              <a:rPr lang="zh-CN" altLang="en-US" sz="2000" b="1" kern="0" dirty="0">
                <a:solidFill>
                  <a:srgbClr val="FFFFFF"/>
                </a:solidFill>
                <a:latin typeface="微软雅黑"/>
                <a:ea typeface="微软雅黑"/>
                <a:cs typeface="微软雅黑"/>
              </a:rPr>
              <a:t>选人</a:t>
            </a:r>
            <a:endParaRPr lang="zh-CN" altLang="en-US" sz="2000" b="1" kern="0" dirty="0">
              <a:solidFill>
                <a:srgbClr val="FFFFFF"/>
              </a:solidFill>
              <a:latin typeface="微软雅黑"/>
              <a:ea typeface="微软雅黑"/>
              <a:cs typeface="微软雅黑"/>
            </a:endParaRPr>
          </a:p>
        </p:txBody>
      </p:sp>
      <p:sp>
        <p:nvSpPr>
          <p:cNvPr id="172" name="子陵职场PPT14"/>
          <p:cNvSpPr/>
          <p:nvPr/>
        </p:nvSpPr>
        <p:spPr>
          <a:xfrm flipH="1">
            <a:off x="9694545" y="4722495"/>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3368FF"/>
              </a:gs>
              <a:gs pos="100000">
                <a:srgbClr val="0042FF"/>
              </a:gs>
            </a:gsLst>
            <a:lin ang="2700000" scaled="1"/>
            <a:tileRect/>
          </a:gradFill>
          <a:ln w="12700" cap="flat" cmpd="sng" algn="ctr">
            <a:noFill/>
            <a:prstDash val="solid"/>
            <a:miter lim="800000"/>
          </a:ln>
          <a:effectLst/>
        </p:spPr>
        <p:txBody>
          <a:bodyPr lIns="0" tIns="0" rIns="144000" bIns="36000" rtlCol="0" anchor="ctr"/>
          <a:lstStyle/>
          <a:p>
            <a:pPr algn="l" defTabSz="457200">
              <a:defRPr>
                <a:solidFill>
                  <a:srgbClr val="FFFFFF"/>
                </a:solidFill>
                <a:latin typeface="微软雅黑"/>
                <a:ea typeface="微软雅黑"/>
                <a:cs typeface="微软雅黑"/>
              </a:defRPr>
            </a:pPr>
            <a:r>
              <a:rPr lang="en-US" sz="2000" b="1" kern="0" dirty="0">
                <a:solidFill>
                  <a:srgbClr val="FFFFFF"/>
                </a:solidFill>
                <a:latin typeface="微软雅黑"/>
                <a:ea typeface="微软雅黑"/>
                <a:cs typeface="微软雅黑"/>
              </a:rPr>
              <a:t>      </a:t>
            </a:r>
            <a:r>
              <a:rPr lang="zh-CN" altLang="en-US" sz="2000" b="1" kern="0" dirty="0">
                <a:solidFill>
                  <a:srgbClr val="FFFFFF"/>
                </a:solidFill>
                <a:latin typeface="微软雅黑"/>
                <a:ea typeface="微软雅黑"/>
                <a:cs typeface="微软雅黑"/>
              </a:rPr>
              <a:t>③</a:t>
            </a:r>
            <a:r>
              <a:rPr lang="en-US" altLang="zh-CN" sz="2000" b="1" kern="0" dirty="0">
                <a:solidFill>
                  <a:srgbClr val="FFFFFF"/>
                </a:solidFill>
                <a:latin typeface="微软雅黑"/>
                <a:ea typeface="微软雅黑"/>
                <a:cs typeface="微软雅黑"/>
              </a:rPr>
              <a:t>-</a:t>
            </a:r>
            <a:r>
              <a:rPr lang="zh-CN" altLang="en-US" sz="2000" b="1" kern="0" dirty="0">
                <a:solidFill>
                  <a:srgbClr val="FFFFFF"/>
                </a:solidFill>
                <a:latin typeface="微软雅黑"/>
                <a:ea typeface="微软雅黑"/>
                <a:cs typeface="微软雅黑"/>
              </a:rPr>
              <a:t>用人</a:t>
            </a:r>
            <a:endParaRPr lang="zh-CN" altLang="en-US" sz="2000" b="1" kern="0" dirty="0">
              <a:solidFill>
                <a:srgbClr val="FFFFFF"/>
              </a:solidFill>
              <a:latin typeface="微软雅黑"/>
              <a:ea typeface="微软雅黑"/>
              <a:cs typeface="微软雅黑"/>
            </a:endParaRPr>
          </a:p>
        </p:txBody>
      </p:sp>
      <p:sp>
        <p:nvSpPr>
          <p:cNvPr id="174" name="子陵职场PPT18"/>
          <p:cNvSpPr txBox="1"/>
          <p:nvPr/>
        </p:nvSpPr>
        <p:spPr>
          <a:xfrm>
            <a:off x="8633460" y="1506220"/>
            <a:ext cx="3091815" cy="312420"/>
          </a:xfrm>
          <a:prstGeom prst="rect">
            <a:avLst/>
          </a:prstGeom>
          <a:noFill/>
        </p:spPr>
        <p:txBody>
          <a:bodyPr wrap="square">
            <a:spAutoFit/>
          </a:bodyPr>
          <a:lstStyle/>
          <a:p>
            <a:pPr algn="r">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解决</a:t>
            </a:r>
            <a:r>
              <a:rPr lang="en-US" altLang="zh-CN" sz="1200" b="1" dirty="0">
                <a:solidFill>
                  <a:srgbClr val="0042FF"/>
                </a:solidFill>
                <a:latin typeface="微软雅黑"/>
                <a:ea typeface="微软雅黑"/>
                <a:cs typeface="微软雅黑"/>
                <a:sym typeface="微软雅黑"/>
              </a:rPr>
              <a:t>“</a:t>
            </a:r>
            <a:r>
              <a:rPr lang="zh-CN" altLang="en-US" sz="1200" b="1" dirty="0">
                <a:solidFill>
                  <a:srgbClr val="0042FF"/>
                </a:solidFill>
                <a:latin typeface="微软雅黑"/>
                <a:ea typeface="微软雅黑"/>
                <a:cs typeface="微软雅黑"/>
                <a:sym typeface="微软雅黑"/>
              </a:rPr>
              <a:t>如何找到对的人</a:t>
            </a:r>
            <a:r>
              <a:rPr lang="en-US" altLang="zh-CN" sz="1200" b="1" dirty="0">
                <a:solidFill>
                  <a:srgbClr val="0042FF"/>
                </a:solidFill>
                <a:latin typeface="微软雅黑"/>
                <a:ea typeface="微软雅黑"/>
                <a:cs typeface="微软雅黑"/>
                <a:sym typeface="微软雅黑"/>
              </a:rPr>
              <a:t>”</a:t>
            </a:r>
            <a:r>
              <a:rPr lang="zh-CN" altLang="en-US" sz="1200" b="1" dirty="0">
                <a:solidFill>
                  <a:srgbClr val="0042FF"/>
                </a:solidFill>
                <a:latin typeface="微软雅黑"/>
                <a:ea typeface="微软雅黑"/>
                <a:cs typeface="微软雅黑"/>
                <a:sym typeface="微软雅黑"/>
              </a:rPr>
              <a:t>的问题</a:t>
            </a:r>
            <a:r>
              <a:rPr lang="zh-CN" altLang="en-US" sz="1200" dirty="0">
                <a:solidFill>
                  <a:srgbClr val="0042FF"/>
                </a:solidFill>
                <a:latin typeface="微软雅黑"/>
                <a:ea typeface="微软雅黑"/>
                <a:cs typeface="微软雅黑"/>
                <a:sym typeface="微软雅黑"/>
              </a:rPr>
              <a:t>（起点）</a:t>
            </a:r>
            <a:endParaRPr lang="zh-CN" altLang="en-US" sz="1200" dirty="0">
              <a:solidFill>
                <a:srgbClr val="0042FF"/>
              </a:solidFill>
              <a:latin typeface="微软雅黑"/>
              <a:ea typeface="微软雅黑"/>
              <a:cs typeface="微软雅黑"/>
              <a:sym typeface="微软雅黑"/>
            </a:endParaRPr>
          </a:p>
        </p:txBody>
      </p:sp>
      <p:grpSp>
        <p:nvGrpSpPr>
          <p:cNvPr id="175" name="子陵职场PPT22"/>
          <p:cNvGrpSpPr/>
          <p:nvPr/>
        </p:nvGrpSpPr>
        <p:grpSpPr>
          <a:xfrm rot="0">
            <a:off x="588645" y="2954020"/>
            <a:ext cx="239395" cy="239395"/>
            <a:chOff x="899850" y="4992125"/>
            <a:chExt cx="481825" cy="481825"/>
          </a:xfrm>
          <a:solidFill>
            <a:srgbClr val="FFFFFF"/>
          </a:solidFill>
        </p:grpSpPr>
        <p:sp>
          <p:nvSpPr>
            <p:cNvPr id="176" name="子陵职场PPT22-1"/>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180" name="子陵职场PPT22-2"/>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181" name="子陵职场PPT22-3"/>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grpSp>
      <p:sp>
        <p:nvSpPr>
          <p:cNvPr id="182" name="任意多边形 181"/>
          <p:cNvSpPr/>
          <p:nvPr/>
        </p:nvSpPr>
        <p:spPr bwMode="auto">
          <a:xfrm>
            <a:off x="7054850" y="2054860"/>
            <a:ext cx="1414145" cy="244856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342" h="4054">
                <a:moveTo>
                  <a:pt x="817" y="0"/>
                </a:moveTo>
                <a:cubicBezTo>
                  <a:pt x="1544" y="561"/>
                  <a:pt x="2083" y="1854"/>
                  <a:pt x="2062" y="2569"/>
                </a:cubicBezTo>
                <a:lnTo>
                  <a:pt x="2061" y="2608"/>
                </a:lnTo>
                <a:lnTo>
                  <a:pt x="2059" y="2647"/>
                </a:lnTo>
                <a:lnTo>
                  <a:pt x="2058" y="2734"/>
                </a:lnTo>
                <a:lnTo>
                  <a:pt x="2060" y="2832"/>
                </a:lnTo>
                <a:lnTo>
                  <a:pt x="2060" y="2848"/>
                </a:lnTo>
                <a:lnTo>
                  <a:pt x="2061" y="2865"/>
                </a:lnTo>
                <a:lnTo>
                  <a:pt x="2061" y="2882"/>
                </a:lnTo>
                <a:lnTo>
                  <a:pt x="2061" y="2899"/>
                </a:lnTo>
                <a:cubicBezTo>
                  <a:pt x="2064" y="3158"/>
                  <a:pt x="1986" y="3542"/>
                  <a:pt x="1943" y="3703"/>
                </a:cubicBezTo>
                <a:lnTo>
                  <a:pt x="2342" y="3832"/>
                </a:lnTo>
                <a:lnTo>
                  <a:pt x="1160" y="4054"/>
                </a:lnTo>
                <a:lnTo>
                  <a:pt x="435" y="3213"/>
                </a:lnTo>
                <a:lnTo>
                  <a:pt x="662" y="3286"/>
                </a:lnTo>
                <a:cubicBezTo>
                  <a:pt x="698" y="3142"/>
                  <a:pt x="722" y="2903"/>
                  <a:pt x="720" y="2823"/>
                </a:cubicBezTo>
                <a:lnTo>
                  <a:pt x="720" y="2817"/>
                </a:lnTo>
                <a:lnTo>
                  <a:pt x="720" y="2811"/>
                </a:lnTo>
                <a:lnTo>
                  <a:pt x="720" y="2806"/>
                </a:lnTo>
                <a:lnTo>
                  <a:pt x="720" y="2801"/>
                </a:lnTo>
                <a:lnTo>
                  <a:pt x="719" y="2796"/>
                </a:lnTo>
                <a:lnTo>
                  <a:pt x="718" y="2734"/>
                </a:lnTo>
                <a:lnTo>
                  <a:pt x="719" y="2679"/>
                </a:lnTo>
                <a:lnTo>
                  <a:pt x="721" y="2651"/>
                </a:lnTo>
                <a:lnTo>
                  <a:pt x="722" y="2623"/>
                </a:lnTo>
                <a:lnTo>
                  <a:pt x="723" y="2595"/>
                </a:lnTo>
                <a:cubicBezTo>
                  <a:pt x="735" y="2026"/>
                  <a:pt x="254" y="1274"/>
                  <a:pt x="0" y="1067"/>
                </a:cubicBezTo>
                <a:lnTo>
                  <a:pt x="678" y="682"/>
                </a:lnTo>
                <a:lnTo>
                  <a:pt x="817" y="0"/>
                </a:lnTo>
                <a:close/>
              </a:path>
            </a:pathLst>
          </a:custGeom>
          <a:gradFill flip="none" rotWithShape="1">
            <a:gsLst>
              <a:gs pos="0">
                <a:srgbClr val="B3D4FE"/>
              </a:gs>
              <a:gs pos="91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184" name="任意多边形 183"/>
          <p:cNvSpPr/>
          <p:nvPr/>
        </p:nvSpPr>
        <p:spPr bwMode="auto">
          <a:xfrm rot="3360000">
            <a:off x="3582035" y="1869440"/>
            <a:ext cx="1802765" cy="2265680"/>
          </a:xfrm>
          <a:custGeom>
            <a:avLst/>
            <a:gdLst>
              <a:gd name="adj" fmla="val 52632"/>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2985" h="3751">
                <a:moveTo>
                  <a:pt x="0" y="576"/>
                </a:moveTo>
                <a:lnTo>
                  <a:pt x="1055" y="0"/>
                </a:lnTo>
                <a:lnTo>
                  <a:pt x="2005" y="576"/>
                </a:lnTo>
                <a:lnTo>
                  <a:pt x="1605" y="576"/>
                </a:lnTo>
                <a:cubicBezTo>
                  <a:pt x="1636" y="1198"/>
                  <a:pt x="2113" y="1964"/>
                  <a:pt x="2558" y="2220"/>
                </a:cubicBezTo>
                <a:lnTo>
                  <a:pt x="2609" y="2253"/>
                </a:lnTo>
                <a:lnTo>
                  <a:pt x="2655" y="2285"/>
                </a:lnTo>
                <a:lnTo>
                  <a:pt x="2660" y="2288"/>
                </a:lnTo>
                <a:cubicBezTo>
                  <a:pt x="2763" y="2362"/>
                  <a:pt x="2972" y="2461"/>
                  <a:pt x="2985" y="2463"/>
                </a:cubicBezTo>
                <a:lnTo>
                  <a:pt x="2517" y="2957"/>
                </a:lnTo>
                <a:lnTo>
                  <a:pt x="2593" y="3751"/>
                </a:lnTo>
                <a:cubicBezTo>
                  <a:pt x="2446" y="3711"/>
                  <a:pt x="1979" y="3463"/>
                  <a:pt x="1932" y="3414"/>
                </a:cubicBezTo>
                <a:lnTo>
                  <a:pt x="1860" y="3364"/>
                </a:lnTo>
                <a:lnTo>
                  <a:pt x="1779" y="3311"/>
                </a:lnTo>
                <a:lnTo>
                  <a:pt x="1732" y="3281"/>
                </a:lnTo>
                <a:cubicBezTo>
                  <a:pt x="775" y="2717"/>
                  <a:pt x="274" y="1263"/>
                  <a:pt x="266" y="576"/>
                </a:cubicBezTo>
                <a:lnTo>
                  <a:pt x="0" y="576"/>
                </a:lnTo>
                <a:close/>
              </a:path>
            </a:pathLst>
          </a:custGeom>
          <a:gradFill flip="none" rotWithShape="1">
            <a:gsLst>
              <a:gs pos="0">
                <a:srgbClr val="B3D4FE"/>
              </a:gs>
              <a:gs pos="91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185" name="任意多边形 184"/>
          <p:cNvSpPr/>
          <p:nvPr/>
        </p:nvSpPr>
        <p:spPr bwMode="auto">
          <a:xfrm rot="7620000">
            <a:off x="5356225" y="824865"/>
            <a:ext cx="1822450" cy="2280285"/>
          </a:xfrm>
          <a:custGeom>
            <a:avLst/>
            <a:gdLst>
              <a:gd name="adj" fmla="val 52632"/>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3018" h="3776">
                <a:moveTo>
                  <a:pt x="0" y="576"/>
                </a:moveTo>
                <a:lnTo>
                  <a:pt x="1055" y="0"/>
                </a:lnTo>
                <a:lnTo>
                  <a:pt x="2005" y="576"/>
                </a:lnTo>
                <a:lnTo>
                  <a:pt x="1707" y="576"/>
                </a:lnTo>
                <a:cubicBezTo>
                  <a:pt x="1706" y="939"/>
                  <a:pt x="1940" y="1540"/>
                  <a:pt x="2133" y="1751"/>
                </a:cubicBezTo>
                <a:lnTo>
                  <a:pt x="2171" y="1800"/>
                </a:lnTo>
                <a:lnTo>
                  <a:pt x="2203" y="1845"/>
                </a:lnTo>
                <a:lnTo>
                  <a:pt x="2213" y="1858"/>
                </a:lnTo>
                <a:cubicBezTo>
                  <a:pt x="2399" y="2133"/>
                  <a:pt x="2841" y="2420"/>
                  <a:pt x="3018" y="2490"/>
                </a:cubicBezTo>
                <a:lnTo>
                  <a:pt x="2549" y="2985"/>
                </a:lnTo>
                <a:lnTo>
                  <a:pt x="2626" y="3776"/>
                </a:lnTo>
                <a:cubicBezTo>
                  <a:pt x="2047" y="3580"/>
                  <a:pt x="1374" y="3001"/>
                  <a:pt x="1155" y="2675"/>
                </a:cubicBezTo>
                <a:lnTo>
                  <a:pt x="1103" y="2605"/>
                </a:lnTo>
                <a:lnTo>
                  <a:pt x="1043" y="2528"/>
                </a:lnTo>
                <a:lnTo>
                  <a:pt x="1020" y="2501"/>
                </a:lnTo>
                <a:cubicBezTo>
                  <a:pt x="565" y="1979"/>
                  <a:pt x="363" y="940"/>
                  <a:pt x="368" y="576"/>
                </a:cubicBezTo>
                <a:lnTo>
                  <a:pt x="0" y="576"/>
                </a:lnTo>
                <a:close/>
              </a:path>
            </a:pathLst>
          </a:custGeom>
          <a:gradFill flip="none" rotWithShape="1">
            <a:gsLst>
              <a:gs pos="100000">
                <a:srgbClr val="3368FF"/>
              </a:gs>
              <a:gs pos="0">
                <a:srgbClr val="0042FF"/>
              </a:gs>
            </a:gsLst>
            <a:lin ang="0" scaled="1"/>
            <a:tileRect/>
          </a:gradFill>
          <a:ln>
            <a:no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86" name="任意多边形 185"/>
          <p:cNvSpPr/>
          <p:nvPr/>
        </p:nvSpPr>
        <p:spPr bwMode="auto">
          <a:xfrm rot="16200000">
            <a:off x="6039485" y="4065905"/>
            <a:ext cx="1837055" cy="2269490"/>
          </a:xfrm>
          <a:custGeom>
            <a:avLst/>
            <a:gdLst>
              <a:gd name="adj" fmla="val 52632"/>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3042" h="3758">
                <a:moveTo>
                  <a:pt x="0" y="576"/>
                </a:moveTo>
                <a:lnTo>
                  <a:pt x="1055" y="0"/>
                </a:lnTo>
                <a:lnTo>
                  <a:pt x="2005" y="576"/>
                </a:lnTo>
                <a:lnTo>
                  <a:pt x="1718" y="576"/>
                </a:lnTo>
                <a:cubicBezTo>
                  <a:pt x="1704" y="1297"/>
                  <a:pt x="2448" y="2275"/>
                  <a:pt x="3042" y="2497"/>
                </a:cubicBezTo>
                <a:lnTo>
                  <a:pt x="2511" y="3039"/>
                </a:lnTo>
                <a:lnTo>
                  <a:pt x="2567" y="3758"/>
                </a:lnTo>
                <a:cubicBezTo>
                  <a:pt x="1414" y="3371"/>
                  <a:pt x="327" y="1642"/>
                  <a:pt x="375" y="603"/>
                </a:cubicBezTo>
                <a:lnTo>
                  <a:pt x="375" y="576"/>
                </a:lnTo>
                <a:lnTo>
                  <a:pt x="0" y="576"/>
                </a:lnTo>
                <a:close/>
              </a:path>
            </a:pathLst>
          </a:custGeom>
          <a:gradFill flip="none" rotWithShape="1">
            <a:gsLst>
              <a:gs pos="100000">
                <a:srgbClr val="3368FF"/>
              </a:gs>
              <a:gs pos="0">
                <a:srgbClr val="0042FF"/>
              </a:gs>
            </a:gsLst>
            <a:lin ang="0" scaled="1"/>
            <a:tileRect/>
          </a:gradFill>
          <a:ln>
            <a:no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87" name="任意多边形 186"/>
          <p:cNvSpPr/>
          <p:nvPr/>
        </p:nvSpPr>
        <p:spPr bwMode="auto">
          <a:xfrm rot="20580000">
            <a:off x="3999230" y="3861435"/>
            <a:ext cx="1815465" cy="2256155"/>
          </a:xfrm>
          <a:custGeom>
            <a:avLst/>
            <a:gdLst>
              <a:gd name="adj" fmla="val 52632"/>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3006" h="3736">
                <a:moveTo>
                  <a:pt x="0" y="576"/>
                </a:moveTo>
                <a:lnTo>
                  <a:pt x="1055" y="0"/>
                </a:lnTo>
                <a:lnTo>
                  <a:pt x="2005" y="576"/>
                </a:lnTo>
                <a:lnTo>
                  <a:pt x="1665" y="576"/>
                </a:lnTo>
                <a:cubicBezTo>
                  <a:pt x="1685" y="1307"/>
                  <a:pt x="2385" y="2270"/>
                  <a:pt x="3006" y="2476"/>
                </a:cubicBezTo>
                <a:lnTo>
                  <a:pt x="2451" y="3105"/>
                </a:lnTo>
                <a:lnTo>
                  <a:pt x="2534" y="3736"/>
                </a:lnTo>
                <a:cubicBezTo>
                  <a:pt x="1159" y="3330"/>
                  <a:pt x="311" y="1424"/>
                  <a:pt x="320" y="576"/>
                </a:cubicBezTo>
                <a:lnTo>
                  <a:pt x="0" y="576"/>
                </a:lnTo>
                <a:close/>
              </a:path>
            </a:pathLst>
          </a:custGeom>
          <a:gradFill flip="none" rotWithShape="1">
            <a:gsLst>
              <a:gs pos="0">
                <a:srgbClr val="668EFF"/>
              </a:gs>
              <a:gs pos="91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88" name="子陵职场PPT8-46"/>
          <p:cNvSpPr txBox="1"/>
          <p:nvPr/>
        </p:nvSpPr>
        <p:spPr>
          <a:xfrm>
            <a:off x="5324475" y="1787525"/>
            <a:ext cx="1804035" cy="472440"/>
          </a:xfrm>
          <a:prstGeom prst="rect">
            <a:avLst/>
          </a:prstGeom>
          <a:noFill/>
        </p:spPr>
        <p:txBody>
          <a:bodyPr wrap="none" rtlCol="0" anchor="b" anchorCtr="0"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sz="2400" b="1" i="0" u="none" strike="noStrike" kern="1200" cap="none" spc="0" normalizeH="0" baseline="0" noProof="0" dirty="0">
                <a:ln>
                  <a:noFill/>
                </a:ln>
                <a:solidFill>
                  <a:srgbClr val="FFFFFF"/>
                </a:solidFill>
                <a:effectLst/>
                <a:uLnTx/>
                <a:uFillTx/>
                <a:latin typeface="微软雅黑"/>
                <a:ea typeface="微软雅黑"/>
                <a:cs typeface="微软雅黑"/>
              </a:rPr>
              <a:t>选人</a:t>
            </a:r>
            <a:endParaRPr kumimoji="1" lang="zh-CN" sz="2400" b="1"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第①步</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90" name="子陵职场PPT8-46"/>
          <p:cNvSpPr txBox="1"/>
          <p:nvPr/>
        </p:nvSpPr>
        <p:spPr>
          <a:xfrm rot="19620000">
            <a:off x="6024245" y="5081905"/>
            <a:ext cx="1804035" cy="472440"/>
          </a:xfrm>
          <a:prstGeom prst="rect">
            <a:avLst/>
          </a:prstGeom>
          <a:noFill/>
        </p:spPr>
        <p:txBody>
          <a:bodyPr wrap="none" rtlCol="0" anchor="b" anchorCtr="0"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2400" b="1" i="0" u="none" strike="noStrike" kern="1200" cap="none" spc="0" normalizeH="0" baseline="0" noProof="0" dirty="0">
                <a:ln>
                  <a:noFill/>
                </a:ln>
                <a:solidFill>
                  <a:srgbClr val="FFFFFF"/>
                </a:solidFill>
                <a:effectLst/>
                <a:uLnTx/>
                <a:uFillTx/>
                <a:latin typeface="微软雅黑"/>
                <a:ea typeface="微软雅黑"/>
                <a:cs typeface="微软雅黑"/>
              </a:rPr>
              <a:t>用人</a:t>
            </a:r>
            <a:endParaRPr kumimoji="1" lang="en-US" altLang="zh-CN" sz="2400" b="1"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第③步</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91" name="子陵职场PPT8-46"/>
          <p:cNvSpPr txBox="1"/>
          <p:nvPr/>
        </p:nvSpPr>
        <p:spPr>
          <a:xfrm rot="2580000">
            <a:off x="3890010" y="4773295"/>
            <a:ext cx="1804035" cy="472440"/>
          </a:xfrm>
          <a:prstGeom prst="rect">
            <a:avLst/>
          </a:prstGeom>
          <a:noFill/>
        </p:spPr>
        <p:txBody>
          <a:bodyPr wrap="none" rtlCol="0" anchor="b" anchorCtr="0"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2400" b="1" i="0" u="none" strike="noStrike" kern="1200" cap="none" spc="0" normalizeH="0" baseline="0" noProof="0" dirty="0">
                <a:ln>
                  <a:noFill/>
                </a:ln>
                <a:solidFill>
                  <a:srgbClr val="FFFFFF"/>
                </a:solidFill>
                <a:effectLst/>
                <a:uLnTx/>
                <a:uFillTx/>
                <a:latin typeface="微软雅黑"/>
                <a:ea typeface="微软雅黑"/>
                <a:cs typeface="微软雅黑"/>
              </a:rPr>
              <a:t>留人</a:t>
            </a:r>
            <a:endParaRPr kumimoji="1" lang="en-US" altLang="zh-CN" sz="2400" b="1"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第④步</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92" name="子陵职场PPT8-46"/>
          <p:cNvSpPr txBox="1"/>
          <p:nvPr/>
        </p:nvSpPr>
        <p:spPr>
          <a:xfrm rot="17820000">
            <a:off x="3630930" y="2766060"/>
            <a:ext cx="1804035" cy="472440"/>
          </a:xfrm>
          <a:prstGeom prst="rect">
            <a:avLst/>
          </a:prstGeom>
          <a:noFill/>
        </p:spPr>
        <p:txBody>
          <a:bodyPr wrap="none" rtlCol="0" anchor="b" anchorCtr="0"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2400" b="1" i="0" u="none" strike="noStrike" kern="1200" cap="none" spc="0" normalizeH="0" baseline="0" noProof="0" dirty="0">
                <a:ln>
                  <a:noFill/>
                </a:ln>
                <a:solidFill>
                  <a:srgbClr val="383838"/>
                </a:solidFill>
                <a:effectLst/>
                <a:uLnTx/>
                <a:uFillTx/>
                <a:latin typeface="微软雅黑"/>
                <a:ea typeface="微软雅黑"/>
                <a:cs typeface="微软雅黑"/>
              </a:rPr>
              <a:t>优化</a:t>
            </a:r>
            <a:endParaRPr kumimoji="1" lang="en-US" altLang="zh-CN" sz="2400" b="1"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第⑤步</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21" name="子陵职场PPT18"/>
          <p:cNvSpPr txBox="1"/>
          <p:nvPr/>
        </p:nvSpPr>
        <p:spPr>
          <a:xfrm>
            <a:off x="8757285" y="1772920"/>
            <a:ext cx="2839085" cy="937260"/>
          </a:xfrm>
          <a:prstGeom prst="rect">
            <a:avLst/>
          </a:prstGeom>
          <a:noFill/>
        </p:spPr>
        <p:txBody>
          <a:bodyPr wrap="square" lIns="0" rIns="0" tIns="0" bIns="0">
            <a:spAutoFit/>
          </a:bodyPr>
          <a:lstStyle/>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cs typeface="微软雅黑"/>
                <a:ea typeface="微软雅黑"/>
              </a:rPr>
              <a:t>精准画像：</a:t>
            </a:r>
            <a:r>
              <a:rPr lang="en-US" altLang="zh-CN" sz="1000" b="1" dirty="0">
                <a:solidFill>
                  <a:srgbClr val="383838">
                    <a:alpha val="80000"/>
                  </a:srgbClr>
                </a:solidFill>
                <a:latin typeface="微软雅黑"/>
                <a:cs typeface="微软雅黑"/>
                <a:ea typeface="微软雅黑"/>
              </a:rPr>
              <a:t> </a:t>
            </a:r>
            <a:r>
              <a:rPr lang="zh-CN" altLang="en-US" sz="1000" dirty="0">
                <a:solidFill>
                  <a:srgbClr val="383838">
                    <a:alpha val="80000"/>
                  </a:srgbClr>
                </a:solidFill>
                <a:latin typeface="微软雅黑"/>
                <a:cs typeface="微软雅黑"/>
                <a:ea typeface="微软雅黑"/>
              </a:rPr>
              <a:t>不能只看简历上的硬技能，更要明确岗位所需的软素质。</a:t>
            </a:r>
            <a:endParaRPr lang="zh-CN" altLang="en-US" sz="1000" dirty="0">
              <a:solidFill>
                <a:srgbClr val="383838">
                  <a:alpha val="80000"/>
                </a:srgbClr>
              </a:solidFill>
              <a:latin typeface="微软雅黑"/>
              <a:cs typeface="微软雅黑"/>
              <a:ea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cs typeface="微软雅黑"/>
                <a:ea typeface="微软雅黑"/>
              </a:rPr>
              <a:t>识别匹配：</a:t>
            </a:r>
            <a:r>
              <a:rPr lang="en-US" altLang="zh-CN" sz="1000" dirty="0">
                <a:solidFill>
                  <a:srgbClr val="383838">
                    <a:alpha val="80000"/>
                  </a:srgbClr>
                </a:solidFill>
                <a:latin typeface="微软雅黑"/>
                <a:cs typeface="微软雅黑"/>
                <a:ea typeface="微软雅黑"/>
              </a:rPr>
              <a:t> </a:t>
            </a:r>
            <a:r>
              <a:rPr lang="zh-CN" altLang="en-US" sz="1000" dirty="0">
                <a:solidFill>
                  <a:srgbClr val="383838">
                    <a:alpha val="80000"/>
                  </a:srgbClr>
                </a:solidFill>
                <a:latin typeface="微软雅黑"/>
                <a:cs typeface="微软雅黑"/>
                <a:ea typeface="微软雅黑"/>
              </a:rPr>
              <a:t>面试中重点考察</a:t>
            </a:r>
            <a:r>
              <a:rPr lang="en-US" altLang="zh-CN" sz="1000" dirty="0">
                <a:solidFill>
                  <a:srgbClr val="383838">
                    <a:alpha val="80000"/>
                  </a:srgbClr>
                </a:solidFill>
                <a:latin typeface="微软雅黑"/>
                <a:cs typeface="微软雅黑"/>
                <a:ea typeface="微软雅黑"/>
              </a:rPr>
              <a:t>“</a:t>
            </a:r>
            <a:r>
              <a:rPr lang="zh-CN" altLang="en-US" sz="1000" dirty="0">
                <a:solidFill>
                  <a:srgbClr val="383838">
                    <a:alpha val="80000"/>
                  </a:srgbClr>
                </a:solidFill>
                <a:latin typeface="微软雅黑"/>
                <a:cs typeface="微软雅黑"/>
                <a:ea typeface="微软雅黑"/>
              </a:rPr>
              <a:t>能力匹配度</a:t>
            </a:r>
            <a:r>
              <a:rPr lang="en-US" altLang="zh-CN" sz="1000" dirty="0">
                <a:solidFill>
                  <a:srgbClr val="383838">
                    <a:alpha val="80000"/>
                  </a:srgbClr>
                </a:solidFill>
                <a:latin typeface="微软雅黑"/>
                <a:cs typeface="微软雅黑"/>
                <a:ea typeface="微软雅黑"/>
              </a:rPr>
              <a:t>”</a:t>
            </a:r>
            <a:r>
              <a:rPr lang="zh-CN" altLang="en-US" sz="1000" dirty="0">
                <a:solidFill>
                  <a:srgbClr val="383838">
                    <a:alpha val="80000"/>
                  </a:srgbClr>
                </a:solidFill>
                <a:latin typeface="微软雅黑"/>
                <a:cs typeface="微软雅黑"/>
                <a:ea typeface="微软雅黑"/>
              </a:rPr>
              <a:t>与</a:t>
            </a:r>
            <a:r>
              <a:rPr lang="en-US" altLang="zh-CN" sz="1000" dirty="0">
                <a:solidFill>
                  <a:srgbClr val="383838">
                    <a:alpha val="80000"/>
                  </a:srgbClr>
                </a:solidFill>
                <a:latin typeface="微软雅黑"/>
                <a:cs typeface="微软雅黑"/>
                <a:ea typeface="微软雅黑"/>
              </a:rPr>
              <a:t>“</a:t>
            </a:r>
            <a:r>
              <a:rPr lang="zh-CN" altLang="en-US" sz="1000" dirty="0">
                <a:solidFill>
                  <a:srgbClr val="383838">
                    <a:alpha val="80000"/>
                  </a:srgbClr>
                </a:solidFill>
                <a:latin typeface="微软雅黑"/>
                <a:cs typeface="微软雅黑"/>
                <a:ea typeface="微软雅黑"/>
              </a:rPr>
              <a:t>文化匹配度</a:t>
            </a:r>
            <a:r>
              <a:rPr lang="en-US" altLang="zh-CN" sz="1000" dirty="0">
                <a:solidFill>
                  <a:srgbClr val="383838">
                    <a:alpha val="80000"/>
                  </a:srgbClr>
                </a:solidFill>
                <a:latin typeface="微软雅黑"/>
                <a:cs typeface="微软雅黑"/>
                <a:ea typeface="微软雅黑"/>
              </a:rPr>
              <a:t>”</a:t>
            </a:r>
            <a:r>
              <a:rPr lang="zh-CN" altLang="en-US" sz="1000" dirty="0">
                <a:solidFill>
                  <a:srgbClr val="383838">
                    <a:alpha val="80000"/>
                  </a:srgbClr>
                </a:solidFill>
                <a:latin typeface="微软雅黑"/>
                <a:cs typeface="微软雅黑"/>
                <a:ea typeface="微软雅黑"/>
              </a:rPr>
              <a:t>。如果价值观与企业不符，往往很难融入团队。</a:t>
            </a:r>
            <a:endParaRPr lang="zh-CN" altLang="en-US" sz="1000" dirty="0">
              <a:solidFill>
                <a:srgbClr val="383838">
                  <a:alpha val="80000"/>
                </a:srgbClr>
              </a:solidFill>
              <a:latin typeface="微软雅黑"/>
              <a:cs typeface="微软雅黑"/>
              <a:ea typeface="微软雅黑"/>
            </a:endParaRPr>
          </a:p>
        </p:txBody>
      </p:sp>
      <p:sp>
        <p:nvSpPr>
          <p:cNvPr id="222" name="子陵职场PPT18"/>
          <p:cNvSpPr txBox="1"/>
          <p:nvPr/>
        </p:nvSpPr>
        <p:spPr>
          <a:xfrm>
            <a:off x="8613775" y="3312795"/>
            <a:ext cx="3114675" cy="312420"/>
          </a:xfrm>
          <a:prstGeom prst="rect">
            <a:avLst/>
          </a:prstGeom>
          <a:noFill/>
        </p:spPr>
        <p:txBody>
          <a:bodyPr wrap="square">
            <a:spAutoFit/>
          </a:bodyPr>
          <a:lstStyle/>
          <a:p>
            <a:pPr algn="r">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解决</a:t>
            </a:r>
            <a:r>
              <a:rPr lang="en-US" altLang="zh-CN" sz="1200" b="1" dirty="0">
                <a:solidFill>
                  <a:srgbClr val="0042FF"/>
                </a:solidFill>
                <a:latin typeface="微软雅黑"/>
                <a:ea typeface="微软雅黑"/>
                <a:cs typeface="微软雅黑"/>
                <a:sym typeface="微软雅黑"/>
              </a:rPr>
              <a:t>“</a:t>
            </a:r>
            <a:r>
              <a:rPr lang="zh-CN" altLang="en-US" sz="1200" b="1" dirty="0">
                <a:solidFill>
                  <a:srgbClr val="0042FF"/>
                </a:solidFill>
                <a:latin typeface="微软雅黑"/>
                <a:ea typeface="微软雅黑"/>
                <a:cs typeface="微软雅黑"/>
                <a:sym typeface="微软雅黑"/>
              </a:rPr>
              <a:t>让员工增值</a:t>
            </a:r>
            <a:r>
              <a:rPr lang="en-US" altLang="zh-CN" sz="1200" b="1" dirty="0">
                <a:solidFill>
                  <a:srgbClr val="0042FF"/>
                </a:solidFill>
                <a:latin typeface="微软雅黑"/>
                <a:ea typeface="微软雅黑"/>
                <a:cs typeface="微软雅黑"/>
                <a:sym typeface="微软雅黑"/>
              </a:rPr>
              <a:t>”</a:t>
            </a:r>
            <a:r>
              <a:rPr lang="zh-CN" altLang="en-US" sz="1200" b="1" dirty="0">
                <a:solidFill>
                  <a:srgbClr val="0042FF"/>
                </a:solidFill>
                <a:latin typeface="微软雅黑"/>
                <a:ea typeface="微软雅黑"/>
                <a:cs typeface="微软雅黑"/>
                <a:sym typeface="微软雅黑"/>
              </a:rPr>
              <a:t>的问题</a:t>
            </a:r>
            <a:r>
              <a:rPr lang="zh-CN" altLang="en-US" sz="1200" dirty="0">
                <a:solidFill>
                  <a:srgbClr val="0042FF"/>
                </a:solidFill>
                <a:latin typeface="微软雅黑"/>
                <a:ea typeface="微软雅黑"/>
                <a:cs typeface="微软雅黑"/>
                <a:sym typeface="微软雅黑"/>
              </a:rPr>
              <a:t>（未来）</a:t>
            </a:r>
            <a:endParaRPr lang="zh-CN" altLang="en-US" sz="1200" dirty="0">
              <a:solidFill>
                <a:srgbClr val="0042FF"/>
              </a:solidFill>
              <a:latin typeface="微软雅黑"/>
              <a:ea typeface="微软雅黑"/>
              <a:cs typeface="微软雅黑"/>
              <a:sym typeface="微软雅黑"/>
            </a:endParaRPr>
          </a:p>
        </p:txBody>
      </p:sp>
      <p:sp>
        <p:nvSpPr>
          <p:cNvPr id="223" name="Rectangle 60"/>
          <p:cNvSpPr/>
          <p:nvPr/>
        </p:nvSpPr>
        <p:spPr>
          <a:xfrm flipH="1">
            <a:off x="8971915" y="3506471"/>
            <a:ext cx="2564765" cy="1015365"/>
          </a:xfrm>
          <a:prstGeom prst="rect">
            <a:avLst/>
          </a:prstGeom>
        </p:spPr>
        <p:txBody>
          <a:bodyPr wrap="square" lIns="0" tIns="0" rIns="0" bIns="0" anchor="t" anchorCtr="0">
            <a:spAutoFit/>
          </a:bodyPr>
          <a:lstStyle/>
          <a:p>
            <a:pPr indent="0" algn="l" fontAlgn="auto">
              <a:lnSpc>
                <a:spcPct val="110000"/>
              </a:lnSpc>
              <a:spcBef>
                <a:spcPts val="0"/>
              </a:spcBef>
              <a:buFont typeface="微软雅黑"/>
              <a:buNone/>
              <a:defRPr>
                <a:latin typeface="微软雅黑"/>
                <a:ea typeface="微软雅黑"/>
                <a:cs typeface="微软雅黑"/>
              </a:defRPr>
            </a:pPr>
            <a:endParaRPr lang="en-US" alt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在职培训：</a:t>
            </a:r>
            <a:r>
              <a:rPr lang="en-US" altLang="zh-CN" sz="1000"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建立分层级的培训体系。基层员工重技能，中层管理重流程，高层决策重战略。</a:t>
            </a:r>
            <a:endParaRPr lang="zh-CN" altLang="en-US"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职业规划：</a:t>
            </a:r>
            <a:r>
              <a:rPr lang="en-US" altLang="zh-CN" sz="1000" b="1"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帮助员工看到晋升路径。无论是走专业路线（</a:t>
            </a:r>
            <a:r>
              <a:rPr lang="en-US" altLang="zh-CN" sz="1000" dirty="0">
                <a:solidFill>
                  <a:srgbClr val="383838">
                    <a:alpha val="80000"/>
                  </a:srgbClr>
                </a:solidFill>
                <a:latin typeface="微软雅黑"/>
                <a:ea typeface="微软雅黑"/>
                <a:cs typeface="微软雅黑"/>
              </a:rPr>
              <a:t>P</a:t>
            </a:r>
            <a:r>
              <a:rPr lang="zh-CN" altLang="en-US" sz="1000" dirty="0">
                <a:solidFill>
                  <a:srgbClr val="383838">
                    <a:alpha val="80000"/>
                  </a:srgbClr>
                </a:solidFill>
                <a:latin typeface="微软雅黑"/>
                <a:ea typeface="微软雅黑"/>
                <a:cs typeface="微软雅黑"/>
              </a:rPr>
              <a:t>序列）还是管理路线</a:t>
            </a:r>
            <a:r>
              <a:rPr lang="zh-CN" sz="1000" dirty="0">
                <a:solidFill>
                  <a:srgbClr val="383838">
                    <a:alpha val="80000"/>
                  </a:srgbClr>
                </a:solidFill>
                <a:latin typeface="微软雅黑"/>
                <a:ea typeface="微软雅黑"/>
                <a:cs typeface="微软雅黑"/>
              </a:rPr>
              <a:t>。</a:t>
            </a:r>
            <a:endParaRPr lang="zh-CN" sz="1000" dirty="0">
              <a:solidFill>
                <a:srgbClr val="383838">
                  <a:alpha val="80000"/>
                </a:srgbClr>
              </a:solidFill>
              <a:latin typeface="微软雅黑"/>
              <a:ea typeface="微软雅黑"/>
              <a:cs typeface="微软雅黑"/>
            </a:endParaRPr>
          </a:p>
        </p:txBody>
      </p:sp>
      <p:sp>
        <p:nvSpPr>
          <p:cNvPr id="224" name="子陵职场PPT18"/>
          <p:cNvSpPr txBox="1"/>
          <p:nvPr/>
        </p:nvSpPr>
        <p:spPr>
          <a:xfrm>
            <a:off x="8636635" y="5276850"/>
            <a:ext cx="3091815" cy="312420"/>
          </a:xfrm>
          <a:prstGeom prst="rect">
            <a:avLst/>
          </a:prstGeom>
          <a:noFill/>
        </p:spPr>
        <p:txBody>
          <a:bodyPr wrap="square">
            <a:spAutoFit/>
          </a:bodyPr>
          <a:lstStyle/>
          <a:p>
            <a:pPr algn="r">
              <a:lnSpc>
                <a:spcPct val="120000"/>
              </a:lnSpc>
              <a:defRPr>
                <a:latin typeface="微软雅黑"/>
                <a:ea typeface="微软雅黑"/>
                <a:cs typeface="微软雅黑"/>
              </a:defRPr>
            </a:pPr>
            <a:r>
              <a:rPr lang="en-US" altLang="zh-CN" sz="1200" b="1" dirty="0">
                <a:solidFill>
                  <a:srgbClr val="0042FF"/>
                </a:solidFill>
                <a:latin typeface="微软雅黑"/>
                <a:ea typeface="微软雅黑"/>
                <a:cs typeface="微软雅黑"/>
              </a:rPr>
              <a:t>解决“如何人尽其才”的问题</a:t>
            </a:r>
            <a:r>
              <a:rPr lang="zh-CN" altLang="en-US" sz="1200" dirty="0">
                <a:solidFill>
                  <a:srgbClr val="0042FF"/>
                </a:solidFill>
                <a:latin typeface="微软雅黑"/>
                <a:ea typeface="微软雅黑"/>
                <a:cs typeface="微软雅黑"/>
              </a:rPr>
              <a:t>（结果）</a:t>
            </a:r>
            <a:endParaRPr lang="zh-CN" altLang="en-US" sz="1200" dirty="0">
              <a:solidFill>
                <a:srgbClr val="0042FF"/>
              </a:solidFill>
              <a:latin typeface="微软雅黑"/>
              <a:ea typeface="微软雅黑"/>
              <a:cs typeface="微软雅黑"/>
            </a:endParaRPr>
          </a:p>
        </p:txBody>
      </p:sp>
      <p:sp>
        <p:nvSpPr>
          <p:cNvPr id="225" name="Rectangle 60"/>
          <p:cNvSpPr/>
          <p:nvPr/>
        </p:nvSpPr>
        <p:spPr>
          <a:xfrm flipH="1">
            <a:off x="8919845" y="5652135"/>
            <a:ext cx="2616835" cy="676910"/>
          </a:xfrm>
          <a:prstGeom prst="rect">
            <a:avLst/>
          </a:prstGeom>
        </p:spPr>
        <p:txBody>
          <a:bodyPr wrap="square" lIns="0" tIns="0" rIns="0" bIns="0" anchor="t" anchorCtr="0">
            <a:spAutoFit/>
          </a:bodyPr>
          <a:lstStyle/>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知人善任：</a:t>
            </a:r>
            <a:r>
              <a:rPr lang="en-US" altLang="zh-CN" sz="1000"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了解每个下属的长处和短板。把合适的人放在合适的岗位上</a:t>
            </a:r>
            <a:r>
              <a:rPr lang="zh-CN" sz="1000" dirty="0">
                <a:solidFill>
                  <a:srgbClr val="383838">
                    <a:alpha val="80000"/>
                  </a:srgbClr>
                </a:solidFill>
                <a:latin typeface="微软雅黑"/>
                <a:ea typeface="微软雅黑"/>
                <a:cs typeface="微软雅黑"/>
              </a:rPr>
              <a:t>。</a:t>
            </a:r>
            <a:endParaRPr 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绩效驱动：</a:t>
            </a:r>
            <a:r>
              <a:rPr lang="en-US" altLang="zh-CN" sz="1000"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建立目标共识。通过定期的绩效沟通，确保员工的方向与团队目标一致。</a:t>
            </a:r>
            <a:endParaRPr lang="zh-CN" altLang="en-US" sz="1000" dirty="0">
              <a:solidFill>
                <a:srgbClr val="383838">
                  <a:alpha val="80000"/>
                </a:srgbClr>
              </a:solidFill>
              <a:latin typeface="微软雅黑"/>
              <a:ea typeface="微软雅黑"/>
              <a:cs typeface="微软雅黑"/>
            </a:endParaRPr>
          </a:p>
        </p:txBody>
      </p:sp>
      <p:sp>
        <p:nvSpPr>
          <p:cNvPr id="226" name="子陵职场PPT18"/>
          <p:cNvSpPr txBox="1"/>
          <p:nvPr/>
        </p:nvSpPr>
        <p:spPr>
          <a:xfrm>
            <a:off x="553085" y="4097020"/>
            <a:ext cx="2662555" cy="312420"/>
          </a:xfrm>
          <a:prstGeom prst="rect">
            <a:avLst/>
          </a:prstGeom>
          <a:noFill/>
        </p:spPr>
        <p:txBody>
          <a:bodyPr wrap="square">
            <a:spAutoFit/>
          </a:bodyPr>
          <a:lstStyle/>
          <a:p>
            <a:pPr algn="l">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解决“如何让人不想走”的问题</a:t>
            </a:r>
            <a:endParaRPr lang="zh-CN" altLang="en-US" sz="1200" b="1" dirty="0">
              <a:solidFill>
                <a:srgbClr val="0042FF"/>
              </a:solidFill>
              <a:latin typeface="微软雅黑"/>
              <a:ea typeface="微软雅黑"/>
              <a:cs typeface="微软雅黑"/>
            </a:endParaRPr>
          </a:p>
        </p:txBody>
      </p:sp>
      <p:sp>
        <p:nvSpPr>
          <p:cNvPr id="227" name="Rectangle 60"/>
          <p:cNvSpPr/>
          <p:nvPr/>
        </p:nvSpPr>
        <p:spPr>
          <a:xfrm flipH="1">
            <a:off x="650875" y="4521518"/>
            <a:ext cx="2440940" cy="1641475"/>
          </a:xfrm>
          <a:prstGeom prst="rect">
            <a:avLst/>
          </a:prstGeom>
        </p:spPr>
        <p:txBody>
          <a:bodyPr wrap="square" lIns="0" tIns="0" rIns="0" bIns="0" anchor="t" anchorCtr="0">
            <a:spAutoFit/>
          </a:bodyPr>
          <a:lstStyle/>
          <a:p>
            <a:pPr marL="171450" indent="-171450" algn="l" fontAlgn="auto">
              <a:lnSpc>
                <a:spcPts val="16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薪酬激励：</a:t>
            </a:r>
            <a:r>
              <a:rPr lang="en-US" altLang="zh-CN" sz="1000"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提供有市场竞争力的薪酬是基础。要做到内部的公平性和外部的竞争性，让员工觉得付出有对等的回报。</a:t>
            </a:r>
            <a:endParaRPr lang="en-US" altLang="zh-CN" sz="1000" dirty="0">
              <a:solidFill>
                <a:srgbClr val="383838">
                  <a:alpha val="80000"/>
                </a:srgbClr>
              </a:solidFill>
              <a:latin typeface="微软雅黑"/>
              <a:ea typeface="微软雅黑"/>
              <a:cs typeface="微软雅黑"/>
            </a:endParaRPr>
          </a:p>
          <a:p>
            <a:pPr marL="171450" indent="-171450" algn="l" fontAlgn="auto">
              <a:lnSpc>
                <a:spcPts val="16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情感归属：</a:t>
            </a:r>
            <a:r>
              <a:rPr lang="zh-CN" altLang="en-US" sz="1000" dirty="0">
                <a:solidFill>
                  <a:srgbClr val="383838">
                    <a:alpha val="80000"/>
                  </a:srgbClr>
                </a:solidFill>
                <a:latin typeface="微软雅黑"/>
                <a:ea typeface="微软雅黑"/>
                <a:cs typeface="微软雅黑"/>
              </a:rPr>
              <a:t>营造开放透明的沟通氛围，组织团建活动，关注员工的身心健康。</a:t>
            </a:r>
            <a:endParaRPr lang="en-US" altLang="zh-CN" sz="1000" dirty="0">
              <a:solidFill>
                <a:srgbClr val="383838">
                  <a:alpha val="80000"/>
                </a:srgbClr>
              </a:solidFill>
              <a:latin typeface="微软雅黑"/>
              <a:ea typeface="微软雅黑"/>
              <a:cs typeface="微软雅黑"/>
            </a:endParaRPr>
          </a:p>
          <a:p>
            <a:pPr marL="171450" indent="-171450" algn="l" fontAlgn="auto">
              <a:lnSpc>
                <a:spcPts val="16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事业留人：</a:t>
            </a:r>
            <a:r>
              <a:rPr lang="en-US" altLang="zh-CN" sz="1000"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给核心人才提供挑战性的工作机会，让他们觉得在做的是一件有意义的大事，而不仅是一份糊口的工作。</a:t>
            </a:r>
            <a:endParaRPr lang="zh-CN" altLang="en-US" sz="1000" dirty="0">
              <a:solidFill>
                <a:srgbClr val="383838">
                  <a:alpha val="80000"/>
                </a:srgbClr>
              </a:solidFill>
              <a:latin typeface="微软雅黑"/>
              <a:ea typeface="微软雅黑"/>
              <a:cs typeface="微软雅黑"/>
            </a:endParaRPr>
          </a:p>
        </p:txBody>
      </p:sp>
      <p:sp>
        <p:nvSpPr>
          <p:cNvPr id="228" name="子陵职场PPT18"/>
          <p:cNvSpPr txBox="1"/>
          <p:nvPr/>
        </p:nvSpPr>
        <p:spPr>
          <a:xfrm>
            <a:off x="616585" y="1486535"/>
            <a:ext cx="2475230" cy="312420"/>
          </a:xfrm>
          <a:prstGeom prst="rect">
            <a:avLst/>
          </a:prstGeom>
          <a:noFill/>
        </p:spPr>
        <p:txBody>
          <a:bodyPr wrap="square">
            <a:spAutoFit/>
          </a:bodyPr>
          <a:lstStyle/>
          <a:p>
            <a:pPr lvl="0" algn="l">
              <a:lnSpc>
                <a:spcPct val="120000"/>
              </a:lnSpc>
              <a:buClrTx/>
              <a:buSzTx/>
              <a:buFontTx/>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解决</a:t>
            </a:r>
            <a:r>
              <a:rPr lang="en-US" altLang="zh-CN" sz="1200" b="1" dirty="0">
                <a:solidFill>
                  <a:srgbClr val="0042FF"/>
                </a:solidFill>
                <a:latin typeface="微软雅黑"/>
                <a:ea typeface="微软雅黑"/>
                <a:cs typeface="微软雅黑"/>
                <a:sym typeface="微软雅黑"/>
              </a:rPr>
              <a:t>“</a:t>
            </a:r>
            <a:r>
              <a:rPr lang="zh-CN" altLang="en-US" sz="1200" b="1" dirty="0">
                <a:solidFill>
                  <a:srgbClr val="0042FF"/>
                </a:solidFill>
                <a:latin typeface="微软雅黑"/>
                <a:ea typeface="微软雅黑"/>
                <a:cs typeface="微软雅黑"/>
                <a:sym typeface="微软雅黑"/>
              </a:rPr>
              <a:t>如何保持组织活力</a:t>
            </a:r>
            <a:r>
              <a:rPr lang="en-US" altLang="zh-CN" sz="1200" b="1" dirty="0">
                <a:solidFill>
                  <a:srgbClr val="0042FF"/>
                </a:solidFill>
                <a:latin typeface="微软雅黑"/>
                <a:ea typeface="微软雅黑"/>
                <a:cs typeface="微软雅黑"/>
                <a:sym typeface="微软雅黑"/>
              </a:rPr>
              <a:t>”</a:t>
            </a:r>
            <a:r>
              <a:rPr lang="zh-CN" altLang="en-US" sz="1200" b="1" dirty="0">
                <a:solidFill>
                  <a:srgbClr val="0042FF"/>
                </a:solidFill>
                <a:latin typeface="微软雅黑"/>
                <a:ea typeface="微软雅黑"/>
                <a:cs typeface="微软雅黑"/>
                <a:sym typeface="微软雅黑"/>
              </a:rPr>
              <a:t>的问题</a:t>
            </a:r>
            <a:endParaRPr lang="zh-CN" altLang="en-US" sz="1200" b="1" dirty="0">
              <a:solidFill>
                <a:srgbClr val="0042FF"/>
              </a:solidFill>
              <a:latin typeface="微软雅黑"/>
              <a:ea typeface="微软雅黑"/>
              <a:cs typeface="微软雅黑"/>
              <a:sym typeface="微软雅黑"/>
            </a:endParaRPr>
          </a:p>
        </p:txBody>
      </p:sp>
      <p:sp>
        <p:nvSpPr>
          <p:cNvPr id="229" name="Rectangle 60"/>
          <p:cNvSpPr/>
          <p:nvPr/>
        </p:nvSpPr>
        <p:spPr>
          <a:xfrm flipH="1">
            <a:off x="650240" y="1887220"/>
            <a:ext cx="2515870" cy="1066800"/>
          </a:xfrm>
          <a:prstGeom prst="rect">
            <a:avLst/>
          </a:prstGeom>
        </p:spPr>
        <p:txBody>
          <a:bodyPr wrap="square" lIns="0" tIns="0" rIns="0" bIns="0" anchor="ctr">
            <a:spAutoFit/>
          </a:bodyPr>
          <a:lstStyle/>
          <a:p>
            <a:pPr marL="171450" indent="-171450" algn="l">
              <a:lnSpc>
                <a:spcPct val="110000"/>
              </a:lnSpc>
              <a:spcBef>
                <a:spcPts val="40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建立退出机制：</a:t>
            </a:r>
            <a:r>
              <a:rPr lang="en-US" altLang="zh-CN" sz="1000" b="1"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完善劳动合同法框架下的合规流程。对于不合格、严重违纪或不能胜任工作的员工，要有清晰的处理流程。</a:t>
            </a:r>
            <a:endParaRPr lang="zh-CN" altLang="en-US" sz="1000" dirty="0">
              <a:solidFill>
                <a:srgbClr val="383838">
                  <a:alpha val="80000"/>
                </a:srgbClr>
              </a:solidFill>
              <a:latin typeface="微软雅黑"/>
              <a:ea typeface="微软雅黑"/>
              <a:cs typeface="微软雅黑"/>
            </a:endParaRPr>
          </a:p>
          <a:p>
            <a:pPr marL="171450" indent="-171450" algn="l">
              <a:lnSpc>
                <a:spcPct val="110000"/>
              </a:lnSpc>
              <a:spcBef>
                <a:spcPts val="40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激活组织：</a:t>
            </a:r>
            <a:r>
              <a:rPr lang="en-US" altLang="zh-CN" sz="1000" dirty="0">
                <a:solidFill>
                  <a:srgbClr val="383838">
                    <a:alpha val="80000"/>
                  </a:srgbClr>
                </a:solidFill>
                <a:latin typeface="微软雅黑"/>
                <a:ea typeface="微软雅黑"/>
                <a:cs typeface="微软雅黑"/>
              </a:rPr>
              <a:t> </a:t>
            </a:r>
            <a:r>
              <a:rPr lang="zh-CN" altLang="en-US" sz="1000" dirty="0">
                <a:solidFill>
                  <a:srgbClr val="383838">
                    <a:alpha val="80000"/>
                  </a:srgbClr>
                </a:solidFill>
                <a:latin typeface="微软雅黑"/>
                <a:ea typeface="微软雅黑"/>
                <a:cs typeface="微软雅黑"/>
              </a:rPr>
              <a:t>定期进行人才盘点，实行合理的末位淘汰制，可以腾出编制引进更优秀的新人，保持团队的狼性和流动性</a:t>
            </a:r>
            <a:endParaRPr lang="zh-CN" altLang="en-US" sz="1000" dirty="0">
              <a:solidFill>
                <a:srgbClr val="383838">
                  <a:alpha val="80000"/>
                </a:srgbClr>
              </a:solidFill>
              <a:latin typeface="微软雅黑"/>
              <a:ea typeface="微软雅黑"/>
              <a:cs typeface="微软雅黑"/>
            </a:endParaRPr>
          </a:p>
        </p:txBody>
      </p:sp>
      <p:grpSp>
        <p:nvGrpSpPr>
          <p:cNvPr id="230" name="子陵职场PPT25"/>
          <p:cNvGrpSpPr/>
          <p:nvPr/>
        </p:nvGrpSpPr>
        <p:grpSpPr>
          <a:xfrm>
            <a:off x="380277" y="4848003"/>
            <a:ext cx="252000" cy="251460"/>
            <a:chOff x="3330525" y="4399275"/>
            <a:chExt cx="390650" cy="481850"/>
          </a:xfrm>
          <a:solidFill>
            <a:srgbClr val="FFFFFF"/>
          </a:solidFill>
        </p:grpSpPr>
        <p:sp>
          <p:nvSpPr>
            <p:cNvPr id="231" name="子陵职场PPT25-1"/>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232" name="子陵职场PPT25-2"/>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233" name="子陵职场PPT25-3"/>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234" name="子陵职场PPT25-4"/>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235" name="子陵职场PPT25-5"/>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236" name="子陵职场PPT25-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sp>
          <p:nvSpPr>
            <p:cNvPr id="237" name="子陵职场PPT25-7"/>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grpFill/>
            <a:ln>
              <a:noFill/>
            </a:ln>
          </p:spPr>
          <p:txBody>
            <a:bodyPr spcFirstLastPara="1" wrap="square" lIns="121900" tIns="121900" rIns="121900" bIns="121900" anchor="ctr" anchorCtr="0">
              <a:noAutofit/>
            </a:bodyPr>
            <a:lstStyle/>
            <a:p>
              <a:pPr>
                <a:defRPr>
                  <a:latin typeface="微软雅黑"/>
                  <a:ea typeface="微软雅黑"/>
                  <a:cs typeface="微软雅黑"/>
                </a:defRPr>
              </a:pPr>
              <a:endParaRPr sz="2400">
                <a:solidFill>
                  <a:srgbClr val="0042FF"/>
                </a:solidFill>
                <a:latin typeface="微软雅黑"/>
                <a:ea typeface="微软雅黑"/>
                <a:cs typeface="微软雅黑"/>
              </a:endParaRPr>
            </a:p>
          </p:txBody>
        </p:sp>
      </p:grpSp>
      <p:pic>
        <p:nvPicPr>
          <p:cNvPr id="238" name="图片 237" descr="闭环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854200" y="1088390"/>
            <a:ext cx="252000" cy="252000"/>
          </a:xfrm>
          <a:prstGeom prst="rect">
            <a:avLst/>
          </a:prstGeom>
        </p:spPr>
      </p:pic>
      <p:pic>
        <p:nvPicPr>
          <p:cNvPr id="239" name="图片 238" descr="提升"/>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854200" y="3589020"/>
            <a:ext cx="252000" cy="252000"/>
          </a:xfrm>
          <a:prstGeom prst="rect">
            <a:avLst/>
          </a:prstGeom>
        </p:spPr>
      </p:pic>
      <p:pic>
        <p:nvPicPr>
          <p:cNvPr id="240" name="图片 239" descr="对标"/>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244898" y="4830445"/>
            <a:ext cx="203835" cy="203835"/>
          </a:xfrm>
          <a:prstGeom prst="rect">
            <a:avLst/>
          </a:prstGeom>
        </p:spPr>
      </p:pic>
      <p:pic>
        <p:nvPicPr>
          <p:cNvPr id="241" name="图片 240" descr="组队"/>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1208385" y="2933065"/>
            <a:ext cx="276860" cy="276860"/>
          </a:xfrm>
          <a:prstGeom prst="rect">
            <a:avLst/>
          </a:prstGeom>
        </p:spPr>
      </p:pic>
      <p:pic>
        <p:nvPicPr>
          <p:cNvPr id="242" name="图片 241" descr="诊断"/>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1244898" y="1124585"/>
            <a:ext cx="203835" cy="203835"/>
          </a:xfrm>
          <a:prstGeom prst="rect">
            <a:avLst/>
          </a:prstGeom>
        </p:spPr>
      </p:pic>
      <p:sp>
        <p:nvSpPr>
          <p:cNvPr id="2" name="子陵职场PPT8-46"/>
          <p:cNvSpPr txBox="1"/>
          <p:nvPr/>
        </p:nvSpPr>
        <p:spPr>
          <a:xfrm rot="4740000">
            <a:off x="6822440" y="3187065"/>
            <a:ext cx="1804035" cy="472440"/>
          </a:xfrm>
          <a:prstGeom prst="rect">
            <a:avLst/>
          </a:prstGeom>
          <a:noFill/>
        </p:spPr>
        <p:txBody>
          <a:bodyPr wrap="none" rtlCol="0" anchor="b" anchorCtr="0"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sz="2400" b="1" i="0" u="none" strike="noStrike" kern="1200" cap="none" spc="0" normalizeH="0" baseline="0" noProof="0" dirty="0">
                <a:ln>
                  <a:noFill/>
                </a:ln>
                <a:solidFill>
                  <a:srgbClr val="383838"/>
                </a:solidFill>
                <a:effectLst/>
                <a:uLnTx/>
                <a:uFillTx/>
                <a:latin typeface="微软雅黑"/>
                <a:ea typeface="微软雅黑"/>
                <a:cs typeface="微软雅黑"/>
              </a:rPr>
              <a:t>育人</a:t>
            </a:r>
            <a:endParaRPr kumimoji="1" lang="zh-CN" sz="2400" b="1"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第②步</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市场管理战略模型</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28" name="椭圆 127"/>
          <p:cNvSpPr/>
          <p:nvPr/>
        </p:nvSpPr>
        <p:spPr>
          <a:xfrm>
            <a:off x="3560436" y="1399142"/>
            <a:ext cx="5071128" cy="5071128"/>
          </a:xfrm>
          <a:prstGeom prst="ellipse">
            <a:avLst/>
          </a:prstGeom>
          <a:gradFill flip="none" rotWithShape="1">
            <a:gsLst>
              <a:gs pos="100000">
                <a:srgbClr val="3368FF">
                  <a:alpha val="10000"/>
                </a:srgbClr>
              </a:gs>
              <a:gs pos="88000">
                <a:srgbClr val="FFFFFF">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latin typeface="微软雅黑"/>
              <a:ea typeface="微软雅黑"/>
              <a:cs typeface="微软雅黑"/>
            </a:endParaRPr>
          </a:p>
        </p:txBody>
      </p:sp>
      <p:sp>
        <p:nvSpPr>
          <p:cNvPr id="186" name="椭圆 185"/>
          <p:cNvSpPr/>
          <p:nvPr/>
        </p:nvSpPr>
        <p:spPr>
          <a:xfrm>
            <a:off x="4935794" y="2774500"/>
            <a:ext cx="2320412" cy="2320412"/>
          </a:xfrm>
          <a:prstGeom prst="ellipse">
            <a:avLst/>
          </a:prstGeom>
          <a:gradFill flip="none" rotWithShape="1">
            <a:gsLst>
              <a:gs pos="100000">
                <a:srgbClr val="3368FF">
                  <a:alpha val="10000"/>
                </a:srgbClr>
              </a:gs>
              <a:gs pos="88000">
                <a:srgbClr val="FFFFFF">
                  <a:alpha val="0"/>
                </a:srgbClr>
              </a:gs>
            </a:gsLst>
            <a:path path="shape">
              <a:fillToRect l="50000" t="50000" r="50000" b="50000"/>
            </a:path>
            <a:tileRect/>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latin typeface="微软雅黑"/>
              <a:ea typeface="微软雅黑"/>
              <a:cs typeface="微软雅黑"/>
            </a:endParaRPr>
          </a:p>
        </p:txBody>
      </p:sp>
      <p:sp>
        <p:nvSpPr>
          <p:cNvPr id="185" name="椭圆 184"/>
          <p:cNvSpPr/>
          <p:nvPr/>
        </p:nvSpPr>
        <p:spPr>
          <a:xfrm>
            <a:off x="3560436" y="6299334"/>
            <a:ext cx="5071128" cy="244647"/>
          </a:xfrm>
          <a:prstGeom prst="ellipse">
            <a:avLst/>
          </a:prstGeom>
          <a:gradFill>
            <a:gsLst>
              <a:gs pos="69000">
                <a:srgbClr val="FFFFFF">
                  <a:alpha val="0"/>
                </a:srgbClr>
              </a:gs>
              <a:gs pos="98000">
                <a:srgbClr val="FFFFFF"/>
              </a:gs>
            </a:gsLst>
            <a:lin ang="5400000" scaled="1"/>
          </a:gradFill>
          <a:ln w="25400">
            <a:gradFill>
              <a:gsLst>
                <a:gs pos="24000">
                  <a:srgbClr val="3368FF">
                    <a:alpha val="0"/>
                  </a:srgbClr>
                </a:gs>
                <a:gs pos="100000">
                  <a:srgbClr val="3368FF"/>
                </a:gs>
              </a:gsLst>
              <a:lin ang="5400000" scaled="1"/>
            </a:gradFill>
          </a:ln>
          <a:effectLst>
            <a:outerShdw blurRad="1270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latin typeface="微软雅黑"/>
              <a:ea typeface="微软雅黑"/>
              <a:cs typeface="微软雅黑"/>
            </a:endParaRPr>
          </a:p>
        </p:txBody>
      </p:sp>
      <p:sp>
        <p:nvSpPr>
          <p:cNvPr id="126" name="椭圆 125"/>
          <p:cNvSpPr/>
          <p:nvPr/>
        </p:nvSpPr>
        <p:spPr>
          <a:xfrm>
            <a:off x="5327778" y="3166484"/>
            <a:ext cx="1536444" cy="1536444"/>
          </a:xfrm>
          <a:prstGeom prst="ellipse">
            <a:avLst/>
          </a:prstGeom>
          <a:gradFill flip="none" rotWithShape="1">
            <a:gsLst>
              <a:gs pos="0">
                <a:srgbClr val="B3D4FE"/>
              </a:gs>
              <a:gs pos="99000">
                <a:srgbClr val="3368FF"/>
              </a:gs>
            </a:gsLst>
            <a:lin ang="0" scaled="1"/>
            <a:tileRect/>
          </a:gradFill>
          <a:ln w="254000">
            <a:solidFill>
              <a:srgbClr val="3368FF">
                <a:alpha val="10000"/>
              </a:srgbClr>
            </a:solidFill>
          </a:ln>
          <a:effectLst>
            <a:outerShdw blurRad="330200" dist="88900" dir="5400000" algn="t" rotWithShape="0">
              <a:srgbClr val="B3D4FE">
                <a:alpha val="38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defTabSz="457200">
              <a:defRPr>
                <a:latin typeface="微软雅黑"/>
                <a:ea typeface="微软雅黑"/>
                <a:cs typeface="微软雅黑"/>
              </a:defRPr>
            </a:pPr>
            <a:endParaRPr kumimoji="1" lang="zh-CN" altLang="en-US" sz="2000">
              <a:solidFill>
                <a:srgbClr val="383838"/>
              </a:solidFill>
              <a:latin typeface="微软雅黑"/>
              <a:ea typeface="微软雅黑"/>
              <a:cs typeface="微软雅黑"/>
            </a:endParaRPr>
          </a:p>
        </p:txBody>
      </p:sp>
      <p:sp>
        <p:nvSpPr>
          <p:cNvPr id="170" name="任意形状 169"/>
          <p:cNvSpPr/>
          <p:nvPr/>
        </p:nvSpPr>
        <p:spPr bwMode="auto">
          <a:xfrm>
            <a:off x="5897746" y="4688243"/>
            <a:ext cx="1945050" cy="1531388"/>
          </a:xfrm>
          <a:custGeom>
            <a:avLst/>
            <a:gdLst>
              <a:gd name="connsiteX0" fmla="*/ 1352789 w 2090635"/>
              <a:gd name="connsiteY0" fmla="*/ 86766 h 1646011"/>
              <a:gd name="connsiteX1" fmla="*/ 1497542 w 2090635"/>
              <a:gd name="connsiteY1" fmla="*/ 387793 h 1646011"/>
              <a:gd name="connsiteX2" fmla="*/ 2090635 w 2090635"/>
              <a:gd name="connsiteY2" fmla="*/ 455317 h 1646011"/>
              <a:gd name="connsiteX3" fmla="*/ 1979764 w 2090635"/>
              <a:gd name="connsiteY3" fmla="*/ 620942 h 1646011"/>
              <a:gd name="connsiteX4" fmla="*/ 520776 w 2090635"/>
              <a:gd name="connsiteY4" fmla="*/ 1447129 h 1646011"/>
              <a:gd name="connsiteX5" fmla="*/ 297468 w 2090635"/>
              <a:gd name="connsiteY5" fmla="*/ 1460101 h 1646011"/>
              <a:gd name="connsiteX6" fmla="*/ 299761 w 2090635"/>
              <a:gd name="connsiteY6" fmla="*/ 1646011 h 1646011"/>
              <a:gd name="connsiteX7" fmla="*/ 0 w 2090635"/>
              <a:gd name="connsiteY7" fmla="*/ 956764 h 1646011"/>
              <a:gd name="connsiteX8" fmla="*/ 286090 w 2090635"/>
              <a:gd name="connsiteY8" fmla="*/ 537666 h 1646011"/>
              <a:gd name="connsiteX9" fmla="*/ 287362 w 2090635"/>
              <a:gd name="connsiteY9" fmla="*/ 640760 h 1646011"/>
              <a:gd name="connsiteX10" fmla="*/ 425595 w 2090635"/>
              <a:gd name="connsiteY10" fmla="*/ 632732 h 1646011"/>
              <a:gd name="connsiteX11" fmla="*/ 1330202 w 2090635"/>
              <a:gd name="connsiteY11" fmla="*/ 120514 h 1646011"/>
              <a:gd name="connsiteX12" fmla="*/ 1410861 w 2090635"/>
              <a:gd name="connsiteY12" fmla="*/ 0 h 1646011"/>
              <a:gd name="connsiteX13" fmla="*/ 1486691 w 2090635"/>
              <a:gd name="connsiteY13" fmla="*/ 47765 h 1646011"/>
              <a:gd name="connsiteX14" fmla="*/ 1408319 w 2090635"/>
              <a:gd name="connsiteY14" fmla="*/ 3797 h 1646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0635" h="1646011">
                <a:moveTo>
                  <a:pt x="1352789" y="86766"/>
                </a:moveTo>
                <a:lnTo>
                  <a:pt x="1497542" y="387793"/>
                </a:lnTo>
                <a:lnTo>
                  <a:pt x="2090635" y="455317"/>
                </a:lnTo>
                <a:lnTo>
                  <a:pt x="1979764" y="620942"/>
                </a:lnTo>
                <a:cubicBezTo>
                  <a:pt x="1625262" y="1081181"/>
                  <a:pt x="1098782" y="1379693"/>
                  <a:pt x="520776" y="1447129"/>
                </a:cubicBezTo>
                <a:lnTo>
                  <a:pt x="297468" y="1460101"/>
                </a:lnTo>
                <a:lnTo>
                  <a:pt x="299761" y="1646011"/>
                </a:lnTo>
                <a:lnTo>
                  <a:pt x="0" y="956764"/>
                </a:lnTo>
                <a:lnTo>
                  <a:pt x="286090" y="537666"/>
                </a:lnTo>
                <a:lnTo>
                  <a:pt x="287362" y="640760"/>
                </a:lnTo>
                <a:lnTo>
                  <a:pt x="425595" y="632732"/>
                </a:lnTo>
                <a:cubicBezTo>
                  <a:pt x="783998" y="590923"/>
                  <a:pt x="1110442" y="405854"/>
                  <a:pt x="1330202" y="120514"/>
                </a:cubicBezTo>
                <a:close/>
                <a:moveTo>
                  <a:pt x="1410861" y="0"/>
                </a:moveTo>
                <a:lnTo>
                  <a:pt x="1486691" y="47765"/>
                </a:lnTo>
                <a:lnTo>
                  <a:pt x="1408319" y="3797"/>
                </a:lnTo>
                <a:close/>
              </a:path>
            </a:pathLst>
          </a:custGeom>
          <a:gradFill>
            <a:gsLst>
              <a:gs pos="0">
                <a:srgbClr val="3368FF"/>
              </a:gs>
              <a:gs pos="100000">
                <a:srgbClr val="B3D4FE"/>
              </a:gs>
            </a:gsLst>
            <a:lin ang="16200000" scaled="0"/>
          </a:gradFill>
          <a:ln w="9525" cap="flat">
            <a:noFill/>
            <a:prstDash val="solid"/>
            <a:miter/>
          </a:ln>
        </p:spPr>
        <p:txBody>
          <a:bodyPr vert="horz" wrap="square" numCol="1" spcCol="0" rtlCol="0" fromWordArt="0" anchor="ctr" anchorCtr="0" forceAA="0" compatLnSpc="0"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74" name="任意形状 173"/>
          <p:cNvSpPr/>
          <p:nvPr/>
        </p:nvSpPr>
        <p:spPr bwMode="auto">
          <a:xfrm>
            <a:off x="4150364" y="4587481"/>
            <a:ext cx="1781954" cy="1447712"/>
          </a:xfrm>
          <a:custGeom>
            <a:avLst/>
            <a:gdLst>
              <a:gd name="connsiteX0" fmla="*/ 447025 w 1915332"/>
              <a:gd name="connsiteY0" fmla="*/ 0 h 1556072"/>
              <a:gd name="connsiteX1" fmla="*/ 953020 w 1915332"/>
              <a:gd name="connsiteY1" fmla="*/ 38212 h 1556072"/>
              <a:gd name="connsiteX2" fmla="*/ 865709 w 1915332"/>
              <a:gd name="connsiteY2" fmla="*/ 90068 h 1556072"/>
              <a:gd name="connsiteX3" fmla="*/ 938348 w 1915332"/>
              <a:gd name="connsiteY3" fmla="*/ 200548 h 1556072"/>
              <a:gd name="connsiteX4" fmla="*/ 1834336 w 1915332"/>
              <a:gd name="connsiteY4" fmla="*/ 727622 h 1556072"/>
              <a:gd name="connsiteX5" fmla="*/ 1915332 w 1915332"/>
              <a:gd name="connsiteY5" fmla="*/ 732998 h 1556072"/>
              <a:gd name="connsiteX6" fmla="*/ 1695937 w 1915332"/>
              <a:gd name="connsiteY6" fmla="*/ 1054393 h 1556072"/>
              <a:gd name="connsiteX7" fmla="*/ 1914123 w 1915332"/>
              <a:gd name="connsiteY7" fmla="*/ 1556072 h 1556072"/>
              <a:gd name="connsiteX8" fmla="*/ 1867748 w 1915332"/>
              <a:gd name="connsiteY8" fmla="*/ 1554530 h 1556072"/>
              <a:gd name="connsiteX9" fmla="*/ 291242 w 1915332"/>
              <a:gd name="connsiteY9" fmla="*/ 704432 h 1556072"/>
              <a:gd name="connsiteX10" fmla="*/ 161219 w 1915332"/>
              <a:gd name="connsiteY10" fmla="*/ 508475 h 1556072"/>
              <a:gd name="connsiteX11" fmla="*/ 0 w 1915332"/>
              <a:gd name="connsiteY11" fmla="*/ 604225 h 155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15332" h="1556072">
                <a:moveTo>
                  <a:pt x="447025" y="0"/>
                </a:moveTo>
                <a:lnTo>
                  <a:pt x="953020" y="38212"/>
                </a:lnTo>
                <a:lnTo>
                  <a:pt x="865709" y="90068"/>
                </a:lnTo>
                <a:lnTo>
                  <a:pt x="938348" y="200548"/>
                </a:lnTo>
                <a:cubicBezTo>
                  <a:pt x="1153741" y="489962"/>
                  <a:pt x="1477344" y="679984"/>
                  <a:pt x="1834336" y="727622"/>
                </a:cubicBezTo>
                <a:lnTo>
                  <a:pt x="1915332" y="732998"/>
                </a:lnTo>
                <a:lnTo>
                  <a:pt x="1695937" y="1054393"/>
                </a:lnTo>
                <a:lnTo>
                  <a:pt x="1914123" y="1556072"/>
                </a:lnTo>
                <a:lnTo>
                  <a:pt x="1867748" y="1554530"/>
                </a:lnTo>
                <a:cubicBezTo>
                  <a:pt x="1242254" y="1512871"/>
                  <a:pt x="667327" y="1201073"/>
                  <a:pt x="291242" y="704432"/>
                </a:cubicBezTo>
                <a:lnTo>
                  <a:pt x="161219" y="508475"/>
                </a:lnTo>
                <a:lnTo>
                  <a:pt x="0" y="604225"/>
                </a:lnTo>
                <a:close/>
              </a:path>
            </a:pathLst>
          </a:custGeom>
          <a:gradFill>
            <a:gsLst>
              <a:gs pos="0">
                <a:srgbClr val="B3D4FE"/>
              </a:gs>
              <a:gs pos="100000">
                <a:srgbClr val="B3D4FE"/>
              </a:gs>
            </a:gsLst>
            <a:lin ang="16200000" scaled="0"/>
          </a:gradFill>
          <a:ln w="9525" cap="flat">
            <a:noFill/>
            <a:prstDash val="solid"/>
            <a:miter/>
          </a:ln>
        </p:spPr>
        <p:txBody>
          <a:bodyPr vert="horz" wrap="square" numCol="1" spcCol="0" rtlCol="0" fromWordArt="0" anchor="ctr" anchorCtr="0" forceAA="0" compatLnSpc="0"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75" name="任意形状 174"/>
          <p:cNvSpPr/>
          <p:nvPr/>
        </p:nvSpPr>
        <p:spPr bwMode="auto">
          <a:xfrm>
            <a:off x="3974926" y="2853889"/>
            <a:ext cx="989732" cy="2003852"/>
          </a:xfrm>
          <a:custGeom>
            <a:avLst/>
            <a:gdLst>
              <a:gd name="connsiteX0" fmla="*/ 97123 w 1063814"/>
              <a:gd name="connsiteY0" fmla="*/ 0 h 2153840"/>
              <a:gd name="connsiteX1" fmla="*/ 843909 w 1063814"/>
              <a:gd name="connsiteY1" fmla="*/ 85023 h 2153840"/>
              <a:gd name="connsiteX2" fmla="*/ 1063814 w 1063814"/>
              <a:gd name="connsiteY2" fmla="*/ 542333 h 2153840"/>
              <a:gd name="connsiteX3" fmla="*/ 991980 w 1063814"/>
              <a:gd name="connsiteY3" fmla="*/ 502033 h 2153840"/>
              <a:gd name="connsiteX4" fmla="*/ 921090 w 1063814"/>
              <a:gd name="connsiteY4" fmla="*/ 646027 h 2153840"/>
              <a:gd name="connsiteX5" fmla="*/ 929675 w 1063814"/>
              <a:gd name="connsiteY5" fmla="*/ 1685940 h 2153840"/>
              <a:gd name="connsiteX6" fmla="*/ 959115 w 1063814"/>
              <a:gd name="connsiteY6" fmla="*/ 1744516 h 2153840"/>
              <a:gd name="connsiteX7" fmla="*/ 570144 w 1063814"/>
              <a:gd name="connsiteY7" fmla="*/ 1715142 h 2153840"/>
              <a:gd name="connsiteX8" fmla="*/ 245581 w 1063814"/>
              <a:gd name="connsiteY8" fmla="*/ 2153840 h 2153840"/>
              <a:gd name="connsiteX9" fmla="*/ 225395 w 1063814"/>
              <a:gd name="connsiteY9" fmla="*/ 2116212 h 2153840"/>
              <a:gd name="connsiteX10" fmla="*/ 221423 w 1063814"/>
              <a:gd name="connsiteY10" fmla="*/ 203446 h 2153840"/>
              <a:gd name="connsiteX11" fmla="*/ 276349 w 1063814"/>
              <a:gd name="connsiteY11" fmla="*/ 100549 h 215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3814" h="2153840">
                <a:moveTo>
                  <a:pt x="97123" y="0"/>
                </a:moveTo>
                <a:lnTo>
                  <a:pt x="843909" y="85023"/>
                </a:lnTo>
                <a:lnTo>
                  <a:pt x="1063814" y="542333"/>
                </a:lnTo>
                <a:lnTo>
                  <a:pt x="991980" y="502033"/>
                </a:lnTo>
                <a:lnTo>
                  <a:pt x="921090" y="646027"/>
                </a:lnTo>
                <a:cubicBezTo>
                  <a:pt x="783738" y="979180"/>
                  <a:pt x="786599" y="1354547"/>
                  <a:pt x="929675" y="1685940"/>
                </a:cubicBezTo>
                <a:lnTo>
                  <a:pt x="959115" y="1744516"/>
                </a:lnTo>
                <a:lnTo>
                  <a:pt x="570144" y="1715142"/>
                </a:lnTo>
                <a:lnTo>
                  <a:pt x="245581" y="2153840"/>
                </a:lnTo>
                <a:lnTo>
                  <a:pt x="225395" y="2116212"/>
                </a:lnTo>
                <a:cubicBezTo>
                  <a:pt x="-73802" y="1514118"/>
                  <a:pt x="-75126" y="806473"/>
                  <a:pt x="221423" y="203446"/>
                </a:cubicBezTo>
                <a:lnTo>
                  <a:pt x="276349" y="100549"/>
                </a:lnTo>
                <a:close/>
              </a:path>
            </a:pathLst>
          </a:custGeom>
          <a:gradFill>
            <a:gsLst>
              <a:gs pos="0">
                <a:srgbClr val="0042FF"/>
              </a:gs>
              <a:gs pos="100000">
                <a:srgbClr val="3368FF"/>
              </a:gs>
            </a:gsLst>
            <a:lin ang="16200000" scaled="0"/>
          </a:gradFill>
          <a:ln w="9525" cap="flat">
            <a:noFill/>
            <a:prstDash val="solid"/>
            <a:miter/>
          </a:ln>
        </p:spPr>
        <p:txBody>
          <a:bodyPr vert="horz" wrap="square" numCol="1" spcCol="0" rtlCol="0" fromWordArt="0" anchor="ctr" anchorCtr="0" forceAA="0" compatLnSpc="0" lIns="0" rIns="0" tIns="0" bIns="0">
            <a:noAutofit/>
          </a:bodyPr>
          <a:lstStyle/>
          <a:p>
            <a:pPr lvl="0" algn="l">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166" name="任意形状 165"/>
          <p:cNvSpPr/>
          <p:nvPr/>
        </p:nvSpPr>
        <p:spPr bwMode="auto">
          <a:xfrm>
            <a:off x="4358453" y="1666389"/>
            <a:ext cx="1934608" cy="1473796"/>
          </a:xfrm>
          <a:custGeom>
            <a:avLst/>
            <a:gdLst>
              <a:gd name="connsiteX0" fmla="*/ 1779652 w 2079413"/>
              <a:gd name="connsiteY0" fmla="*/ 0 h 1584110"/>
              <a:gd name="connsiteX1" fmla="*/ 2079413 w 2079413"/>
              <a:gd name="connsiteY1" fmla="*/ 689247 h 1584110"/>
              <a:gd name="connsiteX2" fmla="*/ 1793323 w 2079413"/>
              <a:gd name="connsiteY2" fmla="*/ 1108345 h 1584110"/>
              <a:gd name="connsiteX3" fmla="*/ 1791822 w 2079413"/>
              <a:gd name="connsiteY3" fmla="*/ 986646 h 1584110"/>
              <a:gd name="connsiteX4" fmla="*/ 1631961 w 2079413"/>
              <a:gd name="connsiteY4" fmla="*/ 997255 h 1584110"/>
              <a:gd name="connsiteX5" fmla="*/ 735973 w 2079413"/>
              <a:gd name="connsiteY5" fmla="*/ 1524330 h 1584110"/>
              <a:gd name="connsiteX6" fmla="*/ 696668 w 2079413"/>
              <a:gd name="connsiteY6" fmla="*/ 1584110 h 1584110"/>
              <a:gd name="connsiteX7" fmla="*/ 518416 w 2079413"/>
              <a:gd name="connsiteY7" fmla="*/ 1213420 h 1584110"/>
              <a:gd name="connsiteX8" fmla="*/ 0 w 2079413"/>
              <a:gd name="connsiteY8" fmla="*/ 1154397 h 1584110"/>
              <a:gd name="connsiteX9" fmla="*/ 88867 w 2079413"/>
              <a:gd name="connsiteY9" fmla="*/ 1020498 h 1584110"/>
              <a:gd name="connsiteX10" fmla="*/ 1665373 w 2079413"/>
              <a:gd name="connsiteY10" fmla="*/ 170349 h 1584110"/>
              <a:gd name="connsiteX11" fmla="*/ 1781706 w 2079413"/>
              <a:gd name="connsiteY11" fmla="*/ 166480 h 158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9413" h="1584110">
                <a:moveTo>
                  <a:pt x="1779652" y="0"/>
                </a:moveTo>
                <a:lnTo>
                  <a:pt x="2079413" y="689247"/>
                </a:lnTo>
                <a:lnTo>
                  <a:pt x="1793323" y="1108345"/>
                </a:lnTo>
                <a:lnTo>
                  <a:pt x="1791822" y="986646"/>
                </a:lnTo>
                <a:lnTo>
                  <a:pt x="1631961" y="997255"/>
                </a:lnTo>
                <a:cubicBezTo>
                  <a:pt x="1274969" y="1044894"/>
                  <a:pt x="951366" y="1234915"/>
                  <a:pt x="735973" y="1524330"/>
                </a:cubicBezTo>
                <a:lnTo>
                  <a:pt x="696668" y="1584110"/>
                </a:lnTo>
                <a:lnTo>
                  <a:pt x="518416" y="1213420"/>
                </a:lnTo>
                <a:lnTo>
                  <a:pt x="0" y="1154397"/>
                </a:lnTo>
                <a:lnTo>
                  <a:pt x="88867" y="1020498"/>
                </a:lnTo>
                <a:cubicBezTo>
                  <a:pt x="464952" y="523945"/>
                  <a:pt x="1039879" y="212026"/>
                  <a:pt x="1665373" y="170349"/>
                </a:cubicBezTo>
                <a:lnTo>
                  <a:pt x="1781706" y="166480"/>
                </a:lnTo>
                <a:close/>
              </a:path>
            </a:pathLst>
          </a:custGeom>
          <a:gradFill>
            <a:gsLst>
              <a:gs pos="0">
                <a:srgbClr val="3368FF"/>
              </a:gs>
              <a:gs pos="100000">
                <a:srgbClr val="B3D4FE"/>
              </a:gs>
            </a:gsLst>
            <a:lin ang="16200000" scaled="0"/>
          </a:gradFill>
          <a:ln w="9525" cap="flat">
            <a:noFill/>
            <a:prstDash val="solid"/>
            <a:miter/>
          </a:ln>
        </p:spPr>
        <p:txBody>
          <a:bodyPr wrap="square" rtlCol="0" anchor="ctr"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68" name="任意形状 167"/>
          <p:cNvSpPr/>
          <p:nvPr/>
        </p:nvSpPr>
        <p:spPr bwMode="auto">
          <a:xfrm rot="12203689" flipV="1">
            <a:off x="5998037" y="2062463"/>
            <a:ext cx="1981594" cy="1079666"/>
          </a:xfrm>
          <a:custGeom>
            <a:avLst/>
            <a:gdLst>
              <a:gd name="connsiteX0" fmla="*/ 2129915 w 2129915"/>
              <a:gd name="connsiteY0" fmla="*/ 144764 h 1160478"/>
              <a:gd name="connsiteX1" fmla="*/ 2079015 w 2129915"/>
              <a:gd name="connsiteY1" fmla="*/ 124723 h 1160478"/>
              <a:gd name="connsiteX2" fmla="*/ 294552 w 2129915"/>
              <a:gd name="connsiteY2" fmla="*/ 279008 h 1160478"/>
              <a:gd name="connsiteX3" fmla="*/ 102356 w 2129915"/>
              <a:gd name="connsiteY3" fmla="*/ 403994 h 1160478"/>
              <a:gd name="connsiteX4" fmla="*/ 0 w 2129915"/>
              <a:gd name="connsiteY4" fmla="*/ 262587 h 1160478"/>
              <a:gd name="connsiteX5" fmla="*/ 170359 w 2129915"/>
              <a:gd name="connsiteY5" fmla="*/ 994636 h 1160478"/>
              <a:gd name="connsiteX6" fmla="*/ 649929 w 2129915"/>
              <a:gd name="connsiteY6" fmla="*/ 1160478 h 1160478"/>
              <a:gd name="connsiteX7" fmla="*/ 582744 w 2129915"/>
              <a:gd name="connsiteY7" fmla="*/ 1067661 h 1160478"/>
              <a:gd name="connsiteX8" fmla="*/ 688344 w 2129915"/>
              <a:gd name="connsiteY8" fmla="*/ 998337 h 1160478"/>
              <a:gd name="connsiteX9" fmla="*/ 1719990 w 2129915"/>
              <a:gd name="connsiteY9" fmla="*/ 870373 h 1160478"/>
              <a:gd name="connsiteX10" fmla="*/ 1784935 w 2129915"/>
              <a:gd name="connsiteY10" fmla="*/ 893497 h 1160478"/>
              <a:gd name="connsiteX11" fmla="*/ 1715310 w 2129915"/>
              <a:gd name="connsiteY11" fmla="*/ 532751 h 116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9915" h="1160478">
                <a:moveTo>
                  <a:pt x="2129915" y="144764"/>
                </a:moveTo>
                <a:lnTo>
                  <a:pt x="2079015" y="124723"/>
                </a:lnTo>
                <a:cubicBezTo>
                  <a:pt x="1488325" y="-85417"/>
                  <a:pt x="836849" y="-27407"/>
                  <a:pt x="294552" y="279008"/>
                </a:cubicBezTo>
                <a:lnTo>
                  <a:pt x="102356" y="403994"/>
                </a:lnTo>
                <a:lnTo>
                  <a:pt x="0" y="262587"/>
                </a:lnTo>
                <a:lnTo>
                  <a:pt x="170359" y="994636"/>
                </a:lnTo>
                <a:lnTo>
                  <a:pt x="649929" y="1160478"/>
                </a:lnTo>
                <a:lnTo>
                  <a:pt x="582744" y="1067661"/>
                </a:lnTo>
                <a:lnTo>
                  <a:pt x="688344" y="998337"/>
                </a:lnTo>
                <a:cubicBezTo>
                  <a:pt x="1000928" y="818232"/>
                  <a:pt x="1373362" y="772316"/>
                  <a:pt x="1719990" y="870373"/>
                </a:cubicBezTo>
                <a:lnTo>
                  <a:pt x="1784935" y="893497"/>
                </a:lnTo>
                <a:lnTo>
                  <a:pt x="1715310" y="532751"/>
                </a:lnTo>
                <a:close/>
              </a:path>
            </a:pathLst>
          </a:custGeom>
          <a:gradFill>
            <a:gsLst>
              <a:gs pos="0">
                <a:srgbClr val="B3D4FE"/>
              </a:gs>
              <a:gs pos="100000">
                <a:srgbClr val="B3D4FE"/>
              </a:gs>
            </a:gsLst>
            <a:lin ang="16200000" scaled="0"/>
          </a:gradFill>
          <a:ln w="9525" cap="flat">
            <a:noFill/>
            <a:prstDash val="solid"/>
            <a:miter/>
          </a:ln>
        </p:spPr>
        <p:txBody>
          <a:bodyPr vert="horz" wrap="square" numCol="1" spcCol="0" rtlCol="0" fromWordArt="0" anchor="ctr" anchorCtr="0" forceAA="0" compatLnSpc="0" lIns="0" rIns="0" tIns="0" bIns="0">
            <a:noAutofit/>
          </a:bodyPr>
          <a:lstStyle/>
          <a:p>
            <a:pPr lvl="0" algn="l">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72" name="任意形状 171"/>
          <p:cNvSpPr/>
          <p:nvPr/>
        </p:nvSpPr>
        <p:spPr bwMode="auto">
          <a:xfrm>
            <a:off x="7164565" y="2999810"/>
            <a:ext cx="1050244" cy="1990188"/>
          </a:xfrm>
          <a:custGeom>
            <a:avLst/>
            <a:gdLst>
              <a:gd name="connsiteX0" fmla="*/ 876998 w 1128854"/>
              <a:gd name="connsiteY0" fmla="*/ 0 h 2139153"/>
              <a:gd name="connsiteX1" fmla="*/ 907431 w 1128854"/>
              <a:gd name="connsiteY1" fmla="*/ 57013 h 2139153"/>
              <a:gd name="connsiteX2" fmla="*/ 903459 w 1128854"/>
              <a:gd name="connsiteY2" fmla="*/ 1969780 h 2139153"/>
              <a:gd name="connsiteX3" fmla="*/ 848246 w 1128854"/>
              <a:gd name="connsiteY3" fmla="*/ 2072703 h 2139153"/>
              <a:gd name="connsiteX4" fmla="*/ 966691 w 1128854"/>
              <a:gd name="connsiteY4" fmla="*/ 2139153 h 2139153"/>
              <a:gd name="connsiteX5" fmla="*/ 219905 w 1128854"/>
              <a:gd name="connsiteY5" fmla="*/ 2054131 h 2139153"/>
              <a:gd name="connsiteX6" fmla="*/ 0 w 1128854"/>
              <a:gd name="connsiteY6" fmla="*/ 1596820 h 2139153"/>
              <a:gd name="connsiteX7" fmla="*/ 132901 w 1128854"/>
              <a:gd name="connsiteY7" fmla="*/ 1671380 h 2139153"/>
              <a:gd name="connsiteX8" fmla="*/ 199180 w 1128854"/>
              <a:gd name="connsiteY8" fmla="*/ 1539508 h 2139153"/>
              <a:gd name="connsiteX9" fmla="*/ 207764 w 1128854"/>
              <a:gd name="connsiteY9" fmla="*/ 499595 h 2139153"/>
              <a:gd name="connsiteX10" fmla="*/ 170379 w 1128854"/>
              <a:gd name="connsiteY10" fmla="*/ 423657 h 2139153"/>
              <a:gd name="connsiteX11" fmla="*/ 542757 w 1128854"/>
              <a:gd name="connsiteY11" fmla="*/ 451779 h 2139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8854" h="2139153">
                <a:moveTo>
                  <a:pt x="876998" y="0"/>
                </a:moveTo>
                <a:lnTo>
                  <a:pt x="907431" y="57013"/>
                </a:lnTo>
                <a:cubicBezTo>
                  <a:pt x="1203980" y="660041"/>
                  <a:pt x="1202657" y="1367686"/>
                  <a:pt x="903459" y="1969780"/>
                </a:cubicBezTo>
                <a:lnTo>
                  <a:pt x="848246" y="2072703"/>
                </a:lnTo>
                <a:lnTo>
                  <a:pt x="966691" y="2139153"/>
                </a:lnTo>
                <a:lnTo>
                  <a:pt x="219905" y="2054131"/>
                </a:lnTo>
                <a:lnTo>
                  <a:pt x="0" y="1596820"/>
                </a:lnTo>
                <a:lnTo>
                  <a:pt x="132901" y="1671380"/>
                </a:lnTo>
                <a:lnTo>
                  <a:pt x="199180" y="1539508"/>
                </a:lnTo>
                <a:cubicBezTo>
                  <a:pt x="342255" y="1208115"/>
                  <a:pt x="345117" y="832748"/>
                  <a:pt x="207764" y="499595"/>
                </a:cubicBezTo>
                <a:lnTo>
                  <a:pt x="170379" y="423657"/>
                </a:lnTo>
                <a:lnTo>
                  <a:pt x="542757" y="451779"/>
                </a:lnTo>
                <a:close/>
              </a:path>
            </a:pathLst>
          </a:custGeom>
          <a:gradFill>
            <a:gsLst>
              <a:gs pos="0">
                <a:srgbClr val="0042FF"/>
              </a:gs>
              <a:gs pos="100000">
                <a:srgbClr val="3368FF"/>
              </a:gs>
            </a:gsLst>
            <a:lin ang="16200000" scaled="0"/>
          </a:gradFill>
          <a:ln w="9525" cap="flat">
            <a:noFill/>
            <a:prstDash val="solid"/>
            <a:miter/>
          </a:ln>
        </p:spPr>
        <p:txBody>
          <a:bodyPr vert="horz" wrap="square" numCol="1" spcCol="0" rtlCol="0" fromWordArt="0" anchor="ctr" anchorCtr="0" forceAA="0" compatLnSpc="0" lIns="0" rIns="0" tIns="0" bIns="0">
            <a:noAutofit/>
          </a:bodyPr>
          <a:lstStyle/>
          <a:p>
            <a:pPr lvl="0" algn="l">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183" name="文本框 182"/>
          <p:cNvSpPr txBox="1"/>
          <p:nvPr/>
        </p:nvSpPr>
        <p:spPr>
          <a:xfrm>
            <a:off x="5388115" y="3496468"/>
            <a:ext cx="1415772" cy="830997"/>
          </a:xfrm>
          <a:prstGeom prst="rect">
            <a:avLst/>
          </a:prstGeom>
          <a:noFill/>
        </p:spPr>
        <p:txBody>
          <a:bodyPr wrap="none" rtlCol="0">
            <a:spAutoFit/>
          </a:bodyPr>
          <a:lstStyle/>
          <a:p>
            <a:pPr algn="ctr" defTabSz="457200">
              <a:defRPr>
                <a:latin typeface="微软雅黑"/>
                <a:ea typeface="微软雅黑"/>
                <a:cs typeface="微软雅黑"/>
              </a:defRPr>
            </a:pPr>
            <a:r>
              <a:rPr kumimoji="1" lang="zh-CN" altLang="en-US" sz="2400" b="1" dirty="0">
                <a:solidFill>
                  <a:srgbClr val="383838"/>
                </a:solidFill>
                <a:latin typeface="微软雅黑"/>
                <a:ea typeface="微软雅黑"/>
                <a:cs typeface="微软雅黑"/>
              </a:rPr>
              <a:t>市场及</a:t>
            </a:r>
            <a:endParaRPr kumimoji="1" lang="en-US" altLang="zh-CN" sz="2400" b="1" dirty="0">
              <a:solidFill>
                <a:srgbClr val="383838"/>
              </a:solidFill>
              <a:latin typeface="微软雅黑"/>
              <a:ea typeface="微软雅黑"/>
              <a:cs typeface="微软雅黑"/>
            </a:endParaRPr>
          </a:p>
          <a:p>
            <a:pPr algn="ctr" defTabSz="457200">
              <a:defRPr>
                <a:latin typeface="微软雅黑"/>
                <a:ea typeface="微软雅黑"/>
                <a:cs typeface="微软雅黑"/>
              </a:defRPr>
            </a:pPr>
            <a:r>
              <a:rPr kumimoji="1" lang="zh-CN" altLang="en-US" sz="2400" b="1" dirty="0">
                <a:solidFill>
                  <a:srgbClr val="383838"/>
                </a:solidFill>
                <a:latin typeface="微软雅黑"/>
                <a:ea typeface="微软雅黑"/>
                <a:cs typeface="微软雅黑"/>
              </a:rPr>
              <a:t>客户需求</a:t>
            </a:r>
            <a:endParaRPr kumimoji="1" lang="zh-CN" altLang="en-US" sz="2400" b="1" dirty="0">
              <a:solidFill>
                <a:srgbClr val="383838"/>
              </a:solidFill>
              <a:latin typeface="微软雅黑"/>
              <a:ea typeface="微软雅黑"/>
              <a:cs typeface="微软雅黑"/>
            </a:endParaRPr>
          </a:p>
        </p:txBody>
      </p:sp>
      <p:sp>
        <p:nvSpPr>
          <p:cNvPr id="184" name="文本框 183"/>
          <p:cNvSpPr txBox="1"/>
          <p:nvPr/>
        </p:nvSpPr>
        <p:spPr>
          <a:xfrm rot="19899852">
            <a:off x="5001010" y="2367452"/>
            <a:ext cx="800219" cy="238562"/>
          </a:xfrm>
          <a:prstGeom prst="rect">
            <a:avLst/>
          </a:prstGeom>
          <a:noFill/>
        </p:spPr>
        <p:txBody>
          <a:bodyPr wrap="none" rtlCol="0" lIns="0" rIns="0" tIns="0" bIns="0">
            <a:prstTxWarp prst="textArchUp">
              <a:avLst/>
            </a:prstTxWarp>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理解市场</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7" name="文本框 186"/>
          <p:cNvSpPr txBox="1"/>
          <p:nvPr/>
        </p:nvSpPr>
        <p:spPr>
          <a:xfrm rot="2080456">
            <a:off x="6625899" y="2510124"/>
            <a:ext cx="800219" cy="238562"/>
          </a:xfrm>
          <a:prstGeom prst="rect">
            <a:avLst/>
          </a:prstGeom>
          <a:noFill/>
        </p:spPr>
        <p:txBody>
          <a:bodyPr wrap="none" rtlCol="0" lIns="0" rIns="0" tIns="0" bIns="0">
            <a:prstTxWarp prst="textArchUp">
              <a:avLst/>
            </a:prstTxWarp>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市场细分</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8" name="文本框 187"/>
          <p:cNvSpPr txBox="1"/>
          <p:nvPr/>
        </p:nvSpPr>
        <p:spPr>
          <a:xfrm rot="5837229">
            <a:off x="7289577" y="4025374"/>
            <a:ext cx="800219" cy="238562"/>
          </a:xfrm>
          <a:prstGeom prst="rect">
            <a:avLst/>
          </a:prstGeom>
          <a:noFill/>
        </p:spPr>
        <p:txBody>
          <a:bodyPr wrap="none" rtlCol="0" lIns="0" rIns="0" tIns="0" bIns="0">
            <a:prstTxWarp prst="textArchUp">
              <a:avLst/>
            </a:prstTxWarp>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组合分析</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91" name="文本框 190"/>
          <p:cNvSpPr txBox="1"/>
          <p:nvPr/>
        </p:nvSpPr>
        <p:spPr>
          <a:xfrm rot="16559070">
            <a:off x="4110722" y="3637346"/>
            <a:ext cx="800219" cy="238562"/>
          </a:xfrm>
          <a:prstGeom prst="rect">
            <a:avLst/>
          </a:prstGeom>
          <a:noFill/>
        </p:spPr>
        <p:txBody>
          <a:bodyPr wrap="none" rtlCol="0" lIns="0" rIns="0" tIns="0" bIns="0">
            <a:prstTxWarp prst="textArchUp">
              <a:avLst/>
            </a:prstTxWarp>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业务计划</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92" name="矩形 235"/>
          <p:cNvSpPr/>
          <p:nvPr/>
        </p:nvSpPr>
        <p:spPr>
          <a:xfrm>
            <a:off x="7354108" y="1637017"/>
            <a:ext cx="4004051" cy="552779"/>
          </a:xfrm>
          <a:custGeom>
            <a:avLst/>
            <a:gdLst>
              <a:gd name="connsiteX0" fmla="*/ 0 w 1430042"/>
              <a:gd name="connsiteY0" fmla="*/ 0 h 365310"/>
              <a:gd name="connsiteX1" fmla="*/ 1430042 w 1430042"/>
              <a:gd name="connsiteY1" fmla="*/ 0 h 365310"/>
              <a:gd name="connsiteX2" fmla="*/ 1430042 w 1430042"/>
              <a:gd name="connsiteY2" fmla="*/ 365310 h 365310"/>
              <a:gd name="connsiteX3" fmla="*/ 0 w 1430042"/>
              <a:gd name="connsiteY3" fmla="*/ 365310 h 365310"/>
              <a:gd name="connsiteX4" fmla="*/ 0 w 1430042"/>
              <a:gd name="connsiteY4" fmla="*/ 0 h 365310"/>
              <a:gd name="connsiteX0-1" fmla="*/ 0 w 1430042"/>
              <a:gd name="connsiteY0-2" fmla="*/ 0 h 365310"/>
              <a:gd name="connsiteX1-3" fmla="*/ 1430042 w 1430042"/>
              <a:gd name="connsiteY1-4" fmla="*/ 0 h 365310"/>
              <a:gd name="connsiteX2-5" fmla="*/ 0 w 1430042"/>
              <a:gd name="connsiteY2-6" fmla="*/ 365310 h 365310"/>
              <a:gd name="connsiteX3-7" fmla="*/ 0 w 1430042"/>
              <a:gd name="connsiteY3-8" fmla="*/ 0 h 365310"/>
              <a:gd name="connsiteX0-9" fmla="*/ 1430042 w 1521482"/>
              <a:gd name="connsiteY0-10" fmla="*/ 0 h 365310"/>
              <a:gd name="connsiteX1-11" fmla="*/ 0 w 1521482"/>
              <a:gd name="connsiteY1-12" fmla="*/ 365310 h 365310"/>
              <a:gd name="connsiteX2-13" fmla="*/ 0 w 1521482"/>
              <a:gd name="connsiteY2-14" fmla="*/ 0 h 365310"/>
              <a:gd name="connsiteX3-15" fmla="*/ 1521482 w 1521482"/>
              <a:gd name="connsiteY3-16" fmla="*/ 91440 h 365310"/>
              <a:gd name="connsiteX0-17" fmla="*/ 1430042 w 1430042"/>
              <a:gd name="connsiteY0-18" fmla="*/ 0 h 365310"/>
              <a:gd name="connsiteX1-19" fmla="*/ 0 w 1430042"/>
              <a:gd name="connsiteY1-20" fmla="*/ 365310 h 365310"/>
              <a:gd name="connsiteX2-21" fmla="*/ 0 w 1430042"/>
              <a:gd name="connsiteY2-22" fmla="*/ 0 h 365310"/>
              <a:gd name="connsiteX3-23" fmla="*/ 1410163 w 1430042"/>
              <a:gd name="connsiteY3-24" fmla="*/ 3976 h 365310"/>
              <a:gd name="connsiteX0-25" fmla="*/ 1430042 w 1489676"/>
              <a:gd name="connsiteY0-26" fmla="*/ 107343 h 472653"/>
              <a:gd name="connsiteX1-27" fmla="*/ 0 w 1489676"/>
              <a:gd name="connsiteY1-28" fmla="*/ 472653 h 472653"/>
              <a:gd name="connsiteX2-29" fmla="*/ 0 w 1489676"/>
              <a:gd name="connsiteY2-30" fmla="*/ 107343 h 472653"/>
              <a:gd name="connsiteX3-31" fmla="*/ 1489676 w 1489676"/>
              <a:gd name="connsiteY3-32" fmla="*/ 0 h 472653"/>
              <a:gd name="connsiteX0-33" fmla="*/ 0 w 1489676"/>
              <a:gd name="connsiteY0-34" fmla="*/ 472653 h 472653"/>
              <a:gd name="connsiteX1-35" fmla="*/ 0 w 1489676"/>
              <a:gd name="connsiteY1-36" fmla="*/ 107343 h 472653"/>
              <a:gd name="connsiteX2-37" fmla="*/ 1489676 w 1489676"/>
              <a:gd name="connsiteY2-38" fmla="*/ 0 h 472653"/>
              <a:gd name="connsiteX0-39" fmla="*/ 0 w 1489676"/>
              <a:gd name="connsiteY0-40" fmla="*/ 365310 h 365310"/>
              <a:gd name="connsiteX1-41" fmla="*/ 0 w 1489676"/>
              <a:gd name="connsiteY1-42" fmla="*/ 0 h 365310"/>
              <a:gd name="connsiteX2-43" fmla="*/ 1489676 w 1489676"/>
              <a:gd name="connsiteY2-44" fmla="*/ 11927 h 365310"/>
              <a:gd name="connsiteX0-45" fmla="*/ 0 w 1489676"/>
              <a:gd name="connsiteY0-46" fmla="*/ 368969 h 368969"/>
              <a:gd name="connsiteX1-47" fmla="*/ 0 w 1489676"/>
              <a:gd name="connsiteY1-48" fmla="*/ 3659 h 368969"/>
              <a:gd name="connsiteX2-49" fmla="*/ 1489676 w 1489676"/>
              <a:gd name="connsiteY2-50" fmla="*/ 0 h 368969"/>
              <a:gd name="connsiteX0-51" fmla="*/ 0 w 1687103"/>
              <a:gd name="connsiteY0-52" fmla="*/ 259865 h 259865"/>
              <a:gd name="connsiteX1-53" fmla="*/ 197427 w 1687103"/>
              <a:gd name="connsiteY1-54" fmla="*/ 3659 h 259865"/>
              <a:gd name="connsiteX2-55" fmla="*/ 1687103 w 1687103"/>
              <a:gd name="connsiteY2-56" fmla="*/ 0 h 259865"/>
              <a:gd name="connsiteX0-57" fmla="*/ 0 w 1110407"/>
              <a:gd name="connsiteY0-58" fmla="*/ 259865 h 259865"/>
              <a:gd name="connsiteX1-59" fmla="*/ 197427 w 1110407"/>
              <a:gd name="connsiteY1-60" fmla="*/ 3659 h 259865"/>
              <a:gd name="connsiteX2-61" fmla="*/ 1110407 w 1110407"/>
              <a:gd name="connsiteY2-62" fmla="*/ 0 h 259865"/>
            </a:gdLst>
            <a:ahLst/>
            <a:cxnLst>
              <a:cxn ang="0">
                <a:pos x="connsiteX0-1" y="connsiteY0-2"/>
              </a:cxn>
              <a:cxn ang="0">
                <a:pos x="connsiteX1-3" y="connsiteY1-4"/>
              </a:cxn>
              <a:cxn ang="0">
                <a:pos x="connsiteX2-5" y="connsiteY2-6"/>
              </a:cxn>
            </a:cxnLst>
            <a:rect l="l" t="t" r="r" b="b"/>
            <a:pathLst>
              <a:path w="1110407" h="259865">
                <a:moveTo>
                  <a:pt x="0" y="259865"/>
                </a:moveTo>
                <a:lnTo>
                  <a:pt x="197427" y="3659"/>
                </a:lnTo>
                <a:lnTo>
                  <a:pt x="1110407" y="0"/>
                </a:lnTo>
              </a:path>
            </a:pathLst>
          </a:custGeom>
          <a:noFill/>
          <a:ln w="12700">
            <a:solidFill>
              <a:srgbClr val="383838"/>
            </a:solidFill>
            <a:prstDash val="dash"/>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93" name="剪去对角的矩形 192"/>
          <p:cNvSpPr/>
          <p:nvPr/>
        </p:nvSpPr>
        <p:spPr>
          <a:xfrm>
            <a:off x="9124276" y="1161140"/>
            <a:ext cx="2359862" cy="491164"/>
          </a:xfrm>
          <a:prstGeom prst="snip2DiagRect">
            <a:avLst/>
          </a:prstGeom>
          <a:gradFill flip="none" rotWithShape="1">
            <a:gsLst>
              <a:gs pos="0">
                <a:srgbClr val="B3D4FE"/>
              </a:gs>
              <a:gs pos="99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196" name="矩形 235"/>
          <p:cNvSpPr/>
          <p:nvPr/>
        </p:nvSpPr>
        <p:spPr>
          <a:xfrm flipV="1">
            <a:off x="7604828" y="5509031"/>
            <a:ext cx="3753331" cy="21838"/>
          </a:xfrm>
          <a:custGeom>
            <a:avLst/>
            <a:gdLst>
              <a:gd name="connsiteX0" fmla="*/ 0 w 1430042"/>
              <a:gd name="connsiteY0" fmla="*/ 0 h 365310"/>
              <a:gd name="connsiteX1" fmla="*/ 1430042 w 1430042"/>
              <a:gd name="connsiteY1" fmla="*/ 0 h 365310"/>
              <a:gd name="connsiteX2" fmla="*/ 1430042 w 1430042"/>
              <a:gd name="connsiteY2" fmla="*/ 365310 h 365310"/>
              <a:gd name="connsiteX3" fmla="*/ 0 w 1430042"/>
              <a:gd name="connsiteY3" fmla="*/ 365310 h 365310"/>
              <a:gd name="connsiteX4" fmla="*/ 0 w 1430042"/>
              <a:gd name="connsiteY4" fmla="*/ 0 h 365310"/>
              <a:gd name="connsiteX0-1" fmla="*/ 0 w 1430042"/>
              <a:gd name="connsiteY0-2" fmla="*/ 0 h 365310"/>
              <a:gd name="connsiteX1-3" fmla="*/ 1430042 w 1430042"/>
              <a:gd name="connsiteY1-4" fmla="*/ 0 h 365310"/>
              <a:gd name="connsiteX2-5" fmla="*/ 0 w 1430042"/>
              <a:gd name="connsiteY2-6" fmla="*/ 365310 h 365310"/>
              <a:gd name="connsiteX3-7" fmla="*/ 0 w 1430042"/>
              <a:gd name="connsiteY3-8" fmla="*/ 0 h 365310"/>
              <a:gd name="connsiteX0-9" fmla="*/ 1430042 w 1521482"/>
              <a:gd name="connsiteY0-10" fmla="*/ 0 h 365310"/>
              <a:gd name="connsiteX1-11" fmla="*/ 0 w 1521482"/>
              <a:gd name="connsiteY1-12" fmla="*/ 365310 h 365310"/>
              <a:gd name="connsiteX2-13" fmla="*/ 0 w 1521482"/>
              <a:gd name="connsiteY2-14" fmla="*/ 0 h 365310"/>
              <a:gd name="connsiteX3-15" fmla="*/ 1521482 w 1521482"/>
              <a:gd name="connsiteY3-16" fmla="*/ 91440 h 365310"/>
              <a:gd name="connsiteX0-17" fmla="*/ 1430042 w 1430042"/>
              <a:gd name="connsiteY0-18" fmla="*/ 0 h 365310"/>
              <a:gd name="connsiteX1-19" fmla="*/ 0 w 1430042"/>
              <a:gd name="connsiteY1-20" fmla="*/ 365310 h 365310"/>
              <a:gd name="connsiteX2-21" fmla="*/ 0 w 1430042"/>
              <a:gd name="connsiteY2-22" fmla="*/ 0 h 365310"/>
              <a:gd name="connsiteX3-23" fmla="*/ 1410163 w 1430042"/>
              <a:gd name="connsiteY3-24" fmla="*/ 3976 h 365310"/>
              <a:gd name="connsiteX0-25" fmla="*/ 1430042 w 1489676"/>
              <a:gd name="connsiteY0-26" fmla="*/ 107343 h 472653"/>
              <a:gd name="connsiteX1-27" fmla="*/ 0 w 1489676"/>
              <a:gd name="connsiteY1-28" fmla="*/ 472653 h 472653"/>
              <a:gd name="connsiteX2-29" fmla="*/ 0 w 1489676"/>
              <a:gd name="connsiteY2-30" fmla="*/ 107343 h 472653"/>
              <a:gd name="connsiteX3-31" fmla="*/ 1489676 w 1489676"/>
              <a:gd name="connsiteY3-32" fmla="*/ 0 h 472653"/>
              <a:gd name="connsiteX0-33" fmla="*/ 0 w 1489676"/>
              <a:gd name="connsiteY0-34" fmla="*/ 472653 h 472653"/>
              <a:gd name="connsiteX1-35" fmla="*/ 0 w 1489676"/>
              <a:gd name="connsiteY1-36" fmla="*/ 107343 h 472653"/>
              <a:gd name="connsiteX2-37" fmla="*/ 1489676 w 1489676"/>
              <a:gd name="connsiteY2-38" fmla="*/ 0 h 472653"/>
              <a:gd name="connsiteX0-39" fmla="*/ 0 w 1489676"/>
              <a:gd name="connsiteY0-40" fmla="*/ 365310 h 365310"/>
              <a:gd name="connsiteX1-41" fmla="*/ 0 w 1489676"/>
              <a:gd name="connsiteY1-42" fmla="*/ 0 h 365310"/>
              <a:gd name="connsiteX2-43" fmla="*/ 1489676 w 1489676"/>
              <a:gd name="connsiteY2-44" fmla="*/ 11927 h 365310"/>
              <a:gd name="connsiteX0-45" fmla="*/ 0 w 1489676"/>
              <a:gd name="connsiteY0-46" fmla="*/ 368969 h 368969"/>
              <a:gd name="connsiteX1-47" fmla="*/ 0 w 1489676"/>
              <a:gd name="connsiteY1-48" fmla="*/ 3659 h 368969"/>
              <a:gd name="connsiteX2-49" fmla="*/ 1489676 w 1489676"/>
              <a:gd name="connsiteY2-50" fmla="*/ 0 h 368969"/>
              <a:gd name="connsiteX0-51" fmla="*/ 0 w 1687103"/>
              <a:gd name="connsiteY0-52" fmla="*/ 259865 h 259865"/>
              <a:gd name="connsiteX1-53" fmla="*/ 197427 w 1687103"/>
              <a:gd name="connsiteY1-54" fmla="*/ 3659 h 259865"/>
              <a:gd name="connsiteX2-55" fmla="*/ 1687103 w 1687103"/>
              <a:gd name="connsiteY2-56" fmla="*/ 0 h 259865"/>
              <a:gd name="connsiteX0-57" fmla="*/ 0 w 1110407"/>
              <a:gd name="connsiteY0-58" fmla="*/ 259865 h 259865"/>
              <a:gd name="connsiteX1-59" fmla="*/ 197427 w 1110407"/>
              <a:gd name="connsiteY1-60" fmla="*/ 3659 h 259865"/>
              <a:gd name="connsiteX2-61" fmla="*/ 1110407 w 1110407"/>
              <a:gd name="connsiteY2-62" fmla="*/ 0 h 259865"/>
              <a:gd name="connsiteX0-63" fmla="*/ 0 w 1040877"/>
              <a:gd name="connsiteY0-64" fmla="*/ 10266 h 10266"/>
              <a:gd name="connsiteX1-65" fmla="*/ 127897 w 1040877"/>
              <a:gd name="connsiteY1-66" fmla="*/ 3659 h 10266"/>
              <a:gd name="connsiteX2-67" fmla="*/ 1040877 w 1040877"/>
              <a:gd name="connsiteY2-68" fmla="*/ 0 h 10266"/>
            </a:gdLst>
            <a:ahLst/>
            <a:cxnLst>
              <a:cxn ang="0">
                <a:pos x="connsiteX0-1" y="connsiteY0-2"/>
              </a:cxn>
              <a:cxn ang="0">
                <a:pos x="connsiteX1-3" y="connsiteY1-4"/>
              </a:cxn>
              <a:cxn ang="0">
                <a:pos x="connsiteX2-5" y="connsiteY2-6"/>
              </a:cxn>
            </a:cxnLst>
            <a:rect l="l" t="t" r="r" b="b"/>
            <a:pathLst>
              <a:path w="1040877" h="10266">
                <a:moveTo>
                  <a:pt x="0" y="10266"/>
                </a:moveTo>
                <a:lnTo>
                  <a:pt x="127897" y="3659"/>
                </a:lnTo>
                <a:lnTo>
                  <a:pt x="1040877" y="0"/>
                </a:lnTo>
              </a:path>
            </a:pathLst>
          </a:custGeom>
          <a:noFill/>
          <a:ln w="12700">
            <a:solidFill>
              <a:srgbClr val="383838"/>
            </a:solidFill>
            <a:prstDash val="dash"/>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97" name="剪去对角的矩形 196"/>
          <p:cNvSpPr/>
          <p:nvPr/>
        </p:nvSpPr>
        <p:spPr>
          <a:xfrm>
            <a:off x="9124276" y="5045544"/>
            <a:ext cx="2359862" cy="491164"/>
          </a:xfrm>
          <a:prstGeom prst="snip2DiagRect">
            <a:avLst/>
          </a:prstGeom>
          <a:gradFill flip="none" rotWithShape="1">
            <a:gsLst>
              <a:gs pos="0">
                <a:srgbClr val="B3D4FE"/>
              </a:gs>
              <a:gs pos="99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199" name="矩形 235"/>
          <p:cNvSpPr/>
          <p:nvPr/>
        </p:nvSpPr>
        <p:spPr>
          <a:xfrm>
            <a:off x="8234391" y="3517622"/>
            <a:ext cx="3130498" cy="21638"/>
          </a:xfrm>
          <a:custGeom>
            <a:avLst/>
            <a:gdLst>
              <a:gd name="connsiteX0" fmla="*/ 0 w 1430042"/>
              <a:gd name="connsiteY0" fmla="*/ 0 h 365310"/>
              <a:gd name="connsiteX1" fmla="*/ 1430042 w 1430042"/>
              <a:gd name="connsiteY1" fmla="*/ 0 h 365310"/>
              <a:gd name="connsiteX2" fmla="*/ 1430042 w 1430042"/>
              <a:gd name="connsiteY2" fmla="*/ 365310 h 365310"/>
              <a:gd name="connsiteX3" fmla="*/ 0 w 1430042"/>
              <a:gd name="connsiteY3" fmla="*/ 365310 h 365310"/>
              <a:gd name="connsiteX4" fmla="*/ 0 w 1430042"/>
              <a:gd name="connsiteY4" fmla="*/ 0 h 365310"/>
              <a:gd name="connsiteX0-1" fmla="*/ 0 w 1430042"/>
              <a:gd name="connsiteY0-2" fmla="*/ 0 h 365310"/>
              <a:gd name="connsiteX1-3" fmla="*/ 1430042 w 1430042"/>
              <a:gd name="connsiteY1-4" fmla="*/ 0 h 365310"/>
              <a:gd name="connsiteX2-5" fmla="*/ 0 w 1430042"/>
              <a:gd name="connsiteY2-6" fmla="*/ 365310 h 365310"/>
              <a:gd name="connsiteX3-7" fmla="*/ 0 w 1430042"/>
              <a:gd name="connsiteY3-8" fmla="*/ 0 h 365310"/>
              <a:gd name="connsiteX0-9" fmla="*/ 1430042 w 1521482"/>
              <a:gd name="connsiteY0-10" fmla="*/ 0 h 365310"/>
              <a:gd name="connsiteX1-11" fmla="*/ 0 w 1521482"/>
              <a:gd name="connsiteY1-12" fmla="*/ 365310 h 365310"/>
              <a:gd name="connsiteX2-13" fmla="*/ 0 w 1521482"/>
              <a:gd name="connsiteY2-14" fmla="*/ 0 h 365310"/>
              <a:gd name="connsiteX3-15" fmla="*/ 1521482 w 1521482"/>
              <a:gd name="connsiteY3-16" fmla="*/ 91440 h 365310"/>
              <a:gd name="connsiteX0-17" fmla="*/ 1430042 w 1430042"/>
              <a:gd name="connsiteY0-18" fmla="*/ 0 h 365310"/>
              <a:gd name="connsiteX1-19" fmla="*/ 0 w 1430042"/>
              <a:gd name="connsiteY1-20" fmla="*/ 365310 h 365310"/>
              <a:gd name="connsiteX2-21" fmla="*/ 0 w 1430042"/>
              <a:gd name="connsiteY2-22" fmla="*/ 0 h 365310"/>
              <a:gd name="connsiteX3-23" fmla="*/ 1410163 w 1430042"/>
              <a:gd name="connsiteY3-24" fmla="*/ 3976 h 365310"/>
              <a:gd name="connsiteX0-25" fmla="*/ 1430042 w 1489676"/>
              <a:gd name="connsiteY0-26" fmla="*/ 107343 h 472653"/>
              <a:gd name="connsiteX1-27" fmla="*/ 0 w 1489676"/>
              <a:gd name="connsiteY1-28" fmla="*/ 472653 h 472653"/>
              <a:gd name="connsiteX2-29" fmla="*/ 0 w 1489676"/>
              <a:gd name="connsiteY2-30" fmla="*/ 107343 h 472653"/>
              <a:gd name="connsiteX3-31" fmla="*/ 1489676 w 1489676"/>
              <a:gd name="connsiteY3-32" fmla="*/ 0 h 472653"/>
              <a:gd name="connsiteX0-33" fmla="*/ 0 w 1489676"/>
              <a:gd name="connsiteY0-34" fmla="*/ 472653 h 472653"/>
              <a:gd name="connsiteX1-35" fmla="*/ 0 w 1489676"/>
              <a:gd name="connsiteY1-36" fmla="*/ 107343 h 472653"/>
              <a:gd name="connsiteX2-37" fmla="*/ 1489676 w 1489676"/>
              <a:gd name="connsiteY2-38" fmla="*/ 0 h 472653"/>
              <a:gd name="connsiteX0-39" fmla="*/ 0 w 1489676"/>
              <a:gd name="connsiteY0-40" fmla="*/ 365310 h 365310"/>
              <a:gd name="connsiteX1-41" fmla="*/ 0 w 1489676"/>
              <a:gd name="connsiteY1-42" fmla="*/ 0 h 365310"/>
              <a:gd name="connsiteX2-43" fmla="*/ 1489676 w 1489676"/>
              <a:gd name="connsiteY2-44" fmla="*/ 11927 h 365310"/>
              <a:gd name="connsiteX0-45" fmla="*/ 0 w 1489676"/>
              <a:gd name="connsiteY0-46" fmla="*/ 368969 h 368969"/>
              <a:gd name="connsiteX1-47" fmla="*/ 0 w 1489676"/>
              <a:gd name="connsiteY1-48" fmla="*/ 3659 h 368969"/>
              <a:gd name="connsiteX2-49" fmla="*/ 1489676 w 1489676"/>
              <a:gd name="connsiteY2-50" fmla="*/ 0 h 368969"/>
              <a:gd name="connsiteX0-51" fmla="*/ 0 w 1687103"/>
              <a:gd name="connsiteY0-52" fmla="*/ 259865 h 259865"/>
              <a:gd name="connsiteX1-53" fmla="*/ 197427 w 1687103"/>
              <a:gd name="connsiteY1-54" fmla="*/ 3659 h 259865"/>
              <a:gd name="connsiteX2-55" fmla="*/ 1687103 w 1687103"/>
              <a:gd name="connsiteY2-56" fmla="*/ 0 h 259865"/>
              <a:gd name="connsiteX0-57" fmla="*/ 0 w 1110407"/>
              <a:gd name="connsiteY0-58" fmla="*/ 259865 h 259865"/>
              <a:gd name="connsiteX1-59" fmla="*/ 197427 w 1110407"/>
              <a:gd name="connsiteY1-60" fmla="*/ 3659 h 259865"/>
              <a:gd name="connsiteX2-61" fmla="*/ 1110407 w 1110407"/>
              <a:gd name="connsiteY2-62" fmla="*/ 0 h 259865"/>
              <a:gd name="connsiteX0-63" fmla="*/ 0 w 912980"/>
              <a:gd name="connsiteY0-64" fmla="*/ 3659 h 3659"/>
              <a:gd name="connsiteX1-65" fmla="*/ 912980 w 912980"/>
              <a:gd name="connsiteY1-66" fmla="*/ 0 h 3659"/>
              <a:gd name="connsiteX0-67" fmla="*/ 0 w 9509"/>
              <a:gd name="connsiteY0-68" fmla="*/ 27802 h 27802"/>
              <a:gd name="connsiteX1-69" fmla="*/ 9509 w 9509"/>
              <a:gd name="connsiteY1-70" fmla="*/ 0 h 27802"/>
            </a:gdLst>
            <a:ahLst/>
            <a:cxnLst>
              <a:cxn ang="0">
                <a:pos x="connsiteX0-1" y="connsiteY0-2"/>
              </a:cxn>
              <a:cxn ang="0">
                <a:pos x="connsiteX1-3" y="connsiteY1-4"/>
              </a:cxn>
            </a:cxnLst>
            <a:rect l="l" t="t" r="r" b="b"/>
            <a:pathLst>
              <a:path w="9509" h="27802">
                <a:moveTo>
                  <a:pt x="0" y="27802"/>
                </a:moveTo>
                <a:lnTo>
                  <a:pt x="9509" y="0"/>
                </a:lnTo>
              </a:path>
            </a:pathLst>
          </a:custGeom>
          <a:noFill/>
          <a:ln w="12700">
            <a:solidFill>
              <a:srgbClr val="383838"/>
            </a:solidFill>
            <a:prstDash val="dash"/>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200" name="剪去对角的矩形 199"/>
          <p:cNvSpPr/>
          <p:nvPr/>
        </p:nvSpPr>
        <p:spPr>
          <a:xfrm>
            <a:off x="9124276" y="3041744"/>
            <a:ext cx="2359862" cy="491164"/>
          </a:xfrm>
          <a:prstGeom prst="snip2DiagRect">
            <a:avLst/>
          </a:prstGeom>
          <a:gradFill flip="none" rotWithShape="1">
            <a:gsLst>
              <a:gs pos="0">
                <a:srgbClr val="3368FF"/>
              </a:gs>
              <a:gs pos="99000">
                <a:srgbClr val="0042FF"/>
              </a:gs>
            </a:gsLst>
            <a:lin ang="0" scaled="1"/>
            <a:tileRect/>
          </a:gradFill>
          <a:ln>
            <a:no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36" name="文本框 135"/>
          <p:cNvSpPr txBox="1"/>
          <p:nvPr/>
        </p:nvSpPr>
        <p:spPr>
          <a:xfrm>
            <a:off x="9484912" y="1256017"/>
            <a:ext cx="1638590" cy="276999"/>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en-US" altLang="zh-CN" sz="1200" b="1" i="0" u="none" strike="noStrike" kern="1200" cap="none" spc="0" normalizeH="0" baseline="0" noProof="0" dirty="0">
                <a:ln>
                  <a:noFill/>
                </a:ln>
                <a:solidFill>
                  <a:srgbClr val="383838"/>
                </a:solidFill>
                <a:effectLst/>
                <a:uLnTx/>
                <a:uFillTx/>
                <a:latin typeface="微软雅黑"/>
                <a:ea typeface="微软雅黑"/>
                <a:cs typeface="微软雅黑"/>
              </a:rPr>
              <a:t>STEP</a:t>
            </a:r>
            <a:r>
              <a:rPr kumimoji="1" lang="en-US" altLang="zh-CN" sz="1200" b="1" dirty="0">
                <a:solidFill>
                  <a:srgbClr val="383838"/>
                </a:solidFill>
                <a:latin typeface="微软雅黑"/>
                <a:ea typeface="微软雅黑"/>
                <a:cs typeface="微软雅黑"/>
              </a:rPr>
              <a:t>2:</a:t>
            </a:r>
            <a:r>
              <a:rPr kumimoji="1" lang="zh-CN" altLang="en-US" sz="1200" b="1" dirty="0">
                <a:solidFill>
                  <a:srgbClr val="383838"/>
                </a:solidFill>
                <a:latin typeface="微软雅黑"/>
                <a:ea typeface="微软雅黑"/>
                <a:cs typeface="微软雅黑"/>
              </a:rPr>
              <a:t>进行市场细分</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7" name="文本框 136"/>
          <p:cNvSpPr txBox="1"/>
          <p:nvPr/>
        </p:nvSpPr>
        <p:spPr>
          <a:xfrm>
            <a:off x="9484912" y="3138113"/>
            <a:ext cx="1638590" cy="276999"/>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en-US" altLang="zh-CN" sz="1200" b="1" i="0" u="none" strike="noStrike" kern="1200" cap="none" spc="0" normalizeH="0" baseline="0" noProof="0" dirty="0">
                <a:ln>
                  <a:noFill/>
                </a:ln>
                <a:solidFill>
                  <a:srgbClr val="FFFFFF"/>
                </a:solidFill>
                <a:effectLst/>
                <a:uLnTx/>
                <a:uFillTx/>
                <a:latin typeface="微软雅黑"/>
                <a:ea typeface="微软雅黑"/>
                <a:cs typeface="微软雅黑"/>
              </a:rPr>
              <a:t>STEP</a:t>
            </a:r>
            <a:r>
              <a:rPr kumimoji="1" lang="en-US" altLang="zh-CN" sz="1200" b="1" dirty="0">
                <a:solidFill>
                  <a:srgbClr val="FFFFFF"/>
                </a:solidFill>
                <a:latin typeface="微软雅黑"/>
                <a:ea typeface="微软雅黑"/>
                <a:cs typeface="微软雅黑"/>
              </a:rPr>
              <a:t>3:</a:t>
            </a:r>
            <a:r>
              <a:rPr kumimoji="1" lang="zh-CN" altLang="en-US" sz="1200" b="1" dirty="0">
                <a:solidFill>
                  <a:srgbClr val="FFFFFF"/>
                </a:solidFill>
                <a:latin typeface="微软雅黑"/>
                <a:ea typeface="微软雅黑"/>
                <a:cs typeface="微软雅黑"/>
              </a:rPr>
              <a:t>进行组合分析</a:t>
            </a:r>
            <a:endParaRPr kumimoji="1"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38" name="文本框 137"/>
          <p:cNvSpPr txBox="1"/>
          <p:nvPr/>
        </p:nvSpPr>
        <p:spPr>
          <a:xfrm>
            <a:off x="9254083" y="5151366"/>
            <a:ext cx="2100254" cy="276999"/>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en-US" altLang="zh-CN" sz="1200" b="1" i="0" u="none" strike="noStrike" kern="1200" cap="none" spc="0" normalizeH="0" baseline="0" noProof="0" dirty="0">
                <a:ln>
                  <a:noFill/>
                </a:ln>
                <a:solidFill>
                  <a:srgbClr val="383838"/>
                </a:solidFill>
                <a:effectLst/>
                <a:uLnTx/>
                <a:uFillTx/>
                <a:latin typeface="微软雅黑"/>
                <a:ea typeface="微软雅黑"/>
                <a:cs typeface="微软雅黑"/>
              </a:rPr>
              <a:t>STEP</a:t>
            </a:r>
            <a:r>
              <a:rPr kumimoji="1" lang="en-US" altLang="zh-CN" sz="1200" b="1" dirty="0">
                <a:solidFill>
                  <a:srgbClr val="383838"/>
                </a:solidFill>
                <a:latin typeface="微软雅黑"/>
                <a:ea typeface="微软雅黑"/>
                <a:cs typeface="微软雅黑"/>
              </a:rPr>
              <a:t>4:</a:t>
            </a:r>
            <a:r>
              <a:rPr kumimoji="1" lang="zh-CN" altLang="en-US" sz="1200" b="1" dirty="0">
                <a:solidFill>
                  <a:srgbClr val="383838"/>
                </a:solidFill>
                <a:latin typeface="微软雅黑"/>
                <a:ea typeface="微软雅黑"/>
                <a:cs typeface="微软雅黑"/>
              </a:rPr>
              <a:t>制定业务战略和计划</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3" name="矩形 235"/>
          <p:cNvSpPr/>
          <p:nvPr/>
        </p:nvSpPr>
        <p:spPr>
          <a:xfrm flipH="1">
            <a:off x="833841" y="1637017"/>
            <a:ext cx="4004051" cy="552779"/>
          </a:xfrm>
          <a:custGeom>
            <a:avLst/>
            <a:gdLst>
              <a:gd name="connsiteX0" fmla="*/ 0 w 1430042"/>
              <a:gd name="connsiteY0" fmla="*/ 0 h 365310"/>
              <a:gd name="connsiteX1" fmla="*/ 1430042 w 1430042"/>
              <a:gd name="connsiteY1" fmla="*/ 0 h 365310"/>
              <a:gd name="connsiteX2" fmla="*/ 1430042 w 1430042"/>
              <a:gd name="connsiteY2" fmla="*/ 365310 h 365310"/>
              <a:gd name="connsiteX3" fmla="*/ 0 w 1430042"/>
              <a:gd name="connsiteY3" fmla="*/ 365310 h 365310"/>
              <a:gd name="connsiteX4" fmla="*/ 0 w 1430042"/>
              <a:gd name="connsiteY4" fmla="*/ 0 h 365310"/>
              <a:gd name="connsiteX0-1" fmla="*/ 0 w 1430042"/>
              <a:gd name="connsiteY0-2" fmla="*/ 0 h 365310"/>
              <a:gd name="connsiteX1-3" fmla="*/ 1430042 w 1430042"/>
              <a:gd name="connsiteY1-4" fmla="*/ 0 h 365310"/>
              <a:gd name="connsiteX2-5" fmla="*/ 0 w 1430042"/>
              <a:gd name="connsiteY2-6" fmla="*/ 365310 h 365310"/>
              <a:gd name="connsiteX3-7" fmla="*/ 0 w 1430042"/>
              <a:gd name="connsiteY3-8" fmla="*/ 0 h 365310"/>
              <a:gd name="connsiteX0-9" fmla="*/ 1430042 w 1521482"/>
              <a:gd name="connsiteY0-10" fmla="*/ 0 h 365310"/>
              <a:gd name="connsiteX1-11" fmla="*/ 0 w 1521482"/>
              <a:gd name="connsiteY1-12" fmla="*/ 365310 h 365310"/>
              <a:gd name="connsiteX2-13" fmla="*/ 0 w 1521482"/>
              <a:gd name="connsiteY2-14" fmla="*/ 0 h 365310"/>
              <a:gd name="connsiteX3-15" fmla="*/ 1521482 w 1521482"/>
              <a:gd name="connsiteY3-16" fmla="*/ 91440 h 365310"/>
              <a:gd name="connsiteX0-17" fmla="*/ 1430042 w 1430042"/>
              <a:gd name="connsiteY0-18" fmla="*/ 0 h 365310"/>
              <a:gd name="connsiteX1-19" fmla="*/ 0 w 1430042"/>
              <a:gd name="connsiteY1-20" fmla="*/ 365310 h 365310"/>
              <a:gd name="connsiteX2-21" fmla="*/ 0 w 1430042"/>
              <a:gd name="connsiteY2-22" fmla="*/ 0 h 365310"/>
              <a:gd name="connsiteX3-23" fmla="*/ 1410163 w 1430042"/>
              <a:gd name="connsiteY3-24" fmla="*/ 3976 h 365310"/>
              <a:gd name="connsiteX0-25" fmla="*/ 1430042 w 1489676"/>
              <a:gd name="connsiteY0-26" fmla="*/ 107343 h 472653"/>
              <a:gd name="connsiteX1-27" fmla="*/ 0 w 1489676"/>
              <a:gd name="connsiteY1-28" fmla="*/ 472653 h 472653"/>
              <a:gd name="connsiteX2-29" fmla="*/ 0 w 1489676"/>
              <a:gd name="connsiteY2-30" fmla="*/ 107343 h 472653"/>
              <a:gd name="connsiteX3-31" fmla="*/ 1489676 w 1489676"/>
              <a:gd name="connsiteY3-32" fmla="*/ 0 h 472653"/>
              <a:gd name="connsiteX0-33" fmla="*/ 0 w 1489676"/>
              <a:gd name="connsiteY0-34" fmla="*/ 472653 h 472653"/>
              <a:gd name="connsiteX1-35" fmla="*/ 0 w 1489676"/>
              <a:gd name="connsiteY1-36" fmla="*/ 107343 h 472653"/>
              <a:gd name="connsiteX2-37" fmla="*/ 1489676 w 1489676"/>
              <a:gd name="connsiteY2-38" fmla="*/ 0 h 472653"/>
              <a:gd name="connsiteX0-39" fmla="*/ 0 w 1489676"/>
              <a:gd name="connsiteY0-40" fmla="*/ 365310 h 365310"/>
              <a:gd name="connsiteX1-41" fmla="*/ 0 w 1489676"/>
              <a:gd name="connsiteY1-42" fmla="*/ 0 h 365310"/>
              <a:gd name="connsiteX2-43" fmla="*/ 1489676 w 1489676"/>
              <a:gd name="connsiteY2-44" fmla="*/ 11927 h 365310"/>
              <a:gd name="connsiteX0-45" fmla="*/ 0 w 1489676"/>
              <a:gd name="connsiteY0-46" fmla="*/ 368969 h 368969"/>
              <a:gd name="connsiteX1-47" fmla="*/ 0 w 1489676"/>
              <a:gd name="connsiteY1-48" fmla="*/ 3659 h 368969"/>
              <a:gd name="connsiteX2-49" fmla="*/ 1489676 w 1489676"/>
              <a:gd name="connsiteY2-50" fmla="*/ 0 h 368969"/>
              <a:gd name="connsiteX0-51" fmla="*/ 0 w 1687103"/>
              <a:gd name="connsiteY0-52" fmla="*/ 259865 h 259865"/>
              <a:gd name="connsiteX1-53" fmla="*/ 197427 w 1687103"/>
              <a:gd name="connsiteY1-54" fmla="*/ 3659 h 259865"/>
              <a:gd name="connsiteX2-55" fmla="*/ 1687103 w 1687103"/>
              <a:gd name="connsiteY2-56" fmla="*/ 0 h 259865"/>
              <a:gd name="connsiteX0-57" fmla="*/ 0 w 1110407"/>
              <a:gd name="connsiteY0-58" fmla="*/ 259865 h 259865"/>
              <a:gd name="connsiteX1-59" fmla="*/ 197427 w 1110407"/>
              <a:gd name="connsiteY1-60" fmla="*/ 3659 h 259865"/>
              <a:gd name="connsiteX2-61" fmla="*/ 1110407 w 1110407"/>
              <a:gd name="connsiteY2-62" fmla="*/ 0 h 259865"/>
            </a:gdLst>
            <a:ahLst/>
            <a:cxnLst>
              <a:cxn ang="0">
                <a:pos x="connsiteX0-1" y="connsiteY0-2"/>
              </a:cxn>
              <a:cxn ang="0">
                <a:pos x="connsiteX1-3" y="connsiteY1-4"/>
              </a:cxn>
              <a:cxn ang="0">
                <a:pos x="connsiteX2-5" y="connsiteY2-6"/>
              </a:cxn>
            </a:cxnLst>
            <a:rect l="l" t="t" r="r" b="b"/>
            <a:pathLst>
              <a:path w="1110407" h="259865">
                <a:moveTo>
                  <a:pt x="0" y="259865"/>
                </a:moveTo>
                <a:lnTo>
                  <a:pt x="197427" y="3659"/>
                </a:lnTo>
                <a:lnTo>
                  <a:pt x="1110407" y="0"/>
                </a:lnTo>
              </a:path>
            </a:pathLst>
          </a:custGeom>
          <a:noFill/>
          <a:ln w="12700">
            <a:solidFill>
              <a:srgbClr val="383838"/>
            </a:solidFill>
            <a:prstDash val="dash"/>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54" name="剪去对角的矩形 153"/>
          <p:cNvSpPr/>
          <p:nvPr/>
        </p:nvSpPr>
        <p:spPr>
          <a:xfrm flipH="1" flipV="1">
            <a:off x="707862" y="1161140"/>
            <a:ext cx="2359862" cy="491164"/>
          </a:xfrm>
          <a:prstGeom prst="snip2DiagRect">
            <a:avLst/>
          </a:prstGeom>
          <a:gradFill flip="none" rotWithShape="1">
            <a:gsLst>
              <a:gs pos="0">
                <a:srgbClr val="B3D4FE"/>
              </a:gs>
              <a:gs pos="99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79" name="矩形 235"/>
          <p:cNvSpPr/>
          <p:nvPr/>
        </p:nvSpPr>
        <p:spPr>
          <a:xfrm flipH="1" flipV="1">
            <a:off x="833841" y="5509031"/>
            <a:ext cx="3753331" cy="21838"/>
          </a:xfrm>
          <a:custGeom>
            <a:avLst/>
            <a:gdLst>
              <a:gd name="connsiteX0" fmla="*/ 0 w 1430042"/>
              <a:gd name="connsiteY0" fmla="*/ 0 h 365310"/>
              <a:gd name="connsiteX1" fmla="*/ 1430042 w 1430042"/>
              <a:gd name="connsiteY1" fmla="*/ 0 h 365310"/>
              <a:gd name="connsiteX2" fmla="*/ 1430042 w 1430042"/>
              <a:gd name="connsiteY2" fmla="*/ 365310 h 365310"/>
              <a:gd name="connsiteX3" fmla="*/ 0 w 1430042"/>
              <a:gd name="connsiteY3" fmla="*/ 365310 h 365310"/>
              <a:gd name="connsiteX4" fmla="*/ 0 w 1430042"/>
              <a:gd name="connsiteY4" fmla="*/ 0 h 365310"/>
              <a:gd name="connsiteX0-1" fmla="*/ 0 w 1430042"/>
              <a:gd name="connsiteY0-2" fmla="*/ 0 h 365310"/>
              <a:gd name="connsiteX1-3" fmla="*/ 1430042 w 1430042"/>
              <a:gd name="connsiteY1-4" fmla="*/ 0 h 365310"/>
              <a:gd name="connsiteX2-5" fmla="*/ 0 w 1430042"/>
              <a:gd name="connsiteY2-6" fmla="*/ 365310 h 365310"/>
              <a:gd name="connsiteX3-7" fmla="*/ 0 w 1430042"/>
              <a:gd name="connsiteY3-8" fmla="*/ 0 h 365310"/>
              <a:gd name="connsiteX0-9" fmla="*/ 1430042 w 1521482"/>
              <a:gd name="connsiteY0-10" fmla="*/ 0 h 365310"/>
              <a:gd name="connsiteX1-11" fmla="*/ 0 w 1521482"/>
              <a:gd name="connsiteY1-12" fmla="*/ 365310 h 365310"/>
              <a:gd name="connsiteX2-13" fmla="*/ 0 w 1521482"/>
              <a:gd name="connsiteY2-14" fmla="*/ 0 h 365310"/>
              <a:gd name="connsiteX3-15" fmla="*/ 1521482 w 1521482"/>
              <a:gd name="connsiteY3-16" fmla="*/ 91440 h 365310"/>
              <a:gd name="connsiteX0-17" fmla="*/ 1430042 w 1430042"/>
              <a:gd name="connsiteY0-18" fmla="*/ 0 h 365310"/>
              <a:gd name="connsiteX1-19" fmla="*/ 0 w 1430042"/>
              <a:gd name="connsiteY1-20" fmla="*/ 365310 h 365310"/>
              <a:gd name="connsiteX2-21" fmla="*/ 0 w 1430042"/>
              <a:gd name="connsiteY2-22" fmla="*/ 0 h 365310"/>
              <a:gd name="connsiteX3-23" fmla="*/ 1410163 w 1430042"/>
              <a:gd name="connsiteY3-24" fmla="*/ 3976 h 365310"/>
              <a:gd name="connsiteX0-25" fmla="*/ 1430042 w 1489676"/>
              <a:gd name="connsiteY0-26" fmla="*/ 107343 h 472653"/>
              <a:gd name="connsiteX1-27" fmla="*/ 0 w 1489676"/>
              <a:gd name="connsiteY1-28" fmla="*/ 472653 h 472653"/>
              <a:gd name="connsiteX2-29" fmla="*/ 0 w 1489676"/>
              <a:gd name="connsiteY2-30" fmla="*/ 107343 h 472653"/>
              <a:gd name="connsiteX3-31" fmla="*/ 1489676 w 1489676"/>
              <a:gd name="connsiteY3-32" fmla="*/ 0 h 472653"/>
              <a:gd name="connsiteX0-33" fmla="*/ 0 w 1489676"/>
              <a:gd name="connsiteY0-34" fmla="*/ 472653 h 472653"/>
              <a:gd name="connsiteX1-35" fmla="*/ 0 w 1489676"/>
              <a:gd name="connsiteY1-36" fmla="*/ 107343 h 472653"/>
              <a:gd name="connsiteX2-37" fmla="*/ 1489676 w 1489676"/>
              <a:gd name="connsiteY2-38" fmla="*/ 0 h 472653"/>
              <a:gd name="connsiteX0-39" fmla="*/ 0 w 1489676"/>
              <a:gd name="connsiteY0-40" fmla="*/ 365310 h 365310"/>
              <a:gd name="connsiteX1-41" fmla="*/ 0 w 1489676"/>
              <a:gd name="connsiteY1-42" fmla="*/ 0 h 365310"/>
              <a:gd name="connsiteX2-43" fmla="*/ 1489676 w 1489676"/>
              <a:gd name="connsiteY2-44" fmla="*/ 11927 h 365310"/>
              <a:gd name="connsiteX0-45" fmla="*/ 0 w 1489676"/>
              <a:gd name="connsiteY0-46" fmla="*/ 368969 h 368969"/>
              <a:gd name="connsiteX1-47" fmla="*/ 0 w 1489676"/>
              <a:gd name="connsiteY1-48" fmla="*/ 3659 h 368969"/>
              <a:gd name="connsiteX2-49" fmla="*/ 1489676 w 1489676"/>
              <a:gd name="connsiteY2-50" fmla="*/ 0 h 368969"/>
              <a:gd name="connsiteX0-51" fmla="*/ 0 w 1687103"/>
              <a:gd name="connsiteY0-52" fmla="*/ 259865 h 259865"/>
              <a:gd name="connsiteX1-53" fmla="*/ 197427 w 1687103"/>
              <a:gd name="connsiteY1-54" fmla="*/ 3659 h 259865"/>
              <a:gd name="connsiteX2-55" fmla="*/ 1687103 w 1687103"/>
              <a:gd name="connsiteY2-56" fmla="*/ 0 h 259865"/>
              <a:gd name="connsiteX0-57" fmla="*/ 0 w 1110407"/>
              <a:gd name="connsiteY0-58" fmla="*/ 259865 h 259865"/>
              <a:gd name="connsiteX1-59" fmla="*/ 197427 w 1110407"/>
              <a:gd name="connsiteY1-60" fmla="*/ 3659 h 259865"/>
              <a:gd name="connsiteX2-61" fmla="*/ 1110407 w 1110407"/>
              <a:gd name="connsiteY2-62" fmla="*/ 0 h 259865"/>
              <a:gd name="connsiteX0-63" fmla="*/ 0 w 1040877"/>
              <a:gd name="connsiteY0-64" fmla="*/ 10266 h 10266"/>
              <a:gd name="connsiteX1-65" fmla="*/ 127897 w 1040877"/>
              <a:gd name="connsiteY1-66" fmla="*/ 3659 h 10266"/>
              <a:gd name="connsiteX2-67" fmla="*/ 1040877 w 1040877"/>
              <a:gd name="connsiteY2-68" fmla="*/ 0 h 10266"/>
            </a:gdLst>
            <a:ahLst/>
            <a:cxnLst>
              <a:cxn ang="0">
                <a:pos x="connsiteX0-1" y="connsiteY0-2"/>
              </a:cxn>
              <a:cxn ang="0">
                <a:pos x="connsiteX1-3" y="connsiteY1-4"/>
              </a:cxn>
              <a:cxn ang="0">
                <a:pos x="connsiteX2-5" y="connsiteY2-6"/>
              </a:cxn>
            </a:cxnLst>
            <a:rect l="l" t="t" r="r" b="b"/>
            <a:pathLst>
              <a:path w="1040877" h="10266">
                <a:moveTo>
                  <a:pt x="0" y="10266"/>
                </a:moveTo>
                <a:lnTo>
                  <a:pt x="127897" y="3659"/>
                </a:lnTo>
                <a:lnTo>
                  <a:pt x="1040877" y="0"/>
                </a:lnTo>
              </a:path>
            </a:pathLst>
          </a:custGeom>
          <a:noFill/>
          <a:ln w="12700">
            <a:solidFill>
              <a:srgbClr val="383838"/>
            </a:solidFill>
            <a:prstDash val="dash"/>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80" name="剪去对角的矩形 179"/>
          <p:cNvSpPr/>
          <p:nvPr/>
        </p:nvSpPr>
        <p:spPr>
          <a:xfrm>
            <a:off x="707862" y="5045544"/>
            <a:ext cx="2359862" cy="491164"/>
          </a:xfrm>
          <a:prstGeom prst="snip2DiagRect">
            <a:avLst/>
          </a:prstGeom>
          <a:gradFill flip="none" rotWithShape="1">
            <a:gsLst>
              <a:gs pos="0">
                <a:srgbClr val="B3D4FE"/>
              </a:gs>
              <a:gs pos="99000">
                <a:srgbClr val="3368FF"/>
              </a:gs>
            </a:gsLst>
            <a:lin ang="0" scaled="1"/>
            <a:tileRect/>
          </a:gradFill>
          <a:ln>
            <a:noFill/>
          </a:ln>
          <a:effectLst>
            <a:outerShdw blurRad="330200" dist="88900" dir="5400000" algn="t" rotWithShape="0">
              <a:srgbClr val="3368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156" name="矩形 235"/>
          <p:cNvSpPr/>
          <p:nvPr/>
        </p:nvSpPr>
        <p:spPr>
          <a:xfrm flipH="1">
            <a:off x="820848" y="3517622"/>
            <a:ext cx="3130498" cy="21638"/>
          </a:xfrm>
          <a:custGeom>
            <a:avLst/>
            <a:gdLst>
              <a:gd name="connsiteX0" fmla="*/ 0 w 1430042"/>
              <a:gd name="connsiteY0" fmla="*/ 0 h 365310"/>
              <a:gd name="connsiteX1" fmla="*/ 1430042 w 1430042"/>
              <a:gd name="connsiteY1" fmla="*/ 0 h 365310"/>
              <a:gd name="connsiteX2" fmla="*/ 1430042 w 1430042"/>
              <a:gd name="connsiteY2" fmla="*/ 365310 h 365310"/>
              <a:gd name="connsiteX3" fmla="*/ 0 w 1430042"/>
              <a:gd name="connsiteY3" fmla="*/ 365310 h 365310"/>
              <a:gd name="connsiteX4" fmla="*/ 0 w 1430042"/>
              <a:gd name="connsiteY4" fmla="*/ 0 h 365310"/>
              <a:gd name="connsiteX0-1" fmla="*/ 0 w 1430042"/>
              <a:gd name="connsiteY0-2" fmla="*/ 0 h 365310"/>
              <a:gd name="connsiteX1-3" fmla="*/ 1430042 w 1430042"/>
              <a:gd name="connsiteY1-4" fmla="*/ 0 h 365310"/>
              <a:gd name="connsiteX2-5" fmla="*/ 0 w 1430042"/>
              <a:gd name="connsiteY2-6" fmla="*/ 365310 h 365310"/>
              <a:gd name="connsiteX3-7" fmla="*/ 0 w 1430042"/>
              <a:gd name="connsiteY3-8" fmla="*/ 0 h 365310"/>
              <a:gd name="connsiteX0-9" fmla="*/ 1430042 w 1521482"/>
              <a:gd name="connsiteY0-10" fmla="*/ 0 h 365310"/>
              <a:gd name="connsiteX1-11" fmla="*/ 0 w 1521482"/>
              <a:gd name="connsiteY1-12" fmla="*/ 365310 h 365310"/>
              <a:gd name="connsiteX2-13" fmla="*/ 0 w 1521482"/>
              <a:gd name="connsiteY2-14" fmla="*/ 0 h 365310"/>
              <a:gd name="connsiteX3-15" fmla="*/ 1521482 w 1521482"/>
              <a:gd name="connsiteY3-16" fmla="*/ 91440 h 365310"/>
              <a:gd name="connsiteX0-17" fmla="*/ 1430042 w 1430042"/>
              <a:gd name="connsiteY0-18" fmla="*/ 0 h 365310"/>
              <a:gd name="connsiteX1-19" fmla="*/ 0 w 1430042"/>
              <a:gd name="connsiteY1-20" fmla="*/ 365310 h 365310"/>
              <a:gd name="connsiteX2-21" fmla="*/ 0 w 1430042"/>
              <a:gd name="connsiteY2-22" fmla="*/ 0 h 365310"/>
              <a:gd name="connsiteX3-23" fmla="*/ 1410163 w 1430042"/>
              <a:gd name="connsiteY3-24" fmla="*/ 3976 h 365310"/>
              <a:gd name="connsiteX0-25" fmla="*/ 1430042 w 1489676"/>
              <a:gd name="connsiteY0-26" fmla="*/ 107343 h 472653"/>
              <a:gd name="connsiteX1-27" fmla="*/ 0 w 1489676"/>
              <a:gd name="connsiteY1-28" fmla="*/ 472653 h 472653"/>
              <a:gd name="connsiteX2-29" fmla="*/ 0 w 1489676"/>
              <a:gd name="connsiteY2-30" fmla="*/ 107343 h 472653"/>
              <a:gd name="connsiteX3-31" fmla="*/ 1489676 w 1489676"/>
              <a:gd name="connsiteY3-32" fmla="*/ 0 h 472653"/>
              <a:gd name="connsiteX0-33" fmla="*/ 0 w 1489676"/>
              <a:gd name="connsiteY0-34" fmla="*/ 472653 h 472653"/>
              <a:gd name="connsiteX1-35" fmla="*/ 0 w 1489676"/>
              <a:gd name="connsiteY1-36" fmla="*/ 107343 h 472653"/>
              <a:gd name="connsiteX2-37" fmla="*/ 1489676 w 1489676"/>
              <a:gd name="connsiteY2-38" fmla="*/ 0 h 472653"/>
              <a:gd name="connsiteX0-39" fmla="*/ 0 w 1489676"/>
              <a:gd name="connsiteY0-40" fmla="*/ 365310 h 365310"/>
              <a:gd name="connsiteX1-41" fmla="*/ 0 w 1489676"/>
              <a:gd name="connsiteY1-42" fmla="*/ 0 h 365310"/>
              <a:gd name="connsiteX2-43" fmla="*/ 1489676 w 1489676"/>
              <a:gd name="connsiteY2-44" fmla="*/ 11927 h 365310"/>
              <a:gd name="connsiteX0-45" fmla="*/ 0 w 1489676"/>
              <a:gd name="connsiteY0-46" fmla="*/ 368969 h 368969"/>
              <a:gd name="connsiteX1-47" fmla="*/ 0 w 1489676"/>
              <a:gd name="connsiteY1-48" fmla="*/ 3659 h 368969"/>
              <a:gd name="connsiteX2-49" fmla="*/ 1489676 w 1489676"/>
              <a:gd name="connsiteY2-50" fmla="*/ 0 h 368969"/>
              <a:gd name="connsiteX0-51" fmla="*/ 0 w 1687103"/>
              <a:gd name="connsiteY0-52" fmla="*/ 259865 h 259865"/>
              <a:gd name="connsiteX1-53" fmla="*/ 197427 w 1687103"/>
              <a:gd name="connsiteY1-54" fmla="*/ 3659 h 259865"/>
              <a:gd name="connsiteX2-55" fmla="*/ 1687103 w 1687103"/>
              <a:gd name="connsiteY2-56" fmla="*/ 0 h 259865"/>
              <a:gd name="connsiteX0-57" fmla="*/ 0 w 1110407"/>
              <a:gd name="connsiteY0-58" fmla="*/ 259865 h 259865"/>
              <a:gd name="connsiteX1-59" fmla="*/ 197427 w 1110407"/>
              <a:gd name="connsiteY1-60" fmla="*/ 3659 h 259865"/>
              <a:gd name="connsiteX2-61" fmla="*/ 1110407 w 1110407"/>
              <a:gd name="connsiteY2-62" fmla="*/ 0 h 259865"/>
              <a:gd name="connsiteX0-63" fmla="*/ 0 w 912980"/>
              <a:gd name="connsiteY0-64" fmla="*/ 3659 h 3659"/>
              <a:gd name="connsiteX1-65" fmla="*/ 912980 w 912980"/>
              <a:gd name="connsiteY1-66" fmla="*/ 0 h 3659"/>
              <a:gd name="connsiteX0-67" fmla="*/ 0 w 9509"/>
              <a:gd name="connsiteY0-68" fmla="*/ 27802 h 27802"/>
              <a:gd name="connsiteX1-69" fmla="*/ 9509 w 9509"/>
              <a:gd name="connsiteY1-70" fmla="*/ 0 h 27802"/>
            </a:gdLst>
            <a:ahLst/>
            <a:cxnLst>
              <a:cxn ang="0">
                <a:pos x="connsiteX0-1" y="connsiteY0-2"/>
              </a:cxn>
              <a:cxn ang="0">
                <a:pos x="connsiteX1-3" y="connsiteY1-4"/>
              </a:cxn>
            </a:cxnLst>
            <a:rect l="l" t="t" r="r" b="b"/>
            <a:pathLst>
              <a:path w="9509" h="27802">
                <a:moveTo>
                  <a:pt x="0" y="27802"/>
                </a:moveTo>
                <a:lnTo>
                  <a:pt x="9509" y="0"/>
                </a:lnTo>
              </a:path>
            </a:pathLst>
          </a:custGeom>
          <a:noFill/>
          <a:ln w="12700">
            <a:solidFill>
              <a:srgbClr val="383838"/>
            </a:solidFill>
            <a:prstDash val="dash"/>
          </a:ln>
          <a:effectLst>
            <a:outerShdw blurRad="1270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defTabSz="457200">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57" name="剪去对角的矩形 156"/>
          <p:cNvSpPr/>
          <p:nvPr/>
        </p:nvSpPr>
        <p:spPr>
          <a:xfrm>
            <a:off x="707862" y="3041744"/>
            <a:ext cx="2359862" cy="491164"/>
          </a:xfrm>
          <a:prstGeom prst="snip2DiagRect">
            <a:avLst/>
          </a:prstGeom>
          <a:gradFill flip="none" rotWithShape="1">
            <a:gsLst>
              <a:gs pos="0">
                <a:srgbClr val="3368FF"/>
              </a:gs>
              <a:gs pos="99000">
                <a:srgbClr val="0042FF"/>
              </a:gs>
            </a:gsLst>
            <a:lin ang="0" scaled="1"/>
            <a:tileRect/>
          </a:gradFill>
          <a:ln>
            <a:no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58" name="文本框 157"/>
          <p:cNvSpPr txBox="1"/>
          <p:nvPr/>
        </p:nvSpPr>
        <p:spPr>
          <a:xfrm flipH="1">
            <a:off x="1222387" y="1270860"/>
            <a:ext cx="1330813" cy="276999"/>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en-US" altLang="zh-CN" sz="1200" b="1" i="0" u="none" strike="noStrike" kern="1200" cap="none" spc="0" normalizeH="0" baseline="0" noProof="0" dirty="0">
                <a:ln>
                  <a:noFill/>
                </a:ln>
                <a:solidFill>
                  <a:srgbClr val="383838"/>
                </a:solidFill>
                <a:effectLst/>
                <a:uLnTx/>
                <a:uFillTx/>
                <a:latin typeface="微软雅黑"/>
                <a:ea typeface="微软雅黑"/>
                <a:cs typeface="微软雅黑"/>
              </a:rPr>
              <a:t>STEP</a:t>
            </a:r>
            <a:r>
              <a:rPr kumimoji="1" lang="en-US" altLang="zh-CN" sz="1200" b="1" dirty="0">
                <a:solidFill>
                  <a:srgbClr val="383838"/>
                </a:solidFill>
                <a:latin typeface="微软雅黑"/>
                <a:ea typeface="微软雅黑"/>
                <a:cs typeface="微软雅黑"/>
              </a:rPr>
              <a:t>1:</a:t>
            </a:r>
            <a:r>
              <a:rPr kumimoji="1" lang="zh-CN" altLang="en-US" sz="1200" b="1" dirty="0">
                <a:solidFill>
                  <a:srgbClr val="383838"/>
                </a:solidFill>
                <a:latin typeface="微软雅黑"/>
                <a:ea typeface="微软雅黑"/>
                <a:cs typeface="微软雅黑"/>
              </a:rPr>
              <a:t>理解市场</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9" name="文本框 158"/>
          <p:cNvSpPr txBox="1"/>
          <p:nvPr/>
        </p:nvSpPr>
        <p:spPr>
          <a:xfrm flipH="1">
            <a:off x="1068499" y="3138113"/>
            <a:ext cx="1638590" cy="276999"/>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en-US" altLang="zh-CN" sz="1200" b="1" i="0" u="none" strike="noStrike" kern="1200" cap="none" spc="0" normalizeH="0" baseline="0" noProof="0" dirty="0">
                <a:ln>
                  <a:noFill/>
                </a:ln>
                <a:solidFill>
                  <a:srgbClr val="FFFFFF"/>
                </a:solidFill>
                <a:effectLst/>
                <a:uLnTx/>
                <a:uFillTx/>
                <a:latin typeface="微软雅黑"/>
                <a:ea typeface="微软雅黑"/>
                <a:cs typeface="微软雅黑"/>
              </a:rPr>
              <a:t>STEP6</a:t>
            </a:r>
            <a:r>
              <a:rPr kumimoji="1" lang="en-US" altLang="zh-CN" sz="1200" b="1" dirty="0">
                <a:solidFill>
                  <a:srgbClr val="FFFFFF"/>
                </a:solidFill>
                <a:latin typeface="微软雅黑"/>
                <a:ea typeface="微软雅黑"/>
                <a:cs typeface="微软雅黑"/>
              </a:rPr>
              <a:t>:</a:t>
            </a:r>
            <a:r>
              <a:rPr kumimoji="1" lang="zh-CN" altLang="en-US" sz="1200" b="1" dirty="0">
                <a:solidFill>
                  <a:srgbClr val="FFFFFF"/>
                </a:solidFill>
                <a:latin typeface="微软雅黑"/>
                <a:ea typeface="微软雅黑"/>
                <a:cs typeface="微软雅黑"/>
              </a:rPr>
              <a:t>管理业务计划</a:t>
            </a:r>
            <a:endParaRPr kumimoji="1"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60" name="文本框 159"/>
          <p:cNvSpPr txBox="1"/>
          <p:nvPr/>
        </p:nvSpPr>
        <p:spPr>
          <a:xfrm flipH="1">
            <a:off x="914610" y="5151366"/>
            <a:ext cx="1946366" cy="276999"/>
          </a:xfrm>
          <a:prstGeom prst="rect">
            <a:avLst/>
          </a:prstGeom>
          <a:noFill/>
        </p:spPr>
        <p:txBody>
          <a:bodyPr wrap="non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en-US" altLang="zh-CN" sz="1200" b="1" i="0" u="none" strike="noStrike" kern="1200" cap="none" spc="0" normalizeH="0" baseline="0" noProof="0" dirty="0">
                <a:ln>
                  <a:noFill/>
                </a:ln>
                <a:solidFill>
                  <a:srgbClr val="383838"/>
                </a:solidFill>
                <a:effectLst/>
                <a:uLnTx/>
                <a:uFillTx/>
                <a:latin typeface="微软雅黑"/>
                <a:ea typeface="微软雅黑"/>
                <a:cs typeface="微软雅黑"/>
              </a:rPr>
              <a:t>STEP5</a:t>
            </a:r>
            <a:r>
              <a:rPr kumimoji="1" lang="en-US" altLang="zh-CN" sz="1200" b="1" dirty="0">
                <a:solidFill>
                  <a:srgbClr val="383838"/>
                </a:solidFill>
                <a:latin typeface="微软雅黑"/>
                <a:ea typeface="微软雅黑"/>
                <a:cs typeface="微软雅黑"/>
              </a:rPr>
              <a:t>:</a:t>
            </a:r>
            <a:r>
              <a:rPr kumimoji="1" lang="zh-CN" altLang="en-US" sz="1200" b="1" dirty="0">
                <a:solidFill>
                  <a:srgbClr val="383838"/>
                </a:solidFill>
                <a:latin typeface="微软雅黑"/>
                <a:ea typeface="微软雅黑"/>
                <a:cs typeface="微软雅黑"/>
              </a:rPr>
              <a:t>融合优化业务计划</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 name="文本框 2"/>
          <p:cNvSpPr txBox="1"/>
          <p:nvPr/>
        </p:nvSpPr>
        <p:spPr>
          <a:xfrm rot="20090839">
            <a:off x="6336628" y="5288670"/>
            <a:ext cx="800219" cy="238562"/>
          </a:xfrm>
          <a:prstGeom prst="rect">
            <a:avLst/>
          </a:prstGeom>
          <a:noFill/>
        </p:spPr>
        <p:txBody>
          <a:bodyPr wrap="none" rtlCol="0" lIns="0" rIns="0" tIns="0" bIns="0">
            <a:prstTxWarp prst="textArchDown">
              <a:avLst/>
            </a:prstTxWarp>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业务计划</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6" name="文本框 65"/>
          <p:cNvSpPr txBox="1"/>
          <p:nvPr/>
        </p:nvSpPr>
        <p:spPr>
          <a:xfrm rot="2263619">
            <a:off x="4519932" y="4839419"/>
            <a:ext cx="1335584" cy="530353"/>
          </a:xfrm>
          <a:prstGeom prst="rect">
            <a:avLst/>
          </a:prstGeom>
          <a:noFill/>
        </p:spPr>
        <p:txBody>
          <a:bodyPr wrap="none" rtlCol="0" lIns="0" rIns="0" tIns="0" bIns="0">
            <a:prstTxWarp prst="textArchDown">
              <a:avLst/>
            </a:prstTxWarp>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产品线规划</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 name="Rectangle 60"/>
          <p:cNvSpPr/>
          <p:nvPr/>
        </p:nvSpPr>
        <p:spPr>
          <a:xfrm flipH="1">
            <a:off x="875665" y="1842770"/>
            <a:ext cx="2616835" cy="784225"/>
          </a:xfrm>
          <a:prstGeom prst="rect">
            <a:avLst/>
          </a:prstGeom>
        </p:spPr>
        <p:txBody>
          <a:bodyPr wrap="square" lIns="0" tIns="0" rIns="0" bIns="0" anchor="t" anchorCtr="0">
            <a:spAutoFit/>
          </a:bodyPr>
          <a:lstStyle/>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设定愿景、使命和目标</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驱动对市场的分析</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确定潜在的机会和目标</a:t>
            </a:r>
            <a:endParaRPr kumimoji="1"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11" name="Rectangle 60"/>
          <p:cNvSpPr/>
          <p:nvPr/>
        </p:nvSpPr>
        <p:spPr>
          <a:xfrm flipH="1">
            <a:off x="875665" y="3702050"/>
            <a:ext cx="2616835" cy="784225"/>
          </a:xfrm>
          <a:prstGeom prst="rect">
            <a:avLst/>
          </a:prstGeom>
        </p:spPr>
        <p:txBody>
          <a:bodyPr wrap="square" lIns="0" tIns="0" rIns="0" bIns="0" anchor="t" anchorCtr="0">
            <a:spAutoFit/>
          </a:bodyPr>
          <a:lstStyle/>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确保业务计划的执行</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评估业务和流程的表现</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对业务计划进行修改</a:t>
            </a:r>
            <a:endParaRPr kumimoji="1"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7" name="Rectangle 60"/>
          <p:cNvSpPr/>
          <p:nvPr/>
        </p:nvSpPr>
        <p:spPr>
          <a:xfrm flipH="1">
            <a:off x="875665" y="5602605"/>
            <a:ext cx="2616835" cy="784225"/>
          </a:xfrm>
          <a:prstGeom prst="rect">
            <a:avLst/>
          </a:prstGeom>
        </p:spPr>
        <p:txBody>
          <a:bodyPr wrap="square" lIns="0" tIns="0" rIns="0" bIns="0" anchor="t" anchorCtr="0">
            <a:spAutoFit/>
          </a:bodyPr>
          <a:lstStyle/>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融合和优化业务计划</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制定整个公司和产品线的产品包路标</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产品线规则制定</a:t>
            </a:r>
            <a:endParaRPr kumimoji="1"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9" name="Rectangle 60"/>
          <p:cNvSpPr/>
          <p:nvPr/>
        </p:nvSpPr>
        <p:spPr>
          <a:xfrm flipH="1">
            <a:off x="9380855" y="1787525"/>
            <a:ext cx="2058035" cy="784225"/>
          </a:xfrm>
          <a:prstGeom prst="rect">
            <a:avLst/>
          </a:prstGeom>
        </p:spPr>
        <p:txBody>
          <a:bodyPr wrap="square" lIns="0" tIns="0" rIns="0" bIns="0" anchor="t" anchorCtr="0">
            <a:spAutoFit/>
          </a:bodyPr>
          <a:lstStyle/>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确定市场细分结构</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确定初步的目标细分市场</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目标细分市场</a:t>
            </a:r>
            <a:endParaRPr kumimoji="1"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17" name="Rectangle 60"/>
          <p:cNvSpPr/>
          <p:nvPr/>
        </p:nvSpPr>
        <p:spPr>
          <a:xfrm flipH="1">
            <a:off x="9380855" y="3718560"/>
            <a:ext cx="2058035" cy="1045845"/>
          </a:xfrm>
          <a:prstGeom prst="rect">
            <a:avLst/>
          </a:prstGeom>
        </p:spPr>
        <p:txBody>
          <a:bodyPr wrap="square" lIns="0" tIns="0" rIns="0" bIns="0" anchor="t" anchorCtr="0">
            <a:spAutoFit/>
          </a:bodyPr>
          <a:lstStyle/>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直接竞争分析</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审视战略定位</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审视财务分析</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选择投资机会并排序</a:t>
            </a:r>
            <a:endParaRPr kumimoji="1"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18" name="Rectangle 60"/>
          <p:cNvSpPr/>
          <p:nvPr/>
        </p:nvSpPr>
        <p:spPr>
          <a:xfrm flipH="1">
            <a:off x="9380855" y="5714365"/>
            <a:ext cx="2058035" cy="784225"/>
          </a:xfrm>
          <a:prstGeom prst="rect">
            <a:avLst/>
          </a:prstGeom>
        </p:spPr>
        <p:txBody>
          <a:bodyPr wrap="square" lIns="0" tIns="0" rIns="0" bIns="0" anchor="t" anchorCtr="0">
            <a:spAutoFit/>
          </a:bodyPr>
          <a:lstStyle/>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确定细分市场的目标和策略</a:t>
            </a:r>
            <a:endParaRPr kumimoji="1"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确定对客户及我方的价值</a:t>
            </a:r>
            <a:endParaRPr kumimoji="1" lang="zh-CN" altLang="en-US" sz="1200" noProof="0" dirty="0">
              <a:ln>
                <a:noFill/>
              </a:ln>
              <a:solidFill>
                <a:srgbClr val="383838"/>
              </a:solidFill>
              <a:effectLst/>
              <a:uLnTx/>
              <a:uFillTx/>
              <a:latin typeface="微软雅黑"/>
              <a:ea typeface="微软雅黑"/>
              <a:cs typeface="微软雅黑"/>
              <a:sym typeface="微软雅黑"/>
            </a:endParaRPr>
          </a:p>
          <a:p>
            <a:pPr marL="171450" indent="-171450" algn="l" fontAlgn="auto">
              <a:lnSpc>
                <a:spcPts val="2040"/>
              </a:lnSpc>
              <a:spcBef>
                <a:spcPts val="0"/>
              </a:spcBef>
              <a:buFont typeface="微软雅黑"/>
              <a:buChar char="●"/>
              <a:defRPr>
                <a:latin typeface="微软雅黑"/>
                <a:ea typeface="微软雅黑"/>
                <a:cs typeface="微软雅黑"/>
              </a:defRPr>
            </a:pPr>
            <a:r>
              <a:rPr kumimoji="1" lang="zh-CN" altLang="en-US" sz="1200" noProof="0" dirty="0">
                <a:ln>
                  <a:noFill/>
                </a:ln>
                <a:solidFill>
                  <a:srgbClr val="383838"/>
                </a:solidFill>
                <a:effectLst/>
                <a:uLnTx/>
                <a:uFillTx/>
                <a:latin typeface="微软雅黑"/>
                <a:ea typeface="微软雅黑"/>
                <a:cs typeface="微软雅黑"/>
                <a:sym typeface="微软雅黑"/>
              </a:rPr>
              <a:t>推动多个功能部门提供信息</a:t>
            </a:r>
            <a:endParaRPr kumimoji="1" lang="zh-CN" altLang="en-US" sz="1200" noProof="0" dirty="0">
              <a:ln>
                <a:noFill/>
              </a:ln>
              <a:solidFill>
                <a:srgbClr val="383838"/>
              </a:solidFill>
              <a:effectLst/>
              <a:uLnTx/>
              <a:uFillTx/>
              <a:latin typeface="微软雅黑"/>
              <a:ea typeface="微软雅黑"/>
              <a:cs typeface="微软雅黑"/>
              <a:sym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fill="hold"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销售六步循环驱动增长</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29" name="组合 28"/>
          <p:cNvGrpSpPr/>
          <p:nvPr/>
        </p:nvGrpSpPr>
        <p:grpSpPr>
          <a:xfrm>
            <a:off x="6696075" y="1113155"/>
            <a:ext cx="5057775" cy="5459095"/>
            <a:chOff x="10401" y="1609"/>
            <a:chExt cx="7965" cy="8597"/>
          </a:xfrm>
        </p:grpSpPr>
        <p:sp>
          <p:nvSpPr>
            <p:cNvPr id="4" name="子陵职场PPT3"/>
            <p:cNvSpPr/>
            <p:nvPr/>
          </p:nvSpPr>
          <p:spPr>
            <a:xfrm>
              <a:off x="10415" y="1619"/>
              <a:ext cx="7929" cy="2773"/>
            </a:xfrm>
            <a:custGeom>
              <a:avLst/>
              <a:gdLst>
                <a:gd name="connsiteX0" fmla="*/ 0 w 5293301"/>
                <a:gd name="connsiteY0" fmla="*/ 0 h 1851489"/>
                <a:gd name="connsiteX1" fmla="*/ 5293301 w 5293301"/>
                <a:gd name="connsiteY1" fmla="*/ 0 h 1851489"/>
                <a:gd name="connsiteX2" fmla="*/ 5293301 w 5293301"/>
                <a:gd name="connsiteY2" fmla="*/ 1851489 h 1851489"/>
                <a:gd name="connsiteX3" fmla="*/ 2223524 w 5293301"/>
                <a:gd name="connsiteY3" fmla="*/ 1851489 h 1851489"/>
                <a:gd name="connsiteX4" fmla="*/ 2140744 w 5293301"/>
                <a:gd name="connsiteY4" fmla="*/ 1643309 h 1851489"/>
                <a:gd name="connsiteX5" fmla="*/ 2004879 w 5293301"/>
                <a:gd name="connsiteY5" fmla="*/ 1381993 h 1851489"/>
                <a:gd name="connsiteX6" fmla="*/ 249547 w 5293301"/>
                <a:gd name="connsiteY6" fmla="*/ 52609 h 1851489"/>
                <a:gd name="connsiteX7" fmla="*/ 0 w 5293301"/>
                <a:gd name="connsiteY7" fmla="*/ 0 h 185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3301" h="1851489">
                  <a:moveTo>
                    <a:pt x="0" y="0"/>
                  </a:moveTo>
                  <a:lnTo>
                    <a:pt x="5293301" y="0"/>
                  </a:lnTo>
                  <a:lnTo>
                    <a:pt x="5293301" y="1851489"/>
                  </a:lnTo>
                  <a:lnTo>
                    <a:pt x="2223524" y="1851489"/>
                  </a:lnTo>
                  <a:lnTo>
                    <a:pt x="2140744" y="1643309"/>
                  </a:lnTo>
                  <a:cubicBezTo>
                    <a:pt x="2100334" y="1554894"/>
                    <a:pt x="2055074" y="1467679"/>
                    <a:pt x="2004879" y="1381993"/>
                  </a:cubicBezTo>
                  <a:cubicBezTo>
                    <a:pt x="1603319" y="696505"/>
                    <a:pt x="961924" y="238675"/>
                    <a:pt x="249547" y="52609"/>
                  </a:cubicBezTo>
                  <a:lnTo>
                    <a:pt x="0" y="0"/>
                  </a:lnTo>
                  <a:close/>
                </a:path>
              </a:pathLst>
            </a:custGeom>
            <a:gradFill flip="none" rotWithShape="1">
              <a:gsLst>
                <a:gs pos="100000">
                  <a:srgbClr val="FFFFFF">
                    <a:alpha val="0"/>
                  </a:srgbClr>
                </a:gs>
                <a:gs pos="63000">
                  <a:srgbClr val="FFFFFF"/>
                </a:gs>
                <a:gs pos="86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0042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8" name="子陵职场PPT5"/>
            <p:cNvSpPr/>
            <p:nvPr/>
          </p:nvSpPr>
          <p:spPr>
            <a:xfrm>
              <a:off x="13780" y="4539"/>
              <a:ext cx="4564" cy="2749"/>
            </a:xfrm>
            <a:custGeom>
              <a:avLst/>
              <a:gdLst>
                <a:gd name="connsiteX0" fmla="*/ 2989 w 3046862"/>
                <a:gd name="connsiteY0" fmla="*/ 0 h 1835305"/>
                <a:gd name="connsiteX1" fmla="*/ 3046862 w 3046862"/>
                <a:gd name="connsiteY1" fmla="*/ 0 h 1835305"/>
                <a:gd name="connsiteX2" fmla="*/ 3046862 w 3046862"/>
                <a:gd name="connsiteY2" fmla="*/ 1835305 h 1835305"/>
                <a:gd name="connsiteX3" fmla="*/ 0 w 3046862"/>
                <a:gd name="connsiteY3" fmla="*/ 1835305 h 1835305"/>
                <a:gd name="connsiteX4" fmla="*/ 59631 w 3046862"/>
                <a:gd name="connsiteY4" fmla="*/ 1644693 h 1835305"/>
                <a:gd name="connsiteX5" fmla="*/ 79266 w 3046862"/>
                <a:gd name="connsiteY5" fmla="*/ 267029 h 1835305"/>
                <a:gd name="connsiteX6" fmla="*/ 2989 w 3046862"/>
                <a:gd name="connsiteY6" fmla="*/ 0 h 1835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6862" h="1835305">
                  <a:moveTo>
                    <a:pt x="2989" y="0"/>
                  </a:moveTo>
                  <a:lnTo>
                    <a:pt x="3046862" y="0"/>
                  </a:lnTo>
                  <a:lnTo>
                    <a:pt x="3046862" y="1835305"/>
                  </a:lnTo>
                  <a:lnTo>
                    <a:pt x="0" y="1835305"/>
                  </a:lnTo>
                  <a:lnTo>
                    <a:pt x="59631" y="1644693"/>
                  </a:lnTo>
                  <a:cubicBezTo>
                    <a:pt x="175923" y="1199458"/>
                    <a:pt x="186057" y="726495"/>
                    <a:pt x="79266" y="267029"/>
                  </a:cubicBezTo>
                  <a:lnTo>
                    <a:pt x="2989" y="0"/>
                  </a:lnTo>
                  <a:close/>
                </a:path>
              </a:pathLst>
            </a:custGeom>
            <a:gradFill flip="none" rotWithShape="1">
              <a:gsLst>
                <a:gs pos="100000">
                  <a:srgbClr val="FFFFFF">
                    <a:alpha val="0"/>
                  </a:srgbClr>
                </a:gs>
                <a:gs pos="70000">
                  <a:srgbClr val="FFFFFF"/>
                </a:gs>
                <a:gs pos="88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668E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9" name="子陵职场PPT7"/>
            <p:cNvSpPr/>
            <p:nvPr/>
          </p:nvSpPr>
          <p:spPr>
            <a:xfrm>
              <a:off x="10401" y="7434"/>
              <a:ext cx="7942" cy="2772"/>
            </a:xfrm>
            <a:custGeom>
              <a:avLst/>
              <a:gdLst>
                <a:gd name="connsiteX0" fmla="*/ 2234520 w 5302353"/>
                <a:gd name="connsiteY0" fmla="*/ 0 h 1851488"/>
                <a:gd name="connsiteX1" fmla="*/ 5302353 w 5302353"/>
                <a:gd name="connsiteY1" fmla="*/ 0 h 1851488"/>
                <a:gd name="connsiteX2" fmla="*/ 5302353 w 5302353"/>
                <a:gd name="connsiteY2" fmla="*/ 1851488 h 1851488"/>
                <a:gd name="connsiteX3" fmla="*/ 0 w 5302353"/>
                <a:gd name="connsiteY3" fmla="*/ 1851488 h 1851488"/>
                <a:gd name="connsiteX4" fmla="*/ 182176 w 5302353"/>
                <a:gd name="connsiteY4" fmla="*/ 1818516 h 1851488"/>
                <a:gd name="connsiteX5" fmla="*/ 985736 w 5302353"/>
                <a:gd name="connsiteY5" fmla="*/ 1497689 h 1851488"/>
                <a:gd name="connsiteX6" fmla="*/ 2232694 w 5302353"/>
                <a:gd name="connsiteY6" fmla="*/ 5838 h 1851488"/>
                <a:gd name="connsiteX7" fmla="*/ 2234520 w 5302353"/>
                <a:gd name="connsiteY7" fmla="*/ 0 h 185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02353" h="1851488">
                  <a:moveTo>
                    <a:pt x="2234520" y="0"/>
                  </a:moveTo>
                  <a:lnTo>
                    <a:pt x="5302353" y="0"/>
                  </a:lnTo>
                  <a:lnTo>
                    <a:pt x="5302353" y="1851488"/>
                  </a:lnTo>
                  <a:lnTo>
                    <a:pt x="0" y="1851488"/>
                  </a:lnTo>
                  <a:lnTo>
                    <a:pt x="182176" y="1818516"/>
                  </a:lnTo>
                  <a:cubicBezTo>
                    <a:pt x="457856" y="1754441"/>
                    <a:pt x="728677" y="1648274"/>
                    <a:pt x="985736" y="1497689"/>
                  </a:cubicBezTo>
                  <a:cubicBezTo>
                    <a:pt x="1585540" y="1146322"/>
                    <a:pt x="2011041" y="611333"/>
                    <a:pt x="2232694" y="5838"/>
                  </a:cubicBezTo>
                  <a:lnTo>
                    <a:pt x="2234520" y="0"/>
                  </a:lnTo>
                  <a:close/>
                </a:path>
              </a:pathLst>
            </a:custGeom>
            <a:gradFill flip="none" rotWithShape="1">
              <a:gsLst>
                <a:gs pos="100000">
                  <a:srgbClr val="FFFFFF">
                    <a:alpha val="0"/>
                  </a:srgbClr>
                </a:gs>
                <a:gs pos="63000">
                  <a:srgbClr val="FFFFFF"/>
                </a:gs>
                <a:gs pos="86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0042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12" name="子陵职场PPT11"/>
            <p:cNvSpPr/>
            <p:nvPr/>
          </p:nvSpPr>
          <p:spPr>
            <a:xfrm flipH="1">
              <a:off x="15328" y="4524"/>
              <a:ext cx="3038" cy="661"/>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B3D4FE"/>
                </a:gs>
                <a:gs pos="100000">
                  <a:srgbClr val="3368FF"/>
                </a:gs>
              </a:gsLst>
              <a:lin ang="2700000" scaled="1"/>
              <a:tileRect/>
            </a:gradFill>
            <a:ln w="12700" cap="flat" cmpd="sng" algn="ctr">
              <a:noFill/>
              <a:prstDash val="solid"/>
              <a:miter lim="800000"/>
            </a:ln>
            <a:effectLst/>
          </p:spPr>
          <p:txBody>
            <a:bodyPr lIns="0" tIns="0" rIns="144000" bIns="36000" rtlCol="0" anchor="ctr">
              <a:noAutofit/>
            </a:bodyPr>
            <a:lstStyle/>
            <a:p>
              <a:pPr lvl="0" algn="l" defTabSz="457200">
                <a:buClrTx/>
                <a:buSzTx/>
                <a:buFontTx/>
                <a:defRPr>
                  <a:latin typeface="微软雅黑"/>
                  <a:ea typeface="微软雅黑"/>
                  <a:cs typeface="微软雅黑"/>
                </a:defRPr>
              </a:pPr>
              <a:r>
                <a:rPr lang="en-US" sz="2000" b="1" kern="0" dirty="0">
                  <a:solidFill>
                    <a:srgbClr val="383838"/>
                  </a:solidFill>
                  <a:latin typeface="微软雅黑"/>
                  <a:ea typeface="微软雅黑"/>
                  <a:cs typeface="微软雅黑"/>
                  <a:sym typeface="微软雅黑"/>
                </a:rPr>
                <a:t>     </a:t>
              </a:r>
              <a:r>
                <a:rPr lang="zh-CN" altLang="en-US" sz="2000" b="1" kern="0" dirty="0">
                  <a:solidFill>
                    <a:srgbClr val="383838"/>
                  </a:solidFill>
                  <a:latin typeface="微软雅黑"/>
                  <a:ea typeface="微软雅黑"/>
                  <a:cs typeface="微软雅黑"/>
                  <a:sym typeface="微软雅黑"/>
                </a:rPr>
                <a:t>②</a:t>
              </a:r>
              <a:r>
                <a:rPr lang="en-US" altLang="zh-CN" sz="2000" b="1" kern="0" dirty="0">
                  <a:solidFill>
                    <a:srgbClr val="383838"/>
                  </a:solidFill>
                  <a:latin typeface="微软雅黑"/>
                  <a:ea typeface="微软雅黑"/>
                  <a:cs typeface="微软雅黑"/>
                  <a:sym typeface="微软雅黑"/>
                </a:rPr>
                <a:t>-</a:t>
              </a:r>
              <a:r>
                <a:rPr lang="zh-CN" altLang="en-US" sz="2000" b="1" kern="0" dirty="0">
                  <a:solidFill>
                    <a:srgbClr val="383838"/>
                  </a:solidFill>
                  <a:latin typeface="微软雅黑"/>
                  <a:ea typeface="微软雅黑"/>
                  <a:cs typeface="微软雅黑"/>
                  <a:sym typeface="微软雅黑"/>
                </a:rPr>
                <a:t>触客</a:t>
              </a:r>
              <a:endParaRPr lang="zh-CN" altLang="en-US" sz="2000" b="1" kern="0" dirty="0">
                <a:solidFill>
                  <a:srgbClr val="383838"/>
                </a:solidFill>
                <a:latin typeface="微软雅黑"/>
                <a:ea typeface="微软雅黑"/>
                <a:cs typeface="微软雅黑"/>
                <a:sym typeface="微软雅黑"/>
              </a:endParaRPr>
            </a:p>
          </p:txBody>
        </p:sp>
        <p:sp>
          <p:nvSpPr>
            <p:cNvPr id="13" name="子陵职场PPT12"/>
            <p:cNvSpPr/>
            <p:nvPr/>
          </p:nvSpPr>
          <p:spPr>
            <a:xfrm flipH="1">
              <a:off x="15282" y="1609"/>
              <a:ext cx="3038" cy="661"/>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3368FF"/>
                </a:gs>
                <a:gs pos="100000">
                  <a:srgbClr val="0042FF"/>
                </a:gs>
              </a:gsLst>
              <a:lin ang="2700000" scaled="1"/>
              <a:tileRect/>
            </a:gradFill>
            <a:ln w="12700" cap="flat" cmpd="sng" algn="ctr">
              <a:noFill/>
              <a:prstDash val="solid"/>
              <a:miter lim="800000"/>
            </a:ln>
            <a:effectLst/>
          </p:spPr>
          <p:txBody>
            <a:bodyPr lIns="0" tIns="0" rIns="144000" bIns="36000" rtlCol="0" anchor="ctr"/>
            <a:lstStyle/>
            <a:p>
              <a:pPr algn="l" defTabSz="457200">
                <a:defRPr>
                  <a:solidFill>
                    <a:srgbClr val="FFFFFF"/>
                  </a:solidFill>
                  <a:latin typeface="微软雅黑"/>
                  <a:ea typeface="微软雅黑"/>
                  <a:cs typeface="微软雅黑"/>
                </a:defRPr>
              </a:pPr>
              <a:r>
                <a:rPr lang="en-US" sz="2000" b="1" kern="0" dirty="0">
                  <a:solidFill>
                    <a:srgbClr val="FFFFFF"/>
                  </a:solidFill>
                  <a:latin typeface="微软雅黑"/>
                  <a:ea typeface="微软雅黑"/>
                  <a:cs typeface="微软雅黑"/>
                </a:rPr>
                <a:t>      </a:t>
              </a:r>
              <a:r>
                <a:rPr lang="zh-CN" altLang="en-US" sz="2000" b="1" kern="0" dirty="0">
                  <a:solidFill>
                    <a:srgbClr val="FFFFFF"/>
                  </a:solidFill>
                  <a:latin typeface="微软雅黑"/>
                  <a:ea typeface="微软雅黑"/>
                  <a:cs typeface="微软雅黑"/>
                </a:rPr>
                <a:t>①</a:t>
              </a:r>
              <a:r>
                <a:rPr lang="en-US" altLang="zh-CN" sz="2000" b="1" kern="0" dirty="0">
                  <a:solidFill>
                    <a:srgbClr val="FFFFFF"/>
                  </a:solidFill>
                  <a:latin typeface="微软雅黑"/>
                  <a:ea typeface="微软雅黑"/>
                  <a:cs typeface="微软雅黑"/>
                </a:rPr>
                <a:t>-</a:t>
              </a:r>
              <a:r>
                <a:rPr lang="zh-CN" altLang="en-US" sz="2000" b="1" kern="0" dirty="0">
                  <a:solidFill>
                    <a:srgbClr val="FFFFFF"/>
                  </a:solidFill>
                  <a:latin typeface="微软雅黑"/>
                  <a:ea typeface="微软雅黑"/>
                  <a:cs typeface="微软雅黑"/>
                </a:rPr>
                <a:t>获客</a:t>
              </a:r>
              <a:endParaRPr lang="zh-CN" altLang="en-US" sz="2000" b="1" kern="0" dirty="0">
                <a:solidFill>
                  <a:srgbClr val="FFFFFF"/>
                </a:solidFill>
                <a:latin typeface="微软雅黑"/>
                <a:ea typeface="微软雅黑"/>
                <a:cs typeface="微软雅黑"/>
              </a:endParaRPr>
            </a:p>
          </p:txBody>
        </p:sp>
        <p:sp>
          <p:nvSpPr>
            <p:cNvPr id="14" name="子陵职场PPT14"/>
            <p:cNvSpPr/>
            <p:nvPr/>
          </p:nvSpPr>
          <p:spPr>
            <a:xfrm flipH="1">
              <a:off x="15267" y="7437"/>
              <a:ext cx="3038" cy="661"/>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3368FF"/>
                </a:gs>
                <a:gs pos="100000">
                  <a:srgbClr val="0042FF"/>
                </a:gs>
              </a:gsLst>
              <a:lin ang="2700000" scaled="1"/>
              <a:tileRect/>
            </a:gradFill>
            <a:ln w="12700" cap="flat" cmpd="sng" algn="ctr">
              <a:noFill/>
              <a:prstDash val="solid"/>
              <a:miter lim="800000"/>
            </a:ln>
            <a:effectLst/>
          </p:spPr>
          <p:txBody>
            <a:bodyPr lIns="0" tIns="0" rIns="144000" bIns="36000" rtlCol="0" anchor="ctr"/>
            <a:lstStyle/>
            <a:p>
              <a:pPr algn="l" defTabSz="457200">
                <a:defRPr>
                  <a:solidFill>
                    <a:srgbClr val="FFFFFF"/>
                  </a:solidFill>
                  <a:latin typeface="微软雅黑"/>
                  <a:ea typeface="微软雅黑"/>
                  <a:cs typeface="微软雅黑"/>
                </a:defRPr>
              </a:pPr>
              <a:r>
                <a:rPr lang="en-US" sz="2000" b="1" kern="0" dirty="0">
                  <a:solidFill>
                    <a:srgbClr val="FFFFFF"/>
                  </a:solidFill>
                  <a:latin typeface="微软雅黑"/>
                  <a:ea typeface="微软雅黑"/>
                  <a:cs typeface="微软雅黑"/>
                </a:rPr>
                <a:t>      </a:t>
              </a:r>
              <a:r>
                <a:rPr lang="zh-CN" altLang="en-US" sz="2000" b="1" kern="0" dirty="0">
                  <a:solidFill>
                    <a:srgbClr val="FFFFFF"/>
                  </a:solidFill>
                  <a:latin typeface="微软雅黑"/>
                  <a:ea typeface="微软雅黑"/>
                  <a:cs typeface="微软雅黑"/>
                </a:rPr>
                <a:t>③</a:t>
              </a:r>
              <a:r>
                <a:rPr lang="en-US" altLang="zh-CN" sz="2000" b="1" kern="0" dirty="0">
                  <a:solidFill>
                    <a:srgbClr val="FFFFFF"/>
                  </a:solidFill>
                  <a:latin typeface="微软雅黑"/>
                  <a:ea typeface="微软雅黑"/>
                  <a:cs typeface="微软雅黑"/>
                </a:rPr>
                <a:t>-</a:t>
              </a:r>
              <a:r>
                <a:rPr lang="zh-CN" altLang="en-US" sz="2000" b="1" kern="0" dirty="0">
                  <a:solidFill>
                    <a:srgbClr val="FFFFFF"/>
                  </a:solidFill>
                  <a:latin typeface="微软雅黑"/>
                  <a:ea typeface="微软雅黑"/>
                  <a:cs typeface="微软雅黑"/>
                </a:rPr>
                <a:t>识客</a:t>
              </a:r>
              <a:endParaRPr lang="zh-CN" altLang="en-US" sz="2000" b="1" kern="0" dirty="0">
                <a:solidFill>
                  <a:srgbClr val="FFFFFF"/>
                </a:solidFill>
                <a:latin typeface="微软雅黑"/>
                <a:ea typeface="微软雅黑"/>
                <a:cs typeface="微软雅黑"/>
              </a:endParaRPr>
            </a:p>
          </p:txBody>
        </p:sp>
        <p:sp>
          <p:nvSpPr>
            <p:cNvPr id="15" name="子陵职场PPT18"/>
            <p:cNvSpPr txBox="1"/>
            <p:nvPr/>
          </p:nvSpPr>
          <p:spPr>
            <a:xfrm>
              <a:off x="13259" y="2372"/>
              <a:ext cx="4666" cy="463"/>
            </a:xfrm>
            <a:prstGeom prst="rect">
              <a:avLst/>
            </a:prstGeom>
            <a:noFill/>
          </p:spPr>
          <p:txBody>
            <a:bodyPr wrap="square">
              <a:spAutoFit/>
            </a:bodyPr>
            <a:lstStyle/>
            <a:p>
              <a:pPr algn="r">
                <a:lnSpc>
                  <a:spcPct val="120000"/>
                </a:lnSpc>
                <a:defRPr>
                  <a:latin typeface="微软雅黑"/>
                  <a:ea typeface="微软雅黑"/>
                  <a:cs typeface="微软雅黑"/>
                </a:defRPr>
              </a:pPr>
              <a:r>
                <a:rPr lang="zh-CN" altLang="en-US" sz="1100" b="1" dirty="0">
                  <a:solidFill>
                    <a:srgbClr val="0042FF"/>
                  </a:solidFill>
                  <a:latin typeface="微软雅黑"/>
                  <a:ea typeface="微软雅黑"/>
                  <a:cs typeface="微软雅黑"/>
                  <a:sym typeface="微软雅黑"/>
                </a:rPr>
                <a:t>不是广撒网，而是有策略地寻找线索</a:t>
              </a:r>
              <a:endParaRPr lang="zh-CN" altLang="en-US" sz="1100" b="1" dirty="0">
                <a:solidFill>
                  <a:srgbClr val="0042FF"/>
                </a:solidFill>
                <a:latin typeface="微软雅黑"/>
                <a:ea typeface="微软雅黑"/>
                <a:cs typeface="微软雅黑"/>
                <a:sym typeface="微软雅黑"/>
              </a:endParaRPr>
            </a:p>
          </p:txBody>
        </p:sp>
        <p:sp>
          <p:nvSpPr>
            <p:cNvPr id="20" name="子陵职场PPT18"/>
            <p:cNvSpPr txBox="1"/>
            <p:nvPr/>
          </p:nvSpPr>
          <p:spPr>
            <a:xfrm>
              <a:off x="13791" y="2792"/>
              <a:ext cx="4471" cy="1476"/>
            </a:xfrm>
            <a:prstGeom prst="rect">
              <a:avLst/>
            </a:prstGeom>
            <a:noFill/>
          </p:spPr>
          <p:txBody>
            <a:bodyPr wrap="square" lIns="0" rIns="0" tIns="0" bIns="0">
              <a:spAutoFit/>
            </a:bodyPr>
            <a:lstStyle/>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cs typeface="微软雅黑"/>
                  <a:ea typeface="微软雅黑"/>
                </a:rPr>
                <a:t>定向挖掘：</a:t>
              </a:r>
              <a:r>
                <a:rPr lang="zh-CN" altLang="en-US" sz="1000" dirty="0">
                  <a:solidFill>
                    <a:srgbClr val="383838">
                      <a:alpha val="80000"/>
                    </a:srgbClr>
                  </a:solidFill>
                  <a:latin typeface="微软雅黑"/>
                  <a:cs typeface="微软雅黑"/>
                  <a:ea typeface="微软雅黑"/>
                </a:rPr>
                <a:t>复盘过往成交客户的画像，锁定相似特征的潜在客户名单。</a:t>
              </a:r>
              <a:endParaRPr lang="en-US" altLang="zh-CN" sz="1000" dirty="0">
                <a:solidFill>
                  <a:srgbClr val="383838">
                    <a:alpha val="80000"/>
                  </a:srgbClr>
                </a:solidFill>
                <a:latin typeface="微软雅黑"/>
                <a:cs typeface="微软雅黑"/>
                <a:ea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cs typeface="微软雅黑"/>
                  <a:ea typeface="微软雅黑"/>
                </a:rPr>
                <a:t>多源收集：</a:t>
              </a:r>
              <a:r>
                <a:rPr lang="zh-CN" altLang="en-US" sz="1000" dirty="0">
                  <a:solidFill>
                    <a:srgbClr val="383838">
                      <a:alpha val="80000"/>
                    </a:srgbClr>
                  </a:solidFill>
                  <a:latin typeface="微软雅黑"/>
                  <a:cs typeface="微软雅黑"/>
                  <a:ea typeface="微软雅黑"/>
                </a:rPr>
                <a:t>通过内容营销（如白皮书下载）、转介绍、行业活动等渠道引流。</a:t>
              </a:r>
              <a:endParaRPr lang="en-US" altLang="zh-CN" sz="1000" dirty="0">
                <a:solidFill>
                  <a:srgbClr val="383838">
                    <a:alpha val="80000"/>
                  </a:srgbClr>
                </a:solidFill>
                <a:latin typeface="微软雅黑"/>
                <a:cs typeface="微软雅黑"/>
                <a:ea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cs typeface="微软雅黑"/>
                  <a:ea typeface="微软雅黑"/>
                </a:rPr>
                <a:t>初步清洗：</a:t>
              </a:r>
              <a:r>
                <a:rPr lang="zh-CN" altLang="en-US" sz="1000" dirty="0">
                  <a:solidFill>
                    <a:srgbClr val="383838">
                      <a:alpha val="80000"/>
                    </a:srgbClr>
                  </a:solidFill>
                  <a:latin typeface="微软雅黑"/>
                  <a:cs typeface="微软雅黑"/>
                  <a:ea typeface="微软雅黑"/>
                </a:rPr>
                <a:t>剔除无效数据，确保线索价值。</a:t>
              </a:r>
              <a:endParaRPr lang="zh-CN" altLang="en-US" sz="1000" dirty="0">
                <a:solidFill>
                  <a:srgbClr val="383838">
                    <a:alpha val="80000"/>
                  </a:srgbClr>
                </a:solidFill>
                <a:latin typeface="微软雅黑"/>
                <a:cs typeface="微软雅黑"/>
                <a:ea typeface="微软雅黑"/>
              </a:endParaRPr>
            </a:p>
          </p:txBody>
        </p:sp>
        <p:sp>
          <p:nvSpPr>
            <p:cNvPr id="21" name="子陵职场PPT18"/>
            <p:cNvSpPr txBox="1"/>
            <p:nvPr/>
          </p:nvSpPr>
          <p:spPr>
            <a:xfrm>
              <a:off x="14007" y="5298"/>
              <a:ext cx="4217" cy="463"/>
            </a:xfrm>
            <a:prstGeom prst="rect">
              <a:avLst/>
            </a:prstGeom>
            <a:noFill/>
          </p:spPr>
          <p:txBody>
            <a:bodyPr wrap="square">
              <a:spAutoFit/>
            </a:bodyPr>
            <a:lstStyle/>
            <a:p>
              <a:pPr algn="r">
                <a:lnSpc>
                  <a:spcPct val="120000"/>
                </a:lnSpc>
                <a:defRPr>
                  <a:latin typeface="微软雅黑"/>
                  <a:ea typeface="微软雅黑"/>
                  <a:cs typeface="微软雅黑"/>
                </a:defRPr>
              </a:pPr>
              <a:r>
                <a:rPr lang="zh-CN" altLang="en-US" sz="1100" b="1" dirty="0">
                  <a:solidFill>
                    <a:srgbClr val="0042FF"/>
                  </a:solidFill>
                  <a:latin typeface="微软雅黑"/>
                  <a:ea typeface="微软雅黑"/>
                  <a:cs typeface="微软雅黑"/>
                  <a:sym typeface="微软雅黑"/>
                </a:rPr>
                <a:t>完成从</a:t>
              </a:r>
              <a:r>
                <a:rPr lang="en-US" altLang="zh-CN" sz="1100" b="1" dirty="0">
                  <a:solidFill>
                    <a:srgbClr val="0042FF"/>
                  </a:solidFill>
                  <a:latin typeface="微软雅黑"/>
                  <a:ea typeface="微软雅黑"/>
                  <a:cs typeface="微软雅黑"/>
                  <a:sym typeface="微软雅黑"/>
                </a:rPr>
                <a:t>“</a:t>
              </a:r>
              <a:r>
                <a:rPr lang="zh-CN" altLang="en-US" sz="1100" b="1" dirty="0">
                  <a:solidFill>
                    <a:srgbClr val="0042FF"/>
                  </a:solidFill>
                  <a:latin typeface="微软雅黑"/>
                  <a:ea typeface="微软雅黑"/>
                  <a:cs typeface="微软雅黑"/>
                  <a:sym typeface="微软雅黑"/>
                </a:rPr>
                <a:t>陌生人</a:t>
              </a:r>
              <a:r>
                <a:rPr lang="en-US" altLang="zh-CN" sz="1100" b="1" dirty="0">
                  <a:solidFill>
                    <a:srgbClr val="0042FF"/>
                  </a:solidFill>
                  <a:latin typeface="微软雅黑"/>
                  <a:ea typeface="微软雅黑"/>
                  <a:cs typeface="微软雅黑"/>
                  <a:sym typeface="微软雅黑"/>
                </a:rPr>
                <a:t>”</a:t>
              </a:r>
              <a:r>
                <a:rPr lang="zh-CN" altLang="en-US" sz="1100" b="1" dirty="0">
                  <a:solidFill>
                    <a:srgbClr val="0042FF"/>
                  </a:solidFill>
                  <a:latin typeface="微软雅黑"/>
                  <a:ea typeface="微软雅黑"/>
                  <a:cs typeface="微软雅黑"/>
                  <a:sym typeface="微软雅黑"/>
                </a:rPr>
                <a:t>到</a:t>
              </a:r>
              <a:r>
                <a:rPr lang="en-US" altLang="zh-CN" sz="1100" b="1" dirty="0">
                  <a:solidFill>
                    <a:srgbClr val="0042FF"/>
                  </a:solidFill>
                  <a:latin typeface="微软雅黑"/>
                  <a:ea typeface="微软雅黑"/>
                  <a:cs typeface="微软雅黑"/>
                  <a:sym typeface="微软雅黑"/>
                </a:rPr>
                <a:t>“</a:t>
              </a:r>
              <a:r>
                <a:rPr lang="zh-CN" altLang="en-US" sz="1100" b="1" dirty="0">
                  <a:solidFill>
                    <a:srgbClr val="0042FF"/>
                  </a:solidFill>
                  <a:latin typeface="微软雅黑"/>
                  <a:ea typeface="微软雅黑"/>
                  <a:cs typeface="微软雅黑"/>
                  <a:sym typeface="微软雅黑"/>
                </a:rPr>
                <a:t>联系人</a:t>
              </a:r>
              <a:r>
                <a:rPr lang="en-US" altLang="zh-CN" sz="1100" b="1" dirty="0">
                  <a:solidFill>
                    <a:srgbClr val="0042FF"/>
                  </a:solidFill>
                  <a:latin typeface="微软雅黑"/>
                  <a:ea typeface="微软雅黑"/>
                  <a:cs typeface="微软雅黑"/>
                  <a:sym typeface="微软雅黑"/>
                </a:rPr>
                <a:t>”</a:t>
              </a:r>
              <a:r>
                <a:rPr lang="zh-CN" altLang="en-US" sz="1100" b="1" dirty="0">
                  <a:solidFill>
                    <a:srgbClr val="0042FF"/>
                  </a:solidFill>
                  <a:latin typeface="微软雅黑"/>
                  <a:ea typeface="微软雅黑"/>
                  <a:cs typeface="微软雅黑"/>
                  <a:sym typeface="微软雅黑"/>
                </a:rPr>
                <a:t>的转变</a:t>
              </a:r>
              <a:endParaRPr lang="zh-CN" altLang="en-US" sz="1100" b="1" dirty="0">
                <a:solidFill>
                  <a:srgbClr val="0042FF"/>
                </a:solidFill>
                <a:latin typeface="微软雅黑"/>
                <a:ea typeface="微软雅黑"/>
                <a:cs typeface="微软雅黑"/>
                <a:sym typeface="微软雅黑"/>
              </a:endParaRPr>
            </a:p>
          </p:txBody>
        </p:sp>
        <p:sp>
          <p:nvSpPr>
            <p:cNvPr id="22" name="Rectangle 60"/>
            <p:cNvSpPr/>
            <p:nvPr/>
          </p:nvSpPr>
          <p:spPr>
            <a:xfrm flipH="1">
              <a:off x="14137" y="5538"/>
              <a:ext cx="4039" cy="1599"/>
            </a:xfrm>
            <a:prstGeom prst="rect">
              <a:avLst/>
            </a:prstGeom>
          </p:spPr>
          <p:txBody>
            <a:bodyPr wrap="square" lIns="0" tIns="0" rIns="0" bIns="0" anchor="t" anchorCtr="0">
              <a:spAutoFit/>
            </a:bodyPr>
            <a:lstStyle/>
            <a:p>
              <a:pPr indent="0" algn="l" fontAlgn="auto">
                <a:lnSpc>
                  <a:spcPct val="110000"/>
                </a:lnSpc>
                <a:spcBef>
                  <a:spcPts val="0"/>
                </a:spcBef>
                <a:buFont typeface="微软雅黑"/>
                <a:buNone/>
                <a:defRPr>
                  <a:latin typeface="微软雅黑"/>
                  <a:ea typeface="微软雅黑"/>
                  <a:cs typeface="微软雅黑"/>
                </a:defRPr>
              </a:pPr>
              <a:endParaRPr lang="en-US" alt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破冰连接：</a:t>
              </a:r>
              <a:r>
                <a:rPr lang="zh-CN" altLang="en-US" sz="1000" dirty="0">
                  <a:solidFill>
                    <a:srgbClr val="383838">
                      <a:alpha val="80000"/>
                    </a:srgbClr>
                  </a:solidFill>
                  <a:latin typeface="微软雅黑"/>
                  <a:ea typeface="微软雅黑"/>
                  <a:cs typeface="微软雅黑"/>
                </a:rPr>
                <a:t>通过高相关度的开场白（如提及共同背景或行业新闻），建立初步沟通。</a:t>
              </a:r>
              <a:endParaRPr lang="en-US" alt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价值前置：</a:t>
              </a:r>
              <a:r>
                <a:rPr lang="zh-CN" altLang="en-US" sz="1000" dirty="0">
                  <a:solidFill>
                    <a:srgbClr val="383838">
                      <a:alpha val="80000"/>
                    </a:srgbClr>
                  </a:solidFill>
                  <a:latin typeface="微软雅黑"/>
                  <a:ea typeface="微软雅黑"/>
                  <a:cs typeface="微软雅黑"/>
                </a:rPr>
                <a:t>分享一篇行业洞察或一个客户案例，试探客户的反应。</a:t>
              </a:r>
              <a:endParaRPr lang="en-US" alt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确认触点：</a:t>
              </a:r>
              <a:r>
                <a:rPr lang="zh-CN" altLang="en-US" sz="1000" dirty="0">
                  <a:solidFill>
                    <a:srgbClr val="383838">
                      <a:alpha val="80000"/>
                    </a:srgbClr>
                  </a:solidFill>
                  <a:latin typeface="微软雅黑"/>
                  <a:ea typeface="微软雅黑"/>
                  <a:cs typeface="微软雅黑"/>
                </a:rPr>
                <a:t>明确下一步沟通的时间与方式。</a:t>
              </a:r>
              <a:endParaRPr lang="zh-CN" altLang="en-US" sz="1000" dirty="0">
                <a:solidFill>
                  <a:srgbClr val="383838">
                    <a:alpha val="80000"/>
                  </a:srgbClr>
                </a:solidFill>
                <a:latin typeface="微软雅黑"/>
                <a:ea typeface="微软雅黑"/>
                <a:cs typeface="微软雅黑"/>
              </a:endParaRPr>
            </a:p>
          </p:txBody>
        </p:sp>
        <p:sp>
          <p:nvSpPr>
            <p:cNvPr id="23" name="子陵职场PPT18"/>
            <p:cNvSpPr txBox="1"/>
            <p:nvPr/>
          </p:nvSpPr>
          <p:spPr>
            <a:xfrm>
              <a:off x="13601" y="8310"/>
              <a:ext cx="4568" cy="492"/>
            </a:xfrm>
            <a:prstGeom prst="rect">
              <a:avLst/>
            </a:prstGeom>
            <a:noFill/>
          </p:spPr>
          <p:txBody>
            <a:bodyPr wrap="square">
              <a:spAutoFit/>
            </a:bodyPr>
            <a:lstStyle/>
            <a:p>
              <a:pPr algn="r">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全面摸清客户的病灶、家底与心理预期</a:t>
              </a:r>
              <a:endParaRPr lang="zh-CN" altLang="en-US" sz="1200" b="1" dirty="0">
                <a:solidFill>
                  <a:srgbClr val="0042FF"/>
                </a:solidFill>
                <a:latin typeface="微软雅黑"/>
                <a:ea typeface="微软雅黑"/>
                <a:cs typeface="微软雅黑"/>
              </a:endParaRPr>
            </a:p>
          </p:txBody>
        </p:sp>
        <p:sp>
          <p:nvSpPr>
            <p:cNvPr id="24" name="Rectangle 60"/>
            <p:cNvSpPr/>
            <p:nvPr/>
          </p:nvSpPr>
          <p:spPr>
            <a:xfrm flipH="1">
              <a:off x="14047" y="8901"/>
              <a:ext cx="4121" cy="1066"/>
            </a:xfrm>
            <a:prstGeom prst="rect">
              <a:avLst/>
            </a:prstGeom>
          </p:spPr>
          <p:txBody>
            <a:bodyPr wrap="square" lIns="0" tIns="0" rIns="0" bIns="0" anchor="t" anchorCtr="0">
              <a:spAutoFit/>
            </a:bodyPr>
            <a:lstStyle/>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现状盘点：</a:t>
              </a:r>
              <a:r>
                <a:rPr lang="zh-CN" altLang="en-US" sz="1000" dirty="0">
                  <a:solidFill>
                    <a:srgbClr val="383838">
                      <a:alpha val="80000"/>
                    </a:srgbClr>
                  </a:solidFill>
                  <a:latin typeface="微软雅黑"/>
                  <a:ea typeface="微软雅黑"/>
                  <a:cs typeface="微软雅黑"/>
                </a:rPr>
                <a:t>了解客户当前的业务流程、使用工具及痛点来源。</a:t>
              </a:r>
              <a:endParaRPr lang="en-US" alt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需求挖掘：</a:t>
              </a:r>
              <a:r>
                <a:rPr lang="zh-CN" altLang="en-US" sz="1000" dirty="0">
                  <a:solidFill>
                    <a:srgbClr val="383838">
                      <a:alpha val="80000"/>
                    </a:srgbClr>
                  </a:solidFill>
                  <a:latin typeface="微软雅黑"/>
                  <a:ea typeface="微软雅黑"/>
                  <a:cs typeface="微软雅黑"/>
                </a:rPr>
                <a:t>运用提问技巧，探寻客户的显性需求与潜在渴望。</a:t>
              </a:r>
              <a:endParaRPr lang="zh-CN" altLang="en-US" sz="1000" dirty="0">
                <a:solidFill>
                  <a:srgbClr val="383838">
                    <a:alpha val="80000"/>
                  </a:srgbClr>
                </a:solidFill>
                <a:latin typeface="微软雅黑"/>
                <a:ea typeface="微软雅黑"/>
                <a:cs typeface="微软雅黑"/>
              </a:endParaRPr>
            </a:p>
          </p:txBody>
        </p:sp>
        <p:pic>
          <p:nvPicPr>
            <p:cNvPr id="26" name="图片 25" descr="组队"/>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7651" y="4619"/>
              <a:ext cx="436" cy="436"/>
            </a:xfrm>
            <a:prstGeom prst="rect">
              <a:avLst/>
            </a:prstGeom>
          </p:spPr>
        </p:pic>
        <p:pic>
          <p:nvPicPr>
            <p:cNvPr id="27" name="图片 26" descr="诊断"/>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7709" y="1771"/>
              <a:ext cx="321" cy="321"/>
            </a:xfrm>
            <a:prstGeom prst="rect">
              <a:avLst/>
            </a:prstGeom>
          </p:spPr>
        </p:pic>
      </p:grpSp>
      <p:grpSp>
        <p:nvGrpSpPr>
          <p:cNvPr id="33" name="组合 32"/>
          <p:cNvGrpSpPr/>
          <p:nvPr/>
        </p:nvGrpSpPr>
        <p:grpSpPr>
          <a:xfrm flipH="1">
            <a:off x="408305" y="1113155"/>
            <a:ext cx="5043805" cy="5452745"/>
            <a:chOff x="10601" y="1819"/>
            <a:chExt cx="7943" cy="8587"/>
          </a:xfrm>
        </p:grpSpPr>
        <p:sp>
          <p:nvSpPr>
            <p:cNvPr id="30" name="子陵职场PPT3"/>
            <p:cNvSpPr/>
            <p:nvPr/>
          </p:nvSpPr>
          <p:spPr>
            <a:xfrm>
              <a:off x="10615" y="1819"/>
              <a:ext cx="7929" cy="2773"/>
            </a:xfrm>
            <a:custGeom>
              <a:avLst/>
              <a:gdLst>
                <a:gd name="connsiteX0" fmla="*/ 0 w 5293301"/>
                <a:gd name="connsiteY0" fmla="*/ 0 h 1851489"/>
                <a:gd name="connsiteX1" fmla="*/ 5293301 w 5293301"/>
                <a:gd name="connsiteY1" fmla="*/ 0 h 1851489"/>
                <a:gd name="connsiteX2" fmla="*/ 5293301 w 5293301"/>
                <a:gd name="connsiteY2" fmla="*/ 1851489 h 1851489"/>
                <a:gd name="connsiteX3" fmla="*/ 2223524 w 5293301"/>
                <a:gd name="connsiteY3" fmla="*/ 1851489 h 1851489"/>
                <a:gd name="connsiteX4" fmla="*/ 2140744 w 5293301"/>
                <a:gd name="connsiteY4" fmla="*/ 1643309 h 1851489"/>
                <a:gd name="connsiteX5" fmla="*/ 2004879 w 5293301"/>
                <a:gd name="connsiteY5" fmla="*/ 1381993 h 1851489"/>
                <a:gd name="connsiteX6" fmla="*/ 249547 w 5293301"/>
                <a:gd name="connsiteY6" fmla="*/ 52609 h 1851489"/>
                <a:gd name="connsiteX7" fmla="*/ 0 w 5293301"/>
                <a:gd name="connsiteY7" fmla="*/ 0 h 185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3301" h="1851489">
                  <a:moveTo>
                    <a:pt x="0" y="0"/>
                  </a:moveTo>
                  <a:lnTo>
                    <a:pt x="5293301" y="0"/>
                  </a:lnTo>
                  <a:lnTo>
                    <a:pt x="5293301" y="1851489"/>
                  </a:lnTo>
                  <a:lnTo>
                    <a:pt x="2223524" y="1851489"/>
                  </a:lnTo>
                  <a:lnTo>
                    <a:pt x="2140744" y="1643309"/>
                  </a:lnTo>
                  <a:cubicBezTo>
                    <a:pt x="2100334" y="1554894"/>
                    <a:pt x="2055074" y="1467679"/>
                    <a:pt x="2004879" y="1381993"/>
                  </a:cubicBezTo>
                  <a:cubicBezTo>
                    <a:pt x="1603319" y="696505"/>
                    <a:pt x="961924" y="238675"/>
                    <a:pt x="249547" y="52609"/>
                  </a:cubicBezTo>
                  <a:lnTo>
                    <a:pt x="0" y="0"/>
                  </a:lnTo>
                  <a:close/>
                </a:path>
              </a:pathLst>
            </a:custGeom>
            <a:gradFill flip="none" rotWithShape="1">
              <a:gsLst>
                <a:gs pos="100000">
                  <a:srgbClr val="FFFFFF">
                    <a:alpha val="0"/>
                  </a:srgbClr>
                </a:gs>
                <a:gs pos="63000">
                  <a:srgbClr val="FFFFFF"/>
                </a:gs>
                <a:gs pos="86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0042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31" name="子陵职场PPT5"/>
            <p:cNvSpPr/>
            <p:nvPr/>
          </p:nvSpPr>
          <p:spPr>
            <a:xfrm>
              <a:off x="13980" y="4739"/>
              <a:ext cx="4564" cy="2749"/>
            </a:xfrm>
            <a:custGeom>
              <a:avLst/>
              <a:gdLst>
                <a:gd name="connsiteX0" fmla="*/ 2989 w 3046862"/>
                <a:gd name="connsiteY0" fmla="*/ 0 h 1835305"/>
                <a:gd name="connsiteX1" fmla="*/ 3046862 w 3046862"/>
                <a:gd name="connsiteY1" fmla="*/ 0 h 1835305"/>
                <a:gd name="connsiteX2" fmla="*/ 3046862 w 3046862"/>
                <a:gd name="connsiteY2" fmla="*/ 1835305 h 1835305"/>
                <a:gd name="connsiteX3" fmla="*/ 0 w 3046862"/>
                <a:gd name="connsiteY3" fmla="*/ 1835305 h 1835305"/>
                <a:gd name="connsiteX4" fmla="*/ 59631 w 3046862"/>
                <a:gd name="connsiteY4" fmla="*/ 1644693 h 1835305"/>
                <a:gd name="connsiteX5" fmla="*/ 79266 w 3046862"/>
                <a:gd name="connsiteY5" fmla="*/ 267029 h 1835305"/>
                <a:gd name="connsiteX6" fmla="*/ 2989 w 3046862"/>
                <a:gd name="connsiteY6" fmla="*/ 0 h 1835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6862" h="1835305">
                  <a:moveTo>
                    <a:pt x="2989" y="0"/>
                  </a:moveTo>
                  <a:lnTo>
                    <a:pt x="3046862" y="0"/>
                  </a:lnTo>
                  <a:lnTo>
                    <a:pt x="3046862" y="1835305"/>
                  </a:lnTo>
                  <a:lnTo>
                    <a:pt x="0" y="1835305"/>
                  </a:lnTo>
                  <a:lnTo>
                    <a:pt x="59631" y="1644693"/>
                  </a:lnTo>
                  <a:cubicBezTo>
                    <a:pt x="175923" y="1199458"/>
                    <a:pt x="186057" y="726495"/>
                    <a:pt x="79266" y="267029"/>
                  </a:cubicBezTo>
                  <a:lnTo>
                    <a:pt x="2989" y="0"/>
                  </a:lnTo>
                  <a:close/>
                </a:path>
              </a:pathLst>
            </a:custGeom>
            <a:gradFill flip="none" rotWithShape="1">
              <a:gsLst>
                <a:gs pos="100000">
                  <a:srgbClr val="FFFFFF">
                    <a:alpha val="0"/>
                  </a:srgbClr>
                </a:gs>
                <a:gs pos="70000">
                  <a:srgbClr val="FFFFFF"/>
                </a:gs>
                <a:gs pos="88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668E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sp>
          <p:nvSpPr>
            <p:cNvPr id="32" name="子陵职场PPT7"/>
            <p:cNvSpPr/>
            <p:nvPr/>
          </p:nvSpPr>
          <p:spPr>
            <a:xfrm>
              <a:off x="10601" y="7634"/>
              <a:ext cx="7942" cy="2772"/>
            </a:xfrm>
            <a:custGeom>
              <a:avLst/>
              <a:gdLst>
                <a:gd name="connsiteX0" fmla="*/ 2234520 w 5302353"/>
                <a:gd name="connsiteY0" fmla="*/ 0 h 1851488"/>
                <a:gd name="connsiteX1" fmla="*/ 5302353 w 5302353"/>
                <a:gd name="connsiteY1" fmla="*/ 0 h 1851488"/>
                <a:gd name="connsiteX2" fmla="*/ 5302353 w 5302353"/>
                <a:gd name="connsiteY2" fmla="*/ 1851488 h 1851488"/>
                <a:gd name="connsiteX3" fmla="*/ 0 w 5302353"/>
                <a:gd name="connsiteY3" fmla="*/ 1851488 h 1851488"/>
                <a:gd name="connsiteX4" fmla="*/ 182176 w 5302353"/>
                <a:gd name="connsiteY4" fmla="*/ 1818516 h 1851488"/>
                <a:gd name="connsiteX5" fmla="*/ 985736 w 5302353"/>
                <a:gd name="connsiteY5" fmla="*/ 1497689 h 1851488"/>
                <a:gd name="connsiteX6" fmla="*/ 2232694 w 5302353"/>
                <a:gd name="connsiteY6" fmla="*/ 5838 h 1851488"/>
                <a:gd name="connsiteX7" fmla="*/ 2234520 w 5302353"/>
                <a:gd name="connsiteY7" fmla="*/ 0 h 185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02353" h="1851488">
                  <a:moveTo>
                    <a:pt x="2234520" y="0"/>
                  </a:moveTo>
                  <a:lnTo>
                    <a:pt x="5302353" y="0"/>
                  </a:lnTo>
                  <a:lnTo>
                    <a:pt x="5302353" y="1851488"/>
                  </a:lnTo>
                  <a:lnTo>
                    <a:pt x="0" y="1851488"/>
                  </a:lnTo>
                  <a:lnTo>
                    <a:pt x="182176" y="1818516"/>
                  </a:lnTo>
                  <a:cubicBezTo>
                    <a:pt x="457856" y="1754441"/>
                    <a:pt x="728677" y="1648274"/>
                    <a:pt x="985736" y="1497689"/>
                  </a:cubicBezTo>
                  <a:cubicBezTo>
                    <a:pt x="1585540" y="1146322"/>
                    <a:pt x="2011041" y="611333"/>
                    <a:pt x="2232694" y="5838"/>
                  </a:cubicBezTo>
                  <a:lnTo>
                    <a:pt x="2234520" y="0"/>
                  </a:lnTo>
                  <a:close/>
                </a:path>
              </a:pathLst>
            </a:custGeom>
            <a:gradFill flip="none" rotWithShape="1">
              <a:gsLst>
                <a:gs pos="100000">
                  <a:srgbClr val="FFFFFF">
                    <a:alpha val="0"/>
                  </a:srgbClr>
                </a:gs>
                <a:gs pos="63000">
                  <a:srgbClr val="FFFFFF"/>
                </a:gs>
                <a:gs pos="86000">
                  <a:srgbClr val="FFFFFF">
                    <a:alpha val="80000"/>
                  </a:srgbClr>
                </a:gs>
                <a:gs pos="0">
                  <a:srgbClr val="FFFFFF"/>
                </a:gs>
              </a:gsLst>
              <a:path path="circle">
                <a:fillToRect l="100000" t="100000"/>
              </a:path>
              <a:tileRect r="-100000" b="-100000"/>
            </a:gradFill>
            <a:ln>
              <a:noFill/>
            </a:ln>
            <a:effectLst>
              <a:outerShdw blurRad="254000" sx="102000" sy="102000" algn="ctr" rotWithShape="0">
                <a:srgbClr val="0042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noProof="0" dirty="0">
                <a:ln>
                  <a:noFill/>
                </a:ln>
                <a:effectLst/>
                <a:uLnTx/>
                <a:uFillTx/>
                <a:latin typeface="微软雅黑"/>
                <a:ea typeface="微软雅黑"/>
                <a:cs typeface="微软雅黑"/>
                <a:sym typeface="微软雅黑"/>
              </a:endParaRPr>
            </a:p>
          </p:txBody>
        </p:sp>
      </p:grpSp>
      <p:grpSp>
        <p:nvGrpSpPr>
          <p:cNvPr id="76" name="组合 75"/>
          <p:cNvGrpSpPr/>
          <p:nvPr/>
        </p:nvGrpSpPr>
        <p:grpSpPr>
          <a:xfrm>
            <a:off x="4310063" y="1874838"/>
            <a:ext cx="3692525" cy="4004945"/>
            <a:chOff x="7372" y="3610"/>
            <a:chExt cx="4592" cy="4980"/>
          </a:xfrm>
        </p:grpSpPr>
        <p:grpSp>
          <p:nvGrpSpPr>
            <p:cNvPr id="49" name="组合 48"/>
            <p:cNvGrpSpPr/>
            <p:nvPr>
              <p:custDataLst>
                <p:tags r:id="rId7"/>
              </p:custDataLst>
            </p:nvPr>
          </p:nvGrpSpPr>
          <p:grpSpPr>
            <a:xfrm>
              <a:off x="7372" y="3610"/>
              <a:ext cx="4593" cy="4980"/>
              <a:chOff x="7352" y="3506"/>
              <a:chExt cx="4593" cy="4980"/>
            </a:xfrm>
          </p:grpSpPr>
          <p:sp>
            <p:nvSpPr>
              <p:cNvPr id="50" name="任意多边形 49"/>
              <p:cNvSpPr/>
              <p:nvPr>
                <p:custDataLst>
                  <p:tags r:id="rId8"/>
                </p:custDataLst>
              </p:nvPr>
            </p:nvSpPr>
            <p:spPr>
              <a:xfrm>
                <a:off x="8504" y="3506"/>
                <a:ext cx="2362" cy="252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362" h="2526">
                    <a:moveTo>
                      <a:pt x="1087" y="0"/>
                    </a:moveTo>
                    <a:cubicBezTo>
                      <a:pt x="1792" y="0"/>
                      <a:pt x="2362" y="571"/>
                      <a:pt x="2362" y="1275"/>
                    </a:cubicBezTo>
                    <a:cubicBezTo>
                      <a:pt x="2362" y="1891"/>
                      <a:pt x="1925" y="2405"/>
                      <a:pt x="1344" y="2524"/>
                    </a:cubicBezTo>
                    <a:lnTo>
                      <a:pt x="1335" y="2526"/>
                    </a:lnTo>
                    <a:lnTo>
                      <a:pt x="1338" y="2521"/>
                    </a:lnTo>
                    <a:cubicBezTo>
                      <a:pt x="1455" y="2328"/>
                      <a:pt x="1522" y="2102"/>
                      <a:pt x="1522" y="1860"/>
                    </a:cubicBezTo>
                    <a:cubicBezTo>
                      <a:pt x="1522" y="1156"/>
                      <a:pt x="952" y="585"/>
                      <a:pt x="247" y="585"/>
                    </a:cubicBezTo>
                    <a:cubicBezTo>
                      <a:pt x="170" y="585"/>
                      <a:pt x="95" y="592"/>
                      <a:pt x="22" y="605"/>
                    </a:cubicBezTo>
                    <a:lnTo>
                      <a:pt x="0" y="609"/>
                    </a:lnTo>
                    <a:lnTo>
                      <a:pt x="13" y="588"/>
                    </a:lnTo>
                    <a:cubicBezTo>
                      <a:pt x="240" y="234"/>
                      <a:pt x="636" y="0"/>
                      <a:pt x="1087" y="0"/>
                    </a:cubicBezTo>
                    <a:close/>
                  </a:path>
                </a:pathLst>
              </a:custGeom>
              <a:gradFill>
                <a:gsLst>
                  <a:gs pos="100000">
                    <a:srgbClr val="3368FF"/>
                  </a:gs>
                  <a:gs pos="20000">
                    <a:srgbClr val="0042FF"/>
                  </a:gs>
                </a:gsLst>
                <a:lin ang="378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1" name="任意多边形 50"/>
              <p:cNvSpPr/>
              <p:nvPr>
                <p:custDataLst>
                  <p:tags r:id="rId9"/>
                </p:custDataLst>
              </p:nvPr>
            </p:nvSpPr>
            <p:spPr bwMode="auto">
              <a:xfrm rot="18240000">
                <a:off x="7480" y="4105"/>
                <a:ext cx="2362" cy="252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362" h="2526">
                    <a:moveTo>
                      <a:pt x="1087" y="0"/>
                    </a:moveTo>
                    <a:cubicBezTo>
                      <a:pt x="1792" y="0"/>
                      <a:pt x="2362" y="571"/>
                      <a:pt x="2362" y="1275"/>
                    </a:cubicBezTo>
                    <a:cubicBezTo>
                      <a:pt x="2362" y="1891"/>
                      <a:pt x="1925" y="2405"/>
                      <a:pt x="1344" y="2524"/>
                    </a:cubicBezTo>
                    <a:lnTo>
                      <a:pt x="1335" y="2526"/>
                    </a:lnTo>
                    <a:lnTo>
                      <a:pt x="1338" y="2521"/>
                    </a:lnTo>
                    <a:cubicBezTo>
                      <a:pt x="1455" y="2328"/>
                      <a:pt x="1522" y="2102"/>
                      <a:pt x="1522" y="1860"/>
                    </a:cubicBezTo>
                    <a:cubicBezTo>
                      <a:pt x="1522" y="1156"/>
                      <a:pt x="952" y="585"/>
                      <a:pt x="247" y="585"/>
                    </a:cubicBezTo>
                    <a:cubicBezTo>
                      <a:pt x="170" y="585"/>
                      <a:pt x="95" y="592"/>
                      <a:pt x="22" y="605"/>
                    </a:cubicBezTo>
                    <a:lnTo>
                      <a:pt x="0" y="609"/>
                    </a:lnTo>
                    <a:lnTo>
                      <a:pt x="13" y="588"/>
                    </a:lnTo>
                    <a:cubicBezTo>
                      <a:pt x="240" y="234"/>
                      <a:pt x="636" y="0"/>
                      <a:pt x="1087" y="0"/>
                    </a:cubicBezTo>
                    <a:close/>
                  </a:path>
                </a:pathLst>
              </a:custGeom>
              <a:gradFill>
                <a:gsLst>
                  <a:gs pos="100000">
                    <a:srgbClr val="B3D4FE"/>
                  </a:gs>
                  <a:gs pos="0">
                    <a:srgbClr val="3368FF"/>
                  </a:gs>
                </a:gsLst>
                <a:lin ang="2100000" scaled="0"/>
              </a:gradFill>
              <a:ln w="3175">
                <a:gradFill>
                  <a:gsLst>
                    <a:gs pos="42000">
                      <a:srgbClr val="FFFFFF">
                        <a:alpha val="100000"/>
                      </a:srgbClr>
                    </a:gs>
                    <a:gs pos="2000">
                      <a:srgbClr val="FFFFFF">
                        <a:alpha val="0"/>
                      </a:srgbClr>
                    </a:gs>
                    <a:gs pos="93000">
                      <a:srgbClr val="3368FF">
                        <a:alpha val="30000"/>
                      </a:srgbClr>
                    </a:gs>
                  </a:gsLst>
                  <a:lin ang="9660000" scaled="1"/>
                </a:gradFill>
              </a:ln>
              <a:effectLst/>
            </p:spPr>
            <p:style>
              <a:lnRef idx="1">
                <a:srgbClr val="3368FF"/>
              </a:lnRef>
              <a:fillRef idx="2">
                <a:srgbClr val="3368FF"/>
              </a:fillRef>
              <a:effectRef idx="1">
                <a:srgbClr val="3368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b="1">
                  <a:solidFill>
                    <a:srgbClr val="FFFFFF"/>
                  </a:solidFill>
                  <a:latin typeface="微软雅黑"/>
                  <a:cs typeface="微软雅黑"/>
                  <a:sym typeface="微软雅黑"/>
                  <a:ea typeface="微软雅黑"/>
                </a:endParaRPr>
              </a:p>
            </p:txBody>
          </p:sp>
          <p:sp>
            <p:nvSpPr>
              <p:cNvPr id="52" name="任意多边形 51"/>
              <p:cNvSpPr/>
              <p:nvPr>
                <p:custDataLst>
                  <p:tags r:id="rId10"/>
                </p:custDataLst>
              </p:nvPr>
            </p:nvSpPr>
            <p:spPr>
              <a:xfrm rot="14820000">
                <a:off x="7434" y="5278"/>
                <a:ext cx="2362" cy="252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362" h="2526">
                    <a:moveTo>
                      <a:pt x="1087" y="0"/>
                    </a:moveTo>
                    <a:cubicBezTo>
                      <a:pt x="1792" y="0"/>
                      <a:pt x="2362" y="571"/>
                      <a:pt x="2362" y="1275"/>
                    </a:cubicBezTo>
                    <a:cubicBezTo>
                      <a:pt x="2362" y="1891"/>
                      <a:pt x="1925" y="2405"/>
                      <a:pt x="1344" y="2524"/>
                    </a:cubicBezTo>
                    <a:lnTo>
                      <a:pt x="1335" y="2526"/>
                    </a:lnTo>
                    <a:lnTo>
                      <a:pt x="1338" y="2521"/>
                    </a:lnTo>
                    <a:cubicBezTo>
                      <a:pt x="1455" y="2328"/>
                      <a:pt x="1522" y="2102"/>
                      <a:pt x="1522" y="1860"/>
                    </a:cubicBezTo>
                    <a:cubicBezTo>
                      <a:pt x="1522" y="1156"/>
                      <a:pt x="952" y="585"/>
                      <a:pt x="247" y="585"/>
                    </a:cubicBezTo>
                    <a:cubicBezTo>
                      <a:pt x="170" y="585"/>
                      <a:pt x="95" y="592"/>
                      <a:pt x="22" y="605"/>
                    </a:cubicBezTo>
                    <a:lnTo>
                      <a:pt x="0" y="609"/>
                    </a:lnTo>
                    <a:lnTo>
                      <a:pt x="13" y="588"/>
                    </a:lnTo>
                    <a:cubicBezTo>
                      <a:pt x="240" y="234"/>
                      <a:pt x="636" y="0"/>
                      <a:pt x="1087" y="0"/>
                    </a:cubicBezTo>
                    <a:close/>
                  </a:path>
                </a:pathLst>
              </a:custGeom>
              <a:solidFill>
                <a:srgbClr val="0042FF"/>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5" name="任意多边形 54"/>
              <p:cNvSpPr/>
              <p:nvPr>
                <p:custDataLst>
                  <p:tags r:id="rId11"/>
                </p:custDataLst>
              </p:nvPr>
            </p:nvSpPr>
            <p:spPr bwMode="auto">
              <a:xfrm rot="10800000">
                <a:off x="8385" y="5960"/>
                <a:ext cx="2362" cy="252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362" h="2526">
                    <a:moveTo>
                      <a:pt x="1087" y="0"/>
                    </a:moveTo>
                    <a:cubicBezTo>
                      <a:pt x="1792" y="0"/>
                      <a:pt x="2362" y="571"/>
                      <a:pt x="2362" y="1275"/>
                    </a:cubicBezTo>
                    <a:cubicBezTo>
                      <a:pt x="2362" y="1891"/>
                      <a:pt x="1925" y="2405"/>
                      <a:pt x="1344" y="2524"/>
                    </a:cubicBezTo>
                    <a:lnTo>
                      <a:pt x="1335" y="2526"/>
                    </a:lnTo>
                    <a:lnTo>
                      <a:pt x="1338" y="2521"/>
                    </a:lnTo>
                    <a:cubicBezTo>
                      <a:pt x="1455" y="2328"/>
                      <a:pt x="1522" y="2102"/>
                      <a:pt x="1522" y="1860"/>
                    </a:cubicBezTo>
                    <a:cubicBezTo>
                      <a:pt x="1522" y="1156"/>
                      <a:pt x="952" y="585"/>
                      <a:pt x="247" y="585"/>
                    </a:cubicBezTo>
                    <a:cubicBezTo>
                      <a:pt x="170" y="585"/>
                      <a:pt x="95" y="592"/>
                      <a:pt x="22" y="605"/>
                    </a:cubicBezTo>
                    <a:lnTo>
                      <a:pt x="0" y="609"/>
                    </a:lnTo>
                    <a:lnTo>
                      <a:pt x="13" y="588"/>
                    </a:lnTo>
                    <a:cubicBezTo>
                      <a:pt x="240" y="234"/>
                      <a:pt x="636" y="0"/>
                      <a:pt x="1087" y="0"/>
                    </a:cubicBezTo>
                    <a:close/>
                  </a:path>
                </a:pathLst>
              </a:custGeom>
              <a:gradFill>
                <a:gsLst>
                  <a:gs pos="100000">
                    <a:srgbClr val="B3D4FE"/>
                  </a:gs>
                  <a:gs pos="0">
                    <a:srgbClr val="3368FF"/>
                  </a:gs>
                </a:gsLst>
                <a:lin ang="2100000" scaled="0"/>
              </a:gradFill>
              <a:ln w="3175">
                <a:gradFill>
                  <a:gsLst>
                    <a:gs pos="42000">
                      <a:srgbClr val="FFFFFF">
                        <a:alpha val="100000"/>
                      </a:srgbClr>
                    </a:gs>
                    <a:gs pos="2000">
                      <a:srgbClr val="FFFFFF">
                        <a:alpha val="0"/>
                      </a:srgbClr>
                    </a:gs>
                    <a:gs pos="93000">
                      <a:srgbClr val="3368FF">
                        <a:alpha val="30000"/>
                      </a:srgbClr>
                    </a:gs>
                  </a:gsLst>
                  <a:lin ang="9660000" scaled="1"/>
                </a:gradFill>
              </a:ln>
              <a:effectLst/>
            </p:spPr>
            <p:style>
              <a:lnRef idx="1">
                <a:srgbClr val="3368FF"/>
              </a:lnRef>
              <a:fillRef idx="2">
                <a:srgbClr val="3368FF"/>
              </a:fillRef>
              <a:effectRef idx="1">
                <a:srgbClr val="3368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b="1">
                  <a:solidFill>
                    <a:srgbClr val="FFFFFF"/>
                  </a:solidFill>
                  <a:latin typeface="微软雅黑"/>
                  <a:cs typeface="微软雅黑"/>
                  <a:sym typeface="微软雅黑"/>
                  <a:ea typeface="微软雅黑"/>
                </a:endParaRPr>
              </a:p>
            </p:txBody>
          </p:sp>
          <p:sp>
            <p:nvSpPr>
              <p:cNvPr id="56" name="任意多边形 55"/>
              <p:cNvSpPr/>
              <p:nvPr>
                <p:custDataLst>
                  <p:tags r:id="rId12"/>
                </p:custDataLst>
              </p:nvPr>
            </p:nvSpPr>
            <p:spPr>
              <a:xfrm rot="7620000">
                <a:off x="9390" y="5339"/>
                <a:ext cx="2362" cy="252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362" h="2526">
                    <a:moveTo>
                      <a:pt x="1087" y="0"/>
                    </a:moveTo>
                    <a:cubicBezTo>
                      <a:pt x="1792" y="0"/>
                      <a:pt x="2362" y="571"/>
                      <a:pt x="2362" y="1275"/>
                    </a:cubicBezTo>
                    <a:cubicBezTo>
                      <a:pt x="2362" y="1891"/>
                      <a:pt x="1925" y="2405"/>
                      <a:pt x="1344" y="2524"/>
                    </a:cubicBezTo>
                    <a:lnTo>
                      <a:pt x="1335" y="2526"/>
                    </a:lnTo>
                    <a:lnTo>
                      <a:pt x="1338" y="2521"/>
                    </a:lnTo>
                    <a:cubicBezTo>
                      <a:pt x="1455" y="2328"/>
                      <a:pt x="1522" y="2102"/>
                      <a:pt x="1522" y="1860"/>
                    </a:cubicBezTo>
                    <a:cubicBezTo>
                      <a:pt x="1522" y="1156"/>
                      <a:pt x="952" y="585"/>
                      <a:pt x="247" y="585"/>
                    </a:cubicBezTo>
                    <a:cubicBezTo>
                      <a:pt x="170" y="585"/>
                      <a:pt x="95" y="592"/>
                      <a:pt x="22" y="605"/>
                    </a:cubicBezTo>
                    <a:lnTo>
                      <a:pt x="0" y="609"/>
                    </a:lnTo>
                    <a:lnTo>
                      <a:pt x="13" y="588"/>
                    </a:lnTo>
                    <a:cubicBezTo>
                      <a:pt x="240" y="234"/>
                      <a:pt x="636" y="0"/>
                      <a:pt x="1087" y="0"/>
                    </a:cubicBezTo>
                    <a:close/>
                  </a:path>
                </a:pathLst>
              </a:custGeom>
              <a:gradFill>
                <a:gsLst>
                  <a:gs pos="100000">
                    <a:srgbClr val="3368FF"/>
                  </a:gs>
                  <a:gs pos="0">
                    <a:srgbClr val="0042FF"/>
                  </a:gs>
                </a:gsLst>
                <a:lin ang="21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58" name="任意多边形 57"/>
              <p:cNvSpPr/>
              <p:nvPr>
                <p:custDataLst>
                  <p:tags r:id="rId13"/>
                </p:custDataLst>
              </p:nvPr>
            </p:nvSpPr>
            <p:spPr bwMode="auto">
              <a:xfrm rot="3900000">
                <a:off x="9501" y="4168"/>
                <a:ext cx="2362" cy="252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2362" h="2526">
                    <a:moveTo>
                      <a:pt x="1087" y="0"/>
                    </a:moveTo>
                    <a:cubicBezTo>
                      <a:pt x="1792" y="0"/>
                      <a:pt x="2362" y="571"/>
                      <a:pt x="2362" y="1275"/>
                    </a:cubicBezTo>
                    <a:cubicBezTo>
                      <a:pt x="2362" y="1891"/>
                      <a:pt x="1925" y="2405"/>
                      <a:pt x="1344" y="2524"/>
                    </a:cubicBezTo>
                    <a:lnTo>
                      <a:pt x="1335" y="2526"/>
                    </a:lnTo>
                    <a:lnTo>
                      <a:pt x="1338" y="2521"/>
                    </a:lnTo>
                    <a:cubicBezTo>
                      <a:pt x="1455" y="2328"/>
                      <a:pt x="1522" y="2102"/>
                      <a:pt x="1522" y="1860"/>
                    </a:cubicBezTo>
                    <a:cubicBezTo>
                      <a:pt x="1522" y="1156"/>
                      <a:pt x="952" y="585"/>
                      <a:pt x="247" y="585"/>
                    </a:cubicBezTo>
                    <a:cubicBezTo>
                      <a:pt x="170" y="585"/>
                      <a:pt x="95" y="592"/>
                      <a:pt x="22" y="605"/>
                    </a:cubicBezTo>
                    <a:lnTo>
                      <a:pt x="0" y="609"/>
                    </a:lnTo>
                    <a:lnTo>
                      <a:pt x="13" y="588"/>
                    </a:lnTo>
                    <a:cubicBezTo>
                      <a:pt x="240" y="234"/>
                      <a:pt x="636" y="0"/>
                      <a:pt x="1087" y="0"/>
                    </a:cubicBezTo>
                    <a:close/>
                  </a:path>
                </a:pathLst>
              </a:custGeom>
              <a:gradFill>
                <a:gsLst>
                  <a:gs pos="100000">
                    <a:srgbClr val="B3D4FE"/>
                  </a:gs>
                  <a:gs pos="0">
                    <a:srgbClr val="3368FF"/>
                  </a:gs>
                </a:gsLst>
                <a:lin ang="2100000" scaled="0"/>
              </a:gradFill>
              <a:ln w="3175">
                <a:gradFill>
                  <a:gsLst>
                    <a:gs pos="42000">
                      <a:srgbClr val="FFFFFF">
                        <a:alpha val="100000"/>
                      </a:srgbClr>
                    </a:gs>
                    <a:gs pos="2000">
                      <a:srgbClr val="FFFFFF">
                        <a:alpha val="0"/>
                      </a:srgbClr>
                    </a:gs>
                    <a:gs pos="93000">
                      <a:srgbClr val="3368FF">
                        <a:alpha val="30000"/>
                      </a:srgbClr>
                    </a:gs>
                  </a:gsLst>
                  <a:lin ang="9660000" scaled="1"/>
                </a:gradFill>
              </a:ln>
              <a:effectLst/>
            </p:spPr>
            <p:style>
              <a:lnRef idx="1">
                <a:srgbClr val="3368FF"/>
              </a:lnRef>
              <a:fillRef idx="2">
                <a:srgbClr val="3368FF"/>
              </a:fillRef>
              <a:effectRef idx="1">
                <a:srgbClr val="3368FF"/>
              </a:effectRef>
              <a:fontRef idx="minor">
                <a:srgbClr val="383838"/>
              </a:fontRef>
            </p:style>
            <p:txBody>
              <a:bodyPr rot="0" spcFirstLastPara="0" vertOverflow="overflow" horzOverflow="overflow" vert="horz" wrap="square" lIns="0" tIns="0" rIns="0" bIns="0" numCol="1" spcCol="0" rtlCol="0" fromWordArt="0" anchor="ctr" anchorCtr="0" forceAA="0" compatLnSpc="1">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b="1">
                  <a:solidFill>
                    <a:srgbClr val="383838"/>
                  </a:solidFill>
                  <a:latin typeface="微软雅黑"/>
                  <a:cs typeface="微软雅黑"/>
                  <a:sym typeface="微软雅黑"/>
                  <a:ea typeface="微软雅黑"/>
                </a:endParaRPr>
              </a:p>
            </p:txBody>
          </p:sp>
        </p:grpSp>
        <p:sp>
          <p:nvSpPr>
            <p:cNvPr id="64" name="文本框 63"/>
            <p:cNvSpPr txBox="1"/>
            <p:nvPr>
              <p:custDataLst>
                <p:tags r:id="rId14"/>
              </p:custDataLst>
            </p:nvPr>
          </p:nvSpPr>
          <p:spPr>
            <a:xfrm>
              <a:off x="9234" y="3783"/>
              <a:ext cx="1025" cy="475"/>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cs typeface="微软雅黑"/>
                  <a:latin typeface="微软雅黑"/>
                  <a:ea typeface="微软雅黑"/>
                </a:rPr>
                <a:t>01</a:t>
              </a:r>
              <a:endParaRPr lang="en-US" altLang="zh-CN" b="1">
                <a:solidFill>
                  <a:srgbClr val="FFFFFF"/>
                </a:solidFill>
                <a:cs typeface="微软雅黑"/>
                <a:latin typeface="微软雅黑"/>
                <a:ea typeface="微软雅黑"/>
              </a:endParaRPr>
            </a:p>
          </p:txBody>
        </p:sp>
        <p:sp>
          <p:nvSpPr>
            <p:cNvPr id="65" name="文本框 64"/>
            <p:cNvSpPr txBox="1"/>
            <p:nvPr>
              <p:custDataLst>
                <p:tags r:id="rId15"/>
              </p:custDataLst>
            </p:nvPr>
          </p:nvSpPr>
          <p:spPr>
            <a:xfrm>
              <a:off x="7644" y="4589"/>
              <a:ext cx="1025" cy="475"/>
            </a:xfrm>
            <a:prstGeom prst="rect">
              <a:avLst/>
            </a:prstGeom>
            <a:noFill/>
          </p:spPr>
          <p:txBody>
            <a:bodyPr wrap="square" rtlCol="0" lIns="0" rIns="0" tIns="0" bIns="0">
              <a:noAutofit/>
            </a:bodyPr>
            <a:p>
              <a:pPr algn="ctr">
                <a:defRPr>
                  <a:latin typeface="微软雅黑"/>
                  <a:ea typeface="微软雅黑"/>
                  <a:cs typeface="微软雅黑"/>
                </a:defRPr>
              </a:pPr>
              <a:r>
                <a:rPr lang="en-US" altLang="zh-CN" b="1">
                  <a:solidFill>
                    <a:srgbClr val="383838"/>
                  </a:solidFill>
                  <a:cs typeface="微软雅黑"/>
                  <a:latin typeface="微软雅黑"/>
                  <a:ea typeface="微软雅黑"/>
                </a:rPr>
                <a:t>06</a:t>
              </a:r>
              <a:endParaRPr lang="en-US" altLang="zh-CN" b="1">
                <a:solidFill>
                  <a:srgbClr val="383838"/>
                </a:solidFill>
                <a:cs typeface="微软雅黑"/>
                <a:latin typeface="微软雅黑"/>
                <a:ea typeface="微软雅黑"/>
              </a:endParaRPr>
            </a:p>
          </p:txBody>
        </p:sp>
        <p:sp>
          <p:nvSpPr>
            <p:cNvPr id="72" name="文本框 71"/>
            <p:cNvSpPr txBox="1"/>
            <p:nvPr>
              <p:custDataLst>
                <p:tags r:id="rId16"/>
              </p:custDataLst>
            </p:nvPr>
          </p:nvSpPr>
          <p:spPr>
            <a:xfrm>
              <a:off x="7380" y="6682"/>
              <a:ext cx="1025" cy="475"/>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cs typeface="微软雅黑"/>
                  <a:latin typeface="微软雅黑"/>
                  <a:ea typeface="微软雅黑"/>
                </a:rPr>
                <a:t>05</a:t>
              </a:r>
              <a:endParaRPr lang="en-US" altLang="zh-CN" b="1">
                <a:solidFill>
                  <a:srgbClr val="FFFFFF"/>
                </a:solidFill>
                <a:cs typeface="微软雅黑"/>
                <a:latin typeface="微软雅黑"/>
                <a:ea typeface="微软雅黑"/>
              </a:endParaRPr>
            </a:p>
          </p:txBody>
        </p:sp>
        <p:sp>
          <p:nvSpPr>
            <p:cNvPr id="73" name="文本框 72"/>
            <p:cNvSpPr txBox="1"/>
            <p:nvPr>
              <p:custDataLst>
                <p:tags r:id="rId17"/>
              </p:custDataLst>
            </p:nvPr>
          </p:nvSpPr>
          <p:spPr>
            <a:xfrm>
              <a:off x="8982" y="7867"/>
              <a:ext cx="1025" cy="475"/>
            </a:xfrm>
            <a:prstGeom prst="rect">
              <a:avLst/>
            </a:prstGeom>
            <a:noFill/>
          </p:spPr>
          <p:txBody>
            <a:bodyPr wrap="square" rtlCol="0" lIns="0" rIns="0" tIns="0" bIns="0">
              <a:noAutofit/>
            </a:bodyPr>
            <a:p>
              <a:pPr algn="ctr">
                <a:defRPr>
                  <a:solidFill>
                    <a:srgbClr val="383838"/>
                  </a:solidFill>
                  <a:latin typeface="微软雅黑"/>
                  <a:ea typeface="微软雅黑"/>
                  <a:cs typeface="微软雅黑"/>
                </a:defRPr>
              </a:pPr>
              <a:r>
                <a:rPr lang="en-US" altLang="zh-CN" b="1">
                  <a:solidFill>
                    <a:srgbClr val="383838"/>
                  </a:solidFill>
                  <a:cs typeface="微软雅黑"/>
                  <a:latin typeface="微软雅黑"/>
                  <a:ea typeface="微软雅黑"/>
                </a:rPr>
                <a:t>04</a:t>
              </a:r>
              <a:endParaRPr lang="en-US" altLang="zh-CN" b="1">
                <a:solidFill>
                  <a:srgbClr val="383838"/>
                </a:solidFill>
                <a:cs typeface="微软雅黑"/>
                <a:latin typeface="微软雅黑"/>
                <a:ea typeface="微软雅黑"/>
              </a:endParaRPr>
            </a:p>
          </p:txBody>
        </p:sp>
        <p:sp>
          <p:nvSpPr>
            <p:cNvPr id="74" name="文本框 73"/>
            <p:cNvSpPr txBox="1"/>
            <p:nvPr>
              <p:custDataLst>
                <p:tags r:id="rId18"/>
              </p:custDataLst>
            </p:nvPr>
          </p:nvSpPr>
          <p:spPr>
            <a:xfrm>
              <a:off x="10714" y="6927"/>
              <a:ext cx="1025" cy="475"/>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en-US" altLang="zh-CN" b="1">
                  <a:solidFill>
                    <a:srgbClr val="FFFFFF"/>
                  </a:solidFill>
                  <a:cs typeface="微软雅黑"/>
                  <a:latin typeface="微软雅黑"/>
                  <a:ea typeface="微软雅黑"/>
                </a:rPr>
                <a:t>03</a:t>
              </a:r>
              <a:endParaRPr lang="en-US" altLang="zh-CN" b="1">
                <a:solidFill>
                  <a:srgbClr val="FFFFFF"/>
                </a:solidFill>
                <a:cs typeface="微软雅黑"/>
                <a:latin typeface="微软雅黑"/>
                <a:ea typeface="微软雅黑"/>
              </a:endParaRPr>
            </a:p>
          </p:txBody>
        </p:sp>
        <p:sp>
          <p:nvSpPr>
            <p:cNvPr id="75" name="文本框 74"/>
            <p:cNvSpPr txBox="1"/>
            <p:nvPr>
              <p:custDataLst>
                <p:tags r:id="rId19"/>
              </p:custDataLst>
            </p:nvPr>
          </p:nvSpPr>
          <p:spPr>
            <a:xfrm>
              <a:off x="10886" y="5064"/>
              <a:ext cx="1025" cy="475"/>
            </a:xfrm>
            <a:prstGeom prst="rect">
              <a:avLst/>
            </a:prstGeom>
            <a:noFill/>
          </p:spPr>
          <p:txBody>
            <a:bodyPr wrap="square" rtlCol="0" lIns="0" rIns="0" tIns="0" bIns="0">
              <a:noAutofit/>
            </a:bodyPr>
            <a:p>
              <a:pPr algn="ctr">
                <a:defRPr>
                  <a:solidFill>
                    <a:srgbClr val="383838"/>
                  </a:solidFill>
                  <a:latin typeface="微软雅黑"/>
                  <a:ea typeface="微软雅黑"/>
                  <a:cs typeface="微软雅黑"/>
                </a:defRPr>
              </a:pPr>
              <a:r>
                <a:rPr lang="en-US" altLang="zh-CN" b="1">
                  <a:solidFill>
                    <a:srgbClr val="383838"/>
                  </a:solidFill>
                  <a:cs typeface="微软雅黑"/>
                  <a:latin typeface="微软雅黑"/>
                  <a:ea typeface="微软雅黑"/>
                </a:rPr>
                <a:t>02</a:t>
              </a:r>
              <a:endParaRPr lang="en-US" altLang="zh-CN" b="1">
                <a:solidFill>
                  <a:srgbClr val="383838"/>
                </a:solidFill>
                <a:cs typeface="微软雅黑"/>
                <a:latin typeface="微软雅黑"/>
                <a:ea typeface="微软雅黑"/>
              </a:endParaRPr>
            </a:p>
          </p:txBody>
        </p:sp>
      </p:grpSp>
      <p:sp>
        <p:nvSpPr>
          <p:cNvPr id="77" name="椭圆 76"/>
          <p:cNvSpPr/>
          <p:nvPr/>
        </p:nvSpPr>
        <p:spPr>
          <a:xfrm>
            <a:off x="3801745" y="1522730"/>
            <a:ext cx="4709160" cy="4709160"/>
          </a:xfrm>
          <a:prstGeom prst="ellipse">
            <a:avLst/>
          </a:prstGeom>
          <a:noFill/>
          <a:ln>
            <a:solidFill>
              <a:srgbClr val="DCDCDC"/>
            </a:solidFill>
            <a:prstDash val="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46" name="等腰三角形 145"/>
          <p:cNvSpPr/>
          <p:nvPr/>
        </p:nvSpPr>
        <p:spPr>
          <a:xfrm rot="19453676">
            <a:off x="4217670" y="5236210"/>
            <a:ext cx="135890" cy="149860"/>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78" name="等腰三角形 77"/>
          <p:cNvSpPr/>
          <p:nvPr/>
        </p:nvSpPr>
        <p:spPr>
          <a:xfrm rot="2593677">
            <a:off x="4369435" y="2188845"/>
            <a:ext cx="135890" cy="149860"/>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79" name="等腰三角形 78"/>
          <p:cNvSpPr/>
          <p:nvPr/>
        </p:nvSpPr>
        <p:spPr>
          <a:xfrm rot="8593677">
            <a:off x="7971155" y="2390775"/>
            <a:ext cx="135890" cy="149860"/>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80" name="等腰三角形 79"/>
          <p:cNvSpPr/>
          <p:nvPr/>
        </p:nvSpPr>
        <p:spPr>
          <a:xfrm rot="13093677">
            <a:off x="7960360" y="5231765"/>
            <a:ext cx="135890" cy="149860"/>
          </a:xfrm>
          <a:prstGeom prst="triangle">
            <a:avLst/>
          </a:prstGeom>
          <a:solidFill>
            <a:srgbClr val="DCDCDC"/>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81" name="子陵职场PPT11"/>
          <p:cNvSpPr/>
          <p:nvPr/>
        </p:nvSpPr>
        <p:spPr>
          <a:xfrm>
            <a:off x="379730" y="2970530"/>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3368FF"/>
              </a:gs>
              <a:gs pos="100000">
                <a:srgbClr val="0042FF"/>
              </a:gs>
            </a:gsLst>
            <a:lin ang="2700000" scaled="1"/>
            <a:tileRect/>
          </a:gradFill>
          <a:ln w="12700" cap="flat" cmpd="sng" algn="ctr">
            <a:noFill/>
            <a:prstDash val="solid"/>
            <a:miter lim="800000"/>
          </a:ln>
          <a:effectLst/>
        </p:spPr>
        <p:txBody>
          <a:bodyPr lIns="0" tIns="0" rIns="144000" bIns="36000" rtlCol="0" anchor="ctr">
            <a:noAutofit/>
          </a:bodyPr>
          <a:lstStyle/>
          <a:p>
            <a:pPr lvl="0" algn="l" defTabSz="457200">
              <a:buClrTx/>
              <a:buSzTx/>
              <a:buFontTx/>
              <a:defRPr>
                <a:solidFill>
                  <a:srgbClr val="FFFFFF"/>
                </a:solidFill>
                <a:latin typeface="微软雅黑"/>
                <a:ea typeface="微软雅黑"/>
                <a:cs typeface="微软雅黑"/>
              </a:defRPr>
            </a:pPr>
            <a:r>
              <a:rPr lang="en-US" sz="2000" b="1" kern="0" dirty="0">
                <a:solidFill>
                  <a:srgbClr val="FFFFFF"/>
                </a:solidFill>
                <a:latin typeface="微软雅黑"/>
                <a:ea typeface="微软雅黑"/>
                <a:cs typeface="微软雅黑"/>
                <a:sym typeface="微软雅黑"/>
              </a:rPr>
              <a:t>     </a:t>
            </a:r>
            <a:r>
              <a:rPr lang="en-US" sz="2000" b="1" kern="0" dirty="0">
                <a:solidFill>
                  <a:srgbClr val="FFFFFF"/>
                </a:solidFill>
                <a:latin typeface="微软雅黑"/>
                <a:ea typeface="微软雅黑"/>
                <a:cs typeface="微软雅黑"/>
                <a:sym typeface="微软雅黑"/>
              </a:rPr>
              <a:t>   </a:t>
            </a:r>
            <a:r>
              <a:rPr lang="zh-CN" altLang="en-US" sz="2000" b="1" kern="0" dirty="0">
                <a:solidFill>
                  <a:srgbClr val="FFFFFF"/>
                </a:solidFill>
                <a:latin typeface="微软雅黑"/>
                <a:ea typeface="微软雅黑"/>
                <a:cs typeface="微软雅黑"/>
                <a:sym typeface="微软雅黑"/>
              </a:rPr>
              <a:t>⑤</a:t>
            </a:r>
            <a:r>
              <a:rPr lang="en-US" sz="2000" b="1" kern="0" dirty="0">
                <a:solidFill>
                  <a:srgbClr val="FFFFFF"/>
                </a:solidFill>
                <a:latin typeface="微软雅黑"/>
                <a:ea typeface="微软雅黑"/>
                <a:cs typeface="微软雅黑"/>
                <a:sym typeface="微软雅黑"/>
              </a:rPr>
              <a:t>-</a:t>
            </a:r>
            <a:r>
              <a:rPr lang="zh-CN" altLang="en-US" sz="2000" b="1" kern="0" dirty="0">
                <a:solidFill>
                  <a:srgbClr val="FFFFFF"/>
                </a:solidFill>
                <a:latin typeface="微软雅黑"/>
                <a:ea typeface="微软雅黑"/>
                <a:cs typeface="微软雅黑"/>
                <a:sym typeface="微软雅黑"/>
              </a:rPr>
              <a:t>谈判</a:t>
            </a:r>
            <a:endParaRPr lang="zh-CN" altLang="en-US" sz="2000" b="1" kern="0" dirty="0">
              <a:solidFill>
                <a:srgbClr val="FFFFFF"/>
              </a:solidFill>
              <a:latin typeface="微软雅黑"/>
              <a:ea typeface="微软雅黑"/>
              <a:cs typeface="微软雅黑"/>
              <a:sym typeface="微软雅黑"/>
            </a:endParaRPr>
          </a:p>
        </p:txBody>
      </p:sp>
      <p:sp>
        <p:nvSpPr>
          <p:cNvPr id="82" name="子陵职场PPT12"/>
          <p:cNvSpPr/>
          <p:nvPr/>
        </p:nvSpPr>
        <p:spPr>
          <a:xfrm>
            <a:off x="408940" y="1119505"/>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B3D4FE"/>
              </a:gs>
              <a:gs pos="100000">
                <a:srgbClr val="3368FF"/>
              </a:gs>
            </a:gsLst>
            <a:lin ang="2700000" scaled="1"/>
            <a:tileRect/>
          </a:gradFill>
          <a:ln w="12700" cap="flat" cmpd="sng" algn="ctr">
            <a:noFill/>
            <a:prstDash val="solid"/>
            <a:miter lim="800000"/>
          </a:ln>
          <a:effectLst/>
        </p:spPr>
        <p:txBody>
          <a:bodyPr lIns="0" tIns="0" rIns="144000" bIns="36000" rtlCol="0" anchor="ctr">
            <a:noAutofit/>
          </a:bodyPr>
          <a:lstStyle/>
          <a:p>
            <a:pPr lvl="0" algn="l" defTabSz="457200">
              <a:buClrTx/>
              <a:buSzTx/>
              <a:buFontTx/>
              <a:defRPr>
                <a:latin typeface="微软雅黑"/>
                <a:ea typeface="微软雅黑"/>
                <a:cs typeface="微软雅黑"/>
              </a:defRPr>
            </a:pPr>
            <a:r>
              <a:rPr lang="en-US" sz="2000" b="1" kern="0" dirty="0">
                <a:solidFill>
                  <a:srgbClr val="383838"/>
                </a:solidFill>
                <a:latin typeface="微软雅黑"/>
                <a:ea typeface="微软雅黑"/>
                <a:cs typeface="微软雅黑"/>
                <a:sym typeface="微软雅黑"/>
              </a:rPr>
              <a:t>      </a:t>
            </a:r>
            <a:r>
              <a:rPr lang="en-US" sz="2000" b="1" kern="0" dirty="0">
                <a:solidFill>
                  <a:srgbClr val="383838"/>
                </a:solidFill>
                <a:latin typeface="微软雅黑"/>
                <a:ea typeface="微软雅黑"/>
                <a:cs typeface="微软雅黑"/>
                <a:sym typeface="微软雅黑"/>
              </a:rPr>
              <a:t>  </a:t>
            </a:r>
            <a:r>
              <a:rPr lang="zh-CN" altLang="en-US" sz="2000" b="1" kern="0" dirty="0">
                <a:solidFill>
                  <a:srgbClr val="383838"/>
                </a:solidFill>
                <a:latin typeface="微软雅黑"/>
                <a:ea typeface="微软雅黑"/>
                <a:cs typeface="微软雅黑"/>
                <a:sym typeface="微软雅黑"/>
              </a:rPr>
              <a:t>⑥</a:t>
            </a:r>
            <a:r>
              <a:rPr lang="en-US" sz="2000" b="1" kern="0" dirty="0">
                <a:solidFill>
                  <a:srgbClr val="383838"/>
                </a:solidFill>
                <a:latin typeface="微软雅黑"/>
                <a:ea typeface="微软雅黑"/>
                <a:cs typeface="微软雅黑"/>
                <a:sym typeface="微软雅黑"/>
              </a:rPr>
              <a:t>-</a:t>
            </a:r>
            <a:r>
              <a:rPr lang="zh-CN" altLang="en-US" sz="2000" b="1" kern="0" dirty="0">
                <a:solidFill>
                  <a:srgbClr val="383838"/>
                </a:solidFill>
                <a:latin typeface="微软雅黑"/>
                <a:ea typeface="微软雅黑"/>
                <a:cs typeface="微软雅黑"/>
                <a:sym typeface="微软雅黑"/>
              </a:rPr>
              <a:t>成交</a:t>
            </a:r>
            <a:endParaRPr lang="zh-CN" altLang="en-US" sz="2000" b="1" kern="0" dirty="0">
              <a:solidFill>
                <a:srgbClr val="383838"/>
              </a:solidFill>
              <a:latin typeface="微软雅黑"/>
              <a:ea typeface="微软雅黑"/>
              <a:cs typeface="微软雅黑"/>
              <a:sym typeface="微软雅黑"/>
            </a:endParaRPr>
          </a:p>
        </p:txBody>
      </p:sp>
      <p:sp>
        <p:nvSpPr>
          <p:cNvPr id="83" name="子陵职场PPT14"/>
          <p:cNvSpPr/>
          <p:nvPr/>
        </p:nvSpPr>
        <p:spPr>
          <a:xfrm>
            <a:off x="418465" y="4820285"/>
            <a:ext cx="1929130" cy="419735"/>
          </a:xfrm>
          <a:custGeom>
            <a:avLst/>
            <a:gdLst>
              <a:gd name="connsiteX0" fmla="*/ 38563 w 1655078"/>
              <a:gd name="connsiteY0" fmla="*/ 0 h 231375"/>
              <a:gd name="connsiteX1" fmla="*/ 1616515 w 1655078"/>
              <a:gd name="connsiteY1" fmla="*/ 0 h 231375"/>
              <a:gd name="connsiteX2" fmla="*/ 1655078 w 1655078"/>
              <a:gd name="connsiteY2" fmla="*/ 38563 h 231375"/>
              <a:gd name="connsiteX3" fmla="*/ 1655078 w 1655078"/>
              <a:gd name="connsiteY3" fmla="*/ 231375 h 231375"/>
              <a:gd name="connsiteX4" fmla="*/ 1655078 w 1655078"/>
              <a:gd name="connsiteY4" fmla="*/ 231375 h 231375"/>
              <a:gd name="connsiteX5" fmla="*/ 0 w 1655078"/>
              <a:gd name="connsiteY5" fmla="*/ 231375 h 231375"/>
              <a:gd name="connsiteX6" fmla="*/ 0 w 1655078"/>
              <a:gd name="connsiteY6" fmla="*/ 231375 h 231375"/>
              <a:gd name="connsiteX7" fmla="*/ 0 w 1655078"/>
              <a:gd name="connsiteY7" fmla="*/ 38563 h 231375"/>
              <a:gd name="connsiteX8" fmla="*/ 38563 w 1655078"/>
              <a:gd name="connsiteY8" fmla="*/ 0 h 231375"/>
              <a:gd name="connsiteX0-1" fmla="*/ 38563 w 1794778"/>
              <a:gd name="connsiteY0-2" fmla="*/ 0 h 231375"/>
              <a:gd name="connsiteX1-3" fmla="*/ 1616515 w 1794778"/>
              <a:gd name="connsiteY1-4" fmla="*/ 0 h 231375"/>
              <a:gd name="connsiteX2-5" fmla="*/ 1655078 w 1794778"/>
              <a:gd name="connsiteY2-6" fmla="*/ 38563 h 231375"/>
              <a:gd name="connsiteX3-7" fmla="*/ 1655078 w 1794778"/>
              <a:gd name="connsiteY3-8" fmla="*/ 231375 h 231375"/>
              <a:gd name="connsiteX4-9" fmla="*/ 1794778 w 1794778"/>
              <a:gd name="connsiteY4-10" fmla="*/ 231375 h 231375"/>
              <a:gd name="connsiteX5-11" fmla="*/ 0 w 1794778"/>
              <a:gd name="connsiteY5-12" fmla="*/ 231375 h 231375"/>
              <a:gd name="connsiteX6-13" fmla="*/ 0 w 1794778"/>
              <a:gd name="connsiteY6-14" fmla="*/ 231375 h 231375"/>
              <a:gd name="connsiteX7-15" fmla="*/ 0 w 1794778"/>
              <a:gd name="connsiteY7-16" fmla="*/ 38563 h 231375"/>
              <a:gd name="connsiteX8-17" fmla="*/ 38563 w 1794778"/>
              <a:gd name="connsiteY8-18" fmla="*/ 0 h 231375"/>
              <a:gd name="connsiteX0-19" fmla="*/ 38563 w 1655078"/>
              <a:gd name="connsiteY0-20" fmla="*/ 0 h 231375"/>
              <a:gd name="connsiteX1-21" fmla="*/ 1616515 w 1655078"/>
              <a:gd name="connsiteY1-22" fmla="*/ 0 h 231375"/>
              <a:gd name="connsiteX2-23" fmla="*/ 1655078 w 1655078"/>
              <a:gd name="connsiteY2-24" fmla="*/ 38563 h 231375"/>
              <a:gd name="connsiteX3-25" fmla="*/ 1655078 w 1655078"/>
              <a:gd name="connsiteY3-26" fmla="*/ 231375 h 231375"/>
              <a:gd name="connsiteX4-27" fmla="*/ 0 w 1655078"/>
              <a:gd name="connsiteY4-28" fmla="*/ 231375 h 231375"/>
              <a:gd name="connsiteX5-29" fmla="*/ 0 w 1655078"/>
              <a:gd name="connsiteY5-30" fmla="*/ 231375 h 231375"/>
              <a:gd name="connsiteX6-31" fmla="*/ 0 w 1655078"/>
              <a:gd name="connsiteY6-32" fmla="*/ 38563 h 231375"/>
              <a:gd name="connsiteX7-33" fmla="*/ 38563 w 1655078"/>
              <a:gd name="connsiteY7-34" fmla="*/ 0 h 231375"/>
              <a:gd name="connsiteX0-35" fmla="*/ 38563 w 1657402"/>
              <a:gd name="connsiteY0-36" fmla="*/ 0 h 231375"/>
              <a:gd name="connsiteX1-37" fmla="*/ 1616515 w 1657402"/>
              <a:gd name="connsiteY1-38" fmla="*/ 0 h 231375"/>
              <a:gd name="connsiteX2-39" fmla="*/ 1655078 w 1657402"/>
              <a:gd name="connsiteY2-40" fmla="*/ 38563 h 231375"/>
              <a:gd name="connsiteX3-41" fmla="*/ 1657402 w 1657402"/>
              <a:gd name="connsiteY3-42" fmla="*/ 213709 h 231375"/>
              <a:gd name="connsiteX4-43" fmla="*/ 1655078 w 1657402"/>
              <a:gd name="connsiteY4-44" fmla="*/ 231375 h 231375"/>
              <a:gd name="connsiteX5-45" fmla="*/ 0 w 1657402"/>
              <a:gd name="connsiteY5-46" fmla="*/ 231375 h 231375"/>
              <a:gd name="connsiteX6-47" fmla="*/ 0 w 1657402"/>
              <a:gd name="connsiteY6-48" fmla="*/ 231375 h 231375"/>
              <a:gd name="connsiteX7-49" fmla="*/ 0 w 1657402"/>
              <a:gd name="connsiteY7-50" fmla="*/ 38563 h 231375"/>
              <a:gd name="connsiteX8-51" fmla="*/ 38563 w 1657402"/>
              <a:gd name="connsiteY8-52" fmla="*/ 0 h 231375"/>
              <a:gd name="connsiteX0-53" fmla="*/ 38563 w 1825307"/>
              <a:gd name="connsiteY0-54" fmla="*/ 0 h 231375"/>
              <a:gd name="connsiteX1-55" fmla="*/ 1616515 w 1825307"/>
              <a:gd name="connsiteY1-56" fmla="*/ 0 h 231375"/>
              <a:gd name="connsiteX2-57" fmla="*/ 1655078 w 1825307"/>
              <a:gd name="connsiteY2-58" fmla="*/ 38563 h 231375"/>
              <a:gd name="connsiteX3-59" fmla="*/ 1825307 w 1825307"/>
              <a:gd name="connsiteY3-60" fmla="*/ 217920 h 231375"/>
              <a:gd name="connsiteX4-61" fmla="*/ 1655078 w 1825307"/>
              <a:gd name="connsiteY4-62" fmla="*/ 231375 h 231375"/>
              <a:gd name="connsiteX5-63" fmla="*/ 0 w 1825307"/>
              <a:gd name="connsiteY5-64" fmla="*/ 231375 h 231375"/>
              <a:gd name="connsiteX6-65" fmla="*/ 0 w 1825307"/>
              <a:gd name="connsiteY6-66" fmla="*/ 231375 h 231375"/>
              <a:gd name="connsiteX7-67" fmla="*/ 0 w 1825307"/>
              <a:gd name="connsiteY7-68" fmla="*/ 38563 h 231375"/>
              <a:gd name="connsiteX8-69" fmla="*/ 38563 w 1825307"/>
              <a:gd name="connsiteY8-70" fmla="*/ 0 h 231375"/>
              <a:gd name="connsiteX0-71" fmla="*/ 38563 w 1825307"/>
              <a:gd name="connsiteY0-72" fmla="*/ 0 h 231375"/>
              <a:gd name="connsiteX1-73" fmla="*/ 1616515 w 1825307"/>
              <a:gd name="connsiteY1-74" fmla="*/ 0 h 231375"/>
              <a:gd name="connsiteX2-75" fmla="*/ 1655078 w 1825307"/>
              <a:gd name="connsiteY2-76" fmla="*/ 38563 h 231375"/>
              <a:gd name="connsiteX3-77" fmla="*/ 1825307 w 1825307"/>
              <a:gd name="connsiteY3-78" fmla="*/ 217920 h 231375"/>
              <a:gd name="connsiteX4-79" fmla="*/ 1655078 w 1825307"/>
              <a:gd name="connsiteY4-80" fmla="*/ 231375 h 231375"/>
              <a:gd name="connsiteX5-81" fmla="*/ 0 w 1825307"/>
              <a:gd name="connsiteY5-82" fmla="*/ 231375 h 231375"/>
              <a:gd name="connsiteX6-83" fmla="*/ 0 w 1825307"/>
              <a:gd name="connsiteY6-84" fmla="*/ 231375 h 231375"/>
              <a:gd name="connsiteX7-85" fmla="*/ 0 w 1825307"/>
              <a:gd name="connsiteY7-86" fmla="*/ 38563 h 231375"/>
              <a:gd name="connsiteX8-87" fmla="*/ 38563 w 1825307"/>
              <a:gd name="connsiteY8-88" fmla="*/ 0 h 231375"/>
              <a:gd name="connsiteX0-89" fmla="*/ 38563 w 1825307"/>
              <a:gd name="connsiteY0-90" fmla="*/ 0 h 231375"/>
              <a:gd name="connsiteX1-91" fmla="*/ 1616515 w 1825307"/>
              <a:gd name="connsiteY1-92" fmla="*/ 0 h 231375"/>
              <a:gd name="connsiteX2-93" fmla="*/ 1655078 w 1825307"/>
              <a:gd name="connsiteY2-94" fmla="*/ 38563 h 231375"/>
              <a:gd name="connsiteX3-95" fmla="*/ 1825307 w 1825307"/>
              <a:gd name="connsiteY3-96" fmla="*/ 217920 h 231375"/>
              <a:gd name="connsiteX4-97" fmla="*/ 1655078 w 1825307"/>
              <a:gd name="connsiteY4-98" fmla="*/ 231375 h 231375"/>
              <a:gd name="connsiteX5-99" fmla="*/ 0 w 1825307"/>
              <a:gd name="connsiteY5-100" fmla="*/ 231375 h 231375"/>
              <a:gd name="connsiteX6-101" fmla="*/ 0 w 1825307"/>
              <a:gd name="connsiteY6-102" fmla="*/ 231375 h 231375"/>
              <a:gd name="connsiteX7-103" fmla="*/ 0 w 1825307"/>
              <a:gd name="connsiteY7-104" fmla="*/ 38563 h 231375"/>
              <a:gd name="connsiteX8-105" fmla="*/ 38563 w 1825307"/>
              <a:gd name="connsiteY8-106" fmla="*/ 0 h 231375"/>
              <a:gd name="connsiteX0-107" fmla="*/ 38563 w 1825307"/>
              <a:gd name="connsiteY0-108" fmla="*/ 0 h 231375"/>
              <a:gd name="connsiteX1-109" fmla="*/ 1616515 w 1825307"/>
              <a:gd name="connsiteY1-110" fmla="*/ 0 h 231375"/>
              <a:gd name="connsiteX2-111" fmla="*/ 1655078 w 1825307"/>
              <a:gd name="connsiteY2-112" fmla="*/ 38563 h 231375"/>
              <a:gd name="connsiteX3-113" fmla="*/ 1825307 w 1825307"/>
              <a:gd name="connsiteY3-114" fmla="*/ 230557 h 231375"/>
              <a:gd name="connsiteX4-115" fmla="*/ 1655078 w 1825307"/>
              <a:gd name="connsiteY4-116" fmla="*/ 231375 h 231375"/>
              <a:gd name="connsiteX5-117" fmla="*/ 0 w 1825307"/>
              <a:gd name="connsiteY5-118" fmla="*/ 231375 h 231375"/>
              <a:gd name="connsiteX6-119" fmla="*/ 0 w 1825307"/>
              <a:gd name="connsiteY6-120" fmla="*/ 231375 h 231375"/>
              <a:gd name="connsiteX7-121" fmla="*/ 0 w 1825307"/>
              <a:gd name="connsiteY7-122" fmla="*/ 38563 h 231375"/>
              <a:gd name="connsiteX8-123" fmla="*/ 38563 w 1825307"/>
              <a:gd name="connsiteY8-124" fmla="*/ 0 h 231375"/>
              <a:gd name="connsiteX0-125" fmla="*/ 38563 w 1825307"/>
              <a:gd name="connsiteY0-126" fmla="*/ 0 h 231375"/>
              <a:gd name="connsiteX1-127" fmla="*/ 1616515 w 1825307"/>
              <a:gd name="connsiteY1-128" fmla="*/ 0 h 231375"/>
              <a:gd name="connsiteX2-129" fmla="*/ 1670343 w 1825307"/>
              <a:gd name="connsiteY2-130" fmla="*/ 40669 h 231375"/>
              <a:gd name="connsiteX3-131" fmla="*/ 1825307 w 1825307"/>
              <a:gd name="connsiteY3-132" fmla="*/ 230557 h 231375"/>
              <a:gd name="connsiteX4-133" fmla="*/ 1655078 w 1825307"/>
              <a:gd name="connsiteY4-134" fmla="*/ 231375 h 231375"/>
              <a:gd name="connsiteX5-135" fmla="*/ 0 w 1825307"/>
              <a:gd name="connsiteY5-136" fmla="*/ 231375 h 231375"/>
              <a:gd name="connsiteX6-137" fmla="*/ 0 w 1825307"/>
              <a:gd name="connsiteY6-138" fmla="*/ 231375 h 231375"/>
              <a:gd name="connsiteX7-139" fmla="*/ 0 w 1825307"/>
              <a:gd name="connsiteY7-140" fmla="*/ 38563 h 231375"/>
              <a:gd name="connsiteX8-141" fmla="*/ 38563 w 1825307"/>
              <a:gd name="connsiteY8-142" fmla="*/ 0 h 231375"/>
              <a:gd name="connsiteX0-143" fmla="*/ 38563 w 1825307"/>
              <a:gd name="connsiteY0-144" fmla="*/ 0 h 231375"/>
              <a:gd name="connsiteX1-145" fmla="*/ 1616515 w 1825307"/>
              <a:gd name="connsiteY1-146" fmla="*/ 0 h 231375"/>
              <a:gd name="connsiteX2-147" fmla="*/ 1670343 w 1825307"/>
              <a:gd name="connsiteY2-148" fmla="*/ 40669 h 231375"/>
              <a:gd name="connsiteX3-149" fmla="*/ 1825307 w 1825307"/>
              <a:gd name="connsiteY3-150" fmla="*/ 230557 h 231375"/>
              <a:gd name="connsiteX4-151" fmla="*/ 0 w 1825307"/>
              <a:gd name="connsiteY4-152" fmla="*/ 231375 h 231375"/>
              <a:gd name="connsiteX5-153" fmla="*/ 0 w 1825307"/>
              <a:gd name="connsiteY5-154" fmla="*/ 231375 h 231375"/>
              <a:gd name="connsiteX6-155" fmla="*/ 0 w 1825307"/>
              <a:gd name="connsiteY6-156" fmla="*/ 38563 h 231375"/>
              <a:gd name="connsiteX7-157" fmla="*/ 38563 w 1825307"/>
              <a:gd name="connsiteY7-158" fmla="*/ 0 h 231375"/>
              <a:gd name="connsiteX0-159" fmla="*/ 38563 w 1825307"/>
              <a:gd name="connsiteY0-160" fmla="*/ 0 h 231375"/>
              <a:gd name="connsiteX1-161" fmla="*/ 1616515 w 1825307"/>
              <a:gd name="connsiteY1-162" fmla="*/ 0 h 231375"/>
              <a:gd name="connsiteX2-163" fmla="*/ 1670343 w 1825307"/>
              <a:gd name="connsiteY2-164" fmla="*/ 40669 h 231375"/>
              <a:gd name="connsiteX3-165" fmla="*/ 1825307 w 1825307"/>
              <a:gd name="connsiteY3-166" fmla="*/ 230557 h 231375"/>
              <a:gd name="connsiteX4-167" fmla="*/ 0 w 1825307"/>
              <a:gd name="connsiteY4-168" fmla="*/ 231375 h 231375"/>
              <a:gd name="connsiteX5-169" fmla="*/ 0 w 1825307"/>
              <a:gd name="connsiteY5-170" fmla="*/ 231375 h 231375"/>
              <a:gd name="connsiteX6-171" fmla="*/ 0 w 1825307"/>
              <a:gd name="connsiteY6-172" fmla="*/ 38563 h 231375"/>
              <a:gd name="connsiteX7-173" fmla="*/ 38563 w 1825307"/>
              <a:gd name="connsiteY7-174" fmla="*/ 0 h 231375"/>
              <a:gd name="connsiteX0-175" fmla="*/ 38563 w 1825307"/>
              <a:gd name="connsiteY0-176" fmla="*/ 0 h 231375"/>
              <a:gd name="connsiteX1-177" fmla="*/ 1616515 w 1825307"/>
              <a:gd name="connsiteY1-178" fmla="*/ 0 h 231375"/>
              <a:gd name="connsiteX2-179" fmla="*/ 1670343 w 1825307"/>
              <a:gd name="connsiteY2-180" fmla="*/ 40669 h 231375"/>
              <a:gd name="connsiteX3-181" fmla="*/ 1825307 w 1825307"/>
              <a:gd name="connsiteY3-182" fmla="*/ 230557 h 231375"/>
              <a:gd name="connsiteX4-183" fmla="*/ 0 w 1825307"/>
              <a:gd name="connsiteY4-184" fmla="*/ 231375 h 231375"/>
              <a:gd name="connsiteX5-185" fmla="*/ 0 w 1825307"/>
              <a:gd name="connsiteY5-186" fmla="*/ 231375 h 231375"/>
              <a:gd name="connsiteX6-187" fmla="*/ 0 w 1825307"/>
              <a:gd name="connsiteY6-188" fmla="*/ 38563 h 231375"/>
              <a:gd name="connsiteX7-189" fmla="*/ 38563 w 1825307"/>
              <a:gd name="connsiteY7-190" fmla="*/ 0 h 231375"/>
              <a:gd name="connsiteX0-191" fmla="*/ 38563 w 1825307"/>
              <a:gd name="connsiteY0-192" fmla="*/ 0 h 231375"/>
              <a:gd name="connsiteX1-193" fmla="*/ 1616515 w 1825307"/>
              <a:gd name="connsiteY1-194" fmla="*/ 0 h 231375"/>
              <a:gd name="connsiteX2-195" fmla="*/ 1670343 w 1825307"/>
              <a:gd name="connsiteY2-196" fmla="*/ 40669 h 231375"/>
              <a:gd name="connsiteX3-197" fmla="*/ 1825307 w 1825307"/>
              <a:gd name="connsiteY3-198" fmla="*/ 230557 h 231375"/>
              <a:gd name="connsiteX4-199" fmla="*/ 0 w 1825307"/>
              <a:gd name="connsiteY4-200" fmla="*/ 231375 h 231375"/>
              <a:gd name="connsiteX5-201" fmla="*/ 0 w 1825307"/>
              <a:gd name="connsiteY5-202" fmla="*/ 231375 h 231375"/>
              <a:gd name="connsiteX6-203" fmla="*/ 0 w 1825307"/>
              <a:gd name="connsiteY6-204" fmla="*/ 38563 h 231375"/>
              <a:gd name="connsiteX7-205" fmla="*/ 38563 w 1825307"/>
              <a:gd name="connsiteY7-206" fmla="*/ 0 h 231375"/>
              <a:gd name="connsiteX0-207" fmla="*/ 38563 w 1825307"/>
              <a:gd name="connsiteY0-208" fmla="*/ 0 h 231375"/>
              <a:gd name="connsiteX1-209" fmla="*/ 1616515 w 1825307"/>
              <a:gd name="connsiteY1-210" fmla="*/ 0 h 231375"/>
              <a:gd name="connsiteX2-211" fmla="*/ 1670343 w 1825307"/>
              <a:gd name="connsiteY2-212" fmla="*/ 40669 h 231375"/>
              <a:gd name="connsiteX3-213" fmla="*/ 1825307 w 1825307"/>
              <a:gd name="connsiteY3-214" fmla="*/ 230557 h 231375"/>
              <a:gd name="connsiteX4-215" fmla="*/ 0 w 1825307"/>
              <a:gd name="connsiteY4-216" fmla="*/ 231375 h 231375"/>
              <a:gd name="connsiteX5-217" fmla="*/ 0 w 1825307"/>
              <a:gd name="connsiteY5-218" fmla="*/ 231375 h 231375"/>
              <a:gd name="connsiteX6-219" fmla="*/ 0 w 1825307"/>
              <a:gd name="connsiteY6-220" fmla="*/ 38563 h 231375"/>
              <a:gd name="connsiteX7-221" fmla="*/ 38563 w 1825307"/>
              <a:gd name="connsiteY7-222" fmla="*/ 0 h 231375"/>
              <a:gd name="connsiteX0-223" fmla="*/ 38563 w 1827851"/>
              <a:gd name="connsiteY0-224" fmla="*/ 0 h 249512"/>
              <a:gd name="connsiteX1-225" fmla="*/ 1616515 w 1827851"/>
              <a:gd name="connsiteY1-226" fmla="*/ 0 h 249512"/>
              <a:gd name="connsiteX2-227" fmla="*/ 1670343 w 1827851"/>
              <a:gd name="connsiteY2-228" fmla="*/ 40669 h 249512"/>
              <a:gd name="connsiteX3-229" fmla="*/ 1827851 w 1827851"/>
              <a:gd name="connsiteY3-230" fmla="*/ 249512 h 249512"/>
              <a:gd name="connsiteX4-231" fmla="*/ 0 w 1827851"/>
              <a:gd name="connsiteY4-232" fmla="*/ 231375 h 249512"/>
              <a:gd name="connsiteX5-233" fmla="*/ 0 w 1827851"/>
              <a:gd name="connsiteY5-234" fmla="*/ 231375 h 249512"/>
              <a:gd name="connsiteX6-235" fmla="*/ 0 w 1827851"/>
              <a:gd name="connsiteY6-236" fmla="*/ 38563 h 249512"/>
              <a:gd name="connsiteX7-237" fmla="*/ 38563 w 1827851"/>
              <a:gd name="connsiteY7-238" fmla="*/ 0 h 249512"/>
              <a:gd name="connsiteX0-239" fmla="*/ 38563 w 1827851"/>
              <a:gd name="connsiteY0-240" fmla="*/ 0 h 249512"/>
              <a:gd name="connsiteX1-241" fmla="*/ 1616515 w 1827851"/>
              <a:gd name="connsiteY1-242" fmla="*/ 0 h 249512"/>
              <a:gd name="connsiteX2-243" fmla="*/ 1670343 w 1827851"/>
              <a:gd name="connsiteY2-244" fmla="*/ 40669 h 249512"/>
              <a:gd name="connsiteX3-245" fmla="*/ 1827851 w 1827851"/>
              <a:gd name="connsiteY3-246" fmla="*/ 249512 h 249512"/>
              <a:gd name="connsiteX4-247" fmla="*/ 0 w 1827851"/>
              <a:gd name="connsiteY4-248" fmla="*/ 231375 h 249512"/>
              <a:gd name="connsiteX5-249" fmla="*/ 0 w 1827851"/>
              <a:gd name="connsiteY5-250" fmla="*/ 231375 h 249512"/>
              <a:gd name="connsiteX6-251" fmla="*/ 0 w 1827851"/>
              <a:gd name="connsiteY6-252" fmla="*/ 38563 h 249512"/>
              <a:gd name="connsiteX7-253" fmla="*/ 38563 w 1827851"/>
              <a:gd name="connsiteY7-254" fmla="*/ 0 h 249512"/>
              <a:gd name="connsiteX0-255" fmla="*/ 38563 w 1827851"/>
              <a:gd name="connsiteY0-256" fmla="*/ 0 h 249512"/>
              <a:gd name="connsiteX1-257" fmla="*/ 1585987 w 1827851"/>
              <a:gd name="connsiteY1-258" fmla="*/ 0 h 249512"/>
              <a:gd name="connsiteX2-259" fmla="*/ 1670343 w 1827851"/>
              <a:gd name="connsiteY2-260" fmla="*/ 40669 h 249512"/>
              <a:gd name="connsiteX3-261" fmla="*/ 1827851 w 1827851"/>
              <a:gd name="connsiteY3-262" fmla="*/ 249512 h 249512"/>
              <a:gd name="connsiteX4-263" fmla="*/ 0 w 1827851"/>
              <a:gd name="connsiteY4-264" fmla="*/ 231375 h 249512"/>
              <a:gd name="connsiteX5-265" fmla="*/ 0 w 1827851"/>
              <a:gd name="connsiteY5-266" fmla="*/ 231375 h 249512"/>
              <a:gd name="connsiteX6-267" fmla="*/ 0 w 1827851"/>
              <a:gd name="connsiteY6-268" fmla="*/ 38563 h 249512"/>
              <a:gd name="connsiteX7-269" fmla="*/ 38563 w 1827851"/>
              <a:gd name="connsiteY7-270" fmla="*/ 0 h 249512"/>
              <a:gd name="connsiteX0-271" fmla="*/ 38563 w 1827851"/>
              <a:gd name="connsiteY0-272" fmla="*/ 157 h 249669"/>
              <a:gd name="connsiteX1-273" fmla="*/ 1585987 w 1827851"/>
              <a:gd name="connsiteY1-274" fmla="*/ 157 h 249669"/>
              <a:gd name="connsiteX2-275" fmla="*/ 1670343 w 1827851"/>
              <a:gd name="connsiteY2-276" fmla="*/ 40826 h 249669"/>
              <a:gd name="connsiteX3-277" fmla="*/ 1827851 w 1827851"/>
              <a:gd name="connsiteY3-278" fmla="*/ 249669 h 249669"/>
              <a:gd name="connsiteX4-279" fmla="*/ 0 w 1827851"/>
              <a:gd name="connsiteY4-280" fmla="*/ 231532 h 249669"/>
              <a:gd name="connsiteX5-281" fmla="*/ 0 w 1827851"/>
              <a:gd name="connsiteY5-282" fmla="*/ 231532 h 249669"/>
              <a:gd name="connsiteX6-283" fmla="*/ 0 w 1827851"/>
              <a:gd name="connsiteY6-284" fmla="*/ 38720 h 249669"/>
              <a:gd name="connsiteX7-285" fmla="*/ 38563 w 1827851"/>
              <a:gd name="connsiteY7-286" fmla="*/ 157 h 249669"/>
              <a:gd name="connsiteX0-287" fmla="*/ 38563 w 1835483"/>
              <a:gd name="connsiteY0-288" fmla="*/ 157 h 247563"/>
              <a:gd name="connsiteX1-289" fmla="*/ 1585987 w 1835483"/>
              <a:gd name="connsiteY1-290" fmla="*/ 157 h 247563"/>
              <a:gd name="connsiteX2-291" fmla="*/ 1670343 w 1835483"/>
              <a:gd name="connsiteY2-292" fmla="*/ 40826 h 247563"/>
              <a:gd name="connsiteX3-293" fmla="*/ 1835483 w 1835483"/>
              <a:gd name="connsiteY3-294" fmla="*/ 247563 h 247563"/>
              <a:gd name="connsiteX4-295" fmla="*/ 0 w 1835483"/>
              <a:gd name="connsiteY4-296" fmla="*/ 231532 h 247563"/>
              <a:gd name="connsiteX5-297" fmla="*/ 0 w 1835483"/>
              <a:gd name="connsiteY5-298" fmla="*/ 231532 h 247563"/>
              <a:gd name="connsiteX6-299" fmla="*/ 0 w 1835483"/>
              <a:gd name="connsiteY6-300" fmla="*/ 38720 h 247563"/>
              <a:gd name="connsiteX7-301" fmla="*/ 38563 w 1835483"/>
              <a:gd name="connsiteY7-302" fmla="*/ 157 h 247563"/>
              <a:gd name="connsiteX0-303" fmla="*/ 38563 w 1835483"/>
              <a:gd name="connsiteY0-304" fmla="*/ 157 h 247563"/>
              <a:gd name="connsiteX1-305" fmla="*/ 1585987 w 1835483"/>
              <a:gd name="connsiteY1-306" fmla="*/ 157 h 247563"/>
              <a:gd name="connsiteX2-307" fmla="*/ 1670343 w 1835483"/>
              <a:gd name="connsiteY2-308" fmla="*/ 40826 h 247563"/>
              <a:gd name="connsiteX3-309" fmla="*/ 1835483 w 1835483"/>
              <a:gd name="connsiteY3-310" fmla="*/ 247563 h 247563"/>
              <a:gd name="connsiteX4-311" fmla="*/ 0 w 1835483"/>
              <a:gd name="connsiteY4-312" fmla="*/ 231532 h 247563"/>
              <a:gd name="connsiteX5-313" fmla="*/ 0 w 1835483"/>
              <a:gd name="connsiteY5-314" fmla="*/ 231532 h 247563"/>
              <a:gd name="connsiteX6-315" fmla="*/ 0 w 1835483"/>
              <a:gd name="connsiteY6-316" fmla="*/ 38720 h 247563"/>
              <a:gd name="connsiteX7-317" fmla="*/ 38563 w 1835483"/>
              <a:gd name="connsiteY7-318" fmla="*/ 157 h 24756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835483" h="247563">
                <a:moveTo>
                  <a:pt x="38563" y="157"/>
                </a:moveTo>
                <a:lnTo>
                  <a:pt x="1585987" y="157"/>
                </a:lnTo>
                <a:cubicBezTo>
                  <a:pt x="1632725" y="-1949"/>
                  <a:pt x="1644903" y="17421"/>
                  <a:pt x="1670343" y="40826"/>
                </a:cubicBezTo>
                <a:cubicBezTo>
                  <a:pt x="1724542" y="107632"/>
                  <a:pt x="1794004" y="187075"/>
                  <a:pt x="1835483" y="247563"/>
                </a:cubicBezTo>
                <a:lnTo>
                  <a:pt x="0" y="231532"/>
                </a:lnTo>
                <a:lnTo>
                  <a:pt x="0" y="231532"/>
                </a:lnTo>
                <a:lnTo>
                  <a:pt x="0" y="38720"/>
                </a:lnTo>
                <a:cubicBezTo>
                  <a:pt x="0" y="17422"/>
                  <a:pt x="17265" y="157"/>
                  <a:pt x="38563" y="157"/>
                </a:cubicBezTo>
                <a:close/>
              </a:path>
            </a:pathLst>
          </a:custGeom>
          <a:gradFill flip="none" rotWithShape="0">
            <a:gsLst>
              <a:gs pos="23000">
                <a:srgbClr val="B3D4FE"/>
              </a:gs>
              <a:gs pos="100000">
                <a:srgbClr val="3368FF"/>
              </a:gs>
            </a:gsLst>
            <a:lin ang="2700000" scaled="1"/>
            <a:tileRect/>
          </a:gradFill>
          <a:ln w="12700" cap="flat" cmpd="sng" algn="ctr">
            <a:noFill/>
            <a:prstDash val="solid"/>
            <a:miter lim="800000"/>
          </a:ln>
          <a:effectLst/>
        </p:spPr>
        <p:txBody>
          <a:bodyPr lIns="0" tIns="0" rIns="144000" bIns="36000" rtlCol="0" anchor="ctr">
            <a:noAutofit/>
          </a:bodyPr>
          <a:lstStyle/>
          <a:p>
            <a:pPr lvl="0" algn="l" defTabSz="457200">
              <a:buClrTx/>
              <a:buSzTx/>
              <a:buFontTx/>
              <a:defRPr>
                <a:latin typeface="微软雅黑"/>
                <a:ea typeface="微软雅黑"/>
                <a:cs typeface="微软雅黑"/>
              </a:defRPr>
            </a:pPr>
            <a:r>
              <a:rPr lang="en-US" sz="2000" b="1" kern="0" dirty="0">
                <a:solidFill>
                  <a:srgbClr val="383838"/>
                </a:solidFill>
                <a:latin typeface="微软雅黑"/>
                <a:ea typeface="微软雅黑"/>
                <a:cs typeface="微软雅黑"/>
                <a:sym typeface="微软雅黑"/>
              </a:rPr>
              <a:t>      </a:t>
            </a:r>
            <a:r>
              <a:rPr lang="en-US" sz="2000" b="1" kern="0" dirty="0">
                <a:solidFill>
                  <a:srgbClr val="383838"/>
                </a:solidFill>
                <a:latin typeface="微软雅黑"/>
                <a:ea typeface="微软雅黑"/>
                <a:cs typeface="微软雅黑"/>
                <a:sym typeface="微软雅黑"/>
              </a:rPr>
              <a:t>  </a:t>
            </a:r>
            <a:r>
              <a:rPr lang="zh-CN" altLang="en-US" sz="2000" b="1" kern="0" dirty="0">
                <a:solidFill>
                  <a:srgbClr val="383838"/>
                </a:solidFill>
                <a:latin typeface="微软雅黑"/>
                <a:ea typeface="微软雅黑"/>
                <a:cs typeface="微软雅黑"/>
                <a:sym typeface="微软雅黑"/>
              </a:rPr>
              <a:t>④</a:t>
            </a:r>
            <a:r>
              <a:rPr lang="en-US" sz="2000" b="1" kern="0" dirty="0">
                <a:solidFill>
                  <a:srgbClr val="383838"/>
                </a:solidFill>
                <a:latin typeface="微软雅黑"/>
                <a:ea typeface="微软雅黑"/>
                <a:cs typeface="微软雅黑"/>
                <a:sym typeface="微软雅黑"/>
              </a:rPr>
              <a:t>-</a:t>
            </a:r>
            <a:r>
              <a:rPr lang="zh-CN" altLang="en-US" sz="2000" b="1" kern="0" dirty="0">
                <a:solidFill>
                  <a:srgbClr val="383838"/>
                </a:solidFill>
                <a:latin typeface="微软雅黑"/>
                <a:ea typeface="微软雅黑"/>
                <a:cs typeface="微软雅黑"/>
                <a:sym typeface="微软雅黑"/>
              </a:rPr>
              <a:t>提案</a:t>
            </a:r>
            <a:endParaRPr lang="zh-CN" altLang="en-US" sz="2000" b="1" kern="0" dirty="0">
              <a:solidFill>
                <a:srgbClr val="383838"/>
              </a:solidFill>
              <a:latin typeface="微软雅黑"/>
              <a:ea typeface="微软雅黑"/>
              <a:cs typeface="微软雅黑"/>
              <a:sym typeface="微软雅黑"/>
            </a:endParaRPr>
          </a:p>
        </p:txBody>
      </p:sp>
      <p:sp>
        <p:nvSpPr>
          <p:cNvPr id="85" name="文本框 84"/>
          <p:cNvSpPr txBox="1"/>
          <p:nvPr>
            <p:custDataLst>
              <p:tags r:id="rId20"/>
            </p:custDataLst>
          </p:nvPr>
        </p:nvSpPr>
        <p:spPr>
          <a:xfrm>
            <a:off x="6311526" y="2612135"/>
            <a:ext cx="824224" cy="381998"/>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zh-CN" altLang="en-US" b="1">
                <a:solidFill>
                  <a:srgbClr val="FFFFFF"/>
                </a:solidFill>
                <a:cs typeface="微软雅黑"/>
                <a:latin typeface="微软雅黑"/>
                <a:ea typeface="微软雅黑"/>
              </a:rPr>
              <a:t>获客</a:t>
            </a:r>
            <a:endParaRPr lang="zh-CN" altLang="en-US" b="1">
              <a:solidFill>
                <a:srgbClr val="FFFFFF"/>
              </a:solidFill>
              <a:cs typeface="微软雅黑"/>
              <a:latin typeface="微软雅黑"/>
              <a:ea typeface="微软雅黑"/>
            </a:endParaRPr>
          </a:p>
        </p:txBody>
      </p:sp>
      <p:sp>
        <p:nvSpPr>
          <p:cNvPr id="86" name="椭圆 85"/>
          <p:cNvSpPr/>
          <p:nvPr/>
        </p:nvSpPr>
        <p:spPr>
          <a:xfrm>
            <a:off x="6004560" y="1983740"/>
            <a:ext cx="441960" cy="441960"/>
          </a:xfrm>
          <a:prstGeom prst="ellipse">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7" name="椭圆 86"/>
          <p:cNvSpPr/>
          <p:nvPr/>
        </p:nvSpPr>
        <p:spPr>
          <a:xfrm>
            <a:off x="7326630" y="3013710"/>
            <a:ext cx="441960" cy="441960"/>
          </a:xfrm>
          <a:prstGeom prst="ellipse">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88" name="椭圆 87"/>
          <p:cNvSpPr/>
          <p:nvPr/>
        </p:nvSpPr>
        <p:spPr>
          <a:xfrm>
            <a:off x="7198995" y="4511675"/>
            <a:ext cx="441960" cy="441960"/>
          </a:xfrm>
          <a:prstGeom prst="ellipse">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9" name="椭圆 88"/>
          <p:cNvSpPr/>
          <p:nvPr/>
        </p:nvSpPr>
        <p:spPr>
          <a:xfrm>
            <a:off x="5807075" y="5267325"/>
            <a:ext cx="441960" cy="441960"/>
          </a:xfrm>
          <a:prstGeom prst="ellipse">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90" name="椭圆 89"/>
          <p:cNvSpPr/>
          <p:nvPr/>
        </p:nvSpPr>
        <p:spPr>
          <a:xfrm>
            <a:off x="4507865" y="4316095"/>
            <a:ext cx="441960" cy="441960"/>
          </a:xfrm>
          <a:prstGeom prst="ellipse">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91" name="椭圆 90"/>
          <p:cNvSpPr/>
          <p:nvPr/>
        </p:nvSpPr>
        <p:spPr>
          <a:xfrm>
            <a:off x="4725035" y="2632075"/>
            <a:ext cx="441960" cy="441960"/>
          </a:xfrm>
          <a:prstGeom prst="ellipse">
            <a:avLst/>
          </a:prstGeom>
          <a:no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2" name="文本框 91"/>
          <p:cNvSpPr txBox="1"/>
          <p:nvPr>
            <p:custDataLst>
              <p:tags r:id="rId21"/>
            </p:custDataLst>
          </p:nvPr>
        </p:nvSpPr>
        <p:spPr>
          <a:xfrm>
            <a:off x="6816986" y="3749420"/>
            <a:ext cx="824224" cy="381998"/>
          </a:xfrm>
          <a:prstGeom prst="rect">
            <a:avLst/>
          </a:prstGeom>
          <a:noFill/>
        </p:spPr>
        <p:txBody>
          <a:bodyPr wrap="square" rtlCol="0" lIns="0" rIns="0" tIns="0" bIns="0">
            <a:noAutofit/>
          </a:bodyPr>
          <a:p>
            <a:pPr algn="ctr">
              <a:defRPr>
                <a:latin typeface="微软雅黑"/>
                <a:ea typeface="微软雅黑"/>
                <a:cs typeface="微软雅黑"/>
              </a:defRPr>
            </a:pPr>
            <a:r>
              <a:rPr lang="zh-CN" altLang="en-US" b="1">
                <a:solidFill>
                  <a:srgbClr val="383838"/>
                </a:solidFill>
                <a:cs typeface="微软雅黑"/>
                <a:latin typeface="微软雅黑"/>
                <a:ea typeface="微软雅黑"/>
              </a:rPr>
              <a:t>触客</a:t>
            </a:r>
            <a:endParaRPr lang="zh-CN" altLang="en-US" b="1">
              <a:solidFill>
                <a:srgbClr val="383838"/>
              </a:solidFill>
              <a:cs typeface="微软雅黑"/>
              <a:latin typeface="微软雅黑"/>
              <a:ea typeface="微软雅黑"/>
            </a:endParaRPr>
          </a:p>
        </p:txBody>
      </p:sp>
      <p:sp>
        <p:nvSpPr>
          <p:cNvPr id="93" name="文本框 92"/>
          <p:cNvSpPr txBox="1"/>
          <p:nvPr>
            <p:custDataLst>
              <p:tags r:id="rId22"/>
            </p:custDataLst>
          </p:nvPr>
        </p:nvSpPr>
        <p:spPr>
          <a:xfrm>
            <a:off x="6173731" y="4539360"/>
            <a:ext cx="824224" cy="381998"/>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zh-CN" altLang="en-US" b="1">
                <a:solidFill>
                  <a:srgbClr val="FFFFFF"/>
                </a:solidFill>
                <a:cs typeface="微软雅黑"/>
                <a:latin typeface="微软雅黑"/>
                <a:ea typeface="微软雅黑"/>
              </a:rPr>
              <a:t>识客</a:t>
            </a:r>
            <a:endParaRPr lang="zh-CN" altLang="en-US" b="1">
              <a:solidFill>
                <a:srgbClr val="FFFFFF"/>
              </a:solidFill>
              <a:cs typeface="微软雅黑"/>
              <a:latin typeface="微软雅黑"/>
              <a:ea typeface="微软雅黑"/>
            </a:endParaRPr>
          </a:p>
        </p:txBody>
      </p:sp>
      <p:sp>
        <p:nvSpPr>
          <p:cNvPr id="94" name="文本框 93"/>
          <p:cNvSpPr txBox="1"/>
          <p:nvPr>
            <p:custDataLst>
              <p:tags r:id="rId23"/>
            </p:custDataLst>
          </p:nvPr>
        </p:nvSpPr>
        <p:spPr>
          <a:xfrm>
            <a:off x="5167256" y="4623180"/>
            <a:ext cx="824224" cy="381998"/>
          </a:xfrm>
          <a:prstGeom prst="rect">
            <a:avLst/>
          </a:prstGeom>
          <a:noFill/>
        </p:spPr>
        <p:txBody>
          <a:bodyPr wrap="square" rtlCol="0" lIns="0" rIns="0" tIns="0" bIns="0">
            <a:noAutofit/>
          </a:bodyPr>
          <a:p>
            <a:pPr algn="ctr">
              <a:defRPr>
                <a:latin typeface="微软雅黑"/>
                <a:ea typeface="微软雅黑"/>
                <a:cs typeface="微软雅黑"/>
              </a:defRPr>
            </a:pPr>
            <a:r>
              <a:rPr lang="zh-CN" altLang="en-US" b="1">
                <a:solidFill>
                  <a:srgbClr val="383838"/>
                </a:solidFill>
                <a:cs typeface="微软雅黑"/>
                <a:latin typeface="微软雅黑"/>
                <a:ea typeface="微软雅黑"/>
              </a:rPr>
              <a:t>提案</a:t>
            </a:r>
            <a:endParaRPr lang="zh-CN" altLang="en-US" b="1">
              <a:solidFill>
                <a:srgbClr val="383838"/>
              </a:solidFill>
              <a:cs typeface="微软雅黑"/>
              <a:latin typeface="微软雅黑"/>
              <a:ea typeface="微软雅黑"/>
            </a:endParaRPr>
          </a:p>
        </p:txBody>
      </p:sp>
      <p:sp>
        <p:nvSpPr>
          <p:cNvPr id="100" name="文本框 99"/>
          <p:cNvSpPr txBox="1"/>
          <p:nvPr>
            <p:custDataLst>
              <p:tags r:id="rId24"/>
            </p:custDataLst>
          </p:nvPr>
        </p:nvSpPr>
        <p:spPr>
          <a:xfrm>
            <a:off x="4691641" y="3655440"/>
            <a:ext cx="824224" cy="381998"/>
          </a:xfrm>
          <a:prstGeom prst="rect">
            <a:avLst/>
          </a:prstGeom>
          <a:noFill/>
        </p:spPr>
        <p:txBody>
          <a:bodyPr wrap="square" rtlCol="0" lIns="0" rIns="0" tIns="0" bIns="0">
            <a:noAutofit/>
          </a:bodyPr>
          <a:p>
            <a:pPr algn="ctr">
              <a:defRPr>
                <a:solidFill>
                  <a:srgbClr val="FFFFFF"/>
                </a:solidFill>
                <a:latin typeface="微软雅黑"/>
                <a:ea typeface="微软雅黑"/>
                <a:cs typeface="微软雅黑"/>
              </a:defRPr>
            </a:pPr>
            <a:r>
              <a:rPr lang="zh-CN" altLang="en-US" b="1">
                <a:solidFill>
                  <a:srgbClr val="FFFFFF"/>
                </a:solidFill>
                <a:cs typeface="微软雅黑"/>
                <a:latin typeface="微软雅黑"/>
                <a:ea typeface="微软雅黑"/>
              </a:rPr>
              <a:t>谈判</a:t>
            </a:r>
            <a:endParaRPr lang="zh-CN" altLang="en-US" b="1">
              <a:solidFill>
                <a:srgbClr val="FFFFFF"/>
              </a:solidFill>
              <a:cs typeface="微软雅黑"/>
              <a:latin typeface="微软雅黑"/>
              <a:ea typeface="微软雅黑"/>
            </a:endParaRPr>
          </a:p>
        </p:txBody>
      </p:sp>
      <p:sp>
        <p:nvSpPr>
          <p:cNvPr id="101" name="文本框 100"/>
          <p:cNvSpPr txBox="1"/>
          <p:nvPr>
            <p:custDataLst>
              <p:tags r:id="rId25"/>
            </p:custDataLst>
          </p:nvPr>
        </p:nvSpPr>
        <p:spPr>
          <a:xfrm>
            <a:off x="5302511" y="2801365"/>
            <a:ext cx="824224" cy="381998"/>
          </a:xfrm>
          <a:prstGeom prst="rect">
            <a:avLst/>
          </a:prstGeom>
          <a:noFill/>
        </p:spPr>
        <p:txBody>
          <a:bodyPr wrap="square" rtlCol="0" lIns="0" rIns="0" tIns="0" bIns="0">
            <a:noAutofit/>
          </a:bodyPr>
          <a:p>
            <a:pPr algn="ctr">
              <a:defRPr>
                <a:latin typeface="微软雅黑"/>
                <a:ea typeface="微软雅黑"/>
                <a:cs typeface="微软雅黑"/>
              </a:defRPr>
            </a:pPr>
            <a:r>
              <a:rPr lang="zh-CN" altLang="en-US" b="1">
                <a:solidFill>
                  <a:srgbClr val="383838"/>
                </a:solidFill>
                <a:cs typeface="微软雅黑"/>
                <a:latin typeface="微软雅黑"/>
                <a:ea typeface="微软雅黑"/>
              </a:rPr>
              <a:t>成交</a:t>
            </a:r>
            <a:endParaRPr lang="zh-CN" altLang="en-US" b="1">
              <a:solidFill>
                <a:srgbClr val="383838"/>
              </a:solidFill>
              <a:cs typeface="微软雅黑"/>
              <a:latin typeface="微软雅黑"/>
              <a:ea typeface="微软雅黑"/>
            </a:endParaRPr>
          </a:p>
        </p:txBody>
      </p:sp>
      <p:sp>
        <p:nvSpPr>
          <p:cNvPr id="102" name="子陵职场PPT18"/>
          <p:cNvSpPr txBox="1"/>
          <p:nvPr/>
        </p:nvSpPr>
        <p:spPr>
          <a:xfrm>
            <a:off x="581660" y="5367655"/>
            <a:ext cx="2900680" cy="755015"/>
          </a:xfrm>
          <a:prstGeom prst="rect">
            <a:avLst/>
          </a:prstGeom>
          <a:noFill/>
        </p:spPr>
        <p:txBody>
          <a:bodyPr wrap="square">
            <a:spAutoFit/>
          </a:bodyPr>
          <a:lstStyle/>
          <a:p>
            <a:pPr algn="l">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构建客户听得懂的个性化的解决方案</a:t>
            </a:r>
            <a:endParaRPr lang="zh-CN" altLang="en-US" sz="1200" b="1" dirty="0">
              <a:solidFill>
                <a:srgbClr val="0042FF"/>
              </a:solidFill>
              <a:latin typeface="微软雅黑"/>
              <a:ea typeface="微软雅黑"/>
              <a:cs typeface="微软雅黑"/>
            </a:endParaRPr>
          </a:p>
          <a:p>
            <a:pPr algn="l">
              <a:lnSpc>
                <a:spcPct val="120000"/>
              </a:lnSpc>
              <a:defRPr>
                <a:latin typeface="微软雅黑"/>
                <a:ea typeface="微软雅黑"/>
                <a:cs typeface="微软雅黑"/>
              </a:defRPr>
            </a:pPr>
            <a:endParaRPr lang="en-US" altLang="zh-CN" sz="1200" b="1" dirty="0">
              <a:solidFill>
                <a:srgbClr val="0042FF"/>
              </a:solidFill>
              <a:latin typeface="微软雅黑"/>
              <a:ea typeface="微软雅黑"/>
              <a:cs typeface="微软雅黑"/>
            </a:endParaRPr>
          </a:p>
          <a:p>
            <a:pPr algn="l">
              <a:lnSpc>
                <a:spcPct val="120000"/>
              </a:lnSpc>
              <a:defRPr>
                <a:latin typeface="微软雅黑"/>
                <a:ea typeface="微软雅黑"/>
                <a:cs typeface="微软雅黑"/>
              </a:defRPr>
            </a:pPr>
            <a:endParaRPr lang="en-US" altLang="zh-CN" sz="1200" b="1" dirty="0">
              <a:solidFill>
                <a:srgbClr val="0042FF"/>
              </a:solidFill>
              <a:latin typeface="微软雅黑"/>
              <a:ea typeface="微软雅黑"/>
              <a:cs typeface="微软雅黑"/>
            </a:endParaRPr>
          </a:p>
        </p:txBody>
      </p:sp>
      <p:sp>
        <p:nvSpPr>
          <p:cNvPr id="103" name="Rectangle 60"/>
          <p:cNvSpPr/>
          <p:nvPr/>
        </p:nvSpPr>
        <p:spPr>
          <a:xfrm flipH="1">
            <a:off x="581660" y="5742940"/>
            <a:ext cx="2616835" cy="676910"/>
          </a:xfrm>
          <a:prstGeom prst="rect">
            <a:avLst/>
          </a:prstGeom>
        </p:spPr>
        <p:txBody>
          <a:bodyPr wrap="square" lIns="0" tIns="0" rIns="0" bIns="0" anchor="t" anchorCtr="0">
            <a:spAutoFit/>
          </a:bodyPr>
          <a:lstStyle/>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方案定制：</a:t>
            </a:r>
            <a:r>
              <a:rPr lang="zh-CN" altLang="en-US" sz="1000" dirty="0">
                <a:solidFill>
                  <a:srgbClr val="383838">
                    <a:alpha val="80000"/>
                  </a:srgbClr>
                </a:solidFill>
                <a:latin typeface="微软雅黑"/>
                <a:ea typeface="微软雅黑"/>
                <a:cs typeface="微软雅黑"/>
              </a:rPr>
              <a:t>基于前期诊断，制作针对性的演示材料或建议书。</a:t>
            </a:r>
            <a:endParaRPr lang="en-US" alt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共识确认：</a:t>
            </a:r>
            <a:r>
              <a:rPr lang="zh-CN" altLang="en-US" sz="1000" dirty="0">
                <a:solidFill>
                  <a:srgbClr val="383838">
                    <a:alpha val="80000"/>
                  </a:srgbClr>
                </a:solidFill>
                <a:latin typeface="微软雅黑"/>
                <a:ea typeface="微软雅黑"/>
                <a:cs typeface="微软雅黑"/>
              </a:rPr>
              <a:t>在提案过程中不断确认客户是否认可，消除认知偏差。</a:t>
            </a:r>
            <a:endParaRPr lang="zh-CN" altLang="en-US" sz="1000" dirty="0">
              <a:solidFill>
                <a:srgbClr val="383838">
                  <a:alpha val="80000"/>
                </a:srgbClr>
              </a:solidFill>
              <a:latin typeface="微软雅黑"/>
              <a:ea typeface="微软雅黑"/>
              <a:cs typeface="微软雅黑"/>
            </a:endParaRPr>
          </a:p>
        </p:txBody>
      </p:sp>
      <p:sp>
        <p:nvSpPr>
          <p:cNvPr id="104" name="子陵职场PPT18"/>
          <p:cNvSpPr txBox="1"/>
          <p:nvPr/>
        </p:nvSpPr>
        <p:spPr>
          <a:xfrm>
            <a:off x="566420" y="3482340"/>
            <a:ext cx="2900680" cy="312420"/>
          </a:xfrm>
          <a:prstGeom prst="rect">
            <a:avLst/>
          </a:prstGeom>
          <a:noFill/>
        </p:spPr>
        <p:txBody>
          <a:bodyPr wrap="square">
            <a:spAutoFit/>
          </a:bodyPr>
          <a:lstStyle/>
          <a:p>
            <a:pPr algn="l">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达成双方都能接受的合作条件</a:t>
            </a:r>
            <a:endParaRPr lang="zh-CN" altLang="en-US" sz="1200" b="1" dirty="0">
              <a:solidFill>
                <a:srgbClr val="0042FF"/>
              </a:solidFill>
              <a:latin typeface="微软雅黑"/>
              <a:ea typeface="微软雅黑"/>
              <a:cs typeface="微软雅黑"/>
            </a:endParaRPr>
          </a:p>
        </p:txBody>
      </p:sp>
      <p:sp>
        <p:nvSpPr>
          <p:cNvPr id="105" name="Rectangle 60"/>
          <p:cNvSpPr/>
          <p:nvPr/>
        </p:nvSpPr>
        <p:spPr>
          <a:xfrm flipH="1">
            <a:off x="566420" y="3857625"/>
            <a:ext cx="2541270" cy="676910"/>
          </a:xfrm>
          <a:prstGeom prst="rect">
            <a:avLst/>
          </a:prstGeom>
        </p:spPr>
        <p:txBody>
          <a:bodyPr wrap="square" lIns="0" tIns="0" rIns="0" bIns="0" anchor="t" anchorCtr="0">
            <a:spAutoFit/>
          </a:bodyPr>
          <a:lstStyle/>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异议疏导：</a:t>
            </a:r>
            <a:r>
              <a:rPr lang="zh-CN" altLang="en-US" sz="1000" dirty="0">
                <a:solidFill>
                  <a:srgbClr val="383838">
                    <a:alpha val="80000"/>
                  </a:srgbClr>
                </a:solidFill>
                <a:latin typeface="微软雅黑"/>
                <a:ea typeface="微软雅黑"/>
                <a:cs typeface="微软雅黑"/>
              </a:rPr>
              <a:t>预判并回应客户的顾虑（如性价比、切换风险），坚持等价交换原则。</a:t>
            </a:r>
            <a:endParaRPr lang="en-US" altLang="zh-CN"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条件磋商：</a:t>
            </a:r>
            <a:r>
              <a:rPr lang="zh-CN" altLang="en-US" sz="1000" dirty="0">
                <a:solidFill>
                  <a:srgbClr val="383838">
                    <a:alpha val="80000"/>
                  </a:srgbClr>
                </a:solidFill>
                <a:latin typeface="微软雅黑"/>
                <a:ea typeface="微软雅黑"/>
                <a:cs typeface="微软雅黑"/>
              </a:rPr>
              <a:t>在不突破底线的范围内灵活调整交付范围或付款方式。</a:t>
            </a:r>
            <a:endParaRPr lang="zh-CN" altLang="en-US" sz="1000" dirty="0">
              <a:solidFill>
                <a:srgbClr val="383838">
                  <a:alpha val="80000"/>
                </a:srgbClr>
              </a:solidFill>
              <a:latin typeface="微软雅黑"/>
              <a:ea typeface="微软雅黑"/>
              <a:cs typeface="微软雅黑"/>
            </a:endParaRPr>
          </a:p>
        </p:txBody>
      </p:sp>
      <p:sp>
        <p:nvSpPr>
          <p:cNvPr id="106" name="子陵职场PPT18"/>
          <p:cNvSpPr txBox="1"/>
          <p:nvPr/>
        </p:nvSpPr>
        <p:spPr>
          <a:xfrm>
            <a:off x="581660" y="1640840"/>
            <a:ext cx="2900680" cy="533400"/>
          </a:xfrm>
          <a:prstGeom prst="rect">
            <a:avLst/>
          </a:prstGeom>
          <a:noFill/>
        </p:spPr>
        <p:txBody>
          <a:bodyPr wrap="square">
            <a:spAutoFit/>
          </a:bodyPr>
          <a:lstStyle/>
          <a:p>
            <a:pPr algn="l">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rPr>
              <a:t>签订合同并非终点，是新一轮的起点</a:t>
            </a:r>
            <a:endParaRPr lang="zh-CN" altLang="en-US" sz="1200" b="1" dirty="0">
              <a:solidFill>
                <a:srgbClr val="0042FF"/>
              </a:solidFill>
              <a:latin typeface="微软雅黑"/>
              <a:ea typeface="微软雅黑"/>
              <a:cs typeface="微软雅黑"/>
            </a:endParaRPr>
          </a:p>
          <a:p>
            <a:pPr algn="l">
              <a:lnSpc>
                <a:spcPct val="120000"/>
              </a:lnSpc>
              <a:defRPr>
                <a:latin typeface="微软雅黑"/>
                <a:ea typeface="微软雅黑"/>
                <a:cs typeface="微软雅黑"/>
              </a:defRPr>
            </a:pPr>
            <a:endParaRPr lang="zh-CN" altLang="en-US" sz="1200" b="1" dirty="0">
              <a:solidFill>
                <a:srgbClr val="0042FF"/>
              </a:solidFill>
              <a:latin typeface="微软雅黑"/>
              <a:ea typeface="微软雅黑"/>
              <a:cs typeface="微软雅黑"/>
            </a:endParaRPr>
          </a:p>
        </p:txBody>
      </p:sp>
      <p:sp>
        <p:nvSpPr>
          <p:cNvPr id="107" name="Rectangle 60"/>
          <p:cNvSpPr/>
          <p:nvPr/>
        </p:nvSpPr>
        <p:spPr>
          <a:xfrm flipH="1">
            <a:off x="581660" y="2016125"/>
            <a:ext cx="2616835" cy="676910"/>
          </a:xfrm>
          <a:prstGeom prst="rect">
            <a:avLst/>
          </a:prstGeom>
        </p:spPr>
        <p:txBody>
          <a:bodyPr wrap="square" lIns="0" tIns="0" rIns="0" bIns="0" anchor="t" anchorCtr="0">
            <a:spAutoFit/>
          </a:bodyPr>
          <a:lstStyle/>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临门一脚：</a:t>
            </a:r>
            <a:r>
              <a:rPr lang="zh-CN" altLang="en-US" sz="1000" dirty="0">
                <a:solidFill>
                  <a:srgbClr val="383838">
                    <a:alpha val="80000"/>
                  </a:srgbClr>
                </a:solidFill>
                <a:latin typeface="微软雅黑"/>
                <a:ea typeface="微软雅黑"/>
                <a:cs typeface="微软雅黑"/>
              </a:rPr>
              <a:t>完成合同签署与款项回收，确保交易落袋为安。</a:t>
            </a:r>
            <a:endParaRPr lang="zh-CN" altLang="en-US" sz="1000" dirty="0">
              <a:solidFill>
                <a:srgbClr val="383838">
                  <a:alpha val="80000"/>
                </a:srgbClr>
              </a:solidFill>
              <a:latin typeface="微软雅黑"/>
              <a:ea typeface="微软雅黑"/>
              <a:cs typeface="微软雅黑"/>
            </a:endParaRPr>
          </a:p>
          <a:p>
            <a:pPr marL="171450" indent="-171450" algn="l" fontAlgn="auto">
              <a:lnSpc>
                <a:spcPct val="110000"/>
              </a:lnSpc>
              <a:spcBef>
                <a:spcPts val="0"/>
              </a:spcBef>
              <a:buFont typeface="微软雅黑"/>
              <a:buChar char="➢"/>
              <a:defRPr>
                <a:latin typeface="微软雅黑"/>
                <a:ea typeface="微软雅黑"/>
                <a:cs typeface="微软雅黑"/>
              </a:defRPr>
            </a:pPr>
            <a:r>
              <a:rPr lang="zh-CN" altLang="en-US" sz="1000" b="1" dirty="0">
                <a:solidFill>
                  <a:srgbClr val="383838">
                    <a:alpha val="80000"/>
                  </a:srgbClr>
                </a:solidFill>
                <a:latin typeface="微软雅黑"/>
                <a:ea typeface="微软雅黑"/>
                <a:cs typeface="微软雅黑"/>
              </a:rPr>
              <a:t>复盘转介：</a:t>
            </a:r>
            <a:r>
              <a:rPr lang="zh-CN" altLang="en-US" sz="1000" dirty="0">
                <a:solidFill>
                  <a:srgbClr val="383838">
                    <a:alpha val="80000"/>
                  </a:srgbClr>
                </a:solidFill>
                <a:latin typeface="微软雅黑"/>
                <a:ea typeface="微软雅黑"/>
                <a:cs typeface="微软雅黑"/>
              </a:rPr>
              <a:t>复盘本次销售过程中的得与失，沉淀经验用于优化第一步的</a:t>
            </a:r>
            <a:r>
              <a:rPr lang="en-US" altLang="zh-CN" sz="1000" dirty="0">
                <a:solidFill>
                  <a:srgbClr val="383838">
                    <a:alpha val="80000"/>
                  </a:srgbClr>
                </a:solidFill>
                <a:latin typeface="微软雅黑"/>
                <a:ea typeface="微软雅黑"/>
                <a:cs typeface="微软雅黑"/>
              </a:rPr>
              <a:t>“</a:t>
            </a:r>
            <a:r>
              <a:rPr lang="zh-CN" altLang="en-US" sz="1000" dirty="0">
                <a:solidFill>
                  <a:srgbClr val="383838">
                    <a:alpha val="80000"/>
                  </a:srgbClr>
                </a:solidFill>
                <a:latin typeface="微软雅黑"/>
                <a:ea typeface="微软雅黑"/>
                <a:cs typeface="微软雅黑"/>
              </a:rPr>
              <a:t>获客</a:t>
            </a:r>
            <a:r>
              <a:rPr lang="en-US" altLang="zh-CN" sz="1000" dirty="0">
                <a:solidFill>
                  <a:srgbClr val="383838">
                    <a:alpha val="80000"/>
                  </a:srgbClr>
                </a:solidFill>
                <a:latin typeface="微软雅黑"/>
                <a:ea typeface="微软雅黑"/>
                <a:cs typeface="微软雅黑"/>
              </a:rPr>
              <a:t>”</a:t>
            </a:r>
            <a:r>
              <a:rPr lang="zh-CN" altLang="en-US" sz="1000" dirty="0">
                <a:solidFill>
                  <a:srgbClr val="383838">
                    <a:alpha val="80000"/>
                  </a:srgbClr>
                </a:solidFill>
                <a:latin typeface="微软雅黑"/>
                <a:ea typeface="微软雅黑"/>
                <a:cs typeface="微软雅黑"/>
              </a:rPr>
              <a:t>策略。</a:t>
            </a:r>
            <a:endParaRPr lang="zh-CN" altLang="en-US" sz="1000" dirty="0">
              <a:solidFill>
                <a:srgbClr val="383838">
                  <a:alpha val="80000"/>
                </a:srgbClr>
              </a:solidFill>
              <a:latin typeface="微软雅黑"/>
              <a:ea typeface="微软雅黑"/>
              <a:cs typeface="微软雅黑"/>
            </a:endParaRPr>
          </a:p>
        </p:txBody>
      </p:sp>
      <p:pic>
        <p:nvPicPr>
          <p:cNvPr id="108" name="图片 107" descr="成交"/>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a:off x="574040" y="1216025"/>
            <a:ext cx="233045" cy="203835"/>
          </a:xfrm>
          <a:prstGeom prst="rect">
            <a:avLst/>
          </a:prstGeom>
        </p:spPr>
      </p:pic>
      <p:pic>
        <p:nvPicPr>
          <p:cNvPr id="109" name="图片 108" descr="Gc_101_face-FaceRecognition"/>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11336655" y="4912995"/>
            <a:ext cx="221615" cy="221615"/>
          </a:xfrm>
          <a:prstGeom prst="rect">
            <a:avLst/>
          </a:prstGeom>
        </p:spPr>
      </p:pic>
      <p:pic>
        <p:nvPicPr>
          <p:cNvPr id="110" name="图片 109" descr="我的提案"/>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567690" y="4867275"/>
            <a:ext cx="270510" cy="270510"/>
          </a:xfrm>
          <a:prstGeom prst="rect">
            <a:avLst/>
          </a:prstGeom>
        </p:spPr>
      </p:pic>
      <p:pic>
        <p:nvPicPr>
          <p:cNvPr id="111" name="图片 110" descr="完成谈判"/>
          <p:cNvPicPr>
            <a:picLocks noChangeAspect="1"/>
          </p:cNvPicPr>
          <p:nvPr/>
        </p:nvPicPr>
        <p:blipFill>
          <a:blip r:embed="rId32">
            <a:extLst>
              <a:ext uri="{96DAC541-7B7A-43D3-8B79-37D633B846F1}">
                <asvg:svgBlip xmlns:asvg="http://schemas.microsoft.com/office/drawing/2016/SVG/main" r:embed="rId33"/>
              </a:ext>
            </a:extLst>
          </a:blip>
          <a:stretch>
            <a:fillRect/>
          </a:stretch>
        </p:blipFill>
        <p:spPr>
          <a:xfrm>
            <a:off x="567690" y="3044825"/>
            <a:ext cx="245745" cy="245745"/>
          </a:xfrm>
          <a:prstGeom prst="rect">
            <a:avLst/>
          </a:prstGeom>
        </p:spPr>
      </p:pic>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4"/>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fill="hold"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循环逻辑架构 | </a:t>
            </a:r>
            <a:r>
              <a:rPr sz="2500">
                <a:solidFill>
                  <a:srgbClr val="383838"/>
                </a:solidFill>
                <a:effectLst/>
                <a:latin typeface="微软雅黑"/>
                <a:ea typeface="微软雅黑"/>
                <a:cs typeface="微软雅黑"/>
              </a:rPr>
              <a:t>产品项目管理流程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0" name="组合 59"/>
          <p:cNvGrpSpPr/>
          <p:nvPr/>
        </p:nvGrpSpPr>
        <p:grpSpPr>
          <a:xfrm>
            <a:off x="2259524" y="1789936"/>
            <a:ext cx="7672953" cy="4137798"/>
            <a:chOff x="2259524" y="1822594"/>
            <a:chExt cx="7672953" cy="4137798"/>
          </a:xfrm>
        </p:grpSpPr>
        <p:sp>
          <p:nvSpPr>
            <p:cNvPr id="63" name="矩形: 圆角 63"/>
            <p:cNvSpPr/>
            <p:nvPr/>
          </p:nvSpPr>
          <p:spPr>
            <a:xfrm>
              <a:off x="2259524" y="1822594"/>
              <a:ext cx="7672953" cy="4137798"/>
            </a:xfrm>
            <a:prstGeom prst="roundRect">
              <a:avLst>
                <a:gd name="adj" fmla="val 50000"/>
              </a:avLst>
            </a:prstGeom>
            <a:solidFill>
              <a:srgbClr val="E6E6E6">
                <a:alpha val="50000"/>
              </a:srgbClr>
            </a:solidFill>
            <a:ln w="12700" cap="flat" cmpd="sng" algn="ctr">
              <a:solidFill>
                <a:srgbClr val="FFFF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68" name="矩形: 圆角 63"/>
            <p:cNvSpPr/>
            <p:nvPr/>
          </p:nvSpPr>
          <p:spPr>
            <a:xfrm>
              <a:off x="3797483" y="3332142"/>
              <a:ext cx="4597036" cy="1118702"/>
            </a:xfrm>
            <a:prstGeom prst="roundRect">
              <a:avLst>
                <a:gd name="adj" fmla="val 50000"/>
              </a:avLst>
            </a:prstGeom>
            <a:solidFill>
              <a:srgbClr val="FFFF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69" name="矩形 68"/>
            <p:cNvSpPr/>
            <p:nvPr/>
          </p:nvSpPr>
          <p:spPr>
            <a:xfrm>
              <a:off x="4419905" y="4600099"/>
              <a:ext cx="3352192" cy="1156055"/>
            </a:xfrm>
            <a:prstGeom prst="rect">
              <a:avLst/>
            </a:prstGeom>
            <a:gradFill>
              <a:gsLst>
                <a:gs pos="0">
                  <a:srgbClr val="B3D4FE"/>
                </a:gs>
                <a:gs pos="100000">
                  <a:srgbClr val="3368FF"/>
                </a:gs>
              </a:gsLst>
              <a:lin ang="5400000" scaled="0"/>
            </a:gradFill>
            <a:ln>
              <a:noFill/>
            </a:ln>
            <a:effectLst/>
          </p:spPr>
          <p:txBody>
            <a:bodyPr vert="horz" wrap="square" lIns="0" tIns="0" rIns="0" bIns="0" numCol="1" rtlCol="0" anchor="t" anchorCtr="0" compatLnSpc="1">
              <a:noAutofit/>
            </a:bodyPr>
            <a:lstStyle/>
            <a:p>
              <a:pPr lvl="0" algn="l">
                <a:spcBef>
                  <a:spcPts val="0"/>
                </a:spcBef>
                <a:spcAft>
                  <a:spcPts val="0"/>
                </a:spcAft>
                <a:buClrTx/>
                <a:buSzTx/>
                <a:buFontTx/>
                <a:defRPr>
                  <a:latin typeface="微软雅黑"/>
                  <a:ea typeface="微软雅黑"/>
                  <a:cs typeface="微软雅黑"/>
                </a:defRPr>
              </a:pPr>
              <a:endParaRPr kern="0" noProof="0">
                <a:ln>
                  <a:noFill/>
                </a:ln>
                <a:solidFill>
                  <a:srgbClr val="383838"/>
                </a:solidFill>
                <a:effectLst/>
                <a:uLnTx/>
                <a:uFillTx/>
                <a:latin typeface="微软雅黑"/>
                <a:ea typeface="微软雅黑"/>
                <a:cs typeface="微软雅黑"/>
                <a:sym typeface="微软雅黑"/>
              </a:endParaRPr>
            </a:p>
          </p:txBody>
        </p:sp>
        <p:sp>
          <p:nvSpPr>
            <p:cNvPr id="70" name="矩形 69"/>
            <p:cNvSpPr/>
            <p:nvPr/>
          </p:nvSpPr>
          <p:spPr>
            <a:xfrm>
              <a:off x="4419905" y="2026728"/>
              <a:ext cx="3352192" cy="1156055"/>
            </a:xfrm>
            <a:prstGeom prst="rect">
              <a:avLst/>
            </a:prstGeom>
            <a:gradFill>
              <a:gsLst>
                <a:gs pos="0">
                  <a:srgbClr val="B3D4FE"/>
                </a:gs>
                <a:gs pos="100000">
                  <a:srgbClr val="3368FF"/>
                </a:gs>
              </a:gsLst>
              <a:lin ang="5400000" scaled="0"/>
            </a:gradFill>
            <a:ln>
              <a:noFill/>
            </a:ln>
            <a:effectLst/>
          </p:spPr>
          <p:txBody>
            <a:bodyPr vert="horz" wrap="square" lIns="0" tIns="0" rIns="0" bIns="0" numCol="1" rtlCol="0" anchor="t" anchorCtr="0" compatLnSpc="1">
              <a:noAutofit/>
            </a:bodyPr>
            <a:lstStyle/>
            <a:p>
              <a:pPr lvl="0" algn="l">
                <a:spcBef>
                  <a:spcPts val="0"/>
                </a:spcBef>
                <a:spcAft>
                  <a:spcPts val="0"/>
                </a:spcAft>
                <a:buClrTx/>
                <a:buSzTx/>
                <a:buFontTx/>
                <a:defRPr>
                  <a:latin typeface="微软雅黑"/>
                  <a:ea typeface="微软雅黑"/>
                  <a:cs typeface="微软雅黑"/>
                </a:defRPr>
              </a:pPr>
              <a:endParaRPr kern="0" noProof="0">
                <a:ln>
                  <a:noFill/>
                </a:ln>
                <a:solidFill>
                  <a:srgbClr val="383838"/>
                </a:solidFill>
                <a:effectLst/>
                <a:uLnTx/>
                <a:uFillTx/>
                <a:latin typeface="微软雅黑"/>
                <a:ea typeface="微软雅黑"/>
                <a:cs typeface="微软雅黑"/>
                <a:sym typeface="微软雅黑"/>
              </a:endParaRPr>
            </a:p>
          </p:txBody>
        </p:sp>
        <p:sp>
          <p:nvSpPr>
            <p:cNvPr id="104" name="Google Shape;480;p21"/>
            <p:cNvSpPr/>
            <p:nvPr/>
          </p:nvSpPr>
          <p:spPr>
            <a:xfrm>
              <a:off x="2754701" y="2026729"/>
              <a:ext cx="1548808" cy="1472353"/>
            </a:xfrm>
            <a:custGeom>
              <a:avLst/>
              <a:gdLst/>
              <a:ahLst/>
              <a:cxnLst/>
              <a:rect l="l" t="t" r="r" b="b"/>
              <a:pathLst>
                <a:path w="13370" h="12710" extrusionOk="0">
                  <a:moveTo>
                    <a:pt x="1" y="7714"/>
                  </a:moveTo>
                  <a:lnTo>
                    <a:pt x="5" y="7718"/>
                  </a:lnTo>
                  <a:lnTo>
                    <a:pt x="8650" y="12709"/>
                  </a:lnTo>
                  <a:cubicBezTo>
                    <a:pt x="9594" y="11085"/>
                    <a:pt x="11352" y="9991"/>
                    <a:pt x="13369" y="9991"/>
                  </a:cubicBezTo>
                  <a:lnTo>
                    <a:pt x="13369" y="9991"/>
                  </a:lnTo>
                  <a:lnTo>
                    <a:pt x="13369" y="1"/>
                  </a:lnTo>
                  <a:cubicBezTo>
                    <a:pt x="7657" y="1"/>
                    <a:pt x="2670" y="3104"/>
                    <a:pt x="1" y="7714"/>
                  </a:cubicBezTo>
                  <a:close/>
                </a:path>
              </a:pathLst>
            </a:custGeom>
            <a:gradFill>
              <a:gsLst>
                <a:gs pos="0">
                  <a:srgbClr val="3368FF"/>
                </a:gs>
                <a:gs pos="100000">
                  <a:srgbClr val="0042FF"/>
                </a:gs>
              </a:gsLst>
              <a:lin ang="5400000" scaled="0"/>
            </a:gradFill>
            <a:ln>
              <a:noFill/>
            </a:ln>
            <a:effectLst/>
          </p:spPr>
          <p:txBody>
            <a:bodyPr vert="horz" wrap="square" lIns="0" tIns="0" rIns="0" bIns="0" numCol="1" anchor="t" anchorCtr="0" compatLnSpc="1">
              <a:noAutofit/>
            </a:bodyPr>
            <a:lstStyle/>
            <a:p>
              <a:pPr lvl="0" algn="l">
                <a:spcBef>
                  <a:spcPts val="0"/>
                </a:spcBef>
                <a:spcAft>
                  <a:spcPts val="0"/>
                </a:spcAft>
                <a:buClrTx/>
                <a:buSzTx/>
                <a:buFontTx/>
                <a:defRPr>
                  <a:solidFill>
                    <a:srgbClr val="FFFFFF"/>
                  </a:solidFill>
                  <a:latin typeface="微软雅黑"/>
                  <a:ea typeface="微软雅黑"/>
                  <a:cs typeface="微软雅黑"/>
                </a:defRPr>
              </a:pPr>
              <a:endParaRPr kern="0" noProof="0">
                <a:ln>
                  <a:noFill/>
                </a:ln>
                <a:solidFill>
                  <a:srgbClr val="FFFFFF"/>
                </a:solidFill>
                <a:effectLst/>
                <a:uLnTx/>
                <a:uFillTx/>
                <a:latin typeface="微软雅黑"/>
                <a:ea typeface="微软雅黑"/>
                <a:cs typeface="微软雅黑"/>
                <a:sym typeface="微软雅黑"/>
              </a:endParaRPr>
            </a:p>
          </p:txBody>
        </p:sp>
        <p:sp>
          <p:nvSpPr>
            <p:cNvPr id="105" name="Google Shape;481;p21"/>
            <p:cNvSpPr/>
            <p:nvPr/>
          </p:nvSpPr>
          <p:spPr>
            <a:xfrm>
              <a:off x="7888493" y="2026729"/>
              <a:ext cx="1548808" cy="1472353"/>
            </a:xfrm>
            <a:custGeom>
              <a:avLst/>
              <a:gdLst/>
              <a:ahLst/>
              <a:cxnLst/>
              <a:rect l="l" t="t" r="r" b="b"/>
              <a:pathLst>
                <a:path w="13370" h="12710" extrusionOk="0">
                  <a:moveTo>
                    <a:pt x="1" y="9991"/>
                  </a:moveTo>
                  <a:cubicBezTo>
                    <a:pt x="2018" y="9991"/>
                    <a:pt x="3777" y="11085"/>
                    <a:pt x="4721" y="12709"/>
                  </a:cubicBezTo>
                  <a:lnTo>
                    <a:pt x="4721" y="12709"/>
                  </a:lnTo>
                  <a:lnTo>
                    <a:pt x="13366" y="7718"/>
                  </a:lnTo>
                  <a:lnTo>
                    <a:pt x="13370" y="7714"/>
                  </a:lnTo>
                  <a:cubicBezTo>
                    <a:pt x="10700" y="3104"/>
                    <a:pt x="5713" y="1"/>
                    <a:pt x="1" y="1"/>
                  </a:cubicBezTo>
                  <a:lnTo>
                    <a:pt x="1" y="1"/>
                  </a:lnTo>
                  <a:close/>
                </a:path>
              </a:pathLst>
            </a:custGeom>
            <a:gradFill>
              <a:gsLst>
                <a:gs pos="0">
                  <a:srgbClr val="3368FF"/>
                </a:gs>
                <a:gs pos="100000">
                  <a:srgbClr val="0042FF"/>
                </a:gs>
              </a:gsLst>
              <a:lin ang="5400000" scaled="0"/>
            </a:gradFill>
            <a:ln>
              <a:noFill/>
            </a:ln>
            <a:effectLst/>
          </p:spPr>
          <p:txBody>
            <a:bodyPr vert="horz" wrap="square" lIns="0" tIns="0" rIns="0" bIns="0" numCol="1" anchor="t" anchorCtr="0" compatLnSpc="1">
              <a:noAutofit/>
            </a:bodyPr>
            <a:lstStyle/>
            <a:p>
              <a:pPr lvl="0" algn="l">
                <a:spcBef>
                  <a:spcPts val="0"/>
                </a:spcBef>
                <a:spcAft>
                  <a:spcPts val="0"/>
                </a:spcAft>
                <a:buClrTx/>
                <a:buSzTx/>
                <a:buFontTx/>
                <a:defRPr>
                  <a:solidFill>
                    <a:srgbClr val="FFFFFF"/>
                  </a:solidFill>
                  <a:latin typeface="微软雅黑"/>
                  <a:ea typeface="微软雅黑"/>
                  <a:cs typeface="微软雅黑"/>
                </a:defRPr>
              </a:pPr>
              <a:endParaRPr kern="0" noProof="0">
                <a:ln>
                  <a:noFill/>
                </a:ln>
                <a:solidFill>
                  <a:srgbClr val="FFFFFF"/>
                </a:solidFill>
                <a:effectLst/>
                <a:uLnTx/>
                <a:uFillTx/>
                <a:latin typeface="微软雅黑"/>
                <a:ea typeface="微软雅黑"/>
                <a:cs typeface="微软雅黑"/>
                <a:sym typeface="微软雅黑"/>
              </a:endParaRPr>
            </a:p>
          </p:txBody>
        </p:sp>
        <p:sp>
          <p:nvSpPr>
            <p:cNvPr id="106" name="Google Shape;482;p21"/>
            <p:cNvSpPr/>
            <p:nvPr/>
          </p:nvSpPr>
          <p:spPr>
            <a:xfrm>
              <a:off x="2464172" y="2996788"/>
              <a:ext cx="1241480" cy="1788602"/>
            </a:xfrm>
            <a:custGeom>
              <a:avLst/>
              <a:gdLst/>
              <a:ahLst/>
              <a:cxnLst/>
              <a:rect l="l" t="t" r="r" b="b"/>
              <a:pathLst>
                <a:path w="10717" h="15440" extrusionOk="0">
                  <a:moveTo>
                    <a:pt x="1" y="7726"/>
                  </a:moveTo>
                  <a:cubicBezTo>
                    <a:pt x="1" y="10533"/>
                    <a:pt x="750" y="13171"/>
                    <a:pt x="2063" y="15439"/>
                  </a:cubicBezTo>
                  <a:lnTo>
                    <a:pt x="2063" y="15439"/>
                  </a:lnTo>
                  <a:lnTo>
                    <a:pt x="2075" y="15435"/>
                  </a:lnTo>
                  <a:lnTo>
                    <a:pt x="10712" y="10444"/>
                  </a:lnTo>
                  <a:cubicBezTo>
                    <a:pt x="10250" y="9646"/>
                    <a:pt x="9987" y="8714"/>
                    <a:pt x="9987" y="7726"/>
                  </a:cubicBezTo>
                  <a:lnTo>
                    <a:pt x="9987" y="7726"/>
                  </a:lnTo>
                  <a:cubicBezTo>
                    <a:pt x="9987" y="6729"/>
                    <a:pt x="10250" y="5798"/>
                    <a:pt x="10716" y="4996"/>
                  </a:cubicBezTo>
                  <a:lnTo>
                    <a:pt x="10716" y="4996"/>
                  </a:lnTo>
                  <a:lnTo>
                    <a:pt x="2075" y="0"/>
                  </a:lnTo>
                  <a:lnTo>
                    <a:pt x="2067" y="0"/>
                  </a:lnTo>
                  <a:cubicBezTo>
                    <a:pt x="754" y="2273"/>
                    <a:pt x="1" y="4910"/>
                    <a:pt x="1" y="7726"/>
                  </a:cubicBezTo>
                </a:path>
              </a:pathLst>
            </a:custGeom>
            <a:gradFill>
              <a:gsLst>
                <a:gs pos="0">
                  <a:srgbClr val="3368FF"/>
                </a:gs>
                <a:gs pos="100000">
                  <a:srgbClr val="0042FF"/>
                </a:gs>
              </a:gsLst>
              <a:lin ang="5400000" scaled="0"/>
            </a:gradFill>
            <a:ln>
              <a:noFill/>
            </a:ln>
            <a:effectLst/>
          </p:spPr>
          <p:txBody>
            <a:bodyPr vert="horz" wrap="square" lIns="0" tIns="0" rIns="0" bIns="0" numCol="1" anchor="t" anchorCtr="0" compatLnSpc="1">
              <a:noAutofit/>
            </a:bodyPr>
            <a:lstStyle/>
            <a:p>
              <a:pPr lvl="0" algn="l">
                <a:spcBef>
                  <a:spcPts val="0"/>
                </a:spcBef>
                <a:spcAft>
                  <a:spcPts val="0"/>
                </a:spcAft>
                <a:buClrTx/>
                <a:buSzTx/>
                <a:buFontTx/>
                <a:defRPr>
                  <a:solidFill>
                    <a:srgbClr val="FFFFFF"/>
                  </a:solidFill>
                  <a:latin typeface="微软雅黑"/>
                  <a:ea typeface="微软雅黑"/>
                  <a:cs typeface="微软雅黑"/>
                </a:defRPr>
              </a:pPr>
              <a:endParaRPr kern="0" noProof="0">
                <a:ln>
                  <a:noFill/>
                </a:ln>
                <a:solidFill>
                  <a:srgbClr val="FFFFFF"/>
                </a:solidFill>
                <a:effectLst/>
                <a:uLnTx/>
                <a:uFillTx/>
                <a:latin typeface="微软雅黑"/>
                <a:ea typeface="微软雅黑"/>
                <a:cs typeface="微软雅黑"/>
                <a:sym typeface="微软雅黑"/>
              </a:endParaRPr>
            </a:p>
          </p:txBody>
        </p:sp>
        <p:sp>
          <p:nvSpPr>
            <p:cNvPr id="107" name="Google Shape;483;p21"/>
            <p:cNvSpPr/>
            <p:nvPr/>
          </p:nvSpPr>
          <p:spPr>
            <a:xfrm>
              <a:off x="2753774" y="4283095"/>
              <a:ext cx="1549735" cy="1473164"/>
            </a:xfrm>
            <a:custGeom>
              <a:avLst/>
              <a:gdLst/>
              <a:ahLst/>
              <a:cxnLst/>
              <a:rect l="l" t="t" r="r" b="b"/>
              <a:pathLst>
                <a:path w="13378" h="12717" extrusionOk="0">
                  <a:moveTo>
                    <a:pt x="13" y="4987"/>
                  </a:moveTo>
                  <a:lnTo>
                    <a:pt x="0" y="4992"/>
                  </a:lnTo>
                  <a:cubicBezTo>
                    <a:pt x="2670" y="9610"/>
                    <a:pt x="7661" y="12717"/>
                    <a:pt x="13377" y="12717"/>
                  </a:cubicBezTo>
                  <a:lnTo>
                    <a:pt x="13377" y="12717"/>
                  </a:lnTo>
                  <a:lnTo>
                    <a:pt x="13377" y="12705"/>
                  </a:lnTo>
                  <a:lnTo>
                    <a:pt x="13377" y="2731"/>
                  </a:lnTo>
                  <a:cubicBezTo>
                    <a:pt x="11356" y="2731"/>
                    <a:pt x="9594" y="1633"/>
                    <a:pt x="8650" y="1"/>
                  </a:cubicBezTo>
                  <a:lnTo>
                    <a:pt x="8650" y="1"/>
                  </a:lnTo>
                  <a:close/>
                </a:path>
              </a:pathLst>
            </a:custGeom>
            <a:gradFill>
              <a:gsLst>
                <a:gs pos="0">
                  <a:srgbClr val="3368FF"/>
                </a:gs>
                <a:gs pos="100000">
                  <a:srgbClr val="0042FF"/>
                </a:gs>
              </a:gsLst>
              <a:lin ang="5400000" scaled="0"/>
            </a:gradFill>
            <a:ln>
              <a:noFill/>
            </a:ln>
            <a:effectLst/>
          </p:spPr>
          <p:txBody>
            <a:bodyPr vert="horz" wrap="square" lIns="0" tIns="0" rIns="0" bIns="0" numCol="1" anchor="t" anchorCtr="0" compatLnSpc="1">
              <a:noAutofit/>
            </a:bodyPr>
            <a:lstStyle/>
            <a:p>
              <a:pPr lvl="0" algn="l">
                <a:spcBef>
                  <a:spcPts val="0"/>
                </a:spcBef>
                <a:spcAft>
                  <a:spcPts val="0"/>
                </a:spcAft>
                <a:buClrTx/>
                <a:buSzTx/>
                <a:buFontTx/>
                <a:defRPr>
                  <a:solidFill>
                    <a:srgbClr val="FFFFFF"/>
                  </a:solidFill>
                  <a:latin typeface="微软雅黑"/>
                  <a:ea typeface="微软雅黑"/>
                  <a:cs typeface="微软雅黑"/>
                </a:defRPr>
              </a:pPr>
              <a:endParaRPr kern="0" noProof="0">
                <a:ln>
                  <a:noFill/>
                </a:ln>
                <a:solidFill>
                  <a:srgbClr val="FFFFFF"/>
                </a:solidFill>
                <a:effectLst/>
                <a:uLnTx/>
                <a:uFillTx/>
                <a:latin typeface="微软雅黑"/>
                <a:ea typeface="微软雅黑"/>
                <a:cs typeface="微软雅黑"/>
                <a:sym typeface="微软雅黑"/>
              </a:endParaRPr>
            </a:p>
          </p:txBody>
        </p:sp>
        <p:sp>
          <p:nvSpPr>
            <p:cNvPr id="108" name="Google Shape;484;p21"/>
            <p:cNvSpPr/>
            <p:nvPr/>
          </p:nvSpPr>
          <p:spPr>
            <a:xfrm>
              <a:off x="8486003" y="2996788"/>
              <a:ext cx="1241826" cy="1788602"/>
            </a:xfrm>
            <a:custGeom>
              <a:avLst/>
              <a:gdLst/>
              <a:ahLst/>
              <a:cxnLst/>
              <a:rect l="l" t="t" r="r" b="b"/>
              <a:pathLst>
                <a:path w="10720" h="15440" extrusionOk="0">
                  <a:moveTo>
                    <a:pt x="8645" y="0"/>
                  </a:moveTo>
                  <a:lnTo>
                    <a:pt x="0" y="4996"/>
                  </a:lnTo>
                  <a:cubicBezTo>
                    <a:pt x="466" y="5798"/>
                    <a:pt x="733" y="6729"/>
                    <a:pt x="733" y="7726"/>
                  </a:cubicBezTo>
                  <a:lnTo>
                    <a:pt x="733" y="7726"/>
                  </a:lnTo>
                  <a:cubicBezTo>
                    <a:pt x="733" y="8714"/>
                    <a:pt x="470" y="9646"/>
                    <a:pt x="8" y="10444"/>
                  </a:cubicBezTo>
                  <a:lnTo>
                    <a:pt x="8" y="10444"/>
                  </a:lnTo>
                  <a:lnTo>
                    <a:pt x="8645" y="15435"/>
                  </a:lnTo>
                  <a:lnTo>
                    <a:pt x="8657" y="15439"/>
                  </a:lnTo>
                  <a:cubicBezTo>
                    <a:pt x="9970" y="13171"/>
                    <a:pt x="10719" y="10533"/>
                    <a:pt x="10719" y="7726"/>
                  </a:cubicBezTo>
                  <a:lnTo>
                    <a:pt x="10719" y="7726"/>
                  </a:lnTo>
                  <a:cubicBezTo>
                    <a:pt x="10719" y="4910"/>
                    <a:pt x="9966" y="2273"/>
                    <a:pt x="8649" y="0"/>
                  </a:cubicBezTo>
                  <a:lnTo>
                    <a:pt x="8649" y="0"/>
                  </a:lnTo>
                  <a:close/>
                </a:path>
              </a:pathLst>
            </a:custGeom>
            <a:gradFill>
              <a:gsLst>
                <a:gs pos="0">
                  <a:srgbClr val="3368FF"/>
                </a:gs>
                <a:gs pos="100000">
                  <a:srgbClr val="0042FF"/>
                </a:gs>
              </a:gsLst>
              <a:lin ang="5400000" scaled="0"/>
            </a:gradFill>
            <a:ln>
              <a:noFill/>
            </a:ln>
            <a:effectLst/>
          </p:spPr>
          <p:txBody>
            <a:bodyPr vert="horz" wrap="square" lIns="0" tIns="0" rIns="0" bIns="0" numCol="1" anchor="t" anchorCtr="0" compatLnSpc="1">
              <a:noAutofit/>
            </a:bodyPr>
            <a:lstStyle/>
            <a:p>
              <a:pPr lvl="0" algn="l">
                <a:spcBef>
                  <a:spcPts val="0"/>
                </a:spcBef>
                <a:spcAft>
                  <a:spcPts val="0"/>
                </a:spcAft>
                <a:buClrTx/>
                <a:buSzTx/>
                <a:buFontTx/>
                <a:defRPr>
                  <a:solidFill>
                    <a:srgbClr val="FFFFFF"/>
                  </a:solidFill>
                  <a:latin typeface="微软雅黑"/>
                  <a:ea typeface="微软雅黑"/>
                  <a:cs typeface="微软雅黑"/>
                </a:defRPr>
              </a:pPr>
              <a:endParaRPr kern="0" noProof="0">
                <a:ln>
                  <a:noFill/>
                </a:ln>
                <a:solidFill>
                  <a:srgbClr val="FFFFFF"/>
                </a:solidFill>
                <a:effectLst/>
                <a:uLnTx/>
                <a:uFillTx/>
                <a:latin typeface="微软雅黑"/>
                <a:ea typeface="微软雅黑"/>
                <a:cs typeface="微软雅黑"/>
                <a:sym typeface="微软雅黑"/>
              </a:endParaRPr>
            </a:p>
          </p:txBody>
        </p:sp>
        <p:sp>
          <p:nvSpPr>
            <p:cNvPr id="109" name="Google Shape;485;p21"/>
            <p:cNvSpPr/>
            <p:nvPr/>
          </p:nvSpPr>
          <p:spPr>
            <a:xfrm>
              <a:off x="7888493" y="4283095"/>
              <a:ext cx="1549735" cy="1473164"/>
            </a:xfrm>
            <a:custGeom>
              <a:avLst/>
              <a:gdLst/>
              <a:ahLst/>
              <a:cxnLst/>
              <a:rect l="l" t="t" r="r" b="b"/>
              <a:pathLst>
                <a:path w="13378" h="12717" extrusionOk="0">
                  <a:moveTo>
                    <a:pt x="1" y="2731"/>
                  </a:moveTo>
                  <a:lnTo>
                    <a:pt x="1" y="12705"/>
                  </a:lnTo>
                  <a:lnTo>
                    <a:pt x="1" y="12717"/>
                  </a:lnTo>
                  <a:cubicBezTo>
                    <a:pt x="5717" y="12717"/>
                    <a:pt x="10708" y="9610"/>
                    <a:pt x="13378" y="4992"/>
                  </a:cubicBezTo>
                  <a:lnTo>
                    <a:pt x="13378" y="4992"/>
                  </a:lnTo>
                  <a:lnTo>
                    <a:pt x="13366" y="4987"/>
                  </a:lnTo>
                  <a:lnTo>
                    <a:pt x="4729" y="1"/>
                  </a:lnTo>
                  <a:cubicBezTo>
                    <a:pt x="3785" y="1633"/>
                    <a:pt x="2022" y="2731"/>
                    <a:pt x="1" y="2731"/>
                  </a:cubicBezTo>
                  <a:close/>
                </a:path>
              </a:pathLst>
            </a:custGeom>
            <a:gradFill>
              <a:gsLst>
                <a:gs pos="0">
                  <a:srgbClr val="3368FF"/>
                </a:gs>
                <a:gs pos="100000">
                  <a:srgbClr val="0042FF"/>
                </a:gs>
              </a:gsLst>
              <a:lin ang="5400000" scaled="0"/>
            </a:gradFill>
            <a:ln>
              <a:noFill/>
            </a:ln>
            <a:effectLst/>
          </p:spPr>
          <p:txBody>
            <a:bodyPr vert="horz" wrap="square" lIns="0" tIns="0" rIns="0" bIns="0" numCol="1" anchor="t" anchorCtr="0" compatLnSpc="1">
              <a:noAutofit/>
            </a:bodyPr>
            <a:lstStyle/>
            <a:p>
              <a:pPr lvl="0" algn="l">
                <a:spcBef>
                  <a:spcPts val="0"/>
                </a:spcBef>
                <a:spcAft>
                  <a:spcPts val="0"/>
                </a:spcAft>
                <a:buClrTx/>
                <a:buSzTx/>
                <a:buFontTx/>
                <a:defRPr>
                  <a:solidFill>
                    <a:srgbClr val="FFFFFF"/>
                  </a:solidFill>
                  <a:latin typeface="微软雅黑"/>
                  <a:ea typeface="微软雅黑"/>
                  <a:cs typeface="微软雅黑"/>
                </a:defRPr>
              </a:pPr>
              <a:endParaRPr kern="0" noProof="0">
                <a:ln>
                  <a:noFill/>
                </a:ln>
                <a:solidFill>
                  <a:srgbClr val="FFFFFF"/>
                </a:solidFill>
                <a:effectLst/>
                <a:uLnTx/>
                <a:uFillTx/>
                <a:latin typeface="微软雅黑"/>
                <a:ea typeface="微软雅黑"/>
                <a:cs typeface="微软雅黑"/>
                <a:sym typeface="微软雅黑"/>
              </a:endParaRPr>
            </a:p>
          </p:txBody>
        </p:sp>
        <p:sp>
          <p:nvSpPr>
            <p:cNvPr id="110" name="文本框 109"/>
            <p:cNvSpPr txBox="1"/>
            <p:nvPr/>
          </p:nvSpPr>
          <p:spPr>
            <a:xfrm>
              <a:off x="8082673" y="2649038"/>
              <a:ext cx="839260" cy="276999"/>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rPr>
                <a:t>98%</a:t>
              </a:r>
              <a:endPar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11" name="文本框 110"/>
            <p:cNvSpPr txBox="1"/>
            <p:nvPr/>
          </p:nvSpPr>
          <p:spPr>
            <a:xfrm>
              <a:off x="7966278" y="2858244"/>
              <a:ext cx="1072050" cy="215444"/>
            </a:xfrm>
            <a:prstGeom prst="rect">
              <a:avLst/>
            </a:prstGeom>
            <a:noFill/>
          </p:spPr>
          <p:txBody>
            <a:bodyPr wrap="square" rtlCol="0"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rPr>
                <a:t>准确度</a:t>
              </a:r>
              <a:endPar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12" name="Freeform 54"/>
            <p:cNvSpPr>
              <a:spLocks noEditPoints="1"/>
            </p:cNvSpPr>
            <p:nvPr/>
          </p:nvSpPr>
          <p:spPr bwMode="auto">
            <a:xfrm>
              <a:off x="3571848" y="2442874"/>
              <a:ext cx="267605" cy="198429"/>
            </a:xfrm>
            <a:custGeom>
              <a:avLst/>
              <a:gdLst/>
              <a:ahLst/>
              <a:cxnLst>
                <a:cxn ang="0">
                  <a:pos x="55" y="50"/>
                </a:cxn>
                <a:cxn ang="0">
                  <a:pos x="16" y="50"/>
                </a:cxn>
                <a:cxn ang="0">
                  <a:pos x="0" y="34"/>
                </a:cxn>
                <a:cxn ang="0">
                  <a:pos x="9" y="20"/>
                </a:cxn>
                <a:cxn ang="0">
                  <a:pos x="9" y="18"/>
                </a:cxn>
                <a:cxn ang="0">
                  <a:pos x="27" y="0"/>
                </a:cxn>
                <a:cxn ang="0">
                  <a:pos x="44" y="11"/>
                </a:cxn>
                <a:cxn ang="0">
                  <a:pos x="50" y="9"/>
                </a:cxn>
                <a:cxn ang="0">
                  <a:pos x="59" y="18"/>
                </a:cxn>
                <a:cxn ang="0">
                  <a:pos x="58" y="23"/>
                </a:cxn>
                <a:cxn ang="0">
                  <a:pos x="68" y="36"/>
                </a:cxn>
                <a:cxn ang="0">
                  <a:pos x="55" y="50"/>
                </a:cxn>
                <a:cxn ang="0">
                  <a:pos x="45" y="25"/>
                </a:cxn>
                <a:cxn ang="0">
                  <a:pos x="33" y="13"/>
                </a:cxn>
                <a:cxn ang="0">
                  <a:pos x="32" y="12"/>
                </a:cxn>
                <a:cxn ang="0">
                  <a:pos x="31" y="13"/>
                </a:cxn>
                <a:cxn ang="0">
                  <a:pos x="18" y="25"/>
                </a:cxn>
                <a:cxn ang="0">
                  <a:pos x="18" y="26"/>
                </a:cxn>
                <a:cxn ang="0">
                  <a:pos x="19" y="27"/>
                </a:cxn>
                <a:cxn ang="0">
                  <a:pos x="27" y="27"/>
                </a:cxn>
                <a:cxn ang="0">
                  <a:pos x="27" y="40"/>
                </a:cxn>
                <a:cxn ang="0">
                  <a:pos x="28" y="41"/>
                </a:cxn>
                <a:cxn ang="0">
                  <a:pos x="35" y="41"/>
                </a:cxn>
                <a:cxn ang="0">
                  <a:pos x="36" y="40"/>
                </a:cxn>
                <a:cxn ang="0">
                  <a:pos x="36" y="27"/>
                </a:cxn>
                <a:cxn ang="0">
                  <a:pos x="44" y="27"/>
                </a:cxn>
                <a:cxn ang="0">
                  <a:pos x="45" y="26"/>
                </a:cxn>
                <a:cxn ang="0">
                  <a:pos x="45" y="25"/>
                </a:cxn>
              </a:cxnLst>
              <a:rect l="0" t="0" r="r" b="b"/>
              <a:pathLst>
                <a:path w="68" h="50">
                  <a:moveTo>
                    <a:pt x="55" y="50"/>
                  </a:moveTo>
                  <a:cubicBezTo>
                    <a:pt x="16" y="50"/>
                    <a:pt x="16" y="50"/>
                    <a:pt x="16" y="50"/>
                  </a:cubicBezTo>
                  <a:cubicBezTo>
                    <a:pt x="7" y="50"/>
                    <a:pt x="0" y="43"/>
                    <a:pt x="0" y="34"/>
                  </a:cubicBezTo>
                  <a:cubicBezTo>
                    <a:pt x="0" y="28"/>
                    <a:pt x="3" y="22"/>
                    <a:pt x="9" y="20"/>
                  </a:cubicBezTo>
                  <a:cubicBezTo>
                    <a:pt x="9" y="19"/>
                    <a:pt x="9" y="19"/>
                    <a:pt x="9" y="18"/>
                  </a:cubicBezTo>
                  <a:cubicBezTo>
                    <a:pt x="9" y="8"/>
                    <a:pt x="17" y="0"/>
                    <a:pt x="27" y="0"/>
                  </a:cubicBezTo>
                  <a:cubicBezTo>
                    <a:pt x="35" y="0"/>
                    <a:pt x="41" y="4"/>
                    <a:pt x="44" y="11"/>
                  </a:cubicBezTo>
                  <a:cubicBezTo>
                    <a:pt x="46" y="10"/>
                    <a:pt x="48" y="9"/>
                    <a:pt x="50" y="9"/>
                  </a:cubicBezTo>
                  <a:cubicBezTo>
                    <a:pt x="55" y="9"/>
                    <a:pt x="59" y="13"/>
                    <a:pt x="59" y="18"/>
                  </a:cubicBezTo>
                  <a:cubicBezTo>
                    <a:pt x="59" y="20"/>
                    <a:pt x="59" y="22"/>
                    <a:pt x="58" y="23"/>
                  </a:cubicBezTo>
                  <a:cubicBezTo>
                    <a:pt x="64" y="25"/>
                    <a:pt x="68" y="30"/>
                    <a:pt x="68" y="36"/>
                  </a:cubicBezTo>
                  <a:cubicBezTo>
                    <a:pt x="68" y="44"/>
                    <a:pt x="62" y="50"/>
                    <a:pt x="55" y="50"/>
                  </a:cubicBezTo>
                  <a:close/>
                  <a:moveTo>
                    <a:pt x="45" y="25"/>
                  </a:moveTo>
                  <a:cubicBezTo>
                    <a:pt x="33" y="13"/>
                    <a:pt x="33" y="13"/>
                    <a:pt x="33" y="13"/>
                  </a:cubicBezTo>
                  <a:cubicBezTo>
                    <a:pt x="32" y="13"/>
                    <a:pt x="32" y="12"/>
                    <a:pt x="32" y="12"/>
                  </a:cubicBezTo>
                  <a:cubicBezTo>
                    <a:pt x="31" y="12"/>
                    <a:pt x="31" y="13"/>
                    <a:pt x="31" y="13"/>
                  </a:cubicBezTo>
                  <a:cubicBezTo>
                    <a:pt x="18" y="25"/>
                    <a:pt x="18" y="25"/>
                    <a:pt x="18" y="25"/>
                  </a:cubicBezTo>
                  <a:cubicBezTo>
                    <a:pt x="18" y="26"/>
                    <a:pt x="18" y="26"/>
                    <a:pt x="18" y="26"/>
                  </a:cubicBezTo>
                  <a:cubicBezTo>
                    <a:pt x="18" y="27"/>
                    <a:pt x="19" y="27"/>
                    <a:pt x="19" y="27"/>
                  </a:cubicBezTo>
                  <a:cubicBezTo>
                    <a:pt x="27" y="27"/>
                    <a:pt x="27" y="27"/>
                    <a:pt x="27" y="27"/>
                  </a:cubicBezTo>
                  <a:cubicBezTo>
                    <a:pt x="27" y="40"/>
                    <a:pt x="27" y="40"/>
                    <a:pt x="27" y="40"/>
                  </a:cubicBezTo>
                  <a:cubicBezTo>
                    <a:pt x="27" y="41"/>
                    <a:pt x="28" y="41"/>
                    <a:pt x="28" y="41"/>
                  </a:cubicBezTo>
                  <a:cubicBezTo>
                    <a:pt x="35" y="41"/>
                    <a:pt x="35" y="41"/>
                    <a:pt x="35" y="41"/>
                  </a:cubicBezTo>
                  <a:cubicBezTo>
                    <a:pt x="36" y="41"/>
                    <a:pt x="36" y="41"/>
                    <a:pt x="36" y="40"/>
                  </a:cubicBezTo>
                  <a:cubicBezTo>
                    <a:pt x="36" y="27"/>
                    <a:pt x="36" y="27"/>
                    <a:pt x="36" y="27"/>
                  </a:cubicBezTo>
                  <a:cubicBezTo>
                    <a:pt x="44" y="27"/>
                    <a:pt x="44" y="27"/>
                    <a:pt x="44" y="27"/>
                  </a:cubicBezTo>
                  <a:cubicBezTo>
                    <a:pt x="45" y="27"/>
                    <a:pt x="45" y="27"/>
                    <a:pt x="45" y="26"/>
                  </a:cubicBezTo>
                  <a:cubicBezTo>
                    <a:pt x="45" y="26"/>
                    <a:pt x="45" y="26"/>
                    <a:pt x="45" y="25"/>
                  </a:cubicBezTo>
                  <a:close/>
                </a:path>
              </a:pathLst>
            </a:custGeom>
            <a:solidFill>
              <a:srgbClr val="FFFFFF"/>
            </a:solidFill>
            <a:ln w="9525">
              <a:noFill/>
              <a:round/>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13" name="Freeform 56"/>
            <p:cNvSpPr>
              <a:spLocks noEditPoints="1"/>
            </p:cNvSpPr>
            <p:nvPr/>
          </p:nvSpPr>
          <p:spPr bwMode="auto">
            <a:xfrm>
              <a:off x="8375783" y="2375596"/>
              <a:ext cx="253043" cy="253043"/>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rgbClr val="FFFFFF"/>
            </a:solidFill>
            <a:ln w="9525">
              <a:noFill/>
              <a:round/>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14" name="Freeform 71"/>
            <p:cNvSpPr>
              <a:spLocks noEditPoints="1"/>
            </p:cNvSpPr>
            <p:nvPr/>
          </p:nvSpPr>
          <p:spPr bwMode="auto">
            <a:xfrm>
              <a:off x="2896629" y="3581432"/>
              <a:ext cx="231197" cy="216634"/>
            </a:xfrm>
            <a:custGeom>
              <a:avLst/>
              <a:gdLst/>
              <a:ahLst/>
              <a:cxnLst>
                <a:cxn ang="0">
                  <a:pos x="65" y="22"/>
                </a:cxn>
                <a:cxn ang="0">
                  <a:pos x="26" y="45"/>
                </a:cxn>
                <a:cxn ang="0">
                  <a:pos x="0" y="26"/>
                </a:cxn>
                <a:cxn ang="0">
                  <a:pos x="39" y="0"/>
                </a:cxn>
                <a:cxn ang="0">
                  <a:pos x="65" y="22"/>
                </a:cxn>
                <a:cxn ang="0">
                  <a:pos x="65" y="69"/>
                </a:cxn>
                <a:cxn ang="0">
                  <a:pos x="39" y="91"/>
                </a:cxn>
                <a:cxn ang="0">
                  <a:pos x="0" y="67"/>
                </a:cxn>
                <a:cxn ang="0">
                  <a:pos x="26" y="45"/>
                </a:cxn>
                <a:cxn ang="0">
                  <a:pos x="65" y="69"/>
                </a:cxn>
                <a:cxn ang="0">
                  <a:pos x="101" y="97"/>
                </a:cxn>
                <a:cxn ang="0">
                  <a:pos x="65" y="119"/>
                </a:cxn>
                <a:cxn ang="0">
                  <a:pos x="65" y="119"/>
                </a:cxn>
                <a:cxn ang="0">
                  <a:pos x="65" y="119"/>
                </a:cxn>
                <a:cxn ang="0">
                  <a:pos x="65" y="119"/>
                </a:cxn>
                <a:cxn ang="0">
                  <a:pos x="65" y="119"/>
                </a:cxn>
                <a:cxn ang="0">
                  <a:pos x="26" y="97"/>
                </a:cxn>
                <a:cxn ang="0">
                  <a:pos x="26" y="89"/>
                </a:cxn>
                <a:cxn ang="0">
                  <a:pos x="39" y="95"/>
                </a:cxn>
                <a:cxn ang="0">
                  <a:pos x="65" y="74"/>
                </a:cxn>
                <a:cxn ang="0">
                  <a:pos x="65" y="74"/>
                </a:cxn>
                <a:cxn ang="0">
                  <a:pos x="65" y="74"/>
                </a:cxn>
                <a:cxn ang="0">
                  <a:pos x="65" y="74"/>
                </a:cxn>
                <a:cxn ang="0">
                  <a:pos x="65" y="74"/>
                </a:cxn>
                <a:cxn ang="0">
                  <a:pos x="91" y="95"/>
                </a:cxn>
                <a:cxn ang="0">
                  <a:pos x="101" y="89"/>
                </a:cxn>
                <a:cxn ang="0">
                  <a:pos x="101" y="97"/>
                </a:cxn>
                <a:cxn ang="0">
                  <a:pos x="127" y="26"/>
                </a:cxn>
                <a:cxn ang="0">
                  <a:pos x="101" y="45"/>
                </a:cxn>
                <a:cxn ang="0">
                  <a:pos x="65" y="22"/>
                </a:cxn>
                <a:cxn ang="0">
                  <a:pos x="91" y="0"/>
                </a:cxn>
                <a:cxn ang="0">
                  <a:pos x="127" y="26"/>
                </a:cxn>
                <a:cxn ang="0">
                  <a:pos x="127" y="67"/>
                </a:cxn>
                <a:cxn ang="0">
                  <a:pos x="91" y="91"/>
                </a:cxn>
                <a:cxn ang="0">
                  <a:pos x="65" y="69"/>
                </a:cxn>
                <a:cxn ang="0">
                  <a:pos x="101" y="45"/>
                </a:cxn>
                <a:cxn ang="0">
                  <a:pos x="127" y="67"/>
                </a:cxn>
              </a:cxnLst>
              <a:rect l="0" t="0" r="r" b="b"/>
              <a:pathLst>
                <a:path w="127" h="119">
                  <a:moveTo>
                    <a:pt x="65" y="22"/>
                  </a:moveTo>
                  <a:lnTo>
                    <a:pt x="26" y="45"/>
                  </a:lnTo>
                  <a:lnTo>
                    <a:pt x="0" y="26"/>
                  </a:lnTo>
                  <a:lnTo>
                    <a:pt x="39" y="0"/>
                  </a:lnTo>
                  <a:lnTo>
                    <a:pt x="65" y="22"/>
                  </a:lnTo>
                  <a:close/>
                  <a:moveTo>
                    <a:pt x="65" y="69"/>
                  </a:moveTo>
                  <a:lnTo>
                    <a:pt x="39" y="91"/>
                  </a:lnTo>
                  <a:lnTo>
                    <a:pt x="0" y="67"/>
                  </a:lnTo>
                  <a:lnTo>
                    <a:pt x="26" y="45"/>
                  </a:lnTo>
                  <a:lnTo>
                    <a:pt x="65" y="69"/>
                  </a:lnTo>
                  <a:close/>
                  <a:moveTo>
                    <a:pt x="101" y="97"/>
                  </a:moveTo>
                  <a:lnTo>
                    <a:pt x="65" y="119"/>
                  </a:lnTo>
                  <a:lnTo>
                    <a:pt x="65" y="119"/>
                  </a:lnTo>
                  <a:lnTo>
                    <a:pt x="65" y="119"/>
                  </a:lnTo>
                  <a:lnTo>
                    <a:pt x="65" y="119"/>
                  </a:lnTo>
                  <a:lnTo>
                    <a:pt x="65" y="119"/>
                  </a:lnTo>
                  <a:lnTo>
                    <a:pt x="26" y="97"/>
                  </a:lnTo>
                  <a:lnTo>
                    <a:pt x="26" y="89"/>
                  </a:lnTo>
                  <a:lnTo>
                    <a:pt x="39" y="95"/>
                  </a:lnTo>
                  <a:lnTo>
                    <a:pt x="65" y="74"/>
                  </a:lnTo>
                  <a:lnTo>
                    <a:pt x="65" y="74"/>
                  </a:lnTo>
                  <a:lnTo>
                    <a:pt x="65" y="74"/>
                  </a:lnTo>
                  <a:lnTo>
                    <a:pt x="65" y="74"/>
                  </a:lnTo>
                  <a:lnTo>
                    <a:pt x="65" y="74"/>
                  </a:lnTo>
                  <a:lnTo>
                    <a:pt x="91" y="95"/>
                  </a:lnTo>
                  <a:lnTo>
                    <a:pt x="101" y="89"/>
                  </a:lnTo>
                  <a:lnTo>
                    <a:pt x="101" y="97"/>
                  </a:lnTo>
                  <a:close/>
                  <a:moveTo>
                    <a:pt x="127" y="26"/>
                  </a:moveTo>
                  <a:lnTo>
                    <a:pt x="101" y="45"/>
                  </a:lnTo>
                  <a:lnTo>
                    <a:pt x="65" y="22"/>
                  </a:lnTo>
                  <a:lnTo>
                    <a:pt x="91" y="0"/>
                  </a:lnTo>
                  <a:lnTo>
                    <a:pt x="127" y="26"/>
                  </a:lnTo>
                  <a:close/>
                  <a:moveTo>
                    <a:pt x="127" y="67"/>
                  </a:moveTo>
                  <a:lnTo>
                    <a:pt x="91" y="91"/>
                  </a:lnTo>
                  <a:lnTo>
                    <a:pt x="65" y="69"/>
                  </a:lnTo>
                  <a:lnTo>
                    <a:pt x="101" y="45"/>
                  </a:lnTo>
                  <a:lnTo>
                    <a:pt x="127" y="67"/>
                  </a:lnTo>
                  <a:close/>
                </a:path>
              </a:pathLst>
            </a:custGeom>
            <a:solidFill>
              <a:srgbClr val="FFFFFF"/>
            </a:solidFill>
            <a:ln w="9525">
              <a:noFill/>
              <a:round/>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15" name="Freeform 111"/>
            <p:cNvSpPr>
              <a:spLocks noEditPoints="1"/>
            </p:cNvSpPr>
            <p:nvPr/>
          </p:nvSpPr>
          <p:spPr bwMode="auto">
            <a:xfrm>
              <a:off x="3555741" y="4751681"/>
              <a:ext cx="287630" cy="198429"/>
            </a:xfrm>
            <a:custGeom>
              <a:avLst/>
              <a:gdLst/>
              <a:ahLst/>
              <a:cxnLst>
                <a:cxn ang="0">
                  <a:pos x="73" y="36"/>
                </a:cxn>
                <a:cxn ang="0">
                  <a:pos x="58" y="50"/>
                </a:cxn>
                <a:cxn ang="0">
                  <a:pos x="58" y="50"/>
                </a:cxn>
                <a:cxn ang="0">
                  <a:pos x="15" y="50"/>
                </a:cxn>
                <a:cxn ang="0">
                  <a:pos x="15" y="50"/>
                </a:cxn>
                <a:cxn ang="0">
                  <a:pos x="14" y="50"/>
                </a:cxn>
                <a:cxn ang="0">
                  <a:pos x="14" y="50"/>
                </a:cxn>
                <a:cxn ang="0">
                  <a:pos x="0" y="35"/>
                </a:cxn>
                <a:cxn ang="0">
                  <a:pos x="7" y="23"/>
                </a:cxn>
                <a:cxn ang="0">
                  <a:pos x="7" y="20"/>
                </a:cxn>
                <a:cxn ang="0">
                  <a:pos x="17" y="10"/>
                </a:cxn>
                <a:cxn ang="0">
                  <a:pos x="23" y="12"/>
                </a:cxn>
                <a:cxn ang="0">
                  <a:pos x="42" y="0"/>
                </a:cxn>
                <a:cxn ang="0">
                  <a:pos x="64" y="21"/>
                </a:cxn>
                <a:cxn ang="0">
                  <a:pos x="64" y="23"/>
                </a:cxn>
                <a:cxn ang="0">
                  <a:pos x="73" y="36"/>
                </a:cxn>
                <a:cxn ang="0">
                  <a:pos x="27" y="42"/>
                </a:cxn>
                <a:cxn ang="0">
                  <a:pos x="35" y="38"/>
                </a:cxn>
                <a:cxn ang="0">
                  <a:pos x="32" y="34"/>
                </a:cxn>
                <a:cxn ang="0">
                  <a:pos x="27" y="37"/>
                </a:cxn>
                <a:cxn ang="0">
                  <a:pos x="22" y="32"/>
                </a:cxn>
                <a:cxn ang="0">
                  <a:pos x="27" y="28"/>
                </a:cxn>
                <a:cxn ang="0">
                  <a:pos x="48" y="42"/>
                </a:cxn>
                <a:cxn ang="0">
                  <a:pos x="58" y="32"/>
                </a:cxn>
                <a:cxn ang="0">
                  <a:pos x="48" y="23"/>
                </a:cxn>
                <a:cxn ang="0">
                  <a:pos x="39" y="26"/>
                </a:cxn>
                <a:cxn ang="0">
                  <a:pos x="43" y="30"/>
                </a:cxn>
                <a:cxn ang="0">
                  <a:pos x="48" y="28"/>
                </a:cxn>
                <a:cxn ang="0">
                  <a:pos x="52" y="32"/>
                </a:cxn>
                <a:cxn ang="0">
                  <a:pos x="48" y="37"/>
                </a:cxn>
                <a:cxn ang="0">
                  <a:pos x="27" y="23"/>
                </a:cxn>
                <a:cxn ang="0">
                  <a:pos x="16" y="32"/>
                </a:cxn>
                <a:cxn ang="0">
                  <a:pos x="27" y="42"/>
                </a:cxn>
              </a:cxnLst>
              <a:rect l="0" t="0" r="r" b="b"/>
              <a:pathLst>
                <a:path w="73" h="50">
                  <a:moveTo>
                    <a:pt x="73" y="36"/>
                  </a:moveTo>
                  <a:cubicBezTo>
                    <a:pt x="73" y="44"/>
                    <a:pt x="66" y="50"/>
                    <a:pt x="58" y="50"/>
                  </a:cubicBezTo>
                  <a:cubicBezTo>
                    <a:pt x="58" y="50"/>
                    <a:pt x="58" y="50"/>
                    <a:pt x="58" y="50"/>
                  </a:cubicBezTo>
                  <a:cubicBezTo>
                    <a:pt x="15" y="50"/>
                    <a:pt x="15" y="50"/>
                    <a:pt x="15" y="50"/>
                  </a:cubicBezTo>
                  <a:cubicBezTo>
                    <a:pt x="15" y="50"/>
                    <a:pt x="15" y="50"/>
                    <a:pt x="15" y="50"/>
                  </a:cubicBezTo>
                  <a:cubicBezTo>
                    <a:pt x="14" y="50"/>
                    <a:pt x="14" y="50"/>
                    <a:pt x="14" y="50"/>
                  </a:cubicBezTo>
                  <a:cubicBezTo>
                    <a:pt x="14" y="50"/>
                    <a:pt x="14" y="50"/>
                    <a:pt x="14" y="50"/>
                  </a:cubicBezTo>
                  <a:cubicBezTo>
                    <a:pt x="6" y="50"/>
                    <a:pt x="0" y="43"/>
                    <a:pt x="0" y="35"/>
                  </a:cubicBezTo>
                  <a:cubicBezTo>
                    <a:pt x="0" y="30"/>
                    <a:pt x="3" y="26"/>
                    <a:pt x="7" y="23"/>
                  </a:cubicBezTo>
                  <a:cubicBezTo>
                    <a:pt x="7" y="22"/>
                    <a:pt x="7" y="21"/>
                    <a:pt x="7" y="20"/>
                  </a:cubicBezTo>
                  <a:cubicBezTo>
                    <a:pt x="7" y="15"/>
                    <a:pt x="11" y="10"/>
                    <a:pt x="17" y="10"/>
                  </a:cubicBezTo>
                  <a:cubicBezTo>
                    <a:pt x="19" y="10"/>
                    <a:pt x="21" y="11"/>
                    <a:pt x="23" y="12"/>
                  </a:cubicBezTo>
                  <a:cubicBezTo>
                    <a:pt x="26" y="5"/>
                    <a:pt x="34" y="0"/>
                    <a:pt x="42" y="0"/>
                  </a:cubicBezTo>
                  <a:cubicBezTo>
                    <a:pt x="54" y="0"/>
                    <a:pt x="64" y="10"/>
                    <a:pt x="64" y="21"/>
                  </a:cubicBezTo>
                  <a:cubicBezTo>
                    <a:pt x="64" y="22"/>
                    <a:pt x="64" y="22"/>
                    <a:pt x="64" y="23"/>
                  </a:cubicBezTo>
                  <a:cubicBezTo>
                    <a:pt x="69" y="25"/>
                    <a:pt x="73" y="30"/>
                    <a:pt x="73" y="36"/>
                  </a:cubicBezTo>
                  <a:close/>
                  <a:moveTo>
                    <a:pt x="27" y="42"/>
                  </a:moveTo>
                  <a:cubicBezTo>
                    <a:pt x="30" y="42"/>
                    <a:pt x="33" y="41"/>
                    <a:pt x="35" y="38"/>
                  </a:cubicBezTo>
                  <a:cubicBezTo>
                    <a:pt x="34" y="37"/>
                    <a:pt x="33" y="36"/>
                    <a:pt x="32" y="34"/>
                  </a:cubicBezTo>
                  <a:cubicBezTo>
                    <a:pt x="31" y="36"/>
                    <a:pt x="29" y="37"/>
                    <a:pt x="27" y="37"/>
                  </a:cubicBezTo>
                  <a:cubicBezTo>
                    <a:pt x="25" y="37"/>
                    <a:pt x="22" y="35"/>
                    <a:pt x="22" y="32"/>
                  </a:cubicBezTo>
                  <a:cubicBezTo>
                    <a:pt x="22" y="30"/>
                    <a:pt x="25" y="28"/>
                    <a:pt x="27" y="28"/>
                  </a:cubicBezTo>
                  <a:cubicBezTo>
                    <a:pt x="35" y="28"/>
                    <a:pt x="37" y="42"/>
                    <a:pt x="48" y="42"/>
                  </a:cubicBezTo>
                  <a:cubicBezTo>
                    <a:pt x="54" y="42"/>
                    <a:pt x="58" y="38"/>
                    <a:pt x="58" y="32"/>
                  </a:cubicBezTo>
                  <a:cubicBezTo>
                    <a:pt x="58" y="26"/>
                    <a:pt x="53" y="23"/>
                    <a:pt x="48" y="23"/>
                  </a:cubicBezTo>
                  <a:cubicBezTo>
                    <a:pt x="44" y="23"/>
                    <a:pt x="42" y="24"/>
                    <a:pt x="39" y="26"/>
                  </a:cubicBezTo>
                  <a:cubicBezTo>
                    <a:pt x="40" y="28"/>
                    <a:pt x="41" y="29"/>
                    <a:pt x="43" y="30"/>
                  </a:cubicBezTo>
                  <a:cubicBezTo>
                    <a:pt x="44" y="29"/>
                    <a:pt x="46" y="28"/>
                    <a:pt x="48" y="28"/>
                  </a:cubicBezTo>
                  <a:cubicBezTo>
                    <a:pt x="50" y="28"/>
                    <a:pt x="52" y="30"/>
                    <a:pt x="52" y="32"/>
                  </a:cubicBezTo>
                  <a:cubicBezTo>
                    <a:pt x="52" y="35"/>
                    <a:pt x="50" y="37"/>
                    <a:pt x="48" y="37"/>
                  </a:cubicBezTo>
                  <a:cubicBezTo>
                    <a:pt x="40" y="37"/>
                    <a:pt x="38" y="23"/>
                    <a:pt x="27" y="23"/>
                  </a:cubicBezTo>
                  <a:cubicBezTo>
                    <a:pt x="21" y="23"/>
                    <a:pt x="16" y="26"/>
                    <a:pt x="16" y="32"/>
                  </a:cubicBezTo>
                  <a:cubicBezTo>
                    <a:pt x="16" y="38"/>
                    <a:pt x="21" y="42"/>
                    <a:pt x="27" y="42"/>
                  </a:cubicBezTo>
                  <a:close/>
                </a:path>
              </a:pathLst>
            </a:custGeom>
            <a:solidFill>
              <a:srgbClr val="FFFFFF"/>
            </a:solidFill>
            <a:ln w="9525">
              <a:noFill/>
              <a:round/>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16" name="Freeform 136"/>
            <p:cNvSpPr>
              <a:spLocks noEditPoints="1"/>
            </p:cNvSpPr>
            <p:nvPr/>
          </p:nvSpPr>
          <p:spPr bwMode="auto">
            <a:xfrm>
              <a:off x="8328578" y="4732806"/>
              <a:ext cx="251221" cy="225735"/>
            </a:xfrm>
            <a:custGeom>
              <a:avLst/>
              <a:gdLst/>
              <a:ahLst/>
              <a:cxnLst>
                <a:cxn ang="0">
                  <a:pos x="23" y="39"/>
                </a:cxn>
                <a:cxn ang="0">
                  <a:pos x="21" y="41"/>
                </a:cxn>
                <a:cxn ang="0">
                  <a:pos x="20" y="41"/>
                </a:cxn>
                <a:cxn ang="0">
                  <a:pos x="19" y="40"/>
                </a:cxn>
                <a:cxn ang="0">
                  <a:pos x="0" y="22"/>
                </a:cxn>
                <a:cxn ang="0">
                  <a:pos x="0" y="19"/>
                </a:cxn>
                <a:cxn ang="0">
                  <a:pos x="19" y="1"/>
                </a:cxn>
                <a:cxn ang="0">
                  <a:pos x="21" y="0"/>
                </a:cxn>
                <a:cxn ang="0">
                  <a:pos x="23" y="2"/>
                </a:cxn>
                <a:cxn ang="0">
                  <a:pos x="23" y="5"/>
                </a:cxn>
                <a:cxn ang="0">
                  <a:pos x="8" y="19"/>
                </a:cxn>
                <a:cxn ang="0">
                  <a:pos x="8" y="22"/>
                </a:cxn>
                <a:cxn ang="0">
                  <a:pos x="23" y="36"/>
                </a:cxn>
                <a:cxn ang="0">
                  <a:pos x="23" y="39"/>
                </a:cxn>
                <a:cxn ang="0">
                  <a:pos x="58" y="57"/>
                </a:cxn>
                <a:cxn ang="0">
                  <a:pos x="57" y="57"/>
                </a:cxn>
                <a:cxn ang="0">
                  <a:pos x="57" y="57"/>
                </a:cxn>
                <a:cxn ang="0">
                  <a:pos x="56" y="56"/>
                </a:cxn>
                <a:cxn ang="0">
                  <a:pos x="52" y="36"/>
                </a:cxn>
                <a:cxn ang="0">
                  <a:pos x="36" y="30"/>
                </a:cxn>
                <a:cxn ang="0">
                  <a:pos x="36" y="39"/>
                </a:cxn>
                <a:cxn ang="0">
                  <a:pos x="35" y="41"/>
                </a:cxn>
                <a:cxn ang="0">
                  <a:pos x="34" y="41"/>
                </a:cxn>
                <a:cxn ang="0">
                  <a:pos x="32" y="40"/>
                </a:cxn>
                <a:cxn ang="0">
                  <a:pos x="14" y="22"/>
                </a:cxn>
                <a:cxn ang="0">
                  <a:pos x="14" y="19"/>
                </a:cxn>
                <a:cxn ang="0">
                  <a:pos x="32" y="1"/>
                </a:cxn>
                <a:cxn ang="0">
                  <a:pos x="35" y="0"/>
                </a:cxn>
                <a:cxn ang="0">
                  <a:pos x="36" y="2"/>
                </a:cxn>
                <a:cxn ang="0">
                  <a:pos x="36" y="12"/>
                </a:cxn>
                <a:cxn ang="0">
                  <a:pos x="58" y="20"/>
                </a:cxn>
                <a:cxn ang="0">
                  <a:pos x="64" y="38"/>
                </a:cxn>
                <a:cxn ang="0">
                  <a:pos x="58" y="57"/>
                </a:cxn>
              </a:cxnLst>
              <a:rect l="0" t="0" r="r" b="b"/>
              <a:pathLst>
                <a:path w="64" h="57">
                  <a:moveTo>
                    <a:pt x="23" y="39"/>
                  </a:moveTo>
                  <a:cubicBezTo>
                    <a:pt x="23" y="40"/>
                    <a:pt x="22" y="41"/>
                    <a:pt x="21" y="41"/>
                  </a:cubicBezTo>
                  <a:cubicBezTo>
                    <a:pt x="21" y="41"/>
                    <a:pt x="21" y="41"/>
                    <a:pt x="20" y="41"/>
                  </a:cubicBezTo>
                  <a:cubicBezTo>
                    <a:pt x="20" y="41"/>
                    <a:pt x="19" y="41"/>
                    <a:pt x="19" y="40"/>
                  </a:cubicBezTo>
                  <a:cubicBezTo>
                    <a:pt x="0" y="22"/>
                    <a:pt x="0" y="22"/>
                    <a:pt x="0" y="22"/>
                  </a:cubicBezTo>
                  <a:cubicBezTo>
                    <a:pt x="0" y="21"/>
                    <a:pt x="0" y="20"/>
                    <a:pt x="0" y="19"/>
                  </a:cubicBezTo>
                  <a:cubicBezTo>
                    <a:pt x="19" y="1"/>
                    <a:pt x="19" y="1"/>
                    <a:pt x="19" y="1"/>
                  </a:cubicBezTo>
                  <a:cubicBezTo>
                    <a:pt x="19" y="0"/>
                    <a:pt x="20" y="0"/>
                    <a:pt x="21" y="0"/>
                  </a:cubicBezTo>
                  <a:cubicBezTo>
                    <a:pt x="22" y="1"/>
                    <a:pt x="23" y="1"/>
                    <a:pt x="23" y="2"/>
                  </a:cubicBezTo>
                  <a:cubicBezTo>
                    <a:pt x="23" y="5"/>
                    <a:pt x="23" y="5"/>
                    <a:pt x="23" y="5"/>
                  </a:cubicBezTo>
                  <a:cubicBezTo>
                    <a:pt x="8" y="19"/>
                    <a:pt x="8" y="19"/>
                    <a:pt x="8" y="19"/>
                  </a:cubicBezTo>
                  <a:cubicBezTo>
                    <a:pt x="8" y="20"/>
                    <a:pt x="8" y="21"/>
                    <a:pt x="8" y="22"/>
                  </a:cubicBezTo>
                  <a:cubicBezTo>
                    <a:pt x="23" y="36"/>
                    <a:pt x="23" y="36"/>
                    <a:pt x="23" y="36"/>
                  </a:cubicBezTo>
                  <a:lnTo>
                    <a:pt x="23" y="39"/>
                  </a:lnTo>
                  <a:close/>
                  <a:moveTo>
                    <a:pt x="58" y="57"/>
                  </a:moveTo>
                  <a:cubicBezTo>
                    <a:pt x="58" y="57"/>
                    <a:pt x="57" y="57"/>
                    <a:pt x="57" y="57"/>
                  </a:cubicBezTo>
                  <a:cubicBezTo>
                    <a:pt x="57" y="57"/>
                    <a:pt x="57" y="57"/>
                    <a:pt x="57" y="57"/>
                  </a:cubicBezTo>
                  <a:cubicBezTo>
                    <a:pt x="56" y="57"/>
                    <a:pt x="56" y="56"/>
                    <a:pt x="56" y="56"/>
                  </a:cubicBezTo>
                  <a:cubicBezTo>
                    <a:pt x="57" y="46"/>
                    <a:pt x="56" y="40"/>
                    <a:pt x="52" y="36"/>
                  </a:cubicBezTo>
                  <a:cubicBezTo>
                    <a:pt x="49" y="32"/>
                    <a:pt x="44" y="31"/>
                    <a:pt x="36" y="30"/>
                  </a:cubicBezTo>
                  <a:cubicBezTo>
                    <a:pt x="36" y="39"/>
                    <a:pt x="36" y="39"/>
                    <a:pt x="36" y="39"/>
                  </a:cubicBezTo>
                  <a:cubicBezTo>
                    <a:pt x="36" y="40"/>
                    <a:pt x="36" y="41"/>
                    <a:pt x="35" y="41"/>
                  </a:cubicBezTo>
                  <a:cubicBezTo>
                    <a:pt x="35" y="41"/>
                    <a:pt x="34" y="41"/>
                    <a:pt x="34" y="41"/>
                  </a:cubicBezTo>
                  <a:cubicBezTo>
                    <a:pt x="33" y="41"/>
                    <a:pt x="33" y="41"/>
                    <a:pt x="32" y="40"/>
                  </a:cubicBezTo>
                  <a:cubicBezTo>
                    <a:pt x="14" y="22"/>
                    <a:pt x="14" y="22"/>
                    <a:pt x="14" y="22"/>
                  </a:cubicBezTo>
                  <a:cubicBezTo>
                    <a:pt x="13" y="21"/>
                    <a:pt x="13" y="20"/>
                    <a:pt x="14" y="19"/>
                  </a:cubicBezTo>
                  <a:cubicBezTo>
                    <a:pt x="32" y="1"/>
                    <a:pt x="32" y="1"/>
                    <a:pt x="32" y="1"/>
                  </a:cubicBezTo>
                  <a:cubicBezTo>
                    <a:pt x="33" y="0"/>
                    <a:pt x="34" y="0"/>
                    <a:pt x="35" y="0"/>
                  </a:cubicBezTo>
                  <a:cubicBezTo>
                    <a:pt x="36" y="1"/>
                    <a:pt x="36" y="1"/>
                    <a:pt x="36" y="2"/>
                  </a:cubicBezTo>
                  <a:cubicBezTo>
                    <a:pt x="36" y="12"/>
                    <a:pt x="36" y="12"/>
                    <a:pt x="36" y="12"/>
                  </a:cubicBezTo>
                  <a:cubicBezTo>
                    <a:pt x="46" y="12"/>
                    <a:pt x="53" y="15"/>
                    <a:pt x="58" y="20"/>
                  </a:cubicBezTo>
                  <a:cubicBezTo>
                    <a:pt x="63" y="25"/>
                    <a:pt x="64" y="33"/>
                    <a:pt x="64" y="38"/>
                  </a:cubicBezTo>
                  <a:cubicBezTo>
                    <a:pt x="64" y="45"/>
                    <a:pt x="58" y="56"/>
                    <a:pt x="58" y="57"/>
                  </a:cubicBezTo>
                  <a:close/>
                </a:path>
              </a:pathLst>
            </a:custGeom>
            <a:solidFill>
              <a:srgbClr val="FFFFFF"/>
            </a:solidFill>
            <a:ln w="9525">
              <a:noFill/>
              <a:round/>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17" name="文本框 116"/>
            <p:cNvSpPr txBox="1"/>
            <p:nvPr/>
          </p:nvSpPr>
          <p:spPr>
            <a:xfrm>
              <a:off x="8628825" y="4048732"/>
              <a:ext cx="1072050" cy="215444"/>
            </a:xfrm>
            <a:prstGeom prst="rect">
              <a:avLst/>
            </a:prstGeom>
            <a:noFill/>
          </p:spPr>
          <p:txBody>
            <a:bodyPr wrap="square" rtlCol="0"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rPr>
                <a:t>响应率</a:t>
              </a:r>
              <a:endPar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18" name="文本框 117"/>
            <p:cNvSpPr txBox="1"/>
            <p:nvPr/>
          </p:nvSpPr>
          <p:spPr>
            <a:xfrm>
              <a:off x="8138517" y="4951989"/>
              <a:ext cx="666981" cy="276999"/>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rPr>
                <a:t>8</a:t>
              </a:r>
              <a:r>
                <a:rPr kumimoji="0" lang="zh-CN" altLang="en-US" sz="1200" u="none" strike="noStrike" kern="0" cap="none" spc="0" normalizeH="0" baseline="0" noProof="0" dirty="0">
                  <a:ln>
                    <a:noFill/>
                  </a:ln>
                  <a:solidFill>
                    <a:srgbClr val="FFFFFF"/>
                  </a:solidFill>
                  <a:effectLst/>
                  <a:uLnTx/>
                  <a:uFillTx/>
                  <a:latin typeface="微软雅黑"/>
                  <a:ea typeface="微软雅黑"/>
                  <a:cs typeface="微软雅黑"/>
                </a:rPr>
                <a:t>个</a:t>
              </a:r>
              <a:endParaRPr kumimoji="0" lang="zh-CN" altLang="en-US" sz="12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19" name="文本框 118"/>
            <p:cNvSpPr txBox="1"/>
            <p:nvPr/>
          </p:nvSpPr>
          <p:spPr>
            <a:xfrm>
              <a:off x="7935982" y="5161195"/>
              <a:ext cx="1072050" cy="215444"/>
            </a:xfrm>
            <a:prstGeom prst="rect">
              <a:avLst/>
            </a:prstGeom>
            <a:noFill/>
          </p:spPr>
          <p:txBody>
            <a:bodyPr wrap="square" rtlCol="0"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rPr>
                <a:t>配色</a:t>
              </a:r>
              <a:endPar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20" name="文本框 119"/>
            <p:cNvSpPr txBox="1"/>
            <p:nvPr/>
          </p:nvSpPr>
          <p:spPr>
            <a:xfrm>
              <a:off x="3392166" y="2629695"/>
              <a:ext cx="671981" cy="276999"/>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rPr>
                <a:t>7</a:t>
              </a:r>
              <a:r>
                <a:rPr kumimoji="0" lang="zh-CN" altLang="en-US" sz="1200" u="none" strike="noStrike" kern="0" cap="none" spc="0" normalizeH="0" baseline="0" noProof="0" dirty="0">
                  <a:ln>
                    <a:noFill/>
                  </a:ln>
                  <a:solidFill>
                    <a:srgbClr val="FFFFFF"/>
                  </a:solidFill>
                  <a:effectLst/>
                  <a:uLnTx/>
                  <a:uFillTx/>
                  <a:latin typeface="微软雅黑"/>
                  <a:ea typeface="微软雅黑"/>
                  <a:cs typeface="微软雅黑"/>
                </a:rPr>
                <a:t>天</a:t>
              </a:r>
              <a:endParaRPr kumimoji="0" lang="zh-CN" altLang="en-US" sz="12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21" name="文本框 120"/>
            <p:cNvSpPr txBox="1"/>
            <p:nvPr/>
          </p:nvSpPr>
          <p:spPr>
            <a:xfrm>
              <a:off x="3192131" y="2838902"/>
              <a:ext cx="1072050" cy="215444"/>
            </a:xfrm>
            <a:prstGeom prst="rect">
              <a:avLst/>
            </a:prstGeom>
            <a:noFill/>
          </p:spPr>
          <p:txBody>
            <a:bodyPr wrap="square" rtlCol="0"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rPr>
                <a:t>续航水平</a:t>
              </a:r>
              <a:endPar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22" name="文本框 121"/>
            <p:cNvSpPr txBox="1"/>
            <p:nvPr/>
          </p:nvSpPr>
          <p:spPr>
            <a:xfrm>
              <a:off x="2760207" y="3788635"/>
              <a:ext cx="504041" cy="276999"/>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rPr>
                <a:t>99+</a:t>
              </a:r>
              <a:endPar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23" name="文本框 122"/>
            <p:cNvSpPr txBox="1"/>
            <p:nvPr/>
          </p:nvSpPr>
          <p:spPr>
            <a:xfrm>
              <a:off x="2476203" y="3997842"/>
              <a:ext cx="1072050" cy="215444"/>
            </a:xfrm>
            <a:prstGeom prst="rect">
              <a:avLst/>
            </a:prstGeom>
            <a:noFill/>
          </p:spPr>
          <p:txBody>
            <a:bodyPr wrap="square" rtlCol="0"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rPr>
                <a:t>支持</a:t>
              </a:r>
              <a:r>
                <a:rPr kumimoji="0" lang="en-US" altLang="zh-CN" sz="1000" u="none" strike="noStrike" kern="0" cap="none" spc="0" normalizeH="0" baseline="0" noProof="0" dirty="0">
                  <a:ln>
                    <a:noFill/>
                  </a:ln>
                  <a:solidFill>
                    <a:srgbClr val="FFFFFF"/>
                  </a:solidFill>
                  <a:effectLst/>
                  <a:uLnTx/>
                  <a:uFillTx/>
                  <a:latin typeface="微软雅黑"/>
                  <a:ea typeface="微软雅黑"/>
                  <a:cs typeface="微软雅黑"/>
                </a:rPr>
                <a:t>APP</a:t>
              </a:r>
              <a:endParaRPr kumimoji="0" lang="en-US" altLang="zh-CN" sz="10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24" name="文本框 123"/>
            <p:cNvSpPr txBox="1"/>
            <p:nvPr/>
          </p:nvSpPr>
          <p:spPr>
            <a:xfrm>
              <a:off x="3265416" y="4932646"/>
              <a:ext cx="864888" cy="276999"/>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rPr>
                <a:t>99%</a:t>
              </a:r>
              <a:endPar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25" name="文本框 124"/>
            <p:cNvSpPr txBox="1"/>
            <p:nvPr/>
          </p:nvSpPr>
          <p:spPr>
            <a:xfrm>
              <a:off x="3161835" y="5141853"/>
              <a:ext cx="1072050" cy="215444"/>
            </a:xfrm>
            <a:prstGeom prst="rect">
              <a:avLst/>
            </a:prstGeom>
            <a:noFill/>
          </p:spPr>
          <p:txBody>
            <a:bodyPr wrap="square" rtlCol="0"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lang="zh-CN" altLang="en-US" sz="1000" kern="0" dirty="0">
                  <a:solidFill>
                    <a:srgbClr val="FFFFFF"/>
                  </a:solidFill>
                  <a:latin typeface="微软雅黑"/>
                  <a:ea typeface="微软雅黑"/>
                  <a:cs typeface="微软雅黑"/>
                </a:rPr>
                <a:t>安全性</a:t>
              </a:r>
              <a:endParaRPr kumimoji="0" lang="zh-CN" altLang="en-US" sz="100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26" name="Freeform 71"/>
            <p:cNvSpPr>
              <a:spLocks noEditPoints="1"/>
            </p:cNvSpPr>
            <p:nvPr/>
          </p:nvSpPr>
          <p:spPr bwMode="auto">
            <a:xfrm>
              <a:off x="9019907" y="3581432"/>
              <a:ext cx="231197" cy="216634"/>
            </a:xfrm>
            <a:custGeom>
              <a:avLst/>
              <a:gdLst/>
              <a:ahLst/>
              <a:cxnLst>
                <a:cxn ang="0">
                  <a:pos x="65" y="22"/>
                </a:cxn>
                <a:cxn ang="0">
                  <a:pos x="26" y="45"/>
                </a:cxn>
                <a:cxn ang="0">
                  <a:pos x="0" y="26"/>
                </a:cxn>
                <a:cxn ang="0">
                  <a:pos x="39" y="0"/>
                </a:cxn>
                <a:cxn ang="0">
                  <a:pos x="65" y="22"/>
                </a:cxn>
                <a:cxn ang="0">
                  <a:pos x="65" y="69"/>
                </a:cxn>
                <a:cxn ang="0">
                  <a:pos x="39" y="91"/>
                </a:cxn>
                <a:cxn ang="0">
                  <a:pos x="0" y="67"/>
                </a:cxn>
                <a:cxn ang="0">
                  <a:pos x="26" y="45"/>
                </a:cxn>
                <a:cxn ang="0">
                  <a:pos x="65" y="69"/>
                </a:cxn>
                <a:cxn ang="0">
                  <a:pos x="101" y="97"/>
                </a:cxn>
                <a:cxn ang="0">
                  <a:pos x="65" y="119"/>
                </a:cxn>
                <a:cxn ang="0">
                  <a:pos x="65" y="119"/>
                </a:cxn>
                <a:cxn ang="0">
                  <a:pos x="65" y="119"/>
                </a:cxn>
                <a:cxn ang="0">
                  <a:pos x="65" y="119"/>
                </a:cxn>
                <a:cxn ang="0">
                  <a:pos x="65" y="119"/>
                </a:cxn>
                <a:cxn ang="0">
                  <a:pos x="26" y="97"/>
                </a:cxn>
                <a:cxn ang="0">
                  <a:pos x="26" y="89"/>
                </a:cxn>
                <a:cxn ang="0">
                  <a:pos x="39" y="95"/>
                </a:cxn>
                <a:cxn ang="0">
                  <a:pos x="65" y="74"/>
                </a:cxn>
                <a:cxn ang="0">
                  <a:pos x="65" y="74"/>
                </a:cxn>
                <a:cxn ang="0">
                  <a:pos x="65" y="74"/>
                </a:cxn>
                <a:cxn ang="0">
                  <a:pos x="65" y="74"/>
                </a:cxn>
                <a:cxn ang="0">
                  <a:pos x="65" y="74"/>
                </a:cxn>
                <a:cxn ang="0">
                  <a:pos x="91" y="95"/>
                </a:cxn>
                <a:cxn ang="0">
                  <a:pos x="101" y="89"/>
                </a:cxn>
                <a:cxn ang="0">
                  <a:pos x="101" y="97"/>
                </a:cxn>
                <a:cxn ang="0">
                  <a:pos x="127" y="26"/>
                </a:cxn>
                <a:cxn ang="0">
                  <a:pos x="101" y="45"/>
                </a:cxn>
                <a:cxn ang="0">
                  <a:pos x="65" y="22"/>
                </a:cxn>
                <a:cxn ang="0">
                  <a:pos x="91" y="0"/>
                </a:cxn>
                <a:cxn ang="0">
                  <a:pos x="127" y="26"/>
                </a:cxn>
                <a:cxn ang="0">
                  <a:pos x="127" y="67"/>
                </a:cxn>
                <a:cxn ang="0">
                  <a:pos x="91" y="91"/>
                </a:cxn>
                <a:cxn ang="0">
                  <a:pos x="65" y="69"/>
                </a:cxn>
                <a:cxn ang="0">
                  <a:pos x="101" y="45"/>
                </a:cxn>
                <a:cxn ang="0">
                  <a:pos x="127" y="67"/>
                </a:cxn>
              </a:cxnLst>
              <a:rect l="0" t="0" r="r" b="b"/>
              <a:pathLst>
                <a:path w="127" h="119">
                  <a:moveTo>
                    <a:pt x="65" y="22"/>
                  </a:moveTo>
                  <a:lnTo>
                    <a:pt x="26" y="45"/>
                  </a:lnTo>
                  <a:lnTo>
                    <a:pt x="0" y="26"/>
                  </a:lnTo>
                  <a:lnTo>
                    <a:pt x="39" y="0"/>
                  </a:lnTo>
                  <a:lnTo>
                    <a:pt x="65" y="22"/>
                  </a:lnTo>
                  <a:close/>
                  <a:moveTo>
                    <a:pt x="65" y="69"/>
                  </a:moveTo>
                  <a:lnTo>
                    <a:pt x="39" y="91"/>
                  </a:lnTo>
                  <a:lnTo>
                    <a:pt x="0" y="67"/>
                  </a:lnTo>
                  <a:lnTo>
                    <a:pt x="26" y="45"/>
                  </a:lnTo>
                  <a:lnTo>
                    <a:pt x="65" y="69"/>
                  </a:lnTo>
                  <a:close/>
                  <a:moveTo>
                    <a:pt x="101" y="97"/>
                  </a:moveTo>
                  <a:lnTo>
                    <a:pt x="65" y="119"/>
                  </a:lnTo>
                  <a:lnTo>
                    <a:pt x="65" y="119"/>
                  </a:lnTo>
                  <a:lnTo>
                    <a:pt x="65" y="119"/>
                  </a:lnTo>
                  <a:lnTo>
                    <a:pt x="65" y="119"/>
                  </a:lnTo>
                  <a:lnTo>
                    <a:pt x="65" y="119"/>
                  </a:lnTo>
                  <a:lnTo>
                    <a:pt x="26" y="97"/>
                  </a:lnTo>
                  <a:lnTo>
                    <a:pt x="26" y="89"/>
                  </a:lnTo>
                  <a:lnTo>
                    <a:pt x="39" y="95"/>
                  </a:lnTo>
                  <a:lnTo>
                    <a:pt x="65" y="74"/>
                  </a:lnTo>
                  <a:lnTo>
                    <a:pt x="65" y="74"/>
                  </a:lnTo>
                  <a:lnTo>
                    <a:pt x="65" y="74"/>
                  </a:lnTo>
                  <a:lnTo>
                    <a:pt x="65" y="74"/>
                  </a:lnTo>
                  <a:lnTo>
                    <a:pt x="65" y="74"/>
                  </a:lnTo>
                  <a:lnTo>
                    <a:pt x="91" y="95"/>
                  </a:lnTo>
                  <a:lnTo>
                    <a:pt x="101" y="89"/>
                  </a:lnTo>
                  <a:lnTo>
                    <a:pt x="101" y="97"/>
                  </a:lnTo>
                  <a:close/>
                  <a:moveTo>
                    <a:pt x="127" y="26"/>
                  </a:moveTo>
                  <a:lnTo>
                    <a:pt x="101" y="45"/>
                  </a:lnTo>
                  <a:lnTo>
                    <a:pt x="65" y="22"/>
                  </a:lnTo>
                  <a:lnTo>
                    <a:pt x="91" y="0"/>
                  </a:lnTo>
                  <a:lnTo>
                    <a:pt x="127" y="26"/>
                  </a:lnTo>
                  <a:close/>
                  <a:moveTo>
                    <a:pt x="127" y="67"/>
                  </a:moveTo>
                  <a:lnTo>
                    <a:pt x="91" y="91"/>
                  </a:lnTo>
                  <a:lnTo>
                    <a:pt x="65" y="69"/>
                  </a:lnTo>
                  <a:lnTo>
                    <a:pt x="101" y="45"/>
                  </a:lnTo>
                  <a:lnTo>
                    <a:pt x="127" y="67"/>
                  </a:lnTo>
                  <a:close/>
                </a:path>
              </a:pathLst>
            </a:custGeom>
            <a:solidFill>
              <a:srgbClr val="FFFFFF"/>
            </a:solidFill>
            <a:ln w="9525">
              <a:noFill/>
              <a:round/>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27" name="文本框 126"/>
            <p:cNvSpPr txBox="1"/>
            <p:nvPr/>
          </p:nvSpPr>
          <p:spPr>
            <a:xfrm>
              <a:off x="8702381" y="3788635"/>
              <a:ext cx="878670" cy="276999"/>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rPr>
                <a:t>90%</a:t>
              </a:r>
              <a:endParaRPr kumimoji="0" lang="en-US" altLang="zh-CN" sz="1200" u="none" strike="noStrike" kern="0" cap="none" spc="0" normalizeH="0" baseline="0" noProof="0" dirty="0">
                <a:ln>
                  <a:noFill/>
                </a:ln>
                <a:solidFill>
                  <a:srgbClr val="FFFFFF"/>
                </a:solidFill>
                <a:effectLst/>
                <a:uLnTx/>
                <a:uFillTx/>
                <a:latin typeface="微软雅黑"/>
                <a:ea typeface="微软雅黑"/>
                <a:cs typeface="微软雅黑"/>
              </a:endParaRPr>
            </a:p>
          </p:txBody>
        </p:sp>
        <p:grpSp>
          <p:nvGrpSpPr>
            <p:cNvPr id="128" name="组合 127"/>
            <p:cNvGrpSpPr/>
            <p:nvPr/>
          </p:nvGrpSpPr>
          <p:grpSpPr>
            <a:xfrm>
              <a:off x="4705673" y="2294212"/>
              <a:ext cx="2724345" cy="687450"/>
              <a:chOff x="8233089" y="1876122"/>
              <a:chExt cx="2724345" cy="687450"/>
            </a:xfrm>
          </p:grpSpPr>
          <p:sp>
            <p:nvSpPr>
              <p:cNvPr id="129" name="椭圆 128"/>
              <p:cNvSpPr/>
              <p:nvPr/>
            </p:nvSpPr>
            <p:spPr>
              <a:xfrm>
                <a:off x="8233089" y="1876122"/>
                <a:ext cx="687450" cy="687450"/>
              </a:xfrm>
              <a:prstGeom prst="ellipse">
                <a:avLst/>
              </a:prstGeom>
              <a:solidFill>
                <a:srgbClr val="FFFF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30" name="文本框 129"/>
              <p:cNvSpPr txBox="1"/>
              <p:nvPr/>
            </p:nvSpPr>
            <p:spPr>
              <a:xfrm flipH="1">
                <a:off x="9092979" y="2155626"/>
                <a:ext cx="1864455" cy="344197"/>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实时监测心率、血压、血氧等生理参数</a:t>
                </a:r>
                <a:r>
                  <a:rPr lang="zh-CN" altLang="en-US" sz="1000" dirty="0">
                    <a:solidFill>
                      <a:srgbClr val="383838"/>
                    </a:solidFill>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提供健康数据跟踪</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1" name="文本框 130"/>
              <p:cNvSpPr txBox="1"/>
              <p:nvPr/>
            </p:nvSpPr>
            <p:spPr>
              <a:xfrm flipH="1">
                <a:off x="9092979" y="1881724"/>
                <a:ext cx="1741933" cy="2381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rPr>
                  <a:t>生理参数监测</a:t>
                </a:r>
                <a:endPar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33" name="组合 132"/>
            <p:cNvGrpSpPr/>
            <p:nvPr/>
          </p:nvGrpSpPr>
          <p:grpSpPr>
            <a:xfrm>
              <a:off x="4705673" y="4880658"/>
              <a:ext cx="2724345" cy="687450"/>
              <a:chOff x="8233089" y="1876122"/>
              <a:chExt cx="2724345" cy="687450"/>
            </a:xfrm>
          </p:grpSpPr>
          <p:sp>
            <p:nvSpPr>
              <p:cNvPr id="134" name="椭圆 133"/>
              <p:cNvSpPr/>
              <p:nvPr/>
            </p:nvSpPr>
            <p:spPr>
              <a:xfrm>
                <a:off x="8233089" y="1876122"/>
                <a:ext cx="687450" cy="687450"/>
              </a:xfrm>
              <a:prstGeom prst="ellipse">
                <a:avLst/>
              </a:prstGeom>
              <a:solidFill>
                <a:srgbClr val="FFFF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35" name="文本框 134"/>
              <p:cNvSpPr txBox="1"/>
              <p:nvPr/>
            </p:nvSpPr>
            <p:spPr>
              <a:xfrm flipH="1">
                <a:off x="9092979" y="2155626"/>
                <a:ext cx="1864455" cy="344197"/>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精准分析用户的睡眠质量，包括深度睡眠、</a:t>
                </a:r>
                <a:r>
                  <a:rPr kumimoji="0" lang="en-GB" altLang="zh-CN" sz="1000" b="0" i="0" u="none" strike="noStrike" kern="1200" cap="none" spc="0" normalizeH="0" baseline="0" noProof="0" dirty="0">
                    <a:ln>
                      <a:noFill/>
                    </a:ln>
                    <a:solidFill>
                      <a:srgbClr val="383838"/>
                    </a:solidFill>
                    <a:effectLst/>
                    <a:uLnTx/>
                    <a:uFillTx/>
                    <a:latin typeface="微软雅黑"/>
                    <a:ea typeface="微软雅黑"/>
                    <a:cs typeface="微软雅黑"/>
                  </a:rPr>
                  <a:t>REM</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睡眠等</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6" name="文本框 135"/>
              <p:cNvSpPr txBox="1"/>
              <p:nvPr/>
            </p:nvSpPr>
            <p:spPr>
              <a:xfrm flipH="1">
                <a:off x="9092979" y="1881724"/>
                <a:ext cx="1741933" cy="2381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rPr>
                  <a:t>智能睡眠分析</a:t>
                </a:r>
                <a:endParaRPr kumimoji="0" lang="zh-CN" altLang="en-US" sz="155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sp>
        <p:nvSpPr>
          <p:cNvPr id="138" name="椭圆 137"/>
          <p:cNvSpPr/>
          <p:nvPr/>
        </p:nvSpPr>
        <p:spPr>
          <a:xfrm>
            <a:off x="10238958" y="3248918"/>
            <a:ext cx="1219835" cy="1219835"/>
          </a:xfrm>
          <a:prstGeom prst="ellipse">
            <a:avLst/>
          </a:prstGeom>
          <a:gradFill>
            <a:gsLst>
              <a:gs pos="0">
                <a:srgbClr val="3368FF"/>
              </a:gs>
              <a:gs pos="100000">
                <a:srgbClr val="0042FF"/>
              </a:gs>
            </a:gsLst>
            <a:lin ang="5400000" scaled="0"/>
          </a:gra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39" name="文本框 138"/>
          <p:cNvSpPr txBox="1"/>
          <p:nvPr/>
        </p:nvSpPr>
        <p:spPr>
          <a:xfrm>
            <a:off x="10500062" y="3986634"/>
            <a:ext cx="697627" cy="246221"/>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0" cap="none" spc="0" normalizeH="0" baseline="0" noProof="0" dirty="0">
                <a:ln>
                  <a:noFill/>
                </a:ln>
                <a:solidFill>
                  <a:srgbClr val="FFFFFF"/>
                </a:solidFill>
                <a:effectLst/>
                <a:uLnTx/>
                <a:uFillTx/>
                <a:latin typeface="微软雅黑"/>
                <a:ea typeface="微软雅黑"/>
                <a:cs typeface="微软雅黑"/>
              </a:rPr>
              <a:t>算法学习</a:t>
            </a:r>
            <a:endParaRPr kumimoji="0" lang="zh-CN" altLang="en-US" sz="1000" b="0" i="0" u="none" strike="noStrike" kern="0" cap="none" spc="0" normalizeH="0" baseline="0" noProof="0" dirty="0">
              <a:ln>
                <a:noFill/>
              </a:ln>
              <a:solidFill>
                <a:srgbClr val="FFFFFF"/>
              </a:solidFill>
              <a:effectLst/>
              <a:uLnTx/>
              <a:uFillTx/>
              <a:latin typeface="微软雅黑"/>
              <a:ea typeface="微软雅黑"/>
              <a:cs typeface="微软雅黑"/>
            </a:endParaRPr>
          </a:p>
        </p:txBody>
      </p:sp>
      <p:cxnSp>
        <p:nvCxnSpPr>
          <p:cNvPr id="140" name="直线箭头连接符 45"/>
          <p:cNvCxnSpPr/>
          <p:nvPr/>
        </p:nvCxnSpPr>
        <p:spPr>
          <a:xfrm flipV="1">
            <a:off x="10848875" y="2446843"/>
            <a:ext cx="0" cy="714857"/>
          </a:xfrm>
          <a:prstGeom prst="straightConnector1">
            <a:avLst/>
          </a:prstGeom>
          <a:ln w="12700">
            <a:solidFill>
              <a:srgbClr val="0042FF"/>
            </a:solidFill>
            <a:prstDash val="dash"/>
            <a:tailEnd type="triangle"/>
          </a:ln>
        </p:spPr>
        <p:style>
          <a:lnRef idx="1">
            <a:srgbClr val="0042FF"/>
          </a:lnRef>
          <a:fillRef idx="0">
            <a:srgbClr val="0042FF"/>
          </a:fillRef>
          <a:effectRef idx="0">
            <a:srgbClr val="0042FF"/>
          </a:effectRef>
          <a:fontRef idx="minor">
            <a:srgbClr val="383838"/>
          </a:fontRef>
        </p:style>
      </p:cxnSp>
      <p:sp>
        <p:nvSpPr>
          <p:cNvPr id="141" name="矩形 140"/>
          <p:cNvSpPr/>
          <p:nvPr/>
        </p:nvSpPr>
        <p:spPr>
          <a:xfrm>
            <a:off x="4733828" y="1179657"/>
            <a:ext cx="2724345" cy="388729"/>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42" name="文本框 141"/>
          <p:cNvSpPr txBox="1"/>
          <p:nvPr/>
        </p:nvSpPr>
        <p:spPr>
          <a:xfrm flipH="1">
            <a:off x="5050280" y="1247155"/>
            <a:ext cx="2091440" cy="246221"/>
          </a:xfrm>
          <a:prstGeom prst="rect">
            <a:avLst/>
          </a:prstGeom>
          <a:noFill/>
        </p:spPr>
        <p:txBody>
          <a:bodyPr wrap="square" lIns="0" tIns="0" rIns="0" bIns="0" rtlCol="0">
            <a:spAutoFit/>
          </a:bodyPr>
          <a:lstStyle/>
          <a:p>
            <a:pPr marL="0" marR="0" lvl="0" indent="0" algn="ctr" defTabSz="6350" rtl="0" eaLnBrk="1" fontAlgn="auto" latinLnBrk="0" hangingPunct="0">
              <a:lnSpc>
                <a:spcPct val="100000"/>
              </a:lnSpc>
              <a:spcBef>
                <a:spcPts val="0"/>
              </a:spcBef>
              <a:spcAft>
                <a:spcPts val="0"/>
              </a:spcAft>
              <a:buClrTx/>
              <a:buSzTx/>
              <a:buFontTx/>
              <a:buNone/>
              <a:tabLst>
                <a:tab pos="177800" algn="l"/>
                <a:tab pos="355600" algn="l"/>
                <a:tab pos="533400" algn="l"/>
                <a:tab pos="711200" algn="l"/>
                <a:tab pos="889000" algn="l"/>
                <a:tab pos="1066800" algn="l"/>
                <a:tab pos="1244600" algn="l"/>
                <a:tab pos="1422400" algn="l"/>
                <a:tab pos="1600200" algn="l"/>
                <a:tab pos="1778000" algn="l"/>
                <a:tab pos="1955800" algn="l"/>
                <a:tab pos="2133600" algn="l"/>
              </a:tabLst>
              <a:defRPr>
                <a:latin typeface="微软雅黑"/>
                <a:ea typeface="微软雅黑"/>
                <a:cs typeface="微软雅黑"/>
              </a:defRPr>
            </a:pPr>
            <a:r>
              <a:rPr kumimoji="0" lang="zh-CN" altLang="en-US" sz="16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个性化分析辅助监测</a:t>
            </a:r>
            <a:endParaRPr kumimoji="0" lang="zh-CN" altLang="en-US" sz="1600" b="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cxnSp>
        <p:nvCxnSpPr>
          <p:cNvPr id="144" name="直线箭头连接符 48"/>
          <p:cNvCxnSpPr/>
          <p:nvPr/>
        </p:nvCxnSpPr>
        <p:spPr>
          <a:xfrm flipH="1">
            <a:off x="7577135" y="1374021"/>
            <a:ext cx="2150694" cy="0"/>
          </a:xfrm>
          <a:prstGeom prst="straightConnector1">
            <a:avLst/>
          </a:prstGeom>
          <a:ln w="12700">
            <a:solidFill>
              <a:srgbClr val="3368FF"/>
            </a:solidFill>
            <a:prstDash val="dash"/>
            <a:tailEnd type="triangle"/>
          </a:ln>
        </p:spPr>
        <p:style>
          <a:lnRef idx="1">
            <a:srgbClr val="0042FF"/>
          </a:lnRef>
          <a:fillRef idx="0">
            <a:srgbClr val="0042FF"/>
          </a:fillRef>
          <a:effectRef idx="0">
            <a:srgbClr val="0042FF"/>
          </a:effectRef>
          <a:fontRef idx="minor">
            <a:srgbClr val="383838"/>
          </a:fontRef>
        </p:style>
      </p:cxnSp>
      <p:grpSp>
        <p:nvGrpSpPr>
          <p:cNvPr id="145" name="组合 144"/>
          <p:cNvGrpSpPr/>
          <p:nvPr/>
        </p:nvGrpSpPr>
        <p:grpSpPr>
          <a:xfrm>
            <a:off x="9874631" y="1179657"/>
            <a:ext cx="1948489" cy="1169064"/>
            <a:chOff x="9874631" y="1179657"/>
            <a:chExt cx="1948489" cy="1169064"/>
          </a:xfrm>
        </p:grpSpPr>
        <p:sp>
          <p:nvSpPr>
            <p:cNvPr id="146" name="矩形: 圆角 36"/>
            <p:cNvSpPr/>
            <p:nvPr/>
          </p:nvSpPr>
          <p:spPr>
            <a:xfrm>
              <a:off x="9874632" y="1179657"/>
              <a:ext cx="1943601" cy="1169064"/>
            </a:xfrm>
            <a:prstGeom prst="roundRect">
              <a:avLst>
                <a:gd name="adj" fmla="val 0"/>
              </a:avLst>
            </a:prstGeom>
            <a:solidFill>
              <a:srgbClr val="FFFFFF"/>
            </a:solidFill>
            <a:ln w="254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47" name="Rounded Rectangle"/>
            <p:cNvSpPr/>
            <p:nvPr/>
          </p:nvSpPr>
          <p:spPr>
            <a:xfrm>
              <a:off x="9874631" y="1182298"/>
              <a:ext cx="1948489" cy="386088"/>
            </a:xfrm>
            <a:prstGeom prst="roundRect">
              <a:avLst>
                <a:gd name="adj" fmla="val 0"/>
              </a:avLst>
            </a:prstGeom>
            <a:solidFill>
              <a:srgbClr val="3368FF"/>
            </a:solidFill>
            <a:ln w="12700">
              <a:miter lim="400000"/>
            </a:ln>
          </p:spPr>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600" b="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48" name="Text Placeholder 32"/>
            <p:cNvSpPr txBox="1"/>
            <p:nvPr/>
          </p:nvSpPr>
          <p:spPr>
            <a:xfrm>
              <a:off x="10015496" y="1682743"/>
              <a:ext cx="1729418" cy="519629"/>
            </a:xfrm>
            <a:prstGeom prst="rect">
              <a:avLst/>
            </a:prstGeom>
            <a:noFill/>
          </p:spPr>
          <p:txBody>
            <a:bodyPr wrap="square" lIns="0" tIns="0" rIns="0" bIns="0" rtlCol="0">
              <a:spAutoFit/>
            </a:bodyPr>
            <a:lstStyle>
              <a:defPPr>
                <a:defRPr lang="zh-CN">
                  <a:latin typeface="微软雅黑"/>
                  <a:ea typeface="微软雅黑"/>
                  <a:cs typeface="微软雅黑"/>
                </a:defRPr>
              </a:defPPr>
              <a:lvl1pPr marR="0" lvl="0" indent="0" fontAlgn="auto">
                <a:lnSpc>
                  <a:spcPct val="114000"/>
                </a:lnSpc>
                <a:spcBef>
                  <a:spcPts val="0"/>
                </a:spcBef>
                <a:spcAft>
                  <a:spcPts val="0"/>
                </a:spcAft>
                <a:buClrTx/>
                <a:buSzTx/>
                <a:buFontTx/>
                <a:buNone/>
                <a:defRPr kumimoji="0" sz="1000" b="0" i="0" u="none" strike="noStrike" cap="none" spc="0" normalizeH="0" baseline="0">
                  <a:ln>
                    <a:noFill/>
                  </a:ln>
                  <a:solidFill>
                    <a:srgbClr val="383838">
                      <a:alpha val="65000"/>
                    </a:srgbClr>
                  </a:solidFill>
                  <a:effectLst/>
                  <a:uLnTx/>
                  <a:uFillTx/>
                  <a:latin typeface="微软雅黑"/>
                  <a:ea typeface="微软雅黑"/>
                  <a:cs typeface="微软雅黑"/>
                </a:defRPr>
              </a:lvl1pPr>
              <a:lvl2pPr marL="514350" indent="-171450" algn="l" defTabSz="685800" rtl="0" eaLnBrk="1" latinLnBrk="0" hangingPunct="1">
                <a:lnSpc>
                  <a:spcPct val="90000"/>
                </a:lnSpc>
                <a:spcBef>
                  <a:spcPts val="375"/>
                </a:spcBef>
                <a:buFont typeface="微软雅黑"/>
                <a:buChar char="•"/>
                <a:defRPr sz="1800" kern="1200">
                  <a:solidFill>
                    <a:srgbClr val="383838"/>
                  </a:solidFill>
                  <a:latin typeface="微软雅黑"/>
                  <a:ea typeface="微软雅黑"/>
                  <a:cs typeface="微软雅黑"/>
                </a:defRPr>
              </a:lvl2pPr>
              <a:lvl3pPr marL="857250" indent="-171450" algn="l" defTabSz="685800" rtl="0" eaLnBrk="1" latinLnBrk="0" hangingPunct="1">
                <a:lnSpc>
                  <a:spcPct val="90000"/>
                </a:lnSpc>
                <a:spcBef>
                  <a:spcPts val="375"/>
                </a:spcBef>
                <a:buFont typeface="微软雅黑"/>
                <a:buChar char="•"/>
                <a:defRPr sz="1500" kern="1200">
                  <a:solidFill>
                    <a:srgbClr val="383838"/>
                  </a:solidFill>
                  <a:latin typeface="微软雅黑"/>
                  <a:ea typeface="微软雅黑"/>
                  <a:cs typeface="微软雅黑"/>
                </a:defRPr>
              </a:lvl3pPr>
              <a:lvl4pPr marL="12001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4pPr>
              <a:lvl5pPr marL="15430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5pPr>
              <a:lvl6pPr marL="18859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6pPr>
              <a:lvl7pPr marL="22288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7pPr>
              <a:lvl8pPr marL="25717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8pPr>
              <a:lvl9pPr marL="29146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品牌不仅代表着一系列的文化属性，而且还体现着，某种特品牌代表着一系列属性</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9" name="文本框 148"/>
            <p:cNvSpPr txBox="1"/>
            <p:nvPr/>
          </p:nvSpPr>
          <p:spPr>
            <a:xfrm flipH="1">
              <a:off x="9955359" y="1254757"/>
              <a:ext cx="1787032" cy="23852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rPr>
                <a:t>用户反馈与调整</a:t>
              </a:r>
              <a:endPar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150" name="组合 149"/>
          <p:cNvGrpSpPr/>
          <p:nvPr/>
        </p:nvGrpSpPr>
        <p:grpSpPr>
          <a:xfrm>
            <a:off x="371403" y="1179657"/>
            <a:ext cx="1948489" cy="1169064"/>
            <a:chOff x="9874631" y="1179657"/>
            <a:chExt cx="1948489" cy="1169064"/>
          </a:xfrm>
        </p:grpSpPr>
        <p:sp>
          <p:nvSpPr>
            <p:cNvPr id="151" name="矩形: 圆角 36"/>
            <p:cNvSpPr/>
            <p:nvPr/>
          </p:nvSpPr>
          <p:spPr>
            <a:xfrm>
              <a:off x="9874632" y="1179657"/>
              <a:ext cx="1943601" cy="1169064"/>
            </a:xfrm>
            <a:prstGeom prst="roundRect">
              <a:avLst>
                <a:gd name="adj" fmla="val 0"/>
              </a:avLst>
            </a:prstGeom>
            <a:solidFill>
              <a:srgbClr val="FFFFFF"/>
            </a:solidFill>
            <a:ln w="254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52" name="Rounded Rectangle"/>
            <p:cNvSpPr/>
            <p:nvPr/>
          </p:nvSpPr>
          <p:spPr>
            <a:xfrm>
              <a:off x="9874631" y="1182298"/>
              <a:ext cx="1948489" cy="386088"/>
            </a:xfrm>
            <a:prstGeom prst="roundRect">
              <a:avLst>
                <a:gd name="adj" fmla="val 0"/>
              </a:avLst>
            </a:prstGeom>
            <a:solidFill>
              <a:srgbClr val="3368FF"/>
            </a:solidFill>
            <a:ln w="12700">
              <a:miter lim="400000"/>
            </a:ln>
          </p:spPr>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600" b="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53" name="Text Placeholder 32"/>
            <p:cNvSpPr txBox="1"/>
            <p:nvPr/>
          </p:nvSpPr>
          <p:spPr>
            <a:xfrm>
              <a:off x="10015496" y="1682743"/>
              <a:ext cx="1729418" cy="519629"/>
            </a:xfrm>
            <a:prstGeom prst="rect">
              <a:avLst/>
            </a:prstGeom>
            <a:noFill/>
          </p:spPr>
          <p:txBody>
            <a:bodyPr wrap="square" lIns="0" tIns="0" rIns="0" bIns="0" rtlCol="0">
              <a:spAutoFit/>
            </a:bodyPr>
            <a:lstStyle>
              <a:defPPr>
                <a:defRPr lang="zh-CN">
                  <a:latin typeface="微软雅黑"/>
                  <a:ea typeface="微软雅黑"/>
                  <a:cs typeface="微软雅黑"/>
                </a:defRPr>
              </a:defPPr>
              <a:lvl1pPr marR="0" lvl="0" indent="0" fontAlgn="auto">
                <a:lnSpc>
                  <a:spcPct val="114000"/>
                </a:lnSpc>
                <a:spcBef>
                  <a:spcPts val="0"/>
                </a:spcBef>
                <a:spcAft>
                  <a:spcPts val="0"/>
                </a:spcAft>
                <a:buClrTx/>
                <a:buSzTx/>
                <a:buFontTx/>
                <a:buNone/>
                <a:defRPr kumimoji="0" sz="1000" b="0" i="0" u="none" strike="noStrike" cap="none" spc="0" normalizeH="0" baseline="0">
                  <a:ln>
                    <a:noFill/>
                  </a:ln>
                  <a:solidFill>
                    <a:srgbClr val="383838">
                      <a:alpha val="65000"/>
                    </a:srgbClr>
                  </a:solidFill>
                  <a:effectLst/>
                  <a:uLnTx/>
                  <a:uFillTx/>
                  <a:latin typeface="微软雅黑"/>
                  <a:ea typeface="微软雅黑"/>
                  <a:cs typeface="微软雅黑"/>
                </a:defRPr>
              </a:lvl1pPr>
              <a:lvl2pPr marL="514350" indent="-171450" algn="l" defTabSz="685800" rtl="0" eaLnBrk="1" latinLnBrk="0" hangingPunct="1">
                <a:lnSpc>
                  <a:spcPct val="90000"/>
                </a:lnSpc>
                <a:spcBef>
                  <a:spcPts val="375"/>
                </a:spcBef>
                <a:buFont typeface="微软雅黑"/>
                <a:buChar char="•"/>
                <a:defRPr sz="1800" kern="1200">
                  <a:solidFill>
                    <a:srgbClr val="383838"/>
                  </a:solidFill>
                  <a:latin typeface="微软雅黑"/>
                  <a:ea typeface="微软雅黑"/>
                  <a:cs typeface="微软雅黑"/>
                </a:defRPr>
              </a:lvl2pPr>
              <a:lvl3pPr marL="857250" indent="-171450" algn="l" defTabSz="685800" rtl="0" eaLnBrk="1" latinLnBrk="0" hangingPunct="1">
                <a:lnSpc>
                  <a:spcPct val="90000"/>
                </a:lnSpc>
                <a:spcBef>
                  <a:spcPts val="375"/>
                </a:spcBef>
                <a:buFont typeface="微软雅黑"/>
                <a:buChar char="•"/>
                <a:defRPr sz="1500" kern="1200">
                  <a:solidFill>
                    <a:srgbClr val="383838"/>
                  </a:solidFill>
                  <a:latin typeface="微软雅黑"/>
                  <a:ea typeface="微软雅黑"/>
                  <a:cs typeface="微软雅黑"/>
                </a:defRPr>
              </a:lvl3pPr>
              <a:lvl4pPr marL="12001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4pPr>
              <a:lvl5pPr marL="15430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5pPr>
              <a:lvl6pPr marL="18859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6pPr>
              <a:lvl7pPr marL="22288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7pPr>
              <a:lvl8pPr marL="25717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8pPr>
              <a:lvl9pPr marL="29146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内置高精度传感器对心率、血压、血氧等生理参数进行实时监测，监测睡眠</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4" name="文本框 153"/>
            <p:cNvSpPr txBox="1"/>
            <p:nvPr/>
          </p:nvSpPr>
          <p:spPr>
            <a:xfrm flipH="1">
              <a:off x="9952837" y="1254757"/>
              <a:ext cx="1792076" cy="23852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rPr>
                <a:t>传感器实时监测</a:t>
              </a:r>
              <a:endPar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cxnSp>
        <p:nvCxnSpPr>
          <p:cNvPr id="155" name="直线箭头连接符 59"/>
          <p:cNvCxnSpPr/>
          <p:nvPr/>
        </p:nvCxnSpPr>
        <p:spPr>
          <a:xfrm flipH="1">
            <a:off x="2482620" y="1374021"/>
            <a:ext cx="2150694" cy="0"/>
          </a:xfrm>
          <a:prstGeom prst="straightConnector1">
            <a:avLst/>
          </a:prstGeom>
          <a:ln w="12700">
            <a:solidFill>
              <a:srgbClr val="3368FF"/>
            </a:solidFill>
            <a:prstDash val="dash"/>
            <a:tailEnd type="triangle"/>
          </a:ln>
        </p:spPr>
        <p:style>
          <a:lnRef idx="1">
            <a:srgbClr val="0042FF"/>
          </a:lnRef>
          <a:fillRef idx="0">
            <a:srgbClr val="0042FF"/>
          </a:fillRef>
          <a:effectRef idx="0">
            <a:srgbClr val="0042FF"/>
          </a:effectRef>
          <a:fontRef idx="minor">
            <a:srgbClr val="383838"/>
          </a:fontRef>
        </p:style>
      </p:cxnSp>
      <p:grpSp>
        <p:nvGrpSpPr>
          <p:cNvPr id="156" name="组合 155"/>
          <p:cNvGrpSpPr/>
          <p:nvPr/>
        </p:nvGrpSpPr>
        <p:grpSpPr>
          <a:xfrm>
            <a:off x="9874631" y="5327114"/>
            <a:ext cx="1948489" cy="1169064"/>
            <a:chOff x="9874631" y="1179657"/>
            <a:chExt cx="1948489" cy="1169064"/>
          </a:xfrm>
        </p:grpSpPr>
        <p:sp>
          <p:nvSpPr>
            <p:cNvPr id="157" name="矩形: 圆角 36"/>
            <p:cNvSpPr/>
            <p:nvPr/>
          </p:nvSpPr>
          <p:spPr>
            <a:xfrm>
              <a:off x="9874632" y="1179657"/>
              <a:ext cx="1943601" cy="1169064"/>
            </a:xfrm>
            <a:prstGeom prst="roundRect">
              <a:avLst>
                <a:gd name="adj" fmla="val 0"/>
              </a:avLst>
            </a:prstGeom>
            <a:solidFill>
              <a:srgbClr val="FFFFFF"/>
            </a:solidFill>
            <a:ln w="254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58" name="Rounded Rectangle"/>
            <p:cNvSpPr/>
            <p:nvPr/>
          </p:nvSpPr>
          <p:spPr>
            <a:xfrm>
              <a:off x="9874631" y="1182298"/>
              <a:ext cx="1948489" cy="386088"/>
            </a:xfrm>
            <a:prstGeom prst="roundRect">
              <a:avLst>
                <a:gd name="adj" fmla="val 0"/>
              </a:avLst>
            </a:prstGeom>
            <a:solidFill>
              <a:srgbClr val="3368FF"/>
            </a:solidFill>
            <a:ln w="12700">
              <a:miter lim="400000"/>
            </a:ln>
          </p:spPr>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600" b="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59" name="Text Placeholder 32"/>
            <p:cNvSpPr txBox="1"/>
            <p:nvPr/>
          </p:nvSpPr>
          <p:spPr>
            <a:xfrm>
              <a:off x="10015496" y="1682743"/>
              <a:ext cx="1729418" cy="519629"/>
            </a:xfrm>
            <a:prstGeom prst="rect">
              <a:avLst/>
            </a:prstGeom>
            <a:noFill/>
          </p:spPr>
          <p:txBody>
            <a:bodyPr wrap="square" lIns="0" tIns="0" rIns="0" bIns="0" rtlCol="0">
              <a:spAutoFit/>
            </a:bodyPr>
            <a:lstStyle>
              <a:defPPr>
                <a:defRPr lang="zh-CN">
                  <a:latin typeface="微软雅黑"/>
                  <a:ea typeface="微软雅黑"/>
                  <a:cs typeface="微软雅黑"/>
                </a:defRPr>
              </a:defPPr>
              <a:lvl1pPr marR="0" lvl="0" indent="0" fontAlgn="auto">
                <a:lnSpc>
                  <a:spcPct val="114000"/>
                </a:lnSpc>
                <a:spcBef>
                  <a:spcPts val="0"/>
                </a:spcBef>
                <a:spcAft>
                  <a:spcPts val="0"/>
                </a:spcAft>
                <a:buClrTx/>
                <a:buSzTx/>
                <a:buFontTx/>
                <a:buNone/>
                <a:defRPr kumimoji="0" sz="1000" b="0" i="0" u="none" strike="noStrike" cap="none" spc="0" normalizeH="0" baseline="0">
                  <a:ln>
                    <a:noFill/>
                  </a:ln>
                  <a:solidFill>
                    <a:srgbClr val="383838">
                      <a:alpha val="65000"/>
                    </a:srgbClr>
                  </a:solidFill>
                  <a:effectLst/>
                  <a:uLnTx/>
                  <a:uFillTx/>
                  <a:latin typeface="微软雅黑"/>
                  <a:ea typeface="微软雅黑"/>
                  <a:cs typeface="微软雅黑"/>
                </a:defRPr>
              </a:lvl1pPr>
              <a:lvl2pPr marL="514350" indent="-171450" algn="l" defTabSz="685800" rtl="0" eaLnBrk="1" latinLnBrk="0" hangingPunct="1">
                <a:lnSpc>
                  <a:spcPct val="90000"/>
                </a:lnSpc>
                <a:spcBef>
                  <a:spcPts val="375"/>
                </a:spcBef>
                <a:buFont typeface="微软雅黑"/>
                <a:buChar char="•"/>
                <a:defRPr sz="1800" kern="1200">
                  <a:solidFill>
                    <a:srgbClr val="383838"/>
                  </a:solidFill>
                  <a:latin typeface="微软雅黑"/>
                  <a:ea typeface="微软雅黑"/>
                  <a:cs typeface="微软雅黑"/>
                </a:defRPr>
              </a:lvl2pPr>
              <a:lvl3pPr marL="857250" indent="-171450" algn="l" defTabSz="685800" rtl="0" eaLnBrk="1" latinLnBrk="0" hangingPunct="1">
                <a:lnSpc>
                  <a:spcPct val="90000"/>
                </a:lnSpc>
                <a:spcBef>
                  <a:spcPts val="375"/>
                </a:spcBef>
                <a:buFont typeface="微软雅黑"/>
                <a:buChar char="•"/>
                <a:defRPr sz="1500" kern="1200">
                  <a:solidFill>
                    <a:srgbClr val="383838"/>
                  </a:solidFill>
                  <a:latin typeface="微软雅黑"/>
                  <a:ea typeface="微软雅黑"/>
                  <a:cs typeface="微软雅黑"/>
                </a:defRPr>
              </a:lvl3pPr>
              <a:lvl4pPr marL="12001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4pPr>
              <a:lvl5pPr marL="15430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5pPr>
              <a:lvl6pPr marL="18859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6pPr>
              <a:lvl7pPr marL="22288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7pPr>
              <a:lvl8pPr marL="25717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8pPr>
              <a:lvl9pPr marL="29146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云端服务器利用强大的算法对用户的健康数据进行深度分析，生成详细的健康报告</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0" name="文本框 159"/>
            <p:cNvSpPr txBox="1"/>
            <p:nvPr/>
          </p:nvSpPr>
          <p:spPr>
            <a:xfrm flipH="1">
              <a:off x="10018017" y="1254757"/>
              <a:ext cx="1661716" cy="23852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rPr>
                <a:t>智能分析与算法</a:t>
              </a:r>
              <a:endPar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61" name="矩形 160"/>
          <p:cNvSpPr/>
          <p:nvPr/>
        </p:nvSpPr>
        <p:spPr>
          <a:xfrm>
            <a:off x="4733828" y="6159871"/>
            <a:ext cx="2724345" cy="388729"/>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162" name="文本框 161"/>
          <p:cNvSpPr txBox="1"/>
          <p:nvPr/>
        </p:nvSpPr>
        <p:spPr>
          <a:xfrm flipH="1">
            <a:off x="5050280" y="6227369"/>
            <a:ext cx="2091440" cy="246221"/>
          </a:xfrm>
          <a:prstGeom prst="rect">
            <a:avLst/>
          </a:prstGeom>
          <a:noFill/>
        </p:spPr>
        <p:txBody>
          <a:bodyPr wrap="square" lIns="0" tIns="0" rIns="0" bIns="0" rtlCol="0">
            <a:spAutoFit/>
          </a:bodyPr>
          <a:lstStyle/>
          <a:p>
            <a:pPr marL="0" marR="0" lvl="0" indent="0" algn="ctr" defTabSz="6350" rtl="0" eaLnBrk="1" fontAlgn="auto" latinLnBrk="0" hangingPunct="0">
              <a:lnSpc>
                <a:spcPct val="100000"/>
              </a:lnSpc>
              <a:spcBef>
                <a:spcPts val="0"/>
              </a:spcBef>
              <a:spcAft>
                <a:spcPts val="0"/>
              </a:spcAft>
              <a:buClrTx/>
              <a:buSzTx/>
              <a:buFontTx/>
              <a:buNone/>
              <a:tabLst>
                <a:tab pos="177800" algn="l"/>
                <a:tab pos="355600" algn="l"/>
                <a:tab pos="533400" algn="l"/>
                <a:tab pos="711200" algn="l"/>
                <a:tab pos="889000" algn="l"/>
                <a:tab pos="1066800" algn="l"/>
                <a:tab pos="1244600" algn="l"/>
                <a:tab pos="1422400" algn="l"/>
                <a:tab pos="1600200" algn="l"/>
                <a:tab pos="1778000" algn="l"/>
                <a:tab pos="1955800" algn="l"/>
                <a:tab pos="2133600" algn="l"/>
              </a:tabLst>
              <a:defRPr>
                <a:latin typeface="微软雅黑"/>
                <a:ea typeface="微软雅黑"/>
                <a:cs typeface="微软雅黑"/>
              </a:defRPr>
            </a:pPr>
            <a:r>
              <a:rPr kumimoji="0" lang="zh-CN" altLang="en-US" sz="16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通过蓝牙技术实时传输</a:t>
            </a:r>
            <a:endParaRPr kumimoji="0" lang="zh-CN" altLang="en-US" sz="1600" b="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cxnSp>
        <p:nvCxnSpPr>
          <p:cNvPr id="163" name="直线箭头连接符 67"/>
          <p:cNvCxnSpPr/>
          <p:nvPr/>
        </p:nvCxnSpPr>
        <p:spPr>
          <a:xfrm>
            <a:off x="7577135" y="6354235"/>
            <a:ext cx="2150694" cy="0"/>
          </a:xfrm>
          <a:prstGeom prst="straightConnector1">
            <a:avLst/>
          </a:prstGeom>
          <a:ln w="12700">
            <a:solidFill>
              <a:srgbClr val="3368FF"/>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164" name="直线箭头连接符 68"/>
          <p:cNvCxnSpPr/>
          <p:nvPr/>
        </p:nvCxnSpPr>
        <p:spPr>
          <a:xfrm>
            <a:off x="2482620" y="6354235"/>
            <a:ext cx="2150694" cy="0"/>
          </a:xfrm>
          <a:prstGeom prst="straightConnector1">
            <a:avLst/>
          </a:prstGeom>
          <a:ln w="12700">
            <a:solidFill>
              <a:srgbClr val="3368FF"/>
            </a:solidFill>
            <a:prstDash val="dash"/>
            <a:tailEnd type="triangle"/>
          </a:ln>
        </p:spPr>
        <p:style>
          <a:lnRef idx="1">
            <a:srgbClr val="0042FF"/>
          </a:lnRef>
          <a:fillRef idx="0">
            <a:srgbClr val="0042FF"/>
          </a:fillRef>
          <a:effectRef idx="0">
            <a:srgbClr val="0042FF"/>
          </a:effectRef>
          <a:fontRef idx="minor">
            <a:srgbClr val="383838"/>
          </a:fontRef>
        </p:style>
      </p:cxnSp>
      <p:grpSp>
        <p:nvGrpSpPr>
          <p:cNvPr id="165" name="组合 164"/>
          <p:cNvGrpSpPr/>
          <p:nvPr/>
        </p:nvGrpSpPr>
        <p:grpSpPr>
          <a:xfrm>
            <a:off x="371402" y="5327114"/>
            <a:ext cx="1948489" cy="1169064"/>
            <a:chOff x="9874631" y="1179657"/>
            <a:chExt cx="1948489" cy="1169064"/>
          </a:xfrm>
        </p:grpSpPr>
        <p:sp>
          <p:nvSpPr>
            <p:cNvPr id="166" name="矩形: 圆角 36"/>
            <p:cNvSpPr/>
            <p:nvPr/>
          </p:nvSpPr>
          <p:spPr>
            <a:xfrm>
              <a:off x="9874632" y="1179657"/>
              <a:ext cx="1943601" cy="1169064"/>
            </a:xfrm>
            <a:prstGeom prst="roundRect">
              <a:avLst>
                <a:gd name="adj" fmla="val 0"/>
              </a:avLst>
            </a:prstGeom>
            <a:solidFill>
              <a:srgbClr val="FFFFFF"/>
            </a:solidFill>
            <a:ln w="254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67" name="Rounded Rectangle"/>
            <p:cNvSpPr/>
            <p:nvPr/>
          </p:nvSpPr>
          <p:spPr>
            <a:xfrm>
              <a:off x="9874631" y="1182298"/>
              <a:ext cx="1948489" cy="386088"/>
            </a:xfrm>
            <a:prstGeom prst="roundRect">
              <a:avLst>
                <a:gd name="adj" fmla="val 0"/>
              </a:avLst>
            </a:prstGeom>
            <a:solidFill>
              <a:srgbClr val="3368FF"/>
            </a:solidFill>
            <a:ln w="12700">
              <a:miter lim="400000"/>
            </a:ln>
          </p:spPr>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sz="1600" b="0" i="0" u="none" strike="noStrike" kern="0" cap="none" spc="0" normalizeH="0" baseline="0" noProof="0" dirty="0">
                <a:ln>
                  <a:noFill/>
                </a:ln>
                <a:solidFill>
                  <a:srgbClr val="FFFFFF"/>
                </a:solidFill>
                <a:effectLst/>
                <a:uLnTx/>
                <a:uFillTx/>
                <a:latin typeface="微软雅黑"/>
                <a:ea typeface="微软雅黑"/>
                <a:cs typeface="微软雅黑"/>
              </a:endParaRPr>
            </a:p>
          </p:txBody>
        </p:sp>
        <p:sp>
          <p:nvSpPr>
            <p:cNvPr id="168" name="Text Placeholder 32"/>
            <p:cNvSpPr txBox="1"/>
            <p:nvPr/>
          </p:nvSpPr>
          <p:spPr>
            <a:xfrm>
              <a:off x="10015496" y="1682743"/>
              <a:ext cx="1729418" cy="519629"/>
            </a:xfrm>
            <a:prstGeom prst="rect">
              <a:avLst/>
            </a:prstGeom>
            <a:noFill/>
          </p:spPr>
          <p:txBody>
            <a:bodyPr wrap="square" lIns="0" tIns="0" rIns="0" bIns="0" rtlCol="0">
              <a:spAutoFit/>
            </a:bodyPr>
            <a:lstStyle>
              <a:defPPr>
                <a:defRPr lang="zh-CN">
                  <a:latin typeface="微软雅黑"/>
                  <a:ea typeface="微软雅黑"/>
                  <a:cs typeface="微软雅黑"/>
                </a:defRPr>
              </a:defPPr>
              <a:lvl1pPr marR="0" lvl="0" indent="0" fontAlgn="auto">
                <a:lnSpc>
                  <a:spcPct val="114000"/>
                </a:lnSpc>
                <a:spcBef>
                  <a:spcPts val="0"/>
                </a:spcBef>
                <a:spcAft>
                  <a:spcPts val="0"/>
                </a:spcAft>
                <a:buClrTx/>
                <a:buSzTx/>
                <a:buFontTx/>
                <a:buNone/>
                <a:defRPr kumimoji="0" sz="1000" b="0" i="0" u="none" strike="noStrike" cap="none" spc="0" normalizeH="0" baseline="0">
                  <a:ln>
                    <a:noFill/>
                  </a:ln>
                  <a:solidFill>
                    <a:srgbClr val="383838">
                      <a:alpha val="65000"/>
                    </a:srgbClr>
                  </a:solidFill>
                  <a:effectLst/>
                  <a:uLnTx/>
                  <a:uFillTx/>
                  <a:latin typeface="微软雅黑"/>
                  <a:ea typeface="微软雅黑"/>
                  <a:cs typeface="微软雅黑"/>
                </a:defRPr>
              </a:lvl1pPr>
              <a:lvl2pPr marL="514350" indent="-171450" algn="l" defTabSz="685800" rtl="0" eaLnBrk="1" latinLnBrk="0" hangingPunct="1">
                <a:lnSpc>
                  <a:spcPct val="90000"/>
                </a:lnSpc>
                <a:spcBef>
                  <a:spcPts val="375"/>
                </a:spcBef>
                <a:buFont typeface="微软雅黑"/>
                <a:buChar char="•"/>
                <a:defRPr sz="1800" kern="1200">
                  <a:solidFill>
                    <a:srgbClr val="383838"/>
                  </a:solidFill>
                  <a:latin typeface="微软雅黑"/>
                  <a:ea typeface="微软雅黑"/>
                  <a:cs typeface="微软雅黑"/>
                </a:defRPr>
              </a:lvl2pPr>
              <a:lvl3pPr marL="857250" indent="-171450" algn="l" defTabSz="685800" rtl="0" eaLnBrk="1" latinLnBrk="0" hangingPunct="1">
                <a:lnSpc>
                  <a:spcPct val="90000"/>
                </a:lnSpc>
                <a:spcBef>
                  <a:spcPts val="375"/>
                </a:spcBef>
                <a:buFont typeface="微软雅黑"/>
                <a:buChar char="•"/>
                <a:defRPr sz="1500" kern="1200">
                  <a:solidFill>
                    <a:srgbClr val="383838"/>
                  </a:solidFill>
                  <a:latin typeface="微软雅黑"/>
                  <a:ea typeface="微软雅黑"/>
                  <a:cs typeface="微软雅黑"/>
                </a:defRPr>
              </a:lvl3pPr>
              <a:lvl4pPr marL="12001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4pPr>
              <a:lvl5pPr marL="15430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5pPr>
              <a:lvl6pPr marL="18859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6pPr>
              <a:lvl7pPr marL="22288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7pPr>
              <a:lvl8pPr marL="25717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8pPr>
              <a:lvl9pPr marL="2914650" indent="-171450" algn="l" defTabSz="685800" rtl="0" eaLnBrk="1" latinLnBrk="0" hangingPunct="1">
                <a:lnSpc>
                  <a:spcPct val="90000"/>
                </a:lnSpc>
                <a:spcBef>
                  <a:spcPts val="375"/>
                </a:spcBef>
                <a:buFont typeface="微软雅黑"/>
                <a:buChar char="•"/>
                <a:defRPr sz="135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 监测器通过蓝牙技术将采集到的生理数据实时传输至用户的智能手机或云端</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9" name="文本框 168"/>
            <p:cNvSpPr txBox="1"/>
            <p:nvPr/>
          </p:nvSpPr>
          <p:spPr>
            <a:xfrm flipH="1">
              <a:off x="9939884" y="1254757"/>
              <a:ext cx="1817982" cy="23852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rPr>
                <a:t>数据传输与存储</a:t>
              </a:r>
              <a:endParaRPr kumimoji="0" lang="zh-CN" altLang="en-US" sz="1550" b="0"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sp>
        <p:nvSpPr>
          <p:cNvPr id="170" name="live-chat_72439"/>
          <p:cNvSpPr>
            <a:spLocks noChangeAspect="1"/>
          </p:cNvSpPr>
          <p:nvPr/>
        </p:nvSpPr>
        <p:spPr>
          <a:xfrm>
            <a:off x="10614089" y="3501621"/>
            <a:ext cx="469573" cy="409911"/>
          </a:xfrm>
          <a:custGeom>
            <a:avLst/>
            <a:gdLst>
              <a:gd name="connsiteX0" fmla="*/ 424975 w 608697"/>
              <a:gd name="connsiteY0" fmla="*/ 168488 h 531358"/>
              <a:gd name="connsiteX1" fmla="*/ 387604 w 608697"/>
              <a:gd name="connsiteY1" fmla="*/ 205806 h 531358"/>
              <a:gd name="connsiteX2" fmla="*/ 424975 w 608697"/>
              <a:gd name="connsiteY2" fmla="*/ 243124 h 531358"/>
              <a:gd name="connsiteX3" fmla="*/ 462346 w 608697"/>
              <a:gd name="connsiteY3" fmla="*/ 205806 h 531358"/>
              <a:gd name="connsiteX4" fmla="*/ 424975 w 608697"/>
              <a:gd name="connsiteY4" fmla="*/ 168488 h 531358"/>
              <a:gd name="connsiteX5" fmla="*/ 287947 w 608697"/>
              <a:gd name="connsiteY5" fmla="*/ 168488 h 531358"/>
              <a:gd name="connsiteX6" fmla="*/ 250576 w 608697"/>
              <a:gd name="connsiteY6" fmla="*/ 205806 h 531358"/>
              <a:gd name="connsiteX7" fmla="*/ 287947 w 608697"/>
              <a:gd name="connsiteY7" fmla="*/ 243124 h 531358"/>
              <a:gd name="connsiteX8" fmla="*/ 325318 w 608697"/>
              <a:gd name="connsiteY8" fmla="*/ 205806 h 531358"/>
              <a:gd name="connsiteX9" fmla="*/ 287947 w 608697"/>
              <a:gd name="connsiteY9" fmla="*/ 168488 h 531358"/>
              <a:gd name="connsiteX10" fmla="*/ 102356 w 608697"/>
              <a:gd name="connsiteY10" fmla="*/ 121231 h 531358"/>
              <a:gd name="connsiteX11" fmla="*/ 98850 w 608697"/>
              <a:gd name="connsiteY11" fmla="*/ 127711 h 531358"/>
              <a:gd name="connsiteX12" fmla="*/ 76842 w 608697"/>
              <a:gd name="connsiteY12" fmla="*/ 217990 h 531358"/>
              <a:gd name="connsiteX13" fmla="*/ 98850 w 608697"/>
              <a:gd name="connsiteY13" fmla="*/ 308194 h 531358"/>
              <a:gd name="connsiteX14" fmla="*/ 157488 w 608697"/>
              <a:gd name="connsiteY14" fmla="*/ 380223 h 531358"/>
              <a:gd name="connsiteX15" fmla="*/ 344668 w 608697"/>
              <a:gd name="connsiteY15" fmla="*/ 444729 h 531358"/>
              <a:gd name="connsiteX16" fmla="*/ 370257 w 608697"/>
              <a:gd name="connsiteY16" fmla="*/ 443687 h 531358"/>
              <a:gd name="connsiteX17" fmla="*/ 236717 w 608697"/>
              <a:gd name="connsiteY17" fmla="*/ 477876 h 531358"/>
              <a:gd name="connsiteX18" fmla="*/ 198072 w 608697"/>
              <a:gd name="connsiteY18" fmla="*/ 475344 h 531358"/>
              <a:gd name="connsiteX19" fmla="*/ 82437 w 608697"/>
              <a:gd name="connsiteY19" fmla="*/ 531284 h 531358"/>
              <a:gd name="connsiteX20" fmla="*/ 81542 w 608697"/>
              <a:gd name="connsiteY20" fmla="*/ 531358 h 531358"/>
              <a:gd name="connsiteX21" fmla="*/ 75051 w 608697"/>
              <a:gd name="connsiteY21" fmla="*/ 527857 h 531358"/>
              <a:gd name="connsiteX22" fmla="*/ 74753 w 608697"/>
              <a:gd name="connsiteY22" fmla="*/ 519738 h 531358"/>
              <a:gd name="connsiteX23" fmla="*/ 88778 w 608697"/>
              <a:gd name="connsiteY23" fmla="*/ 435046 h 531358"/>
              <a:gd name="connsiteX24" fmla="*/ 0 w 608697"/>
              <a:gd name="connsiteY24" fmla="*/ 282198 h 531358"/>
              <a:gd name="connsiteX25" fmla="*/ 102356 w 608697"/>
              <a:gd name="connsiteY25" fmla="*/ 121231 h 531358"/>
              <a:gd name="connsiteX26" fmla="*/ 356424 w 608697"/>
              <a:gd name="connsiteY26" fmla="*/ 0 h 531358"/>
              <a:gd name="connsiteX27" fmla="*/ 608697 w 608697"/>
              <a:gd name="connsiteY27" fmla="*/ 211244 h 531358"/>
              <a:gd name="connsiteX28" fmla="*/ 518290 w 608697"/>
              <a:gd name="connsiteY28" fmla="*/ 373401 h 531358"/>
              <a:gd name="connsiteX29" fmla="*/ 531941 w 608697"/>
              <a:gd name="connsiteY29" fmla="*/ 441109 h 531358"/>
              <a:gd name="connsiteX30" fmla="*/ 531120 w 608697"/>
              <a:gd name="connsiteY30" fmla="*/ 465391 h 531358"/>
              <a:gd name="connsiteX31" fmla="*/ 511577 w 608697"/>
              <a:gd name="connsiteY31" fmla="*/ 475894 h 531358"/>
              <a:gd name="connsiteX32" fmla="*/ 509041 w 608697"/>
              <a:gd name="connsiteY32" fmla="*/ 475745 h 531358"/>
              <a:gd name="connsiteX33" fmla="*/ 391408 w 608697"/>
              <a:gd name="connsiteY33" fmla="*/ 420476 h 531358"/>
              <a:gd name="connsiteX34" fmla="*/ 356424 w 608697"/>
              <a:gd name="connsiteY34" fmla="*/ 422487 h 531358"/>
              <a:gd name="connsiteX35" fmla="*/ 104225 w 608697"/>
              <a:gd name="connsiteY35" fmla="*/ 211244 h 531358"/>
              <a:gd name="connsiteX36" fmla="*/ 356424 w 608697"/>
              <a:gd name="connsiteY36" fmla="*/ 0 h 53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08697" h="531358">
                <a:moveTo>
                  <a:pt x="424975" y="168488"/>
                </a:moveTo>
                <a:cubicBezTo>
                  <a:pt x="404312" y="168488"/>
                  <a:pt x="387604" y="185248"/>
                  <a:pt x="387604" y="205806"/>
                </a:cubicBezTo>
                <a:cubicBezTo>
                  <a:pt x="387604" y="226439"/>
                  <a:pt x="404312" y="243124"/>
                  <a:pt x="424975" y="243124"/>
                </a:cubicBezTo>
                <a:cubicBezTo>
                  <a:pt x="445562" y="243124"/>
                  <a:pt x="462346" y="226439"/>
                  <a:pt x="462346" y="205806"/>
                </a:cubicBezTo>
                <a:cubicBezTo>
                  <a:pt x="462346" y="185248"/>
                  <a:pt x="445637" y="168488"/>
                  <a:pt x="424975" y="168488"/>
                </a:cubicBezTo>
                <a:close/>
                <a:moveTo>
                  <a:pt x="287947" y="168488"/>
                </a:moveTo>
                <a:cubicBezTo>
                  <a:pt x="267285" y="168488"/>
                  <a:pt x="250576" y="185248"/>
                  <a:pt x="250576" y="205806"/>
                </a:cubicBezTo>
                <a:cubicBezTo>
                  <a:pt x="250576" y="226439"/>
                  <a:pt x="267285" y="243124"/>
                  <a:pt x="287947" y="243124"/>
                </a:cubicBezTo>
                <a:cubicBezTo>
                  <a:pt x="308610" y="243124"/>
                  <a:pt x="325318" y="226439"/>
                  <a:pt x="325318" y="205806"/>
                </a:cubicBezTo>
                <a:cubicBezTo>
                  <a:pt x="325318" y="185248"/>
                  <a:pt x="308610" y="168488"/>
                  <a:pt x="287947" y="168488"/>
                </a:cubicBezTo>
                <a:close/>
                <a:moveTo>
                  <a:pt x="102356" y="121231"/>
                </a:moveTo>
                <a:cubicBezTo>
                  <a:pt x="101162" y="123317"/>
                  <a:pt x="99969" y="125477"/>
                  <a:pt x="98850" y="127711"/>
                </a:cubicBezTo>
                <a:cubicBezTo>
                  <a:pt x="84227" y="156240"/>
                  <a:pt x="76842" y="186631"/>
                  <a:pt x="76842" y="217990"/>
                </a:cubicBezTo>
                <a:cubicBezTo>
                  <a:pt x="76842" y="249275"/>
                  <a:pt x="84227" y="279666"/>
                  <a:pt x="98850" y="308194"/>
                </a:cubicBezTo>
                <a:cubicBezTo>
                  <a:pt x="112726" y="335308"/>
                  <a:pt x="132496" y="359516"/>
                  <a:pt x="157488" y="380223"/>
                </a:cubicBezTo>
                <a:cubicBezTo>
                  <a:pt x="207845" y="421787"/>
                  <a:pt x="274317" y="444729"/>
                  <a:pt x="344668" y="444729"/>
                </a:cubicBezTo>
                <a:cubicBezTo>
                  <a:pt x="353173" y="444729"/>
                  <a:pt x="361752" y="444357"/>
                  <a:pt x="370257" y="443687"/>
                </a:cubicBezTo>
                <a:cubicBezTo>
                  <a:pt x="332209" y="465288"/>
                  <a:pt x="286254" y="477876"/>
                  <a:pt x="236717" y="477876"/>
                </a:cubicBezTo>
                <a:cubicBezTo>
                  <a:pt x="223736" y="477876"/>
                  <a:pt x="210755" y="477057"/>
                  <a:pt x="198072" y="475344"/>
                </a:cubicBezTo>
                <a:cubicBezTo>
                  <a:pt x="160397" y="499478"/>
                  <a:pt x="110637" y="528155"/>
                  <a:pt x="82437" y="531284"/>
                </a:cubicBezTo>
                <a:cubicBezTo>
                  <a:pt x="82138" y="531358"/>
                  <a:pt x="81840" y="531358"/>
                  <a:pt x="81542" y="531358"/>
                </a:cubicBezTo>
                <a:cubicBezTo>
                  <a:pt x="78930" y="531358"/>
                  <a:pt x="76469" y="530017"/>
                  <a:pt x="75051" y="527857"/>
                </a:cubicBezTo>
                <a:cubicBezTo>
                  <a:pt x="73410" y="525399"/>
                  <a:pt x="73335" y="522271"/>
                  <a:pt x="74753" y="519738"/>
                </a:cubicBezTo>
                <a:cubicBezTo>
                  <a:pt x="75051" y="519291"/>
                  <a:pt x="99223" y="476014"/>
                  <a:pt x="88778" y="435046"/>
                </a:cubicBezTo>
                <a:cubicBezTo>
                  <a:pt x="32303" y="397653"/>
                  <a:pt x="0" y="342160"/>
                  <a:pt x="0" y="282198"/>
                </a:cubicBezTo>
                <a:cubicBezTo>
                  <a:pt x="0" y="215532"/>
                  <a:pt x="40584" y="156538"/>
                  <a:pt x="102356" y="121231"/>
                </a:cubicBezTo>
                <a:close/>
                <a:moveTo>
                  <a:pt x="356424" y="0"/>
                </a:moveTo>
                <a:cubicBezTo>
                  <a:pt x="495540" y="0"/>
                  <a:pt x="608697" y="94747"/>
                  <a:pt x="608697" y="211244"/>
                </a:cubicBezTo>
                <a:cubicBezTo>
                  <a:pt x="608697" y="274408"/>
                  <a:pt x="575802" y="333178"/>
                  <a:pt x="518290" y="373401"/>
                </a:cubicBezTo>
                <a:cubicBezTo>
                  <a:pt x="512845" y="406324"/>
                  <a:pt x="531717" y="440811"/>
                  <a:pt x="531941" y="441109"/>
                </a:cubicBezTo>
                <a:cubicBezTo>
                  <a:pt x="536267" y="448781"/>
                  <a:pt x="535969" y="458092"/>
                  <a:pt x="531120" y="465391"/>
                </a:cubicBezTo>
                <a:cubicBezTo>
                  <a:pt x="526794" y="472021"/>
                  <a:pt x="519484" y="475894"/>
                  <a:pt x="511577" y="475894"/>
                </a:cubicBezTo>
                <a:cubicBezTo>
                  <a:pt x="510756" y="475894"/>
                  <a:pt x="509936" y="475894"/>
                  <a:pt x="509041" y="475745"/>
                </a:cubicBezTo>
                <a:cubicBezTo>
                  <a:pt x="484574" y="473064"/>
                  <a:pt x="444966" y="454442"/>
                  <a:pt x="391408" y="420476"/>
                </a:cubicBezTo>
                <a:cubicBezTo>
                  <a:pt x="379920" y="421817"/>
                  <a:pt x="368135" y="422487"/>
                  <a:pt x="356424" y="422487"/>
                </a:cubicBezTo>
                <a:cubicBezTo>
                  <a:pt x="217382" y="422487"/>
                  <a:pt x="104225" y="327741"/>
                  <a:pt x="104225" y="211244"/>
                </a:cubicBezTo>
                <a:cubicBezTo>
                  <a:pt x="104225" y="94747"/>
                  <a:pt x="217382" y="0"/>
                  <a:pt x="356424"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cxnSp>
        <p:nvCxnSpPr>
          <p:cNvPr id="171" name="直线箭头连接符 75"/>
          <p:cNvCxnSpPr/>
          <p:nvPr/>
        </p:nvCxnSpPr>
        <p:spPr>
          <a:xfrm flipV="1">
            <a:off x="10848875" y="4530286"/>
            <a:ext cx="0" cy="714857"/>
          </a:xfrm>
          <a:prstGeom prst="straightConnector1">
            <a:avLst/>
          </a:prstGeom>
          <a:ln w="12700">
            <a:solidFill>
              <a:srgbClr val="0042FF"/>
            </a:solidFill>
            <a:prstDash val="dash"/>
            <a:tailEnd type="triangle"/>
          </a:ln>
        </p:spPr>
        <p:style>
          <a:lnRef idx="1">
            <a:srgbClr val="0042FF"/>
          </a:lnRef>
          <a:fillRef idx="0">
            <a:srgbClr val="0042FF"/>
          </a:fillRef>
          <a:effectRef idx="0">
            <a:srgbClr val="0042FF"/>
          </a:effectRef>
          <a:fontRef idx="minor">
            <a:srgbClr val="383838"/>
          </a:fontRef>
        </p:style>
      </p:cxnSp>
      <p:sp>
        <p:nvSpPr>
          <p:cNvPr id="172" name="椭圆 171"/>
          <p:cNvSpPr/>
          <p:nvPr/>
        </p:nvSpPr>
        <p:spPr>
          <a:xfrm>
            <a:off x="735730" y="3248918"/>
            <a:ext cx="1219835" cy="1219835"/>
          </a:xfrm>
          <a:prstGeom prst="ellipse">
            <a:avLst/>
          </a:prstGeom>
          <a:gradFill>
            <a:gsLst>
              <a:gs pos="0">
                <a:srgbClr val="3368FF"/>
              </a:gs>
              <a:gs pos="100000">
                <a:srgbClr val="0042FF"/>
              </a:gs>
            </a:gsLst>
            <a:lin ang="5400000" scaled="0"/>
          </a:gra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73" name="文本框 172"/>
          <p:cNvSpPr txBox="1"/>
          <p:nvPr/>
        </p:nvSpPr>
        <p:spPr>
          <a:xfrm>
            <a:off x="996835" y="3986634"/>
            <a:ext cx="697627" cy="246221"/>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000" b="0" i="0" u="none" strike="noStrike" kern="0" cap="none" spc="0" normalizeH="0" baseline="0" noProof="0" dirty="0">
                <a:ln>
                  <a:noFill/>
                </a:ln>
                <a:solidFill>
                  <a:srgbClr val="FFFFFF"/>
                </a:solidFill>
                <a:effectLst/>
                <a:uLnTx/>
                <a:uFillTx/>
                <a:latin typeface="微软雅黑"/>
                <a:ea typeface="微软雅黑"/>
                <a:cs typeface="微软雅黑"/>
              </a:rPr>
              <a:t>先进芯片</a:t>
            </a:r>
            <a:endParaRPr kumimoji="0" lang="zh-CN" altLang="en-US" sz="1000" b="0" i="0" u="none" strike="noStrike" kern="0" cap="none" spc="0" normalizeH="0" baseline="0" noProof="0" dirty="0">
              <a:ln>
                <a:noFill/>
              </a:ln>
              <a:solidFill>
                <a:srgbClr val="FFFFFF"/>
              </a:solidFill>
              <a:effectLst/>
              <a:uLnTx/>
              <a:uFillTx/>
              <a:latin typeface="微软雅黑"/>
              <a:ea typeface="微软雅黑"/>
              <a:cs typeface="微软雅黑"/>
            </a:endParaRPr>
          </a:p>
        </p:txBody>
      </p:sp>
      <p:cxnSp>
        <p:nvCxnSpPr>
          <p:cNvPr id="174" name="直线箭头连接符 78"/>
          <p:cNvCxnSpPr/>
          <p:nvPr/>
        </p:nvCxnSpPr>
        <p:spPr>
          <a:xfrm>
            <a:off x="1345647" y="2446843"/>
            <a:ext cx="0" cy="714857"/>
          </a:xfrm>
          <a:prstGeom prst="straightConnector1">
            <a:avLst/>
          </a:prstGeom>
          <a:ln w="12700">
            <a:solidFill>
              <a:srgbClr val="0042FF"/>
            </a:solidFill>
            <a:prstDash val="dash"/>
            <a:tailEnd type="triangle"/>
          </a:ln>
        </p:spPr>
        <p:style>
          <a:lnRef idx="1">
            <a:srgbClr val="0042FF"/>
          </a:lnRef>
          <a:fillRef idx="0">
            <a:srgbClr val="0042FF"/>
          </a:fillRef>
          <a:effectRef idx="0">
            <a:srgbClr val="0042FF"/>
          </a:effectRef>
          <a:fontRef idx="minor">
            <a:srgbClr val="383838"/>
          </a:fontRef>
        </p:style>
      </p:cxnSp>
      <p:sp>
        <p:nvSpPr>
          <p:cNvPr id="175" name="live-chat_72439"/>
          <p:cNvSpPr>
            <a:spLocks noChangeAspect="1"/>
          </p:cNvSpPr>
          <p:nvPr/>
        </p:nvSpPr>
        <p:spPr>
          <a:xfrm>
            <a:off x="1110861" y="3501621"/>
            <a:ext cx="469573" cy="409911"/>
          </a:xfrm>
          <a:custGeom>
            <a:avLst/>
            <a:gdLst>
              <a:gd name="connsiteX0" fmla="*/ 424975 w 608697"/>
              <a:gd name="connsiteY0" fmla="*/ 168488 h 531358"/>
              <a:gd name="connsiteX1" fmla="*/ 387604 w 608697"/>
              <a:gd name="connsiteY1" fmla="*/ 205806 h 531358"/>
              <a:gd name="connsiteX2" fmla="*/ 424975 w 608697"/>
              <a:gd name="connsiteY2" fmla="*/ 243124 h 531358"/>
              <a:gd name="connsiteX3" fmla="*/ 462346 w 608697"/>
              <a:gd name="connsiteY3" fmla="*/ 205806 h 531358"/>
              <a:gd name="connsiteX4" fmla="*/ 424975 w 608697"/>
              <a:gd name="connsiteY4" fmla="*/ 168488 h 531358"/>
              <a:gd name="connsiteX5" fmla="*/ 287947 w 608697"/>
              <a:gd name="connsiteY5" fmla="*/ 168488 h 531358"/>
              <a:gd name="connsiteX6" fmla="*/ 250576 w 608697"/>
              <a:gd name="connsiteY6" fmla="*/ 205806 h 531358"/>
              <a:gd name="connsiteX7" fmla="*/ 287947 w 608697"/>
              <a:gd name="connsiteY7" fmla="*/ 243124 h 531358"/>
              <a:gd name="connsiteX8" fmla="*/ 325318 w 608697"/>
              <a:gd name="connsiteY8" fmla="*/ 205806 h 531358"/>
              <a:gd name="connsiteX9" fmla="*/ 287947 w 608697"/>
              <a:gd name="connsiteY9" fmla="*/ 168488 h 531358"/>
              <a:gd name="connsiteX10" fmla="*/ 102356 w 608697"/>
              <a:gd name="connsiteY10" fmla="*/ 121231 h 531358"/>
              <a:gd name="connsiteX11" fmla="*/ 98850 w 608697"/>
              <a:gd name="connsiteY11" fmla="*/ 127711 h 531358"/>
              <a:gd name="connsiteX12" fmla="*/ 76842 w 608697"/>
              <a:gd name="connsiteY12" fmla="*/ 217990 h 531358"/>
              <a:gd name="connsiteX13" fmla="*/ 98850 w 608697"/>
              <a:gd name="connsiteY13" fmla="*/ 308194 h 531358"/>
              <a:gd name="connsiteX14" fmla="*/ 157488 w 608697"/>
              <a:gd name="connsiteY14" fmla="*/ 380223 h 531358"/>
              <a:gd name="connsiteX15" fmla="*/ 344668 w 608697"/>
              <a:gd name="connsiteY15" fmla="*/ 444729 h 531358"/>
              <a:gd name="connsiteX16" fmla="*/ 370257 w 608697"/>
              <a:gd name="connsiteY16" fmla="*/ 443687 h 531358"/>
              <a:gd name="connsiteX17" fmla="*/ 236717 w 608697"/>
              <a:gd name="connsiteY17" fmla="*/ 477876 h 531358"/>
              <a:gd name="connsiteX18" fmla="*/ 198072 w 608697"/>
              <a:gd name="connsiteY18" fmla="*/ 475344 h 531358"/>
              <a:gd name="connsiteX19" fmla="*/ 82437 w 608697"/>
              <a:gd name="connsiteY19" fmla="*/ 531284 h 531358"/>
              <a:gd name="connsiteX20" fmla="*/ 81542 w 608697"/>
              <a:gd name="connsiteY20" fmla="*/ 531358 h 531358"/>
              <a:gd name="connsiteX21" fmla="*/ 75051 w 608697"/>
              <a:gd name="connsiteY21" fmla="*/ 527857 h 531358"/>
              <a:gd name="connsiteX22" fmla="*/ 74753 w 608697"/>
              <a:gd name="connsiteY22" fmla="*/ 519738 h 531358"/>
              <a:gd name="connsiteX23" fmla="*/ 88778 w 608697"/>
              <a:gd name="connsiteY23" fmla="*/ 435046 h 531358"/>
              <a:gd name="connsiteX24" fmla="*/ 0 w 608697"/>
              <a:gd name="connsiteY24" fmla="*/ 282198 h 531358"/>
              <a:gd name="connsiteX25" fmla="*/ 102356 w 608697"/>
              <a:gd name="connsiteY25" fmla="*/ 121231 h 531358"/>
              <a:gd name="connsiteX26" fmla="*/ 356424 w 608697"/>
              <a:gd name="connsiteY26" fmla="*/ 0 h 531358"/>
              <a:gd name="connsiteX27" fmla="*/ 608697 w 608697"/>
              <a:gd name="connsiteY27" fmla="*/ 211244 h 531358"/>
              <a:gd name="connsiteX28" fmla="*/ 518290 w 608697"/>
              <a:gd name="connsiteY28" fmla="*/ 373401 h 531358"/>
              <a:gd name="connsiteX29" fmla="*/ 531941 w 608697"/>
              <a:gd name="connsiteY29" fmla="*/ 441109 h 531358"/>
              <a:gd name="connsiteX30" fmla="*/ 531120 w 608697"/>
              <a:gd name="connsiteY30" fmla="*/ 465391 h 531358"/>
              <a:gd name="connsiteX31" fmla="*/ 511577 w 608697"/>
              <a:gd name="connsiteY31" fmla="*/ 475894 h 531358"/>
              <a:gd name="connsiteX32" fmla="*/ 509041 w 608697"/>
              <a:gd name="connsiteY32" fmla="*/ 475745 h 531358"/>
              <a:gd name="connsiteX33" fmla="*/ 391408 w 608697"/>
              <a:gd name="connsiteY33" fmla="*/ 420476 h 531358"/>
              <a:gd name="connsiteX34" fmla="*/ 356424 w 608697"/>
              <a:gd name="connsiteY34" fmla="*/ 422487 h 531358"/>
              <a:gd name="connsiteX35" fmla="*/ 104225 w 608697"/>
              <a:gd name="connsiteY35" fmla="*/ 211244 h 531358"/>
              <a:gd name="connsiteX36" fmla="*/ 356424 w 608697"/>
              <a:gd name="connsiteY36" fmla="*/ 0 h 53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08697" h="531358">
                <a:moveTo>
                  <a:pt x="424975" y="168488"/>
                </a:moveTo>
                <a:cubicBezTo>
                  <a:pt x="404312" y="168488"/>
                  <a:pt x="387604" y="185248"/>
                  <a:pt x="387604" y="205806"/>
                </a:cubicBezTo>
                <a:cubicBezTo>
                  <a:pt x="387604" y="226439"/>
                  <a:pt x="404312" y="243124"/>
                  <a:pt x="424975" y="243124"/>
                </a:cubicBezTo>
                <a:cubicBezTo>
                  <a:pt x="445562" y="243124"/>
                  <a:pt x="462346" y="226439"/>
                  <a:pt x="462346" y="205806"/>
                </a:cubicBezTo>
                <a:cubicBezTo>
                  <a:pt x="462346" y="185248"/>
                  <a:pt x="445637" y="168488"/>
                  <a:pt x="424975" y="168488"/>
                </a:cubicBezTo>
                <a:close/>
                <a:moveTo>
                  <a:pt x="287947" y="168488"/>
                </a:moveTo>
                <a:cubicBezTo>
                  <a:pt x="267285" y="168488"/>
                  <a:pt x="250576" y="185248"/>
                  <a:pt x="250576" y="205806"/>
                </a:cubicBezTo>
                <a:cubicBezTo>
                  <a:pt x="250576" y="226439"/>
                  <a:pt x="267285" y="243124"/>
                  <a:pt x="287947" y="243124"/>
                </a:cubicBezTo>
                <a:cubicBezTo>
                  <a:pt x="308610" y="243124"/>
                  <a:pt x="325318" y="226439"/>
                  <a:pt x="325318" y="205806"/>
                </a:cubicBezTo>
                <a:cubicBezTo>
                  <a:pt x="325318" y="185248"/>
                  <a:pt x="308610" y="168488"/>
                  <a:pt x="287947" y="168488"/>
                </a:cubicBezTo>
                <a:close/>
                <a:moveTo>
                  <a:pt x="102356" y="121231"/>
                </a:moveTo>
                <a:cubicBezTo>
                  <a:pt x="101162" y="123317"/>
                  <a:pt x="99969" y="125477"/>
                  <a:pt x="98850" y="127711"/>
                </a:cubicBezTo>
                <a:cubicBezTo>
                  <a:pt x="84227" y="156240"/>
                  <a:pt x="76842" y="186631"/>
                  <a:pt x="76842" y="217990"/>
                </a:cubicBezTo>
                <a:cubicBezTo>
                  <a:pt x="76842" y="249275"/>
                  <a:pt x="84227" y="279666"/>
                  <a:pt x="98850" y="308194"/>
                </a:cubicBezTo>
                <a:cubicBezTo>
                  <a:pt x="112726" y="335308"/>
                  <a:pt x="132496" y="359516"/>
                  <a:pt x="157488" y="380223"/>
                </a:cubicBezTo>
                <a:cubicBezTo>
                  <a:pt x="207845" y="421787"/>
                  <a:pt x="274317" y="444729"/>
                  <a:pt x="344668" y="444729"/>
                </a:cubicBezTo>
                <a:cubicBezTo>
                  <a:pt x="353173" y="444729"/>
                  <a:pt x="361752" y="444357"/>
                  <a:pt x="370257" y="443687"/>
                </a:cubicBezTo>
                <a:cubicBezTo>
                  <a:pt x="332209" y="465288"/>
                  <a:pt x="286254" y="477876"/>
                  <a:pt x="236717" y="477876"/>
                </a:cubicBezTo>
                <a:cubicBezTo>
                  <a:pt x="223736" y="477876"/>
                  <a:pt x="210755" y="477057"/>
                  <a:pt x="198072" y="475344"/>
                </a:cubicBezTo>
                <a:cubicBezTo>
                  <a:pt x="160397" y="499478"/>
                  <a:pt x="110637" y="528155"/>
                  <a:pt x="82437" y="531284"/>
                </a:cubicBezTo>
                <a:cubicBezTo>
                  <a:pt x="82138" y="531358"/>
                  <a:pt x="81840" y="531358"/>
                  <a:pt x="81542" y="531358"/>
                </a:cubicBezTo>
                <a:cubicBezTo>
                  <a:pt x="78930" y="531358"/>
                  <a:pt x="76469" y="530017"/>
                  <a:pt x="75051" y="527857"/>
                </a:cubicBezTo>
                <a:cubicBezTo>
                  <a:pt x="73410" y="525399"/>
                  <a:pt x="73335" y="522271"/>
                  <a:pt x="74753" y="519738"/>
                </a:cubicBezTo>
                <a:cubicBezTo>
                  <a:pt x="75051" y="519291"/>
                  <a:pt x="99223" y="476014"/>
                  <a:pt x="88778" y="435046"/>
                </a:cubicBezTo>
                <a:cubicBezTo>
                  <a:pt x="32303" y="397653"/>
                  <a:pt x="0" y="342160"/>
                  <a:pt x="0" y="282198"/>
                </a:cubicBezTo>
                <a:cubicBezTo>
                  <a:pt x="0" y="215532"/>
                  <a:pt x="40584" y="156538"/>
                  <a:pt x="102356" y="121231"/>
                </a:cubicBezTo>
                <a:close/>
                <a:moveTo>
                  <a:pt x="356424" y="0"/>
                </a:moveTo>
                <a:cubicBezTo>
                  <a:pt x="495540" y="0"/>
                  <a:pt x="608697" y="94747"/>
                  <a:pt x="608697" y="211244"/>
                </a:cubicBezTo>
                <a:cubicBezTo>
                  <a:pt x="608697" y="274408"/>
                  <a:pt x="575802" y="333178"/>
                  <a:pt x="518290" y="373401"/>
                </a:cubicBezTo>
                <a:cubicBezTo>
                  <a:pt x="512845" y="406324"/>
                  <a:pt x="531717" y="440811"/>
                  <a:pt x="531941" y="441109"/>
                </a:cubicBezTo>
                <a:cubicBezTo>
                  <a:pt x="536267" y="448781"/>
                  <a:pt x="535969" y="458092"/>
                  <a:pt x="531120" y="465391"/>
                </a:cubicBezTo>
                <a:cubicBezTo>
                  <a:pt x="526794" y="472021"/>
                  <a:pt x="519484" y="475894"/>
                  <a:pt x="511577" y="475894"/>
                </a:cubicBezTo>
                <a:cubicBezTo>
                  <a:pt x="510756" y="475894"/>
                  <a:pt x="509936" y="475894"/>
                  <a:pt x="509041" y="475745"/>
                </a:cubicBezTo>
                <a:cubicBezTo>
                  <a:pt x="484574" y="473064"/>
                  <a:pt x="444966" y="454442"/>
                  <a:pt x="391408" y="420476"/>
                </a:cubicBezTo>
                <a:cubicBezTo>
                  <a:pt x="379920" y="421817"/>
                  <a:pt x="368135" y="422487"/>
                  <a:pt x="356424" y="422487"/>
                </a:cubicBezTo>
                <a:cubicBezTo>
                  <a:pt x="217382" y="422487"/>
                  <a:pt x="104225" y="327741"/>
                  <a:pt x="104225" y="211244"/>
                </a:cubicBezTo>
                <a:cubicBezTo>
                  <a:pt x="104225" y="94747"/>
                  <a:pt x="217382" y="0"/>
                  <a:pt x="356424"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cxnSp>
        <p:nvCxnSpPr>
          <p:cNvPr id="176" name="直线箭头连接符 80"/>
          <p:cNvCxnSpPr/>
          <p:nvPr/>
        </p:nvCxnSpPr>
        <p:spPr>
          <a:xfrm>
            <a:off x="1345647" y="4530286"/>
            <a:ext cx="0" cy="714857"/>
          </a:xfrm>
          <a:prstGeom prst="straightConnector1">
            <a:avLst/>
          </a:prstGeom>
          <a:ln w="12700">
            <a:solidFill>
              <a:srgbClr val="0042FF"/>
            </a:solidFill>
            <a:prstDash val="dash"/>
            <a:tailEnd type="triangle"/>
          </a:ln>
        </p:spPr>
        <p:style>
          <a:lnRef idx="1">
            <a:srgbClr val="0042FF"/>
          </a:lnRef>
          <a:fillRef idx="0">
            <a:srgbClr val="0042FF"/>
          </a:fillRef>
          <a:effectRef idx="0">
            <a:srgbClr val="0042FF"/>
          </a:effectRef>
          <a:fontRef idx="minor">
            <a:srgbClr val="383838"/>
          </a:fontRef>
        </p:style>
      </p:cxnSp>
      <p:sp>
        <p:nvSpPr>
          <p:cNvPr id="177" name="标题 1"/>
          <p:cNvSpPr txBox="1"/>
          <p:nvPr/>
        </p:nvSpPr>
        <p:spPr>
          <a:xfrm>
            <a:off x="4322763" y="3685798"/>
            <a:ext cx="3546475" cy="346075"/>
          </a:xfrm>
          <a:prstGeom prst="rect">
            <a:avLst/>
          </a:prstGeom>
          <a:noFill/>
        </p:spPr>
        <p:txBody>
          <a:bodyPr vert="horz" wrap="square" lIns="0" tIns="0" rIns="0" bIns="0" rtlCol="0" anchor="ctr">
            <a:spAutoFit/>
          </a:bodyPr>
          <a:lstStyle>
            <a:lvl1pPr algn="l" defTabSz="914400" rtl="0" eaLnBrk="1" latinLnBrk="0" hangingPunct="1">
              <a:lnSpc>
                <a:spcPct val="90000"/>
              </a:lnSpc>
              <a:spcBef>
                <a:spcPct val="0"/>
              </a:spcBef>
              <a:buNone/>
              <a:defRPr kumimoji="1" lang="zh-CN" altLang="en-US" sz="1800" kern="1200" dirty="0">
                <a:solidFill>
                  <a:srgbClr val="383838"/>
                </a:solidFill>
                <a:latin typeface="微软雅黑"/>
                <a:ea typeface="微软雅黑"/>
                <a:cs typeface="微软雅黑"/>
              </a:defRPr>
            </a:lvl1pPr>
          </a:lstStyle>
          <a:p>
            <a:pPr algn="ctr">
              <a:defRPr>
                <a:latin typeface="微软雅黑"/>
                <a:ea typeface="微软雅黑"/>
                <a:cs typeface="微软雅黑"/>
              </a:defRPr>
            </a:pPr>
            <a:r>
              <a:rPr lang="zh-CN" altLang="en-US" sz="2500" b="1">
                <a:solidFill>
                  <a:srgbClr val="383838"/>
                </a:solidFill>
                <a:latin typeface="微软雅黑"/>
                <a:ea typeface="微软雅黑"/>
                <a:cs typeface="微软雅黑"/>
              </a:rPr>
              <a:t>产品介绍</a:t>
            </a:r>
            <a:r>
              <a:rPr lang="en-US" altLang="zh-CN" sz="2500" b="1">
                <a:solidFill>
                  <a:srgbClr val="383838"/>
                </a:solidFill>
                <a:latin typeface="微软雅黑"/>
                <a:ea typeface="微软雅黑"/>
                <a:cs typeface="微软雅黑"/>
              </a:rPr>
              <a:t>/</a:t>
            </a:r>
            <a:r>
              <a:rPr lang="zh-CN" altLang="en-US" sz="2500" b="1">
                <a:solidFill>
                  <a:srgbClr val="383838"/>
                </a:solidFill>
                <a:latin typeface="微软雅黑"/>
                <a:ea typeface="微软雅黑"/>
                <a:cs typeface="微软雅黑"/>
              </a:rPr>
              <a:t>项目流程分析</a:t>
            </a:r>
            <a:endParaRPr lang="zh-CN" altLang="en-US" sz="2500" b="1">
              <a:solidFill>
                <a:srgbClr val="383838"/>
              </a:solidFill>
              <a:latin typeface="微软雅黑"/>
              <a:ea typeface="微软雅黑"/>
              <a:cs typeface="微软雅黑"/>
            </a:endParaRPr>
          </a:p>
        </p:txBody>
      </p:sp>
      <p:pic>
        <p:nvPicPr>
          <p:cNvPr id="179" name="图片 178" descr="睡眠管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867275" y="4958715"/>
            <a:ext cx="435610" cy="435610"/>
          </a:xfrm>
          <a:prstGeom prst="rect">
            <a:avLst/>
          </a:prstGeom>
        </p:spPr>
      </p:pic>
      <p:pic>
        <p:nvPicPr>
          <p:cNvPr id="180" name="图片 179" descr="24gf-heartPulse"/>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867275" y="2435860"/>
            <a:ext cx="370205" cy="370205"/>
          </a:xfrm>
          <a:prstGeom prst="rect">
            <a:avLst/>
          </a:prstGeom>
        </p:spPr>
      </p:pic>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7"/>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循环逻辑架构 | </a:t>
            </a:r>
            <a:r>
              <a:rPr lang="zh-CN" altLang="en-US" sz="2500">
                <a:solidFill>
                  <a:srgbClr val="383838"/>
                </a:solidFill>
                <a:effectLst/>
                <a:latin typeface="微软雅黑"/>
                <a:ea typeface="微软雅黑"/>
                <a:cs typeface="微软雅黑"/>
              </a:rPr>
              <a:t>业务数据中台闭环体系</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59" name="Circle"/>
          <p:cNvSpPr/>
          <p:nvPr/>
        </p:nvSpPr>
        <p:spPr>
          <a:xfrm>
            <a:off x="2176145" y="3029585"/>
            <a:ext cx="1689100" cy="1689100"/>
          </a:xfrm>
          <a:prstGeom prst="ellipse">
            <a:avLst/>
          </a:prstGeom>
          <a:gradFill>
            <a:gsLst>
              <a:gs pos="0">
                <a:srgbClr val="3368FF"/>
              </a:gs>
              <a:gs pos="75000">
                <a:srgbClr val="0042FF"/>
              </a:gs>
            </a:gsLst>
            <a:lin ang="5400000" scaled="0"/>
          </a:gradFill>
          <a:ln w="12700" cap="flat">
            <a:noFill/>
            <a:miter lim="400000"/>
          </a:ln>
          <a:effectLst/>
        </p:spPr>
        <p:txBody>
          <a:bodyPr wrap="square" lIns="0" tIns="0" rIns="0" bIns="0" numCol="1" anchor="ctr">
            <a:noAutofit/>
          </a:bodyPr>
          <a:lstStyle/>
          <a:p>
            <a:pPr algn="ctr" defTabSz="412750" hangingPunct="0">
              <a:defRPr sz="3200" b="0">
                <a:solidFill>
                  <a:srgbClr val="FFFFFF"/>
                </a:solidFill>
                <a:latin typeface="微软雅黑"/>
                <a:ea typeface="微软雅黑"/>
                <a:cs typeface="微软雅黑"/>
                <a:sym typeface="微软雅黑"/>
              </a:defRPr>
            </a:pPr>
            <a:endParaRPr sz="1600" kern="0">
              <a:solidFill>
                <a:srgbClr val="FFFFFF"/>
              </a:solidFill>
              <a:latin typeface="微软雅黑"/>
              <a:ea typeface="微软雅黑"/>
              <a:cs typeface="微软雅黑"/>
              <a:sym typeface="微软雅黑"/>
            </a:endParaRPr>
          </a:p>
        </p:txBody>
      </p:sp>
      <p:sp>
        <p:nvSpPr>
          <p:cNvPr id="2" name="Circle"/>
          <p:cNvSpPr/>
          <p:nvPr/>
        </p:nvSpPr>
        <p:spPr>
          <a:xfrm>
            <a:off x="8278495" y="3029585"/>
            <a:ext cx="1689100" cy="1689100"/>
          </a:xfrm>
          <a:prstGeom prst="ellipse">
            <a:avLst/>
          </a:prstGeom>
          <a:gradFill>
            <a:gsLst>
              <a:gs pos="0">
                <a:srgbClr val="B3D4FE"/>
              </a:gs>
              <a:gs pos="75000">
                <a:srgbClr val="3368FF"/>
              </a:gs>
            </a:gsLst>
            <a:lin ang="5400000" scaled="0"/>
          </a:gradFill>
          <a:ln w="12700" cap="flat">
            <a:noFill/>
            <a:miter lim="400000"/>
          </a:ln>
          <a:effectLst/>
        </p:spPr>
        <p:txBody>
          <a:bodyPr wrap="square" lIns="0" tIns="0" rIns="0" bIns="0" numCol="1" anchor="ctr">
            <a:noAutofit/>
          </a:bodyPr>
          <a:lstStyle/>
          <a:p>
            <a:pPr lvl="0" algn="ctr" defTabSz="412750" hangingPunct="0">
              <a:buClrTx/>
              <a:buSzTx/>
              <a:buFontTx/>
              <a:defRPr sz="3200" b="0">
                <a:solidFill>
                  <a:srgbClr val="FFFFFF"/>
                </a:solidFill>
                <a:latin typeface="微软雅黑"/>
                <a:ea typeface="微软雅黑"/>
                <a:cs typeface="微软雅黑"/>
                <a:sym typeface="微软雅黑"/>
              </a:defRPr>
            </a:pPr>
            <a:endParaRPr sz="1600" kern="0">
              <a:solidFill>
                <a:srgbClr val="FFFFFF"/>
              </a:solidFill>
              <a:latin typeface="微软雅黑"/>
              <a:ea typeface="微软雅黑"/>
              <a:cs typeface="微软雅黑"/>
              <a:sym typeface="微软雅黑"/>
            </a:endParaRPr>
          </a:p>
        </p:txBody>
      </p:sp>
      <p:sp>
        <p:nvSpPr>
          <p:cNvPr id="61" name="Shape"/>
          <p:cNvSpPr/>
          <p:nvPr/>
        </p:nvSpPr>
        <p:spPr>
          <a:xfrm>
            <a:off x="3369945" y="2115820"/>
            <a:ext cx="2836545" cy="61023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118" y="0"/>
                </a:lnTo>
                <a:lnTo>
                  <a:pt x="21600" y="10922"/>
                </a:lnTo>
                <a:lnTo>
                  <a:pt x="19234" y="21600"/>
                </a:lnTo>
                <a:lnTo>
                  <a:pt x="127" y="21600"/>
                </a:lnTo>
                <a:lnTo>
                  <a:pt x="2478" y="10798"/>
                </a:lnTo>
                <a:lnTo>
                  <a:pt x="0" y="0"/>
                </a:lnTo>
                <a:close/>
              </a:path>
            </a:pathLst>
          </a:custGeom>
          <a:gradFill>
            <a:gsLst>
              <a:gs pos="0">
                <a:srgbClr val="668EFF"/>
              </a:gs>
              <a:gs pos="100000">
                <a:srgbClr val="3368FF"/>
              </a:gs>
            </a:gsLst>
            <a:lin ang="0" scaled="0"/>
          </a:gradFill>
          <a:ln>
            <a:noFill/>
          </a:ln>
          <a:effectLst>
            <a:outerShdw blurRad="177800" sx="102000" sy="102000" algn="ctr" rotWithShape="0">
              <a:srgbClr val="0042FF">
                <a:alpha val="11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a:solidFill>
                <a:srgbClr val="FFFFFF"/>
              </a:solidFill>
              <a:latin typeface="微软雅黑"/>
              <a:ea typeface="微软雅黑"/>
              <a:cs typeface="微软雅黑"/>
              <a:sym typeface="微软雅黑"/>
            </a:endParaRPr>
          </a:p>
        </p:txBody>
      </p:sp>
      <p:sp>
        <p:nvSpPr>
          <p:cNvPr id="66" name="Shape"/>
          <p:cNvSpPr/>
          <p:nvPr/>
        </p:nvSpPr>
        <p:spPr>
          <a:xfrm>
            <a:off x="6036310" y="2116455"/>
            <a:ext cx="2839085" cy="60769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116" y="0"/>
                </a:lnTo>
                <a:lnTo>
                  <a:pt x="21600" y="10872"/>
                </a:lnTo>
                <a:lnTo>
                  <a:pt x="19242" y="21600"/>
                </a:lnTo>
                <a:lnTo>
                  <a:pt x="127" y="21600"/>
                </a:lnTo>
                <a:lnTo>
                  <a:pt x="2468" y="10820"/>
                </a:lnTo>
                <a:lnTo>
                  <a:pt x="0" y="0"/>
                </a:lnTo>
                <a:close/>
              </a:path>
            </a:pathLst>
          </a:custGeom>
          <a:gradFill>
            <a:gsLst>
              <a:gs pos="0">
                <a:srgbClr val="668EFF"/>
              </a:gs>
              <a:gs pos="100000">
                <a:srgbClr val="3368FF"/>
              </a:gs>
            </a:gsLst>
            <a:lin ang="0" scaled="0"/>
          </a:gradFill>
          <a:ln>
            <a:noFill/>
          </a:ln>
          <a:effectLst>
            <a:outerShdw blurRad="177800" sx="102000" sy="102000" algn="ctr" rotWithShape="0">
              <a:srgbClr val="0042FF">
                <a:alpha val="11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a:solidFill>
                <a:srgbClr val="FFFFFF"/>
              </a:solidFill>
              <a:latin typeface="微软雅黑"/>
              <a:ea typeface="微软雅黑"/>
              <a:cs typeface="微软雅黑"/>
              <a:sym typeface="微软雅黑"/>
            </a:endParaRPr>
          </a:p>
        </p:txBody>
      </p:sp>
      <p:sp>
        <p:nvSpPr>
          <p:cNvPr id="67" name="Shape"/>
          <p:cNvSpPr/>
          <p:nvPr/>
        </p:nvSpPr>
        <p:spPr>
          <a:xfrm>
            <a:off x="8704287" y="2115820"/>
            <a:ext cx="2235702" cy="1753181"/>
          </a:xfrm>
          <a:custGeom>
            <a:avLst/>
            <a:gdLst/>
            <a:ahLst/>
            <a:cxnLst>
              <a:cxn ang="0">
                <a:pos x="wd2" y="hd2"/>
              </a:cxn>
              <a:cxn ang="5400000">
                <a:pos x="wd2" y="hd2"/>
              </a:cxn>
              <a:cxn ang="10800000">
                <a:pos x="wd2" y="hd2"/>
              </a:cxn>
              <a:cxn ang="16200000">
                <a:pos x="wd2" y="hd2"/>
              </a:cxn>
            </a:cxnLst>
            <a:rect l="0" t="0" r="r" b="b"/>
            <a:pathLst>
              <a:path w="3521" h="2761">
                <a:moveTo>
                  <a:pt x="0" y="0"/>
                </a:moveTo>
                <a:lnTo>
                  <a:pt x="669" y="0"/>
                </a:lnTo>
                <a:cubicBezTo>
                  <a:pt x="2122" y="5"/>
                  <a:pt x="3336" y="1129"/>
                  <a:pt x="3521" y="2345"/>
                </a:cubicBezTo>
                <a:lnTo>
                  <a:pt x="3037" y="2761"/>
                </a:lnTo>
                <a:lnTo>
                  <a:pt x="2444" y="2251"/>
                </a:lnTo>
                <a:cubicBezTo>
                  <a:pt x="2261" y="1542"/>
                  <a:pt x="1396" y="938"/>
                  <a:pt x="623" y="960"/>
                </a:cubicBezTo>
                <a:lnTo>
                  <a:pt x="24" y="960"/>
                </a:lnTo>
                <a:lnTo>
                  <a:pt x="515" y="480"/>
                </a:lnTo>
                <a:lnTo>
                  <a:pt x="0" y="0"/>
                </a:lnTo>
                <a:close/>
              </a:path>
            </a:pathLst>
          </a:custGeom>
          <a:gradFill>
            <a:gsLst>
              <a:gs pos="100000">
                <a:srgbClr val="B3D4FE"/>
              </a:gs>
              <a:gs pos="0">
                <a:srgbClr val="B3D4FE"/>
              </a:gs>
            </a:gsLst>
            <a:lin ang="0" scaled="0"/>
          </a:gradFill>
          <a:ln>
            <a:noFill/>
          </a:ln>
          <a:effectLst>
            <a:outerShdw blurRad="177800" sx="102000" sy="102000" algn="ctr" rotWithShape="0">
              <a:srgbClr val="0042FF">
                <a:alpha val="11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a:latin typeface="微软雅黑"/>
              <a:ea typeface="微软雅黑"/>
              <a:cs typeface="微软雅黑"/>
              <a:sym typeface="微软雅黑"/>
            </a:endParaRPr>
          </a:p>
        </p:txBody>
      </p:sp>
      <p:sp>
        <p:nvSpPr>
          <p:cNvPr id="73" name="Shape"/>
          <p:cNvSpPr/>
          <p:nvPr/>
        </p:nvSpPr>
        <p:spPr>
          <a:xfrm>
            <a:off x="3268345" y="5034915"/>
            <a:ext cx="2831465" cy="609600"/>
          </a:xfrm>
          <a:custGeom>
            <a:avLst/>
            <a:gdLst/>
            <a:ahLst/>
            <a:cxnLst>
              <a:cxn ang="0">
                <a:pos x="wd2" y="hd2"/>
              </a:cxn>
              <a:cxn ang="5400000">
                <a:pos x="wd2" y="hd2"/>
              </a:cxn>
              <a:cxn ang="10800000">
                <a:pos x="wd2" y="hd2"/>
              </a:cxn>
              <a:cxn ang="16200000">
                <a:pos x="wd2" y="hd2"/>
              </a:cxn>
            </a:cxnLst>
            <a:rect l="0" t="0" r="r" b="b"/>
            <a:pathLst>
              <a:path w="21600" h="21600" extrusionOk="0">
                <a:moveTo>
                  <a:pt x="2387" y="0"/>
                </a:moveTo>
                <a:lnTo>
                  <a:pt x="21506" y="0"/>
                </a:lnTo>
                <a:lnTo>
                  <a:pt x="19125" y="10802"/>
                </a:lnTo>
                <a:lnTo>
                  <a:pt x="21600" y="21583"/>
                </a:lnTo>
                <a:lnTo>
                  <a:pt x="2461" y="21600"/>
                </a:lnTo>
                <a:lnTo>
                  <a:pt x="0" y="10827"/>
                </a:lnTo>
                <a:lnTo>
                  <a:pt x="2387" y="0"/>
                </a:lnTo>
                <a:close/>
              </a:path>
            </a:pathLst>
          </a:custGeom>
          <a:gradFill>
            <a:gsLst>
              <a:gs pos="100000">
                <a:srgbClr val="B3D4FE"/>
              </a:gs>
              <a:gs pos="0">
                <a:srgbClr val="B3D4FE"/>
              </a:gs>
            </a:gsLst>
            <a:lin ang="0" scaled="0"/>
          </a:gradFill>
          <a:ln>
            <a:noFill/>
          </a:ln>
          <a:effectLst>
            <a:outerShdw blurRad="177800" sx="102000" sy="102000" algn="ctr" rotWithShape="0">
              <a:srgbClr val="0042FF">
                <a:alpha val="11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a:latin typeface="微软雅黑"/>
              <a:ea typeface="微软雅黑"/>
              <a:cs typeface="微软雅黑"/>
              <a:sym typeface="微软雅黑"/>
            </a:endParaRPr>
          </a:p>
        </p:txBody>
      </p:sp>
      <p:sp>
        <p:nvSpPr>
          <p:cNvPr id="74" name="Shape"/>
          <p:cNvSpPr/>
          <p:nvPr/>
        </p:nvSpPr>
        <p:spPr>
          <a:xfrm>
            <a:off x="1174268" y="3696388"/>
            <a:ext cx="2265957" cy="1948762"/>
          </a:xfrm>
          <a:custGeom>
            <a:avLst/>
            <a:gdLst/>
            <a:ahLst/>
            <a:cxnLst>
              <a:cxn ang="0">
                <a:pos x="wd2" y="hd2"/>
              </a:cxn>
              <a:cxn ang="5400000">
                <a:pos x="wd2" y="hd2"/>
              </a:cxn>
              <a:cxn ang="10800000">
                <a:pos x="wd2" y="hd2"/>
              </a:cxn>
              <a:cxn ang="16200000">
                <a:pos x="wd2" y="hd2"/>
              </a:cxn>
            </a:cxnLst>
            <a:rect l="0" t="0" r="r" b="b"/>
            <a:pathLst>
              <a:path w="3573" h="3069">
                <a:moveTo>
                  <a:pt x="3541" y="2106"/>
                </a:moveTo>
                <a:lnTo>
                  <a:pt x="3055" y="2588"/>
                </a:lnTo>
                <a:lnTo>
                  <a:pt x="3568" y="3069"/>
                </a:lnTo>
                <a:lnTo>
                  <a:pt x="2883" y="3064"/>
                </a:lnTo>
                <a:cubicBezTo>
                  <a:pt x="1157" y="3099"/>
                  <a:pt x="-91" y="1407"/>
                  <a:pt x="0" y="445"/>
                </a:cubicBezTo>
                <a:lnTo>
                  <a:pt x="518" y="0"/>
                </a:lnTo>
                <a:lnTo>
                  <a:pt x="1036" y="445"/>
                </a:lnTo>
                <a:cubicBezTo>
                  <a:pt x="1330" y="1851"/>
                  <a:pt x="2491" y="2159"/>
                  <a:pt x="2962" y="2106"/>
                </a:cubicBezTo>
                <a:lnTo>
                  <a:pt x="2981" y="2106"/>
                </a:lnTo>
                <a:lnTo>
                  <a:pt x="3541" y="2106"/>
                </a:lnTo>
                <a:close/>
              </a:path>
            </a:pathLst>
          </a:custGeom>
          <a:gradFill>
            <a:gsLst>
              <a:gs pos="0">
                <a:srgbClr val="668EFF"/>
              </a:gs>
              <a:gs pos="100000">
                <a:srgbClr val="3368FF"/>
              </a:gs>
            </a:gsLst>
            <a:lin ang="16200000" scaled="0"/>
          </a:gradFill>
          <a:ln>
            <a:noFill/>
          </a:ln>
          <a:effectLst>
            <a:outerShdw blurRad="177800" sx="102000" sy="102000" algn="ctr" rotWithShape="0">
              <a:srgbClr val="0042FF">
                <a:alpha val="11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a:solidFill>
                <a:srgbClr val="383838"/>
              </a:solidFill>
              <a:latin typeface="微软雅黑"/>
              <a:ea typeface="微软雅黑"/>
              <a:cs typeface="微软雅黑"/>
              <a:sym typeface="微软雅黑"/>
            </a:endParaRPr>
          </a:p>
        </p:txBody>
      </p:sp>
      <p:sp>
        <p:nvSpPr>
          <p:cNvPr id="77" name="This is a sample text.…"/>
          <p:cNvSpPr txBox="1"/>
          <p:nvPr/>
        </p:nvSpPr>
        <p:spPr>
          <a:xfrm>
            <a:off x="2458403" y="3437573"/>
            <a:ext cx="1124585" cy="873125"/>
          </a:xfrm>
          <a:prstGeom prst="rect">
            <a:avLst/>
          </a:prstGeom>
          <a:noFill/>
          <a:ln w="12700" cap="flat">
            <a:noFill/>
            <a:miter lim="400000"/>
          </a:ln>
          <a:effectLst/>
        </p:spPr>
        <p:txBody>
          <a:bodyPr wrap="square" lIns="25400" tIns="25400" rIns="25400" bIns="25400" numCol="1" anchor="ctr" anchorCtr="0">
            <a:noAutofit/>
          </a:bodyPr>
          <a:lstStyle/>
          <a:p>
            <a:pPr algn="ctr" defTabSz="412750" hangingPunct="0">
              <a:defRPr>
                <a:solidFill>
                  <a:srgbClr val="FFFFFF"/>
                </a:solidFill>
                <a:latin typeface="微软雅黑"/>
                <a:ea typeface="微软雅黑"/>
                <a:cs typeface="微软雅黑"/>
              </a:defRPr>
            </a:pPr>
            <a:r>
              <a:rPr lang="zh-CN" altLang="en-US" sz="2500" b="1" kern="0" dirty="0">
                <a:solidFill>
                  <a:srgbClr val="FFFFFF"/>
                </a:solidFill>
                <a:latin typeface="微软雅黑"/>
                <a:ea typeface="微软雅黑"/>
                <a:cs typeface="微软雅黑"/>
              </a:rPr>
              <a:t>业务</a:t>
            </a:r>
            <a:endParaRPr lang="zh-CN" altLang="en-US" sz="2500" b="1" kern="0" dirty="0">
              <a:solidFill>
                <a:srgbClr val="FFFFFF"/>
              </a:solidFill>
              <a:latin typeface="微软雅黑"/>
              <a:ea typeface="微软雅黑"/>
              <a:cs typeface="微软雅黑"/>
            </a:endParaRPr>
          </a:p>
          <a:p>
            <a:pPr algn="ctr" defTabSz="412750" hangingPunct="0">
              <a:defRPr>
                <a:solidFill>
                  <a:srgbClr val="FFFFFF"/>
                </a:solidFill>
                <a:latin typeface="微软雅黑"/>
                <a:ea typeface="微软雅黑"/>
                <a:cs typeface="微软雅黑"/>
              </a:defRPr>
            </a:pPr>
            <a:r>
              <a:rPr lang="zh-CN" altLang="en-US" sz="2500" b="1" kern="0" dirty="0">
                <a:solidFill>
                  <a:srgbClr val="FFFFFF"/>
                </a:solidFill>
                <a:latin typeface="微软雅黑"/>
                <a:ea typeface="微软雅黑"/>
                <a:cs typeface="微软雅黑"/>
              </a:rPr>
              <a:t>中台</a:t>
            </a:r>
            <a:endParaRPr lang="zh-CN" altLang="en-US" sz="2500" b="1" kern="0" dirty="0">
              <a:solidFill>
                <a:srgbClr val="FFFFFF"/>
              </a:solidFill>
              <a:latin typeface="微软雅黑"/>
              <a:ea typeface="微软雅黑"/>
              <a:cs typeface="微软雅黑"/>
            </a:endParaRPr>
          </a:p>
        </p:txBody>
      </p:sp>
      <p:sp>
        <p:nvSpPr>
          <p:cNvPr id="80" name="Sample text"/>
          <p:cNvSpPr txBox="1"/>
          <p:nvPr/>
        </p:nvSpPr>
        <p:spPr>
          <a:xfrm>
            <a:off x="3816668" y="2269808"/>
            <a:ext cx="1943100" cy="302260"/>
          </a:xfrm>
          <a:prstGeom prst="rect">
            <a:avLst/>
          </a:prstGeom>
          <a:noFill/>
          <a:ln w="12700" cap="flat">
            <a:noFill/>
            <a:miter lim="400000"/>
          </a:ln>
          <a:effectLst/>
        </p:spPr>
        <p:txBody>
          <a:bodyPr wrap="square" lIns="25400" tIns="25400" rIns="25400" bIns="25400" numCol="1" anchor="ctr" anchorCtr="0">
            <a:noAutofit/>
          </a:bodyPr>
          <a:lstStyle>
            <a:lvl1pPr algn="l">
              <a:defRPr sz="2500" b="0">
                <a:solidFill>
                  <a:srgbClr val="FFFFFF"/>
                </a:solidFill>
                <a:latin typeface="微软雅黑"/>
                <a:ea typeface="微软雅黑"/>
                <a:cs typeface="微软雅黑"/>
                <a:sym typeface="微软雅黑"/>
              </a:defRPr>
            </a:lvl1pPr>
          </a:lstStyle>
          <a:p>
            <a:pPr algn="ctr" defTabSz="412750" hangingPunct="0">
              <a:defRPr>
                <a:solidFill>
                  <a:srgbClr val="FFFFFF"/>
                </a:solidFill>
                <a:latin typeface="微软雅黑"/>
                <a:ea typeface="微软雅黑"/>
                <a:cs typeface="微软雅黑"/>
              </a:defRPr>
            </a:pPr>
            <a:r>
              <a:rPr lang="zh-CN" altLang="en-US" sz="2000" b="1" kern="0" dirty="0">
                <a:solidFill>
                  <a:srgbClr val="FFFFFF"/>
                </a:solidFill>
                <a:latin typeface="微软雅黑"/>
                <a:ea typeface="微软雅黑"/>
                <a:cs typeface="微软雅黑"/>
                <a:sym typeface="微软雅黑"/>
              </a:rPr>
              <a:t>品牌认知</a:t>
            </a:r>
            <a:endParaRPr lang="zh-CN" altLang="en-US" sz="2000" b="1" kern="0" dirty="0">
              <a:solidFill>
                <a:srgbClr val="FFFFFF"/>
              </a:solidFill>
              <a:latin typeface="微软雅黑"/>
              <a:ea typeface="微软雅黑"/>
              <a:cs typeface="微软雅黑"/>
              <a:sym typeface="微软雅黑"/>
            </a:endParaRPr>
          </a:p>
        </p:txBody>
      </p:sp>
      <p:grpSp>
        <p:nvGrpSpPr>
          <p:cNvPr id="90" name="组合 89"/>
          <p:cNvGrpSpPr/>
          <p:nvPr/>
        </p:nvGrpSpPr>
        <p:grpSpPr>
          <a:xfrm flipH="1">
            <a:off x="7238447" y="1795507"/>
            <a:ext cx="4332613" cy="4193488"/>
            <a:chOff x="512572" y="1536781"/>
            <a:chExt cx="4332613" cy="4193488"/>
          </a:xfrm>
        </p:grpSpPr>
        <p:sp>
          <p:nvSpPr>
            <p:cNvPr id="91" name="椭圆 90"/>
            <p:cNvSpPr/>
            <p:nvPr/>
          </p:nvSpPr>
          <p:spPr>
            <a:xfrm>
              <a:off x="651697" y="1536781"/>
              <a:ext cx="4193488" cy="4193488"/>
            </a:xfrm>
            <a:prstGeom prst="ellipse">
              <a:avLst/>
            </a:prstGeom>
            <a:noFill/>
            <a:ln w="31750">
              <a:gradFill flip="none" rotWithShape="1">
                <a:gsLst>
                  <a:gs pos="86000">
                    <a:srgbClr val="B3D4FE">
                      <a:alpha val="0"/>
                    </a:srgbClr>
                  </a:gs>
                  <a:gs pos="100000">
                    <a:srgbClr val="B3D4FE"/>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latin typeface="微软雅黑"/>
                <a:ea typeface="微软雅黑"/>
                <a:cs typeface="微软雅黑"/>
              </a:endParaRPr>
            </a:p>
          </p:txBody>
        </p:sp>
        <p:sp>
          <p:nvSpPr>
            <p:cNvPr id="92" name="三角形 71"/>
            <p:cNvSpPr>
              <a:spLocks noChangeAspect="1"/>
            </p:cNvSpPr>
            <p:nvPr/>
          </p:nvSpPr>
          <p:spPr>
            <a:xfrm rot="10800000">
              <a:off x="512572" y="3425668"/>
              <a:ext cx="273081" cy="235414"/>
            </a:xfrm>
            <a:prstGeom prst="triangl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grpSp>
      <p:sp>
        <p:nvSpPr>
          <p:cNvPr id="17" name="Shape"/>
          <p:cNvSpPr/>
          <p:nvPr/>
        </p:nvSpPr>
        <p:spPr>
          <a:xfrm>
            <a:off x="8592185" y="3753603"/>
            <a:ext cx="2372345" cy="1890277"/>
          </a:xfrm>
          <a:custGeom>
            <a:avLst/>
            <a:gdLst/>
            <a:ahLst/>
            <a:cxnLst>
              <a:cxn ang="0">
                <a:pos x="wd2" y="hd2"/>
              </a:cxn>
              <a:cxn ang="5400000">
                <a:pos x="wd2" y="hd2"/>
              </a:cxn>
              <a:cxn ang="10800000">
                <a:pos x="wd2" y="hd2"/>
              </a:cxn>
              <a:cxn ang="16200000">
                <a:pos x="wd2" y="hd2"/>
              </a:cxn>
            </a:cxnLst>
            <a:rect l="0" t="0" r="r" b="b"/>
            <a:pathLst>
              <a:path w="3738" h="2979">
                <a:moveTo>
                  <a:pt x="3728" y="7"/>
                </a:moveTo>
                <a:cubicBezTo>
                  <a:pt x="3733" y="56"/>
                  <a:pt x="3737" y="190"/>
                  <a:pt x="3736" y="195"/>
                </a:cubicBezTo>
                <a:cubicBezTo>
                  <a:pt x="3797" y="1738"/>
                  <a:pt x="2238" y="3042"/>
                  <a:pt x="775" y="2977"/>
                </a:cubicBezTo>
                <a:lnTo>
                  <a:pt x="513" y="2977"/>
                </a:lnTo>
                <a:lnTo>
                  <a:pt x="0" y="2500"/>
                </a:lnTo>
                <a:lnTo>
                  <a:pt x="491" y="2018"/>
                </a:lnTo>
                <a:lnTo>
                  <a:pt x="797" y="2018"/>
                </a:lnTo>
                <a:cubicBezTo>
                  <a:pt x="1838" y="1961"/>
                  <a:pt x="2672" y="1246"/>
                  <a:pt x="2701" y="207"/>
                </a:cubicBezTo>
                <a:lnTo>
                  <a:pt x="2701" y="158"/>
                </a:lnTo>
                <a:lnTo>
                  <a:pt x="2699" y="110"/>
                </a:lnTo>
                <a:lnTo>
                  <a:pt x="2696" y="63"/>
                </a:lnTo>
                <a:lnTo>
                  <a:pt x="2692" y="15"/>
                </a:lnTo>
                <a:lnTo>
                  <a:pt x="2690" y="0"/>
                </a:lnTo>
                <a:lnTo>
                  <a:pt x="3214" y="449"/>
                </a:lnTo>
                <a:lnTo>
                  <a:pt x="3728" y="7"/>
                </a:lnTo>
                <a:close/>
              </a:path>
            </a:pathLst>
          </a:custGeom>
          <a:gradFill>
            <a:gsLst>
              <a:gs pos="100000">
                <a:srgbClr val="B3D4FE"/>
              </a:gs>
              <a:gs pos="0">
                <a:srgbClr val="B3D4FE"/>
              </a:gs>
            </a:gsLst>
            <a:lin ang="0" scaled="0"/>
          </a:gradFill>
          <a:ln>
            <a:noFill/>
          </a:ln>
          <a:effectLst>
            <a:outerShdw blurRad="177800" sx="102000" sy="102000" algn="ctr" rotWithShape="0">
              <a:srgbClr val="0042FF">
                <a:alpha val="11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a:latin typeface="微软雅黑"/>
              <a:ea typeface="微软雅黑"/>
              <a:cs typeface="微软雅黑"/>
              <a:sym typeface="微软雅黑"/>
            </a:endParaRPr>
          </a:p>
        </p:txBody>
      </p:sp>
      <p:sp>
        <p:nvSpPr>
          <p:cNvPr id="18" name="Shape"/>
          <p:cNvSpPr/>
          <p:nvPr/>
        </p:nvSpPr>
        <p:spPr>
          <a:xfrm>
            <a:off x="1173285" y="2112010"/>
            <a:ext cx="2366840" cy="1697980"/>
          </a:xfrm>
          <a:custGeom>
            <a:avLst/>
            <a:gdLst/>
            <a:ahLst/>
            <a:cxnLst>
              <a:cxn ang="0">
                <a:pos x="wd2" y="hd2"/>
              </a:cxn>
              <a:cxn ang="5400000">
                <a:pos x="wd2" y="hd2"/>
              </a:cxn>
              <a:cxn ang="10800000">
                <a:pos x="wd2" y="hd2"/>
              </a:cxn>
              <a:cxn ang="16200000">
                <a:pos x="wd2" y="hd2"/>
              </a:cxn>
            </a:cxnLst>
            <a:rect l="0" t="0" r="r" b="b"/>
            <a:pathLst>
              <a:path w="3727" h="2686">
                <a:moveTo>
                  <a:pt x="0" y="2674"/>
                </a:moveTo>
                <a:cubicBezTo>
                  <a:pt x="89" y="847"/>
                  <a:pt x="2011" y="-134"/>
                  <a:pt x="2913" y="0"/>
                </a:cubicBezTo>
                <a:lnTo>
                  <a:pt x="3226" y="8"/>
                </a:lnTo>
                <a:lnTo>
                  <a:pt x="3727" y="487"/>
                </a:lnTo>
                <a:lnTo>
                  <a:pt x="3247" y="961"/>
                </a:lnTo>
                <a:lnTo>
                  <a:pt x="2946" y="961"/>
                </a:lnTo>
                <a:cubicBezTo>
                  <a:pt x="1911" y="915"/>
                  <a:pt x="1038" y="1879"/>
                  <a:pt x="1033" y="2669"/>
                </a:cubicBezTo>
                <a:lnTo>
                  <a:pt x="520" y="2228"/>
                </a:lnTo>
                <a:lnTo>
                  <a:pt x="0" y="2674"/>
                </a:lnTo>
                <a:close/>
              </a:path>
            </a:pathLst>
          </a:custGeom>
          <a:gradFill>
            <a:gsLst>
              <a:gs pos="0">
                <a:srgbClr val="668EFF"/>
              </a:gs>
              <a:gs pos="100000">
                <a:srgbClr val="3368FF"/>
              </a:gs>
            </a:gsLst>
            <a:lin ang="16200000" scaled="0"/>
          </a:gradFill>
          <a:ln>
            <a:noFill/>
          </a:ln>
          <a:effectLst>
            <a:outerShdw blurRad="177800" sx="102000" sy="102000" algn="ctr" rotWithShape="0">
              <a:srgbClr val="0042FF">
                <a:alpha val="11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a:solidFill>
                <a:srgbClr val="383838"/>
              </a:solidFill>
              <a:latin typeface="微软雅黑"/>
              <a:ea typeface="微软雅黑"/>
              <a:cs typeface="微软雅黑"/>
              <a:sym typeface="微软雅黑"/>
            </a:endParaRPr>
          </a:p>
        </p:txBody>
      </p:sp>
      <p:sp>
        <p:nvSpPr>
          <p:cNvPr id="20" name="This is a sample text.…"/>
          <p:cNvSpPr txBox="1"/>
          <p:nvPr/>
        </p:nvSpPr>
        <p:spPr>
          <a:xfrm>
            <a:off x="8560753" y="3437573"/>
            <a:ext cx="1124585" cy="873125"/>
          </a:xfrm>
          <a:prstGeom prst="rect">
            <a:avLst/>
          </a:prstGeom>
          <a:noFill/>
          <a:ln w="12700" cap="flat">
            <a:noFill/>
            <a:miter lim="400000"/>
          </a:ln>
          <a:effectLst/>
        </p:spPr>
        <p:txBody>
          <a:bodyPr wrap="square" lIns="25400" tIns="25400" rIns="25400" bIns="25400" numCol="1" anchor="ctr" anchorCtr="0">
            <a:noAutofit/>
          </a:bodyPr>
          <a:lstStyle/>
          <a:p>
            <a:pPr algn="ctr" defTabSz="412750" hangingPunct="0">
              <a:defRPr>
                <a:latin typeface="微软雅黑"/>
                <a:ea typeface="微软雅黑"/>
                <a:cs typeface="微软雅黑"/>
              </a:defRPr>
            </a:pPr>
            <a:r>
              <a:rPr lang="zh-CN" altLang="en-US" sz="2500" b="1" kern="0" dirty="0">
                <a:solidFill>
                  <a:srgbClr val="383838"/>
                </a:solidFill>
                <a:latin typeface="微软雅黑"/>
                <a:ea typeface="微软雅黑"/>
                <a:cs typeface="微软雅黑"/>
              </a:rPr>
              <a:t>数据</a:t>
            </a:r>
            <a:endParaRPr lang="zh-CN" altLang="en-US" sz="2500" b="1" kern="0" dirty="0">
              <a:solidFill>
                <a:srgbClr val="383838"/>
              </a:solidFill>
              <a:latin typeface="微软雅黑"/>
              <a:ea typeface="微软雅黑"/>
              <a:cs typeface="微软雅黑"/>
            </a:endParaRPr>
          </a:p>
          <a:p>
            <a:pPr algn="ctr" defTabSz="412750" hangingPunct="0">
              <a:defRPr>
                <a:latin typeface="微软雅黑"/>
                <a:ea typeface="微软雅黑"/>
                <a:cs typeface="微软雅黑"/>
              </a:defRPr>
            </a:pPr>
            <a:r>
              <a:rPr lang="zh-CN" altLang="en-US" sz="2500" b="1" kern="0" dirty="0">
                <a:solidFill>
                  <a:srgbClr val="383838"/>
                </a:solidFill>
                <a:latin typeface="微软雅黑"/>
                <a:ea typeface="微软雅黑"/>
                <a:cs typeface="微软雅黑"/>
              </a:rPr>
              <a:t>中台</a:t>
            </a:r>
            <a:endParaRPr lang="zh-CN" altLang="en-US" sz="2500" b="1" kern="0" dirty="0">
              <a:solidFill>
                <a:srgbClr val="383838"/>
              </a:solidFill>
              <a:latin typeface="微软雅黑"/>
              <a:ea typeface="微软雅黑"/>
              <a:cs typeface="微软雅黑"/>
            </a:endParaRPr>
          </a:p>
        </p:txBody>
      </p:sp>
      <p:sp>
        <p:nvSpPr>
          <p:cNvPr id="4" name="Sample text"/>
          <p:cNvSpPr txBox="1"/>
          <p:nvPr/>
        </p:nvSpPr>
        <p:spPr>
          <a:xfrm>
            <a:off x="6484303" y="2269808"/>
            <a:ext cx="1943100" cy="302260"/>
          </a:xfrm>
          <a:prstGeom prst="rect">
            <a:avLst/>
          </a:prstGeom>
          <a:noFill/>
          <a:ln w="12700" cap="flat">
            <a:noFill/>
            <a:miter lim="400000"/>
          </a:ln>
          <a:effectLst/>
        </p:spPr>
        <p:txBody>
          <a:bodyPr wrap="square" lIns="25400" tIns="25400" rIns="25400" bIns="25400" numCol="1" anchor="ctr" anchorCtr="0">
            <a:noAutofit/>
          </a:bodyPr>
          <a:lstStyle>
            <a:lvl1pPr algn="l">
              <a:defRPr sz="2500" b="0">
                <a:solidFill>
                  <a:srgbClr val="FFFFFF"/>
                </a:solidFill>
                <a:latin typeface="微软雅黑"/>
                <a:ea typeface="微软雅黑"/>
                <a:cs typeface="微软雅黑"/>
                <a:sym typeface="微软雅黑"/>
              </a:defRPr>
            </a:lvl1pPr>
          </a:lstStyle>
          <a:p>
            <a:pPr algn="ctr" defTabSz="412750" hangingPunct="0">
              <a:defRPr>
                <a:solidFill>
                  <a:srgbClr val="FFFFFF"/>
                </a:solidFill>
                <a:latin typeface="微软雅黑"/>
                <a:ea typeface="微软雅黑"/>
                <a:cs typeface="微软雅黑"/>
              </a:defRPr>
            </a:pPr>
            <a:r>
              <a:rPr lang="zh-CN" altLang="en-US" sz="2000" b="1" kern="0" dirty="0">
                <a:solidFill>
                  <a:srgbClr val="FFFFFF"/>
                </a:solidFill>
                <a:latin typeface="微软雅黑"/>
                <a:ea typeface="微软雅黑"/>
                <a:cs typeface="微软雅黑"/>
                <a:sym typeface="微软雅黑"/>
              </a:rPr>
              <a:t>市场互动</a:t>
            </a:r>
            <a:endParaRPr lang="zh-CN" altLang="en-US" sz="2000" b="1" kern="0" dirty="0">
              <a:solidFill>
                <a:srgbClr val="FFFFFF"/>
              </a:solidFill>
              <a:latin typeface="微软雅黑"/>
              <a:ea typeface="微软雅黑"/>
              <a:cs typeface="微软雅黑"/>
              <a:sym typeface="微软雅黑"/>
            </a:endParaRPr>
          </a:p>
        </p:txBody>
      </p:sp>
      <p:sp>
        <p:nvSpPr>
          <p:cNvPr id="7" name="Sample text"/>
          <p:cNvSpPr txBox="1"/>
          <p:nvPr/>
        </p:nvSpPr>
        <p:spPr>
          <a:xfrm>
            <a:off x="3714433" y="5175568"/>
            <a:ext cx="1943100" cy="302260"/>
          </a:xfrm>
          <a:prstGeom prst="rect">
            <a:avLst/>
          </a:prstGeom>
          <a:noFill/>
          <a:ln w="12700" cap="flat">
            <a:noFill/>
            <a:miter lim="400000"/>
          </a:ln>
          <a:effectLst/>
        </p:spPr>
        <p:txBody>
          <a:bodyPr wrap="square" lIns="25400" tIns="25400" rIns="25400" bIns="25400" numCol="1" anchor="ctr" anchorCtr="0">
            <a:noAutofit/>
          </a:bodyPr>
          <a:lstStyle>
            <a:lvl1pPr algn="l">
              <a:defRPr sz="2500"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2000" b="1" kern="0" dirty="0">
                <a:latin typeface="微软雅黑"/>
                <a:ea typeface="微软雅黑"/>
                <a:cs typeface="微软雅黑"/>
                <a:sym typeface="微软雅黑"/>
              </a:rPr>
              <a:t>智能服务</a:t>
            </a:r>
            <a:endParaRPr lang="zh-CN" altLang="en-US" sz="2000" b="1" kern="0" dirty="0">
              <a:latin typeface="微软雅黑"/>
              <a:ea typeface="微软雅黑"/>
              <a:cs typeface="微软雅黑"/>
              <a:sym typeface="微软雅黑"/>
            </a:endParaRPr>
          </a:p>
        </p:txBody>
      </p:sp>
      <p:grpSp>
        <p:nvGrpSpPr>
          <p:cNvPr id="115" name="组合 114"/>
          <p:cNvGrpSpPr/>
          <p:nvPr/>
        </p:nvGrpSpPr>
        <p:grpSpPr>
          <a:xfrm>
            <a:off x="3134995" y="5787390"/>
            <a:ext cx="5713095" cy="853440"/>
            <a:chOff x="5135" y="8934"/>
            <a:chExt cx="8997" cy="1344"/>
          </a:xfrm>
        </p:grpSpPr>
        <p:grpSp>
          <p:nvGrpSpPr>
            <p:cNvPr id="50" name="组合 49"/>
            <p:cNvGrpSpPr/>
            <p:nvPr/>
          </p:nvGrpSpPr>
          <p:grpSpPr>
            <a:xfrm>
              <a:off x="5135" y="9024"/>
              <a:ext cx="4368" cy="1195"/>
              <a:chOff x="5135" y="9024"/>
              <a:chExt cx="4368" cy="1195"/>
            </a:xfrm>
          </p:grpSpPr>
          <p:sp>
            <p:nvSpPr>
              <p:cNvPr id="51" name="Process flow diagram"/>
              <p:cNvSpPr txBox="1"/>
              <p:nvPr/>
            </p:nvSpPr>
            <p:spPr>
              <a:xfrm>
                <a:off x="5135" y="9801"/>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智能客服</a:t>
                </a:r>
                <a:endParaRPr lang="zh-CN" altLang="en-US" sz="1400" kern="0" dirty="0">
                  <a:solidFill>
                    <a:srgbClr val="383838"/>
                  </a:solidFill>
                  <a:latin typeface="微软雅黑"/>
                  <a:ea typeface="微软雅黑"/>
                  <a:cs typeface="微软雅黑"/>
                  <a:sym typeface="微软雅黑"/>
                </a:endParaRPr>
              </a:p>
            </p:txBody>
          </p:sp>
          <p:pic>
            <p:nvPicPr>
              <p:cNvPr id="52" name="图片 51" descr="客服 (1)"/>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724" y="9024"/>
                <a:ext cx="649" cy="649"/>
              </a:xfrm>
              <a:prstGeom prst="rect">
                <a:avLst/>
              </a:prstGeom>
            </p:spPr>
          </p:pic>
          <p:sp>
            <p:nvSpPr>
              <p:cNvPr id="53" name="Process flow diagram"/>
              <p:cNvSpPr txBox="1"/>
              <p:nvPr/>
            </p:nvSpPr>
            <p:spPr>
              <a:xfrm>
                <a:off x="6748" y="9801"/>
                <a:ext cx="1543"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满意度</a:t>
                </a:r>
                <a:endParaRPr lang="zh-CN" altLang="en-US" sz="1400" kern="0" dirty="0">
                  <a:solidFill>
                    <a:srgbClr val="383838"/>
                  </a:solidFill>
                  <a:latin typeface="微软雅黑"/>
                  <a:ea typeface="微软雅黑"/>
                  <a:cs typeface="微软雅黑"/>
                  <a:sym typeface="微软雅黑"/>
                </a:endParaRPr>
              </a:p>
            </p:txBody>
          </p:sp>
          <p:pic>
            <p:nvPicPr>
              <p:cNvPr id="54" name="图片 53" descr="Satisfaction survey"/>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218" y="9047"/>
                <a:ext cx="603" cy="603"/>
              </a:xfrm>
              <a:prstGeom prst="rect">
                <a:avLst/>
              </a:prstGeom>
            </p:spPr>
          </p:pic>
          <p:sp>
            <p:nvSpPr>
              <p:cNvPr id="55" name="Process flow diagram"/>
              <p:cNvSpPr txBox="1"/>
              <p:nvPr/>
            </p:nvSpPr>
            <p:spPr>
              <a:xfrm>
                <a:off x="8245" y="9801"/>
                <a:ext cx="1259"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售后</a:t>
                </a:r>
                <a:endParaRPr lang="zh-CN" altLang="en-US" sz="1400" kern="0" dirty="0">
                  <a:solidFill>
                    <a:srgbClr val="383838"/>
                  </a:solidFill>
                  <a:latin typeface="微软雅黑"/>
                  <a:ea typeface="微软雅黑"/>
                  <a:cs typeface="微软雅黑"/>
                  <a:sym typeface="微软雅黑"/>
                </a:endParaRPr>
              </a:p>
            </p:txBody>
          </p:sp>
          <p:pic>
            <p:nvPicPr>
              <p:cNvPr id="56" name="图片 55" descr="售后"/>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632" y="9107"/>
                <a:ext cx="484" cy="484"/>
              </a:xfrm>
              <a:prstGeom prst="rect">
                <a:avLst/>
              </a:prstGeom>
            </p:spPr>
          </p:pic>
        </p:grpSp>
        <p:grpSp>
          <p:nvGrpSpPr>
            <p:cNvPr id="57" name="组合 56"/>
            <p:cNvGrpSpPr/>
            <p:nvPr/>
          </p:nvGrpSpPr>
          <p:grpSpPr>
            <a:xfrm>
              <a:off x="9763" y="9801"/>
              <a:ext cx="4369" cy="419"/>
              <a:chOff x="5135" y="9801"/>
              <a:chExt cx="4369" cy="419"/>
            </a:xfrm>
          </p:grpSpPr>
          <p:sp>
            <p:nvSpPr>
              <p:cNvPr id="58" name="Process flow diagram"/>
              <p:cNvSpPr txBox="1"/>
              <p:nvPr/>
            </p:nvSpPr>
            <p:spPr>
              <a:xfrm>
                <a:off x="5135" y="9801"/>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en-US" altLang="zh-CN" sz="1400" kern="0" dirty="0">
                    <a:solidFill>
                      <a:srgbClr val="383838"/>
                    </a:solidFill>
                    <a:latin typeface="微软雅黑"/>
                    <a:ea typeface="微软雅黑"/>
                    <a:cs typeface="微软雅黑"/>
                    <a:sym typeface="微软雅黑"/>
                  </a:rPr>
                  <a:t>B2C</a:t>
                </a:r>
                <a:endParaRPr lang="en-US" altLang="zh-CN" sz="1400" kern="0" dirty="0">
                  <a:solidFill>
                    <a:srgbClr val="383838"/>
                  </a:solidFill>
                  <a:latin typeface="微软雅黑"/>
                  <a:ea typeface="微软雅黑"/>
                  <a:cs typeface="微软雅黑"/>
                  <a:sym typeface="微软雅黑"/>
                </a:endParaRPr>
              </a:p>
            </p:txBody>
          </p:sp>
          <p:sp>
            <p:nvSpPr>
              <p:cNvPr id="60" name="Process flow diagram"/>
              <p:cNvSpPr txBox="1"/>
              <p:nvPr/>
            </p:nvSpPr>
            <p:spPr>
              <a:xfrm>
                <a:off x="6628" y="9801"/>
                <a:ext cx="1543"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en-US" altLang="zh-CN" sz="1400" kern="0" dirty="0">
                    <a:solidFill>
                      <a:srgbClr val="383838"/>
                    </a:solidFill>
                    <a:latin typeface="微软雅黑"/>
                    <a:ea typeface="微软雅黑"/>
                    <a:cs typeface="微软雅黑"/>
                    <a:sym typeface="微软雅黑"/>
                  </a:rPr>
                  <a:t>B2B</a:t>
                </a:r>
                <a:endParaRPr lang="en-US" altLang="zh-CN" sz="1400" kern="0" dirty="0">
                  <a:solidFill>
                    <a:srgbClr val="383838"/>
                  </a:solidFill>
                  <a:latin typeface="微软雅黑"/>
                  <a:ea typeface="微软雅黑"/>
                  <a:cs typeface="微软雅黑"/>
                  <a:sym typeface="微软雅黑"/>
                </a:endParaRPr>
              </a:p>
            </p:txBody>
          </p:sp>
          <p:sp>
            <p:nvSpPr>
              <p:cNvPr id="62" name="Process flow diagram"/>
              <p:cNvSpPr txBox="1"/>
              <p:nvPr/>
            </p:nvSpPr>
            <p:spPr>
              <a:xfrm>
                <a:off x="8245" y="9801"/>
                <a:ext cx="1259"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智慧门店</a:t>
                </a:r>
                <a:endParaRPr lang="zh-CN" altLang="en-US" sz="1400" kern="0" dirty="0">
                  <a:solidFill>
                    <a:srgbClr val="383838"/>
                  </a:solidFill>
                  <a:latin typeface="微软雅黑"/>
                  <a:ea typeface="微软雅黑"/>
                  <a:cs typeface="微软雅黑"/>
                  <a:sym typeface="微软雅黑"/>
                </a:endParaRPr>
              </a:p>
            </p:txBody>
          </p:sp>
        </p:grpSp>
        <p:cxnSp>
          <p:nvCxnSpPr>
            <p:cNvPr id="63" name="直接连接符 62"/>
            <p:cNvCxnSpPr/>
            <p:nvPr/>
          </p:nvCxnSpPr>
          <p:spPr>
            <a:xfrm>
              <a:off x="9604" y="8934"/>
              <a:ext cx="0" cy="1344"/>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pic>
          <p:nvPicPr>
            <p:cNvPr id="64" name="图片 63" descr="b2b"/>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1740" y="9107"/>
              <a:ext cx="627" cy="627"/>
            </a:xfrm>
            <a:prstGeom prst="rect">
              <a:avLst/>
            </a:prstGeom>
          </p:spPr>
        </p:pic>
        <p:pic>
          <p:nvPicPr>
            <p:cNvPr id="65" name="图片 64" descr="智慧门店"/>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3201" y="9128"/>
              <a:ext cx="604" cy="545"/>
            </a:xfrm>
            <a:prstGeom prst="rect">
              <a:avLst/>
            </a:prstGeom>
          </p:spPr>
        </p:pic>
        <p:pic>
          <p:nvPicPr>
            <p:cNvPr id="68" name="图片 67" descr="B2B2C"/>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0352" y="9047"/>
              <a:ext cx="679" cy="679"/>
            </a:xfrm>
            <a:prstGeom prst="rect">
              <a:avLst/>
            </a:prstGeom>
          </p:spPr>
        </p:pic>
      </p:grpSp>
      <p:grpSp>
        <p:nvGrpSpPr>
          <p:cNvPr id="116" name="组合 115"/>
          <p:cNvGrpSpPr/>
          <p:nvPr/>
        </p:nvGrpSpPr>
        <p:grpSpPr>
          <a:xfrm>
            <a:off x="3134995" y="1155700"/>
            <a:ext cx="5713095" cy="853440"/>
            <a:chOff x="5135" y="8934"/>
            <a:chExt cx="8997" cy="1344"/>
          </a:xfrm>
        </p:grpSpPr>
        <p:grpSp>
          <p:nvGrpSpPr>
            <p:cNvPr id="117" name="组合 116"/>
            <p:cNvGrpSpPr/>
            <p:nvPr/>
          </p:nvGrpSpPr>
          <p:grpSpPr>
            <a:xfrm>
              <a:off x="5135" y="9801"/>
              <a:ext cx="4369" cy="419"/>
              <a:chOff x="5135" y="9801"/>
              <a:chExt cx="4369" cy="419"/>
            </a:xfrm>
          </p:grpSpPr>
          <p:sp>
            <p:nvSpPr>
              <p:cNvPr id="118" name="Process flow diagram"/>
              <p:cNvSpPr txBox="1"/>
              <p:nvPr/>
            </p:nvSpPr>
            <p:spPr>
              <a:xfrm>
                <a:off x="5135" y="9801"/>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公众号</a:t>
                </a:r>
                <a:endParaRPr lang="zh-CN" altLang="en-US" sz="1400" kern="0" dirty="0">
                  <a:solidFill>
                    <a:srgbClr val="383838"/>
                  </a:solidFill>
                  <a:latin typeface="微软雅黑"/>
                  <a:ea typeface="微软雅黑"/>
                  <a:cs typeface="微软雅黑"/>
                  <a:sym typeface="微软雅黑"/>
                </a:endParaRPr>
              </a:p>
            </p:txBody>
          </p:sp>
          <p:sp>
            <p:nvSpPr>
              <p:cNvPr id="120" name="Process flow diagram"/>
              <p:cNvSpPr txBox="1"/>
              <p:nvPr/>
            </p:nvSpPr>
            <p:spPr>
              <a:xfrm>
                <a:off x="6748" y="9801"/>
                <a:ext cx="1543"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en-US" altLang="zh-CN" sz="1400" kern="0" dirty="0">
                    <a:solidFill>
                      <a:srgbClr val="383838"/>
                    </a:solidFill>
                    <a:latin typeface="微软雅黑"/>
                    <a:ea typeface="微软雅黑"/>
                    <a:cs typeface="微软雅黑"/>
                    <a:sym typeface="微软雅黑"/>
                  </a:rPr>
                  <a:t>APP</a:t>
                </a:r>
                <a:endParaRPr lang="en-US" altLang="zh-CN" sz="1400" kern="0" dirty="0">
                  <a:solidFill>
                    <a:srgbClr val="383838"/>
                  </a:solidFill>
                  <a:latin typeface="微软雅黑"/>
                  <a:ea typeface="微软雅黑"/>
                  <a:cs typeface="微软雅黑"/>
                  <a:sym typeface="微软雅黑"/>
                </a:endParaRPr>
              </a:p>
            </p:txBody>
          </p:sp>
          <p:sp>
            <p:nvSpPr>
              <p:cNvPr id="122" name="Process flow diagram"/>
              <p:cNvSpPr txBox="1"/>
              <p:nvPr/>
            </p:nvSpPr>
            <p:spPr>
              <a:xfrm>
                <a:off x="8245" y="9801"/>
                <a:ext cx="1259"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官网</a:t>
                </a:r>
                <a:endParaRPr lang="zh-CN" altLang="en-US" sz="1400" kern="0" dirty="0">
                  <a:solidFill>
                    <a:srgbClr val="383838"/>
                  </a:solidFill>
                  <a:latin typeface="微软雅黑"/>
                  <a:ea typeface="微软雅黑"/>
                  <a:cs typeface="微软雅黑"/>
                  <a:sym typeface="微软雅黑"/>
                </a:endParaRPr>
              </a:p>
            </p:txBody>
          </p:sp>
        </p:grpSp>
        <p:grpSp>
          <p:nvGrpSpPr>
            <p:cNvPr id="124" name="组合 123"/>
            <p:cNvGrpSpPr/>
            <p:nvPr/>
          </p:nvGrpSpPr>
          <p:grpSpPr>
            <a:xfrm>
              <a:off x="9763" y="9801"/>
              <a:ext cx="4369" cy="419"/>
              <a:chOff x="5135" y="9801"/>
              <a:chExt cx="4369" cy="419"/>
            </a:xfrm>
          </p:grpSpPr>
          <p:sp>
            <p:nvSpPr>
              <p:cNvPr id="125" name="Process flow diagram"/>
              <p:cNvSpPr txBox="1"/>
              <p:nvPr/>
            </p:nvSpPr>
            <p:spPr>
              <a:xfrm>
                <a:off x="5135" y="9801"/>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en-US" altLang="zh-CN" sz="1400" kern="0" dirty="0">
                    <a:solidFill>
                      <a:srgbClr val="383838"/>
                    </a:solidFill>
                    <a:latin typeface="微软雅黑"/>
                    <a:ea typeface="微软雅黑"/>
                    <a:cs typeface="微软雅黑"/>
                    <a:sym typeface="微软雅黑"/>
                  </a:rPr>
                  <a:t>B2C</a:t>
                </a:r>
                <a:endParaRPr lang="en-US" altLang="zh-CN" sz="1400" kern="0" dirty="0">
                  <a:solidFill>
                    <a:srgbClr val="383838"/>
                  </a:solidFill>
                  <a:latin typeface="微软雅黑"/>
                  <a:ea typeface="微软雅黑"/>
                  <a:cs typeface="微软雅黑"/>
                  <a:sym typeface="微软雅黑"/>
                </a:endParaRPr>
              </a:p>
            </p:txBody>
          </p:sp>
          <p:sp>
            <p:nvSpPr>
              <p:cNvPr id="126" name="Process flow diagram"/>
              <p:cNvSpPr txBox="1"/>
              <p:nvPr/>
            </p:nvSpPr>
            <p:spPr>
              <a:xfrm>
                <a:off x="6748" y="9801"/>
                <a:ext cx="133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en-US" altLang="zh-CN" sz="1400" kern="0" dirty="0">
                    <a:solidFill>
                      <a:srgbClr val="383838"/>
                    </a:solidFill>
                    <a:latin typeface="微软雅黑"/>
                    <a:ea typeface="微软雅黑"/>
                    <a:cs typeface="微软雅黑"/>
                    <a:sym typeface="微软雅黑"/>
                  </a:rPr>
                  <a:t>B2B</a:t>
                </a:r>
                <a:endParaRPr lang="en-US" altLang="zh-CN" sz="1400" kern="0" dirty="0">
                  <a:solidFill>
                    <a:srgbClr val="383838"/>
                  </a:solidFill>
                  <a:latin typeface="微软雅黑"/>
                  <a:ea typeface="微软雅黑"/>
                  <a:cs typeface="微软雅黑"/>
                  <a:sym typeface="微软雅黑"/>
                </a:endParaRPr>
              </a:p>
            </p:txBody>
          </p:sp>
          <p:sp>
            <p:nvSpPr>
              <p:cNvPr id="127" name="Process flow diagram"/>
              <p:cNvSpPr txBox="1"/>
              <p:nvPr/>
            </p:nvSpPr>
            <p:spPr>
              <a:xfrm>
                <a:off x="8245" y="9801"/>
                <a:ext cx="1259"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智慧门店</a:t>
                </a:r>
                <a:endParaRPr lang="zh-CN" altLang="en-US" sz="1400" kern="0" dirty="0">
                  <a:solidFill>
                    <a:srgbClr val="383838"/>
                  </a:solidFill>
                  <a:latin typeface="微软雅黑"/>
                  <a:ea typeface="微软雅黑"/>
                  <a:cs typeface="微软雅黑"/>
                  <a:sym typeface="微软雅黑"/>
                </a:endParaRPr>
              </a:p>
            </p:txBody>
          </p:sp>
        </p:grpSp>
        <p:cxnSp>
          <p:nvCxnSpPr>
            <p:cNvPr id="128" name="直接连接符 127"/>
            <p:cNvCxnSpPr/>
            <p:nvPr/>
          </p:nvCxnSpPr>
          <p:spPr>
            <a:xfrm>
              <a:off x="9604" y="8934"/>
              <a:ext cx="0" cy="1344"/>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pic>
          <p:nvPicPr>
            <p:cNvPr id="129" name="图片 128" descr="b2b"/>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1740" y="9107"/>
              <a:ext cx="627" cy="627"/>
            </a:xfrm>
            <a:prstGeom prst="rect">
              <a:avLst/>
            </a:prstGeom>
          </p:spPr>
        </p:pic>
        <p:pic>
          <p:nvPicPr>
            <p:cNvPr id="130" name="图片 129" descr="智慧门店"/>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3201" y="9128"/>
              <a:ext cx="604" cy="545"/>
            </a:xfrm>
            <a:prstGeom prst="rect">
              <a:avLst/>
            </a:prstGeom>
          </p:spPr>
        </p:pic>
        <p:pic>
          <p:nvPicPr>
            <p:cNvPr id="131" name="图片 130" descr="B2B2C"/>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0352" y="9047"/>
              <a:ext cx="679" cy="679"/>
            </a:xfrm>
            <a:prstGeom prst="rect">
              <a:avLst/>
            </a:prstGeom>
          </p:spPr>
        </p:pic>
      </p:grpSp>
      <p:pic>
        <p:nvPicPr>
          <p:cNvPr id="132" name="图片 131" descr="官网"/>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5297170" y="1211580"/>
            <a:ext cx="413385" cy="413385"/>
          </a:xfrm>
          <a:prstGeom prst="rect">
            <a:avLst/>
          </a:prstGeom>
        </p:spPr>
      </p:pic>
      <p:pic>
        <p:nvPicPr>
          <p:cNvPr id="135" name="图片 134" descr="公众号"/>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3509010" y="1211580"/>
            <a:ext cx="435610" cy="435610"/>
          </a:xfrm>
          <a:prstGeom prst="rect">
            <a:avLst/>
          </a:prstGeom>
        </p:spPr>
      </p:pic>
      <p:pic>
        <p:nvPicPr>
          <p:cNvPr id="136" name="图片 135" descr="APP开发"/>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4450080" y="1211580"/>
            <a:ext cx="412750" cy="412750"/>
          </a:xfrm>
          <a:prstGeom prst="rect">
            <a:avLst/>
          </a:prstGeom>
        </p:spPr>
      </p:pic>
      <p:grpSp>
        <p:nvGrpSpPr>
          <p:cNvPr id="139" name="组合 138"/>
          <p:cNvGrpSpPr/>
          <p:nvPr/>
        </p:nvGrpSpPr>
        <p:grpSpPr>
          <a:xfrm>
            <a:off x="694532" y="1814814"/>
            <a:ext cx="4335153" cy="4193488"/>
            <a:chOff x="656082" y="1536781"/>
            <a:chExt cx="4335153" cy="4193488"/>
          </a:xfrm>
        </p:grpSpPr>
        <p:sp>
          <p:nvSpPr>
            <p:cNvPr id="140" name="椭圆 139"/>
            <p:cNvSpPr/>
            <p:nvPr/>
          </p:nvSpPr>
          <p:spPr>
            <a:xfrm>
              <a:off x="797747" y="1536781"/>
              <a:ext cx="4193488" cy="4193488"/>
            </a:xfrm>
            <a:prstGeom prst="ellipse">
              <a:avLst/>
            </a:prstGeom>
            <a:noFill/>
            <a:ln w="31750">
              <a:gradFill flip="none" rotWithShape="1">
                <a:gsLst>
                  <a:gs pos="84000">
                    <a:srgbClr val="FFFFFF">
                      <a:alpha val="0"/>
                    </a:srgbClr>
                  </a:gs>
                  <a:gs pos="100000">
                    <a:srgbClr val="3368FF"/>
                  </a:gs>
                </a:gsLst>
                <a:lin ang="10800000" scaled="1"/>
                <a:tileRect/>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141" name="三角形 36"/>
            <p:cNvSpPr>
              <a:spLocks noChangeAspect="1"/>
            </p:cNvSpPr>
            <p:nvPr/>
          </p:nvSpPr>
          <p:spPr>
            <a:xfrm rot="378549">
              <a:off x="656082" y="3392013"/>
              <a:ext cx="273081" cy="235414"/>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grpSp>
      <p:grpSp>
        <p:nvGrpSpPr>
          <p:cNvPr id="142" name="组合 141"/>
          <p:cNvGrpSpPr/>
          <p:nvPr/>
        </p:nvGrpSpPr>
        <p:grpSpPr>
          <a:xfrm>
            <a:off x="1649730" y="994410"/>
            <a:ext cx="9029065" cy="5744210"/>
            <a:chOff x="2732" y="1376"/>
            <a:chExt cx="14219" cy="9046"/>
          </a:xfrm>
        </p:grpSpPr>
        <p:sp>
          <p:nvSpPr>
            <p:cNvPr id="143" name="Process flow diagram"/>
            <p:cNvSpPr txBox="1"/>
            <p:nvPr/>
          </p:nvSpPr>
          <p:spPr>
            <a:xfrm rot="1920000">
              <a:off x="11417" y="3518"/>
              <a:ext cx="5534" cy="6904"/>
            </a:xfrm>
            <a:prstGeom prst="rect">
              <a:avLst/>
            </a:prstGeom>
            <a:noFill/>
            <a:ln w="12700" cap="flat">
              <a:noFill/>
              <a:miter lim="400000"/>
            </a:ln>
            <a:effectLst/>
          </p:spPr>
          <p:txBody>
            <a:bodyPr wrap="square" lIns="0" tIns="0" rIns="0" bIns="0" numCol="1" anchor="t">
              <a:prstTxWarp prst="textArchUp">
                <a:avLst>
                  <a:gd name="adj" fmla="val 10342854"/>
                </a:avLst>
              </a:prstTxWarp>
              <a:no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2000" kern="0" dirty="0">
                  <a:solidFill>
                    <a:srgbClr val="383838"/>
                  </a:solidFill>
                  <a:latin typeface="微软雅黑"/>
                  <a:ea typeface="微软雅黑"/>
                  <a:cs typeface="微软雅黑"/>
                  <a:sym typeface="微软雅黑"/>
                </a:rPr>
                <a:t>营销智能</a:t>
              </a:r>
              <a:endParaRPr lang="zh-CN" altLang="en-US" sz="2000" kern="0" dirty="0">
                <a:solidFill>
                  <a:srgbClr val="383838"/>
                </a:solidFill>
                <a:latin typeface="微软雅黑"/>
                <a:ea typeface="微软雅黑"/>
                <a:cs typeface="微软雅黑"/>
                <a:sym typeface="微软雅黑"/>
              </a:endParaRPr>
            </a:p>
          </p:txBody>
        </p:sp>
        <p:sp>
          <p:nvSpPr>
            <p:cNvPr id="144" name="Process flow diagram"/>
            <p:cNvSpPr txBox="1"/>
            <p:nvPr/>
          </p:nvSpPr>
          <p:spPr>
            <a:xfrm rot="19380000">
              <a:off x="2805" y="3374"/>
              <a:ext cx="5534" cy="6904"/>
            </a:xfrm>
            <a:prstGeom prst="rect">
              <a:avLst/>
            </a:prstGeom>
            <a:noFill/>
            <a:ln w="12700" cap="flat">
              <a:noFill/>
              <a:miter lim="400000"/>
            </a:ln>
            <a:effectLst/>
          </p:spPr>
          <p:txBody>
            <a:bodyPr wrap="square" lIns="0" tIns="0" rIns="0" bIns="0" numCol="1" anchor="t">
              <a:prstTxWarp prst="textArchUp">
                <a:avLst>
                  <a:gd name="adj" fmla="val 10342854"/>
                </a:avLst>
              </a:prstTxWarp>
              <a:no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2000" kern="0" dirty="0">
                  <a:solidFill>
                    <a:srgbClr val="383838"/>
                  </a:solidFill>
                  <a:latin typeface="微软雅黑"/>
                  <a:ea typeface="微软雅黑"/>
                  <a:cs typeface="微软雅黑"/>
                  <a:sym typeface="微软雅黑"/>
                </a:rPr>
                <a:t>品牌传播</a:t>
              </a:r>
              <a:endParaRPr lang="zh-CN" altLang="en-US" sz="2000" kern="0" dirty="0">
                <a:solidFill>
                  <a:srgbClr val="383838"/>
                </a:solidFill>
                <a:latin typeface="微软雅黑"/>
                <a:ea typeface="微软雅黑"/>
                <a:cs typeface="微软雅黑"/>
                <a:sym typeface="微软雅黑"/>
              </a:endParaRPr>
            </a:p>
          </p:txBody>
        </p:sp>
        <p:sp>
          <p:nvSpPr>
            <p:cNvPr id="146" name="Process flow diagram"/>
            <p:cNvSpPr txBox="1"/>
            <p:nvPr/>
          </p:nvSpPr>
          <p:spPr>
            <a:xfrm rot="2280000">
              <a:off x="2732" y="1376"/>
              <a:ext cx="5534" cy="6904"/>
            </a:xfrm>
            <a:prstGeom prst="rect">
              <a:avLst/>
            </a:prstGeom>
            <a:noFill/>
            <a:ln w="12700" cap="flat">
              <a:noFill/>
              <a:miter lim="400000"/>
            </a:ln>
            <a:effectLst/>
          </p:spPr>
          <p:txBody>
            <a:bodyPr wrap="square" lIns="0" tIns="0" rIns="0" bIns="0" numCol="1" anchor="t">
              <a:prstTxWarp prst="textArchDown">
                <a:avLst/>
              </a:prstTxWarp>
              <a:no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2000" kern="0" dirty="0">
                  <a:solidFill>
                    <a:srgbClr val="383838"/>
                  </a:solidFill>
                  <a:latin typeface="微软雅黑"/>
                  <a:ea typeface="微软雅黑"/>
                  <a:cs typeface="微软雅黑"/>
                  <a:sym typeface="微软雅黑"/>
                </a:rPr>
                <a:t>会员忠诚运营</a:t>
              </a:r>
              <a:endParaRPr lang="zh-CN" altLang="en-US" sz="2000" kern="0" dirty="0">
                <a:solidFill>
                  <a:srgbClr val="383838"/>
                </a:solidFill>
                <a:latin typeface="微软雅黑"/>
                <a:ea typeface="微软雅黑"/>
                <a:cs typeface="微软雅黑"/>
                <a:sym typeface="微软雅黑"/>
              </a:endParaRPr>
            </a:p>
          </p:txBody>
        </p:sp>
      </p:grpSp>
      <p:grpSp>
        <p:nvGrpSpPr>
          <p:cNvPr id="152" name="组合 151"/>
          <p:cNvGrpSpPr/>
          <p:nvPr/>
        </p:nvGrpSpPr>
        <p:grpSpPr>
          <a:xfrm>
            <a:off x="1496695" y="1548765"/>
            <a:ext cx="1379220" cy="331470"/>
            <a:chOff x="2652" y="2623"/>
            <a:chExt cx="2172" cy="522"/>
          </a:xfrm>
        </p:grpSpPr>
        <p:sp>
          <p:nvSpPr>
            <p:cNvPr id="147" name="Process flow diagram"/>
            <p:cNvSpPr txBox="1"/>
            <p:nvPr/>
          </p:nvSpPr>
          <p:spPr>
            <a:xfrm>
              <a:off x="2998" y="2675"/>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广告投放</a:t>
              </a:r>
              <a:endParaRPr lang="zh-CN" altLang="en-US" sz="1400" kern="0" dirty="0">
                <a:solidFill>
                  <a:srgbClr val="383838"/>
                </a:solidFill>
                <a:latin typeface="微软雅黑"/>
                <a:ea typeface="微软雅黑"/>
                <a:cs typeface="微软雅黑"/>
                <a:sym typeface="微软雅黑"/>
              </a:endParaRPr>
            </a:p>
          </p:txBody>
        </p:sp>
        <p:pic>
          <p:nvPicPr>
            <p:cNvPr id="151" name="图片 150" descr="广告投放"/>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2652" y="2623"/>
              <a:ext cx="523" cy="523"/>
            </a:xfrm>
            <a:prstGeom prst="rect">
              <a:avLst/>
            </a:prstGeom>
          </p:spPr>
        </p:pic>
      </p:grpSp>
      <p:grpSp>
        <p:nvGrpSpPr>
          <p:cNvPr id="161" name="组合 160"/>
          <p:cNvGrpSpPr/>
          <p:nvPr/>
        </p:nvGrpSpPr>
        <p:grpSpPr>
          <a:xfrm>
            <a:off x="590550" y="2066925"/>
            <a:ext cx="1461135" cy="414020"/>
            <a:chOff x="1128" y="3179"/>
            <a:chExt cx="2301" cy="652"/>
          </a:xfrm>
        </p:grpSpPr>
        <p:sp>
          <p:nvSpPr>
            <p:cNvPr id="154" name="Process flow diagram"/>
            <p:cNvSpPr txBox="1"/>
            <p:nvPr/>
          </p:nvSpPr>
          <p:spPr>
            <a:xfrm>
              <a:off x="1603" y="3295"/>
              <a:ext cx="1826" cy="419"/>
            </a:xfrm>
            <a:prstGeom prst="rect">
              <a:avLst/>
            </a:prstGeom>
            <a:noFill/>
            <a:ln w="12700" cap="flat">
              <a:noFill/>
              <a:miter lim="400000"/>
            </a:ln>
            <a:effectLst/>
          </p:spPr>
          <p:txBody>
            <a:bodyPr wrap="square" lIns="0" tIns="0" rIns="0" bIns="0" numCol="1" anchor="t">
              <a:spAutoFit/>
            </a:bodyPr>
            <a:lstStyle>
              <a:lvl1pPr>
                <a:defRPr b="0">
                  <a:solidFill>
                    <a:srgbClr val="FFFFFF"/>
                  </a:solidFill>
                  <a:latin typeface="微软雅黑"/>
                  <a:ea typeface="微软雅黑"/>
                  <a:cs typeface="微软雅黑"/>
                  <a:sym typeface="微软雅黑"/>
                </a:defRPr>
              </a:lvl1pPr>
            </a:lstStyle>
            <a:p>
              <a:pPr algn="ctr" defTabSz="412750" hangingPunct="0">
                <a:defRPr>
                  <a:solidFill>
                    <a:srgbClr val="383838"/>
                  </a:solidFill>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分享传播</a:t>
              </a:r>
              <a:endParaRPr lang="zh-CN" altLang="en-US" sz="1400" kern="0" dirty="0">
                <a:solidFill>
                  <a:srgbClr val="383838"/>
                </a:solidFill>
                <a:latin typeface="微软雅黑"/>
                <a:ea typeface="微软雅黑"/>
                <a:cs typeface="微软雅黑"/>
                <a:sym typeface="微软雅黑"/>
              </a:endParaRPr>
            </a:p>
          </p:txBody>
        </p:sp>
        <p:pic>
          <p:nvPicPr>
            <p:cNvPr id="160" name="图片 159" descr="分享"/>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1128" y="3179"/>
              <a:ext cx="652" cy="652"/>
            </a:xfrm>
            <a:prstGeom prst="rect">
              <a:avLst/>
            </a:prstGeom>
          </p:spPr>
        </p:pic>
      </p:grpSp>
      <p:grpSp>
        <p:nvGrpSpPr>
          <p:cNvPr id="171" name="组合 170"/>
          <p:cNvGrpSpPr/>
          <p:nvPr/>
        </p:nvGrpSpPr>
        <p:grpSpPr>
          <a:xfrm>
            <a:off x="1136015" y="5496560"/>
            <a:ext cx="1379220" cy="361950"/>
            <a:chOff x="1987" y="8476"/>
            <a:chExt cx="2172" cy="570"/>
          </a:xfrm>
        </p:grpSpPr>
        <p:sp>
          <p:nvSpPr>
            <p:cNvPr id="163" name="Process flow diagram"/>
            <p:cNvSpPr txBox="1"/>
            <p:nvPr/>
          </p:nvSpPr>
          <p:spPr>
            <a:xfrm>
              <a:off x="2333" y="8552"/>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积分运营</a:t>
              </a:r>
              <a:endParaRPr lang="zh-CN" altLang="en-US" sz="1400" kern="0" dirty="0">
                <a:solidFill>
                  <a:srgbClr val="383838"/>
                </a:solidFill>
                <a:latin typeface="微软雅黑"/>
                <a:ea typeface="微软雅黑"/>
                <a:cs typeface="微软雅黑"/>
                <a:sym typeface="微软雅黑"/>
              </a:endParaRPr>
            </a:p>
          </p:txBody>
        </p:sp>
        <p:pic>
          <p:nvPicPr>
            <p:cNvPr id="170" name="图片 169" descr="积分"/>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1987" y="8476"/>
              <a:ext cx="571" cy="571"/>
            </a:xfrm>
            <a:prstGeom prst="rect">
              <a:avLst/>
            </a:prstGeom>
          </p:spPr>
        </p:pic>
      </p:grpSp>
      <p:grpSp>
        <p:nvGrpSpPr>
          <p:cNvPr id="174" name="组合 173"/>
          <p:cNvGrpSpPr/>
          <p:nvPr/>
        </p:nvGrpSpPr>
        <p:grpSpPr>
          <a:xfrm>
            <a:off x="1570355" y="5977255"/>
            <a:ext cx="1387475" cy="360680"/>
            <a:chOff x="2671" y="9233"/>
            <a:chExt cx="2185" cy="568"/>
          </a:xfrm>
        </p:grpSpPr>
        <p:sp>
          <p:nvSpPr>
            <p:cNvPr id="166" name="Process flow diagram"/>
            <p:cNvSpPr txBox="1"/>
            <p:nvPr/>
          </p:nvSpPr>
          <p:spPr>
            <a:xfrm>
              <a:off x="3030" y="9308"/>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持续经营</a:t>
              </a:r>
              <a:endParaRPr lang="zh-CN" altLang="en-US" sz="1400" kern="0" dirty="0">
                <a:solidFill>
                  <a:srgbClr val="383838"/>
                </a:solidFill>
                <a:latin typeface="微软雅黑"/>
                <a:ea typeface="微软雅黑"/>
                <a:cs typeface="微软雅黑"/>
                <a:sym typeface="微软雅黑"/>
              </a:endParaRPr>
            </a:p>
          </p:txBody>
        </p:sp>
        <p:pic>
          <p:nvPicPr>
            <p:cNvPr id="173" name="图片 172" descr="logo-wikimediaCommons"/>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2671" y="9233"/>
              <a:ext cx="568" cy="568"/>
            </a:xfrm>
            <a:prstGeom prst="rect">
              <a:avLst/>
            </a:prstGeom>
          </p:spPr>
        </p:pic>
      </p:grpSp>
      <p:sp>
        <p:nvSpPr>
          <p:cNvPr id="176" name="Process flow diagram"/>
          <p:cNvSpPr txBox="1"/>
          <p:nvPr/>
        </p:nvSpPr>
        <p:spPr>
          <a:xfrm rot="19620000">
            <a:off x="7111365" y="969645"/>
            <a:ext cx="3514090" cy="4384040"/>
          </a:xfrm>
          <a:prstGeom prst="rect">
            <a:avLst/>
          </a:prstGeom>
          <a:noFill/>
          <a:ln w="12700" cap="flat">
            <a:noFill/>
            <a:miter lim="400000"/>
          </a:ln>
          <a:effectLst/>
        </p:spPr>
        <p:txBody>
          <a:bodyPr wrap="square" lIns="0" tIns="0" rIns="0" bIns="0" numCol="1" anchor="t">
            <a:prstTxWarp prst="textArchDown">
              <a:avLst/>
            </a:prstTxWarp>
            <a:no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2000" kern="0" dirty="0">
                <a:solidFill>
                  <a:srgbClr val="383838"/>
                </a:solidFill>
                <a:latin typeface="微软雅黑"/>
                <a:ea typeface="微软雅黑"/>
                <a:cs typeface="微软雅黑"/>
                <a:sym typeface="微软雅黑"/>
              </a:rPr>
              <a:t>全渠道运营</a:t>
            </a:r>
            <a:endParaRPr lang="zh-CN" altLang="en-US" sz="2000" kern="0" dirty="0">
              <a:solidFill>
                <a:srgbClr val="383838"/>
              </a:solidFill>
              <a:latin typeface="微软雅黑"/>
              <a:ea typeface="微软雅黑"/>
              <a:cs typeface="微软雅黑"/>
              <a:sym typeface="微软雅黑"/>
            </a:endParaRPr>
          </a:p>
        </p:txBody>
      </p:sp>
      <p:grpSp>
        <p:nvGrpSpPr>
          <p:cNvPr id="193" name="组合 192"/>
          <p:cNvGrpSpPr/>
          <p:nvPr/>
        </p:nvGrpSpPr>
        <p:grpSpPr>
          <a:xfrm>
            <a:off x="9960610" y="1517650"/>
            <a:ext cx="1834515" cy="293370"/>
            <a:chOff x="15884" y="2210"/>
            <a:chExt cx="2889" cy="462"/>
          </a:xfrm>
        </p:grpSpPr>
        <p:sp>
          <p:nvSpPr>
            <p:cNvPr id="184" name="Process flow diagram"/>
            <p:cNvSpPr txBox="1"/>
            <p:nvPr/>
          </p:nvSpPr>
          <p:spPr>
            <a:xfrm>
              <a:off x="16108" y="2210"/>
              <a:ext cx="2665"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自动营销引擎</a:t>
              </a:r>
              <a:endParaRPr lang="zh-CN" altLang="en-US" sz="1400" kern="0" dirty="0">
                <a:solidFill>
                  <a:srgbClr val="383838"/>
                </a:solidFill>
                <a:latin typeface="微软雅黑"/>
                <a:ea typeface="微软雅黑"/>
                <a:cs typeface="微软雅黑"/>
                <a:sym typeface="微软雅黑"/>
              </a:endParaRPr>
            </a:p>
          </p:txBody>
        </p:sp>
        <p:pic>
          <p:nvPicPr>
            <p:cNvPr id="192" name="图片 191" descr="搜索引擎传播"/>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15884" y="2215"/>
              <a:ext cx="457" cy="457"/>
            </a:xfrm>
            <a:prstGeom prst="rect">
              <a:avLst/>
            </a:prstGeom>
          </p:spPr>
        </p:pic>
      </p:grpSp>
      <p:grpSp>
        <p:nvGrpSpPr>
          <p:cNvPr id="197" name="组合 196"/>
          <p:cNvGrpSpPr/>
          <p:nvPr/>
        </p:nvGrpSpPr>
        <p:grpSpPr>
          <a:xfrm>
            <a:off x="10668000" y="2125980"/>
            <a:ext cx="1362710" cy="271780"/>
            <a:chOff x="16998" y="3168"/>
            <a:chExt cx="2146" cy="428"/>
          </a:xfrm>
        </p:grpSpPr>
        <p:sp>
          <p:nvSpPr>
            <p:cNvPr id="195" name="Process flow diagram"/>
            <p:cNvSpPr txBox="1"/>
            <p:nvPr/>
          </p:nvSpPr>
          <p:spPr>
            <a:xfrm>
              <a:off x="17318" y="3172"/>
              <a:ext cx="1826" cy="419"/>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营销监控</a:t>
              </a:r>
              <a:endParaRPr lang="zh-CN" altLang="en-US" sz="1400" kern="0" dirty="0">
                <a:solidFill>
                  <a:srgbClr val="383838"/>
                </a:solidFill>
                <a:latin typeface="微软雅黑"/>
                <a:ea typeface="微软雅黑"/>
                <a:cs typeface="微软雅黑"/>
                <a:sym typeface="微软雅黑"/>
              </a:endParaRPr>
            </a:p>
          </p:txBody>
        </p:sp>
        <p:pic>
          <p:nvPicPr>
            <p:cNvPr id="196" name="图片 195" descr="预测引擎"/>
            <p:cNvPicPr>
              <a:picLocks noChangeAspect="1"/>
            </p:cNvPicPr>
            <p:nvPr/>
          </p:nvPicPr>
          <p:blipFill>
            <a:blip r:embed="rId31">
              <a:extLst>
                <a:ext uri="{96DAC541-7B7A-43D3-8B79-37D633B846F1}">
                  <asvg:svgBlip xmlns:asvg="http://schemas.microsoft.com/office/drawing/2016/SVG/main" r:embed="rId32"/>
                </a:ext>
              </a:extLst>
            </a:blip>
            <a:stretch>
              <a:fillRect/>
            </a:stretch>
          </p:blipFill>
          <p:spPr>
            <a:xfrm>
              <a:off x="16998" y="3168"/>
              <a:ext cx="428" cy="428"/>
            </a:xfrm>
            <a:prstGeom prst="rect">
              <a:avLst/>
            </a:prstGeom>
          </p:spPr>
        </p:pic>
      </p:grpSp>
      <p:sp>
        <p:nvSpPr>
          <p:cNvPr id="199" name="Process flow diagram"/>
          <p:cNvSpPr txBox="1"/>
          <p:nvPr/>
        </p:nvSpPr>
        <p:spPr>
          <a:xfrm>
            <a:off x="10840720" y="5397500"/>
            <a:ext cx="1159510" cy="266065"/>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线上线下</a:t>
            </a:r>
            <a:endParaRPr lang="zh-CN" altLang="en-US" sz="1400" kern="0" dirty="0">
              <a:solidFill>
                <a:srgbClr val="383838"/>
              </a:solidFill>
              <a:latin typeface="微软雅黑"/>
              <a:ea typeface="微软雅黑"/>
              <a:cs typeface="微软雅黑"/>
              <a:sym typeface="微软雅黑"/>
            </a:endParaRPr>
          </a:p>
        </p:txBody>
      </p:sp>
      <p:sp>
        <p:nvSpPr>
          <p:cNvPr id="202" name="Process flow diagram"/>
          <p:cNvSpPr txBox="1"/>
          <p:nvPr/>
        </p:nvSpPr>
        <p:spPr>
          <a:xfrm>
            <a:off x="10300335" y="5830570"/>
            <a:ext cx="1159510" cy="266065"/>
          </a:xfrm>
          <a:prstGeom prst="rect">
            <a:avLst/>
          </a:prstGeom>
          <a:noFill/>
          <a:ln w="12700" cap="flat">
            <a:noFill/>
            <a:miter lim="400000"/>
          </a:ln>
          <a:effectLst/>
        </p:spPr>
        <p:txBody>
          <a:bodyPr wrap="square" lIns="0" tIns="0" rIns="0" bIns="0" numCol="1" anchor="t">
            <a:spAutoFit/>
          </a:bodyPr>
          <a:lstStyle>
            <a:lvl1pPr>
              <a:defRPr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sym typeface="微软雅黑"/>
              </a:rPr>
              <a:t>社群运营</a:t>
            </a:r>
            <a:endParaRPr lang="zh-CN" altLang="en-US" sz="1400" kern="0" dirty="0">
              <a:solidFill>
                <a:srgbClr val="383838"/>
              </a:solidFill>
              <a:latin typeface="微软雅黑"/>
              <a:ea typeface="微软雅黑"/>
              <a:cs typeface="微软雅黑"/>
              <a:sym typeface="微软雅黑"/>
            </a:endParaRPr>
          </a:p>
        </p:txBody>
      </p:sp>
      <p:pic>
        <p:nvPicPr>
          <p:cNvPr id="204" name="图片 203" descr="线上线下贯通"/>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10624820" y="5396865"/>
            <a:ext cx="314960" cy="314960"/>
          </a:xfrm>
          <a:prstGeom prst="rect">
            <a:avLst/>
          </a:prstGeom>
        </p:spPr>
      </p:pic>
      <p:pic>
        <p:nvPicPr>
          <p:cNvPr id="206" name="图片 205" descr="社群"/>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10055860" y="5787390"/>
            <a:ext cx="393065" cy="393065"/>
          </a:xfrm>
          <a:prstGeom prst="rect">
            <a:avLst/>
          </a:prstGeom>
        </p:spPr>
      </p:pic>
      <p:sp>
        <p:nvSpPr>
          <p:cNvPr id="207" name="Shape"/>
          <p:cNvSpPr/>
          <p:nvPr/>
        </p:nvSpPr>
        <p:spPr>
          <a:xfrm>
            <a:off x="5932170" y="5033645"/>
            <a:ext cx="2832100" cy="611505"/>
          </a:xfrm>
          <a:custGeom>
            <a:avLst/>
            <a:gdLst/>
            <a:ahLst/>
            <a:cxnLst>
              <a:cxn ang="0">
                <a:pos x="wd2" y="hd2"/>
              </a:cxn>
              <a:cxn ang="5400000">
                <a:pos x="wd2" y="hd2"/>
              </a:cxn>
              <a:cxn ang="10800000">
                <a:pos x="wd2" y="hd2"/>
              </a:cxn>
              <a:cxn ang="16200000">
                <a:pos x="wd2" y="hd2"/>
              </a:cxn>
            </a:cxnLst>
            <a:rect l="0" t="0" r="r" b="b"/>
            <a:pathLst>
              <a:path w="21600" h="21600" extrusionOk="0">
                <a:moveTo>
                  <a:pt x="21482" y="0"/>
                </a:moveTo>
                <a:lnTo>
                  <a:pt x="2374" y="0"/>
                </a:lnTo>
                <a:lnTo>
                  <a:pt x="0" y="10739"/>
                </a:lnTo>
                <a:lnTo>
                  <a:pt x="2489" y="21545"/>
                </a:lnTo>
                <a:lnTo>
                  <a:pt x="21600" y="21600"/>
                </a:lnTo>
                <a:lnTo>
                  <a:pt x="19087" y="10844"/>
                </a:lnTo>
                <a:lnTo>
                  <a:pt x="21482" y="0"/>
                </a:lnTo>
                <a:close/>
              </a:path>
            </a:pathLst>
          </a:custGeom>
          <a:gradFill>
            <a:gsLst>
              <a:gs pos="100000">
                <a:srgbClr val="B3D4FE"/>
              </a:gs>
              <a:gs pos="0">
                <a:srgbClr val="B3D4FE"/>
              </a:gs>
            </a:gsLst>
            <a:lin ang="0" scaled="0"/>
          </a:gradFill>
          <a:ln>
            <a:noFill/>
          </a:ln>
          <a:effectLst>
            <a:outerShdw blurRad="177800" sx="102000" sy="102000" algn="ctr" rotWithShape="0">
              <a:srgbClr val="0042FF">
                <a:alpha val="11000"/>
              </a:srgbClr>
            </a:outerShdw>
            <a:reflection blurRad="6350" stA="52000" endA="300" endPos="35000" dir="5400000" sy="-100000" algn="bl" rotWithShape="0"/>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a:solidFill>
                <a:srgbClr val="383838"/>
              </a:solidFill>
              <a:latin typeface="微软雅黑"/>
              <a:ea typeface="微软雅黑"/>
              <a:cs typeface="微软雅黑"/>
              <a:sym typeface="微软雅黑"/>
            </a:endParaRPr>
          </a:p>
        </p:txBody>
      </p:sp>
      <p:sp>
        <p:nvSpPr>
          <p:cNvPr id="210" name="This is a sample text.…"/>
          <p:cNvSpPr txBox="1"/>
          <p:nvPr/>
        </p:nvSpPr>
        <p:spPr>
          <a:xfrm>
            <a:off x="4288790" y="4410710"/>
            <a:ext cx="3350895" cy="266065"/>
          </a:xfrm>
          <a:prstGeom prst="rect">
            <a:avLst/>
          </a:prstGeom>
          <a:noFill/>
          <a:ln w="12700" cap="flat">
            <a:noFill/>
            <a:miter lim="400000"/>
          </a:ln>
          <a:effectLst/>
        </p:spPr>
        <p:txBody>
          <a:bodyPr wrap="square" lIns="25400" tIns="25400" rIns="25400" bIns="25400" numCol="1" anchor="t">
            <a:spAutoFit/>
          </a:body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rPr>
              <a:t>数据中台负责数据采集与智能决策</a:t>
            </a:r>
            <a:endParaRPr lang="zh-CN" altLang="en-US" sz="1400" kern="0" dirty="0">
              <a:solidFill>
                <a:srgbClr val="383838"/>
              </a:solidFill>
              <a:latin typeface="微软雅黑"/>
              <a:ea typeface="微软雅黑"/>
              <a:cs typeface="微软雅黑"/>
            </a:endParaRPr>
          </a:p>
        </p:txBody>
      </p:sp>
      <p:sp>
        <p:nvSpPr>
          <p:cNvPr id="211" name="Sample text"/>
          <p:cNvSpPr txBox="1"/>
          <p:nvPr/>
        </p:nvSpPr>
        <p:spPr>
          <a:xfrm>
            <a:off x="6243320" y="5175885"/>
            <a:ext cx="2082165" cy="302260"/>
          </a:xfrm>
          <a:prstGeom prst="rect">
            <a:avLst/>
          </a:prstGeom>
          <a:noFill/>
          <a:ln w="12700" cap="flat">
            <a:noFill/>
            <a:miter lim="400000"/>
          </a:ln>
          <a:effectLst/>
        </p:spPr>
        <p:txBody>
          <a:bodyPr wrap="square" lIns="25400" tIns="25400" rIns="25400" bIns="25400" numCol="1" anchor="ctr" anchorCtr="0">
            <a:noAutofit/>
          </a:bodyPr>
          <a:lstStyle>
            <a:lvl1pPr algn="l">
              <a:defRPr sz="2500" b="0">
                <a:solidFill>
                  <a:srgbClr val="383838"/>
                </a:solidFill>
                <a:latin typeface="微软雅黑"/>
                <a:ea typeface="微软雅黑"/>
                <a:cs typeface="微软雅黑"/>
                <a:sym typeface="微软雅黑"/>
              </a:defRPr>
            </a:lvl1pPr>
          </a:lstStyle>
          <a:p>
            <a:pPr algn="ctr" defTabSz="412750" hangingPunct="0">
              <a:defRPr>
                <a:latin typeface="微软雅黑"/>
                <a:ea typeface="微软雅黑"/>
                <a:cs typeface="微软雅黑"/>
              </a:defRPr>
            </a:pPr>
            <a:r>
              <a:rPr lang="zh-CN" altLang="en-US" sz="2000" b="1" kern="0" dirty="0">
                <a:latin typeface="微软雅黑"/>
                <a:ea typeface="微软雅黑"/>
                <a:cs typeface="微软雅黑"/>
                <a:sym typeface="微软雅黑"/>
              </a:rPr>
              <a:t>全渠道交易</a:t>
            </a:r>
            <a:endParaRPr lang="zh-CN" altLang="en-US" sz="2000" b="1" kern="0" dirty="0">
              <a:latin typeface="微软雅黑"/>
              <a:ea typeface="微软雅黑"/>
              <a:cs typeface="微软雅黑"/>
              <a:sym typeface="微软雅黑"/>
            </a:endParaRPr>
          </a:p>
        </p:txBody>
      </p:sp>
      <p:sp>
        <p:nvSpPr>
          <p:cNvPr id="216" name="This is a sample text.…"/>
          <p:cNvSpPr txBox="1"/>
          <p:nvPr/>
        </p:nvSpPr>
        <p:spPr>
          <a:xfrm>
            <a:off x="5022850" y="4082415"/>
            <a:ext cx="1882775" cy="266065"/>
          </a:xfrm>
          <a:prstGeom prst="rect">
            <a:avLst/>
          </a:prstGeom>
          <a:noFill/>
          <a:ln w="12700" cap="flat">
            <a:noFill/>
            <a:miter lim="400000"/>
          </a:ln>
          <a:effectLst/>
        </p:spPr>
        <p:txBody>
          <a:bodyPr wrap="square" lIns="25400" tIns="25400" rIns="25400" bIns="25400" numCol="1" anchor="t">
            <a:spAutoFit/>
          </a:bodyPr>
          <a:lstStyle/>
          <a:p>
            <a:pPr algn="ctr" defTabSz="412750" hangingPunct="0">
              <a:defRPr>
                <a:latin typeface="微软雅黑"/>
                <a:ea typeface="微软雅黑"/>
                <a:cs typeface="微软雅黑"/>
              </a:defRPr>
            </a:pPr>
            <a:r>
              <a:rPr lang="zh-CN" altLang="en-US" sz="1400" b="1" kern="0" dirty="0">
                <a:solidFill>
                  <a:srgbClr val="0042FF"/>
                </a:solidFill>
                <a:latin typeface="微软雅黑"/>
                <a:ea typeface="微软雅黑"/>
                <a:cs typeface="微软雅黑"/>
              </a:rPr>
              <a:t>驱动精准营销</a:t>
            </a:r>
            <a:endParaRPr lang="zh-CN" altLang="en-US" sz="1400" b="1" kern="0" dirty="0">
              <a:solidFill>
                <a:srgbClr val="0042FF"/>
              </a:solidFill>
              <a:latin typeface="微软雅黑"/>
              <a:ea typeface="微软雅黑"/>
              <a:cs typeface="微软雅黑"/>
            </a:endParaRPr>
          </a:p>
        </p:txBody>
      </p:sp>
      <p:grpSp>
        <p:nvGrpSpPr>
          <p:cNvPr id="217" name="组合 216"/>
          <p:cNvGrpSpPr/>
          <p:nvPr/>
        </p:nvGrpSpPr>
        <p:grpSpPr>
          <a:xfrm>
            <a:off x="4156710" y="3778885"/>
            <a:ext cx="3614420" cy="175895"/>
            <a:chOff x="6744" y="5454"/>
            <a:chExt cx="5692" cy="277"/>
          </a:xfrm>
        </p:grpSpPr>
        <p:cxnSp>
          <p:nvCxnSpPr>
            <p:cNvPr id="218" name="直接箭头连接符 217"/>
            <p:cNvCxnSpPr/>
            <p:nvPr/>
          </p:nvCxnSpPr>
          <p:spPr>
            <a:xfrm>
              <a:off x="6744" y="5454"/>
              <a:ext cx="5688" cy="0"/>
            </a:xfrm>
            <a:prstGeom prst="straightConnector1">
              <a:avLst/>
            </a:prstGeom>
            <a:ln>
              <a:prstDash val="sysDash"/>
              <a:tailEnd type="triangle" w="med" len="lg"/>
            </a:ln>
          </p:spPr>
          <p:style>
            <a:lnRef idx="2">
              <a:srgbClr val="0042FF"/>
            </a:lnRef>
            <a:fillRef idx="0">
              <a:srgbClr val="FFFFFF"/>
            </a:fillRef>
            <a:effectRef idx="0">
              <a:srgbClr val="FFFFFF"/>
            </a:effectRef>
            <a:fontRef idx="minor">
              <a:srgbClr val="383838"/>
            </a:fontRef>
          </p:style>
        </p:cxnSp>
        <p:cxnSp>
          <p:nvCxnSpPr>
            <p:cNvPr id="219" name="直接箭头连接符 218"/>
            <p:cNvCxnSpPr/>
            <p:nvPr/>
          </p:nvCxnSpPr>
          <p:spPr>
            <a:xfrm flipH="1">
              <a:off x="6748" y="5731"/>
              <a:ext cx="5688" cy="0"/>
            </a:xfrm>
            <a:prstGeom prst="straightConnector1">
              <a:avLst/>
            </a:prstGeom>
            <a:ln>
              <a:solidFill>
                <a:srgbClr val="3368FF"/>
              </a:solidFill>
              <a:prstDash val="sysDash"/>
              <a:tailEnd type="triangle" w="med" len="lg"/>
            </a:ln>
          </p:spPr>
          <p:style>
            <a:lnRef idx="2">
              <a:srgbClr val="0042FF"/>
            </a:lnRef>
            <a:fillRef idx="0">
              <a:srgbClr val="FFFFFF"/>
            </a:fillRef>
            <a:effectRef idx="0">
              <a:srgbClr val="FFFFFF"/>
            </a:effectRef>
            <a:fontRef idx="minor">
              <a:srgbClr val="383838"/>
            </a:fontRef>
          </p:style>
        </p:cxnSp>
      </p:grpSp>
      <p:sp>
        <p:nvSpPr>
          <p:cNvPr id="220" name="This is a sample text.…"/>
          <p:cNvSpPr txBox="1"/>
          <p:nvPr/>
        </p:nvSpPr>
        <p:spPr>
          <a:xfrm>
            <a:off x="4288790" y="3389630"/>
            <a:ext cx="3350895" cy="266065"/>
          </a:xfrm>
          <a:prstGeom prst="rect">
            <a:avLst/>
          </a:prstGeom>
          <a:noFill/>
          <a:ln w="12700" cap="flat">
            <a:noFill/>
            <a:miter lim="400000"/>
          </a:ln>
          <a:effectLst/>
        </p:spPr>
        <p:txBody>
          <a:bodyPr wrap="square" lIns="25400" tIns="25400" rIns="25400" bIns="25400" numCol="1" anchor="t">
            <a:spAutoFit/>
          </a:bodyPr>
          <a:lstStyle/>
          <a:p>
            <a:pPr algn="ctr" defTabSz="412750" hangingPunct="0">
              <a:defRPr>
                <a:latin typeface="微软雅黑"/>
                <a:ea typeface="微软雅黑"/>
                <a:cs typeface="微软雅黑"/>
              </a:defRPr>
            </a:pPr>
            <a:r>
              <a:rPr lang="zh-CN" altLang="en-US" sz="1400" kern="0" dirty="0">
                <a:solidFill>
                  <a:srgbClr val="383838"/>
                </a:solidFill>
                <a:latin typeface="微软雅黑"/>
                <a:ea typeface="微软雅黑"/>
                <a:cs typeface="微软雅黑"/>
              </a:rPr>
              <a:t>实现交易</a:t>
            </a:r>
            <a:r>
              <a:rPr lang="en-US" altLang="zh-CN" sz="1400" kern="0" dirty="0">
                <a:solidFill>
                  <a:srgbClr val="383838"/>
                </a:solidFill>
                <a:latin typeface="微软雅黑"/>
                <a:ea typeface="微软雅黑"/>
                <a:cs typeface="微软雅黑"/>
              </a:rPr>
              <a:t>/</a:t>
            </a:r>
            <a:r>
              <a:rPr lang="zh-CN" altLang="en-US" sz="1400" kern="0" dirty="0">
                <a:solidFill>
                  <a:srgbClr val="383838"/>
                </a:solidFill>
                <a:latin typeface="微软雅黑"/>
                <a:ea typeface="微软雅黑"/>
                <a:cs typeface="微软雅黑"/>
              </a:rPr>
              <a:t>服务等核心业务的协同与复用</a:t>
            </a:r>
            <a:endParaRPr lang="zh-CN" altLang="en-US" sz="1400" kern="0" dirty="0">
              <a:solidFill>
                <a:srgbClr val="383838"/>
              </a:solidFill>
              <a:latin typeface="微软雅黑"/>
              <a:ea typeface="微软雅黑"/>
              <a:cs typeface="微软雅黑"/>
            </a:endParaRPr>
          </a:p>
        </p:txBody>
      </p:sp>
      <p:sp>
        <p:nvSpPr>
          <p:cNvPr id="221" name="This is a sample text.…"/>
          <p:cNvSpPr txBox="1"/>
          <p:nvPr/>
        </p:nvSpPr>
        <p:spPr>
          <a:xfrm>
            <a:off x="5022850" y="3061335"/>
            <a:ext cx="1882775" cy="266065"/>
          </a:xfrm>
          <a:prstGeom prst="rect">
            <a:avLst/>
          </a:prstGeom>
          <a:noFill/>
          <a:ln w="12700" cap="flat">
            <a:noFill/>
            <a:miter lim="400000"/>
          </a:ln>
          <a:effectLst/>
        </p:spPr>
        <p:txBody>
          <a:bodyPr wrap="square" lIns="25400" tIns="25400" rIns="25400" bIns="25400" numCol="1" anchor="t">
            <a:spAutoFit/>
          </a:bodyPr>
          <a:lstStyle/>
          <a:p>
            <a:pPr algn="ctr" defTabSz="412750" hangingPunct="0">
              <a:defRPr>
                <a:latin typeface="微软雅黑"/>
                <a:ea typeface="微软雅黑"/>
                <a:cs typeface="微软雅黑"/>
              </a:defRPr>
            </a:pPr>
            <a:r>
              <a:rPr lang="zh-CN" altLang="en-US" sz="1400" b="1" kern="0" dirty="0">
                <a:solidFill>
                  <a:srgbClr val="0042FF"/>
                </a:solidFill>
                <a:latin typeface="微软雅黑"/>
                <a:ea typeface="微软雅黑"/>
                <a:cs typeface="微软雅黑"/>
              </a:rPr>
              <a:t>业务能力支撑</a:t>
            </a:r>
            <a:endParaRPr lang="zh-CN" altLang="en-US" sz="1400" b="1" kern="0" dirty="0">
              <a:solidFill>
                <a:srgbClr val="0042FF"/>
              </a:solidFill>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6" name="组合 5"/>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7"/>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项目过程拆解</a:t>
            </a:r>
            <a:r>
              <a:rPr lang="en-US" altLang="zh-CN" sz="2500" dirty="0">
                <a:solidFill>
                  <a:srgbClr val="383838"/>
                </a:solidFill>
                <a:effectLst/>
                <a:latin typeface="微软雅黑"/>
                <a:ea typeface="微软雅黑"/>
                <a:cs typeface="微软雅黑"/>
              </a:rPr>
              <a:t>/</a:t>
            </a:r>
            <a:r>
              <a:rPr lang="zh-CN" altLang="en-US" sz="2500" dirty="0">
                <a:solidFill>
                  <a:srgbClr val="383838"/>
                </a:solidFill>
                <a:effectLst/>
                <a:latin typeface="微软雅黑"/>
                <a:ea typeface="微软雅黑"/>
                <a:cs typeface="微软雅黑"/>
              </a:rPr>
              <a:t>过程分析</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5" name="紫荆的职场Point2"/>
          <p:cNvSpPr/>
          <p:nvPr/>
        </p:nvSpPr>
        <p:spPr>
          <a:xfrm>
            <a:off x="550980" y="1179387"/>
            <a:ext cx="3596640" cy="3576741"/>
          </a:xfrm>
          <a:custGeom>
            <a:avLst/>
            <a:gdLst>
              <a:gd name="connsiteX0" fmla="*/ 3348259 w 3596640"/>
              <a:gd name="connsiteY0" fmla="*/ 0 h 3576741"/>
              <a:gd name="connsiteX1" fmla="*/ 3596640 w 3596640"/>
              <a:gd name="connsiteY1" fmla="*/ 255601 h 3576741"/>
              <a:gd name="connsiteX2" fmla="*/ 3348259 w 3596640"/>
              <a:gd name="connsiteY2" fmla="*/ 511200 h 3576741"/>
              <a:gd name="connsiteX3" fmla="*/ 3348259 w 3596640"/>
              <a:gd name="connsiteY3" fmla="*/ 383400 h 3576741"/>
              <a:gd name="connsiteX4" fmla="*/ 1603786 w 3596640"/>
              <a:gd name="connsiteY4" fmla="*/ 383400 h 3576741"/>
              <a:gd name="connsiteX5" fmla="*/ 1603786 w 3596640"/>
              <a:gd name="connsiteY5" fmla="*/ 383249 h 3576741"/>
              <a:gd name="connsiteX6" fmla="*/ 1498506 w 3596640"/>
              <a:gd name="connsiteY6" fmla="*/ 388897 h 3576741"/>
              <a:gd name="connsiteX7" fmla="*/ 255587 w 3596640"/>
              <a:gd name="connsiteY7" fmla="*/ 1852192 h 3576741"/>
              <a:gd name="connsiteX8" fmla="*/ 1498506 w 3596640"/>
              <a:gd name="connsiteY8" fmla="*/ 3315487 h 3576741"/>
              <a:gd name="connsiteX9" fmla="*/ 1603787 w 3596640"/>
              <a:gd name="connsiteY9" fmla="*/ 3321135 h 3576741"/>
              <a:gd name="connsiteX10" fmla="*/ 1603787 w 3596640"/>
              <a:gd name="connsiteY10" fmla="*/ 3323514 h 3576741"/>
              <a:gd name="connsiteX11" fmla="*/ 1717026 w 3596640"/>
              <a:gd name="connsiteY11" fmla="*/ 3576741 h 3576741"/>
              <a:gd name="connsiteX12" fmla="*/ 1603787 w 3596640"/>
              <a:gd name="connsiteY12" fmla="*/ 3576741 h 3576741"/>
              <a:gd name="connsiteX13" fmla="*/ 1602726 w 3596640"/>
              <a:gd name="connsiteY13" fmla="*/ 3576741 h 3576741"/>
              <a:gd name="connsiteX14" fmla="*/ 1602726 w 3596640"/>
              <a:gd name="connsiteY14" fmla="*/ 3576685 h 3576741"/>
              <a:gd name="connsiteX15" fmla="*/ 1472374 w 3596640"/>
              <a:gd name="connsiteY15" fmla="*/ 3569756 h 3576741"/>
              <a:gd name="connsiteX16" fmla="*/ 0 w 3596640"/>
              <a:gd name="connsiteY16" fmla="*/ 1852192 h 3576741"/>
              <a:gd name="connsiteX17" fmla="*/ 1472374 w 3596640"/>
              <a:gd name="connsiteY17" fmla="*/ 134629 h 3576741"/>
              <a:gd name="connsiteX18" fmla="*/ 1603787 w 3596640"/>
              <a:gd name="connsiteY18" fmla="*/ 127643 h 3576741"/>
              <a:gd name="connsiteX19" fmla="*/ 1603787 w 3596640"/>
              <a:gd name="connsiteY19" fmla="*/ 127799 h 3576741"/>
              <a:gd name="connsiteX20" fmla="*/ 3348259 w 3596640"/>
              <a:gd name="connsiteY20" fmla="*/ 127800 h 3576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96640" h="3576741">
                <a:moveTo>
                  <a:pt x="3348259" y="0"/>
                </a:moveTo>
                <a:lnTo>
                  <a:pt x="3596640" y="255601"/>
                </a:lnTo>
                <a:lnTo>
                  <a:pt x="3348259" y="511200"/>
                </a:lnTo>
                <a:lnTo>
                  <a:pt x="3348259" y="383400"/>
                </a:lnTo>
                <a:lnTo>
                  <a:pt x="1603786" y="383400"/>
                </a:lnTo>
                <a:lnTo>
                  <a:pt x="1603786" y="383249"/>
                </a:lnTo>
                <a:lnTo>
                  <a:pt x="1498506" y="388897"/>
                </a:lnTo>
                <a:cubicBezTo>
                  <a:pt x="800377" y="464221"/>
                  <a:pt x="255587" y="1090614"/>
                  <a:pt x="255587" y="1852192"/>
                </a:cubicBezTo>
                <a:cubicBezTo>
                  <a:pt x="255587" y="2613770"/>
                  <a:pt x="800377" y="3240163"/>
                  <a:pt x="1498506" y="3315487"/>
                </a:cubicBezTo>
                <a:lnTo>
                  <a:pt x="1603787" y="3321135"/>
                </a:lnTo>
                <a:lnTo>
                  <a:pt x="1603787" y="3323514"/>
                </a:lnTo>
                <a:lnTo>
                  <a:pt x="1717026" y="3576741"/>
                </a:lnTo>
                <a:lnTo>
                  <a:pt x="1603787" y="3576741"/>
                </a:lnTo>
                <a:lnTo>
                  <a:pt x="1602726" y="3576741"/>
                </a:lnTo>
                <a:lnTo>
                  <a:pt x="1602726" y="3576685"/>
                </a:lnTo>
                <a:lnTo>
                  <a:pt x="1472374" y="3569756"/>
                </a:lnTo>
                <a:cubicBezTo>
                  <a:pt x="645363" y="3481343"/>
                  <a:pt x="0" y="2746105"/>
                  <a:pt x="0" y="1852192"/>
                </a:cubicBezTo>
                <a:cubicBezTo>
                  <a:pt x="0" y="958279"/>
                  <a:pt x="645363" y="223042"/>
                  <a:pt x="1472374" y="134629"/>
                </a:cubicBezTo>
                <a:lnTo>
                  <a:pt x="1603787" y="127643"/>
                </a:lnTo>
                <a:lnTo>
                  <a:pt x="1603787" y="127799"/>
                </a:lnTo>
                <a:lnTo>
                  <a:pt x="3348259" y="127800"/>
                </a:lnTo>
                <a:close/>
              </a:path>
            </a:pathLst>
          </a:custGeom>
          <a:gradFill>
            <a:gsLst>
              <a:gs pos="0">
                <a:srgbClr val="3368FF">
                  <a:alpha val="0"/>
                </a:srgbClr>
              </a:gs>
              <a:gs pos="100000">
                <a:srgbClr val="0042FF"/>
              </a:gs>
            </a:gsLst>
            <a:lin ang="16200000" scaled="0"/>
          </a:gradFill>
          <a:ln>
            <a:noFill/>
          </a:ln>
          <a:effectLst>
            <a:outerShdw blurRad="127000" dist="38100" dir="2700000" sx="102000" sy="102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6" name="紫荆的职场Point3"/>
          <p:cNvSpPr/>
          <p:nvPr/>
        </p:nvSpPr>
        <p:spPr>
          <a:xfrm flipH="1" flipV="1">
            <a:off x="8044380" y="1408983"/>
            <a:ext cx="3596640" cy="3576741"/>
          </a:xfrm>
          <a:custGeom>
            <a:avLst/>
            <a:gdLst>
              <a:gd name="connsiteX0" fmla="*/ 3348259 w 3596640"/>
              <a:gd name="connsiteY0" fmla="*/ 0 h 3576741"/>
              <a:gd name="connsiteX1" fmla="*/ 3596640 w 3596640"/>
              <a:gd name="connsiteY1" fmla="*/ 255601 h 3576741"/>
              <a:gd name="connsiteX2" fmla="*/ 3348259 w 3596640"/>
              <a:gd name="connsiteY2" fmla="*/ 511200 h 3576741"/>
              <a:gd name="connsiteX3" fmla="*/ 3348259 w 3596640"/>
              <a:gd name="connsiteY3" fmla="*/ 383400 h 3576741"/>
              <a:gd name="connsiteX4" fmla="*/ 1603786 w 3596640"/>
              <a:gd name="connsiteY4" fmla="*/ 383400 h 3576741"/>
              <a:gd name="connsiteX5" fmla="*/ 1603786 w 3596640"/>
              <a:gd name="connsiteY5" fmla="*/ 383249 h 3576741"/>
              <a:gd name="connsiteX6" fmla="*/ 1498506 w 3596640"/>
              <a:gd name="connsiteY6" fmla="*/ 388897 h 3576741"/>
              <a:gd name="connsiteX7" fmla="*/ 255587 w 3596640"/>
              <a:gd name="connsiteY7" fmla="*/ 1852192 h 3576741"/>
              <a:gd name="connsiteX8" fmla="*/ 1498506 w 3596640"/>
              <a:gd name="connsiteY8" fmla="*/ 3315487 h 3576741"/>
              <a:gd name="connsiteX9" fmla="*/ 1603787 w 3596640"/>
              <a:gd name="connsiteY9" fmla="*/ 3321135 h 3576741"/>
              <a:gd name="connsiteX10" fmla="*/ 1603787 w 3596640"/>
              <a:gd name="connsiteY10" fmla="*/ 3323514 h 3576741"/>
              <a:gd name="connsiteX11" fmla="*/ 1717026 w 3596640"/>
              <a:gd name="connsiteY11" fmla="*/ 3576741 h 3576741"/>
              <a:gd name="connsiteX12" fmla="*/ 1603787 w 3596640"/>
              <a:gd name="connsiteY12" fmla="*/ 3576741 h 3576741"/>
              <a:gd name="connsiteX13" fmla="*/ 1602726 w 3596640"/>
              <a:gd name="connsiteY13" fmla="*/ 3576741 h 3576741"/>
              <a:gd name="connsiteX14" fmla="*/ 1602726 w 3596640"/>
              <a:gd name="connsiteY14" fmla="*/ 3576685 h 3576741"/>
              <a:gd name="connsiteX15" fmla="*/ 1472374 w 3596640"/>
              <a:gd name="connsiteY15" fmla="*/ 3569756 h 3576741"/>
              <a:gd name="connsiteX16" fmla="*/ 0 w 3596640"/>
              <a:gd name="connsiteY16" fmla="*/ 1852192 h 3576741"/>
              <a:gd name="connsiteX17" fmla="*/ 1472374 w 3596640"/>
              <a:gd name="connsiteY17" fmla="*/ 134629 h 3576741"/>
              <a:gd name="connsiteX18" fmla="*/ 1603787 w 3596640"/>
              <a:gd name="connsiteY18" fmla="*/ 127643 h 3576741"/>
              <a:gd name="connsiteX19" fmla="*/ 1603787 w 3596640"/>
              <a:gd name="connsiteY19" fmla="*/ 127799 h 3576741"/>
              <a:gd name="connsiteX20" fmla="*/ 3348259 w 3596640"/>
              <a:gd name="connsiteY20" fmla="*/ 127800 h 3576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96640" h="3576741">
                <a:moveTo>
                  <a:pt x="3348259" y="0"/>
                </a:moveTo>
                <a:lnTo>
                  <a:pt x="3596640" y="255601"/>
                </a:lnTo>
                <a:lnTo>
                  <a:pt x="3348259" y="511200"/>
                </a:lnTo>
                <a:lnTo>
                  <a:pt x="3348259" y="383400"/>
                </a:lnTo>
                <a:lnTo>
                  <a:pt x="1603786" y="383400"/>
                </a:lnTo>
                <a:lnTo>
                  <a:pt x="1603786" y="383249"/>
                </a:lnTo>
                <a:lnTo>
                  <a:pt x="1498506" y="388897"/>
                </a:lnTo>
                <a:cubicBezTo>
                  <a:pt x="800377" y="464221"/>
                  <a:pt x="255587" y="1090614"/>
                  <a:pt x="255587" y="1852192"/>
                </a:cubicBezTo>
                <a:cubicBezTo>
                  <a:pt x="255587" y="2613770"/>
                  <a:pt x="800377" y="3240163"/>
                  <a:pt x="1498506" y="3315487"/>
                </a:cubicBezTo>
                <a:lnTo>
                  <a:pt x="1603787" y="3321135"/>
                </a:lnTo>
                <a:lnTo>
                  <a:pt x="1603787" y="3323514"/>
                </a:lnTo>
                <a:lnTo>
                  <a:pt x="1717026" y="3576741"/>
                </a:lnTo>
                <a:lnTo>
                  <a:pt x="1603787" y="3576741"/>
                </a:lnTo>
                <a:lnTo>
                  <a:pt x="1602726" y="3576741"/>
                </a:lnTo>
                <a:lnTo>
                  <a:pt x="1602726" y="3576685"/>
                </a:lnTo>
                <a:lnTo>
                  <a:pt x="1472374" y="3569756"/>
                </a:lnTo>
                <a:cubicBezTo>
                  <a:pt x="645363" y="3481343"/>
                  <a:pt x="0" y="2746105"/>
                  <a:pt x="0" y="1852192"/>
                </a:cubicBezTo>
                <a:cubicBezTo>
                  <a:pt x="0" y="958279"/>
                  <a:pt x="645363" y="223042"/>
                  <a:pt x="1472374" y="134629"/>
                </a:cubicBezTo>
                <a:lnTo>
                  <a:pt x="1603787" y="127643"/>
                </a:lnTo>
                <a:lnTo>
                  <a:pt x="1603787" y="127799"/>
                </a:lnTo>
                <a:lnTo>
                  <a:pt x="3348259" y="127800"/>
                </a:lnTo>
                <a:close/>
              </a:path>
            </a:pathLst>
          </a:custGeom>
          <a:gradFill>
            <a:gsLst>
              <a:gs pos="0">
                <a:srgbClr val="3368FF">
                  <a:alpha val="0"/>
                </a:srgbClr>
              </a:gs>
              <a:gs pos="100000">
                <a:srgbClr val="0042FF"/>
              </a:gs>
            </a:gsLst>
            <a:lin ang="16200000" scaled="0"/>
          </a:gradFill>
          <a:ln>
            <a:noFill/>
          </a:ln>
          <a:effectLst>
            <a:outerShdw blurRad="127000" dist="38100" dir="2700000" sx="102000" sy="102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8" name="紫荆的职场Point4-1"/>
          <p:cNvSpPr txBox="1"/>
          <p:nvPr/>
        </p:nvSpPr>
        <p:spPr>
          <a:xfrm>
            <a:off x="4511675" y="1233550"/>
            <a:ext cx="1005403"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传播物料</a:t>
            </a:r>
            <a:endParaRPr lang="zh-CN" altLang="en-US" sz="1600" b="1" dirty="0">
              <a:solidFill>
                <a:srgbClr val="0042FF"/>
              </a:solidFill>
              <a:latin typeface="微软雅黑"/>
              <a:ea typeface="微软雅黑"/>
              <a:cs typeface="微软雅黑"/>
            </a:endParaRPr>
          </a:p>
        </p:txBody>
      </p:sp>
      <p:grpSp>
        <p:nvGrpSpPr>
          <p:cNvPr id="39" name="组合 38"/>
          <p:cNvGrpSpPr/>
          <p:nvPr/>
        </p:nvGrpSpPr>
        <p:grpSpPr>
          <a:xfrm>
            <a:off x="5606415" y="1336152"/>
            <a:ext cx="234315" cy="133350"/>
            <a:chOff x="8593" y="2145"/>
            <a:chExt cx="369" cy="210"/>
          </a:xfrm>
        </p:grpSpPr>
        <p:sp>
          <p:nvSpPr>
            <p:cNvPr id="3" name="紫荆的职场Point4-2"/>
            <p:cNvSpPr/>
            <p:nvPr/>
          </p:nvSpPr>
          <p:spPr bwMode="auto">
            <a:xfrm>
              <a:off x="8593" y="2145"/>
              <a:ext cx="142" cy="210"/>
            </a:xfrm>
            <a:custGeom>
              <a:avLst/>
              <a:gdLst>
                <a:gd name="T0" fmla="*/ 147 w 254"/>
                <a:gd name="T1" fmla="*/ 0 h 376"/>
                <a:gd name="T2" fmla="*/ 0 w 254"/>
                <a:gd name="T3" fmla="*/ 0 h 376"/>
                <a:gd name="T4" fmla="*/ 109 w 254"/>
                <a:gd name="T5" fmla="*/ 188 h 376"/>
                <a:gd name="T6" fmla="*/ 0 w 254"/>
                <a:gd name="T7" fmla="*/ 376 h 376"/>
                <a:gd name="T8" fmla="*/ 147 w 254"/>
                <a:gd name="T9" fmla="*/ 376 h 376"/>
                <a:gd name="T10" fmla="*/ 254 w 254"/>
                <a:gd name="T11" fmla="*/ 188 h 376"/>
                <a:gd name="T12" fmla="*/ 147 w 25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4" h="376">
                  <a:moveTo>
                    <a:pt x="147" y="0"/>
                  </a:moveTo>
                  <a:lnTo>
                    <a:pt x="0" y="0"/>
                  </a:lnTo>
                  <a:lnTo>
                    <a:pt x="109" y="188"/>
                  </a:lnTo>
                  <a:lnTo>
                    <a:pt x="0" y="376"/>
                  </a:lnTo>
                  <a:lnTo>
                    <a:pt x="147" y="376"/>
                  </a:lnTo>
                  <a:lnTo>
                    <a:pt x="254" y="188"/>
                  </a:lnTo>
                  <a:lnTo>
                    <a:pt x="147"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6" name="紫荆的职场Point4-3"/>
            <p:cNvSpPr/>
            <p:nvPr/>
          </p:nvSpPr>
          <p:spPr bwMode="auto">
            <a:xfrm>
              <a:off x="8708" y="2145"/>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 name="紫荆的职场Point4-4"/>
            <p:cNvSpPr/>
            <p:nvPr/>
          </p:nvSpPr>
          <p:spPr bwMode="auto">
            <a:xfrm>
              <a:off x="8822" y="2145"/>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a:extLst>
              <a:ext uri="{91240B29-F687-4F45-9708-019B960494DF}">
                <a14:hiddenLine xmlns:a14="http://schemas.microsoft.com/office/drawing/2010/main" w="9525">
                  <a:solidFill>
                    <a:srgbClr val="383838"/>
                  </a:solidFill>
                  <a:round/>
                </a14:hiddenLine>
              </a:ext>
            </a:extLst>
          </p:spPr>
          <p:txBody>
            <a:bodyPr vert="horz" wrap="non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34" name="组合 33"/>
          <p:cNvGrpSpPr>
            <a:grpSpLocks noChangeAspect="1"/>
          </p:cNvGrpSpPr>
          <p:nvPr/>
        </p:nvGrpSpPr>
        <p:grpSpPr>
          <a:xfrm>
            <a:off x="6920865" y="1336227"/>
            <a:ext cx="234315" cy="133200"/>
            <a:chOff x="3604531" y="575638"/>
            <a:chExt cx="1050925" cy="596900"/>
          </a:xfrm>
          <a:gradFill>
            <a:gsLst>
              <a:gs pos="0">
                <a:srgbClr val="0042FF">
                  <a:alpha val="0"/>
                </a:srgbClr>
              </a:gs>
              <a:gs pos="100000">
                <a:srgbClr val="0042FF"/>
              </a:gs>
            </a:gsLst>
            <a:lin ang="0" scaled="0"/>
          </a:gradFill>
        </p:grpSpPr>
        <p:sp>
          <p:nvSpPr>
            <p:cNvPr id="35" name="紫荆的职场Point4-5"/>
            <p:cNvSpPr/>
            <p:nvPr/>
          </p:nvSpPr>
          <p:spPr bwMode="auto">
            <a:xfrm>
              <a:off x="3604531" y="575638"/>
              <a:ext cx="403225" cy="596900"/>
            </a:xfrm>
            <a:custGeom>
              <a:avLst/>
              <a:gdLst>
                <a:gd name="T0" fmla="*/ 147 w 254"/>
                <a:gd name="T1" fmla="*/ 0 h 376"/>
                <a:gd name="T2" fmla="*/ 0 w 254"/>
                <a:gd name="T3" fmla="*/ 0 h 376"/>
                <a:gd name="T4" fmla="*/ 109 w 254"/>
                <a:gd name="T5" fmla="*/ 188 h 376"/>
                <a:gd name="T6" fmla="*/ 0 w 254"/>
                <a:gd name="T7" fmla="*/ 376 h 376"/>
                <a:gd name="T8" fmla="*/ 147 w 254"/>
                <a:gd name="T9" fmla="*/ 376 h 376"/>
                <a:gd name="T10" fmla="*/ 254 w 254"/>
                <a:gd name="T11" fmla="*/ 188 h 376"/>
                <a:gd name="T12" fmla="*/ 147 w 25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4" h="376">
                  <a:moveTo>
                    <a:pt x="147" y="0"/>
                  </a:moveTo>
                  <a:lnTo>
                    <a:pt x="0" y="0"/>
                  </a:lnTo>
                  <a:lnTo>
                    <a:pt x="109" y="188"/>
                  </a:lnTo>
                  <a:lnTo>
                    <a:pt x="0" y="376"/>
                  </a:lnTo>
                  <a:lnTo>
                    <a:pt x="147" y="376"/>
                  </a:lnTo>
                  <a:lnTo>
                    <a:pt x="254" y="188"/>
                  </a:lnTo>
                  <a:lnTo>
                    <a:pt x="147"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6" name="紫荆的职场Point4-6"/>
            <p:cNvSpPr/>
            <p:nvPr/>
          </p:nvSpPr>
          <p:spPr bwMode="auto">
            <a:xfrm>
              <a:off x="3931557" y="575638"/>
              <a:ext cx="400050" cy="59690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7" name="紫荆的职场Point4-7"/>
            <p:cNvSpPr/>
            <p:nvPr/>
          </p:nvSpPr>
          <p:spPr bwMode="auto">
            <a:xfrm>
              <a:off x="4255406" y="575638"/>
              <a:ext cx="400050" cy="59690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41" name="紫荆的职场Point4-8"/>
          <p:cNvSpPr txBox="1"/>
          <p:nvPr/>
        </p:nvSpPr>
        <p:spPr>
          <a:xfrm>
            <a:off x="5868868" y="1233550"/>
            <a:ext cx="1005205"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互动游戏</a:t>
            </a:r>
            <a:endParaRPr lang="zh-CN" altLang="en-US" sz="1600" b="1">
              <a:solidFill>
                <a:srgbClr val="0042FF"/>
              </a:solidFill>
              <a:latin typeface="微软雅黑"/>
              <a:ea typeface="微软雅黑"/>
              <a:cs typeface="微软雅黑"/>
            </a:endParaRPr>
          </a:p>
        </p:txBody>
      </p:sp>
      <p:sp>
        <p:nvSpPr>
          <p:cNvPr id="45" name="紫荆的职场Point4-9"/>
          <p:cNvSpPr txBox="1"/>
          <p:nvPr/>
        </p:nvSpPr>
        <p:spPr>
          <a:xfrm>
            <a:off x="7225863" y="1233550"/>
            <a:ext cx="1005205"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周边商品</a:t>
            </a:r>
            <a:endParaRPr lang="zh-CN" altLang="en-US" sz="1600" b="1" dirty="0">
              <a:solidFill>
                <a:srgbClr val="0042FF"/>
              </a:solidFill>
              <a:latin typeface="微软雅黑"/>
              <a:ea typeface="微软雅黑"/>
              <a:cs typeface="微软雅黑"/>
            </a:endParaRPr>
          </a:p>
        </p:txBody>
      </p:sp>
      <p:sp>
        <p:nvSpPr>
          <p:cNvPr id="50" name="紫荆的职场Point4-10"/>
          <p:cNvSpPr txBox="1"/>
          <p:nvPr/>
        </p:nvSpPr>
        <p:spPr>
          <a:xfrm>
            <a:off x="8530517" y="1180210"/>
            <a:ext cx="595035" cy="338554"/>
          </a:xfrm>
          <a:prstGeom prst="rect">
            <a:avLst/>
          </a:prstGeom>
          <a:noFill/>
        </p:spPr>
        <p:txBody>
          <a:bodyPr wrap="none" rtlCol="0">
            <a:spAutoFit/>
          </a:bodyPr>
          <a:lstStyle/>
          <a:p>
            <a:pPr algn="ctr">
              <a:defRPr>
                <a:latin typeface="微软雅黑"/>
                <a:ea typeface="微软雅黑"/>
                <a:cs typeface="微软雅黑"/>
              </a:defRPr>
            </a:pPr>
            <a:r>
              <a:rPr lang="en-US" altLang="zh-CN" sz="1600">
                <a:gradFill>
                  <a:gsLst>
                    <a:gs pos="100000">
                      <a:srgbClr val="0042FF"/>
                    </a:gs>
                    <a:gs pos="1000">
                      <a:srgbClr val="0042FF"/>
                    </a:gs>
                  </a:gsLst>
                  <a:lin ang="0" scaled="0"/>
                </a:gradFill>
                <a:latin typeface="微软雅黑"/>
                <a:ea typeface="微软雅黑"/>
                <a:cs typeface="微软雅黑"/>
              </a:rPr>
              <a:t>……</a:t>
            </a:r>
            <a:endParaRPr lang="en-US" altLang="zh-CN" sz="1600">
              <a:gradFill>
                <a:gsLst>
                  <a:gs pos="100000">
                    <a:srgbClr val="0042FF"/>
                  </a:gs>
                  <a:gs pos="1000">
                    <a:srgbClr val="0042FF"/>
                  </a:gs>
                </a:gsLst>
                <a:lin ang="0" scaled="0"/>
              </a:gradFill>
              <a:latin typeface="微软雅黑"/>
              <a:ea typeface="微软雅黑"/>
              <a:cs typeface="微软雅黑"/>
            </a:endParaRPr>
          </a:p>
        </p:txBody>
      </p:sp>
      <p:grpSp>
        <p:nvGrpSpPr>
          <p:cNvPr id="51" name="组合 50"/>
          <p:cNvGrpSpPr>
            <a:grpSpLocks noChangeAspect="1"/>
          </p:cNvGrpSpPr>
          <p:nvPr/>
        </p:nvGrpSpPr>
        <p:grpSpPr>
          <a:xfrm>
            <a:off x="8235315" y="1336227"/>
            <a:ext cx="234315" cy="133200"/>
            <a:chOff x="3604531" y="575638"/>
            <a:chExt cx="1050925" cy="596900"/>
          </a:xfrm>
          <a:gradFill>
            <a:gsLst>
              <a:gs pos="0">
                <a:srgbClr val="0042FF">
                  <a:alpha val="0"/>
                </a:srgbClr>
              </a:gs>
              <a:gs pos="100000">
                <a:srgbClr val="0042FF"/>
              </a:gs>
            </a:gsLst>
            <a:lin ang="0" scaled="0"/>
          </a:gradFill>
        </p:grpSpPr>
        <p:sp>
          <p:nvSpPr>
            <p:cNvPr id="52" name="紫荆的职场Point4-11"/>
            <p:cNvSpPr/>
            <p:nvPr/>
          </p:nvSpPr>
          <p:spPr bwMode="auto">
            <a:xfrm>
              <a:off x="3604531" y="575638"/>
              <a:ext cx="403225" cy="596900"/>
            </a:xfrm>
            <a:custGeom>
              <a:avLst/>
              <a:gdLst>
                <a:gd name="T0" fmla="*/ 147 w 254"/>
                <a:gd name="T1" fmla="*/ 0 h 376"/>
                <a:gd name="T2" fmla="*/ 0 w 254"/>
                <a:gd name="T3" fmla="*/ 0 h 376"/>
                <a:gd name="T4" fmla="*/ 109 w 254"/>
                <a:gd name="T5" fmla="*/ 188 h 376"/>
                <a:gd name="T6" fmla="*/ 0 w 254"/>
                <a:gd name="T7" fmla="*/ 376 h 376"/>
                <a:gd name="T8" fmla="*/ 147 w 254"/>
                <a:gd name="T9" fmla="*/ 376 h 376"/>
                <a:gd name="T10" fmla="*/ 254 w 254"/>
                <a:gd name="T11" fmla="*/ 188 h 376"/>
                <a:gd name="T12" fmla="*/ 147 w 25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4" h="376">
                  <a:moveTo>
                    <a:pt x="147" y="0"/>
                  </a:moveTo>
                  <a:lnTo>
                    <a:pt x="0" y="0"/>
                  </a:lnTo>
                  <a:lnTo>
                    <a:pt x="109" y="188"/>
                  </a:lnTo>
                  <a:lnTo>
                    <a:pt x="0" y="376"/>
                  </a:lnTo>
                  <a:lnTo>
                    <a:pt x="147" y="376"/>
                  </a:lnTo>
                  <a:lnTo>
                    <a:pt x="254" y="188"/>
                  </a:lnTo>
                  <a:lnTo>
                    <a:pt x="147"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3" name="紫荆的职场Point4-12"/>
            <p:cNvSpPr/>
            <p:nvPr/>
          </p:nvSpPr>
          <p:spPr bwMode="auto">
            <a:xfrm>
              <a:off x="3931557" y="575638"/>
              <a:ext cx="400050" cy="59690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4" name="紫荆的职场Point4-13"/>
            <p:cNvSpPr/>
            <p:nvPr/>
          </p:nvSpPr>
          <p:spPr bwMode="auto">
            <a:xfrm>
              <a:off x="4255406" y="575638"/>
              <a:ext cx="400050" cy="59690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108" name="紫荆的职场Point5"/>
          <p:cNvGrpSpPr/>
          <p:nvPr/>
        </p:nvGrpSpPr>
        <p:grpSpPr>
          <a:xfrm>
            <a:off x="3476030" y="2483763"/>
            <a:ext cx="1264000" cy="1264000"/>
            <a:chOff x="3476030" y="2636163"/>
            <a:chExt cx="1264000" cy="1264000"/>
          </a:xfrm>
        </p:grpSpPr>
        <p:sp>
          <p:nvSpPr>
            <p:cNvPr id="104" name="紫荆的职场Point5-1"/>
            <p:cNvSpPr/>
            <p:nvPr/>
          </p:nvSpPr>
          <p:spPr>
            <a:xfrm>
              <a:off x="3476030" y="2636163"/>
              <a:ext cx="1264000" cy="1264000"/>
            </a:xfrm>
            <a:prstGeom prst="ellipse">
              <a:avLst/>
            </a:prstGeom>
            <a:gradFill flip="none" rotWithShape="1">
              <a:gsLst>
                <a:gs pos="23000">
                  <a:srgbClr val="0042FF"/>
                </a:gs>
                <a:gs pos="100000">
                  <a:srgbClr val="3368FF"/>
                </a:gs>
              </a:gsLst>
              <a:path path="circle">
                <a:fillToRect r="100000" b="100000"/>
              </a:path>
              <a:tileRect l="-100000" t="-100000"/>
            </a:gradFill>
            <a:ln>
              <a:noFill/>
            </a:ln>
            <a:effectLst/>
            <a:scene3d>
              <a:camera prst="orthographicFront">
                <a:rot lat="0" lon="0" rev="0"/>
              </a:camera>
              <a:lightRig rig="contrasting" dir="t">
                <a:rot lat="0" lon="0" rev="7800000"/>
              </a:lightRig>
            </a:scene3d>
            <a:sp3d>
              <a:bevelT w="139700" h="139700"/>
            </a:sp3d>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05" name="紫荆的职场Point5-2"/>
            <p:cNvSpPr txBox="1"/>
            <p:nvPr/>
          </p:nvSpPr>
          <p:spPr>
            <a:xfrm>
              <a:off x="3659721" y="3114275"/>
              <a:ext cx="896620" cy="30670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内容产出</a:t>
              </a:r>
              <a:endParaRPr lang="zh-CN" altLang="en-US" sz="1400" b="1">
                <a:solidFill>
                  <a:srgbClr val="FFFFFF"/>
                </a:solidFill>
                <a:latin typeface="微软雅黑"/>
                <a:ea typeface="微软雅黑"/>
                <a:cs typeface="微软雅黑"/>
              </a:endParaRPr>
            </a:p>
          </p:txBody>
        </p:sp>
      </p:grpSp>
      <p:grpSp>
        <p:nvGrpSpPr>
          <p:cNvPr id="109" name="紫荆的职场Point6"/>
          <p:cNvGrpSpPr/>
          <p:nvPr/>
        </p:nvGrpSpPr>
        <p:grpSpPr>
          <a:xfrm>
            <a:off x="7447318" y="2476778"/>
            <a:ext cx="1264000" cy="1264000"/>
            <a:chOff x="3476030" y="2636163"/>
            <a:chExt cx="1264000" cy="1264000"/>
          </a:xfrm>
          <a:gradFill>
            <a:gsLst>
              <a:gs pos="23000">
                <a:srgbClr val="B3D4FE"/>
              </a:gs>
              <a:gs pos="100000">
                <a:srgbClr val="668EFF"/>
              </a:gs>
            </a:gsLst>
            <a:path path="circle">
              <a:fillToRect r="100000" b="100000"/>
            </a:path>
            <a:tileRect l="-100000" t="-100000"/>
          </a:gradFill>
        </p:grpSpPr>
        <p:sp>
          <p:nvSpPr>
            <p:cNvPr id="110" name="紫荆的职场Point6-1"/>
            <p:cNvSpPr/>
            <p:nvPr/>
          </p:nvSpPr>
          <p:spPr>
            <a:xfrm>
              <a:off x="3476030" y="2636163"/>
              <a:ext cx="1264000" cy="1264000"/>
            </a:xfrm>
            <a:prstGeom prst="ellipse">
              <a:avLst/>
            </a:prstGeom>
            <a:grpFill/>
            <a:ln>
              <a:noFill/>
            </a:ln>
            <a:effectLst/>
            <a:scene3d>
              <a:camera prst="orthographicFront">
                <a:rot lat="0" lon="0" rev="0"/>
              </a:camera>
              <a:lightRig rig="contrasting" dir="t">
                <a:rot lat="0" lon="0" rev="7800000"/>
              </a:lightRig>
            </a:scene3d>
            <a:sp3d>
              <a:bevelT w="139700" h="139700"/>
            </a:sp3d>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 name="紫荆的职场Point6-2"/>
            <p:cNvSpPr txBox="1"/>
            <p:nvPr/>
          </p:nvSpPr>
          <p:spPr>
            <a:xfrm>
              <a:off x="3659724" y="3114275"/>
              <a:ext cx="896620" cy="306705"/>
            </a:xfrm>
            <a:prstGeom prst="rect">
              <a:avLst/>
            </a:prstGeom>
            <a:grpFill/>
          </p:spPr>
          <p:txBody>
            <a:bodyPr wrap="none" rtlCol="0">
              <a:spAutoFit/>
            </a:bodyP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情感共鸣</a:t>
              </a:r>
              <a:endParaRPr lang="zh-CN" altLang="en-US" sz="1400" b="1">
                <a:solidFill>
                  <a:srgbClr val="FFFFFF"/>
                </a:solidFill>
                <a:latin typeface="微软雅黑"/>
                <a:ea typeface="微软雅黑"/>
                <a:cs typeface="微软雅黑"/>
              </a:endParaRPr>
            </a:p>
          </p:txBody>
        </p:sp>
      </p:grpSp>
      <p:grpSp>
        <p:nvGrpSpPr>
          <p:cNvPr id="9" name="紫荆的职场Point7"/>
          <p:cNvGrpSpPr/>
          <p:nvPr/>
        </p:nvGrpSpPr>
        <p:grpSpPr>
          <a:xfrm>
            <a:off x="1747800" y="2357977"/>
            <a:ext cx="1446186" cy="1446184"/>
            <a:chOff x="1747800" y="2517362"/>
            <a:chExt cx="1446186" cy="1446184"/>
          </a:xfrm>
        </p:grpSpPr>
        <p:sp>
          <p:nvSpPr>
            <p:cNvPr id="11" name="紫荆的职场Point7-1"/>
            <p:cNvSpPr/>
            <p:nvPr/>
          </p:nvSpPr>
          <p:spPr>
            <a:xfrm>
              <a:off x="1747800" y="2517362"/>
              <a:ext cx="1446186" cy="1446184"/>
            </a:xfrm>
            <a:prstGeom prst="ellipse">
              <a:avLst/>
            </a:prstGeom>
            <a:gradFill>
              <a:gsLst>
                <a:gs pos="0">
                  <a:srgbClr val="FFFFFF"/>
                </a:gs>
                <a:gs pos="99000">
                  <a:srgbClr val="FFFFFF"/>
                </a:gs>
              </a:gsLst>
              <a:lin ang="16200000" scaled="1"/>
            </a:gradFill>
            <a:ln>
              <a:solidFill>
                <a:srgbClr val="3368FF"/>
              </a:solidFill>
            </a:ln>
            <a:effectLst>
              <a:outerShdw blurRad="457200" dist="127000" dir="2700000" sx="102000" sy="102000" algn="ctr" rotWithShape="0">
                <a:srgbClr val="3368FF">
                  <a:alpha val="17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2" name="组合 11"/>
            <p:cNvGrpSpPr/>
            <p:nvPr/>
          </p:nvGrpSpPr>
          <p:grpSpPr>
            <a:xfrm>
              <a:off x="1875217" y="2988667"/>
              <a:ext cx="1191352" cy="503574"/>
              <a:chOff x="1884925" y="3011706"/>
              <a:chExt cx="1191352" cy="503574"/>
            </a:xfrm>
          </p:grpSpPr>
          <p:sp>
            <p:nvSpPr>
              <p:cNvPr id="13" name="紫荆的职场Point7-2"/>
              <p:cNvSpPr txBox="1"/>
              <p:nvPr/>
            </p:nvSpPr>
            <p:spPr>
              <a:xfrm>
                <a:off x="1884925" y="3299836"/>
                <a:ext cx="1191352" cy="313690"/>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 Intellectual property </a:t>
                </a:r>
                <a:endParaRPr lang="en-US" altLang="zh-CN" sz="1000">
                  <a:solidFill>
                    <a:srgbClr val="383838"/>
                  </a:solidFill>
                  <a:latin typeface="微软雅黑"/>
                  <a:ea typeface="微软雅黑"/>
                  <a:cs typeface="微软雅黑"/>
                </a:endParaRPr>
              </a:p>
            </p:txBody>
          </p:sp>
          <p:sp>
            <p:nvSpPr>
              <p:cNvPr id="14" name="紫荆的职场Point7-3"/>
              <p:cNvSpPr txBox="1"/>
              <p:nvPr/>
            </p:nvSpPr>
            <p:spPr>
              <a:xfrm>
                <a:off x="2282164" y="3011706"/>
                <a:ext cx="396875" cy="337185"/>
              </a:xfrm>
              <a:prstGeom prst="rect">
                <a:avLst/>
              </a:prstGeom>
              <a:noFill/>
            </p:spPr>
            <p:txBody>
              <a:bodyPr wrap="none">
                <a:spAutoFit/>
              </a:bodyPr>
              <a:lstStyle/>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 </a:t>
                </a:r>
                <a:r>
                  <a:rPr lang="en-US" altLang="zh-CN" sz="1600" b="1">
                    <a:solidFill>
                      <a:srgbClr val="0042FF"/>
                    </a:solidFill>
                    <a:latin typeface="微软雅黑"/>
                    <a:ea typeface="微软雅黑"/>
                    <a:cs typeface="微软雅黑"/>
                  </a:rPr>
                  <a:t>IP</a:t>
                </a:r>
                <a:endParaRPr lang="en-US" altLang="zh-CN" sz="1600" b="1">
                  <a:solidFill>
                    <a:srgbClr val="0042FF"/>
                  </a:solidFill>
                  <a:latin typeface="微软雅黑"/>
                  <a:ea typeface="微软雅黑"/>
                  <a:cs typeface="微软雅黑"/>
                </a:endParaRPr>
              </a:p>
            </p:txBody>
          </p:sp>
        </p:grpSp>
        <p:sp>
          <p:nvSpPr>
            <p:cNvPr id="15" name="紫荆的职场Point7-4"/>
            <p:cNvSpPr>
              <a:spLocks noChangeAspect="1"/>
            </p:cNvSpPr>
            <p:nvPr/>
          </p:nvSpPr>
          <p:spPr>
            <a:xfrm>
              <a:off x="1804892" y="2574454"/>
              <a:ext cx="1332002" cy="1332000"/>
            </a:xfrm>
            <a:prstGeom prst="ellipse">
              <a:avLst/>
            </a:prstGeom>
            <a:noFill/>
            <a:ln w="12700">
              <a:solidFill>
                <a:srgbClr val="3368FF">
                  <a:alpha val="35000"/>
                </a:srgbClr>
              </a:solidFill>
              <a:prstDash val="sysDash"/>
            </a:ln>
            <a:effectLst>
              <a:outerShdw blurRad="457200" dist="127000" dir="2700000" sx="102000" sy="102000" algn="ctr" rotWithShape="0">
                <a:srgbClr val="3368FF">
                  <a:alpha val="17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6" name="紫荆的职场Point7-5"/>
            <p:cNvSpPr>
              <a:spLocks noChangeAspect="1"/>
            </p:cNvSpPr>
            <p:nvPr/>
          </p:nvSpPr>
          <p:spPr>
            <a:xfrm>
              <a:off x="1858892" y="2628454"/>
              <a:ext cx="1224002" cy="1224000"/>
            </a:xfrm>
            <a:prstGeom prst="arc">
              <a:avLst>
                <a:gd name="adj1" fmla="val 15177856"/>
                <a:gd name="adj2" fmla="val 0"/>
              </a:avLst>
            </a:prstGeom>
            <a:noFill/>
            <a:ln w="12700">
              <a:gradFill>
                <a:gsLst>
                  <a:gs pos="0">
                    <a:srgbClr val="3368FF">
                      <a:alpha val="0"/>
                    </a:srgbClr>
                  </a:gs>
                  <a:gs pos="74000">
                    <a:srgbClr val="3368FF"/>
                  </a:gs>
                </a:gsLst>
                <a:lin ang="5400000" scaled="1"/>
              </a:gradFill>
              <a:prstDash val="solid"/>
            </a:ln>
            <a:effectLst>
              <a:outerShdw blurRad="457200" dist="127000" dir="2700000" sx="102000" sy="102000" algn="ctr" rotWithShape="0">
                <a:srgbClr val="0042FF">
                  <a:alpha val="17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7" name="紫荆的职场Point7-6"/>
            <p:cNvSpPr>
              <a:spLocks noChangeAspect="1"/>
            </p:cNvSpPr>
            <p:nvPr/>
          </p:nvSpPr>
          <p:spPr>
            <a:xfrm rot="10800000">
              <a:off x="1858892" y="2628454"/>
              <a:ext cx="1224002" cy="1224000"/>
            </a:xfrm>
            <a:prstGeom prst="arc">
              <a:avLst>
                <a:gd name="adj1" fmla="val 15177856"/>
                <a:gd name="adj2" fmla="val 0"/>
              </a:avLst>
            </a:prstGeom>
            <a:noFill/>
            <a:ln w="12700">
              <a:gradFill>
                <a:gsLst>
                  <a:gs pos="0">
                    <a:srgbClr val="3368FF">
                      <a:alpha val="0"/>
                    </a:srgbClr>
                  </a:gs>
                  <a:gs pos="74000">
                    <a:srgbClr val="3368FF"/>
                  </a:gs>
                </a:gsLst>
                <a:lin ang="5400000" scaled="1"/>
              </a:gradFill>
              <a:prstDash val="solid"/>
            </a:ln>
            <a:effectLst>
              <a:outerShdw blurRad="457200" dist="127000" dir="2700000" sx="102000" sy="102000" algn="ctr" rotWithShape="0">
                <a:srgbClr val="0042FF">
                  <a:alpha val="17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grpSp>
        <p:nvGrpSpPr>
          <p:cNvPr id="18" name="紫荆的职场Point8"/>
          <p:cNvGrpSpPr/>
          <p:nvPr/>
        </p:nvGrpSpPr>
        <p:grpSpPr>
          <a:xfrm>
            <a:off x="8997354" y="2357977"/>
            <a:ext cx="1446186" cy="1446184"/>
            <a:chOff x="1747800" y="2517362"/>
            <a:chExt cx="1446186" cy="1446184"/>
          </a:xfrm>
        </p:grpSpPr>
        <p:sp>
          <p:nvSpPr>
            <p:cNvPr id="19" name="紫荆的职场Point8-1"/>
            <p:cNvSpPr/>
            <p:nvPr/>
          </p:nvSpPr>
          <p:spPr>
            <a:xfrm>
              <a:off x="1747800" y="2517362"/>
              <a:ext cx="1446186" cy="1446184"/>
            </a:xfrm>
            <a:prstGeom prst="ellipse">
              <a:avLst/>
            </a:prstGeom>
            <a:gradFill>
              <a:gsLst>
                <a:gs pos="0">
                  <a:srgbClr val="FFFFFF"/>
                </a:gs>
                <a:gs pos="99000">
                  <a:srgbClr val="FFFFFF"/>
                </a:gs>
              </a:gsLst>
              <a:lin ang="16200000" scaled="1"/>
            </a:gradFill>
            <a:ln>
              <a:solidFill>
                <a:srgbClr val="3368FF"/>
              </a:solidFill>
            </a:ln>
            <a:effectLst>
              <a:outerShdw blurRad="457200" dist="127000" dir="2700000" sx="102000" sy="102000" algn="ctr" rotWithShape="0">
                <a:srgbClr val="3368FF">
                  <a:alpha val="17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20" name="组合 19"/>
            <p:cNvGrpSpPr/>
            <p:nvPr/>
          </p:nvGrpSpPr>
          <p:grpSpPr>
            <a:xfrm>
              <a:off x="2123682" y="2988667"/>
              <a:ext cx="694422" cy="503574"/>
              <a:chOff x="2133390" y="3011706"/>
              <a:chExt cx="694422" cy="503574"/>
            </a:xfrm>
          </p:grpSpPr>
          <p:sp>
            <p:nvSpPr>
              <p:cNvPr id="21" name="紫荆的职场Point8-2"/>
              <p:cNvSpPr txBox="1"/>
              <p:nvPr/>
            </p:nvSpPr>
            <p:spPr>
              <a:xfrm>
                <a:off x="2133390" y="3299836"/>
                <a:ext cx="694422" cy="215444"/>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 Audiences</a:t>
                </a:r>
                <a:endParaRPr lang="en-US" altLang="zh-CN" sz="1000">
                  <a:solidFill>
                    <a:srgbClr val="383838"/>
                  </a:solidFill>
                  <a:latin typeface="微软雅黑"/>
                  <a:ea typeface="微软雅黑"/>
                  <a:cs typeface="微软雅黑"/>
                </a:endParaRPr>
              </a:p>
            </p:txBody>
          </p:sp>
          <p:sp>
            <p:nvSpPr>
              <p:cNvPr id="22" name="紫荆的职场Point8-3"/>
              <p:cNvSpPr txBox="1"/>
              <p:nvPr/>
            </p:nvSpPr>
            <p:spPr>
              <a:xfrm>
                <a:off x="2163738" y="3011706"/>
                <a:ext cx="633730" cy="337185"/>
              </a:xfrm>
              <a:prstGeom prst="rect">
                <a:avLst/>
              </a:prstGeom>
              <a:noFill/>
            </p:spPr>
            <p:txBody>
              <a:bodyPr wrap="none">
                <a:spAutoFit/>
              </a:bodyPr>
              <a:lstStyle/>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 </a:t>
                </a:r>
                <a:r>
                  <a:rPr lang="zh-CN" altLang="en-US" sz="1600" b="1">
                    <a:solidFill>
                      <a:srgbClr val="0042FF"/>
                    </a:solidFill>
                    <a:latin typeface="微软雅黑"/>
                    <a:ea typeface="微软雅黑"/>
                    <a:cs typeface="微软雅黑"/>
                  </a:rPr>
                  <a:t>受众</a:t>
                </a:r>
                <a:endParaRPr lang="zh-CN" altLang="en-US" sz="1600" b="1">
                  <a:solidFill>
                    <a:srgbClr val="0042FF"/>
                  </a:solidFill>
                  <a:latin typeface="微软雅黑"/>
                  <a:ea typeface="微软雅黑"/>
                  <a:cs typeface="微软雅黑"/>
                </a:endParaRPr>
              </a:p>
            </p:txBody>
          </p:sp>
        </p:grpSp>
        <p:sp>
          <p:nvSpPr>
            <p:cNvPr id="23" name="紫荆的职场Point8-4"/>
            <p:cNvSpPr>
              <a:spLocks noChangeAspect="1"/>
            </p:cNvSpPr>
            <p:nvPr/>
          </p:nvSpPr>
          <p:spPr>
            <a:xfrm>
              <a:off x="1804892" y="2574454"/>
              <a:ext cx="1332002" cy="1332000"/>
            </a:xfrm>
            <a:prstGeom prst="ellipse">
              <a:avLst/>
            </a:prstGeom>
            <a:noFill/>
            <a:ln w="12700">
              <a:solidFill>
                <a:srgbClr val="3368FF">
                  <a:alpha val="35000"/>
                </a:srgbClr>
              </a:solidFill>
              <a:prstDash val="sysDash"/>
            </a:ln>
            <a:effectLst>
              <a:outerShdw blurRad="457200" dist="127000" dir="2700000" sx="102000" sy="102000" algn="ctr" rotWithShape="0">
                <a:srgbClr val="0042FF">
                  <a:alpha val="17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4" name="紫荆的职场Point8-5"/>
            <p:cNvSpPr>
              <a:spLocks noChangeAspect="1"/>
            </p:cNvSpPr>
            <p:nvPr/>
          </p:nvSpPr>
          <p:spPr>
            <a:xfrm>
              <a:off x="1858892" y="2628454"/>
              <a:ext cx="1224002" cy="1224000"/>
            </a:xfrm>
            <a:prstGeom prst="arc">
              <a:avLst>
                <a:gd name="adj1" fmla="val 15177856"/>
                <a:gd name="adj2" fmla="val 0"/>
              </a:avLst>
            </a:prstGeom>
            <a:noFill/>
            <a:ln w="12700">
              <a:gradFill>
                <a:gsLst>
                  <a:gs pos="0">
                    <a:srgbClr val="3368FF">
                      <a:alpha val="0"/>
                    </a:srgbClr>
                  </a:gs>
                  <a:gs pos="74000">
                    <a:srgbClr val="3368FF"/>
                  </a:gs>
                </a:gsLst>
                <a:lin ang="5400000" scaled="1"/>
              </a:gradFill>
              <a:prstDash val="solid"/>
            </a:ln>
            <a:effectLst>
              <a:outerShdw blurRad="457200" dist="127000" dir="2700000" sx="102000" sy="102000" algn="ctr" rotWithShape="0">
                <a:srgbClr val="0042FF">
                  <a:alpha val="17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7" name="紫荆的职场Point8-6"/>
            <p:cNvSpPr>
              <a:spLocks noChangeAspect="1"/>
            </p:cNvSpPr>
            <p:nvPr/>
          </p:nvSpPr>
          <p:spPr>
            <a:xfrm rot="10800000">
              <a:off x="1858892" y="2628454"/>
              <a:ext cx="1224002" cy="1224000"/>
            </a:xfrm>
            <a:prstGeom prst="arc">
              <a:avLst>
                <a:gd name="adj1" fmla="val 15177856"/>
                <a:gd name="adj2" fmla="val 0"/>
              </a:avLst>
            </a:prstGeom>
            <a:noFill/>
            <a:ln w="12700">
              <a:gradFill>
                <a:gsLst>
                  <a:gs pos="0">
                    <a:srgbClr val="3368FF">
                      <a:alpha val="0"/>
                    </a:srgbClr>
                  </a:gs>
                  <a:gs pos="74000">
                    <a:srgbClr val="3368FF"/>
                  </a:gs>
                </a:gsLst>
                <a:lin ang="5400000" scaled="1"/>
              </a:gradFill>
              <a:prstDash val="solid"/>
            </a:ln>
            <a:effectLst>
              <a:outerShdw blurRad="457200" dist="127000" dir="2700000" sx="102000" sy="102000" algn="ctr" rotWithShape="0">
                <a:srgbClr val="0042FF">
                  <a:alpha val="17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29" name="紫荆的职场Point9-1"/>
          <p:cNvSpPr txBox="1"/>
          <p:nvPr/>
        </p:nvSpPr>
        <p:spPr>
          <a:xfrm flipH="1">
            <a:off x="6810276" y="4556336"/>
            <a:ext cx="1005205"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被动吸引</a:t>
            </a:r>
            <a:endParaRPr lang="zh-CN" altLang="en-US" sz="1600" b="1">
              <a:solidFill>
                <a:srgbClr val="0042FF"/>
              </a:solidFill>
              <a:latin typeface="微软雅黑"/>
              <a:ea typeface="微软雅黑"/>
              <a:cs typeface="微软雅黑"/>
            </a:endParaRPr>
          </a:p>
        </p:txBody>
      </p:sp>
      <p:sp>
        <p:nvSpPr>
          <p:cNvPr id="42" name="紫荆的职场Point9-8"/>
          <p:cNvSpPr txBox="1"/>
          <p:nvPr/>
        </p:nvSpPr>
        <p:spPr>
          <a:xfrm flipH="1">
            <a:off x="5436771" y="4556336"/>
            <a:ext cx="1005205"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产生消费</a:t>
            </a:r>
            <a:endParaRPr lang="zh-CN" altLang="en-US" sz="1600" b="1">
              <a:solidFill>
                <a:srgbClr val="0042FF"/>
              </a:solidFill>
              <a:latin typeface="微软雅黑"/>
              <a:ea typeface="微软雅黑"/>
              <a:cs typeface="微软雅黑"/>
            </a:endParaRPr>
          </a:p>
        </p:txBody>
      </p:sp>
      <p:sp>
        <p:nvSpPr>
          <p:cNvPr id="43" name="紫荆的职场Point9-9"/>
          <p:cNvSpPr txBox="1"/>
          <p:nvPr/>
        </p:nvSpPr>
        <p:spPr>
          <a:xfrm flipH="1">
            <a:off x="3990678" y="4556336"/>
            <a:ext cx="1005403" cy="338554"/>
          </a:xfrm>
          <a:prstGeom prst="rect">
            <a:avLst/>
          </a:prstGeom>
          <a:noFill/>
        </p:spPr>
        <p:txBody>
          <a:bodyPr wrap="none" rtlCol="0">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消费冲动</a:t>
            </a:r>
            <a:endParaRPr lang="zh-CN" altLang="en-US" sz="1600" b="1" dirty="0">
              <a:solidFill>
                <a:srgbClr val="0042FF"/>
              </a:solidFill>
              <a:latin typeface="微软雅黑"/>
              <a:ea typeface="微软雅黑"/>
              <a:cs typeface="微软雅黑"/>
            </a:endParaRPr>
          </a:p>
        </p:txBody>
      </p:sp>
      <p:sp>
        <p:nvSpPr>
          <p:cNvPr id="44" name="紫荆的职场Point9-10"/>
          <p:cNvSpPr txBox="1"/>
          <p:nvPr/>
        </p:nvSpPr>
        <p:spPr>
          <a:xfrm flipH="1">
            <a:off x="3048521" y="4504555"/>
            <a:ext cx="595035" cy="338554"/>
          </a:xfrm>
          <a:prstGeom prst="rect">
            <a:avLst/>
          </a:prstGeom>
          <a:noFill/>
        </p:spPr>
        <p:txBody>
          <a:bodyPr wrap="none" rtlCol="0">
            <a:spAutoFit/>
          </a:bodyPr>
          <a:lstStyle/>
          <a:p>
            <a:pPr algn="ctr">
              <a:defRPr>
                <a:solidFill>
                  <a:srgbClr val="383838"/>
                </a:solidFill>
                <a:latin typeface="微软雅黑"/>
                <a:ea typeface="微软雅黑"/>
                <a:cs typeface="微软雅黑"/>
              </a:defRPr>
            </a:pPr>
            <a:r>
              <a:rPr lang="en-US" altLang="zh-CN" sz="1600">
                <a:solidFill>
                  <a:srgbClr val="383838"/>
                </a:solidFill>
                <a:latin typeface="微软雅黑"/>
                <a:ea typeface="微软雅黑"/>
                <a:cs typeface="微软雅黑"/>
              </a:rPr>
              <a:t>……</a:t>
            </a:r>
            <a:endParaRPr lang="en-US" altLang="zh-CN" sz="1600">
              <a:solidFill>
                <a:srgbClr val="383838"/>
              </a:solidFill>
              <a:latin typeface="微软雅黑"/>
              <a:ea typeface="微软雅黑"/>
              <a:cs typeface="微软雅黑"/>
            </a:endParaRPr>
          </a:p>
        </p:txBody>
      </p:sp>
      <p:sp>
        <p:nvSpPr>
          <p:cNvPr id="179" name="紫荆的职场Point13-1"/>
          <p:cNvSpPr/>
          <p:nvPr/>
        </p:nvSpPr>
        <p:spPr>
          <a:xfrm>
            <a:off x="10256520" y="2225675"/>
            <a:ext cx="558800" cy="232410"/>
          </a:xfrm>
          <a:prstGeom prst="roundRect">
            <a:avLst>
              <a:gd name="adj" fmla="val 50000"/>
            </a:avLst>
          </a:prstGeom>
          <a:solidFill>
            <a:srgbClr val="3368FF"/>
          </a:solidFill>
          <a:ln w="12700">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86" name="紫荆的职场Point14-1"/>
          <p:cNvSpPr/>
          <p:nvPr/>
        </p:nvSpPr>
        <p:spPr>
          <a:xfrm>
            <a:off x="10256520" y="3660140"/>
            <a:ext cx="558800" cy="232410"/>
          </a:xfrm>
          <a:prstGeom prst="roundRect">
            <a:avLst>
              <a:gd name="adj" fmla="val 50000"/>
            </a:avLst>
          </a:prstGeom>
          <a:solidFill>
            <a:srgbClr val="3368FF"/>
          </a:solidFill>
          <a:ln w="12700">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90" name="紫荆的职场Point15-1"/>
          <p:cNvSpPr/>
          <p:nvPr/>
        </p:nvSpPr>
        <p:spPr>
          <a:xfrm>
            <a:off x="10546715" y="2943225"/>
            <a:ext cx="558800" cy="232410"/>
          </a:xfrm>
          <a:prstGeom prst="roundRect">
            <a:avLst>
              <a:gd name="adj" fmla="val 50000"/>
            </a:avLst>
          </a:prstGeom>
          <a:solidFill>
            <a:srgbClr val="3368FF"/>
          </a:solidFill>
          <a:ln w="12700">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94" name="紫荆的职场Point16-1"/>
          <p:cNvSpPr/>
          <p:nvPr/>
        </p:nvSpPr>
        <p:spPr>
          <a:xfrm>
            <a:off x="1381125" y="2225675"/>
            <a:ext cx="558800" cy="232410"/>
          </a:xfrm>
          <a:prstGeom prst="roundRect">
            <a:avLst>
              <a:gd name="adj" fmla="val 50000"/>
            </a:avLst>
          </a:prstGeom>
          <a:solidFill>
            <a:srgbClr val="3368FF"/>
          </a:solidFill>
          <a:ln w="12700">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97" name="紫荆的职场Point17-1"/>
          <p:cNvSpPr/>
          <p:nvPr/>
        </p:nvSpPr>
        <p:spPr>
          <a:xfrm>
            <a:off x="1381125" y="3658235"/>
            <a:ext cx="558800" cy="232410"/>
          </a:xfrm>
          <a:prstGeom prst="roundRect">
            <a:avLst>
              <a:gd name="adj" fmla="val 50000"/>
            </a:avLst>
          </a:prstGeom>
          <a:solidFill>
            <a:srgbClr val="3368FF"/>
          </a:solidFill>
          <a:ln w="12700">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sz="1000">
              <a:solidFill>
                <a:srgbClr val="FFFFFF"/>
              </a:solidFill>
              <a:latin typeface="微软雅黑"/>
              <a:ea typeface="微软雅黑"/>
              <a:cs typeface="微软雅黑"/>
            </a:endParaRPr>
          </a:p>
        </p:txBody>
      </p:sp>
      <p:sp>
        <p:nvSpPr>
          <p:cNvPr id="200" name="紫荆的职场Point18-1"/>
          <p:cNvSpPr/>
          <p:nvPr/>
        </p:nvSpPr>
        <p:spPr>
          <a:xfrm>
            <a:off x="1091565" y="3180715"/>
            <a:ext cx="558800" cy="232410"/>
          </a:xfrm>
          <a:prstGeom prst="roundRect">
            <a:avLst>
              <a:gd name="adj" fmla="val 50000"/>
            </a:avLst>
          </a:prstGeom>
          <a:solidFill>
            <a:srgbClr val="3368FF"/>
          </a:solidFill>
          <a:ln w="12700">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sz="1000">
              <a:solidFill>
                <a:srgbClr val="FFFFFF"/>
              </a:solidFill>
              <a:latin typeface="微软雅黑"/>
              <a:ea typeface="微软雅黑"/>
              <a:cs typeface="微软雅黑"/>
            </a:endParaRPr>
          </a:p>
        </p:txBody>
      </p:sp>
      <p:sp>
        <p:nvSpPr>
          <p:cNvPr id="203" name="紫荆的职场Point19-1"/>
          <p:cNvSpPr/>
          <p:nvPr/>
        </p:nvSpPr>
        <p:spPr>
          <a:xfrm>
            <a:off x="1091565" y="2703195"/>
            <a:ext cx="558800" cy="232410"/>
          </a:xfrm>
          <a:prstGeom prst="roundRect">
            <a:avLst>
              <a:gd name="adj" fmla="val 50000"/>
            </a:avLst>
          </a:prstGeom>
          <a:solidFill>
            <a:srgbClr val="3368FF"/>
          </a:solidFill>
          <a:ln w="12700">
            <a:solidFill>
              <a:srgbClr val="FFFFFF"/>
            </a:solid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sz="1000">
              <a:solidFill>
                <a:srgbClr val="FFFFFF"/>
              </a:solidFill>
              <a:latin typeface="微软雅黑"/>
              <a:ea typeface="微软雅黑"/>
              <a:cs typeface="微软雅黑"/>
            </a:endParaRPr>
          </a:p>
        </p:txBody>
      </p:sp>
      <p:cxnSp>
        <p:nvCxnSpPr>
          <p:cNvPr id="206" name="紫荆的职场Point20"/>
          <p:cNvCxnSpPr/>
          <p:nvPr/>
        </p:nvCxnSpPr>
        <p:spPr>
          <a:xfrm flipV="1">
            <a:off x="3230201" y="3058990"/>
            <a:ext cx="209614" cy="6156"/>
          </a:xfrm>
          <a:prstGeom prst="straightConnector1">
            <a:avLst/>
          </a:prstGeom>
          <a:ln>
            <a:solidFill>
              <a:srgbClr val="3368FF"/>
            </a:solidFill>
            <a:tailEnd type="stealth"/>
          </a:ln>
        </p:spPr>
        <p:style>
          <a:lnRef idx="2">
            <a:srgbClr val="0042FF"/>
          </a:lnRef>
          <a:fillRef idx="0">
            <a:srgbClr val="0042FF"/>
          </a:fillRef>
          <a:effectRef idx="1">
            <a:srgbClr val="0042FF"/>
          </a:effectRef>
          <a:fontRef idx="minor">
            <a:srgbClr val="383838"/>
          </a:fontRef>
        </p:style>
      </p:cxnSp>
      <p:cxnSp>
        <p:nvCxnSpPr>
          <p:cNvPr id="207" name="紫荆的职场Point21"/>
          <p:cNvCxnSpPr/>
          <p:nvPr/>
        </p:nvCxnSpPr>
        <p:spPr>
          <a:xfrm flipH="1" flipV="1">
            <a:off x="8749529" y="3058990"/>
            <a:ext cx="209614" cy="6156"/>
          </a:xfrm>
          <a:prstGeom prst="straightConnector1">
            <a:avLst/>
          </a:prstGeom>
          <a:ln>
            <a:solidFill>
              <a:srgbClr val="3368FF"/>
            </a:solidFill>
            <a:tailEnd type="stealth"/>
          </a:ln>
        </p:spPr>
        <p:style>
          <a:lnRef idx="2">
            <a:srgbClr val="0042FF"/>
          </a:lnRef>
          <a:fillRef idx="0">
            <a:srgbClr val="0042FF"/>
          </a:fillRef>
          <a:effectRef idx="1">
            <a:srgbClr val="0042FF"/>
          </a:effectRef>
          <a:fontRef idx="minor">
            <a:srgbClr val="383838"/>
          </a:fontRef>
        </p:style>
      </p:cxnSp>
      <p:sp>
        <p:nvSpPr>
          <p:cNvPr id="55" name="紫荆的职场Point22"/>
          <p:cNvSpPr/>
          <p:nvPr/>
        </p:nvSpPr>
        <p:spPr>
          <a:xfrm>
            <a:off x="5259173" y="2238087"/>
            <a:ext cx="1673655" cy="1673653"/>
          </a:xfrm>
          <a:prstGeom prst="ellipse">
            <a:avLst/>
          </a:prstGeom>
          <a:solidFill>
            <a:srgbClr val="FFFFFF">
              <a:alpha val="50000"/>
            </a:srgbClr>
          </a:solidFill>
          <a:ln w="25400">
            <a:gradFill>
              <a:gsLst>
                <a:gs pos="0">
                  <a:srgbClr val="3368FF"/>
                </a:gs>
                <a:gs pos="100000">
                  <a:srgbClr val="B3D4FE"/>
                </a:gs>
              </a:gsLst>
              <a:lin ang="5400000" scaled="1"/>
            </a:gra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80" name="紫荆的职场Point23-1"/>
          <p:cNvSpPr/>
          <p:nvPr/>
        </p:nvSpPr>
        <p:spPr>
          <a:xfrm>
            <a:off x="5629275" y="2613660"/>
            <a:ext cx="933450" cy="285750"/>
          </a:xfrm>
          <a:prstGeom prst="roundRect">
            <a:avLst>
              <a:gd name="adj" fmla="val 50000"/>
            </a:avLst>
          </a:prstGeom>
          <a:gradFill flip="none" rotWithShape="1">
            <a:gsLst>
              <a:gs pos="23000">
                <a:srgbClr val="3368FF"/>
              </a:gs>
              <a:gs pos="100000">
                <a:srgbClr val="B3D4FE"/>
              </a:gs>
            </a:gsLst>
            <a:path path="circle">
              <a:fillToRect l="100000" t="100000"/>
            </a:path>
            <a:tileRect r="-100000" b="-100000"/>
          </a:gradFill>
          <a:ln w="38100">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nvGrpSpPr>
          <p:cNvPr id="93" name="紫荆的职场Point24"/>
          <p:cNvGrpSpPr/>
          <p:nvPr/>
        </p:nvGrpSpPr>
        <p:grpSpPr>
          <a:xfrm>
            <a:off x="5437630" y="2971174"/>
            <a:ext cx="1319122" cy="527347"/>
            <a:chOff x="5413905" y="3130559"/>
            <a:chExt cx="1319122" cy="527347"/>
          </a:xfrm>
        </p:grpSpPr>
        <p:sp>
          <p:nvSpPr>
            <p:cNvPr id="87" name="紫荆的职场Point24-1"/>
            <p:cNvSpPr txBox="1"/>
            <p:nvPr/>
          </p:nvSpPr>
          <p:spPr>
            <a:xfrm>
              <a:off x="5413905" y="3130559"/>
              <a:ext cx="487680" cy="275590"/>
            </a:xfrm>
            <a:prstGeom prst="rect">
              <a:avLst/>
            </a:prstGeom>
            <a:noFill/>
          </p:spPr>
          <p:txBody>
            <a:bodyPr wrap="none" rtlCol="0">
              <a:spAutoFit/>
            </a:bodyPr>
            <a:lstStyle/>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形象</a:t>
              </a:r>
              <a:endParaRPr lang="zh-CN" altLang="en-US" sz="1200" b="1">
                <a:solidFill>
                  <a:srgbClr val="0042FF"/>
                </a:solidFill>
                <a:latin typeface="微软雅黑"/>
                <a:ea typeface="微软雅黑"/>
                <a:cs typeface="微软雅黑"/>
              </a:endParaRPr>
            </a:p>
          </p:txBody>
        </p:sp>
        <p:sp>
          <p:nvSpPr>
            <p:cNvPr id="90" name="紫荆的职场Point24-2"/>
            <p:cNvSpPr txBox="1"/>
            <p:nvPr/>
          </p:nvSpPr>
          <p:spPr>
            <a:xfrm>
              <a:off x="5413905" y="3382316"/>
              <a:ext cx="487680" cy="275590"/>
            </a:xfrm>
            <a:prstGeom prst="rect">
              <a:avLst/>
            </a:prstGeom>
            <a:noFill/>
          </p:spPr>
          <p:txBody>
            <a:bodyPr wrap="none" rtlCol="0">
              <a:spAutoFit/>
            </a:bodyPr>
            <a:lstStyle/>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互动</a:t>
              </a:r>
              <a:endParaRPr lang="zh-CN" altLang="en-US" sz="1200" b="1">
                <a:solidFill>
                  <a:srgbClr val="0042FF"/>
                </a:solidFill>
                <a:latin typeface="微软雅黑"/>
                <a:ea typeface="微软雅黑"/>
                <a:cs typeface="微软雅黑"/>
              </a:endParaRPr>
            </a:p>
          </p:txBody>
        </p:sp>
        <p:sp>
          <p:nvSpPr>
            <p:cNvPr id="91" name="紫荆的职场Point24-3"/>
            <p:cNvSpPr txBox="1"/>
            <p:nvPr/>
          </p:nvSpPr>
          <p:spPr>
            <a:xfrm>
              <a:off x="5843040" y="3138253"/>
              <a:ext cx="889987" cy="261610"/>
            </a:xfrm>
            <a:prstGeom prst="rect">
              <a:avLst/>
            </a:prstGeom>
            <a:noFill/>
          </p:spPr>
          <p:txBody>
            <a:bodyPr wrap="none" rtlCol="0">
              <a:spAutoFit/>
            </a:bodyPr>
            <a:lstStyle/>
            <a:p>
              <a:pPr algn="ctr">
                <a:defRPr>
                  <a:latin typeface="微软雅黑"/>
                  <a:ea typeface="微软雅黑"/>
                  <a:cs typeface="微软雅黑"/>
                </a:defRPr>
              </a:pPr>
              <a:r>
                <a:rPr lang="zh-CN" altLang="en-US" sz="1100">
                  <a:solidFill>
                    <a:srgbClr val="383838"/>
                  </a:solidFill>
                  <a:latin typeface="微软雅黑"/>
                  <a:ea typeface="微软雅黑"/>
                  <a:cs typeface="微软雅黑"/>
                </a:rPr>
                <a:t>打造形象点</a:t>
              </a:r>
              <a:endParaRPr lang="zh-CN" altLang="en-US" sz="1100">
                <a:solidFill>
                  <a:srgbClr val="383838"/>
                </a:solidFill>
                <a:latin typeface="微软雅黑"/>
                <a:ea typeface="微软雅黑"/>
                <a:cs typeface="微软雅黑"/>
              </a:endParaRPr>
            </a:p>
          </p:txBody>
        </p:sp>
        <p:sp>
          <p:nvSpPr>
            <p:cNvPr id="92" name="紫荆的职场Point24-4"/>
            <p:cNvSpPr txBox="1"/>
            <p:nvPr/>
          </p:nvSpPr>
          <p:spPr>
            <a:xfrm>
              <a:off x="5843040" y="3390010"/>
              <a:ext cx="889987" cy="261610"/>
            </a:xfrm>
            <a:prstGeom prst="rect">
              <a:avLst/>
            </a:prstGeom>
            <a:noFill/>
          </p:spPr>
          <p:txBody>
            <a:bodyPr wrap="none" rtlCol="0">
              <a:spAutoFit/>
            </a:bodyPr>
            <a:lstStyle/>
            <a:p>
              <a:pPr algn="ctr">
                <a:defRPr>
                  <a:latin typeface="微软雅黑"/>
                  <a:ea typeface="微软雅黑"/>
                  <a:cs typeface="微软雅黑"/>
                </a:defRPr>
              </a:pPr>
              <a:r>
                <a:rPr lang="zh-CN" altLang="en-US" sz="1100">
                  <a:solidFill>
                    <a:srgbClr val="383838"/>
                  </a:solidFill>
                  <a:latin typeface="微软雅黑"/>
                  <a:ea typeface="微软雅黑"/>
                  <a:cs typeface="微软雅黑"/>
                </a:rPr>
                <a:t>构建世界观</a:t>
              </a:r>
              <a:endParaRPr lang="zh-CN" altLang="en-US" sz="1100">
                <a:solidFill>
                  <a:srgbClr val="383838"/>
                </a:solidFill>
                <a:latin typeface="微软雅黑"/>
                <a:ea typeface="微软雅黑"/>
                <a:cs typeface="微软雅黑"/>
              </a:endParaRPr>
            </a:p>
          </p:txBody>
        </p:sp>
      </p:grpSp>
      <p:sp>
        <p:nvSpPr>
          <p:cNvPr id="220" name="紫荆的职场Point25"/>
          <p:cNvSpPr/>
          <p:nvPr/>
        </p:nvSpPr>
        <p:spPr>
          <a:xfrm>
            <a:off x="6664908" y="3429896"/>
            <a:ext cx="734502" cy="592864"/>
          </a:xfrm>
          <a:custGeom>
            <a:avLst/>
            <a:gdLst>
              <a:gd name="connsiteX0" fmla="*/ 3500195 w 3500194"/>
              <a:gd name="connsiteY0" fmla="*/ 1464688 h 2825230"/>
              <a:gd name="connsiteX1" fmla="*/ 3135929 w 3500194"/>
              <a:gd name="connsiteY1" fmla="*/ 1136634 h 2825230"/>
              <a:gd name="connsiteX2" fmla="*/ 3107817 w 3500194"/>
              <a:gd name="connsiteY2" fmla="*/ 1220494 h 2825230"/>
              <a:gd name="connsiteX3" fmla="*/ 3087090 w 3500194"/>
              <a:gd name="connsiteY3" fmla="*/ 1277671 h 2825230"/>
              <a:gd name="connsiteX4" fmla="*/ 3077084 w 3500194"/>
              <a:gd name="connsiteY4" fmla="*/ 1303639 h 2825230"/>
              <a:gd name="connsiteX5" fmla="*/ 2501024 w 3500194"/>
              <a:gd name="connsiteY5" fmla="*/ 2083869 h 2825230"/>
              <a:gd name="connsiteX6" fmla="*/ 2130326 w 3500194"/>
              <a:gd name="connsiteY6" fmla="*/ 2385955 h 2825230"/>
              <a:gd name="connsiteX7" fmla="*/ 1721509 w 3500194"/>
              <a:gd name="connsiteY7" fmla="*/ 2614187 h 2825230"/>
              <a:gd name="connsiteX8" fmla="*/ 839551 w 3500194"/>
              <a:gd name="connsiteY8" fmla="*/ 2824313 h 2825230"/>
              <a:gd name="connsiteX9" fmla="*/ 617275 w 3500194"/>
              <a:gd name="connsiteY9" fmla="*/ 2820263 h 2825230"/>
              <a:gd name="connsiteX10" fmla="*/ 398572 w 3500194"/>
              <a:gd name="connsiteY10" fmla="*/ 2792866 h 2825230"/>
              <a:gd name="connsiteX11" fmla="*/ 0 w 3500194"/>
              <a:gd name="connsiteY11" fmla="*/ 2627528 h 2825230"/>
              <a:gd name="connsiteX12" fmla="*/ 424064 w 3500194"/>
              <a:gd name="connsiteY12" fmla="*/ 2677797 h 2825230"/>
              <a:gd name="connsiteX13" fmla="*/ 529365 w 3500194"/>
              <a:gd name="connsiteY13" fmla="*/ 2664694 h 2825230"/>
              <a:gd name="connsiteX14" fmla="*/ 633475 w 3500194"/>
              <a:gd name="connsiteY14" fmla="*/ 2643967 h 2825230"/>
              <a:gd name="connsiteX15" fmla="*/ 684935 w 3500194"/>
              <a:gd name="connsiteY15" fmla="*/ 2632531 h 2825230"/>
              <a:gd name="connsiteX16" fmla="*/ 735679 w 3500194"/>
              <a:gd name="connsiteY16" fmla="*/ 2618475 h 2825230"/>
              <a:gd name="connsiteX17" fmla="*/ 786186 w 3500194"/>
              <a:gd name="connsiteY17" fmla="*/ 2604419 h 2825230"/>
              <a:gd name="connsiteX18" fmla="*/ 835978 w 3500194"/>
              <a:gd name="connsiteY18" fmla="*/ 2587743 h 2825230"/>
              <a:gd name="connsiteX19" fmla="*/ 1211203 w 3500194"/>
              <a:gd name="connsiteY19" fmla="*/ 2416449 h 2825230"/>
              <a:gd name="connsiteX20" fmla="*/ 1537589 w 3500194"/>
              <a:gd name="connsiteY20" fmla="*/ 2178450 h 2825230"/>
              <a:gd name="connsiteX21" fmla="*/ 2248254 w 3500194"/>
              <a:gd name="connsiteY21" fmla="*/ 850987 h 2825230"/>
              <a:gd name="connsiteX22" fmla="*/ 1782260 w 3500194"/>
              <a:gd name="connsiteY22" fmla="*/ 810963 h 2825230"/>
              <a:gd name="connsiteX23" fmla="*/ 2841705 w 3500194"/>
              <a:gd name="connsiteY23" fmla="*/ 0 h 2825230"/>
              <a:gd name="connsiteX24" fmla="*/ 3246710 w 3500194"/>
              <a:gd name="connsiteY24" fmla="*/ 657061 h 2825230"/>
              <a:gd name="connsiteX25" fmla="*/ 3499957 w 3500194"/>
              <a:gd name="connsiteY25" fmla="*/ 1465165 h 2825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00194" h="2825230">
                <a:moveTo>
                  <a:pt x="3500195" y="1464688"/>
                </a:moveTo>
                <a:cubicBezTo>
                  <a:pt x="3383935" y="1348428"/>
                  <a:pt x="3260766" y="1238838"/>
                  <a:pt x="3135929" y="1136634"/>
                </a:cubicBezTo>
                <a:cubicBezTo>
                  <a:pt x="3135929" y="1136634"/>
                  <a:pt x="3121873" y="1178564"/>
                  <a:pt x="3107817" y="1220494"/>
                </a:cubicBezTo>
                <a:cubicBezTo>
                  <a:pt x="3101146" y="1241459"/>
                  <a:pt x="3093046" y="1262186"/>
                  <a:pt x="3087090" y="1277671"/>
                </a:cubicBezTo>
                <a:cubicBezTo>
                  <a:pt x="3081134" y="1293157"/>
                  <a:pt x="3077084" y="1303639"/>
                  <a:pt x="3077084" y="1303639"/>
                </a:cubicBezTo>
                <a:cubicBezTo>
                  <a:pt x="2926279" y="1593575"/>
                  <a:pt x="2731401" y="1858972"/>
                  <a:pt x="2501024" y="2083869"/>
                </a:cubicBezTo>
                <a:cubicBezTo>
                  <a:pt x="2385717" y="2197032"/>
                  <a:pt x="2261118" y="2297807"/>
                  <a:pt x="2130326" y="2385955"/>
                </a:cubicBezTo>
                <a:cubicBezTo>
                  <a:pt x="1999533" y="2474341"/>
                  <a:pt x="1862784" y="2550577"/>
                  <a:pt x="1721509" y="2614187"/>
                </a:cubicBezTo>
                <a:cubicBezTo>
                  <a:pt x="1438482" y="2739739"/>
                  <a:pt x="1137587" y="2813116"/>
                  <a:pt x="839551" y="2824313"/>
                </a:cubicBezTo>
                <a:cubicBezTo>
                  <a:pt x="764745" y="2825743"/>
                  <a:pt x="690891" y="2826219"/>
                  <a:pt x="617275" y="2820263"/>
                </a:cubicBezTo>
                <a:cubicBezTo>
                  <a:pt x="544136" y="2816690"/>
                  <a:pt x="470759" y="2806922"/>
                  <a:pt x="398572" y="2792866"/>
                </a:cubicBezTo>
                <a:cubicBezTo>
                  <a:pt x="254677" y="2764754"/>
                  <a:pt x="113401" y="2713056"/>
                  <a:pt x="0" y="2627528"/>
                </a:cubicBezTo>
                <a:cubicBezTo>
                  <a:pt x="137702" y="2681608"/>
                  <a:pt x="283503" y="2690185"/>
                  <a:pt x="424064" y="2677797"/>
                </a:cubicBezTo>
                <a:cubicBezTo>
                  <a:pt x="459323" y="2674699"/>
                  <a:pt x="494344" y="2669935"/>
                  <a:pt x="529365" y="2664694"/>
                </a:cubicBezTo>
                <a:cubicBezTo>
                  <a:pt x="564386" y="2659452"/>
                  <a:pt x="599169" y="2651114"/>
                  <a:pt x="633475" y="2643967"/>
                </a:cubicBezTo>
                <a:cubicBezTo>
                  <a:pt x="650628" y="2640155"/>
                  <a:pt x="668020" y="2637058"/>
                  <a:pt x="684935" y="2632531"/>
                </a:cubicBezTo>
                <a:lnTo>
                  <a:pt x="735679" y="2618475"/>
                </a:lnTo>
                <a:lnTo>
                  <a:pt x="786186" y="2604419"/>
                </a:lnTo>
                <a:cubicBezTo>
                  <a:pt x="802863" y="2599416"/>
                  <a:pt x="819301" y="2593222"/>
                  <a:pt x="835978" y="2587743"/>
                </a:cubicBezTo>
                <a:cubicBezTo>
                  <a:pt x="967962" y="2543192"/>
                  <a:pt x="1093751" y="2485539"/>
                  <a:pt x="1211203" y="2416449"/>
                </a:cubicBezTo>
                <a:cubicBezTo>
                  <a:pt x="1328416" y="2346884"/>
                  <a:pt x="1437767" y="2266598"/>
                  <a:pt x="1537589" y="2178450"/>
                </a:cubicBezTo>
                <a:cubicBezTo>
                  <a:pt x="1942356" y="1825142"/>
                  <a:pt x="2171541" y="1344140"/>
                  <a:pt x="2248254" y="850987"/>
                </a:cubicBezTo>
                <a:cubicBezTo>
                  <a:pt x="2090540" y="845269"/>
                  <a:pt x="1936638" y="832642"/>
                  <a:pt x="1782260" y="810963"/>
                </a:cubicBezTo>
                <a:cubicBezTo>
                  <a:pt x="2164632" y="673023"/>
                  <a:pt x="2537713" y="389281"/>
                  <a:pt x="2841705" y="0"/>
                </a:cubicBezTo>
                <a:cubicBezTo>
                  <a:pt x="2995845" y="192496"/>
                  <a:pt x="3133547" y="412152"/>
                  <a:pt x="3246710" y="657061"/>
                </a:cubicBezTo>
                <a:cubicBezTo>
                  <a:pt x="3360349" y="901970"/>
                  <a:pt x="3447783" y="1172132"/>
                  <a:pt x="3499957" y="1465165"/>
                </a:cubicBezTo>
                <a:close/>
              </a:path>
            </a:pathLst>
          </a:custGeom>
          <a:gradFill flip="none" rotWithShape="1">
            <a:gsLst>
              <a:gs pos="12000">
                <a:srgbClr val="3368FF"/>
              </a:gs>
              <a:gs pos="79000">
                <a:srgbClr val="B3D4FE"/>
              </a:gs>
            </a:gsLst>
            <a:lin ang="54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221" name="紫荆的职场Point26"/>
          <p:cNvSpPr/>
          <p:nvPr/>
        </p:nvSpPr>
        <p:spPr>
          <a:xfrm flipH="1" flipV="1">
            <a:off x="4839581" y="2111916"/>
            <a:ext cx="734502" cy="592864"/>
          </a:xfrm>
          <a:custGeom>
            <a:avLst/>
            <a:gdLst>
              <a:gd name="connsiteX0" fmla="*/ 3500195 w 3500194"/>
              <a:gd name="connsiteY0" fmla="*/ 1464688 h 2825230"/>
              <a:gd name="connsiteX1" fmla="*/ 3135929 w 3500194"/>
              <a:gd name="connsiteY1" fmla="*/ 1136634 h 2825230"/>
              <a:gd name="connsiteX2" fmla="*/ 3107817 w 3500194"/>
              <a:gd name="connsiteY2" fmla="*/ 1220494 h 2825230"/>
              <a:gd name="connsiteX3" fmla="*/ 3087090 w 3500194"/>
              <a:gd name="connsiteY3" fmla="*/ 1277671 h 2825230"/>
              <a:gd name="connsiteX4" fmla="*/ 3077084 w 3500194"/>
              <a:gd name="connsiteY4" fmla="*/ 1303639 h 2825230"/>
              <a:gd name="connsiteX5" fmla="*/ 2501024 w 3500194"/>
              <a:gd name="connsiteY5" fmla="*/ 2083869 h 2825230"/>
              <a:gd name="connsiteX6" fmla="*/ 2130326 w 3500194"/>
              <a:gd name="connsiteY6" fmla="*/ 2385955 h 2825230"/>
              <a:gd name="connsiteX7" fmla="*/ 1721509 w 3500194"/>
              <a:gd name="connsiteY7" fmla="*/ 2614187 h 2825230"/>
              <a:gd name="connsiteX8" fmla="*/ 839551 w 3500194"/>
              <a:gd name="connsiteY8" fmla="*/ 2824313 h 2825230"/>
              <a:gd name="connsiteX9" fmla="*/ 617275 w 3500194"/>
              <a:gd name="connsiteY9" fmla="*/ 2820263 h 2825230"/>
              <a:gd name="connsiteX10" fmla="*/ 398572 w 3500194"/>
              <a:gd name="connsiteY10" fmla="*/ 2792866 h 2825230"/>
              <a:gd name="connsiteX11" fmla="*/ 0 w 3500194"/>
              <a:gd name="connsiteY11" fmla="*/ 2627528 h 2825230"/>
              <a:gd name="connsiteX12" fmla="*/ 424064 w 3500194"/>
              <a:gd name="connsiteY12" fmla="*/ 2677797 h 2825230"/>
              <a:gd name="connsiteX13" fmla="*/ 529365 w 3500194"/>
              <a:gd name="connsiteY13" fmla="*/ 2664694 h 2825230"/>
              <a:gd name="connsiteX14" fmla="*/ 633475 w 3500194"/>
              <a:gd name="connsiteY14" fmla="*/ 2643967 h 2825230"/>
              <a:gd name="connsiteX15" fmla="*/ 684935 w 3500194"/>
              <a:gd name="connsiteY15" fmla="*/ 2632531 h 2825230"/>
              <a:gd name="connsiteX16" fmla="*/ 735679 w 3500194"/>
              <a:gd name="connsiteY16" fmla="*/ 2618475 h 2825230"/>
              <a:gd name="connsiteX17" fmla="*/ 786186 w 3500194"/>
              <a:gd name="connsiteY17" fmla="*/ 2604419 h 2825230"/>
              <a:gd name="connsiteX18" fmla="*/ 835978 w 3500194"/>
              <a:gd name="connsiteY18" fmla="*/ 2587743 h 2825230"/>
              <a:gd name="connsiteX19" fmla="*/ 1211203 w 3500194"/>
              <a:gd name="connsiteY19" fmla="*/ 2416449 h 2825230"/>
              <a:gd name="connsiteX20" fmla="*/ 1537589 w 3500194"/>
              <a:gd name="connsiteY20" fmla="*/ 2178450 h 2825230"/>
              <a:gd name="connsiteX21" fmla="*/ 2248254 w 3500194"/>
              <a:gd name="connsiteY21" fmla="*/ 850987 h 2825230"/>
              <a:gd name="connsiteX22" fmla="*/ 1782260 w 3500194"/>
              <a:gd name="connsiteY22" fmla="*/ 810963 h 2825230"/>
              <a:gd name="connsiteX23" fmla="*/ 2841705 w 3500194"/>
              <a:gd name="connsiteY23" fmla="*/ 0 h 2825230"/>
              <a:gd name="connsiteX24" fmla="*/ 3246710 w 3500194"/>
              <a:gd name="connsiteY24" fmla="*/ 657061 h 2825230"/>
              <a:gd name="connsiteX25" fmla="*/ 3499957 w 3500194"/>
              <a:gd name="connsiteY25" fmla="*/ 1465165 h 2825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00194" h="2825230">
                <a:moveTo>
                  <a:pt x="3500195" y="1464688"/>
                </a:moveTo>
                <a:cubicBezTo>
                  <a:pt x="3383935" y="1348428"/>
                  <a:pt x="3260766" y="1238838"/>
                  <a:pt x="3135929" y="1136634"/>
                </a:cubicBezTo>
                <a:cubicBezTo>
                  <a:pt x="3135929" y="1136634"/>
                  <a:pt x="3121873" y="1178564"/>
                  <a:pt x="3107817" y="1220494"/>
                </a:cubicBezTo>
                <a:cubicBezTo>
                  <a:pt x="3101146" y="1241459"/>
                  <a:pt x="3093046" y="1262186"/>
                  <a:pt x="3087090" y="1277671"/>
                </a:cubicBezTo>
                <a:cubicBezTo>
                  <a:pt x="3081134" y="1293157"/>
                  <a:pt x="3077084" y="1303639"/>
                  <a:pt x="3077084" y="1303639"/>
                </a:cubicBezTo>
                <a:cubicBezTo>
                  <a:pt x="2926279" y="1593575"/>
                  <a:pt x="2731401" y="1858972"/>
                  <a:pt x="2501024" y="2083869"/>
                </a:cubicBezTo>
                <a:cubicBezTo>
                  <a:pt x="2385717" y="2197032"/>
                  <a:pt x="2261118" y="2297807"/>
                  <a:pt x="2130326" y="2385955"/>
                </a:cubicBezTo>
                <a:cubicBezTo>
                  <a:pt x="1999533" y="2474341"/>
                  <a:pt x="1862784" y="2550577"/>
                  <a:pt x="1721509" y="2614187"/>
                </a:cubicBezTo>
                <a:cubicBezTo>
                  <a:pt x="1438482" y="2739739"/>
                  <a:pt x="1137587" y="2813116"/>
                  <a:pt x="839551" y="2824313"/>
                </a:cubicBezTo>
                <a:cubicBezTo>
                  <a:pt x="764745" y="2825743"/>
                  <a:pt x="690891" y="2826219"/>
                  <a:pt x="617275" y="2820263"/>
                </a:cubicBezTo>
                <a:cubicBezTo>
                  <a:pt x="544136" y="2816690"/>
                  <a:pt x="470759" y="2806922"/>
                  <a:pt x="398572" y="2792866"/>
                </a:cubicBezTo>
                <a:cubicBezTo>
                  <a:pt x="254677" y="2764754"/>
                  <a:pt x="113401" y="2713056"/>
                  <a:pt x="0" y="2627528"/>
                </a:cubicBezTo>
                <a:cubicBezTo>
                  <a:pt x="137702" y="2681608"/>
                  <a:pt x="283503" y="2690185"/>
                  <a:pt x="424064" y="2677797"/>
                </a:cubicBezTo>
                <a:cubicBezTo>
                  <a:pt x="459323" y="2674699"/>
                  <a:pt x="494344" y="2669935"/>
                  <a:pt x="529365" y="2664694"/>
                </a:cubicBezTo>
                <a:cubicBezTo>
                  <a:pt x="564386" y="2659452"/>
                  <a:pt x="599169" y="2651114"/>
                  <a:pt x="633475" y="2643967"/>
                </a:cubicBezTo>
                <a:cubicBezTo>
                  <a:pt x="650628" y="2640155"/>
                  <a:pt x="668020" y="2637058"/>
                  <a:pt x="684935" y="2632531"/>
                </a:cubicBezTo>
                <a:lnTo>
                  <a:pt x="735679" y="2618475"/>
                </a:lnTo>
                <a:lnTo>
                  <a:pt x="786186" y="2604419"/>
                </a:lnTo>
                <a:cubicBezTo>
                  <a:pt x="802863" y="2599416"/>
                  <a:pt x="819301" y="2593222"/>
                  <a:pt x="835978" y="2587743"/>
                </a:cubicBezTo>
                <a:cubicBezTo>
                  <a:pt x="967962" y="2543192"/>
                  <a:pt x="1093751" y="2485539"/>
                  <a:pt x="1211203" y="2416449"/>
                </a:cubicBezTo>
                <a:cubicBezTo>
                  <a:pt x="1328416" y="2346884"/>
                  <a:pt x="1437767" y="2266598"/>
                  <a:pt x="1537589" y="2178450"/>
                </a:cubicBezTo>
                <a:cubicBezTo>
                  <a:pt x="1942356" y="1825142"/>
                  <a:pt x="2171541" y="1344140"/>
                  <a:pt x="2248254" y="850987"/>
                </a:cubicBezTo>
                <a:cubicBezTo>
                  <a:pt x="2090540" y="845269"/>
                  <a:pt x="1936638" y="832642"/>
                  <a:pt x="1782260" y="810963"/>
                </a:cubicBezTo>
                <a:cubicBezTo>
                  <a:pt x="2164632" y="673023"/>
                  <a:pt x="2537713" y="389281"/>
                  <a:pt x="2841705" y="0"/>
                </a:cubicBezTo>
                <a:cubicBezTo>
                  <a:pt x="2995845" y="192496"/>
                  <a:pt x="3133547" y="412152"/>
                  <a:pt x="3246710" y="657061"/>
                </a:cubicBezTo>
                <a:cubicBezTo>
                  <a:pt x="3360349" y="901970"/>
                  <a:pt x="3447783" y="1172132"/>
                  <a:pt x="3499957" y="1465165"/>
                </a:cubicBezTo>
                <a:close/>
              </a:path>
            </a:pathLst>
          </a:custGeom>
          <a:gradFill flip="none" rotWithShape="1">
            <a:gsLst>
              <a:gs pos="12000">
                <a:srgbClr val="3368FF"/>
              </a:gs>
              <a:gs pos="79000">
                <a:srgbClr val="B3D4FE"/>
              </a:gs>
            </a:gsLst>
            <a:lin ang="5400000" scaled="1"/>
            <a:tileRect/>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250" name="紫荆的职场Point27"/>
          <p:cNvSpPr/>
          <p:nvPr/>
        </p:nvSpPr>
        <p:spPr>
          <a:xfrm flipV="1">
            <a:off x="4969735" y="2076217"/>
            <a:ext cx="2252531" cy="1990949"/>
          </a:xfrm>
          <a:custGeom>
            <a:avLst/>
            <a:gdLst>
              <a:gd name="connsiteX0" fmla="*/ 1126265 w 2252531"/>
              <a:gd name="connsiteY0" fmla="*/ 1990949 h 1990949"/>
              <a:gd name="connsiteX1" fmla="*/ 2222809 w 2252531"/>
              <a:gd name="connsiteY1" fmla="*/ 1094632 h 1990949"/>
              <a:gd name="connsiteX2" fmla="*/ 2251948 w 2252531"/>
              <a:gd name="connsiteY2" fmla="*/ 996457 h 1990949"/>
              <a:gd name="connsiteX3" fmla="*/ 2252531 w 2252531"/>
              <a:gd name="connsiteY3" fmla="*/ 996457 h 1990949"/>
              <a:gd name="connsiteX4" fmla="*/ 2252240 w 2252531"/>
              <a:gd name="connsiteY4" fmla="*/ 995474 h 1990949"/>
              <a:gd name="connsiteX5" fmla="*/ 2252531 w 2252531"/>
              <a:gd name="connsiteY5" fmla="*/ 994492 h 1990949"/>
              <a:gd name="connsiteX6" fmla="*/ 2251948 w 2252531"/>
              <a:gd name="connsiteY6" fmla="*/ 994492 h 1990949"/>
              <a:gd name="connsiteX7" fmla="*/ 2222809 w 2252531"/>
              <a:gd name="connsiteY7" fmla="*/ 896317 h 1990949"/>
              <a:gd name="connsiteX8" fmla="*/ 1126265 w 2252531"/>
              <a:gd name="connsiteY8" fmla="*/ 0 h 1990949"/>
              <a:gd name="connsiteX9" fmla="*/ 29721 w 2252531"/>
              <a:gd name="connsiteY9" fmla="*/ 896317 h 1990949"/>
              <a:gd name="connsiteX10" fmla="*/ 583 w 2252531"/>
              <a:gd name="connsiteY10" fmla="*/ 994492 h 1990949"/>
              <a:gd name="connsiteX11" fmla="*/ 0 w 2252531"/>
              <a:gd name="connsiteY11" fmla="*/ 994492 h 1990949"/>
              <a:gd name="connsiteX12" fmla="*/ 292 w 2252531"/>
              <a:gd name="connsiteY12" fmla="*/ 995474 h 1990949"/>
              <a:gd name="connsiteX13" fmla="*/ 0 w 2252531"/>
              <a:gd name="connsiteY13" fmla="*/ 996457 h 1990949"/>
              <a:gd name="connsiteX14" fmla="*/ 583 w 2252531"/>
              <a:gd name="connsiteY14" fmla="*/ 996457 h 1990949"/>
              <a:gd name="connsiteX15" fmla="*/ 29721 w 2252531"/>
              <a:gd name="connsiteY15" fmla="*/ 1094632 h 1990949"/>
              <a:gd name="connsiteX16" fmla="*/ 1126265 w 2252531"/>
              <a:gd name="connsiteY16" fmla="*/ 1990949 h 199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52531" h="1990949">
                <a:moveTo>
                  <a:pt x="1126265" y="1990949"/>
                </a:moveTo>
                <a:cubicBezTo>
                  <a:pt x="1619206" y="1990949"/>
                  <a:pt x="2042147" y="1621360"/>
                  <a:pt x="2222809" y="1094632"/>
                </a:cubicBezTo>
                <a:lnTo>
                  <a:pt x="2251948" y="996457"/>
                </a:lnTo>
                <a:lnTo>
                  <a:pt x="2252531" y="996457"/>
                </a:lnTo>
                <a:lnTo>
                  <a:pt x="2252240" y="995474"/>
                </a:lnTo>
                <a:lnTo>
                  <a:pt x="2252531" y="994492"/>
                </a:lnTo>
                <a:lnTo>
                  <a:pt x="2251948" y="994492"/>
                </a:lnTo>
                <a:lnTo>
                  <a:pt x="2222809" y="896317"/>
                </a:lnTo>
                <a:cubicBezTo>
                  <a:pt x="2042147" y="369589"/>
                  <a:pt x="1619206" y="0"/>
                  <a:pt x="1126265" y="0"/>
                </a:cubicBezTo>
                <a:cubicBezTo>
                  <a:pt x="633324" y="0"/>
                  <a:pt x="210383" y="369589"/>
                  <a:pt x="29721" y="896317"/>
                </a:cubicBezTo>
                <a:lnTo>
                  <a:pt x="583" y="994492"/>
                </a:lnTo>
                <a:lnTo>
                  <a:pt x="0" y="994492"/>
                </a:lnTo>
                <a:lnTo>
                  <a:pt x="292" y="995474"/>
                </a:lnTo>
                <a:lnTo>
                  <a:pt x="0" y="996457"/>
                </a:lnTo>
                <a:lnTo>
                  <a:pt x="583" y="996457"/>
                </a:lnTo>
                <a:lnTo>
                  <a:pt x="29721" y="1094632"/>
                </a:lnTo>
                <a:cubicBezTo>
                  <a:pt x="210383" y="1621360"/>
                  <a:pt x="633324" y="1990949"/>
                  <a:pt x="1126265" y="1990949"/>
                </a:cubicBezTo>
                <a:close/>
              </a:path>
            </a:pathLst>
          </a:custGeom>
          <a:noFill/>
          <a:ln w="12700">
            <a:solidFill>
              <a:srgbClr val="B3D4FE"/>
            </a:solidFill>
            <a:prstDash val="dash"/>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65" name="紫荆的职场Point28"/>
          <p:cNvSpPr/>
          <p:nvPr/>
        </p:nvSpPr>
        <p:spPr>
          <a:xfrm>
            <a:off x="3233146" y="2404864"/>
            <a:ext cx="1741505" cy="1393304"/>
          </a:xfrm>
          <a:custGeom>
            <a:avLst/>
            <a:gdLst>
              <a:gd name="connsiteX0" fmla="*/ 870753 w 1741505"/>
              <a:gd name="connsiteY0" fmla="*/ 0 h 1393304"/>
              <a:gd name="connsiteX1" fmla="*/ 1725072 w 1741505"/>
              <a:gd name="connsiteY1" fmla="*/ 637943 h 1393304"/>
              <a:gd name="connsiteX2" fmla="*/ 1740994 w 1741505"/>
              <a:gd name="connsiteY2" fmla="*/ 695725 h 1393304"/>
              <a:gd name="connsiteX3" fmla="*/ 1741505 w 1741505"/>
              <a:gd name="connsiteY3" fmla="*/ 695725 h 1393304"/>
              <a:gd name="connsiteX4" fmla="*/ 1741250 w 1741505"/>
              <a:gd name="connsiteY4" fmla="*/ 696652 h 1393304"/>
              <a:gd name="connsiteX5" fmla="*/ 1741505 w 1741505"/>
              <a:gd name="connsiteY5" fmla="*/ 697579 h 1393304"/>
              <a:gd name="connsiteX6" fmla="*/ 1740994 w 1741505"/>
              <a:gd name="connsiteY6" fmla="*/ 697579 h 1393304"/>
              <a:gd name="connsiteX7" fmla="*/ 1725072 w 1741505"/>
              <a:gd name="connsiteY7" fmla="*/ 755362 h 1393304"/>
              <a:gd name="connsiteX8" fmla="*/ 870753 w 1741505"/>
              <a:gd name="connsiteY8" fmla="*/ 1393304 h 1393304"/>
              <a:gd name="connsiteX9" fmla="*/ 16433 w 1741505"/>
              <a:gd name="connsiteY9" fmla="*/ 755362 h 1393304"/>
              <a:gd name="connsiteX10" fmla="*/ 511 w 1741505"/>
              <a:gd name="connsiteY10" fmla="*/ 697579 h 1393304"/>
              <a:gd name="connsiteX11" fmla="*/ 0 w 1741505"/>
              <a:gd name="connsiteY11" fmla="*/ 697579 h 1393304"/>
              <a:gd name="connsiteX12" fmla="*/ 256 w 1741505"/>
              <a:gd name="connsiteY12" fmla="*/ 696652 h 1393304"/>
              <a:gd name="connsiteX13" fmla="*/ 0 w 1741505"/>
              <a:gd name="connsiteY13" fmla="*/ 695725 h 1393304"/>
              <a:gd name="connsiteX14" fmla="*/ 511 w 1741505"/>
              <a:gd name="connsiteY14" fmla="*/ 695725 h 1393304"/>
              <a:gd name="connsiteX15" fmla="*/ 16433 w 1741505"/>
              <a:gd name="connsiteY15" fmla="*/ 637943 h 1393304"/>
              <a:gd name="connsiteX16" fmla="*/ 870753 w 1741505"/>
              <a:gd name="connsiteY16" fmla="*/ 0 h 139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41505" h="1393304">
                <a:moveTo>
                  <a:pt x="870753" y="0"/>
                </a:moveTo>
                <a:cubicBezTo>
                  <a:pt x="1254805" y="0"/>
                  <a:pt x="1584319" y="263051"/>
                  <a:pt x="1725072" y="637943"/>
                </a:cubicBezTo>
                <a:lnTo>
                  <a:pt x="1740994" y="695725"/>
                </a:lnTo>
                <a:lnTo>
                  <a:pt x="1741505" y="695725"/>
                </a:lnTo>
                <a:lnTo>
                  <a:pt x="1741250" y="696652"/>
                </a:lnTo>
                <a:lnTo>
                  <a:pt x="1741505" y="697579"/>
                </a:lnTo>
                <a:lnTo>
                  <a:pt x="1740994" y="697579"/>
                </a:lnTo>
                <a:lnTo>
                  <a:pt x="1725072" y="755362"/>
                </a:lnTo>
                <a:cubicBezTo>
                  <a:pt x="1584319" y="1130253"/>
                  <a:pt x="1254805" y="1393304"/>
                  <a:pt x="870753" y="1393304"/>
                </a:cubicBezTo>
                <a:cubicBezTo>
                  <a:pt x="486701" y="1393304"/>
                  <a:pt x="157186" y="1130253"/>
                  <a:pt x="16433" y="755362"/>
                </a:cubicBezTo>
                <a:lnTo>
                  <a:pt x="511" y="697579"/>
                </a:lnTo>
                <a:lnTo>
                  <a:pt x="0" y="697579"/>
                </a:lnTo>
                <a:lnTo>
                  <a:pt x="256" y="696652"/>
                </a:lnTo>
                <a:lnTo>
                  <a:pt x="0" y="695725"/>
                </a:lnTo>
                <a:lnTo>
                  <a:pt x="511" y="695725"/>
                </a:lnTo>
                <a:lnTo>
                  <a:pt x="16433" y="637943"/>
                </a:lnTo>
                <a:cubicBezTo>
                  <a:pt x="157186" y="263051"/>
                  <a:pt x="486701" y="0"/>
                  <a:pt x="870753" y="0"/>
                </a:cubicBezTo>
                <a:close/>
              </a:path>
            </a:pathLst>
          </a:custGeom>
          <a:noFill/>
          <a:ln w="12700">
            <a:gradFill>
              <a:gsLst>
                <a:gs pos="0">
                  <a:srgbClr val="FFFFFF">
                    <a:alpha val="0"/>
                  </a:srgbClr>
                </a:gs>
                <a:gs pos="100000">
                  <a:srgbClr val="B3D4FE"/>
                </a:gs>
              </a:gsLst>
              <a:lin ang="0" scaled="0"/>
            </a:gradFill>
            <a:prstDash val="dash"/>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66" name="紫荆的职场Point29"/>
          <p:cNvSpPr/>
          <p:nvPr/>
        </p:nvSpPr>
        <p:spPr>
          <a:xfrm flipH="1">
            <a:off x="7225675" y="2404864"/>
            <a:ext cx="1741505" cy="1393304"/>
          </a:xfrm>
          <a:custGeom>
            <a:avLst/>
            <a:gdLst>
              <a:gd name="connsiteX0" fmla="*/ 870753 w 1741505"/>
              <a:gd name="connsiteY0" fmla="*/ 0 h 1393304"/>
              <a:gd name="connsiteX1" fmla="*/ 1725072 w 1741505"/>
              <a:gd name="connsiteY1" fmla="*/ 637943 h 1393304"/>
              <a:gd name="connsiteX2" fmla="*/ 1740994 w 1741505"/>
              <a:gd name="connsiteY2" fmla="*/ 695725 h 1393304"/>
              <a:gd name="connsiteX3" fmla="*/ 1741505 w 1741505"/>
              <a:gd name="connsiteY3" fmla="*/ 695725 h 1393304"/>
              <a:gd name="connsiteX4" fmla="*/ 1741250 w 1741505"/>
              <a:gd name="connsiteY4" fmla="*/ 696652 h 1393304"/>
              <a:gd name="connsiteX5" fmla="*/ 1741505 w 1741505"/>
              <a:gd name="connsiteY5" fmla="*/ 697579 h 1393304"/>
              <a:gd name="connsiteX6" fmla="*/ 1740994 w 1741505"/>
              <a:gd name="connsiteY6" fmla="*/ 697579 h 1393304"/>
              <a:gd name="connsiteX7" fmla="*/ 1725072 w 1741505"/>
              <a:gd name="connsiteY7" fmla="*/ 755362 h 1393304"/>
              <a:gd name="connsiteX8" fmla="*/ 870753 w 1741505"/>
              <a:gd name="connsiteY8" fmla="*/ 1393304 h 1393304"/>
              <a:gd name="connsiteX9" fmla="*/ 16433 w 1741505"/>
              <a:gd name="connsiteY9" fmla="*/ 755362 h 1393304"/>
              <a:gd name="connsiteX10" fmla="*/ 511 w 1741505"/>
              <a:gd name="connsiteY10" fmla="*/ 697579 h 1393304"/>
              <a:gd name="connsiteX11" fmla="*/ 0 w 1741505"/>
              <a:gd name="connsiteY11" fmla="*/ 697579 h 1393304"/>
              <a:gd name="connsiteX12" fmla="*/ 256 w 1741505"/>
              <a:gd name="connsiteY12" fmla="*/ 696652 h 1393304"/>
              <a:gd name="connsiteX13" fmla="*/ 0 w 1741505"/>
              <a:gd name="connsiteY13" fmla="*/ 695725 h 1393304"/>
              <a:gd name="connsiteX14" fmla="*/ 511 w 1741505"/>
              <a:gd name="connsiteY14" fmla="*/ 695725 h 1393304"/>
              <a:gd name="connsiteX15" fmla="*/ 16433 w 1741505"/>
              <a:gd name="connsiteY15" fmla="*/ 637943 h 1393304"/>
              <a:gd name="connsiteX16" fmla="*/ 870753 w 1741505"/>
              <a:gd name="connsiteY16" fmla="*/ 0 h 139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41505" h="1393304">
                <a:moveTo>
                  <a:pt x="870753" y="0"/>
                </a:moveTo>
                <a:cubicBezTo>
                  <a:pt x="1254805" y="0"/>
                  <a:pt x="1584319" y="263051"/>
                  <a:pt x="1725072" y="637943"/>
                </a:cubicBezTo>
                <a:lnTo>
                  <a:pt x="1740994" y="695725"/>
                </a:lnTo>
                <a:lnTo>
                  <a:pt x="1741505" y="695725"/>
                </a:lnTo>
                <a:lnTo>
                  <a:pt x="1741250" y="696652"/>
                </a:lnTo>
                <a:lnTo>
                  <a:pt x="1741505" y="697579"/>
                </a:lnTo>
                <a:lnTo>
                  <a:pt x="1740994" y="697579"/>
                </a:lnTo>
                <a:lnTo>
                  <a:pt x="1725072" y="755362"/>
                </a:lnTo>
                <a:cubicBezTo>
                  <a:pt x="1584319" y="1130253"/>
                  <a:pt x="1254805" y="1393304"/>
                  <a:pt x="870753" y="1393304"/>
                </a:cubicBezTo>
                <a:cubicBezTo>
                  <a:pt x="486701" y="1393304"/>
                  <a:pt x="157186" y="1130253"/>
                  <a:pt x="16433" y="755362"/>
                </a:cubicBezTo>
                <a:lnTo>
                  <a:pt x="511" y="697579"/>
                </a:lnTo>
                <a:lnTo>
                  <a:pt x="0" y="697579"/>
                </a:lnTo>
                <a:lnTo>
                  <a:pt x="256" y="696652"/>
                </a:lnTo>
                <a:lnTo>
                  <a:pt x="0" y="695725"/>
                </a:lnTo>
                <a:lnTo>
                  <a:pt x="511" y="695725"/>
                </a:lnTo>
                <a:lnTo>
                  <a:pt x="16433" y="637943"/>
                </a:lnTo>
                <a:cubicBezTo>
                  <a:pt x="157186" y="263051"/>
                  <a:pt x="486701" y="0"/>
                  <a:pt x="870753" y="0"/>
                </a:cubicBezTo>
                <a:close/>
              </a:path>
            </a:pathLst>
          </a:custGeom>
          <a:noFill/>
          <a:ln w="12700">
            <a:gradFill>
              <a:gsLst>
                <a:gs pos="0">
                  <a:srgbClr val="FFFFFF">
                    <a:alpha val="0"/>
                  </a:srgbClr>
                </a:gs>
                <a:gs pos="100000">
                  <a:srgbClr val="B3D4FE"/>
                </a:gs>
              </a:gsLst>
              <a:lin ang="0" scaled="0"/>
            </a:gradFill>
            <a:prstDash val="dash"/>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67" name="紫荆的职场Point30"/>
          <p:cNvSpPr/>
          <p:nvPr/>
        </p:nvSpPr>
        <p:spPr>
          <a:xfrm rot="16200000" flipH="1">
            <a:off x="6035235" y="2023893"/>
            <a:ext cx="72000" cy="104775"/>
          </a:xfrm>
          <a:prstGeom prst="triangle">
            <a:avLst/>
          </a:prstGeom>
          <a:solidFill>
            <a:srgbClr val="B3D4FE"/>
          </a:soli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a:solidFill>
                <a:prstClr val="white"/>
              </a:solidFill>
              <a:latin typeface="微软雅黑"/>
              <a:ea typeface="微软雅黑"/>
              <a:cs typeface="微软雅黑"/>
            </a:endParaRPr>
          </a:p>
        </p:txBody>
      </p:sp>
      <p:sp>
        <p:nvSpPr>
          <p:cNvPr id="271" name="紫荆的职场Point31"/>
          <p:cNvSpPr/>
          <p:nvPr/>
        </p:nvSpPr>
        <p:spPr>
          <a:xfrm rot="5400000">
            <a:off x="6071430" y="4015181"/>
            <a:ext cx="72000" cy="104775"/>
          </a:xfrm>
          <a:prstGeom prst="triangle">
            <a:avLst/>
          </a:prstGeom>
          <a:solidFill>
            <a:srgbClr val="B3D4FE"/>
          </a:soli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000">
              <a:solidFill>
                <a:prstClr val="white"/>
              </a:solidFill>
              <a:latin typeface="微软雅黑"/>
              <a:ea typeface="微软雅黑"/>
              <a:cs typeface="微软雅黑"/>
              <a:sym typeface="微软雅黑"/>
            </a:endParaRPr>
          </a:p>
        </p:txBody>
      </p:sp>
      <p:sp>
        <p:nvSpPr>
          <p:cNvPr id="274" name="紫荆的职场Point32"/>
          <p:cNvSpPr txBox="1"/>
          <p:nvPr/>
        </p:nvSpPr>
        <p:spPr>
          <a:xfrm>
            <a:off x="8469605" y="4597801"/>
            <a:ext cx="1107996"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强化品牌记忆</a:t>
            </a:r>
            <a:endParaRPr lang="zh-CN" altLang="en-US" sz="1200" b="1" dirty="0">
              <a:solidFill>
                <a:srgbClr val="FFFFFF"/>
              </a:solidFill>
              <a:latin typeface="微软雅黑"/>
              <a:ea typeface="微软雅黑"/>
              <a:cs typeface="微软雅黑"/>
            </a:endParaRPr>
          </a:p>
        </p:txBody>
      </p:sp>
      <p:sp>
        <p:nvSpPr>
          <p:cNvPr id="273" name="紫荆的职场Point33"/>
          <p:cNvSpPr txBox="1"/>
          <p:nvPr/>
        </p:nvSpPr>
        <p:spPr>
          <a:xfrm>
            <a:off x="3002854" y="1305117"/>
            <a:ext cx="800219" cy="276999"/>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营销触达</a:t>
            </a:r>
            <a:endParaRPr lang="zh-CN" altLang="en-US" sz="1200" b="1" dirty="0">
              <a:solidFill>
                <a:srgbClr val="FFFFFF"/>
              </a:solidFill>
              <a:latin typeface="微软雅黑"/>
              <a:ea typeface="微软雅黑"/>
              <a:cs typeface="微软雅黑"/>
            </a:endParaRPr>
          </a:p>
        </p:txBody>
      </p:sp>
      <p:sp>
        <p:nvSpPr>
          <p:cNvPr id="275" name="紫荆的职场Point34"/>
          <p:cNvSpPr/>
          <p:nvPr/>
        </p:nvSpPr>
        <p:spPr>
          <a:xfrm>
            <a:off x="444000" y="5478476"/>
            <a:ext cx="11304000" cy="196179"/>
          </a:xfrm>
          <a:prstGeom prst="trapezoid">
            <a:avLst>
              <a:gd name="adj" fmla="val 164557"/>
            </a:avLst>
          </a:prstGeom>
          <a:gradFill>
            <a:gsLst>
              <a:gs pos="0">
                <a:srgbClr val="3368FF">
                  <a:alpha val="0"/>
                </a:srgbClr>
              </a:gs>
              <a:gs pos="100000">
                <a:srgbClr val="3368FF">
                  <a:alpha val="50000"/>
                </a:srgbClr>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76" name="紫荆的职场Point35"/>
          <p:cNvSpPr/>
          <p:nvPr/>
        </p:nvSpPr>
        <p:spPr>
          <a:xfrm>
            <a:off x="444000" y="5666970"/>
            <a:ext cx="11304000" cy="922045"/>
          </a:xfrm>
          <a:prstGeom prst="rect">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287" name="紫荆的职场Point36-2"/>
          <p:cNvSpPr txBox="1"/>
          <p:nvPr/>
        </p:nvSpPr>
        <p:spPr>
          <a:xfrm>
            <a:off x="614045" y="5768340"/>
            <a:ext cx="2250440" cy="788035"/>
          </a:xfrm>
          <a:prstGeom prst="rect">
            <a:avLst/>
          </a:prstGeom>
          <a:noFill/>
        </p:spPr>
        <p:txBody>
          <a:bodyPr wrap="square">
            <a:spAutoFit/>
          </a:bodyPr>
          <a:lstStyle/>
          <a:p>
            <a:pPr algn="ctr">
              <a:lnSpc>
                <a:spcPct val="110000"/>
              </a:lnSpc>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确立项目目标、范围和初步计划，组建项目团队并进行风险评估</a:t>
            </a:r>
            <a:endParaRPr lang="zh-CN" altLang="en-US" sz="1400" dirty="0">
              <a:solidFill>
                <a:srgbClr val="FFFFFF"/>
              </a:solidFill>
              <a:latin typeface="微软雅黑"/>
              <a:ea typeface="微软雅黑"/>
              <a:cs typeface="微软雅黑"/>
            </a:endParaRPr>
          </a:p>
        </p:txBody>
      </p:sp>
      <p:sp>
        <p:nvSpPr>
          <p:cNvPr id="289" name="紫荆的职场Point37-2"/>
          <p:cNvSpPr txBox="1"/>
          <p:nvPr/>
        </p:nvSpPr>
        <p:spPr>
          <a:xfrm>
            <a:off x="3518535" y="5768340"/>
            <a:ext cx="2250440" cy="788035"/>
          </a:xfrm>
          <a:prstGeom prst="rect">
            <a:avLst/>
          </a:prstGeom>
          <a:noFill/>
        </p:spPr>
        <p:txBody>
          <a:bodyPr wrap="square">
            <a:spAutoFit/>
          </a:bodyPr>
          <a:lstStyle/>
          <a:p>
            <a:pPr algn="ctr">
              <a:lnSpc>
                <a:spcPct val="110000"/>
              </a:lnSpc>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详细制定项目计划，包括时间表、预算、资源分配和风险管理策略</a:t>
            </a:r>
            <a:endParaRPr lang="zh-CN" altLang="en-US" sz="1400" dirty="0">
              <a:solidFill>
                <a:srgbClr val="FFFFFF"/>
              </a:solidFill>
              <a:latin typeface="微软雅黑"/>
              <a:ea typeface="微软雅黑"/>
              <a:cs typeface="微软雅黑"/>
            </a:endParaRPr>
          </a:p>
        </p:txBody>
      </p:sp>
      <p:sp>
        <p:nvSpPr>
          <p:cNvPr id="290" name="紫荆的职场Point38-2"/>
          <p:cNvSpPr txBox="1"/>
          <p:nvPr/>
        </p:nvSpPr>
        <p:spPr>
          <a:xfrm>
            <a:off x="6423025" y="5768340"/>
            <a:ext cx="2249805" cy="788035"/>
          </a:xfrm>
          <a:prstGeom prst="rect">
            <a:avLst/>
          </a:prstGeom>
          <a:noFill/>
        </p:spPr>
        <p:txBody>
          <a:bodyPr wrap="square">
            <a:spAutoFit/>
          </a:bodyPr>
          <a:lstStyle/>
          <a:p>
            <a:pPr algn="ctr" hangingPunct="0">
              <a:lnSpc>
                <a:spcPct val="110000"/>
              </a:lnSpc>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按照项目计划执行任务，监控进度和质量，确保项目按计划推进</a:t>
            </a:r>
            <a:endParaRPr lang="zh-CN" altLang="en-US" sz="1400" dirty="0">
              <a:solidFill>
                <a:srgbClr val="FFFFFF"/>
              </a:solidFill>
              <a:latin typeface="微软雅黑"/>
              <a:ea typeface="微软雅黑"/>
              <a:cs typeface="微软雅黑"/>
            </a:endParaRPr>
          </a:p>
        </p:txBody>
      </p:sp>
      <p:sp>
        <p:nvSpPr>
          <p:cNvPr id="291" name="紫荆的职场Point39-2"/>
          <p:cNvSpPr txBox="1"/>
          <p:nvPr/>
        </p:nvSpPr>
        <p:spPr>
          <a:xfrm>
            <a:off x="9327515" y="5768340"/>
            <a:ext cx="2250440" cy="788035"/>
          </a:xfrm>
          <a:prstGeom prst="rect">
            <a:avLst/>
          </a:prstGeom>
          <a:noFill/>
        </p:spPr>
        <p:txBody>
          <a:bodyPr wrap="square">
            <a:spAutoFit/>
          </a:bodyPr>
          <a:lstStyle/>
          <a:p>
            <a:pPr algn="ctr">
              <a:lnSpc>
                <a:spcPct val="110000"/>
              </a:lnSpc>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完成项目工作，交付成果，进行项目评估，并正式结束项目</a:t>
            </a:r>
            <a:endParaRPr lang="zh-CN" altLang="en-US" sz="1400" dirty="0">
              <a:solidFill>
                <a:srgbClr val="FFFFFF"/>
              </a:solidFill>
              <a:latin typeface="微软雅黑"/>
              <a:ea typeface="微软雅黑"/>
              <a:cs typeface="微软雅黑"/>
            </a:endParaRPr>
          </a:p>
        </p:txBody>
      </p:sp>
      <p:grpSp>
        <p:nvGrpSpPr>
          <p:cNvPr id="59" name="组合 58"/>
          <p:cNvGrpSpPr/>
          <p:nvPr/>
        </p:nvGrpSpPr>
        <p:grpSpPr>
          <a:xfrm>
            <a:off x="3700780" y="4658938"/>
            <a:ext cx="224790" cy="133350"/>
            <a:chOff x="7059" y="7337"/>
            <a:chExt cx="354" cy="210"/>
          </a:xfrm>
        </p:grpSpPr>
        <p:sp>
          <p:nvSpPr>
            <p:cNvPr id="49" name="紫荆的职场Point9-13"/>
            <p:cNvSpPr/>
            <p:nvPr/>
          </p:nvSpPr>
          <p:spPr bwMode="auto">
            <a:xfrm flipH="1">
              <a:off x="7059"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7" name="紫荆的职场Point9-13"/>
            <p:cNvSpPr/>
            <p:nvPr/>
          </p:nvSpPr>
          <p:spPr bwMode="auto">
            <a:xfrm flipH="1">
              <a:off x="7166"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8" name="紫荆的职场Point9-13"/>
            <p:cNvSpPr/>
            <p:nvPr/>
          </p:nvSpPr>
          <p:spPr bwMode="auto">
            <a:xfrm flipH="1">
              <a:off x="7273"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61" name="组合 60"/>
          <p:cNvGrpSpPr/>
          <p:nvPr/>
        </p:nvGrpSpPr>
        <p:grpSpPr>
          <a:xfrm>
            <a:off x="5114925" y="4658938"/>
            <a:ext cx="224790" cy="133350"/>
            <a:chOff x="7059" y="7337"/>
            <a:chExt cx="354" cy="210"/>
          </a:xfrm>
        </p:grpSpPr>
        <p:sp>
          <p:nvSpPr>
            <p:cNvPr id="62" name="紫荆的职场Point9-13"/>
            <p:cNvSpPr/>
            <p:nvPr/>
          </p:nvSpPr>
          <p:spPr bwMode="auto">
            <a:xfrm flipH="1">
              <a:off x="7059"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64" name="紫荆的职场Point9-13"/>
            <p:cNvSpPr/>
            <p:nvPr/>
          </p:nvSpPr>
          <p:spPr bwMode="auto">
            <a:xfrm flipH="1">
              <a:off x="7166"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65" name="紫荆的职场Point9-13"/>
            <p:cNvSpPr/>
            <p:nvPr/>
          </p:nvSpPr>
          <p:spPr bwMode="auto">
            <a:xfrm flipH="1">
              <a:off x="7273"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66" name="组合 65"/>
          <p:cNvGrpSpPr/>
          <p:nvPr/>
        </p:nvGrpSpPr>
        <p:grpSpPr>
          <a:xfrm>
            <a:off x="6529070" y="4658938"/>
            <a:ext cx="224790" cy="133350"/>
            <a:chOff x="7059" y="7337"/>
            <a:chExt cx="354" cy="210"/>
          </a:xfrm>
        </p:grpSpPr>
        <p:sp>
          <p:nvSpPr>
            <p:cNvPr id="67" name="紫荆的职场Point9-13"/>
            <p:cNvSpPr/>
            <p:nvPr/>
          </p:nvSpPr>
          <p:spPr bwMode="auto">
            <a:xfrm flipH="1">
              <a:off x="7059"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1" name="紫荆的职场Point9-13"/>
            <p:cNvSpPr/>
            <p:nvPr/>
          </p:nvSpPr>
          <p:spPr bwMode="auto">
            <a:xfrm flipH="1">
              <a:off x="7166"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2" name="紫荆的职场Point9-13"/>
            <p:cNvSpPr/>
            <p:nvPr/>
          </p:nvSpPr>
          <p:spPr bwMode="auto">
            <a:xfrm flipH="1">
              <a:off x="7273" y="7337"/>
              <a:ext cx="141" cy="210"/>
            </a:xfrm>
            <a:custGeom>
              <a:avLst/>
              <a:gdLst>
                <a:gd name="T0" fmla="*/ 145 w 252"/>
                <a:gd name="T1" fmla="*/ 0 h 376"/>
                <a:gd name="T2" fmla="*/ 0 w 252"/>
                <a:gd name="T3" fmla="*/ 0 h 376"/>
                <a:gd name="T4" fmla="*/ 107 w 252"/>
                <a:gd name="T5" fmla="*/ 188 h 376"/>
                <a:gd name="T6" fmla="*/ 0 w 252"/>
                <a:gd name="T7" fmla="*/ 376 h 376"/>
                <a:gd name="T8" fmla="*/ 145 w 252"/>
                <a:gd name="T9" fmla="*/ 376 h 376"/>
                <a:gd name="T10" fmla="*/ 252 w 252"/>
                <a:gd name="T11" fmla="*/ 188 h 376"/>
                <a:gd name="T12" fmla="*/ 145 w 252"/>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252" h="376">
                  <a:moveTo>
                    <a:pt x="145" y="0"/>
                  </a:moveTo>
                  <a:lnTo>
                    <a:pt x="0" y="0"/>
                  </a:lnTo>
                  <a:lnTo>
                    <a:pt x="107" y="188"/>
                  </a:lnTo>
                  <a:lnTo>
                    <a:pt x="0" y="376"/>
                  </a:lnTo>
                  <a:lnTo>
                    <a:pt x="145" y="376"/>
                  </a:lnTo>
                  <a:lnTo>
                    <a:pt x="252" y="188"/>
                  </a:lnTo>
                  <a:lnTo>
                    <a:pt x="145" y="0"/>
                  </a:lnTo>
                  <a:close/>
                </a:path>
              </a:pathLst>
            </a:custGeom>
            <a:gradFill>
              <a:gsLst>
                <a:gs pos="0">
                  <a:srgbClr val="0042FF">
                    <a:alpha val="0"/>
                  </a:srgbClr>
                </a:gs>
                <a:gs pos="100000">
                  <a:srgbClr val="0042FF"/>
                </a:gs>
              </a:gsLst>
              <a:lin ang="0" scaled="0"/>
            </a:gradFill>
            <a:ln>
              <a:noFill/>
            </a:ln>
          </p:spPr>
          <p:txBody>
            <a:bodyPr vert="horz" wrap="none" lIns="0" tIns="0" rIns="0" bIns="0" numCol="1" anchor="t" anchorCtr="0" compatLnSpc="1">
              <a:noAutofit/>
            </a:bodyPr>
            <a:lstStyle/>
            <a:p>
              <a:pPr lvl="0" algn="l">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73" name="标题 2"/>
          <p:cNvSpPr>
            <a:spLocks noGrp="1"/>
          </p:cNvSpPr>
          <p:nvPr/>
        </p:nvSpPr>
        <p:spPr>
          <a:xfrm>
            <a:off x="1105535" y="5201285"/>
            <a:ext cx="1696720" cy="396875"/>
          </a:xfrm>
          <a:prstGeom prst="rect">
            <a:avLst/>
          </a:prstGeom>
          <a:ln w="12700">
            <a:miter lim="400000"/>
          </a:ln>
          <a:effectLst>
            <a:outerShdw blurRad="50800" dist="38100" dir="2700000" algn="tl" rotWithShape="0">
              <a:srgbClr val="DCDCDC">
                <a:alpha val="40000"/>
              </a:srgbClr>
            </a:outerShdw>
          </a:effectLst>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2500" dirty="0">
                <a:solidFill>
                  <a:srgbClr val="0042FF"/>
                </a:solidFill>
                <a:effectLst/>
                <a:latin typeface="微软雅黑"/>
                <a:ea typeface="微软雅黑"/>
                <a:cs typeface="微软雅黑"/>
              </a:rPr>
              <a:t>启动阶段</a:t>
            </a:r>
            <a:endParaRPr sz="2500" dirty="0">
              <a:solidFill>
                <a:srgbClr val="0042FF"/>
              </a:solidFill>
              <a:effectLst/>
              <a:latin typeface="微软雅黑"/>
              <a:ea typeface="微软雅黑"/>
              <a:cs typeface="微软雅黑"/>
            </a:endParaRPr>
          </a:p>
        </p:txBody>
      </p:sp>
      <p:sp>
        <p:nvSpPr>
          <p:cNvPr id="75" name="标题 2"/>
          <p:cNvSpPr>
            <a:spLocks noGrp="1"/>
          </p:cNvSpPr>
          <p:nvPr/>
        </p:nvSpPr>
        <p:spPr>
          <a:xfrm>
            <a:off x="3846195" y="5201285"/>
            <a:ext cx="1696720" cy="396875"/>
          </a:xfrm>
          <a:prstGeom prst="rect">
            <a:avLst/>
          </a:prstGeom>
          <a:ln w="12700">
            <a:miter lim="400000"/>
          </a:ln>
          <a:effectLst>
            <a:outerShdw blurRad="50800" dist="38100" dir="2700000" algn="tl" rotWithShape="0">
              <a:srgbClr val="DCDCDC">
                <a:alpha val="40000"/>
              </a:srgbClr>
            </a:outerShdw>
          </a:effectLst>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2500" dirty="0">
                <a:solidFill>
                  <a:srgbClr val="0042FF"/>
                </a:solidFill>
                <a:effectLst/>
                <a:latin typeface="微软雅黑"/>
                <a:ea typeface="微软雅黑"/>
                <a:cs typeface="微软雅黑"/>
              </a:rPr>
              <a:t>规划阶段</a:t>
            </a:r>
            <a:endParaRPr sz="2500" dirty="0">
              <a:solidFill>
                <a:srgbClr val="0042FF"/>
              </a:solidFill>
              <a:effectLst/>
              <a:latin typeface="微软雅黑"/>
              <a:ea typeface="微软雅黑"/>
              <a:cs typeface="微软雅黑"/>
            </a:endParaRPr>
          </a:p>
        </p:txBody>
      </p:sp>
      <p:sp>
        <p:nvSpPr>
          <p:cNvPr id="76" name="标题 2"/>
          <p:cNvSpPr>
            <a:spLocks noGrp="1"/>
          </p:cNvSpPr>
          <p:nvPr/>
        </p:nvSpPr>
        <p:spPr>
          <a:xfrm>
            <a:off x="6586855" y="5201285"/>
            <a:ext cx="1696720" cy="396875"/>
          </a:xfrm>
          <a:prstGeom prst="rect">
            <a:avLst/>
          </a:prstGeom>
          <a:ln w="12700">
            <a:miter lim="400000"/>
          </a:ln>
          <a:effectLst>
            <a:outerShdw blurRad="50800" dist="38100" dir="2700000" algn="tl" rotWithShape="0">
              <a:srgbClr val="DCDCDC">
                <a:alpha val="40000"/>
              </a:srgbClr>
            </a:outerShdw>
          </a:effectLst>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2500" dirty="0">
                <a:solidFill>
                  <a:srgbClr val="0042FF"/>
                </a:solidFill>
                <a:effectLst/>
                <a:latin typeface="微软雅黑"/>
                <a:ea typeface="微软雅黑"/>
                <a:cs typeface="微软雅黑"/>
              </a:rPr>
              <a:t>执行阶段</a:t>
            </a:r>
            <a:endParaRPr sz="2500" dirty="0">
              <a:solidFill>
                <a:srgbClr val="0042FF"/>
              </a:solidFill>
              <a:effectLst/>
              <a:latin typeface="微软雅黑"/>
              <a:ea typeface="微软雅黑"/>
              <a:cs typeface="微软雅黑"/>
            </a:endParaRPr>
          </a:p>
        </p:txBody>
      </p:sp>
      <p:sp>
        <p:nvSpPr>
          <p:cNvPr id="77" name="标题 2"/>
          <p:cNvSpPr>
            <a:spLocks noGrp="1"/>
          </p:cNvSpPr>
          <p:nvPr/>
        </p:nvSpPr>
        <p:spPr>
          <a:xfrm>
            <a:off x="9327515" y="5201285"/>
            <a:ext cx="1696720" cy="396875"/>
          </a:xfrm>
          <a:prstGeom prst="rect">
            <a:avLst/>
          </a:prstGeom>
          <a:ln w="12700">
            <a:miter lim="400000"/>
          </a:ln>
          <a:effectLst>
            <a:outerShdw blurRad="50800" dist="38100" dir="2700000" algn="tl" rotWithShape="0">
              <a:srgbClr val="DCDCDC">
                <a:alpha val="40000"/>
              </a:srgbClr>
            </a:outerShdw>
          </a:effectLst>
        </p:spPr>
        <p:txBody>
          <a:bodyPr vert="horz" wrap="square" lIns="25400" tIns="25400" rIns="25400" bIns="2540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2500" dirty="0">
                <a:solidFill>
                  <a:srgbClr val="0042FF"/>
                </a:solidFill>
                <a:effectLst/>
                <a:latin typeface="微软雅黑"/>
                <a:ea typeface="微软雅黑"/>
                <a:cs typeface="微软雅黑"/>
              </a:rPr>
              <a:t>收尾阶段</a:t>
            </a:r>
            <a:endParaRPr sz="2500" dirty="0">
              <a:solidFill>
                <a:srgbClr val="0042FF"/>
              </a:solidFill>
              <a:effectLst/>
              <a:latin typeface="微软雅黑"/>
              <a:ea typeface="微软雅黑"/>
              <a:cs typeface="微软雅黑"/>
            </a:endParaRPr>
          </a:p>
        </p:txBody>
      </p:sp>
      <p:sp>
        <p:nvSpPr>
          <p:cNvPr id="2" name="紫荆的职场Point23-2"/>
          <p:cNvSpPr txBox="1"/>
          <p:nvPr/>
        </p:nvSpPr>
        <p:spPr>
          <a:xfrm>
            <a:off x="5644595" y="2610497"/>
            <a:ext cx="902811" cy="292388"/>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b="1" i="0" u="none" strike="noStrike" kern="1200" cap="none" spc="0" normalizeH="0" baseline="0" noProof="0" dirty="0">
                <a:ln>
                  <a:noFill/>
                </a:ln>
                <a:solidFill>
                  <a:prstClr val="white"/>
                </a:solidFill>
                <a:effectLst/>
                <a:uLnTx/>
                <a:uFillTx/>
                <a:latin typeface="微软雅黑"/>
                <a:ea typeface="微软雅黑"/>
                <a:cs typeface="微软雅黑"/>
              </a:rPr>
              <a:t>设计策略</a:t>
            </a:r>
            <a:endParaRPr kumimoji="0" lang="zh-CN" altLang="en-US" sz="13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30" name="紫荆的职场Point19-2"/>
          <p:cNvSpPr txBox="1"/>
          <p:nvPr/>
        </p:nvSpPr>
        <p:spPr>
          <a:xfrm>
            <a:off x="1063739" y="2693503"/>
            <a:ext cx="607859" cy="245110"/>
          </a:xfrm>
          <a:prstGeom prst="rect">
            <a:avLst/>
          </a:prstGeom>
          <a:noFill/>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人设</a:t>
            </a:r>
            <a:endParaRPr lang="zh-CN" altLang="en-US" sz="1000">
              <a:solidFill>
                <a:srgbClr val="FFFFFF"/>
              </a:solidFill>
              <a:latin typeface="微软雅黑"/>
              <a:ea typeface="微软雅黑"/>
              <a:cs typeface="微软雅黑"/>
            </a:endParaRPr>
          </a:p>
        </p:txBody>
      </p:sp>
      <p:sp>
        <p:nvSpPr>
          <p:cNvPr id="31" name="紫荆的职场Point16-2"/>
          <p:cNvSpPr txBox="1"/>
          <p:nvPr/>
        </p:nvSpPr>
        <p:spPr>
          <a:xfrm>
            <a:off x="1369060" y="2209165"/>
            <a:ext cx="607695" cy="245110"/>
          </a:xfrm>
          <a:prstGeom prst="rect">
            <a:avLst/>
          </a:prstGeom>
          <a:noFill/>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形象</a:t>
            </a:r>
            <a:endParaRPr lang="zh-CN" altLang="en-US" sz="1000">
              <a:solidFill>
                <a:srgbClr val="FFFFFF"/>
              </a:solidFill>
              <a:latin typeface="微软雅黑"/>
              <a:ea typeface="微软雅黑"/>
              <a:cs typeface="微软雅黑"/>
            </a:endParaRPr>
          </a:p>
        </p:txBody>
      </p:sp>
      <p:sp>
        <p:nvSpPr>
          <p:cNvPr id="32" name="紫荆的职场Point18-2"/>
          <p:cNvSpPr txBox="1"/>
          <p:nvPr/>
        </p:nvSpPr>
        <p:spPr>
          <a:xfrm>
            <a:off x="1072629" y="3167748"/>
            <a:ext cx="607859" cy="245110"/>
          </a:xfrm>
          <a:prstGeom prst="rect">
            <a:avLst/>
          </a:prstGeom>
          <a:noFill/>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故事线</a:t>
            </a:r>
            <a:endParaRPr lang="zh-CN" altLang="en-US" sz="1000">
              <a:solidFill>
                <a:srgbClr val="FFFFFF"/>
              </a:solidFill>
              <a:latin typeface="微软雅黑"/>
              <a:ea typeface="微软雅黑"/>
              <a:cs typeface="微软雅黑"/>
            </a:endParaRPr>
          </a:p>
        </p:txBody>
      </p:sp>
      <p:sp>
        <p:nvSpPr>
          <p:cNvPr id="33" name="紫荆的职场Point17-2"/>
          <p:cNvSpPr txBox="1"/>
          <p:nvPr/>
        </p:nvSpPr>
        <p:spPr>
          <a:xfrm>
            <a:off x="1361916" y="3647074"/>
            <a:ext cx="607859" cy="245110"/>
          </a:xfrm>
          <a:prstGeom prst="rect">
            <a:avLst/>
          </a:prstGeom>
          <a:noFill/>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sz="1000">
                <a:solidFill>
                  <a:srgbClr val="FFFFFF"/>
                </a:solidFill>
                <a:latin typeface="微软雅黑"/>
                <a:ea typeface="微软雅黑"/>
                <a:cs typeface="微软雅黑"/>
              </a:rPr>
              <a:t>世界观</a:t>
            </a:r>
            <a:endParaRPr lang="zh-CN" altLang="en-US" sz="1000">
              <a:solidFill>
                <a:srgbClr val="FFFFFF"/>
              </a:solidFill>
              <a:latin typeface="微软雅黑"/>
              <a:ea typeface="微软雅黑"/>
              <a:cs typeface="微软雅黑"/>
            </a:endParaRPr>
          </a:p>
        </p:txBody>
      </p:sp>
      <p:grpSp>
        <p:nvGrpSpPr>
          <p:cNvPr id="38" name="紫荆的职场Point5"/>
          <p:cNvGrpSpPr/>
          <p:nvPr/>
        </p:nvGrpSpPr>
        <p:grpSpPr>
          <a:xfrm>
            <a:off x="7447320" y="2483763"/>
            <a:ext cx="1264000" cy="1264000"/>
            <a:chOff x="3476030" y="2636163"/>
            <a:chExt cx="1264000" cy="1264000"/>
          </a:xfrm>
        </p:grpSpPr>
        <p:sp>
          <p:nvSpPr>
            <p:cNvPr id="40" name="紫荆的职场Point5-1"/>
            <p:cNvSpPr/>
            <p:nvPr/>
          </p:nvSpPr>
          <p:spPr>
            <a:xfrm>
              <a:off x="3476030" y="2636163"/>
              <a:ext cx="1264000" cy="1264000"/>
            </a:xfrm>
            <a:prstGeom prst="ellipse">
              <a:avLst/>
            </a:prstGeom>
            <a:gradFill flip="none" rotWithShape="1">
              <a:gsLst>
                <a:gs pos="23000">
                  <a:srgbClr val="0042FF"/>
                </a:gs>
                <a:gs pos="100000">
                  <a:srgbClr val="3368FF"/>
                </a:gs>
              </a:gsLst>
              <a:path path="circle">
                <a:fillToRect r="100000" b="100000"/>
              </a:path>
              <a:tileRect l="-100000" t="-100000"/>
            </a:gradFill>
            <a:ln>
              <a:noFill/>
            </a:ln>
            <a:effectLst/>
            <a:scene3d>
              <a:camera prst="orthographicFront">
                <a:rot lat="0" lon="0" rev="0"/>
              </a:camera>
              <a:lightRig rig="contrasting" dir="t">
                <a:rot lat="0" lon="0" rev="7800000"/>
              </a:lightRig>
            </a:scene3d>
            <a:sp3d>
              <a:bevelT w="139700" h="139700"/>
            </a:sp3d>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6" name="紫荆的职场Point5-2"/>
            <p:cNvSpPr txBox="1"/>
            <p:nvPr/>
          </p:nvSpPr>
          <p:spPr>
            <a:xfrm>
              <a:off x="3660991" y="3114275"/>
              <a:ext cx="894080" cy="306705"/>
            </a:xfrm>
            <a:prstGeom prst="rect">
              <a:avLst/>
            </a:prstGeom>
            <a:noFill/>
          </p:spPr>
          <p:txBody>
            <a:bodyPr wrap="none" rtlCol="0">
              <a:spAutoFit/>
            </a:bodyP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广告传播</a:t>
              </a:r>
              <a:endParaRPr lang="zh-CN" altLang="en-US" sz="1400" b="1">
                <a:solidFill>
                  <a:srgbClr val="FFFFFF"/>
                </a:solidFill>
                <a:latin typeface="微软雅黑"/>
                <a:ea typeface="微软雅黑"/>
                <a:cs typeface="微软雅黑"/>
              </a:endParaRPr>
            </a:p>
          </p:txBody>
        </p:sp>
      </p:grpSp>
      <p:sp>
        <p:nvSpPr>
          <p:cNvPr id="47" name="紫荆的职场Point13-2"/>
          <p:cNvSpPr txBox="1"/>
          <p:nvPr/>
        </p:nvSpPr>
        <p:spPr>
          <a:xfrm>
            <a:off x="10246330" y="2208463"/>
            <a:ext cx="607859" cy="26161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100">
                <a:solidFill>
                  <a:srgbClr val="FFFFFF"/>
                </a:solidFill>
                <a:latin typeface="微软雅黑"/>
                <a:ea typeface="微软雅黑"/>
                <a:cs typeface="微软雅黑"/>
              </a:rPr>
              <a:t>参会者</a:t>
            </a:r>
            <a:endParaRPr lang="zh-CN" altLang="en-US" sz="1100">
              <a:solidFill>
                <a:srgbClr val="FFFFFF"/>
              </a:solidFill>
              <a:latin typeface="微软雅黑"/>
              <a:ea typeface="微软雅黑"/>
              <a:cs typeface="微软雅黑"/>
            </a:endParaRPr>
          </a:p>
        </p:txBody>
      </p:sp>
      <p:sp>
        <p:nvSpPr>
          <p:cNvPr id="48" name="紫荆的职场Point15-2"/>
          <p:cNvSpPr txBox="1"/>
          <p:nvPr/>
        </p:nvSpPr>
        <p:spPr>
          <a:xfrm>
            <a:off x="10523577" y="2923740"/>
            <a:ext cx="607859" cy="26161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100">
                <a:solidFill>
                  <a:srgbClr val="FFFFFF"/>
                </a:solidFill>
                <a:latin typeface="微软雅黑"/>
                <a:ea typeface="微软雅黑"/>
                <a:cs typeface="微软雅黑"/>
              </a:rPr>
              <a:t>从业者</a:t>
            </a:r>
            <a:endParaRPr lang="zh-CN" altLang="en-US" sz="1100">
              <a:solidFill>
                <a:srgbClr val="FFFFFF"/>
              </a:solidFill>
              <a:latin typeface="微软雅黑"/>
              <a:ea typeface="微软雅黑"/>
              <a:cs typeface="微软雅黑"/>
            </a:endParaRPr>
          </a:p>
        </p:txBody>
      </p:sp>
      <p:sp>
        <p:nvSpPr>
          <p:cNvPr id="56" name="紫荆的职场Point14-2"/>
          <p:cNvSpPr txBox="1"/>
          <p:nvPr/>
        </p:nvSpPr>
        <p:spPr>
          <a:xfrm>
            <a:off x="10228550" y="3647907"/>
            <a:ext cx="607859" cy="261610"/>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100">
                <a:solidFill>
                  <a:srgbClr val="FFFFFF"/>
                </a:solidFill>
                <a:latin typeface="微软雅黑"/>
                <a:ea typeface="微软雅黑"/>
                <a:cs typeface="微软雅黑"/>
              </a:rPr>
              <a:t>组织者</a:t>
            </a:r>
            <a:endParaRPr lang="zh-CN" altLang="en-US" sz="1100">
              <a:solidFill>
                <a:srgbClr val="FFFFFF"/>
              </a:solidFill>
              <a:latin typeface="微软雅黑"/>
              <a:ea typeface="微软雅黑"/>
              <a:cs typeface="微软雅黑"/>
            </a:endParaRPr>
          </a:p>
        </p:txBody>
      </p:sp>
      <p:cxnSp>
        <p:nvCxnSpPr>
          <p:cNvPr id="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60" name="组合 59"/>
          <p:cNvGrpSpPr/>
          <p:nvPr/>
        </p:nvGrpSpPr>
        <p:grpSpPr>
          <a:xfrm>
            <a:off x="8738235" y="348615"/>
            <a:ext cx="3219450" cy="332740"/>
            <a:chOff x="13761" y="549"/>
            <a:chExt cx="5070" cy="524"/>
          </a:xfrm>
        </p:grpSpPr>
        <p:pic>
          <p:nvPicPr>
            <p:cNvPr id="63" name="图片 62"/>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68" name="文本框 6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波特五力模型</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29" name="©天蝎PPT16"/>
          <p:cNvSpPr/>
          <p:nvPr>
            <p:custDataLst>
              <p:tags r:id="rId3"/>
            </p:custDataLst>
          </p:nvPr>
        </p:nvSpPr>
        <p:spPr>
          <a:xfrm>
            <a:off x="4994748"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6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4" y="127426"/>
                  <a:pt x="0" y="98939"/>
                  <a:pt x="0" y="63713"/>
                </a:cubicBezTo>
                <a:cubicBezTo>
                  <a:pt x="0" y="28487"/>
                  <a:pt x="28548" y="0"/>
                  <a:pt x="63848" y="0"/>
                </a:cubicBezTo>
                <a:lnTo>
                  <a:pt x="63848" y="0"/>
                </a:lnTo>
                <a:cubicBezTo>
                  <a:pt x="99082" y="0"/>
                  <a:pt x="127696" y="28487"/>
                  <a:pt x="127696" y="63713"/>
                </a:cubicBezTo>
                <a:cubicBezTo>
                  <a:pt x="127696" y="98939"/>
                  <a:pt x="99148"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0" name="©天蝎PPT17"/>
          <p:cNvSpPr/>
          <p:nvPr>
            <p:custDataLst>
              <p:tags r:id="rId4"/>
            </p:custDataLst>
          </p:nvPr>
        </p:nvSpPr>
        <p:spPr>
          <a:xfrm>
            <a:off x="5311916"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6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4" y="127426"/>
                  <a:pt x="0" y="98939"/>
                  <a:pt x="0" y="63713"/>
                </a:cubicBezTo>
                <a:cubicBezTo>
                  <a:pt x="0" y="28487"/>
                  <a:pt x="28548" y="0"/>
                  <a:pt x="63848" y="0"/>
                </a:cubicBezTo>
                <a:lnTo>
                  <a:pt x="63848" y="0"/>
                </a:lnTo>
                <a:cubicBezTo>
                  <a:pt x="99082" y="0"/>
                  <a:pt x="127696" y="28487"/>
                  <a:pt x="127696" y="63713"/>
                </a:cubicBezTo>
                <a:cubicBezTo>
                  <a:pt x="127696" y="98939"/>
                  <a:pt x="99148"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1" name="©天蝎PPT18"/>
          <p:cNvSpPr/>
          <p:nvPr>
            <p:custDataLst>
              <p:tags r:id="rId5"/>
            </p:custDataLst>
          </p:nvPr>
        </p:nvSpPr>
        <p:spPr>
          <a:xfrm>
            <a:off x="5629084"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6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4" y="127426"/>
                  <a:pt x="0" y="98939"/>
                  <a:pt x="0" y="63713"/>
                </a:cubicBezTo>
                <a:cubicBezTo>
                  <a:pt x="0" y="28487"/>
                  <a:pt x="28548" y="0"/>
                  <a:pt x="63848" y="0"/>
                </a:cubicBezTo>
                <a:lnTo>
                  <a:pt x="63848" y="0"/>
                </a:lnTo>
                <a:cubicBezTo>
                  <a:pt x="99081" y="0"/>
                  <a:pt x="127696" y="28487"/>
                  <a:pt x="127696" y="63713"/>
                </a:cubicBezTo>
                <a:cubicBezTo>
                  <a:pt x="127696" y="98939"/>
                  <a:pt x="99148"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2" name="©天蝎PPT19"/>
          <p:cNvSpPr/>
          <p:nvPr>
            <p:custDataLst>
              <p:tags r:id="rId6"/>
            </p:custDataLst>
          </p:nvPr>
        </p:nvSpPr>
        <p:spPr>
          <a:xfrm>
            <a:off x="5946319"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7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5" y="127426"/>
                  <a:pt x="0" y="98939"/>
                  <a:pt x="0" y="63713"/>
                </a:cubicBezTo>
                <a:cubicBezTo>
                  <a:pt x="0" y="28487"/>
                  <a:pt x="28548" y="0"/>
                  <a:pt x="63848" y="0"/>
                </a:cubicBezTo>
                <a:lnTo>
                  <a:pt x="63848" y="0"/>
                </a:lnTo>
                <a:cubicBezTo>
                  <a:pt x="99082" y="0"/>
                  <a:pt x="127697" y="28487"/>
                  <a:pt x="127697" y="63713"/>
                </a:cubicBezTo>
                <a:cubicBezTo>
                  <a:pt x="127697" y="98939"/>
                  <a:pt x="99149"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3" name="©天蝎PPT20"/>
          <p:cNvSpPr/>
          <p:nvPr>
            <p:custDataLst>
              <p:tags r:id="rId7"/>
            </p:custDataLst>
          </p:nvPr>
        </p:nvSpPr>
        <p:spPr>
          <a:xfrm>
            <a:off x="6263488"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7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5" y="127426"/>
                  <a:pt x="0" y="98939"/>
                  <a:pt x="0" y="63713"/>
                </a:cubicBezTo>
                <a:cubicBezTo>
                  <a:pt x="0" y="28487"/>
                  <a:pt x="28548" y="0"/>
                  <a:pt x="63848" y="0"/>
                </a:cubicBezTo>
                <a:lnTo>
                  <a:pt x="63848" y="0"/>
                </a:lnTo>
                <a:cubicBezTo>
                  <a:pt x="99082" y="0"/>
                  <a:pt x="127697" y="28487"/>
                  <a:pt x="127697" y="63713"/>
                </a:cubicBezTo>
                <a:cubicBezTo>
                  <a:pt x="127697" y="98939"/>
                  <a:pt x="99149"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4" name="©天蝎PPT21"/>
          <p:cNvSpPr/>
          <p:nvPr>
            <p:custDataLst>
              <p:tags r:id="rId8"/>
            </p:custDataLst>
          </p:nvPr>
        </p:nvSpPr>
        <p:spPr>
          <a:xfrm>
            <a:off x="6580656"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7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5" y="127426"/>
                  <a:pt x="0" y="98939"/>
                  <a:pt x="0" y="63713"/>
                </a:cubicBezTo>
                <a:cubicBezTo>
                  <a:pt x="0" y="28487"/>
                  <a:pt x="28548" y="0"/>
                  <a:pt x="63848" y="0"/>
                </a:cubicBezTo>
                <a:lnTo>
                  <a:pt x="63848" y="0"/>
                </a:lnTo>
                <a:cubicBezTo>
                  <a:pt x="99082" y="0"/>
                  <a:pt x="127697" y="28487"/>
                  <a:pt x="127697" y="63713"/>
                </a:cubicBezTo>
                <a:cubicBezTo>
                  <a:pt x="127697" y="98939"/>
                  <a:pt x="99149"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5" name="©天蝎PPT22"/>
          <p:cNvSpPr/>
          <p:nvPr>
            <p:custDataLst>
              <p:tags r:id="rId9"/>
            </p:custDataLst>
          </p:nvPr>
        </p:nvSpPr>
        <p:spPr>
          <a:xfrm>
            <a:off x="6897824"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7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5" y="127426"/>
                  <a:pt x="0" y="98939"/>
                  <a:pt x="0" y="63713"/>
                </a:cubicBezTo>
                <a:cubicBezTo>
                  <a:pt x="0" y="28487"/>
                  <a:pt x="28548" y="0"/>
                  <a:pt x="63848" y="0"/>
                </a:cubicBezTo>
                <a:lnTo>
                  <a:pt x="63848" y="0"/>
                </a:lnTo>
                <a:cubicBezTo>
                  <a:pt x="99082" y="0"/>
                  <a:pt x="127697" y="28487"/>
                  <a:pt x="127697" y="63713"/>
                </a:cubicBezTo>
                <a:cubicBezTo>
                  <a:pt x="127697" y="98939"/>
                  <a:pt x="99149"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6" name="©天蝎PPT23"/>
          <p:cNvSpPr/>
          <p:nvPr>
            <p:custDataLst>
              <p:tags r:id="rId10"/>
            </p:custDataLst>
          </p:nvPr>
        </p:nvSpPr>
        <p:spPr>
          <a:xfrm>
            <a:off x="7215059"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6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5" y="127426"/>
                  <a:pt x="0" y="98939"/>
                  <a:pt x="0" y="63713"/>
                </a:cubicBezTo>
                <a:cubicBezTo>
                  <a:pt x="0" y="28487"/>
                  <a:pt x="28548" y="0"/>
                  <a:pt x="63848" y="0"/>
                </a:cubicBezTo>
                <a:lnTo>
                  <a:pt x="63848" y="0"/>
                </a:lnTo>
                <a:cubicBezTo>
                  <a:pt x="99081" y="0"/>
                  <a:pt x="127696" y="28487"/>
                  <a:pt x="127696" y="63713"/>
                </a:cubicBezTo>
                <a:cubicBezTo>
                  <a:pt x="127696" y="98939"/>
                  <a:pt x="99148"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7" name="©天蝎PPT24"/>
          <p:cNvSpPr/>
          <p:nvPr>
            <p:custDataLst>
              <p:tags r:id="rId11"/>
            </p:custDataLst>
          </p:nvPr>
        </p:nvSpPr>
        <p:spPr>
          <a:xfrm>
            <a:off x="7532228"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6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4" y="127426"/>
                  <a:pt x="0" y="98939"/>
                  <a:pt x="0" y="63713"/>
                </a:cubicBezTo>
                <a:cubicBezTo>
                  <a:pt x="0" y="28487"/>
                  <a:pt x="28547" y="0"/>
                  <a:pt x="63848" y="0"/>
                </a:cubicBezTo>
                <a:lnTo>
                  <a:pt x="63848" y="0"/>
                </a:lnTo>
                <a:cubicBezTo>
                  <a:pt x="99081" y="0"/>
                  <a:pt x="127696" y="28487"/>
                  <a:pt x="127696" y="63713"/>
                </a:cubicBezTo>
                <a:cubicBezTo>
                  <a:pt x="127696" y="98939"/>
                  <a:pt x="99148"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8" name="©天蝎PPT25"/>
          <p:cNvSpPr/>
          <p:nvPr>
            <p:custDataLst>
              <p:tags r:id="rId12"/>
            </p:custDataLst>
          </p:nvPr>
        </p:nvSpPr>
        <p:spPr>
          <a:xfrm>
            <a:off x="7849396"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6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5" y="127426"/>
                  <a:pt x="0" y="98939"/>
                  <a:pt x="0" y="63713"/>
                </a:cubicBezTo>
                <a:cubicBezTo>
                  <a:pt x="0" y="28487"/>
                  <a:pt x="28548" y="0"/>
                  <a:pt x="63848" y="0"/>
                </a:cubicBezTo>
                <a:lnTo>
                  <a:pt x="63848" y="0"/>
                </a:lnTo>
                <a:cubicBezTo>
                  <a:pt x="99081" y="0"/>
                  <a:pt x="127696" y="28487"/>
                  <a:pt x="127696" y="63713"/>
                </a:cubicBezTo>
                <a:cubicBezTo>
                  <a:pt x="127696" y="98939"/>
                  <a:pt x="99148"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9" name="©天蝎PPT26"/>
          <p:cNvSpPr/>
          <p:nvPr>
            <p:custDataLst>
              <p:tags r:id="rId13"/>
            </p:custDataLst>
          </p:nvPr>
        </p:nvSpPr>
        <p:spPr>
          <a:xfrm>
            <a:off x="8166564" y="1675013"/>
            <a:ext cx="127696" cy="127425"/>
          </a:xfrm>
          <a:custGeom>
            <a:avLst/>
            <a:gdLst>
              <a:gd name="connsiteX0" fmla="*/ 63848 w 127696"/>
              <a:gd name="connsiteY0" fmla="*/ 127426 h 127425"/>
              <a:gd name="connsiteX1" fmla="*/ 63848 w 127696"/>
              <a:gd name="connsiteY1" fmla="*/ 127426 h 127425"/>
              <a:gd name="connsiteX2" fmla="*/ 0 w 127696"/>
              <a:gd name="connsiteY2" fmla="*/ 63713 h 127425"/>
              <a:gd name="connsiteX3" fmla="*/ 63848 w 127696"/>
              <a:gd name="connsiteY3" fmla="*/ 0 h 127425"/>
              <a:gd name="connsiteX4" fmla="*/ 63848 w 127696"/>
              <a:gd name="connsiteY4" fmla="*/ 0 h 127425"/>
              <a:gd name="connsiteX5" fmla="*/ 127697 w 127696"/>
              <a:gd name="connsiteY5" fmla="*/ 63713 h 127425"/>
              <a:gd name="connsiteX6" fmla="*/ 63848 w 127696"/>
              <a:gd name="connsiteY6" fmla="*/ 127426 h 1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5">
                <a:moveTo>
                  <a:pt x="63848" y="127426"/>
                </a:moveTo>
                <a:lnTo>
                  <a:pt x="63848" y="127426"/>
                </a:lnTo>
                <a:cubicBezTo>
                  <a:pt x="28615" y="127426"/>
                  <a:pt x="0" y="98939"/>
                  <a:pt x="0" y="63713"/>
                </a:cubicBezTo>
                <a:cubicBezTo>
                  <a:pt x="0" y="28487"/>
                  <a:pt x="28548" y="0"/>
                  <a:pt x="63848" y="0"/>
                </a:cubicBezTo>
                <a:lnTo>
                  <a:pt x="63848" y="0"/>
                </a:lnTo>
                <a:cubicBezTo>
                  <a:pt x="99082" y="0"/>
                  <a:pt x="127697" y="28487"/>
                  <a:pt x="127697" y="63713"/>
                </a:cubicBezTo>
                <a:cubicBezTo>
                  <a:pt x="127697" y="98939"/>
                  <a:pt x="99149" y="127426"/>
                  <a:pt x="63848" y="127426"/>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40" name="©天蝎PPT27"/>
          <p:cNvSpPr/>
          <p:nvPr>
            <p:custDataLst>
              <p:tags r:id="rId14"/>
            </p:custDataLst>
          </p:nvPr>
        </p:nvSpPr>
        <p:spPr>
          <a:xfrm>
            <a:off x="3801823"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6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4" y="127426"/>
                  <a:pt x="0" y="98939"/>
                  <a:pt x="0" y="63713"/>
                </a:cubicBezTo>
                <a:cubicBezTo>
                  <a:pt x="0" y="28488"/>
                  <a:pt x="28548" y="0"/>
                  <a:pt x="63848" y="0"/>
                </a:cubicBezTo>
                <a:lnTo>
                  <a:pt x="63848" y="0"/>
                </a:lnTo>
                <a:cubicBezTo>
                  <a:pt x="99081" y="0"/>
                  <a:pt x="127696" y="28488"/>
                  <a:pt x="127696" y="63713"/>
                </a:cubicBezTo>
                <a:cubicBezTo>
                  <a:pt x="127696" y="98939"/>
                  <a:pt x="99148"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1" name="©天蝎PPT28"/>
          <p:cNvSpPr/>
          <p:nvPr>
            <p:custDataLst>
              <p:tags r:id="rId15"/>
            </p:custDataLst>
          </p:nvPr>
        </p:nvSpPr>
        <p:spPr>
          <a:xfrm>
            <a:off x="4118992"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6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4" y="127426"/>
                  <a:pt x="0" y="98939"/>
                  <a:pt x="0" y="63713"/>
                </a:cubicBezTo>
                <a:cubicBezTo>
                  <a:pt x="0" y="28488"/>
                  <a:pt x="28548" y="0"/>
                  <a:pt x="63848" y="0"/>
                </a:cubicBezTo>
                <a:lnTo>
                  <a:pt x="63848" y="0"/>
                </a:lnTo>
                <a:cubicBezTo>
                  <a:pt x="99081" y="0"/>
                  <a:pt x="127696" y="28488"/>
                  <a:pt x="127696" y="63713"/>
                </a:cubicBezTo>
                <a:cubicBezTo>
                  <a:pt x="127696" y="98939"/>
                  <a:pt x="99148"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2" name="©天蝎PPT29"/>
          <p:cNvSpPr/>
          <p:nvPr>
            <p:custDataLst>
              <p:tags r:id="rId16"/>
            </p:custDataLst>
          </p:nvPr>
        </p:nvSpPr>
        <p:spPr>
          <a:xfrm>
            <a:off x="4436227"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7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5" y="127426"/>
                  <a:pt x="0" y="98939"/>
                  <a:pt x="0" y="63713"/>
                </a:cubicBezTo>
                <a:cubicBezTo>
                  <a:pt x="0" y="28488"/>
                  <a:pt x="28548" y="0"/>
                  <a:pt x="63848" y="0"/>
                </a:cubicBezTo>
                <a:lnTo>
                  <a:pt x="63848" y="0"/>
                </a:lnTo>
                <a:cubicBezTo>
                  <a:pt x="99082" y="0"/>
                  <a:pt x="127697" y="28488"/>
                  <a:pt x="127697" y="63713"/>
                </a:cubicBezTo>
                <a:cubicBezTo>
                  <a:pt x="127697"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3" name="©天蝎PPT30"/>
          <p:cNvSpPr/>
          <p:nvPr>
            <p:custDataLst>
              <p:tags r:id="rId17"/>
            </p:custDataLst>
          </p:nvPr>
        </p:nvSpPr>
        <p:spPr>
          <a:xfrm>
            <a:off x="4753395"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7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5" y="127426"/>
                  <a:pt x="0" y="98939"/>
                  <a:pt x="0" y="63713"/>
                </a:cubicBezTo>
                <a:cubicBezTo>
                  <a:pt x="0" y="28488"/>
                  <a:pt x="28548" y="0"/>
                  <a:pt x="63848" y="0"/>
                </a:cubicBezTo>
                <a:lnTo>
                  <a:pt x="63848" y="0"/>
                </a:lnTo>
                <a:cubicBezTo>
                  <a:pt x="99082" y="0"/>
                  <a:pt x="127697" y="28488"/>
                  <a:pt x="127697" y="63713"/>
                </a:cubicBezTo>
                <a:cubicBezTo>
                  <a:pt x="127697"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4" name="©天蝎PPT31"/>
          <p:cNvSpPr/>
          <p:nvPr>
            <p:custDataLst>
              <p:tags r:id="rId18"/>
            </p:custDataLst>
          </p:nvPr>
        </p:nvSpPr>
        <p:spPr>
          <a:xfrm>
            <a:off x="5070563"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7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5" y="127426"/>
                  <a:pt x="0" y="98939"/>
                  <a:pt x="0" y="63713"/>
                </a:cubicBezTo>
                <a:cubicBezTo>
                  <a:pt x="0" y="28488"/>
                  <a:pt x="28548" y="0"/>
                  <a:pt x="63848" y="0"/>
                </a:cubicBezTo>
                <a:lnTo>
                  <a:pt x="63848" y="0"/>
                </a:lnTo>
                <a:cubicBezTo>
                  <a:pt x="99082" y="0"/>
                  <a:pt x="127697" y="28488"/>
                  <a:pt x="127697" y="63713"/>
                </a:cubicBezTo>
                <a:cubicBezTo>
                  <a:pt x="127697"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5" name="©天蝎PPT32"/>
          <p:cNvSpPr/>
          <p:nvPr>
            <p:custDataLst>
              <p:tags r:id="rId19"/>
            </p:custDataLst>
          </p:nvPr>
        </p:nvSpPr>
        <p:spPr>
          <a:xfrm>
            <a:off x="5387731"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7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5" y="127426"/>
                  <a:pt x="0" y="98939"/>
                  <a:pt x="0" y="63713"/>
                </a:cubicBezTo>
                <a:cubicBezTo>
                  <a:pt x="0" y="28488"/>
                  <a:pt x="28548" y="0"/>
                  <a:pt x="63848" y="0"/>
                </a:cubicBezTo>
                <a:lnTo>
                  <a:pt x="63848" y="0"/>
                </a:lnTo>
                <a:cubicBezTo>
                  <a:pt x="99082" y="0"/>
                  <a:pt x="127697" y="28488"/>
                  <a:pt x="127697" y="63713"/>
                </a:cubicBezTo>
                <a:cubicBezTo>
                  <a:pt x="127697"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6" name="©天蝎PPT33"/>
          <p:cNvSpPr/>
          <p:nvPr>
            <p:custDataLst>
              <p:tags r:id="rId20"/>
            </p:custDataLst>
          </p:nvPr>
        </p:nvSpPr>
        <p:spPr>
          <a:xfrm>
            <a:off x="5704967"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6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5" y="127426"/>
                  <a:pt x="0" y="98939"/>
                  <a:pt x="0" y="63713"/>
                </a:cubicBezTo>
                <a:cubicBezTo>
                  <a:pt x="0" y="28488"/>
                  <a:pt x="28548" y="0"/>
                  <a:pt x="63848" y="0"/>
                </a:cubicBezTo>
                <a:lnTo>
                  <a:pt x="63848" y="0"/>
                </a:lnTo>
                <a:cubicBezTo>
                  <a:pt x="99082" y="0"/>
                  <a:pt x="127696" y="28488"/>
                  <a:pt x="127696" y="63713"/>
                </a:cubicBezTo>
                <a:cubicBezTo>
                  <a:pt x="127696"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7" name="©天蝎PPT34"/>
          <p:cNvSpPr/>
          <p:nvPr>
            <p:custDataLst>
              <p:tags r:id="rId21"/>
            </p:custDataLst>
          </p:nvPr>
        </p:nvSpPr>
        <p:spPr>
          <a:xfrm>
            <a:off x="6022135"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6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4" y="127426"/>
                  <a:pt x="0" y="98939"/>
                  <a:pt x="0" y="63713"/>
                </a:cubicBezTo>
                <a:cubicBezTo>
                  <a:pt x="0" y="28488"/>
                  <a:pt x="28548" y="0"/>
                  <a:pt x="63848" y="0"/>
                </a:cubicBezTo>
                <a:lnTo>
                  <a:pt x="63848" y="0"/>
                </a:lnTo>
                <a:cubicBezTo>
                  <a:pt x="99082" y="0"/>
                  <a:pt x="127696" y="28488"/>
                  <a:pt x="127696" y="63713"/>
                </a:cubicBezTo>
                <a:cubicBezTo>
                  <a:pt x="127696"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8" name="©天蝎PPT35"/>
          <p:cNvSpPr/>
          <p:nvPr>
            <p:custDataLst>
              <p:tags r:id="rId22"/>
            </p:custDataLst>
          </p:nvPr>
        </p:nvSpPr>
        <p:spPr>
          <a:xfrm>
            <a:off x="6339303"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6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4" y="127426"/>
                  <a:pt x="0" y="98939"/>
                  <a:pt x="0" y="63713"/>
                </a:cubicBezTo>
                <a:cubicBezTo>
                  <a:pt x="0" y="28488"/>
                  <a:pt x="28548" y="0"/>
                  <a:pt x="63848" y="0"/>
                </a:cubicBezTo>
                <a:lnTo>
                  <a:pt x="63848" y="0"/>
                </a:lnTo>
                <a:cubicBezTo>
                  <a:pt x="99082" y="0"/>
                  <a:pt x="127696" y="28488"/>
                  <a:pt x="127696" y="63713"/>
                </a:cubicBezTo>
                <a:cubicBezTo>
                  <a:pt x="127696"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9" name="©天蝎PPT36"/>
          <p:cNvSpPr/>
          <p:nvPr>
            <p:custDataLst>
              <p:tags r:id="rId23"/>
            </p:custDataLst>
          </p:nvPr>
        </p:nvSpPr>
        <p:spPr>
          <a:xfrm>
            <a:off x="6656472"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6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4" y="127426"/>
                  <a:pt x="0" y="98939"/>
                  <a:pt x="0" y="63713"/>
                </a:cubicBezTo>
                <a:cubicBezTo>
                  <a:pt x="0" y="28488"/>
                  <a:pt x="28548" y="0"/>
                  <a:pt x="63848" y="0"/>
                </a:cubicBezTo>
                <a:lnTo>
                  <a:pt x="63848" y="0"/>
                </a:lnTo>
                <a:cubicBezTo>
                  <a:pt x="99082" y="0"/>
                  <a:pt x="127696" y="28488"/>
                  <a:pt x="127696" y="63713"/>
                </a:cubicBezTo>
                <a:cubicBezTo>
                  <a:pt x="127696" y="98939"/>
                  <a:pt x="99149"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0" name="©天蝎PPT37"/>
          <p:cNvSpPr/>
          <p:nvPr>
            <p:custDataLst>
              <p:tags r:id="rId24"/>
            </p:custDataLst>
          </p:nvPr>
        </p:nvSpPr>
        <p:spPr>
          <a:xfrm>
            <a:off x="6973707" y="3936790"/>
            <a:ext cx="127696" cy="127426"/>
          </a:xfrm>
          <a:custGeom>
            <a:avLst/>
            <a:gdLst>
              <a:gd name="connsiteX0" fmla="*/ 63848 w 127696"/>
              <a:gd name="connsiteY0" fmla="*/ 127426 h 127426"/>
              <a:gd name="connsiteX1" fmla="*/ 63848 w 127696"/>
              <a:gd name="connsiteY1" fmla="*/ 127426 h 127426"/>
              <a:gd name="connsiteX2" fmla="*/ 0 w 127696"/>
              <a:gd name="connsiteY2" fmla="*/ 63713 h 127426"/>
              <a:gd name="connsiteX3" fmla="*/ 63848 w 127696"/>
              <a:gd name="connsiteY3" fmla="*/ 0 h 127426"/>
              <a:gd name="connsiteX4" fmla="*/ 63848 w 127696"/>
              <a:gd name="connsiteY4" fmla="*/ 0 h 127426"/>
              <a:gd name="connsiteX5" fmla="*/ 127696 w 127696"/>
              <a:gd name="connsiteY5" fmla="*/ 63713 h 127426"/>
              <a:gd name="connsiteX6" fmla="*/ 63848 w 127696"/>
              <a:gd name="connsiteY6" fmla="*/ 127426 h 12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6" h="127426">
                <a:moveTo>
                  <a:pt x="63848" y="127426"/>
                </a:moveTo>
                <a:lnTo>
                  <a:pt x="63848" y="127426"/>
                </a:lnTo>
                <a:cubicBezTo>
                  <a:pt x="28614" y="127426"/>
                  <a:pt x="0" y="98939"/>
                  <a:pt x="0" y="63713"/>
                </a:cubicBezTo>
                <a:cubicBezTo>
                  <a:pt x="0" y="28488"/>
                  <a:pt x="28548" y="0"/>
                  <a:pt x="63848" y="0"/>
                </a:cubicBezTo>
                <a:lnTo>
                  <a:pt x="63848" y="0"/>
                </a:lnTo>
                <a:cubicBezTo>
                  <a:pt x="99082" y="0"/>
                  <a:pt x="127696" y="28488"/>
                  <a:pt x="127696" y="63713"/>
                </a:cubicBezTo>
                <a:cubicBezTo>
                  <a:pt x="127696" y="98939"/>
                  <a:pt x="99148" y="127426"/>
                  <a:pt x="63848" y="127426"/>
                </a:cubicBezTo>
                <a:close/>
              </a:path>
            </a:pathLst>
          </a:custGeom>
          <a:solidFill>
            <a:srgbClr val="B3D4FE"/>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1" name="©天蝎PPT38"/>
          <p:cNvSpPr/>
          <p:nvPr>
            <p:custDataLst>
              <p:tags r:id="rId25"/>
            </p:custDataLst>
          </p:nvPr>
        </p:nvSpPr>
        <p:spPr>
          <a:xfrm>
            <a:off x="7371638" y="1639720"/>
            <a:ext cx="4475455" cy="2467393"/>
          </a:xfrm>
          <a:custGeom>
            <a:avLst/>
            <a:gdLst>
              <a:gd name="connsiteX0" fmla="*/ 3239141 w 4475455"/>
              <a:gd name="connsiteY0" fmla="*/ 2467261 h 2467393"/>
              <a:gd name="connsiteX1" fmla="*/ 106703 w 4475455"/>
              <a:gd name="connsiteY1" fmla="*/ 2467261 h 2467393"/>
              <a:gd name="connsiteX2" fmla="*/ 0 w 4475455"/>
              <a:gd name="connsiteY2" fmla="*/ 2360783 h 2467393"/>
              <a:gd name="connsiteX3" fmla="*/ 106703 w 4475455"/>
              <a:gd name="connsiteY3" fmla="*/ 2254306 h 2467393"/>
              <a:gd name="connsiteX4" fmla="*/ 3239141 w 4475455"/>
              <a:gd name="connsiteY4" fmla="*/ 2254306 h 2467393"/>
              <a:gd name="connsiteX5" fmla="*/ 4261982 w 4475455"/>
              <a:gd name="connsiteY5" fmla="*/ 1233630 h 2467393"/>
              <a:gd name="connsiteX6" fmla="*/ 3239141 w 4475455"/>
              <a:gd name="connsiteY6" fmla="*/ 212955 h 2467393"/>
              <a:gd name="connsiteX7" fmla="*/ 1548402 w 4475455"/>
              <a:gd name="connsiteY7" fmla="*/ 212955 h 2467393"/>
              <a:gd name="connsiteX8" fmla="*/ 1441699 w 4475455"/>
              <a:gd name="connsiteY8" fmla="*/ 106477 h 2467393"/>
              <a:gd name="connsiteX9" fmla="*/ 1548402 w 4475455"/>
              <a:gd name="connsiteY9" fmla="*/ 0 h 2467393"/>
              <a:gd name="connsiteX10" fmla="*/ 3239141 w 4475455"/>
              <a:gd name="connsiteY10" fmla="*/ 0 h 2467393"/>
              <a:gd name="connsiteX11" fmla="*/ 4475456 w 4475455"/>
              <a:gd name="connsiteY11" fmla="*/ 1233697 h 2467393"/>
              <a:gd name="connsiteX12" fmla="*/ 3239141 w 4475455"/>
              <a:gd name="connsiteY12" fmla="*/ 2467394 h 246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455" h="2467393">
                <a:moveTo>
                  <a:pt x="3239141" y="2467261"/>
                </a:moveTo>
                <a:lnTo>
                  <a:pt x="106703" y="2467261"/>
                </a:lnTo>
                <a:cubicBezTo>
                  <a:pt x="47736" y="2467261"/>
                  <a:pt x="0" y="2419559"/>
                  <a:pt x="0" y="2360783"/>
                </a:cubicBezTo>
                <a:cubicBezTo>
                  <a:pt x="0" y="2302007"/>
                  <a:pt x="47802" y="2254306"/>
                  <a:pt x="106703" y="2254306"/>
                </a:cubicBezTo>
                <a:lnTo>
                  <a:pt x="3239141" y="2254306"/>
                </a:lnTo>
                <a:cubicBezTo>
                  <a:pt x="3803145" y="2254306"/>
                  <a:pt x="4261982" y="1796440"/>
                  <a:pt x="4261982" y="1233630"/>
                </a:cubicBezTo>
                <a:cubicBezTo>
                  <a:pt x="4261982" y="670821"/>
                  <a:pt x="3803145" y="212955"/>
                  <a:pt x="3239141" y="212955"/>
                </a:cubicBezTo>
                <a:lnTo>
                  <a:pt x="1548402" y="212955"/>
                </a:lnTo>
                <a:cubicBezTo>
                  <a:pt x="1489434" y="212955"/>
                  <a:pt x="1441699" y="165253"/>
                  <a:pt x="1441699" y="106477"/>
                </a:cubicBezTo>
                <a:cubicBezTo>
                  <a:pt x="1441699" y="47701"/>
                  <a:pt x="1489500" y="0"/>
                  <a:pt x="1548402" y="0"/>
                </a:cubicBezTo>
                <a:lnTo>
                  <a:pt x="3239141" y="0"/>
                </a:lnTo>
                <a:cubicBezTo>
                  <a:pt x="3920812" y="0"/>
                  <a:pt x="4475456" y="553402"/>
                  <a:pt x="4475456" y="1233697"/>
                </a:cubicBezTo>
                <a:cubicBezTo>
                  <a:pt x="4475456" y="1913925"/>
                  <a:pt x="3920879" y="2467394"/>
                  <a:pt x="3239141" y="2467394"/>
                </a:cubicBezTo>
                <a:close/>
              </a:path>
            </a:pathLst>
          </a:custGeom>
          <a:gradFill>
            <a:gsLst>
              <a:gs pos="0">
                <a:srgbClr val="3368FF"/>
              </a:gs>
              <a:gs pos="100000">
                <a:srgbClr val="0042FF"/>
              </a:gs>
            </a:gsLst>
            <a:lin ang="16200000" scaled="0"/>
          </a:gradFill>
          <a:ln>
            <a:noFill/>
          </a:ln>
          <a:effectLst>
            <a:outerShdw blurRad="127000" dist="38100" dir="2700000" sx="102000" sy="102000" algn="tl"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52" name="©天蝎PPT39"/>
          <p:cNvSpPr/>
          <p:nvPr>
            <p:custDataLst>
              <p:tags r:id="rId26"/>
            </p:custDataLst>
          </p:nvPr>
        </p:nvSpPr>
        <p:spPr>
          <a:xfrm>
            <a:off x="2303430" y="2873350"/>
            <a:ext cx="761832" cy="6671"/>
          </a:xfrm>
          <a:custGeom>
            <a:avLst/>
            <a:gdLst>
              <a:gd name="connsiteX0" fmla="*/ 0 w 761832"/>
              <a:gd name="connsiteY0" fmla="*/ 0 h 6671"/>
              <a:gd name="connsiteX1" fmla="*/ 761832 w 761832"/>
              <a:gd name="connsiteY1" fmla="*/ 0 h 6671"/>
            </a:gdLst>
            <a:ahLst/>
            <a:cxnLst>
              <a:cxn ang="0">
                <a:pos x="connsiteX0" y="connsiteY0"/>
              </a:cxn>
              <a:cxn ang="0">
                <a:pos x="connsiteX1" y="connsiteY1"/>
              </a:cxn>
            </a:cxnLst>
            <a:rect l="l" t="t" r="r" b="b"/>
            <a:pathLst>
              <a:path w="761832" h="6671">
                <a:moveTo>
                  <a:pt x="0" y="0"/>
                </a:moveTo>
                <a:lnTo>
                  <a:pt x="761832"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3" name="©天蝎PPT40"/>
          <p:cNvSpPr/>
          <p:nvPr>
            <p:custDataLst>
              <p:tags r:id="rId27"/>
            </p:custDataLst>
          </p:nvPr>
        </p:nvSpPr>
        <p:spPr>
          <a:xfrm>
            <a:off x="4524277" y="2873350"/>
            <a:ext cx="761832" cy="6671"/>
          </a:xfrm>
          <a:custGeom>
            <a:avLst/>
            <a:gdLst>
              <a:gd name="connsiteX0" fmla="*/ 0 w 761832"/>
              <a:gd name="connsiteY0" fmla="*/ 0 h 6671"/>
              <a:gd name="connsiteX1" fmla="*/ 761832 w 761832"/>
              <a:gd name="connsiteY1" fmla="*/ 0 h 6671"/>
            </a:gdLst>
            <a:ahLst/>
            <a:cxnLst>
              <a:cxn ang="0">
                <a:pos x="connsiteX0" y="connsiteY0"/>
              </a:cxn>
              <a:cxn ang="0">
                <a:pos x="connsiteX1" y="connsiteY1"/>
              </a:cxn>
            </a:cxnLst>
            <a:rect l="l" t="t" r="r" b="b"/>
            <a:pathLst>
              <a:path w="761832" h="6671">
                <a:moveTo>
                  <a:pt x="0" y="0"/>
                </a:moveTo>
                <a:lnTo>
                  <a:pt x="761832" y="0"/>
                </a:lnTo>
              </a:path>
            </a:pathLst>
          </a:custGeom>
          <a:ln w="15875" cap="flat">
            <a:solidFill>
              <a:srgbClr val="DCDCDC"/>
            </a:solidFill>
            <a:prstDash val="dash"/>
            <a:miter/>
          </a:ln>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4" name="©天蝎PPT41"/>
          <p:cNvSpPr/>
          <p:nvPr>
            <p:custDataLst>
              <p:tags r:id="rId28"/>
            </p:custDataLst>
          </p:nvPr>
        </p:nvSpPr>
        <p:spPr>
          <a:xfrm>
            <a:off x="6754952" y="2873350"/>
            <a:ext cx="761899" cy="6671"/>
          </a:xfrm>
          <a:custGeom>
            <a:avLst/>
            <a:gdLst>
              <a:gd name="connsiteX0" fmla="*/ 0 w 761899"/>
              <a:gd name="connsiteY0" fmla="*/ 0 h 6671"/>
              <a:gd name="connsiteX1" fmla="*/ 761899 w 761899"/>
              <a:gd name="connsiteY1" fmla="*/ 0 h 6671"/>
            </a:gdLst>
            <a:ahLst/>
            <a:cxnLst>
              <a:cxn ang="0">
                <a:pos x="connsiteX0" y="connsiteY0"/>
              </a:cxn>
              <a:cxn ang="0">
                <a:pos x="connsiteX1" y="connsiteY1"/>
              </a:cxn>
            </a:cxnLst>
            <a:rect l="l" t="t" r="r" b="b"/>
            <a:pathLst>
              <a:path w="761899" h="6671">
                <a:moveTo>
                  <a:pt x="0" y="0"/>
                </a:moveTo>
                <a:lnTo>
                  <a:pt x="761899" y="0"/>
                </a:lnTo>
              </a:path>
            </a:pathLst>
          </a:custGeom>
          <a:ln w="15875" cap="flat">
            <a:solidFill>
              <a:srgbClr val="DCDCDC"/>
            </a:solidFill>
            <a:prstDash val="dash"/>
            <a:miter/>
          </a:ln>
        </p:spPr>
        <p:txBody>
          <a:bodyPr rot="0" spcFirstLastPara="0" vertOverflow="overflow" horzOverflow="overflow" vert="horz" wrap="square" lIns="0" tIns="0" rIns="0" bIns="0" numCol="1" spcCol="0" rtlCol="0" fromWordArt="0" anchor="ctr" anchorCtr="0" forceAA="0" compatLnSpc="1">
            <a:noAutofit/>
          </a:bodyPr>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55" name="©天蝎PPT42"/>
          <p:cNvSpPr/>
          <p:nvPr>
            <p:custDataLst>
              <p:tags r:id="rId29"/>
            </p:custDataLst>
          </p:nvPr>
        </p:nvSpPr>
        <p:spPr>
          <a:xfrm>
            <a:off x="8974528" y="2873350"/>
            <a:ext cx="761899" cy="6671"/>
          </a:xfrm>
          <a:custGeom>
            <a:avLst/>
            <a:gdLst>
              <a:gd name="connsiteX0" fmla="*/ 0 w 761899"/>
              <a:gd name="connsiteY0" fmla="*/ 0 h 6671"/>
              <a:gd name="connsiteX1" fmla="*/ 761899 w 761899"/>
              <a:gd name="connsiteY1" fmla="*/ 0 h 6671"/>
            </a:gdLst>
            <a:ahLst/>
            <a:cxnLst>
              <a:cxn ang="0">
                <a:pos x="connsiteX0" y="connsiteY0"/>
              </a:cxn>
              <a:cxn ang="0">
                <a:pos x="connsiteX1" y="connsiteY1"/>
              </a:cxn>
            </a:cxnLst>
            <a:rect l="l" t="t" r="r" b="b"/>
            <a:pathLst>
              <a:path w="761899" h="6671">
                <a:moveTo>
                  <a:pt x="0" y="0"/>
                </a:moveTo>
                <a:lnTo>
                  <a:pt x="761899" y="0"/>
                </a:lnTo>
              </a:path>
            </a:pathLst>
          </a:custGeom>
          <a:ln w="15875" cap="flat">
            <a:solidFill>
              <a:srgbClr val="DCDCDC"/>
            </a:solidFill>
            <a:prstDash val="dash"/>
            <a:miter/>
          </a:ln>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6" name="©天蝎PPT43"/>
          <p:cNvSpPr/>
          <p:nvPr>
            <p:custDataLst>
              <p:tags r:id="rId30"/>
            </p:custDataLst>
          </p:nvPr>
        </p:nvSpPr>
        <p:spPr>
          <a:xfrm>
            <a:off x="8623184" y="1424619"/>
            <a:ext cx="351344" cy="628261"/>
          </a:xfrm>
          <a:custGeom>
            <a:avLst/>
            <a:gdLst>
              <a:gd name="connsiteX0" fmla="*/ 351344 w 351344"/>
              <a:gd name="connsiteY0" fmla="*/ 20627 h 628261"/>
              <a:gd name="connsiteX1" fmla="*/ 351344 w 351344"/>
              <a:gd name="connsiteY1" fmla="*/ 607654 h 628261"/>
              <a:gd name="connsiteX2" fmla="*/ 315308 w 351344"/>
              <a:gd name="connsiteY2" fmla="*/ 622197 h 628261"/>
              <a:gd name="connsiteX3" fmla="*/ 7500 w 351344"/>
              <a:gd name="connsiteY3" fmla="*/ 322446 h 628261"/>
              <a:gd name="connsiteX4" fmla="*/ 8101 w 351344"/>
              <a:gd name="connsiteY4" fmla="*/ 286553 h 628261"/>
              <a:gd name="connsiteX5" fmla="*/ 315776 w 351344"/>
              <a:gd name="connsiteY5" fmla="*/ 5616 h 628261"/>
              <a:gd name="connsiteX6" fmla="*/ 351344 w 351344"/>
              <a:gd name="connsiteY6" fmla="*/ 20627 h 6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344" h="628261">
                <a:moveTo>
                  <a:pt x="351344" y="20627"/>
                </a:moveTo>
                <a:lnTo>
                  <a:pt x="351344" y="607654"/>
                </a:lnTo>
                <a:cubicBezTo>
                  <a:pt x="351344" y="626000"/>
                  <a:pt x="328613" y="635140"/>
                  <a:pt x="315308" y="622197"/>
                </a:cubicBezTo>
                <a:lnTo>
                  <a:pt x="7500" y="322446"/>
                </a:lnTo>
                <a:cubicBezTo>
                  <a:pt x="-2729" y="312439"/>
                  <a:pt x="-2462" y="296227"/>
                  <a:pt x="8101" y="286553"/>
                </a:cubicBezTo>
                <a:lnTo>
                  <a:pt x="315776" y="5616"/>
                </a:lnTo>
                <a:cubicBezTo>
                  <a:pt x="329281" y="-6726"/>
                  <a:pt x="351344" y="2614"/>
                  <a:pt x="351344" y="20627"/>
                </a:cubicBezTo>
                <a:close/>
              </a:path>
            </a:pathLst>
          </a:custGeom>
          <a:solidFill>
            <a:srgbClr val="0042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7" name="©天蝎PPT44"/>
          <p:cNvSpPr/>
          <p:nvPr>
            <p:custDataLst>
              <p:tags r:id="rId31"/>
            </p:custDataLst>
          </p:nvPr>
        </p:nvSpPr>
        <p:spPr>
          <a:xfrm>
            <a:off x="3180256" y="3686415"/>
            <a:ext cx="351343" cy="628261"/>
          </a:xfrm>
          <a:custGeom>
            <a:avLst/>
            <a:gdLst>
              <a:gd name="connsiteX0" fmla="*/ 0 w 351343"/>
              <a:gd name="connsiteY0" fmla="*/ 607635 h 628261"/>
              <a:gd name="connsiteX1" fmla="*/ 0 w 351343"/>
              <a:gd name="connsiteY1" fmla="*/ 20608 h 628261"/>
              <a:gd name="connsiteX2" fmla="*/ 36036 w 351343"/>
              <a:gd name="connsiteY2" fmla="*/ 6064 h 628261"/>
              <a:gd name="connsiteX3" fmla="*/ 343844 w 351343"/>
              <a:gd name="connsiteY3" fmla="*/ 305815 h 628261"/>
              <a:gd name="connsiteX4" fmla="*/ 343242 w 351343"/>
              <a:gd name="connsiteY4" fmla="*/ 341708 h 628261"/>
              <a:gd name="connsiteX5" fmla="*/ 35568 w 351343"/>
              <a:gd name="connsiteY5" fmla="*/ 622646 h 628261"/>
              <a:gd name="connsiteX6" fmla="*/ 0 w 351343"/>
              <a:gd name="connsiteY6" fmla="*/ 607635 h 6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343" h="628261">
                <a:moveTo>
                  <a:pt x="0" y="607635"/>
                </a:moveTo>
                <a:lnTo>
                  <a:pt x="0" y="20608"/>
                </a:lnTo>
                <a:cubicBezTo>
                  <a:pt x="0" y="2261"/>
                  <a:pt x="22731" y="-6879"/>
                  <a:pt x="36036" y="6064"/>
                </a:cubicBezTo>
                <a:lnTo>
                  <a:pt x="343844" y="305815"/>
                </a:lnTo>
                <a:cubicBezTo>
                  <a:pt x="354073" y="315822"/>
                  <a:pt x="353806" y="332034"/>
                  <a:pt x="343242" y="341708"/>
                </a:cubicBezTo>
                <a:lnTo>
                  <a:pt x="35568" y="622646"/>
                </a:lnTo>
                <a:cubicBezTo>
                  <a:pt x="22063" y="634988"/>
                  <a:pt x="0" y="625648"/>
                  <a:pt x="0" y="607635"/>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8" name="©天蝎PPT45"/>
          <p:cNvSpPr/>
          <p:nvPr>
            <p:custDataLst>
              <p:tags r:id="rId32"/>
            </p:custDataLst>
          </p:nvPr>
        </p:nvSpPr>
        <p:spPr>
          <a:xfrm>
            <a:off x="2620855" y="2788678"/>
            <a:ext cx="94665" cy="169277"/>
          </a:xfrm>
          <a:custGeom>
            <a:avLst/>
            <a:gdLst>
              <a:gd name="connsiteX0" fmla="*/ 0 w 351343"/>
              <a:gd name="connsiteY0" fmla="*/ 607635 h 628261"/>
              <a:gd name="connsiteX1" fmla="*/ 0 w 351343"/>
              <a:gd name="connsiteY1" fmla="*/ 20608 h 628261"/>
              <a:gd name="connsiteX2" fmla="*/ 36036 w 351343"/>
              <a:gd name="connsiteY2" fmla="*/ 6064 h 628261"/>
              <a:gd name="connsiteX3" fmla="*/ 343844 w 351343"/>
              <a:gd name="connsiteY3" fmla="*/ 305815 h 628261"/>
              <a:gd name="connsiteX4" fmla="*/ 343242 w 351343"/>
              <a:gd name="connsiteY4" fmla="*/ 341708 h 628261"/>
              <a:gd name="connsiteX5" fmla="*/ 35568 w 351343"/>
              <a:gd name="connsiteY5" fmla="*/ 622646 h 628261"/>
              <a:gd name="connsiteX6" fmla="*/ 0 w 351343"/>
              <a:gd name="connsiteY6" fmla="*/ 607635 h 6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343" h="628261">
                <a:moveTo>
                  <a:pt x="0" y="607635"/>
                </a:moveTo>
                <a:lnTo>
                  <a:pt x="0" y="20608"/>
                </a:lnTo>
                <a:cubicBezTo>
                  <a:pt x="0" y="2261"/>
                  <a:pt x="22731" y="-6879"/>
                  <a:pt x="36036" y="6064"/>
                </a:cubicBezTo>
                <a:lnTo>
                  <a:pt x="343844" y="305815"/>
                </a:lnTo>
                <a:cubicBezTo>
                  <a:pt x="354073" y="315822"/>
                  <a:pt x="353806" y="332034"/>
                  <a:pt x="343242" y="341708"/>
                </a:cubicBezTo>
                <a:lnTo>
                  <a:pt x="35568" y="622646"/>
                </a:lnTo>
                <a:cubicBezTo>
                  <a:pt x="22063" y="634988"/>
                  <a:pt x="0" y="625648"/>
                  <a:pt x="0" y="607635"/>
                </a:cubicBezTo>
                <a:close/>
              </a:path>
            </a:pathLst>
          </a:custGeom>
          <a:solidFill>
            <a:srgbClr val="DCDCDC"/>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4" name="©天蝎PPT51"/>
          <p:cNvSpPr/>
          <p:nvPr>
            <p:custDataLst>
              <p:tags r:id="rId33"/>
            </p:custDataLst>
          </p:nvPr>
        </p:nvSpPr>
        <p:spPr>
          <a:xfrm>
            <a:off x="4849751" y="2788678"/>
            <a:ext cx="94665" cy="169277"/>
          </a:xfrm>
          <a:custGeom>
            <a:avLst/>
            <a:gdLst>
              <a:gd name="connsiteX0" fmla="*/ 0 w 351343"/>
              <a:gd name="connsiteY0" fmla="*/ 607635 h 628261"/>
              <a:gd name="connsiteX1" fmla="*/ 0 w 351343"/>
              <a:gd name="connsiteY1" fmla="*/ 20608 h 628261"/>
              <a:gd name="connsiteX2" fmla="*/ 36036 w 351343"/>
              <a:gd name="connsiteY2" fmla="*/ 6064 h 628261"/>
              <a:gd name="connsiteX3" fmla="*/ 343844 w 351343"/>
              <a:gd name="connsiteY3" fmla="*/ 305815 h 628261"/>
              <a:gd name="connsiteX4" fmla="*/ 343242 w 351343"/>
              <a:gd name="connsiteY4" fmla="*/ 341708 h 628261"/>
              <a:gd name="connsiteX5" fmla="*/ 35568 w 351343"/>
              <a:gd name="connsiteY5" fmla="*/ 622646 h 628261"/>
              <a:gd name="connsiteX6" fmla="*/ 0 w 351343"/>
              <a:gd name="connsiteY6" fmla="*/ 607635 h 6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343" h="628261">
                <a:moveTo>
                  <a:pt x="0" y="607635"/>
                </a:moveTo>
                <a:lnTo>
                  <a:pt x="0" y="20608"/>
                </a:lnTo>
                <a:cubicBezTo>
                  <a:pt x="0" y="2261"/>
                  <a:pt x="22731" y="-6879"/>
                  <a:pt x="36036" y="6064"/>
                </a:cubicBezTo>
                <a:lnTo>
                  <a:pt x="343844" y="305815"/>
                </a:lnTo>
                <a:cubicBezTo>
                  <a:pt x="354073" y="315822"/>
                  <a:pt x="353806" y="332034"/>
                  <a:pt x="343242" y="341708"/>
                </a:cubicBezTo>
                <a:lnTo>
                  <a:pt x="35568" y="622646"/>
                </a:lnTo>
                <a:cubicBezTo>
                  <a:pt x="22063" y="634988"/>
                  <a:pt x="0" y="625648"/>
                  <a:pt x="0" y="607635"/>
                </a:cubicBezTo>
                <a:close/>
              </a:path>
            </a:pathLst>
          </a:custGeom>
          <a:solidFill>
            <a:srgbClr val="DCDCDC"/>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5" name="©天蝎PPT52"/>
          <p:cNvSpPr/>
          <p:nvPr>
            <p:custDataLst>
              <p:tags r:id="rId34"/>
            </p:custDataLst>
          </p:nvPr>
        </p:nvSpPr>
        <p:spPr>
          <a:xfrm>
            <a:off x="7092503" y="2788678"/>
            <a:ext cx="94665" cy="169277"/>
          </a:xfrm>
          <a:custGeom>
            <a:avLst/>
            <a:gdLst>
              <a:gd name="connsiteX0" fmla="*/ 0 w 351343"/>
              <a:gd name="connsiteY0" fmla="*/ 607635 h 628261"/>
              <a:gd name="connsiteX1" fmla="*/ 0 w 351343"/>
              <a:gd name="connsiteY1" fmla="*/ 20608 h 628261"/>
              <a:gd name="connsiteX2" fmla="*/ 36036 w 351343"/>
              <a:gd name="connsiteY2" fmla="*/ 6064 h 628261"/>
              <a:gd name="connsiteX3" fmla="*/ 343844 w 351343"/>
              <a:gd name="connsiteY3" fmla="*/ 305815 h 628261"/>
              <a:gd name="connsiteX4" fmla="*/ 343242 w 351343"/>
              <a:gd name="connsiteY4" fmla="*/ 341708 h 628261"/>
              <a:gd name="connsiteX5" fmla="*/ 35568 w 351343"/>
              <a:gd name="connsiteY5" fmla="*/ 622646 h 628261"/>
              <a:gd name="connsiteX6" fmla="*/ 0 w 351343"/>
              <a:gd name="connsiteY6" fmla="*/ 607635 h 6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343" h="628261">
                <a:moveTo>
                  <a:pt x="0" y="607635"/>
                </a:moveTo>
                <a:lnTo>
                  <a:pt x="0" y="20608"/>
                </a:lnTo>
                <a:cubicBezTo>
                  <a:pt x="0" y="2261"/>
                  <a:pt x="22731" y="-6879"/>
                  <a:pt x="36036" y="6064"/>
                </a:cubicBezTo>
                <a:lnTo>
                  <a:pt x="343844" y="305815"/>
                </a:lnTo>
                <a:cubicBezTo>
                  <a:pt x="354073" y="315822"/>
                  <a:pt x="353806" y="332034"/>
                  <a:pt x="343242" y="341708"/>
                </a:cubicBezTo>
                <a:lnTo>
                  <a:pt x="35568" y="622646"/>
                </a:lnTo>
                <a:cubicBezTo>
                  <a:pt x="22063" y="634988"/>
                  <a:pt x="0" y="625648"/>
                  <a:pt x="0" y="607635"/>
                </a:cubicBezTo>
                <a:close/>
              </a:path>
            </a:pathLst>
          </a:custGeom>
          <a:solidFill>
            <a:srgbClr val="DCDCDC"/>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6" name="©天蝎PPT53"/>
          <p:cNvSpPr/>
          <p:nvPr>
            <p:custDataLst>
              <p:tags r:id="rId35"/>
            </p:custDataLst>
          </p:nvPr>
        </p:nvSpPr>
        <p:spPr>
          <a:xfrm>
            <a:off x="9341432" y="2788678"/>
            <a:ext cx="94665" cy="169277"/>
          </a:xfrm>
          <a:custGeom>
            <a:avLst/>
            <a:gdLst>
              <a:gd name="connsiteX0" fmla="*/ 0 w 351343"/>
              <a:gd name="connsiteY0" fmla="*/ 607635 h 628261"/>
              <a:gd name="connsiteX1" fmla="*/ 0 w 351343"/>
              <a:gd name="connsiteY1" fmla="*/ 20608 h 628261"/>
              <a:gd name="connsiteX2" fmla="*/ 36036 w 351343"/>
              <a:gd name="connsiteY2" fmla="*/ 6064 h 628261"/>
              <a:gd name="connsiteX3" fmla="*/ 343844 w 351343"/>
              <a:gd name="connsiteY3" fmla="*/ 305815 h 628261"/>
              <a:gd name="connsiteX4" fmla="*/ 343242 w 351343"/>
              <a:gd name="connsiteY4" fmla="*/ 341708 h 628261"/>
              <a:gd name="connsiteX5" fmla="*/ 35568 w 351343"/>
              <a:gd name="connsiteY5" fmla="*/ 622646 h 628261"/>
              <a:gd name="connsiteX6" fmla="*/ 0 w 351343"/>
              <a:gd name="connsiteY6" fmla="*/ 607635 h 6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343" h="628261">
                <a:moveTo>
                  <a:pt x="0" y="607635"/>
                </a:moveTo>
                <a:lnTo>
                  <a:pt x="0" y="20608"/>
                </a:lnTo>
                <a:cubicBezTo>
                  <a:pt x="0" y="2261"/>
                  <a:pt x="22731" y="-6879"/>
                  <a:pt x="36036" y="6064"/>
                </a:cubicBezTo>
                <a:lnTo>
                  <a:pt x="343844" y="305815"/>
                </a:lnTo>
                <a:cubicBezTo>
                  <a:pt x="354073" y="315822"/>
                  <a:pt x="353806" y="332034"/>
                  <a:pt x="343242" y="341708"/>
                </a:cubicBezTo>
                <a:lnTo>
                  <a:pt x="35568" y="622646"/>
                </a:lnTo>
                <a:cubicBezTo>
                  <a:pt x="22063" y="634988"/>
                  <a:pt x="0" y="625648"/>
                  <a:pt x="0" y="607635"/>
                </a:cubicBezTo>
                <a:close/>
              </a:path>
            </a:pathLst>
          </a:custGeom>
          <a:solidFill>
            <a:srgbClr val="DCDCDC"/>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7" name="©天蝎PPT54"/>
          <p:cNvSpPr txBox="1"/>
          <p:nvPr>
            <p:custDataLst>
              <p:tags r:id="rId36"/>
            </p:custDataLst>
          </p:nvPr>
        </p:nvSpPr>
        <p:spPr>
          <a:xfrm>
            <a:off x="860442" y="4649235"/>
            <a:ext cx="1338828"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b="1" dirty="0">
                <a:solidFill>
                  <a:srgbClr val="0042FF"/>
                </a:solidFill>
                <a:latin typeface="微软雅黑"/>
                <a:ea typeface="微软雅黑"/>
                <a:cs typeface="微软雅黑"/>
                <a:sym typeface="微软雅黑"/>
              </a:rPr>
              <a:t>供应商地位</a:t>
            </a:r>
            <a:endParaRPr kumimoji="0" lang="zh-CN" altLang="en-US" b="1"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68" name="©天蝎PPT55"/>
          <p:cNvSpPr txBox="1"/>
          <p:nvPr>
            <p:custDataLst>
              <p:tags r:id="rId37"/>
            </p:custDataLst>
          </p:nvPr>
        </p:nvSpPr>
        <p:spPr>
          <a:xfrm>
            <a:off x="568489" y="5041609"/>
            <a:ext cx="1930324" cy="967957"/>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供方通过提高投入价格与降低单位价值质量的能力，来影响行业中现有企业盈利能力与产品竞争力</a:t>
            </a:r>
            <a:endParaRPr lang="zh-CN" altLang="en-US" dirty="0">
              <a:solidFill>
                <a:srgbClr val="383838"/>
              </a:solidFill>
              <a:latin typeface="微软雅黑"/>
              <a:ea typeface="微软雅黑"/>
              <a:cs typeface="微软雅黑"/>
              <a:sym typeface="微软雅黑"/>
            </a:endParaRPr>
          </a:p>
        </p:txBody>
      </p:sp>
      <p:sp>
        <p:nvSpPr>
          <p:cNvPr id="169" name="©天蝎PPT56"/>
          <p:cNvSpPr txBox="1"/>
          <p:nvPr>
            <p:custDataLst>
              <p:tags r:id="rId38"/>
            </p:custDataLst>
          </p:nvPr>
        </p:nvSpPr>
        <p:spPr>
          <a:xfrm>
            <a:off x="3178726" y="4649235"/>
            <a:ext cx="1107996"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b="1" dirty="0">
                <a:solidFill>
                  <a:srgbClr val="0042FF"/>
                </a:solidFill>
                <a:latin typeface="微软雅黑"/>
                <a:ea typeface="微软雅黑"/>
                <a:cs typeface="微软雅黑"/>
                <a:sym typeface="微软雅黑"/>
              </a:rPr>
              <a:t>客户地位</a:t>
            </a:r>
            <a:endParaRPr kumimoji="0" lang="zh-CN" altLang="en-US" b="1"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70" name="©天蝎PPT57"/>
          <p:cNvSpPr txBox="1"/>
          <p:nvPr>
            <p:custDataLst>
              <p:tags r:id="rId39"/>
            </p:custDataLst>
          </p:nvPr>
        </p:nvSpPr>
        <p:spPr>
          <a:xfrm>
            <a:off x="2747298" y="5029577"/>
            <a:ext cx="1930324" cy="968022"/>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购买者主要通过压价与要求提供较高的产品或服务质量来影响行业中现有企业的盈利能力</a:t>
            </a:r>
            <a:endParaRPr lang="zh-CN" altLang="en-US" dirty="0">
              <a:solidFill>
                <a:srgbClr val="383838"/>
              </a:solidFill>
              <a:latin typeface="微软雅黑"/>
              <a:ea typeface="微软雅黑"/>
              <a:cs typeface="微软雅黑"/>
              <a:sym typeface="微软雅黑"/>
            </a:endParaRPr>
          </a:p>
        </p:txBody>
      </p:sp>
      <p:sp>
        <p:nvSpPr>
          <p:cNvPr id="171" name="©天蝎PPT58"/>
          <p:cNvSpPr txBox="1"/>
          <p:nvPr>
            <p:custDataLst>
              <p:tags r:id="rId40"/>
            </p:custDataLst>
          </p:nvPr>
        </p:nvSpPr>
        <p:spPr>
          <a:xfrm>
            <a:off x="5437017" y="4649235"/>
            <a:ext cx="1107996"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b="1" dirty="0">
                <a:solidFill>
                  <a:srgbClr val="0042FF"/>
                </a:solidFill>
                <a:latin typeface="微软雅黑"/>
                <a:ea typeface="微软雅黑"/>
                <a:cs typeface="微软雅黑"/>
                <a:sym typeface="微软雅黑"/>
              </a:rPr>
              <a:t>行业地位</a:t>
            </a:r>
            <a:endParaRPr kumimoji="0" lang="zh-CN" altLang="en-US" b="1"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72" name="©天蝎PPT59"/>
          <p:cNvSpPr txBox="1"/>
          <p:nvPr>
            <p:custDataLst>
              <p:tags r:id="rId41"/>
            </p:custDataLst>
          </p:nvPr>
        </p:nvSpPr>
        <p:spPr>
          <a:xfrm>
            <a:off x="5005589" y="5017545"/>
            <a:ext cx="1930324" cy="967957"/>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进入障碍低，退出障碍高竞争对手多，市场趋于成熟</a:t>
            </a:r>
            <a:r>
              <a:rPr lang="en-US" altLang="zh-CN" dirty="0">
                <a:solidFill>
                  <a:srgbClr val="383838"/>
                </a:solidFill>
                <a:latin typeface="微软雅黑"/>
                <a:ea typeface="微软雅黑"/>
                <a:cs typeface="微软雅黑"/>
                <a:sym typeface="微软雅黑"/>
              </a:rPr>
              <a:t>(</a:t>
            </a:r>
            <a:r>
              <a:rPr lang="zh-CN" altLang="en-US" dirty="0">
                <a:solidFill>
                  <a:srgbClr val="383838"/>
                </a:solidFill>
                <a:latin typeface="微软雅黑"/>
                <a:ea typeface="微软雅黑"/>
                <a:cs typeface="微软雅黑"/>
                <a:sym typeface="微软雅黑"/>
              </a:rPr>
              <a:t>竞争常表现在价格、厂服务等方面</a:t>
            </a:r>
            <a:r>
              <a:rPr lang="en-US" altLang="zh-CN" dirty="0">
                <a:solidFill>
                  <a:srgbClr val="383838"/>
                </a:solidFill>
                <a:latin typeface="微软雅黑"/>
                <a:ea typeface="微软雅黑"/>
                <a:cs typeface="微软雅黑"/>
                <a:sym typeface="微软雅黑"/>
              </a:rPr>
              <a:t>)</a:t>
            </a:r>
            <a:r>
              <a:rPr lang="zh-CN" altLang="en-US" dirty="0">
                <a:solidFill>
                  <a:srgbClr val="383838"/>
                </a:solidFill>
                <a:latin typeface="微软雅黑"/>
                <a:ea typeface="微软雅黑"/>
                <a:cs typeface="微软雅黑"/>
                <a:sym typeface="微软雅黑"/>
              </a:rPr>
              <a:t>告、产品介绍</a:t>
            </a:r>
            <a:endParaRPr lang="zh-CN" altLang="en-US" dirty="0">
              <a:solidFill>
                <a:srgbClr val="383838"/>
              </a:solidFill>
              <a:latin typeface="微软雅黑"/>
              <a:ea typeface="微软雅黑"/>
              <a:cs typeface="微软雅黑"/>
              <a:sym typeface="微软雅黑"/>
            </a:endParaRPr>
          </a:p>
        </p:txBody>
      </p:sp>
      <p:sp>
        <p:nvSpPr>
          <p:cNvPr id="173" name="©天蝎PPT60"/>
          <p:cNvSpPr txBox="1"/>
          <p:nvPr>
            <p:custDataLst>
              <p:tags r:id="rId42"/>
            </p:custDataLst>
          </p:nvPr>
        </p:nvSpPr>
        <p:spPr>
          <a:xfrm>
            <a:off x="7750726" y="4649235"/>
            <a:ext cx="1107996"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b="1" dirty="0">
                <a:solidFill>
                  <a:srgbClr val="0042FF"/>
                </a:solidFill>
                <a:latin typeface="微软雅黑"/>
                <a:ea typeface="微软雅黑"/>
                <a:cs typeface="微软雅黑"/>
                <a:sym typeface="微软雅黑"/>
              </a:rPr>
              <a:t>替代威胁</a:t>
            </a:r>
            <a:endParaRPr kumimoji="0" lang="zh-CN" altLang="en-US" b="1"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74" name="©天蝎PPT61"/>
          <p:cNvSpPr txBox="1"/>
          <p:nvPr>
            <p:custDataLst>
              <p:tags r:id="rId43"/>
            </p:custDataLst>
          </p:nvPr>
        </p:nvSpPr>
        <p:spPr>
          <a:xfrm>
            <a:off x="7319298" y="5041609"/>
            <a:ext cx="2022134" cy="746423"/>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替代品价格越低、质量越好、用户转换成本越低，其所能产生的竞争压力就强</a:t>
            </a:r>
            <a:endParaRPr lang="zh-CN" altLang="en-US" dirty="0">
              <a:solidFill>
                <a:srgbClr val="383838"/>
              </a:solidFill>
              <a:latin typeface="微软雅黑"/>
              <a:ea typeface="微软雅黑"/>
              <a:cs typeface="微软雅黑"/>
              <a:sym typeface="微软雅黑"/>
            </a:endParaRPr>
          </a:p>
        </p:txBody>
      </p:sp>
      <p:sp>
        <p:nvSpPr>
          <p:cNvPr id="175" name="©天蝎PPT62"/>
          <p:cNvSpPr txBox="1"/>
          <p:nvPr>
            <p:custDataLst>
              <p:tags r:id="rId44"/>
            </p:custDataLst>
          </p:nvPr>
        </p:nvSpPr>
        <p:spPr>
          <a:xfrm>
            <a:off x="10009020" y="4649235"/>
            <a:ext cx="1107996"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b="1" dirty="0">
                <a:solidFill>
                  <a:srgbClr val="0042FF"/>
                </a:solidFill>
                <a:latin typeface="微软雅黑"/>
                <a:ea typeface="微软雅黑"/>
                <a:cs typeface="微软雅黑"/>
                <a:sym typeface="微软雅黑"/>
              </a:rPr>
              <a:t>进入障碍</a:t>
            </a:r>
            <a:endParaRPr kumimoji="0" lang="zh-CN" altLang="en-US" b="1"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76" name="©天蝎PPT63"/>
          <p:cNvSpPr txBox="1"/>
          <p:nvPr>
            <p:custDataLst>
              <p:tags r:id="rId45"/>
            </p:custDataLst>
          </p:nvPr>
        </p:nvSpPr>
        <p:spPr>
          <a:xfrm>
            <a:off x="9577589" y="5041609"/>
            <a:ext cx="1930324" cy="1189556"/>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新进入者在给行业带来新的生产力，导致与现有企业发生市场份额竞争，最终使行业中现有企业盈利水平降低</a:t>
            </a:r>
            <a:endParaRPr lang="zh-CN" altLang="en-US" dirty="0">
              <a:solidFill>
                <a:srgbClr val="383838"/>
              </a:solidFill>
              <a:latin typeface="微软雅黑"/>
              <a:ea typeface="微软雅黑"/>
              <a:cs typeface="微软雅黑"/>
              <a:sym typeface="微软雅黑"/>
            </a:endParaRPr>
          </a:p>
        </p:txBody>
      </p:sp>
      <p:pic>
        <p:nvPicPr>
          <p:cNvPr id="180" name="©天蝎PPT67"/>
          <p:cNvPicPr>
            <a:picLocks noChangeAspect="1"/>
          </p:cNvPicPr>
          <p:nvPr>
            <p:custDataLst>
              <p:tags r:id="rId46"/>
            </p:custDataLst>
          </p:nvPr>
        </p:nvPicPr>
        <p:blipFill>
          <a:blip r:embed="rId47" cstate="email">
            <a:extLst>
              <a:ext uri="{96DAC541-7B7A-43D3-8B79-37D633B846F1}">
                <asvg:svgBlip xmlns:asvg="http://schemas.microsoft.com/office/drawing/2016/SVG/main" r:embed="rId48"/>
              </a:ext>
            </a:extLst>
          </a:blip>
          <a:stretch>
            <a:fillRect/>
          </a:stretch>
        </p:blipFill>
        <p:spPr>
          <a:xfrm>
            <a:off x="8040763" y="2471374"/>
            <a:ext cx="396787" cy="396787"/>
          </a:xfrm>
          <a:prstGeom prst="rect">
            <a:avLst/>
          </a:prstGeom>
        </p:spPr>
      </p:pic>
      <p:sp>
        <p:nvSpPr>
          <p:cNvPr id="7" name="©天蝎PPT38"/>
          <p:cNvSpPr/>
          <p:nvPr>
            <p:custDataLst>
              <p:tags r:id="rId49"/>
            </p:custDataLst>
          </p:nvPr>
        </p:nvSpPr>
        <p:spPr>
          <a:xfrm flipH="1" flipV="1">
            <a:off x="296468" y="1639720"/>
            <a:ext cx="4475455" cy="2467393"/>
          </a:xfrm>
          <a:custGeom>
            <a:avLst/>
            <a:gdLst>
              <a:gd name="connsiteX0" fmla="*/ 3239141 w 4475455"/>
              <a:gd name="connsiteY0" fmla="*/ 2467261 h 2467393"/>
              <a:gd name="connsiteX1" fmla="*/ 106703 w 4475455"/>
              <a:gd name="connsiteY1" fmla="*/ 2467261 h 2467393"/>
              <a:gd name="connsiteX2" fmla="*/ 0 w 4475455"/>
              <a:gd name="connsiteY2" fmla="*/ 2360783 h 2467393"/>
              <a:gd name="connsiteX3" fmla="*/ 106703 w 4475455"/>
              <a:gd name="connsiteY3" fmla="*/ 2254306 h 2467393"/>
              <a:gd name="connsiteX4" fmla="*/ 3239141 w 4475455"/>
              <a:gd name="connsiteY4" fmla="*/ 2254306 h 2467393"/>
              <a:gd name="connsiteX5" fmla="*/ 4261982 w 4475455"/>
              <a:gd name="connsiteY5" fmla="*/ 1233630 h 2467393"/>
              <a:gd name="connsiteX6" fmla="*/ 3239141 w 4475455"/>
              <a:gd name="connsiteY6" fmla="*/ 212955 h 2467393"/>
              <a:gd name="connsiteX7" fmla="*/ 1548402 w 4475455"/>
              <a:gd name="connsiteY7" fmla="*/ 212955 h 2467393"/>
              <a:gd name="connsiteX8" fmla="*/ 1441699 w 4475455"/>
              <a:gd name="connsiteY8" fmla="*/ 106477 h 2467393"/>
              <a:gd name="connsiteX9" fmla="*/ 1548402 w 4475455"/>
              <a:gd name="connsiteY9" fmla="*/ 0 h 2467393"/>
              <a:gd name="connsiteX10" fmla="*/ 3239141 w 4475455"/>
              <a:gd name="connsiteY10" fmla="*/ 0 h 2467393"/>
              <a:gd name="connsiteX11" fmla="*/ 4475456 w 4475455"/>
              <a:gd name="connsiteY11" fmla="*/ 1233697 h 2467393"/>
              <a:gd name="connsiteX12" fmla="*/ 3239141 w 4475455"/>
              <a:gd name="connsiteY12" fmla="*/ 2467394 h 246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455" h="2467393">
                <a:moveTo>
                  <a:pt x="3239141" y="2467261"/>
                </a:moveTo>
                <a:lnTo>
                  <a:pt x="106703" y="2467261"/>
                </a:lnTo>
                <a:cubicBezTo>
                  <a:pt x="47736" y="2467261"/>
                  <a:pt x="0" y="2419559"/>
                  <a:pt x="0" y="2360783"/>
                </a:cubicBezTo>
                <a:cubicBezTo>
                  <a:pt x="0" y="2302007"/>
                  <a:pt x="47802" y="2254306"/>
                  <a:pt x="106703" y="2254306"/>
                </a:cubicBezTo>
                <a:lnTo>
                  <a:pt x="3239141" y="2254306"/>
                </a:lnTo>
                <a:cubicBezTo>
                  <a:pt x="3803145" y="2254306"/>
                  <a:pt x="4261982" y="1796440"/>
                  <a:pt x="4261982" y="1233630"/>
                </a:cubicBezTo>
                <a:cubicBezTo>
                  <a:pt x="4261982" y="670821"/>
                  <a:pt x="3803145" y="212955"/>
                  <a:pt x="3239141" y="212955"/>
                </a:cubicBezTo>
                <a:lnTo>
                  <a:pt x="1548402" y="212955"/>
                </a:lnTo>
                <a:cubicBezTo>
                  <a:pt x="1489434" y="212955"/>
                  <a:pt x="1441699" y="165253"/>
                  <a:pt x="1441699" y="106477"/>
                </a:cubicBezTo>
                <a:cubicBezTo>
                  <a:pt x="1441699" y="47701"/>
                  <a:pt x="1489500" y="0"/>
                  <a:pt x="1548402" y="0"/>
                </a:cubicBezTo>
                <a:lnTo>
                  <a:pt x="3239141" y="0"/>
                </a:lnTo>
                <a:cubicBezTo>
                  <a:pt x="3920812" y="0"/>
                  <a:pt x="4475456" y="553402"/>
                  <a:pt x="4475456" y="1233697"/>
                </a:cubicBezTo>
                <a:cubicBezTo>
                  <a:pt x="4475456" y="1913925"/>
                  <a:pt x="3920879" y="2467394"/>
                  <a:pt x="3239141" y="2467394"/>
                </a:cubicBezTo>
                <a:close/>
              </a:path>
            </a:pathLst>
          </a:custGeom>
          <a:gradFill>
            <a:gsLst>
              <a:gs pos="0">
                <a:srgbClr val="B3D4FE"/>
              </a:gs>
              <a:gs pos="100000">
                <a:srgbClr val="3368FF"/>
              </a:gs>
            </a:gsLst>
            <a:lin ang="16200000" scaled="0"/>
          </a:gradFill>
          <a:ln>
            <a:noFill/>
          </a:ln>
          <a:effectLst>
            <a:outerShdw blurRad="127000" dist="38100" dir="2700000" sx="102000" sy="102000" algn="tl"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nvGrpSpPr>
          <p:cNvPr id="22" name="组合 21"/>
          <p:cNvGrpSpPr/>
          <p:nvPr>
            <p:custDataLst>
              <p:tags r:id="rId50"/>
            </p:custDataLst>
          </p:nvPr>
        </p:nvGrpSpPr>
        <p:grpSpPr>
          <a:xfrm>
            <a:off x="7335520" y="2061210"/>
            <a:ext cx="1653540" cy="1651000"/>
            <a:chOff x="11216" y="-309"/>
            <a:chExt cx="2604" cy="2600"/>
          </a:xfrm>
        </p:grpSpPr>
        <p:grpSp>
          <p:nvGrpSpPr>
            <p:cNvPr id="15" name="©天蝎PPT12"/>
            <p:cNvGrpSpPr/>
            <p:nvPr>
              <p:custDataLst>
                <p:tags r:id="rId51"/>
              </p:custDataLst>
            </p:nvPr>
          </p:nvGrpSpPr>
          <p:grpSpPr>
            <a:xfrm rot="0">
              <a:off x="11216" y="-309"/>
              <a:ext cx="2605" cy="2600"/>
              <a:chOff x="2962905" y="1834412"/>
              <a:chExt cx="1653901" cy="1650800"/>
            </a:xfrm>
          </p:grpSpPr>
          <p:sp>
            <p:nvSpPr>
              <p:cNvPr id="16" name="©天蝎PPT12-1"/>
              <p:cNvSpPr/>
              <p:nvPr>
                <p:custDataLst>
                  <p:tags r:id="rId52"/>
                </p:custDataLst>
              </p:nvPr>
            </p:nvSpPr>
            <p:spPr>
              <a:xfrm>
                <a:off x="2963574" y="1834412"/>
                <a:ext cx="1652564" cy="788373"/>
              </a:xfrm>
              <a:custGeom>
                <a:avLst/>
                <a:gdLst>
                  <a:gd name="connsiteX0" fmla="*/ 1652565 w 1652564"/>
                  <a:gd name="connsiteY0" fmla="*/ 788373 h 788373"/>
                  <a:gd name="connsiteX1" fmla="*/ 826282 w 1652564"/>
                  <a:gd name="connsiteY1" fmla="*/ 0 h 788373"/>
                  <a:gd name="connsiteX2" fmla="*/ 0 w 1652564"/>
                  <a:gd name="connsiteY2" fmla="*/ 788373 h 788373"/>
                  <a:gd name="connsiteX3" fmla="*/ 1652565 w 1652564"/>
                  <a:gd name="connsiteY3" fmla="*/ 788373 h 788373"/>
                </a:gdLst>
                <a:ahLst/>
                <a:cxnLst>
                  <a:cxn ang="0">
                    <a:pos x="connsiteX0" y="connsiteY0"/>
                  </a:cxn>
                  <a:cxn ang="0">
                    <a:pos x="connsiteX1" y="connsiteY1"/>
                  </a:cxn>
                  <a:cxn ang="0">
                    <a:pos x="connsiteX2" y="connsiteY2"/>
                  </a:cxn>
                  <a:cxn ang="0">
                    <a:pos x="connsiteX3" y="connsiteY3"/>
                  </a:cxn>
                </a:cxnLst>
                <a:rect l="l" t="t" r="r" b="b"/>
                <a:pathLst>
                  <a:path w="1652564" h="788373">
                    <a:moveTo>
                      <a:pt x="1652565" y="788373"/>
                    </a:moveTo>
                    <a:cubicBezTo>
                      <a:pt x="1633176" y="349721"/>
                      <a:pt x="1270679" y="0"/>
                      <a:pt x="826282" y="0"/>
                    </a:cubicBezTo>
                    <a:cubicBezTo>
                      <a:pt x="381886" y="0"/>
                      <a:pt x="19388" y="349721"/>
                      <a:pt x="0" y="788373"/>
                    </a:cubicBezTo>
                    <a:lnTo>
                      <a:pt x="1652565" y="788373"/>
                    </a:lnTo>
                    <a:close/>
                  </a:path>
                </a:pathLst>
              </a:custGeom>
              <a:solidFill>
                <a:srgbClr val="3368FF">
                  <a:alpha val="10000"/>
                </a:srgbClr>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7" name="©天蝎PPT12-2"/>
              <p:cNvSpPr/>
              <p:nvPr>
                <p:custDataLst>
                  <p:tags r:id="rId53"/>
                </p:custDataLst>
              </p:nvPr>
            </p:nvSpPr>
            <p:spPr>
              <a:xfrm>
                <a:off x="2962905" y="2676357"/>
                <a:ext cx="1653901" cy="808854"/>
              </a:xfrm>
              <a:custGeom>
                <a:avLst/>
                <a:gdLst>
                  <a:gd name="connsiteX0" fmla="*/ 1653902 w 1653901"/>
                  <a:gd name="connsiteY0" fmla="*/ 0 h 808854"/>
                  <a:gd name="connsiteX1" fmla="*/ 0 w 1653901"/>
                  <a:gd name="connsiteY1" fmla="*/ 0 h 808854"/>
                  <a:gd name="connsiteX2" fmla="*/ 826951 w 1653901"/>
                  <a:gd name="connsiteY2" fmla="*/ 808855 h 808854"/>
                  <a:gd name="connsiteX3" fmla="*/ 1653902 w 1653901"/>
                  <a:gd name="connsiteY3" fmla="*/ 0 h 808854"/>
                </a:gdLst>
                <a:ahLst/>
                <a:cxnLst>
                  <a:cxn ang="0">
                    <a:pos x="connsiteX0" y="connsiteY0"/>
                  </a:cxn>
                  <a:cxn ang="0">
                    <a:pos x="connsiteX1" y="connsiteY1"/>
                  </a:cxn>
                  <a:cxn ang="0">
                    <a:pos x="connsiteX2" y="connsiteY2"/>
                  </a:cxn>
                  <a:cxn ang="0">
                    <a:pos x="connsiteX3" y="connsiteY3"/>
                  </a:cxn>
                </a:cxnLst>
                <a:rect l="l" t="t" r="r" b="b"/>
                <a:pathLst>
                  <a:path w="1653901" h="808854">
                    <a:moveTo>
                      <a:pt x="1653902" y="0"/>
                    </a:moveTo>
                    <a:lnTo>
                      <a:pt x="0" y="0"/>
                    </a:lnTo>
                    <a:cubicBezTo>
                      <a:pt x="8825" y="448193"/>
                      <a:pt x="375668" y="808855"/>
                      <a:pt x="826951" y="808855"/>
                    </a:cubicBezTo>
                    <a:cubicBezTo>
                      <a:pt x="1278234" y="808855"/>
                      <a:pt x="1645077" y="448193"/>
                      <a:pt x="1653902" y="0"/>
                    </a:cubicBezTo>
                    <a:close/>
                  </a:path>
                </a:pathLst>
              </a:custGeom>
              <a:solidFill>
                <a:srgbClr val="3368FF">
                  <a:alpha val="10000"/>
                </a:srgbClr>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8" name="©天蝎PPT12-3"/>
              <p:cNvSpPr/>
              <p:nvPr>
                <p:custDataLst>
                  <p:tags r:id="rId54"/>
                </p:custDataLst>
              </p:nvPr>
            </p:nvSpPr>
            <p:spPr>
              <a:xfrm>
                <a:off x="3080640" y="1952097"/>
                <a:ext cx="1418432" cy="1415429"/>
              </a:xfrm>
              <a:custGeom>
                <a:avLst/>
                <a:gdLst>
                  <a:gd name="connsiteX0" fmla="*/ 1418432 w 1418432"/>
                  <a:gd name="connsiteY0" fmla="*/ 707715 h 1415429"/>
                  <a:gd name="connsiteX1" fmla="*/ 709216 w 1418432"/>
                  <a:gd name="connsiteY1" fmla="*/ 1415429 h 1415429"/>
                  <a:gd name="connsiteX2" fmla="*/ 0 w 1418432"/>
                  <a:gd name="connsiteY2" fmla="*/ 707715 h 1415429"/>
                  <a:gd name="connsiteX3" fmla="*/ 709216 w 1418432"/>
                  <a:gd name="connsiteY3" fmla="*/ 0 h 1415429"/>
                  <a:gd name="connsiteX4" fmla="*/ 1418432 w 1418432"/>
                  <a:gd name="connsiteY4" fmla="*/ 707715 h 141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432" h="1415429">
                    <a:moveTo>
                      <a:pt x="1418432" y="707715"/>
                    </a:moveTo>
                    <a:cubicBezTo>
                      <a:pt x="1418432" y="1098575"/>
                      <a:pt x="1100905" y="1415429"/>
                      <a:pt x="709216" y="1415429"/>
                    </a:cubicBezTo>
                    <a:cubicBezTo>
                      <a:pt x="317527" y="1415429"/>
                      <a:pt x="0" y="1098575"/>
                      <a:pt x="0" y="707715"/>
                    </a:cubicBezTo>
                    <a:cubicBezTo>
                      <a:pt x="0" y="316855"/>
                      <a:pt x="317527" y="0"/>
                      <a:pt x="709216" y="0"/>
                    </a:cubicBezTo>
                    <a:cubicBezTo>
                      <a:pt x="1100905" y="0"/>
                      <a:pt x="1418432" y="316855"/>
                      <a:pt x="1418432" y="707715"/>
                    </a:cubicBezTo>
                    <a:close/>
                  </a:path>
                </a:pathLst>
              </a:custGeom>
              <a:solidFill>
                <a:srgbClr val="3368FF">
                  <a:alpha val="10000"/>
                </a:srgbClr>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9" name="©天蝎PPT12-4"/>
              <p:cNvSpPr/>
              <p:nvPr>
                <p:custDataLst>
                  <p:tags r:id="rId55"/>
                </p:custDataLst>
              </p:nvPr>
            </p:nvSpPr>
            <p:spPr>
              <a:xfrm>
                <a:off x="3159865" y="2031155"/>
                <a:ext cx="1259981" cy="1257314"/>
              </a:xfrm>
              <a:custGeom>
                <a:avLst/>
                <a:gdLst>
                  <a:gd name="connsiteX0" fmla="*/ 1259982 w 1259981"/>
                  <a:gd name="connsiteY0" fmla="*/ 628657 h 1257314"/>
                  <a:gd name="connsiteX1" fmla="*/ 629991 w 1259981"/>
                  <a:gd name="connsiteY1" fmla="*/ 1257314 h 1257314"/>
                  <a:gd name="connsiteX2" fmla="*/ 0 w 1259981"/>
                  <a:gd name="connsiteY2" fmla="*/ 628657 h 1257314"/>
                  <a:gd name="connsiteX3" fmla="*/ 629991 w 1259981"/>
                  <a:gd name="connsiteY3" fmla="*/ 0 h 1257314"/>
                  <a:gd name="connsiteX4" fmla="*/ 1259982 w 1259981"/>
                  <a:gd name="connsiteY4" fmla="*/ 628657 h 1257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981" h="1257314">
                    <a:moveTo>
                      <a:pt x="1259982" y="628657"/>
                    </a:moveTo>
                    <a:cubicBezTo>
                      <a:pt x="1259982" y="975855"/>
                      <a:pt x="977925" y="1257314"/>
                      <a:pt x="629991" y="1257314"/>
                    </a:cubicBezTo>
                    <a:cubicBezTo>
                      <a:pt x="282057" y="1257314"/>
                      <a:pt x="0" y="975855"/>
                      <a:pt x="0" y="628657"/>
                    </a:cubicBezTo>
                    <a:cubicBezTo>
                      <a:pt x="0" y="281460"/>
                      <a:pt x="282057" y="0"/>
                      <a:pt x="629991" y="0"/>
                    </a:cubicBezTo>
                    <a:cubicBezTo>
                      <a:pt x="977926" y="0"/>
                      <a:pt x="1259982" y="281460"/>
                      <a:pt x="1259982" y="628657"/>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sp>
          <p:nvSpPr>
            <p:cNvPr id="20" name="©天蝎PPT47"/>
            <p:cNvSpPr txBox="1"/>
            <p:nvPr>
              <p:custDataLst>
                <p:tags r:id="rId56"/>
              </p:custDataLst>
            </p:nvPr>
          </p:nvSpPr>
          <p:spPr>
            <a:xfrm>
              <a:off x="11950" y="980"/>
              <a:ext cx="1248" cy="531"/>
            </a:xfrm>
            <a:prstGeom prst="rect">
              <a:avLst/>
            </a:prstGeom>
            <a:noFill/>
          </p:spPr>
          <p:txBody>
            <a:bodyPr wrap="none" rtlCol="0" lIns="0" rIns="0" tIns="0" bIns="0">
              <a:spAutoFit/>
            </a:bodyPr>
            <a:lstStyle>
              <a:defPPr>
                <a:defRPr lang="zh-CN">
                  <a:solidFill>
                    <a:srgbClr val="FFFFFF"/>
                  </a:solidFill>
                  <a:latin typeface="微软雅黑"/>
                  <a:ea typeface="微软雅黑"/>
                  <a:cs typeface="微软雅黑"/>
                </a:defRPr>
              </a:defPPr>
              <a:lvl1pPr>
                <a:defRPr sz="1600" b="1">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dirty="0">
                  <a:solidFill>
                    <a:srgbClr val="FFFFFF"/>
                  </a:solidFill>
                  <a:cs typeface="微软雅黑"/>
                  <a:sym typeface="微软雅黑"/>
                  <a:latin typeface="微软雅黑"/>
                  <a:ea typeface="微软雅黑"/>
                </a:rPr>
                <a:t>替代品</a:t>
              </a:r>
              <a:endParaRPr lang="zh-CN" altLang="en-US" dirty="0">
                <a:solidFill>
                  <a:srgbClr val="FFFFFF"/>
                </a:solidFill>
                <a:cs typeface="微软雅黑"/>
                <a:sym typeface="微软雅黑"/>
                <a:latin typeface="微软雅黑"/>
                <a:ea typeface="微软雅黑"/>
              </a:endParaRPr>
            </a:p>
          </p:txBody>
        </p:sp>
        <p:pic>
          <p:nvPicPr>
            <p:cNvPr id="21" name="©天蝎PPT67"/>
            <p:cNvPicPr>
              <a:picLocks noChangeAspect="1"/>
            </p:cNvPicPr>
            <p:nvPr>
              <p:custDataLst>
                <p:tags r:id="rId57"/>
              </p:custDataLst>
            </p:nvPr>
          </p:nvPicPr>
          <p:blipFill>
            <a:blip r:embed="rId47" cstate="email">
              <a:extLst>
                <a:ext uri="{96DAC541-7B7A-43D3-8B79-37D633B846F1}">
                  <asvg:svgBlip xmlns:asvg="http://schemas.microsoft.com/office/drawing/2016/SVG/main" r:embed="rId48"/>
                </a:ext>
              </a:extLst>
            </a:blip>
            <a:stretch>
              <a:fillRect/>
            </a:stretch>
          </p:blipFill>
          <p:spPr>
            <a:xfrm>
              <a:off x="12206" y="307"/>
              <a:ext cx="625" cy="625"/>
            </a:xfrm>
            <a:prstGeom prst="rect">
              <a:avLst/>
            </a:prstGeom>
          </p:spPr>
        </p:pic>
      </p:grpSp>
      <p:grpSp>
        <p:nvGrpSpPr>
          <p:cNvPr id="32" name="©天蝎PPT2"/>
          <p:cNvGrpSpPr/>
          <p:nvPr>
            <p:custDataLst>
              <p:tags r:id="rId58"/>
            </p:custDataLst>
          </p:nvPr>
        </p:nvGrpSpPr>
        <p:grpSpPr>
          <a:xfrm rot="0">
            <a:off x="5250443" y="2060960"/>
            <a:ext cx="1653901" cy="1650799"/>
            <a:chOff x="732231" y="1834412"/>
            <a:chExt cx="1653901" cy="1650799"/>
          </a:xfrm>
        </p:grpSpPr>
        <p:sp>
          <p:nvSpPr>
            <p:cNvPr id="33" name="©天蝎PPT2-1"/>
            <p:cNvSpPr/>
            <p:nvPr>
              <p:custDataLst>
                <p:tags r:id="rId59"/>
              </p:custDataLst>
            </p:nvPr>
          </p:nvSpPr>
          <p:spPr>
            <a:xfrm>
              <a:off x="732899" y="1834412"/>
              <a:ext cx="1652564" cy="788373"/>
            </a:xfrm>
            <a:custGeom>
              <a:avLst/>
              <a:gdLst>
                <a:gd name="connsiteX0" fmla="*/ 1652564 w 1652564"/>
                <a:gd name="connsiteY0" fmla="*/ 788373 h 788373"/>
                <a:gd name="connsiteX1" fmla="*/ 826282 w 1652564"/>
                <a:gd name="connsiteY1" fmla="*/ 0 h 788373"/>
                <a:gd name="connsiteX2" fmla="*/ 0 w 1652564"/>
                <a:gd name="connsiteY2" fmla="*/ 788373 h 788373"/>
                <a:gd name="connsiteX3" fmla="*/ 1652564 w 1652564"/>
                <a:gd name="connsiteY3" fmla="*/ 788373 h 788373"/>
              </a:gdLst>
              <a:ahLst/>
              <a:cxnLst>
                <a:cxn ang="0">
                  <a:pos x="connsiteX0" y="connsiteY0"/>
                </a:cxn>
                <a:cxn ang="0">
                  <a:pos x="connsiteX1" y="connsiteY1"/>
                </a:cxn>
                <a:cxn ang="0">
                  <a:pos x="connsiteX2" y="connsiteY2"/>
                </a:cxn>
                <a:cxn ang="0">
                  <a:pos x="connsiteX3" y="connsiteY3"/>
                </a:cxn>
              </a:cxnLst>
              <a:rect l="l" t="t" r="r" b="b"/>
              <a:pathLst>
                <a:path w="1652564" h="788373">
                  <a:moveTo>
                    <a:pt x="1652564" y="788373"/>
                  </a:moveTo>
                  <a:cubicBezTo>
                    <a:pt x="1633176" y="349721"/>
                    <a:pt x="1270679" y="0"/>
                    <a:pt x="826282" y="0"/>
                  </a:cubicBezTo>
                  <a:cubicBezTo>
                    <a:pt x="381886" y="0"/>
                    <a:pt x="19388" y="349721"/>
                    <a:pt x="0" y="788373"/>
                  </a:cubicBezTo>
                  <a:lnTo>
                    <a:pt x="1652564" y="788373"/>
                  </a:ln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4" name="©天蝎PPT2-2"/>
            <p:cNvSpPr/>
            <p:nvPr>
              <p:custDataLst>
                <p:tags r:id="rId60"/>
              </p:custDataLst>
            </p:nvPr>
          </p:nvSpPr>
          <p:spPr>
            <a:xfrm>
              <a:off x="732231" y="2676357"/>
              <a:ext cx="1653901" cy="808854"/>
            </a:xfrm>
            <a:custGeom>
              <a:avLst/>
              <a:gdLst>
                <a:gd name="connsiteX0" fmla="*/ 1653835 w 1653901"/>
                <a:gd name="connsiteY0" fmla="*/ 0 h 808854"/>
                <a:gd name="connsiteX1" fmla="*/ 0 w 1653901"/>
                <a:gd name="connsiteY1" fmla="*/ 0 h 808854"/>
                <a:gd name="connsiteX2" fmla="*/ 826951 w 1653901"/>
                <a:gd name="connsiteY2" fmla="*/ 808855 h 808854"/>
                <a:gd name="connsiteX3" fmla="*/ 1653902 w 1653901"/>
                <a:gd name="connsiteY3" fmla="*/ 0 h 808854"/>
              </a:gdLst>
              <a:ahLst/>
              <a:cxnLst>
                <a:cxn ang="0">
                  <a:pos x="connsiteX0" y="connsiteY0"/>
                </a:cxn>
                <a:cxn ang="0">
                  <a:pos x="connsiteX1" y="connsiteY1"/>
                </a:cxn>
                <a:cxn ang="0">
                  <a:pos x="connsiteX2" y="connsiteY2"/>
                </a:cxn>
                <a:cxn ang="0">
                  <a:pos x="connsiteX3" y="connsiteY3"/>
                </a:cxn>
              </a:cxnLst>
              <a:rect l="l" t="t" r="r" b="b"/>
              <a:pathLst>
                <a:path w="1653901" h="808854">
                  <a:moveTo>
                    <a:pt x="1653835" y="0"/>
                  </a:moveTo>
                  <a:lnTo>
                    <a:pt x="0" y="0"/>
                  </a:lnTo>
                  <a:cubicBezTo>
                    <a:pt x="8825" y="448193"/>
                    <a:pt x="375668" y="808855"/>
                    <a:pt x="826951" y="808855"/>
                  </a:cubicBezTo>
                  <a:cubicBezTo>
                    <a:pt x="1278234" y="808855"/>
                    <a:pt x="1645077" y="448193"/>
                    <a:pt x="1653902" y="0"/>
                  </a:cubicBez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5" name="©天蝎PPT2-3"/>
            <p:cNvSpPr/>
            <p:nvPr>
              <p:custDataLst>
                <p:tags r:id="rId61"/>
              </p:custDataLst>
            </p:nvPr>
          </p:nvSpPr>
          <p:spPr>
            <a:xfrm>
              <a:off x="849965" y="1952097"/>
              <a:ext cx="1418432" cy="1415429"/>
            </a:xfrm>
            <a:custGeom>
              <a:avLst/>
              <a:gdLst>
                <a:gd name="connsiteX0" fmla="*/ 1418432 w 1418432"/>
                <a:gd name="connsiteY0" fmla="*/ 707715 h 1415429"/>
                <a:gd name="connsiteX1" fmla="*/ 709216 w 1418432"/>
                <a:gd name="connsiteY1" fmla="*/ 1415429 h 1415429"/>
                <a:gd name="connsiteX2" fmla="*/ 0 w 1418432"/>
                <a:gd name="connsiteY2" fmla="*/ 707715 h 1415429"/>
                <a:gd name="connsiteX3" fmla="*/ 709216 w 1418432"/>
                <a:gd name="connsiteY3" fmla="*/ 0 h 1415429"/>
                <a:gd name="connsiteX4" fmla="*/ 1418432 w 1418432"/>
                <a:gd name="connsiteY4" fmla="*/ 707715 h 141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432" h="1415429">
                  <a:moveTo>
                    <a:pt x="1418432" y="707715"/>
                  </a:moveTo>
                  <a:cubicBezTo>
                    <a:pt x="1418432" y="1098575"/>
                    <a:pt x="1100905" y="1415429"/>
                    <a:pt x="709216" y="1415429"/>
                  </a:cubicBezTo>
                  <a:cubicBezTo>
                    <a:pt x="317527" y="1415429"/>
                    <a:pt x="0" y="1098575"/>
                    <a:pt x="0" y="707715"/>
                  </a:cubicBezTo>
                  <a:cubicBezTo>
                    <a:pt x="0" y="316855"/>
                    <a:pt x="317527" y="0"/>
                    <a:pt x="709216" y="0"/>
                  </a:cubicBezTo>
                  <a:cubicBezTo>
                    <a:pt x="1100905" y="0"/>
                    <a:pt x="1418432" y="316855"/>
                    <a:pt x="1418432" y="707715"/>
                  </a:cubicBez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6" name="©天蝎PPT2-4"/>
            <p:cNvSpPr/>
            <p:nvPr>
              <p:custDataLst>
                <p:tags r:id="rId62"/>
              </p:custDataLst>
            </p:nvPr>
          </p:nvSpPr>
          <p:spPr>
            <a:xfrm>
              <a:off x="929190" y="2031155"/>
              <a:ext cx="1259981" cy="1257314"/>
            </a:xfrm>
            <a:custGeom>
              <a:avLst/>
              <a:gdLst>
                <a:gd name="connsiteX0" fmla="*/ 1259982 w 1259981"/>
                <a:gd name="connsiteY0" fmla="*/ 628657 h 1257314"/>
                <a:gd name="connsiteX1" fmla="*/ 629991 w 1259981"/>
                <a:gd name="connsiteY1" fmla="*/ 1257314 h 1257314"/>
                <a:gd name="connsiteX2" fmla="*/ 0 w 1259981"/>
                <a:gd name="connsiteY2" fmla="*/ 628657 h 1257314"/>
                <a:gd name="connsiteX3" fmla="*/ 629991 w 1259981"/>
                <a:gd name="connsiteY3" fmla="*/ 0 h 1257314"/>
                <a:gd name="connsiteX4" fmla="*/ 1259982 w 1259981"/>
                <a:gd name="connsiteY4" fmla="*/ 628657 h 1257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981" h="1257314">
                  <a:moveTo>
                    <a:pt x="1259982" y="628657"/>
                  </a:moveTo>
                  <a:cubicBezTo>
                    <a:pt x="1259982" y="975855"/>
                    <a:pt x="977925" y="1257314"/>
                    <a:pt x="629991" y="1257314"/>
                  </a:cubicBezTo>
                  <a:cubicBezTo>
                    <a:pt x="282057" y="1257314"/>
                    <a:pt x="0" y="975855"/>
                    <a:pt x="0" y="628657"/>
                  </a:cubicBezTo>
                  <a:cubicBezTo>
                    <a:pt x="0" y="281460"/>
                    <a:pt x="282057" y="0"/>
                    <a:pt x="629991" y="0"/>
                  </a:cubicBezTo>
                  <a:cubicBezTo>
                    <a:pt x="977925" y="0"/>
                    <a:pt x="1259982" y="281460"/>
                    <a:pt x="1259982" y="628657"/>
                  </a:cubicBezTo>
                  <a:close/>
                </a:path>
              </a:pathLst>
            </a:custGeom>
            <a:gradFill>
              <a:gsLst>
                <a:gs pos="0">
                  <a:srgbClr val="B3D4FE"/>
                </a:gs>
                <a:gs pos="100000">
                  <a:srgbClr val="3368FF"/>
                </a:gs>
              </a:gsLst>
              <a:lin ang="0" scaled="0"/>
            </a:gra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grpSp>
      <p:sp>
        <p:nvSpPr>
          <p:cNvPr id="37" name="©天蝎PPT48"/>
          <p:cNvSpPr txBox="1"/>
          <p:nvPr>
            <p:custDataLst>
              <p:tags r:id="rId63"/>
            </p:custDataLst>
          </p:nvPr>
        </p:nvSpPr>
        <p:spPr>
          <a:xfrm>
            <a:off x="5609132" y="2570669"/>
            <a:ext cx="877163" cy="646331"/>
          </a:xfrm>
          <a:prstGeom prst="rect">
            <a:avLst/>
          </a:prstGeom>
          <a:noFill/>
        </p:spPr>
        <p:txBody>
          <a:bodyPr wrap="none" rtlCol="0" lIns="0" rIns="0" tIns="0" bIns="0">
            <a:spAutoFit/>
          </a:bodyPr>
          <a:lstStyle/>
          <a:p>
            <a:pPr>
              <a:defRPr>
                <a:latin typeface="微软雅黑"/>
                <a:ea typeface="微软雅黑"/>
                <a:cs typeface="微软雅黑"/>
              </a:defRPr>
            </a:pPr>
            <a:r>
              <a:rPr lang="zh-CN" altLang="en-US" b="1" dirty="0">
                <a:solidFill>
                  <a:srgbClr val="383838"/>
                </a:solidFill>
                <a:latin typeface="微软雅黑"/>
                <a:ea typeface="微软雅黑"/>
                <a:cs typeface="微软雅黑"/>
                <a:sym typeface="微软雅黑"/>
              </a:rPr>
              <a:t>行业内</a:t>
            </a:r>
            <a:endParaRPr lang="en-US" altLang="zh-CN" b="1" dirty="0">
              <a:solidFill>
                <a:srgbClr val="383838"/>
              </a:solidFill>
              <a:latin typeface="微软雅黑"/>
              <a:ea typeface="微软雅黑"/>
              <a:cs typeface="微软雅黑"/>
              <a:sym typeface="微软雅黑"/>
            </a:endParaRPr>
          </a:p>
          <a:p>
            <a:pPr>
              <a:defRPr>
                <a:latin typeface="微软雅黑"/>
                <a:ea typeface="微软雅黑"/>
                <a:cs typeface="微软雅黑"/>
              </a:defRPr>
            </a:pPr>
            <a:r>
              <a:rPr lang="zh-CN" altLang="en-US" b="1" dirty="0">
                <a:solidFill>
                  <a:srgbClr val="383838"/>
                </a:solidFill>
                <a:latin typeface="微软雅黑"/>
                <a:ea typeface="微软雅黑"/>
                <a:cs typeface="微软雅黑"/>
                <a:sym typeface="微软雅黑"/>
              </a:rPr>
              <a:t>竞争者</a:t>
            </a:r>
            <a:endParaRPr lang="zh-CN" altLang="en-US" b="1" dirty="0">
              <a:solidFill>
                <a:srgbClr val="383838"/>
              </a:solidFill>
              <a:latin typeface="微软雅黑"/>
              <a:ea typeface="微软雅黑"/>
              <a:cs typeface="微软雅黑"/>
              <a:sym typeface="微软雅黑"/>
            </a:endParaRPr>
          </a:p>
        </p:txBody>
      </p:sp>
      <p:grpSp>
        <p:nvGrpSpPr>
          <p:cNvPr id="52" name="组合 51"/>
          <p:cNvGrpSpPr/>
          <p:nvPr>
            <p:custDataLst>
              <p:tags r:id="rId64"/>
            </p:custDataLst>
          </p:nvPr>
        </p:nvGrpSpPr>
        <p:grpSpPr>
          <a:xfrm>
            <a:off x="2993390" y="2020570"/>
            <a:ext cx="1653540" cy="1651000"/>
            <a:chOff x="4714" y="3182"/>
            <a:chExt cx="2604" cy="2600"/>
          </a:xfrm>
        </p:grpSpPr>
        <p:grpSp>
          <p:nvGrpSpPr>
            <p:cNvPr id="44" name="©天蝎PPT2"/>
            <p:cNvGrpSpPr/>
            <p:nvPr>
              <p:custDataLst>
                <p:tags r:id="rId65"/>
              </p:custDataLst>
            </p:nvPr>
          </p:nvGrpSpPr>
          <p:grpSpPr>
            <a:xfrm rot="0">
              <a:off x="4714" y="3182"/>
              <a:ext cx="2605" cy="2600"/>
              <a:chOff x="732231" y="1834412"/>
              <a:chExt cx="1653901" cy="1650799"/>
            </a:xfrm>
          </p:grpSpPr>
          <p:sp>
            <p:nvSpPr>
              <p:cNvPr id="45" name="©天蝎PPT2-1"/>
              <p:cNvSpPr/>
              <p:nvPr>
                <p:custDataLst>
                  <p:tags r:id="rId66"/>
                </p:custDataLst>
              </p:nvPr>
            </p:nvSpPr>
            <p:spPr>
              <a:xfrm>
                <a:off x="732899" y="1834412"/>
                <a:ext cx="1652564" cy="788373"/>
              </a:xfrm>
              <a:custGeom>
                <a:avLst/>
                <a:gdLst>
                  <a:gd name="connsiteX0" fmla="*/ 1652564 w 1652564"/>
                  <a:gd name="connsiteY0" fmla="*/ 788373 h 788373"/>
                  <a:gd name="connsiteX1" fmla="*/ 826282 w 1652564"/>
                  <a:gd name="connsiteY1" fmla="*/ 0 h 788373"/>
                  <a:gd name="connsiteX2" fmla="*/ 0 w 1652564"/>
                  <a:gd name="connsiteY2" fmla="*/ 788373 h 788373"/>
                  <a:gd name="connsiteX3" fmla="*/ 1652564 w 1652564"/>
                  <a:gd name="connsiteY3" fmla="*/ 788373 h 788373"/>
                </a:gdLst>
                <a:ahLst/>
                <a:cxnLst>
                  <a:cxn ang="0">
                    <a:pos x="connsiteX0" y="connsiteY0"/>
                  </a:cxn>
                  <a:cxn ang="0">
                    <a:pos x="connsiteX1" y="connsiteY1"/>
                  </a:cxn>
                  <a:cxn ang="0">
                    <a:pos x="connsiteX2" y="connsiteY2"/>
                  </a:cxn>
                  <a:cxn ang="0">
                    <a:pos x="connsiteX3" y="connsiteY3"/>
                  </a:cxn>
                </a:cxnLst>
                <a:rect l="l" t="t" r="r" b="b"/>
                <a:pathLst>
                  <a:path w="1652564" h="788373">
                    <a:moveTo>
                      <a:pt x="1652564" y="788373"/>
                    </a:moveTo>
                    <a:cubicBezTo>
                      <a:pt x="1633176" y="349721"/>
                      <a:pt x="1270679" y="0"/>
                      <a:pt x="826282" y="0"/>
                    </a:cubicBezTo>
                    <a:cubicBezTo>
                      <a:pt x="381886" y="0"/>
                      <a:pt x="19388" y="349721"/>
                      <a:pt x="0" y="788373"/>
                    </a:cubicBezTo>
                    <a:lnTo>
                      <a:pt x="1652564" y="788373"/>
                    </a:ln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6" name="©天蝎PPT2-2"/>
              <p:cNvSpPr/>
              <p:nvPr>
                <p:custDataLst>
                  <p:tags r:id="rId67"/>
                </p:custDataLst>
              </p:nvPr>
            </p:nvSpPr>
            <p:spPr>
              <a:xfrm>
                <a:off x="732231" y="2676357"/>
                <a:ext cx="1653901" cy="808854"/>
              </a:xfrm>
              <a:custGeom>
                <a:avLst/>
                <a:gdLst>
                  <a:gd name="connsiteX0" fmla="*/ 1653835 w 1653901"/>
                  <a:gd name="connsiteY0" fmla="*/ 0 h 808854"/>
                  <a:gd name="connsiteX1" fmla="*/ 0 w 1653901"/>
                  <a:gd name="connsiteY1" fmla="*/ 0 h 808854"/>
                  <a:gd name="connsiteX2" fmla="*/ 826951 w 1653901"/>
                  <a:gd name="connsiteY2" fmla="*/ 808855 h 808854"/>
                  <a:gd name="connsiteX3" fmla="*/ 1653902 w 1653901"/>
                  <a:gd name="connsiteY3" fmla="*/ 0 h 808854"/>
                </a:gdLst>
                <a:ahLst/>
                <a:cxnLst>
                  <a:cxn ang="0">
                    <a:pos x="connsiteX0" y="connsiteY0"/>
                  </a:cxn>
                  <a:cxn ang="0">
                    <a:pos x="connsiteX1" y="connsiteY1"/>
                  </a:cxn>
                  <a:cxn ang="0">
                    <a:pos x="connsiteX2" y="connsiteY2"/>
                  </a:cxn>
                  <a:cxn ang="0">
                    <a:pos x="connsiteX3" y="connsiteY3"/>
                  </a:cxn>
                </a:cxnLst>
                <a:rect l="l" t="t" r="r" b="b"/>
                <a:pathLst>
                  <a:path w="1653901" h="808854">
                    <a:moveTo>
                      <a:pt x="1653835" y="0"/>
                    </a:moveTo>
                    <a:lnTo>
                      <a:pt x="0" y="0"/>
                    </a:lnTo>
                    <a:cubicBezTo>
                      <a:pt x="8825" y="448193"/>
                      <a:pt x="375668" y="808855"/>
                      <a:pt x="826951" y="808855"/>
                    </a:cubicBezTo>
                    <a:cubicBezTo>
                      <a:pt x="1278234" y="808855"/>
                      <a:pt x="1645077" y="448193"/>
                      <a:pt x="1653902" y="0"/>
                    </a:cubicBez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7" name="©天蝎PPT2-3"/>
              <p:cNvSpPr/>
              <p:nvPr>
                <p:custDataLst>
                  <p:tags r:id="rId68"/>
                </p:custDataLst>
              </p:nvPr>
            </p:nvSpPr>
            <p:spPr>
              <a:xfrm>
                <a:off x="849965" y="1952097"/>
                <a:ext cx="1418432" cy="1415429"/>
              </a:xfrm>
              <a:custGeom>
                <a:avLst/>
                <a:gdLst>
                  <a:gd name="connsiteX0" fmla="*/ 1418432 w 1418432"/>
                  <a:gd name="connsiteY0" fmla="*/ 707715 h 1415429"/>
                  <a:gd name="connsiteX1" fmla="*/ 709216 w 1418432"/>
                  <a:gd name="connsiteY1" fmla="*/ 1415429 h 1415429"/>
                  <a:gd name="connsiteX2" fmla="*/ 0 w 1418432"/>
                  <a:gd name="connsiteY2" fmla="*/ 707715 h 1415429"/>
                  <a:gd name="connsiteX3" fmla="*/ 709216 w 1418432"/>
                  <a:gd name="connsiteY3" fmla="*/ 0 h 1415429"/>
                  <a:gd name="connsiteX4" fmla="*/ 1418432 w 1418432"/>
                  <a:gd name="connsiteY4" fmla="*/ 707715 h 141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432" h="1415429">
                    <a:moveTo>
                      <a:pt x="1418432" y="707715"/>
                    </a:moveTo>
                    <a:cubicBezTo>
                      <a:pt x="1418432" y="1098575"/>
                      <a:pt x="1100905" y="1415429"/>
                      <a:pt x="709216" y="1415429"/>
                    </a:cubicBezTo>
                    <a:cubicBezTo>
                      <a:pt x="317527" y="1415429"/>
                      <a:pt x="0" y="1098575"/>
                      <a:pt x="0" y="707715"/>
                    </a:cubicBezTo>
                    <a:cubicBezTo>
                      <a:pt x="0" y="316855"/>
                      <a:pt x="317527" y="0"/>
                      <a:pt x="709216" y="0"/>
                    </a:cubicBezTo>
                    <a:cubicBezTo>
                      <a:pt x="1100905" y="0"/>
                      <a:pt x="1418432" y="316855"/>
                      <a:pt x="1418432" y="707715"/>
                    </a:cubicBez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8" name="©天蝎PPT2-4"/>
              <p:cNvSpPr/>
              <p:nvPr>
                <p:custDataLst>
                  <p:tags r:id="rId69"/>
                </p:custDataLst>
              </p:nvPr>
            </p:nvSpPr>
            <p:spPr>
              <a:xfrm>
                <a:off x="929190" y="2031155"/>
                <a:ext cx="1259981" cy="1257314"/>
              </a:xfrm>
              <a:custGeom>
                <a:avLst/>
                <a:gdLst>
                  <a:gd name="connsiteX0" fmla="*/ 1259982 w 1259981"/>
                  <a:gd name="connsiteY0" fmla="*/ 628657 h 1257314"/>
                  <a:gd name="connsiteX1" fmla="*/ 629991 w 1259981"/>
                  <a:gd name="connsiteY1" fmla="*/ 1257314 h 1257314"/>
                  <a:gd name="connsiteX2" fmla="*/ 0 w 1259981"/>
                  <a:gd name="connsiteY2" fmla="*/ 628657 h 1257314"/>
                  <a:gd name="connsiteX3" fmla="*/ 629991 w 1259981"/>
                  <a:gd name="connsiteY3" fmla="*/ 0 h 1257314"/>
                  <a:gd name="connsiteX4" fmla="*/ 1259982 w 1259981"/>
                  <a:gd name="connsiteY4" fmla="*/ 628657 h 1257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981" h="1257314">
                    <a:moveTo>
                      <a:pt x="1259982" y="628657"/>
                    </a:moveTo>
                    <a:cubicBezTo>
                      <a:pt x="1259982" y="975855"/>
                      <a:pt x="977925" y="1257314"/>
                      <a:pt x="629991" y="1257314"/>
                    </a:cubicBezTo>
                    <a:cubicBezTo>
                      <a:pt x="282057" y="1257314"/>
                      <a:pt x="0" y="975855"/>
                      <a:pt x="0" y="628657"/>
                    </a:cubicBezTo>
                    <a:cubicBezTo>
                      <a:pt x="0" y="281460"/>
                      <a:pt x="282057" y="0"/>
                      <a:pt x="629991" y="0"/>
                    </a:cubicBezTo>
                    <a:cubicBezTo>
                      <a:pt x="977925" y="0"/>
                      <a:pt x="1259982" y="281460"/>
                      <a:pt x="1259982" y="628657"/>
                    </a:cubicBezTo>
                    <a:close/>
                  </a:path>
                </a:pathLst>
              </a:custGeom>
              <a:gradFill>
                <a:gsLst>
                  <a:gs pos="0">
                    <a:srgbClr val="B3D4FE"/>
                  </a:gs>
                  <a:gs pos="100000">
                    <a:srgbClr val="B3D4FE"/>
                  </a:gs>
                </a:gsLst>
                <a:lin ang="0" scaled="0"/>
              </a:gra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grpSp>
        <p:sp>
          <p:nvSpPr>
            <p:cNvPr id="50" name="©天蝎PPT47"/>
            <p:cNvSpPr txBox="1"/>
            <p:nvPr>
              <p:custDataLst>
                <p:tags r:id="rId70"/>
              </p:custDataLst>
            </p:nvPr>
          </p:nvSpPr>
          <p:spPr>
            <a:xfrm>
              <a:off x="5405" y="4458"/>
              <a:ext cx="1260" cy="533"/>
            </a:xfrm>
            <a:prstGeom prst="rect">
              <a:avLst/>
            </a:prstGeom>
            <a:noFill/>
          </p:spPr>
          <p:txBody>
            <a:bodyPr wrap="none" rtlCol="0" lIns="0" rIns="0" tIns="0" bIns="0">
              <a:spAutoFit/>
            </a:bodyPr>
            <a:lstStyle>
              <a:defPPr>
                <a:defRPr lang="zh-CN">
                  <a:latin typeface="微软雅黑"/>
                  <a:ea typeface="微软雅黑"/>
                  <a:cs typeface="微软雅黑"/>
                </a:defRPr>
              </a:defPPr>
              <a:lvl1pPr>
                <a:defRPr sz="1600" b="1">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dirty="0">
                  <a:cs typeface="微软雅黑"/>
                  <a:sym typeface="微软雅黑"/>
                  <a:latin typeface="微软雅黑"/>
                  <a:ea typeface="微软雅黑"/>
                </a:rPr>
                <a:t>购买者</a:t>
              </a:r>
              <a:endParaRPr lang="zh-CN" altLang="en-US" dirty="0">
                <a:cs typeface="微软雅黑"/>
                <a:sym typeface="微软雅黑"/>
                <a:latin typeface="微软雅黑"/>
                <a:ea typeface="微软雅黑"/>
              </a:endParaRPr>
            </a:p>
          </p:txBody>
        </p:sp>
        <p:pic>
          <p:nvPicPr>
            <p:cNvPr id="51" name="©天蝎PPT65"/>
            <p:cNvPicPr>
              <a:picLocks noChangeAspect="1"/>
            </p:cNvPicPr>
            <p:nvPr>
              <p:custDataLst>
                <p:tags r:id="rId71"/>
              </p:custDataLst>
            </p:nvPr>
          </p:nvPicPr>
          <p:blipFill>
            <a:blip r:embed="rId72" cstate="email">
              <a:extLst>
                <a:ext uri="{96DAC541-7B7A-43D3-8B79-37D633B846F1}">
                  <asvg:svgBlip xmlns:asvg="http://schemas.microsoft.com/office/drawing/2016/SVG/main" r:embed="rId73"/>
                </a:ext>
              </a:extLst>
            </a:blip>
            <a:stretch>
              <a:fillRect/>
            </a:stretch>
          </p:blipFill>
          <p:spPr>
            <a:xfrm>
              <a:off x="5626" y="3850"/>
              <a:ext cx="722" cy="722"/>
            </a:xfrm>
            <a:prstGeom prst="rect">
              <a:avLst/>
            </a:prstGeom>
          </p:spPr>
        </p:pic>
      </p:grpSp>
      <p:grpSp>
        <p:nvGrpSpPr>
          <p:cNvPr id="54" name="©天蝎PPT2"/>
          <p:cNvGrpSpPr/>
          <p:nvPr>
            <p:custDataLst>
              <p:tags r:id="rId74"/>
            </p:custDataLst>
          </p:nvPr>
        </p:nvGrpSpPr>
        <p:grpSpPr>
          <a:xfrm rot="0">
            <a:off x="741680" y="2020570"/>
            <a:ext cx="1654175" cy="1651000"/>
            <a:chOff x="732231" y="1834412"/>
            <a:chExt cx="1653901" cy="1650799"/>
          </a:xfrm>
        </p:grpSpPr>
        <p:sp>
          <p:nvSpPr>
            <p:cNvPr id="55" name="©天蝎PPT2-1"/>
            <p:cNvSpPr/>
            <p:nvPr>
              <p:custDataLst>
                <p:tags r:id="rId75"/>
              </p:custDataLst>
            </p:nvPr>
          </p:nvSpPr>
          <p:spPr>
            <a:xfrm>
              <a:off x="732899" y="1834412"/>
              <a:ext cx="1652564" cy="788373"/>
            </a:xfrm>
            <a:custGeom>
              <a:avLst/>
              <a:gdLst>
                <a:gd name="connsiteX0" fmla="*/ 1652564 w 1652564"/>
                <a:gd name="connsiteY0" fmla="*/ 788373 h 788373"/>
                <a:gd name="connsiteX1" fmla="*/ 826282 w 1652564"/>
                <a:gd name="connsiteY1" fmla="*/ 0 h 788373"/>
                <a:gd name="connsiteX2" fmla="*/ 0 w 1652564"/>
                <a:gd name="connsiteY2" fmla="*/ 788373 h 788373"/>
                <a:gd name="connsiteX3" fmla="*/ 1652564 w 1652564"/>
                <a:gd name="connsiteY3" fmla="*/ 788373 h 788373"/>
              </a:gdLst>
              <a:ahLst/>
              <a:cxnLst>
                <a:cxn ang="0">
                  <a:pos x="connsiteX0" y="connsiteY0"/>
                </a:cxn>
                <a:cxn ang="0">
                  <a:pos x="connsiteX1" y="connsiteY1"/>
                </a:cxn>
                <a:cxn ang="0">
                  <a:pos x="connsiteX2" y="connsiteY2"/>
                </a:cxn>
                <a:cxn ang="0">
                  <a:pos x="connsiteX3" y="connsiteY3"/>
                </a:cxn>
              </a:cxnLst>
              <a:rect l="l" t="t" r="r" b="b"/>
              <a:pathLst>
                <a:path w="1652564" h="788373">
                  <a:moveTo>
                    <a:pt x="1652564" y="788373"/>
                  </a:moveTo>
                  <a:cubicBezTo>
                    <a:pt x="1633176" y="349721"/>
                    <a:pt x="1270679" y="0"/>
                    <a:pt x="826282" y="0"/>
                  </a:cubicBezTo>
                  <a:cubicBezTo>
                    <a:pt x="381886" y="0"/>
                    <a:pt x="19388" y="349721"/>
                    <a:pt x="0" y="788373"/>
                  </a:cubicBezTo>
                  <a:lnTo>
                    <a:pt x="1652564" y="788373"/>
                  </a:ln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6" name="©天蝎PPT2-2"/>
            <p:cNvSpPr/>
            <p:nvPr>
              <p:custDataLst>
                <p:tags r:id="rId76"/>
              </p:custDataLst>
            </p:nvPr>
          </p:nvSpPr>
          <p:spPr>
            <a:xfrm>
              <a:off x="732231" y="2676357"/>
              <a:ext cx="1653901" cy="808854"/>
            </a:xfrm>
            <a:custGeom>
              <a:avLst/>
              <a:gdLst>
                <a:gd name="connsiteX0" fmla="*/ 1653835 w 1653901"/>
                <a:gd name="connsiteY0" fmla="*/ 0 h 808854"/>
                <a:gd name="connsiteX1" fmla="*/ 0 w 1653901"/>
                <a:gd name="connsiteY1" fmla="*/ 0 h 808854"/>
                <a:gd name="connsiteX2" fmla="*/ 826951 w 1653901"/>
                <a:gd name="connsiteY2" fmla="*/ 808855 h 808854"/>
                <a:gd name="connsiteX3" fmla="*/ 1653902 w 1653901"/>
                <a:gd name="connsiteY3" fmla="*/ 0 h 808854"/>
              </a:gdLst>
              <a:ahLst/>
              <a:cxnLst>
                <a:cxn ang="0">
                  <a:pos x="connsiteX0" y="connsiteY0"/>
                </a:cxn>
                <a:cxn ang="0">
                  <a:pos x="connsiteX1" y="connsiteY1"/>
                </a:cxn>
                <a:cxn ang="0">
                  <a:pos x="connsiteX2" y="connsiteY2"/>
                </a:cxn>
                <a:cxn ang="0">
                  <a:pos x="connsiteX3" y="connsiteY3"/>
                </a:cxn>
              </a:cxnLst>
              <a:rect l="l" t="t" r="r" b="b"/>
              <a:pathLst>
                <a:path w="1653901" h="808854">
                  <a:moveTo>
                    <a:pt x="1653835" y="0"/>
                  </a:moveTo>
                  <a:lnTo>
                    <a:pt x="0" y="0"/>
                  </a:lnTo>
                  <a:cubicBezTo>
                    <a:pt x="8825" y="448193"/>
                    <a:pt x="375668" y="808855"/>
                    <a:pt x="826951" y="808855"/>
                  </a:cubicBezTo>
                  <a:cubicBezTo>
                    <a:pt x="1278234" y="808855"/>
                    <a:pt x="1645077" y="448193"/>
                    <a:pt x="1653902" y="0"/>
                  </a:cubicBez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7" name="©天蝎PPT2-3"/>
            <p:cNvSpPr/>
            <p:nvPr>
              <p:custDataLst>
                <p:tags r:id="rId77"/>
              </p:custDataLst>
            </p:nvPr>
          </p:nvSpPr>
          <p:spPr>
            <a:xfrm>
              <a:off x="849965" y="1952097"/>
              <a:ext cx="1418432" cy="1415429"/>
            </a:xfrm>
            <a:custGeom>
              <a:avLst/>
              <a:gdLst>
                <a:gd name="connsiteX0" fmla="*/ 1418432 w 1418432"/>
                <a:gd name="connsiteY0" fmla="*/ 707715 h 1415429"/>
                <a:gd name="connsiteX1" fmla="*/ 709216 w 1418432"/>
                <a:gd name="connsiteY1" fmla="*/ 1415429 h 1415429"/>
                <a:gd name="connsiteX2" fmla="*/ 0 w 1418432"/>
                <a:gd name="connsiteY2" fmla="*/ 707715 h 1415429"/>
                <a:gd name="connsiteX3" fmla="*/ 709216 w 1418432"/>
                <a:gd name="connsiteY3" fmla="*/ 0 h 1415429"/>
                <a:gd name="connsiteX4" fmla="*/ 1418432 w 1418432"/>
                <a:gd name="connsiteY4" fmla="*/ 707715 h 141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432" h="1415429">
                  <a:moveTo>
                    <a:pt x="1418432" y="707715"/>
                  </a:moveTo>
                  <a:cubicBezTo>
                    <a:pt x="1418432" y="1098575"/>
                    <a:pt x="1100905" y="1415429"/>
                    <a:pt x="709216" y="1415429"/>
                  </a:cubicBezTo>
                  <a:cubicBezTo>
                    <a:pt x="317527" y="1415429"/>
                    <a:pt x="0" y="1098575"/>
                    <a:pt x="0" y="707715"/>
                  </a:cubicBezTo>
                  <a:cubicBezTo>
                    <a:pt x="0" y="316855"/>
                    <a:pt x="317527" y="0"/>
                    <a:pt x="709216" y="0"/>
                  </a:cubicBezTo>
                  <a:cubicBezTo>
                    <a:pt x="1100905" y="0"/>
                    <a:pt x="1418432" y="316855"/>
                    <a:pt x="1418432" y="707715"/>
                  </a:cubicBezTo>
                  <a:close/>
                </a:path>
              </a:pathLst>
            </a:custGeom>
            <a:solidFill>
              <a:srgbClr val="3368FF">
                <a:alpha val="10000"/>
              </a:srgbClr>
            </a:soli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8" name="©天蝎PPT2-4"/>
            <p:cNvSpPr/>
            <p:nvPr>
              <p:custDataLst>
                <p:tags r:id="rId78"/>
              </p:custDataLst>
            </p:nvPr>
          </p:nvSpPr>
          <p:spPr>
            <a:xfrm>
              <a:off x="929190" y="2031155"/>
              <a:ext cx="1259981" cy="1257314"/>
            </a:xfrm>
            <a:custGeom>
              <a:avLst/>
              <a:gdLst>
                <a:gd name="connsiteX0" fmla="*/ 1259982 w 1259981"/>
                <a:gd name="connsiteY0" fmla="*/ 628657 h 1257314"/>
                <a:gd name="connsiteX1" fmla="*/ 629991 w 1259981"/>
                <a:gd name="connsiteY1" fmla="*/ 1257314 h 1257314"/>
                <a:gd name="connsiteX2" fmla="*/ 0 w 1259981"/>
                <a:gd name="connsiteY2" fmla="*/ 628657 h 1257314"/>
                <a:gd name="connsiteX3" fmla="*/ 629991 w 1259981"/>
                <a:gd name="connsiteY3" fmla="*/ 0 h 1257314"/>
                <a:gd name="connsiteX4" fmla="*/ 1259982 w 1259981"/>
                <a:gd name="connsiteY4" fmla="*/ 628657 h 1257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981" h="1257314">
                  <a:moveTo>
                    <a:pt x="1259982" y="628657"/>
                  </a:moveTo>
                  <a:cubicBezTo>
                    <a:pt x="1259982" y="975855"/>
                    <a:pt x="977925" y="1257314"/>
                    <a:pt x="629991" y="1257314"/>
                  </a:cubicBezTo>
                  <a:cubicBezTo>
                    <a:pt x="282057" y="1257314"/>
                    <a:pt x="0" y="975855"/>
                    <a:pt x="0" y="628657"/>
                  </a:cubicBezTo>
                  <a:cubicBezTo>
                    <a:pt x="0" y="281460"/>
                    <a:pt x="282057" y="0"/>
                    <a:pt x="629991" y="0"/>
                  </a:cubicBezTo>
                  <a:cubicBezTo>
                    <a:pt x="977925" y="0"/>
                    <a:pt x="1259982" y="281460"/>
                    <a:pt x="1259982" y="628657"/>
                  </a:cubicBezTo>
                  <a:close/>
                </a:path>
              </a:pathLst>
            </a:custGeom>
            <a:gradFill>
              <a:gsLst>
                <a:gs pos="0">
                  <a:srgbClr val="B3D4FE"/>
                </a:gs>
                <a:gs pos="100000">
                  <a:srgbClr val="B3D4FE"/>
                </a:gs>
              </a:gsLst>
              <a:lin ang="0" scaled="0"/>
            </a:gradFill>
            <a:ln w="6685"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grpSp>
      <p:sp>
        <p:nvSpPr>
          <p:cNvPr id="61" name="©天蝎PPT46"/>
          <p:cNvSpPr txBox="1"/>
          <p:nvPr>
            <p:custDataLst>
              <p:tags r:id="rId79"/>
            </p:custDataLst>
          </p:nvPr>
        </p:nvSpPr>
        <p:spPr>
          <a:xfrm>
            <a:off x="1155380" y="2831754"/>
            <a:ext cx="800219" cy="338554"/>
          </a:xfrm>
          <a:prstGeom prst="rect">
            <a:avLst/>
          </a:prstGeom>
          <a:noFill/>
        </p:spPr>
        <p:txBody>
          <a:bodyPr wrap="none" rtlCol="0">
            <a:spAutoFit/>
          </a:bodyPr>
          <a:lstStyle/>
          <a:p>
            <a:pPr>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供应者</a:t>
            </a:r>
            <a:endParaRPr lang="zh-CN" altLang="en-US" sz="1600" b="1" dirty="0">
              <a:solidFill>
                <a:srgbClr val="383838"/>
              </a:solidFill>
              <a:latin typeface="微软雅黑"/>
              <a:ea typeface="微软雅黑"/>
              <a:cs typeface="微软雅黑"/>
              <a:sym typeface="微软雅黑"/>
            </a:endParaRPr>
          </a:p>
        </p:txBody>
      </p:sp>
      <p:pic>
        <p:nvPicPr>
          <p:cNvPr id="62" name="©天蝎PPT64"/>
          <p:cNvPicPr>
            <a:picLocks noChangeAspect="1"/>
          </p:cNvPicPr>
          <p:nvPr>
            <p:custDataLst>
              <p:tags r:id="rId80"/>
            </p:custDataLst>
          </p:nvPr>
        </p:nvPicPr>
        <p:blipFill>
          <a:blip r:embed="rId81" cstate="email">
            <a:extLst>
              <a:ext uri="{96DAC541-7B7A-43D3-8B79-37D633B846F1}">
                <asvg:svgBlip xmlns:asvg="http://schemas.microsoft.com/office/drawing/2016/SVG/main" r:embed="rId82"/>
              </a:ext>
            </a:extLst>
          </a:blip>
          <a:stretch>
            <a:fillRect/>
          </a:stretch>
        </p:blipFill>
        <p:spPr>
          <a:xfrm>
            <a:off x="1381976" y="2458064"/>
            <a:ext cx="374694" cy="374694"/>
          </a:xfrm>
          <a:prstGeom prst="rect">
            <a:avLst/>
          </a:prstGeom>
        </p:spPr>
      </p:pic>
      <p:grpSp>
        <p:nvGrpSpPr>
          <p:cNvPr id="64" name="©天蝎PPT12"/>
          <p:cNvGrpSpPr/>
          <p:nvPr>
            <p:custDataLst>
              <p:tags r:id="rId83"/>
            </p:custDataLst>
          </p:nvPr>
        </p:nvGrpSpPr>
        <p:grpSpPr>
          <a:xfrm rot="0">
            <a:off x="9611995" y="2061210"/>
            <a:ext cx="1654175" cy="1651000"/>
            <a:chOff x="2962905" y="1834412"/>
            <a:chExt cx="1653901" cy="1650800"/>
          </a:xfrm>
        </p:grpSpPr>
        <p:sp>
          <p:nvSpPr>
            <p:cNvPr id="65" name="©天蝎PPT12-1"/>
            <p:cNvSpPr/>
            <p:nvPr>
              <p:custDataLst>
                <p:tags r:id="rId84"/>
              </p:custDataLst>
            </p:nvPr>
          </p:nvSpPr>
          <p:spPr>
            <a:xfrm>
              <a:off x="2963574" y="1834412"/>
              <a:ext cx="1652564" cy="788373"/>
            </a:xfrm>
            <a:custGeom>
              <a:avLst/>
              <a:gdLst>
                <a:gd name="connsiteX0" fmla="*/ 1652565 w 1652564"/>
                <a:gd name="connsiteY0" fmla="*/ 788373 h 788373"/>
                <a:gd name="connsiteX1" fmla="*/ 826282 w 1652564"/>
                <a:gd name="connsiteY1" fmla="*/ 0 h 788373"/>
                <a:gd name="connsiteX2" fmla="*/ 0 w 1652564"/>
                <a:gd name="connsiteY2" fmla="*/ 788373 h 788373"/>
                <a:gd name="connsiteX3" fmla="*/ 1652565 w 1652564"/>
                <a:gd name="connsiteY3" fmla="*/ 788373 h 788373"/>
              </a:gdLst>
              <a:ahLst/>
              <a:cxnLst>
                <a:cxn ang="0">
                  <a:pos x="connsiteX0" y="connsiteY0"/>
                </a:cxn>
                <a:cxn ang="0">
                  <a:pos x="connsiteX1" y="connsiteY1"/>
                </a:cxn>
                <a:cxn ang="0">
                  <a:pos x="connsiteX2" y="connsiteY2"/>
                </a:cxn>
                <a:cxn ang="0">
                  <a:pos x="connsiteX3" y="connsiteY3"/>
                </a:cxn>
              </a:cxnLst>
              <a:rect l="l" t="t" r="r" b="b"/>
              <a:pathLst>
                <a:path w="1652564" h="788373">
                  <a:moveTo>
                    <a:pt x="1652565" y="788373"/>
                  </a:moveTo>
                  <a:cubicBezTo>
                    <a:pt x="1633176" y="349721"/>
                    <a:pt x="1270679" y="0"/>
                    <a:pt x="826282" y="0"/>
                  </a:cubicBezTo>
                  <a:cubicBezTo>
                    <a:pt x="381886" y="0"/>
                    <a:pt x="19388" y="349721"/>
                    <a:pt x="0" y="788373"/>
                  </a:cubicBezTo>
                  <a:lnTo>
                    <a:pt x="1652565" y="788373"/>
                  </a:lnTo>
                  <a:close/>
                </a:path>
              </a:pathLst>
            </a:custGeom>
            <a:solidFill>
              <a:srgbClr val="3368FF">
                <a:alpha val="10000"/>
              </a:srgbClr>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6" name="©天蝎PPT12-2"/>
            <p:cNvSpPr/>
            <p:nvPr>
              <p:custDataLst>
                <p:tags r:id="rId85"/>
              </p:custDataLst>
            </p:nvPr>
          </p:nvSpPr>
          <p:spPr>
            <a:xfrm>
              <a:off x="2962905" y="2676357"/>
              <a:ext cx="1653901" cy="808854"/>
            </a:xfrm>
            <a:custGeom>
              <a:avLst/>
              <a:gdLst>
                <a:gd name="connsiteX0" fmla="*/ 1653902 w 1653901"/>
                <a:gd name="connsiteY0" fmla="*/ 0 h 808854"/>
                <a:gd name="connsiteX1" fmla="*/ 0 w 1653901"/>
                <a:gd name="connsiteY1" fmla="*/ 0 h 808854"/>
                <a:gd name="connsiteX2" fmla="*/ 826951 w 1653901"/>
                <a:gd name="connsiteY2" fmla="*/ 808855 h 808854"/>
                <a:gd name="connsiteX3" fmla="*/ 1653902 w 1653901"/>
                <a:gd name="connsiteY3" fmla="*/ 0 h 808854"/>
              </a:gdLst>
              <a:ahLst/>
              <a:cxnLst>
                <a:cxn ang="0">
                  <a:pos x="connsiteX0" y="connsiteY0"/>
                </a:cxn>
                <a:cxn ang="0">
                  <a:pos x="connsiteX1" y="connsiteY1"/>
                </a:cxn>
                <a:cxn ang="0">
                  <a:pos x="connsiteX2" y="connsiteY2"/>
                </a:cxn>
                <a:cxn ang="0">
                  <a:pos x="connsiteX3" y="connsiteY3"/>
                </a:cxn>
              </a:cxnLst>
              <a:rect l="l" t="t" r="r" b="b"/>
              <a:pathLst>
                <a:path w="1653901" h="808854">
                  <a:moveTo>
                    <a:pt x="1653902" y="0"/>
                  </a:moveTo>
                  <a:lnTo>
                    <a:pt x="0" y="0"/>
                  </a:lnTo>
                  <a:cubicBezTo>
                    <a:pt x="8825" y="448193"/>
                    <a:pt x="375668" y="808855"/>
                    <a:pt x="826951" y="808855"/>
                  </a:cubicBezTo>
                  <a:cubicBezTo>
                    <a:pt x="1278234" y="808855"/>
                    <a:pt x="1645077" y="448193"/>
                    <a:pt x="1653902" y="0"/>
                  </a:cubicBezTo>
                  <a:close/>
                </a:path>
              </a:pathLst>
            </a:custGeom>
            <a:solidFill>
              <a:srgbClr val="3368FF">
                <a:alpha val="10000"/>
              </a:srgbClr>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7" name="©天蝎PPT12-3"/>
            <p:cNvSpPr/>
            <p:nvPr>
              <p:custDataLst>
                <p:tags r:id="rId86"/>
              </p:custDataLst>
            </p:nvPr>
          </p:nvSpPr>
          <p:spPr>
            <a:xfrm>
              <a:off x="3080640" y="1952097"/>
              <a:ext cx="1418432" cy="1415429"/>
            </a:xfrm>
            <a:custGeom>
              <a:avLst/>
              <a:gdLst>
                <a:gd name="connsiteX0" fmla="*/ 1418432 w 1418432"/>
                <a:gd name="connsiteY0" fmla="*/ 707715 h 1415429"/>
                <a:gd name="connsiteX1" fmla="*/ 709216 w 1418432"/>
                <a:gd name="connsiteY1" fmla="*/ 1415429 h 1415429"/>
                <a:gd name="connsiteX2" fmla="*/ 0 w 1418432"/>
                <a:gd name="connsiteY2" fmla="*/ 707715 h 1415429"/>
                <a:gd name="connsiteX3" fmla="*/ 709216 w 1418432"/>
                <a:gd name="connsiteY3" fmla="*/ 0 h 1415429"/>
                <a:gd name="connsiteX4" fmla="*/ 1418432 w 1418432"/>
                <a:gd name="connsiteY4" fmla="*/ 707715 h 141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432" h="1415429">
                  <a:moveTo>
                    <a:pt x="1418432" y="707715"/>
                  </a:moveTo>
                  <a:cubicBezTo>
                    <a:pt x="1418432" y="1098575"/>
                    <a:pt x="1100905" y="1415429"/>
                    <a:pt x="709216" y="1415429"/>
                  </a:cubicBezTo>
                  <a:cubicBezTo>
                    <a:pt x="317527" y="1415429"/>
                    <a:pt x="0" y="1098575"/>
                    <a:pt x="0" y="707715"/>
                  </a:cubicBezTo>
                  <a:cubicBezTo>
                    <a:pt x="0" y="316855"/>
                    <a:pt x="317527" y="0"/>
                    <a:pt x="709216" y="0"/>
                  </a:cubicBezTo>
                  <a:cubicBezTo>
                    <a:pt x="1100905" y="0"/>
                    <a:pt x="1418432" y="316855"/>
                    <a:pt x="1418432" y="707715"/>
                  </a:cubicBezTo>
                  <a:close/>
                </a:path>
              </a:pathLst>
            </a:custGeom>
            <a:solidFill>
              <a:srgbClr val="3368FF">
                <a:alpha val="10000"/>
              </a:srgbClr>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8" name="©天蝎PPT12-4"/>
            <p:cNvSpPr/>
            <p:nvPr>
              <p:custDataLst>
                <p:tags r:id="rId87"/>
              </p:custDataLst>
            </p:nvPr>
          </p:nvSpPr>
          <p:spPr>
            <a:xfrm>
              <a:off x="3159865" y="2031155"/>
              <a:ext cx="1259981" cy="1257314"/>
            </a:xfrm>
            <a:custGeom>
              <a:avLst/>
              <a:gdLst>
                <a:gd name="connsiteX0" fmla="*/ 1259982 w 1259981"/>
                <a:gd name="connsiteY0" fmla="*/ 628657 h 1257314"/>
                <a:gd name="connsiteX1" fmla="*/ 629991 w 1259981"/>
                <a:gd name="connsiteY1" fmla="*/ 1257314 h 1257314"/>
                <a:gd name="connsiteX2" fmla="*/ 0 w 1259981"/>
                <a:gd name="connsiteY2" fmla="*/ 628657 h 1257314"/>
                <a:gd name="connsiteX3" fmla="*/ 629991 w 1259981"/>
                <a:gd name="connsiteY3" fmla="*/ 0 h 1257314"/>
                <a:gd name="connsiteX4" fmla="*/ 1259982 w 1259981"/>
                <a:gd name="connsiteY4" fmla="*/ 628657 h 1257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981" h="1257314">
                  <a:moveTo>
                    <a:pt x="1259982" y="628657"/>
                  </a:moveTo>
                  <a:cubicBezTo>
                    <a:pt x="1259982" y="975855"/>
                    <a:pt x="977925" y="1257314"/>
                    <a:pt x="629991" y="1257314"/>
                  </a:cubicBezTo>
                  <a:cubicBezTo>
                    <a:pt x="282057" y="1257314"/>
                    <a:pt x="0" y="975855"/>
                    <a:pt x="0" y="628657"/>
                  </a:cubicBezTo>
                  <a:cubicBezTo>
                    <a:pt x="0" y="281460"/>
                    <a:pt x="282057" y="0"/>
                    <a:pt x="629991" y="0"/>
                  </a:cubicBezTo>
                  <a:cubicBezTo>
                    <a:pt x="977926" y="0"/>
                    <a:pt x="1259982" y="281460"/>
                    <a:pt x="1259982" y="628657"/>
                  </a:cubicBezTo>
                  <a:close/>
                </a:path>
              </a:pathLst>
            </a:custGeom>
            <a:solidFill>
              <a:srgbClr val="3368FF"/>
            </a:solidFill>
            <a:ln w="6685"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sp>
        <p:nvSpPr>
          <p:cNvPr id="71" name="©天蝎PPT50"/>
          <p:cNvSpPr txBox="1"/>
          <p:nvPr>
            <p:custDataLst>
              <p:tags r:id="rId88"/>
            </p:custDataLst>
          </p:nvPr>
        </p:nvSpPr>
        <p:spPr>
          <a:xfrm>
            <a:off x="9978142" y="2859111"/>
            <a:ext cx="1005403" cy="338554"/>
          </a:xfrm>
          <a:prstGeom prst="rect">
            <a:avLst/>
          </a:prstGeom>
          <a:noFill/>
        </p:spPr>
        <p:txBody>
          <a:bodyPr wrap="none" rtlCol="0">
            <a:spAutoFit/>
          </a:bodyPr>
          <a:lstStyle/>
          <a:p>
            <a:pPr algn="l">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sym typeface="微软雅黑"/>
              </a:rPr>
              <a:t>潜在竞争</a:t>
            </a:r>
            <a:endParaRPr lang="zh-CN" altLang="en-US" sz="1600" b="1" i="0" dirty="0">
              <a:solidFill>
                <a:srgbClr val="FFFFFF"/>
              </a:solidFill>
              <a:effectLst/>
              <a:latin typeface="微软雅黑"/>
              <a:ea typeface="微软雅黑"/>
              <a:cs typeface="微软雅黑"/>
              <a:sym typeface="微软雅黑"/>
            </a:endParaRPr>
          </a:p>
        </p:txBody>
      </p:sp>
      <p:pic>
        <p:nvPicPr>
          <p:cNvPr id="72" name="©天蝎PPT66"/>
          <p:cNvPicPr>
            <a:picLocks noChangeAspect="1"/>
          </p:cNvPicPr>
          <p:nvPr>
            <p:custDataLst>
              <p:tags r:id="rId89"/>
            </p:custDataLst>
          </p:nvPr>
        </p:nvPicPr>
        <p:blipFill>
          <a:blip r:embed="rId90" cstate="email">
            <a:extLst>
              <a:ext uri="{96DAC541-7B7A-43D3-8B79-37D633B846F1}">
                <asvg:svgBlip xmlns:asvg="http://schemas.microsoft.com/office/drawing/2016/SVG/main" r:embed="rId91"/>
              </a:ext>
            </a:extLst>
          </a:blip>
          <a:stretch>
            <a:fillRect/>
          </a:stretch>
        </p:blipFill>
        <p:spPr>
          <a:xfrm>
            <a:off x="10280003" y="2500740"/>
            <a:ext cx="330503" cy="330503"/>
          </a:xfrm>
          <a:prstGeom prst="rect">
            <a:avLst/>
          </a:prstGeom>
        </p:spPr>
      </p:pic>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3" name="图片 2"/>
            <p:cNvPicPr>
              <a:picLocks noChangeAspect="1"/>
            </p:cNvPicPr>
            <p:nvPr userDrawn="1"/>
          </p:nvPicPr>
          <p:blipFill>
            <a:blip r:embed="rId92"/>
            <a:srcRect l="17002" t="-1765" r="56499" b="-1176"/>
            <a:stretch>
              <a:fillRect/>
            </a:stretch>
          </p:blipFill>
          <p:spPr>
            <a:xfrm>
              <a:off x="13761" y="549"/>
              <a:ext cx="1582" cy="525"/>
            </a:xfrm>
            <a:prstGeom prst="rect">
              <a:avLst/>
            </a:prstGeom>
          </p:spPr>
        </p:pic>
        <p:sp>
          <p:nvSpPr>
            <p:cNvPr id="4" name="文本框 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圆角 1"/>
          <p:cNvSpPr/>
          <p:nvPr>
            <p:custDataLst>
              <p:tags r:id="rId1"/>
            </p:custDataLst>
          </p:nvPr>
        </p:nvSpPr>
        <p:spPr>
          <a:xfrm>
            <a:off x="5218936" y="1654410"/>
            <a:ext cx="1743539" cy="4504537"/>
          </a:xfrm>
          <a:prstGeom prst="roundRect">
            <a:avLst>
              <a:gd name="adj" fmla="val 50000"/>
            </a:avLst>
          </a:prstGeom>
          <a:solidFill>
            <a:srgbClr val="DCDCDC">
              <a:alpha val="20000"/>
            </a:srgbClr>
          </a:solidFill>
          <a:ln w="25400">
            <a:solidFill>
              <a:srgbClr val="DCDCDC">
                <a:alpha val="70000"/>
              </a:srgbClr>
            </a:solidFill>
            <a:prstDash val="sysDash"/>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品牌价值体系的构建</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
        <p:nvSpPr>
          <p:cNvPr id="35" name="Circle"/>
          <p:cNvSpPr/>
          <p:nvPr/>
        </p:nvSpPr>
        <p:spPr>
          <a:xfrm rot="5400000">
            <a:off x="2321908" y="3297197"/>
            <a:ext cx="1229086" cy="1229086"/>
          </a:xfrm>
          <a:prstGeom prst="ellipse">
            <a:avLst/>
          </a:prstGeom>
          <a:gradFill>
            <a:gsLst>
              <a:gs pos="0">
                <a:srgbClr val="3368FF"/>
              </a:gs>
              <a:gs pos="100000">
                <a:srgbClr val="0042FF"/>
              </a:gs>
            </a:gsLst>
            <a:lin ang="18900000" scaled="0"/>
          </a:gradFill>
          <a:ln w="12700">
            <a:miter lim="400000"/>
          </a:ln>
          <a:effectLst/>
        </p:spPr>
        <p:txBody>
          <a:bodyPr lIns="0" tIns="0" rIns="0" bIns="0" anchor="ctr"/>
          <a:lstStyle/>
          <a:p>
            <a:pPr>
              <a:defRPr>
                <a:solidFill>
                  <a:srgbClr val="FFFFFF"/>
                </a:solidFill>
                <a:latin typeface="微软雅黑"/>
                <a:ea typeface="微软雅黑"/>
                <a:cs typeface="微软雅黑"/>
              </a:defRPr>
            </a:pPr>
            <a:endParaRPr sz="1690">
              <a:solidFill>
                <a:srgbClr val="FFFFFF"/>
              </a:solidFill>
              <a:latin typeface="微软雅黑"/>
              <a:ea typeface="微软雅黑"/>
              <a:cs typeface="微软雅黑"/>
            </a:endParaRPr>
          </a:p>
        </p:txBody>
      </p:sp>
      <p:sp>
        <p:nvSpPr>
          <p:cNvPr id="37" name="Shape"/>
          <p:cNvSpPr/>
          <p:nvPr/>
        </p:nvSpPr>
        <p:spPr>
          <a:xfrm rot="5400000">
            <a:off x="3720184" y="3130492"/>
            <a:ext cx="1700868" cy="1682433"/>
          </a:xfrm>
          <a:custGeom>
            <a:avLst/>
            <a:gdLst/>
            <a:ahLst/>
            <a:cxnLst>
              <a:cxn ang="0">
                <a:pos x="wd2" y="hd2"/>
              </a:cxn>
              <a:cxn ang="5400000">
                <a:pos x="wd2" y="hd2"/>
              </a:cxn>
              <a:cxn ang="10800000">
                <a:pos x="wd2" y="hd2"/>
              </a:cxn>
              <a:cxn ang="16200000">
                <a:pos x="wd2" y="hd2"/>
              </a:cxn>
            </a:cxnLst>
            <a:rect l="0" t="0" r="r" b="b"/>
            <a:pathLst>
              <a:path w="21573" h="21575" extrusionOk="0">
                <a:moveTo>
                  <a:pt x="21159" y="2"/>
                </a:moveTo>
                <a:lnTo>
                  <a:pt x="14583" y="168"/>
                </a:lnTo>
                <a:cubicBezTo>
                  <a:pt x="14517" y="169"/>
                  <a:pt x="14455" y="207"/>
                  <a:pt x="14424" y="267"/>
                </a:cubicBezTo>
                <a:cubicBezTo>
                  <a:pt x="14389" y="338"/>
                  <a:pt x="14403" y="422"/>
                  <a:pt x="14458" y="479"/>
                </a:cubicBezTo>
                <a:lnTo>
                  <a:pt x="15397" y="1425"/>
                </a:lnTo>
                <a:lnTo>
                  <a:pt x="74" y="16882"/>
                </a:lnTo>
                <a:cubicBezTo>
                  <a:pt x="13" y="16924"/>
                  <a:pt x="-14" y="17000"/>
                  <a:pt x="7" y="17070"/>
                </a:cubicBezTo>
                <a:cubicBezTo>
                  <a:pt x="32" y="17153"/>
                  <a:pt x="114" y="17205"/>
                  <a:pt x="199" y="17191"/>
                </a:cubicBezTo>
                <a:lnTo>
                  <a:pt x="4238" y="17005"/>
                </a:lnTo>
                <a:cubicBezTo>
                  <a:pt x="4355" y="16996"/>
                  <a:pt x="4469" y="17040"/>
                  <a:pt x="4551" y="17124"/>
                </a:cubicBezTo>
                <a:cubicBezTo>
                  <a:pt x="4634" y="17209"/>
                  <a:pt x="4676" y="17326"/>
                  <a:pt x="4665" y="17445"/>
                </a:cubicBezTo>
                <a:lnTo>
                  <a:pt x="4537" y="21362"/>
                </a:lnTo>
                <a:cubicBezTo>
                  <a:pt x="4528" y="21437"/>
                  <a:pt x="4563" y="21510"/>
                  <a:pt x="4627" y="21548"/>
                </a:cubicBezTo>
                <a:cubicBezTo>
                  <a:pt x="4695" y="21588"/>
                  <a:pt x="4778" y="21582"/>
                  <a:pt x="4839" y="21532"/>
                </a:cubicBezTo>
                <a:lnTo>
                  <a:pt x="20124" y="6132"/>
                </a:lnTo>
                <a:lnTo>
                  <a:pt x="20981" y="7043"/>
                </a:lnTo>
                <a:cubicBezTo>
                  <a:pt x="21030" y="7083"/>
                  <a:pt x="21098" y="7093"/>
                  <a:pt x="21155" y="7068"/>
                </a:cubicBezTo>
                <a:cubicBezTo>
                  <a:pt x="21225" y="7039"/>
                  <a:pt x="21268" y="6966"/>
                  <a:pt x="21261" y="6890"/>
                </a:cubicBezTo>
                <a:lnTo>
                  <a:pt x="21569" y="433"/>
                </a:lnTo>
                <a:cubicBezTo>
                  <a:pt x="21586" y="323"/>
                  <a:pt x="21553" y="212"/>
                  <a:pt x="21480" y="129"/>
                </a:cubicBezTo>
                <a:cubicBezTo>
                  <a:pt x="21400" y="36"/>
                  <a:pt x="21280" y="-12"/>
                  <a:pt x="21159" y="2"/>
                </a:cubicBezTo>
                <a:close/>
              </a:path>
            </a:pathLst>
          </a:custGeom>
          <a:gradFill>
            <a:gsLst>
              <a:gs pos="0">
                <a:srgbClr val="668EFF"/>
              </a:gs>
              <a:gs pos="100000">
                <a:srgbClr val="3368FF"/>
              </a:gs>
            </a:gsLst>
            <a:lin ang="18900000" scaled="0"/>
          </a:gradFill>
          <a:ln w="12700">
            <a:miter lim="400000"/>
          </a:ln>
          <a:effectLst/>
        </p:spPr>
        <p:txBody>
          <a:bodyPr lIns="0" tIns="0" rIns="0" bIns="0">
            <a:noAutofit/>
          </a:bodyPr>
          <a:lstStyle/>
          <a:p>
            <a:pPr lvl="0" algn="l">
              <a:buClrTx/>
              <a:buSzTx/>
              <a:buFontTx/>
              <a:defRPr>
                <a:solidFill>
                  <a:srgbClr val="383838"/>
                </a:solidFill>
                <a:latin typeface="微软雅黑"/>
                <a:ea typeface="微软雅黑"/>
                <a:cs typeface="微软雅黑"/>
              </a:defRPr>
            </a:pPr>
            <a:endParaRPr sz="1690">
              <a:solidFill>
                <a:srgbClr val="383838"/>
              </a:solidFill>
              <a:latin typeface="微软雅黑"/>
              <a:ea typeface="微软雅黑"/>
              <a:cs typeface="微软雅黑"/>
              <a:sym typeface="微软雅黑"/>
            </a:endParaRPr>
          </a:p>
        </p:txBody>
      </p:sp>
      <p:sp>
        <p:nvSpPr>
          <p:cNvPr id="38" name="Shape"/>
          <p:cNvSpPr/>
          <p:nvPr/>
        </p:nvSpPr>
        <p:spPr>
          <a:xfrm rot="5400000">
            <a:off x="2661398" y="2081679"/>
            <a:ext cx="893266" cy="1825751"/>
          </a:xfrm>
          <a:custGeom>
            <a:avLst/>
            <a:gdLst/>
            <a:ahLst/>
            <a:cxnLst>
              <a:cxn ang="0">
                <a:pos x="wd2" y="hd2"/>
              </a:cxn>
              <a:cxn ang="5400000">
                <a:pos x="wd2" y="hd2"/>
              </a:cxn>
              <a:cxn ang="10800000">
                <a:pos x="wd2" y="hd2"/>
              </a:cxn>
              <a:cxn ang="16200000">
                <a:pos x="wd2" y="hd2"/>
              </a:cxn>
            </a:cxnLst>
            <a:rect l="0" t="0" r="r" b="b"/>
            <a:pathLst>
              <a:path w="20752" h="21580" extrusionOk="0">
                <a:moveTo>
                  <a:pt x="20045" y="0"/>
                </a:moveTo>
                <a:lnTo>
                  <a:pt x="8110" y="185"/>
                </a:lnTo>
                <a:cubicBezTo>
                  <a:pt x="7977" y="181"/>
                  <a:pt x="7850" y="220"/>
                  <a:pt x="7798" y="283"/>
                </a:cubicBezTo>
                <a:cubicBezTo>
                  <a:pt x="7756" y="335"/>
                  <a:pt x="7771" y="395"/>
                  <a:pt x="7838" y="440"/>
                </a:cubicBezTo>
                <a:lnTo>
                  <a:pt x="9423" y="1290"/>
                </a:lnTo>
                <a:cubicBezTo>
                  <a:pt x="4600" y="3699"/>
                  <a:pt x="1431" y="6833"/>
                  <a:pt x="382" y="10230"/>
                </a:cubicBezTo>
                <a:cubicBezTo>
                  <a:pt x="-831" y="14163"/>
                  <a:pt x="863" y="18184"/>
                  <a:pt x="5138" y="21518"/>
                </a:cubicBezTo>
                <a:cubicBezTo>
                  <a:pt x="5236" y="21578"/>
                  <a:pt x="5400" y="21597"/>
                  <a:pt x="5539" y="21564"/>
                </a:cubicBezTo>
                <a:cubicBezTo>
                  <a:pt x="5680" y="21530"/>
                  <a:pt x="5759" y="21452"/>
                  <a:pt x="5729" y="21374"/>
                </a:cubicBezTo>
                <a:lnTo>
                  <a:pt x="5353" y="18126"/>
                </a:lnTo>
                <a:cubicBezTo>
                  <a:pt x="5325" y="18019"/>
                  <a:pt x="5392" y="17910"/>
                  <a:pt x="5532" y="17827"/>
                </a:cubicBezTo>
                <a:cubicBezTo>
                  <a:pt x="5693" y="17732"/>
                  <a:pt x="5932" y="17683"/>
                  <a:pt x="6177" y="17694"/>
                </a:cubicBezTo>
                <a:lnTo>
                  <a:pt x="14085" y="17895"/>
                </a:lnTo>
                <a:cubicBezTo>
                  <a:pt x="14256" y="17900"/>
                  <a:pt x="14418" y="17855"/>
                  <a:pt x="14501" y="17778"/>
                </a:cubicBezTo>
                <a:cubicBezTo>
                  <a:pt x="14577" y="17707"/>
                  <a:pt x="14574" y="17622"/>
                  <a:pt x="14490" y="17554"/>
                </a:cubicBezTo>
                <a:cubicBezTo>
                  <a:pt x="12359" y="15589"/>
                  <a:pt x="11600" y="13315"/>
                  <a:pt x="12338" y="11102"/>
                </a:cubicBezTo>
                <a:cubicBezTo>
                  <a:pt x="13039" y="9003"/>
                  <a:pt x="15053" y="7073"/>
                  <a:pt x="18079" y="5601"/>
                </a:cubicBezTo>
                <a:lnTo>
                  <a:pt x="19736" y="6525"/>
                </a:lnTo>
                <a:cubicBezTo>
                  <a:pt x="19827" y="6576"/>
                  <a:pt x="19969" y="6593"/>
                  <a:pt x="20095" y="6567"/>
                </a:cubicBezTo>
                <a:cubicBezTo>
                  <a:pt x="20208" y="6543"/>
                  <a:pt x="20285" y="6488"/>
                  <a:pt x="20292" y="6426"/>
                </a:cubicBezTo>
                <a:lnTo>
                  <a:pt x="20747" y="389"/>
                </a:lnTo>
                <a:cubicBezTo>
                  <a:pt x="20769" y="291"/>
                  <a:pt x="20708" y="193"/>
                  <a:pt x="20579" y="119"/>
                </a:cubicBezTo>
                <a:cubicBezTo>
                  <a:pt x="20443" y="41"/>
                  <a:pt x="20249" y="-3"/>
                  <a:pt x="20045" y="0"/>
                </a:cubicBezTo>
                <a:close/>
              </a:path>
            </a:pathLst>
          </a:custGeom>
          <a:gradFill>
            <a:gsLst>
              <a:gs pos="0">
                <a:srgbClr val="668EFF"/>
              </a:gs>
              <a:gs pos="100000">
                <a:srgbClr val="3368FF"/>
              </a:gs>
            </a:gsLst>
            <a:lin ang="18900000" scaled="0"/>
          </a:gradFill>
          <a:ln w="12700">
            <a:miter lim="400000"/>
          </a:ln>
          <a:effectLst/>
        </p:spPr>
        <p:txBody>
          <a:bodyPr lIns="0" tIns="0" rIns="0" bIns="0">
            <a:noAutofit/>
          </a:bodyPr>
          <a:lstStyle/>
          <a:p>
            <a:pPr lvl="0" algn="l">
              <a:buClrTx/>
              <a:buSzTx/>
              <a:buFontTx/>
              <a:defRPr>
                <a:solidFill>
                  <a:srgbClr val="383838"/>
                </a:solidFill>
                <a:latin typeface="微软雅黑"/>
                <a:ea typeface="微软雅黑"/>
                <a:cs typeface="微软雅黑"/>
              </a:defRPr>
            </a:pPr>
            <a:endParaRPr sz="1690">
              <a:solidFill>
                <a:srgbClr val="383838"/>
              </a:solidFill>
              <a:latin typeface="微软雅黑"/>
              <a:ea typeface="微软雅黑"/>
              <a:cs typeface="微软雅黑"/>
              <a:sym typeface="微软雅黑"/>
            </a:endParaRPr>
          </a:p>
        </p:txBody>
      </p:sp>
      <p:sp>
        <p:nvSpPr>
          <p:cNvPr id="41" name="Shape"/>
          <p:cNvSpPr/>
          <p:nvPr/>
        </p:nvSpPr>
        <p:spPr>
          <a:xfrm rot="5400000">
            <a:off x="2437574" y="3827981"/>
            <a:ext cx="886547" cy="2032159"/>
          </a:xfrm>
          <a:custGeom>
            <a:avLst/>
            <a:gdLst/>
            <a:ahLst/>
            <a:cxnLst>
              <a:cxn ang="0">
                <a:pos x="wd2" y="hd2"/>
              </a:cxn>
              <a:cxn ang="5400000">
                <a:pos x="wd2" y="hd2"/>
              </a:cxn>
              <a:cxn ang="10800000">
                <a:pos x="wd2" y="hd2"/>
              </a:cxn>
              <a:cxn ang="16200000">
                <a:pos x="wd2" y="hd2"/>
              </a:cxn>
            </a:cxnLst>
            <a:rect l="0" t="0" r="r" b="b"/>
            <a:pathLst>
              <a:path w="21414" h="21585" extrusionOk="0">
                <a:moveTo>
                  <a:pt x="11910" y="0"/>
                </a:moveTo>
                <a:cubicBezTo>
                  <a:pt x="11757" y="-1"/>
                  <a:pt x="11612" y="28"/>
                  <a:pt x="11515" y="80"/>
                </a:cubicBezTo>
                <a:lnTo>
                  <a:pt x="3327" y="3664"/>
                </a:lnTo>
                <a:cubicBezTo>
                  <a:pt x="3233" y="3714"/>
                  <a:pt x="3190" y="3779"/>
                  <a:pt x="3212" y="3843"/>
                </a:cubicBezTo>
                <a:cubicBezTo>
                  <a:pt x="3231" y="3899"/>
                  <a:pt x="3298" y="3950"/>
                  <a:pt x="3398" y="3986"/>
                </a:cubicBezTo>
                <a:cubicBezTo>
                  <a:pt x="7243" y="5829"/>
                  <a:pt x="9190" y="8287"/>
                  <a:pt x="8786" y="10782"/>
                </a:cubicBezTo>
                <a:cubicBezTo>
                  <a:pt x="8433" y="12957"/>
                  <a:pt x="6306" y="15002"/>
                  <a:pt x="2794" y="16541"/>
                </a:cubicBezTo>
                <a:lnTo>
                  <a:pt x="1004" y="15709"/>
                </a:lnTo>
                <a:cubicBezTo>
                  <a:pt x="905" y="15673"/>
                  <a:pt x="769" y="15666"/>
                  <a:pt x="654" y="15691"/>
                </a:cubicBezTo>
                <a:cubicBezTo>
                  <a:pt x="518" y="15720"/>
                  <a:pt x="443" y="15784"/>
                  <a:pt x="471" y="15850"/>
                </a:cubicBezTo>
                <a:lnTo>
                  <a:pt x="1" y="21209"/>
                </a:lnTo>
                <a:cubicBezTo>
                  <a:pt x="-12" y="21296"/>
                  <a:pt x="48" y="21384"/>
                  <a:pt x="173" y="21452"/>
                </a:cubicBezTo>
                <a:cubicBezTo>
                  <a:pt x="352" y="21550"/>
                  <a:pt x="636" y="21599"/>
                  <a:pt x="919" y="21581"/>
                </a:cubicBezTo>
                <a:lnTo>
                  <a:pt x="13140" y="21398"/>
                </a:lnTo>
                <a:cubicBezTo>
                  <a:pt x="13303" y="21405"/>
                  <a:pt x="13460" y="21367"/>
                  <a:pt x="13532" y="21303"/>
                </a:cubicBezTo>
                <a:cubicBezTo>
                  <a:pt x="13606" y="21236"/>
                  <a:pt x="13573" y="21156"/>
                  <a:pt x="13454" y="21104"/>
                </a:cubicBezTo>
                <a:lnTo>
                  <a:pt x="11738" y="20404"/>
                </a:lnTo>
                <a:cubicBezTo>
                  <a:pt x="17764" y="17750"/>
                  <a:pt x="21229" y="14176"/>
                  <a:pt x="21406" y="10426"/>
                </a:cubicBezTo>
                <a:cubicBezTo>
                  <a:pt x="21588" y="6591"/>
                  <a:pt x="18321" y="2878"/>
                  <a:pt x="12316" y="95"/>
                </a:cubicBezTo>
                <a:cubicBezTo>
                  <a:pt x="12224" y="36"/>
                  <a:pt x="12073" y="1"/>
                  <a:pt x="11910" y="0"/>
                </a:cubicBezTo>
                <a:close/>
              </a:path>
            </a:pathLst>
          </a:custGeom>
          <a:gradFill>
            <a:gsLst>
              <a:gs pos="0">
                <a:srgbClr val="668EFF"/>
              </a:gs>
              <a:gs pos="100000">
                <a:srgbClr val="3368FF"/>
              </a:gs>
            </a:gsLst>
            <a:lin ang="18900000" scaled="0"/>
          </a:gradFill>
          <a:ln w="12700">
            <a:miter lim="400000"/>
          </a:ln>
          <a:effectLst/>
        </p:spPr>
        <p:txBody>
          <a:bodyPr lIns="0" tIns="0" rIns="0" bIns="0"/>
          <a:lstStyle/>
          <a:p>
            <a:pPr>
              <a:defRPr>
                <a:solidFill>
                  <a:srgbClr val="FFFFFF"/>
                </a:solidFill>
                <a:latin typeface="微软雅黑"/>
                <a:ea typeface="微软雅黑"/>
                <a:cs typeface="微软雅黑"/>
              </a:defRPr>
            </a:pPr>
            <a:endParaRPr sz="1690">
              <a:solidFill>
                <a:srgbClr val="FFFFFF"/>
              </a:solidFill>
              <a:latin typeface="微软雅黑"/>
              <a:ea typeface="微软雅黑"/>
              <a:cs typeface="微软雅黑"/>
            </a:endParaRPr>
          </a:p>
        </p:txBody>
      </p:sp>
      <p:sp>
        <p:nvSpPr>
          <p:cNvPr id="55" name="Shape"/>
          <p:cNvSpPr/>
          <p:nvPr/>
        </p:nvSpPr>
        <p:spPr>
          <a:xfrm rot="5400000">
            <a:off x="1104587" y="3295970"/>
            <a:ext cx="1829414" cy="892278"/>
          </a:xfrm>
          <a:custGeom>
            <a:avLst/>
            <a:gdLst/>
            <a:ahLst/>
            <a:cxnLst>
              <a:cxn ang="0">
                <a:pos x="wd2" y="hd2"/>
              </a:cxn>
              <a:cxn ang="5400000">
                <a:pos x="wd2" y="hd2"/>
              </a:cxn>
              <a:cxn ang="10800000">
                <a:pos x="wd2" y="hd2"/>
              </a:cxn>
              <a:cxn ang="16200000">
                <a:pos x="wd2" y="hd2"/>
              </a:cxn>
            </a:cxnLst>
            <a:rect l="0" t="0" r="r" b="b"/>
            <a:pathLst>
              <a:path w="21578" h="21052" extrusionOk="0">
                <a:moveTo>
                  <a:pt x="394" y="0"/>
                </a:moveTo>
                <a:cubicBezTo>
                  <a:pt x="279" y="2"/>
                  <a:pt x="169" y="102"/>
                  <a:pt x="94" y="277"/>
                </a:cubicBezTo>
                <a:cubicBezTo>
                  <a:pt x="21" y="447"/>
                  <a:pt x="-11" y="670"/>
                  <a:pt x="3" y="892"/>
                </a:cubicBezTo>
                <a:lnTo>
                  <a:pt x="312" y="12707"/>
                </a:lnTo>
                <a:cubicBezTo>
                  <a:pt x="307" y="12842"/>
                  <a:pt x="342" y="12969"/>
                  <a:pt x="402" y="13034"/>
                </a:cubicBezTo>
                <a:cubicBezTo>
                  <a:pt x="466" y="13105"/>
                  <a:pt x="545" y="13087"/>
                  <a:pt x="600" y="12991"/>
                </a:cubicBezTo>
                <a:lnTo>
                  <a:pt x="1341" y="11654"/>
                </a:lnTo>
                <a:cubicBezTo>
                  <a:pt x="3992" y="16921"/>
                  <a:pt x="7473" y="20191"/>
                  <a:pt x="11193" y="20904"/>
                </a:cubicBezTo>
                <a:cubicBezTo>
                  <a:pt x="14818" y="21600"/>
                  <a:pt x="18454" y="19824"/>
                  <a:pt x="21512" y="15864"/>
                </a:cubicBezTo>
                <a:cubicBezTo>
                  <a:pt x="21565" y="15790"/>
                  <a:pt x="21589" y="15654"/>
                  <a:pt x="21572" y="15529"/>
                </a:cubicBezTo>
                <a:cubicBezTo>
                  <a:pt x="21554" y="15396"/>
                  <a:pt x="21494" y="15305"/>
                  <a:pt x="21425" y="15303"/>
                </a:cubicBezTo>
                <a:lnTo>
                  <a:pt x="18107" y="15613"/>
                </a:lnTo>
                <a:cubicBezTo>
                  <a:pt x="18000" y="15648"/>
                  <a:pt x="17890" y="15588"/>
                  <a:pt x="17807" y="15449"/>
                </a:cubicBezTo>
                <a:cubicBezTo>
                  <a:pt x="17721" y="15305"/>
                  <a:pt x="17673" y="15093"/>
                  <a:pt x="17674" y="14870"/>
                </a:cubicBezTo>
                <a:lnTo>
                  <a:pt x="17865" y="6606"/>
                </a:lnTo>
                <a:cubicBezTo>
                  <a:pt x="17880" y="6455"/>
                  <a:pt x="17847" y="6304"/>
                  <a:pt x="17781" y="6220"/>
                </a:cubicBezTo>
                <a:cubicBezTo>
                  <a:pt x="17725" y="6148"/>
                  <a:pt x="17653" y="6139"/>
                  <a:pt x="17594" y="6202"/>
                </a:cubicBezTo>
                <a:cubicBezTo>
                  <a:pt x="15786" y="8239"/>
                  <a:pt x="13703" y="9093"/>
                  <a:pt x="11640" y="8642"/>
                </a:cubicBezTo>
                <a:cubicBezTo>
                  <a:pt x="9395" y="8151"/>
                  <a:pt x="7299" y="6148"/>
                  <a:pt x="5698" y="2961"/>
                </a:cubicBezTo>
                <a:lnTo>
                  <a:pt x="6552" y="1111"/>
                </a:lnTo>
                <a:cubicBezTo>
                  <a:pt x="6604" y="1006"/>
                  <a:pt x="6615" y="849"/>
                  <a:pt x="6581" y="717"/>
                </a:cubicBezTo>
                <a:cubicBezTo>
                  <a:pt x="6549" y="595"/>
                  <a:pt x="6484" y="521"/>
                  <a:pt x="6415" y="535"/>
                </a:cubicBezTo>
                <a:lnTo>
                  <a:pt x="394" y="0"/>
                </a:lnTo>
                <a:close/>
              </a:path>
            </a:pathLst>
          </a:custGeom>
          <a:gradFill>
            <a:gsLst>
              <a:gs pos="0">
                <a:srgbClr val="668EFF"/>
              </a:gs>
              <a:gs pos="100000">
                <a:srgbClr val="3368FF"/>
              </a:gs>
            </a:gsLst>
            <a:lin ang="18900000" scaled="0"/>
          </a:gradFill>
          <a:ln w="12700">
            <a:miter lim="400000"/>
          </a:ln>
          <a:effectLst/>
        </p:spPr>
        <p:txBody>
          <a:bodyPr lIns="0" tIns="0" rIns="0" bIns="0">
            <a:noAutofit/>
          </a:bodyPr>
          <a:lstStyle/>
          <a:p>
            <a:pPr lvl="0" algn="l">
              <a:buClrTx/>
              <a:buSzTx/>
              <a:buFontTx/>
              <a:defRPr>
                <a:solidFill>
                  <a:srgbClr val="383838"/>
                </a:solidFill>
                <a:latin typeface="微软雅黑"/>
                <a:ea typeface="微软雅黑"/>
                <a:cs typeface="微软雅黑"/>
              </a:defRPr>
            </a:pPr>
            <a:endParaRPr sz="1690">
              <a:solidFill>
                <a:srgbClr val="383838"/>
              </a:solidFill>
              <a:latin typeface="微软雅黑"/>
              <a:ea typeface="微软雅黑"/>
              <a:cs typeface="微软雅黑"/>
              <a:sym typeface="微软雅黑"/>
            </a:endParaRPr>
          </a:p>
        </p:txBody>
      </p:sp>
      <p:sp>
        <p:nvSpPr>
          <p:cNvPr id="56" name="Freeform 661"/>
          <p:cNvSpPr/>
          <p:nvPr/>
        </p:nvSpPr>
        <p:spPr>
          <a:xfrm rot="5400000">
            <a:off x="2745348" y="3551885"/>
            <a:ext cx="407066" cy="416758"/>
          </a:xfrm>
          <a:custGeom>
            <a:avLst/>
            <a:gdLst/>
            <a:ahLst/>
            <a:cxnLst>
              <a:cxn ang="0">
                <a:pos x="wd2" y="hd2"/>
              </a:cxn>
              <a:cxn ang="5400000">
                <a:pos x="wd2" y="hd2"/>
              </a:cxn>
              <a:cxn ang="10800000">
                <a:pos x="wd2" y="hd2"/>
              </a:cxn>
              <a:cxn ang="16200000">
                <a:pos x="wd2" y="hd2"/>
              </a:cxn>
            </a:cxnLst>
            <a:rect l="0" t="0" r="r" b="b"/>
            <a:pathLst>
              <a:path w="21600" h="21600" extrusionOk="0">
                <a:moveTo>
                  <a:pt x="18231" y="0"/>
                </a:moveTo>
                <a:lnTo>
                  <a:pt x="13496" y="4642"/>
                </a:lnTo>
                <a:lnTo>
                  <a:pt x="13496" y="7050"/>
                </a:lnTo>
                <a:lnTo>
                  <a:pt x="10463" y="10081"/>
                </a:lnTo>
                <a:cubicBezTo>
                  <a:pt x="10369" y="10062"/>
                  <a:pt x="10279" y="10047"/>
                  <a:pt x="10179" y="10047"/>
                </a:cubicBezTo>
                <a:cubicBezTo>
                  <a:pt x="9419" y="10047"/>
                  <a:pt x="8796" y="10656"/>
                  <a:pt x="8796" y="11398"/>
                </a:cubicBezTo>
                <a:cubicBezTo>
                  <a:pt x="8796" y="12140"/>
                  <a:pt x="9420" y="12731"/>
                  <a:pt x="10179" y="12731"/>
                </a:cubicBezTo>
                <a:cubicBezTo>
                  <a:pt x="10939" y="12731"/>
                  <a:pt x="11563" y="12140"/>
                  <a:pt x="11563" y="11398"/>
                </a:cubicBezTo>
                <a:cubicBezTo>
                  <a:pt x="11563" y="11256"/>
                  <a:pt x="11533" y="11110"/>
                  <a:pt x="11492" y="10982"/>
                </a:cubicBezTo>
                <a:lnTo>
                  <a:pt x="14524" y="7933"/>
                </a:lnTo>
                <a:lnTo>
                  <a:pt x="16847" y="7933"/>
                </a:lnTo>
                <a:lnTo>
                  <a:pt x="21600" y="3291"/>
                </a:lnTo>
                <a:lnTo>
                  <a:pt x="19348" y="3083"/>
                </a:lnTo>
                <a:lnTo>
                  <a:pt x="20518" y="1905"/>
                </a:lnTo>
                <a:lnTo>
                  <a:pt x="19525" y="970"/>
                </a:lnTo>
                <a:lnTo>
                  <a:pt x="18443" y="2061"/>
                </a:lnTo>
                <a:lnTo>
                  <a:pt x="18231" y="0"/>
                </a:lnTo>
                <a:close/>
                <a:moveTo>
                  <a:pt x="10179" y="1715"/>
                </a:moveTo>
                <a:cubicBezTo>
                  <a:pt x="4557" y="1715"/>
                  <a:pt x="0" y="6166"/>
                  <a:pt x="0" y="11657"/>
                </a:cubicBezTo>
                <a:cubicBezTo>
                  <a:pt x="0" y="17149"/>
                  <a:pt x="4558" y="21600"/>
                  <a:pt x="10179" y="21600"/>
                </a:cubicBezTo>
                <a:cubicBezTo>
                  <a:pt x="15802" y="21600"/>
                  <a:pt x="20359" y="17149"/>
                  <a:pt x="20359" y="11657"/>
                </a:cubicBezTo>
                <a:cubicBezTo>
                  <a:pt x="20359" y="10082"/>
                  <a:pt x="19979" y="8598"/>
                  <a:pt x="19312" y="7275"/>
                </a:cubicBezTo>
                <a:lnTo>
                  <a:pt x="17858" y="8695"/>
                </a:lnTo>
                <a:cubicBezTo>
                  <a:pt x="18231" y="9612"/>
                  <a:pt x="18426" y="10612"/>
                  <a:pt x="18426" y="11657"/>
                </a:cubicBezTo>
                <a:cubicBezTo>
                  <a:pt x="18426" y="16103"/>
                  <a:pt x="14731" y="19729"/>
                  <a:pt x="10179" y="19729"/>
                </a:cubicBezTo>
                <a:cubicBezTo>
                  <a:pt x="5628" y="19729"/>
                  <a:pt x="1933" y="16104"/>
                  <a:pt x="1933" y="11657"/>
                </a:cubicBezTo>
                <a:cubicBezTo>
                  <a:pt x="1933" y="7212"/>
                  <a:pt x="5628" y="3603"/>
                  <a:pt x="10179" y="3603"/>
                </a:cubicBezTo>
                <a:cubicBezTo>
                  <a:pt x="10911" y="3603"/>
                  <a:pt x="11614" y="3688"/>
                  <a:pt x="12290" y="3863"/>
                </a:cubicBezTo>
                <a:lnTo>
                  <a:pt x="13815" y="2373"/>
                </a:lnTo>
                <a:cubicBezTo>
                  <a:pt x="12683" y="1949"/>
                  <a:pt x="11464" y="1715"/>
                  <a:pt x="10179" y="1715"/>
                </a:cubicBezTo>
                <a:close/>
                <a:moveTo>
                  <a:pt x="10179" y="6011"/>
                </a:moveTo>
                <a:cubicBezTo>
                  <a:pt x="7140" y="6011"/>
                  <a:pt x="4682" y="8412"/>
                  <a:pt x="4682" y="11380"/>
                </a:cubicBezTo>
                <a:cubicBezTo>
                  <a:pt x="4682" y="14348"/>
                  <a:pt x="7140" y="16767"/>
                  <a:pt x="10179" y="16767"/>
                </a:cubicBezTo>
                <a:cubicBezTo>
                  <a:pt x="13218" y="16767"/>
                  <a:pt x="15677" y="14348"/>
                  <a:pt x="15677" y="11380"/>
                </a:cubicBezTo>
                <a:cubicBezTo>
                  <a:pt x="15678" y="10534"/>
                  <a:pt x="15484" y="9737"/>
                  <a:pt x="15127" y="9025"/>
                </a:cubicBezTo>
                <a:lnTo>
                  <a:pt x="14099" y="10116"/>
                </a:lnTo>
                <a:cubicBezTo>
                  <a:pt x="14237" y="10518"/>
                  <a:pt x="14311" y="10933"/>
                  <a:pt x="14311" y="11380"/>
                </a:cubicBezTo>
                <a:cubicBezTo>
                  <a:pt x="14311" y="13603"/>
                  <a:pt x="12455" y="15416"/>
                  <a:pt x="10179" y="15416"/>
                </a:cubicBezTo>
                <a:cubicBezTo>
                  <a:pt x="7904" y="15416"/>
                  <a:pt x="6047" y="13603"/>
                  <a:pt x="6047" y="11380"/>
                </a:cubicBezTo>
                <a:cubicBezTo>
                  <a:pt x="6047" y="9158"/>
                  <a:pt x="7904" y="7362"/>
                  <a:pt x="10179" y="7362"/>
                </a:cubicBezTo>
                <a:cubicBezTo>
                  <a:pt x="10570" y="7362"/>
                  <a:pt x="10939" y="7418"/>
                  <a:pt x="11297" y="7518"/>
                </a:cubicBezTo>
                <a:lnTo>
                  <a:pt x="12325" y="6444"/>
                </a:lnTo>
                <a:cubicBezTo>
                  <a:pt x="11665" y="6170"/>
                  <a:pt x="10942" y="6011"/>
                  <a:pt x="10179" y="6011"/>
                </a:cubicBezTo>
                <a:close/>
              </a:path>
            </a:pathLst>
          </a:custGeom>
          <a:solidFill>
            <a:srgbClr val="FFFFFF"/>
          </a:solidFill>
          <a:ln w="12700">
            <a:miter lim="400000"/>
          </a:ln>
          <a:effectLst/>
        </p:spPr>
        <p:txBody>
          <a:bodyPr lIns="21488" tIns="42977" rIns="21488" bIns="42977" anchor="ctr"/>
          <a:lstStyle/>
          <a:p>
            <a:pPr algn="ctr" defTabSz="457200">
              <a:defRPr sz="1800" b="0">
                <a:solidFill>
                  <a:srgbClr val="FFFFFF"/>
                </a:solidFill>
                <a:latin typeface="微软雅黑"/>
                <a:ea typeface="微软雅黑"/>
                <a:cs typeface="微软雅黑"/>
                <a:sym typeface="微软雅黑"/>
              </a:defRPr>
            </a:pPr>
            <a:endParaRPr sz="1200">
              <a:solidFill>
                <a:srgbClr val="FFFFFF"/>
              </a:solidFill>
              <a:latin typeface="微软雅黑"/>
              <a:ea typeface="微软雅黑"/>
              <a:cs typeface="微软雅黑"/>
              <a:sym typeface="微软雅黑"/>
            </a:endParaRPr>
          </a:p>
        </p:txBody>
      </p:sp>
      <p:sp>
        <p:nvSpPr>
          <p:cNvPr id="57" name="Venn diagram"/>
          <p:cNvSpPr txBox="1"/>
          <p:nvPr/>
        </p:nvSpPr>
        <p:spPr>
          <a:xfrm>
            <a:off x="2562225" y="4030980"/>
            <a:ext cx="773430" cy="263525"/>
          </a:xfrm>
          <a:prstGeom prst="rect">
            <a:avLst/>
          </a:prstGeom>
          <a:ln w="12700">
            <a:miter lim="400000"/>
          </a:ln>
          <a:effectLst/>
        </p:spPr>
        <p:txBody>
          <a:bodyPr lIns="23876" tIns="23876" rIns="23876" bIns="23876">
            <a:noAutofit/>
          </a:bodyPr>
          <a:lstStyle>
            <a:lvl1pPr>
              <a:defRPr sz="25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sym typeface="微软雅黑"/>
              </a:rPr>
              <a:t>核心价值</a:t>
            </a:r>
            <a:endParaRPr lang="zh-CN" altLang="en-US" sz="1400" dirty="0">
              <a:solidFill>
                <a:srgbClr val="FFFFFF"/>
              </a:solidFill>
              <a:latin typeface="微软雅黑"/>
              <a:ea typeface="微软雅黑"/>
              <a:cs typeface="微软雅黑"/>
              <a:sym typeface="微软雅黑"/>
            </a:endParaRPr>
          </a:p>
        </p:txBody>
      </p:sp>
      <p:sp>
        <p:nvSpPr>
          <p:cNvPr id="58" name="Venn diagram"/>
          <p:cNvSpPr txBox="1"/>
          <p:nvPr/>
        </p:nvSpPr>
        <p:spPr>
          <a:xfrm>
            <a:off x="2670175" y="2669540"/>
            <a:ext cx="880745" cy="335280"/>
          </a:xfrm>
          <a:prstGeom prst="rect">
            <a:avLst/>
          </a:prstGeom>
          <a:ln w="12700">
            <a:miter lim="400000"/>
          </a:ln>
          <a:effectLst/>
        </p:spPr>
        <p:txBody>
          <a:bodyPr wrap="square" lIns="0" tIns="0" rIns="0" bIns="0" anchor="t">
            <a:no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市场竞争力与商业价值</a:t>
            </a:r>
            <a:endParaRPr lang="zh-CN" altLang="en-US" sz="1000" dirty="0">
              <a:solidFill>
                <a:srgbClr val="FFFFFF"/>
              </a:solidFill>
              <a:latin typeface="微软雅黑"/>
              <a:ea typeface="微软雅黑"/>
              <a:cs typeface="微软雅黑"/>
              <a:sym typeface="微软雅黑"/>
            </a:endParaRPr>
          </a:p>
        </p:txBody>
      </p:sp>
      <p:sp>
        <p:nvSpPr>
          <p:cNvPr id="59" name="Venn diagram"/>
          <p:cNvSpPr txBox="1"/>
          <p:nvPr/>
        </p:nvSpPr>
        <p:spPr>
          <a:xfrm>
            <a:off x="1482351" y="3553982"/>
            <a:ext cx="773431" cy="335280"/>
          </a:xfrm>
          <a:prstGeom prst="rect">
            <a:avLst/>
          </a:prstGeom>
          <a:ln w="12700">
            <a:miter lim="400000"/>
          </a:ln>
          <a:effectLst/>
        </p:spPr>
        <p:txBody>
          <a:bodyPr lIns="0" tIns="0" rIns="0" bIns="0" wrap="square" anchor="t">
            <a:no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品牌形象</a:t>
            </a:r>
            <a:endParaRPr lang="zh-CN" altLang="en-US" sz="1000"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与联想</a:t>
            </a:r>
            <a:endParaRPr lang="zh-CN" altLang="en-US" sz="1000" dirty="0">
              <a:solidFill>
                <a:srgbClr val="FFFFFF"/>
              </a:solidFill>
              <a:latin typeface="微软雅黑"/>
              <a:ea typeface="微软雅黑"/>
              <a:cs typeface="微软雅黑"/>
              <a:sym typeface="微软雅黑"/>
            </a:endParaRPr>
          </a:p>
        </p:txBody>
      </p:sp>
      <p:sp>
        <p:nvSpPr>
          <p:cNvPr id="61" name="Venn diagram"/>
          <p:cNvSpPr txBox="1"/>
          <p:nvPr/>
        </p:nvSpPr>
        <p:spPr>
          <a:xfrm>
            <a:off x="2465705" y="4866640"/>
            <a:ext cx="847725" cy="335280"/>
          </a:xfrm>
          <a:prstGeom prst="rect">
            <a:avLst/>
          </a:prstGeom>
          <a:ln w="12700">
            <a:miter lim="400000"/>
          </a:ln>
          <a:effectLst/>
        </p:spPr>
        <p:txBody>
          <a:bodyPr wrap="square" lIns="0" tIns="0" rIns="0" bIns="0" anchor="t">
            <a:no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品牌知名度与认知度</a:t>
            </a:r>
            <a:endParaRPr lang="zh-CN" altLang="en-US" sz="1000" dirty="0">
              <a:solidFill>
                <a:srgbClr val="FFFFFF"/>
              </a:solidFill>
              <a:latin typeface="微软雅黑"/>
              <a:ea typeface="微软雅黑"/>
              <a:cs typeface="微软雅黑"/>
              <a:sym typeface="微软雅黑"/>
            </a:endParaRPr>
          </a:p>
        </p:txBody>
      </p:sp>
      <p:sp>
        <p:nvSpPr>
          <p:cNvPr id="62" name="Venn diagram"/>
          <p:cNvSpPr txBox="1"/>
          <p:nvPr/>
        </p:nvSpPr>
        <p:spPr>
          <a:xfrm>
            <a:off x="4184718" y="3815017"/>
            <a:ext cx="773431" cy="335280"/>
          </a:xfrm>
          <a:prstGeom prst="rect">
            <a:avLst/>
          </a:prstGeom>
          <a:ln w="12700">
            <a:miter lim="400000"/>
          </a:ln>
          <a:effectLst/>
        </p:spPr>
        <p:txBody>
          <a:bodyPr lIns="0" tIns="0" rIns="0" bIns="0" wrap="square" anchor="t">
            <a:no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品牌忠诚与</a:t>
            </a:r>
            <a:endParaRPr lang="zh-CN" altLang="en-US" sz="1000"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sym typeface="微软雅黑"/>
              </a:rPr>
              <a:t>溢价能力</a:t>
            </a:r>
            <a:endParaRPr lang="zh-CN" altLang="en-US" sz="1000" dirty="0">
              <a:solidFill>
                <a:srgbClr val="FFFFFF"/>
              </a:solidFill>
              <a:latin typeface="微软雅黑"/>
              <a:ea typeface="微软雅黑"/>
              <a:cs typeface="微软雅黑"/>
              <a:sym typeface="微软雅黑"/>
            </a:endParaRPr>
          </a:p>
        </p:txBody>
      </p:sp>
      <p:sp>
        <p:nvSpPr>
          <p:cNvPr id="64" name="Circle"/>
          <p:cNvSpPr/>
          <p:nvPr/>
        </p:nvSpPr>
        <p:spPr>
          <a:xfrm rot="5400000" flipH="1" flipV="1">
            <a:off x="8698350" y="3297916"/>
            <a:ext cx="1229086" cy="1229086"/>
          </a:xfrm>
          <a:prstGeom prst="ellipse">
            <a:avLst/>
          </a:prstGeom>
          <a:gradFill>
            <a:gsLst>
              <a:gs pos="0">
                <a:srgbClr val="B3D4FE"/>
              </a:gs>
              <a:gs pos="100000">
                <a:srgbClr val="3368FF"/>
              </a:gs>
            </a:gsLst>
            <a:lin ang="18900000" scaled="0"/>
          </a:gradFill>
          <a:ln w="12700">
            <a:miter lim="400000"/>
          </a:ln>
          <a:effectLst/>
        </p:spPr>
        <p:txBody>
          <a:bodyPr lIns="0" tIns="0" rIns="0" bIns="0" anchor="ctr"/>
          <a:lstStyle/>
          <a:p>
            <a:pPr>
              <a:defRPr>
                <a:latin typeface="微软雅黑"/>
                <a:ea typeface="微软雅黑"/>
                <a:cs typeface="微软雅黑"/>
              </a:defRPr>
            </a:pPr>
            <a:endParaRPr sz="1690">
              <a:latin typeface="微软雅黑"/>
              <a:ea typeface="微软雅黑"/>
              <a:cs typeface="微软雅黑"/>
            </a:endParaRPr>
          </a:p>
        </p:txBody>
      </p:sp>
      <p:sp>
        <p:nvSpPr>
          <p:cNvPr id="65" name="Shape"/>
          <p:cNvSpPr/>
          <p:nvPr/>
        </p:nvSpPr>
        <p:spPr>
          <a:xfrm rot="5400000" flipH="1" flipV="1">
            <a:off x="6838133" y="3011079"/>
            <a:ext cx="1700868" cy="1682433"/>
          </a:xfrm>
          <a:custGeom>
            <a:avLst/>
            <a:gdLst/>
            <a:ahLst/>
            <a:cxnLst>
              <a:cxn ang="0">
                <a:pos x="wd2" y="hd2"/>
              </a:cxn>
              <a:cxn ang="5400000">
                <a:pos x="wd2" y="hd2"/>
              </a:cxn>
              <a:cxn ang="10800000">
                <a:pos x="wd2" y="hd2"/>
              </a:cxn>
              <a:cxn ang="16200000">
                <a:pos x="wd2" y="hd2"/>
              </a:cxn>
            </a:cxnLst>
            <a:rect l="0" t="0" r="r" b="b"/>
            <a:pathLst>
              <a:path w="21573" h="21575" extrusionOk="0">
                <a:moveTo>
                  <a:pt x="21159" y="2"/>
                </a:moveTo>
                <a:lnTo>
                  <a:pt x="14583" y="168"/>
                </a:lnTo>
                <a:cubicBezTo>
                  <a:pt x="14517" y="169"/>
                  <a:pt x="14455" y="207"/>
                  <a:pt x="14424" y="267"/>
                </a:cubicBezTo>
                <a:cubicBezTo>
                  <a:pt x="14389" y="338"/>
                  <a:pt x="14403" y="422"/>
                  <a:pt x="14458" y="479"/>
                </a:cubicBezTo>
                <a:lnTo>
                  <a:pt x="15397" y="1425"/>
                </a:lnTo>
                <a:lnTo>
                  <a:pt x="74" y="16882"/>
                </a:lnTo>
                <a:cubicBezTo>
                  <a:pt x="13" y="16924"/>
                  <a:pt x="-14" y="17000"/>
                  <a:pt x="7" y="17070"/>
                </a:cubicBezTo>
                <a:cubicBezTo>
                  <a:pt x="32" y="17153"/>
                  <a:pt x="114" y="17205"/>
                  <a:pt x="199" y="17191"/>
                </a:cubicBezTo>
                <a:lnTo>
                  <a:pt x="4238" y="17005"/>
                </a:lnTo>
                <a:cubicBezTo>
                  <a:pt x="4355" y="16996"/>
                  <a:pt x="4469" y="17040"/>
                  <a:pt x="4551" y="17124"/>
                </a:cubicBezTo>
                <a:cubicBezTo>
                  <a:pt x="4634" y="17209"/>
                  <a:pt x="4676" y="17326"/>
                  <a:pt x="4665" y="17445"/>
                </a:cubicBezTo>
                <a:lnTo>
                  <a:pt x="4537" y="21362"/>
                </a:lnTo>
                <a:cubicBezTo>
                  <a:pt x="4528" y="21437"/>
                  <a:pt x="4563" y="21510"/>
                  <a:pt x="4627" y="21548"/>
                </a:cubicBezTo>
                <a:cubicBezTo>
                  <a:pt x="4695" y="21588"/>
                  <a:pt x="4778" y="21582"/>
                  <a:pt x="4839" y="21532"/>
                </a:cubicBezTo>
                <a:lnTo>
                  <a:pt x="20124" y="6132"/>
                </a:lnTo>
                <a:lnTo>
                  <a:pt x="20981" y="7043"/>
                </a:lnTo>
                <a:cubicBezTo>
                  <a:pt x="21030" y="7083"/>
                  <a:pt x="21098" y="7093"/>
                  <a:pt x="21155" y="7068"/>
                </a:cubicBezTo>
                <a:cubicBezTo>
                  <a:pt x="21225" y="7039"/>
                  <a:pt x="21268" y="6966"/>
                  <a:pt x="21261" y="6890"/>
                </a:cubicBezTo>
                <a:lnTo>
                  <a:pt x="21569" y="433"/>
                </a:lnTo>
                <a:cubicBezTo>
                  <a:pt x="21586" y="323"/>
                  <a:pt x="21553" y="212"/>
                  <a:pt x="21480" y="129"/>
                </a:cubicBezTo>
                <a:cubicBezTo>
                  <a:pt x="21400" y="36"/>
                  <a:pt x="21280" y="-12"/>
                  <a:pt x="21159" y="2"/>
                </a:cubicBezTo>
                <a:close/>
              </a:path>
            </a:pathLst>
          </a:custGeom>
          <a:gradFill>
            <a:gsLst>
              <a:gs pos="0">
                <a:srgbClr val="B3D4FE"/>
              </a:gs>
              <a:gs pos="100000">
                <a:srgbClr val="B3D4FE"/>
              </a:gs>
            </a:gsLst>
            <a:lin ang="18900000" scaled="0"/>
          </a:gradFill>
          <a:ln w="12700">
            <a:miter lim="400000"/>
          </a:ln>
          <a:effectLst/>
        </p:spPr>
        <p:txBody>
          <a:bodyPr lIns="0" tIns="0" rIns="0" bIns="0">
            <a:noAutofit/>
          </a:bodyPr>
          <a:lstStyle/>
          <a:p>
            <a:pPr lvl="0" algn="l">
              <a:buClrTx/>
              <a:buSzTx/>
              <a:buFontTx/>
              <a:defRPr>
                <a:solidFill>
                  <a:srgbClr val="383838"/>
                </a:solidFill>
                <a:latin typeface="微软雅黑"/>
                <a:ea typeface="微软雅黑"/>
                <a:cs typeface="微软雅黑"/>
              </a:defRPr>
            </a:pPr>
            <a:endParaRPr sz="1690">
              <a:latin typeface="微软雅黑"/>
              <a:ea typeface="微软雅黑"/>
              <a:cs typeface="微软雅黑"/>
              <a:sym typeface="微软雅黑"/>
            </a:endParaRPr>
          </a:p>
        </p:txBody>
      </p:sp>
      <p:sp>
        <p:nvSpPr>
          <p:cNvPr id="66" name="Shape"/>
          <p:cNvSpPr/>
          <p:nvPr/>
        </p:nvSpPr>
        <p:spPr>
          <a:xfrm rot="5400000" flipH="1" flipV="1">
            <a:off x="8697454" y="3926691"/>
            <a:ext cx="893266" cy="1825751"/>
          </a:xfrm>
          <a:custGeom>
            <a:avLst/>
            <a:gdLst/>
            <a:ahLst/>
            <a:cxnLst>
              <a:cxn ang="0">
                <a:pos x="wd2" y="hd2"/>
              </a:cxn>
              <a:cxn ang="5400000">
                <a:pos x="wd2" y="hd2"/>
              </a:cxn>
              <a:cxn ang="10800000">
                <a:pos x="wd2" y="hd2"/>
              </a:cxn>
              <a:cxn ang="16200000">
                <a:pos x="wd2" y="hd2"/>
              </a:cxn>
            </a:cxnLst>
            <a:rect l="0" t="0" r="r" b="b"/>
            <a:pathLst>
              <a:path w="20752" h="21580" extrusionOk="0">
                <a:moveTo>
                  <a:pt x="20045" y="0"/>
                </a:moveTo>
                <a:lnTo>
                  <a:pt x="8110" y="185"/>
                </a:lnTo>
                <a:cubicBezTo>
                  <a:pt x="7977" y="181"/>
                  <a:pt x="7850" y="220"/>
                  <a:pt x="7798" y="283"/>
                </a:cubicBezTo>
                <a:cubicBezTo>
                  <a:pt x="7756" y="335"/>
                  <a:pt x="7771" y="395"/>
                  <a:pt x="7838" y="440"/>
                </a:cubicBezTo>
                <a:lnTo>
                  <a:pt x="9423" y="1290"/>
                </a:lnTo>
                <a:cubicBezTo>
                  <a:pt x="4600" y="3699"/>
                  <a:pt x="1431" y="6833"/>
                  <a:pt x="382" y="10230"/>
                </a:cubicBezTo>
                <a:cubicBezTo>
                  <a:pt x="-831" y="14163"/>
                  <a:pt x="863" y="18184"/>
                  <a:pt x="5138" y="21518"/>
                </a:cubicBezTo>
                <a:cubicBezTo>
                  <a:pt x="5236" y="21578"/>
                  <a:pt x="5400" y="21597"/>
                  <a:pt x="5539" y="21564"/>
                </a:cubicBezTo>
                <a:cubicBezTo>
                  <a:pt x="5680" y="21530"/>
                  <a:pt x="5759" y="21452"/>
                  <a:pt x="5729" y="21374"/>
                </a:cubicBezTo>
                <a:lnTo>
                  <a:pt x="5353" y="18126"/>
                </a:lnTo>
                <a:cubicBezTo>
                  <a:pt x="5325" y="18019"/>
                  <a:pt x="5392" y="17910"/>
                  <a:pt x="5532" y="17827"/>
                </a:cubicBezTo>
                <a:cubicBezTo>
                  <a:pt x="5693" y="17732"/>
                  <a:pt x="5932" y="17683"/>
                  <a:pt x="6177" y="17694"/>
                </a:cubicBezTo>
                <a:lnTo>
                  <a:pt x="14085" y="17895"/>
                </a:lnTo>
                <a:cubicBezTo>
                  <a:pt x="14256" y="17900"/>
                  <a:pt x="14418" y="17855"/>
                  <a:pt x="14501" y="17778"/>
                </a:cubicBezTo>
                <a:cubicBezTo>
                  <a:pt x="14577" y="17707"/>
                  <a:pt x="14574" y="17622"/>
                  <a:pt x="14490" y="17554"/>
                </a:cubicBezTo>
                <a:cubicBezTo>
                  <a:pt x="12359" y="15589"/>
                  <a:pt x="11600" y="13315"/>
                  <a:pt x="12338" y="11102"/>
                </a:cubicBezTo>
                <a:cubicBezTo>
                  <a:pt x="13039" y="9003"/>
                  <a:pt x="15053" y="7073"/>
                  <a:pt x="18079" y="5601"/>
                </a:cubicBezTo>
                <a:lnTo>
                  <a:pt x="19736" y="6525"/>
                </a:lnTo>
                <a:cubicBezTo>
                  <a:pt x="19827" y="6576"/>
                  <a:pt x="19969" y="6593"/>
                  <a:pt x="20095" y="6567"/>
                </a:cubicBezTo>
                <a:cubicBezTo>
                  <a:pt x="20208" y="6543"/>
                  <a:pt x="20285" y="6488"/>
                  <a:pt x="20292" y="6426"/>
                </a:cubicBezTo>
                <a:lnTo>
                  <a:pt x="20747" y="389"/>
                </a:lnTo>
                <a:cubicBezTo>
                  <a:pt x="20769" y="291"/>
                  <a:pt x="20708" y="193"/>
                  <a:pt x="20579" y="119"/>
                </a:cubicBezTo>
                <a:cubicBezTo>
                  <a:pt x="20443" y="41"/>
                  <a:pt x="20249" y="-3"/>
                  <a:pt x="20045" y="0"/>
                </a:cubicBezTo>
                <a:close/>
              </a:path>
            </a:pathLst>
          </a:custGeom>
          <a:gradFill>
            <a:gsLst>
              <a:gs pos="0">
                <a:srgbClr val="B3D4FE"/>
              </a:gs>
              <a:gs pos="100000">
                <a:srgbClr val="B3D4FE"/>
              </a:gs>
            </a:gsLst>
            <a:lin ang="18900000" scaled="0"/>
          </a:gradFill>
          <a:ln w="12700">
            <a:miter lim="400000"/>
          </a:ln>
          <a:effectLst/>
        </p:spPr>
        <p:txBody>
          <a:bodyPr lIns="0" tIns="0" rIns="0" bIns="0">
            <a:noAutofit/>
          </a:bodyPr>
          <a:lstStyle/>
          <a:p>
            <a:pPr lvl="0" algn="l">
              <a:buClrTx/>
              <a:buSzTx/>
              <a:buFontTx/>
              <a:defRPr>
                <a:solidFill>
                  <a:srgbClr val="383838"/>
                </a:solidFill>
                <a:latin typeface="微软雅黑"/>
                <a:ea typeface="微软雅黑"/>
                <a:cs typeface="微软雅黑"/>
              </a:defRPr>
            </a:pPr>
            <a:endParaRPr sz="1690">
              <a:latin typeface="微软雅黑"/>
              <a:ea typeface="微软雅黑"/>
              <a:cs typeface="微软雅黑"/>
              <a:sym typeface="微软雅黑"/>
            </a:endParaRPr>
          </a:p>
        </p:txBody>
      </p:sp>
      <p:sp>
        <p:nvSpPr>
          <p:cNvPr id="67" name="Shape"/>
          <p:cNvSpPr/>
          <p:nvPr/>
        </p:nvSpPr>
        <p:spPr>
          <a:xfrm rot="5400000" flipH="1" flipV="1">
            <a:off x="8930122" y="1976249"/>
            <a:ext cx="886547" cy="2032159"/>
          </a:xfrm>
          <a:custGeom>
            <a:avLst/>
            <a:gdLst/>
            <a:ahLst/>
            <a:cxnLst>
              <a:cxn ang="0">
                <a:pos x="wd2" y="hd2"/>
              </a:cxn>
              <a:cxn ang="5400000">
                <a:pos x="wd2" y="hd2"/>
              </a:cxn>
              <a:cxn ang="10800000">
                <a:pos x="wd2" y="hd2"/>
              </a:cxn>
              <a:cxn ang="16200000">
                <a:pos x="wd2" y="hd2"/>
              </a:cxn>
            </a:cxnLst>
            <a:rect l="0" t="0" r="r" b="b"/>
            <a:pathLst>
              <a:path w="21414" h="21585" extrusionOk="0">
                <a:moveTo>
                  <a:pt x="11910" y="0"/>
                </a:moveTo>
                <a:cubicBezTo>
                  <a:pt x="11757" y="-1"/>
                  <a:pt x="11612" y="28"/>
                  <a:pt x="11515" y="80"/>
                </a:cubicBezTo>
                <a:lnTo>
                  <a:pt x="3327" y="3664"/>
                </a:lnTo>
                <a:cubicBezTo>
                  <a:pt x="3233" y="3714"/>
                  <a:pt x="3190" y="3779"/>
                  <a:pt x="3212" y="3843"/>
                </a:cubicBezTo>
                <a:cubicBezTo>
                  <a:pt x="3231" y="3899"/>
                  <a:pt x="3298" y="3950"/>
                  <a:pt x="3398" y="3986"/>
                </a:cubicBezTo>
                <a:cubicBezTo>
                  <a:pt x="7243" y="5829"/>
                  <a:pt x="9190" y="8287"/>
                  <a:pt x="8786" y="10782"/>
                </a:cubicBezTo>
                <a:cubicBezTo>
                  <a:pt x="8433" y="12957"/>
                  <a:pt x="6306" y="15002"/>
                  <a:pt x="2794" y="16541"/>
                </a:cubicBezTo>
                <a:lnTo>
                  <a:pt x="1004" y="15709"/>
                </a:lnTo>
                <a:cubicBezTo>
                  <a:pt x="905" y="15673"/>
                  <a:pt x="769" y="15666"/>
                  <a:pt x="654" y="15691"/>
                </a:cubicBezTo>
                <a:cubicBezTo>
                  <a:pt x="518" y="15720"/>
                  <a:pt x="443" y="15784"/>
                  <a:pt x="471" y="15850"/>
                </a:cubicBezTo>
                <a:lnTo>
                  <a:pt x="1" y="21209"/>
                </a:lnTo>
                <a:cubicBezTo>
                  <a:pt x="-12" y="21296"/>
                  <a:pt x="48" y="21384"/>
                  <a:pt x="173" y="21452"/>
                </a:cubicBezTo>
                <a:cubicBezTo>
                  <a:pt x="352" y="21550"/>
                  <a:pt x="636" y="21599"/>
                  <a:pt x="919" y="21581"/>
                </a:cubicBezTo>
                <a:lnTo>
                  <a:pt x="13140" y="21398"/>
                </a:lnTo>
                <a:cubicBezTo>
                  <a:pt x="13303" y="21405"/>
                  <a:pt x="13460" y="21367"/>
                  <a:pt x="13532" y="21303"/>
                </a:cubicBezTo>
                <a:cubicBezTo>
                  <a:pt x="13606" y="21236"/>
                  <a:pt x="13573" y="21156"/>
                  <a:pt x="13454" y="21104"/>
                </a:cubicBezTo>
                <a:lnTo>
                  <a:pt x="11738" y="20404"/>
                </a:lnTo>
                <a:cubicBezTo>
                  <a:pt x="17764" y="17750"/>
                  <a:pt x="21229" y="14176"/>
                  <a:pt x="21406" y="10426"/>
                </a:cubicBezTo>
                <a:cubicBezTo>
                  <a:pt x="21588" y="6591"/>
                  <a:pt x="18321" y="2878"/>
                  <a:pt x="12316" y="95"/>
                </a:cubicBezTo>
                <a:cubicBezTo>
                  <a:pt x="12224" y="36"/>
                  <a:pt x="12073" y="1"/>
                  <a:pt x="11910" y="0"/>
                </a:cubicBezTo>
                <a:close/>
              </a:path>
            </a:pathLst>
          </a:custGeom>
          <a:gradFill>
            <a:gsLst>
              <a:gs pos="0">
                <a:srgbClr val="B3D4FE"/>
              </a:gs>
              <a:gs pos="100000">
                <a:srgbClr val="B3D4FE"/>
              </a:gs>
            </a:gsLst>
            <a:lin ang="18900000" scaled="0"/>
          </a:gradFill>
          <a:ln w="12700">
            <a:miter lim="400000"/>
          </a:ln>
          <a:effectLst/>
        </p:spPr>
        <p:txBody>
          <a:bodyPr lIns="0" tIns="0" rIns="0" bIns="0"/>
          <a:lstStyle/>
          <a:p>
            <a:pPr>
              <a:defRPr>
                <a:solidFill>
                  <a:srgbClr val="383838"/>
                </a:solidFill>
                <a:latin typeface="微软雅黑"/>
                <a:ea typeface="微软雅黑"/>
                <a:cs typeface="微软雅黑"/>
              </a:defRPr>
            </a:pPr>
            <a:endParaRPr sz="1690">
              <a:latin typeface="微软雅黑"/>
              <a:ea typeface="微软雅黑"/>
              <a:cs typeface="微软雅黑"/>
            </a:endParaRPr>
          </a:p>
        </p:txBody>
      </p:sp>
      <p:sp>
        <p:nvSpPr>
          <p:cNvPr id="71" name="Shape"/>
          <p:cNvSpPr/>
          <p:nvPr/>
        </p:nvSpPr>
        <p:spPr>
          <a:xfrm rot="5400000" flipH="1" flipV="1">
            <a:off x="9318148" y="3625982"/>
            <a:ext cx="1829414" cy="892278"/>
          </a:xfrm>
          <a:custGeom>
            <a:avLst/>
            <a:gdLst/>
            <a:ahLst/>
            <a:cxnLst>
              <a:cxn ang="0">
                <a:pos x="wd2" y="hd2"/>
              </a:cxn>
              <a:cxn ang="5400000">
                <a:pos x="wd2" y="hd2"/>
              </a:cxn>
              <a:cxn ang="10800000">
                <a:pos x="wd2" y="hd2"/>
              </a:cxn>
              <a:cxn ang="16200000">
                <a:pos x="wd2" y="hd2"/>
              </a:cxn>
            </a:cxnLst>
            <a:rect l="0" t="0" r="r" b="b"/>
            <a:pathLst>
              <a:path w="21578" h="21052" extrusionOk="0">
                <a:moveTo>
                  <a:pt x="394" y="0"/>
                </a:moveTo>
                <a:cubicBezTo>
                  <a:pt x="279" y="2"/>
                  <a:pt x="169" y="102"/>
                  <a:pt x="94" y="277"/>
                </a:cubicBezTo>
                <a:cubicBezTo>
                  <a:pt x="21" y="447"/>
                  <a:pt x="-11" y="670"/>
                  <a:pt x="3" y="892"/>
                </a:cubicBezTo>
                <a:lnTo>
                  <a:pt x="312" y="12707"/>
                </a:lnTo>
                <a:cubicBezTo>
                  <a:pt x="307" y="12842"/>
                  <a:pt x="342" y="12969"/>
                  <a:pt x="402" y="13034"/>
                </a:cubicBezTo>
                <a:cubicBezTo>
                  <a:pt x="466" y="13105"/>
                  <a:pt x="545" y="13087"/>
                  <a:pt x="600" y="12991"/>
                </a:cubicBezTo>
                <a:lnTo>
                  <a:pt x="1341" y="11654"/>
                </a:lnTo>
                <a:cubicBezTo>
                  <a:pt x="3992" y="16921"/>
                  <a:pt x="7473" y="20191"/>
                  <a:pt x="11193" y="20904"/>
                </a:cubicBezTo>
                <a:cubicBezTo>
                  <a:pt x="14818" y="21600"/>
                  <a:pt x="18454" y="19824"/>
                  <a:pt x="21512" y="15864"/>
                </a:cubicBezTo>
                <a:cubicBezTo>
                  <a:pt x="21565" y="15790"/>
                  <a:pt x="21589" y="15654"/>
                  <a:pt x="21572" y="15529"/>
                </a:cubicBezTo>
                <a:cubicBezTo>
                  <a:pt x="21554" y="15396"/>
                  <a:pt x="21494" y="15305"/>
                  <a:pt x="21425" y="15303"/>
                </a:cubicBezTo>
                <a:lnTo>
                  <a:pt x="18107" y="15613"/>
                </a:lnTo>
                <a:cubicBezTo>
                  <a:pt x="18000" y="15648"/>
                  <a:pt x="17890" y="15588"/>
                  <a:pt x="17807" y="15449"/>
                </a:cubicBezTo>
                <a:cubicBezTo>
                  <a:pt x="17721" y="15305"/>
                  <a:pt x="17673" y="15093"/>
                  <a:pt x="17674" y="14870"/>
                </a:cubicBezTo>
                <a:lnTo>
                  <a:pt x="17865" y="6606"/>
                </a:lnTo>
                <a:cubicBezTo>
                  <a:pt x="17880" y="6455"/>
                  <a:pt x="17847" y="6304"/>
                  <a:pt x="17781" y="6220"/>
                </a:cubicBezTo>
                <a:cubicBezTo>
                  <a:pt x="17725" y="6148"/>
                  <a:pt x="17653" y="6139"/>
                  <a:pt x="17594" y="6202"/>
                </a:cubicBezTo>
                <a:cubicBezTo>
                  <a:pt x="15786" y="8239"/>
                  <a:pt x="13703" y="9093"/>
                  <a:pt x="11640" y="8642"/>
                </a:cubicBezTo>
                <a:cubicBezTo>
                  <a:pt x="9395" y="8151"/>
                  <a:pt x="7299" y="6148"/>
                  <a:pt x="5698" y="2961"/>
                </a:cubicBezTo>
                <a:lnTo>
                  <a:pt x="6552" y="1111"/>
                </a:lnTo>
                <a:cubicBezTo>
                  <a:pt x="6604" y="1006"/>
                  <a:pt x="6615" y="849"/>
                  <a:pt x="6581" y="717"/>
                </a:cubicBezTo>
                <a:cubicBezTo>
                  <a:pt x="6549" y="595"/>
                  <a:pt x="6484" y="521"/>
                  <a:pt x="6415" y="535"/>
                </a:cubicBezTo>
                <a:lnTo>
                  <a:pt x="394" y="0"/>
                </a:lnTo>
                <a:close/>
              </a:path>
            </a:pathLst>
          </a:custGeom>
          <a:gradFill>
            <a:gsLst>
              <a:gs pos="0">
                <a:srgbClr val="B3D4FE"/>
              </a:gs>
              <a:gs pos="100000">
                <a:srgbClr val="B3D4FE"/>
              </a:gs>
            </a:gsLst>
            <a:lin ang="18900000" scaled="0"/>
          </a:gradFill>
          <a:ln w="12700">
            <a:miter lim="400000"/>
          </a:ln>
          <a:effectLst/>
        </p:spPr>
        <p:txBody>
          <a:bodyPr lIns="0" tIns="0" rIns="0" bIns="0">
            <a:noAutofit/>
          </a:bodyPr>
          <a:lstStyle/>
          <a:p>
            <a:pPr lvl="0" algn="l">
              <a:buClrTx/>
              <a:buSzTx/>
              <a:buFontTx/>
              <a:defRPr>
                <a:solidFill>
                  <a:srgbClr val="383838"/>
                </a:solidFill>
                <a:latin typeface="微软雅黑"/>
                <a:ea typeface="微软雅黑"/>
                <a:cs typeface="微软雅黑"/>
              </a:defRPr>
            </a:pPr>
            <a:endParaRPr sz="1690">
              <a:latin typeface="微软雅黑"/>
              <a:ea typeface="微软雅黑"/>
              <a:cs typeface="微软雅黑"/>
              <a:sym typeface="微软雅黑"/>
            </a:endParaRPr>
          </a:p>
        </p:txBody>
      </p:sp>
      <p:sp>
        <p:nvSpPr>
          <p:cNvPr id="72" name="Freeform 661"/>
          <p:cNvSpPr/>
          <p:nvPr/>
        </p:nvSpPr>
        <p:spPr>
          <a:xfrm rot="5400000" flipH="1" flipV="1">
            <a:off x="9108917" y="3551884"/>
            <a:ext cx="407066" cy="416758"/>
          </a:xfrm>
          <a:custGeom>
            <a:avLst/>
            <a:gdLst/>
            <a:ahLst/>
            <a:cxnLst>
              <a:cxn ang="0">
                <a:pos x="wd2" y="hd2"/>
              </a:cxn>
              <a:cxn ang="5400000">
                <a:pos x="wd2" y="hd2"/>
              </a:cxn>
              <a:cxn ang="10800000">
                <a:pos x="wd2" y="hd2"/>
              </a:cxn>
              <a:cxn ang="16200000">
                <a:pos x="wd2" y="hd2"/>
              </a:cxn>
            </a:cxnLst>
            <a:rect l="0" t="0" r="r" b="b"/>
            <a:pathLst>
              <a:path w="21600" h="21600" extrusionOk="0">
                <a:moveTo>
                  <a:pt x="18231" y="0"/>
                </a:moveTo>
                <a:lnTo>
                  <a:pt x="13496" y="4642"/>
                </a:lnTo>
                <a:lnTo>
                  <a:pt x="13496" y="7050"/>
                </a:lnTo>
                <a:lnTo>
                  <a:pt x="10463" y="10081"/>
                </a:lnTo>
                <a:cubicBezTo>
                  <a:pt x="10369" y="10062"/>
                  <a:pt x="10279" y="10047"/>
                  <a:pt x="10179" y="10047"/>
                </a:cubicBezTo>
                <a:cubicBezTo>
                  <a:pt x="9419" y="10047"/>
                  <a:pt x="8796" y="10656"/>
                  <a:pt x="8796" y="11398"/>
                </a:cubicBezTo>
                <a:cubicBezTo>
                  <a:pt x="8796" y="12140"/>
                  <a:pt x="9420" y="12731"/>
                  <a:pt x="10179" y="12731"/>
                </a:cubicBezTo>
                <a:cubicBezTo>
                  <a:pt x="10939" y="12731"/>
                  <a:pt x="11563" y="12140"/>
                  <a:pt x="11563" y="11398"/>
                </a:cubicBezTo>
                <a:cubicBezTo>
                  <a:pt x="11563" y="11256"/>
                  <a:pt x="11533" y="11110"/>
                  <a:pt x="11492" y="10982"/>
                </a:cubicBezTo>
                <a:lnTo>
                  <a:pt x="14524" y="7933"/>
                </a:lnTo>
                <a:lnTo>
                  <a:pt x="16847" y="7933"/>
                </a:lnTo>
                <a:lnTo>
                  <a:pt x="21600" y="3291"/>
                </a:lnTo>
                <a:lnTo>
                  <a:pt x="19348" y="3083"/>
                </a:lnTo>
                <a:lnTo>
                  <a:pt x="20518" y="1905"/>
                </a:lnTo>
                <a:lnTo>
                  <a:pt x="19525" y="970"/>
                </a:lnTo>
                <a:lnTo>
                  <a:pt x="18443" y="2061"/>
                </a:lnTo>
                <a:lnTo>
                  <a:pt x="18231" y="0"/>
                </a:lnTo>
                <a:close/>
                <a:moveTo>
                  <a:pt x="10179" y="1715"/>
                </a:moveTo>
                <a:cubicBezTo>
                  <a:pt x="4557" y="1715"/>
                  <a:pt x="0" y="6166"/>
                  <a:pt x="0" y="11657"/>
                </a:cubicBezTo>
                <a:cubicBezTo>
                  <a:pt x="0" y="17149"/>
                  <a:pt x="4558" y="21600"/>
                  <a:pt x="10179" y="21600"/>
                </a:cubicBezTo>
                <a:cubicBezTo>
                  <a:pt x="15802" y="21600"/>
                  <a:pt x="20359" y="17149"/>
                  <a:pt x="20359" y="11657"/>
                </a:cubicBezTo>
                <a:cubicBezTo>
                  <a:pt x="20359" y="10082"/>
                  <a:pt x="19979" y="8598"/>
                  <a:pt x="19312" y="7275"/>
                </a:cubicBezTo>
                <a:lnTo>
                  <a:pt x="17858" y="8695"/>
                </a:lnTo>
                <a:cubicBezTo>
                  <a:pt x="18231" y="9612"/>
                  <a:pt x="18426" y="10612"/>
                  <a:pt x="18426" y="11657"/>
                </a:cubicBezTo>
                <a:cubicBezTo>
                  <a:pt x="18426" y="16103"/>
                  <a:pt x="14731" y="19729"/>
                  <a:pt x="10179" y="19729"/>
                </a:cubicBezTo>
                <a:cubicBezTo>
                  <a:pt x="5628" y="19729"/>
                  <a:pt x="1933" y="16104"/>
                  <a:pt x="1933" y="11657"/>
                </a:cubicBezTo>
                <a:cubicBezTo>
                  <a:pt x="1933" y="7212"/>
                  <a:pt x="5628" y="3603"/>
                  <a:pt x="10179" y="3603"/>
                </a:cubicBezTo>
                <a:cubicBezTo>
                  <a:pt x="10911" y="3603"/>
                  <a:pt x="11614" y="3688"/>
                  <a:pt x="12290" y="3863"/>
                </a:cubicBezTo>
                <a:lnTo>
                  <a:pt x="13815" y="2373"/>
                </a:lnTo>
                <a:cubicBezTo>
                  <a:pt x="12683" y="1949"/>
                  <a:pt x="11464" y="1715"/>
                  <a:pt x="10179" y="1715"/>
                </a:cubicBezTo>
                <a:close/>
                <a:moveTo>
                  <a:pt x="10179" y="6011"/>
                </a:moveTo>
                <a:cubicBezTo>
                  <a:pt x="7140" y="6011"/>
                  <a:pt x="4682" y="8412"/>
                  <a:pt x="4682" y="11380"/>
                </a:cubicBezTo>
                <a:cubicBezTo>
                  <a:pt x="4682" y="14348"/>
                  <a:pt x="7140" y="16767"/>
                  <a:pt x="10179" y="16767"/>
                </a:cubicBezTo>
                <a:cubicBezTo>
                  <a:pt x="13218" y="16767"/>
                  <a:pt x="15677" y="14348"/>
                  <a:pt x="15677" y="11380"/>
                </a:cubicBezTo>
                <a:cubicBezTo>
                  <a:pt x="15678" y="10534"/>
                  <a:pt x="15484" y="9737"/>
                  <a:pt x="15127" y="9025"/>
                </a:cubicBezTo>
                <a:lnTo>
                  <a:pt x="14099" y="10116"/>
                </a:lnTo>
                <a:cubicBezTo>
                  <a:pt x="14237" y="10518"/>
                  <a:pt x="14311" y="10933"/>
                  <a:pt x="14311" y="11380"/>
                </a:cubicBezTo>
                <a:cubicBezTo>
                  <a:pt x="14311" y="13603"/>
                  <a:pt x="12455" y="15416"/>
                  <a:pt x="10179" y="15416"/>
                </a:cubicBezTo>
                <a:cubicBezTo>
                  <a:pt x="7904" y="15416"/>
                  <a:pt x="6047" y="13603"/>
                  <a:pt x="6047" y="11380"/>
                </a:cubicBezTo>
                <a:cubicBezTo>
                  <a:pt x="6047" y="9158"/>
                  <a:pt x="7904" y="7362"/>
                  <a:pt x="10179" y="7362"/>
                </a:cubicBezTo>
                <a:cubicBezTo>
                  <a:pt x="10570" y="7362"/>
                  <a:pt x="10939" y="7418"/>
                  <a:pt x="11297" y="7518"/>
                </a:cubicBezTo>
                <a:lnTo>
                  <a:pt x="12325" y="6444"/>
                </a:lnTo>
                <a:cubicBezTo>
                  <a:pt x="11665" y="6170"/>
                  <a:pt x="10942" y="6011"/>
                  <a:pt x="10179" y="6011"/>
                </a:cubicBezTo>
                <a:close/>
              </a:path>
            </a:pathLst>
          </a:custGeom>
          <a:solidFill>
            <a:srgbClr val="FFFFFF"/>
          </a:solidFill>
          <a:ln w="12700">
            <a:miter lim="400000"/>
          </a:ln>
          <a:effectLst/>
        </p:spPr>
        <p:txBody>
          <a:bodyPr lIns="0" tIns="0" rIns="0" bIns="0" anchor="ctr"/>
          <a:lstStyle/>
          <a:p>
            <a:pPr defTabSz="457200">
              <a:defRPr sz="1800" b="0">
                <a:solidFill>
                  <a:srgbClr val="383838"/>
                </a:solidFill>
                <a:latin typeface="微软雅黑"/>
                <a:ea typeface="微软雅黑"/>
                <a:cs typeface="微软雅黑"/>
                <a:sym typeface="微软雅黑"/>
              </a:defRPr>
            </a:pPr>
            <a:endParaRPr sz="1000">
              <a:latin typeface="微软雅黑"/>
              <a:ea typeface="微软雅黑"/>
              <a:cs typeface="微软雅黑"/>
              <a:sym typeface="微软雅黑"/>
            </a:endParaRPr>
          </a:p>
        </p:txBody>
      </p:sp>
      <p:sp>
        <p:nvSpPr>
          <p:cNvPr id="73" name="Venn diagram"/>
          <p:cNvSpPr txBox="1"/>
          <p:nvPr/>
        </p:nvSpPr>
        <p:spPr>
          <a:xfrm rot="10800000" flipH="1" flipV="1">
            <a:off x="8934161" y="4030734"/>
            <a:ext cx="773431" cy="263662"/>
          </a:xfrm>
          <a:prstGeom prst="rect">
            <a:avLst/>
          </a:prstGeom>
          <a:ln w="12700">
            <a:miter lim="400000"/>
          </a:ln>
          <a:effectLst/>
        </p:spPr>
        <p:txBody>
          <a:bodyPr lIns="23876" tIns="23876" rIns="23876" bIns="23876">
            <a:spAutoFit/>
          </a:bodyPr>
          <a:lstStyle>
            <a:lvl1pPr>
              <a:defRPr sz="2500" b="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核心价值</a:t>
            </a:r>
            <a:endParaRPr lang="zh-CN" altLang="en-US" sz="1400" dirty="0">
              <a:solidFill>
                <a:srgbClr val="383838"/>
              </a:solidFill>
              <a:latin typeface="微软雅黑"/>
              <a:ea typeface="微软雅黑"/>
              <a:cs typeface="微软雅黑"/>
              <a:sym typeface="微软雅黑"/>
            </a:endParaRPr>
          </a:p>
        </p:txBody>
      </p:sp>
      <p:sp>
        <p:nvSpPr>
          <p:cNvPr id="74" name="Venn diagram"/>
          <p:cNvSpPr txBox="1"/>
          <p:nvPr/>
        </p:nvSpPr>
        <p:spPr>
          <a:xfrm rot="10800000" flipH="1" flipV="1">
            <a:off x="8617709" y="4825377"/>
            <a:ext cx="773431" cy="335280"/>
          </a:xfrm>
          <a:prstGeom prst="rect">
            <a:avLst/>
          </a:prstGeom>
          <a:ln w="12700">
            <a:miter lim="400000"/>
          </a:ln>
          <a:effectLst/>
        </p:spPr>
        <p:txBody>
          <a:bodyPr lIns="0" tIns="0" rIns="0" bIns="0" wrap="square" anchor="t">
            <a:noAutofit/>
          </a:bodyPr>
          <a:lstStyle>
            <a:lvl1pPr>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品牌管理</a:t>
            </a:r>
            <a:endParaRPr lang="zh-CN" altLang="en-US" sz="100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与一致性</a:t>
            </a:r>
            <a:endParaRPr lang="zh-CN" altLang="en-US" sz="1000" dirty="0">
              <a:solidFill>
                <a:srgbClr val="383838"/>
              </a:solidFill>
              <a:latin typeface="微软雅黑"/>
              <a:ea typeface="微软雅黑"/>
              <a:cs typeface="微软雅黑"/>
              <a:sym typeface="微软雅黑"/>
            </a:endParaRPr>
          </a:p>
        </p:txBody>
      </p:sp>
      <p:sp>
        <p:nvSpPr>
          <p:cNvPr id="75" name="Venn diagram"/>
          <p:cNvSpPr txBox="1"/>
          <p:nvPr/>
        </p:nvSpPr>
        <p:spPr>
          <a:xfrm rot="10800000" flipH="1" flipV="1">
            <a:off x="9985799" y="4025240"/>
            <a:ext cx="773431" cy="335280"/>
          </a:xfrm>
          <a:prstGeom prst="rect">
            <a:avLst/>
          </a:prstGeom>
          <a:ln w="12700">
            <a:miter lim="400000"/>
          </a:ln>
          <a:effectLst/>
        </p:spPr>
        <p:txBody>
          <a:bodyPr lIns="0" tIns="0" rIns="0" bIns="0" wrap="square" anchor="t">
            <a:noAutofit/>
          </a:bodyPr>
          <a:lstStyle>
            <a:lvl1pPr>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品牌文化</a:t>
            </a:r>
            <a:endParaRPr lang="zh-CN" altLang="en-US" sz="100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与价值观</a:t>
            </a:r>
            <a:endParaRPr lang="zh-CN" altLang="en-US" sz="1000" dirty="0">
              <a:solidFill>
                <a:srgbClr val="383838"/>
              </a:solidFill>
              <a:latin typeface="微软雅黑"/>
              <a:ea typeface="微软雅黑"/>
              <a:cs typeface="微软雅黑"/>
              <a:sym typeface="微软雅黑"/>
            </a:endParaRPr>
          </a:p>
        </p:txBody>
      </p:sp>
      <p:sp>
        <p:nvSpPr>
          <p:cNvPr id="76" name="Venn diagram"/>
          <p:cNvSpPr txBox="1"/>
          <p:nvPr/>
        </p:nvSpPr>
        <p:spPr>
          <a:xfrm rot="10800000" flipH="1" flipV="1">
            <a:off x="9136506" y="2647302"/>
            <a:ext cx="545586" cy="335280"/>
          </a:xfrm>
          <a:prstGeom prst="rect">
            <a:avLst/>
          </a:prstGeom>
          <a:ln w="12700">
            <a:miter lim="400000"/>
          </a:ln>
          <a:effectLst/>
        </p:spPr>
        <p:txBody>
          <a:bodyPr lIns="0" tIns="0" rIns="0" bIns="0" wrap="square" anchor="t">
            <a:noAutofit/>
          </a:bodyPr>
          <a:lstStyle>
            <a:lvl1pPr>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品牌定位与战略</a:t>
            </a:r>
            <a:endParaRPr sz="1000" dirty="0">
              <a:solidFill>
                <a:srgbClr val="383838"/>
              </a:solidFill>
              <a:latin typeface="微软雅黑"/>
              <a:ea typeface="微软雅黑"/>
              <a:cs typeface="微软雅黑"/>
              <a:sym typeface="微软雅黑"/>
            </a:endParaRPr>
          </a:p>
        </p:txBody>
      </p:sp>
      <p:sp>
        <p:nvSpPr>
          <p:cNvPr id="77" name="Venn diagram"/>
          <p:cNvSpPr txBox="1"/>
          <p:nvPr/>
        </p:nvSpPr>
        <p:spPr>
          <a:xfrm rot="10800000" flipH="1" flipV="1">
            <a:off x="7298672" y="3704352"/>
            <a:ext cx="773431" cy="335280"/>
          </a:xfrm>
          <a:prstGeom prst="rect">
            <a:avLst/>
          </a:prstGeom>
          <a:ln w="12700">
            <a:miter lim="400000"/>
          </a:ln>
          <a:effectLst/>
        </p:spPr>
        <p:txBody>
          <a:bodyPr lIns="0" tIns="0" rIns="0" bIns="0" wrap="square" anchor="t">
            <a:noAutofit/>
          </a:bodyPr>
          <a:lstStyle>
            <a:lvl1pPr>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创新能力</a:t>
            </a:r>
            <a:endParaRPr lang="zh-CN" altLang="en-US" sz="100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与可持续</a:t>
            </a:r>
            <a:endParaRPr lang="zh-CN" altLang="en-US" sz="1000" dirty="0">
              <a:solidFill>
                <a:srgbClr val="383838"/>
              </a:solidFill>
              <a:latin typeface="微软雅黑"/>
              <a:ea typeface="微软雅黑"/>
              <a:cs typeface="微软雅黑"/>
              <a:sym typeface="微软雅黑"/>
            </a:endParaRPr>
          </a:p>
        </p:txBody>
      </p:sp>
      <p:sp>
        <p:nvSpPr>
          <p:cNvPr id="78" name="Circle"/>
          <p:cNvSpPr/>
          <p:nvPr/>
        </p:nvSpPr>
        <p:spPr>
          <a:xfrm>
            <a:off x="5373964" y="1807610"/>
            <a:ext cx="1418225" cy="1418225"/>
          </a:xfrm>
          <a:prstGeom prst="ellipse">
            <a:avLst/>
          </a:prstGeom>
          <a:solidFill>
            <a:srgbClr val="FFFFFF">
              <a:alpha val="50000"/>
            </a:srgbClr>
          </a:solidFill>
          <a:ln w="12700">
            <a:solidFill>
              <a:srgbClr val="3368FF"/>
            </a:solidFill>
            <a:miter lim="400000"/>
          </a:ln>
          <a:effectLst/>
        </p:spPr>
        <p:txBody>
          <a:bodyPr wrap="square" lIns="0" tIns="0" rIns="0" bIns="0" numCol="1" anchor="ctr">
            <a:noAutofit/>
          </a:bodyPr>
          <a:lstStyle/>
          <a:p>
            <a:pPr lvl="0" algn="l">
              <a:buClrTx/>
              <a:buSzTx/>
              <a:buFontTx/>
              <a:defRPr>
                <a:latin typeface="微软雅黑"/>
                <a:ea typeface="微软雅黑"/>
                <a:cs typeface="微软雅黑"/>
              </a:defRPr>
            </a:pPr>
            <a:endParaRPr sz="1690">
              <a:latin typeface="微软雅黑"/>
              <a:ea typeface="微软雅黑"/>
              <a:cs typeface="微软雅黑"/>
              <a:sym typeface="微软雅黑"/>
            </a:endParaRPr>
          </a:p>
        </p:txBody>
      </p:sp>
      <p:sp>
        <p:nvSpPr>
          <p:cNvPr id="79" name="2.8%"/>
          <p:cNvSpPr txBox="1"/>
          <p:nvPr/>
        </p:nvSpPr>
        <p:spPr>
          <a:xfrm>
            <a:off x="5600003" y="2226174"/>
            <a:ext cx="1002129" cy="451485"/>
          </a:xfrm>
          <a:prstGeom prst="rect">
            <a:avLst/>
          </a:prstGeom>
          <a:noFill/>
          <a:ln w="12700" cap="flat">
            <a:noFill/>
            <a:miter lim="400000"/>
          </a:ln>
          <a:effectLst/>
        </p:spPr>
        <p:txBody>
          <a:bodyPr wrap="square" lIns="23876" tIns="23876" rIns="23876" bIns="23876" numCol="1" anchor="ctr">
            <a:spAutoFit/>
          </a:bodyPr>
          <a:lstStyle>
            <a:lvl1pPr>
              <a:defRPr sz="4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en-US" sz="2630" b="1" dirty="0">
                <a:solidFill>
                  <a:srgbClr val="0042FF"/>
                </a:solidFill>
                <a:latin typeface="微软雅黑"/>
                <a:ea typeface="微软雅黑"/>
                <a:cs typeface="微软雅黑"/>
                <a:sym typeface="微软雅黑"/>
              </a:rPr>
              <a:t>60</a:t>
            </a:r>
            <a:r>
              <a:rPr sz="2630" b="1" dirty="0">
                <a:solidFill>
                  <a:srgbClr val="0042FF"/>
                </a:solidFill>
                <a:latin typeface="微软雅黑"/>
                <a:ea typeface="微软雅黑"/>
                <a:cs typeface="微软雅黑"/>
                <a:sym typeface="微软雅黑"/>
              </a:rPr>
              <a:t>%</a:t>
            </a:r>
            <a:endParaRPr sz="2630" b="1" dirty="0">
              <a:solidFill>
                <a:srgbClr val="0042FF"/>
              </a:solidFill>
              <a:latin typeface="微软雅黑"/>
              <a:ea typeface="微软雅黑"/>
              <a:cs typeface="微软雅黑"/>
              <a:sym typeface="微软雅黑"/>
            </a:endParaRPr>
          </a:p>
        </p:txBody>
      </p:sp>
      <p:sp>
        <p:nvSpPr>
          <p:cNvPr id="80" name="Sales 2020"/>
          <p:cNvSpPr txBox="1"/>
          <p:nvPr/>
        </p:nvSpPr>
        <p:spPr>
          <a:xfrm>
            <a:off x="5538723" y="2013107"/>
            <a:ext cx="1088705" cy="255270"/>
          </a:xfrm>
          <a:prstGeom prst="rect">
            <a:avLst/>
          </a:prstGeom>
          <a:noFill/>
          <a:ln w="12700" cap="flat">
            <a:noFill/>
            <a:miter lim="400000"/>
          </a:ln>
          <a:effectLst/>
        </p:spPr>
        <p:txBody>
          <a:bodyPr wrap="square" lIns="23876" tIns="23876" rIns="23876" bIns="23876" numCol="1" anchor="t">
            <a:spAutoFit/>
          </a:bodyPr>
          <a:lstStyle>
            <a:lvl1pPr defTabSz="457200">
              <a:lnSpc>
                <a:spcPct val="120000"/>
              </a:lnSpc>
              <a:defRPr sz="18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1130" dirty="0">
                <a:solidFill>
                  <a:srgbClr val="0042FF"/>
                </a:solidFill>
                <a:latin typeface="微软雅黑"/>
                <a:ea typeface="微软雅黑"/>
                <a:cs typeface="微软雅黑"/>
                <a:sym typeface="微软雅黑"/>
              </a:rPr>
              <a:t>品牌核心</a:t>
            </a:r>
            <a:endParaRPr lang="zh-CN" altLang="en-US" sz="1130" dirty="0">
              <a:solidFill>
                <a:srgbClr val="0042FF"/>
              </a:solidFill>
              <a:latin typeface="微软雅黑"/>
              <a:ea typeface="微软雅黑"/>
              <a:cs typeface="微软雅黑"/>
              <a:sym typeface="微软雅黑"/>
            </a:endParaRPr>
          </a:p>
        </p:txBody>
      </p:sp>
      <p:sp>
        <p:nvSpPr>
          <p:cNvPr id="82" name="Lorem Ipsum is simply dummy"/>
          <p:cNvSpPr txBox="1"/>
          <p:nvPr/>
        </p:nvSpPr>
        <p:spPr>
          <a:xfrm>
            <a:off x="5629904" y="2653051"/>
            <a:ext cx="906341" cy="359410"/>
          </a:xfrm>
          <a:prstGeom prst="rect">
            <a:avLst/>
          </a:prstGeom>
          <a:noFill/>
          <a:ln w="12700" cap="flat">
            <a:noFill/>
            <a:miter lim="400000"/>
          </a:ln>
          <a:effectLst/>
        </p:spPr>
        <p:txBody>
          <a:bodyPr wrap="square" lIns="0" tIns="0" rIns="0" bIns="0" numCol="1" anchor="t">
            <a:noAutofit/>
          </a:bodyPr>
          <a:lstStyle>
            <a:lvl1pPr defTabSz="457200">
              <a:lnSpc>
                <a:spcPct val="120000"/>
              </a:lnSpc>
              <a:defRPr sz="18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内部建设：品牌核心驱动因素</a:t>
            </a:r>
            <a:endParaRPr lang="zh-CN" altLang="en-US" sz="1000" dirty="0">
              <a:solidFill>
                <a:srgbClr val="383838"/>
              </a:solidFill>
              <a:latin typeface="微软雅黑"/>
              <a:ea typeface="微软雅黑"/>
              <a:cs typeface="微软雅黑"/>
              <a:sym typeface="微软雅黑"/>
            </a:endParaRPr>
          </a:p>
        </p:txBody>
      </p:sp>
      <p:sp>
        <p:nvSpPr>
          <p:cNvPr id="92" name="Circle"/>
          <p:cNvSpPr/>
          <p:nvPr/>
        </p:nvSpPr>
        <p:spPr>
          <a:xfrm>
            <a:off x="5373964" y="4580874"/>
            <a:ext cx="1418225" cy="1418225"/>
          </a:xfrm>
          <a:prstGeom prst="ellipse">
            <a:avLst/>
          </a:prstGeom>
          <a:solidFill>
            <a:srgbClr val="E6E6E6">
              <a:alpha val="50000"/>
            </a:srgbClr>
          </a:solidFill>
          <a:ln w="12700">
            <a:solidFill>
              <a:srgbClr val="0042FF"/>
            </a:solidFill>
            <a:miter lim="400000"/>
          </a:ln>
          <a:effectLst/>
        </p:spPr>
        <p:txBody>
          <a:bodyPr wrap="square" lIns="0" tIns="0" rIns="0" bIns="0" numCol="1" anchor="ctr">
            <a:noAutofit/>
          </a:bodyPr>
          <a:lstStyle/>
          <a:p>
            <a:pPr lvl="0" algn="l">
              <a:buClrTx/>
              <a:buSzTx/>
              <a:buFontTx/>
              <a:defRPr>
                <a:latin typeface="微软雅黑"/>
                <a:ea typeface="微软雅黑"/>
                <a:cs typeface="微软雅黑"/>
              </a:defRPr>
            </a:pPr>
            <a:endParaRPr sz="1690">
              <a:latin typeface="微软雅黑"/>
              <a:ea typeface="微软雅黑"/>
              <a:cs typeface="微软雅黑"/>
              <a:sym typeface="微软雅黑"/>
            </a:endParaRPr>
          </a:p>
        </p:txBody>
      </p:sp>
      <p:sp>
        <p:nvSpPr>
          <p:cNvPr id="93" name="2.8%"/>
          <p:cNvSpPr txBox="1"/>
          <p:nvPr/>
        </p:nvSpPr>
        <p:spPr>
          <a:xfrm>
            <a:off x="5600003" y="4999438"/>
            <a:ext cx="1002129" cy="451485"/>
          </a:xfrm>
          <a:prstGeom prst="rect">
            <a:avLst/>
          </a:prstGeom>
          <a:noFill/>
          <a:ln w="12700" cap="flat">
            <a:noFill/>
            <a:miter lim="400000"/>
          </a:ln>
          <a:effectLst/>
        </p:spPr>
        <p:txBody>
          <a:bodyPr wrap="square" lIns="23876" tIns="23876" rIns="23876" bIns="23876" numCol="1" anchor="ctr">
            <a:spAutoFit/>
          </a:bodyPr>
          <a:lstStyle>
            <a:lvl1pPr>
              <a:defRPr sz="4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en-US" sz="2630" b="1" dirty="0">
                <a:solidFill>
                  <a:srgbClr val="0042FF"/>
                </a:solidFill>
                <a:latin typeface="微软雅黑"/>
                <a:ea typeface="微软雅黑"/>
                <a:cs typeface="微软雅黑"/>
                <a:sym typeface="微软雅黑"/>
              </a:rPr>
              <a:t>40</a:t>
            </a:r>
            <a:r>
              <a:rPr sz="2630" b="1" dirty="0">
                <a:solidFill>
                  <a:srgbClr val="0042FF"/>
                </a:solidFill>
                <a:latin typeface="微软雅黑"/>
                <a:ea typeface="微软雅黑"/>
                <a:cs typeface="微软雅黑"/>
                <a:sym typeface="微软雅黑"/>
              </a:rPr>
              <a:t>%</a:t>
            </a:r>
            <a:endParaRPr sz="2630" b="1" dirty="0">
              <a:solidFill>
                <a:srgbClr val="0042FF"/>
              </a:solidFill>
              <a:latin typeface="微软雅黑"/>
              <a:ea typeface="微软雅黑"/>
              <a:cs typeface="微软雅黑"/>
              <a:sym typeface="微软雅黑"/>
            </a:endParaRPr>
          </a:p>
        </p:txBody>
      </p:sp>
      <p:sp>
        <p:nvSpPr>
          <p:cNvPr id="94" name="Sales 2020"/>
          <p:cNvSpPr txBox="1"/>
          <p:nvPr/>
        </p:nvSpPr>
        <p:spPr>
          <a:xfrm>
            <a:off x="5538723" y="4786372"/>
            <a:ext cx="1088705" cy="255270"/>
          </a:xfrm>
          <a:prstGeom prst="rect">
            <a:avLst/>
          </a:prstGeom>
          <a:noFill/>
          <a:ln w="12700" cap="flat">
            <a:noFill/>
            <a:miter lim="400000"/>
          </a:ln>
          <a:effectLst/>
        </p:spPr>
        <p:txBody>
          <a:bodyPr wrap="square" lIns="23876" tIns="23876" rIns="23876" bIns="23876" numCol="1" anchor="t">
            <a:spAutoFit/>
          </a:bodyPr>
          <a:lstStyle>
            <a:lvl1pPr defTabSz="457200">
              <a:lnSpc>
                <a:spcPct val="120000"/>
              </a:lnSpc>
              <a:defRPr sz="18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1130" dirty="0">
                <a:solidFill>
                  <a:srgbClr val="0042FF"/>
                </a:solidFill>
                <a:latin typeface="微软雅黑"/>
                <a:ea typeface="微软雅黑"/>
                <a:cs typeface="微软雅黑"/>
                <a:sym typeface="微软雅黑"/>
              </a:rPr>
              <a:t>市场影响</a:t>
            </a:r>
            <a:endParaRPr lang="zh-CN" altLang="en-US" sz="1130" dirty="0">
              <a:solidFill>
                <a:srgbClr val="0042FF"/>
              </a:solidFill>
              <a:latin typeface="微软雅黑"/>
              <a:ea typeface="微软雅黑"/>
              <a:cs typeface="微软雅黑"/>
              <a:sym typeface="微软雅黑"/>
            </a:endParaRPr>
          </a:p>
        </p:txBody>
      </p:sp>
      <p:sp>
        <p:nvSpPr>
          <p:cNvPr id="95" name="Lorem Ipsum is simply dummy"/>
          <p:cNvSpPr txBox="1"/>
          <p:nvPr/>
        </p:nvSpPr>
        <p:spPr>
          <a:xfrm>
            <a:off x="5644813" y="5451807"/>
            <a:ext cx="906341" cy="359410"/>
          </a:xfrm>
          <a:prstGeom prst="rect">
            <a:avLst/>
          </a:prstGeom>
          <a:noFill/>
          <a:ln w="12700" cap="flat">
            <a:noFill/>
            <a:miter lim="400000"/>
          </a:ln>
          <a:effectLst/>
        </p:spPr>
        <p:txBody>
          <a:bodyPr wrap="square" lIns="0" tIns="0" rIns="0" bIns="0" numCol="1" anchor="t">
            <a:noAutofit/>
          </a:bodyPr>
          <a:lstStyle>
            <a:lvl1pPr defTabSz="457200">
              <a:lnSpc>
                <a:spcPct val="120000"/>
              </a:lnSpc>
              <a:defRPr sz="18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外部表现：市场感知与影响力</a:t>
            </a:r>
            <a:endParaRPr lang="zh-CN" altLang="en-US" sz="1000" dirty="0">
              <a:solidFill>
                <a:srgbClr val="383838"/>
              </a:solidFill>
              <a:latin typeface="微软雅黑"/>
              <a:ea typeface="微软雅黑"/>
              <a:cs typeface="微软雅黑"/>
              <a:sym typeface="微软雅黑"/>
            </a:endParaRPr>
          </a:p>
        </p:txBody>
      </p:sp>
      <p:sp>
        <p:nvSpPr>
          <p:cNvPr id="98" name="箭头: 左右 48"/>
          <p:cNvSpPr/>
          <p:nvPr/>
        </p:nvSpPr>
        <p:spPr>
          <a:xfrm rot="5400000">
            <a:off x="5540789" y="3686921"/>
            <a:ext cx="1101400" cy="401738"/>
          </a:xfrm>
          <a:prstGeom prst="leftRightArrow">
            <a:avLst/>
          </a:prstGeom>
          <a:solidFill>
            <a:srgbClr val="FFFFFF"/>
          </a:solidFill>
          <a:ln w="25400">
            <a:solidFill>
              <a:srgbClr val="3368FF">
                <a:alpha val="70000"/>
              </a:srgbClr>
            </a:solidFill>
            <a:prstDash val="solid"/>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sp>
        <p:nvSpPr>
          <p:cNvPr id="515" name="对话气泡: 圆角矩形 514"/>
          <p:cNvSpPr/>
          <p:nvPr/>
        </p:nvSpPr>
        <p:spPr>
          <a:xfrm>
            <a:off x="7582535" y="5346700"/>
            <a:ext cx="3917315" cy="780415"/>
          </a:xfrm>
          <a:prstGeom prst="wedgeRoundRectCallout">
            <a:avLst>
              <a:gd name="adj1" fmla="val 410"/>
              <a:gd name="adj2" fmla="val -83733"/>
              <a:gd name="adj3" fmla="val 16667"/>
            </a:avLst>
          </a:prstGeom>
          <a:solidFill>
            <a:srgbClr val="FFFFFF"/>
          </a:solidFill>
          <a:ln w="25400">
            <a:solidFill>
              <a:srgbClr val="3368FF"/>
            </a:solid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grpSp>
        <p:nvGrpSpPr>
          <p:cNvPr id="521" name="组合 520"/>
          <p:cNvGrpSpPr/>
          <p:nvPr/>
        </p:nvGrpSpPr>
        <p:grpSpPr>
          <a:xfrm>
            <a:off x="687040" y="1675848"/>
            <a:ext cx="3917005" cy="780224"/>
            <a:chOff x="684617" y="1685075"/>
            <a:chExt cx="3917005" cy="780224"/>
          </a:xfrm>
        </p:grpSpPr>
        <p:sp>
          <p:nvSpPr>
            <p:cNvPr id="522" name="对话气泡: 圆角矩形 521"/>
            <p:cNvSpPr/>
            <p:nvPr/>
          </p:nvSpPr>
          <p:spPr>
            <a:xfrm>
              <a:off x="684617" y="1685075"/>
              <a:ext cx="3917005" cy="780224"/>
            </a:xfrm>
            <a:prstGeom prst="wedgeRoundRectCallout">
              <a:avLst>
                <a:gd name="adj1" fmla="val -1389"/>
                <a:gd name="adj2" fmla="val 83321"/>
                <a:gd name="adj3" fmla="val 16667"/>
              </a:avLst>
            </a:prstGeom>
            <a:solidFill>
              <a:srgbClr val="FFFFFF"/>
            </a:solidFill>
            <a:ln w="25400">
              <a:solidFill>
                <a:srgbClr val="0042FF"/>
              </a:solid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sp>
          <p:nvSpPr>
            <p:cNvPr id="523" name="Подзаголовок 2"/>
            <p:cNvSpPr txBox="1"/>
            <p:nvPr/>
          </p:nvSpPr>
          <p:spPr>
            <a:xfrm>
              <a:off x="2169882" y="1852715"/>
              <a:ext cx="2319655" cy="399415"/>
            </a:xfrm>
            <a:prstGeom prst="rect">
              <a:avLst/>
            </a:prstGeom>
            <a:effectLst/>
          </p:spPr>
          <p:txBody>
            <a:bodyPr vert="horz" lIns="0" tIns="0" rIns="0" bIns="0" numCol="1" spcCol="180000" rtlCol="0" anchor="ctr" anchorCtr="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lvl="0" algn="l">
                <a:lnSpc>
                  <a:spcPct val="100000"/>
                </a:lnSpc>
                <a:spcBef>
                  <a:spcPts val="0"/>
                </a:spcBef>
                <a:buClrTx/>
                <a:buSzTx/>
                <a:buNone/>
                <a:defRPr>
                  <a:latin typeface="微软雅黑"/>
                  <a:ea typeface="微软雅黑"/>
                  <a:cs typeface="微软雅黑"/>
                </a:defRPr>
              </a:pPr>
              <a:r>
                <a:rPr lang="zh-CN" altLang="en-US" sz="1000" kern="0" dirty="0">
                  <a:solidFill>
                    <a:srgbClr val="383838"/>
                  </a:solidFill>
                  <a:latin typeface="微软雅黑"/>
                  <a:ea typeface="微软雅黑"/>
                  <a:cs typeface="微软雅黑"/>
                  <a:sym typeface="微软雅黑"/>
                </a:rPr>
                <a:t>市场份额、营收增长等财务表现。</a:t>
              </a:r>
              <a:endParaRPr lang="zh-CN" altLang="en-US" sz="1000" kern="0" dirty="0">
                <a:solidFill>
                  <a:srgbClr val="383838"/>
                </a:solidFill>
                <a:latin typeface="微软雅黑"/>
                <a:ea typeface="微软雅黑"/>
                <a:cs typeface="微软雅黑"/>
                <a:sym typeface="微软雅黑"/>
              </a:endParaRPr>
            </a:p>
            <a:p>
              <a:pPr marL="0" lvl="0" algn="l">
                <a:lnSpc>
                  <a:spcPct val="100000"/>
                </a:lnSpc>
                <a:spcBef>
                  <a:spcPts val="0"/>
                </a:spcBef>
                <a:buClrTx/>
                <a:buSzTx/>
                <a:buNone/>
                <a:defRPr>
                  <a:latin typeface="微软雅黑"/>
                  <a:ea typeface="微软雅黑"/>
                  <a:cs typeface="微软雅黑"/>
                </a:defRPr>
              </a:pPr>
              <a:r>
                <a:rPr lang="zh-CN" altLang="en-US" sz="1000" kern="0" dirty="0">
                  <a:solidFill>
                    <a:srgbClr val="383838"/>
                  </a:solidFill>
                  <a:latin typeface="微软雅黑"/>
                  <a:ea typeface="微软雅黑"/>
                  <a:cs typeface="微软雅黑"/>
                  <a:sym typeface="微软雅黑"/>
                </a:rPr>
                <a:t>品牌在资本市场的估值（如Interbrand全球品牌排行榜）。</a:t>
              </a:r>
              <a:endParaRPr lang="zh-CN" altLang="en-US" sz="1000" kern="0" dirty="0">
                <a:solidFill>
                  <a:srgbClr val="383838"/>
                </a:solidFill>
                <a:latin typeface="微软雅黑"/>
                <a:ea typeface="微软雅黑"/>
                <a:cs typeface="微软雅黑"/>
                <a:sym typeface="微软雅黑"/>
              </a:endParaRPr>
            </a:p>
          </p:txBody>
        </p:sp>
      </p:grpSp>
      <p:sp>
        <p:nvSpPr>
          <p:cNvPr id="2" name="对话气泡: 圆角矩形 521"/>
          <p:cNvSpPr/>
          <p:nvPr/>
        </p:nvSpPr>
        <p:spPr>
          <a:xfrm flipV="1">
            <a:off x="686435" y="5631815"/>
            <a:ext cx="3917315" cy="780415"/>
          </a:xfrm>
          <a:prstGeom prst="wedgeRoundRectCallout">
            <a:avLst>
              <a:gd name="adj1" fmla="val 3671"/>
              <a:gd name="adj2" fmla="val 83360"/>
              <a:gd name="adj3" fmla="val 16667"/>
            </a:avLst>
          </a:prstGeom>
          <a:solidFill>
            <a:srgbClr val="FFFFFF"/>
          </a:solidFill>
          <a:ln w="25400">
            <a:solidFill>
              <a:srgbClr val="0042FF"/>
            </a:solid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grpSp>
        <p:nvGrpSpPr>
          <p:cNvPr id="7" name="组合 6"/>
          <p:cNvGrpSpPr/>
          <p:nvPr/>
        </p:nvGrpSpPr>
        <p:grpSpPr>
          <a:xfrm>
            <a:off x="7515830" y="1518372"/>
            <a:ext cx="3917005" cy="841815"/>
            <a:chOff x="820507" y="1848909"/>
            <a:chExt cx="3917005" cy="841815"/>
          </a:xfrm>
        </p:grpSpPr>
        <p:sp>
          <p:nvSpPr>
            <p:cNvPr id="8" name="对话气泡: 圆角矩形 521"/>
            <p:cNvSpPr/>
            <p:nvPr/>
          </p:nvSpPr>
          <p:spPr>
            <a:xfrm>
              <a:off x="820507" y="1910500"/>
              <a:ext cx="3917005" cy="780224"/>
            </a:xfrm>
            <a:prstGeom prst="wedgeRoundRectCallout">
              <a:avLst>
                <a:gd name="adj1" fmla="val 4017"/>
                <a:gd name="adj2" fmla="val 86800"/>
                <a:gd name="adj3" fmla="val 16667"/>
              </a:avLst>
            </a:prstGeom>
            <a:solidFill>
              <a:srgbClr val="FFFFFF"/>
            </a:solidFill>
            <a:ln w="25400">
              <a:solidFill>
                <a:srgbClr val="3368FF"/>
              </a:solidFill>
            </a:ln>
            <a:effectLst/>
          </p:spPr>
          <p:style>
            <a:lnRef idx="2">
              <a:srgbClr val="0042FF"/>
            </a:lnRef>
            <a:fillRef idx="1">
              <a:srgbClr val="0042FF"/>
            </a:fillRef>
            <a:effectRef idx="0">
              <a:srgbClr val="0042FF"/>
            </a:effectRef>
            <a:fontRef idx="minor">
              <a:srgbClr val="FFFFFF"/>
            </a:fontRef>
          </p:style>
          <p:txBody>
            <a:bodyPr lIns="85954" tIns="42977" rIns="85954" bIns="42977" rtlCol="0" anchor="ctr"/>
            <a:lstStyle/>
            <a:p>
              <a:pPr algn="ctr">
                <a:defRPr>
                  <a:latin typeface="微软雅黑"/>
                  <a:ea typeface="微软雅黑"/>
                  <a:cs typeface="微软雅黑"/>
                </a:defRPr>
              </a:pPr>
              <a:endParaRPr lang="zh-CN" altLang="en-US" sz="1690">
                <a:latin typeface="微软雅黑"/>
                <a:ea typeface="微软雅黑"/>
                <a:cs typeface="微软雅黑"/>
              </a:endParaRPr>
            </a:p>
          </p:txBody>
        </p:sp>
        <p:sp>
          <p:nvSpPr>
            <p:cNvPr id="12" name="Подзаголовок 2"/>
            <p:cNvSpPr txBox="1"/>
            <p:nvPr/>
          </p:nvSpPr>
          <p:spPr>
            <a:xfrm>
              <a:off x="820507" y="1848909"/>
              <a:ext cx="1377950" cy="666115"/>
            </a:xfrm>
            <a:prstGeom prst="rect">
              <a:avLst/>
            </a:prstGeom>
            <a:effectLst/>
          </p:spPr>
          <p:txBody>
            <a:bodyPr vert="horz" lIns="85954" tIns="42977" rIns="85954" bIns="42977" numCol="1" spcCol="180000" rtlCol="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indent="0" algn="ctr">
                <a:lnSpc>
                  <a:spcPct val="150000"/>
                </a:lnSpc>
                <a:spcBef>
                  <a:spcPts val="0"/>
                </a:spcBef>
                <a:buNone/>
                <a:defRPr>
                  <a:latin typeface="微软雅黑"/>
                  <a:ea typeface="微软雅黑"/>
                  <a:cs typeface="微软雅黑"/>
                </a:defRPr>
              </a:pPr>
              <a:r>
                <a:rPr lang="zh-CN" altLang="en-US" sz="3000" kern="0" dirty="0">
                  <a:solidFill>
                    <a:srgbClr val="0042FF"/>
                  </a:solidFill>
                  <a:latin typeface="微软雅黑"/>
                  <a:ea typeface="微软雅黑"/>
                  <a:cs typeface="微软雅黑"/>
                </a:rPr>
                <a:t>定位</a:t>
              </a:r>
              <a:endParaRPr lang="zh-CN" altLang="en-US" sz="3000" kern="0" dirty="0">
                <a:solidFill>
                  <a:srgbClr val="0042FF"/>
                </a:solidFill>
                <a:latin typeface="微软雅黑"/>
                <a:ea typeface="微软雅黑"/>
                <a:cs typeface="微软雅黑"/>
              </a:endParaRPr>
            </a:p>
          </p:txBody>
        </p:sp>
      </p:grpSp>
      <p:sp>
        <p:nvSpPr>
          <p:cNvPr id="14" name="Подзаголовок 2"/>
          <p:cNvSpPr txBox="1"/>
          <p:nvPr/>
        </p:nvSpPr>
        <p:spPr>
          <a:xfrm>
            <a:off x="956310" y="5865495"/>
            <a:ext cx="3536315" cy="399415"/>
          </a:xfrm>
          <a:prstGeom prst="rect">
            <a:avLst/>
          </a:prstGeom>
          <a:effectLst/>
        </p:spPr>
        <p:txBody>
          <a:bodyPr vert="horz" lIns="0" tIns="0" rIns="0" bIns="0" numCol="1" spcCol="180000" rtlCol="0" anchor="ctr" anchorCtr="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lvl="0" algn="l">
              <a:lnSpc>
                <a:spcPct val="100000"/>
              </a:lnSpc>
              <a:spcBef>
                <a:spcPts val="0"/>
              </a:spcBef>
              <a:buClrTx/>
              <a:buSzTx/>
              <a:buNone/>
              <a:defRPr>
                <a:latin typeface="微软雅黑"/>
                <a:ea typeface="微软雅黑"/>
                <a:cs typeface="微软雅黑"/>
              </a:defRPr>
            </a:pPr>
            <a:r>
              <a:rPr lang="zh-CN" altLang="en-US" sz="1000" kern="0" dirty="0">
                <a:solidFill>
                  <a:srgbClr val="0042FF"/>
                </a:solidFill>
                <a:latin typeface="微软雅黑"/>
                <a:ea typeface="微软雅黑"/>
                <a:cs typeface="微软雅黑"/>
                <a:sym typeface="微软雅黑"/>
              </a:rPr>
              <a:t>消费者对品牌的熟悉程度（如可口可乐的全球覆盖率）。</a:t>
            </a:r>
            <a:endParaRPr lang="zh-CN" altLang="en-US" sz="1000" kern="0" dirty="0">
              <a:solidFill>
                <a:srgbClr val="0042FF"/>
              </a:solidFill>
              <a:latin typeface="微软雅黑"/>
              <a:ea typeface="微软雅黑"/>
              <a:cs typeface="微软雅黑"/>
              <a:sym typeface="微软雅黑"/>
            </a:endParaRPr>
          </a:p>
          <a:p>
            <a:pPr marL="0" lvl="0" algn="l">
              <a:lnSpc>
                <a:spcPct val="100000"/>
              </a:lnSpc>
              <a:spcBef>
                <a:spcPts val="0"/>
              </a:spcBef>
              <a:buClrTx/>
              <a:buSzTx/>
              <a:buNone/>
              <a:defRPr>
                <a:latin typeface="微软雅黑"/>
                <a:ea typeface="微软雅黑"/>
                <a:cs typeface="微软雅黑"/>
              </a:defRPr>
            </a:pPr>
            <a:r>
              <a:rPr lang="zh-CN" altLang="en-US" sz="1000" kern="0" dirty="0">
                <a:solidFill>
                  <a:srgbClr val="0042FF"/>
                </a:solidFill>
                <a:latin typeface="微软雅黑"/>
                <a:ea typeface="微软雅黑"/>
                <a:cs typeface="微软雅黑"/>
                <a:sym typeface="微软雅黑"/>
              </a:rPr>
              <a:t>品牌在细分市场的辨识度（如LV代表奢侈品）。</a:t>
            </a:r>
            <a:endParaRPr lang="zh-CN" altLang="en-US" sz="1000" kern="0" dirty="0">
              <a:solidFill>
                <a:srgbClr val="0042FF"/>
              </a:solidFill>
              <a:latin typeface="微软雅黑"/>
              <a:ea typeface="微软雅黑"/>
              <a:cs typeface="微软雅黑"/>
              <a:sym typeface="微软雅黑"/>
            </a:endParaRPr>
          </a:p>
          <a:p>
            <a:pPr marL="0" lvl="0" algn="l">
              <a:lnSpc>
                <a:spcPct val="100000"/>
              </a:lnSpc>
              <a:spcBef>
                <a:spcPts val="0"/>
              </a:spcBef>
              <a:buClrTx/>
              <a:buSzTx/>
              <a:buNone/>
              <a:defRPr>
                <a:latin typeface="微软雅黑"/>
                <a:ea typeface="微软雅黑"/>
                <a:cs typeface="微软雅黑"/>
              </a:defRPr>
            </a:pPr>
            <a:endParaRPr lang="zh-CN" altLang="en-US" sz="1000" kern="0" dirty="0">
              <a:solidFill>
                <a:srgbClr val="0042FF"/>
              </a:solidFill>
              <a:latin typeface="微软雅黑"/>
              <a:ea typeface="微软雅黑"/>
              <a:cs typeface="微软雅黑"/>
              <a:sym typeface="微软雅黑"/>
            </a:endParaRPr>
          </a:p>
        </p:txBody>
      </p:sp>
      <p:sp>
        <p:nvSpPr>
          <p:cNvPr id="15" name="Подзаголовок 2"/>
          <p:cNvSpPr txBox="1"/>
          <p:nvPr/>
        </p:nvSpPr>
        <p:spPr>
          <a:xfrm>
            <a:off x="8697595" y="1654810"/>
            <a:ext cx="2675890" cy="570865"/>
          </a:xfrm>
          <a:prstGeom prst="rect">
            <a:avLst/>
          </a:prstGeom>
          <a:effectLst/>
        </p:spPr>
        <p:txBody>
          <a:bodyPr vert="horz" lIns="0" tIns="0" rIns="0" bIns="0" numCol="1" spcCol="180000" rtlCol="0" anchor="ctr" anchorCtr="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indent="0" fontAlgn="auto">
              <a:lnSpc>
                <a:spcPct val="100000"/>
              </a:lnSpc>
              <a:spcBef>
                <a:spcPts val="0"/>
              </a:spcBef>
              <a:buNone/>
              <a:defRPr>
                <a:latin typeface="微软雅黑"/>
                <a:ea typeface="微软雅黑"/>
                <a:cs typeface="微软雅黑"/>
              </a:defRPr>
            </a:pPr>
            <a:r>
              <a:rPr lang="zh-CN" altLang="en-US" sz="1000" kern="0" dirty="0">
                <a:solidFill>
                  <a:srgbClr val="383838"/>
                </a:solidFill>
                <a:latin typeface="微软雅黑"/>
                <a:ea typeface="微软雅黑"/>
                <a:cs typeface="微软雅黑"/>
              </a:rPr>
              <a:t>明确品牌的目标市场、差异化价值和核心主张（如高端、性价比、创新等）。制定长期品牌战略，确保与企业发展目标一致。</a:t>
            </a:r>
            <a:endParaRPr lang="zh-CN" altLang="en-US" sz="1000" kern="0" dirty="0">
              <a:solidFill>
                <a:srgbClr val="383838"/>
              </a:solidFill>
              <a:latin typeface="微软雅黑"/>
              <a:ea typeface="微软雅黑"/>
              <a:cs typeface="微软雅黑"/>
            </a:endParaRPr>
          </a:p>
        </p:txBody>
      </p:sp>
      <p:sp>
        <p:nvSpPr>
          <p:cNvPr id="16" name="Подзаголовок 2"/>
          <p:cNvSpPr txBox="1"/>
          <p:nvPr/>
        </p:nvSpPr>
        <p:spPr>
          <a:xfrm>
            <a:off x="7802245" y="5539740"/>
            <a:ext cx="3536315" cy="399415"/>
          </a:xfrm>
          <a:prstGeom prst="rect">
            <a:avLst/>
          </a:prstGeom>
          <a:effectLst/>
        </p:spPr>
        <p:txBody>
          <a:bodyPr vert="horz" lIns="0" tIns="0" rIns="0" bIns="0" numCol="1" spcCol="180000" rtlCol="0" anchor="ctr" anchorCtr="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lvl="0" algn="l">
              <a:lnSpc>
                <a:spcPct val="100000"/>
              </a:lnSpc>
              <a:spcBef>
                <a:spcPts val="0"/>
              </a:spcBef>
              <a:buClrTx/>
              <a:buSzTx/>
              <a:buNone/>
              <a:defRPr>
                <a:latin typeface="微软雅黑"/>
                <a:ea typeface="微软雅黑"/>
                <a:cs typeface="微软雅黑"/>
              </a:defRPr>
            </a:pPr>
            <a:r>
              <a:rPr lang="zh-CN" altLang="en-US" sz="1000" kern="0" dirty="0">
                <a:solidFill>
                  <a:srgbClr val="383838"/>
                </a:solidFill>
                <a:latin typeface="微软雅黑"/>
                <a:ea typeface="微软雅黑"/>
                <a:cs typeface="微软雅黑"/>
                <a:sym typeface="微软雅黑"/>
              </a:rPr>
              <a:t>统一品牌视觉识别（VI）、语言风格（Tone of Voice）和用户体验。通过内部培训、流程规范确保品牌承诺的兑现。</a:t>
            </a:r>
            <a:endParaRPr lang="zh-CN" altLang="en-US" sz="1000" kern="0" dirty="0">
              <a:solidFill>
                <a:srgbClr val="383838"/>
              </a:solidFill>
              <a:latin typeface="微软雅黑"/>
              <a:ea typeface="微软雅黑"/>
              <a:cs typeface="微软雅黑"/>
              <a:sym typeface="微软雅黑"/>
            </a:endParaRPr>
          </a:p>
        </p:txBody>
      </p:sp>
      <p:sp>
        <p:nvSpPr>
          <p:cNvPr id="3" name="Подзаголовок 2"/>
          <p:cNvSpPr txBox="1"/>
          <p:nvPr/>
        </p:nvSpPr>
        <p:spPr>
          <a:xfrm>
            <a:off x="963342" y="1708195"/>
            <a:ext cx="1062736" cy="309697"/>
          </a:xfrm>
          <a:prstGeom prst="rect">
            <a:avLst/>
          </a:prstGeom>
          <a:effectLst/>
        </p:spPr>
        <p:txBody>
          <a:bodyPr vert="horz" lIns="0" tIns="0" rIns="0" bIns="0" numCol="1" spcCol="180000" rtlCol="0" wrap="square" anchor="t">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indent="0" algn="ctr">
              <a:lnSpc>
                <a:spcPts val="1120"/>
              </a:lnSpc>
              <a:spcBef>
                <a:spcPts val="0"/>
              </a:spcBef>
              <a:buNone/>
              <a:defRPr>
                <a:latin typeface="微软雅黑"/>
                <a:ea typeface="微软雅黑"/>
                <a:cs typeface="微软雅黑"/>
              </a:defRPr>
              <a:spcAft>
                <a:spcPts val="0"/>
              </a:spcAft>
            </a:pPr>
            <a:r>
              <a:rPr lang="zh-CN" altLang="en-US" sz="1000" kern="0" dirty="0">
                <a:solidFill>
                  <a:srgbClr val="0042FF"/>
                </a:solidFill>
                <a:latin typeface="微软雅黑"/>
                <a:ea typeface="微软雅黑"/>
                <a:cs typeface="微软雅黑"/>
              </a:rPr>
              <a:t>市场份额</a:t>
            </a:r>
            <a:endParaRPr lang="zh-CN" altLang="en-US" sz="1000" kern="0" dirty="0">
              <a:solidFill>
                <a:srgbClr val="0042FF"/>
              </a:solidFill>
              <a:latin typeface="微软雅黑"/>
              <a:ea typeface="微软雅黑"/>
              <a:cs typeface="微软雅黑"/>
            </a:endParaRPr>
          </a:p>
        </p:txBody>
      </p:sp>
      <p:sp>
        <p:nvSpPr>
          <p:cNvPr id="4" name="Подзаголовок 2"/>
          <p:cNvSpPr txBox="1"/>
          <p:nvPr/>
        </p:nvSpPr>
        <p:spPr>
          <a:xfrm>
            <a:off x="805735" y="1805388"/>
            <a:ext cx="1377950" cy="498475"/>
          </a:xfrm>
          <a:prstGeom prst="rect">
            <a:avLst/>
          </a:prstGeom>
          <a:effectLst/>
        </p:spPr>
        <p:txBody>
          <a:bodyPr vert="horz" lIns="85954" tIns="42977" rIns="85954" bIns="42977" numCol="1" spcCol="180000" rtlCol="0">
            <a:noAutofit/>
          </a:bodyPr>
          <a:lstStyle>
            <a:lvl1pPr marL="228600" indent="-228600" algn="l" defTabSz="914400" rtl="0" eaLnBrk="1" latinLnBrk="0" hangingPunct="1">
              <a:lnSpc>
                <a:spcPct val="90000"/>
              </a:lnSpc>
              <a:spcBef>
                <a:spcPts val="1000"/>
              </a:spcBef>
              <a:buFont typeface="微软雅黑"/>
              <a:buChar char="•"/>
              <a:defRPr sz="2800" kern="1200">
                <a:solidFill>
                  <a:srgbClr val="383838"/>
                </a:solidFill>
                <a:latin typeface="微软雅黑"/>
                <a:ea typeface="微软雅黑"/>
                <a:cs typeface="微软雅黑"/>
              </a:defRPr>
            </a:lvl1pPr>
            <a:lvl2pPr marL="685800" indent="-228600" algn="l" defTabSz="914400" rtl="0" eaLnBrk="1" latinLnBrk="0" hangingPunct="1">
              <a:lnSpc>
                <a:spcPct val="90000"/>
              </a:lnSpc>
              <a:spcBef>
                <a:spcPts val="500"/>
              </a:spcBef>
              <a:buFont typeface="微软雅黑"/>
              <a:buChar char="•"/>
              <a:defRPr sz="2400" kern="1200">
                <a:solidFill>
                  <a:srgbClr val="383838"/>
                </a:solidFill>
                <a:latin typeface="微软雅黑"/>
                <a:ea typeface="微软雅黑"/>
                <a:cs typeface="微软雅黑"/>
              </a:defRPr>
            </a:lvl2pPr>
            <a:lvl3pPr marL="1143000" indent="-228600" algn="l" defTabSz="914400" rtl="0" eaLnBrk="1" latinLnBrk="0" hangingPunct="1">
              <a:lnSpc>
                <a:spcPct val="90000"/>
              </a:lnSpc>
              <a:spcBef>
                <a:spcPts val="500"/>
              </a:spcBef>
              <a:buFont typeface="微软雅黑"/>
              <a:buChar char="•"/>
              <a:defRPr sz="2000" kern="1200">
                <a:solidFill>
                  <a:srgbClr val="383838"/>
                </a:solidFill>
                <a:latin typeface="微软雅黑"/>
                <a:ea typeface="微软雅黑"/>
                <a:cs typeface="微软雅黑"/>
              </a:defRPr>
            </a:lvl3pPr>
            <a:lvl4pPr marL="1600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4pPr>
            <a:lvl5pPr marL="20574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5pPr>
            <a:lvl6pPr marL="25146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6pPr>
            <a:lvl7pPr marL="29718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7pPr>
            <a:lvl8pPr marL="34290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8pPr>
            <a:lvl9pPr marL="3886200" indent="-228600" algn="l" defTabSz="914400" rtl="0" eaLnBrk="1" latinLnBrk="0" hangingPunct="1">
              <a:lnSpc>
                <a:spcPct val="90000"/>
              </a:lnSpc>
              <a:spcBef>
                <a:spcPts val="500"/>
              </a:spcBef>
              <a:buFont typeface="微软雅黑"/>
              <a:buChar char="•"/>
              <a:defRPr sz="1800" kern="1200">
                <a:solidFill>
                  <a:srgbClr val="383838"/>
                </a:solidFill>
                <a:latin typeface="微软雅黑"/>
                <a:ea typeface="微软雅黑"/>
                <a:cs typeface="微软雅黑"/>
              </a:defRPr>
            </a:lvl9pPr>
          </a:lstStyle>
          <a:p>
            <a:pPr marL="0" indent="0" algn="ctr">
              <a:lnSpc>
                <a:spcPct val="150000"/>
              </a:lnSpc>
              <a:spcBef>
                <a:spcPts val="0"/>
              </a:spcBef>
              <a:buNone/>
              <a:defRPr>
                <a:latin typeface="微软雅黑"/>
                <a:ea typeface="微软雅黑"/>
                <a:cs typeface="微软雅黑"/>
              </a:defRPr>
            </a:pPr>
            <a:r>
              <a:rPr lang="en-US" altLang="zh-CN" sz="2500" b="1" kern="0" dirty="0">
                <a:solidFill>
                  <a:srgbClr val="0042FF"/>
                </a:solidFill>
                <a:latin typeface="微软雅黑"/>
                <a:ea typeface="微软雅黑"/>
                <a:cs typeface="微软雅黑"/>
              </a:rPr>
              <a:t>80%</a:t>
            </a:r>
            <a:endParaRPr lang="en-US" altLang="zh-CN" sz="2500" b="1" kern="0" dirty="0">
              <a:solidFill>
                <a:srgbClr val="0042FF"/>
              </a:solidFill>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6" name="组合 5"/>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4"/>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870712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采购数字化平台价值链</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6" name="任意多边形: 形状 25"/>
          <p:cNvSpPr/>
          <p:nvPr>
            <p:custDataLst>
              <p:tags r:id="rId3"/>
            </p:custDataLst>
          </p:nvPr>
        </p:nvSpPr>
        <p:spPr>
          <a:xfrm flipH="1" flipV="1">
            <a:off x="4234180" y="2040890"/>
            <a:ext cx="2037715" cy="1894840"/>
          </a:xfrm>
          <a:custGeom>
            <a:avLst/>
            <a:gdLst>
              <a:gd name="connsiteX0" fmla="*/ 323850 w 1082039"/>
              <a:gd name="connsiteY0" fmla="*/ 75248 h 1005840"/>
              <a:gd name="connsiteX1" fmla="*/ 631508 w 1082039"/>
              <a:gd name="connsiteY1" fmla="*/ 420053 h 1005840"/>
              <a:gd name="connsiteX2" fmla="*/ 1038225 w 1082039"/>
              <a:gd name="connsiteY2" fmla="*/ 681990 h 1005840"/>
              <a:gd name="connsiteX3" fmla="*/ 1082040 w 1082039"/>
              <a:gd name="connsiteY3" fmla="*/ 864870 h 1005840"/>
              <a:gd name="connsiteX4" fmla="*/ 932498 w 1082039"/>
              <a:gd name="connsiteY4" fmla="*/ 1005840 h 1005840"/>
              <a:gd name="connsiteX5" fmla="*/ 168592 w 1082039"/>
              <a:gd name="connsiteY5" fmla="*/ 423863 h 1005840"/>
              <a:gd name="connsiteX6" fmla="*/ 120967 w 1082039"/>
              <a:gd name="connsiteY6" fmla="*/ 363855 h 1005840"/>
              <a:gd name="connsiteX7" fmla="*/ 0 w 1082039"/>
              <a:gd name="connsiteY7" fmla="*/ 205740 h 1005840"/>
              <a:gd name="connsiteX8" fmla="*/ 193358 w 1082039"/>
              <a:gd name="connsiteY8" fmla="*/ 180023 h 1005840"/>
              <a:gd name="connsiteX9" fmla="*/ 267652 w 1082039"/>
              <a:gd name="connsiteY9" fmla="*/ 0 h 1005840"/>
              <a:gd name="connsiteX10" fmla="*/ 323850 w 1082039"/>
              <a:gd name="connsiteY10" fmla="*/ 75248 h 100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2039" h="1005840">
                <a:moveTo>
                  <a:pt x="323850" y="75248"/>
                </a:moveTo>
                <a:cubicBezTo>
                  <a:pt x="418147" y="198120"/>
                  <a:pt x="516255" y="317183"/>
                  <a:pt x="631508" y="420053"/>
                </a:cubicBezTo>
                <a:cubicBezTo>
                  <a:pt x="750570" y="525780"/>
                  <a:pt x="885825" y="630555"/>
                  <a:pt x="1038225" y="681990"/>
                </a:cubicBezTo>
                <a:lnTo>
                  <a:pt x="1082040" y="864870"/>
                </a:lnTo>
                <a:lnTo>
                  <a:pt x="932498" y="1005840"/>
                </a:lnTo>
                <a:cubicBezTo>
                  <a:pt x="625793" y="905828"/>
                  <a:pt x="369570" y="669608"/>
                  <a:pt x="168592" y="423863"/>
                </a:cubicBezTo>
                <a:cubicBezTo>
                  <a:pt x="152400" y="403860"/>
                  <a:pt x="136208" y="383858"/>
                  <a:pt x="120967" y="363855"/>
                </a:cubicBezTo>
                <a:cubicBezTo>
                  <a:pt x="80010" y="311468"/>
                  <a:pt x="40005" y="258128"/>
                  <a:pt x="0" y="205740"/>
                </a:cubicBezTo>
                <a:lnTo>
                  <a:pt x="193358" y="180023"/>
                </a:lnTo>
                <a:lnTo>
                  <a:pt x="267652" y="0"/>
                </a:lnTo>
                <a:cubicBezTo>
                  <a:pt x="285750" y="24765"/>
                  <a:pt x="304800" y="50483"/>
                  <a:pt x="323850" y="75248"/>
                </a:cubicBezTo>
                <a:close/>
              </a:path>
            </a:pathLst>
          </a:custGeom>
          <a:gradFill>
            <a:gsLst>
              <a:gs pos="100000">
                <a:srgbClr val="3368FF"/>
              </a:gs>
              <a:gs pos="0">
                <a:srgbClr val="668EFF"/>
              </a:gs>
            </a:gsLst>
            <a:lin ang="5400000" scaled="0"/>
          </a:gra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cs typeface="微软雅黑"/>
              <a:sym typeface="微软雅黑"/>
              <a:latin typeface="微软雅黑"/>
              <a:ea typeface="微软雅黑"/>
            </a:endParaRPr>
          </a:p>
        </p:txBody>
      </p:sp>
      <p:sp>
        <p:nvSpPr>
          <p:cNvPr id="23" name="任意多边形: 形状 22"/>
          <p:cNvSpPr/>
          <p:nvPr>
            <p:custDataLst>
              <p:tags r:id="rId4"/>
            </p:custDataLst>
          </p:nvPr>
        </p:nvSpPr>
        <p:spPr>
          <a:xfrm flipH="1" flipV="1">
            <a:off x="2106930" y="3804285"/>
            <a:ext cx="2423160" cy="1831975"/>
          </a:xfrm>
          <a:custGeom>
            <a:avLst/>
            <a:gdLst>
              <a:gd name="connsiteX0" fmla="*/ 1286828 w 1286827"/>
              <a:gd name="connsiteY0" fmla="*/ 971550 h 972502"/>
              <a:gd name="connsiteX1" fmla="*/ 1117283 w 1286827"/>
              <a:gd name="connsiteY1" fmla="*/ 873443 h 972502"/>
              <a:gd name="connsiteX2" fmla="*/ 944880 w 1286827"/>
              <a:gd name="connsiteY2" fmla="*/ 972503 h 972502"/>
              <a:gd name="connsiteX3" fmla="*/ 307658 w 1286827"/>
              <a:gd name="connsiteY3" fmla="*/ 341948 h 972502"/>
              <a:gd name="connsiteX4" fmla="*/ 147638 w 1286827"/>
              <a:gd name="connsiteY4" fmla="*/ 366713 h 972502"/>
              <a:gd name="connsiteX5" fmla="*/ 0 w 1286827"/>
              <a:gd name="connsiteY5" fmla="*/ 226695 h 972502"/>
              <a:gd name="connsiteX6" fmla="*/ 44768 w 1286827"/>
              <a:gd name="connsiteY6" fmla="*/ 40958 h 972502"/>
              <a:gd name="connsiteX7" fmla="*/ 307658 w 1286827"/>
              <a:gd name="connsiteY7" fmla="*/ 0 h 972502"/>
              <a:gd name="connsiteX8" fmla="*/ 1286828 w 1286827"/>
              <a:gd name="connsiteY8" fmla="*/ 971550 h 9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6827" h="972502">
                <a:moveTo>
                  <a:pt x="1286828" y="971550"/>
                </a:moveTo>
                <a:lnTo>
                  <a:pt x="1117283" y="873443"/>
                </a:lnTo>
                <a:lnTo>
                  <a:pt x="944880" y="972503"/>
                </a:lnTo>
                <a:cubicBezTo>
                  <a:pt x="941070" y="623888"/>
                  <a:pt x="656272" y="341948"/>
                  <a:pt x="307658" y="341948"/>
                </a:cubicBezTo>
                <a:cubicBezTo>
                  <a:pt x="254318" y="341948"/>
                  <a:pt x="200978" y="350520"/>
                  <a:pt x="147638" y="366713"/>
                </a:cubicBezTo>
                <a:lnTo>
                  <a:pt x="0" y="226695"/>
                </a:lnTo>
                <a:lnTo>
                  <a:pt x="44768" y="40958"/>
                </a:lnTo>
                <a:cubicBezTo>
                  <a:pt x="129540" y="15240"/>
                  <a:pt x="217170" y="0"/>
                  <a:pt x="307658" y="0"/>
                </a:cubicBezTo>
                <a:cubicBezTo>
                  <a:pt x="843915" y="953"/>
                  <a:pt x="1282065" y="435293"/>
                  <a:pt x="1286828" y="971550"/>
                </a:cubicBezTo>
                <a:close/>
              </a:path>
            </a:pathLst>
          </a:custGeom>
          <a:gradFill>
            <a:gsLst>
              <a:gs pos="100000">
                <a:srgbClr val="3368FF"/>
              </a:gs>
              <a:gs pos="0">
                <a:srgbClr val="668EFF"/>
              </a:gs>
            </a:gsLst>
            <a:lin ang="5400000" scaled="0"/>
          </a:gra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cs typeface="微软雅黑"/>
              <a:sym typeface="微软雅黑"/>
              <a:latin typeface="微软雅黑"/>
              <a:ea typeface="微软雅黑"/>
            </a:endParaRPr>
          </a:p>
        </p:txBody>
      </p:sp>
      <p:sp>
        <p:nvSpPr>
          <p:cNvPr id="24" name="任意多边形: 形状 23"/>
          <p:cNvSpPr/>
          <p:nvPr>
            <p:custDataLst>
              <p:tags r:id="rId5"/>
            </p:custDataLst>
          </p:nvPr>
        </p:nvSpPr>
        <p:spPr>
          <a:xfrm flipH="1" flipV="1">
            <a:off x="2108835" y="1943735"/>
            <a:ext cx="2292350" cy="1927225"/>
          </a:xfrm>
          <a:custGeom>
            <a:avLst/>
            <a:gdLst>
              <a:gd name="connsiteX0" fmla="*/ 1048703 w 1217294"/>
              <a:gd name="connsiteY0" fmla="*/ 0 h 1022984"/>
              <a:gd name="connsiteX1" fmla="*/ 1217295 w 1217294"/>
              <a:gd name="connsiteY1" fmla="*/ 97155 h 1022984"/>
              <a:gd name="connsiteX2" fmla="*/ 239078 w 1217294"/>
              <a:gd name="connsiteY2" fmla="*/ 1022985 h 1022984"/>
              <a:gd name="connsiteX3" fmla="*/ 170497 w 1217294"/>
              <a:gd name="connsiteY3" fmla="*/ 1020127 h 1022984"/>
              <a:gd name="connsiteX4" fmla="*/ 0 w 1217294"/>
              <a:gd name="connsiteY4" fmla="*/ 990600 h 1022984"/>
              <a:gd name="connsiteX5" fmla="*/ 149542 w 1217294"/>
              <a:gd name="connsiteY5" fmla="*/ 849630 h 1022984"/>
              <a:gd name="connsiteX6" fmla="*/ 105728 w 1217294"/>
              <a:gd name="connsiteY6" fmla="*/ 665797 h 1022984"/>
              <a:gd name="connsiteX7" fmla="*/ 239078 w 1217294"/>
              <a:gd name="connsiteY7" fmla="*/ 681038 h 1022984"/>
              <a:gd name="connsiteX8" fmla="*/ 874395 w 1217294"/>
              <a:gd name="connsiteY8" fmla="*/ 100965 h 1022984"/>
              <a:gd name="connsiteX9" fmla="*/ 1048703 w 1217294"/>
              <a:gd name="connsiteY9" fmla="*/ 0 h 102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7294" h="1022984">
                <a:moveTo>
                  <a:pt x="1048703" y="0"/>
                </a:moveTo>
                <a:lnTo>
                  <a:pt x="1217295" y="97155"/>
                </a:lnTo>
                <a:cubicBezTo>
                  <a:pt x="1188720" y="611505"/>
                  <a:pt x="761047" y="1022985"/>
                  <a:pt x="239078" y="1022985"/>
                </a:cubicBezTo>
                <a:cubicBezTo>
                  <a:pt x="216217" y="1022985"/>
                  <a:pt x="193357" y="1022033"/>
                  <a:pt x="170497" y="1020127"/>
                </a:cubicBezTo>
                <a:cubicBezTo>
                  <a:pt x="112395" y="1015365"/>
                  <a:pt x="55245" y="1004888"/>
                  <a:pt x="0" y="990600"/>
                </a:cubicBezTo>
                <a:lnTo>
                  <a:pt x="149542" y="849630"/>
                </a:lnTo>
                <a:lnTo>
                  <a:pt x="105728" y="665797"/>
                </a:lnTo>
                <a:cubicBezTo>
                  <a:pt x="148590" y="675322"/>
                  <a:pt x="193357" y="681038"/>
                  <a:pt x="239078" y="681038"/>
                </a:cubicBezTo>
                <a:cubicBezTo>
                  <a:pt x="571500" y="681038"/>
                  <a:pt x="844867" y="425767"/>
                  <a:pt x="874395" y="100965"/>
                </a:cubicBezTo>
                <a:lnTo>
                  <a:pt x="1048703" y="0"/>
                </a:lnTo>
                <a:close/>
              </a:path>
            </a:pathLst>
          </a:custGeom>
          <a:gradFill>
            <a:gsLst>
              <a:gs pos="100000">
                <a:srgbClr val="0042FF"/>
              </a:gs>
              <a:gs pos="0">
                <a:srgbClr val="3368FF"/>
              </a:gs>
            </a:gsLst>
            <a:lin ang="5400000" scaled="0"/>
          </a:gra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cs typeface="微软雅黑"/>
              <a:sym typeface="微软雅黑"/>
              <a:latin typeface="微软雅黑"/>
              <a:ea typeface="微软雅黑"/>
            </a:endParaRPr>
          </a:p>
        </p:txBody>
      </p:sp>
      <p:sp>
        <p:nvSpPr>
          <p:cNvPr id="28" name="任意多边形: 形状 27"/>
          <p:cNvSpPr/>
          <p:nvPr>
            <p:custDataLst>
              <p:tags r:id="rId6"/>
            </p:custDataLst>
          </p:nvPr>
        </p:nvSpPr>
        <p:spPr>
          <a:xfrm flipH="1" flipV="1">
            <a:off x="4363720" y="3793490"/>
            <a:ext cx="1702435" cy="1724025"/>
          </a:xfrm>
          <a:custGeom>
            <a:avLst/>
            <a:gdLst>
              <a:gd name="connsiteX0" fmla="*/ 754380 w 903922"/>
              <a:gd name="connsiteY0" fmla="*/ 182880 h 915352"/>
              <a:gd name="connsiteX1" fmla="*/ 903923 w 903922"/>
              <a:gd name="connsiteY1" fmla="*/ 324803 h 915352"/>
              <a:gd name="connsiteX2" fmla="*/ 214313 w 903922"/>
              <a:gd name="connsiteY2" fmla="*/ 915353 h 915352"/>
              <a:gd name="connsiteX3" fmla="*/ 157163 w 903922"/>
              <a:gd name="connsiteY3" fmla="*/ 840105 h 915352"/>
              <a:gd name="connsiteX4" fmla="*/ 118110 w 903922"/>
              <a:gd name="connsiteY4" fmla="*/ 788670 h 915352"/>
              <a:gd name="connsiteX5" fmla="*/ 0 w 903922"/>
              <a:gd name="connsiteY5" fmla="*/ 632460 h 915352"/>
              <a:gd name="connsiteX6" fmla="*/ 5715 w 903922"/>
              <a:gd name="connsiteY6" fmla="*/ 627698 h 915352"/>
              <a:gd name="connsiteX7" fmla="*/ 797243 w 903922"/>
              <a:gd name="connsiteY7" fmla="*/ 0 h 915352"/>
              <a:gd name="connsiteX8" fmla="*/ 754380 w 903922"/>
              <a:gd name="connsiteY8" fmla="*/ 182880 h 91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3922" h="915352">
                <a:moveTo>
                  <a:pt x="754380" y="182880"/>
                </a:moveTo>
                <a:lnTo>
                  <a:pt x="903923" y="324803"/>
                </a:lnTo>
                <a:cubicBezTo>
                  <a:pt x="621983" y="435293"/>
                  <a:pt x="356235" y="725805"/>
                  <a:pt x="214313" y="915353"/>
                </a:cubicBezTo>
                <a:cubicBezTo>
                  <a:pt x="195263" y="890588"/>
                  <a:pt x="176213" y="864870"/>
                  <a:pt x="157163" y="840105"/>
                </a:cubicBezTo>
                <a:cubicBezTo>
                  <a:pt x="144780" y="822960"/>
                  <a:pt x="131445" y="805815"/>
                  <a:pt x="118110" y="788670"/>
                </a:cubicBezTo>
                <a:cubicBezTo>
                  <a:pt x="79058" y="736283"/>
                  <a:pt x="40005" y="683895"/>
                  <a:pt x="0" y="632460"/>
                </a:cubicBezTo>
                <a:lnTo>
                  <a:pt x="5715" y="627698"/>
                </a:lnTo>
                <a:cubicBezTo>
                  <a:pt x="169545" y="426720"/>
                  <a:pt x="455295" y="128588"/>
                  <a:pt x="797243" y="0"/>
                </a:cubicBezTo>
                <a:lnTo>
                  <a:pt x="754380" y="182880"/>
                </a:lnTo>
                <a:close/>
              </a:path>
            </a:pathLst>
          </a:custGeom>
          <a:gradFill>
            <a:gsLst>
              <a:gs pos="100000">
                <a:srgbClr val="B3D4FE"/>
              </a:gs>
              <a:gs pos="0">
                <a:srgbClr val="FFFFFF"/>
              </a:gs>
            </a:gsLst>
            <a:lin ang="5400000" scaled="0"/>
          </a:gradFill>
          <a:ln w="9525" cap="flat">
            <a:noFill/>
            <a:prstDash val="solid"/>
            <a:miter/>
          </a:ln>
        </p:spPr>
        <p:txBody>
          <a:bodyPr rtlCol="0" anchor="ctr" lIns="0" rIns="0" tIns="0" bIns="0"/>
          <a:lstStyle/>
          <a:p>
            <a:pPr>
              <a:defRPr>
                <a:latin typeface="微软雅黑"/>
                <a:ea typeface="微软雅黑"/>
                <a:cs typeface="微软雅黑"/>
              </a:defRPr>
            </a:pPr>
            <a:endParaRPr lang="en-US">
              <a:cs typeface="微软雅黑"/>
              <a:latin typeface="微软雅黑"/>
              <a:ea typeface="微软雅黑"/>
            </a:endParaRPr>
          </a:p>
        </p:txBody>
      </p:sp>
      <p:sp>
        <p:nvSpPr>
          <p:cNvPr id="30" name="任意多边形: 形状 29"/>
          <p:cNvSpPr/>
          <p:nvPr>
            <p:custDataLst>
              <p:tags r:id="rId7"/>
            </p:custDataLst>
          </p:nvPr>
        </p:nvSpPr>
        <p:spPr>
          <a:xfrm flipH="1" flipV="1">
            <a:off x="5839460" y="3644900"/>
            <a:ext cx="1888490" cy="1877060"/>
          </a:xfrm>
          <a:custGeom>
            <a:avLst/>
            <a:gdLst>
              <a:gd name="connsiteX0" fmla="*/ 680085 w 1002982"/>
              <a:gd name="connsiteY0" fmla="*/ 924878 h 996315"/>
              <a:gd name="connsiteX1" fmla="*/ 453390 w 1002982"/>
              <a:gd name="connsiteY1" fmla="*/ 655320 h 996315"/>
              <a:gd name="connsiteX2" fmla="*/ 0 w 1002982"/>
              <a:gd name="connsiteY2" fmla="*/ 324803 h 996315"/>
              <a:gd name="connsiteX3" fmla="*/ 148590 w 1002982"/>
              <a:gd name="connsiteY3" fmla="*/ 184785 h 996315"/>
              <a:gd name="connsiteX4" fmla="*/ 104775 w 1002982"/>
              <a:gd name="connsiteY4" fmla="*/ 0 h 996315"/>
              <a:gd name="connsiteX5" fmla="*/ 765810 w 1002982"/>
              <a:gd name="connsiteY5" fmla="*/ 490538 h 996315"/>
              <a:gd name="connsiteX6" fmla="*/ 884873 w 1002982"/>
              <a:gd name="connsiteY6" fmla="*/ 634365 h 996315"/>
              <a:gd name="connsiteX7" fmla="*/ 1002982 w 1002982"/>
              <a:gd name="connsiteY7" fmla="*/ 790575 h 996315"/>
              <a:gd name="connsiteX8" fmla="*/ 928688 w 1002982"/>
              <a:gd name="connsiteY8" fmla="*/ 970598 h 996315"/>
              <a:gd name="connsiteX9" fmla="*/ 735330 w 1002982"/>
              <a:gd name="connsiteY9" fmla="*/ 996315 h 996315"/>
              <a:gd name="connsiteX10" fmla="*/ 735330 w 1002982"/>
              <a:gd name="connsiteY10" fmla="*/ 996315 h 996315"/>
              <a:gd name="connsiteX11" fmla="*/ 680085 w 1002982"/>
              <a:gd name="connsiteY11" fmla="*/ 924878 h 99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2982" h="996315">
                <a:moveTo>
                  <a:pt x="680085" y="924878"/>
                </a:moveTo>
                <a:cubicBezTo>
                  <a:pt x="608648" y="831533"/>
                  <a:pt x="534353" y="740093"/>
                  <a:pt x="453390" y="655320"/>
                </a:cubicBezTo>
                <a:cubicBezTo>
                  <a:pt x="327660" y="523875"/>
                  <a:pt x="174307" y="390525"/>
                  <a:pt x="0" y="324803"/>
                </a:cubicBezTo>
                <a:lnTo>
                  <a:pt x="148590" y="184785"/>
                </a:lnTo>
                <a:lnTo>
                  <a:pt x="104775" y="0"/>
                </a:lnTo>
                <a:cubicBezTo>
                  <a:pt x="361950" y="94298"/>
                  <a:pt x="585788" y="287655"/>
                  <a:pt x="765810" y="490538"/>
                </a:cubicBezTo>
                <a:cubicBezTo>
                  <a:pt x="806768" y="537210"/>
                  <a:pt x="846773" y="584835"/>
                  <a:pt x="884873" y="634365"/>
                </a:cubicBezTo>
                <a:cubicBezTo>
                  <a:pt x="924878" y="685800"/>
                  <a:pt x="963930" y="738188"/>
                  <a:pt x="1002982" y="790575"/>
                </a:cubicBezTo>
                <a:lnTo>
                  <a:pt x="928688" y="970598"/>
                </a:lnTo>
                <a:lnTo>
                  <a:pt x="735330" y="996315"/>
                </a:lnTo>
                <a:lnTo>
                  <a:pt x="735330" y="996315"/>
                </a:lnTo>
                <a:cubicBezTo>
                  <a:pt x="716280" y="972503"/>
                  <a:pt x="698182" y="948690"/>
                  <a:pt x="680085" y="924878"/>
                </a:cubicBezTo>
                <a:close/>
              </a:path>
            </a:pathLst>
          </a:custGeom>
          <a:gradFill>
            <a:gsLst>
              <a:gs pos="100000">
                <a:srgbClr val="3368FF"/>
              </a:gs>
              <a:gs pos="0">
                <a:srgbClr val="668EFF"/>
              </a:gs>
            </a:gsLst>
            <a:lin ang="5400000" scaled="0"/>
          </a:gradFill>
          <a:ln w="9525" cap="flat">
            <a:noFill/>
            <a:prstDash val="solid"/>
            <a:miter/>
          </a:ln>
        </p:spPr>
        <p:txBody>
          <a:bodyPr rtlCol="0" anchor="ctr" lIns="0" rIns="0" tIns="0" bIns="0">
            <a:noAutofit/>
          </a:bodyPr>
          <a:lstStyle/>
          <a:p>
            <a:pPr lvl="0" algn="l">
              <a:buClrTx/>
              <a:buSzTx/>
              <a:buFontTx/>
              <a:defRPr>
                <a:solidFill>
                  <a:srgbClr val="383838"/>
                </a:solidFill>
                <a:latin typeface="微软雅黑"/>
                <a:ea typeface="微软雅黑"/>
                <a:cs typeface="微软雅黑"/>
              </a:defRPr>
            </a:pPr>
            <a:endParaRPr lang="en-US">
              <a:solidFill>
                <a:srgbClr val="383838"/>
              </a:solidFill>
              <a:cs typeface="微软雅黑"/>
              <a:sym typeface="微软雅黑"/>
              <a:latin typeface="微软雅黑"/>
              <a:ea typeface="微软雅黑"/>
            </a:endParaRPr>
          </a:p>
        </p:txBody>
      </p:sp>
      <p:sp>
        <p:nvSpPr>
          <p:cNvPr id="31" name="任意多边形: 形状 30"/>
          <p:cNvSpPr/>
          <p:nvPr>
            <p:custDataLst>
              <p:tags r:id="rId8"/>
            </p:custDataLst>
          </p:nvPr>
        </p:nvSpPr>
        <p:spPr>
          <a:xfrm flipH="1" flipV="1">
            <a:off x="6042660" y="2052320"/>
            <a:ext cx="1815465" cy="1732915"/>
          </a:xfrm>
          <a:custGeom>
            <a:avLst/>
            <a:gdLst>
              <a:gd name="connsiteX0" fmla="*/ 963930 w 963929"/>
              <a:gd name="connsiteY0" fmla="*/ 280987 h 920114"/>
              <a:gd name="connsiteX1" fmla="*/ 960120 w 963929"/>
              <a:gd name="connsiteY1" fmla="*/ 284798 h 920114"/>
              <a:gd name="connsiteX2" fmla="*/ 146685 w 963929"/>
              <a:gd name="connsiteY2" fmla="*/ 920115 h 920114"/>
              <a:gd name="connsiteX3" fmla="*/ 0 w 963929"/>
              <a:gd name="connsiteY3" fmla="*/ 782003 h 920114"/>
              <a:gd name="connsiteX4" fmla="*/ 44768 w 963929"/>
              <a:gd name="connsiteY4" fmla="*/ 594360 h 920114"/>
              <a:gd name="connsiteX5" fmla="*/ 750570 w 963929"/>
              <a:gd name="connsiteY5" fmla="*/ 0 h 920114"/>
              <a:gd name="connsiteX6" fmla="*/ 804863 w 963929"/>
              <a:gd name="connsiteY6" fmla="*/ 71438 h 920114"/>
              <a:gd name="connsiteX7" fmla="*/ 804863 w 963929"/>
              <a:gd name="connsiteY7" fmla="*/ 71438 h 920114"/>
              <a:gd name="connsiteX8" fmla="*/ 842963 w 963929"/>
              <a:gd name="connsiteY8" fmla="*/ 121920 h 920114"/>
              <a:gd name="connsiteX9" fmla="*/ 963930 w 963929"/>
              <a:gd name="connsiteY9" fmla="*/ 280987 h 92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3929" h="920114">
                <a:moveTo>
                  <a:pt x="963930" y="280987"/>
                </a:moveTo>
                <a:lnTo>
                  <a:pt x="960120" y="284798"/>
                </a:lnTo>
                <a:cubicBezTo>
                  <a:pt x="793433" y="490537"/>
                  <a:pt x="498158" y="797243"/>
                  <a:pt x="146685" y="920115"/>
                </a:cubicBezTo>
                <a:lnTo>
                  <a:pt x="0" y="782003"/>
                </a:lnTo>
                <a:lnTo>
                  <a:pt x="44768" y="594360"/>
                </a:lnTo>
                <a:cubicBezTo>
                  <a:pt x="332423" y="489585"/>
                  <a:pt x="604838" y="193357"/>
                  <a:pt x="750570" y="0"/>
                </a:cubicBezTo>
                <a:cubicBezTo>
                  <a:pt x="768668" y="23813"/>
                  <a:pt x="786765" y="47625"/>
                  <a:pt x="804863" y="71438"/>
                </a:cubicBezTo>
                <a:lnTo>
                  <a:pt x="804863" y="71438"/>
                </a:lnTo>
                <a:cubicBezTo>
                  <a:pt x="817245" y="88582"/>
                  <a:pt x="830580" y="105727"/>
                  <a:pt x="842963" y="121920"/>
                </a:cubicBezTo>
                <a:cubicBezTo>
                  <a:pt x="882968" y="176213"/>
                  <a:pt x="922973" y="228600"/>
                  <a:pt x="963930" y="280987"/>
                </a:cubicBezTo>
                <a:close/>
              </a:path>
            </a:pathLst>
          </a:custGeom>
          <a:gradFill>
            <a:gsLst>
              <a:gs pos="100000">
                <a:srgbClr val="B3D4FE"/>
              </a:gs>
              <a:gs pos="0">
                <a:srgbClr val="B3D4FE"/>
              </a:gs>
            </a:gsLst>
            <a:lin ang="5400000" scaled="0"/>
          </a:gradFill>
          <a:ln w="9525" cap="flat">
            <a:noFill/>
            <a:prstDash val="solid"/>
            <a:miter/>
          </a:ln>
        </p:spPr>
        <p:txBody>
          <a:bodyPr rtlCol="0" anchor="ctr" lIns="0" rIns="0" tIns="0" bIns="0"/>
          <a:lstStyle/>
          <a:p>
            <a:pPr>
              <a:defRPr>
                <a:latin typeface="微软雅黑"/>
                <a:ea typeface="微软雅黑"/>
                <a:cs typeface="微软雅黑"/>
              </a:defRPr>
            </a:pPr>
            <a:endParaRPr lang="en-US">
              <a:cs typeface="微软雅黑"/>
              <a:latin typeface="微软雅黑"/>
              <a:ea typeface="微软雅黑"/>
            </a:endParaRPr>
          </a:p>
        </p:txBody>
      </p:sp>
      <p:sp>
        <p:nvSpPr>
          <p:cNvPr id="33" name="任意多边形: 形状 32"/>
          <p:cNvSpPr/>
          <p:nvPr>
            <p:custDataLst>
              <p:tags r:id="rId9"/>
            </p:custDataLst>
          </p:nvPr>
        </p:nvSpPr>
        <p:spPr>
          <a:xfrm flipH="1" flipV="1">
            <a:off x="7565390" y="3800475"/>
            <a:ext cx="2433955" cy="1833880"/>
          </a:xfrm>
          <a:custGeom>
            <a:avLst/>
            <a:gdLst>
              <a:gd name="connsiteX0" fmla="*/ 1247775 w 1292542"/>
              <a:gd name="connsiteY0" fmla="*/ 40005 h 973454"/>
              <a:gd name="connsiteX1" fmla="*/ 1292543 w 1292542"/>
              <a:gd name="connsiteY1" fmla="*/ 226695 h 973454"/>
              <a:gd name="connsiteX2" fmla="*/ 1145858 w 1292542"/>
              <a:gd name="connsiteY2" fmla="*/ 364808 h 973454"/>
              <a:gd name="connsiteX3" fmla="*/ 980123 w 1292542"/>
              <a:gd name="connsiteY3" fmla="*/ 340995 h 973454"/>
              <a:gd name="connsiteX4" fmla="*/ 342900 w 1292542"/>
              <a:gd name="connsiteY4" fmla="*/ 968693 h 973454"/>
              <a:gd name="connsiteX5" fmla="*/ 174308 w 1292542"/>
              <a:gd name="connsiteY5" fmla="*/ 872490 h 973454"/>
              <a:gd name="connsiteX6" fmla="*/ 0 w 1292542"/>
              <a:gd name="connsiteY6" fmla="*/ 973455 h 973454"/>
              <a:gd name="connsiteX7" fmla="*/ 979170 w 1292542"/>
              <a:gd name="connsiteY7" fmla="*/ 0 h 973454"/>
              <a:gd name="connsiteX8" fmla="*/ 1247775 w 1292542"/>
              <a:gd name="connsiteY8" fmla="*/ 40005 h 97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2542" h="973454">
                <a:moveTo>
                  <a:pt x="1247775" y="40005"/>
                </a:moveTo>
                <a:lnTo>
                  <a:pt x="1292543" y="226695"/>
                </a:lnTo>
                <a:lnTo>
                  <a:pt x="1145858" y="364808"/>
                </a:lnTo>
                <a:cubicBezTo>
                  <a:pt x="1092518" y="349568"/>
                  <a:pt x="1037273" y="340995"/>
                  <a:pt x="980123" y="340995"/>
                </a:cubicBezTo>
                <a:cubicBezTo>
                  <a:pt x="631508" y="340995"/>
                  <a:pt x="347663" y="621983"/>
                  <a:pt x="342900" y="968693"/>
                </a:cubicBezTo>
                <a:lnTo>
                  <a:pt x="174308" y="872490"/>
                </a:lnTo>
                <a:lnTo>
                  <a:pt x="0" y="973455"/>
                </a:lnTo>
                <a:cubicBezTo>
                  <a:pt x="3810" y="436245"/>
                  <a:pt x="441008" y="0"/>
                  <a:pt x="979170" y="0"/>
                </a:cubicBezTo>
                <a:cubicBezTo>
                  <a:pt x="1072515" y="0"/>
                  <a:pt x="1161098" y="14288"/>
                  <a:pt x="1247775" y="40005"/>
                </a:cubicBezTo>
                <a:close/>
              </a:path>
            </a:pathLst>
          </a:custGeom>
          <a:gradFill>
            <a:gsLst>
              <a:gs pos="100000">
                <a:srgbClr val="B3D4FE"/>
              </a:gs>
              <a:gs pos="0">
                <a:srgbClr val="B3D4FE"/>
              </a:gs>
            </a:gsLst>
            <a:lin ang="5400000" scaled="0"/>
          </a:gradFill>
          <a:ln w="9525" cap="flat">
            <a:no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en-US">
              <a:cs typeface="微软雅黑"/>
              <a:sym typeface="微软雅黑"/>
              <a:latin typeface="微软雅黑"/>
              <a:ea typeface="微软雅黑"/>
            </a:endParaRPr>
          </a:p>
        </p:txBody>
      </p:sp>
      <p:sp>
        <p:nvSpPr>
          <p:cNvPr id="6" name="任意多边形: 形状 34"/>
          <p:cNvSpPr/>
          <p:nvPr>
            <p:custDataLst>
              <p:tags r:id="rId10"/>
            </p:custDataLst>
          </p:nvPr>
        </p:nvSpPr>
        <p:spPr>
          <a:xfrm flipH="1" flipV="1">
            <a:off x="7701280" y="1945640"/>
            <a:ext cx="2298065" cy="1927225"/>
          </a:xfrm>
          <a:custGeom>
            <a:avLst/>
            <a:gdLst>
              <a:gd name="connsiteX0" fmla="*/ 1073468 w 1220152"/>
              <a:gd name="connsiteY0" fmla="*/ 849630 h 1022985"/>
              <a:gd name="connsiteX1" fmla="*/ 1220153 w 1220152"/>
              <a:gd name="connsiteY1" fmla="*/ 988695 h 1022985"/>
              <a:gd name="connsiteX2" fmla="*/ 978218 w 1220152"/>
              <a:gd name="connsiteY2" fmla="*/ 1022985 h 1022985"/>
              <a:gd name="connsiteX3" fmla="*/ 0 w 1220152"/>
              <a:gd name="connsiteY3" fmla="*/ 100013 h 1022985"/>
              <a:gd name="connsiteX4" fmla="*/ 173355 w 1220152"/>
              <a:gd name="connsiteY4" fmla="*/ 0 h 1022985"/>
              <a:gd name="connsiteX5" fmla="*/ 342900 w 1220152"/>
              <a:gd name="connsiteY5" fmla="*/ 97155 h 1022985"/>
              <a:gd name="connsiteX6" fmla="*/ 978218 w 1220152"/>
              <a:gd name="connsiteY6" fmla="*/ 680085 h 1022985"/>
              <a:gd name="connsiteX7" fmla="*/ 1117283 w 1220152"/>
              <a:gd name="connsiteY7" fmla="*/ 661035 h 1022985"/>
              <a:gd name="connsiteX8" fmla="*/ 1073468 w 1220152"/>
              <a:gd name="connsiteY8" fmla="*/ 849630 h 1022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0152" h="1022985">
                <a:moveTo>
                  <a:pt x="1073468" y="849630"/>
                </a:moveTo>
                <a:lnTo>
                  <a:pt x="1220153" y="988695"/>
                </a:lnTo>
                <a:cubicBezTo>
                  <a:pt x="1142048" y="1010603"/>
                  <a:pt x="1061085" y="1022985"/>
                  <a:pt x="978218" y="1022985"/>
                </a:cubicBezTo>
                <a:cubicBezTo>
                  <a:pt x="457200" y="1022985"/>
                  <a:pt x="29528" y="614363"/>
                  <a:pt x="0" y="100013"/>
                </a:cubicBezTo>
                <a:lnTo>
                  <a:pt x="173355" y="0"/>
                </a:lnTo>
                <a:lnTo>
                  <a:pt x="342900" y="97155"/>
                </a:lnTo>
                <a:cubicBezTo>
                  <a:pt x="370523" y="423863"/>
                  <a:pt x="644843" y="680085"/>
                  <a:pt x="978218" y="680085"/>
                </a:cubicBezTo>
                <a:cubicBezTo>
                  <a:pt x="1023938" y="680085"/>
                  <a:pt x="1070610" y="673418"/>
                  <a:pt x="1117283" y="661035"/>
                </a:cubicBezTo>
                <a:lnTo>
                  <a:pt x="1073468" y="849630"/>
                </a:lnTo>
                <a:close/>
              </a:path>
            </a:pathLst>
          </a:custGeom>
          <a:gradFill>
            <a:gsLst>
              <a:gs pos="100000">
                <a:srgbClr val="3368FF"/>
              </a:gs>
              <a:gs pos="0">
                <a:srgbClr val="B3D4FE"/>
              </a:gs>
            </a:gsLst>
            <a:lin ang="5400000" scaled="0"/>
          </a:gradFill>
          <a:ln w="9525" cap="flat">
            <a:noFill/>
            <a:prstDash val="solid"/>
            <a:miter/>
          </a:ln>
        </p:spPr>
        <p:txBody>
          <a:bodyPr rtlCol="0" anchor="ctr" lIns="0" rIns="0" tIns="0" bIns="0"/>
          <a:lstStyle/>
          <a:p>
            <a:pPr>
              <a:defRPr>
                <a:latin typeface="微软雅黑"/>
                <a:ea typeface="微软雅黑"/>
                <a:cs typeface="微软雅黑"/>
              </a:defRPr>
            </a:pPr>
            <a:endParaRPr lang="en-US">
              <a:cs typeface="微软雅黑"/>
              <a:latin typeface="微软雅黑"/>
              <a:ea typeface="微软雅黑"/>
            </a:endParaRPr>
          </a:p>
        </p:txBody>
      </p:sp>
      <p:sp>
        <p:nvSpPr>
          <p:cNvPr id="9" name="任意多边形: 形状 8"/>
          <p:cNvSpPr/>
          <p:nvPr>
            <p:custDataLst>
              <p:tags r:id="rId11"/>
            </p:custDataLst>
          </p:nvPr>
        </p:nvSpPr>
        <p:spPr>
          <a:xfrm flipH="1" flipV="1">
            <a:off x="7048500" y="2691130"/>
            <a:ext cx="2195830" cy="2196465"/>
          </a:xfrm>
          <a:custGeom>
            <a:avLst/>
            <a:gdLst>
              <a:gd name="connsiteX0" fmla="*/ 582930 w 1165860"/>
              <a:gd name="connsiteY0" fmla="*/ 1165860 h 1165860"/>
              <a:gd name="connsiteX1" fmla="*/ 0 w 1165860"/>
              <a:gd name="connsiteY1" fmla="*/ 582930 h 1165860"/>
              <a:gd name="connsiteX2" fmla="*/ 582930 w 1165860"/>
              <a:gd name="connsiteY2" fmla="*/ 0 h 1165860"/>
              <a:gd name="connsiteX3" fmla="*/ 1165860 w 1165860"/>
              <a:gd name="connsiteY3" fmla="*/ 582930 h 1165860"/>
              <a:gd name="connsiteX4" fmla="*/ 582930 w 1165860"/>
              <a:gd name="connsiteY4" fmla="*/ 116586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60" h="1165860">
                <a:moveTo>
                  <a:pt x="582930" y="1165860"/>
                </a:moveTo>
                <a:cubicBezTo>
                  <a:pt x="261938" y="1165860"/>
                  <a:pt x="0" y="904875"/>
                  <a:pt x="0" y="582930"/>
                </a:cubicBezTo>
                <a:cubicBezTo>
                  <a:pt x="0" y="261938"/>
                  <a:pt x="260985" y="0"/>
                  <a:pt x="582930" y="0"/>
                </a:cubicBezTo>
                <a:cubicBezTo>
                  <a:pt x="903923" y="0"/>
                  <a:pt x="1165860" y="260985"/>
                  <a:pt x="1165860" y="582930"/>
                </a:cubicBezTo>
                <a:cubicBezTo>
                  <a:pt x="1165860" y="903923"/>
                  <a:pt x="903923" y="1165860"/>
                  <a:pt x="582930" y="1165860"/>
                </a:cubicBezTo>
                <a:close/>
              </a:path>
            </a:pathLst>
          </a:custGeom>
          <a:solidFill>
            <a:srgbClr val="FFFFFF"/>
          </a:solidFill>
          <a:ln w="6350" cap="flat">
            <a:no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en-US">
              <a:cs typeface="微软雅黑"/>
              <a:sym typeface="微软雅黑"/>
              <a:latin typeface="微软雅黑"/>
              <a:ea typeface="微软雅黑"/>
            </a:endParaRPr>
          </a:p>
        </p:txBody>
      </p:sp>
      <p:sp>
        <p:nvSpPr>
          <p:cNvPr id="7" name="任意多边形: 形状 9"/>
          <p:cNvSpPr/>
          <p:nvPr>
            <p:custDataLst>
              <p:tags r:id="rId12"/>
            </p:custDataLst>
          </p:nvPr>
        </p:nvSpPr>
        <p:spPr>
          <a:xfrm flipH="1" flipV="1">
            <a:off x="7143433" y="2799715"/>
            <a:ext cx="1979930" cy="1980565"/>
          </a:xfrm>
          <a:custGeom>
            <a:avLst/>
            <a:gdLst>
              <a:gd name="connsiteX0" fmla="*/ 1051560 w 1051560"/>
              <a:gd name="connsiteY0" fmla="*/ 525780 h 1051560"/>
              <a:gd name="connsiteX1" fmla="*/ 525780 w 1051560"/>
              <a:gd name="connsiteY1" fmla="*/ 1051560 h 1051560"/>
              <a:gd name="connsiteX2" fmla="*/ 0 w 1051560"/>
              <a:gd name="connsiteY2" fmla="*/ 525780 h 1051560"/>
              <a:gd name="connsiteX3" fmla="*/ 525780 w 1051560"/>
              <a:gd name="connsiteY3" fmla="*/ 0 h 1051560"/>
              <a:gd name="connsiteX4" fmla="*/ 1051560 w 1051560"/>
              <a:gd name="connsiteY4" fmla="*/ 525780 h 1051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560" h="1051560">
                <a:moveTo>
                  <a:pt x="1051560" y="525780"/>
                </a:moveTo>
                <a:cubicBezTo>
                  <a:pt x="1051560" y="816160"/>
                  <a:pt x="816160" y="1051560"/>
                  <a:pt x="525780" y="1051560"/>
                </a:cubicBezTo>
                <a:cubicBezTo>
                  <a:pt x="235400" y="1051560"/>
                  <a:pt x="0" y="816160"/>
                  <a:pt x="0" y="525780"/>
                </a:cubicBezTo>
                <a:cubicBezTo>
                  <a:pt x="0" y="235400"/>
                  <a:pt x="235400" y="0"/>
                  <a:pt x="525780" y="0"/>
                </a:cubicBezTo>
                <a:cubicBezTo>
                  <a:pt x="816160" y="0"/>
                  <a:pt x="1051560" y="235400"/>
                  <a:pt x="1051560" y="525780"/>
                </a:cubicBezTo>
                <a:close/>
              </a:path>
            </a:pathLst>
          </a:custGeom>
          <a:solidFill>
            <a:srgbClr val="FFFFFF"/>
          </a:solidFill>
          <a:ln w="9525" cap="flat">
            <a:noFill/>
            <a:prstDash val="solid"/>
            <a:miter/>
          </a:ln>
        </p:spPr>
        <p:txBody>
          <a:bodyPr rtlCol="0" anchor="ctr" lIns="0" rIns="0" tIns="0" bIns="0"/>
          <a:lstStyle/>
          <a:p>
            <a:pPr>
              <a:defRPr>
                <a:latin typeface="微软雅黑"/>
                <a:ea typeface="微软雅黑"/>
                <a:cs typeface="微软雅黑"/>
              </a:defRPr>
            </a:pPr>
            <a:endParaRPr lang="en-US">
              <a:cs typeface="微软雅黑"/>
              <a:latin typeface="微软雅黑"/>
              <a:ea typeface="微软雅黑"/>
            </a:endParaRPr>
          </a:p>
        </p:txBody>
      </p:sp>
      <p:sp>
        <p:nvSpPr>
          <p:cNvPr id="46" name="任意多边形: 形状 45"/>
          <p:cNvSpPr/>
          <p:nvPr>
            <p:custDataLst>
              <p:tags r:id="rId13"/>
            </p:custDataLst>
          </p:nvPr>
        </p:nvSpPr>
        <p:spPr>
          <a:xfrm flipH="1" flipV="1">
            <a:off x="2861945" y="2691130"/>
            <a:ext cx="2195830" cy="2196465"/>
          </a:xfrm>
          <a:custGeom>
            <a:avLst/>
            <a:gdLst>
              <a:gd name="connsiteX0" fmla="*/ 582930 w 1165859"/>
              <a:gd name="connsiteY0" fmla="*/ 1165860 h 1165860"/>
              <a:gd name="connsiteX1" fmla="*/ 0 w 1165859"/>
              <a:gd name="connsiteY1" fmla="*/ 582930 h 1165860"/>
              <a:gd name="connsiteX2" fmla="*/ 582930 w 1165859"/>
              <a:gd name="connsiteY2" fmla="*/ 0 h 1165860"/>
              <a:gd name="connsiteX3" fmla="*/ 1165860 w 1165859"/>
              <a:gd name="connsiteY3" fmla="*/ 582930 h 1165860"/>
              <a:gd name="connsiteX4" fmla="*/ 582930 w 1165859"/>
              <a:gd name="connsiteY4" fmla="*/ 116586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59" h="1165860">
                <a:moveTo>
                  <a:pt x="582930" y="1165860"/>
                </a:moveTo>
                <a:cubicBezTo>
                  <a:pt x="261938" y="1165860"/>
                  <a:pt x="0" y="904875"/>
                  <a:pt x="0" y="582930"/>
                </a:cubicBezTo>
                <a:cubicBezTo>
                  <a:pt x="0" y="261938"/>
                  <a:pt x="260985" y="0"/>
                  <a:pt x="582930" y="0"/>
                </a:cubicBezTo>
                <a:cubicBezTo>
                  <a:pt x="903922" y="0"/>
                  <a:pt x="1165860" y="260985"/>
                  <a:pt x="1165860" y="582930"/>
                </a:cubicBezTo>
                <a:cubicBezTo>
                  <a:pt x="1164907" y="903923"/>
                  <a:pt x="903922" y="1165860"/>
                  <a:pt x="582930" y="1165860"/>
                </a:cubicBezTo>
                <a:close/>
              </a:path>
            </a:pathLst>
          </a:custGeom>
          <a:solidFill>
            <a:srgbClr val="E6E6E6"/>
          </a:solidFill>
          <a:ln w="6350" cap="flat">
            <a:noFill/>
            <a:prstDash val="solid"/>
            <a:miter/>
          </a:ln>
        </p:spPr>
        <p:txBody>
          <a:bodyPr rtlCol="0" anchor="ctr" lIns="0" rIns="0" tIns="0" bIns="0"/>
          <a:lstStyle/>
          <a:p>
            <a:pPr>
              <a:defRPr>
                <a:latin typeface="微软雅黑"/>
                <a:ea typeface="微软雅黑"/>
                <a:cs typeface="微软雅黑"/>
              </a:defRPr>
            </a:pPr>
            <a:endParaRPr lang="en-US">
              <a:cs typeface="微软雅黑"/>
              <a:latin typeface="微软雅黑"/>
              <a:ea typeface="微软雅黑"/>
            </a:endParaRPr>
          </a:p>
        </p:txBody>
      </p:sp>
      <p:sp>
        <p:nvSpPr>
          <p:cNvPr id="47" name="任意多边形: 形状 46"/>
          <p:cNvSpPr/>
          <p:nvPr>
            <p:custDataLst>
              <p:tags r:id="rId14"/>
            </p:custDataLst>
          </p:nvPr>
        </p:nvSpPr>
        <p:spPr>
          <a:xfrm flipH="1" flipV="1">
            <a:off x="2972118" y="2799715"/>
            <a:ext cx="1979930" cy="1980565"/>
          </a:xfrm>
          <a:custGeom>
            <a:avLst/>
            <a:gdLst>
              <a:gd name="connsiteX0" fmla="*/ 1051560 w 1051559"/>
              <a:gd name="connsiteY0" fmla="*/ 525780 h 1051560"/>
              <a:gd name="connsiteX1" fmla="*/ 525780 w 1051559"/>
              <a:gd name="connsiteY1" fmla="*/ 1051560 h 1051560"/>
              <a:gd name="connsiteX2" fmla="*/ 0 w 1051559"/>
              <a:gd name="connsiteY2" fmla="*/ 525780 h 1051560"/>
              <a:gd name="connsiteX3" fmla="*/ 525780 w 1051559"/>
              <a:gd name="connsiteY3" fmla="*/ 0 h 1051560"/>
              <a:gd name="connsiteX4" fmla="*/ 1051560 w 1051559"/>
              <a:gd name="connsiteY4" fmla="*/ 525780 h 1051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559" h="1051560">
                <a:moveTo>
                  <a:pt x="1051560" y="525780"/>
                </a:moveTo>
                <a:cubicBezTo>
                  <a:pt x="1051560" y="816160"/>
                  <a:pt x="816160" y="1051560"/>
                  <a:pt x="525780" y="1051560"/>
                </a:cubicBezTo>
                <a:cubicBezTo>
                  <a:pt x="235400" y="1051560"/>
                  <a:pt x="0" y="816160"/>
                  <a:pt x="0" y="525780"/>
                </a:cubicBezTo>
                <a:cubicBezTo>
                  <a:pt x="0" y="235400"/>
                  <a:pt x="235399" y="0"/>
                  <a:pt x="525780" y="0"/>
                </a:cubicBezTo>
                <a:cubicBezTo>
                  <a:pt x="816160" y="0"/>
                  <a:pt x="1051560" y="235400"/>
                  <a:pt x="1051560" y="525780"/>
                </a:cubicBezTo>
                <a:close/>
              </a:path>
            </a:pathLst>
          </a:custGeom>
          <a:solidFill>
            <a:srgbClr val="FFFFFF"/>
          </a:solidFill>
          <a:ln w="9525" cap="flat">
            <a:noFill/>
            <a:prstDash val="solid"/>
            <a:miter/>
          </a:ln>
        </p:spPr>
        <p:txBody>
          <a:bodyPr rtlCol="0" anchor="ctr" lIns="0" rIns="0" tIns="0" bIns="0"/>
          <a:lstStyle/>
          <a:p>
            <a:pPr>
              <a:defRPr>
                <a:latin typeface="微软雅黑"/>
                <a:ea typeface="微软雅黑"/>
                <a:cs typeface="微软雅黑"/>
              </a:defRPr>
            </a:pPr>
            <a:endParaRPr lang="en-US">
              <a:cs typeface="微软雅黑"/>
              <a:latin typeface="微软雅黑"/>
              <a:ea typeface="微软雅黑"/>
            </a:endParaRPr>
          </a:p>
        </p:txBody>
      </p:sp>
      <p:sp>
        <p:nvSpPr>
          <p:cNvPr id="184" name="©天蝎PPT27"/>
          <p:cNvSpPr txBox="1"/>
          <p:nvPr>
            <p:custDataLst>
              <p:tags r:id="rId15"/>
            </p:custDataLst>
          </p:nvPr>
        </p:nvSpPr>
        <p:spPr>
          <a:xfrm>
            <a:off x="2871470" y="3467418"/>
            <a:ext cx="2181225" cy="645160"/>
          </a:xfrm>
          <a:prstGeom prst="rect">
            <a:avLst/>
          </a:prstGeom>
          <a:noFill/>
        </p:spPr>
        <p:txBody>
          <a:bodyPr wrap="square" lIns="0" rIns="0" tIns="0" bIns="0">
            <a:spAutoFit/>
          </a:bodyPr>
          <a:lstStyle/>
          <a:p>
            <a:pPr algn="ctr" rtl="0">
              <a:defRPr>
                <a:latin typeface="微软雅黑"/>
                <a:ea typeface="微软雅黑"/>
                <a:cs typeface="微软雅黑"/>
              </a:defRPr>
            </a:pPr>
            <a:r>
              <a:rPr lang="zh-CN" altLang="en-US" b="1" dirty="0">
                <a:solidFill>
                  <a:srgbClr val="0042FF"/>
                </a:solidFill>
                <a:effectLst/>
                <a:latin typeface="微软雅黑"/>
                <a:ea typeface="微软雅黑"/>
                <a:cs typeface="微软雅黑"/>
                <a:sym typeface="微软雅黑"/>
              </a:rPr>
              <a:t>供应商</a:t>
            </a:r>
            <a:endParaRPr lang="zh-CN" altLang="en-US" b="1" dirty="0">
              <a:solidFill>
                <a:srgbClr val="0042FF"/>
              </a:solidFill>
              <a:effectLst/>
              <a:latin typeface="微软雅黑"/>
              <a:ea typeface="微软雅黑"/>
              <a:cs typeface="微软雅黑"/>
              <a:sym typeface="微软雅黑"/>
            </a:endParaRPr>
          </a:p>
          <a:p>
            <a:pPr algn="ctr" rtl="0">
              <a:defRPr>
                <a:latin typeface="微软雅黑"/>
                <a:ea typeface="微软雅黑"/>
                <a:cs typeface="微软雅黑"/>
              </a:defRPr>
            </a:pPr>
            <a:r>
              <a:rPr lang="zh-CN" altLang="en-US" b="1" dirty="0">
                <a:solidFill>
                  <a:srgbClr val="0042FF"/>
                </a:solidFill>
                <a:effectLst/>
                <a:latin typeface="微软雅黑"/>
                <a:ea typeface="微软雅黑"/>
                <a:cs typeface="微软雅黑"/>
                <a:sym typeface="微软雅黑"/>
              </a:rPr>
              <a:t>生命周期管理</a:t>
            </a:r>
            <a:endParaRPr lang="zh-CN" altLang="en-US" b="1" dirty="0">
              <a:solidFill>
                <a:srgbClr val="0042FF"/>
              </a:solidFill>
              <a:effectLst/>
              <a:latin typeface="微软雅黑"/>
              <a:ea typeface="微软雅黑"/>
              <a:cs typeface="微软雅黑"/>
              <a:sym typeface="微软雅黑"/>
            </a:endParaRPr>
          </a:p>
        </p:txBody>
      </p:sp>
      <p:sp>
        <p:nvSpPr>
          <p:cNvPr id="2" name="©天蝎PPT27"/>
          <p:cNvSpPr txBox="1"/>
          <p:nvPr>
            <p:custDataLst>
              <p:tags r:id="rId16"/>
            </p:custDataLst>
          </p:nvPr>
        </p:nvSpPr>
        <p:spPr>
          <a:xfrm>
            <a:off x="7042785" y="3467418"/>
            <a:ext cx="2181225" cy="645160"/>
          </a:xfrm>
          <a:prstGeom prst="rect">
            <a:avLst/>
          </a:prstGeom>
          <a:noFill/>
        </p:spPr>
        <p:txBody>
          <a:bodyPr wrap="square" lIns="0" rIns="0" tIns="0" bIns="0">
            <a:spAutoFit/>
          </a:bodyPr>
          <a:lstStyle/>
          <a:p>
            <a:pPr algn="ctr" rtl="0">
              <a:defRPr>
                <a:latin typeface="微软雅黑"/>
                <a:ea typeface="微软雅黑"/>
                <a:cs typeface="微软雅黑"/>
              </a:defRPr>
            </a:pPr>
            <a:r>
              <a:rPr lang="zh-CN" altLang="en-US" b="1" dirty="0">
                <a:solidFill>
                  <a:srgbClr val="0042FF"/>
                </a:solidFill>
                <a:effectLst/>
                <a:latin typeface="微软雅黑"/>
                <a:ea typeface="微软雅黑"/>
                <a:cs typeface="微软雅黑"/>
                <a:sym typeface="微软雅黑"/>
              </a:rPr>
              <a:t>采购业务</a:t>
            </a:r>
            <a:endParaRPr lang="zh-CN" altLang="en-US" b="1" dirty="0">
              <a:solidFill>
                <a:srgbClr val="0042FF"/>
              </a:solidFill>
              <a:effectLst/>
              <a:latin typeface="微软雅黑"/>
              <a:ea typeface="微软雅黑"/>
              <a:cs typeface="微软雅黑"/>
              <a:sym typeface="微软雅黑"/>
            </a:endParaRPr>
          </a:p>
          <a:p>
            <a:pPr algn="ctr" rtl="0">
              <a:defRPr>
                <a:latin typeface="微软雅黑"/>
                <a:ea typeface="微软雅黑"/>
                <a:cs typeface="微软雅黑"/>
              </a:defRPr>
            </a:pPr>
            <a:r>
              <a:rPr lang="zh-CN" altLang="en-US" b="1" dirty="0">
                <a:solidFill>
                  <a:srgbClr val="0042FF"/>
                </a:solidFill>
                <a:effectLst/>
                <a:latin typeface="微软雅黑"/>
                <a:ea typeface="微软雅黑"/>
                <a:cs typeface="微软雅黑"/>
                <a:sym typeface="微软雅黑"/>
              </a:rPr>
              <a:t>全过程管理</a:t>
            </a:r>
            <a:endParaRPr lang="zh-CN" altLang="en-US" b="1" dirty="0">
              <a:solidFill>
                <a:srgbClr val="0042FF"/>
              </a:solidFill>
              <a:effectLst/>
              <a:latin typeface="微软雅黑"/>
              <a:ea typeface="微软雅黑"/>
              <a:cs typeface="微软雅黑"/>
              <a:sym typeface="微软雅黑"/>
            </a:endParaRPr>
          </a:p>
        </p:txBody>
      </p:sp>
      <p:sp>
        <p:nvSpPr>
          <p:cNvPr id="121" name="文本框 120"/>
          <p:cNvSpPr txBox="1"/>
          <p:nvPr/>
        </p:nvSpPr>
        <p:spPr>
          <a:xfrm rot="21360000">
            <a:off x="2492375" y="2341245"/>
            <a:ext cx="2546350" cy="2546350"/>
          </a:xfrm>
          <a:prstGeom prst="rect">
            <a:avLst/>
          </a:prstGeom>
          <a:noFill/>
        </p:spPr>
        <p:txBody>
          <a:bodyPr wrap="square" rtlCol="0" lIns="0" rIns="0" tIns="0" bIns="0">
            <a:prstTxWarp prst="textArchUp">
              <a:avLst>
                <a:gd name="adj" fmla="val 11939508"/>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rPr>
              <a:t>供应商内部</a:t>
            </a:r>
            <a:r>
              <a:rPr kumimoji="0" lang="en-US" altLang="zh-CN" sz="1600" b="0" i="0" u="none" strike="noStrike" kern="1200" cap="none" spc="0" normalizeH="0" baseline="0" noProof="0" dirty="0">
                <a:ln>
                  <a:noFill/>
                </a:ln>
                <a:solidFill>
                  <a:srgbClr val="383838"/>
                </a:solidFill>
                <a:effectLst/>
                <a:uLnTx/>
                <a:uFillTx/>
                <a:latin typeface="微软雅黑"/>
                <a:ea typeface="微软雅黑"/>
                <a:cs typeface="微软雅黑"/>
              </a:rPr>
              <a:t>IT</a:t>
            </a:r>
            <a:r>
              <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rPr>
              <a:t>建设</a:t>
            </a:r>
            <a:endPar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 name="文本框 11"/>
          <p:cNvSpPr txBox="1"/>
          <p:nvPr/>
        </p:nvSpPr>
        <p:spPr>
          <a:xfrm rot="2520000">
            <a:off x="4114800" y="2818130"/>
            <a:ext cx="2101215" cy="387985"/>
          </a:xfrm>
          <a:prstGeom prst="rect">
            <a:avLst/>
          </a:prstGeom>
        </p:spPr>
        <p:txBody>
          <a:bodyPr wrap="square">
            <a:prstTxWarp prst="textArchUp">
              <a:avLst/>
            </a:prstTxWarp>
            <a:noAutofit/>
            <a:extLst>
              <a:ext uri="{4A0BC546-FE56-4ADE-93B0-CB8AF2F6F144}">
                <wpsdc:textFrameExt xmlns:wpsdc="http://www.wps.cn/officeDocument/2022/drawingmlCustomData" type="text"/>
              </a:ext>
            </a:extLst>
          </a:bodyPr>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企业需求商机匹配</a:t>
            </a:r>
            <a:endParaRPr lang="zh-CN" altLang="en-US" sz="1600">
              <a:solidFill>
                <a:srgbClr val="FFFFFF"/>
              </a:solidFill>
              <a:latin typeface="微软雅黑"/>
              <a:ea typeface="微软雅黑"/>
              <a:cs typeface="微软雅黑"/>
            </a:endParaRPr>
          </a:p>
        </p:txBody>
      </p:sp>
      <p:sp>
        <p:nvSpPr>
          <p:cNvPr id="13" name="文本框 12"/>
          <p:cNvSpPr txBox="1"/>
          <p:nvPr/>
        </p:nvSpPr>
        <p:spPr>
          <a:xfrm rot="2820000">
            <a:off x="5766435" y="4201795"/>
            <a:ext cx="2101215" cy="387985"/>
          </a:xfrm>
          <a:prstGeom prst="rect">
            <a:avLst/>
          </a:prstGeom>
        </p:spPr>
        <p:txBody>
          <a:bodyPr wrap="square">
            <a:prstTxWarp prst="textArchDown">
              <a:avLst/>
            </a:prstTxWarp>
            <a:noAutofit/>
            <a:extLst>
              <a:ext uri="{4A0BC546-FE56-4ADE-93B0-CB8AF2F6F144}">
                <wpsdc:textFrameExt xmlns:wpsdc="http://www.wps.cn/officeDocument/2022/drawingmlCustomData" type="text"/>
              </a:ext>
            </a:extLst>
          </a:bodyPr>
          <a:p>
            <a:pPr algn="ctr">
              <a:defRPr>
                <a:solidFill>
                  <a:srgbClr val="383838"/>
                </a:solidFill>
                <a:latin typeface="微软雅黑"/>
                <a:ea typeface="微软雅黑"/>
                <a:cs typeface="微软雅黑"/>
              </a:defRPr>
            </a:pPr>
            <a:r>
              <a:rPr lang="zh-CN" altLang="en-US" sz="1600">
                <a:solidFill>
                  <a:srgbClr val="383838"/>
                </a:solidFill>
                <a:latin typeface="微软雅黑"/>
                <a:ea typeface="微软雅黑"/>
                <a:cs typeface="微软雅黑"/>
              </a:rPr>
              <a:t>供应商淘汰机制</a:t>
            </a:r>
            <a:endParaRPr lang="zh-CN" altLang="en-US" sz="1600">
              <a:solidFill>
                <a:srgbClr val="383838"/>
              </a:solidFill>
              <a:latin typeface="微软雅黑"/>
              <a:ea typeface="微软雅黑"/>
              <a:cs typeface="微软雅黑"/>
            </a:endParaRPr>
          </a:p>
        </p:txBody>
      </p:sp>
      <p:sp>
        <p:nvSpPr>
          <p:cNvPr id="14" name="文本框 13"/>
          <p:cNvSpPr txBox="1"/>
          <p:nvPr/>
        </p:nvSpPr>
        <p:spPr>
          <a:xfrm rot="19140000">
            <a:off x="4084320" y="4302125"/>
            <a:ext cx="2101215" cy="387985"/>
          </a:xfrm>
          <a:prstGeom prst="rect">
            <a:avLst/>
          </a:prstGeom>
        </p:spPr>
        <p:txBody>
          <a:bodyPr wrap="square">
            <a:prstTxWarp prst="textArchDown">
              <a:avLst/>
            </a:prstTxWarp>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汇聚供应商资源</a:t>
            </a:r>
            <a:endParaRPr lang="zh-CN" altLang="en-US" sz="1600">
              <a:solidFill>
                <a:srgbClr val="383838"/>
              </a:solidFill>
              <a:latin typeface="微软雅黑"/>
              <a:ea typeface="微软雅黑"/>
              <a:cs typeface="微软雅黑"/>
            </a:endParaRPr>
          </a:p>
        </p:txBody>
      </p:sp>
      <p:sp>
        <p:nvSpPr>
          <p:cNvPr id="15" name="文本框 14"/>
          <p:cNvSpPr txBox="1"/>
          <p:nvPr/>
        </p:nvSpPr>
        <p:spPr>
          <a:xfrm rot="19140000">
            <a:off x="5912485" y="2755900"/>
            <a:ext cx="2101215" cy="387985"/>
          </a:xfrm>
          <a:prstGeom prst="rect">
            <a:avLst/>
          </a:prstGeom>
        </p:spPr>
        <p:txBody>
          <a:bodyPr wrap="square">
            <a:prstTxWarp prst="textArchUp">
              <a:avLst/>
            </a:prstTxWarp>
            <a:noAutofit/>
            <a:extLst>
              <a:ext uri="{4A0BC546-FE56-4ADE-93B0-CB8AF2F6F144}">
                <wpsdc:textFrameExt xmlns:wpsdc="http://www.wps.cn/officeDocument/2022/drawingmlCustomData" type="text"/>
              </a:ext>
            </a:extLst>
          </a:bodyPr>
          <a:p>
            <a:pPr algn="ctr">
              <a:defRPr>
                <a:latin typeface="微软雅黑"/>
                <a:ea typeface="微软雅黑"/>
                <a:cs typeface="微软雅黑"/>
              </a:defRPr>
            </a:pPr>
            <a:r>
              <a:rPr lang="zh-CN" altLang="en-US" sz="1600">
                <a:solidFill>
                  <a:srgbClr val="383838"/>
                </a:solidFill>
                <a:latin typeface="微软雅黑"/>
                <a:ea typeface="微软雅黑"/>
                <a:cs typeface="微软雅黑"/>
              </a:rPr>
              <a:t>响应采购需求</a:t>
            </a:r>
            <a:endParaRPr lang="zh-CN" altLang="en-US" sz="1600">
              <a:solidFill>
                <a:srgbClr val="383838"/>
              </a:solidFill>
              <a:latin typeface="微软雅黑"/>
              <a:ea typeface="微软雅黑"/>
              <a:cs typeface="微软雅黑"/>
            </a:endParaRPr>
          </a:p>
        </p:txBody>
      </p:sp>
      <p:sp>
        <p:nvSpPr>
          <p:cNvPr id="16" name="文本框 15"/>
          <p:cNvSpPr txBox="1"/>
          <p:nvPr/>
        </p:nvSpPr>
        <p:spPr>
          <a:xfrm rot="4020000">
            <a:off x="7058025" y="2446020"/>
            <a:ext cx="2816225" cy="2546350"/>
          </a:xfrm>
          <a:prstGeom prst="rect">
            <a:avLst/>
          </a:prstGeom>
          <a:noFill/>
        </p:spPr>
        <p:txBody>
          <a:bodyPr wrap="square" rtlCol="0" lIns="0" rIns="0" tIns="0" bIns="0">
            <a:prstTxWarp prst="textArchUp">
              <a:avLst>
                <a:gd name="adj" fmla="val 11939508"/>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rPr>
              <a:t>订单跟踪与物流管理</a:t>
            </a:r>
            <a:endPar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 name="文本框 17"/>
          <p:cNvSpPr txBox="1"/>
          <p:nvPr/>
        </p:nvSpPr>
        <p:spPr>
          <a:xfrm rot="16980000">
            <a:off x="6990080" y="2550160"/>
            <a:ext cx="2816225" cy="2546350"/>
          </a:xfrm>
          <a:prstGeom prst="rect">
            <a:avLst/>
          </a:prstGeom>
          <a:noFill/>
        </p:spPr>
        <p:txBody>
          <a:bodyPr wrap="square" rtlCol="0" lIns="0" rIns="0" tIns="0" bIns="0">
            <a:prstTxWarp prst="textArchDown">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rPr>
              <a:t>对账结算与采购分析</a:t>
            </a:r>
            <a:endPar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9" name="文本框 18"/>
          <p:cNvSpPr txBox="1"/>
          <p:nvPr/>
        </p:nvSpPr>
        <p:spPr>
          <a:xfrm rot="21060000">
            <a:off x="2551430" y="2731135"/>
            <a:ext cx="2816225" cy="2546350"/>
          </a:xfrm>
          <a:prstGeom prst="rect">
            <a:avLst/>
          </a:prstGeom>
          <a:noFill/>
        </p:spPr>
        <p:txBody>
          <a:bodyPr wrap="square" rtlCol="0" lIns="0" rIns="0" tIns="0" bIns="0">
            <a:prstTxWarp prst="textArchDown">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rPr>
              <a:t>资金赋能与供应链金融</a:t>
            </a:r>
            <a:endParaRPr kumimoji="0" lang="zh-CN"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108" name="组合 107"/>
          <p:cNvGrpSpPr/>
          <p:nvPr>
            <p:custDataLst>
              <p:tags r:id="rId17"/>
            </p:custDataLst>
          </p:nvPr>
        </p:nvGrpSpPr>
        <p:grpSpPr>
          <a:xfrm>
            <a:off x="1657350" y="1632585"/>
            <a:ext cx="8780780" cy="4312920"/>
            <a:chOff x="2610" y="2481"/>
            <a:chExt cx="13828" cy="6792"/>
          </a:xfrm>
        </p:grpSpPr>
        <p:sp>
          <p:nvSpPr>
            <p:cNvPr id="102" name="弧形 101"/>
            <p:cNvSpPr/>
            <p:nvPr>
              <p:custDataLst>
                <p:tags r:id="rId18"/>
              </p:custDataLst>
            </p:nvPr>
          </p:nvSpPr>
          <p:spPr>
            <a:xfrm>
              <a:off x="2951" y="2659"/>
              <a:ext cx="6437" cy="6437"/>
            </a:xfrm>
            <a:prstGeom prst="arc">
              <a:avLst>
                <a:gd name="adj1" fmla="val 5350677"/>
                <a:gd name="adj2" fmla="val 16272529"/>
              </a:avLst>
            </a:prstGeom>
            <a:ln>
              <a:solidFill>
                <a:srgbClr val="DCDCDC"/>
              </a:solidFill>
              <a:prstDash val="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3" name="弧形 102"/>
            <p:cNvSpPr/>
            <p:nvPr>
              <p:custDataLst>
                <p:tags r:id="rId19"/>
              </p:custDataLst>
            </p:nvPr>
          </p:nvSpPr>
          <p:spPr>
            <a:xfrm flipH="1">
              <a:off x="9647" y="2659"/>
              <a:ext cx="6437" cy="6437"/>
            </a:xfrm>
            <a:prstGeom prst="arc">
              <a:avLst>
                <a:gd name="adj1" fmla="val 5350677"/>
                <a:gd name="adj2" fmla="val 16272529"/>
              </a:avLst>
            </a:prstGeom>
            <a:ln>
              <a:solidFill>
                <a:srgbClr val="DCDCDC"/>
              </a:solidFill>
              <a:prstDash val="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4" name="弧形 103"/>
            <p:cNvSpPr/>
            <p:nvPr>
              <p:custDataLst>
                <p:tags r:id="rId20"/>
              </p:custDataLst>
            </p:nvPr>
          </p:nvSpPr>
          <p:spPr>
            <a:xfrm>
              <a:off x="2634" y="2659"/>
              <a:ext cx="7243" cy="6615"/>
            </a:xfrm>
            <a:prstGeom prst="arc">
              <a:avLst>
                <a:gd name="adj1" fmla="val 16185942"/>
                <a:gd name="adj2" fmla="val 20208717"/>
              </a:avLst>
            </a:prstGeom>
            <a:ln>
              <a:solidFill>
                <a:srgbClr val="DCDCDC"/>
              </a:solidFill>
              <a:prstDash val="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5" name="弧形 104"/>
            <p:cNvSpPr/>
            <p:nvPr>
              <p:custDataLst>
                <p:tags r:id="rId21"/>
              </p:custDataLst>
            </p:nvPr>
          </p:nvSpPr>
          <p:spPr>
            <a:xfrm flipV="1">
              <a:off x="2610" y="2481"/>
              <a:ext cx="7243" cy="6615"/>
            </a:xfrm>
            <a:prstGeom prst="arc">
              <a:avLst>
                <a:gd name="adj1" fmla="val 16185942"/>
                <a:gd name="adj2" fmla="val 20235460"/>
              </a:avLst>
            </a:prstGeom>
            <a:ln>
              <a:solidFill>
                <a:srgbClr val="DCDCDC"/>
              </a:solidFill>
              <a:prstDash val="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6" name="弧形 105"/>
            <p:cNvSpPr/>
            <p:nvPr>
              <p:custDataLst>
                <p:tags r:id="rId22"/>
              </p:custDataLst>
            </p:nvPr>
          </p:nvSpPr>
          <p:spPr>
            <a:xfrm flipH="1" flipV="1">
              <a:off x="9196" y="2481"/>
              <a:ext cx="7243" cy="6615"/>
            </a:xfrm>
            <a:prstGeom prst="arc">
              <a:avLst>
                <a:gd name="adj1" fmla="val 16185942"/>
                <a:gd name="adj2" fmla="val 20240413"/>
              </a:avLst>
            </a:prstGeom>
            <a:ln>
              <a:solidFill>
                <a:srgbClr val="DCDCDC"/>
              </a:solidFill>
              <a:prstDash val="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7" name="弧形 106"/>
            <p:cNvSpPr/>
            <p:nvPr>
              <p:custDataLst>
                <p:tags r:id="rId23"/>
              </p:custDataLst>
            </p:nvPr>
          </p:nvSpPr>
          <p:spPr>
            <a:xfrm flipH="1">
              <a:off x="9196" y="2659"/>
              <a:ext cx="7243" cy="6615"/>
            </a:xfrm>
            <a:prstGeom prst="arc">
              <a:avLst>
                <a:gd name="adj1" fmla="val 16185942"/>
                <a:gd name="adj2" fmla="val 20216308"/>
              </a:avLst>
            </a:prstGeom>
            <a:ln>
              <a:solidFill>
                <a:srgbClr val="DCDCDC"/>
              </a:solidFill>
              <a:prstDash val="dash"/>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nvGrpSpPr>
          <p:cNvPr id="309" name="组合 308"/>
          <p:cNvGrpSpPr/>
          <p:nvPr>
            <p:custDataLst>
              <p:tags r:id="rId24"/>
            </p:custDataLst>
          </p:nvPr>
        </p:nvGrpSpPr>
        <p:grpSpPr>
          <a:xfrm>
            <a:off x="127000" y="2388870"/>
            <a:ext cx="1832610" cy="1271270"/>
            <a:chOff x="200" y="3762"/>
            <a:chExt cx="2886" cy="2002"/>
          </a:xfrm>
        </p:grpSpPr>
        <p:grpSp>
          <p:nvGrpSpPr>
            <p:cNvPr id="302" name="组合 301"/>
            <p:cNvGrpSpPr/>
            <p:nvPr/>
          </p:nvGrpSpPr>
          <p:grpSpPr>
            <a:xfrm>
              <a:off x="1009" y="3762"/>
              <a:ext cx="1866" cy="434"/>
              <a:chOff x="298" y="3762"/>
              <a:chExt cx="1866" cy="434"/>
            </a:xfrm>
          </p:grpSpPr>
          <p:sp>
            <p:nvSpPr>
              <p:cNvPr id="283" name="子陵职场PPT27-1"/>
              <p:cNvSpPr/>
              <p:nvPr>
                <p:custDataLst>
                  <p:tags r:id="rId25"/>
                </p:custDataLst>
              </p:nvPr>
            </p:nvSpPr>
            <p:spPr>
              <a:xfrm>
                <a:off x="298" y="3786"/>
                <a:ext cx="1867" cy="386"/>
              </a:xfrm>
              <a:prstGeom prst="roundRect">
                <a:avLst>
                  <a:gd name="adj" fmla="val 50000"/>
                </a:avLst>
              </a:prstGeom>
              <a:gradFill flip="none" rotWithShape="1">
                <a:gsLst>
                  <a:gs pos="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284" name="子陵职场PPT27-3"/>
              <p:cNvSpPr txBox="1"/>
              <p:nvPr>
                <p:custDataLst>
                  <p:tags r:id="rId26"/>
                </p:custDataLst>
              </p:nvPr>
            </p:nvSpPr>
            <p:spPr>
              <a:xfrm>
                <a:off x="383" y="3762"/>
                <a:ext cx="1728" cy="434"/>
              </a:xfrm>
              <a:prstGeom prst="rect">
                <a:avLst/>
              </a:prstGeom>
              <a:noFill/>
            </p:spPr>
            <p:txBody>
              <a:bodyPr wrap="none" anchor="ctr" lIns="0" rIns="0" tIns="0" bIns="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商机需求匹配</a:t>
                </a:r>
                <a:endPar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grpSp>
        <p:sp>
          <p:nvSpPr>
            <p:cNvPr id="285" name="子陵职场PPT27-4"/>
            <p:cNvSpPr txBox="1"/>
            <p:nvPr>
              <p:custDataLst>
                <p:tags r:id="rId27"/>
              </p:custDataLst>
            </p:nvPr>
          </p:nvSpPr>
          <p:spPr>
            <a:xfrm>
              <a:off x="200" y="4166"/>
              <a:ext cx="2886" cy="1598"/>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平台通过同步寻源与需求评估功能，实现企业需求与供应商能力的智能匹配。扩大了企业的选择范围，助力成本控制与创新合作。</a:t>
              </a:r>
              <a:endParaRPr lang="zh-CN" altLang="en-US" sz="1000" dirty="0">
                <a:solidFill>
                  <a:srgbClr val="383838"/>
                </a:solidFill>
                <a:latin typeface="微软雅黑"/>
                <a:cs typeface="微软雅黑"/>
                <a:sym typeface="微软雅黑"/>
                <a:ea typeface="微软雅黑"/>
              </a:endParaRPr>
            </a:p>
          </p:txBody>
        </p:sp>
      </p:grpSp>
      <p:grpSp>
        <p:nvGrpSpPr>
          <p:cNvPr id="301" name="组合 300"/>
          <p:cNvGrpSpPr/>
          <p:nvPr>
            <p:custDataLst>
              <p:tags r:id="rId28"/>
            </p:custDataLst>
          </p:nvPr>
        </p:nvGrpSpPr>
        <p:grpSpPr>
          <a:xfrm>
            <a:off x="814070" y="1153160"/>
            <a:ext cx="2350135" cy="716280"/>
            <a:chOff x="2397" y="1620"/>
            <a:chExt cx="3701" cy="1128"/>
          </a:xfrm>
        </p:grpSpPr>
        <p:grpSp>
          <p:nvGrpSpPr>
            <p:cNvPr id="300" name="组合 299"/>
            <p:cNvGrpSpPr/>
            <p:nvPr/>
          </p:nvGrpSpPr>
          <p:grpSpPr>
            <a:xfrm>
              <a:off x="4232" y="1620"/>
              <a:ext cx="1866" cy="434"/>
              <a:chOff x="2485" y="1620"/>
              <a:chExt cx="1866" cy="434"/>
            </a:xfrm>
          </p:grpSpPr>
          <p:sp>
            <p:nvSpPr>
              <p:cNvPr id="287" name="子陵职场PPT27-1"/>
              <p:cNvSpPr/>
              <p:nvPr>
                <p:custDataLst>
                  <p:tags r:id="rId29"/>
                </p:custDataLst>
              </p:nvPr>
            </p:nvSpPr>
            <p:spPr>
              <a:xfrm>
                <a:off x="2485" y="1644"/>
                <a:ext cx="1867" cy="386"/>
              </a:xfrm>
              <a:prstGeom prst="roundRect">
                <a:avLst>
                  <a:gd name="adj" fmla="val 50000"/>
                </a:avLst>
              </a:prstGeom>
              <a:gradFill flip="none" rotWithShape="1">
                <a:gsLst>
                  <a:gs pos="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288" name="子陵职场PPT27-3"/>
              <p:cNvSpPr txBox="1"/>
              <p:nvPr>
                <p:custDataLst>
                  <p:tags r:id="rId30"/>
                </p:custDataLst>
              </p:nvPr>
            </p:nvSpPr>
            <p:spPr>
              <a:xfrm>
                <a:off x="2675" y="1620"/>
                <a:ext cx="1488" cy="434"/>
              </a:xfrm>
              <a:prstGeom prst="rect">
                <a:avLst/>
              </a:prstGeom>
              <a:noFill/>
            </p:spPr>
            <p:txBody>
              <a:bodyPr wrap="none" anchor="ctr" lIns="0" rIns="0" tIns="0" bIns="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供应商淘汰</a:t>
                </a:r>
                <a:endPar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grpSp>
        <p:sp>
          <p:nvSpPr>
            <p:cNvPr id="289" name="子陵职场PPT27-4"/>
            <p:cNvSpPr txBox="1"/>
            <p:nvPr>
              <p:custDataLst>
                <p:tags r:id="rId31"/>
              </p:custDataLst>
            </p:nvPr>
          </p:nvSpPr>
          <p:spPr>
            <a:xfrm>
              <a:off x="2397" y="2024"/>
              <a:ext cx="3701" cy="725"/>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对于长期不达标或存在断供风险的供应商，系统会自动触发预警或淘汰流程。</a:t>
              </a:r>
              <a:endParaRPr lang="zh-CN" altLang="en-US" sz="1000" dirty="0">
                <a:solidFill>
                  <a:srgbClr val="383838"/>
                </a:solidFill>
                <a:latin typeface="微软雅黑"/>
                <a:cs typeface="微软雅黑"/>
                <a:sym typeface="微软雅黑"/>
                <a:ea typeface="微软雅黑"/>
              </a:endParaRPr>
            </a:p>
          </p:txBody>
        </p:sp>
      </p:grpSp>
      <p:sp>
        <p:nvSpPr>
          <p:cNvPr id="290" name="椭圆 289"/>
          <p:cNvSpPr/>
          <p:nvPr>
            <p:custDataLst>
              <p:tags r:id="rId32"/>
            </p:custDataLst>
          </p:nvPr>
        </p:nvSpPr>
        <p:spPr>
          <a:xfrm>
            <a:off x="2929890" y="5535295"/>
            <a:ext cx="175260" cy="175260"/>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1" name="椭圆 290"/>
          <p:cNvSpPr/>
          <p:nvPr>
            <p:custDataLst>
              <p:tags r:id="rId33"/>
            </p:custDataLst>
          </p:nvPr>
        </p:nvSpPr>
        <p:spPr>
          <a:xfrm>
            <a:off x="1959610" y="4582160"/>
            <a:ext cx="175260" cy="175260"/>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295" name="组合 294"/>
          <p:cNvGrpSpPr/>
          <p:nvPr>
            <p:custDataLst>
              <p:tags r:id="rId34"/>
            </p:custDataLst>
          </p:nvPr>
        </p:nvGrpSpPr>
        <p:grpSpPr>
          <a:xfrm>
            <a:off x="1105535" y="5888355"/>
            <a:ext cx="2296795" cy="735965"/>
            <a:chOff x="1741" y="9273"/>
            <a:chExt cx="3617" cy="1159"/>
          </a:xfrm>
        </p:grpSpPr>
        <p:sp>
          <p:nvSpPr>
            <p:cNvPr id="179" name="子陵职场PPT27-4"/>
            <p:cNvSpPr txBox="1"/>
            <p:nvPr>
              <p:custDataLst>
                <p:tags r:id="rId35"/>
              </p:custDataLst>
            </p:nvPr>
          </p:nvSpPr>
          <p:spPr>
            <a:xfrm>
              <a:off x="1741" y="9707"/>
              <a:ext cx="3617" cy="725"/>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平台通过资金赋能模块，将金融服务嵌入采购流程，形成供应链金融能力。</a:t>
              </a:r>
              <a:endParaRPr lang="zh-CN" altLang="en-US" sz="1000" dirty="0">
                <a:solidFill>
                  <a:srgbClr val="383838"/>
                </a:solidFill>
                <a:latin typeface="微软雅黑"/>
                <a:cs typeface="微软雅黑"/>
                <a:sym typeface="微软雅黑"/>
                <a:ea typeface="微软雅黑"/>
              </a:endParaRPr>
            </a:p>
          </p:txBody>
        </p:sp>
        <p:grpSp>
          <p:nvGrpSpPr>
            <p:cNvPr id="294" name="组合 293"/>
            <p:cNvGrpSpPr/>
            <p:nvPr/>
          </p:nvGrpSpPr>
          <p:grpSpPr>
            <a:xfrm>
              <a:off x="3304" y="9273"/>
              <a:ext cx="1866" cy="434"/>
              <a:chOff x="3172" y="9273"/>
              <a:chExt cx="1866" cy="434"/>
            </a:xfrm>
          </p:grpSpPr>
          <p:sp>
            <p:nvSpPr>
              <p:cNvPr id="292" name="子陵职场PPT27-1"/>
              <p:cNvSpPr/>
              <p:nvPr>
                <p:custDataLst>
                  <p:tags r:id="rId36"/>
                </p:custDataLst>
              </p:nvPr>
            </p:nvSpPr>
            <p:spPr>
              <a:xfrm>
                <a:off x="3172" y="9297"/>
                <a:ext cx="1867" cy="386"/>
              </a:xfrm>
              <a:prstGeom prst="roundRect">
                <a:avLst>
                  <a:gd name="adj" fmla="val 50000"/>
                </a:avLst>
              </a:prstGeom>
              <a:gradFill flip="none" rotWithShape="1">
                <a:gsLst>
                  <a:gs pos="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293" name="子陵职场PPT27-3"/>
              <p:cNvSpPr txBox="1"/>
              <p:nvPr>
                <p:custDataLst>
                  <p:tags r:id="rId37"/>
                </p:custDataLst>
              </p:nvPr>
            </p:nvSpPr>
            <p:spPr>
              <a:xfrm>
                <a:off x="3362" y="9273"/>
                <a:ext cx="1488" cy="434"/>
              </a:xfrm>
              <a:prstGeom prst="rect">
                <a:avLst/>
              </a:prstGeom>
              <a:noFill/>
            </p:spPr>
            <p:txBody>
              <a:bodyPr wrap="none" anchor="ctr" lIns="0" rIns="0" tIns="0" bIns="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供应链金融</a:t>
                </a:r>
                <a:endPar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grpSp>
        <p:nvGrpSpPr>
          <p:cNvPr id="310" name="组合 309"/>
          <p:cNvGrpSpPr/>
          <p:nvPr>
            <p:custDataLst>
              <p:tags r:id="rId38"/>
            </p:custDataLst>
          </p:nvPr>
        </p:nvGrpSpPr>
        <p:grpSpPr>
          <a:xfrm>
            <a:off x="90170" y="4419600"/>
            <a:ext cx="1922780" cy="1115060"/>
            <a:chOff x="142" y="6960"/>
            <a:chExt cx="3028" cy="1756"/>
          </a:xfrm>
        </p:grpSpPr>
        <p:sp>
          <p:nvSpPr>
            <p:cNvPr id="281" name="子陵职场PPT27-4"/>
            <p:cNvSpPr txBox="1"/>
            <p:nvPr>
              <p:custDataLst>
                <p:tags r:id="rId39"/>
              </p:custDataLst>
            </p:nvPr>
          </p:nvSpPr>
          <p:spPr>
            <a:xfrm>
              <a:off x="142" y="7410"/>
              <a:ext cx="3028" cy="1307"/>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通过平台，供应商可以更好地对接采购方的系统，实现数据互通、流程协同，提升整体供应链的透明度和响应速度。</a:t>
              </a:r>
              <a:endParaRPr lang="zh-CN" altLang="en-US" sz="1000" dirty="0">
                <a:solidFill>
                  <a:srgbClr val="383838"/>
                </a:solidFill>
                <a:latin typeface="微软雅黑"/>
                <a:cs typeface="微软雅黑"/>
                <a:sym typeface="微软雅黑"/>
                <a:ea typeface="微软雅黑"/>
              </a:endParaRPr>
            </a:p>
          </p:txBody>
        </p:sp>
        <p:grpSp>
          <p:nvGrpSpPr>
            <p:cNvPr id="298" name="组合 297"/>
            <p:cNvGrpSpPr/>
            <p:nvPr/>
          </p:nvGrpSpPr>
          <p:grpSpPr>
            <a:xfrm>
              <a:off x="955" y="6960"/>
              <a:ext cx="1866" cy="434"/>
              <a:chOff x="530" y="7088"/>
              <a:chExt cx="1866" cy="434"/>
            </a:xfrm>
          </p:grpSpPr>
          <p:sp>
            <p:nvSpPr>
              <p:cNvPr id="296" name="子陵职场PPT27-1"/>
              <p:cNvSpPr/>
              <p:nvPr>
                <p:custDataLst>
                  <p:tags r:id="rId40"/>
                </p:custDataLst>
              </p:nvPr>
            </p:nvSpPr>
            <p:spPr>
              <a:xfrm>
                <a:off x="530" y="7112"/>
                <a:ext cx="1867" cy="386"/>
              </a:xfrm>
              <a:prstGeom prst="roundRect">
                <a:avLst>
                  <a:gd name="adj" fmla="val 50000"/>
                </a:avLst>
              </a:prstGeom>
              <a:gradFill flip="none" rotWithShape="1">
                <a:gsLst>
                  <a:gs pos="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297" name="子陵职场PPT27-3"/>
              <p:cNvSpPr txBox="1"/>
              <p:nvPr>
                <p:custDataLst>
                  <p:tags r:id="rId41"/>
                </p:custDataLst>
              </p:nvPr>
            </p:nvSpPr>
            <p:spPr>
              <a:xfrm>
                <a:off x="615" y="7088"/>
                <a:ext cx="1697" cy="434"/>
              </a:xfrm>
              <a:prstGeom prst="rect">
                <a:avLst/>
              </a:prstGeom>
              <a:noFill/>
            </p:spPr>
            <p:txBody>
              <a:bodyPr wrap="none" anchor="ctr" lIns="0" rIns="0" tIns="0" bIns="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供应商</a:t>
                </a:r>
                <a:r>
                  <a:rPr kumimoji="0" lang="en-US" altLang="zh-CN"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IT</a:t>
                </a:r>
                <a:r>
                  <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rPr>
                  <a:t>建设</a:t>
                </a:r>
                <a:endParaRPr kumimoji="0" lang="zh-CN" altLang="en-US" sz="1200" b="0"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grpSp>
      </p:grpSp>
      <p:sp>
        <p:nvSpPr>
          <p:cNvPr id="299" name="椭圆 298"/>
          <p:cNvSpPr/>
          <p:nvPr>
            <p:custDataLst>
              <p:tags r:id="rId42"/>
            </p:custDataLst>
          </p:nvPr>
        </p:nvSpPr>
        <p:spPr>
          <a:xfrm>
            <a:off x="2929890" y="1869440"/>
            <a:ext cx="175260" cy="175260"/>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03" name="椭圆 302"/>
          <p:cNvSpPr/>
          <p:nvPr>
            <p:custDataLst>
              <p:tags r:id="rId43"/>
            </p:custDataLst>
          </p:nvPr>
        </p:nvSpPr>
        <p:spPr>
          <a:xfrm>
            <a:off x="1933575" y="2924175"/>
            <a:ext cx="175260" cy="175260"/>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308" name="组合 307"/>
          <p:cNvGrpSpPr/>
          <p:nvPr>
            <p:custDataLst>
              <p:tags r:id="rId44"/>
            </p:custDataLst>
          </p:nvPr>
        </p:nvGrpSpPr>
        <p:grpSpPr>
          <a:xfrm flipH="1">
            <a:off x="8971915" y="1870075"/>
            <a:ext cx="1171575" cy="3841115"/>
            <a:chOff x="3245" y="3144"/>
            <a:chExt cx="1845" cy="6049"/>
          </a:xfrm>
        </p:grpSpPr>
        <p:sp>
          <p:nvSpPr>
            <p:cNvPr id="304" name="椭圆 303"/>
            <p:cNvSpPr/>
            <p:nvPr>
              <p:custDataLst>
                <p:tags r:id="rId45"/>
              </p:custDataLst>
            </p:nvPr>
          </p:nvSpPr>
          <p:spPr>
            <a:xfrm>
              <a:off x="4814" y="8917"/>
              <a:ext cx="276" cy="276"/>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05" name="椭圆 304"/>
            <p:cNvSpPr/>
            <p:nvPr>
              <p:custDataLst>
                <p:tags r:id="rId46"/>
              </p:custDataLst>
            </p:nvPr>
          </p:nvSpPr>
          <p:spPr>
            <a:xfrm>
              <a:off x="3286" y="7416"/>
              <a:ext cx="276" cy="276"/>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06" name="椭圆 305"/>
            <p:cNvSpPr/>
            <p:nvPr>
              <p:custDataLst>
                <p:tags r:id="rId47"/>
              </p:custDataLst>
            </p:nvPr>
          </p:nvSpPr>
          <p:spPr>
            <a:xfrm>
              <a:off x="4814" y="3144"/>
              <a:ext cx="276" cy="276"/>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07" name="椭圆 306"/>
            <p:cNvSpPr/>
            <p:nvPr>
              <p:custDataLst>
                <p:tags r:id="rId48"/>
              </p:custDataLst>
            </p:nvPr>
          </p:nvSpPr>
          <p:spPr>
            <a:xfrm>
              <a:off x="3245" y="4805"/>
              <a:ext cx="276" cy="276"/>
            </a:xfrm>
            <a:prstGeom prst="ellipse">
              <a:avLst/>
            </a:prstGeom>
            <a:solidFill>
              <a:srgbClr val="FFFFFF"/>
            </a:solidFill>
            <a:ln>
              <a:solidFill>
                <a:srgbClr val="DCDCDC"/>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grpSp>
        <p:nvGrpSpPr>
          <p:cNvPr id="311" name="组合 310"/>
          <p:cNvGrpSpPr/>
          <p:nvPr>
            <p:custDataLst>
              <p:tags r:id="rId49"/>
            </p:custDataLst>
          </p:nvPr>
        </p:nvGrpSpPr>
        <p:grpSpPr>
          <a:xfrm rot="0" flipH="1">
            <a:off x="10218420" y="2388870"/>
            <a:ext cx="1832610" cy="1271270"/>
            <a:chOff x="200" y="3762"/>
            <a:chExt cx="2886" cy="2002"/>
          </a:xfrm>
        </p:grpSpPr>
        <p:grpSp>
          <p:nvGrpSpPr>
            <p:cNvPr id="312" name="组合 311"/>
            <p:cNvGrpSpPr/>
            <p:nvPr/>
          </p:nvGrpSpPr>
          <p:grpSpPr>
            <a:xfrm>
              <a:off x="1009" y="3762"/>
              <a:ext cx="1867" cy="434"/>
              <a:chOff x="298" y="3762"/>
              <a:chExt cx="1867" cy="434"/>
            </a:xfrm>
          </p:grpSpPr>
          <p:sp>
            <p:nvSpPr>
              <p:cNvPr id="313" name="子陵职场PPT27-1"/>
              <p:cNvSpPr/>
              <p:nvPr>
                <p:custDataLst>
                  <p:tags r:id="rId50"/>
                </p:custDataLst>
              </p:nvPr>
            </p:nvSpPr>
            <p:spPr>
              <a:xfrm>
                <a:off x="298" y="3786"/>
                <a:ext cx="1867" cy="386"/>
              </a:xfrm>
              <a:prstGeom prst="roundRect">
                <a:avLst>
                  <a:gd name="adj" fmla="val 50000"/>
                </a:avLst>
              </a:prstGeom>
              <a:gradFill flip="none" rotWithShape="1">
                <a:gsLst>
                  <a:gs pos="0">
                    <a:srgbClr val="3368FF"/>
                  </a:gs>
                  <a:gs pos="99000">
                    <a:srgbClr val="B3D4FE"/>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314" name="子陵职场PPT27-3"/>
              <p:cNvSpPr txBox="1"/>
              <p:nvPr>
                <p:custDataLst>
                  <p:tags r:id="rId51"/>
                </p:custDataLst>
              </p:nvPr>
            </p:nvSpPr>
            <p:spPr>
              <a:xfrm>
                <a:off x="383" y="3762"/>
                <a:ext cx="1729" cy="434"/>
              </a:xfrm>
              <a:prstGeom prst="rect">
                <a:avLst/>
              </a:prstGeom>
              <a:noFill/>
            </p:spPr>
            <p:txBody>
              <a:bodyPr wrap="none" anchor="ctr" lIns="0" rIns="0" tIns="0" bIns="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solidFill>
                      <a:srgbClr val="383838"/>
                    </a:soli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响应采购需求</a:t>
                </a:r>
                <a:endPar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grpSp>
        <p:sp>
          <p:nvSpPr>
            <p:cNvPr id="315" name="子陵职场PPT27-4"/>
            <p:cNvSpPr txBox="1"/>
            <p:nvPr>
              <p:custDataLst>
                <p:tags r:id="rId52"/>
              </p:custDataLst>
            </p:nvPr>
          </p:nvSpPr>
          <p:spPr>
            <a:xfrm>
              <a:off x="200" y="4166"/>
              <a:ext cx="2886" cy="1598"/>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供应商通过平台实时接收采购需求，快速响应并参与合作洽谈。支持从需求发布、资质审核到合同签订的全程在线协同，缩短了采购周期。</a:t>
              </a:r>
              <a:endParaRPr lang="zh-CN" altLang="en-US" sz="1000" dirty="0">
                <a:solidFill>
                  <a:srgbClr val="383838"/>
                </a:solidFill>
                <a:latin typeface="微软雅黑"/>
                <a:cs typeface="微软雅黑"/>
                <a:sym typeface="微软雅黑"/>
                <a:ea typeface="微软雅黑"/>
              </a:endParaRPr>
            </a:p>
          </p:txBody>
        </p:sp>
      </p:grpSp>
      <p:grpSp>
        <p:nvGrpSpPr>
          <p:cNvPr id="316" name="组合 315"/>
          <p:cNvGrpSpPr/>
          <p:nvPr>
            <p:custDataLst>
              <p:tags r:id="rId53"/>
            </p:custDataLst>
          </p:nvPr>
        </p:nvGrpSpPr>
        <p:grpSpPr>
          <a:xfrm rot="0" flipH="1">
            <a:off x="9013190" y="1153160"/>
            <a:ext cx="2350770" cy="716915"/>
            <a:chOff x="2397" y="1620"/>
            <a:chExt cx="3702" cy="1129"/>
          </a:xfrm>
        </p:grpSpPr>
        <p:grpSp>
          <p:nvGrpSpPr>
            <p:cNvPr id="317" name="组合 316"/>
            <p:cNvGrpSpPr/>
            <p:nvPr/>
          </p:nvGrpSpPr>
          <p:grpSpPr>
            <a:xfrm>
              <a:off x="4232" y="1620"/>
              <a:ext cx="1867" cy="434"/>
              <a:chOff x="2485" y="1620"/>
              <a:chExt cx="1867" cy="434"/>
            </a:xfrm>
          </p:grpSpPr>
          <p:sp>
            <p:nvSpPr>
              <p:cNvPr id="318" name="子陵职场PPT27-1"/>
              <p:cNvSpPr/>
              <p:nvPr>
                <p:custDataLst>
                  <p:tags r:id="rId54"/>
                </p:custDataLst>
              </p:nvPr>
            </p:nvSpPr>
            <p:spPr>
              <a:xfrm>
                <a:off x="2485" y="1644"/>
                <a:ext cx="1867" cy="386"/>
              </a:xfrm>
              <a:prstGeom prst="roundRect">
                <a:avLst>
                  <a:gd name="adj" fmla="val 50000"/>
                </a:avLst>
              </a:prstGeom>
              <a:gradFill flip="none" rotWithShape="1">
                <a:gsLst>
                  <a:gs pos="0">
                    <a:srgbClr val="3368FF"/>
                  </a:gs>
                  <a:gs pos="99000">
                    <a:srgbClr val="B3D4FE"/>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319" name="子陵职场PPT27-3"/>
              <p:cNvSpPr txBox="1"/>
              <p:nvPr>
                <p:custDataLst>
                  <p:tags r:id="rId55"/>
                </p:custDataLst>
              </p:nvPr>
            </p:nvSpPr>
            <p:spPr>
              <a:xfrm>
                <a:off x="2675" y="1620"/>
                <a:ext cx="1488" cy="434"/>
              </a:xfrm>
              <a:prstGeom prst="rect">
                <a:avLst/>
              </a:prstGeom>
              <a:noFill/>
            </p:spPr>
            <p:txBody>
              <a:bodyPr wrap="none" anchor="ctr" lIns="0" rIns="0" tIns="0" bIns="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solidFill>
                      <a:srgbClr val="383838"/>
                    </a:soli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供应商资源</a:t>
                </a:r>
                <a:endPar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grpSp>
        <p:sp>
          <p:nvSpPr>
            <p:cNvPr id="320" name="子陵职场PPT27-4"/>
            <p:cNvSpPr txBox="1"/>
            <p:nvPr>
              <p:custDataLst>
                <p:tags r:id="rId56"/>
              </p:custDataLst>
            </p:nvPr>
          </p:nvSpPr>
          <p:spPr>
            <a:xfrm>
              <a:off x="2397" y="2024"/>
              <a:ext cx="3701" cy="725"/>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平台通过建立企业服务应用商店和资源池，汇聚大量优质供应商资源。</a:t>
              </a:r>
              <a:endParaRPr lang="zh-CN" altLang="en-US" sz="1000" dirty="0">
                <a:solidFill>
                  <a:srgbClr val="383838"/>
                </a:solidFill>
                <a:latin typeface="微软雅黑"/>
                <a:cs typeface="微软雅黑"/>
                <a:sym typeface="微软雅黑"/>
                <a:ea typeface="微软雅黑"/>
              </a:endParaRPr>
            </a:p>
          </p:txBody>
        </p:sp>
      </p:grpSp>
      <p:grpSp>
        <p:nvGrpSpPr>
          <p:cNvPr id="321" name="组合 320"/>
          <p:cNvGrpSpPr/>
          <p:nvPr>
            <p:custDataLst>
              <p:tags r:id="rId57"/>
            </p:custDataLst>
          </p:nvPr>
        </p:nvGrpSpPr>
        <p:grpSpPr>
          <a:xfrm rot="0" flipH="1">
            <a:off x="8775700" y="5888355"/>
            <a:ext cx="2296795" cy="735965"/>
            <a:chOff x="1741" y="9273"/>
            <a:chExt cx="3617" cy="1159"/>
          </a:xfrm>
        </p:grpSpPr>
        <p:sp>
          <p:nvSpPr>
            <p:cNvPr id="322" name="子陵职场PPT27-4"/>
            <p:cNvSpPr txBox="1"/>
            <p:nvPr>
              <p:custDataLst>
                <p:tags r:id="rId58"/>
              </p:custDataLst>
            </p:nvPr>
          </p:nvSpPr>
          <p:spPr>
            <a:xfrm>
              <a:off x="1741" y="9707"/>
              <a:ext cx="3617" cy="725"/>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平台通过对账结算与采购分析模块，实现财务流程的自动化和数据化。</a:t>
              </a:r>
              <a:endParaRPr lang="zh-CN" altLang="en-US" sz="1000" dirty="0">
                <a:solidFill>
                  <a:srgbClr val="383838"/>
                </a:solidFill>
                <a:latin typeface="微软雅黑"/>
                <a:cs typeface="微软雅黑"/>
                <a:sym typeface="微软雅黑"/>
                <a:ea typeface="微软雅黑"/>
              </a:endParaRPr>
            </a:p>
          </p:txBody>
        </p:sp>
        <p:grpSp>
          <p:nvGrpSpPr>
            <p:cNvPr id="323" name="组合 322"/>
            <p:cNvGrpSpPr/>
            <p:nvPr/>
          </p:nvGrpSpPr>
          <p:grpSpPr>
            <a:xfrm>
              <a:off x="3304" y="9273"/>
              <a:ext cx="1867" cy="434"/>
              <a:chOff x="3172" y="9273"/>
              <a:chExt cx="1867" cy="434"/>
            </a:xfrm>
          </p:grpSpPr>
          <p:sp>
            <p:nvSpPr>
              <p:cNvPr id="324" name="子陵职场PPT27-1"/>
              <p:cNvSpPr/>
              <p:nvPr>
                <p:custDataLst>
                  <p:tags r:id="rId59"/>
                </p:custDataLst>
              </p:nvPr>
            </p:nvSpPr>
            <p:spPr>
              <a:xfrm>
                <a:off x="3172" y="9297"/>
                <a:ext cx="1867" cy="386"/>
              </a:xfrm>
              <a:prstGeom prst="roundRect">
                <a:avLst>
                  <a:gd name="adj" fmla="val 50000"/>
                </a:avLst>
              </a:prstGeom>
              <a:gradFill flip="none" rotWithShape="1">
                <a:gsLst>
                  <a:gs pos="0">
                    <a:srgbClr val="3368FF"/>
                  </a:gs>
                  <a:gs pos="99000">
                    <a:srgbClr val="B3D4FE"/>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325" name="子陵职场PPT27-3"/>
              <p:cNvSpPr txBox="1"/>
              <p:nvPr>
                <p:custDataLst>
                  <p:tags r:id="rId60"/>
                </p:custDataLst>
              </p:nvPr>
            </p:nvSpPr>
            <p:spPr>
              <a:xfrm>
                <a:off x="3177" y="9273"/>
                <a:ext cx="1831" cy="434"/>
              </a:xfrm>
              <a:prstGeom prst="rect">
                <a:avLst/>
              </a:prstGeom>
              <a:noFill/>
            </p:spPr>
            <p:txBody>
              <a:bodyPr wrap="none" anchor="ctr" lIns="0" rIns="0" tIns="0" bIns="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solidFill>
                      <a:srgbClr val="383838"/>
                    </a:soli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对账</a:t>
                </a:r>
                <a:r>
                  <a:rPr kumimoji="0" lang="en-US" altLang="zh-CN"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a:t>
                </a:r>
                <a:r>
                  <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采购分析</a:t>
                </a:r>
                <a:endParaRPr kumimoji="0" lang="zh-CN" altLang="en-US"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grpSp>
      </p:grpSp>
      <p:grpSp>
        <p:nvGrpSpPr>
          <p:cNvPr id="326" name="组合 325"/>
          <p:cNvGrpSpPr/>
          <p:nvPr>
            <p:custDataLst>
              <p:tags r:id="rId61"/>
            </p:custDataLst>
          </p:nvPr>
        </p:nvGrpSpPr>
        <p:grpSpPr>
          <a:xfrm rot="0" flipH="1">
            <a:off x="10165080" y="4419600"/>
            <a:ext cx="1922780" cy="1115695"/>
            <a:chOff x="142" y="6960"/>
            <a:chExt cx="3028" cy="1757"/>
          </a:xfrm>
        </p:grpSpPr>
        <p:sp>
          <p:nvSpPr>
            <p:cNvPr id="327" name="子陵职场PPT27-4"/>
            <p:cNvSpPr txBox="1"/>
            <p:nvPr>
              <p:custDataLst>
                <p:tags r:id="rId62"/>
              </p:custDataLst>
            </p:nvPr>
          </p:nvSpPr>
          <p:spPr>
            <a:xfrm>
              <a:off x="142" y="7410"/>
              <a:ext cx="3028" cy="1307"/>
            </a:xfrm>
            <a:prstGeom prst="rect">
              <a:avLst/>
            </a:prstGeom>
            <a:noFill/>
          </p:spPr>
          <p:txBody>
            <a:bodyPr wrap="square" rtlCol="0" anchor="t" lIns="0" rIns="0" tIns="0" bIns="0">
              <a:spAutoFit/>
            </a:bodyPr>
            <a:lstStyle/>
            <a:p>
              <a:pPr algn="l">
                <a:lnSpc>
                  <a:spcPct val="120000"/>
                </a:lnSpc>
                <a:spcBef>
                  <a:spcPts val="0"/>
                </a:spcBef>
                <a:spcAft>
                  <a:spcPts val="0"/>
                </a:spcAft>
                <a:buClrTx/>
                <a:buSzTx/>
                <a:buFontTx/>
                <a:defRPr>
                  <a:latin typeface="微软雅黑"/>
                  <a:ea typeface="微软雅黑"/>
                  <a:cs typeface="微软雅黑"/>
                </a:defRPr>
              </a:pPr>
              <a:r>
                <a:rPr lang="zh-CN" altLang="en-US" sz="1000" dirty="0">
                  <a:solidFill>
                    <a:srgbClr val="383838"/>
                  </a:solidFill>
                  <a:latin typeface="微软雅黑"/>
                  <a:cs typeface="微软雅黑"/>
                  <a:sym typeface="微软雅黑"/>
                  <a:ea typeface="微软雅黑"/>
                </a:rPr>
                <a:t>平台提供订单协同与物流交货协同功能，企业可实时查看订单进度、物流状态、交货时间等关键信息。</a:t>
              </a:r>
              <a:endParaRPr lang="zh-CN" altLang="en-US" sz="1000" dirty="0">
                <a:solidFill>
                  <a:srgbClr val="383838"/>
                </a:solidFill>
                <a:latin typeface="微软雅黑"/>
                <a:cs typeface="微软雅黑"/>
                <a:sym typeface="微软雅黑"/>
                <a:ea typeface="微软雅黑"/>
              </a:endParaRPr>
            </a:p>
          </p:txBody>
        </p:sp>
        <p:grpSp>
          <p:nvGrpSpPr>
            <p:cNvPr id="328" name="组合 327"/>
            <p:cNvGrpSpPr/>
            <p:nvPr/>
          </p:nvGrpSpPr>
          <p:grpSpPr>
            <a:xfrm>
              <a:off x="955" y="6960"/>
              <a:ext cx="1867" cy="434"/>
              <a:chOff x="530" y="7088"/>
              <a:chExt cx="1867" cy="434"/>
            </a:xfrm>
          </p:grpSpPr>
          <p:sp>
            <p:nvSpPr>
              <p:cNvPr id="329" name="子陵职场PPT27-1"/>
              <p:cNvSpPr/>
              <p:nvPr>
                <p:custDataLst>
                  <p:tags r:id="rId63"/>
                </p:custDataLst>
              </p:nvPr>
            </p:nvSpPr>
            <p:spPr>
              <a:xfrm>
                <a:off x="530" y="7112"/>
                <a:ext cx="1867" cy="386"/>
              </a:xfrm>
              <a:prstGeom prst="roundRect">
                <a:avLst>
                  <a:gd name="adj" fmla="val 50000"/>
                </a:avLst>
              </a:prstGeom>
              <a:gradFill flip="none" rotWithShape="1">
                <a:gsLst>
                  <a:gs pos="0">
                    <a:srgbClr val="3368FF"/>
                  </a:gs>
                  <a:gs pos="99000">
                    <a:srgbClr val="B3D4FE"/>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330" name="子陵职场PPT27-3"/>
              <p:cNvSpPr txBox="1"/>
              <p:nvPr>
                <p:custDataLst>
                  <p:tags r:id="rId64"/>
                </p:custDataLst>
              </p:nvPr>
            </p:nvSpPr>
            <p:spPr>
              <a:xfrm>
                <a:off x="543" y="7088"/>
                <a:ext cx="1831" cy="434"/>
              </a:xfrm>
              <a:prstGeom prst="rect">
                <a:avLst/>
              </a:prstGeom>
              <a:noFill/>
            </p:spPr>
            <p:txBody>
              <a:bodyPr wrap="none" anchor="ctr" lIns="0" rIns="0" tIns="0" bIns="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2800" b="0" i="0" u="none" strike="noStrike" cap="none" spc="0" normalizeH="0" baseline="0">
                    <a:ln>
                      <a:noFill/>
                    </a:ln>
                    <a:gradFill>
                      <a:gsLst>
                        <a:gs pos="4000">
                          <a:srgbClr val="E6E6E6">
                            <a:alpha val="71000"/>
                          </a:srgbClr>
                        </a:gs>
                        <a:gs pos="100000">
                          <a:srgbClr val="FFFFFF"/>
                        </a:gs>
                      </a:gsLst>
                      <a:lin ang="3600000" scaled="0"/>
                    </a:gradFill>
                    <a:solidFill>
                      <a:srgbClr val="383838"/>
                    </a:solidFill>
                    <a:effectLst/>
                    <a:uLnTx/>
                    <a:uFillTx/>
                    <a:latin typeface="微软雅黑"/>
                    <a:ea typeface="微软雅黑"/>
                    <a:cs typeface="微软雅黑"/>
                  </a:defRPr>
                </a:lvl1pPr>
              </a:lstStyle>
              <a:p>
                <a:pPr marL="0" marR="0" lvl="0" indent="0" algn="l"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订单</a:t>
                </a:r>
                <a:r>
                  <a:rPr kumimoji="0" lang="en-US" altLang="zh-CN"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a:t>
                </a:r>
                <a:r>
                  <a:rPr kumimoji="0" lang="zh-CN"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rPr>
                  <a:t>物流跟踪</a:t>
                </a:r>
                <a:endParaRPr kumimoji="0" lang="zh-CN" sz="1200" b="0" i="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grpSp>
      </p:gr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65"/>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en-US" altLang="zh-CN" sz="2500" dirty="0">
                <a:solidFill>
                  <a:srgbClr val="383838"/>
                </a:solidFill>
                <a:effectLst/>
                <a:latin typeface="微软雅黑"/>
                <a:ea typeface="微软雅黑"/>
                <a:cs typeface="微软雅黑"/>
              </a:rPr>
              <a:t>GRAI</a:t>
            </a:r>
            <a:r>
              <a:rPr lang="zh-CN" altLang="en-US" sz="2500" dirty="0">
                <a:solidFill>
                  <a:srgbClr val="383838"/>
                </a:solidFill>
                <a:effectLst/>
                <a:latin typeface="微软雅黑"/>
                <a:ea typeface="微软雅黑"/>
                <a:cs typeface="微软雅黑"/>
              </a:rPr>
              <a:t>工作复盘框架</a:t>
            </a:r>
            <a:endParaRPr lang="zh-CN" altLang="en-US" sz="2500" dirty="0">
              <a:solidFill>
                <a:srgbClr val="383838"/>
              </a:solidFill>
              <a:effectLst/>
              <a:latin typeface="微软雅黑"/>
              <a:ea typeface="微软雅黑"/>
              <a:cs typeface="微软雅黑"/>
            </a:endParaRPr>
          </a:p>
        </p:txBody>
      </p:sp>
      <p:sp>
        <p:nvSpPr>
          <p:cNvPr id="104" name="矩形 103"/>
          <p:cNvSpPr/>
          <p:nvPr/>
        </p:nvSpPr>
        <p:spPr>
          <a:xfrm rot="18708770">
            <a:off x="4658360" y="1406525"/>
            <a:ext cx="454025" cy="3413125"/>
          </a:xfrm>
          <a:prstGeom prst="rect">
            <a:avLst/>
          </a:prstGeom>
          <a:gradFill>
            <a:gsLst>
              <a:gs pos="32000">
                <a:srgbClr val="3368FF"/>
              </a:gs>
              <a:gs pos="77000">
                <a:srgbClr val="0042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5" name="圆: 空心 8"/>
          <p:cNvSpPr/>
          <p:nvPr/>
        </p:nvSpPr>
        <p:spPr>
          <a:xfrm>
            <a:off x="838835" y="1358265"/>
            <a:ext cx="3508375" cy="3508375"/>
          </a:xfrm>
          <a:prstGeom prst="donut">
            <a:avLst>
              <a:gd name="adj" fmla="val 13167"/>
            </a:avLst>
          </a:prstGeom>
          <a:gradFill>
            <a:gsLst>
              <a:gs pos="0">
                <a:srgbClr val="3368FF"/>
              </a:gs>
              <a:gs pos="100000">
                <a:srgbClr val="0042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6" name="文本框 105"/>
          <p:cNvSpPr txBox="1"/>
          <p:nvPr/>
        </p:nvSpPr>
        <p:spPr>
          <a:xfrm rot="5947012">
            <a:off x="1080135" y="1641475"/>
            <a:ext cx="2996565" cy="2996565"/>
          </a:xfrm>
          <a:prstGeom prst="rect">
            <a:avLst/>
          </a:prstGeom>
          <a:noFill/>
        </p:spPr>
        <p:txBody>
          <a:bodyPr wrap="square" rtlCol="0" lIns="0" rIns="0" tIns="0" bIns="0">
            <a:prstTxWarp prst="textArchUp">
              <a:avLst>
                <a:gd name="adj" fmla="val 11862872"/>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安排销售人员进行系统培训</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7" name="文本框 106"/>
          <p:cNvSpPr txBox="1"/>
          <p:nvPr/>
        </p:nvSpPr>
        <p:spPr>
          <a:xfrm rot="20068315">
            <a:off x="1119505" y="1631950"/>
            <a:ext cx="2996565" cy="2996565"/>
          </a:xfrm>
          <a:prstGeom prst="rect">
            <a:avLst/>
          </a:prstGeom>
          <a:noFill/>
        </p:spPr>
        <p:txBody>
          <a:bodyPr wrap="square" rtlCol="0" lIns="0" rIns="0" tIns="0" bIns="0">
            <a:prstTxWarp prst="textArchUp">
              <a:avLst>
                <a:gd name="adj" fmla="val 10998441"/>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拓宽销售渠道，只能加多个省市区销区</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8" name="文本框 107"/>
          <p:cNvSpPr txBox="1"/>
          <p:nvPr/>
        </p:nvSpPr>
        <p:spPr>
          <a:xfrm>
            <a:off x="1094740" y="1631315"/>
            <a:ext cx="2996565" cy="2996565"/>
          </a:xfrm>
          <a:prstGeom prst="rect">
            <a:avLst/>
          </a:prstGeom>
          <a:noFill/>
        </p:spPr>
        <p:txBody>
          <a:bodyPr wrap="square" rtlCol="0" lIns="0" rIns="0" tIns="0" bIns="0">
            <a:prstTxWarp prst="textArchDown">
              <a:avLst>
                <a:gd name="adj" fmla="val 2747268"/>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招聘有经验的销售，扩大销售队伍</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9" name="圆: 空心 9"/>
          <p:cNvSpPr/>
          <p:nvPr/>
        </p:nvSpPr>
        <p:spPr>
          <a:xfrm>
            <a:off x="5414645" y="1358265"/>
            <a:ext cx="3508375" cy="3508375"/>
          </a:xfrm>
          <a:prstGeom prst="donut">
            <a:avLst>
              <a:gd name="adj" fmla="val 13167"/>
            </a:avLst>
          </a:prstGeom>
          <a:gradFill>
            <a:gsLst>
              <a:gs pos="100000">
                <a:srgbClr val="B3D4FE"/>
              </a:gs>
              <a:gs pos="0">
                <a:srgbClr val="3368FF"/>
              </a:gs>
            </a:gsLst>
            <a:path path="circle">
              <a:fillToRect l="100000" t="100000"/>
            </a:path>
            <a:tileRect r="-100000" b="-10000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10" name="文本框 109"/>
          <p:cNvSpPr txBox="1"/>
          <p:nvPr/>
        </p:nvSpPr>
        <p:spPr>
          <a:xfrm rot="20068315">
            <a:off x="5693410" y="1617345"/>
            <a:ext cx="2996565" cy="2996565"/>
          </a:xfrm>
          <a:prstGeom prst="rect">
            <a:avLst/>
          </a:prstGeom>
          <a:noFill/>
        </p:spPr>
        <p:txBody>
          <a:bodyPr wrap="square" rtlCol="0" lIns="0" rIns="0" tIns="0" bIns="0">
            <a:prstTxWarp prst="textArchUp">
              <a:avLst>
                <a:gd name="adj" fmla="val 10998441"/>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rPr>
              <a:t>全年增加了</a:t>
            </a:r>
            <a:r>
              <a:rPr kumimoji="0" lang="en-US" altLang="zh-CN" sz="1200" b="0" i="0" u="none" strike="noStrike" kern="1200" cap="none" spc="0" normalizeH="0" baseline="0" noProof="0" dirty="0">
                <a:ln>
                  <a:noFill/>
                </a:ln>
                <a:solidFill>
                  <a:prstClr val="white"/>
                </a:solidFill>
                <a:effectLst/>
                <a:uLnTx/>
                <a:uFillTx/>
                <a:latin typeface="微软雅黑"/>
                <a:ea typeface="微软雅黑"/>
                <a:cs typeface="微软雅黑"/>
              </a:rPr>
              <a:t>8</a:t>
            </a:r>
            <a:r>
              <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rPr>
              <a:t>个省市区，一个线上商城</a:t>
            </a:r>
            <a:endPar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11" name="文本框 110"/>
          <p:cNvSpPr txBox="1"/>
          <p:nvPr/>
        </p:nvSpPr>
        <p:spPr>
          <a:xfrm>
            <a:off x="5791835" y="1891030"/>
            <a:ext cx="2753995" cy="2753995"/>
          </a:xfrm>
          <a:prstGeom prst="rect">
            <a:avLst/>
          </a:prstGeom>
          <a:noFill/>
        </p:spPr>
        <p:txBody>
          <a:bodyPr wrap="square" rtlCol="0" lIns="0" rIns="0" tIns="0" bIns="0">
            <a:prstTxWarp prst="textArchDown">
              <a:avLst>
                <a:gd name="adj" fmla="val 3929873"/>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rPr>
              <a:t>招募</a:t>
            </a:r>
            <a:r>
              <a:rPr kumimoji="0" lang="en-US" altLang="zh-CN" sz="1200" b="0" i="0" u="none" strike="noStrike" kern="1200" cap="none" spc="0" normalizeH="0" baseline="0" noProof="0" dirty="0">
                <a:ln>
                  <a:noFill/>
                </a:ln>
                <a:solidFill>
                  <a:prstClr val="white"/>
                </a:solidFill>
                <a:effectLst/>
                <a:uLnTx/>
                <a:uFillTx/>
                <a:latin typeface="微软雅黑"/>
                <a:ea typeface="微软雅黑"/>
                <a:cs typeface="微软雅黑"/>
              </a:rPr>
              <a:t>3</a:t>
            </a:r>
            <a:r>
              <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rPr>
              <a:t>名销售人员</a:t>
            </a:r>
            <a:endPar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12" name="文本框 111"/>
          <p:cNvSpPr txBox="1"/>
          <p:nvPr/>
        </p:nvSpPr>
        <p:spPr>
          <a:xfrm rot="5094889">
            <a:off x="6078220" y="1724025"/>
            <a:ext cx="2546350" cy="2546350"/>
          </a:xfrm>
          <a:prstGeom prst="rect">
            <a:avLst/>
          </a:prstGeom>
          <a:noFill/>
        </p:spPr>
        <p:txBody>
          <a:bodyPr wrap="square" rtlCol="0" lIns="0" rIns="0" tIns="0" bIns="0">
            <a:prstTxWarp prst="textArchUp">
              <a:avLst>
                <a:gd name="adj" fmla="val 11939508"/>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rPr>
              <a:t>安排了</a:t>
            </a:r>
            <a:r>
              <a:rPr kumimoji="0" lang="en-US" altLang="zh-CN" sz="1200" b="0" i="0" u="none" strike="noStrike" kern="1200" cap="none" spc="0" normalizeH="0" baseline="0" noProof="0" dirty="0">
                <a:ln>
                  <a:noFill/>
                </a:ln>
                <a:solidFill>
                  <a:prstClr val="white"/>
                </a:solidFill>
                <a:effectLst/>
                <a:uLnTx/>
                <a:uFillTx/>
                <a:latin typeface="微软雅黑"/>
                <a:ea typeface="微软雅黑"/>
                <a:cs typeface="微软雅黑"/>
              </a:rPr>
              <a:t>12</a:t>
            </a:r>
            <a:r>
              <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rPr>
              <a:t>场培训，</a:t>
            </a:r>
            <a:r>
              <a:rPr kumimoji="0" lang="en-US" altLang="zh-CN" sz="1200" b="0" i="0" u="none" strike="noStrike" kern="1200" cap="none" spc="0" normalizeH="0" baseline="0" noProof="0" dirty="0">
                <a:ln>
                  <a:noFill/>
                </a:ln>
                <a:solidFill>
                  <a:prstClr val="white"/>
                </a:solidFill>
                <a:effectLst/>
                <a:uLnTx/>
                <a:uFillTx/>
                <a:latin typeface="微软雅黑"/>
                <a:ea typeface="微软雅黑"/>
                <a:cs typeface="微软雅黑"/>
              </a:rPr>
              <a:t>12</a:t>
            </a:r>
            <a:r>
              <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rPr>
              <a:t>次考试实训</a:t>
            </a:r>
            <a:endParaRPr kumimoji="0" lang="zh-CN" altLang="en-US" sz="1200" b="0" i="0" u="none" strike="noStrike" kern="1200" cap="none" spc="0" normalizeH="0" baseline="0" noProof="0" dirty="0">
              <a:ln>
                <a:noFill/>
              </a:ln>
              <a:solidFill>
                <a:prstClr val="white"/>
              </a:solidFill>
              <a:effectLst/>
              <a:uLnTx/>
              <a:uFillTx/>
              <a:latin typeface="微软雅黑"/>
              <a:ea typeface="微软雅黑"/>
              <a:cs typeface="微软雅黑"/>
            </a:endParaRPr>
          </a:p>
        </p:txBody>
      </p:sp>
      <p:cxnSp>
        <p:nvCxnSpPr>
          <p:cNvPr id="114" name="直接连接符 113"/>
          <p:cNvCxnSpPr>
            <a:stCxn id="105" idx="0"/>
          </p:cNvCxnSpPr>
          <p:nvPr/>
        </p:nvCxnSpPr>
        <p:spPr>
          <a:xfrm>
            <a:off x="2593340" y="1358265"/>
            <a:ext cx="0" cy="46228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115" name="直接连接符 114"/>
          <p:cNvCxnSpPr/>
          <p:nvPr/>
        </p:nvCxnSpPr>
        <p:spPr>
          <a:xfrm>
            <a:off x="3674110" y="3817620"/>
            <a:ext cx="396875" cy="25527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116" name="直接连接符 115"/>
          <p:cNvCxnSpPr/>
          <p:nvPr/>
        </p:nvCxnSpPr>
        <p:spPr>
          <a:xfrm flipH="1">
            <a:off x="1125855" y="3817620"/>
            <a:ext cx="394335" cy="25908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118" name="直接连接符 117"/>
          <p:cNvCxnSpPr/>
          <p:nvPr/>
        </p:nvCxnSpPr>
        <p:spPr>
          <a:xfrm>
            <a:off x="8251190" y="3817620"/>
            <a:ext cx="396240" cy="25527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119" name="直接连接符 118"/>
          <p:cNvCxnSpPr/>
          <p:nvPr/>
        </p:nvCxnSpPr>
        <p:spPr>
          <a:xfrm flipH="1">
            <a:off x="5710555" y="3829685"/>
            <a:ext cx="379095" cy="25908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sp>
        <p:nvSpPr>
          <p:cNvPr id="120" name="圆: 空心 46"/>
          <p:cNvSpPr/>
          <p:nvPr/>
        </p:nvSpPr>
        <p:spPr>
          <a:xfrm>
            <a:off x="1304925" y="1823720"/>
            <a:ext cx="2574290" cy="2574290"/>
          </a:xfrm>
          <a:prstGeom prst="donut">
            <a:avLst>
              <a:gd name="adj" fmla="val 14757"/>
            </a:avLst>
          </a:prstGeom>
          <a:pattFill prst="wdDnDiag">
            <a:fgClr>
              <a:srgbClr val="E6E6E6"/>
            </a:fgClr>
            <a:bgClr>
              <a:srgbClr val="FFFFFF"/>
            </a:bgClr>
          </a:pattFill>
          <a:ln w="63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21" name="文本框 120"/>
          <p:cNvSpPr txBox="1"/>
          <p:nvPr/>
        </p:nvSpPr>
        <p:spPr>
          <a:xfrm rot="6336505">
            <a:off x="1148715" y="1881505"/>
            <a:ext cx="2546350" cy="2546350"/>
          </a:xfrm>
          <a:prstGeom prst="rect">
            <a:avLst/>
          </a:prstGeom>
          <a:noFill/>
        </p:spPr>
        <p:txBody>
          <a:bodyPr wrap="square" rtlCol="0" lIns="0" rIns="0" tIns="0" bIns="0">
            <a:prstTxWarp prst="textArchUp">
              <a:avLst>
                <a:gd name="adj" fmla="val 11939508"/>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提高销售转化率</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2" name="文本框 121"/>
          <p:cNvSpPr txBox="1"/>
          <p:nvPr/>
        </p:nvSpPr>
        <p:spPr>
          <a:xfrm rot="20068315">
            <a:off x="1454150" y="1791335"/>
            <a:ext cx="2996565" cy="2996565"/>
          </a:xfrm>
          <a:prstGeom prst="rect">
            <a:avLst/>
          </a:prstGeom>
          <a:noFill/>
        </p:spPr>
        <p:txBody>
          <a:bodyPr wrap="square" rtlCol="0" lIns="0" rIns="0" tIns="0" bIns="0">
            <a:prstTxWarp prst="textArchUp">
              <a:avLst>
                <a:gd name="adj" fmla="val 12674467"/>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拓宽销售渠道</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3" name="文本框 122"/>
          <p:cNvSpPr txBox="1"/>
          <p:nvPr/>
        </p:nvSpPr>
        <p:spPr>
          <a:xfrm>
            <a:off x="1125855" y="1167765"/>
            <a:ext cx="2996565" cy="2996565"/>
          </a:xfrm>
          <a:prstGeom prst="rect">
            <a:avLst/>
          </a:prstGeom>
          <a:noFill/>
        </p:spPr>
        <p:txBody>
          <a:bodyPr wrap="square" rtlCol="0" lIns="0" rIns="0" tIns="0" bIns="0">
            <a:prstTxWarp prst="textArchDown">
              <a:avLst>
                <a:gd name="adj" fmla="val 3960340"/>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组建新的销售团队</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4" name="圆: 空心 47"/>
          <p:cNvSpPr/>
          <p:nvPr/>
        </p:nvSpPr>
        <p:spPr>
          <a:xfrm>
            <a:off x="5879465" y="1818005"/>
            <a:ext cx="2574290" cy="2574290"/>
          </a:xfrm>
          <a:prstGeom prst="donut">
            <a:avLst>
              <a:gd name="adj" fmla="val 14757"/>
            </a:avLst>
          </a:prstGeom>
          <a:pattFill prst="wdDnDiag">
            <a:fgClr>
              <a:srgbClr val="FFFFFF"/>
            </a:fgClr>
            <a:bgClr>
              <a:srgbClr val="FFFFFF"/>
            </a:bgClr>
          </a:pattFill>
          <a:ln w="6350">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25" name="文本框 124"/>
          <p:cNvSpPr txBox="1"/>
          <p:nvPr/>
        </p:nvSpPr>
        <p:spPr>
          <a:xfrm rot="6336505">
            <a:off x="5726430" y="1925320"/>
            <a:ext cx="2546350" cy="2546350"/>
          </a:xfrm>
          <a:prstGeom prst="rect">
            <a:avLst/>
          </a:prstGeom>
          <a:noFill/>
        </p:spPr>
        <p:txBody>
          <a:bodyPr wrap="square" rtlCol="0" lIns="0" rIns="0" tIns="0" bIns="0">
            <a:prstTxWarp prst="textArchUp">
              <a:avLst>
                <a:gd name="adj" fmla="val 12142962"/>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按预期完成了</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28" name="直接连接符 127"/>
          <p:cNvCxnSpPr/>
          <p:nvPr/>
        </p:nvCxnSpPr>
        <p:spPr>
          <a:xfrm flipH="1">
            <a:off x="2589530" y="1820545"/>
            <a:ext cx="2540" cy="384175"/>
          </a:xfrm>
          <a:prstGeom prst="line">
            <a:avLst/>
          </a:prstGeom>
          <a:ln>
            <a:solidFill>
              <a:srgbClr val="0042FF"/>
            </a:solidFill>
          </a:ln>
        </p:spPr>
        <p:style>
          <a:lnRef idx="1">
            <a:srgbClr val="0042FF"/>
          </a:lnRef>
          <a:fillRef idx="0">
            <a:srgbClr val="0042FF"/>
          </a:fillRef>
          <a:effectRef idx="0">
            <a:srgbClr val="0042FF"/>
          </a:effectRef>
          <a:fontRef idx="minor">
            <a:srgbClr val="383838"/>
          </a:fontRef>
        </p:style>
      </p:cxnSp>
      <p:cxnSp>
        <p:nvCxnSpPr>
          <p:cNvPr id="129" name="直接连接符 128"/>
          <p:cNvCxnSpPr/>
          <p:nvPr/>
        </p:nvCxnSpPr>
        <p:spPr>
          <a:xfrm flipV="1">
            <a:off x="1515745" y="3611245"/>
            <a:ext cx="325755" cy="209550"/>
          </a:xfrm>
          <a:prstGeom prst="line">
            <a:avLst/>
          </a:prstGeom>
          <a:ln>
            <a:solidFill>
              <a:srgbClr val="0042FF"/>
            </a:solidFill>
          </a:ln>
        </p:spPr>
        <p:style>
          <a:lnRef idx="1">
            <a:srgbClr val="0042FF"/>
          </a:lnRef>
          <a:fillRef idx="0">
            <a:srgbClr val="0042FF"/>
          </a:fillRef>
          <a:effectRef idx="0">
            <a:srgbClr val="0042FF"/>
          </a:effectRef>
          <a:fontRef idx="minor">
            <a:srgbClr val="383838"/>
          </a:fontRef>
        </p:style>
      </p:cxnSp>
      <p:cxnSp>
        <p:nvCxnSpPr>
          <p:cNvPr id="130" name="直接连接符 129"/>
          <p:cNvCxnSpPr/>
          <p:nvPr/>
        </p:nvCxnSpPr>
        <p:spPr>
          <a:xfrm flipH="1" flipV="1">
            <a:off x="3354070" y="3611245"/>
            <a:ext cx="320675" cy="206375"/>
          </a:xfrm>
          <a:prstGeom prst="line">
            <a:avLst/>
          </a:prstGeom>
          <a:ln>
            <a:solidFill>
              <a:srgbClr val="0042FF"/>
            </a:solidFill>
          </a:ln>
        </p:spPr>
        <p:style>
          <a:lnRef idx="1">
            <a:srgbClr val="0042FF"/>
          </a:lnRef>
          <a:fillRef idx="0">
            <a:srgbClr val="0042FF"/>
          </a:fillRef>
          <a:effectRef idx="0">
            <a:srgbClr val="0042FF"/>
          </a:effectRef>
          <a:fontRef idx="minor">
            <a:srgbClr val="383838"/>
          </a:fontRef>
        </p:style>
      </p:cxnSp>
      <p:cxnSp>
        <p:nvCxnSpPr>
          <p:cNvPr id="133" name="直接连接符 132"/>
          <p:cNvCxnSpPr/>
          <p:nvPr/>
        </p:nvCxnSpPr>
        <p:spPr>
          <a:xfrm>
            <a:off x="7929880" y="3597910"/>
            <a:ext cx="321310" cy="219075"/>
          </a:xfrm>
          <a:prstGeom prst="line">
            <a:avLst/>
          </a:prstGeom>
          <a:ln>
            <a:solidFill>
              <a:srgbClr val="B3D4FE"/>
            </a:solidFill>
          </a:ln>
        </p:spPr>
        <p:style>
          <a:lnRef idx="1">
            <a:srgbClr val="0042FF"/>
          </a:lnRef>
          <a:fillRef idx="0">
            <a:srgbClr val="0042FF"/>
          </a:fillRef>
          <a:effectRef idx="0">
            <a:srgbClr val="0042FF"/>
          </a:effectRef>
          <a:fontRef idx="minor">
            <a:srgbClr val="383838"/>
          </a:fontRef>
        </p:style>
      </p:cxnSp>
      <p:cxnSp>
        <p:nvCxnSpPr>
          <p:cNvPr id="134" name="直接连接符 133"/>
          <p:cNvCxnSpPr/>
          <p:nvPr/>
        </p:nvCxnSpPr>
        <p:spPr>
          <a:xfrm>
            <a:off x="2145665" y="2557145"/>
            <a:ext cx="249555" cy="0"/>
          </a:xfrm>
          <a:prstGeom prst="line">
            <a:avLst/>
          </a:prstGeom>
          <a:ln>
            <a:solidFill>
              <a:srgbClr val="0042FF"/>
            </a:solidFill>
          </a:ln>
        </p:spPr>
        <p:style>
          <a:lnRef idx="1">
            <a:srgbClr val="0042FF"/>
          </a:lnRef>
          <a:fillRef idx="0">
            <a:srgbClr val="0042FF"/>
          </a:fillRef>
          <a:effectRef idx="0">
            <a:srgbClr val="0042FF"/>
          </a:effectRef>
          <a:fontRef idx="minor">
            <a:srgbClr val="383838"/>
          </a:fontRef>
        </p:style>
      </p:cxnSp>
      <p:cxnSp>
        <p:nvCxnSpPr>
          <p:cNvPr id="135" name="直接连接符 134"/>
          <p:cNvCxnSpPr/>
          <p:nvPr/>
        </p:nvCxnSpPr>
        <p:spPr>
          <a:xfrm>
            <a:off x="2773045" y="2557145"/>
            <a:ext cx="249555" cy="0"/>
          </a:xfrm>
          <a:prstGeom prst="line">
            <a:avLst/>
          </a:prstGeom>
          <a:ln>
            <a:solidFill>
              <a:srgbClr val="0042FF"/>
            </a:solidFill>
          </a:ln>
        </p:spPr>
        <p:style>
          <a:lnRef idx="1">
            <a:srgbClr val="0042FF"/>
          </a:lnRef>
          <a:fillRef idx="0">
            <a:srgbClr val="0042FF"/>
          </a:fillRef>
          <a:effectRef idx="0">
            <a:srgbClr val="0042FF"/>
          </a:effectRef>
          <a:fontRef idx="minor">
            <a:srgbClr val="383838"/>
          </a:fontRef>
        </p:style>
      </p:cxnSp>
      <p:sp>
        <p:nvSpPr>
          <p:cNvPr id="136" name="文本框 135"/>
          <p:cNvSpPr txBox="1"/>
          <p:nvPr/>
        </p:nvSpPr>
        <p:spPr>
          <a:xfrm>
            <a:off x="2287270" y="2416810"/>
            <a:ext cx="613410"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目标</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7" name="文本框 136"/>
          <p:cNvSpPr txBox="1"/>
          <p:nvPr/>
        </p:nvSpPr>
        <p:spPr>
          <a:xfrm>
            <a:off x="2171700" y="2614295"/>
            <a:ext cx="844550"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G</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OAL</a:t>
            </a:r>
            <a:endPar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8" name="文本框 137"/>
          <p:cNvSpPr txBox="1"/>
          <p:nvPr/>
        </p:nvSpPr>
        <p:spPr>
          <a:xfrm>
            <a:off x="2172335" y="2837180"/>
            <a:ext cx="844550" cy="36830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rPr>
              <a:t>20%</a:t>
            </a:r>
            <a:endPar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9" name="文本框 138"/>
          <p:cNvSpPr txBox="1"/>
          <p:nvPr/>
        </p:nvSpPr>
        <p:spPr>
          <a:xfrm>
            <a:off x="2082800" y="3124835"/>
            <a:ext cx="1022985"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销售额上涨</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0" name="文本框 139"/>
          <p:cNvSpPr txBox="1"/>
          <p:nvPr/>
        </p:nvSpPr>
        <p:spPr>
          <a:xfrm>
            <a:off x="2172335" y="3317875"/>
            <a:ext cx="844550" cy="36830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rPr>
              <a:t>5%</a:t>
            </a:r>
            <a:endPar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1" name="文本框 140"/>
          <p:cNvSpPr txBox="1"/>
          <p:nvPr/>
        </p:nvSpPr>
        <p:spPr>
          <a:xfrm>
            <a:off x="2020570" y="3604895"/>
            <a:ext cx="1153795"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市场份额提高</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0" name="文本框 149"/>
          <p:cNvSpPr txBox="1"/>
          <p:nvPr/>
        </p:nvSpPr>
        <p:spPr>
          <a:xfrm rot="2517919">
            <a:off x="4199890" y="2974340"/>
            <a:ext cx="1355725"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rPr>
              <a:t>积极努力干活</a:t>
            </a:r>
            <a:endParaRPr kumimoji="0" lang="zh-CN" altLang="en-US"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2" name="矩形: 圆角 128"/>
          <p:cNvSpPr/>
          <p:nvPr/>
        </p:nvSpPr>
        <p:spPr>
          <a:xfrm>
            <a:off x="725805" y="1247775"/>
            <a:ext cx="8323580" cy="3729990"/>
          </a:xfrm>
          <a:prstGeom prst="roundRect">
            <a:avLst>
              <a:gd name="adj" fmla="val 50000"/>
            </a:avLst>
          </a:prstGeom>
          <a:noFill/>
          <a:ln w="3810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53" name="文本框 152"/>
          <p:cNvSpPr txBox="1"/>
          <p:nvPr/>
        </p:nvSpPr>
        <p:spPr>
          <a:xfrm>
            <a:off x="4199890" y="1061085"/>
            <a:ext cx="1355725" cy="82994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altLang="zh-CN" sz="16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600" b="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rPr>
              <a:t>年</a:t>
            </a:r>
            <a:endPar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600" b="1" i="0" u="none" strike="noStrike" kern="1200" cap="none" spc="0" normalizeH="0" baseline="0" noProof="0" dirty="0">
                <a:ln>
                  <a:noFill/>
                </a:ln>
                <a:solidFill>
                  <a:srgbClr val="0042FF"/>
                </a:solidFill>
                <a:effectLst/>
                <a:uLnTx/>
                <a:uFillTx/>
                <a:latin typeface="微软雅黑"/>
                <a:ea typeface="微软雅黑"/>
                <a:cs typeface="微软雅黑"/>
              </a:rPr>
              <a:t>GRAI</a:t>
            </a: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复盘</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56" name="等腰三角形 155"/>
          <p:cNvSpPr/>
          <p:nvPr/>
        </p:nvSpPr>
        <p:spPr>
          <a:xfrm>
            <a:off x="4682490" y="3954780"/>
            <a:ext cx="416560" cy="359410"/>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57" name="文本框 156"/>
          <p:cNvSpPr txBox="1"/>
          <p:nvPr/>
        </p:nvSpPr>
        <p:spPr>
          <a:xfrm>
            <a:off x="4247515" y="4321175"/>
            <a:ext cx="1355725" cy="337185"/>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0" i="0" u="none" strike="noStrike" kern="1200" cap="none" spc="0" normalizeH="0" baseline="0" noProof="0" dirty="0">
                <a:ln>
                  <a:noFill/>
                </a:ln>
                <a:solidFill>
                  <a:srgbClr val="0042FF"/>
                </a:solidFill>
                <a:effectLst/>
                <a:uLnTx/>
                <a:uFillTx/>
                <a:latin typeface="微软雅黑"/>
                <a:ea typeface="微软雅黑"/>
                <a:cs typeface="微软雅黑"/>
              </a:rPr>
              <a:t>过程分析</a:t>
            </a:r>
            <a:endParaRPr kumimoji="0" lang="zh-CN" altLang="en-US" sz="16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62" name="文本框 161"/>
          <p:cNvSpPr txBox="1"/>
          <p:nvPr/>
        </p:nvSpPr>
        <p:spPr>
          <a:xfrm>
            <a:off x="4347210" y="4554220"/>
            <a:ext cx="1155065" cy="229870"/>
          </a:xfrm>
          <a:prstGeom prst="rect">
            <a:avLst/>
          </a:prstGeom>
          <a:noFill/>
        </p:spPr>
        <p:txBody>
          <a:bodyPr wrap="square" rtlCol="0"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Analysis</a:t>
            </a:r>
            <a:endPar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63" name="直接连接符 162"/>
          <p:cNvCxnSpPr/>
          <p:nvPr/>
        </p:nvCxnSpPr>
        <p:spPr>
          <a:xfrm>
            <a:off x="8966835" y="1822450"/>
            <a:ext cx="2572385" cy="0"/>
          </a:xfrm>
          <a:prstGeom prst="line">
            <a:avLst/>
          </a:prstGeom>
          <a:ln w="38100">
            <a:gradFill flip="none" rotWithShape="1">
              <a:gsLst>
                <a:gs pos="0">
                  <a:srgbClr val="3368FF"/>
                </a:gs>
                <a:gs pos="100000">
                  <a:srgbClr val="3368FF">
                    <a:alpha val="0"/>
                  </a:srgbClr>
                </a:gs>
              </a:gsLst>
              <a:lin ang="0" scaled="1"/>
              <a:tileRect/>
            </a:gradFill>
          </a:ln>
          <a:effectLst/>
        </p:spPr>
        <p:style>
          <a:lnRef idx="1">
            <a:srgbClr val="0042FF"/>
          </a:lnRef>
          <a:fillRef idx="0">
            <a:srgbClr val="0042FF"/>
          </a:fillRef>
          <a:effectRef idx="0">
            <a:srgbClr val="0042FF"/>
          </a:effectRef>
          <a:fontRef idx="minor">
            <a:srgbClr val="383838"/>
          </a:fontRef>
        </p:style>
      </p:cxnSp>
      <p:sp>
        <p:nvSpPr>
          <p:cNvPr id="196" name="文本框 195"/>
          <p:cNvSpPr txBox="1"/>
          <p:nvPr/>
        </p:nvSpPr>
        <p:spPr>
          <a:xfrm>
            <a:off x="8849360" y="1324610"/>
            <a:ext cx="1162685" cy="337185"/>
          </a:xfrm>
          <a:prstGeom prst="rect">
            <a:avLst/>
          </a:prstGeom>
          <a:noFill/>
        </p:spPr>
        <p:txBody>
          <a:bodyPr wrap="squar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规律总结</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04" name="文本框 203"/>
          <p:cNvSpPr txBox="1"/>
          <p:nvPr/>
        </p:nvSpPr>
        <p:spPr>
          <a:xfrm>
            <a:off x="8863965" y="1553210"/>
            <a:ext cx="1069340" cy="229870"/>
          </a:xfrm>
          <a:prstGeom prst="rect">
            <a:avLst/>
          </a:prstGeom>
          <a:noFill/>
        </p:spPr>
        <p:txBody>
          <a:bodyPr wrap="square" rtlCol="0" lIns="0" rIns="0" tIns="0" bIns="0" anchor="t">
            <a:noAutofit/>
          </a:bodyPr>
          <a:lstStyle/>
          <a:p>
            <a:pPr marL="0" marR="0" lvl="0" indent="0" algn="l"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Insight</a:t>
            </a:r>
            <a:endPar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5" name="椭圆 204"/>
          <p:cNvSpPr/>
          <p:nvPr/>
        </p:nvSpPr>
        <p:spPr>
          <a:xfrm>
            <a:off x="8726170" y="2135505"/>
            <a:ext cx="177800" cy="177800"/>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06" name="矩形: 圆角 143"/>
          <p:cNvSpPr/>
          <p:nvPr/>
        </p:nvSpPr>
        <p:spPr>
          <a:xfrm>
            <a:off x="9414510" y="3204210"/>
            <a:ext cx="2365375" cy="533400"/>
          </a:xfrm>
          <a:prstGeom prst="roundRect">
            <a:avLst>
              <a:gd name="adj" fmla="val 50000"/>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rPr>
              <a:t>提升、优化销售话术、技巧</a:t>
            </a:r>
            <a:endPar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sp>
        <p:nvSpPr>
          <p:cNvPr id="207" name="矩形: 圆角 144"/>
          <p:cNvSpPr/>
          <p:nvPr/>
        </p:nvSpPr>
        <p:spPr>
          <a:xfrm>
            <a:off x="9414510" y="2581275"/>
            <a:ext cx="2365375" cy="533400"/>
          </a:xfrm>
          <a:prstGeom prst="roundRect">
            <a:avLst>
              <a:gd name="adj" fmla="val 50000"/>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rPr>
              <a:t>减少缺陷，提高产品质量</a:t>
            </a:r>
            <a:endPar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sp>
        <p:nvSpPr>
          <p:cNvPr id="208" name="矩形: 圆角 145"/>
          <p:cNvSpPr/>
          <p:nvPr/>
        </p:nvSpPr>
        <p:spPr>
          <a:xfrm>
            <a:off x="9116060" y="3827780"/>
            <a:ext cx="2663825" cy="533400"/>
          </a:xfrm>
          <a:prstGeom prst="roundRect">
            <a:avLst>
              <a:gd name="adj" fmla="val 50000"/>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rPr>
              <a:t>根据实际情况调整产品结构和定位</a:t>
            </a:r>
            <a:endPar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sp>
        <p:nvSpPr>
          <p:cNvPr id="209" name="矩形: 圆角 146"/>
          <p:cNvSpPr/>
          <p:nvPr/>
        </p:nvSpPr>
        <p:spPr>
          <a:xfrm>
            <a:off x="9182100" y="1957705"/>
            <a:ext cx="2597785" cy="533400"/>
          </a:xfrm>
          <a:prstGeom prst="roundRect">
            <a:avLst>
              <a:gd name="adj" fmla="val 50000"/>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rPr>
              <a:t>更了解客户，加强市场调研</a:t>
            </a:r>
            <a:endPar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sp>
        <p:nvSpPr>
          <p:cNvPr id="210" name="矩形: 圆角 147"/>
          <p:cNvSpPr/>
          <p:nvPr/>
        </p:nvSpPr>
        <p:spPr>
          <a:xfrm>
            <a:off x="8545830" y="4450715"/>
            <a:ext cx="3238500" cy="533400"/>
          </a:xfrm>
          <a:prstGeom prst="roundRect">
            <a:avLst>
              <a:gd name="adj" fmla="val 50000"/>
            </a:avLst>
          </a:prstGeom>
          <a:noFill/>
          <a:ln>
            <a:solidFill>
              <a:srgbClr val="B3D4FE"/>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rPr>
              <a:t>关注消费者的需求变化，加强品牌建设</a:t>
            </a:r>
            <a:endParaRPr kumimoji="0" lang="zh-CN" altLang="en-US" sz="1200" b="0" i="0" u="none" strike="noStrike" kern="1200" cap="none" spc="0" normalizeH="0" baseline="0" noProof="0" dirty="0">
              <a:ln>
                <a:noFill/>
              </a:ln>
              <a:solidFill>
                <a:srgbClr val="383838">
                  <a:alpha val="80000"/>
                </a:srgbClr>
              </a:solidFill>
              <a:effectLst/>
              <a:uLnTx/>
              <a:uFillTx/>
              <a:latin typeface="微软雅黑"/>
              <a:ea typeface="微软雅黑"/>
              <a:cs typeface="微软雅黑"/>
            </a:endParaRPr>
          </a:p>
        </p:txBody>
      </p:sp>
      <p:cxnSp>
        <p:nvCxnSpPr>
          <p:cNvPr id="211" name="直接连接符 210"/>
          <p:cNvCxnSpPr>
            <a:stCxn id="205" idx="6"/>
            <a:endCxn id="209" idx="1"/>
          </p:cNvCxnSpPr>
          <p:nvPr/>
        </p:nvCxnSpPr>
        <p:spPr>
          <a:xfrm>
            <a:off x="8903970" y="2224405"/>
            <a:ext cx="278130" cy="0"/>
          </a:xfrm>
          <a:prstGeom prst="line">
            <a:avLst/>
          </a:prstGeom>
          <a:ln w="12700">
            <a:solidFill>
              <a:srgbClr val="B3D4FE"/>
            </a:solidFill>
          </a:ln>
        </p:spPr>
        <p:style>
          <a:lnRef idx="1">
            <a:srgbClr val="0042FF"/>
          </a:lnRef>
          <a:fillRef idx="0">
            <a:srgbClr val="0042FF"/>
          </a:fillRef>
          <a:effectRef idx="0">
            <a:srgbClr val="0042FF"/>
          </a:effectRef>
          <a:fontRef idx="minor">
            <a:srgbClr val="383838"/>
          </a:fontRef>
        </p:style>
      </p:cxnSp>
      <p:sp>
        <p:nvSpPr>
          <p:cNvPr id="212" name="椭圆 211"/>
          <p:cNvSpPr/>
          <p:nvPr/>
        </p:nvSpPr>
        <p:spPr>
          <a:xfrm>
            <a:off x="8938260" y="2759710"/>
            <a:ext cx="177800" cy="177800"/>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213" name="直接连接符 212"/>
          <p:cNvCxnSpPr>
            <a:stCxn id="212" idx="6"/>
            <a:endCxn id="207" idx="1"/>
          </p:cNvCxnSpPr>
          <p:nvPr/>
        </p:nvCxnSpPr>
        <p:spPr>
          <a:xfrm flipV="1">
            <a:off x="9116060" y="2847340"/>
            <a:ext cx="298450" cy="1270"/>
          </a:xfrm>
          <a:prstGeom prst="line">
            <a:avLst/>
          </a:prstGeom>
          <a:ln w="12700">
            <a:solidFill>
              <a:srgbClr val="B3D4FE"/>
            </a:solidFill>
          </a:ln>
        </p:spPr>
        <p:style>
          <a:lnRef idx="1">
            <a:srgbClr val="0042FF"/>
          </a:lnRef>
          <a:fillRef idx="0">
            <a:srgbClr val="0042FF"/>
          </a:fillRef>
          <a:effectRef idx="0">
            <a:srgbClr val="0042FF"/>
          </a:effectRef>
          <a:fontRef idx="minor">
            <a:srgbClr val="383838"/>
          </a:fontRef>
        </p:style>
      </p:cxnSp>
      <p:sp>
        <p:nvSpPr>
          <p:cNvPr id="214" name="椭圆 213"/>
          <p:cNvSpPr/>
          <p:nvPr/>
        </p:nvSpPr>
        <p:spPr>
          <a:xfrm>
            <a:off x="8919845" y="3382010"/>
            <a:ext cx="177800" cy="177800"/>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215" name="直接连接符 214"/>
          <p:cNvCxnSpPr>
            <a:stCxn id="214" idx="6"/>
            <a:endCxn id="206" idx="1"/>
          </p:cNvCxnSpPr>
          <p:nvPr/>
        </p:nvCxnSpPr>
        <p:spPr>
          <a:xfrm>
            <a:off x="9098280" y="3470910"/>
            <a:ext cx="316230" cy="0"/>
          </a:xfrm>
          <a:prstGeom prst="line">
            <a:avLst/>
          </a:prstGeom>
          <a:ln w="12700">
            <a:solidFill>
              <a:srgbClr val="B3D4FE"/>
            </a:solidFill>
          </a:ln>
        </p:spPr>
        <p:style>
          <a:lnRef idx="1">
            <a:srgbClr val="0042FF"/>
          </a:lnRef>
          <a:fillRef idx="0">
            <a:srgbClr val="0042FF"/>
          </a:fillRef>
          <a:effectRef idx="0">
            <a:srgbClr val="0042FF"/>
          </a:effectRef>
          <a:fontRef idx="minor">
            <a:srgbClr val="383838"/>
          </a:fontRef>
        </p:style>
      </p:cxnSp>
      <p:sp>
        <p:nvSpPr>
          <p:cNvPr id="216" name="椭圆 215"/>
          <p:cNvSpPr/>
          <p:nvPr/>
        </p:nvSpPr>
        <p:spPr>
          <a:xfrm>
            <a:off x="8680450" y="4004945"/>
            <a:ext cx="177800" cy="177800"/>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217" name="直接连接符 216"/>
          <p:cNvCxnSpPr>
            <a:stCxn id="216" idx="6"/>
            <a:endCxn id="208" idx="1"/>
          </p:cNvCxnSpPr>
          <p:nvPr/>
        </p:nvCxnSpPr>
        <p:spPr>
          <a:xfrm>
            <a:off x="8858250" y="4093845"/>
            <a:ext cx="257810" cy="635"/>
          </a:xfrm>
          <a:prstGeom prst="line">
            <a:avLst/>
          </a:prstGeom>
          <a:ln w="12700">
            <a:solidFill>
              <a:srgbClr val="B3D4FE"/>
            </a:solidFill>
          </a:ln>
        </p:spPr>
        <p:style>
          <a:lnRef idx="1">
            <a:srgbClr val="0042FF"/>
          </a:lnRef>
          <a:fillRef idx="0">
            <a:srgbClr val="0042FF"/>
          </a:fillRef>
          <a:effectRef idx="0">
            <a:srgbClr val="0042FF"/>
          </a:effectRef>
          <a:fontRef idx="minor">
            <a:srgbClr val="383838"/>
          </a:fontRef>
        </p:style>
      </p:cxnSp>
      <p:sp>
        <p:nvSpPr>
          <p:cNvPr id="218" name="椭圆 217"/>
          <p:cNvSpPr/>
          <p:nvPr/>
        </p:nvSpPr>
        <p:spPr>
          <a:xfrm>
            <a:off x="8024495" y="4628515"/>
            <a:ext cx="177800" cy="177800"/>
          </a:xfrm>
          <a:prstGeom prst="ellipse">
            <a:avLst/>
          </a:prstGeom>
          <a:solidFill>
            <a:srgbClr val="B3D4FE"/>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white"/>
              </a:solidFill>
              <a:effectLst/>
              <a:uLnTx/>
              <a:uFillTx/>
              <a:latin typeface="微软雅黑"/>
              <a:ea typeface="微软雅黑"/>
              <a:cs typeface="微软雅黑"/>
            </a:endParaRPr>
          </a:p>
        </p:txBody>
      </p:sp>
      <p:cxnSp>
        <p:nvCxnSpPr>
          <p:cNvPr id="219" name="直接连接符 218"/>
          <p:cNvCxnSpPr>
            <a:stCxn id="218" idx="6"/>
            <a:endCxn id="210" idx="1"/>
          </p:cNvCxnSpPr>
          <p:nvPr/>
        </p:nvCxnSpPr>
        <p:spPr>
          <a:xfrm>
            <a:off x="8202295" y="4717415"/>
            <a:ext cx="343535" cy="0"/>
          </a:xfrm>
          <a:prstGeom prst="line">
            <a:avLst/>
          </a:prstGeom>
          <a:ln w="12700">
            <a:solidFill>
              <a:srgbClr val="B3D4FE"/>
            </a:solidFill>
          </a:ln>
        </p:spPr>
        <p:style>
          <a:lnRef idx="1">
            <a:srgbClr val="0042FF"/>
          </a:lnRef>
          <a:fillRef idx="0">
            <a:srgbClr val="0042FF"/>
          </a:fillRef>
          <a:effectRef idx="0">
            <a:srgbClr val="0042FF"/>
          </a:effectRef>
          <a:fontRef idx="minor">
            <a:srgbClr val="383838"/>
          </a:fontRef>
        </p:style>
      </p:cxnSp>
      <p:sp>
        <p:nvSpPr>
          <p:cNvPr id="220" name="右大括号 219"/>
          <p:cNvSpPr/>
          <p:nvPr/>
        </p:nvSpPr>
        <p:spPr>
          <a:xfrm rot="16200000">
            <a:off x="5895340" y="-93980"/>
            <a:ext cx="715645" cy="11053445"/>
          </a:xfrm>
          <a:prstGeom prst="rightBrace">
            <a:avLst>
              <a:gd name="adj1" fmla="val 91787"/>
              <a:gd name="adj2" fmla="val 37507"/>
            </a:avLst>
          </a:prstGeom>
          <a:noFill/>
          <a:ln w="25400">
            <a:gradFill>
              <a:gsLst>
                <a:gs pos="2000">
                  <a:srgbClr val="B3D4FE"/>
                </a:gs>
                <a:gs pos="100000">
                  <a:srgbClr val="3368FF"/>
                </a:gs>
              </a:gsLst>
              <a:lin ang="9660000" scaled="1"/>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21" name="矩形: 圆角 177"/>
          <p:cNvSpPr/>
          <p:nvPr/>
        </p:nvSpPr>
        <p:spPr>
          <a:xfrm>
            <a:off x="725805" y="5756910"/>
            <a:ext cx="2101850" cy="533400"/>
          </a:xfrm>
          <a:prstGeom prst="roundRect">
            <a:avLst>
              <a:gd name="adj" fmla="val 50000"/>
            </a:avLst>
          </a:prstGeom>
          <a:solidFill>
            <a:srgbClr val="FFFFFF">
              <a:alpha val="50000"/>
            </a:srgbClr>
          </a:solidFill>
          <a:ln>
            <a:solidFill>
              <a:srgbClr val="B3D4FE"/>
            </a:solidFill>
            <a:prstDash val="lg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383838"/>
                </a:solidFill>
                <a:effectLst/>
                <a:uLnTx/>
                <a:uFillTx/>
                <a:latin typeface="微软雅黑"/>
                <a:ea typeface="微软雅黑"/>
                <a:cs typeface="微软雅黑"/>
              </a:rPr>
              <a:t>转化成本过高</a:t>
            </a:r>
            <a:endParaRPr kumimoji="0" lang="zh-CN"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22" name="矩形: 圆角 178"/>
          <p:cNvSpPr/>
          <p:nvPr/>
        </p:nvSpPr>
        <p:spPr>
          <a:xfrm>
            <a:off x="2964180" y="5756910"/>
            <a:ext cx="2101850" cy="533400"/>
          </a:xfrm>
          <a:prstGeom prst="roundRect">
            <a:avLst>
              <a:gd name="adj" fmla="val 50000"/>
            </a:avLst>
          </a:prstGeom>
          <a:solidFill>
            <a:srgbClr val="FFFFFF">
              <a:alpha val="50000"/>
            </a:srgbClr>
          </a:solidFill>
          <a:ln>
            <a:solidFill>
              <a:srgbClr val="B3D4FE"/>
            </a:solidFill>
            <a:prstDash val="lg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400" noProof="0" dirty="0">
                <a:ln>
                  <a:noFill/>
                </a:ln>
                <a:solidFill>
                  <a:srgbClr val="383838"/>
                </a:solidFill>
                <a:effectLst/>
                <a:uLnTx/>
                <a:uFillTx/>
                <a:latin typeface="微软雅黑"/>
                <a:ea typeface="微软雅黑"/>
                <a:cs typeface="微软雅黑"/>
                <a:sym typeface="微软雅黑"/>
              </a:rPr>
              <a:t>价格存在劣势</a:t>
            </a:r>
            <a:endParaRPr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223" name="矩形: 圆角 179"/>
          <p:cNvSpPr/>
          <p:nvPr/>
        </p:nvSpPr>
        <p:spPr>
          <a:xfrm>
            <a:off x="5201920" y="5756910"/>
            <a:ext cx="2101850" cy="533400"/>
          </a:xfrm>
          <a:prstGeom prst="roundRect">
            <a:avLst>
              <a:gd name="adj" fmla="val 50000"/>
            </a:avLst>
          </a:prstGeom>
          <a:solidFill>
            <a:srgbClr val="FFFFFF">
              <a:alpha val="50000"/>
            </a:srgbClr>
          </a:solidFill>
          <a:ln>
            <a:solidFill>
              <a:srgbClr val="B3D4FE"/>
            </a:solidFill>
            <a:prstDash val="lg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400" noProof="0" dirty="0">
                <a:ln>
                  <a:noFill/>
                </a:ln>
                <a:solidFill>
                  <a:srgbClr val="383838"/>
                </a:solidFill>
                <a:effectLst/>
                <a:uLnTx/>
                <a:uFillTx/>
                <a:latin typeface="微软雅黑"/>
                <a:ea typeface="微软雅黑"/>
                <a:cs typeface="微软雅黑"/>
                <a:sym typeface="微软雅黑"/>
              </a:rPr>
              <a:t>消费者需求变化</a:t>
            </a:r>
            <a:endParaRPr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224" name="矩形: 圆角 180"/>
          <p:cNvSpPr/>
          <p:nvPr/>
        </p:nvSpPr>
        <p:spPr>
          <a:xfrm>
            <a:off x="7440295" y="5756910"/>
            <a:ext cx="2101850" cy="533400"/>
          </a:xfrm>
          <a:prstGeom prst="roundRect">
            <a:avLst>
              <a:gd name="adj" fmla="val 50000"/>
            </a:avLst>
          </a:prstGeom>
          <a:solidFill>
            <a:srgbClr val="FFFFFF">
              <a:alpha val="50000"/>
            </a:srgbClr>
          </a:solidFill>
          <a:ln>
            <a:solidFill>
              <a:srgbClr val="B3D4FE"/>
            </a:solidFill>
            <a:prstDash val="lg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400" noProof="0" dirty="0">
                <a:ln>
                  <a:noFill/>
                </a:ln>
                <a:solidFill>
                  <a:srgbClr val="383838"/>
                </a:solidFill>
                <a:effectLst/>
                <a:uLnTx/>
                <a:uFillTx/>
                <a:latin typeface="微软雅黑"/>
                <a:ea typeface="微软雅黑"/>
                <a:cs typeface="微软雅黑"/>
                <a:sym typeface="微软雅黑"/>
              </a:rPr>
              <a:t>销售团队不及预期</a:t>
            </a:r>
            <a:endParaRPr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225" name="矩形: 圆角 181"/>
          <p:cNvSpPr/>
          <p:nvPr/>
        </p:nvSpPr>
        <p:spPr>
          <a:xfrm>
            <a:off x="9678035" y="5756910"/>
            <a:ext cx="2101850" cy="533400"/>
          </a:xfrm>
          <a:prstGeom prst="roundRect">
            <a:avLst>
              <a:gd name="adj" fmla="val 50000"/>
            </a:avLst>
          </a:prstGeom>
          <a:solidFill>
            <a:srgbClr val="FFFFFF">
              <a:alpha val="50000"/>
            </a:srgbClr>
          </a:solidFill>
          <a:ln>
            <a:solidFill>
              <a:srgbClr val="B3D4FE"/>
            </a:solidFill>
            <a:prstDash val="lg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zh-CN" altLang="en-US" sz="1400" noProof="0" dirty="0">
                <a:ln>
                  <a:noFill/>
                </a:ln>
                <a:solidFill>
                  <a:srgbClr val="383838"/>
                </a:solidFill>
                <a:effectLst/>
                <a:uLnTx/>
                <a:uFillTx/>
                <a:latin typeface="微软雅黑"/>
                <a:ea typeface="微软雅黑"/>
                <a:cs typeface="微软雅黑"/>
                <a:sym typeface="微软雅黑"/>
              </a:rPr>
              <a:t>产品存在一定缺陷</a:t>
            </a:r>
            <a:endParaRPr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228" name="文本框 227"/>
          <p:cNvSpPr txBox="1"/>
          <p:nvPr/>
        </p:nvSpPr>
        <p:spPr>
          <a:xfrm>
            <a:off x="5821045" y="1406525"/>
            <a:ext cx="2753995" cy="2753995"/>
          </a:xfrm>
          <a:prstGeom prst="rect">
            <a:avLst/>
          </a:prstGeom>
          <a:noFill/>
        </p:spPr>
        <p:txBody>
          <a:bodyPr wrap="square" rtlCol="0" lIns="0" rIns="0" tIns="0" bIns="0">
            <a:prstTxWarp prst="textArchDown">
              <a:avLst>
                <a:gd name="adj" fmla="val 3225266"/>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未按预期完成销售团队招募</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29" name="文本框 228"/>
          <p:cNvSpPr txBox="1"/>
          <p:nvPr/>
        </p:nvSpPr>
        <p:spPr>
          <a:xfrm rot="19930593">
            <a:off x="6043930" y="1781810"/>
            <a:ext cx="2996565" cy="2996565"/>
          </a:xfrm>
          <a:prstGeom prst="rect">
            <a:avLst/>
          </a:prstGeom>
          <a:noFill/>
        </p:spPr>
        <p:txBody>
          <a:bodyPr wrap="square" rtlCol="0" lIns="0" rIns="0" tIns="0" bIns="0">
            <a:prstTxWarp prst="textArchUp">
              <a:avLst>
                <a:gd name="adj" fmla="val 12674467"/>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完成销售渠道拓建</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30" name="直接连接符 229"/>
          <p:cNvCxnSpPr/>
          <p:nvPr/>
        </p:nvCxnSpPr>
        <p:spPr>
          <a:xfrm>
            <a:off x="7169150" y="1358265"/>
            <a:ext cx="0" cy="462280"/>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231" name="直接连接符 230"/>
          <p:cNvCxnSpPr/>
          <p:nvPr/>
        </p:nvCxnSpPr>
        <p:spPr>
          <a:xfrm>
            <a:off x="7169150" y="1820545"/>
            <a:ext cx="0" cy="384175"/>
          </a:xfrm>
          <a:prstGeom prst="line">
            <a:avLst/>
          </a:prstGeom>
          <a:ln>
            <a:solidFill>
              <a:srgbClr val="B3D4FE"/>
            </a:solidFill>
          </a:ln>
        </p:spPr>
        <p:style>
          <a:lnRef idx="1">
            <a:srgbClr val="0042FF"/>
          </a:lnRef>
          <a:fillRef idx="0">
            <a:srgbClr val="0042FF"/>
          </a:fillRef>
          <a:effectRef idx="0">
            <a:srgbClr val="0042FF"/>
          </a:effectRef>
          <a:fontRef idx="minor">
            <a:srgbClr val="383838"/>
          </a:fontRef>
        </p:style>
      </p:cxnSp>
      <p:cxnSp>
        <p:nvCxnSpPr>
          <p:cNvPr id="232" name="直接连接符 231"/>
          <p:cNvCxnSpPr/>
          <p:nvPr/>
        </p:nvCxnSpPr>
        <p:spPr>
          <a:xfrm flipV="1">
            <a:off x="6089650" y="3611245"/>
            <a:ext cx="321310" cy="219075"/>
          </a:xfrm>
          <a:prstGeom prst="line">
            <a:avLst/>
          </a:prstGeom>
          <a:ln>
            <a:solidFill>
              <a:srgbClr val="B3D4FE"/>
            </a:solidFill>
          </a:ln>
        </p:spPr>
        <p:style>
          <a:lnRef idx="1">
            <a:srgbClr val="0042FF"/>
          </a:lnRef>
          <a:fillRef idx="0">
            <a:srgbClr val="0042FF"/>
          </a:fillRef>
          <a:effectRef idx="0">
            <a:srgbClr val="0042FF"/>
          </a:effectRef>
          <a:fontRef idx="minor">
            <a:srgbClr val="383838"/>
          </a:fontRef>
        </p:style>
      </p:cxnSp>
      <p:cxnSp>
        <p:nvCxnSpPr>
          <p:cNvPr id="233" name="直接连接符 232"/>
          <p:cNvCxnSpPr/>
          <p:nvPr/>
        </p:nvCxnSpPr>
        <p:spPr>
          <a:xfrm>
            <a:off x="6718935" y="2557145"/>
            <a:ext cx="249555" cy="0"/>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cxnSp>
        <p:nvCxnSpPr>
          <p:cNvPr id="234" name="直接连接符 233"/>
          <p:cNvCxnSpPr/>
          <p:nvPr/>
        </p:nvCxnSpPr>
        <p:spPr>
          <a:xfrm>
            <a:off x="7346315" y="2557145"/>
            <a:ext cx="249555" cy="0"/>
          </a:xfrm>
          <a:prstGeom prst="line">
            <a:avLst/>
          </a:prstGeom>
          <a:ln>
            <a:solidFill>
              <a:srgbClr val="3368FF"/>
            </a:solidFill>
          </a:ln>
        </p:spPr>
        <p:style>
          <a:lnRef idx="1">
            <a:srgbClr val="0042FF"/>
          </a:lnRef>
          <a:fillRef idx="0">
            <a:srgbClr val="0042FF"/>
          </a:fillRef>
          <a:effectRef idx="0">
            <a:srgbClr val="0042FF"/>
          </a:effectRef>
          <a:fontRef idx="minor">
            <a:srgbClr val="383838"/>
          </a:fontRef>
        </p:style>
      </p:cxnSp>
      <p:sp>
        <p:nvSpPr>
          <p:cNvPr id="235" name="文本框 234"/>
          <p:cNvSpPr txBox="1"/>
          <p:nvPr/>
        </p:nvSpPr>
        <p:spPr>
          <a:xfrm>
            <a:off x="6860540" y="2416810"/>
            <a:ext cx="613410"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结果</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6" name="文本框 235"/>
          <p:cNvSpPr txBox="1"/>
          <p:nvPr/>
        </p:nvSpPr>
        <p:spPr>
          <a:xfrm>
            <a:off x="6744335" y="2614295"/>
            <a:ext cx="844550"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R</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esult</a:t>
            </a:r>
            <a:endPar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7" name="文本框 236"/>
          <p:cNvSpPr txBox="1"/>
          <p:nvPr/>
        </p:nvSpPr>
        <p:spPr>
          <a:xfrm>
            <a:off x="6745605" y="2837180"/>
            <a:ext cx="844550" cy="36830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rPr>
              <a:t>15%</a:t>
            </a:r>
            <a:endPar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8" name="文本框 237"/>
          <p:cNvSpPr txBox="1"/>
          <p:nvPr/>
        </p:nvSpPr>
        <p:spPr>
          <a:xfrm>
            <a:off x="6656070" y="3124835"/>
            <a:ext cx="1022985"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销售额上涨</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9" name="文本框 238"/>
          <p:cNvSpPr txBox="1"/>
          <p:nvPr/>
        </p:nvSpPr>
        <p:spPr>
          <a:xfrm>
            <a:off x="6745605" y="3317875"/>
            <a:ext cx="844550" cy="36830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rPr>
              <a:t>3%</a:t>
            </a:r>
            <a:endParaRPr kumimoji="0" lang="en-US" altLang="zh-CN"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0" name="文本框 239"/>
          <p:cNvSpPr txBox="1"/>
          <p:nvPr/>
        </p:nvSpPr>
        <p:spPr>
          <a:xfrm>
            <a:off x="6593840" y="3604895"/>
            <a:ext cx="1153795" cy="275590"/>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市场份额提高</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pic>
        <p:nvPicPr>
          <p:cNvPr id="4" name="图片 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0" name="组合 9"/>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sz="2500" dirty="0">
                <a:solidFill>
                  <a:srgbClr val="383838"/>
                </a:solidFill>
                <a:effectLst/>
                <a:latin typeface="微软雅黑"/>
                <a:ea typeface="微软雅黑"/>
                <a:cs typeface="微软雅黑"/>
              </a:rPr>
              <a:t>费曼学习法模型</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74" name="组合 173"/>
          <p:cNvGrpSpPr/>
          <p:nvPr/>
        </p:nvGrpSpPr>
        <p:grpSpPr>
          <a:xfrm flipV="1">
            <a:off x="7024578" y="4599948"/>
            <a:ext cx="1328676" cy="1328676"/>
            <a:chOff x="7024578" y="1649169"/>
            <a:chExt cx="1328676" cy="1328676"/>
          </a:xfrm>
        </p:grpSpPr>
        <p:cxnSp>
          <p:nvCxnSpPr>
            <p:cNvPr id="175" name="直线连接符 174"/>
            <p:cNvCxnSpPr/>
            <p:nvPr/>
          </p:nvCxnSpPr>
          <p:spPr>
            <a:xfrm flipH="1">
              <a:off x="7024578" y="1649752"/>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76" name="直线连接符 175"/>
            <p:cNvCxnSpPr/>
            <p:nvPr/>
          </p:nvCxnSpPr>
          <p:spPr>
            <a:xfrm rot="16200000" flipH="1">
              <a:off x="6360240" y="2313507"/>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grpSp>
      <p:grpSp>
        <p:nvGrpSpPr>
          <p:cNvPr id="159" name="组合 158"/>
          <p:cNvGrpSpPr/>
          <p:nvPr/>
        </p:nvGrpSpPr>
        <p:grpSpPr>
          <a:xfrm>
            <a:off x="7024578" y="1649169"/>
            <a:ext cx="1328676" cy="1328676"/>
            <a:chOff x="7024578" y="1649169"/>
            <a:chExt cx="1328676" cy="1328676"/>
          </a:xfrm>
        </p:grpSpPr>
        <p:cxnSp>
          <p:nvCxnSpPr>
            <p:cNvPr id="156" name="直线连接符 155"/>
            <p:cNvCxnSpPr>
              <a:stCxn id="122" idx="3"/>
            </p:cNvCxnSpPr>
            <p:nvPr/>
          </p:nvCxnSpPr>
          <p:spPr>
            <a:xfrm flipH="1">
              <a:off x="7024578" y="1649752"/>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58" name="直线连接符 157"/>
            <p:cNvCxnSpPr/>
            <p:nvPr/>
          </p:nvCxnSpPr>
          <p:spPr>
            <a:xfrm rot="16200000" flipH="1">
              <a:off x="6360240" y="2313507"/>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grpSp>
      <p:sp>
        <p:nvSpPr>
          <p:cNvPr id="3" name="任意形状 6"/>
          <p:cNvSpPr/>
          <p:nvPr/>
        </p:nvSpPr>
        <p:spPr>
          <a:xfrm rot="16200000">
            <a:off x="5858615" y="3525634"/>
            <a:ext cx="1506290" cy="1500232"/>
          </a:xfrm>
          <a:custGeom>
            <a:avLst/>
            <a:gdLst>
              <a:gd name="connsiteX0" fmla="*/ 1506290 w 1506290"/>
              <a:gd name="connsiteY0" fmla="*/ 572433 h 1500232"/>
              <a:gd name="connsiteX1" fmla="*/ 578491 w 1506290"/>
              <a:gd name="connsiteY1" fmla="*/ 1500232 h 1500232"/>
              <a:gd name="connsiteX2" fmla="*/ 0 w 1506290"/>
              <a:gd name="connsiteY2" fmla="*/ 921741 h 1500232"/>
              <a:gd name="connsiteX3" fmla="*/ 921741 w 1506290"/>
              <a:gd name="connsiteY3" fmla="*/ 0 h 1500232"/>
              <a:gd name="connsiteX4" fmla="*/ 921741 w 1506290"/>
              <a:gd name="connsiteY4" fmla="*/ 572433 h 1500232"/>
              <a:gd name="connsiteX5" fmla="*/ 1506290 w 1506290"/>
              <a:gd name="connsiteY5" fmla="*/ 572433 h 150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290" h="1500232">
                <a:moveTo>
                  <a:pt x="1506290" y="572433"/>
                </a:moveTo>
                <a:lnTo>
                  <a:pt x="578491" y="1500232"/>
                </a:lnTo>
                <a:lnTo>
                  <a:pt x="0" y="921741"/>
                </a:lnTo>
                <a:lnTo>
                  <a:pt x="921741" y="0"/>
                </a:lnTo>
                <a:lnTo>
                  <a:pt x="921741" y="572433"/>
                </a:lnTo>
                <a:lnTo>
                  <a:pt x="1506290" y="572433"/>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4" name="任意形状 7"/>
          <p:cNvSpPr/>
          <p:nvPr/>
        </p:nvSpPr>
        <p:spPr>
          <a:xfrm rot="8100000">
            <a:off x="6902035" y="3730057"/>
            <a:ext cx="2821728" cy="1673693"/>
          </a:xfrm>
          <a:custGeom>
            <a:avLst/>
            <a:gdLst>
              <a:gd name="connsiteX0" fmla="*/ 0 w 2821728"/>
              <a:gd name="connsiteY0" fmla="*/ 1038916 h 1673693"/>
              <a:gd name="connsiteX1" fmla="*/ 0 w 2821728"/>
              <a:gd name="connsiteY1" fmla="*/ 435068 h 1673693"/>
              <a:gd name="connsiteX2" fmla="*/ 41950 w 2821728"/>
              <a:gd name="connsiteY2" fmla="*/ 396255 h 1673693"/>
              <a:gd name="connsiteX3" fmla="*/ 1108581 w 2821728"/>
              <a:gd name="connsiteY3" fmla="*/ 139 h 1673693"/>
              <a:gd name="connsiteX4" fmla="*/ 2821728 w 2821728"/>
              <a:gd name="connsiteY4" fmla="*/ 1656748 h 1673693"/>
              <a:gd name="connsiteX5" fmla="*/ 2008627 w 2821728"/>
              <a:gd name="connsiteY5" fmla="*/ 1673693 h 1673693"/>
              <a:gd name="connsiteX6" fmla="*/ 1118922 w 2821728"/>
              <a:gd name="connsiteY6" fmla="*/ 813350 h 1673693"/>
              <a:gd name="connsiteX7" fmla="*/ 564978 w 2821728"/>
              <a:gd name="connsiteY7" fmla="*/ 1019069 h 1673693"/>
              <a:gd name="connsiteX8" fmla="*/ 543527 w 2821728"/>
              <a:gd name="connsiteY8" fmla="*/ 1038917 h 1673693"/>
              <a:gd name="connsiteX9" fmla="*/ 0 w 2821728"/>
              <a:gd name="connsiteY9" fmla="*/ 1038916 h 1673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1728" h="1673693">
                <a:moveTo>
                  <a:pt x="0" y="1038916"/>
                </a:moveTo>
                <a:lnTo>
                  <a:pt x="0" y="435068"/>
                </a:lnTo>
                <a:lnTo>
                  <a:pt x="41950" y="396255"/>
                </a:lnTo>
                <a:cubicBezTo>
                  <a:pt x="330770" y="153439"/>
                  <a:pt x="702132" y="5307"/>
                  <a:pt x="1108581" y="139"/>
                </a:cubicBezTo>
                <a:cubicBezTo>
                  <a:pt x="2037610" y="-11675"/>
                  <a:pt x="2802370" y="727847"/>
                  <a:pt x="2821728" y="1656748"/>
                </a:cubicBezTo>
                <a:lnTo>
                  <a:pt x="2008627" y="1673693"/>
                </a:lnTo>
                <a:cubicBezTo>
                  <a:pt x="1998574" y="1191278"/>
                  <a:pt x="1601404" y="807215"/>
                  <a:pt x="1118922" y="813350"/>
                </a:cubicBezTo>
                <a:cubicBezTo>
                  <a:pt x="907837" y="816034"/>
                  <a:pt x="714974" y="892965"/>
                  <a:pt x="564978" y="1019069"/>
                </a:cubicBezTo>
                <a:lnTo>
                  <a:pt x="543527" y="1038917"/>
                </a:lnTo>
                <a:lnTo>
                  <a:pt x="0" y="1038916"/>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20" name="矩形 19"/>
          <p:cNvSpPr/>
          <p:nvPr/>
        </p:nvSpPr>
        <p:spPr>
          <a:xfrm rot="18900000">
            <a:off x="6364565" y="2703884"/>
            <a:ext cx="756880" cy="81811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21" name="任意形状 5"/>
          <p:cNvSpPr/>
          <p:nvPr/>
        </p:nvSpPr>
        <p:spPr>
          <a:xfrm rot="8100000">
            <a:off x="7484803" y="1545619"/>
            <a:ext cx="1688901" cy="2883907"/>
          </a:xfrm>
          <a:custGeom>
            <a:avLst/>
            <a:gdLst>
              <a:gd name="connsiteX0" fmla="*/ 496213 w 1688901"/>
              <a:gd name="connsiteY0" fmla="*/ 2388979 h 2883907"/>
              <a:gd name="connsiteX1" fmla="*/ 18 w 1688901"/>
              <a:gd name="connsiteY1" fmla="*/ 1199689 h 2883907"/>
              <a:gd name="connsiteX2" fmla="*/ 485267 w 1688901"/>
              <a:gd name="connsiteY2" fmla="*/ 5892 h 2883907"/>
              <a:gd name="connsiteX3" fmla="*/ 491635 w 1688901"/>
              <a:gd name="connsiteY3" fmla="*/ 0 h 2883907"/>
              <a:gd name="connsiteX4" fmla="*/ 491635 w 1688901"/>
              <a:gd name="connsiteY4" fmla="*/ 604459 h 2883907"/>
              <a:gd name="connsiteX5" fmla="*/ 1039836 w 1688901"/>
              <a:gd name="connsiteY5" fmla="*/ 604459 h 2883907"/>
              <a:gd name="connsiteX6" fmla="*/ 1009389 w 1688901"/>
              <a:gd name="connsiteY6" fmla="*/ 638532 h 2883907"/>
              <a:gd name="connsiteX7" fmla="*/ 813287 w 1688901"/>
              <a:gd name="connsiteY7" fmla="*/ 1195954 h 2883907"/>
              <a:gd name="connsiteX8" fmla="*/ 1688901 w 1688901"/>
              <a:gd name="connsiteY8" fmla="*/ 2070636 h 2883907"/>
              <a:gd name="connsiteX9" fmla="*/ 1686030 w 1688901"/>
              <a:gd name="connsiteY9" fmla="*/ 2883907 h 2883907"/>
              <a:gd name="connsiteX10" fmla="*/ 496213 w 1688901"/>
              <a:gd name="connsiteY10" fmla="*/ 2388979 h 288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8901" h="2883907">
                <a:moveTo>
                  <a:pt x="496213" y="2388979"/>
                </a:moveTo>
                <a:cubicBezTo>
                  <a:pt x="191380" y="2084471"/>
                  <a:pt x="2152" y="1664236"/>
                  <a:pt x="18" y="1199689"/>
                </a:cubicBezTo>
                <a:cubicBezTo>
                  <a:pt x="-2115" y="735142"/>
                  <a:pt x="183245" y="313187"/>
                  <a:pt x="485267" y="5892"/>
                </a:cubicBezTo>
                <a:lnTo>
                  <a:pt x="491635" y="0"/>
                </a:lnTo>
                <a:lnTo>
                  <a:pt x="491635" y="604459"/>
                </a:lnTo>
                <a:lnTo>
                  <a:pt x="1039836" y="604459"/>
                </a:lnTo>
                <a:lnTo>
                  <a:pt x="1009389" y="638532"/>
                </a:lnTo>
                <a:cubicBezTo>
                  <a:pt x="885899" y="790688"/>
                  <a:pt x="812318" y="984854"/>
                  <a:pt x="813287" y="1195954"/>
                </a:cubicBezTo>
                <a:cubicBezTo>
                  <a:pt x="815503" y="1678470"/>
                  <a:pt x="1206383" y="2068934"/>
                  <a:pt x="1688901" y="2070636"/>
                </a:cubicBezTo>
                <a:lnTo>
                  <a:pt x="1686030" y="2883907"/>
                </a:lnTo>
                <a:cubicBezTo>
                  <a:pt x="1221481" y="2882268"/>
                  <a:pt x="801045" y="2693487"/>
                  <a:pt x="496213" y="2388979"/>
                </a:cubicBez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grpSp>
        <p:nvGrpSpPr>
          <p:cNvPr id="171" name="组合 170"/>
          <p:cNvGrpSpPr/>
          <p:nvPr/>
        </p:nvGrpSpPr>
        <p:grpSpPr>
          <a:xfrm flipH="1" flipV="1">
            <a:off x="3799111" y="4599948"/>
            <a:ext cx="1328676" cy="1328676"/>
            <a:chOff x="7024578" y="1649169"/>
            <a:chExt cx="1328676" cy="1328676"/>
          </a:xfrm>
        </p:grpSpPr>
        <p:cxnSp>
          <p:nvCxnSpPr>
            <p:cNvPr id="172" name="直线连接符 171"/>
            <p:cNvCxnSpPr/>
            <p:nvPr/>
          </p:nvCxnSpPr>
          <p:spPr>
            <a:xfrm flipH="1">
              <a:off x="7024578" y="1649752"/>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73" name="直线连接符 172"/>
            <p:cNvCxnSpPr/>
            <p:nvPr/>
          </p:nvCxnSpPr>
          <p:spPr>
            <a:xfrm rot="16200000" flipH="1">
              <a:off x="6360240" y="2313507"/>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grpSp>
      <p:grpSp>
        <p:nvGrpSpPr>
          <p:cNvPr id="161" name="组合 160"/>
          <p:cNvGrpSpPr/>
          <p:nvPr/>
        </p:nvGrpSpPr>
        <p:grpSpPr>
          <a:xfrm flipH="1">
            <a:off x="3799111" y="1649169"/>
            <a:ext cx="1328676" cy="1328676"/>
            <a:chOff x="7024578" y="1649169"/>
            <a:chExt cx="1328676" cy="1328676"/>
          </a:xfrm>
        </p:grpSpPr>
        <p:cxnSp>
          <p:nvCxnSpPr>
            <p:cNvPr id="162" name="直线连接符 161"/>
            <p:cNvCxnSpPr/>
            <p:nvPr/>
          </p:nvCxnSpPr>
          <p:spPr>
            <a:xfrm flipH="1">
              <a:off x="7024578" y="1649752"/>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63" name="直线连接符 162"/>
            <p:cNvCxnSpPr/>
            <p:nvPr/>
          </p:nvCxnSpPr>
          <p:spPr>
            <a:xfrm rot="16200000" flipH="1">
              <a:off x="6360240" y="2313507"/>
              <a:ext cx="1328676" cy="0"/>
            </a:xfrm>
            <a:prstGeom prst="line">
              <a:avLst/>
            </a:prstGeom>
            <a:ln w="15875">
              <a:solidFill>
                <a:srgbClr val="DCDCDC"/>
              </a:solidFill>
              <a:prstDash val="dash"/>
            </a:ln>
          </p:spPr>
          <p:style>
            <a:lnRef idx="1">
              <a:srgbClr val="0042FF"/>
            </a:lnRef>
            <a:fillRef idx="0">
              <a:srgbClr val="0042FF"/>
            </a:fillRef>
            <a:effectRef idx="0">
              <a:srgbClr val="0042FF"/>
            </a:effectRef>
            <a:fontRef idx="minor">
              <a:srgbClr val="383838"/>
            </a:fontRef>
          </p:style>
        </p:cxnSp>
      </p:grpSp>
      <p:sp>
        <p:nvSpPr>
          <p:cNvPr id="22" name="箭头: 五边形 14"/>
          <p:cNvSpPr/>
          <p:nvPr/>
        </p:nvSpPr>
        <p:spPr>
          <a:xfrm rot="10800000" flipH="1">
            <a:off x="363209" y="1114667"/>
            <a:ext cx="3478822" cy="1070170"/>
          </a:xfrm>
          <a:prstGeom prst="homePlate">
            <a:avLst>
              <a:gd name="adj" fmla="val 49789"/>
            </a:avLst>
          </a:prstGeom>
          <a:solidFill>
            <a:srgbClr val="E6E6E6">
              <a:alpha val="50000"/>
            </a:srgbClr>
          </a:solidFill>
          <a:ln w="127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prstClr val="white"/>
              </a:solidFill>
              <a:effectLst/>
              <a:uLnTx/>
              <a:uFillTx/>
              <a:latin typeface="微软雅黑"/>
              <a:ea typeface="微软雅黑"/>
              <a:cs typeface="微软雅黑"/>
            </a:endParaRPr>
          </a:p>
        </p:txBody>
      </p:sp>
      <p:sp>
        <p:nvSpPr>
          <p:cNvPr id="86" name="矩形 85"/>
          <p:cNvSpPr/>
          <p:nvPr/>
        </p:nvSpPr>
        <p:spPr>
          <a:xfrm rot="18900000">
            <a:off x="5005705" y="4003040"/>
            <a:ext cx="876300" cy="817880"/>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88" name="任意形状 87"/>
          <p:cNvSpPr/>
          <p:nvPr/>
        </p:nvSpPr>
        <p:spPr>
          <a:xfrm rot="8100000">
            <a:off x="2434590" y="2133600"/>
            <a:ext cx="2864485" cy="1688465"/>
          </a:xfrm>
          <a:custGeom>
            <a:avLst/>
            <a:gdLst>
              <a:gd name="connsiteX0" fmla="*/ 495895 w 2864787"/>
              <a:gd name="connsiteY0" fmla="*/ 1193437 h 1688680"/>
              <a:gd name="connsiteX1" fmla="*/ 0 w 2864787"/>
              <a:gd name="connsiteY1" fmla="*/ 3124 h 1688680"/>
              <a:gd name="connsiteX2" fmla="*/ 820378 w 2864787"/>
              <a:gd name="connsiteY2" fmla="*/ 0 h 1688680"/>
              <a:gd name="connsiteX3" fmla="*/ 1689155 w 2864787"/>
              <a:gd name="connsiteY3" fmla="*/ 868293 h 1688680"/>
              <a:gd name="connsiteX4" fmla="*/ 2242124 w 2864787"/>
              <a:gd name="connsiteY4" fmla="*/ 672778 h 1688680"/>
              <a:gd name="connsiteX5" fmla="*/ 2297482 w 2864787"/>
              <a:gd name="connsiteY5" fmla="*/ 623127 h 1688680"/>
              <a:gd name="connsiteX6" fmla="*/ 2297482 w 2864787"/>
              <a:gd name="connsiteY6" fmla="*/ 1215080 h 1688680"/>
              <a:gd name="connsiteX7" fmla="*/ 2864787 w 2864787"/>
              <a:gd name="connsiteY7" fmla="*/ 1215080 h 1688680"/>
              <a:gd name="connsiteX8" fmla="*/ 2759921 w 2864787"/>
              <a:gd name="connsiteY8" fmla="*/ 1309136 h 1688680"/>
              <a:gd name="connsiteX9" fmla="*/ 1686485 w 2864787"/>
              <a:gd name="connsiteY9" fmla="*/ 1688671 h 1688680"/>
              <a:gd name="connsiteX10" fmla="*/ 495895 w 2864787"/>
              <a:gd name="connsiteY10" fmla="*/ 1193437 h 168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4787" h="1688680">
                <a:moveTo>
                  <a:pt x="495895" y="1193437"/>
                </a:moveTo>
                <a:cubicBezTo>
                  <a:pt x="190942" y="888654"/>
                  <a:pt x="1771" y="468023"/>
                  <a:pt x="0" y="3124"/>
                </a:cubicBezTo>
                <a:lnTo>
                  <a:pt x="820378" y="0"/>
                </a:lnTo>
                <a:cubicBezTo>
                  <a:pt x="822203" y="478976"/>
                  <a:pt x="1210178" y="866735"/>
                  <a:pt x="1689155" y="868293"/>
                </a:cubicBezTo>
                <a:cubicBezTo>
                  <a:pt x="1898707" y="868974"/>
                  <a:pt x="2091322" y="795623"/>
                  <a:pt x="2242124" y="672778"/>
                </a:cubicBezTo>
                <a:lnTo>
                  <a:pt x="2297482" y="623127"/>
                </a:lnTo>
                <a:lnTo>
                  <a:pt x="2297482" y="1215080"/>
                </a:lnTo>
                <a:lnTo>
                  <a:pt x="2864787" y="1215080"/>
                </a:lnTo>
                <a:lnTo>
                  <a:pt x="2759921" y="1309136"/>
                </a:lnTo>
                <a:cubicBezTo>
                  <a:pt x="2467181" y="1547603"/>
                  <a:pt x="2093272" y="1689994"/>
                  <a:pt x="1686485" y="1688671"/>
                </a:cubicBezTo>
                <a:cubicBezTo>
                  <a:pt x="1221585" y="1687159"/>
                  <a:pt x="800849" y="1498222"/>
                  <a:pt x="495895" y="1193437"/>
                </a:cubicBezTo>
                <a:close/>
              </a:path>
            </a:pathLst>
          </a:cu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89" name="任意形状 88"/>
          <p:cNvSpPr/>
          <p:nvPr/>
        </p:nvSpPr>
        <p:spPr>
          <a:xfrm rot="8100000">
            <a:off x="3035300" y="3141980"/>
            <a:ext cx="1677035" cy="2834005"/>
          </a:xfrm>
          <a:custGeom>
            <a:avLst/>
            <a:gdLst>
              <a:gd name="connsiteX0" fmla="*/ 660881 w 1676857"/>
              <a:gd name="connsiteY0" fmla="*/ 2833809 h 2833809"/>
              <a:gd name="connsiteX1" fmla="*/ 660881 w 1676857"/>
              <a:gd name="connsiteY1" fmla="*/ 2241189 h 2833809"/>
              <a:gd name="connsiteX2" fmla="*/ 703881 w 1676857"/>
              <a:gd name="connsiteY2" fmla="*/ 2184562 h 2833809"/>
              <a:gd name="connsiteX3" fmla="*/ 856427 w 1676857"/>
              <a:gd name="connsiteY3" fmla="*/ 1700734 h 2833809"/>
              <a:gd name="connsiteX4" fmla="*/ 0 w 1676857"/>
              <a:gd name="connsiteY4" fmla="*/ 820260 h 2833809"/>
              <a:gd name="connsiteX5" fmla="*/ 14252 w 1676857"/>
              <a:gd name="connsiteY5" fmla="*/ 0 h 2833809"/>
              <a:gd name="connsiteX6" fmla="*/ 1676766 w 1676857"/>
              <a:gd name="connsiteY6" fmla="*/ 1709195 h 2833809"/>
              <a:gd name="connsiteX7" fmla="*/ 1282704 w 1676857"/>
              <a:gd name="connsiteY7" fmla="*/ 2777383 h 2833809"/>
              <a:gd name="connsiteX8" fmla="*/ 1230697 w 1676857"/>
              <a:gd name="connsiteY8" fmla="*/ 2833809 h 2833809"/>
              <a:gd name="connsiteX9" fmla="*/ 660881 w 1676857"/>
              <a:gd name="connsiteY9" fmla="*/ 2833809 h 283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857" h="2833809">
                <a:moveTo>
                  <a:pt x="660881" y="2833809"/>
                </a:moveTo>
                <a:lnTo>
                  <a:pt x="660881" y="2241189"/>
                </a:lnTo>
                <a:lnTo>
                  <a:pt x="703881" y="2184562"/>
                </a:lnTo>
                <a:cubicBezTo>
                  <a:pt x="798504" y="2046770"/>
                  <a:pt x="854574" y="1880342"/>
                  <a:pt x="856427" y="1700734"/>
                </a:cubicBezTo>
                <a:cubicBezTo>
                  <a:pt x="861367" y="1221781"/>
                  <a:pt x="478906" y="828581"/>
                  <a:pt x="0" y="820260"/>
                </a:cubicBezTo>
                <a:lnTo>
                  <a:pt x="14252" y="0"/>
                </a:lnTo>
                <a:cubicBezTo>
                  <a:pt x="943915" y="16155"/>
                  <a:pt x="1686355" y="779441"/>
                  <a:pt x="1676766" y="1709195"/>
                </a:cubicBezTo>
                <a:cubicBezTo>
                  <a:pt x="1672570" y="2115963"/>
                  <a:pt x="1525120" y="2487905"/>
                  <a:pt x="1282704" y="2777383"/>
                </a:cubicBezTo>
                <a:lnTo>
                  <a:pt x="1230697" y="2833809"/>
                </a:lnTo>
                <a:lnTo>
                  <a:pt x="660881" y="2833809"/>
                </a:lnTo>
                <a:close/>
              </a:path>
            </a:pathLst>
          </a:cu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90" name="任意形状 89"/>
          <p:cNvSpPr/>
          <p:nvPr/>
        </p:nvSpPr>
        <p:spPr>
          <a:xfrm rot="16200000">
            <a:off x="4853940" y="2503170"/>
            <a:ext cx="1522730" cy="1534795"/>
          </a:xfrm>
          <a:custGeom>
            <a:avLst/>
            <a:gdLst>
              <a:gd name="connsiteX0" fmla="*/ 1522784 w 1522784"/>
              <a:gd name="connsiteY0" fmla="*/ 578491 h 1534960"/>
              <a:gd name="connsiteX1" fmla="*/ 566315 w 1522784"/>
              <a:gd name="connsiteY1" fmla="*/ 1534960 h 1534960"/>
              <a:gd name="connsiteX2" fmla="*/ 0 w 1522784"/>
              <a:gd name="connsiteY2" fmla="*/ 1534960 h 1534960"/>
              <a:gd name="connsiteX3" fmla="*/ 0 w 1522784"/>
              <a:gd name="connsiteY3" fmla="*/ 944293 h 1534960"/>
              <a:gd name="connsiteX4" fmla="*/ 944293 w 1522784"/>
              <a:gd name="connsiteY4" fmla="*/ 0 h 1534960"/>
              <a:gd name="connsiteX5" fmla="*/ 1522784 w 1522784"/>
              <a:gd name="connsiteY5" fmla="*/ 578491 h 153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2784" h="1534960">
                <a:moveTo>
                  <a:pt x="1522784" y="578491"/>
                </a:moveTo>
                <a:lnTo>
                  <a:pt x="566315" y="1534960"/>
                </a:lnTo>
                <a:lnTo>
                  <a:pt x="0" y="1534960"/>
                </a:lnTo>
                <a:lnTo>
                  <a:pt x="0" y="944293"/>
                </a:lnTo>
                <a:lnTo>
                  <a:pt x="944293" y="0"/>
                </a:lnTo>
                <a:lnTo>
                  <a:pt x="1522784" y="578491"/>
                </a:lnTo>
                <a:close/>
              </a:path>
            </a:pathLst>
          </a:cu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grpSp>
        <p:nvGrpSpPr>
          <p:cNvPr id="37" name="组合 36"/>
          <p:cNvGrpSpPr/>
          <p:nvPr/>
        </p:nvGrpSpPr>
        <p:grpSpPr>
          <a:xfrm>
            <a:off x="703580" y="3386138"/>
            <a:ext cx="722630" cy="860425"/>
            <a:chOff x="1093" y="5275"/>
            <a:chExt cx="1138" cy="1355"/>
          </a:xfrm>
        </p:grpSpPr>
        <p:sp>
          <p:nvSpPr>
            <p:cNvPr id="94" name="文本框 93"/>
            <p:cNvSpPr txBox="1"/>
            <p:nvPr/>
          </p:nvSpPr>
          <p:spPr>
            <a:xfrm>
              <a:off x="1093" y="6146"/>
              <a:ext cx="1139" cy="485"/>
            </a:xfrm>
            <a:prstGeom prst="rect">
              <a:avLst/>
            </a:prstGeom>
            <a:noFill/>
          </p:spPr>
          <p:txBody>
            <a:bodyPr wrap="none" rtlCol="0">
              <a:spAutoFit/>
            </a:bodyPr>
            <a:lstStyle/>
            <a:p>
              <a:pPr algn="ctr">
                <a:defRPr>
                  <a:latin typeface="微软雅黑"/>
                  <a:ea typeface="微软雅黑"/>
                  <a:cs typeface="微软雅黑"/>
                </a:defRPr>
              </a:pPr>
              <a:r>
                <a:rPr lang="zh-CN" altLang="en-US" sz="1400" dirty="0">
                  <a:solidFill>
                    <a:srgbClr val="0042FF"/>
                  </a:solidFill>
                  <a:latin typeface="微软雅黑"/>
                  <a:ea typeface="微软雅黑"/>
                  <a:cs typeface="微软雅黑"/>
                </a:rPr>
                <a:t>新用户</a:t>
              </a:r>
              <a:endParaRPr lang="zh-CN" altLang="en-US" sz="1400" dirty="0">
                <a:solidFill>
                  <a:srgbClr val="0042FF"/>
                </a:solidFill>
                <a:latin typeface="微软雅黑"/>
                <a:ea typeface="微软雅黑"/>
                <a:cs typeface="微软雅黑"/>
              </a:endParaRPr>
            </a:p>
          </p:txBody>
        </p:sp>
        <p:pic>
          <p:nvPicPr>
            <p:cNvPr id="95" name="图形 473"/>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203" y="5275"/>
              <a:ext cx="918" cy="918"/>
            </a:xfrm>
            <a:prstGeom prst="rect">
              <a:avLst/>
            </a:prstGeom>
            <a:effectLst/>
          </p:spPr>
        </p:pic>
      </p:grpSp>
      <p:grpSp>
        <p:nvGrpSpPr>
          <p:cNvPr id="34" name="组合 33"/>
          <p:cNvGrpSpPr/>
          <p:nvPr/>
        </p:nvGrpSpPr>
        <p:grpSpPr>
          <a:xfrm>
            <a:off x="10697210" y="3387408"/>
            <a:ext cx="894080" cy="859155"/>
            <a:chOff x="16846" y="5276"/>
            <a:chExt cx="1408" cy="1353"/>
          </a:xfrm>
        </p:grpSpPr>
        <p:sp>
          <p:nvSpPr>
            <p:cNvPr id="110" name="文本框 109"/>
            <p:cNvSpPr txBox="1"/>
            <p:nvPr/>
          </p:nvSpPr>
          <p:spPr>
            <a:xfrm>
              <a:off x="16846" y="6147"/>
              <a:ext cx="1408" cy="483"/>
            </a:xfrm>
            <a:prstGeom prst="rect">
              <a:avLst/>
            </a:prstGeom>
            <a:noFill/>
          </p:spPr>
          <p:txBody>
            <a:bodyPr wrap="none" rtlCol="0" lIns="0" rIns="0" tIns="0" bIns="0">
              <a:spAutoFit/>
            </a:bodyPr>
            <a:lstStyle>
              <a:defPPr>
                <a:defRPr lang="zh-CN">
                  <a:latin typeface="微软雅黑"/>
                  <a:ea typeface="微软雅黑"/>
                  <a:cs typeface="微软雅黑"/>
                </a:defRPr>
              </a:defPPr>
              <a:lvl1pPr algn="ctr">
                <a:defRPr sz="1400">
                  <a:solidFill>
                    <a:srgbClr val="0042FF"/>
                  </a:solidFill>
                  <a:latin typeface="微软雅黑"/>
                  <a:ea typeface="微软雅黑"/>
                  <a:cs typeface="微软雅黑"/>
                </a:defRPr>
              </a:lvl1pPr>
            </a:lstStyle>
            <a:p>
              <a:pPr>
                <a:defRPr>
                  <a:latin typeface="微软雅黑"/>
                  <a:ea typeface="微软雅黑"/>
                  <a:cs typeface="微软雅黑"/>
                </a:defRPr>
              </a:pPr>
              <a:r>
                <a:rPr lang="zh-CN" altLang="en-US" dirty="0">
                  <a:solidFill>
                    <a:srgbClr val="0042FF"/>
                  </a:solidFill>
                  <a:latin typeface="微软雅黑"/>
                  <a:ea typeface="微软雅黑"/>
                  <a:cs typeface="微软雅黑"/>
                </a:rPr>
                <a:t>忠实用户</a:t>
              </a:r>
              <a:endParaRPr lang="zh-CN" altLang="en-US" dirty="0">
                <a:solidFill>
                  <a:srgbClr val="0042FF"/>
                </a:solidFill>
                <a:latin typeface="微软雅黑"/>
                <a:ea typeface="微软雅黑"/>
                <a:cs typeface="微软雅黑"/>
              </a:endParaRPr>
            </a:p>
          </p:txBody>
        </p:sp>
        <p:pic>
          <p:nvPicPr>
            <p:cNvPr id="111" name="图形 473"/>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7091" y="5276"/>
              <a:ext cx="918" cy="918"/>
            </a:xfrm>
            <a:prstGeom prst="rect">
              <a:avLst/>
            </a:prstGeom>
            <a:effectLst/>
          </p:spPr>
        </p:pic>
      </p:grpSp>
      <p:sp>
        <p:nvSpPr>
          <p:cNvPr id="112" name="矩形 111"/>
          <p:cNvSpPr/>
          <p:nvPr/>
        </p:nvSpPr>
        <p:spPr>
          <a:xfrm>
            <a:off x="3597308" y="2466287"/>
            <a:ext cx="1508746" cy="307777"/>
          </a:xfrm>
          <a:prstGeom prst="rect">
            <a:avLst/>
          </a:prstGeom>
        </p:spPr>
        <p:txBody>
          <a:bodyPr wrap="none">
            <a:sp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Trigger</a:t>
            </a:r>
            <a:r>
              <a:rPr lang="zh-CN" altLang="en-US" sz="1400" dirty="0">
                <a:solidFill>
                  <a:srgbClr val="FFFFFF"/>
                </a:solidFill>
                <a:latin typeface="微软雅黑"/>
                <a:ea typeface="微软雅黑"/>
                <a:cs typeface="微软雅黑"/>
              </a:rPr>
              <a:t>（触发）</a:t>
            </a:r>
            <a:endParaRPr lang="zh-CN" altLang="en-US" sz="1400" dirty="0">
              <a:solidFill>
                <a:srgbClr val="FFFFFF"/>
              </a:solidFill>
              <a:latin typeface="微软雅黑"/>
              <a:ea typeface="微软雅黑"/>
              <a:cs typeface="微软雅黑"/>
            </a:endParaRPr>
          </a:p>
        </p:txBody>
      </p:sp>
      <p:sp>
        <p:nvSpPr>
          <p:cNvPr id="113" name="矩形 112"/>
          <p:cNvSpPr/>
          <p:nvPr/>
        </p:nvSpPr>
        <p:spPr>
          <a:xfrm>
            <a:off x="3418573" y="4950479"/>
            <a:ext cx="1866217" cy="307777"/>
          </a:xfrm>
          <a:prstGeom prst="rect">
            <a:avLst/>
          </a:prstGeom>
        </p:spPr>
        <p:txBody>
          <a:bodyPr wrap="none">
            <a:spAutoFit/>
          </a:bodyPr>
          <a:lstStyle/>
          <a:p>
            <a:pPr algn="ctr">
              <a:defRPr>
                <a:latin typeface="微软雅黑"/>
                <a:ea typeface="微软雅黑"/>
                <a:cs typeface="微软雅黑"/>
              </a:defRPr>
            </a:pPr>
            <a:r>
              <a:rPr lang="en-US" altLang="zh-CN" sz="1400" dirty="0">
                <a:solidFill>
                  <a:srgbClr val="383838"/>
                </a:solidFill>
                <a:latin typeface="微软雅黑"/>
                <a:ea typeface="微软雅黑"/>
                <a:cs typeface="微软雅黑"/>
              </a:rPr>
              <a:t>Investment</a:t>
            </a:r>
            <a:r>
              <a:rPr lang="zh-CN" altLang="en-US" sz="1400" dirty="0">
                <a:solidFill>
                  <a:srgbClr val="383838"/>
                </a:solidFill>
                <a:latin typeface="微软雅黑"/>
                <a:ea typeface="微软雅黑"/>
                <a:cs typeface="微软雅黑"/>
              </a:rPr>
              <a:t>（投入）</a:t>
            </a:r>
            <a:endParaRPr lang="zh-CN" altLang="en-US" sz="1400" dirty="0">
              <a:solidFill>
                <a:srgbClr val="383838"/>
              </a:solidFill>
              <a:latin typeface="微软雅黑"/>
              <a:ea typeface="微软雅黑"/>
              <a:cs typeface="微软雅黑"/>
            </a:endParaRPr>
          </a:p>
        </p:txBody>
      </p:sp>
      <p:sp>
        <p:nvSpPr>
          <p:cNvPr id="114" name="矩形 113"/>
          <p:cNvSpPr/>
          <p:nvPr/>
        </p:nvSpPr>
        <p:spPr>
          <a:xfrm>
            <a:off x="7218073" y="2466287"/>
            <a:ext cx="1566455" cy="307777"/>
          </a:xfrm>
          <a:prstGeom prst="rect">
            <a:avLst/>
          </a:prstGeom>
        </p:spPr>
        <p:txBody>
          <a:bodyPr wrap="none">
            <a:sp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Reward</a:t>
            </a:r>
            <a:r>
              <a:rPr lang="zh-CN" altLang="en-US" sz="1400" dirty="0">
                <a:solidFill>
                  <a:srgbClr val="FFFFFF"/>
                </a:solidFill>
                <a:latin typeface="微软雅黑"/>
                <a:ea typeface="微软雅黑"/>
                <a:cs typeface="微软雅黑"/>
              </a:rPr>
              <a:t>（奖励）</a:t>
            </a:r>
            <a:endParaRPr lang="zh-CN" altLang="en-US" sz="1400" dirty="0">
              <a:solidFill>
                <a:srgbClr val="FFFFFF"/>
              </a:solidFill>
              <a:latin typeface="微软雅黑"/>
              <a:ea typeface="微软雅黑"/>
              <a:cs typeface="微软雅黑"/>
            </a:endParaRPr>
          </a:p>
        </p:txBody>
      </p:sp>
      <p:sp>
        <p:nvSpPr>
          <p:cNvPr id="115" name="矩形 114"/>
          <p:cNvSpPr/>
          <p:nvPr/>
        </p:nvSpPr>
        <p:spPr>
          <a:xfrm>
            <a:off x="7277384" y="4950479"/>
            <a:ext cx="1447832" cy="307777"/>
          </a:xfrm>
          <a:prstGeom prst="rect">
            <a:avLst/>
          </a:prstGeom>
        </p:spPr>
        <p:txBody>
          <a:bodyPr wrap="none">
            <a:sp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Action</a:t>
            </a:r>
            <a:r>
              <a:rPr lang="zh-CN" altLang="en-US" sz="1400" dirty="0">
                <a:solidFill>
                  <a:srgbClr val="FFFFFF"/>
                </a:solidFill>
                <a:latin typeface="微软雅黑"/>
                <a:ea typeface="微软雅黑"/>
                <a:cs typeface="微软雅黑"/>
              </a:rPr>
              <a:t>（行动）</a:t>
            </a:r>
            <a:endParaRPr lang="zh-CN" altLang="en-US" sz="1400" dirty="0">
              <a:solidFill>
                <a:srgbClr val="FFFFFF"/>
              </a:solidFill>
              <a:latin typeface="微软雅黑"/>
              <a:ea typeface="微软雅黑"/>
              <a:cs typeface="微软雅黑"/>
            </a:endParaRPr>
          </a:p>
        </p:txBody>
      </p:sp>
      <p:sp>
        <p:nvSpPr>
          <p:cNvPr id="118" name="矩形 117"/>
          <p:cNvSpPr/>
          <p:nvPr/>
        </p:nvSpPr>
        <p:spPr>
          <a:xfrm>
            <a:off x="7537006" y="2108968"/>
            <a:ext cx="880369" cy="707886"/>
          </a:xfrm>
          <a:prstGeom prst="rect">
            <a:avLst/>
          </a:prstGeom>
        </p:spPr>
        <p:txBody>
          <a:bodyPr wrap="none">
            <a:spAutoFit/>
          </a:bodyPr>
          <a:lstStyle/>
          <a:p>
            <a:pPr>
              <a:defRPr>
                <a:solidFill>
                  <a:srgbClr val="FFFFFF"/>
                </a:solidFill>
                <a:latin typeface="微软雅黑"/>
                <a:ea typeface="微软雅黑"/>
                <a:cs typeface="微软雅黑"/>
              </a:defRPr>
            </a:pPr>
            <a:r>
              <a:rPr kumimoji="1" lang="en-US" altLang="zh-CN" sz="4000" dirty="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rPr>
              <a:t>03</a:t>
            </a:r>
            <a:endParaRPr kumimoji="1" lang="en-US" altLang="zh-CN" sz="4000" dirty="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endParaRPr>
          </a:p>
        </p:txBody>
      </p:sp>
      <p:sp>
        <p:nvSpPr>
          <p:cNvPr id="119" name="矩形 118"/>
          <p:cNvSpPr/>
          <p:nvPr/>
        </p:nvSpPr>
        <p:spPr>
          <a:xfrm>
            <a:off x="7537006" y="4567884"/>
            <a:ext cx="880369" cy="707886"/>
          </a:xfrm>
          <a:prstGeom prst="rect">
            <a:avLst/>
          </a:prstGeom>
        </p:spPr>
        <p:txBody>
          <a:bodyPr wrap="none">
            <a:spAutoFit/>
          </a:bodyPr>
          <a:lstStyle/>
          <a:p>
            <a:pPr>
              <a:defRPr>
                <a:solidFill>
                  <a:srgbClr val="FFFFFF"/>
                </a:solidFill>
                <a:latin typeface="微软雅黑"/>
                <a:ea typeface="微软雅黑"/>
                <a:cs typeface="微软雅黑"/>
              </a:defRPr>
            </a:pPr>
            <a:r>
              <a:rPr kumimoji="1" lang="en-US" altLang="zh-CN" sz="400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rPr>
              <a:t>0</a:t>
            </a:r>
            <a:r>
              <a:rPr kumimoji="1" lang="en-US" altLang="en-US" sz="4000" dirty="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rPr>
              <a:t>2</a:t>
            </a:r>
            <a:endParaRPr kumimoji="1" lang="zh-CN" altLang="en-US" sz="4000" dirty="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endParaRPr>
          </a:p>
        </p:txBody>
      </p:sp>
      <p:sp>
        <p:nvSpPr>
          <p:cNvPr id="120" name="矩形 119"/>
          <p:cNvSpPr/>
          <p:nvPr/>
        </p:nvSpPr>
        <p:spPr>
          <a:xfrm>
            <a:off x="3858181" y="2108968"/>
            <a:ext cx="816249" cy="707886"/>
          </a:xfrm>
          <a:prstGeom prst="rect">
            <a:avLst/>
          </a:prstGeom>
        </p:spPr>
        <p:txBody>
          <a:bodyPr wrap="none">
            <a:spAutoFit/>
          </a:bodyPr>
          <a:lstStyle/>
          <a:p>
            <a:pPr>
              <a:defRPr>
                <a:solidFill>
                  <a:srgbClr val="FFFFFF"/>
                </a:solidFill>
                <a:latin typeface="微软雅黑"/>
                <a:ea typeface="微软雅黑"/>
                <a:cs typeface="微软雅黑"/>
              </a:defRPr>
            </a:pPr>
            <a:r>
              <a:rPr kumimoji="1" lang="en-US" altLang="zh-CN" sz="400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rPr>
              <a:t>0</a:t>
            </a:r>
            <a:r>
              <a:rPr kumimoji="1" lang="en-US" altLang="en-US" sz="4000" dirty="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rPr>
              <a:t>1</a:t>
            </a:r>
            <a:endParaRPr kumimoji="1" lang="zh-CN" altLang="en-US" sz="4000" dirty="0">
              <a:solidFill>
                <a:srgbClr val="FFFFFF"/>
              </a:solidFill>
              <a:gradFill>
                <a:gsLst>
                  <a:gs pos="0">
                    <a:srgbClr val="FFFFFF">
                      <a:alpha val="50000"/>
                    </a:srgbClr>
                  </a:gs>
                  <a:gs pos="69000">
                    <a:srgbClr val="FFFFFF">
                      <a:alpha val="0"/>
                    </a:srgbClr>
                  </a:gs>
                </a:gsLst>
                <a:lin ang="5400000" scaled="0"/>
              </a:gradFill>
              <a:latin typeface="微软雅黑"/>
              <a:ea typeface="微软雅黑"/>
              <a:cs typeface="微软雅黑"/>
            </a:endParaRPr>
          </a:p>
        </p:txBody>
      </p:sp>
      <p:sp>
        <p:nvSpPr>
          <p:cNvPr id="121" name="矩形 120"/>
          <p:cNvSpPr/>
          <p:nvPr/>
        </p:nvSpPr>
        <p:spPr>
          <a:xfrm>
            <a:off x="3858181" y="4567884"/>
            <a:ext cx="880369" cy="707886"/>
          </a:xfrm>
          <a:prstGeom prst="rect">
            <a:avLst/>
          </a:prstGeom>
        </p:spPr>
        <p:txBody>
          <a:bodyPr wrap="none">
            <a:spAutoFit/>
          </a:bodyPr>
          <a:lstStyle/>
          <a:p>
            <a:pPr>
              <a:defRPr>
                <a:latin typeface="微软雅黑"/>
                <a:ea typeface="微软雅黑"/>
                <a:cs typeface="微软雅黑"/>
              </a:defRPr>
            </a:pPr>
            <a:r>
              <a:rPr kumimoji="1" lang="en-US" altLang="zh-CN" sz="4000" dirty="0">
                <a:gradFill>
                  <a:gsLst>
                    <a:gs pos="0">
                      <a:srgbClr val="FFFFFF">
                        <a:alpha val="50000"/>
                      </a:srgbClr>
                    </a:gs>
                    <a:gs pos="69000">
                      <a:srgbClr val="FFFFFF">
                        <a:alpha val="0"/>
                      </a:srgbClr>
                    </a:gs>
                  </a:gsLst>
                  <a:lin ang="5400000" scaled="0"/>
                </a:gradFill>
                <a:solidFill>
                  <a:srgbClr val="383838"/>
                </a:solidFill>
                <a:latin typeface="微软雅黑"/>
                <a:ea typeface="微软雅黑"/>
                <a:cs typeface="微软雅黑"/>
              </a:rPr>
              <a:t>0</a:t>
            </a:r>
            <a:r>
              <a:rPr kumimoji="1" lang="en-US" altLang="en-US" sz="4000" dirty="0">
                <a:gradFill>
                  <a:gsLst>
                    <a:gs pos="0">
                      <a:srgbClr val="FFFFFF">
                        <a:alpha val="50000"/>
                      </a:srgbClr>
                    </a:gs>
                    <a:gs pos="69000">
                      <a:srgbClr val="FFFFFF">
                        <a:alpha val="0"/>
                      </a:srgbClr>
                    </a:gs>
                  </a:gsLst>
                  <a:lin ang="5400000" scaled="0"/>
                </a:gradFill>
                <a:solidFill>
                  <a:srgbClr val="383838"/>
                </a:solidFill>
                <a:latin typeface="微软雅黑"/>
                <a:ea typeface="微软雅黑"/>
                <a:cs typeface="微软雅黑"/>
              </a:rPr>
              <a:t>4</a:t>
            </a:r>
            <a:endParaRPr kumimoji="1" lang="zh-CN" altLang="en-US" sz="4000" dirty="0">
              <a:gradFill>
                <a:gsLst>
                  <a:gs pos="0">
                    <a:srgbClr val="FFFFFF">
                      <a:alpha val="50000"/>
                    </a:srgbClr>
                  </a:gs>
                  <a:gs pos="69000">
                    <a:srgbClr val="FFFFFF">
                      <a:alpha val="0"/>
                    </a:srgbClr>
                  </a:gs>
                </a:gsLst>
                <a:lin ang="5400000" scaled="0"/>
              </a:gradFill>
              <a:solidFill>
                <a:srgbClr val="383838"/>
              </a:solidFill>
              <a:latin typeface="微软雅黑"/>
              <a:ea typeface="微软雅黑"/>
              <a:cs typeface="微软雅黑"/>
            </a:endParaRPr>
          </a:p>
        </p:txBody>
      </p:sp>
      <p:sp>
        <p:nvSpPr>
          <p:cNvPr id="122" name="箭头: 五边形 14"/>
          <p:cNvSpPr/>
          <p:nvPr/>
        </p:nvSpPr>
        <p:spPr>
          <a:xfrm rot="10800000">
            <a:off x="8353254" y="1114667"/>
            <a:ext cx="3478822" cy="1070170"/>
          </a:xfrm>
          <a:prstGeom prst="homePlate">
            <a:avLst>
              <a:gd name="adj" fmla="val 49789"/>
            </a:avLst>
          </a:prstGeom>
          <a:solidFill>
            <a:srgbClr val="FFFFFF"/>
          </a:solidFill>
          <a:ln w="12700" cap="flat" cmpd="sng" algn="ctr">
            <a:solidFill>
              <a:srgbClr val="B3D4FE"/>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kern="0" noProof="0">
              <a:ln>
                <a:noFill/>
              </a:ln>
              <a:solidFill>
                <a:prstClr val="white"/>
              </a:solidFill>
              <a:effectLst/>
              <a:uLnTx/>
              <a:uFillTx/>
              <a:latin typeface="微软雅黑"/>
              <a:ea typeface="微软雅黑"/>
              <a:cs typeface="微软雅黑"/>
              <a:sym typeface="微软雅黑"/>
            </a:endParaRPr>
          </a:p>
        </p:txBody>
      </p:sp>
      <p:sp>
        <p:nvSpPr>
          <p:cNvPr id="123" name="文本框 122"/>
          <p:cNvSpPr txBox="1"/>
          <p:nvPr/>
        </p:nvSpPr>
        <p:spPr>
          <a:xfrm>
            <a:off x="9575553" y="1649189"/>
            <a:ext cx="2033425" cy="478790"/>
          </a:xfrm>
          <a:prstGeom prst="rect">
            <a:avLst/>
          </a:prstGeom>
          <a:noFill/>
        </p:spPr>
        <p:txBody>
          <a:bodyPr wrap="square" lIns="0" tIns="0" rIns="0" bIns="0" rtlCol="0" anchor="t">
            <a:noAutofit/>
          </a:bodyPr>
          <a:lstStyle/>
          <a:p>
            <a:pPr>
              <a:lnSpc>
                <a:spcPct val="100000"/>
              </a:lnSpc>
              <a:defRPr sz="1000">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A.</a:t>
            </a:r>
            <a:r>
              <a:rPr lang="zh-CN" altLang="en-US" sz="1000" dirty="0">
                <a:solidFill>
                  <a:srgbClr val="383838"/>
                </a:solidFill>
                <a:latin typeface="微软雅黑"/>
                <a:ea typeface="微软雅黑"/>
                <a:cs typeface="微软雅黑"/>
              </a:rPr>
              <a:t>游戏操作、段位提升带来的乐趣</a:t>
            </a:r>
            <a:endParaRPr lang="en-US" altLang="zh-CN" sz="1000" dirty="0">
              <a:solidFill>
                <a:srgbClr val="383838"/>
              </a:solidFill>
              <a:latin typeface="微软雅黑"/>
              <a:ea typeface="微软雅黑"/>
              <a:cs typeface="微软雅黑"/>
            </a:endParaRPr>
          </a:p>
          <a:p>
            <a:pPr>
              <a:lnSpc>
                <a:spcPct val="100000"/>
              </a:lnSpc>
              <a:defRPr sz="1000">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B.</a:t>
            </a:r>
            <a:r>
              <a:rPr lang="zh-CN" altLang="en-US" sz="1000" dirty="0">
                <a:solidFill>
                  <a:srgbClr val="383838"/>
                </a:solidFill>
                <a:latin typeface="微软雅黑"/>
                <a:ea typeface="微软雅黑"/>
                <a:cs typeface="微软雅黑"/>
              </a:rPr>
              <a:t>朋友夸奖带来的成就感</a:t>
            </a:r>
            <a:endParaRPr lang="zh-CN" altLang="en-US" sz="1000" dirty="0">
              <a:solidFill>
                <a:srgbClr val="383838"/>
              </a:solidFill>
              <a:latin typeface="微软雅黑"/>
              <a:ea typeface="微软雅黑"/>
              <a:cs typeface="微软雅黑"/>
            </a:endParaRPr>
          </a:p>
        </p:txBody>
      </p:sp>
      <p:sp>
        <p:nvSpPr>
          <p:cNvPr id="124" name="Marketing"/>
          <p:cNvSpPr txBox="1"/>
          <p:nvPr/>
        </p:nvSpPr>
        <p:spPr>
          <a:xfrm>
            <a:off x="8715683" y="1753168"/>
            <a:ext cx="720366" cy="235962"/>
          </a:xfrm>
          <a:prstGeom prst="rect">
            <a:avLst/>
          </a:prstGeom>
          <a:ln w="12700">
            <a:miter lim="400000"/>
          </a:ln>
        </p:spPr>
        <p:txBody>
          <a:bodyPr wrap="square" lIns="0" tIns="0" rIns="0" bIns="0">
            <a:spAutoFit/>
          </a:bodyPr>
          <a:lstStyle>
            <a:lvl1pPr defTabSz="12700">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defRPr sz="2400">
                <a:solidFill>
                  <a:srgbClr val="383838"/>
                </a:solidFill>
                <a:latin typeface="微软雅黑"/>
                <a:ea typeface="微软雅黑"/>
                <a:cs typeface="微软雅黑"/>
              </a:defRPr>
            </a:lvl1pPr>
          </a:lstStyle>
          <a:p>
            <a:pPr lvl="0" algn="ctr" defTabSz="6350" hangingPunct="0">
              <a:tabLst>
                <a:tab pos="177800" algn="l"/>
                <a:tab pos="355600" algn="l"/>
                <a:tab pos="533400" algn="l"/>
                <a:tab pos="711200" algn="l"/>
                <a:tab pos="889000" algn="l"/>
                <a:tab pos="1066800" algn="l"/>
                <a:tab pos="1244600" algn="l"/>
                <a:tab pos="1422400" algn="l"/>
                <a:tab pos="1600200" algn="l"/>
                <a:tab pos="1778000" algn="l"/>
                <a:tab pos="1955800" algn="l"/>
                <a:tab pos="2133600" algn="l"/>
              </a:tabLst>
              <a:defRPr>
                <a:latin typeface="微软雅黑"/>
                <a:ea typeface="微软雅黑"/>
                <a:cs typeface="微软雅黑"/>
              </a:defRPr>
            </a:pPr>
            <a:r>
              <a:rPr lang="zh-CN" altLang="en-US" sz="1200" kern="0" dirty="0">
                <a:solidFill>
                  <a:srgbClr val="0042FF"/>
                </a:solidFill>
                <a:latin typeface="微软雅黑"/>
                <a:ea typeface="微软雅黑"/>
                <a:cs typeface="微软雅黑"/>
                <a:sym typeface="微软雅黑"/>
              </a:rPr>
              <a:t>奖励</a:t>
            </a:r>
            <a:endParaRPr lang="zh-CN" altLang="en-US" sz="1200" kern="0" dirty="0">
              <a:solidFill>
                <a:srgbClr val="0042FF"/>
              </a:solidFill>
              <a:latin typeface="微软雅黑"/>
              <a:ea typeface="微软雅黑"/>
              <a:cs typeface="微软雅黑"/>
              <a:sym typeface="微软雅黑"/>
            </a:endParaRPr>
          </a:p>
        </p:txBody>
      </p:sp>
      <p:sp>
        <p:nvSpPr>
          <p:cNvPr id="125" name="文本框 124"/>
          <p:cNvSpPr txBox="1"/>
          <p:nvPr/>
        </p:nvSpPr>
        <p:spPr>
          <a:xfrm>
            <a:off x="8767034" y="1319384"/>
            <a:ext cx="617664" cy="461665"/>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en-US" altLang="en-US" sz="2400" dirty="0">
                <a:solidFill>
                  <a:srgbClr val="0042FF"/>
                </a:solidFill>
                <a:latin typeface="微软雅黑"/>
                <a:ea typeface="微软雅黑"/>
                <a:cs typeface="微软雅黑"/>
              </a:rPr>
              <a:t>03</a:t>
            </a:r>
            <a:endParaRPr lang="en-US" altLang="en-US" sz="2400" dirty="0">
              <a:solidFill>
                <a:srgbClr val="0042FF"/>
              </a:solidFill>
              <a:latin typeface="微软雅黑"/>
              <a:ea typeface="微软雅黑"/>
              <a:cs typeface="微软雅黑"/>
            </a:endParaRPr>
          </a:p>
        </p:txBody>
      </p:sp>
      <p:sp>
        <p:nvSpPr>
          <p:cNvPr id="126" name="矩形 125"/>
          <p:cNvSpPr/>
          <p:nvPr/>
        </p:nvSpPr>
        <p:spPr>
          <a:xfrm>
            <a:off x="9575553" y="1372881"/>
            <a:ext cx="2518648" cy="169277"/>
          </a:xfrm>
          <a:prstGeom prst="rect">
            <a:avLst/>
          </a:prstGeom>
        </p:spPr>
        <p:txBody>
          <a:bodyPr wrap="square" lIns="0" tIns="0" rIns="0" bIns="0">
            <a:spAutoFit/>
          </a:bodyPr>
          <a:lstStyle/>
          <a:p>
            <a:pPr>
              <a:defRPr>
                <a:latin typeface="微软雅黑"/>
                <a:ea typeface="微软雅黑"/>
                <a:cs typeface="微软雅黑"/>
              </a:defRPr>
            </a:pPr>
            <a:r>
              <a:rPr lang="zh-CN" altLang="en-US" sz="1100" dirty="0">
                <a:solidFill>
                  <a:srgbClr val="0042FF"/>
                </a:solidFill>
                <a:latin typeface="微软雅黑"/>
                <a:ea typeface="微软雅黑"/>
                <a:cs typeface="微软雅黑"/>
              </a:rPr>
              <a:t>用户付出行动后，可以得到的奖励</a:t>
            </a:r>
            <a:endParaRPr lang="zh-CN" altLang="en-US" sz="1100" dirty="0">
              <a:solidFill>
                <a:srgbClr val="0042FF"/>
              </a:solidFill>
              <a:latin typeface="微软雅黑"/>
              <a:ea typeface="微软雅黑"/>
              <a:cs typeface="微软雅黑"/>
            </a:endParaRPr>
          </a:p>
        </p:txBody>
      </p:sp>
      <p:sp>
        <p:nvSpPr>
          <p:cNvPr id="127" name="Line"/>
          <p:cNvSpPr/>
          <p:nvPr/>
        </p:nvSpPr>
        <p:spPr>
          <a:xfrm>
            <a:off x="9410784" y="1381955"/>
            <a:ext cx="0" cy="573246"/>
          </a:xfrm>
          <a:prstGeom prst="line">
            <a:avLst/>
          </a:prstGeom>
          <a:ln w="12700">
            <a:solidFill>
              <a:srgbClr val="3368FF"/>
            </a:solidFill>
            <a:custDash>
              <a:ds d="200000" sp="200000"/>
            </a:custDash>
            <a:miter lim="400000"/>
          </a:ln>
        </p:spPr>
        <p:txBody>
          <a:bodyPr lIns="0" tIns="0" rIns="0" bIns="0"/>
          <a:lstStyle/>
          <a:p>
            <a:pPr marL="0" marR="0" lvl="0" indent="0" algn="ctr" defTabSz="41275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sz="1500" b="0" i="0" u="none" strike="noStrike" kern="0" cap="none" spc="0" normalizeH="0" baseline="0" noProof="0">
              <a:ln>
                <a:noFill/>
              </a:ln>
              <a:solidFill>
                <a:srgbClr val="383838"/>
              </a:solidFill>
              <a:effectLst/>
              <a:uLnTx/>
              <a:uFillTx/>
              <a:latin typeface="微软雅黑"/>
              <a:cs typeface="微软雅黑"/>
              <a:sym typeface="微软雅黑"/>
              <a:ea typeface="微软雅黑"/>
            </a:endParaRPr>
          </a:p>
        </p:txBody>
      </p:sp>
      <p:sp>
        <p:nvSpPr>
          <p:cNvPr id="136" name="文本框 135"/>
          <p:cNvSpPr txBox="1"/>
          <p:nvPr/>
        </p:nvSpPr>
        <p:spPr>
          <a:xfrm>
            <a:off x="1233260" y="1649189"/>
            <a:ext cx="1893725" cy="332399"/>
          </a:xfrm>
          <a:prstGeom prst="rect">
            <a:avLst/>
          </a:prstGeom>
          <a:noFill/>
        </p:spPr>
        <p:txBody>
          <a:bodyPr wrap="square" lIns="0" tIns="0" rIns="0" bIns="0" rtlCol="0" anchor="t">
            <a:noAutofit/>
          </a:bodyPr>
          <a:lstStyle/>
          <a:p>
            <a:pPr>
              <a:lnSpc>
                <a:spcPts val="1120"/>
              </a:lnSpc>
              <a:defRPr>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A.</a:t>
            </a:r>
            <a:r>
              <a:rPr lang="zh-CN" altLang="en-US" sz="1000" dirty="0">
                <a:solidFill>
                  <a:srgbClr val="383838"/>
                </a:solidFill>
                <a:latin typeface="微软雅黑"/>
                <a:ea typeface="微软雅黑"/>
                <a:cs typeface="微软雅黑"/>
              </a:rPr>
              <a:t>闲暇娱乐，获得放松</a:t>
            </a:r>
            <a:endParaRPr lang="en-US" altLang="zh-CN"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B.</a:t>
            </a:r>
            <a:r>
              <a:rPr lang="zh-CN" altLang="en-US" sz="1000" dirty="0">
                <a:solidFill>
                  <a:srgbClr val="383838"/>
                </a:solidFill>
                <a:latin typeface="微软雅黑"/>
                <a:ea typeface="微软雅黑"/>
                <a:cs typeface="微软雅黑"/>
              </a:rPr>
              <a:t>与朋友互动、竞争</a:t>
            </a:r>
            <a:endParaRPr lang="zh-CN" altLang="en-US" sz="1000" dirty="0">
              <a:solidFill>
                <a:srgbClr val="383838"/>
              </a:solidFill>
              <a:latin typeface="微软雅黑"/>
              <a:ea typeface="微软雅黑"/>
              <a:cs typeface="微软雅黑"/>
            </a:endParaRPr>
          </a:p>
        </p:txBody>
      </p:sp>
      <p:sp>
        <p:nvSpPr>
          <p:cNvPr id="137" name="Marketing"/>
          <p:cNvSpPr txBox="1"/>
          <p:nvPr/>
        </p:nvSpPr>
        <p:spPr>
          <a:xfrm>
            <a:off x="382816" y="1753168"/>
            <a:ext cx="720366" cy="235962"/>
          </a:xfrm>
          <a:prstGeom prst="rect">
            <a:avLst/>
          </a:prstGeom>
          <a:ln w="12700">
            <a:miter lim="400000"/>
          </a:ln>
        </p:spPr>
        <p:txBody>
          <a:bodyPr wrap="square" lIns="0" tIns="0" rIns="0" bIns="0">
            <a:spAutoFit/>
          </a:bodyPr>
          <a:lstStyle>
            <a:lvl1pPr defTabSz="12700">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defRPr sz="2400">
                <a:solidFill>
                  <a:srgbClr val="383838"/>
                </a:solidFill>
                <a:latin typeface="微软雅黑"/>
                <a:ea typeface="微软雅黑"/>
                <a:cs typeface="微软雅黑"/>
              </a:defRPr>
            </a:lvl1pPr>
          </a:lstStyle>
          <a:p>
            <a:pPr lvl="0" algn="ctr" defTabSz="6350" hangingPunct="0">
              <a:tabLst>
                <a:tab pos="177800" algn="l"/>
                <a:tab pos="355600" algn="l"/>
                <a:tab pos="533400" algn="l"/>
                <a:tab pos="711200" algn="l"/>
                <a:tab pos="889000" algn="l"/>
                <a:tab pos="1066800" algn="l"/>
                <a:tab pos="1244600" algn="l"/>
                <a:tab pos="1422400" algn="l"/>
                <a:tab pos="1600200" algn="l"/>
                <a:tab pos="1778000" algn="l"/>
                <a:tab pos="1955800" algn="l"/>
                <a:tab pos="2133600" algn="l"/>
              </a:tabLst>
              <a:defRPr>
                <a:latin typeface="微软雅黑"/>
                <a:ea typeface="微软雅黑"/>
                <a:cs typeface="微软雅黑"/>
              </a:defRPr>
            </a:pPr>
            <a:r>
              <a:rPr lang="en-US" altLang="en-US" sz="1200" kern="0" dirty="0">
                <a:solidFill>
                  <a:srgbClr val="0042FF"/>
                </a:solidFill>
                <a:latin typeface="微软雅黑"/>
                <a:ea typeface="微软雅黑"/>
                <a:cs typeface="微软雅黑"/>
                <a:sym typeface="微软雅黑"/>
              </a:rPr>
              <a:t>触发</a:t>
            </a:r>
            <a:endParaRPr lang="en-US" altLang="en-US" sz="1200" kern="0" dirty="0">
              <a:solidFill>
                <a:srgbClr val="0042FF"/>
              </a:solidFill>
              <a:latin typeface="微软雅黑"/>
              <a:ea typeface="微软雅黑"/>
              <a:cs typeface="微软雅黑"/>
              <a:sym typeface="微软雅黑"/>
            </a:endParaRPr>
          </a:p>
        </p:txBody>
      </p:sp>
      <p:sp>
        <p:nvSpPr>
          <p:cNvPr id="138" name="文本框 137"/>
          <p:cNvSpPr txBox="1"/>
          <p:nvPr/>
        </p:nvSpPr>
        <p:spPr>
          <a:xfrm>
            <a:off x="434167" y="1319384"/>
            <a:ext cx="617664" cy="461665"/>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en-US" altLang="en-US" sz="2400" dirty="0">
                <a:solidFill>
                  <a:srgbClr val="0042FF"/>
                </a:solidFill>
                <a:latin typeface="微软雅黑"/>
                <a:ea typeface="微软雅黑"/>
                <a:cs typeface="微软雅黑"/>
              </a:rPr>
              <a:t>01</a:t>
            </a:r>
            <a:endParaRPr lang="en-US" altLang="en-US" sz="2400" dirty="0">
              <a:solidFill>
                <a:srgbClr val="0042FF"/>
              </a:solidFill>
              <a:latin typeface="微软雅黑"/>
              <a:ea typeface="微软雅黑"/>
              <a:cs typeface="微软雅黑"/>
            </a:endParaRPr>
          </a:p>
        </p:txBody>
      </p:sp>
      <p:sp>
        <p:nvSpPr>
          <p:cNvPr id="139" name="矩形 138"/>
          <p:cNvSpPr/>
          <p:nvPr/>
        </p:nvSpPr>
        <p:spPr>
          <a:xfrm>
            <a:off x="1233260" y="1372881"/>
            <a:ext cx="2518648" cy="169277"/>
          </a:xfrm>
          <a:prstGeom prst="rect">
            <a:avLst/>
          </a:prstGeom>
        </p:spPr>
        <p:txBody>
          <a:bodyPr wrap="square" lIns="0" tIns="0" rIns="0" bIns="0">
            <a:spAutoFit/>
          </a:bodyPr>
          <a:lstStyle/>
          <a:p>
            <a:pPr>
              <a:defRPr>
                <a:latin typeface="微软雅黑"/>
                <a:ea typeface="微软雅黑"/>
                <a:cs typeface="微软雅黑"/>
              </a:defRPr>
            </a:pPr>
            <a:r>
              <a:rPr lang="zh-CN" altLang="en-US" sz="1100" dirty="0">
                <a:solidFill>
                  <a:srgbClr val="0042FF"/>
                </a:solidFill>
                <a:latin typeface="微软雅黑"/>
                <a:ea typeface="微软雅黑"/>
                <a:cs typeface="微软雅黑"/>
              </a:rPr>
              <a:t>用户有动机参与，外部或内部触发</a:t>
            </a:r>
            <a:endParaRPr lang="zh-CN" altLang="en-US" sz="1100" dirty="0">
              <a:solidFill>
                <a:srgbClr val="0042FF"/>
              </a:solidFill>
              <a:latin typeface="微软雅黑"/>
              <a:ea typeface="微软雅黑"/>
              <a:cs typeface="微软雅黑"/>
            </a:endParaRPr>
          </a:p>
        </p:txBody>
      </p:sp>
      <p:sp>
        <p:nvSpPr>
          <p:cNvPr id="140" name="Line"/>
          <p:cNvSpPr/>
          <p:nvPr/>
        </p:nvSpPr>
        <p:spPr>
          <a:xfrm>
            <a:off x="1063601" y="1381955"/>
            <a:ext cx="0" cy="573246"/>
          </a:xfrm>
          <a:prstGeom prst="line">
            <a:avLst/>
          </a:prstGeom>
          <a:ln w="12700">
            <a:solidFill>
              <a:srgbClr val="0042FF"/>
            </a:solidFill>
            <a:custDash>
              <a:ds d="200000" sp="200000"/>
            </a:custDash>
            <a:miter lim="400000"/>
          </a:ln>
        </p:spPr>
        <p:txBody>
          <a:bodyPr lIns="0" tIns="0" rIns="0" bIns="0"/>
          <a:lstStyle/>
          <a:p>
            <a:pPr marL="0" marR="0" lvl="0" indent="0" algn="ctr" defTabSz="41275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sz="1500" b="0" i="0" u="none" strike="noStrike" kern="0" cap="none" spc="0" normalizeH="0" baseline="0" noProof="0">
              <a:ln>
                <a:noFill/>
              </a:ln>
              <a:solidFill>
                <a:srgbClr val="383838"/>
              </a:solidFill>
              <a:effectLst/>
              <a:uLnTx/>
              <a:uFillTx/>
              <a:latin typeface="微软雅黑"/>
              <a:cs typeface="微软雅黑"/>
              <a:sym typeface="微软雅黑"/>
              <a:ea typeface="微软雅黑"/>
            </a:endParaRPr>
          </a:p>
        </p:txBody>
      </p:sp>
      <p:sp>
        <p:nvSpPr>
          <p:cNvPr id="164" name="箭头: 下 14"/>
          <p:cNvSpPr/>
          <p:nvPr/>
        </p:nvSpPr>
        <p:spPr>
          <a:xfrm rot="16200000">
            <a:off x="1798891" y="3481108"/>
            <a:ext cx="422392" cy="651034"/>
          </a:xfrm>
          <a:prstGeom prst="downArrow">
            <a:avLst>
              <a:gd name="adj1" fmla="val 48920"/>
              <a:gd name="adj2" fmla="val 42437"/>
            </a:avLst>
          </a:prstGeom>
          <a:gradFill>
            <a:gsLst>
              <a:gs pos="100000">
                <a:srgbClr val="0042FF"/>
              </a:gs>
              <a:gs pos="23000">
                <a:srgbClr val="0042FF">
                  <a:alpha val="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65" name="箭头: 五边形 14"/>
          <p:cNvSpPr/>
          <p:nvPr/>
        </p:nvSpPr>
        <p:spPr>
          <a:xfrm rot="10800000" flipH="1">
            <a:off x="363209" y="5394567"/>
            <a:ext cx="3478822" cy="1070170"/>
          </a:xfrm>
          <a:prstGeom prst="homePlate">
            <a:avLst>
              <a:gd name="adj" fmla="val 49789"/>
            </a:avLst>
          </a:prstGeom>
          <a:solidFill>
            <a:srgbClr val="FFFFFF"/>
          </a:solidFill>
          <a:ln w="12700" cap="flat" cmpd="sng" algn="ctr">
            <a:solidFill>
              <a:srgbClr val="B3D4FE"/>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kern="0" noProof="0">
              <a:ln>
                <a:noFill/>
              </a:ln>
              <a:solidFill>
                <a:prstClr val="white"/>
              </a:solidFill>
              <a:effectLst/>
              <a:uLnTx/>
              <a:uFillTx/>
              <a:latin typeface="微软雅黑"/>
              <a:ea typeface="微软雅黑"/>
              <a:cs typeface="微软雅黑"/>
              <a:sym typeface="微软雅黑"/>
            </a:endParaRPr>
          </a:p>
        </p:txBody>
      </p:sp>
      <p:sp>
        <p:nvSpPr>
          <p:cNvPr id="166" name="文本框 165"/>
          <p:cNvSpPr txBox="1"/>
          <p:nvPr/>
        </p:nvSpPr>
        <p:spPr>
          <a:xfrm>
            <a:off x="1233260" y="5929089"/>
            <a:ext cx="1893725" cy="336550"/>
          </a:xfrm>
          <a:prstGeom prst="rect">
            <a:avLst/>
          </a:prstGeom>
          <a:noFill/>
        </p:spPr>
        <p:txBody>
          <a:bodyPr wrap="square" lIns="0" tIns="0" rIns="0" bIns="0" rtlCol="0" anchor="t">
            <a:noAutofit/>
          </a:bodyPr>
          <a:lstStyle/>
          <a:p>
            <a:pPr>
              <a:lnSpc>
                <a:spcPts val="1120"/>
              </a:lnSpc>
              <a:defRPr>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A.</a:t>
            </a:r>
            <a:r>
              <a:rPr lang="zh-CN" altLang="en-US" sz="1000" dirty="0">
                <a:solidFill>
                  <a:srgbClr val="383838"/>
                </a:solidFill>
                <a:latin typeface="微软雅黑"/>
                <a:ea typeface="微软雅黑"/>
                <a:cs typeface="微软雅黑"/>
              </a:rPr>
              <a:t>带来产品使用时长</a:t>
            </a:r>
            <a:endParaRPr lang="zh-CN" altLang="en-US"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B.</a:t>
            </a:r>
            <a:r>
              <a:rPr lang="zh-CN" altLang="en-US" sz="1000" dirty="0">
                <a:solidFill>
                  <a:srgbClr val="383838"/>
                </a:solidFill>
                <a:latin typeface="微软雅黑"/>
                <a:ea typeface="微软雅黑"/>
                <a:cs typeface="微软雅黑"/>
              </a:rPr>
              <a:t>用户在使用产品时的付出</a:t>
            </a:r>
            <a:endParaRPr lang="zh-CN" altLang="en-US" sz="1000" dirty="0">
              <a:solidFill>
                <a:srgbClr val="383838"/>
              </a:solidFill>
              <a:latin typeface="微软雅黑"/>
              <a:ea typeface="微软雅黑"/>
              <a:cs typeface="微软雅黑"/>
            </a:endParaRPr>
          </a:p>
        </p:txBody>
      </p:sp>
      <p:sp>
        <p:nvSpPr>
          <p:cNvPr id="167" name="Marketing"/>
          <p:cNvSpPr txBox="1"/>
          <p:nvPr/>
        </p:nvSpPr>
        <p:spPr>
          <a:xfrm>
            <a:off x="382816" y="6033068"/>
            <a:ext cx="720366" cy="235962"/>
          </a:xfrm>
          <a:prstGeom prst="rect">
            <a:avLst/>
          </a:prstGeom>
          <a:ln w="12700">
            <a:miter lim="400000"/>
          </a:ln>
        </p:spPr>
        <p:txBody>
          <a:bodyPr wrap="square" lIns="0" tIns="0" rIns="0" bIns="0">
            <a:spAutoFit/>
          </a:bodyPr>
          <a:lstStyle>
            <a:lvl1pPr defTabSz="12700">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defRPr sz="2400">
                <a:solidFill>
                  <a:srgbClr val="383838"/>
                </a:solidFill>
                <a:latin typeface="微软雅黑"/>
                <a:ea typeface="微软雅黑"/>
                <a:cs typeface="微软雅黑"/>
              </a:defRPr>
            </a:lvl1pPr>
          </a:lstStyle>
          <a:p>
            <a:pPr lvl="0" algn="ctr" defTabSz="6350" hangingPunct="0">
              <a:tabLst>
                <a:tab pos="177800" algn="l"/>
                <a:tab pos="355600" algn="l"/>
                <a:tab pos="533400" algn="l"/>
                <a:tab pos="711200" algn="l"/>
                <a:tab pos="889000" algn="l"/>
                <a:tab pos="1066800" algn="l"/>
                <a:tab pos="1244600" algn="l"/>
                <a:tab pos="1422400" algn="l"/>
                <a:tab pos="1600200" algn="l"/>
                <a:tab pos="1778000" algn="l"/>
                <a:tab pos="1955800" algn="l"/>
                <a:tab pos="2133600" algn="l"/>
              </a:tabLst>
              <a:defRPr>
                <a:latin typeface="微软雅黑"/>
                <a:ea typeface="微软雅黑"/>
                <a:cs typeface="微软雅黑"/>
              </a:defRPr>
            </a:pPr>
            <a:r>
              <a:rPr lang="en-US" altLang="en-US" sz="1200" kern="0" dirty="0" err="1">
                <a:solidFill>
                  <a:srgbClr val="0042FF"/>
                </a:solidFill>
                <a:latin typeface="微软雅黑"/>
                <a:ea typeface="微软雅黑"/>
                <a:cs typeface="微软雅黑"/>
                <a:sym typeface="微软雅黑"/>
              </a:rPr>
              <a:t>投入</a:t>
            </a:r>
            <a:endParaRPr lang="en-US" altLang="en-US" sz="1200" kern="0" dirty="0" err="1">
              <a:solidFill>
                <a:srgbClr val="0042FF"/>
              </a:solidFill>
              <a:latin typeface="微软雅黑"/>
              <a:ea typeface="微软雅黑"/>
              <a:cs typeface="微软雅黑"/>
              <a:sym typeface="微软雅黑"/>
            </a:endParaRPr>
          </a:p>
        </p:txBody>
      </p:sp>
      <p:sp>
        <p:nvSpPr>
          <p:cNvPr id="168" name="文本框 167"/>
          <p:cNvSpPr txBox="1"/>
          <p:nvPr/>
        </p:nvSpPr>
        <p:spPr>
          <a:xfrm>
            <a:off x="434167" y="5599284"/>
            <a:ext cx="617664" cy="461665"/>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en-US" altLang="en-US" sz="2400" dirty="0">
                <a:solidFill>
                  <a:srgbClr val="0042FF"/>
                </a:solidFill>
                <a:latin typeface="微软雅黑"/>
                <a:ea typeface="微软雅黑"/>
                <a:cs typeface="微软雅黑"/>
              </a:rPr>
              <a:t>0</a:t>
            </a:r>
            <a:r>
              <a:rPr lang="en-US" altLang="zh-CN" sz="2400" dirty="0">
                <a:solidFill>
                  <a:srgbClr val="0042FF"/>
                </a:solidFill>
                <a:latin typeface="微软雅黑"/>
                <a:ea typeface="微软雅黑"/>
                <a:cs typeface="微软雅黑"/>
              </a:rPr>
              <a:t>4</a:t>
            </a:r>
            <a:endParaRPr lang="en-US" altLang="zh-CN" sz="2400" dirty="0">
              <a:solidFill>
                <a:srgbClr val="0042FF"/>
              </a:solidFill>
              <a:latin typeface="微软雅黑"/>
              <a:ea typeface="微软雅黑"/>
              <a:cs typeface="微软雅黑"/>
            </a:endParaRPr>
          </a:p>
        </p:txBody>
      </p:sp>
      <p:sp>
        <p:nvSpPr>
          <p:cNvPr id="169" name="矩形 168"/>
          <p:cNvSpPr/>
          <p:nvPr/>
        </p:nvSpPr>
        <p:spPr>
          <a:xfrm>
            <a:off x="1233260" y="5652781"/>
            <a:ext cx="2518648" cy="169277"/>
          </a:xfrm>
          <a:prstGeom prst="rect">
            <a:avLst/>
          </a:prstGeom>
        </p:spPr>
        <p:txBody>
          <a:bodyPr wrap="square" lIns="0" tIns="0" rIns="0" bIns="0">
            <a:spAutoFit/>
          </a:bodyPr>
          <a:lstStyle/>
          <a:p>
            <a:pPr>
              <a:defRPr>
                <a:latin typeface="微软雅黑"/>
                <a:ea typeface="微软雅黑"/>
                <a:cs typeface="微软雅黑"/>
              </a:defRPr>
            </a:pPr>
            <a:r>
              <a:rPr lang="zh-CN" altLang="en-US" sz="1100" dirty="0">
                <a:solidFill>
                  <a:srgbClr val="0042FF"/>
                </a:solidFill>
                <a:latin typeface="微软雅黑"/>
                <a:ea typeface="微软雅黑"/>
                <a:cs typeface="微软雅黑"/>
              </a:rPr>
              <a:t>用户付出行动后，可以得到的奖励</a:t>
            </a:r>
            <a:endParaRPr lang="zh-CN" altLang="en-US" sz="1100" dirty="0">
              <a:solidFill>
                <a:srgbClr val="0042FF"/>
              </a:solidFill>
              <a:latin typeface="微软雅黑"/>
              <a:ea typeface="微软雅黑"/>
              <a:cs typeface="微软雅黑"/>
            </a:endParaRPr>
          </a:p>
        </p:txBody>
      </p:sp>
      <p:sp>
        <p:nvSpPr>
          <p:cNvPr id="170" name="Line"/>
          <p:cNvSpPr/>
          <p:nvPr/>
        </p:nvSpPr>
        <p:spPr>
          <a:xfrm>
            <a:off x="1063601" y="5661855"/>
            <a:ext cx="0" cy="573246"/>
          </a:xfrm>
          <a:prstGeom prst="line">
            <a:avLst/>
          </a:prstGeom>
          <a:ln w="12700">
            <a:solidFill>
              <a:srgbClr val="3368FF"/>
            </a:solidFill>
            <a:custDash>
              <a:ds d="200000" sp="200000"/>
            </a:custDash>
            <a:miter lim="400000"/>
          </a:ln>
        </p:spPr>
        <p:txBody>
          <a:bodyPr lIns="0" tIns="0" rIns="0" bIns="0"/>
          <a:lstStyle/>
          <a:p>
            <a:pPr marL="0" marR="0" lvl="0" indent="0" algn="ctr" defTabSz="41275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sz="1500" b="0" i="0" u="none" strike="noStrike" kern="0" cap="none" spc="0" normalizeH="0" baseline="0" noProof="0">
              <a:ln>
                <a:noFill/>
              </a:ln>
              <a:solidFill>
                <a:srgbClr val="383838"/>
              </a:solidFill>
              <a:effectLst/>
              <a:uLnTx/>
              <a:uFillTx/>
              <a:latin typeface="微软雅黑"/>
              <a:cs typeface="微软雅黑"/>
              <a:sym typeface="微软雅黑"/>
              <a:ea typeface="微软雅黑"/>
            </a:endParaRPr>
          </a:p>
        </p:txBody>
      </p:sp>
      <p:sp>
        <p:nvSpPr>
          <p:cNvPr id="177" name="箭头: 五边形 14"/>
          <p:cNvSpPr/>
          <p:nvPr/>
        </p:nvSpPr>
        <p:spPr>
          <a:xfrm rot="10800000">
            <a:off x="8353254" y="5394567"/>
            <a:ext cx="3478822" cy="1070170"/>
          </a:xfrm>
          <a:prstGeom prst="homePlate">
            <a:avLst>
              <a:gd name="adj" fmla="val 49789"/>
            </a:avLst>
          </a:prstGeom>
          <a:solidFill>
            <a:srgbClr val="E6E6E6">
              <a:alpha val="50000"/>
            </a:srgbClr>
          </a:solidFill>
          <a:ln w="12700" cap="flat" cmpd="sng" algn="ctr">
            <a:solidFill>
              <a:srgbClr val="3368FF"/>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kern="0" noProof="0">
              <a:ln>
                <a:noFill/>
              </a:ln>
              <a:solidFill>
                <a:prstClr val="white"/>
              </a:solidFill>
              <a:effectLst/>
              <a:uLnTx/>
              <a:uFillTx/>
              <a:latin typeface="微软雅黑"/>
              <a:ea typeface="微软雅黑"/>
              <a:cs typeface="微软雅黑"/>
              <a:sym typeface="微软雅黑"/>
            </a:endParaRPr>
          </a:p>
        </p:txBody>
      </p:sp>
      <p:sp>
        <p:nvSpPr>
          <p:cNvPr id="178" name="文本框 177"/>
          <p:cNvSpPr txBox="1"/>
          <p:nvPr/>
        </p:nvSpPr>
        <p:spPr>
          <a:xfrm>
            <a:off x="9575553" y="5814789"/>
            <a:ext cx="1893725" cy="501650"/>
          </a:xfrm>
          <a:prstGeom prst="rect">
            <a:avLst/>
          </a:prstGeom>
          <a:noFill/>
        </p:spPr>
        <p:txBody>
          <a:bodyPr wrap="square" lIns="0" tIns="0" rIns="0" bIns="0" rtlCol="0" anchor="t">
            <a:noAutofit/>
          </a:bodyPr>
          <a:lstStyle/>
          <a:p>
            <a:pPr>
              <a:lnSpc>
                <a:spcPts val="1120"/>
              </a:lnSpc>
              <a:defRPr>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A.</a:t>
            </a:r>
            <a:r>
              <a:rPr lang="zh-CN" altLang="en-US" sz="1000" dirty="0">
                <a:solidFill>
                  <a:srgbClr val="383838"/>
                </a:solidFill>
                <a:latin typeface="微软雅黑"/>
                <a:ea typeface="微软雅黑"/>
                <a:cs typeface="微软雅黑"/>
              </a:rPr>
              <a:t>进行游戏操作</a:t>
            </a:r>
            <a:endParaRPr lang="zh-CN" altLang="en-US"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B.</a:t>
            </a:r>
            <a:r>
              <a:rPr lang="zh-CN" altLang="en-US" sz="1000" dirty="0">
                <a:solidFill>
                  <a:srgbClr val="383838"/>
                </a:solidFill>
                <a:latin typeface="微软雅黑"/>
                <a:ea typeface="微软雅黑"/>
                <a:cs typeface="微软雅黑"/>
              </a:rPr>
              <a:t>收集物品</a:t>
            </a:r>
            <a:endParaRPr lang="zh-CN" altLang="en-US"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en-US" altLang="en-US" sz="1000" dirty="0">
                <a:solidFill>
                  <a:srgbClr val="383838"/>
                </a:solidFill>
                <a:latin typeface="微软雅黑"/>
                <a:ea typeface="微软雅黑"/>
                <a:cs typeface="微软雅黑"/>
              </a:rPr>
              <a:t>C.</a:t>
            </a:r>
            <a:r>
              <a:rPr lang="zh-CN" altLang="en-US" sz="1000" dirty="0">
                <a:solidFill>
                  <a:srgbClr val="383838"/>
                </a:solidFill>
                <a:latin typeface="微软雅黑"/>
                <a:ea typeface="微软雅黑"/>
                <a:cs typeface="微软雅黑"/>
              </a:rPr>
              <a:t>完成任务</a:t>
            </a:r>
            <a:endParaRPr lang="zh-CN" altLang="en-US" sz="1000" dirty="0">
              <a:solidFill>
                <a:srgbClr val="383838"/>
              </a:solidFill>
              <a:latin typeface="微软雅黑"/>
              <a:ea typeface="微软雅黑"/>
              <a:cs typeface="微软雅黑"/>
            </a:endParaRPr>
          </a:p>
        </p:txBody>
      </p:sp>
      <p:sp>
        <p:nvSpPr>
          <p:cNvPr id="179" name="Marketing"/>
          <p:cNvSpPr txBox="1"/>
          <p:nvPr/>
        </p:nvSpPr>
        <p:spPr>
          <a:xfrm>
            <a:off x="8715683" y="6033068"/>
            <a:ext cx="720366" cy="235962"/>
          </a:xfrm>
          <a:prstGeom prst="rect">
            <a:avLst/>
          </a:prstGeom>
          <a:ln w="12700">
            <a:miter lim="400000"/>
          </a:ln>
        </p:spPr>
        <p:txBody>
          <a:bodyPr wrap="square" lIns="0" tIns="0" rIns="0" bIns="0">
            <a:spAutoFit/>
          </a:bodyPr>
          <a:lstStyle>
            <a:lvl1pPr defTabSz="12700">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defRPr sz="2400">
                <a:solidFill>
                  <a:srgbClr val="383838"/>
                </a:solidFill>
                <a:latin typeface="微软雅黑"/>
                <a:ea typeface="微软雅黑"/>
                <a:cs typeface="微软雅黑"/>
              </a:defRPr>
            </a:lvl1pPr>
          </a:lstStyle>
          <a:p>
            <a:pPr lvl="0" algn="ctr" defTabSz="6350" hangingPunct="0">
              <a:tabLst>
                <a:tab pos="177800" algn="l"/>
                <a:tab pos="355600" algn="l"/>
                <a:tab pos="533400" algn="l"/>
                <a:tab pos="711200" algn="l"/>
                <a:tab pos="889000" algn="l"/>
                <a:tab pos="1066800" algn="l"/>
                <a:tab pos="1244600" algn="l"/>
                <a:tab pos="1422400" algn="l"/>
                <a:tab pos="1600200" algn="l"/>
                <a:tab pos="1778000" algn="l"/>
                <a:tab pos="1955800" algn="l"/>
                <a:tab pos="2133600" algn="l"/>
              </a:tabLst>
              <a:defRPr>
                <a:latin typeface="微软雅黑"/>
                <a:ea typeface="微软雅黑"/>
                <a:cs typeface="微软雅黑"/>
              </a:defRPr>
            </a:pPr>
            <a:r>
              <a:rPr lang="zh-CN" altLang="en-US" sz="1200" kern="0" dirty="0">
                <a:solidFill>
                  <a:srgbClr val="0042FF"/>
                </a:solidFill>
                <a:latin typeface="微软雅黑"/>
                <a:ea typeface="微软雅黑"/>
                <a:cs typeface="微软雅黑"/>
                <a:sym typeface="微软雅黑"/>
              </a:rPr>
              <a:t>行动</a:t>
            </a:r>
            <a:endParaRPr lang="zh-CN" altLang="en-US" sz="1200" kern="0" dirty="0">
              <a:solidFill>
                <a:srgbClr val="0042FF"/>
              </a:solidFill>
              <a:latin typeface="微软雅黑"/>
              <a:ea typeface="微软雅黑"/>
              <a:cs typeface="微软雅黑"/>
              <a:sym typeface="微软雅黑"/>
            </a:endParaRPr>
          </a:p>
        </p:txBody>
      </p:sp>
      <p:sp>
        <p:nvSpPr>
          <p:cNvPr id="180" name="文本框 179"/>
          <p:cNvSpPr txBox="1"/>
          <p:nvPr/>
        </p:nvSpPr>
        <p:spPr>
          <a:xfrm>
            <a:off x="8767034" y="5599284"/>
            <a:ext cx="617664" cy="461665"/>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0042FF"/>
                </a:solidFill>
                <a:latin typeface="微软雅黑"/>
                <a:ea typeface="微软雅黑"/>
                <a:cs typeface="微软雅黑"/>
              </a:defRPr>
            </a:lvl1pPr>
          </a:lstStyle>
          <a:p>
            <a:pPr algn="ctr">
              <a:defRPr>
                <a:latin typeface="微软雅黑"/>
                <a:ea typeface="微软雅黑"/>
                <a:cs typeface="微软雅黑"/>
              </a:defRPr>
            </a:pPr>
            <a:r>
              <a:rPr lang="en-US" altLang="en-US" sz="2400" dirty="0">
                <a:solidFill>
                  <a:srgbClr val="0042FF"/>
                </a:solidFill>
                <a:latin typeface="微软雅黑"/>
                <a:ea typeface="微软雅黑"/>
                <a:cs typeface="微软雅黑"/>
              </a:rPr>
              <a:t>0</a:t>
            </a:r>
            <a:r>
              <a:rPr lang="en-US" altLang="zh-CN" sz="2400" dirty="0">
                <a:solidFill>
                  <a:srgbClr val="0042FF"/>
                </a:solidFill>
                <a:latin typeface="微软雅黑"/>
                <a:ea typeface="微软雅黑"/>
                <a:cs typeface="微软雅黑"/>
              </a:rPr>
              <a:t>2</a:t>
            </a:r>
            <a:endParaRPr lang="en-US" altLang="zh-CN" sz="2400" dirty="0">
              <a:solidFill>
                <a:srgbClr val="0042FF"/>
              </a:solidFill>
              <a:latin typeface="微软雅黑"/>
              <a:ea typeface="微软雅黑"/>
              <a:cs typeface="微软雅黑"/>
            </a:endParaRPr>
          </a:p>
        </p:txBody>
      </p:sp>
      <p:sp>
        <p:nvSpPr>
          <p:cNvPr id="181" name="矩形 180"/>
          <p:cNvSpPr/>
          <p:nvPr/>
        </p:nvSpPr>
        <p:spPr>
          <a:xfrm>
            <a:off x="9575553" y="5614681"/>
            <a:ext cx="2518648" cy="169277"/>
          </a:xfrm>
          <a:prstGeom prst="rect">
            <a:avLst/>
          </a:prstGeom>
        </p:spPr>
        <p:txBody>
          <a:bodyPr wrap="square" lIns="0" tIns="0" rIns="0" bIns="0">
            <a:spAutoFit/>
          </a:bodyPr>
          <a:lstStyle/>
          <a:p>
            <a:pPr>
              <a:defRPr>
                <a:latin typeface="微软雅黑"/>
                <a:ea typeface="微软雅黑"/>
                <a:cs typeface="微软雅黑"/>
              </a:defRPr>
            </a:pPr>
            <a:r>
              <a:rPr lang="zh-CN" altLang="en-US" sz="1100" dirty="0">
                <a:solidFill>
                  <a:srgbClr val="0042FF"/>
                </a:solidFill>
                <a:latin typeface="微软雅黑"/>
                <a:ea typeface="微软雅黑"/>
                <a:cs typeface="微软雅黑"/>
              </a:rPr>
              <a:t>用户用核心功能，做预期行为</a:t>
            </a:r>
            <a:endParaRPr lang="zh-CN" altLang="en-US" sz="1100" dirty="0">
              <a:solidFill>
                <a:srgbClr val="0042FF"/>
              </a:solidFill>
              <a:latin typeface="微软雅黑"/>
              <a:ea typeface="微软雅黑"/>
              <a:cs typeface="微软雅黑"/>
            </a:endParaRPr>
          </a:p>
        </p:txBody>
      </p:sp>
      <p:sp>
        <p:nvSpPr>
          <p:cNvPr id="182" name="Line"/>
          <p:cNvSpPr/>
          <p:nvPr/>
        </p:nvSpPr>
        <p:spPr>
          <a:xfrm>
            <a:off x="9410784" y="5661855"/>
            <a:ext cx="0" cy="573246"/>
          </a:xfrm>
          <a:prstGeom prst="line">
            <a:avLst/>
          </a:prstGeom>
          <a:ln w="12700">
            <a:solidFill>
              <a:srgbClr val="0042FF"/>
            </a:solidFill>
            <a:custDash>
              <a:ds d="200000" sp="200000"/>
            </a:custDash>
            <a:miter lim="400000"/>
          </a:ln>
        </p:spPr>
        <p:txBody>
          <a:bodyPr lIns="0" tIns="0" rIns="0" bIns="0"/>
          <a:lstStyle/>
          <a:p>
            <a:pPr marL="0" marR="0" lvl="0" indent="0" algn="ctr" defTabSz="41275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sz="1500" b="0" i="0" u="none" strike="noStrike" kern="0" cap="none" spc="0" normalizeH="0" baseline="0" noProof="0">
              <a:ln>
                <a:noFill/>
              </a:ln>
              <a:solidFill>
                <a:srgbClr val="383838"/>
              </a:solidFill>
              <a:effectLst/>
              <a:uLnTx/>
              <a:uFillTx/>
              <a:latin typeface="微软雅黑"/>
              <a:cs typeface="微软雅黑"/>
              <a:sym typeface="微软雅黑"/>
              <a:ea typeface="微软雅黑"/>
            </a:endParaRPr>
          </a:p>
        </p:txBody>
      </p:sp>
      <p:sp>
        <p:nvSpPr>
          <p:cNvPr id="183" name="箭头: 下 14"/>
          <p:cNvSpPr/>
          <p:nvPr/>
        </p:nvSpPr>
        <p:spPr>
          <a:xfrm rot="16200000">
            <a:off x="9749091" y="3481108"/>
            <a:ext cx="422392" cy="651034"/>
          </a:xfrm>
          <a:prstGeom prst="downArrow">
            <a:avLst>
              <a:gd name="adj1" fmla="val 48920"/>
              <a:gd name="adj2" fmla="val 42437"/>
            </a:avLst>
          </a:prstGeom>
          <a:gradFill>
            <a:gsLst>
              <a:gs pos="100000">
                <a:srgbClr val="3368FF"/>
              </a:gs>
              <a:gs pos="23000">
                <a:srgbClr val="3368FF">
                  <a:alpha val="0"/>
                </a:srgbClr>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3" name="椭圆 32"/>
          <p:cNvSpPr/>
          <p:nvPr/>
        </p:nvSpPr>
        <p:spPr>
          <a:xfrm>
            <a:off x="10535920" y="3208655"/>
            <a:ext cx="1216660" cy="1216660"/>
          </a:xfrm>
          <a:prstGeom prst="ellipse">
            <a:avLst/>
          </a:prstGeom>
          <a:no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6" name="椭圆 35"/>
          <p:cNvSpPr/>
          <p:nvPr/>
        </p:nvSpPr>
        <p:spPr>
          <a:xfrm>
            <a:off x="456565" y="3208020"/>
            <a:ext cx="1216660" cy="1216660"/>
          </a:xfrm>
          <a:prstGeom prst="ellipse">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2" name="弧形 101"/>
          <p:cNvSpPr/>
          <p:nvPr>
            <p:custDataLst>
              <p:tags r:id="rId7"/>
            </p:custDataLst>
          </p:nvPr>
        </p:nvSpPr>
        <p:spPr>
          <a:xfrm>
            <a:off x="2935605" y="2509520"/>
            <a:ext cx="2388235" cy="2388235"/>
          </a:xfrm>
          <a:prstGeom prst="arc">
            <a:avLst>
              <a:gd name="adj1" fmla="val 6177775"/>
              <a:gd name="adj2" fmla="val 14813677"/>
            </a:avLst>
          </a:prstGeom>
          <a:ln>
            <a:solidFill>
              <a:srgbClr val="FFFFFF"/>
            </a:solidFill>
            <a:prstDash val="dash"/>
            <a:headEnd type="none"/>
            <a:tailEnd type="triangle"/>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 name="弧形 1"/>
          <p:cNvSpPr/>
          <p:nvPr>
            <p:custDataLst>
              <p:tags r:id="rId8"/>
            </p:custDataLst>
          </p:nvPr>
        </p:nvSpPr>
        <p:spPr>
          <a:xfrm flipH="1">
            <a:off x="6857365" y="2555875"/>
            <a:ext cx="2388235" cy="2388235"/>
          </a:xfrm>
          <a:prstGeom prst="arc">
            <a:avLst>
              <a:gd name="adj1" fmla="val 6490252"/>
              <a:gd name="adj2" fmla="val 14277454"/>
            </a:avLst>
          </a:prstGeom>
          <a:ln>
            <a:solidFill>
              <a:srgbClr val="FFFFFF"/>
            </a:solidFill>
            <a:prstDash val="dash"/>
            <a:headEnd type="none"/>
            <a:tailEnd type="triangle"/>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cxnSp>
        <p:nvCxnSpPr>
          <p:cNvPr id="6" name="直接连接符 5"/>
          <p:cNvCxnSpPr/>
          <p:nvPr/>
        </p:nvCxnSpPr>
        <p:spPr>
          <a:xfrm>
            <a:off x="4965700" y="2589530"/>
            <a:ext cx="1254125" cy="1266190"/>
          </a:xfrm>
          <a:prstGeom prst="line">
            <a:avLst/>
          </a:prstGeom>
          <a:ln>
            <a:solidFill>
              <a:srgbClr val="FFFFFF"/>
            </a:solidFill>
            <a:prstDash val="dash"/>
            <a:tailEnd type="triangle"/>
          </a:ln>
        </p:spPr>
        <p:style>
          <a:lnRef idx="2">
            <a:srgbClr val="0042FF"/>
          </a:lnRef>
          <a:fillRef idx="0">
            <a:srgbClr val="FFFFFF"/>
          </a:fillRef>
          <a:effectRef idx="0">
            <a:srgbClr val="FFFFFF"/>
          </a:effectRef>
          <a:fontRef idx="minor">
            <a:srgbClr val="383838"/>
          </a:fontRef>
        </p:style>
      </p:cxnSp>
      <p:cxnSp>
        <p:nvCxnSpPr>
          <p:cNvPr id="7" name="直接连接符 6"/>
          <p:cNvCxnSpPr/>
          <p:nvPr/>
        </p:nvCxnSpPr>
        <p:spPr>
          <a:xfrm flipV="1">
            <a:off x="4855845" y="4118610"/>
            <a:ext cx="871855" cy="793115"/>
          </a:xfrm>
          <a:prstGeom prst="line">
            <a:avLst/>
          </a:prstGeom>
          <a:ln>
            <a:solidFill>
              <a:srgbClr val="FFFFFF"/>
            </a:solidFill>
            <a:prstDash val="dash"/>
            <a:headEnd type="triangle"/>
            <a:tailEnd type="none"/>
          </a:ln>
        </p:spPr>
        <p:style>
          <a:lnRef idx="2">
            <a:srgbClr val="0042FF"/>
          </a:lnRef>
          <a:fillRef idx="0">
            <a:srgbClr val="FFFFFF"/>
          </a:fillRef>
          <a:effectRef idx="0">
            <a:srgbClr val="FFFFFF"/>
          </a:effectRef>
          <a:fontRef idx="minor">
            <a:srgbClr val="383838"/>
          </a:fontRef>
        </p:style>
      </p:cxnSp>
      <p:cxnSp>
        <p:nvCxnSpPr>
          <p:cNvPr id="8" name="直接连接符 7"/>
          <p:cNvCxnSpPr/>
          <p:nvPr/>
        </p:nvCxnSpPr>
        <p:spPr>
          <a:xfrm flipV="1">
            <a:off x="6595110" y="2710815"/>
            <a:ext cx="598805" cy="598805"/>
          </a:xfrm>
          <a:prstGeom prst="line">
            <a:avLst/>
          </a:prstGeom>
          <a:ln>
            <a:solidFill>
              <a:srgbClr val="FFFFFF"/>
            </a:solidFill>
            <a:prstDash val="dash"/>
            <a:headEnd type="triangle"/>
            <a:tailEnd type="none"/>
          </a:ln>
        </p:spPr>
        <p:style>
          <a:lnRef idx="2">
            <a:srgbClr val="0042FF"/>
          </a:lnRef>
          <a:fillRef idx="0">
            <a:srgbClr val="FFFFFF"/>
          </a:fillRef>
          <a:effectRef idx="0">
            <a:srgbClr val="FFFFFF"/>
          </a:effectRef>
          <a:fontRef idx="minor">
            <a:srgbClr val="383838"/>
          </a:fontRef>
        </p:style>
      </p:cxnSp>
      <p:cxnSp>
        <p:nvCxnSpPr>
          <p:cNvPr id="11" name="直接连接符 10"/>
          <p:cNvCxnSpPr/>
          <p:nvPr/>
        </p:nvCxnSpPr>
        <p:spPr>
          <a:xfrm>
            <a:off x="6423025" y="4083050"/>
            <a:ext cx="911860" cy="883920"/>
          </a:xfrm>
          <a:prstGeom prst="line">
            <a:avLst/>
          </a:prstGeom>
          <a:ln>
            <a:solidFill>
              <a:srgbClr val="FFFFFF"/>
            </a:solidFill>
            <a:prstDash val="dash"/>
            <a:tailEnd type="triangle"/>
          </a:ln>
        </p:spPr>
        <p:style>
          <a:lnRef idx="2">
            <a:srgbClr val="0042FF"/>
          </a:lnRef>
          <a:fillRef idx="0">
            <a:srgbClr val="FFFFFF"/>
          </a:fillRef>
          <a:effectRef idx="0">
            <a:srgbClr val="FFFFFF"/>
          </a:effectRef>
          <a:fontRef idx="minor">
            <a:srgbClr val="383838"/>
          </a:fontRef>
        </p:style>
      </p:cxn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2" name="组合 1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9"/>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工作汇报</a:t>
            </a:r>
            <a:r>
              <a:rPr lang="en-US" altLang="zh-CN" sz="2500" dirty="0">
                <a:solidFill>
                  <a:srgbClr val="383838"/>
                </a:solidFill>
                <a:effectLst/>
                <a:latin typeface="微软雅黑"/>
                <a:ea typeface="微软雅黑"/>
                <a:cs typeface="微软雅黑"/>
              </a:rPr>
              <a:t>/</a:t>
            </a:r>
            <a:r>
              <a:rPr lang="zh-CN" altLang="en-US" sz="2500" dirty="0">
                <a:solidFill>
                  <a:srgbClr val="383838"/>
                </a:solidFill>
                <a:effectLst/>
                <a:latin typeface="微软雅黑"/>
                <a:ea typeface="微软雅黑"/>
                <a:cs typeface="微软雅黑"/>
              </a:rPr>
              <a:t>项目实施步骤</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6" name="©天蝎PPT13-2" descr="preencoded.png"/>
          <p:cNvSpPr/>
          <p:nvPr>
            <p:custDataLst>
              <p:tags r:id="rId3"/>
            </p:custDataLst>
          </p:nvPr>
        </p:nvSpPr>
        <p:spPr>
          <a:xfrm>
            <a:off x="1864995" y="1361440"/>
            <a:ext cx="4556125" cy="4924425"/>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0">
                <a:srgbClr val="B3D4FE">
                  <a:alpha val="0"/>
                </a:srgbClr>
              </a:gs>
              <a:gs pos="100000">
                <a:srgbClr val="B3D4FE">
                  <a:alpha val="60000"/>
                </a:srgbClr>
              </a:gs>
            </a:gsLst>
            <a:lin ang="0" scaled="0"/>
          </a:gradFill>
          <a:ln w="19050" cap="flat">
            <a:noFill/>
            <a:prstDash val="solid"/>
            <a:miter/>
          </a:ln>
        </p:spPr>
        <p:txBody>
          <a:bodyPr rtlCol="0" anchor="ctr"/>
          <a:lstStyle/>
          <a:p>
            <a:pPr defTabSz="731520">
              <a:defRPr>
                <a:latin typeface="微软雅黑"/>
                <a:ea typeface="微软雅黑"/>
                <a:cs typeface="微软雅黑"/>
              </a:defRPr>
            </a:pPr>
            <a:endParaRPr lang="zh-CN" altLang="en-US" sz="1440">
              <a:solidFill>
                <a:prstClr val="black"/>
              </a:solidFill>
              <a:latin typeface="微软雅黑"/>
              <a:ea typeface="微软雅黑"/>
              <a:cs typeface="微软雅黑"/>
              <a:sym typeface="微软雅黑"/>
            </a:endParaRPr>
          </a:p>
        </p:txBody>
      </p:sp>
      <p:sp>
        <p:nvSpPr>
          <p:cNvPr id="37" name="©天蝎PPT13-1" descr="preencoded.png"/>
          <p:cNvSpPr/>
          <p:nvPr>
            <p:custDataLst>
              <p:tags r:id="rId4"/>
            </p:custDataLst>
          </p:nvPr>
        </p:nvSpPr>
        <p:spPr>
          <a:xfrm flipH="1">
            <a:off x="6106795" y="1361440"/>
            <a:ext cx="4260850" cy="4924425"/>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1" fmla="*/ 16842176 w 16842176"/>
              <a:gd name="connsiteY0-2" fmla="*/ 4432249 h 6648369"/>
              <a:gd name="connsiteX1-3" fmla="*/ 16842176 w 16842176"/>
              <a:gd name="connsiteY1-4" fmla="*/ 2216120 h 6648369"/>
              <a:gd name="connsiteX2-5" fmla="*/ 0 w 16842176"/>
              <a:gd name="connsiteY2-6" fmla="*/ 0 h 6648369"/>
              <a:gd name="connsiteX3-7" fmla="*/ 0 w 16842176"/>
              <a:gd name="connsiteY3-8" fmla="*/ 6648369 h 6648369"/>
              <a:gd name="connsiteX4-9" fmla="*/ 16842176 w 16842176"/>
              <a:gd name="connsiteY4-10" fmla="*/ 4432249 h 6648369"/>
              <a:gd name="connsiteX0-11" fmla="*/ 16842176 w 16842176"/>
              <a:gd name="connsiteY0-12" fmla="*/ 4432249 h 6648369"/>
              <a:gd name="connsiteX1-13" fmla="*/ 16842176 w 16842176"/>
              <a:gd name="connsiteY1-14" fmla="*/ 2216120 h 6648369"/>
              <a:gd name="connsiteX2-15" fmla="*/ 0 w 16842176"/>
              <a:gd name="connsiteY2-16" fmla="*/ 0 h 6648369"/>
              <a:gd name="connsiteX3-17" fmla="*/ 0 w 16842176"/>
              <a:gd name="connsiteY3-18" fmla="*/ 6648369 h 6648369"/>
              <a:gd name="connsiteX4-19" fmla="*/ 16842176 w 16842176"/>
              <a:gd name="connsiteY4-20" fmla="*/ 4432249 h 66483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0">
                <a:srgbClr val="B3D4FE">
                  <a:alpha val="0"/>
                </a:srgbClr>
              </a:gs>
              <a:gs pos="100000">
                <a:srgbClr val="B3D4FE">
                  <a:alpha val="60000"/>
                </a:srgbClr>
              </a:gs>
            </a:gsLst>
            <a:lin ang="0" scaled="0"/>
          </a:gradFill>
          <a:ln w="19050" cap="flat">
            <a:noFill/>
            <a:prstDash val="solid"/>
            <a:miter/>
          </a:ln>
        </p:spPr>
        <p:txBody>
          <a:bodyPr rtlCol="0" anchor="ctr">
            <a:noAutofit/>
          </a:bodyPr>
          <a:lstStyle/>
          <a:p>
            <a:pPr lvl="0" algn="l" defTabSz="731520">
              <a:buClrTx/>
              <a:buSzTx/>
              <a:buFontTx/>
              <a:defRPr>
                <a:latin typeface="微软雅黑"/>
                <a:ea typeface="微软雅黑"/>
                <a:cs typeface="微软雅黑"/>
              </a:defRPr>
            </a:pPr>
            <a:endParaRPr lang="zh-CN" altLang="en-US" sz="1440">
              <a:solidFill>
                <a:prstClr val="black"/>
              </a:solidFill>
              <a:latin typeface="微软雅黑"/>
              <a:ea typeface="微软雅黑"/>
              <a:cs typeface="微软雅黑"/>
              <a:sym typeface="微软雅黑"/>
            </a:endParaRPr>
          </a:p>
        </p:txBody>
      </p:sp>
      <p:sp>
        <p:nvSpPr>
          <p:cNvPr id="38" name="©天蝎PPT13-3"/>
          <p:cNvSpPr/>
          <p:nvPr>
            <p:custDataLst>
              <p:tags r:id="rId5"/>
            </p:custDataLst>
          </p:nvPr>
        </p:nvSpPr>
        <p:spPr>
          <a:xfrm rot="3600000">
            <a:off x="3760470" y="1176655"/>
            <a:ext cx="4890135" cy="4890135"/>
          </a:xfrm>
          <a:prstGeom prst="pie">
            <a:avLst>
              <a:gd name="adj1" fmla="val 10778284"/>
              <a:gd name="adj2" fmla="val 14378552"/>
            </a:avLst>
          </a:prstGeom>
          <a:solidFill>
            <a:srgbClr val="FFFFFF"/>
          </a:solidFill>
          <a:ln w="9525">
            <a:noFill/>
          </a:ln>
          <a:effectLst>
            <a:outerShdw blurRad="368300" dist="203200" dir="5400000" sx="98000" sy="98000" algn="t" rotWithShape="0">
              <a:srgbClr val="B3D4FE">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39" name="©天蝎PPT13-4"/>
          <p:cNvSpPr/>
          <p:nvPr>
            <p:custDataLst>
              <p:tags r:id="rId6"/>
            </p:custDataLst>
          </p:nvPr>
        </p:nvSpPr>
        <p:spPr>
          <a:xfrm rot="7200000">
            <a:off x="3850005" y="1219200"/>
            <a:ext cx="4890135" cy="4890135"/>
          </a:xfrm>
          <a:prstGeom prst="pie">
            <a:avLst>
              <a:gd name="adj1" fmla="val 10778284"/>
              <a:gd name="adj2" fmla="val 14378552"/>
            </a:avLst>
          </a:prstGeom>
          <a:solidFill>
            <a:srgbClr val="FFFFFF"/>
          </a:solidFill>
          <a:ln w="9525">
            <a:noFill/>
          </a:ln>
          <a:effectLst>
            <a:outerShdw blurRad="368300" dist="203200" dir="5400000" sx="98000" sy="98000" algn="t" rotWithShape="0">
              <a:srgbClr val="B3D4FE">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0" name="©天蝎PPT13-5"/>
          <p:cNvSpPr/>
          <p:nvPr>
            <p:custDataLst>
              <p:tags r:id="rId7"/>
            </p:custDataLst>
          </p:nvPr>
        </p:nvSpPr>
        <p:spPr>
          <a:xfrm rot="14400000">
            <a:off x="3764280" y="1364615"/>
            <a:ext cx="4890135" cy="4890135"/>
          </a:xfrm>
          <a:prstGeom prst="pie">
            <a:avLst>
              <a:gd name="adj1" fmla="val 10778284"/>
              <a:gd name="adj2" fmla="val 14378552"/>
            </a:avLst>
          </a:prstGeom>
          <a:solidFill>
            <a:srgbClr val="FFFFFF"/>
          </a:solidFill>
          <a:ln w="9525">
            <a:noFill/>
          </a:ln>
          <a:effectLst>
            <a:outerShdw blurRad="368300" dist="203200" dir="5400000" sx="98000" sy="98000" algn="t" rotWithShape="0">
              <a:srgbClr val="B3D4FE">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1" name="©天蝎PPT13-6"/>
          <p:cNvSpPr/>
          <p:nvPr>
            <p:custDataLst>
              <p:tags r:id="rId8"/>
            </p:custDataLst>
          </p:nvPr>
        </p:nvSpPr>
        <p:spPr>
          <a:xfrm rot="18000000">
            <a:off x="3676650" y="1314450"/>
            <a:ext cx="4890135" cy="4890135"/>
          </a:xfrm>
          <a:prstGeom prst="pie">
            <a:avLst>
              <a:gd name="adj1" fmla="val 10778284"/>
              <a:gd name="adj2" fmla="val 14378552"/>
            </a:avLst>
          </a:prstGeom>
          <a:solidFill>
            <a:srgbClr val="FFFFFF"/>
          </a:solidFill>
          <a:ln w="9525">
            <a:noFill/>
          </a:ln>
          <a:effectLst>
            <a:outerShdw blurRad="368300" dist="203200" dir="5400000" sx="98000" sy="98000" algn="t" rotWithShape="0">
              <a:srgbClr val="B3D4FE">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68" name="©天蝎PPT13-9"/>
          <p:cNvSpPr/>
          <p:nvPr>
            <p:custDataLst>
              <p:tags r:id="rId9"/>
            </p:custDataLst>
          </p:nvPr>
        </p:nvSpPr>
        <p:spPr>
          <a:xfrm rot="14400000">
            <a:off x="3682867" y="1234711"/>
            <a:ext cx="4922378" cy="4922378"/>
          </a:xfrm>
          <a:prstGeom prst="arc">
            <a:avLst>
              <a:gd name="adj1" fmla="val 18009186"/>
              <a:gd name="adj2" fmla="val 0"/>
            </a:avLst>
          </a:prstGeom>
          <a:ln w="25400">
            <a:gradFill>
              <a:gsLst>
                <a:gs pos="1000">
                  <a:srgbClr val="FFFFFF"/>
                </a:gs>
                <a:gs pos="99000">
                  <a:srgbClr val="B3D4FE"/>
                </a:gs>
              </a:gsLst>
              <a:lin ang="5400000" scaled="0"/>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69" name="©天蝎PPT13-10"/>
          <p:cNvSpPr/>
          <p:nvPr>
            <p:custDataLst>
              <p:tags r:id="rId10"/>
            </p:custDataLst>
          </p:nvPr>
        </p:nvSpPr>
        <p:spPr>
          <a:xfrm rot="18000000">
            <a:off x="3727832" y="1167149"/>
            <a:ext cx="4922378" cy="4922378"/>
          </a:xfrm>
          <a:prstGeom prst="arc">
            <a:avLst>
              <a:gd name="adj1" fmla="val 18009186"/>
              <a:gd name="adj2" fmla="val 0"/>
            </a:avLst>
          </a:prstGeom>
          <a:ln w="25400">
            <a:gradFill>
              <a:gsLst>
                <a:gs pos="1000">
                  <a:srgbClr val="FFFFFF"/>
                </a:gs>
                <a:gs pos="99000">
                  <a:srgbClr val="B3D4FE"/>
                </a:gs>
              </a:gsLst>
              <a:lin ang="5400000" scaled="0"/>
            </a:gradFill>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83" name="©天蝎PPT13-7"/>
          <p:cNvSpPr/>
          <p:nvPr>
            <p:custDataLst>
              <p:tags r:id="rId11"/>
            </p:custDataLst>
          </p:nvPr>
        </p:nvSpPr>
        <p:spPr>
          <a:xfrm rot="3600000">
            <a:off x="3814639" y="1269327"/>
            <a:ext cx="4922378" cy="4922378"/>
          </a:xfrm>
          <a:prstGeom prst="arc">
            <a:avLst>
              <a:gd name="adj1" fmla="val 18052624"/>
              <a:gd name="adj2" fmla="val 0"/>
            </a:avLst>
          </a:prstGeom>
          <a:ln w="25400">
            <a:gradFill>
              <a:gsLst>
                <a:gs pos="1000">
                  <a:srgbClr val="FFFFFF"/>
                </a:gs>
                <a:gs pos="99000">
                  <a:srgbClr val="B3D4FE"/>
                </a:gs>
              </a:gsLst>
              <a:lin ang="5400000" scaled="0"/>
            </a:gradFill>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96" name="©天蝎PPT13-8"/>
          <p:cNvSpPr/>
          <p:nvPr>
            <p:custDataLst>
              <p:tags r:id="rId12"/>
            </p:custDataLst>
          </p:nvPr>
        </p:nvSpPr>
        <p:spPr>
          <a:xfrm rot="7200000">
            <a:off x="3771095" y="1342482"/>
            <a:ext cx="4922378" cy="4922378"/>
          </a:xfrm>
          <a:prstGeom prst="arc">
            <a:avLst>
              <a:gd name="adj1" fmla="val 18009186"/>
              <a:gd name="adj2" fmla="val 0"/>
            </a:avLst>
          </a:prstGeom>
          <a:ln w="25400">
            <a:gradFill>
              <a:gsLst>
                <a:gs pos="1000">
                  <a:srgbClr val="FFFFFF"/>
                </a:gs>
                <a:gs pos="99000">
                  <a:srgbClr val="B3D4FE"/>
                </a:gs>
              </a:gsLst>
              <a:lin ang="5400000" scaled="0"/>
            </a:gradFill>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175" name="©天蝎PPT14"/>
          <p:cNvSpPr/>
          <p:nvPr>
            <p:custDataLst>
              <p:tags r:id="rId13"/>
            </p:custDataLst>
          </p:nvPr>
        </p:nvSpPr>
        <p:spPr>
          <a:xfrm>
            <a:off x="378071" y="1672272"/>
            <a:ext cx="2433024" cy="4488942"/>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76" name="©天蝎PPT14"/>
          <p:cNvSpPr/>
          <p:nvPr>
            <p:custDataLst>
              <p:tags r:id="rId14"/>
            </p:custDataLst>
          </p:nvPr>
        </p:nvSpPr>
        <p:spPr>
          <a:xfrm>
            <a:off x="379976" y="1694497"/>
            <a:ext cx="2433024" cy="4488942"/>
          </a:xfrm>
          <a:prstGeom prst="rect">
            <a:avLst/>
          </a:prstGeom>
          <a:solidFill>
            <a:srgbClr val="E6E6E6">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77" name="©天蝎PPT15"/>
          <p:cNvSpPr/>
          <p:nvPr/>
        </p:nvSpPr>
        <p:spPr>
          <a:xfrm>
            <a:off x="379975" y="1214867"/>
            <a:ext cx="2431389" cy="668733"/>
          </a:xfrm>
          <a:prstGeom prst="round2SameRect">
            <a:avLst>
              <a:gd name="adj1" fmla="val 15541"/>
              <a:gd name="adj2" fmla="val 0"/>
            </a:avLst>
          </a:prstGeom>
          <a:gradFill flip="none" rotWithShape="1">
            <a:gsLst>
              <a:gs pos="2900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78" name="©天蝎PPT16"/>
          <p:cNvSpPr txBox="1"/>
          <p:nvPr/>
        </p:nvSpPr>
        <p:spPr>
          <a:xfrm>
            <a:off x="523825" y="1518812"/>
            <a:ext cx="1530536" cy="275590"/>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具体任务计划</a:t>
            </a:r>
            <a:endParaRPr lang="zh-CN" altLang="en-US" sz="1200" b="1" dirty="0">
              <a:solidFill>
                <a:srgbClr val="FFFFFF"/>
              </a:solidFill>
              <a:latin typeface="微软雅黑"/>
              <a:ea typeface="微软雅黑"/>
              <a:cs typeface="微软雅黑"/>
              <a:sym typeface="微软雅黑"/>
            </a:endParaRPr>
          </a:p>
        </p:txBody>
      </p:sp>
      <p:sp>
        <p:nvSpPr>
          <p:cNvPr id="179" name="©天蝎PPT17"/>
          <p:cNvSpPr txBox="1"/>
          <p:nvPr/>
        </p:nvSpPr>
        <p:spPr>
          <a:xfrm>
            <a:off x="523824" y="1301098"/>
            <a:ext cx="2220434" cy="276999"/>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en-US" altLang="zh-CN" sz="1200">
                <a:solidFill>
                  <a:srgbClr val="FFFFFF"/>
                </a:solidFill>
                <a:latin typeface="微软雅黑"/>
                <a:ea typeface="微软雅黑"/>
                <a:cs typeface="微软雅黑"/>
                <a:sym typeface="微软雅黑"/>
              </a:rPr>
              <a:t>CUSTOMER SEGMENT</a:t>
            </a:r>
            <a:endParaRPr lang="en-US" altLang="zh-CN" sz="1200" dirty="0">
              <a:solidFill>
                <a:srgbClr val="FFFFFF"/>
              </a:solidFill>
              <a:latin typeface="微软雅黑"/>
              <a:ea typeface="微软雅黑"/>
              <a:cs typeface="微软雅黑"/>
              <a:sym typeface="微软雅黑"/>
            </a:endParaRPr>
          </a:p>
        </p:txBody>
      </p:sp>
      <p:sp>
        <p:nvSpPr>
          <p:cNvPr id="180" name="©天蝎PPT18"/>
          <p:cNvSpPr/>
          <p:nvPr/>
        </p:nvSpPr>
        <p:spPr>
          <a:xfrm>
            <a:off x="1939188" y="1370670"/>
            <a:ext cx="755335" cy="707886"/>
          </a:xfrm>
          <a:prstGeom prst="rect">
            <a:avLst/>
          </a:prstGeom>
        </p:spPr>
        <p:txBody>
          <a:bodyPr wrap="none">
            <a:spAutoFit/>
          </a:bodyPr>
          <a:lstStyle/>
          <a:p>
            <a:pPr>
              <a:defRPr>
                <a:solidFill>
                  <a:srgbClr val="FFFFFF"/>
                </a:solidFill>
                <a:latin typeface="微软雅黑"/>
                <a:ea typeface="微软雅黑"/>
                <a:cs typeface="微软雅黑"/>
              </a:defRPr>
            </a:pPr>
            <a:r>
              <a:rPr kumimoji="1" lang="en-US" altLang="zh-CN" sz="4000" b="1" dirty="0">
                <a:solidFill>
                  <a:srgbClr val="FFFFFF"/>
                </a:solidFill>
                <a:gradFill>
                  <a:gsLst>
                    <a:gs pos="26000">
                      <a:srgbClr val="FFFFFF">
                        <a:alpha val="0"/>
                      </a:srgbClr>
                    </a:gs>
                    <a:gs pos="99000">
                      <a:srgbClr val="FFFFFF">
                        <a:alpha val="20000"/>
                      </a:srgbClr>
                    </a:gs>
                  </a:gsLst>
                  <a:lin ang="16200000" scaled="0"/>
                </a:gradFill>
                <a:latin typeface="微软雅黑"/>
                <a:ea typeface="微软雅黑"/>
                <a:cs typeface="微软雅黑"/>
                <a:sym typeface="微软雅黑"/>
              </a:rPr>
              <a:t>02</a:t>
            </a:r>
            <a:endParaRPr kumimoji="1" lang="en-US" altLang="zh-CN" sz="4000" b="1" dirty="0">
              <a:solidFill>
                <a:srgbClr val="FFFFFF"/>
              </a:solidFill>
              <a:gradFill>
                <a:gsLst>
                  <a:gs pos="26000">
                    <a:srgbClr val="FFFFFF">
                      <a:alpha val="0"/>
                    </a:srgbClr>
                  </a:gs>
                  <a:gs pos="99000">
                    <a:srgbClr val="FFFFFF">
                      <a:alpha val="20000"/>
                    </a:srgbClr>
                  </a:gs>
                </a:gsLst>
                <a:lin ang="16200000" scaled="0"/>
              </a:gradFill>
              <a:latin typeface="微软雅黑"/>
              <a:ea typeface="微软雅黑"/>
              <a:cs typeface="微软雅黑"/>
              <a:sym typeface="微软雅黑"/>
            </a:endParaRPr>
          </a:p>
        </p:txBody>
      </p:sp>
      <p:cxnSp>
        <p:nvCxnSpPr>
          <p:cNvPr id="181" name="©天蝎PPT19"/>
          <p:cNvCxnSpPr/>
          <p:nvPr/>
        </p:nvCxnSpPr>
        <p:spPr>
          <a:xfrm>
            <a:off x="559835" y="3307227"/>
            <a:ext cx="2073307" cy="0"/>
          </a:xfrm>
          <a:prstGeom prst="line">
            <a:avLst/>
          </a:prstGeom>
          <a:noFill/>
          <a:ln w="6350" cap="flat" cmpd="sng" algn="ctr">
            <a:solidFill>
              <a:srgbClr val="383838"/>
            </a:solidFill>
            <a:prstDash val="solid"/>
            <a:miter lim="800000"/>
          </a:ln>
          <a:effectLst/>
        </p:spPr>
      </p:cxnSp>
      <p:cxnSp>
        <p:nvCxnSpPr>
          <p:cNvPr id="182" name="©天蝎PPT20"/>
          <p:cNvCxnSpPr/>
          <p:nvPr/>
        </p:nvCxnSpPr>
        <p:spPr>
          <a:xfrm>
            <a:off x="559835" y="4736999"/>
            <a:ext cx="2073307" cy="0"/>
          </a:xfrm>
          <a:prstGeom prst="line">
            <a:avLst/>
          </a:prstGeom>
          <a:noFill/>
          <a:ln w="6350" cap="flat" cmpd="sng" algn="ctr">
            <a:solidFill>
              <a:srgbClr val="383838"/>
            </a:solidFill>
            <a:prstDash val="solid"/>
            <a:miter lim="800000"/>
          </a:ln>
          <a:effectLst/>
        </p:spPr>
      </p:cxnSp>
      <p:sp>
        <p:nvSpPr>
          <p:cNvPr id="183" name="©天蝎PPT26"/>
          <p:cNvSpPr txBox="1"/>
          <p:nvPr>
            <p:custDataLst>
              <p:tags r:id="rId15"/>
            </p:custDataLst>
          </p:nvPr>
        </p:nvSpPr>
        <p:spPr>
          <a:xfrm>
            <a:off x="574637" y="2346674"/>
            <a:ext cx="2117559" cy="583878"/>
          </a:xfrm>
          <a:prstGeom prst="rect">
            <a:avLst/>
          </a:prstGeom>
          <a:noFill/>
        </p:spPr>
        <p:txBody>
          <a:bodyPr wrap="square" lIns="0" tIns="0" rIns="0" bIns="0" rtlCol="0">
            <a:spAutoFit/>
          </a:bodyPr>
          <a:lstStyle/>
          <a:p>
            <a:pPr rtl="0">
              <a:lnSpc>
                <a:spcPct val="13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根据项目计划，将具体任务分配给团队成员，并跟进任务的执行情况，确保项目输出符合要求。</a:t>
            </a:r>
            <a:endParaRPr lang="zh-CN" altLang="en-US" sz="1000" dirty="0">
              <a:solidFill>
                <a:srgbClr val="383838"/>
              </a:solidFill>
              <a:effectLst/>
              <a:latin typeface="微软雅黑"/>
              <a:ea typeface="微软雅黑"/>
              <a:cs typeface="微软雅黑"/>
              <a:sym typeface="微软雅黑"/>
            </a:endParaRPr>
          </a:p>
        </p:txBody>
      </p:sp>
      <p:sp>
        <p:nvSpPr>
          <p:cNvPr id="184" name="©天蝎PPT27"/>
          <p:cNvSpPr txBox="1"/>
          <p:nvPr>
            <p:custDataLst>
              <p:tags r:id="rId16"/>
            </p:custDataLst>
          </p:nvPr>
        </p:nvSpPr>
        <p:spPr>
          <a:xfrm>
            <a:off x="504251" y="2053403"/>
            <a:ext cx="1957677" cy="276999"/>
          </a:xfrm>
          <a:prstGeom prst="rect">
            <a:avLst/>
          </a:prstGeom>
          <a:noFill/>
        </p:spPr>
        <p:txBody>
          <a:bodyPr wrap="square">
            <a:spAutoFit/>
          </a:bodyPr>
          <a:lstStyle/>
          <a:p>
            <a:pPr rtl="0">
              <a:defRPr>
                <a:latin typeface="微软雅黑"/>
                <a:ea typeface="微软雅黑"/>
                <a:cs typeface="微软雅黑"/>
              </a:defRPr>
            </a:pPr>
            <a:r>
              <a:rPr lang="zh-CN" altLang="en-US" sz="1200" b="1" dirty="0">
                <a:solidFill>
                  <a:srgbClr val="0042FF"/>
                </a:solidFill>
                <a:effectLst/>
                <a:latin typeface="微软雅黑"/>
                <a:ea typeface="微软雅黑"/>
                <a:cs typeface="微软雅黑"/>
                <a:sym typeface="微软雅黑"/>
              </a:rPr>
              <a:t>项目实施与监控</a:t>
            </a:r>
            <a:endParaRPr lang="zh-CN" altLang="en-US" sz="1200" b="1" dirty="0">
              <a:solidFill>
                <a:srgbClr val="0042FF"/>
              </a:solidFill>
              <a:effectLst/>
              <a:latin typeface="微软雅黑"/>
              <a:ea typeface="微软雅黑"/>
              <a:cs typeface="微软雅黑"/>
              <a:sym typeface="微软雅黑"/>
            </a:endParaRPr>
          </a:p>
        </p:txBody>
      </p:sp>
      <p:sp>
        <p:nvSpPr>
          <p:cNvPr id="185" name="©天蝎PPT28"/>
          <p:cNvSpPr txBox="1"/>
          <p:nvPr>
            <p:custDataLst>
              <p:tags r:id="rId17"/>
            </p:custDataLst>
          </p:nvPr>
        </p:nvSpPr>
        <p:spPr>
          <a:xfrm>
            <a:off x="504251" y="3541432"/>
            <a:ext cx="1957677" cy="276999"/>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项目变更管理</a:t>
            </a:r>
            <a:endParaRPr lang="zh-CN" altLang="en-US" sz="1200" b="1" dirty="0">
              <a:solidFill>
                <a:srgbClr val="0042FF"/>
              </a:solidFill>
              <a:latin typeface="微软雅黑"/>
              <a:ea typeface="微软雅黑"/>
              <a:cs typeface="微软雅黑"/>
              <a:sym typeface="微软雅黑"/>
            </a:endParaRPr>
          </a:p>
        </p:txBody>
      </p:sp>
      <p:sp>
        <p:nvSpPr>
          <p:cNvPr id="186" name="©天蝎PPT29"/>
          <p:cNvSpPr txBox="1"/>
          <p:nvPr>
            <p:custDataLst>
              <p:tags r:id="rId18"/>
            </p:custDataLst>
          </p:nvPr>
        </p:nvSpPr>
        <p:spPr>
          <a:xfrm>
            <a:off x="574637" y="3830138"/>
            <a:ext cx="2117559" cy="583878"/>
          </a:xfrm>
          <a:prstGeom prst="rect">
            <a:avLst/>
          </a:prstGeom>
          <a:noFill/>
        </p:spPr>
        <p:txBody>
          <a:bodyPr wrap="square" lIns="0" tIns="0" rIns="0" bIns="0" rtlCol="0">
            <a:spAutoFit/>
          </a:bodyPr>
          <a:lstStyle/>
          <a:p>
            <a:pPr rtl="0">
              <a:lnSpc>
                <a:spcPct val="13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在项目执行过程中，及时识别并记录变更需求，分析变更对项目范围、时间、成本等方面的影响。</a:t>
            </a:r>
            <a:endParaRPr lang="zh-CN" altLang="en-US" sz="1000" dirty="0">
              <a:solidFill>
                <a:srgbClr val="383838"/>
              </a:solidFill>
              <a:effectLst/>
              <a:latin typeface="微软雅黑"/>
              <a:ea typeface="微软雅黑"/>
              <a:cs typeface="微软雅黑"/>
              <a:sym typeface="微软雅黑"/>
            </a:endParaRPr>
          </a:p>
        </p:txBody>
      </p:sp>
      <p:sp>
        <p:nvSpPr>
          <p:cNvPr id="187" name="©天蝎PPT30"/>
          <p:cNvSpPr txBox="1"/>
          <p:nvPr>
            <p:custDataLst>
              <p:tags r:id="rId19"/>
            </p:custDataLst>
          </p:nvPr>
        </p:nvSpPr>
        <p:spPr>
          <a:xfrm>
            <a:off x="504251" y="4916229"/>
            <a:ext cx="1957677" cy="276999"/>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项目收尾与总结</a:t>
            </a:r>
            <a:endParaRPr lang="zh-CN" altLang="en-US" sz="1200" b="1" dirty="0">
              <a:solidFill>
                <a:srgbClr val="0042FF"/>
              </a:solidFill>
              <a:latin typeface="微软雅黑"/>
              <a:ea typeface="微软雅黑"/>
              <a:cs typeface="微软雅黑"/>
              <a:sym typeface="微软雅黑"/>
            </a:endParaRPr>
          </a:p>
        </p:txBody>
      </p:sp>
      <p:sp>
        <p:nvSpPr>
          <p:cNvPr id="188" name="©天蝎PPT31"/>
          <p:cNvSpPr txBox="1"/>
          <p:nvPr>
            <p:custDataLst>
              <p:tags r:id="rId20"/>
            </p:custDataLst>
          </p:nvPr>
        </p:nvSpPr>
        <p:spPr>
          <a:xfrm>
            <a:off x="574637" y="5204935"/>
            <a:ext cx="2117559" cy="583878"/>
          </a:xfrm>
          <a:prstGeom prst="rect">
            <a:avLst/>
          </a:prstGeom>
          <a:noFill/>
        </p:spPr>
        <p:txBody>
          <a:bodyPr wrap="square" lIns="0" tIns="0" rIns="0" bIns="0" rtlCol="0">
            <a:spAutoFit/>
          </a:bodyPr>
          <a:lstStyle/>
          <a:p>
            <a:pPr rtl="0">
              <a:lnSpc>
                <a:spcPct val="13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确保项目成果符合合同规定的质量和标准，并得到客户的正式验收，整理和归档所有项目文档。</a:t>
            </a:r>
            <a:endParaRPr lang="zh-CN" altLang="en-US" sz="1000" dirty="0">
              <a:solidFill>
                <a:srgbClr val="383838"/>
              </a:solidFill>
              <a:effectLst/>
              <a:latin typeface="微软雅黑"/>
              <a:ea typeface="微软雅黑"/>
              <a:cs typeface="微软雅黑"/>
              <a:sym typeface="微软雅黑"/>
            </a:endParaRPr>
          </a:p>
        </p:txBody>
      </p:sp>
      <p:sp>
        <p:nvSpPr>
          <p:cNvPr id="189" name="©天蝎PPT14"/>
          <p:cNvSpPr/>
          <p:nvPr>
            <p:custDataLst>
              <p:tags r:id="rId21"/>
            </p:custDataLst>
          </p:nvPr>
        </p:nvSpPr>
        <p:spPr>
          <a:xfrm>
            <a:off x="9369036" y="1672272"/>
            <a:ext cx="2433024" cy="4488942"/>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90" name="©天蝎PPT14"/>
          <p:cNvSpPr/>
          <p:nvPr>
            <p:custDataLst>
              <p:tags r:id="rId22"/>
            </p:custDataLst>
          </p:nvPr>
        </p:nvSpPr>
        <p:spPr>
          <a:xfrm>
            <a:off x="9370941" y="1694497"/>
            <a:ext cx="2433024" cy="4488942"/>
          </a:xfrm>
          <a:prstGeom prst="rect">
            <a:avLst/>
          </a:prstGeom>
          <a:solidFill>
            <a:srgbClr val="E6E6E6">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91" name="©天蝎PPT15"/>
          <p:cNvSpPr/>
          <p:nvPr/>
        </p:nvSpPr>
        <p:spPr>
          <a:xfrm>
            <a:off x="9370940" y="1214867"/>
            <a:ext cx="2431389" cy="668733"/>
          </a:xfrm>
          <a:prstGeom prst="round2SameRect">
            <a:avLst>
              <a:gd name="adj1" fmla="val 15541"/>
              <a:gd name="adj2" fmla="val 0"/>
            </a:avLst>
          </a:prstGeom>
          <a:gradFill flip="none" rotWithShape="1">
            <a:gsLst>
              <a:gs pos="2900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92" name="©天蝎PPT16"/>
          <p:cNvSpPr txBox="1"/>
          <p:nvPr/>
        </p:nvSpPr>
        <p:spPr>
          <a:xfrm>
            <a:off x="9514790" y="1518812"/>
            <a:ext cx="1530536" cy="275590"/>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具体任务计划</a:t>
            </a:r>
            <a:endParaRPr lang="zh-CN" altLang="en-US" sz="1200" b="1" dirty="0">
              <a:solidFill>
                <a:srgbClr val="FFFFFF"/>
              </a:solidFill>
              <a:latin typeface="微软雅黑"/>
              <a:ea typeface="微软雅黑"/>
              <a:cs typeface="微软雅黑"/>
              <a:sym typeface="微软雅黑"/>
            </a:endParaRPr>
          </a:p>
        </p:txBody>
      </p:sp>
      <p:sp>
        <p:nvSpPr>
          <p:cNvPr id="193" name="©天蝎PPT17"/>
          <p:cNvSpPr txBox="1"/>
          <p:nvPr/>
        </p:nvSpPr>
        <p:spPr>
          <a:xfrm>
            <a:off x="9514789" y="1301098"/>
            <a:ext cx="2220434" cy="276999"/>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en-US" altLang="zh-CN" sz="1200">
                <a:solidFill>
                  <a:srgbClr val="FFFFFF"/>
                </a:solidFill>
                <a:latin typeface="微软雅黑"/>
                <a:ea typeface="微软雅黑"/>
                <a:cs typeface="微软雅黑"/>
                <a:sym typeface="微软雅黑"/>
              </a:rPr>
              <a:t>CUSTOMER SEGMENT</a:t>
            </a:r>
            <a:endParaRPr lang="en-US" altLang="zh-CN" sz="1200" dirty="0">
              <a:solidFill>
                <a:srgbClr val="FFFFFF"/>
              </a:solidFill>
              <a:latin typeface="微软雅黑"/>
              <a:ea typeface="微软雅黑"/>
              <a:cs typeface="微软雅黑"/>
              <a:sym typeface="微软雅黑"/>
            </a:endParaRPr>
          </a:p>
        </p:txBody>
      </p:sp>
      <p:sp>
        <p:nvSpPr>
          <p:cNvPr id="194" name="©天蝎PPT18"/>
          <p:cNvSpPr/>
          <p:nvPr/>
        </p:nvSpPr>
        <p:spPr>
          <a:xfrm>
            <a:off x="10930153" y="1370670"/>
            <a:ext cx="808990" cy="706755"/>
          </a:xfrm>
          <a:prstGeom prst="rect">
            <a:avLst/>
          </a:prstGeom>
        </p:spPr>
        <p:txBody>
          <a:bodyPr wrap="none">
            <a:spAutoFit/>
          </a:bodyPr>
          <a:lstStyle/>
          <a:p>
            <a:pPr>
              <a:defRPr>
                <a:solidFill>
                  <a:srgbClr val="FFFFFF"/>
                </a:solidFill>
                <a:latin typeface="微软雅黑"/>
                <a:ea typeface="微软雅黑"/>
                <a:cs typeface="微软雅黑"/>
              </a:defRPr>
            </a:pPr>
            <a:r>
              <a:rPr kumimoji="1" lang="en-US" altLang="zh-CN" sz="4000" b="1" dirty="0">
                <a:solidFill>
                  <a:srgbClr val="FFFFFF"/>
                </a:solidFill>
                <a:gradFill>
                  <a:gsLst>
                    <a:gs pos="26000">
                      <a:srgbClr val="FFFFFF">
                        <a:alpha val="0"/>
                      </a:srgbClr>
                    </a:gs>
                    <a:gs pos="99000">
                      <a:srgbClr val="FFFFFF">
                        <a:alpha val="20000"/>
                      </a:srgbClr>
                    </a:gs>
                  </a:gsLst>
                  <a:lin ang="16200000" scaled="0"/>
                </a:gradFill>
                <a:latin typeface="微软雅黑"/>
                <a:ea typeface="微软雅黑"/>
                <a:cs typeface="微软雅黑"/>
                <a:sym typeface="微软雅黑"/>
              </a:rPr>
              <a:t>01</a:t>
            </a:r>
            <a:endParaRPr kumimoji="1" lang="en-US" altLang="zh-CN" sz="4000" b="1" dirty="0">
              <a:solidFill>
                <a:srgbClr val="FFFFFF"/>
              </a:solidFill>
              <a:gradFill>
                <a:gsLst>
                  <a:gs pos="26000">
                    <a:srgbClr val="FFFFFF">
                      <a:alpha val="0"/>
                    </a:srgbClr>
                  </a:gs>
                  <a:gs pos="99000">
                    <a:srgbClr val="FFFFFF">
                      <a:alpha val="20000"/>
                    </a:srgbClr>
                  </a:gs>
                </a:gsLst>
                <a:lin ang="16200000" scaled="0"/>
              </a:gradFill>
              <a:latin typeface="微软雅黑"/>
              <a:ea typeface="微软雅黑"/>
              <a:cs typeface="微软雅黑"/>
              <a:sym typeface="微软雅黑"/>
            </a:endParaRPr>
          </a:p>
        </p:txBody>
      </p:sp>
      <p:cxnSp>
        <p:nvCxnSpPr>
          <p:cNvPr id="195" name="©天蝎PPT19"/>
          <p:cNvCxnSpPr/>
          <p:nvPr/>
        </p:nvCxnSpPr>
        <p:spPr>
          <a:xfrm>
            <a:off x="9550800" y="3307227"/>
            <a:ext cx="2073307" cy="0"/>
          </a:xfrm>
          <a:prstGeom prst="line">
            <a:avLst/>
          </a:prstGeom>
          <a:noFill/>
          <a:ln w="6350" cap="flat" cmpd="sng" algn="ctr">
            <a:solidFill>
              <a:srgbClr val="383838"/>
            </a:solidFill>
            <a:prstDash val="solid"/>
            <a:miter lim="800000"/>
          </a:ln>
          <a:effectLst/>
        </p:spPr>
      </p:cxnSp>
      <p:cxnSp>
        <p:nvCxnSpPr>
          <p:cNvPr id="196" name="©天蝎PPT20"/>
          <p:cNvCxnSpPr/>
          <p:nvPr/>
        </p:nvCxnSpPr>
        <p:spPr>
          <a:xfrm>
            <a:off x="9550800" y="4736999"/>
            <a:ext cx="2073307" cy="0"/>
          </a:xfrm>
          <a:prstGeom prst="line">
            <a:avLst/>
          </a:prstGeom>
          <a:noFill/>
          <a:ln w="6350" cap="flat" cmpd="sng" algn="ctr">
            <a:solidFill>
              <a:srgbClr val="383838"/>
            </a:solidFill>
            <a:prstDash val="solid"/>
            <a:miter lim="800000"/>
          </a:ln>
          <a:effectLst/>
        </p:spPr>
      </p:cxnSp>
      <p:sp>
        <p:nvSpPr>
          <p:cNvPr id="197" name="©天蝎PPT26"/>
          <p:cNvSpPr txBox="1"/>
          <p:nvPr>
            <p:custDataLst>
              <p:tags r:id="rId23"/>
            </p:custDataLst>
          </p:nvPr>
        </p:nvSpPr>
        <p:spPr>
          <a:xfrm>
            <a:off x="9565602" y="2346674"/>
            <a:ext cx="2117559" cy="600075"/>
          </a:xfrm>
          <a:prstGeom prst="rect">
            <a:avLst/>
          </a:prstGeom>
          <a:noFill/>
        </p:spPr>
        <p:txBody>
          <a:bodyPr wrap="square" lIns="0" tIns="0" rIns="0" bIns="0" rtlCol="0">
            <a:spAutoFit/>
          </a:bodyPr>
          <a:lstStyle/>
          <a:p>
            <a:pPr rtl="0">
              <a:lnSpc>
                <a:spcPct val="13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根据项目需求选拔团队成员，明确项目目标、</a:t>
            </a:r>
            <a:r>
              <a:rPr lang="zh-CN" altLang="en-US" sz="1000" dirty="0">
                <a:solidFill>
                  <a:srgbClr val="383838"/>
                </a:solidFill>
                <a:latin typeface="微软雅黑"/>
                <a:ea typeface="微软雅黑"/>
                <a:cs typeface="微软雅黑"/>
                <a:sym typeface="微软雅黑"/>
              </a:rPr>
              <a:t>组建</a:t>
            </a:r>
            <a:r>
              <a:rPr lang="zh-CN" altLang="en-US" sz="1000" dirty="0">
                <a:solidFill>
                  <a:srgbClr val="383838"/>
                </a:solidFill>
                <a:effectLst/>
                <a:latin typeface="微软雅黑"/>
                <a:ea typeface="微软雅黑"/>
                <a:cs typeface="微软雅黑"/>
                <a:sym typeface="微软雅黑"/>
              </a:rPr>
              <a:t>团队并召开启动会议，确保项目启动顺利。</a:t>
            </a:r>
            <a:endParaRPr lang="zh-CN" altLang="en-US" sz="1000" dirty="0">
              <a:solidFill>
                <a:srgbClr val="383838"/>
              </a:solidFill>
              <a:effectLst/>
              <a:latin typeface="微软雅黑"/>
              <a:ea typeface="微软雅黑"/>
              <a:cs typeface="微软雅黑"/>
              <a:sym typeface="微软雅黑"/>
            </a:endParaRPr>
          </a:p>
        </p:txBody>
      </p:sp>
      <p:sp>
        <p:nvSpPr>
          <p:cNvPr id="198" name="©天蝎PPT27"/>
          <p:cNvSpPr txBox="1"/>
          <p:nvPr>
            <p:custDataLst>
              <p:tags r:id="rId24"/>
            </p:custDataLst>
          </p:nvPr>
        </p:nvSpPr>
        <p:spPr>
          <a:xfrm>
            <a:off x="9495216" y="2053403"/>
            <a:ext cx="1957677" cy="275590"/>
          </a:xfrm>
          <a:prstGeom prst="rect">
            <a:avLst/>
          </a:prstGeom>
          <a:noFill/>
        </p:spPr>
        <p:txBody>
          <a:bodyPr wrap="square">
            <a:spAutoFit/>
          </a:bodyPr>
          <a:lstStyle/>
          <a:p>
            <a:pPr rtl="0">
              <a:defRPr>
                <a:latin typeface="微软雅黑"/>
                <a:ea typeface="微软雅黑"/>
                <a:cs typeface="微软雅黑"/>
              </a:defRPr>
            </a:pPr>
            <a:r>
              <a:rPr lang="zh-CN" altLang="en-US" sz="1200" b="1" dirty="0">
                <a:solidFill>
                  <a:srgbClr val="0042FF"/>
                </a:solidFill>
                <a:effectLst/>
                <a:latin typeface="微软雅黑"/>
                <a:ea typeface="微软雅黑"/>
                <a:cs typeface="微软雅黑"/>
                <a:sym typeface="微软雅黑"/>
              </a:rPr>
              <a:t>项目启动与准备</a:t>
            </a:r>
            <a:endParaRPr lang="zh-CN" altLang="en-US" sz="1200" b="1" dirty="0">
              <a:solidFill>
                <a:srgbClr val="0042FF"/>
              </a:solidFill>
              <a:effectLst/>
              <a:latin typeface="微软雅黑"/>
              <a:ea typeface="微软雅黑"/>
              <a:cs typeface="微软雅黑"/>
              <a:sym typeface="微软雅黑"/>
            </a:endParaRPr>
          </a:p>
        </p:txBody>
      </p:sp>
      <p:sp>
        <p:nvSpPr>
          <p:cNvPr id="199" name="©天蝎PPT28"/>
          <p:cNvSpPr txBox="1"/>
          <p:nvPr>
            <p:custDataLst>
              <p:tags r:id="rId25"/>
            </p:custDataLst>
          </p:nvPr>
        </p:nvSpPr>
        <p:spPr>
          <a:xfrm>
            <a:off x="9495216" y="3541432"/>
            <a:ext cx="1957677" cy="275590"/>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项目详细规划</a:t>
            </a:r>
            <a:endParaRPr lang="zh-CN" altLang="en-US" sz="1200" b="1" dirty="0">
              <a:solidFill>
                <a:srgbClr val="0042FF"/>
              </a:solidFill>
              <a:latin typeface="微软雅黑"/>
              <a:ea typeface="微软雅黑"/>
              <a:cs typeface="微软雅黑"/>
              <a:sym typeface="微软雅黑"/>
            </a:endParaRPr>
          </a:p>
        </p:txBody>
      </p:sp>
      <p:sp>
        <p:nvSpPr>
          <p:cNvPr id="200" name="©天蝎PPT29"/>
          <p:cNvSpPr txBox="1"/>
          <p:nvPr>
            <p:custDataLst>
              <p:tags r:id="rId26"/>
            </p:custDataLst>
          </p:nvPr>
        </p:nvSpPr>
        <p:spPr>
          <a:xfrm>
            <a:off x="9565602" y="3830138"/>
            <a:ext cx="2117559" cy="600075"/>
          </a:xfrm>
          <a:prstGeom prst="rect">
            <a:avLst/>
          </a:prstGeom>
          <a:noFill/>
        </p:spPr>
        <p:txBody>
          <a:bodyPr wrap="square" lIns="0" tIns="0" rIns="0" bIns="0" rtlCol="0">
            <a:spAutoFit/>
          </a:bodyPr>
          <a:lstStyle/>
          <a:p>
            <a:pPr rtl="0">
              <a:lnSpc>
                <a:spcPct val="13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明确项目的核心目标、预期成果以及所涉及的具体工作范围。规划阶段详细制定计划与方案。</a:t>
            </a:r>
            <a:endParaRPr lang="zh-CN" altLang="en-US" sz="1000" dirty="0">
              <a:solidFill>
                <a:srgbClr val="383838"/>
              </a:solidFill>
              <a:effectLst/>
              <a:latin typeface="微软雅黑"/>
              <a:ea typeface="微软雅黑"/>
              <a:cs typeface="微软雅黑"/>
              <a:sym typeface="微软雅黑"/>
            </a:endParaRPr>
          </a:p>
        </p:txBody>
      </p:sp>
      <p:sp>
        <p:nvSpPr>
          <p:cNvPr id="201" name="©天蝎PPT30"/>
          <p:cNvSpPr txBox="1"/>
          <p:nvPr>
            <p:custDataLst>
              <p:tags r:id="rId27"/>
            </p:custDataLst>
          </p:nvPr>
        </p:nvSpPr>
        <p:spPr>
          <a:xfrm>
            <a:off x="9495216" y="4916229"/>
            <a:ext cx="1957677" cy="275590"/>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资源调配与准备</a:t>
            </a:r>
            <a:endParaRPr lang="zh-CN" altLang="en-US" sz="1200" b="1" dirty="0">
              <a:solidFill>
                <a:srgbClr val="0042FF"/>
              </a:solidFill>
              <a:latin typeface="微软雅黑"/>
              <a:ea typeface="微软雅黑"/>
              <a:cs typeface="微软雅黑"/>
              <a:sym typeface="微软雅黑"/>
            </a:endParaRPr>
          </a:p>
        </p:txBody>
      </p:sp>
      <p:sp>
        <p:nvSpPr>
          <p:cNvPr id="202" name="©天蝎PPT31"/>
          <p:cNvSpPr txBox="1"/>
          <p:nvPr>
            <p:custDataLst>
              <p:tags r:id="rId28"/>
            </p:custDataLst>
          </p:nvPr>
        </p:nvSpPr>
        <p:spPr>
          <a:xfrm>
            <a:off x="9565602" y="5204935"/>
            <a:ext cx="2117559" cy="600075"/>
          </a:xfrm>
          <a:prstGeom prst="rect">
            <a:avLst/>
          </a:prstGeom>
          <a:noFill/>
        </p:spPr>
        <p:txBody>
          <a:bodyPr wrap="square" lIns="0" tIns="0" rIns="0" bIns="0" rtlCol="0">
            <a:spAutoFit/>
          </a:bodyPr>
          <a:lstStyle/>
          <a:p>
            <a:pPr rtl="0">
              <a:lnSpc>
                <a:spcPct val="130000"/>
              </a:lnSpc>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根据项目规划，对项目所需的各种资源进行调配和协调，确保项目的资源供给与需求的匹配。</a:t>
            </a:r>
            <a:endParaRPr lang="zh-CN" altLang="en-US" sz="1000" dirty="0">
              <a:solidFill>
                <a:srgbClr val="383838"/>
              </a:solidFill>
              <a:effectLst/>
              <a:latin typeface="微软雅黑"/>
              <a:ea typeface="微软雅黑"/>
              <a:cs typeface="微软雅黑"/>
              <a:sym typeface="微软雅黑"/>
            </a:endParaRPr>
          </a:p>
        </p:txBody>
      </p:sp>
      <p:grpSp>
        <p:nvGrpSpPr>
          <p:cNvPr id="204" name="组合 203"/>
          <p:cNvGrpSpPr/>
          <p:nvPr/>
        </p:nvGrpSpPr>
        <p:grpSpPr>
          <a:xfrm rot="0">
            <a:off x="3615690" y="1237615"/>
            <a:ext cx="5185410" cy="4982845"/>
            <a:chOff x="3632347" y="1159523"/>
            <a:chExt cx="5185148" cy="4982728"/>
          </a:xfrm>
        </p:grpSpPr>
        <p:sp>
          <p:nvSpPr>
            <p:cNvPr id="205" name="©天蝎PPT13-11"/>
            <p:cNvSpPr/>
            <p:nvPr>
              <p:custDataLst>
                <p:tags r:id="rId29"/>
              </p:custDataLst>
            </p:nvPr>
          </p:nvSpPr>
          <p:spPr>
            <a:xfrm>
              <a:off x="3709550" y="1159523"/>
              <a:ext cx="4890019" cy="4890019"/>
            </a:xfrm>
            <a:prstGeom prst="pie">
              <a:avLst>
                <a:gd name="adj1" fmla="val 10778284"/>
                <a:gd name="adj2" fmla="val 14378552"/>
              </a:avLst>
            </a:prstGeom>
            <a:solidFill>
              <a:srgbClr val="FFFFFF"/>
            </a:solidFill>
            <a:ln w="9525">
              <a:noFill/>
            </a:ln>
            <a:effectLst>
              <a:outerShdw blurRad="368300" dist="203200" dir="5400000" sx="98000" sy="98000" algn="t" rotWithShape="0">
                <a:srgbClr val="B3D4FE">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06" name="©天蝎PPT13-12"/>
            <p:cNvSpPr/>
            <p:nvPr>
              <p:custDataLst>
                <p:tags r:id="rId30"/>
              </p:custDataLst>
            </p:nvPr>
          </p:nvSpPr>
          <p:spPr>
            <a:xfrm rot="10800000">
              <a:off x="3847832" y="1252232"/>
              <a:ext cx="4890019" cy="4890019"/>
            </a:xfrm>
            <a:prstGeom prst="pie">
              <a:avLst>
                <a:gd name="adj1" fmla="val 10778284"/>
                <a:gd name="adj2" fmla="val 14378552"/>
              </a:avLst>
            </a:prstGeom>
            <a:solidFill>
              <a:srgbClr val="FFFFFF"/>
            </a:solidFill>
            <a:ln w="9525">
              <a:noFill/>
            </a:ln>
            <a:effectLst>
              <a:outerShdw blurRad="368300" dist="203200" dir="5400000" sx="98000" sy="98000" algn="t" rotWithShape="0">
                <a:srgbClr val="B3D4FE">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07" name="©天蝎PPT13-14"/>
            <p:cNvSpPr/>
            <p:nvPr>
              <p:custDataLst>
                <p:tags r:id="rId31"/>
              </p:custDataLst>
            </p:nvPr>
          </p:nvSpPr>
          <p:spPr>
            <a:xfrm rot="10800000">
              <a:off x="8659095" y="3505759"/>
              <a:ext cx="158400" cy="108000"/>
            </a:xfrm>
            <a:prstGeom prst="triangle">
              <a:avLst/>
            </a:prstGeom>
            <a:solidFill>
              <a:srgbClr val="B3D4FE"/>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08" name="©天蝎PPT13-15"/>
            <p:cNvSpPr/>
            <p:nvPr>
              <p:custDataLst>
                <p:tags r:id="rId32"/>
              </p:custDataLst>
            </p:nvPr>
          </p:nvSpPr>
          <p:spPr>
            <a:xfrm rot="14400000">
              <a:off x="7447597" y="5742562"/>
              <a:ext cx="158400" cy="108000"/>
            </a:xfrm>
            <a:prstGeom prst="triangle">
              <a:avLst/>
            </a:prstGeom>
            <a:solidFill>
              <a:srgbClr val="B3D4FE"/>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09" name="©天蝎PPT13-17"/>
            <p:cNvSpPr/>
            <p:nvPr>
              <p:custDataLst>
                <p:tags r:id="rId33"/>
              </p:custDataLst>
            </p:nvPr>
          </p:nvSpPr>
          <p:spPr>
            <a:xfrm>
              <a:off x="3632347" y="3670862"/>
              <a:ext cx="158400" cy="108000"/>
            </a:xfrm>
            <a:prstGeom prst="triangle">
              <a:avLst/>
            </a:prstGeom>
            <a:solidFill>
              <a:srgbClr val="B3D4FE"/>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10" name="©天蝎PPT13-18"/>
            <p:cNvSpPr/>
            <p:nvPr>
              <p:custDataLst>
                <p:tags r:id="rId34"/>
              </p:custDataLst>
            </p:nvPr>
          </p:nvSpPr>
          <p:spPr>
            <a:xfrm rot="18000000">
              <a:off x="4944366" y="5798314"/>
              <a:ext cx="158400" cy="108000"/>
            </a:xfrm>
            <a:prstGeom prst="triangle">
              <a:avLst/>
            </a:prstGeom>
            <a:solidFill>
              <a:srgbClr val="B3D4FE"/>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11" name="©天蝎PPT13-20"/>
            <p:cNvSpPr/>
            <p:nvPr>
              <p:custDataLst>
                <p:tags r:id="rId35"/>
              </p:custDataLst>
            </p:nvPr>
          </p:nvSpPr>
          <p:spPr>
            <a:xfrm rot="7200000">
              <a:off x="7340115" y="1341465"/>
              <a:ext cx="158400" cy="108000"/>
            </a:xfrm>
            <a:prstGeom prst="triangle">
              <a:avLst/>
            </a:prstGeom>
            <a:solidFill>
              <a:srgbClr val="B3D4FE"/>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12" name="©天蝎PPT13-21"/>
            <p:cNvSpPr txBox="1"/>
            <p:nvPr>
              <p:custDataLst>
                <p:tags r:id="rId36"/>
              </p:custDataLst>
            </p:nvPr>
          </p:nvSpPr>
          <p:spPr>
            <a:xfrm>
              <a:off x="5366789" y="1541884"/>
              <a:ext cx="1721911" cy="738664"/>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en-US" altLang="zh-CN" sz="1400" b="1" dirty="0">
                  <a:solidFill>
                    <a:srgbClr val="0042FF"/>
                  </a:solidFill>
                  <a:latin typeface="微软雅黑"/>
                  <a:ea typeface="微软雅黑"/>
                  <a:cs typeface="微软雅黑"/>
                  <a:sym typeface="微软雅黑"/>
                </a:rPr>
                <a:t>01</a:t>
              </a:r>
              <a:endParaRPr kumimoji="1" lang="en-US" altLang="zh-CN" sz="1400" b="1" dirty="0">
                <a:solidFill>
                  <a:srgbClr val="0042FF"/>
                </a:solidFill>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市场研究</a:t>
              </a:r>
              <a:endParaRPr kumimoji="1" lang="en-US" altLang="zh-CN" sz="1400" dirty="0">
                <a:solidFill>
                  <a:srgbClr val="383838"/>
                </a:solidFill>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需求分析阶段</a:t>
              </a:r>
              <a:endParaRPr kumimoji="1" lang="zh-CN" altLang="en-US" sz="14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13" name="©天蝎PPT13-22"/>
            <p:cNvSpPr txBox="1"/>
            <p:nvPr>
              <p:custDataLst>
                <p:tags r:id="rId37"/>
              </p:custDataLst>
            </p:nvPr>
          </p:nvSpPr>
          <p:spPr>
            <a:xfrm>
              <a:off x="6936388" y="2431953"/>
              <a:ext cx="1721911" cy="738664"/>
            </a:xfrm>
            <a:prstGeom prst="rect">
              <a:avLst/>
            </a:prstGeom>
            <a:noFill/>
          </p:spPr>
          <p:txBody>
            <a:bodyPr wrap="square" rtlCol="0" lIns="0" rIns="0" tIns="0" bIns="0">
              <a:spAutoFit/>
            </a:bodyP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sym typeface="微软雅黑"/>
                </a:rPr>
                <a:t>02</a:t>
              </a:r>
              <a:endParaRPr kumimoji="1" lang="en-US" altLang="zh-CN" sz="1400" b="1"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制定计划</a:t>
              </a:r>
              <a:endParaRPr kumimoji="1" lang="en-US" altLang="zh-CN" sz="1400"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详细项目规划</a:t>
              </a:r>
              <a:endParaRPr kumimoji="1" lang="zh-CN" altLang="en-US" sz="1400" dirty="0">
                <a:solidFill>
                  <a:srgbClr val="383838"/>
                </a:solidFill>
                <a:latin typeface="微软雅黑"/>
                <a:ea typeface="微软雅黑"/>
                <a:cs typeface="微软雅黑"/>
                <a:sym typeface="微软雅黑"/>
              </a:endParaRPr>
            </a:p>
          </p:txBody>
        </p:sp>
        <p:sp>
          <p:nvSpPr>
            <p:cNvPr id="214" name="©天蝎PPT13-23"/>
            <p:cNvSpPr txBox="1"/>
            <p:nvPr>
              <p:custDataLst>
                <p:tags r:id="rId38"/>
              </p:custDataLst>
            </p:nvPr>
          </p:nvSpPr>
          <p:spPr>
            <a:xfrm>
              <a:off x="6936388" y="4047739"/>
              <a:ext cx="1721911" cy="738664"/>
            </a:xfrm>
            <a:prstGeom prst="rect">
              <a:avLst/>
            </a:prstGeom>
            <a:noFill/>
          </p:spPr>
          <p:txBody>
            <a:bodyPr wrap="square" rtlCol="0" lIns="0" rIns="0" tIns="0" bIns="0">
              <a:spAutoFit/>
            </a:bodyPr>
            <a:lstStyle/>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en-US" altLang="zh-CN" sz="1400" b="1" dirty="0">
                  <a:solidFill>
                    <a:srgbClr val="0042FF"/>
                  </a:solidFill>
                  <a:latin typeface="微软雅黑"/>
                  <a:ea typeface="微软雅黑"/>
                  <a:cs typeface="微软雅黑"/>
                  <a:sym typeface="微软雅黑"/>
                </a:rPr>
                <a:t>03</a:t>
              </a:r>
              <a:endParaRPr kumimoji="1" lang="en-US" altLang="zh-CN" sz="1400" b="1" dirty="0">
                <a:solidFill>
                  <a:srgbClr val="0042FF"/>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资源调配</a:t>
              </a:r>
              <a:endParaRPr kumimoji="1" lang="en-US" altLang="zh-CN" sz="1400" dirty="0">
                <a:solidFill>
                  <a:srgbClr val="383838"/>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调配资源协调</a:t>
              </a:r>
              <a:endParaRPr kumimoji="1" lang="zh-CN" altLang="en-US" sz="1400" dirty="0">
                <a:solidFill>
                  <a:srgbClr val="383838"/>
                </a:solidFill>
                <a:latin typeface="微软雅黑"/>
                <a:ea typeface="微软雅黑"/>
                <a:cs typeface="微软雅黑"/>
                <a:sym typeface="微软雅黑"/>
              </a:endParaRPr>
            </a:p>
          </p:txBody>
        </p:sp>
        <p:sp>
          <p:nvSpPr>
            <p:cNvPr id="215" name="©天蝎PPT13-24"/>
            <p:cNvSpPr txBox="1"/>
            <p:nvPr>
              <p:custDataLst>
                <p:tags r:id="rId39"/>
              </p:custDataLst>
            </p:nvPr>
          </p:nvSpPr>
          <p:spPr>
            <a:xfrm>
              <a:off x="3766848" y="2431953"/>
              <a:ext cx="1721911" cy="738664"/>
            </a:xfrm>
            <a:prstGeom prst="rect">
              <a:avLst/>
            </a:prstGeom>
            <a:noFill/>
          </p:spPr>
          <p:txBody>
            <a:bodyPr wrap="square" rtlCol="0" lIns="0" rIns="0" tIns="0" bIns="0">
              <a:spAutoFit/>
            </a:bodyPr>
            <a:lstStyle/>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en-US" altLang="zh-CN" sz="1400" b="1" dirty="0">
                  <a:solidFill>
                    <a:srgbClr val="0042FF"/>
                  </a:solidFill>
                  <a:latin typeface="微软雅黑"/>
                  <a:ea typeface="微软雅黑"/>
                  <a:cs typeface="微软雅黑"/>
                  <a:sym typeface="微软雅黑"/>
                </a:rPr>
                <a:t>06</a:t>
              </a:r>
              <a:endParaRPr kumimoji="1" lang="en-US" altLang="zh-CN" sz="1400" b="1" dirty="0">
                <a:solidFill>
                  <a:srgbClr val="0042FF"/>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项目收尾</a:t>
              </a:r>
              <a:endParaRPr kumimoji="1" lang="en-US" altLang="zh-CN" sz="1400" dirty="0">
                <a:solidFill>
                  <a:srgbClr val="383838"/>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验收总结归档</a:t>
              </a:r>
              <a:endParaRPr kumimoji="1" lang="zh-CN" altLang="en-US" sz="1400" dirty="0">
                <a:solidFill>
                  <a:srgbClr val="383838"/>
                </a:solidFill>
                <a:latin typeface="微软雅黑"/>
                <a:ea typeface="微软雅黑"/>
                <a:cs typeface="微软雅黑"/>
                <a:sym typeface="微软雅黑"/>
              </a:endParaRPr>
            </a:p>
          </p:txBody>
        </p:sp>
        <p:sp>
          <p:nvSpPr>
            <p:cNvPr id="216" name="©天蝎PPT13-25"/>
            <p:cNvSpPr txBox="1"/>
            <p:nvPr>
              <p:custDataLst>
                <p:tags r:id="rId40"/>
              </p:custDataLst>
            </p:nvPr>
          </p:nvSpPr>
          <p:spPr>
            <a:xfrm>
              <a:off x="3766848" y="4096190"/>
              <a:ext cx="1721911" cy="738664"/>
            </a:xfrm>
            <a:prstGeom prst="rect">
              <a:avLst/>
            </a:prstGeom>
            <a:noFill/>
          </p:spPr>
          <p:txBody>
            <a:bodyPr wrap="square" rtlCol="0" lIns="0" rIns="0" tIns="0" bIns="0">
              <a:spAutoFit/>
            </a:bodyPr>
            <a:lstStyle/>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en-US" altLang="zh-CN" sz="1400" b="1" dirty="0">
                  <a:solidFill>
                    <a:srgbClr val="0042FF"/>
                  </a:solidFill>
                  <a:latin typeface="微软雅黑"/>
                  <a:ea typeface="微软雅黑"/>
                  <a:cs typeface="微软雅黑"/>
                  <a:sym typeface="微软雅黑"/>
                </a:rPr>
                <a:t>05</a:t>
              </a:r>
              <a:endParaRPr kumimoji="1" lang="en-US" altLang="zh-CN" sz="1400" b="1" dirty="0">
                <a:solidFill>
                  <a:srgbClr val="0042FF"/>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项目评估</a:t>
              </a:r>
              <a:endParaRPr kumimoji="1" lang="en-US" altLang="zh-CN" sz="1400" dirty="0">
                <a:solidFill>
                  <a:srgbClr val="383838"/>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变更影响处理</a:t>
              </a:r>
              <a:endParaRPr kumimoji="1" lang="zh-CN" altLang="en-US" sz="1400" dirty="0">
                <a:solidFill>
                  <a:srgbClr val="383838"/>
                </a:solidFill>
                <a:latin typeface="微软雅黑"/>
                <a:ea typeface="微软雅黑"/>
                <a:cs typeface="微软雅黑"/>
                <a:sym typeface="微软雅黑"/>
              </a:endParaRPr>
            </a:p>
          </p:txBody>
        </p:sp>
        <p:sp>
          <p:nvSpPr>
            <p:cNvPr id="217" name="©天蝎PPT13-26"/>
            <p:cNvSpPr txBox="1"/>
            <p:nvPr>
              <p:custDataLst>
                <p:tags r:id="rId41"/>
              </p:custDataLst>
            </p:nvPr>
          </p:nvSpPr>
          <p:spPr>
            <a:xfrm>
              <a:off x="5366789" y="4962383"/>
              <a:ext cx="1721911" cy="738664"/>
            </a:xfrm>
            <a:prstGeom prst="rect">
              <a:avLst/>
            </a:prstGeom>
            <a:noFill/>
          </p:spPr>
          <p:txBody>
            <a:bodyPr wrap="square" rtlCol="0" lIns="0" rIns="0" tIns="0" bIns="0">
              <a:spAutoFit/>
            </a:bodyPr>
            <a:lstStyle/>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en-US" altLang="zh-CN" sz="1400" b="1" dirty="0">
                  <a:solidFill>
                    <a:srgbClr val="0042FF"/>
                  </a:solidFill>
                  <a:latin typeface="微软雅黑"/>
                  <a:ea typeface="微软雅黑"/>
                  <a:cs typeface="微软雅黑"/>
                  <a:sym typeface="微软雅黑"/>
                </a:rPr>
                <a:t>04</a:t>
              </a:r>
              <a:endParaRPr kumimoji="1" lang="en-US" altLang="zh-CN" sz="1400" b="1" dirty="0">
                <a:solidFill>
                  <a:srgbClr val="0042FF"/>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项目实施</a:t>
              </a:r>
              <a:endParaRPr kumimoji="1" lang="en-US" altLang="zh-CN" sz="1400" dirty="0">
                <a:solidFill>
                  <a:srgbClr val="383838"/>
                </a:solidFill>
                <a:latin typeface="微软雅黑"/>
                <a:ea typeface="微软雅黑"/>
                <a:cs typeface="微软雅黑"/>
                <a:sym typeface="微软雅黑"/>
              </a:endParaRPr>
            </a:p>
            <a:p>
              <a:pPr marR="0" lvl="0" indent="0" algn="ctr" fontAlgn="auto">
                <a:lnSpc>
                  <a:spcPct val="100000"/>
                </a:lnSpc>
                <a:spcBef>
                  <a:spcPts val="0"/>
                </a:spcBef>
                <a:spcAft>
                  <a:spcPts val="0"/>
                </a:spcAft>
                <a:buClrTx/>
                <a:buSzTx/>
                <a:buFontTx/>
                <a:buNone/>
                <a:defRPr>
                  <a:latin typeface="微软雅黑"/>
                  <a:ea typeface="微软雅黑"/>
                  <a:cs typeface="微软雅黑"/>
                </a:defRPr>
              </a:pPr>
              <a:r>
                <a:rPr kumimoji="1" lang="zh-CN" altLang="en-US" sz="1400" dirty="0">
                  <a:solidFill>
                    <a:srgbClr val="383838"/>
                  </a:solidFill>
                  <a:latin typeface="微软雅黑"/>
                  <a:ea typeface="微软雅黑"/>
                  <a:cs typeface="微软雅黑"/>
                  <a:sym typeface="微软雅黑"/>
                </a:rPr>
                <a:t>任务分配执行</a:t>
              </a:r>
              <a:endParaRPr kumimoji="1" lang="zh-CN" altLang="en-US" sz="1400" dirty="0">
                <a:solidFill>
                  <a:srgbClr val="383838"/>
                </a:solidFill>
                <a:latin typeface="微软雅黑"/>
                <a:ea typeface="微软雅黑"/>
                <a:cs typeface="微软雅黑"/>
                <a:sym typeface="微软雅黑"/>
              </a:endParaRPr>
            </a:p>
          </p:txBody>
        </p:sp>
        <p:grpSp>
          <p:nvGrpSpPr>
            <p:cNvPr id="218" name="组合 217"/>
            <p:cNvGrpSpPr/>
            <p:nvPr/>
          </p:nvGrpSpPr>
          <p:grpSpPr>
            <a:xfrm>
              <a:off x="5202396" y="2639685"/>
              <a:ext cx="2046416" cy="2046415"/>
              <a:chOff x="3661863" y="2310342"/>
              <a:chExt cx="2046416" cy="2046415"/>
            </a:xfrm>
          </p:grpSpPr>
          <p:sp>
            <p:nvSpPr>
              <p:cNvPr id="219" name="©天蝎PPT13-27"/>
              <p:cNvSpPr/>
              <p:nvPr>
                <p:custDataLst>
                  <p:tags r:id="rId42"/>
                </p:custDataLst>
              </p:nvPr>
            </p:nvSpPr>
            <p:spPr>
              <a:xfrm>
                <a:off x="3661863" y="2310342"/>
                <a:ext cx="2046416" cy="2046415"/>
              </a:xfrm>
              <a:prstGeom prst="ellipse">
                <a:avLst/>
              </a:prstGeom>
              <a:solidFill>
                <a:srgbClr val="B3D4FE">
                  <a:alpha val="2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220" name="©天蝎PPT13-28"/>
              <p:cNvSpPr/>
              <p:nvPr>
                <p:custDataLst>
                  <p:tags r:id="rId43"/>
                </p:custDataLst>
              </p:nvPr>
            </p:nvSpPr>
            <p:spPr>
              <a:xfrm>
                <a:off x="3763882" y="2412361"/>
                <a:ext cx="1842378" cy="1842377"/>
              </a:xfrm>
              <a:prstGeom prst="ellipse">
                <a:avLst/>
              </a:prstGeom>
              <a:gradFill flip="none" rotWithShape="1">
                <a:gsLst>
                  <a:gs pos="29000">
                    <a:srgbClr val="3368FF"/>
                  </a:gs>
                  <a:gs pos="99000">
                    <a:srgbClr val="B3D4FE"/>
                  </a:gs>
                </a:gsLst>
                <a:lin ang="13500000" scaled="1"/>
                <a:tileRect/>
              </a:gradFill>
              <a:ln>
                <a:noFill/>
              </a:ln>
              <a:effectLst>
                <a:outerShdw blurRad="381000" dist="190500" dir="5400000" sx="90000" sy="90000" algn="ctr" rotWithShape="0">
                  <a:srgbClr val="B3D4FE">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21" name="©天蝎PPT13-29"/>
              <p:cNvSpPr/>
              <p:nvPr>
                <p:custDataLst>
                  <p:tags r:id="rId44"/>
                </p:custDataLst>
              </p:nvPr>
            </p:nvSpPr>
            <p:spPr>
              <a:xfrm>
                <a:off x="4054135" y="2702296"/>
                <a:ext cx="1262507" cy="1262506"/>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grpSp>
        <p:sp>
          <p:nvSpPr>
            <p:cNvPr id="222" name="©天蝎PPT13-30"/>
            <p:cNvSpPr txBox="1"/>
            <p:nvPr>
              <p:custDataLst>
                <p:tags r:id="rId45"/>
              </p:custDataLst>
            </p:nvPr>
          </p:nvSpPr>
          <p:spPr>
            <a:xfrm>
              <a:off x="5690864" y="3228811"/>
              <a:ext cx="1073012" cy="830997"/>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2400" dirty="0">
                  <a:solidFill>
                    <a:srgbClr val="0042FF"/>
                  </a:solidFill>
                  <a:latin typeface="微软雅黑"/>
                  <a:ea typeface="微软雅黑"/>
                  <a:cs typeface="微软雅黑"/>
                  <a:sym typeface="微软雅黑"/>
                </a:rPr>
                <a:t>项目启动</a:t>
              </a:r>
              <a:endParaRPr kumimoji="1" lang="zh-CN" altLang="en-US" sz="2400"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grpSp>
      <p:sp>
        <p:nvSpPr>
          <p:cNvPr id="223" name="©天蝎PPT13-13"/>
          <p:cNvSpPr/>
          <p:nvPr>
            <p:custDataLst>
              <p:tags r:id="rId46"/>
            </p:custDataLst>
          </p:nvPr>
        </p:nvSpPr>
        <p:spPr>
          <a:xfrm>
            <a:off x="3798577" y="1205675"/>
            <a:ext cx="4922378" cy="4922378"/>
          </a:xfrm>
          <a:prstGeom prst="arc">
            <a:avLst>
              <a:gd name="adj1" fmla="val 18009186"/>
              <a:gd name="adj2" fmla="val 0"/>
            </a:avLst>
          </a:prstGeom>
          <a:ln w="25400">
            <a:gradFill>
              <a:gsLst>
                <a:gs pos="1000">
                  <a:srgbClr val="FFFFFF"/>
                </a:gs>
                <a:gs pos="99000">
                  <a:srgbClr val="B3D4FE"/>
                </a:gs>
              </a:gsLst>
              <a:lin ang="5400000" scaled="0"/>
            </a:gradFill>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noProof="0">
              <a:ln>
                <a:noFill/>
              </a:ln>
              <a:solidFill>
                <a:srgbClr val="383838"/>
              </a:solidFill>
              <a:effectLst/>
              <a:uLnTx/>
              <a:uFillTx/>
              <a:latin typeface="微软雅黑"/>
              <a:ea typeface="微软雅黑"/>
              <a:cs typeface="微软雅黑"/>
              <a:sym typeface="微软雅黑"/>
            </a:endParaRPr>
          </a:p>
        </p:txBody>
      </p:sp>
      <p:sp>
        <p:nvSpPr>
          <p:cNvPr id="224" name="©天蝎PPT13-16"/>
          <p:cNvSpPr/>
          <p:nvPr>
            <p:custDataLst>
              <p:tags r:id="rId47"/>
            </p:custDataLst>
          </p:nvPr>
        </p:nvSpPr>
        <p:spPr>
          <a:xfrm rot="10800000">
            <a:off x="3688654" y="1307174"/>
            <a:ext cx="4922378" cy="4922378"/>
          </a:xfrm>
          <a:prstGeom prst="arc">
            <a:avLst>
              <a:gd name="adj1" fmla="val 18009186"/>
              <a:gd name="adj2" fmla="val 0"/>
            </a:avLst>
          </a:prstGeom>
          <a:ln w="25400">
            <a:gradFill>
              <a:gsLst>
                <a:gs pos="2000">
                  <a:srgbClr val="FFFFFF"/>
                </a:gs>
                <a:gs pos="100000">
                  <a:srgbClr val="B3D4FE"/>
                </a:gs>
              </a:gsLst>
              <a:lin ang="5400000" scaled="0"/>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25" name="©天蝎PPT13-19"/>
          <p:cNvSpPr/>
          <p:nvPr>
            <p:custDataLst>
              <p:tags r:id="rId48"/>
            </p:custDataLst>
          </p:nvPr>
        </p:nvSpPr>
        <p:spPr>
          <a:xfrm rot="3600000">
            <a:off x="4800412" y="1522646"/>
            <a:ext cx="158404" cy="108005"/>
          </a:xfrm>
          <a:prstGeom prst="triangle">
            <a:avLst/>
          </a:prstGeom>
          <a:solidFill>
            <a:srgbClr val="B3D4FE"/>
          </a:solidFill>
          <a:ln w="9525">
            <a:noFill/>
          </a:ln>
          <a:effectLst>
            <a:outerShdw blurRad="368300" dist="203200" dir="5400000" sx="98000" sy="98000" algn="t" rotWithShape="0">
              <a:srgbClr val="0042FF">
                <a:alpha val="18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49"/>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员工能力提升三环模型</a:t>
            </a:r>
            <a:endParaRPr lang="zh-CN" altLang="en-US"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 name="椭圆 3"/>
          <p:cNvSpPr/>
          <p:nvPr/>
        </p:nvSpPr>
        <p:spPr>
          <a:xfrm>
            <a:off x="3594100" y="1283335"/>
            <a:ext cx="5044440" cy="5044440"/>
          </a:xfrm>
          <a:prstGeom prst="ellipse">
            <a:avLst/>
          </a:prstGeom>
          <a:solidFill>
            <a:srgbClr val="E6E6E6">
              <a:alpha val="40000"/>
            </a:srgbClr>
          </a:solidFill>
          <a:ln w="3175" cap="flat">
            <a:solidFill>
              <a:srgbClr val="668E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latin typeface="微软雅黑"/>
                <a:ea typeface="微软雅黑"/>
                <a:cs typeface="微软雅黑"/>
              </a:defRPr>
            </a:pPr>
            <a:endParaRPr lang="zh-CN" altLang="en-US">
              <a:ln>
                <a:noFill/>
              </a:ln>
              <a:solidFill>
                <a:srgbClr val="0042FF"/>
              </a:solidFill>
              <a:effectLst/>
              <a:uFillTx/>
              <a:latin typeface="微软雅黑"/>
              <a:ea typeface="微软雅黑"/>
              <a:cs typeface="微软雅黑"/>
              <a:sym typeface="微软雅黑"/>
            </a:endParaRPr>
          </a:p>
        </p:txBody>
      </p:sp>
      <p:sp>
        <p:nvSpPr>
          <p:cNvPr id="116" name="椭圆 115"/>
          <p:cNvSpPr/>
          <p:nvPr/>
        </p:nvSpPr>
        <p:spPr>
          <a:xfrm>
            <a:off x="4160520" y="1849755"/>
            <a:ext cx="3911600" cy="3911600"/>
          </a:xfrm>
          <a:prstGeom prst="ellipse">
            <a:avLst/>
          </a:prstGeom>
          <a:solidFill>
            <a:srgbClr val="E6E6E6"/>
          </a:solidFill>
          <a:ln w="3175" cap="flat">
            <a:noFill/>
            <a:prstDash val="solid"/>
            <a:miter lim="800000"/>
          </a:ln>
          <a:effectLst>
            <a:outerShdw blurRad="50800" dist="38100" dir="2700000" algn="tl" rotWithShape="0">
              <a:srgbClr val="0042FF">
                <a:alpha val="40000"/>
              </a:srgbClr>
            </a:outerShdw>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a:ln>
                <a:noFill/>
              </a:ln>
              <a:solidFill>
                <a:srgbClr val="FFFFFF"/>
              </a:solidFill>
              <a:effectLst/>
              <a:uFillTx/>
              <a:latin typeface="微软雅黑"/>
              <a:ea typeface="微软雅黑"/>
              <a:cs typeface="微软雅黑"/>
              <a:sym typeface="微软雅黑"/>
            </a:endParaRPr>
          </a:p>
        </p:txBody>
      </p:sp>
      <p:sp>
        <p:nvSpPr>
          <p:cNvPr id="21" name="Title 2"/>
          <p:cNvSpPr txBox="1"/>
          <p:nvPr/>
        </p:nvSpPr>
        <p:spPr>
          <a:xfrm rot="16200000">
            <a:off x="3175635" y="3574415"/>
            <a:ext cx="1407795" cy="445770"/>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第三环</a:t>
            </a:r>
            <a:endParaRPr lang="zh-CN" altLang="en-US" sz="1200" dirty="0">
              <a:solidFill>
                <a:srgbClr val="383838"/>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五大场景</a:t>
            </a:r>
            <a:endParaRPr lang="zh-CN" altLang="en-US" sz="1200" dirty="0">
              <a:solidFill>
                <a:srgbClr val="383838"/>
              </a:solidFill>
              <a:latin typeface="微软雅黑"/>
              <a:ea typeface="微软雅黑"/>
              <a:cs typeface="微软雅黑"/>
            </a:endParaRPr>
          </a:p>
        </p:txBody>
      </p:sp>
      <p:sp>
        <p:nvSpPr>
          <p:cNvPr id="117" name="椭圆 116"/>
          <p:cNvSpPr/>
          <p:nvPr/>
        </p:nvSpPr>
        <p:spPr>
          <a:xfrm>
            <a:off x="4758055" y="2429828"/>
            <a:ext cx="2750820" cy="2750820"/>
          </a:xfrm>
          <a:prstGeom prst="ellipse">
            <a:avLst/>
          </a:prstGeom>
          <a:solidFill>
            <a:srgbClr val="0042FF">
              <a:alpha val="78000"/>
            </a:srgbClr>
          </a:solidFill>
          <a:ln w="3175" cap="flat">
            <a:noFill/>
            <a:prstDash val="solid"/>
            <a:miter lim="800000"/>
          </a:ln>
          <a:effectLst>
            <a:outerShdw blurRad="50800" dist="38100" dir="2700000" algn="tl" rotWithShape="0">
              <a:srgbClr val="3368FF">
                <a:alpha val="40000"/>
              </a:srgbClr>
            </a:outerShdw>
          </a:effectLst>
          <a:sp3d/>
        </p:spPr>
        <p:txBody>
          <a:bodyPr rot="0" spcFirstLastPara="1" vertOverflow="overflow" horzOverflow="overflow" vert="horz" wrap="square" lIns="0" tIns="0" rIns="0" bIns="0"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119" name="椭圆 118"/>
          <p:cNvSpPr/>
          <p:nvPr/>
        </p:nvSpPr>
        <p:spPr>
          <a:xfrm>
            <a:off x="5424805" y="3114040"/>
            <a:ext cx="1383030" cy="1383030"/>
          </a:xfrm>
          <a:prstGeom prst="ellipse">
            <a:avLst/>
          </a:prstGeom>
          <a:solidFill>
            <a:srgbClr val="3368FF"/>
          </a:solidFill>
          <a:ln w="762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42" name="弧形 23"/>
          <p:cNvSpPr/>
          <p:nvPr/>
        </p:nvSpPr>
        <p:spPr>
          <a:xfrm rot="13080000">
            <a:off x="5062855" y="2703830"/>
            <a:ext cx="2141220" cy="2152015"/>
          </a:xfrm>
          <a:prstGeom prst="arc">
            <a:avLst>
              <a:gd name="adj1" fmla="val 16333075"/>
              <a:gd name="adj2" fmla="val 1465960"/>
            </a:avLst>
          </a:prstGeom>
          <a:noFill/>
          <a:ln w="22225" cap="flat" cmpd="sng" algn="ctr">
            <a:gradFill flip="none" rotWithShape="1">
              <a:gsLst>
                <a:gs pos="77000">
                  <a:srgbClr val="FFFFFF"/>
                </a:gs>
                <a:gs pos="13000">
                  <a:srgbClr val="FFFFFF">
                    <a:alpha val="0"/>
                  </a:srgbClr>
                </a:gs>
              </a:gsLst>
              <a:path path="circle">
                <a:fillToRect r="100000" b="100000"/>
              </a:path>
              <a:tileRect l="-100000" t="-100000"/>
            </a:gradFill>
            <a:prstDash val="solid"/>
            <a:miter lim="800000"/>
            <a:headEnd type="none" w="lg" len="lg"/>
            <a:tailEnd type="stealth" w="lg" len="lg"/>
          </a:ln>
          <a:effectLst/>
        </p:spPr>
        <p:txBody>
          <a:bodyPr rtlCol="0" anchor="ctr"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45" name="任意形状 150"/>
          <p:cNvSpPr/>
          <p:nvPr/>
        </p:nvSpPr>
        <p:spPr>
          <a:xfrm rot="5400000">
            <a:off x="5983605" y="3093720"/>
            <a:ext cx="300355" cy="332105"/>
          </a:xfrm>
          <a:custGeom>
            <a:avLst/>
            <a:gdLst>
              <a:gd name="connsiteX0" fmla="*/ 138299 w 254098"/>
              <a:gd name="connsiteY0" fmla="*/ 0 h 333488"/>
              <a:gd name="connsiteX1" fmla="*/ 254098 w 254098"/>
              <a:gd name="connsiteY1" fmla="*/ 166744 h 333488"/>
              <a:gd name="connsiteX2" fmla="*/ 138299 w 254098"/>
              <a:gd name="connsiteY2" fmla="*/ 333488 h 333488"/>
              <a:gd name="connsiteX3" fmla="*/ 138299 w 254098"/>
              <a:gd name="connsiteY3" fmla="*/ 252666 h 333488"/>
              <a:gd name="connsiteX4" fmla="*/ 28191 w 254098"/>
              <a:gd name="connsiteY4" fmla="*/ 252666 h 333488"/>
              <a:gd name="connsiteX5" fmla="*/ 0 w 254098"/>
              <a:gd name="connsiteY5" fmla="*/ 224475 h 333488"/>
              <a:gd name="connsiteX6" fmla="*/ 0 w 254098"/>
              <a:gd name="connsiteY6" fmla="*/ 111714 h 333488"/>
              <a:gd name="connsiteX7" fmla="*/ 28191 w 254098"/>
              <a:gd name="connsiteY7" fmla="*/ 83523 h 333488"/>
              <a:gd name="connsiteX8" fmla="*/ 69434 w 254098"/>
              <a:gd name="connsiteY8" fmla="*/ 83523 h 333488"/>
              <a:gd name="connsiteX9" fmla="*/ 69434 w 254098"/>
              <a:gd name="connsiteY9" fmla="*/ 83372 h 333488"/>
              <a:gd name="connsiteX10" fmla="*/ 138299 w 254098"/>
              <a:gd name="connsiteY10" fmla="*/ 83372 h 33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98" h="333488">
                <a:moveTo>
                  <a:pt x="138299" y="0"/>
                </a:moveTo>
                <a:lnTo>
                  <a:pt x="254098" y="166744"/>
                </a:lnTo>
                <a:lnTo>
                  <a:pt x="138299" y="333488"/>
                </a:lnTo>
                <a:lnTo>
                  <a:pt x="138299" y="252666"/>
                </a:lnTo>
                <a:lnTo>
                  <a:pt x="28191" y="252666"/>
                </a:lnTo>
                <a:cubicBezTo>
                  <a:pt x="12622" y="252666"/>
                  <a:pt x="0" y="240044"/>
                  <a:pt x="0" y="224475"/>
                </a:cubicBezTo>
                <a:lnTo>
                  <a:pt x="0" y="111714"/>
                </a:lnTo>
                <a:cubicBezTo>
                  <a:pt x="0" y="96145"/>
                  <a:pt x="12622" y="83523"/>
                  <a:pt x="28191" y="83523"/>
                </a:cubicBezTo>
                <a:lnTo>
                  <a:pt x="69434" y="83523"/>
                </a:lnTo>
                <a:lnTo>
                  <a:pt x="69434" y="83372"/>
                </a:lnTo>
                <a:lnTo>
                  <a:pt x="138299" y="83372"/>
                </a:lnTo>
                <a:close/>
              </a:path>
            </a:pathLst>
          </a:custGeom>
          <a:gradFill>
            <a:gsLst>
              <a:gs pos="0">
                <a:srgbClr val="FFFFFF"/>
              </a:gs>
              <a:gs pos="100000">
                <a:srgbClr val="668EFF"/>
              </a:gs>
            </a:gsLst>
            <a:lin ang="0" scaled="0"/>
          </a:gradFill>
          <a:ln w="12700" cap="flat">
            <a:gradFill>
              <a:gsLst>
                <a:gs pos="0">
                  <a:srgbClr val="0042FF">
                    <a:alpha val="0"/>
                  </a:srgbClr>
                </a:gs>
                <a:gs pos="100000">
                  <a:srgbClr val="0042FF"/>
                </a:gs>
              </a:gsLst>
              <a:lin ang="0" scaled="0"/>
            </a:gradFill>
            <a:prstDash val="solid"/>
            <a:miter lim="800000"/>
          </a:ln>
          <a:effectLst/>
          <a:sp3d/>
        </p:spPr>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47" name="Title 2"/>
          <p:cNvSpPr txBox="1"/>
          <p:nvPr/>
        </p:nvSpPr>
        <p:spPr>
          <a:xfrm>
            <a:off x="5327015" y="4135120"/>
            <a:ext cx="1559560" cy="593090"/>
          </a:xfrm>
          <a:prstGeom prst="rect">
            <a:avLst/>
          </a:prstGeom>
        </p:spPr>
        <p:txBody>
          <a:bodyPr vert="horz" wrap="square" lIns="0" tIns="0" rIns="0" bIns="0" rtlCol="0" anchor="t" anchorCtr="0">
            <a:prstTxWarp prst="textArchDown">
              <a:avLst/>
            </a:prstTxWarp>
            <a:no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驱动双核</a:t>
            </a:r>
            <a:endParaRPr lang="zh-CN" altLang="en-US" sz="1200" dirty="0">
              <a:solidFill>
                <a:srgbClr val="FFFFFF"/>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②质量保障，夯实根基</a:t>
            </a:r>
            <a:endParaRPr lang="zh-CN" altLang="en-US" sz="1000" dirty="0">
              <a:solidFill>
                <a:srgbClr val="FFFFFF"/>
              </a:solidFill>
              <a:latin typeface="微软雅黑"/>
              <a:ea typeface="微软雅黑"/>
              <a:cs typeface="微软雅黑"/>
            </a:endParaRPr>
          </a:p>
        </p:txBody>
      </p:sp>
      <p:sp>
        <p:nvSpPr>
          <p:cNvPr id="48" name="任意形状 150"/>
          <p:cNvSpPr/>
          <p:nvPr/>
        </p:nvSpPr>
        <p:spPr>
          <a:xfrm rot="16200000">
            <a:off x="5988050" y="4241165"/>
            <a:ext cx="290830" cy="332105"/>
          </a:xfrm>
          <a:custGeom>
            <a:avLst/>
            <a:gdLst>
              <a:gd name="connsiteX0" fmla="*/ 138299 w 254098"/>
              <a:gd name="connsiteY0" fmla="*/ 0 h 333488"/>
              <a:gd name="connsiteX1" fmla="*/ 254098 w 254098"/>
              <a:gd name="connsiteY1" fmla="*/ 166744 h 333488"/>
              <a:gd name="connsiteX2" fmla="*/ 138299 w 254098"/>
              <a:gd name="connsiteY2" fmla="*/ 333488 h 333488"/>
              <a:gd name="connsiteX3" fmla="*/ 138299 w 254098"/>
              <a:gd name="connsiteY3" fmla="*/ 252666 h 333488"/>
              <a:gd name="connsiteX4" fmla="*/ 28191 w 254098"/>
              <a:gd name="connsiteY4" fmla="*/ 252666 h 333488"/>
              <a:gd name="connsiteX5" fmla="*/ 0 w 254098"/>
              <a:gd name="connsiteY5" fmla="*/ 224475 h 333488"/>
              <a:gd name="connsiteX6" fmla="*/ 0 w 254098"/>
              <a:gd name="connsiteY6" fmla="*/ 111714 h 333488"/>
              <a:gd name="connsiteX7" fmla="*/ 28191 w 254098"/>
              <a:gd name="connsiteY7" fmla="*/ 83523 h 333488"/>
              <a:gd name="connsiteX8" fmla="*/ 69434 w 254098"/>
              <a:gd name="connsiteY8" fmla="*/ 83523 h 333488"/>
              <a:gd name="connsiteX9" fmla="*/ 69434 w 254098"/>
              <a:gd name="connsiteY9" fmla="*/ 83372 h 333488"/>
              <a:gd name="connsiteX10" fmla="*/ 138299 w 254098"/>
              <a:gd name="connsiteY10" fmla="*/ 83372 h 33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98" h="333488">
                <a:moveTo>
                  <a:pt x="138299" y="0"/>
                </a:moveTo>
                <a:lnTo>
                  <a:pt x="254098" y="166744"/>
                </a:lnTo>
                <a:lnTo>
                  <a:pt x="138299" y="333488"/>
                </a:lnTo>
                <a:lnTo>
                  <a:pt x="138299" y="252666"/>
                </a:lnTo>
                <a:lnTo>
                  <a:pt x="28191" y="252666"/>
                </a:lnTo>
                <a:cubicBezTo>
                  <a:pt x="12622" y="252666"/>
                  <a:pt x="0" y="240044"/>
                  <a:pt x="0" y="224475"/>
                </a:cubicBezTo>
                <a:lnTo>
                  <a:pt x="0" y="111714"/>
                </a:lnTo>
                <a:cubicBezTo>
                  <a:pt x="0" y="96145"/>
                  <a:pt x="12622" y="83523"/>
                  <a:pt x="28191" y="83523"/>
                </a:cubicBezTo>
                <a:lnTo>
                  <a:pt x="69434" y="83523"/>
                </a:lnTo>
                <a:lnTo>
                  <a:pt x="69434" y="83372"/>
                </a:lnTo>
                <a:lnTo>
                  <a:pt x="138299" y="83372"/>
                </a:lnTo>
                <a:close/>
              </a:path>
            </a:pathLst>
          </a:custGeom>
          <a:gradFill>
            <a:gsLst>
              <a:gs pos="0">
                <a:srgbClr val="FFFFFF"/>
              </a:gs>
              <a:gs pos="100000">
                <a:srgbClr val="668EFF"/>
              </a:gs>
            </a:gsLst>
            <a:lin ang="0" scaled="0"/>
          </a:gradFill>
          <a:ln w="12700" cap="flat">
            <a:gradFill>
              <a:gsLst>
                <a:gs pos="0">
                  <a:srgbClr val="0042FF">
                    <a:alpha val="0"/>
                  </a:srgbClr>
                </a:gs>
                <a:gs pos="100000">
                  <a:srgbClr val="0042FF"/>
                </a:gs>
              </a:gsLst>
              <a:lin ang="0" scaled="0"/>
            </a:gra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 name="Title 2"/>
          <p:cNvSpPr txBox="1"/>
          <p:nvPr/>
        </p:nvSpPr>
        <p:spPr>
          <a:xfrm>
            <a:off x="5556885" y="3587115"/>
            <a:ext cx="1163955" cy="307340"/>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2000" b="1" dirty="0">
                <a:solidFill>
                  <a:srgbClr val="FFFFFF"/>
                </a:solidFill>
                <a:latin typeface="微软雅黑"/>
                <a:ea typeface="微软雅黑"/>
                <a:cs typeface="微软雅黑"/>
              </a:rPr>
              <a:t>运营增效</a:t>
            </a:r>
            <a:endParaRPr lang="en-US" altLang="zh-CN" sz="2000" b="1" dirty="0">
              <a:solidFill>
                <a:srgbClr val="FFFFFF"/>
              </a:solidFill>
              <a:latin typeface="微软雅黑"/>
              <a:ea typeface="微软雅黑"/>
              <a:cs typeface="微软雅黑"/>
            </a:endParaRPr>
          </a:p>
        </p:txBody>
      </p:sp>
      <p:sp>
        <p:nvSpPr>
          <p:cNvPr id="60" name="Title 2"/>
          <p:cNvSpPr txBox="1"/>
          <p:nvPr/>
        </p:nvSpPr>
        <p:spPr>
          <a:xfrm>
            <a:off x="5709920" y="3963035"/>
            <a:ext cx="857885" cy="230505"/>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1500" dirty="0">
                <a:solidFill>
                  <a:srgbClr val="FFFFFF"/>
                </a:solidFill>
                <a:latin typeface="微软雅黑"/>
                <a:ea typeface="微软雅黑"/>
                <a:cs typeface="微软雅黑"/>
              </a:rPr>
              <a:t>（核心）</a:t>
            </a:r>
            <a:endParaRPr lang="zh-CN" altLang="en-US" sz="2000" b="1" dirty="0">
              <a:solidFill>
                <a:srgbClr val="FFFFFF"/>
              </a:solidFill>
              <a:latin typeface="微软雅黑"/>
              <a:ea typeface="微软雅黑"/>
              <a:cs typeface="微软雅黑"/>
            </a:endParaRPr>
          </a:p>
        </p:txBody>
      </p:sp>
      <p:sp>
        <p:nvSpPr>
          <p:cNvPr id="74" name="弧形 23"/>
          <p:cNvSpPr/>
          <p:nvPr/>
        </p:nvSpPr>
        <p:spPr>
          <a:xfrm rot="13080000">
            <a:off x="5062855" y="2703830"/>
            <a:ext cx="2141220" cy="2152015"/>
          </a:xfrm>
          <a:prstGeom prst="arc">
            <a:avLst>
              <a:gd name="adj1" fmla="val 5111075"/>
              <a:gd name="adj2" fmla="val 11463088"/>
            </a:avLst>
          </a:prstGeom>
          <a:noFill/>
          <a:ln w="22225" cap="flat" cmpd="sng" algn="ctr">
            <a:gradFill flip="none" rotWithShape="1">
              <a:gsLst>
                <a:gs pos="33000">
                  <a:srgbClr val="FFFFFF"/>
                </a:gs>
                <a:gs pos="100000">
                  <a:srgbClr val="FFFFFF">
                    <a:alpha val="0"/>
                  </a:srgbClr>
                </a:gs>
              </a:gsLst>
              <a:path path="circle">
                <a:fillToRect r="100000" b="100000"/>
              </a:path>
              <a:tileRect l="-100000" t="-100000"/>
            </a:gradFill>
            <a:prstDash val="solid"/>
            <a:miter lim="800000"/>
            <a:headEnd type="none" w="lg" len="lg"/>
            <a:tailEnd type="stealth" w="lg" len="lg"/>
          </a:ln>
          <a:effectLst/>
        </p:spPr>
        <p:txBody>
          <a:bodyPr rtlCol="0" anchor="ctr"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8" name="Title 2"/>
          <p:cNvSpPr txBox="1"/>
          <p:nvPr/>
        </p:nvSpPr>
        <p:spPr>
          <a:xfrm>
            <a:off x="5121275" y="1590675"/>
            <a:ext cx="1932305" cy="593090"/>
          </a:xfrm>
          <a:prstGeom prst="rect">
            <a:avLst/>
          </a:prstGeom>
        </p:spPr>
        <p:txBody>
          <a:bodyPr vert="horz" wrap="square" lIns="0" tIns="0" rIns="0" bIns="0" rtlCol="0" anchor="t" anchorCtr="0">
            <a:prstTxWarp prst="textArchUp">
              <a:avLst/>
            </a:prstTxWarp>
            <a:no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en-US" altLang="zh-CN" sz="1300" dirty="0">
                <a:solidFill>
                  <a:srgbClr val="383838"/>
                </a:solidFill>
                <a:latin typeface="微软雅黑"/>
                <a:ea typeface="微软雅黑"/>
                <a:cs typeface="微软雅黑"/>
              </a:rPr>
              <a:t>“</a:t>
            </a:r>
            <a:r>
              <a:rPr lang="zh-CN" altLang="en-US" sz="1300" dirty="0">
                <a:solidFill>
                  <a:srgbClr val="383838"/>
                </a:solidFill>
                <a:latin typeface="微软雅黑"/>
                <a:ea typeface="微软雅黑"/>
                <a:cs typeface="微软雅黑"/>
              </a:rPr>
              <a:t>数字化赋能运营提质</a:t>
            </a:r>
            <a:r>
              <a:rPr lang="en-US" altLang="zh-CN" sz="1300" dirty="0">
                <a:solidFill>
                  <a:srgbClr val="383838"/>
                </a:solidFill>
                <a:latin typeface="微软雅黑"/>
                <a:ea typeface="微软雅黑"/>
                <a:cs typeface="微软雅黑"/>
              </a:rPr>
              <a:t>”</a:t>
            </a:r>
            <a:endParaRPr lang="zh-CN" altLang="en-US" sz="1300" dirty="0">
              <a:solidFill>
                <a:srgbClr val="383838"/>
              </a:solidFill>
              <a:latin typeface="微软雅黑"/>
              <a:ea typeface="微软雅黑"/>
              <a:cs typeface="微软雅黑"/>
            </a:endParaRPr>
          </a:p>
        </p:txBody>
      </p:sp>
      <p:sp>
        <p:nvSpPr>
          <p:cNvPr id="9" name="Title 2"/>
          <p:cNvSpPr txBox="1"/>
          <p:nvPr/>
        </p:nvSpPr>
        <p:spPr>
          <a:xfrm>
            <a:off x="5121275" y="5433695"/>
            <a:ext cx="1932305" cy="570230"/>
          </a:xfrm>
          <a:prstGeom prst="rect">
            <a:avLst/>
          </a:prstGeom>
        </p:spPr>
        <p:txBody>
          <a:bodyPr vert="horz" wrap="square" lIns="0" tIns="0" rIns="0" bIns="0" rtlCol="0" anchor="t" anchorCtr="0">
            <a:prstTxWarp prst="textArchDown">
              <a:avLst/>
            </a:prstTxWarp>
            <a:no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数字技术深度融入全场景</a:t>
            </a:r>
            <a:endParaRPr lang="zh-CN" altLang="en-US" sz="1000" dirty="0">
              <a:solidFill>
                <a:srgbClr val="383838"/>
              </a:solidFill>
              <a:latin typeface="微软雅黑"/>
              <a:ea typeface="微软雅黑"/>
              <a:cs typeface="微软雅黑"/>
            </a:endParaRPr>
          </a:p>
        </p:txBody>
      </p:sp>
      <p:sp>
        <p:nvSpPr>
          <p:cNvPr id="11" name="弧形 10"/>
          <p:cNvSpPr/>
          <p:nvPr/>
        </p:nvSpPr>
        <p:spPr>
          <a:xfrm>
            <a:off x="3868420" y="1580515"/>
            <a:ext cx="4495165" cy="4495165"/>
          </a:xfrm>
          <a:prstGeom prst="arc">
            <a:avLst>
              <a:gd name="adj1" fmla="val 6864169"/>
              <a:gd name="adj2" fmla="val 14734637"/>
            </a:avLst>
          </a:prstGeom>
          <a:ln>
            <a:solidFill>
              <a:srgbClr val="383838">
                <a:alpha val="50000"/>
              </a:srgbClr>
            </a:solidFill>
            <a:prstDash val="lgDashDotDot"/>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2" name="弧形 11"/>
          <p:cNvSpPr/>
          <p:nvPr/>
        </p:nvSpPr>
        <p:spPr>
          <a:xfrm>
            <a:off x="3868420" y="1580515"/>
            <a:ext cx="4495165" cy="4495165"/>
          </a:xfrm>
          <a:prstGeom prst="arc">
            <a:avLst>
              <a:gd name="adj1" fmla="val 17963277"/>
              <a:gd name="adj2" fmla="val 3834265"/>
            </a:avLst>
          </a:prstGeom>
          <a:ln>
            <a:solidFill>
              <a:srgbClr val="383838">
                <a:alpha val="50000"/>
              </a:srgbClr>
            </a:solidFill>
            <a:prstDash val="lgDashDotDot"/>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90" name="Title 2"/>
          <p:cNvSpPr txBox="1"/>
          <p:nvPr/>
        </p:nvSpPr>
        <p:spPr>
          <a:xfrm rot="5400000">
            <a:off x="7675245" y="3574415"/>
            <a:ext cx="1407795" cy="445770"/>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第三环</a:t>
            </a:r>
            <a:endParaRPr lang="zh-CN" altLang="en-US" sz="1200" dirty="0">
              <a:solidFill>
                <a:srgbClr val="383838"/>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endParaRPr lang="zh-CN" altLang="en-US" sz="1000" dirty="0">
              <a:solidFill>
                <a:srgbClr val="383838"/>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五大场景</a:t>
            </a:r>
            <a:endParaRPr lang="zh-CN" altLang="en-US" sz="1200" dirty="0">
              <a:solidFill>
                <a:srgbClr val="383838"/>
              </a:solidFill>
              <a:latin typeface="微软雅黑"/>
              <a:ea typeface="微软雅黑"/>
              <a:cs typeface="微软雅黑"/>
            </a:endParaRPr>
          </a:p>
        </p:txBody>
      </p:sp>
      <p:sp>
        <p:nvSpPr>
          <p:cNvPr id="91" name="Title 2"/>
          <p:cNvSpPr txBox="1"/>
          <p:nvPr/>
        </p:nvSpPr>
        <p:spPr>
          <a:xfrm rot="17880000">
            <a:off x="4962525" y="3268980"/>
            <a:ext cx="733425" cy="184150"/>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第一环</a:t>
            </a:r>
            <a:endParaRPr lang="zh-CN" altLang="en-US" sz="1200" dirty="0">
              <a:solidFill>
                <a:srgbClr val="FFFFFF"/>
              </a:solidFill>
              <a:latin typeface="微软雅黑"/>
              <a:ea typeface="微软雅黑"/>
              <a:cs typeface="微软雅黑"/>
            </a:endParaRPr>
          </a:p>
        </p:txBody>
      </p:sp>
      <p:sp>
        <p:nvSpPr>
          <p:cNvPr id="92" name="Title 2"/>
          <p:cNvSpPr txBox="1"/>
          <p:nvPr/>
        </p:nvSpPr>
        <p:spPr>
          <a:xfrm rot="6660000">
            <a:off x="6643370" y="3938905"/>
            <a:ext cx="733425" cy="184150"/>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第一环</a:t>
            </a:r>
            <a:endParaRPr lang="zh-CN" altLang="en-US" sz="1200" dirty="0">
              <a:solidFill>
                <a:srgbClr val="FFFFFF"/>
              </a:solidFill>
              <a:latin typeface="微软雅黑"/>
              <a:ea typeface="微软雅黑"/>
              <a:cs typeface="微软雅黑"/>
            </a:endParaRPr>
          </a:p>
        </p:txBody>
      </p:sp>
      <p:sp>
        <p:nvSpPr>
          <p:cNvPr id="127" name="Title 2"/>
          <p:cNvSpPr txBox="1"/>
          <p:nvPr/>
        </p:nvSpPr>
        <p:spPr>
          <a:xfrm rot="18900000">
            <a:off x="4328160" y="2395220"/>
            <a:ext cx="1407795" cy="368935"/>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第二环</a:t>
            </a:r>
            <a:endParaRPr lang="zh-CN" altLang="en-US" sz="1200" dirty="0">
              <a:solidFill>
                <a:srgbClr val="383838"/>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①战略引领</a:t>
            </a:r>
            <a:endParaRPr lang="zh-CN" altLang="en-US" sz="1200" dirty="0">
              <a:solidFill>
                <a:srgbClr val="383838"/>
              </a:solidFill>
              <a:latin typeface="微软雅黑"/>
              <a:ea typeface="微软雅黑"/>
              <a:cs typeface="微软雅黑"/>
            </a:endParaRPr>
          </a:p>
        </p:txBody>
      </p:sp>
      <p:sp>
        <p:nvSpPr>
          <p:cNvPr id="128" name="Title 2"/>
          <p:cNvSpPr txBox="1"/>
          <p:nvPr/>
        </p:nvSpPr>
        <p:spPr>
          <a:xfrm rot="2040000">
            <a:off x="6379210" y="2305050"/>
            <a:ext cx="1407795" cy="368935"/>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第二环</a:t>
            </a:r>
            <a:endParaRPr lang="zh-CN" altLang="en-US" sz="1200" dirty="0">
              <a:solidFill>
                <a:srgbClr val="383838"/>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solidFill>
                  <a:srgbClr val="383838"/>
                </a:solidFill>
                <a:latin typeface="微软雅黑"/>
                <a:ea typeface="微软雅黑"/>
                <a:cs typeface="微软雅黑"/>
              </a:defRPr>
            </a:pPr>
            <a:r>
              <a:rPr lang="zh-CN" altLang="en-US" sz="1200" dirty="0">
                <a:solidFill>
                  <a:srgbClr val="383838"/>
                </a:solidFill>
                <a:latin typeface="微软雅黑"/>
                <a:ea typeface="微软雅黑"/>
                <a:cs typeface="微软雅黑"/>
              </a:rPr>
              <a:t>②数据驱动</a:t>
            </a:r>
            <a:endParaRPr lang="zh-CN" altLang="en-US" sz="1200" dirty="0">
              <a:solidFill>
                <a:srgbClr val="383838"/>
              </a:solidFill>
              <a:latin typeface="微软雅黑"/>
              <a:ea typeface="微软雅黑"/>
              <a:cs typeface="微软雅黑"/>
            </a:endParaRPr>
          </a:p>
        </p:txBody>
      </p:sp>
      <p:sp>
        <p:nvSpPr>
          <p:cNvPr id="129" name="Title 2"/>
          <p:cNvSpPr txBox="1"/>
          <p:nvPr/>
        </p:nvSpPr>
        <p:spPr>
          <a:xfrm rot="17880000">
            <a:off x="6986270" y="4238625"/>
            <a:ext cx="1407795" cy="368935"/>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rPr>
              <a:t>第二环</a:t>
            </a:r>
            <a:endParaRPr lang="zh-CN" altLang="en-US" sz="1200" dirty="0">
              <a:solidFill>
                <a:srgbClr val="0042FF"/>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rPr>
              <a:t>③流程优化</a:t>
            </a:r>
            <a:endParaRPr lang="en-US" altLang="zh-CN" sz="1200" dirty="0">
              <a:solidFill>
                <a:srgbClr val="0042FF"/>
              </a:solidFill>
              <a:latin typeface="微软雅黑"/>
              <a:ea typeface="微软雅黑"/>
              <a:cs typeface="微软雅黑"/>
            </a:endParaRPr>
          </a:p>
        </p:txBody>
      </p:sp>
      <p:sp>
        <p:nvSpPr>
          <p:cNvPr id="130" name="Title 2"/>
          <p:cNvSpPr txBox="1"/>
          <p:nvPr/>
        </p:nvSpPr>
        <p:spPr>
          <a:xfrm>
            <a:off x="5368290" y="5256530"/>
            <a:ext cx="1407795" cy="368935"/>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rPr>
              <a:t>第二环</a:t>
            </a:r>
            <a:endParaRPr lang="zh-CN" altLang="en-US" sz="1200" dirty="0">
              <a:solidFill>
                <a:srgbClr val="0042FF"/>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rPr>
              <a:t>④技术创新</a:t>
            </a:r>
            <a:endParaRPr lang="zh-CN" altLang="en-US" sz="1200" dirty="0">
              <a:solidFill>
                <a:srgbClr val="0042FF"/>
              </a:solidFill>
              <a:latin typeface="微软雅黑"/>
              <a:ea typeface="微软雅黑"/>
              <a:cs typeface="微软雅黑"/>
            </a:endParaRPr>
          </a:p>
        </p:txBody>
      </p:sp>
      <p:sp>
        <p:nvSpPr>
          <p:cNvPr id="131" name="Title 2"/>
          <p:cNvSpPr txBox="1"/>
          <p:nvPr/>
        </p:nvSpPr>
        <p:spPr>
          <a:xfrm rot="15840000">
            <a:off x="3791585" y="3932555"/>
            <a:ext cx="1407795" cy="368935"/>
          </a:xfrm>
          <a:prstGeom prst="rect">
            <a:avLst/>
          </a:prstGeom>
        </p:spPr>
        <p:txBody>
          <a:bodyPr vert="horz" wrap="square" lIns="0" tIns="0" rIns="0" bIns="0" rtlCol="0" anchor="t" anchorCtr="0">
            <a:spAutoFit/>
          </a:bodyPr>
          <a:lstStyle>
            <a:lvl1pPr algn="l" defTabSz="914400" rtl="0" eaLnBrk="1" latinLnBrk="0" hangingPunct="1">
              <a:lnSpc>
                <a:spcPct val="90000"/>
              </a:lnSpc>
              <a:spcBef>
                <a:spcPct val="0"/>
              </a:spcBef>
              <a:buNone/>
              <a:defRPr sz="3600" b="0" i="0" kern="1200">
                <a:solidFill>
                  <a:srgbClr val="383838"/>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rPr>
              <a:t>第二环</a:t>
            </a:r>
            <a:endParaRPr lang="zh-CN" altLang="en-US" sz="1200" dirty="0">
              <a:solidFill>
                <a:srgbClr val="0042FF"/>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latin typeface="微软雅黑"/>
                <a:ea typeface="微软雅黑"/>
                <a:cs typeface="微软雅黑"/>
              </a:defRPr>
            </a:pPr>
            <a:r>
              <a:rPr lang="zh-CN" altLang="en-US" sz="1200" dirty="0">
                <a:solidFill>
                  <a:srgbClr val="0042FF"/>
                </a:solidFill>
                <a:latin typeface="微软雅黑"/>
                <a:ea typeface="微软雅黑"/>
                <a:cs typeface="微软雅黑"/>
              </a:rPr>
              <a:t>⑤人才赋能</a:t>
            </a:r>
            <a:endParaRPr lang="zh-CN" altLang="en-US" sz="1200" dirty="0">
              <a:solidFill>
                <a:srgbClr val="0042FF"/>
              </a:solidFill>
              <a:latin typeface="微软雅黑"/>
              <a:ea typeface="微软雅黑"/>
              <a:cs typeface="微软雅黑"/>
            </a:endParaRPr>
          </a:p>
        </p:txBody>
      </p:sp>
      <p:sp>
        <p:nvSpPr>
          <p:cNvPr id="133" name="弧形 23"/>
          <p:cNvSpPr/>
          <p:nvPr/>
        </p:nvSpPr>
        <p:spPr>
          <a:xfrm rot="12900000">
            <a:off x="4615815" y="2412365"/>
            <a:ext cx="997585" cy="1621155"/>
          </a:xfrm>
          <a:prstGeom prst="arc">
            <a:avLst>
              <a:gd name="adj1" fmla="val 16320070"/>
              <a:gd name="adj2" fmla="val 146598"/>
            </a:avLst>
          </a:prstGeom>
          <a:noFill/>
          <a:ln w="22225" cap="flat" cmpd="sng" algn="ctr">
            <a:gradFill flip="none" rotWithShape="1">
              <a:gsLst>
                <a:gs pos="100000">
                  <a:srgbClr val="0042FF"/>
                </a:gs>
                <a:gs pos="30000">
                  <a:srgbClr val="0042FF">
                    <a:alpha val="0"/>
                  </a:srgbClr>
                </a:gs>
              </a:gsLst>
              <a:path path="circle">
                <a:fillToRect r="100000" b="100000"/>
              </a:path>
              <a:tileRect l="-100000" t="-100000"/>
            </a:gradFill>
            <a:prstDash val="solid"/>
            <a:miter lim="800000"/>
            <a:headEnd type="none" w="lg" len="lg"/>
            <a:tailEnd type="stealth" w="lg" len="lg"/>
          </a:ln>
          <a:effectLst/>
        </p:spPr>
        <p:txBody>
          <a:bodyPr rtlCol="0" anchor="ctr"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34" name="弧形 23"/>
          <p:cNvSpPr/>
          <p:nvPr/>
        </p:nvSpPr>
        <p:spPr>
          <a:xfrm rot="17100000">
            <a:off x="5740400" y="1896110"/>
            <a:ext cx="997585" cy="1621155"/>
          </a:xfrm>
          <a:prstGeom prst="arc">
            <a:avLst>
              <a:gd name="adj1" fmla="val 16320070"/>
              <a:gd name="adj2" fmla="val 146598"/>
            </a:avLst>
          </a:prstGeom>
          <a:noFill/>
          <a:ln w="22225" cap="flat" cmpd="sng" algn="ctr">
            <a:gradFill flip="none" rotWithShape="1">
              <a:gsLst>
                <a:gs pos="100000">
                  <a:srgbClr val="0042FF"/>
                </a:gs>
                <a:gs pos="30000">
                  <a:srgbClr val="0042FF">
                    <a:alpha val="0"/>
                  </a:srgbClr>
                </a:gs>
              </a:gsLst>
              <a:path path="circle">
                <a:fillToRect r="100000" b="100000"/>
              </a:path>
              <a:tileRect l="-100000" t="-100000"/>
            </a:gradFill>
            <a:prstDash val="solid"/>
            <a:miter lim="800000"/>
            <a:headEnd type="none" w="lg" len="lg"/>
            <a:tailEnd type="stealth" w="lg" len="lg"/>
          </a:ln>
          <a:effectLst/>
        </p:spPr>
        <p:txBody>
          <a:bodyPr rtlCol="0" anchor="ctr" lIns="0" rIns="0" tIns="0" bIns="0">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noProof="0">
              <a:ln>
                <a:noFill/>
              </a:ln>
              <a:solidFill>
                <a:srgbClr val="383838"/>
              </a:solidFill>
              <a:effectLst/>
              <a:uLnTx/>
              <a:uFillTx/>
              <a:latin typeface="微软雅黑"/>
              <a:ea typeface="微软雅黑"/>
              <a:cs typeface="微软雅黑"/>
              <a:sym typeface="微软雅黑"/>
            </a:endParaRPr>
          </a:p>
        </p:txBody>
      </p:sp>
      <p:sp>
        <p:nvSpPr>
          <p:cNvPr id="135" name="弧形 23"/>
          <p:cNvSpPr/>
          <p:nvPr/>
        </p:nvSpPr>
        <p:spPr>
          <a:xfrm>
            <a:off x="6789420" y="2835910"/>
            <a:ext cx="997585" cy="1621155"/>
          </a:xfrm>
          <a:prstGeom prst="arc">
            <a:avLst>
              <a:gd name="adj1" fmla="val 16320070"/>
              <a:gd name="adj2" fmla="val 146598"/>
            </a:avLst>
          </a:prstGeom>
          <a:noFill/>
          <a:ln w="22225" cap="flat" cmpd="sng" algn="ctr">
            <a:gradFill flip="none" rotWithShape="1">
              <a:gsLst>
                <a:gs pos="100000">
                  <a:srgbClr val="0042FF"/>
                </a:gs>
                <a:gs pos="30000">
                  <a:srgbClr val="0042FF">
                    <a:alpha val="0"/>
                  </a:srgbClr>
                </a:gs>
              </a:gsLst>
              <a:path path="circle">
                <a:fillToRect r="100000" b="100000"/>
              </a:path>
              <a:tileRect l="-100000" t="-100000"/>
            </a:gradFill>
            <a:prstDash val="solid"/>
            <a:miter lim="800000"/>
            <a:headEnd type="none" w="lg" len="lg"/>
            <a:tailEnd type="stealth" w="lg" len="lg"/>
          </a:ln>
          <a:effectLst/>
        </p:spPr>
        <p:txBody>
          <a:bodyPr rtlCol="0" anchor="ctr"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36" name="弧形 23"/>
          <p:cNvSpPr/>
          <p:nvPr/>
        </p:nvSpPr>
        <p:spPr>
          <a:xfrm rot="4260000">
            <a:off x="6090285" y="4079240"/>
            <a:ext cx="997585" cy="1621155"/>
          </a:xfrm>
          <a:prstGeom prst="arc">
            <a:avLst>
              <a:gd name="adj1" fmla="val 16320070"/>
              <a:gd name="adj2" fmla="val 146598"/>
            </a:avLst>
          </a:prstGeom>
          <a:noFill/>
          <a:ln w="22225" cap="flat" cmpd="sng" algn="ctr">
            <a:gradFill flip="none" rotWithShape="1">
              <a:gsLst>
                <a:gs pos="100000">
                  <a:srgbClr val="0042FF"/>
                </a:gs>
                <a:gs pos="30000">
                  <a:srgbClr val="0042FF">
                    <a:alpha val="0"/>
                  </a:srgbClr>
                </a:gs>
              </a:gsLst>
              <a:path path="circle">
                <a:fillToRect r="100000" b="100000"/>
              </a:path>
              <a:tileRect l="-100000" t="-100000"/>
            </a:gradFill>
            <a:prstDash val="solid"/>
            <a:miter lim="800000"/>
            <a:headEnd type="none" w="lg" len="lg"/>
            <a:tailEnd type="stealth" w="lg" len="lg"/>
          </a:ln>
          <a:effectLst/>
        </p:spPr>
        <p:txBody>
          <a:bodyPr rtlCol="0" anchor="ctr"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37" name="弧形 23"/>
          <p:cNvSpPr/>
          <p:nvPr/>
        </p:nvSpPr>
        <p:spPr>
          <a:xfrm rot="9000000">
            <a:off x="4742180" y="3728085"/>
            <a:ext cx="997585" cy="1621155"/>
          </a:xfrm>
          <a:prstGeom prst="arc">
            <a:avLst>
              <a:gd name="adj1" fmla="val 16320070"/>
              <a:gd name="adj2" fmla="val 146598"/>
            </a:avLst>
          </a:prstGeom>
          <a:noFill/>
          <a:ln w="22225" cap="flat" cmpd="sng" algn="ctr">
            <a:gradFill flip="none" rotWithShape="1">
              <a:gsLst>
                <a:gs pos="100000">
                  <a:srgbClr val="0042FF"/>
                </a:gs>
                <a:gs pos="30000">
                  <a:srgbClr val="0042FF">
                    <a:alpha val="0"/>
                  </a:srgbClr>
                </a:gs>
              </a:gsLst>
              <a:path path="circle">
                <a:fillToRect r="100000" b="100000"/>
              </a:path>
              <a:tileRect l="-100000" t="-100000"/>
            </a:gradFill>
            <a:prstDash val="solid"/>
            <a:miter lim="800000"/>
            <a:headEnd type="none" w="lg" len="lg"/>
            <a:tailEnd type="stealth" w="lg" len="lg"/>
          </a:ln>
          <a:effectLst/>
        </p:spPr>
        <p:txBody>
          <a:bodyPr rtlCol="0" anchor="ctr"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a:ln>
                <a:noFill/>
              </a:ln>
              <a:solidFill>
                <a:srgbClr val="FFFFFF"/>
              </a:solidFill>
              <a:effectLst/>
              <a:uLnTx/>
              <a:uFillTx/>
              <a:latin typeface="微软雅黑"/>
              <a:ea typeface="微软雅黑"/>
              <a:cs typeface="微软雅黑"/>
              <a:sym typeface="微软雅黑"/>
            </a:endParaRPr>
          </a:p>
        </p:txBody>
      </p:sp>
      <p:sp>
        <p:nvSpPr>
          <p:cNvPr id="140" name="Venn diagram"/>
          <p:cNvSpPr txBox="1"/>
          <p:nvPr/>
        </p:nvSpPr>
        <p:spPr>
          <a:xfrm>
            <a:off x="1118235" y="1580515"/>
            <a:ext cx="1548130" cy="358140"/>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000" b="1">
                <a:solidFill>
                  <a:srgbClr val="0042FF">
                    <a:alpha val="80000"/>
                  </a:srgbClr>
                </a:solidFill>
                <a:latin typeface="微软雅黑"/>
                <a:ea typeface="微软雅黑"/>
                <a:cs typeface="微软雅黑"/>
                <a:sym typeface="微软雅黑"/>
              </a:rPr>
              <a:t>核心</a:t>
            </a:r>
            <a:endParaRPr lang="zh-CN" altLang="en-US" sz="2000" b="1">
              <a:solidFill>
                <a:srgbClr val="0042FF">
                  <a:alpha val="80000"/>
                </a:srgbClr>
              </a:solidFill>
              <a:latin typeface="微软雅黑"/>
              <a:ea typeface="微软雅黑"/>
              <a:cs typeface="微软雅黑"/>
              <a:sym typeface="微软雅黑"/>
            </a:endParaRPr>
          </a:p>
        </p:txBody>
      </p:sp>
      <p:cxnSp>
        <p:nvCxnSpPr>
          <p:cNvPr id="141" name="直接连接符 140"/>
          <p:cNvCxnSpPr/>
          <p:nvPr/>
        </p:nvCxnSpPr>
        <p:spPr>
          <a:xfrm flipH="1" flipV="1">
            <a:off x="3439795" y="2013585"/>
            <a:ext cx="1989455" cy="1979295"/>
          </a:xfrm>
          <a:prstGeom prst="line">
            <a:avLst/>
          </a:prstGeom>
          <a:noFill/>
          <a:ln w="12700" cap="flat" cmpd="sng" algn="ctr">
            <a:solidFill>
              <a:srgbClr val="3368FF"/>
            </a:solidFill>
            <a:prstDash val="solid"/>
            <a:miter lim="800000"/>
            <a:headEnd type="oval"/>
            <a:tailEnd type="none"/>
          </a:ln>
          <a:effectLst/>
        </p:spPr>
      </p:cxnSp>
      <p:cxnSp>
        <p:nvCxnSpPr>
          <p:cNvPr id="142" name="直接连接符 141"/>
          <p:cNvCxnSpPr/>
          <p:nvPr/>
        </p:nvCxnSpPr>
        <p:spPr>
          <a:xfrm>
            <a:off x="794385" y="2012950"/>
            <a:ext cx="2646045" cy="0"/>
          </a:xfrm>
          <a:prstGeom prst="line">
            <a:avLst/>
          </a:prstGeom>
          <a:noFill/>
          <a:ln w="12700" cap="flat" cmpd="sng" algn="ctr">
            <a:solidFill>
              <a:srgbClr val="3368FF"/>
            </a:solidFill>
            <a:prstDash val="solid"/>
            <a:miter lim="800000"/>
            <a:headEnd type="oval"/>
            <a:tailEnd type="none"/>
          </a:ln>
          <a:effectLst/>
        </p:spPr>
      </p:cxnSp>
      <p:grpSp>
        <p:nvGrpSpPr>
          <p:cNvPr id="3" name="组合 2"/>
          <p:cNvGrpSpPr/>
          <p:nvPr/>
        </p:nvGrpSpPr>
        <p:grpSpPr>
          <a:xfrm>
            <a:off x="7363460" y="1697990"/>
            <a:ext cx="4130675" cy="1169670"/>
            <a:chOff x="11596" y="2674"/>
            <a:chExt cx="6505" cy="1842"/>
          </a:xfrm>
        </p:grpSpPr>
        <p:cxnSp>
          <p:nvCxnSpPr>
            <p:cNvPr id="146" name="直接连接符 145"/>
            <p:cNvCxnSpPr/>
            <p:nvPr/>
          </p:nvCxnSpPr>
          <p:spPr>
            <a:xfrm flipH="1">
              <a:off x="13935" y="2674"/>
              <a:ext cx="4167" cy="0"/>
            </a:xfrm>
            <a:prstGeom prst="line">
              <a:avLst/>
            </a:prstGeom>
            <a:noFill/>
            <a:ln w="12700" cap="flat" cmpd="sng" algn="ctr">
              <a:solidFill>
                <a:srgbClr val="3368FF"/>
              </a:solidFill>
              <a:prstDash val="solid"/>
              <a:miter lim="800000"/>
              <a:headEnd type="oval"/>
              <a:tailEnd type="none"/>
            </a:ln>
            <a:effectLst/>
          </p:spPr>
        </p:cxnSp>
        <p:cxnSp>
          <p:nvCxnSpPr>
            <p:cNvPr id="147" name="直接连接符 146"/>
            <p:cNvCxnSpPr/>
            <p:nvPr/>
          </p:nvCxnSpPr>
          <p:spPr>
            <a:xfrm flipV="1">
              <a:off x="11596" y="2674"/>
              <a:ext cx="2339" cy="1842"/>
            </a:xfrm>
            <a:prstGeom prst="line">
              <a:avLst/>
            </a:prstGeom>
            <a:noFill/>
            <a:ln w="12700" cap="flat" cmpd="sng" algn="ctr">
              <a:solidFill>
                <a:srgbClr val="3368FF"/>
              </a:solidFill>
              <a:prstDash val="solid"/>
              <a:miter lim="800000"/>
              <a:headEnd type="oval"/>
              <a:tailEnd type="none"/>
            </a:ln>
            <a:effectLst/>
          </p:spPr>
        </p:cxnSp>
      </p:grpSp>
      <p:cxnSp>
        <p:nvCxnSpPr>
          <p:cNvPr id="151" name="直接连接符 150"/>
          <p:cNvCxnSpPr/>
          <p:nvPr/>
        </p:nvCxnSpPr>
        <p:spPr>
          <a:xfrm flipH="1" flipV="1">
            <a:off x="8758555" y="5073015"/>
            <a:ext cx="2621280" cy="3810"/>
          </a:xfrm>
          <a:prstGeom prst="line">
            <a:avLst/>
          </a:prstGeom>
          <a:noFill/>
          <a:ln w="12700" cap="flat" cmpd="sng" algn="ctr">
            <a:solidFill>
              <a:srgbClr val="3368FF"/>
            </a:solidFill>
            <a:prstDash val="solid"/>
            <a:miter lim="800000"/>
            <a:headEnd type="oval"/>
            <a:tailEnd type="none"/>
          </a:ln>
          <a:effectLst/>
        </p:spPr>
      </p:cxnSp>
      <p:cxnSp>
        <p:nvCxnSpPr>
          <p:cNvPr id="152" name="直接连接符 151"/>
          <p:cNvCxnSpPr/>
          <p:nvPr/>
        </p:nvCxnSpPr>
        <p:spPr>
          <a:xfrm>
            <a:off x="8263890" y="4190365"/>
            <a:ext cx="494665" cy="882650"/>
          </a:xfrm>
          <a:prstGeom prst="line">
            <a:avLst/>
          </a:prstGeom>
          <a:noFill/>
          <a:ln w="12700" cap="flat" cmpd="sng" algn="ctr">
            <a:solidFill>
              <a:srgbClr val="3368FF"/>
            </a:solidFill>
            <a:prstDash val="solid"/>
            <a:miter lim="800000"/>
            <a:headEnd type="oval"/>
            <a:tailEnd type="none"/>
          </a:ln>
          <a:effectLst/>
        </p:spPr>
      </p:cxnSp>
      <p:cxnSp>
        <p:nvCxnSpPr>
          <p:cNvPr id="156" name="直接连接符 155"/>
          <p:cNvCxnSpPr/>
          <p:nvPr/>
        </p:nvCxnSpPr>
        <p:spPr>
          <a:xfrm>
            <a:off x="803910" y="5027930"/>
            <a:ext cx="2646045" cy="0"/>
          </a:xfrm>
          <a:prstGeom prst="line">
            <a:avLst/>
          </a:prstGeom>
          <a:noFill/>
          <a:ln w="12700" cap="flat" cmpd="sng" algn="ctr">
            <a:solidFill>
              <a:srgbClr val="3368FF"/>
            </a:solidFill>
            <a:prstDash val="solid"/>
            <a:miter lim="800000"/>
            <a:headEnd type="oval"/>
            <a:tailEnd type="none"/>
          </a:ln>
          <a:effectLst/>
        </p:spPr>
      </p:cxnSp>
      <p:cxnSp>
        <p:nvCxnSpPr>
          <p:cNvPr id="157" name="直接连接符 156"/>
          <p:cNvCxnSpPr/>
          <p:nvPr/>
        </p:nvCxnSpPr>
        <p:spPr>
          <a:xfrm flipH="1">
            <a:off x="3440430" y="4217670"/>
            <a:ext cx="1493520" cy="810260"/>
          </a:xfrm>
          <a:prstGeom prst="line">
            <a:avLst/>
          </a:prstGeom>
          <a:noFill/>
          <a:ln w="12700" cap="flat" cmpd="sng" algn="ctr">
            <a:solidFill>
              <a:srgbClr val="3368FF"/>
            </a:solidFill>
            <a:prstDash val="solid"/>
            <a:miter lim="800000"/>
            <a:headEnd type="oval"/>
            <a:tailEnd type="none"/>
          </a:ln>
          <a:effectLst/>
        </p:spPr>
      </p:cxnSp>
      <p:sp>
        <p:nvSpPr>
          <p:cNvPr id="158" name="Venn diagram"/>
          <p:cNvSpPr txBox="1"/>
          <p:nvPr/>
        </p:nvSpPr>
        <p:spPr>
          <a:xfrm>
            <a:off x="880745" y="2183765"/>
            <a:ext cx="2339975" cy="1127760"/>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a:solidFill>
                  <a:srgbClr val="383838">
                    <a:alpha val="80000"/>
                  </a:srgbClr>
                </a:solidFill>
                <a:latin typeface="微软雅黑"/>
                <a:ea typeface="微软雅黑"/>
                <a:cs typeface="微软雅黑"/>
                <a:sym typeface="微软雅黑"/>
              </a:rPr>
              <a:t>锚定运营提质增效根本任务，以双核驱动为基础，五大驱动为引擎，五大场景为载体，形成循环上升的运营提升逻辑。</a:t>
            </a:r>
            <a:endParaRPr lang="zh-CN" altLang="en-US" sz="1400">
              <a:solidFill>
                <a:srgbClr val="383838">
                  <a:alpha val="80000"/>
                </a:srgbClr>
              </a:solidFill>
              <a:latin typeface="微软雅黑"/>
              <a:ea typeface="微软雅黑"/>
              <a:cs typeface="微软雅黑"/>
              <a:sym typeface="微软雅黑"/>
            </a:endParaRPr>
          </a:p>
        </p:txBody>
      </p:sp>
      <p:sp>
        <p:nvSpPr>
          <p:cNvPr id="159" name="Venn diagram"/>
          <p:cNvSpPr txBox="1"/>
          <p:nvPr/>
        </p:nvSpPr>
        <p:spPr>
          <a:xfrm>
            <a:off x="1245235" y="4651375"/>
            <a:ext cx="1548130" cy="358140"/>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000" b="1">
                <a:solidFill>
                  <a:srgbClr val="0042FF">
                    <a:alpha val="80000"/>
                  </a:srgbClr>
                </a:solidFill>
                <a:latin typeface="微软雅黑"/>
                <a:ea typeface="微软雅黑"/>
                <a:cs typeface="微软雅黑"/>
                <a:sym typeface="微软雅黑"/>
              </a:rPr>
              <a:t>第一环</a:t>
            </a:r>
            <a:endParaRPr lang="zh-CN" altLang="en-US" sz="2000" b="1">
              <a:solidFill>
                <a:srgbClr val="0042FF">
                  <a:alpha val="80000"/>
                </a:srgbClr>
              </a:solidFill>
              <a:latin typeface="微软雅黑"/>
              <a:ea typeface="微软雅黑"/>
              <a:cs typeface="微软雅黑"/>
              <a:sym typeface="微软雅黑"/>
            </a:endParaRPr>
          </a:p>
        </p:txBody>
      </p:sp>
      <p:sp>
        <p:nvSpPr>
          <p:cNvPr id="160" name="Venn diagram"/>
          <p:cNvSpPr txBox="1"/>
          <p:nvPr/>
        </p:nvSpPr>
        <p:spPr>
          <a:xfrm>
            <a:off x="1007745" y="5147945"/>
            <a:ext cx="2339975" cy="912495"/>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a:solidFill>
                  <a:srgbClr val="383838">
                    <a:alpha val="80000"/>
                  </a:srgbClr>
                </a:solidFill>
                <a:latin typeface="微软雅黑"/>
                <a:ea typeface="微软雅黑"/>
                <a:cs typeface="微软雅黑"/>
                <a:sym typeface="微软雅黑"/>
              </a:rPr>
              <a:t>以</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效率提升</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和</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质量保障</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为双核驱动，夯实运营根基，为持续改进注入核心动力。</a:t>
            </a:r>
            <a:endParaRPr lang="zh-CN" altLang="en-US" sz="1400">
              <a:solidFill>
                <a:srgbClr val="383838">
                  <a:alpha val="80000"/>
                </a:srgbClr>
              </a:solidFill>
              <a:latin typeface="微软雅黑"/>
              <a:ea typeface="微软雅黑"/>
              <a:cs typeface="微软雅黑"/>
              <a:sym typeface="微软雅黑"/>
            </a:endParaRPr>
          </a:p>
        </p:txBody>
      </p:sp>
      <p:sp>
        <p:nvSpPr>
          <p:cNvPr id="161" name="Venn diagram"/>
          <p:cNvSpPr txBox="1"/>
          <p:nvPr/>
        </p:nvSpPr>
        <p:spPr>
          <a:xfrm>
            <a:off x="9277350" y="1282065"/>
            <a:ext cx="1548130" cy="358140"/>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000" b="1">
                <a:solidFill>
                  <a:srgbClr val="0042FF">
                    <a:alpha val="80000"/>
                  </a:srgbClr>
                </a:solidFill>
                <a:latin typeface="微软雅黑"/>
                <a:ea typeface="微软雅黑"/>
                <a:cs typeface="微软雅黑"/>
                <a:sym typeface="微软雅黑"/>
              </a:rPr>
              <a:t>第二环</a:t>
            </a:r>
            <a:endParaRPr lang="zh-CN" altLang="en-US" sz="2000" b="1">
              <a:solidFill>
                <a:srgbClr val="0042FF">
                  <a:alpha val="80000"/>
                </a:srgbClr>
              </a:solidFill>
              <a:latin typeface="微软雅黑"/>
              <a:ea typeface="微软雅黑"/>
              <a:cs typeface="微软雅黑"/>
              <a:sym typeface="微软雅黑"/>
            </a:endParaRPr>
          </a:p>
        </p:txBody>
      </p:sp>
      <p:sp>
        <p:nvSpPr>
          <p:cNvPr id="162" name="Venn diagram"/>
          <p:cNvSpPr txBox="1"/>
          <p:nvPr/>
        </p:nvSpPr>
        <p:spPr>
          <a:xfrm>
            <a:off x="9039860" y="1849755"/>
            <a:ext cx="2506980" cy="912495"/>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a:solidFill>
                  <a:srgbClr val="383838">
                    <a:alpha val="80000"/>
                  </a:srgbClr>
                </a:solidFill>
                <a:latin typeface="微软雅黑"/>
                <a:ea typeface="微软雅黑"/>
                <a:cs typeface="微软雅黑"/>
                <a:sym typeface="微软雅黑"/>
              </a:rPr>
              <a:t>践行</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战略引领、数据驱动、流程优化、技术创新、人才赋能</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五大驱动，协同发力，推动运营体系全面升级。</a:t>
            </a:r>
            <a:endParaRPr lang="zh-CN" altLang="en-US" sz="1400">
              <a:solidFill>
                <a:srgbClr val="383838">
                  <a:alpha val="80000"/>
                </a:srgbClr>
              </a:solidFill>
              <a:latin typeface="微软雅黑"/>
              <a:ea typeface="微软雅黑"/>
              <a:cs typeface="微软雅黑"/>
              <a:sym typeface="微软雅黑"/>
            </a:endParaRPr>
          </a:p>
        </p:txBody>
      </p:sp>
      <p:sp>
        <p:nvSpPr>
          <p:cNvPr id="163" name="Venn diagram"/>
          <p:cNvSpPr txBox="1"/>
          <p:nvPr/>
        </p:nvSpPr>
        <p:spPr>
          <a:xfrm>
            <a:off x="9339898" y="4681855"/>
            <a:ext cx="1548130" cy="358140"/>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000" b="1">
                <a:solidFill>
                  <a:srgbClr val="0042FF">
                    <a:alpha val="80000"/>
                  </a:srgbClr>
                </a:solidFill>
                <a:latin typeface="微软雅黑"/>
                <a:ea typeface="微软雅黑"/>
                <a:cs typeface="微软雅黑"/>
                <a:sym typeface="微软雅黑"/>
              </a:rPr>
              <a:t>第三环</a:t>
            </a:r>
            <a:endParaRPr lang="zh-CN" altLang="en-US" sz="2000" b="1">
              <a:solidFill>
                <a:srgbClr val="0042FF">
                  <a:alpha val="80000"/>
                </a:srgbClr>
              </a:solidFill>
              <a:latin typeface="微软雅黑"/>
              <a:ea typeface="微软雅黑"/>
              <a:cs typeface="微软雅黑"/>
              <a:sym typeface="微软雅黑"/>
            </a:endParaRPr>
          </a:p>
        </p:txBody>
      </p:sp>
      <p:sp>
        <p:nvSpPr>
          <p:cNvPr id="164" name="Venn diagram"/>
          <p:cNvSpPr txBox="1"/>
          <p:nvPr/>
        </p:nvSpPr>
        <p:spPr>
          <a:xfrm>
            <a:off x="8848725" y="5180965"/>
            <a:ext cx="2620645" cy="1127760"/>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a:solidFill>
                  <a:srgbClr val="383838">
                    <a:alpha val="80000"/>
                  </a:srgbClr>
                </a:solidFill>
                <a:latin typeface="微软雅黑"/>
                <a:ea typeface="微软雅黑"/>
                <a:cs typeface="微软雅黑"/>
                <a:sym typeface="微软雅黑"/>
              </a:rPr>
              <a:t>让数字技术深度融入</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研发</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生产</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供应链</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营销</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服务</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五大场景，紧扣</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数字化赋能运营提质</a:t>
            </a:r>
            <a:r>
              <a:rPr lang="en-US" altLang="zh-CN" sz="1400">
                <a:solidFill>
                  <a:srgbClr val="383838">
                    <a:alpha val="80000"/>
                  </a:srgbClr>
                </a:solidFill>
                <a:latin typeface="微软雅黑"/>
                <a:ea typeface="微软雅黑"/>
                <a:cs typeface="微软雅黑"/>
                <a:sym typeface="微软雅黑"/>
              </a:rPr>
              <a:t>”</a:t>
            </a:r>
            <a:r>
              <a:rPr lang="zh-CN" altLang="en-US" sz="1400">
                <a:solidFill>
                  <a:srgbClr val="383838">
                    <a:alpha val="80000"/>
                  </a:srgbClr>
                </a:solidFill>
                <a:latin typeface="微软雅黑"/>
                <a:ea typeface="微软雅黑"/>
                <a:cs typeface="微软雅黑"/>
                <a:sym typeface="微软雅黑"/>
              </a:rPr>
              <a:t>核心目标，为组织高质量发展注入强劲动能。</a:t>
            </a:r>
            <a:endParaRPr lang="zh-CN" altLang="en-US" sz="1400">
              <a:solidFill>
                <a:srgbClr val="383838">
                  <a:alpha val="80000"/>
                </a:srgbClr>
              </a:solidFill>
              <a:latin typeface="微软雅黑"/>
              <a:ea typeface="微软雅黑"/>
              <a:cs typeface="微软雅黑"/>
              <a:sym typeface="微软雅黑"/>
            </a:endParaRPr>
          </a:p>
        </p:txBody>
      </p:sp>
      <p:sp>
        <p:nvSpPr>
          <p:cNvPr id="2" name="Title 2"/>
          <p:cNvSpPr txBox="1"/>
          <p:nvPr/>
        </p:nvSpPr>
        <p:spPr>
          <a:xfrm>
            <a:off x="5429250" y="2858770"/>
            <a:ext cx="1457325" cy="593090"/>
          </a:xfrm>
          <a:prstGeom prst="rect">
            <a:avLst/>
          </a:prstGeom>
        </p:spPr>
        <p:txBody>
          <a:bodyPr vert="horz" wrap="square" lIns="0" tIns="0" rIns="0" bIns="0" rtlCol="0" anchor="t" anchorCtr="0">
            <a:prstTxWarp prst="textArchUp">
              <a:avLst/>
            </a:prstTxWarp>
            <a:noAutofit/>
          </a:bodyPr>
          <a:lstStyle>
            <a:lvl1pPr algn="l" defTabSz="914400" rtl="0" eaLnBrk="1" latinLnBrk="0" hangingPunct="1">
              <a:lnSpc>
                <a:spcPct val="90000"/>
              </a:lnSpc>
              <a:spcBef>
                <a:spcPct val="0"/>
              </a:spcBef>
              <a:buNone/>
              <a:defRPr sz="3600" b="0" i="0" kern="1200">
                <a:solidFill>
                  <a:srgbClr val="FFFFFF"/>
                </a:solidFill>
                <a:latin typeface="微软雅黑"/>
                <a:ea typeface="微软雅黑"/>
                <a:cs typeface="微软雅黑"/>
              </a:defRPr>
            </a:lvl1pPr>
          </a:lstStyle>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驱动双核</a:t>
            </a:r>
            <a:endParaRPr lang="zh-CN" altLang="en-US" sz="1200" dirty="0">
              <a:solidFill>
                <a:srgbClr val="FFFFFF"/>
              </a:solidFill>
              <a:latin typeface="微软雅黑"/>
              <a:ea typeface="微软雅黑"/>
              <a:cs typeface="微软雅黑"/>
            </a:endParaRPr>
          </a:p>
          <a:p>
            <a:pPr marL="0" marR="0" lvl="0" indent="0" algn="ctr" defTabSz="914400" rtl="0" eaLnBrk="1" fontAlgn="auto" latinLnBrk="0" hangingPunct="1">
              <a:lnSpc>
                <a:spcPct val="100000"/>
              </a:lnSpc>
              <a:spcBef>
                <a:spcPct val="0"/>
              </a:spcBef>
              <a:spcAft>
                <a:spcPts val="0"/>
              </a:spcAft>
              <a:buClrTx/>
              <a:buSzTx/>
              <a:buFontTx/>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①效率提升</a:t>
            </a:r>
            <a:endParaRPr lang="zh-CN" altLang="en-US" sz="1000" dirty="0">
              <a:solidFill>
                <a:srgbClr val="FFFFFF"/>
              </a:solidFill>
              <a:latin typeface="微软雅黑"/>
              <a:ea typeface="微软雅黑"/>
              <a:cs typeface="微软雅黑"/>
            </a:endParaRPr>
          </a:p>
        </p:txBody>
      </p:sp>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3" name="组合 1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4" name="文本框 1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循环逻辑架构 |</a:t>
            </a:r>
            <a:r>
              <a:rPr lang="zh-CN" altLang="en-US" sz="2500" dirty="0">
                <a:solidFill>
                  <a:srgbClr val="0042FF"/>
                </a:solidFill>
                <a:effectLst/>
                <a:latin typeface="微软雅黑"/>
                <a:ea typeface="微软雅黑"/>
                <a:cs typeface="微软雅黑"/>
              </a:rPr>
              <a:t> </a:t>
            </a:r>
            <a:r>
              <a:rPr lang="en-US" altLang="zh-CN" sz="2500" dirty="0">
                <a:solidFill>
                  <a:srgbClr val="383838"/>
                </a:solidFill>
                <a:effectLst/>
                <a:latin typeface="微软雅黑"/>
                <a:ea typeface="微软雅黑"/>
                <a:cs typeface="微软雅黑"/>
              </a:rPr>
              <a:t>GE</a:t>
            </a:r>
            <a:r>
              <a:rPr sz="2500" dirty="0">
                <a:solidFill>
                  <a:srgbClr val="383838"/>
                </a:solidFill>
                <a:effectLst/>
                <a:latin typeface="微软雅黑"/>
                <a:ea typeface="微软雅黑"/>
                <a:cs typeface="微软雅黑"/>
              </a:rPr>
              <a:t>领导力模型</a:t>
            </a:r>
            <a:endParaRPr sz="2500" dirty="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9" name="组合 68"/>
          <p:cNvGrpSpPr/>
          <p:nvPr/>
        </p:nvGrpSpPr>
        <p:grpSpPr>
          <a:xfrm rot="0">
            <a:off x="923290" y="1861820"/>
            <a:ext cx="10650855" cy="4690110"/>
            <a:chOff x="1167" y="8849"/>
            <a:chExt cx="16773" cy="7386"/>
          </a:xfrm>
        </p:grpSpPr>
        <p:grpSp>
          <p:nvGrpSpPr>
            <p:cNvPr id="49" name="组合 48"/>
            <p:cNvGrpSpPr/>
            <p:nvPr/>
          </p:nvGrpSpPr>
          <p:grpSpPr>
            <a:xfrm>
              <a:off x="5836" y="8849"/>
              <a:ext cx="7386" cy="7386"/>
              <a:chOff x="5556" y="8849"/>
              <a:chExt cx="7386" cy="7386"/>
            </a:xfrm>
          </p:grpSpPr>
          <p:sp>
            <p:nvSpPr>
              <p:cNvPr id="17" name="Freeform 11"/>
              <p:cNvSpPr/>
              <p:nvPr/>
            </p:nvSpPr>
            <p:spPr bwMode="auto">
              <a:xfrm>
                <a:off x="5980" y="12200"/>
                <a:ext cx="3537" cy="3638"/>
              </a:xfrm>
              <a:custGeom>
                <a:avLst/>
                <a:gdLst>
                  <a:gd name="T0" fmla="*/ 885 w 896"/>
                  <a:gd name="T1" fmla="*/ 430 h 921"/>
                  <a:gd name="T2" fmla="*/ 828 w 896"/>
                  <a:gd name="T3" fmla="*/ 434 h 921"/>
                  <a:gd name="T4" fmla="*/ 495 w 896"/>
                  <a:gd name="T5" fmla="*/ 188 h 921"/>
                  <a:gd name="T6" fmla="*/ 248 w 896"/>
                  <a:gd name="T7" fmla="*/ 0 h 921"/>
                  <a:gd name="T8" fmla="*/ 0 w 896"/>
                  <a:gd name="T9" fmla="*/ 189 h 921"/>
                  <a:gd name="T10" fmla="*/ 828 w 896"/>
                  <a:gd name="T11" fmla="*/ 921 h 921"/>
                  <a:gd name="T12" fmla="*/ 896 w 896"/>
                  <a:gd name="T13" fmla="*/ 918 h 921"/>
                  <a:gd name="T14" fmla="*/ 705 w 896"/>
                  <a:gd name="T15" fmla="*/ 667 h 921"/>
                  <a:gd name="T16" fmla="*/ 885 w 896"/>
                  <a:gd name="T17" fmla="*/ 430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6" h="921">
                    <a:moveTo>
                      <a:pt x="885" y="430"/>
                    </a:moveTo>
                    <a:cubicBezTo>
                      <a:pt x="866" y="433"/>
                      <a:pt x="847" y="434"/>
                      <a:pt x="828" y="434"/>
                    </a:cubicBezTo>
                    <a:cubicBezTo>
                      <a:pt x="671" y="434"/>
                      <a:pt x="538" y="330"/>
                      <a:pt x="495" y="188"/>
                    </a:cubicBezTo>
                    <a:cubicBezTo>
                      <a:pt x="248" y="0"/>
                      <a:pt x="248" y="0"/>
                      <a:pt x="248" y="0"/>
                    </a:cubicBezTo>
                    <a:cubicBezTo>
                      <a:pt x="0" y="189"/>
                      <a:pt x="0" y="189"/>
                      <a:pt x="0" y="189"/>
                    </a:cubicBezTo>
                    <a:cubicBezTo>
                      <a:pt x="50" y="601"/>
                      <a:pt x="402" y="921"/>
                      <a:pt x="828" y="921"/>
                    </a:cubicBezTo>
                    <a:cubicBezTo>
                      <a:pt x="851" y="921"/>
                      <a:pt x="874" y="920"/>
                      <a:pt x="896" y="918"/>
                    </a:cubicBezTo>
                    <a:cubicBezTo>
                      <a:pt x="705" y="667"/>
                      <a:pt x="705" y="667"/>
                      <a:pt x="705" y="667"/>
                    </a:cubicBezTo>
                    <a:lnTo>
                      <a:pt x="885" y="430"/>
                    </a:lnTo>
                    <a:close/>
                  </a:path>
                </a:pathLst>
              </a:custGeom>
              <a:gradFill>
                <a:gsLst>
                  <a:gs pos="0">
                    <a:srgbClr val="3368FF"/>
                  </a:gs>
                  <a:gs pos="99000">
                    <a:srgbClr val="0042FF"/>
                  </a:gs>
                </a:gsLst>
                <a:lin ang="0" scaled="0"/>
              </a:gra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8" name="Freeform 12"/>
              <p:cNvSpPr/>
              <p:nvPr/>
            </p:nvSpPr>
            <p:spPr bwMode="auto">
              <a:xfrm>
                <a:off x="5955" y="9278"/>
                <a:ext cx="3638" cy="3537"/>
              </a:xfrm>
              <a:custGeom>
                <a:avLst/>
                <a:gdLst>
                  <a:gd name="T0" fmla="*/ 491 w 921"/>
                  <a:gd name="T1" fmla="*/ 885 h 896"/>
                  <a:gd name="T2" fmla="*/ 487 w 921"/>
                  <a:gd name="T3" fmla="*/ 828 h 896"/>
                  <a:gd name="T4" fmla="*/ 733 w 921"/>
                  <a:gd name="T5" fmla="*/ 495 h 896"/>
                  <a:gd name="T6" fmla="*/ 921 w 921"/>
                  <a:gd name="T7" fmla="*/ 248 h 896"/>
                  <a:gd name="T8" fmla="*/ 732 w 921"/>
                  <a:gd name="T9" fmla="*/ 0 h 896"/>
                  <a:gd name="T10" fmla="*/ 0 w 921"/>
                  <a:gd name="T11" fmla="*/ 828 h 896"/>
                  <a:gd name="T12" fmla="*/ 3 w 921"/>
                  <a:gd name="T13" fmla="*/ 896 h 896"/>
                  <a:gd name="T14" fmla="*/ 254 w 921"/>
                  <a:gd name="T15" fmla="*/ 705 h 896"/>
                  <a:gd name="T16" fmla="*/ 491 w 921"/>
                  <a:gd name="T17" fmla="*/ 885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1" h="896">
                    <a:moveTo>
                      <a:pt x="491" y="885"/>
                    </a:moveTo>
                    <a:cubicBezTo>
                      <a:pt x="488" y="866"/>
                      <a:pt x="487" y="847"/>
                      <a:pt x="487" y="828"/>
                    </a:cubicBezTo>
                    <a:cubicBezTo>
                      <a:pt x="487" y="671"/>
                      <a:pt x="591" y="538"/>
                      <a:pt x="733" y="495"/>
                    </a:cubicBezTo>
                    <a:cubicBezTo>
                      <a:pt x="921" y="248"/>
                      <a:pt x="921" y="248"/>
                      <a:pt x="921" y="248"/>
                    </a:cubicBezTo>
                    <a:cubicBezTo>
                      <a:pt x="732" y="0"/>
                      <a:pt x="732" y="0"/>
                      <a:pt x="732" y="0"/>
                    </a:cubicBezTo>
                    <a:cubicBezTo>
                      <a:pt x="320" y="50"/>
                      <a:pt x="0" y="402"/>
                      <a:pt x="0" y="828"/>
                    </a:cubicBezTo>
                    <a:cubicBezTo>
                      <a:pt x="0" y="851"/>
                      <a:pt x="1" y="874"/>
                      <a:pt x="3" y="896"/>
                    </a:cubicBezTo>
                    <a:cubicBezTo>
                      <a:pt x="254" y="705"/>
                      <a:pt x="254" y="705"/>
                      <a:pt x="254" y="705"/>
                    </a:cubicBezTo>
                    <a:lnTo>
                      <a:pt x="491" y="885"/>
                    </a:lnTo>
                    <a:close/>
                  </a:path>
                </a:pathLst>
              </a:custGeom>
              <a:gradFill>
                <a:gsLst>
                  <a:gs pos="0">
                    <a:srgbClr val="668EFF"/>
                  </a:gs>
                  <a:gs pos="99000">
                    <a:srgbClr val="3368FF"/>
                  </a:gs>
                </a:gsLst>
                <a:lin ang="0" scaled="0"/>
              </a:gra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9" name="Freeform 13"/>
              <p:cNvSpPr/>
              <p:nvPr/>
            </p:nvSpPr>
            <p:spPr bwMode="auto">
              <a:xfrm>
                <a:off x="8981" y="9252"/>
                <a:ext cx="3533" cy="3638"/>
              </a:xfrm>
              <a:custGeom>
                <a:avLst/>
                <a:gdLst>
                  <a:gd name="T0" fmla="*/ 11 w 896"/>
                  <a:gd name="T1" fmla="*/ 491 h 921"/>
                  <a:gd name="T2" fmla="*/ 68 w 896"/>
                  <a:gd name="T3" fmla="*/ 486 h 921"/>
                  <a:gd name="T4" fmla="*/ 401 w 896"/>
                  <a:gd name="T5" fmla="*/ 733 h 921"/>
                  <a:gd name="T6" fmla="*/ 648 w 896"/>
                  <a:gd name="T7" fmla="*/ 921 h 921"/>
                  <a:gd name="T8" fmla="*/ 896 w 896"/>
                  <a:gd name="T9" fmla="*/ 732 h 921"/>
                  <a:gd name="T10" fmla="*/ 68 w 896"/>
                  <a:gd name="T11" fmla="*/ 0 h 921"/>
                  <a:gd name="T12" fmla="*/ 0 w 896"/>
                  <a:gd name="T13" fmla="*/ 3 h 921"/>
                  <a:gd name="T14" fmla="*/ 191 w 896"/>
                  <a:gd name="T15" fmla="*/ 254 h 921"/>
                  <a:gd name="T16" fmla="*/ 11 w 896"/>
                  <a:gd name="T17" fmla="*/ 491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6" h="921">
                    <a:moveTo>
                      <a:pt x="11" y="491"/>
                    </a:moveTo>
                    <a:cubicBezTo>
                      <a:pt x="30" y="488"/>
                      <a:pt x="49" y="486"/>
                      <a:pt x="68" y="486"/>
                    </a:cubicBezTo>
                    <a:cubicBezTo>
                      <a:pt x="225" y="486"/>
                      <a:pt x="358" y="591"/>
                      <a:pt x="401" y="733"/>
                    </a:cubicBezTo>
                    <a:cubicBezTo>
                      <a:pt x="648" y="921"/>
                      <a:pt x="648" y="921"/>
                      <a:pt x="648" y="921"/>
                    </a:cubicBezTo>
                    <a:cubicBezTo>
                      <a:pt x="896" y="732"/>
                      <a:pt x="896" y="732"/>
                      <a:pt x="896" y="732"/>
                    </a:cubicBezTo>
                    <a:cubicBezTo>
                      <a:pt x="846" y="320"/>
                      <a:pt x="494" y="0"/>
                      <a:pt x="68" y="0"/>
                    </a:cubicBezTo>
                    <a:cubicBezTo>
                      <a:pt x="45" y="0"/>
                      <a:pt x="22" y="1"/>
                      <a:pt x="0" y="3"/>
                    </a:cubicBezTo>
                    <a:cubicBezTo>
                      <a:pt x="191" y="254"/>
                      <a:pt x="191" y="254"/>
                      <a:pt x="191" y="254"/>
                    </a:cubicBezTo>
                    <a:lnTo>
                      <a:pt x="11" y="491"/>
                    </a:lnTo>
                    <a:close/>
                  </a:path>
                </a:pathLst>
              </a:custGeom>
              <a:gradFill>
                <a:gsLst>
                  <a:gs pos="0">
                    <a:srgbClr val="3368FF"/>
                  </a:gs>
                  <a:gs pos="99000">
                    <a:srgbClr val="0042FF"/>
                  </a:gs>
                </a:gsLst>
                <a:lin ang="0" scaled="0"/>
              </a:gra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 name="Freeform 14"/>
              <p:cNvSpPr/>
              <p:nvPr/>
            </p:nvSpPr>
            <p:spPr bwMode="auto">
              <a:xfrm>
                <a:off x="8903" y="12277"/>
                <a:ext cx="3638" cy="3533"/>
              </a:xfrm>
              <a:custGeom>
                <a:avLst/>
                <a:gdLst>
                  <a:gd name="T0" fmla="*/ 430 w 921"/>
                  <a:gd name="T1" fmla="*/ 11 h 896"/>
                  <a:gd name="T2" fmla="*/ 435 w 921"/>
                  <a:gd name="T3" fmla="*/ 68 h 896"/>
                  <a:gd name="T4" fmla="*/ 188 w 921"/>
                  <a:gd name="T5" fmla="*/ 401 h 896"/>
                  <a:gd name="T6" fmla="*/ 0 w 921"/>
                  <a:gd name="T7" fmla="*/ 648 h 896"/>
                  <a:gd name="T8" fmla="*/ 189 w 921"/>
                  <a:gd name="T9" fmla="*/ 896 h 896"/>
                  <a:gd name="T10" fmla="*/ 921 w 921"/>
                  <a:gd name="T11" fmla="*/ 68 h 896"/>
                  <a:gd name="T12" fmla="*/ 918 w 921"/>
                  <a:gd name="T13" fmla="*/ 0 h 896"/>
                  <a:gd name="T14" fmla="*/ 667 w 921"/>
                  <a:gd name="T15" fmla="*/ 191 h 896"/>
                  <a:gd name="T16" fmla="*/ 430 w 921"/>
                  <a:gd name="T17" fmla="*/ 11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1" h="896">
                    <a:moveTo>
                      <a:pt x="430" y="11"/>
                    </a:moveTo>
                    <a:cubicBezTo>
                      <a:pt x="433" y="30"/>
                      <a:pt x="435" y="49"/>
                      <a:pt x="435" y="68"/>
                    </a:cubicBezTo>
                    <a:cubicBezTo>
                      <a:pt x="435" y="225"/>
                      <a:pt x="330" y="358"/>
                      <a:pt x="188" y="401"/>
                    </a:cubicBezTo>
                    <a:cubicBezTo>
                      <a:pt x="0" y="648"/>
                      <a:pt x="0" y="648"/>
                      <a:pt x="0" y="648"/>
                    </a:cubicBezTo>
                    <a:cubicBezTo>
                      <a:pt x="189" y="896"/>
                      <a:pt x="189" y="896"/>
                      <a:pt x="189" y="896"/>
                    </a:cubicBezTo>
                    <a:cubicBezTo>
                      <a:pt x="601" y="846"/>
                      <a:pt x="921" y="494"/>
                      <a:pt x="921" y="68"/>
                    </a:cubicBezTo>
                    <a:cubicBezTo>
                      <a:pt x="921" y="45"/>
                      <a:pt x="920" y="22"/>
                      <a:pt x="918" y="0"/>
                    </a:cubicBezTo>
                    <a:cubicBezTo>
                      <a:pt x="667" y="191"/>
                      <a:pt x="667" y="191"/>
                      <a:pt x="667" y="191"/>
                    </a:cubicBezTo>
                    <a:lnTo>
                      <a:pt x="430" y="11"/>
                    </a:lnTo>
                    <a:close/>
                  </a:path>
                </a:pathLst>
              </a:custGeom>
              <a:gradFill>
                <a:gsLst>
                  <a:gs pos="0">
                    <a:srgbClr val="668EFF"/>
                  </a:gs>
                  <a:gs pos="99000">
                    <a:srgbClr val="3368FF"/>
                  </a:gs>
                </a:gsLst>
                <a:lin ang="0" scaled="0"/>
              </a:gradFill>
              <a:ln>
                <a:noFill/>
              </a:ln>
            </p:spPr>
            <p:txBody>
              <a:bodyPr vert="horz" wrap="square" lIns="0" tIns="0" rIns="0" bIns="0" numCol="1" anchor="t" anchorCtr="0" compatLnSpc="1">
                <a:noAutofit/>
              </a:bodyPr>
              <a:lstStyle/>
              <a:p>
                <a:pPr lvl="0" algn="l">
                  <a:spcBef>
                    <a:spcPts val="0"/>
                  </a:spcBef>
                  <a:spcAft>
                    <a:spcPts val="0"/>
                  </a:spcAft>
                  <a:buClrTx/>
                  <a:buSzTx/>
                  <a:buFontTx/>
                  <a:defRPr>
                    <a:solidFill>
                      <a:srgbClr val="FFFFFF"/>
                    </a:solidFill>
                    <a:latin typeface="微软雅黑"/>
                    <a:ea typeface="微软雅黑"/>
                    <a:cs typeface="微软雅黑"/>
                  </a:defRPr>
                </a:pPr>
                <a:endParaRPr lang="en-US" sz="2400" noProof="0">
                  <a:ln>
                    <a:noFill/>
                  </a:ln>
                  <a:solidFill>
                    <a:srgbClr val="FFFFFF"/>
                  </a:solidFill>
                  <a:effectLst/>
                  <a:uLnTx/>
                  <a:uFillTx/>
                  <a:latin typeface="微软雅黑"/>
                  <a:ea typeface="微软雅黑"/>
                  <a:cs typeface="微软雅黑"/>
                  <a:sym typeface="微软雅黑"/>
                </a:endParaRPr>
              </a:p>
            </p:txBody>
          </p:sp>
          <p:sp>
            <p:nvSpPr>
              <p:cNvPr id="6" name="Oval 15"/>
              <p:cNvSpPr>
                <a:spLocks noChangeArrowheads="1"/>
              </p:cNvSpPr>
              <p:nvPr/>
            </p:nvSpPr>
            <p:spPr bwMode="auto">
              <a:xfrm>
                <a:off x="7625" y="10921"/>
                <a:ext cx="3246" cy="3246"/>
              </a:xfrm>
              <a:prstGeom prst="ellipse">
                <a:avLst/>
              </a:prstGeom>
              <a:solidFill>
                <a:srgbClr val="3368FF">
                  <a:alpha val="70000"/>
                </a:srgbClr>
              </a:soli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24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7" name="Oval 16"/>
              <p:cNvSpPr>
                <a:spLocks noChangeArrowheads="1"/>
              </p:cNvSpPr>
              <p:nvPr/>
            </p:nvSpPr>
            <p:spPr bwMode="auto">
              <a:xfrm>
                <a:off x="7878" y="11171"/>
                <a:ext cx="2743" cy="2743"/>
              </a:xfrm>
              <a:prstGeom prst="ellipse">
                <a:avLst/>
              </a:prstGeom>
              <a:solidFill>
                <a:srgbClr val="FFFFFF"/>
              </a:solidFill>
              <a:ln>
                <a:noFill/>
              </a:ln>
              <a:effectLst>
                <a:outerShdw blurRad="63500" algn="ctr" rotWithShape="0">
                  <a:prstClr val="black">
                    <a:alpha val="16000"/>
                  </a:prstClr>
                </a:outerShdw>
              </a:effectLst>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24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03" name="Arc 102"/>
              <p:cNvSpPr/>
              <p:nvPr/>
            </p:nvSpPr>
            <p:spPr>
              <a:xfrm>
                <a:off x="5556" y="8849"/>
                <a:ext cx="7386" cy="7386"/>
              </a:xfrm>
              <a:prstGeom prst="arc">
                <a:avLst>
                  <a:gd name="adj1" fmla="val 971133"/>
                  <a:gd name="adj2" fmla="val 924863"/>
                </a:avLst>
              </a:prstGeom>
              <a:noFill/>
              <a:ln w="19050" cap="flat" cmpd="sng" algn="ctr">
                <a:solidFill>
                  <a:srgbClr val="0042FF"/>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24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nvGrpSpPr>
              <p:cNvPr id="8" name="组合 7"/>
              <p:cNvGrpSpPr/>
              <p:nvPr/>
            </p:nvGrpSpPr>
            <p:grpSpPr>
              <a:xfrm>
                <a:off x="8556" y="11458"/>
                <a:ext cx="1383" cy="1732"/>
                <a:chOff x="13004" y="10290"/>
                <a:chExt cx="2892" cy="3620"/>
              </a:xfrm>
            </p:grpSpPr>
            <p:sp>
              <p:nvSpPr>
                <p:cNvPr id="9" name="Oval 9"/>
                <p:cNvSpPr>
                  <a:spLocks noChangeArrowheads="1"/>
                </p:cNvSpPr>
                <p:nvPr/>
              </p:nvSpPr>
              <p:spPr bwMode="auto">
                <a:xfrm>
                  <a:off x="13004" y="11018"/>
                  <a:ext cx="2892" cy="2892"/>
                </a:xfrm>
                <a:prstGeom prst="ellipse">
                  <a:avLst/>
                </a:pr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 name="Oval 10"/>
                <p:cNvSpPr>
                  <a:spLocks noChangeArrowheads="1"/>
                </p:cNvSpPr>
                <p:nvPr/>
              </p:nvSpPr>
              <p:spPr bwMode="auto">
                <a:xfrm>
                  <a:off x="13370" y="11383"/>
                  <a:ext cx="2161" cy="2163"/>
                </a:xfrm>
                <a:prstGeom prst="ellipse">
                  <a:avLst/>
                </a:pr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2" name="Freeform 20"/>
                <p:cNvSpPr/>
                <p:nvPr/>
              </p:nvSpPr>
              <p:spPr bwMode="auto">
                <a:xfrm>
                  <a:off x="15118" y="10290"/>
                  <a:ext cx="724" cy="973"/>
                </a:xfrm>
                <a:custGeom>
                  <a:avLst/>
                  <a:gdLst>
                    <a:gd name="T0" fmla="*/ 0 w 380"/>
                    <a:gd name="T1" fmla="*/ 329 h 511"/>
                    <a:gd name="T2" fmla="*/ 198 w 380"/>
                    <a:gd name="T3" fmla="*/ 0 h 511"/>
                    <a:gd name="T4" fmla="*/ 229 w 380"/>
                    <a:gd name="T5" fmla="*/ 182 h 511"/>
                    <a:gd name="T6" fmla="*/ 380 w 380"/>
                    <a:gd name="T7" fmla="*/ 166 h 511"/>
                    <a:gd name="T8" fmla="*/ 181 w 380"/>
                    <a:gd name="T9" fmla="*/ 495 h 511"/>
                    <a:gd name="T10" fmla="*/ 30 w 380"/>
                    <a:gd name="T11" fmla="*/ 511 h 511"/>
                    <a:gd name="T12" fmla="*/ 0 w 380"/>
                    <a:gd name="T13" fmla="*/ 329 h 511"/>
                  </a:gdLst>
                  <a:ahLst/>
                  <a:cxnLst>
                    <a:cxn ang="0">
                      <a:pos x="T0" y="T1"/>
                    </a:cxn>
                    <a:cxn ang="0">
                      <a:pos x="T2" y="T3"/>
                    </a:cxn>
                    <a:cxn ang="0">
                      <a:pos x="T4" y="T5"/>
                    </a:cxn>
                    <a:cxn ang="0">
                      <a:pos x="T6" y="T7"/>
                    </a:cxn>
                    <a:cxn ang="0">
                      <a:pos x="T8" y="T9"/>
                    </a:cxn>
                    <a:cxn ang="0">
                      <a:pos x="T10" y="T11"/>
                    </a:cxn>
                    <a:cxn ang="0">
                      <a:pos x="T12" y="T13"/>
                    </a:cxn>
                  </a:cxnLst>
                  <a:rect l="0" t="0" r="r" b="b"/>
                  <a:pathLst>
                    <a:path w="380" h="511">
                      <a:moveTo>
                        <a:pt x="0" y="329"/>
                      </a:moveTo>
                      <a:lnTo>
                        <a:pt x="198" y="0"/>
                      </a:lnTo>
                      <a:lnTo>
                        <a:pt x="229" y="182"/>
                      </a:lnTo>
                      <a:lnTo>
                        <a:pt x="380" y="166"/>
                      </a:lnTo>
                      <a:lnTo>
                        <a:pt x="181" y="495"/>
                      </a:lnTo>
                      <a:lnTo>
                        <a:pt x="30" y="511"/>
                      </a:lnTo>
                      <a:lnTo>
                        <a:pt x="0" y="329"/>
                      </a:lnTo>
                      <a:close/>
                    </a:path>
                  </a:pathLst>
                </a:custGeom>
                <a:solidFill>
                  <a:srgbClr val="3368FF"/>
                </a:solidFill>
                <a:ln w="25400">
                  <a:solidFill>
                    <a:srgbClr val="FFFFFF"/>
                  </a:solidFill>
                  <a:round/>
                </a:ln>
              </p:spPr>
              <p:txBody>
                <a:bodyPr vert="horz" wrap="square" lIns="0" tIns="0" rIns="0" bIns="0" numCol="1" anchor="t"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3" name="Oval 11"/>
                <p:cNvSpPr>
                  <a:spLocks noChangeArrowheads="1"/>
                </p:cNvSpPr>
                <p:nvPr/>
              </p:nvSpPr>
              <p:spPr bwMode="auto">
                <a:xfrm>
                  <a:off x="13740" y="11687"/>
                  <a:ext cx="1476" cy="1472"/>
                </a:xfrm>
                <a:prstGeom prst="ellipse">
                  <a:avLst/>
                </a:pr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4" name="Oval 12"/>
                <p:cNvSpPr>
                  <a:spLocks noChangeArrowheads="1"/>
                </p:cNvSpPr>
                <p:nvPr/>
              </p:nvSpPr>
              <p:spPr bwMode="auto">
                <a:xfrm>
                  <a:off x="14180" y="12123"/>
                  <a:ext cx="598" cy="600"/>
                </a:xfrm>
                <a:prstGeom prst="ellipse">
                  <a:avLst/>
                </a:pr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5" name="Freeform 21"/>
                <p:cNvSpPr/>
                <p:nvPr/>
              </p:nvSpPr>
              <p:spPr bwMode="auto">
                <a:xfrm>
                  <a:off x="14478" y="10723"/>
                  <a:ext cx="1030" cy="1698"/>
                </a:xfrm>
                <a:custGeom>
                  <a:avLst/>
                  <a:gdLst>
                    <a:gd name="T0" fmla="*/ 0 w 400"/>
                    <a:gd name="T1" fmla="*/ 659 h 659"/>
                    <a:gd name="T2" fmla="*/ 107 w 400"/>
                    <a:gd name="T3" fmla="*/ 503 h 659"/>
                    <a:gd name="T4" fmla="*/ 133 w 400"/>
                    <a:gd name="T5" fmla="*/ 464 h 659"/>
                    <a:gd name="T6" fmla="*/ 158 w 400"/>
                    <a:gd name="T7" fmla="*/ 424 h 659"/>
                    <a:gd name="T8" fmla="*/ 184 w 400"/>
                    <a:gd name="T9" fmla="*/ 384 h 659"/>
                    <a:gd name="T10" fmla="*/ 209 w 400"/>
                    <a:gd name="T11" fmla="*/ 343 h 659"/>
                    <a:gd name="T12" fmla="*/ 308 w 400"/>
                    <a:gd name="T13" fmla="*/ 180 h 659"/>
                    <a:gd name="T14" fmla="*/ 332 w 400"/>
                    <a:gd name="T15" fmla="*/ 138 h 659"/>
                    <a:gd name="T16" fmla="*/ 355 w 400"/>
                    <a:gd name="T17" fmla="*/ 96 h 659"/>
                    <a:gd name="T18" fmla="*/ 400 w 400"/>
                    <a:gd name="T19" fmla="*/ 11 h 659"/>
                    <a:gd name="T20" fmla="*/ 389 w 400"/>
                    <a:gd name="T21" fmla="*/ 0 h 659"/>
                    <a:gd name="T22" fmla="*/ 335 w 400"/>
                    <a:gd name="T23" fmla="*/ 78 h 659"/>
                    <a:gd name="T24" fmla="*/ 309 w 400"/>
                    <a:gd name="T25" fmla="*/ 118 h 659"/>
                    <a:gd name="T26" fmla="*/ 284 w 400"/>
                    <a:gd name="T27" fmla="*/ 158 h 659"/>
                    <a:gd name="T28" fmla="*/ 185 w 400"/>
                    <a:gd name="T29" fmla="*/ 322 h 659"/>
                    <a:gd name="T30" fmla="*/ 161 w 400"/>
                    <a:gd name="T31" fmla="*/ 363 h 659"/>
                    <a:gd name="T32" fmla="*/ 138 w 400"/>
                    <a:gd name="T33" fmla="*/ 405 h 659"/>
                    <a:gd name="T34" fmla="*/ 114 w 400"/>
                    <a:gd name="T35" fmla="*/ 447 h 659"/>
                    <a:gd name="T36" fmla="*/ 91 w 400"/>
                    <a:gd name="T37" fmla="*/ 489 h 659"/>
                    <a:gd name="T38" fmla="*/ 0 w 400"/>
                    <a:gd name="T39" fmla="*/ 65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0" h="659">
                      <a:moveTo>
                        <a:pt x="0" y="659"/>
                      </a:moveTo>
                      <a:cubicBezTo>
                        <a:pt x="37" y="608"/>
                        <a:pt x="72" y="556"/>
                        <a:pt x="107" y="503"/>
                      </a:cubicBezTo>
                      <a:cubicBezTo>
                        <a:pt x="133" y="464"/>
                        <a:pt x="133" y="464"/>
                        <a:pt x="133" y="464"/>
                      </a:cubicBezTo>
                      <a:cubicBezTo>
                        <a:pt x="158" y="424"/>
                        <a:pt x="158" y="424"/>
                        <a:pt x="158" y="424"/>
                      </a:cubicBezTo>
                      <a:cubicBezTo>
                        <a:pt x="184" y="384"/>
                        <a:pt x="184" y="384"/>
                        <a:pt x="184" y="384"/>
                      </a:cubicBezTo>
                      <a:cubicBezTo>
                        <a:pt x="209" y="343"/>
                        <a:pt x="209" y="343"/>
                        <a:pt x="209" y="343"/>
                      </a:cubicBezTo>
                      <a:cubicBezTo>
                        <a:pt x="243" y="290"/>
                        <a:pt x="276" y="235"/>
                        <a:pt x="308" y="180"/>
                      </a:cubicBezTo>
                      <a:cubicBezTo>
                        <a:pt x="332" y="138"/>
                        <a:pt x="332" y="138"/>
                        <a:pt x="332" y="138"/>
                      </a:cubicBezTo>
                      <a:cubicBezTo>
                        <a:pt x="339" y="124"/>
                        <a:pt x="347" y="110"/>
                        <a:pt x="355" y="96"/>
                      </a:cubicBezTo>
                      <a:cubicBezTo>
                        <a:pt x="370" y="68"/>
                        <a:pt x="386" y="40"/>
                        <a:pt x="400" y="11"/>
                      </a:cubicBezTo>
                      <a:cubicBezTo>
                        <a:pt x="389" y="0"/>
                        <a:pt x="389" y="0"/>
                        <a:pt x="389" y="0"/>
                      </a:cubicBezTo>
                      <a:cubicBezTo>
                        <a:pt x="370" y="26"/>
                        <a:pt x="353" y="52"/>
                        <a:pt x="335" y="78"/>
                      </a:cubicBezTo>
                      <a:cubicBezTo>
                        <a:pt x="327" y="92"/>
                        <a:pt x="318" y="105"/>
                        <a:pt x="309" y="118"/>
                      </a:cubicBezTo>
                      <a:cubicBezTo>
                        <a:pt x="284" y="158"/>
                        <a:pt x="284" y="158"/>
                        <a:pt x="284" y="158"/>
                      </a:cubicBezTo>
                      <a:cubicBezTo>
                        <a:pt x="250" y="212"/>
                        <a:pt x="217" y="267"/>
                        <a:pt x="185" y="322"/>
                      </a:cubicBezTo>
                      <a:cubicBezTo>
                        <a:pt x="161" y="363"/>
                        <a:pt x="161" y="363"/>
                        <a:pt x="161" y="363"/>
                      </a:cubicBezTo>
                      <a:cubicBezTo>
                        <a:pt x="138" y="405"/>
                        <a:pt x="138" y="405"/>
                        <a:pt x="138" y="405"/>
                      </a:cubicBezTo>
                      <a:cubicBezTo>
                        <a:pt x="114" y="447"/>
                        <a:pt x="114" y="447"/>
                        <a:pt x="114" y="447"/>
                      </a:cubicBezTo>
                      <a:cubicBezTo>
                        <a:pt x="91" y="489"/>
                        <a:pt x="91" y="489"/>
                        <a:pt x="91" y="489"/>
                      </a:cubicBezTo>
                      <a:cubicBezTo>
                        <a:pt x="60" y="545"/>
                        <a:pt x="29" y="601"/>
                        <a:pt x="0" y="659"/>
                      </a:cubicBezTo>
                      <a:close/>
                    </a:path>
                  </a:pathLst>
                </a:custGeom>
                <a:solidFill>
                  <a:srgbClr val="E6E6E6"/>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16" name="文本框 15"/>
              <p:cNvSpPr txBox="1"/>
              <p:nvPr/>
            </p:nvSpPr>
            <p:spPr>
              <a:xfrm>
                <a:off x="6978" y="10852"/>
                <a:ext cx="1358" cy="628"/>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2000">
                    <a:solidFill>
                      <a:srgbClr val="FFFFFF"/>
                    </a:solidFill>
                    <a:latin typeface="微软雅黑"/>
                    <a:ea typeface="微软雅黑"/>
                    <a:cs typeface="微软雅黑"/>
                  </a:rPr>
                  <a:t>活力</a:t>
                </a:r>
                <a:endParaRPr lang="zh-CN" altLang="en-US" sz="2000">
                  <a:solidFill>
                    <a:srgbClr val="FFFFFF"/>
                  </a:solidFill>
                  <a:latin typeface="微软雅黑"/>
                  <a:ea typeface="微软雅黑"/>
                  <a:cs typeface="微软雅黑"/>
                </a:endParaRPr>
              </a:p>
            </p:txBody>
          </p:sp>
          <p:sp>
            <p:nvSpPr>
              <p:cNvPr id="23" name="文本框 22"/>
              <p:cNvSpPr txBox="1"/>
              <p:nvPr/>
            </p:nvSpPr>
            <p:spPr>
              <a:xfrm>
                <a:off x="6766" y="10321"/>
                <a:ext cx="1819" cy="531"/>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a:t>
                </a:r>
                <a:r>
                  <a:rPr lang="en-US" altLang="zh-CN" sz="1600">
                    <a:solidFill>
                      <a:srgbClr val="FFFFFF"/>
                    </a:solidFill>
                    <a:latin typeface="微软雅黑"/>
                    <a:ea typeface="微软雅黑"/>
                    <a:cs typeface="微软雅黑"/>
                  </a:rPr>
                  <a:t>Energy</a:t>
                </a:r>
                <a:r>
                  <a:rPr lang="zh-CN" altLang="en-US" sz="1600">
                    <a:solidFill>
                      <a:srgbClr val="FFFFFF"/>
                    </a:solidFill>
                    <a:latin typeface="微软雅黑"/>
                    <a:ea typeface="微软雅黑"/>
                    <a:cs typeface="微软雅黑"/>
                  </a:rPr>
                  <a:t>）</a:t>
                </a:r>
                <a:endParaRPr lang="zh-CN" altLang="en-US" sz="1600">
                  <a:solidFill>
                    <a:srgbClr val="FFFFFF"/>
                  </a:solidFill>
                  <a:latin typeface="微软雅黑"/>
                  <a:ea typeface="微软雅黑"/>
                  <a:cs typeface="微软雅黑"/>
                </a:endParaRPr>
              </a:p>
            </p:txBody>
          </p:sp>
          <p:sp>
            <p:nvSpPr>
              <p:cNvPr id="24" name="文本框 23"/>
              <p:cNvSpPr txBox="1"/>
              <p:nvPr/>
            </p:nvSpPr>
            <p:spPr>
              <a:xfrm>
                <a:off x="10309" y="11029"/>
                <a:ext cx="1703" cy="628"/>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2000">
                    <a:solidFill>
                      <a:srgbClr val="FFFFFF"/>
                    </a:solidFill>
                    <a:latin typeface="微软雅黑"/>
                    <a:ea typeface="微软雅黑"/>
                    <a:cs typeface="微软雅黑"/>
                  </a:rPr>
                  <a:t>激励力</a:t>
                </a:r>
                <a:endParaRPr lang="zh-CN" altLang="en-US" sz="2000">
                  <a:solidFill>
                    <a:srgbClr val="FFFFFF"/>
                  </a:solidFill>
                  <a:latin typeface="微软雅黑"/>
                  <a:ea typeface="微软雅黑"/>
                  <a:cs typeface="微软雅黑"/>
                </a:endParaRPr>
              </a:p>
            </p:txBody>
          </p:sp>
          <p:sp>
            <p:nvSpPr>
              <p:cNvPr id="25" name="文本框 24"/>
              <p:cNvSpPr txBox="1"/>
              <p:nvPr/>
            </p:nvSpPr>
            <p:spPr>
              <a:xfrm>
                <a:off x="9688" y="10392"/>
                <a:ext cx="2119" cy="531"/>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a:t>
                </a:r>
                <a:r>
                  <a:rPr lang="en-US" altLang="zh-CN" sz="1600">
                    <a:solidFill>
                      <a:srgbClr val="FFFFFF"/>
                    </a:solidFill>
                    <a:latin typeface="微软雅黑"/>
                    <a:ea typeface="微软雅黑"/>
                    <a:cs typeface="微软雅黑"/>
                  </a:rPr>
                  <a:t>Energize</a:t>
                </a:r>
                <a:r>
                  <a:rPr lang="zh-CN" altLang="en-US" sz="1600">
                    <a:solidFill>
                      <a:srgbClr val="FFFFFF"/>
                    </a:solidFill>
                    <a:latin typeface="微软雅黑"/>
                    <a:ea typeface="微软雅黑"/>
                    <a:cs typeface="微软雅黑"/>
                  </a:rPr>
                  <a:t>）</a:t>
                </a:r>
                <a:endParaRPr lang="zh-CN" altLang="en-US" sz="1600">
                  <a:solidFill>
                    <a:srgbClr val="FFFFFF"/>
                  </a:solidFill>
                  <a:latin typeface="微软雅黑"/>
                  <a:ea typeface="微软雅黑"/>
                  <a:cs typeface="微软雅黑"/>
                </a:endParaRPr>
              </a:p>
            </p:txBody>
          </p:sp>
          <p:sp>
            <p:nvSpPr>
              <p:cNvPr id="26" name="文本框 25"/>
              <p:cNvSpPr txBox="1"/>
              <p:nvPr/>
            </p:nvSpPr>
            <p:spPr>
              <a:xfrm>
                <a:off x="9886" y="14289"/>
                <a:ext cx="1639" cy="628"/>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2000">
                    <a:solidFill>
                      <a:srgbClr val="FFFFFF"/>
                    </a:solidFill>
                    <a:latin typeface="微软雅黑"/>
                    <a:ea typeface="微软雅黑"/>
                    <a:cs typeface="微软雅黑"/>
                  </a:rPr>
                  <a:t>决断力</a:t>
                </a:r>
                <a:endParaRPr lang="zh-CN" altLang="en-US" sz="2000">
                  <a:solidFill>
                    <a:srgbClr val="FFFFFF"/>
                  </a:solidFill>
                  <a:latin typeface="微软雅黑"/>
                  <a:ea typeface="微软雅黑"/>
                  <a:cs typeface="微软雅黑"/>
                </a:endParaRPr>
              </a:p>
            </p:txBody>
          </p:sp>
          <p:sp>
            <p:nvSpPr>
              <p:cNvPr id="27" name="文本框 26"/>
              <p:cNvSpPr txBox="1"/>
              <p:nvPr/>
            </p:nvSpPr>
            <p:spPr>
              <a:xfrm>
                <a:off x="9955" y="13758"/>
                <a:ext cx="1819" cy="531"/>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a:t>
                </a:r>
                <a:r>
                  <a:rPr lang="en-US" altLang="zh-CN" sz="1600">
                    <a:solidFill>
                      <a:srgbClr val="FFFFFF"/>
                    </a:solidFill>
                    <a:latin typeface="微软雅黑"/>
                    <a:ea typeface="微软雅黑"/>
                    <a:cs typeface="微软雅黑"/>
                  </a:rPr>
                  <a:t>Edge</a:t>
                </a:r>
                <a:r>
                  <a:rPr lang="zh-CN" altLang="en-US" sz="1600">
                    <a:solidFill>
                      <a:srgbClr val="FFFFFF"/>
                    </a:solidFill>
                    <a:latin typeface="微软雅黑"/>
                    <a:ea typeface="微软雅黑"/>
                    <a:cs typeface="微软雅黑"/>
                  </a:rPr>
                  <a:t>）</a:t>
                </a:r>
                <a:endParaRPr lang="zh-CN" altLang="en-US" sz="1600">
                  <a:solidFill>
                    <a:srgbClr val="FFFFFF"/>
                  </a:solidFill>
                  <a:latin typeface="微软雅黑"/>
                  <a:ea typeface="微软雅黑"/>
                  <a:cs typeface="微软雅黑"/>
                </a:endParaRPr>
              </a:p>
            </p:txBody>
          </p:sp>
          <p:sp>
            <p:nvSpPr>
              <p:cNvPr id="42" name="文本框 41"/>
              <p:cNvSpPr txBox="1"/>
              <p:nvPr/>
            </p:nvSpPr>
            <p:spPr>
              <a:xfrm>
                <a:off x="6698" y="13924"/>
                <a:ext cx="1699" cy="628"/>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2000">
                    <a:solidFill>
                      <a:srgbClr val="FFFFFF"/>
                    </a:solidFill>
                    <a:latin typeface="微软雅黑"/>
                    <a:ea typeface="微软雅黑"/>
                    <a:cs typeface="微软雅黑"/>
                  </a:rPr>
                  <a:t>执行力</a:t>
                </a:r>
                <a:endParaRPr lang="zh-CN" altLang="en-US" sz="2000">
                  <a:solidFill>
                    <a:srgbClr val="FFFFFF"/>
                  </a:solidFill>
                  <a:latin typeface="微软雅黑"/>
                  <a:ea typeface="微软雅黑"/>
                  <a:cs typeface="微软雅黑"/>
                </a:endParaRPr>
              </a:p>
            </p:txBody>
          </p:sp>
          <p:sp>
            <p:nvSpPr>
              <p:cNvPr id="43" name="文本框 42"/>
              <p:cNvSpPr txBox="1"/>
              <p:nvPr/>
            </p:nvSpPr>
            <p:spPr>
              <a:xfrm>
                <a:off x="6625" y="13393"/>
                <a:ext cx="1819" cy="531"/>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lang="zh-CN" altLang="en-US" sz="1600">
                    <a:solidFill>
                      <a:srgbClr val="FFFFFF"/>
                    </a:solidFill>
                    <a:latin typeface="微软雅黑"/>
                    <a:ea typeface="微软雅黑"/>
                    <a:cs typeface="微软雅黑"/>
                  </a:rPr>
                  <a:t>（</a:t>
                </a:r>
                <a:r>
                  <a:rPr lang="en-US" altLang="zh-CN" sz="1600">
                    <a:solidFill>
                      <a:srgbClr val="FFFFFF"/>
                    </a:solidFill>
                    <a:latin typeface="微软雅黑"/>
                    <a:ea typeface="微软雅黑"/>
                    <a:cs typeface="微软雅黑"/>
                  </a:rPr>
                  <a:t>Execute</a:t>
                </a:r>
                <a:r>
                  <a:rPr lang="zh-CN" altLang="en-US" sz="1600">
                    <a:solidFill>
                      <a:srgbClr val="FFFFFF"/>
                    </a:solidFill>
                    <a:latin typeface="微软雅黑"/>
                    <a:ea typeface="微软雅黑"/>
                    <a:cs typeface="微软雅黑"/>
                  </a:rPr>
                  <a:t>）</a:t>
                </a:r>
                <a:endParaRPr lang="zh-CN" altLang="en-US" sz="1600">
                  <a:solidFill>
                    <a:srgbClr val="FFFFFF"/>
                  </a:solidFill>
                  <a:latin typeface="微软雅黑"/>
                  <a:ea typeface="微软雅黑"/>
                  <a:cs typeface="微软雅黑"/>
                </a:endParaRPr>
              </a:p>
            </p:txBody>
          </p:sp>
          <p:sp>
            <p:nvSpPr>
              <p:cNvPr id="28" name="文本框 27"/>
              <p:cNvSpPr txBox="1"/>
              <p:nvPr>
                <p:custDataLst>
                  <p:tags r:id="rId3"/>
                </p:custDataLst>
              </p:nvPr>
            </p:nvSpPr>
            <p:spPr>
              <a:xfrm>
                <a:off x="7633" y="10758"/>
                <a:ext cx="3337" cy="2712"/>
              </a:xfrm>
              <a:prstGeom prst="rect">
                <a:avLst/>
              </a:prstGeom>
              <a:noFill/>
            </p:spPr>
            <p:txBody>
              <a:bodyPr wrap="square" rtlCol="0" lIns="0" rIns="0" tIns="0" bIns="0">
                <a:prstTxWarp prst="textArchDown">
                  <a:avLst/>
                </a:prstTxWarp>
                <a:noAutofit/>
              </a:bodyPr>
              <a:lstStyle/>
              <a:p>
                <a:pPr algn="ctr">
                  <a:defRPr>
                    <a:latin typeface="微软雅黑"/>
                    <a:ea typeface="微软雅黑"/>
                    <a:cs typeface="微软雅黑"/>
                  </a:defRPr>
                </a:pPr>
                <a:r>
                  <a:rPr lang="zh-CN" altLang="en-US" kern="0" dirty="0">
                    <a:solidFill>
                      <a:srgbClr val="0042FF"/>
                    </a:solidFill>
                    <a:latin typeface="微软雅黑"/>
                    <a:ea typeface="微软雅黑"/>
                    <a:cs typeface="微软雅黑"/>
                  </a:rPr>
                  <a:t>（</a:t>
                </a:r>
                <a:r>
                  <a:rPr lang="en-US" altLang="zh-CN" kern="0" dirty="0">
                    <a:solidFill>
                      <a:srgbClr val="0042FF"/>
                    </a:solidFill>
                    <a:latin typeface="微软雅黑"/>
                    <a:ea typeface="微软雅黑"/>
                    <a:cs typeface="微软雅黑"/>
                  </a:rPr>
                  <a:t>Passion</a:t>
                </a:r>
                <a:r>
                  <a:rPr lang="zh-CN" altLang="en-US" kern="0" dirty="0">
                    <a:solidFill>
                      <a:srgbClr val="0042FF"/>
                    </a:solidFill>
                    <a:latin typeface="微软雅黑"/>
                    <a:ea typeface="微软雅黑"/>
                    <a:cs typeface="微软雅黑"/>
                  </a:rPr>
                  <a:t>）</a:t>
                </a:r>
                <a:endParaRPr lang="zh-CN" altLang="en-US" kern="0" dirty="0">
                  <a:solidFill>
                    <a:srgbClr val="0042FF"/>
                  </a:solidFill>
                  <a:latin typeface="微软雅黑"/>
                  <a:ea typeface="微软雅黑"/>
                  <a:cs typeface="微软雅黑"/>
                </a:endParaRPr>
              </a:p>
            </p:txBody>
          </p:sp>
        </p:grpSp>
        <p:grpSp>
          <p:nvGrpSpPr>
            <p:cNvPr id="106" name="组合 105"/>
            <p:cNvGrpSpPr/>
            <p:nvPr/>
          </p:nvGrpSpPr>
          <p:grpSpPr>
            <a:xfrm>
              <a:off x="1238" y="9323"/>
              <a:ext cx="4402" cy="2815"/>
              <a:chOff x="2230" y="17697"/>
              <a:chExt cx="5078" cy="2815"/>
            </a:xfrm>
          </p:grpSpPr>
          <p:sp>
            <p:nvSpPr>
              <p:cNvPr id="29"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2230" y="18397"/>
                <a:ext cx="4797" cy="2115"/>
              </a:xfrm>
              <a:prstGeom prst="rect">
                <a:avLst/>
              </a:prstGeom>
              <a:noFill/>
              <a:ln w="12700" cap="flat">
                <a:noFill/>
                <a:miter lim="400000"/>
              </a:ln>
              <a:effectLst/>
            </p:spPr>
            <p:txBody>
              <a:bodyPr wrap="square" lIns="25401" tIns="25401" rIns="25401" bIns="25401" numCol="1" anchor="t">
                <a:spAutoFit/>
              </a:bodyPr>
              <a:lstStyle>
                <a:lvl1pPr algn="l">
                  <a:defRPr sz="2500">
                    <a:solidFill>
                      <a:srgbClr val="383838"/>
                    </a:solidFill>
                    <a:latin typeface="微软雅黑"/>
                    <a:ea typeface="微软雅黑"/>
                    <a:cs typeface="微软雅黑"/>
                    <a:sym typeface="微软雅黑"/>
                  </a:defRPr>
                </a:lvl1pPr>
              </a:lstStyle>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领导者需具备充沛的个人能量，积极应对变化，不断学习并挑战新事物。</a:t>
                </a:r>
                <a:endParaRPr lang="zh-CN" altLang="en-US" sz="1400">
                  <a:solidFill>
                    <a:srgbClr val="383838"/>
                  </a:solidFill>
                  <a:latin typeface="微软雅黑"/>
                  <a:ea typeface="微软雅黑"/>
                  <a:cs typeface="微软雅黑"/>
                  <a:sym typeface="微软雅黑"/>
                </a:endParaRPr>
              </a:p>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主动推动工作进展，在逆境中保持韧性，例如通过技术革新应对市场波动。</a:t>
                </a:r>
                <a:endParaRPr lang="zh-CN" altLang="en-US" sz="1400">
                  <a:solidFill>
                    <a:srgbClr val="383838"/>
                  </a:solidFill>
                  <a:latin typeface="微软雅黑"/>
                  <a:ea typeface="微软雅黑"/>
                  <a:cs typeface="微软雅黑"/>
                  <a:sym typeface="微软雅黑"/>
                </a:endParaRPr>
              </a:p>
            </p:txBody>
          </p:sp>
          <p:sp>
            <p:nvSpPr>
              <p:cNvPr id="50" name="Venn diagram"/>
              <p:cNvSpPr txBox="1"/>
              <p:nvPr/>
            </p:nvSpPr>
            <p:spPr>
              <a:xfrm>
                <a:off x="2246" y="17697"/>
                <a:ext cx="5062" cy="467"/>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600" b="1">
                    <a:solidFill>
                      <a:srgbClr val="0042FF"/>
                    </a:solidFill>
                    <a:latin typeface="微软雅黑"/>
                    <a:ea typeface="微软雅黑"/>
                    <a:cs typeface="微软雅黑"/>
                    <a:sym typeface="微软雅黑"/>
                  </a:rPr>
                  <a:t>Energy</a:t>
                </a:r>
                <a:r>
                  <a:rPr lang="zh-CN" altLang="en-US" sz="1600" b="1">
                    <a:solidFill>
                      <a:srgbClr val="0042FF"/>
                    </a:solidFill>
                    <a:latin typeface="微软雅黑"/>
                    <a:ea typeface="微软雅黑"/>
                    <a:cs typeface="微软雅黑"/>
                    <a:sym typeface="微软雅黑"/>
                  </a:rPr>
                  <a:t>（活力）</a:t>
                </a:r>
                <a:endParaRPr lang="zh-CN" altLang="en-US" sz="1600" b="1">
                  <a:solidFill>
                    <a:srgbClr val="0042FF"/>
                  </a:solidFill>
                  <a:latin typeface="微软雅黑"/>
                  <a:ea typeface="微软雅黑"/>
                  <a:cs typeface="微软雅黑"/>
                  <a:sym typeface="微软雅黑"/>
                </a:endParaRPr>
              </a:p>
            </p:txBody>
          </p:sp>
        </p:grpSp>
        <p:grpSp>
          <p:nvGrpSpPr>
            <p:cNvPr id="51" name="组合 50"/>
            <p:cNvGrpSpPr/>
            <p:nvPr/>
          </p:nvGrpSpPr>
          <p:grpSpPr>
            <a:xfrm>
              <a:off x="1167" y="13058"/>
              <a:ext cx="4402" cy="2476"/>
              <a:chOff x="2230" y="17697"/>
              <a:chExt cx="5078" cy="2476"/>
            </a:xfrm>
          </p:grpSpPr>
          <p:sp>
            <p:nvSpPr>
              <p:cNvPr id="30"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2230" y="18397"/>
                <a:ext cx="4797" cy="1776"/>
              </a:xfrm>
              <a:prstGeom prst="rect">
                <a:avLst/>
              </a:prstGeom>
              <a:noFill/>
              <a:ln w="12700" cap="flat">
                <a:noFill/>
                <a:miter lim="400000"/>
              </a:ln>
              <a:effectLst/>
            </p:spPr>
            <p:txBody>
              <a:bodyPr wrap="square" lIns="25401" tIns="25401" rIns="25401" bIns="25401" numCol="1" anchor="t">
                <a:spAutoFit/>
              </a:bodyPr>
              <a:lstStyle>
                <a:lvl1pPr algn="l">
                  <a:defRPr sz="2500">
                    <a:solidFill>
                      <a:srgbClr val="383838"/>
                    </a:solidFill>
                    <a:latin typeface="微软雅黑"/>
                    <a:ea typeface="微软雅黑"/>
                    <a:cs typeface="微软雅黑"/>
                    <a:sym typeface="微软雅黑"/>
                  </a:defRPr>
                </a:lvl1pPr>
              </a:lstStyle>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将战略转化为行动计划，并确保结果达成。</a:t>
                </a:r>
                <a:endParaRPr lang="zh-CN" altLang="en-US" sz="1400">
                  <a:solidFill>
                    <a:srgbClr val="383838"/>
                  </a:solidFill>
                  <a:latin typeface="微软雅黑"/>
                  <a:ea typeface="微软雅黑"/>
                  <a:cs typeface="微软雅黑"/>
                  <a:sym typeface="微软雅黑"/>
                </a:endParaRPr>
              </a:p>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制定可落地的目标分解机制，例如通过</a:t>
                </a:r>
                <a:r>
                  <a:rPr lang="en-US" altLang="zh-CN" sz="1400">
                    <a:solidFill>
                      <a:srgbClr val="383838"/>
                    </a:solidFill>
                    <a:latin typeface="微软雅黑"/>
                    <a:ea typeface="微软雅黑"/>
                    <a:cs typeface="微软雅黑"/>
                    <a:sym typeface="微软雅黑"/>
                  </a:rPr>
                  <a:t>“</a:t>
                </a:r>
                <a:r>
                  <a:rPr lang="zh-CN" altLang="en-US" sz="1400">
                    <a:solidFill>
                      <a:srgbClr val="383838"/>
                    </a:solidFill>
                    <a:latin typeface="微软雅黑"/>
                    <a:ea typeface="微软雅黑"/>
                    <a:cs typeface="微软雅黑"/>
                    <a:sym typeface="微软雅黑"/>
                  </a:rPr>
                  <a:t>绩效看板</a:t>
                </a:r>
                <a:r>
                  <a:rPr lang="en-US" altLang="zh-CN" sz="1400">
                    <a:solidFill>
                      <a:srgbClr val="383838"/>
                    </a:solidFill>
                    <a:latin typeface="微软雅黑"/>
                    <a:ea typeface="微软雅黑"/>
                    <a:cs typeface="微软雅黑"/>
                    <a:sym typeface="微软雅黑"/>
                  </a:rPr>
                  <a:t>”</a:t>
                </a:r>
                <a:r>
                  <a:rPr lang="zh-CN" altLang="en-US" sz="1400">
                    <a:solidFill>
                      <a:srgbClr val="383838"/>
                    </a:solidFill>
                    <a:latin typeface="微软雅黑"/>
                    <a:ea typeface="微软雅黑"/>
                    <a:cs typeface="微软雅黑"/>
                    <a:sym typeface="微软雅黑"/>
                  </a:rPr>
                  <a:t>追踪项目进度，并优化执行流程。</a:t>
                </a:r>
                <a:endParaRPr lang="zh-CN" altLang="en-US" sz="1400">
                  <a:solidFill>
                    <a:srgbClr val="383838"/>
                  </a:solidFill>
                  <a:latin typeface="微软雅黑"/>
                  <a:ea typeface="微软雅黑"/>
                  <a:cs typeface="微软雅黑"/>
                  <a:sym typeface="微软雅黑"/>
                </a:endParaRPr>
              </a:p>
            </p:txBody>
          </p:sp>
          <p:sp>
            <p:nvSpPr>
              <p:cNvPr id="31" name="Venn diagram"/>
              <p:cNvSpPr txBox="1"/>
              <p:nvPr/>
            </p:nvSpPr>
            <p:spPr>
              <a:xfrm>
                <a:off x="2246" y="17697"/>
                <a:ext cx="5062" cy="467"/>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600" b="1">
                    <a:solidFill>
                      <a:srgbClr val="0042FF"/>
                    </a:solidFill>
                    <a:latin typeface="微软雅黑"/>
                    <a:ea typeface="微软雅黑"/>
                    <a:cs typeface="微软雅黑"/>
                    <a:sym typeface="微软雅黑"/>
                  </a:rPr>
                  <a:t>Execute</a:t>
                </a:r>
                <a:r>
                  <a:rPr lang="zh-CN" altLang="en-US" sz="1600" b="1">
                    <a:solidFill>
                      <a:srgbClr val="0042FF"/>
                    </a:solidFill>
                    <a:latin typeface="微软雅黑"/>
                    <a:ea typeface="微软雅黑"/>
                    <a:cs typeface="微软雅黑"/>
                    <a:sym typeface="微软雅黑"/>
                  </a:rPr>
                  <a:t>（执行力）</a:t>
                </a:r>
                <a:endParaRPr lang="zh-CN" altLang="en-US" sz="1600" b="1">
                  <a:solidFill>
                    <a:srgbClr val="0042FF"/>
                  </a:solidFill>
                  <a:latin typeface="微软雅黑"/>
                  <a:ea typeface="微软雅黑"/>
                  <a:cs typeface="微软雅黑"/>
                  <a:sym typeface="微软雅黑"/>
                </a:endParaRPr>
              </a:p>
            </p:txBody>
          </p:sp>
        </p:grpSp>
        <p:grpSp>
          <p:nvGrpSpPr>
            <p:cNvPr id="41" name="组合 40"/>
            <p:cNvGrpSpPr/>
            <p:nvPr/>
          </p:nvGrpSpPr>
          <p:grpSpPr>
            <a:xfrm>
              <a:off x="13781" y="9252"/>
              <a:ext cx="4159" cy="2547"/>
              <a:chOff x="2230" y="17626"/>
              <a:chExt cx="4797" cy="2547"/>
            </a:xfrm>
          </p:grpSpPr>
          <p:sp>
            <p:nvSpPr>
              <p:cNvPr id="4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2230" y="18397"/>
                <a:ext cx="4797" cy="1776"/>
              </a:xfrm>
              <a:prstGeom prst="rect">
                <a:avLst/>
              </a:prstGeom>
              <a:noFill/>
              <a:ln w="12700" cap="flat">
                <a:noFill/>
                <a:miter lim="400000"/>
              </a:ln>
              <a:effectLst/>
            </p:spPr>
            <p:txBody>
              <a:bodyPr wrap="square" lIns="25401" tIns="25401" rIns="25401" bIns="25401" numCol="1" anchor="t">
                <a:spAutoFit/>
              </a:bodyPr>
              <a:lstStyle>
                <a:lvl1pPr algn="l">
                  <a:defRPr sz="2500">
                    <a:solidFill>
                      <a:srgbClr val="383838"/>
                    </a:solidFill>
                    <a:latin typeface="微软雅黑"/>
                    <a:ea typeface="微软雅黑"/>
                    <a:cs typeface="微软雅黑"/>
                    <a:sym typeface="微软雅黑"/>
                  </a:defRPr>
                </a:lvl1pPr>
              </a:lstStyle>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激励团队潜能，通过沟通与协作激发成员行动力。</a:t>
                </a:r>
                <a:endParaRPr lang="zh-CN" altLang="en-US" sz="1400">
                  <a:solidFill>
                    <a:srgbClr val="383838"/>
                  </a:solidFill>
                  <a:latin typeface="微软雅黑"/>
                  <a:ea typeface="微软雅黑"/>
                  <a:cs typeface="微软雅黑"/>
                  <a:sym typeface="微软雅黑"/>
                </a:endParaRPr>
              </a:p>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善于描绘愿景，例如通过跨部门协作项目凝聚团队目标，并运用业务洞察说服他人。</a:t>
                </a:r>
                <a:endParaRPr lang="zh-CN" altLang="en-US" sz="1400">
                  <a:solidFill>
                    <a:srgbClr val="383838"/>
                  </a:solidFill>
                  <a:latin typeface="微软雅黑"/>
                  <a:ea typeface="微软雅黑"/>
                  <a:cs typeface="微软雅黑"/>
                  <a:sym typeface="微软雅黑"/>
                </a:endParaRPr>
              </a:p>
            </p:txBody>
          </p:sp>
          <p:sp>
            <p:nvSpPr>
              <p:cNvPr id="45" name="Venn diagram"/>
              <p:cNvSpPr txBox="1"/>
              <p:nvPr/>
            </p:nvSpPr>
            <p:spPr>
              <a:xfrm>
                <a:off x="3210" y="17626"/>
                <a:ext cx="3582" cy="467"/>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600" b="1">
                    <a:solidFill>
                      <a:srgbClr val="0042FF"/>
                    </a:solidFill>
                    <a:latin typeface="微软雅黑"/>
                    <a:ea typeface="微软雅黑"/>
                    <a:cs typeface="微软雅黑"/>
                    <a:sym typeface="微软雅黑"/>
                  </a:rPr>
                  <a:t>​Energize</a:t>
                </a:r>
                <a:r>
                  <a:rPr lang="zh-CN" altLang="en-US" sz="1600" b="1">
                    <a:solidFill>
                      <a:srgbClr val="0042FF"/>
                    </a:solidFill>
                    <a:latin typeface="微软雅黑"/>
                    <a:ea typeface="微软雅黑"/>
                    <a:cs typeface="微软雅黑"/>
                    <a:sym typeface="微软雅黑"/>
                  </a:rPr>
                  <a:t>（激励力）</a:t>
                </a:r>
                <a:r>
                  <a:rPr lang="en-US" altLang="zh-CN" sz="1600" b="1">
                    <a:solidFill>
                      <a:srgbClr val="0042FF"/>
                    </a:solidFill>
                    <a:latin typeface="微软雅黑"/>
                    <a:ea typeface="微软雅黑"/>
                    <a:cs typeface="微软雅黑"/>
                    <a:sym typeface="微软雅黑"/>
                  </a:rPr>
                  <a:t>​</a:t>
                </a:r>
                <a:endParaRPr lang="en-US" altLang="zh-CN" sz="1600" b="1">
                  <a:solidFill>
                    <a:srgbClr val="0042FF"/>
                  </a:solidFill>
                  <a:latin typeface="微软雅黑"/>
                  <a:ea typeface="微软雅黑"/>
                  <a:cs typeface="微软雅黑"/>
                  <a:sym typeface="微软雅黑"/>
                </a:endParaRPr>
              </a:p>
            </p:txBody>
          </p:sp>
        </p:grpSp>
        <p:grpSp>
          <p:nvGrpSpPr>
            <p:cNvPr id="63" name="组合 62"/>
            <p:cNvGrpSpPr/>
            <p:nvPr/>
          </p:nvGrpSpPr>
          <p:grpSpPr>
            <a:xfrm>
              <a:off x="13781" y="13018"/>
              <a:ext cx="4159" cy="2516"/>
              <a:chOff x="2230" y="17657"/>
              <a:chExt cx="4797" cy="2516"/>
            </a:xfrm>
          </p:grpSpPr>
          <p:sp>
            <p:nvSpPr>
              <p:cNvPr id="6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2230" y="18397"/>
                <a:ext cx="4797" cy="1776"/>
              </a:xfrm>
              <a:prstGeom prst="rect">
                <a:avLst/>
              </a:prstGeom>
              <a:noFill/>
              <a:ln w="12700" cap="flat">
                <a:noFill/>
                <a:miter lim="400000"/>
              </a:ln>
              <a:effectLst/>
            </p:spPr>
            <p:txBody>
              <a:bodyPr wrap="square" lIns="25401" tIns="25401" rIns="25401" bIns="25401" numCol="1" anchor="t">
                <a:spAutoFit/>
              </a:bodyPr>
              <a:lstStyle>
                <a:lvl1pPr algn="l">
                  <a:defRPr sz="2500">
                    <a:solidFill>
                      <a:srgbClr val="383838"/>
                    </a:solidFill>
                    <a:latin typeface="微软雅黑"/>
                    <a:ea typeface="微软雅黑"/>
                    <a:cs typeface="微软雅黑"/>
                    <a:sym typeface="微软雅黑"/>
                  </a:defRPr>
                </a:lvl1pPr>
              </a:lstStyle>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在复杂环境中快速决策，敢于冒险并坚持信念。</a:t>
                </a:r>
                <a:endParaRPr lang="zh-CN" altLang="en-US" sz="1400">
                  <a:solidFill>
                    <a:srgbClr val="383838"/>
                  </a:solidFill>
                  <a:latin typeface="微软雅黑"/>
                  <a:ea typeface="微软雅黑"/>
                  <a:cs typeface="微软雅黑"/>
                  <a:sym typeface="微软雅黑"/>
                </a:endParaRPr>
              </a:p>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例如在市场竞争中果断调整产品策略，或推动组织架构变革以提升效率。</a:t>
                </a:r>
                <a:endParaRPr lang="zh-CN" altLang="en-US" sz="1400">
                  <a:solidFill>
                    <a:srgbClr val="383838"/>
                  </a:solidFill>
                  <a:latin typeface="微软雅黑"/>
                  <a:ea typeface="微软雅黑"/>
                  <a:cs typeface="微软雅黑"/>
                  <a:sym typeface="微软雅黑"/>
                </a:endParaRPr>
              </a:p>
            </p:txBody>
          </p:sp>
          <p:sp>
            <p:nvSpPr>
              <p:cNvPr id="65" name="Venn diagram"/>
              <p:cNvSpPr txBox="1"/>
              <p:nvPr/>
            </p:nvSpPr>
            <p:spPr>
              <a:xfrm>
                <a:off x="3702" y="17657"/>
                <a:ext cx="2971" cy="467"/>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600" b="1">
                    <a:solidFill>
                      <a:srgbClr val="0042FF"/>
                    </a:solidFill>
                    <a:latin typeface="微软雅黑"/>
                    <a:ea typeface="微软雅黑"/>
                    <a:cs typeface="微软雅黑"/>
                    <a:sym typeface="微软雅黑"/>
                  </a:rPr>
                  <a:t>Edge</a:t>
                </a:r>
                <a:r>
                  <a:rPr lang="zh-CN" altLang="en-US" sz="1600" b="1">
                    <a:solidFill>
                      <a:srgbClr val="0042FF"/>
                    </a:solidFill>
                    <a:latin typeface="微软雅黑"/>
                    <a:ea typeface="微软雅黑"/>
                    <a:cs typeface="微软雅黑"/>
                    <a:sym typeface="微软雅黑"/>
                  </a:rPr>
                  <a:t>（决断力）</a:t>
                </a:r>
                <a:r>
                  <a:rPr lang="en-US" altLang="zh-CN" sz="1600" b="1">
                    <a:solidFill>
                      <a:srgbClr val="0042FF"/>
                    </a:solidFill>
                    <a:latin typeface="微软雅黑"/>
                    <a:ea typeface="微软雅黑"/>
                    <a:cs typeface="微软雅黑"/>
                    <a:sym typeface="微软雅黑"/>
                  </a:rPr>
                  <a:t>​</a:t>
                </a:r>
                <a:endParaRPr lang="en-US" altLang="zh-CN" sz="1600" b="1">
                  <a:solidFill>
                    <a:srgbClr val="0042FF"/>
                  </a:solidFill>
                  <a:latin typeface="微软雅黑"/>
                  <a:ea typeface="微软雅黑"/>
                  <a:cs typeface="微软雅黑"/>
                  <a:sym typeface="微软雅黑"/>
                </a:endParaRPr>
              </a:p>
            </p:txBody>
          </p:sp>
        </p:grpSp>
      </p:grpSp>
      <p:grpSp>
        <p:nvGrpSpPr>
          <p:cNvPr id="66" name="组合 65"/>
          <p:cNvGrpSpPr/>
          <p:nvPr/>
        </p:nvGrpSpPr>
        <p:grpSpPr>
          <a:xfrm rot="0">
            <a:off x="5618480" y="1075055"/>
            <a:ext cx="5288915" cy="741045"/>
            <a:chOff x="4392" y="7116"/>
            <a:chExt cx="9608" cy="1167"/>
          </a:xfrm>
        </p:grpSpPr>
        <p:sp>
          <p:nvSpPr>
            <p:cNvPr id="47"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6244" y="7116"/>
              <a:ext cx="7756" cy="1167"/>
            </a:xfrm>
            <a:prstGeom prst="rect">
              <a:avLst/>
            </a:prstGeom>
            <a:noFill/>
            <a:ln w="12700" cap="flat">
              <a:noFill/>
              <a:miter lim="400000"/>
            </a:ln>
            <a:effectLst/>
          </p:spPr>
          <p:txBody>
            <a:bodyPr wrap="square" lIns="25401" tIns="25401" rIns="25401" bIns="25401" numCol="1" anchor="t">
              <a:noAutofit/>
            </a:bodyPr>
            <a:lstStyle>
              <a:lvl1pPr algn="l">
                <a:defRPr sz="2500">
                  <a:solidFill>
                    <a:srgbClr val="383838"/>
                  </a:solidFill>
                  <a:latin typeface="微软雅黑"/>
                  <a:ea typeface="微软雅黑"/>
                  <a:cs typeface="微软雅黑"/>
                  <a:sym typeface="微软雅黑"/>
                </a:defRPr>
              </a:lvl1pPr>
            </a:lstStyle>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对工作充满热忱，并感染团队共同追求卓越。</a:t>
              </a:r>
              <a:endParaRPr lang="zh-CN" altLang="en-US" sz="1400">
                <a:solidFill>
                  <a:srgbClr val="383838"/>
                </a:solidFill>
                <a:latin typeface="微软雅黑"/>
                <a:ea typeface="微软雅黑"/>
                <a:cs typeface="微软雅黑"/>
                <a:sym typeface="微软雅黑"/>
              </a:endParaRPr>
            </a:p>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例如高管亲自参与一线客户调研，传递对业务的深度投入。</a:t>
              </a:r>
              <a:endParaRPr lang="zh-CN" altLang="en-US" sz="1400">
                <a:solidFill>
                  <a:srgbClr val="383838"/>
                </a:solidFill>
                <a:latin typeface="微软雅黑"/>
                <a:ea typeface="微软雅黑"/>
                <a:cs typeface="微软雅黑"/>
                <a:sym typeface="微软雅黑"/>
              </a:endParaRPr>
            </a:p>
          </p:txBody>
        </p:sp>
        <p:sp>
          <p:nvSpPr>
            <p:cNvPr id="48" name="Venn diagram"/>
            <p:cNvSpPr txBox="1"/>
            <p:nvPr/>
          </p:nvSpPr>
          <p:spPr>
            <a:xfrm>
              <a:off x="4392" y="7137"/>
              <a:ext cx="1851" cy="855"/>
            </a:xfrm>
            <a:prstGeom prst="rect">
              <a:avLst/>
            </a:prstGeom>
            <a:noFill/>
            <a:ln w="12700" cap="flat">
              <a:noFill/>
              <a:miter lim="400000"/>
            </a:ln>
            <a:effectLst/>
          </p:spPr>
          <p:txBody>
            <a:bodyPr wrap="square" lIns="0" tIns="0" rIns="0" bIns="0" numCol="1" anchor="t">
              <a:spAutoFit/>
            </a:bodyPr>
            <a:lstStyle>
              <a:lvl1pPr algn="l">
                <a:defRPr>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en-US" altLang="zh-CN" sz="1600" b="1">
                  <a:solidFill>
                    <a:srgbClr val="0042FF"/>
                  </a:solidFill>
                  <a:latin typeface="微软雅黑"/>
                  <a:ea typeface="微软雅黑"/>
                  <a:cs typeface="微软雅黑"/>
                  <a:sym typeface="微软雅黑"/>
                </a:rPr>
                <a:t>Passion</a:t>
              </a:r>
              <a:endParaRPr lang="en-US" altLang="zh-CN" sz="16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（激情）</a:t>
              </a:r>
              <a:r>
                <a:rPr lang="en-US" altLang="zh-CN" sz="1600" b="1">
                  <a:solidFill>
                    <a:srgbClr val="0042FF"/>
                  </a:solidFill>
                  <a:latin typeface="微软雅黑"/>
                  <a:ea typeface="微软雅黑"/>
                  <a:cs typeface="微软雅黑"/>
                  <a:sym typeface="微软雅黑"/>
                </a:rPr>
                <a:t>​</a:t>
              </a:r>
              <a:endParaRPr lang="en-US" altLang="zh-CN" sz="1600" b="1">
                <a:solidFill>
                  <a:srgbClr val="0042FF"/>
                </a:solidFill>
                <a:latin typeface="微软雅黑"/>
                <a:ea typeface="微软雅黑"/>
                <a:cs typeface="微软雅黑"/>
                <a:sym typeface="微软雅黑"/>
              </a:endParaRPr>
            </a:p>
          </p:txBody>
        </p:sp>
      </p:grpSp>
      <p:cxnSp>
        <p:nvCxnSpPr>
          <p:cNvPr id="160" name="直接连接符 159"/>
          <p:cNvCxnSpPr/>
          <p:nvPr/>
        </p:nvCxnSpPr>
        <p:spPr>
          <a:xfrm>
            <a:off x="932180" y="2459355"/>
            <a:ext cx="2646045" cy="0"/>
          </a:xfrm>
          <a:prstGeom prst="line">
            <a:avLst/>
          </a:prstGeom>
          <a:noFill/>
          <a:ln w="12700" cap="flat" cmpd="sng" algn="ctr">
            <a:solidFill>
              <a:srgbClr val="DCDCDC"/>
            </a:solidFill>
            <a:prstDash val="solid"/>
            <a:miter lim="800000"/>
            <a:headEnd type="oval"/>
            <a:tailEnd type="none"/>
          </a:ln>
          <a:effectLst/>
        </p:spPr>
      </p:cxnSp>
      <p:cxnSp>
        <p:nvCxnSpPr>
          <p:cNvPr id="59" name="直接连接符 58"/>
          <p:cNvCxnSpPr/>
          <p:nvPr/>
        </p:nvCxnSpPr>
        <p:spPr>
          <a:xfrm flipH="1" flipV="1">
            <a:off x="3578225" y="2459355"/>
            <a:ext cx="1304925" cy="834390"/>
          </a:xfrm>
          <a:prstGeom prst="line">
            <a:avLst/>
          </a:prstGeom>
          <a:noFill/>
          <a:ln w="12700" cap="flat" cmpd="sng" algn="ctr">
            <a:solidFill>
              <a:srgbClr val="DCDCDC"/>
            </a:solidFill>
            <a:prstDash val="solid"/>
            <a:miter lim="800000"/>
            <a:headEnd type="oval"/>
            <a:tailEnd type="none"/>
          </a:ln>
          <a:effectLst/>
        </p:spPr>
      </p:cxnSp>
      <p:cxnSp>
        <p:nvCxnSpPr>
          <p:cNvPr id="70" name="直接连接符 69"/>
          <p:cNvCxnSpPr/>
          <p:nvPr/>
        </p:nvCxnSpPr>
        <p:spPr>
          <a:xfrm>
            <a:off x="918210" y="4913630"/>
            <a:ext cx="2646045" cy="0"/>
          </a:xfrm>
          <a:prstGeom prst="line">
            <a:avLst/>
          </a:prstGeom>
          <a:noFill/>
          <a:ln w="12700" cap="flat" cmpd="sng" algn="ctr">
            <a:solidFill>
              <a:srgbClr val="DCDCDC"/>
            </a:solidFill>
            <a:prstDash val="solid"/>
            <a:miter lim="800000"/>
            <a:headEnd type="oval"/>
            <a:tailEnd type="none"/>
          </a:ln>
          <a:effectLst/>
        </p:spPr>
      </p:cxnSp>
      <p:cxnSp>
        <p:nvCxnSpPr>
          <p:cNvPr id="71" name="直接连接符 70"/>
          <p:cNvCxnSpPr/>
          <p:nvPr/>
        </p:nvCxnSpPr>
        <p:spPr>
          <a:xfrm flipH="1">
            <a:off x="3533775" y="4598670"/>
            <a:ext cx="899795" cy="315595"/>
          </a:xfrm>
          <a:prstGeom prst="line">
            <a:avLst/>
          </a:prstGeom>
          <a:noFill/>
          <a:ln w="12700" cap="flat" cmpd="sng" algn="ctr">
            <a:solidFill>
              <a:srgbClr val="DCDCDC"/>
            </a:solidFill>
            <a:prstDash val="solid"/>
            <a:miter lim="800000"/>
            <a:headEnd type="oval"/>
            <a:tailEnd type="none"/>
          </a:ln>
          <a:effectLst/>
        </p:spPr>
      </p:cxnSp>
      <p:cxnSp>
        <p:nvCxnSpPr>
          <p:cNvPr id="72" name="直接连接符 71"/>
          <p:cNvCxnSpPr/>
          <p:nvPr/>
        </p:nvCxnSpPr>
        <p:spPr>
          <a:xfrm flipH="1">
            <a:off x="8753475" y="2484120"/>
            <a:ext cx="2646045" cy="0"/>
          </a:xfrm>
          <a:prstGeom prst="line">
            <a:avLst/>
          </a:prstGeom>
          <a:noFill/>
          <a:ln w="12700" cap="flat" cmpd="sng" algn="ctr">
            <a:solidFill>
              <a:srgbClr val="DCDCDC"/>
            </a:solidFill>
            <a:prstDash val="solid"/>
            <a:miter lim="800000"/>
            <a:headEnd type="oval"/>
            <a:tailEnd type="none"/>
          </a:ln>
          <a:effectLst/>
        </p:spPr>
      </p:cxnSp>
      <p:cxnSp>
        <p:nvCxnSpPr>
          <p:cNvPr id="73" name="直接连接符 72"/>
          <p:cNvCxnSpPr/>
          <p:nvPr/>
        </p:nvCxnSpPr>
        <p:spPr>
          <a:xfrm flipV="1">
            <a:off x="7898130" y="2484120"/>
            <a:ext cx="855345" cy="720090"/>
          </a:xfrm>
          <a:prstGeom prst="line">
            <a:avLst/>
          </a:prstGeom>
          <a:noFill/>
          <a:ln w="12700" cap="flat" cmpd="sng" algn="ctr">
            <a:solidFill>
              <a:srgbClr val="DCDCDC"/>
            </a:solidFill>
            <a:prstDash val="solid"/>
            <a:miter lim="800000"/>
            <a:headEnd type="oval"/>
            <a:tailEnd type="none"/>
          </a:ln>
          <a:effectLst/>
        </p:spPr>
      </p:cxnSp>
      <p:cxnSp>
        <p:nvCxnSpPr>
          <p:cNvPr id="74" name="直接连接符 73"/>
          <p:cNvCxnSpPr/>
          <p:nvPr/>
        </p:nvCxnSpPr>
        <p:spPr>
          <a:xfrm flipH="1">
            <a:off x="8880475" y="4869180"/>
            <a:ext cx="2646045" cy="0"/>
          </a:xfrm>
          <a:prstGeom prst="line">
            <a:avLst/>
          </a:prstGeom>
          <a:noFill/>
          <a:ln w="12700" cap="flat" cmpd="sng" algn="ctr">
            <a:solidFill>
              <a:srgbClr val="DCDCDC"/>
            </a:solidFill>
            <a:prstDash val="solid"/>
            <a:miter lim="800000"/>
            <a:headEnd type="oval"/>
            <a:tailEnd type="none"/>
          </a:ln>
          <a:effectLst/>
        </p:spPr>
      </p:cxnSp>
      <p:cxnSp>
        <p:nvCxnSpPr>
          <p:cNvPr id="75" name="直接连接符 74"/>
          <p:cNvCxnSpPr/>
          <p:nvPr/>
        </p:nvCxnSpPr>
        <p:spPr>
          <a:xfrm>
            <a:off x="7943215" y="4643755"/>
            <a:ext cx="945515" cy="225425"/>
          </a:xfrm>
          <a:prstGeom prst="line">
            <a:avLst/>
          </a:prstGeom>
          <a:noFill/>
          <a:ln w="12700" cap="flat" cmpd="sng" algn="ctr">
            <a:solidFill>
              <a:srgbClr val="DCDCDC"/>
            </a:solidFill>
            <a:prstDash val="solid"/>
            <a:miter lim="800000"/>
            <a:headEnd type="oval"/>
            <a:tailEnd type="none"/>
          </a:ln>
          <a:effectLst/>
        </p:spPr>
      </p:cxnSp>
      <p:cxnSp>
        <p:nvCxnSpPr>
          <p:cNvPr id="76" name="直接连接符 75"/>
          <p:cNvCxnSpPr/>
          <p:nvPr/>
        </p:nvCxnSpPr>
        <p:spPr>
          <a:xfrm flipH="1">
            <a:off x="5018405" y="1400810"/>
            <a:ext cx="667385" cy="3175"/>
          </a:xfrm>
          <a:prstGeom prst="line">
            <a:avLst/>
          </a:prstGeom>
          <a:noFill/>
          <a:ln w="12700" cap="flat" cmpd="sng" algn="ctr">
            <a:solidFill>
              <a:srgbClr val="3368FF"/>
            </a:solidFill>
            <a:prstDash val="solid"/>
            <a:miter lim="800000"/>
            <a:headEnd type="oval"/>
            <a:tailEnd type="none"/>
          </a:ln>
          <a:effectLst/>
        </p:spPr>
      </p:cxnSp>
      <p:cxnSp>
        <p:nvCxnSpPr>
          <p:cNvPr id="77" name="直接连接符 76"/>
          <p:cNvCxnSpPr/>
          <p:nvPr/>
        </p:nvCxnSpPr>
        <p:spPr>
          <a:xfrm flipH="1" flipV="1">
            <a:off x="5018405" y="1403985"/>
            <a:ext cx="944880" cy="2205355"/>
          </a:xfrm>
          <a:prstGeom prst="line">
            <a:avLst/>
          </a:prstGeom>
          <a:noFill/>
          <a:ln w="12700" cap="flat" cmpd="sng" algn="ctr">
            <a:solidFill>
              <a:srgbClr val="3368FF"/>
            </a:solidFill>
            <a:prstDash val="solid"/>
            <a:miter lim="800000"/>
            <a:headEnd type="oval"/>
            <a:tailEnd type="none"/>
          </a:ln>
          <a:effectLst/>
        </p:spPr>
      </p:cxnSp>
      <p:sp>
        <p:nvSpPr>
          <p:cNvPr id="61" name="文本框 60"/>
          <p:cNvSpPr txBox="1"/>
          <p:nvPr/>
        </p:nvSpPr>
        <p:spPr>
          <a:xfrm>
            <a:off x="5793105" y="3415665"/>
            <a:ext cx="86233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激</a:t>
            </a:r>
            <a:r>
              <a:rPr lang="en-US" altLang="zh-CN" sz="1600" b="1">
                <a:solidFill>
                  <a:srgbClr val="0042FF"/>
                </a:solidFill>
                <a:latin typeface="微软雅黑"/>
                <a:ea typeface="微软雅黑"/>
                <a:cs typeface="微软雅黑"/>
              </a:rPr>
              <a:t> </a:t>
            </a:r>
            <a:r>
              <a:rPr lang="zh-CN" altLang="en-US" sz="1600" b="1">
                <a:solidFill>
                  <a:srgbClr val="0042FF"/>
                </a:solidFill>
                <a:latin typeface="微软雅黑"/>
                <a:ea typeface="微软雅黑"/>
                <a:cs typeface="微软雅黑"/>
              </a:rPr>
              <a:t>情</a:t>
            </a:r>
            <a:endParaRPr lang="zh-CN" altLang="en-US" sz="1600" b="1">
              <a:solidFill>
                <a:srgbClr val="0042FF"/>
              </a:solidFill>
              <a:latin typeface="微软雅黑"/>
              <a:ea typeface="微软雅黑"/>
              <a:cs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20" name="图片 19"/>
            <p:cNvPicPr>
              <a:picLocks noChangeAspect="1"/>
            </p:cNvPicPr>
            <p:nvPr userDrawn="1"/>
          </p:nvPicPr>
          <p:blipFill>
            <a:blip r:embed="rId4"/>
            <a:srcRect l="17002" t="-1765" r="56499" b="-1176"/>
            <a:stretch>
              <a:fillRect/>
            </a:stretch>
          </p:blipFill>
          <p:spPr>
            <a:xfrm>
              <a:off x="13761" y="549"/>
              <a:ext cx="1582" cy="525"/>
            </a:xfrm>
            <a:prstGeom prst="rect">
              <a:avLst/>
            </a:prstGeom>
          </p:spPr>
        </p:pic>
        <p:sp>
          <p:nvSpPr>
            <p:cNvPr id="21" name="文本框 2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循环逻辑架构 | </a:t>
            </a:r>
            <a:r>
              <a:rPr sz="2500">
                <a:solidFill>
                  <a:srgbClr val="383838"/>
                </a:solidFill>
                <a:effectLst/>
                <a:latin typeface="微软雅黑"/>
                <a:ea typeface="微软雅黑"/>
                <a:cs typeface="微软雅黑"/>
              </a:rPr>
              <a:t>联想十步复盘法模型</a:t>
            </a:r>
            <a:endParaRPr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481" name="Shape"/>
          <p:cNvSpPr/>
          <p:nvPr/>
        </p:nvSpPr>
        <p:spPr>
          <a:xfrm>
            <a:off x="4780280" y="1574800"/>
            <a:ext cx="1290320" cy="1036320"/>
          </a:xfrm>
          <a:custGeom>
            <a:avLst/>
            <a:gdLst/>
            <a:ahLst/>
            <a:cxnLst>
              <a:cxn ang="0">
                <a:pos x="wd2" y="hd2"/>
              </a:cxn>
              <a:cxn ang="5400000">
                <a:pos x="wd2" y="hd2"/>
              </a:cxn>
              <a:cxn ang="10800000">
                <a:pos x="wd2" y="hd2"/>
              </a:cxn>
              <a:cxn ang="16200000">
                <a:pos x="wd2" y="hd2"/>
              </a:cxn>
            </a:cxnLst>
            <a:rect l="0" t="0" r="r" b="b"/>
            <a:pathLst>
              <a:path w="21600" h="21580" extrusionOk="0">
                <a:moveTo>
                  <a:pt x="0" y="8575"/>
                </a:moveTo>
                <a:cubicBezTo>
                  <a:pt x="3041" y="5853"/>
                  <a:pt x="6409" y="3727"/>
                  <a:pt x="9982" y="2273"/>
                </a:cubicBezTo>
                <a:cubicBezTo>
                  <a:pt x="13729" y="747"/>
                  <a:pt x="17653" y="-20"/>
                  <a:pt x="21600" y="1"/>
                </a:cubicBezTo>
                <a:lnTo>
                  <a:pt x="21583" y="16076"/>
                </a:lnTo>
                <a:cubicBezTo>
                  <a:pt x="19068" y="16045"/>
                  <a:pt x="16565" y="16518"/>
                  <a:pt x="14174" y="17476"/>
                </a:cubicBezTo>
                <a:cubicBezTo>
                  <a:pt x="11839" y="18411"/>
                  <a:pt x="9641" y="19797"/>
                  <a:pt x="7662" y="21580"/>
                </a:cubicBezTo>
                <a:lnTo>
                  <a:pt x="0" y="8575"/>
                </a:lnTo>
                <a:close/>
              </a:path>
            </a:pathLst>
          </a:custGeom>
          <a:solidFill>
            <a:srgbClr val="3368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82" name="Circle"/>
          <p:cNvSpPr/>
          <p:nvPr/>
        </p:nvSpPr>
        <p:spPr>
          <a:xfrm>
            <a:off x="5213350" y="2900045"/>
            <a:ext cx="1748790" cy="1724660"/>
          </a:xfrm>
          <a:prstGeom prst="ellipse">
            <a:avLst/>
          </a:prstGeom>
          <a:pattFill prst="wdDnDiag">
            <a:fgClr>
              <a:srgbClr val="E6E6E6"/>
            </a:fgClr>
            <a:bgClr>
              <a:srgbClr val="FFFFFF"/>
            </a:bgClr>
          </a:pattFill>
          <a:ln w="12700">
            <a:solidFill>
              <a:srgbClr val="0042FF"/>
            </a:solidFill>
            <a:prstDash val="sysDot"/>
            <a:miter lim="400000"/>
          </a:ln>
        </p:spPr>
        <p:txBody>
          <a:bodyPr lIns="0" tIns="0" rIns="0" bIns="0" rtlCol="0" anchor="ctr">
            <a:noAutofit/>
          </a:bodyPr>
          <a:lstStyle/>
          <a:p>
            <a:pPr lvl="0" algn="ctr">
              <a:buClrTx/>
              <a:buSzTx/>
              <a:buFontTx/>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483" name="Shape"/>
          <p:cNvSpPr/>
          <p:nvPr/>
        </p:nvSpPr>
        <p:spPr>
          <a:xfrm>
            <a:off x="6064885" y="1574165"/>
            <a:ext cx="1292860" cy="1035050"/>
          </a:xfrm>
          <a:custGeom>
            <a:avLst/>
            <a:gdLst/>
            <a:ahLst/>
            <a:cxnLst>
              <a:cxn ang="0">
                <a:pos x="wd2" y="hd2"/>
              </a:cxn>
              <a:cxn ang="5400000">
                <a:pos x="wd2" y="hd2"/>
              </a:cxn>
              <a:cxn ang="10800000">
                <a:pos x="wd2" y="hd2"/>
              </a:cxn>
              <a:cxn ang="16200000">
                <a:pos x="wd2" y="hd2"/>
              </a:cxn>
            </a:cxnLst>
            <a:rect l="0" t="0" r="r" b="b"/>
            <a:pathLst>
              <a:path w="21600" h="21584" extrusionOk="0">
                <a:moveTo>
                  <a:pt x="0" y="16074"/>
                </a:moveTo>
                <a:lnTo>
                  <a:pt x="0" y="0"/>
                </a:lnTo>
                <a:cubicBezTo>
                  <a:pt x="3726" y="-16"/>
                  <a:pt x="7433" y="672"/>
                  <a:pt x="10990" y="2041"/>
                </a:cubicBezTo>
                <a:cubicBezTo>
                  <a:pt x="14795" y="3505"/>
                  <a:pt x="18380" y="5729"/>
                  <a:pt x="21600" y="8623"/>
                </a:cubicBezTo>
                <a:lnTo>
                  <a:pt x="13892" y="21584"/>
                </a:lnTo>
                <a:cubicBezTo>
                  <a:pt x="11803" y="19705"/>
                  <a:pt x="9474" y="18268"/>
                  <a:pt x="7001" y="17333"/>
                </a:cubicBezTo>
                <a:cubicBezTo>
                  <a:pt x="4734" y="16476"/>
                  <a:pt x="2372" y="16051"/>
                  <a:pt x="0" y="16074"/>
                </a:cubicBezTo>
                <a:close/>
              </a:path>
            </a:pathLst>
          </a:custGeom>
          <a:solidFill>
            <a:srgbClr val="0042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84" name="Shape"/>
          <p:cNvSpPr/>
          <p:nvPr/>
        </p:nvSpPr>
        <p:spPr>
          <a:xfrm>
            <a:off x="6894830" y="1984375"/>
            <a:ext cx="1257935" cy="1314450"/>
          </a:xfrm>
          <a:custGeom>
            <a:avLst/>
            <a:gdLst/>
            <a:ahLst/>
            <a:cxnLst>
              <a:cxn ang="0">
                <a:pos x="wd2" y="hd2"/>
              </a:cxn>
              <a:cxn ang="5400000">
                <a:pos x="wd2" y="hd2"/>
              </a:cxn>
              <a:cxn ang="10800000">
                <a:pos x="wd2" y="hd2"/>
              </a:cxn>
              <a:cxn ang="16200000">
                <a:pos x="wd2" y="hd2"/>
              </a:cxn>
            </a:cxnLst>
            <a:rect l="0" t="0" r="r" b="b"/>
            <a:pathLst>
              <a:path w="21600" h="21600" extrusionOk="0">
                <a:moveTo>
                  <a:pt x="7922" y="0"/>
                </a:moveTo>
                <a:lnTo>
                  <a:pt x="0" y="10256"/>
                </a:lnTo>
                <a:cubicBezTo>
                  <a:pt x="2081" y="11677"/>
                  <a:pt x="3912" y="13399"/>
                  <a:pt x="5424" y="15359"/>
                </a:cubicBezTo>
                <a:cubicBezTo>
                  <a:pt x="6893" y="17262"/>
                  <a:pt x="8045" y="19367"/>
                  <a:pt x="8839" y="21600"/>
                </a:cubicBezTo>
                <a:lnTo>
                  <a:pt x="21600" y="17653"/>
                </a:lnTo>
                <a:cubicBezTo>
                  <a:pt x="20306" y="13993"/>
                  <a:pt x="18395" y="10554"/>
                  <a:pt x="15943" y="7468"/>
                </a:cubicBezTo>
                <a:cubicBezTo>
                  <a:pt x="13677" y="4617"/>
                  <a:pt x="10973" y="2100"/>
                  <a:pt x="7922" y="0"/>
                </a:cubicBezTo>
                <a:close/>
              </a:path>
            </a:pathLst>
          </a:custGeom>
          <a:solidFill>
            <a:srgbClr val="3368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85" name="Shape"/>
          <p:cNvSpPr/>
          <p:nvPr/>
        </p:nvSpPr>
        <p:spPr>
          <a:xfrm>
            <a:off x="7406640" y="3055620"/>
            <a:ext cx="855345" cy="1349375"/>
          </a:xfrm>
          <a:custGeom>
            <a:avLst/>
            <a:gdLst/>
            <a:ahLst/>
            <a:cxnLst>
              <a:cxn ang="0">
                <a:pos x="wd2" y="hd2"/>
              </a:cxn>
              <a:cxn ang="5400000">
                <a:pos x="wd2" y="hd2"/>
              </a:cxn>
              <a:cxn ang="10800000">
                <a:pos x="wd2" y="hd2"/>
              </a:cxn>
              <a:cxn ang="16200000">
                <a:pos x="wd2" y="hd2"/>
              </a:cxn>
            </a:cxnLst>
            <a:rect l="0" t="0" r="r" b="b"/>
            <a:pathLst>
              <a:path w="21567" h="21600" extrusionOk="0">
                <a:moveTo>
                  <a:pt x="0" y="3851"/>
                </a:moveTo>
                <a:lnTo>
                  <a:pt x="18782" y="0"/>
                </a:lnTo>
                <a:cubicBezTo>
                  <a:pt x="20593" y="3468"/>
                  <a:pt x="21532" y="7091"/>
                  <a:pt x="21566" y="10740"/>
                </a:cubicBezTo>
                <a:cubicBezTo>
                  <a:pt x="21600" y="14424"/>
                  <a:pt x="20711" y="18088"/>
                  <a:pt x="18932" y="21600"/>
                </a:cubicBezTo>
                <a:lnTo>
                  <a:pt x="170" y="17800"/>
                </a:lnTo>
                <a:cubicBezTo>
                  <a:pt x="1326" y="15557"/>
                  <a:pt x="1904" y="13214"/>
                  <a:pt x="1882" y="10858"/>
                </a:cubicBezTo>
                <a:cubicBezTo>
                  <a:pt x="1860" y="8474"/>
                  <a:pt x="1224" y="6109"/>
                  <a:pt x="0" y="3851"/>
                </a:cubicBezTo>
                <a:close/>
              </a:path>
            </a:pathLst>
          </a:custGeom>
          <a:solidFill>
            <a:srgbClr val="0042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86" name="Shape"/>
          <p:cNvSpPr/>
          <p:nvPr/>
        </p:nvSpPr>
        <p:spPr>
          <a:xfrm>
            <a:off x="6892925" y="4155440"/>
            <a:ext cx="1265555" cy="1338580"/>
          </a:xfrm>
          <a:custGeom>
            <a:avLst/>
            <a:gdLst/>
            <a:ahLst/>
            <a:cxnLst>
              <a:cxn ang="0">
                <a:pos x="wd2" y="hd2"/>
              </a:cxn>
              <a:cxn ang="5400000">
                <a:pos x="wd2" y="hd2"/>
              </a:cxn>
              <a:cxn ang="10800000">
                <a:pos x="wd2" y="hd2"/>
              </a:cxn>
              <a:cxn ang="16200000">
                <a:pos x="wd2" y="hd2"/>
              </a:cxn>
            </a:cxnLst>
            <a:rect l="0" t="0" r="r" b="b"/>
            <a:pathLst>
              <a:path w="21600" h="21600" extrusionOk="0">
                <a:moveTo>
                  <a:pt x="8905" y="0"/>
                </a:moveTo>
                <a:cubicBezTo>
                  <a:pt x="8181" y="2114"/>
                  <a:pt x="7129" y="4118"/>
                  <a:pt x="5783" y="5945"/>
                </a:cubicBezTo>
                <a:cubicBezTo>
                  <a:pt x="4208" y="8085"/>
                  <a:pt x="2251" y="9954"/>
                  <a:pt x="0" y="11473"/>
                </a:cubicBezTo>
                <a:lnTo>
                  <a:pt x="7818" y="21600"/>
                </a:lnTo>
                <a:cubicBezTo>
                  <a:pt x="11255" y="19258"/>
                  <a:pt x="14250" y="16394"/>
                  <a:pt x="16680" y="13127"/>
                </a:cubicBezTo>
                <a:cubicBezTo>
                  <a:pt x="18787" y="10292"/>
                  <a:pt x="20445" y="7185"/>
                  <a:pt x="21600" y="3904"/>
                </a:cubicBezTo>
                <a:lnTo>
                  <a:pt x="8905" y="0"/>
                </a:lnTo>
                <a:close/>
              </a:path>
            </a:pathLst>
          </a:custGeom>
          <a:solidFill>
            <a:srgbClr val="3368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87" name="Shape"/>
          <p:cNvSpPr/>
          <p:nvPr/>
        </p:nvSpPr>
        <p:spPr>
          <a:xfrm>
            <a:off x="6067425" y="4866640"/>
            <a:ext cx="1287145" cy="1035685"/>
          </a:xfrm>
          <a:custGeom>
            <a:avLst/>
            <a:gdLst/>
            <a:ahLst/>
            <a:cxnLst>
              <a:cxn ang="0">
                <a:pos x="wd2" y="hd2"/>
              </a:cxn>
              <a:cxn ang="5400000">
                <a:pos x="wd2" y="hd2"/>
              </a:cxn>
              <a:cxn ang="10800000">
                <a:pos x="wd2" y="hd2"/>
              </a:cxn>
              <a:cxn ang="16200000">
                <a:pos x="wd2" y="hd2"/>
              </a:cxn>
            </a:cxnLst>
            <a:rect l="0" t="0" r="r" b="b"/>
            <a:pathLst>
              <a:path w="21600" h="21593" extrusionOk="0">
                <a:moveTo>
                  <a:pt x="0" y="5527"/>
                </a:moveTo>
                <a:cubicBezTo>
                  <a:pt x="2423" y="5537"/>
                  <a:pt x="4833" y="5088"/>
                  <a:pt x="7143" y="4193"/>
                </a:cubicBezTo>
                <a:cubicBezTo>
                  <a:pt x="9568" y="3254"/>
                  <a:pt x="11851" y="1838"/>
                  <a:pt x="13905" y="0"/>
                </a:cubicBezTo>
                <a:lnTo>
                  <a:pt x="21600" y="13092"/>
                </a:lnTo>
                <a:cubicBezTo>
                  <a:pt x="18561" y="15770"/>
                  <a:pt x="15207" y="17865"/>
                  <a:pt x="11653" y="19306"/>
                </a:cubicBezTo>
                <a:cubicBezTo>
                  <a:pt x="7898" y="20828"/>
                  <a:pt x="3967" y="21600"/>
                  <a:pt x="11" y="21593"/>
                </a:cubicBezTo>
                <a:lnTo>
                  <a:pt x="0" y="5527"/>
                </a:lnTo>
                <a:close/>
              </a:path>
            </a:pathLst>
          </a:custGeom>
          <a:solidFill>
            <a:srgbClr val="3368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88" name="Shape"/>
          <p:cNvSpPr/>
          <p:nvPr/>
        </p:nvSpPr>
        <p:spPr>
          <a:xfrm>
            <a:off x="4770120" y="4859655"/>
            <a:ext cx="1301750" cy="1042035"/>
          </a:xfrm>
          <a:custGeom>
            <a:avLst/>
            <a:gdLst/>
            <a:ahLst/>
            <a:cxnLst>
              <a:cxn ang="0">
                <a:pos x="wd2" y="hd2"/>
              </a:cxn>
              <a:cxn ang="5400000">
                <a:pos x="wd2" y="hd2"/>
              </a:cxn>
              <a:cxn ang="10800000">
                <a:pos x="wd2" y="hd2"/>
              </a:cxn>
              <a:cxn ang="16200000">
                <a:pos x="wd2" y="hd2"/>
              </a:cxn>
            </a:cxnLst>
            <a:rect l="0" t="0" r="r" b="b"/>
            <a:pathLst>
              <a:path w="21600" h="21600" extrusionOk="0">
                <a:moveTo>
                  <a:pt x="7654" y="0"/>
                </a:moveTo>
                <a:cubicBezTo>
                  <a:pt x="9632" y="1799"/>
                  <a:pt x="11829" y="3202"/>
                  <a:pt x="14163" y="4157"/>
                </a:cubicBezTo>
                <a:cubicBezTo>
                  <a:pt x="16561" y="5138"/>
                  <a:pt x="19073" y="5633"/>
                  <a:pt x="21600" y="5623"/>
                </a:cubicBezTo>
                <a:lnTo>
                  <a:pt x="21571" y="21600"/>
                </a:lnTo>
                <a:cubicBezTo>
                  <a:pt x="17587" y="21589"/>
                  <a:pt x="13632" y="20781"/>
                  <a:pt x="9859" y="19207"/>
                </a:cubicBezTo>
                <a:cubicBezTo>
                  <a:pt x="6332" y="17735"/>
                  <a:pt x="3008" y="15612"/>
                  <a:pt x="0" y="12909"/>
                </a:cubicBezTo>
                <a:lnTo>
                  <a:pt x="7654" y="0"/>
                </a:lnTo>
                <a:close/>
              </a:path>
            </a:pathLst>
          </a:custGeom>
          <a:solidFill>
            <a:srgbClr val="0042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89" name="Shape"/>
          <p:cNvSpPr/>
          <p:nvPr/>
        </p:nvSpPr>
        <p:spPr>
          <a:xfrm>
            <a:off x="3982720" y="4165600"/>
            <a:ext cx="1252855" cy="1318260"/>
          </a:xfrm>
          <a:custGeom>
            <a:avLst/>
            <a:gdLst/>
            <a:ahLst/>
            <a:cxnLst>
              <a:cxn ang="0">
                <a:pos x="wd2" y="hd2"/>
              </a:cxn>
              <a:cxn ang="5400000">
                <a:pos x="wd2" y="hd2"/>
              </a:cxn>
              <a:cxn ang="10800000">
                <a:pos x="wd2" y="hd2"/>
              </a:cxn>
              <a:cxn ang="16200000">
                <a:pos x="wd2" y="hd2"/>
              </a:cxn>
            </a:cxnLst>
            <a:rect l="0" t="0" r="r" b="b"/>
            <a:pathLst>
              <a:path w="21600" h="21600" extrusionOk="0">
                <a:moveTo>
                  <a:pt x="12768" y="0"/>
                </a:moveTo>
                <a:cubicBezTo>
                  <a:pt x="13512" y="2146"/>
                  <a:pt x="14591" y="4177"/>
                  <a:pt x="15969" y="6027"/>
                </a:cubicBezTo>
                <a:cubicBezTo>
                  <a:pt x="17515" y="8102"/>
                  <a:pt x="19418" y="9923"/>
                  <a:pt x="21600" y="11414"/>
                </a:cubicBezTo>
                <a:lnTo>
                  <a:pt x="13648" y="21600"/>
                </a:lnTo>
                <a:cubicBezTo>
                  <a:pt x="10254" y="19295"/>
                  <a:pt x="7299" y="16469"/>
                  <a:pt x="4909" y="13242"/>
                </a:cubicBezTo>
                <a:cubicBezTo>
                  <a:pt x="2781" y="10370"/>
                  <a:pt x="1126" y="7214"/>
                  <a:pt x="0" y="3881"/>
                </a:cubicBezTo>
                <a:lnTo>
                  <a:pt x="12768" y="0"/>
                </a:lnTo>
                <a:close/>
              </a:path>
            </a:pathLst>
          </a:custGeom>
          <a:solidFill>
            <a:srgbClr val="3368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90" name="Shape"/>
          <p:cNvSpPr/>
          <p:nvPr/>
        </p:nvSpPr>
        <p:spPr>
          <a:xfrm>
            <a:off x="3876040" y="3061970"/>
            <a:ext cx="850265" cy="1343660"/>
          </a:xfrm>
          <a:custGeom>
            <a:avLst/>
            <a:gdLst/>
            <a:ahLst/>
            <a:cxnLst>
              <a:cxn ang="0">
                <a:pos x="wd2" y="hd2"/>
              </a:cxn>
              <a:cxn ang="5400000">
                <a:pos x="wd2" y="hd2"/>
              </a:cxn>
              <a:cxn ang="10800000">
                <a:pos x="wd2" y="hd2"/>
              </a:cxn>
              <a:cxn ang="16200000">
                <a:pos x="wd2" y="hd2"/>
              </a:cxn>
            </a:cxnLst>
            <a:rect l="0" t="0" r="r" b="b"/>
            <a:pathLst>
              <a:path w="21564" h="21600" extrusionOk="0">
                <a:moveTo>
                  <a:pt x="2713" y="0"/>
                </a:moveTo>
                <a:lnTo>
                  <a:pt x="21564" y="3838"/>
                </a:lnTo>
                <a:cubicBezTo>
                  <a:pt x="20396" y="6093"/>
                  <a:pt x="19795" y="8448"/>
                  <a:pt x="19783" y="10819"/>
                </a:cubicBezTo>
                <a:cubicBezTo>
                  <a:pt x="19772" y="13183"/>
                  <a:pt x="20346" y="15534"/>
                  <a:pt x="21486" y="17787"/>
                </a:cubicBezTo>
                <a:lnTo>
                  <a:pt x="2686" y="21600"/>
                </a:lnTo>
                <a:cubicBezTo>
                  <a:pt x="870" y="18046"/>
                  <a:pt x="-36" y="14334"/>
                  <a:pt x="1" y="10603"/>
                </a:cubicBezTo>
                <a:cubicBezTo>
                  <a:pt x="38" y="7003"/>
                  <a:pt x="952" y="3427"/>
                  <a:pt x="2713" y="0"/>
                </a:cubicBezTo>
                <a:close/>
              </a:path>
            </a:pathLst>
          </a:custGeom>
          <a:solidFill>
            <a:srgbClr val="0042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91" name="Shape"/>
          <p:cNvSpPr/>
          <p:nvPr/>
        </p:nvSpPr>
        <p:spPr>
          <a:xfrm>
            <a:off x="3983355" y="1983740"/>
            <a:ext cx="1258570" cy="1319530"/>
          </a:xfrm>
          <a:custGeom>
            <a:avLst/>
            <a:gdLst/>
            <a:ahLst/>
            <a:cxnLst>
              <a:cxn ang="0">
                <a:pos x="wd2" y="hd2"/>
              </a:cxn>
              <a:cxn ang="5400000">
                <a:pos x="wd2" y="hd2"/>
              </a:cxn>
              <a:cxn ang="10800000">
                <a:pos x="wd2" y="hd2"/>
              </a:cxn>
              <a:cxn ang="16200000">
                <a:pos x="wd2" y="hd2"/>
              </a:cxn>
            </a:cxnLst>
            <a:rect l="0" t="0" r="r" b="b"/>
            <a:pathLst>
              <a:path w="21600" h="21600" extrusionOk="0">
                <a:moveTo>
                  <a:pt x="13732" y="0"/>
                </a:moveTo>
                <a:cubicBezTo>
                  <a:pt x="10621" y="2129"/>
                  <a:pt x="7873" y="4689"/>
                  <a:pt x="5580" y="7593"/>
                </a:cubicBezTo>
                <a:cubicBezTo>
                  <a:pt x="3157" y="10663"/>
                  <a:pt x="1273" y="14078"/>
                  <a:pt x="0" y="17708"/>
                </a:cubicBezTo>
                <a:lnTo>
                  <a:pt x="12781" y="21600"/>
                </a:lnTo>
                <a:cubicBezTo>
                  <a:pt x="13556" y="19379"/>
                  <a:pt x="14689" y="17282"/>
                  <a:pt x="16139" y="15383"/>
                </a:cubicBezTo>
                <a:cubicBezTo>
                  <a:pt x="17655" y="13398"/>
                  <a:pt x="19498" y="11654"/>
                  <a:pt x="21600" y="10217"/>
                </a:cubicBezTo>
                <a:lnTo>
                  <a:pt x="13732" y="0"/>
                </a:lnTo>
                <a:close/>
              </a:path>
            </a:pathLst>
          </a:custGeom>
          <a:solidFill>
            <a:srgbClr val="3368FF"/>
          </a:solidFill>
          <a:ln w="25400" cap="flat">
            <a:solidFill>
              <a:srgbClr val="FFFFFF"/>
            </a:solidFill>
            <a:prstDash val="solid"/>
            <a:miter lim="800000"/>
          </a:ln>
          <a:effectLst/>
          <a:sp3d/>
        </p:spPr>
        <p:txBody>
          <a:bodyPr rot="0" spcFirstLastPara="1" vertOverflow="overflow" horzOverflow="overflow" vert="horz" wrap="square" lIns="0" tIns="0" rIns="0" bIns="0" numCol="1" spcCol="38100" rtlCol="0" anchor="ctr">
            <a:noAutofit/>
          </a:bodyPr>
          <a:lstStyle/>
          <a:p>
            <a:pPr lvl="0" algn="l" hangingPunct="0">
              <a:spcBef>
                <a:spcPts val="0"/>
              </a:spcBef>
              <a:spcAft>
                <a:spcPts val="0"/>
              </a:spcAft>
              <a:buClrTx/>
              <a:buSzTx/>
              <a:buFontTx/>
              <a:defRPr>
                <a:solidFill>
                  <a:srgbClr val="FFFFFF"/>
                </a:solidFill>
                <a:latin typeface="微软雅黑"/>
                <a:ea typeface="微软雅黑"/>
                <a:cs typeface="微软雅黑"/>
              </a:defRPr>
            </a:pPr>
            <a:endParaRPr lang="zh-CN" altLang="en-US" dirty="0">
              <a:ln>
                <a:noFill/>
              </a:ln>
              <a:solidFill>
                <a:srgbClr val="FFFFFF"/>
              </a:solidFill>
              <a:effectLst/>
              <a:uFillTx/>
              <a:latin typeface="微软雅黑"/>
              <a:ea typeface="微软雅黑"/>
              <a:cs typeface="微软雅黑"/>
              <a:sym typeface="微软雅黑"/>
            </a:endParaRPr>
          </a:p>
        </p:txBody>
      </p:sp>
      <p:sp>
        <p:nvSpPr>
          <p:cNvPr id="1492" name="Line"/>
          <p:cNvSpPr/>
          <p:nvPr/>
        </p:nvSpPr>
        <p:spPr>
          <a:xfrm>
            <a:off x="5589270" y="2267585"/>
            <a:ext cx="191135" cy="580390"/>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493" name="Line"/>
          <p:cNvSpPr/>
          <p:nvPr/>
        </p:nvSpPr>
        <p:spPr>
          <a:xfrm>
            <a:off x="4782820" y="2849880"/>
            <a:ext cx="507365" cy="350520"/>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494" name="Line"/>
          <p:cNvSpPr/>
          <p:nvPr/>
        </p:nvSpPr>
        <p:spPr>
          <a:xfrm>
            <a:off x="4495800" y="3741420"/>
            <a:ext cx="621665" cy="0"/>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495" name="Line"/>
          <p:cNvSpPr/>
          <p:nvPr/>
        </p:nvSpPr>
        <p:spPr>
          <a:xfrm flipV="1">
            <a:off x="4773295" y="4275455"/>
            <a:ext cx="512445" cy="349885"/>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496" name="Line"/>
          <p:cNvSpPr/>
          <p:nvPr/>
        </p:nvSpPr>
        <p:spPr>
          <a:xfrm flipV="1">
            <a:off x="5583555" y="4634230"/>
            <a:ext cx="192405" cy="584835"/>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497" name="Line"/>
          <p:cNvSpPr/>
          <p:nvPr/>
        </p:nvSpPr>
        <p:spPr>
          <a:xfrm>
            <a:off x="6356350" y="4634865"/>
            <a:ext cx="190500" cy="582295"/>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498" name="Line"/>
          <p:cNvSpPr/>
          <p:nvPr/>
        </p:nvSpPr>
        <p:spPr>
          <a:xfrm>
            <a:off x="6845935" y="4279265"/>
            <a:ext cx="509270" cy="351790"/>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499" name="Line"/>
          <p:cNvSpPr/>
          <p:nvPr/>
        </p:nvSpPr>
        <p:spPr>
          <a:xfrm>
            <a:off x="7018020" y="3742690"/>
            <a:ext cx="623570" cy="0"/>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500" name="Line"/>
          <p:cNvSpPr/>
          <p:nvPr/>
        </p:nvSpPr>
        <p:spPr>
          <a:xfrm flipV="1">
            <a:off x="6849110" y="2861945"/>
            <a:ext cx="513715" cy="349885"/>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501" name="Line"/>
          <p:cNvSpPr/>
          <p:nvPr/>
        </p:nvSpPr>
        <p:spPr>
          <a:xfrm flipH="1">
            <a:off x="6357620" y="2266950"/>
            <a:ext cx="187325" cy="582295"/>
          </a:xfrm>
          <a:prstGeom prst="line">
            <a:avLst/>
          </a:prstGeom>
          <a:ln w="25400">
            <a:solidFill>
              <a:srgbClr val="DCDCDC"/>
            </a:solidFill>
            <a:custDash>
              <a:ds d="200000" sp="200000"/>
            </a:custDash>
            <a:miter lim="400000"/>
            <a:headEnd type="triangle"/>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502" name="Line"/>
          <p:cNvSpPr/>
          <p:nvPr/>
        </p:nvSpPr>
        <p:spPr>
          <a:xfrm>
            <a:off x="3536315" y="1238885"/>
            <a:ext cx="5063490" cy="5002530"/>
          </a:xfrm>
          <a:custGeom>
            <a:avLst/>
            <a:gdLst/>
            <a:ahLst/>
            <a:cxnLst>
              <a:cxn ang="0">
                <a:pos x="wd2" y="hd2"/>
              </a:cxn>
              <a:cxn ang="5400000">
                <a:pos x="wd2" y="hd2"/>
              </a:cxn>
              <a:cxn ang="10800000">
                <a:pos x="wd2" y="hd2"/>
              </a:cxn>
              <a:cxn ang="16200000">
                <a:pos x="wd2" y="hd2"/>
              </a:cxn>
            </a:cxnLst>
            <a:rect l="0" t="0" r="r" b="b"/>
            <a:pathLst>
              <a:path w="20515" h="19387" extrusionOk="0">
                <a:moveTo>
                  <a:pt x="6420" y="679"/>
                </a:moveTo>
                <a:cubicBezTo>
                  <a:pt x="8599" y="-107"/>
                  <a:pt x="10771" y="-176"/>
                  <a:pt x="12741" y="295"/>
                </a:cubicBezTo>
                <a:cubicBezTo>
                  <a:pt x="14611" y="742"/>
                  <a:pt x="16301" y="1679"/>
                  <a:pt x="17621" y="2962"/>
                </a:cubicBezTo>
                <a:cubicBezTo>
                  <a:pt x="20313" y="5578"/>
                  <a:pt x="21425" y="9585"/>
                  <a:pt x="19665" y="13533"/>
                </a:cubicBezTo>
                <a:cubicBezTo>
                  <a:pt x="16906" y="19723"/>
                  <a:pt x="8401" y="21424"/>
                  <a:pt x="3112" y="16598"/>
                </a:cubicBezTo>
                <a:cubicBezTo>
                  <a:pt x="1297" y="14943"/>
                  <a:pt x="264" y="12786"/>
                  <a:pt x="45" y="10566"/>
                </a:cubicBezTo>
                <a:cubicBezTo>
                  <a:pt x="-175" y="8346"/>
                  <a:pt x="418" y="6058"/>
                  <a:pt x="1883" y="4118"/>
                </a:cubicBezTo>
              </a:path>
            </a:pathLst>
          </a:custGeom>
          <a:ln w="25400">
            <a:solidFill>
              <a:srgbClr val="0042FF"/>
            </a:solidFill>
            <a:miter lim="400000"/>
            <a:tailEnd type="triangle"/>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503" name="This is a sample text"/>
          <p:cNvSpPr txBox="1"/>
          <p:nvPr/>
        </p:nvSpPr>
        <p:spPr>
          <a:xfrm rot="16200000">
            <a:off x="7388860" y="3505835"/>
            <a:ext cx="958215" cy="480695"/>
          </a:xfrm>
          <a:prstGeom prst="rect">
            <a:avLst/>
          </a:prstGeom>
          <a:ln w="12700">
            <a:miter lim="400000"/>
          </a:ln>
        </p:spPr>
        <p:txBody>
          <a:bodyPr wrap="square"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④检查目标完成情况</a:t>
            </a:r>
            <a:endParaRPr lang="zh-CN" sz="1400">
              <a:solidFill>
                <a:srgbClr val="FFFFFF"/>
              </a:solidFill>
              <a:latin typeface="微软雅黑"/>
              <a:ea typeface="微软雅黑"/>
              <a:cs typeface="微软雅黑"/>
              <a:sym typeface="微软雅黑"/>
            </a:endParaRPr>
          </a:p>
        </p:txBody>
      </p:sp>
      <p:sp>
        <p:nvSpPr>
          <p:cNvPr id="1504" name="This is a sample text"/>
          <p:cNvSpPr txBox="1"/>
          <p:nvPr/>
        </p:nvSpPr>
        <p:spPr>
          <a:xfrm rot="16200000">
            <a:off x="3793490" y="3553460"/>
            <a:ext cx="883920" cy="480695"/>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dirty="0">
                <a:solidFill>
                  <a:srgbClr val="FFFFFF"/>
                </a:solidFill>
                <a:latin typeface="微软雅黑"/>
                <a:ea typeface="微软雅黑"/>
                <a:cs typeface="微软雅黑"/>
                <a:sym typeface="微软雅黑"/>
              </a:rPr>
              <a:t>⑨案例</a:t>
            </a:r>
            <a:endParaRPr lang="zh-CN" sz="1400"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sz="1400" dirty="0">
                <a:solidFill>
                  <a:srgbClr val="FFFFFF"/>
                </a:solidFill>
                <a:latin typeface="微软雅黑"/>
                <a:ea typeface="微软雅黑"/>
                <a:cs typeface="微软雅黑"/>
                <a:sym typeface="微软雅黑"/>
              </a:rPr>
              <a:t>佐证</a:t>
            </a:r>
            <a:endParaRPr lang="zh-CN" sz="1400" dirty="0">
              <a:solidFill>
                <a:srgbClr val="FFFFFF"/>
              </a:solidFill>
              <a:latin typeface="微软雅黑"/>
              <a:ea typeface="微软雅黑"/>
              <a:cs typeface="微软雅黑"/>
              <a:sym typeface="微软雅黑"/>
            </a:endParaRPr>
          </a:p>
        </p:txBody>
      </p:sp>
      <p:sp>
        <p:nvSpPr>
          <p:cNvPr id="1505" name="This is a sample text"/>
          <p:cNvSpPr txBox="1"/>
          <p:nvPr/>
        </p:nvSpPr>
        <p:spPr>
          <a:xfrm rot="18524564">
            <a:off x="4138295" y="2495550"/>
            <a:ext cx="883920" cy="480695"/>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⑩整理</a:t>
            </a:r>
            <a:endParaRPr lang="zh-CN" sz="140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归档</a:t>
            </a:r>
            <a:endParaRPr lang="zh-CN" sz="1400">
              <a:solidFill>
                <a:srgbClr val="FFFFFF"/>
              </a:solidFill>
              <a:latin typeface="微软雅黑"/>
              <a:ea typeface="微软雅黑"/>
              <a:cs typeface="微软雅黑"/>
              <a:sym typeface="微软雅黑"/>
            </a:endParaRPr>
          </a:p>
        </p:txBody>
      </p:sp>
      <p:sp>
        <p:nvSpPr>
          <p:cNvPr id="1506" name="This is a sample text"/>
          <p:cNvSpPr txBox="1"/>
          <p:nvPr/>
        </p:nvSpPr>
        <p:spPr>
          <a:xfrm rot="20455098">
            <a:off x="5025390" y="1824990"/>
            <a:ext cx="949325" cy="481330"/>
          </a:xfrm>
          <a:prstGeom prst="rect">
            <a:avLst/>
          </a:prstGeom>
          <a:ln w="12700">
            <a:miter lim="400000"/>
          </a:ln>
        </p:spPr>
        <p:txBody>
          <a:bodyPr wrap="square"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①选择复</a:t>
            </a:r>
            <a:endParaRPr lang="zh-CN" altLang="en-US" sz="140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sym typeface="微软雅黑"/>
              </a:rPr>
              <a:t>盘内容</a:t>
            </a:r>
            <a:endParaRPr lang="zh-CN" altLang="en-US" sz="1400">
              <a:solidFill>
                <a:srgbClr val="FFFFFF"/>
              </a:solidFill>
              <a:latin typeface="微软雅黑"/>
              <a:ea typeface="微软雅黑"/>
              <a:cs typeface="微软雅黑"/>
              <a:sym typeface="微软雅黑"/>
            </a:endParaRPr>
          </a:p>
        </p:txBody>
      </p:sp>
      <p:sp>
        <p:nvSpPr>
          <p:cNvPr id="1507" name="This is a sample text"/>
          <p:cNvSpPr txBox="1"/>
          <p:nvPr/>
        </p:nvSpPr>
        <p:spPr>
          <a:xfrm rot="1215317">
            <a:off x="6176645" y="1870710"/>
            <a:ext cx="895985" cy="481330"/>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②整理</a:t>
            </a:r>
            <a:endParaRPr lang="zh-CN" sz="140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资料</a:t>
            </a:r>
            <a:endParaRPr lang="zh-CN" sz="1400">
              <a:solidFill>
                <a:srgbClr val="FFFFFF"/>
              </a:solidFill>
              <a:latin typeface="微软雅黑"/>
              <a:ea typeface="微软雅黑"/>
              <a:cs typeface="微软雅黑"/>
              <a:sym typeface="微软雅黑"/>
            </a:endParaRPr>
          </a:p>
        </p:txBody>
      </p:sp>
      <p:sp>
        <p:nvSpPr>
          <p:cNvPr id="1508" name="This is a sample text"/>
          <p:cNvSpPr txBox="1"/>
          <p:nvPr/>
        </p:nvSpPr>
        <p:spPr>
          <a:xfrm rot="3164700">
            <a:off x="7067550" y="2500630"/>
            <a:ext cx="883920" cy="480695"/>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③列出当初目标</a:t>
            </a:r>
            <a:endParaRPr lang="zh-CN" sz="1400">
              <a:solidFill>
                <a:srgbClr val="FFFFFF"/>
              </a:solidFill>
              <a:latin typeface="微软雅黑"/>
              <a:ea typeface="微软雅黑"/>
              <a:cs typeface="微软雅黑"/>
              <a:sym typeface="微软雅黑"/>
            </a:endParaRPr>
          </a:p>
        </p:txBody>
      </p:sp>
      <p:sp>
        <p:nvSpPr>
          <p:cNvPr id="1509" name="This is a sample text"/>
          <p:cNvSpPr txBox="1"/>
          <p:nvPr/>
        </p:nvSpPr>
        <p:spPr>
          <a:xfrm rot="18337883">
            <a:off x="7053580" y="4589780"/>
            <a:ext cx="883920" cy="480695"/>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⑤叙述执行过程</a:t>
            </a:r>
            <a:endParaRPr lang="zh-CN" sz="1400">
              <a:solidFill>
                <a:srgbClr val="FFFFFF"/>
              </a:solidFill>
              <a:latin typeface="微软雅黑"/>
              <a:ea typeface="微软雅黑"/>
              <a:cs typeface="微软雅黑"/>
              <a:sym typeface="微软雅黑"/>
            </a:endParaRPr>
          </a:p>
        </p:txBody>
      </p:sp>
      <p:sp>
        <p:nvSpPr>
          <p:cNvPr id="1510" name="This is a sample text"/>
          <p:cNvSpPr txBox="1"/>
          <p:nvPr/>
        </p:nvSpPr>
        <p:spPr>
          <a:xfrm rot="20432855">
            <a:off x="6153150" y="5231765"/>
            <a:ext cx="895985" cy="481330"/>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⑥自我剖析与反思</a:t>
            </a:r>
            <a:endParaRPr lang="zh-CN" sz="1400">
              <a:solidFill>
                <a:srgbClr val="FFFFFF"/>
              </a:solidFill>
              <a:latin typeface="微软雅黑"/>
              <a:ea typeface="微软雅黑"/>
              <a:cs typeface="微软雅黑"/>
              <a:sym typeface="微软雅黑"/>
            </a:endParaRPr>
          </a:p>
        </p:txBody>
      </p:sp>
      <p:sp>
        <p:nvSpPr>
          <p:cNvPr id="1511" name="This is a sample text"/>
          <p:cNvSpPr txBox="1"/>
          <p:nvPr/>
        </p:nvSpPr>
        <p:spPr>
          <a:xfrm rot="1146302">
            <a:off x="5078095" y="5234940"/>
            <a:ext cx="895985" cy="481330"/>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⑦众人</a:t>
            </a:r>
            <a:endParaRPr lang="zh-CN" sz="140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提问</a:t>
            </a:r>
            <a:endParaRPr lang="zh-CN" sz="1400">
              <a:solidFill>
                <a:srgbClr val="FFFFFF"/>
              </a:solidFill>
              <a:latin typeface="微软雅黑"/>
              <a:ea typeface="微软雅黑"/>
              <a:cs typeface="微软雅黑"/>
              <a:sym typeface="微软雅黑"/>
            </a:endParaRPr>
          </a:p>
        </p:txBody>
      </p:sp>
      <p:sp>
        <p:nvSpPr>
          <p:cNvPr id="1512" name="This is a sample text"/>
          <p:cNvSpPr txBox="1"/>
          <p:nvPr/>
        </p:nvSpPr>
        <p:spPr>
          <a:xfrm rot="3131700">
            <a:off x="4122420" y="4574540"/>
            <a:ext cx="883920" cy="480695"/>
          </a:xfrm>
          <a:prstGeom prst="rect">
            <a:avLst/>
          </a:prstGeom>
          <a:ln w="12700">
            <a:miter lim="400000"/>
          </a:ln>
        </p:spPr>
        <p:txBody>
          <a:bodyPr lIns="25401" tIns="25401" rIns="25401" bIns="25401">
            <a:spAutoFit/>
          </a:bodyPr>
          <a:lstStyle>
            <a:lvl1pPr>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sz="1400">
                <a:solidFill>
                  <a:srgbClr val="FFFFFF"/>
                </a:solidFill>
                <a:latin typeface="微软雅黑"/>
                <a:ea typeface="微软雅黑"/>
                <a:cs typeface="微软雅黑"/>
                <a:sym typeface="微软雅黑"/>
              </a:rPr>
              <a:t>⑧总结规律与原则</a:t>
            </a:r>
            <a:endParaRPr lang="zh-CN" sz="1400">
              <a:solidFill>
                <a:srgbClr val="FFFFFF"/>
              </a:solidFill>
              <a:latin typeface="微软雅黑"/>
              <a:ea typeface="微软雅黑"/>
              <a:cs typeface="微软雅黑"/>
              <a:sym typeface="微软雅黑"/>
            </a:endParaRPr>
          </a:p>
        </p:txBody>
      </p:sp>
      <p:sp>
        <p:nvSpPr>
          <p:cNvPr id="1513" name="Process flow diagram"/>
          <p:cNvSpPr txBox="1"/>
          <p:nvPr/>
        </p:nvSpPr>
        <p:spPr>
          <a:xfrm>
            <a:off x="5283835" y="3359150"/>
            <a:ext cx="1607185" cy="807720"/>
          </a:xfrm>
          <a:prstGeom prst="rect">
            <a:avLst/>
          </a:prstGeom>
          <a:ln w="12700">
            <a:miter lim="400000"/>
          </a:ln>
        </p:spPr>
        <p:txBody>
          <a:bodyPr lIns="0" tIns="0" rIns="0" bIns="0">
            <a:noAutofit/>
          </a:bodyPr>
          <a:lstStyle>
            <a:lvl1pPr>
              <a:defRPr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sz="2200" b="1" dirty="0">
                <a:solidFill>
                  <a:srgbClr val="0042FF"/>
                </a:solidFill>
                <a:latin typeface="微软雅黑"/>
                <a:ea typeface="微软雅黑"/>
                <a:cs typeface="微软雅黑"/>
                <a:sym typeface="微软雅黑"/>
              </a:rPr>
              <a:t>联想</a:t>
            </a:r>
            <a:endParaRPr lang="zh-CN" sz="2200" b="1"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sz="2200" b="1" dirty="0">
                <a:solidFill>
                  <a:srgbClr val="0042FF"/>
                </a:solidFill>
                <a:latin typeface="微软雅黑"/>
                <a:ea typeface="微软雅黑"/>
                <a:cs typeface="微软雅黑"/>
                <a:sym typeface="微软雅黑"/>
              </a:rPr>
              <a:t>十步复盘法</a:t>
            </a:r>
            <a:endParaRPr lang="zh-CN" sz="2200" b="1" dirty="0">
              <a:solidFill>
                <a:srgbClr val="0042FF"/>
              </a:solidFill>
              <a:latin typeface="微软雅黑"/>
              <a:ea typeface="微软雅黑"/>
              <a:cs typeface="微软雅黑"/>
              <a:sym typeface="微软雅黑"/>
            </a:endParaRPr>
          </a:p>
        </p:txBody>
      </p:sp>
      <p:sp>
        <p:nvSpPr>
          <p:cNvPr id="1514" name="Start Process"/>
          <p:cNvSpPr txBox="1"/>
          <p:nvPr/>
        </p:nvSpPr>
        <p:spPr>
          <a:xfrm rot="19609539">
            <a:off x="4313555" y="1347470"/>
            <a:ext cx="1021715" cy="481330"/>
          </a:xfrm>
          <a:prstGeom prst="rect">
            <a:avLst/>
          </a:prstGeom>
          <a:ln w="12700">
            <a:miter lim="400000"/>
          </a:ln>
        </p:spPr>
        <p:txBody>
          <a:bodyPr wrap="square" lIns="25401" tIns="25401" rIns="25401" bIns="25401">
            <a:spAutoFit/>
          </a:bodyPr>
          <a:lstStyle>
            <a:lvl1pPr>
              <a:defRPr sz="2500" b="0">
                <a:solidFill>
                  <a:srgbClr val="FFFFFF"/>
                </a:solidFill>
                <a:latin typeface="微软雅黑"/>
                <a:ea typeface="微软雅黑"/>
                <a:cs typeface="微软雅黑"/>
                <a:sym typeface="微软雅黑"/>
              </a:defRPr>
            </a:lvl1pPr>
          </a:lstStyle>
          <a:p>
            <a:pPr algn="ctr">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开始</a:t>
            </a:r>
            <a:endParaRPr lang="zh-CN" altLang="en-US" sz="1400" b="1">
              <a:solidFill>
                <a:srgbClr val="383838"/>
              </a:solidFill>
              <a:latin typeface="微软雅黑"/>
              <a:ea typeface="微软雅黑"/>
              <a:cs typeface="微软雅黑"/>
              <a:sym typeface="微软雅黑"/>
            </a:endParaRPr>
          </a:p>
          <a:p>
            <a:pPr algn="ctr">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复盘</a:t>
            </a:r>
            <a:endParaRPr lang="zh-CN" altLang="en-US" sz="1400" b="1">
              <a:solidFill>
                <a:srgbClr val="383838"/>
              </a:solidFill>
              <a:latin typeface="微软雅黑"/>
              <a:ea typeface="微软雅黑"/>
              <a:cs typeface="微软雅黑"/>
              <a:sym typeface="微软雅黑"/>
            </a:endParaRPr>
          </a:p>
        </p:txBody>
      </p:sp>
      <p:sp>
        <p:nvSpPr>
          <p:cNvPr id="1515" name="Finish"/>
          <p:cNvSpPr txBox="1"/>
          <p:nvPr/>
        </p:nvSpPr>
        <p:spPr>
          <a:xfrm rot="18377444">
            <a:off x="3813175" y="2018665"/>
            <a:ext cx="697230" cy="266065"/>
          </a:xfrm>
          <a:prstGeom prst="rect">
            <a:avLst/>
          </a:prstGeom>
          <a:ln w="12700">
            <a:miter lim="400000"/>
          </a:ln>
        </p:spPr>
        <p:txBody>
          <a:bodyPr lIns="25401" tIns="25401" rIns="25401" bIns="25401">
            <a:spAutoFit/>
          </a:bodyPr>
          <a:lstStyle>
            <a:lvl1pPr>
              <a:defRPr sz="2500" b="0">
                <a:solidFill>
                  <a:srgbClr val="FFFFFF"/>
                </a:solidFill>
                <a:latin typeface="微软雅黑"/>
                <a:ea typeface="微软雅黑"/>
                <a:cs typeface="微软雅黑"/>
                <a:sym typeface="微软雅黑"/>
              </a:defRPr>
            </a:lvl1pPr>
          </a:lstStyle>
          <a:p>
            <a:pPr algn="ctr">
              <a:defRPr>
                <a:solidFill>
                  <a:srgbClr val="383838"/>
                </a:solidFill>
                <a:latin typeface="微软雅黑"/>
                <a:ea typeface="微软雅黑"/>
                <a:cs typeface="微软雅黑"/>
              </a:defRPr>
            </a:pPr>
            <a:r>
              <a:rPr lang="zh-CN" sz="1400" b="1">
                <a:solidFill>
                  <a:srgbClr val="383838"/>
                </a:solidFill>
                <a:latin typeface="微软雅黑"/>
                <a:ea typeface="微软雅黑"/>
                <a:cs typeface="微软雅黑"/>
                <a:sym typeface="微软雅黑"/>
              </a:rPr>
              <a:t>结束</a:t>
            </a:r>
            <a:endParaRPr lang="zh-CN" sz="1400" b="1">
              <a:solidFill>
                <a:srgbClr val="383838"/>
              </a:solidFill>
              <a:latin typeface="微软雅黑"/>
              <a:ea typeface="微软雅黑"/>
              <a:cs typeface="微软雅黑"/>
              <a:sym typeface="微软雅黑"/>
            </a:endParaRPr>
          </a:p>
        </p:txBody>
      </p:sp>
      <p:sp>
        <p:nvSpPr>
          <p:cNvPr id="1516" name="Circle"/>
          <p:cNvSpPr/>
          <p:nvPr/>
        </p:nvSpPr>
        <p:spPr>
          <a:xfrm>
            <a:off x="3707130" y="2444115"/>
            <a:ext cx="251460" cy="248285"/>
          </a:xfrm>
          <a:prstGeom prst="ellipse">
            <a:avLst/>
          </a:prstGeom>
          <a:solidFill>
            <a:srgbClr val="3368FF"/>
          </a:solidFill>
          <a:ln w="12700" cap="flat">
            <a:solidFill>
              <a:srgbClr val="3368FF"/>
            </a:solid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518" name="Graphic 12"/>
          <p:cNvSpPr/>
          <p:nvPr/>
        </p:nvSpPr>
        <p:spPr>
          <a:xfrm>
            <a:off x="3749675" y="2488565"/>
            <a:ext cx="167005" cy="165100"/>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moveTo>
                  <a:pt x="10229" y="15269"/>
                </a:moveTo>
                <a:lnTo>
                  <a:pt x="17069" y="8429"/>
                </a:lnTo>
                <a:cubicBezTo>
                  <a:pt x="17345" y="8143"/>
                  <a:pt x="17337" y="7687"/>
                  <a:pt x="17051" y="7411"/>
                </a:cubicBezTo>
                <a:cubicBezTo>
                  <a:pt x="16772" y="7141"/>
                  <a:pt x="16330" y="7141"/>
                  <a:pt x="16051" y="7411"/>
                </a:cubicBezTo>
                <a:lnTo>
                  <a:pt x="9720" y="13742"/>
                </a:lnTo>
                <a:lnTo>
                  <a:pt x="5549" y="9571"/>
                </a:lnTo>
                <a:cubicBezTo>
                  <a:pt x="5273" y="9285"/>
                  <a:pt x="4817" y="9277"/>
                  <a:pt x="4531" y="9553"/>
                </a:cubicBezTo>
                <a:cubicBezTo>
                  <a:pt x="4245" y="9829"/>
                  <a:pt x="4237" y="10285"/>
                  <a:pt x="4513" y="10571"/>
                </a:cubicBezTo>
                <a:cubicBezTo>
                  <a:pt x="4519" y="10577"/>
                  <a:pt x="4525" y="10583"/>
                  <a:pt x="4531" y="10589"/>
                </a:cubicBezTo>
                <a:lnTo>
                  <a:pt x="9211" y="15269"/>
                </a:lnTo>
                <a:cubicBezTo>
                  <a:pt x="9492" y="15550"/>
                  <a:pt x="9948" y="15550"/>
                  <a:pt x="10229" y="15269"/>
                </a:cubicBezTo>
                <a:close/>
              </a:path>
            </a:pathLst>
          </a:custGeom>
          <a:solidFill>
            <a:srgbClr val="FFFFFF"/>
          </a:solidFill>
          <a:ln w="12700" cap="flat">
            <a:solidFill>
              <a:srgbClr val="3368FF"/>
            </a:solidFill>
            <a:miter lim="400000"/>
          </a:ln>
          <a:effectLst/>
        </p:spPr>
        <p:txBody>
          <a:bodyPr wrap="square" lIns="0" tIns="0" rIns="0" bIns="0" numCol="1" anchor="ctr">
            <a:noAutofit/>
          </a:bodyPr>
          <a:lstStyle/>
          <a:p>
            <a:pPr algn="ctr" defTabSz="457200">
              <a:defRPr sz="1800" b="0">
                <a:latin typeface="微软雅黑"/>
                <a:ea typeface="微软雅黑"/>
                <a:cs typeface="微软雅黑"/>
                <a:sym typeface="微软雅黑"/>
              </a:defRPr>
            </a:pPr>
            <a:endParaRPr sz="1000">
              <a:solidFill>
                <a:srgbClr val="0042FF"/>
              </a:solidFill>
              <a:latin typeface="微软雅黑"/>
              <a:ea typeface="微软雅黑"/>
              <a:cs typeface="微软雅黑"/>
              <a:sym typeface="微软雅黑"/>
            </a:endParaRPr>
          </a:p>
        </p:txBody>
      </p:sp>
      <p:sp>
        <p:nvSpPr>
          <p:cNvPr id="1520" name="Triangle"/>
          <p:cNvSpPr/>
          <p:nvPr/>
        </p:nvSpPr>
        <p:spPr>
          <a:xfrm rot="3950235">
            <a:off x="5024120" y="1407795"/>
            <a:ext cx="64135" cy="64770"/>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0042FF"/>
          </a:solidFill>
          <a:ln w="12700">
            <a:miter lim="400000"/>
          </a:ln>
        </p:spPr>
        <p:txBody>
          <a:bodyPr lIns="0" tIns="0" rIns="0" bIns="0" anchor="ctr"/>
          <a:lstStyle/>
          <a:p>
            <a:pPr algn="ctr">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grpSp>
        <p:nvGrpSpPr>
          <p:cNvPr id="29" name="组合 28"/>
          <p:cNvGrpSpPr/>
          <p:nvPr/>
        </p:nvGrpSpPr>
        <p:grpSpPr>
          <a:xfrm>
            <a:off x="973455" y="1144270"/>
            <a:ext cx="2280285" cy="5579218"/>
            <a:chOff x="1380" y="8056"/>
            <a:chExt cx="3697" cy="9174"/>
          </a:xfrm>
        </p:grpSpPr>
        <p:grpSp>
          <p:nvGrpSpPr>
            <p:cNvPr id="6" name="组合 5"/>
            <p:cNvGrpSpPr/>
            <p:nvPr/>
          </p:nvGrpSpPr>
          <p:grpSpPr>
            <a:xfrm>
              <a:off x="1380" y="8056"/>
              <a:ext cx="3594" cy="1538"/>
              <a:chOff x="1358" y="8458"/>
              <a:chExt cx="3594" cy="1538"/>
            </a:xfrm>
          </p:grpSpPr>
          <p:sp>
            <p:nvSpPr>
              <p:cNvPr id="1457" name="This is a sample text. Insert your description here."/>
              <p:cNvSpPr txBox="1"/>
              <p:nvPr/>
            </p:nvSpPr>
            <p:spPr>
              <a:xfrm>
                <a:off x="1805" y="8974"/>
                <a:ext cx="3147" cy="1022"/>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优先选择近期完成的重点工作，确保复盘对象具有代表性且细节清晰。</a:t>
                </a:r>
                <a:endParaRPr lang="zh-CN" altLang="en-US" sz="1300">
                  <a:solidFill>
                    <a:srgbClr val="383838"/>
                  </a:solidFill>
                  <a:latin typeface="微软雅黑"/>
                  <a:ea typeface="微软雅黑"/>
                  <a:cs typeface="微软雅黑"/>
                  <a:sym typeface="微软雅黑"/>
                </a:endParaRPr>
              </a:p>
            </p:txBody>
          </p:sp>
          <p:sp>
            <p:nvSpPr>
              <p:cNvPr id="1458" name="This is a sample text."/>
              <p:cNvSpPr txBox="1"/>
              <p:nvPr/>
            </p:nvSpPr>
            <p:spPr>
              <a:xfrm>
                <a:off x="1901" y="8458"/>
                <a:ext cx="2492" cy="555"/>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选择复盘内容</a:t>
                </a:r>
                <a:endParaRPr lang="zh-CN" sz="1800" b="1" dirty="0">
                  <a:solidFill>
                    <a:srgbClr val="0042FF"/>
                  </a:solidFill>
                  <a:latin typeface="微软雅黑"/>
                  <a:ea typeface="微软雅黑"/>
                  <a:cs typeface="微软雅黑"/>
                  <a:sym typeface="微软雅黑"/>
                </a:endParaRPr>
              </a:p>
            </p:txBody>
          </p:sp>
          <p:sp>
            <p:nvSpPr>
              <p:cNvPr id="1460"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1</a:t>
                </a:r>
                <a:endParaRPr lang="en-US" sz="1400" b="1">
                  <a:solidFill>
                    <a:srgbClr val="FFFFFF"/>
                  </a:solidFill>
                  <a:latin typeface="微软雅黑"/>
                  <a:ea typeface="微软雅黑"/>
                  <a:cs typeface="微软雅黑"/>
                  <a:sym typeface="微软雅黑"/>
                </a:endParaRPr>
              </a:p>
            </p:txBody>
          </p:sp>
        </p:grpSp>
        <p:grpSp>
          <p:nvGrpSpPr>
            <p:cNvPr id="7" name="组合 6"/>
            <p:cNvGrpSpPr/>
            <p:nvPr/>
          </p:nvGrpSpPr>
          <p:grpSpPr>
            <a:xfrm>
              <a:off x="1380" y="9953"/>
              <a:ext cx="3594" cy="1538"/>
              <a:chOff x="1358" y="8458"/>
              <a:chExt cx="3594" cy="1538"/>
            </a:xfrm>
          </p:grpSpPr>
          <p:sp>
            <p:nvSpPr>
              <p:cNvPr id="11" name="This is a sample text. Insert your description here."/>
              <p:cNvSpPr txBox="1"/>
              <p:nvPr/>
            </p:nvSpPr>
            <p:spPr>
              <a:xfrm>
                <a:off x="1805" y="8974"/>
                <a:ext cx="3147" cy="1022"/>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收集与项目相关的所有资料，需避免因覆盖或删除导致信息缺失。</a:t>
                </a:r>
                <a:endParaRPr lang="zh-CN" altLang="en-US" sz="1300">
                  <a:solidFill>
                    <a:srgbClr val="383838"/>
                  </a:solidFill>
                  <a:latin typeface="微软雅黑"/>
                  <a:ea typeface="微软雅黑"/>
                  <a:cs typeface="微软雅黑"/>
                  <a:sym typeface="微软雅黑"/>
                </a:endParaRPr>
              </a:p>
            </p:txBody>
          </p:sp>
          <p:sp>
            <p:nvSpPr>
              <p:cNvPr id="20" name="This is a sample text."/>
              <p:cNvSpPr txBox="1"/>
              <p:nvPr/>
            </p:nvSpPr>
            <p:spPr>
              <a:xfrm>
                <a:off x="1901" y="8458"/>
                <a:ext cx="2491" cy="555"/>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800" b="1" dirty="0">
                    <a:solidFill>
                      <a:srgbClr val="0042FF"/>
                    </a:solidFill>
                    <a:latin typeface="微软雅黑"/>
                    <a:ea typeface="微软雅黑"/>
                    <a:cs typeface="微软雅黑"/>
                    <a:sym typeface="微软雅黑"/>
                  </a:rPr>
                  <a:t>整理材料</a:t>
                </a:r>
                <a:endParaRPr lang="zh-CN" altLang="en-US" sz="1800" b="1" dirty="0">
                  <a:solidFill>
                    <a:srgbClr val="0042FF"/>
                  </a:solidFill>
                  <a:latin typeface="微软雅黑"/>
                  <a:ea typeface="微软雅黑"/>
                  <a:cs typeface="微软雅黑"/>
                  <a:sym typeface="微软雅黑"/>
                </a:endParaRPr>
              </a:p>
            </p:txBody>
          </p:sp>
          <p:sp>
            <p:nvSpPr>
              <p:cNvPr id="22"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2</a:t>
                </a:r>
                <a:endParaRPr lang="en-US" sz="1400" b="1">
                  <a:solidFill>
                    <a:srgbClr val="FFFFFF"/>
                  </a:solidFill>
                  <a:latin typeface="微软雅黑"/>
                  <a:ea typeface="微软雅黑"/>
                  <a:cs typeface="微软雅黑"/>
                  <a:sym typeface="微软雅黑"/>
                </a:endParaRPr>
              </a:p>
            </p:txBody>
          </p:sp>
        </p:grpSp>
        <p:grpSp>
          <p:nvGrpSpPr>
            <p:cNvPr id="26" name="组合 25"/>
            <p:cNvGrpSpPr/>
            <p:nvPr/>
          </p:nvGrpSpPr>
          <p:grpSpPr>
            <a:xfrm>
              <a:off x="1380" y="11850"/>
              <a:ext cx="3594" cy="1538"/>
              <a:chOff x="1358" y="8458"/>
              <a:chExt cx="3594" cy="1538"/>
            </a:xfrm>
          </p:grpSpPr>
          <p:sp>
            <p:nvSpPr>
              <p:cNvPr id="33" name="This is a sample text. Insert your description here."/>
              <p:cNvSpPr txBox="1"/>
              <p:nvPr/>
            </p:nvSpPr>
            <p:spPr>
              <a:xfrm>
                <a:off x="1805" y="8974"/>
                <a:ext cx="3147" cy="1022"/>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明确项目启动时设定的核心目标，回溯目标，检验其合理性与清晰度。</a:t>
                </a:r>
                <a:endParaRPr lang="zh-CN" altLang="en-US" sz="1300">
                  <a:solidFill>
                    <a:srgbClr val="383838"/>
                  </a:solidFill>
                  <a:latin typeface="微软雅黑"/>
                  <a:ea typeface="微软雅黑"/>
                  <a:cs typeface="微软雅黑"/>
                  <a:sym typeface="微软雅黑"/>
                </a:endParaRPr>
              </a:p>
            </p:txBody>
          </p:sp>
          <p:sp>
            <p:nvSpPr>
              <p:cNvPr id="36" name="This is a sample text."/>
              <p:cNvSpPr txBox="1"/>
              <p:nvPr/>
            </p:nvSpPr>
            <p:spPr>
              <a:xfrm>
                <a:off x="1901" y="8458"/>
                <a:ext cx="2491" cy="555"/>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列出当初目标</a:t>
                </a:r>
                <a:endParaRPr lang="zh-CN" sz="1800" b="1" dirty="0">
                  <a:solidFill>
                    <a:srgbClr val="0042FF"/>
                  </a:solidFill>
                  <a:latin typeface="微软雅黑"/>
                  <a:ea typeface="微软雅黑"/>
                  <a:cs typeface="微软雅黑"/>
                  <a:sym typeface="微软雅黑"/>
                </a:endParaRPr>
              </a:p>
            </p:txBody>
          </p:sp>
          <p:sp>
            <p:nvSpPr>
              <p:cNvPr id="39"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3</a:t>
                </a:r>
                <a:endParaRPr lang="en-US" sz="1400" b="1">
                  <a:solidFill>
                    <a:srgbClr val="FFFFFF"/>
                  </a:solidFill>
                  <a:latin typeface="微软雅黑"/>
                  <a:ea typeface="微软雅黑"/>
                  <a:cs typeface="微软雅黑"/>
                  <a:sym typeface="微软雅黑"/>
                </a:endParaRPr>
              </a:p>
            </p:txBody>
          </p:sp>
        </p:grpSp>
        <p:grpSp>
          <p:nvGrpSpPr>
            <p:cNvPr id="40" name="组合 39"/>
            <p:cNvGrpSpPr/>
            <p:nvPr/>
          </p:nvGrpSpPr>
          <p:grpSpPr>
            <a:xfrm>
              <a:off x="1380" y="13747"/>
              <a:ext cx="3697" cy="1538"/>
              <a:chOff x="1358" y="8458"/>
              <a:chExt cx="3697" cy="1538"/>
            </a:xfrm>
          </p:grpSpPr>
          <p:sp>
            <p:nvSpPr>
              <p:cNvPr id="41" name="This is a sample text. Insert your description here."/>
              <p:cNvSpPr txBox="1"/>
              <p:nvPr/>
            </p:nvSpPr>
            <p:spPr>
              <a:xfrm>
                <a:off x="1805" y="8974"/>
                <a:ext cx="3147" cy="1022"/>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将实际成果与目标对比，分析差距类型，重点在于探究差距背后的原因。</a:t>
                </a:r>
                <a:endParaRPr lang="zh-CN" altLang="en-US" sz="1300">
                  <a:solidFill>
                    <a:srgbClr val="383838"/>
                  </a:solidFill>
                  <a:latin typeface="微软雅黑"/>
                  <a:ea typeface="微软雅黑"/>
                  <a:cs typeface="微软雅黑"/>
                  <a:sym typeface="微软雅黑"/>
                </a:endParaRPr>
              </a:p>
            </p:txBody>
          </p:sp>
          <p:sp>
            <p:nvSpPr>
              <p:cNvPr id="42" name="This is a sample text."/>
              <p:cNvSpPr txBox="1"/>
              <p:nvPr/>
            </p:nvSpPr>
            <p:spPr>
              <a:xfrm>
                <a:off x="1901" y="8458"/>
                <a:ext cx="3154" cy="555"/>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检查目标完成情况</a:t>
                </a:r>
                <a:endParaRPr lang="zh-CN" sz="1800" b="1" dirty="0">
                  <a:solidFill>
                    <a:srgbClr val="0042FF"/>
                  </a:solidFill>
                  <a:latin typeface="微软雅黑"/>
                  <a:ea typeface="微软雅黑"/>
                  <a:cs typeface="微软雅黑"/>
                  <a:sym typeface="微软雅黑"/>
                </a:endParaRPr>
              </a:p>
            </p:txBody>
          </p:sp>
          <p:sp>
            <p:nvSpPr>
              <p:cNvPr id="43"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4</a:t>
                </a:r>
                <a:endParaRPr lang="en-US" sz="1400" b="1">
                  <a:solidFill>
                    <a:srgbClr val="FFFFFF"/>
                  </a:solidFill>
                  <a:latin typeface="微软雅黑"/>
                  <a:ea typeface="微软雅黑"/>
                  <a:cs typeface="微软雅黑"/>
                  <a:sym typeface="微软雅黑"/>
                </a:endParaRPr>
              </a:p>
            </p:txBody>
          </p:sp>
        </p:grpSp>
        <p:grpSp>
          <p:nvGrpSpPr>
            <p:cNvPr id="45" name="组合 44"/>
            <p:cNvGrpSpPr/>
            <p:nvPr/>
          </p:nvGrpSpPr>
          <p:grpSpPr>
            <a:xfrm>
              <a:off x="1380" y="15644"/>
              <a:ext cx="3594" cy="1586"/>
              <a:chOff x="1358" y="8458"/>
              <a:chExt cx="3594" cy="1586"/>
            </a:xfrm>
          </p:grpSpPr>
          <p:sp>
            <p:nvSpPr>
              <p:cNvPr id="46" name="This is a sample text. Insert your description here."/>
              <p:cNvSpPr txBox="1"/>
              <p:nvPr/>
            </p:nvSpPr>
            <p:spPr>
              <a:xfrm>
                <a:off x="1805" y="8974"/>
                <a:ext cx="3147" cy="1070"/>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以第三人称视角详细描述项目全流程，需避免主观评价，仅陈述事实。</a:t>
                </a:r>
                <a:endParaRPr lang="zh-CN" altLang="en-US" sz="1300">
                  <a:solidFill>
                    <a:srgbClr val="383838"/>
                  </a:solidFill>
                  <a:latin typeface="微软雅黑"/>
                  <a:ea typeface="微软雅黑"/>
                  <a:cs typeface="微软雅黑"/>
                  <a:sym typeface="微软雅黑"/>
                </a:endParaRPr>
              </a:p>
            </p:txBody>
          </p:sp>
          <p:sp>
            <p:nvSpPr>
              <p:cNvPr id="47" name="This is a sample text."/>
              <p:cNvSpPr txBox="1"/>
              <p:nvPr/>
            </p:nvSpPr>
            <p:spPr>
              <a:xfrm>
                <a:off x="1901" y="8458"/>
                <a:ext cx="2491" cy="539"/>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叙述执行过程</a:t>
                </a:r>
                <a:endParaRPr lang="zh-CN" sz="1800" b="1" dirty="0">
                  <a:solidFill>
                    <a:srgbClr val="0042FF"/>
                  </a:solidFill>
                  <a:latin typeface="微软雅黑"/>
                  <a:ea typeface="微软雅黑"/>
                  <a:cs typeface="微软雅黑"/>
                  <a:sym typeface="微软雅黑"/>
                </a:endParaRPr>
              </a:p>
            </p:txBody>
          </p:sp>
          <p:sp>
            <p:nvSpPr>
              <p:cNvPr id="48" name="Circle"/>
              <p:cNvSpPr/>
              <p:nvPr/>
            </p:nvSpPr>
            <p:spPr>
              <a:xfrm>
                <a:off x="1358" y="8467"/>
                <a:ext cx="456" cy="455"/>
              </a:xfrm>
              <a:prstGeom prst="ellipse">
                <a:avLst/>
              </a:prstGeom>
              <a:solidFill>
                <a:srgbClr val="3368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5</a:t>
                </a:r>
                <a:endParaRPr lang="en-US" sz="1400" b="1">
                  <a:solidFill>
                    <a:srgbClr val="FFFFFF"/>
                  </a:solidFill>
                  <a:latin typeface="微软雅黑"/>
                  <a:ea typeface="微软雅黑"/>
                  <a:cs typeface="微软雅黑"/>
                  <a:sym typeface="微软雅黑"/>
                </a:endParaRPr>
              </a:p>
            </p:txBody>
          </p:sp>
        </p:grpSp>
      </p:grpSp>
      <p:grpSp>
        <p:nvGrpSpPr>
          <p:cNvPr id="49" name="组合 48"/>
          <p:cNvGrpSpPr/>
          <p:nvPr/>
        </p:nvGrpSpPr>
        <p:grpSpPr>
          <a:xfrm>
            <a:off x="8971280" y="1144270"/>
            <a:ext cx="2280285" cy="5579218"/>
            <a:chOff x="1380" y="8056"/>
            <a:chExt cx="3697" cy="9174"/>
          </a:xfrm>
        </p:grpSpPr>
        <p:grpSp>
          <p:nvGrpSpPr>
            <p:cNvPr id="50" name="组合 49"/>
            <p:cNvGrpSpPr/>
            <p:nvPr/>
          </p:nvGrpSpPr>
          <p:grpSpPr>
            <a:xfrm>
              <a:off x="1380" y="8056"/>
              <a:ext cx="3649" cy="1688"/>
              <a:chOff x="1358" y="8458"/>
              <a:chExt cx="3649" cy="1688"/>
            </a:xfrm>
          </p:grpSpPr>
          <p:sp>
            <p:nvSpPr>
              <p:cNvPr id="51" name="This is a sample text. Insert your description here."/>
              <p:cNvSpPr txBox="1"/>
              <p:nvPr/>
            </p:nvSpPr>
            <p:spPr>
              <a:xfrm>
                <a:off x="1805" y="8974"/>
                <a:ext cx="3147" cy="1172"/>
              </a:xfrm>
              <a:prstGeom prst="rect">
                <a:avLst/>
              </a:prstGeom>
              <a:noFill/>
              <a:ln w="12700" cap="flat">
                <a:noFill/>
                <a:miter lim="400000"/>
              </a:ln>
              <a:effectLst/>
            </p:spPr>
            <p:txBody>
              <a:bodyPr wrap="square" lIns="25401" tIns="25401" rIns="25401" bIns="25401" numCol="1" anchor="t">
                <a:no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柳传志强调</a:t>
                </a:r>
                <a:r>
                  <a:rPr lang="en-US" altLang="zh-CN" sz="1300">
                    <a:solidFill>
                      <a:srgbClr val="383838"/>
                    </a:solidFill>
                    <a:latin typeface="微软雅黑"/>
                    <a:ea typeface="微软雅黑"/>
                    <a:cs typeface="微软雅黑"/>
                    <a:sym typeface="微软雅黑"/>
                  </a:rPr>
                  <a:t>“</a:t>
                </a:r>
                <a:r>
                  <a:rPr lang="zh-CN" altLang="en-US" sz="1300">
                    <a:solidFill>
                      <a:srgbClr val="383838"/>
                    </a:solidFill>
                    <a:latin typeface="微软雅黑"/>
                    <a:ea typeface="微软雅黑"/>
                    <a:cs typeface="微软雅黑"/>
                    <a:sym typeface="微软雅黑"/>
                  </a:rPr>
                  <a:t>无情复盘</a:t>
                </a:r>
                <a:r>
                  <a:rPr lang="en-US" altLang="zh-CN" sz="1300">
                    <a:solidFill>
                      <a:srgbClr val="383838"/>
                    </a:solidFill>
                    <a:latin typeface="微软雅黑"/>
                    <a:ea typeface="微软雅黑"/>
                    <a:cs typeface="微软雅黑"/>
                    <a:sym typeface="微软雅黑"/>
                  </a:rPr>
                  <a:t>”</a:t>
                </a:r>
                <a:r>
                  <a:rPr lang="zh-CN" altLang="en-US" sz="1300">
                    <a:solidFill>
                      <a:srgbClr val="383838"/>
                    </a:solidFill>
                    <a:latin typeface="微软雅黑"/>
                    <a:ea typeface="微软雅黑"/>
                    <a:cs typeface="微软雅黑"/>
                    <a:sym typeface="微软雅黑"/>
                  </a:rPr>
                  <a:t>，要求直面失误，识别一身短板并挖掘深层原因。</a:t>
                </a:r>
                <a:endParaRPr lang="zh-CN" altLang="en-US" sz="1300">
                  <a:solidFill>
                    <a:srgbClr val="383838"/>
                  </a:solidFill>
                  <a:latin typeface="微软雅黑"/>
                  <a:ea typeface="微软雅黑"/>
                  <a:cs typeface="微软雅黑"/>
                  <a:sym typeface="微软雅黑"/>
                </a:endParaRPr>
              </a:p>
            </p:txBody>
          </p:sp>
          <p:sp>
            <p:nvSpPr>
              <p:cNvPr id="52" name="This is a sample text."/>
              <p:cNvSpPr txBox="1"/>
              <p:nvPr/>
            </p:nvSpPr>
            <p:spPr>
              <a:xfrm>
                <a:off x="1901" y="8458"/>
                <a:ext cx="3106" cy="539"/>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在自我剖析与反思</a:t>
                </a:r>
                <a:endParaRPr lang="zh-CN" sz="1800" b="1" dirty="0">
                  <a:solidFill>
                    <a:srgbClr val="0042FF"/>
                  </a:solidFill>
                  <a:latin typeface="微软雅黑"/>
                  <a:ea typeface="微软雅黑"/>
                  <a:cs typeface="微软雅黑"/>
                  <a:sym typeface="微软雅黑"/>
                </a:endParaRPr>
              </a:p>
            </p:txBody>
          </p:sp>
          <p:sp>
            <p:nvSpPr>
              <p:cNvPr id="53"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6</a:t>
                </a:r>
                <a:endParaRPr lang="en-US" sz="1400" b="1">
                  <a:solidFill>
                    <a:srgbClr val="FFFFFF"/>
                  </a:solidFill>
                  <a:latin typeface="微软雅黑"/>
                  <a:ea typeface="微软雅黑"/>
                  <a:cs typeface="微软雅黑"/>
                  <a:sym typeface="微软雅黑"/>
                </a:endParaRPr>
              </a:p>
            </p:txBody>
          </p:sp>
        </p:grpSp>
        <p:grpSp>
          <p:nvGrpSpPr>
            <p:cNvPr id="54" name="组合 53"/>
            <p:cNvGrpSpPr/>
            <p:nvPr/>
          </p:nvGrpSpPr>
          <p:grpSpPr>
            <a:xfrm>
              <a:off x="1380" y="9953"/>
              <a:ext cx="3594" cy="1538"/>
              <a:chOff x="1358" y="8458"/>
              <a:chExt cx="3594" cy="1538"/>
            </a:xfrm>
          </p:grpSpPr>
          <p:sp>
            <p:nvSpPr>
              <p:cNvPr id="55" name="This is a sample text. Insert your description here."/>
              <p:cNvSpPr txBox="1"/>
              <p:nvPr/>
            </p:nvSpPr>
            <p:spPr>
              <a:xfrm>
                <a:off x="1805" y="8974"/>
                <a:ext cx="3147" cy="1022"/>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邀请团队或外部参与者提出质疑，通过集体智慧突破个人思维局限。</a:t>
                </a:r>
                <a:endParaRPr lang="zh-CN" altLang="en-US" sz="1300">
                  <a:solidFill>
                    <a:srgbClr val="383838"/>
                  </a:solidFill>
                  <a:latin typeface="微软雅黑"/>
                  <a:ea typeface="微软雅黑"/>
                  <a:cs typeface="微软雅黑"/>
                  <a:sym typeface="微软雅黑"/>
                </a:endParaRPr>
              </a:p>
            </p:txBody>
          </p:sp>
          <p:sp>
            <p:nvSpPr>
              <p:cNvPr id="59" name="This is a sample text."/>
              <p:cNvSpPr txBox="1"/>
              <p:nvPr/>
            </p:nvSpPr>
            <p:spPr>
              <a:xfrm>
                <a:off x="1901" y="8458"/>
                <a:ext cx="2491" cy="555"/>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800" b="1" dirty="0">
                    <a:solidFill>
                      <a:srgbClr val="0042FF"/>
                    </a:solidFill>
                    <a:latin typeface="微软雅黑"/>
                    <a:ea typeface="微软雅黑"/>
                    <a:cs typeface="微软雅黑"/>
                    <a:sym typeface="微软雅黑"/>
                  </a:rPr>
                  <a:t>众人提问</a:t>
                </a:r>
                <a:endParaRPr lang="zh-CN" altLang="en-US" sz="1800" b="1" dirty="0">
                  <a:solidFill>
                    <a:srgbClr val="0042FF"/>
                  </a:solidFill>
                  <a:latin typeface="微软雅黑"/>
                  <a:ea typeface="微软雅黑"/>
                  <a:cs typeface="微软雅黑"/>
                  <a:sym typeface="微软雅黑"/>
                </a:endParaRPr>
              </a:p>
            </p:txBody>
          </p:sp>
          <p:sp>
            <p:nvSpPr>
              <p:cNvPr id="8"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7</a:t>
                </a:r>
                <a:endParaRPr lang="en-US" sz="1400" b="1">
                  <a:solidFill>
                    <a:srgbClr val="FFFFFF"/>
                  </a:solidFill>
                  <a:latin typeface="微软雅黑"/>
                  <a:ea typeface="微软雅黑"/>
                  <a:cs typeface="微软雅黑"/>
                  <a:sym typeface="微软雅黑"/>
                </a:endParaRPr>
              </a:p>
            </p:txBody>
          </p:sp>
        </p:grpSp>
        <p:grpSp>
          <p:nvGrpSpPr>
            <p:cNvPr id="64" name="组合 63"/>
            <p:cNvGrpSpPr/>
            <p:nvPr/>
          </p:nvGrpSpPr>
          <p:grpSpPr>
            <a:xfrm>
              <a:off x="1380" y="11850"/>
              <a:ext cx="3594" cy="1538"/>
              <a:chOff x="1358" y="8458"/>
              <a:chExt cx="3594" cy="1538"/>
            </a:xfrm>
          </p:grpSpPr>
          <p:sp>
            <p:nvSpPr>
              <p:cNvPr id="9" name="This is a sample text. Insert your description here."/>
              <p:cNvSpPr txBox="1"/>
              <p:nvPr/>
            </p:nvSpPr>
            <p:spPr>
              <a:xfrm>
                <a:off x="1805" y="8974"/>
                <a:ext cx="3147" cy="1022"/>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提炼普适性经验，规律需符合逻辑且具备可迁移性，避免形成假规律。</a:t>
                </a:r>
                <a:endParaRPr lang="zh-CN" altLang="en-US" sz="1300">
                  <a:solidFill>
                    <a:srgbClr val="383838"/>
                  </a:solidFill>
                  <a:latin typeface="微软雅黑"/>
                  <a:ea typeface="微软雅黑"/>
                  <a:cs typeface="微软雅黑"/>
                  <a:sym typeface="微软雅黑"/>
                </a:endParaRPr>
              </a:p>
            </p:txBody>
          </p:sp>
          <p:sp>
            <p:nvSpPr>
              <p:cNvPr id="12" name="This is a sample text."/>
              <p:cNvSpPr txBox="1"/>
              <p:nvPr/>
            </p:nvSpPr>
            <p:spPr>
              <a:xfrm>
                <a:off x="1901" y="8458"/>
                <a:ext cx="2874" cy="760"/>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总结规律与原则</a:t>
                </a:r>
                <a:endParaRPr lang="zh-CN" sz="1800" b="1" dirty="0">
                  <a:solidFill>
                    <a:srgbClr val="0042FF"/>
                  </a:solidFill>
                  <a:latin typeface="微软雅黑"/>
                  <a:ea typeface="微软雅黑"/>
                  <a:cs typeface="微软雅黑"/>
                  <a:sym typeface="微软雅黑"/>
                </a:endParaRPr>
              </a:p>
            </p:txBody>
          </p:sp>
          <p:sp>
            <p:nvSpPr>
              <p:cNvPr id="13"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8</a:t>
                </a:r>
                <a:endParaRPr lang="en-US" sz="1400" b="1">
                  <a:solidFill>
                    <a:srgbClr val="FFFFFF"/>
                  </a:solidFill>
                  <a:latin typeface="微软雅黑"/>
                  <a:ea typeface="微软雅黑"/>
                  <a:cs typeface="微软雅黑"/>
                  <a:sym typeface="微软雅黑"/>
                </a:endParaRPr>
              </a:p>
            </p:txBody>
          </p:sp>
        </p:grpSp>
        <p:grpSp>
          <p:nvGrpSpPr>
            <p:cNvPr id="72" name="组合 71"/>
            <p:cNvGrpSpPr/>
            <p:nvPr/>
          </p:nvGrpSpPr>
          <p:grpSpPr>
            <a:xfrm>
              <a:off x="1380" y="13747"/>
              <a:ext cx="3697" cy="1614"/>
              <a:chOff x="1358" y="8458"/>
              <a:chExt cx="3697" cy="1614"/>
            </a:xfrm>
          </p:grpSpPr>
          <p:sp>
            <p:nvSpPr>
              <p:cNvPr id="73" name="This is a sample text. Insert your description here."/>
              <p:cNvSpPr txBox="1"/>
              <p:nvPr/>
            </p:nvSpPr>
            <p:spPr>
              <a:xfrm>
                <a:off x="1805" y="8974"/>
                <a:ext cx="3147" cy="1098"/>
              </a:xfrm>
              <a:prstGeom prst="rect">
                <a:avLst/>
              </a:prstGeom>
              <a:noFill/>
              <a:ln w="12700" cap="flat">
                <a:noFill/>
                <a:miter lim="400000"/>
              </a:ln>
              <a:effectLst/>
            </p:spPr>
            <p:txBody>
              <a:bodyPr wrap="square" lIns="25401" tIns="25401" rIns="25401" bIns="25401" numCol="1" anchor="t">
                <a:no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通过同类项目或行业标杆案例，验证其在不同场景中均能指导实践。</a:t>
                </a:r>
                <a:endParaRPr lang="zh-CN" altLang="en-US" sz="1300">
                  <a:solidFill>
                    <a:srgbClr val="383838"/>
                  </a:solidFill>
                  <a:latin typeface="微软雅黑"/>
                  <a:ea typeface="微软雅黑"/>
                  <a:cs typeface="微软雅黑"/>
                  <a:sym typeface="微软雅黑"/>
                </a:endParaRPr>
              </a:p>
            </p:txBody>
          </p:sp>
          <p:sp>
            <p:nvSpPr>
              <p:cNvPr id="79" name="This is a sample text."/>
              <p:cNvSpPr txBox="1"/>
              <p:nvPr/>
            </p:nvSpPr>
            <p:spPr>
              <a:xfrm>
                <a:off x="1901" y="8458"/>
                <a:ext cx="3154" cy="539"/>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案例佐证</a:t>
                </a:r>
                <a:endParaRPr lang="zh-CN" sz="1800" b="1" dirty="0">
                  <a:solidFill>
                    <a:srgbClr val="0042FF"/>
                  </a:solidFill>
                  <a:latin typeface="微软雅黑"/>
                  <a:ea typeface="微软雅黑"/>
                  <a:cs typeface="微软雅黑"/>
                  <a:sym typeface="微软雅黑"/>
                </a:endParaRPr>
              </a:p>
            </p:txBody>
          </p:sp>
          <p:sp>
            <p:nvSpPr>
              <p:cNvPr id="80" name="Circle"/>
              <p:cNvSpPr/>
              <p:nvPr/>
            </p:nvSpPr>
            <p:spPr>
              <a:xfrm>
                <a:off x="1358" y="8467"/>
                <a:ext cx="456" cy="455"/>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400" b="1">
                    <a:solidFill>
                      <a:srgbClr val="FFFFFF"/>
                    </a:solidFill>
                    <a:latin typeface="微软雅黑"/>
                    <a:ea typeface="微软雅黑"/>
                    <a:cs typeface="微软雅黑"/>
                    <a:sym typeface="微软雅黑"/>
                  </a:rPr>
                  <a:t>9</a:t>
                </a:r>
                <a:endParaRPr lang="en-US" sz="1400" b="1">
                  <a:solidFill>
                    <a:srgbClr val="FFFFFF"/>
                  </a:solidFill>
                  <a:latin typeface="微软雅黑"/>
                  <a:ea typeface="微软雅黑"/>
                  <a:cs typeface="微软雅黑"/>
                  <a:sym typeface="微软雅黑"/>
                </a:endParaRPr>
              </a:p>
            </p:txBody>
          </p:sp>
        </p:grpSp>
        <p:grpSp>
          <p:nvGrpSpPr>
            <p:cNvPr id="81" name="组合 80"/>
            <p:cNvGrpSpPr/>
            <p:nvPr/>
          </p:nvGrpSpPr>
          <p:grpSpPr>
            <a:xfrm>
              <a:off x="1380" y="15644"/>
              <a:ext cx="3594" cy="1586"/>
              <a:chOff x="1358" y="8458"/>
              <a:chExt cx="3594" cy="1586"/>
            </a:xfrm>
          </p:grpSpPr>
          <p:sp>
            <p:nvSpPr>
              <p:cNvPr id="82" name="This is a sample text. Insert your description here."/>
              <p:cNvSpPr txBox="1"/>
              <p:nvPr/>
            </p:nvSpPr>
            <p:spPr>
              <a:xfrm>
                <a:off x="1805" y="8974"/>
                <a:ext cx="3147" cy="1070"/>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300">
                    <a:solidFill>
                      <a:srgbClr val="383838"/>
                    </a:solidFill>
                    <a:latin typeface="微软雅黑"/>
                    <a:ea typeface="微软雅黑"/>
                    <a:cs typeface="微软雅黑"/>
                    <a:sym typeface="微软雅黑"/>
                  </a:rPr>
                  <a:t>将复盘文档统化存档，形成组织知识库，便于未来参考与迭代。</a:t>
                </a:r>
                <a:endParaRPr lang="zh-CN" altLang="en-US" sz="1300">
                  <a:solidFill>
                    <a:srgbClr val="383838"/>
                  </a:solidFill>
                  <a:latin typeface="微软雅黑"/>
                  <a:ea typeface="微软雅黑"/>
                  <a:cs typeface="微软雅黑"/>
                  <a:sym typeface="微软雅黑"/>
                </a:endParaRPr>
              </a:p>
            </p:txBody>
          </p:sp>
          <p:sp>
            <p:nvSpPr>
              <p:cNvPr id="83" name="This is a sample text."/>
              <p:cNvSpPr txBox="1"/>
              <p:nvPr/>
            </p:nvSpPr>
            <p:spPr>
              <a:xfrm>
                <a:off x="1901" y="8458"/>
                <a:ext cx="2491" cy="555"/>
              </a:xfrm>
              <a:prstGeom prst="rect">
                <a:avLst/>
              </a:prstGeom>
              <a:noFill/>
              <a:ln w="12700" cap="flat">
                <a:noFill/>
                <a:miter lim="400000"/>
              </a:ln>
              <a:effectLst/>
            </p:spPr>
            <p:txBody>
              <a:bodyPr wrap="square" lIns="25401" tIns="25401" rIns="25401" bIns="25401" numCol="1" anchor="t">
                <a:spAutoFit/>
              </a:bodyPr>
              <a:lstStyle>
                <a:lvl1pPr algn="l">
                  <a:defRPr sz="2500" b="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sz="1800" b="1" dirty="0">
                    <a:solidFill>
                      <a:srgbClr val="0042FF"/>
                    </a:solidFill>
                    <a:latin typeface="微软雅黑"/>
                    <a:ea typeface="微软雅黑"/>
                    <a:cs typeface="微软雅黑"/>
                    <a:sym typeface="微软雅黑"/>
                  </a:rPr>
                  <a:t>整理归档</a:t>
                </a:r>
                <a:endParaRPr lang="zh-CN" sz="1800" b="1" dirty="0">
                  <a:solidFill>
                    <a:srgbClr val="0042FF"/>
                  </a:solidFill>
                  <a:latin typeface="微软雅黑"/>
                  <a:ea typeface="微软雅黑"/>
                  <a:cs typeface="微软雅黑"/>
                  <a:sym typeface="微软雅黑"/>
                </a:endParaRPr>
              </a:p>
            </p:txBody>
          </p:sp>
          <p:sp>
            <p:nvSpPr>
              <p:cNvPr id="84" name="Circle"/>
              <p:cNvSpPr/>
              <p:nvPr/>
            </p:nvSpPr>
            <p:spPr>
              <a:xfrm>
                <a:off x="1358" y="8467"/>
                <a:ext cx="456" cy="455"/>
              </a:xfrm>
              <a:prstGeom prst="ellipse">
                <a:avLst/>
              </a:prstGeom>
              <a:solidFill>
                <a:srgbClr val="3368FF"/>
              </a:solidFill>
              <a:ln w="12700" cap="flat">
                <a:noFill/>
                <a:miter lim="400000"/>
              </a:ln>
              <a:effectLst/>
            </p:spPr>
            <p:txBody>
              <a:bodyPr wrap="square" lIns="0" tIns="0" rIns="0" bIns="0" numCol="1" anchor="ctr">
                <a:noAutofit/>
              </a:bodyPr>
              <a:lstStyle/>
              <a:p>
                <a:pPr algn="ctr">
                  <a:defRPr sz="3200" b="0">
                    <a:solidFill>
                      <a:srgbClr val="FFFFFF"/>
                    </a:solidFill>
                    <a:latin typeface="微软雅黑"/>
                    <a:ea typeface="微软雅黑"/>
                    <a:cs typeface="微软雅黑"/>
                    <a:sym typeface="微软雅黑"/>
                  </a:defRPr>
                </a:pPr>
                <a:r>
                  <a:rPr lang="en-US" sz="1200" b="1">
                    <a:solidFill>
                      <a:srgbClr val="FFFFFF"/>
                    </a:solidFill>
                    <a:latin typeface="微软雅黑"/>
                    <a:ea typeface="微软雅黑"/>
                    <a:cs typeface="微软雅黑"/>
                    <a:sym typeface="微软雅黑"/>
                  </a:rPr>
                  <a:t>10</a:t>
                </a:r>
                <a:endParaRPr lang="en-US" sz="1200" b="1">
                  <a:solidFill>
                    <a:srgbClr val="FFFFFF"/>
                  </a:solidFill>
                  <a:latin typeface="微软雅黑"/>
                  <a:ea typeface="微软雅黑"/>
                  <a:cs typeface="微软雅黑"/>
                  <a:sym typeface="微软雅黑"/>
                </a:endParaRPr>
              </a:p>
            </p:txBody>
          </p:sp>
        </p:gr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 name="文本框 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组合 41"/>
          <p:cNvGrpSpPr/>
          <p:nvPr/>
        </p:nvGrpSpPr>
        <p:grpSpPr>
          <a:xfrm>
            <a:off x="977265" y="4271645"/>
            <a:ext cx="2901950" cy="2174875"/>
            <a:chOff x="1451" y="13095"/>
            <a:chExt cx="4570" cy="3425"/>
          </a:xfrm>
        </p:grpSpPr>
        <p:cxnSp>
          <p:nvCxnSpPr>
            <p:cNvPr id="45" name="直接连接符 44"/>
            <p:cNvCxnSpPr/>
            <p:nvPr/>
          </p:nvCxnSpPr>
          <p:spPr>
            <a:xfrm flipH="1">
              <a:off x="5207" y="15276"/>
              <a:ext cx="815" cy="572"/>
            </a:xfrm>
            <a:prstGeom prst="line">
              <a:avLst/>
            </a:prstGeom>
            <a:noFill/>
            <a:ln w="12700" cap="flat" cmpd="sng" algn="ctr">
              <a:solidFill>
                <a:srgbClr val="0042FF"/>
              </a:solidFill>
              <a:prstDash val="solid"/>
              <a:miter lim="800000"/>
              <a:headEnd type="oval"/>
              <a:tailEnd type="none"/>
            </a:ln>
            <a:effectLst/>
          </p:spPr>
        </p:cxnSp>
        <p:cxnSp>
          <p:nvCxnSpPr>
            <p:cNvPr id="46" name="直接连接符 45"/>
            <p:cNvCxnSpPr/>
            <p:nvPr/>
          </p:nvCxnSpPr>
          <p:spPr>
            <a:xfrm flipV="1">
              <a:off x="1664" y="15848"/>
              <a:ext cx="3543" cy="15"/>
            </a:xfrm>
            <a:prstGeom prst="line">
              <a:avLst/>
            </a:prstGeom>
            <a:noFill/>
            <a:ln w="12700" cap="flat" cmpd="sng" algn="ctr">
              <a:solidFill>
                <a:srgbClr val="0042FF"/>
              </a:solidFill>
              <a:prstDash val="solid"/>
              <a:miter lim="800000"/>
              <a:headEnd type="oval"/>
              <a:tailEnd type="none"/>
            </a:ln>
            <a:effectLst/>
          </p:spPr>
        </p:cxnSp>
        <p:sp>
          <p:nvSpPr>
            <p:cNvPr id="47" name="文本框 46"/>
            <p:cNvSpPr txBox="1"/>
            <p:nvPr/>
          </p:nvSpPr>
          <p:spPr>
            <a:xfrm>
              <a:off x="1664" y="15276"/>
              <a:ext cx="3640" cy="531"/>
            </a:xfrm>
            <a:prstGeom prst="rect">
              <a:avLst/>
            </a:prstGeom>
            <a:noFill/>
          </p:spPr>
          <p:txBody>
            <a:bodyPr wrap="square" rtlCol="0">
              <a:spAutoFit/>
            </a:bodyPr>
            <a:lstStyle/>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Action</a:t>
              </a:r>
              <a:r>
                <a:rPr lang="zh-CN" altLang="en-US" sz="1600" b="1">
                  <a:solidFill>
                    <a:srgbClr val="0042FF"/>
                  </a:solidFill>
                  <a:latin typeface="微软雅黑"/>
                  <a:ea typeface="微软雅黑"/>
                  <a:cs typeface="微软雅黑"/>
                </a:rPr>
                <a:t>（行动改进）</a:t>
              </a:r>
              <a:r>
                <a:rPr lang="en-US" altLang="zh-CN" sz="1600" b="1">
                  <a:solidFill>
                    <a:srgbClr val="0042FF"/>
                  </a:solidFill>
                  <a:latin typeface="微软雅黑"/>
                  <a:ea typeface="微软雅黑"/>
                  <a:cs typeface="微软雅黑"/>
                </a:rPr>
                <a:t>​</a:t>
              </a:r>
              <a:endParaRPr lang="en-US" altLang="zh-CN" sz="1600" b="1">
                <a:solidFill>
                  <a:srgbClr val="0042FF"/>
                </a:solidFill>
                <a:latin typeface="微软雅黑"/>
                <a:ea typeface="微软雅黑"/>
                <a:cs typeface="微软雅黑"/>
              </a:endParaRPr>
            </a:p>
          </p:txBody>
        </p:sp>
        <p:sp>
          <p:nvSpPr>
            <p:cNvPr id="48" name="Lorem Ipsum has"/>
            <p:cNvSpPr txBox="1"/>
            <p:nvPr/>
          </p:nvSpPr>
          <p:spPr>
            <a:xfrm>
              <a:off x="1451" y="13095"/>
              <a:ext cx="3998" cy="2181"/>
            </a:xfrm>
            <a:prstGeom prst="rect">
              <a:avLst/>
            </a:prstGeom>
            <a:ln w="12700">
              <a:miter lim="400000"/>
            </a:ln>
          </p:spPr>
          <p:txBody>
            <a:bodyPr wrap="square" lIns="25400" tIns="25400" rIns="25400" bIns="25400">
              <a:noAutofit/>
            </a:bodyPr>
            <a:lstStyle>
              <a:lvl1pPr algn="l">
                <a:defRPr sz="2000" b="0">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聚焦自身可改进的下一步动作</a:t>
              </a:r>
              <a:r>
                <a:rPr lang="en-US" altLang="zh-CN" sz="1400" dirty="0">
                  <a:solidFill>
                    <a:srgbClr val="383838"/>
                  </a:solidFill>
                  <a:latin typeface="微软雅黑"/>
                  <a:ea typeface="微软雅黑"/>
                  <a:cs typeface="微软雅黑"/>
                  <a:sym typeface="微软雅黑"/>
                </a:rPr>
                <a:t>:</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提问：</a:t>
              </a:r>
              <a:r>
                <a:rPr lang="zh-CN" altLang="en-US" sz="1400" dirty="0">
                  <a:solidFill>
                    <a:srgbClr val="383838"/>
                  </a:solidFill>
                  <a:latin typeface="微软雅黑"/>
                  <a:ea typeface="微软雅黑"/>
                  <a:cs typeface="微软雅黑"/>
                  <a:sym typeface="微软雅黑"/>
                </a:rPr>
                <a:t>下一步我能为此做些什么？</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操作：</a:t>
              </a:r>
              <a:r>
                <a:rPr lang="zh-CN" altLang="en-US" sz="1400" dirty="0">
                  <a:solidFill>
                    <a:srgbClr val="383838"/>
                  </a:solidFill>
                  <a:latin typeface="微软雅黑"/>
                  <a:ea typeface="微软雅黑"/>
                  <a:cs typeface="微软雅黑"/>
                  <a:sym typeface="微软雅黑"/>
                </a:rPr>
                <a:t>聚焦自己可控制的行动，如在职场遭遇矛盾，与老板沟通、调整工作方法。</a:t>
              </a:r>
              <a:endParaRPr lang="zh-CN" altLang="en-US" sz="1400" dirty="0">
                <a:solidFill>
                  <a:srgbClr val="383838"/>
                </a:solidFill>
                <a:latin typeface="微软雅黑"/>
                <a:ea typeface="微软雅黑"/>
                <a:cs typeface="微软雅黑"/>
                <a:sym typeface="微软雅黑"/>
              </a:endParaRPr>
            </a:p>
          </p:txBody>
        </p:sp>
        <p:sp>
          <p:nvSpPr>
            <p:cNvPr id="49" name="文本框 48"/>
            <p:cNvSpPr txBox="1"/>
            <p:nvPr/>
          </p:nvSpPr>
          <p:spPr>
            <a:xfrm>
              <a:off x="2365" y="15990"/>
              <a:ext cx="2239" cy="531"/>
            </a:xfrm>
            <a:prstGeom prst="rect">
              <a:avLst/>
            </a:prstGeom>
            <a:noFill/>
          </p:spPr>
          <p:txBody>
            <a:bodyPr wrap="square" rtlCol="0">
              <a:spAutoFit/>
            </a:bodyPr>
            <a:lstStyle/>
            <a:p>
              <a:pPr algn="ctr">
                <a:defRPr>
                  <a:latin typeface="微软雅黑"/>
                  <a:ea typeface="微软雅黑"/>
                  <a:cs typeface="微软雅黑"/>
                </a:defRPr>
              </a:pPr>
              <a:r>
                <a:rPr lang="zh-CN" sz="1600" b="1">
                  <a:solidFill>
                    <a:srgbClr val="0042FF"/>
                  </a:solidFill>
                  <a:latin typeface="微软雅黑"/>
                  <a:ea typeface="微软雅黑"/>
                  <a:cs typeface="微软雅黑"/>
                </a:rPr>
                <a:t>（第四问）</a:t>
              </a:r>
              <a:endParaRPr lang="zh-CN" sz="1600" b="1">
                <a:solidFill>
                  <a:srgbClr val="0042FF"/>
                </a:solidFill>
                <a:latin typeface="微软雅黑"/>
                <a:ea typeface="微软雅黑"/>
                <a:cs typeface="微软雅黑"/>
              </a:endParaRPr>
            </a:p>
          </p:txBody>
        </p:sp>
      </p:gr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循环逻辑架构 | </a:t>
            </a:r>
            <a:r>
              <a:rPr lang="en-US" altLang="zh-CN" sz="2500">
                <a:solidFill>
                  <a:srgbClr val="383838"/>
                </a:solidFill>
                <a:effectLst/>
                <a:latin typeface="微软雅黑"/>
                <a:ea typeface="微软雅黑"/>
                <a:cs typeface="微软雅黑"/>
              </a:rPr>
              <a:t>EETA</a:t>
            </a:r>
            <a:r>
              <a:rPr lang="zh-CN" altLang="en-US" sz="2500">
                <a:solidFill>
                  <a:srgbClr val="383838"/>
                </a:solidFill>
                <a:effectLst/>
                <a:latin typeface="微软雅黑"/>
                <a:ea typeface="微软雅黑"/>
                <a:cs typeface="微软雅黑"/>
              </a:rPr>
              <a:t>情绪脱困思维</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Circle"/>
          <p:cNvSpPr/>
          <p:nvPr/>
        </p:nvSpPr>
        <p:spPr>
          <a:xfrm>
            <a:off x="4053840" y="1811020"/>
            <a:ext cx="3882390" cy="3883025"/>
          </a:xfrm>
          <a:prstGeom prst="ellipse">
            <a:avLst/>
          </a:prstGeom>
          <a:ln w="25400">
            <a:solidFill>
              <a:srgbClr val="668EFF">
                <a:alpha val="70000"/>
              </a:srgbClr>
            </a:solidFill>
            <a:custDash>
              <a:ds d="200000" sp="200000"/>
            </a:custDash>
            <a:miter lim="400000"/>
          </a:ln>
        </p:spPr>
        <p:txBody>
          <a:bodyPr lIns="0" tIns="0" rIns="0" bIns="0" anchor="ctr"/>
          <a:lstStyle/>
          <a:p>
            <a:pPr algn="ctr">
              <a:defRPr>
                <a:latin typeface="微软雅黑"/>
                <a:ea typeface="微软雅黑"/>
                <a:cs typeface="微软雅黑"/>
              </a:defRPr>
            </a:pPr>
            <a:endParaRPr sz="1000">
              <a:latin typeface="微软雅黑"/>
              <a:cs typeface="微软雅黑"/>
              <a:ea typeface="微软雅黑"/>
            </a:endParaRPr>
          </a:p>
        </p:txBody>
      </p:sp>
      <p:sp>
        <p:nvSpPr>
          <p:cNvPr id="6" name="Circle"/>
          <p:cNvSpPr/>
          <p:nvPr/>
        </p:nvSpPr>
        <p:spPr>
          <a:xfrm>
            <a:off x="4347845" y="2105025"/>
            <a:ext cx="3294380" cy="3294380"/>
          </a:xfrm>
          <a:prstGeom prst="ellipse">
            <a:avLst/>
          </a:prstGeom>
          <a:gradFill flip="none" rotWithShape="1">
            <a:gsLst>
              <a:gs pos="0">
                <a:srgbClr val="3368FF">
                  <a:alpha val="70000"/>
                </a:srgbClr>
              </a:gs>
              <a:gs pos="100000">
                <a:srgbClr val="3368FF">
                  <a:alpha val="0"/>
                </a:srgbClr>
              </a:gs>
            </a:gsLst>
            <a:path path="circle">
              <a:fillToRect l="37721" t="-19636" r="62278" b="119636"/>
            </a:path>
            <a:tileRect/>
          </a:gradFill>
          <a:ln w="12700">
            <a:solidFill>
              <a:srgbClr val="3368FF"/>
            </a:solidFill>
            <a:miter lim="400000"/>
          </a:ln>
        </p:spPr>
        <p:txBody>
          <a:bodyPr lIns="0" tIns="0" rIns="0" bIns="0" anchor="ctr"/>
          <a:lstStyle/>
          <a:p>
            <a:pPr algn="ctr">
              <a:defRPr>
                <a:latin typeface="微软雅黑"/>
                <a:ea typeface="微软雅黑"/>
                <a:cs typeface="微软雅黑"/>
              </a:defRPr>
            </a:pPr>
            <a:endParaRPr sz="1000">
              <a:latin typeface="微软雅黑"/>
              <a:cs typeface="微软雅黑"/>
              <a:ea typeface="微软雅黑"/>
            </a:endParaRPr>
          </a:p>
        </p:txBody>
      </p:sp>
      <p:sp>
        <p:nvSpPr>
          <p:cNvPr id="12" name="Circle"/>
          <p:cNvSpPr/>
          <p:nvPr/>
        </p:nvSpPr>
        <p:spPr>
          <a:xfrm>
            <a:off x="3781425" y="4126230"/>
            <a:ext cx="1605280" cy="1605280"/>
          </a:xfrm>
          <a:prstGeom prst="ellipse">
            <a:avLst/>
          </a:prstGeom>
          <a:solidFill>
            <a:srgbClr val="3368FF">
              <a:alpha val="15000"/>
            </a:srgbClr>
          </a:solidFill>
          <a:ln w="12700" cap="flat">
            <a:noFill/>
            <a:miter lim="400000"/>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latin typeface="微软雅黑"/>
              <a:cs typeface="微软雅黑"/>
              <a:sym typeface="微软雅黑"/>
              <a:ea typeface="微软雅黑"/>
            </a:endParaRPr>
          </a:p>
        </p:txBody>
      </p:sp>
      <p:sp>
        <p:nvSpPr>
          <p:cNvPr id="13" name="Circle"/>
          <p:cNvSpPr/>
          <p:nvPr/>
        </p:nvSpPr>
        <p:spPr>
          <a:xfrm>
            <a:off x="3781425" y="4126230"/>
            <a:ext cx="1605280" cy="1605280"/>
          </a:xfrm>
          <a:prstGeom prst="ellipse">
            <a:avLst/>
          </a:prstGeom>
          <a:noFill/>
          <a:ln w="25400" cap="flat">
            <a:solidFill>
              <a:srgbClr val="3368FF">
                <a:alpha val="65000"/>
              </a:srgbClr>
            </a:solidFill>
            <a:prstDash val="solid"/>
            <a:round/>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latin typeface="微软雅黑"/>
              <a:cs typeface="微软雅黑"/>
              <a:sym typeface="微软雅黑"/>
              <a:ea typeface="微软雅黑"/>
            </a:endParaRPr>
          </a:p>
        </p:txBody>
      </p:sp>
      <p:sp>
        <p:nvSpPr>
          <p:cNvPr id="14" name="Circle"/>
          <p:cNvSpPr/>
          <p:nvPr/>
        </p:nvSpPr>
        <p:spPr>
          <a:xfrm>
            <a:off x="6598285" y="1784350"/>
            <a:ext cx="1605280" cy="1605280"/>
          </a:xfrm>
          <a:prstGeom prst="ellipse">
            <a:avLst/>
          </a:prstGeom>
          <a:solidFill>
            <a:srgbClr val="3368FF">
              <a:alpha val="15000"/>
            </a:srgbClr>
          </a:solidFill>
          <a:ln w="12700" cap="flat">
            <a:noFill/>
            <a:miter lim="400000"/>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latin typeface="微软雅黑"/>
              <a:cs typeface="微软雅黑"/>
              <a:sym typeface="微软雅黑"/>
              <a:ea typeface="微软雅黑"/>
            </a:endParaRPr>
          </a:p>
        </p:txBody>
      </p:sp>
      <p:sp>
        <p:nvSpPr>
          <p:cNvPr id="15" name="Circle"/>
          <p:cNvSpPr/>
          <p:nvPr/>
        </p:nvSpPr>
        <p:spPr>
          <a:xfrm>
            <a:off x="6598285" y="1784350"/>
            <a:ext cx="1605280" cy="1605280"/>
          </a:xfrm>
          <a:prstGeom prst="ellipse">
            <a:avLst/>
          </a:prstGeom>
          <a:noFill/>
          <a:ln w="25400" cap="flat">
            <a:solidFill>
              <a:srgbClr val="3368FF">
                <a:alpha val="65000"/>
              </a:srgbClr>
            </a:solidFill>
            <a:prstDash val="solid"/>
            <a:round/>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latin typeface="微软雅黑"/>
              <a:cs typeface="微软雅黑"/>
              <a:sym typeface="微软雅黑"/>
              <a:ea typeface="微软雅黑"/>
            </a:endParaRPr>
          </a:p>
        </p:txBody>
      </p:sp>
      <p:sp>
        <p:nvSpPr>
          <p:cNvPr id="16" name="Circle"/>
          <p:cNvSpPr/>
          <p:nvPr/>
        </p:nvSpPr>
        <p:spPr>
          <a:xfrm>
            <a:off x="6598285" y="4126230"/>
            <a:ext cx="1605280" cy="1605280"/>
          </a:xfrm>
          <a:prstGeom prst="ellipse">
            <a:avLst/>
          </a:prstGeom>
          <a:solidFill>
            <a:srgbClr val="3368FF">
              <a:alpha val="15000"/>
            </a:srgbClr>
          </a:solidFill>
          <a:ln w="12700" cap="flat">
            <a:noFill/>
            <a:miter lim="400000"/>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latin typeface="微软雅黑"/>
              <a:cs typeface="微软雅黑"/>
              <a:sym typeface="微软雅黑"/>
              <a:ea typeface="微软雅黑"/>
            </a:endParaRPr>
          </a:p>
        </p:txBody>
      </p:sp>
      <p:sp>
        <p:nvSpPr>
          <p:cNvPr id="17" name="Circle"/>
          <p:cNvSpPr/>
          <p:nvPr/>
        </p:nvSpPr>
        <p:spPr>
          <a:xfrm>
            <a:off x="6598285" y="4126230"/>
            <a:ext cx="1605280" cy="1605280"/>
          </a:xfrm>
          <a:prstGeom prst="ellipse">
            <a:avLst/>
          </a:prstGeom>
          <a:noFill/>
          <a:ln w="25400" cap="flat">
            <a:solidFill>
              <a:srgbClr val="3368FF">
                <a:alpha val="65000"/>
              </a:srgbClr>
            </a:solidFill>
            <a:prstDash val="solid"/>
            <a:round/>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latin typeface="微软雅黑"/>
              <a:cs typeface="微软雅黑"/>
              <a:sym typeface="微软雅黑"/>
              <a:ea typeface="微软雅黑"/>
            </a:endParaRPr>
          </a:p>
        </p:txBody>
      </p:sp>
      <p:sp>
        <p:nvSpPr>
          <p:cNvPr id="20"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344035" y="4439285"/>
            <a:ext cx="480695" cy="51244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en-US" sz="3000" b="1" dirty="0">
                <a:solidFill>
                  <a:srgbClr val="0042FF"/>
                </a:solidFill>
                <a:latin typeface="微软雅黑"/>
                <a:ea typeface="微软雅黑"/>
                <a:cs typeface="微软雅黑"/>
                <a:sym typeface="微软雅黑"/>
              </a:rPr>
              <a:t>A</a:t>
            </a:r>
            <a:endParaRPr lang="en-US" sz="3000" b="1" dirty="0">
              <a:solidFill>
                <a:srgbClr val="0042FF"/>
              </a:solidFill>
              <a:latin typeface="微软雅黑"/>
              <a:ea typeface="微软雅黑"/>
              <a:cs typeface="微软雅黑"/>
              <a:sym typeface="微软雅黑"/>
            </a:endParaRPr>
          </a:p>
        </p:txBody>
      </p:sp>
      <p:sp>
        <p:nvSpPr>
          <p:cNvPr id="2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3957320" y="4897755"/>
            <a:ext cx="1253490" cy="43497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500" dirty="0">
                <a:solidFill>
                  <a:srgbClr val="0042FF"/>
                </a:solidFill>
                <a:latin typeface="微软雅黑"/>
                <a:ea typeface="微软雅黑"/>
                <a:cs typeface="微软雅黑"/>
                <a:sym typeface="微软雅黑"/>
              </a:rPr>
              <a:t>行动</a:t>
            </a:r>
            <a:endParaRPr lang="zh-CN" altLang="en-US" sz="2500" dirty="0">
              <a:solidFill>
                <a:srgbClr val="0042FF"/>
              </a:solidFill>
              <a:latin typeface="微软雅黑"/>
              <a:ea typeface="微软雅黑"/>
              <a:cs typeface="微软雅黑"/>
              <a:sym typeface="微软雅黑"/>
            </a:endParaRPr>
          </a:p>
        </p:txBody>
      </p:sp>
      <p:sp>
        <p:nvSpPr>
          <p:cNvPr id="2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7160895" y="2120900"/>
            <a:ext cx="480695" cy="51244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en-US" sz="3000" b="1" dirty="0">
                <a:solidFill>
                  <a:srgbClr val="0042FF"/>
                </a:solidFill>
                <a:latin typeface="微软雅黑"/>
                <a:ea typeface="微软雅黑"/>
                <a:cs typeface="微软雅黑"/>
                <a:sym typeface="微软雅黑"/>
              </a:rPr>
              <a:t>E</a:t>
            </a:r>
            <a:endParaRPr lang="en-US" sz="3000" b="1" dirty="0">
              <a:solidFill>
                <a:srgbClr val="0042FF"/>
              </a:solidFill>
              <a:latin typeface="微软雅黑"/>
              <a:ea typeface="微软雅黑"/>
              <a:cs typeface="微软雅黑"/>
              <a:sym typeface="微软雅黑"/>
            </a:endParaRPr>
          </a:p>
        </p:txBody>
      </p:sp>
      <p:sp>
        <p:nvSpPr>
          <p:cNvPr id="23"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6774180" y="2579370"/>
            <a:ext cx="1253490" cy="43497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500" dirty="0">
                <a:solidFill>
                  <a:srgbClr val="0042FF"/>
                </a:solidFill>
                <a:latin typeface="微软雅黑"/>
                <a:ea typeface="微软雅黑"/>
                <a:cs typeface="微软雅黑"/>
                <a:sym typeface="微软雅黑"/>
              </a:rPr>
              <a:t>事件</a:t>
            </a:r>
            <a:endParaRPr lang="zh-CN" altLang="en-US" sz="2500" dirty="0">
              <a:solidFill>
                <a:srgbClr val="0042FF"/>
              </a:solidFill>
              <a:latin typeface="微软雅黑"/>
              <a:ea typeface="微软雅黑"/>
              <a:cs typeface="微软雅黑"/>
              <a:sym typeface="微软雅黑"/>
            </a:endParaRPr>
          </a:p>
        </p:txBody>
      </p:sp>
      <p:sp>
        <p:nvSpPr>
          <p:cNvPr id="2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7160895" y="4416425"/>
            <a:ext cx="480695" cy="51244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en-US" sz="3000" b="1" dirty="0">
                <a:solidFill>
                  <a:srgbClr val="0042FF"/>
                </a:solidFill>
                <a:latin typeface="微软雅黑"/>
                <a:ea typeface="微软雅黑"/>
                <a:cs typeface="微软雅黑"/>
                <a:sym typeface="微软雅黑"/>
              </a:rPr>
              <a:t>T</a:t>
            </a:r>
            <a:endParaRPr lang="en-US" sz="3000" b="1" dirty="0">
              <a:solidFill>
                <a:srgbClr val="0042FF"/>
              </a:solidFill>
              <a:latin typeface="微软雅黑"/>
              <a:ea typeface="微软雅黑"/>
              <a:cs typeface="微软雅黑"/>
              <a:sym typeface="微软雅黑"/>
            </a:endParaRPr>
          </a:p>
        </p:txBody>
      </p:sp>
      <p:sp>
        <p:nvSpPr>
          <p:cNvPr id="25"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6774180" y="4874895"/>
            <a:ext cx="1253490" cy="43497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500" dirty="0">
                <a:solidFill>
                  <a:srgbClr val="0042FF"/>
                </a:solidFill>
                <a:latin typeface="微软雅黑"/>
                <a:ea typeface="微软雅黑"/>
                <a:cs typeface="微软雅黑"/>
                <a:sym typeface="微软雅黑"/>
              </a:rPr>
              <a:t>目标</a:t>
            </a:r>
            <a:endParaRPr lang="zh-CN" altLang="en-US" sz="2500" dirty="0">
              <a:solidFill>
                <a:srgbClr val="0042FF"/>
              </a:solidFill>
              <a:latin typeface="微软雅黑"/>
              <a:ea typeface="微软雅黑"/>
              <a:cs typeface="微软雅黑"/>
              <a:sym typeface="微软雅黑"/>
            </a:endParaRPr>
          </a:p>
        </p:txBody>
      </p:sp>
      <p:sp>
        <p:nvSpPr>
          <p:cNvPr id="26" name="Circle"/>
          <p:cNvSpPr/>
          <p:nvPr/>
        </p:nvSpPr>
        <p:spPr>
          <a:xfrm>
            <a:off x="7778115" y="1848485"/>
            <a:ext cx="336550" cy="336550"/>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a:solidFill>
                  <a:srgbClr val="FFFFFF"/>
                </a:solidFill>
                <a:latin typeface="微软雅黑"/>
                <a:ea typeface="微软雅黑"/>
                <a:cs typeface="微软雅黑"/>
              </a:defRPr>
            </a:pPr>
            <a:r>
              <a:rPr lang="en-US" sz="1600" b="1">
                <a:solidFill>
                  <a:srgbClr val="FFFFFF"/>
                </a:solidFill>
                <a:latin typeface="微软雅黑"/>
                <a:ea typeface="微软雅黑"/>
                <a:cs typeface="微软雅黑"/>
              </a:rPr>
              <a:t>2</a:t>
            </a:r>
            <a:endParaRPr lang="en-US" sz="1600" b="1">
              <a:solidFill>
                <a:srgbClr val="FFFFFF"/>
              </a:solidFill>
              <a:latin typeface="微软雅黑"/>
              <a:ea typeface="微软雅黑"/>
              <a:cs typeface="微软雅黑"/>
            </a:endParaRPr>
          </a:p>
        </p:txBody>
      </p:sp>
      <p:sp>
        <p:nvSpPr>
          <p:cNvPr id="27" name="Circle"/>
          <p:cNvSpPr/>
          <p:nvPr/>
        </p:nvSpPr>
        <p:spPr>
          <a:xfrm>
            <a:off x="7778115" y="5344160"/>
            <a:ext cx="336550" cy="336550"/>
          </a:xfrm>
          <a:prstGeom prst="ellipse">
            <a:avLst/>
          </a:prstGeom>
          <a:solidFill>
            <a:srgbClr val="3368FF"/>
          </a:solidFill>
          <a:ln w="12700" cap="flat">
            <a:noFill/>
            <a:miter lim="400000"/>
          </a:ln>
          <a:effectLst/>
        </p:spPr>
        <p:txBody>
          <a:bodyPr wrap="square" lIns="0" tIns="0" rIns="0" bIns="0" numCol="1" anchor="ctr">
            <a:noAutofit/>
          </a:bodyPr>
          <a:lstStyle/>
          <a:p>
            <a:pPr algn="ctr">
              <a:defRPr sz="3200">
                <a:solidFill>
                  <a:srgbClr val="FFFFFF"/>
                </a:solidFill>
                <a:latin typeface="微软雅黑"/>
                <a:ea typeface="微软雅黑"/>
                <a:cs typeface="微软雅黑"/>
              </a:defRPr>
            </a:pPr>
            <a:r>
              <a:rPr lang="en-US" sz="1600" b="1">
                <a:solidFill>
                  <a:srgbClr val="FFFFFF"/>
                </a:solidFill>
                <a:latin typeface="微软雅黑"/>
                <a:ea typeface="微软雅黑"/>
                <a:cs typeface="微软雅黑"/>
              </a:rPr>
              <a:t>3</a:t>
            </a:r>
            <a:endParaRPr lang="en-US" sz="1600" b="1">
              <a:solidFill>
                <a:srgbClr val="FFFFFF"/>
              </a:solidFill>
              <a:latin typeface="微软雅黑"/>
              <a:ea typeface="微软雅黑"/>
              <a:cs typeface="微软雅黑"/>
            </a:endParaRPr>
          </a:p>
        </p:txBody>
      </p:sp>
      <p:sp>
        <p:nvSpPr>
          <p:cNvPr id="28" name="Circle"/>
          <p:cNvSpPr/>
          <p:nvPr/>
        </p:nvSpPr>
        <p:spPr>
          <a:xfrm>
            <a:off x="3879850" y="5344160"/>
            <a:ext cx="336550" cy="336550"/>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a:solidFill>
                  <a:srgbClr val="FFFFFF"/>
                </a:solidFill>
                <a:latin typeface="微软雅黑"/>
                <a:ea typeface="微软雅黑"/>
                <a:cs typeface="微软雅黑"/>
              </a:defRPr>
            </a:pPr>
            <a:r>
              <a:rPr lang="en-US" sz="1600" b="1">
                <a:solidFill>
                  <a:srgbClr val="FFFFFF"/>
                </a:solidFill>
                <a:latin typeface="微软雅黑"/>
                <a:ea typeface="微软雅黑"/>
                <a:cs typeface="微软雅黑"/>
              </a:rPr>
              <a:t>4</a:t>
            </a:r>
            <a:endParaRPr lang="en-US" sz="1600" b="1">
              <a:solidFill>
                <a:srgbClr val="FFFFFF"/>
              </a:solidFill>
              <a:latin typeface="微软雅黑"/>
              <a:ea typeface="微软雅黑"/>
              <a:cs typeface="微软雅黑"/>
            </a:endParaRPr>
          </a:p>
        </p:txBody>
      </p:sp>
      <p:cxnSp>
        <p:nvCxnSpPr>
          <p:cNvPr id="29" name="直接连接符 28"/>
          <p:cNvCxnSpPr/>
          <p:nvPr/>
        </p:nvCxnSpPr>
        <p:spPr>
          <a:xfrm>
            <a:off x="8138160" y="5656580"/>
            <a:ext cx="517525" cy="363220"/>
          </a:xfrm>
          <a:prstGeom prst="line">
            <a:avLst/>
          </a:prstGeom>
          <a:noFill/>
          <a:ln w="12700" cap="flat" cmpd="sng" algn="ctr">
            <a:solidFill>
              <a:srgbClr val="3368FF"/>
            </a:solidFill>
            <a:prstDash val="solid"/>
            <a:miter lim="800000"/>
            <a:headEnd type="oval"/>
            <a:tailEnd type="none"/>
          </a:ln>
          <a:effectLst/>
        </p:spPr>
      </p:cxnSp>
      <p:cxnSp>
        <p:nvCxnSpPr>
          <p:cNvPr id="30" name="直接连接符 29"/>
          <p:cNvCxnSpPr/>
          <p:nvPr/>
        </p:nvCxnSpPr>
        <p:spPr>
          <a:xfrm flipH="1" flipV="1">
            <a:off x="8655685" y="6019800"/>
            <a:ext cx="2249805" cy="9525"/>
          </a:xfrm>
          <a:prstGeom prst="line">
            <a:avLst/>
          </a:prstGeom>
          <a:noFill/>
          <a:ln w="12700" cap="flat" cmpd="sng" algn="ctr">
            <a:solidFill>
              <a:srgbClr val="3368FF"/>
            </a:solidFill>
            <a:prstDash val="solid"/>
            <a:miter lim="800000"/>
            <a:headEnd type="oval"/>
            <a:tailEnd type="none"/>
          </a:ln>
          <a:effectLst/>
        </p:spPr>
      </p:cxnSp>
      <p:sp>
        <p:nvSpPr>
          <p:cNvPr id="31" name="文本框 30"/>
          <p:cNvSpPr txBox="1"/>
          <p:nvPr/>
        </p:nvSpPr>
        <p:spPr>
          <a:xfrm flipH="1">
            <a:off x="8919210" y="5656580"/>
            <a:ext cx="1886585" cy="337185"/>
          </a:xfrm>
          <a:prstGeom prst="rect">
            <a:avLst/>
          </a:prstGeom>
          <a:noFill/>
        </p:spPr>
        <p:txBody>
          <a:bodyPr wrap="square" rtlCol="0">
            <a:spAutoFit/>
          </a:bodyPr>
          <a:lstStyle/>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Target</a:t>
            </a:r>
            <a:r>
              <a:rPr lang="zh-CN" altLang="en-US" sz="1600" b="1">
                <a:solidFill>
                  <a:srgbClr val="0042FF"/>
                </a:solidFill>
                <a:latin typeface="微软雅黑"/>
                <a:ea typeface="微软雅黑"/>
                <a:cs typeface="微软雅黑"/>
              </a:rPr>
              <a:t>（回溯目标）</a:t>
            </a:r>
            <a:r>
              <a:rPr lang="en-US" altLang="zh-CN" sz="1600" b="1">
                <a:solidFill>
                  <a:srgbClr val="0042FF"/>
                </a:solidFill>
                <a:latin typeface="微软雅黑"/>
                <a:ea typeface="微软雅黑"/>
                <a:cs typeface="微软雅黑"/>
              </a:rPr>
              <a:t>​</a:t>
            </a:r>
            <a:endParaRPr lang="en-US" altLang="zh-CN" sz="1600" b="1">
              <a:solidFill>
                <a:srgbClr val="0042FF"/>
              </a:solidFill>
              <a:latin typeface="微软雅黑"/>
              <a:ea typeface="微软雅黑"/>
              <a:cs typeface="微软雅黑"/>
            </a:endParaRPr>
          </a:p>
        </p:txBody>
      </p:sp>
      <p:sp>
        <p:nvSpPr>
          <p:cNvPr id="32" name="Lorem Ipsum has"/>
          <p:cNvSpPr txBox="1"/>
          <p:nvPr/>
        </p:nvSpPr>
        <p:spPr>
          <a:xfrm flipH="1">
            <a:off x="8655685" y="4040505"/>
            <a:ext cx="2538730" cy="1384935"/>
          </a:xfrm>
          <a:prstGeom prst="rect">
            <a:avLst/>
          </a:prstGeom>
          <a:ln w="12700">
            <a:miter lim="400000"/>
          </a:ln>
        </p:spPr>
        <p:txBody>
          <a:bodyPr wrap="square" lIns="25400" tIns="25400" rIns="25400" bIns="25400">
            <a:noAutofit/>
          </a:bodyPr>
          <a:lstStyle>
            <a:lvl1pPr algn="l">
              <a:defRPr sz="2000" b="0">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回溯初心，明确未达成的期望</a:t>
            </a:r>
            <a:r>
              <a:rPr lang="en-US" altLang="zh-CN" sz="1400" dirty="0">
                <a:solidFill>
                  <a:srgbClr val="383838"/>
                </a:solidFill>
                <a:latin typeface="微软雅黑"/>
                <a:ea typeface="微软雅黑"/>
                <a:cs typeface="微软雅黑"/>
                <a:sym typeface="微软雅黑"/>
              </a:rPr>
              <a:t>:</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提问：</a:t>
            </a:r>
            <a:r>
              <a:rPr lang="zh-CN" altLang="en-US" sz="1400" dirty="0">
                <a:solidFill>
                  <a:srgbClr val="383838"/>
                </a:solidFill>
                <a:latin typeface="微软雅黑"/>
                <a:ea typeface="微软雅黑"/>
                <a:cs typeface="微软雅黑"/>
                <a:sym typeface="微软雅黑"/>
              </a:rPr>
              <a:t>我原本想要什么？未达成的期望是什么？</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操作：</a:t>
            </a:r>
            <a:r>
              <a:rPr lang="zh-CN" altLang="en-US" sz="1400" dirty="0">
                <a:solidFill>
                  <a:srgbClr val="383838"/>
                </a:solidFill>
                <a:latin typeface="微软雅黑"/>
                <a:ea typeface="微软雅黑"/>
                <a:cs typeface="微软雅黑"/>
                <a:sym typeface="微软雅黑"/>
              </a:rPr>
              <a:t>区分外在目标</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（如升职加薪）和内在目标</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（如自我成长），避免因外界不可控因素陷入情绪泥潭。</a:t>
            </a:r>
            <a:endParaRPr lang="zh-CN" altLang="en-US" sz="1400" dirty="0">
              <a:solidFill>
                <a:srgbClr val="383838"/>
              </a:solidFill>
              <a:latin typeface="微软雅黑"/>
              <a:ea typeface="微软雅黑"/>
              <a:cs typeface="微软雅黑"/>
              <a:sym typeface="微软雅黑"/>
            </a:endParaRPr>
          </a:p>
        </p:txBody>
      </p:sp>
      <p:cxnSp>
        <p:nvCxnSpPr>
          <p:cNvPr id="33" name="直接连接符 32"/>
          <p:cNvCxnSpPr/>
          <p:nvPr/>
        </p:nvCxnSpPr>
        <p:spPr>
          <a:xfrm flipV="1">
            <a:off x="8171180" y="1627505"/>
            <a:ext cx="539750" cy="321310"/>
          </a:xfrm>
          <a:prstGeom prst="line">
            <a:avLst/>
          </a:prstGeom>
          <a:noFill/>
          <a:ln w="12700" cap="flat" cmpd="sng" algn="ctr">
            <a:solidFill>
              <a:srgbClr val="0042FF"/>
            </a:solidFill>
            <a:prstDash val="solid"/>
            <a:miter lim="800000"/>
            <a:headEnd type="oval"/>
            <a:tailEnd type="none"/>
          </a:ln>
          <a:effectLst/>
        </p:spPr>
      </p:cxnSp>
      <p:sp>
        <p:nvSpPr>
          <p:cNvPr id="34" name="文本框 33"/>
          <p:cNvSpPr txBox="1"/>
          <p:nvPr/>
        </p:nvSpPr>
        <p:spPr>
          <a:xfrm flipH="1">
            <a:off x="8733790" y="1699895"/>
            <a:ext cx="2256790" cy="337185"/>
          </a:xfrm>
          <a:prstGeom prst="rect">
            <a:avLst/>
          </a:prstGeom>
          <a:noFill/>
        </p:spPr>
        <p:txBody>
          <a:bodyPr wrap="square" rtlCol="0">
            <a:spAutoFit/>
          </a:bodyPr>
          <a:lstStyle/>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Event</a:t>
            </a:r>
            <a:r>
              <a:rPr lang="zh-CN" altLang="en-US" sz="1600" b="1">
                <a:solidFill>
                  <a:srgbClr val="0042FF"/>
                </a:solidFill>
                <a:latin typeface="微软雅黑"/>
                <a:ea typeface="微软雅黑"/>
                <a:cs typeface="微软雅黑"/>
              </a:rPr>
              <a:t>（还原事件）</a:t>
            </a:r>
            <a:endParaRPr lang="zh-CN" altLang="en-US" sz="1600" b="1">
              <a:solidFill>
                <a:srgbClr val="0042FF"/>
              </a:solidFill>
              <a:latin typeface="微软雅黑"/>
              <a:ea typeface="微软雅黑"/>
              <a:cs typeface="微软雅黑"/>
            </a:endParaRPr>
          </a:p>
        </p:txBody>
      </p:sp>
      <p:cxnSp>
        <p:nvCxnSpPr>
          <p:cNvPr id="35" name="直接连接符 34"/>
          <p:cNvCxnSpPr/>
          <p:nvPr/>
        </p:nvCxnSpPr>
        <p:spPr>
          <a:xfrm flipH="1">
            <a:off x="8710930" y="1627505"/>
            <a:ext cx="2195830" cy="0"/>
          </a:xfrm>
          <a:prstGeom prst="line">
            <a:avLst/>
          </a:prstGeom>
          <a:noFill/>
          <a:ln w="12700" cap="flat" cmpd="sng" algn="ctr">
            <a:solidFill>
              <a:srgbClr val="0042FF"/>
            </a:solidFill>
            <a:prstDash val="solid"/>
            <a:miter lim="800000"/>
            <a:headEnd type="oval"/>
            <a:tailEnd type="none"/>
          </a:ln>
          <a:effectLst/>
        </p:spPr>
      </p:cxnSp>
      <p:sp>
        <p:nvSpPr>
          <p:cNvPr id="36" name="Lorem Ipsum has"/>
          <p:cNvSpPr txBox="1"/>
          <p:nvPr/>
        </p:nvSpPr>
        <p:spPr>
          <a:xfrm flipH="1">
            <a:off x="8655685" y="2105025"/>
            <a:ext cx="2538730" cy="1384935"/>
          </a:xfrm>
          <a:prstGeom prst="rect">
            <a:avLst/>
          </a:prstGeom>
          <a:ln w="12700">
            <a:miter lim="400000"/>
          </a:ln>
        </p:spPr>
        <p:txBody>
          <a:bodyPr wrap="square" lIns="25400" tIns="25400" rIns="25400" bIns="25400">
            <a:noAutofit/>
          </a:bodyPr>
          <a:lstStyle>
            <a:lvl1pPr algn="l">
              <a:defRPr sz="2000" b="0">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识别当前情绪状态及强度</a:t>
            </a:r>
            <a:r>
              <a:rPr lang="en-US" altLang="zh-CN" sz="1400" dirty="0">
                <a:solidFill>
                  <a:srgbClr val="383838"/>
                </a:solidFill>
                <a:latin typeface="微软雅黑"/>
                <a:ea typeface="微软雅黑"/>
                <a:cs typeface="微软雅黑"/>
                <a:sym typeface="微软雅黑"/>
              </a:rPr>
              <a:t>:</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提问：</a:t>
            </a:r>
            <a:r>
              <a:rPr lang="zh-CN" altLang="en-US" sz="1400" dirty="0">
                <a:solidFill>
                  <a:srgbClr val="383838"/>
                </a:solidFill>
                <a:latin typeface="微软雅黑"/>
                <a:ea typeface="微软雅黑"/>
                <a:cs typeface="微软雅黑"/>
                <a:sym typeface="微软雅黑"/>
              </a:rPr>
              <a:t>发生了什么？尝试不带情绪地描述事实。</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操作：</a:t>
            </a:r>
            <a:r>
              <a:rPr lang="zh-CN" altLang="en-US" sz="1400" dirty="0">
                <a:solidFill>
                  <a:srgbClr val="383838"/>
                </a:solidFill>
                <a:latin typeface="微软雅黑"/>
                <a:ea typeface="微软雅黑"/>
                <a:cs typeface="微软雅黑"/>
                <a:sym typeface="微软雅黑"/>
              </a:rPr>
              <a:t>剔除主观评价（如</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老板故意针对我</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改为</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老板绕开我分配任务</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）。若仍带情绪，需返回第一步。</a:t>
            </a:r>
            <a:endParaRPr lang="zh-CN" altLang="en-US" sz="1400" dirty="0">
              <a:solidFill>
                <a:srgbClr val="383838"/>
              </a:solidFill>
              <a:latin typeface="微软雅黑"/>
              <a:ea typeface="微软雅黑"/>
              <a:cs typeface="微软雅黑"/>
              <a:sym typeface="微软雅黑"/>
            </a:endParaRPr>
          </a:p>
        </p:txBody>
      </p:sp>
      <p:sp>
        <p:nvSpPr>
          <p:cNvPr id="37" name="等腰三角形 36"/>
          <p:cNvSpPr/>
          <p:nvPr/>
        </p:nvSpPr>
        <p:spPr>
          <a:xfrm rot="5400000">
            <a:off x="6061710" y="1744980"/>
            <a:ext cx="134620" cy="134620"/>
          </a:xfrm>
          <a:prstGeom prst="triangle">
            <a:avLst/>
          </a:prstGeom>
          <a:solidFill>
            <a:srgbClr val="3368FF"/>
          </a:solidFill>
          <a:ln w="12700" cap="flat" cmpd="sng" algn="ctr">
            <a:noFill/>
            <a:prstDash val="solid"/>
            <a:miter lim="800000"/>
          </a:ln>
          <a:effectLst/>
        </p:spPr>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8" name="等腰三角形 37"/>
          <p:cNvSpPr/>
          <p:nvPr/>
        </p:nvSpPr>
        <p:spPr>
          <a:xfrm rot="10800000">
            <a:off x="7861935" y="3589655"/>
            <a:ext cx="134620" cy="134620"/>
          </a:xfrm>
          <a:prstGeom prst="triangle">
            <a:avLst/>
          </a:prstGeom>
          <a:solidFill>
            <a:srgbClr val="3368FF"/>
          </a:solidFill>
          <a:ln w="12700" cap="flat" cmpd="sng" algn="ctr">
            <a:noFill/>
            <a:prstDash val="solid"/>
            <a:miter lim="800000"/>
          </a:ln>
          <a:effectLst/>
        </p:spPr>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9" name="等腰三角形 38"/>
          <p:cNvSpPr/>
          <p:nvPr/>
        </p:nvSpPr>
        <p:spPr>
          <a:xfrm rot="16200000" flipH="1">
            <a:off x="6011545" y="5620385"/>
            <a:ext cx="134620" cy="134620"/>
          </a:xfrm>
          <a:prstGeom prst="triangle">
            <a:avLst/>
          </a:prstGeom>
          <a:solidFill>
            <a:srgbClr val="3368FF"/>
          </a:solidFill>
          <a:ln w="12700" cap="flat" cmpd="sng" algn="ctr">
            <a:noFill/>
            <a:prstDash val="solid"/>
            <a:miter lim="800000"/>
          </a:ln>
          <a:effectLst/>
        </p:spPr>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0" name="等腰三角形 39"/>
          <p:cNvSpPr/>
          <p:nvPr/>
        </p:nvSpPr>
        <p:spPr>
          <a:xfrm flipH="1">
            <a:off x="3992245" y="3634740"/>
            <a:ext cx="134620" cy="134620"/>
          </a:xfrm>
          <a:prstGeom prst="triangle">
            <a:avLst/>
          </a:prstGeom>
          <a:solidFill>
            <a:srgbClr val="3368FF"/>
          </a:solidFill>
          <a:ln w="12700" cap="flat" cmpd="sng" algn="ctr">
            <a:noFill/>
            <a:prstDash val="solid"/>
            <a:miter lim="800000"/>
          </a:ln>
          <a:effectLst/>
        </p:spPr>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41" name="组合 40"/>
          <p:cNvGrpSpPr/>
          <p:nvPr/>
        </p:nvGrpSpPr>
        <p:grpSpPr>
          <a:xfrm>
            <a:off x="1022350" y="1290320"/>
            <a:ext cx="2825750" cy="2199005"/>
            <a:chOff x="1522" y="8400"/>
            <a:chExt cx="4450" cy="3463"/>
          </a:xfrm>
        </p:grpSpPr>
        <p:cxnSp>
          <p:nvCxnSpPr>
            <p:cNvPr id="50" name="直接连接符 49"/>
            <p:cNvCxnSpPr/>
            <p:nvPr/>
          </p:nvCxnSpPr>
          <p:spPr>
            <a:xfrm flipH="1" flipV="1">
              <a:off x="5122" y="8931"/>
              <a:ext cx="850" cy="506"/>
            </a:xfrm>
            <a:prstGeom prst="line">
              <a:avLst/>
            </a:prstGeom>
            <a:noFill/>
            <a:ln w="12700" cap="flat" cmpd="sng" algn="ctr">
              <a:solidFill>
                <a:srgbClr val="0042FF"/>
              </a:solidFill>
              <a:prstDash val="solid"/>
              <a:miter lim="800000"/>
              <a:headEnd type="oval"/>
              <a:tailEnd type="none"/>
            </a:ln>
            <a:effectLst/>
          </p:spPr>
        </p:cxnSp>
        <p:sp>
          <p:nvSpPr>
            <p:cNvPr id="51" name="文本框 50"/>
            <p:cNvSpPr txBox="1"/>
            <p:nvPr/>
          </p:nvSpPr>
          <p:spPr>
            <a:xfrm>
              <a:off x="1664" y="9045"/>
              <a:ext cx="3640" cy="531"/>
            </a:xfrm>
            <a:prstGeom prst="rect">
              <a:avLst/>
            </a:prstGeom>
            <a:noFill/>
          </p:spPr>
          <p:txBody>
            <a:bodyPr wrap="square" rtlCol="0">
              <a:spAutoFit/>
            </a:bodyPr>
            <a:lstStyle/>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Emotion</a:t>
              </a:r>
              <a:r>
                <a:rPr lang="zh-CN" altLang="en-US" sz="1600" b="1">
                  <a:solidFill>
                    <a:srgbClr val="0042FF"/>
                  </a:solidFill>
                  <a:latin typeface="微软雅黑"/>
                  <a:ea typeface="微软雅黑"/>
                  <a:cs typeface="微软雅黑"/>
                </a:rPr>
                <a:t>（识别情绪）</a:t>
              </a:r>
              <a:r>
                <a:rPr lang="en-US" altLang="zh-CN" sz="1600" b="1">
                  <a:solidFill>
                    <a:srgbClr val="0042FF"/>
                  </a:solidFill>
                  <a:latin typeface="微软雅黑"/>
                  <a:ea typeface="微软雅黑"/>
                  <a:cs typeface="微软雅黑"/>
                </a:rPr>
                <a:t>​</a:t>
              </a:r>
              <a:endParaRPr lang="en-US" altLang="zh-CN" sz="1600" b="1">
                <a:solidFill>
                  <a:srgbClr val="0042FF"/>
                </a:solidFill>
                <a:latin typeface="微软雅黑"/>
                <a:ea typeface="微软雅黑"/>
                <a:cs typeface="微软雅黑"/>
              </a:endParaRPr>
            </a:p>
          </p:txBody>
        </p:sp>
        <p:cxnSp>
          <p:nvCxnSpPr>
            <p:cNvPr id="52" name="直接连接符 51"/>
            <p:cNvCxnSpPr/>
            <p:nvPr/>
          </p:nvCxnSpPr>
          <p:spPr>
            <a:xfrm>
              <a:off x="1664" y="8931"/>
              <a:ext cx="3458" cy="0"/>
            </a:xfrm>
            <a:prstGeom prst="line">
              <a:avLst/>
            </a:prstGeom>
            <a:noFill/>
            <a:ln w="12700" cap="flat" cmpd="sng" algn="ctr">
              <a:solidFill>
                <a:srgbClr val="0042FF"/>
              </a:solidFill>
              <a:prstDash val="solid"/>
              <a:miter lim="800000"/>
              <a:headEnd type="oval"/>
              <a:tailEnd type="none"/>
            </a:ln>
            <a:effectLst/>
          </p:spPr>
        </p:cxnSp>
        <p:sp>
          <p:nvSpPr>
            <p:cNvPr id="53" name="Lorem Ipsum has"/>
            <p:cNvSpPr txBox="1"/>
            <p:nvPr/>
          </p:nvSpPr>
          <p:spPr>
            <a:xfrm>
              <a:off x="1522" y="9683"/>
              <a:ext cx="3998" cy="2181"/>
            </a:xfrm>
            <a:prstGeom prst="rect">
              <a:avLst/>
            </a:prstGeom>
            <a:ln w="12700">
              <a:miter lim="400000"/>
            </a:ln>
          </p:spPr>
          <p:txBody>
            <a:bodyPr wrap="square" lIns="25400" tIns="25400" rIns="25400" bIns="25400">
              <a:noAutofit/>
            </a:bodyPr>
            <a:lstStyle>
              <a:lvl1pPr algn="l">
                <a:defRPr sz="2000" b="0">
                  <a:solidFill>
                    <a:srgbClr val="383838"/>
                  </a:solidFill>
                  <a:latin typeface="微软雅黑"/>
                  <a:ea typeface="微软雅黑"/>
                  <a:cs typeface="微软雅黑"/>
                  <a:sym typeface="微软雅黑"/>
                </a:defRPr>
              </a:lvl1pPr>
            </a:lstStyle>
            <a:p>
              <a:pPr algn="l">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识别当前情绪状态及强度：</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提问：</a:t>
              </a:r>
              <a:r>
                <a:rPr lang="zh-CN" altLang="en-US" sz="1400" dirty="0">
                  <a:solidFill>
                    <a:srgbClr val="383838"/>
                  </a:solidFill>
                  <a:latin typeface="微软雅黑"/>
                  <a:ea typeface="微软雅黑"/>
                  <a:cs typeface="微软雅黑"/>
                  <a:sym typeface="微软雅黑"/>
                </a:rPr>
                <a:t>我现在的情绪是什么？强烈程度打几分？</a:t>
              </a:r>
              <a:endParaRPr lang="zh-CN" altLang="en-US" sz="1400" dirty="0">
                <a:solidFill>
                  <a:srgbClr val="383838"/>
                </a:solidFill>
                <a:latin typeface="微软雅黑"/>
                <a:ea typeface="微软雅黑"/>
                <a:cs typeface="微软雅黑"/>
                <a:sym typeface="微软雅黑"/>
              </a:endParaRPr>
            </a:p>
            <a:p>
              <a:pPr marL="285750" indent="-285750" algn="l">
                <a:buFont typeface="微软雅黑"/>
                <a:buChar char="●"/>
                <a:defRPr>
                  <a:latin typeface="微软雅黑"/>
                  <a:ea typeface="微软雅黑"/>
                  <a:cs typeface="微软雅黑"/>
                </a:defRPr>
              </a:pPr>
              <a:r>
                <a:rPr lang="zh-CN" altLang="en-US" sz="1400" b="1" dirty="0">
                  <a:solidFill>
                    <a:srgbClr val="383838"/>
                  </a:solidFill>
                  <a:latin typeface="微软雅黑"/>
                  <a:ea typeface="微软雅黑"/>
                  <a:cs typeface="微软雅黑"/>
                  <a:sym typeface="微软雅黑"/>
                </a:rPr>
                <a:t>操作：</a:t>
              </a:r>
              <a:r>
                <a:rPr lang="zh-CN" altLang="en-US" sz="1400" dirty="0">
                  <a:solidFill>
                    <a:srgbClr val="383838"/>
                  </a:solidFill>
                  <a:latin typeface="微软雅黑"/>
                  <a:ea typeface="微软雅黑"/>
                  <a:cs typeface="微软雅黑"/>
                  <a:sym typeface="微软雅黑"/>
                </a:rPr>
                <a:t>用具体词汇描述情绪（如</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焦虑</a:t>
              </a:r>
              <a:r>
                <a:rPr lang="en-US" altLang="zh-CN" sz="1400" dirty="0">
                  <a:solidFill>
                    <a:srgbClr val="383838"/>
                  </a:solidFill>
                  <a:latin typeface="微软雅黑"/>
                  <a:ea typeface="微软雅黑"/>
                  <a:cs typeface="微软雅黑"/>
                  <a:sym typeface="微软雅黑"/>
                </a:rPr>
                <a:t>8</a:t>
              </a:r>
              <a:r>
                <a:rPr lang="zh-CN" altLang="en-US" sz="1400" dirty="0">
                  <a:solidFill>
                    <a:srgbClr val="383838"/>
                  </a:solidFill>
                  <a:latin typeface="微软雅黑"/>
                  <a:ea typeface="微软雅黑"/>
                  <a:cs typeface="微软雅黑"/>
                  <a:sym typeface="微软雅黑"/>
                </a:rPr>
                <a:t>分</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失落</a:t>
              </a:r>
              <a:r>
                <a:rPr lang="en-US" altLang="zh-CN" sz="1400" dirty="0">
                  <a:solidFill>
                    <a:srgbClr val="383838"/>
                  </a:solidFill>
                  <a:latin typeface="微软雅黑"/>
                  <a:ea typeface="微软雅黑"/>
                  <a:cs typeface="微软雅黑"/>
                  <a:sym typeface="微软雅黑"/>
                </a:rPr>
                <a:t>6</a:t>
              </a:r>
              <a:r>
                <a:rPr lang="zh-CN" altLang="en-US" sz="1400" dirty="0">
                  <a:solidFill>
                    <a:srgbClr val="383838"/>
                  </a:solidFill>
                  <a:latin typeface="微软雅黑"/>
                  <a:ea typeface="微软雅黑"/>
                  <a:cs typeface="微软雅黑"/>
                  <a:sym typeface="微软雅黑"/>
                </a:rPr>
                <a:t>分</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），避免笼统的</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不开心</a:t>
              </a:r>
              <a:r>
                <a:rPr lang="en-US" altLang="zh-CN" sz="1400" dirty="0">
                  <a:solidFill>
                    <a:srgbClr val="383838"/>
                  </a:solidFill>
                  <a:latin typeface="微软雅黑"/>
                  <a:ea typeface="微软雅黑"/>
                  <a:cs typeface="微软雅黑"/>
                  <a:sym typeface="微软雅黑"/>
                </a:rPr>
                <a:t>”</a:t>
              </a:r>
              <a:r>
                <a:rPr lang="zh-CN" altLang="en-US" sz="1400" dirty="0">
                  <a:solidFill>
                    <a:srgbClr val="383838"/>
                  </a:solidFill>
                  <a:latin typeface="微软雅黑"/>
                  <a:ea typeface="微软雅黑"/>
                  <a:cs typeface="微软雅黑"/>
                  <a:sym typeface="微软雅黑"/>
                </a:rPr>
                <a:t>。</a:t>
              </a:r>
              <a:endParaRPr lang="zh-CN" altLang="en-US" sz="1400" dirty="0">
                <a:solidFill>
                  <a:srgbClr val="383838"/>
                </a:solidFill>
                <a:latin typeface="微软雅黑"/>
                <a:ea typeface="微软雅黑"/>
                <a:cs typeface="微软雅黑"/>
                <a:sym typeface="微软雅黑"/>
              </a:endParaRPr>
            </a:p>
          </p:txBody>
        </p:sp>
        <p:sp>
          <p:nvSpPr>
            <p:cNvPr id="54" name="文本框 53"/>
            <p:cNvSpPr txBox="1"/>
            <p:nvPr/>
          </p:nvSpPr>
          <p:spPr>
            <a:xfrm>
              <a:off x="2365" y="8400"/>
              <a:ext cx="2239" cy="531"/>
            </a:xfrm>
            <a:prstGeom prst="rect">
              <a:avLst/>
            </a:prstGeom>
            <a:noFill/>
          </p:spPr>
          <p:txBody>
            <a:bodyPr wrap="square" rtlCol="0">
              <a:spAutoFit/>
            </a:bodyPr>
            <a:lstStyle/>
            <a:p>
              <a:pPr algn="ctr">
                <a:defRPr>
                  <a:latin typeface="微软雅黑"/>
                  <a:ea typeface="微软雅黑"/>
                  <a:cs typeface="微软雅黑"/>
                </a:defRPr>
              </a:pPr>
              <a:r>
                <a:rPr lang="zh-CN" sz="1600" b="1">
                  <a:solidFill>
                    <a:srgbClr val="0042FF"/>
                  </a:solidFill>
                  <a:latin typeface="微软雅黑"/>
                  <a:ea typeface="微软雅黑"/>
                  <a:cs typeface="微软雅黑"/>
                </a:rPr>
                <a:t>（第一问）</a:t>
              </a:r>
              <a:endParaRPr lang="zh-CN" sz="1600" b="1">
                <a:solidFill>
                  <a:srgbClr val="0042FF"/>
                </a:solidFill>
                <a:latin typeface="微软雅黑"/>
                <a:ea typeface="微软雅黑"/>
                <a:cs typeface="微软雅黑"/>
              </a:endParaRPr>
            </a:p>
          </p:txBody>
        </p:sp>
      </p:grpSp>
      <p:sp>
        <p:nvSpPr>
          <p:cNvPr id="43" name="文本框 42"/>
          <p:cNvSpPr txBox="1"/>
          <p:nvPr/>
        </p:nvSpPr>
        <p:spPr>
          <a:xfrm>
            <a:off x="9151620" y="6064885"/>
            <a:ext cx="1421765" cy="337185"/>
          </a:xfrm>
          <a:prstGeom prst="rect">
            <a:avLst/>
          </a:prstGeom>
          <a:noFill/>
        </p:spPr>
        <p:txBody>
          <a:bodyPr wrap="square" rtlCol="0">
            <a:spAutoFit/>
          </a:bodyPr>
          <a:lstStyle/>
          <a:p>
            <a:pPr algn="ctr">
              <a:defRPr>
                <a:latin typeface="微软雅黑"/>
                <a:ea typeface="微软雅黑"/>
                <a:cs typeface="微软雅黑"/>
              </a:defRPr>
            </a:pPr>
            <a:r>
              <a:rPr lang="zh-CN" sz="1600" b="1">
                <a:solidFill>
                  <a:srgbClr val="0042FF"/>
                </a:solidFill>
                <a:latin typeface="微软雅黑"/>
                <a:ea typeface="微软雅黑"/>
                <a:cs typeface="微软雅黑"/>
              </a:rPr>
              <a:t>（第三问）</a:t>
            </a:r>
            <a:endParaRPr lang="zh-CN" sz="1600" b="1">
              <a:solidFill>
                <a:srgbClr val="0042FF"/>
              </a:solidFill>
              <a:latin typeface="微软雅黑"/>
              <a:ea typeface="微软雅黑"/>
              <a:cs typeface="微软雅黑"/>
            </a:endParaRPr>
          </a:p>
        </p:txBody>
      </p:sp>
      <p:sp>
        <p:nvSpPr>
          <p:cNvPr id="44" name="文本框 43"/>
          <p:cNvSpPr txBox="1"/>
          <p:nvPr/>
        </p:nvSpPr>
        <p:spPr>
          <a:xfrm>
            <a:off x="9151620" y="1249680"/>
            <a:ext cx="1421765" cy="337185"/>
          </a:xfrm>
          <a:prstGeom prst="rect">
            <a:avLst/>
          </a:prstGeom>
          <a:noFill/>
        </p:spPr>
        <p:txBody>
          <a:bodyPr wrap="square" rtlCol="0">
            <a:spAutoFit/>
          </a:bodyPr>
          <a:lstStyle/>
          <a:p>
            <a:pPr algn="ctr">
              <a:defRPr>
                <a:latin typeface="微软雅黑"/>
                <a:ea typeface="微软雅黑"/>
                <a:cs typeface="微软雅黑"/>
              </a:defRPr>
            </a:pPr>
            <a:r>
              <a:rPr lang="zh-CN" sz="1600" b="1">
                <a:solidFill>
                  <a:srgbClr val="0042FF"/>
                </a:solidFill>
                <a:latin typeface="微软雅黑"/>
                <a:ea typeface="微软雅黑"/>
                <a:cs typeface="微软雅黑"/>
              </a:rPr>
              <a:t>（第二问）</a:t>
            </a:r>
            <a:endParaRPr lang="zh-CN" sz="1600" b="1">
              <a:solidFill>
                <a:srgbClr val="0042FF"/>
              </a:solidFill>
              <a:latin typeface="微软雅黑"/>
              <a:ea typeface="微软雅黑"/>
              <a:cs typeface="微软雅黑"/>
            </a:endParaRPr>
          </a:p>
        </p:txBody>
      </p:sp>
      <p:sp>
        <p:nvSpPr>
          <p:cNvPr id="4" name="Circle"/>
          <p:cNvSpPr/>
          <p:nvPr/>
        </p:nvSpPr>
        <p:spPr>
          <a:xfrm>
            <a:off x="5281930" y="3014345"/>
            <a:ext cx="1492250" cy="1492250"/>
          </a:xfrm>
          <a:prstGeom prst="ellipse">
            <a:avLst/>
          </a:prstGeom>
          <a:solidFill>
            <a:srgbClr val="FFFFFF"/>
          </a:solidFill>
          <a:ln w="12700">
            <a:miter lim="400000"/>
          </a:ln>
        </p:spPr>
        <p:txBody>
          <a:bodyPr lIns="0" tIns="0" rIns="0" bIns="0" anchor="ctr"/>
          <a:lstStyle/>
          <a:p>
            <a:pPr algn="ctr">
              <a:defRPr>
                <a:latin typeface="微软雅黑"/>
                <a:ea typeface="微软雅黑"/>
                <a:cs typeface="微软雅黑"/>
              </a:defRPr>
            </a:pPr>
            <a:endParaRPr sz="1000">
              <a:latin typeface="微软雅黑"/>
              <a:cs typeface="微软雅黑"/>
              <a:ea typeface="微软雅黑"/>
            </a:endParaRPr>
          </a:p>
        </p:txBody>
      </p:sp>
      <p:pic>
        <p:nvPicPr>
          <p:cNvPr id="55" name="图片 75" descr="大脑"/>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281930" y="3133090"/>
            <a:ext cx="1306195" cy="1306195"/>
          </a:xfrm>
          <a:prstGeom prst="rect">
            <a:avLst/>
          </a:prstGeom>
        </p:spPr>
      </p:pic>
      <p:sp>
        <p:nvSpPr>
          <p:cNvPr id="57" name="Circle"/>
          <p:cNvSpPr/>
          <p:nvPr/>
        </p:nvSpPr>
        <p:spPr>
          <a:xfrm>
            <a:off x="3781425" y="1784350"/>
            <a:ext cx="1605280" cy="1605280"/>
          </a:xfrm>
          <a:prstGeom prst="ellipse">
            <a:avLst/>
          </a:prstGeom>
          <a:solidFill>
            <a:srgbClr val="3368FF">
              <a:alpha val="20000"/>
            </a:srgbClr>
          </a:solidFill>
          <a:ln w="12700" cap="flat">
            <a:noFill/>
            <a:miter lim="400000"/>
          </a:ln>
          <a:effectLst/>
        </p:spPr>
        <p:txBody>
          <a:bodyPr wrap="square" lIns="0" tIns="0" rIns="0" bIns="0" numCol="1" anchor="ctr">
            <a:noAutofit/>
          </a:bodyPr>
          <a:lstStyle/>
          <a:p>
            <a:pPr algn="ctr">
              <a:defRPr>
                <a:latin typeface="微软雅黑"/>
                <a:ea typeface="微软雅黑"/>
                <a:cs typeface="微软雅黑"/>
              </a:defRPr>
            </a:pPr>
            <a:endParaRPr sz="1000">
              <a:latin typeface="微软雅黑"/>
              <a:cs typeface="微软雅黑"/>
              <a:ea typeface="微软雅黑"/>
            </a:endParaRPr>
          </a:p>
        </p:txBody>
      </p:sp>
      <p:sp>
        <p:nvSpPr>
          <p:cNvPr id="58" name="Circle"/>
          <p:cNvSpPr/>
          <p:nvPr/>
        </p:nvSpPr>
        <p:spPr>
          <a:xfrm>
            <a:off x="3781425" y="1784350"/>
            <a:ext cx="1605280" cy="1605280"/>
          </a:xfrm>
          <a:prstGeom prst="ellipse">
            <a:avLst/>
          </a:prstGeom>
          <a:noFill/>
          <a:ln w="25400" cap="flat">
            <a:solidFill>
              <a:srgbClr val="3368FF">
                <a:alpha val="70000"/>
              </a:srgbClr>
            </a:solidFill>
            <a:prstDash val="solid"/>
            <a:round/>
          </a:ln>
          <a:effectLst/>
        </p:spPr>
        <p:txBody>
          <a:bodyPr wrap="square" lIns="0" tIns="0" rIns="0" bIns="0" numCol="1" anchor="ctr">
            <a:noAutofit/>
          </a:bodyPr>
          <a:lstStyle/>
          <a:p>
            <a:pPr algn="ctr">
              <a:defRPr>
                <a:latin typeface="微软雅黑"/>
                <a:ea typeface="微软雅黑"/>
                <a:cs typeface="微软雅黑"/>
              </a:defRPr>
            </a:pPr>
            <a:endParaRPr sz="1000">
              <a:latin typeface="微软雅黑"/>
              <a:cs typeface="微软雅黑"/>
              <a:ea typeface="微软雅黑"/>
            </a:endParaRPr>
          </a:p>
        </p:txBody>
      </p:sp>
      <p:sp>
        <p:nvSpPr>
          <p:cNvPr id="59"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344035" y="2120900"/>
            <a:ext cx="480695" cy="51244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en-US" sz="3000" b="1" dirty="0">
                <a:solidFill>
                  <a:srgbClr val="0042FF"/>
                </a:solidFill>
                <a:latin typeface="微软雅黑"/>
                <a:ea typeface="微软雅黑"/>
                <a:cs typeface="微软雅黑"/>
                <a:sym typeface="微软雅黑"/>
              </a:rPr>
              <a:t>E</a:t>
            </a:r>
            <a:endParaRPr lang="en-US" sz="3000" b="1" dirty="0">
              <a:solidFill>
                <a:srgbClr val="0042FF"/>
              </a:solidFill>
              <a:latin typeface="微软雅黑"/>
              <a:ea typeface="微软雅黑"/>
              <a:cs typeface="微软雅黑"/>
              <a:sym typeface="微软雅黑"/>
            </a:endParaRPr>
          </a:p>
        </p:txBody>
      </p:sp>
      <p:sp>
        <p:nvSpPr>
          <p:cNvPr id="60" name="Circle"/>
          <p:cNvSpPr/>
          <p:nvPr/>
        </p:nvSpPr>
        <p:spPr>
          <a:xfrm>
            <a:off x="3879850" y="1848485"/>
            <a:ext cx="336550" cy="336550"/>
          </a:xfrm>
          <a:prstGeom prst="ellipse">
            <a:avLst/>
          </a:prstGeom>
          <a:solidFill>
            <a:srgbClr val="0042FF"/>
          </a:solidFill>
          <a:ln w="12700" cap="flat">
            <a:noFill/>
            <a:miter lim="400000"/>
          </a:ln>
          <a:effectLst/>
        </p:spPr>
        <p:txBody>
          <a:bodyPr wrap="square" lIns="0" tIns="0" rIns="0" bIns="0" numCol="1" anchor="ctr">
            <a:noAutofit/>
          </a:bodyPr>
          <a:lstStyle/>
          <a:p>
            <a:pPr algn="ctr">
              <a:defRPr sz="3200">
                <a:solidFill>
                  <a:srgbClr val="FFFFFF"/>
                </a:solidFill>
                <a:latin typeface="微软雅黑"/>
                <a:ea typeface="微软雅黑"/>
                <a:cs typeface="微软雅黑"/>
              </a:defRPr>
            </a:pPr>
            <a:r>
              <a:rPr lang="en-US" sz="1600" b="1">
                <a:solidFill>
                  <a:srgbClr val="FFFFFF"/>
                </a:solidFill>
                <a:latin typeface="微软雅黑"/>
                <a:ea typeface="微软雅黑"/>
                <a:cs typeface="微软雅黑"/>
              </a:rPr>
              <a:t>1</a:t>
            </a:r>
            <a:endParaRPr lang="en-US" sz="1600" b="1">
              <a:solidFill>
                <a:srgbClr val="FFFFFF"/>
              </a:solidFill>
              <a:latin typeface="微软雅黑"/>
              <a:ea typeface="微软雅黑"/>
              <a:cs typeface="微软雅黑"/>
            </a:endParaRPr>
          </a:p>
        </p:txBody>
      </p:sp>
      <p:sp>
        <p:nvSpPr>
          <p:cNvPr id="6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3957320" y="2579370"/>
            <a:ext cx="1253490" cy="434975"/>
          </a:xfrm>
          <a:prstGeom prst="rect">
            <a:avLst/>
          </a:prstGeom>
          <a:noFill/>
          <a:ln w="12700" cap="flat">
            <a:noFill/>
            <a:miter lim="400000"/>
          </a:ln>
          <a:effectLst/>
        </p:spPr>
        <p:txBody>
          <a:bodyPr wrap="square" lIns="25400" tIns="25400" rIns="25400" bIns="25400" numCol="1" anchor="t">
            <a:spAutoFit/>
          </a:bodyPr>
          <a:lstStyle>
            <a:lvl1pPr>
              <a:defRPr sz="5000">
                <a:solidFill>
                  <a:srgbClr val="0042FF"/>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2500" dirty="0">
                <a:solidFill>
                  <a:srgbClr val="0042FF"/>
                </a:solidFill>
                <a:latin typeface="微软雅黑"/>
                <a:ea typeface="微软雅黑"/>
                <a:cs typeface="微软雅黑"/>
                <a:sym typeface="微软雅黑"/>
              </a:rPr>
              <a:t>情绪</a:t>
            </a:r>
            <a:endParaRPr lang="zh-CN" altLang="en-US" sz="2500" dirty="0">
              <a:solidFill>
                <a:srgbClr val="0042FF"/>
              </a:solidFill>
              <a:latin typeface="微软雅黑"/>
              <a:ea typeface="微软雅黑"/>
              <a:cs typeface="微软雅黑"/>
              <a:sym typeface="微软雅黑"/>
            </a:endParaRPr>
          </a:p>
        </p:txBody>
      </p:sp>
      <p:cxnSp>
        <p:nvCxnSpPr>
          <p:cNvPr id="6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63" name="组合 62"/>
          <p:cNvGrpSpPr/>
          <p:nvPr/>
        </p:nvGrpSpPr>
        <p:grpSpPr>
          <a:xfrm>
            <a:off x="8738235" y="348615"/>
            <a:ext cx="3219450" cy="332740"/>
            <a:chOff x="13761" y="549"/>
            <a:chExt cx="5070" cy="524"/>
          </a:xfrm>
        </p:grpSpPr>
        <p:pic>
          <p:nvPicPr>
            <p:cNvPr id="64" name="图片 63"/>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65" name="文本框 6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天蝎PPT1"/>
          <p:cNvPicPr>
            <a:picLocks noChangeAspect="1"/>
          </p:cNvPicPr>
          <p:nvPr/>
        </p:nvPicPr>
        <p:blipFill rotWithShape="1">
          <a:blip r:embed="rId1" cstate="email"/>
          <a:srcRect/>
          <a:stretch>
            <a:fillRect/>
          </a:stretch>
        </p:blipFill>
        <p:spPr>
          <a:xfrm flipH="1">
            <a:off x="4431665" y="1270"/>
            <a:ext cx="7755825" cy="6858000"/>
          </a:xfrm>
          <a:prstGeom prst="rect">
            <a:avLst/>
          </a:prstGeom>
        </p:spPr>
      </p:pic>
      <p:sp>
        <p:nvSpPr>
          <p:cNvPr id="36" name="矩形 35"/>
          <p:cNvSpPr/>
          <p:nvPr/>
        </p:nvSpPr>
        <p:spPr>
          <a:xfrm>
            <a:off x="0" y="-5080"/>
            <a:ext cx="12268200" cy="6858000"/>
          </a:xfrm>
          <a:prstGeom prst="rect">
            <a:avLst/>
          </a:prstGeom>
          <a:gradFill>
            <a:gsLst>
              <a:gs pos="0">
                <a:srgbClr val="FFFFFF"/>
              </a:gs>
              <a:gs pos="100000">
                <a:srgbClr val="DCDCDC">
                  <a:alpha val="50000"/>
                </a:srgbClr>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0" y="-5080"/>
            <a:ext cx="5048250" cy="6858000"/>
          </a:xfrm>
          <a:prstGeom prst="rect">
            <a:avLst/>
          </a:prstGeom>
          <a:gradFill>
            <a:gsLst>
              <a:gs pos="0">
                <a:srgbClr val="E6E6E6"/>
              </a:gs>
              <a:gs pos="100000">
                <a:srgbClr val="E6E6E6"/>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 name="文本框 5"/>
          <p:cNvSpPr txBox="1"/>
          <p:nvPr/>
        </p:nvSpPr>
        <p:spPr>
          <a:xfrm>
            <a:off x="585470" y="1805940"/>
            <a:ext cx="3877310" cy="58356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3200" b="1" spc="-150" noProof="0" dirty="0">
                <a:ln>
                  <a:noFill/>
                </a:ln>
                <a:solidFill>
                  <a:srgbClr val="0042FF"/>
                </a:solidFill>
                <a:effectLst/>
                <a:uLnTx/>
                <a:uFillTx/>
                <a:latin typeface="微软雅黑"/>
                <a:ea typeface="微软雅黑"/>
                <a:cs typeface="微软雅黑"/>
                <a:sym typeface="微软雅黑"/>
              </a:rPr>
              <a:t>业务流程架构</a:t>
            </a:r>
            <a:endParaRPr lang="zh-CN" altLang="en-US" sz="3200" b="1" spc="-150" noProof="0" dirty="0">
              <a:ln>
                <a:noFill/>
              </a:ln>
              <a:solidFill>
                <a:srgbClr val="0042FF"/>
              </a:solidFill>
              <a:effectLst/>
              <a:uLnTx/>
              <a:uFillTx/>
              <a:latin typeface="微软雅黑"/>
              <a:ea typeface="微软雅黑"/>
              <a:cs typeface="微软雅黑"/>
              <a:sym typeface="微软雅黑"/>
            </a:endParaRPr>
          </a:p>
        </p:txBody>
      </p:sp>
      <p:sp>
        <p:nvSpPr>
          <p:cNvPr id="9" name="文本框 8"/>
          <p:cNvSpPr txBox="1"/>
          <p:nvPr/>
        </p:nvSpPr>
        <p:spPr>
          <a:xfrm>
            <a:off x="819150" y="2650490"/>
            <a:ext cx="3409950" cy="33718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en-US" altLang="zh-CN" sz="1600">
                <a:solidFill>
                  <a:srgbClr val="383838"/>
                </a:solidFill>
                <a:latin typeface="微软雅黑"/>
                <a:ea typeface="微软雅黑"/>
                <a:cs typeface="微软雅黑"/>
                <a:sym typeface="微软雅黑"/>
              </a:rPr>
              <a:t>Business Process Framework</a:t>
            </a:r>
            <a:endParaRPr lang="en-US" altLang="zh-CN" sz="1600">
              <a:solidFill>
                <a:srgbClr val="383838"/>
              </a:solidFill>
              <a:latin typeface="微软雅黑"/>
              <a:ea typeface="微软雅黑"/>
              <a:cs typeface="微软雅黑"/>
              <a:sym typeface="微软雅黑"/>
            </a:endParaRPr>
          </a:p>
        </p:txBody>
      </p:sp>
      <p:sp>
        <p:nvSpPr>
          <p:cNvPr id="12" name="矩形 11"/>
          <p:cNvSpPr/>
          <p:nvPr/>
        </p:nvSpPr>
        <p:spPr>
          <a:xfrm>
            <a:off x="1339215" y="2403475"/>
            <a:ext cx="396240" cy="36195"/>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0" name="文本框 29"/>
          <p:cNvSpPr txBox="1"/>
          <p:nvPr/>
        </p:nvSpPr>
        <p:spPr>
          <a:xfrm>
            <a:off x="2000885" y="833755"/>
            <a:ext cx="1046480" cy="860425"/>
          </a:xfrm>
          <a:prstGeom prst="rect">
            <a:avLst/>
          </a:prstGeom>
          <a:noFill/>
        </p:spPr>
        <p:txBody>
          <a:bodyPr wrap="square" rtlCol="0" anchor="ctr" anchorCtr="0">
            <a:noAutofit/>
          </a:bodyPr>
          <a:lstStyle/>
          <a:p>
            <a:pPr lvl="0" algn="ctr" fontAlgn="ctr">
              <a:buClrTx/>
              <a:buSzTx/>
              <a:buFontTx/>
              <a:defRPr>
                <a:latin typeface="微软雅黑"/>
                <a:ea typeface="微软雅黑"/>
                <a:cs typeface="微软雅黑"/>
              </a:defRPr>
            </a:pPr>
            <a:r>
              <a:rPr lang="zh-CN" altLang="en-US" sz="5000" b="1">
                <a:solidFill>
                  <a:srgbClr val="383838"/>
                </a:solidFill>
                <a:latin typeface="微软雅黑"/>
                <a:ea typeface="微软雅黑"/>
                <a:cs typeface="微软雅黑"/>
                <a:sym typeface="微软雅黑"/>
              </a:rPr>
              <a:t>⑤</a:t>
            </a:r>
            <a:endParaRPr lang="zh-CN" altLang="en-US" sz="5000" b="1">
              <a:solidFill>
                <a:srgbClr val="383838"/>
              </a:solidFill>
              <a:latin typeface="微软雅黑"/>
              <a:ea typeface="微软雅黑"/>
              <a:cs typeface="微软雅黑"/>
              <a:sym typeface="微软雅黑"/>
            </a:endParaRPr>
          </a:p>
        </p:txBody>
      </p:sp>
      <p:sp>
        <p:nvSpPr>
          <p:cNvPr id="52" name="文本框 51"/>
          <p:cNvSpPr txBox="1"/>
          <p:nvPr/>
        </p:nvSpPr>
        <p:spPr>
          <a:xfrm>
            <a:off x="5697220" y="2173605"/>
            <a:ext cx="5712460" cy="1706880"/>
          </a:xfrm>
          <a:prstGeom prst="rect">
            <a:avLst/>
          </a:prstGeom>
          <a:noFill/>
        </p:spPr>
        <p:txBody>
          <a:bodyPr wrap="square" rtlCol="0">
            <a:spAutoFit/>
          </a:bodyPr>
          <a:lstStyle/>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设计元素：</a:t>
            </a:r>
            <a:r>
              <a:rPr lang="zh-CN" altLang="en-US" sz="1400">
                <a:solidFill>
                  <a:srgbClr val="383838"/>
                </a:solidFill>
                <a:latin typeface="微软雅黑"/>
                <a:ea typeface="微软雅黑"/>
                <a:cs typeface="微软雅黑"/>
                <a:sym typeface="微软雅黑"/>
              </a:rPr>
              <a:t>以具体业务为场景，分步构建流程逻辑，关键节点标注。</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应用场景：</a:t>
            </a:r>
            <a:r>
              <a:rPr lang="zh-CN" altLang="en-US" sz="1400">
                <a:solidFill>
                  <a:srgbClr val="383838"/>
                </a:solidFill>
                <a:latin typeface="微软雅黑"/>
                <a:ea typeface="微软雅黑"/>
                <a:cs typeface="微软雅黑"/>
                <a:sym typeface="微软雅黑"/>
              </a:rPr>
              <a:t>主要应用如</a:t>
            </a:r>
            <a:r>
              <a:rPr lang="zh-CN" sz="1400">
                <a:solidFill>
                  <a:srgbClr val="383838"/>
                </a:solidFill>
                <a:latin typeface="微软雅黑"/>
                <a:ea typeface="微软雅黑"/>
                <a:cs typeface="微软雅黑"/>
                <a:sym typeface="微软雅黑"/>
              </a:rPr>
              <a:t>电商的流程优化、企业数字化改造的流程、企业战略汇报时的目标与执行路径，</a:t>
            </a:r>
            <a:r>
              <a:rPr lang="zh-CN" altLang="en-US" sz="1400">
                <a:solidFill>
                  <a:srgbClr val="383838"/>
                </a:solidFill>
                <a:latin typeface="微软雅黑"/>
                <a:ea typeface="微软雅黑"/>
                <a:cs typeface="微软雅黑"/>
                <a:sym typeface="微软雅黑"/>
              </a:rPr>
              <a:t>帮助您构建清晰、高效且可落地的业务流程图解。</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0042FF"/>
                </a:solidFill>
                <a:latin typeface="微软雅黑"/>
                <a:ea typeface="微软雅黑"/>
                <a:cs typeface="微软雅黑"/>
                <a:sym typeface="微软雅黑"/>
              </a:rPr>
              <a:t>核心关键词：</a:t>
            </a:r>
            <a:r>
              <a:rPr lang="zh-CN" altLang="en-US" sz="1400">
                <a:solidFill>
                  <a:srgbClr val="383838"/>
                </a:solidFill>
                <a:latin typeface="微软雅黑"/>
                <a:ea typeface="微软雅黑"/>
                <a:cs typeface="微软雅黑"/>
                <a:sym typeface="微软雅黑"/>
              </a:rPr>
              <a:t>「场景适配、主线流程构建、分层分模块扩展</a:t>
            </a:r>
            <a:r>
              <a:rPr lang="en-US" altLang="zh-CN" sz="1400">
                <a:solidFill>
                  <a:srgbClr val="383838"/>
                </a:solidFill>
                <a:latin typeface="微软雅黑"/>
                <a:ea typeface="微软雅黑"/>
                <a:cs typeface="微软雅黑"/>
                <a:sym typeface="微软雅黑"/>
              </a:rPr>
              <a:t>​</a:t>
            </a:r>
            <a:r>
              <a:rPr lang="zh-CN" altLang="en-US" sz="1400">
                <a:solidFill>
                  <a:srgbClr val="383838"/>
                </a:solidFill>
                <a:latin typeface="微软雅黑"/>
                <a:ea typeface="微软雅黑"/>
                <a:cs typeface="微软雅黑"/>
                <a:sym typeface="微软雅黑"/>
              </a:rPr>
              <a:t>」。</a:t>
            </a:r>
            <a:endParaRPr lang="zh-CN" altLang="en-US" sz="1400">
              <a:solidFill>
                <a:srgbClr val="383838"/>
              </a:solidFill>
              <a:latin typeface="微软雅黑"/>
              <a:ea typeface="微软雅黑"/>
              <a:cs typeface="微软雅黑"/>
              <a:sym typeface="微软雅黑"/>
            </a:endParaRPr>
          </a:p>
        </p:txBody>
      </p:sp>
      <p:grpSp>
        <p:nvGrpSpPr>
          <p:cNvPr id="74" name="组合 73"/>
          <p:cNvGrpSpPr/>
          <p:nvPr/>
        </p:nvGrpSpPr>
        <p:grpSpPr>
          <a:xfrm>
            <a:off x="669925" y="3829685"/>
            <a:ext cx="4076065" cy="1752600"/>
            <a:chOff x="7818" y="8201"/>
            <a:chExt cx="3942" cy="1695"/>
          </a:xfrm>
        </p:grpSpPr>
        <p:sp>
          <p:nvSpPr>
            <p:cNvPr id="4" name="圆角矩形 8"/>
            <p:cNvSpPr/>
            <p:nvPr>
              <p:custDataLst>
                <p:tags r:id="rId2"/>
              </p:custDataLst>
            </p:nvPr>
          </p:nvSpPr>
          <p:spPr>
            <a:xfrm>
              <a:off x="8110" y="9428"/>
              <a:ext cx="944" cy="214"/>
            </a:xfrm>
            <a:prstGeom prst="roundRect">
              <a:avLst>
                <a:gd name="adj" fmla="val 2689"/>
              </a:avLst>
            </a:pr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 name="圆角矩形 8"/>
            <p:cNvSpPr/>
            <p:nvPr>
              <p:custDataLst>
                <p:tags r:id="rId3"/>
              </p:custDataLst>
            </p:nvPr>
          </p:nvSpPr>
          <p:spPr>
            <a:xfrm>
              <a:off x="9362" y="9428"/>
              <a:ext cx="944" cy="214"/>
            </a:xfrm>
            <a:prstGeom prst="roundRect">
              <a:avLst>
                <a:gd name="adj" fmla="val 2689"/>
              </a:avLst>
            </a:pr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0" name="圆角矩形 8"/>
            <p:cNvSpPr/>
            <p:nvPr>
              <p:custDataLst>
                <p:tags r:id="rId4"/>
              </p:custDataLst>
            </p:nvPr>
          </p:nvSpPr>
          <p:spPr>
            <a:xfrm>
              <a:off x="10613" y="9428"/>
              <a:ext cx="944" cy="214"/>
            </a:xfrm>
            <a:prstGeom prst="roundRect">
              <a:avLst>
                <a:gd name="adj" fmla="val 2689"/>
              </a:avLst>
            </a:pr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1" name="圆角矩形 59"/>
            <p:cNvSpPr/>
            <p:nvPr>
              <p:custDataLst>
                <p:tags r:id="rId5"/>
              </p:custDataLst>
            </p:nvPr>
          </p:nvSpPr>
          <p:spPr>
            <a:xfrm>
              <a:off x="8025" y="8532"/>
              <a:ext cx="654" cy="78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13" name="Freeform 2384"/>
            <p:cNvSpPr/>
            <p:nvPr>
              <p:custDataLst>
                <p:tags r:id="rId6"/>
              </p:custDataLst>
            </p:nvPr>
          </p:nvSpPr>
          <p:spPr>
            <a:xfrm>
              <a:off x="10994" y="8201"/>
              <a:ext cx="570" cy="183"/>
            </a:xfrm>
            <a:custGeom>
              <a:avLst/>
              <a:gdLst/>
              <a:ahLst/>
              <a:cxnLst/>
              <a:rect l="0" t="0" r="0" b="0"/>
              <a:pathLst>
                <a:path w="1648967" h="527305">
                  <a:moveTo>
                    <a:pt x="0" y="108967"/>
                  </a:moveTo>
                  <a:lnTo>
                    <a:pt x="108965" y="0"/>
                  </a:lnTo>
                  <a:lnTo>
                    <a:pt x="1648967" y="0"/>
                  </a:lnTo>
                  <a:lnTo>
                    <a:pt x="1648967" y="418338"/>
                  </a:lnTo>
                  <a:lnTo>
                    <a:pt x="1540001" y="527305"/>
                  </a:lnTo>
                  <a:lnTo>
                    <a:pt x="0" y="527305"/>
                  </a:lnTo>
                  <a:close/>
                  <a:moveTo>
                    <a:pt x="0" y="108967"/>
                  </a:moveTo>
                  <a:lnTo>
                    <a:pt x="1540001" y="108967"/>
                  </a:lnTo>
                  <a:lnTo>
                    <a:pt x="1648967" y="0"/>
                  </a:lnTo>
                  <a:moveTo>
                    <a:pt x="1540001" y="108967"/>
                  </a:moveTo>
                  <a:lnTo>
                    <a:pt x="1540001" y="527305"/>
                  </a:lnTo>
                </a:path>
              </a:pathLst>
            </a:custGeom>
            <a:noFill/>
            <a:ln w="6095" cap="flat" cmpd="sng" algn="ctr">
              <a:solidFill>
                <a:srgbClr val="668EFF"/>
              </a:solidFill>
              <a:prstDash val="solid"/>
              <a:miter lim="127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4" name="Freeform 2385"/>
            <p:cNvSpPr/>
            <p:nvPr>
              <p:custDataLst>
                <p:tags r:id="rId7"/>
              </p:custDataLst>
            </p:nvPr>
          </p:nvSpPr>
          <p:spPr>
            <a:xfrm>
              <a:off x="10994" y="8238"/>
              <a:ext cx="534" cy="147"/>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 name="Freeform 2389"/>
            <p:cNvSpPr/>
            <p:nvPr>
              <p:custDataLst>
                <p:tags r:id="rId8"/>
              </p:custDataLst>
            </p:nvPr>
          </p:nvSpPr>
          <p:spPr>
            <a:xfrm>
              <a:off x="8034" y="8204"/>
              <a:ext cx="570" cy="183"/>
            </a:xfrm>
            <a:custGeom>
              <a:avLst/>
              <a:gdLst/>
              <a:ahLst/>
              <a:cxnLst/>
              <a:rect l="0" t="0" r="0" b="0"/>
              <a:pathLst>
                <a:path w="1648967" h="527305">
                  <a:moveTo>
                    <a:pt x="0" y="108967"/>
                  </a:moveTo>
                  <a:lnTo>
                    <a:pt x="108953" y="0"/>
                  </a:lnTo>
                  <a:lnTo>
                    <a:pt x="1648967" y="0"/>
                  </a:lnTo>
                  <a:lnTo>
                    <a:pt x="1648967" y="418338"/>
                  </a:lnTo>
                  <a:lnTo>
                    <a:pt x="1540001" y="527305"/>
                  </a:lnTo>
                  <a:lnTo>
                    <a:pt x="0" y="527305"/>
                  </a:lnTo>
                  <a:close/>
                  <a:moveTo>
                    <a:pt x="0" y="108967"/>
                  </a:moveTo>
                  <a:lnTo>
                    <a:pt x="1540001" y="108967"/>
                  </a:lnTo>
                  <a:lnTo>
                    <a:pt x="1648967" y="0"/>
                  </a:lnTo>
                  <a:moveTo>
                    <a:pt x="1540001" y="108967"/>
                  </a:moveTo>
                  <a:lnTo>
                    <a:pt x="1540001"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 name="Freeform 2390"/>
            <p:cNvSpPr/>
            <p:nvPr>
              <p:custDataLst>
                <p:tags r:id="rId9"/>
              </p:custDataLst>
            </p:nvPr>
          </p:nvSpPr>
          <p:spPr>
            <a:xfrm>
              <a:off x="8033" y="8238"/>
              <a:ext cx="534" cy="147"/>
            </a:xfrm>
            <a:custGeom>
              <a:avLst/>
              <a:gdLst/>
              <a:ahLst/>
              <a:cxnLst/>
              <a:rect l="0" t="0" r="0" b="0"/>
              <a:pathLst>
                <a:path w="1545336" h="425195">
                  <a:moveTo>
                    <a:pt x="0" y="425195"/>
                  </a:moveTo>
                  <a:lnTo>
                    <a:pt x="1545336" y="425195"/>
                  </a:lnTo>
                  <a:lnTo>
                    <a:pt x="1545336" y="0"/>
                  </a:lnTo>
                  <a:lnTo>
                    <a:pt x="0" y="0"/>
                  </a:lnTo>
                  <a:lnTo>
                    <a:pt x="0" y="425195"/>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 name="Freeform 2409"/>
            <p:cNvSpPr/>
            <p:nvPr>
              <p:custDataLst>
                <p:tags r:id="rId10"/>
              </p:custDataLst>
            </p:nvPr>
          </p:nvSpPr>
          <p:spPr>
            <a:xfrm>
              <a:off x="7994" y="9714"/>
              <a:ext cx="3626" cy="183"/>
            </a:xfrm>
            <a:custGeom>
              <a:avLst/>
              <a:gdLst/>
              <a:ahLst/>
              <a:cxnLst/>
              <a:rect l="0" t="0" r="0" b="0"/>
              <a:pathLst>
                <a:path w="10489693" h="527303">
                  <a:moveTo>
                    <a:pt x="0" y="108953"/>
                  </a:moveTo>
                  <a:lnTo>
                    <a:pt x="108954" y="0"/>
                  </a:lnTo>
                  <a:lnTo>
                    <a:pt x="10489693" y="0"/>
                  </a:lnTo>
                  <a:lnTo>
                    <a:pt x="10489693" y="418338"/>
                  </a:lnTo>
                  <a:lnTo>
                    <a:pt x="10380727" y="527303"/>
                  </a:lnTo>
                  <a:lnTo>
                    <a:pt x="0" y="527303"/>
                  </a:lnTo>
                  <a:close/>
                  <a:moveTo>
                    <a:pt x="0" y="108953"/>
                  </a:moveTo>
                  <a:lnTo>
                    <a:pt x="10380727" y="108953"/>
                  </a:lnTo>
                  <a:lnTo>
                    <a:pt x="10489693" y="0"/>
                  </a:lnTo>
                  <a:moveTo>
                    <a:pt x="10380727" y="108953"/>
                  </a:moveTo>
                  <a:lnTo>
                    <a:pt x="10380727" y="527303"/>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9" name="Freeform 2410"/>
            <p:cNvSpPr/>
            <p:nvPr>
              <p:custDataLst>
                <p:tags r:id="rId11"/>
              </p:custDataLst>
            </p:nvPr>
          </p:nvSpPr>
          <p:spPr>
            <a:xfrm>
              <a:off x="7993" y="9750"/>
              <a:ext cx="3593" cy="147"/>
            </a:xfrm>
            <a:custGeom>
              <a:avLst/>
              <a:gdLst/>
              <a:ahLst/>
              <a:cxnLst/>
              <a:rect l="0" t="0" r="0" b="0"/>
              <a:pathLst>
                <a:path w="10395204" h="425196">
                  <a:moveTo>
                    <a:pt x="0" y="425196"/>
                  </a:moveTo>
                  <a:lnTo>
                    <a:pt x="10395204" y="425196"/>
                  </a:lnTo>
                  <a:lnTo>
                    <a:pt x="10395204"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1" name="Freeform 2447"/>
            <p:cNvSpPr/>
            <p:nvPr>
              <p:custDataLst>
                <p:tags r:id="rId12"/>
              </p:custDataLst>
            </p:nvPr>
          </p:nvSpPr>
          <p:spPr>
            <a:xfrm>
              <a:off x="10242" y="8201"/>
              <a:ext cx="570" cy="183"/>
            </a:xfrm>
            <a:custGeom>
              <a:avLst/>
              <a:gdLst/>
              <a:ahLst/>
              <a:cxnLst/>
              <a:rect l="0" t="0" r="0" b="0"/>
              <a:pathLst>
                <a:path w="1648969" h="527305">
                  <a:moveTo>
                    <a:pt x="0" y="108967"/>
                  </a:moveTo>
                  <a:lnTo>
                    <a:pt x="108966" y="0"/>
                  </a:lnTo>
                  <a:lnTo>
                    <a:pt x="1648969" y="0"/>
                  </a:lnTo>
                  <a:lnTo>
                    <a:pt x="1648969" y="418338"/>
                  </a:lnTo>
                  <a:lnTo>
                    <a:pt x="1540002" y="527305"/>
                  </a:lnTo>
                  <a:lnTo>
                    <a:pt x="0" y="527305"/>
                  </a:lnTo>
                  <a:close/>
                  <a:moveTo>
                    <a:pt x="0" y="108967"/>
                  </a:moveTo>
                  <a:lnTo>
                    <a:pt x="1540002" y="108967"/>
                  </a:lnTo>
                  <a:lnTo>
                    <a:pt x="1648969" y="0"/>
                  </a:lnTo>
                  <a:moveTo>
                    <a:pt x="1540002" y="108967"/>
                  </a:moveTo>
                  <a:lnTo>
                    <a:pt x="1540002"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 name="Freeform 2448"/>
            <p:cNvSpPr/>
            <p:nvPr>
              <p:custDataLst>
                <p:tags r:id="rId13"/>
              </p:custDataLst>
            </p:nvPr>
          </p:nvSpPr>
          <p:spPr>
            <a:xfrm>
              <a:off x="10242" y="8238"/>
              <a:ext cx="534" cy="147"/>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43" name="Freeform 2482"/>
            <p:cNvSpPr/>
            <p:nvPr>
              <p:custDataLst>
                <p:tags r:id="rId14"/>
              </p:custDataLst>
            </p:nvPr>
          </p:nvSpPr>
          <p:spPr>
            <a:xfrm>
              <a:off x="9534" y="8201"/>
              <a:ext cx="570" cy="183"/>
            </a:xfrm>
            <a:custGeom>
              <a:avLst/>
              <a:gdLst/>
              <a:ahLst/>
              <a:cxnLst/>
              <a:rect l="0" t="0" r="0" b="0"/>
              <a:pathLst>
                <a:path w="1648968" h="527305">
                  <a:moveTo>
                    <a:pt x="0" y="108967"/>
                  </a:moveTo>
                  <a:lnTo>
                    <a:pt x="108967" y="0"/>
                  </a:lnTo>
                  <a:lnTo>
                    <a:pt x="1648968" y="0"/>
                  </a:lnTo>
                  <a:lnTo>
                    <a:pt x="1648968" y="418338"/>
                  </a:lnTo>
                  <a:lnTo>
                    <a:pt x="1540003" y="527305"/>
                  </a:lnTo>
                  <a:lnTo>
                    <a:pt x="0" y="527305"/>
                  </a:lnTo>
                  <a:close/>
                  <a:moveTo>
                    <a:pt x="0" y="108967"/>
                  </a:moveTo>
                  <a:lnTo>
                    <a:pt x="1540003" y="108967"/>
                  </a:lnTo>
                  <a:lnTo>
                    <a:pt x="1648968" y="0"/>
                  </a:lnTo>
                  <a:moveTo>
                    <a:pt x="1540003" y="108967"/>
                  </a:moveTo>
                  <a:lnTo>
                    <a:pt x="1540003"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7" name="Freeform 2483"/>
            <p:cNvSpPr/>
            <p:nvPr>
              <p:custDataLst>
                <p:tags r:id="rId15"/>
              </p:custDataLst>
            </p:nvPr>
          </p:nvSpPr>
          <p:spPr>
            <a:xfrm>
              <a:off x="9533" y="8238"/>
              <a:ext cx="534" cy="147"/>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cxnSp>
          <p:nvCxnSpPr>
            <p:cNvPr id="53" name="直接连接符 52"/>
            <p:cNvCxnSpPr/>
            <p:nvPr>
              <p:custDataLst>
                <p:tags r:id="rId16"/>
              </p:custDataLst>
            </p:nvPr>
          </p:nvCxnSpPr>
          <p:spPr>
            <a:xfrm rot="10800000">
              <a:off x="7883" y="9824"/>
              <a:ext cx="106"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sp>
          <p:nvSpPr>
            <p:cNvPr id="54" name="Freeform 2470"/>
            <p:cNvSpPr/>
            <p:nvPr>
              <p:custDataLst>
                <p:tags r:id="rId17"/>
              </p:custDataLst>
            </p:nvPr>
          </p:nvSpPr>
          <p:spPr>
            <a:xfrm>
              <a:off x="8791" y="8201"/>
              <a:ext cx="570" cy="183"/>
            </a:xfrm>
            <a:custGeom>
              <a:avLst/>
              <a:gdLst/>
              <a:ahLst/>
              <a:cxnLst/>
              <a:rect l="0" t="0" r="0" b="0"/>
              <a:pathLst>
                <a:path w="1648968" h="527305">
                  <a:moveTo>
                    <a:pt x="0" y="108967"/>
                  </a:moveTo>
                  <a:lnTo>
                    <a:pt x="108965" y="0"/>
                  </a:lnTo>
                  <a:lnTo>
                    <a:pt x="1648968" y="0"/>
                  </a:lnTo>
                  <a:lnTo>
                    <a:pt x="1648968" y="418338"/>
                  </a:lnTo>
                  <a:lnTo>
                    <a:pt x="1540002" y="527305"/>
                  </a:lnTo>
                  <a:lnTo>
                    <a:pt x="0" y="527305"/>
                  </a:lnTo>
                  <a:close/>
                  <a:moveTo>
                    <a:pt x="0" y="108967"/>
                  </a:moveTo>
                  <a:lnTo>
                    <a:pt x="1540002" y="108967"/>
                  </a:lnTo>
                  <a:lnTo>
                    <a:pt x="1648968" y="0"/>
                  </a:lnTo>
                  <a:moveTo>
                    <a:pt x="1540002" y="108967"/>
                  </a:moveTo>
                  <a:lnTo>
                    <a:pt x="1540002" y="527305"/>
                  </a:lnTo>
                </a:path>
              </a:pathLst>
            </a:custGeom>
            <a:noFill/>
            <a:ln w="6095" cap="flat" cmpd="sng" algn="ctr">
              <a:solidFill>
                <a:srgbClr val="668EFF"/>
              </a:solidFill>
              <a:prstDash val="solid"/>
              <a:miter lim="101600"/>
            </a:ln>
            <a:effectLst/>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5" name="Freeform 2471"/>
            <p:cNvSpPr/>
            <p:nvPr>
              <p:custDataLst>
                <p:tags r:id="rId18"/>
              </p:custDataLst>
            </p:nvPr>
          </p:nvSpPr>
          <p:spPr>
            <a:xfrm>
              <a:off x="8790" y="8238"/>
              <a:ext cx="534" cy="147"/>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56" name="圆角矩形 59"/>
            <p:cNvSpPr/>
            <p:nvPr>
              <p:custDataLst>
                <p:tags r:id="rId19"/>
              </p:custDataLst>
            </p:nvPr>
          </p:nvSpPr>
          <p:spPr>
            <a:xfrm>
              <a:off x="9474" y="8532"/>
              <a:ext cx="654" cy="78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57" name="圆角矩形 59"/>
            <p:cNvSpPr/>
            <p:nvPr>
              <p:custDataLst>
                <p:tags r:id="rId20"/>
              </p:custDataLst>
            </p:nvPr>
          </p:nvSpPr>
          <p:spPr>
            <a:xfrm>
              <a:off x="10198" y="8532"/>
              <a:ext cx="654" cy="78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58" name="圆角矩形 59"/>
            <p:cNvSpPr/>
            <p:nvPr>
              <p:custDataLst>
                <p:tags r:id="rId21"/>
              </p:custDataLst>
            </p:nvPr>
          </p:nvSpPr>
          <p:spPr>
            <a:xfrm>
              <a:off x="8750" y="8532"/>
              <a:ext cx="654" cy="78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59" name="圆角矩形 59"/>
            <p:cNvSpPr/>
            <p:nvPr>
              <p:custDataLst>
                <p:tags r:id="rId22"/>
              </p:custDataLst>
            </p:nvPr>
          </p:nvSpPr>
          <p:spPr>
            <a:xfrm>
              <a:off x="10922" y="8532"/>
              <a:ext cx="654" cy="780"/>
            </a:xfrm>
            <a:prstGeom prst="roundRect">
              <a:avLst>
                <a:gd name="adj" fmla="val 2928"/>
              </a:avLst>
            </a:prstGeom>
            <a:noFill/>
            <a:ln w="12700" cap="flat" cmpd="sng" algn="ctr">
              <a:solidFill>
                <a:srgbClr val="668EFF"/>
              </a:solidFill>
              <a:prstDash val="solid"/>
              <a:miter lim="800000"/>
            </a:ln>
            <a:effectLst>
              <a:outerShdw blurRad="499110" dist="249555" dir="5400000" sx="90000" sy="90000" algn="ctr" rotWithShape="0">
                <a:srgbClr val="0042FF">
                  <a:alpha val="9735"/>
                </a:srgbClr>
              </a:outerShdw>
            </a:effectLst>
            <a:extLst>
              <a:ext uri="{909E8E84-426E-40DD-AFC4-6F175D3DCCD1}">
                <a14:hiddenFill xmlns:a14="http://schemas.microsoft.com/office/drawing/2010/main">
                  <a:solidFill>
                    <a:srgbClr val="668EFF"/>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60" name="等腰三角形 59"/>
            <p:cNvSpPr/>
            <p:nvPr>
              <p:custDataLst>
                <p:tags r:id="rId23"/>
              </p:custDataLst>
            </p:nvPr>
          </p:nvSpPr>
          <p:spPr>
            <a:xfrm rot="5400000">
              <a:off x="10852" y="8228"/>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1" name="等腰三角形 60"/>
            <p:cNvSpPr/>
            <p:nvPr>
              <p:custDataLst>
                <p:tags r:id="rId24"/>
              </p:custDataLst>
            </p:nvPr>
          </p:nvSpPr>
          <p:spPr>
            <a:xfrm rot="5400000">
              <a:off x="8648" y="8228"/>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2" name="等腰三角形 61"/>
            <p:cNvSpPr/>
            <p:nvPr>
              <p:custDataLst>
                <p:tags r:id="rId25"/>
              </p:custDataLst>
            </p:nvPr>
          </p:nvSpPr>
          <p:spPr>
            <a:xfrm rot="5400000">
              <a:off x="9396" y="8228"/>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3" name="等腰三角形 62"/>
            <p:cNvSpPr/>
            <p:nvPr>
              <p:custDataLst>
                <p:tags r:id="rId26"/>
              </p:custDataLst>
            </p:nvPr>
          </p:nvSpPr>
          <p:spPr>
            <a:xfrm rot="5400000">
              <a:off x="10128" y="8228"/>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4" name="等腰三角形 63"/>
            <p:cNvSpPr/>
            <p:nvPr>
              <p:custDataLst>
                <p:tags r:id="rId27"/>
              </p:custDataLst>
            </p:nvPr>
          </p:nvSpPr>
          <p:spPr>
            <a:xfrm rot="16200000" flipH="1">
              <a:off x="10404" y="9473"/>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5" name="等腰三角形 64"/>
            <p:cNvSpPr/>
            <p:nvPr>
              <p:custDataLst>
                <p:tags r:id="rId28"/>
              </p:custDataLst>
            </p:nvPr>
          </p:nvSpPr>
          <p:spPr>
            <a:xfrm rot="16200000" flipH="1">
              <a:off x="9157" y="9473"/>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cxnSp>
          <p:nvCxnSpPr>
            <p:cNvPr id="66" name="直接连接符 65"/>
            <p:cNvCxnSpPr/>
            <p:nvPr>
              <p:custDataLst>
                <p:tags r:id="rId29"/>
              </p:custDataLst>
            </p:nvPr>
          </p:nvCxnSpPr>
          <p:spPr>
            <a:xfrm flipH="1">
              <a:off x="7870" y="8300"/>
              <a:ext cx="155"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cxnSp>
          <p:nvCxnSpPr>
            <p:cNvPr id="67" name="直接连接符 66"/>
            <p:cNvCxnSpPr/>
            <p:nvPr>
              <p:custDataLst>
                <p:tags r:id="rId30"/>
              </p:custDataLst>
            </p:nvPr>
          </p:nvCxnSpPr>
          <p:spPr>
            <a:xfrm flipV="1">
              <a:off x="7882" y="8299"/>
              <a:ext cx="0" cy="1539"/>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sp>
          <p:nvSpPr>
            <p:cNvPr id="68" name="等腰三角形 67"/>
            <p:cNvSpPr/>
            <p:nvPr>
              <p:custDataLst>
                <p:tags r:id="rId31"/>
              </p:custDataLst>
            </p:nvPr>
          </p:nvSpPr>
          <p:spPr>
            <a:xfrm flipH="1">
              <a:off x="7818" y="8931"/>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nvGrpSpPr>
            <p:cNvPr id="69" name="组合 68"/>
            <p:cNvGrpSpPr/>
            <p:nvPr>
              <p:custDataLst>
                <p:tags r:id="rId32"/>
              </p:custDataLst>
            </p:nvPr>
          </p:nvGrpSpPr>
          <p:grpSpPr>
            <a:xfrm flipH="1">
              <a:off x="11554" y="8268"/>
              <a:ext cx="206" cy="1538"/>
              <a:chOff x="8018" y="8499"/>
              <a:chExt cx="206" cy="1538"/>
            </a:xfrm>
          </p:grpSpPr>
          <p:cxnSp>
            <p:nvCxnSpPr>
              <p:cNvPr id="70" name="直接连接符 69"/>
              <p:cNvCxnSpPr/>
              <p:nvPr>
                <p:custDataLst>
                  <p:tags r:id="rId33"/>
                </p:custDataLst>
              </p:nvPr>
            </p:nvCxnSpPr>
            <p:spPr>
              <a:xfrm rot="10800000">
                <a:off x="8083" y="10024"/>
                <a:ext cx="106"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cxnSp>
            <p:nvCxnSpPr>
              <p:cNvPr id="71" name="直接连接符 70"/>
              <p:cNvCxnSpPr/>
              <p:nvPr>
                <p:custDataLst>
                  <p:tags r:id="rId34"/>
                </p:custDataLst>
              </p:nvPr>
            </p:nvCxnSpPr>
            <p:spPr>
              <a:xfrm flipH="1">
                <a:off x="8070" y="8500"/>
                <a:ext cx="155" cy="0"/>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cxnSp>
            <p:nvCxnSpPr>
              <p:cNvPr id="72" name="直接连接符 71"/>
              <p:cNvCxnSpPr/>
              <p:nvPr>
                <p:custDataLst>
                  <p:tags r:id="rId35"/>
                </p:custDataLst>
              </p:nvPr>
            </p:nvCxnSpPr>
            <p:spPr>
              <a:xfrm flipV="1">
                <a:off x="8082" y="8499"/>
                <a:ext cx="0" cy="1539"/>
              </a:xfrm>
              <a:prstGeom prst="line">
                <a:avLst/>
              </a:prstGeom>
              <a:noFill/>
              <a:ln w="19050" cap="flat" cmpd="sng" algn="ctr">
                <a:solidFill>
                  <a:srgbClr val="668EFF"/>
                </a:solidFill>
                <a:prstDash val="solid"/>
                <a:miter lim="800000"/>
              </a:ln>
              <a:effectLst/>
            </p:spPr>
            <p:style>
              <a:lnRef idx="1">
                <a:srgbClr val="0042FF"/>
              </a:lnRef>
              <a:fillRef idx="0">
                <a:srgbClr val="0042FF"/>
              </a:fillRef>
              <a:effectRef idx="0">
                <a:srgbClr val="0042FF"/>
              </a:effectRef>
              <a:fontRef idx="minor">
                <a:srgbClr val="383838"/>
              </a:fontRef>
            </p:style>
          </p:cxnSp>
          <p:sp>
            <p:nvSpPr>
              <p:cNvPr id="73" name="等腰三角形 72"/>
              <p:cNvSpPr/>
              <p:nvPr>
                <p:custDataLst>
                  <p:tags r:id="rId36"/>
                </p:custDataLst>
              </p:nvPr>
            </p:nvSpPr>
            <p:spPr>
              <a:xfrm flipH="1" flipV="1">
                <a:off x="8018" y="9131"/>
                <a:ext cx="119" cy="119"/>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grpSp>
      </p:gr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8530590" y="5163185"/>
            <a:ext cx="3183890" cy="1405255"/>
          </a:xfrm>
          <a:prstGeom prst="rect">
            <a:avLst/>
          </a:prstGeom>
          <a:solidFill>
            <a:srgbClr val="FFFFFF">
              <a:alpha val="44000"/>
            </a:srgbClr>
          </a:solidFill>
          <a:ln>
            <a:solidFill>
              <a:srgbClr val="3368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8" name="矩形 7"/>
          <p:cNvSpPr/>
          <p:nvPr/>
        </p:nvSpPr>
        <p:spPr>
          <a:xfrm>
            <a:off x="337820" y="5163820"/>
            <a:ext cx="8121015" cy="1064895"/>
          </a:xfrm>
          <a:prstGeom prst="rect">
            <a:avLst/>
          </a:prstGeom>
          <a:solidFill>
            <a:srgbClr val="E6E6E6">
              <a:alpha val="43913"/>
            </a:srgbClr>
          </a:solidFill>
          <a:ln>
            <a:solidFill>
              <a:srgbClr val="0042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7" name="矩形 6"/>
          <p:cNvSpPr/>
          <p:nvPr/>
        </p:nvSpPr>
        <p:spPr>
          <a:xfrm>
            <a:off x="8525510" y="1756410"/>
            <a:ext cx="3190240" cy="3314700"/>
          </a:xfrm>
          <a:prstGeom prst="rect">
            <a:avLst/>
          </a:prstGeom>
          <a:solidFill>
            <a:srgbClr val="FFFFFF">
              <a:alpha val="44000"/>
            </a:srgbClr>
          </a:solidFill>
          <a:ln>
            <a:solidFill>
              <a:srgbClr val="3368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2" name="矩形 11"/>
          <p:cNvSpPr/>
          <p:nvPr/>
        </p:nvSpPr>
        <p:spPr>
          <a:xfrm>
            <a:off x="5779770" y="1755775"/>
            <a:ext cx="2678430" cy="3314700"/>
          </a:xfrm>
          <a:prstGeom prst="rect">
            <a:avLst/>
          </a:prstGeom>
          <a:solidFill>
            <a:srgbClr val="E6E6E6">
              <a:alpha val="43913"/>
            </a:srgbClr>
          </a:solidFill>
          <a:ln>
            <a:solidFill>
              <a:srgbClr val="0042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4" name="矩形 3"/>
          <p:cNvSpPr/>
          <p:nvPr/>
        </p:nvSpPr>
        <p:spPr>
          <a:xfrm>
            <a:off x="2904490" y="1755775"/>
            <a:ext cx="2781935" cy="3314700"/>
          </a:xfrm>
          <a:prstGeom prst="rect">
            <a:avLst/>
          </a:prstGeom>
          <a:solidFill>
            <a:srgbClr val="FFFFFF">
              <a:alpha val="44000"/>
            </a:srgbClr>
          </a:solidFill>
          <a:ln>
            <a:solidFill>
              <a:srgbClr val="668E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3" name="矩形 2"/>
          <p:cNvSpPr/>
          <p:nvPr/>
        </p:nvSpPr>
        <p:spPr>
          <a:xfrm>
            <a:off x="340360" y="1755775"/>
            <a:ext cx="2462530" cy="3315335"/>
          </a:xfrm>
          <a:prstGeom prst="rect">
            <a:avLst/>
          </a:prstGeom>
          <a:solidFill>
            <a:srgbClr val="E6E6E6">
              <a:alpha val="43913"/>
            </a:srgbClr>
          </a:solidFill>
          <a:ln>
            <a:solidFill>
              <a:srgbClr val="0042FF">
                <a:alpha val="33534"/>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61" name="任意多边形 60"/>
          <p:cNvSpPr/>
          <p:nvPr/>
        </p:nvSpPr>
        <p:spPr>
          <a:xfrm>
            <a:off x="355600" y="3585210"/>
            <a:ext cx="8780145" cy="429260"/>
          </a:xfrm>
          <a:custGeom>
            <a:avLst/>
            <a:gdLst/>
            <a:ahLst/>
            <a:cxnLst>
              <a:cxn ang="3">
                <a:pos x="hc" y="t"/>
              </a:cxn>
              <a:cxn ang="cd2">
                <a:pos x="l" y="vc"/>
              </a:cxn>
              <a:cxn ang="cd4">
                <a:pos x="hc" y="b"/>
              </a:cxn>
              <a:cxn ang="0">
                <a:pos x="r" y="vc"/>
              </a:cxn>
            </a:cxnLst>
            <a:rect l="l" t="t" r="r" b="b"/>
            <a:pathLst>
              <a:path w="13827" h="676">
                <a:moveTo>
                  <a:pt x="0" y="114"/>
                </a:moveTo>
                <a:lnTo>
                  <a:pt x="13455" y="114"/>
                </a:lnTo>
                <a:lnTo>
                  <a:pt x="13455" y="0"/>
                </a:lnTo>
                <a:lnTo>
                  <a:pt x="13827" y="338"/>
                </a:lnTo>
                <a:lnTo>
                  <a:pt x="13455" y="676"/>
                </a:lnTo>
                <a:lnTo>
                  <a:pt x="13455" y="562"/>
                </a:lnTo>
                <a:lnTo>
                  <a:pt x="0" y="562"/>
                </a:lnTo>
                <a:lnTo>
                  <a:pt x="0" y="114"/>
                </a:lnTo>
                <a:close/>
              </a:path>
            </a:pathLst>
          </a:custGeom>
          <a:gradFill>
            <a:gsLst>
              <a:gs pos="0">
                <a:srgbClr val="B3D4FE"/>
              </a:gs>
              <a:gs pos="100000">
                <a:srgbClr val="3368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业务流程架构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企业数字化转型实施流程</a:t>
            </a:r>
            <a:endParaRPr lang="zh-CN" altLang="en-US" sz="2500" dirty="0">
              <a:solidFill>
                <a:srgbClr val="383838"/>
              </a:solidFill>
              <a:effectLst/>
              <a:latin typeface="微软雅黑"/>
              <a:ea typeface="微软雅黑"/>
              <a:cs typeface="微软雅黑"/>
            </a:endParaRPr>
          </a:p>
        </p:txBody>
      </p:sp>
      <p:sp>
        <p:nvSpPr>
          <p:cNvPr id="76" name="任意多边形 75"/>
          <p:cNvSpPr/>
          <p:nvPr/>
        </p:nvSpPr>
        <p:spPr>
          <a:xfrm>
            <a:off x="355600" y="3021330"/>
            <a:ext cx="2917825" cy="645160"/>
          </a:xfrm>
          <a:custGeom>
            <a:avLst/>
            <a:gdLst/>
            <a:ahLst/>
            <a:cxnLst>
              <a:cxn ang="3">
                <a:pos x="hc" y="t"/>
              </a:cxn>
              <a:cxn ang="cd2">
                <a:pos x="l" y="vc"/>
              </a:cxn>
              <a:cxn ang="cd4">
                <a:pos x="hc" y="b"/>
              </a:cxn>
              <a:cxn ang="0">
                <a:pos x="r" y="vc"/>
              </a:cxn>
            </a:cxnLst>
            <a:rect l="l" t="t" r="r" b="b"/>
            <a:pathLst>
              <a:path w="4595" h="1016">
                <a:moveTo>
                  <a:pt x="0" y="0"/>
                </a:moveTo>
                <a:lnTo>
                  <a:pt x="3658" y="0"/>
                </a:lnTo>
                <a:lnTo>
                  <a:pt x="3658" y="1"/>
                </a:lnTo>
                <a:lnTo>
                  <a:pt x="3688" y="1"/>
                </a:lnTo>
                <a:lnTo>
                  <a:pt x="3703" y="0"/>
                </a:lnTo>
                <a:lnTo>
                  <a:pt x="3741" y="0"/>
                </a:lnTo>
                <a:cubicBezTo>
                  <a:pt x="3758" y="0"/>
                  <a:pt x="3786" y="4"/>
                  <a:pt x="3796" y="5"/>
                </a:cubicBezTo>
                <a:cubicBezTo>
                  <a:pt x="3800" y="6"/>
                  <a:pt x="3802" y="6"/>
                  <a:pt x="3802" y="6"/>
                </a:cubicBezTo>
                <a:cubicBezTo>
                  <a:pt x="4179" y="31"/>
                  <a:pt x="4598" y="519"/>
                  <a:pt x="4595" y="554"/>
                </a:cubicBezTo>
                <a:lnTo>
                  <a:pt x="4595" y="556"/>
                </a:lnTo>
                <a:lnTo>
                  <a:pt x="4595" y="559"/>
                </a:lnTo>
                <a:lnTo>
                  <a:pt x="4266" y="1016"/>
                </a:lnTo>
                <a:lnTo>
                  <a:pt x="3988" y="1016"/>
                </a:lnTo>
                <a:cubicBezTo>
                  <a:pt x="3953" y="892"/>
                  <a:pt x="3707" y="798"/>
                  <a:pt x="3671" y="800"/>
                </a:cubicBezTo>
                <a:lnTo>
                  <a:pt x="3669" y="800"/>
                </a:lnTo>
                <a:lnTo>
                  <a:pt x="3612" y="800"/>
                </a:lnTo>
                <a:lnTo>
                  <a:pt x="3612" y="792"/>
                </a:lnTo>
                <a:lnTo>
                  <a:pt x="0" y="792"/>
                </a:lnTo>
                <a:lnTo>
                  <a:pt x="0" y="0"/>
                </a:lnTo>
                <a:close/>
              </a:path>
            </a:pathLst>
          </a:custGeom>
          <a:gradFill>
            <a:gsLst>
              <a:gs pos="0">
                <a:srgbClr val="3368FF"/>
              </a:gs>
              <a:gs pos="75000">
                <a:srgbClr val="0042FF"/>
              </a:gs>
            </a:gsLst>
            <a:lin ang="5400000" scaled="0"/>
          </a:gradFill>
          <a:ln w="19050" cap="rnd">
            <a:solidFill>
              <a:srgbClr val="FFFFFF"/>
            </a:solidFill>
            <a:prstDash val="solid"/>
            <a:round/>
          </a:ln>
          <a:effectLst>
            <a:softEdge rad="19050"/>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7" name="任意多边形 76"/>
          <p:cNvSpPr/>
          <p:nvPr/>
        </p:nvSpPr>
        <p:spPr>
          <a:xfrm>
            <a:off x="5756910" y="3015615"/>
            <a:ext cx="2517775" cy="157480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3965" h="2480">
                <a:moveTo>
                  <a:pt x="2335" y="215"/>
                </a:moveTo>
                <a:cubicBezTo>
                  <a:pt x="2388" y="174"/>
                  <a:pt x="2489" y="122"/>
                  <a:pt x="2538" y="101"/>
                </a:cubicBezTo>
                <a:cubicBezTo>
                  <a:pt x="2641" y="44"/>
                  <a:pt x="2794" y="-3"/>
                  <a:pt x="2839" y="3"/>
                </a:cubicBezTo>
                <a:lnTo>
                  <a:pt x="2849" y="3"/>
                </a:lnTo>
                <a:lnTo>
                  <a:pt x="2858" y="4"/>
                </a:lnTo>
                <a:lnTo>
                  <a:pt x="2862" y="4"/>
                </a:lnTo>
                <a:cubicBezTo>
                  <a:pt x="2873" y="2"/>
                  <a:pt x="2906" y="0"/>
                  <a:pt x="2908" y="1"/>
                </a:cubicBezTo>
                <a:lnTo>
                  <a:pt x="2914" y="1"/>
                </a:lnTo>
                <a:lnTo>
                  <a:pt x="2921" y="1"/>
                </a:lnTo>
                <a:lnTo>
                  <a:pt x="2928" y="1"/>
                </a:lnTo>
                <a:lnTo>
                  <a:pt x="2941" y="1"/>
                </a:lnTo>
                <a:lnTo>
                  <a:pt x="2959" y="1"/>
                </a:lnTo>
                <a:lnTo>
                  <a:pt x="2977" y="2"/>
                </a:lnTo>
                <a:lnTo>
                  <a:pt x="2995" y="3"/>
                </a:lnTo>
                <a:lnTo>
                  <a:pt x="3016" y="2"/>
                </a:lnTo>
                <a:lnTo>
                  <a:pt x="3037" y="1"/>
                </a:lnTo>
                <a:lnTo>
                  <a:pt x="3058" y="1"/>
                </a:lnTo>
                <a:lnTo>
                  <a:pt x="3073" y="0"/>
                </a:lnTo>
                <a:lnTo>
                  <a:pt x="3089" y="0"/>
                </a:lnTo>
                <a:lnTo>
                  <a:pt x="3094" y="0"/>
                </a:lnTo>
                <a:lnTo>
                  <a:pt x="3099" y="0"/>
                </a:lnTo>
                <a:lnTo>
                  <a:pt x="3105" y="0"/>
                </a:lnTo>
                <a:cubicBezTo>
                  <a:pt x="3125" y="-1"/>
                  <a:pt x="3164" y="4"/>
                  <a:pt x="3172" y="6"/>
                </a:cubicBezTo>
                <a:cubicBezTo>
                  <a:pt x="3533" y="39"/>
                  <a:pt x="3925" y="455"/>
                  <a:pt x="3965" y="559"/>
                </a:cubicBezTo>
                <a:lnTo>
                  <a:pt x="3636" y="1016"/>
                </a:lnTo>
                <a:lnTo>
                  <a:pt x="3358" y="1016"/>
                </a:lnTo>
                <a:cubicBezTo>
                  <a:pt x="3315" y="892"/>
                  <a:pt x="3094" y="798"/>
                  <a:pt x="3028" y="800"/>
                </a:cubicBezTo>
                <a:lnTo>
                  <a:pt x="3025" y="800"/>
                </a:lnTo>
                <a:lnTo>
                  <a:pt x="3005" y="800"/>
                </a:lnTo>
                <a:lnTo>
                  <a:pt x="2999" y="800"/>
                </a:lnTo>
                <a:lnTo>
                  <a:pt x="2993" y="800"/>
                </a:lnTo>
                <a:cubicBezTo>
                  <a:pt x="2979" y="800"/>
                  <a:pt x="2958" y="800"/>
                  <a:pt x="2956" y="800"/>
                </a:cubicBezTo>
                <a:cubicBezTo>
                  <a:pt x="2804" y="799"/>
                  <a:pt x="2637" y="972"/>
                  <a:pt x="2627" y="1016"/>
                </a:cubicBezTo>
                <a:lnTo>
                  <a:pt x="2621" y="1016"/>
                </a:lnTo>
                <a:lnTo>
                  <a:pt x="2034" y="1833"/>
                </a:lnTo>
                <a:cubicBezTo>
                  <a:pt x="1835" y="2204"/>
                  <a:pt x="1302" y="2485"/>
                  <a:pt x="1126" y="2480"/>
                </a:cubicBezTo>
                <a:lnTo>
                  <a:pt x="1117" y="2480"/>
                </a:lnTo>
                <a:lnTo>
                  <a:pt x="1107" y="2480"/>
                </a:lnTo>
                <a:lnTo>
                  <a:pt x="1092" y="2479"/>
                </a:lnTo>
                <a:lnTo>
                  <a:pt x="1034" y="2479"/>
                </a:lnTo>
                <a:lnTo>
                  <a:pt x="1009" y="2478"/>
                </a:lnTo>
                <a:lnTo>
                  <a:pt x="949" y="2478"/>
                </a:lnTo>
                <a:lnTo>
                  <a:pt x="919" y="2479"/>
                </a:lnTo>
                <a:lnTo>
                  <a:pt x="900" y="2480"/>
                </a:lnTo>
                <a:lnTo>
                  <a:pt x="864" y="2480"/>
                </a:lnTo>
                <a:lnTo>
                  <a:pt x="846" y="2480"/>
                </a:lnTo>
                <a:cubicBezTo>
                  <a:pt x="470" y="2484"/>
                  <a:pt x="43" y="2035"/>
                  <a:pt x="0" y="1925"/>
                </a:cubicBezTo>
                <a:lnTo>
                  <a:pt x="329" y="1468"/>
                </a:lnTo>
                <a:lnTo>
                  <a:pt x="607" y="1468"/>
                </a:lnTo>
                <a:cubicBezTo>
                  <a:pt x="650" y="1592"/>
                  <a:pt x="871" y="1686"/>
                  <a:pt x="937" y="1684"/>
                </a:cubicBezTo>
                <a:lnTo>
                  <a:pt x="944" y="1684"/>
                </a:lnTo>
                <a:lnTo>
                  <a:pt x="1002" y="1684"/>
                </a:lnTo>
                <a:lnTo>
                  <a:pt x="1009" y="1684"/>
                </a:lnTo>
                <a:cubicBezTo>
                  <a:pt x="1161" y="1685"/>
                  <a:pt x="1328" y="1512"/>
                  <a:pt x="1338" y="1468"/>
                </a:cubicBezTo>
                <a:lnTo>
                  <a:pt x="1344" y="1468"/>
                </a:lnTo>
                <a:lnTo>
                  <a:pt x="1935" y="645"/>
                </a:lnTo>
                <a:cubicBezTo>
                  <a:pt x="2016" y="482"/>
                  <a:pt x="2233" y="293"/>
                  <a:pt x="2350" y="215"/>
                </a:cubicBezTo>
                <a:lnTo>
                  <a:pt x="2335" y="215"/>
                </a:lnTo>
                <a:close/>
              </a:path>
            </a:pathLst>
          </a:custGeom>
          <a:gradFill>
            <a:gsLst>
              <a:gs pos="0">
                <a:srgbClr val="3368FF"/>
              </a:gs>
              <a:gs pos="77000">
                <a:srgbClr val="0042FF"/>
              </a:gs>
            </a:gsLst>
            <a:lin ang="5400000" scaled="0"/>
          </a:gradFill>
          <a:ln w="19050" cap="rnd">
            <a:solidFill>
              <a:srgbClr val="FFFFFF"/>
            </a:solidFill>
            <a:prstDash val="solid"/>
            <a:round/>
          </a:ln>
          <a:effectLst>
            <a:softEdge rad="1905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8" name="任意多边形 77"/>
          <p:cNvSpPr/>
          <p:nvPr/>
        </p:nvSpPr>
        <p:spPr>
          <a:xfrm>
            <a:off x="7005320" y="3015615"/>
            <a:ext cx="2517775" cy="157480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3965" h="2480">
                <a:moveTo>
                  <a:pt x="2335" y="215"/>
                </a:moveTo>
                <a:cubicBezTo>
                  <a:pt x="2388" y="174"/>
                  <a:pt x="2489" y="122"/>
                  <a:pt x="2538" y="101"/>
                </a:cubicBezTo>
                <a:cubicBezTo>
                  <a:pt x="2641" y="44"/>
                  <a:pt x="2794" y="-3"/>
                  <a:pt x="2839" y="3"/>
                </a:cubicBezTo>
                <a:lnTo>
                  <a:pt x="2849" y="3"/>
                </a:lnTo>
                <a:lnTo>
                  <a:pt x="2858" y="4"/>
                </a:lnTo>
                <a:lnTo>
                  <a:pt x="2862" y="4"/>
                </a:lnTo>
                <a:cubicBezTo>
                  <a:pt x="2873" y="2"/>
                  <a:pt x="2906" y="0"/>
                  <a:pt x="2908" y="1"/>
                </a:cubicBezTo>
                <a:lnTo>
                  <a:pt x="2914" y="1"/>
                </a:lnTo>
                <a:lnTo>
                  <a:pt x="2921" y="1"/>
                </a:lnTo>
                <a:lnTo>
                  <a:pt x="2928" y="1"/>
                </a:lnTo>
                <a:lnTo>
                  <a:pt x="2941" y="1"/>
                </a:lnTo>
                <a:lnTo>
                  <a:pt x="2959" y="1"/>
                </a:lnTo>
                <a:lnTo>
                  <a:pt x="2977" y="2"/>
                </a:lnTo>
                <a:lnTo>
                  <a:pt x="2995" y="3"/>
                </a:lnTo>
                <a:lnTo>
                  <a:pt x="3016" y="2"/>
                </a:lnTo>
                <a:lnTo>
                  <a:pt x="3037" y="1"/>
                </a:lnTo>
                <a:lnTo>
                  <a:pt x="3058" y="1"/>
                </a:lnTo>
                <a:lnTo>
                  <a:pt x="3073" y="0"/>
                </a:lnTo>
                <a:lnTo>
                  <a:pt x="3089" y="0"/>
                </a:lnTo>
                <a:lnTo>
                  <a:pt x="3094" y="0"/>
                </a:lnTo>
                <a:lnTo>
                  <a:pt x="3099" y="0"/>
                </a:lnTo>
                <a:lnTo>
                  <a:pt x="3105" y="0"/>
                </a:lnTo>
                <a:cubicBezTo>
                  <a:pt x="3125" y="-1"/>
                  <a:pt x="3164" y="4"/>
                  <a:pt x="3172" y="6"/>
                </a:cubicBezTo>
                <a:cubicBezTo>
                  <a:pt x="3533" y="39"/>
                  <a:pt x="3925" y="455"/>
                  <a:pt x="3965" y="559"/>
                </a:cubicBezTo>
                <a:lnTo>
                  <a:pt x="3636" y="1016"/>
                </a:lnTo>
                <a:lnTo>
                  <a:pt x="3358" y="1016"/>
                </a:lnTo>
                <a:cubicBezTo>
                  <a:pt x="3315" y="892"/>
                  <a:pt x="3094" y="798"/>
                  <a:pt x="3028" y="800"/>
                </a:cubicBezTo>
                <a:lnTo>
                  <a:pt x="3025" y="800"/>
                </a:lnTo>
                <a:lnTo>
                  <a:pt x="3005" y="800"/>
                </a:lnTo>
                <a:lnTo>
                  <a:pt x="2999" y="800"/>
                </a:lnTo>
                <a:lnTo>
                  <a:pt x="2993" y="800"/>
                </a:lnTo>
                <a:cubicBezTo>
                  <a:pt x="2979" y="800"/>
                  <a:pt x="2958" y="800"/>
                  <a:pt x="2956" y="800"/>
                </a:cubicBezTo>
                <a:cubicBezTo>
                  <a:pt x="2804" y="799"/>
                  <a:pt x="2637" y="972"/>
                  <a:pt x="2627" y="1016"/>
                </a:cubicBezTo>
                <a:lnTo>
                  <a:pt x="2621" y="1016"/>
                </a:lnTo>
                <a:lnTo>
                  <a:pt x="2034" y="1833"/>
                </a:lnTo>
                <a:cubicBezTo>
                  <a:pt x="1835" y="2204"/>
                  <a:pt x="1302" y="2485"/>
                  <a:pt x="1126" y="2480"/>
                </a:cubicBezTo>
                <a:lnTo>
                  <a:pt x="1117" y="2480"/>
                </a:lnTo>
                <a:lnTo>
                  <a:pt x="1107" y="2480"/>
                </a:lnTo>
                <a:lnTo>
                  <a:pt x="1092" y="2479"/>
                </a:lnTo>
                <a:lnTo>
                  <a:pt x="1034" y="2479"/>
                </a:lnTo>
                <a:lnTo>
                  <a:pt x="1009" y="2478"/>
                </a:lnTo>
                <a:lnTo>
                  <a:pt x="949" y="2478"/>
                </a:lnTo>
                <a:lnTo>
                  <a:pt x="919" y="2479"/>
                </a:lnTo>
                <a:lnTo>
                  <a:pt x="900" y="2480"/>
                </a:lnTo>
                <a:lnTo>
                  <a:pt x="864" y="2480"/>
                </a:lnTo>
                <a:lnTo>
                  <a:pt x="846" y="2480"/>
                </a:lnTo>
                <a:cubicBezTo>
                  <a:pt x="470" y="2484"/>
                  <a:pt x="43" y="2035"/>
                  <a:pt x="0" y="1925"/>
                </a:cubicBezTo>
                <a:lnTo>
                  <a:pt x="329" y="1468"/>
                </a:lnTo>
                <a:lnTo>
                  <a:pt x="607" y="1468"/>
                </a:lnTo>
                <a:cubicBezTo>
                  <a:pt x="650" y="1592"/>
                  <a:pt x="871" y="1686"/>
                  <a:pt x="937" y="1684"/>
                </a:cubicBezTo>
                <a:lnTo>
                  <a:pt x="944" y="1684"/>
                </a:lnTo>
                <a:lnTo>
                  <a:pt x="1002" y="1684"/>
                </a:lnTo>
                <a:lnTo>
                  <a:pt x="1009" y="1684"/>
                </a:lnTo>
                <a:cubicBezTo>
                  <a:pt x="1161" y="1685"/>
                  <a:pt x="1328" y="1512"/>
                  <a:pt x="1338" y="1468"/>
                </a:cubicBezTo>
                <a:lnTo>
                  <a:pt x="1344" y="1468"/>
                </a:lnTo>
                <a:lnTo>
                  <a:pt x="1935" y="645"/>
                </a:lnTo>
                <a:cubicBezTo>
                  <a:pt x="2016" y="482"/>
                  <a:pt x="2233" y="293"/>
                  <a:pt x="2350" y="215"/>
                </a:cubicBezTo>
                <a:lnTo>
                  <a:pt x="2335" y="215"/>
                </a:lnTo>
                <a:close/>
              </a:path>
            </a:pathLst>
          </a:custGeom>
          <a:gradFill>
            <a:gsLst>
              <a:gs pos="0">
                <a:srgbClr val="668EFF"/>
              </a:gs>
              <a:gs pos="100000">
                <a:srgbClr val="3368FF"/>
              </a:gs>
            </a:gsLst>
            <a:lin ang="5400000" scaled="0"/>
          </a:gradFill>
          <a:ln w="19050" cap="rnd">
            <a:solidFill>
              <a:srgbClr val="FFFFFF"/>
            </a:solidFill>
            <a:prstDash val="solid"/>
            <a:round/>
          </a:ln>
          <a:effectLst>
            <a:softEdge rad="1905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9" name="任意多边形 78"/>
          <p:cNvSpPr/>
          <p:nvPr/>
        </p:nvSpPr>
        <p:spPr>
          <a:xfrm>
            <a:off x="4504690" y="3015615"/>
            <a:ext cx="2517775" cy="157480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3965" h="2480">
                <a:moveTo>
                  <a:pt x="2335" y="215"/>
                </a:moveTo>
                <a:cubicBezTo>
                  <a:pt x="2388" y="174"/>
                  <a:pt x="2489" y="122"/>
                  <a:pt x="2538" y="101"/>
                </a:cubicBezTo>
                <a:cubicBezTo>
                  <a:pt x="2641" y="44"/>
                  <a:pt x="2794" y="-3"/>
                  <a:pt x="2839" y="3"/>
                </a:cubicBezTo>
                <a:lnTo>
                  <a:pt x="2849" y="3"/>
                </a:lnTo>
                <a:lnTo>
                  <a:pt x="2858" y="4"/>
                </a:lnTo>
                <a:lnTo>
                  <a:pt x="2862" y="4"/>
                </a:lnTo>
                <a:cubicBezTo>
                  <a:pt x="2873" y="2"/>
                  <a:pt x="2906" y="0"/>
                  <a:pt x="2908" y="1"/>
                </a:cubicBezTo>
                <a:lnTo>
                  <a:pt x="2914" y="1"/>
                </a:lnTo>
                <a:lnTo>
                  <a:pt x="2921" y="1"/>
                </a:lnTo>
                <a:lnTo>
                  <a:pt x="2928" y="1"/>
                </a:lnTo>
                <a:lnTo>
                  <a:pt x="2941" y="1"/>
                </a:lnTo>
                <a:lnTo>
                  <a:pt x="2959" y="1"/>
                </a:lnTo>
                <a:lnTo>
                  <a:pt x="2977" y="2"/>
                </a:lnTo>
                <a:lnTo>
                  <a:pt x="2995" y="3"/>
                </a:lnTo>
                <a:lnTo>
                  <a:pt x="3016" y="2"/>
                </a:lnTo>
                <a:lnTo>
                  <a:pt x="3037" y="1"/>
                </a:lnTo>
                <a:lnTo>
                  <a:pt x="3058" y="1"/>
                </a:lnTo>
                <a:lnTo>
                  <a:pt x="3073" y="0"/>
                </a:lnTo>
                <a:lnTo>
                  <a:pt x="3089" y="0"/>
                </a:lnTo>
                <a:lnTo>
                  <a:pt x="3094" y="0"/>
                </a:lnTo>
                <a:lnTo>
                  <a:pt x="3099" y="0"/>
                </a:lnTo>
                <a:lnTo>
                  <a:pt x="3105" y="0"/>
                </a:lnTo>
                <a:cubicBezTo>
                  <a:pt x="3125" y="-1"/>
                  <a:pt x="3164" y="4"/>
                  <a:pt x="3172" y="6"/>
                </a:cubicBezTo>
                <a:cubicBezTo>
                  <a:pt x="3533" y="39"/>
                  <a:pt x="3925" y="455"/>
                  <a:pt x="3965" y="559"/>
                </a:cubicBezTo>
                <a:lnTo>
                  <a:pt x="3636" y="1016"/>
                </a:lnTo>
                <a:lnTo>
                  <a:pt x="3358" y="1016"/>
                </a:lnTo>
                <a:cubicBezTo>
                  <a:pt x="3315" y="892"/>
                  <a:pt x="3094" y="798"/>
                  <a:pt x="3028" y="800"/>
                </a:cubicBezTo>
                <a:lnTo>
                  <a:pt x="3025" y="800"/>
                </a:lnTo>
                <a:lnTo>
                  <a:pt x="3005" y="800"/>
                </a:lnTo>
                <a:lnTo>
                  <a:pt x="2999" y="800"/>
                </a:lnTo>
                <a:lnTo>
                  <a:pt x="2993" y="800"/>
                </a:lnTo>
                <a:cubicBezTo>
                  <a:pt x="2979" y="800"/>
                  <a:pt x="2958" y="800"/>
                  <a:pt x="2956" y="800"/>
                </a:cubicBezTo>
                <a:cubicBezTo>
                  <a:pt x="2804" y="799"/>
                  <a:pt x="2637" y="972"/>
                  <a:pt x="2627" y="1016"/>
                </a:cubicBezTo>
                <a:lnTo>
                  <a:pt x="2621" y="1016"/>
                </a:lnTo>
                <a:lnTo>
                  <a:pt x="2034" y="1833"/>
                </a:lnTo>
                <a:cubicBezTo>
                  <a:pt x="1835" y="2204"/>
                  <a:pt x="1302" y="2485"/>
                  <a:pt x="1126" y="2480"/>
                </a:cubicBezTo>
                <a:lnTo>
                  <a:pt x="1117" y="2480"/>
                </a:lnTo>
                <a:lnTo>
                  <a:pt x="1107" y="2480"/>
                </a:lnTo>
                <a:lnTo>
                  <a:pt x="1092" y="2479"/>
                </a:lnTo>
                <a:lnTo>
                  <a:pt x="1034" y="2479"/>
                </a:lnTo>
                <a:lnTo>
                  <a:pt x="1009" y="2478"/>
                </a:lnTo>
                <a:lnTo>
                  <a:pt x="949" y="2478"/>
                </a:lnTo>
                <a:lnTo>
                  <a:pt x="919" y="2479"/>
                </a:lnTo>
                <a:lnTo>
                  <a:pt x="900" y="2480"/>
                </a:lnTo>
                <a:lnTo>
                  <a:pt x="864" y="2480"/>
                </a:lnTo>
                <a:lnTo>
                  <a:pt x="846" y="2480"/>
                </a:lnTo>
                <a:cubicBezTo>
                  <a:pt x="470" y="2484"/>
                  <a:pt x="43" y="2035"/>
                  <a:pt x="0" y="1925"/>
                </a:cubicBezTo>
                <a:lnTo>
                  <a:pt x="329" y="1468"/>
                </a:lnTo>
                <a:lnTo>
                  <a:pt x="607" y="1468"/>
                </a:lnTo>
                <a:cubicBezTo>
                  <a:pt x="650" y="1592"/>
                  <a:pt x="871" y="1686"/>
                  <a:pt x="937" y="1684"/>
                </a:cubicBezTo>
                <a:lnTo>
                  <a:pt x="944" y="1684"/>
                </a:lnTo>
                <a:lnTo>
                  <a:pt x="1002" y="1684"/>
                </a:lnTo>
                <a:lnTo>
                  <a:pt x="1009" y="1684"/>
                </a:lnTo>
                <a:cubicBezTo>
                  <a:pt x="1161" y="1685"/>
                  <a:pt x="1328" y="1512"/>
                  <a:pt x="1338" y="1468"/>
                </a:cubicBezTo>
                <a:lnTo>
                  <a:pt x="1344" y="1468"/>
                </a:lnTo>
                <a:lnTo>
                  <a:pt x="1935" y="645"/>
                </a:lnTo>
                <a:cubicBezTo>
                  <a:pt x="2016" y="482"/>
                  <a:pt x="2233" y="293"/>
                  <a:pt x="2350" y="215"/>
                </a:cubicBezTo>
                <a:lnTo>
                  <a:pt x="2335" y="215"/>
                </a:lnTo>
                <a:close/>
              </a:path>
            </a:pathLst>
          </a:custGeom>
          <a:gradFill>
            <a:gsLst>
              <a:gs pos="0">
                <a:srgbClr val="668EFF"/>
              </a:gs>
              <a:gs pos="100000">
                <a:srgbClr val="3368FF"/>
              </a:gs>
            </a:gsLst>
            <a:lin ang="5400000" scaled="0"/>
          </a:gradFill>
          <a:ln w="19050" cap="rnd">
            <a:solidFill>
              <a:srgbClr val="FFFFFF"/>
            </a:solidFill>
            <a:prstDash val="solid"/>
            <a:round/>
          </a:ln>
          <a:effectLst>
            <a:softEdge rad="1905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0" name="任意多边形 79"/>
          <p:cNvSpPr/>
          <p:nvPr/>
        </p:nvSpPr>
        <p:spPr>
          <a:xfrm>
            <a:off x="3256280" y="3015615"/>
            <a:ext cx="2517775" cy="157480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3965" h="2480">
                <a:moveTo>
                  <a:pt x="2335" y="215"/>
                </a:moveTo>
                <a:cubicBezTo>
                  <a:pt x="2388" y="174"/>
                  <a:pt x="2489" y="122"/>
                  <a:pt x="2538" y="101"/>
                </a:cubicBezTo>
                <a:cubicBezTo>
                  <a:pt x="2641" y="44"/>
                  <a:pt x="2794" y="-3"/>
                  <a:pt x="2839" y="3"/>
                </a:cubicBezTo>
                <a:lnTo>
                  <a:pt x="2849" y="3"/>
                </a:lnTo>
                <a:lnTo>
                  <a:pt x="2858" y="4"/>
                </a:lnTo>
                <a:lnTo>
                  <a:pt x="2862" y="4"/>
                </a:lnTo>
                <a:cubicBezTo>
                  <a:pt x="2873" y="2"/>
                  <a:pt x="2906" y="0"/>
                  <a:pt x="2908" y="1"/>
                </a:cubicBezTo>
                <a:lnTo>
                  <a:pt x="2914" y="1"/>
                </a:lnTo>
                <a:lnTo>
                  <a:pt x="2921" y="1"/>
                </a:lnTo>
                <a:lnTo>
                  <a:pt x="2928" y="1"/>
                </a:lnTo>
                <a:lnTo>
                  <a:pt x="2941" y="1"/>
                </a:lnTo>
                <a:lnTo>
                  <a:pt x="2959" y="1"/>
                </a:lnTo>
                <a:lnTo>
                  <a:pt x="2977" y="2"/>
                </a:lnTo>
                <a:lnTo>
                  <a:pt x="2995" y="3"/>
                </a:lnTo>
                <a:lnTo>
                  <a:pt x="3016" y="2"/>
                </a:lnTo>
                <a:lnTo>
                  <a:pt x="3037" y="1"/>
                </a:lnTo>
                <a:lnTo>
                  <a:pt x="3058" y="1"/>
                </a:lnTo>
                <a:lnTo>
                  <a:pt x="3073" y="0"/>
                </a:lnTo>
                <a:lnTo>
                  <a:pt x="3089" y="0"/>
                </a:lnTo>
                <a:lnTo>
                  <a:pt x="3094" y="0"/>
                </a:lnTo>
                <a:lnTo>
                  <a:pt x="3099" y="0"/>
                </a:lnTo>
                <a:lnTo>
                  <a:pt x="3105" y="0"/>
                </a:lnTo>
                <a:cubicBezTo>
                  <a:pt x="3125" y="-1"/>
                  <a:pt x="3164" y="4"/>
                  <a:pt x="3172" y="6"/>
                </a:cubicBezTo>
                <a:cubicBezTo>
                  <a:pt x="3533" y="39"/>
                  <a:pt x="3925" y="455"/>
                  <a:pt x="3965" y="559"/>
                </a:cubicBezTo>
                <a:lnTo>
                  <a:pt x="3636" y="1016"/>
                </a:lnTo>
                <a:lnTo>
                  <a:pt x="3358" y="1016"/>
                </a:lnTo>
                <a:cubicBezTo>
                  <a:pt x="3315" y="892"/>
                  <a:pt x="3094" y="798"/>
                  <a:pt x="3028" y="800"/>
                </a:cubicBezTo>
                <a:lnTo>
                  <a:pt x="3025" y="800"/>
                </a:lnTo>
                <a:lnTo>
                  <a:pt x="3005" y="800"/>
                </a:lnTo>
                <a:lnTo>
                  <a:pt x="2999" y="800"/>
                </a:lnTo>
                <a:lnTo>
                  <a:pt x="2993" y="800"/>
                </a:lnTo>
                <a:cubicBezTo>
                  <a:pt x="2979" y="800"/>
                  <a:pt x="2958" y="800"/>
                  <a:pt x="2956" y="800"/>
                </a:cubicBezTo>
                <a:cubicBezTo>
                  <a:pt x="2804" y="799"/>
                  <a:pt x="2637" y="972"/>
                  <a:pt x="2627" y="1016"/>
                </a:cubicBezTo>
                <a:lnTo>
                  <a:pt x="2621" y="1016"/>
                </a:lnTo>
                <a:lnTo>
                  <a:pt x="2034" y="1833"/>
                </a:lnTo>
                <a:cubicBezTo>
                  <a:pt x="1835" y="2204"/>
                  <a:pt x="1302" y="2485"/>
                  <a:pt x="1126" y="2480"/>
                </a:cubicBezTo>
                <a:lnTo>
                  <a:pt x="1117" y="2480"/>
                </a:lnTo>
                <a:lnTo>
                  <a:pt x="1107" y="2480"/>
                </a:lnTo>
                <a:lnTo>
                  <a:pt x="1092" y="2479"/>
                </a:lnTo>
                <a:lnTo>
                  <a:pt x="1034" y="2479"/>
                </a:lnTo>
                <a:lnTo>
                  <a:pt x="1009" y="2478"/>
                </a:lnTo>
                <a:lnTo>
                  <a:pt x="949" y="2478"/>
                </a:lnTo>
                <a:lnTo>
                  <a:pt x="919" y="2479"/>
                </a:lnTo>
                <a:lnTo>
                  <a:pt x="900" y="2480"/>
                </a:lnTo>
                <a:lnTo>
                  <a:pt x="864" y="2480"/>
                </a:lnTo>
                <a:lnTo>
                  <a:pt x="846" y="2480"/>
                </a:lnTo>
                <a:cubicBezTo>
                  <a:pt x="470" y="2484"/>
                  <a:pt x="43" y="2035"/>
                  <a:pt x="0" y="1925"/>
                </a:cubicBezTo>
                <a:lnTo>
                  <a:pt x="329" y="1468"/>
                </a:lnTo>
                <a:lnTo>
                  <a:pt x="607" y="1468"/>
                </a:lnTo>
                <a:cubicBezTo>
                  <a:pt x="650" y="1592"/>
                  <a:pt x="871" y="1686"/>
                  <a:pt x="937" y="1684"/>
                </a:cubicBezTo>
                <a:lnTo>
                  <a:pt x="944" y="1684"/>
                </a:lnTo>
                <a:lnTo>
                  <a:pt x="1002" y="1684"/>
                </a:lnTo>
                <a:lnTo>
                  <a:pt x="1009" y="1684"/>
                </a:lnTo>
                <a:cubicBezTo>
                  <a:pt x="1161" y="1685"/>
                  <a:pt x="1328" y="1512"/>
                  <a:pt x="1338" y="1468"/>
                </a:cubicBezTo>
                <a:lnTo>
                  <a:pt x="1344" y="1468"/>
                </a:lnTo>
                <a:lnTo>
                  <a:pt x="1935" y="645"/>
                </a:lnTo>
                <a:cubicBezTo>
                  <a:pt x="2016" y="482"/>
                  <a:pt x="2233" y="293"/>
                  <a:pt x="2350" y="215"/>
                </a:cubicBezTo>
                <a:lnTo>
                  <a:pt x="2335" y="215"/>
                </a:lnTo>
                <a:close/>
              </a:path>
            </a:pathLst>
          </a:custGeom>
          <a:gradFill>
            <a:gsLst>
              <a:gs pos="0">
                <a:srgbClr val="3368FF"/>
              </a:gs>
              <a:gs pos="72000">
                <a:srgbClr val="0042FF"/>
              </a:gs>
            </a:gsLst>
            <a:lin ang="5400000" scaled="0"/>
          </a:gradFill>
          <a:ln w="19050" cap="rnd">
            <a:solidFill>
              <a:srgbClr val="FFFFFF"/>
            </a:solidFill>
            <a:prstDash val="solid"/>
            <a:round/>
          </a:ln>
          <a:effectLst>
            <a:softEdge rad="19050"/>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1" name="任意多边形 80"/>
          <p:cNvSpPr/>
          <p:nvPr/>
        </p:nvSpPr>
        <p:spPr>
          <a:xfrm>
            <a:off x="355600" y="3015615"/>
            <a:ext cx="4166235" cy="157418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6561" h="2479">
                <a:moveTo>
                  <a:pt x="4931" y="215"/>
                </a:moveTo>
                <a:cubicBezTo>
                  <a:pt x="4982" y="174"/>
                  <a:pt x="5109" y="111"/>
                  <a:pt x="5134" y="101"/>
                </a:cubicBezTo>
                <a:cubicBezTo>
                  <a:pt x="5226" y="47"/>
                  <a:pt x="5387" y="2"/>
                  <a:pt x="5419" y="3"/>
                </a:cubicBezTo>
                <a:lnTo>
                  <a:pt x="5421" y="3"/>
                </a:lnTo>
                <a:lnTo>
                  <a:pt x="5445" y="3"/>
                </a:lnTo>
                <a:lnTo>
                  <a:pt x="5454" y="4"/>
                </a:lnTo>
                <a:lnTo>
                  <a:pt x="5458" y="4"/>
                </a:lnTo>
                <a:cubicBezTo>
                  <a:pt x="5466" y="2"/>
                  <a:pt x="5496" y="1"/>
                  <a:pt x="5499" y="1"/>
                </a:cubicBezTo>
                <a:lnTo>
                  <a:pt x="5555" y="1"/>
                </a:lnTo>
                <a:lnTo>
                  <a:pt x="5591" y="3"/>
                </a:lnTo>
                <a:lnTo>
                  <a:pt x="5633" y="1"/>
                </a:lnTo>
                <a:lnTo>
                  <a:pt x="5654" y="1"/>
                </a:lnTo>
                <a:lnTo>
                  <a:pt x="5669" y="0"/>
                </a:lnTo>
                <a:lnTo>
                  <a:pt x="5707" y="0"/>
                </a:lnTo>
                <a:cubicBezTo>
                  <a:pt x="5728" y="0"/>
                  <a:pt x="5766" y="5"/>
                  <a:pt x="5768" y="6"/>
                </a:cubicBezTo>
                <a:cubicBezTo>
                  <a:pt x="6145" y="31"/>
                  <a:pt x="6563" y="515"/>
                  <a:pt x="6561" y="556"/>
                </a:cubicBezTo>
                <a:lnTo>
                  <a:pt x="6561" y="559"/>
                </a:lnTo>
                <a:lnTo>
                  <a:pt x="6232" y="1016"/>
                </a:lnTo>
                <a:lnTo>
                  <a:pt x="5954" y="1016"/>
                </a:lnTo>
                <a:cubicBezTo>
                  <a:pt x="5918" y="892"/>
                  <a:pt x="5675" y="798"/>
                  <a:pt x="5635" y="800"/>
                </a:cubicBezTo>
                <a:lnTo>
                  <a:pt x="5633" y="800"/>
                </a:lnTo>
                <a:lnTo>
                  <a:pt x="5544" y="800"/>
                </a:lnTo>
                <a:cubicBezTo>
                  <a:pt x="5390" y="801"/>
                  <a:pt x="5222" y="992"/>
                  <a:pt x="5223" y="1013"/>
                </a:cubicBezTo>
                <a:lnTo>
                  <a:pt x="5223" y="1015"/>
                </a:lnTo>
                <a:lnTo>
                  <a:pt x="5223" y="1016"/>
                </a:lnTo>
                <a:lnTo>
                  <a:pt x="5217" y="1016"/>
                </a:lnTo>
                <a:lnTo>
                  <a:pt x="4630" y="1832"/>
                </a:lnTo>
                <a:cubicBezTo>
                  <a:pt x="4450" y="2203"/>
                  <a:pt x="3859" y="2484"/>
                  <a:pt x="3751" y="2479"/>
                </a:cubicBezTo>
                <a:lnTo>
                  <a:pt x="3745" y="2479"/>
                </a:lnTo>
                <a:lnTo>
                  <a:pt x="0" y="2479"/>
                </a:lnTo>
                <a:lnTo>
                  <a:pt x="0" y="1686"/>
                </a:lnTo>
                <a:lnTo>
                  <a:pt x="3622" y="1686"/>
                </a:lnTo>
                <a:lnTo>
                  <a:pt x="3622" y="1683"/>
                </a:lnTo>
                <a:cubicBezTo>
                  <a:pt x="3768" y="1678"/>
                  <a:pt x="3937" y="1491"/>
                  <a:pt x="3934" y="1471"/>
                </a:cubicBezTo>
                <a:lnTo>
                  <a:pt x="3934" y="1469"/>
                </a:lnTo>
                <a:lnTo>
                  <a:pt x="3934" y="1467"/>
                </a:lnTo>
                <a:lnTo>
                  <a:pt x="3940" y="1467"/>
                </a:lnTo>
                <a:lnTo>
                  <a:pt x="4531" y="645"/>
                </a:lnTo>
                <a:cubicBezTo>
                  <a:pt x="4605" y="479"/>
                  <a:pt x="4883" y="252"/>
                  <a:pt x="4946" y="215"/>
                </a:cubicBezTo>
                <a:lnTo>
                  <a:pt x="4931" y="215"/>
                </a:lnTo>
                <a:close/>
              </a:path>
            </a:pathLst>
          </a:custGeom>
          <a:gradFill>
            <a:gsLst>
              <a:gs pos="0">
                <a:srgbClr val="668EFF"/>
              </a:gs>
              <a:gs pos="100000">
                <a:srgbClr val="3368FF"/>
              </a:gs>
            </a:gsLst>
            <a:lin ang="5400000" scaled="0"/>
          </a:gradFill>
          <a:ln w="19050" cap="rnd">
            <a:solidFill>
              <a:srgbClr val="FFFFFF"/>
            </a:solidFill>
            <a:prstDash val="solid"/>
            <a:round/>
          </a:ln>
          <a:effectLst>
            <a:softEdge rad="19050"/>
          </a:effec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4" name="文本框 83"/>
          <p:cNvSpPr txBox="1"/>
          <p:nvPr/>
        </p:nvSpPr>
        <p:spPr>
          <a:xfrm>
            <a:off x="355600" y="3121660"/>
            <a:ext cx="137731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管理需求</a:t>
            </a:r>
            <a:endParaRPr lang="zh-CN" altLang="en-US" sz="1400" b="1">
              <a:solidFill>
                <a:srgbClr val="FFFFFF"/>
              </a:solidFill>
              <a:latin typeface="微软雅黑"/>
              <a:ea typeface="微软雅黑"/>
              <a:cs typeface="微软雅黑"/>
            </a:endParaRPr>
          </a:p>
        </p:txBody>
      </p:sp>
      <p:sp>
        <p:nvSpPr>
          <p:cNvPr id="85" name="文本框 84"/>
          <p:cNvSpPr txBox="1"/>
          <p:nvPr/>
        </p:nvSpPr>
        <p:spPr>
          <a:xfrm>
            <a:off x="355600" y="4181475"/>
            <a:ext cx="137731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业务需求</a:t>
            </a:r>
            <a:endParaRPr lang="zh-CN" altLang="en-US" sz="1400" b="1">
              <a:solidFill>
                <a:srgbClr val="FFFFFF"/>
              </a:solidFill>
              <a:latin typeface="微软雅黑"/>
              <a:ea typeface="微软雅黑"/>
              <a:cs typeface="微软雅黑"/>
            </a:endParaRPr>
          </a:p>
        </p:txBody>
      </p:sp>
      <p:sp>
        <p:nvSpPr>
          <p:cNvPr id="86" name="文本框 85"/>
          <p:cNvSpPr txBox="1"/>
          <p:nvPr/>
        </p:nvSpPr>
        <p:spPr>
          <a:xfrm>
            <a:off x="527050" y="3638550"/>
            <a:ext cx="1034415" cy="306705"/>
          </a:xfrm>
          <a:prstGeom prst="rect">
            <a:avLst/>
          </a:prstGeom>
          <a:noFill/>
        </p:spPr>
        <p:txBody>
          <a:bodyPr wrap="square" rtlCol="0">
            <a:spAutoFit/>
          </a:bodyPr>
          <a:p>
            <a:pPr algn="ctr">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咨询</a:t>
            </a:r>
            <a:endParaRPr lang="zh-CN" altLang="en-US" sz="1400" b="1">
              <a:solidFill>
                <a:srgbClr val="383838"/>
              </a:solidFill>
              <a:latin typeface="微软雅黑"/>
              <a:ea typeface="微软雅黑"/>
              <a:cs typeface="微软雅黑"/>
            </a:endParaRPr>
          </a:p>
        </p:txBody>
      </p:sp>
      <p:sp>
        <p:nvSpPr>
          <p:cNvPr id="87" name="文本框 86"/>
          <p:cNvSpPr txBox="1"/>
          <p:nvPr/>
        </p:nvSpPr>
        <p:spPr>
          <a:xfrm>
            <a:off x="3487420" y="2921000"/>
            <a:ext cx="791210" cy="306705"/>
          </a:xfrm>
          <a:prstGeom prst="rect">
            <a:avLst/>
          </a:prstGeom>
          <a:noFill/>
        </p:spPr>
        <p:txBody>
          <a:bodyPr wrap="square" rtlCol="0">
            <a:spAutoFit/>
          </a:bodyPr>
          <a:p>
            <a:pPr algn="ctr">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产品</a:t>
            </a:r>
            <a:endParaRPr lang="zh-CN" altLang="en-US" sz="1400" b="1">
              <a:solidFill>
                <a:srgbClr val="383838"/>
              </a:solidFill>
              <a:latin typeface="微软雅黑"/>
              <a:ea typeface="微软雅黑"/>
              <a:cs typeface="微软雅黑"/>
            </a:endParaRPr>
          </a:p>
        </p:txBody>
      </p:sp>
      <p:sp>
        <p:nvSpPr>
          <p:cNvPr id="88" name="文本框 87"/>
          <p:cNvSpPr txBox="1"/>
          <p:nvPr/>
        </p:nvSpPr>
        <p:spPr>
          <a:xfrm>
            <a:off x="4726940" y="2921000"/>
            <a:ext cx="79121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财</a:t>
            </a:r>
            <a:endParaRPr lang="zh-CN" altLang="en-US" sz="1400" b="1">
              <a:solidFill>
                <a:srgbClr val="FFFFFF"/>
              </a:solidFill>
              <a:latin typeface="微软雅黑"/>
              <a:ea typeface="微软雅黑"/>
              <a:cs typeface="微软雅黑"/>
            </a:endParaRPr>
          </a:p>
        </p:txBody>
      </p:sp>
      <p:sp>
        <p:nvSpPr>
          <p:cNvPr id="89" name="文本框 88"/>
          <p:cNvSpPr txBox="1"/>
          <p:nvPr/>
        </p:nvSpPr>
        <p:spPr>
          <a:xfrm>
            <a:off x="6042660" y="2921000"/>
            <a:ext cx="791210" cy="306705"/>
          </a:xfrm>
          <a:prstGeom prst="rect">
            <a:avLst/>
          </a:prstGeom>
          <a:noFill/>
        </p:spPr>
        <p:txBody>
          <a:bodyPr wrap="square" rtlCol="0">
            <a:spAutoFit/>
          </a:bodyPr>
          <a:p>
            <a:pPr algn="ctr">
              <a:defRPr>
                <a:solidFill>
                  <a:srgbClr val="383838"/>
                </a:solidFill>
                <a:latin typeface="微软雅黑"/>
                <a:ea typeface="微软雅黑"/>
                <a:cs typeface="微软雅黑"/>
              </a:defRPr>
            </a:pPr>
            <a:r>
              <a:rPr lang="zh-CN" altLang="en-US" sz="1400" b="1">
                <a:solidFill>
                  <a:srgbClr val="383838"/>
                </a:solidFill>
                <a:latin typeface="微软雅黑"/>
                <a:ea typeface="微软雅黑"/>
                <a:cs typeface="微软雅黑"/>
              </a:rPr>
              <a:t>服务</a:t>
            </a:r>
            <a:endParaRPr lang="zh-CN" altLang="en-US" sz="1400" b="1">
              <a:solidFill>
                <a:srgbClr val="383838"/>
              </a:solidFill>
              <a:latin typeface="微软雅黑"/>
              <a:ea typeface="微软雅黑"/>
              <a:cs typeface="微软雅黑"/>
            </a:endParaRPr>
          </a:p>
        </p:txBody>
      </p:sp>
      <p:sp>
        <p:nvSpPr>
          <p:cNvPr id="90" name="文本框 89"/>
          <p:cNvSpPr txBox="1"/>
          <p:nvPr/>
        </p:nvSpPr>
        <p:spPr>
          <a:xfrm>
            <a:off x="7305040" y="2921000"/>
            <a:ext cx="79121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数据</a:t>
            </a:r>
            <a:endParaRPr lang="zh-CN" altLang="en-US" sz="1400" b="1">
              <a:solidFill>
                <a:srgbClr val="FFFFFF"/>
              </a:solidFill>
              <a:latin typeface="微软雅黑"/>
              <a:ea typeface="微软雅黑"/>
              <a:cs typeface="微软雅黑"/>
            </a:endParaRPr>
          </a:p>
        </p:txBody>
      </p:sp>
      <p:sp>
        <p:nvSpPr>
          <p:cNvPr id="97" name="文本框 96"/>
          <p:cNvSpPr txBox="1"/>
          <p:nvPr/>
        </p:nvSpPr>
        <p:spPr>
          <a:xfrm>
            <a:off x="3436620" y="4629150"/>
            <a:ext cx="79121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人</a:t>
            </a:r>
            <a:endParaRPr lang="zh-CN" altLang="en-US" sz="1400" b="1">
              <a:solidFill>
                <a:srgbClr val="383838"/>
              </a:solidFill>
              <a:latin typeface="微软雅黑"/>
              <a:ea typeface="微软雅黑"/>
              <a:cs typeface="微软雅黑"/>
            </a:endParaRPr>
          </a:p>
        </p:txBody>
      </p:sp>
      <p:sp>
        <p:nvSpPr>
          <p:cNvPr id="101" name="文本框 100"/>
          <p:cNvSpPr txBox="1"/>
          <p:nvPr/>
        </p:nvSpPr>
        <p:spPr>
          <a:xfrm>
            <a:off x="4676140" y="4629150"/>
            <a:ext cx="79121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客户</a:t>
            </a:r>
            <a:endParaRPr lang="zh-CN" altLang="en-US" sz="1400" b="1">
              <a:solidFill>
                <a:srgbClr val="383838"/>
              </a:solidFill>
              <a:latin typeface="微软雅黑"/>
              <a:ea typeface="微软雅黑"/>
              <a:cs typeface="微软雅黑"/>
            </a:endParaRPr>
          </a:p>
        </p:txBody>
      </p:sp>
      <p:sp>
        <p:nvSpPr>
          <p:cNvPr id="102" name="文本框 101"/>
          <p:cNvSpPr txBox="1"/>
          <p:nvPr/>
        </p:nvSpPr>
        <p:spPr>
          <a:xfrm>
            <a:off x="5991860" y="4629150"/>
            <a:ext cx="79121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物</a:t>
            </a:r>
            <a:endParaRPr lang="zh-CN" altLang="en-US" sz="1400" b="1">
              <a:solidFill>
                <a:srgbClr val="383838"/>
              </a:solidFill>
              <a:latin typeface="微软雅黑"/>
              <a:ea typeface="微软雅黑"/>
              <a:cs typeface="微软雅黑"/>
            </a:endParaRPr>
          </a:p>
        </p:txBody>
      </p:sp>
      <p:sp>
        <p:nvSpPr>
          <p:cNvPr id="103" name="文本框 102"/>
          <p:cNvSpPr txBox="1"/>
          <p:nvPr/>
        </p:nvSpPr>
        <p:spPr>
          <a:xfrm>
            <a:off x="7305040" y="4629150"/>
            <a:ext cx="79121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生产</a:t>
            </a:r>
            <a:endParaRPr lang="zh-CN" altLang="en-US" sz="1400" b="1">
              <a:solidFill>
                <a:srgbClr val="383838"/>
              </a:solidFill>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241" name="组合 240"/>
          <p:cNvGrpSpPr/>
          <p:nvPr/>
        </p:nvGrpSpPr>
        <p:grpSpPr>
          <a:xfrm>
            <a:off x="339725" y="6095365"/>
            <a:ext cx="8119110" cy="473075"/>
            <a:chOff x="768411" y="5334450"/>
            <a:chExt cx="10938754" cy="472995"/>
          </a:xfrm>
        </p:grpSpPr>
        <p:sp>
          <p:nvSpPr>
            <p:cNvPr id="242" name="梯形 241"/>
            <p:cNvSpPr/>
            <p:nvPr/>
          </p:nvSpPr>
          <p:spPr>
            <a:xfrm>
              <a:off x="768411" y="5334450"/>
              <a:ext cx="10932475" cy="133327"/>
            </a:xfrm>
            <a:prstGeom prst="trapezoid">
              <a:avLst>
                <a:gd name="adj" fmla="val 199129"/>
              </a:avLst>
            </a:prstGeom>
            <a:solidFill>
              <a:srgbClr val="3368FF">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243" name="矩形 242"/>
            <p:cNvSpPr/>
            <p:nvPr/>
          </p:nvSpPr>
          <p:spPr>
            <a:xfrm>
              <a:off x="768411" y="5467777"/>
              <a:ext cx="10938754" cy="339668"/>
            </a:xfrm>
            <a:prstGeom prst="rect">
              <a:avLst/>
            </a:prstGeom>
            <a:gradFill>
              <a:gsLst>
                <a:gs pos="100000">
                  <a:srgbClr val="3368FF"/>
                </a:gs>
                <a:gs pos="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r>
                <a:rPr kumimoji="1" lang="en-US" altLang="zh-CN">
                  <a:solidFill>
                    <a:srgbClr val="FFFFFF"/>
                  </a:solidFill>
                  <a:latin typeface="微软雅黑"/>
                  <a:ea typeface="微软雅黑"/>
                  <a:cs typeface="微软雅黑"/>
                </a:rPr>
                <a:t> </a:t>
              </a:r>
              <a:endParaRPr kumimoji="1" lang="en-US" altLang="zh-CN">
                <a:solidFill>
                  <a:srgbClr val="FFFFFF"/>
                </a:solidFill>
                <a:latin typeface="微软雅黑"/>
                <a:ea typeface="微软雅黑"/>
                <a:cs typeface="微软雅黑"/>
              </a:endParaRPr>
            </a:p>
          </p:txBody>
        </p:sp>
      </p:grpSp>
      <p:sp>
        <p:nvSpPr>
          <p:cNvPr id="244" name="文本框 243"/>
          <p:cNvSpPr txBox="1"/>
          <p:nvPr/>
        </p:nvSpPr>
        <p:spPr>
          <a:xfrm>
            <a:off x="2845435" y="6281420"/>
            <a:ext cx="2703195" cy="24574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1600" b="1" i="0" u="none" strike="noStrike" kern="1200" cap="none" spc="0" normalizeH="0" baseline="0" noProof="0" dirty="0">
                <a:ln>
                  <a:noFill/>
                </a:ln>
                <a:solidFill>
                  <a:srgbClr val="FFFFFF"/>
                </a:solidFill>
                <a:effectLst/>
                <a:uLnTx/>
                <a:uFillTx/>
                <a:latin typeface="微软雅黑"/>
                <a:ea typeface="微软雅黑"/>
                <a:cs typeface="微软雅黑"/>
              </a:rPr>
              <a:t>关键技术支撑</a:t>
            </a:r>
            <a:endParaRPr kumimoji="0" lang="zh-CN" sz="16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60" name="textbox 2070"/>
          <p:cNvSpPr/>
          <p:nvPr/>
        </p:nvSpPr>
        <p:spPr>
          <a:xfrm>
            <a:off x="301625" y="5808980"/>
            <a:ext cx="1698625" cy="245745"/>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sz="1600" kern="0" spc="140" dirty="0" err="1">
                <a:solidFill>
                  <a:srgbClr val="383838"/>
                </a:solidFill>
                <a:latin typeface="微软雅黑"/>
                <a:ea typeface="微软雅黑"/>
                <a:cs typeface="微软雅黑"/>
              </a:rPr>
              <a:t>物联网</a:t>
            </a:r>
            <a:endParaRPr lang="zh-CN" sz="1600" kern="0" spc="140" dirty="0" err="1">
              <a:solidFill>
                <a:srgbClr val="383838"/>
              </a:solidFill>
              <a:latin typeface="微软雅黑"/>
              <a:ea typeface="微软雅黑"/>
              <a:cs typeface="微软雅黑"/>
            </a:endParaRPr>
          </a:p>
        </p:txBody>
      </p:sp>
      <p:sp>
        <p:nvSpPr>
          <p:cNvPr id="302" name="textbox 2070"/>
          <p:cNvSpPr/>
          <p:nvPr/>
        </p:nvSpPr>
        <p:spPr>
          <a:xfrm>
            <a:off x="1967865" y="5808980"/>
            <a:ext cx="1698625" cy="245745"/>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altLang="en-US" sz="1600" kern="0" spc="140" dirty="0" err="1">
                <a:solidFill>
                  <a:srgbClr val="383838"/>
                </a:solidFill>
                <a:latin typeface="微软雅黑"/>
                <a:ea typeface="微软雅黑"/>
                <a:cs typeface="微软雅黑"/>
              </a:rPr>
              <a:t>移动互联</a:t>
            </a:r>
            <a:endParaRPr lang="zh-CN" altLang="en-US" sz="1600" kern="0" spc="140" dirty="0" err="1">
              <a:solidFill>
                <a:srgbClr val="383838"/>
              </a:solidFill>
              <a:latin typeface="微软雅黑"/>
              <a:ea typeface="微软雅黑"/>
              <a:cs typeface="微软雅黑"/>
            </a:endParaRPr>
          </a:p>
        </p:txBody>
      </p:sp>
      <p:sp>
        <p:nvSpPr>
          <p:cNvPr id="305" name="textbox 2070"/>
          <p:cNvSpPr/>
          <p:nvPr/>
        </p:nvSpPr>
        <p:spPr>
          <a:xfrm>
            <a:off x="3634105" y="5808980"/>
            <a:ext cx="1698625" cy="245745"/>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altLang="en-US" sz="1600" kern="0" spc="140" dirty="0" err="1">
                <a:solidFill>
                  <a:srgbClr val="383838"/>
                </a:solidFill>
                <a:latin typeface="微软雅黑"/>
                <a:ea typeface="微软雅黑"/>
                <a:cs typeface="微软雅黑"/>
              </a:rPr>
              <a:t>大数据</a:t>
            </a:r>
            <a:endParaRPr lang="zh-CN" altLang="en-US" sz="1600" kern="0" spc="140" dirty="0" err="1">
              <a:solidFill>
                <a:srgbClr val="383838"/>
              </a:solidFill>
              <a:latin typeface="微软雅黑"/>
              <a:ea typeface="微软雅黑"/>
              <a:cs typeface="微软雅黑"/>
            </a:endParaRPr>
          </a:p>
        </p:txBody>
      </p:sp>
      <p:sp>
        <p:nvSpPr>
          <p:cNvPr id="309" name="textbox 2070"/>
          <p:cNvSpPr/>
          <p:nvPr/>
        </p:nvSpPr>
        <p:spPr>
          <a:xfrm>
            <a:off x="5300345" y="5808980"/>
            <a:ext cx="1698625" cy="245745"/>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altLang="en-US" sz="1600" kern="0" spc="140" dirty="0" err="1">
                <a:solidFill>
                  <a:srgbClr val="383838"/>
                </a:solidFill>
                <a:latin typeface="微软雅黑"/>
                <a:ea typeface="微软雅黑"/>
                <a:cs typeface="微软雅黑"/>
              </a:rPr>
              <a:t>人工智能</a:t>
            </a:r>
            <a:endParaRPr lang="zh-CN" altLang="en-US" sz="1600" kern="0" spc="140" dirty="0" err="1">
              <a:solidFill>
                <a:srgbClr val="383838"/>
              </a:solidFill>
              <a:latin typeface="微软雅黑"/>
              <a:ea typeface="微软雅黑"/>
              <a:cs typeface="微软雅黑"/>
            </a:endParaRPr>
          </a:p>
        </p:txBody>
      </p:sp>
      <p:sp>
        <p:nvSpPr>
          <p:cNvPr id="313" name="textbox 2070"/>
          <p:cNvSpPr/>
          <p:nvPr/>
        </p:nvSpPr>
        <p:spPr>
          <a:xfrm>
            <a:off x="6966585" y="5808980"/>
            <a:ext cx="1698625" cy="245745"/>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altLang="en-US" sz="1600" kern="0" spc="140" dirty="0" err="1">
                <a:solidFill>
                  <a:srgbClr val="383838"/>
                </a:solidFill>
                <a:latin typeface="微软雅黑"/>
                <a:ea typeface="微软雅黑"/>
                <a:cs typeface="微软雅黑"/>
              </a:rPr>
              <a:t>云计算</a:t>
            </a:r>
            <a:endParaRPr lang="zh-CN" altLang="en-US" sz="1600" kern="0" spc="140" dirty="0" err="1">
              <a:solidFill>
                <a:srgbClr val="383838"/>
              </a:solidFill>
              <a:latin typeface="微软雅黑"/>
              <a:ea typeface="微软雅黑"/>
              <a:cs typeface="微软雅黑"/>
            </a:endParaRPr>
          </a:p>
        </p:txBody>
      </p:sp>
      <p:grpSp>
        <p:nvGrpSpPr>
          <p:cNvPr id="522" name="组合 521"/>
          <p:cNvGrpSpPr/>
          <p:nvPr/>
        </p:nvGrpSpPr>
        <p:grpSpPr>
          <a:xfrm>
            <a:off x="6809105" y="5244783"/>
            <a:ext cx="294640" cy="329565"/>
            <a:chOff x="10980" y="8069"/>
            <a:chExt cx="464" cy="519"/>
          </a:xfrm>
        </p:grpSpPr>
        <p:cxnSp>
          <p:nvCxnSpPr>
            <p:cNvPr id="346" name="直线箭头连接符 113"/>
            <p:cNvCxnSpPr/>
            <p:nvPr/>
          </p:nvCxnSpPr>
          <p:spPr>
            <a:xfrm flipV="1">
              <a:off x="10980" y="8370"/>
              <a:ext cx="0" cy="218"/>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347" name="直线箭头连接符 114"/>
            <p:cNvCxnSpPr/>
            <p:nvPr/>
          </p:nvCxnSpPr>
          <p:spPr>
            <a:xfrm flipV="1">
              <a:off x="11226" y="8069"/>
              <a:ext cx="0" cy="36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363" name="直线箭头连接符 118"/>
            <p:cNvCxnSpPr/>
            <p:nvPr/>
          </p:nvCxnSpPr>
          <p:spPr>
            <a:xfrm flipV="1">
              <a:off x="11444" y="8225"/>
              <a:ext cx="0" cy="30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grpSp>
      <p:sp>
        <p:nvSpPr>
          <p:cNvPr id="2" name="显眼包PPT9"/>
          <p:cNvSpPr/>
          <p:nvPr/>
        </p:nvSpPr>
        <p:spPr>
          <a:xfrm>
            <a:off x="337820" y="966470"/>
            <a:ext cx="11376025" cy="285750"/>
          </a:xfrm>
          <a:prstGeom prst="trapezoid">
            <a:avLst>
              <a:gd name="adj" fmla="val 189815"/>
            </a:avLst>
          </a:prstGeom>
          <a:gradFill>
            <a:gsLst>
              <a:gs pos="0">
                <a:srgbClr val="3368FF">
                  <a:alpha val="50000"/>
                </a:srgbClr>
              </a:gs>
              <a:gs pos="100000">
                <a:srgbClr val="668EFF">
                  <a:alpha val="0"/>
                </a:srgbClr>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18" name="显眼包PPT21"/>
          <p:cNvSpPr/>
          <p:nvPr/>
        </p:nvSpPr>
        <p:spPr>
          <a:xfrm>
            <a:off x="339090" y="1252220"/>
            <a:ext cx="2658745" cy="421640"/>
          </a:xfrm>
          <a:custGeom>
            <a:avLst/>
            <a:gdLst>
              <a:gd name="connsiteX0" fmla="*/ 0 w 2121006"/>
              <a:gd name="connsiteY0" fmla="*/ 0 h 343812"/>
              <a:gd name="connsiteX1" fmla="*/ 1946708 w 2121006"/>
              <a:gd name="connsiteY1" fmla="*/ 0 h 343812"/>
              <a:gd name="connsiteX2" fmla="*/ 2121006 w 2121006"/>
              <a:gd name="connsiteY2" fmla="*/ 174298 h 343812"/>
              <a:gd name="connsiteX3" fmla="*/ 1951492 w 2121006"/>
              <a:gd name="connsiteY3" fmla="*/ 343812 h 343812"/>
              <a:gd name="connsiteX4" fmla="*/ 0 w 2121006"/>
              <a:gd name="connsiteY4" fmla="*/ 343812 h 343812"/>
              <a:gd name="connsiteX5" fmla="*/ 0 w 2121006"/>
              <a:gd name="connsiteY5" fmla="*/ 0 h 34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1006" h="343812">
                <a:moveTo>
                  <a:pt x="0" y="0"/>
                </a:moveTo>
                <a:lnTo>
                  <a:pt x="1946708" y="0"/>
                </a:lnTo>
                <a:lnTo>
                  <a:pt x="2121006" y="174298"/>
                </a:lnTo>
                <a:lnTo>
                  <a:pt x="1951492" y="343812"/>
                </a:lnTo>
                <a:lnTo>
                  <a:pt x="0" y="343812"/>
                </a:lnTo>
                <a:lnTo>
                  <a:pt x="0" y="0"/>
                </a:lnTo>
                <a:close/>
              </a:path>
            </a:pathLst>
          </a:custGeom>
          <a:gradFill flip="none" rotWithShape="1">
            <a:gsLst>
              <a:gs pos="0">
                <a:srgbClr val="3368FF"/>
              </a:gs>
              <a:gs pos="54000">
                <a:srgbClr val="0042FF"/>
              </a:gs>
            </a:gsLst>
            <a:lin ang="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561" name="显眼包PPT23"/>
          <p:cNvSpPr/>
          <p:nvPr/>
        </p:nvSpPr>
        <p:spPr>
          <a:xfrm>
            <a:off x="2896235" y="1252220"/>
            <a:ext cx="3032125" cy="421640"/>
          </a:xfrm>
          <a:custGeom>
            <a:avLst/>
            <a:gdLst>
              <a:gd name="connsiteX0" fmla="*/ 0 w 2273763"/>
              <a:gd name="connsiteY0" fmla="*/ 0 h 343812"/>
              <a:gd name="connsiteX1" fmla="*/ 2099464 w 2273763"/>
              <a:gd name="connsiteY1" fmla="*/ 0 h 343812"/>
              <a:gd name="connsiteX2" fmla="*/ 2273763 w 2273763"/>
              <a:gd name="connsiteY2" fmla="*/ 174298 h 343812"/>
              <a:gd name="connsiteX3" fmla="*/ 2104249 w 2273763"/>
              <a:gd name="connsiteY3" fmla="*/ 343812 h 343812"/>
              <a:gd name="connsiteX4" fmla="*/ 9818 w 2273763"/>
              <a:gd name="connsiteY4" fmla="*/ 343812 h 343812"/>
              <a:gd name="connsiteX5" fmla="*/ 176815 w 2273763"/>
              <a:gd name="connsiteY5" fmla="*/ 176815 h 343812"/>
              <a:gd name="connsiteX6" fmla="*/ 0 w 2273763"/>
              <a:gd name="connsiteY6" fmla="*/ 0 h 34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5" h="664">
                <a:moveTo>
                  <a:pt x="0" y="0"/>
                </a:moveTo>
                <a:lnTo>
                  <a:pt x="4372" y="0"/>
                </a:lnTo>
                <a:lnTo>
                  <a:pt x="4775" y="337"/>
                </a:lnTo>
                <a:lnTo>
                  <a:pt x="4383" y="664"/>
                </a:lnTo>
                <a:lnTo>
                  <a:pt x="3" y="664"/>
                </a:lnTo>
                <a:lnTo>
                  <a:pt x="341" y="337"/>
                </a:lnTo>
                <a:lnTo>
                  <a:pt x="0" y="6"/>
                </a:lnTo>
                <a:lnTo>
                  <a:pt x="0" y="0"/>
                </a:lnTo>
                <a:close/>
              </a:path>
            </a:pathLst>
          </a:custGeom>
          <a:gradFill flip="none" rotWithShape="1">
            <a:gsLst>
              <a:gs pos="0">
                <a:srgbClr val="668EFF"/>
              </a:gs>
              <a:gs pos="80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512" name="显眼包PPT24"/>
          <p:cNvSpPr/>
          <p:nvPr/>
        </p:nvSpPr>
        <p:spPr>
          <a:xfrm>
            <a:off x="8529955" y="1252220"/>
            <a:ext cx="3188970" cy="421640"/>
          </a:xfrm>
          <a:custGeom>
            <a:avLst/>
            <a:gdLst>
              <a:gd name="connsiteX0" fmla="*/ 0 w 2155635"/>
              <a:gd name="connsiteY0" fmla="*/ 0 h 343812"/>
              <a:gd name="connsiteX1" fmla="*/ 2155635 w 2155635"/>
              <a:gd name="connsiteY1" fmla="*/ 0 h 343812"/>
              <a:gd name="connsiteX2" fmla="*/ 2155635 w 2155635"/>
              <a:gd name="connsiteY2" fmla="*/ 343812 h 343812"/>
              <a:gd name="connsiteX3" fmla="*/ 9818 w 2155635"/>
              <a:gd name="connsiteY3" fmla="*/ 343812 h 343812"/>
              <a:gd name="connsiteX4" fmla="*/ 176815 w 2155635"/>
              <a:gd name="connsiteY4" fmla="*/ 176815 h 343812"/>
              <a:gd name="connsiteX5" fmla="*/ 0 w 2155635"/>
              <a:gd name="connsiteY5" fmla="*/ 0 h 34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22" h="664">
                <a:moveTo>
                  <a:pt x="0" y="0"/>
                </a:moveTo>
                <a:lnTo>
                  <a:pt x="5022" y="0"/>
                </a:lnTo>
                <a:lnTo>
                  <a:pt x="5022" y="664"/>
                </a:lnTo>
                <a:lnTo>
                  <a:pt x="11" y="664"/>
                </a:lnTo>
                <a:lnTo>
                  <a:pt x="403" y="337"/>
                </a:lnTo>
                <a:lnTo>
                  <a:pt x="0" y="0"/>
                </a:lnTo>
                <a:close/>
              </a:path>
            </a:pathLst>
          </a:custGeom>
          <a:gradFill flip="none" rotWithShape="1">
            <a:gsLst>
              <a:gs pos="0">
                <a:srgbClr val="B3D4FE"/>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30" name="显眼包PPT31"/>
          <p:cNvSpPr txBox="1"/>
          <p:nvPr/>
        </p:nvSpPr>
        <p:spPr>
          <a:xfrm>
            <a:off x="528873" y="1343025"/>
            <a:ext cx="1955800" cy="257810"/>
          </a:xfrm>
          <a:prstGeom prst="rect">
            <a:avLst/>
          </a:prstGeom>
          <a:noFill/>
        </p:spPr>
        <p:txBody>
          <a:bodyPr wrap="none" anchor="ctr" lIns="0" rIns="0" tIns="0" bIns="0">
            <a:noAutofit/>
          </a:bodyPr>
          <a:lstStyle/>
          <a:p>
            <a:pPr algn="ctr" marL="0" marR="0" indent="0">
              <a:lnSpc>
                <a:spcPts val="1560"/>
              </a:lnSpc>
              <a:spcBef>
                <a:spcPts val="0"/>
              </a:spcBef>
              <a:spcAft>
                <a:spcPts val="0"/>
              </a:spcAft>
              <a:buNone/>
              <a:def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defRPr>
            </a:pPr>
            <a:r>
              <a: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rPr>
              <a:t>第一阶段：战略蓝图规划</a:t>
            </a:r>
          </a:p>
        </p:txBody>
      </p:sp>
      <p:sp>
        <p:nvSpPr>
          <p:cNvPr id="20" name="显眼包PPT23"/>
          <p:cNvSpPr/>
          <p:nvPr/>
        </p:nvSpPr>
        <p:spPr>
          <a:xfrm>
            <a:off x="5777865" y="1252220"/>
            <a:ext cx="2926080" cy="421640"/>
          </a:xfrm>
          <a:custGeom>
            <a:avLst/>
            <a:gdLst>
              <a:gd name="connsiteX0" fmla="*/ 0 w 2273763"/>
              <a:gd name="connsiteY0" fmla="*/ 0 h 343812"/>
              <a:gd name="connsiteX1" fmla="*/ 2099464 w 2273763"/>
              <a:gd name="connsiteY1" fmla="*/ 0 h 343812"/>
              <a:gd name="connsiteX2" fmla="*/ 2273763 w 2273763"/>
              <a:gd name="connsiteY2" fmla="*/ 174298 h 343812"/>
              <a:gd name="connsiteX3" fmla="*/ 2104249 w 2273763"/>
              <a:gd name="connsiteY3" fmla="*/ 343812 h 343812"/>
              <a:gd name="connsiteX4" fmla="*/ 9818 w 2273763"/>
              <a:gd name="connsiteY4" fmla="*/ 343812 h 343812"/>
              <a:gd name="connsiteX5" fmla="*/ 176815 w 2273763"/>
              <a:gd name="connsiteY5" fmla="*/ 176815 h 343812"/>
              <a:gd name="connsiteX6" fmla="*/ 0 w 2273763"/>
              <a:gd name="connsiteY6" fmla="*/ 0 h 34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 h="664">
                <a:moveTo>
                  <a:pt x="0" y="0"/>
                </a:moveTo>
                <a:lnTo>
                  <a:pt x="4205" y="0"/>
                </a:lnTo>
                <a:lnTo>
                  <a:pt x="4608" y="337"/>
                </a:lnTo>
                <a:lnTo>
                  <a:pt x="4216" y="664"/>
                </a:lnTo>
                <a:lnTo>
                  <a:pt x="11" y="664"/>
                </a:lnTo>
                <a:lnTo>
                  <a:pt x="403" y="337"/>
                </a:lnTo>
                <a:lnTo>
                  <a:pt x="0" y="0"/>
                </a:lnTo>
                <a:close/>
              </a:path>
            </a:pathLst>
          </a:custGeom>
          <a:gradFill flip="none" rotWithShape="1">
            <a:gsLst>
              <a:gs pos="0">
                <a:srgbClr val="3368FF"/>
              </a:gs>
              <a:gs pos="54000">
                <a:srgbClr val="0042FF"/>
              </a:gs>
            </a:gsLst>
            <a:lin ang="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8" name="显眼包PPT31"/>
          <p:cNvSpPr txBox="1"/>
          <p:nvPr/>
        </p:nvSpPr>
        <p:spPr>
          <a:xfrm>
            <a:off x="3319063" y="1343025"/>
            <a:ext cx="2133600" cy="257810"/>
          </a:xfrm>
          <a:prstGeom prst="rect">
            <a:avLst/>
          </a:prstGeom>
          <a:noFill/>
        </p:spPr>
        <p:txBody>
          <a:bodyPr wrap="none" anchor="ctr" lIns="0" rIns="0" tIns="0" bIns="0">
            <a:noAutofit/>
          </a:bodyPr>
          <a:lstStyle/>
          <a:p>
            <a:pPr algn="ctr" marL="0" marR="0" indent="0">
              <a:lnSpc>
                <a:spcPts val="1560"/>
              </a:lnSpc>
              <a:spcBef>
                <a:spcPts val="0"/>
              </a:spcBef>
              <a:spcAft>
                <a:spcPts val="0"/>
              </a:spcAft>
              <a:buNone/>
              <a:def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defRPr>
            </a:pPr>
            <a:r>
              <a: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rPr>
              <a:t>第二阶段：产品与客户开拓</a:t>
            </a:r>
          </a:p>
        </p:txBody>
      </p:sp>
      <p:sp>
        <p:nvSpPr>
          <p:cNvPr id="29" name="显眼包PPT31"/>
          <p:cNvSpPr txBox="1"/>
          <p:nvPr/>
        </p:nvSpPr>
        <p:spPr>
          <a:xfrm>
            <a:off x="6165768" y="1343025"/>
            <a:ext cx="2133600" cy="257810"/>
          </a:xfrm>
          <a:prstGeom prst="rect">
            <a:avLst/>
          </a:prstGeom>
          <a:noFill/>
        </p:spPr>
        <p:txBody>
          <a:bodyPr wrap="none" anchor="ctr" lIns="0" rIns="0" tIns="0" bIns="0">
            <a:noAutofit/>
          </a:bodyPr>
          <a:lstStyle/>
          <a:p>
            <a:pPr algn="ctr" marL="0" marR="0" indent="0">
              <a:lnSpc>
                <a:spcPts val="1560"/>
              </a:lnSpc>
              <a:spcBef>
                <a:spcPts val="0"/>
              </a:spcBef>
              <a:spcAft>
                <a:spcPts val="0"/>
              </a:spcAft>
              <a:buNone/>
              <a:def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defRPr>
            </a:pPr>
            <a:r>
              <a: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rPr>
              <a:t>第三阶段：运营与数据驱动</a:t>
            </a:r>
          </a:p>
        </p:txBody>
      </p:sp>
      <p:sp>
        <p:nvSpPr>
          <p:cNvPr id="34" name="显眼包PPT31"/>
          <p:cNvSpPr txBox="1"/>
          <p:nvPr/>
        </p:nvSpPr>
        <p:spPr>
          <a:xfrm>
            <a:off x="8979453" y="1335405"/>
            <a:ext cx="2489200" cy="257810"/>
          </a:xfrm>
          <a:prstGeom prst="rect">
            <a:avLst/>
          </a:prstGeom>
          <a:noFill/>
        </p:spPr>
        <p:txBody>
          <a:bodyPr wrap="none" anchor="ctr" lIns="0" rIns="0" tIns="0" bIns="0">
            <a:noAutofit/>
          </a:bodyPr>
          <a:lstStyle/>
          <a:p>
            <a:pPr algn="ctr" marL="0" marR="0" indent="0">
              <a:lnSpc>
                <a:spcPts val="1560"/>
              </a:lnSpc>
              <a:spcBef>
                <a:spcPts val="0"/>
              </a:spcBef>
              <a:spcAft>
                <a:spcPts val="0"/>
              </a:spcAft>
              <a:buNone/>
              <a:def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defRPr>
            </a:pPr>
            <a:r>
              <a:rPr kumimoji="0" lang="zh-CN" altLang="en-US" sz="1300" b="1" i="0" u="none" strike="noStrike" kern="1200" cap="none" spc="0" normalizeH="0" baseline="0" noProof="0" dirty="0">
                <a:ln>
                  <a:noFill/>
                </a:ln>
                <a:solidFill>
                  <a:srgbClr val="FFFFFF"/>
                </a:solidFill>
                <a:effectLst/>
                <a:uLnTx/>
                <a:uFillTx/>
                <a:latin typeface="微软雅黑"/>
                <a:ea typeface="微软雅黑"/>
                <a:cs typeface="微软雅黑"/>
              </a:rPr>
              <a:t>第四阶段：生态融合与持续进化</a:t>
            </a:r>
          </a:p>
        </p:txBody>
      </p:sp>
      <p:pic>
        <p:nvPicPr>
          <p:cNvPr id="100" name="图片 99" descr="客户供应商"/>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018723" y="4190365"/>
            <a:ext cx="309245" cy="257810"/>
          </a:xfrm>
          <a:prstGeom prst="rect">
            <a:avLst/>
          </a:prstGeom>
        </p:spPr>
      </p:pic>
      <p:pic>
        <p:nvPicPr>
          <p:cNvPr id="105" name="图片 104" descr="财务"/>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019040" y="3135630"/>
            <a:ext cx="251460" cy="251460"/>
          </a:xfrm>
          <a:prstGeom prst="rect">
            <a:avLst/>
          </a:prstGeom>
        </p:spPr>
      </p:pic>
      <p:pic>
        <p:nvPicPr>
          <p:cNvPr id="107" name="图片 106" descr="二级导航_产品制作"/>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737293" y="3135630"/>
            <a:ext cx="291465" cy="291465"/>
          </a:xfrm>
          <a:prstGeom prst="rect">
            <a:avLst/>
          </a:prstGeom>
        </p:spPr>
      </p:pic>
      <p:pic>
        <p:nvPicPr>
          <p:cNvPr id="110" name="图片 109" descr="头像"/>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724275" y="4150995"/>
            <a:ext cx="317500" cy="317500"/>
          </a:xfrm>
          <a:prstGeom prst="rect">
            <a:avLst/>
          </a:prstGeom>
        </p:spPr>
      </p:pic>
      <p:pic>
        <p:nvPicPr>
          <p:cNvPr id="106" name="图片 105" descr="物品"/>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6280785" y="4210685"/>
            <a:ext cx="291465" cy="291465"/>
          </a:xfrm>
          <a:prstGeom prst="rect">
            <a:avLst/>
          </a:prstGeom>
        </p:spPr>
      </p:pic>
      <p:pic>
        <p:nvPicPr>
          <p:cNvPr id="109" name="图片 108" descr="服务"/>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280785" y="3142615"/>
            <a:ext cx="291465" cy="291465"/>
          </a:xfrm>
          <a:prstGeom prst="rect">
            <a:avLst/>
          </a:prstGeom>
        </p:spPr>
      </p:pic>
      <p:pic>
        <p:nvPicPr>
          <p:cNvPr id="99" name="图片 98" descr="菜单-生产管理"/>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7571105" y="4213225"/>
            <a:ext cx="259080" cy="241935"/>
          </a:xfrm>
          <a:prstGeom prst="rect">
            <a:avLst/>
          </a:prstGeom>
        </p:spPr>
      </p:pic>
      <p:pic>
        <p:nvPicPr>
          <p:cNvPr id="108" name="图片 107" descr="数据"/>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7578725" y="3143250"/>
            <a:ext cx="243840" cy="243840"/>
          </a:xfrm>
          <a:prstGeom prst="rect">
            <a:avLst/>
          </a:prstGeom>
        </p:spPr>
      </p:pic>
      <p:sp>
        <p:nvSpPr>
          <p:cNvPr id="37" name="textbox 2070"/>
          <p:cNvSpPr/>
          <p:nvPr/>
        </p:nvSpPr>
        <p:spPr>
          <a:xfrm>
            <a:off x="459105" y="1891665"/>
            <a:ext cx="2225040" cy="153670"/>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sz="1000" b="1" kern="0" spc="140" dirty="0" err="1">
                <a:solidFill>
                  <a:srgbClr val="0042FF">
                    <a:alpha val="100000"/>
                  </a:srgbClr>
                </a:solidFill>
                <a:latin typeface="微软雅黑"/>
                <a:ea typeface="微软雅黑"/>
                <a:cs typeface="微软雅黑"/>
              </a:rPr>
              <a:t>核心聚焦：</a:t>
            </a:r>
            <a:r>
              <a:rPr lang="zh-CN" altLang="en-US" sz="1000" kern="0" spc="140" dirty="0" err="1">
                <a:solidFill>
                  <a:srgbClr val="0042FF">
                    <a:alpha val="100000"/>
                  </a:srgbClr>
                </a:solidFill>
                <a:latin typeface="微软雅黑"/>
                <a:ea typeface="微软雅黑"/>
                <a:cs typeface="微软雅黑"/>
              </a:rPr>
              <a:t>定方向、绘蓝图</a:t>
            </a:r>
            <a:endParaRPr lang="zh-CN" altLang="en-US" sz="1000" kern="0" spc="140" dirty="0" err="1">
              <a:solidFill>
                <a:srgbClr val="0042FF">
                  <a:alpha val="100000"/>
                </a:srgbClr>
              </a:solidFill>
              <a:latin typeface="微软雅黑"/>
              <a:ea typeface="微软雅黑"/>
              <a:cs typeface="微软雅黑"/>
            </a:endParaRPr>
          </a:p>
        </p:txBody>
      </p:sp>
      <p:sp>
        <p:nvSpPr>
          <p:cNvPr id="38" name="textbox 2070"/>
          <p:cNvSpPr/>
          <p:nvPr/>
        </p:nvSpPr>
        <p:spPr>
          <a:xfrm>
            <a:off x="406400" y="2413000"/>
            <a:ext cx="2349500" cy="609600"/>
          </a:xfrm>
          <a:prstGeom prst="rect">
            <a:avLst/>
          </a:prstGeom>
        </p:spPr>
        <p:txBody>
          <a:bodyPr wrap="none" anchor="t" lIns="0" rIns="0" tIns="0" bIns="0">
            <a:noAutofit/>
          </a:bodyPr>
          <a:lstStyle/>
          <a:p>
            <a:pPr algn="l" marL="0" marR="0" indent="0">
              <a:lnSpc>
                <a:spcPts val="1100"/>
              </a:lnSpc>
              <a:spcBef>
                <a:spcPts val="0"/>
              </a:spcBef>
              <a:spcAft>
                <a:spcPts val="0"/>
              </a:spcAft>
              <a:buNone/>
              <a:defRPr lang="zh-CN" altLang="en-US" sz="1000" kern="0" spc="0" dirty="0" err="1">
                <a:solidFill>
                  <a:srgbClr val="383838">
                    <a:alpha val="100000"/>
                  </a:srgbClr>
                </a:solidFill>
                <a:latin typeface="微软雅黑"/>
                <a:ea typeface="微软雅黑"/>
                <a:cs typeface="微软雅黑"/>
              </a:defRPr>
            </a:pPr>
            <a:r>
              <a:rPr lang="zh-CN" altLang="en-US" sz="1000" kern="0" spc="0" dirty="0" err="1">
                <a:solidFill>
                  <a:srgbClr val="383838">
                    <a:alpha val="100000"/>
                  </a:srgbClr>
                </a:solidFill>
                <a:latin typeface="微软雅黑"/>
                <a:ea typeface="微软雅黑"/>
                <a:cs typeface="微软雅黑"/>
              </a:rPr>
              <a:t>明确企业数字化与智能制造的总体愿景、</a:t>
            </a:r>
            <a:br/>
            <a:r>
              <a:rPr lang="zh-CN" altLang="en-US" sz="1000" kern="0" spc="0" dirty="0" err="1">
                <a:solidFill>
                  <a:srgbClr val="383838">
                    <a:alpha val="100000"/>
                  </a:srgbClr>
                </a:solidFill>
                <a:latin typeface="微软雅黑"/>
                <a:ea typeface="微软雅黑"/>
                <a:cs typeface="微软雅黑"/>
              </a:rPr>
              <a:t>战略目标及转型的必要性。规划清晰的实</a:t>
            </a:r>
            <a:br/>
            <a:r>
              <a:rPr lang="zh-CN" altLang="en-US" sz="1000" kern="0" spc="0" dirty="0" err="1">
                <a:solidFill>
                  <a:srgbClr val="383838">
                    <a:alpha val="100000"/>
                  </a:srgbClr>
                </a:solidFill>
                <a:latin typeface="微软雅黑"/>
                <a:ea typeface="微软雅黑"/>
                <a:cs typeface="微软雅黑"/>
              </a:rPr>
              <a:t>施路线图，设定阶段性目标，评估投资与</a:t>
            </a:r>
            <a:br/>
            <a:r>
              <a:rPr lang="zh-CN" altLang="en-US" sz="1000" kern="0" spc="0" dirty="0" err="1">
                <a:solidFill>
                  <a:srgbClr val="383838">
                    <a:alpha val="100000"/>
                  </a:srgbClr>
                </a:solidFill>
                <a:latin typeface="微软雅黑"/>
                <a:ea typeface="微软雅黑"/>
                <a:cs typeface="微软雅黑"/>
              </a:rPr>
              <a:t>资源需求，并设计配套的组织变革方向。</a:t>
            </a:r>
          </a:p>
        </p:txBody>
      </p:sp>
      <p:grpSp>
        <p:nvGrpSpPr>
          <p:cNvPr id="45" name="组合 44"/>
          <p:cNvGrpSpPr/>
          <p:nvPr/>
        </p:nvGrpSpPr>
        <p:grpSpPr>
          <a:xfrm>
            <a:off x="532765" y="2115820"/>
            <a:ext cx="545465" cy="132080"/>
            <a:chOff x="752" y="3332"/>
            <a:chExt cx="859" cy="208"/>
          </a:xfrm>
        </p:grpSpPr>
        <p:sp>
          <p:nvSpPr>
            <p:cNvPr id="39" name="圆角矩形 38"/>
            <p:cNvSpPr/>
            <p:nvPr/>
          </p:nvSpPr>
          <p:spPr>
            <a:xfrm>
              <a:off x="583" y="3264"/>
              <a:ext cx="1100" cy="492"/>
            </a:xfrm>
            <a:prstGeom prst="round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40" name="textbox 2070"/>
            <p:cNvSpPr/>
            <p:nvPr/>
          </p:nvSpPr>
          <p:spPr>
            <a:xfrm>
              <a:off x="593" y="3270"/>
              <a:ext cx="108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战略</a:t>
              </a:r>
              <a:br/>
              <a:r>
                <a:rPr lang="zh-CN" altLang="en-US" sz="1000" kern="0" spc="140" dirty="0" err="1">
                  <a:solidFill>
                    <a:srgbClr val="0042FF">
                      <a:alpha val="100000"/>
                    </a:srgbClr>
                  </a:solidFill>
                  <a:latin typeface="微软雅黑"/>
                  <a:ea typeface="微软雅黑"/>
                  <a:cs typeface="微软雅黑"/>
                </a:rPr>
                <a:t>白皮书</a:t>
              </a:r>
            </a:p>
          </p:txBody>
        </p:sp>
      </p:grpSp>
      <p:grpSp>
        <p:nvGrpSpPr>
          <p:cNvPr id="46" name="组合 45"/>
          <p:cNvGrpSpPr/>
          <p:nvPr/>
        </p:nvGrpSpPr>
        <p:grpSpPr>
          <a:xfrm>
            <a:off x="1160145" y="2115820"/>
            <a:ext cx="561340" cy="132080"/>
            <a:chOff x="1741" y="3332"/>
            <a:chExt cx="884" cy="208"/>
          </a:xfrm>
        </p:grpSpPr>
        <p:sp>
          <p:nvSpPr>
            <p:cNvPr id="41" name="圆角矩形 40"/>
            <p:cNvSpPr/>
            <p:nvPr/>
          </p:nvSpPr>
          <p:spPr>
            <a:xfrm>
              <a:off x="1824" y="3264"/>
              <a:ext cx="1100" cy="492"/>
            </a:xfrm>
            <a:prstGeom prst="round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42" name="textbox 2070"/>
            <p:cNvSpPr/>
            <p:nvPr/>
          </p:nvSpPr>
          <p:spPr>
            <a:xfrm>
              <a:off x="1834" y="3270"/>
              <a:ext cx="108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实施</a:t>
              </a:r>
              <a:br/>
              <a:r>
                <a:rPr lang="zh-CN" altLang="en-US" sz="1000" kern="0" spc="140" dirty="0" err="1">
                  <a:solidFill>
                    <a:srgbClr val="0042FF">
                      <a:alpha val="100000"/>
                    </a:srgbClr>
                  </a:solidFill>
                  <a:latin typeface="微软雅黑"/>
                  <a:ea typeface="微软雅黑"/>
                  <a:cs typeface="微软雅黑"/>
                </a:rPr>
                <a:t>路线图</a:t>
              </a:r>
            </a:p>
          </p:txBody>
        </p:sp>
      </p:grpSp>
      <p:grpSp>
        <p:nvGrpSpPr>
          <p:cNvPr id="47" name="组合 46"/>
          <p:cNvGrpSpPr/>
          <p:nvPr/>
        </p:nvGrpSpPr>
        <p:grpSpPr>
          <a:xfrm>
            <a:off x="1803400" y="2115820"/>
            <a:ext cx="737870" cy="132080"/>
            <a:chOff x="2752" y="3332"/>
            <a:chExt cx="1162" cy="208"/>
          </a:xfrm>
        </p:grpSpPr>
        <p:sp>
          <p:nvSpPr>
            <p:cNvPr id="43" name="圆角矩形 42"/>
            <p:cNvSpPr/>
            <p:nvPr/>
          </p:nvSpPr>
          <p:spPr>
            <a:xfrm>
              <a:off x="3062" y="3264"/>
              <a:ext cx="1100" cy="492"/>
            </a:xfrm>
            <a:prstGeom prst="round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44" name="textbox 2070"/>
            <p:cNvSpPr/>
            <p:nvPr/>
          </p:nvSpPr>
          <p:spPr>
            <a:xfrm>
              <a:off x="3072" y="3270"/>
              <a:ext cx="108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投资与</a:t>
              </a:r>
              <a:br/>
              <a:r>
                <a:rPr lang="zh-CN" altLang="en-US" sz="1000" kern="0" spc="140" dirty="0" err="1">
                  <a:solidFill>
                    <a:srgbClr val="0042FF">
                      <a:alpha val="100000"/>
                    </a:srgbClr>
                  </a:solidFill>
                  <a:latin typeface="微软雅黑"/>
                  <a:ea typeface="微软雅黑"/>
                  <a:cs typeface="微软雅黑"/>
                </a:rPr>
                <a:t>资源评估</a:t>
              </a:r>
            </a:p>
          </p:txBody>
        </p:sp>
      </p:grpSp>
      <p:sp>
        <p:nvSpPr>
          <p:cNvPr id="48" name="textbox 2070"/>
          <p:cNvSpPr/>
          <p:nvPr/>
        </p:nvSpPr>
        <p:spPr>
          <a:xfrm>
            <a:off x="3182938" y="1891665"/>
            <a:ext cx="2225040" cy="153670"/>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sz="1000" b="1" kern="0" spc="140" dirty="0" err="1">
                <a:solidFill>
                  <a:srgbClr val="0042FF">
                    <a:alpha val="100000"/>
                  </a:srgbClr>
                </a:solidFill>
                <a:latin typeface="微软雅黑"/>
                <a:ea typeface="微软雅黑"/>
                <a:cs typeface="微软雅黑"/>
              </a:rPr>
              <a:t>核心聚焦：</a:t>
            </a:r>
            <a:r>
              <a:rPr lang="zh-CN" altLang="en-US" sz="1000" kern="0" spc="140" dirty="0" err="1">
                <a:solidFill>
                  <a:srgbClr val="0042FF">
                    <a:alpha val="100000"/>
                  </a:srgbClr>
                </a:solidFill>
                <a:latin typeface="微软雅黑"/>
                <a:ea typeface="微软雅黑"/>
                <a:cs typeface="微软雅黑"/>
              </a:rPr>
              <a:t>显价值、触市场</a:t>
            </a:r>
            <a:endParaRPr lang="zh-CN" altLang="en-US" sz="1000" kern="0" spc="140" dirty="0" err="1">
              <a:solidFill>
                <a:srgbClr val="0042FF">
                  <a:alpha val="100000"/>
                </a:srgbClr>
              </a:solidFill>
              <a:latin typeface="微软雅黑"/>
              <a:ea typeface="微软雅黑"/>
              <a:cs typeface="微软雅黑"/>
            </a:endParaRPr>
          </a:p>
        </p:txBody>
      </p:sp>
      <p:sp>
        <p:nvSpPr>
          <p:cNvPr id="49" name="textbox 2070"/>
          <p:cNvSpPr/>
          <p:nvPr/>
        </p:nvSpPr>
        <p:spPr>
          <a:xfrm>
            <a:off x="2946400" y="2413000"/>
            <a:ext cx="2667000" cy="469900"/>
          </a:xfrm>
          <a:prstGeom prst="rect">
            <a:avLst/>
          </a:prstGeom>
        </p:spPr>
        <p:txBody>
          <a:bodyPr vert="horz" wrap="square" lIns="0" tIns="0" rIns="0" bIns="0" anchor="t">
            <a:noAutofit/>
          </a:bodyPr>
          <a:lstStyle/>
          <a:p>
            <a:pPr marL="12700" algn="ctr" rtl="0" eaLnBrk="0">
              <a:defRPr>
                <a:latin typeface="微软雅黑"/>
                <a:ea typeface="微软雅黑"/>
                <a:cs typeface="微软雅黑"/>
              </a:defRPr>
              <a:lnSpc>
                <a:spcPts val="1100"/>
              </a:lnSpc>
              <a:spcBef>
                <a:spcPts val="0"/>
              </a:spcBef>
              <a:spcAft>
                <a:spcPts val="0"/>
              </a:spcAft>
            </a:pPr>
            <a:r>
              <a:rPr lang="zh-CN" altLang="en-US" sz="1000" kern="0" spc="140" dirty="0" err="1">
                <a:solidFill>
                  <a:srgbClr val="383838">
                    <a:alpha val="100000"/>
                  </a:srgbClr>
                </a:solidFill>
                <a:latin typeface="微软雅黑"/>
                <a:ea typeface="微软雅黑"/>
                <a:cs typeface="微软雅黑"/>
              </a:rPr>
              <a:t>实现产品的智能化升级</a:t>
            </a:r>
            <a:r>
              <a:rPr lang="en-US" altLang="zh-CN" sz="1000" kern="0" spc="140" dirty="0" err="1">
                <a:solidFill>
                  <a:srgbClr val="383838">
                    <a:alpha val="100000"/>
                  </a:srgbClr>
                </a:solidFill>
                <a:latin typeface="微软雅黑"/>
                <a:ea typeface="微软雅黑"/>
                <a:cs typeface="微软雅黑"/>
              </a:rPr>
              <a:t>,</a:t>
            </a:r>
            <a:r>
              <a:rPr lang="zh-CN" altLang="en-US" sz="1000" kern="0" spc="140" dirty="0" err="1">
                <a:solidFill>
                  <a:srgbClr val="383838">
                    <a:alpha val="100000"/>
                  </a:srgbClr>
                </a:solidFill>
                <a:latin typeface="微软雅黑"/>
                <a:ea typeface="微软雅黑"/>
                <a:cs typeface="微软雅黑"/>
              </a:rPr>
              <a:t>并构建以客户为中心的数字化触点，通过移动互联、数据分析等手段，实现精准营销、个性化服务与全程体验优化。</a:t>
            </a:r>
            <a:endParaRPr lang="zh-CN" altLang="en-US" sz="1000" kern="0" spc="140" dirty="0" err="1">
              <a:solidFill>
                <a:srgbClr val="383838">
                  <a:alpha val="100000"/>
                </a:srgbClr>
              </a:solidFill>
              <a:latin typeface="微软雅黑"/>
              <a:ea typeface="微软雅黑"/>
              <a:cs typeface="微软雅黑"/>
            </a:endParaRPr>
          </a:p>
        </p:txBody>
      </p:sp>
      <p:grpSp>
        <p:nvGrpSpPr>
          <p:cNvPr id="50" name="组合 49"/>
          <p:cNvGrpSpPr/>
          <p:nvPr/>
        </p:nvGrpSpPr>
        <p:grpSpPr>
          <a:xfrm>
            <a:off x="3209290" y="2115820"/>
            <a:ext cx="685165" cy="132080"/>
            <a:chOff x="537" y="3332"/>
            <a:chExt cx="1079" cy="208"/>
          </a:xfrm>
        </p:grpSpPr>
        <p:sp>
          <p:nvSpPr>
            <p:cNvPr id="51" name="圆角矩形 50"/>
            <p:cNvSpPr/>
            <p:nvPr/>
          </p:nvSpPr>
          <p:spPr>
            <a:xfrm>
              <a:off x="353" y="3264"/>
              <a:ext cx="1160" cy="492"/>
            </a:xfrm>
            <a:prstGeom prst="roundRect">
              <a:avLst/>
            </a:prstGeom>
            <a:solidFill>
              <a:srgbClr val="FFFFFF">
                <a:alpha val="50000"/>
              </a:srgbClr>
            </a:solidFill>
            <a:ln w="6350">
              <a:solidFill>
                <a:srgbClr val="668E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52" name="textbox 2070"/>
            <p:cNvSpPr/>
            <p:nvPr/>
          </p:nvSpPr>
          <p:spPr>
            <a:xfrm>
              <a:off x="363" y="3270"/>
              <a:ext cx="114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智能</a:t>
              </a:r>
              <a:br/>
              <a:r>
                <a:rPr lang="zh-CN" altLang="en-US" sz="1000" kern="0" spc="140" dirty="0" err="1">
                  <a:solidFill>
                    <a:srgbClr val="0042FF">
                      <a:alpha val="100000"/>
                    </a:srgbClr>
                  </a:solidFill>
                  <a:latin typeface="微软雅黑"/>
                  <a:ea typeface="微软雅黑"/>
                  <a:cs typeface="微软雅黑"/>
                </a:rPr>
                <a:t>产品/服务</a:t>
              </a:r>
            </a:p>
          </p:txBody>
        </p:sp>
      </p:grpSp>
      <p:grpSp>
        <p:nvGrpSpPr>
          <p:cNvPr id="53" name="组合 52"/>
          <p:cNvGrpSpPr/>
          <p:nvPr/>
        </p:nvGrpSpPr>
        <p:grpSpPr>
          <a:xfrm>
            <a:off x="3988435" y="2115820"/>
            <a:ext cx="561340" cy="132080"/>
            <a:chOff x="1741" y="3332"/>
            <a:chExt cx="884" cy="208"/>
          </a:xfrm>
        </p:grpSpPr>
        <p:sp>
          <p:nvSpPr>
            <p:cNvPr id="54" name="圆角矩形 53"/>
            <p:cNvSpPr/>
            <p:nvPr/>
          </p:nvSpPr>
          <p:spPr>
            <a:xfrm>
              <a:off x="1590" y="3264"/>
              <a:ext cx="1160" cy="492"/>
            </a:xfrm>
            <a:prstGeom prst="roundRect">
              <a:avLst/>
            </a:prstGeom>
            <a:solidFill>
              <a:srgbClr val="FFFFFF">
                <a:alpha val="50000"/>
              </a:srgbClr>
            </a:solidFill>
            <a:ln w="6350">
              <a:solidFill>
                <a:srgbClr val="668E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55" name="textbox 2070"/>
            <p:cNvSpPr/>
            <p:nvPr/>
          </p:nvSpPr>
          <p:spPr>
            <a:xfrm>
              <a:off x="1600" y="3270"/>
              <a:ext cx="114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数字化</a:t>
              </a:r>
              <a:br/>
              <a:r>
                <a:rPr lang="zh-CN" altLang="en-US" sz="1000" kern="0" spc="140" dirty="0" err="1">
                  <a:solidFill>
                    <a:srgbClr val="0042FF">
                      <a:alpha val="100000"/>
                    </a:srgbClr>
                  </a:solidFill>
                  <a:latin typeface="微软雅黑"/>
                  <a:ea typeface="微软雅黑"/>
                  <a:cs typeface="微软雅黑"/>
                </a:rPr>
                <a:t>触点</a:t>
              </a:r>
            </a:p>
          </p:txBody>
        </p:sp>
      </p:grpSp>
      <p:grpSp>
        <p:nvGrpSpPr>
          <p:cNvPr id="56" name="组合 55"/>
          <p:cNvGrpSpPr/>
          <p:nvPr/>
        </p:nvGrpSpPr>
        <p:grpSpPr>
          <a:xfrm>
            <a:off x="4643755" y="2115820"/>
            <a:ext cx="683260" cy="132080"/>
            <a:chOff x="2795" y="3332"/>
            <a:chExt cx="1076" cy="208"/>
          </a:xfrm>
        </p:grpSpPr>
        <p:sp>
          <p:nvSpPr>
            <p:cNvPr id="57" name="圆角矩形 56"/>
            <p:cNvSpPr/>
            <p:nvPr/>
          </p:nvSpPr>
          <p:spPr>
            <a:xfrm>
              <a:off x="2872" y="3264"/>
              <a:ext cx="1160" cy="492"/>
            </a:xfrm>
            <a:prstGeom prst="roundRect">
              <a:avLst/>
            </a:prstGeom>
            <a:solidFill>
              <a:srgbClr val="FFFFFF">
                <a:alpha val="50000"/>
              </a:srgbClr>
            </a:solidFill>
            <a:ln w="6350">
              <a:solidFill>
                <a:srgbClr val="668E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58" name="textbox 2070"/>
            <p:cNvSpPr/>
            <p:nvPr/>
          </p:nvSpPr>
          <p:spPr>
            <a:xfrm>
              <a:off x="2882" y="3270"/>
              <a:ext cx="114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客户数据</a:t>
              </a:r>
              <a:br/>
              <a:r>
                <a:rPr lang="zh-CN" altLang="en-US" sz="1000" kern="0" spc="140" dirty="0" err="1">
                  <a:solidFill>
                    <a:srgbClr val="0042FF">
                      <a:alpha val="100000"/>
                    </a:srgbClr>
                  </a:solidFill>
                  <a:latin typeface="微软雅黑"/>
                  <a:ea typeface="微软雅黑"/>
                  <a:cs typeface="微软雅黑"/>
                </a:rPr>
                <a:t>平台</a:t>
              </a:r>
            </a:p>
          </p:txBody>
        </p:sp>
      </p:grpSp>
      <p:sp>
        <p:nvSpPr>
          <p:cNvPr id="59" name="textbox 2070"/>
          <p:cNvSpPr/>
          <p:nvPr/>
        </p:nvSpPr>
        <p:spPr>
          <a:xfrm>
            <a:off x="6006465" y="1891665"/>
            <a:ext cx="2225040" cy="153670"/>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sz="1000" b="1" kern="0" spc="140" dirty="0" err="1">
                <a:solidFill>
                  <a:srgbClr val="0042FF">
                    <a:alpha val="100000"/>
                  </a:srgbClr>
                </a:solidFill>
                <a:latin typeface="微软雅黑"/>
                <a:ea typeface="微软雅黑"/>
                <a:cs typeface="微软雅黑"/>
              </a:rPr>
              <a:t>核心聚焦：</a:t>
            </a:r>
            <a:r>
              <a:rPr lang="zh-CN" altLang="en-US" sz="1000" kern="0" spc="140" dirty="0" err="1">
                <a:solidFill>
                  <a:srgbClr val="0042FF">
                    <a:alpha val="100000"/>
                  </a:srgbClr>
                </a:solidFill>
                <a:latin typeface="微软雅黑"/>
                <a:ea typeface="微软雅黑"/>
                <a:cs typeface="微软雅黑"/>
              </a:rPr>
              <a:t>提效率、强内核</a:t>
            </a:r>
            <a:endParaRPr lang="zh-CN" altLang="en-US" sz="1000" kern="0" spc="140" dirty="0" err="1">
              <a:solidFill>
                <a:srgbClr val="0042FF">
                  <a:alpha val="100000"/>
                </a:srgbClr>
              </a:solidFill>
              <a:latin typeface="微软雅黑"/>
              <a:ea typeface="微软雅黑"/>
              <a:cs typeface="微软雅黑"/>
            </a:endParaRPr>
          </a:p>
        </p:txBody>
      </p:sp>
      <p:grpSp>
        <p:nvGrpSpPr>
          <p:cNvPr id="62" name="组合 61"/>
          <p:cNvGrpSpPr/>
          <p:nvPr/>
        </p:nvGrpSpPr>
        <p:grpSpPr>
          <a:xfrm>
            <a:off x="6026785" y="2115820"/>
            <a:ext cx="545465" cy="132080"/>
            <a:chOff x="752" y="3332"/>
            <a:chExt cx="859" cy="208"/>
          </a:xfrm>
        </p:grpSpPr>
        <p:sp>
          <p:nvSpPr>
            <p:cNvPr id="63" name="圆角矩形 62"/>
            <p:cNvSpPr/>
            <p:nvPr/>
          </p:nvSpPr>
          <p:spPr>
            <a:xfrm>
              <a:off x="531" y="3264"/>
              <a:ext cx="1160" cy="492"/>
            </a:xfrm>
            <a:prstGeom prst="round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64" name="textbox 2070"/>
            <p:cNvSpPr/>
            <p:nvPr/>
          </p:nvSpPr>
          <p:spPr>
            <a:xfrm>
              <a:off x="541" y="3270"/>
              <a:ext cx="114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数据</a:t>
              </a:r>
              <a:br/>
              <a:r>
                <a:rPr lang="zh-CN" altLang="en-US" sz="1000" kern="0" spc="140" dirty="0" err="1">
                  <a:solidFill>
                    <a:srgbClr val="0042FF">
                      <a:alpha val="100000"/>
                    </a:srgbClr>
                  </a:solidFill>
                  <a:latin typeface="微软雅黑"/>
                  <a:ea typeface="微软雅黑"/>
                  <a:cs typeface="微软雅黑"/>
                </a:rPr>
                <a:t>驱动</a:t>
              </a:r>
            </a:p>
          </p:txBody>
        </p:sp>
      </p:grpSp>
      <p:grpSp>
        <p:nvGrpSpPr>
          <p:cNvPr id="65" name="组合 64"/>
          <p:cNvGrpSpPr/>
          <p:nvPr/>
        </p:nvGrpSpPr>
        <p:grpSpPr>
          <a:xfrm>
            <a:off x="6666865" y="2115820"/>
            <a:ext cx="640080" cy="132080"/>
            <a:chOff x="1741" y="3332"/>
            <a:chExt cx="1008" cy="208"/>
          </a:xfrm>
        </p:grpSpPr>
        <p:sp>
          <p:nvSpPr>
            <p:cNvPr id="66" name="圆角矩形 65"/>
            <p:cNvSpPr/>
            <p:nvPr/>
          </p:nvSpPr>
          <p:spPr>
            <a:xfrm>
              <a:off x="1772" y="3264"/>
              <a:ext cx="1160" cy="492"/>
            </a:xfrm>
            <a:prstGeom prst="round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67" name="textbox 2070"/>
            <p:cNvSpPr/>
            <p:nvPr/>
          </p:nvSpPr>
          <p:spPr>
            <a:xfrm>
              <a:off x="1782" y="3270"/>
              <a:ext cx="114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运营指挥</a:t>
              </a:r>
              <a:br/>
              <a:r>
                <a:rPr lang="zh-CN" altLang="en-US" sz="1000" kern="0" spc="140" dirty="0" err="1">
                  <a:solidFill>
                    <a:srgbClr val="0042FF">
                      <a:alpha val="100000"/>
                    </a:srgbClr>
                  </a:solidFill>
                  <a:latin typeface="微软雅黑"/>
                  <a:ea typeface="微软雅黑"/>
                  <a:cs typeface="微软雅黑"/>
                </a:rPr>
                <a:t>中心</a:t>
              </a:r>
            </a:p>
          </p:txBody>
        </p:sp>
      </p:grpSp>
      <p:grpSp>
        <p:nvGrpSpPr>
          <p:cNvPr id="68" name="组合 67"/>
          <p:cNvGrpSpPr/>
          <p:nvPr/>
        </p:nvGrpSpPr>
        <p:grpSpPr>
          <a:xfrm>
            <a:off x="7401560" y="2115820"/>
            <a:ext cx="737870" cy="132080"/>
            <a:chOff x="2752" y="3332"/>
            <a:chExt cx="1162" cy="208"/>
          </a:xfrm>
        </p:grpSpPr>
        <p:sp>
          <p:nvSpPr>
            <p:cNvPr id="69" name="圆角矩形 68"/>
            <p:cNvSpPr/>
            <p:nvPr/>
          </p:nvSpPr>
          <p:spPr>
            <a:xfrm>
              <a:off x="2886" y="3264"/>
              <a:ext cx="1160" cy="492"/>
            </a:xfrm>
            <a:prstGeom prst="roundRect">
              <a:avLst/>
            </a:prstGeom>
            <a:solidFill>
              <a:srgbClr val="FFFFFF">
                <a:alpha val="50000"/>
              </a:srgbClr>
            </a:solidFill>
            <a:ln w="6350">
              <a:solidFill>
                <a:srgbClr val="0042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70" name="textbox 2070"/>
            <p:cNvSpPr/>
            <p:nvPr/>
          </p:nvSpPr>
          <p:spPr>
            <a:xfrm>
              <a:off x="2896" y="3270"/>
              <a:ext cx="114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全价值</a:t>
              </a:r>
              <a:br/>
              <a:r>
                <a:rPr lang="zh-CN" altLang="en-US" sz="1000" kern="0" spc="140" dirty="0" err="1">
                  <a:solidFill>
                    <a:srgbClr val="0042FF">
                      <a:alpha val="100000"/>
                    </a:srgbClr>
                  </a:solidFill>
                  <a:latin typeface="微软雅黑"/>
                  <a:ea typeface="微软雅黑"/>
                  <a:cs typeface="微软雅黑"/>
                </a:rPr>
                <a:t>链路协同</a:t>
              </a:r>
            </a:p>
          </p:txBody>
        </p:sp>
      </p:grpSp>
      <p:sp>
        <p:nvSpPr>
          <p:cNvPr id="71" name="textbox 2070"/>
          <p:cNvSpPr/>
          <p:nvPr/>
        </p:nvSpPr>
        <p:spPr>
          <a:xfrm>
            <a:off x="5816600" y="2413000"/>
            <a:ext cx="2603500" cy="469900"/>
          </a:xfrm>
          <a:prstGeom prst="rect">
            <a:avLst/>
          </a:prstGeom>
        </p:spPr>
        <p:txBody>
          <a:bodyPr vert="horz" wrap="square" lIns="0" tIns="0" rIns="0" bIns="0" anchor="t">
            <a:noAutofit/>
          </a:bodyPr>
          <a:lstStyle/>
          <a:p>
            <a:pPr marL="12700" algn="ctr" rtl="0" eaLnBrk="0">
              <a:defRPr>
                <a:latin typeface="微软雅黑"/>
                <a:ea typeface="微软雅黑"/>
                <a:cs typeface="微软雅黑"/>
              </a:defRPr>
              <a:lnSpc>
                <a:spcPts val="1100"/>
              </a:lnSpc>
              <a:spcBef>
                <a:spcPts val="0"/>
              </a:spcBef>
              <a:spcAft>
                <a:spcPts val="0"/>
              </a:spcAft>
            </a:pPr>
            <a:r>
              <a:rPr lang="en-US" altLang="zh-CN" sz="1000" kern="0" spc="140" dirty="0" err="1">
                <a:solidFill>
                  <a:srgbClr val="383838">
                    <a:alpha val="100000"/>
                  </a:srgbClr>
                </a:solidFill>
                <a:latin typeface="微软雅黑"/>
                <a:ea typeface="微软雅黑"/>
                <a:cs typeface="微软雅黑"/>
              </a:rPr>
              <a:t> </a:t>
            </a:r>
            <a:r>
              <a:rPr lang="zh-CN" altLang="en-US" sz="1000" kern="0" spc="140" dirty="0" err="1">
                <a:solidFill>
                  <a:srgbClr val="383838">
                    <a:alpha val="100000"/>
                  </a:srgbClr>
                </a:solidFill>
                <a:latin typeface="微软雅黑"/>
                <a:ea typeface="微软雅黑"/>
                <a:cs typeface="微软雅黑"/>
              </a:rPr>
              <a:t>构建企业级数据平台，深化数据治理，形成</a:t>
            </a:r>
            <a:r>
              <a:rPr lang="en-US" altLang="zh-CN" sz="1000" kern="0" spc="140" dirty="0" err="1">
                <a:solidFill>
                  <a:srgbClr val="383838">
                    <a:alpha val="100000"/>
                  </a:srgbClr>
                </a:solidFill>
                <a:latin typeface="微软雅黑"/>
                <a:ea typeface="微软雅黑"/>
                <a:cs typeface="微软雅黑"/>
              </a:rPr>
              <a:t>“</a:t>
            </a:r>
            <a:r>
              <a:rPr lang="zh-CN" altLang="en-US" sz="1000" kern="0" spc="140" dirty="0" err="1">
                <a:solidFill>
                  <a:srgbClr val="383838">
                    <a:alpha val="100000"/>
                  </a:srgbClr>
                </a:solidFill>
                <a:latin typeface="微软雅黑"/>
                <a:ea typeface="微软雅黑"/>
                <a:cs typeface="微软雅黑"/>
              </a:rPr>
              <a:t>数据驱动</a:t>
            </a:r>
            <a:r>
              <a:rPr lang="en-US" altLang="zh-CN" sz="1000" kern="0" spc="140" dirty="0" err="1">
                <a:solidFill>
                  <a:srgbClr val="383838">
                    <a:alpha val="100000"/>
                  </a:srgbClr>
                </a:solidFill>
                <a:latin typeface="微软雅黑"/>
                <a:ea typeface="微软雅黑"/>
                <a:cs typeface="微软雅黑"/>
              </a:rPr>
              <a:t>”</a:t>
            </a:r>
            <a:r>
              <a:rPr lang="zh-CN" altLang="en-US" sz="1000" kern="0" spc="140" dirty="0" err="1">
                <a:solidFill>
                  <a:srgbClr val="383838">
                    <a:alpha val="100000"/>
                  </a:srgbClr>
                </a:solidFill>
                <a:latin typeface="微软雅黑"/>
                <a:ea typeface="微软雅黑"/>
                <a:cs typeface="微软雅黑"/>
              </a:rPr>
              <a:t>。</a:t>
            </a:r>
            <a:r>
              <a:rPr lang="en-US" altLang="zh-CN" sz="1000" kern="0" spc="140" dirty="0" err="1">
                <a:solidFill>
                  <a:srgbClr val="383838">
                    <a:alpha val="100000"/>
                  </a:srgbClr>
                </a:solidFill>
                <a:latin typeface="微软雅黑"/>
                <a:ea typeface="微软雅黑"/>
                <a:cs typeface="微软雅黑"/>
              </a:rPr>
              <a:t> </a:t>
            </a:r>
            <a:r>
              <a:rPr lang="zh-CN" altLang="en-US" sz="1000" kern="0" spc="140" dirty="0" err="1">
                <a:solidFill>
                  <a:srgbClr val="383838">
                    <a:alpha val="100000"/>
                  </a:srgbClr>
                </a:solidFill>
                <a:latin typeface="微软雅黑"/>
                <a:ea typeface="微软雅黑"/>
                <a:cs typeface="微软雅黑"/>
              </a:rPr>
              <a:t>利用云技术，实现财务、人力、协同办公等管理流程的自动化与精细化。</a:t>
            </a:r>
            <a:endParaRPr lang="zh-CN" altLang="en-US" sz="1000" kern="0" spc="140" dirty="0" err="1">
              <a:solidFill>
                <a:srgbClr val="383838">
                  <a:alpha val="100000"/>
                </a:srgbClr>
              </a:solidFill>
              <a:latin typeface="微软雅黑"/>
              <a:ea typeface="微软雅黑"/>
              <a:cs typeface="微软雅黑"/>
            </a:endParaRPr>
          </a:p>
        </p:txBody>
      </p:sp>
      <p:sp>
        <p:nvSpPr>
          <p:cNvPr id="440" name="椭圆 439"/>
          <p:cNvSpPr/>
          <p:nvPr/>
        </p:nvSpPr>
        <p:spPr>
          <a:xfrm>
            <a:off x="9144000" y="2874010"/>
            <a:ext cx="2194560" cy="2186940"/>
          </a:xfrm>
          <a:prstGeom prst="ellipse">
            <a:avLst/>
          </a:prstGeom>
          <a:solidFill>
            <a:srgbClr val="FFFFFF">
              <a:alpha val="8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en-US" altLang="zh-CN" sz="2000">
                <a:latin typeface="微软雅黑"/>
                <a:ea typeface="微软雅黑"/>
                <a:cs typeface="微软雅黑"/>
                <a:sym typeface="微软雅黑"/>
              </a:rPr>
              <a:t>0000</a:t>
            </a:r>
            <a:endParaRPr lang="en-US" altLang="zh-CN" sz="2000">
              <a:latin typeface="微软雅黑"/>
              <a:ea typeface="微软雅黑"/>
              <a:cs typeface="微软雅黑"/>
              <a:sym typeface="微软雅黑"/>
            </a:endParaRPr>
          </a:p>
        </p:txBody>
      </p:sp>
      <p:grpSp>
        <p:nvGrpSpPr>
          <p:cNvPr id="441" name="组合 440"/>
          <p:cNvGrpSpPr/>
          <p:nvPr/>
        </p:nvGrpSpPr>
        <p:grpSpPr>
          <a:xfrm>
            <a:off x="9142095" y="2976245"/>
            <a:ext cx="2132330" cy="1969770"/>
            <a:chOff x="22571" y="8774"/>
            <a:chExt cx="4587" cy="4237"/>
          </a:xfrm>
        </p:grpSpPr>
        <p:sp>
          <p:nvSpPr>
            <p:cNvPr id="442" name="显眼包PPT4"/>
            <p:cNvSpPr/>
            <p:nvPr/>
          </p:nvSpPr>
          <p:spPr>
            <a:xfrm>
              <a:off x="22826" y="8774"/>
              <a:ext cx="4237" cy="4237"/>
            </a:xfrm>
            <a:prstGeom prst="ellipse">
              <a:avLst/>
            </a:prstGeom>
            <a:solidFill>
              <a:srgbClr val="FFFFFF"/>
            </a:solidFill>
            <a:ln w="15875">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443" name="显眼包PPT4"/>
            <p:cNvSpPr/>
            <p:nvPr/>
          </p:nvSpPr>
          <p:spPr>
            <a:xfrm>
              <a:off x="22826" y="8774"/>
              <a:ext cx="4237" cy="4237"/>
            </a:xfrm>
            <a:prstGeom prst="ellipse">
              <a:avLst/>
            </a:prstGeom>
            <a:gradFill flip="none" rotWithShape="1">
              <a:gsLst>
                <a:gs pos="0">
                  <a:srgbClr val="B3D4FE">
                    <a:alpha val="0"/>
                  </a:srgbClr>
                </a:gs>
                <a:gs pos="95000">
                  <a:srgbClr val="B3D4FE">
                    <a:alpha val="32000"/>
                  </a:srgbClr>
                </a:gs>
              </a:gsLst>
              <a:path path="circle">
                <a:fillToRect l="50000" t="50000" r="50000" b="50000"/>
              </a:path>
              <a:tileRect/>
            </a:gradFill>
            <a:ln w="15875">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ea typeface="微软雅黑"/>
                <a:cs typeface="微软雅黑"/>
              </a:endParaRPr>
            </a:p>
          </p:txBody>
        </p:sp>
        <p:grpSp>
          <p:nvGrpSpPr>
            <p:cNvPr id="444" name="显眼包PPT"/>
            <p:cNvGrpSpPr/>
            <p:nvPr/>
          </p:nvGrpSpPr>
          <p:grpSpPr>
            <a:xfrm rot="0">
              <a:off x="23210" y="9158"/>
              <a:ext cx="3470" cy="3470"/>
              <a:chOff x="4235490" y="1777449"/>
              <a:chExt cx="3721021" cy="3721021"/>
            </a:xfrm>
          </p:grpSpPr>
          <p:sp>
            <p:nvSpPr>
              <p:cNvPr id="445" name="显眼包PPT-1"/>
              <p:cNvSpPr/>
              <p:nvPr/>
            </p:nvSpPr>
            <p:spPr>
              <a:xfrm>
                <a:off x="4235490" y="1777449"/>
                <a:ext cx="3721021" cy="3721021"/>
              </a:xfrm>
              <a:prstGeom prst="arc">
                <a:avLst>
                  <a:gd name="adj1" fmla="val 15497049"/>
                  <a:gd name="adj2" fmla="val 16959083"/>
                </a:avLst>
              </a:prstGeom>
              <a:noFill/>
              <a:ln w="15875">
                <a:solidFill>
                  <a:srgbClr val="383838"/>
                </a:solidFill>
                <a:prstDash val="sysDot"/>
                <a:headEnd type="triangle"/>
                <a:tailEnd type="triangle"/>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446" name="显眼包PPT-2"/>
              <p:cNvSpPr/>
              <p:nvPr/>
            </p:nvSpPr>
            <p:spPr>
              <a:xfrm rot="3575644">
                <a:off x="4235490" y="1777449"/>
                <a:ext cx="3721021" cy="3721021"/>
              </a:xfrm>
              <a:prstGeom prst="arc">
                <a:avLst>
                  <a:gd name="adj1" fmla="val 15497049"/>
                  <a:gd name="adj2" fmla="val 16959083"/>
                </a:avLst>
              </a:prstGeom>
              <a:noFill/>
              <a:ln w="15875">
                <a:solidFill>
                  <a:srgbClr val="383838"/>
                </a:solidFill>
                <a:prstDash val="sysDot"/>
                <a:headEnd type="triangle"/>
                <a:tailEnd type="triangle"/>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447" name="显眼包PPT-3"/>
              <p:cNvSpPr/>
              <p:nvPr/>
            </p:nvSpPr>
            <p:spPr>
              <a:xfrm rot="7157820">
                <a:off x="4235490" y="1777449"/>
                <a:ext cx="3721021" cy="3721021"/>
              </a:xfrm>
              <a:prstGeom prst="arc">
                <a:avLst>
                  <a:gd name="adj1" fmla="val 15497049"/>
                  <a:gd name="adj2" fmla="val 16959083"/>
                </a:avLst>
              </a:prstGeom>
              <a:noFill/>
              <a:ln w="15875">
                <a:solidFill>
                  <a:srgbClr val="383838"/>
                </a:solidFill>
                <a:prstDash val="sysDot"/>
                <a:headEnd type="triangle"/>
                <a:tailEnd type="triangle"/>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448" name="显眼包PPT-4"/>
              <p:cNvSpPr/>
              <p:nvPr/>
            </p:nvSpPr>
            <p:spPr>
              <a:xfrm flipV="1">
                <a:off x="4235490" y="1777449"/>
                <a:ext cx="3721021" cy="3721021"/>
              </a:xfrm>
              <a:prstGeom prst="arc">
                <a:avLst>
                  <a:gd name="adj1" fmla="val 15497049"/>
                  <a:gd name="adj2" fmla="val 16959083"/>
                </a:avLst>
              </a:prstGeom>
              <a:noFill/>
              <a:ln w="15875">
                <a:solidFill>
                  <a:srgbClr val="383838"/>
                </a:solidFill>
                <a:prstDash val="sysDot"/>
                <a:headEnd type="triangle"/>
                <a:tailEnd type="triangle"/>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449" name="显眼包PPT-5"/>
              <p:cNvSpPr/>
              <p:nvPr/>
            </p:nvSpPr>
            <p:spPr>
              <a:xfrm rot="14442180" flipH="1">
                <a:off x="4235490" y="1777449"/>
                <a:ext cx="3721021" cy="3721021"/>
              </a:xfrm>
              <a:prstGeom prst="arc">
                <a:avLst>
                  <a:gd name="adj1" fmla="val 15497049"/>
                  <a:gd name="adj2" fmla="val 16959083"/>
                </a:avLst>
              </a:prstGeom>
              <a:noFill/>
              <a:ln w="15875">
                <a:solidFill>
                  <a:srgbClr val="383838"/>
                </a:solidFill>
                <a:prstDash val="sysDot"/>
                <a:headEnd type="triangle"/>
                <a:tailEnd type="triangle"/>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a:latin typeface="微软雅黑"/>
                  <a:ea typeface="微软雅黑"/>
                  <a:cs typeface="微软雅黑"/>
                </a:endParaRPr>
              </a:p>
            </p:txBody>
          </p:sp>
          <p:sp>
            <p:nvSpPr>
              <p:cNvPr id="450" name="显眼包PPT-6"/>
              <p:cNvSpPr/>
              <p:nvPr/>
            </p:nvSpPr>
            <p:spPr>
              <a:xfrm rot="18024356" flipH="1">
                <a:off x="4235490" y="1777449"/>
                <a:ext cx="3721021" cy="3721021"/>
              </a:xfrm>
              <a:prstGeom prst="arc">
                <a:avLst>
                  <a:gd name="adj1" fmla="val 15497049"/>
                  <a:gd name="adj2" fmla="val 16959083"/>
                </a:avLst>
              </a:prstGeom>
              <a:noFill/>
              <a:ln w="15875">
                <a:solidFill>
                  <a:srgbClr val="383838"/>
                </a:solidFill>
                <a:prstDash val="sysDot"/>
                <a:headEnd type="triangle"/>
                <a:tailEnd type="triangle"/>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zh-CN" altLang="en-US" sz="1000">
                  <a:latin typeface="微软雅黑"/>
                  <a:ea typeface="微软雅黑"/>
                  <a:cs typeface="微软雅黑"/>
                </a:endParaRPr>
              </a:p>
            </p:txBody>
          </p:sp>
        </p:grpSp>
        <p:sp>
          <p:nvSpPr>
            <p:cNvPr id="451" name="显眼包PPT6"/>
            <p:cNvSpPr/>
            <p:nvPr/>
          </p:nvSpPr>
          <p:spPr>
            <a:xfrm>
              <a:off x="23884" y="9832"/>
              <a:ext cx="2122" cy="2122"/>
            </a:xfrm>
            <a:prstGeom prst="ellipse">
              <a:avLst/>
            </a:prstGeom>
            <a:solidFill>
              <a:srgbClr val="FFFFFF"/>
            </a:solidFill>
            <a:ln w="22225">
              <a:gradFill flip="none" rotWithShape="1">
                <a:gsLst>
                  <a:gs pos="0">
                    <a:srgbClr val="3368FF"/>
                  </a:gs>
                  <a:gs pos="50000">
                    <a:srgbClr val="B3D4FE"/>
                  </a:gs>
                  <a:gs pos="100000">
                    <a:srgbClr val="3368FF"/>
                  </a:gs>
                </a:gsLst>
                <a:lin ang="2700000" scaled="1"/>
                <a:tileRect/>
              </a:gradFill>
            </a:ln>
            <a:effectLst>
              <a:outerShdw blurRad="330200" dist="25400" sx="102000" sy="102000" algn="ctr" rotWithShape="0">
                <a:srgbClr val="B3D4FE">
                  <a:alpha val="23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sz="1000">
                <a:latin typeface="微软雅黑"/>
                <a:ea typeface="微软雅黑"/>
                <a:cs typeface="微软雅黑"/>
              </a:endParaRPr>
            </a:p>
          </p:txBody>
        </p:sp>
        <p:grpSp>
          <p:nvGrpSpPr>
            <p:cNvPr id="452" name="显眼包PPT7"/>
            <p:cNvGrpSpPr/>
            <p:nvPr/>
          </p:nvGrpSpPr>
          <p:grpSpPr>
            <a:xfrm rot="0">
              <a:off x="23580" y="8873"/>
              <a:ext cx="934" cy="922"/>
              <a:chOff x="9219966" y="3643468"/>
              <a:chExt cx="573715" cy="557480"/>
            </a:xfrm>
            <a:effectLst/>
          </p:grpSpPr>
          <p:sp>
            <p:nvSpPr>
              <p:cNvPr id="453" name="显眼包PPT7-1"/>
              <p:cNvSpPr/>
              <p:nvPr/>
            </p:nvSpPr>
            <p:spPr>
              <a:xfrm>
                <a:off x="9227337" y="3643468"/>
                <a:ext cx="566344" cy="557480"/>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454" name="显眼包PPT7-2"/>
              <p:cNvSpPr/>
              <p:nvPr/>
            </p:nvSpPr>
            <p:spPr>
              <a:xfrm>
                <a:off x="9219966" y="3643468"/>
                <a:ext cx="566344" cy="557480"/>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3683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协同</a:t>
                </a:r>
                <a:endParaRPr lang="zh-CN" sz="1000" b="1" dirty="0">
                  <a:solidFill>
                    <a:srgbClr val="FFFFFF"/>
                  </a:solidFill>
                  <a:effectLst/>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服务</a:t>
                </a:r>
                <a:endParaRPr lang="zh-CN" sz="1000" b="1" dirty="0">
                  <a:solidFill>
                    <a:srgbClr val="FFFFFF"/>
                  </a:solidFill>
                  <a:effectLst/>
                  <a:latin typeface="微软雅黑"/>
                  <a:ea typeface="微软雅黑"/>
                  <a:cs typeface="微软雅黑"/>
                  <a:sym typeface="微软雅黑"/>
                </a:endParaRPr>
              </a:p>
            </p:txBody>
          </p:sp>
        </p:grpSp>
        <p:grpSp>
          <p:nvGrpSpPr>
            <p:cNvPr id="455" name="显眼包PPT"/>
            <p:cNvGrpSpPr/>
            <p:nvPr/>
          </p:nvGrpSpPr>
          <p:grpSpPr>
            <a:xfrm rot="0">
              <a:off x="23551" y="9327"/>
              <a:ext cx="2766" cy="1173"/>
              <a:chOff x="4600417" y="1952147"/>
              <a:chExt cx="2967760" cy="1257432"/>
            </a:xfrm>
          </p:grpSpPr>
          <p:sp>
            <p:nvSpPr>
              <p:cNvPr id="456" name="显眼包PPT-1"/>
              <p:cNvSpPr txBox="1"/>
              <p:nvPr/>
            </p:nvSpPr>
            <p:spPr>
              <a:xfrm>
                <a:off x="5636085" y="1952147"/>
                <a:ext cx="981973" cy="409979"/>
              </a:xfrm>
              <a:prstGeom prst="rect">
                <a:avLst/>
              </a:prstGeom>
              <a:noFill/>
            </p:spPr>
            <p:txBody>
              <a:bodyPr wrap="square" lIns="0" tIns="0" rIns="0" bIns="0" rtlCol="0" anchor="ctr">
                <a:noAutofit/>
              </a:bodyPr>
              <a:lstStyle>
                <a:defPPr>
                  <a:defRPr lang="en-US">
                    <a:latin typeface="微软雅黑"/>
                    <a:ea typeface="微软雅黑"/>
                    <a:cs typeface="微软雅黑"/>
                  </a:defRPr>
                </a:defPPr>
                <a:lvl1pPr algn="ctr">
                  <a:defRPr sz="1400">
                    <a:solidFill>
                      <a:srgbClr val="0042FF"/>
                    </a:solidFill>
                    <a:latin typeface="微软雅黑"/>
                    <a:ea typeface="微软雅黑"/>
                    <a:cs typeface="微软雅黑"/>
                  </a:defRPr>
                </a:lvl1p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新趋势</a:t>
                </a:r>
                <a:endParaRPr lang="zh-CN" altLang="en-US" sz="1000" dirty="0">
                  <a:solidFill>
                    <a:srgbClr val="383838"/>
                  </a:solidFill>
                  <a:latin typeface="微软雅黑"/>
                  <a:ea typeface="微软雅黑"/>
                  <a:cs typeface="微软雅黑"/>
                  <a:sym typeface="微软雅黑"/>
                </a:endParaRPr>
              </a:p>
            </p:txBody>
          </p:sp>
          <p:sp>
            <p:nvSpPr>
              <p:cNvPr id="457" name="显眼包PPT-5"/>
              <p:cNvSpPr txBox="1"/>
              <p:nvPr/>
            </p:nvSpPr>
            <p:spPr>
              <a:xfrm rot="7238604" flipV="1">
                <a:off x="4208056" y="2711494"/>
                <a:ext cx="981973" cy="409979"/>
              </a:xfrm>
              <a:prstGeom prst="rect">
                <a:avLst/>
              </a:prstGeom>
              <a:noFill/>
            </p:spPr>
            <p:txBody>
              <a:bodyPr wrap="square" lIns="0" tIns="0" rIns="0" bIns="0" rtlCol="0" anchor="ctr">
                <a:noAutofit/>
              </a:bodyPr>
              <a:lstStyle>
                <a:defPPr>
                  <a:defRPr lang="en-US">
                    <a:latin typeface="微软雅黑"/>
                    <a:ea typeface="微软雅黑"/>
                    <a:cs typeface="微软雅黑"/>
                  </a:defRPr>
                </a:defPPr>
                <a:lvl1pPr algn="ctr">
                  <a:defRPr sz="1400">
                    <a:solidFill>
                      <a:srgbClr val="0042FF"/>
                    </a:solidFill>
                    <a:latin typeface="微软雅黑"/>
                    <a:ea typeface="微软雅黑"/>
                    <a:cs typeface="微软雅黑"/>
                  </a:defRPr>
                </a:lvl1p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新挑战</a:t>
                </a:r>
                <a:endParaRPr lang="zh-CN" altLang="en-US" sz="1000" dirty="0">
                  <a:solidFill>
                    <a:srgbClr val="383838"/>
                  </a:solidFill>
                  <a:latin typeface="微软雅黑"/>
                  <a:ea typeface="微软雅黑"/>
                  <a:cs typeface="微软雅黑"/>
                  <a:sym typeface="微软雅黑"/>
                </a:endParaRPr>
              </a:p>
            </p:txBody>
          </p:sp>
          <p:sp>
            <p:nvSpPr>
              <p:cNvPr id="458" name="显眼包PPT-6"/>
              <p:cNvSpPr txBox="1"/>
              <p:nvPr/>
            </p:nvSpPr>
            <p:spPr>
              <a:xfrm rot="14302764" flipV="1">
                <a:off x="6985981" y="2757370"/>
                <a:ext cx="981973" cy="409979"/>
              </a:xfrm>
              <a:prstGeom prst="rect">
                <a:avLst/>
              </a:prstGeom>
              <a:noFill/>
            </p:spPr>
            <p:txBody>
              <a:bodyPr wrap="square" lIns="0" tIns="0" rIns="0" bIns="0" rtlCol="0" anchor="ctr">
                <a:noAutofit/>
              </a:bodyPr>
              <a:lstStyle>
                <a:defPPr>
                  <a:defRPr lang="en-US">
                    <a:latin typeface="微软雅黑"/>
                    <a:ea typeface="微软雅黑"/>
                    <a:cs typeface="微软雅黑"/>
                  </a:defRPr>
                </a:defPPr>
                <a:lvl1pPr algn="ctr">
                  <a:defRPr sz="1400">
                    <a:solidFill>
                      <a:srgbClr val="0042FF"/>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新产品</a:t>
                </a:r>
                <a:endParaRPr lang="zh-CN" altLang="en-US" sz="1000" dirty="0">
                  <a:solidFill>
                    <a:srgbClr val="383838"/>
                  </a:solidFill>
                  <a:latin typeface="微软雅黑"/>
                  <a:ea typeface="微软雅黑"/>
                  <a:cs typeface="微软雅黑"/>
                </a:endParaRPr>
              </a:p>
            </p:txBody>
          </p:sp>
        </p:grpSp>
        <p:sp>
          <p:nvSpPr>
            <p:cNvPr id="459" name="显眼包PPT25"/>
            <p:cNvSpPr/>
            <p:nvPr/>
          </p:nvSpPr>
          <p:spPr>
            <a:xfrm>
              <a:off x="23996" y="9944"/>
              <a:ext cx="1897" cy="1897"/>
            </a:xfrm>
            <a:custGeom>
              <a:avLst/>
              <a:gdLst>
                <a:gd name="connsiteX0" fmla="*/ 24479 w 1352550"/>
                <a:gd name="connsiteY0" fmla="*/ 820198 h 1352550"/>
                <a:gd name="connsiteX1" fmla="*/ 15144 w 1352550"/>
                <a:gd name="connsiteY1" fmla="*/ 822198 h 1352550"/>
                <a:gd name="connsiteX2" fmla="*/ 0 w 1352550"/>
                <a:gd name="connsiteY2" fmla="*/ 679799 h 1352550"/>
                <a:gd name="connsiteX3" fmla="*/ 15144 w 1352550"/>
                <a:gd name="connsiteY3" fmla="*/ 537401 h 1352550"/>
                <a:gd name="connsiteX4" fmla="*/ 24479 w 1352550"/>
                <a:gd name="connsiteY4" fmla="*/ 539401 h 1352550"/>
                <a:gd name="connsiteX5" fmla="*/ 9525 w 1352550"/>
                <a:gd name="connsiteY5" fmla="*/ 679799 h 1352550"/>
                <a:gd name="connsiteX6" fmla="*/ 24479 w 1352550"/>
                <a:gd name="connsiteY6" fmla="*/ 820198 h 1352550"/>
                <a:gd name="connsiteX7" fmla="*/ 1350073 w 1352550"/>
                <a:gd name="connsiteY7" fmla="*/ 679799 h 1352550"/>
                <a:gd name="connsiteX8" fmla="*/ 1335119 w 1352550"/>
                <a:gd name="connsiteY8" fmla="*/ 820198 h 1352550"/>
                <a:gd name="connsiteX9" fmla="*/ 1344453 w 1352550"/>
                <a:gd name="connsiteY9" fmla="*/ 822198 h 1352550"/>
                <a:gd name="connsiteX10" fmla="*/ 1359598 w 1352550"/>
                <a:gd name="connsiteY10" fmla="*/ 679799 h 1352550"/>
                <a:gd name="connsiteX11" fmla="*/ 1344453 w 1352550"/>
                <a:gd name="connsiteY11" fmla="*/ 537401 h 1352550"/>
                <a:gd name="connsiteX12" fmla="*/ 1335119 w 1352550"/>
                <a:gd name="connsiteY12" fmla="*/ 539401 h 1352550"/>
                <a:gd name="connsiteX13" fmla="*/ 1350073 w 1352550"/>
                <a:gd name="connsiteY13" fmla="*/ 679799 h 1352550"/>
                <a:gd name="connsiteX14" fmla="*/ 190881 w 1352550"/>
                <a:gd name="connsiteY14" fmla="*/ 222028 h 1352550"/>
                <a:gd name="connsiteX15" fmla="*/ 679799 w 1352550"/>
                <a:gd name="connsiteY15" fmla="*/ 9525 h 1352550"/>
                <a:gd name="connsiteX16" fmla="*/ 1168718 w 1352550"/>
                <a:gd name="connsiteY16" fmla="*/ 221933 h 1352550"/>
                <a:gd name="connsiteX17" fmla="*/ 1175671 w 1352550"/>
                <a:gd name="connsiteY17" fmla="*/ 215455 h 1352550"/>
                <a:gd name="connsiteX18" fmla="*/ 679799 w 1352550"/>
                <a:gd name="connsiteY18" fmla="*/ 0 h 1352550"/>
                <a:gd name="connsiteX19" fmla="*/ 183928 w 1352550"/>
                <a:gd name="connsiteY19" fmla="*/ 215455 h 1352550"/>
                <a:gd name="connsiteX20" fmla="*/ 190881 w 1352550"/>
                <a:gd name="connsiteY20" fmla="*/ 222028 h 1352550"/>
                <a:gd name="connsiteX21" fmla="*/ 1168718 w 1352550"/>
                <a:gd name="connsiteY21" fmla="*/ 1137571 h 1352550"/>
                <a:gd name="connsiteX22" fmla="*/ 679799 w 1352550"/>
                <a:gd name="connsiteY22" fmla="*/ 1349978 h 1352550"/>
                <a:gd name="connsiteX23" fmla="*/ 190881 w 1352550"/>
                <a:gd name="connsiteY23" fmla="*/ 1137476 h 1352550"/>
                <a:gd name="connsiteX24" fmla="*/ 183928 w 1352550"/>
                <a:gd name="connsiteY24" fmla="*/ 1143952 h 1352550"/>
                <a:gd name="connsiteX25" fmla="*/ 679799 w 1352550"/>
                <a:gd name="connsiteY25" fmla="*/ 1359408 h 1352550"/>
                <a:gd name="connsiteX26" fmla="*/ 1175671 w 1352550"/>
                <a:gd name="connsiteY26" fmla="*/ 1143952 h 1352550"/>
                <a:gd name="connsiteX27" fmla="*/ 1168718 w 1352550"/>
                <a:gd name="connsiteY27" fmla="*/ 1137571 h 135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52550" h="1352550">
                  <a:moveTo>
                    <a:pt x="24479" y="820198"/>
                  </a:moveTo>
                  <a:lnTo>
                    <a:pt x="15144" y="822198"/>
                  </a:lnTo>
                  <a:cubicBezTo>
                    <a:pt x="5334" y="776287"/>
                    <a:pt x="0" y="728663"/>
                    <a:pt x="0" y="679799"/>
                  </a:cubicBezTo>
                  <a:cubicBezTo>
                    <a:pt x="0" y="630936"/>
                    <a:pt x="5334" y="583311"/>
                    <a:pt x="15144" y="537401"/>
                  </a:cubicBezTo>
                  <a:lnTo>
                    <a:pt x="24479" y="539401"/>
                  </a:lnTo>
                  <a:cubicBezTo>
                    <a:pt x="14764" y="584740"/>
                    <a:pt x="9525" y="631698"/>
                    <a:pt x="9525" y="679799"/>
                  </a:cubicBezTo>
                  <a:cubicBezTo>
                    <a:pt x="9525" y="727901"/>
                    <a:pt x="14764" y="774859"/>
                    <a:pt x="24479" y="820198"/>
                  </a:cubicBezTo>
                  <a:close/>
                  <a:moveTo>
                    <a:pt x="1350073" y="679799"/>
                  </a:moveTo>
                  <a:cubicBezTo>
                    <a:pt x="1350073" y="727996"/>
                    <a:pt x="1344835" y="774859"/>
                    <a:pt x="1335119" y="820198"/>
                  </a:cubicBezTo>
                  <a:lnTo>
                    <a:pt x="1344453" y="822198"/>
                  </a:lnTo>
                  <a:cubicBezTo>
                    <a:pt x="1354264" y="776287"/>
                    <a:pt x="1359598" y="728663"/>
                    <a:pt x="1359598" y="679799"/>
                  </a:cubicBezTo>
                  <a:cubicBezTo>
                    <a:pt x="1359598" y="630936"/>
                    <a:pt x="1354264" y="583311"/>
                    <a:pt x="1344453" y="537401"/>
                  </a:cubicBezTo>
                  <a:lnTo>
                    <a:pt x="1335119" y="539401"/>
                  </a:lnTo>
                  <a:cubicBezTo>
                    <a:pt x="1344835" y="584644"/>
                    <a:pt x="1350073" y="631603"/>
                    <a:pt x="1350073" y="679799"/>
                  </a:cubicBezTo>
                  <a:close/>
                  <a:moveTo>
                    <a:pt x="190881" y="222028"/>
                  </a:moveTo>
                  <a:cubicBezTo>
                    <a:pt x="313277" y="91440"/>
                    <a:pt x="487109" y="9525"/>
                    <a:pt x="679799" y="9525"/>
                  </a:cubicBezTo>
                  <a:cubicBezTo>
                    <a:pt x="872490" y="9525"/>
                    <a:pt x="1046321" y="91345"/>
                    <a:pt x="1168718" y="221933"/>
                  </a:cubicBezTo>
                  <a:lnTo>
                    <a:pt x="1175671" y="215455"/>
                  </a:lnTo>
                  <a:cubicBezTo>
                    <a:pt x="1051560" y="82963"/>
                    <a:pt x="875252" y="0"/>
                    <a:pt x="679799" y="0"/>
                  </a:cubicBezTo>
                  <a:cubicBezTo>
                    <a:pt x="484346" y="0"/>
                    <a:pt x="308038" y="82963"/>
                    <a:pt x="183928" y="215455"/>
                  </a:cubicBezTo>
                  <a:lnTo>
                    <a:pt x="190881" y="222028"/>
                  </a:lnTo>
                  <a:close/>
                  <a:moveTo>
                    <a:pt x="1168718" y="1137571"/>
                  </a:moveTo>
                  <a:cubicBezTo>
                    <a:pt x="1046321" y="1268159"/>
                    <a:pt x="872490" y="1349978"/>
                    <a:pt x="679799" y="1349978"/>
                  </a:cubicBezTo>
                  <a:cubicBezTo>
                    <a:pt x="487109" y="1349978"/>
                    <a:pt x="313277" y="1268159"/>
                    <a:pt x="190881" y="1137476"/>
                  </a:cubicBezTo>
                  <a:lnTo>
                    <a:pt x="183928" y="1143952"/>
                  </a:lnTo>
                  <a:cubicBezTo>
                    <a:pt x="308038" y="1276445"/>
                    <a:pt x="484346" y="1359408"/>
                    <a:pt x="679799" y="1359408"/>
                  </a:cubicBezTo>
                  <a:cubicBezTo>
                    <a:pt x="875252" y="1359408"/>
                    <a:pt x="1051560" y="1276445"/>
                    <a:pt x="1175671" y="1143952"/>
                  </a:cubicBezTo>
                  <a:lnTo>
                    <a:pt x="1168718" y="1137571"/>
                  </a:lnTo>
                  <a:close/>
                </a:path>
              </a:pathLst>
            </a:custGeom>
            <a:solidFill>
              <a:srgbClr val="3368FF"/>
            </a:solidFill>
            <a:ln w="9525" cap="flat">
              <a:noFill/>
              <a:prstDash val="solid"/>
              <a:miter/>
            </a:ln>
          </p:spPr>
          <p:txBody>
            <a:bodyPr rtlCol="0" anchor="ctr" lIns="0" rIns="0" tIns="0" bIns="0"/>
            <a:lstStyle/>
            <a:p>
              <a:pPr>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460" name="显眼包PPT26-1"/>
            <p:cNvSpPr txBox="1"/>
            <p:nvPr/>
          </p:nvSpPr>
          <p:spPr>
            <a:xfrm>
              <a:off x="24083" y="10704"/>
              <a:ext cx="1724" cy="871"/>
            </a:xfrm>
            <a:prstGeom prst="rect">
              <a:avLst/>
            </a:prstGeom>
            <a:noFill/>
          </p:spPr>
          <p:txBody>
            <a:bodyPr wrap="square" lIns="0" tIns="0" rIns="0" bIns="0" rtlCol="0">
              <a:spAutoFit/>
            </a:bodyPr>
            <a:lstStyle/>
            <a:p>
              <a:pPr algn="ctr">
                <a:lnSpc>
                  <a:spcPct val="110000"/>
                </a:lnSpc>
                <a:defRPr>
                  <a:solidFill>
                    <a:srgbClr val="383838"/>
                  </a:solidFill>
                  <a:latin typeface="微软雅黑"/>
                  <a:ea typeface="微软雅黑"/>
                  <a:cs typeface="微软雅黑"/>
                </a:defRPr>
              </a:pPr>
              <a:r>
                <a:rPr lang="zh-CN" altLang="en-US" sz="1200" b="1" dirty="0">
                  <a:solidFill>
                    <a:srgbClr val="383838"/>
                  </a:solidFill>
                  <a:latin typeface="微软雅黑"/>
                  <a:ea typeface="微软雅黑"/>
                  <a:cs typeface="微软雅黑"/>
                </a:rPr>
                <a:t>数字化</a:t>
              </a:r>
              <a:endParaRPr lang="zh-CN" altLang="en-US" sz="1200" b="1" dirty="0">
                <a:solidFill>
                  <a:srgbClr val="383838"/>
                </a:solidFill>
                <a:latin typeface="微软雅黑"/>
                <a:ea typeface="微软雅黑"/>
                <a:cs typeface="微软雅黑"/>
              </a:endParaRPr>
            </a:p>
            <a:p>
              <a:pPr algn="ctr">
                <a:lnSpc>
                  <a:spcPct val="110000"/>
                </a:lnSpc>
                <a:defRPr>
                  <a:solidFill>
                    <a:srgbClr val="383838"/>
                  </a:solidFill>
                  <a:latin typeface="微软雅黑"/>
                  <a:ea typeface="微软雅黑"/>
                  <a:cs typeface="微软雅黑"/>
                </a:defRPr>
              </a:pPr>
              <a:r>
                <a:rPr lang="zh-CN" altLang="en-US" sz="1200" b="1" dirty="0">
                  <a:solidFill>
                    <a:srgbClr val="383838"/>
                  </a:solidFill>
                  <a:latin typeface="微软雅黑"/>
                  <a:ea typeface="微软雅黑"/>
                  <a:cs typeface="微软雅黑"/>
                </a:rPr>
                <a:t>生态</a:t>
              </a:r>
              <a:endParaRPr lang="zh-CN" altLang="en-US" sz="1200" b="1" dirty="0">
                <a:solidFill>
                  <a:srgbClr val="383838"/>
                </a:solidFill>
                <a:latin typeface="微软雅黑"/>
                <a:ea typeface="微软雅黑"/>
                <a:cs typeface="微软雅黑"/>
              </a:endParaRPr>
            </a:p>
          </p:txBody>
        </p:sp>
        <p:pic>
          <p:nvPicPr>
            <p:cNvPr id="461" name="图片 460" descr="司库生态圈"/>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24725" y="10218"/>
              <a:ext cx="441" cy="441"/>
            </a:xfrm>
            <a:prstGeom prst="rect">
              <a:avLst/>
            </a:prstGeom>
          </p:spPr>
        </p:pic>
        <p:grpSp>
          <p:nvGrpSpPr>
            <p:cNvPr id="462" name="显眼包PPT7"/>
            <p:cNvGrpSpPr/>
            <p:nvPr/>
          </p:nvGrpSpPr>
          <p:grpSpPr>
            <a:xfrm rot="0">
              <a:off x="25376" y="8873"/>
              <a:ext cx="934" cy="922"/>
              <a:chOff x="9219966" y="3643468"/>
              <a:chExt cx="573715" cy="557480"/>
            </a:xfrm>
            <a:effectLst/>
          </p:grpSpPr>
          <p:sp>
            <p:nvSpPr>
              <p:cNvPr id="463" name="显眼包PPT7-1"/>
              <p:cNvSpPr/>
              <p:nvPr/>
            </p:nvSpPr>
            <p:spPr>
              <a:xfrm>
                <a:off x="9227337" y="3643468"/>
                <a:ext cx="566344" cy="557480"/>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464" name="显眼包PPT7-2"/>
              <p:cNvSpPr/>
              <p:nvPr/>
            </p:nvSpPr>
            <p:spPr>
              <a:xfrm>
                <a:off x="9219966" y="3643468"/>
                <a:ext cx="566344" cy="557480"/>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3683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研发</a:t>
                </a:r>
                <a:endParaRPr lang="zh-CN" sz="1000" b="1" dirty="0">
                  <a:solidFill>
                    <a:srgbClr val="FFFFFF"/>
                  </a:solidFill>
                  <a:effectLst/>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设计</a:t>
                </a:r>
                <a:endParaRPr lang="zh-CN" sz="1000" b="1" dirty="0">
                  <a:solidFill>
                    <a:srgbClr val="FFFFFF"/>
                  </a:solidFill>
                  <a:effectLst/>
                  <a:latin typeface="微软雅黑"/>
                  <a:ea typeface="微软雅黑"/>
                  <a:cs typeface="微软雅黑"/>
                  <a:sym typeface="微软雅黑"/>
                </a:endParaRPr>
              </a:p>
            </p:txBody>
          </p:sp>
        </p:grpSp>
        <p:grpSp>
          <p:nvGrpSpPr>
            <p:cNvPr id="465" name="显眼包PPT7"/>
            <p:cNvGrpSpPr/>
            <p:nvPr/>
          </p:nvGrpSpPr>
          <p:grpSpPr>
            <a:xfrm rot="0">
              <a:off x="26224" y="10423"/>
              <a:ext cx="934" cy="922"/>
              <a:chOff x="9219966" y="3643468"/>
              <a:chExt cx="573715" cy="557480"/>
            </a:xfrm>
            <a:effectLst/>
          </p:grpSpPr>
          <p:sp>
            <p:nvSpPr>
              <p:cNvPr id="466" name="显眼包PPT7-1"/>
              <p:cNvSpPr/>
              <p:nvPr/>
            </p:nvSpPr>
            <p:spPr>
              <a:xfrm>
                <a:off x="9227337" y="3643468"/>
                <a:ext cx="566344" cy="557480"/>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467" name="显眼包PPT7-2"/>
              <p:cNvSpPr/>
              <p:nvPr/>
            </p:nvSpPr>
            <p:spPr>
              <a:xfrm>
                <a:off x="9219966" y="3643468"/>
                <a:ext cx="566344" cy="557480"/>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3683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数字</a:t>
                </a:r>
                <a:endParaRPr lang="zh-CN" sz="1000" b="1" dirty="0">
                  <a:solidFill>
                    <a:srgbClr val="FFFFFF"/>
                  </a:solidFill>
                  <a:effectLst/>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营销</a:t>
                </a:r>
                <a:endParaRPr lang="zh-CN" sz="1000" b="1" dirty="0">
                  <a:solidFill>
                    <a:srgbClr val="FFFFFF"/>
                  </a:solidFill>
                  <a:effectLst/>
                  <a:latin typeface="微软雅黑"/>
                  <a:ea typeface="微软雅黑"/>
                  <a:cs typeface="微软雅黑"/>
                  <a:sym typeface="微软雅黑"/>
                </a:endParaRPr>
              </a:p>
            </p:txBody>
          </p:sp>
        </p:grpSp>
        <p:grpSp>
          <p:nvGrpSpPr>
            <p:cNvPr id="468" name="显眼包PPT7"/>
            <p:cNvGrpSpPr/>
            <p:nvPr/>
          </p:nvGrpSpPr>
          <p:grpSpPr>
            <a:xfrm rot="0">
              <a:off x="25414" y="11967"/>
              <a:ext cx="934" cy="922"/>
              <a:chOff x="9219966" y="3643468"/>
              <a:chExt cx="573715" cy="557480"/>
            </a:xfrm>
            <a:effectLst/>
          </p:grpSpPr>
          <p:sp>
            <p:nvSpPr>
              <p:cNvPr id="469" name="显眼包PPT7-1"/>
              <p:cNvSpPr/>
              <p:nvPr/>
            </p:nvSpPr>
            <p:spPr>
              <a:xfrm>
                <a:off x="9227337" y="3643468"/>
                <a:ext cx="566344" cy="557480"/>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470" name="显眼包PPT7-2"/>
              <p:cNvSpPr/>
              <p:nvPr/>
            </p:nvSpPr>
            <p:spPr>
              <a:xfrm>
                <a:off x="9219966" y="3643468"/>
                <a:ext cx="566344" cy="557480"/>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3683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供应链</a:t>
                </a:r>
                <a:endParaRPr lang="zh-CN" sz="1000" b="1" dirty="0">
                  <a:solidFill>
                    <a:srgbClr val="FFFFFF"/>
                  </a:solidFill>
                  <a:effectLst/>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网络</a:t>
                </a:r>
                <a:endParaRPr lang="zh-CN" sz="1000" b="1" dirty="0">
                  <a:solidFill>
                    <a:srgbClr val="FFFFFF"/>
                  </a:solidFill>
                  <a:effectLst/>
                  <a:latin typeface="微软雅黑"/>
                  <a:ea typeface="微软雅黑"/>
                  <a:cs typeface="微软雅黑"/>
                  <a:sym typeface="微软雅黑"/>
                </a:endParaRPr>
              </a:p>
            </p:txBody>
          </p:sp>
        </p:grpSp>
        <p:grpSp>
          <p:nvGrpSpPr>
            <p:cNvPr id="471" name="显眼包PPT7"/>
            <p:cNvGrpSpPr/>
            <p:nvPr/>
          </p:nvGrpSpPr>
          <p:grpSpPr>
            <a:xfrm rot="0">
              <a:off x="23580" y="12016"/>
              <a:ext cx="934" cy="922"/>
              <a:chOff x="9219966" y="3643468"/>
              <a:chExt cx="573715" cy="557480"/>
            </a:xfrm>
            <a:effectLst/>
          </p:grpSpPr>
          <p:sp>
            <p:nvSpPr>
              <p:cNvPr id="472" name="显眼包PPT7-1"/>
              <p:cNvSpPr/>
              <p:nvPr/>
            </p:nvSpPr>
            <p:spPr>
              <a:xfrm>
                <a:off x="9227337" y="3643468"/>
                <a:ext cx="566344" cy="557480"/>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473" name="显眼包PPT7-2"/>
              <p:cNvSpPr/>
              <p:nvPr/>
            </p:nvSpPr>
            <p:spPr>
              <a:xfrm>
                <a:off x="9219966" y="3643468"/>
                <a:ext cx="566344" cy="557480"/>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3683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智能</a:t>
                </a:r>
                <a:endParaRPr lang="zh-CN" sz="1000" b="1" dirty="0">
                  <a:solidFill>
                    <a:srgbClr val="FFFFFF"/>
                  </a:solidFill>
                  <a:effectLst/>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制造</a:t>
                </a:r>
                <a:endParaRPr lang="zh-CN" sz="1000" b="1" dirty="0">
                  <a:solidFill>
                    <a:srgbClr val="FFFFFF"/>
                  </a:solidFill>
                  <a:effectLst/>
                  <a:latin typeface="微软雅黑"/>
                  <a:ea typeface="微软雅黑"/>
                  <a:cs typeface="微软雅黑"/>
                  <a:sym typeface="微软雅黑"/>
                </a:endParaRPr>
              </a:p>
            </p:txBody>
          </p:sp>
        </p:grpSp>
        <p:grpSp>
          <p:nvGrpSpPr>
            <p:cNvPr id="474" name="显眼包PPT7"/>
            <p:cNvGrpSpPr/>
            <p:nvPr/>
          </p:nvGrpSpPr>
          <p:grpSpPr>
            <a:xfrm rot="0">
              <a:off x="22571" y="10370"/>
              <a:ext cx="934" cy="922"/>
              <a:chOff x="9219966" y="3643468"/>
              <a:chExt cx="573715" cy="557480"/>
            </a:xfrm>
            <a:effectLst/>
          </p:grpSpPr>
          <p:sp>
            <p:nvSpPr>
              <p:cNvPr id="475" name="显眼包PPT7-1"/>
              <p:cNvSpPr/>
              <p:nvPr/>
            </p:nvSpPr>
            <p:spPr>
              <a:xfrm>
                <a:off x="9227337" y="3643468"/>
                <a:ext cx="566344" cy="557480"/>
              </a:xfrm>
              <a:prstGeom prst="ellipse">
                <a:avLst/>
              </a:prstGeom>
              <a:gradFill flip="none" rotWithShape="1">
                <a:gsLst>
                  <a:gs pos="89000">
                    <a:srgbClr val="3368FF"/>
                  </a:gs>
                  <a:gs pos="49000">
                    <a:srgbClr val="B3D4FE"/>
                  </a:gs>
                  <a:gs pos="9000">
                    <a:srgbClr val="FFFFFF">
                      <a:alpha val="3000"/>
                    </a:srgbClr>
                  </a:gs>
                </a:gsLst>
                <a:path path="circle">
                  <a:fillToRect r="100000" b="100000"/>
                </a:path>
                <a:tileRect l="-100000" t="-100000"/>
              </a:gradFill>
              <a:ln>
                <a:noFill/>
              </a:ln>
              <a:effectLst>
                <a:innerShdw blurRad="114300">
                  <a:srgbClr val="B3D4FE"/>
                </a:inn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476" name="显眼包PPT7-2"/>
              <p:cNvSpPr/>
              <p:nvPr/>
            </p:nvSpPr>
            <p:spPr>
              <a:xfrm>
                <a:off x="9219966" y="3643468"/>
                <a:ext cx="566344" cy="557480"/>
              </a:xfrm>
              <a:prstGeom prst="ellipse">
                <a:avLst/>
              </a:prstGeom>
              <a:gradFill flip="none" rotWithShape="1">
                <a:gsLst>
                  <a:gs pos="0">
                    <a:srgbClr val="FFFFFF"/>
                  </a:gs>
                  <a:gs pos="56000">
                    <a:srgbClr val="FFFFFF">
                      <a:alpha val="0"/>
                    </a:srgbClr>
                  </a:gs>
                </a:gsLst>
                <a:path path="circle">
                  <a:fillToRect r="100000" b="100000"/>
                </a:path>
                <a:tileRect l="-100000" t="-100000"/>
              </a:gradFill>
              <a:ln>
                <a:noFill/>
              </a:ln>
              <a:effectLst>
                <a:innerShdw blurRad="368300">
                  <a:srgbClr val="B3D4FE"/>
                </a:inn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精细化</a:t>
                </a:r>
                <a:endParaRPr lang="zh-CN" sz="1000" b="1" dirty="0">
                  <a:solidFill>
                    <a:srgbClr val="FFFFFF"/>
                  </a:solidFill>
                  <a:effectLst/>
                  <a:latin typeface="微软雅黑"/>
                  <a:ea typeface="微软雅黑"/>
                  <a:cs typeface="微软雅黑"/>
                  <a:sym typeface="微软雅黑"/>
                </a:endParaRPr>
              </a:p>
              <a:p>
                <a:pPr algn="ctr">
                  <a:defRPr>
                    <a:solidFill>
                      <a:srgbClr val="FFFFFF"/>
                    </a:solidFill>
                    <a:latin typeface="微软雅黑"/>
                    <a:ea typeface="微软雅黑"/>
                    <a:cs typeface="微软雅黑"/>
                  </a:defRPr>
                  <a:lnSpc>
                    <a:spcPts val="1120"/>
                  </a:lnSpc>
                  <a:spcBef>
                    <a:spcPts val="0"/>
                  </a:spcBef>
                  <a:spcAft>
                    <a:spcPts val="0"/>
                  </a:spcAft>
                </a:pPr>
                <a:r>
                  <a:rPr lang="zh-CN" sz="1000" b="1" dirty="0">
                    <a:solidFill>
                      <a:srgbClr val="FFFFFF"/>
                    </a:solidFill>
                    <a:effectLst/>
                    <a:latin typeface="微软雅黑"/>
                    <a:ea typeface="微软雅黑"/>
                    <a:cs typeface="微软雅黑"/>
                    <a:sym typeface="微软雅黑"/>
                  </a:rPr>
                  <a:t>运营</a:t>
                </a:r>
                <a:endParaRPr lang="zh-CN" sz="1000" b="1" dirty="0">
                  <a:solidFill>
                    <a:srgbClr val="FFFFFF"/>
                  </a:solidFill>
                  <a:effectLst/>
                  <a:latin typeface="微软雅黑"/>
                  <a:ea typeface="微软雅黑"/>
                  <a:cs typeface="微软雅黑"/>
                  <a:sym typeface="微软雅黑"/>
                </a:endParaRPr>
              </a:p>
            </p:txBody>
          </p:sp>
        </p:grpSp>
        <p:sp>
          <p:nvSpPr>
            <p:cNvPr id="477" name="显眼包PPT-6"/>
            <p:cNvSpPr txBox="1"/>
            <p:nvPr/>
          </p:nvSpPr>
          <p:spPr>
            <a:xfrm rot="7162764" flipV="1">
              <a:off x="25781" y="11497"/>
              <a:ext cx="915" cy="382"/>
            </a:xfrm>
            <a:prstGeom prst="rect">
              <a:avLst/>
            </a:prstGeom>
            <a:noFill/>
          </p:spPr>
          <p:txBody>
            <a:bodyPr wrap="square" lIns="0" tIns="0" rIns="0" bIns="0" rtlCol="0" anchor="ctr">
              <a:noAutofit/>
            </a:bodyPr>
            <a:lstStyle>
              <a:defPPr>
                <a:defRPr lang="en-US">
                  <a:latin typeface="微软雅黑"/>
                  <a:ea typeface="微软雅黑"/>
                  <a:cs typeface="微软雅黑"/>
                </a:defRPr>
              </a:defPPr>
              <a:lvl1pPr algn="ctr">
                <a:defRPr sz="1400">
                  <a:solidFill>
                    <a:srgbClr val="0042FF"/>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新模式</a:t>
              </a:r>
              <a:endParaRPr lang="zh-CN" altLang="en-US" sz="1000" dirty="0">
                <a:solidFill>
                  <a:srgbClr val="383838"/>
                </a:solidFill>
                <a:latin typeface="微软雅黑"/>
                <a:ea typeface="微软雅黑"/>
                <a:cs typeface="微软雅黑"/>
              </a:endParaRPr>
            </a:p>
          </p:txBody>
        </p:sp>
        <p:sp>
          <p:nvSpPr>
            <p:cNvPr id="478" name="显眼包PPT-6"/>
            <p:cNvSpPr txBox="1"/>
            <p:nvPr/>
          </p:nvSpPr>
          <p:spPr>
            <a:xfrm rot="10800000" flipV="1">
              <a:off x="24651" y="12269"/>
              <a:ext cx="658" cy="675"/>
            </a:xfrm>
            <a:prstGeom prst="rect">
              <a:avLst/>
            </a:prstGeom>
            <a:noFill/>
          </p:spPr>
          <p:txBody>
            <a:bodyPr wrap="square" lIns="0" tIns="0" rIns="0" bIns="0" rtlCol="0" anchor="t">
              <a:noAutofit/>
            </a:bodyPr>
            <a:lstStyle>
              <a:defPPr>
                <a:defRPr lang="en-US">
                  <a:latin typeface="微软雅黑"/>
                  <a:ea typeface="微软雅黑"/>
                  <a:cs typeface="微软雅黑"/>
                </a:defRPr>
              </a:defPPr>
              <a:lvl1pPr algn="ctr">
                <a:defRPr sz="1400">
                  <a:solidFill>
                    <a:srgbClr val="0042FF"/>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新生态</a:t>
              </a:r>
              <a:endParaRPr lang="zh-CN" altLang="en-US" sz="1000" dirty="0">
                <a:solidFill>
                  <a:srgbClr val="383838"/>
                </a:solidFill>
                <a:latin typeface="微软雅黑"/>
                <a:ea typeface="微软雅黑"/>
                <a:cs typeface="微软雅黑"/>
              </a:endParaRPr>
            </a:p>
          </p:txBody>
        </p:sp>
        <p:sp>
          <p:nvSpPr>
            <p:cNvPr id="479" name="显眼包PPT-6"/>
            <p:cNvSpPr txBox="1"/>
            <p:nvPr/>
          </p:nvSpPr>
          <p:spPr>
            <a:xfrm rot="14280000" flipV="1">
              <a:off x="23221" y="11534"/>
              <a:ext cx="915" cy="382"/>
            </a:xfrm>
            <a:prstGeom prst="rect">
              <a:avLst/>
            </a:prstGeom>
            <a:noFill/>
          </p:spPr>
          <p:txBody>
            <a:bodyPr wrap="square" lIns="0" tIns="0" rIns="0" bIns="0" rtlCol="0" anchor="ctr">
              <a:noAutofit/>
            </a:bodyPr>
            <a:lstStyle>
              <a:defPPr>
                <a:defRPr lang="en-US">
                  <a:latin typeface="微软雅黑"/>
                  <a:ea typeface="微软雅黑"/>
                  <a:cs typeface="微软雅黑"/>
                </a:defRPr>
              </a:defPPr>
              <a:lvl1pPr algn="ctr">
                <a:defRPr sz="1400">
                  <a:solidFill>
                    <a:srgbClr val="0042FF"/>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新机遇</a:t>
              </a:r>
              <a:endParaRPr lang="zh-CN" altLang="en-US" sz="1000" dirty="0">
                <a:solidFill>
                  <a:srgbClr val="383838"/>
                </a:solidFill>
                <a:latin typeface="微软雅黑"/>
                <a:ea typeface="微软雅黑"/>
                <a:cs typeface="微软雅黑"/>
              </a:endParaRPr>
            </a:p>
          </p:txBody>
        </p:sp>
      </p:grpSp>
      <p:sp>
        <p:nvSpPr>
          <p:cNvPr id="480" name="textbox 2070"/>
          <p:cNvSpPr/>
          <p:nvPr/>
        </p:nvSpPr>
        <p:spPr>
          <a:xfrm>
            <a:off x="9008110" y="1891665"/>
            <a:ext cx="2225040" cy="153670"/>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sz="1000" b="1" kern="0" spc="140" dirty="0" err="1">
                <a:solidFill>
                  <a:srgbClr val="0042FF">
                    <a:alpha val="100000"/>
                  </a:srgbClr>
                </a:solidFill>
                <a:latin typeface="微软雅黑"/>
                <a:ea typeface="微软雅黑"/>
                <a:cs typeface="微软雅黑"/>
              </a:rPr>
              <a:t>核心聚焦：</a:t>
            </a:r>
            <a:r>
              <a:rPr lang="zh-CN" altLang="en-US" sz="1000" kern="0" spc="140" dirty="0" err="1">
                <a:solidFill>
                  <a:srgbClr val="0042FF">
                    <a:alpha val="100000"/>
                  </a:srgbClr>
                </a:solidFill>
                <a:latin typeface="微软雅黑"/>
                <a:ea typeface="微软雅黑"/>
                <a:cs typeface="微软雅黑"/>
              </a:rPr>
              <a:t>拓边界、促共生</a:t>
            </a:r>
            <a:endParaRPr lang="zh-CN" altLang="en-US" sz="1000" kern="0" spc="140" dirty="0" err="1">
              <a:solidFill>
                <a:srgbClr val="0042FF">
                  <a:alpha val="100000"/>
                </a:srgbClr>
              </a:solidFill>
              <a:latin typeface="微软雅黑"/>
              <a:ea typeface="微软雅黑"/>
              <a:cs typeface="微软雅黑"/>
            </a:endParaRPr>
          </a:p>
        </p:txBody>
      </p:sp>
      <p:sp>
        <p:nvSpPr>
          <p:cNvPr id="490" name="textbox 2070"/>
          <p:cNvSpPr/>
          <p:nvPr/>
        </p:nvSpPr>
        <p:spPr>
          <a:xfrm>
            <a:off x="8864600" y="2413000"/>
            <a:ext cx="2590800" cy="469900"/>
          </a:xfrm>
          <a:prstGeom prst="rect">
            <a:avLst/>
          </a:prstGeom>
        </p:spPr>
        <p:txBody>
          <a:bodyPr vert="horz" wrap="square" lIns="0" tIns="0" rIns="0" bIns="0" anchor="t">
            <a:noAutofit/>
          </a:bodyPr>
          <a:lstStyle/>
          <a:p>
            <a:pPr marL="12700" algn="ctr" rtl="0" eaLnBrk="0">
              <a:defRPr>
                <a:latin typeface="微软雅黑"/>
                <a:ea typeface="微软雅黑"/>
                <a:cs typeface="微软雅黑"/>
              </a:defRPr>
              <a:lnSpc>
                <a:spcPts val="1100"/>
              </a:lnSpc>
              <a:spcBef>
                <a:spcPts val="0"/>
              </a:spcBef>
              <a:spcAft>
                <a:spcPts val="0"/>
              </a:spcAft>
            </a:pPr>
            <a:r>
              <a:rPr lang="zh-CN" altLang="en-US" sz="1000" kern="0" spc="140" dirty="0" err="1">
                <a:solidFill>
                  <a:srgbClr val="383838">
                    <a:alpha val="100000"/>
                  </a:srgbClr>
                </a:solidFill>
                <a:latin typeface="微软雅黑"/>
                <a:ea typeface="微软雅黑"/>
                <a:cs typeface="微软雅黑"/>
              </a:rPr>
              <a:t>跳出企业边界，通过平台与数据连接上下游合作伙伴、同业乃至跨界伙伴，构建协同设计、共享制造、供应链金融等数字化生态。</a:t>
            </a:r>
            <a:endParaRPr lang="zh-CN" altLang="en-US" sz="1000" kern="0" spc="140" dirty="0" err="1">
              <a:solidFill>
                <a:srgbClr val="383838">
                  <a:alpha val="100000"/>
                </a:srgbClr>
              </a:solidFill>
              <a:latin typeface="微软雅黑"/>
              <a:ea typeface="微软雅黑"/>
              <a:cs typeface="微软雅黑"/>
            </a:endParaRPr>
          </a:p>
        </p:txBody>
      </p:sp>
      <p:grpSp>
        <p:nvGrpSpPr>
          <p:cNvPr id="491" name="组合 490"/>
          <p:cNvGrpSpPr/>
          <p:nvPr/>
        </p:nvGrpSpPr>
        <p:grpSpPr>
          <a:xfrm>
            <a:off x="9066530" y="2115820"/>
            <a:ext cx="641350" cy="132080"/>
            <a:chOff x="1741" y="3332"/>
            <a:chExt cx="1010" cy="208"/>
          </a:xfrm>
        </p:grpSpPr>
        <p:sp>
          <p:nvSpPr>
            <p:cNvPr id="492" name="圆角矩形 491"/>
            <p:cNvSpPr/>
            <p:nvPr/>
          </p:nvSpPr>
          <p:spPr>
            <a:xfrm>
              <a:off x="1553" y="3264"/>
              <a:ext cx="1180" cy="492"/>
            </a:xfrm>
            <a:prstGeom prst="roundRect">
              <a:avLst/>
            </a:prstGeom>
            <a:solidFill>
              <a:srgbClr val="FFFFFF">
                <a:alpha val="50000"/>
              </a:srgbClr>
            </a:solidFill>
            <a:ln w="6350">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493" name="textbox 2070"/>
            <p:cNvSpPr/>
            <p:nvPr/>
          </p:nvSpPr>
          <p:spPr>
            <a:xfrm>
              <a:off x="1563" y="3270"/>
              <a:ext cx="116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产品生态</a:t>
              </a:r>
              <a:br/>
              <a:r>
                <a:rPr lang="zh-CN" altLang="en-US" sz="1000" kern="0" spc="140" dirty="0" err="1">
                  <a:solidFill>
                    <a:srgbClr val="0042FF">
                      <a:alpha val="100000"/>
                    </a:srgbClr>
                  </a:solidFill>
                  <a:latin typeface="微软雅黑"/>
                  <a:ea typeface="微软雅黑"/>
                  <a:cs typeface="微软雅黑"/>
                </a:rPr>
                <a:t>构建</a:t>
              </a:r>
            </a:p>
          </p:txBody>
        </p:sp>
      </p:grpSp>
      <p:grpSp>
        <p:nvGrpSpPr>
          <p:cNvPr id="494" name="组合 493"/>
          <p:cNvGrpSpPr/>
          <p:nvPr/>
        </p:nvGrpSpPr>
        <p:grpSpPr>
          <a:xfrm>
            <a:off x="9799955" y="2115820"/>
            <a:ext cx="641350" cy="132080"/>
            <a:chOff x="1741" y="3332"/>
            <a:chExt cx="1010" cy="208"/>
          </a:xfrm>
        </p:grpSpPr>
        <p:sp>
          <p:nvSpPr>
            <p:cNvPr id="495" name="圆角矩形 494"/>
            <p:cNvSpPr/>
            <p:nvPr/>
          </p:nvSpPr>
          <p:spPr>
            <a:xfrm>
              <a:off x="1698" y="3264"/>
              <a:ext cx="1180" cy="492"/>
            </a:xfrm>
            <a:prstGeom prst="roundRect">
              <a:avLst/>
            </a:prstGeom>
            <a:solidFill>
              <a:srgbClr val="FFFFFF">
                <a:alpha val="50000"/>
              </a:srgbClr>
            </a:solidFill>
            <a:ln w="6350">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496" name="textbox 2070"/>
            <p:cNvSpPr/>
            <p:nvPr/>
          </p:nvSpPr>
          <p:spPr>
            <a:xfrm>
              <a:off x="1708" y="3270"/>
              <a:ext cx="116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商业模式</a:t>
              </a:r>
              <a:br/>
              <a:r>
                <a:rPr lang="zh-CN" altLang="en-US" sz="1000" kern="0" spc="140" dirty="0" err="1">
                  <a:solidFill>
                    <a:srgbClr val="0042FF">
                      <a:alpha val="100000"/>
                    </a:srgbClr>
                  </a:solidFill>
                  <a:latin typeface="微软雅黑"/>
                  <a:ea typeface="微软雅黑"/>
                  <a:cs typeface="微软雅黑"/>
                </a:rPr>
                <a:t>颠覆</a:t>
              </a:r>
            </a:p>
          </p:txBody>
        </p:sp>
      </p:grpSp>
      <p:grpSp>
        <p:nvGrpSpPr>
          <p:cNvPr id="497" name="组合 496"/>
          <p:cNvGrpSpPr/>
          <p:nvPr/>
        </p:nvGrpSpPr>
        <p:grpSpPr>
          <a:xfrm>
            <a:off x="10533380" y="2115820"/>
            <a:ext cx="641350" cy="132080"/>
            <a:chOff x="1741" y="3332"/>
            <a:chExt cx="1010" cy="208"/>
          </a:xfrm>
        </p:grpSpPr>
        <p:sp>
          <p:nvSpPr>
            <p:cNvPr id="498" name="圆角矩形 497"/>
            <p:cNvSpPr/>
            <p:nvPr/>
          </p:nvSpPr>
          <p:spPr>
            <a:xfrm>
              <a:off x="1843" y="3264"/>
              <a:ext cx="1180" cy="492"/>
            </a:xfrm>
            <a:prstGeom prst="roundRect">
              <a:avLst/>
            </a:prstGeom>
            <a:solidFill>
              <a:srgbClr val="FFFFFF">
                <a:alpha val="50000"/>
              </a:srgbClr>
            </a:solidFill>
            <a:ln w="6350">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499" name="textbox 2070"/>
            <p:cNvSpPr/>
            <p:nvPr/>
          </p:nvSpPr>
          <p:spPr>
            <a:xfrm>
              <a:off x="1853" y="3270"/>
              <a:ext cx="1160" cy="480"/>
            </a:xfrm>
            <a:prstGeom prst="rect">
              <a:avLst/>
            </a:prstGeom>
          </p:spPr>
          <p:txBody>
            <a:bodyPr wrap="none" anchor="ctr" lIns="0" rIns="0" tIns="0" bIns="0">
              <a:noAutofit/>
            </a:bodyPr>
            <a:lstStyle/>
            <a:p>
              <a:pPr algn="ctr" marL="0" marR="0" indent="0">
                <a:lnSpc>
                  <a:spcPts val="1050"/>
                </a:lnSpc>
                <a:spcBef>
                  <a:spcPts val="0"/>
                </a:spcBef>
                <a:spcAft>
                  <a:spcPts val="0"/>
                </a:spcAft>
                <a:buNone/>
                <a:defRPr lang="zh-CN" altLang="en-US" sz="1000" kern="0" spc="140" dirty="0" err="1">
                  <a:solidFill>
                    <a:srgbClr val="0042FF">
                      <a:alpha val="100000"/>
                    </a:srgbClr>
                  </a:solidFill>
                  <a:latin typeface="微软雅黑"/>
                  <a:ea typeface="微软雅黑"/>
                  <a:cs typeface="微软雅黑"/>
                </a:defRPr>
              </a:pPr>
              <a:r>
                <a:rPr lang="zh-CN" altLang="en-US" sz="1000" kern="0" spc="140" dirty="0" err="1">
                  <a:solidFill>
                    <a:srgbClr val="0042FF">
                      <a:alpha val="100000"/>
                    </a:srgbClr>
                  </a:solidFill>
                  <a:latin typeface="微软雅黑"/>
                  <a:ea typeface="微软雅黑"/>
                  <a:cs typeface="微软雅黑"/>
                </a:rPr>
                <a:t>价值网络</a:t>
              </a:r>
              <a:br/>
              <a:r>
                <a:rPr lang="zh-CN" altLang="en-US" sz="1000" kern="0" spc="140" dirty="0" err="1">
                  <a:solidFill>
                    <a:srgbClr val="0042FF">
                      <a:alpha val="100000"/>
                    </a:srgbClr>
                  </a:solidFill>
                  <a:latin typeface="微软雅黑"/>
                  <a:ea typeface="微软雅黑"/>
                  <a:cs typeface="微软雅黑"/>
                </a:rPr>
                <a:t>主导</a:t>
              </a:r>
            </a:p>
          </p:txBody>
        </p:sp>
      </p:grpSp>
      <p:grpSp>
        <p:nvGrpSpPr>
          <p:cNvPr id="518" name="组合 517"/>
          <p:cNvGrpSpPr/>
          <p:nvPr/>
        </p:nvGrpSpPr>
        <p:grpSpPr>
          <a:xfrm>
            <a:off x="942975" y="5358130"/>
            <a:ext cx="405130" cy="405130"/>
            <a:chOff x="1741" y="8606"/>
            <a:chExt cx="638" cy="638"/>
          </a:xfrm>
        </p:grpSpPr>
        <p:sp>
          <p:nvSpPr>
            <p:cNvPr id="501" name="椭圆 500"/>
            <p:cNvSpPr/>
            <p:nvPr/>
          </p:nvSpPr>
          <p:spPr>
            <a:xfrm>
              <a:off x="1741" y="8606"/>
              <a:ext cx="639" cy="639"/>
            </a:xfrm>
            <a:prstGeom prst="ellipse">
              <a:avLst/>
            </a:prstGeom>
            <a:gradFill>
              <a:gsLst>
                <a:gs pos="100000">
                  <a:srgbClr val="3368FF"/>
                </a:gs>
                <a:gs pos="0">
                  <a:srgbClr val="0042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pic>
          <p:nvPicPr>
            <p:cNvPr id="506" name="图片 505" descr="物联网"/>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1826" y="8691"/>
              <a:ext cx="469" cy="469"/>
            </a:xfrm>
            <a:prstGeom prst="rect">
              <a:avLst/>
            </a:prstGeom>
          </p:spPr>
        </p:pic>
      </p:grpSp>
      <p:sp>
        <p:nvSpPr>
          <p:cNvPr id="513" name="椭圆 512"/>
          <p:cNvSpPr/>
          <p:nvPr/>
        </p:nvSpPr>
        <p:spPr>
          <a:xfrm>
            <a:off x="7571105" y="5386070"/>
            <a:ext cx="405765" cy="405765"/>
          </a:xfrm>
          <a:prstGeom prst="ellipse">
            <a:avLst/>
          </a:prstGeom>
          <a:gradFill>
            <a:gsLst>
              <a:gs pos="100000">
                <a:srgbClr val="3368FF"/>
              </a:gs>
              <a:gs pos="0">
                <a:srgbClr val="0042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nvGrpSpPr>
          <p:cNvPr id="515" name="组合 514"/>
          <p:cNvGrpSpPr/>
          <p:nvPr/>
        </p:nvGrpSpPr>
        <p:grpSpPr>
          <a:xfrm>
            <a:off x="5982335" y="5358130"/>
            <a:ext cx="405130" cy="405130"/>
            <a:chOff x="9677" y="8606"/>
            <a:chExt cx="638" cy="638"/>
          </a:xfrm>
        </p:grpSpPr>
        <p:sp>
          <p:nvSpPr>
            <p:cNvPr id="511" name="椭圆 510"/>
            <p:cNvSpPr/>
            <p:nvPr/>
          </p:nvSpPr>
          <p:spPr>
            <a:xfrm>
              <a:off x="9677" y="8606"/>
              <a:ext cx="639" cy="639"/>
            </a:xfrm>
            <a:prstGeom prst="ellipse">
              <a:avLst/>
            </a:prstGeom>
            <a:gradFill>
              <a:gsLst>
                <a:gs pos="100000">
                  <a:srgbClr val="3368FF"/>
                </a:gs>
                <a:gs pos="0">
                  <a:srgbClr val="0042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pic>
          <p:nvPicPr>
            <p:cNvPr id="514" name="图片 513" descr="AI (1)"/>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9803" y="8732"/>
              <a:ext cx="388" cy="388"/>
            </a:xfrm>
            <a:prstGeom prst="rect">
              <a:avLst/>
            </a:prstGeom>
          </p:spPr>
        </p:pic>
      </p:grpSp>
      <p:grpSp>
        <p:nvGrpSpPr>
          <p:cNvPr id="517" name="组合 516"/>
          <p:cNvGrpSpPr/>
          <p:nvPr/>
        </p:nvGrpSpPr>
        <p:grpSpPr>
          <a:xfrm>
            <a:off x="2614930" y="5358130"/>
            <a:ext cx="405130" cy="405130"/>
            <a:chOff x="4374" y="8606"/>
            <a:chExt cx="638" cy="638"/>
          </a:xfrm>
        </p:grpSpPr>
        <p:sp>
          <p:nvSpPr>
            <p:cNvPr id="509" name="椭圆 508"/>
            <p:cNvSpPr/>
            <p:nvPr/>
          </p:nvSpPr>
          <p:spPr>
            <a:xfrm>
              <a:off x="4374" y="8606"/>
              <a:ext cx="639" cy="639"/>
            </a:xfrm>
            <a:prstGeom prst="ellipse">
              <a:avLst/>
            </a:prstGeom>
            <a:gradFill>
              <a:gsLst>
                <a:gs pos="100000">
                  <a:srgbClr val="3368FF"/>
                </a:gs>
                <a:gs pos="0">
                  <a:srgbClr val="0042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pic>
          <p:nvPicPr>
            <p:cNvPr id="516" name="图片 515" descr="互联网"/>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4424" y="8656"/>
              <a:ext cx="539" cy="539"/>
            </a:xfrm>
            <a:prstGeom prst="rect">
              <a:avLst/>
            </a:prstGeom>
          </p:spPr>
        </p:pic>
      </p:grpSp>
      <p:grpSp>
        <p:nvGrpSpPr>
          <p:cNvPr id="520" name="组合 519"/>
          <p:cNvGrpSpPr/>
          <p:nvPr/>
        </p:nvGrpSpPr>
        <p:grpSpPr>
          <a:xfrm>
            <a:off x="4280535" y="5365750"/>
            <a:ext cx="405130" cy="405130"/>
            <a:chOff x="6997" y="8618"/>
            <a:chExt cx="638" cy="638"/>
          </a:xfrm>
        </p:grpSpPr>
        <p:sp>
          <p:nvSpPr>
            <p:cNvPr id="510" name="椭圆 509"/>
            <p:cNvSpPr/>
            <p:nvPr/>
          </p:nvSpPr>
          <p:spPr>
            <a:xfrm>
              <a:off x="6997" y="8618"/>
              <a:ext cx="639" cy="639"/>
            </a:xfrm>
            <a:prstGeom prst="ellipse">
              <a:avLst/>
            </a:prstGeom>
            <a:gradFill>
              <a:gsLst>
                <a:gs pos="100000">
                  <a:srgbClr val="3368FF"/>
                </a:gs>
                <a:gs pos="0">
                  <a:srgbClr val="0042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pic>
          <p:nvPicPr>
            <p:cNvPr id="519" name="图片 518" descr="物联网 (1)"/>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071" y="8692"/>
              <a:ext cx="492" cy="492"/>
            </a:xfrm>
            <a:prstGeom prst="rect">
              <a:avLst/>
            </a:prstGeom>
          </p:spPr>
        </p:pic>
      </p:grpSp>
      <p:pic>
        <p:nvPicPr>
          <p:cNvPr id="521" name="图片 520" descr="云计算-41"/>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7657465" y="5479415"/>
            <a:ext cx="230505" cy="230505"/>
          </a:xfrm>
          <a:prstGeom prst="rect">
            <a:avLst/>
          </a:prstGeom>
        </p:spPr>
      </p:pic>
      <p:grpSp>
        <p:nvGrpSpPr>
          <p:cNvPr id="523" name="组合 522"/>
          <p:cNvGrpSpPr/>
          <p:nvPr/>
        </p:nvGrpSpPr>
        <p:grpSpPr>
          <a:xfrm>
            <a:off x="5147945" y="5244783"/>
            <a:ext cx="294640" cy="329565"/>
            <a:chOff x="10980" y="8069"/>
            <a:chExt cx="464" cy="519"/>
          </a:xfrm>
        </p:grpSpPr>
        <p:cxnSp>
          <p:nvCxnSpPr>
            <p:cNvPr id="524" name="直线箭头连接符 113"/>
            <p:cNvCxnSpPr/>
            <p:nvPr/>
          </p:nvCxnSpPr>
          <p:spPr>
            <a:xfrm flipV="1">
              <a:off x="10980" y="8370"/>
              <a:ext cx="0" cy="218"/>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525" name="直线箭头连接符 114"/>
            <p:cNvCxnSpPr/>
            <p:nvPr/>
          </p:nvCxnSpPr>
          <p:spPr>
            <a:xfrm flipV="1">
              <a:off x="11226" y="8069"/>
              <a:ext cx="0" cy="36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526" name="直线箭头连接符 118"/>
            <p:cNvCxnSpPr/>
            <p:nvPr/>
          </p:nvCxnSpPr>
          <p:spPr>
            <a:xfrm flipV="1">
              <a:off x="11444" y="8225"/>
              <a:ext cx="0" cy="30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grpSp>
      <p:grpSp>
        <p:nvGrpSpPr>
          <p:cNvPr id="527" name="组合 526"/>
          <p:cNvGrpSpPr/>
          <p:nvPr/>
        </p:nvGrpSpPr>
        <p:grpSpPr>
          <a:xfrm>
            <a:off x="3486785" y="5244783"/>
            <a:ext cx="294640" cy="329565"/>
            <a:chOff x="10980" y="8069"/>
            <a:chExt cx="464" cy="519"/>
          </a:xfrm>
        </p:grpSpPr>
        <p:cxnSp>
          <p:nvCxnSpPr>
            <p:cNvPr id="528" name="直线箭头连接符 113"/>
            <p:cNvCxnSpPr/>
            <p:nvPr/>
          </p:nvCxnSpPr>
          <p:spPr>
            <a:xfrm flipV="1">
              <a:off x="10980" y="8370"/>
              <a:ext cx="0" cy="218"/>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529" name="直线箭头连接符 114"/>
            <p:cNvCxnSpPr/>
            <p:nvPr/>
          </p:nvCxnSpPr>
          <p:spPr>
            <a:xfrm flipV="1">
              <a:off x="11226" y="8069"/>
              <a:ext cx="0" cy="36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530" name="直线箭头连接符 118"/>
            <p:cNvCxnSpPr/>
            <p:nvPr/>
          </p:nvCxnSpPr>
          <p:spPr>
            <a:xfrm flipV="1">
              <a:off x="11444" y="8225"/>
              <a:ext cx="0" cy="30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grpSp>
      <p:grpSp>
        <p:nvGrpSpPr>
          <p:cNvPr id="531" name="组合 530"/>
          <p:cNvGrpSpPr/>
          <p:nvPr/>
        </p:nvGrpSpPr>
        <p:grpSpPr>
          <a:xfrm>
            <a:off x="1825625" y="5244783"/>
            <a:ext cx="294640" cy="329565"/>
            <a:chOff x="10980" y="8069"/>
            <a:chExt cx="464" cy="519"/>
          </a:xfrm>
        </p:grpSpPr>
        <p:cxnSp>
          <p:nvCxnSpPr>
            <p:cNvPr id="532" name="直线箭头连接符 113"/>
            <p:cNvCxnSpPr/>
            <p:nvPr/>
          </p:nvCxnSpPr>
          <p:spPr>
            <a:xfrm flipV="1">
              <a:off x="10980" y="8370"/>
              <a:ext cx="0" cy="218"/>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533" name="直线箭头连接符 114"/>
            <p:cNvCxnSpPr/>
            <p:nvPr/>
          </p:nvCxnSpPr>
          <p:spPr>
            <a:xfrm flipV="1">
              <a:off x="11226" y="8069"/>
              <a:ext cx="0" cy="36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cxnSp>
          <p:nvCxnSpPr>
            <p:cNvPr id="534" name="直线箭头连接符 118"/>
            <p:cNvCxnSpPr/>
            <p:nvPr/>
          </p:nvCxnSpPr>
          <p:spPr>
            <a:xfrm flipV="1">
              <a:off x="11444" y="8225"/>
              <a:ext cx="0" cy="303"/>
            </a:xfrm>
            <a:prstGeom prst="straightConnector1">
              <a:avLst/>
            </a:prstGeom>
            <a:ln w="12700">
              <a:gradFill>
                <a:gsLst>
                  <a:gs pos="0">
                    <a:srgbClr val="0042FF">
                      <a:alpha val="0"/>
                    </a:srgbClr>
                  </a:gs>
                  <a:gs pos="100000">
                    <a:srgbClr val="0042FF"/>
                  </a:gs>
                </a:gsLst>
                <a:lin ang="5400000" scaled="1"/>
              </a:gradFill>
              <a:tailEnd type="triangle"/>
            </a:ln>
          </p:spPr>
          <p:style>
            <a:lnRef idx="1">
              <a:srgbClr val="0042FF"/>
            </a:lnRef>
            <a:fillRef idx="0">
              <a:srgbClr val="0042FF"/>
            </a:fillRef>
            <a:effectRef idx="0">
              <a:srgbClr val="0042FF"/>
            </a:effectRef>
            <a:fontRef idx="minor">
              <a:srgbClr val="383838"/>
            </a:fontRef>
          </p:style>
        </p:cxnSp>
      </p:grpSp>
      <p:grpSp>
        <p:nvGrpSpPr>
          <p:cNvPr id="6" name="组合 5"/>
          <p:cNvGrpSpPr/>
          <p:nvPr/>
        </p:nvGrpSpPr>
        <p:grpSpPr>
          <a:xfrm>
            <a:off x="8764270" y="5259070"/>
            <a:ext cx="2705735" cy="1225550"/>
            <a:chOff x="14186" y="8349"/>
            <a:chExt cx="4261" cy="2074"/>
          </a:xfrm>
        </p:grpSpPr>
        <p:sp>
          <p:nvSpPr>
            <p:cNvPr id="364" name="五边形 363"/>
            <p:cNvSpPr/>
            <p:nvPr/>
          </p:nvSpPr>
          <p:spPr>
            <a:xfrm flipH="1">
              <a:off x="14186" y="8349"/>
              <a:ext cx="4261" cy="2074"/>
            </a:xfrm>
            <a:prstGeom prst="homePlate">
              <a:avLst>
                <a:gd name="adj" fmla="val 34210"/>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35" name="五边形 534"/>
            <p:cNvSpPr/>
            <p:nvPr/>
          </p:nvSpPr>
          <p:spPr>
            <a:xfrm flipH="1">
              <a:off x="14351" y="8459"/>
              <a:ext cx="3950" cy="1854"/>
            </a:xfrm>
            <a:prstGeom prst="homePlate">
              <a:avLst>
                <a:gd name="adj" fmla="val 34210"/>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sp>
        <p:nvSpPr>
          <p:cNvPr id="536" name="textbox 2070"/>
          <p:cNvSpPr/>
          <p:nvPr/>
        </p:nvSpPr>
        <p:spPr>
          <a:xfrm>
            <a:off x="9149080" y="5508625"/>
            <a:ext cx="2182495" cy="400050"/>
          </a:xfrm>
          <a:prstGeom prst="rect">
            <a:avLst/>
          </a:prstGeom>
        </p:spPr>
        <p:txBody>
          <a:bodyPr vert="horz" wrap="square" lIns="0" tIns="0" rIns="0" bIns="0">
            <a:spAutoFit/>
          </a:bodyPr>
          <a:lstStyle/>
          <a:p>
            <a:pPr marL="12700" algn="ctr" rtl="0" eaLnBrk="0">
              <a:defRPr>
                <a:latin typeface="微软雅黑"/>
                <a:ea typeface="微软雅黑"/>
                <a:cs typeface="微软雅黑"/>
              </a:defRPr>
            </a:pPr>
            <a:r>
              <a:rPr lang="zh-CN" altLang="en-US" sz="1300" kern="0" spc="140" dirty="0" err="1">
                <a:solidFill>
                  <a:srgbClr val="383838"/>
                </a:solidFill>
                <a:latin typeface="微软雅黑"/>
                <a:ea typeface="微软雅黑"/>
                <a:cs typeface="微软雅黑"/>
              </a:rPr>
              <a:t>以业务价值演进为核心的数字化转型</a:t>
            </a:r>
            <a:r>
              <a:rPr lang="zh-CN" altLang="en-US" sz="1300" b="1" kern="0" spc="140" dirty="0" err="1">
                <a:solidFill>
                  <a:srgbClr val="383838"/>
                </a:solidFill>
                <a:latin typeface="微软雅黑"/>
                <a:ea typeface="微软雅黑"/>
                <a:cs typeface="微软雅黑"/>
              </a:rPr>
              <a:t>四部曲</a:t>
            </a:r>
            <a:endParaRPr lang="zh-CN" altLang="en-US" sz="1300" b="1" kern="0" spc="140" dirty="0" err="1">
              <a:solidFill>
                <a:srgbClr val="383838"/>
              </a:solidFill>
              <a:latin typeface="微软雅黑"/>
              <a:ea typeface="微软雅黑"/>
              <a:cs typeface="微软雅黑"/>
            </a:endParaRPr>
          </a:p>
        </p:txBody>
      </p:sp>
      <p:sp>
        <p:nvSpPr>
          <p:cNvPr id="537" name="textbox 2070"/>
          <p:cNvSpPr/>
          <p:nvPr/>
        </p:nvSpPr>
        <p:spPr>
          <a:xfrm>
            <a:off x="9149080" y="6001385"/>
            <a:ext cx="2182495" cy="215265"/>
          </a:xfrm>
          <a:prstGeom prst="rect">
            <a:avLst/>
          </a:prstGeom>
        </p:spPr>
        <p:txBody>
          <a:bodyPr vert="horz" wrap="square" lIns="0" tIns="0" rIns="0" bIns="0">
            <a:spAutoFit/>
          </a:bodyPr>
          <a:lstStyle/>
          <a:p>
            <a:pPr marL="12700" algn="l" rtl="0" eaLnBrk="0">
              <a:defRPr>
                <a:latin typeface="微软雅黑"/>
                <a:ea typeface="微软雅黑"/>
                <a:cs typeface="微软雅黑"/>
              </a:defRPr>
            </a:pPr>
            <a:r>
              <a:rPr lang="zh-CN" altLang="en-US" sz="1000" b="1" kern="0" spc="140" dirty="0" err="1">
                <a:solidFill>
                  <a:srgbClr val="0042FF"/>
                </a:solidFill>
                <a:latin typeface="微软雅黑"/>
                <a:ea typeface="微软雅黑"/>
                <a:cs typeface="微软雅黑"/>
              </a:rPr>
              <a:t>罗盘</a:t>
            </a:r>
            <a:r>
              <a:rPr lang="en-US" altLang="zh-CN" sz="1000" b="1" kern="0" spc="140" dirty="0" err="1">
                <a:solidFill>
                  <a:srgbClr val="0042FF"/>
                </a:solidFill>
                <a:latin typeface="微软雅黑"/>
                <a:ea typeface="微软雅黑"/>
                <a:cs typeface="微软雅黑"/>
              </a:rPr>
              <a:t>+</a:t>
            </a:r>
            <a:r>
              <a:rPr lang="zh-CN" altLang="en-US" sz="1000" b="1" kern="0" spc="140" dirty="0" err="1">
                <a:solidFill>
                  <a:srgbClr val="0042FF"/>
                </a:solidFill>
                <a:latin typeface="微软雅黑"/>
                <a:ea typeface="微软雅黑"/>
                <a:cs typeface="微软雅黑"/>
              </a:rPr>
              <a:t>前哨</a:t>
            </a:r>
            <a:r>
              <a:rPr lang="en-US" altLang="zh-CN" sz="1000" b="1" kern="0" spc="140" dirty="0" err="1">
                <a:solidFill>
                  <a:srgbClr val="0042FF"/>
                </a:solidFill>
                <a:latin typeface="微软雅黑"/>
                <a:ea typeface="微软雅黑"/>
                <a:cs typeface="微软雅黑"/>
              </a:rPr>
              <a:t>+</a:t>
            </a:r>
            <a:r>
              <a:rPr lang="zh-CN" altLang="en-US" sz="1000" b="1" kern="0" spc="140" dirty="0" err="1">
                <a:solidFill>
                  <a:srgbClr val="0042FF"/>
                </a:solidFill>
                <a:latin typeface="微软雅黑"/>
                <a:ea typeface="微软雅黑"/>
                <a:cs typeface="微软雅黑"/>
              </a:rPr>
              <a:t>引擎</a:t>
            </a:r>
            <a:r>
              <a:rPr lang="en-US" altLang="zh-CN" sz="1000" b="1" kern="0" spc="140" dirty="0" err="1">
                <a:solidFill>
                  <a:srgbClr val="0042FF"/>
                </a:solidFill>
                <a:latin typeface="微软雅黑"/>
                <a:ea typeface="微软雅黑"/>
                <a:cs typeface="微软雅黑"/>
              </a:rPr>
              <a:t>=</a:t>
            </a:r>
            <a:r>
              <a:rPr lang="en-US" altLang="zh-CN" sz="1400" b="1" kern="0" spc="140" dirty="0" err="1">
                <a:solidFill>
                  <a:srgbClr val="0042FF"/>
                </a:solidFill>
                <a:latin typeface="微软雅黑"/>
                <a:ea typeface="微软雅黑"/>
                <a:cs typeface="微软雅黑"/>
              </a:rPr>
              <a:t>“</a:t>
            </a:r>
            <a:r>
              <a:rPr lang="zh-CN" altLang="en-US" sz="1400" b="1" kern="0" spc="140" dirty="0" err="1">
                <a:solidFill>
                  <a:srgbClr val="0042FF"/>
                </a:solidFill>
                <a:latin typeface="微软雅黑"/>
                <a:ea typeface="微软雅黑"/>
                <a:cs typeface="微软雅黑"/>
              </a:rPr>
              <a:t>新大陆</a:t>
            </a:r>
            <a:r>
              <a:rPr lang="en-US" altLang="zh-CN" sz="1400" b="1" kern="0" spc="140" dirty="0" err="1">
                <a:solidFill>
                  <a:srgbClr val="0042FF"/>
                </a:solidFill>
                <a:latin typeface="微软雅黑"/>
                <a:ea typeface="微软雅黑"/>
                <a:cs typeface="微软雅黑"/>
              </a:rPr>
              <a:t>”</a:t>
            </a:r>
            <a:endParaRPr lang="en-US" altLang="zh-CN" sz="1400" b="1" kern="0" spc="140" dirty="0" err="1">
              <a:solidFill>
                <a:srgbClr val="0042FF"/>
              </a:solidFill>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31"/>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fill="hold"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35266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dirty="0">
                <a:solidFill>
                  <a:srgbClr val="0042FF"/>
                </a:solidFill>
                <a:effectLst/>
                <a:latin typeface="微软雅黑"/>
                <a:ea typeface="微软雅黑"/>
                <a:cs typeface="微软雅黑"/>
              </a:rPr>
              <a:t>业务框架</a:t>
            </a:r>
            <a:r>
              <a:rPr lang="en-US" altLang="zh-CN" sz="2500" dirty="0">
                <a:solidFill>
                  <a:srgbClr val="0042FF"/>
                </a:solidFill>
                <a:effectLst/>
                <a:latin typeface="微软雅黑"/>
                <a:ea typeface="微软雅黑"/>
                <a:cs typeface="微软雅黑"/>
              </a:rPr>
              <a:t>-</a:t>
            </a:r>
            <a:r>
              <a:rPr sz="2500" dirty="0">
                <a:solidFill>
                  <a:srgbClr val="0042FF"/>
                </a:solidFill>
                <a:effectLst/>
                <a:latin typeface="微软雅黑"/>
                <a:ea typeface="微软雅黑"/>
                <a:cs typeface="微软雅黑"/>
              </a:rPr>
              <a:t>业务流程架构 |</a:t>
            </a:r>
            <a:r>
              <a:rPr lang="zh-CN" altLang="en-US" sz="2500" dirty="0">
                <a:solidFill>
                  <a:srgbClr val="0042FF"/>
                </a:solidFill>
                <a:effectLst/>
                <a:latin typeface="微软雅黑"/>
                <a:ea typeface="微软雅黑"/>
                <a:cs typeface="微软雅黑"/>
              </a:rPr>
              <a:t> </a:t>
            </a:r>
            <a:r>
              <a:rPr lang="zh-CN" altLang="en-US" sz="2500" dirty="0">
                <a:solidFill>
                  <a:srgbClr val="383838"/>
                </a:solidFill>
                <a:effectLst/>
                <a:latin typeface="微软雅黑"/>
                <a:ea typeface="微软雅黑"/>
                <a:cs typeface="微软雅黑"/>
              </a:rPr>
              <a:t>产品研发项目</a:t>
            </a:r>
            <a:r>
              <a:rPr lang="zh-CN" altLang="en-US" sz="2500" dirty="0">
                <a:solidFill>
                  <a:srgbClr val="383838"/>
                </a:solidFill>
                <a:effectLst/>
                <a:latin typeface="微软雅黑"/>
                <a:ea typeface="微软雅黑"/>
                <a:cs typeface="微软雅黑"/>
              </a:rPr>
              <a:t>总结复盘</a:t>
            </a:r>
            <a:endParaRPr lang="zh-CN" altLang="en-US" sz="2500" dirty="0">
              <a:solidFill>
                <a:srgbClr val="383838"/>
              </a:solidFill>
              <a:effectLst/>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1" name="Triangle"/>
          <p:cNvSpPr/>
          <p:nvPr/>
        </p:nvSpPr>
        <p:spPr>
          <a:xfrm rot="5400000">
            <a:off x="1036537" y="922623"/>
            <a:ext cx="3534287" cy="477368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gradFill>
            <a:gsLst>
              <a:gs pos="0">
                <a:srgbClr val="E6E6E6">
                  <a:alpha val="0"/>
                </a:srgbClr>
              </a:gs>
              <a:gs pos="74000">
                <a:srgbClr val="E6E6E6">
                  <a:alpha val="70000"/>
                </a:srgbClr>
              </a:gs>
            </a:gsLst>
            <a:lin ang="16200000"/>
          </a:gradFill>
          <a:ln w="12700">
            <a:miter lim="400000"/>
          </a:ln>
        </p:spPr>
        <p:txBody>
          <a:bodyPr lIns="0" tIns="0" rIns="0" bIns="0" anchor="ctr"/>
          <a:lstStyle/>
          <a:p>
            <a:pPr>
              <a:defRPr>
                <a:latin typeface="微软雅黑"/>
                <a:ea typeface="微软雅黑"/>
                <a:cs typeface="微软雅黑"/>
              </a:defRPr>
            </a:pPr>
            <a:endParaRPr sz="1000">
              <a:latin typeface="微软雅黑"/>
              <a:ea typeface="微软雅黑"/>
              <a:cs typeface="微软雅黑"/>
            </a:endParaRPr>
          </a:p>
        </p:txBody>
      </p:sp>
      <p:sp>
        <p:nvSpPr>
          <p:cNvPr id="14" name="Line"/>
          <p:cNvSpPr/>
          <p:nvPr/>
        </p:nvSpPr>
        <p:spPr>
          <a:xfrm flipH="1" flipV="1">
            <a:off x="1774679" y="1992744"/>
            <a:ext cx="1906823" cy="752916"/>
          </a:xfrm>
          <a:prstGeom prst="line">
            <a:avLst/>
          </a:prstGeom>
          <a:ln w="25400">
            <a:solidFill>
              <a:srgbClr val="0042FF"/>
            </a:solidFill>
            <a:custDash>
              <a:ds d="200000" sp="200000"/>
            </a:custDash>
            <a:miter lim="400000"/>
            <a:tailEnd type="triangle"/>
          </a:ln>
        </p:spPr>
        <p:txBody>
          <a:bodyPr lIns="0" tIns="0" rIns="0" bIns="0"/>
          <a:lstStyle/>
          <a:p>
            <a:pPr>
              <a:defRPr>
                <a:latin typeface="微软雅黑"/>
                <a:ea typeface="微软雅黑"/>
                <a:cs typeface="微软雅黑"/>
              </a:defRPr>
            </a:pPr>
            <a:endParaRPr sz="1000">
              <a:cs typeface="微软雅黑"/>
              <a:latin typeface="微软雅黑"/>
              <a:ea typeface="微软雅黑"/>
            </a:endParaRPr>
          </a:p>
        </p:txBody>
      </p:sp>
      <p:sp>
        <p:nvSpPr>
          <p:cNvPr id="15" name="Line"/>
          <p:cNvSpPr/>
          <p:nvPr/>
        </p:nvSpPr>
        <p:spPr>
          <a:xfrm flipH="1" flipV="1">
            <a:off x="1827233" y="2838353"/>
            <a:ext cx="1685380" cy="209728"/>
          </a:xfrm>
          <a:prstGeom prst="line">
            <a:avLst/>
          </a:prstGeom>
          <a:ln w="25400">
            <a:solidFill>
              <a:srgbClr val="0042FF"/>
            </a:solidFill>
            <a:custDash>
              <a:ds d="200000" sp="200000"/>
            </a:custDash>
            <a:miter lim="400000"/>
            <a:tailEnd type="triangle"/>
          </a:ln>
        </p:spPr>
        <p:txBody>
          <a:bodyPr lIns="0" tIns="0" rIns="0" bIns="0"/>
          <a:lstStyle/>
          <a:p>
            <a:pPr>
              <a:defRPr>
                <a:latin typeface="微软雅黑"/>
                <a:ea typeface="微软雅黑"/>
                <a:cs typeface="微软雅黑"/>
              </a:defRPr>
            </a:pPr>
            <a:endParaRPr sz="1000">
              <a:cs typeface="微软雅黑"/>
              <a:latin typeface="微软雅黑"/>
              <a:ea typeface="微软雅黑"/>
            </a:endParaRPr>
          </a:p>
        </p:txBody>
      </p:sp>
      <p:sp>
        <p:nvSpPr>
          <p:cNvPr id="16" name="Line"/>
          <p:cNvSpPr/>
          <p:nvPr/>
        </p:nvSpPr>
        <p:spPr>
          <a:xfrm flipH="1">
            <a:off x="1820780" y="3496073"/>
            <a:ext cx="1698771" cy="209125"/>
          </a:xfrm>
          <a:prstGeom prst="line">
            <a:avLst/>
          </a:prstGeom>
          <a:ln w="25400">
            <a:solidFill>
              <a:srgbClr val="0042FF"/>
            </a:solidFill>
            <a:custDash>
              <a:ds d="200000" sp="200000"/>
            </a:custDash>
            <a:miter lim="400000"/>
            <a:tailEnd type="triangle"/>
          </a:ln>
        </p:spPr>
        <p:txBody>
          <a:bodyPr lIns="0" tIns="0" rIns="0" bIns="0"/>
          <a:lstStyle/>
          <a:p>
            <a:pPr>
              <a:defRPr>
                <a:latin typeface="微软雅黑"/>
                <a:ea typeface="微软雅黑"/>
                <a:cs typeface="微软雅黑"/>
              </a:defRPr>
            </a:pPr>
            <a:endParaRPr sz="1000">
              <a:cs typeface="微软雅黑"/>
              <a:latin typeface="微软雅黑"/>
              <a:ea typeface="微软雅黑"/>
            </a:endParaRPr>
          </a:p>
        </p:txBody>
      </p:sp>
      <p:sp>
        <p:nvSpPr>
          <p:cNvPr id="17" name="Line"/>
          <p:cNvSpPr/>
          <p:nvPr/>
        </p:nvSpPr>
        <p:spPr>
          <a:xfrm flipH="1">
            <a:off x="1801422" y="3857650"/>
            <a:ext cx="1919946" cy="727298"/>
          </a:xfrm>
          <a:prstGeom prst="line">
            <a:avLst/>
          </a:prstGeom>
          <a:ln w="25400">
            <a:solidFill>
              <a:srgbClr val="0042FF"/>
            </a:solidFill>
            <a:custDash>
              <a:ds d="200000" sp="200000"/>
            </a:custDash>
            <a:miter lim="400000"/>
            <a:tailEnd type="triangle"/>
          </a:ln>
        </p:spPr>
        <p:txBody>
          <a:bodyPr lIns="0" tIns="0" rIns="0" bIns="0"/>
          <a:lstStyle/>
          <a:p>
            <a:pPr>
              <a:defRPr>
                <a:latin typeface="微软雅黑"/>
                <a:ea typeface="微软雅黑"/>
                <a:cs typeface="微软雅黑"/>
              </a:defRPr>
            </a:pPr>
            <a:endParaRPr sz="1000">
              <a:cs typeface="微软雅黑"/>
              <a:latin typeface="微软雅黑"/>
              <a:ea typeface="微软雅黑"/>
            </a:endParaRPr>
          </a:p>
        </p:txBody>
      </p:sp>
      <p:grpSp>
        <p:nvGrpSpPr>
          <p:cNvPr id="156" name="组合 155"/>
          <p:cNvGrpSpPr/>
          <p:nvPr/>
        </p:nvGrpSpPr>
        <p:grpSpPr>
          <a:xfrm>
            <a:off x="866140" y="4309183"/>
            <a:ext cx="729054" cy="728980"/>
            <a:chOff x="884" y="6433"/>
            <a:chExt cx="1483" cy="1483"/>
          </a:xfrm>
        </p:grpSpPr>
        <p:sp>
          <p:nvSpPr>
            <p:cNvPr id="36" name="Circle"/>
            <p:cNvSpPr/>
            <p:nvPr/>
          </p:nvSpPr>
          <p:spPr>
            <a:xfrm>
              <a:off x="884" y="6433"/>
              <a:ext cx="1483" cy="1483"/>
            </a:xfrm>
            <a:prstGeom prst="ellipse">
              <a:avLst/>
            </a:prstGeom>
            <a:solidFill>
              <a:srgbClr val="E6E6E6"/>
            </a:solidFill>
            <a:ln w="12700" cap="flat">
              <a:solidFill>
                <a:srgbClr val="3368FF">
                  <a:alpha val="50000"/>
                </a:srgbClr>
              </a:solidFill>
              <a:miter lim="400000"/>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solidFill>
                  <a:srgbClr val="383838"/>
                </a:solidFill>
                <a:latin typeface="微软雅黑"/>
                <a:ea typeface="微软雅黑"/>
                <a:cs typeface="微软雅黑"/>
                <a:sym typeface="微软雅黑"/>
              </a:endParaRPr>
            </a:p>
          </p:txBody>
        </p:sp>
        <p:sp>
          <p:nvSpPr>
            <p:cNvPr id="2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045" y="6811"/>
              <a:ext cx="1162" cy="729"/>
            </a:xfrm>
            <a:prstGeom prst="rect">
              <a:avLst/>
            </a:prstGeom>
            <a:ln w="12700">
              <a:miter lim="400000"/>
            </a:ln>
          </p:spPr>
          <p:txBody>
            <a:bodyPr lIns="0" tIns="0" rIns="0" bIns="0">
              <a:spAutoFit/>
            </a:bodyPr>
            <a:lstStyle>
              <a:lvl1pPr>
                <a:defRPr sz="2200">
                  <a:solidFill>
                    <a:srgbClr val="383838"/>
                  </a:solidFill>
                  <a:latin typeface="微软雅黑"/>
                  <a:ea typeface="微软雅黑"/>
                  <a:cs typeface="微软雅黑"/>
                  <a:sym typeface="微软雅黑"/>
                </a:defRPr>
              </a:lvl1pPr>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营销</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团队</a:t>
              </a:r>
              <a:endParaRPr lang="zh-CN" altLang="en-US" sz="1000" dirty="0">
                <a:solidFill>
                  <a:srgbClr val="383838"/>
                </a:solidFill>
                <a:latin typeface="微软雅黑"/>
                <a:ea typeface="微软雅黑"/>
                <a:cs typeface="微软雅黑"/>
                <a:sym typeface="微软雅黑"/>
              </a:endParaRPr>
            </a:p>
          </p:txBody>
        </p:sp>
      </p:grpSp>
      <p:grpSp>
        <p:nvGrpSpPr>
          <p:cNvPr id="24" name="组合 23"/>
          <p:cNvGrpSpPr/>
          <p:nvPr/>
        </p:nvGrpSpPr>
        <p:grpSpPr>
          <a:xfrm>
            <a:off x="2163041" y="2027027"/>
            <a:ext cx="7093330" cy="2477726"/>
            <a:chOff x="2252470" y="2221682"/>
            <a:chExt cx="6902712" cy="2411143"/>
          </a:xfrm>
        </p:grpSpPr>
        <p:sp>
          <p:nvSpPr>
            <p:cNvPr id="23" name="Freeform: Shape 59"/>
            <p:cNvSpPr/>
            <p:nvPr/>
          </p:nvSpPr>
          <p:spPr>
            <a:xfrm>
              <a:off x="7554426" y="2228666"/>
              <a:ext cx="1333056" cy="2404159"/>
            </a:xfrm>
            <a:custGeom>
              <a:avLst/>
              <a:gdLst>
                <a:gd name="connsiteX0" fmla="*/ 347663 w 1090612"/>
                <a:gd name="connsiteY0" fmla="*/ 1963103 h 1966912"/>
                <a:gd name="connsiteX1" fmla="*/ 315277 w 1090612"/>
                <a:gd name="connsiteY1" fmla="*/ 1966913 h 1966912"/>
                <a:gd name="connsiteX2" fmla="*/ 0 w 1090612"/>
                <a:gd name="connsiteY2" fmla="*/ 1966913 h 1966912"/>
                <a:gd name="connsiteX3" fmla="*/ 17145 w 1090612"/>
                <a:gd name="connsiteY3" fmla="*/ 1964055 h 1966912"/>
                <a:gd name="connsiteX4" fmla="*/ 768668 w 1090612"/>
                <a:gd name="connsiteY4" fmla="*/ 983933 h 1966912"/>
                <a:gd name="connsiteX5" fmla="*/ 25717 w 1090612"/>
                <a:gd name="connsiteY5" fmla="*/ 3810 h 1966912"/>
                <a:gd name="connsiteX6" fmla="*/ 208597 w 1090612"/>
                <a:gd name="connsiteY6" fmla="*/ 3810 h 1966912"/>
                <a:gd name="connsiteX7" fmla="*/ 278130 w 1090612"/>
                <a:gd name="connsiteY7" fmla="*/ 0 h 1966912"/>
                <a:gd name="connsiteX8" fmla="*/ 1090613 w 1090612"/>
                <a:gd name="connsiteY8" fmla="*/ 982980 h 1966912"/>
                <a:gd name="connsiteX9" fmla="*/ 347663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347663" y="1963103"/>
                  </a:moveTo>
                  <a:cubicBezTo>
                    <a:pt x="337185" y="1965008"/>
                    <a:pt x="326707" y="1966913"/>
                    <a:pt x="315277" y="1966913"/>
                  </a:cubicBezTo>
                  <a:cubicBezTo>
                    <a:pt x="204788" y="1966913"/>
                    <a:pt x="0" y="1966913"/>
                    <a:pt x="0" y="1966913"/>
                  </a:cubicBezTo>
                  <a:cubicBezTo>
                    <a:pt x="5715" y="1965960"/>
                    <a:pt x="11430" y="1965008"/>
                    <a:pt x="17145" y="1964055"/>
                  </a:cubicBezTo>
                  <a:cubicBezTo>
                    <a:pt x="437197" y="1925955"/>
                    <a:pt x="768668" y="1501140"/>
                    <a:pt x="768668" y="983933"/>
                  </a:cubicBezTo>
                  <a:cubicBezTo>
                    <a:pt x="768668" y="469583"/>
                    <a:pt x="441960" y="47625"/>
                    <a:pt x="25717" y="3810"/>
                  </a:cubicBezTo>
                  <a:cubicBezTo>
                    <a:pt x="63817" y="3810"/>
                    <a:pt x="137160" y="3810"/>
                    <a:pt x="208597" y="3810"/>
                  </a:cubicBezTo>
                  <a:cubicBezTo>
                    <a:pt x="231457" y="1905"/>
                    <a:pt x="255270" y="0"/>
                    <a:pt x="278130" y="0"/>
                  </a:cubicBezTo>
                  <a:cubicBezTo>
                    <a:pt x="726757" y="0"/>
                    <a:pt x="1090613" y="440055"/>
                    <a:pt x="1090613" y="982980"/>
                  </a:cubicBezTo>
                  <a:cubicBezTo>
                    <a:pt x="1090613" y="1498283"/>
                    <a:pt x="763905" y="1920240"/>
                    <a:pt x="347663" y="1963103"/>
                  </a:cubicBezTo>
                  <a:close/>
                </a:path>
              </a:pathLst>
            </a:custGeom>
            <a:solidFill>
              <a:srgbClr val="B3D4FE">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en-ID">
                <a:solidFill>
                  <a:srgbClr val="FFFFFF"/>
                </a:solidFill>
                <a:latin typeface="微软雅黑"/>
                <a:ea typeface="微软雅黑"/>
                <a:cs typeface="微软雅黑"/>
                <a:sym typeface="微软雅黑"/>
              </a:endParaRPr>
            </a:p>
          </p:txBody>
        </p:sp>
        <p:sp>
          <p:nvSpPr>
            <p:cNvPr id="25" name="Freeform: Shape 51"/>
            <p:cNvSpPr/>
            <p:nvPr/>
          </p:nvSpPr>
          <p:spPr>
            <a:xfrm>
              <a:off x="3235089" y="2228666"/>
              <a:ext cx="1333056" cy="2404159"/>
            </a:xfrm>
            <a:custGeom>
              <a:avLst/>
              <a:gdLst>
                <a:gd name="connsiteX0" fmla="*/ 347663 w 1090612"/>
                <a:gd name="connsiteY0" fmla="*/ 1963103 h 1966912"/>
                <a:gd name="connsiteX1" fmla="*/ 315278 w 1090612"/>
                <a:gd name="connsiteY1" fmla="*/ 1966913 h 1966912"/>
                <a:gd name="connsiteX2" fmla="*/ 0 w 1090612"/>
                <a:gd name="connsiteY2" fmla="*/ 1966913 h 1966912"/>
                <a:gd name="connsiteX3" fmla="*/ 17145 w 1090612"/>
                <a:gd name="connsiteY3" fmla="*/ 1964055 h 1966912"/>
                <a:gd name="connsiteX4" fmla="*/ 768668 w 1090612"/>
                <a:gd name="connsiteY4" fmla="*/ 983933 h 1966912"/>
                <a:gd name="connsiteX5" fmla="*/ 25718 w 1090612"/>
                <a:gd name="connsiteY5" fmla="*/ 3810 h 1966912"/>
                <a:gd name="connsiteX6" fmla="*/ 208598 w 1090612"/>
                <a:gd name="connsiteY6" fmla="*/ 3810 h 1966912"/>
                <a:gd name="connsiteX7" fmla="*/ 278130 w 1090612"/>
                <a:gd name="connsiteY7" fmla="*/ 0 h 1966912"/>
                <a:gd name="connsiteX8" fmla="*/ 1090613 w 1090612"/>
                <a:gd name="connsiteY8" fmla="*/ 982980 h 1966912"/>
                <a:gd name="connsiteX9" fmla="*/ 347663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347663" y="1963103"/>
                  </a:moveTo>
                  <a:cubicBezTo>
                    <a:pt x="337185" y="1965008"/>
                    <a:pt x="326708" y="1966913"/>
                    <a:pt x="315278" y="1966913"/>
                  </a:cubicBezTo>
                  <a:cubicBezTo>
                    <a:pt x="204788" y="1966913"/>
                    <a:pt x="0" y="1966913"/>
                    <a:pt x="0" y="1966913"/>
                  </a:cubicBezTo>
                  <a:cubicBezTo>
                    <a:pt x="5715" y="1965960"/>
                    <a:pt x="11430" y="1965008"/>
                    <a:pt x="17145" y="1964055"/>
                  </a:cubicBezTo>
                  <a:cubicBezTo>
                    <a:pt x="437198" y="1925955"/>
                    <a:pt x="768668" y="1501140"/>
                    <a:pt x="768668" y="983933"/>
                  </a:cubicBezTo>
                  <a:cubicBezTo>
                    <a:pt x="768668" y="469583"/>
                    <a:pt x="441960" y="47625"/>
                    <a:pt x="25718" y="3810"/>
                  </a:cubicBezTo>
                  <a:cubicBezTo>
                    <a:pt x="63818" y="3810"/>
                    <a:pt x="137160" y="3810"/>
                    <a:pt x="208598" y="3810"/>
                  </a:cubicBezTo>
                  <a:cubicBezTo>
                    <a:pt x="231458" y="1905"/>
                    <a:pt x="255270" y="0"/>
                    <a:pt x="278130" y="0"/>
                  </a:cubicBezTo>
                  <a:cubicBezTo>
                    <a:pt x="726758" y="0"/>
                    <a:pt x="1090613" y="440055"/>
                    <a:pt x="1090613" y="982980"/>
                  </a:cubicBezTo>
                  <a:cubicBezTo>
                    <a:pt x="1090613" y="1498283"/>
                    <a:pt x="763905" y="1920240"/>
                    <a:pt x="347663" y="1963103"/>
                  </a:cubicBezTo>
                  <a:close/>
                </a:path>
              </a:pathLst>
            </a:custGeom>
            <a:solidFill>
              <a:srgbClr val="3368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ID">
                <a:latin typeface="微软雅黑"/>
                <a:ea typeface="微软雅黑"/>
                <a:cs typeface="微软雅黑"/>
                <a:sym typeface="微软雅黑"/>
              </a:endParaRPr>
            </a:p>
          </p:txBody>
        </p:sp>
        <p:sp>
          <p:nvSpPr>
            <p:cNvPr id="26" name="Freeform: Shape 56"/>
            <p:cNvSpPr/>
            <p:nvPr/>
          </p:nvSpPr>
          <p:spPr>
            <a:xfrm>
              <a:off x="6188017" y="2221682"/>
              <a:ext cx="1333056" cy="2404159"/>
            </a:xfrm>
            <a:custGeom>
              <a:avLst/>
              <a:gdLst>
                <a:gd name="connsiteX0" fmla="*/ 347663 w 1090612"/>
                <a:gd name="connsiteY0" fmla="*/ 1963103 h 1966912"/>
                <a:gd name="connsiteX1" fmla="*/ 315278 w 1090612"/>
                <a:gd name="connsiteY1" fmla="*/ 1966913 h 1966912"/>
                <a:gd name="connsiteX2" fmla="*/ 0 w 1090612"/>
                <a:gd name="connsiteY2" fmla="*/ 1966913 h 1966912"/>
                <a:gd name="connsiteX3" fmla="*/ 17145 w 1090612"/>
                <a:gd name="connsiteY3" fmla="*/ 1964055 h 1966912"/>
                <a:gd name="connsiteX4" fmla="*/ 768668 w 1090612"/>
                <a:gd name="connsiteY4" fmla="*/ 983933 h 1966912"/>
                <a:gd name="connsiteX5" fmla="*/ 25718 w 1090612"/>
                <a:gd name="connsiteY5" fmla="*/ 3810 h 1966912"/>
                <a:gd name="connsiteX6" fmla="*/ 208597 w 1090612"/>
                <a:gd name="connsiteY6" fmla="*/ 3810 h 1966912"/>
                <a:gd name="connsiteX7" fmla="*/ 278130 w 1090612"/>
                <a:gd name="connsiteY7" fmla="*/ 0 h 1966912"/>
                <a:gd name="connsiteX8" fmla="*/ 1090613 w 1090612"/>
                <a:gd name="connsiteY8" fmla="*/ 982980 h 1966912"/>
                <a:gd name="connsiteX9" fmla="*/ 347663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347663" y="1963103"/>
                  </a:moveTo>
                  <a:cubicBezTo>
                    <a:pt x="337185" y="1965008"/>
                    <a:pt x="326708" y="1966913"/>
                    <a:pt x="315278" y="1966913"/>
                  </a:cubicBezTo>
                  <a:cubicBezTo>
                    <a:pt x="204788" y="1966913"/>
                    <a:pt x="0" y="1966913"/>
                    <a:pt x="0" y="1966913"/>
                  </a:cubicBezTo>
                  <a:cubicBezTo>
                    <a:pt x="5715" y="1965960"/>
                    <a:pt x="11430" y="1965008"/>
                    <a:pt x="17145" y="1964055"/>
                  </a:cubicBezTo>
                  <a:cubicBezTo>
                    <a:pt x="437197" y="1925955"/>
                    <a:pt x="768668" y="1501140"/>
                    <a:pt x="768668" y="983933"/>
                  </a:cubicBezTo>
                  <a:cubicBezTo>
                    <a:pt x="768668" y="469583"/>
                    <a:pt x="441960" y="47625"/>
                    <a:pt x="25718" y="3810"/>
                  </a:cubicBezTo>
                  <a:cubicBezTo>
                    <a:pt x="63818" y="3810"/>
                    <a:pt x="137160" y="3810"/>
                    <a:pt x="208597" y="3810"/>
                  </a:cubicBezTo>
                  <a:cubicBezTo>
                    <a:pt x="231458" y="1905"/>
                    <a:pt x="255270" y="0"/>
                    <a:pt x="278130" y="0"/>
                  </a:cubicBezTo>
                  <a:cubicBezTo>
                    <a:pt x="726758" y="0"/>
                    <a:pt x="1090613" y="440055"/>
                    <a:pt x="1090613" y="982980"/>
                  </a:cubicBezTo>
                  <a:cubicBezTo>
                    <a:pt x="1090613" y="1498283"/>
                    <a:pt x="763905" y="1920240"/>
                    <a:pt x="347663" y="1963103"/>
                  </a:cubicBezTo>
                  <a:close/>
                </a:path>
              </a:pathLst>
            </a:custGeom>
            <a:solidFill>
              <a:srgbClr val="3368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ID">
                <a:latin typeface="微软雅黑"/>
                <a:ea typeface="微软雅黑"/>
                <a:cs typeface="微软雅黑"/>
                <a:sym typeface="微软雅黑"/>
              </a:endParaRPr>
            </a:p>
          </p:txBody>
        </p:sp>
        <p:sp>
          <p:nvSpPr>
            <p:cNvPr id="31" name="Freeform: Shape 53"/>
            <p:cNvSpPr/>
            <p:nvPr/>
          </p:nvSpPr>
          <p:spPr>
            <a:xfrm>
              <a:off x="4702033" y="2228666"/>
              <a:ext cx="1333056" cy="2404159"/>
            </a:xfrm>
            <a:custGeom>
              <a:avLst/>
              <a:gdLst>
                <a:gd name="connsiteX0" fmla="*/ 347663 w 1090612"/>
                <a:gd name="connsiteY0" fmla="*/ 1963103 h 1966912"/>
                <a:gd name="connsiteX1" fmla="*/ 315278 w 1090612"/>
                <a:gd name="connsiteY1" fmla="*/ 1966913 h 1966912"/>
                <a:gd name="connsiteX2" fmla="*/ 0 w 1090612"/>
                <a:gd name="connsiteY2" fmla="*/ 1966913 h 1966912"/>
                <a:gd name="connsiteX3" fmla="*/ 17145 w 1090612"/>
                <a:gd name="connsiteY3" fmla="*/ 1964055 h 1966912"/>
                <a:gd name="connsiteX4" fmla="*/ 768668 w 1090612"/>
                <a:gd name="connsiteY4" fmla="*/ 983933 h 1966912"/>
                <a:gd name="connsiteX5" fmla="*/ 25717 w 1090612"/>
                <a:gd name="connsiteY5" fmla="*/ 3810 h 1966912"/>
                <a:gd name="connsiteX6" fmla="*/ 208598 w 1090612"/>
                <a:gd name="connsiteY6" fmla="*/ 3810 h 1966912"/>
                <a:gd name="connsiteX7" fmla="*/ 278130 w 1090612"/>
                <a:gd name="connsiteY7" fmla="*/ 0 h 1966912"/>
                <a:gd name="connsiteX8" fmla="*/ 1090613 w 1090612"/>
                <a:gd name="connsiteY8" fmla="*/ 982980 h 1966912"/>
                <a:gd name="connsiteX9" fmla="*/ 347663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347663" y="1963103"/>
                  </a:moveTo>
                  <a:cubicBezTo>
                    <a:pt x="337185" y="1965008"/>
                    <a:pt x="326708" y="1966913"/>
                    <a:pt x="315278" y="1966913"/>
                  </a:cubicBezTo>
                  <a:cubicBezTo>
                    <a:pt x="204788" y="1966913"/>
                    <a:pt x="0" y="1966913"/>
                    <a:pt x="0" y="1966913"/>
                  </a:cubicBezTo>
                  <a:cubicBezTo>
                    <a:pt x="5715" y="1965960"/>
                    <a:pt x="11430" y="1965008"/>
                    <a:pt x="17145" y="1964055"/>
                  </a:cubicBezTo>
                  <a:cubicBezTo>
                    <a:pt x="437198" y="1925955"/>
                    <a:pt x="768668" y="1501140"/>
                    <a:pt x="768668" y="983933"/>
                  </a:cubicBezTo>
                  <a:cubicBezTo>
                    <a:pt x="768668" y="469583"/>
                    <a:pt x="441960" y="47625"/>
                    <a:pt x="25717" y="3810"/>
                  </a:cubicBezTo>
                  <a:cubicBezTo>
                    <a:pt x="63817" y="3810"/>
                    <a:pt x="137160" y="3810"/>
                    <a:pt x="208598" y="3810"/>
                  </a:cubicBezTo>
                  <a:cubicBezTo>
                    <a:pt x="231458" y="1905"/>
                    <a:pt x="255270" y="0"/>
                    <a:pt x="278130" y="0"/>
                  </a:cubicBezTo>
                  <a:cubicBezTo>
                    <a:pt x="726758" y="0"/>
                    <a:pt x="1090613" y="440055"/>
                    <a:pt x="1090613" y="982980"/>
                  </a:cubicBezTo>
                  <a:cubicBezTo>
                    <a:pt x="1090613" y="1498283"/>
                    <a:pt x="763905" y="1920240"/>
                    <a:pt x="347663" y="1963103"/>
                  </a:cubicBezTo>
                  <a:close/>
                </a:path>
              </a:pathLst>
            </a:custGeom>
            <a:solidFill>
              <a:srgbClr val="B3D4FE">
                <a:alpha val="5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ID">
                <a:solidFill>
                  <a:srgbClr val="383838"/>
                </a:solidFill>
                <a:latin typeface="微软雅黑"/>
                <a:ea typeface="微软雅黑"/>
                <a:cs typeface="微软雅黑"/>
              </a:endParaRPr>
            </a:p>
          </p:txBody>
        </p:sp>
        <p:sp>
          <p:nvSpPr>
            <p:cNvPr id="32" name="Arrow"/>
            <p:cNvSpPr/>
            <p:nvPr/>
          </p:nvSpPr>
          <p:spPr>
            <a:xfrm>
              <a:off x="2546620" y="2905312"/>
              <a:ext cx="6608562" cy="1056689"/>
            </a:xfrm>
            <a:prstGeom prst="rightArrow">
              <a:avLst>
                <a:gd name="adj1" fmla="val 58103"/>
                <a:gd name="adj2" fmla="val 94586"/>
              </a:avLst>
            </a:prstGeom>
            <a:gradFill>
              <a:gsLst>
                <a:gs pos="0">
                  <a:srgbClr val="668EFF"/>
                </a:gs>
                <a:gs pos="77000">
                  <a:srgbClr val="3368FF"/>
                </a:gs>
              </a:gsLst>
              <a:lin ang="2700000" scaled="0"/>
            </a:gradFill>
            <a:ln>
              <a:noFill/>
            </a:ln>
            <a:effectLst>
              <a:outerShdw blurRad="876300" dist="673100" dir="8100000" sx="95000" sy="95000" algn="tr" rotWithShape="0">
                <a:prstClr val="black">
                  <a:alpha val="6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a:solidFill>
                  <a:srgbClr val="FFFFFF"/>
                </a:solidFill>
                <a:latin typeface="微软雅黑"/>
                <a:ea typeface="微软雅黑"/>
                <a:cs typeface="微软雅黑"/>
              </a:endParaRPr>
            </a:p>
          </p:txBody>
        </p:sp>
        <p:sp>
          <p:nvSpPr>
            <p:cNvPr id="35" name="Freeform: Shape 89"/>
            <p:cNvSpPr/>
            <p:nvPr/>
          </p:nvSpPr>
          <p:spPr>
            <a:xfrm>
              <a:off x="5204986" y="2228666"/>
              <a:ext cx="1333056" cy="2404159"/>
            </a:xfrm>
            <a:custGeom>
              <a:avLst/>
              <a:gdLst>
                <a:gd name="connsiteX0" fmla="*/ 742950 w 1090612"/>
                <a:gd name="connsiteY0" fmla="*/ 1963103 h 1966912"/>
                <a:gd name="connsiteX1" fmla="*/ 775335 w 1090612"/>
                <a:gd name="connsiteY1" fmla="*/ 1966913 h 1966912"/>
                <a:gd name="connsiteX2" fmla="*/ 1090613 w 1090612"/>
                <a:gd name="connsiteY2" fmla="*/ 1966913 h 1966912"/>
                <a:gd name="connsiteX3" fmla="*/ 1073468 w 1090612"/>
                <a:gd name="connsiteY3" fmla="*/ 1964055 h 1966912"/>
                <a:gd name="connsiteX4" fmla="*/ 321945 w 1090612"/>
                <a:gd name="connsiteY4" fmla="*/ 983933 h 1966912"/>
                <a:gd name="connsiteX5" fmla="*/ 1064895 w 1090612"/>
                <a:gd name="connsiteY5" fmla="*/ 3810 h 1966912"/>
                <a:gd name="connsiteX6" fmla="*/ 882015 w 1090612"/>
                <a:gd name="connsiteY6" fmla="*/ 3810 h 1966912"/>
                <a:gd name="connsiteX7" fmla="*/ 812483 w 1090612"/>
                <a:gd name="connsiteY7" fmla="*/ 0 h 1966912"/>
                <a:gd name="connsiteX8" fmla="*/ 0 w 1090612"/>
                <a:gd name="connsiteY8" fmla="*/ 982980 h 1966912"/>
                <a:gd name="connsiteX9" fmla="*/ 742950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742950" y="1963103"/>
                  </a:moveTo>
                  <a:cubicBezTo>
                    <a:pt x="753428" y="1965008"/>
                    <a:pt x="763905" y="1966913"/>
                    <a:pt x="775335" y="1966913"/>
                  </a:cubicBezTo>
                  <a:cubicBezTo>
                    <a:pt x="885825" y="1966913"/>
                    <a:pt x="1090613" y="1966913"/>
                    <a:pt x="1090613" y="1966913"/>
                  </a:cubicBezTo>
                  <a:cubicBezTo>
                    <a:pt x="1084898" y="1965960"/>
                    <a:pt x="1079183" y="1965008"/>
                    <a:pt x="1073468" y="1964055"/>
                  </a:cubicBezTo>
                  <a:cubicBezTo>
                    <a:pt x="653415" y="1925955"/>
                    <a:pt x="321945" y="1501140"/>
                    <a:pt x="321945" y="983933"/>
                  </a:cubicBezTo>
                  <a:cubicBezTo>
                    <a:pt x="321945" y="469583"/>
                    <a:pt x="648653" y="47625"/>
                    <a:pt x="1064895" y="3810"/>
                  </a:cubicBezTo>
                  <a:cubicBezTo>
                    <a:pt x="1026795" y="3810"/>
                    <a:pt x="953453" y="3810"/>
                    <a:pt x="882015" y="3810"/>
                  </a:cubicBezTo>
                  <a:cubicBezTo>
                    <a:pt x="859155" y="1905"/>
                    <a:pt x="835343" y="0"/>
                    <a:pt x="812483" y="0"/>
                  </a:cubicBezTo>
                  <a:cubicBezTo>
                    <a:pt x="363855" y="0"/>
                    <a:pt x="0" y="440055"/>
                    <a:pt x="0" y="982980"/>
                  </a:cubicBezTo>
                  <a:cubicBezTo>
                    <a:pt x="0" y="1498283"/>
                    <a:pt x="326708" y="1920240"/>
                    <a:pt x="742950" y="1963103"/>
                  </a:cubicBezTo>
                  <a:close/>
                </a:path>
              </a:pathLst>
            </a:custGeom>
            <a:gradFill>
              <a:gsLst>
                <a:gs pos="0">
                  <a:srgbClr val="3368FF"/>
                </a:gs>
                <a:gs pos="100000">
                  <a:srgbClr val="0042FF"/>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ID">
                <a:solidFill>
                  <a:srgbClr val="383838"/>
                </a:solidFill>
                <a:latin typeface="微软雅黑"/>
                <a:ea typeface="微软雅黑"/>
                <a:cs typeface="微软雅黑"/>
                <a:sym typeface="微软雅黑"/>
              </a:endParaRPr>
            </a:p>
          </p:txBody>
        </p:sp>
        <p:sp>
          <p:nvSpPr>
            <p:cNvPr id="60" name="Freeform: Shape 92"/>
            <p:cNvSpPr/>
            <p:nvPr/>
          </p:nvSpPr>
          <p:spPr>
            <a:xfrm>
              <a:off x="3752012" y="2228666"/>
              <a:ext cx="1333056" cy="2404159"/>
            </a:xfrm>
            <a:custGeom>
              <a:avLst/>
              <a:gdLst>
                <a:gd name="connsiteX0" fmla="*/ 742950 w 1090612"/>
                <a:gd name="connsiteY0" fmla="*/ 1963103 h 1966912"/>
                <a:gd name="connsiteX1" fmla="*/ 775335 w 1090612"/>
                <a:gd name="connsiteY1" fmla="*/ 1966913 h 1966912"/>
                <a:gd name="connsiteX2" fmla="*/ 1090613 w 1090612"/>
                <a:gd name="connsiteY2" fmla="*/ 1966913 h 1966912"/>
                <a:gd name="connsiteX3" fmla="*/ 1073468 w 1090612"/>
                <a:gd name="connsiteY3" fmla="*/ 1964055 h 1966912"/>
                <a:gd name="connsiteX4" fmla="*/ 321945 w 1090612"/>
                <a:gd name="connsiteY4" fmla="*/ 983933 h 1966912"/>
                <a:gd name="connsiteX5" fmla="*/ 1064895 w 1090612"/>
                <a:gd name="connsiteY5" fmla="*/ 3810 h 1966912"/>
                <a:gd name="connsiteX6" fmla="*/ 882015 w 1090612"/>
                <a:gd name="connsiteY6" fmla="*/ 3810 h 1966912"/>
                <a:gd name="connsiteX7" fmla="*/ 812483 w 1090612"/>
                <a:gd name="connsiteY7" fmla="*/ 0 h 1966912"/>
                <a:gd name="connsiteX8" fmla="*/ 0 w 1090612"/>
                <a:gd name="connsiteY8" fmla="*/ 982980 h 1966912"/>
                <a:gd name="connsiteX9" fmla="*/ 742950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742950" y="1963103"/>
                  </a:moveTo>
                  <a:cubicBezTo>
                    <a:pt x="753428" y="1965008"/>
                    <a:pt x="763905" y="1966913"/>
                    <a:pt x="775335" y="1966913"/>
                  </a:cubicBezTo>
                  <a:cubicBezTo>
                    <a:pt x="885825" y="1966913"/>
                    <a:pt x="1090613" y="1966913"/>
                    <a:pt x="1090613" y="1966913"/>
                  </a:cubicBezTo>
                  <a:cubicBezTo>
                    <a:pt x="1084898" y="1965960"/>
                    <a:pt x="1079183" y="1965008"/>
                    <a:pt x="1073468" y="1964055"/>
                  </a:cubicBezTo>
                  <a:cubicBezTo>
                    <a:pt x="653415" y="1925955"/>
                    <a:pt x="321945" y="1501140"/>
                    <a:pt x="321945" y="983933"/>
                  </a:cubicBezTo>
                  <a:cubicBezTo>
                    <a:pt x="321945" y="469583"/>
                    <a:pt x="648653" y="47625"/>
                    <a:pt x="1064895" y="3810"/>
                  </a:cubicBezTo>
                  <a:cubicBezTo>
                    <a:pt x="1026795" y="3810"/>
                    <a:pt x="953453" y="3810"/>
                    <a:pt x="882015" y="3810"/>
                  </a:cubicBezTo>
                  <a:cubicBezTo>
                    <a:pt x="859155" y="1905"/>
                    <a:pt x="835343" y="0"/>
                    <a:pt x="812483" y="0"/>
                  </a:cubicBezTo>
                  <a:cubicBezTo>
                    <a:pt x="363855" y="0"/>
                    <a:pt x="0" y="440055"/>
                    <a:pt x="0" y="982980"/>
                  </a:cubicBezTo>
                  <a:cubicBezTo>
                    <a:pt x="0" y="1498283"/>
                    <a:pt x="326708" y="1920240"/>
                    <a:pt x="742950" y="1963103"/>
                  </a:cubicBezTo>
                  <a:close/>
                </a:path>
              </a:pathLst>
            </a:custGeom>
            <a:gradFill>
              <a:gsLst>
                <a:gs pos="0">
                  <a:srgbClr val="B3D4FE"/>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ID" dirty="0">
                <a:latin typeface="微软雅黑"/>
                <a:ea typeface="微软雅黑"/>
                <a:cs typeface="微软雅黑"/>
              </a:endParaRPr>
            </a:p>
          </p:txBody>
        </p:sp>
        <p:sp>
          <p:nvSpPr>
            <p:cNvPr id="72" name="Freeform: Shape 95"/>
            <p:cNvSpPr/>
            <p:nvPr/>
          </p:nvSpPr>
          <p:spPr>
            <a:xfrm>
              <a:off x="2252470" y="2228666"/>
              <a:ext cx="1333056" cy="2404159"/>
            </a:xfrm>
            <a:custGeom>
              <a:avLst/>
              <a:gdLst>
                <a:gd name="connsiteX0" fmla="*/ 742950 w 1090612"/>
                <a:gd name="connsiteY0" fmla="*/ 1963103 h 1966912"/>
                <a:gd name="connsiteX1" fmla="*/ 775335 w 1090612"/>
                <a:gd name="connsiteY1" fmla="*/ 1966913 h 1966912"/>
                <a:gd name="connsiteX2" fmla="*/ 1090613 w 1090612"/>
                <a:gd name="connsiteY2" fmla="*/ 1966913 h 1966912"/>
                <a:gd name="connsiteX3" fmla="*/ 1073468 w 1090612"/>
                <a:gd name="connsiteY3" fmla="*/ 1964055 h 1966912"/>
                <a:gd name="connsiteX4" fmla="*/ 321945 w 1090612"/>
                <a:gd name="connsiteY4" fmla="*/ 983933 h 1966912"/>
                <a:gd name="connsiteX5" fmla="*/ 1064895 w 1090612"/>
                <a:gd name="connsiteY5" fmla="*/ 3810 h 1966912"/>
                <a:gd name="connsiteX6" fmla="*/ 882015 w 1090612"/>
                <a:gd name="connsiteY6" fmla="*/ 3810 h 1966912"/>
                <a:gd name="connsiteX7" fmla="*/ 812483 w 1090612"/>
                <a:gd name="connsiteY7" fmla="*/ 0 h 1966912"/>
                <a:gd name="connsiteX8" fmla="*/ 0 w 1090612"/>
                <a:gd name="connsiteY8" fmla="*/ 982980 h 1966912"/>
                <a:gd name="connsiteX9" fmla="*/ 742950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742950" y="1963103"/>
                  </a:moveTo>
                  <a:cubicBezTo>
                    <a:pt x="753428" y="1965008"/>
                    <a:pt x="763905" y="1966913"/>
                    <a:pt x="775335" y="1966913"/>
                  </a:cubicBezTo>
                  <a:cubicBezTo>
                    <a:pt x="885825" y="1966913"/>
                    <a:pt x="1090613" y="1966913"/>
                    <a:pt x="1090613" y="1966913"/>
                  </a:cubicBezTo>
                  <a:cubicBezTo>
                    <a:pt x="1084898" y="1965960"/>
                    <a:pt x="1079183" y="1965008"/>
                    <a:pt x="1073468" y="1964055"/>
                  </a:cubicBezTo>
                  <a:cubicBezTo>
                    <a:pt x="653415" y="1925955"/>
                    <a:pt x="321945" y="1501140"/>
                    <a:pt x="321945" y="983933"/>
                  </a:cubicBezTo>
                  <a:cubicBezTo>
                    <a:pt x="321945" y="469583"/>
                    <a:pt x="648653" y="47625"/>
                    <a:pt x="1064895" y="3810"/>
                  </a:cubicBezTo>
                  <a:cubicBezTo>
                    <a:pt x="1026795" y="3810"/>
                    <a:pt x="953453" y="3810"/>
                    <a:pt x="882015" y="3810"/>
                  </a:cubicBezTo>
                  <a:cubicBezTo>
                    <a:pt x="859155" y="1905"/>
                    <a:pt x="835343" y="0"/>
                    <a:pt x="812483" y="0"/>
                  </a:cubicBezTo>
                  <a:cubicBezTo>
                    <a:pt x="363855" y="0"/>
                    <a:pt x="0" y="440055"/>
                    <a:pt x="0" y="982980"/>
                  </a:cubicBezTo>
                  <a:cubicBezTo>
                    <a:pt x="0" y="1498283"/>
                    <a:pt x="326708" y="1920240"/>
                    <a:pt x="742950" y="1963103"/>
                  </a:cubicBezTo>
                  <a:close/>
                </a:path>
              </a:pathLst>
            </a:custGeom>
            <a:gradFill>
              <a:gsLst>
                <a:gs pos="0">
                  <a:srgbClr val="3368FF"/>
                </a:gs>
                <a:gs pos="100000">
                  <a:srgbClr val="0042FF"/>
                </a:gs>
              </a:gsLst>
              <a:lin ang="54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en-ID">
                <a:solidFill>
                  <a:srgbClr val="383838"/>
                </a:solidFill>
                <a:latin typeface="微软雅黑"/>
                <a:ea typeface="微软雅黑"/>
                <a:cs typeface="微软雅黑"/>
              </a:endParaRPr>
            </a:p>
          </p:txBody>
        </p:sp>
        <p:sp>
          <p:nvSpPr>
            <p:cNvPr id="73" name="Freeform: Shape 98"/>
            <p:cNvSpPr/>
            <p:nvPr/>
          </p:nvSpPr>
          <p:spPr>
            <a:xfrm>
              <a:off x="6604749" y="2225174"/>
              <a:ext cx="1333056" cy="2404159"/>
            </a:xfrm>
            <a:custGeom>
              <a:avLst/>
              <a:gdLst>
                <a:gd name="connsiteX0" fmla="*/ 742950 w 1090612"/>
                <a:gd name="connsiteY0" fmla="*/ 1963103 h 1966912"/>
                <a:gd name="connsiteX1" fmla="*/ 775335 w 1090612"/>
                <a:gd name="connsiteY1" fmla="*/ 1966913 h 1966912"/>
                <a:gd name="connsiteX2" fmla="*/ 1090613 w 1090612"/>
                <a:gd name="connsiteY2" fmla="*/ 1966913 h 1966912"/>
                <a:gd name="connsiteX3" fmla="*/ 1073468 w 1090612"/>
                <a:gd name="connsiteY3" fmla="*/ 1964055 h 1966912"/>
                <a:gd name="connsiteX4" fmla="*/ 321945 w 1090612"/>
                <a:gd name="connsiteY4" fmla="*/ 983933 h 1966912"/>
                <a:gd name="connsiteX5" fmla="*/ 1064895 w 1090612"/>
                <a:gd name="connsiteY5" fmla="*/ 3810 h 1966912"/>
                <a:gd name="connsiteX6" fmla="*/ 882015 w 1090612"/>
                <a:gd name="connsiteY6" fmla="*/ 3810 h 1966912"/>
                <a:gd name="connsiteX7" fmla="*/ 812483 w 1090612"/>
                <a:gd name="connsiteY7" fmla="*/ 0 h 1966912"/>
                <a:gd name="connsiteX8" fmla="*/ 0 w 1090612"/>
                <a:gd name="connsiteY8" fmla="*/ 982980 h 1966912"/>
                <a:gd name="connsiteX9" fmla="*/ 742950 w 1090612"/>
                <a:gd name="connsiteY9" fmla="*/ 1963103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0612" h="1966912">
                  <a:moveTo>
                    <a:pt x="742950" y="1963103"/>
                  </a:moveTo>
                  <a:cubicBezTo>
                    <a:pt x="753428" y="1965008"/>
                    <a:pt x="763905" y="1966913"/>
                    <a:pt x="775335" y="1966913"/>
                  </a:cubicBezTo>
                  <a:cubicBezTo>
                    <a:pt x="885825" y="1966913"/>
                    <a:pt x="1090613" y="1966913"/>
                    <a:pt x="1090613" y="1966913"/>
                  </a:cubicBezTo>
                  <a:cubicBezTo>
                    <a:pt x="1084898" y="1965960"/>
                    <a:pt x="1079183" y="1965008"/>
                    <a:pt x="1073468" y="1964055"/>
                  </a:cubicBezTo>
                  <a:cubicBezTo>
                    <a:pt x="653415" y="1925955"/>
                    <a:pt x="321945" y="1501140"/>
                    <a:pt x="321945" y="983933"/>
                  </a:cubicBezTo>
                  <a:cubicBezTo>
                    <a:pt x="321945" y="469583"/>
                    <a:pt x="648653" y="47625"/>
                    <a:pt x="1064895" y="3810"/>
                  </a:cubicBezTo>
                  <a:cubicBezTo>
                    <a:pt x="1026795" y="3810"/>
                    <a:pt x="953453" y="3810"/>
                    <a:pt x="882015" y="3810"/>
                  </a:cubicBezTo>
                  <a:cubicBezTo>
                    <a:pt x="859155" y="1905"/>
                    <a:pt x="835343" y="0"/>
                    <a:pt x="812483" y="0"/>
                  </a:cubicBezTo>
                  <a:cubicBezTo>
                    <a:pt x="363855" y="0"/>
                    <a:pt x="0" y="440055"/>
                    <a:pt x="0" y="982980"/>
                  </a:cubicBezTo>
                  <a:cubicBezTo>
                    <a:pt x="0" y="1498283"/>
                    <a:pt x="326708" y="1920240"/>
                    <a:pt x="742950" y="1963103"/>
                  </a:cubicBezTo>
                  <a:close/>
                </a:path>
              </a:pathLst>
            </a:custGeom>
            <a:gradFill>
              <a:gsLst>
                <a:gs pos="0">
                  <a:srgbClr val="B3D4FE"/>
                </a:gs>
                <a:gs pos="100000">
                  <a:srgbClr val="3368FF"/>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ID" dirty="0">
                <a:latin typeface="微软雅黑"/>
                <a:ea typeface="微软雅黑"/>
                <a:cs typeface="微软雅黑"/>
                <a:sym typeface="微软雅黑"/>
              </a:endParaRPr>
            </a:p>
          </p:txBody>
        </p:sp>
      </p:grpSp>
      <p:sp>
        <p:nvSpPr>
          <p:cNvPr id="128" name="椭圆 127"/>
          <p:cNvSpPr/>
          <p:nvPr/>
        </p:nvSpPr>
        <p:spPr>
          <a:xfrm>
            <a:off x="3921629" y="3090327"/>
            <a:ext cx="359417" cy="359417"/>
          </a:xfrm>
          <a:prstGeom prst="ellipse">
            <a:avLst/>
          </a:prstGeom>
          <a:solidFill>
            <a:srgbClr val="FFFFFF"/>
          </a:solidFill>
          <a:ln w="254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9" name="椭圆 128"/>
          <p:cNvSpPr/>
          <p:nvPr/>
        </p:nvSpPr>
        <p:spPr>
          <a:xfrm>
            <a:off x="5416294" y="3090327"/>
            <a:ext cx="359417" cy="359417"/>
          </a:xfrm>
          <a:prstGeom prst="ellipse">
            <a:avLst/>
          </a:prstGeom>
          <a:solidFill>
            <a:srgbClr val="FFFFFF"/>
          </a:solidFill>
          <a:ln w="25400">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30" name="椭圆 129"/>
          <p:cNvSpPr/>
          <p:nvPr/>
        </p:nvSpPr>
        <p:spPr>
          <a:xfrm>
            <a:off x="6910959" y="3090327"/>
            <a:ext cx="359417" cy="359417"/>
          </a:xfrm>
          <a:prstGeom prst="ellipse">
            <a:avLst/>
          </a:prstGeom>
          <a:solidFill>
            <a:srgbClr val="FFFFFF"/>
          </a:solidFill>
          <a:ln w="254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31" name="椭圆 130"/>
          <p:cNvSpPr/>
          <p:nvPr/>
        </p:nvSpPr>
        <p:spPr>
          <a:xfrm>
            <a:off x="2323181" y="3090327"/>
            <a:ext cx="359417" cy="359417"/>
          </a:xfrm>
          <a:prstGeom prst="ellipse">
            <a:avLst/>
          </a:prstGeom>
          <a:solidFill>
            <a:srgbClr val="FFFFFF"/>
          </a:solidFill>
          <a:ln w="25400">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42" name="Google Shape;1928;p36"/>
          <p:cNvSpPr/>
          <p:nvPr/>
        </p:nvSpPr>
        <p:spPr>
          <a:xfrm>
            <a:off x="2682875" y="3151505"/>
            <a:ext cx="683260" cy="23622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25400" tIns="25400" rIns="25400" bIns="25400" anchor="t" anchorCtr="0">
            <a:noAutofit/>
          </a:bodyPr>
          <a:lstStyle/>
          <a:p>
            <a:pPr algn="ctr">
              <a:buClr>
                <a:srgbClr val="383838"/>
              </a:buClr>
              <a:buSzPts val="1000"/>
              <a:defRPr>
                <a:solidFill>
                  <a:srgbClr val="383838"/>
                </a:solidFill>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市场定位</a:t>
            </a:r>
            <a:endParaRPr lang="zh-CN" altLang="en-US" sz="1100" b="1" dirty="0">
              <a:solidFill>
                <a:srgbClr val="383838"/>
              </a:solidFill>
              <a:latin typeface="微软雅黑"/>
              <a:ea typeface="微软雅黑"/>
              <a:cs typeface="微软雅黑"/>
              <a:sym typeface="微软雅黑"/>
            </a:endParaRPr>
          </a:p>
        </p:txBody>
      </p:sp>
      <p:sp>
        <p:nvSpPr>
          <p:cNvPr id="144" name="Venn diagram"/>
          <p:cNvSpPr txBox="1"/>
          <p:nvPr/>
        </p:nvSpPr>
        <p:spPr>
          <a:xfrm>
            <a:off x="7892565" y="3141810"/>
            <a:ext cx="1352075" cy="234950"/>
          </a:xfrm>
          <a:prstGeom prst="rect">
            <a:avLst/>
          </a:prstGeom>
          <a:ln w="12700">
            <a:miter lim="400000"/>
          </a:ln>
        </p:spPr>
        <p:txBody>
          <a:bodyPr wrap="square" lIns="25400" tIns="25400" rIns="25400" bIns="25400">
            <a:spAutoFit/>
          </a:bodyPr>
          <a:lstStyle>
            <a:lvl1pPr algn="l">
              <a:defRPr sz="6000">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rPr>
              <a:t>项目四阶段</a:t>
            </a:r>
            <a:endParaRPr lang="zh-CN" sz="1200" dirty="0">
              <a:solidFill>
                <a:srgbClr val="FFFFFF"/>
              </a:solidFill>
              <a:latin typeface="微软雅黑"/>
              <a:ea typeface="微软雅黑"/>
              <a:cs typeface="微软雅黑"/>
            </a:endParaRPr>
          </a:p>
        </p:txBody>
      </p:sp>
      <p:sp>
        <p:nvSpPr>
          <p:cNvPr id="151" name="Google Shape;1928;p36"/>
          <p:cNvSpPr/>
          <p:nvPr/>
        </p:nvSpPr>
        <p:spPr>
          <a:xfrm>
            <a:off x="4331970" y="3151505"/>
            <a:ext cx="683260" cy="23622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25400" tIns="25400" rIns="25400" bIns="25400" anchor="t" anchorCtr="0">
            <a:noAutofit/>
          </a:bodyPr>
          <a:lstStyle/>
          <a:p>
            <a:pPr algn="ctr">
              <a:buClr>
                <a:srgbClr val="383838"/>
              </a:buClr>
              <a:buSzPts val="1000"/>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产品研发</a:t>
            </a:r>
            <a:endParaRPr lang="zh-CN" altLang="en-US" sz="1100" b="1" dirty="0">
              <a:solidFill>
                <a:srgbClr val="FFFFFF"/>
              </a:solidFill>
              <a:latin typeface="微软雅黑"/>
              <a:ea typeface="微软雅黑"/>
              <a:cs typeface="微软雅黑"/>
              <a:sym typeface="微软雅黑"/>
            </a:endParaRPr>
          </a:p>
        </p:txBody>
      </p:sp>
      <p:sp>
        <p:nvSpPr>
          <p:cNvPr id="152" name="Google Shape;1928;p36"/>
          <p:cNvSpPr/>
          <p:nvPr/>
        </p:nvSpPr>
        <p:spPr>
          <a:xfrm>
            <a:off x="5838190" y="3157220"/>
            <a:ext cx="683260" cy="23622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25400" tIns="25400" rIns="25400" bIns="25400" anchor="t" anchorCtr="0">
            <a:noAutofit/>
          </a:bodyPr>
          <a:lstStyle/>
          <a:p>
            <a:pPr algn="ctr">
              <a:buClr>
                <a:srgbClr val="383838"/>
              </a:buClr>
              <a:buSzPts val="1000"/>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宣传推广</a:t>
            </a:r>
            <a:endParaRPr lang="zh-CN" altLang="en-US" sz="1100" b="1" dirty="0">
              <a:solidFill>
                <a:srgbClr val="FFFFFF"/>
              </a:solidFill>
              <a:latin typeface="微软雅黑"/>
              <a:ea typeface="微软雅黑"/>
              <a:cs typeface="微软雅黑"/>
              <a:sym typeface="微软雅黑"/>
            </a:endParaRPr>
          </a:p>
        </p:txBody>
      </p:sp>
      <p:sp>
        <p:nvSpPr>
          <p:cNvPr id="153" name="Google Shape;1928;p36"/>
          <p:cNvSpPr/>
          <p:nvPr/>
        </p:nvSpPr>
        <p:spPr>
          <a:xfrm>
            <a:off x="7390130" y="3155950"/>
            <a:ext cx="683260" cy="23622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25400" tIns="25400" rIns="25400" bIns="25400" anchor="t" anchorCtr="0">
            <a:noAutofit/>
          </a:bodyPr>
          <a:lstStyle/>
          <a:p>
            <a:pPr algn="ctr">
              <a:buClr>
                <a:srgbClr val="383838"/>
              </a:buClr>
              <a:buSzPts val="1000"/>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推广反馈</a:t>
            </a:r>
            <a:endParaRPr lang="zh-CN" altLang="en-US" sz="1100" b="1" dirty="0">
              <a:solidFill>
                <a:srgbClr val="FFFFFF"/>
              </a:solidFill>
              <a:latin typeface="微软雅黑"/>
              <a:ea typeface="微软雅黑"/>
              <a:cs typeface="微软雅黑"/>
              <a:sym typeface="微软雅黑"/>
            </a:endParaRPr>
          </a:p>
        </p:txBody>
      </p:sp>
      <p:grpSp>
        <p:nvGrpSpPr>
          <p:cNvPr id="157" name="组合 156"/>
          <p:cNvGrpSpPr/>
          <p:nvPr/>
        </p:nvGrpSpPr>
        <p:grpSpPr>
          <a:xfrm>
            <a:off x="866140" y="1443990"/>
            <a:ext cx="729054" cy="729053"/>
            <a:chOff x="884" y="6433"/>
            <a:chExt cx="1483" cy="1483"/>
          </a:xfrm>
        </p:grpSpPr>
        <p:sp>
          <p:nvSpPr>
            <p:cNvPr id="158" name="Circle"/>
            <p:cNvSpPr/>
            <p:nvPr/>
          </p:nvSpPr>
          <p:spPr>
            <a:xfrm>
              <a:off x="884" y="6433"/>
              <a:ext cx="1483" cy="1483"/>
            </a:xfrm>
            <a:prstGeom prst="ellipse">
              <a:avLst/>
            </a:prstGeom>
            <a:solidFill>
              <a:srgbClr val="E6E6E6"/>
            </a:solidFill>
            <a:ln w="12700" cap="flat">
              <a:solidFill>
                <a:srgbClr val="3368FF">
                  <a:alpha val="50000"/>
                </a:srgbClr>
              </a:solidFill>
              <a:miter lim="400000"/>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solidFill>
                  <a:srgbClr val="383838"/>
                </a:solidFill>
                <a:latin typeface="微软雅黑"/>
                <a:ea typeface="微软雅黑"/>
                <a:cs typeface="微软雅黑"/>
                <a:sym typeface="微软雅黑"/>
              </a:endParaRPr>
            </a:p>
          </p:txBody>
        </p:sp>
        <p:sp>
          <p:nvSpPr>
            <p:cNvPr id="159"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045" y="6811"/>
              <a:ext cx="1162" cy="729"/>
            </a:xfrm>
            <a:prstGeom prst="rect">
              <a:avLst/>
            </a:prstGeom>
            <a:ln w="12700">
              <a:miter lim="400000"/>
            </a:ln>
          </p:spPr>
          <p:txBody>
            <a:bodyPr lIns="0" tIns="0" rIns="0" bIns="0">
              <a:spAutoFit/>
            </a:bodyPr>
            <a:lstStyle>
              <a:lvl1pPr>
                <a:defRPr sz="2200">
                  <a:solidFill>
                    <a:srgbClr val="383838"/>
                  </a:solidFill>
                  <a:latin typeface="微软雅黑"/>
                  <a:ea typeface="微软雅黑"/>
                  <a:cs typeface="微软雅黑"/>
                  <a:sym typeface="微软雅黑"/>
                </a:defRPr>
              </a:lvl1pPr>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调研</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团队</a:t>
              </a:r>
              <a:endParaRPr lang="zh-CN" altLang="en-US" sz="1000" dirty="0">
                <a:solidFill>
                  <a:srgbClr val="383838"/>
                </a:solidFill>
                <a:latin typeface="微软雅黑"/>
                <a:ea typeface="微软雅黑"/>
                <a:cs typeface="微软雅黑"/>
                <a:sym typeface="微软雅黑"/>
              </a:endParaRPr>
            </a:p>
          </p:txBody>
        </p:sp>
      </p:grpSp>
      <p:grpSp>
        <p:nvGrpSpPr>
          <p:cNvPr id="160" name="组合 159"/>
          <p:cNvGrpSpPr/>
          <p:nvPr/>
        </p:nvGrpSpPr>
        <p:grpSpPr>
          <a:xfrm>
            <a:off x="866140" y="2399103"/>
            <a:ext cx="729054" cy="728980"/>
            <a:chOff x="884" y="6433"/>
            <a:chExt cx="1483" cy="1483"/>
          </a:xfrm>
        </p:grpSpPr>
        <p:sp>
          <p:nvSpPr>
            <p:cNvPr id="161" name="Circle"/>
            <p:cNvSpPr/>
            <p:nvPr/>
          </p:nvSpPr>
          <p:spPr>
            <a:xfrm>
              <a:off x="884" y="6433"/>
              <a:ext cx="1483" cy="1483"/>
            </a:xfrm>
            <a:prstGeom prst="ellipse">
              <a:avLst/>
            </a:prstGeom>
            <a:solidFill>
              <a:srgbClr val="FFFFFF"/>
            </a:solidFill>
            <a:ln w="12700" cap="flat">
              <a:solidFill>
                <a:srgbClr val="B3D4FE">
                  <a:alpha val="50000"/>
                </a:srgbClr>
              </a:solidFill>
              <a:miter lim="400000"/>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solidFill>
                  <a:srgbClr val="383838"/>
                </a:solidFill>
                <a:latin typeface="微软雅黑"/>
                <a:ea typeface="微软雅黑"/>
                <a:cs typeface="微软雅黑"/>
                <a:sym typeface="微软雅黑"/>
              </a:endParaRPr>
            </a:p>
          </p:txBody>
        </p:sp>
        <p:sp>
          <p:nvSpPr>
            <p:cNvPr id="16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045" y="6811"/>
              <a:ext cx="1162" cy="729"/>
            </a:xfrm>
            <a:prstGeom prst="rect">
              <a:avLst/>
            </a:prstGeom>
            <a:ln w="12700">
              <a:miter lim="400000"/>
            </a:ln>
          </p:spPr>
          <p:txBody>
            <a:bodyPr lIns="0" tIns="0" rIns="0" bIns="0">
              <a:spAutoFit/>
            </a:bodyPr>
            <a:lstStyle>
              <a:lvl1pPr>
                <a:defRPr sz="2200">
                  <a:solidFill>
                    <a:srgbClr val="383838"/>
                  </a:solidFill>
                  <a:latin typeface="微软雅黑"/>
                  <a:ea typeface="微软雅黑"/>
                  <a:cs typeface="微软雅黑"/>
                  <a:sym typeface="微软雅黑"/>
                </a:defRPr>
              </a:lvl1pPr>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产品</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中心</a:t>
              </a:r>
              <a:endParaRPr lang="zh-CN" altLang="en-US" sz="1000" dirty="0">
                <a:solidFill>
                  <a:srgbClr val="383838"/>
                </a:solidFill>
                <a:latin typeface="微软雅黑"/>
                <a:ea typeface="微软雅黑"/>
                <a:cs typeface="微软雅黑"/>
                <a:sym typeface="微软雅黑"/>
              </a:endParaRPr>
            </a:p>
          </p:txBody>
        </p:sp>
      </p:grpSp>
      <p:grpSp>
        <p:nvGrpSpPr>
          <p:cNvPr id="163" name="组合 162"/>
          <p:cNvGrpSpPr/>
          <p:nvPr/>
        </p:nvGrpSpPr>
        <p:grpSpPr>
          <a:xfrm>
            <a:off x="866140" y="3354143"/>
            <a:ext cx="729054" cy="728980"/>
            <a:chOff x="884" y="6433"/>
            <a:chExt cx="1483" cy="1483"/>
          </a:xfrm>
        </p:grpSpPr>
        <p:sp>
          <p:nvSpPr>
            <p:cNvPr id="164" name="Circle"/>
            <p:cNvSpPr/>
            <p:nvPr/>
          </p:nvSpPr>
          <p:spPr>
            <a:xfrm>
              <a:off x="884" y="6433"/>
              <a:ext cx="1483" cy="1483"/>
            </a:xfrm>
            <a:prstGeom prst="ellipse">
              <a:avLst/>
            </a:prstGeom>
            <a:solidFill>
              <a:srgbClr val="FFFFFF"/>
            </a:solidFill>
            <a:ln w="12700" cap="flat">
              <a:solidFill>
                <a:srgbClr val="B3D4FE">
                  <a:alpha val="50000"/>
                </a:srgbClr>
              </a:solidFill>
              <a:miter lim="400000"/>
            </a:ln>
            <a:effectLst/>
          </p:spPr>
          <p:txBody>
            <a:bodyPr wrap="square" lIns="0" tIns="0" rIns="0" bIns="0" numCol="1" anchor="ctr">
              <a:noAutofit/>
            </a:bodyPr>
            <a:lstStyle/>
            <a:p>
              <a:pPr lvl="0" algn="ctr">
                <a:buClrTx/>
                <a:buSzTx/>
                <a:buFontTx/>
                <a:defRPr>
                  <a:latin typeface="微软雅黑"/>
                  <a:ea typeface="微软雅黑"/>
                  <a:cs typeface="微软雅黑"/>
                </a:defRPr>
              </a:pPr>
              <a:endParaRPr sz="1000">
                <a:solidFill>
                  <a:srgbClr val="383838"/>
                </a:solidFill>
                <a:latin typeface="微软雅黑"/>
                <a:ea typeface="微软雅黑"/>
                <a:cs typeface="微软雅黑"/>
                <a:sym typeface="微软雅黑"/>
              </a:endParaRPr>
            </a:p>
          </p:txBody>
        </p:sp>
        <p:sp>
          <p:nvSpPr>
            <p:cNvPr id="165"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045" y="6811"/>
              <a:ext cx="1162" cy="729"/>
            </a:xfrm>
            <a:prstGeom prst="rect">
              <a:avLst/>
            </a:prstGeom>
            <a:ln w="12700">
              <a:miter lim="400000"/>
            </a:ln>
          </p:spPr>
          <p:txBody>
            <a:bodyPr lIns="0" tIns="0" rIns="0" bIns="0">
              <a:spAutoFit/>
            </a:bodyPr>
            <a:lstStyle>
              <a:lvl1pPr>
                <a:defRPr sz="2200">
                  <a:solidFill>
                    <a:srgbClr val="383838"/>
                  </a:solidFill>
                  <a:latin typeface="微软雅黑"/>
                  <a:ea typeface="微软雅黑"/>
                  <a:cs typeface="微软雅黑"/>
                  <a:sym typeface="微软雅黑"/>
                </a:defRPr>
              </a:lvl1pPr>
            </a:lstStyle>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研发</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中心</a:t>
              </a:r>
              <a:endParaRPr lang="zh-CN" altLang="en-US" sz="1000" dirty="0">
                <a:solidFill>
                  <a:srgbClr val="383838"/>
                </a:solidFill>
                <a:latin typeface="微软雅黑"/>
                <a:ea typeface="微软雅黑"/>
                <a:cs typeface="微软雅黑"/>
                <a:sym typeface="微软雅黑"/>
              </a:endParaRPr>
            </a:p>
          </p:txBody>
        </p:sp>
      </p:grpSp>
      <p:sp>
        <p:nvSpPr>
          <p:cNvPr id="167" name="熊大的PPT宝库14"/>
          <p:cNvSpPr/>
          <p:nvPr/>
        </p:nvSpPr>
        <p:spPr>
          <a:xfrm rot="10800000">
            <a:off x="9102090" y="2172970"/>
            <a:ext cx="2403475" cy="1069975"/>
          </a:xfrm>
          <a:prstGeom prst="homePlate">
            <a:avLst>
              <a:gd name="adj" fmla="val 59845"/>
            </a:avLst>
          </a:prstGeom>
          <a:gradFill>
            <a:gsLst>
              <a:gs pos="0">
                <a:srgbClr val="FFFFFF">
                  <a:alpha val="40000"/>
                </a:srgbClr>
              </a:gs>
              <a:gs pos="100000">
                <a:srgbClr val="FFFFFF">
                  <a:alpha val="0"/>
                </a:srgbClr>
              </a:gs>
            </a:gsLst>
            <a:lin ang="10800000" scaled="0"/>
          </a:gradFill>
          <a:ln w="12700" cap="flat" cmpd="sng" algn="ctr">
            <a:solidFill>
              <a:srgbClr val="3368FF"/>
            </a:solid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prstClr val="white"/>
              </a:solidFill>
              <a:effectLst/>
              <a:uLnTx/>
              <a:uFillTx/>
              <a:latin typeface="微软雅黑"/>
              <a:ea typeface="微软雅黑"/>
              <a:cs typeface="微软雅黑"/>
            </a:endParaRPr>
          </a:p>
        </p:txBody>
      </p:sp>
      <p:sp>
        <p:nvSpPr>
          <p:cNvPr id="168" name="熊大的PPT宝库16"/>
          <p:cNvSpPr/>
          <p:nvPr/>
        </p:nvSpPr>
        <p:spPr>
          <a:xfrm rot="10800000">
            <a:off x="9102090" y="3375025"/>
            <a:ext cx="2403475" cy="1069975"/>
          </a:xfrm>
          <a:prstGeom prst="homePlate">
            <a:avLst>
              <a:gd name="adj" fmla="val 59845"/>
            </a:avLst>
          </a:prstGeom>
          <a:gradFill>
            <a:gsLst>
              <a:gs pos="0">
                <a:srgbClr val="E6E6E6">
                  <a:alpha val="20000"/>
                </a:srgbClr>
              </a:gs>
              <a:gs pos="100000">
                <a:srgbClr val="E6E6E6">
                  <a:alpha val="0"/>
                </a:srgbClr>
              </a:gs>
            </a:gsLst>
            <a:lin ang="10800000" scaled="0"/>
          </a:gradFill>
          <a:ln w="12700" cap="flat" cmpd="sng" algn="ctr">
            <a:solidFill>
              <a:srgbClr val="0042FF"/>
            </a:solid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kern="0" noProof="0">
              <a:ln>
                <a:noFill/>
              </a:ln>
              <a:solidFill>
                <a:prstClr val="white"/>
              </a:solidFill>
              <a:effectLst/>
              <a:uLnTx/>
              <a:uFillTx/>
              <a:latin typeface="微软雅黑"/>
              <a:ea typeface="微软雅黑"/>
              <a:cs typeface="微软雅黑"/>
              <a:sym typeface="微软雅黑"/>
            </a:endParaRPr>
          </a:p>
        </p:txBody>
      </p:sp>
      <p:grpSp>
        <p:nvGrpSpPr>
          <p:cNvPr id="169" name="@显眼包PPT1"/>
          <p:cNvGrpSpPr/>
          <p:nvPr/>
        </p:nvGrpSpPr>
        <p:grpSpPr>
          <a:xfrm>
            <a:off x="316547" y="5187518"/>
            <a:ext cx="11522075" cy="474980"/>
            <a:chOff x="334962" y="5996408"/>
            <a:chExt cx="11522075" cy="474980"/>
          </a:xfrm>
        </p:grpSpPr>
        <p:sp>
          <p:nvSpPr>
            <p:cNvPr id="170" name="@显眼包PPT1-1"/>
            <p:cNvSpPr/>
            <p:nvPr/>
          </p:nvSpPr>
          <p:spPr>
            <a:xfrm>
              <a:off x="334962" y="5996408"/>
              <a:ext cx="11522075" cy="330360"/>
            </a:xfrm>
            <a:prstGeom prst="trapezoid">
              <a:avLst>
                <a:gd name="adj" fmla="val 152137"/>
              </a:avLst>
            </a:prstGeom>
            <a:gradFill flip="none" rotWithShape="1">
              <a:gsLst>
                <a:gs pos="0">
                  <a:srgbClr val="668EFF">
                    <a:alpha val="0"/>
                  </a:srgbClr>
                </a:gs>
                <a:gs pos="100000">
                  <a:srgbClr val="668EFF">
                    <a:alpha val="41000"/>
                  </a:srgbClr>
                </a:gs>
              </a:gsLst>
              <a:lin ang="5400000" scaled="1"/>
              <a:tileRect/>
            </a:gradFill>
            <a:ln>
              <a:gradFill>
                <a:gsLst>
                  <a:gs pos="0">
                    <a:srgbClr val="3368FF">
                      <a:alpha val="0"/>
                    </a:srgbClr>
                  </a:gs>
                  <a:gs pos="100000">
                    <a:srgbClr val="3368FF"/>
                  </a:gs>
                </a:gsLst>
                <a:lin ang="5400000" scaled="1"/>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71" name="@显眼包PPT1-2"/>
            <p:cNvSpPr/>
            <p:nvPr/>
          </p:nvSpPr>
          <p:spPr>
            <a:xfrm>
              <a:off x="334962" y="6326608"/>
              <a:ext cx="11522075" cy="144780"/>
            </a:xfrm>
            <a:prstGeom prst="rect">
              <a:avLst/>
            </a:prstGeom>
            <a:gradFill flip="none" rotWithShape="1">
              <a:gsLst>
                <a:gs pos="0">
                  <a:srgbClr val="3368FF"/>
                </a:gs>
                <a:gs pos="97273">
                  <a:srgbClr val="3368FF"/>
                </a:gs>
                <a:gs pos="50000">
                  <a:srgbClr val="0042FF"/>
                </a:gs>
              </a:gsLst>
              <a:lin ang="0" scaled="1"/>
              <a:tileRect/>
            </a:gradFill>
            <a:ln>
              <a:noFill/>
            </a:ln>
            <a:effectLst>
              <a:reflection blurRad="50800" stA="41000" endPos="38000" dir="5400000" sy="-100000" algn="bl" rotWithShape="0"/>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189" name="组合 188"/>
          <p:cNvGrpSpPr/>
          <p:nvPr/>
        </p:nvGrpSpPr>
        <p:grpSpPr>
          <a:xfrm>
            <a:off x="3779520" y="1043305"/>
            <a:ext cx="1986280" cy="670560"/>
            <a:chOff x="5952" y="1841"/>
            <a:chExt cx="3128" cy="1056"/>
          </a:xfrm>
        </p:grpSpPr>
        <p:sp>
          <p:nvSpPr>
            <p:cNvPr id="187" name="矩形 186"/>
            <p:cNvSpPr/>
            <p:nvPr/>
          </p:nvSpPr>
          <p:spPr>
            <a:xfrm>
              <a:off x="5952" y="1841"/>
              <a:ext cx="3112" cy="1056"/>
            </a:xfrm>
            <a:prstGeom prst="rect">
              <a:avLst/>
            </a:prstGeom>
            <a:solidFill>
              <a:srgbClr val="FFFF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15" name="Google Shape;1933;p36"/>
            <p:cNvSpPr/>
            <p:nvPr/>
          </p:nvSpPr>
          <p:spPr>
            <a:xfrm>
              <a:off x="6058" y="1984"/>
              <a:ext cx="2791" cy="942"/>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sym typeface="微软雅黑"/>
                  <a:latin typeface="微软雅黑"/>
                  <a:ea typeface="微软雅黑"/>
                </a:rPr>
                <a:t>以用户需求为标尺，攻克 [技术难点] 等挑战，将 [需求案例] 转化为实用功能，生产环节严守质量</a:t>
              </a:r>
              <a:endParaRPr lang="zh-CN" altLang="en-US" sz="1000" dirty="0">
                <a:solidFill>
                  <a:srgbClr val="383838"/>
                </a:solidFill>
                <a:cs typeface="微软雅黑"/>
                <a:sym typeface="微软雅黑"/>
                <a:latin typeface="微软雅黑"/>
                <a:ea typeface="微软雅黑"/>
              </a:endParaRPr>
            </a:p>
          </p:txBody>
        </p:sp>
        <p:cxnSp>
          <p:nvCxnSpPr>
            <p:cNvPr id="188" name="直接连接符 187"/>
            <p:cNvCxnSpPr/>
            <p:nvPr/>
          </p:nvCxnSpPr>
          <p:spPr>
            <a:xfrm>
              <a:off x="5952" y="2881"/>
              <a:ext cx="3128"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cxnSp>
        <p:nvCxnSpPr>
          <p:cNvPr id="190" name="直接连接符 189"/>
          <p:cNvCxnSpPr/>
          <p:nvPr/>
        </p:nvCxnSpPr>
        <p:spPr>
          <a:xfrm flipH="1">
            <a:off x="4724400" y="1697355"/>
            <a:ext cx="76200" cy="336550"/>
          </a:xfrm>
          <a:prstGeom prst="line">
            <a:avLst/>
          </a:prstGeom>
          <a:ln>
            <a:solidFill>
              <a:srgbClr val="3368FF"/>
            </a:solidFill>
            <a:prstDash val="dash"/>
          </a:ln>
        </p:spPr>
        <p:style>
          <a:lnRef idx="2">
            <a:srgbClr val="0042FF"/>
          </a:lnRef>
          <a:fillRef idx="0">
            <a:srgbClr val="FFFFFF"/>
          </a:fillRef>
          <a:effectRef idx="0">
            <a:srgbClr val="FFFFFF"/>
          </a:effectRef>
          <a:fontRef idx="minor">
            <a:srgbClr val="383838"/>
          </a:fontRef>
        </p:style>
      </p:cxnSp>
      <p:sp>
        <p:nvSpPr>
          <p:cNvPr id="191" name="Google Shape;1933;p36"/>
          <p:cNvSpPr/>
          <p:nvPr/>
        </p:nvSpPr>
        <p:spPr>
          <a:xfrm>
            <a:off x="3996690" y="1744980"/>
            <a:ext cx="800100" cy="179705"/>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pPr>
            <a:r>
              <a:rPr lang="zh-CN" altLang="en-US" sz="1000" b="1" dirty="0">
                <a:solidFill>
                  <a:srgbClr val="0042FF"/>
                </a:solidFill>
                <a:cs typeface="微软雅黑"/>
                <a:sym typeface="微软雅黑"/>
                <a:latin typeface="微软雅黑"/>
                <a:ea typeface="微软雅黑"/>
              </a:rPr>
              <a:t>第②环节</a:t>
            </a:r>
            <a:endParaRPr lang="zh-CN" altLang="en-US" sz="1000" b="1" dirty="0">
              <a:solidFill>
                <a:srgbClr val="0042FF"/>
              </a:solidFill>
              <a:cs typeface="微软雅黑"/>
              <a:sym typeface="微软雅黑"/>
              <a:latin typeface="微软雅黑"/>
              <a:ea typeface="微软雅黑"/>
            </a:endParaRPr>
          </a:p>
        </p:txBody>
      </p:sp>
      <p:grpSp>
        <p:nvGrpSpPr>
          <p:cNvPr id="192" name="组合 191"/>
          <p:cNvGrpSpPr/>
          <p:nvPr/>
        </p:nvGrpSpPr>
        <p:grpSpPr>
          <a:xfrm>
            <a:off x="6635750" y="1074420"/>
            <a:ext cx="1986280" cy="670560"/>
            <a:chOff x="5952" y="1841"/>
            <a:chExt cx="3128" cy="1056"/>
          </a:xfrm>
        </p:grpSpPr>
        <p:sp>
          <p:nvSpPr>
            <p:cNvPr id="193" name="矩形 192"/>
            <p:cNvSpPr/>
            <p:nvPr/>
          </p:nvSpPr>
          <p:spPr>
            <a:xfrm>
              <a:off x="5952" y="1841"/>
              <a:ext cx="3112" cy="1056"/>
            </a:xfrm>
            <a:prstGeom prst="rect">
              <a:avLst/>
            </a:prstGeom>
            <a:solidFill>
              <a:srgbClr val="FFFFFF">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94" name="Google Shape;1933;p36"/>
            <p:cNvSpPr/>
            <p:nvPr/>
          </p:nvSpPr>
          <p:spPr>
            <a:xfrm>
              <a:off x="6058" y="1996"/>
              <a:ext cx="2930" cy="942"/>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sym typeface="微软雅黑"/>
                  <a:latin typeface="微软雅黑"/>
                  <a:ea typeface="微软雅黑"/>
                </a:rPr>
                <a:t>通过</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反馈渠道</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倾听用户声音，针对</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案例</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快速迭代，让产品随用户需求</a:t>
              </a:r>
              <a:r>
                <a:rPr lang="en-US" altLang="zh-CN" sz="1000" dirty="0">
                  <a:solidFill>
                    <a:srgbClr val="383838"/>
                  </a:solidFill>
                  <a:cs typeface="微软雅黑"/>
                  <a:sym typeface="微软雅黑"/>
                  <a:latin typeface="微软雅黑"/>
                  <a:ea typeface="微软雅黑"/>
                </a:rPr>
                <a:t>‘</a:t>
              </a:r>
              <a:r>
                <a:rPr lang="zh-CN" altLang="en-US" sz="1000" dirty="0">
                  <a:solidFill>
                    <a:srgbClr val="383838"/>
                  </a:solidFill>
                  <a:cs typeface="微软雅黑"/>
                  <a:sym typeface="微软雅黑"/>
                  <a:latin typeface="微软雅黑"/>
                  <a:ea typeface="微软雅黑"/>
                </a:rPr>
                <a:t>成长</a:t>
              </a:r>
              <a:r>
                <a:rPr lang="en-US" altLang="zh-CN" sz="1000" dirty="0">
                  <a:solidFill>
                    <a:srgbClr val="383838"/>
                  </a:solidFill>
                  <a:cs typeface="微软雅黑"/>
                  <a:sym typeface="微软雅黑"/>
                  <a:latin typeface="微软雅黑"/>
                  <a:ea typeface="微软雅黑"/>
                </a:rPr>
                <a:t>’</a:t>
              </a:r>
              <a:r>
                <a:rPr lang="zh-CN" altLang="en-US" sz="1000" dirty="0">
                  <a:solidFill>
                    <a:srgbClr val="383838"/>
                  </a:solidFill>
                  <a:cs typeface="微软雅黑"/>
                  <a:sym typeface="微软雅黑"/>
                  <a:latin typeface="微软雅黑"/>
                  <a:ea typeface="微软雅黑"/>
                </a:rPr>
                <a:t>，保持市场竞争力</a:t>
              </a:r>
              <a:endParaRPr lang="zh-CN" altLang="en-US" sz="1000" dirty="0">
                <a:solidFill>
                  <a:srgbClr val="383838"/>
                </a:solidFill>
                <a:cs typeface="微软雅黑"/>
                <a:sym typeface="微软雅黑"/>
                <a:latin typeface="微软雅黑"/>
                <a:ea typeface="微软雅黑"/>
              </a:endParaRPr>
            </a:p>
          </p:txBody>
        </p:sp>
        <p:cxnSp>
          <p:nvCxnSpPr>
            <p:cNvPr id="195" name="直接连接符 194"/>
            <p:cNvCxnSpPr/>
            <p:nvPr/>
          </p:nvCxnSpPr>
          <p:spPr>
            <a:xfrm>
              <a:off x="5952" y="2881"/>
              <a:ext cx="3128" cy="0"/>
            </a:xfrm>
            <a:prstGeom prst="line">
              <a:avLst/>
            </a:prstGeom>
            <a:ln w="25400">
              <a:solidFill>
                <a:srgbClr val="3368FF"/>
              </a:solidFill>
            </a:ln>
          </p:spPr>
          <p:style>
            <a:lnRef idx="2">
              <a:srgbClr val="0042FF"/>
            </a:lnRef>
            <a:fillRef idx="0">
              <a:srgbClr val="FFFFFF"/>
            </a:fillRef>
            <a:effectRef idx="0">
              <a:srgbClr val="FFFFFF"/>
            </a:effectRef>
            <a:fontRef idx="minor">
              <a:srgbClr val="383838"/>
            </a:fontRef>
          </p:style>
        </p:cxnSp>
      </p:grpSp>
      <p:cxnSp>
        <p:nvCxnSpPr>
          <p:cNvPr id="196" name="直接连接符 195"/>
          <p:cNvCxnSpPr/>
          <p:nvPr/>
        </p:nvCxnSpPr>
        <p:spPr>
          <a:xfrm>
            <a:off x="7399020" y="1745615"/>
            <a:ext cx="181610" cy="319405"/>
          </a:xfrm>
          <a:prstGeom prst="line">
            <a:avLst/>
          </a:prstGeom>
          <a:ln>
            <a:solidFill>
              <a:srgbClr val="3368FF"/>
            </a:solidFill>
            <a:prstDash val="dash"/>
          </a:ln>
        </p:spPr>
        <p:style>
          <a:lnRef idx="2">
            <a:srgbClr val="0042FF"/>
          </a:lnRef>
          <a:fillRef idx="0">
            <a:srgbClr val="FFFFFF"/>
          </a:fillRef>
          <a:effectRef idx="0">
            <a:srgbClr val="FFFFFF"/>
          </a:effectRef>
          <a:fontRef idx="minor">
            <a:srgbClr val="383838"/>
          </a:fontRef>
        </p:style>
      </p:cxnSp>
      <p:sp>
        <p:nvSpPr>
          <p:cNvPr id="197" name="Google Shape;1933;p36"/>
          <p:cNvSpPr/>
          <p:nvPr/>
        </p:nvSpPr>
        <p:spPr>
          <a:xfrm>
            <a:off x="7576820" y="1783715"/>
            <a:ext cx="800100" cy="179705"/>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pPr>
            <a:r>
              <a:rPr lang="zh-CN" altLang="en-US" sz="1000" b="1" dirty="0">
                <a:solidFill>
                  <a:srgbClr val="0042FF"/>
                </a:solidFill>
                <a:cs typeface="微软雅黑"/>
                <a:sym typeface="微软雅黑"/>
                <a:latin typeface="微软雅黑"/>
                <a:ea typeface="微软雅黑"/>
              </a:rPr>
              <a:t>第④环节</a:t>
            </a:r>
            <a:endParaRPr lang="zh-CN" altLang="en-US" sz="1000" b="1" dirty="0">
              <a:solidFill>
                <a:srgbClr val="0042FF"/>
              </a:solidFill>
              <a:cs typeface="微软雅黑"/>
              <a:sym typeface="微软雅黑"/>
              <a:latin typeface="微软雅黑"/>
              <a:ea typeface="微软雅黑"/>
            </a:endParaRPr>
          </a:p>
        </p:txBody>
      </p:sp>
      <p:grpSp>
        <p:nvGrpSpPr>
          <p:cNvPr id="198" name="组合 197"/>
          <p:cNvGrpSpPr/>
          <p:nvPr/>
        </p:nvGrpSpPr>
        <p:grpSpPr>
          <a:xfrm flipH="1" flipV="1">
            <a:off x="3210560" y="4701540"/>
            <a:ext cx="1986280" cy="670560"/>
            <a:chOff x="5952" y="1841"/>
            <a:chExt cx="3128" cy="1056"/>
          </a:xfrm>
        </p:grpSpPr>
        <p:sp>
          <p:nvSpPr>
            <p:cNvPr id="199" name="矩形 198"/>
            <p:cNvSpPr/>
            <p:nvPr/>
          </p:nvSpPr>
          <p:spPr>
            <a:xfrm>
              <a:off x="5952" y="1841"/>
              <a:ext cx="3112" cy="1056"/>
            </a:xfrm>
            <a:prstGeom prst="rect">
              <a:avLst/>
            </a:prstGeom>
            <a:solidFill>
              <a:srgbClr val="E6E6E6">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201" name="直接连接符 200"/>
            <p:cNvCxnSpPr/>
            <p:nvPr/>
          </p:nvCxnSpPr>
          <p:spPr>
            <a:xfrm>
              <a:off x="5952" y="2881"/>
              <a:ext cx="3128"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cxnSp>
        <p:nvCxnSpPr>
          <p:cNvPr id="203" name="直接连接符 202"/>
          <p:cNvCxnSpPr/>
          <p:nvPr/>
        </p:nvCxnSpPr>
        <p:spPr>
          <a:xfrm>
            <a:off x="3728720" y="4464050"/>
            <a:ext cx="118110" cy="247650"/>
          </a:xfrm>
          <a:prstGeom prst="line">
            <a:avLst/>
          </a:prstGeom>
          <a:ln>
            <a:solidFill>
              <a:srgbClr val="0042FF"/>
            </a:solidFill>
            <a:prstDash val="dash"/>
          </a:ln>
        </p:spPr>
        <p:style>
          <a:lnRef idx="2">
            <a:srgbClr val="0042FF"/>
          </a:lnRef>
          <a:fillRef idx="0">
            <a:srgbClr val="FFFFFF"/>
          </a:fillRef>
          <a:effectRef idx="0">
            <a:srgbClr val="FFFFFF"/>
          </a:effectRef>
          <a:fontRef idx="minor">
            <a:srgbClr val="383838"/>
          </a:fontRef>
        </p:style>
      </p:cxnSp>
      <p:sp>
        <p:nvSpPr>
          <p:cNvPr id="204" name="Google Shape;1933;p36"/>
          <p:cNvSpPr/>
          <p:nvPr/>
        </p:nvSpPr>
        <p:spPr>
          <a:xfrm>
            <a:off x="3366135" y="4803775"/>
            <a:ext cx="1663700" cy="59817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algn="ctr">
              <a:buClr>
                <a:srgbClr val="383838"/>
              </a:buClr>
              <a:buSzPts val="1000"/>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sym typeface="微软雅黑"/>
                <a:latin typeface="微软雅黑"/>
                <a:ea typeface="微软雅黑"/>
              </a:rPr>
              <a:t>调研部门深度挖掘市场空白，研发中心聚焦技术可行性，营销团队锚定目标人群，三方合力</a:t>
            </a:r>
            <a:endParaRPr lang="zh-CN" altLang="en-US" sz="1000" dirty="0">
              <a:solidFill>
                <a:srgbClr val="383838"/>
              </a:solidFill>
              <a:latin typeface="微软雅黑"/>
              <a:ea typeface="微软雅黑"/>
              <a:cs typeface="微软雅黑"/>
              <a:sym typeface="微软雅黑"/>
            </a:endParaRPr>
          </a:p>
        </p:txBody>
      </p:sp>
      <p:grpSp>
        <p:nvGrpSpPr>
          <p:cNvPr id="205" name="组合 204"/>
          <p:cNvGrpSpPr/>
          <p:nvPr/>
        </p:nvGrpSpPr>
        <p:grpSpPr>
          <a:xfrm flipH="1" flipV="1">
            <a:off x="6330315" y="4701540"/>
            <a:ext cx="1986280" cy="670560"/>
            <a:chOff x="5952" y="1841"/>
            <a:chExt cx="3128" cy="1056"/>
          </a:xfrm>
        </p:grpSpPr>
        <p:sp>
          <p:nvSpPr>
            <p:cNvPr id="206" name="矩形 205"/>
            <p:cNvSpPr/>
            <p:nvPr/>
          </p:nvSpPr>
          <p:spPr>
            <a:xfrm>
              <a:off x="5952" y="1841"/>
              <a:ext cx="3112" cy="1056"/>
            </a:xfrm>
            <a:prstGeom prst="rect">
              <a:avLst/>
            </a:prstGeom>
            <a:solidFill>
              <a:srgbClr val="E6E6E6">
                <a:alpha val="5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207" name="直接连接符 206"/>
            <p:cNvCxnSpPr/>
            <p:nvPr/>
          </p:nvCxnSpPr>
          <p:spPr>
            <a:xfrm>
              <a:off x="5952" y="2881"/>
              <a:ext cx="3128" cy="0"/>
            </a:xfrm>
            <a:prstGeom prst="line">
              <a:avLst/>
            </a:prstGeom>
            <a:ln w="25400">
              <a:solidFill>
                <a:srgbClr val="0042FF"/>
              </a:solidFill>
            </a:ln>
          </p:spPr>
          <p:style>
            <a:lnRef idx="2">
              <a:srgbClr val="0042FF"/>
            </a:lnRef>
            <a:fillRef idx="0">
              <a:srgbClr val="FFFFFF"/>
            </a:fillRef>
            <a:effectRef idx="0">
              <a:srgbClr val="FFFFFF"/>
            </a:effectRef>
            <a:fontRef idx="minor">
              <a:srgbClr val="383838"/>
            </a:fontRef>
          </p:style>
        </p:cxnSp>
      </p:grpSp>
      <p:sp>
        <p:nvSpPr>
          <p:cNvPr id="208" name="Google Shape;1933;p36"/>
          <p:cNvSpPr/>
          <p:nvPr/>
        </p:nvSpPr>
        <p:spPr>
          <a:xfrm>
            <a:off x="6438265" y="4803775"/>
            <a:ext cx="1772285" cy="59817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cs typeface="微软雅黑"/>
                <a:sym typeface="微软雅黑"/>
                <a:latin typeface="微软雅黑"/>
                <a:ea typeface="微软雅黑"/>
              </a:rPr>
              <a:t>联动</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推广渠道</a:t>
            </a:r>
            <a:r>
              <a:rPr lang="en-US" altLang="zh-CN" sz="1000" dirty="0">
                <a:solidFill>
                  <a:srgbClr val="383838"/>
                </a:solidFill>
                <a:cs typeface="微软雅黑"/>
                <a:sym typeface="微软雅黑"/>
                <a:latin typeface="微软雅黑"/>
                <a:ea typeface="微软雅黑"/>
              </a:rPr>
              <a:t>]</a:t>
            </a:r>
            <a:r>
              <a:rPr lang="zh-CN" altLang="en-US" sz="1000" dirty="0">
                <a:solidFill>
                  <a:srgbClr val="383838"/>
                </a:solidFill>
                <a:cs typeface="微软雅黑"/>
                <a:sym typeface="微软雅黑"/>
                <a:latin typeface="微软雅黑"/>
                <a:ea typeface="微软雅黑"/>
              </a:rPr>
              <a:t>，以</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营销活动</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为抓手，短期内实现</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数据</a:t>
            </a:r>
            <a:r>
              <a:rPr lang="en-US" altLang="zh-CN" sz="1000" dirty="0">
                <a:solidFill>
                  <a:srgbClr val="383838"/>
                </a:solidFill>
                <a:cs typeface="微软雅黑"/>
                <a:sym typeface="微软雅黑"/>
                <a:latin typeface="微软雅黑"/>
                <a:ea typeface="微软雅黑"/>
              </a:rPr>
              <a:t>] </a:t>
            </a:r>
            <a:r>
              <a:rPr lang="zh-CN" altLang="en-US" sz="1000" dirty="0">
                <a:solidFill>
                  <a:srgbClr val="383838"/>
                </a:solidFill>
                <a:cs typeface="微软雅黑"/>
                <a:sym typeface="微软雅黑"/>
                <a:latin typeface="微软雅黑"/>
                <a:ea typeface="微软雅黑"/>
              </a:rPr>
              <a:t>曝光与转化，让产品快速</a:t>
            </a:r>
            <a:r>
              <a:rPr lang="en-US" altLang="zh-CN" sz="1000" dirty="0">
                <a:solidFill>
                  <a:srgbClr val="383838"/>
                </a:solidFill>
                <a:cs typeface="微软雅黑"/>
                <a:sym typeface="微软雅黑"/>
                <a:latin typeface="微软雅黑"/>
                <a:ea typeface="微软雅黑"/>
              </a:rPr>
              <a:t>‘</a:t>
            </a:r>
            <a:r>
              <a:rPr lang="zh-CN" altLang="en-US" sz="1000" dirty="0">
                <a:solidFill>
                  <a:srgbClr val="383838"/>
                </a:solidFill>
                <a:cs typeface="微软雅黑"/>
                <a:sym typeface="微软雅黑"/>
                <a:latin typeface="微软雅黑"/>
                <a:ea typeface="微软雅黑"/>
              </a:rPr>
              <a:t>出圈</a:t>
            </a:r>
            <a:r>
              <a:rPr lang="en-US" altLang="zh-CN" sz="1000" dirty="0">
                <a:solidFill>
                  <a:srgbClr val="383838"/>
                </a:solidFill>
                <a:cs typeface="微软雅黑"/>
                <a:sym typeface="微软雅黑"/>
                <a:latin typeface="微软雅黑"/>
                <a:ea typeface="微软雅黑"/>
              </a:rPr>
              <a:t>’</a:t>
            </a:r>
            <a:endParaRPr lang="en-US" altLang="zh-CN" sz="1000" dirty="0">
              <a:solidFill>
                <a:srgbClr val="383838"/>
              </a:solidFill>
              <a:cs typeface="微软雅黑"/>
              <a:sym typeface="微软雅黑"/>
              <a:latin typeface="微软雅黑"/>
              <a:ea typeface="微软雅黑"/>
            </a:endParaRPr>
          </a:p>
        </p:txBody>
      </p:sp>
      <p:cxnSp>
        <p:nvCxnSpPr>
          <p:cNvPr id="209" name="直接连接符 208"/>
          <p:cNvCxnSpPr/>
          <p:nvPr/>
        </p:nvCxnSpPr>
        <p:spPr>
          <a:xfrm>
            <a:off x="6955155" y="4410710"/>
            <a:ext cx="134620" cy="281940"/>
          </a:xfrm>
          <a:prstGeom prst="line">
            <a:avLst/>
          </a:prstGeom>
          <a:ln>
            <a:solidFill>
              <a:srgbClr val="0042FF"/>
            </a:solidFill>
            <a:prstDash val="dash"/>
          </a:ln>
        </p:spPr>
        <p:style>
          <a:lnRef idx="2">
            <a:srgbClr val="0042FF"/>
          </a:lnRef>
          <a:fillRef idx="0">
            <a:srgbClr val="FFFFFF"/>
          </a:fillRef>
          <a:effectRef idx="0">
            <a:srgbClr val="FFFFFF"/>
          </a:effectRef>
          <a:fontRef idx="minor">
            <a:srgbClr val="383838"/>
          </a:fontRef>
        </p:style>
      </p:cxnSp>
      <p:sp>
        <p:nvSpPr>
          <p:cNvPr id="210" name="Google Shape;1933;p36"/>
          <p:cNvSpPr/>
          <p:nvPr/>
        </p:nvSpPr>
        <p:spPr>
          <a:xfrm>
            <a:off x="3742690" y="4464050"/>
            <a:ext cx="800100" cy="179705"/>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pPr>
            <a:r>
              <a:rPr lang="zh-CN" altLang="en-US" sz="1000" b="1" dirty="0">
                <a:solidFill>
                  <a:srgbClr val="0042FF"/>
                </a:solidFill>
                <a:cs typeface="微软雅黑"/>
                <a:sym typeface="微软雅黑"/>
                <a:latin typeface="微软雅黑"/>
                <a:ea typeface="微软雅黑"/>
              </a:rPr>
              <a:t>第①环节</a:t>
            </a:r>
            <a:endParaRPr lang="zh-CN" altLang="en-US" sz="1000" b="1" dirty="0">
              <a:solidFill>
                <a:srgbClr val="0042FF"/>
              </a:solidFill>
              <a:cs typeface="微软雅黑"/>
              <a:sym typeface="微软雅黑"/>
              <a:latin typeface="微软雅黑"/>
              <a:ea typeface="微软雅黑"/>
            </a:endParaRPr>
          </a:p>
        </p:txBody>
      </p:sp>
      <p:sp>
        <p:nvSpPr>
          <p:cNvPr id="211" name="Google Shape;1933;p36"/>
          <p:cNvSpPr/>
          <p:nvPr/>
        </p:nvSpPr>
        <p:spPr>
          <a:xfrm>
            <a:off x="6986905" y="4479925"/>
            <a:ext cx="800100" cy="179705"/>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pPr>
            <a:r>
              <a:rPr lang="zh-CN" altLang="en-US" sz="1000" b="1" dirty="0">
                <a:solidFill>
                  <a:srgbClr val="0042FF"/>
                </a:solidFill>
                <a:cs typeface="微软雅黑"/>
                <a:sym typeface="微软雅黑"/>
                <a:latin typeface="微软雅黑"/>
                <a:ea typeface="微软雅黑"/>
              </a:rPr>
              <a:t>第③环节</a:t>
            </a:r>
            <a:endParaRPr lang="zh-CN" altLang="en-US" sz="1000" b="1" dirty="0">
              <a:solidFill>
                <a:srgbClr val="0042FF"/>
              </a:solidFill>
              <a:cs typeface="微软雅黑"/>
              <a:sym typeface="微软雅黑"/>
              <a:latin typeface="微软雅黑"/>
              <a:ea typeface="微软雅黑"/>
            </a:endParaRPr>
          </a:p>
        </p:txBody>
      </p:sp>
      <p:grpSp>
        <p:nvGrpSpPr>
          <p:cNvPr id="229" name="组合 228"/>
          <p:cNvGrpSpPr/>
          <p:nvPr/>
        </p:nvGrpSpPr>
        <p:grpSpPr>
          <a:xfrm>
            <a:off x="319405" y="5749925"/>
            <a:ext cx="3505200" cy="911860"/>
            <a:chOff x="503" y="9055"/>
            <a:chExt cx="5520" cy="1436"/>
          </a:xfrm>
        </p:grpSpPr>
        <p:sp>
          <p:nvSpPr>
            <p:cNvPr id="173" name="矩形 172"/>
            <p:cNvSpPr/>
            <p:nvPr/>
          </p:nvSpPr>
          <p:spPr>
            <a:xfrm>
              <a:off x="503" y="9055"/>
              <a:ext cx="5520" cy="1437"/>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74" name="文本框 173"/>
            <p:cNvSpPr txBox="1"/>
            <p:nvPr/>
          </p:nvSpPr>
          <p:spPr>
            <a:xfrm>
              <a:off x="692" y="9671"/>
              <a:ext cx="5142" cy="749"/>
            </a:xfrm>
            <a:prstGeom prst="rect">
              <a:avLst/>
            </a:prstGeom>
            <a:noFill/>
          </p:spPr>
          <p:txBody>
            <a:bodyPr wrap="square" lIns="0" rIns="0" tIns="0" bIns="0">
              <a:spAutoFit/>
            </a:bodyPr>
            <a:lstStyle/>
            <a:p>
              <a:pPr algn="ctr">
                <a:lnSpc>
                  <a:spcPct val="125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通过市场调研和销售数据分析，明确新产品的目标用户和市场定位，确保产品研发方向与需求匹配。</a:t>
              </a:r>
              <a:endParaRPr lang="zh-CN" altLang="en-US" sz="1000" dirty="0">
                <a:solidFill>
                  <a:srgbClr val="FFFFFF"/>
                </a:solidFill>
                <a:latin typeface="微软雅黑"/>
                <a:ea typeface="微软雅黑"/>
                <a:cs typeface="微软雅黑"/>
              </a:endParaRPr>
            </a:p>
          </p:txBody>
        </p:sp>
        <p:grpSp>
          <p:nvGrpSpPr>
            <p:cNvPr id="214" name="组合 213"/>
            <p:cNvGrpSpPr/>
            <p:nvPr/>
          </p:nvGrpSpPr>
          <p:grpSpPr>
            <a:xfrm>
              <a:off x="1392" y="9111"/>
              <a:ext cx="3742" cy="568"/>
              <a:chOff x="1378" y="9166"/>
              <a:chExt cx="3742" cy="568"/>
            </a:xfrm>
          </p:grpSpPr>
          <p:sp>
            <p:nvSpPr>
              <p:cNvPr id="175" name="圆角矩形 174"/>
              <p:cNvSpPr/>
              <p:nvPr/>
            </p:nvSpPr>
            <p:spPr>
              <a:xfrm>
                <a:off x="1484" y="9250"/>
                <a:ext cx="3532"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13" name="文本框 212"/>
              <p:cNvSpPr txBox="1"/>
              <p:nvPr/>
            </p:nvSpPr>
            <p:spPr>
              <a:xfrm>
                <a:off x="1378" y="9166"/>
                <a:ext cx="3743" cy="568"/>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400" b="1" dirty="0">
                    <a:solidFill>
                      <a:srgbClr val="383838"/>
                    </a:solidFill>
                    <a:latin typeface="微软雅黑"/>
                    <a:ea typeface="微软雅黑"/>
                    <a:cs typeface="微软雅黑"/>
                  </a:rPr>
                  <a:t>精准市场定位与用户细分</a:t>
                </a:r>
                <a:endParaRPr lang="zh-CN" altLang="en-US" sz="1400" b="1" dirty="0">
                  <a:solidFill>
                    <a:srgbClr val="383838"/>
                  </a:solidFill>
                  <a:latin typeface="微软雅黑"/>
                  <a:ea typeface="微软雅黑"/>
                  <a:cs typeface="微软雅黑"/>
                </a:endParaRPr>
              </a:p>
            </p:txBody>
          </p:sp>
        </p:grpSp>
      </p:grpSp>
      <p:grpSp>
        <p:nvGrpSpPr>
          <p:cNvPr id="220" name="组合 219"/>
          <p:cNvGrpSpPr/>
          <p:nvPr/>
        </p:nvGrpSpPr>
        <p:grpSpPr>
          <a:xfrm>
            <a:off x="4044950" y="5749925"/>
            <a:ext cx="3740150" cy="912495"/>
            <a:chOff x="6593" y="9055"/>
            <a:chExt cx="5890" cy="1437"/>
          </a:xfrm>
        </p:grpSpPr>
        <p:sp>
          <p:nvSpPr>
            <p:cNvPr id="216" name="矩形 215"/>
            <p:cNvSpPr/>
            <p:nvPr/>
          </p:nvSpPr>
          <p:spPr>
            <a:xfrm>
              <a:off x="6593" y="9055"/>
              <a:ext cx="5890" cy="1437"/>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217" name="文本框 216"/>
            <p:cNvSpPr txBox="1"/>
            <p:nvPr/>
          </p:nvSpPr>
          <p:spPr>
            <a:xfrm>
              <a:off x="6967" y="9671"/>
              <a:ext cx="5142" cy="821"/>
            </a:xfrm>
            <a:prstGeom prst="rect">
              <a:avLst/>
            </a:prstGeom>
            <a:noFill/>
          </p:spPr>
          <p:txBody>
            <a:bodyPr wrap="square" lIns="0" rIns="0" tIns="0" bIns="0">
              <a:noAutofit/>
            </a:bodyPr>
            <a:lstStyle/>
            <a:p>
              <a:pPr lvl="0" algn="ctr">
                <a:lnSpc>
                  <a:spcPct val="125000"/>
                </a:lnSpc>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利用用户反馈和销售数据，不断调整产品功能和市场策略，实现迭代改进，提升用户满意度和市场份额。</a:t>
              </a:r>
              <a:endParaRPr lang="zh-CN" altLang="en-US" sz="1000" dirty="0">
                <a:solidFill>
                  <a:srgbClr val="FFFFFF"/>
                </a:solidFill>
                <a:latin typeface="微软雅黑"/>
                <a:ea typeface="微软雅黑"/>
                <a:cs typeface="微软雅黑"/>
                <a:sym typeface="微软雅黑"/>
              </a:endParaRPr>
            </a:p>
          </p:txBody>
        </p:sp>
        <p:sp>
          <p:nvSpPr>
            <p:cNvPr id="218" name="圆角矩形 217"/>
            <p:cNvSpPr/>
            <p:nvPr/>
          </p:nvSpPr>
          <p:spPr>
            <a:xfrm>
              <a:off x="7703" y="9195"/>
              <a:ext cx="3732"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19" name="文本框 218"/>
            <p:cNvSpPr txBox="1"/>
            <p:nvPr/>
          </p:nvSpPr>
          <p:spPr>
            <a:xfrm>
              <a:off x="7667" y="9111"/>
              <a:ext cx="3743" cy="568"/>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400" b="1" dirty="0">
                  <a:solidFill>
                    <a:srgbClr val="383838"/>
                  </a:solidFill>
                  <a:latin typeface="微软雅黑"/>
                  <a:ea typeface="微软雅黑"/>
                  <a:cs typeface="微软雅黑"/>
                </a:rPr>
                <a:t>数据驱动的持续优化</a:t>
              </a:r>
              <a:endParaRPr lang="zh-CN" altLang="en-US" sz="1400" b="1" dirty="0">
                <a:solidFill>
                  <a:srgbClr val="383838"/>
                </a:solidFill>
                <a:latin typeface="微软雅黑"/>
                <a:ea typeface="微软雅黑"/>
                <a:cs typeface="微软雅黑"/>
              </a:endParaRPr>
            </a:p>
          </p:txBody>
        </p:sp>
      </p:grpSp>
      <p:grpSp>
        <p:nvGrpSpPr>
          <p:cNvPr id="228" name="组合 227"/>
          <p:cNvGrpSpPr/>
          <p:nvPr/>
        </p:nvGrpSpPr>
        <p:grpSpPr>
          <a:xfrm>
            <a:off x="8005445" y="5749925"/>
            <a:ext cx="3816350" cy="912495"/>
            <a:chOff x="12607" y="9055"/>
            <a:chExt cx="6010" cy="1437"/>
          </a:xfrm>
        </p:grpSpPr>
        <p:sp>
          <p:nvSpPr>
            <p:cNvPr id="223" name="矩形 222"/>
            <p:cNvSpPr/>
            <p:nvPr/>
          </p:nvSpPr>
          <p:spPr>
            <a:xfrm>
              <a:off x="12607" y="9055"/>
              <a:ext cx="6010" cy="1437"/>
            </a:xfrm>
            <a:prstGeom prst="rect">
              <a:avLst/>
            </a:prstGeom>
            <a:gradFill flip="none" rotWithShape="1">
              <a:gsLst>
                <a:gs pos="95000">
                  <a:srgbClr val="3368FF"/>
                </a:gs>
                <a:gs pos="0">
                  <a:srgbClr val="3368FF"/>
                </a:gs>
                <a:gs pos="0">
                  <a:srgbClr val="0042FF"/>
                </a:gs>
              </a:gsLst>
              <a:path path="circle">
                <a:fillToRect l="100000" t="100000"/>
              </a:path>
              <a:tileRect r="-100000" b="-100000"/>
            </a:gradFill>
            <a:ln>
              <a:noFill/>
            </a:ln>
            <a:effectLst>
              <a:outerShdw blurRad="165100" dist="38100" dir="5400000" algn="t" rotWithShape="0">
                <a:srgbClr val="3368FF">
                  <a:alpha val="3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224" name="文本框 223"/>
            <p:cNvSpPr txBox="1"/>
            <p:nvPr/>
          </p:nvSpPr>
          <p:spPr>
            <a:xfrm>
              <a:off x="12804" y="9671"/>
              <a:ext cx="5662" cy="507"/>
            </a:xfrm>
            <a:prstGeom prst="rect">
              <a:avLst/>
            </a:prstGeom>
            <a:noFill/>
          </p:spPr>
          <p:txBody>
            <a:bodyPr wrap="square" lIns="0" rIns="0" tIns="0" bIns="0">
              <a:noAutofit/>
            </a:bodyPr>
            <a:lstStyle/>
            <a:p>
              <a:pPr lvl="0" algn="ctr">
                <a:lnSpc>
                  <a:spcPct val="125000"/>
                </a:lnSpc>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制定科学的推广计划，结合用户调查和销售数据监测，及时评估效果并调整，最终实现营业额、用户满意度等的增长。</a:t>
              </a:r>
              <a:endParaRPr lang="zh-CN" altLang="en-US" sz="1000" dirty="0">
                <a:solidFill>
                  <a:srgbClr val="FFFFFF"/>
                </a:solidFill>
                <a:latin typeface="微软雅黑"/>
                <a:ea typeface="微软雅黑"/>
                <a:cs typeface="微软雅黑"/>
                <a:sym typeface="微软雅黑"/>
              </a:endParaRPr>
            </a:p>
          </p:txBody>
        </p:sp>
        <p:grpSp>
          <p:nvGrpSpPr>
            <p:cNvPr id="225" name="组合 224"/>
            <p:cNvGrpSpPr/>
            <p:nvPr/>
          </p:nvGrpSpPr>
          <p:grpSpPr>
            <a:xfrm>
              <a:off x="13903" y="9067"/>
              <a:ext cx="3743" cy="568"/>
              <a:chOff x="13986" y="9067"/>
              <a:chExt cx="3743" cy="568"/>
            </a:xfrm>
          </p:grpSpPr>
          <p:sp>
            <p:nvSpPr>
              <p:cNvPr id="226" name="圆角矩形 225"/>
              <p:cNvSpPr/>
              <p:nvPr/>
            </p:nvSpPr>
            <p:spPr>
              <a:xfrm>
                <a:off x="14101" y="9163"/>
                <a:ext cx="3514" cy="464"/>
              </a:xfrm>
              <a:prstGeom prst="roundRect">
                <a:avLst/>
              </a:prstGeom>
              <a:solidFill>
                <a:srgbClr val="E6E6E6">
                  <a:alpha val="70000"/>
                </a:srgbClr>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27" name="文本框 226"/>
              <p:cNvSpPr txBox="1"/>
              <p:nvPr/>
            </p:nvSpPr>
            <p:spPr>
              <a:xfrm>
                <a:off x="13986" y="9067"/>
                <a:ext cx="3743" cy="568"/>
              </a:xfrm>
              <a:prstGeom prst="rect">
                <a:avLst/>
              </a:prstGeom>
              <a:noFill/>
            </p:spPr>
            <p:txBody>
              <a:bodyPr wrap="square">
                <a:spAutoFit/>
              </a:bodyPr>
              <a:lstStyle/>
              <a:p>
                <a:pPr algn="ctr">
                  <a:lnSpc>
                    <a:spcPct val="125000"/>
                  </a:lnSpc>
                  <a:defRPr>
                    <a:latin typeface="微软雅黑"/>
                    <a:ea typeface="微软雅黑"/>
                    <a:cs typeface="微软雅黑"/>
                  </a:defRPr>
                </a:pPr>
                <a:r>
                  <a:rPr lang="zh-CN" altLang="en-US" sz="1400" b="1" dirty="0">
                    <a:solidFill>
                      <a:srgbClr val="383838"/>
                    </a:solidFill>
                    <a:latin typeface="微软雅黑"/>
                    <a:ea typeface="微软雅黑"/>
                    <a:cs typeface="微软雅黑"/>
                  </a:rPr>
                  <a:t>有效的市场推广与监测</a:t>
                </a:r>
                <a:endParaRPr lang="zh-CN" altLang="en-US" sz="1400" b="1" dirty="0">
                  <a:solidFill>
                    <a:srgbClr val="383838"/>
                  </a:solidFill>
                  <a:latin typeface="微软雅黑"/>
                  <a:ea typeface="微软雅黑"/>
                  <a:cs typeface="微软雅黑"/>
                </a:endParaRPr>
              </a:p>
            </p:txBody>
          </p:sp>
        </p:grpSp>
      </p:grpSp>
      <p:sp>
        <p:nvSpPr>
          <p:cNvPr id="233" name="Google Shape;1933;p36"/>
          <p:cNvSpPr/>
          <p:nvPr/>
        </p:nvSpPr>
        <p:spPr>
          <a:xfrm>
            <a:off x="9778365" y="1885315"/>
            <a:ext cx="1670685" cy="179705"/>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pPr>
            <a:r>
              <a:rPr lang="zh-CN" altLang="en-US" sz="1000" b="1" dirty="0">
                <a:solidFill>
                  <a:srgbClr val="0042FF"/>
                </a:solidFill>
                <a:cs typeface="微软雅黑"/>
                <a:sym typeface="微软雅黑"/>
                <a:latin typeface="微软雅黑"/>
                <a:ea typeface="微软雅黑"/>
              </a:rPr>
              <a:t>痛点一：市场定位不精准</a:t>
            </a:r>
            <a:endParaRPr lang="zh-CN" altLang="en-US" sz="1000" b="1" dirty="0">
              <a:solidFill>
                <a:srgbClr val="0042FF"/>
              </a:solidFill>
              <a:cs typeface="微软雅黑"/>
              <a:sym typeface="微软雅黑"/>
              <a:latin typeface="微软雅黑"/>
              <a:ea typeface="微软雅黑"/>
            </a:endParaRPr>
          </a:p>
        </p:txBody>
      </p:sp>
      <p:sp>
        <p:nvSpPr>
          <p:cNvPr id="234" name="Google Shape;1933;p36"/>
          <p:cNvSpPr/>
          <p:nvPr/>
        </p:nvSpPr>
        <p:spPr>
          <a:xfrm>
            <a:off x="9674860" y="2319020"/>
            <a:ext cx="1774190" cy="70104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25400" tIns="25400" rIns="25400" bIns="25400" anchor="t" anchorCtr="0">
            <a:noAutofit/>
          </a:bodyPr>
          <a:lstStyle/>
          <a:p>
            <a:pPr lvl="0" algn="ctr">
              <a:buClr>
                <a:srgbClr val="383838"/>
              </a:buClr>
              <a:buSzPts val="1000"/>
              <a:buFontTx/>
              <a:defRPr>
                <a:latin typeface="微软雅黑"/>
                <a:ea typeface="微软雅黑"/>
                <a:cs typeface="微软雅黑"/>
              </a:defRPr>
            </a:pPr>
            <a:r>
              <a:rPr lang="zh-CN" altLang="en-US" sz="1100" dirty="0">
                <a:solidFill>
                  <a:srgbClr val="383838"/>
                </a:solidFill>
                <a:cs typeface="微软雅黑"/>
                <a:sym typeface="微软雅黑"/>
                <a:latin typeface="微软雅黑"/>
                <a:ea typeface="微软雅黑"/>
              </a:rPr>
              <a:t>初期可能缺乏对目标用户和市场的深入调研，导致产品研发与市场需求脱节，影响后续推广效果。</a:t>
            </a:r>
            <a:endParaRPr lang="zh-CN" altLang="en-US" sz="1100" dirty="0">
              <a:solidFill>
                <a:srgbClr val="383838"/>
              </a:solidFill>
              <a:cs typeface="微软雅黑"/>
              <a:sym typeface="微软雅黑"/>
              <a:latin typeface="微软雅黑"/>
              <a:ea typeface="微软雅黑"/>
            </a:endParaRPr>
          </a:p>
        </p:txBody>
      </p:sp>
      <p:sp>
        <p:nvSpPr>
          <p:cNvPr id="235" name="Google Shape;1933;p36"/>
          <p:cNvSpPr/>
          <p:nvPr/>
        </p:nvSpPr>
        <p:spPr>
          <a:xfrm>
            <a:off x="9778365" y="4531995"/>
            <a:ext cx="1670685" cy="179705"/>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0" tIns="0" rIns="0" bIns="0" anchor="t" anchorCtr="0">
            <a:noAutofit/>
          </a:bodyPr>
          <a:lstStyle/>
          <a:p>
            <a:pPr lvl="0" algn="ctr">
              <a:buClr>
                <a:srgbClr val="383838"/>
              </a:buClr>
              <a:buSzPts val="1000"/>
              <a:buFontTx/>
              <a:defRPr>
                <a:latin typeface="微软雅黑"/>
                <a:ea typeface="微软雅黑"/>
                <a:cs typeface="微软雅黑"/>
              </a:defRPr>
            </a:pPr>
            <a:r>
              <a:rPr lang="zh-CN" altLang="en-US" sz="1000" b="1" dirty="0">
                <a:solidFill>
                  <a:srgbClr val="0042FF"/>
                </a:solidFill>
                <a:cs typeface="微软雅黑"/>
                <a:sym typeface="微软雅黑"/>
                <a:latin typeface="微软雅黑"/>
                <a:ea typeface="微软雅黑"/>
              </a:rPr>
              <a:t>痛点二：推广策略效果不佳</a:t>
            </a:r>
            <a:endParaRPr lang="zh-CN" altLang="en-US" sz="1000" b="1" dirty="0">
              <a:solidFill>
                <a:srgbClr val="0042FF"/>
              </a:solidFill>
              <a:cs typeface="微软雅黑"/>
              <a:sym typeface="微软雅黑"/>
              <a:latin typeface="微软雅黑"/>
              <a:ea typeface="微软雅黑"/>
            </a:endParaRPr>
          </a:p>
        </p:txBody>
      </p:sp>
      <p:sp>
        <p:nvSpPr>
          <p:cNvPr id="236" name="Google Shape;1933;p36"/>
          <p:cNvSpPr/>
          <p:nvPr/>
        </p:nvSpPr>
        <p:spPr>
          <a:xfrm>
            <a:off x="9674860" y="3580130"/>
            <a:ext cx="1774190" cy="701040"/>
          </a:xfrm>
          <a:custGeom>
            <a:avLst/>
            <a:gdLst/>
            <a:ahLst/>
            <a:cxnLst/>
            <a:rect l="l" t="t" r="r" b="b"/>
            <a:pathLst>
              <a:path w="21600" h="120000" extrusionOk="0">
                <a:moveTo>
                  <a:pt x="0" y="0"/>
                </a:moveTo>
                <a:lnTo>
                  <a:pt x="21600" y="0"/>
                </a:lnTo>
                <a:lnTo>
                  <a:pt x="21600" y="0"/>
                </a:lnTo>
                <a:lnTo>
                  <a:pt x="0" y="0"/>
                </a:lnTo>
                <a:close/>
              </a:path>
            </a:pathLst>
          </a:custGeom>
          <a:noFill/>
          <a:ln>
            <a:noFill/>
          </a:ln>
        </p:spPr>
        <p:txBody>
          <a:bodyPr spcFirstLastPara="1" wrap="square" lIns="25400" tIns="25400" rIns="25400" bIns="25400" anchor="t" anchorCtr="0">
            <a:noAutofit/>
          </a:bodyPr>
          <a:lstStyle/>
          <a:p>
            <a:pPr lvl="0" algn="ctr">
              <a:buClr>
                <a:srgbClr val="383838"/>
              </a:buClr>
              <a:buSzPts val="1000"/>
              <a:buFontTx/>
              <a:defRPr>
                <a:latin typeface="微软雅黑"/>
                <a:ea typeface="微软雅黑"/>
                <a:cs typeface="微软雅黑"/>
              </a:defRPr>
            </a:pPr>
            <a:r>
              <a:rPr lang="zh-CN" altLang="en-US" sz="1100" dirty="0">
                <a:solidFill>
                  <a:srgbClr val="383838"/>
                </a:solidFill>
                <a:cs typeface="微软雅黑"/>
                <a:sym typeface="微软雅黑"/>
                <a:latin typeface="微软雅黑"/>
                <a:ea typeface="微软雅黑"/>
              </a:rPr>
              <a:t>营销推广可能缺乏针对性，用户对新产品的认知度和接受度较低，初期销售表现不理想。</a:t>
            </a:r>
            <a:endParaRPr lang="zh-CN" altLang="en-US" sz="1100" dirty="0">
              <a:solidFill>
                <a:srgbClr val="383838"/>
              </a:solidFill>
              <a:cs typeface="微软雅黑"/>
              <a:sym typeface="微软雅黑"/>
              <a:latin typeface="微软雅黑"/>
              <a:ea typeface="微软雅黑"/>
            </a:endParaRPr>
          </a:p>
        </p:txBody>
      </p:sp>
      <p:grpSp>
        <p:nvGrpSpPr>
          <p:cNvPr id="335" name="组合 334"/>
          <p:cNvGrpSpPr/>
          <p:nvPr/>
        </p:nvGrpSpPr>
        <p:grpSpPr>
          <a:xfrm flipH="1">
            <a:off x="8699500" y="4558665"/>
            <a:ext cx="1317625" cy="757555"/>
            <a:chOff x="5030" y="6194"/>
            <a:chExt cx="2075" cy="1193"/>
          </a:xfrm>
        </p:grpSpPr>
        <p:cxnSp>
          <p:nvCxnSpPr>
            <p:cNvPr id="336" name="直接连接符 335"/>
            <p:cNvCxnSpPr/>
            <p:nvPr/>
          </p:nvCxnSpPr>
          <p:spPr>
            <a:xfrm>
              <a:off x="5030" y="6763"/>
              <a:ext cx="0" cy="624"/>
            </a:xfrm>
            <a:prstGeom prst="line">
              <a:avLst/>
            </a:prstGeom>
            <a:ln w="19050" cap="rnd">
              <a:gradFill>
                <a:gsLst>
                  <a:gs pos="0">
                    <a:srgbClr val="3368FF"/>
                  </a:gs>
                  <a:gs pos="100000">
                    <a:srgbClr val="3368FF">
                      <a:alpha val="0"/>
                    </a:srgbClr>
                  </a:gs>
                </a:gsLst>
                <a:lin ang="5400000" scaled="1"/>
              </a:gradFill>
              <a:headEnd type="triangle"/>
              <a:tailEnd type="none"/>
            </a:ln>
          </p:spPr>
          <p:style>
            <a:lnRef idx="1">
              <a:srgbClr val="0042FF"/>
            </a:lnRef>
            <a:fillRef idx="0">
              <a:srgbClr val="0042FF"/>
            </a:fillRef>
            <a:effectRef idx="0">
              <a:srgbClr val="0042FF"/>
            </a:effectRef>
            <a:fontRef idx="minor">
              <a:srgbClr val="FFFFFF"/>
            </a:fontRef>
          </p:style>
        </p:cxnSp>
        <p:cxnSp>
          <p:nvCxnSpPr>
            <p:cNvPr id="337" name="直接连接符 336"/>
            <p:cNvCxnSpPr/>
            <p:nvPr/>
          </p:nvCxnSpPr>
          <p:spPr>
            <a:xfrm>
              <a:off x="6085" y="6420"/>
              <a:ext cx="0" cy="624"/>
            </a:xfrm>
            <a:prstGeom prst="line">
              <a:avLst/>
            </a:prstGeom>
            <a:ln w="19050" cap="rnd">
              <a:gradFill>
                <a:gsLst>
                  <a:gs pos="0">
                    <a:srgbClr val="3368FF"/>
                  </a:gs>
                  <a:gs pos="100000">
                    <a:srgbClr val="3368FF">
                      <a:alpha val="0"/>
                    </a:srgbClr>
                  </a:gs>
                </a:gsLst>
                <a:lin ang="5400000" scaled="1"/>
              </a:gradFill>
              <a:headEnd type="triangle"/>
              <a:tailEnd type="none"/>
            </a:ln>
          </p:spPr>
          <p:style>
            <a:lnRef idx="1">
              <a:srgbClr val="0042FF"/>
            </a:lnRef>
            <a:fillRef idx="0">
              <a:srgbClr val="0042FF"/>
            </a:fillRef>
            <a:effectRef idx="0">
              <a:srgbClr val="0042FF"/>
            </a:effectRef>
            <a:fontRef idx="minor">
              <a:srgbClr val="FFFFFF"/>
            </a:fontRef>
          </p:style>
        </p:cxnSp>
        <p:cxnSp>
          <p:nvCxnSpPr>
            <p:cNvPr id="338" name="直接连接符 337"/>
            <p:cNvCxnSpPr/>
            <p:nvPr/>
          </p:nvCxnSpPr>
          <p:spPr>
            <a:xfrm>
              <a:off x="7105" y="6194"/>
              <a:ext cx="0" cy="624"/>
            </a:xfrm>
            <a:prstGeom prst="line">
              <a:avLst/>
            </a:prstGeom>
            <a:ln w="19050" cap="rnd">
              <a:gradFill>
                <a:gsLst>
                  <a:gs pos="0">
                    <a:srgbClr val="3368FF"/>
                  </a:gs>
                  <a:gs pos="100000">
                    <a:srgbClr val="3368FF">
                      <a:alpha val="0"/>
                    </a:srgbClr>
                  </a:gs>
                </a:gsLst>
                <a:lin ang="5400000" scaled="1"/>
              </a:gradFill>
              <a:headEnd type="triangle"/>
              <a:tailEnd type="none"/>
            </a:ln>
          </p:spPr>
          <p:style>
            <a:lnRef idx="1">
              <a:srgbClr val="0042FF"/>
            </a:lnRef>
            <a:fillRef idx="0">
              <a:srgbClr val="0042FF"/>
            </a:fillRef>
            <a:effectRef idx="0">
              <a:srgbClr val="0042FF"/>
            </a:effectRef>
            <a:fontRef idx="minor">
              <a:srgbClr val="FFFFFF"/>
            </a:fontRef>
          </p:style>
        </p:cxnSp>
      </p:grpSp>
      <p:grpSp>
        <p:nvGrpSpPr>
          <p:cNvPr id="237" name="组合 236"/>
          <p:cNvGrpSpPr/>
          <p:nvPr/>
        </p:nvGrpSpPr>
        <p:grpSpPr>
          <a:xfrm>
            <a:off x="1653540" y="4660265"/>
            <a:ext cx="1317625" cy="757555"/>
            <a:chOff x="5030" y="6194"/>
            <a:chExt cx="2075" cy="1193"/>
          </a:xfrm>
        </p:grpSpPr>
        <p:cxnSp>
          <p:nvCxnSpPr>
            <p:cNvPr id="238" name="直接连接符 237"/>
            <p:cNvCxnSpPr/>
            <p:nvPr/>
          </p:nvCxnSpPr>
          <p:spPr>
            <a:xfrm>
              <a:off x="5030" y="6763"/>
              <a:ext cx="0" cy="624"/>
            </a:xfrm>
            <a:prstGeom prst="line">
              <a:avLst/>
            </a:prstGeom>
            <a:ln w="19050" cap="rnd">
              <a:gradFill>
                <a:gsLst>
                  <a:gs pos="0">
                    <a:srgbClr val="3368FF"/>
                  </a:gs>
                  <a:gs pos="100000">
                    <a:srgbClr val="3368FF">
                      <a:alpha val="0"/>
                    </a:srgbClr>
                  </a:gs>
                </a:gsLst>
                <a:lin ang="5400000" scaled="1"/>
              </a:gradFill>
              <a:headEnd type="triangle"/>
              <a:tailEnd type="none"/>
            </a:ln>
          </p:spPr>
          <p:style>
            <a:lnRef idx="1">
              <a:srgbClr val="0042FF"/>
            </a:lnRef>
            <a:fillRef idx="0">
              <a:srgbClr val="0042FF"/>
            </a:fillRef>
            <a:effectRef idx="0">
              <a:srgbClr val="0042FF"/>
            </a:effectRef>
            <a:fontRef idx="minor">
              <a:srgbClr val="FFFFFF"/>
            </a:fontRef>
          </p:style>
        </p:cxnSp>
        <p:cxnSp>
          <p:nvCxnSpPr>
            <p:cNvPr id="239" name="直接连接符 238"/>
            <p:cNvCxnSpPr/>
            <p:nvPr/>
          </p:nvCxnSpPr>
          <p:spPr>
            <a:xfrm>
              <a:off x="6085" y="6420"/>
              <a:ext cx="0" cy="624"/>
            </a:xfrm>
            <a:prstGeom prst="line">
              <a:avLst/>
            </a:prstGeom>
            <a:ln w="19050" cap="rnd">
              <a:gradFill>
                <a:gsLst>
                  <a:gs pos="0">
                    <a:srgbClr val="3368FF"/>
                  </a:gs>
                  <a:gs pos="100000">
                    <a:srgbClr val="3368FF">
                      <a:alpha val="0"/>
                    </a:srgbClr>
                  </a:gs>
                </a:gsLst>
                <a:lin ang="5400000" scaled="1"/>
              </a:gradFill>
              <a:headEnd type="triangle"/>
              <a:tailEnd type="none"/>
            </a:ln>
          </p:spPr>
          <p:style>
            <a:lnRef idx="1">
              <a:srgbClr val="0042FF"/>
            </a:lnRef>
            <a:fillRef idx="0">
              <a:srgbClr val="0042FF"/>
            </a:fillRef>
            <a:effectRef idx="0">
              <a:srgbClr val="0042FF"/>
            </a:effectRef>
            <a:fontRef idx="minor">
              <a:srgbClr val="FFFFFF"/>
            </a:fontRef>
          </p:style>
        </p:cxnSp>
        <p:cxnSp>
          <p:nvCxnSpPr>
            <p:cNvPr id="240" name="直接连接符 239"/>
            <p:cNvCxnSpPr/>
            <p:nvPr/>
          </p:nvCxnSpPr>
          <p:spPr>
            <a:xfrm>
              <a:off x="7105" y="6194"/>
              <a:ext cx="0" cy="624"/>
            </a:xfrm>
            <a:prstGeom prst="line">
              <a:avLst/>
            </a:prstGeom>
            <a:ln w="19050" cap="rnd">
              <a:gradFill>
                <a:gsLst>
                  <a:gs pos="0">
                    <a:srgbClr val="3368FF"/>
                  </a:gs>
                  <a:gs pos="100000">
                    <a:srgbClr val="3368FF">
                      <a:alpha val="0"/>
                    </a:srgbClr>
                  </a:gs>
                </a:gsLst>
                <a:lin ang="5400000" scaled="1"/>
              </a:gradFill>
              <a:headEnd type="triangle"/>
              <a:tailEnd type="none"/>
            </a:ln>
          </p:spPr>
          <p:style>
            <a:lnRef idx="1">
              <a:srgbClr val="0042FF"/>
            </a:lnRef>
            <a:fillRef idx="0">
              <a:srgbClr val="0042FF"/>
            </a:fillRef>
            <a:effectRef idx="0">
              <a:srgbClr val="0042FF"/>
            </a:effectRef>
            <a:fontRef idx="minor">
              <a:srgbClr val="FFFFFF"/>
            </a:fontRef>
          </p:style>
        </p:cxnSp>
      </p:grpSp>
      <p:pic>
        <p:nvPicPr>
          <p:cNvPr id="250" name="图片 249" descr="调查"/>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55850" y="3129915"/>
            <a:ext cx="260350" cy="260350"/>
          </a:xfrm>
          <a:prstGeom prst="rect">
            <a:avLst/>
          </a:prstGeom>
        </p:spPr>
      </p:pic>
      <p:pic>
        <p:nvPicPr>
          <p:cNvPr id="251" name="图片 250" descr="意见反馈-填充"/>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97700" y="3168650"/>
            <a:ext cx="185420" cy="185420"/>
          </a:xfrm>
          <a:prstGeom prst="rect">
            <a:avLst/>
          </a:prstGeom>
        </p:spPr>
      </p:pic>
      <p:pic>
        <p:nvPicPr>
          <p:cNvPr id="252" name="图片 251" descr="自助推广"/>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485130" y="3175635"/>
            <a:ext cx="207010" cy="207010"/>
          </a:xfrm>
          <a:prstGeom prst="rect">
            <a:avLst/>
          </a:prstGeom>
        </p:spPr>
      </p:pic>
      <p:pic>
        <p:nvPicPr>
          <p:cNvPr id="253" name="图片 252" descr="设计研发"/>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4005580" y="3168650"/>
            <a:ext cx="192405" cy="192405"/>
          </a:xfrm>
          <a:prstGeom prst="rect">
            <a:avLst/>
          </a:prstGeom>
        </p:spPr>
      </p:pic>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1"/>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fill="hold"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营销路径方法论框架</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任意多边形 1"/>
          <p:cNvSpPr/>
          <p:nvPr/>
        </p:nvSpPr>
        <p:spPr>
          <a:xfrm>
            <a:off x="1614170" y="1601470"/>
            <a:ext cx="9201150" cy="4366895"/>
          </a:xfrm>
          <a:custGeom>
            <a:avLst/>
            <a:gdLst>
              <a:gd name="adj" fmla="val 6697"/>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4490" h="6419">
                <a:moveTo>
                  <a:pt x="0" y="430"/>
                </a:moveTo>
                <a:cubicBezTo>
                  <a:pt x="-10" y="197"/>
                  <a:pt x="206" y="5"/>
                  <a:pt x="403" y="1"/>
                </a:cubicBezTo>
                <a:cubicBezTo>
                  <a:pt x="454" y="40"/>
                  <a:pt x="1503" y="465"/>
                  <a:pt x="1562" y="465"/>
                </a:cubicBezTo>
                <a:lnTo>
                  <a:pt x="1764" y="532"/>
                </a:lnTo>
                <a:lnTo>
                  <a:pt x="1969" y="597"/>
                </a:lnTo>
                <a:lnTo>
                  <a:pt x="2177" y="659"/>
                </a:lnTo>
                <a:lnTo>
                  <a:pt x="2388" y="719"/>
                </a:lnTo>
                <a:lnTo>
                  <a:pt x="2603" y="776"/>
                </a:lnTo>
                <a:lnTo>
                  <a:pt x="2821" y="831"/>
                </a:lnTo>
                <a:lnTo>
                  <a:pt x="3041" y="883"/>
                </a:lnTo>
                <a:lnTo>
                  <a:pt x="3265" y="932"/>
                </a:lnTo>
                <a:lnTo>
                  <a:pt x="3492" y="979"/>
                </a:lnTo>
                <a:lnTo>
                  <a:pt x="3721" y="1023"/>
                </a:lnTo>
                <a:lnTo>
                  <a:pt x="3953" y="1064"/>
                </a:lnTo>
                <a:lnTo>
                  <a:pt x="4188" y="1103"/>
                </a:lnTo>
                <a:lnTo>
                  <a:pt x="4425" y="1138"/>
                </a:lnTo>
                <a:lnTo>
                  <a:pt x="4665" y="1171"/>
                </a:lnTo>
                <a:lnTo>
                  <a:pt x="4907" y="1201"/>
                </a:lnTo>
                <a:lnTo>
                  <a:pt x="5151" y="1228"/>
                </a:lnTo>
                <a:lnTo>
                  <a:pt x="5398" y="1252"/>
                </a:lnTo>
                <a:lnTo>
                  <a:pt x="5647" y="1272"/>
                </a:lnTo>
                <a:lnTo>
                  <a:pt x="5898" y="1290"/>
                </a:lnTo>
                <a:lnTo>
                  <a:pt x="6151" y="1305"/>
                </a:lnTo>
                <a:lnTo>
                  <a:pt x="6405" y="1316"/>
                </a:lnTo>
                <a:lnTo>
                  <a:pt x="6662" y="1324"/>
                </a:lnTo>
                <a:lnTo>
                  <a:pt x="6920" y="1329"/>
                </a:lnTo>
                <a:lnTo>
                  <a:pt x="7180" y="1331"/>
                </a:lnTo>
                <a:lnTo>
                  <a:pt x="7440" y="1329"/>
                </a:lnTo>
                <a:lnTo>
                  <a:pt x="7698" y="1324"/>
                </a:lnTo>
                <a:lnTo>
                  <a:pt x="7955" y="1316"/>
                </a:lnTo>
                <a:lnTo>
                  <a:pt x="8209" y="1305"/>
                </a:lnTo>
                <a:lnTo>
                  <a:pt x="8462" y="1290"/>
                </a:lnTo>
                <a:lnTo>
                  <a:pt x="8713" y="1272"/>
                </a:lnTo>
                <a:lnTo>
                  <a:pt x="8962" y="1252"/>
                </a:lnTo>
                <a:lnTo>
                  <a:pt x="9209" y="1228"/>
                </a:lnTo>
                <a:lnTo>
                  <a:pt x="9453" y="1201"/>
                </a:lnTo>
                <a:lnTo>
                  <a:pt x="9695" y="1171"/>
                </a:lnTo>
                <a:lnTo>
                  <a:pt x="9935" y="1138"/>
                </a:lnTo>
                <a:lnTo>
                  <a:pt x="10172" y="1103"/>
                </a:lnTo>
                <a:lnTo>
                  <a:pt x="10407" y="1064"/>
                </a:lnTo>
                <a:lnTo>
                  <a:pt x="10639" y="1023"/>
                </a:lnTo>
                <a:lnTo>
                  <a:pt x="10868" y="979"/>
                </a:lnTo>
                <a:lnTo>
                  <a:pt x="11095" y="932"/>
                </a:lnTo>
                <a:lnTo>
                  <a:pt x="11319" y="883"/>
                </a:lnTo>
                <a:lnTo>
                  <a:pt x="11539" y="831"/>
                </a:lnTo>
                <a:lnTo>
                  <a:pt x="11757" y="776"/>
                </a:lnTo>
                <a:lnTo>
                  <a:pt x="11972" y="719"/>
                </a:lnTo>
                <a:lnTo>
                  <a:pt x="12183" y="659"/>
                </a:lnTo>
                <a:lnTo>
                  <a:pt x="12391" y="597"/>
                </a:lnTo>
                <a:lnTo>
                  <a:pt x="12596" y="532"/>
                </a:lnTo>
                <a:lnTo>
                  <a:pt x="12798" y="465"/>
                </a:lnTo>
                <a:cubicBezTo>
                  <a:pt x="13222" y="335"/>
                  <a:pt x="14097" y="-57"/>
                  <a:pt x="13958" y="0"/>
                </a:cubicBezTo>
                <a:lnTo>
                  <a:pt x="14060" y="0"/>
                </a:lnTo>
                <a:cubicBezTo>
                  <a:pt x="14302" y="-7"/>
                  <a:pt x="14496" y="213"/>
                  <a:pt x="14490" y="430"/>
                </a:cubicBezTo>
                <a:lnTo>
                  <a:pt x="14490" y="5983"/>
                </a:lnTo>
                <a:cubicBezTo>
                  <a:pt x="14497" y="6225"/>
                  <a:pt x="14277" y="6419"/>
                  <a:pt x="14060" y="6413"/>
                </a:cubicBezTo>
                <a:lnTo>
                  <a:pt x="430" y="6413"/>
                </a:lnTo>
                <a:cubicBezTo>
                  <a:pt x="188" y="6420"/>
                  <a:pt x="-6" y="6200"/>
                  <a:pt x="0" y="5983"/>
                </a:cubicBezTo>
                <a:lnTo>
                  <a:pt x="0" y="430"/>
                </a:lnTo>
                <a:close/>
              </a:path>
            </a:pathLst>
          </a:custGeom>
          <a:solidFill>
            <a:srgbClr val="E6E6E6">
              <a:alpha val="20000"/>
            </a:srgbClr>
          </a:solidFill>
          <a:ln>
            <a:solidFill>
              <a:srgbClr val="3368FF"/>
            </a:solidFill>
            <a:prstDash val="sysDash"/>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latin typeface="微软雅黑"/>
              <a:ea typeface="微软雅黑"/>
              <a:cs typeface="微软雅黑"/>
            </a:endParaRPr>
          </a:p>
        </p:txBody>
      </p:sp>
      <p:sp>
        <p:nvSpPr>
          <p:cNvPr id="4" name="任意多边形 3"/>
          <p:cNvSpPr/>
          <p:nvPr/>
        </p:nvSpPr>
        <p:spPr>
          <a:xfrm>
            <a:off x="1031875" y="2230120"/>
            <a:ext cx="582295" cy="3060065"/>
          </a:xfrm>
          <a:custGeom>
            <a:avLst/>
            <a:gdLst>
              <a:gd name="adj" fmla="val 38575"/>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97" h="4820">
                <a:moveTo>
                  <a:pt x="0" y="780"/>
                </a:moveTo>
                <a:cubicBezTo>
                  <a:pt x="-13" y="342"/>
                  <a:pt x="387" y="-11"/>
                  <a:pt x="780" y="0"/>
                </a:cubicBezTo>
                <a:lnTo>
                  <a:pt x="897" y="0"/>
                </a:lnTo>
                <a:lnTo>
                  <a:pt x="897" y="4819"/>
                </a:lnTo>
                <a:lnTo>
                  <a:pt x="780" y="4819"/>
                </a:lnTo>
                <a:cubicBezTo>
                  <a:pt x="342" y="4832"/>
                  <a:pt x="-11" y="4432"/>
                  <a:pt x="0" y="4039"/>
                </a:cubicBezTo>
                <a:lnTo>
                  <a:pt x="0" y="780"/>
                </a:lnTo>
                <a:close/>
              </a:path>
            </a:pathLst>
          </a:custGeom>
          <a:gradFill>
            <a:gsLst>
              <a:gs pos="0">
                <a:srgbClr val="0042FF"/>
              </a:gs>
              <a:gs pos="10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wrap="square" rtlCol="0" anchor="ctr">
            <a:noAutofit/>
          </a:bodyPr>
          <a:p>
            <a:pPr algn="ctr">
              <a:defRPr>
                <a:solidFill>
                  <a:srgbClr val="FFFFFF"/>
                </a:solidFill>
                <a:latin typeface="微软雅黑"/>
                <a:ea typeface="微软雅黑"/>
                <a:cs typeface="微软雅黑"/>
              </a:defRPr>
            </a:pPr>
            <a:r>
              <a:rPr lang="zh-CN" altLang="en-US" sz="2300" b="1">
                <a:solidFill>
                  <a:srgbClr val="FFFFFF"/>
                </a:solidFill>
                <a:latin typeface="微软雅黑"/>
                <a:ea typeface="微软雅黑"/>
                <a:cs typeface="微软雅黑"/>
              </a:rPr>
              <a:t>流量</a:t>
            </a:r>
            <a:endParaRPr lang="zh-CN" altLang="en-US" sz="2300" b="1">
              <a:solidFill>
                <a:srgbClr val="FFFFFF"/>
              </a:solidFill>
              <a:latin typeface="微软雅黑"/>
              <a:ea typeface="微软雅黑"/>
              <a:cs typeface="微软雅黑"/>
            </a:endParaRPr>
          </a:p>
        </p:txBody>
      </p:sp>
      <p:sp>
        <p:nvSpPr>
          <p:cNvPr id="7" name="任意多边形 6"/>
          <p:cNvSpPr/>
          <p:nvPr/>
        </p:nvSpPr>
        <p:spPr>
          <a:xfrm flipH="1">
            <a:off x="10815320" y="2230120"/>
            <a:ext cx="569595" cy="3060065"/>
          </a:xfrm>
          <a:custGeom>
            <a:avLst/>
            <a:gdLst>
              <a:gd name="adj" fmla="val 38575"/>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897" h="4820">
                <a:moveTo>
                  <a:pt x="0" y="780"/>
                </a:moveTo>
                <a:cubicBezTo>
                  <a:pt x="-13" y="342"/>
                  <a:pt x="387" y="-11"/>
                  <a:pt x="780" y="0"/>
                </a:cubicBezTo>
                <a:lnTo>
                  <a:pt x="897" y="0"/>
                </a:lnTo>
                <a:lnTo>
                  <a:pt x="897" y="4819"/>
                </a:lnTo>
                <a:lnTo>
                  <a:pt x="780" y="4819"/>
                </a:lnTo>
                <a:cubicBezTo>
                  <a:pt x="342" y="4832"/>
                  <a:pt x="-11" y="4432"/>
                  <a:pt x="0" y="4039"/>
                </a:cubicBezTo>
                <a:lnTo>
                  <a:pt x="0" y="780"/>
                </a:lnTo>
                <a:close/>
              </a:path>
            </a:pathLst>
          </a:custGeom>
          <a:gradFill>
            <a:gsLst>
              <a:gs pos="0">
                <a:srgbClr val="0042FF"/>
              </a:gs>
              <a:gs pos="10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2300" b="1">
                <a:solidFill>
                  <a:srgbClr val="FFFFFF"/>
                </a:solidFill>
                <a:latin typeface="微软雅黑"/>
                <a:ea typeface="微软雅黑"/>
                <a:cs typeface="微软雅黑"/>
                <a:sym typeface="微软雅黑"/>
              </a:rPr>
              <a:t>生意</a:t>
            </a:r>
            <a:endParaRPr lang="zh-CN" altLang="en-US" sz="2300" b="1">
              <a:solidFill>
                <a:srgbClr val="FFFFFF"/>
              </a:solidFill>
              <a:latin typeface="微软雅黑"/>
              <a:ea typeface="微软雅黑"/>
              <a:cs typeface="微软雅黑"/>
              <a:sym typeface="微软雅黑"/>
            </a:endParaRPr>
          </a:p>
        </p:txBody>
      </p:sp>
      <p:sp>
        <p:nvSpPr>
          <p:cNvPr id="8" name="任意多边形 7"/>
          <p:cNvSpPr/>
          <p:nvPr/>
        </p:nvSpPr>
        <p:spPr>
          <a:xfrm>
            <a:off x="2242531" y="1495425"/>
            <a:ext cx="7903153" cy="796290"/>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2446" h="1254">
                <a:moveTo>
                  <a:pt x="12446" y="0"/>
                </a:moveTo>
                <a:cubicBezTo>
                  <a:pt x="12244" y="125"/>
                  <a:pt x="10851" y="643"/>
                  <a:pt x="10552" y="693"/>
                </a:cubicBezTo>
                <a:lnTo>
                  <a:pt x="10347" y="748"/>
                </a:lnTo>
                <a:lnTo>
                  <a:pt x="10138" y="801"/>
                </a:lnTo>
                <a:lnTo>
                  <a:pt x="9926" y="851"/>
                </a:lnTo>
                <a:lnTo>
                  <a:pt x="9712" y="898"/>
                </a:lnTo>
                <a:lnTo>
                  <a:pt x="9495" y="943"/>
                </a:lnTo>
                <a:lnTo>
                  <a:pt x="9275" y="984"/>
                </a:lnTo>
                <a:lnTo>
                  <a:pt x="9053" y="1023"/>
                </a:lnTo>
                <a:lnTo>
                  <a:pt x="8829" y="1059"/>
                </a:lnTo>
                <a:lnTo>
                  <a:pt x="8602" y="1092"/>
                </a:lnTo>
                <a:lnTo>
                  <a:pt x="8373" y="1123"/>
                </a:lnTo>
                <a:lnTo>
                  <a:pt x="8142" y="1150"/>
                </a:lnTo>
                <a:lnTo>
                  <a:pt x="7908" y="1174"/>
                </a:lnTo>
                <a:lnTo>
                  <a:pt x="7673" y="1195"/>
                </a:lnTo>
                <a:lnTo>
                  <a:pt x="7436" y="1213"/>
                </a:lnTo>
                <a:lnTo>
                  <a:pt x="7197" y="1227"/>
                </a:lnTo>
                <a:lnTo>
                  <a:pt x="6956" y="1239"/>
                </a:lnTo>
                <a:lnTo>
                  <a:pt x="6713" y="1247"/>
                </a:lnTo>
                <a:lnTo>
                  <a:pt x="6469" y="1252"/>
                </a:lnTo>
                <a:lnTo>
                  <a:pt x="6223" y="1254"/>
                </a:lnTo>
                <a:lnTo>
                  <a:pt x="5977" y="1252"/>
                </a:lnTo>
                <a:lnTo>
                  <a:pt x="5733" y="1247"/>
                </a:lnTo>
                <a:lnTo>
                  <a:pt x="5490" y="1239"/>
                </a:lnTo>
                <a:lnTo>
                  <a:pt x="5249" y="1227"/>
                </a:lnTo>
                <a:lnTo>
                  <a:pt x="5010" y="1213"/>
                </a:lnTo>
                <a:lnTo>
                  <a:pt x="4773" y="1195"/>
                </a:lnTo>
                <a:lnTo>
                  <a:pt x="4538" y="1174"/>
                </a:lnTo>
                <a:lnTo>
                  <a:pt x="4304" y="1150"/>
                </a:lnTo>
                <a:lnTo>
                  <a:pt x="4073" y="1123"/>
                </a:lnTo>
                <a:lnTo>
                  <a:pt x="3844" y="1092"/>
                </a:lnTo>
                <a:lnTo>
                  <a:pt x="3617" y="1059"/>
                </a:lnTo>
                <a:lnTo>
                  <a:pt x="3393" y="1023"/>
                </a:lnTo>
                <a:lnTo>
                  <a:pt x="3171" y="984"/>
                </a:lnTo>
                <a:lnTo>
                  <a:pt x="2951" y="943"/>
                </a:lnTo>
                <a:lnTo>
                  <a:pt x="2734" y="898"/>
                </a:lnTo>
                <a:lnTo>
                  <a:pt x="2520" y="851"/>
                </a:lnTo>
                <a:lnTo>
                  <a:pt x="2308" y="801"/>
                </a:lnTo>
                <a:lnTo>
                  <a:pt x="2099" y="748"/>
                </a:lnTo>
                <a:lnTo>
                  <a:pt x="1893" y="693"/>
                </a:lnTo>
                <a:cubicBezTo>
                  <a:pt x="1226" y="541"/>
                  <a:pt x="-12" y="10"/>
                  <a:pt x="0" y="0"/>
                </a:cubicBezTo>
                <a:lnTo>
                  <a:pt x="12446" y="0"/>
                </a:lnTo>
                <a:close/>
              </a:path>
            </a:pathLst>
          </a:custGeom>
          <a:noFill/>
          <a:ln>
            <a:gradFill>
              <a:gsLst>
                <a:gs pos="0">
                  <a:srgbClr val="3368FF">
                    <a:alpha val="0"/>
                  </a:srgbClr>
                </a:gs>
                <a:gs pos="100000">
                  <a:srgbClr val="3368FF"/>
                </a:gs>
              </a:gsLst>
              <a:lin ang="5400000" scaled="1"/>
            </a:gra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3" name="组合 12"/>
          <p:cNvGrpSpPr/>
          <p:nvPr/>
        </p:nvGrpSpPr>
        <p:grpSpPr>
          <a:xfrm>
            <a:off x="2923858" y="2698750"/>
            <a:ext cx="1031240" cy="1031240"/>
            <a:chOff x="4633" y="4642"/>
            <a:chExt cx="1624" cy="1624"/>
          </a:xfrm>
        </p:grpSpPr>
        <p:sp>
          <p:nvSpPr>
            <p:cNvPr id="11" name="椭圆 10"/>
            <p:cNvSpPr/>
            <p:nvPr/>
          </p:nvSpPr>
          <p:spPr>
            <a:xfrm>
              <a:off x="4691" y="4700"/>
              <a:ext cx="1508" cy="1508"/>
            </a:xfrm>
            <a:prstGeom prst="ellipse">
              <a:avLst/>
            </a:prstGeom>
            <a:gradFill>
              <a:gsLst>
                <a:gs pos="0">
                  <a:srgbClr val="3368FF"/>
                </a:gs>
                <a:gs pos="100000">
                  <a:srgbClr val="0042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a:solidFill>
                    <a:srgbClr val="FFFFFF"/>
                  </a:solidFill>
                  <a:latin typeface="微软雅黑"/>
                  <a:ea typeface="微软雅黑"/>
                  <a:cs typeface="微软雅黑"/>
                </a:rPr>
                <a:t>扩圈</a:t>
              </a:r>
              <a:endParaRPr lang="zh-CN" altLang="en-US">
                <a:solidFill>
                  <a:srgbClr val="FFFFFF"/>
                </a:solidFill>
                <a:latin typeface="微软雅黑"/>
                <a:ea typeface="微软雅黑"/>
                <a:cs typeface="微软雅黑"/>
              </a:endParaRPr>
            </a:p>
          </p:txBody>
        </p:sp>
        <p:sp>
          <p:nvSpPr>
            <p:cNvPr id="12" name="椭圆 11"/>
            <p:cNvSpPr/>
            <p:nvPr/>
          </p:nvSpPr>
          <p:spPr>
            <a:xfrm>
              <a:off x="4633" y="4642"/>
              <a:ext cx="1624" cy="1624"/>
            </a:xfrm>
            <a:prstGeom prst="ellipse">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14" name="组合 13"/>
          <p:cNvGrpSpPr/>
          <p:nvPr/>
        </p:nvGrpSpPr>
        <p:grpSpPr>
          <a:xfrm>
            <a:off x="5681028" y="2661920"/>
            <a:ext cx="1031240" cy="1031240"/>
            <a:chOff x="4633" y="4642"/>
            <a:chExt cx="1624" cy="1624"/>
          </a:xfrm>
        </p:grpSpPr>
        <p:sp>
          <p:nvSpPr>
            <p:cNvPr id="15" name="椭圆 14"/>
            <p:cNvSpPr/>
            <p:nvPr/>
          </p:nvSpPr>
          <p:spPr>
            <a:xfrm>
              <a:off x="4691" y="4700"/>
              <a:ext cx="1508" cy="1508"/>
            </a:xfrm>
            <a:prstGeom prst="ellipse">
              <a:avLst/>
            </a:prstGeom>
            <a:gradFill>
              <a:gsLst>
                <a:gs pos="0">
                  <a:srgbClr val="B3D4FE"/>
                </a:gs>
                <a:gs pos="100000">
                  <a:srgbClr val="3368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b="1">
                  <a:latin typeface="微软雅黑"/>
                  <a:ea typeface="微软雅黑"/>
                  <a:cs typeface="微软雅黑"/>
                </a:rPr>
                <a:t>连接</a:t>
              </a:r>
              <a:endParaRPr lang="zh-CN" altLang="en-US" b="1">
                <a:latin typeface="微软雅黑"/>
                <a:ea typeface="微软雅黑"/>
                <a:cs typeface="微软雅黑"/>
              </a:endParaRPr>
            </a:p>
          </p:txBody>
        </p:sp>
        <p:sp>
          <p:nvSpPr>
            <p:cNvPr id="18" name="椭圆 17"/>
            <p:cNvSpPr/>
            <p:nvPr/>
          </p:nvSpPr>
          <p:spPr>
            <a:xfrm>
              <a:off x="4633" y="4642"/>
              <a:ext cx="1624" cy="1624"/>
            </a:xfrm>
            <a:prstGeom prst="ellipse">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19" name="组合 18"/>
          <p:cNvGrpSpPr/>
          <p:nvPr/>
        </p:nvGrpSpPr>
        <p:grpSpPr>
          <a:xfrm>
            <a:off x="8466773" y="2698750"/>
            <a:ext cx="1031240" cy="1031240"/>
            <a:chOff x="4633" y="4642"/>
            <a:chExt cx="1624" cy="1624"/>
          </a:xfrm>
        </p:grpSpPr>
        <p:sp>
          <p:nvSpPr>
            <p:cNvPr id="20" name="椭圆 19"/>
            <p:cNvSpPr/>
            <p:nvPr/>
          </p:nvSpPr>
          <p:spPr>
            <a:xfrm>
              <a:off x="4691" y="4700"/>
              <a:ext cx="1508" cy="1508"/>
            </a:xfrm>
            <a:prstGeom prst="ellipse">
              <a:avLst/>
            </a:prstGeom>
            <a:gradFill>
              <a:gsLst>
                <a:gs pos="0">
                  <a:srgbClr val="3368FF"/>
                </a:gs>
                <a:gs pos="100000">
                  <a:srgbClr val="0042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a:solidFill>
                    <a:srgbClr val="FFFFFF"/>
                  </a:solidFill>
                  <a:latin typeface="微软雅黑"/>
                  <a:ea typeface="微软雅黑"/>
                  <a:cs typeface="微软雅黑"/>
                </a:rPr>
                <a:t>转化复购</a:t>
              </a:r>
              <a:endParaRPr lang="zh-CN" altLang="en-US">
                <a:solidFill>
                  <a:srgbClr val="FFFFFF"/>
                </a:solidFill>
                <a:latin typeface="微软雅黑"/>
                <a:ea typeface="微软雅黑"/>
                <a:cs typeface="微软雅黑"/>
              </a:endParaRPr>
            </a:p>
          </p:txBody>
        </p:sp>
        <p:sp>
          <p:nvSpPr>
            <p:cNvPr id="21" name="椭圆 20"/>
            <p:cNvSpPr/>
            <p:nvPr/>
          </p:nvSpPr>
          <p:spPr>
            <a:xfrm>
              <a:off x="4633" y="4642"/>
              <a:ext cx="1624" cy="1624"/>
            </a:xfrm>
            <a:prstGeom prst="ellipse">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248" name="紫荆的职场Point99-4"/>
          <p:cNvSpPr/>
          <p:nvPr/>
        </p:nvSpPr>
        <p:spPr>
          <a:xfrm rot="5400000" flipH="1">
            <a:off x="4575175" y="2813050"/>
            <a:ext cx="647700" cy="7334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B3D4FE"/>
              </a:gs>
            </a:gsLst>
            <a:lin ang="16200000" scaled="1"/>
            <a:tileRect/>
          </a:gradFill>
          <a:ln w="6350" cap="flat" cmpd="sng" algn="ctr">
            <a:noFill/>
            <a:prstDash val="lgDash"/>
            <a:miter lim="800000"/>
          </a:ln>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24" name="紫荆的职场Point99-4"/>
          <p:cNvSpPr/>
          <p:nvPr/>
        </p:nvSpPr>
        <p:spPr>
          <a:xfrm rot="5400000" flipH="1">
            <a:off x="7241540" y="2847340"/>
            <a:ext cx="647700" cy="7334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B3D4FE"/>
              </a:gs>
            </a:gsLst>
            <a:lin ang="16200000" scaled="1"/>
            <a:tileRect/>
          </a:gra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grpSp>
        <p:nvGrpSpPr>
          <p:cNvPr id="26" name="组合 25"/>
          <p:cNvGrpSpPr/>
          <p:nvPr/>
        </p:nvGrpSpPr>
        <p:grpSpPr>
          <a:xfrm>
            <a:off x="2768283" y="4082415"/>
            <a:ext cx="1342390" cy="339725"/>
            <a:chOff x="4288" y="6821"/>
            <a:chExt cx="2114" cy="535"/>
          </a:xfrm>
        </p:grpSpPr>
        <p:sp>
          <p:nvSpPr>
            <p:cNvPr id="22" name="圆角矩形 21"/>
            <p:cNvSpPr/>
            <p:nvPr/>
          </p:nvSpPr>
          <p:spPr>
            <a:xfrm>
              <a:off x="4288" y="6821"/>
              <a:ext cx="2114" cy="535"/>
            </a:xfrm>
            <a:prstGeom prst="roundRect">
              <a:avLst>
                <a:gd name="adj" fmla="val 50000"/>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23" name="椭圆 22"/>
            <p:cNvSpPr/>
            <p:nvPr/>
          </p:nvSpPr>
          <p:spPr>
            <a:xfrm>
              <a:off x="4348" y="6884"/>
              <a:ext cx="409" cy="409"/>
            </a:xfrm>
            <a:prstGeom prst="ellipse">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en-US" altLang="zh-CN" sz="1200" b="1">
                  <a:solidFill>
                    <a:srgbClr val="FFFFFF"/>
                  </a:solidFill>
                  <a:latin typeface="微软雅黑"/>
                  <a:ea typeface="微软雅黑"/>
                  <a:cs typeface="微软雅黑"/>
                </a:rPr>
                <a:t>1</a:t>
              </a:r>
              <a:endParaRPr lang="en-US" altLang="zh-CN" sz="1200" b="1">
                <a:solidFill>
                  <a:srgbClr val="FFFFFF"/>
                </a:solidFill>
                <a:latin typeface="微软雅黑"/>
                <a:ea typeface="微软雅黑"/>
                <a:cs typeface="微软雅黑"/>
              </a:endParaRPr>
            </a:p>
          </p:txBody>
        </p:sp>
        <p:sp>
          <p:nvSpPr>
            <p:cNvPr id="25" name="文本框 24"/>
            <p:cNvSpPr txBox="1"/>
            <p:nvPr/>
          </p:nvSpPr>
          <p:spPr>
            <a:xfrm>
              <a:off x="4805" y="6837"/>
              <a:ext cx="1557" cy="483"/>
            </a:xfrm>
            <a:prstGeom prst="rect">
              <a:avLst/>
            </a:prstGeom>
            <a:noFill/>
          </p:spPr>
          <p:txBody>
            <a:bodyPr wrap="square" rtlCol="0">
              <a:spAutoFit/>
            </a:bodyPr>
            <a:p>
              <a:pPr>
                <a:defRPr>
                  <a:latin typeface="微软雅黑"/>
                  <a:ea typeface="微软雅黑"/>
                  <a:cs typeface="微软雅黑"/>
                </a:defRPr>
              </a:pPr>
              <a:r>
                <a:rPr lang="zh-CN" altLang="en-US" sz="1400">
                  <a:solidFill>
                    <a:srgbClr val="0042FF"/>
                  </a:solidFill>
                  <a:latin typeface="微软雅黑"/>
                  <a:ea typeface="微软雅黑"/>
                  <a:cs typeface="微软雅黑"/>
                </a:rPr>
                <a:t>人</a:t>
              </a:r>
              <a:r>
                <a:rPr lang="en-US" altLang="zh-CN" sz="1400">
                  <a:solidFill>
                    <a:srgbClr val="0042FF"/>
                  </a:solidFill>
                  <a:latin typeface="微软雅黑"/>
                  <a:ea typeface="微软雅黑"/>
                  <a:cs typeface="微软雅黑"/>
                </a:rPr>
                <a:t>+</a:t>
              </a:r>
              <a:r>
                <a:rPr lang="zh-CN" altLang="en-US" sz="1400">
                  <a:solidFill>
                    <a:srgbClr val="0042FF"/>
                  </a:solidFill>
                  <a:latin typeface="微软雅黑"/>
                  <a:ea typeface="微软雅黑"/>
                  <a:cs typeface="微软雅黑"/>
                </a:rPr>
                <a:t>流量</a:t>
              </a:r>
              <a:endParaRPr lang="zh-CN" altLang="en-US" sz="1400">
                <a:solidFill>
                  <a:srgbClr val="0042FF"/>
                </a:solidFill>
                <a:latin typeface="微软雅黑"/>
                <a:ea typeface="微软雅黑"/>
                <a:cs typeface="微软雅黑"/>
              </a:endParaRPr>
            </a:p>
          </p:txBody>
        </p:sp>
      </p:grpSp>
      <p:sp>
        <p:nvSpPr>
          <p:cNvPr id="27" name="文本框 26"/>
          <p:cNvSpPr txBox="1"/>
          <p:nvPr/>
        </p:nvSpPr>
        <p:spPr>
          <a:xfrm>
            <a:off x="2621598" y="4490085"/>
            <a:ext cx="1635760" cy="460375"/>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潜客圈定，</a:t>
            </a:r>
            <a:r>
              <a:rPr lang="zh-CN" altLang="en-US" sz="1200">
                <a:solidFill>
                  <a:srgbClr val="383838"/>
                </a:solidFill>
                <a:latin typeface="微软雅黑"/>
                <a:ea typeface="微软雅黑"/>
                <a:cs typeface="微软雅黑"/>
              </a:rPr>
              <a:t>达人矩阵，精准投放，流量裂变。</a:t>
            </a:r>
            <a:endParaRPr lang="zh-CN" altLang="en-US" sz="1200">
              <a:solidFill>
                <a:srgbClr val="383838"/>
              </a:solidFill>
              <a:latin typeface="微软雅黑"/>
              <a:ea typeface="微软雅黑"/>
              <a:cs typeface="微软雅黑"/>
            </a:endParaRPr>
          </a:p>
        </p:txBody>
      </p:sp>
      <p:sp>
        <p:nvSpPr>
          <p:cNvPr id="28" name="文本框 27"/>
          <p:cNvSpPr txBox="1"/>
          <p:nvPr/>
        </p:nvSpPr>
        <p:spPr>
          <a:xfrm>
            <a:off x="2695575" y="6338570"/>
            <a:ext cx="1487805" cy="306705"/>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浅层用户触达</a:t>
            </a:r>
            <a:endParaRPr lang="zh-CN" sz="1400" b="1">
              <a:solidFill>
                <a:srgbClr val="0042FF"/>
              </a:solidFill>
              <a:latin typeface="微软雅黑"/>
              <a:ea typeface="微软雅黑"/>
              <a:cs typeface="微软雅黑"/>
            </a:endParaRPr>
          </a:p>
        </p:txBody>
      </p:sp>
      <p:sp>
        <p:nvSpPr>
          <p:cNvPr id="36" name="紫荆的职场Point99-4"/>
          <p:cNvSpPr/>
          <p:nvPr/>
        </p:nvSpPr>
        <p:spPr>
          <a:xfrm rot="10800000" flipH="1">
            <a:off x="3260090" y="5850255"/>
            <a:ext cx="358775" cy="40703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37" name="上下箭头 36"/>
          <p:cNvSpPr/>
          <p:nvPr/>
        </p:nvSpPr>
        <p:spPr>
          <a:xfrm>
            <a:off x="3374390" y="3785870"/>
            <a:ext cx="130175" cy="238125"/>
          </a:xfrm>
          <a:prstGeom prst="upDownArrow">
            <a:avLst/>
          </a:prstGeom>
          <a:solidFill>
            <a:srgbClr val="3368FF"/>
          </a:soli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kern="0" noProof="0" dirty="0">
              <a:ln>
                <a:noFill/>
              </a:ln>
              <a:solidFill>
                <a:srgbClr val="FFFFFF"/>
              </a:solidFill>
              <a:effectLst/>
              <a:uLnTx/>
              <a:uFillTx/>
              <a:latin typeface="微软雅黑"/>
              <a:ea typeface="微软雅黑"/>
              <a:cs typeface="微软雅黑"/>
              <a:sym typeface="微软雅黑"/>
            </a:endParaRPr>
          </a:p>
        </p:txBody>
      </p:sp>
      <p:grpSp>
        <p:nvGrpSpPr>
          <p:cNvPr id="38" name="组合 37"/>
          <p:cNvGrpSpPr/>
          <p:nvPr/>
        </p:nvGrpSpPr>
        <p:grpSpPr>
          <a:xfrm>
            <a:off x="5525453" y="4082415"/>
            <a:ext cx="1342390" cy="339725"/>
            <a:chOff x="4288" y="6821"/>
            <a:chExt cx="2114" cy="535"/>
          </a:xfrm>
        </p:grpSpPr>
        <p:sp>
          <p:nvSpPr>
            <p:cNvPr id="39" name="圆角矩形 38"/>
            <p:cNvSpPr/>
            <p:nvPr/>
          </p:nvSpPr>
          <p:spPr>
            <a:xfrm>
              <a:off x="4288" y="6821"/>
              <a:ext cx="2114" cy="535"/>
            </a:xfrm>
            <a:prstGeom prst="roundRect">
              <a:avLst>
                <a:gd name="adj" fmla="val 50000"/>
              </a:avLst>
            </a:prstGeom>
            <a:noFill/>
            <a:ln>
              <a:solidFill>
                <a:srgbClr val="B3D4FE"/>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0" name="椭圆 39"/>
            <p:cNvSpPr/>
            <p:nvPr/>
          </p:nvSpPr>
          <p:spPr>
            <a:xfrm>
              <a:off x="4348" y="6884"/>
              <a:ext cx="409" cy="409"/>
            </a:xfrm>
            <a:prstGeom prst="ellipse">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200" b="1">
                  <a:latin typeface="微软雅黑"/>
                  <a:ea typeface="微软雅黑"/>
                  <a:cs typeface="微软雅黑"/>
                </a:rPr>
                <a:t>2</a:t>
              </a:r>
              <a:endParaRPr lang="en-US" altLang="zh-CN" sz="1200" b="1">
                <a:latin typeface="微软雅黑"/>
                <a:ea typeface="微软雅黑"/>
                <a:cs typeface="微软雅黑"/>
              </a:endParaRPr>
            </a:p>
          </p:txBody>
        </p:sp>
        <p:sp>
          <p:nvSpPr>
            <p:cNvPr id="41" name="文本框 40"/>
            <p:cNvSpPr txBox="1"/>
            <p:nvPr/>
          </p:nvSpPr>
          <p:spPr>
            <a:xfrm>
              <a:off x="4845" y="6821"/>
              <a:ext cx="1557" cy="483"/>
            </a:xfrm>
            <a:prstGeom prst="rect">
              <a:avLst/>
            </a:prstGeom>
            <a:noFill/>
          </p:spPr>
          <p:txBody>
            <a:bodyPr wrap="square" rtlCol="0">
              <a:spAutoFit/>
            </a:bodyPr>
            <a:p>
              <a:pPr>
                <a:defRPr>
                  <a:latin typeface="微软雅黑"/>
                  <a:ea typeface="微软雅黑"/>
                  <a:cs typeface="微软雅黑"/>
                </a:defRPr>
              </a:pPr>
              <a:r>
                <a:rPr lang="zh-CN" altLang="en-US" sz="1400">
                  <a:solidFill>
                    <a:srgbClr val="0042FF"/>
                  </a:solidFill>
                  <a:latin typeface="微软雅黑"/>
                  <a:ea typeface="微软雅黑"/>
                  <a:cs typeface="微软雅黑"/>
                </a:rPr>
                <a:t>人</a:t>
              </a:r>
              <a:r>
                <a:rPr lang="en-US" altLang="zh-CN" sz="1400">
                  <a:solidFill>
                    <a:srgbClr val="0042FF"/>
                  </a:solidFill>
                  <a:latin typeface="微软雅黑"/>
                  <a:ea typeface="微软雅黑"/>
                  <a:cs typeface="微软雅黑"/>
                </a:rPr>
                <a:t>+</a:t>
              </a:r>
              <a:r>
                <a:rPr lang="zh-CN" altLang="en-US" sz="1400">
                  <a:solidFill>
                    <a:srgbClr val="0042FF"/>
                  </a:solidFill>
                  <a:latin typeface="微软雅黑"/>
                  <a:ea typeface="微软雅黑"/>
                  <a:cs typeface="微软雅黑"/>
                </a:rPr>
                <a:t>内容</a:t>
              </a:r>
              <a:endParaRPr lang="zh-CN" altLang="en-US" sz="1400">
                <a:solidFill>
                  <a:srgbClr val="0042FF"/>
                </a:solidFill>
                <a:latin typeface="微软雅黑"/>
                <a:ea typeface="微软雅黑"/>
                <a:cs typeface="微软雅黑"/>
              </a:endParaRPr>
            </a:p>
          </p:txBody>
        </p:sp>
      </p:grpSp>
      <p:sp>
        <p:nvSpPr>
          <p:cNvPr id="42" name="文本框 41"/>
          <p:cNvSpPr txBox="1"/>
          <p:nvPr/>
        </p:nvSpPr>
        <p:spPr>
          <a:xfrm>
            <a:off x="5335270" y="4490085"/>
            <a:ext cx="1754505" cy="460375"/>
          </a:xfrm>
          <a:prstGeom prst="rect">
            <a:avLst/>
          </a:prstGeom>
          <a:noFill/>
        </p:spPr>
        <p:txBody>
          <a:bodyPr wrap="square" rtlCol="0">
            <a:spAutoFit/>
          </a:bodyPr>
          <a:p>
            <a:pPr algn="ctr">
              <a:defRPr>
                <a:latin typeface="微软雅黑"/>
                <a:ea typeface="微软雅黑"/>
                <a:cs typeface="微软雅黑"/>
              </a:defRPr>
            </a:pPr>
            <a:r>
              <a:rPr lang="en-US" altLang="zh-CN" sz="1200">
                <a:solidFill>
                  <a:srgbClr val="383838"/>
                </a:solidFill>
                <a:latin typeface="微软雅黑"/>
                <a:ea typeface="微软雅黑"/>
                <a:cs typeface="微软雅黑"/>
              </a:rPr>
              <a:t>IP</a:t>
            </a:r>
            <a:r>
              <a:rPr lang="zh-CN" altLang="en-US" sz="1200">
                <a:solidFill>
                  <a:srgbClr val="383838"/>
                </a:solidFill>
                <a:latin typeface="微软雅黑"/>
                <a:ea typeface="微软雅黑"/>
                <a:cs typeface="微软雅黑"/>
              </a:rPr>
              <a:t>场景化叙事，短内容</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长内容，</a:t>
            </a:r>
            <a:r>
              <a:rPr lang="en-US" altLang="zh-CN" sz="1200">
                <a:solidFill>
                  <a:srgbClr val="383838"/>
                </a:solidFill>
                <a:latin typeface="微软雅黑"/>
                <a:ea typeface="微软雅黑"/>
                <a:cs typeface="微软雅黑"/>
              </a:rPr>
              <a:t>UGC</a:t>
            </a:r>
            <a:r>
              <a:rPr lang="zh-CN" altLang="en-US" sz="1200">
                <a:solidFill>
                  <a:srgbClr val="383838"/>
                </a:solidFill>
                <a:latin typeface="微软雅黑"/>
                <a:ea typeface="微软雅黑"/>
                <a:cs typeface="微软雅黑"/>
              </a:rPr>
              <a:t>建设</a:t>
            </a:r>
            <a:endParaRPr lang="zh-CN" altLang="en-US" sz="1200">
              <a:solidFill>
                <a:srgbClr val="383838"/>
              </a:solidFill>
              <a:latin typeface="微软雅黑"/>
              <a:ea typeface="微软雅黑"/>
              <a:cs typeface="微软雅黑"/>
            </a:endParaRPr>
          </a:p>
        </p:txBody>
      </p:sp>
      <p:sp>
        <p:nvSpPr>
          <p:cNvPr id="43" name="文本框 42"/>
          <p:cNvSpPr txBox="1"/>
          <p:nvPr/>
        </p:nvSpPr>
        <p:spPr>
          <a:xfrm>
            <a:off x="5452745" y="6353810"/>
            <a:ext cx="1487805" cy="306705"/>
          </a:xfrm>
          <a:prstGeom prst="rect">
            <a:avLst/>
          </a:prstGeom>
          <a:noFill/>
        </p:spPr>
        <p:txBody>
          <a:bodyPr wrap="square" rtlCol="0">
            <a:spAutoFit/>
          </a:bodyPr>
          <a:p>
            <a:pPr algn="ctr">
              <a:defRPr>
                <a:latin typeface="微软雅黑"/>
                <a:ea typeface="微软雅黑"/>
                <a:cs typeface="微软雅黑"/>
              </a:defRPr>
            </a:pPr>
            <a:r>
              <a:rPr lang="zh-CN" sz="1400" b="1">
                <a:solidFill>
                  <a:srgbClr val="0042FF"/>
                </a:solidFill>
                <a:latin typeface="微软雅黑"/>
                <a:ea typeface="微软雅黑"/>
                <a:cs typeface="微软雅黑"/>
              </a:rPr>
              <a:t>深度用户交互</a:t>
            </a:r>
            <a:endParaRPr lang="zh-CN" sz="1400" b="1">
              <a:solidFill>
                <a:srgbClr val="0042FF"/>
              </a:solidFill>
              <a:latin typeface="微软雅黑"/>
              <a:ea typeface="微软雅黑"/>
              <a:cs typeface="微软雅黑"/>
            </a:endParaRPr>
          </a:p>
        </p:txBody>
      </p:sp>
      <p:sp>
        <p:nvSpPr>
          <p:cNvPr id="45" name="上下箭头 44"/>
          <p:cNvSpPr/>
          <p:nvPr/>
        </p:nvSpPr>
        <p:spPr>
          <a:xfrm>
            <a:off x="6131560" y="3785870"/>
            <a:ext cx="130175" cy="238125"/>
          </a:xfrm>
          <a:prstGeom prst="upDownArrow">
            <a:avLst/>
          </a:prstGeom>
          <a:solidFill>
            <a:srgbClr val="B3D4FE"/>
          </a:soli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grpSp>
        <p:nvGrpSpPr>
          <p:cNvPr id="54" name="组合 53"/>
          <p:cNvGrpSpPr/>
          <p:nvPr/>
        </p:nvGrpSpPr>
        <p:grpSpPr>
          <a:xfrm>
            <a:off x="8311198" y="4067175"/>
            <a:ext cx="1342390" cy="339725"/>
            <a:chOff x="4288" y="6821"/>
            <a:chExt cx="2114" cy="535"/>
          </a:xfrm>
        </p:grpSpPr>
        <p:sp>
          <p:nvSpPr>
            <p:cNvPr id="55" name="圆角矩形 54"/>
            <p:cNvSpPr/>
            <p:nvPr/>
          </p:nvSpPr>
          <p:spPr>
            <a:xfrm>
              <a:off x="4288" y="6821"/>
              <a:ext cx="2114" cy="535"/>
            </a:xfrm>
            <a:prstGeom prst="roundRect">
              <a:avLst>
                <a:gd name="adj" fmla="val 50000"/>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6" name="椭圆 55"/>
            <p:cNvSpPr/>
            <p:nvPr/>
          </p:nvSpPr>
          <p:spPr>
            <a:xfrm>
              <a:off x="4348" y="6884"/>
              <a:ext cx="409" cy="409"/>
            </a:xfrm>
            <a:prstGeom prst="ellipse">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en-US" altLang="zh-CN" sz="1200" b="1">
                  <a:solidFill>
                    <a:srgbClr val="FFFFFF"/>
                  </a:solidFill>
                  <a:latin typeface="微软雅黑"/>
                  <a:ea typeface="微软雅黑"/>
                  <a:cs typeface="微软雅黑"/>
                </a:rPr>
                <a:t>3</a:t>
              </a:r>
              <a:endParaRPr lang="en-US" altLang="zh-CN" sz="1200" b="1">
                <a:solidFill>
                  <a:srgbClr val="FFFFFF"/>
                </a:solidFill>
                <a:latin typeface="微软雅黑"/>
                <a:ea typeface="微软雅黑"/>
                <a:cs typeface="微软雅黑"/>
              </a:endParaRPr>
            </a:p>
          </p:txBody>
        </p:sp>
        <p:sp>
          <p:nvSpPr>
            <p:cNvPr id="57" name="文本框 56"/>
            <p:cNvSpPr txBox="1"/>
            <p:nvPr/>
          </p:nvSpPr>
          <p:spPr>
            <a:xfrm>
              <a:off x="4729" y="6853"/>
              <a:ext cx="1557" cy="483"/>
            </a:xfrm>
            <a:prstGeom prst="rect">
              <a:avLst/>
            </a:prstGeom>
            <a:noFill/>
          </p:spPr>
          <p:txBody>
            <a:bodyPr wrap="square" rtlCol="0">
              <a:spAutoFit/>
            </a:bodyPr>
            <a:p>
              <a:pPr algn="ctr">
                <a:defRPr>
                  <a:latin typeface="微软雅黑"/>
                  <a:ea typeface="微软雅黑"/>
                  <a:cs typeface="微软雅黑"/>
                </a:defRPr>
              </a:pPr>
              <a:r>
                <a:rPr lang="zh-CN" altLang="en-US" sz="1400">
                  <a:solidFill>
                    <a:srgbClr val="0042FF"/>
                  </a:solidFill>
                  <a:latin typeface="微软雅黑"/>
                  <a:ea typeface="微软雅黑"/>
                  <a:cs typeface="微软雅黑"/>
                </a:rPr>
                <a:t>人</a:t>
              </a:r>
              <a:r>
                <a:rPr lang="en-US" altLang="zh-CN" sz="1400">
                  <a:solidFill>
                    <a:srgbClr val="0042FF"/>
                  </a:solidFill>
                  <a:latin typeface="微软雅黑"/>
                  <a:ea typeface="微软雅黑"/>
                  <a:cs typeface="微软雅黑"/>
                </a:rPr>
                <a:t>+</a:t>
              </a:r>
              <a:r>
                <a:rPr lang="zh-CN" altLang="en-US" sz="1400">
                  <a:solidFill>
                    <a:srgbClr val="0042FF"/>
                  </a:solidFill>
                  <a:latin typeface="微软雅黑"/>
                  <a:ea typeface="微软雅黑"/>
                  <a:cs typeface="微软雅黑"/>
                </a:rPr>
                <a:t>经营</a:t>
              </a:r>
              <a:endParaRPr lang="zh-CN" altLang="en-US" sz="1400">
                <a:solidFill>
                  <a:srgbClr val="0042FF"/>
                </a:solidFill>
                <a:latin typeface="微软雅黑"/>
                <a:ea typeface="微软雅黑"/>
                <a:cs typeface="微软雅黑"/>
              </a:endParaRPr>
            </a:p>
          </p:txBody>
        </p:sp>
      </p:grpSp>
      <p:sp>
        <p:nvSpPr>
          <p:cNvPr id="58" name="文本框 57"/>
          <p:cNvSpPr txBox="1"/>
          <p:nvPr/>
        </p:nvSpPr>
        <p:spPr>
          <a:xfrm>
            <a:off x="8164513" y="4474845"/>
            <a:ext cx="1635760" cy="460375"/>
          </a:xfrm>
          <a:prstGeom prst="rect">
            <a:avLst/>
          </a:prstGeom>
          <a:noFill/>
        </p:spPr>
        <p:txBody>
          <a:bodyPr wrap="square" rtlCol="0">
            <a:spAutoFit/>
          </a:bodyPr>
          <a:p>
            <a:pPr algn="ctr">
              <a:defRPr>
                <a:latin typeface="微软雅黑"/>
                <a:ea typeface="微软雅黑"/>
                <a:cs typeface="微软雅黑"/>
              </a:defRPr>
            </a:pPr>
            <a:r>
              <a:rPr lang="zh-CN" sz="1200">
                <a:solidFill>
                  <a:srgbClr val="383838"/>
                </a:solidFill>
                <a:latin typeface="微软雅黑"/>
                <a:ea typeface="微软雅黑"/>
                <a:cs typeface="微软雅黑"/>
              </a:rPr>
              <a:t>由人背书，引到销售将人汇聚，长效经营</a:t>
            </a:r>
            <a:endParaRPr lang="zh-CN" altLang="zh-CN" sz="1200">
              <a:solidFill>
                <a:srgbClr val="383838"/>
              </a:solidFill>
              <a:latin typeface="微软雅黑"/>
              <a:ea typeface="微软雅黑"/>
              <a:cs typeface="微软雅黑"/>
            </a:endParaRPr>
          </a:p>
        </p:txBody>
      </p:sp>
      <p:sp>
        <p:nvSpPr>
          <p:cNvPr id="59" name="文本框 58"/>
          <p:cNvSpPr txBox="1"/>
          <p:nvPr/>
        </p:nvSpPr>
        <p:spPr>
          <a:xfrm>
            <a:off x="8238490" y="6338570"/>
            <a:ext cx="1487805" cy="306705"/>
          </a:xfrm>
          <a:prstGeom prst="rect">
            <a:avLst/>
          </a:prstGeom>
          <a:noFill/>
        </p:spPr>
        <p:txBody>
          <a:bodyPr wrap="square" rtlCol="0">
            <a:spAutoFit/>
          </a:bodyPr>
          <a:p>
            <a:pPr lvl="0" algn="ctr">
              <a:buClrTx/>
              <a:buSzTx/>
              <a:buFontTx/>
              <a:defRPr>
                <a:latin typeface="微软雅黑"/>
                <a:ea typeface="微软雅黑"/>
                <a:cs typeface="微软雅黑"/>
              </a:defRPr>
            </a:pPr>
            <a:r>
              <a:rPr lang="zh-CN" sz="1400" b="1">
                <a:solidFill>
                  <a:srgbClr val="0042FF"/>
                </a:solidFill>
                <a:latin typeface="微软雅黑"/>
                <a:ea typeface="微软雅黑"/>
                <a:cs typeface="微软雅黑"/>
                <a:sym typeface="微软雅黑"/>
              </a:rPr>
              <a:t>深度信任联结</a:t>
            </a:r>
            <a:endParaRPr lang="zh-CN" sz="1400" b="1">
              <a:solidFill>
                <a:srgbClr val="0042FF"/>
              </a:solidFill>
              <a:latin typeface="微软雅黑"/>
              <a:ea typeface="微软雅黑"/>
              <a:cs typeface="微软雅黑"/>
              <a:sym typeface="微软雅黑"/>
            </a:endParaRPr>
          </a:p>
        </p:txBody>
      </p:sp>
      <p:sp>
        <p:nvSpPr>
          <p:cNvPr id="61" name="上下箭头 60"/>
          <p:cNvSpPr/>
          <p:nvPr/>
        </p:nvSpPr>
        <p:spPr>
          <a:xfrm>
            <a:off x="8917305" y="3770630"/>
            <a:ext cx="130175" cy="238125"/>
          </a:xfrm>
          <a:prstGeom prst="upDownArrow">
            <a:avLst/>
          </a:prstGeom>
          <a:solidFill>
            <a:srgbClr val="3368FF"/>
          </a:soli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solidFill>
                  <a:srgbClr val="FFFFFF"/>
                </a:solidFill>
                <a:latin typeface="微软雅黑"/>
                <a:ea typeface="微软雅黑"/>
                <a:cs typeface="微软雅黑"/>
              </a:defRPr>
            </a:pPr>
            <a:r>
              <a:rPr lang="en-US" altLang="zh-CN" kern="0" noProof="0" dirty="0">
                <a:ln>
                  <a:noFill/>
                </a:ln>
                <a:solidFill>
                  <a:srgbClr val="FFFFFF"/>
                </a:solidFill>
                <a:effectLst/>
                <a:uLnTx/>
                <a:uFillTx/>
                <a:latin typeface="微软雅黑"/>
                <a:ea typeface="微软雅黑"/>
                <a:cs typeface="微软雅黑"/>
                <a:sym typeface="微软雅黑"/>
              </a:rPr>
              <a:t> </a:t>
            </a:r>
            <a:r>
              <a:rPr lang="en-US" altLang="zh-CN" kern="0" noProof="0" dirty="0">
                <a:ln>
                  <a:noFill/>
                </a:ln>
                <a:solidFill>
                  <a:srgbClr val="FFFFFF"/>
                </a:solidFill>
                <a:effectLst/>
                <a:uLnTx/>
                <a:uFillTx/>
                <a:latin typeface="微软雅黑"/>
                <a:ea typeface="微软雅黑"/>
                <a:cs typeface="微软雅黑"/>
                <a:sym typeface="微软雅黑"/>
              </a:rPr>
              <a:t> </a:t>
            </a:r>
            <a:endParaRPr lang="en-US" altLang="zh-CN" kern="0" noProof="0" dirty="0">
              <a:ln>
                <a:noFill/>
              </a:ln>
              <a:solidFill>
                <a:srgbClr val="FFFFFF"/>
              </a:solidFill>
              <a:effectLst/>
              <a:uLnTx/>
              <a:uFillTx/>
              <a:latin typeface="微软雅黑"/>
              <a:ea typeface="微软雅黑"/>
              <a:cs typeface="微软雅黑"/>
              <a:sym typeface="微软雅黑"/>
            </a:endParaRPr>
          </a:p>
        </p:txBody>
      </p:sp>
      <p:sp>
        <p:nvSpPr>
          <p:cNvPr id="63" name="矩形 62"/>
          <p:cNvSpPr/>
          <p:nvPr/>
        </p:nvSpPr>
        <p:spPr>
          <a:xfrm rot="840000">
            <a:off x="4283075" y="2007870"/>
            <a:ext cx="393700" cy="27305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64" name="紫荆的职场Point99-4"/>
          <p:cNvSpPr/>
          <p:nvPr/>
        </p:nvSpPr>
        <p:spPr>
          <a:xfrm rot="5880000" flipH="1">
            <a:off x="4371975" y="2019300"/>
            <a:ext cx="219710" cy="24892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sp>
        <p:nvSpPr>
          <p:cNvPr id="65" name="矩形 64"/>
          <p:cNvSpPr/>
          <p:nvPr/>
        </p:nvSpPr>
        <p:spPr>
          <a:xfrm rot="20700000">
            <a:off x="7844790" y="1975485"/>
            <a:ext cx="393700" cy="27305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66" name="紫荆的职场Point99-4"/>
          <p:cNvSpPr/>
          <p:nvPr/>
        </p:nvSpPr>
        <p:spPr>
          <a:xfrm rot="4140000" flipH="1">
            <a:off x="7933690" y="1986915"/>
            <a:ext cx="219710" cy="24892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sp>
        <p:nvSpPr>
          <p:cNvPr id="67" name="文本框 66"/>
          <p:cNvSpPr txBox="1"/>
          <p:nvPr/>
        </p:nvSpPr>
        <p:spPr>
          <a:xfrm rot="1080000">
            <a:off x="2358708" y="1511935"/>
            <a:ext cx="1487805" cy="306705"/>
          </a:xfrm>
          <a:prstGeom prst="rect">
            <a:avLst/>
          </a:prstGeom>
          <a:noFill/>
        </p:spPr>
        <p:txBody>
          <a:bodyPr wrap="square" rtlCol="0">
            <a:spAutoFit/>
          </a:bodyPr>
          <a:p>
            <a:pPr algn="ctr">
              <a:defRPr>
                <a:latin typeface="微软雅黑"/>
                <a:ea typeface="微软雅黑"/>
                <a:cs typeface="微软雅黑"/>
              </a:defRPr>
            </a:pPr>
            <a:r>
              <a:rPr lang="zh-CN" sz="1400">
                <a:solidFill>
                  <a:srgbClr val="0042FF"/>
                </a:solidFill>
                <a:latin typeface="微软雅黑"/>
                <a:ea typeface="微软雅黑"/>
                <a:cs typeface="微软雅黑"/>
              </a:rPr>
              <a:t>曝光触达</a:t>
            </a:r>
            <a:endParaRPr lang="zh-CN" sz="1400">
              <a:solidFill>
                <a:srgbClr val="0042FF"/>
              </a:solidFill>
              <a:latin typeface="微软雅黑"/>
              <a:ea typeface="微软雅黑"/>
              <a:cs typeface="微软雅黑"/>
            </a:endParaRPr>
          </a:p>
        </p:txBody>
      </p:sp>
      <p:sp>
        <p:nvSpPr>
          <p:cNvPr id="68" name="文本框 67"/>
          <p:cNvSpPr txBox="1"/>
          <p:nvPr/>
        </p:nvSpPr>
        <p:spPr>
          <a:xfrm rot="20520000">
            <a:off x="8673148" y="1435100"/>
            <a:ext cx="1487805" cy="306705"/>
          </a:xfrm>
          <a:prstGeom prst="rect">
            <a:avLst/>
          </a:prstGeom>
          <a:noFill/>
        </p:spPr>
        <p:txBody>
          <a:bodyPr wrap="square" rtlCol="0">
            <a:spAutoFit/>
          </a:bodyPr>
          <a:p>
            <a:pPr algn="ctr">
              <a:defRPr>
                <a:latin typeface="微软雅黑"/>
                <a:ea typeface="微软雅黑"/>
                <a:cs typeface="微软雅黑"/>
              </a:defRPr>
            </a:pPr>
            <a:r>
              <a:rPr lang="zh-CN" sz="1400">
                <a:solidFill>
                  <a:srgbClr val="0042FF"/>
                </a:solidFill>
                <a:latin typeface="微软雅黑"/>
                <a:ea typeface="微软雅黑"/>
                <a:cs typeface="微软雅黑"/>
              </a:rPr>
              <a:t>销售转化</a:t>
            </a:r>
            <a:endParaRPr lang="zh-CN" sz="1400">
              <a:solidFill>
                <a:srgbClr val="0042FF"/>
              </a:solidFill>
              <a:latin typeface="微软雅黑"/>
              <a:ea typeface="微软雅黑"/>
              <a:cs typeface="微软雅黑"/>
            </a:endParaRPr>
          </a:p>
        </p:txBody>
      </p:sp>
      <p:sp>
        <p:nvSpPr>
          <p:cNvPr id="69" name="文本框 68"/>
          <p:cNvSpPr txBox="1"/>
          <p:nvPr/>
        </p:nvSpPr>
        <p:spPr>
          <a:xfrm>
            <a:off x="5522278" y="1923415"/>
            <a:ext cx="1487805" cy="306705"/>
          </a:xfrm>
          <a:prstGeom prst="rect">
            <a:avLst/>
          </a:prstGeom>
          <a:noFill/>
        </p:spPr>
        <p:txBody>
          <a:bodyPr wrap="square" rtlCol="0">
            <a:spAutoFit/>
          </a:bodyPr>
          <a:p>
            <a:pPr algn="ctr">
              <a:defRPr>
                <a:latin typeface="微软雅黑"/>
                <a:ea typeface="微软雅黑"/>
                <a:cs typeface="微软雅黑"/>
              </a:defRPr>
            </a:pPr>
            <a:r>
              <a:rPr lang="zh-CN" sz="1400">
                <a:solidFill>
                  <a:srgbClr val="0042FF"/>
                </a:solidFill>
                <a:latin typeface="微软雅黑"/>
                <a:ea typeface="微软雅黑"/>
                <a:cs typeface="微软雅黑"/>
              </a:rPr>
              <a:t>心智绑定</a:t>
            </a:r>
            <a:endParaRPr lang="zh-CN" sz="1400">
              <a:solidFill>
                <a:srgbClr val="0042FF"/>
              </a:solidFill>
              <a:latin typeface="微软雅黑"/>
              <a:ea typeface="微软雅黑"/>
              <a:cs typeface="微软雅黑"/>
            </a:endParaRPr>
          </a:p>
        </p:txBody>
      </p:sp>
      <p:sp>
        <p:nvSpPr>
          <p:cNvPr id="71" name="圆角矩形 70"/>
          <p:cNvSpPr/>
          <p:nvPr/>
        </p:nvSpPr>
        <p:spPr>
          <a:xfrm>
            <a:off x="3973830" y="1186815"/>
            <a:ext cx="4415155" cy="504825"/>
          </a:xfrm>
          <a:prstGeom prst="roundRect">
            <a:avLst/>
          </a:prstGeom>
          <a:gradFill>
            <a:gsLst>
              <a:gs pos="0">
                <a:srgbClr val="0042FF"/>
              </a:gs>
              <a:gs pos="10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sym typeface="微软雅黑"/>
              </a:rPr>
              <a:t>把握人的价值，打通营销全路径</a:t>
            </a:r>
            <a:endParaRPr lang="zh-CN" altLang="en-US" b="1">
              <a:solidFill>
                <a:srgbClr val="FFFFFF"/>
              </a:solidFill>
              <a:latin typeface="微软雅黑"/>
              <a:ea typeface="微软雅黑"/>
              <a:cs typeface="微软雅黑"/>
              <a:sym typeface="微软雅黑"/>
            </a:endParaRPr>
          </a:p>
        </p:txBody>
      </p:sp>
      <p:sp>
        <p:nvSpPr>
          <p:cNvPr id="75" name="圆角矩形 74"/>
          <p:cNvSpPr/>
          <p:nvPr/>
        </p:nvSpPr>
        <p:spPr>
          <a:xfrm>
            <a:off x="2345055" y="5239385"/>
            <a:ext cx="2188845" cy="526415"/>
          </a:xfrm>
          <a:prstGeom prst="roundRect">
            <a:avLst>
              <a:gd name="adj" fmla="val 26296"/>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78" name="文本框 77"/>
          <p:cNvSpPr txBox="1"/>
          <p:nvPr/>
        </p:nvSpPr>
        <p:spPr>
          <a:xfrm>
            <a:off x="2426018" y="5290185"/>
            <a:ext cx="2026920" cy="429895"/>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流量承接与优化。</a:t>
            </a:r>
            <a:r>
              <a:rPr lang="zh-CN" altLang="en-US" sz="1000">
                <a:solidFill>
                  <a:srgbClr val="383838"/>
                </a:solidFill>
                <a:latin typeface="微软雅黑"/>
                <a:ea typeface="微软雅黑"/>
                <a:cs typeface="微软雅黑"/>
              </a:rPr>
              <a:t>动态调整落地页内容，实时优化投放策略。</a:t>
            </a:r>
            <a:endParaRPr lang="zh-CN" altLang="en-US" sz="1000">
              <a:solidFill>
                <a:srgbClr val="383838"/>
              </a:solidFill>
              <a:latin typeface="微软雅黑"/>
              <a:ea typeface="微软雅黑"/>
              <a:cs typeface="微软雅黑"/>
            </a:endParaRPr>
          </a:p>
        </p:txBody>
      </p:sp>
      <p:sp>
        <p:nvSpPr>
          <p:cNvPr id="79" name="文本框 78"/>
          <p:cNvSpPr txBox="1"/>
          <p:nvPr/>
        </p:nvSpPr>
        <p:spPr>
          <a:xfrm>
            <a:off x="3032125" y="4808220"/>
            <a:ext cx="814705" cy="475615"/>
          </a:xfrm>
          <a:prstGeom prst="rect">
            <a:avLst/>
          </a:prstGeom>
          <a:noFill/>
        </p:spPr>
        <p:txBody>
          <a:bodyPr wrap="square" rtlCol="0">
            <a:spAutoFit/>
          </a:bodyPr>
          <a:p>
            <a:pPr algn="ctr">
              <a:defRPr>
                <a:latin typeface="微软雅黑"/>
                <a:ea typeface="微软雅黑"/>
                <a:cs typeface="微软雅黑"/>
              </a:defRPr>
            </a:pPr>
            <a:r>
              <a:rPr lang="zh-CN" sz="2500" b="1">
                <a:solidFill>
                  <a:srgbClr val="0042FF"/>
                </a:solidFill>
                <a:latin typeface="微软雅黑"/>
                <a:ea typeface="微软雅黑"/>
                <a:cs typeface="微软雅黑"/>
              </a:rPr>
              <a:t>＋</a:t>
            </a:r>
            <a:endParaRPr lang="zh-CN" sz="2500" b="1">
              <a:solidFill>
                <a:srgbClr val="0042FF"/>
              </a:solidFill>
              <a:latin typeface="微软雅黑"/>
              <a:ea typeface="微软雅黑"/>
              <a:cs typeface="微软雅黑"/>
            </a:endParaRPr>
          </a:p>
        </p:txBody>
      </p:sp>
      <p:sp>
        <p:nvSpPr>
          <p:cNvPr id="80" name="圆角矩形 79"/>
          <p:cNvSpPr/>
          <p:nvPr/>
        </p:nvSpPr>
        <p:spPr>
          <a:xfrm>
            <a:off x="5102225" y="5283835"/>
            <a:ext cx="2188845" cy="526415"/>
          </a:xfrm>
          <a:prstGeom prst="roundRect">
            <a:avLst>
              <a:gd name="adj" fmla="val 26296"/>
            </a:avLst>
          </a:prstGeom>
          <a:noFill/>
          <a:ln>
            <a:solidFill>
              <a:srgbClr val="B3D4FE"/>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81" name="文本框 80"/>
          <p:cNvSpPr txBox="1"/>
          <p:nvPr/>
        </p:nvSpPr>
        <p:spPr>
          <a:xfrm>
            <a:off x="5183188" y="5340985"/>
            <a:ext cx="2026920" cy="429895"/>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心智强化与互动深化。</a:t>
            </a:r>
            <a:r>
              <a:rPr lang="zh-CN" altLang="en-US" sz="1000">
                <a:solidFill>
                  <a:srgbClr val="383838"/>
                </a:solidFill>
                <a:latin typeface="微软雅黑"/>
                <a:ea typeface="微软雅黑"/>
                <a:cs typeface="微软雅黑"/>
              </a:rPr>
              <a:t>社群运营，情感化触点。</a:t>
            </a:r>
            <a:endParaRPr lang="zh-CN" altLang="en-US" sz="1000">
              <a:solidFill>
                <a:srgbClr val="383838"/>
              </a:solidFill>
              <a:latin typeface="微软雅黑"/>
              <a:ea typeface="微软雅黑"/>
              <a:cs typeface="微软雅黑"/>
            </a:endParaRPr>
          </a:p>
        </p:txBody>
      </p:sp>
      <p:sp>
        <p:nvSpPr>
          <p:cNvPr id="82" name="文本框 81"/>
          <p:cNvSpPr txBox="1"/>
          <p:nvPr/>
        </p:nvSpPr>
        <p:spPr>
          <a:xfrm>
            <a:off x="5789295" y="4859020"/>
            <a:ext cx="814705" cy="475615"/>
          </a:xfrm>
          <a:prstGeom prst="rect">
            <a:avLst/>
          </a:prstGeom>
          <a:noFill/>
        </p:spPr>
        <p:txBody>
          <a:bodyPr wrap="square" rtlCol="0">
            <a:spAutoFit/>
          </a:bodyPr>
          <a:p>
            <a:pPr lvl="0" algn="ctr">
              <a:buClrTx/>
              <a:buSzTx/>
              <a:buFontTx/>
              <a:defRPr>
                <a:latin typeface="微软雅黑"/>
                <a:ea typeface="微软雅黑"/>
                <a:cs typeface="微软雅黑"/>
              </a:defRPr>
            </a:pPr>
            <a:r>
              <a:rPr lang="zh-CN" sz="2500" b="1">
                <a:solidFill>
                  <a:srgbClr val="0042FF"/>
                </a:solidFill>
                <a:latin typeface="微软雅黑"/>
                <a:ea typeface="微软雅黑"/>
                <a:cs typeface="微软雅黑"/>
                <a:sym typeface="微软雅黑"/>
              </a:rPr>
              <a:t>＋</a:t>
            </a:r>
            <a:endParaRPr lang="zh-CN" sz="2500" b="1">
              <a:solidFill>
                <a:srgbClr val="0042FF"/>
              </a:solidFill>
              <a:latin typeface="微软雅黑"/>
              <a:ea typeface="微软雅黑"/>
              <a:cs typeface="微软雅黑"/>
              <a:sym typeface="微软雅黑"/>
            </a:endParaRPr>
          </a:p>
        </p:txBody>
      </p:sp>
      <p:sp>
        <p:nvSpPr>
          <p:cNvPr id="83" name="紫荆的职场Point99-4"/>
          <p:cNvSpPr/>
          <p:nvPr/>
        </p:nvSpPr>
        <p:spPr>
          <a:xfrm rot="10800000" flipH="1">
            <a:off x="6017260" y="5850255"/>
            <a:ext cx="358775" cy="40703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B3D4FE"/>
              </a:gs>
            </a:gsLst>
            <a:lin ang="16200000" scaled="1"/>
            <a:tileRect/>
          </a:gra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sp>
        <p:nvSpPr>
          <p:cNvPr id="84" name="圆角矩形 83"/>
          <p:cNvSpPr/>
          <p:nvPr/>
        </p:nvSpPr>
        <p:spPr>
          <a:xfrm>
            <a:off x="7887970" y="5290185"/>
            <a:ext cx="2188845" cy="526415"/>
          </a:xfrm>
          <a:prstGeom prst="roundRect">
            <a:avLst>
              <a:gd name="adj" fmla="val 26296"/>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85" name="文本框 84"/>
          <p:cNvSpPr txBox="1"/>
          <p:nvPr/>
        </p:nvSpPr>
        <p:spPr>
          <a:xfrm>
            <a:off x="7968933" y="5347335"/>
            <a:ext cx="2026920" cy="429895"/>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长效经营与复购激活。</a:t>
            </a:r>
            <a:r>
              <a:rPr lang="zh-CN" altLang="en-US" sz="1000">
                <a:solidFill>
                  <a:srgbClr val="383838"/>
                </a:solidFill>
                <a:latin typeface="微软雅黑"/>
                <a:ea typeface="微软雅黑"/>
                <a:cs typeface="微软雅黑"/>
              </a:rPr>
              <a:t>数据驱动复购，会员生态闭环。</a:t>
            </a:r>
            <a:endParaRPr lang="zh-CN" altLang="en-US" sz="1000">
              <a:solidFill>
                <a:srgbClr val="383838"/>
              </a:solidFill>
              <a:latin typeface="微软雅黑"/>
              <a:ea typeface="微软雅黑"/>
              <a:cs typeface="微软雅黑"/>
            </a:endParaRPr>
          </a:p>
        </p:txBody>
      </p:sp>
      <p:sp>
        <p:nvSpPr>
          <p:cNvPr id="86" name="文本框 85"/>
          <p:cNvSpPr txBox="1"/>
          <p:nvPr/>
        </p:nvSpPr>
        <p:spPr>
          <a:xfrm>
            <a:off x="8575040" y="4865370"/>
            <a:ext cx="814705" cy="475615"/>
          </a:xfrm>
          <a:prstGeom prst="rect">
            <a:avLst/>
          </a:prstGeom>
          <a:noFill/>
        </p:spPr>
        <p:txBody>
          <a:bodyPr wrap="square" rtlCol="0">
            <a:spAutoFit/>
          </a:bodyPr>
          <a:p>
            <a:pPr lvl="0" algn="ctr">
              <a:buClrTx/>
              <a:buSzTx/>
              <a:buFontTx/>
              <a:defRPr>
                <a:latin typeface="微软雅黑"/>
                <a:ea typeface="微软雅黑"/>
                <a:cs typeface="微软雅黑"/>
              </a:defRPr>
            </a:pPr>
            <a:r>
              <a:rPr lang="zh-CN" sz="2500" b="1">
                <a:solidFill>
                  <a:srgbClr val="0042FF"/>
                </a:solidFill>
                <a:latin typeface="微软雅黑"/>
                <a:ea typeface="微软雅黑"/>
                <a:cs typeface="微软雅黑"/>
                <a:sym typeface="微软雅黑"/>
              </a:rPr>
              <a:t>＋</a:t>
            </a:r>
            <a:endParaRPr lang="zh-CN" sz="2500" b="1">
              <a:solidFill>
                <a:srgbClr val="0042FF"/>
              </a:solidFill>
              <a:latin typeface="微软雅黑"/>
              <a:ea typeface="微软雅黑"/>
              <a:cs typeface="微软雅黑"/>
              <a:sym typeface="微软雅黑"/>
            </a:endParaRPr>
          </a:p>
        </p:txBody>
      </p:sp>
      <p:sp>
        <p:nvSpPr>
          <p:cNvPr id="87" name="紫荆的职场Point99-4"/>
          <p:cNvSpPr/>
          <p:nvPr/>
        </p:nvSpPr>
        <p:spPr>
          <a:xfrm rot="10800000" flipH="1">
            <a:off x="8803005" y="5882005"/>
            <a:ext cx="358775" cy="40703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p:spPr>
        <p:txBody>
          <a:bodyPr wrap="square" rtlCol="0" anchor="ctr" lIns="0" rIns="0" tIns="0" bIns="0">
            <a:noAutofit/>
          </a:bodyPr>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6" name="文本框 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561975" y="1002030"/>
            <a:ext cx="11172825" cy="753745"/>
          </a:xfrm>
          <a:prstGeom prst="rect">
            <a:avLst/>
          </a:prstGeom>
          <a:solidFill>
            <a:srgbClr val="E6E6E6">
              <a:alpha val="3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22" name="菱形 121"/>
          <p:cNvSpPr/>
          <p:nvPr/>
        </p:nvSpPr>
        <p:spPr>
          <a:xfrm rot="5400000">
            <a:off x="8308340" y="1920240"/>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私域内容运营核心流程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 name="文本框 5"/>
          <p:cNvSpPr txBox="1"/>
          <p:nvPr/>
        </p:nvSpPr>
        <p:spPr>
          <a:xfrm>
            <a:off x="726440" y="1117600"/>
            <a:ext cx="10932160" cy="521970"/>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私域的内容形态多样，</a:t>
            </a:r>
            <a:r>
              <a:rPr lang="zh-CN" altLang="en-US" sz="1400" b="1">
                <a:solidFill>
                  <a:srgbClr val="0042FF"/>
                </a:solidFill>
                <a:latin typeface="微软雅黑"/>
                <a:ea typeface="微软雅黑"/>
                <a:cs typeface="微软雅黑"/>
              </a:rPr>
              <a:t>我们以</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柚子街</a:t>
            </a:r>
            <a:r>
              <a:rPr lang="en-US" altLang="zh-CN" sz="1400" b="1">
                <a:solidFill>
                  <a:srgbClr val="0042FF"/>
                </a:solidFill>
                <a:latin typeface="微软雅黑"/>
                <a:ea typeface="微软雅黑"/>
                <a:cs typeface="微软雅黑"/>
              </a:rPr>
              <a:t>”</a:t>
            </a:r>
            <a:r>
              <a:rPr lang="zh-CN" altLang="en-US" sz="1400" b="1">
                <a:solidFill>
                  <a:srgbClr val="0042FF"/>
                </a:solidFill>
                <a:latin typeface="微软雅黑"/>
                <a:ea typeface="微软雅黑"/>
                <a:cs typeface="微软雅黑"/>
              </a:rPr>
              <a:t>产品为例</a:t>
            </a:r>
            <a:r>
              <a:rPr lang="zh-CN" altLang="en-US" sz="1400">
                <a:solidFill>
                  <a:srgbClr val="383838"/>
                </a:solidFill>
                <a:latin typeface="微软雅黑"/>
                <a:ea typeface="微软雅黑"/>
                <a:cs typeface="微软雅黑"/>
              </a:rPr>
              <a:t>，围绕内容打造体系化的女性健康与生活方式服务，构建营销内容、核心内容和高净值内容的三层矩阵，通过品牌展示、认知加深、价值提升的层层递进，实现用户价值与产品利益的双向增长。</a:t>
            </a:r>
            <a:endParaRPr lang="zh-CN" altLang="en-US" sz="1400">
              <a:solidFill>
                <a:srgbClr val="383838"/>
              </a:solidFill>
              <a:latin typeface="微软雅黑"/>
              <a:ea typeface="微软雅黑"/>
              <a:cs typeface="微软雅黑"/>
            </a:endParaRPr>
          </a:p>
        </p:txBody>
      </p:sp>
      <p:sp>
        <p:nvSpPr>
          <p:cNvPr id="29" name="右箭头 28"/>
          <p:cNvSpPr/>
          <p:nvPr/>
        </p:nvSpPr>
        <p:spPr>
          <a:xfrm>
            <a:off x="2672715" y="3519805"/>
            <a:ext cx="400050" cy="285750"/>
          </a:xfrm>
          <a:prstGeom prst="rightArrow">
            <a:avLst/>
          </a:prstGeom>
          <a:gradFill>
            <a:gsLst>
              <a:gs pos="100000">
                <a:srgbClr val="3368FF"/>
              </a:gs>
              <a:gs pos="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30" name="右箭头 29"/>
          <p:cNvSpPr/>
          <p:nvPr/>
        </p:nvSpPr>
        <p:spPr>
          <a:xfrm>
            <a:off x="2672715" y="4272280"/>
            <a:ext cx="400050" cy="285750"/>
          </a:xfrm>
          <a:prstGeom prst="rightArrow">
            <a:avLst/>
          </a:prstGeom>
          <a:gradFill>
            <a:gsLst>
              <a:gs pos="100000">
                <a:srgbClr val="3368FF"/>
              </a:gs>
              <a:gs pos="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1" name="右箭头 30"/>
          <p:cNvSpPr/>
          <p:nvPr/>
        </p:nvSpPr>
        <p:spPr>
          <a:xfrm>
            <a:off x="2672715" y="5024755"/>
            <a:ext cx="400050" cy="285750"/>
          </a:xfrm>
          <a:prstGeom prst="rightArrow">
            <a:avLst/>
          </a:prstGeom>
          <a:gradFill>
            <a:gsLst>
              <a:gs pos="100000">
                <a:srgbClr val="3368FF"/>
              </a:gs>
              <a:gs pos="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2" name="右箭头 31"/>
          <p:cNvSpPr/>
          <p:nvPr/>
        </p:nvSpPr>
        <p:spPr>
          <a:xfrm>
            <a:off x="5092065" y="3519805"/>
            <a:ext cx="400050" cy="285750"/>
          </a:xfrm>
          <a:prstGeom prst="rightArrow">
            <a:avLst/>
          </a:prstGeom>
          <a:gradFill>
            <a:gsLst>
              <a:gs pos="100000">
                <a:srgbClr val="3368FF"/>
              </a:gs>
              <a:gs pos="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3" name="右箭头 32"/>
          <p:cNvSpPr/>
          <p:nvPr/>
        </p:nvSpPr>
        <p:spPr>
          <a:xfrm>
            <a:off x="5092065" y="4272280"/>
            <a:ext cx="400050" cy="285750"/>
          </a:xfrm>
          <a:prstGeom prst="rightArrow">
            <a:avLst/>
          </a:prstGeom>
          <a:gradFill>
            <a:gsLst>
              <a:gs pos="100000">
                <a:srgbClr val="3368FF"/>
              </a:gs>
              <a:gs pos="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34" name="右箭头 33"/>
          <p:cNvSpPr/>
          <p:nvPr/>
        </p:nvSpPr>
        <p:spPr>
          <a:xfrm>
            <a:off x="5092065" y="5024755"/>
            <a:ext cx="400050" cy="285750"/>
          </a:xfrm>
          <a:prstGeom prst="rightArrow">
            <a:avLst/>
          </a:prstGeom>
          <a:gradFill>
            <a:gsLst>
              <a:gs pos="100000">
                <a:srgbClr val="3368FF"/>
              </a:gs>
              <a:gs pos="0">
                <a:srgbClr val="3368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74" name="文本框 73"/>
          <p:cNvSpPr txBox="1"/>
          <p:nvPr/>
        </p:nvSpPr>
        <p:spPr>
          <a:xfrm>
            <a:off x="1198880" y="1963420"/>
            <a:ext cx="3444875" cy="337185"/>
          </a:xfrm>
          <a:prstGeom prst="rect">
            <a:avLst/>
          </a:prstGeom>
          <a:noFill/>
        </p:spPr>
        <p:txBody>
          <a:bodyPr wrap="square" rtlCol="0">
            <a:spAutoFit/>
          </a:bodyPr>
          <a:p>
            <a:pPr>
              <a:defRPr>
                <a:latin typeface="微软雅黑"/>
                <a:ea typeface="微软雅黑"/>
                <a:cs typeface="微软雅黑"/>
              </a:defRPr>
            </a:pPr>
            <a:r>
              <a:rPr lang="zh-CN" altLang="en-US" sz="1600" b="1">
                <a:solidFill>
                  <a:srgbClr val="0042FF"/>
                </a:solidFill>
                <a:latin typeface="微软雅黑"/>
                <a:ea typeface="微软雅黑"/>
                <a:cs typeface="微软雅黑"/>
              </a:rPr>
              <a:t>构建私域内容矩阵，分层渗透用户</a:t>
            </a:r>
            <a:endParaRPr lang="zh-CN" altLang="en-US" sz="1600" b="1">
              <a:solidFill>
                <a:srgbClr val="0042FF"/>
              </a:solidFill>
              <a:latin typeface="微软雅黑"/>
              <a:ea typeface="微软雅黑"/>
              <a:cs typeface="微软雅黑"/>
            </a:endParaRPr>
          </a:p>
        </p:txBody>
      </p:sp>
      <p:sp>
        <p:nvSpPr>
          <p:cNvPr id="76" name="文本框 75"/>
          <p:cNvSpPr txBox="1"/>
          <p:nvPr/>
        </p:nvSpPr>
        <p:spPr>
          <a:xfrm>
            <a:off x="8671560" y="1963420"/>
            <a:ext cx="3444875" cy="337185"/>
          </a:xfrm>
          <a:prstGeom prst="rect">
            <a:avLst/>
          </a:prstGeom>
          <a:noFill/>
        </p:spPr>
        <p:txBody>
          <a:bodyPr wrap="square" rtlCol="0">
            <a:spAutoFit/>
          </a:bodyPr>
          <a:p>
            <a:pPr>
              <a:defRPr>
                <a:latin typeface="微软雅黑"/>
                <a:ea typeface="微软雅黑"/>
                <a:cs typeface="微软雅黑"/>
              </a:defRPr>
            </a:pPr>
            <a:r>
              <a:rPr lang="zh-CN" altLang="en-US" sz="1600" b="1">
                <a:solidFill>
                  <a:srgbClr val="0042FF"/>
                </a:solidFill>
                <a:latin typeface="微软雅黑"/>
                <a:ea typeface="微软雅黑"/>
                <a:cs typeface="微软雅黑"/>
              </a:rPr>
              <a:t>内容产品化，传递整体价值</a:t>
            </a:r>
            <a:endParaRPr lang="zh-CN" altLang="en-US" sz="1600" b="1">
              <a:solidFill>
                <a:srgbClr val="0042FF"/>
              </a:solidFill>
              <a:latin typeface="微软雅黑"/>
              <a:ea typeface="微软雅黑"/>
              <a:cs typeface="微软雅黑"/>
            </a:endParaRPr>
          </a:p>
        </p:txBody>
      </p:sp>
      <p:grpSp>
        <p:nvGrpSpPr>
          <p:cNvPr id="93" name="组合 92"/>
          <p:cNvGrpSpPr/>
          <p:nvPr/>
        </p:nvGrpSpPr>
        <p:grpSpPr>
          <a:xfrm rot="5400000">
            <a:off x="666750" y="1866583"/>
            <a:ext cx="248920" cy="442595"/>
            <a:chOff x="3859" y="6875"/>
            <a:chExt cx="392" cy="697"/>
          </a:xfrm>
        </p:grpSpPr>
        <p:sp>
          <p:nvSpPr>
            <p:cNvPr id="124" name="菱形 123"/>
            <p:cNvSpPr/>
            <p:nvPr/>
          </p:nvSpPr>
          <p:spPr>
            <a:xfrm>
              <a:off x="3859" y="6875"/>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25" name="菱形 124"/>
            <p:cNvSpPr/>
            <p:nvPr/>
          </p:nvSpPr>
          <p:spPr>
            <a:xfrm>
              <a:off x="3859" y="7044"/>
              <a:ext cx="393" cy="529"/>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sp>
        <p:nvSpPr>
          <p:cNvPr id="89" name="菱形 88"/>
          <p:cNvSpPr/>
          <p:nvPr/>
        </p:nvSpPr>
        <p:spPr>
          <a:xfrm rot="5400000">
            <a:off x="8092440" y="1920240"/>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sp>
        <p:nvSpPr>
          <p:cNvPr id="90" name="菱形 89"/>
          <p:cNvSpPr/>
          <p:nvPr/>
        </p:nvSpPr>
        <p:spPr>
          <a:xfrm rot="5400000">
            <a:off x="834708" y="1920240"/>
            <a:ext cx="249555" cy="335915"/>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9" name="矩形 8"/>
          <p:cNvSpPr/>
          <p:nvPr/>
        </p:nvSpPr>
        <p:spPr>
          <a:xfrm>
            <a:off x="726440" y="2389505"/>
            <a:ext cx="1873250" cy="4051300"/>
          </a:xfrm>
          <a:prstGeom prst="rect">
            <a:avLst/>
          </a:prstGeom>
          <a:solidFill>
            <a:srgbClr val="E6E6E6">
              <a:alpha val="4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5" name="矩形 34"/>
          <p:cNvSpPr/>
          <p:nvPr/>
        </p:nvSpPr>
        <p:spPr>
          <a:xfrm>
            <a:off x="869315" y="2484120"/>
            <a:ext cx="1551305" cy="391160"/>
          </a:xfrm>
          <a:prstGeom prst="rect">
            <a:avLst/>
          </a:prstGeom>
          <a:gradFill>
            <a:gsLst>
              <a:gs pos="8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600" b="1">
                <a:solidFill>
                  <a:srgbClr val="FFFFFF"/>
                </a:solidFill>
                <a:cs typeface="微软雅黑"/>
                <a:latin typeface="微软雅黑"/>
                <a:ea typeface="微软雅黑"/>
              </a:rPr>
              <a:t>营销内容</a:t>
            </a:r>
            <a:endParaRPr lang="zh-CN" altLang="en-US" sz="1600" b="1">
              <a:solidFill>
                <a:srgbClr val="FFFFFF"/>
              </a:solidFill>
              <a:cs typeface="微软雅黑"/>
              <a:latin typeface="微软雅黑"/>
              <a:ea typeface="微软雅黑"/>
            </a:endParaRPr>
          </a:p>
        </p:txBody>
      </p:sp>
      <p:sp>
        <p:nvSpPr>
          <p:cNvPr id="47" name="矩形 46"/>
          <p:cNvSpPr/>
          <p:nvPr/>
        </p:nvSpPr>
        <p:spPr>
          <a:xfrm>
            <a:off x="869315" y="2898775"/>
            <a:ext cx="1558925" cy="524510"/>
          </a:xfrm>
          <a:prstGeom prst="rect">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0" name="矩形 49"/>
          <p:cNvSpPr/>
          <p:nvPr/>
        </p:nvSpPr>
        <p:spPr>
          <a:xfrm>
            <a:off x="921385" y="481393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0042FF"/>
                </a:solidFill>
                <a:cs typeface="微软雅黑"/>
                <a:latin typeface="微软雅黑"/>
                <a:ea typeface="微软雅黑"/>
              </a:rPr>
              <a:t>日常推送</a:t>
            </a:r>
            <a:endParaRPr lang="zh-CN" altLang="en-US" sz="1200">
              <a:solidFill>
                <a:srgbClr val="0042FF"/>
              </a:solidFill>
              <a:cs typeface="微软雅黑"/>
              <a:latin typeface="微软雅黑"/>
              <a:ea typeface="微软雅黑"/>
            </a:endParaRPr>
          </a:p>
        </p:txBody>
      </p:sp>
      <p:sp>
        <p:nvSpPr>
          <p:cNvPr id="91" name="文本框 90"/>
          <p:cNvSpPr txBox="1"/>
          <p:nvPr/>
        </p:nvSpPr>
        <p:spPr>
          <a:xfrm>
            <a:off x="869315" y="2919730"/>
            <a:ext cx="1579245" cy="460375"/>
          </a:xfrm>
          <a:prstGeom prst="rect">
            <a:avLst/>
          </a:prstGeom>
          <a:noFill/>
        </p:spPr>
        <p:txBody>
          <a:bodyPr wrap="square" rtlCol="0">
            <a:spAutoFit/>
          </a:bodyPr>
          <a:p>
            <a:pPr marL="228600" indent="-22860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公域场景为主</a:t>
            </a:r>
            <a:endParaRPr lang="zh-CN" altLang="en-US" sz="1200">
              <a:solidFill>
                <a:srgbClr val="383838"/>
              </a:solidFill>
              <a:latin typeface="微软雅黑"/>
              <a:ea typeface="微软雅黑"/>
              <a:cs typeface="微软雅黑"/>
            </a:endParaRPr>
          </a:p>
          <a:p>
            <a:pPr marL="228600" indent="-22860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高频、短平快</a:t>
            </a:r>
            <a:endParaRPr lang="zh-CN" altLang="en-US" sz="1200">
              <a:solidFill>
                <a:srgbClr val="383838"/>
              </a:solidFill>
              <a:latin typeface="微软雅黑"/>
              <a:ea typeface="微软雅黑"/>
              <a:cs typeface="微软雅黑"/>
            </a:endParaRPr>
          </a:p>
        </p:txBody>
      </p:sp>
      <p:sp>
        <p:nvSpPr>
          <p:cNvPr id="92" name="文本框 91"/>
          <p:cNvSpPr txBox="1"/>
          <p:nvPr/>
        </p:nvSpPr>
        <p:spPr>
          <a:xfrm>
            <a:off x="822960" y="3758565"/>
            <a:ext cx="304800" cy="829945"/>
          </a:xfrm>
          <a:prstGeom prst="rect">
            <a:avLst/>
          </a:prstGeom>
          <a:noFill/>
        </p:spPr>
        <p:txBody>
          <a:bodyPr wrap="square" rtlCol="0" anchor="ctr" anchorCtr="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品牌展示</a:t>
            </a:r>
            <a:endParaRPr lang="zh-CN" altLang="en-US" sz="1200" b="1">
              <a:solidFill>
                <a:srgbClr val="0042FF"/>
              </a:solidFill>
              <a:latin typeface="微软雅黑"/>
              <a:ea typeface="微软雅黑"/>
              <a:cs typeface="微软雅黑"/>
            </a:endParaRPr>
          </a:p>
        </p:txBody>
      </p:sp>
      <p:sp>
        <p:nvSpPr>
          <p:cNvPr id="94" name="文本框 93"/>
          <p:cNvSpPr txBox="1"/>
          <p:nvPr/>
        </p:nvSpPr>
        <p:spPr>
          <a:xfrm>
            <a:off x="1127760" y="3573780"/>
            <a:ext cx="1286510" cy="1198880"/>
          </a:xfrm>
          <a:prstGeom prst="rect">
            <a:avLst/>
          </a:prstGeom>
          <a:noFill/>
        </p:spPr>
        <p:txBody>
          <a:bodyPr wrap="square" rtlCol="0">
            <a:spAutoFit/>
          </a:bodyPr>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向最广泛的用户群体介绍女性健康管理工具、母婴用品及社区服务，提高品牌曝光。</a:t>
            </a:r>
            <a:endParaRPr lang="zh-CN" altLang="en-US" sz="1200">
              <a:solidFill>
                <a:srgbClr val="383838"/>
              </a:solidFill>
              <a:latin typeface="微软雅黑"/>
              <a:ea typeface="微软雅黑"/>
              <a:cs typeface="微软雅黑"/>
            </a:endParaRPr>
          </a:p>
        </p:txBody>
      </p:sp>
      <p:sp>
        <p:nvSpPr>
          <p:cNvPr id="95" name="矩形 94"/>
          <p:cNvSpPr/>
          <p:nvPr/>
        </p:nvSpPr>
        <p:spPr>
          <a:xfrm>
            <a:off x="921385" y="521398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经期提醒</a:t>
            </a:r>
            <a:endParaRPr lang="zh-CN" altLang="en-US" sz="1200">
              <a:solidFill>
                <a:srgbClr val="0042FF"/>
              </a:solidFill>
              <a:cs typeface="微软雅黑"/>
              <a:sym typeface="微软雅黑"/>
              <a:latin typeface="微软雅黑"/>
              <a:ea typeface="微软雅黑"/>
            </a:endParaRPr>
          </a:p>
        </p:txBody>
      </p:sp>
      <p:sp>
        <p:nvSpPr>
          <p:cNvPr id="96" name="矩形 95"/>
          <p:cNvSpPr/>
          <p:nvPr/>
        </p:nvSpPr>
        <p:spPr>
          <a:xfrm>
            <a:off x="921385" y="561403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母婴商品折扣</a:t>
            </a:r>
            <a:endParaRPr lang="zh-CN" altLang="en-US" sz="1200">
              <a:solidFill>
                <a:srgbClr val="0042FF"/>
              </a:solidFill>
              <a:cs typeface="微软雅黑"/>
              <a:sym typeface="微软雅黑"/>
              <a:latin typeface="微软雅黑"/>
              <a:ea typeface="微软雅黑"/>
            </a:endParaRPr>
          </a:p>
        </p:txBody>
      </p:sp>
      <p:sp>
        <p:nvSpPr>
          <p:cNvPr id="97" name="矩形 96"/>
          <p:cNvSpPr/>
          <p:nvPr/>
        </p:nvSpPr>
        <p:spPr>
          <a:xfrm>
            <a:off x="921385" y="601408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健康顾问咨询</a:t>
            </a:r>
            <a:endParaRPr lang="zh-CN" altLang="en-US" sz="1200">
              <a:solidFill>
                <a:srgbClr val="0042FF"/>
              </a:solidFill>
              <a:cs typeface="微软雅黑"/>
              <a:sym typeface="微软雅黑"/>
              <a:latin typeface="微软雅黑"/>
              <a:ea typeface="微软雅黑"/>
            </a:endParaRPr>
          </a:p>
        </p:txBody>
      </p:sp>
      <p:sp>
        <p:nvSpPr>
          <p:cNvPr id="100" name="矩形 99"/>
          <p:cNvSpPr/>
          <p:nvPr/>
        </p:nvSpPr>
        <p:spPr>
          <a:xfrm>
            <a:off x="3139440" y="2393315"/>
            <a:ext cx="1873250" cy="4051300"/>
          </a:xfrm>
          <a:prstGeom prst="rect">
            <a:avLst/>
          </a:prstGeom>
          <a:solidFill>
            <a:srgbClr val="E6E6E6">
              <a:alpha val="4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1" name="矩形 100"/>
          <p:cNvSpPr/>
          <p:nvPr/>
        </p:nvSpPr>
        <p:spPr>
          <a:xfrm>
            <a:off x="3282315" y="2487930"/>
            <a:ext cx="1551305" cy="391160"/>
          </a:xfrm>
          <a:prstGeom prst="rect">
            <a:avLst/>
          </a:prstGeom>
          <a:gradFill>
            <a:gsLst>
              <a:gs pos="8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cs typeface="微软雅黑"/>
                <a:sym typeface="微软雅黑"/>
                <a:latin typeface="微软雅黑"/>
                <a:ea typeface="微软雅黑"/>
              </a:rPr>
              <a:t>核心内容</a:t>
            </a:r>
            <a:endParaRPr lang="zh-CN" altLang="en-US" sz="1600" b="1">
              <a:solidFill>
                <a:srgbClr val="FFFFFF"/>
              </a:solidFill>
              <a:cs typeface="微软雅黑"/>
              <a:sym typeface="微软雅黑"/>
              <a:latin typeface="微软雅黑"/>
              <a:ea typeface="微软雅黑"/>
            </a:endParaRPr>
          </a:p>
        </p:txBody>
      </p:sp>
      <p:sp>
        <p:nvSpPr>
          <p:cNvPr id="102" name="矩形 101"/>
          <p:cNvSpPr/>
          <p:nvPr/>
        </p:nvSpPr>
        <p:spPr>
          <a:xfrm>
            <a:off x="3282315" y="2902585"/>
            <a:ext cx="1558925" cy="524510"/>
          </a:xfrm>
          <a:prstGeom prst="rect">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03" name="矩形 102"/>
          <p:cNvSpPr/>
          <p:nvPr/>
        </p:nvSpPr>
        <p:spPr>
          <a:xfrm>
            <a:off x="3334385" y="481774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孕期知识直播</a:t>
            </a:r>
            <a:endParaRPr lang="zh-CN" altLang="en-US" sz="1200">
              <a:solidFill>
                <a:srgbClr val="0042FF"/>
              </a:solidFill>
              <a:cs typeface="微软雅黑"/>
              <a:sym typeface="微软雅黑"/>
              <a:latin typeface="微软雅黑"/>
              <a:ea typeface="微软雅黑"/>
            </a:endParaRPr>
          </a:p>
        </p:txBody>
      </p:sp>
      <p:sp>
        <p:nvSpPr>
          <p:cNvPr id="104" name="文本框 103"/>
          <p:cNvSpPr txBox="1"/>
          <p:nvPr/>
        </p:nvSpPr>
        <p:spPr>
          <a:xfrm>
            <a:off x="3282315" y="2923540"/>
            <a:ext cx="1579245" cy="460375"/>
          </a:xfrm>
          <a:prstGeom prst="rect">
            <a:avLst/>
          </a:prstGeom>
          <a:noFill/>
        </p:spPr>
        <p:txBody>
          <a:bodyPr wrap="square" rtlCol="0">
            <a:spAutoFit/>
          </a:bodyPr>
          <a:p>
            <a:pPr marL="228600" indent="-22860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公域</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私域场景</a:t>
            </a:r>
            <a:endParaRPr lang="zh-CN" altLang="en-US" sz="1200">
              <a:solidFill>
                <a:srgbClr val="383838"/>
              </a:solidFill>
              <a:latin typeface="微软雅黑"/>
              <a:ea typeface="微软雅黑"/>
              <a:cs typeface="微软雅黑"/>
            </a:endParaRPr>
          </a:p>
          <a:p>
            <a:pPr marL="228600" indent="-22860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中频、轻知识</a:t>
            </a:r>
            <a:endParaRPr lang="zh-CN" altLang="en-US" sz="1200">
              <a:solidFill>
                <a:srgbClr val="383838"/>
              </a:solidFill>
              <a:latin typeface="微软雅黑"/>
              <a:ea typeface="微软雅黑"/>
              <a:cs typeface="微软雅黑"/>
            </a:endParaRPr>
          </a:p>
        </p:txBody>
      </p:sp>
      <p:sp>
        <p:nvSpPr>
          <p:cNvPr id="105" name="文本框 104"/>
          <p:cNvSpPr txBox="1"/>
          <p:nvPr/>
        </p:nvSpPr>
        <p:spPr>
          <a:xfrm>
            <a:off x="3235960" y="3670935"/>
            <a:ext cx="304800" cy="829945"/>
          </a:xfrm>
          <a:prstGeom prst="rect">
            <a:avLst/>
          </a:prstGeom>
          <a:noFill/>
        </p:spPr>
        <p:txBody>
          <a:bodyPr wrap="square" rtlCol="0" anchor="ctr" anchorCtr="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认知加深</a:t>
            </a:r>
            <a:endParaRPr lang="zh-CN" altLang="en-US" sz="1200" b="1">
              <a:solidFill>
                <a:srgbClr val="0042FF"/>
              </a:solidFill>
              <a:latin typeface="微软雅黑"/>
              <a:ea typeface="微软雅黑"/>
              <a:cs typeface="微软雅黑"/>
            </a:endParaRPr>
          </a:p>
        </p:txBody>
      </p:sp>
      <p:sp>
        <p:nvSpPr>
          <p:cNvPr id="106" name="文本框 105"/>
          <p:cNvSpPr txBox="1"/>
          <p:nvPr/>
        </p:nvSpPr>
        <p:spPr>
          <a:xfrm>
            <a:off x="3540760" y="3578225"/>
            <a:ext cx="1286510" cy="1014730"/>
          </a:xfrm>
          <a:prstGeom prst="rect">
            <a:avLst/>
          </a:prstGeom>
          <a:noFill/>
        </p:spPr>
        <p:txBody>
          <a:bodyPr wrap="square" rtlCol="0">
            <a:spAutoFit/>
          </a:bodyPr>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围绕女性健康知识、育儿经验分享，通过渠道互动加深用户对品牌专业度的认知。</a:t>
            </a:r>
            <a:endParaRPr lang="zh-CN" altLang="en-US" sz="1200">
              <a:solidFill>
                <a:srgbClr val="383838"/>
              </a:solidFill>
              <a:latin typeface="微软雅黑"/>
              <a:ea typeface="微软雅黑"/>
              <a:cs typeface="微软雅黑"/>
            </a:endParaRPr>
          </a:p>
        </p:txBody>
      </p:sp>
      <p:sp>
        <p:nvSpPr>
          <p:cNvPr id="107" name="矩形 106"/>
          <p:cNvSpPr/>
          <p:nvPr/>
        </p:nvSpPr>
        <p:spPr>
          <a:xfrm>
            <a:off x="3334385" y="521779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产后恢复直播</a:t>
            </a:r>
            <a:endParaRPr lang="zh-CN" altLang="en-US" sz="1200">
              <a:solidFill>
                <a:srgbClr val="0042FF"/>
              </a:solidFill>
              <a:cs typeface="微软雅黑"/>
              <a:sym typeface="微软雅黑"/>
              <a:latin typeface="微软雅黑"/>
              <a:ea typeface="微软雅黑"/>
            </a:endParaRPr>
          </a:p>
        </p:txBody>
      </p:sp>
      <p:sp>
        <p:nvSpPr>
          <p:cNvPr id="108" name="矩形 107"/>
          <p:cNvSpPr/>
          <p:nvPr/>
        </p:nvSpPr>
        <p:spPr>
          <a:xfrm>
            <a:off x="3334385" y="561784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好物测评专栏</a:t>
            </a:r>
            <a:endParaRPr lang="zh-CN" altLang="en-US" sz="1200">
              <a:solidFill>
                <a:srgbClr val="0042FF"/>
              </a:solidFill>
              <a:cs typeface="微软雅黑"/>
              <a:sym typeface="微软雅黑"/>
              <a:latin typeface="微软雅黑"/>
              <a:ea typeface="微软雅黑"/>
            </a:endParaRPr>
          </a:p>
        </p:txBody>
      </p:sp>
      <p:sp>
        <p:nvSpPr>
          <p:cNvPr id="109" name="矩形 108"/>
          <p:cNvSpPr/>
          <p:nvPr/>
        </p:nvSpPr>
        <p:spPr>
          <a:xfrm>
            <a:off x="3334385" y="601789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新手妈妈知识库</a:t>
            </a:r>
            <a:endParaRPr lang="zh-CN" altLang="en-US" sz="1200">
              <a:solidFill>
                <a:srgbClr val="0042FF"/>
              </a:solidFill>
              <a:cs typeface="微软雅黑"/>
              <a:sym typeface="微软雅黑"/>
              <a:latin typeface="微软雅黑"/>
              <a:ea typeface="微软雅黑"/>
            </a:endParaRPr>
          </a:p>
        </p:txBody>
      </p:sp>
      <p:sp>
        <p:nvSpPr>
          <p:cNvPr id="111" name="矩形 110"/>
          <p:cNvSpPr/>
          <p:nvPr/>
        </p:nvSpPr>
        <p:spPr>
          <a:xfrm>
            <a:off x="5609590" y="2389505"/>
            <a:ext cx="1873250" cy="4051300"/>
          </a:xfrm>
          <a:prstGeom prst="rect">
            <a:avLst/>
          </a:prstGeom>
          <a:solidFill>
            <a:srgbClr val="E6E6E6">
              <a:alpha val="4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12" name="矩形 111"/>
          <p:cNvSpPr/>
          <p:nvPr/>
        </p:nvSpPr>
        <p:spPr>
          <a:xfrm>
            <a:off x="5752465" y="2484120"/>
            <a:ext cx="1551305" cy="391160"/>
          </a:xfrm>
          <a:prstGeom prst="rect">
            <a:avLst/>
          </a:prstGeom>
          <a:gradFill>
            <a:gsLst>
              <a:gs pos="80000">
                <a:srgbClr val="0042FF"/>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cs typeface="微软雅黑"/>
                <a:sym typeface="微软雅黑"/>
                <a:latin typeface="微软雅黑"/>
                <a:ea typeface="微软雅黑"/>
              </a:rPr>
              <a:t>高净值内容</a:t>
            </a:r>
            <a:endParaRPr lang="zh-CN" altLang="en-US" sz="1600" b="1">
              <a:solidFill>
                <a:srgbClr val="FFFFFF"/>
              </a:solidFill>
              <a:cs typeface="微软雅黑"/>
              <a:sym typeface="微软雅黑"/>
              <a:latin typeface="微软雅黑"/>
              <a:ea typeface="微软雅黑"/>
            </a:endParaRPr>
          </a:p>
        </p:txBody>
      </p:sp>
      <p:sp>
        <p:nvSpPr>
          <p:cNvPr id="113" name="矩形 112"/>
          <p:cNvSpPr/>
          <p:nvPr/>
        </p:nvSpPr>
        <p:spPr>
          <a:xfrm>
            <a:off x="5752465" y="2898775"/>
            <a:ext cx="1558925" cy="524510"/>
          </a:xfrm>
          <a:prstGeom prst="rect">
            <a:avLst/>
          </a:prstGeom>
          <a:solidFill>
            <a:srgbClr val="FFFF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14" name="矩形 113"/>
          <p:cNvSpPr/>
          <p:nvPr/>
        </p:nvSpPr>
        <p:spPr>
          <a:xfrm>
            <a:off x="5804535" y="481393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主题分享会</a:t>
            </a:r>
            <a:endParaRPr lang="zh-CN" altLang="en-US" sz="1200">
              <a:solidFill>
                <a:srgbClr val="0042FF"/>
              </a:solidFill>
              <a:cs typeface="微软雅黑"/>
              <a:sym typeface="微软雅黑"/>
              <a:latin typeface="微软雅黑"/>
              <a:ea typeface="微软雅黑"/>
            </a:endParaRPr>
          </a:p>
        </p:txBody>
      </p:sp>
      <p:sp>
        <p:nvSpPr>
          <p:cNvPr id="115" name="文本框 114"/>
          <p:cNvSpPr txBox="1"/>
          <p:nvPr/>
        </p:nvSpPr>
        <p:spPr>
          <a:xfrm>
            <a:off x="5752465" y="2919730"/>
            <a:ext cx="1579245" cy="460375"/>
          </a:xfrm>
          <a:prstGeom prst="rect">
            <a:avLst/>
          </a:prstGeom>
          <a:noFill/>
        </p:spPr>
        <p:txBody>
          <a:bodyPr wrap="square" rtlCol="0">
            <a:spAutoFit/>
          </a:bodyPr>
          <a:p>
            <a:pPr marL="228600" indent="-22860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私域场景</a:t>
            </a:r>
            <a:endParaRPr lang="zh-CN" altLang="en-US" sz="1200">
              <a:solidFill>
                <a:srgbClr val="383838"/>
              </a:solidFill>
              <a:latin typeface="微软雅黑"/>
              <a:ea typeface="微软雅黑"/>
              <a:cs typeface="微软雅黑"/>
            </a:endParaRPr>
          </a:p>
          <a:p>
            <a:pPr marL="228600" indent="-22860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低频、系统性</a:t>
            </a:r>
            <a:endParaRPr lang="zh-CN" altLang="en-US" sz="1200">
              <a:solidFill>
                <a:srgbClr val="383838"/>
              </a:solidFill>
              <a:latin typeface="微软雅黑"/>
              <a:ea typeface="微软雅黑"/>
              <a:cs typeface="微软雅黑"/>
            </a:endParaRPr>
          </a:p>
        </p:txBody>
      </p:sp>
      <p:sp>
        <p:nvSpPr>
          <p:cNvPr id="116" name="文本框 115"/>
          <p:cNvSpPr txBox="1"/>
          <p:nvPr/>
        </p:nvSpPr>
        <p:spPr>
          <a:xfrm>
            <a:off x="5706110" y="3712845"/>
            <a:ext cx="304800" cy="829945"/>
          </a:xfrm>
          <a:prstGeom prst="rect">
            <a:avLst/>
          </a:prstGeom>
          <a:noFill/>
        </p:spPr>
        <p:txBody>
          <a:bodyPr wrap="square" rtlCol="0" anchor="ctr" anchorCtr="0">
            <a:sp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价值提升</a:t>
            </a:r>
            <a:endParaRPr lang="zh-CN" altLang="en-US" sz="1200" b="1">
              <a:solidFill>
                <a:srgbClr val="0042FF"/>
              </a:solidFill>
              <a:latin typeface="微软雅黑"/>
              <a:ea typeface="微软雅黑"/>
              <a:cs typeface="微软雅黑"/>
            </a:endParaRPr>
          </a:p>
        </p:txBody>
      </p:sp>
      <p:sp>
        <p:nvSpPr>
          <p:cNvPr id="117" name="文本框 116"/>
          <p:cNvSpPr txBox="1"/>
          <p:nvPr/>
        </p:nvSpPr>
        <p:spPr>
          <a:xfrm>
            <a:off x="6010910" y="3528060"/>
            <a:ext cx="1286510" cy="1198880"/>
          </a:xfrm>
          <a:prstGeom prst="rect">
            <a:avLst/>
          </a:prstGeom>
          <a:noFill/>
        </p:spPr>
        <p:txBody>
          <a:bodyPr wrap="square" rtlCol="0">
            <a:spAutoFit/>
          </a:bodyPr>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利用高净值内容与核心用户群体（如备孕女性、母婴达人）建立稳固联系，提升品牌价值。</a:t>
            </a:r>
            <a:endParaRPr lang="zh-CN" altLang="en-US" sz="1200">
              <a:solidFill>
                <a:srgbClr val="383838"/>
              </a:solidFill>
              <a:latin typeface="微软雅黑"/>
              <a:ea typeface="微软雅黑"/>
              <a:cs typeface="微软雅黑"/>
            </a:endParaRPr>
          </a:p>
        </p:txBody>
      </p:sp>
      <p:sp>
        <p:nvSpPr>
          <p:cNvPr id="118" name="矩形 117"/>
          <p:cNvSpPr/>
          <p:nvPr/>
        </p:nvSpPr>
        <p:spPr>
          <a:xfrm>
            <a:off x="5804535" y="521398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妈妈副业创收坊</a:t>
            </a:r>
            <a:endParaRPr lang="zh-CN" altLang="en-US" sz="1200">
              <a:solidFill>
                <a:srgbClr val="0042FF"/>
              </a:solidFill>
              <a:cs typeface="微软雅黑"/>
              <a:sym typeface="微软雅黑"/>
              <a:latin typeface="微软雅黑"/>
              <a:ea typeface="微软雅黑"/>
            </a:endParaRPr>
          </a:p>
        </p:txBody>
      </p:sp>
      <p:sp>
        <p:nvSpPr>
          <p:cNvPr id="119" name="矩形 118"/>
          <p:cNvSpPr/>
          <p:nvPr/>
        </p:nvSpPr>
        <p:spPr>
          <a:xfrm>
            <a:off x="5804535" y="561403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科学育儿训练营</a:t>
            </a:r>
            <a:endParaRPr lang="zh-CN" altLang="en-US" sz="1200">
              <a:solidFill>
                <a:srgbClr val="0042FF"/>
              </a:solidFill>
              <a:cs typeface="微软雅黑"/>
              <a:sym typeface="微软雅黑"/>
              <a:latin typeface="微软雅黑"/>
              <a:ea typeface="微软雅黑"/>
            </a:endParaRPr>
          </a:p>
        </p:txBody>
      </p:sp>
      <p:sp>
        <p:nvSpPr>
          <p:cNvPr id="120" name="矩形 119"/>
          <p:cNvSpPr/>
          <p:nvPr/>
        </p:nvSpPr>
        <p:spPr>
          <a:xfrm>
            <a:off x="5804535" y="6014085"/>
            <a:ext cx="1506855" cy="33464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亲子沟通实战营</a:t>
            </a:r>
            <a:endParaRPr lang="zh-CN" altLang="en-US" sz="1200">
              <a:solidFill>
                <a:srgbClr val="0042FF"/>
              </a:solidFill>
              <a:cs typeface="微软雅黑"/>
              <a:sym typeface="微软雅黑"/>
              <a:latin typeface="微软雅黑"/>
              <a:ea typeface="微软雅黑"/>
            </a:endParaRPr>
          </a:p>
        </p:txBody>
      </p:sp>
      <p:sp>
        <p:nvSpPr>
          <p:cNvPr id="121" name="菱形 120"/>
          <p:cNvSpPr/>
          <p:nvPr/>
        </p:nvSpPr>
        <p:spPr>
          <a:xfrm rot="5400000">
            <a:off x="8203565" y="1920240"/>
            <a:ext cx="249555" cy="33591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nvGrpSpPr>
          <p:cNvPr id="128" name="组合 127"/>
          <p:cNvGrpSpPr/>
          <p:nvPr/>
        </p:nvGrpSpPr>
        <p:grpSpPr>
          <a:xfrm>
            <a:off x="8265795" y="2516505"/>
            <a:ext cx="3702685" cy="1243330"/>
            <a:chOff x="12713" y="3595"/>
            <a:chExt cx="5831" cy="1958"/>
          </a:xfrm>
        </p:grpSpPr>
        <p:sp>
          <p:nvSpPr>
            <p:cNvPr id="53" name="矩形 52"/>
            <p:cNvSpPr/>
            <p:nvPr/>
          </p:nvSpPr>
          <p:spPr>
            <a:xfrm>
              <a:off x="12881" y="3595"/>
              <a:ext cx="257" cy="616"/>
            </a:xfrm>
            <a:prstGeom prst="rect">
              <a:avLst/>
            </a:prstGeom>
            <a:gradFill>
              <a:gsLst>
                <a:gs pos="100000">
                  <a:srgbClr val="3368FF"/>
                </a:gs>
                <a:gs pos="0">
                  <a:srgbClr val="B3D4FE"/>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60" name="矩形 59"/>
            <p:cNvSpPr/>
            <p:nvPr/>
          </p:nvSpPr>
          <p:spPr>
            <a:xfrm>
              <a:off x="13195" y="3595"/>
              <a:ext cx="2380" cy="616"/>
            </a:xfrm>
            <a:prstGeom prst="rect">
              <a:avLst/>
            </a:prstGeom>
            <a:solidFill>
              <a:srgbClr val="3368FF">
                <a:alpha val="10000"/>
              </a:srgbClr>
            </a:soli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b="1">
                  <a:solidFill>
                    <a:srgbClr val="383838"/>
                  </a:solidFill>
                  <a:cs typeface="微软雅黑"/>
                  <a:latin typeface="微软雅黑"/>
                  <a:ea typeface="微软雅黑"/>
                </a:rPr>
                <a:t>内容生产</a:t>
              </a:r>
              <a:endParaRPr lang="zh-CN" altLang="en-US" sz="1400" b="1">
                <a:solidFill>
                  <a:srgbClr val="383838"/>
                </a:solidFill>
                <a:cs typeface="微软雅黑"/>
                <a:latin typeface="微软雅黑"/>
                <a:ea typeface="微软雅黑"/>
              </a:endParaRPr>
            </a:p>
          </p:txBody>
        </p:sp>
        <p:sp>
          <p:nvSpPr>
            <p:cNvPr id="123" name="文本框 122"/>
            <p:cNvSpPr txBox="1"/>
            <p:nvPr/>
          </p:nvSpPr>
          <p:spPr>
            <a:xfrm>
              <a:off x="12713" y="4425"/>
              <a:ext cx="5831" cy="1128"/>
            </a:xfrm>
            <a:prstGeom prst="rect">
              <a:avLst/>
            </a:prstGeom>
            <a:noFill/>
          </p:spPr>
          <p:txBody>
            <a:bodyPr wrap="square" rtlCol="0">
              <a:noAutofit/>
            </a:bodyPr>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打造付费会员专属内容（如《女性健康年度指南》），通过边生产边更新的方式，提高内容时效性。</a:t>
              </a:r>
              <a:endParaRPr lang="zh-CN" altLang="en-US" sz="1200">
                <a:solidFill>
                  <a:srgbClr val="383838"/>
                </a:solidFill>
                <a:latin typeface="微软雅黑"/>
                <a:ea typeface="微软雅黑"/>
                <a:cs typeface="微软雅黑"/>
              </a:endParaRPr>
            </a:p>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场景：</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付费会员健康指南</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grpSp>
      <p:grpSp>
        <p:nvGrpSpPr>
          <p:cNvPr id="129" name="组合 128"/>
          <p:cNvGrpSpPr/>
          <p:nvPr/>
        </p:nvGrpSpPr>
        <p:grpSpPr>
          <a:xfrm>
            <a:off x="8353425" y="3937000"/>
            <a:ext cx="3562985" cy="1205865"/>
            <a:chOff x="12851" y="5757"/>
            <a:chExt cx="5611" cy="1899"/>
          </a:xfrm>
        </p:grpSpPr>
        <p:sp>
          <p:nvSpPr>
            <p:cNvPr id="62" name="矩形 61"/>
            <p:cNvSpPr/>
            <p:nvPr/>
          </p:nvSpPr>
          <p:spPr>
            <a:xfrm>
              <a:off x="12881" y="5757"/>
              <a:ext cx="257" cy="616"/>
            </a:xfrm>
            <a:prstGeom prst="rect">
              <a:avLst/>
            </a:prstGeom>
            <a:gradFill>
              <a:gsLst>
                <a:gs pos="100000">
                  <a:srgbClr val="3368FF"/>
                </a:gs>
                <a:gs pos="0">
                  <a:srgbClr val="B3D4FE"/>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0" name="矩形 69"/>
            <p:cNvSpPr/>
            <p:nvPr/>
          </p:nvSpPr>
          <p:spPr>
            <a:xfrm>
              <a:off x="13195" y="5757"/>
              <a:ext cx="2380" cy="616"/>
            </a:xfrm>
            <a:prstGeom prst="rect">
              <a:avLst/>
            </a:prstGeom>
            <a:solidFill>
              <a:srgbClr val="3368FF">
                <a:alpha val="1000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cs typeface="微软雅黑"/>
                  <a:sym typeface="微软雅黑"/>
                  <a:latin typeface="微软雅黑"/>
                  <a:ea typeface="微软雅黑"/>
                </a:rPr>
                <a:t>用户服务</a:t>
              </a:r>
              <a:endParaRPr lang="zh-CN" altLang="en-US" sz="1400" b="1">
                <a:solidFill>
                  <a:srgbClr val="383838"/>
                </a:solidFill>
                <a:cs typeface="微软雅黑"/>
                <a:sym typeface="微软雅黑"/>
                <a:latin typeface="微软雅黑"/>
                <a:ea typeface="微软雅黑"/>
              </a:endParaRPr>
            </a:p>
          </p:txBody>
        </p:sp>
        <p:sp>
          <p:nvSpPr>
            <p:cNvPr id="126" name="文本框 125"/>
            <p:cNvSpPr txBox="1"/>
            <p:nvPr/>
          </p:nvSpPr>
          <p:spPr>
            <a:xfrm>
              <a:off x="12851" y="6528"/>
              <a:ext cx="5611" cy="1128"/>
            </a:xfrm>
            <a:prstGeom prst="rect">
              <a:avLst/>
            </a:prstGeom>
            <a:noFill/>
          </p:spPr>
          <p:txBody>
            <a:bodyPr wrap="square" rtlCol="0">
              <a:noAutofit/>
            </a:bodyPr>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利用社区打卡、育儿知识测试等助学服务，强化用户粘性与内容交付质量。</a:t>
              </a:r>
              <a:endParaRPr lang="zh-CN" altLang="en-US" sz="1200">
                <a:solidFill>
                  <a:srgbClr val="383838"/>
                </a:solidFill>
                <a:latin typeface="微软雅黑"/>
                <a:ea typeface="微软雅黑"/>
                <a:cs typeface="微软雅黑"/>
              </a:endParaRPr>
            </a:p>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场景：</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育儿知识闯关测试</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grpSp>
      <p:grpSp>
        <p:nvGrpSpPr>
          <p:cNvPr id="130" name="组合 129"/>
          <p:cNvGrpSpPr/>
          <p:nvPr/>
        </p:nvGrpSpPr>
        <p:grpSpPr>
          <a:xfrm>
            <a:off x="8243570" y="5302250"/>
            <a:ext cx="3672840" cy="1194435"/>
            <a:chOff x="12718" y="7982"/>
            <a:chExt cx="5784" cy="1881"/>
          </a:xfrm>
        </p:grpSpPr>
        <p:sp>
          <p:nvSpPr>
            <p:cNvPr id="72" name="矩形 71"/>
            <p:cNvSpPr/>
            <p:nvPr/>
          </p:nvSpPr>
          <p:spPr>
            <a:xfrm>
              <a:off x="12891" y="7982"/>
              <a:ext cx="257" cy="616"/>
            </a:xfrm>
            <a:prstGeom prst="rect">
              <a:avLst/>
            </a:prstGeom>
            <a:gradFill>
              <a:gsLst>
                <a:gs pos="100000">
                  <a:srgbClr val="3368FF"/>
                </a:gs>
                <a:gs pos="0">
                  <a:srgbClr val="B3D4FE"/>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3" name="矩形 72"/>
            <p:cNvSpPr/>
            <p:nvPr/>
          </p:nvSpPr>
          <p:spPr>
            <a:xfrm>
              <a:off x="13205" y="7982"/>
              <a:ext cx="2380" cy="616"/>
            </a:xfrm>
            <a:prstGeom prst="rect">
              <a:avLst/>
            </a:prstGeom>
            <a:solidFill>
              <a:srgbClr val="3368FF">
                <a:alpha val="1000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cs typeface="微软雅黑"/>
                  <a:sym typeface="微软雅黑"/>
                  <a:latin typeface="微软雅黑"/>
                  <a:ea typeface="微软雅黑"/>
                </a:rPr>
                <a:t>互动体验</a:t>
              </a:r>
              <a:endParaRPr lang="zh-CN" altLang="en-US" sz="1400" b="1">
                <a:solidFill>
                  <a:srgbClr val="383838"/>
                </a:solidFill>
                <a:cs typeface="微软雅黑"/>
                <a:sym typeface="微软雅黑"/>
                <a:latin typeface="微软雅黑"/>
                <a:ea typeface="微软雅黑"/>
              </a:endParaRPr>
            </a:p>
          </p:txBody>
        </p:sp>
        <p:sp>
          <p:nvSpPr>
            <p:cNvPr id="127" name="文本框 126"/>
            <p:cNvSpPr txBox="1"/>
            <p:nvPr/>
          </p:nvSpPr>
          <p:spPr>
            <a:xfrm>
              <a:off x="12718" y="8735"/>
              <a:ext cx="5784" cy="1128"/>
            </a:xfrm>
            <a:prstGeom prst="rect">
              <a:avLst/>
            </a:prstGeom>
            <a:noFill/>
          </p:spPr>
          <p:txBody>
            <a:bodyPr wrap="square" rtlCol="0">
              <a:noAutofit/>
            </a:bodyPr>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通过线上妈妈社群</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线下亲子活动，让核心用户（如育儿专家用户）成为内容共创者，实现价值裂变。</a:t>
              </a:r>
              <a:endParaRPr lang="zh-CN" altLang="en-US" sz="1200">
                <a:solidFill>
                  <a:srgbClr val="383838"/>
                </a:solidFill>
                <a:latin typeface="微软雅黑"/>
                <a:ea typeface="微软雅黑"/>
                <a:cs typeface="微软雅黑"/>
              </a:endParaRPr>
            </a:p>
            <a:p>
              <a:pPr indent="0">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场景：</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社群达人妈妈</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a:t>
              </a:r>
              <a:endParaRPr lang="zh-CN" altLang="en-US" sz="1200">
                <a:solidFill>
                  <a:srgbClr val="383838"/>
                </a:solidFill>
                <a:latin typeface="微软雅黑"/>
                <a:ea typeface="微软雅黑"/>
                <a:cs typeface="微软雅黑"/>
              </a:endParaRPr>
            </a:p>
          </p:txBody>
        </p:sp>
      </p:grpSp>
      <p:cxnSp>
        <p:nvCxnSpPr>
          <p:cNvPr id="131" name="肘形连接符 130"/>
          <p:cNvCxnSpPr/>
          <p:nvPr/>
        </p:nvCxnSpPr>
        <p:spPr>
          <a:xfrm rot="10800000" flipV="1">
            <a:off x="8354695" y="2711450"/>
            <a:ext cx="17780" cy="1306195"/>
          </a:xfrm>
          <a:prstGeom prst="bentConnector3">
            <a:avLst>
              <a:gd name="adj1" fmla="val 1439286"/>
            </a:avLst>
          </a:prstGeom>
          <a:ln>
            <a:solidFill>
              <a:srgbClr val="3368FF"/>
            </a:solidFill>
            <a:tailEnd type="arrow"/>
          </a:ln>
        </p:spPr>
        <p:style>
          <a:lnRef idx="2">
            <a:srgbClr val="0042FF"/>
          </a:lnRef>
          <a:fillRef idx="0">
            <a:srgbClr val="FFFFFF"/>
          </a:fillRef>
          <a:effectRef idx="0">
            <a:srgbClr val="FFFFFF"/>
          </a:effectRef>
          <a:fontRef idx="minor">
            <a:srgbClr val="383838"/>
          </a:fontRef>
        </p:style>
      </p:cxnSp>
      <p:cxnSp>
        <p:nvCxnSpPr>
          <p:cNvPr id="132" name="肘形连接符 131"/>
          <p:cNvCxnSpPr/>
          <p:nvPr/>
        </p:nvCxnSpPr>
        <p:spPr>
          <a:xfrm rot="10800000" flipH="1" flipV="1">
            <a:off x="8336280" y="4254500"/>
            <a:ext cx="26035" cy="1242695"/>
          </a:xfrm>
          <a:prstGeom prst="bentConnector3">
            <a:avLst>
              <a:gd name="adj1" fmla="val -914634"/>
            </a:avLst>
          </a:prstGeom>
          <a:ln>
            <a:solidFill>
              <a:srgbClr val="3368FF"/>
            </a:solidFill>
            <a:tailEnd type="arrow"/>
          </a:ln>
        </p:spPr>
        <p:style>
          <a:lnRef idx="2">
            <a:srgbClr val="0042FF"/>
          </a:lnRef>
          <a:fillRef idx="0">
            <a:srgbClr val="FFFFFF"/>
          </a:fillRef>
          <a:effectRef idx="0">
            <a:srgbClr val="FFFFFF"/>
          </a:effectRef>
          <a:fontRef idx="minor">
            <a:srgbClr val="383838"/>
          </a:fontRef>
        </p:style>
      </p:cxn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p:cNvSpPr/>
          <p:nvPr/>
        </p:nvSpPr>
        <p:spPr>
          <a:xfrm>
            <a:off x="635000" y="1061720"/>
            <a:ext cx="10861040" cy="908685"/>
          </a:xfrm>
          <a:prstGeom prst="rect">
            <a:avLst/>
          </a:prstGeom>
          <a:gradFill>
            <a:gsLst>
              <a:gs pos="0">
                <a:srgbClr val="FFFFFF">
                  <a:alpha val="70000"/>
                </a:srgbClr>
              </a:gs>
              <a:gs pos="100000">
                <a:srgbClr val="FFFFFF">
                  <a:alpha val="0"/>
                </a:srgbClr>
              </a:gs>
            </a:gsLst>
            <a:lin ang="5400000" scaled="0"/>
          </a:gra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zh-CN" altLang="en-US" sz="2500">
                <a:solidFill>
                  <a:srgbClr val="383838"/>
                </a:solidFill>
                <a:effectLst/>
                <a:latin typeface="微软雅黑"/>
                <a:ea typeface="微软雅黑"/>
                <a:cs typeface="微软雅黑"/>
              </a:rPr>
              <a:t>客户引流传播路径图</a:t>
            </a:r>
            <a:r>
              <a:rPr sz="2500">
                <a:solidFill>
                  <a:srgbClr val="383838"/>
                </a:solidFill>
                <a:effectLst/>
                <a:latin typeface="微软雅黑"/>
                <a:ea typeface="微软雅黑"/>
                <a:cs typeface="微软雅黑"/>
              </a:rPr>
              <a:t> </a:t>
            </a:r>
            <a:endParaRPr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7" name="组合 6"/>
          <p:cNvGrpSpPr/>
          <p:nvPr>
            <p:custDataLst>
              <p:tags r:id="rId3"/>
            </p:custDataLst>
          </p:nvPr>
        </p:nvGrpSpPr>
        <p:grpSpPr>
          <a:xfrm>
            <a:off x="949325" y="1291590"/>
            <a:ext cx="1498600" cy="530860"/>
            <a:chOff x="1219" y="1552"/>
            <a:chExt cx="2360" cy="836"/>
          </a:xfrm>
        </p:grpSpPr>
        <p:sp>
          <p:nvSpPr>
            <p:cNvPr id="4" name="文本框 3"/>
            <p:cNvSpPr txBox="1"/>
            <p:nvPr>
              <p:custDataLst>
                <p:tags r:id="rId4"/>
              </p:custDataLst>
            </p:nvPr>
          </p:nvSpPr>
          <p:spPr>
            <a:xfrm>
              <a:off x="1599" y="1552"/>
              <a:ext cx="1600"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引流</a:t>
              </a:r>
              <a:endParaRPr lang="zh-CN" altLang="en-US" sz="1400" b="1">
                <a:solidFill>
                  <a:srgbClr val="383838"/>
                </a:solidFill>
                <a:latin typeface="微软雅黑"/>
                <a:ea typeface="微软雅黑"/>
                <a:cs typeface="微软雅黑"/>
              </a:endParaRPr>
            </a:p>
          </p:txBody>
        </p:sp>
        <p:sp>
          <p:nvSpPr>
            <p:cNvPr id="6" name="文本框 5"/>
            <p:cNvSpPr txBox="1"/>
            <p:nvPr>
              <p:custDataLst>
                <p:tags r:id="rId5"/>
              </p:custDataLst>
            </p:nvPr>
          </p:nvSpPr>
          <p:spPr>
            <a:xfrm>
              <a:off x="1219" y="1905"/>
              <a:ext cx="2360" cy="483"/>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Acquisition</a:t>
              </a:r>
              <a:endParaRPr lang="en-US" altLang="zh-CN" sz="1400" b="1">
                <a:solidFill>
                  <a:srgbClr val="383838"/>
                </a:solidFill>
                <a:latin typeface="微软雅黑"/>
                <a:ea typeface="微软雅黑"/>
                <a:cs typeface="微软雅黑"/>
              </a:endParaRPr>
            </a:p>
          </p:txBody>
        </p:sp>
      </p:grpSp>
      <p:grpSp>
        <p:nvGrpSpPr>
          <p:cNvPr id="8" name="组合 7"/>
          <p:cNvGrpSpPr/>
          <p:nvPr>
            <p:custDataLst>
              <p:tags r:id="rId6"/>
            </p:custDataLst>
          </p:nvPr>
        </p:nvGrpSpPr>
        <p:grpSpPr>
          <a:xfrm>
            <a:off x="3110230" y="1291590"/>
            <a:ext cx="1498600" cy="530860"/>
            <a:chOff x="1219" y="1552"/>
            <a:chExt cx="2360" cy="836"/>
          </a:xfrm>
        </p:grpSpPr>
        <p:sp>
          <p:nvSpPr>
            <p:cNvPr id="9" name="文本框 8"/>
            <p:cNvSpPr txBox="1"/>
            <p:nvPr>
              <p:custDataLst>
                <p:tags r:id="rId7"/>
              </p:custDataLst>
            </p:nvPr>
          </p:nvSpPr>
          <p:spPr>
            <a:xfrm>
              <a:off x="1599" y="1552"/>
              <a:ext cx="1600"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激活</a:t>
              </a:r>
              <a:endParaRPr lang="zh-CN" altLang="en-US" sz="1400" b="1">
                <a:solidFill>
                  <a:srgbClr val="383838"/>
                </a:solidFill>
                <a:latin typeface="微软雅黑"/>
                <a:ea typeface="微软雅黑"/>
                <a:cs typeface="微软雅黑"/>
              </a:endParaRPr>
            </a:p>
          </p:txBody>
        </p:sp>
        <p:sp>
          <p:nvSpPr>
            <p:cNvPr id="11" name="文本框 10"/>
            <p:cNvSpPr txBox="1"/>
            <p:nvPr>
              <p:custDataLst>
                <p:tags r:id="rId8"/>
              </p:custDataLst>
            </p:nvPr>
          </p:nvSpPr>
          <p:spPr>
            <a:xfrm>
              <a:off x="1219" y="1905"/>
              <a:ext cx="2360" cy="483"/>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Active</a:t>
              </a:r>
              <a:endParaRPr lang="en-US" altLang="zh-CN" sz="1400" b="1">
                <a:solidFill>
                  <a:srgbClr val="383838"/>
                </a:solidFill>
                <a:latin typeface="微软雅黑"/>
                <a:ea typeface="微软雅黑"/>
                <a:cs typeface="微软雅黑"/>
              </a:endParaRPr>
            </a:p>
          </p:txBody>
        </p:sp>
      </p:grpSp>
      <p:grpSp>
        <p:nvGrpSpPr>
          <p:cNvPr id="12" name="组合 11"/>
          <p:cNvGrpSpPr/>
          <p:nvPr>
            <p:custDataLst>
              <p:tags r:id="rId9"/>
            </p:custDataLst>
          </p:nvPr>
        </p:nvGrpSpPr>
        <p:grpSpPr>
          <a:xfrm>
            <a:off x="5271135" y="1291590"/>
            <a:ext cx="1498600" cy="530860"/>
            <a:chOff x="1219" y="1552"/>
            <a:chExt cx="2360" cy="836"/>
          </a:xfrm>
        </p:grpSpPr>
        <p:sp>
          <p:nvSpPr>
            <p:cNvPr id="13" name="文本框 12"/>
            <p:cNvSpPr txBox="1"/>
            <p:nvPr>
              <p:custDataLst>
                <p:tags r:id="rId10"/>
              </p:custDataLst>
            </p:nvPr>
          </p:nvSpPr>
          <p:spPr>
            <a:xfrm>
              <a:off x="1599" y="1552"/>
              <a:ext cx="1600"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留存</a:t>
              </a:r>
              <a:endParaRPr lang="zh-CN" altLang="en-US" sz="1400" b="1">
                <a:solidFill>
                  <a:srgbClr val="383838"/>
                </a:solidFill>
                <a:latin typeface="微软雅黑"/>
                <a:ea typeface="微软雅黑"/>
                <a:cs typeface="微软雅黑"/>
              </a:endParaRPr>
            </a:p>
          </p:txBody>
        </p:sp>
        <p:sp>
          <p:nvSpPr>
            <p:cNvPr id="14" name="文本框 13"/>
            <p:cNvSpPr txBox="1"/>
            <p:nvPr>
              <p:custDataLst>
                <p:tags r:id="rId11"/>
              </p:custDataLst>
            </p:nvPr>
          </p:nvSpPr>
          <p:spPr>
            <a:xfrm>
              <a:off x="1219" y="1905"/>
              <a:ext cx="2360" cy="483"/>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Retention</a:t>
              </a:r>
              <a:endParaRPr lang="en-US" altLang="zh-CN" sz="1400" b="1">
                <a:solidFill>
                  <a:srgbClr val="383838"/>
                </a:solidFill>
                <a:latin typeface="微软雅黑"/>
                <a:ea typeface="微软雅黑"/>
                <a:cs typeface="微软雅黑"/>
              </a:endParaRPr>
            </a:p>
          </p:txBody>
        </p:sp>
      </p:grpSp>
      <p:grpSp>
        <p:nvGrpSpPr>
          <p:cNvPr id="17" name="组合 16"/>
          <p:cNvGrpSpPr/>
          <p:nvPr>
            <p:custDataLst>
              <p:tags r:id="rId12"/>
            </p:custDataLst>
          </p:nvPr>
        </p:nvGrpSpPr>
        <p:grpSpPr>
          <a:xfrm>
            <a:off x="7432040" y="1291590"/>
            <a:ext cx="1498600" cy="530860"/>
            <a:chOff x="1219" y="1552"/>
            <a:chExt cx="2360" cy="836"/>
          </a:xfrm>
        </p:grpSpPr>
        <p:sp>
          <p:nvSpPr>
            <p:cNvPr id="18" name="文本框 17"/>
            <p:cNvSpPr txBox="1"/>
            <p:nvPr>
              <p:custDataLst>
                <p:tags r:id="rId13"/>
              </p:custDataLst>
            </p:nvPr>
          </p:nvSpPr>
          <p:spPr>
            <a:xfrm>
              <a:off x="1599" y="1552"/>
              <a:ext cx="1600"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收入</a:t>
              </a:r>
              <a:endParaRPr lang="zh-CN" altLang="en-US" sz="1400" b="1">
                <a:solidFill>
                  <a:srgbClr val="383838"/>
                </a:solidFill>
                <a:latin typeface="微软雅黑"/>
                <a:ea typeface="微软雅黑"/>
                <a:cs typeface="微软雅黑"/>
              </a:endParaRPr>
            </a:p>
          </p:txBody>
        </p:sp>
        <p:sp>
          <p:nvSpPr>
            <p:cNvPr id="19" name="文本框 18"/>
            <p:cNvSpPr txBox="1"/>
            <p:nvPr>
              <p:custDataLst>
                <p:tags r:id="rId14"/>
              </p:custDataLst>
            </p:nvPr>
          </p:nvSpPr>
          <p:spPr>
            <a:xfrm>
              <a:off x="1219" y="1905"/>
              <a:ext cx="2360" cy="483"/>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Revenue</a:t>
              </a:r>
              <a:endParaRPr lang="en-US" altLang="zh-CN" sz="1400" b="1">
                <a:solidFill>
                  <a:srgbClr val="383838"/>
                </a:solidFill>
                <a:latin typeface="微软雅黑"/>
                <a:ea typeface="微软雅黑"/>
                <a:cs typeface="微软雅黑"/>
              </a:endParaRPr>
            </a:p>
          </p:txBody>
        </p:sp>
      </p:grpSp>
      <p:grpSp>
        <p:nvGrpSpPr>
          <p:cNvPr id="20" name="组合 19"/>
          <p:cNvGrpSpPr/>
          <p:nvPr>
            <p:custDataLst>
              <p:tags r:id="rId15"/>
            </p:custDataLst>
          </p:nvPr>
        </p:nvGrpSpPr>
        <p:grpSpPr>
          <a:xfrm>
            <a:off x="9592945" y="1291590"/>
            <a:ext cx="1498600" cy="530860"/>
            <a:chOff x="1219" y="1552"/>
            <a:chExt cx="2360" cy="836"/>
          </a:xfrm>
        </p:grpSpPr>
        <p:sp>
          <p:nvSpPr>
            <p:cNvPr id="21" name="文本框 20"/>
            <p:cNvSpPr txBox="1"/>
            <p:nvPr>
              <p:custDataLst>
                <p:tags r:id="rId16"/>
              </p:custDataLst>
            </p:nvPr>
          </p:nvSpPr>
          <p:spPr>
            <a:xfrm>
              <a:off x="1599" y="1552"/>
              <a:ext cx="1600"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传播</a:t>
              </a:r>
              <a:endParaRPr lang="zh-CN" altLang="en-US" sz="1400" b="1">
                <a:solidFill>
                  <a:srgbClr val="383838"/>
                </a:solidFill>
                <a:latin typeface="微软雅黑"/>
                <a:ea typeface="微软雅黑"/>
                <a:cs typeface="微软雅黑"/>
              </a:endParaRPr>
            </a:p>
          </p:txBody>
        </p:sp>
        <p:sp>
          <p:nvSpPr>
            <p:cNvPr id="22" name="文本框 21"/>
            <p:cNvSpPr txBox="1"/>
            <p:nvPr>
              <p:custDataLst>
                <p:tags r:id="rId17"/>
              </p:custDataLst>
            </p:nvPr>
          </p:nvSpPr>
          <p:spPr>
            <a:xfrm>
              <a:off x="1219" y="1905"/>
              <a:ext cx="2360" cy="483"/>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383838"/>
                  </a:solidFill>
                  <a:latin typeface="微软雅黑"/>
                  <a:ea typeface="微软雅黑"/>
                  <a:cs typeface="微软雅黑"/>
                </a:rPr>
                <a:t>Referral</a:t>
              </a:r>
              <a:endParaRPr lang="en-US" altLang="zh-CN" sz="1400" b="1">
                <a:solidFill>
                  <a:srgbClr val="383838"/>
                </a:solidFill>
                <a:latin typeface="微软雅黑"/>
                <a:ea typeface="微软雅黑"/>
                <a:cs typeface="微软雅黑"/>
              </a:endParaRPr>
            </a:p>
          </p:txBody>
        </p:sp>
      </p:grpSp>
      <p:grpSp>
        <p:nvGrpSpPr>
          <p:cNvPr id="29" name="组合 28"/>
          <p:cNvGrpSpPr/>
          <p:nvPr>
            <p:custDataLst>
              <p:tags r:id="rId18"/>
            </p:custDataLst>
          </p:nvPr>
        </p:nvGrpSpPr>
        <p:grpSpPr>
          <a:xfrm>
            <a:off x="2165350" y="1421130"/>
            <a:ext cx="916940" cy="185420"/>
            <a:chOff x="6145" y="2623"/>
            <a:chExt cx="1444" cy="292"/>
          </a:xfrm>
          <a:gradFill>
            <a:gsLst>
              <a:gs pos="0">
                <a:srgbClr val="B3D4FE"/>
              </a:gs>
              <a:gs pos="100000">
                <a:srgbClr val="B3D4FE">
                  <a:alpha val="10000"/>
                </a:srgbClr>
              </a:gs>
            </a:gsLst>
            <a:lin ang="10800000" scaled="0"/>
          </a:gradFill>
        </p:grpSpPr>
        <p:sp>
          <p:nvSpPr>
            <p:cNvPr id="30" name="燕尾形 29"/>
            <p:cNvSpPr/>
            <p:nvPr>
              <p:custDataLst>
                <p:tags r:id="rId19"/>
              </p:custDataLst>
            </p:nvPr>
          </p:nvSpPr>
          <p:spPr>
            <a:xfrm>
              <a:off x="6879" y="2623"/>
              <a:ext cx="710"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31" name="燕尾形 30"/>
            <p:cNvSpPr/>
            <p:nvPr>
              <p:custDataLst>
                <p:tags r:id="rId20"/>
              </p:custDataLst>
            </p:nvPr>
          </p:nvSpPr>
          <p:spPr>
            <a:xfrm>
              <a:off x="6425" y="2623"/>
              <a:ext cx="417"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32" name="燕尾形 31"/>
            <p:cNvSpPr/>
            <p:nvPr>
              <p:custDataLst>
                <p:tags r:id="rId21"/>
              </p:custDataLst>
            </p:nvPr>
          </p:nvSpPr>
          <p:spPr>
            <a:xfrm>
              <a:off x="6145" y="2623"/>
              <a:ext cx="273"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grpSp>
      <p:sp>
        <p:nvSpPr>
          <p:cNvPr id="46" name="梯形 45"/>
          <p:cNvSpPr/>
          <p:nvPr/>
        </p:nvSpPr>
        <p:spPr>
          <a:xfrm flipV="1">
            <a:off x="570230" y="5408295"/>
            <a:ext cx="10925175" cy="970915"/>
          </a:xfrm>
          <a:prstGeom prst="trapezoid">
            <a:avLst>
              <a:gd name="adj" fmla="val 77590"/>
            </a:avLst>
          </a:prstGeom>
          <a:gradFill>
            <a:gsLst>
              <a:gs pos="0">
                <a:srgbClr val="E6E6E6"/>
              </a:gs>
              <a:gs pos="100000">
                <a:srgbClr val="E6E6E6">
                  <a:alpha val="0"/>
                </a:srgbClr>
              </a:gs>
            </a:gsLst>
            <a:lin ang="5400000" scaled="0"/>
          </a:gradFill>
          <a:ln>
            <a:gradFill>
              <a:gsLst>
                <a:gs pos="0">
                  <a:srgbClr val="0042FF"/>
                </a:gs>
                <a:gs pos="94000">
                  <a:srgbClr val="0042FF">
                    <a:alpha val="0"/>
                  </a:srgbClr>
                </a:gs>
              </a:gsLst>
              <a:lin ang="5400000" scaled="1"/>
            </a:gra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60" name="梯形 159"/>
          <p:cNvSpPr/>
          <p:nvPr/>
        </p:nvSpPr>
        <p:spPr>
          <a:xfrm rot="5400000">
            <a:off x="905510" y="1795145"/>
            <a:ext cx="3350895" cy="3891915"/>
          </a:xfrm>
          <a:prstGeom prst="trapezoid">
            <a:avLst>
              <a:gd name="adj" fmla="val 33030"/>
            </a:avLst>
          </a:prstGeom>
          <a:gradFill>
            <a:gsLst>
              <a:gs pos="100000">
                <a:srgbClr val="3368FF">
                  <a:alpha val="20000"/>
                </a:srgbClr>
              </a:gs>
              <a:gs pos="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7" name="梯形 46"/>
          <p:cNvSpPr/>
          <p:nvPr/>
        </p:nvSpPr>
        <p:spPr>
          <a:xfrm rot="16200000" flipH="1">
            <a:off x="8180705" y="1949450"/>
            <a:ext cx="3098165" cy="3531870"/>
          </a:xfrm>
          <a:prstGeom prst="trapezoid">
            <a:avLst>
              <a:gd name="adj" fmla="val 30364"/>
            </a:avLst>
          </a:prstGeom>
          <a:gradFill>
            <a:gsLst>
              <a:gs pos="100000">
                <a:srgbClr val="3368FF">
                  <a:alpha val="20000"/>
                </a:srgbClr>
              </a:gs>
              <a:gs pos="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8" name="圆角矩形 47"/>
          <p:cNvSpPr/>
          <p:nvPr/>
        </p:nvSpPr>
        <p:spPr>
          <a:xfrm>
            <a:off x="3288030" y="5498465"/>
            <a:ext cx="1242695" cy="337185"/>
          </a:xfrm>
          <a:prstGeom prst="roundRect">
            <a:avLst/>
          </a:prstGeom>
          <a:solidFill>
            <a:srgbClr val="FFFFFF"/>
          </a:solidFill>
          <a:ln w="19050"/>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0042FF"/>
                </a:solidFill>
                <a:latin typeface="微软雅黑"/>
                <a:ea typeface="微软雅黑"/>
                <a:cs typeface="微软雅黑"/>
              </a:rPr>
              <a:t>汇集数据</a:t>
            </a:r>
            <a:endParaRPr lang="zh-CN" altLang="en-US" sz="1400">
              <a:solidFill>
                <a:srgbClr val="0042FF"/>
              </a:solidFill>
              <a:latin typeface="微软雅黑"/>
              <a:ea typeface="微软雅黑"/>
              <a:cs typeface="微软雅黑"/>
            </a:endParaRPr>
          </a:p>
        </p:txBody>
      </p:sp>
      <p:sp>
        <p:nvSpPr>
          <p:cNvPr id="49" name="圆角矩形 48"/>
          <p:cNvSpPr/>
          <p:nvPr/>
        </p:nvSpPr>
        <p:spPr>
          <a:xfrm>
            <a:off x="4820285" y="5498465"/>
            <a:ext cx="1242695" cy="337185"/>
          </a:xfrm>
          <a:prstGeom prst="roundRect">
            <a:avLst/>
          </a:prstGeom>
          <a:solidFill>
            <a:srgbClr val="FFFFFF"/>
          </a:solidFill>
          <a:ln w="19050"/>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latin typeface="微软雅黑"/>
                <a:ea typeface="微软雅黑"/>
                <a:cs typeface="微软雅黑"/>
                <a:sym typeface="微软雅黑"/>
              </a:rPr>
              <a:t>用户分析</a:t>
            </a:r>
            <a:endParaRPr lang="zh-CN" altLang="en-US" sz="1400">
              <a:solidFill>
                <a:srgbClr val="0042FF"/>
              </a:solidFill>
              <a:latin typeface="微软雅黑"/>
              <a:ea typeface="微软雅黑"/>
              <a:cs typeface="微软雅黑"/>
              <a:sym typeface="微软雅黑"/>
            </a:endParaRPr>
          </a:p>
        </p:txBody>
      </p:sp>
      <p:sp>
        <p:nvSpPr>
          <p:cNvPr id="50" name="圆角矩形 49"/>
          <p:cNvSpPr/>
          <p:nvPr/>
        </p:nvSpPr>
        <p:spPr>
          <a:xfrm>
            <a:off x="6352540" y="5497830"/>
            <a:ext cx="1242695" cy="337820"/>
          </a:xfrm>
          <a:prstGeom prst="roundRect">
            <a:avLst/>
          </a:prstGeom>
          <a:solidFill>
            <a:srgbClr val="FFFFFF"/>
          </a:solidFill>
          <a:ln w="19050"/>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latin typeface="微软雅黑"/>
                <a:ea typeface="微软雅黑"/>
                <a:cs typeface="微软雅黑"/>
                <a:sym typeface="微软雅黑"/>
              </a:rPr>
              <a:t>数智决策</a:t>
            </a:r>
            <a:endParaRPr lang="zh-CN" altLang="en-US" sz="1400">
              <a:solidFill>
                <a:srgbClr val="0042FF"/>
              </a:solidFill>
              <a:latin typeface="微软雅黑"/>
              <a:ea typeface="微软雅黑"/>
              <a:cs typeface="微软雅黑"/>
              <a:sym typeface="微软雅黑"/>
            </a:endParaRPr>
          </a:p>
        </p:txBody>
      </p:sp>
      <p:sp>
        <p:nvSpPr>
          <p:cNvPr id="51" name="圆角矩形 50"/>
          <p:cNvSpPr/>
          <p:nvPr/>
        </p:nvSpPr>
        <p:spPr>
          <a:xfrm>
            <a:off x="7884795" y="5498465"/>
            <a:ext cx="1242695" cy="337185"/>
          </a:xfrm>
          <a:prstGeom prst="roundRect">
            <a:avLst/>
          </a:prstGeom>
          <a:solidFill>
            <a:srgbClr val="FFFFFF"/>
          </a:solidFill>
          <a:ln w="19050"/>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latin typeface="微软雅黑"/>
                <a:ea typeface="微软雅黑"/>
                <a:cs typeface="微软雅黑"/>
                <a:sym typeface="微软雅黑"/>
              </a:rPr>
              <a:t>统一运营</a:t>
            </a:r>
            <a:endParaRPr lang="zh-CN" altLang="en-US" sz="1400">
              <a:solidFill>
                <a:srgbClr val="0042FF"/>
              </a:solidFill>
              <a:latin typeface="微软雅黑"/>
              <a:ea typeface="微软雅黑"/>
              <a:cs typeface="微软雅黑"/>
              <a:sym typeface="微软雅黑"/>
            </a:endParaRPr>
          </a:p>
        </p:txBody>
      </p:sp>
      <p:sp>
        <p:nvSpPr>
          <p:cNvPr id="52" name="圆角矩形 51"/>
          <p:cNvSpPr/>
          <p:nvPr/>
        </p:nvSpPr>
        <p:spPr>
          <a:xfrm>
            <a:off x="9417050" y="5498465"/>
            <a:ext cx="1242695" cy="337185"/>
          </a:xfrm>
          <a:prstGeom prst="roundRect">
            <a:avLst/>
          </a:prstGeom>
          <a:solidFill>
            <a:srgbClr val="FFFFFF"/>
          </a:solidFill>
          <a:ln w="19050"/>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0042FF"/>
                </a:solidFill>
                <a:latin typeface="微软雅黑"/>
                <a:ea typeface="微软雅黑"/>
                <a:cs typeface="微软雅黑"/>
                <a:sym typeface="微软雅黑"/>
              </a:rPr>
              <a:t>多点管理</a:t>
            </a:r>
            <a:endParaRPr lang="zh-CN" altLang="en-US" sz="1400">
              <a:solidFill>
                <a:srgbClr val="0042FF"/>
              </a:solidFill>
              <a:latin typeface="微软雅黑"/>
              <a:ea typeface="微软雅黑"/>
              <a:cs typeface="微软雅黑"/>
              <a:sym typeface="微软雅黑"/>
            </a:endParaRPr>
          </a:p>
        </p:txBody>
      </p:sp>
      <p:sp>
        <p:nvSpPr>
          <p:cNvPr id="53" name="左中括号 52"/>
          <p:cNvSpPr/>
          <p:nvPr/>
        </p:nvSpPr>
        <p:spPr>
          <a:xfrm rot="16200000" flipV="1">
            <a:off x="4988560" y="4206875"/>
            <a:ext cx="120650" cy="3521710"/>
          </a:xfrm>
          <a:prstGeom prst="leftBracket">
            <a:avLst>
              <a:gd name="adj" fmla="val 76842"/>
            </a:avLst>
          </a:prstGeom>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4" name="左中括号 53"/>
          <p:cNvSpPr/>
          <p:nvPr/>
        </p:nvSpPr>
        <p:spPr>
          <a:xfrm rot="16200000" flipV="1">
            <a:off x="8786495" y="4213225"/>
            <a:ext cx="120650" cy="3521710"/>
          </a:xfrm>
          <a:prstGeom prst="leftBracket">
            <a:avLst>
              <a:gd name="adj" fmla="val 76842"/>
            </a:avLst>
          </a:prstGeom>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5" name="平行四边形 54"/>
          <p:cNvSpPr/>
          <p:nvPr/>
        </p:nvSpPr>
        <p:spPr>
          <a:xfrm>
            <a:off x="1691640" y="5549265"/>
            <a:ext cx="1277620" cy="485140"/>
          </a:xfrm>
          <a:prstGeom prst="parallelogram">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8" name="任意多边形 57"/>
          <p:cNvSpPr/>
          <p:nvPr/>
        </p:nvSpPr>
        <p:spPr>
          <a:xfrm rot="240000">
            <a:off x="1948815" y="2305050"/>
            <a:ext cx="2494915" cy="692150"/>
          </a:xfrm>
          <a:custGeom>
            <a:avLst/>
            <a:gdLst>
              <a:gd name="connisteX0" fmla="*/ 0 w 2533650"/>
              <a:gd name="connsiteY0" fmla="*/ 0 h 692150"/>
              <a:gd name="connisteX1" fmla="*/ 1479550 w 2533650"/>
              <a:gd name="connsiteY1" fmla="*/ 463550 h 692150"/>
              <a:gd name="connisteX2" fmla="*/ 2533650 w 2533650"/>
              <a:gd name="connsiteY2" fmla="*/ 692150 h 692150"/>
            </a:gdLst>
            <a:ahLst/>
            <a:cxnLst>
              <a:cxn ang="0">
                <a:pos x="connisteX0" y="connsiteY0"/>
              </a:cxn>
              <a:cxn ang="0">
                <a:pos x="connisteX1" y="connsiteY1"/>
              </a:cxn>
              <a:cxn ang="0">
                <a:pos x="connisteX2" y="connsiteY2"/>
              </a:cxn>
            </a:cxnLst>
            <a:rect l="l" t="t" r="r" b="b"/>
            <a:pathLst>
              <a:path w="2533650" h="692150">
                <a:moveTo>
                  <a:pt x="0" y="0"/>
                </a:moveTo>
                <a:cubicBezTo>
                  <a:pt x="274955" y="88265"/>
                  <a:pt x="972820" y="325120"/>
                  <a:pt x="1479550" y="463550"/>
                </a:cubicBezTo>
                <a:cubicBezTo>
                  <a:pt x="1986280" y="601980"/>
                  <a:pt x="2352675" y="655955"/>
                  <a:pt x="2533650" y="692150"/>
                </a:cubicBezTo>
              </a:path>
            </a:pathLst>
          </a:custGeom>
          <a:noFill/>
          <a:ln w="25400">
            <a:gradFill>
              <a:gsLst>
                <a:gs pos="0">
                  <a:srgbClr val="3368FF">
                    <a:alpha val="0"/>
                  </a:srgbClr>
                </a:gs>
                <a:gs pos="100000">
                  <a:srgbClr val="3368FF"/>
                </a:gs>
              </a:gsLst>
              <a:lin ang="5400000" scaled="1"/>
            </a:gradFill>
            <a:headEnd type="none"/>
            <a:tailEnd type="triangle" w="lg" len="me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9" name="任意多边形 58"/>
          <p:cNvSpPr/>
          <p:nvPr/>
        </p:nvSpPr>
        <p:spPr>
          <a:xfrm rot="21420000" flipV="1">
            <a:off x="2056765" y="4455160"/>
            <a:ext cx="2453640" cy="692150"/>
          </a:xfrm>
          <a:custGeom>
            <a:avLst/>
            <a:gdLst>
              <a:gd name="connisteX0" fmla="*/ 0 w 2533650"/>
              <a:gd name="connsiteY0" fmla="*/ 0 h 692150"/>
              <a:gd name="connisteX1" fmla="*/ 1479550 w 2533650"/>
              <a:gd name="connsiteY1" fmla="*/ 463550 h 692150"/>
              <a:gd name="connisteX2" fmla="*/ 2533650 w 2533650"/>
              <a:gd name="connsiteY2" fmla="*/ 692150 h 692150"/>
            </a:gdLst>
            <a:ahLst/>
            <a:cxnLst>
              <a:cxn ang="0">
                <a:pos x="connisteX0" y="connsiteY0"/>
              </a:cxn>
              <a:cxn ang="0">
                <a:pos x="connisteX1" y="connsiteY1"/>
              </a:cxn>
              <a:cxn ang="0">
                <a:pos x="connisteX2" y="connsiteY2"/>
              </a:cxn>
            </a:cxnLst>
            <a:rect l="l" t="t" r="r" b="b"/>
            <a:pathLst>
              <a:path w="2533650" h="692150">
                <a:moveTo>
                  <a:pt x="0" y="0"/>
                </a:moveTo>
                <a:cubicBezTo>
                  <a:pt x="274955" y="88265"/>
                  <a:pt x="972820" y="325120"/>
                  <a:pt x="1479550" y="463550"/>
                </a:cubicBezTo>
                <a:cubicBezTo>
                  <a:pt x="1986280" y="601980"/>
                  <a:pt x="2352675" y="655955"/>
                  <a:pt x="2533650" y="692150"/>
                </a:cubicBezTo>
              </a:path>
            </a:pathLst>
          </a:custGeom>
          <a:noFill/>
          <a:ln w="25400">
            <a:gradFill>
              <a:gsLst>
                <a:gs pos="0">
                  <a:srgbClr val="3368FF">
                    <a:alpha val="0"/>
                  </a:srgbClr>
                </a:gs>
                <a:gs pos="100000">
                  <a:srgbClr val="3368FF"/>
                </a:gs>
              </a:gsLst>
              <a:lin ang="5400000" scaled="1"/>
            </a:gradFill>
            <a:headEnd type="none"/>
            <a:tailEnd type="triangle" w="lg" len="med"/>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0" name="任意多边形 59"/>
          <p:cNvSpPr/>
          <p:nvPr/>
        </p:nvSpPr>
        <p:spPr>
          <a:xfrm flipH="1" flipV="1">
            <a:off x="7964170" y="4406265"/>
            <a:ext cx="2533650" cy="692150"/>
          </a:xfrm>
          <a:custGeom>
            <a:avLst/>
            <a:gdLst>
              <a:gd name="connisteX0" fmla="*/ 0 w 2533650"/>
              <a:gd name="connsiteY0" fmla="*/ 0 h 692150"/>
              <a:gd name="connisteX1" fmla="*/ 1479550 w 2533650"/>
              <a:gd name="connsiteY1" fmla="*/ 463550 h 692150"/>
              <a:gd name="connisteX2" fmla="*/ 2533650 w 2533650"/>
              <a:gd name="connsiteY2" fmla="*/ 692150 h 692150"/>
            </a:gdLst>
            <a:ahLst/>
            <a:cxnLst>
              <a:cxn ang="0">
                <a:pos x="connisteX0" y="connsiteY0"/>
              </a:cxn>
              <a:cxn ang="0">
                <a:pos x="connisteX1" y="connsiteY1"/>
              </a:cxn>
              <a:cxn ang="0">
                <a:pos x="connisteX2" y="connsiteY2"/>
              </a:cxn>
            </a:cxnLst>
            <a:rect l="l" t="t" r="r" b="b"/>
            <a:pathLst>
              <a:path w="2533650" h="692150">
                <a:moveTo>
                  <a:pt x="0" y="0"/>
                </a:moveTo>
                <a:cubicBezTo>
                  <a:pt x="274955" y="88265"/>
                  <a:pt x="972820" y="325120"/>
                  <a:pt x="1479550" y="463550"/>
                </a:cubicBezTo>
                <a:cubicBezTo>
                  <a:pt x="1986280" y="601980"/>
                  <a:pt x="2352675" y="655955"/>
                  <a:pt x="2533650" y="692150"/>
                </a:cubicBezTo>
              </a:path>
            </a:pathLst>
          </a:custGeom>
          <a:noFill/>
          <a:ln w="25400">
            <a:gradFill>
              <a:gsLst>
                <a:gs pos="100000">
                  <a:srgbClr val="3368FF">
                    <a:alpha val="0"/>
                  </a:srgbClr>
                </a:gs>
                <a:gs pos="0">
                  <a:srgbClr val="3368FF"/>
                </a:gs>
              </a:gsLst>
              <a:lin ang="5400000" scaled="1"/>
            </a:gradFill>
            <a:headEnd type="triangle"/>
            <a:tailEnd type="none"/>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1" name="任意多边形 60"/>
          <p:cNvSpPr/>
          <p:nvPr/>
        </p:nvSpPr>
        <p:spPr>
          <a:xfrm flipH="1">
            <a:off x="8028305" y="2310765"/>
            <a:ext cx="2533650" cy="692150"/>
          </a:xfrm>
          <a:custGeom>
            <a:avLst/>
            <a:gdLst>
              <a:gd name="connisteX0" fmla="*/ 0 w 2533650"/>
              <a:gd name="connsiteY0" fmla="*/ 0 h 692150"/>
              <a:gd name="connisteX1" fmla="*/ 1479550 w 2533650"/>
              <a:gd name="connsiteY1" fmla="*/ 463550 h 692150"/>
              <a:gd name="connisteX2" fmla="*/ 2533650 w 2533650"/>
              <a:gd name="connsiteY2" fmla="*/ 692150 h 692150"/>
            </a:gdLst>
            <a:ahLst/>
            <a:cxnLst>
              <a:cxn ang="0">
                <a:pos x="connisteX0" y="connsiteY0"/>
              </a:cxn>
              <a:cxn ang="0">
                <a:pos x="connisteX1" y="connsiteY1"/>
              </a:cxn>
              <a:cxn ang="0">
                <a:pos x="connisteX2" y="connsiteY2"/>
              </a:cxn>
            </a:cxnLst>
            <a:rect l="l" t="t" r="r" b="b"/>
            <a:pathLst>
              <a:path w="2533650" h="692150">
                <a:moveTo>
                  <a:pt x="0" y="0"/>
                </a:moveTo>
                <a:cubicBezTo>
                  <a:pt x="274955" y="88265"/>
                  <a:pt x="972820" y="325120"/>
                  <a:pt x="1479550" y="463550"/>
                </a:cubicBezTo>
                <a:cubicBezTo>
                  <a:pt x="1986280" y="601980"/>
                  <a:pt x="2352675" y="655955"/>
                  <a:pt x="2533650" y="692150"/>
                </a:cubicBezTo>
              </a:path>
            </a:pathLst>
          </a:custGeom>
          <a:noFill/>
          <a:ln w="25400">
            <a:gradFill>
              <a:gsLst>
                <a:gs pos="100000">
                  <a:srgbClr val="3368FF">
                    <a:alpha val="0"/>
                  </a:srgbClr>
                </a:gs>
                <a:gs pos="0">
                  <a:srgbClr val="3368FF"/>
                </a:gs>
              </a:gsLst>
              <a:lin ang="5400000" scaled="1"/>
            </a:gradFill>
            <a:headEnd type="triangle"/>
            <a:tailEnd type="none"/>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3" name="圆角矩形 62"/>
          <p:cNvSpPr/>
          <p:nvPr/>
        </p:nvSpPr>
        <p:spPr>
          <a:xfrm>
            <a:off x="4543425" y="2747645"/>
            <a:ext cx="3340735" cy="2089150"/>
          </a:xfrm>
          <a:prstGeom prst="roundRect">
            <a:avLst>
              <a:gd name="adj" fmla="val 10273"/>
            </a:avLst>
          </a:prstGeom>
          <a:solidFill>
            <a:srgbClr val="FFFFFF">
              <a:alpha val="50000"/>
            </a:srgbClr>
          </a:solidFill>
          <a:ln w="19050">
            <a:solidFill>
              <a:srgbClr val="B3D4FE"/>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74" name="任意多边形 73"/>
          <p:cNvSpPr/>
          <p:nvPr/>
        </p:nvSpPr>
        <p:spPr>
          <a:xfrm>
            <a:off x="4766665" y="3121279"/>
            <a:ext cx="1273416" cy="404720"/>
          </a:xfrm>
          <a:custGeom>
            <a:avLst/>
            <a:gdLst>
              <a:gd name="adj1" fmla="val 10800000"/>
              <a:gd name="adj2" fmla="val 0"/>
              <a:gd name="adj3" fmla="val 25000"/>
              <a:gd name="stAng" fmla="pin 0 adj1 21599999"/>
              <a:gd name="istAng" fmla="pin 0 adj2 21599999"/>
              <a:gd name="a3" fmla="pin 0 adj3 50000"/>
              <a:gd name="sw11" fmla="+- istAng 0 stAng"/>
              <a:gd name="sw12" fmla="+- sw11 21600000 0"/>
              <a:gd name="swAng" fmla="?: sw11 sw11 sw12"/>
              <a:gd name="iswAng" fmla="+- 0 0 swAng"/>
              <a:gd name="wt1" fmla="sin wd2 stAng"/>
              <a:gd name="ht1" fmla="cos hd2 stAng"/>
              <a:gd name="wt3" fmla="sin wd2 istAng"/>
              <a:gd name="ht3" fmla="cos hd2 istAng"/>
              <a:gd name="dx1" fmla="cat2 wd2 ht1 wt1"/>
              <a:gd name="dy1" fmla="sat2 hd2 ht1 wt1"/>
              <a:gd name="dx3" fmla="cat2 wd2 ht3 wt3"/>
              <a:gd name="dy3" fmla="sat2 hd2 ht3 wt3"/>
              <a:gd name="x1" fmla="+- hc dx1 0"/>
              <a:gd name="y1" fmla="+- vc dy1 0"/>
              <a:gd name="x3" fmla="+- hc dx3 0"/>
              <a:gd name="y3" fmla="+- vc dy3 0"/>
              <a:gd name="dr" fmla="*/ ss a3 100000"/>
              <a:gd name="iwd2" fmla="+- wd2 0 dr"/>
              <a:gd name="ihd2" fmla="+- hd2 0 dr"/>
              <a:gd name="wt2" fmla="sin iwd2 istAng"/>
              <a:gd name="ht2" fmla="cos ihd2 istAng"/>
              <a:gd name="wt4" fmla="sin iwd2 stAng"/>
              <a:gd name="ht4" fmla="cos ihd2 stAng"/>
              <a:gd name="dx2" fmla="cat2 iwd2 ht2 wt2"/>
              <a:gd name="dy2" fmla="sat2 ihd2 ht2 wt2"/>
              <a:gd name="dx4" fmla="cat2 iwd2 ht4 wt4"/>
              <a:gd name="dy4" fmla="sat2 ihd2 ht4 wt4"/>
              <a:gd name="x2" fmla="+- hc dx2 0"/>
              <a:gd name="y2" fmla="+- vc dy2 0"/>
              <a:gd name="x4" fmla="+- hc dx4 0"/>
              <a:gd name="y4" fmla="+- vc dy4 0"/>
              <a:gd name="sw0" fmla="+- 21600000 0 stAng"/>
              <a:gd name="da1" fmla="+- swAng 0 sw0"/>
              <a:gd name="g1" fmla="max x1 x2"/>
              <a:gd name="g2" fmla="max x3 x4"/>
              <a:gd name="g3" fmla="max g1 g2"/>
              <a:gd name="ir" fmla="?: da1 r g3"/>
              <a:gd name="sw1" fmla="+- cd4 0 stAng"/>
              <a:gd name="sw2" fmla="+- 27000000 0 stAng"/>
              <a:gd name="sw3" fmla="?: sw1 sw1 sw2"/>
              <a:gd name="da2" fmla="+- swAng 0 sw3"/>
              <a:gd name="g5" fmla="max y1 y2"/>
              <a:gd name="g6" fmla="max y3 y4"/>
              <a:gd name="g7" fmla="max g5 g6"/>
              <a:gd name="ib" fmla="?: da2 b g7"/>
              <a:gd name="sw4" fmla="+- cd2 0 stAng"/>
              <a:gd name="sw5" fmla="+- 32400000 0 stAng"/>
              <a:gd name="sw6" fmla="?: sw4 sw4 sw5"/>
              <a:gd name="da3" fmla="+- swAng 0 sw6"/>
              <a:gd name="g9" fmla="min x1 x2"/>
              <a:gd name="g10" fmla="min x3 x4"/>
              <a:gd name="g11" fmla="min g9 g10"/>
              <a:gd name="il" fmla="?: da3 l g11"/>
              <a:gd name="sw7" fmla="+- 3 0 stAng"/>
              <a:gd name="sw8" fmla="+- 37800000 0 stAng"/>
              <a:gd name="sw9" fmla="?: sw7 sw7 sw8"/>
              <a:gd name="da4" fmla="+- swAng 0 sw9"/>
              <a:gd name="g13" fmla="min y1 y2"/>
              <a:gd name="g14" fmla="min y3 y4"/>
              <a:gd name="g15" fmla="min g13 g14"/>
              <a:gd name="it" fmla="?: da4 t g15"/>
              <a:gd name="x5" fmla="+/ x1 x4 2"/>
              <a:gd name="y5" fmla="+/ y1 y4 2"/>
              <a:gd name="x6" fmla="+/ x3 x2 2"/>
              <a:gd name="y6" fmla="+/ y3 y2 2"/>
              <a:gd name="cang1" fmla="+- stAng 0 cd4"/>
              <a:gd name="cang2" fmla="+- istAng cd4 0"/>
              <a:gd name="cang3" fmla="+/ cang1 cang2 2"/>
            </a:gdLst>
            <a:ahLst/>
            <a:cxnLst>
              <a:cxn ang="cang1">
                <a:pos x="x5" y="y5"/>
              </a:cxn>
              <a:cxn ang="cang2">
                <a:pos x="x6" y="y6"/>
              </a:cxn>
              <a:cxn ang="cang3">
                <a:pos x="hc" y="vc"/>
              </a:cxn>
            </a:cxnLst>
            <a:rect l="l" t="t" r="r" b="b"/>
            <a:pathLst>
              <a:path w="2005" h="637">
                <a:moveTo>
                  <a:pt x="0" y="270"/>
                </a:moveTo>
                <a:cubicBezTo>
                  <a:pt x="227" y="109"/>
                  <a:pt x="671" y="-10"/>
                  <a:pt x="937" y="1"/>
                </a:cubicBezTo>
                <a:lnTo>
                  <a:pt x="973" y="2"/>
                </a:lnTo>
                <a:lnTo>
                  <a:pt x="992" y="1"/>
                </a:lnTo>
                <a:lnTo>
                  <a:pt x="1011" y="0"/>
                </a:lnTo>
                <a:lnTo>
                  <a:pt x="1030" y="0"/>
                </a:lnTo>
                <a:cubicBezTo>
                  <a:pt x="1416" y="-5"/>
                  <a:pt x="1874" y="196"/>
                  <a:pt x="2005" y="307"/>
                </a:cubicBezTo>
                <a:lnTo>
                  <a:pt x="1532" y="637"/>
                </a:lnTo>
                <a:cubicBezTo>
                  <a:pt x="1417" y="579"/>
                  <a:pt x="1140" y="530"/>
                  <a:pt x="996" y="533"/>
                </a:cubicBezTo>
                <a:lnTo>
                  <a:pt x="988" y="533"/>
                </a:lnTo>
                <a:lnTo>
                  <a:pt x="980" y="533"/>
                </a:lnTo>
                <a:lnTo>
                  <a:pt x="973" y="533"/>
                </a:lnTo>
                <a:lnTo>
                  <a:pt x="948" y="533"/>
                </a:lnTo>
                <a:cubicBezTo>
                  <a:pt x="770" y="524"/>
                  <a:pt x="517" y="592"/>
                  <a:pt x="451" y="622"/>
                </a:cubicBezTo>
                <a:lnTo>
                  <a:pt x="0" y="270"/>
                </a:lnTo>
                <a:close/>
              </a:path>
            </a:pathLst>
          </a:custGeom>
          <a:solidFill>
            <a:srgbClr val="B3D4FE"/>
          </a:solidFill>
          <a:ln>
            <a:solidFill>
              <a:srgbClr val="FFFFFF">
                <a:alpha val="70000"/>
              </a:srgbClr>
            </a:solidFill>
            <a:prstDash val="solid"/>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外部</a:t>
            </a:r>
            <a:endParaRPr lang="zh-CN" altLang="en-US" sz="1400" b="1">
              <a:solidFill>
                <a:srgbClr val="383838"/>
              </a:solidFill>
              <a:latin typeface="微软雅黑"/>
              <a:ea typeface="微软雅黑"/>
              <a:cs typeface="微软雅黑"/>
              <a:sym typeface="微软雅黑"/>
            </a:endParaRPr>
          </a:p>
        </p:txBody>
      </p:sp>
      <p:sp>
        <p:nvSpPr>
          <p:cNvPr id="78" name="任意多边形 77"/>
          <p:cNvSpPr/>
          <p:nvPr/>
        </p:nvSpPr>
        <p:spPr>
          <a:xfrm>
            <a:off x="6422745" y="3138424"/>
            <a:ext cx="1273416" cy="404720"/>
          </a:xfrm>
          <a:custGeom>
            <a:avLst/>
            <a:gdLst>
              <a:gd name="adj1" fmla="val 10800000"/>
              <a:gd name="adj2" fmla="val 0"/>
              <a:gd name="adj3" fmla="val 25000"/>
              <a:gd name="stAng" fmla="pin 0 adj1 21599999"/>
              <a:gd name="istAng" fmla="pin 0 adj2 21599999"/>
              <a:gd name="a3" fmla="pin 0 adj3 50000"/>
              <a:gd name="sw11" fmla="+- istAng 0 stAng"/>
              <a:gd name="sw12" fmla="+- sw11 21600000 0"/>
              <a:gd name="swAng" fmla="?: sw11 sw11 sw12"/>
              <a:gd name="iswAng" fmla="+- 0 0 swAng"/>
              <a:gd name="wt1" fmla="sin wd2 stAng"/>
              <a:gd name="ht1" fmla="cos hd2 stAng"/>
              <a:gd name="wt3" fmla="sin wd2 istAng"/>
              <a:gd name="ht3" fmla="cos hd2 istAng"/>
              <a:gd name="dx1" fmla="cat2 wd2 ht1 wt1"/>
              <a:gd name="dy1" fmla="sat2 hd2 ht1 wt1"/>
              <a:gd name="dx3" fmla="cat2 wd2 ht3 wt3"/>
              <a:gd name="dy3" fmla="sat2 hd2 ht3 wt3"/>
              <a:gd name="x1" fmla="+- hc dx1 0"/>
              <a:gd name="y1" fmla="+- vc dy1 0"/>
              <a:gd name="x3" fmla="+- hc dx3 0"/>
              <a:gd name="y3" fmla="+- vc dy3 0"/>
              <a:gd name="dr" fmla="*/ ss a3 100000"/>
              <a:gd name="iwd2" fmla="+- wd2 0 dr"/>
              <a:gd name="ihd2" fmla="+- hd2 0 dr"/>
              <a:gd name="wt2" fmla="sin iwd2 istAng"/>
              <a:gd name="ht2" fmla="cos ihd2 istAng"/>
              <a:gd name="wt4" fmla="sin iwd2 stAng"/>
              <a:gd name="ht4" fmla="cos ihd2 stAng"/>
              <a:gd name="dx2" fmla="cat2 iwd2 ht2 wt2"/>
              <a:gd name="dy2" fmla="sat2 ihd2 ht2 wt2"/>
              <a:gd name="dx4" fmla="cat2 iwd2 ht4 wt4"/>
              <a:gd name="dy4" fmla="sat2 ihd2 ht4 wt4"/>
              <a:gd name="x2" fmla="+- hc dx2 0"/>
              <a:gd name="y2" fmla="+- vc dy2 0"/>
              <a:gd name="x4" fmla="+- hc dx4 0"/>
              <a:gd name="y4" fmla="+- vc dy4 0"/>
              <a:gd name="sw0" fmla="+- 21600000 0 stAng"/>
              <a:gd name="da1" fmla="+- swAng 0 sw0"/>
              <a:gd name="g1" fmla="max x1 x2"/>
              <a:gd name="g2" fmla="max x3 x4"/>
              <a:gd name="g3" fmla="max g1 g2"/>
              <a:gd name="ir" fmla="?: da1 r g3"/>
              <a:gd name="sw1" fmla="+- cd4 0 stAng"/>
              <a:gd name="sw2" fmla="+- 27000000 0 stAng"/>
              <a:gd name="sw3" fmla="?: sw1 sw1 sw2"/>
              <a:gd name="da2" fmla="+- swAng 0 sw3"/>
              <a:gd name="g5" fmla="max y1 y2"/>
              <a:gd name="g6" fmla="max y3 y4"/>
              <a:gd name="g7" fmla="max g5 g6"/>
              <a:gd name="ib" fmla="?: da2 b g7"/>
              <a:gd name="sw4" fmla="+- cd2 0 stAng"/>
              <a:gd name="sw5" fmla="+- 32400000 0 stAng"/>
              <a:gd name="sw6" fmla="?: sw4 sw4 sw5"/>
              <a:gd name="da3" fmla="+- swAng 0 sw6"/>
              <a:gd name="g9" fmla="min x1 x2"/>
              <a:gd name="g10" fmla="min x3 x4"/>
              <a:gd name="g11" fmla="min g9 g10"/>
              <a:gd name="il" fmla="?: da3 l g11"/>
              <a:gd name="sw7" fmla="+- 3 0 stAng"/>
              <a:gd name="sw8" fmla="+- 37800000 0 stAng"/>
              <a:gd name="sw9" fmla="?: sw7 sw7 sw8"/>
              <a:gd name="da4" fmla="+- swAng 0 sw9"/>
              <a:gd name="g13" fmla="min y1 y2"/>
              <a:gd name="g14" fmla="min y3 y4"/>
              <a:gd name="g15" fmla="min g13 g14"/>
              <a:gd name="it" fmla="?: da4 t g15"/>
              <a:gd name="x5" fmla="+/ x1 x4 2"/>
              <a:gd name="y5" fmla="+/ y1 y4 2"/>
              <a:gd name="x6" fmla="+/ x3 x2 2"/>
              <a:gd name="y6" fmla="+/ y3 y2 2"/>
              <a:gd name="cang1" fmla="+- stAng 0 cd4"/>
              <a:gd name="cang2" fmla="+- istAng cd4 0"/>
              <a:gd name="cang3" fmla="+/ cang1 cang2 2"/>
            </a:gdLst>
            <a:ahLst/>
            <a:cxnLst>
              <a:cxn ang="cang1">
                <a:pos x="x5" y="y5"/>
              </a:cxn>
              <a:cxn ang="cang2">
                <a:pos x="x6" y="y6"/>
              </a:cxn>
              <a:cxn ang="cang3">
                <a:pos x="hc" y="vc"/>
              </a:cxn>
            </a:cxnLst>
            <a:rect l="l" t="t" r="r" b="b"/>
            <a:pathLst>
              <a:path w="2005" h="637">
                <a:moveTo>
                  <a:pt x="0" y="270"/>
                </a:moveTo>
                <a:cubicBezTo>
                  <a:pt x="227" y="109"/>
                  <a:pt x="671" y="-10"/>
                  <a:pt x="937" y="1"/>
                </a:cubicBezTo>
                <a:lnTo>
                  <a:pt x="973" y="2"/>
                </a:lnTo>
                <a:lnTo>
                  <a:pt x="992" y="1"/>
                </a:lnTo>
                <a:lnTo>
                  <a:pt x="1011" y="0"/>
                </a:lnTo>
                <a:lnTo>
                  <a:pt x="1030" y="0"/>
                </a:lnTo>
                <a:cubicBezTo>
                  <a:pt x="1416" y="-5"/>
                  <a:pt x="1874" y="196"/>
                  <a:pt x="2005" y="307"/>
                </a:cubicBezTo>
                <a:lnTo>
                  <a:pt x="1532" y="637"/>
                </a:lnTo>
                <a:cubicBezTo>
                  <a:pt x="1417" y="579"/>
                  <a:pt x="1140" y="530"/>
                  <a:pt x="996" y="533"/>
                </a:cubicBezTo>
                <a:lnTo>
                  <a:pt x="988" y="533"/>
                </a:lnTo>
                <a:lnTo>
                  <a:pt x="980" y="533"/>
                </a:lnTo>
                <a:lnTo>
                  <a:pt x="973" y="533"/>
                </a:lnTo>
                <a:lnTo>
                  <a:pt x="948" y="533"/>
                </a:lnTo>
                <a:cubicBezTo>
                  <a:pt x="770" y="524"/>
                  <a:pt x="517" y="592"/>
                  <a:pt x="451" y="622"/>
                </a:cubicBezTo>
                <a:lnTo>
                  <a:pt x="0" y="270"/>
                </a:lnTo>
                <a:close/>
              </a:path>
            </a:pathLst>
          </a:custGeom>
          <a:solidFill>
            <a:srgbClr val="B3D4FE"/>
          </a:solidFill>
          <a:ln>
            <a:solidFill>
              <a:srgbClr val="FFFFFF">
                <a:alpha val="70000"/>
              </a:srgbClr>
            </a:solidFill>
            <a:prstDash val="solid"/>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solidFill>
                  <a:srgbClr val="383838"/>
                </a:solidFill>
                <a:latin typeface="微软雅黑"/>
                <a:ea typeface="微软雅黑"/>
                <a:cs typeface="微软雅黑"/>
                <a:sym typeface="微软雅黑"/>
              </a:rPr>
              <a:t>内部</a:t>
            </a:r>
            <a:endParaRPr lang="zh-CN" altLang="en-US" sz="1400" b="1">
              <a:solidFill>
                <a:srgbClr val="383838"/>
              </a:solidFill>
              <a:latin typeface="微软雅黑"/>
              <a:ea typeface="微软雅黑"/>
              <a:cs typeface="微软雅黑"/>
              <a:sym typeface="微软雅黑"/>
            </a:endParaRPr>
          </a:p>
        </p:txBody>
      </p:sp>
      <p:sp>
        <p:nvSpPr>
          <p:cNvPr id="79" name="椭圆 78"/>
          <p:cNvSpPr/>
          <p:nvPr/>
        </p:nvSpPr>
        <p:spPr>
          <a:xfrm>
            <a:off x="2930525" y="2925128"/>
            <a:ext cx="717550" cy="717550"/>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0" name="椭圆 79"/>
          <p:cNvSpPr/>
          <p:nvPr/>
        </p:nvSpPr>
        <p:spPr>
          <a:xfrm>
            <a:off x="2844800" y="2858135"/>
            <a:ext cx="851535" cy="851535"/>
          </a:xfrm>
          <a:prstGeom prst="ellipse">
            <a:avLst/>
          </a:prstGeom>
          <a:noFill/>
          <a:ln>
            <a:solidFill>
              <a:srgbClr val="3368FF"/>
            </a:solidFill>
            <a:prstDash val="dashDot"/>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1" name="椭圆 80"/>
          <p:cNvSpPr/>
          <p:nvPr/>
        </p:nvSpPr>
        <p:spPr>
          <a:xfrm>
            <a:off x="1419225" y="2925128"/>
            <a:ext cx="717550" cy="717550"/>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2" name="椭圆 81"/>
          <p:cNvSpPr/>
          <p:nvPr/>
        </p:nvSpPr>
        <p:spPr>
          <a:xfrm>
            <a:off x="1355725" y="2858135"/>
            <a:ext cx="851535" cy="851535"/>
          </a:xfrm>
          <a:prstGeom prst="ellipse">
            <a:avLst/>
          </a:prstGeom>
          <a:noFill/>
          <a:ln>
            <a:solidFill>
              <a:srgbClr val="3368FF"/>
            </a:solidFill>
            <a:prstDash val="dashDot"/>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4" name="平行四边形 83"/>
          <p:cNvSpPr/>
          <p:nvPr/>
        </p:nvSpPr>
        <p:spPr>
          <a:xfrm>
            <a:off x="915670" y="3662680"/>
            <a:ext cx="1454785" cy="974090"/>
          </a:xfrm>
          <a:prstGeom prst="parallelogram">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85" name="平行四边形 84"/>
          <p:cNvSpPr/>
          <p:nvPr/>
        </p:nvSpPr>
        <p:spPr>
          <a:xfrm flipV="1">
            <a:off x="8515350" y="3797300"/>
            <a:ext cx="1270000" cy="753110"/>
          </a:xfrm>
          <a:prstGeom prst="parallelogram">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87" name="椭圆 86"/>
          <p:cNvSpPr/>
          <p:nvPr/>
        </p:nvSpPr>
        <p:spPr>
          <a:xfrm>
            <a:off x="8669973" y="3052128"/>
            <a:ext cx="717550" cy="717550"/>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8" name="椭圆 87"/>
          <p:cNvSpPr/>
          <p:nvPr/>
        </p:nvSpPr>
        <p:spPr>
          <a:xfrm>
            <a:off x="8602980" y="2985135"/>
            <a:ext cx="851535" cy="851535"/>
          </a:xfrm>
          <a:prstGeom prst="ellipse">
            <a:avLst/>
          </a:prstGeom>
          <a:noFill/>
          <a:ln>
            <a:solidFill>
              <a:srgbClr val="3368FF"/>
            </a:solidFill>
            <a:prstDash val="dashDot"/>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9" name="椭圆 88"/>
          <p:cNvSpPr/>
          <p:nvPr/>
        </p:nvSpPr>
        <p:spPr>
          <a:xfrm>
            <a:off x="10284778" y="3018473"/>
            <a:ext cx="717550" cy="717550"/>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90" name="椭圆 89"/>
          <p:cNvSpPr/>
          <p:nvPr/>
        </p:nvSpPr>
        <p:spPr>
          <a:xfrm>
            <a:off x="10217785" y="2951480"/>
            <a:ext cx="851535" cy="851535"/>
          </a:xfrm>
          <a:prstGeom prst="ellipse">
            <a:avLst/>
          </a:prstGeom>
          <a:noFill/>
          <a:ln>
            <a:solidFill>
              <a:srgbClr val="3368FF"/>
            </a:solidFill>
            <a:prstDash val="dashDot"/>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91" name="文本框 90"/>
          <p:cNvSpPr txBox="1"/>
          <p:nvPr/>
        </p:nvSpPr>
        <p:spPr>
          <a:xfrm>
            <a:off x="5935345" y="3157855"/>
            <a:ext cx="619125" cy="36830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b="1">
                <a:solidFill>
                  <a:srgbClr val="383838"/>
                </a:solidFill>
                <a:latin typeface="微软雅黑"/>
                <a:ea typeface="微软雅黑"/>
                <a:cs typeface="微软雅黑"/>
              </a:rPr>
              <a:t>＋</a:t>
            </a:r>
            <a:endParaRPr lang="zh-CN" altLang="en-US" b="1">
              <a:solidFill>
                <a:srgbClr val="383838"/>
              </a:solidFill>
              <a:latin typeface="微软雅黑"/>
              <a:ea typeface="微软雅黑"/>
              <a:cs typeface="微软雅黑"/>
            </a:endParaRPr>
          </a:p>
        </p:txBody>
      </p:sp>
      <p:sp>
        <p:nvSpPr>
          <p:cNvPr id="92" name="文本框 91"/>
          <p:cNvSpPr txBox="1"/>
          <p:nvPr/>
        </p:nvSpPr>
        <p:spPr>
          <a:xfrm>
            <a:off x="4578985" y="3679190"/>
            <a:ext cx="1617980" cy="829945"/>
          </a:xfrm>
          <a:prstGeom prst="rect">
            <a:avLst/>
          </a:prstGeom>
          <a:noFill/>
        </p:spPr>
        <p:txBody>
          <a:bodyPr wrap="square" rtlCol="0">
            <a:spAutoFit/>
          </a:bodyPr>
          <a:p>
            <a:pPr marL="171450" indent="-17145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例：企业微信等；</a:t>
            </a:r>
            <a:endParaRPr lang="zh-CN" altLang="en-US" sz="12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特征：</a:t>
            </a:r>
            <a:r>
              <a:rPr lang="zh-CN" altLang="en-US" sz="1200">
                <a:solidFill>
                  <a:srgbClr val="383838"/>
                </a:solidFill>
                <a:latin typeface="微软雅黑"/>
                <a:ea typeface="微软雅黑"/>
                <a:cs typeface="微软雅黑"/>
              </a:rPr>
              <a:t>灵活可延展、已配套成熟应用模块、赋能经销商。</a:t>
            </a:r>
            <a:endParaRPr lang="zh-CN" altLang="en-US" sz="1200">
              <a:solidFill>
                <a:srgbClr val="383838"/>
              </a:solidFill>
              <a:latin typeface="微软雅黑"/>
              <a:ea typeface="微软雅黑"/>
              <a:cs typeface="微软雅黑"/>
            </a:endParaRPr>
          </a:p>
        </p:txBody>
      </p:sp>
      <p:sp>
        <p:nvSpPr>
          <p:cNvPr id="93" name="文本框 92"/>
          <p:cNvSpPr txBox="1"/>
          <p:nvPr/>
        </p:nvSpPr>
        <p:spPr>
          <a:xfrm>
            <a:off x="6276975" y="3679190"/>
            <a:ext cx="1617980" cy="829945"/>
          </a:xfrm>
          <a:prstGeom prst="rect">
            <a:avLst/>
          </a:prstGeom>
          <a:noFill/>
        </p:spPr>
        <p:txBody>
          <a:bodyPr wrap="square" rtlCol="0">
            <a:spAutoFit/>
          </a:bodyPr>
          <a:p>
            <a:pPr marL="171450" indent="-171450">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例：自建</a:t>
            </a:r>
            <a:r>
              <a:rPr lang="en-US" altLang="zh-CN" sz="1200">
                <a:solidFill>
                  <a:srgbClr val="383838"/>
                </a:solidFill>
                <a:latin typeface="微软雅黑"/>
                <a:ea typeface="微软雅黑"/>
                <a:cs typeface="微软雅黑"/>
              </a:rPr>
              <a:t>APP</a:t>
            </a:r>
            <a:r>
              <a:rPr lang="zh-CN" altLang="en-US" sz="1200">
                <a:solidFill>
                  <a:srgbClr val="383838"/>
                </a:solidFill>
                <a:latin typeface="微软雅黑"/>
                <a:ea typeface="微软雅黑"/>
                <a:cs typeface="微软雅黑"/>
              </a:rPr>
              <a:t>等；</a:t>
            </a:r>
            <a:endParaRPr lang="zh-CN" altLang="en-US" sz="12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特征：</a:t>
            </a:r>
            <a:r>
              <a:rPr lang="zh-CN" altLang="en-US" sz="1200">
                <a:solidFill>
                  <a:srgbClr val="383838"/>
                </a:solidFill>
                <a:latin typeface="微软雅黑"/>
                <a:ea typeface="微软雅黑"/>
                <a:cs typeface="微软雅黑"/>
              </a:rPr>
              <a:t>针对企业的定制化场景，可直接连接内部中台。</a:t>
            </a:r>
            <a:endParaRPr lang="zh-CN" altLang="en-US" sz="1200">
              <a:solidFill>
                <a:srgbClr val="383838"/>
              </a:solidFill>
              <a:latin typeface="微软雅黑"/>
              <a:ea typeface="微软雅黑"/>
              <a:cs typeface="微软雅黑"/>
            </a:endParaRPr>
          </a:p>
        </p:txBody>
      </p:sp>
      <p:cxnSp>
        <p:nvCxnSpPr>
          <p:cNvPr id="94" name="直接连接符 93"/>
          <p:cNvCxnSpPr/>
          <p:nvPr/>
        </p:nvCxnSpPr>
        <p:spPr>
          <a:xfrm>
            <a:off x="6245225" y="3668395"/>
            <a:ext cx="0" cy="967740"/>
          </a:xfrm>
          <a:prstGeom prst="line">
            <a:avLst/>
          </a:prstGeom>
          <a:ln>
            <a:solidFill>
              <a:srgbClr val="383838">
                <a:alpha val="50000"/>
              </a:srgbClr>
            </a:solidFill>
            <a:prstDash val="sysDash"/>
          </a:ln>
        </p:spPr>
        <p:style>
          <a:lnRef idx="2">
            <a:srgbClr val="0042FF"/>
          </a:lnRef>
          <a:fillRef idx="0">
            <a:srgbClr val="FFFFFF"/>
          </a:fillRef>
          <a:effectRef idx="0">
            <a:srgbClr val="FFFFFF"/>
          </a:effectRef>
          <a:fontRef idx="minor">
            <a:srgbClr val="383838"/>
          </a:fontRef>
        </p:style>
      </p:cxnSp>
      <p:sp>
        <p:nvSpPr>
          <p:cNvPr id="95" name="文本框 94"/>
          <p:cNvSpPr txBox="1"/>
          <p:nvPr>
            <p:custDataLst>
              <p:tags r:id="rId22"/>
            </p:custDataLst>
          </p:nvPr>
        </p:nvSpPr>
        <p:spPr>
          <a:xfrm>
            <a:off x="1370965" y="3130551"/>
            <a:ext cx="814070" cy="306705"/>
          </a:xfrm>
          <a:prstGeom prst="rect">
            <a:avLst/>
          </a:prstGeom>
          <a:noFill/>
        </p:spPr>
        <p:txBody>
          <a:bodyPr wrap="square" rtlCol="0">
            <a:sp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rPr>
              <a:t>公域池</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sym typeface="微软雅黑"/>
            </a:endParaRPr>
          </a:p>
        </p:txBody>
      </p:sp>
      <p:sp>
        <p:nvSpPr>
          <p:cNvPr id="96" name="文本框 95"/>
          <p:cNvSpPr txBox="1"/>
          <p:nvPr>
            <p:custDataLst>
              <p:tags r:id="rId23"/>
            </p:custDataLst>
          </p:nvPr>
        </p:nvSpPr>
        <p:spPr>
          <a:xfrm>
            <a:off x="2882265" y="3130550"/>
            <a:ext cx="814070"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rPr>
              <a:t>私域池</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cxnSp>
        <p:nvCxnSpPr>
          <p:cNvPr id="97" name="直接箭头连接符 96"/>
          <p:cNvCxnSpPr/>
          <p:nvPr/>
        </p:nvCxnSpPr>
        <p:spPr>
          <a:xfrm>
            <a:off x="2310130" y="3382010"/>
            <a:ext cx="405130" cy="0"/>
          </a:xfrm>
          <a:prstGeom prst="straightConnector1">
            <a:avLst/>
          </a:prstGeom>
          <a:ln w="25400">
            <a:solidFill>
              <a:srgbClr val="3368FF"/>
            </a:solidFill>
            <a:tailEnd type="arrow"/>
          </a:ln>
        </p:spPr>
        <p:style>
          <a:lnRef idx="2">
            <a:srgbClr val="0042FF"/>
          </a:lnRef>
          <a:fillRef idx="0">
            <a:srgbClr val="FFFFFF"/>
          </a:fillRef>
          <a:effectRef idx="0">
            <a:srgbClr val="FFFFFF"/>
          </a:effectRef>
          <a:fontRef idx="minor">
            <a:srgbClr val="383838"/>
          </a:fontRef>
        </p:style>
      </p:cxnSp>
      <p:cxnSp>
        <p:nvCxnSpPr>
          <p:cNvPr id="98" name="直接箭头连接符 97"/>
          <p:cNvCxnSpPr/>
          <p:nvPr/>
        </p:nvCxnSpPr>
        <p:spPr>
          <a:xfrm>
            <a:off x="3790315" y="3382010"/>
            <a:ext cx="405130" cy="0"/>
          </a:xfrm>
          <a:prstGeom prst="straightConnector1">
            <a:avLst/>
          </a:prstGeom>
          <a:ln w="25400">
            <a:solidFill>
              <a:srgbClr val="3368FF"/>
            </a:solidFill>
            <a:tailEnd type="arrow"/>
          </a:ln>
        </p:spPr>
        <p:style>
          <a:lnRef idx="2">
            <a:srgbClr val="0042FF"/>
          </a:lnRef>
          <a:fillRef idx="0">
            <a:srgbClr val="FFFFFF"/>
          </a:fillRef>
          <a:effectRef idx="0">
            <a:srgbClr val="FFFFFF"/>
          </a:effectRef>
          <a:fontRef idx="minor">
            <a:srgbClr val="383838"/>
          </a:fontRef>
        </p:style>
      </p:cxnSp>
      <p:sp>
        <p:nvSpPr>
          <p:cNvPr id="100" name="平行四边形 99"/>
          <p:cNvSpPr/>
          <p:nvPr/>
        </p:nvSpPr>
        <p:spPr>
          <a:xfrm>
            <a:off x="998855" y="3717925"/>
            <a:ext cx="1288415" cy="863600"/>
          </a:xfrm>
          <a:prstGeom prst="parallelogram">
            <a:avLst/>
          </a:prstGeom>
          <a:solidFill>
            <a:srgbClr val="FFFFFF"/>
          </a:solidFill>
          <a:ln>
            <a:solidFill>
              <a:srgbClr val="668E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01" name="文本框 100"/>
          <p:cNvSpPr txBox="1"/>
          <p:nvPr>
            <p:custDataLst>
              <p:tags r:id="rId24"/>
            </p:custDataLst>
          </p:nvPr>
        </p:nvSpPr>
        <p:spPr>
          <a:xfrm>
            <a:off x="1184275" y="3802380"/>
            <a:ext cx="1005840" cy="706755"/>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社交媒体</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抖音直播</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电商平台</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汽车垂媒</a:t>
            </a:r>
            <a:endParaRPr lang="zh-CN" altLang="en-US" sz="1000">
              <a:solidFill>
                <a:srgbClr val="383838"/>
              </a:solidFill>
              <a:latin typeface="微软雅黑"/>
              <a:ea typeface="微软雅黑"/>
              <a:cs typeface="微软雅黑"/>
            </a:endParaRPr>
          </a:p>
        </p:txBody>
      </p:sp>
      <p:grpSp>
        <p:nvGrpSpPr>
          <p:cNvPr id="105" name="组合 104"/>
          <p:cNvGrpSpPr/>
          <p:nvPr/>
        </p:nvGrpSpPr>
        <p:grpSpPr>
          <a:xfrm>
            <a:off x="2631440" y="3668395"/>
            <a:ext cx="1256665" cy="841375"/>
            <a:chOff x="3705" y="5623"/>
            <a:chExt cx="2291" cy="1534"/>
          </a:xfrm>
        </p:grpSpPr>
        <p:sp>
          <p:nvSpPr>
            <p:cNvPr id="102" name="平行四边形 101"/>
            <p:cNvSpPr/>
            <p:nvPr/>
          </p:nvSpPr>
          <p:spPr>
            <a:xfrm>
              <a:off x="3705" y="5623"/>
              <a:ext cx="2291" cy="1534"/>
            </a:xfrm>
            <a:prstGeom prst="parallelogram">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03" name="平行四边形 102"/>
            <p:cNvSpPr/>
            <p:nvPr/>
          </p:nvSpPr>
          <p:spPr>
            <a:xfrm>
              <a:off x="3836" y="5710"/>
              <a:ext cx="2029" cy="1360"/>
            </a:xfrm>
            <a:prstGeom prst="parallelogram">
              <a:avLst/>
            </a:prstGeom>
            <a:solidFill>
              <a:srgbClr val="FFFFFF"/>
            </a:solidFill>
            <a:ln>
              <a:solidFill>
                <a:srgbClr val="668E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04" name="文本框 103"/>
            <p:cNvSpPr txBox="1"/>
            <p:nvPr>
              <p:custDataLst>
                <p:tags r:id="rId25"/>
              </p:custDataLst>
            </p:nvPr>
          </p:nvSpPr>
          <p:spPr>
            <a:xfrm>
              <a:off x="4065" y="5766"/>
              <a:ext cx="1800" cy="1289"/>
            </a:xfrm>
            <a:prstGeom prst="rect">
              <a:avLst/>
            </a:prstGeom>
            <a:noFill/>
          </p:spPr>
          <p:txBody>
            <a:bodyPr wrap="square" rtlCol="0" lIns="0" rIns="0" tIns="0" bIns="0">
              <a:spAutoFit/>
            </a:bodyPr>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小程序</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公众号</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企微</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个微</a:t>
              </a:r>
              <a:endParaRPr lang="zh-CN" altLang="en-US" sz="1000">
                <a:solidFill>
                  <a:srgbClr val="383838"/>
                </a:solidFill>
                <a:latin typeface="微软雅黑"/>
                <a:ea typeface="微软雅黑"/>
                <a:cs typeface="微软雅黑"/>
              </a:endParaRPr>
            </a:p>
            <a:p>
              <a:pPr marL="171450" indent="-171450">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粉丝群</a:t>
              </a:r>
              <a:endParaRPr lang="zh-CN" altLang="en-US" sz="1000">
                <a:solidFill>
                  <a:srgbClr val="383838"/>
                </a:solidFill>
                <a:latin typeface="微软雅黑"/>
                <a:ea typeface="微软雅黑"/>
                <a:cs typeface="微软雅黑"/>
              </a:endParaRPr>
            </a:p>
          </p:txBody>
        </p:sp>
      </p:grpSp>
      <p:sp>
        <p:nvSpPr>
          <p:cNvPr id="106" name="文本框 105"/>
          <p:cNvSpPr txBox="1"/>
          <p:nvPr>
            <p:custDataLst>
              <p:tags r:id="rId26"/>
            </p:custDataLst>
          </p:nvPr>
        </p:nvSpPr>
        <p:spPr>
          <a:xfrm>
            <a:off x="8627745" y="3168651"/>
            <a:ext cx="81407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rPr>
              <a:t>私域</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rPr>
              <a:t>创收</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
        <p:nvSpPr>
          <p:cNvPr id="107" name="文本框 106"/>
          <p:cNvSpPr txBox="1"/>
          <p:nvPr>
            <p:custDataLst>
              <p:tags r:id="rId27"/>
            </p:custDataLst>
          </p:nvPr>
        </p:nvSpPr>
        <p:spPr>
          <a:xfrm>
            <a:off x="10236200" y="3160396"/>
            <a:ext cx="81407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rPr>
              <a:t>公私域</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rPr>
              <a:t>传播</a:t>
            </a:r>
            <a:endParaRPr lang="zh-CN" altLang="en-US" sz="1400" b="1">
              <a:solidFill>
                <a:srgbClr val="FFFFFF"/>
              </a:solidFill>
              <a:effectLst>
                <a:outerShdw blurRad="38100" dist="38100" dir="2700000" algn="tl">
                  <a:srgbClr val="383838">
                    <a:alpha val="43137"/>
                  </a:srgbClr>
                </a:outerShdw>
              </a:effectLst>
              <a:latin typeface="微软雅黑"/>
              <a:ea typeface="微软雅黑"/>
              <a:cs typeface="微软雅黑"/>
            </a:endParaRPr>
          </a:p>
        </p:txBody>
      </p:sp>
      <p:sp>
        <p:nvSpPr>
          <p:cNvPr id="108" name="平行四边形 107"/>
          <p:cNvSpPr/>
          <p:nvPr/>
        </p:nvSpPr>
        <p:spPr>
          <a:xfrm flipV="1">
            <a:off x="8627745" y="3898265"/>
            <a:ext cx="1057275" cy="568960"/>
          </a:xfrm>
          <a:prstGeom prst="parallelogram">
            <a:avLst/>
          </a:prstGeom>
          <a:solidFill>
            <a:srgbClr val="FFFFFF"/>
          </a:solidFill>
          <a:ln>
            <a:solidFill>
              <a:srgbClr val="668E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09" name="文本框 108"/>
          <p:cNvSpPr txBox="1"/>
          <p:nvPr>
            <p:custDataLst>
              <p:tags r:id="rId28"/>
            </p:custDataLst>
          </p:nvPr>
        </p:nvSpPr>
        <p:spPr>
          <a:xfrm>
            <a:off x="8750935" y="3988435"/>
            <a:ext cx="810895" cy="398780"/>
          </a:xfrm>
          <a:prstGeom prst="rect">
            <a:avLst/>
          </a:prstGeom>
          <a:noFill/>
        </p:spPr>
        <p:txBody>
          <a:bodyPr wrap="square" rtlCol="0" lIns="0" rIns="0" tIns="0" bIns="0">
            <a:spAutoFit/>
          </a:bodyPr>
          <a:p>
            <a:pPr indent="0" algn="ctr">
              <a:buFont typeface="微软雅黑"/>
              <a:buNone/>
              <a:defRPr>
                <a:latin typeface="微软雅黑"/>
                <a:ea typeface="微软雅黑"/>
                <a:cs typeface="微软雅黑"/>
              </a:defRPr>
            </a:pPr>
            <a:r>
              <a:rPr lang="zh-CN" sz="1000">
                <a:solidFill>
                  <a:srgbClr val="383838"/>
                </a:solidFill>
                <a:latin typeface="微软雅黑"/>
                <a:ea typeface="微软雅黑"/>
                <a:cs typeface="微软雅黑"/>
              </a:rPr>
              <a:t>持续挖掘</a:t>
            </a:r>
            <a:endParaRPr lang="zh-CN" sz="1000">
              <a:solidFill>
                <a:srgbClr val="383838"/>
              </a:solidFill>
              <a:latin typeface="微软雅黑"/>
              <a:ea typeface="微软雅黑"/>
              <a:cs typeface="微软雅黑"/>
            </a:endParaRPr>
          </a:p>
          <a:p>
            <a:pPr indent="0" algn="ctr">
              <a:buFont typeface="微软雅黑"/>
              <a:buNone/>
              <a:defRPr>
                <a:latin typeface="微软雅黑"/>
                <a:ea typeface="微软雅黑"/>
                <a:cs typeface="微软雅黑"/>
              </a:defRPr>
            </a:pPr>
            <a:r>
              <a:rPr lang="zh-CN" sz="1000">
                <a:solidFill>
                  <a:srgbClr val="383838"/>
                </a:solidFill>
                <a:latin typeface="微软雅黑"/>
                <a:ea typeface="微软雅黑"/>
                <a:cs typeface="微软雅黑"/>
              </a:rPr>
              <a:t>用户价值</a:t>
            </a:r>
            <a:endParaRPr lang="zh-CN" sz="1000">
              <a:solidFill>
                <a:srgbClr val="383838"/>
              </a:solidFill>
              <a:latin typeface="微软雅黑"/>
              <a:ea typeface="微软雅黑"/>
              <a:cs typeface="微软雅黑"/>
            </a:endParaRPr>
          </a:p>
        </p:txBody>
      </p:sp>
      <p:sp>
        <p:nvSpPr>
          <p:cNvPr id="111" name="平行四边形 110"/>
          <p:cNvSpPr/>
          <p:nvPr/>
        </p:nvSpPr>
        <p:spPr>
          <a:xfrm flipV="1">
            <a:off x="10128250" y="3756660"/>
            <a:ext cx="1270000" cy="753110"/>
          </a:xfrm>
          <a:prstGeom prst="parallelogram">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12" name="平行四边形 111"/>
          <p:cNvSpPr/>
          <p:nvPr/>
        </p:nvSpPr>
        <p:spPr>
          <a:xfrm flipV="1">
            <a:off x="10240645" y="3857625"/>
            <a:ext cx="1057275" cy="568960"/>
          </a:xfrm>
          <a:prstGeom prst="parallelogram">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3" name="文本框 112"/>
          <p:cNvSpPr txBox="1"/>
          <p:nvPr>
            <p:custDataLst>
              <p:tags r:id="rId29"/>
            </p:custDataLst>
          </p:nvPr>
        </p:nvSpPr>
        <p:spPr>
          <a:xfrm>
            <a:off x="10363835" y="3947795"/>
            <a:ext cx="810895" cy="398780"/>
          </a:xfrm>
          <a:prstGeom prst="rect">
            <a:avLst/>
          </a:prstGeom>
          <a:noFill/>
        </p:spPr>
        <p:txBody>
          <a:bodyPr wrap="square" rtlCol="0" lIns="0" rIns="0" tIns="0" bIns="0">
            <a:spAutoFit/>
          </a:bodyPr>
          <a:p>
            <a:pPr indent="0" algn="ctr">
              <a:buFont typeface="微软雅黑"/>
              <a:buNone/>
              <a:defRPr>
                <a:latin typeface="微软雅黑"/>
                <a:ea typeface="微软雅黑"/>
                <a:cs typeface="微软雅黑"/>
              </a:defRPr>
            </a:pPr>
            <a:r>
              <a:rPr lang="zh-CN" altLang="en-US" sz="1000">
                <a:solidFill>
                  <a:srgbClr val="383838"/>
                </a:solidFill>
                <a:latin typeface="微软雅黑"/>
                <a:ea typeface="微软雅黑"/>
                <a:cs typeface="微软雅黑"/>
              </a:rPr>
              <a:t>口碑裂变</a:t>
            </a:r>
            <a:endParaRPr lang="zh-CN" altLang="en-US" sz="1000">
              <a:solidFill>
                <a:srgbClr val="383838"/>
              </a:solidFill>
              <a:latin typeface="微软雅黑"/>
              <a:ea typeface="微软雅黑"/>
              <a:cs typeface="微软雅黑"/>
            </a:endParaRPr>
          </a:p>
          <a:p>
            <a:pPr indent="0" algn="ctr">
              <a:buFont typeface="微软雅黑"/>
              <a:buNone/>
              <a:defRPr>
                <a:latin typeface="微软雅黑"/>
                <a:ea typeface="微软雅黑"/>
                <a:cs typeface="微软雅黑"/>
              </a:defRPr>
            </a:pPr>
            <a:r>
              <a:rPr lang="zh-CN" altLang="en-US" sz="1000">
                <a:solidFill>
                  <a:srgbClr val="383838"/>
                </a:solidFill>
                <a:latin typeface="微软雅黑"/>
                <a:ea typeface="微软雅黑"/>
                <a:cs typeface="微软雅黑"/>
              </a:rPr>
              <a:t>涟漪传播</a:t>
            </a:r>
            <a:endParaRPr lang="zh-CN" altLang="en-US" sz="1000">
              <a:solidFill>
                <a:srgbClr val="383838"/>
              </a:solidFill>
              <a:latin typeface="微软雅黑"/>
              <a:ea typeface="微软雅黑"/>
              <a:cs typeface="微软雅黑"/>
            </a:endParaRPr>
          </a:p>
        </p:txBody>
      </p:sp>
      <p:grpSp>
        <p:nvGrpSpPr>
          <p:cNvPr id="114" name="组合 113"/>
          <p:cNvGrpSpPr/>
          <p:nvPr>
            <p:custDataLst>
              <p:tags r:id="rId30"/>
            </p:custDataLst>
          </p:nvPr>
        </p:nvGrpSpPr>
        <p:grpSpPr>
          <a:xfrm>
            <a:off x="4354195" y="1412875"/>
            <a:ext cx="916940" cy="185420"/>
            <a:chOff x="6145" y="2623"/>
            <a:chExt cx="1444" cy="292"/>
          </a:xfrm>
          <a:gradFill>
            <a:gsLst>
              <a:gs pos="0">
                <a:srgbClr val="B3D4FE"/>
              </a:gs>
              <a:gs pos="100000">
                <a:srgbClr val="B3D4FE">
                  <a:alpha val="10000"/>
                </a:srgbClr>
              </a:gs>
            </a:gsLst>
            <a:lin ang="10800000" scaled="0"/>
          </a:gradFill>
        </p:grpSpPr>
        <p:sp>
          <p:nvSpPr>
            <p:cNvPr id="115" name="燕尾形 114"/>
            <p:cNvSpPr/>
            <p:nvPr>
              <p:custDataLst>
                <p:tags r:id="rId31"/>
              </p:custDataLst>
            </p:nvPr>
          </p:nvSpPr>
          <p:spPr>
            <a:xfrm>
              <a:off x="6879" y="2623"/>
              <a:ext cx="710"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16" name="燕尾形 115"/>
            <p:cNvSpPr/>
            <p:nvPr>
              <p:custDataLst>
                <p:tags r:id="rId32"/>
              </p:custDataLst>
            </p:nvPr>
          </p:nvSpPr>
          <p:spPr>
            <a:xfrm>
              <a:off x="6425" y="2623"/>
              <a:ext cx="417"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17" name="燕尾形 116"/>
            <p:cNvSpPr/>
            <p:nvPr>
              <p:custDataLst>
                <p:tags r:id="rId33"/>
              </p:custDataLst>
            </p:nvPr>
          </p:nvSpPr>
          <p:spPr>
            <a:xfrm>
              <a:off x="6145" y="2623"/>
              <a:ext cx="273"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grpSp>
      <p:grpSp>
        <p:nvGrpSpPr>
          <p:cNvPr id="118" name="组合 117"/>
          <p:cNvGrpSpPr/>
          <p:nvPr>
            <p:custDataLst>
              <p:tags r:id="rId34"/>
            </p:custDataLst>
          </p:nvPr>
        </p:nvGrpSpPr>
        <p:grpSpPr>
          <a:xfrm>
            <a:off x="6538595" y="1421130"/>
            <a:ext cx="916940" cy="185420"/>
            <a:chOff x="6145" y="2623"/>
            <a:chExt cx="1444" cy="292"/>
          </a:xfrm>
          <a:gradFill>
            <a:gsLst>
              <a:gs pos="0">
                <a:srgbClr val="B3D4FE"/>
              </a:gs>
              <a:gs pos="100000">
                <a:srgbClr val="B3D4FE">
                  <a:alpha val="10000"/>
                </a:srgbClr>
              </a:gs>
            </a:gsLst>
            <a:lin ang="10800000" scaled="0"/>
          </a:gradFill>
        </p:grpSpPr>
        <p:sp>
          <p:nvSpPr>
            <p:cNvPr id="119" name="燕尾形 118"/>
            <p:cNvSpPr/>
            <p:nvPr>
              <p:custDataLst>
                <p:tags r:id="rId35"/>
              </p:custDataLst>
            </p:nvPr>
          </p:nvSpPr>
          <p:spPr>
            <a:xfrm>
              <a:off x="6879" y="2623"/>
              <a:ext cx="710"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20" name="燕尾形 119"/>
            <p:cNvSpPr/>
            <p:nvPr>
              <p:custDataLst>
                <p:tags r:id="rId36"/>
              </p:custDataLst>
            </p:nvPr>
          </p:nvSpPr>
          <p:spPr>
            <a:xfrm>
              <a:off x="6425" y="2623"/>
              <a:ext cx="417"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21" name="燕尾形 120"/>
            <p:cNvSpPr/>
            <p:nvPr>
              <p:custDataLst>
                <p:tags r:id="rId37"/>
              </p:custDataLst>
            </p:nvPr>
          </p:nvSpPr>
          <p:spPr>
            <a:xfrm>
              <a:off x="6145" y="2623"/>
              <a:ext cx="273"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grpSp>
      <p:grpSp>
        <p:nvGrpSpPr>
          <p:cNvPr id="122" name="组合 121"/>
          <p:cNvGrpSpPr/>
          <p:nvPr>
            <p:custDataLst>
              <p:tags r:id="rId38"/>
            </p:custDataLst>
          </p:nvPr>
        </p:nvGrpSpPr>
        <p:grpSpPr>
          <a:xfrm>
            <a:off x="8768080" y="1421130"/>
            <a:ext cx="916940" cy="185420"/>
            <a:chOff x="6145" y="2623"/>
            <a:chExt cx="1444" cy="292"/>
          </a:xfrm>
          <a:gradFill>
            <a:gsLst>
              <a:gs pos="0">
                <a:srgbClr val="B3D4FE"/>
              </a:gs>
              <a:gs pos="100000">
                <a:srgbClr val="B3D4FE">
                  <a:alpha val="10000"/>
                </a:srgbClr>
              </a:gs>
            </a:gsLst>
            <a:lin ang="10800000" scaled="0"/>
          </a:gradFill>
        </p:grpSpPr>
        <p:sp>
          <p:nvSpPr>
            <p:cNvPr id="123" name="燕尾形 122"/>
            <p:cNvSpPr/>
            <p:nvPr>
              <p:custDataLst>
                <p:tags r:id="rId39"/>
              </p:custDataLst>
            </p:nvPr>
          </p:nvSpPr>
          <p:spPr>
            <a:xfrm>
              <a:off x="6879" y="2623"/>
              <a:ext cx="710"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24" name="燕尾形 123"/>
            <p:cNvSpPr/>
            <p:nvPr>
              <p:custDataLst>
                <p:tags r:id="rId40"/>
              </p:custDataLst>
            </p:nvPr>
          </p:nvSpPr>
          <p:spPr>
            <a:xfrm>
              <a:off x="6425" y="2623"/>
              <a:ext cx="417"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25" name="燕尾形 124"/>
            <p:cNvSpPr/>
            <p:nvPr>
              <p:custDataLst>
                <p:tags r:id="rId41"/>
              </p:custDataLst>
            </p:nvPr>
          </p:nvSpPr>
          <p:spPr>
            <a:xfrm>
              <a:off x="6145" y="2623"/>
              <a:ext cx="273" cy="292"/>
            </a:xfrm>
            <a:prstGeom prst="chevron">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grpSp>
      <p:sp>
        <p:nvSpPr>
          <p:cNvPr id="2" name="文本框 1"/>
          <p:cNvSpPr txBox="1"/>
          <p:nvPr>
            <p:custDataLst>
              <p:tags r:id="rId42"/>
            </p:custDataLst>
          </p:nvPr>
        </p:nvSpPr>
        <p:spPr>
          <a:xfrm>
            <a:off x="4494530" y="6034405"/>
            <a:ext cx="101600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数据中台</a:t>
            </a:r>
            <a:endParaRPr lang="zh-CN" altLang="en-US" sz="1400" b="1">
              <a:solidFill>
                <a:srgbClr val="0042FF"/>
              </a:solidFill>
              <a:latin typeface="微软雅黑"/>
              <a:ea typeface="微软雅黑"/>
              <a:cs typeface="微软雅黑"/>
            </a:endParaRPr>
          </a:p>
        </p:txBody>
      </p:sp>
      <p:sp>
        <p:nvSpPr>
          <p:cNvPr id="3" name="文本框 2"/>
          <p:cNvSpPr txBox="1"/>
          <p:nvPr>
            <p:custDataLst>
              <p:tags r:id="rId43"/>
            </p:custDataLst>
          </p:nvPr>
        </p:nvSpPr>
        <p:spPr>
          <a:xfrm>
            <a:off x="8545830" y="6034405"/>
            <a:ext cx="101600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业务中台</a:t>
            </a:r>
            <a:endParaRPr lang="zh-CN" altLang="en-US" sz="1400" b="1">
              <a:solidFill>
                <a:srgbClr val="0042FF"/>
              </a:solidFill>
              <a:latin typeface="微软雅黑"/>
              <a:ea typeface="微软雅黑"/>
              <a:cs typeface="微软雅黑"/>
            </a:endParaRPr>
          </a:p>
        </p:txBody>
      </p:sp>
      <p:sp>
        <p:nvSpPr>
          <p:cNvPr id="15" name="平行四边形 14"/>
          <p:cNvSpPr/>
          <p:nvPr/>
        </p:nvSpPr>
        <p:spPr>
          <a:xfrm>
            <a:off x="1737995" y="5615305"/>
            <a:ext cx="1143635" cy="502920"/>
          </a:xfrm>
          <a:prstGeom prst="parallelogram">
            <a:avLst/>
          </a:prstGeom>
          <a:solidFill>
            <a:srgbClr val="0042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花盆式</a:t>
            </a:r>
            <a:endParaRPr lang="zh-CN" altLang="en-US" sz="140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双中台</a:t>
            </a:r>
            <a:endParaRPr lang="zh-CN" altLang="en-US" sz="1400">
              <a:solidFill>
                <a:srgbClr val="FFFFFF"/>
              </a:solidFill>
              <a:latin typeface="微软雅黑"/>
              <a:ea typeface="微软雅黑"/>
              <a:cs typeface="微软雅黑"/>
            </a:endParaRPr>
          </a:p>
        </p:txBody>
      </p:sp>
      <p:grpSp>
        <p:nvGrpSpPr>
          <p:cNvPr id="26" name="组合 25"/>
          <p:cNvGrpSpPr/>
          <p:nvPr/>
        </p:nvGrpSpPr>
        <p:grpSpPr>
          <a:xfrm>
            <a:off x="3648075" y="5024755"/>
            <a:ext cx="467360" cy="318770"/>
            <a:chOff x="5745" y="7703"/>
            <a:chExt cx="736" cy="502"/>
          </a:xfrm>
        </p:grpSpPr>
        <p:sp>
          <p:nvSpPr>
            <p:cNvPr id="24" name="右箭头 23"/>
            <p:cNvSpPr/>
            <p:nvPr/>
          </p:nvSpPr>
          <p:spPr>
            <a:xfrm rot="16200000">
              <a:off x="5673" y="7775"/>
              <a:ext cx="502" cy="359"/>
            </a:xfrm>
            <a:prstGeom prst="rightArrow">
              <a:avLst/>
            </a:prstGeom>
            <a:gradFill>
              <a:gsLst>
                <a:gs pos="100000">
                  <a:srgbClr val="0042FF"/>
                </a:gs>
                <a:gs pos="0">
                  <a:srgbClr val="0042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5" name="右箭头 24"/>
            <p:cNvSpPr/>
            <p:nvPr/>
          </p:nvSpPr>
          <p:spPr>
            <a:xfrm rot="5400000" flipV="1">
              <a:off x="6051" y="7775"/>
              <a:ext cx="502" cy="359"/>
            </a:xfrm>
            <a:prstGeom prst="rightArrow">
              <a:avLst/>
            </a:prstGeom>
            <a:gradFill>
              <a:gsLst>
                <a:gs pos="100000">
                  <a:srgbClr val="0042FF"/>
                </a:gs>
                <a:gs pos="0">
                  <a:srgbClr val="0042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27" name="组合 26"/>
          <p:cNvGrpSpPr/>
          <p:nvPr/>
        </p:nvGrpSpPr>
        <p:grpSpPr>
          <a:xfrm>
            <a:off x="5956935" y="5078730"/>
            <a:ext cx="467360" cy="318770"/>
            <a:chOff x="5745" y="7703"/>
            <a:chExt cx="736" cy="502"/>
          </a:xfrm>
        </p:grpSpPr>
        <p:sp>
          <p:nvSpPr>
            <p:cNvPr id="28" name="右箭头 27"/>
            <p:cNvSpPr/>
            <p:nvPr/>
          </p:nvSpPr>
          <p:spPr>
            <a:xfrm rot="16200000">
              <a:off x="5673" y="7775"/>
              <a:ext cx="502" cy="359"/>
            </a:xfrm>
            <a:prstGeom prst="rightArrow">
              <a:avLst/>
            </a:prstGeom>
            <a:gradFill>
              <a:gsLst>
                <a:gs pos="100000">
                  <a:srgbClr val="0042FF"/>
                </a:gs>
                <a:gs pos="0">
                  <a:srgbClr val="0042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3" name="右箭头 32"/>
            <p:cNvSpPr/>
            <p:nvPr/>
          </p:nvSpPr>
          <p:spPr>
            <a:xfrm rot="5400000" flipV="1">
              <a:off x="6051" y="7775"/>
              <a:ext cx="502" cy="359"/>
            </a:xfrm>
            <a:prstGeom prst="rightArrow">
              <a:avLst/>
            </a:prstGeom>
            <a:gradFill>
              <a:gsLst>
                <a:gs pos="100000">
                  <a:srgbClr val="0042FF"/>
                </a:gs>
                <a:gs pos="0">
                  <a:srgbClr val="0042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34" name="组合 33"/>
          <p:cNvGrpSpPr/>
          <p:nvPr/>
        </p:nvGrpSpPr>
        <p:grpSpPr>
          <a:xfrm>
            <a:off x="8717915" y="5078730"/>
            <a:ext cx="467360" cy="318770"/>
            <a:chOff x="5745" y="7703"/>
            <a:chExt cx="736" cy="502"/>
          </a:xfrm>
        </p:grpSpPr>
        <p:sp>
          <p:nvSpPr>
            <p:cNvPr id="35" name="右箭头 34"/>
            <p:cNvSpPr/>
            <p:nvPr/>
          </p:nvSpPr>
          <p:spPr>
            <a:xfrm rot="16200000">
              <a:off x="5673" y="7775"/>
              <a:ext cx="502" cy="359"/>
            </a:xfrm>
            <a:prstGeom prst="rightArrow">
              <a:avLst/>
            </a:prstGeom>
            <a:gradFill>
              <a:gsLst>
                <a:gs pos="100000">
                  <a:srgbClr val="0042FF"/>
                </a:gs>
                <a:gs pos="0">
                  <a:srgbClr val="0042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6" name="右箭头 35"/>
            <p:cNvSpPr/>
            <p:nvPr/>
          </p:nvSpPr>
          <p:spPr>
            <a:xfrm rot="5400000" flipV="1">
              <a:off x="6051" y="7775"/>
              <a:ext cx="502" cy="359"/>
            </a:xfrm>
            <a:prstGeom prst="rightArrow">
              <a:avLst/>
            </a:prstGeom>
            <a:gradFill>
              <a:gsLst>
                <a:gs pos="100000">
                  <a:srgbClr val="0042FF"/>
                </a:gs>
                <a:gs pos="0">
                  <a:srgbClr val="0042FF">
                    <a:alpha val="0"/>
                  </a:srgbClr>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72" name="圆角矩形 71"/>
          <p:cNvSpPr/>
          <p:nvPr/>
        </p:nvSpPr>
        <p:spPr>
          <a:xfrm>
            <a:off x="4959033" y="2508250"/>
            <a:ext cx="2509520" cy="476885"/>
          </a:xfrm>
          <a:prstGeom prst="roundRect">
            <a:avLst/>
          </a:prstGeom>
          <a:gradFill>
            <a:gsLst>
              <a:gs pos="0">
                <a:srgbClr val="B3D4FE"/>
              </a:gs>
              <a:gs pos="10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b="1">
                <a:latin typeface="微软雅黑"/>
                <a:ea typeface="微软雅黑"/>
                <a:cs typeface="微软雅黑"/>
              </a:rPr>
              <a:t>用户触点收口</a:t>
            </a:r>
            <a:endParaRPr lang="zh-CN" altLang="en-US" b="1">
              <a:latin typeface="微软雅黑"/>
              <a:ea typeface="微软雅黑"/>
              <a:cs typeface="微软雅黑"/>
            </a:endParaRPr>
          </a:p>
        </p:txBody>
      </p:sp>
      <p:grpSp>
        <p:nvGrpSpPr>
          <p:cNvPr id="77" name="组合 76"/>
          <p:cNvGrpSpPr/>
          <p:nvPr/>
        </p:nvGrpSpPr>
        <p:grpSpPr>
          <a:xfrm>
            <a:off x="5560060" y="1988185"/>
            <a:ext cx="1292860" cy="447040"/>
            <a:chOff x="8712" y="2786"/>
            <a:chExt cx="2464" cy="852"/>
          </a:xfrm>
          <a:gradFill>
            <a:gsLst>
              <a:gs pos="80000">
                <a:srgbClr val="B3D4FE"/>
              </a:gs>
              <a:gs pos="0">
                <a:srgbClr val="FFFFFF">
                  <a:alpha val="0"/>
                </a:srgbClr>
              </a:gs>
            </a:gsLst>
            <a:lin ang="5400000" scaled="0"/>
          </a:gradFill>
        </p:grpSpPr>
        <p:sp>
          <p:nvSpPr>
            <p:cNvPr id="73" name="Arrow: Down 108"/>
            <p:cNvSpPr/>
            <p:nvPr/>
          </p:nvSpPr>
          <p:spPr>
            <a:xfrm>
              <a:off x="10508" y="2786"/>
              <a:ext cx="669" cy="819"/>
            </a:xfrm>
            <a:prstGeom prst="downArrow">
              <a:avLst/>
            </a:prstGeom>
            <a:grpFill/>
            <a:ln>
              <a:noFill/>
            </a:ln>
            <a:effectLst/>
          </p:spPr>
          <p:style>
            <a:lnRef idx="2">
              <a:srgbClr val="0042FF"/>
            </a:lnRef>
            <a:fillRef idx="1">
              <a:srgbClr val="0042FF"/>
            </a:fillRef>
            <a:effectRef idx="0">
              <a:srgbClr val="0042FF"/>
            </a:effectRef>
            <a:fontRef idx="minor">
              <a:srgbClr val="FFFFFF"/>
            </a:fontRef>
          </p:style>
          <p:txBody>
            <a:bodyPr lIns="87782" tIns="43891" rIns="87782" bIns="43891" rtlCol="0" anchor="ctr"/>
            <a:lstStyle/>
            <a:p>
              <a:pPr algn="ctr">
                <a:defRPr>
                  <a:latin typeface="微软雅黑"/>
                  <a:ea typeface="微软雅黑"/>
                  <a:cs typeface="微软雅黑"/>
                </a:defRPr>
              </a:pPr>
              <a:endParaRPr lang="en-US" sz="1730" dirty="0">
                <a:cs typeface="微软雅黑"/>
                <a:latin typeface="微软雅黑"/>
                <a:ea typeface="微软雅黑"/>
              </a:endParaRPr>
            </a:p>
          </p:txBody>
        </p:sp>
        <p:sp>
          <p:nvSpPr>
            <p:cNvPr id="75" name="Arrow: Down 109"/>
            <p:cNvSpPr/>
            <p:nvPr/>
          </p:nvSpPr>
          <p:spPr>
            <a:xfrm>
              <a:off x="9626" y="2786"/>
              <a:ext cx="669" cy="819"/>
            </a:xfrm>
            <a:prstGeom prst="downArrow">
              <a:avLst/>
            </a:prstGeom>
            <a:grpFill/>
            <a:ln>
              <a:noFill/>
            </a:ln>
            <a:effectLst/>
          </p:spPr>
          <p:style>
            <a:lnRef idx="2">
              <a:srgbClr val="0042FF"/>
            </a:lnRef>
            <a:fillRef idx="1">
              <a:srgbClr val="0042FF"/>
            </a:fillRef>
            <a:effectRef idx="0">
              <a:srgbClr val="0042FF"/>
            </a:effectRef>
            <a:fontRef idx="minor">
              <a:srgbClr val="FFFFFF"/>
            </a:fontRef>
          </p:style>
          <p:txBody>
            <a:bodyPr lIns="87782" tIns="43891" rIns="87782" bIns="43891" rtlCol="0" anchor="ctr"/>
            <a:lstStyle/>
            <a:p>
              <a:pPr algn="ctr">
                <a:defRPr>
                  <a:latin typeface="微软雅黑"/>
                  <a:ea typeface="微软雅黑"/>
                  <a:cs typeface="微软雅黑"/>
                </a:defRPr>
              </a:pPr>
              <a:endParaRPr lang="en-US" sz="1730" dirty="0">
                <a:cs typeface="微软雅黑"/>
                <a:latin typeface="微软雅黑"/>
                <a:ea typeface="微软雅黑"/>
              </a:endParaRPr>
            </a:p>
          </p:txBody>
        </p:sp>
        <p:sp>
          <p:nvSpPr>
            <p:cNvPr id="76" name="Arrow: Down 110"/>
            <p:cNvSpPr/>
            <p:nvPr/>
          </p:nvSpPr>
          <p:spPr>
            <a:xfrm>
              <a:off x="8712" y="2820"/>
              <a:ext cx="669" cy="819"/>
            </a:xfrm>
            <a:prstGeom prst="downArrow">
              <a:avLst/>
            </a:prstGeom>
            <a:grpFill/>
            <a:ln>
              <a:noFill/>
            </a:ln>
            <a:effectLst/>
          </p:spPr>
          <p:style>
            <a:lnRef idx="2">
              <a:srgbClr val="0042FF"/>
            </a:lnRef>
            <a:fillRef idx="1">
              <a:srgbClr val="0042FF"/>
            </a:fillRef>
            <a:effectRef idx="0">
              <a:srgbClr val="0042FF"/>
            </a:effectRef>
            <a:fontRef idx="minor">
              <a:srgbClr val="FFFFFF"/>
            </a:fontRef>
          </p:style>
          <p:txBody>
            <a:bodyPr lIns="87782" tIns="43891" rIns="87782" bIns="43891" rtlCol="0" anchor="ctr"/>
            <a:lstStyle/>
            <a:p>
              <a:pPr algn="ctr">
                <a:defRPr>
                  <a:latin typeface="微软雅黑"/>
                  <a:ea typeface="微软雅黑"/>
                  <a:cs typeface="微软雅黑"/>
                </a:defRPr>
              </a:pPr>
              <a:endParaRPr lang="en-US" sz="1730" dirty="0">
                <a:cs typeface="微软雅黑"/>
                <a:latin typeface="微软雅黑"/>
                <a:ea typeface="微软雅黑"/>
              </a:endParaRPr>
            </a:p>
          </p:txBody>
        </p:sp>
      </p:grpSp>
      <p:cxnSp>
        <p:nvCxnSpPr>
          <p:cNvPr id="1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3" name="组合 2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44"/>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组合 68"/>
          <p:cNvGrpSpPr/>
          <p:nvPr/>
        </p:nvGrpSpPr>
        <p:grpSpPr>
          <a:xfrm>
            <a:off x="5335905" y="4989830"/>
            <a:ext cx="1729740" cy="374650"/>
            <a:chOff x="8488" y="7844"/>
            <a:chExt cx="2664" cy="550"/>
          </a:xfrm>
        </p:grpSpPr>
        <p:sp>
          <p:nvSpPr>
            <p:cNvPr id="70" name="圆角矩形 69"/>
            <p:cNvSpPr/>
            <p:nvPr/>
          </p:nvSpPr>
          <p:spPr>
            <a:xfrm>
              <a:off x="8488" y="7844"/>
              <a:ext cx="2664" cy="550"/>
            </a:xfrm>
            <a:prstGeom prst="roundRect">
              <a:avLst>
                <a:gd name="adj" fmla="val 50000"/>
              </a:avLst>
            </a:prstGeom>
            <a:solidFill>
              <a:srgbClr val="FFFFFF">
                <a:alpha val="54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1" name="圆角矩形 70"/>
            <p:cNvSpPr/>
            <p:nvPr/>
          </p:nvSpPr>
          <p:spPr>
            <a:xfrm>
              <a:off x="8547" y="7883"/>
              <a:ext cx="2546" cy="473"/>
            </a:xfrm>
            <a:prstGeom prst="roundRect">
              <a:avLst>
                <a:gd name="adj" fmla="val 50000"/>
              </a:avLst>
            </a:prstGeom>
            <a:gradFill>
              <a:gsLst>
                <a:gs pos="0">
                  <a:srgbClr val="3368FF"/>
                </a:gs>
                <a:gs pos="100000">
                  <a:srgbClr val="0042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小数据管理系统</a:t>
              </a:r>
              <a:endParaRPr lang="zh-CN" altLang="en-US" sz="1400" b="1">
                <a:solidFill>
                  <a:srgbClr val="FFFFFF"/>
                </a:solidFill>
                <a:cs typeface="微软雅黑"/>
                <a:latin typeface="微软雅黑"/>
                <a:ea typeface="微软雅黑"/>
              </a:endParaRPr>
            </a:p>
          </p:txBody>
        </p:sp>
      </p:gr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产品服务体系业务流程</a:t>
            </a:r>
            <a:endParaRPr sz="2500" b="0">
              <a:solidFill>
                <a:srgbClr val="383838"/>
              </a:solidFill>
              <a:effectLst/>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椭圆 1"/>
          <p:cNvSpPr/>
          <p:nvPr/>
        </p:nvSpPr>
        <p:spPr>
          <a:xfrm>
            <a:off x="699770" y="4175760"/>
            <a:ext cx="3609975" cy="683895"/>
          </a:xfrm>
          <a:prstGeom prst="ellipse">
            <a:avLst/>
          </a:prstGeom>
          <a:gradFill>
            <a:gsLst>
              <a:gs pos="100000">
                <a:srgbClr val="3368FF"/>
              </a:gs>
              <a:gs pos="11000">
                <a:srgbClr val="E6E6E6">
                  <a:alpha val="0"/>
                </a:srgbClr>
              </a:gs>
            </a:gsLst>
            <a:lin ang="5400000" scaled="0"/>
          </a:gradFill>
          <a:ln>
            <a:gradFill>
              <a:gsLst>
                <a:gs pos="13000">
                  <a:srgbClr val="3368FF">
                    <a:alpha val="0"/>
                  </a:srgbClr>
                </a:gs>
                <a:gs pos="10000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 name="椭圆 3"/>
          <p:cNvSpPr/>
          <p:nvPr/>
        </p:nvSpPr>
        <p:spPr>
          <a:xfrm>
            <a:off x="4482465" y="5683250"/>
            <a:ext cx="3602355" cy="715010"/>
          </a:xfrm>
          <a:prstGeom prst="ellipse">
            <a:avLst/>
          </a:prstGeom>
          <a:gradFill>
            <a:gsLst>
              <a:gs pos="100000">
                <a:srgbClr val="3368FF"/>
              </a:gs>
              <a:gs pos="11000">
                <a:srgbClr val="E6E6E6">
                  <a:alpha val="0"/>
                </a:srgbClr>
              </a:gs>
            </a:gsLst>
            <a:lin ang="5400000" scaled="0"/>
          </a:gradFill>
          <a:ln>
            <a:gradFill>
              <a:gsLst>
                <a:gs pos="13000">
                  <a:srgbClr val="3368FF">
                    <a:alpha val="0"/>
                  </a:srgbClr>
                </a:gs>
                <a:gs pos="10000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7" name="椭圆 6"/>
          <p:cNvSpPr/>
          <p:nvPr/>
        </p:nvSpPr>
        <p:spPr>
          <a:xfrm>
            <a:off x="8142605" y="4176395"/>
            <a:ext cx="3372485" cy="714375"/>
          </a:xfrm>
          <a:prstGeom prst="ellipse">
            <a:avLst/>
          </a:prstGeom>
          <a:gradFill>
            <a:gsLst>
              <a:gs pos="100000">
                <a:srgbClr val="3368FF"/>
              </a:gs>
              <a:gs pos="11000">
                <a:srgbClr val="E6E6E6">
                  <a:alpha val="0"/>
                </a:srgbClr>
              </a:gs>
            </a:gsLst>
            <a:lin ang="5400000" scaled="0"/>
          </a:gradFill>
          <a:ln>
            <a:gradFill>
              <a:gsLst>
                <a:gs pos="13000">
                  <a:srgbClr val="3368FF">
                    <a:alpha val="0"/>
                  </a:srgbClr>
                </a:gs>
                <a:gs pos="10000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grpSp>
        <p:nvGrpSpPr>
          <p:cNvPr id="72" name="组合 71"/>
          <p:cNvGrpSpPr/>
          <p:nvPr/>
        </p:nvGrpSpPr>
        <p:grpSpPr>
          <a:xfrm>
            <a:off x="4596765" y="5435600"/>
            <a:ext cx="3382010" cy="577215"/>
            <a:chOff x="7239" y="8256"/>
            <a:chExt cx="5326" cy="806"/>
          </a:xfrm>
        </p:grpSpPr>
        <p:sp>
          <p:nvSpPr>
            <p:cNvPr id="9" name="圆角矩形 8"/>
            <p:cNvSpPr/>
            <p:nvPr/>
          </p:nvSpPr>
          <p:spPr>
            <a:xfrm>
              <a:off x="7239" y="8276"/>
              <a:ext cx="2292"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教学管理系统</a:t>
              </a:r>
              <a:endParaRPr lang="zh-CN" altLang="en-US" sz="1200">
                <a:solidFill>
                  <a:srgbClr val="383838"/>
                </a:solidFill>
                <a:cs typeface="微软雅黑"/>
                <a:sym typeface="微软雅黑"/>
                <a:latin typeface="微软雅黑"/>
                <a:ea typeface="微软雅黑"/>
              </a:endParaRPr>
            </a:p>
          </p:txBody>
        </p:sp>
        <p:sp>
          <p:nvSpPr>
            <p:cNvPr id="11" name="圆角矩形 10"/>
            <p:cNvSpPr/>
            <p:nvPr/>
          </p:nvSpPr>
          <p:spPr>
            <a:xfrm>
              <a:off x="7239" y="8716"/>
              <a:ext cx="2292"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学情分析系统</a:t>
              </a:r>
              <a:endParaRPr lang="zh-CN" altLang="en-US" sz="1200">
                <a:solidFill>
                  <a:srgbClr val="383838"/>
                </a:solidFill>
                <a:cs typeface="微软雅黑"/>
                <a:sym typeface="微软雅黑"/>
                <a:latin typeface="微软雅黑"/>
                <a:ea typeface="微软雅黑"/>
              </a:endParaRPr>
            </a:p>
          </p:txBody>
        </p:sp>
        <p:sp>
          <p:nvSpPr>
            <p:cNvPr id="12" name="圆角矩形 11"/>
            <p:cNvSpPr/>
            <p:nvPr/>
          </p:nvSpPr>
          <p:spPr>
            <a:xfrm>
              <a:off x="9731" y="8256"/>
              <a:ext cx="2835"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校园物联网系统</a:t>
              </a:r>
              <a:endParaRPr lang="zh-CN" altLang="en-US" sz="1200">
                <a:solidFill>
                  <a:srgbClr val="383838"/>
                </a:solidFill>
                <a:cs typeface="微软雅黑"/>
                <a:sym typeface="微软雅黑"/>
                <a:latin typeface="微软雅黑"/>
                <a:ea typeface="微软雅黑"/>
              </a:endParaRPr>
            </a:p>
          </p:txBody>
        </p:sp>
        <p:sp>
          <p:nvSpPr>
            <p:cNvPr id="13" name="圆角矩形 12"/>
            <p:cNvSpPr/>
            <p:nvPr/>
          </p:nvSpPr>
          <p:spPr>
            <a:xfrm>
              <a:off x="9731" y="8696"/>
              <a:ext cx="2835"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数字校园设备管控系统</a:t>
              </a:r>
              <a:endParaRPr lang="zh-CN" altLang="en-US" sz="1200">
                <a:solidFill>
                  <a:srgbClr val="383838"/>
                </a:solidFill>
                <a:cs typeface="微软雅黑"/>
                <a:sym typeface="微软雅黑"/>
                <a:latin typeface="微软雅黑"/>
                <a:ea typeface="微软雅黑"/>
              </a:endParaRPr>
            </a:p>
          </p:txBody>
        </p:sp>
      </p:grpSp>
      <p:grpSp>
        <p:nvGrpSpPr>
          <p:cNvPr id="63" name="组合 62"/>
          <p:cNvGrpSpPr/>
          <p:nvPr/>
        </p:nvGrpSpPr>
        <p:grpSpPr>
          <a:xfrm>
            <a:off x="815340" y="3242310"/>
            <a:ext cx="3382645" cy="1184910"/>
            <a:chOff x="1284" y="5336"/>
            <a:chExt cx="5327" cy="1618"/>
          </a:xfrm>
        </p:grpSpPr>
        <p:sp>
          <p:nvSpPr>
            <p:cNvPr id="17" name="圆角矩形 16"/>
            <p:cNvSpPr/>
            <p:nvPr/>
          </p:nvSpPr>
          <p:spPr>
            <a:xfrm>
              <a:off x="1284" y="5336"/>
              <a:ext cx="2827"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教学交互显示终端</a:t>
              </a:r>
              <a:endParaRPr lang="zh-CN" altLang="en-US" sz="1200">
                <a:solidFill>
                  <a:srgbClr val="383838"/>
                </a:solidFill>
                <a:cs typeface="微软雅黑"/>
                <a:latin typeface="微软雅黑"/>
                <a:ea typeface="微软雅黑"/>
              </a:endParaRPr>
            </a:p>
          </p:txBody>
        </p:sp>
        <p:sp>
          <p:nvSpPr>
            <p:cNvPr id="18" name="圆角矩形 17"/>
            <p:cNvSpPr/>
            <p:nvPr/>
          </p:nvSpPr>
          <p:spPr>
            <a:xfrm>
              <a:off x="1284" y="5760"/>
              <a:ext cx="2827"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移动授课终端</a:t>
              </a:r>
              <a:endParaRPr lang="zh-CN" altLang="en-US" sz="1200">
                <a:solidFill>
                  <a:srgbClr val="383838"/>
                </a:solidFill>
                <a:cs typeface="微软雅黑"/>
                <a:latin typeface="微软雅黑"/>
                <a:ea typeface="微软雅黑"/>
              </a:endParaRPr>
            </a:p>
          </p:txBody>
        </p:sp>
        <p:sp>
          <p:nvSpPr>
            <p:cNvPr id="19" name="圆角矩形 18"/>
            <p:cNvSpPr/>
            <p:nvPr/>
          </p:nvSpPr>
          <p:spPr>
            <a:xfrm>
              <a:off x="1284" y="6184"/>
              <a:ext cx="2827"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智慧学习个人终端</a:t>
              </a:r>
              <a:endParaRPr lang="zh-CN" altLang="en-US" sz="1200">
                <a:solidFill>
                  <a:srgbClr val="383838"/>
                </a:solidFill>
                <a:cs typeface="微软雅黑"/>
                <a:latin typeface="微软雅黑"/>
                <a:ea typeface="微软雅黑"/>
              </a:endParaRPr>
            </a:p>
          </p:txBody>
        </p:sp>
        <p:sp>
          <p:nvSpPr>
            <p:cNvPr id="20" name="圆角矩形 19"/>
            <p:cNvSpPr/>
            <p:nvPr/>
          </p:nvSpPr>
          <p:spPr>
            <a:xfrm>
              <a:off x="1284" y="6608"/>
              <a:ext cx="2827"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数字校园文化宣传终端</a:t>
              </a:r>
              <a:endParaRPr lang="zh-CN" altLang="en-US" sz="1200">
                <a:solidFill>
                  <a:srgbClr val="383838"/>
                </a:solidFill>
                <a:cs typeface="微软雅黑"/>
                <a:latin typeface="微软雅黑"/>
                <a:ea typeface="微软雅黑"/>
              </a:endParaRPr>
            </a:p>
          </p:txBody>
        </p:sp>
        <p:sp>
          <p:nvSpPr>
            <p:cNvPr id="21" name="圆角矩形 20"/>
            <p:cNvSpPr/>
            <p:nvPr/>
          </p:nvSpPr>
          <p:spPr>
            <a:xfrm>
              <a:off x="4311" y="5336"/>
              <a:ext cx="2300"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录播系统</a:t>
              </a:r>
              <a:endParaRPr lang="zh-CN" altLang="en-US" sz="1200">
                <a:solidFill>
                  <a:srgbClr val="383838"/>
                </a:solidFill>
                <a:cs typeface="微软雅黑"/>
                <a:latin typeface="微软雅黑"/>
                <a:ea typeface="微软雅黑"/>
              </a:endParaRPr>
            </a:p>
          </p:txBody>
        </p:sp>
        <p:sp>
          <p:nvSpPr>
            <p:cNvPr id="22" name="圆角矩形 21"/>
            <p:cNvSpPr/>
            <p:nvPr/>
          </p:nvSpPr>
          <p:spPr>
            <a:xfrm>
              <a:off x="4311" y="5760"/>
              <a:ext cx="2300"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音频采集设备</a:t>
              </a:r>
              <a:endParaRPr lang="zh-CN" altLang="en-US" sz="1200">
                <a:solidFill>
                  <a:srgbClr val="383838"/>
                </a:solidFill>
                <a:cs typeface="微软雅黑"/>
                <a:latin typeface="微软雅黑"/>
                <a:ea typeface="微软雅黑"/>
              </a:endParaRPr>
            </a:p>
          </p:txBody>
        </p:sp>
        <p:sp>
          <p:nvSpPr>
            <p:cNvPr id="23" name="圆角矩形 22"/>
            <p:cNvSpPr/>
            <p:nvPr/>
          </p:nvSpPr>
          <p:spPr>
            <a:xfrm>
              <a:off x="4311" y="6184"/>
              <a:ext cx="2300"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扩音设备</a:t>
              </a:r>
              <a:endParaRPr lang="zh-CN" altLang="en-US" sz="1200">
                <a:solidFill>
                  <a:srgbClr val="383838"/>
                </a:solidFill>
                <a:cs typeface="微软雅黑"/>
                <a:latin typeface="微软雅黑"/>
                <a:ea typeface="微软雅黑"/>
              </a:endParaRPr>
            </a:p>
          </p:txBody>
        </p:sp>
        <p:sp>
          <p:nvSpPr>
            <p:cNvPr id="24" name="圆角矩形 23"/>
            <p:cNvSpPr/>
            <p:nvPr/>
          </p:nvSpPr>
          <p:spPr>
            <a:xfrm>
              <a:off x="4311" y="6608"/>
              <a:ext cx="2300" cy="346"/>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教学配件</a:t>
              </a:r>
              <a:endParaRPr lang="zh-CN" altLang="en-US" sz="1200">
                <a:solidFill>
                  <a:srgbClr val="383838"/>
                </a:solidFill>
                <a:cs typeface="微软雅黑"/>
                <a:latin typeface="微软雅黑"/>
                <a:ea typeface="微软雅黑"/>
              </a:endParaRPr>
            </a:p>
          </p:txBody>
        </p:sp>
      </p:grpSp>
      <p:grpSp>
        <p:nvGrpSpPr>
          <p:cNvPr id="62" name="组合 61"/>
          <p:cNvGrpSpPr/>
          <p:nvPr/>
        </p:nvGrpSpPr>
        <p:grpSpPr>
          <a:xfrm>
            <a:off x="5048885" y="1745615"/>
            <a:ext cx="2386330" cy="1327785"/>
            <a:chOff x="7962" y="3450"/>
            <a:chExt cx="3758" cy="2091"/>
          </a:xfrm>
        </p:grpSpPr>
        <p:sp>
          <p:nvSpPr>
            <p:cNvPr id="8" name="椭圆 7"/>
            <p:cNvSpPr/>
            <p:nvPr/>
          </p:nvSpPr>
          <p:spPr>
            <a:xfrm>
              <a:off x="7962" y="4415"/>
              <a:ext cx="3758" cy="1126"/>
            </a:xfrm>
            <a:prstGeom prst="ellipse">
              <a:avLst/>
            </a:prstGeom>
            <a:gradFill>
              <a:gsLst>
                <a:gs pos="100000">
                  <a:srgbClr val="B3D4FE"/>
                </a:gs>
                <a:gs pos="11000">
                  <a:srgbClr val="FFFFFF">
                    <a:alpha val="0"/>
                  </a:srgbClr>
                </a:gs>
              </a:gsLst>
              <a:lin ang="5400000" scaled="0"/>
            </a:gradFill>
            <a:ln>
              <a:gradFill>
                <a:gsLst>
                  <a:gs pos="13000">
                    <a:srgbClr val="B3D4FE">
                      <a:alpha val="0"/>
                    </a:srgbClr>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8" name="圆角矩形 27"/>
            <p:cNvSpPr/>
            <p:nvPr/>
          </p:nvSpPr>
          <p:spPr>
            <a:xfrm>
              <a:off x="8291" y="4153"/>
              <a:ext cx="3110" cy="425"/>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教师发展培训服务及平台</a:t>
              </a:r>
              <a:endParaRPr lang="zh-CN" altLang="en-US" sz="1200">
                <a:solidFill>
                  <a:srgbClr val="383838"/>
                </a:solidFill>
                <a:cs typeface="微软雅黑"/>
                <a:latin typeface="微软雅黑"/>
                <a:ea typeface="微软雅黑"/>
              </a:endParaRPr>
            </a:p>
          </p:txBody>
        </p:sp>
        <p:sp>
          <p:nvSpPr>
            <p:cNvPr id="29" name="圆角矩形 28"/>
            <p:cNvSpPr/>
            <p:nvPr/>
          </p:nvSpPr>
          <p:spPr>
            <a:xfrm>
              <a:off x="8291" y="4627"/>
              <a:ext cx="3110" cy="425"/>
            </a:xfrm>
            <a:prstGeom prst="roundRect">
              <a:avLst>
                <a:gd name="adj" fmla="val 50000"/>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algn="ctr">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教师发展培训可视化平台</a:t>
              </a:r>
              <a:endParaRPr lang="zh-CN" altLang="en-US" sz="1200">
                <a:solidFill>
                  <a:srgbClr val="383838"/>
                </a:solidFill>
                <a:cs typeface="微软雅黑"/>
                <a:sym typeface="微软雅黑"/>
                <a:latin typeface="微软雅黑"/>
                <a:ea typeface="微软雅黑"/>
              </a:endParaRPr>
            </a:p>
          </p:txBody>
        </p:sp>
        <p:grpSp>
          <p:nvGrpSpPr>
            <p:cNvPr id="30" name="组合 29"/>
            <p:cNvGrpSpPr/>
            <p:nvPr/>
          </p:nvGrpSpPr>
          <p:grpSpPr>
            <a:xfrm>
              <a:off x="8232" y="3450"/>
              <a:ext cx="3170" cy="590"/>
              <a:chOff x="8488" y="7844"/>
              <a:chExt cx="2664" cy="550"/>
            </a:xfrm>
          </p:grpSpPr>
          <p:sp>
            <p:nvSpPr>
              <p:cNvPr id="31" name="圆角矩形 30"/>
              <p:cNvSpPr/>
              <p:nvPr/>
            </p:nvSpPr>
            <p:spPr>
              <a:xfrm>
                <a:off x="8488" y="7844"/>
                <a:ext cx="2664" cy="550"/>
              </a:xfrm>
              <a:prstGeom prst="roundRect">
                <a:avLst>
                  <a:gd name="adj" fmla="val 50000"/>
                </a:avLst>
              </a:prstGeom>
              <a:solidFill>
                <a:srgbClr val="FFFFFF">
                  <a:alpha val="54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2" name="圆角矩形 31"/>
              <p:cNvSpPr/>
              <p:nvPr/>
            </p:nvSpPr>
            <p:spPr>
              <a:xfrm>
                <a:off x="8547" y="7883"/>
                <a:ext cx="2546" cy="473"/>
              </a:xfrm>
              <a:prstGeom prst="roundRect">
                <a:avLst>
                  <a:gd name="adj" fmla="val 50000"/>
                </a:avLst>
              </a:prstGeom>
              <a:gradFill>
                <a:gsLst>
                  <a:gs pos="0">
                    <a:srgbClr val="B3D4FE"/>
                  </a:gs>
                  <a:gs pos="100000">
                    <a:srgbClr val="3368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b="1">
                    <a:cs typeface="微软雅黑"/>
                    <a:latin typeface="微软雅黑"/>
                    <a:ea typeface="微软雅黑"/>
                  </a:rPr>
                  <a:t>教师专业发展服务</a:t>
                </a:r>
                <a:endParaRPr lang="zh-CN" altLang="en-US" sz="1400" b="1">
                  <a:cs typeface="微软雅黑"/>
                  <a:latin typeface="微软雅黑"/>
                  <a:ea typeface="微软雅黑"/>
                </a:endParaRPr>
              </a:p>
            </p:txBody>
          </p:sp>
        </p:grpSp>
      </p:grpSp>
      <p:grpSp>
        <p:nvGrpSpPr>
          <p:cNvPr id="68" name="组合 67"/>
          <p:cNvGrpSpPr/>
          <p:nvPr/>
        </p:nvGrpSpPr>
        <p:grpSpPr>
          <a:xfrm>
            <a:off x="8225790" y="3241675"/>
            <a:ext cx="3061335" cy="1324610"/>
            <a:chOff x="12954" y="5509"/>
            <a:chExt cx="4821" cy="1664"/>
          </a:xfrm>
        </p:grpSpPr>
        <p:sp>
          <p:nvSpPr>
            <p:cNvPr id="36" name="圆角矩形 35"/>
            <p:cNvSpPr/>
            <p:nvPr/>
          </p:nvSpPr>
          <p:spPr>
            <a:xfrm>
              <a:off x="12954" y="5509"/>
              <a:ext cx="2663"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互动教学应用</a:t>
              </a:r>
              <a:endParaRPr lang="zh-CN" altLang="en-US" sz="1200">
                <a:solidFill>
                  <a:srgbClr val="383838"/>
                </a:solidFill>
                <a:cs typeface="微软雅黑"/>
                <a:sym typeface="微软雅黑"/>
                <a:latin typeface="微软雅黑"/>
                <a:ea typeface="微软雅黑"/>
              </a:endParaRPr>
            </a:p>
          </p:txBody>
        </p:sp>
        <p:sp>
          <p:nvSpPr>
            <p:cNvPr id="37" name="圆角矩形 36"/>
            <p:cNvSpPr/>
            <p:nvPr/>
          </p:nvSpPr>
          <p:spPr>
            <a:xfrm>
              <a:off x="15817" y="5509"/>
              <a:ext cx="1959"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录播应用</a:t>
              </a:r>
              <a:endParaRPr lang="zh-CN" altLang="en-US" sz="1200">
                <a:solidFill>
                  <a:srgbClr val="383838"/>
                </a:solidFill>
                <a:cs typeface="微软雅黑"/>
                <a:sym typeface="微软雅黑"/>
                <a:latin typeface="微软雅黑"/>
                <a:ea typeface="微软雅黑"/>
              </a:endParaRPr>
            </a:p>
          </p:txBody>
        </p:sp>
        <p:sp>
          <p:nvSpPr>
            <p:cNvPr id="38" name="圆角矩形 37"/>
            <p:cNvSpPr/>
            <p:nvPr/>
          </p:nvSpPr>
          <p:spPr>
            <a:xfrm>
              <a:off x="12954" y="5943"/>
              <a:ext cx="2663"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班级管理应用</a:t>
              </a:r>
              <a:endParaRPr lang="zh-CN" altLang="en-US" sz="1200">
                <a:solidFill>
                  <a:srgbClr val="383838"/>
                </a:solidFill>
                <a:cs typeface="微软雅黑"/>
                <a:sym typeface="微软雅黑"/>
                <a:latin typeface="微软雅黑"/>
                <a:ea typeface="微软雅黑"/>
              </a:endParaRPr>
            </a:p>
          </p:txBody>
        </p:sp>
        <p:sp>
          <p:nvSpPr>
            <p:cNvPr id="39" name="圆角矩形 38"/>
            <p:cNvSpPr/>
            <p:nvPr/>
          </p:nvSpPr>
          <p:spPr>
            <a:xfrm>
              <a:off x="15817" y="5943"/>
              <a:ext cx="1959"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在线教学工具</a:t>
              </a:r>
              <a:endParaRPr lang="zh-CN" altLang="en-US" sz="1200">
                <a:solidFill>
                  <a:srgbClr val="383838"/>
                </a:solidFill>
                <a:cs typeface="微软雅黑"/>
                <a:sym typeface="微软雅黑"/>
                <a:latin typeface="微软雅黑"/>
                <a:ea typeface="微软雅黑"/>
              </a:endParaRPr>
            </a:p>
          </p:txBody>
        </p:sp>
        <p:sp>
          <p:nvSpPr>
            <p:cNvPr id="40" name="圆角矩形 39"/>
            <p:cNvSpPr/>
            <p:nvPr/>
          </p:nvSpPr>
          <p:spPr>
            <a:xfrm>
              <a:off x="12954" y="6377"/>
              <a:ext cx="2663"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微课制作应用</a:t>
              </a:r>
              <a:endParaRPr lang="zh-CN" altLang="en-US" sz="1200">
                <a:solidFill>
                  <a:srgbClr val="383838"/>
                </a:solidFill>
                <a:cs typeface="微软雅黑"/>
                <a:sym typeface="微软雅黑"/>
                <a:latin typeface="微软雅黑"/>
                <a:ea typeface="微软雅黑"/>
              </a:endParaRPr>
            </a:p>
          </p:txBody>
        </p:sp>
        <p:sp>
          <p:nvSpPr>
            <p:cNvPr id="41" name="圆角矩形 40"/>
            <p:cNvSpPr/>
            <p:nvPr/>
          </p:nvSpPr>
          <p:spPr>
            <a:xfrm>
              <a:off x="15817" y="6377"/>
              <a:ext cx="1959"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在线授课工具</a:t>
              </a:r>
              <a:endParaRPr lang="zh-CN" altLang="en-US" sz="1200">
                <a:solidFill>
                  <a:srgbClr val="383838"/>
                </a:solidFill>
                <a:cs typeface="微软雅黑"/>
                <a:sym typeface="微软雅黑"/>
                <a:latin typeface="微软雅黑"/>
                <a:ea typeface="微软雅黑"/>
              </a:endParaRPr>
            </a:p>
          </p:txBody>
        </p:sp>
        <p:sp>
          <p:nvSpPr>
            <p:cNvPr id="42" name="圆角矩形 41"/>
            <p:cNvSpPr/>
            <p:nvPr/>
          </p:nvSpPr>
          <p:spPr>
            <a:xfrm>
              <a:off x="12954" y="6811"/>
              <a:ext cx="2663"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智慧课堂教学应用</a:t>
              </a:r>
              <a:endParaRPr lang="zh-CN" altLang="en-US" sz="1200">
                <a:solidFill>
                  <a:srgbClr val="383838"/>
                </a:solidFill>
                <a:cs typeface="微软雅黑"/>
                <a:sym typeface="微软雅黑"/>
                <a:latin typeface="微软雅黑"/>
                <a:ea typeface="微软雅黑"/>
              </a:endParaRPr>
            </a:p>
          </p:txBody>
        </p:sp>
        <p:sp>
          <p:nvSpPr>
            <p:cNvPr id="43" name="圆角矩形 42"/>
            <p:cNvSpPr/>
            <p:nvPr/>
          </p:nvSpPr>
          <p:spPr>
            <a:xfrm>
              <a:off x="15817" y="6811"/>
              <a:ext cx="1959" cy="363"/>
            </a:xfrm>
            <a:prstGeom prst="roundRect">
              <a:avLst>
                <a:gd name="adj" fmla="val 50000"/>
              </a:avLst>
            </a:prstGeom>
            <a:solidFill>
              <a:srgbClr val="FFFFFF"/>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在线作业工具</a:t>
              </a:r>
              <a:endParaRPr lang="zh-CN" altLang="en-US" sz="1200">
                <a:solidFill>
                  <a:srgbClr val="383838"/>
                </a:solidFill>
                <a:cs typeface="微软雅黑"/>
                <a:sym typeface="微软雅黑"/>
                <a:latin typeface="微软雅黑"/>
                <a:ea typeface="微软雅黑"/>
              </a:endParaRPr>
            </a:p>
          </p:txBody>
        </p:sp>
      </p:grpSp>
      <p:cxnSp>
        <p:nvCxnSpPr>
          <p:cNvPr id="44" name="曲线连接符 43"/>
          <p:cNvCxnSpPr>
            <a:stCxn id="2" idx="3"/>
            <a:endCxn id="4" idx="2"/>
          </p:cNvCxnSpPr>
          <p:nvPr/>
        </p:nvCxnSpPr>
        <p:spPr>
          <a:xfrm rot="5400000" flipV="1">
            <a:off x="2214880" y="3773170"/>
            <a:ext cx="1281430" cy="3253740"/>
          </a:xfrm>
          <a:prstGeom prst="curvedConnector2">
            <a:avLst/>
          </a:prstGeom>
          <a:ln>
            <a:solidFill>
              <a:srgbClr val="0042FF"/>
            </a:solidFill>
            <a:prstDash val="dash"/>
            <a:headEnd type="oval"/>
            <a:tailEnd type="oval"/>
          </a:ln>
        </p:spPr>
        <p:style>
          <a:lnRef idx="2">
            <a:srgbClr val="0042FF"/>
          </a:lnRef>
          <a:fillRef idx="0">
            <a:srgbClr val="FFFFFF"/>
          </a:fillRef>
          <a:effectRef idx="0">
            <a:srgbClr val="FFFFFF"/>
          </a:effectRef>
          <a:fontRef idx="minor">
            <a:srgbClr val="383838"/>
          </a:fontRef>
        </p:style>
      </p:cxnSp>
      <p:cxnSp>
        <p:nvCxnSpPr>
          <p:cNvPr id="45" name="曲线连接符 44"/>
          <p:cNvCxnSpPr>
            <a:stCxn id="46" idx="6"/>
            <a:endCxn id="47" idx="4"/>
          </p:cNvCxnSpPr>
          <p:nvPr/>
        </p:nvCxnSpPr>
        <p:spPr>
          <a:xfrm flipV="1">
            <a:off x="8097520" y="4890770"/>
            <a:ext cx="2355215" cy="1145540"/>
          </a:xfrm>
          <a:prstGeom prst="curvedConnector2">
            <a:avLst/>
          </a:prstGeom>
          <a:ln>
            <a:solidFill>
              <a:srgbClr val="0042FF"/>
            </a:solidFill>
            <a:prstDash val="dash"/>
            <a:headEnd type="oval"/>
            <a:tailEnd type="oval"/>
          </a:ln>
        </p:spPr>
        <p:style>
          <a:lnRef idx="2">
            <a:srgbClr val="0042FF"/>
          </a:lnRef>
          <a:fillRef idx="0">
            <a:srgbClr val="FFFFFF"/>
          </a:fillRef>
          <a:effectRef idx="0">
            <a:srgbClr val="FFFFFF"/>
          </a:effectRef>
          <a:fontRef idx="minor">
            <a:srgbClr val="383838"/>
          </a:fontRef>
        </p:style>
      </p:cxnSp>
      <p:cxnSp>
        <p:nvCxnSpPr>
          <p:cNvPr id="49" name="曲线连接符 48"/>
          <p:cNvCxnSpPr/>
          <p:nvPr/>
        </p:nvCxnSpPr>
        <p:spPr>
          <a:xfrm rot="5400000" flipV="1">
            <a:off x="4441190" y="4272280"/>
            <a:ext cx="480060" cy="1308735"/>
          </a:xfrm>
          <a:prstGeom prst="curvedConnector2">
            <a:avLst/>
          </a:prstGeom>
          <a:ln>
            <a:solidFill>
              <a:srgbClr val="3368FF"/>
            </a:solidFill>
            <a:prstDash val="dash"/>
            <a:headEnd type="oval"/>
            <a:tailEnd type="oval"/>
          </a:ln>
        </p:spPr>
        <p:style>
          <a:lnRef idx="2">
            <a:srgbClr val="0042FF"/>
          </a:lnRef>
          <a:fillRef idx="0">
            <a:srgbClr val="FFFFFF"/>
          </a:fillRef>
          <a:effectRef idx="0">
            <a:srgbClr val="FFFFFF"/>
          </a:effectRef>
          <a:fontRef idx="minor">
            <a:srgbClr val="383838"/>
          </a:fontRef>
        </p:style>
      </p:cxnSp>
      <p:cxnSp>
        <p:nvCxnSpPr>
          <p:cNvPr id="53" name="曲线连接符 52"/>
          <p:cNvCxnSpPr/>
          <p:nvPr/>
        </p:nvCxnSpPr>
        <p:spPr>
          <a:xfrm flipV="1">
            <a:off x="7081520" y="4631690"/>
            <a:ext cx="1137285" cy="535305"/>
          </a:xfrm>
          <a:prstGeom prst="curvedConnector2">
            <a:avLst/>
          </a:prstGeom>
          <a:ln>
            <a:solidFill>
              <a:srgbClr val="3368FF"/>
            </a:solidFill>
            <a:prstDash val="dash"/>
            <a:headEnd type="oval"/>
            <a:tailEnd type="oval"/>
          </a:ln>
        </p:spPr>
        <p:style>
          <a:lnRef idx="2">
            <a:srgbClr val="0042FF"/>
          </a:lnRef>
          <a:fillRef idx="0">
            <a:srgbClr val="FFFFFF"/>
          </a:fillRef>
          <a:effectRef idx="0">
            <a:srgbClr val="FFFFFF"/>
          </a:effectRef>
          <a:fontRef idx="minor">
            <a:srgbClr val="383838"/>
          </a:fontRef>
        </p:style>
      </p:cxnSp>
      <p:cxnSp>
        <p:nvCxnSpPr>
          <p:cNvPr id="54" name="直接箭头连接符 53"/>
          <p:cNvCxnSpPr/>
          <p:nvPr/>
        </p:nvCxnSpPr>
        <p:spPr>
          <a:xfrm flipV="1">
            <a:off x="4252595" y="3042920"/>
            <a:ext cx="1309370" cy="113284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55" name="直接箭头连接符 54"/>
          <p:cNvCxnSpPr/>
          <p:nvPr/>
        </p:nvCxnSpPr>
        <p:spPr>
          <a:xfrm flipH="1">
            <a:off x="4252595" y="2968625"/>
            <a:ext cx="1145540" cy="988695"/>
          </a:xfrm>
          <a:prstGeom prst="straightConnector1">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56" name="直接箭头连接符 55"/>
          <p:cNvCxnSpPr/>
          <p:nvPr/>
        </p:nvCxnSpPr>
        <p:spPr>
          <a:xfrm>
            <a:off x="7085965" y="3041650"/>
            <a:ext cx="1045210" cy="932815"/>
          </a:xfrm>
          <a:prstGeom prst="straightConnector1">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57" name="直接箭头连接符 56"/>
          <p:cNvCxnSpPr/>
          <p:nvPr/>
        </p:nvCxnSpPr>
        <p:spPr>
          <a:xfrm flipH="1" flipV="1">
            <a:off x="6887845" y="3146425"/>
            <a:ext cx="1158240" cy="100203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58" name="直接箭头连接符 57"/>
          <p:cNvCxnSpPr/>
          <p:nvPr/>
        </p:nvCxnSpPr>
        <p:spPr>
          <a:xfrm flipV="1">
            <a:off x="6203633" y="3222625"/>
            <a:ext cx="6350" cy="1758315"/>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grpSp>
        <p:nvGrpSpPr>
          <p:cNvPr id="59" name="组合 58"/>
          <p:cNvGrpSpPr/>
          <p:nvPr/>
        </p:nvGrpSpPr>
        <p:grpSpPr>
          <a:xfrm>
            <a:off x="1726565" y="2771775"/>
            <a:ext cx="1729740" cy="374650"/>
            <a:chOff x="8488" y="7844"/>
            <a:chExt cx="2664" cy="550"/>
          </a:xfrm>
        </p:grpSpPr>
        <p:sp>
          <p:nvSpPr>
            <p:cNvPr id="60" name="圆角矩形 59"/>
            <p:cNvSpPr/>
            <p:nvPr/>
          </p:nvSpPr>
          <p:spPr>
            <a:xfrm>
              <a:off x="8488" y="7844"/>
              <a:ext cx="2664" cy="550"/>
            </a:xfrm>
            <a:prstGeom prst="roundRect">
              <a:avLst>
                <a:gd name="adj" fmla="val 50000"/>
              </a:avLst>
            </a:prstGeom>
            <a:solidFill>
              <a:srgbClr val="FFFFFF">
                <a:alpha val="54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1" name="圆角矩形 60"/>
            <p:cNvSpPr/>
            <p:nvPr/>
          </p:nvSpPr>
          <p:spPr>
            <a:xfrm>
              <a:off x="8547" y="7883"/>
              <a:ext cx="2546" cy="473"/>
            </a:xfrm>
            <a:prstGeom prst="roundRect">
              <a:avLst>
                <a:gd name="adj" fmla="val 50000"/>
              </a:avLst>
            </a:prstGeom>
            <a:gradFill>
              <a:gsLst>
                <a:gs pos="0">
                  <a:srgbClr val="3368FF"/>
                </a:gs>
                <a:gs pos="100000">
                  <a:srgbClr val="0042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数学化教学硬件</a:t>
              </a:r>
              <a:endParaRPr lang="zh-CN" altLang="en-US" sz="1400" b="1">
                <a:solidFill>
                  <a:srgbClr val="FFFFFF"/>
                </a:solidFill>
                <a:cs typeface="微软雅黑"/>
                <a:latin typeface="微软雅黑"/>
                <a:ea typeface="微软雅黑"/>
              </a:endParaRPr>
            </a:p>
          </p:txBody>
        </p:sp>
      </p:grpSp>
      <p:grpSp>
        <p:nvGrpSpPr>
          <p:cNvPr id="65" name="组合 64"/>
          <p:cNvGrpSpPr/>
          <p:nvPr/>
        </p:nvGrpSpPr>
        <p:grpSpPr>
          <a:xfrm>
            <a:off x="8916670" y="2771775"/>
            <a:ext cx="1729740" cy="374650"/>
            <a:chOff x="8488" y="7844"/>
            <a:chExt cx="2664" cy="550"/>
          </a:xfrm>
        </p:grpSpPr>
        <p:sp>
          <p:nvSpPr>
            <p:cNvPr id="66" name="圆角矩形 65"/>
            <p:cNvSpPr/>
            <p:nvPr/>
          </p:nvSpPr>
          <p:spPr>
            <a:xfrm>
              <a:off x="8488" y="7844"/>
              <a:ext cx="2664" cy="550"/>
            </a:xfrm>
            <a:prstGeom prst="roundRect">
              <a:avLst>
                <a:gd name="adj" fmla="val 50000"/>
              </a:avLst>
            </a:prstGeom>
            <a:solidFill>
              <a:srgbClr val="FFFFFF">
                <a:alpha val="54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7" name="圆角矩形 66"/>
            <p:cNvSpPr/>
            <p:nvPr/>
          </p:nvSpPr>
          <p:spPr>
            <a:xfrm>
              <a:off x="8547" y="7883"/>
              <a:ext cx="2546" cy="473"/>
            </a:xfrm>
            <a:prstGeom prst="roundRect">
              <a:avLst>
                <a:gd name="adj" fmla="val 50000"/>
              </a:avLst>
            </a:prstGeom>
            <a:gradFill>
              <a:gsLst>
                <a:gs pos="0">
                  <a:srgbClr val="3368FF"/>
                </a:gs>
                <a:gs pos="100000">
                  <a:srgbClr val="0042FF"/>
                </a:gs>
              </a:gsLst>
              <a:lin ang="54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数字化教学应用</a:t>
              </a:r>
              <a:endParaRPr lang="zh-CN" altLang="en-US" sz="1400" b="1">
                <a:solidFill>
                  <a:srgbClr val="FFFFFF"/>
                </a:solidFill>
                <a:cs typeface="微软雅黑"/>
                <a:latin typeface="微软雅黑"/>
                <a:ea typeface="微软雅黑"/>
              </a:endParaRPr>
            </a:p>
          </p:txBody>
        </p:sp>
      </p:grpSp>
      <p:sp>
        <p:nvSpPr>
          <p:cNvPr id="74" name="文本框 73"/>
          <p:cNvSpPr txBox="1"/>
          <p:nvPr/>
        </p:nvSpPr>
        <p:spPr>
          <a:xfrm rot="19140000">
            <a:off x="4241800" y="3231515"/>
            <a:ext cx="95059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应用融合</a:t>
            </a:r>
            <a:endParaRPr lang="zh-CN" altLang="en-US" sz="1200">
              <a:solidFill>
                <a:srgbClr val="0042FF"/>
              </a:solidFill>
              <a:latin typeface="微软雅黑"/>
              <a:ea typeface="微软雅黑"/>
              <a:cs typeface="微软雅黑"/>
            </a:endParaRPr>
          </a:p>
        </p:txBody>
      </p:sp>
      <p:sp>
        <p:nvSpPr>
          <p:cNvPr id="75" name="文本框 74"/>
          <p:cNvSpPr txBox="1"/>
          <p:nvPr/>
        </p:nvSpPr>
        <p:spPr>
          <a:xfrm rot="19140000">
            <a:off x="4521200" y="3593465"/>
            <a:ext cx="95059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服务支持</a:t>
            </a:r>
            <a:endParaRPr lang="zh-CN" altLang="en-US" sz="1200">
              <a:solidFill>
                <a:srgbClr val="0042FF"/>
              </a:solidFill>
              <a:latin typeface="微软雅黑"/>
              <a:ea typeface="微软雅黑"/>
              <a:cs typeface="微软雅黑"/>
            </a:endParaRPr>
          </a:p>
        </p:txBody>
      </p:sp>
      <p:sp>
        <p:nvSpPr>
          <p:cNvPr id="76" name="文本框 75"/>
          <p:cNvSpPr txBox="1"/>
          <p:nvPr/>
        </p:nvSpPr>
        <p:spPr>
          <a:xfrm rot="2580000">
            <a:off x="7214235" y="3240405"/>
            <a:ext cx="95059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应用融合</a:t>
            </a:r>
            <a:endParaRPr lang="zh-CN" altLang="en-US" sz="1200">
              <a:solidFill>
                <a:srgbClr val="0042FF"/>
              </a:solidFill>
              <a:latin typeface="微软雅黑"/>
              <a:ea typeface="微软雅黑"/>
              <a:cs typeface="微软雅黑"/>
            </a:endParaRPr>
          </a:p>
        </p:txBody>
      </p:sp>
      <p:sp>
        <p:nvSpPr>
          <p:cNvPr id="77" name="文本框 76"/>
          <p:cNvSpPr txBox="1"/>
          <p:nvPr/>
        </p:nvSpPr>
        <p:spPr>
          <a:xfrm rot="2460000">
            <a:off x="6861810" y="3593465"/>
            <a:ext cx="95059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服务支持</a:t>
            </a:r>
            <a:endParaRPr lang="zh-CN" altLang="en-US" sz="1200">
              <a:solidFill>
                <a:srgbClr val="0042FF"/>
              </a:solidFill>
              <a:latin typeface="微软雅黑"/>
              <a:ea typeface="微软雅黑"/>
              <a:cs typeface="微软雅黑"/>
            </a:endParaRPr>
          </a:p>
        </p:txBody>
      </p:sp>
      <p:sp>
        <p:nvSpPr>
          <p:cNvPr id="78" name="文本框 77"/>
          <p:cNvSpPr txBox="1"/>
          <p:nvPr/>
        </p:nvSpPr>
        <p:spPr>
          <a:xfrm>
            <a:off x="5725795" y="4013200"/>
            <a:ext cx="950595" cy="275590"/>
          </a:xfrm>
          <a:prstGeom prst="rect">
            <a:avLst/>
          </a:prstGeom>
          <a:solidFill>
            <a:srgbClr val="FFFFFF"/>
          </a:solid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数据赋能</a:t>
            </a:r>
            <a:endParaRPr lang="zh-CN" altLang="en-US" sz="1200">
              <a:solidFill>
                <a:srgbClr val="0042FF"/>
              </a:solidFill>
              <a:latin typeface="微软雅黑"/>
              <a:ea typeface="微软雅黑"/>
              <a:cs typeface="微软雅黑"/>
            </a:endParaRPr>
          </a:p>
        </p:txBody>
      </p:sp>
      <p:sp>
        <p:nvSpPr>
          <p:cNvPr id="79" name="文本框 78"/>
          <p:cNvSpPr txBox="1"/>
          <p:nvPr/>
        </p:nvSpPr>
        <p:spPr>
          <a:xfrm rot="720000">
            <a:off x="2158365" y="5584825"/>
            <a:ext cx="950595" cy="275590"/>
          </a:xfrm>
          <a:prstGeom prst="rect">
            <a:avLst/>
          </a:prstGeom>
          <a:solidFill>
            <a:srgbClr val="FFFFFF"/>
          </a:solid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数据融合</a:t>
            </a:r>
            <a:endParaRPr lang="zh-CN" altLang="en-US" sz="1200">
              <a:solidFill>
                <a:srgbClr val="0042FF"/>
              </a:solidFill>
              <a:latin typeface="微软雅黑"/>
              <a:ea typeface="微软雅黑"/>
              <a:cs typeface="微软雅黑"/>
            </a:endParaRPr>
          </a:p>
        </p:txBody>
      </p:sp>
      <p:sp>
        <p:nvSpPr>
          <p:cNvPr id="80" name="文本框 79"/>
          <p:cNvSpPr txBox="1"/>
          <p:nvPr/>
        </p:nvSpPr>
        <p:spPr>
          <a:xfrm rot="20400000">
            <a:off x="8973185" y="5643245"/>
            <a:ext cx="950595" cy="275590"/>
          </a:xfrm>
          <a:prstGeom prst="rect">
            <a:avLst/>
          </a:prstGeom>
          <a:solidFill>
            <a:srgbClr val="FFFFFF"/>
          </a:solid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数据融合</a:t>
            </a:r>
            <a:endParaRPr lang="zh-CN" altLang="en-US" sz="1200">
              <a:solidFill>
                <a:srgbClr val="0042FF"/>
              </a:solidFill>
              <a:latin typeface="微软雅黑"/>
              <a:ea typeface="微软雅黑"/>
              <a:cs typeface="微软雅黑"/>
            </a:endParaRPr>
          </a:p>
        </p:txBody>
      </p:sp>
      <p:sp>
        <p:nvSpPr>
          <p:cNvPr id="81" name="文本框 80"/>
          <p:cNvSpPr txBox="1"/>
          <p:nvPr/>
        </p:nvSpPr>
        <p:spPr>
          <a:xfrm>
            <a:off x="5725795" y="1184275"/>
            <a:ext cx="1511935" cy="521970"/>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产品</a:t>
            </a:r>
            <a:r>
              <a:rPr lang="en-US" altLang="zh-CN" sz="1400" b="1">
                <a:solidFill>
                  <a:srgbClr val="0042FF"/>
                </a:solidFill>
                <a:latin typeface="微软雅黑"/>
                <a:ea typeface="微软雅黑"/>
                <a:cs typeface="微软雅黑"/>
              </a:rPr>
              <a:t>&amp;</a:t>
            </a:r>
            <a:r>
              <a:rPr lang="zh-CN" altLang="en-US" sz="1400" b="1">
                <a:solidFill>
                  <a:srgbClr val="0042FF"/>
                </a:solidFill>
                <a:latin typeface="微软雅黑"/>
                <a:ea typeface="微软雅黑"/>
                <a:cs typeface="微软雅黑"/>
              </a:rPr>
              <a:t>服务</a:t>
            </a:r>
            <a:endParaRPr lang="zh-CN" altLang="en-US" sz="1400"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体系框架</a:t>
            </a:r>
            <a:endParaRPr lang="zh-CN" altLang="en-US" sz="1400" b="1">
              <a:solidFill>
                <a:srgbClr val="0042FF"/>
              </a:solidFill>
              <a:latin typeface="微软雅黑"/>
              <a:ea typeface="微软雅黑"/>
              <a:cs typeface="微软雅黑"/>
            </a:endParaRPr>
          </a:p>
        </p:txBody>
      </p:sp>
      <p:pic>
        <p:nvPicPr>
          <p:cNvPr id="82" name="图片 81" descr="w_教学"/>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491480" y="1206500"/>
            <a:ext cx="499745" cy="499745"/>
          </a:xfrm>
          <a:prstGeom prst="rect">
            <a:avLst/>
          </a:prstGeom>
        </p:spPr>
      </p:pic>
      <p:grpSp>
        <p:nvGrpSpPr>
          <p:cNvPr id="85" name="组合 84"/>
          <p:cNvGrpSpPr/>
          <p:nvPr/>
        </p:nvGrpSpPr>
        <p:grpSpPr>
          <a:xfrm>
            <a:off x="1228090" y="1360170"/>
            <a:ext cx="3982720" cy="1133475"/>
            <a:chOff x="1934" y="2142"/>
            <a:chExt cx="6272" cy="1785"/>
          </a:xfrm>
        </p:grpSpPr>
        <p:sp>
          <p:nvSpPr>
            <p:cNvPr id="83" name="矩形 82"/>
            <p:cNvSpPr/>
            <p:nvPr/>
          </p:nvSpPr>
          <p:spPr>
            <a:xfrm>
              <a:off x="1934" y="2142"/>
              <a:ext cx="5306" cy="1785"/>
            </a:xfrm>
            <a:prstGeom prst="rect">
              <a:avLst/>
            </a:prstGeom>
            <a:solidFill>
              <a:srgbClr val="FFFFFF">
                <a:alpha val="50000"/>
              </a:srgbClr>
            </a:solidFill>
            <a:ln>
              <a:solidFill>
                <a:srgbClr val="B3D4FE"/>
              </a:solidFill>
              <a:prstDash val="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84" name="直接连接符 83"/>
            <p:cNvCxnSpPr>
              <a:stCxn id="83" idx="3"/>
            </p:cNvCxnSpPr>
            <p:nvPr/>
          </p:nvCxnSpPr>
          <p:spPr>
            <a:xfrm flipV="1">
              <a:off x="7240" y="3026"/>
              <a:ext cx="966" cy="9"/>
            </a:xfrm>
            <a:prstGeom prst="line">
              <a:avLst/>
            </a:prstGeom>
            <a:ln>
              <a:solidFill>
                <a:srgbClr val="B3D4FE"/>
              </a:solidFill>
              <a:headEnd type="oval"/>
              <a:tailEnd type="oval"/>
            </a:ln>
          </p:spPr>
          <p:style>
            <a:lnRef idx="2">
              <a:srgbClr val="0042FF"/>
            </a:lnRef>
            <a:fillRef idx="0">
              <a:srgbClr val="FFFFFF"/>
            </a:fillRef>
            <a:effectRef idx="0">
              <a:srgbClr val="FFFFFF"/>
            </a:effectRef>
            <a:fontRef idx="minor">
              <a:srgbClr val="383838"/>
            </a:fontRef>
          </p:style>
        </p:cxnSp>
      </p:grpSp>
      <p:grpSp>
        <p:nvGrpSpPr>
          <p:cNvPr id="86" name="组合 85"/>
          <p:cNvGrpSpPr/>
          <p:nvPr/>
        </p:nvGrpSpPr>
        <p:grpSpPr>
          <a:xfrm flipH="1">
            <a:off x="7263130" y="1360170"/>
            <a:ext cx="4761230" cy="1132840"/>
            <a:chOff x="708" y="2142"/>
            <a:chExt cx="7498" cy="1784"/>
          </a:xfrm>
        </p:grpSpPr>
        <p:sp>
          <p:nvSpPr>
            <p:cNvPr id="87" name="矩形 86"/>
            <p:cNvSpPr/>
            <p:nvPr/>
          </p:nvSpPr>
          <p:spPr>
            <a:xfrm>
              <a:off x="708" y="2142"/>
              <a:ext cx="6532" cy="1785"/>
            </a:xfrm>
            <a:prstGeom prst="rect">
              <a:avLst/>
            </a:prstGeom>
            <a:solidFill>
              <a:srgbClr val="FFFFFF">
                <a:alpha val="50000"/>
              </a:srgbClr>
            </a:solidFill>
            <a:ln>
              <a:solidFill>
                <a:srgbClr val="B3D4FE"/>
              </a:solidFill>
              <a:prstDash val="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88" name="直接连接符 87"/>
            <p:cNvCxnSpPr>
              <a:stCxn id="87" idx="3"/>
            </p:cNvCxnSpPr>
            <p:nvPr/>
          </p:nvCxnSpPr>
          <p:spPr>
            <a:xfrm flipV="1">
              <a:off x="7240" y="3026"/>
              <a:ext cx="966" cy="9"/>
            </a:xfrm>
            <a:prstGeom prst="line">
              <a:avLst/>
            </a:prstGeom>
            <a:ln>
              <a:solidFill>
                <a:srgbClr val="B3D4FE"/>
              </a:solidFill>
              <a:headEnd type="oval"/>
              <a:tailEnd type="oval"/>
            </a:ln>
          </p:spPr>
          <p:style>
            <a:lnRef idx="2">
              <a:srgbClr val="0042FF"/>
            </a:lnRef>
            <a:fillRef idx="0">
              <a:srgbClr val="FFFFFF"/>
            </a:fillRef>
            <a:effectRef idx="0">
              <a:srgbClr val="FFFFFF"/>
            </a:effectRef>
            <a:fontRef idx="minor">
              <a:srgbClr val="383838"/>
            </a:fontRef>
          </p:style>
        </p:cxnSp>
      </p:grpSp>
      <p:sp>
        <p:nvSpPr>
          <p:cNvPr id="89" name="矩形 88"/>
          <p:cNvSpPr/>
          <p:nvPr/>
        </p:nvSpPr>
        <p:spPr>
          <a:xfrm>
            <a:off x="434340" y="1363980"/>
            <a:ext cx="807720" cy="1127760"/>
          </a:xfrm>
          <a:prstGeom prst="rect">
            <a:avLst/>
          </a:prstGeom>
          <a:gradFill>
            <a:gsLst>
              <a:gs pos="0">
                <a:srgbClr val="B3D4FE"/>
              </a:gs>
              <a:gs pos="100000">
                <a:srgbClr val="3368FF"/>
              </a:gs>
            </a:gsLst>
            <a:lin ang="5400000" scaled="0"/>
          </a:gra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cs typeface="微软雅黑"/>
                <a:sym typeface="微软雅黑"/>
                <a:latin typeface="微软雅黑"/>
                <a:ea typeface="微软雅黑"/>
              </a:rPr>
              <a:t>①</a:t>
            </a:r>
            <a:endParaRPr lang="zh-CN" altLang="en-US" sz="1400" b="1">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400" b="1">
                <a:cs typeface="微软雅黑"/>
                <a:sym typeface="微软雅黑"/>
                <a:latin typeface="微软雅黑"/>
                <a:ea typeface="微软雅黑"/>
              </a:rPr>
              <a:t>产品</a:t>
            </a:r>
            <a:endParaRPr lang="zh-CN" altLang="en-US" sz="1400" b="1">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400" b="1">
                <a:cs typeface="微软雅黑"/>
                <a:sym typeface="微软雅黑"/>
                <a:latin typeface="微软雅黑"/>
                <a:ea typeface="微软雅黑"/>
              </a:rPr>
              <a:t>体系</a:t>
            </a:r>
            <a:endParaRPr lang="zh-CN" altLang="en-US" sz="1400" b="1">
              <a:cs typeface="微软雅黑"/>
              <a:sym typeface="微软雅黑"/>
              <a:latin typeface="微软雅黑"/>
              <a:ea typeface="微软雅黑"/>
            </a:endParaRPr>
          </a:p>
        </p:txBody>
      </p:sp>
      <p:sp>
        <p:nvSpPr>
          <p:cNvPr id="90" name="矩形 89"/>
          <p:cNvSpPr/>
          <p:nvPr/>
        </p:nvSpPr>
        <p:spPr>
          <a:xfrm>
            <a:off x="11216640" y="1365885"/>
            <a:ext cx="807720" cy="1127760"/>
          </a:xfrm>
          <a:prstGeom prst="rect">
            <a:avLst/>
          </a:prstGeom>
          <a:gradFill>
            <a:gsLst>
              <a:gs pos="0">
                <a:srgbClr val="B3D4FE"/>
              </a:gs>
              <a:gs pos="100000">
                <a:srgbClr val="3368FF"/>
              </a:gs>
            </a:gsLst>
            <a:lin ang="5400000" scaled="0"/>
          </a:gra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cs typeface="微软雅黑"/>
                <a:sym typeface="微软雅黑"/>
                <a:latin typeface="微软雅黑"/>
                <a:ea typeface="微软雅黑"/>
              </a:rPr>
              <a:t>②</a:t>
            </a:r>
            <a:endParaRPr lang="zh-CN" altLang="en-US" sz="1400" b="1">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400" b="1">
                <a:cs typeface="微软雅黑"/>
                <a:sym typeface="微软雅黑"/>
                <a:latin typeface="微软雅黑"/>
                <a:ea typeface="微软雅黑"/>
              </a:rPr>
              <a:t>服务</a:t>
            </a:r>
            <a:endParaRPr lang="zh-CN" altLang="en-US" sz="1400" b="1">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400" b="1">
                <a:cs typeface="微软雅黑"/>
                <a:sym typeface="微软雅黑"/>
                <a:latin typeface="微软雅黑"/>
                <a:ea typeface="微软雅黑"/>
              </a:rPr>
              <a:t>体系</a:t>
            </a:r>
            <a:endParaRPr lang="zh-CN" altLang="en-US" sz="1400" b="1">
              <a:cs typeface="微软雅黑"/>
              <a:sym typeface="微软雅黑"/>
              <a:latin typeface="微软雅黑"/>
              <a:ea typeface="微软雅黑"/>
            </a:endParaRPr>
          </a:p>
        </p:txBody>
      </p:sp>
      <p:sp>
        <p:nvSpPr>
          <p:cNvPr id="91" name="文本框 90"/>
          <p:cNvSpPr txBox="1"/>
          <p:nvPr/>
        </p:nvSpPr>
        <p:spPr>
          <a:xfrm>
            <a:off x="1350645" y="1511935"/>
            <a:ext cx="3081020" cy="829945"/>
          </a:xfrm>
          <a:prstGeom prst="rect">
            <a:avLst/>
          </a:prstGeom>
          <a:noFill/>
          <a:extLst>
            <a:ext uri="{909E8E84-426E-40DD-AFC4-6F175D3DCCD1}">
              <a14:hiddenFill xmlns:a14="http://schemas.microsoft.com/office/drawing/2010/main">
                <a:solidFill>
                  <a:srgbClr val="FFFFFF"/>
                </a:solidFill>
              </a14:hiddenFill>
            </a:ext>
          </a:extLst>
        </p:spPr>
        <p:txBody>
          <a:bodyPr wrap="square" rtlCol="0">
            <a:spAutoFit/>
          </a:bodyPr>
          <a:p>
            <a:pPr lvl="0" algn="l">
              <a:buClrTx/>
              <a:buSzTx/>
              <a:buFontTx/>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涵盖教学交互显示终端、移动授课终端、智慧学习终端及校园文化传播终端，同时包括音频采集与扩音设备，全面支撑课堂教学、校园文化展示等多元场景。</a:t>
            </a:r>
            <a:endParaRPr lang="zh-CN" altLang="en-US" sz="1200">
              <a:solidFill>
                <a:srgbClr val="383838"/>
              </a:solidFill>
              <a:latin typeface="微软雅黑"/>
              <a:ea typeface="微软雅黑"/>
              <a:cs typeface="微软雅黑"/>
              <a:sym typeface="微软雅黑"/>
            </a:endParaRPr>
          </a:p>
        </p:txBody>
      </p:sp>
      <p:sp>
        <p:nvSpPr>
          <p:cNvPr id="92" name="文本框 91"/>
          <p:cNvSpPr txBox="1"/>
          <p:nvPr/>
        </p:nvSpPr>
        <p:spPr>
          <a:xfrm>
            <a:off x="8015605" y="1506855"/>
            <a:ext cx="3081020" cy="829945"/>
          </a:xfrm>
          <a:prstGeom prst="rect">
            <a:avLst/>
          </a:prstGeom>
          <a:noFill/>
          <a:extLst>
            <a:ext uri="{909E8E84-426E-40DD-AFC4-6F175D3DCCD1}">
              <a14:hiddenFill xmlns:a14="http://schemas.microsoft.com/office/drawing/2010/main">
                <a:solidFill>
                  <a:srgbClr val="FFFFFF"/>
                </a:solidFill>
              </a14:hiddenFill>
            </a:ext>
          </a:extLst>
        </p:spPr>
        <p:txBody>
          <a:bodyPr wrap="square" rtlCol="0">
            <a:spAutoFit/>
          </a:bodyPr>
          <a:p>
            <a:pPr algn="l">
              <a:defRPr>
                <a:latin typeface="微软雅黑"/>
                <a:ea typeface="微软雅黑"/>
                <a:cs typeface="微软雅黑"/>
              </a:defRPr>
            </a:pPr>
            <a:r>
              <a:rPr lang="zh-CN" altLang="en-US" sz="1200">
                <a:solidFill>
                  <a:srgbClr val="383838"/>
                </a:solidFill>
                <a:latin typeface="微软雅黑"/>
                <a:ea typeface="微软雅黑"/>
                <a:cs typeface="微软雅黑"/>
              </a:rPr>
              <a:t>涵盖互动教学、班级管理等教学应用，教学管理、学情分析等管理系统，以及数据采集整合服务，旨在深度优化教学管理、学情分析与家校互动，推动教育数字化发展。</a:t>
            </a:r>
            <a:endParaRPr lang="zh-CN" altLang="en-US" sz="1200">
              <a:solidFill>
                <a:srgbClr val="383838"/>
              </a:solidFill>
              <a:latin typeface="微软雅黑"/>
              <a:ea typeface="微软雅黑"/>
              <a:cs typeface="微软雅黑"/>
            </a:endParaRPr>
          </a:p>
        </p:txBody>
      </p:sp>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0" name="组合 9"/>
          <p:cNvGrpSpPr/>
          <p:nvPr/>
        </p:nvGrpSpPr>
        <p:grpSpPr>
          <a:xfrm>
            <a:off x="8738235" y="348615"/>
            <a:ext cx="3219450" cy="332740"/>
            <a:chOff x="13761" y="549"/>
            <a:chExt cx="5070" cy="524"/>
          </a:xfrm>
        </p:grpSpPr>
        <p:pic>
          <p:nvPicPr>
            <p:cNvPr id="14" name="图片 13"/>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15" name="文本框 1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任意多边形 21"/>
          <p:cNvSpPr/>
          <p:nvPr/>
        </p:nvSpPr>
        <p:spPr>
          <a:xfrm>
            <a:off x="1014676" y="2669540"/>
            <a:ext cx="10288137" cy="3129275"/>
          </a:xfrm>
          <a:custGeom>
            <a:avLst/>
            <a:gdLst>
              <a:gd name="adj" fmla="val 26716"/>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6203" h="4929">
                <a:moveTo>
                  <a:pt x="16180" y="0"/>
                </a:moveTo>
                <a:cubicBezTo>
                  <a:pt x="16185" y="1"/>
                  <a:pt x="16209" y="240"/>
                  <a:pt x="16202" y="243"/>
                </a:cubicBezTo>
                <a:lnTo>
                  <a:pt x="16201" y="284"/>
                </a:lnTo>
                <a:lnTo>
                  <a:pt x="16201" y="3235"/>
                </a:lnTo>
                <a:lnTo>
                  <a:pt x="16202" y="3280"/>
                </a:lnTo>
                <a:cubicBezTo>
                  <a:pt x="16229" y="4209"/>
                  <a:pt x="15293" y="4949"/>
                  <a:pt x="14549" y="4928"/>
                </a:cubicBezTo>
                <a:lnTo>
                  <a:pt x="14508" y="4927"/>
                </a:lnTo>
                <a:lnTo>
                  <a:pt x="1692" y="4927"/>
                </a:lnTo>
                <a:lnTo>
                  <a:pt x="1647" y="4928"/>
                </a:lnTo>
                <a:cubicBezTo>
                  <a:pt x="734" y="4966"/>
                  <a:pt x="-1" y="4026"/>
                  <a:pt x="0" y="3332"/>
                </a:cubicBezTo>
                <a:lnTo>
                  <a:pt x="625" y="3332"/>
                </a:lnTo>
                <a:cubicBezTo>
                  <a:pt x="758" y="3840"/>
                  <a:pt x="1367" y="4330"/>
                  <a:pt x="1905" y="4302"/>
                </a:cubicBezTo>
                <a:lnTo>
                  <a:pt x="1942" y="4301"/>
                </a:lnTo>
                <a:lnTo>
                  <a:pt x="14175" y="4301"/>
                </a:lnTo>
                <a:lnTo>
                  <a:pt x="14208" y="4302"/>
                </a:lnTo>
                <a:cubicBezTo>
                  <a:pt x="14892" y="4324"/>
                  <a:pt x="15576" y="3636"/>
                  <a:pt x="15554" y="2960"/>
                </a:cubicBezTo>
                <a:lnTo>
                  <a:pt x="15553" y="2924"/>
                </a:lnTo>
                <a:lnTo>
                  <a:pt x="15553" y="522"/>
                </a:lnTo>
                <a:lnTo>
                  <a:pt x="15554" y="489"/>
                </a:lnTo>
                <a:cubicBezTo>
                  <a:pt x="15568" y="333"/>
                  <a:pt x="15476" y="46"/>
                  <a:pt x="15450" y="0"/>
                </a:cubicBezTo>
                <a:lnTo>
                  <a:pt x="16180" y="0"/>
                </a:lnTo>
                <a:close/>
              </a:path>
            </a:pathLst>
          </a:custGeom>
          <a:gradFill>
            <a:gsLst>
              <a:gs pos="38000">
                <a:srgbClr val="668EFF">
                  <a:alpha val="50000"/>
                </a:srgbClr>
              </a:gs>
              <a:gs pos="0">
                <a:srgbClr val="668EFF">
                  <a:alpha val="10000"/>
                </a:srgbClr>
              </a:gs>
              <a:gs pos="100000">
                <a:srgbClr val="668E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人才数字化建设流程</a:t>
            </a:r>
            <a:endParaRPr sz="2500" b="0">
              <a:solidFill>
                <a:srgbClr val="383838"/>
              </a:solidFill>
              <a:effectLst/>
              <a:latin typeface="微软雅黑"/>
              <a:ea typeface="微软雅黑"/>
              <a:cs typeface="微软雅黑"/>
            </a:endParaRPr>
          </a:p>
        </p:txBody>
      </p:sp>
      <p:pic>
        <p:nvPicPr>
          <p:cNvPr id="2" name="图片 1"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 name="任意多边形 5"/>
          <p:cNvSpPr/>
          <p:nvPr/>
        </p:nvSpPr>
        <p:spPr>
          <a:xfrm>
            <a:off x="1014095" y="1775008"/>
            <a:ext cx="10279114" cy="3063057"/>
          </a:xfrm>
          <a:custGeom>
            <a:avLst/>
            <a:gdLst>
              <a:gd name="adj" fmla="val 26716"/>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16188" h="4824">
                <a:moveTo>
                  <a:pt x="1" y="1693"/>
                </a:moveTo>
                <a:lnTo>
                  <a:pt x="0" y="1648"/>
                </a:lnTo>
                <a:cubicBezTo>
                  <a:pt x="-27" y="719"/>
                  <a:pt x="908" y="-22"/>
                  <a:pt x="1653" y="0"/>
                </a:cubicBezTo>
                <a:lnTo>
                  <a:pt x="1694" y="1"/>
                </a:lnTo>
                <a:lnTo>
                  <a:pt x="14509" y="1"/>
                </a:lnTo>
                <a:lnTo>
                  <a:pt x="14555" y="0"/>
                </a:lnTo>
                <a:cubicBezTo>
                  <a:pt x="15405" y="-29"/>
                  <a:pt x="16112" y="779"/>
                  <a:pt x="16188" y="1448"/>
                </a:cubicBezTo>
                <a:lnTo>
                  <a:pt x="15467" y="1448"/>
                </a:lnTo>
                <a:cubicBezTo>
                  <a:pt x="15326" y="995"/>
                  <a:pt x="14723" y="518"/>
                  <a:pt x="14213" y="553"/>
                </a:cubicBezTo>
                <a:lnTo>
                  <a:pt x="14176" y="554"/>
                </a:lnTo>
                <a:lnTo>
                  <a:pt x="1944" y="554"/>
                </a:lnTo>
                <a:lnTo>
                  <a:pt x="1911" y="553"/>
                </a:lnTo>
                <a:cubicBezTo>
                  <a:pt x="1227" y="531"/>
                  <a:pt x="543" y="1219"/>
                  <a:pt x="565" y="1895"/>
                </a:cubicBezTo>
                <a:lnTo>
                  <a:pt x="566" y="1931"/>
                </a:lnTo>
                <a:lnTo>
                  <a:pt x="566" y="4333"/>
                </a:lnTo>
                <a:lnTo>
                  <a:pt x="565" y="4366"/>
                </a:lnTo>
                <a:cubicBezTo>
                  <a:pt x="552" y="4511"/>
                  <a:pt x="635" y="4785"/>
                  <a:pt x="656" y="4824"/>
                </a:cubicBezTo>
                <a:lnTo>
                  <a:pt x="7" y="4824"/>
                </a:lnTo>
                <a:lnTo>
                  <a:pt x="6" y="4806"/>
                </a:lnTo>
                <a:lnTo>
                  <a:pt x="3" y="4765"/>
                </a:lnTo>
                <a:lnTo>
                  <a:pt x="1" y="4725"/>
                </a:lnTo>
                <a:lnTo>
                  <a:pt x="0" y="4684"/>
                </a:lnTo>
                <a:lnTo>
                  <a:pt x="1" y="4644"/>
                </a:lnTo>
                <a:lnTo>
                  <a:pt x="1" y="1693"/>
                </a:lnTo>
                <a:close/>
              </a:path>
            </a:pathLst>
          </a:custGeom>
          <a:gradFill>
            <a:gsLst>
              <a:gs pos="50000">
                <a:srgbClr val="668EFF">
                  <a:alpha val="50000"/>
                </a:srgbClr>
              </a:gs>
              <a:gs pos="0">
                <a:srgbClr val="668EFF">
                  <a:alpha val="10000"/>
                </a:srgbClr>
              </a:gs>
              <a:gs pos="100000">
                <a:srgbClr val="668EFF"/>
              </a:gs>
            </a:gsLst>
            <a:lin ang="108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9" name="等腰三角形 8"/>
          <p:cNvSpPr/>
          <p:nvPr/>
        </p:nvSpPr>
        <p:spPr>
          <a:xfrm>
            <a:off x="10678160" y="1774825"/>
            <a:ext cx="796925" cy="1033780"/>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11" name="等腰三角形 10"/>
          <p:cNvSpPr/>
          <p:nvPr/>
        </p:nvSpPr>
        <p:spPr>
          <a:xfrm flipV="1">
            <a:off x="814070" y="4643120"/>
            <a:ext cx="796925" cy="1033780"/>
          </a:xfrm>
          <a:prstGeom prst="triangle">
            <a:avLst/>
          </a:prstGeom>
          <a:solidFill>
            <a:srgbClr val="668E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12" name="矩形 11"/>
          <p:cNvSpPr/>
          <p:nvPr/>
        </p:nvSpPr>
        <p:spPr>
          <a:xfrm>
            <a:off x="1826895" y="3254693"/>
            <a:ext cx="944880" cy="487680"/>
          </a:xfrm>
          <a:prstGeom prst="rect">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b="1">
                <a:solidFill>
                  <a:srgbClr val="383838"/>
                </a:solidFill>
                <a:cs typeface="微软雅黑"/>
                <a:latin typeface="微软雅黑"/>
                <a:ea typeface="微软雅黑"/>
              </a:rPr>
              <a:t>各行业相关</a:t>
            </a:r>
            <a:endParaRPr lang="zh-CN" altLang="en-US" sz="1000" b="1">
              <a:solidFill>
                <a:srgbClr val="383838"/>
              </a:solidFill>
              <a:cs typeface="微软雅黑"/>
              <a:latin typeface="微软雅黑"/>
              <a:ea typeface="微软雅黑"/>
            </a:endParaRPr>
          </a:p>
          <a:p>
            <a:pPr algn="ctr">
              <a:defRPr>
                <a:latin typeface="微软雅黑"/>
                <a:ea typeface="微软雅黑"/>
                <a:cs typeface="微软雅黑"/>
              </a:defRPr>
            </a:pPr>
            <a:r>
              <a:rPr lang="zh-CN" altLang="en-US" sz="1000" b="1">
                <a:solidFill>
                  <a:srgbClr val="383838"/>
                </a:solidFill>
                <a:cs typeface="微软雅黑"/>
                <a:latin typeface="微软雅黑"/>
                <a:ea typeface="微软雅黑"/>
              </a:rPr>
              <a:t>产业链</a:t>
            </a:r>
            <a:endParaRPr lang="zh-CN" altLang="en-US" sz="1000" b="1">
              <a:solidFill>
                <a:srgbClr val="383838"/>
              </a:solidFill>
              <a:cs typeface="微软雅黑"/>
              <a:latin typeface="微软雅黑"/>
              <a:ea typeface="微软雅黑"/>
            </a:endParaRPr>
          </a:p>
        </p:txBody>
      </p:sp>
      <p:sp>
        <p:nvSpPr>
          <p:cNvPr id="13" name="矩形 12"/>
          <p:cNvSpPr/>
          <p:nvPr/>
        </p:nvSpPr>
        <p:spPr>
          <a:xfrm>
            <a:off x="1826895" y="4326573"/>
            <a:ext cx="944880" cy="487680"/>
          </a:xfrm>
          <a:prstGeom prst="rect">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sz="1000" b="1">
                <a:solidFill>
                  <a:srgbClr val="383838"/>
                </a:solidFill>
                <a:cs typeface="微软雅黑"/>
                <a:sym typeface="微软雅黑"/>
                <a:latin typeface="微软雅黑"/>
                <a:ea typeface="微软雅黑"/>
              </a:rPr>
              <a:t>地方政府及</a:t>
            </a:r>
            <a:endParaRPr lang="zh-CN" altLang="en-US" sz="1000" b="1">
              <a:solidFill>
                <a:srgbClr val="383838"/>
              </a:solidFill>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000" b="1">
                <a:solidFill>
                  <a:srgbClr val="383838"/>
                </a:solidFill>
                <a:cs typeface="微软雅黑"/>
                <a:sym typeface="微软雅黑"/>
                <a:latin typeface="微软雅黑"/>
                <a:ea typeface="微软雅黑"/>
              </a:rPr>
              <a:t>部委</a:t>
            </a:r>
            <a:endParaRPr lang="zh-CN" altLang="en-US" sz="1000" b="1">
              <a:solidFill>
                <a:srgbClr val="383838"/>
              </a:solidFill>
              <a:cs typeface="微软雅黑"/>
              <a:sym typeface="微软雅黑"/>
              <a:latin typeface="微软雅黑"/>
              <a:ea typeface="微软雅黑"/>
            </a:endParaRPr>
          </a:p>
        </p:txBody>
      </p:sp>
      <p:sp>
        <p:nvSpPr>
          <p:cNvPr id="14" name="矩形 13"/>
          <p:cNvSpPr/>
          <p:nvPr/>
        </p:nvSpPr>
        <p:spPr>
          <a:xfrm>
            <a:off x="3725545" y="3254375"/>
            <a:ext cx="966470" cy="488315"/>
          </a:xfrm>
          <a:prstGeom prst="rect">
            <a:avLst/>
          </a:prstGeom>
          <a:gradFill>
            <a:gsLst>
              <a:gs pos="12000">
                <a:srgbClr val="3368FF"/>
              </a:gs>
              <a:gs pos="100000">
                <a:srgbClr val="668E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行业机构</a:t>
            </a:r>
            <a:endParaRPr lang="zh-CN" altLang="en-US" sz="1400" b="1">
              <a:solidFill>
                <a:srgbClr val="FFFFFF"/>
              </a:solidFill>
              <a:cs typeface="微软雅黑"/>
              <a:latin typeface="微软雅黑"/>
              <a:ea typeface="微软雅黑"/>
            </a:endParaRPr>
          </a:p>
        </p:txBody>
      </p:sp>
      <p:sp>
        <p:nvSpPr>
          <p:cNvPr id="15" name="矩形 14"/>
          <p:cNvSpPr/>
          <p:nvPr/>
        </p:nvSpPr>
        <p:spPr>
          <a:xfrm>
            <a:off x="3725545" y="4326255"/>
            <a:ext cx="966470" cy="488315"/>
          </a:xfrm>
          <a:prstGeom prst="rect">
            <a:avLst/>
          </a:prstGeom>
          <a:gradFill>
            <a:gsLst>
              <a:gs pos="12000">
                <a:srgbClr val="3368FF"/>
              </a:gs>
              <a:gs pos="100000">
                <a:srgbClr val="668E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cs typeface="微软雅黑"/>
                <a:sym typeface="微软雅黑"/>
                <a:latin typeface="微软雅黑"/>
                <a:ea typeface="微软雅黑"/>
              </a:rPr>
              <a:t>政府机构</a:t>
            </a:r>
            <a:endParaRPr lang="zh-CN" altLang="en-US" sz="1400" b="1">
              <a:solidFill>
                <a:srgbClr val="FFFFFF"/>
              </a:solidFill>
              <a:cs typeface="微软雅黑"/>
              <a:sym typeface="微软雅黑"/>
              <a:latin typeface="微软雅黑"/>
              <a:ea typeface="微软雅黑"/>
            </a:endParaRPr>
          </a:p>
        </p:txBody>
      </p:sp>
      <p:sp>
        <p:nvSpPr>
          <p:cNvPr id="16" name="矩形 15"/>
          <p:cNvSpPr/>
          <p:nvPr/>
        </p:nvSpPr>
        <p:spPr>
          <a:xfrm>
            <a:off x="5655945" y="2694305"/>
            <a:ext cx="949960" cy="560070"/>
          </a:xfrm>
          <a:prstGeom prst="rect">
            <a:avLst/>
          </a:prstGeom>
          <a:gradFill>
            <a:gsLst>
              <a:gs pos="1200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cs typeface="微软雅黑"/>
                <a:sym typeface="微软雅黑"/>
                <a:latin typeface="微软雅黑"/>
                <a:ea typeface="微软雅黑"/>
              </a:rPr>
              <a:t>教培方</a:t>
            </a:r>
            <a:endParaRPr lang="zh-CN" altLang="en-US" sz="1400" b="1">
              <a:solidFill>
                <a:srgbClr val="FFFFFF"/>
              </a:solidFill>
              <a:cs typeface="微软雅黑"/>
              <a:sym typeface="微软雅黑"/>
              <a:latin typeface="微软雅黑"/>
              <a:ea typeface="微软雅黑"/>
            </a:endParaRPr>
          </a:p>
        </p:txBody>
      </p:sp>
      <p:sp>
        <p:nvSpPr>
          <p:cNvPr id="17" name="矩形 16"/>
          <p:cNvSpPr/>
          <p:nvPr/>
        </p:nvSpPr>
        <p:spPr>
          <a:xfrm>
            <a:off x="5657215" y="3766185"/>
            <a:ext cx="949960" cy="560070"/>
          </a:xfrm>
          <a:prstGeom prst="rect">
            <a:avLst/>
          </a:prstGeom>
          <a:gradFill>
            <a:gsLst>
              <a:gs pos="1200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企业雇主</a:t>
            </a:r>
            <a:endParaRPr lang="zh-CN" altLang="en-US" sz="1400" b="1">
              <a:solidFill>
                <a:srgbClr val="FFFFFF"/>
              </a:solidFill>
              <a:cs typeface="微软雅黑"/>
              <a:latin typeface="微软雅黑"/>
              <a:ea typeface="微软雅黑"/>
            </a:endParaRPr>
          </a:p>
        </p:txBody>
      </p:sp>
      <p:sp>
        <p:nvSpPr>
          <p:cNvPr id="18" name="矩形 17"/>
          <p:cNvSpPr/>
          <p:nvPr/>
        </p:nvSpPr>
        <p:spPr>
          <a:xfrm>
            <a:off x="7569835" y="3253740"/>
            <a:ext cx="949960" cy="512445"/>
          </a:xfrm>
          <a:prstGeom prst="rect">
            <a:avLst/>
          </a:prstGeom>
          <a:gradFill>
            <a:gsLst>
              <a:gs pos="12000">
                <a:srgbClr val="3368FF"/>
              </a:gs>
              <a:gs pos="100000">
                <a:srgbClr val="668E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cs typeface="微软雅黑"/>
                <a:sym typeface="微软雅黑"/>
                <a:latin typeface="微软雅黑"/>
                <a:ea typeface="微软雅黑"/>
              </a:rPr>
              <a:t>社会人才</a:t>
            </a:r>
            <a:endParaRPr lang="zh-CN" altLang="en-US" sz="1400" b="1">
              <a:solidFill>
                <a:srgbClr val="FFFFFF"/>
              </a:solidFill>
              <a:cs typeface="微软雅黑"/>
              <a:sym typeface="微软雅黑"/>
              <a:latin typeface="微软雅黑"/>
              <a:ea typeface="微软雅黑"/>
            </a:endParaRPr>
          </a:p>
        </p:txBody>
      </p:sp>
      <p:sp>
        <p:nvSpPr>
          <p:cNvPr id="19" name="矩形 18"/>
          <p:cNvSpPr/>
          <p:nvPr/>
        </p:nvSpPr>
        <p:spPr>
          <a:xfrm>
            <a:off x="7572375" y="4302125"/>
            <a:ext cx="949960" cy="512445"/>
          </a:xfrm>
          <a:prstGeom prst="rect">
            <a:avLst/>
          </a:prstGeom>
          <a:gradFill>
            <a:gsLst>
              <a:gs pos="12000">
                <a:srgbClr val="3368FF"/>
              </a:gs>
              <a:gs pos="100000">
                <a:srgbClr val="668E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cs typeface="微软雅黑"/>
                <a:sym typeface="微软雅黑"/>
                <a:latin typeface="微软雅黑"/>
                <a:ea typeface="微软雅黑"/>
              </a:rPr>
              <a:t>人力服务</a:t>
            </a:r>
            <a:endParaRPr lang="zh-CN" altLang="en-US" sz="1400" b="1">
              <a:solidFill>
                <a:srgbClr val="FFFFFF"/>
              </a:solidFill>
              <a:cs typeface="微软雅黑"/>
              <a:sym typeface="微软雅黑"/>
              <a:latin typeface="微软雅黑"/>
              <a:ea typeface="微软雅黑"/>
            </a:endParaRPr>
          </a:p>
        </p:txBody>
      </p:sp>
      <p:sp>
        <p:nvSpPr>
          <p:cNvPr id="20" name="矩形 19"/>
          <p:cNvSpPr/>
          <p:nvPr/>
        </p:nvSpPr>
        <p:spPr>
          <a:xfrm>
            <a:off x="9482455" y="3242310"/>
            <a:ext cx="949960" cy="512445"/>
          </a:xfrm>
          <a:prstGeom prst="rect">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sz="1000" b="1">
                <a:solidFill>
                  <a:srgbClr val="383838"/>
                </a:solidFill>
                <a:cs typeface="微软雅黑"/>
                <a:sym typeface="微软雅黑"/>
                <a:latin typeface="微软雅黑"/>
                <a:ea typeface="微软雅黑"/>
              </a:rPr>
              <a:t>社群网络</a:t>
            </a:r>
            <a:endParaRPr lang="zh-CN" altLang="en-US" sz="1000" b="1">
              <a:solidFill>
                <a:srgbClr val="383838"/>
              </a:solidFill>
              <a:cs typeface="微软雅黑"/>
              <a:sym typeface="微软雅黑"/>
              <a:latin typeface="微软雅黑"/>
              <a:ea typeface="微软雅黑"/>
            </a:endParaRPr>
          </a:p>
        </p:txBody>
      </p:sp>
      <p:sp>
        <p:nvSpPr>
          <p:cNvPr id="21" name="矩形 20"/>
          <p:cNvSpPr/>
          <p:nvPr/>
        </p:nvSpPr>
        <p:spPr>
          <a:xfrm>
            <a:off x="9487535" y="4302125"/>
            <a:ext cx="949960" cy="512445"/>
          </a:xfrm>
          <a:prstGeom prst="rect">
            <a:avLst/>
          </a:prstGeom>
          <a:solidFill>
            <a:srgbClr val="E6E6E6">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zh-CN" altLang="en-US" sz="1000" b="1">
                <a:solidFill>
                  <a:srgbClr val="383838"/>
                </a:solidFill>
                <a:cs typeface="微软雅黑"/>
                <a:sym typeface="微软雅黑"/>
                <a:latin typeface="微软雅黑"/>
                <a:ea typeface="微软雅黑"/>
              </a:rPr>
              <a:t>人才招聘</a:t>
            </a:r>
            <a:endParaRPr lang="zh-CN" altLang="en-US" sz="1000" b="1">
              <a:solidFill>
                <a:srgbClr val="383838"/>
              </a:solidFill>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000" b="1">
                <a:solidFill>
                  <a:srgbClr val="383838"/>
                </a:solidFill>
                <a:cs typeface="微软雅黑"/>
                <a:sym typeface="微软雅黑"/>
                <a:latin typeface="微软雅黑"/>
                <a:ea typeface="微软雅黑"/>
              </a:rPr>
              <a:t>产业链</a:t>
            </a:r>
            <a:endParaRPr lang="zh-CN" altLang="en-US" sz="1000" b="1">
              <a:solidFill>
                <a:srgbClr val="383838"/>
              </a:solidFill>
              <a:cs typeface="微软雅黑"/>
              <a:sym typeface="微软雅黑"/>
              <a:latin typeface="微软雅黑"/>
              <a:ea typeface="微软雅黑"/>
            </a:endParaRPr>
          </a:p>
        </p:txBody>
      </p:sp>
      <p:sp>
        <p:nvSpPr>
          <p:cNvPr id="28" name="圆角矩形 27"/>
          <p:cNvSpPr/>
          <p:nvPr/>
        </p:nvSpPr>
        <p:spPr>
          <a:xfrm>
            <a:off x="3243580" y="6337935"/>
            <a:ext cx="1082040" cy="274320"/>
          </a:xfrm>
          <a:prstGeom prst="roundRect">
            <a:avLst/>
          </a:prstGeom>
          <a:noFill/>
          <a:ln w="12700">
            <a:solidFill>
              <a:srgbClr val="B3D4FE"/>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提升效率</a:t>
            </a:r>
            <a:endParaRPr lang="zh-CN" altLang="en-US" sz="1200">
              <a:solidFill>
                <a:srgbClr val="383838"/>
              </a:solidFill>
              <a:cs typeface="微软雅黑"/>
              <a:latin typeface="微软雅黑"/>
              <a:ea typeface="微软雅黑"/>
            </a:endParaRPr>
          </a:p>
        </p:txBody>
      </p:sp>
      <p:sp>
        <p:nvSpPr>
          <p:cNvPr id="29" name="圆角矩形 28"/>
          <p:cNvSpPr/>
          <p:nvPr/>
        </p:nvSpPr>
        <p:spPr>
          <a:xfrm>
            <a:off x="4452620" y="6340475"/>
            <a:ext cx="1457325" cy="274320"/>
          </a:xfrm>
          <a:prstGeom prst="roundRect">
            <a:avLst/>
          </a:prstGeom>
          <a:noFill/>
          <a:ln w="12700">
            <a:solidFill>
              <a:srgbClr val="B3D4FE"/>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加快信息传递</a:t>
            </a:r>
            <a:endParaRPr lang="zh-CN" altLang="en-US" sz="1200">
              <a:solidFill>
                <a:srgbClr val="383838"/>
              </a:solidFill>
              <a:cs typeface="微软雅黑"/>
              <a:latin typeface="微软雅黑"/>
              <a:ea typeface="微软雅黑"/>
            </a:endParaRPr>
          </a:p>
        </p:txBody>
      </p:sp>
      <p:sp>
        <p:nvSpPr>
          <p:cNvPr id="30" name="圆角矩形 29"/>
          <p:cNvSpPr/>
          <p:nvPr/>
        </p:nvSpPr>
        <p:spPr>
          <a:xfrm>
            <a:off x="6036945" y="6337935"/>
            <a:ext cx="1346200" cy="274320"/>
          </a:xfrm>
          <a:prstGeom prst="roundRect">
            <a:avLst/>
          </a:prstGeom>
          <a:noFill/>
          <a:ln w="12700">
            <a:solidFill>
              <a:srgbClr val="B3D4FE"/>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信息透明化</a:t>
            </a:r>
            <a:endParaRPr lang="zh-CN" altLang="en-US" sz="1200">
              <a:solidFill>
                <a:srgbClr val="383838"/>
              </a:solidFill>
              <a:cs typeface="微软雅黑"/>
              <a:latin typeface="微软雅黑"/>
              <a:ea typeface="微软雅黑"/>
            </a:endParaRPr>
          </a:p>
        </p:txBody>
      </p:sp>
      <p:sp>
        <p:nvSpPr>
          <p:cNvPr id="31" name="圆角矩形 30"/>
          <p:cNvSpPr/>
          <p:nvPr/>
        </p:nvSpPr>
        <p:spPr>
          <a:xfrm>
            <a:off x="7510145" y="6337935"/>
            <a:ext cx="1610360" cy="274320"/>
          </a:xfrm>
          <a:prstGeom prst="roundRect">
            <a:avLst/>
          </a:prstGeom>
          <a:noFill/>
          <a:ln w="12700">
            <a:solidFill>
              <a:srgbClr val="B3D4FE"/>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cs typeface="微软雅黑"/>
                <a:latin typeface="微软雅黑"/>
                <a:ea typeface="微软雅黑"/>
              </a:rPr>
              <a:t>行业规范化监管</a:t>
            </a:r>
            <a:endParaRPr lang="zh-CN" altLang="en-US" sz="1200">
              <a:solidFill>
                <a:srgbClr val="383838"/>
              </a:solidFill>
              <a:cs typeface="微软雅黑"/>
              <a:latin typeface="微软雅黑"/>
              <a:ea typeface="微软雅黑"/>
            </a:endParaRPr>
          </a:p>
        </p:txBody>
      </p:sp>
      <p:cxnSp>
        <p:nvCxnSpPr>
          <p:cNvPr id="32" name="直接箭头连接符 31"/>
          <p:cNvCxnSpPr>
            <a:stCxn id="16" idx="2"/>
            <a:endCxn id="17" idx="0"/>
          </p:cNvCxnSpPr>
          <p:nvPr/>
        </p:nvCxnSpPr>
        <p:spPr>
          <a:xfrm>
            <a:off x="6130925" y="3254375"/>
            <a:ext cx="1270" cy="51181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33" name="直接箭头连接符 32"/>
          <p:cNvCxnSpPr>
            <a:stCxn id="14" idx="3"/>
            <a:endCxn id="16" idx="1"/>
          </p:cNvCxnSpPr>
          <p:nvPr/>
        </p:nvCxnSpPr>
        <p:spPr>
          <a:xfrm flipV="1">
            <a:off x="4692015" y="2974340"/>
            <a:ext cx="963930" cy="52451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34" name="直接箭头连接符 33"/>
          <p:cNvCxnSpPr>
            <a:stCxn id="17" idx="1"/>
            <a:endCxn id="14" idx="3"/>
          </p:cNvCxnSpPr>
          <p:nvPr/>
        </p:nvCxnSpPr>
        <p:spPr>
          <a:xfrm flipH="1" flipV="1">
            <a:off x="4692015" y="3498850"/>
            <a:ext cx="965200" cy="54737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35" name="直接箭头连接符 34"/>
          <p:cNvCxnSpPr>
            <a:stCxn id="15" idx="0"/>
            <a:endCxn id="14" idx="2"/>
          </p:cNvCxnSpPr>
          <p:nvPr/>
        </p:nvCxnSpPr>
        <p:spPr>
          <a:xfrm flipV="1">
            <a:off x="4208780" y="3742690"/>
            <a:ext cx="0" cy="583565"/>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36" name="直接箭头连接符 35"/>
          <p:cNvCxnSpPr>
            <a:stCxn id="15" idx="3"/>
            <a:endCxn id="17" idx="1"/>
          </p:cNvCxnSpPr>
          <p:nvPr/>
        </p:nvCxnSpPr>
        <p:spPr>
          <a:xfrm flipV="1">
            <a:off x="4692015" y="4046220"/>
            <a:ext cx="965200" cy="52451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37" name="直接箭头连接符 36"/>
          <p:cNvCxnSpPr>
            <a:stCxn id="18" idx="1"/>
            <a:endCxn id="17" idx="3"/>
          </p:cNvCxnSpPr>
          <p:nvPr/>
        </p:nvCxnSpPr>
        <p:spPr>
          <a:xfrm flipH="1">
            <a:off x="6607175" y="3510280"/>
            <a:ext cx="962660" cy="53594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38" name="直接箭头连接符 37"/>
          <p:cNvCxnSpPr>
            <a:stCxn id="16" idx="3"/>
            <a:endCxn id="18" idx="1"/>
          </p:cNvCxnSpPr>
          <p:nvPr/>
        </p:nvCxnSpPr>
        <p:spPr>
          <a:xfrm>
            <a:off x="6605905" y="2974340"/>
            <a:ext cx="963930" cy="53594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39" name="直接箭头连接符 38"/>
          <p:cNvCxnSpPr>
            <a:stCxn id="19" idx="1"/>
            <a:endCxn id="17" idx="3"/>
          </p:cNvCxnSpPr>
          <p:nvPr/>
        </p:nvCxnSpPr>
        <p:spPr>
          <a:xfrm flipH="1" flipV="1">
            <a:off x="6607175" y="4046220"/>
            <a:ext cx="965200" cy="512445"/>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40" name="直接箭头连接符 39"/>
          <p:cNvCxnSpPr>
            <a:stCxn id="18" idx="2"/>
            <a:endCxn id="19" idx="0"/>
          </p:cNvCxnSpPr>
          <p:nvPr/>
        </p:nvCxnSpPr>
        <p:spPr>
          <a:xfrm>
            <a:off x="8044815" y="3766185"/>
            <a:ext cx="2540" cy="53594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sp>
        <p:nvSpPr>
          <p:cNvPr id="41" name="等腰三角形 40"/>
          <p:cNvSpPr/>
          <p:nvPr/>
        </p:nvSpPr>
        <p:spPr>
          <a:xfrm>
            <a:off x="4171315" y="397065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2" name="等腰三角形 41"/>
          <p:cNvSpPr/>
          <p:nvPr/>
        </p:nvSpPr>
        <p:spPr>
          <a:xfrm flipV="1">
            <a:off x="6094730" y="346011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3" name="等腰三角形 42"/>
          <p:cNvSpPr/>
          <p:nvPr/>
        </p:nvSpPr>
        <p:spPr>
          <a:xfrm rot="18180000">
            <a:off x="5050155" y="368490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4" name="等腰三角形 43"/>
          <p:cNvSpPr/>
          <p:nvPr/>
        </p:nvSpPr>
        <p:spPr>
          <a:xfrm rot="18180000">
            <a:off x="7031355" y="425513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5" name="等腰三角形 44"/>
          <p:cNvSpPr/>
          <p:nvPr/>
        </p:nvSpPr>
        <p:spPr>
          <a:xfrm rot="3420000" flipH="1">
            <a:off x="7085965" y="371792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6" name="等腰三角形 45"/>
          <p:cNvSpPr/>
          <p:nvPr/>
        </p:nvSpPr>
        <p:spPr>
          <a:xfrm flipV="1">
            <a:off x="8009890" y="400621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7" name="等腰三角形 46"/>
          <p:cNvSpPr/>
          <p:nvPr/>
        </p:nvSpPr>
        <p:spPr>
          <a:xfrm rot="7380000" flipH="1">
            <a:off x="7004050" y="317690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8" name="等腰三角形 47"/>
          <p:cNvSpPr/>
          <p:nvPr/>
        </p:nvSpPr>
        <p:spPr>
          <a:xfrm rot="3420000" flipH="1">
            <a:off x="5135880" y="4271010"/>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9" name="等腰三角形 48"/>
          <p:cNvSpPr/>
          <p:nvPr/>
        </p:nvSpPr>
        <p:spPr>
          <a:xfrm rot="3420000" flipH="1">
            <a:off x="5213350" y="3152140"/>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0" name="圆角矩形 49"/>
          <p:cNvSpPr/>
          <p:nvPr/>
        </p:nvSpPr>
        <p:spPr>
          <a:xfrm rot="19980000">
            <a:off x="4742180" y="2907665"/>
            <a:ext cx="752475"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技能评定</a:t>
            </a:r>
            <a:endParaRPr lang="zh-CN" altLang="en-US" sz="1000">
              <a:solidFill>
                <a:srgbClr val="383838"/>
              </a:solidFill>
              <a:cs typeface="微软雅黑"/>
              <a:latin typeface="微软雅黑"/>
              <a:ea typeface="微软雅黑"/>
            </a:endParaRPr>
          </a:p>
        </p:txBody>
      </p:sp>
      <p:sp>
        <p:nvSpPr>
          <p:cNvPr id="51" name="圆角矩形 50"/>
          <p:cNvSpPr/>
          <p:nvPr/>
        </p:nvSpPr>
        <p:spPr>
          <a:xfrm rot="1800000">
            <a:off x="6748145" y="2893060"/>
            <a:ext cx="752475"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教学内容</a:t>
            </a:r>
            <a:endParaRPr lang="zh-CN" altLang="en-US" sz="1000">
              <a:solidFill>
                <a:srgbClr val="383838"/>
              </a:solidFill>
              <a:cs typeface="微软雅黑"/>
              <a:latin typeface="微软雅黑"/>
              <a:ea typeface="微软雅黑"/>
            </a:endParaRPr>
          </a:p>
        </p:txBody>
      </p:sp>
      <p:sp>
        <p:nvSpPr>
          <p:cNvPr id="52" name="圆角矩形 51"/>
          <p:cNvSpPr/>
          <p:nvPr/>
        </p:nvSpPr>
        <p:spPr>
          <a:xfrm>
            <a:off x="4692015" y="3896360"/>
            <a:ext cx="752475"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市场需求</a:t>
            </a:r>
            <a:endParaRPr lang="zh-CN" altLang="en-US" sz="1000">
              <a:solidFill>
                <a:srgbClr val="383838"/>
              </a:solidFill>
              <a:cs typeface="微软雅黑"/>
              <a:latin typeface="微软雅黑"/>
              <a:ea typeface="微软雅黑"/>
            </a:endParaRPr>
          </a:p>
        </p:txBody>
      </p:sp>
      <p:sp>
        <p:nvSpPr>
          <p:cNvPr id="53" name="圆角矩形 52"/>
          <p:cNvSpPr/>
          <p:nvPr/>
        </p:nvSpPr>
        <p:spPr>
          <a:xfrm>
            <a:off x="6868795" y="3909060"/>
            <a:ext cx="752475"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岗位信息</a:t>
            </a:r>
            <a:endParaRPr lang="zh-CN" altLang="en-US" sz="1000">
              <a:solidFill>
                <a:srgbClr val="383838"/>
              </a:solidFill>
              <a:cs typeface="微软雅黑"/>
              <a:latin typeface="微软雅黑"/>
              <a:ea typeface="微软雅黑"/>
            </a:endParaRPr>
          </a:p>
        </p:txBody>
      </p:sp>
      <p:sp>
        <p:nvSpPr>
          <p:cNvPr id="56" name="矩形 55"/>
          <p:cNvSpPr/>
          <p:nvPr/>
        </p:nvSpPr>
        <p:spPr>
          <a:xfrm>
            <a:off x="4981893" y="5318760"/>
            <a:ext cx="2331720" cy="541020"/>
          </a:xfrm>
          <a:prstGeom prst="rect">
            <a:avLst/>
          </a:prstGeom>
          <a:gradFill>
            <a:gsLst>
              <a:gs pos="0">
                <a:srgbClr val="B3D4FE"/>
              </a:gs>
              <a:gs pos="100000">
                <a:srgbClr val="3368FF"/>
              </a:gs>
            </a:gsLst>
            <a:lin ang="0" scaled="0"/>
          </a:gradFill>
          <a:ln w="38100">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b="1">
                <a:cs typeface="微软雅黑"/>
                <a:latin typeface="微软雅黑"/>
                <a:ea typeface="微软雅黑"/>
              </a:rPr>
              <a:t>数字化平台</a:t>
            </a:r>
            <a:endParaRPr lang="zh-CN" altLang="en-US" b="1">
              <a:cs typeface="微软雅黑"/>
              <a:latin typeface="微软雅黑"/>
              <a:ea typeface="微软雅黑"/>
            </a:endParaRPr>
          </a:p>
        </p:txBody>
      </p:sp>
      <p:sp>
        <p:nvSpPr>
          <p:cNvPr id="57" name="文本框 56"/>
          <p:cNvSpPr txBox="1"/>
          <p:nvPr/>
        </p:nvSpPr>
        <p:spPr>
          <a:xfrm flipH="1">
            <a:off x="2751455" y="5977890"/>
            <a:ext cx="6792595"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数字化平台全面打通产业各主体，实现职业教育主体间信息流闭环</a:t>
            </a:r>
            <a:endParaRPr kumimoji="0" lang="zh-CN" altLang="en-US"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sp>
        <p:nvSpPr>
          <p:cNvPr id="58" name="矩形 57"/>
          <p:cNvSpPr/>
          <p:nvPr/>
        </p:nvSpPr>
        <p:spPr>
          <a:xfrm>
            <a:off x="4981893" y="1673860"/>
            <a:ext cx="2331720" cy="541020"/>
          </a:xfrm>
          <a:prstGeom prst="rect">
            <a:avLst/>
          </a:prstGeom>
          <a:gradFill>
            <a:gsLst>
              <a:gs pos="0">
                <a:srgbClr val="B3D4FE"/>
              </a:gs>
              <a:gs pos="100000">
                <a:srgbClr val="3368FF"/>
              </a:gs>
            </a:gsLst>
            <a:lin ang="0" scaled="0"/>
          </a:gradFill>
          <a:ln w="38100">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b="1">
                <a:cs typeface="微软雅黑"/>
                <a:latin typeface="微软雅黑"/>
                <a:ea typeface="微软雅黑"/>
              </a:rPr>
              <a:t>外部生态平台</a:t>
            </a:r>
            <a:endParaRPr lang="zh-CN" altLang="en-US" b="1">
              <a:cs typeface="微软雅黑"/>
              <a:latin typeface="微软雅黑"/>
              <a:ea typeface="微软雅黑"/>
            </a:endParaRPr>
          </a:p>
        </p:txBody>
      </p:sp>
      <p:sp>
        <p:nvSpPr>
          <p:cNvPr id="59" name="文本框 58"/>
          <p:cNvSpPr txBox="1"/>
          <p:nvPr/>
        </p:nvSpPr>
        <p:spPr>
          <a:xfrm flipH="1">
            <a:off x="2751455" y="1182370"/>
            <a:ext cx="6792595"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rPr>
              <a:t>整合产业信息互通互联，实现生态资讯对接融合</a:t>
            </a:r>
            <a:endParaRPr kumimoji="0" lang="zh-CN" altLang="en-US" b="1" i="0" u="none" strike="noStrike" kern="1200" cap="none" spc="0" normalizeH="0" baseline="0" noProof="0" dirty="0">
              <a:ln>
                <a:noFill/>
              </a:ln>
              <a:gradFill>
                <a:gsLst>
                  <a:gs pos="0">
                    <a:srgbClr val="0042FF"/>
                  </a:gs>
                  <a:gs pos="100000">
                    <a:srgbClr val="0042FF"/>
                  </a:gs>
                </a:gsLst>
                <a:lin ang="5400000" scaled="0"/>
              </a:gradFill>
              <a:effectLst/>
              <a:uLnTx/>
              <a:uFillTx/>
              <a:latin typeface="微软雅黑"/>
              <a:ea typeface="微软雅黑"/>
              <a:cs typeface="微软雅黑"/>
            </a:endParaRPr>
          </a:p>
        </p:txBody>
      </p:sp>
      <p:grpSp>
        <p:nvGrpSpPr>
          <p:cNvPr id="62" name="组合 61"/>
          <p:cNvGrpSpPr/>
          <p:nvPr/>
        </p:nvGrpSpPr>
        <p:grpSpPr>
          <a:xfrm>
            <a:off x="6036945" y="2260600"/>
            <a:ext cx="133350" cy="365760"/>
            <a:chOff x="9507" y="3560"/>
            <a:chExt cx="210" cy="576"/>
          </a:xfrm>
        </p:grpSpPr>
        <p:cxnSp>
          <p:nvCxnSpPr>
            <p:cNvPr id="60" name="直接箭头连接符 59"/>
            <p:cNvCxnSpPr/>
            <p:nvPr/>
          </p:nvCxnSpPr>
          <p:spPr>
            <a:xfrm flipV="1">
              <a:off x="9507" y="3560"/>
              <a:ext cx="0" cy="576"/>
            </a:xfrm>
            <a:prstGeom prst="straightConnector1">
              <a:avLst/>
            </a:prstGeom>
            <a:ln>
              <a:solidFill>
                <a:srgbClr val="3368FF"/>
              </a:solidFill>
              <a:tailEnd type="triangle" w="med" len="med"/>
            </a:ln>
          </p:spPr>
          <p:style>
            <a:lnRef idx="2">
              <a:srgbClr val="0042FF"/>
            </a:lnRef>
            <a:fillRef idx="0">
              <a:srgbClr val="FFFFFF"/>
            </a:fillRef>
            <a:effectRef idx="0">
              <a:srgbClr val="FFFFFF"/>
            </a:effectRef>
            <a:fontRef idx="minor">
              <a:srgbClr val="383838"/>
            </a:fontRef>
          </p:style>
        </p:cxnSp>
        <p:cxnSp>
          <p:nvCxnSpPr>
            <p:cNvPr id="61" name="直接箭头连接符 60"/>
            <p:cNvCxnSpPr/>
            <p:nvPr/>
          </p:nvCxnSpPr>
          <p:spPr>
            <a:xfrm>
              <a:off x="9717" y="3560"/>
              <a:ext cx="0" cy="576"/>
            </a:xfrm>
            <a:prstGeom prst="straightConnector1">
              <a:avLst/>
            </a:prstGeom>
            <a:ln>
              <a:solidFill>
                <a:srgbClr val="3368FF"/>
              </a:solidFill>
              <a:tailEnd type="triangle" w="med" len="med"/>
            </a:ln>
          </p:spPr>
          <p:style>
            <a:lnRef idx="2">
              <a:srgbClr val="0042FF"/>
            </a:lnRef>
            <a:fillRef idx="0">
              <a:srgbClr val="FFFFFF"/>
            </a:fillRef>
            <a:effectRef idx="0">
              <a:srgbClr val="FFFFFF"/>
            </a:effectRef>
            <a:fontRef idx="minor">
              <a:srgbClr val="383838"/>
            </a:fontRef>
          </p:style>
        </p:cxnSp>
      </p:grpSp>
      <p:sp>
        <p:nvSpPr>
          <p:cNvPr id="63" name="圆角矩形 62"/>
          <p:cNvSpPr/>
          <p:nvPr/>
        </p:nvSpPr>
        <p:spPr>
          <a:xfrm>
            <a:off x="3408045" y="3896360"/>
            <a:ext cx="752475"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行业标准</a:t>
            </a:r>
            <a:endParaRPr lang="zh-CN" altLang="en-US" sz="1000">
              <a:solidFill>
                <a:srgbClr val="383838"/>
              </a:solidFill>
              <a:cs typeface="微软雅黑"/>
              <a:latin typeface="微软雅黑"/>
              <a:ea typeface="微软雅黑"/>
            </a:endParaRPr>
          </a:p>
        </p:txBody>
      </p:sp>
      <p:sp>
        <p:nvSpPr>
          <p:cNvPr id="64" name="圆角矩形 63"/>
          <p:cNvSpPr/>
          <p:nvPr/>
        </p:nvSpPr>
        <p:spPr>
          <a:xfrm>
            <a:off x="8168005" y="3896360"/>
            <a:ext cx="751840"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人才资讯</a:t>
            </a:r>
            <a:endParaRPr lang="zh-CN" altLang="en-US" sz="1000">
              <a:solidFill>
                <a:srgbClr val="383838"/>
              </a:solidFill>
              <a:cs typeface="微软雅黑"/>
              <a:latin typeface="微软雅黑"/>
              <a:ea typeface="微软雅黑"/>
            </a:endParaRPr>
          </a:p>
        </p:txBody>
      </p:sp>
      <p:cxnSp>
        <p:nvCxnSpPr>
          <p:cNvPr id="65" name="直接箭头连接符 64"/>
          <p:cNvCxnSpPr>
            <a:stCxn id="20" idx="1"/>
            <a:endCxn id="18" idx="3"/>
          </p:cNvCxnSpPr>
          <p:nvPr/>
        </p:nvCxnSpPr>
        <p:spPr>
          <a:xfrm flipH="1">
            <a:off x="8519795" y="3498850"/>
            <a:ext cx="962660" cy="1143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66" name="直接箭头连接符 65"/>
          <p:cNvCxnSpPr/>
          <p:nvPr/>
        </p:nvCxnSpPr>
        <p:spPr>
          <a:xfrm flipH="1">
            <a:off x="8519795" y="4547235"/>
            <a:ext cx="962660" cy="1143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67" name="直接箭头连接符 66"/>
          <p:cNvCxnSpPr/>
          <p:nvPr/>
        </p:nvCxnSpPr>
        <p:spPr>
          <a:xfrm flipH="1">
            <a:off x="2771775" y="3487420"/>
            <a:ext cx="962660" cy="1143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cxnSp>
        <p:nvCxnSpPr>
          <p:cNvPr id="68" name="直接箭头连接符 67"/>
          <p:cNvCxnSpPr/>
          <p:nvPr/>
        </p:nvCxnSpPr>
        <p:spPr>
          <a:xfrm flipH="1">
            <a:off x="2771775" y="4559300"/>
            <a:ext cx="962660" cy="11430"/>
          </a:xfrm>
          <a:prstGeom prst="straightConnector1">
            <a:avLst/>
          </a:prstGeom>
          <a:ln>
            <a:solidFill>
              <a:srgbClr val="DCDCDC"/>
            </a:solidFill>
            <a:tailEnd type="none"/>
          </a:ln>
        </p:spPr>
        <p:style>
          <a:lnRef idx="2">
            <a:srgbClr val="0042FF"/>
          </a:lnRef>
          <a:fillRef idx="0">
            <a:srgbClr val="FFFFFF"/>
          </a:fillRef>
          <a:effectRef idx="0">
            <a:srgbClr val="FFFFFF"/>
          </a:effectRef>
          <a:fontRef idx="minor">
            <a:srgbClr val="383838"/>
          </a:fontRef>
        </p:style>
      </p:cxnSp>
      <p:sp>
        <p:nvSpPr>
          <p:cNvPr id="69" name="等腰三角形 68"/>
          <p:cNvSpPr/>
          <p:nvPr/>
        </p:nvSpPr>
        <p:spPr>
          <a:xfrm rot="5400000" flipH="1">
            <a:off x="3232785" y="3453130"/>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0" name="等腰三角形 69"/>
          <p:cNvSpPr/>
          <p:nvPr/>
        </p:nvSpPr>
        <p:spPr>
          <a:xfrm rot="5400000" flipH="1">
            <a:off x="3232785" y="452691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nvGrpSpPr>
          <p:cNvPr id="71" name="组合 70"/>
          <p:cNvGrpSpPr/>
          <p:nvPr/>
        </p:nvGrpSpPr>
        <p:grpSpPr>
          <a:xfrm>
            <a:off x="6029325" y="4838065"/>
            <a:ext cx="133350" cy="365760"/>
            <a:chOff x="9507" y="3560"/>
            <a:chExt cx="210" cy="576"/>
          </a:xfrm>
        </p:grpSpPr>
        <p:cxnSp>
          <p:nvCxnSpPr>
            <p:cNvPr id="72" name="直接箭头连接符 71"/>
            <p:cNvCxnSpPr/>
            <p:nvPr/>
          </p:nvCxnSpPr>
          <p:spPr>
            <a:xfrm flipV="1">
              <a:off x="9507" y="3560"/>
              <a:ext cx="0" cy="576"/>
            </a:xfrm>
            <a:prstGeom prst="straightConnector1">
              <a:avLst/>
            </a:prstGeom>
            <a:ln>
              <a:solidFill>
                <a:srgbClr val="3368FF"/>
              </a:solidFill>
              <a:tailEnd type="triangle" w="med" len="med"/>
            </a:ln>
          </p:spPr>
          <p:style>
            <a:lnRef idx="2">
              <a:srgbClr val="0042FF"/>
            </a:lnRef>
            <a:fillRef idx="0">
              <a:srgbClr val="FFFFFF"/>
            </a:fillRef>
            <a:effectRef idx="0">
              <a:srgbClr val="FFFFFF"/>
            </a:effectRef>
            <a:fontRef idx="minor">
              <a:srgbClr val="383838"/>
            </a:fontRef>
          </p:style>
        </p:cxnSp>
        <p:cxnSp>
          <p:nvCxnSpPr>
            <p:cNvPr id="73" name="直接箭头连接符 72"/>
            <p:cNvCxnSpPr/>
            <p:nvPr/>
          </p:nvCxnSpPr>
          <p:spPr>
            <a:xfrm>
              <a:off x="9717" y="3560"/>
              <a:ext cx="0" cy="576"/>
            </a:xfrm>
            <a:prstGeom prst="straightConnector1">
              <a:avLst/>
            </a:prstGeom>
            <a:ln>
              <a:solidFill>
                <a:srgbClr val="3368FF"/>
              </a:solidFill>
              <a:tailEnd type="triangle" w="med" len="med"/>
            </a:ln>
          </p:spPr>
          <p:style>
            <a:lnRef idx="2">
              <a:srgbClr val="0042FF"/>
            </a:lnRef>
            <a:fillRef idx="0">
              <a:srgbClr val="FFFFFF"/>
            </a:fillRef>
            <a:effectRef idx="0">
              <a:srgbClr val="FFFFFF"/>
            </a:effectRef>
            <a:fontRef idx="minor">
              <a:srgbClr val="383838"/>
            </a:fontRef>
          </p:style>
        </p:cxnSp>
      </p:grpSp>
      <p:sp>
        <p:nvSpPr>
          <p:cNvPr id="74" name="等腰三角形 73"/>
          <p:cNvSpPr/>
          <p:nvPr/>
        </p:nvSpPr>
        <p:spPr>
          <a:xfrm rot="16200000">
            <a:off x="8919845" y="451548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5" name="等腰三角形 74"/>
          <p:cNvSpPr/>
          <p:nvPr/>
        </p:nvSpPr>
        <p:spPr>
          <a:xfrm rot="16200000">
            <a:off x="8919845" y="3470275"/>
            <a:ext cx="75565" cy="75565"/>
          </a:xfrm>
          <a:prstGeom prst="triangle">
            <a:avLst/>
          </a:prstGeom>
          <a:solidFill>
            <a:srgbClr val="DCDCDC"/>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6" name="圆角矩形 75"/>
          <p:cNvSpPr/>
          <p:nvPr/>
        </p:nvSpPr>
        <p:spPr>
          <a:xfrm>
            <a:off x="8625205" y="4643120"/>
            <a:ext cx="751840"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就业资讯</a:t>
            </a:r>
            <a:endParaRPr lang="zh-CN" altLang="en-US" sz="1000">
              <a:solidFill>
                <a:srgbClr val="383838"/>
              </a:solidFill>
              <a:cs typeface="微软雅黑"/>
              <a:latin typeface="微软雅黑"/>
              <a:ea typeface="微软雅黑"/>
            </a:endParaRPr>
          </a:p>
        </p:txBody>
      </p:sp>
      <p:sp>
        <p:nvSpPr>
          <p:cNvPr id="77" name="圆角矩形 76"/>
          <p:cNvSpPr/>
          <p:nvPr/>
        </p:nvSpPr>
        <p:spPr>
          <a:xfrm>
            <a:off x="8625205" y="3185795"/>
            <a:ext cx="751840"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同行资讯</a:t>
            </a:r>
            <a:endParaRPr lang="zh-CN" altLang="en-US" sz="1000">
              <a:solidFill>
                <a:srgbClr val="383838"/>
              </a:solidFill>
              <a:cs typeface="微软雅黑"/>
              <a:latin typeface="微软雅黑"/>
              <a:ea typeface="微软雅黑"/>
            </a:endParaRPr>
          </a:p>
        </p:txBody>
      </p:sp>
      <p:sp>
        <p:nvSpPr>
          <p:cNvPr id="78" name="圆角矩形 77"/>
          <p:cNvSpPr/>
          <p:nvPr/>
        </p:nvSpPr>
        <p:spPr>
          <a:xfrm>
            <a:off x="2756535" y="3167380"/>
            <a:ext cx="1030605"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cs typeface="微软雅黑"/>
                <a:latin typeface="微软雅黑"/>
                <a:ea typeface="微软雅黑"/>
              </a:rPr>
              <a:t>行业资讯</a:t>
            </a:r>
            <a:r>
              <a:rPr lang="en-US" altLang="zh-CN" sz="1000">
                <a:solidFill>
                  <a:srgbClr val="383838"/>
                </a:solidFill>
                <a:cs typeface="微软雅黑"/>
                <a:latin typeface="微软雅黑"/>
                <a:ea typeface="微软雅黑"/>
              </a:rPr>
              <a:t>/</a:t>
            </a:r>
            <a:r>
              <a:rPr lang="zh-CN" altLang="en-US" sz="1000">
                <a:solidFill>
                  <a:srgbClr val="383838"/>
                </a:solidFill>
                <a:cs typeface="微软雅黑"/>
                <a:latin typeface="微软雅黑"/>
                <a:ea typeface="微软雅黑"/>
              </a:rPr>
              <a:t>服务</a:t>
            </a:r>
            <a:endParaRPr lang="zh-CN" altLang="en-US" sz="1000">
              <a:solidFill>
                <a:srgbClr val="383838"/>
              </a:solidFill>
              <a:cs typeface="微软雅黑"/>
              <a:latin typeface="微软雅黑"/>
              <a:ea typeface="微软雅黑"/>
            </a:endParaRPr>
          </a:p>
        </p:txBody>
      </p:sp>
      <p:sp>
        <p:nvSpPr>
          <p:cNvPr id="79" name="圆角矩形 78"/>
          <p:cNvSpPr/>
          <p:nvPr/>
        </p:nvSpPr>
        <p:spPr>
          <a:xfrm>
            <a:off x="2771775" y="4591050"/>
            <a:ext cx="1030605" cy="274320"/>
          </a:xfrm>
          <a:prstGeom prst="roundRect">
            <a:avLst/>
          </a:prstGeom>
          <a:noFill/>
          <a:ln w="12700">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sz="1000">
                <a:solidFill>
                  <a:srgbClr val="383838"/>
                </a:solidFill>
                <a:cs typeface="微软雅黑"/>
                <a:latin typeface="微软雅黑"/>
                <a:ea typeface="微软雅黑"/>
              </a:rPr>
              <a:t>地方资讯</a:t>
            </a:r>
            <a:endParaRPr lang="zh-CN" sz="1000">
              <a:solidFill>
                <a:srgbClr val="383838"/>
              </a:solidFill>
              <a:cs typeface="微软雅黑"/>
              <a:latin typeface="微软雅黑"/>
              <a:ea typeface="微软雅黑"/>
            </a:endParaRPr>
          </a:p>
        </p:txBody>
      </p:sp>
      <p:grpSp>
        <p:nvGrpSpPr>
          <p:cNvPr id="83" name="组合 82"/>
          <p:cNvGrpSpPr/>
          <p:nvPr/>
        </p:nvGrpSpPr>
        <p:grpSpPr>
          <a:xfrm rot="16200000">
            <a:off x="2156460" y="3832225"/>
            <a:ext cx="133350" cy="365760"/>
            <a:chOff x="9507" y="3560"/>
            <a:chExt cx="210" cy="576"/>
          </a:xfrm>
        </p:grpSpPr>
        <p:cxnSp>
          <p:nvCxnSpPr>
            <p:cNvPr id="84" name="直接箭头连接符 83"/>
            <p:cNvCxnSpPr/>
            <p:nvPr/>
          </p:nvCxnSpPr>
          <p:spPr>
            <a:xfrm flipV="1">
              <a:off x="9507" y="3560"/>
              <a:ext cx="0" cy="576"/>
            </a:xfrm>
            <a:prstGeom prst="straightConnector1">
              <a:avLst/>
            </a:prstGeom>
            <a:ln>
              <a:solidFill>
                <a:srgbClr val="0042FF"/>
              </a:solidFill>
              <a:tailEnd type="triangle" w="med" len="med"/>
            </a:ln>
          </p:spPr>
          <p:style>
            <a:lnRef idx="2">
              <a:srgbClr val="0042FF"/>
            </a:lnRef>
            <a:fillRef idx="0">
              <a:srgbClr val="FFFFFF"/>
            </a:fillRef>
            <a:effectRef idx="0">
              <a:srgbClr val="FFFFFF"/>
            </a:effectRef>
            <a:fontRef idx="minor">
              <a:srgbClr val="383838"/>
            </a:fontRef>
          </p:style>
        </p:cxnSp>
        <p:cxnSp>
          <p:nvCxnSpPr>
            <p:cNvPr id="85" name="直接箭头连接符 84"/>
            <p:cNvCxnSpPr/>
            <p:nvPr/>
          </p:nvCxnSpPr>
          <p:spPr>
            <a:xfrm>
              <a:off x="9717" y="3560"/>
              <a:ext cx="0" cy="576"/>
            </a:xfrm>
            <a:prstGeom prst="straightConnector1">
              <a:avLst/>
            </a:prstGeom>
            <a:ln>
              <a:solidFill>
                <a:srgbClr val="0042FF"/>
              </a:solidFill>
              <a:tailEnd type="triangle" w="med" len="med"/>
            </a:ln>
          </p:spPr>
          <p:style>
            <a:lnRef idx="2">
              <a:srgbClr val="0042FF"/>
            </a:lnRef>
            <a:fillRef idx="0">
              <a:srgbClr val="FFFFFF"/>
            </a:fillRef>
            <a:effectRef idx="0">
              <a:srgbClr val="FFFFFF"/>
            </a:effectRef>
            <a:fontRef idx="minor">
              <a:srgbClr val="383838"/>
            </a:fontRef>
          </p:style>
        </p:cxnSp>
      </p:grpSp>
      <p:sp>
        <p:nvSpPr>
          <p:cNvPr id="87" name="圆角矩形 86"/>
          <p:cNvSpPr/>
          <p:nvPr/>
        </p:nvSpPr>
        <p:spPr>
          <a:xfrm>
            <a:off x="536575" y="3909060"/>
            <a:ext cx="1352550" cy="274320"/>
          </a:xfrm>
          <a:prstGeom prst="roundRect">
            <a:avLst/>
          </a:prstGeom>
          <a:solidFill>
            <a:srgbClr val="FFFFFF"/>
          </a:solidFill>
          <a:ln w="12700">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sz="1600" b="1">
                <a:gradFill>
                  <a:gsLst>
                    <a:gs pos="0">
                      <a:srgbClr val="0042FF"/>
                    </a:gs>
                    <a:gs pos="100000">
                      <a:srgbClr val="0042FF"/>
                    </a:gs>
                  </a:gsLst>
                  <a:lin ang="5400000" scaled="0"/>
                </a:gradFill>
                <a:cs typeface="微软雅黑"/>
                <a:latin typeface="微软雅黑"/>
                <a:ea typeface="微软雅黑"/>
              </a:rPr>
              <a:t>数字信息流</a:t>
            </a:r>
            <a:endParaRPr lang="zh-CN" sz="1600" b="1">
              <a:gradFill>
                <a:gsLst>
                  <a:gs pos="0">
                    <a:srgbClr val="0042FF"/>
                  </a:gs>
                  <a:gs pos="100000">
                    <a:srgbClr val="0042FF"/>
                  </a:gs>
                </a:gsLst>
                <a:lin ang="5400000" scaled="0"/>
              </a:gradFill>
              <a:cs typeface="微软雅黑"/>
              <a:latin typeface="微软雅黑"/>
              <a:ea typeface="微软雅黑"/>
            </a:endParaRPr>
          </a:p>
        </p:txBody>
      </p:sp>
      <p:sp>
        <p:nvSpPr>
          <p:cNvPr id="88" name="圆角矩形 87"/>
          <p:cNvSpPr/>
          <p:nvPr/>
        </p:nvSpPr>
        <p:spPr>
          <a:xfrm>
            <a:off x="10437495" y="3868420"/>
            <a:ext cx="1352550" cy="274320"/>
          </a:xfrm>
          <a:prstGeom prst="roundRect">
            <a:avLst/>
          </a:prstGeom>
          <a:solidFill>
            <a:srgbClr val="FFFFFF"/>
          </a:solidFill>
          <a:ln w="12700">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sz="1600" b="1">
                <a:gradFill>
                  <a:gsLst>
                    <a:gs pos="0">
                      <a:srgbClr val="0042FF"/>
                    </a:gs>
                    <a:gs pos="100000">
                      <a:srgbClr val="0042FF"/>
                    </a:gs>
                  </a:gsLst>
                  <a:lin ang="5400000" scaled="0"/>
                </a:gradFill>
                <a:cs typeface="微软雅黑"/>
                <a:latin typeface="微软雅黑"/>
                <a:ea typeface="微软雅黑"/>
              </a:rPr>
              <a:t>数字信息流</a:t>
            </a:r>
            <a:endParaRPr lang="zh-CN" sz="1600" b="1">
              <a:gradFill>
                <a:gsLst>
                  <a:gs pos="0">
                    <a:srgbClr val="0042FF"/>
                  </a:gs>
                  <a:gs pos="100000">
                    <a:srgbClr val="0042FF"/>
                  </a:gs>
                </a:gsLst>
                <a:lin ang="5400000" scaled="0"/>
              </a:gradFill>
              <a:cs typeface="微软雅黑"/>
              <a:latin typeface="微软雅黑"/>
              <a:ea typeface="微软雅黑"/>
            </a:endParaRPr>
          </a:p>
        </p:txBody>
      </p:sp>
      <p:grpSp>
        <p:nvGrpSpPr>
          <p:cNvPr id="89" name="组合 88"/>
          <p:cNvGrpSpPr/>
          <p:nvPr/>
        </p:nvGrpSpPr>
        <p:grpSpPr>
          <a:xfrm rot="16200000">
            <a:off x="9890760" y="3822700"/>
            <a:ext cx="133350" cy="365760"/>
            <a:chOff x="9507" y="3560"/>
            <a:chExt cx="210" cy="576"/>
          </a:xfrm>
        </p:grpSpPr>
        <p:cxnSp>
          <p:nvCxnSpPr>
            <p:cNvPr id="90" name="直接箭头连接符 89"/>
            <p:cNvCxnSpPr/>
            <p:nvPr/>
          </p:nvCxnSpPr>
          <p:spPr>
            <a:xfrm flipV="1">
              <a:off x="9507" y="3560"/>
              <a:ext cx="0" cy="576"/>
            </a:xfrm>
            <a:prstGeom prst="straightConnector1">
              <a:avLst/>
            </a:prstGeom>
            <a:ln>
              <a:solidFill>
                <a:srgbClr val="0042FF"/>
              </a:solidFill>
              <a:tailEnd type="triangle" w="med" len="med"/>
            </a:ln>
          </p:spPr>
          <p:style>
            <a:lnRef idx="2">
              <a:srgbClr val="0042FF"/>
            </a:lnRef>
            <a:fillRef idx="0">
              <a:srgbClr val="FFFFFF"/>
            </a:fillRef>
            <a:effectRef idx="0">
              <a:srgbClr val="FFFFFF"/>
            </a:effectRef>
            <a:fontRef idx="minor">
              <a:srgbClr val="383838"/>
            </a:fontRef>
          </p:style>
        </p:cxnSp>
        <p:cxnSp>
          <p:nvCxnSpPr>
            <p:cNvPr id="91" name="直接箭头连接符 90"/>
            <p:cNvCxnSpPr/>
            <p:nvPr/>
          </p:nvCxnSpPr>
          <p:spPr>
            <a:xfrm>
              <a:off x="9717" y="3560"/>
              <a:ext cx="0" cy="576"/>
            </a:xfrm>
            <a:prstGeom prst="straightConnector1">
              <a:avLst/>
            </a:prstGeom>
            <a:ln>
              <a:solidFill>
                <a:srgbClr val="0042FF"/>
              </a:solidFill>
              <a:tailEnd type="triangle" w="med" len="med"/>
            </a:ln>
          </p:spPr>
          <p:style>
            <a:lnRef idx="2">
              <a:srgbClr val="0042FF"/>
            </a:lnRef>
            <a:fillRef idx="0">
              <a:srgbClr val="FFFFFF"/>
            </a:fillRef>
            <a:effectRef idx="0">
              <a:srgbClr val="FFFFFF"/>
            </a:effectRef>
            <a:fontRef idx="minor">
              <a:srgbClr val="383838"/>
            </a:fontRef>
          </p:style>
        </p:cxnSp>
      </p:gr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7" name="组合 6"/>
          <p:cNvGrpSpPr/>
          <p:nvPr/>
        </p:nvGrpSpPr>
        <p:grpSpPr>
          <a:xfrm>
            <a:off x="8738235" y="348615"/>
            <a:ext cx="3219450" cy="332740"/>
            <a:chOff x="13761" y="549"/>
            <a:chExt cx="5070" cy="524"/>
          </a:xfrm>
        </p:grpSpPr>
        <p:pic>
          <p:nvPicPr>
            <p:cNvPr id="8" name="图片 7"/>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0" name="文本框 9"/>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26503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80">
                <a:solidFill>
                  <a:srgbClr val="0042FF"/>
                </a:solidFill>
                <a:effectLst/>
                <a:latin typeface="微软雅黑"/>
                <a:ea typeface="微软雅黑"/>
                <a:cs typeface="微软雅黑"/>
              </a:rPr>
              <a:t>业务框架</a:t>
            </a:r>
            <a:r>
              <a:rPr lang="en-US" altLang="zh-CN" sz="2480">
                <a:solidFill>
                  <a:srgbClr val="0042FF"/>
                </a:solidFill>
                <a:effectLst/>
                <a:latin typeface="微软雅黑"/>
                <a:ea typeface="微软雅黑"/>
                <a:cs typeface="微软雅黑"/>
              </a:rPr>
              <a:t>-</a:t>
            </a:r>
            <a:r>
              <a:rPr sz="2480">
                <a:solidFill>
                  <a:srgbClr val="0042FF"/>
                </a:solidFill>
                <a:effectLst/>
                <a:latin typeface="微软雅黑"/>
                <a:ea typeface="微软雅黑"/>
                <a:cs typeface="微软雅黑"/>
              </a:rPr>
              <a:t>业务流程架构 | </a:t>
            </a:r>
            <a:r>
              <a:rPr sz="2480">
                <a:solidFill>
                  <a:srgbClr val="383838"/>
                </a:solidFill>
                <a:effectLst/>
                <a:latin typeface="微软雅黑"/>
                <a:ea typeface="微软雅黑"/>
                <a:cs typeface="微软雅黑"/>
              </a:rPr>
              <a:t>自媒体内容社区运作流程</a:t>
            </a:r>
            <a:endParaRPr sz="2480" b="0">
              <a:solidFill>
                <a:srgbClr val="383838"/>
              </a:solidFill>
              <a:effectLst/>
              <a:latin typeface="微软雅黑"/>
              <a:ea typeface="微软雅黑"/>
              <a:cs typeface="微软雅黑"/>
            </a:endParaRPr>
          </a:p>
        </p:txBody>
      </p:sp>
      <p:sp>
        <p:nvSpPr>
          <p:cNvPr id="3" name="圆角矩形 2"/>
          <p:cNvSpPr/>
          <p:nvPr/>
        </p:nvSpPr>
        <p:spPr>
          <a:xfrm>
            <a:off x="4148455" y="2935605"/>
            <a:ext cx="3921125" cy="1840230"/>
          </a:xfrm>
          <a:prstGeom prst="roundRect">
            <a:avLst>
              <a:gd name="adj" fmla="val 5486"/>
            </a:avLst>
          </a:prstGeom>
          <a:solidFill>
            <a:srgbClr val="FFFFFF">
              <a:alpha val="50000"/>
            </a:srgbClr>
          </a:solidFill>
          <a:ln w="25400">
            <a:gradFill>
              <a:gsLst>
                <a:gs pos="0">
                  <a:srgbClr val="3368FF"/>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6" name="圆角矩形 5"/>
          <p:cNvSpPr/>
          <p:nvPr/>
        </p:nvSpPr>
        <p:spPr>
          <a:xfrm>
            <a:off x="4305935" y="3340735"/>
            <a:ext cx="3531235" cy="838200"/>
          </a:xfrm>
          <a:prstGeom prst="roundRect">
            <a:avLst>
              <a:gd name="adj" fmla="val 5486"/>
            </a:avLst>
          </a:prstGeom>
          <a:solidFill>
            <a:srgbClr val="B3D4FE">
              <a:alpha val="20000"/>
            </a:srgbClr>
          </a:solidFill>
          <a:ln w="25400">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7" name="圆角矩形 6"/>
          <p:cNvSpPr/>
          <p:nvPr/>
        </p:nvSpPr>
        <p:spPr>
          <a:xfrm>
            <a:off x="4614545" y="3715385"/>
            <a:ext cx="1301115" cy="350520"/>
          </a:xfrm>
          <a:prstGeom prst="roundRect">
            <a:avLst>
              <a:gd name="adj" fmla="val 5486"/>
            </a:avLst>
          </a:prstGeom>
          <a:solidFill>
            <a:srgbClr val="FFFFFF">
              <a:alpha val="70000"/>
            </a:srgbClr>
          </a:solidFill>
          <a:ln w="12700">
            <a:solidFill>
              <a:srgbClr val="B3D4FE"/>
            </a:solidFill>
            <a:prstDash val="dashDot"/>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内容板块布局</a:t>
            </a:r>
            <a:endParaRPr lang="zh-CN" altLang="en-US" sz="1200">
              <a:solidFill>
                <a:srgbClr val="383838"/>
              </a:solidFill>
              <a:latin typeface="微软雅黑"/>
              <a:ea typeface="微软雅黑"/>
              <a:cs typeface="微软雅黑"/>
            </a:endParaRPr>
          </a:p>
        </p:txBody>
      </p:sp>
      <p:sp>
        <p:nvSpPr>
          <p:cNvPr id="8" name="圆角矩形 7"/>
          <p:cNvSpPr/>
          <p:nvPr/>
        </p:nvSpPr>
        <p:spPr>
          <a:xfrm>
            <a:off x="6351905" y="3715385"/>
            <a:ext cx="1282065" cy="351790"/>
          </a:xfrm>
          <a:prstGeom prst="roundRect">
            <a:avLst>
              <a:gd name="adj" fmla="val 5486"/>
            </a:avLst>
          </a:prstGeom>
          <a:solidFill>
            <a:srgbClr val="FFFFFF">
              <a:alpha val="70000"/>
            </a:srgbClr>
          </a:solidFill>
          <a:ln w="12700">
            <a:solidFill>
              <a:srgbClr val="B3D4FE"/>
            </a:solidFill>
            <a:prstDash val="dashDot"/>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内容形式</a:t>
            </a:r>
            <a:r>
              <a:rPr lang="zh-CN" altLang="en-US" sz="1200">
                <a:solidFill>
                  <a:srgbClr val="383838"/>
                </a:solidFill>
                <a:latin typeface="微软雅黑"/>
                <a:ea typeface="微软雅黑"/>
                <a:cs typeface="微软雅黑"/>
                <a:sym typeface="微软雅黑"/>
              </a:rPr>
              <a:t>布局</a:t>
            </a:r>
            <a:endParaRPr lang="zh-CN" altLang="en-US" sz="1200">
              <a:solidFill>
                <a:srgbClr val="383838"/>
              </a:solidFill>
              <a:latin typeface="微软雅黑"/>
              <a:ea typeface="微软雅黑"/>
              <a:cs typeface="微软雅黑"/>
              <a:sym typeface="微软雅黑"/>
            </a:endParaRPr>
          </a:p>
        </p:txBody>
      </p:sp>
      <p:sp>
        <p:nvSpPr>
          <p:cNvPr id="9" name="圆角矩形 8"/>
          <p:cNvSpPr/>
          <p:nvPr/>
        </p:nvSpPr>
        <p:spPr>
          <a:xfrm>
            <a:off x="4252595" y="4307205"/>
            <a:ext cx="1183005" cy="350520"/>
          </a:xfrm>
          <a:prstGeom prst="roundRect">
            <a:avLst>
              <a:gd name="adj" fmla="val 5486"/>
            </a:avLst>
          </a:prstGeom>
          <a:solidFill>
            <a:srgbClr val="B3D4FE"/>
          </a:solidFill>
          <a:ln w="12700">
            <a:noFill/>
            <a:prstDash val="dashDot"/>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商业合作管理</a:t>
            </a:r>
            <a:endParaRPr lang="zh-CN" altLang="en-US" sz="1200">
              <a:solidFill>
                <a:srgbClr val="383838"/>
              </a:solidFill>
              <a:latin typeface="微软雅黑"/>
              <a:ea typeface="微软雅黑"/>
              <a:cs typeface="微软雅黑"/>
              <a:sym typeface="微软雅黑"/>
            </a:endParaRPr>
          </a:p>
        </p:txBody>
      </p:sp>
      <p:sp>
        <p:nvSpPr>
          <p:cNvPr id="11" name="圆角矩形 10"/>
          <p:cNvSpPr/>
          <p:nvPr/>
        </p:nvSpPr>
        <p:spPr>
          <a:xfrm>
            <a:off x="5521325" y="4307205"/>
            <a:ext cx="1183005" cy="350520"/>
          </a:xfrm>
          <a:prstGeom prst="roundRect">
            <a:avLst>
              <a:gd name="adj" fmla="val 5486"/>
            </a:avLst>
          </a:prstGeom>
          <a:solidFill>
            <a:srgbClr val="B3D4FE"/>
          </a:solidFill>
          <a:ln w="12700">
            <a:noFill/>
            <a:prstDash val="dashDot"/>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创业者激励</a:t>
            </a:r>
            <a:endParaRPr lang="zh-CN" altLang="en-US" sz="1200">
              <a:solidFill>
                <a:srgbClr val="383838"/>
              </a:solidFill>
              <a:latin typeface="微软雅黑"/>
              <a:ea typeface="微软雅黑"/>
              <a:cs typeface="微软雅黑"/>
              <a:sym typeface="微软雅黑"/>
            </a:endParaRPr>
          </a:p>
        </p:txBody>
      </p:sp>
      <p:sp>
        <p:nvSpPr>
          <p:cNvPr id="12" name="圆角矩形 11"/>
          <p:cNvSpPr/>
          <p:nvPr/>
        </p:nvSpPr>
        <p:spPr>
          <a:xfrm>
            <a:off x="6790055" y="4307205"/>
            <a:ext cx="1183005" cy="350520"/>
          </a:xfrm>
          <a:prstGeom prst="roundRect">
            <a:avLst>
              <a:gd name="adj" fmla="val 5486"/>
            </a:avLst>
          </a:prstGeom>
          <a:solidFill>
            <a:srgbClr val="B3D4FE"/>
          </a:solidFill>
          <a:ln w="12700">
            <a:noFill/>
            <a:prstDash val="dashDot"/>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数据技术支持</a:t>
            </a:r>
            <a:endParaRPr lang="zh-CN" altLang="en-US" sz="1200">
              <a:solidFill>
                <a:srgbClr val="383838"/>
              </a:solidFill>
              <a:latin typeface="微软雅黑"/>
              <a:ea typeface="微软雅黑"/>
              <a:cs typeface="微软雅黑"/>
              <a:sym typeface="微软雅黑"/>
            </a:endParaRPr>
          </a:p>
        </p:txBody>
      </p:sp>
      <p:sp>
        <p:nvSpPr>
          <p:cNvPr id="14" name="圆角矩形 13"/>
          <p:cNvSpPr/>
          <p:nvPr/>
        </p:nvSpPr>
        <p:spPr>
          <a:xfrm>
            <a:off x="4846955" y="1580515"/>
            <a:ext cx="2518410" cy="520065"/>
          </a:xfrm>
          <a:prstGeom prst="roundRect">
            <a:avLst>
              <a:gd name="adj" fmla="val 7936"/>
            </a:avLst>
          </a:prstGeom>
          <a:gradFill>
            <a:gsLst>
              <a:gs pos="0">
                <a:srgbClr val="3368FF"/>
              </a:gs>
              <a:gs pos="81000">
                <a:srgbClr val="0042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sym typeface="微软雅黑"/>
              </a:rPr>
              <a:t>广告代理商</a:t>
            </a:r>
            <a:r>
              <a:rPr lang="zh-CN" altLang="en-US" sz="1600" b="1">
                <a:solidFill>
                  <a:srgbClr val="FFFFFF"/>
                </a:solidFill>
                <a:latin typeface="微软雅黑"/>
                <a:ea typeface="微软雅黑"/>
                <a:cs typeface="微软雅黑"/>
                <a:sym typeface="微软雅黑"/>
              </a:rPr>
              <a:t>/</a:t>
            </a:r>
            <a:r>
              <a:rPr lang="zh-CN" altLang="en-US" sz="1600" b="1">
                <a:solidFill>
                  <a:srgbClr val="FFFFFF"/>
                </a:solidFill>
                <a:latin typeface="微软雅黑"/>
                <a:ea typeface="微软雅黑"/>
                <a:cs typeface="微软雅黑"/>
                <a:sym typeface="微软雅黑"/>
              </a:rPr>
              <a:t>营销服务商</a:t>
            </a:r>
            <a:endParaRPr lang="zh-CN" altLang="en-US" sz="1600" b="1">
              <a:solidFill>
                <a:srgbClr val="FFFFFF"/>
              </a:solidFill>
              <a:latin typeface="微软雅黑"/>
              <a:ea typeface="微软雅黑"/>
              <a:cs typeface="微软雅黑"/>
              <a:sym typeface="微软雅黑"/>
            </a:endParaRPr>
          </a:p>
        </p:txBody>
      </p:sp>
      <p:sp>
        <p:nvSpPr>
          <p:cNvPr id="15" name="圆角矩形 14"/>
          <p:cNvSpPr/>
          <p:nvPr/>
        </p:nvSpPr>
        <p:spPr>
          <a:xfrm>
            <a:off x="2035175" y="5610860"/>
            <a:ext cx="8126730" cy="724535"/>
          </a:xfrm>
          <a:prstGeom prst="roundRect">
            <a:avLst>
              <a:gd name="adj" fmla="val 5486"/>
            </a:avLst>
          </a:prstGeom>
          <a:solidFill>
            <a:srgbClr val="E6E6E6">
              <a:alpha val="20000"/>
            </a:srgbClr>
          </a:solidFill>
          <a:ln w="25400">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 name="圆角矩形 15"/>
          <p:cNvSpPr/>
          <p:nvPr/>
        </p:nvSpPr>
        <p:spPr>
          <a:xfrm>
            <a:off x="9223375" y="3594735"/>
            <a:ext cx="2389505" cy="520065"/>
          </a:xfrm>
          <a:prstGeom prst="roundRect">
            <a:avLst>
              <a:gd name="adj" fmla="val 7936"/>
            </a:avLst>
          </a:prstGeom>
          <a:gradFill>
            <a:gsLst>
              <a:gs pos="0">
                <a:srgbClr val="B3D4FE"/>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600" b="1">
                <a:latin typeface="微软雅黑"/>
                <a:ea typeface="微软雅黑"/>
                <a:cs typeface="微软雅黑"/>
                <a:sym typeface="微软雅黑"/>
              </a:rPr>
              <a:t>用户</a:t>
            </a:r>
            <a:endParaRPr lang="zh-CN" altLang="en-US" sz="1600" b="1">
              <a:latin typeface="微软雅黑"/>
              <a:ea typeface="微软雅黑"/>
              <a:cs typeface="微软雅黑"/>
              <a:sym typeface="微软雅黑"/>
            </a:endParaRPr>
          </a:p>
        </p:txBody>
      </p:sp>
      <p:sp>
        <p:nvSpPr>
          <p:cNvPr id="17" name="圆角矩形 16"/>
          <p:cNvSpPr/>
          <p:nvPr/>
        </p:nvSpPr>
        <p:spPr>
          <a:xfrm>
            <a:off x="2245995" y="5713095"/>
            <a:ext cx="2937510" cy="520065"/>
          </a:xfrm>
          <a:prstGeom prst="roundRect">
            <a:avLst>
              <a:gd name="adj" fmla="val 7936"/>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en-US" altLang="zh-CN" sz="1600" b="1">
                <a:solidFill>
                  <a:srgbClr val="FFFFFF"/>
                </a:solidFill>
                <a:latin typeface="微软雅黑"/>
                <a:ea typeface="微软雅黑"/>
                <a:cs typeface="微软雅黑"/>
                <a:sym typeface="微软雅黑"/>
              </a:rPr>
              <a:t>M</a:t>
            </a:r>
            <a:r>
              <a:rPr lang="en-US" altLang="zh-CN" sz="1600" b="1">
                <a:solidFill>
                  <a:srgbClr val="FFFFFF"/>
                </a:solidFill>
                <a:latin typeface="微软雅黑"/>
                <a:ea typeface="微软雅黑"/>
                <a:cs typeface="微软雅黑"/>
                <a:sym typeface="微软雅黑"/>
              </a:rPr>
              <a:t>CN</a:t>
            </a:r>
            <a:endParaRPr lang="en-US" altLang="zh-CN" sz="1600" b="1">
              <a:solidFill>
                <a:srgbClr val="FFFFFF"/>
              </a:solidFill>
              <a:latin typeface="微软雅黑"/>
              <a:ea typeface="微软雅黑"/>
              <a:cs typeface="微软雅黑"/>
              <a:sym typeface="微软雅黑"/>
            </a:endParaRPr>
          </a:p>
        </p:txBody>
      </p:sp>
      <p:sp>
        <p:nvSpPr>
          <p:cNvPr id="18" name="圆角矩形 17"/>
          <p:cNvSpPr/>
          <p:nvPr/>
        </p:nvSpPr>
        <p:spPr>
          <a:xfrm>
            <a:off x="6998335" y="5713095"/>
            <a:ext cx="2937510" cy="520065"/>
          </a:xfrm>
          <a:prstGeom prst="roundRect">
            <a:avLst>
              <a:gd name="adj" fmla="val 7936"/>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en-US" altLang="zh-CN" sz="1600" b="1">
                <a:solidFill>
                  <a:srgbClr val="FFFFFF"/>
                </a:solidFill>
                <a:latin typeface="微软雅黑"/>
                <a:ea typeface="微软雅黑"/>
                <a:cs typeface="微软雅黑"/>
                <a:sym typeface="微软雅黑"/>
              </a:rPr>
              <a:t>内容生产方</a:t>
            </a:r>
            <a:endParaRPr lang="en-US" altLang="zh-CN" sz="1600" b="1">
              <a:solidFill>
                <a:srgbClr val="FFFFFF"/>
              </a:solidFill>
              <a:latin typeface="微软雅黑"/>
              <a:ea typeface="微软雅黑"/>
              <a:cs typeface="微软雅黑"/>
              <a:sym typeface="微软雅黑"/>
            </a:endParaRPr>
          </a:p>
        </p:txBody>
      </p:sp>
      <p:cxnSp>
        <p:nvCxnSpPr>
          <p:cNvPr id="19" name="直接箭头连接符 18"/>
          <p:cNvCxnSpPr/>
          <p:nvPr/>
        </p:nvCxnSpPr>
        <p:spPr>
          <a:xfrm>
            <a:off x="5207000" y="5878830"/>
            <a:ext cx="1747520" cy="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20" name="直接箭头连接符 19"/>
          <p:cNvCxnSpPr/>
          <p:nvPr/>
        </p:nvCxnSpPr>
        <p:spPr>
          <a:xfrm>
            <a:off x="5207000" y="6031230"/>
            <a:ext cx="1747520" cy="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21" name="直接箭头连接符 20"/>
          <p:cNvCxnSpPr/>
          <p:nvPr/>
        </p:nvCxnSpPr>
        <p:spPr>
          <a:xfrm flipV="1">
            <a:off x="5915660" y="4793615"/>
            <a:ext cx="0" cy="76073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22" name="直接箭头连接符 21"/>
          <p:cNvCxnSpPr/>
          <p:nvPr/>
        </p:nvCxnSpPr>
        <p:spPr>
          <a:xfrm>
            <a:off x="6291580" y="4796155"/>
            <a:ext cx="0" cy="760730"/>
          </a:xfrm>
          <a:prstGeom prst="straightConnector1">
            <a:avLst/>
          </a:prstGeom>
          <a:ln>
            <a:solidFill>
              <a:srgbClr val="3368FF"/>
            </a:solidFill>
            <a:prstDash val="dash"/>
            <a:tailEnd type="triangle"/>
          </a:ln>
        </p:spPr>
        <p:style>
          <a:lnRef idx="2">
            <a:srgbClr val="0042FF"/>
          </a:lnRef>
          <a:fillRef idx="0">
            <a:srgbClr val="FFFFFF"/>
          </a:fillRef>
          <a:effectRef idx="0">
            <a:srgbClr val="FFFFFF"/>
          </a:effectRef>
          <a:fontRef idx="minor">
            <a:srgbClr val="383838"/>
          </a:fontRef>
        </p:style>
      </p:cxnSp>
      <p:cxnSp>
        <p:nvCxnSpPr>
          <p:cNvPr id="23" name="直接箭头连接符 22"/>
          <p:cNvCxnSpPr/>
          <p:nvPr/>
        </p:nvCxnSpPr>
        <p:spPr>
          <a:xfrm>
            <a:off x="5944235" y="2118995"/>
            <a:ext cx="0" cy="76073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24" name="直接箭头连接符 23"/>
          <p:cNvCxnSpPr/>
          <p:nvPr/>
        </p:nvCxnSpPr>
        <p:spPr>
          <a:xfrm>
            <a:off x="6322695" y="2118995"/>
            <a:ext cx="0" cy="760730"/>
          </a:xfrm>
          <a:prstGeom prst="straightConnector1">
            <a:avLst/>
          </a:prstGeom>
          <a:ln>
            <a:solidFill>
              <a:srgbClr val="3368FF"/>
            </a:solidFill>
            <a:prstDash val="dash"/>
            <a:tailEnd type="triangle"/>
          </a:ln>
        </p:spPr>
        <p:style>
          <a:lnRef idx="2">
            <a:srgbClr val="0042FF"/>
          </a:lnRef>
          <a:fillRef idx="0">
            <a:srgbClr val="FFFFFF"/>
          </a:fillRef>
          <a:effectRef idx="0">
            <a:srgbClr val="FFFFFF"/>
          </a:effectRef>
          <a:fontRef idx="minor">
            <a:srgbClr val="383838"/>
          </a:fontRef>
        </p:style>
      </p:cxnSp>
      <p:cxnSp>
        <p:nvCxnSpPr>
          <p:cNvPr id="25" name="直接箭头连接符 24"/>
          <p:cNvCxnSpPr/>
          <p:nvPr/>
        </p:nvCxnSpPr>
        <p:spPr>
          <a:xfrm>
            <a:off x="3030855" y="3737610"/>
            <a:ext cx="1050290" cy="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26" name="直接箭头连接符 25"/>
          <p:cNvCxnSpPr/>
          <p:nvPr/>
        </p:nvCxnSpPr>
        <p:spPr>
          <a:xfrm>
            <a:off x="3030855" y="3989705"/>
            <a:ext cx="1050290" cy="0"/>
          </a:xfrm>
          <a:prstGeom prst="straightConnector1">
            <a:avLst/>
          </a:prstGeom>
          <a:ln>
            <a:solidFill>
              <a:srgbClr val="3368FF"/>
            </a:solidFill>
            <a:prstDash val="dash"/>
            <a:tailEnd type="triangle"/>
          </a:ln>
        </p:spPr>
        <p:style>
          <a:lnRef idx="2">
            <a:srgbClr val="0042FF"/>
          </a:lnRef>
          <a:fillRef idx="0">
            <a:srgbClr val="FFFFFF"/>
          </a:fillRef>
          <a:effectRef idx="0">
            <a:srgbClr val="FFFFFF"/>
          </a:effectRef>
          <a:fontRef idx="minor">
            <a:srgbClr val="383838"/>
          </a:fontRef>
        </p:style>
      </p:cxnSp>
      <p:cxnSp>
        <p:nvCxnSpPr>
          <p:cNvPr id="27" name="直接箭头连接符 26"/>
          <p:cNvCxnSpPr/>
          <p:nvPr/>
        </p:nvCxnSpPr>
        <p:spPr>
          <a:xfrm>
            <a:off x="8094980" y="3749040"/>
            <a:ext cx="1050290" cy="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28" name="直接箭头连接符 27"/>
          <p:cNvCxnSpPr/>
          <p:nvPr/>
        </p:nvCxnSpPr>
        <p:spPr>
          <a:xfrm flipH="1">
            <a:off x="8094980" y="3993515"/>
            <a:ext cx="1050290" cy="0"/>
          </a:xfrm>
          <a:prstGeom prst="straightConnector1">
            <a:avLst/>
          </a:prstGeom>
          <a:ln>
            <a:solidFill>
              <a:srgbClr val="3368FF"/>
            </a:solidFill>
            <a:prstDash val="dash"/>
            <a:tailEnd type="triangle"/>
          </a:ln>
        </p:spPr>
        <p:style>
          <a:lnRef idx="2">
            <a:srgbClr val="0042FF"/>
          </a:lnRef>
          <a:fillRef idx="0">
            <a:srgbClr val="FFFFFF"/>
          </a:fillRef>
          <a:effectRef idx="0">
            <a:srgbClr val="FFFFFF"/>
          </a:effectRef>
          <a:fontRef idx="minor">
            <a:srgbClr val="383838"/>
          </a:fontRef>
        </p:style>
      </p:cxnSp>
      <p:cxnSp>
        <p:nvCxnSpPr>
          <p:cNvPr id="36" name="肘形连接符 35"/>
          <p:cNvCxnSpPr>
            <a:stCxn id="29" idx="3"/>
            <a:endCxn id="34" idx="2"/>
          </p:cNvCxnSpPr>
          <p:nvPr/>
        </p:nvCxnSpPr>
        <p:spPr>
          <a:xfrm rot="5400000">
            <a:off x="1162685" y="2558415"/>
            <a:ext cx="4456430" cy="2765425"/>
          </a:xfrm>
          <a:prstGeom prst="bentConnector4">
            <a:avLst>
              <a:gd name="adj1" fmla="val 35"/>
              <a:gd name="adj2" fmla="val 139460"/>
            </a:avLst>
          </a:prstGeom>
          <a:ln>
            <a:solidFill>
              <a:srgbClr val="3368FF"/>
            </a:solidFill>
            <a:prstDash val="dash"/>
            <a:headEnd type="triangle"/>
            <a:tailEnd type="triangle"/>
          </a:ln>
        </p:spPr>
        <p:style>
          <a:lnRef idx="2">
            <a:srgbClr val="0042FF"/>
          </a:lnRef>
          <a:fillRef idx="0">
            <a:srgbClr val="FFFFFF"/>
          </a:fillRef>
          <a:effectRef idx="0">
            <a:srgbClr val="FFFFFF"/>
          </a:effectRef>
          <a:fontRef idx="minor">
            <a:srgbClr val="383838"/>
          </a:fontRef>
        </p:style>
      </p:cxnSp>
      <p:cxnSp>
        <p:nvCxnSpPr>
          <p:cNvPr id="37" name="肘形连接符 36"/>
          <p:cNvCxnSpPr>
            <a:stCxn id="30" idx="2"/>
            <a:endCxn id="33" idx="2"/>
          </p:cNvCxnSpPr>
          <p:nvPr/>
        </p:nvCxnSpPr>
        <p:spPr>
          <a:xfrm rot="10800000" flipV="1">
            <a:off x="2008505" y="2001520"/>
            <a:ext cx="2754630" cy="3803650"/>
          </a:xfrm>
          <a:prstGeom prst="bentConnector3">
            <a:avLst>
              <a:gd name="adj1" fmla="val 108645"/>
            </a:avLst>
          </a:prstGeom>
          <a:ln>
            <a:solidFill>
              <a:srgbClr val="0042FF"/>
            </a:solidFill>
            <a:headEnd type="triangle"/>
            <a:tailEnd type="triangle"/>
          </a:ln>
        </p:spPr>
        <p:style>
          <a:lnRef idx="2">
            <a:srgbClr val="0042FF"/>
          </a:lnRef>
          <a:fillRef idx="0">
            <a:srgbClr val="FFFFFF"/>
          </a:fillRef>
          <a:effectRef idx="0">
            <a:srgbClr val="FFFFFF"/>
          </a:effectRef>
          <a:fontRef idx="minor">
            <a:srgbClr val="383838"/>
          </a:fontRef>
        </p:style>
      </p:cxnSp>
      <p:sp>
        <p:nvSpPr>
          <p:cNvPr id="38" name="圆角矩形 37"/>
          <p:cNvSpPr/>
          <p:nvPr/>
        </p:nvSpPr>
        <p:spPr>
          <a:xfrm>
            <a:off x="605155" y="3594735"/>
            <a:ext cx="2389505" cy="520065"/>
          </a:xfrm>
          <a:prstGeom prst="roundRect">
            <a:avLst>
              <a:gd name="adj" fmla="val 7936"/>
            </a:avLst>
          </a:prstGeom>
          <a:gradFill>
            <a:gsLst>
              <a:gs pos="0">
                <a:srgbClr val="3368FF"/>
              </a:gs>
              <a:gs pos="81000">
                <a:srgbClr val="0042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sym typeface="微软雅黑"/>
              </a:rPr>
              <a:t>品牌主</a:t>
            </a:r>
            <a:endParaRPr lang="zh-CN" altLang="en-US" sz="1600" b="1">
              <a:solidFill>
                <a:srgbClr val="FFFFFF"/>
              </a:solidFill>
              <a:latin typeface="微软雅黑"/>
              <a:ea typeface="微软雅黑"/>
              <a:cs typeface="微软雅黑"/>
              <a:sym typeface="微软雅黑"/>
            </a:endParaRPr>
          </a:p>
        </p:txBody>
      </p:sp>
      <p:sp>
        <p:nvSpPr>
          <p:cNvPr id="39" name="矩形 38"/>
          <p:cNvSpPr/>
          <p:nvPr/>
        </p:nvSpPr>
        <p:spPr>
          <a:xfrm>
            <a:off x="9326880" y="1562100"/>
            <a:ext cx="2026920" cy="624840"/>
          </a:xfrm>
          <a:prstGeom prst="rect">
            <a:avLst/>
          </a:prstGeom>
          <a:solidFill>
            <a:srgbClr val="FFFFFF"/>
          </a:solidFill>
          <a:ln w="12700">
            <a:solidFill>
              <a:srgbClr val="383838"/>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0" name="文本框 39"/>
          <p:cNvSpPr txBox="1"/>
          <p:nvPr/>
        </p:nvSpPr>
        <p:spPr>
          <a:xfrm>
            <a:off x="5115560" y="2973705"/>
            <a:ext cx="193802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互联网自媒体</a:t>
            </a:r>
            <a:endParaRPr lang="zh-CN" altLang="en-US" sz="1600" b="1">
              <a:solidFill>
                <a:srgbClr val="0042FF"/>
              </a:solidFill>
              <a:latin typeface="微软雅黑"/>
              <a:ea typeface="微软雅黑"/>
              <a:cs typeface="微软雅黑"/>
            </a:endParaRPr>
          </a:p>
        </p:txBody>
      </p:sp>
      <p:sp>
        <p:nvSpPr>
          <p:cNvPr id="41" name="文本框 40"/>
          <p:cNvSpPr txBox="1"/>
          <p:nvPr/>
        </p:nvSpPr>
        <p:spPr>
          <a:xfrm>
            <a:off x="5593080" y="3347085"/>
            <a:ext cx="1111250" cy="337185"/>
          </a:xfrm>
          <a:prstGeom prst="rect">
            <a:avLst/>
          </a:prstGeom>
          <a:noFill/>
        </p:spPr>
        <p:txBody>
          <a:bodyPr wrap="square" rtlCol="0">
            <a:spAutoFit/>
          </a:bodyPr>
          <a:p>
            <a:pPr>
              <a:defRPr>
                <a:latin typeface="微软雅黑"/>
                <a:ea typeface="微软雅黑"/>
                <a:cs typeface="微软雅黑"/>
              </a:defRPr>
            </a:pPr>
            <a:r>
              <a:rPr lang="zh-CN" altLang="en-US" sz="1600" b="1">
                <a:solidFill>
                  <a:srgbClr val="383838"/>
                </a:solidFill>
                <a:latin typeface="微软雅黑"/>
                <a:ea typeface="微软雅黑"/>
                <a:cs typeface="微软雅黑"/>
              </a:rPr>
              <a:t>内容社区</a:t>
            </a:r>
            <a:endParaRPr lang="zh-CN" altLang="en-US" sz="1600" b="1">
              <a:solidFill>
                <a:srgbClr val="383838"/>
              </a:solidFill>
              <a:latin typeface="微软雅黑"/>
              <a:ea typeface="微软雅黑"/>
              <a:cs typeface="微软雅黑"/>
            </a:endParaRPr>
          </a:p>
        </p:txBody>
      </p:sp>
      <p:sp>
        <p:nvSpPr>
          <p:cNvPr id="46" name="文本框 45"/>
          <p:cNvSpPr txBox="1"/>
          <p:nvPr/>
        </p:nvSpPr>
        <p:spPr>
          <a:xfrm>
            <a:off x="3289935" y="1399540"/>
            <a:ext cx="96266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内容投放预算</a:t>
            </a:r>
            <a:endParaRPr lang="en-US" altLang="zh-CN" sz="1000">
              <a:solidFill>
                <a:srgbClr val="383838"/>
              </a:solidFill>
              <a:latin typeface="微软雅黑"/>
              <a:ea typeface="微软雅黑"/>
              <a:cs typeface="微软雅黑"/>
            </a:endParaRPr>
          </a:p>
        </p:txBody>
      </p:sp>
      <p:sp>
        <p:nvSpPr>
          <p:cNvPr id="47" name="文本框 46"/>
          <p:cNvSpPr txBox="1"/>
          <p:nvPr/>
        </p:nvSpPr>
        <p:spPr>
          <a:xfrm>
            <a:off x="3289935" y="2054860"/>
            <a:ext cx="96266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内容投放需求</a:t>
            </a:r>
            <a:endParaRPr lang="zh-CN" altLang="en-US" sz="1000">
              <a:solidFill>
                <a:srgbClr val="383838"/>
              </a:solidFill>
              <a:latin typeface="微软雅黑"/>
              <a:ea typeface="微软雅黑"/>
              <a:cs typeface="微软雅黑"/>
            </a:endParaRPr>
          </a:p>
        </p:txBody>
      </p:sp>
      <p:sp>
        <p:nvSpPr>
          <p:cNvPr id="48" name="文本框 47"/>
          <p:cNvSpPr txBox="1"/>
          <p:nvPr/>
        </p:nvSpPr>
        <p:spPr>
          <a:xfrm>
            <a:off x="5149215" y="2376805"/>
            <a:ext cx="78613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内容合作</a:t>
            </a:r>
            <a:endParaRPr lang="zh-CN" altLang="en-US" sz="1000">
              <a:solidFill>
                <a:srgbClr val="383838"/>
              </a:solidFill>
              <a:latin typeface="微软雅黑"/>
              <a:ea typeface="微软雅黑"/>
              <a:cs typeface="微软雅黑"/>
            </a:endParaRPr>
          </a:p>
        </p:txBody>
      </p:sp>
      <p:sp>
        <p:nvSpPr>
          <p:cNvPr id="49" name="文本框 48"/>
          <p:cNvSpPr txBox="1"/>
          <p:nvPr/>
        </p:nvSpPr>
        <p:spPr>
          <a:xfrm>
            <a:off x="6343015" y="2376805"/>
            <a:ext cx="100901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内容合作费用</a:t>
            </a:r>
            <a:endParaRPr lang="zh-CN" altLang="en-US" sz="1000">
              <a:solidFill>
                <a:srgbClr val="383838"/>
              </a:solidFill>
              <a:latin typeface="微软雅黑"/>
              <a:ea typeface="微软雅黑"/>
              <a:cs typeface="微软雅黑"/>
            </a:endParaRPr>
          </a:p>
        </p:txBody>
      </p:sp>
      <p:sp>
        <p:nvSpPr>
          <p:cNvPr id="50" name="文本框 49"/>
          <p:cNvSpPr txBox="1"/>
          <p:nvPr/>
        </p:nvSpPr>
        <p:spPr>
          <a:xfrm>
            <a:off x="1773555" y="4657725"/>
            <a:ext cx="358140" cy="706755"/>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内容合作</a:t>
            </a:r>
            <a:endParaRPr lang="zh-CN" altLang="en-US" sz="1000">
              <a:solidFill>
                <a:srgbClr val="383838"/>
              </a:solidFill>
              <a:latin typeface="微软雅黑"/>
              <a:ea typeface="微软雅黑"/>
              <a:cs typeface="微软雅黑"/>
            </a:endParaRPr>
          </a:p>
        </p:txBody>
      </p:sp>
      <p:sp>
        <p:nvSpPr>
          <p:cNvPr id="51" name="文本框 50"/>
          <p:cNvSpPr txBox="1"/>
          <p:nvPr/>
        </p:nvSpPr>
        <p:spPr>
          <a:xfrm>
            <a:off x="935355" y="4636770"/>
            <a:ext cx="358140" cy="116840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制作费用</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佣金</a:t>
            </a:r>
            <a:endParaRPr lang="zh-CN" altLang="en-US" sz="1000">
              <a:solidFill>
                <a:srgbClr val="383838"/>
              </a:solidFill>
              <a:latin typeface="微软雅黑"/>
              <a:ea typeface="微软雅黑"/>
              <a:cs typeface="微软雅黑"/>
            </a:endParaRPr>
          </a:p>
        </p:txBody>
      </p:sp>
      <p:sp>
        <p:nvSpPr>
          <p:cNvPr id="52" name="文本框 51"/>
          <p:cNvSpPr txBox="1"/>
          <p:nvPr/>
        </p:nvSpPr>
        <p:spPr>
          <a:xfrm>
            <a:off x="5012055" y="5026660"/>
            <a:ext cx="78613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内容合作</a:t>
            </a:r>
            <a:endParaRPr lang="zh-CN" altLang="en-US" sz="1000">
              <a:solidFill>
                <a:srgbClr val="383838"/>
              </a:solidFill>
              <a:latin typeface="微软雅黑"/>
              <a:ea typeface="微软雅黑"/>
              <a:cs typeface="微软雅黑"/>
            </a:endParaRPr>
          </a:p>
        </p:txBody>
      </p:sp>
      <p:sp>
        <p:nvSpPr>
          <p:cNvPr id="53" name="文本框 52"/>
          <p:cNvSpPr txBox="1"/>
          <p:nvPr/>
        </p:nvSpPr>
        <p:spPr>
          <a:xfrm>
            <a:off x="6504940" y="4949825"/>
            <a:ext cx="1059815"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佣金分成</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内容付费分成</a:t>
            </a:r>
            <a:endParaRPr lang="zh-CN" altLang="en-US" sz="1000">
              <a:solidFill>
                <a:srgbClr val="383838"/>
              </a:solidFill>
              <a:latin typeface="微软雅黑"/>
              <a:ea typeface="微软雅黑"/>
              <a:cs typeface="微软雅黑"/>
            </a:endParaRPr>
          </a:p>
        </p:txBody>
      </p:sp>
      <p:cxnSp>
        <p:nvCxnSpPr>
          <p:cNvPr id="56" name="直接箭头连接符 55"/>
          <p:cNvCxnSpPr/>
          <p:nvPr/>
        </p:nvCxnSpPr>
        <p:spPr>
          <a:xfrm>
            <a:off x="9480550" y="1751330"/>
            <a:ext cx="1050290" cy="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57" name="直接箭头连接符 56"/>
          <p:cNvCxnSpPr/>
          <p:nvPr/>
        </p:nvCxnSpPr>
        <p:spPr>
          <a:xfrm flipH="1">
            <a:off x="9480550" y="1964055"/>
            <a:ext cx="1050290" cy="0"/>
          </a:xfrm>
          <a:prstGeom prst="straightConnector1">
            <a:avLst/>
          </a:prstGeom>
          <a:ln>
            <a:solidFill>
              <a:srgbClr val="3368FF"/>
            </a:solidFill>
            <a:prstDash val="dash"/>
            <a:tailEnd type="triangle"/>
          </a:ln>
        </p:spPr>
        <p:style>
          <a:lnRef idx="2">
            <a:srgbClr val="0042FF"/>
          </a:lnRef>
          <a:fillRef idx="0">
            <a:srgbClr val="FFFFFF"/>
          </a:fillRef>
          <a:effectRef idx="0">
            <a:srgbClr val="FFFFFF"/>
          </a:effectRef>
          <a:fontRef idx="minor">
            <a:srgbClr val="383838"/>
          </a:fontRef>
        </p:style>
      </p:cxnSp>
      <p:sp>
        <p:nvSpPr>
          <p:cNvPr id="58" name="文本框 57"/>
          <p:cNvSpPr txBox="1"/>
          <p:nvPr/>
        </p:nvSpPr>
        <p:spPr>
          <a:xfrm>
            <a:off x="10530840" y="1644650"/>
            <a:ext cx="64833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业务流</a:t>
            </a:r>
            <a:endParaRPr lang="zh-CN" altLang="en-US" sz="1000">
              <a:solidFill>
                <a:srgbClr val="383838"/>
              </a:solidFill>
              <a:latin typeface="微软雅黑"/>
              <a:ea typeface="微软雅黑"/>
              <a:cs typeface="微软雅黑"/>
            </a:endParaRPr>
          </a:p>
        </p:txBody>
      </p:sp>
      <p:sp>
        <p:nvSpPr>
          <p:cNvPr id="59" name="文本框 58"/>
          <p:cNvSpPr txBox="1"/>
          <p:nvPr/>
        </p:nvSpPr>
        <p:spPr>
          <a:xfrm>
            <a:off x="10530840" y="1873885"/>
            <a:ext cx="648335"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资金流</a:t>
            </a:r>
            <a:endParaRPr lang="zh-CN" altLang="en-US" sz="1000">
              <a:solidFill>
                <a:srgbClr val="383838"/>
              </a:solidFill>
              <a:latin typeface="微软雅黑"/>
              <a:ea typeface="微软雅黑"/>
              <a:cs typeface="微软雅黑"/>
            </a:endParaRPr>
          </a:p>
        </p:txBody>
      </p:sp>
      <p:pic>
        <p:nvPicPr>
          <p:cNvPr id="104" name="图片 103"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 name="文本框 3"/>
          <p:cNvSpPr txBox="1"/>
          <p:nvPr/>
        </p:nvSpPr>
        <p:spPr>
          <a:xfrm>
            <a:off x="8136890" y="3401695"/>
            <a:ext cx="96266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内容展示</a:t>
            </a:r>
            <a:endParaRPr lang="zh-CN" altLang="en-US" sz="1000">
              <a:solidFill>
                <a:srgbClr val="383838"/>
              </a:solidFill>
              <a:latin typeface="微软雅黑"/>
              <a:ea typeface="微软雅黑"/>
              <a:cs typeface="微软雅黑"/>
            </a:endParaRPr>
          </a:p>
        </p:txBody>
      </p:sp>
      <p:sp>
        <p:nvSpPr>
          <p:cNvPr id="13" name="文本框 12"/>
          <p:cNvSpPr txBox="1"/>
          <p:nvPr/>
        </p:nvSpPr>
        <p:spPr>
          <a:xfrm>
            <a:off x="8137525" y="4035425"/>
            <a:ext cx="1094740" cy="706755"/>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内容付费</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商品购买</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会员费用</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其他</a:t>
            </a:r>
            <a:r>
              <a:rPr lang="en-US" altLang="zh-CN" sz="1000">
                <a:solidFill>
                  <a:srgbClr val="383838"/>
                </a:solidFill>
                <a:latin typeface="微软雅黑"/>
                <a:ea typeface="微软雅黑"/>
                <a:cs typeface="微软雅黑"/>
              </a:rPr>
              <a:t>C</a:t>
            </a:r>
            <a:r>
              <a:rPr lang="zh-CN" altLang="en-US" sz="1000">
                <a:solidFill>
                  <a:srgbClr val="383838"/>
                </a:solidFill>
                <a:latin typeface="微软雅黑"/>
                <a:ea typeface="微软雅黑"/>
                <a:cs typeface="微软雅黑"/>
              </a:rPr>
              <a:t>端付费项</a:t>
            </a:r>
            <a:endParaRPr lang="zh-CN" altLang="en-US" sz="1000">
              <a:solidFill>
                <a:srgbClr val="383838"/>
              </a:solidFill>
              <a:latin typeface="微软雅黑"/>
              <a:ea typeface="微软雅黑"/>
              <a:cs typeface="微软雅黑"/>
            </a:endParaRPr>
          </a:p>
        </p:txBody>
      </p:sp>
      <p:sp>
        <p:nvSpPr>
          <p:cNvPr id="29" name="文本框 28"/>
          <p:cNvSpPr txBox="1"/>
          <p:nvPr/>
        </p:nvSpPr>
        <p:spPr>
          <a:xfrm>
            <a:off x="3033395" y="3484880"/>
            <a:ext cx="96266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内容合作</a:t>
            </a:r>
            <a:endParaRPr lang="zh-CN" altLang="en-US" sz="1000">
              <a:solidFill>
                <a:srgbClr val="383838"/>
              </a:solidFill>
              <a:latin typeface="微软雅黑"/>
              <a:ea typeface="微软雅黑"/>
              <a:cs typeface="微软雅黑"/>
            </a:endParaRPr>
          </a:p>
        </p:txBody>
      </p:sp>
      <p:sp>
        <p:nvSpPr>
          <p:cNvPr id="30" name="文本框 29"/>
          <p:cNvSpPr txBox="1"/>
          <p:nvPr/>
        </p:nvSpPr>
        <p:spPr>
          <a:xfrm>
            <a:off x="3026410" y="4046220"/>
            <a:ext cx="1094740" cy="706755"/>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广告营销</a:t>
            </a: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sz="1000">
                <a:solidFill>
                  <a:srgbClr val="383838"/>
                </a:solidFill>
                <a:latin typeface="微软雅黑"/>
                <a:ea typeface="微软雅黑"/>
                <a:cs typeface="微软雅黑"/>
              </a:rPr>
              <a:t>流量采买</a:t>
            </a: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sz="1000">
                <a:solidFill>
                  <a:srgbClr val="383838"/>
                </a:solidFill>
                <a:latin typeface="微软雅黑"/>
                <a:ea typeface="微软雅黑"/>
                <a:cs typeface="微软雅黑"/>
              </a:rPr>
              <a:t>佣金分成</a:t>
            </a: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sz="1000">
                <a:solidFill>
                  <a:srgbClr val="383838"/>
                </a:solidFill>
                <a:latin typeface="微软雅黑"/>
                <a:ea typeface="微软雅黑"/>
                <a:cs typeface="微软雅黑"/>
              </a:rPr>
              <a:t>其他</a:t>
            </a:r>
            <a:r>
              <a:rPr lang="en-US" altLang="zh-CN" sz="1000">
                <a:solidFill>
                  <a:srgbClr val="383838"/>
                </a:solidFill>
                <a:latin typeface="微软雅黑"/>
                <a:ea typeface="微软雅黑"/>
                <a:cs typeface="微软雅黑"/>
              </a:rPr>
              <a:t>B</a:t>
            </a:r>
            <a:r>
              <a:rPr lang="zh-CN" altLang="en-US" sz="1000">
                <a:solidFill>
                  <a:srgbClr val="383838"/>
                </a:solidFill>
                <a:latin typeface="微软雅黑"/>
                <a:ea typeface="微软雅黑"/>
                <a:cs typeface="微软雅黑"/>
              </a:rPr>
              <a:t>端付费项</a:t>
            </a:r>
            <a:endParaRPr lang="en-US" altLang="zh-CN" sz="1000">
              <a:solidFill>
                <a:srgbClr val="383838"/>
              </a:solidFill>
              <a:latin typeface="微软雅黑"/>
              <a:ea typeface="微软雅黑"/>
              <a:cs typeface="微软雅黑"/>
            </a:endParaRPr>
          </a:p>
        </p:txBody>
      </p:sp>
      <p:sp>
        <p:nvSpPr>
          <p:cNvPr id="31" name="文本框 30"/>
          <p:cNvSpPr txBox="1"/>
          <p:nvPr/>
        </p:nvSpPr>
        <p:spPr>
          <a:xfrm>
            <a:off x="5488940" y="5660390"/>
            <a:ext cx="121539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挖掘、培养、管理</a:t>
            </a:r>
            <a:endParaRPr lang="zh-CN" altLang="en-US" sz="1000">
              <a:solidFill>
                <a:srgbClr val="383838"/>
              </a:solidFill>
              <a:latin typeface="微软雅黑"/>
              <a:ea typeface="微软雅黑"/>
              <a:cs typeface="微软雅黑"/>
            </a:endParaRPr>
          </a:p>
        </p:txBody>
      </p:sp>
      <p:sp>
        <p:nvSpPr>
          <p:cNvPr id="32" name="文本框 31"/>
          <p:cNvSpPr txBox="1"/>
          <p:nvPr/>
        </p:nvSpPr>
        <p:spPr>
          <a:xfrm>
            <a:off x="5703570" y="6031230"/>
            <a:ext cx="786130" cy="24511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分佣</a:t>
            </a:r>
            <a:endParaRPr lang="zh-CN" altLang="en-US" sz="1000">
              <a:solidFill>
                <a:srgbClr val="383838"/>
              </a:solidFill>
              <a:latin typeface="微软雅黑"/>
              <a:ea typeface="微软雅黑"/>
              <a:cs typeface="微软雅黑"/>
            </a:endParaRPr>
          </a:p>
        </p:txBody>
      </p:sp>
      <p:cxnSp>
        <p:nvCxnSpPr>
          <p:cNvPr id="1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3" name="组合 3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sym typeface="微软雅黑"/>
              </a:rPr>
              <a:t>客户分层运营全景图</a:t>
            </a:r>
            <a:endParaRPr sz="2500" b="0">
              <a:solidFill>
                <a:srgbClr val="383838"/>
              </a:solidFill>
              <a:effectLst/>
              <a:latin typeface="微软雅黑"/>
              <a:ea typeface="微软雅黑"/>
              <a:cs typeface="微软雅黑"/>
              <a:sym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72" name="右箭头 171"/>
          <p:cNvSpPr/>
          <p:nvPr/>
        </p:nvSpPr>
        <p:spPr>
          <a:xfrm>
            <a:off x="2920365" y="1280795"/>
            <a:ext cx="8572500" cy="400050"/>
          </a:xfrm>
          <a:prstGeom prst="rightArrow">
            <a:avLst>
              <a:gd name="adj1" fmla="val 50000"/>
              <a:gd name="adj2" fmla="val 68440"/>
            </a:avLst>
          </a:prstGeom>
          <a:solidFill>
            <a:srgbClr val="DCDCDC">
              <a:alpha val="90000"/>
            </a:srgbClr>
          </a:solidFill>
          <a:ln w="12700" cap="flat" cmpd="sng" algn="ctr">
            <a:noFill/>
            <a:prstDash val="solid"/>
            <a:miter lim="800000"/>
          </a:ln>
          <a:effectLst/>
        </p:spPr>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cs typeface="微软雅黑"/>
              <a:ea typeface="微软雅黑"/>
            </a:endParaRPr>
          </a:p>
        </p:txBody>
      </p:sp>
      <p:sp>
        <p:nvSpPr>
          <p:cNvPr id="282" name="右箭头 281"/>
          <p:cNvSpPr/>
          <p:nvPr/>
        </p:nvSpPr>
        <p:spPr>
          <a:xfrm>
            <a:off x="3086735" y="1861820"/>
            <a:ext cx="8453755" cy="782955"/>
          </a:xfrm>
          <a:prstGeom prst="rightArrow">
            <a:avLst/>
          </a:prstGeom>
          <a:solidFill>
            <a:srgbClr val="DCDCDC">
              <a:alpha val="90000"/>
            </a:srgbClr>
          </a:soli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21" name="矩形 20"/>
          <p:cNvSpPr/>
          <p:nvPr/>
        </p:nvSpPr>
        <p:spPr>
          <a:xfrm>
            <a:off x="766445" y="1238885"/>
            <a:ext cx="2141855" cy="5248275"/>
          </a:xfrm>
          <a:prstGeom prst="rect">
            <a:avLst/>
          </a:prstGeom>
          <a:solidFill>
            <a:srgbClr val="FFFFFF">
              <a:alpha val="30000"/>
            </a:srgbClr>
          </a:solidFill>
          <a:ln w="6350" cap="flat" cmpd="sng" algn="ctr">
            <a:solidFill>
              <a:srgbClr val="3368FF">
                <a:alpha val="70000"/>
              </a:srgbClr>
            </a:solidFill>
            <a:prstDash val="solid"/>
            <a:miter lim="800000"/>
          </a:ln>
          <a:effectLst/>
        </p:spPr>
        <p:txBody>
          <a:bodyPr rtlCol="0" anchor="ctr" lIns="0" rIns="0" tIns="0" bIns="0"/>
          <a:p>
            <a:pPr algn="ctr">
              <a:defRPr>
                <a:latin typeface="微软雅黑"/>
                <a:ea typeface="微软雅黑"/>
                <a:cs typeface="微软雅黑"/>
              </a:defRPr>
            </a:pPr>
            <a:endParaRPr kumimoji="1" lang="zh-CN" altLang="en-US">
              <a:solidFill>
                <a:srgbClr val="383838"/>
              </a:solidFill>
              <a:latin typeface="微软雅黑"/>
              <a:cs typeface="微软雅黑"/>
              <a:ea typeface="微软雅黑"/>
            </a:endParaRPr>
          </a:p>
        </p:txBody>
      </p:sp>
      <p:sp>
        <p:nvSpPr>
          <p:cNvPr id="2" name="矩形 1"/>
          <p:cNvSpPr/>
          <p:nvPr/>
        </p:nvSpPr>
        <p:spPr>
          <a:xfrm>
            <a:off x="773430" y="1238885"/>
            <a:ext cx="2134870" cy="441960"/>
          </a:xfrm>
          <a:prstGeom prst="rect">
            <a:avLst/>
          </a:prstGeom>
          <a:gradFill>
            <a:gsLst>
              <a:gs pos="0">
                <a:srgbClr val="3368FF"/>
              </a:gs>
              <a:gs pos="100000">
                <a:srgbClr val="B3D4FE"/>
              </a:gs>
            </a:gsLst>
            <a:lin ang="5400000" scaled="0"/>
          </a:gradFill>
          <a:ln w="12700" cap="flat" cmpd="sng" algn="ctr">
            <a:noFill/>
            <a:prstDash val="solid"/>
          </a:ln>
          <a:effectLst/>
        </p:spPr>
        <p:txBody>
          <a:bodyPr wrap="square" rtlCol="0" anchor="ctr"/>
          <a:p>
            <a:pPr algn="ctr" defTabSz="161925" hangingPunct="0">
              <a:defRPr>
                <a:latin typeface="微软雅黑"/>
                <a:ea typeface="微软雅黑"/>
                <a:cs typeface="微软雅黑"/>
              </a:defRPr>
            </a:pPr>
            <a:endParaRPr lang="zh-CN" altLang="en-US" sz="1200" kern="0">
              <a:solidFill>
                <a:srgbClr val="383838"/>
              </a:solidFill>
              <a:latin typeface="微软雅黑"/>
              <a:cs typeface="微软雅黑"/>
              <a:ea typeface="微软雅黑"/>
            </a:endParaRPr>
          </a:p>
        </p:txBody>
      </p:sp>
      <p:sp>
        <p:nvSpPr>
          <p:cNvPr id="3" name="文本框 2"/>
          <p:cNvSpPr txBox="1"/>
          <p:nvPr/>
        </p:nvSpPr>
        <p:spPr>
          <a:xfrm>
            <a:off x="1294130" y="1336993"/>
            <a:ext cx="1158875" cy="245745"/>
          </a:xfrm>
          <a:prstGeom prst="rect">
            <a:avLst/>
          </a:prstGeom>
          <a:noFill/>
        </p:spPr>
        <p:txBody>
          <a:bodyPr wrap="square" lIns="0" tIns="0" rIns="0" bIns="0" rtlCol="0">
            <a:spAutoFit/>
          </a:bodyPr>
          <a:p>
            <a:pPr algn="ctr">
              <a:defRPr>
                <a:latin typeface="微软雅黑"/>
                <a:ea typeface="微软雅黑"/>
                <a:cs typeface="微软雅黑"/>
              </a:defRPr>
            </a:pPr>
            <a:r>
              <a:rPr lang="zh-CN" altLang="en-US" sz="1600" dirty="0">
                <a:solidFill>
                  <a:srgbClr val="383838"/>
                </a:solidFill>
                <a:latin typeface="微软雅黑"/>
                <a:cs typeface="微软雅黑"/>
                <a:ea typeface="微软雅黑"/>
              </a:rPr>
              <a:t>分层运营</a:t>
            </a:r>
            <a:endParaRPr lang="zh-CN" altLang="en-US" sz="1600" dirty="0">
              <a:solidFill>
                <a:srgbClr val="383838"/>
              </a:solidFill>
              <a:latin typeface="微软雅黑"/>
              <a:cs typeface="微软雅黑"/>
              <a:ea typeface="微软雅黑"/>
            </a:endParaRPr>
          </a:p>
        </p:txBody>
      </p:sp>
      <p:cxnSp>
        <p:nvCxnSpPr>
          <p:cNvPr id="11" name="直接连接符 10"/>
          <p:cNvCxnSpPr/>
          <p:nvPr/>
        </p:nvCxnSpPr>
        <p:spPr>
          <a:xfrm>
            <a:off x="866775" y="1459865"/>
            <a:ext cx="362585" cy="0"/>
          </a:xfrm>
          <a:prstGeom prst="line">
            <a:avLst/>
          </a:prstGeom>
          <a:noFill/>
          <a:ln w="6350" cap="flat" cmpd="sng" algn="ctr">
            <a:solidFill>
              <a:srgbClr val="FFFFFF"/>
            </a:solidFill>
            <a:prstDash val="solid"/>
            <a:miter lim="800000"/>
          </a:ln>
          <a:effectLst/>
        </p:spPr>
      </p:cxnSp>
      <p:cxnSp>
        <p:nvCxnSpPr>
          <p:cNvPr id="12" name="直接连接符 11"/>
          <p:cNvCxnSpPr/>
          <p:nvPr/>
        </p:nvCxnSpPr>
        <p:spPr>
          <a:xfrm>
            <a:off x="2505075" y="1459865"/>
            <a:ext cx="362585" cy="0"/>
          </a:xfrm>
          <a:prstGeom prst="line">
            <a:avLst/>
          </a:prstGeom>
          <a:noFill/>
          <a:ln w="6350" cap="flat" cmpd="sng" algn="ctr">
            <a:solidFill>
              <a:srgbClr val="FFFFFF"/>
            </a:solidFill>
            <a:prstDash val="solid"/>
            <a:miter lim="800000"/>
          </a:ln>
          <a:effectLst/>
        </p:spPr>
      </p:cxnSp>
      <p:grpSp>
        <p:nvGrpSpPr>
          <p:cNvPr id="25" name="组合 24"/>
          <p:cNvGrpSpPr/>
          <p:nvPr/>
        </p:nvGrpSpPr>
        <p:grpSpPr>
          <a:xfrm rot="0">
            <a:off x="1108075" y="1924685"/>
            <a:ext cx="438785" cy="3602990"/>
            <a:chOff x="22158" y="-952"/>
            <a:chExt cx="754" cy="4924"/>
          </a:xfrm>
        </p:grpSpPr>
        <p:cxnSp>
          <p:nvCxnSpPr>
            <p:cNvPr id="13" name="直接连接符 12"/>
            <p:cNvCxnSpPr/>
            <p:nvPr/>
          </p:nvCxnSpPr>
          <p:spPr>
            <a:xfrm>
              <a:off x="22158" y="-952"/>
              <a:ext cx="142" cy="1508"/>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14" name="直接连接符 13"/>
            <p:cNvCxnSpPr/>
            <p:nvPr/>
          </p:nvCxnSpPr>
          <p:spPr>
            <a:xfrm>
              <a:off x="22300" y="548"/>
              <a:ext cx="270" cy="0"/>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16" name="直接连接符 15"/>
            <p:cNvCxnSpPr/>
            <p:nvPr/>
          </p:nvCxnSpPr>
          <p:spPr>
            <a:xfrm>
              <a:off x="22300" y="756"/>
              <a:ext cx="142" cy="1508"/>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17" name="直接连接符 16"/>
            <p:cNvCxnSpPr/>
            <p:nvPr/>
          </p:nvCxnSpPr>
          <p:spPr>
            <a:xfrm>
              <a:off x="22442" y="2264"/>
              <a:ext cx="270" cy="0"/>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18" name="直接连接符 17"/>
            <p:cNvCxnSpPr/>
            <p:nvPr/>
          </p:nvCxnSpPr>
          <p:spPr>
            <a:xfrm>
              <a:off x="22500" y="2464"/>
              <a:ext cx="142" cy="1508"/>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19" name="直接连接符 18"/>
            <p:cNvCxnSpPr/>
            <p:nvPr/>
          </p:nvCxnSpPr>
          <p:spPr>
            <a:xfrm>
              <a:off x="22642" y="3972"/>
              <a:ext cx="270" cy="0"/>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grpSp>
      <p:grpSp>
        <p:nvGrpSpPr>
          <p:cNvPr id="26" name="组合 25"/>
          <p:cNvGrpSpPr/>
          <p:nvPr/>
        </p:nvGrpSpPr>
        <p:grpSpPr>
          <a:xfrm rot="0" flipH="1">
            <a:off x="2066290" y="1924685"/>
            <a:ext cx="438785" cy="3602990"/>
            <a:chOff x="22158" y="-952"/>
            <a:chExt cx="754" cy="4924"/>
          </a:xfrm>
        </p:grpSpPr>
        <p:cxnSp>
          <p:nvCxnSpPr>
            <p:cNvPr id="20" name="直接连接符 19"/>
            <p:cNvCxnSpPr/>
            <p:nvPr/>
          </p:nvCxnSpPr>
          <p:spPr>
            <a:xfrm>
              <a:off x="22158" y="-952"/>
              <a:ext cx="142" cy="1508"/>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22" name="直接连接符 21"/>
            <p:cNvCxnSpPr/>
            <p:nvPr/>
          </p:nvCxnSpPr>
          <p:spPr>
            <a:xfrm>
              <a:off x="22300" y="548"/>
              <a:ext cx="270" cy="0"/>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23" name="直接连接符 22"/>
            <p:cNvCxnSpPr/>
            <p:nvPr/>
          </p:nvCxnSpPr>
          <p:spPr>
            <a:xfrm>
              <a:off x="22300" y="756"/>
              <a:ext cx="142" cy="1508"/>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24" name="直接连接符 23"/>
            <p:cNvCxnSpPr/>
            <p:nvPr/>
          </p:nvCxnSpPr>
          <p:spPr>
            <a:xfrm>
              <a:off x="22442" y="2264"/>
              <a:ext cx="270" cy="0"/>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27" name="直接连接符 26"/>
            <p:cNvCxnSpPr/>
            <p:nvPr/>
          </p:nvCxnSpPr>
          <p:spPr>
            <a:xfrm>
              <a:off x="22500" y="2464"/>
              <a:ext cx="142" cy="1508"/>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cxnSp>
          <p:nvCxnSpPr>
            <p:cNvPr id="28" name="直接连接符 27"/>
            <p:cNvCxnSpPr/>
            <p:nvPr/>
          </p:nvCxnSpPr>
          <p:spPr>
            <a:xfrm>
              <a:off x="22642" y="3972"/>
              <a:ext cx="270" cy="0"/>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grpSp>
      <p:sp>
        <p:nvSpPr>
          <p:cNvPr id="4" name="流程图: 接点 6"/>
          <p:cNvSpPr/>
          <p:nvPr/>
        </p:nvSpPr>
        <p:spPr>
          <a:xfrm>
            <a:off x="1454150" y="1879600"/>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7" name="流程图: 接点 6"/>
          <p:cNvSpPr/>
          <p:nvPr/>
        </p:nvSpPr>
        <p:spPr>
          <a:xfrm>
            <a:off x="1216025" y="2080895"/>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8" name="流程图: 接点 6"/>
          <p:cNvSpPr/>
          <p:nvPr/>
        </p:nvSpPr>
        <p:spPr>
          <a:xfrm>
            <a:off x="1597660" y="2132330"/>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5" name="流程图: 接点 6"/>
          <p:cNvSpPr/>
          <p:nvPr/>
        </p:nvSpPr>
        <p:spPr>
          <a:xfrm>
            <a:off x="2066290" y="2233930"/>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36" name="流程图: 接点 6"/>
          <p:cNvSpPr/>
          <p:nvPr/>
        </p:nvSpPr>
        <p:spPr>
          <a:xfrm>
            <a:off x="1389380" y="2379345"/>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37" name="流程图: 接点 6"/>
          <p:cNvSpPr/>
          <p:nvPr/>
        </p:nvSpPr>
        <p:spPr>
          <a:xfrm>
            <a:off x="1273810" y="2637155"/>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38" name="流程图: 接点 6"/>
          <p:cNvSpPr/>
          <p:nvPr/>
        </p:nvSpPr>
        <p:spPr>
          <a:xfrm>
            <a:off x="1805305" y="2477770"/>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39" name="流程图: 接点 6"/>
          <p:cNvSpPr/>
          <p:nvPr/>
        </p:nvSpPr>
        <p:spPr>
          <a:xfrm>
            <a:off x="1899285" y="1982470"/>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64" name="流程图: 接点 6"/>
          <p:cNvSpPr/>
          <p:nvPr/>
        </p:nvSpPr>
        <p:spPr>
          <a:xfrm>
            <a:off x="2066290" y="2653030"/>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40" name="流程图: 接点 6"/>
          <p:cNvSpPr/>
          <p:nvPr/>
        </p:nvSpPr>
        <p:spPr>
          <a:xfrm>
            <a:off x="1597660" y="2637155"/>
            <a:ext cx="207645" cy="20764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grpSp>
        <p:nvGrpSpPr>
          <p:cNvPr id="42" name="组合 41"/>
          <p:cNvGrpSpPr/>
          <p:nvPr/>
        </p:nvGrpSpPr>
        <p:grpSpPr>
          <a:xfrm rot="0">
            <a:off x="1474470" y="2877820"/>
            <a:ext cx="670560" cy="213360"/>
            <a:chOff x="1776" y="4239"/>
            <a:chExt cx="1152" cy="476"/>
          </a:xfrm>
        </p:grpSpPr>
        <p:cxnSp>
          <p:nvCxnSpPr>
            <p:cNvPr id="43" name="直接箭头连接符 42"/>
            <p:cNvCxnSpPr/>
            <p:nvPr/>
          </p:nvCxnSpPr>
          <p:spPr>
            <a:xfrm>
              <a:off x="1776"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44" name="直接箭头连接符 43"/>
            <p:cNvCxnSpPr/>
            <p:nvPr/>
          </p:nvCxnSpPr>
          <p:spPr>
            <a:xfrm>
              <a:off x="2064"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75" name="直接箭头连接符 74"/>
            <p:cNvCxnSpPr/>
            <p:nvPr/>
          </p:nvCxnSpPr>
          <p:spPr>
            <a:xfrm>
              <a:off x="2352"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45" name="直接箭头连接符 44"/>
            <p:cNvCxnSpPr/>
            <p:nvPr/>
          </p:nvCxnSpPr>
          <p:spPr>
            <a:xfrm>
              <a:off x="2640"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46" name="直接箭头连接符 45"/>
            <p:cNvCxnSpPr/>
            <p:nvPr/>
          </p:nvCxnSpPr>
          <p:spPr>
            <a:xfrm>
              <a:off x="2928"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grpSp>
      <p:grpSp>
        <p:nvGrpSpPr>
          <p:cNvPr id="48" name="组合 47"/>
          <p:cNvGrpSpPr/>
          <p:nvPr/>
        </p:nvGrpSpPr>
        <p:grpSpPr>
          <a:xfrm rot="0">
            <a:off x="1563370" y="4018280"/>
            <a:ext cx="502920" cy="213360"/>
            <a:chOff x="1776" y="4239"/>
            <a:chExt cx="864" cy="476"/>
          </a:xfrm>
        </p:grpSpPr>
        <p:cxnSp>
          <p:nvCxnSpPr>
            <p:cNvPr id="84" name="直接箭头连接符 83"/>
            <p:cNvCxnSpPr/>
            <p:nvPr/>
          </p:nvCxnSpPr>
          <p:spPr>
            <a:xfrm>
              <a:off x="1776"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85" name="直接箭头连接符 84"/>
            <p:cNvCxnSpPr/>
            <p:nvPr/>
          </p:nvCxnSpPr>
          <p:spPr>
            <a:xfrm>
              <a:off x="2064"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49" name="直接箭头连接符 48"/>
            <p:cNvCxnSpPr/>
            <p:nvPr/>
          </p:nvCxnSpPr>
          <p:spPr>
            <a:xfrm>
              <a:off x="2352"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87" name="直接箭头连接符 86"/>
            <p:cNvCxnSpPr/>
            <p:nvPr/>
          </p:nvCxnSpPr>
          <p:spPr>
            <a:xfrm>
              <a:off x="2640"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grpSp>
      <p:sp>
        <p:nvSpPr>
          <p:cNvPr id="51" name="流程图: 接点 6"/>
          <p:cNvSpPr/>
          <p:nvPr/>
        </p:nvSpPr>
        <p:spPr>
          <a:xfrm>
            <a:off x="1527810" y="5117465"/>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grpSp>
        <p:nvGrpSpPr>
          <p:cNvPr id="54" name="组合 53"/>
          <p:cNvGrpSpPr/>
          <p:nvPr/>
        </p:nvGrpSpPr>
        <p:grpSpPr>
          <a:xfrm rot="0">
            <a:off x="1642110" y="5471160"/>
            <a:ext cx="335280" cy="213360"/>
            <a:chOff x="1776" y="4239"/>
            <a:chExt cx="576" cy="476"/>
          </a:xfrm>
        </p:grpSpPr>
        <p:cxnSp>
          <p:nvCxnSpPr>
            <p:cNvPr id="55" name="直接箭头连接符 54"/>
            <p:cNvCxnSpPr/>
            <p:nvPr/>
          </p:nvCxnSpPr>
          <p:spPr>
            <a:xfrm>
              <a:off x="1776"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56" name="直接箭头连接符 55"/>
            <p:cNvCxnSpPr/>
            <p:nvPr/>
          </p:nvCxnSpPr>
          <p:spPr>
            <a:xfrm>
              <a:off x="2064"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57" name="直接箭头连接符 56"/>
            <p:cNvCxnSpPr/>
            <p:nvPr/>
          </p:nvCxnSpPr>
          <p:spPr>
            <a:xfrm>
              <a:off x="2352" y="4239"/>
              <a:ext cx="0" cy="476"/>
            </a:xfrm>
            <a:prstGeom prst="straightConnector1">
              <a:avLst/>
            </a:prstGeom>
            <a:ln w="19050">
              <a:solidFill>
                <a:srgbClr val="3368FF"/>
              </a:solidFill>
              <a:tailEnd type="triangle"/>
            </a:ln>
          </p:spPr>
          <p:style>
            <a:lnRef idx="2">
              <a:srgbClr val="0042FF"/>
            </a:lnRef>
            <a:fillRef idx="0">
              <a:srgbClr val="FFFFFF"/>
            </a:fillRef>
            <a:effectRef idx="0">
              <a:srgbClr val="FFFFFF"/>
            </a:effectRef>
            <a:fontRef idx="minor">
              <a:srgbClr val="383838"/>
            </a:fontRef>
          </p:style>
        </p:cxnSp>
      </p:grpSp>
      <p:sp>
        <p:nvSpPr>
          <p:cNvPr id="58" name="流程图: 接点 6"/>
          <p:cNvSpPr/>
          <p:nvPr/>
        </p:nvSpPr>
        <p:spPr>
          <a:xfrm>
            <a:off x="1430655" y="4773930"/>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59" name="流程图: 接点 6"/>
          <p:cNvSpPr/>
          <p:nvPr/>
        </p:nvSpPr>
        <p:spPr>
          <a:xfrm>
            <a:off x="1899285" y="4672965"/>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61" name="流程图: 接点 6"/>
          <p:cNvSpPr/>
          <p:nvPr/>
        </p:nvSpPr>
        <p:spPr>
          <a:xfrm>
            <a:off x="1637030" y="4427855"/>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71" name="流程图: 接点 6"/>
          <p:cNvSpPr/>
          <p:nvPr/>
        </p:nvSpPr>
        <p:spPr>
          <a:xfrm>
            <a:off x="1331595" y="3227070"/>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65" name="流程图: 接点 6"/>
          <p:cNvSpPr/>
          <p:nvPr/>
        </p:nvSpPr>
        <p:spPr>
          <a:xfrm>
            <a:off x="1715770" y="3428365"/>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81" name="流程图: 接点 6"/>
          <p:cNvSpPr/>
          <p:nvPr/>
        </p:nvSpPr>
        <p:spPr>
          <a:xfrm>
            <a:off x="1423670" y="3589020"/>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66" name="流程图: 接点 6"/>
          <p:cNvSpPr/>
          <p:nvPr/>
        </p:nvSpPr>
        <p:spPr>
          <a:xfrm>
            <a:off x="2011680" y="3239770"/>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67" name="流程图: 接点 6"/>
          <p:cNvSpPr/>
          <p:nvPr/>
        </p:nvSpPr>
        <p:spPr>
          <a:xfrm>
            <a:off x="2044065" y="3690620"/>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68" name="流程图: 接点 6"/>
          <p:cNvSpPr/>
          <p:nvPr/>
        </p:nvSpPr>
        <p:spPr>
          <a:xfrm>
            <a:off x="1751330" y="3783965"/>
            <a:ext cx="262255" cy="262255"/>
          </a:xfrm>
          <a:prstGeom prst="flowChartConnector">
            <a:avLst/>
          </a:prstGeom>
          <a:gradFill>
            <a:gsLst>
              <a:gs pos="0">
                <a:srgbClr val="B3D4FE">
                  <a:alpha val="0"/>
                </a:srgbClr>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grpSp>
        <p:nvGrpSpPr>
          <p:cNvPr id="6" name="组合 5"/>
          <p:cNvGrpSpPr/>
          <p:nvPr/>
        </p:nvGrpSpPr>
        <p:grpSpPr>
          <a:xfrm>
            <a:off x="1179195" y="2145030"/>
            <a:ext cx="1273810" cy="4177665"/>
            <a:chOff x="1848" y="3375"/>
            <a:chExt cx="2006" cy="6579"/>
          </a:xfrm>
        </p:grpSpPr>
        <p:sp>
          <p:nvSpPr>
            <p:cNvPr id="41" name="文本框 40"/>
            <p:cNvSpPr txBox="1"/>
            <p:nvPr/>
          </p:nvSpPr>
          <p:spPr>
            <a:xfrm>
              <a:off x="2131" y="3375"/>
              <a:ext cx="1442" cy="749"/>
            </a:xfrm>
            <a:prstGeom prst="rect">
              <a:avLst/>
            </a:prstGeom>
            <a:noFill/>
          </p:spPr>
          <p:txBody>
            <a:bodyPr wrap="square" rtlCol="0">
              <a:spAutoFit/>
            </a:bodyPr>
            <a:p>
              <a:pPr algn="ctr">
                <a:defRPr>
                  <a:latin typeface="微软雅黑"/>
                  <a:ea typeface="微软雅黑"/>
                  <a:cs typeface="微软雅黑"/>
                </a:defRPr>
              </a:pPr>
              <a:r>
                <a:rPr lang="zh-CN" altLang="en-US" sz="2500" b="1">
                  <a:solidFill>
                    <a:srgbClr val="0042FF"/>
                  </a:solidFill>
                  <a:latin typeface="微软雅黑"/>
                  <a:ea typeface="微软雅黑"/>
                  <a:cs typeface="微软雅黑"/>
                </a:rPr>
                <a:t>潜客</a:t>
              </a:r>
              <a:endParaRPr lang="zh-CN" altLang="en-US" sz="2500" b="1">
                <a:solidFill>
                  <a:srgbClr val="0042FF"/>
                </a:solidFill>
                <a:latin typeface="微软雅黑"/>
                <a:ea typeface="微软雅黑"/>
                <a:cs typeface="微软雅黑"/>
              </a:endParaRPr>
            </a:p>
          </p:txBody>
        </p:sp>
        <p:sp>
          <p:nvSpPr>
            <p:cNvPr id="52" name="文本框 51"/>
            <p:cNvSpPr txBox="1"/>
            <p:nvPr/>
          </p:nvSpPr>
          <p:spPr>
            <a:xfrm>
              <a:off x="1848" y="9106"/>
              <a:ext cx="2007" cy="848"/>
            </a:xfrm>
            <a:prstGeom prst="rect">
              <a:avLst/>
            </a:prstGeom>
            <a:noFill/>
          </p:spPr>
          <p:txBody>
            <a:bodyPr wrap="square" lIns="0" tIns="0" rIns="0" bIns="0" rtlCol="0">
              <a:spAutoFit/>
            </a:bodyPr>
            <a:p>
              <a:pPr algn="ctr">
                <a:defRPr>
                  <a:latin typeface="微软雅黑"/>
                  <a:ea typeface="微软雅黑"/>
                  <a:cs typeface="微软雅黑"/>
                </a:defRPr>
              </a:pPr>
              <a:r>
                <a:rPr lang="zh-CN" sz="1500" b="1" dirty="0">
                  <a:solidFill>
                    <a:srgbClr val="0042FF"/>
                  </a:solidFill>
                  <a:latin typeface="微软雅黑"/>
                  <a:cs typeface="微软雅黑"/>
                  <a:ea typeface="微软雅黑"/>
                </a:rPr>
                <a:t>高价值</a:t>
              </a:r>
              <a:endParaRPr lang="zh-CN" sz="1500" b="1" dirty="0">
                <a:solidFill>
                  <a:srgbClr val="0042FF"/>
                </a:solidFill>
                <a:latin typeface="微软雅黑"/>
                <a:cs typeface="微软雅黑"/>
                <a:ea typeface="微软雅黑"/>
              </a:endParaRPr>
            </a:p>
            <a:p>
              <a:pPr algn="ctr">
                <a:defRPr>
                  <a:latin typeface="微软雅黑"/>
                  <a:ea typeface="微软雅黑"/>
                  <a:cs typeface="微软雅黑"/>
                </a:defRPr>
              </a:pPr>
              <a:r>
                <a:rPr lang="zh-CN" sz="2000" b="1" dirty="0">
                  <a:solidFill>
                    <a:srgbClr val="0042FF"/>
                  </a:solidFill>
                  <a:latin typeface="微软雅黑"/>
                  <a:cs typeface="微软雅黑"/>
                  <a:ea typeface="微软雅黑"/>
                </a:rPr>
                <a:t>超级客户</a:t>
              </a:r>
              <a:endParaRPr lang="zh-CN" sz="2000" b="1" dirty="0">
                <a:solidFill>
                  <a:srgbClr val="0042FF"/>
                </a:solidFill>
                <a:latin typeface="微软雅黑"/>
                <a:cs typeface="微软雅黑"/>
                <a:ea typeface="微软雅黑"/>
              </a:endParaRPr>
            </a:p>
          </p:txBody>
        </p:sp>
        <p:sp>
          <p:nvSpPr>
            <p:cNvPr id="63" name="文本框 62"/>
            <p:cNvSpPr txBox="1"/>
            <p:nvPr/>
          </p:nvSpPr>
          <p:spPr>
            <a:xfrm>
              <a:off x="2131" y="7310"/>
              <a:ext cx="1442" cy="749"/>
            </a:xfrm>
            <a:prstGeom prst="rect">
              <a:avLst/>
            </a:prstGeom>
            <a:noFill/>
          </p:spPr>
          <p:txBody>
            <a:bodyPr wrap="square" rtlCol="0">
              <a:spAutoFit/>
            </a:bodyPr>
            <a:p>
              <a:pPr algn="ctr">
                <a:defRPr>
                  <a:latin typeface="微软雅黑"/>
                  <a:ea typeface="微软雅黑"/>
                  <a:cs typeface="微软雅黑"/>
                </a:defRPr>
              </a:pPr>
              <a:r>
                <a:rPr lang="zh-CN" altLang="en-US" sz="2500" b="1">
                  <a:solidFill>
                    <a:srgbClr val="0042FF"/>
                  </a:solidFill>
                  <a:latin typeface="微软雅黑"/>
                  <a:ea typeface="微软雅黑"/>
                  <a:cs typeface="微软雅黑"/>
                </a:rPr>
                <a:t>忠诚</a:t>
              </a:r>
              <a:endParaRPr lang="zh-CN" altLang="en-US" sz="2500" b="1">
                <a:solidFill>
                  <a:srgbClr val="0042FF"/>
                </a:solidFill>
                <a:latin typeface="微软雅黑"/>
                <a:ea typeface="微软雅黑"/>
                <a:cs typeface="微软雅黑"/>
              </a:endParaRPr>
            </a:p>
          </p:txBody>
        </p:sp>
        <p:sp>
          <p:nvSpPr>
            <p:cNvPr id="148" name="文本框 147"/>
            <p:cNvSpPr txBox="1"/>
            <p:nvPr/>
          </p:nvSpPr>
          <p:spPr>
            <a:xfrm>
              <a:off x="2131" y="5393"/>
              <a:ext cx="1442" cy="749"/>
            </a:xfrm>
            <a:prstGeom prst="rect">
              <a:avLst/>
            </a:prstGeom>
            <a:noFill/>
          </p:spPr>
          <p:txBody>
            <a:bodyPr wrap="square" rtlCol="0">
              <a:spAutoFit/>
            </a:bodyPr>
            <a:p>
              <a:pPr algn="ctr">
                <a:defRPr>
                  <a:latin typeface="微软雅黑"/>
                  <a:ea typeface="微软雅黑"/>
                  <a:cs typeface="微软雅黑"/>
                </a:defRPr>
              </a:pPr>
              <a:r>
                <a:rPr lang="zh-CN" altLang="en-US" sz="2500" b="1">
                  <a:solidFill>
                    <a:srgbClr val="0042FF"/>
                  </a:solidFill>
                  <a:latin typeface="微软雅黑"/>
                  <a:ea typeface="微软雅黑"/>
                  <a:cs typeface="微软雅黑"/>
                </a:rPr>
                <a:t>保客</a:t>
              </a:r>
              <a:endParaRPr lang="zh-CN" altLang="en-US" sz="2500" b="1">
                <a:solidFill>
                  <a:srgbClr val="0042FF"/>
                </a:solidFill>
                <a:latin typeface="微软雅黑"/>
                <a:ea typeface="微软雅黑"/>
                <a:cs typeface="微软雅黑"/>
              </a:endParaRPr>
            </a:p>
          </p:txBody>
        </p:sp>
      </p:grpSp>
      <p:sp>
        <p:nvSpPr>
          <p:cNvPr id="69" name="矩形 68"/>
          <p:cNvSpPr/>
          <p:nvPr/>
        </p:nvSpPr>
        <p:spPr>
          <a:xfrm>
            <a:off x="3290570" y="1280795"/>
            <a:ext cx="1235075" cy="441960"/>
          </a:xfrm>
          <a:prstGeom prst="rect">
            <a:avLst/>
          </a:prstGeom>
          <a:gradFill>
            <a:gsLst>
              <a:gs pos="0">
                <a:srgbClr val="0042FF"/>
              </a:gs>
              <a:gs pos="100000">
                <a:srgbClr val="3368FF"/>
              </a:gs>
            </a:gsLst>
            <a:lin ang="5400000" scaled="0"/>
          </a:gradFill>
          <a:ln w="12700" cap="flat" cmpd="sng" algn="ctr">
            <a:noFill/>
            <a:prstDash val="solid"/>
          </a:ln>
          <a:effectLst/>
        </p:spPr>
        <p:txBody>
          <a:bodyPr wrap="square" rtlCol="0" anchor="ctr"/>
          <a:p>
            <a:pPr algn="ctr" defTabSz="161925" hangingPunct="0">
              <a:defRPr>
                <a:solidFill>
                  <a:srgbClr val="FFFFFF"/>
                </a:solidFill>
                <a:latin typeface="微软雅黑"/>
                <a:ea typeface="微软雅黑"/>
                <a:cs typeface="微软雅黑"/>
              </a:defRPr>
            </a:pPr>
            <a:r>
              <a:rPr lang="zh-CN" altLang="en-US" sz="1300" kern="0" dirty="0">
                <a:solidFill>
                  <a:srgbClr val="FFFFFF"/>
                </a:solidFill>
                <a:latin typeface="微软雅黑"/>
                <a:cs typeface="微软雅黑"/>
                <a:ea typeface="微软雅黑"/>
              </a:rPr>
              <a:t>建立触点</a:t>
            </a:r>
            <a:endParaRPr lang="zh-CN" altLang="en-US" sz="1300" kern="0" dirty="0">
              <a:solidFill>
                <a:srgbClr val="FFFFFF"/>
              </a:solidFill>
              <a:latin typeface="微软雅黑"/>
              <a:cs typeface="微软雅黑"/>
              <a:ea typeface="微软雅黑"/>
            </a:endParaRPr>
          </a:p>
        </p:txBody>
      </p:sp>
      <p:sp>
        <p:nvSpPr>
          <p:cNvPr id="162" name="矩形 161"/>
          <p:cNvSpPr/>
          <p:nvPr/>
        </p:nvSpPr>
        <p:spPr>
          <a:xfrm>
            <a:off x="7651115" y="1280795"/>
            <a:ext cx="1462405" cy="441960"/>
          </a:xfrm>
          <a:prstGeom prst="rect">
            <a:avLst/>
          </a:prstGeom>
          <a:gradFill>
            <a:gsLst>
              <a:gs pos="0">
                <a:srgbClr val="0042FF"/>
              </a:gs>
              <a:gs pos="100000">
                <a:srgbClr val="3368FF"/>
              </a:gs>
            </a:gsLst>
            <a:lin ang="5400000" scaled="0"/>
          </a:gradFill>
          <a:ln w="12700" cap="flat" cmpd="sng" algn="ctr">
            <a:noFill/>
            <a:prstDash val="solid"/>
          </a:ln>
          <a:effectLst/>
        </p:spPr>
        <p:txBody>
          <a:bodyPr wrap="square" rtlCol="0" anchor="ctr">
            <a:noAutofit/>
          </a:bodyPr>
          <a:p>
            <a:pPr lvl="0" algn="ctr" defTabSz="161925" hangingPunct="0">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cs typeface="微软雅黑"/>
                <a:sym typeface="微软雅黑"/>
                <a:ea typeface="微软雅黑"/>
              </a:rPr>
              <a:t>运营方向</a:t>
            </a:r>
            <a:endParaRPr lang="zh-CN" altLang="en-US" sz="1300" kern="0" dirty="0">
              <a:solidFill>
                <a:srgbClr val="FFFFFF"/>
              </a:solidFill>
              <a:latin typeface="微软雅黑"/>
              <a:cs typeface="微软雅黑"/>
              <a:sym typeface="微软雅黑"/>
              <a:ea typeface="微软雅黑"/>
            </a:endParaRPr>
          </a:p>
        </p:txBody>
      </p:sp>
      <p:sp>
        <p:nvSpPr>
          <p:cNvPr id="77" name="矩形 76"/>
          <p:cNvSpPr/>
          <p:nvPr/>
        </p:nvSpPr>
        <p:spPr>
          <a:xfrm>
            <a:off x="9331960" y="1280795"/>
            <a:ext cx="1640205" cy="441960"/>
          </a:xfrm>
          <a:prstGeom prst="rect">
            <a:avLst/>
          </a:prstGeom>
          <a:gradFill>
            <a:gsLst>
              <a:gs pos="0">
                <a:srgbClr val="0042FF"/>
              </a:gs>
              <a:gs pos="100000">
                <a:srgbClr val="3368FF"/>
              </a:gs>
            </a:gsLst>
            <a:lin ang="5400000" scaled="0"/>
          </a:gradFill>
          <a:ln w="12700" cap="flat" cmpd="sng" algn="ctr">
            <a:noFill/>
            <a:prstDash val="solid"/>
          </a:ln>
          <a:effectLst/>
        </p:spPr>
        <p:txBody>
          <a:bodyPr wrap="square" rtlCol="0" anchor="ctr">
            <a:noAutofit/>
          </a:bodyPr>
          <a:p>
            <a:pPr lvl="0" algn="ctr" defTabSz="161925" hangingPunct="0">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cs typeface="微软雅黑"/>
                <a:sym typeface="微软雅黑"/>
                <a:ea typeface="微软雅黑"/>
              </a:rPr>
              <a:t>执行策略</a:t>
            </a:r>
            <a:endParaRPr lang="zh-CN" altLang="en-US" sz="1300" kern="0" dirty="0">
              <a:solidFill>
                <a:srgbClr val="FFFFFF"/>
              </a:solidFill>
              <a:latin typeface="微软雅黑"/>
              <a:cs typeface="微软雅黑"/>
              <a:sym typeface="微软雅黑"/>
              <a:ea typeface="微软雅黑"/>
            </a:endParaRPr>
          </a:p>
        </p:txBody>
      </p:sp>
      <p:sp>
        <p:nvSpPr>
          <p:cNvPr id="168" name="矩形 167"/>
          <p:cNvSpPr/>
          <p:nvPr/>
        </p:nvSpPr>
        <p:spPr>
          <a:xfrm>
            <a:off x="4744085" y="1280795"/>
            <a:ext cx="1235075" cy="441960"/>
          </a:xfrm>
          <a:prstGeom prst="rect">
            <a:avLst/>
          </a:prstGeom>
          <a:gradFill>
            <a:gsLst>
              <a:gs pos="0">
                <a:srgbClr val="0042FF"/>
              </a:gs>
              <a:gs pos="100000">
                <a:srgbClr val="3368FF"/>
              </a:gs>
            </a:gsLst>
            <a:lin ang="5400000" scaled="0"/>
          </a:gradFill>
          <a:ln w="12700" cap="flat" cmpd="sng" algn="ctr">
            <a:noFill/>
            <a:prstDash val="solid"/>
          </a:ln>
          <a:effectLst/>
        </p:spPr>
        <p:txBody>
          <a:bodyPr wrap="square" rtlCol="0" anchor="ctr">
            <a:noAutofit/>
          </a:bodyPr>
          <a:p>
            <a:pPr lvl="0" algn="ctr" defTabSz="161925" hangingPunct="0">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cs typeface="微软雅黑"/>
                <a:sym typeface="微软雅黑"/>
                <a:ea typeface="微软雅黑"/>
              </a:rPr>
              <a:t>促进活跃</a:t>
            </a:r>
            <a:endParaRPr lang="zh-CN" altLang="en-US" sz="1300" kern="0" dirty="0">
              <a:solidFill>
                <a:srgbClr val="FFFFFF"/>
              </a:solidFill>
              <a:latin typeface="微软雅黑"/>
              <a:cs typeface="微软雅黑"/>
              <a:sym typeface="微软雅黑"/>
              <a:ea typeface="微软雅黑"/>
            </a:endParaRPr>
          </a:p>
        </p:txBody>
      </p:sp>
      <p:sp>
        <p:nvSpPr>
          <p:cNvPr id="78" name="矩形 77"/>
          <p:cNvSpPr/>
          <p:nvPr/>
        </p:nvSpPr>
        <p:spPr>
          <a:xfrm>
            <a:off x="6197600" y="1280795"/>
            <a:ext cx="1235075" cy="441960"/>
          </a:xfrm>
          <a:prstGeom prst="rect">
            <a:avLst/>
          </a:prstGeom>
          <a:solidFill>
            <a:srgbClr val="B3D4FE"/>
          </a:solidFill>
          <a:ln w="12700" cap="flat" cmpd="sng" algn="ctr">
            <a:noFill/>
            <a:prstDash val="solid"/>
          </a:ln>
          <a:effectLst/>
        </p:spPr>
        <p:txBody>
          <a:bodyPr wrap="square" rtlCol="0" anchor="ctr"/>
          <a:p>
            <a:pPr algn="ctr" defTabSz="161925" hangingPunct="0">
              <a:defRPr>
                <a:latin typeface="微软雅黑"/>
                <a:ea typeface="微软雅黑"/>
                <a:cs typeface="微软雅黑"/>
              </a:defRPr>
            </a:pPr>
            <a:r>
              <a:rPr lang="zh-CN" altLang="en-US" sz="1200" kern="0">
                <a:solidFill>
                  <a:srgbClr val="383838"/>
                </a:solidFill>
                <a:latin typeface="微软雅黑"/>
                <a:cs typeface="微软雅黑"/>
                <a:ea typeface="微软雅黑"/>
              </a:rPr>
              <a:t>关键动作</a:t>
            </a:r>
            <a:endParaRPr lang="zh-CN" altLang="en-US" sz="1200" kern="0">
              <a:solidFill>
                <a:srgbClr val="383838"/>
              </a:solidFill>
              <a:latin typeface="微软雅黑"/>
              <a:cs typeface="微软雅黑"/>
              <a:ea typeface="微软雅黑"/>
            </a:endParaRPr>
          </a:p>
        </p:txBody>
      </p:sp>
      <p:sp>
        <p:nvSpPr>
          <p:cNvPr id="173" name="矩形 172"/>
          <p:cNvSpPr/>
          <p:nvPr/>
        </p:nvSpPr>
        <p:spPr>
          <a:xfrm>
            <a:off x="3290570" y="1914525"/>
            <a:ext cx="1108075"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compatLnSpc="1">
            <a:noAutofit/>
          </a:bodyPr>
          <a:p>
            <a:pPr algn="ctr">
              <a:defRPr>
                <a:latin typeface="微软雅黑"/>
                <a:ea typeface="微软雅黑"/>
                <a:cs typeface="微软雅黑"/>
              </a:defRPr>
            </a:pPr>
            <a:r>
              <a:rPr lang="zh-CN" altLang="en-US" sz="1300">
                <a:solidFill>
                  <a:srgbClr val="383838"/>
                </a:solidFill>
                <a:latin typeface="微软雅黑"/>
                <a:cs typeface="微软雅黑"/>
                <a:sym typeface="微软雅黑"/>
                <a:ea typeface="微软雅黑"/>
              </a:rPr>
              <a:t>销售端</a:t>
            </a:r>
            <a:endParaRPr lang="zh-CN" altLang="en-US" sz="1500">
              <a:solidFill>
                <a:srgbClr val="383838"/>
              </a:solidFill>
              <a:latin typeface="微软雅黑"/>
              <a:cs typeface="微软雅黑"/>
              <a:ea typeface="微软雅黑"/>
            </a:endParaRPr>
          </a:p>
          <a:p>
            <a:pPr algn="ctr">
              <a:defRPr>
                <a:latin typeface="微软雅黑"/>
                <a:ea typeface="微软雅黑"/>
                <a:cs typeface="微软雅黑"/>
              </a:defRPr>
            </a:pPr>
            <a:r>
              <a:rPr lang="zh-CN" altLang="en-US" sz="1100" b="1">
                <a:solidFill>
                  <a:srgbClr val="0042FF"/>
                </a:solidFill>
                <a:latin typeface="微软雅黑"/>
                <a:cs typeface="微软雅黑"/>
                <a:sym typeface="微软雅黑"/>
                <a:ea typeface="微软雅黑"/>
              </a:rPr>
              <a:t>构建潜客基盘</a:t>
            </a:r>
            <a:endParaRPr lang="zh-CN" altLang="en-US" sz="1100" b="1" dirty="0">
              <a:solidFill>
                <a:srgbClr val="0042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07" name="矩形 206"/>
          <p:cNvSpPr/>
          <p:nvPr/>
        </p:nvSpPr>
        <p:spPr>
          <a:xfrm>
            <a:off x="7679055" y="5709285"/>
            <a:ext cx="3293745" cy="822960"/>
          </a:xfrm>
          <a:prstGeom prst="rect">
            <a:avLst/>
          </a:prstGeom>
          <a:solidFill>
            <a:srgbClr val="FFFFFF">
              <a:alpha val="70000"/>
            </a:srgbClr>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000" dirty="0">
              <a:solidFill>
                <a:srgbClr val="383838"/>
              </a:solidFill>
              <a:effectLst/>
              <a:latin typeface="微软雅黑"/>
              <a:ea typeface="微软雅黑"/>
              <a:cs typeface="微软雅黑"/>
              <a:sym typeface="微软雅黑"/>
            </a:endParaRPr>
          </a:p>
        </p:txBody>
      </p:sp>
      <p:sp>
        <p:nvSpPr>
          <p:cNvPr id="260" name="形状 259"/>
          <p:cNvSpPr>
            <a:spLocks noChangeAspect="1"/>
          </p:cNvSpPr>
          <p:nvPr/>
        </p:nvSpPr>
        <p:spPr>
          <a:xfrm rot="1003626" flipV="1">
            <a:off x="6827520" y="5628005"/>
            <a:ext cx="768985" cy="489585"/>
          </a:xfrm>
          <a:prstGeom prst="swooshArrow">
            <a:avLst>
              <a:gd name="adj1" fmla="val 16310"/>
              <a:gd name="adj2" fmla="val 31370"/>
            </a:avLst>
          </a:prstGeom>
          <a:solidFill>
            <a:srgbClr val="B3D4FE"/>
          </a:solidFill>
          <a:ln>
            <a:no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l">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36" name="文本框 235"/>
          <p:cNvSpPr txBox="1"/>
          <p:nvPr/>
        </p:nvSpPr>
        <p:spPr>
          <a:xfrm>
            <a:off x="7773670" y="5692775"/>
            <a:ext cx="3032760" cy="860425"/>
          </a:xfrm>
          <a:prstGeom prst="rect">
            <a:avLst/>
          </a:prstGeom>
          <a:noFill/>
        </p:spPr>
        <p:txBody>
          <a:bodyPr wrap="square" rtlCol="0" anchor="t" lIns="0" rIns="0" tIns="0" bIns="0">
            <a:spAutoFit/>
          </a:bodyPr>
          <a:p>
            <a:pPr indent="0" algn="l" fontAlgn="auto">
              <a:lnSpc>
                <a:spcPts val="1500"/>
              </a:lnSpc>
              <a:defRPr>
                <a:latin typeface="微软雅黑"/>
                <a:ea typeface="微软雅黑"/>
                <a:cs typeface="微软雅黑"/>
              </a:defRPr>
            </a:pPr>
            <a:r>
              <a:rPr lang="zh-CN" altLang="en-US" sz="1000">
                <a:solidFill>
                  <a:srgbClr val="383838"/>
                </a:solidFill>
                <a:latin typeface="微软雅黑"/>
                <a:cs typeface="微软雅黑"/>
                <a:sym typeface="微软雅黑"/>
                <a:ea typeface="微软雅黑"/>
              </a:rPr>
              <a:t>①</a:t>
            </a:r>
            <a:r>
              <a:rPr lang="en-US" altLang="zh-CN" sz="1000">
                <a:solidFill>
                  <a:srgbClr val="383838"/>
                </a:solidFill>
                <a:latin typeface="微软雅黑"/>
                <a:cs typeface="微软雅黑"/>
                <a:sym typeface="微软雅黑"/>
                <a:ea typeface="微软雅黑"/>
              </a:rPr>
              <a:t> </a:t>
            </a:r>
            <a:r>
              <a:rPr lang="zh-CN" altLang="en-US" sz="1000">
                <a:solidFill>
                  <a:srgbClr val="383838"/>
                </a:solidFill>
                <a:latin typeface="微软雅黑"/>
                <a:cs typeface="微软雅黑"/>
                <a:sym typeface="微软雅黑"/>
                <a:ea typeface="微软雅黑"/>
              </a:rPr>
              <a:t>圈定高价值人群，集中服务资源，适配特色服务；</a:t>
            </a:r>
            <a:endParaRPr lang="zh-CN" altLang="en-US" sz="1000">
              <a:solidFill>
                <a:srgbClr val="383838"/>
              </a:solidFill>
              <a:latin typeface="微软雅黑"/>
              <a:cs typeface="微软雅黑"/>
              <a:ea typeface="微软雅黑"/>
            </a:endParaRPr>
          </a:p>
          <a:p>
            <a:pPr indent="0" algn="l" fontAlgn="auto">
              <a:lnSpc>
                <a:spcPts val="1500"/>
              </a:lnSpc>
              <a:defRPr>
                <a:latin typeface="微软雅黑"/>
                <a:ea typeface="微软雅黑"/>
                <a:cs typeface="微软雅黑"/>
              </a:defRPr>
            </a:pPr>
            <a:r>
              <a:rPr lang="zh-CN" altLang="en-US" sz="1000">
                <a:solidFill>
                  <a:srgbClr val="383838"/>
                </a:solidFill>
                <a:latin typeface="微软雅黑"/>
                <a:cs typeface="微软雅黑"/>
                <a:sym typeface="微软雅黑"/>
                <a:ea typeface="微软雅黑"/>
              </a:rPr>
              <a:t>②</a:t>
            </a:r>
            <a:r>
              <a:rPr lang="en-US" altLang="zh-CN" sz="1000">
                <a:solidFill>
                  <a:srgbClr val="383838"/>
                </a:solidFill>
                <a:latin typeface="微软雅黑"/>
                <a:cs typeface="微软雅黑"/>
                <a:sym typeface="微软雅黑"/>
                <a:ea typeface="微软雅黑"/>
              </a:rPr>
              <a:t> </a:t>
            </a:r>
            <a:r>
              <a:rPr lang="zh-CN" altLang="en-US" sz="1000">
                <a:solidFill>
                  <a:srgbClr val="383838"/>
                </a:solidFill>
                <a:latin typeface="微软雅黑"/>
                <a:cs typeface="微软雅黑"/>
                <a:sym typeface="微软雅黑"/>
                <a:ea typeface="微软雅黑"/>
              </a:rPr>
              <a:t>发展客户裂变，通过转介绍激励政策发展分销制；</a:t>
            </a:r>
            <a:endParaRPr lang="zh-CN" altLang="en-US" sz="1000">
              <a:solidFill>
                <a:srgbClr val="383838"/>
              </a:solidFill>
              <a:latin typeface="微软雅黑"/>
              <a:cs typeface="微软雅黑"/>
              <a:sym typeface="微软雅黑"/>
              <a:ea typeface="微软雅黑"/>
            </a:endParaRPr>
          </a:p>
          <a:p>
            <a:pPr indent="0" algn="l" fontAlgn="auto">
              <a:lnSpc>
                <a:spcPts val="1500"/>
              </a:lnSpc>
              <a:defRPr>
                <a:latin typeface="微软雅黑"/>
                <a:ea typeface="微软雅黑"/>
                <a:cs typeface="微软雅黑"/>
              </a:defRPr>
            </a:pPr>
            <a:r>
              <a:rPr lang="zh-CN" altLang="en-US" sz="1000">
                <a:solidFill>
                  <a:srgbClr val="383838"/>
                </a:solidFill>
                <a:latin typeface="微软雅黑"/>
                <a:cs typeface="微软雅黑"/>
                <a:sym typeface="微软雅黑"/>
                <a:ea typeface="微软雅黑"/>
              </a:rPr>
              <a:t>③</a:t>
            </a:r>
            <a:r>
              <a:rPr lang="en-US" altLang="zh-CN" sz="1000">
                <a:solidFill>
                  <a:srgbClr val="383838"/>
                </a:solidFill>
                <a:latin typeface="微软雅黑"/>
                <a:cs typeface="微软雅黑"/>
                <a:sym typeface="微软雅黑"/>
                <a:ea typeface="微软雅黑"/>
              </a:rPr>
              <a:t> </a:t>
            </a:r>
            <a:r>
              <a:rPr lang="zh-CN" altLang="en-US" sz="1000">
                <a:solidFill>
                  <a:srgbClr val="383838"/>
                </a:solidFill>
                <a:latin typeface="微软雅黑"/>
                <a:cs typeface="微软雅黑"/>
                <a:sym typeface="微软雅黑"/>
                <a:ea typeface="微软雅黑"/>
              </a:rPr>
              <a:t>个性化服务流程策略制定执行，节点关爱全覆盖；</a:t>
            </a:r>
            <a:endParaRPr lang="zh-CN" altLang="en-US" sz="1000">
              <a:solidFill>
                <a:srgbClr val="383838"/>
              </a:solidFill>
              <a:latin typeface="微软雅黑"/>
              <a:cs typeface="微软雅黑"/>
              <a:ea typeface="微软雅黑"/>
            </a:endParaRPr>
          </a:p>
          <a:p>
            <a:pPr indent="0" algn="l" fontAlgn="auto">
              <a:lnSpc>
                <a:spcPts val="1500"/>
              </a:lnSpc>
              <a:defRPr>
                <a:latin typeface="微软雅黑"/>
                <a:ea typeface="微软雅黑"/>
                <a:cs typeface="微软雅黑"/>
              </a:defRPr>
            </a:pPr>
            <a:r>
              <a:rPr lang="zh-CN" altLang="en-US" sz="1000">
                <a:solidFill>
                  <a:srgbClr val="383838"/>
                </a:solidFill>
                <a:latin typeface="微软雅黑"/>
                <a:cs typeface="微软雅黑"/>
                <a:sym typeface="微软雅黑"/>
                <a:ea typeface="微软雅黑"/>
              </a:rPr>
              <a:t>④</a:t>
            </a:r>
            <a:r>
              <a:rPr lang="en-US" altLang="zh-CN" sz="1000">
                <a:solidFill>
                  <a:srgbClr val="383838"/>
                </a:solidFill>
                <a:latin typeface="微软雅黑"/>
                <a:cs typeface="微软雅黑"/>
                <a:sym typeface="微软雅黑"/>
                <a:ea typeface="微软雅黑"/>
              </a:rPr>
              <a:t> </a:t>
            </a:r>
            <a:r>
              <a:rPr lang="zh-CN" altLang="en-US" sz="1000">
                <a:solidFill>
                  <a:srgbClr val="383838"/>
                </a:solidFill>
                <a:latin typeface="微软雅黑"/>
                <a:cs typeface="微软雅黑"/>
                <a:sym typeface="微软雅黑"/>
                <a:ea typeface="微软雅黑"/>
              </a:rPr>
              <a:t>管理层紧盯超级客户，深度挖掘运营其价值贡献。</a:t>
            </a:r>
            <a:endParaRPr lang="zh-CN" altLang="en-US" sz="1000">
              <a:solidFill>
                <a:srgbClr val="383838"/>
              </a:solidFill>
              <a:latin typeface="微软雅黑"/>
              <a:cs typeface="微软雅黑"/>
              <a:sym typeface="微软雅黑"/>
              <a:ea typeface="微软雅黑"/>
            </a:endParaRPr>
          </a:p>
        </p:txBody>
      </p:sp>
      <p:sp>
        <p:nvSpPr>
          <p:cNvPr id="237" name="右箭头 236"/>
          <p:cNvSpPr/>
          <p:nvPr/>
        </p:nvSpPr>
        <p:spPr>
          <a:xfrm>
            <a:off x="3086100" y="3279140"/>
            <a:ext cx="8455025" cy="906780"/>
          </a:xfrm>
          <a:prstGeom prst="rightArrow">
            <a:avLst/>
          </a:prstGeom>
          <a:solidFill>
            <a:srgbClr val="DCDCDC">
              <a:alpha val="90000"/>
            </a:srgbClr>
          </a:soli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243" name="矩形 242"/>
          <p:cNvSpPr/>
          <p:nvPr/>
        </p:nvSpPr>
        <p:spPr>
          <a:xfrm>
            <a:off x="5013325" y="2685415"/>
            <a:ext cx="723900" cy="541655"/>
          </a:xfrm>
          <a:prstGeom prst="rect">
            <a:avLst/>
          </a:prstGeom>
          <a:solidFill>
            <a:srgbClr val="FFFFFF">
              <a:alpha val="70000"/>
            </a:srgbClr>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潜客入池盯转化</a:t>
            </a:r>
            <a:endParaRPr lang="zh-CN" altLang="en-US" sz="1000" dirty="0">
              <a:solidFill>
                <a:srgbClr val="383838"/>
              </a:solidFill>
              <a:effectLst/>
              <a:latin typeface="微软雅黑"/>
              <a:ea typeface="微软雅黑"/>
              <a:cs typeface="微软雅黑"/>
              <a:sym typeface="微软雅黑"/>
            </a:endParaRPr>
          </a:p>
        </p:txBody>
      </p:sp>
      <p:sp>
        <p:nvSpPr>
          <p:cNvPr id="244" name="形状 243"/>
          <p:cNvSpPr>
            <a:spLocks noChangeAspect="1"/>
          </p:cNvSpPr>
          <p:nvPr/>
        </p:nvSpPr>
        <p:spPr>
          <a:xfrm flipH="1" flipV="1">
            <a:off x="5865495" y="2613025"/>
            <a:ext cx="673735" cy="470535"/>
          </a:xfrm>
          <a:prstGeom prst="swooshArrow">
            <a:avLst>
              <a:gd name="adj1" fmla="val 16310"/>
              <a:gd name="adj2" fmla="val 31370"/>
            </a:avLst>
          </a:prstGeom>
          <a:solidFill>
            <a:srgbClr val="B3D4FE"/>
          </a:solidFill>
          <a:ln>
            <a:no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lIns="0" rIns="0" tIns="0" bIns="0"/>
          <a:p>
            <a:pPr>
              <a:defRPr>
                <a:latin typeface="微软雅黑"/>
                <a:ea typeface="微软雅黑"/>
                <a:cs typeface="微软雅黑"/>
              </a:defRPr>
            </a:pPr>
            <a:endParaRPr lang="zh-CN" altLang="en-US" dirty="0">
              <a:latin typeface="微软雅黑"/>
              <a:ea typeface="微软雅黑"/>
              <a:cs typeface="微软雅黑"/>
            </a:endParaRPr>
          </a:p>
        </p:txBody>
      </p:sp>
      <p:sp>
        <p:nvSpPr>
          <p:cNvPr id="246" name="右箭头 245"/>
          <p:cNvSpPr/>
          <p:nvPr/>
        </p:nvSpPr>
        <p:spPr>
          <a:xfrm>
            <a:off x="3086100" y="4662805"/>
            <a:ext cx="8454390" cy="906780"/>
          </a:xfrm>
          <a:prstGeom prst="rightArrow">
            <a:avLst/>
          </a:prstGeom>
          <a:solidFill>
            <a:srgbClr val="DCDCDC">
              <a:alpha val="90000"/>
            </a:srgbClr>
          </a:solidFill>
          <a:ln w="12700" cap="flat" cmpd="sng" algn="ctr">
            <a:noFill/>
            <a:prstDash val="solid"/>
            <a:miter lim="800000"/>
          </a:ln>
          <a:effectLst/>
        </p:spPr>
        <p:txBody>
          <a:bodyPr rtlCol="0" anchor="ctr"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253" name="矩形 252"/>
          <p:cNvSpPr/>
          <p:nvPr/>
        </p:nvSpPr>
        <p:spPr>
          <a:xfrm>
            <a:off x="4973955" y="4120515"/>
            <a:ext cx="723900" cy="541655"/>
          </a:xfrm>
          <a:prstGeom prst="rect">
            <a:avLst/>
          </a:prstGeom>
          <a:solidFill>
            <a:srgbClr val="FFFFFF">
              <a:alpha val="70000"/>
            </a:srgbClr>
          </a:solidFill>
          <a:ln w="12700" cmpd="sng">
            <a:solidFill>
              <a:srgbClr val="FFFF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保客留存盯复购</a:t>
            </a:r>
            <a:endParaRPr lang="zh-CN" altLang="en-US" sz="1000" dirty="0">
              <a:solidFill>
                <a:srgbClr val="383838"/>
              </a:solidFill>
              <a:effectLst/>
              <a:latin typeface="微软雅黑"/>
              <a:ea typeface="微软雅黑"/>
              <a:cs typeface="微软雅黑"/>
              <a:sym typeface="微软雅黑"/>
            </a:endParaRPr>
          </a:p>
        </p:txBody>
      </p:sp>
      <p:sp>
        <p:nvSpPr>
          <p:cNvPr id="257" name="矩形 256"/>
          <p:cNvSpPr/>
          <p:nvPr/>
        </p:nvSpPr>
        <p:spPr>
          <a:xfrm>
            <a:off x="3290570" y="3358515"/>
            <a:ext cx="1108075"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r>
              <a:rPr lang="zh-CN" altLang="en-US" sz="1300">
                <a:solidFill>
                  <a:srgbClr val="383838"/>
                </a:solidFill>
                <a:latin typeface="微软雅黑"/>
                <a:cs typeface="微软雅黑"/>
                <a:sym typeface="微软雅黑"/>
                <a:ea typeface="微软雅黑"/>
              </a:rPr>
              <a:t>服务端</a:t>
            </a:r>
            <a:endParaRPr lang="zh-CN" altLang="en-US" sz="1300">
              <a:solidFill>
                <a:srgbClr val="383838"/>
              </a:solidFill>
              <a:latin typeface="微软雅黑"/>
              <a:cs typeface="微软雅黑"/>
              <a:sym typeface="微软雅黑"/>
              <a:ea typeface="微软雅黑"/>
            </a:endParaRPr>
          </a:p>
          <a:p>
            <a:pPr lvl="0" algn="ctr">
              <a:buClrTx/>
              <a:buSzTx/>
              <a:buFontTx/>
              <a:defRPr>
                <a:latin typeface="微软雅黑"/>
                <a:ea typeface="微软雅黑"/>
                <a:cs typeface="微软雅黑"/>
              </a:defRPr>
            </a:pPr>
            <a:r>
              <a:rPr lang="zh-CN" altLang="en-US" sz="1100" b="1">
                <a:solidFill>
                  <a:srgbClr val="0042FF"/>
                </a:solidFill>
                <a:latin typeface="微软雅黑"/>
                <a:cs typeface="微软雅黑"/>
                <a:sym typeface="微软雅黑"/>
                <a:ea typeface="微软雅黑"/>
              </a:rPr>
              <a:t>接待保客基盘</a:t>
            </a:r>
            <a:endParaRPr lang="zh-CN" altLang="en-US" sz="1100" b="1">
              <a:solidFill>
                <a:srgbClr val="0042FF"/>
              </a:solidFill>
              <a:latin typeface="微软雅黑"/>
              <a:cs typeface="微软雅黑"/>
              <a:sym typeface="微软雅黑"/>
              <a:ea typeface="微软雅黑"/>
            </a:endParaRPr>
          </a:p>
        </p:txBody>
      </p:sp>
      <p:sp>
        <p:nvSpPr>
          <p:cNvPr id="258" name="矩形 257"/>
          <p:cNvSpPr/>
          <p:nvPr/>
        </p:nvSpPr>
        <p:spPr>
          <a:xfrm>
            <a:off x="3290570" y="4763135"/>
            <a:ext cx="1108075"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p>
            <a:pPr lvl="0" algn="ctr">
              <a:buClrTx/>
              <a:buSzTx/>
              <a:buFontTx/>
              <a:defRPr>
                <a:latin typeface="微软雅黑"/>
                <a:ea typeface="微软雅黑"/>
                <a:cs typeface="微软雅黑"/>
              </a:defRPr>
            </a:pPr>
            <a:r>
              <a:rPr lang="zh-CN" altLang="en-US" sz="1300">
                <a:solidFill>
                  <a:srgbClr val="383838"/>
                </a:solidFill>
                <a:latin typeface="微软雅黑"/>
                <a:cs typeface="微软雅黑"/>
                <a:sym typeface="微软雅黑"/>
                <a:ea typeface="微软雅黑"/>
              </a:rPr>
              <a:t>客服端</a:t>
            </a:r>
            <a:endParaRPr lang="zh-CN" altLang="en-US" sz="1300">
              <a:solidFill>
                <a:srgbClr val="383838"/>
              </a:solidFill>
              <a:latin typeface="微软雅黑"/>
              <a:cs typeface="微软雅黑"/>
              <a:sym typeface="微软雅黑"/>
              <a:ea typeface="微软雅黑"/>
            </a:endParaRPr>
          </a:p>
          <a:p>
            <a:pPr lvl="0" algn="ctr">
              <a:buClrTx/>
              <a:buSzTx/>
              <a:buFontTx/>
              <a:defRPr>
                <a:latin typeface="微软雅黑"/>
                <a:ea typeface="微软雅黑"/>
                <a:cs typeface="微软雅黑"/>
              </a:defRPr>
            </a:pPr>
            <a:r>
              <a:rPr lang="zh-CN" altLang="en-US" sz="1100" b="1">
                <a:solidFill>
                  <a:srgbClr val="0042FF"/>
                </a:solidFill>
                <a:latin typeface="微软雅黑"/>
                <a:cs typeface="微软雅黑"/>
                <a:sym typeface="微软雅黑"/>
                <a:ea typeface="微软雅黑"/>
              </a:rPr>
              <a:t>维系忠诚基盘</a:t>
            </a:r>
            <a:endParaRPr lang="zh-CN" altLang="en-US" sz="1100" b="1">
              <a:solidFill>
                <a:srgbClr val="0042FF"/>
              </a:solidFill>
              <a:latin typeface="微软雅黑"/>
              <a:cs typeface="微软雅黑"/>
              <a:sym typeface="微软雅黑"/>
              <a:ea typeface="微软雅黑"/>
            </a:endParaRPr>
          </a:p>
        </p:txBody>
      </p:sp>
      <p:grpSp>
        <p:nvGrpSpPr>
          <p:cNvPr id="283" name="组合 282"/>
          <p:cNvGrpSpPr/>
          <p:nvPr/>
        </p:nvGrpSpPr>
        <p:grpSpPr>
          <a:xfrm rot="0">
            <a:off x="6462395" y="1908175"/>
            <a:ext cx="704850" cy="705485"/>
            <a:chOff x="10342" y="2630"/>
            <a:chExt cx="1211" cy="1211"/>
          </a:xfrm>
        </p:grpSpPr>
        <p:sp>
          <p:nvSpPr>
            <p:cNvPr id="79" name="椭圆 78"/>
            <p:cNvSpPr/>
            <p:nvPr/>
          </p:nvSpPr>
          <p:spPr>
            <a:xfrm>
              <a:off x="10342" y="2630"/>
              <a:ext cx="1211" cy="1211"/>
            </a:xfrm>
            <a:prstGeom prst="ellipse">
              <a:avLst/>
            </a:prstGeom>
            <a:solidFill>
              <a:srgbClr val="B3D4FE"/>
            </a:solidFill>
            <a:ln w="12700" cap="flat" cmpd="sng" algn="ctr">
              <a:noFill/>
              <a:prstDash val="solid"/>
              <a:miter lim="800000"/>
            </a:ln>
            <a:effectLst/>
          </p:spPr>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259" name="文本框 258"/>
            <p:cNvSpPr txBox="1"/>
            <p:nvPr/>
          </p:nvSpPr>
          <p:spPr>
            <a:xfrm>
              <a:off x="10383" y="2848"/>
              <a:ext cx="1130" cy="367"/>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cs typeface="微软雅黑"/>
                  <a:ea typeface="微软雅黑"/>
                </a:rPr>
                <a:t>销售人员</a:t>
              </a:r>
              <a:endParaRPr lang="zh-CN" altLang="en-US" sz="1000" b="1">
                <a:solidFill>
                  <a:srgbClr val="383838"/>
                </a:solidFill>
                <a:latin typeface="微软雅黑"/>
                <a:cs typeface="微软雅黑"/>
                <a:ea typeface="微软雅黑"/>
              </a:endParaRPr>
            </a:p>
          </p:txBody>
        </p:sp>
        <p:sp>
          <p:nvSpPr>
            <p:cNvPr id="261" name="文本框 260"/>
            <p:cNvSpPr txBox="1"/>
            <p:nvPr/>
          </p:nvSpPr>
          <p:spPr>
            <a:xfrm>
              <a:off x="10546" y="3127"/>
              <a:ext cx="804" cy="553"/>
            </a:xfrm>
            <a:prstGeom prst="rect">
              <a:avLst/>
            </a:prstGeom>
            <a:noFill/>
          </p:spPr>
          <p:txBody>
            <a:bodyPr wrap="square" rtlCol="0">
              <a:spAutoFit/>
            </a:bodyPr>
            <a:p>
              <a:pPr algn="ctr">
                <a:defRPr>
                  <a:latin typeface="微软雅黑"/>
                  <a:ea typeface="微软雅黑"/>
                  <a:cs typeface="微软雅黑"/>
                </a:defRPr>
              </a:pPr>
              <a:r>
                <a:rPr lang="zh-CN" altLang="en-US" sz="1500" b="1">
                  <a:solidFill>
                    <a:srgbClr val="383838"/>
                  </a:solidFill>
                  <a:latin typeface="微软雅黑"/>
                  <a:cs typeface="微软雅黑"/>
                  <a:ea typeface="微软雅黑"/>
                </a:rPr>
                <a:t>加</a:t>
              </a:r>
              <a:endParaRPr lang="zh-CN" altLang="en-US" sz="1500" b="1">
                <a:solidFill>
                  <a:srgbClr val="383838"/>
                </a:solidFill>
                <a:latin typeface="微软雅黑"/>
                <a:cs typeface="微软雅黑"/>
                <a:ea typeface="微软雅黑"/>
              </a:endParaRPr>
            </a:p>
          </p:txBody>
        </p:sp>
      </p:grpSp>
      <p:grpSp>
        <p:nvGrpSpPr>
          <p:cNvPr id="284" name="组合 283"/>
          <p:cNvGrpSpPr/>
          <p:nvPr/>
        </p:nvGrpSpPr>
        <p:grpSpPr>
          <a:xfrm rot="0">
            <a:off x="6462395" y="3379470"/>
            <a:ext cx="704850" cy="705485"/>
            <a:chOff x="10757" y="5157"/>
            <a:chExt cx="1211" cy="1211"/>
          </a:xfrm>
        </p:grpSpPr>
        <p:sp>
          <p:nvSpPr>
            <p:cNvPr id="240" name="椭圆 239"/>
            <p:cNvSpPr/>
            <p:nvPr/>
          </p:nvSpPr>
          <p:spPr>
            <a:xfrm>
              <a:off x="10757" y="5157"/>
              <a:ext cx="1211" cy="1211"/>
            </a:xfrm>
            <a:prstGeom prst="ellipse">
              <a:avLst/>
            </a:prstGeom>
            <a:solidFill>
              <a:srgbClr val="B3D4FE"/>
            </a:solidFill>
            <a:ln w="12700" cap="flat" cmpd="sng" algn="ctr">
              <a:noFill/>
              <a:prstDash val="solid"/>
              <a:miter lim="800000"/>
            </a:ln>
            <a:effectLst/>
          </p:spPr>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262" name="文本框 261"/>
            <p:cNvSpPr txBox="1"/>
            <p:nvPr/>
          </p:nvSpPr>
          <p:spPr>
            <a:xfrm>
              <a:off x="10798" y="5366"/>
              <a:ext cx="1130" cy="392"/>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cs typeface="微软雅黑"/>
                  <a:ea typeface="微软雅黑"/>
                </a:rPr>
                <a:t>服务人员</a:t>
              </a:r>
              <a:endParaRPr lang="zh-CN" altLang="en-US" sz="1000" b="1">
                <a:solidFill>
                  <a:srgbClr val="383838"/>
                </a:solidFill>
                <a:latin typeface="微软雅黑"/>
                <a:cs typeface="微软雅黑"/>
                <a:ea typeface="微软雅黑"/>
              </a:endParaRPr>
            </a:p>
          </p:txBody>
        </p:sp>
        <p:sp>
          <p:nvSpPr>
            <p:cNvPr id="263" name="文本框 262"/>
            <p:cNvSpPr txBox="1"/>
            <p:nvPr/>
          </p:nvSpPr>
          <p:spPr>
            <a:xfrm>
              <a:off x="10961" y="5643"/>
              <a:ext cx="804" cy="515"/>
            </a:xfrm>
            <a:prstGeom prst="rect">
              <a:avLst/>
            </a:prstGeom>
            <a:noFill/>
          </p:spPr>
          <p:txBody>
            <a:bodyPr wrap="square" rtlCol="0">
              <a:noAutofit/>
            </a:bodyPr>
            <a:p>
              <a:pPr algn="ctr">
                <a:defRPr>
                  <a:latin typeface="微软雅黑"/>
                  <a:ea typeface="微软雅黑"/>
                  <a:cs typeface="微软雅黑"/>
                </a:defRPr>
              </a:pPr>
              <a:r>
                <a:rPr lang="zh-CN" altLang="en-US" sz="1500" b="1">
                  <a:solidFill>
                    <a:srgbClr val="383838"/>
                  </a:solidFill>
                  <a:latin typeface="微软雅黑"/>
                  <a:cs typeface="微软雅黑"/>
                  <a:ea typeface="微软雅黑"/>
                </a:rPr>
                <a:t>留</a:t>
              </a:r>
              <a:endParaRPr lang="zh-CN" altLang="en-US" sz="1500" b="1">
                <a:solidFill>
                  <a:srgbClr val="383838"/>
                </a:solidFill>
                <a:latin typeface="微软雅黑"/>
                <a:cs typeface="微软雅黑"/>
                <a:ea typeface="微软雅黑"/>
              </a:endParaRPr>
            </a:p>
          </p:txBody>
        </p:sp>
      </p:grpSp>
      <p:grpSp>
        <p:nvGrpSpPr>
          <p:cNvPr id="285" name="组合 284"/>
          <p:cNvGrpSpPr/>
          <p:nvPr/>
        </p:nvGrpSpPr>
        <p:grpSpPr>
          <a:xfrm rot="0">
            <a:off x="6462395" y="4763135"/>
            <a:ext cx="704850" cy="705485"/>
            <a:chOff x="10653" y="7533"/>
            <a:chExt cx="1211" cy="1211"/>
          </a:xfrm>
        </p:grpSpPr>
        <p:sp>
          <p:nvSpPr>
            <p:cNvPr id="249" name="椭圆 248"/>
            <p:cNvSpPr/>
            <p:nvPr/>
          </p:nvSpPr>
          <p:spPr>
            <a:xfrm>
              <a:off x="10653" y="7533"/>
              <a:ext cx="1211" cy="1211"/>
            </a:xfrm>
            <a:prstGeom prst="ellipse">
              <a:avLst/>
            </a:prstGeom>
            <a:solidFill>
              <a:srgbClr val="B3D4FE"/>
            </a:solidFill>
            <a:ln w="12700" cap="flat" cmpd="sng" algn="ctr">
              <a:noFill/>
              <a:prstDash val="solid"/>
              <a:miter lim="800000"/>
            </a:ln>
            <a:effectLst/>
          </p:spPr>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cs typeface="微软雅黑"/>
                <a:sym typeface="微软雅黑"/>
                <a:ea typeface="微软雅黑"/>
              </a:endParaRPr>
            </a:p>
          </p:txBody>
        </p:sp>
        <p:sp>
          <p:nvSpPr>
            <p:cNvPr id="264" name="文本框 263"/>
            <p:cNvSpPr txBox="1"/>
            <p:nvPr/>
          </p:nvSpPr>
          <p:spPr>
            <a:xfrm>
              <a:off x="10703" y="7788"/>
              <a:ext cx="1130" cy="392"/>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b="1">
                  <a:solidFill>
                    <a:srgbClr val="383838"/>
                  </a:solidFill>
                  <a:latin typeface="微软雅黑"/>
                  <a:cs typeface="微软雅黑"/>
                  <a:ea typeface="微软雅黑"/>
                </a:rPr>
                <a:t>客服人员</a:t>
              </a:r>
              <a:endParaRPr lang="zh-CN" altLang="en-US" sz="1000" b="1">
                <a:solidFill>
                  <a:srgbClr val="383838"/>
                </a:solidFill>
                <a:latin typeface="微软雅黑"/>
                <a:cs typeface="微软雅黑"/>
                <a:ea typeface="微软雅黑"/>
              </a:endParaRPr>
            </a:p>
          </p:txBody>
        </p:sp>
        <p:sp>
          <p:nvSpPr>
            <p:cNvPr id="265" name="文本框 264"/>
            <p:cNvSpPr txBox="1"/>
            <p:nvPr/>
          </p:nvSpPr>
          <p:spPr>
            <a:xfrm>
              <a:off x="10866" y="8065"/>
              <a:ext cx="804" cy="515"/>
            </a:xfrm>
            <a:prstGeom prst="rect">
              <a:avLst/>
            </a:prstGeom>
            <a:noFill/>
          </p:spPr>
          <p:txBody>
            <a:bodyPr wrap="square" rtlCol="0">
              <a:noAutofit/>
            </a:bodyPr>
            <a:p>
              <a:pPr algn="ctr">
                <a:defRPr>
                  <a:latin typeface="微软雅黑"/>
                  <a:ea typeface="微软雅黑"/>
                  <a:cs typeface="微软雅黑"/>
                </a:defRPr>
              </a:pPr>
              <a:r>
                <a:rPr lang="zh-CN" altLang="en-US" sz="1500" b="1">
                  <a:solidFill>
                    <a:srgbClr val="383838"/>
                  </a:solidFill>
                  <a:latin typeface="微软雅黑"/>
                  <a:cs typeface="微软雅黑"/>
                  <a:ea typeface="微软雅黑"/>
                </a:rPr>
                <a:t>养</a:t>
              </a:r>
              <a:endParaRPr lang="zh-CN" altLang="en-US" sz="1500" b="1">
                <a:solidFill>
                  <a:srgbClr val="383838"/>
                </a:solidFill>
                <a:latin typeface="微软雅黑"/>
                <a:cs typeface="微软雅黑"/>
                <a:ea typeface="微软雅黑"/>
              </a:endParaRPr>
            </a:p>
          </p:txBody>
        </p:sp>
      </p:grpSp>
      <p:sp>
        <p:nvSpPr>
          <p:cNvPr id="266" name="矩形 265"/>
          <p:cNvSpPr/>
          <p:nvPr/>
        </p:nvSpPr>
        <p:spPr>
          <a:xfrm>
            <a:off x="4794250" y="1922145"/>
            <a:ext cx="1235710"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sym typeface="微软雅黑"/>
              </a:rPr>
              <a:t>借助活动、公域传播邀约客户入店体验</a:t>
            </a:r>
            <a:endParaRPr lang="zh-CN" altLang="en-US" sz="1000"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70" name="矩形 269"/>
          <p:cNvSpPr/>
          <p:nvPr/>
        </p:nvSpPr>
        <p:spPr>
          <a:xfrm>
            <a:off x="4794250" y="3347720"/>
            <a:ext cx="1235710"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sym typeface="微软雅黑"/>
              </a:rPr>
              <a:t>内容持续种草，持续二次购买，现场接待服务</a:t>
            </a:r>
            <a:endParaRPr lang="zh-CN" altLang="en-US" sz="1000"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72" name="矩形 271"/>
          <p:cNvSpPr/>
          <p:nvPr/>
        </p:nvSpPr>
        <p:spPr>
          <a:xfrm>
            <a:off x="4794885" y="4763135"/>
            <a:ext cx="1235710"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compatLnSpc="1">
            <a:noAutofit/>
          </a:bodyPr>
          <a:p>
            <a:pPr algn="ctr">
              <a:defRPr>
                <a:latin typeface="微软雅黑"/>
                <a:ea typeface="微软雅黑"/>
                <a:cs typeface="微软雅黑"/>
              </a:defRPr>
            </a:pPr>
            <a:r>
              <a:rPr lang="zh-CN" altLang="en-US" sz="1000" dirty="0">
                <a:solidFill>
                  <a:srgbClr val="383838"/>
                </a:solidFill>
                <a:effectLst/>
                <a:latin typeface="微软雅黑"/>
                <a:ea typeface="微软雅黑"/>
                <a:cs typeface="微软雅黑"/>
                <a:sym typeface="微软雅黑"/>
              </a:rPr>
              <a:t>客户标签化运营，会员卡等粘性产品绑定，高价值创造</a:t>
            </a:r>
            <a:endParaRPr lang="zh-CN" altLang="en-US" sz="1000" dirty="0">
              <a:solidFill>
                <a:srgbClr val="383838"/>
              </a:solidFill>
              <a:effectLst/>
              <a:latin typeface="微软雅黑"/>
              <a:ea typeface="微软雅黑"/>
              <a:cs typeface="微软雅黑"/>
              <a:sym typeface="微软雅黑"/>
            </a:endParaRPr>
          </a:p>
        </p:txBody>
      </p:sp>
      <p:sp>
        <p:nvSpPr>
          <p:cNvPr id="273" name="燕尾形箭头 272"/>
          <p:cNvSpPr/>
          <p:nvPr/>
        </p:nvSpPr>
        <p:spPr>
          <a:xfrm rot="5400000">
            <a:off x="5212080" y="4596130"/>
            <a:ext cx="262255" cy="262890"/>
          </a:xfrm>
          <a:prstGeom prst="notchedRightArrow">
            <a:avLst/>
          </a:prstGeom>
          <a:solidFill>
            <a:srgbClr val="FFFFFF"/>
          </a:solidFill>
          <a:ln>
            <a:solidFill>
              <a:srgbClr val="B3D4FE"/>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l">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74" name="燕尾形箭头 273"/>
          <p:cNvSpPr/>
          <p:nvPr/>
        </p:nvSpPr>
        <p:spPr>
          <a:xfrm rot="5400000">
            <a:off x="5243830" y="3173730"/>
            <a:ext cx="262255" cy="262890"/>
          </a:xfrm>
          <a:prstGeom prst="notchedRightArrow">
            <a:avLst/>
          </a:prstGeom>
          <a:solidFill>
            <a:srgbClr val="FFFFFF"/>
          </a:solidFill>
          <a:ln>
            <a:solidFill>
              <a:srgbClr val="B3D4FE"/>
            </a:solid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l">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275" name="矩形 274"/>
          <p:cNvSpPr/>
          <p:nvPr/>
        </p:nvSpPr>
        <p:spPr>
          <a:xfrm>
            <a:off x="7651115" y="1908175"/>
            <a:ext cx="1434465"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销售人员建立信任后，有序运营，给予福利券赠送新客户权限，鼓励加微动作。</a:t>
            </a:r>
            <a:endParaRPr lang="zh-CN" altLang="en-US" sz="1000">
              <a:solidFill>
                <a:srgbClr val="383838"/>
              </a:solidFill>
              <a:latin typeface="微软雅黑"/>
              <a:cs typeface="微软雅黑"/>
              <a:sym typeface="微软雅黑"/>
              <a:ea typeface="微软雅黑"/>
            </a:endParaRPr>
          </a:p>
        </p:txBody>
      </p:sp>
      <p:sp>
        <p:nvSpPr>
          <p:cNvPr id="276" name="矩形 275"/>
          <p:cNvSpPr/>
          <p:nvPr/>
        </p:nvSpPr>
        <p:spPr>
          <a:xfrm>
            <a:off x="9331960" y="1908175"/>
            <a:ext cx="1640205" cy="69850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①销售在接待环节加入私域；</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②购物前沟通流程可监控；</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③后续衔接转入服务私域。</a:t>
            </a:r>
            <a:endParaRPr lang="zh-CN" altLang="en-US" sz="1000">
              <a:solidFill>
                <a:srgbClr val="383838"/>
              </a:solidFill>
              <a:latin typeface="微软雅黑"/>
              <a:cs typeface="微软雅黑"/>
              <a:sym typeface="微软雅黑"/>
              <a:ea typeface="微软雅黑"/>
            </a:endParaRPr>
          </a:p>
        </p:txBody>
      </p:sp>
      <p:sp>
        <p:nvSpPr>
          <p:cNvPr id="277" name="矩形 276"/>
          <p:cNvSpPr/>
          <p:nvPr/>
        </p:nvSpPr>
        <p:spPr>
          <a:xfrm>
            <a:off x="7679055" y="3227070"/>
            <a:ext cx="1434465" cy="100457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根据消费能力、行为偏好等建立分级标准，同时设立分级服务项目标准，采用对应层级标准化的接触与服务。</a:t>
            </a:r>
            <a:endParaRPr lang="zh-CN" altLang="en-US" sz="1000">
              <a:solidFill>
                <a:srgbClr val="383838"/>
              </a:solidFill>
              <a:latin typeface="微软雅黑"/>
              <a:cs typeface="微软雅黑"/>
              <a:sym typeface="微软雅黑"/>
              <a:ea typeface="微软雅黑"/>
            </a:endParaRPr>
          </a:p>
        </p:txBody>
      </p:sp>
      <p:sp>
        <p:nvSpPr>
          <p:cNvPr id="278" name="矩形 277"/>
          <p:cNvSpPr/>
          <p:nvPr/>
        </p:nvSpPr>
        <p:spPr>
          <a:xfrm>
            <a:off x="9331960" y="3227070"/>
            <a:ext cx="1640840" cy="109347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①客户购物习惯引导与培养；</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②日常的小红书等内容种草；</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③客户促销活的推送营销；</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④节假日、生日的特殊关怀。</a:t>
            </a:r>
            <a:endParaRPr lang="zh-CN" altLang="en-US" sz="1000">
              <a:solidFill>
                <a:srgbClr val="383838"/>
              </a:solidFill>
              <a:latin typeface="微软雅黑"/>
              <a:cs typeface="微软雅黑"/>
              <a:sym typeface="微软雅黑"/>
              <a:ea typeface="微软雅黑"/>
            </a:endParaRPr>
          </a:p>
        </p:txBody>
      </p:sp>
      <p:sp>
        <p:nvSpPr>
          <p:cNvPr id="279" name="矩形 278"/>
          <p:cNvSpPr/>
          <p:nvPr/>
        </p:nvSpPr>
        <p:spPr>
          <a:xfrm>
            <a:off x="7678420" y="4624705"/>
            <a:ext cx="1435735" cy="894715"/>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关注忠诚客户群体，通过线上的活动促销、储值卡等粘性产品渗透提粘性，提升客户稳定性。</a:t>
            </a:r>
            <a:endParaRPr lang="zh-CN" altLang="en-US" sz="1000">
              <a:solidFill>
                <a:srgbClr val="383838"/>
              </a:solidFill>
              <a:latin typeface="微软雅黑"/>
              <a:cs typeface="微软雅黑"/>
              <a:sym typeface="微软雅黑"/>
              <a:ea typeface="微软雅黑"/>
            </a:endParaRPr>
          </a:p>
        </p:txBody>
      </p:sp>
      <p:sp>
        <p:nvSpPr>
          <p:cNvPr id="280" name="矩形 279"/>
          <p:cNvSpPr/>
          <p:nvPr/>
        </p:nvSpPr>
        <p:spPr>
          <a:xfrm>
            <a:off x="9331325" y="4625340"/>
            <a:ext cx="1640840" cy="862330"/>
          </a:xfrm>
          <a:prstGeom prst="rect">
            <a:avLst/>
          </a:prstGeom>
          <a:gradFill flip="none" rotWithShape="1">
            <a:gsLst>
              <a:gs pos="0">
                <a:srgbClr val="FFFFFF"/>
              </a:gs>
              <a:gs pos="100000">
                <a:srgbClr val="FFFFFF"/>
              </a:gs>
            </a:gsLst>
            <a:path path="circle">
              <a:fillToRect l="50000" t="50000" r="50000" b="50000"/>
            </a:path>
            <a:tileRect/>
          </a:gradFill>
          <a:ln w="12700" cmpd="sng">
            <a:solidFill>
              <a:srgbClr val="DCDCDC"/>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①高价值客户邀约新体验；</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②券到期客户邀约到店使用；</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③储值客户邀请新冲赠送；</a:t>
            </a:r>
            <a:endParaRPr lang="zh-CN" altLang="en-US" sz="1000">
              <a:solidFill>
                <a:srgbClr val="383838"/>
              </a:solidFill>
              <a:latin typeface="微软雅黑"/>
              <a:cs typeface="微软雅黑"/>
              <a:sym typeface="微软雅黑"/>
              <a:ea typeface="微软雅黑"/>
            </a:endParaRPr>
          </a:p>
          <a:p>
            <a:pPr lvl="0" algn="l">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cs typeface="微软雅黑"/>
                <a:sym typeface="微软雅黑"/>
                <a:ea typeface="微软雅黑"/>
              </a:rPr>
              <a:t>④特别活动偏好客群邀约。</a:t>
            </a:r>
            <a:endParaRPr lang="zh-CN" altLang="en-US" sz="1000">
              <a:solidFill>
                <a:srgbClr val="383838"/>
              </a:solidFill>
              <a:latin typeface="微软雅黑"/>
              <a:cs typeface="微软雅黑"/>
              <a:sym typeface="微软雅黑"/>
              <a:ea typeface="微软雅黑"/>
            </a:endParaRPr>
          </a:p>
        </p:txBody>
      </p:sp>
      <p:sp>
        <p:nvSpPr>
          <p:cNvPr id="300" name="形状 299"/>
          <p:cNvSpPr>
            <a:spLocks noChangeAspect="1"/>
          </p:cNvSpPr>
          <p:nvPr/>
        </p:nvSpPr>
        <p:spPr>
          <a:xfrm flipH="1" flipV="1">
            <a:off x="5865495" y="4046220"/>
            <a:ext cx="673735" cy="470535"/>
          </a:xfrm>
          <a:prstGeom prst="swooshArrow">
            <a:avLst>
              <a:gd name="adj1" fmla="val 16310"/>
              <a:gd name="adj2" fmla="val 31370"/>
            </a:avLst>
          </a:prstGeom>
          <a:solidFill>
            <a:srgbClr val="B3D4FE"/>
          </a:solidFill>
          <a:ln>
            <a:noFill/>
          </a:ln>
        </p:spPr>
        <p:style>
          <a:lnRef idx="2">
            <a:srgbClr val="FFFFFF">
              <a:alphaOff val="0"/>
            </a:srgbClr>
          </a:lnRef>
          <a:fillRef idx="1">
            <a:srgbClr val="0042FF">
              <a:alphaOff val="0"/>
            </a:srgbClr>
          </a:fillRef>
          <a:effectRef idx="0">
            <a:srgbClr val="0042FF">
              <a:alphaOff val="0"/>
            </a:srgbClr>
          </a:effectRef>
          <a:fontRef idx="minor">
            <a:srgbClr val="FFFFFF"/>
          </a:fontRef>
        </p:style>
        <p:txBody>
          <a:bodyPr lIns="0" rIns="0" tIns="0" bIns="0"/>
          <a:p>
            <a:pPr>
              <a:defRPr>
                <a:latin typeface="微软雅黑"/>
                <a:ea typeface="微软雅黑"/>
                <a:cs typeface="微软雅黑"/>
              </a:defRPr>
            </a:pPr>
            <a:endParaRPr lang="zh-CN" altLang="en-US" dirty="0">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9" name="组合 28"/>
          <p:cNvGrpSpPr/>
          <p:nvPr/>
        </p:nvGrpSpPr>
        <p:grpSpPr>
          <a:xfrm>
            <a:off x="8738235" y="348615"/>
            <a:ext cx="3219450" cy="332740"/>
            <a:chOff x="13761" y="549"/>
            <a:chExt cx="5070" cy="524"/>
          </a:xfrm>
        </p:grpSpPr>
        <p:pic>
          <p:nvPicPr>
            <p:cNvPr id="30" name="图片 2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31" name="文本框 3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16"/>
          <p:cNvSpPr/>
          <p:nvPr/>
        </p:nvSpPr>
        <p:spPr>
          <a:xfrm>
            <a:off x="1671955" y="1579245"/>
            <a:ext cx="9956800" cy="2369820"/>
          </a:xfrm>
          <a:prstGeom prst="rect">
            <a:avLst/>
          </a:prstGeom>
          <a:solidFill>
            <a:srgbClr val="FFFFFF">
              <a:alpha val="40000"/>
            </a:srgbClr>
          </a:solidFill>
          <a:ln w="12700" cap="flat">
            <a:solidFill>
              <a:srgbClr val="3368FF">
                <a:alpha val="50000"/>
              </a:srgbClr>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89" name="矩形 88"/>
          <p:cNvSpPr/>
          <p:nvPr/>
        </p:nvSpPr>
        <p:spPr>
          <a:xfrm>
            <a:off x="1627505" y="4837430"/>
            <a:ext cx="9969500" cy="1736090"/>
          </a:xfrm>
          <a:prstGeom prst="rect">
            <a:avLst/>
          </a:prstGeom>
          <a:solidFill>
            <a:srgbClr val="E6E6E6">
              <a:alpha val="30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en-US" altLang="zh-CN">
                <a:cs typeface="微软雅黑"/>
                <a:latin typeface="微软雅黑"/>
                <a:ea typeface="微软雅黑"/>
              </a:rPr>
              <a:t>  </a:t>
            </a:r>
            <a:endParaRPr lang="en-US" altLang="zh-CN">
              <a:cs typeface="微软雅黑"/>
              <a:latin typeface="微软雅黑"/>
              <a:ea typeface="微软雅黑"/>
            </a:endParaRPr>
          </a:p>
        </p:txBody>
      </p:sp>
      <p:sp>
        <p:nvSpPr>
          <p:cNvPr id="5" name="标题 2"/>
          <p:cNvSpPr>
            <a:spLocks noGrp="1"/>
          </p:cNvSpPr>
          <p:nvPr/>
        </p:nvSpPr>
        <p:spPr>
          <a:xfrm>
            <a:off x="1105535" y="347980"/>
            <a:ext cx="725741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80">
                <a:solidFill>
                  <a:srgbClr val="0042FF"/>
                </a:solidFill>
                <a:effectLst/>
                <a:latin typeface="微软雅黑"/>
                <a:ea typeface="微软雅黑"/>
                <a:cs typeface="微软雅黑"/>
              </a:rPr>
              <a:t>业务框架</a:t>
            </a:r>
            <a:r>
              <a:rPr lang="en-US" altLang="zh-CN" sz="2480">
                <a:solidFill>
                  <a:srgbClr val="0042FF"/>
                </a:solidFill>
                <a:effectLst/>
                <a:latin typeface="微软雅黑"/>
                <a:ea typeface="微软雅黑"/>
                <a:cs typeface="微软雅黑"/>
              </a:rPr>
              <a:t>-</a:t>
            </a:r>
            <a:r>
              <a:rPr sz="2480">
                <a:solidFill>
                  <a:srgbClr val="0042FF"/>
                </a:solidFill>
                <a:effectLst/>
                <a:latin typeface="微软雅黑"/>
                <a:ea typeface="微软雅黑"/>
                <a:cs typeface="微软雅黑"/>
              </a:rPr>
              <a:t>业务流程架构 | </a:t>
            </a:r>
            <a:r>
              <a:rPr sz="2480">
                <a:solidFill>
                  <a:srgbClr val="383838"/>
                </a:solidFill>
                <a:latin typeface="微软雅黑"/>
                <a:ea typeface="微软雅黑"/>
                <a:cs typeface="微软雅黑"/>
                <a:sym typeface="微软雅黑"/>
              </a:rPr>
              <a:t>客户全生命周期运营流程</a:t>
            </a:r>
            <a:endParaRPr sz="2480">
              <a:solidFill>
                <a:srgbClr val="383838"/>
              </a:solidFill>
              <a:latin typeface="微软雅黑"/>
              <a:ea typeface="微软雅黑"/>
              <a:cs typeface="微软雅黑"/>
              <a:sym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8" name="矩形 7"/>
          <p:cNvSpPr/>
          <p:nvPr/>
        </p:nvSpPr>
        <p:spPr>
          <a:xfrm>
            <a:off x="608965" y="1004570"/>
            <a:ext cx="879475" cy="486410"/>
          </a:xfrm>
          <a:prstGeom prst="rect">
            <a:avLst/>
          </a:prstGeom>
          <a:gradFill flip="none" rotWithShape="1">
            <a:gsLst>
              <a:gs pos="100000">
                <a:srgbClr val="3368FF"/>
              </a:gs>
              <a:gs pos="18000">
                <a:srgbClr val="0042FF"/>
              </a:gs>
            </a:gsLst>
            <a:lin ang="2700000" scaled="1"/>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环节</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9" name="箭头: 五边形 5"/>
          <p:cNvSpPr/>
          <p:nvPr/>
        </p:nvSpPr>
        <p:spPr>
          <a:xfrm>
            <a:off x="1671955" y="1014095"/>
            <a:ext cx="1695450" cy="455295"/>
          </a:xfrm>
          <a:prstGeom prst="homePlate">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客户线索</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1" name="箭头: V 形 6"/>
          <p:cNvSpPr/>
          <p:nvPr/>
        </p:nvSpPr>
        <p:spPr>
          <a:xfrm>
            <a:off x="3253105" y="1014095"/>
            <a:ext cx="1765935" cy="455295"/>
          </a:xfrm>
          <a:prstGeom prst="chevron">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线下销售</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2" name="箭头: V 形 7"/>
          <p:cNvSpPr/>
          <p:nvPr/>
        </p:nvSpPr>
        <p:spPr>
          <a:xfrm>
            <a:off x="4905375" y="1014095"/>
            <a:ext cx="1765935" cy="455295"/>
          </a:xfrm>
          <a:prstGeom prst="chevron">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客户留存</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3" name="箭头: V 形 8"/>
          <p:cNvSpPr/>
          <p:nvPr/>
        </p:nvSpPr>
        <p:spPr>
          <a:xfrm>
            <a:off x="6557645" y="1014095"/>
            <a:ext cx="1765935" cy="455295"/>
          </a:xfrm>
          <a:prstGeom prst="chevron">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线上销售</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4" name="箭头: V 形 9"/>
          <p:cNvSpPr/>
          <p:nvPr/>
        </p:nvSpPr>
        <p:spPr>
          <a:xfrm>
            <a:off x="8210550" y="1014095"/>
            <a:ext cx="1765935" cy="455295"/>
          </a:xfrm>
          <a:prstGeom prst="chevron">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流失唤醒</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5" name="箭头: V 形 10"/>
          <p:cNvSpPr/>
          <p:nvPr/>
        </p:nvSpPr>
        <p:spPr>
          <a:xfrm>
            <a:off x="9862820" y="1014095"/>
            <a:ext cx="1765935" cy="455295"/>
          </a:xfrm>
          <a:prstGeom prst="chevron">
            <a:avLst/>
          </a:prstGeom>
          <a:gradFill flip="none" rotWithShape="1">
            <a:gsLst>
              <a:gs pos="0">
                <a:srgbClr val="668EFF"/>
              </a:gs>
              <a:gs pos="54000">
                <a:srgbClr val="3368FF"/>
              </a:gs>
            </a:gsLst>
            <a:lin ang="0" scaled="1"/>
            <a:tileRect/>
          </a:gradFill>
          <a:ln>
            <a:no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培育忠诚</a:t>
            </a:r>
            <a:endParaRPr lang="zh-CN" altLang="en-US" sz="1600" b="1" noProof="0">
              <a:ln>
                <a:noFill/>
              </a:ln>
              <a:solidFill>
                <a:srgbClr val="FFFFFF"/>
              </a:solidFill>
              <a:effectLst/>
              <a:uLnTx/>
              <a:uFillTx/>
              <a:latin typeface="微软雅黑"/>
              <a:ea typeface="微软雅黑"/>
              <a:cs typeface="微软雅黑"/>
              <a:sym typeface="微软雅黑"/>
            </a:endParaRPr>
          </a:p>
        </p:txBody>
      </p:sp>
      <p:sp>
        <p:nvSpPr>
          <p:cNvPr id="16" name="矩形 15"/>
          <p:cNvSpPr/>
          <p:nvPr/>
        </p:nvSpPr>
        <p:spPr>
          <a:xfrm>
            <a:off x="608965" y="1584325"/>
            <a:ext cx="879475" cy="2364105"/>
          </a:xfrm>
          <a:prstGeom prst="rect">
            <a:avLst/>
          </a:prstGeom>
          <a:gradFill flip="none" rotWithShape="1">
            <a:gsLst>
              <a:gs pos="100000">
                <a:srgbClr val="B3D4FE"/>
              </a:gs>
              <a:gs pos="18000">
                <a:srgbClr val="3368FF"/>
              </a:gs>
            </a:gsLst>
            <a:lin ang="2700000" scaled="1"/>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r>
              <a:rPr lang="zh-CN" altLang="en-US" sz="1600" b="1" noProof="0">
                <a:ln>
                  <a:noFill/>
                </a:ln>
                <a:solidFill>
                  <a:srgbClr val="383838"/>
                </a:solidFill>
                <a:effectLst/>
                <a:uLnTx/>
                <a:uFillTx/>
                <a:latin typeface="微软雅黑"/>
                <a:ea typeface="微软雅黑"/>
                <a:cs typeface="微软雅黑"/>
                <a:sym typeface="微软雅黑"/>
              </a:rPr>
              <a:t>客户</a:t>
            </a:r>
            <a:endParaRPr lang="zh-CN" altLang="en-US" sz="1600" b="1" noProof="0">
              <a:ln>
                <a:noFill/>
              </a:ln>
              <a:solidFill>
                <a:srgbClr val="383838"/>
              </a:solidFill>
              <a:effectLst/>
              <a:uLnTx/>
              <a:uFillTx/>
              <a:latin typeface="微软雅黑"/>
              <a:ea typeface="微软雅黑"/>
              <a:cs typeface="微软雅黑"/>
              <a:sym typeface="微软雅黑"/>
            </a:endParaRPr>
          </a:p>
          <a:p>
            <a:pPr lvl="0" algn="ctr">
              <a:spcBef>
                <a:spcPts val="0"/>
              </a:spcBef>
              <a:spcAft>
                <a:spcPts val="0"/>
              </a:spcAft>
              <a:buClrTx/>
              <a:buSzTx/>
              <a:buFontTx/>
              <a:defRPr>
                <a:latin typeface="微软雅黑"/>
                <a:ea typeface="微软雅黑"/>
                <a:cs typeface="微软雅黑"/>
              </a:defRPr>
            </a:pPr>
            <a:r>
              <a:rPr lang="zh-CN" altLang="en-US" sz="1600" b="1" noProof="0">
                <a:ln>
                  <a:noFill/>
                </a:ln>
                <a:solidFill>
                  <a:srgbClr val="383838"/>
                </a:solidFill>
                <a:effectLst/>
                <a:uLnTx/>
                <a:uFillTx/>
                <a:latin typeface="微软雅黑"/>
                <a:ea typeface="微软雅黑"/>
                <a:cs typeface="微软雅黑"/>
                <a:sym typeface="微软雅黑"/>
              </a:rPr>
              <a:t>旅程</a:t>
            </a:r>
            <a:endParaRPr lang="zh-CN" altLang="en-US" sz="1600" b="1" noProof="0">
              <a:ln>
                <a:noFill/>
              </a:ln>
              <a:solidFill>
                <a:srgbClr val="383838"/>
              </a:solidFill>
              <a:effectLst/>
              <a:uLnTx/>
              <a:uFillTx/>
              <a:latin typeface="微软雅黑"/>
              <a:ea typeface="微软雅黑"/>
              <a:cs typeface="微软雅黑"/>
              <a:sym typeface="微软雅黑"/>
            </a:endParaRPr>
          </a:p>
        </p:txBody>
      </p:sp>
      <p:grpSp>
        <p:nvGrpSpPr>
          <p:cNvPr id="40" name="组合 39"/>
          <p:cNvGrpSpPr/>
          <p:nvPr/>
        </p:nvGrpSpPr>
        <p:grpSpPr>
          <a:xfrm>
            <a:off x="1898650" y="1894205"/>
            <a:ext cx="1243965" cy="303530"/>
            <a:chOff x="1549696" y="1381665"/>
            <a:chExt cx="1180936" cy="288000"/>
          </a:xfrm>
        </p:grpSpPr>
        <p:sp>
          <p:nvSpPr>
            <p:cNvPr id="41" name="文本框 40"/>
            <p:cNvSpPr txBox="1"/>
            <p:nvPr/>
          </p:nvSpPr>
          <p:spPr>
            <a:xfrm>
              <a:off x="1831322" y="1408799"/>
              <a:ext cx="899310" cy="247107"/>
            </a:xfrm>
            <a:prstGeom prst="rect">
              <a:avLst/>
            </a:prstGeom>
            <a:noFill/>
          </p:spPr>
          <p:txBody>
            <a:bodyPr wrap="square" rtlCol="0">
              <a:spAutoFit/>
            </a:bodyPr>
            <a:lstStyle/>
            <a:p>
              <a:pPr>
                <a:defRPr>
                  <a:latin typeface="微软雅黑"/>
                  <a:ea typeface="微软雅黑"/>
                  <a:cs typeface="微软雅黑"/>
                </a:defRPr>
              </a:pPr>
              <a:r>
                <a:rPr lang="zh-CN" altLang="en-US" sz="1100" dirty="0">
                  <a:solidFill>
                    <a:srgbClr val="0042FF"/>
                  </a:solidFill>
                  <a:latin typeface="微软雅黑"/>
                  <a:ea typeface="微软雅黑"/>
                  <a:cs typeface="微软雅黑"/>
                </a:rPr>
                <a:t>潜在客户</a:t>
              </a:r>
              <a:endParaRPr lang="zh-CN" altLang="en-US" sz="1100" dirty="0">
                <a:solidFill>
                  <a:srgbClr val="0042FF"/>
                </a:solidFill>
                <a:latin typeface="微软雅黑"/>
                <a:ea typeface="微软雅黑"/>
                <a:cs typeface="微软雅黑"/>
              </a:endParaRPr>
            </a:p>
          </p:txBody>
        </p:sp>
        <p:grpSp>
          <p:nvGrpSpPr>
            <p:cNvPr id="42" name="组合 41"/>
            <p:cNvGrpSpPr>
              <a:grpSpLocks noChangeAspect="1"/>
            </p:cNvGrpSpPr>
            <p:nvPr/>
          </p:nvGrpSpPr>
          <p:grpSpPr>
            <a:xfrm>
              <a:off x="1549696" y="1381665"/>
              <a:ext cx="288000" cy="288000"/>
              <a:chOff x="3992220" y="1830388"/>
              <a:chExt cx="3487737" cy="3487737"/>
            </a:xfrm>
          </p:grpSpPr>
          <p:sp>
            <p:nvSpPr>
              <p:cNvPr id="45" name="椭圆 44"/>
              <p:cNvSpPr/>
              <p:nvPr/>
            </p:nvSpPr>
            <p:spPr bwMode="auto">
              <a:xfrm>
                <a:off x="3992220" y="1830388"/>
                <a:ext cx="3487737" cy="3487737"/>
              </a:xfrm>
              <a:prstGeom prst="ellipse">
                <a:avLst/>
              </a:pr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46" name="任意多边形 119"/>
              <p:cNvSpPr/>
              <p:nvPr/>
            </p:nvSpPr>
            <p:spPr bwMode="auto">
              <a:xfrm>
                <a:off x="4512223" y="4162974"/>
                <a:ext cx="2447731" cy="1155151"/>
              </a:xfrm>
              <a:custGeom>
                <a:avLst/>
                <a:gdLst>
                  <a:gd name="T0" fmla="*/ 175 w 449"/>
                  <a:gd name="T1" fmla="*/ 0 h 212"/>
                  <a:gd name="T2" fmla="*/ 19 w 449"/>
                  <a:gd name="T3" fmla="*/ 86 h 212"/>
                  <a:gd name="T4" fmla="*/ 0 w 449"/>
                  <a:gd name="T5" fmla="*/ 120 h 212"/>
                  <a:gd name="T6" fmla="*/ 225 w 449"/>
                  <a:gd name="T7" fmla="*/ 212 h 212"/>
                  <a:gd name="T8" fmla="*/ 449 w 449"/>
                  <a:gd name="T9" fmla="*/ 120 h 212"/>
                  <a:gd name="T10" fmla="*/ 430 w 449"/>
                  <a:gd name="T11" fmla="*/ 86 h 212"/>
                  <a:gd name="T12" fmla="*/ 275 w 449"/>
                  <a:gd name="T13" fmla="*/ 1 h 212"/>
                  <a:gd name="T14" fmla="*/ 175 w 449"/>
                  <a:gd name="T15" fmla="*/ 0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212">
                    <a:moveTo>
                      <a:pt x="175" y="0"/>
                    </a:moveTo>
                    <a:cubicBezTo>
                      <a:pt x="64" y="48"/>
                      <a:pt x="32" y="74"/>
                      <a:pt x="19" y="86"/>
                    </a:cubicBezTo>
                    <a:cubicBezTo>
                      <a:pt x="11" y="92"/>
                      <a:pt x="5" y="104"/>
                      <a:pt x="0" y="120"/>
                    </a:cubicBezTo>
                    <a:cubicBezTo>
                      <a:pt x="58" y="176"/>
                      <a:pt x="137" y="212"/>
                      <a:pt x="225" y="212"/>
                    </a:cubicBezTo>
                    <a:cubicBezTo>
                      <a:pt x="312" y="212"/>
                      <a:pt x="391" y="176"/>
                      <a:pt x="449" y="120"/>
                    </a:cubicBezTo>
                    <a:cubicBezTo>
                      <a:pt x="443" y="104"/>
                      <a:pt x="438" y="92"/>
                      <a:pt x="430" y="86"/>
                    </a:cubicBezTo>
                    <a:cubicBezTo>
                      <a:pt x="417" y="74"/>
                      <a:pt x="386" y="49"/>
                      <a:pt x="275" y="1"/>
                    </a:cubicBezTo>
                    <a:lnTo>
                      <a:pt x="175" y="0"/>
                    </a:ln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7" name="任意多边形 120"/>
              <p:cNvSpPr/>
              <p:nvPr/>
            </p:nvSpPr>
            <p:spPr bwMode="auto">
              <a:xfrm>
                <a:off x="4512223" y="4162974"/>
                <a:ext cx="2447731" cy="1155151"/>
              </a:xfrm>
              <a:custGeom>
                <a:avLst/>
                <a:gdLst>
                  <a:gd name="T0" fmla="*/ 175 w 449"/>
                  <a:gd name="T1" fmla="*/ 0 h 212"/>
                  <a:gd name="T2" fmla="*/ 19 w 449"/>
                  <a:gd name="T3" fmla="*/ 86 h 212"/>
                  <a:gd name="T4" fmla="*/ 0 w 449"/>
                  <a:gd name="T5" fmla="*/ 120 h 212"/>
                  <a:gd name="T6" fmla="*/ 225 w 449"/>
                  <a:gd name="T7" fmla="*/ 212 h 212"/>
                  <a:gd name="T8" fmla="*/ 449 w 449"/>
                  <a:gd name="T9" fmla="*/ 120 h 212"/>
                  <a:gd name="T10" fmla="*/ 430 w 449"/>
                  <a:gd name="T11" fmla="*/ 86 h 212"/>
                  <a:gd name="T12" fmla="*/ 275 w 449"/>
                  <a:gd name="T13" fmla="*/ 1 h 212"/>
                  <a:gd name="T14" fmla="*/ 175 w 449"/>
                  <a:gd name="T15" fmla="*/ 0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212">
                    <a:moveTo>
                      <a:pt x="175" y="0"/>
                    </a:moveTo>
                    <a:cubicBezTo>
                      <a:pt x="64" y="48"/>
                      <a:pt x="32" y="74"/>
                      <a:pt x="19" y="86"/>
                    </a:cubicBezTo>
                    <a:cubicBezTo>
                      <a:pt x="11" y="92"/>
                      <a:pt x="5" y="104"/>
                      <a:pt x="0" y="120"/>
                    </a:cubicBezTo>
                    <a:cubicBezTo>
                      <a:pt x="58" y="176"/>
                      <a:pt x="137" y="212"/>
                      <a:pt x="225" y="212"/>
                    </a:cubicBezTo>
                    <a:cubicBezTo>
                      <a:pt x="312" y="212"/>
                      <a:pt x="391" y="176"/>
                      <a:pt x="449" y="120"/>
                    </a:cubicBezTo>
                    <a:cubicBezTo>
                      <a:pt x="443" y="104"/>
                      <a:pt x="438" y="92"/>
                      <a:pt x="430" y="86"/>
                    </a:cubicBezTo>
                    <a:cubicBezTo>
                      <a:pt x="417" y="74"/>
                      <a:pt x="386" y="49"/>
                      <a:pt x="275" y="1"/>
                    </a:cubicBezTo>
                    <a:lnTo>
                      <a:pt x="175" y="0"/>
                    </a:lnTo>
                    <a:close/>
                  </a:path>
                </a:pathLst>
              </a:custGeom>
              <a:solidFill>
                <a:srgbClr val="383838"/>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8" name="任意多边形 121"/>
              <p:cNvSpPr/>
              <p:nvPr/>
            </p:nvSpPr>
            <p:spPr bwMode="auto">
              <a:xfrm>
                <a:off x="5411086" y="3795258"/>
                <a:ext cx="650005" cy="702006"/>
              </a:xfrm>
              <a:custGeom>
                <a:avLst/>
                <a:gdLst>
                  <a:gd name="T0" fmla="*/ 119 w 119"/>
                  <a:gd name="T1" fmla="*/ 0 h 128"/>
                  <a:gd name="T2" fmla="*/ 0 w 119"/>
                  <a:gd name="T3" fmla="*/ 0 h 128"/>
                  <a:gd name="T4" fmla="*/ 2 w 119"/>
                  <a:gd name="T5" fmla="*/ 102 h 128"/>
                  <a:gd name="T6" fmla="*/ 60 w 119"/>
                  <a:gd name="T7" fmla="*/ 128 h 128"/>
                  <a:gd name="T8" fmla="*/ 117 w 119"/>
                  <a:gd name="T9" fmla="*/ 102 h 128"/>
                  <a:gd name="T10" fmla="*/ 119 w 119"/>
                  <a:gd name="T11" fmla="*/ 0 h 128"/>
                </a:gdLst>
                <a:ahLst/>
                <a:cxnLst>
                  <a:cxn ang="0">
                    <a:pos x="T0" y="T1"/>
                  </a:cxn>
                  <a:cxn ang="0">
                    <a:pos x="T2" y="T3"/>
                  </a:cxn>
                  <a:cxn ang="0">
                    <a:pos x="T4" y="T5"/>
                  </a:cxn>
                  <a:cxn ang="0">
                    <a:pos x="T6" y="T7"/>
                  </a:cxn>
                  <a:cxn ang="0">
                    <a:pos x="T8" y="T9"/>
                  </a:cxn>
                  <a:cxn ang="0">
                    <a:pos x="T10" y="T11"/>
                  </a:cxn>
                </a:cxnLst>
                <a:rect l="0" t="0" r="r" b="b"/>
                <a:pathLst>
                  <a:path w="119" h="128">
                    <a:moveTo>
                      <a:pt x="119" y="0"/>
                    </a:moveTo>
                    <a:cubicBezTo>
                      <a:pt x="0" y="0"/>
                      <a:pt x="0" y="0"/>
                      <a:pt x="0" y="0"/>
                    </a:cubicBezTo>
                    <a:cubicBezTo>
                      <a:pt x="19" y="71"/>
                      <a:pt x="2" y="102"/>
                      <a:pt x="2" y="102"/>
                    </a:cubicBezTo>
                    <a:cubicBezTo>
                      <a:pt x="2" y="102"/>
                      <a:pt x="28" y="128"/>
                      <a:pt x="60" y="128"/>
                    </a:cubicBezTo>
                    <a:cubicBezTo>
                      <a:pt x="91" y="128"/>
                      <a:pt x="117" y="102"/>
                      <a:pt x="117" y="102"/>
                    </a:cubicBezTo>
                    <a:cubicBezTo>
                      <a:pt x="117" y="102"/>
                      <a:pt x="100" y="71"/>
                      <a:pt x="119" y="0"/>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9" name="任意多边形 122"/>
              <p:cNvSpPr/>
              <p:nvPr/>
            </p:nvSpPr>
            <p:spPr bwMode="auto">
              <a:xfrm>
                <a:off x="5028513" y="2580678"/>
                <a:ext cx="1415153" cy="1574867"/>
              </a:xfrm>
              <a:custGeom>
                <a:avLst/>
                <a:gdLst>
                  <a:gd name="T0" fmla="*/ 26 w 259"/>
                  <a:gd name="T1" fmla="*/ 119 h 289"/>
                  <a:gd name="T2" fmla="*/ 41 w 259"/>
                  <a:gd name="T3" fmla="*/ 180 h 289"/>
                  <a:gd name="T4" fmla="*/ 51 w 259"/>
                  <a:gd name="T5" fmla="*/ 210 h 289"/>
                  <a:gd name="T6" fmla="*/ 101 w 259"/>
                  <a:gd name="T7" fmla="*/ 281 h 289"/>
                  <a:gd name="T8" fmla="*/ 157 w 259"/>
                  <a:gd name="T9" fmla="*/ 282 h 289"/>
                  <a:gd name="T10" fmla="*/ 208 w 259"/>
                  <a:gd name="T11" fmla="*/ 210 h 289"/>
                  <a:gd name="T12" fmla="*/ 218 w 259"/>
                  <a:gd name="T13" fmla="*/ 180 h 289"/>
                  <a:gd name="T14" fmla="*/ 233 w 259"/>
                  <a:gd name="T15" fmla="*/ 119 h 289"/>
                  <a:gd name="T16" fmla="*/ 130 w 259"/>
                  <a:gd name="T17" fmla="*/ 0 h 289"/>
                  <a:gd name="T18" fmla="*/ 26 w 259"/>
                  <a:gd name="T19" fmla="*/ 11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89">
                    <a:moveTo>
                      <a:pt x="26" y="119"/>
                    </a:moveTo>
                    <a:cubicBezTo>
                      <a:pt x="0" y="114"/>
                      <a:pt x="22" y="192"/>
                      <a:pt x="41" y="180"/>
                    </a:cubicBezTo>
                    <a:cubicBezTo>
                      <a:pt x="51" y="210"/>
                      <a:pt x="51" y="210"/>
                      <a:pt x="51" y="210"/>
                    </a:cubicBezTo>
                    <a:cubicBezTo>
                      <a:pt x="61" y="238"/>
                      <a:pt x="84" y="262"/>
                      <a:pt x="101" y="281"/>
                    </a:cubicBezTo>
                    <a:cubicBezTo>
                      <a:pt x="108" y="289"/>
                      <a:pt x="150" y="289"/>
                      <a:pt x="157" y="282"/>
                    </a:cubicBezTo>
                    <a:cubicBezTo>
                      <a:pt x="177" y="261"/>
                      <a:pt x="200" y="238"/>
                      <a:pt x="208" y="210"/>
                    </a:cubicBezTo>
                    <a:cubicBezTo>
                      <a:pt x="218" y="180"/>
                      <a:pt x="218" y="180"/>
                      <a:pt x="218" y="180"/>
                    </a:cubicBezTo>
                    <a:cubicBezTo>
                      <a:pt x="237" y="192"/>
                      <a:pt x="259" y="114"/>
                      <a:pt x="233" y="119"/>
                    </a:cubicBezTo>
                    <a:cubicBezTo>
                      <a:pt x="235" y="59"/>
                      <a:pt x="192" y="0"/>
                      <a:pt x="130" y="0"/>
                    </a:cubicBezTo>
                    <a:cubicBezTo>
                      <a:pt x="67" y="0"/>
                      <a:pt x="24" y="59"/>
                      <a:pt x="26" y="119"/>
                    </a:cubicBez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0" name="矩形 49"/>
              <p:cNvSpPr/>
              <p:nvPr/>
            </p:nvSpPr>
            <p:spPr bwMode="auto">
              <a:xfrm>
                <a:off x="6157663" y="3884402"/>
                <a:ext cx="3715" cy="3715"/>
              </a:xfrm>
              <a:prstGeom prst="rect">
                <a:avLst/>
              </a:prstGeom>
              <a:solidFill>
                <a:srgbClr val="FFFFFF"/>
              </a:solidFill>
              <a:ln>
                <a:noFill/>
              </a:ln>
              <a:extLs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1" name="任意多边形 124"/>
              <p:cNvSpPr/>
              <p:nvPr/>
            </p:nvSpPr>
            <p:spPr bwMode="auto">
              <a:xfrm>
                <a:off x="6072233" y="387325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2" name="任意多边形 125"/>
              <p:cNvSpPr/>
              <p:nvPr/>
            </p:nvSpPr>
            <p:spPr bwMode="auto">
              <a:xfrm>
                <a:off x="5329371" y="4452690"/>
                <a:ext cx="768863" cy="865435"/>
              </a:xfrm>
              <a:custGeom>
                <a:avLst/>
                <a:gdLst>
                  <a:gd name="T0" fmla="*/ 75 w 141"/>
                  <a:gd name="T1" fmla="*/ 0 h 159"/>
                  <a:gd name="T2" fmla="*/ 0 w 141"/>
                  <a:gd name="T3" fmla="*/ 22 h 159"/>
                  <a:gd name="T4" fmla="*/ 25 w 141"/>
                  <a:gd name="T5" fmla="*/ 155 h 159"/>
                  <a:gd name="T6" fmla="*/ 75 w 141"/>
                  <a:gd name="T7" fmla="*/ 159 h 159"/>
                  <a:gd name="T8" fmla="*/ 131 w 141"/>
                  <a:gd name="T9" fmla="*/ 154 h 159"/>
                  <a:gd name="T10" fmla="*/ 141 w 141"/>
                  <a:gd name="T11" fmla="*/ 22 h 159"/>
                  <a:gd name="T12" fmla="*/ 75 w 141"/>
                  <a:gd name="T13" fmla="*/ 0 h 159"/>
                </a:gdLst>
                <a:ahLst/>
                <a:cxnLst>
                  <a:cxn ang="0">
                    <a:pos x="T0" y="T1"/>
                  </a:cxn>
                  <a:cxn ang="0">
                    <a:pos x="T2" y="T3"/>
                  </a:cxn>
                  <a:cxn ang="0">
                    <a:pos x="T4" y="T5"/>
                  </a:cxn>
                  <a:cxn ang="0">
                    <a:pos x="T6" y="T7"/>
                  </a:cxn>
                  <a:cxn ang="0">
                    <a:pos x="T8" y="T9"/>
                  </a:cxn>
                  <a:cxn ang="0">
                    <a:pos x="T10" y="T11"/>
                  </a:cxn>
                  <a:cxn ang="0">
                    <a:pos x="T12" y="T13"/>
                  </a:cxn>
                </a:cxnLst>
                <a:rect l="0" t="0" r="r" b="b"/>
                <a:pathLst>
                  <a:path w="141" h="159">
                    <a:moveTo>
                      <a:pt x="75" y="0"/>
                    </a:moveTo>
                    <a:cubicBezTo>
                      <a:pt x="75" y="0"/>
                      <a:pt x="0" y="17"/>
                      <a:pt x="0" y="22"/>
                    </a:cubicBezTo>
                    <a:cubicBezTo>
                      <a:pt x="0" y="25"/>
                      <a:pt x="18" y="115"/>
                      <a:pt x="25" y="155"/>
                    </a:cubicBezTo>
                    <a:cubicBezTo>
                      <a:pt x="41" y="157"/>
                      <a:pt x="58" y="159"/>
                      <a:pt x="75" y="159"/>
                    </a:cubicBezTo>
                    <a:cubicBezTo>
                      <a:pt x="94" y="159"/>
                      <a:pt x="113" y="157"/>
                      <a:pt x="131" y="154"/>
                    </a:cubicBezTo>
                    <a:cubicBezTo>
                      <a:pt x="141" y="22"/>
                      <a:pt x="141" y="22"/>
                      <a:pt x="141" y="22"/>
                    </a:cubicBezTo>
                    <a:lnTo>
                      <a:pt x="75" y="0"/>
                    </a:lnTo>
                    <a:close/>
                  </a:path>
                </a:pathLst>
              </a:custGeom>
              <a:solidFill>
                <a:srgbClr val="E6E6E6"/>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3" name="任意多边形 126"/>
              <p:cNvSpPr/>
              <p:nvPr/>
            </p:nvSpPr>
            <p:spPr bwMode="auto">
              <a:xfrm>
                <a:off x="5061941" y="4174118"/>
                <a:ext cx="501433" cy="1132865"/>
              </a:xfrm>
              <a:custGeom>
                <a:avLst/>
                <a:gdLst>
                  <a:gd name="T0" fmla="*/ 70 w 92"/>
                  <a:gd name="T1" fmla="*/ 0 h 208"/>
                  <a:gd name="T2" fmla="*/ 70 w 92"/>
                  <a:gd name="T3" fmla="*/ 24 h 208"/>
                  <a:gd name="T4" fmla="*/ 92 w 92"/>
                  <a:gd name="T5" fmla="*/ 208 h 208"/>
                  <a:gd name="T6" fmla="*/ 41 w 92"/>
                  <a:gd name="T7" fmla="*/ 199 h 208"/>
                  <a:gd name="T8" fmla="*/ 9 w 92"/>
                  <a:gd name="T9" fmla="*/ 135 h 208"/>
                  <a:gd name="T10" fmla="*/ 51 w 92"/>
                  <a:gd name="T11" fmla="*/ 107 h 208"/>
                  <a:gd name="T12" fmla="*/ 0 w 92"/>
                  <a:gd name="T13" fmla="*/ 83 h 208"/>
                  <a:gd name="T14" fmla="*/ 47 w 92"/>
                  <a:gd name="T15" fmla="*/ 10 h 208"/>
                  <a:gd name="T16" fmla="*/ 70 w 92"/>
                  <a:gd name="T1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208">
                    <a:moveTo>
                      <a:pt x="70" y="0"/>
                    </a:moveTo>
                    <a:cubicBezTo>
                      <a:pt x="70" y="24"/>
                      <a:pt x="70" y="24"/>
                      <a:pt x="70" y="24"/>
                    </a:cubicBezTo>
                    <a:cubicBezTo>
                      <a:pt x="92" y="208"/>
                      <a:pt x="92" y="208"/>
                      <a:pt x="92" y="208"/>
                    </a:cubicBezTo>
                    <a:cubicBezTo>
                      <a:pt x="74" y="206"/>
                      <a:pt x="57" y="203"/>
                      <a:pt x="41" y="199"/>
                    </a:cubicBezTo>
                    <a:cubicBezTo>
                      <a:pt x="9" y="135"/>
                      <a:pt x="9" y="135"/>
                      <a:pt x="9" y="135"/>
                    </a:cubicBezTo>
                    <a:cubicBezTo>
                      <a:pt x="51" y="107"/>
                      <a:pt x="51" y="107"/>
                      <a:pt x="51" y="107"/>
                    </a:cubicBezTo>
                    <a:cubicBezTo>
                      <a:pt x="0" y="83"/>
                      <a:pt x="0" y="83"/>
                      <a:pt x="0" y="83"/>
                    </a:cubicBezTo>
                    <a:cubicBezTo>
                      <a:pt x="47" y="10"/>
                      <a:pt x="47" y="10"/>
                      <a:pt x="47" y="10"/>
                    </a:cubicBezTo>
                    <a:lnTo>
                      <a:pt x="70" y="0"/>
                    </a:lnTo>
                    <a:close/>
                  </a:path>
                </a:pathLst>
              </a:custGeom>
              <a:solidFill>
                <a:srgbClr val="383838"/>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4" name="任意多边形 127"/>
              <p:cNvSpPr/>
              <p:nvPr/>
            </p:nvSpPr>
            <p:spPr bwMode="auto">
              <a:xfrm>
                <a:off x="5908803" y="4174118"/>
                <a:ext cx="501433" cy="1132865"/>
              </a:xfrm>
              <a:custGeom>
                <a:avLst/>
                <a:gdLst>
                  <a:gd name="T0" fmla="*/ 22 w 92"/>
                  <a:gd name="T1" fmla="*/ 0 h 208"/>
                  <a:gd name="T2" fmla="*/ 22 w 92"/>
                  <a:gd name="T3" fmla="*/ 24 h 208"/>
                  <a:gd name="T4" fmla="*/ 0 w 92"/>
                  <a:gd name="T5" fmla="*/ 208 h 208"/>
                  <a:gd name="T6" fmla="*/ 51 w 92"/>
                  <a:gd name="T7" fmla="*/ 199 h 208"/>
                  <a:gd name="T8" fmla="*/ 83 w 92"/>
                  <a:gd name="T9" fmla="*/ 135 h 208"/>
                  <a:gd name="T10" fmla="*/ 40 w 92"/>
                  <a:gd name="T11" fmla="*/ 107 h 208"/>
                  <a:gd name="T12" fmla="*/ 92 w 92"/>
                  <a:gd name="T13" fmla="*/ 83 h 208"/>
                  <a:gd name="T14" fmla="*/ 50 w 92"/>
                  <a:gd name="T15" fmla="*/ 12 h 208"/>
                  <a:gd name="T16" fmla="*/ 22 w 92"/>
                  <a:gd name="T1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208">
                    <a:moveTo>
                      <a:pt x="22" y="0"/>
                    </a:moveTo>
                    <a:cubicBezTo>
                      <a:pt x="22" y="24"/>
                      <a:pt x="22" y="24"/>
                      <a:pt x="22" y="24"/>
                    </a:cubicBezTo>
                    <a:cubicBezTo>
                      <a:pt x="0" y="208"/>
                      <a:pt x="0" y="208"/>
                      <a:pt x="0" y="208"/>
                    </a:cubicBezTo>
                    <a:cubicBezTo>
                      <a:pt x="18" y="207"/>
                      <a:pt x="34" y="203"/>
                      <a:pt x="51" y="199"/>
                    </a:cubicBezTo>
                    <a:cubicBezTo>
                      <a:pt x="83" y="135"/>
                      <a:pt x="83" y="135"/>
                      <a:pt x="83" y="135"/>
                    </a:cubicBezTo>
                    <a:cubicBezTo>
                      <a:pt x="40" y="107"/>
                      <a:pt x="40" y="107"/>
                      <a:pt x="40" y="107"/>
                    </a:cubicBezTo>
                    <a:cubicBezTo>
                      <a:pt x="92" y="83"/>
                      <a:pt x="92" y="83"/>
                      <a:pt x="92" y="83"/>
                    </a:cubicBezTo>
                    <a:cubicBezTo>
                      <a:pt x="50" y="12"/>
                      <a:pt x="50" y="12"/>
                      <a:pt x="50" y="12"/>
                    </a:cubicBezTo>
                    <a:lnTo>
                      <a:pt x="22" y="0"/>
                    </a:lnTo>
                    <a:close/>
                  </a:path>
                </a:pathLst>
              </a:custGeom>
              <a:solidFill>
                <a:srgbClr val="383838"/>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5" name="任意多边形 128"/>
              <p:cNvSpPr/>
              <p:nvPr/>
            </p:nvSpPr>
            <p:spPr bwMode="auto">
              <a:xfrm>
                <a:off x="5607945" y="4452690"/>
                <a:ext cx="248860" cy="237716"/>
              </a:xfrm>
              <a:custGeom>
                <a:avLst/>
                <a:gdLst>
                  <a:gd name="T0" fmla="*/ 0 w 46"/>
                  <a:gd name="T1" fmla="*/ 24 h 44"/>
                  <a:gd name="T2" fmla="*/ 14 w 46"/>
                  <a:gd name="T3" fmla="*/ 44 h 44"/>
                  <a:gd name="T4" fmla="*/ 33 w 46"/>
                  <a:gd name="T5" fmla="*/ 44 h 44"/>
                  <a:gd name="T6" fmla="*/ 46 w 46"/>
                  <a:gd name="T7" fmla="*/ 24 h 44"/>
                  <a:gd name="T8" fmla="*/ 24 w 46"/>
                  <a:gd name="T9" fmla="*/ 0 h 44"/>
                  <a:gd name="T10" fmla="*/ 0 w 46"/>
                  <a:gd name="T11" fmla="*/ 24 h 44"/>
                </a:gdLst>
                <a:ahLst/>
                <a:cxnLst>
                  <a:cxn ang="0">
                    <a:pos x="T0" y="T1"/>
                  </a:cxn>
                  <a:cxn ang="0">
                    <a:pos x="T2" y="T3"/>
                  </a:cxn>
                  <a:cxn ang="0">
                    <a:pos x="T4" y="T5"/>
                  </a:cxn>
                  <a:cxn ang="0">
                    <a:pos x="T6" y="T7"/>
                  </a:cxn>
                  <a:cxn ang="0">
                    <a:pos x="T8" y="T9"/>
                  </a:cxn>
                  <a:cxn ang="0">
                    <a:pos x="T10" y="T11"/>
                  </a:cxn>
                </a:cxnLst>
                <a:rect l="0" t="0" r="r" b="b"/>
                <a:pathLst>
                  <a:path w="46" h="44">
                    <a:moveTo>
                      <a:pt x="0" y="24"/>
                    </a:moveTo>
                    <a:cubicBezTo>
                      <a:pt x="14" y="44"/>
                      <a:pt x="14" y="44"/>
                      <a:pt x="14" y="44"/>
                    </a:cubicBezTo>
                    <a:cubicBezTo>
                      <a:pt x="20" y="44"/>
                      <a:pt x="27" y="44"/>
                      <a:pt x="33" y="44"/>
                    </a:cubicBezTo>
                    <a:cubicBezTo>
                      <a:pt x="46" y="24"/>
                      <a:pt x="46" y="24"/>
                      <a:pt x="46" y="24"/>
                    </a:cubicBezTo>
                    <a:cubicBezTo>
                      <a:pt x="24" y="0"/>
                      <a:pt x="24" y="0"/>
                      <a:pt x="24" y="0"/>
                    </a:cubicBezTo>
                    <a:lnTo>
                      <a:pt x="0" y="24"/>
                    </a:lnTo>
                    <a:close/>
                  </a:path>
                </a:pathLst>
              </a:custGeom>
              <a:solidFill>
                <a:srgbClr val="668E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6" name="任意多边形 129"/>
              <p:cNvSpPr/>
              <p:nvPr/>
            </p:nvSpPr>
            <p:spPr bwMode="auto">
              <a:xfrm>
                <a:off x="5589373" y="4690406"/>
                <a:ext cx="289716" cy="627719"/>
              </a:xfrm>
              <a:custGeom>
                <a:avLst/>
                <a:gdLst>
                  <a:gd name="T0" fmla="*/ 17 w 53"/>
                  <a:gd name="T1" fmla="*/ 0 h 115"/>
                  <a:gd name="T2" fmla="*/ 0 w 53"/>
                  <a:gd name="T3" fmla="*/ 113 h 115"/>
                  <a:gd name="T4" fmla="*/ 27 w 53"/>
                  <a:gd name="T5" fmla="*/ 115 h 115"/>
                  <a:gd name="T6" fmla="*/ 53 w 53"/>
                  <a:gd name="T7" fmla="*/ 113 h 115"/>
                  <a:gd name="T8" fmla="*/ 36 w 53"/>
                  <a:gd name="T9" fmla="*/ 0 h 115"/>
                  <a:gd name="T10" fmla="*/ 17 w 53"/>
                  <a:gd name="T11" fmla="*/ 0 h 115"/>
                </a:gdLst>
                <a:ahLst/>
                <a:cxnLst>
                  <a:cxn ang="0">
                    <a:pos x="T0" y="T1"/>
                  </a:cxn>
                  <a:cxn ang="0">
                    <a:pos x="T2" y="T3"/>
                  </a:cxn>
                  <a:cxn ang="0">
                    <a:pos x="T4" y="T5"/>
                  </a:cxn>
                  <a:cxn ang="0">
                    <a:pos x="T6" y="T7"/>
                  </a:cxn>
                  <a:cxn ang="0">
                    <a:pos x="T8" y="T9"/>
                  </a:cxn>
                  <a:cxn ang="0">
                    <a:pos x="T10" y="T11"/>
                  </a:cxn>
                </a:cxnLst>
                <a:rect l="0" t="0" r="r" b="b"/>
                <a:pathLst>
                  <a:path w="53" h="115">
                    <a:moveTo>
                      <a:pt x="17" y="0"/>
                    </a:moveTo>
                    <a:cubicBezTo>
                      <a:pt x="0" y="113"/>
                      <a:pt x="0" y="113"/>
                      <a:pt x="0" y="113"/>
                    </a:cubicBezTo>
                    <a:cubicBezTo>
                      <a:pt x="9" y="114"/>
                      <a:pt x="18" y="115"/>
                      <a:pt x="27" y="115"/>
                    </a:cubicBezTo>
                    <a:cubicBezTo>
                      <a:pt x="35" y="115"/>
                      <a:pt x="44" y="114"/>
                      <a:pt x="53" y="113"/>
                    </a:cubicBezTo>
                    <a:cubicBezTo>
                      <a:pt x="36" y="0"/>
                      <a:pt x="36" y="0"/>
                      <a:pt x="36" y="0"/>
                    </a:cubicBezTo>
                    <a:lnTo>
                      <a:pt x="17" y="0"/>
                    </a:lnTo>
                    <a:close/>
                  </a:path>
                </a:pathLst>
              </a:custGeom>
              <a:solidFill>
                <a:srgbClr val="668E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7" name="任意多边形 130"/>
              <p:cNvSpPr/>
              <p:nvPr/>
            </p:nvSpPr>
            <p:spPr bwMode="auto">
              <a:xfrm>
                <a:off x="5414801" y="4103545"/>
                <a:ext cx="323146" cy="594289"/>
              </a:xfrm>
              <a:custGeom>
                <a:avLst/>
                <a:gdLst>
                  <a:gd name="T0" fmla="*/ 12 w 87"/>
                  <a:gd name="T1" fmla="*/ 0 h 160"/>
                  <a:gd name="T2" fmla="*/ 0 w 87"/>
                  <a:gd name="T3" fmla="*/ 22 h 160"/>
                  <a:gd name="T4" fmla="*/ 19 w 87"/>
                  <a:gd name="T5" fmla="*/ 160 h 160"/>
                  <a:gd name="T6" fmla="*/ 87 w 87"/>
                  <a:gd name="T7" fmla="*/ 94 h 160"/>
                  <a:gd name="T8" fmla="*/ 12 w 87"/>
                  <a:gd name="T9" fmla="*/ 0 h 160"/>
                </a:gdLst>
                <a:ahLst/>
                <a:cxnLst>
                  <a:cxn ang="0">
                    <a:pos x="T0" y="T1"/>
                  </a:cxn>
                  <a:cxn ang="0">
                    <a:pos x="T2" y="T3"/>
                  </a:cxn>
                  <a:cxn ang="0">
                    <a:pos x="T4" y="T5"/>
                  </a:cxn>
                  <a:cxn ang="0">
                    <a:pos x="T6" y="T7"/>
                  </a:cxn>
                  <a:cxn ang="0">
                    <a:pos x="T8" y="T9"/>
                  </a:cxn>
                </a:cxnLst>
                <a:rect l="0" t="0" r="r" b="b"/>
                <a:pathLst>
                  <a:path w="87" h="160">
                    <a:moveTo>
                      <a:pt x="12" y="0"/>
                    </a:moveTo>
                    <a:lnTo>
                      <a:pt x="0" y="22"/>
                    </a:lnTo>
                    <a:lnTo>
                      <a:pt x="19" y="160"/>
                    </a:lnTo>
                    <a:lnTo>
                      <a:pt x="87" y="94"/>
                    </a:lnTo>
                    <a:lnTo>
                      <a:pt x="12"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8" name="任意多边形 131"/>
              <p:cNvSpPr/>
              <p:nvPr/>
            </p:nvSpPr>
            <p:spPr bwMode="auto">
              <a:xfrm>
                <a:off x="5737945" y="4103545"/>
                <a:ext cx="312002" cy="598005"/>
              </a:xfrm>
              <a:custGeom>
                <a:avLst/>
                <a:gdLst>
                  <a:gd name="T0" fmla="*/ 74 w 84"/>
                  <a:gd name="T1" fmla="*/ 0 h 161"/>
                  <a:gd name="T2" fmla="*/ 84 w 84"/>
                  <a:gd name="T3" fmla="*/ 22 h 161"/>
                  <a:gd name="T4" fmla="*/ 65 w 84"/>
                  <a:gd name="T5" fmla="*/ 161 h 161"/>
                  <a:gd name="T6" fmla="*/ 0 w 84"/>
                  <a:gd name="T7" fmla="*/ 94 h 161"/>
                  <a:gd name="T8" fmla="*/ 74 w 84"/>
                  <a:gd name="T9" fmla="*/ 0 h 161"/>
                </a:gdLst>
                <a:ahLst/>
                <a:cxnLst>
                  <a:cxn ang="0">
                    <a:pos x="T0" y="T1"/>
                  </a:cxn>
                  <a:cxn ang="0">
                    <a:pos x="T2" y="T3"/>
                  </a:cxn>
                  <a:cxn ang="0">
                    <a:pos x="T4" y="T5"/>
                  </a:cxn>
                  <a:cxn ang="0">
                    <a:pos x="T6" y="T7"/>
                  </a:cxn>
                  <a:cxn ang="0">
                    <a:pos x="T8" y="T9"/>
                  </a:cxn>
                </a:cxnLst>
                <a:rect l="0" t="0" r="r" b="b"/>
                <a:pathLst>
                  <a:path w="84" h="161">
                    <a:moveTo>
                      <a:pt x="74" y="0"/>
                    </a:moveTo>
                    <a:lnTo>
                      <a:pt x="84" y="22"/>
                    </a:lnTo>
                    <a:lnTo>
                      <a:pt x="65" y="161"/>
                    </a:lnTo>
                    <a:lnTo>
                      <a:pt x="0" y="94"/>
                    </a:lnTo>
                    <a:lnTo>
                      <a:pt x="74"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59" name="任意多边形 132"/>
              <p:cNvSpPr/>
              <p:nvPr/>
            </p:nvSpPr>
            <p:spPr bwMode="auto">
              <a:xfrm>
                <a:off x="5678516" y="4690406"/>
                <a:ext cx="115145" cy="7429"/>
              </a:xfrm>
              <a:custGeom>
                <a:avLst/>
                <a:gdLst>
                  <a:gd name="T0" fmla="*/ 31 w 31"/>
                  <a:gd name="T1" fmla="*/ 2 h 2"/>
                  <a:gd name="T2" fmla="*/ 31 w 31"/>
                  <a:gd name="T3" fmla="*/ 2 h 2"/>
                  <a:gd name="T4" fmla="*/ 29 w 31"/>
                  <a:gd name="T5" fmla="*/ 0 h 2"/>
                  <a:gd name="T6" fmla="*/ 31 w 31"/>
                  <a:gd name="T7" fmla="*/ 2 h 2"/>
                  <a:gd name="T8" fmla="*/ 0 w 31"/>
                  <a:gd name="T9" fmla="*/ 2 h 2"/>
                  <a:gd name="T10" fmla="*/ 0 w 31"/>
                  <a:gd name="T11" fmla="*/ 2 h 2"/>
                  <a:gd name="T12" fmla="*/ 1 w 31"/>
                  <a:gd name="T13" fmla="*/ 0 h 2"/>
                  <a:gd name="T14" fmla="*/ 0 w 3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
                    <a:moveTo>
                      <a:pt x="31" y="2"/>
                    </a:moveTo>
                    <a:lnTo>
                      <a:pt x="31" y="2"/>
                    </a:lnTo>
                    <a:lnTo>
                      <a:pt x="29" y="0"/>
                    </a:lnTo>
                    <a:lnTo>
                      <a:pt x="31" y="2"/>
                    </a:lnTo>
                    <a:close/>
                    <a:moveTo>
                      <a:pt x="0" y="2"/>
                    </a:moveTo>
                    <a:lnTo>
                      <a:pt x="0" y="2"/>
                    </a:lnTo>
                    <a:lnTo>
                      <a:pt x="1" y="0"/>
                    </a:lnTo>
                    <a:lnTo>
                      <a:pt x="0" y="2"/>
                    </a:lnTo>
                    <a:close/>
                  </a:path>
                </a:pathLst>
              </a:custGeom>
              <a:solidFill>
                <a:srgbClr val="668E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1" name="任意多边形 133"/>
              <p:cNvSpPr/>
              <p:nvPr/>
            </p:nvSpPr>
            <p:spPr bwMode="auto">
              <a:xfrm>
                <a:off x="5678516" y="4690406"/>
                <a:ext cx="115145" cy="7429"/>
              </a:xfrm>
              <a:custGeom>
                <a:avLst/>
                <a:gdLst>
                  <a:gd name="T0" fmla="*/ 31 w 31"/>
                  <a:gd name="T1" fmla="*/ 2 h 2"/>
                  <a:gd name="T2" fmla="*/ 0 w 31"/>
                  <a:gd name="T3" fmla="*/ 2 h 2"/>
                  <a:gd name="T4" fmla="*/ 1 w 31"/>
                  <a:gd name="T5" fmla="*/ 0 h 2"/>
                  <a:gd name="T6" fmla="*/ 29 w 31"/>
                  <a:gd name="T7" fmla="*/ 0 h 2"/>
                  <a:gd name="T8" fmla="*/ 31 w 31"/>
                  <a:gd name="T9" fmla="*/ 2 h 2"/>
                </a:gdLst>
                <a:ahLst/>
                <a:cxnLst>
                  <a:cxn ang="0">
                    <a:pos x="T0" y="T1"/>
                  </a:cxn>
                  <a:cxn ang="0">
                    <a:pos x="T2" y="T3"/>
                  </a:cxn>
                  <a:cxn ang="0">
                    <a:pos x="T4" y="T5"/>
                  </a:cxn>
                  <a:cxn ang="0">
                    <a:pos x="T6" y="T7"/>
                  </a:cxn>
                  <a:cxn ang="0">
                    <a:pos x="T8" y="T9"/>
                  </a:cxn>
                </a:cxnLst>
                <a:rect l="0" t="0" r="r" b="b"/>
                <a:pathLst>
                  <a:path w="31" h="2">
                    <a:moveTo>
                      <a:pt x="31" y="2"/>
                    </a:moveTo>
                    <a:lnTo>
                      <a:pt x="0" y="2"/>
                    </a:lnTo>
                    <a:lnTo>
                      <a:pt x="1" y="0"/>
                    </a:lnTo>
                    <a:lnTo>
                      <a:pt x="29" y="0"/>
                    </a:lnTo>
                    <a:lnTo>
                      <a:pt x="31" y="2"/>
                    </a:lnTo>
                    <a:close/>
                  </a:path>
                </a:pathLst>
              </a:cu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2" name="任意多边形 134"/>
              <p:cNvSpPr/>
              <p:nvPr/>
            </p:nvSpPr>
            <p:spPr bwMode="auto">
              <a:xfrm>
                <a:off x="5054512" y="2376393"/>
                <a:ext cx="1333438" cy="1196007"/>
              </a:xfrm>
              <a:custGeom>
                <a:avLst/>
                <a:gdLst>
                  <a:gd name="T0" fmla="*/ 37 w 244"/>
                  <a:gd name="T1" fmla="*/ 219 h 219"/>
                  <a:gd name="T2" fmla="*/ 19 w 244"/>
                  <a:gd name="T3" fmla="*/ 113 h 219"/>
                  <a:gd name="T4" fmla="*/ 26 w 244"/>
                  <a:gd name="T5" fmla="*/ 64 h 219"/>
                  <a:gd name="T6" fmla="*/ 71 w 244"/>
                  <a:gd name="T7" fmla="*/ 46 h 219"/>
                  <a:gd name="T8" fmla="*/ 183 w 244"/>
                  <a:gd name="T9" fmla="*/ 33 h 219"/>
                  <a:gd name="T10" fmla="*/ 168 w 244"/>
                  <a:gd name="T11" fmla="*/ 36 h 219"/>
                  <a:gd name="T12" fmla="*/ 228 w 244"/>
                  <a:gd name="T13" fmla="*/ 159 h 219"/>
                  <a:gd name="T14" fmla="*/ 214 w 244"/>
                  <a:gd name="T15" fmla="*/ 215 h 219"/>
                  <a:gd name="T16" fmla="*/ 205 w 244"/>
                  <a:gd name="T17" fmla="*/ 149 h 219"/>
                  <a:gd name="T18" fmla="*/ 193 w 244"/>
                  <a:gd name="T19" fmla="*/ 105 h 219"/>
                  <a:gd name="T20" fmla="*/ 165 w 244"/>
                  <a:gd name="T21" fmla="*/ 103 h 219"/>
                  <a:gd name="T22" fmla="*/ 95 w 244"/>
                  <a:gd name="T23" fmla="*/ 102 h 219"/>
                  <a:gd name="T24" fmla="*/ 60 w 244"/>
                  <a:gd name="T25" fmla="*/ 105 h 219"/>
                  <a:gd name="T26" fmla="*/ 54 w 244"/>
                  <a:gd name="T27" fmla="*/ 151 h 219"/>
                  <a:gd name="T28" fmla="*/ 37 w 244"/>
                  <a:gd name="T2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4" h="219">
                    <a:moveTo>
                      <a:pt x="37" y="219"/>
                    </a:moveTo>
                    <a:cubicBezTo>
                      <a:pt x="28" y="188"/>
                      <a:pt x="10" y="130"/>
                      <a:pt x="19" y="113"/>
                    </a:cubicBezTo>
                    <a:cubicBezTo>
                      <a:pt x="19" y="113"/>
                      <a:pt x="0" y="88"/>
                      <a:pt x="26" y="64"/>
                    </a:cubicBezTo>
                    <a:cubicBezTo>
                      <a:pt x="26" y="64"/>
                      <a:pt x="30" y="25"/>
                      <a:pt x="71" y="46"/>
                    </a:cubicBezTo>
                    <a:cubicBezTo>
                      <a:pt x="71" y="46"/>
                      <a:pt x="88" y="0"/>
                      <a:pt x="183" y="33"/>
                    </a:cubicBezTo>
                    <a:cubicBezTo>
                      <a:pt x="168" y="36"/>
                      <a:pt x="168" y="36"/>
                      <a:pt x="168" y="36"/>
                    </a:cubicBezTo>
                    <a:cubicBezTo>
                      <a:pt x="241" y="76"/>
                      <a:pt x="244" y="77"/>
                      <a:pt x="228" y="159"/>
                    </a:cubicBezTo>
                    <a:cubicBezTo>
                      <a:pt x="224" y="175"/>
                      <a:pt x="218" y="192"/>
                      <a:pt x="214" y="215"/>
                    </a:cubicBezTo>
                    <a:cubicBezTo>
                      <a:pt x="214" y="215"/>
                      <a:pt x="220" y="167"/>
                      <a:pt x="205" y="149"/>
                    </a:cubicBezTo>
                    <a:cubicBezTo>
                      <a:pt x="205" y="149"/>
                      <a:pt x="217" y="117"/>
                      <a:pt x="193" y="105"/>
                    </a:cubicBezTo>
                    <a:cubicBezTo>
                      <a:pt x="193" y="105"/>
                      <a:pt x="178" y="93"/>
                      <a:pt x="165" y="103"/>
                    </a:cubicBezTo>
                    <a:cubicBezTo>
                      <a:pt x="165" y="103"/>
                      <a:pt x="121" y="114"/>
                      <a:pt x="95" y="102"/>
                    </a:cubicBezTo>
                    <a:cubicBezTo>
                      <a:pt x="95" y="102"/>
                      <a:pt x="71" y="91"/>
                      <a:pt x="60" y="105"/>
                    </a:cubicBezTo>
                    <a:cubicBezTo>
                      <a:pt x="60" y="105"/>
                      <a:pt x="44" y="119"/>
                      <a:pt x="54" y="151"/>
                    </a:cubicBezTo>
                    <a:cubicBezTo>
                      <a:pt x="54" y="151"/>
                      <a:pt x="34" y="155"/>
                      <a:pt x="37" y="219"/>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64" name="任意多边形 135"/>
              <p:cNvSpPr/>
              <p:nvPr/>
            </p:nvSpPr>
            <p:spPr bwMode="auto">
              <a:xfrm>
                <a:off x="5507658" y="3743258"/>
                <a:ext cx="453146" cy="63144"/>
              </a:xfrm>
              <a:custGeom>
                <a:avLst/>
                <a:gdLst>
                  <a:gd name="T0" fmla="*/ 44 w 83"/>
                  <a:gd name="T1" fmla="*/ 0 h 12"/>
                  <a:gd name="T2" fmla="*/ 42 w 83"/>
                  <a:gd name="T3" fmla="*/ 2 h 12"/>
                  <a:gd name="T4" fmla="*/ 39 w 83"/>
                  <a:gd name="T5" fmla="*/ 0 h 12"/>
                  <a:gd name="T6" fmla="*/ 0 w 83"/>
                  <a:gd name="T7" fmla="*/ 12 h 12"/>
                  <a:gd name="T8" fmla="*/ 38 w 83"/>
                  <a:gd name="T9" fmla="*/ 11 h 12"/>
                  <a:gd name="T10" fmla="*/ 42 w 83"/>
                  <a:gd name="T11" fmla="*/ 6 h 12"/>
                  <a:gd name="T12" fmla="*/ 45 w 83"/>
                  <a:gd name="T13" fmla="*/ 11 h 12"/>
                  <a:gd name="T14" fmla="*/ 83 w 83"/>
                  <a:gd name="T15" fmla="*/ 12 h 12"/>
                  <a:gd name="T16" fmla="*/ 44 w 8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12">
                    <a:moveTo>
                      <a:pt x="44" y="0"/>
                    </a:moveTo>
                    <a:cubicBezTo>
                      <a:pt x="43" y="0"/>
                      <a:pt x="42" y="2"/>
                      <a:pt x="42" y="2"/>
                    </a:cubicBezTo>
                    <a:cubicBezTo>
                      <a:pt x="42" y="2"/>
                      <a:pt x="41" y="0"/>
                      <a:pt x="39" y="0"/>
                    </a:cubicBezTo>
                    <a:cubicBezTo>
                      <a:pt x="33" y="0"/>
                      <a:pt x="7" y="3"/>
                      <a:pt x="0" y="12"/>
                    </a:cubicBezTo>
                    <a:cubicBezTo>
                      <a:pt x="0" y="12"/>
                      <a:pt x="36" y="11"/>
                      <a:pt x="38" y="11"/>
                    </a:cubicBezTo>
                    <a:cubicBezTo>
                      <a:pt x="40" y="10"/>
                      <a:pt x="42" y="6"/>
                      <a:pt x="42" y="6"/>
                    </a:cubicBezTo>
                    <a:cubicBezTo>
                      <a:pt x="42" y="6"/>
                      <a:pt x="43" y="10"/>
                      <a:pt x="45" y="11"/>
                    </a:cubicBezTo>
                    <a:cubicBezTo>
                      <a:pt x="47" y="11"/>
                      <a:pt x="83" y="12"/>
                      <a:pt x="83" y="12"/>
                    </a:cubicBezTo>
                    <a:cubicBezTo>
                      <a:pt x="76" y="3"/>
                      <a:pt x="50" y="0"/>
                      <a:pt x="44" y="0"/>
                    </a:cubicBezTo>
                    <a:close/>
                  </a:path>
                </a:pathLst>
              </a:custGeom>
              <a:solidFill>
                <a:srgbClr val="383838"/>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sp>
        <p:nvSpPr>
          <p:cNvPr id="65" name="任意多边形: 形状 25"/>
          <p:cNvSpPr/>
          <p:nvPr/>
        </p:nvSpPr>
        <p:spPr bwMode="auto">
          <a:xfrm>
            <a:off x="2188845" y="2132965"/>
            <a:ext cx="8827770" cy="1122045"/>
          </a:xfrm>
          <a:custGeom>
            <a:avLst/>
            <a:gdLst>
              <a:gd name="connsiteX0" fmla="*/ 0 w 14068703"/>
              <a:gd name="connsiteY0" fmla="*/ 961747 h 1089273"/>
              <a:gd name="connsiteX1" fmla="*/ 1301858 w 14068703"/>
              <a:gd name="connsiteY1" fmla="*/ 450303 h 1089273"/>
              <a:gd name="connsiteX2" fmla="*/ 2758698 w 14068703"/>
              <a:gd name="connsiteY2" fmla="*/ 868757 h 1089273"/>
              <a:gd name="connsiteX3" fmla="*/ 5222929 w 14068703"/>
              <a:gd name="connsiteY3" fmla="*/ 852 h 1089273"/>
              <a:gd name="connsiteX4" fmla="*/ 7640664 w 14068703"/>
              <a:gd name="connsiteY4" fmla="*/ 1054737 h 1089273"/>
              <a:gd name="connsiteX5" fmla="*/ 10352868 w 14068703"/>
              <a:gd name="connsiteY5" fmla="*/ 279821 h 1089273"/>
              <a:gd name="connsiteX6" fmla="*/ 13669505 w 14068703"/>
              <a:gd name="connsiteY6" fmla="*/ 1008242 h 1089273"/>
              <a:gd name="connsiteX7" fmla="*/ 13886481 w 14068703"/>
              <a:gd name="connsiteY7" fmla="*/ 1039238 h 1089273"/>
              <a:gd name="connsiteX0-1" fmla="*/ 0 w 14208891"/>
              <a:gd name="connsiteY0-2" fmla="*/ 961747 h 1056656"/>
              <a:gd name="connsiteX1-3" fmla="*/ 1301858 w 14208891"/>
              <a:gd name="connsiteY1-4" fmla="*/ 450303 h 1056656"/>
              <a:gd name="connsiteX2-5" fmla="*/ 2758698 w 14208891"/>
              <a:gd name="connsiteY2-6" fmla="*/ 868757 h 1056656"/>
              <a:gd name="connsiteX3-7" fmla="*/ 5222929 w 14208891"/>
              <a:gd name="connsiteY3-8" fmla="*/ 852 h 1056656"/>
              <a:gd name="connsiteX4-9" fmla="*/ 7640664 w 14208891"/>
              <a:gd name="connsiteY4-10" fmla="*/ 1054737 h 1056656"/>
              <a:gd name="connsiteX5-11" fmla="*/ 10352868 w 14208891"/>
              <a:gd name="connsiteY5-12" fmla="*/ 279821 h 1056656"/>
              <a:gd name="connsiteX6-13" fmla="*/ 13669505 w 14208891"/>
              <a:gd name="connsiteY6-14" fmla="*/ 1008242 h 1056656"/>
              <a:gd name="connsiteX7-15" fmla="*/ 14097888 w 14208891"/>
              <a:gd name="connsiteY7-16" fmla="*/ 728065 h 1056656"/>
              <a:gd name="connsiteX0-17" fmla="*/ 0 w 14097888"/>
              <a:gd name="connsiteY0-18" fmla="*/ 961747 h 1056656"/>
              <a:gd name="connsiteX1-19" fmla="*/ 1301858 w 14097888"/>
              <a:gd name="connsiteY1-20" fmla="*/ 450303 h 1056656"/>
              <a:gd name="connsiteX2-21" fmla="*/ 2758698 w 14097888"/>
              <a:gd name="connsiteY2-22" fmla="*/ 868757 h 1056656"/>
              <a:gd name="connsiteX3-23" fmla="*/ 5222929 w 14097888"/>
              <a:gd name="connsiteY3-24" fmla="*/ 852 h 1056656"/>
              <a:gd name="connsiteX4-25" fmla="*/ 7640664 w 14097888"/>
              <a:gd name="connsiteY4-26" fmla="*/ 1054737 h 1056656"/>
              <a:gd name="connsiteX5-27" fmla="*/ 10352868 w 14097888"/>
              <a:gd name="connsiteY5-28" fmla="*/ 279821 h 1056656"/>
              <a:gd name="connsiteX6-29" fmla="*/ 13669505 w 14097888"/>
              <a:gd name="connsiteY6-30" fmla="*/ 1008242 h 1056656"/>
              <a:gd name="connsiteX7-31" fmla="*/ 14097888 w 14097888"/>
              <a:gd name="connsiteY7-32" fmla="*/ 728065 h 1056656"/>
              <a:gd name="connsiteX0-33" fmla="*/ 0 w 14097888"/>
              <a:gd name="connsiteY0-34" fmla="*/ 961747 h 1056662"/>
              <a:gd name="connsiteX1-35" fmla="*/ 1301858 w 14097888"/>
              <a:gd name="connsiteY1-36" fmla="*/ 450303 h 1056662"/>
              <a:gd name="connsiteX2-37" fmla="*/ 2758698 w 14097888"/>
              <a:gd name="connsiteY2-38" fmla="*/ 868757 h 1056662"/>
              <a:gd name="connsiteX3-39" fmla="*/ 5222929 w 14097888"/>
              <a:gd name="connsiteY3-40" fmla="*/ 852 h 1056662"/>
              <a:gd name="connsiteX4-41" fmla="*/ 7640664 w 14097888"/>
              <a:gd name="connsiteY4-42" fmla="*/ 1054737 h 1056662"/>
              <a:gd name="connsiteX5-43" fmla="*/ 10352868 w 14097888"/>
              <a:gd name="connsiteY5-44" fmla="*/ 279821 h 1056662"/>
              <a:gd name="connsiteX6-45" fmla="*/ 13067806 w 14097888"/>
              <a:gd name="connsiteY6-46" fmla="*/ 991865 h 1056662"/>
              <a:gd name="connsiteX7-47" fmla="*/ 14097888 w 14097888"/>
              <a:gd name="connsiteY7-48" fmla="*/ 728065 h 1056662"/>
              <a:gd name="connsiteX0-49" fmla="*/ 0 w 14097888"/>
              <a:gd name="connsiteY0-50" fmla="*/ 961747 h 1056195"/>
              <a:gd name="connsiteX1-51" fmla="*/ 1301858 w 14097888"/>
              <a:gd name="connsiteY1-52" fmla="*/ 450303 h 1056195"/>
              <a:gd name="connsiteX2-53" fmla="*/ 2758698 w 14097888"/>
              <a:gd name="connsiteY2-54" fmla="*/ 868757 h 1056195"/>
              <a:gd name="connsiteX3-55" fmla="*/ 5222929 w 14097888"/>
              <a:gd name="connsiteY3-56" fmla="*/ 852 h 1056195"/>
              <a:gd name="connsiteX4-57" fmla="*/ 7640664 w 14097888"/>
              <a:gd name="connsiteY4-58" fmla="*/ 1054737 h 1056195"/>
              <a:gd name="connsiteX5-59" fmla="*/ 10515489 w 14097888"/>
              <a:gd name="connsiteY5-60" fmla="*/ 247067 h 1056195"/>
              <a:gd name="connsiteX6-61" fmla="*/ 13067806 w 14097888"/>
              <a:gd name="connsiteY6-62" fmla="*/ 991865 h 1056195"/>
              <a:gd name="connsiteX7-63" fmla="*/ 14097888 w 14097888"/>
              <a:gd name="connsiteY7-64" fmla="*/ 728065 h 1056195"/>
              <a:gd name="connsiteX0-65" fmla="*/ 0 w 14097888"/>
              <a:gd name="connsiteY0-66" fmla="*/ 961747 h 1055945"/>
              <a:gd name="connsiteX1-67" fmla="*/ 1301858 w 14097888"/>
              <a:gd name="connsiteY1-68" fmla="*/ 450303 h 1055945"/>
              <a:gd name="connsiteX2-69" fmla="*/ 2758698 w 14097888"/>
              <a:gd name="connsiteY2-70" fmla="*/ 868757 h 1055945"/>
              <a:gd name="connsiteX3-71" fmla="*/ 5222929 w 14097888"/>
              <a:gd name="connsiteY3-72" fmla="*/ 852 h 1055945"/>
              <a:gd name="connsiteX4-73" fmla="*/ 7640664 w 14097888"/>
              <a:gd name="connsiteY4-74" fmla="*/ 1054737 h 1055945"/>
              <a:gd name="connsiteX5-75" fmla="*/ 10515489 w 14097888"/>
              <a:gd name="connsiteY5-76" fmla="*/ 247067 h 1055945"/>
              <a:gd name="connsiteX6-77" fmla="*/ 13067806 w 14097888"/>
              <a:gd name="connsiteY6-78" fmla="*/ 991865 h 1055945"/>
              <a:gd name="connsiteX7-79" fmla="*/ 14097888 w 14097888"/>
              <a:gd name="connsiteY7-80" fmla="*/ 728065 h 105594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4097888" h="1055945">
                <a:moveTo>
                  <a:pt x="0" y="961747"/>
                </a:moveTo>
                <a:cubicBezTo>
                  <a:pt x="421037" y="713774"/>
                  <a:pt x="842075" y="465801"/>
                  <a:pt x="1301858" y="450303"/>
                </a:cubicBezTo>
                <a:cubicBezTo>
                  <a:pt x="1761641" y="434805"/>
                  <a:pt x="2105186" y="943665"/>
                  <a:pt x="2758698" y="868757"/>
                </a:cubicBezTo>
                <a:cubicBezTo>
                  <a:pt x="3412210" y="793849"/>
                  <a:pt x="4409268" y="-30145"/>
                  <a:pt x="5222929" y="852"/>
                </a:cubicBezTo>
                <a:cubicBezTo>
                  <a:pt x="6036590" y="31849"/>
                  <a:pt x="6758571" y="1013701"/>
                  <a:pt x="7640664" y="1054737"/>
                </a:cubicBezTo>
                <a:cubicBezTo>
                  <a:pt x="8522757" y="1095773"/>
                  <a:pt x="9545917" y="77394"/>
                  <a:pt x="10515489" y="247067"/>
                </a:cubicBezTo>
                <a:cubicBezTo>
                  <a:pt x="11485061" y="416740"/>
                  <a:pt x="12470740" y="911699"/>
                  <a:pt x="13067806" y="991865"/>
                </a:cubicBezTo>
                <a:cubicBezTo>
                  <a:pt x="13664872" y="1072031"/>
                  <a:pt x="13991150" y="874116"/>
                  <a:pt x="14097888" y="728065"/>
                </a:cubicBezTo>
              </a:path>
            </a:pathLst>
          </a:custGeom>
          <a:noFill/>
          <a:ln w="19050">
            <a:solidFill>
              <a:srgbClr val="3368FF">
                <a:alpha val="70000"/>
              </a:srgbClr>
            </a:solidFill>
            <a:prstDash val="solid"/>
            <a:miter lim="800000"/>
          </a:ln>
        </p:spPr>
        <p:txBody>
          <a:bodyPr vert="horz" wrap="square" lIns="0" tIns="0" rIns="0" bIns="0" numCol="1" rtlCol="0" anchor="t" anchorCtr="0" compatLnSpc="1"/>
          <a:lstStyle>
            <a:defPPr>
              <a:defRPr lang="zh-CN">
                <a:latin typeface="微软雅黑"/>
                <a:ea typeface="微软雅黑"/>
                <a:cs typeface="微软雅黑"/>
              </a:defRPr>
            </a:defPPr>
            <a:lvl1pPr marL="0" algn="l" defTabSz="696595" rtl="0" eaLnBrk="1" latinLnBrk="0" hangingPunct="1">
              <a:defRPr sz="1370" kern="1200">
                <a:solidFill>
                  <a:srgbClr val="383838"/>
                </a:solidFill>
                <a:latin typeface="微软雅黑"/>
                <a:ea typeface="微软雅黑"/>
                <a:cs typeface="微软雅黑"/>
              </a:defRPr>
            </a:lvl1pPr>
            <a:lvl2pPr marL="348615" algn="l" defTabSz="696595" rtl="0" eaLnBrk="1" latinLnBrk="0" hangingPunct="1">
              <a:defRPr sz="1370" kern="1200">
                <a:solidFill>
                  <a:srgbClr val="383838"/>
                </a:solidFill>
                <a:latin typeface="微软雅黑"/>
                <a:ea typeface="微软雅黑"/>
                <a:cs typeface="微软雅黑"/>
              </a:defRPr>
            </a:lvl2pPr>
            <a:lvl3pPr marL="696595" algn="l" defTabSz="696595" rtl="0" eaLnBrk="1" latinLnBrk="0" hangingPunct="1">
              <a:defRPr sz="1370" kern="1200">
                <a:solidFill>
                  <a:srgbClr val="383838"/>
                </a:solidFill>
                <a:latin typeface="微软雅黑"/>
                <a:ea typeface="微软雅黑"/>
                <a:cs typeface="微软雅黑"/>
              </a:defRPr>
            </a:lvl3pPr>
            <a:lvl4pPr marL="1045210" algn="l" defTabSz="696595" rtl="0" eaLnBrk="1" latinLnBrk="0" hangingPunct="1">
              <a:defRPr sz="1370" kern="1200">
                <a:solidFill>
                  <a:srgbClr val="383838"/>
                </a:solidFill>
                <a:latin typeface="微软雅黑"/>
                <a:ea typeface="微软雅黑"/>
                <a:cs typeface="微软雅黑"/>
              </a:defRPr>
            </a:lvl4pPr>
            <a:lvl5pPr marL="1393190" algn="l" defTabSz="696595" rtl="0" eaLnBrk="1" latinLnBrk="0" hangingPunct="1">
              <a:defRPr sz="1370" kern="1200">
                <a:solidFill>
                  <a:srgbClr val="383838"/>
                </a:solidFill>
                <a:latin typeface="微软雅黑"/>
                <a:ea typeface="微软雅黑"/>
                <a:cs typeface="微软雅黑"/>
              </a:defRPr>
            </a:lvl5pPr>
            <a:lvl6pPr marL="1741805" algn="l" defTabSz="696595" rtl="0" eaLnBrk="1" latinLnBrk="0" hangingPunct="1">
              <a:defRPr sz="1370" kern="1200">
                <a:solidFill>
                  <a:srgbClr val="383838"/>
                </a:solidFill>
                <a:latin typeface="微软雅黑"/>
                <a:ea typeface="微软雅黑"/>
                <a:cs typeface="微软雅黑"/>
              </a:defRPr>
            </a:lvl6pPr>
            <a:lvl7pPr marL="2089785" algn="l" defTabSz="696595" rtl="0" eaLnBrk="1" latinLnBrk="0" hangingPunct="1">
              <a:defRPr sz="1370" kern="1200">
                <a:solidFill>
                  <a:srgbClr val="383838"/>
                </a:solidFill>
                <a:latin typeface="微软雅黑"/>
                <a:ea typeface="微软雅黑"/>
                <a:cs typeface="微软雅黑"/>
              </a:defRPr>
            </a:lvl7pPr>
            <a:lvl8pPr marL="2438400" algn="l" defTabSz="696595" rtl="0" eaLnBrk="1" latinLnBrk="0" hangingPunct="1">
              <a:defRPr sz="1370" kern="1200">
                <a:solidFill>
                  <a:srgbClr val="383838"/>
                </a:solidFill>
                <a:latin typeface="微软雅黑"/>
                <a:ea typeface="微软雅黑"/>
                <a:cs typeface="微软雅黑"/>
              </a:defRPr>
            </a:lvl8pPr>
            <a:lvl9pPr marL="2787015" algn="l" defTabSz="696595" rtl="0" eaLnBrk="1" latinLnBrk="0" hangingPunct="1">
              <a:defRPr sz="1370" kern="1200">
                <a:solidFill>
                  <a:srgbClr val="383838"/>
                </a:solidFill>
                <a:latin typeface="微软雅黑"/>
                <a:ea typeface="微软雅黑"/>
                <a:cs typeface="微软雅黑"/>
              </a:defRPr>
            </a:lvl9pPr>
          </a:lstStyle>
          <a:p>
            <a:pPr defTabSz="462915" eaLnBrk="0" hangingPunct="0">
              <a:defRPr>
                <a:latin typeface="微软雅黑"/>
                <a:ea typeface="微软雅黑"/>
                <a:cs typeface="微软雅黑"/>
              </a:defRPr>
            </a:pPr>
            <a:endParaRPr lang="zh-CN" altLang="en-US" sz="1000" dirty="0">
              <a:solidFill>
                <a:srgbClr val="383838"/>
              </a:solidFill>
              <a:latin typeface="微软雅黑"/>
              <a:ea typeface="微软雅黑"/>
              <a:cs typeface="微软雅黑"/>
              <a:sym typeface="微软雅黑"/>
            </a:endParaRPr>
          </a:p>
        </p:txBody>
      </p:sp>
      <p:grpSp>
        <p:nvGrpSpPr>
          <p:cNvPr id="71" name="组合 70"/>
          <p:cNvGrpSpPr/>
          <p:nvPr/>
        </p:nvGrpSpPr>
        <p:grpSpPr>
          <a:xfrm>
            <a:off x="4297045" y="3164840"/>
            <a:ext cx="1280795" cy="303530"/>
            <a:chOff x="6063142" y="1984388"/>
            <a:chExt cx="1215460" cy="288000"/>
          </a:xfrm>
        </p:grpSpPr>
        <p:sp>
          <p:nvSpPr>
            <p:cNvPr id="72" name="文本框 71"/>
            <p:cNvSpPr txBox="1"/>
            <p:nvPr/>
          </p:nvSpPr>
          <p:spPr>
            <a:xfrm>
              <a:off x="6352096" y="2002666"/>
              <a:ext cx="926506" cy="232642"/>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新客户</a:t>
              </a:r>
              <a:endParaRPr lang="zh-CN" altLang="en-US" sz="1000" dirty="0">
                <a:solidFill>
                  <a:srgbClr val="0042FF"/>
                </a:solidFill>
                <a:latin typeface="微软雅黑"/>
                <a:ea typeface="微软雅黑"/>
                <a:cs typeface="微软雅黑"/>
              </a:endParaRPr>
            </a:p>
          </p:txBody>
        </p:sp>
        <p:grpSp>
          <p:nvGrpSpPr>
            <p:cNvPr id="76" name="组合 75"/>
            <p:cNvGrpSpPr>
              <a:grpSpLocks noChangeAspect="1"/>
            </p:cNvGrpSpPr>
            <p:nvPr/>
          </p:nvGrpSpPr>
          <p:grpSpPr>
            <a:xfrm>
              <a:off x="6063142" y="1984388"/>
              <a:ext cx="289104" cy="288000"/>
              <a:chOff x="4486273" y="1989700"/>
              <a:chExt cx="3219454" cy="3207158"/>
            </a:xfrm>
          </p:grpSpPr>
          <p:sp>
            <p:nvSpPr>
              <p:cNvPr id="77" name="椭圆 76"/>
              <p:cNvSpPr/>
              <p:nvPr/>
            </p:nvSpPr>
            <p:spPr bwMode="auto">
              <a:xfrm>
                <a:off x="4486273" y="1989700"/>
                <a:ext cx="3219454" cy="3207158"/>
              </a:xfrm>
              <a:prstGeom prst="ellipse">
                <a:avLst/>
              </a:pr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8" name="任意多边形 138"/>
              <p:cNvSpPr/>
              <p:nvPr/>
            </p:nvSpPr>
            <p:spPr bwMode="auto">
              <a:xfrm>
                <a:off x="5275730" y="4331532"/>
                <a:ext cx="1645793" cy="818690"/>
              </a:xfrm>
              <a:custGeom>
                <a:avLst/>
                <a:gdLst>
                  <a:gd name="connsiteX0" fmla="*/ 481083 w 980008"/>
                  <a:gd name="connsiteY0" fmla="*/ 555 h 487499"/>
                  <a:gd name="connsiteX1" fmla="*/ 496487 w 980008"/>
                  <a:gd name="connsiteY1" fmla="*/ 731 h 487499"/>
                  <a:gd name="connsiteX2" fmla="*/ 598470 w 980008"/>
                  <a:gd name="connsiteY2" fmla="*/ 30894 h 487499"/>
                  <a:gd name="connsiteX3" fmla="*/ 979963 w 980008"/>
                  <a:gd name="connsiteY3" fmla="*/ 362682 h 487499"/>
                  <a:gd name="connsiteX4" fmla="*/ 979072 w 980008"/>
                  <a:gd name="connsiteY4" fmla="*/ 369170 h 487499"/>
                  <a:gd name="connsiteX5" fmla="*/ 940771 w 980008"/>
                  <a:gd name="connsiteY5" fmla="*/ 389879 h 487499"/>
                  <a:gd name="connsiteX6" fmla="*/ 455389 w 980008"/>
                  <a:gd name="connsiteY6" fmla="*/ 487499 h 487499"/>
                  <a:gd name="connsiteX7" fmla="*/ 84575 w 980008"/>
                  <a:gd name="connsiteY7" fmla="*/ 431651 h 487499"/>
                  <a:gd name="connsiteX8" fmla="*/ 14744 w 980008"/>
                  <a:gd name="connsiteY8" fmla="*/ 406190 h 487499"/>
                  <a:gd name="connsiteX9" fmla="*/ 7699 w 980008"/>
                  <a:gd name="connsiteY9" fmla="*/ 391136 h 487499"/>
                  <a:gd name="connsiteX10" fmla="*/ 1679 w 980008"/>
                  <a:gd name="connsiteY10" fmla="*/ 362682 h 487499"/>
                  <a:gd name="connsiteX11" fmla="*/ 1679 w 980008"/>
                  <a:gd name="connsiteY11" fmla="*/ 328749 h 487499"/>
                  <a:gd name="connsiteX12" fmla="*/ 394504 w 980008"/>
                  <a:gd name="connsiteY12" fmla="*/ 23353 h 487499"/>
                  <a:gd name="connsiteX13" fmla="*/ 481083 w 980008"/>
                  <a:gd name="connsiteY13" fmla="*/ 555 h 48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008" h="487499">
                    <a:moveTo>
                      <a:pt x="481083" y="555"/>
                    </a:moveTo>
                    <a:cubicBezTo>
                      <a:pt x="488933" y="-211"/>
                      <a:pt x="494599" y="-211"/>
                      <a:pt x="496487" y="731"/>
                    </a:cubicBezTo>
                    <a:cubicBezTo>
                      <a:pt x="507818" y="-3039"/>
                      <a:pt x="572030" y="12042"/>
                      <a:pt x="598470" y="30894"/>
                    </a:cubicBezTo>
                    <a:cubicBezTo>
                      <a:pt x="749556" y="136463"/>
                      <a:pt x="983740" y="208099"/>
                      <a:pt x="979963" y="362682"/>
                    </a:cubicBezTo>
                    <a:lnTo>
                      <a:pt x="979072" y="369170"/>
                    </a:lnTo>
                    <a:lnTo>
                      <a:pt x="940771" y="389879"/>
                    </a:lnTo>
                    <a:cubicBezTo>
                      <a:pt x="791584" y="452739"/>
                      <a:pt x="627562" y="487499"/>
                      <a:pt x="455389" y="487499"/>
                    </a:cubicBezTo>
                    <a:cubicBezTo>
                      <a:pt x="326260" y="487499"/>
                      <a:pt x="201715" y="467947"/>
                      <a:pt x="84575" y="431651"/>
                    </a:cubicBezTo>
                    <a:lnTo>
                      <a:pt x="14744" y="406190"/>
                    </a:lnTo>
                    <a:lnTo>
                      <a:pt x="7699" y="391136"/>
                    </a:lnTo>
                    <a:cubicBezTo>
                      <a:pt x="4512" y="381062"/>
                      <a:pt x="2624" y="371165"/>
                      <a:pt x="1679" y="362682"/>
                    </a:cubicBezTo>
                    <a:cubicBezTo>
                      <a:pt x="1679" y="351371"/>
                      <a:pt x="-2098" y="340060"/>
                      <a:pt x="1679" y="328749"/>
                    </a:cubicBezTo>
                    <a:cubicBezTo>
                      <a:pt x="16788" y="181707"/>
                      <a:pt x="243417" y="121381"/>
                      <a:pt x="394504" y="23353"/>
                    </a:cubicBezTo>
                    <a:cubicBezTo>
                      <a:pt x="414334" y="12042"/>
                      <a:pt x="457535" y="2852"/>
                      <a:pt x="481083" y="555"/>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79" name="任意多边形 139"/>
              <p:cNvSpPr/>
              <p:nvPr/>
            </p:nvSpPr>
            <p:spPr bwMode="auto">
              <a:xfrm>
                <a:off x="5722761" y="4313099"/>
                <a:ext cx="722486" cy="482546"/>
              </a:xfrm>
              <a:custGeom>
                <a:avLst/>
                <a:gdLst>
                  <a:gd name="T0" fmla="*/ 8 w 114"/>
                  <a:gd name="T1" fmla="*/ 25 h 76"/>
                  <a:gd name="T2" fmla="*/ 53 w 114"/>
                  <a:gd name="T3" fmla="*/ 74 h 76"/>
                  <a:gd name="T4" fmla="*/ 114 w 114"/>
                  <a:gd name="T5" fmla="*/ 26 h 76"/>
                  <a:gd name="T6" fmla="*/ 71 w 114"/>
                  <a:gd name="T7" fmla="*/ 0 h 76"/>
                  <a:gd name="T8" fmla="*/ 39 w 114"/>
                  <a:gd name="T9" fmla="*/ 2 h 76"/>
                  <a:gd name="T10" fmla="*/ 8 w 114"/>
                  <a:gd name="T11" fmla="*/ 25 h 76"/>
                </a:gdLst>
                <a:ahLst/>
                <a:cxnLst>
                  <a:cxn ang="0">
                    <a:pos x="T0" y="T1"/>
                  </a:cxn>
                  <a:cxn ang="0">
                    <a:pos x="T2" y="T3"/>
                  </a:cxn>
                  <a:cxn ang="0">
                    <a:pos x="T4" y="T5"/>
                  </a:cxn>
                  <a:cxn ang="0">
                    <a:pos x="T6" y="T7"/>
                  </a:cxn>
                  <a:cxn ang="0">
                    <a:pos x="T8" y="T9"/>
                  </a:cxn>
                  <a:cxn ang="0">
                    <a:pos x="T10" y="T11"/>
                  </a:cxn>
                </a:cxnLst>
                <a:rect l="0" t="0" r="r" b="b"/>
                <a:pathLst>
                  <a:path w="114" h="76">
                    <a:moveTo>
                      <a:pt x="8" y="25"/>
                    </a:moveTo>
                    <a:cubicBezTo>
                      <a:pt x="8" y="25"/>
                      <a:pt x="0" y="72"/>
                      <a:pt x="53" y="74"/>
                    </a:cubicBezTo>
                    <a:cubicBezTo>
                      <a:pt x="106" y="76"/>
                      <a:pt x="114" y="26"/>
                      <a:pt x="114" y="26"/>
                    </a:cubicBezTo>
                    <a:cubicBezTo>
                      <a:pt x="71" y="0"/>
                      <a:pt x="71" y="0"/>
                      <a:pt x="71" y="0"/>
                    </a:cubicBezTo>
                    <a:cubicBezTo>
                      <a:pt x="39" y="2"/>
                      <a:pt x="39" y="2"/>
                      <a:pt x="39" y="2"/>
                    </a:cubicBezTo>
                    <a:lnTo>
                      <a:pt x="8" y="2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80" name="任意多边形 140"/>
              <p:cNvSpPr/>
              <p:nvPr/>
            </p:nvSpPr>
            <p:spPr bwMode="auto">
              <a:xfrm>
                <a:off x="5925376" y="4353089"/>
                <a:ext cx="341247" cy="314587"/>
              </a:xfrm>
              <a:custGeom>
                <a:avLst/>
                <a:gdLst>
                  <a:gd name="T0" fmla="*/ 35 w 54"/>
                  <a:gd name="T1" fmla="*/ 7 h 50"/>
                  <a:gd name="T2" fmla="*/ 1 w 54"/>
                  <a:gd name="T3" fmla="*/ 10 h 50"/>
                  <a:gd name="T4" fmla="*/ 0 w 54"/>
                  <a:gd name="T5" fmla="*/ 24 h 50"/>
                  <a:gd name="T6" fmla="*/ 53 w 54"/>
                  <a:gd name="T7" fmla="*/ 25 h 50"/>
                  <a:gd name="T8" fmla="*/ 54 w 54"/>
                  <a:gd name="T9" fmla="*/ 0 h 50"/>
                  <a:gd name="T10" fmla="*/ 35 w 54"/>
                  <a:gd name="T11" fmla="*/ 7 h 50"/>
                </a:gdLst>
                <a:ahLst/>
                <a:cxnLst>
                  <a:cxn ang="0">
                    <a:pos x="T0" y="T1"/>
                  </a:cxn>
                  <a:cxn ang="0">
                    <a:pos x="T2" y="T3"/>
                  </a:cxn>
                  <a:cxn ang="0">
                    <a:pos x="T4" y="T5"/>
                  </a:cxn>
                  <a:cxn ang="0">
                    <a:pos x="T6" y="T7"/>
                  </a:cxn>
                  <a:cxn ang="0">
                    <a:pos x="T8" y="T9"/>
                  </a:cxn>
                  <a:cxn ang="0">
                    <a:pos x="T10" y="T11"/>
                  </a:cxn>
                </a:cxnLst>
                <a:rect l="0" t="0" r="r" b="b"/>
                <a:pathLst>
                  <a:path w="54" h="50">
                    <a:moveTo>
                      <a:pt x="35" y="7"/>
                    </a:moveTo>
                    <a:cubicBezTo>
                      <a:pt x="24" y="11"/>
                      <a:pt x="10" y="10"/>
                      <a:pt x="1" y="10"/>
                    </a:cubicBezTo>
                    <a:cubicBezTo>
                      <a:pt x="0" y="24"/>
                      <a:pt x="0" y="24"/>
                      <a:pt x="0" y="24"/>
                    </a:cubicBezTo>
                    <a:cubicBezTo>
                      <a:pt x="0" y="49"/>
                      <a:pt x="52" y="50"/>
                      <a:pt x="53" y="25"/>
                    </a:cubicBezTo>
                    <a:cubicBezTo>
                      <a:pt x="54" y="0"/>
                      <a:pt x="54" y="0"/>
                      <a:pt x="54" y="0"/>
                    </a:cubicBezTo>
                    <a:cubicBezTo>
                      <a:pt x="47" y="3"/>
                      <a:pt x="40" y="6"/>
                      <a:pt x="35" y="7"/>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81" name="任意多边形 141"/>
              <p:cNvSpPr/>
              <p:nvPr/>
            </p:nvSpPr>
            <p:spPr bwMode="auto">
              <a:xfrm>
                <a:off x="5930708" y="3985181"/>
                <a:ext cx="343914" cy="221278"/>
              </a:xfrm>
              <a:custGeom>
                <a:avLst/>
                <a:gdLst>
                  <a:gd name="T0" fmla="*/ 54 w 54"/>
                  <a:gd name="T1" fmla="*/ 2 h 35"/>
                  <a:gd name="T2" fmla="*/ 1 w 54"/>
                  <a:gd name="T3" fmla="*/ 0 h 35"/>
                  <a:gd name="T4" fmla="*/ 0 w 54"/>
                  <a:gd name="T5" fmla="*/ 35 h 35"/>
                  <a:gd name="T6" fmla="*/ 53 w 54"/>
                  <a:gd name="T7" fmla="*/ 29 h 35"/>
                  <a:gd name="T8" fmla="*/ 54 w 54"/>
                  <a:gd name="T9" fmla="*/ 2 h 35"/>
                </a:gdLst>
                <a:ahLst/>
                <a:cxnLst>
                  <a:cxn ang="0">
                    <a:pos x="T0" y="T1"/>
                  </a:cxn>
                  <a:cxn ang="0">
                    <a:pos x="T2" y="T3"/>
                  </a:cxn>
                  <a:cxn ang="0">
                    <a:pos x="T4" y="T5"/>
                  </a:cxn>
                  <a:cxn ang="0">
                    <a:pos x="T6" y="T7"/>
                  </a:cxn>
                  <a:cxn ang="0">
                    <a:pos x="T8" y="T9"/>
                  </a:cxn>
                </a:cxnLst>
                <a:rect l="0" t="0" r="r" b="b"/>
                <a:pathLst>
                  <a:path w="54" h="35">
                    <a:moveTo>
                      <a:pt x="54" y="2"/>
                    </a:moveTo>
                    <a:cubicBezTo>
                      <a:pt x="1" y="0"/>
                      <a:pt x="1" y="0"/>
                      <a:pt x="1" y="0"/>
                    </a:cubicBezTo>
                    <a:cubicBezTo>
                      <a:pt x="0" y="35"/>
                      <a:pt x="0" y="35"/>
                      <a:pt x="0" y="35"/>
                    </a:cubicBezTo>
                    <a:cubicBezTo>
                      <a:pt x="17" y="34"/>
                      <a:pt x="40" y="31"/>
                      <a:pt x="53" y="29"/>
                    </a:cubicBezTo>
                    <a:lnTo>
                      <a:pt x="54" y="2"/>
                    </a:ln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82" name="任意多边形 142"/>
              <p:cNvSpPr/>
              <p:nvPr/>
            </p:nvSpPr>
            <p:spPr bwMode="auto">
              <a:xfrm>
                <a:off x="5930708" y="4169136"/>
                <a:ext cx="335915" cy="253270"/>
              </a:xfrm>
              <a:custGeom>
                <a:avLst/>
                <a:gdLst>
                  <a:gd name="T0" fmla="*/ 34 w 53"/>
                  <a:gd name="T1" fmla="*/ 36 h 40"/>
                  <a:gd name="T2" fmla="*/ 53 w 53"/>
                  <a:gd name="T3" fmla="*/ 29 h 40"/>
                  <a:gd name="T4" fmla="*/ 53 w 53"/>
                  <a:gd name="T5" fmla="*/ 0 h 40"/>
                  <a:gd name="T6" fmla="*/ 0 w 53"/>
                  <a:gd name="T7" fmla="*/ 6 h 40"/>
                  <a:gd name="T8" fmla="*/ 0 w 53"/>
                  <a:gd name="T9" fmla="*/ 39 h 40"/>
                  <a:gd name="T10" fmla="*/ 34 w 53"/>
                  <a:gd name="T11" fmla="*/ 36 h 40"/>
                </a:gdLst>
                <a:ahLst/>
                <a:cxnLst>
                  <a:cxn ang="0">
                    <a:pos x="T0" y="T1"/>
                  </a:cxn>
                  <a:cxn ang="0">
                    <a:pos x="T2" y="T3"/>
                  </a:cxn>
                  <a:cxn ang="0">
                    <a:pos x="T4" y="T5"/>
                  </a:cxn>
                  <a:cxn ang="0">
                    <a:pos x="T6" y="T7"/>
                  </a:cxn>
                  <a:cxn ang="0">
                    <a:pos x="T8" y="T9"/>
                  </a:cxn>
                  <a:cxn ang="0">
                    <a:pos x="T10" y="T11"/>
                  </a:cxn>
                </a:cxnLst>
                <a:rect l="0" t="0" r="r" b="b"/>
                <a:pathLst>
                  <a:path w="53" h="40">
                    <a:moveTo>
                      <a:pt x="34" y="36"/>
                    </a:moveTo>
                    <a:cubicBezTo>
                      <a:pt x="39" y="35"/>
                      <a:pt x="46" y="32"/>
                      <a:pt x="53" y="29"/>
                    </a:cubicBezTo>
                    <a:cubicBezTo>
                      <a:pt x="53" y="0"/>
                      <a:pt x="53" y="0"/>
                      <a:pt x="53" y="0"/>
                    </a:cubicBezTo>
                    <a:cubicBezTo>
                      <a:pt x="40" y="2"/>
                      <a:pt x="17" y="5"/>
                      <a:pt x="0" y="6"/>
                    </a:cubicBezTo>
                    <a:cubicBezTo>
                      <a:pt x="0" y="39"/>
                      <a:pt x="0" y="39"/>
                      <a:pt x="0" y="39"/>
                    </a:cubicBezTo>
                    <a:cubicBezTo>
                      <a:pt x="9" y="39"/>
                      <a:pt x="23" y="40"/>
                      <a:pt x="34" y="36"/>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3" name="任意多边形 143"/>
              <p:cNvSpPr/>
              <p:nvPr/>
            </p:nvSpPr>
            <p:spPr bwMode="auto">
              <a:xfrm>
                <a:off x="5384178" y="2612194"/>
                <a:ext cx="1295674" cy="1772888"/>
              </a:xfrm>
              <a:custGeom>
                <a:avLst/>
                <a:gdLst>
                  <a:gd name="T0" fmla="*/ 79 w 204"/>
                  <a:gd name="T1" fmla="*/ 272 h 280"/>
                  <a:gd name="T2" fmla="*/ 79 w 204"/>
                  <a:gd name="T3" fmla="*/ 272 h 280"/>
                  <a:gd name="T4" fmla="*/ 8 w 204"/>
                  <a:gd name="T5" fmla="*/ 171 h 280"/>
                  <a:gd name="T6" fmla="*/ 25 w 204"/>
                  <a:gd name="T7" fmla="*/ 79 h 280"/>
                  <a:gd name="T8" fmla="*/ 125 w 204"/>
                  <a:gd name="T9" fmla="*/ 8 h 280"/>
                  <a:gd name="T10" fmla="*/ 125 w 204"/>
                  <a:gd name="T11" fmla="*/ 8 h 280"/>
                  <a:gd name="T12" fmla="*/ 195 w 204"/>
                  <a:gd name="T13" fmla="*/ 109 h 280"/>
                  <a:gd name="T14" fmla="*/ 179 w 204"/>
                  <a:gd name="T15" fmla="*/ 201 h 280"/>
                  <a:gd name="T16" fmla="*/ 79 w 204"/>
                  <a:gd name="T17" fmla="*/ 27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80">
                    <a:moveTo>
                      <a:pt x="79" y="272"/>
                    </a:moveTo>
                    <a:cubicBezTo>
                      <a:pt x="79" y="272"/>
                      <a:pt x="79" y="272"/>
                      <a:pt x="79" y="272"/>
                    </a:cubicBezTo>
                    <a:cubicBezTo>
                      <a:pt x="32" y="264"/>
                      <a:pt x="0" y="219"/>
                      <a:pt x="8" y="171"/>
                    </a:cubicBezTo>
                    <a:cubicBezTo>
                      <a:pt x="25" y="79"/>
                      <a:pt x="25" y="79"/>
                      <a:pt x="25" y="79"/>
                    </a:cubicBezTo>
                    <a:cubicBezTo>
                      <a:pt x="33" y="32"/>
                      <a:pt x="78" y="0"/>
                      <a:pt x="125" y="8"/>
                    </a:cubicBezTo>
                    <a:cubicBezTo>
                      <a:pt x="125" y="8"/>
                      <a:pt x="125" y="8"/>
                      <a:pt x="125" y="8"/>
                    </a:cubicBezTo>
                    <a:cubicBezTo>
                      <a:pt x="172" y="17"/>
                      <a:pt x="204" y="62"/>
                      <a:pt x="195" y="109"/>
                    </a:cubicBezTo>
                    <a:cubicBezTo>
                      <a:pt x="179" y="201"/>
                      <a:pt x="179" y="201"/>
                      <a:pt x="179" y="201"/>
                    </a:cubicBezTo>
                    <a:cubicBezTo>
                      <a:pt x="171" y="248"/>
                      <a:pt x="126" y="280"/>
                      <a:pt x="79" y="272"/>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4" name="任意多边形 144"/>
              <p:cNvSpPr/>
              <p:nvPr/>
            </p:nvSpPr>
            <p:spPr bwMode="auto">
              <a:xfrm>
                <a:off x="5384178" y="2604196"/>
                <a:ext cx="1175705" cy="1759557"/>
              </a:xfrm>
              <a:custGeom>
                <a:avLst/>
                <a:gdLst>
                  <a:gd name="T0" fmla="*/ 67 w 185"/>
                  <a:gd name="T1" fmla="*/ 271 h 278"/>
                  <a:gd name="T2" fmla="*/ 67 w 185"/>
                  <a:gd name="T3" fmla="*/ 271 h 278"/>
                  <a:gd name="T4" fmla="*/ 7 w 185"/>
                  <a:gd name="T5" fmla="*/ 180 h 278"/>
                  <a:gd name="T6" fmla="*/ 20 w 185"/>
                  <a:gd name="T7" fmla="*/ 72 h 278"/>
                  <a:gd name="T8" fmla="*/ 113 w 185"/>
                  <a:gd name="T9" fmla="*/ 7 h 278"/>
                  <a:gd name="T10" fmla="*/ 113 w 185"/>
                  <a:gd name="T11" fmla="*/ 7 h 278"/>
                  <a:gd name="T12" fmla="*/ 178 w 185"/>
                  <a:gd name="T13" fmla="*/ 100 h 278"/>
                  <a:gd name="T14" fmla="*/ 159 w 185"/>
                  <a:gd name="T15" fmla="*/ 206 h 278"/>
                  <a:gd name="T16" fmla="*/ 67 w 185"/>
                  <a:gd name="T17" fmla="*/ 271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278">
                    <a:moveTo>
                      <a:pt x="67" y="271"/>
                    </a:moveTo>
                    <a:cubicBezTo>
                      <a:pt x="67" y="271"/>
                      <a:pt x="67" y="271"/>
                      <a:pt x="67" y="271"/>
                    </a:cubicBezTo>
                    <a:cubicBezTo>
                      <a:pt x="24" y="263"/>
                      <a:pt x="0" y="224"/>
                      <a:pt x="7" y="180"/>
                    </a:cubicBezTo>
                    <a:cubicBezTo>
                      <a:pt x="20" y="72"/>
                      <a:pt x="20" y="72"/>
                      <a:pt x="20" y="72"/>
                    </a:cubicBezTo>
                    <a:cubicBezTo>
                      <a:pt x="28" y="29"/>
                      <a:pt x="69" y="0"/>
                      <a:pt x="113" y="7"/>
                    </a:cubicBezTo>
                    <a:cubicBezTo>
                      <a:pt x="113" y="7"/>
                      <a:pt x="113" y="7"/>
                      <a:pt x="113" y="7"/>
                    </a:cubicBezTo>
                    <a:cubicBezTo>
                      <a:pt x="156" y="15"/>
                      <a:pt x="185" y="56"/>
                      <a:pt x="178" y="100"/>
                    </a:cubicBezTo>
                    <a:cubicBezTo>
                      <a:pt x="159" y="206"/>
                      <a:pt x="159" y="206"/>
                      <a:pt x="159" y="206"/>
                    </a:cubicBezTo>
                    <a:cubicBezTo>
                      <a:pt x="152" y="249"/>
                      <a:pt x="110" y="278"/>
                      <a:pt x="67" y="271"/>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85" name="任意多边形 145"/>
              <p:cNvSpPr/>
              <p:nvPr/>
            </p:nvSpPr>
            <p:spPr bwMode="auto">
              <a:xfrm>
                <a:off x="5594793" y="3414658"/>
                <a:ext cx="138632" cy="215946"/>
              </a:xfrm>
              <a:custGeom>
                <a:avLst/>
                <a:gdLst>
                  <a:gd name="T0" fmla="*/ 1 w 22"/>
                  <a:gd name="T1" fmla="*/ 15 h 34"/>
                  <a:gd name="T2" fmla="*/ 8 w 22"/>
                  <a:gd name="T3" fmla="*/ 33 h 34"/>
                  <a:gd name="T4" fmla="*/ 21 w 22"/>
                  <a:gd name="T5" fmla="*/ 18 h 34"/>
                  <a:gd name="T6" fmla="*/ 14 w 22"/>
                  <a:gd name="T7" fmla="*/ 1 h 34"/>
                  <a:gd name="T8" fmla="*/ 1 w 22"/>
                  <a:gd name="T9" fmla="*/ 15 h 34"/>
                </a:gdLst>
                <a:ahLst/>
                <a:cxnLst>
                  <a:cxn ang="0">
                    <a:pos x="T0" y="T1"/>
                  </a:cxn>
                  <a:cxn ang="0">
                    <a:pos x="T2" y="T3"/>
                  </a:cxn>
                  <a:cxn ang="0">
                    <a:pos x="T4" y="T5"/>
                  </a:cxn>
                  <a:cxn ang="0">
                    <a:pos x="T6" y="T7"/>
                  </a:cxn>
                  <a:cxn ang="0">
                    <a:pos x="T8" y="T9"/>
                  </a:cxn>
                </a:cxnLst>
                <a:rect l="0" t="0" r="r" b="b"/>
                <a:pathLst>
                  <a:path w="22" h="34">
                    <a:moveTo>
                      <a:pt x="1" y="15"/>
                    </a:moveTo>
                    <a:cubicBezTo>
                      <a:pt x="0" y="24"/>
                      <a:pt x="3" y="32"/>
                      <a:pt x="8" y="33"/>
                    </a:cubicBezTo>
                    <a:cubicBezTo>
                      <a:pt x="14" y="34"/>
                      <a:pt x="19" y="27"/>
                      <a:pt x="21" y="18"/>
                    </a:cubicBezTo>
                    <a:cubicBezTo>
                      <a:pt x="22" y="10"/>
                      <a:pt x="19" y="2"/>
                      <a:pt x="14" y="1"/>
                    </a:cubicBezTo>
                    <a:cubicBezTo>
                      <a:pt x="8" y="0"/>
                      <a:pt x="3" y="6"/>
                      <a:pt x="1"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6" name="任意多边形 146"/>
              <p:cNvSpPr/>
              <p:nvPr/>
            </p:nvSpPr>
            <p:spPr bwMode="auto">
              <a:xfrm>
                <a:off x="6101332" y="3510634"/>
                <a:ext cx="141299" cy="215946"/>
              </a:xfrm>
              <a:custGeom>
                <a:avLst/>
                <a:gdLst>
                  <a:gd name="T0" fmla="*/ 1 w 22"/>
                  <a:gd name="T1" fmla="*/ 15 h 34"/>
                  <a:gd name="T2" fmla="*/ 8 w 22"/>
                  <a:gd name="T3" fmla="*/ 33 h 34"/>
                  <a:gd name="T4" fmla="*/ 21 w 22"/>
                  <a:gd name="T5" fmla="*/ 19 h 34"/>
                  <a:gd name="T6" fmla="*/ 14 w 22"/>
                  <a:gd name="T7" fmla="*/ 1 h 34"/>
                  <a:gd name="T8" fmla="*/ 1 w 22"/>
                  <a:gd name="T9" fmla="*/ 15 h 34"/>
                </a:gdLst>
                <a:ahLst/>
                <a:cxnLst>
                  <a:cxn ang="0">
                    <a:pos x="T0" y="T1"/>
                  </a:cxn>
                  <a:cxn ang="0">
                    <a:pos x="T2" y="T3"/>
                  </a:cxn>
                  <a:cxn ang="0">
                    <a:pos x="T4" y="T5"/>
                  </a:cxn>
                  <a:cxn ang="0">
                    <a:pos x="T6" y="T7"/>
                  </a:cxn>
                  <a:cxn ang="0">
                    <a:pos x="T8" y="T9"/>
                  </a:cxn>
                </a:cxnLst>
                <a:rect l="0" t="0" r="r" b="b"/>
                <a:pathLst>
                  <a:path w="22" h="34">
                    <a:moveTo>
                      <a:pt x="1" y="15"/>
                    </a:moveTo>
                    <a:cubicBezTo>
                      <a:pt x="0" y="24"/>
                      <a:pt x="3" y="32"/>
                      <a:pt x="8" y="33"/>
                    </a:cubicBezTo>
                    <a:cubicBezTo>
                      <a:pt x="14" y="34"/>
                      <a:pt x="19" y="27"/>
                      <a:pt x="21" y="19"/>
                    </a:cubicBezTo>
                    <a:cubicBezTo>
                      <a:pt x="22" y="10"/>
                      <a:pt x="19" y="2"/>
                      <a:pt x="14" y="1"/>
                    </a:cubicBezTo>
                    <a:cubicBezTo>
                      <a:pt x="8" y="0"/>
                      <a:pt x="2" y="6"/>
                      <a:pt x="1"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7" name="任意多边形 147"/>
              <p:cNvSpPr/>
              <p:nvPr/>
            </p:nvSpPr>
            <p:spPr bwMode="auto">
              <a:xfrm>
                <a:off x="6431915" y="3566621"/>
                <a:ext cx="386570" cy="469215"/>
              </a:xfrm>
              <a:custGeom>
                <a:avLst/>
                <a:gdLst>
                  <a:gd name="T0" fmla="*/ 6 w 61"/>
                  <a:gd name="T1" fmla="*/ 32 h 74"/>
                  <a:gd name="T2" fmla="*/ 19 w 61"/>
                  <a:gd name="T3" fmla="*/ 71 h 74"/>
                  <a:gd name="T4" fmla="*/ 55 w 61"/>
                  <a:gd name="T5" fmla="*/ 42 h 74"/>
                  <a:gd name="T6" fmla="*/ 42 w 61"/>
                  <a:gd name="T7" fmla="*/ 3 h 74"/>
                  <a:gd name="T8" fmla="*/ 6 w 61"/>
                  <a:gd name="T9" fmla="*/ 32 h 74"/>
                </a:gdLst>
                <a:ahLst/>
                <a:cxnLst>
                  <a:cxn ang="0">
                    <a:pos x="T0" y="T1"/>
                  </a:cxn>
                  <a:cxn ang="0">
                    <a:pos x="T2" y="T3"/>
                  </a:cxn>
                  <a:cxn ang="0">
                    <a:pos x="T4" y="T5"/>
                  </a:cxn>
                  <a:cxn ang="0">
                    <a:pos x="T6" y="T7"/>
                  </a:cxn>
                  <a:cxn ang="0">
                    <a:pos x="T8" y="T9"/>
                  </a:cxn>
                </a:cxnLst>
                <a:rect l="0" t="0" r="r" b="b"/>
                <a:pathLst>
                  <a:path w="61" h="74">
                    <a:moveTo>
                      <a:pt x="6" y="32"/>
                    </a:moveTo>
                    <a:cubicBezTo>
                      <a:pt x="0" y="51"/>
                      <a:pt x="6" y="69"/>
                      <a:pt x="19" y="71"/>
                    </a:cubicBezTo>
                    <a:cubicBezTo>
                      <a:pt x="33" y="74"/>
                      <a:pt x="48" y="61"/>
                      <a:pt x="55" y="42"/>
                    </a:cubicBezTo>
                    <a:cubicBezTo>
                      <a:pt x="61" y="23"/>
                      <a:pt x="55" y="6"/>
                      <a:pt x="42" y="3"/>
                    </a:cubicBezTo>
                    <a:cubicBezTo>
                      <a:pt x="28" y="0"/>
                      <a:pt x="12" y="13"/>
                      <a:pt x="6" y="32"/>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8" name="任意多边形 148"/>
              <p:cNvSpPr/>
              <p:nvPr/>
            </p:nvSpPr>
            <p:spPr bwMode="auto">
              <a:xfrm>
                <a:off x="5360185" y="2433572"/>
                <a:ext cx="1503621" cy="1261017"/>
              </a:xfrm>
              <a:custGeom>
                <a:avLst/>
                <a:gdLst>
                  <a:gd name="T0" fmla="*/ 176 w 237"/>
                  <a:gd name="T1" fmla="*/ 110 h 199"/>
                  <a:gd name="T2" fmla="*/ 17 w 237"/>
                  <a:gd name="T3" fmla="*/ 120 h 199"/>
                  <a:gd name="T4" fmla="*/ 28 w 237"/>
                  <a:gd name="T5" fmla="*/ 23 h 199"/>
                  <a:gd name="T6" fmla="*/ 203 w 237"/>
                  <a:gd name="T7" fmla="*/ 52 h 199"/>
                  <a:gd name="T8" fmla="*/ 237 w 237"/>
                  <a:gd name="T9" fmla="*/ 119 h 199"/>
                  <a:gd name="T10" fmla="*/ 206 w 237"/>
                  <a:gd name="T11" fmla="*/ 185 h 199"/>
                  <a:gd name="T12" fmla="*/ 184 w 237"/>
                  <a:gd name="T13" fmla="*/ 199 h 199"/>
                  <a:gd name="T14" fmla="*/ 175 w 237"/>
                  <a:gd name="T15" fmla="*/ 178 h 199"/>
                  <a:gd name="T16" fmla="*/ 176 w 237"/>
                  <a:gd name="T17" fmla="*/ 11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99">
                    <a:moveTo>
                      <a:pt x="176" y="110"/>
                    </a:moveTo>
                    <a:cubicBezTo>
                      <a:pt x="176" y="110"/>
                      <a:pt x="116" y="128"/>
                      <a:pt x="17" y="120"/>
                    </a:cubicBezTo>
                    <a:cubicBezTo>
                      <a:pt x="5" y="118"/>
                      <a:pt x="0" y="19"/>
                      <a:pt x="28" y="23"/>
                    </a:cubicBezTo>
                    <a:cubicBezTo>
                      <a:pt x="109" y="32"/>
                      <a:pt x="166" y="0"/>
                      <a:pt x="203" y="52"/>
                    </a:cubicBezTo>
                    <a:cubicBezTo>
                      <a:pt x="203" y="52"/>
                      <a:pt x="237" y="62"/>
                      <a:pt x="237" y="119"/>
                    </a:cubicBezTo>
                    <a:cubicBezTo>
                      <a:pt x="237" y="149"/>
                      <a:pt x="206" y="185"/>
                      <a:pt x="206" y="185"/>
                    </a:cubicBezTo>
                    <a:cubicBezTo>
                      <a:pt x="206" y="185"/>
                      <a:pt x="194" y="185"/>
                      <a:pt x="184" y="199"/>
                    </a:cubicBezTo>
                    <a:cubicBezTo>
                      <a:pt x="184" y="199"/>
                      <a:pt x="180" y="188"/>
                      <a:pt x="175" y="178"/>
                    </a:cubicBezTo>
                    <a:cubicBezTo>
                      <a:pt x="175" y="178"/>
                      <a:pt x="162" y="145"/>
                      <a:pt x="176" y="110"/>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0" name="任意多边形 149"/>
              <p:cNvSpPr/>
              <p:nvPr/>
            </p:nvSpPr>
            <p:spPr bwMode="auto">
              <a:xfrm>
                <a:off x="5576130" y="3897204"/>
                <a:ext cx="445222" cy="213280"/>
              </a:xfrm>
              <a:custGeom>
                <a:avLst/>
                <a:gdLst>
                  <a:gd name="T0" fmla="*/ 46 w 70"/>
                  <a:gd name="T1" fmla="*/ 21 h 34"/>
                  <a:gd name="T2" fmla="*/ 62 w 70"/>
                  <a:gd name="T3" fmla="*/ 27 h 34"/>
                  <a:gd name="T4" fmla="*/ 70 w 70"/>
                  <a:gd name="T5" fmla="*/ 7 h 34"/>
                  <a:gd name="T6" fmla="*/ 29 w 70"/>
                  <a:gd name="T7" fmla="*/ 10 h 34"/>
                  <a:gd name="T8" fmla="*/ 2 w 70"/>
                  <a:gd name="T9" fmla="*/ 0 h 34"/>
                  <a:gd name="T10" fmla="*/ 15 w 70"/>
                  <a:gd name="T11" fmla="*/ 34 h 34"/>
                  <a:gd name="T12" fmla="*/ 46 w 70"/>
                  <a:gd name="T13" fmla="*/ 21 h 34"/>
                </a:gdLst>
                <a:ahLst/>
                <a:cxnLst>
                  <a:cxn ang="0">
                    <a:pos x="T0" y="T1"/>
                  </a:cxn>
                  <a:cxn ang="0">
                    <a:pos x="T2" y="T3"/>
                  </a:cxn>
                  <a:cxn ang="0">
                    <a:pos x="T4" y="T5"/>
                  </a:cxn>
                  <a:cxn ang="0">
                    <a:pos x="T6" y="T7"/>
                  </a:cxn>
                  <a:cxn ang="0">
                    <a:pos x="T8" y="T9"/>
                  </a:cxn>
                  <a:cxn ang="0">
                    <a:pos x="T10" y="T11"/>
                  </a:cxn>
                  <a:cxn ang="0">
                    <a:pos x="T12" y="T13"/>
                  </a:cxn>
                </a:cxnLst>
                <a:rect l="0" t="0" r="r" b="b"/>
                <a:pathLst>
                  <a:path w="70" h="34">
                    <a:moveTo>
                      <a:pt x="46" y="21"/>
                    </a:moveTo>
                    <a:cubicBezTo>
                      <a:pt x="53" y="22"/>
                      <a:pt x="58" y="24"/>
                      <a:pt x="62" y="27"/>
                    </a:cubicBezTo>
                    <a:cubicBezTo>
                      <a:pt x="68" y="18"/>
                      <a:pt x="70" y="7"/>
                      <a:pt x="70" y="7"/>
                    </a:cubicBezTo>
                    <a:cubicBezTo>
                      <a:pt x="70" y="7"/>
                      <a:pt x="45" y="13"/>
                      <a:pt x="29" y="10"/>
                    </a:cubicBezTo>
                    <a:cubicBezTo>
                      <a:pt x="14" y="6"/>
                      <a:pt x="2" y="0"/>
                      <a:pt x="2" y="0"/>
                    </a:cubicBezTo>
                    <a:cubicBezTo>
                      <a:pt x="2" y="0"/>
                      <a:pt x="0" y="22"/>
                      <a:pt x="15" y="34"/>
                    </a:cubicBezTo>
                    <a:cubicBezTo>
                      <a:pt x="21" y="26"/>
                      <a:pt x="30" y="19"/>
                      <a:pt x="46" y="21"/>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1" name="任意多边形 150"/>
              <p:cNvSpPr/>
              <p:nvPr/>
            </p:nvSpPr>
            <p:spPr bwMode="auto">
              <a:xfrm>
                <a:off x="5672106" y="4017173"/>
                <a:ext cx="295926" cy="143964"/>
              </a:xfrm>
              <a:custGeom>
                <a:avLst/>
                <a:gdLst>
                  <a:gd name="T0" fmla="*/ 47 w 47"/>
                  <a:gd name="T1" fmla="*/ 8 h 23"/>
                  <a:gd name="T2" fmla="*/ 31 w 47"/>
                  <a:gd name="T3" fmla="*/ 2 h 23"/>
                  <a:gd name="T4" fmla="*/ 0 w 47"/>
                  <a:gd name="T5" fmla="*/ 15 h 23"/>
                  <a:gd name="T6" fmla="*/ 16 w 47"/>
                  <a:gd name="T7" fmla="*/ 21 h 23"/>
                  <a:gd name="T8" fmla="*/ 47 w 47"/>
                  <a:gd name="T9" fmla="*/ 8 h 23"/>
                </a:gdLst>
                <a:ahLst/>
                <a:cxnLst>
                  <a:cxn ang="0">
                    <a:pos x="T0" y="T1"/>
                  </a:cxn>
                  <a:cxn ang="0">
                    <a:pos x="T2" y="T3"/>
                  </a:cxn>
                  <a:cxn ang="0">
                    <a:pos x="T4" y="T5"/>
                  </a:cxn>
                  <a:cxn ang="0">
                    <a:pos x="T6" y="T7"/>
                  </a:cxn>
                  <a:cxn ang="0">
                    <a:pos x="T8" y="T9"/>
                  </a:cxn>
                </a:cxnLst>
                <a:rect l="0" t="0" r="r" b="b"/>
                <a:pathLst>
                  <a:path w="47" h="23">
                    <a:moveTo>
                      <a:pt x="47" y="8"/>
                    </a:moveTo>
                    <a:cubicBezTo>
                      <a:pt x="43" y="5"/>
                      <a:pt x="38" y="3"/>
                      <a:pt x="31" y="2"/>
                    </a:cubicBezTo>
                    <a:cubicBezTo>
                      <a:pt x="15" y="0"/>
                      <a:pt x="6" y="7"/>
                      <a:pt x="0" y="15"/>
                    </a:cubicBezTo>
                    <a:cubicBezTo>
                      <a:pt x="4" y="18"/>
                      <a:pt x="10" y="20"/>
                      <a:pt x="16" y="21"/>
                    </a:cubicBezTo>
                    <a:cubicBezTo>
                      <a:pt x="32" y="23"/>
                      <a:pt x="41" y="16"/>
                      <a:pt x="47" y="8"/>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2" name="任意多边形 151"/>
              <p:cNvSpPr/>
              <p:nvPr/>
            </p:nvSpPr>
            <p:spPr bwMode="auto">
              <a:xfrm>
                <a:off x="6248965" y="4694336"/>
                <a:ext cx="719031" cy="445400"/>
              </a:xfrm>
              <a:custGeom>
                <a:avLst/>
                <a:gdLst>
                  <a:gd name="connsiteX0" fmla="*/ 116634 w 428156"/>
                  <a:gd name="connsiteY0" fmla="*/ 0 h 265219"/>
                  <a:gd name="connsiteX1" fmla="*/ 384967 w 428156"/>
                  <a:gd name="connsiteY1" fmla="*/ 86616 h 265219"/>
                  <a:gd name="connsiteX2" fmla="*/ 407998 w 428156"/>
                  <a:gd name="connsiteY2" fmla="*/ 114684 h 265219"/>
                  <a:gd name="connsiteX3" fmla="*/ 428156 w 428156"/>
                  <a:gd name="connsiteY3" fmla="*/ 141734 h 265219"/>
                  <a:gd name="connsiteX4" fmla="*/ 361246 w 428156"/>
                  <a:gd name="connsiteY4" fmla="*/ 173843 h 265219"/>
                  <a:gd name="connsiteX5" fmla="*/ 3361 w 428156"/>
                  <a:gd name="connsiteY5" fmla="*/ 265050 h 265219"/>
                  <a:gd name="connsiteX6" fmla="*/ 0 w 428156"/>
                  <a:gd name="connsiteY6" fmla="*/ 265219 h 265219"/>
                  <a:gd name="connsiteX7" fmla="*/ 17892 w 428156"/>
                  <a:gd name="connsiteY7" fmla="*/ 224535 h 265219"/>
                  <a:gd name="connsiteX8" fmla="*/ 116634 w 428156"/>
                  <a:gd name="connsiteY8" fmla="*/ 0 h 26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156" h="265219">
                    <a:moveTo>
                      <a:pt x="116634" y="0"/>
                    </a:moveTo>
                    <a:lnTo>
                      <a:pt x="384967" y="86616"/>
                    </a:lnTo>
                    <a:cubicBezTo>
                      <a:pt x="384967" y="86616"/>
                      <a:pt x="393471" y="96031"/>
                      <a:pt x="407998" y="114684"/>
                    </a:cubicBezTo>
                    <a:lnTo>
                      <a:pt x="428156" y="141734"/>
                    </a:lnTo>
                    <a:lnTo>
                      <a:pt x="361246" y="173843"/>
                    </a:lnTo>
                    <a:cubicBezTo>
                      <a:pt x="249356" y="220988"/>
                      <a:pt x="129121" y="252327"/>
                      <a:pt x="3361" y="265050"/>
                    </a:cubicBezTo>
                    <a:lnTo>
                      <a:pt x="0" y="265219"/>
                    </a:lnTo>
                    <a:lnTo>
                      <a:pt x="17892" y="224535"/>
                    </a:lnTo>
                    <a:cubicBezTo>
                      <a:pt x="116634" y="0"/>
                      <a:pt x="116634" y="0"/>
                      <a:pt x="116634" y="0"/>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93" name="任意多边形 152"/>
              <p:cNvSpPr/>
              <p:nvPr/>
            </p:nvSpPr>
            <p:spPr bwMode="auto">
              <a:xfrm>
                <a:off x="5640114" y="3441318"/>
                <a:ext cx="37324" cy="55987"/>
              </a:xfrm>
              <a:custGeom>
                <a:avLst/>
                <a:gdLst>
                  <a:gd name="T0" fmla="*/ 6 w 6"/>
                  <a:gd name="T1" fmla="*/ 5 h 9"/>
                  <a:gd name="T2" fmla="*/ 4 w 6"/>
                  <a:gd name="T3" fmla="*/ 1 h 9"/>
                  <a:gd name="T4" fmla="*/ 1 w 6"/>
                  <a:gd name="T5" fmla="*/ 4 h 9"/>
                  <a:gd name="T6" fmla="*/ 2 w 6"/>
                  <a:gd name="T7" fmla="*/ 8 h 9"/>
                  <a:gd name="T8" fmla="*/ 6 w 6"/>
                  <a:gd name="T9" fmla="*/ 5 h 9"/>
                </a:gdLst>
                <a:ahLst/>
                <a:cxnLst>
                  <a:cxn ang="0">
                    <a:pos x="T0" y="T1"/>
                  </a:cxn>
                  <a:cxn ang="0">
                    <a:pos x="T2" y="T3"/>
                  </a:cxn>
                  <a:cxn ang="0">
                    <a:pos x="T4" y="T5"/>
                  </a:cxn>
                  <a:cxn ang="0">
                    <a:pos x="T6" y="T7"/>
                  </a:cxn>
                  <a:cxn ang="0">
                    <a:pos x="T8" y="T9"/>
                  </a:cxn>
                </a:cxnLst>
                <a:rect l="0" t="0" r="r" b="b"/>
                <a:pathLst>
                  <a:path w="6" h="9">
                    <a:moveTo>
                      <a:pt x="6" y="5"/>
                    </a:moveTo>
                    <a:cubicBezTo>
                      <a:pt x="6" y="3"/>
                      <a:pt x="6" y="1"/>
                      <a:pt x="4" y="1"/>
                    </a:cubicBezTo>
                    <a:cubicBezTo>
                      <a:pt x="3" y="0"/>
                      <a:pt x="1" y="2"/>
                      <a:pt x="1" y="4"/>
                    </a:cubicBezTo>
                    <a:cubicBezTo>
                      <a:pt x="0" y="6"/>
                      <a:pt x="1" y="8"/>
                      <a:pt x="2" y="8"/>
                    </a:cubicBezTo>
                    <a:cubicBezTo>
                      <a:pt x="3" y="9"/>
                      <a:pt x="5" y="7"/>
                      <a:pt x="6"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97" name="任意多边形 153"/>
              <p:cNvSpPr/>
              <p:nvPr/>
            </p:nvSpPr>
            <p:spPr bwMode="auto">
              <a:xfrm>
                <a:off x="5650778" y="3473310"/>
                <a:ext cx="26660" cy="37324"/>
              </a:xfrm>
              <a:custGeom>
                <a:avLst/>
                <a:gdLst>
                  <a:gd name="T0" fmla="*/ 4 w 4"/>
                  <a:gd name="T1" fmla="*/ 4 h 6"/>
                  <a:gd name="T2" fmla="*/ 3 w 4"/>
                  <a:gd name="T3" fmla="*/ 1 h 6"/>
                  <a:gd name="T4" fmla="*/ 0 w 4"/>
                  <a:gd name="T5" fmla="*/ 3 h 6"/>
                  <a:gd name="T6" fmla="*/ 1 w 4"/>
                  <a:gd name="T7" fmla="*/ 6 h 6"/>
                  <a:gd name="T8" fmla="*/ 4 w 4"/>
                  <a:gd name="T9" fmla="*/ 4 h 6"/>
                </a:gdLst>
                <a:ahLst/>
                <a:cxnLst>
                  <a:cxn ang="0">
                    <a:pos x="T0" y="T1"/>
                  </a:cxn>
                  <a:cxn ang="0">
                    <a:pos x="T2" y="T3"/>
                  </a:cxn>
                  <a:cxn ang="0">
                    <a:pos x="T4" y="T5"/>
                  </a:cxn>
                  <a:cxn ang="0">
                    <a:pos x="T6" y="T7"/>
                  </a:cxn>
                  <a:cxn ang="0">
                    <a:pos x="T8" y="T9"/>
                  </a:cxn>
                </a:cxnLst>
                <a:rect l="0" t="0" r="r" b="b"/>
                <a:pathLst>
                  <a:path w="4" h="6">
                    <a:moveTo>
                      <a:pt x="4" y="4"/>
                    </a:moveTo>
                    <a:cubicBezTo>
                      <a:pt x="4" y="2"/>
                      <a:pt x="4" y="1"/>
                      <a:pt x="3" y="1"/>
                    </a:cubicBezTo>
                    <a:cubicBezTo>
                      <a:pt x="2" y="0"/>
                      <a:pt x="1" y="1"/>
                      <a:pt x="0" y="3"/>
                    </a:cubicBezTo>
                    <a:cubicBezTo>
                      <a:pt x="0" y="4"/>
                      <a:pt x="0" y="6"/>
                      <a:pt x="1" y="6"/>
                    </a:cubicBezTo>
                    <a:cubicBezTo>
                      <a:pt x="2" y="6"/>
                      <a:pt x="3" y="5"/>
                      <a:pt x="4" y="4"/>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06" name="任意多边形 154"/>
              <p:cNvSpPr/>
              <p:nvPr/>
            </p:nvSpPr>
            <p:spPr bwMode="auto">
              <a:xfrm>
                <a:off x="6141321" y="3542626"/>
                <a:ext cx="37324" cy="50655"/>
              </a:xfrm>
              <a:custGeom>
                <a:avLst/>
                <a:gdLst>
                  <a:gd name="T0" fmla="*/ 6 w 6"/>
                  <a:gd name="T1" fmla="*/ 5 h 8"/>
                  <a:gd name="T2" fmla="*/ 4 w 6"/>
                  <a:gd name="T3" fmla="*/ 1 h 8"/>
                  <a:gd name="T4" fmla="*/ 1 w 6"/>
                  <a:gd name="T5" fmla="*/ 4 h 8"/>
                  <a:gd name="T6" fmla="*/ 2 w 6"/>
                  <a:gd name="T7" fmla="*/ 8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6" y="3"/>
                      <a:pt x="6" y="1"/>
                      <a:pt x="4" y="1"/>
                    </a:cubicBezTo>
                    <a:cubicBezTo>
                      <a:pt x="3" y="0"/>
                      <a:pt x="2" y="1"/>
                      <a:pt x="1" y="4"/>
                    </a:cubicBezTo>
                    <a:cubicBezTo>
                      <a:pt x="0" y="6"/>
                      <a:pt x="1" y="8"/>
                      <a:pt x="2" y="8"/>
                    </a:cubicBezTo>
                    <a:cubicBezTo>
                      <a:pt x="3" y="8"/>
                      <a:pt x="5" y="7"/>
                      <a:pt x="6"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109" name="任意多边形 155"/>
              <p:cNvSpPr/>
              <p:nvPr/>
            </p:nvSpPr>
            <p:spPr bwMode="auto">
              <a:xfrm>
                <a:off x="6151985" y="3574618"/>
                <a:ext cx="26660" cy="37324"/>
              </a:xfrm>
              <a:custGeom>
                <a:avLst/>
                <a:gdLst>
                  <a:gd name="T0" fmla="*/ 4 w 4"/>
                  <a:gd name="T1" fmla="*/ 4 h 6"/>
                  <a:gd name="T2" fmla="*/ 3 w 4"/>
                  <a:gd name="T3" fmla="*/ 0 h 6"/>
                  <a:gd name="T4" fmla="*/ 0 w 4"/>
                  <a:gd name="T5" fmla="*/ 3 h 6"/>
                  <a:gd name="T6" fmla="*/ 1 w 4"/>
                  <a:gd name="T7" fmla="*/ 6 h 6"/>
                  <a:gd name="T8" fmla="*/ 4 w 4"/>
                  <a:gd name="T9" fmla="*/ 4 h 6"/>
                </a:gdLst>
                <a:ahLst/>
                <a:cxnLst>
                  <a:cxn ang="0">
                    <a:pos x="T0" y="T1"/>
                  </a:cxn>
                  <a:cxn ang="0">
                    <a:pos x="T2" y="T3"/>
                  </a:cxn>
                  <a:cxn ang="0">
                    <a:pos x="T4" y="T5"/>
                  </a:cxn>
                  <a:cxn ang="0">
                    <a:pos x="T6" y="T7"/>
                  </a:cxn>
                  <a:cxn ang="0">
                    <a:pos x="T8" y="T9"/>
                  </a:cxn>
                </a:cxnLst>
                <a:rect l="0" t="0" r="r" b="b"/>
                <a:pathLst>
                  <a:path w="4" h="6">
                    <a:moveTo>
                      <a:pt x="4" y="4"/>
                    </a:moveTo>
                    <a:cubicBezTo>
                      <a:pt x="4" y="2"/>
                      <a:pt x="4" y="1"/>
                      <a:pt x="3" y="0"/>
                    </a:cubicBezTo>
                    <a:cubicBezTo>
                      <a:pt x="2" y="0"/>
                      <a:pt x="1" y="1"/>
                      <a:pt x="0" y="3"/>
                    </a:cubicBezTo>
                    <a:cubicBezTo>
                      <a:pt x="0" y="4"/>
                      <a:pt x="0" y="6"/>
                      <a:pt x="1" y="6"/>
                    </a:cubicBezTo>
                    <a:cubicBezTo>
                      <a:pt x="2" y="6"/>
                      <a:pt x="3" y="5"/>
                      <a:pt x="4" y="4"/>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10" name="任意多边形 156"/>
              <p:cNvSpPr/>
              <p:nvPr/>
            </p:nvSpPr>
            <p:spPr bwMode="auto">
              <a:xfrm>
                <a:off x="5581462" y="3294689"/>
                <a:ext cx="183955" cy="63984"/>
              </a:xfrm>
              <a:custGeom>
                <a:avLst/>
                <a:gdLst>
                  <a:gd name="T0" fmla="*/ 2 w 29"/>
                  <a:gd name="T1" fmla="*/ 9 h 10"/>
                  <a:gd name="T2" fmla="*/ 4 w 29"/>
                  <a:gd name="T3" fmla="*/ 10 h 10"/>
                  <a:gd name="T4" fmla="*/ 26 w 29"/>
                  <a:gd name="T5" fmla="*/ 9 h 10"/>
                  <a:gd name="T6" fmla="*/ 29 w 29"/>
                  <a:gd name="T7" fmla="*/ 7 h 10"/>
                  <a:gd name="T8" fmla="*/ 27 w 29"/>
                  <a:gd name="T9" fmla="*/ 4 h 10"/>
                  <a:gd name="T10" fmla="*/ 2 w 29"/>
                  <a:gd name="T11" fmla="*/ 5 h 10"/>
                  <a:gd name="T12" fmla="*/ 1 w 29"/>
                  <a:gd name="T13" fmla="*/ 8 h 10"/>
                  <a:gd name="T14" fmla="*/ 2 w 29"/>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0">
                    <a:moveTo>
                      <a:pt x="2" y="9"/>
                    </a:moveTo>
                    <a:cubicBezTo>
                      <a:pt x="3" y="10"/>
                      <a:pt x="3" y="10"/>
                      <a:pt x="4" y="10"/>
                    </a:cubicBezTo>
                    <a:cubicBezTo>
                      <a:pt x="15" y="5"/>
                      <a:pt x="26" y="9"/>
                      <a:pt x="26" y="9"/>
                    </a:cubicBezTo>
                    <a:cubicBezTo>
                      <a:pt x="27" y="9"/>
                      <a:pt x="28" y="8"/>
                      <a:pt x="29" y="7"/>
                    </a:cubicBezTo>
                    <a:cubicBezTo>
                      <a:pt x="29" y="6"/>
                      <a:pt x="28" y="5"/>
                      <a:pt x="27" y="4"/>
                    </a:cubicBezTo>
                    <a:cubicBezTo>
                      <a:pt x="27" y="4"/>
                      <a:pt x="15" y="0"/>
                      <a:pt x="2" y="5"/>
                    </a:cubicBezTo>
                    <a:cubicBezTo>
                      <a:pt x="1" y="6"/>
                      <a:pt x="0" y="7"/>
                      <a:pt x="1" y="8"/>
                    </a:cubicBezTo>
                    <a:cubicBezTo>
                      <a:pt x="1" y="9"/>
                      <a:pt x="2" y="9"/>
                      <a:pt x="2" y="9"/>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30" name="任意多边形 157"/>
              <p:cNvSpPr/>
              <p:nvPr/>
            </p:nvSpPr>
            <p:spPr bwMode="auto">
              <a:xfrm>
                <a:off x="6159984" y="3382666"/>
                <a:ext cx="165292" cy="90644"/>
              </a:xfrm>
              <a:custGeom>
                <a:avLst/>
                <a:gdLst>
                  <a:gd name="T0" fmla="*/ 25 w 26"/>
                  <a:gd name="T1" fmla="*/ 13 h 14"/>
                  <a:gd name="T2" fmla="*/ 26 w 26"/>
                  <a:gd name="T3" fmla="*/ 13 h 14"/>
                  <a:gd name="T4" fmla="*/ 25 w 26"/>
                  <a:gd name="T5" fmla="*/ 9 h 14"/>
                  <a:gd name="T6" fmla="*/ 2 w 26"/>
                  <a:gd name="T7" fmla="*/ 0 h 14"/>
                  <a:gd name="T8" fmla="*/ 0 w 26"/>
                  <a:gd name="T9" fmla="*/ 2 h 14"/>
                  <a:gd name="T10" fmla="*/ 2 w 26"/>
                  <a:gd name="T11" fmla="*/ 5 h 14"/>
                  <a:gd name="T12" fmla="*/ 22 w 26"/>
                  <a:gd name="T13" fmla="*/ 13 h 14"/>
                  <a:gd name="T14" fmla="*/ 25 w 26"/>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4">
                    <a:moveTo>
                      <a:pt x="25" y="13"/>
                    </a:moveTo>
                    <a:cubicBezTo>
                      <a:pt x="25" y="13"/>
                      <a:pt x="25" y="13"/>
                      <a:pt x="26" y="13"/>
                    </a:cubicBezTo>
                    <a:cubicBezTo>
                      <a:pt x="26" y="12"/>
                      <a:pt x="26" y="10"/>
                      <a:pt x="25" y="9"/>
                    </a:cubicBezTo>
                    <a:cubicBezTo>
                      <a:pt x="15" y="0"/>
                      <a:pt x="3" y="0"/>
                      <a:pt x="2" y="0"/>
                    </a:cubicBezTo>
                    <a:cubicBezTo>
                      <a:pt x="1" y="0"/>
                      <a:pt x="0" y="1"/>
                      <a:pt x="0" y="2"/>
                    </a:cubicBezTo>
                    <a:cubicBezTo>
                      <a:pt x="0" y="4"/>
                      <a:pt x="1" y="5"/>
                      <a:pt x="2" y="5"/>
                    </a:cubicBezTo>
                    <a:cubicBezTo>
                      <a:pt x="2" y="5"/>
                      <a:pt x="14" y="5"/>
                      <a:pt x="22" y="13"/>
                    </a:cubicBezTo>
                    <a:cubicBezTo>
                      <a:pt x="23" y="13"/>
                      <a:pt x="24" y="14"/>
                      <a:pt x="25" y="13"/>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0" name="任意多边形 158"/>
              <p:cNvSpPr/>
              <p:nvPr/>
            </p:nvSpPr>
            <p:spPr bwMode="auto">
              <a:xfrm>
                <a:off x="5714762" y="3459981"/>
                <a:ext cx="178623" cy="295926"/>
              </a:xfrm>
              <a:custGeom>
                <a:avLst/>
                <a:gdLst>
                  <a:gd name="T0" fmla="*/ 13 w 28"/>
                  <a:gd name="T1" fmla="*/ 47 h 47"/>
                  <a:gd name="T2" fmla="*/ 15 w 28"/>
                  <a:gd name="T3" fmla="*/ 46 h 47"/>
                  <a:gd name="T4" fmla="*/ 14 w 28"/>
                  <a:gd name="T5" fmla="*/ 43 h 47"/>
                  <a:gd name="T6" fmla="*/ 5 w 28"/>
                  <a:gd name="T7" fmla="*/ 39 h 47"/>
                  <a:gd name="T8" fmla="*/ 4 w 28"/>
                  <a:gd name="T9" fmla="*/ 34 h 47"/>
                  <a:gd name="T10" fmla="*/ 7 w 28"/>
                  <a:gd name="T11" fmla="*/ 31 h 47"/>
                  <a:gd name="T12" fmla="*/ 15 w 28"/>
                  <a:gd name="T13" fmla="*/ 32 h 47"/>
                  <a:gd name="T14" fmla="*/ 17 w 28"/>
                  <a:gd name="T15" fmla="*/ 32 h 47"/>
                  <a:gd name="T16" fmla="*/ 18 w 28"/>
                  <a:gd name="T17" fmla="*/ 31 h 47"/>
                  <a:gd name="T18" fmla="*/ 27 w 28"/>
                  <a:gd name="T19" fmla="*/ 3 h 47"/>
                  <a:gd name="T20" fmla="*/ 26 w 28"/>
                  <a:gd name="T21" fmla="*/ 1 h 47"/>
                  <a:gd name="T22" fmla="*/ 24 w 28"/>
                  <a:gd name="T23" fmla="*/ 2 h 47"/>
                  <a:gd name="T24" fmla="*/ 15 w 28"/>
                  <a:gd name="T25" fmla="*/ 27 h 47"/>
                  <a:gd name="T26" fmla="*/ 6 w 28"/>
                  <a:gd name="T27" fmla="*/ 27 h 47"/>
                  <a:gd name="T28" fmla="*/ 1 w 28"/>
                  <a:gd name="T29" fmla="*/ 33 h 47"/>
                  <a:gd name="T30" fmla="*/ 1 w 28"/>
                  <a:gd name="T31" fmla="*/ 41 h 47"/>
                  <a:gd name="T32" fmla="*/ 13 w 28"/>
                  <a:gd name="T33" fmla="*/ 47 h 47"/>
                  <a:gd name="T34" fmla="*/ 13 w 28"/>
                  <a:gd name="T3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7">
                    <a:moveTo>
                      <a:pt x="13" y="47"/>
                    </a:moveTo>
                    <a:cubicBezTo>
                      <a:pt x="14" y="47"/>
                      <a:pt x="15" y="47"/>
                      <a:pt x="15" y="46"/>
                    </a:cubicBezTo>
                    <a:cubicBezTo>
                      <a:pt x="15" y="45"/>
                      <a:pt x="15" y="44"/>
                      <a:pt x="14" y="43"/>
                    </a:cubicBezTo>
                    <a:cubicBezTo>
                      <a:pt x="12" y="43"/>
                      <a:pt x="7" y="42"/>
                      <a:pt x="5" y="39"/>
                    </a:cubicBezTo>
                    <a:cubicBezTo>
                      <a:pt x="4" y="38"/>
                      <a:pt x="4" y="36"/>
                      <a:pt x="4" y="34"/>
                    </a:cubicBezTo>
                    <a:cubicBezTo>
                      <a:pt x="5" y="32"/>
                      <a:pt x="6" y="31"/>
                      <a:pt x="7" y="31"/>
                    </a:cubicBezTo>
                    <a:cubicBezTo>
                      <a:pt x="10" y="30"/>
                      <a:pt x="14" y="31"/>
                      <a:pt x="15" y="32"/>
                    </a:cubicBezTo>
                    <a:cubicBezTo>
                      <a:pt x="16" y="32"/>
                      <a:pt x="17" y="32"/>
                      <a:pt x="17" y="32"/>
                    </a:cubicBezTo>
                    <a:cubicBezTo>
                      <a:pt x="18" y="32"/>
                      <a:pt x="18" y="31"/>
                      <a:pt x="18" y="31"/>
                    </a:cubicBezTo>
                    <a:cubicBezTo>
                      <a:pt x="27" y="3"/>
                      <a:pt x="27" y="3"/>
                      <a:pt x="27" y="3"/>
                    </a:cubicBezTo>
                    <a:cubicBezTo>
                      <a:pt x="28" y="2"/>
                      <a:pt x="27" y="1"/>
                      <a:pt x="26" y="1"/>
                    </a:cubicBezTo>
                    <a:cubicBezTo>
                      <a:pt x="25" y="0"/>
                      <a:pt x="24" y="1"/>
                      <a:pt x="24" y="2"/>
                    </a:cubicBezTo>
                    <a:cubicBezTo>
                      <a:pt x="15" y="27"/>
                      <a:pt x="15" y="27"/>
                      <a:pt x="15" y="27"/>
                    </a:cubicBezTo>
                    <a:cubicBezTo>
                      <a:pt x="13" y="27"/>
                      <a:pt x="9" y="26"/>
                      <a:pt x="6" y="27"/>
                    </a:cubicBezTo>
                    <a:cubicBezTo>
                      <a:pt x="3" y="28"/>
                      <a:pt x="2" y="30"/>
                      <a:pt x="1" y="33"/>
                    </a:cubicBezTo>
                    <a:cubicBezTo>
                      <a:pt x="0" y="36"/>
                      <a:pt x="0" y="39"/>
                      <a:pt x="1" y="41"/>
                    </a:cubicBezTo>
                    <a:cubicBezTo>
                      <a:pt x="5" y="46"/>
                      <a:pt x="13" y="47"/>
                      <a:pt x="13" y="47"/>
                    </a:cubicBezTo>
                    <a:cubicBezTo>
                      <a:pt x="13" y="47"/>
                      <a:pt x="13" y="47"/>
                      <a:pt x="13" y="4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grpSp>
        <p:nvGrpSpPr>
          <p:cNvPr id="161" name="组合 160"/>
          <p:cNvGrpSpPr/>
          <p:nvPr/>
        </p:nvGrpSpPr>
        <p:grpSpPr>
          <a:xfrm>
            <a:off x="6085840" y="1984375"/>
            <a:ext cx="1115695" cy="303530"/>
            <a:chOff x="4125346" y="1327411"/>
            <a:chExt cx="1058770" cy="288000"/>
          </a:xfrm>
        </p:grpSpPr>
        <p:sp>
          <p:nvSpPr>
            <p:cNvPr id="162" name="文本框 161"/>
            <p:cNvSpPr txBox="1"/>
            <p:nvPr/>
          </p:nvSpPr>
          <p:spPr>
            <a:xfrm>
              <a:off x="4439288" y="1352114"/>
              <a:ext cx="744828" cy="232642"/>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沉默客户</a:t>
              </a:r>
              <a:endParaRPr lang="zh-CN" altLang="en-US" sz="1000" dirty="0">
                <a:solidFill>
                  <a:srgbClr val="0042FF"/>
                </a:solidFill>
                <a:latin typeface="微软雅黑"/>
                <a:ea typeface="微软雅黑"/>
                <a:cs typeface="微软雅黑"/>
              </a:endParaRPr>
            </a:p>
          </p:txBody>
        </p:sp>
        <p:grpSp>
          <p:nvGrpSpPr>
            <p:cNvPr id="163" name="组合 162"/>
            <p:cNvGrpSpPr>
              <a:grpSpLocks noChangeAspect="1"/>
            </p:cNvGrpSpPr>
            <p:nvPr/>
          </p:nvGrpSpPr>
          <p:grpSpPr>
            <a:xfrm>
              <a:off x="4125346" y="1327411"/>
              <a:ext cx="300655" cy="288000"/>
              <a:chOff x="4370920" y="1776533"/>
              <a:chExt cx="3450159" cy="3304934"/>
            </a:xfrm>
          </p:grpSpPr>
          <p:sp>
            <p:nvSpPr>
              <p:cNvPr id="164" name="椭圆 163"/>
              <p:cNvSpPr/>
              <p:nvPr/>
            </p:nvSpPr>
            <p:spPr bwMode="auto">
              <a:xfrm>
                <a:off x="4370920" y="1776533"/>
                <a:ext cx="3450159" cy="3304933"/>
              </a:xfrm>
              <a:prstGeom prst="ellipse">
                <a:avLst/>
              </a:pr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5" name="任意多边形 275"/>
              <p:cNvSpPr/>
              <p:nvPr/>
            </p:nvSpPr>
            <p:spPr bwMode="auto">
              <a:xfrm>
                <a:off x="5586895" y="3941122"/>
                <a:ext cx="1008726" cy="1140345"/>
              </a:xfrm>
              <a:custGeom>
                <a:avLst/>
                <a:gdLst>
                  <a:gd name="connsiteX0" fmla="*/ 377600 w 728698"/>
                  <a:gd name="connsiteY0" fmla="*/ 587 h 857239"/>
                  <a:gd name="connsiteX1" fmla="*/ 475757 w 728698"/>
                  <a:gd name="connsiteY1" fmla="*/ 26996 h 857239"/>
                  <a:gd name="connsiteX2" fmla="*/ 471982 w 728698"/>
                  <a:gd name="connsiteY2" fmla="*/ 49632 h 857239"/>
                  <a:gd name="connsiteX3" fmla="*/ 468206 w 728698"/>
                  <a:gd name="connsiteY3" fmla="*/ 53405 h 857239"/>
                  <a:gd name="connsiteX4" fmla="*/ 551262 w 728698"/>
                  <a:gd name="connsiteY4" fmla="*/ 128860 h 857239"/>
                  <a:gd name="connsiteX5" fmla="*/ 728698 w 728698"/>
                  <a:gd name="connsiteY5" fmla="*/ 457088 h 857239"/>
                  <a:gd name="connsiteX6" fmla="*/ 703215 w 728698"/>
                  <a:gd name="connsiteY6" fmla="*/ 784432 h 857239"/>
                  <a:gd name="connsiteX7" fmla="*/ 702197 w 728698"/>
                  <a:gd name="connsiteY7" fmla="*/ 810659 h 857239"/>
                  <a:gd name="connsiteX8" fmla="*/ 618926 w 728698"/>
                  <a:gd name="connsiteY8" fmla="*/ 832002 h 857239"/>
                  <a:gd name="connsiteX9" fmla="*/ 367775 w 728698"/>
                  <a:gd name="connsiteY9" fmla="*/ 857239 h 857239"/>
                  <a:gd name="connsiteX10" fmla="*/ 116625 w 728698"/>
                  <a:gd name="connsiteY10" fmla="*/ 832002 h 857239"/>
                  <a:gd name="connsiteX11" fmla="*/ 54345 w 728698"/>
                  <a:gd name="connsiteY11" fmla="*/ 816039 h 857239"/>
                  <a:gd name="connsiteX12" fmla="*/ 52103 w 728698"/>
                  <a:gd name="connsiteY12" fmla="*/ 784300 h 857239"/>
                  <a:gd name="connsiteX13" fmla="*/ 75 w 728698"/>
                  <a:gd name="connsiteY13" fmla="*/ 291088 h 857239"/>
                  <a:gd name="connsiteX14" fmla="*/ 283219 w 728698"/>
                  <a:gd name="connsiteY14" fmla="*/ 30769 h 857239"/>
                  <a:gd name="connsiteX15" fmla="*/ 377600 w 728698"/>
                  <a:gd name="connsiteY15" fmla="*/ 587 h 85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8698" h="857239">
                    <a:moveTo>
                      <a:pt x="377600" y="587"/>
                    </a:moveTo>
                    <a:cubicBezTo>
                      <a:pt x="385151" y="-3186"/>
                      <a:pt x="449330" y="11905"/>
                      <a:pt x="475757" y="26996"/>
                    </a:cubicBezTo>
                    <a:cubicBezTo>
                      <a:pt x="487083" y="34542"/>
                      <a:pt x="460656" y="42087"/>
                      <a:pt x="471982" y="49632"/>
                    </a:cubicBezTo>
                    <a:cubicBezTo>
                      <a:pt x="471982" y="49632"/>
                      <a:pt x="471982" y="49632"/>
                      <a:pt x="468206" y="53405"/>
                    </a:cubicBezTo>
                    <a:cubicBezTo>
                      <a:pt x="498408" y="79814"/>
                      <a:pt x="524835" y="106224"/>
                      <a:pt x="551262" y="128860"/>
                    </a:cubicBezTo>
                    <a:cubicBezTo>
                      <a:pt x="653194" y="226951"/>
                      <a:pt x="728698" y="340133"/>
                      <a:pt x="728698" y="457088"/>
                    </a:cubicBezTo>
                    <a:cubicBezTo>
                      <a:pt x="728698" y="547634"/>
                      <a:pt x="711710" y="623325"/>
                      <a:pt x="703215" y="784432"/>
                    </a:cubicBezTo>
                    <a:lnTo>
                      <a:pt x="702197" y="810659"/>
                    </a:lnTo>
                    <a:lnTo>
                      <a:pt x="618926" y="832002"/>
                    </a:lnTo>
                    <a:cubicBezTo>
                      <a:pt x="537802" y="848549"/>
                      <a:pt x="453807" y="857239"/>
                      <a:pt x="367775" y="857239"/>
                    </a:cubicBezTo>
                    <a:cubicBezTo>
                      <a:pt x="281744" y="857239"/>
                      <a:pt x="197749" y="848549"/>
                      <a:pt x="116625" y="832002"/>
                    </a:cubicBezTo>
                    <a:lnTo>
                      <a:pt x="54345" y="816039"/>
                    </a:lnTo>
                    <a:lnTo>
                      <a:pt x="52103" y="784300"/>
                    </a:lnTo>
                    <a:cubicBezTo>
                      <a:pt x="37651" y="608823"/>
                      <a:pt x="75" y="291088"/>
                      <a:pt x="75" y="291088"/>
                    </a:cubicBezTo>
                    <a:cubicBezTo>
                      <a:pt x="-3700" y="143951"/>
                      <a:pt x="135984" y="132633"/>
                      <a:pt x="283219" y="30769"/>
                    </a:cubicBezTo>
                    <a:cubicBezTo>
                      <a:pt x="305871" y="15678"/>
                      <a:pt x="370050" y="-3186"/>
                      <a:pt x="377600" y="58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6" name="任意多边形 276"/>
              <p:cNvSpPr/>
              <p:nvPr/>
            </p:nvSpPr>
            <p:spPr bwMode="auto">
              <a:xfrm>
                <a:off x="5988319" y="3962224"/>
                <a:ext cx="268102" cy="236519"/>
              </a:xfrm>
              <a:custGeom>
                <a:avLst/>
                <a:gdLst>
                  <a:gd name="T0" fmla="*/ 17 w 51"/>
                  <a:gd name="T1" fmla="*/ 7 h 47"/>
                  <a:gd name="T2" fmla="*/ 50 w 51"/>
                  <a:gd name="T3" fmla="*/ 9 h 47"/>
                  <a:gd name="T4" fmla="*/ 51 w 51"/>
                  <a:gd name="T5" fmla="*/ 23 h 47"/>
                  <a:gd name="T6" fmla="*/ 0 w 51"/>
                  <a:gd name="T7" fmla="*/ 24 h 47"/>
                  <a:gd name="T8" fmla="*/ 0 w 51"/>
                  <a:gd name="T9" fmla="*/ 0 h 47"/>
                  <a:gd name="T10" fmla="*/ 17 w 51"/>
                  <a:gd name="T11" fmla="*/ 7 h 47"/>
                </a:gdLst>
                <a:ahLst/>
                <a:cxnLst>
                  <a:cxn ang="0">
                    <a:pos x="T0" y="T1"/>
                  </a:cxn>
                  <a:cxn ang="0">
                    <a:pos x="T2" y="T3"/>
                  </a:cxn>
                  <a:cxn ang="0">
                    <a:pos x="T4" y="T5"/>
                  </a:cxn>
                  <a:cxn ang="0">
                    <a:pos x="T6" y="T7"/>
                  </a:cxn>
                  <a:cxn ang="0">
                    <a:pos x="T8" y="T9"/>
                  </a:cxn>
                  <a:cxn ang="0">
                    <a:pos x="T10" y="T11"/>
                  </a:cxn>
                </a:cxnLst>
                <a:rect l="0" t="0" r="r" b="b"/>
                <a:pathLst>
                  <a:path w="51" h="47">
                    <a:moveTo>
                      <a:pt x="17" y="7"/>
                    </a:moveTo>
                    <a:cubicBezTo>
                      <a:pt x="28" y="10"/>
                      <a:pt x="42" y="9"/>
                      <a:pt x="50" y="9"/>
                    </a:cubicBezTo>
                    <a:cubicBezTo>
                      <a:pt x="51" y="23"/>
                      <a:pt x="51" y="23"/>
                      <a:pt x="51" y="23"/>
                    </a:cubicBezTo>
                    <a:cubicBezTo>
                      <a:pt x="51" y="46"/>
                      <a:pt x="1" y="47"/>
                      <a:pt x="0" y="24"/>
                    </a:cubicBezTo>
                    <a:cubicBezTo>
                      <a:pt x="0" y="0"/>
                      <a:pt x="0" y="0"/>
                      <a:pt x="0" y="0"/>
                    </a:cubicBezTo>
                    <a:cubicBezTo>
                      <a:pt x="6" y="3"/>
                      <a:pt x="12" y="5"/>
                      <a:pt x="17" y="7"/>
                    </a:cubicBez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167" name="任意多边形 277"/>
              <p:cNvSpPr/>
              <p:nvPr/>
            </p:nvSpPr>
            <p:spPr bwMode="auto">
              <a:xfrm>
                <a:off x="5983924" y="3687692"/>
                <a:ext cx="265905" cy="164719"/>
              </a:xfrm>
              <a:custGeom>
                <a:avLst/>
                <a:gdLst>
                  <a:gd name="T0" fmla="*/ 0 w 51"/>
                  <a:gd name="T1" fmla="*/ 1 h 33"/>
                  <a:gd name="T2" fmla="*/ 50 w 51"/>
                  <a:gd name="T3" fmla="*/ 0 h 33"/>
                  <a:gd name="T4" fmla="*/ 51 w 51"/>
                  <a:gd name="T5" fmla="*/ 33 h 33"/>
                  <a:gd name="T6" fmla="*/ 0 w 51"/>
                  <a:gd name="T7" fmla="*/ 27 h 33"/>
                  <a:gd name="T8" fmla="*/ 0 w 51"/>
                  <a:gd name="T9" fmla="*/ 1 h 33"/>
                </a:gdLst>
                <a:ahLst/>
                <a:cxnLst>
                  <a:cxn ang="0">
                    <a:pos x="T0" y="T1"/>
                  </a:cxn>
                  <a:cxn ang="0">
                    <a:pos x="T2" y="T3"/>
                  </a:cxn>
                  <a:cxn ang="0">
                    <a:pos x="T4" y="T5"/>
                  </a:cxn>
                  <a:cxn ang="0">
                    <a:pos x="T6" y="T7"/>
                  </a:cxn>
                  <a:cxn ang="0">
                    <a:pos x="T8" y="T9"/>
                  </a:cxn>
                </a:cxnLst>
                <a:rect l="0" t="0" r="r" b="b"/>
                <a:pathLst>
                  <a:path w="51" h="33">
                    <a:moveTo>
                      <a:pt x="0" y="1"/>
                    </a:moveTo>
                    <a:cubicBezTo>
                      <a:pt x="50" y="0"/>
                      <a:pt x="50" y="0"/>
                      <a:pt x="50" y="0"/>
                    </a:cubicBezTo>
                    <a:cubicBezTo>
                      <a:pt x="51" y="33"/>
                      <a:pt x="51" y="33"/>
                      <a:pt x="51" y="33"/>
                    </a:cubicBezTo>
                    <a:cubicBezTo>
                      <a:pt x="35" y="31"/>
                      <a:pt x="13" y="29"/>
                      <a:pt x="0" y="27"/>
                    </a:cubicBezTo>
                    <a:lnTo>
                      <a:pt x="0" y="1"/>
                    </a:ln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168" name="任意多边形 278"/>
              <p:cNvSpPr/>
              <p:nvPr/>
            </p:nvSpPr>
            <p:spPr bwMode="auto">
              <a:xfrm>
                <a:off x="5983924" y="3822846"/>
                <a:ext cx="265905" cy="219625"/>
              </a:xfrm>
              <a:custGeom>
                <a:avLst/>
                <a:gdLst>
                  <a:gd name="T0" fmla="*/ 18 w 51"/>
                  <a:gd name="T1" fmla="*/ 35 h 44"/>
                  <a:gd name="T2" fmla="*/ 1 w 51"/>
                  <a:gd name="T3" fmla="*/ 28 h 44"/>
                  <a:gd name="T4" fmla="*/ 0 w 51"/>
                  <a:gd name="T5" fmla="*/ 0 h 44"/>
                  <a:gd name="T6" fmla="*/ 51 w 51"/>
                  <a:gd name="T7" fmla="*/ 6 h 44"/>
                  <a:gd name="T8" fmla="*/ 51 w 51"/>
                  <a:gd name="T9" fmla="*/ 37 h 44"/>
                  <a:gd name="T10" fmla="*/ 18 w 51"/>
                  <a:gd name="T11" fmla="*/ 35 h 44"/>
                </a:gdLst>
                <a:ahLst/>
                <a:cxnLst>
                  <a:cxn ang="0">
                    <a:pos x="T0" y="T1"/>
                  </a:cxn>
                  <a:cxn ang="0">
                    <a:pos x="T2" y="T3"/>
                  </a:cxn>
                  <a:cxn ang="0">
                    <a:pos x="T4" y="T5"/>
                  </a:cxn>
                  <a:cxn ang="0">
                    <a:pos x="T6" y="T7"/>
                  </a:cxn>
                  <a:cxn ang="0">
                    <a:pos x="T8" y="T9"/>
                  </a:cxn>
                  <a:cxn ang="0">
                    <a:pos x="T10" y="T11"/>
                  </a:cxn>
                </a:cxnLst>
                <a:rect l="0" t="0" r="r" b="b"/>
                <a:pathLst>
                  <a:path w="51" h="44">
                    <a:moveTo>
                      <a:pt x="18" y="35"/>
                    </a:moveTo>
                    <a:cubicBezTo>
                      <a:pt x="13" y="33"/>
                      <a:pt x="7" y="31"/>
                      <a:pt x="1" y="28"/>
                    </a:cubicBezTo>
                    <a:cubicBezTo>
                      <a:pt x="0" y="0"/>
                      <a:pt x="0" y="0"/>
                      <a:pt x="0" y="0"/>
                    </a:cubicBezTo>
                    <a:cubicBezTo>
                      <a:pt x="13" y="2"/>
                      <a:pt x="35" y="4"/>
                      <a:pt x="51" y="6"/>
                    </a:cubicBezTo>
                    <a:cubicBezTo>
                      <a:pt x="51" y="37"/>
                      <a:pt x="51" y="37"/>
                      <a:pt x="51" y="37"/>
                    </a:cubicBezTo>
                    <a:cubicBezTo>
                      <a:pt x="35" y="44"/>
                      <a:pt x="29" y="38"/>
                      <a:pt x="18" y="35"/>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69" name="任意多边形 279"/>
              <p:cNvSpPr/>
              <p:nvPr/>
            </p:nvSpPr>
            <p:spPr bwMode="auto">
              <a:xfrm>
                <a:off x="5665280" y="2644474"/>
                <a:ext cx="1015270" cy="1338867"/>
              </a:xfrm>
              <a:custGeom>
                <a:avLst/>
                <a:gdLst>
                  <a:gd name="T0" fmla="*/ 119 w 194"/>
                  <a:gd name="T1" fmla="*/ 260 h 267"/>
                  <a:gd name="T2" fmla="*/ 186 w 194"/>
                  <a:gd name="T3" fmla="*/ 164 h 267"/>
                  <a:gd name="T4" fmla="*/ 171 w 194"/>
                  <a:gd name="T5" fmla="*/ 76 h 267"/>
                  <a:gd name="T6" fmla="*/ 76 w 194"/>
                  <a:gd name="T7" fmla="*/ 8 h 267"/>
                  <a:gd name="T8" fmla="*/ 8 w 194"/>
                  <a:gd name="T9" fmla="*/ 103 h 267"/>
                  <a:gd name="T10" fmla="*/ 23 w 194"/>
                  <a:gd name="T11" fmla="*/ 192 h 267"/>
                  <a:gd name="T12" fmla="*/ 119 w 194"/>
                  <a:gd name="T13" fmla="*/ 260 h 267"/>
                </a:gdLst>
                <a:ahLst/>
                <a:cxnLst>
                  <a:cxn ang="0">
                    <a:pos x="T0" y="T1"/>
                  </a:cxn>
                  <a:cxn ang="0">
                    <a:pos x="T2" y="T3"/>
                  </a:cxn>
                  <a:cxn ang="0">
                    <a:pos x="T4" y="T5"/>
                  </a:cxn>
                  <a:cxn ang="0">
                    <a:pos x="T6" y="T7"/>
                  </a:cxn>
                  <a:cxn ang="0">
                    <a:pos x="T8" y="T9"/>
                  </a:cxn>
                  <a:cxn ang="0">
                    <a:pos x="T10" y="T11"/>
                  </a:cxn>
                  <a:cxn ang="0">
                    <a:pos x="T12" y="T13"/>
                  </a:cxn>
                </a:cxnLst>
                <a:rect l="0" t="0" r="r" b="b"/>
                <a:pathLst>
                  <a:path w="194" h="267">
                    <a:moveTo>
                      <a:pt x="119" y="260"/>
                    </a:moveTo>
                    <a:cubicBezTo>
                      <a:pt x="164" y="252"/>
                      <a:pt x="194" y="209"/>
                      <a:pt x="186" y="164"/>
                    </a:cubicBezTo>
                    <a:cubicBezTo>
                      <a:pt x="171" y="76"/>
                      <a:pt x="171" y="76"/>
                      <a:pt x="171" y="76"/>
                    </a:cubicBezTo>
                    <a:cubicBezTo>
                      <a:pt x="164" y="30"/>
                      <a:pt x="121" y="0"/>
                      <a:pt x="76" y="8"/>
                    </a:cubicBezTo>
                    <a:cubicBezTo>
                      <a:pt x="31" y="15"/>
                      <a:pt x="0" y="58"/>
                      <a:pt x="8" y="103"/>
                    </a:cubicBezTo>
                    <a:cubicBezTo>
                      <a:pt x="23" y="192"/>
                      <a:pt x="23" y="192"/>
                      <a:pt x="23" y="192"/>
                    </a:cubicBezTo>
                    <a:cubicBezTo>
                      <a:pt x="31" y="237"/>
                      <a:pt x="74" y="267"/>
                      <a:pt x="119" y="260"/>
                    </a:cubicBezTo>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0" name="任意多边形 280"/>
              <p:cNvSpPr/>
              <p:nvPr/>
            </p:nvSpPr>
            <p:spPr bwMode="auto">
              <a:xfrm>
                <a:off x="5759774" y="2638138"/>
                <a:ext cx="925171" cy="1334643"/>
              </a:xfrm>
              <a:custGeom>
                <a:avLst/>
                <a:gdLst>
                  <a:gd name="T0" fmla="*/ 112 w 177"/>
                  <a:gd name="T1" fmla="*/ 259 h 266"/>
                  <a:gd name="T2" fmla="*/ 170 w 177"/>
                  <a:gd name="T3" fmla="*/ 172 h 266"/>
                  <a:gd name="T4" fmla="*/ 157 w 177"/>
                  <a:gd name="T5" fmla="*/ 69 h 266"/>
                  <a:gd name="T6" fmla="*/ 69 w 177"/>
                  <a:gd name="T7" fmla="*/ 7 h 266"/>
                  <a:gd name="T8" fmla="*/ 7 w 177"/>
                  <a:gd name="T9" fmla="*/ 95 h 266"/>
                  <a:gd name="T10" fmla="*/ 24 w 177"/>
                  <a:gd name="T11" fmla="*/ 196 h 266"/>
                  <a:gd name="T12" fmla="*/ 112 w 177"/>
                  <a:gd name="T13" fmla="*/ 259 h 266"/>
                </a:gdLst>
                <a:ahLst/>
                <a:cxnLst>
                  <a:cxn ang="0">
                    <a:pos x="T0" y="T1"/>
                  </a:cxn>
                  <a:cxn ang="0">
                    <a:pos x="T2" y="T3"/>
                  </a:cxn>
                  <a:cxn ang="0">
                    <a:pos x="T4" y="T5"/>
                  </a:cxn>
                  <a:cxn ang="0">
                    <a:pos x="T6" y="T7"/>
                  </a:cxn>
                  <a:cxn ang="0">
                    <a:pos x="T8" y="T9"/>
                  </a:cxn>
                  <a:cxn ang="0">
                    <a:pos x="T10" y="T11"/>
                  </a:cxn>
                  <a:cxn ang="0">
                    <a:pos x="T12" y="T13"/>
                  </a:cxn>
                </a:cxnLst>
                <a:rect l="0" t="0" r="r" b="b"/>
                <a:pathLst>
                  <a:path w="177" h="266">
                    <a:moveTo>
                      <a:pt x="112" y="259"/>
                    </a:moveTo>
                    <a:cubicBezTo>
                      <a:pt x="154" y="251"/>
                      <a:pt x="177" y="214"/>
                      <a:pt x="170" y="172"/>
                    </a:cubicBezTo>
                    <a:cubicBezTo>
                      <a:pt x="157" y="69"/>
                      <a:pt x="157" y="69"/>
                      <a:pt x="157" y="69"/>
                    </a:cubicBezTo>
                    <a:cubicBezTo>
                      <a:pt x="150" y="28"/>
                      <a:pt x="111" y="0"/>
                      <a:pt x="69" y="7"/>
                    </a:cubicBezTo>
                    <a:cubicBezTo>
                      <a:pt x="28" y="14"/>
                      <a:pt x="0" y="53"/>
                      <a:pt x="7" y="95"/>
                    </a:cubicBezTo>
                    <a:cubicBezTo>
                      <a:pt x="24" y="196"/>
                      <a:pt x="24" y="196"/>
                      <a:pt x="24" y="196"/>
                    </a:cubicBezTo>
                    <a:cubicBezTo>
                      <a:pt x="31" y="238"/>
                      <a:pt x="71" y="266"/>
                      <a:pt x="112" y="259"/>
                    </a:cubicBezTo>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171" name="任意多边形 281"/>
              <p:cNvSpPr/>
              <p:nvPr/>
            </p:nvSpPr>
            <p:spPr bwMode="auto">
              <a:xfrm>
                <a:off x="5968542" y="3535644"/>
                <a:ext cx="167014" cy="65466"/>
              </a:xfrm>
              <a:custGeom>
                <a:avLst/>
                <a:gdLst>
                  <a:gd name="T0" fmla="*/ 20 w 32"/>
                  <a:gd name="T1" fmla="*/ 0 h 13"/>
                  <a:gd name="T2" fmla="*/ 14 w 32"/>
                  <a:gd name="T3" fmla="*/ 0 h 13"/>
                  <a:gd name="T4" fmla="*/ 1 w 32"/>
                  <a:gd name="T5" fmla="*/ 9 h 13"/>
                  <a:gd name="T6" fmla="*/ 12 w 32"/>
                  <a:gd name="T7" fmla="*/ 13 h 13"/>
                  <a:gd name="T8" fmla="*/ 18 w 32"/>
                  <a:gd name="T9" fmla="*/ 12 h 13"/>
                  <a:gd name="T10" fmla="*/ 31 w 32"/>
                  <a:gd name="T11" fmla="*/ 4 h 13"/>
                  <a:gd name="T12" fmla="*/ 20 w 3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32" h="13">
                    <a:moveTo>
                      <a:pt x="20" y="0"/>
                    </a:moveTo>
                    <a:cubicBezTo>
                      <a:pt x="18" y="0"/>
                      <a:pt x="16" y="0"/>
                      <a:pt x="14" y="0"/>
                    </a:cubicBezTo>
                    <a:cubicBezTo>
                      <a:pt x="6" y="2"/>
                      <a:pt x="0" y="6"/>
                      <a:pt x="1" y="9"/>
                    </a:cubicBezTo>
                    <a:cubicBezTo>
                      <a:pt x="2" y="11"/>
                      <a:pt x="6" y="13"/>
                      <a:pt x="12" y="13"/>
                    </a:cubicBezTo>
                    <a:cubicBezTo>
                      <a:pt x="14" y="13"/>
                      <a:pt x="16" y="13"/>
                      <a:pt x="18" y="12"/>
                    </a:cubicBezTo>
                    <a:cubicBezTo>
                      <a:pt x="26" y="11"/>
                      <a:pt x="32" y="7"/>
                      <a:pt x="31" y="4"/>
                    </a:cubicBezTo>
                    <a:cubicBezTo>
                      <a:pt x="30" y="1"/>
                      <a:pt x="26" y="0"/>
                      <a:pt x="20" y="0"/>
                    </a:cubicBezTo>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172" name="任意多边形 282"/>
              <p:cNvSpPr/>
              <p:nvPr/>
            </p:nvSpPr>
            <p:spPr bwMode="auto">
              <a:xfrm>
                <a:off x="6454201" y="3440614"/>
                <a:ext cx="173607" cy="69689"/>
              </a:xfrm>
              <a:custGeom>
                <a:avLst/>
                <a:gdLst>
                  <a:gd name="T0" fmla="*/ 22 w 33"/>
                  <a:gd name="T1" fmla="*/ 0 h 14"/>
                  <a:gd name="T2" fmla="*/ 14 w 33"/>
                  <a:gd name="T3" fmla="*/ 1 h 14"/>
                  <a:gd name="T4" fmla="*/ 2 w 33"/>
                  <a:gd name="T5" fmla="*/ 10 h 14"/>
                  <a:gd name="T6" fmla="*/ 11 w 33"/>
                  <a:gd name="T7" fmla="*/ 14 h 14"/>
                  <a:gd name="T8" fmla="*/ 19 w 33"/>
                  <a:gd name="T9" fmla="*/ 12 h 14"/>
                  <a:gd name="T10" fmla="*/ 31 w 33"/>
                  <a:gd name="T11" fmla="*/ 3 h 14"/>
                  <a:gd name="T12" fmla="*/ 22 w 3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3" h="14">
                    <a:moveTo>
                      <a:pt x="22" y="0"/>
                    </a:moveTo>
                    <a:cubicBezTo>
                      <a:pt x="20" y="0"/>
                      <a:pt x="17" y="0"/>
                      <a:pt x="14" y="1"/>
                    </a:cubicBezTo>
                    <a:cubicBezTo>
                      <a:pt x="6" y="3"/>
                      <a:pt x="0" y="7"/>
                      <a:pt x="2" y="10"/>
                    </a:cubicBezTo>
                    <a:cubicBezTo>
                      <a:pt x="3" y="12"/>
                      <a:pt x="6" y="14"/>
                      <a:pt x="11" y="14"/>
                    </a:cubicBezTo>
                    <a:cubicBezTo>
                      <a:pt x="13" y="14"/>
                      <a:pt x="16" y="13"/>
                      <a:pt x="19" y="12"/>
                    </a:cubicBezTo>
                    <a:cubicBezTo>
                      <a:pt x="27" y="10"/>
                      <a:pt x="33" y="6"/>
                      <a:pt x="31" y="3"/>
                    </a:cubicBezTo>
                    <a:cubicBezTo>
                      <a:pt x="31" y="1"/>
                      <a:pt x="27" y="0"/>
                      <a:pt x="22" y="0"/>
                    </a:cubicBezTo>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173" name="任意多边形 283"/>
              <p:cNvSpPr/>
              <p:nvPr/>
            </p:nvSpPr>
            <p:spPr bwMode="auto">
              <a:xfrm>
                <a:off x="5555402" y="3366702"/>
                <a:ext cx="303262" cy="354779"/>
              </a:xfrm>
              <a:custGeom>
                <a:avLst/>
                <a:gdLst>
                  <a:gd name="T0" fmla="*/ 52 w 58"/>
                  <a:gd name="T1" fmla="*/ 31 h 71"/>
                  <a:gd name="T2" fmla="*/ 39 w 58"/>
                  <a:gd name="T3" fmla="*/ 68 h 71"/>
                  <a:gd name="T4" fmla="*/ 5 w 58"/>
                  <a:gd name="T5" fmla="*/ 40 h 71"/>
                  <a:gd name="T6" fmla="*/ 18 w 58"/>
                  <a:gd name="T7" fmla="*/ 3 h 71"/>
                  <a:gd name="T8" fmla="*/ 52 w 58"/>
                  <a:gd name="T9" fmla="*/ 31 h 71"/>
                </a:gdLst>
                <a:ahLst/>
                <a:cxnLst>
                  <a:cxn ang="0">
                    <a:pos x="T0" y="T1"/>
                  </a:cxn>
                  <a:cxn ang="0">
                    <a:pos x="T2" y="T3"/>
                  </a:cxn>
                  <a:cxn ang="0">
                    <a:pos x="T4" y="T5"/>
                  </a:cxn>
                  <a:cxn ang="0">
                    <a:pos x="T6" y="T7"/>
                  </a:cxn>
                  <a:cxn ang="0">
                    <a:pos x="T8" y="T9"/>
                  </a:cxn>
                </a:cxnLst>
                <a:rect l="0" t="0" r="r" b="b"/>
                <a:pathLst>
                  <a:path w="58" h="71">
                    <a:moveTo>
                      <a:pt x="52" y="31"/>
                    </a:moveTo>
                    <a:cubicBezTo>
                      <a:pt x="58" y="49"/>
                      <a:pt x="52" y="66"/>
                      <a:pt x="39" y="68"/>
                    </a:cubicBezTo>
                    <a:cubicBezTo>
                      <a:pt x="27" y="71"/>
                      <a:pt x="11" y="58"/>
                      <a:pt x="5" y="40"/>
                    </a:cubicBezTo>
                    <a:cubicBezTo>
                      <a:pt x="0" y="22"/>
                      <a:pt x="5" y="5"/>
                      <a:pt x="18" y="3"/>
                    </a:cubicBezTo>
                    <a:cubicBezTo>
                      <a:pt x="31" y="0"/>
                      <a:pt x="46" y="12"/>
                      <a:pt x="52" y="31"/>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4" name="任意多边形 284"/>
              <p:cNvSpPr/>
              <p:nvPr/>
            </p:nvSpPr>
            <p:spPr bwMode="auto">
              <a:xfrm>
                <a:off x="5518043" y="2543109"/>
                <a:ext cx="1155913" cy="918624"/>
              </a:xfrm>
              <a:custGeom>
                <a:avLst/>
                <a:gdLst>
                  <a:gd name="T0" fmla="*/ 58 w 221"/>
                  <a:gd name="T1" fmla="*/ 98 h 183"/>
                  <a:gd name="T2" fmla="*/ 218 w 221"/>
                  <a:gd name="T3" fmla="*/ 109 h 183"/>
                  <a:gd name="T4" fmla="*/ 191 w 221"/>
                  <a:gd name="T5" fmla="*/ 28 h 183"/>
                  <a:gd name="T6" fmla="*/ 38 w 221"/>
                  <a:gd name="T7" fmla="*/ 30 h 183"/>
                  <a:gd name="T8" fmla="*/ 0 w 221"/>
                  <a:gd name="T9" fmla="*/ 106 h 183"/>
                  <a:gd name="T10" fmla="*/ 29 w 221"/>
                  <a:gd name="T11" fmla="*/ 169 h 183"/>
                  <a:gd name="T12" fmla="*/ 50 w 221"/>
                  <a:gd name="T13" fmla="*/ 183 h 183"/>
                  <a:gd name="T14" fmla="*/ 59 w 221"/>
                  <a:gd name="T15" fmla="*/ 163 h 183"/>
                  <a:gd name="T16" fmla="*/ 58 w 221"/>
                  <a:gd name="T1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83">
                    <a:moveTo>
                      <a:pt x="58" y="98"/>
                    </a:moveTo>
                    <a:cubicBezTo>
                      <a:pt x="58" y="98"/>
                      <a:pt x="117" y="136"/>
                      <a:pt x="218" y="109"/>
                    </a:cubicBezTo>
                    <a:cubicBezTo>
                      <a:pt x="218" y="109"/>
                      <a:pt x="221" y="52"/>
                      <a:pt x="191" y="28"/>
                    </a:cubicBezTo>
                    <a:cubicBezTo>
                      <a:pt x="161" y="5"/>
                      <a:pt x="81" y="0"/>
                      <a:pt x="38" y="30"/>
                    </a:cubicBezTo>
                    <a:cubicBezTo>
                      <a:pt x="23" y="41"/>
                      <a:pt x="0" y="55"/>
                      <a:pt x="0" y="106"/>
                    </a:cubicBezTo>
                    <a:cubicBezTo>
                      <a:pt x="0" y="135"/>
                      <a:pt x="29" y="169"/>
                      <a:pt x="29" y="169"/>
                    </a:cubicBezTo>
                    <a:cubicBezTo>
                      <a:pt x="29" y="169"/>
                      <a:pt x="41" y="169"/>
                      <a:pt x="50" y="183"/>
                    </a:cubicBezTo>
                    <a:cubicBezTo>
                      <a:pt x="50" y="183"/>
                      <a:pt x="55" y="172"/>
                      <a:pt x="59" y="163"/>
                    </a:cubicBezTo>
                    <a:cubicBezTo>
                      <a:pt x="59" y="163"/>
                      <a:pt x="71" y="132"/>
                      <a:pt x="58" y="98"/>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5" name="任意多边形 285"/>
              <p:cNvSpPr/>
              <p:nvPr/>
            </p:nvSpPr>
            <p:spPr bwMode="auto">
              <a:xfrm>
                <a:off x="6282792" y="3670798"/>
                <a:ext cx="151632" cy="86584"/>
              </a:xfrm>
              <a:custGeom>
                <a:avLst/>
                <a:gdLst>
                  <a:gd name="T0" fmla="*/ 29 w 29"/>
                  <a:gd name="T1" fmla="*/ 0 h 17"/>
                  <a:gd name="T2" fmla="*/ 17 w 29"/>
                  <a:gd name="T3" fmla="*/ 4 h 17"/>
                  <a:gd name="T4" fmla="*/ 0 w 29"/>
                  <a:gd name="T5" fmla="*/ 3 h 17"/>
                  <a:gd name="T6" fmla="*/ 3 w 29"/>
                  <a:gd name="T7" fmla="*/ 11 h 17"/>
                  <a:gd name="T8" fmla="*/ 16 w 29"/>
                  <a:gd name="T9" fmla="*/ 16 h 17"/>
                  <a:gd name="T10" fmla="*/ 23 w 29"/>
                  <a:gd name="T11" fmla="*/ 13 h 17"/>
                  <a:gd name="T12" fmla="*/ 29 w 29"/>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9" h="17">
                    <a:moveTo>
                      <a:pt x="29" y="0"/>
                    </a:moveTo>
                    <a:cubicBezTo>
                      <a:pt x="29" y="0"/>
                      <a:pt x="24" y="2"/>
                      <a:pt x="17" y="4"/>
                    </a:cubicBezTo>
                    <a:cubicBezTo>
                      <a:pt x="10" y="5"/>
                      <a:pt x="0" y="3"/>
                      <a:pt x="0" y="3"/>
                    </a:cubicBezTo>
                    <a:cubicBezTo>
                      <a:pt x="0" y="3"/>
                      <a:pt x="0" y="7"/>
                      <a:pt x="3" y="11"/>
                    </a:cubicBezTo>
                    <a:cubicBezTo>
                      <a:pt x="6" y="14"/>
                      <a:pt x="10" y="17"/>
                      <a:pt x="16" y="16"/>
                    </a:cubicBezTo>
                    <a:cubicBezTo>
                      <a:pt x="19" y="15"/>
                      <a:pt x="21" y="15"/>
                      <a:pt x="23" y="13"/>
                    </a:cubicBezTo>
                    <a:cubicBezTo>
                      <a:pt x="29" y="9"/>
                      <a:pt x="29" y="0"/>
                      <a:pt x="29" y="0"/>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176" name="任意多边形 286"/>
              <p:cNvSpPr/>
              <p:nvPr/>
            </p:nvSpPr>
            <p:spPr bwMode="auto">
              <a:xfrm>
                <a:off x="5421398" y="4074014"/>
                <a:ext cx="586253" cy="979871"/>
              </a:xfrm>
              <a:custGeom>
                <a:avLst/>
                <a:gdLst>
                  <a:gd name="connsiteX0" fmla="*/ 263027 w 423506"/>
                  <a:gd name="connsiteY0" fmla="*/ 321 h 736605"/>
                  <a:gd name="connsiteX1" fmla="*/ 387634 w 423506"/>
                  <a:gd name="connsiteY1" fmla="*/ 40375 h 736605"/>
                  <a:gd name="connsiteX2" fmla="*/ 402738 w 423506"/>
                  <a:gd name="connsiteY2" fmla="*/ 232631 h 736605"/>
                  <a:gd name="connsiteX3" fmla="*/ 266331 w 423506"/>
                  <a:gd name="connsiteY3" fmla="*/ 680286 h 736605"/>
                  <a:gd name="connsiteX4" fmla="*/ 265778 w 423506"/>
                  <a:gd name="connsiteY4" fmla="*/ 736605 h 736605"/>
                  <a:gd name="connsiteX5" fmla="*/ 236179 w 423506"/>
                  <a:gd name="connsiteY5" fmla="*/ 732102 h 736605"/>
                  <a:gd name="connsiteX6" fmla="*/ 116751 w 423506"/>
                  <a:gd name="connsiteY6" fmla="*/ 701491 h 736605"/>
                  <a:gd name="connsiteX7" fmla="*/ 3293 w 423506"/>
                  <a:gd name="connsiteY7" fmla="*/ 660098 h 736605"/>
                  <a:gd name="connsiteX8" fmla="*/ 2012 w 423506"/>
                  <a:gd name="connsiteY8" fmla="*/ 649657 h 736605"/>
                  <a:gd name="connsiteX9" fmla="*/ 161075 w 423506"/>
                  <a:gd name="connsiteY9" fmla="*/ 36605 h 736605"/>
                  <a:gd name="connsiteX10" fmla="*/ 263027 w 423506"/>
                  <a:gd name="connsiteY10" fmla="*/ 321 h 73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3506" h="736605">
                    <a:moveTo>
                      <a:pt x="263027" y="321"/>
                    </a:moveTo>
                    <a:cubicBezTo>
                      <a:pt x="308339" y="-2035"/>
                      <a:pt x="357427" y="8332"/>
                      <a:pt x="387634" y="40375"/>
                    </a:cubicBezTo>
                    <a:cubicBezTo>
                      <a:pt x="440498" y="96920"/>
                      <a:pt x="425394" y="202473"/>
                      <a:pt x="402738" y="232631"/>
                    </a:cubicBezTo>
                    <a:cubicBezTo>
                      <a:pt x="319667" y="343838"/>
                      <a:pt x="276243" y="510648"/>
                      <a:pt x="266331" y="680286"/>
                    </a:cubicBezTo>
                    <a:lnTo>
                      <a:pt x="265778" y="736605"/>
                    </a:lnTo>
                    <a:lnTo>
                      <a:pt x="236179" y="732102"/>
                    </a:lnTo>
                    <a:cubicBezTo>
                      <a:pt x="195617" y="723828"/>
                      <a:pt x="155773" y="713590"/>
                      <a:pt x="116751" y="701491"/>
                    </a:cubicBezTo>
                    <a:lnTo>
                      <a:pt x="3293" y="660098"/>
                    </a:lnTo>
                    <a:lnTo>
                      <a:pt x="2012" y="649657"/>
                    </a:lnTo>
                    <a:cubicBezTo>
                      <a:pt x="-10732" y="424887"/>
                      <a:pt x="36468" y="198703"/>
                      <a:pt x="161075" y="36605"/>
                    </a:cubicBezTo>
                    <a:cubicBezTo>
                      <a:pt x="176179" y="17756"/>
                      <a:pt x="217715" y="2677"/>
                      <a:pt x="263027" y="321"/>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7" name="椭圆 176"/>
              <p:cNvSpPr/>
              <p:nvPr/>
            </p:nvSpPr>
            <p:spPr bwMode="auto">
              <a:xfrm>
                <a:off x="5241151" y="2524102"/>
                <a:ext cx="496647" cy="475151"/>
              </a:xfrm>
              <a:prstGeom prst="ellipse">
                <a:avLst/>
              </a:pr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8" name="任意多边形 288"/>
              <p:cNvSpPr/>
              <p:nvPr/>
            </p:nvSpPr>
            <p:spPr bwMode="auto">
              <a:xfrm>
                <a:off x="6403658" y="3220989"/>
                <a:ext cx="167014" cy="139377"/>
              </a:xfrm>
              <a:custGeom>
                <a:avLst/>
                <a:gdLst>
                  <a:gd name="T0" fmla="*/ 5 w 32"/>
                  <a:gd name="T1" fmla="*/ 28 h 28"/>
                  <a:gd name="T2" fmla="*/ 14 w 32"/>
                  <a:gd name="T3" fmla="*/ 2 h 28"/>
                  <a:gd name="T4" fmla="*/ 32 w 32"/>
                  <a:gd name="T5" fmla="*/ 23 h 28"/>
                  <a:gd name="T6" fmla="*/ 16 w 32"/>
                  <a:gd name="T7" fmla="*/ 9 h 28"/>
                  <a:gd name="T8" fmla="*/ 5 w 32"/>
                  <a:gd name="T9" fmla="*/ 28 h 28"/>
                </a:gdLst>
                <a:ahLst/>
                <a:cxnLst>
                  <a:cxn ang="0">
                    <a:pos x="T0" y="T1"/>
                  </a:cxn>
                  <a:cxn ang="0">
                    <a:pos x="T2" y="T3"/>
                  </a:cxn>
                  <a:cxn ang="0">
                    <a:pos x="T4" y="T5"/>
                  </a:cxn>
                  <a:cxn ang="0">
                    <a:pos x="T6" y="T7"/>
                  </a:cxn>
                  <a:cxn ang="0">
                    <a:pos x="T8" y="T9"/>
                  </a:cxn>
                </a:cxnLst>
                <a:rect l="0" t="0" r="r" b="b"/>
                <a:pathLst>
                  <a:path w="32" h="28">
                    <a:moveTo>
                      <a:pt x="5" y="28"/>
                    </a:moveTo>
                    <a:cubicBezTo>
                      <a:pt x="5" y="28"/>
                      <a:pt x="0" y="4"/>
                      <a:pt x="14" y="2"/>
                    </a:cubicBezTo>
                    <a:cubicBezTo>
                      <a:pt x="29" y="0"/>
                      <a:pt x="32" y="23"/>
                      <a:pt x="32" y="23"/>
                    </a:cubicBezTo>
                    <a:cubicBezTo>
                      <a:pt x="32" y="23"/>
                      <a:pt x="24" y="7"/>
                      <a:pt x="16" y="9"/>
                    </a:cubicBezTo>
                    <a:cubicBezTo>
                      <a:pt x="8" y="11"/>
                      <a:pt x="5" y="28"/>
                      <a:pt x="5" y="28"/>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9" name="任意多边形 289"/>
              <p:cNvSpPr/>
              <p:nvPr/>
            </p:nvSpPr>
            <p:spPr bwMode="auto">
              <a:xfrm>
                <a:off x="6005900" y="3286455"/>
                <a:ext cx="160422" cy="143601"/>
              </a:xfrm>
              <a:custGeom>
                <a:avLst/>
                <a:gdLst>
                  <a:gd name="T0" fmla="*/ 4 w 31"/>
                  <a:gd name="T1" fmla="*/ 29 h 29"/>
                  <a:gd name="T2" fmla="*/ 14 w 31"/>
                  <a:gd name="T3" fmla="*/ 2 h 29"/>
                  <a:gd name="T4" fmla="*/ 31 w 31"/>
                  <a:gd name="T5" fmla="*/ 24 h 29"/>
                  <a:gd name="T6" fmla="*/ 15 w 31"/>
                  <a:gd name="T7" fmla="*/ 9 h 29"/>
                  <a:gd name="T8" fmla="*/ 4 w 31"/>
                  <a:gd name="T9" fmla="*/ 29 h 29"/>
                </a:gdLst>
                <a:ahLst/>
                <a:cxnLst>
                  <a:cxn ang="0">
                    <a:pos x="T0" y="T1"/>
                  </a:cxn>
                  <a:cxn ang="0">
                    <a:pos x="T2" y="T3"/>
                  </a:cxn>
                  <a:cxn ang="0">
                    <a:pos x="T4" y="T5"/>
                  </a:cxn>
                  <a:cxn ang="0">
                    <a:pos x="T6" y="T7"/>
                  </a:cxn>
                  <a:cxn ang="0">
                    <a:pos x="T8" y="T9"/>
                  </a:cxn>
                </a:cxnLst>
                <a:rect l="0" t="0" r="r" b="b"/>
                <a:pathLst>
                  <a:path w="31" h="29">
                    <a:moveTo>
                      <a:pt x="4" y="29"/>
                    </a:moveTo>
                    <a:cubicBezTo>
                      <a:pt x="4" y="29"/>
                      <a:pt x="0" y="4"/>
                      <a:pt x="14" y="2"/>
                    </a:cubicBezTo>
                    <a:cubicBezTo>
                      <a:pt x="28" y="0"/>
                      <a:pt x="31" y="24"/>
                      <a:pt x="31" y="24"/>
                    </a:cubicBezTo>
                    <a:cubicBezTo>
                      <a:pt x="31" y="24"/>
                      <a:pt x="23" y="7"/>
                      <a:pt x="15" y="9"/>
                    </a:cubicBezTo>
                    <a:cubicBezTo>
                      <a:pt x="7" y="11"/>
                      <a:pt x="4" y="29"/>
                      <a:pt x="4" y="29"/>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0" name="任意多边形 290"/>
              <p:cNvSpPr/>
              <p:nvPr/>
            </p:nvSpPr>
            <p:spPr bwMode="auto">
              <a:xfrm>
                <a:off x="6392669" y="3100618"/>
                <a:ext cx="145039" cy="48572"/>
              </a:xfrm>
              <a:custGeom>
                <a:avLst/>
                <a:gdLst>
                  <a:gd name="T0" fmla="*/ 27 w 28"/>
                  <a:gd name="T1" fmla="*/ 9 h 10"/>
                  <a:gd name="T2" fmla="*/ 25 w 28"/>
                  <a:gd name="T3" fmla="*/ 9 h 10"/>
                  <a:gd name="T4" fmla="*/ 3 w 28"/>
                  <a:gd name="T5" fmla="*/ 10 h 10"/>
                  <a:gd name="T6" fmla="*/ 0 w 28"/>
                  <a:gd name="T7" fmla="*/ 8 h 10"/>
                  <a:gd name="T8" fmla="*/ 1 w 28"/>
                  <a:gd name="T9" fmla="*/ 5 h 10"/>
                  <a:gd name="T10" fmla="*/ 26 w 28"/>
                  <a:gd name="T11" fmla="*/ 5 h 10"/>
                  <a:gd name="T12" fmla="*/ 28 w 28"/>
                  <a:gd name="T13" fmla="*/ 8 h 10"/>
                  <a:gd name="T14" fmla="*/ 27 w 28"/>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0">
                    <a:moveTo>
                      <a:pt x="27" y="9"/>
                    </a:moveTo>
                    <a:cubicBezTo>
                      <a:pt x="26" y="9"/>
                      <a:pt x="26" y="9"/>
                      <a:pt x="25" y="9"/>
                    </a:cubicBezTo>
                    <a:cubicBezTo>
                      <a:pt x="14" y="5"/>
                      <a:pt x="3" y="10"/>
                      <a:pt x="3" y="10"/>
                    </a:cubicBezTo>
                    <a:cubicBezTo>
                      <a:pt x="2" y="10"/>
                      <a:pt x="1" y="9"/>
                      <a:pt x="0" y="8"/>
                    </a:cubicBezTo>
                    <a:cubicBezTo>
                      <a:pt x="0" y="7"/>
                      <a:pt x="0" y="6"/>
                      <a:pt x="1" y="5"/>
                    </a:cubicBezTo>
                    <a:cubicBezTo>
                      <a:pt x="2" y="5"/>
                      <a:pt x="14" y="0"/>
                      <a:pt x="26" y="5"/>
                    </a:cubicBezTo>
                    <a:cubicBezTo>
                      <a:pt x="28" y="5"/>
                      <a:pt x="28" y="6"/>
                      <a:pt x="28" y="8"/>
                    </a:cubicBezTo>
                    <a:cubicBezTo>
                      <a:pt x="28" y="8"/>
                      <a:pt x="27" y="9"/>
                      <a:pt x="27" y="9"/>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1" name="任意多边形 291"/>
              <p:cNvSpPr/>
              <p:nvPr/>
            </p:nvSpPr>
            <p:spPr bwMode="auto">
              <a:xfrm>
                <a:off x="5937776" y="3195648"/>
                <a:ext cx="134051" cy="73913"/>
              </a:xfrm>
              <a:custGeom>
                <a:avLst/>
                <a:gdLst>
                  <a:gd name="T0" fmla="*/ 2 w 26"/>
                  <a:gd name="T1" fmla="*/ 15 h 15"/>
                  <a:gd name="T2" fmla="*/ 1 w 26"/>
                  <a:gd name="T3" fmla="*/ 14 h 15"/>
                  <a:gd name="T4" fmla="*/ 1 w 26"/>
                  <a:gd name="T5" fmla="*/ 11 h 15"/>
                  <a:gd name="T6" fmla="*/ 23 w 26"/>
                  <a:gd name="T7" fmla="*/ 0 h 15"/>
                  <a:gd name="T8" fmla="*/ 26 w 26"/>
                  <a:gd name="T9" fmla="*/ 2 h 15"/>
                  <a:gd name="T10" fmla="*/ 23 w 26"/>
                  <a:gd name="T11" fmla="*/ 5 h 15"/>
                  <a:gd name="T12" fmla="*/ 4 w 26"/>
                  <a:gd name="T13" fmla="*/ 14 h 15"/>
                  <a:gd name="T14" fmla="*/ 2 w 26"/>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
                    <a:moveTo>
                      <a:pt x="2" y="15"/>
                    </a:moveTo>
                    <a:cubicBezTo>
                      <a:pt x="1" y="15"/>
                      <a:pt x="1" y="15"/>
                      <a:pt x="1" y="14"/>
                    </a:cubicBezTo>
                    <a:cubicBezTo>
                      <a:pt x="0" y="13"/>
                      <a:pt x="0" y="12"/>
                      <a:pt x="1" y="11"/>
                    </a:cubicBezTo>
                    <a:cubicBezTo>
                      <a:pt x="10" y="2"/>
                      <a:pt x="22" y="0"/>
                      <a:pt x="23" y="0"/>
                    </a:cubicBezTo>
                    <a:cubicBezTo>
                      <a:pt x="24" y="0"/>
                      <a:pt x="25" y="1"/>
                      <a:pt x="26" y="2"/>
                    </a:cubicBezTo>
                    <a:cubicBezTo>
                      <a:pt x="26" y="4"/>
                      <a:pt x="25" y="5"/>
                      <a:pt x="23" y="5"/>
                    </a:cubicBezTo>
                    <a:cubicBezTo>
                      <a:pt x="23" y="5"/>
                      <a:pt x="12" y="6"/>
                      <a:pt x="4" y="14"/>
                    </a:cubicBezTo>
                    <a:cubicBezTo>
                      <a:pt x="3" y="15"/>
                      <a:pt x="2" y="15"/>
                      <a:pt x="2" y="15"/>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2" name="任意多边形 292"/>
              <p:cNvSpPr/>
              <p:nvPr/>
            </p:nvSpPr>
            <p:spPr bwMode="auto">
              <a:xfrm>
                <a:off x="6276200" y="3294902"/>
                <a:ext cx="147237" cy="236519"/>
              </a:xfrm>
              <a:custGeom>
                <a:avLst/>
                <a:gdLst>
                  <a:gd name="T0" fmla="*/ 14 w 28"/>
                  <a:gd name="T1" fmla="*/ 47 h 47"/>
                  <a:gd name="T2" fmla="*/ 12 w 28"/>
                  <a:gd name="T3" fmla="*/ 45 h 47"/>
                  <a:gd name="T4" fmla="*/ 14 w 28"/>
                  <a:gd name="T5" fmla="*/ 43 h 47"/>
                  <a:gd name="T6" fmla="*/ 23 w 28"/>
                  <a:gd name="T7" fmla="*/ 39 h 47"/>
                  <a:gd name="T8" fmla="*/ 23 w 28"/>
                  <a:gd name="T9" fmla="*/ 34 h 47"/>
                  <a:gd name="T10" fmla="*/ 20 w 28"/>
                  <a:gd name="T11" fmla="*/ 30 h 47"/>
                  <a:gd name="T12" fmla="*/ 12 w 28"/>
                  <a:gd name="T13" fmla="*/ 32 h 47"/>
                  <a:gd name="T14" fmla="*/ 10 w 28"/>
                  <a:gd name="T15" fmla="*/ 32 h 47"/>
                  <a:gd name="T16" fmla="*/ 9 w 28"/>
                  <a:gd name="T17" fmla="*/ 30 h 47"/>
                  <a:gd name="T18" fmla="*/ 0 w 28"/>
                  <a:gd name="T19" fmla="*/ 3 h 47"/>
                  <a:gd name="T20" fmla="*/ 1 w 28"/>
                  <a:gd name="T21" fmla="*/ 0 h 47"/>
                  <a:gd name="T22" fmla="*/ 4 w 28"/>
                  <a:gd name="T23" fmla="*/ 2 h 47"/>
                  <a:gd name="T24" fmla="*/ 12 w 28"/>
                  <a:gd name="T25" fmla="*/ 27 h 47"/>
                  <a:gd name="T26" fmla="*/ 21 w 28"/>
                  <a:gd name="T27" fmla="*/ 27 h 47"/>
                  <a:gd name="T28" fmla="*/ 27 w 28"/>
                  <a:gd name="T29" fmla="*/ 33 h 47"/>
                  <a:gd name="T30" fmla="*/ 26 w 28"/>
                  <a:gd name="T31" fmla="*/ 41 h 47"/>
                  <a:gd name="T32" fmla="*/ 14 w 28"/>
                  <a:gd name="T3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47">
                    <a:moveTo>
                      <a:pt x="14" y="47"/>
                    </a:moveTo>
                    <a:cubicBezTo>
                      <a:pt x="13" y="47"/>
                      <a:pt x="12" y="46"/>
                      <a:pt x="12" y="45"/>
                    </a:cubicBezTo>
                    <a:cubicBezTo>
                      <a:pt x="12" y="44"/>
                      <a:pt x="13" y="43"/>
                      <a:pt x="14" y="43"/>
                    </a:cubicBezTo>
                    <a:cubicBezTo>
                      <a:pt x="16" y="43"/>
                      <a:pt x="21" y="42"/>
                      <a:pt x="23" y="39"/>
                    </a:cubicBezTo>
                    <a:cubicBezTo>
                      <a:pt x="23" y="37"/>
                      <a:pt x="23" y="36"/>
                      <a:pt x="23" y="34"/>
                    </a:cubicBezTo>
                    <a:cubicBezTo>
                      <a:pt x="22" y="32"/>
                      <a:pt x="21" y="31"/>
                      <a:pt x="20" y="30"/>
                    </a:cubicBezTo>
                    <a:cubicBezTo>
                      <a:pt x="17" y="29"/>
                      <a:pt x="13" y="31"/>
                      <a:pt x="12" y="32"/>
                    </a:cubicBezTo>
                    <a:cubicBezTo>
                      <a:pt x="11" y="32"/>
                      <a:pt x="11" y="32"/>
                      <a:pt x="10" y="32"/>
                    </a:cubicBezTo>
                    <a:cubicBezTo>
                      <a:pt x="10" y="31"/>
                      <a:pt x="9" y="31"/>
                      <a:pt x="9" y="30"/>
                    </a:cubicBezTo>
                    <a:cubicBezTo>
                      <a:pt x="0" y="3"/>
                      <a:pt x="0" y="3"/>
                      <a:pt x="0" y="3"/>
                    </a:cubicBezTo>
                    <a:cubicBezTo>
                      <a:pt x="0" y="2"/>
                      <a:pt x="0" y="1"/>
                      <a:pt x="1" y="0"/>
                    </a:cubicBezTo>
                    <a:cubicBezTo>
                      <a:pt x="2" y="0"/>
                      <a:pt x="3" y="1"/>
                      <a:pt x="4" y="2"/>
                    </a:cubicBezTo>
                    <a:cubicBezTo>
                      <a:pt x="12" y="27"/>
                      <a:pt x="12" y="27"/>
                      <a:pt x="12" y="27"/>
                    </a:cubicBezTo>
                    <a:cubicBezTo>
                      <a:pt x="14" y="26"/>
                      <a:pt x="18" y="25"/>
                      <a:pt x="21" y="27"/>
                    </a:cubicBezTo>
                    <a:cubicBezTo>
                      <a:pt x="24" y="28"/>
                      <a:pt x="26" y="30"/>
                      <a:pt x="27" y="33"/>
                    </a:cubicBezTo>
                    <a:cubicBezTo>
                      <a:pt x="28" y="36"/>
                      <a:pt x="27" y="39"/>
                      <a:pt x="26" y="41"/>
                    </a:cubicBezTo>
                    <a:cubicBezTo>
                      <a:pt x="23" y="46"/>
                      <a:pt x="15" y="47"/>
                      <a:pt x="14" y="4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grpSp>
        <p:nvGrpSpPr>
          <p:cNvPr id="183" name="组合 182"/>
          <p:cNvGrpSpPr/>
          <p:nvPr/>
        </p:nvGrpSpPr>
        <p:grpSpPr>
          <a:xfrm>
            <a:off x="7174865" y="3458210"/>
            <a:ext cx="1106170" cy="303530"/>
            <a:chOff x="2802201" y="1314831"/>
            <a:chExt cx="1049843" cy="288000"/>
          </a:xfrm>
        </p:grpSpPr>
        <p:sp>
          <p:nvSpPr>
            <p:cNvPr id="184" name="文本框 183"/>
            <p:cNvSpPr txBox="1"/>
            <p:nvPr/>
          </p:nvSpPr>
          <p:spPr>
            <a:xfrm>
              <a:off x="3107216" y="1336039"/>
              <a:ext cx="744828" cy="232642"/>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活跃客户</a:t>
              </a:r>
              <a:endParaRPr lang="zh-CN" altLang="en-US" sz="1000" dirty="0">
                <a:solidFill>
                  <a:srgbClr val="0042FF"/>
                </a:solidFill>
                <a:latin typeface="微软雅黑"/>
                <a:ea typeface="微软雅黑"/>
                <a:cs typeface="微软雅黑"/>
              </a:endParaRPr>
            </a:p>
          </p:txBody>
        </p:sp>
        <p:grpSp>
          <p:nvGrpSpPr>
            <p:cNvPr id="187" name="组合 186"/>
            <p:cNvGrpSpPr>
              <a:grpSpLocks noChangeAspect="1"/>
            </p:cNvGrpSpPr>
            <p:nvPr/>
          </p:nvGrpSpPr>
          <p:grpSpPr>
            <a:xfrm>
              <a:off x="2802201" y="1314831"/>
              <a:ext cx="288552" cy="288000"/>
              <a:chOff x="4499610" y="1835663"/>
              <a:chExt cx="3192780" cy="3186675"/>
            </a:xfrm>
          </p:grpSpPr>
          <p:grpSp>
            <p:nvGrpSpPr>
              <p:cNvPr id="188" name="组合 187"/>
              <p:cNvGrpSpPr/>
              <p:nvPr/>
            </p:nvGrpSpPr>
            <p:grpSpPr>
              <a:xfrm>
                <a:off x="4499611" y="1835663"/>
                <a:ext cx="3192779" cy="3186675"/>
                <a:chOff x="4813301" y="790575"/>
                <a:chExt cx="2490788" cy="2486026"/>
              </a:xfrm>
            </p:grpSpPr>
            <p:sp>
              <p:nvSpPr>
                <p:cNvPr id="191" name="椭圆 190"/>
                <p:cNvSpPr/>
                <p:nvPr/>
              </p:nvSpPr>
              <p:spPr bwMode="auto">
                <a:xfrm>
                  <a:off x="4813301" y="790575"/>
                  <a:ext cx="2490788" cy="2486025"/>
                </a:xfrm>
                <a:prstGeom prst="ellipse">
                  <a:avLst/>
                </a:prstGeom>
                <a:solidFill>
                  <a:srgbClr val="668E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2" name="矩形 191"/>
                <p:cNvSpPr/>
                <p:nvPr/>
              </p:nvSpPr>
              <p:spPr bwMode="auto">
                <a:xfrm>
                  <a:off x="5626101" y="1689100"/>
                  <a:ext cx="744538" cy="1341438"/>
                </a:xfrm>
                <a:prstGeom prst="rect">
                  <a:avLst/>
                </a:prstGeom>
                <a:solidFill>
                  <a:srgbClr val="FF4200"/>
                </a:solidFill>
                <a:ln>
                  <a:noFill/>
                </a:ln>
                <a:extLs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3" name="矩形 192"/>
                <p:cNvSpPr/>
                <p:nvPr/>
              </p:nvSpPr>
              <p:spPr bwMode="auto">
                <a:xfrm>
                  <a:off x="5626101" y="1689100"/>
                  <a:ext cx="744538" cy="134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8" name="任意多边形 191"/>
                <p:cNvSpPr/>
                <p:nvPr/>
              </p:nvSpPr>
              <p:spPr bwMode="auto">
                <a:xfrm>
                  <a:off x="5530645" y="2351194"/>
                  <a:ext cx="817018" cy="925407"/>
                </a:xfrm>
                <a:custGeom>
                  <a:avLst/>
                  <a:gdLst>
                    <a:gd name="connsiteX0" fmla="*/ 393249 w 817018"/>
                    <a:gd name="connsiteY0" fmla="*/ 491 h 925407"/>
                    <a:gd name="connsiteX1" fmla="*/ 438575 w 817018"/>
                    <a:gd name="connsiteY1" fmla="*/ 26897 h 925407"/>
                    <a:gd name="connsiteX2" fmla="*/ 767187 w 817018"/>
                    <a:gd name="connsiteY2" fmla="*/ 196646 h 925407"/>
                    <a:gd name="connsiteX3" fmla="*/ 786073 w 817018"/>
                    <a:gd name="connsiteY3" fmla="*/ 468244 h 925407"/>
                    <a:gd name="connsiteX4" fmla="*/ 714307 w 817018"/>
                    <a:gd name="connsiteY4" fmla="*/ 468244 h 925407"/>
                    <a:gd name="connsiteX5" fmla="*/ 714307 w 817018"/>
                    <a:gd name="connsiteY5" fmla="*/ 581411 h 925407"/>
                    <a:gd name="connsiteX6" fmla="*/ 702976 w 817018"/>
                    <a:gd name="connsiteY6" fmla="*/ 720982 h 925407"/>
                    <a:gd name="connsiteX7" fmla="*/ 698136 w 817018"/>
                    <a:gd name="connsiteY7" fmla="*/ 904818 h 925407"/>
                    <a:gd name="connsiteX8" fmla="*/ 698259 w 817018"/>
                    <a:gd name="connsiteY8" fmla="*/ 912459 h 925407"/>
                    <a:gd name="connsiteX9" fmla="*/ 655385 w 817018"/>
                    <a:gd name="connsiteY9" fmla="*/ 918990 h 925407"/>
                    <a:gd name="connsiteX10" fmla="*/ 528050 w 817018"/>
                    <a:gd name="connsiteY10" fmla="*/ 925407 h 925407"/>
                    <a:gd name="connsiteX11" fmla="*/ 43287 w 817018"/>
                    <a:gd name="connsiteY11" fmla="*/ 827725 h 925407"/>
                    <a:gd name="connsiteX12" fmla="*/ 19809 w 817018"/>
                    <a:gd name="connsiteY12" fmla="*/ 816437 h 925407"/>
                    <a:gd name="connsiteX13" fmla="*/ 15533 w 817018"/>
                    <a:gd name="connsiteY13" fmla="*/ 698349 h 925407"/>
                    <a:gd name="connsiteX14" fmla="*/ 425 w 817018"/>
                    <a:gd name="connsiteY14" fmla="*/ 502194 h 925407"/>
                    <a:gd name="connsiteX15" fmla="*/ 83522 w 817018"/>
                    <a:gd name="connsiteY15" fmla="*/ 249457 h 925407"/>
                    <a:gd name="connsiteX16" fmla="*/ 291266 w 817018"/>
                    <a:gd name="connsiteY16" fmla="*/ 45758 h 925407"/>
                    <a:gd name="connsiteX17" fmla="*/ 393249 w 817018"/>
                    <a:gd name="connsiteY17" fmla="*/ 491 h 92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7018" h="925407">
                      <a:moveTo>
                        <a:pt x="393249" y="491"/>
                      </a:moveTo>
                      <a:cubicBezTo>
                        <a:pt x="404580" y="-3281"/>
                        <a:pt x="412135" y="15580"/>
                        <a:pt x="438575" y="26897"/>
                      </a:cubicBezTo>
                      <a:cubicBezTo>
                        <a:pt x="619878" y="98569"/>
                        <a:pt x="706753" y="121202"/>
                        <a:pt x="767187" y="196646"/>
                      </a:cubicBezTo>
                      <a:cubicBezTo>
                        <a:pt x="767187" y="196646"/>
                        <a:pt x="865393" y="472017"/>
                        <a:pt x="786073" y="468244"/>
                      </a:cubicBezTo>
                      <a:cubicBezTo>
                        <a:pt x="786073" y="468244"/>
                        <a:pt x="786073" y="468244"/>
                        <a:pt x="714307" y="468244"/>
                      </a:cubicBezTo>
                      <a:cubicBezTo>
                        <a:pt x="714307" y="468244"/>
                        <a:pt x="714307" y="468244"/>
                        <a:pt x="714307" y="581411"/>
                      </a:cubicBezTo>
                      <a:cubicBezTo>
                        <a:pt x="714307" y="581411"/>
                        <a:pt x="714307" y="581411"/>
                        <a:pt x="702976" y="720982"/>
                      </a:cubicBezTo>
                      <a:cubicBezTo>
                        <a:pt x="700143" y="782280"/>
                        <a:pt x="698490" y="843579"/>
                        <a:pt x="698136" y="904818"/>
                      </a:cubicBezTo>
                      <a:lnTo>
                        <a:pt x="698259" y="912459"/>
                      </a:lnTo>
                      <a:lnTo>
                        <a:pt x="655385" y="918990"/>
                      </a:lnTo>
                      <a:cubicBezTo>
                        <a:pt x="613518" y="923233"/>
                        <a:pt x="571038" y="925407"/>
                        <a:pt x="528050" y="925407"/>
                      </a:cubicBezTo>
                      <a:cubicBezTo>
                        <a:pt x="356097" y="925407"/>
                        <a:pt x="192284" y="890625"/>
                        <a:pt x="43287" y="827725"/>
                      </a:cubicBezTo>
                      <a:lnTo>
                        <a:pt x="19809" y="816437"/>
                      </a:lnTo>
                      <a:lnTo>
                        <a:pt x="15533" y="698349"/>
                      </a:lnTo>
                      <a:cubicBezTo>
                        <a:pt x="15533" y="698349"/>
                        <a:pt x="15533" y="698349"/>
                        <a:pt x="425" y="502194"/>
                      </a:cubicBezTo>
                      <a:cubicBezTo>
                        <a:pt x="425" y="502194"/>
                        <a:pt x="-10907" y="362623"/>
                        <a:pt x="83522" y="249457"/>
                      </a:cubicBezTo>
                      <a:cubicBezTo>
                        <a:pt x="113739" y="207962"/>
                        <a:pt x="223277" y="113657"/>
                        <a:pt x="291266" y="45758"/>
                      </a:cubicBezTo>
                      <a:cubicBezTo>
                        <a:pt x="310151" y="26897"/>
                        <a:pt x="385695" y="-3281"/>
                        <a:pt x="393249" y="491"/>
                      </a:cubicBezTo>
                      <a:close/>
                    </a:path>
                  </a:pathLst>
                </a:custGeom>
                <a:solidFill>
                  <a:srgbClr val="668E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9" name="任意多边形 192"/>
                <p:cNvSpPr/>
                <p:nvPr/>
              </p:nvSpPr>
              <p:spPr bwMode="auto">
                <a:xfrm>
                  <a:off x="6158594" y="2786063"/>
                  <a:ext cx="188232" cy="484664"/>
                </a:xfrm>
                <a:custGeom>
                  <a:avLst/>
                  <a:gdLst>
                    <a:gd name="connsiteX0" fmla="*/ 188232 w 188232"/>
                    <a:gd name="connsiteY0" fmla="*/ 0 h 484664"/>
                    <a:gd name="connsiteX1" fmla="*/ 158115 w 188232"/>
                    <a:gd name="connsiteY1" fmla="*/ 33946 h 484664"/>
                    <a:gd name="connsiteX2" fmla="*/ 86587 w 188232"/>
                    <a:gd name="connsiteY2" fmla="*/ 33946 h 484664"/>
                    <a:gd name="connsiteX3" fmla="*/ 86587 w 188232"/>
                    <a:gd name="connsiteY3" fmla="*/ 147097 h 484664"/>
                    <a:gd name="connsiteX4" fmla="*/ 75293 w 188232"/>
                    <a:gd name="connsiteY4" fmla="*/ 286651 h 484664"/>
                    <a:gd name="connsiteX5" fmla="*/ 70469 w 188232"/>
                    <a:gd name="connsiteY5" fmla="*/ 470463 h 484664"/>
                    <a:gd name="connsiteX6" fmla="*/ 70583 w 188232"/>
                    <a:gd name="connsiteY6" fmla="*/ 477548 h 484664"/>
                    <a:gd name="connsiteX7" fmla="*/ 27436 w 188232"/>
                    <a:gd name="connsiteY7" fmla="*/ 484121 h 484664"/>
                    <a:gd name="connsiteX8" fmla="*/ 16662 w 188232"/>
                    <a:gd name="connsiteY8" fmla="*/ 484664 h 484664"/>
                    <a:gd name="connsiteX9" fmla="*/ 18823 w 188232"/>
                    <a:gd name="connsiteY9" fmla="*/ 396502 h 484664"/>
                    <a:gd name="connsiteX10" fmla="*/ 0 w 188232"/>
                    <a:gd name="connsiteY10" fmla="*/ 15087 h 4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232" h="484664">
                      <a:moveTo>
                        <a:pt x="188232" y="0"/>
                      </a:moveTo>
                      <a:cubicBezTo>
                        <a:pt x="184468" y="22630"/>
                        <a:pt x="176938" y="33946"/>
                        <a:pt x="158115" y="33946"/>
                      </a:cubicBezTo>
                      <a:cubicBezTo>
                        <a:pt x="158115" y="33946"/>
                        <a:pt x="158115" y="33946"/>
                        <a:pt x="86587" y="33946"/>
                      </a:cubicBezTo>
                      <a:cubicBezTo>
                        <a:pt x="86587" y="33946"/>
                        <a:pt x="86587" y="33946"/>
                        <a:pt x="86587" y="147097"/>
                      </a:cubicBezTo>
                      <a:cubicBezTo>
                        <a:pt x="86587" y="147097"/>
                        <a:pt x="86587" y="147097"/>
                        <a:pt x="75293" y="286651"/>
                      </a:cubicBezTo>
                      <a:cubicBezTo>
                        <a:pt x="72469" y="347941"/>
                        <a:pt x="70822" y="409232"/>
                        <a:pt x="70469" y="470463"/>
                      </a:cubicBezTo>
                      <a:lnTo>
                        <a:pt x="70583" y="477548"/>
                      </a:lnTo>
                      <a:lnTo>
                        <a:pt x="27436" y="484121"/>
                      </a:lnTo>
                      <a:lnTo>
                        <a:pt x="16662" y="484664"/>
                      </a:lnTo>
                      <a:lnTo>
                        <a:pt x="18823" y="396502"/>
                      </a:lnTo>
                      <a:cubicBezTo>
                        <a:pt x="18823" y="181986"/>
                        <a:pt x="0" y="15087"/>
                        <a:pt x="0" y="15087"/>
                      </a:cubicBezTo>
                      <a:close/>
                    </a:path>
                  </a:pathLst>
                </a:cu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0" name="任意多边形 193"/>
                <p:cNvSpPr/>
                <p:nvPr/>
              </p:nvSpPr>
              <p:spPr bwMode="auto">
                <a:xfrm>
                  <a:off x="5803901" y="2363788"/>
                  <a:ext cx="211138" cy="188913"/>
                </a:xfrm>
                <a:custGeom>
                  <a:avLst/>
                  <a:gdLst>
                    <a:gd name="T0" fmla="*/ 38 w 56"/>
                    <a:gd name="T1" fmla="*/ 7 h 50"/>
                    <a:gd name="T2" fmla="*/ 1 w 56"/>
                    <a:gd name="T3" fmla="*/ 3 h 50"/>
                    <a:gd name="T4" fmla="*/ 1 w 56"/>
                    <a:gd name="T5" fmla="*/ 24 h 50"/>
                    <a:gd name="T6" fmla="*/ 56 w 56"/>
                    <a:gd name="T7" fmla="*/ 25 h 50"/>
                    <a:gd name="T8" fmla="*/ 56 w 56"/>
                    <a:gd name="T9" fmla="*/ 0 h 50"/>
                    <a:gd name="T10" fmla="*/ 38 w 56"/>
                    <a:gd name="T11" fmla="*/ 7 h 50"/>
                  </a:gdLst>
                  <a:ahLst/>
                  <a:cxnLst>
                    <a:cxn ang="0">
                      <a:pos x="T0" y="T1"/>
                    </a:cxn>
                    <a:cxn ang="0">
                      <a:pos x="T2" y="T3"/>
                    </a:cxn>
                    <a:cxn ang="0">
                      <a:pos x="T4" y="T5"/>
                    </a:cxn>
                    <a:cxn ang="0">
                      <a:pos x="T6" y="T7"/>
                    </a:cxn>
                    <a:cxn ang="0">
                      <a:pos x="T8" y="T9"/>
                    </a:cxn>
                    <a:cxn ang="0">
                      <a:pos x="T10" y="T11"/>
                    </a:cxn>
                  </a:cxnLst>
                  <a:rect l="0" t="0" r="r" b="b"/>
                  <a:pathLst>
                    <a:path w="56" h="50">
                      <a:moveTo>
                        <a:pt x="38" y="7"/>
                      </a:moveTo>
                      <a:cubicBezTo>
                        <a:pt x="27" y="10"/>
                        <a:pt x="10" y="4"/>
                        <a:pt x="1" y="3"/>
                      </a:cubicBezTo>
                      <a:cubicBezTo>
                        <a:pt x="1" y="24"/>
                        <a:pt x="1" y="24"/>
                        <a:pt x="1" y="24"/>
                      </a:cubicBezTo>
                      <a:cubicBezTo>
                        <a:pt x="0" y="48"/>
                        <a:pt x="55" y="50"/>
                        <a:pt x="56" y="25"/>
                      </a:cubicBezTo>
                      <a:cubicBezTo>
                        <a:pt x="56" y="0"/>
                        <a:pt x="56" y="0"/>
                        <a:pt x="56" y="0"/>
                      </a:cubicBezTo>
                      <a:cubicBezTo>
                        <a:pt x="50" y="3"/>
                        <a:pt x="43" y="6"/>
                        <a:pt x="38" y="7"/>
                      </a:cubicBez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01" name="任意多边形 194"/>
                <p:cNvSpPr/>
                <p:nvPr/>
              </p:nvSpPr>
              <p:spPr bwMode="auto">
                <a:xfrm>
                  <a:off x="5821363" y="2147888"/>
                  <a:ext cx="201613" cy="133350"/>
                </a:xfrm>
                <a:custGeom>
                  <a:avLst/>
                  <a:gdLst>
                    <a:gd name="T0" fmla="*/ 53 w 53"/>
                    <a:gd name="T1" fmla="*/ 1 h 35"/>
                    <a:gd name="T2" fmla="*/ 1 w 53"/>
                    <a:gd name="T3" fmla="*/ 0 h 35"/>
                    <a:gd name="T4" fmla="*/ 0 w 53"/>
                    <a:gd name="T5" fmla="*/ 35 h 35"/>
                    <a:gd name="T6" fmla="*/ 52 w 53"/>
                    <a:gd name="T7" fmla="*/ 29 h 35"/>
                    <a:gd name="T8" fmla="*/ 53 w 53"/>
                    <a:gd name="T9" fmla="*/ 1 h 35"/>
                  </a:gdLst>
                  <a:ahLst/>
                  <a:cxnLst>
                    <a:cxn ang="0">
                      <a:pos x="T0" y="T1"/>
                    </a:cxn>
                    <a:cxn ang="0">
                      <a:pos x="T2" y="T3"/>
                    </a:cxn>
                    <a:cxn ang="0">
                      <a:pos x="T4" y="T5"/>
                    </a:cxn>
                    <a:cxn ang="0">
                      <a:pos x="T6" y="T7"/>
                    </a:cxn>
                    <a:cxn ang="0">
                      <a:pos x="T8" y="T9"/>
                    </a:cxn>
                  </a:cxnLst>
                  <a:rect l="0" t="0" r="r" b="b"/>
                  <a:pathLst>
                    <a:path w="53" h="35">
                      <a:moveTo>
                        <a:pt x="53" y="1"/>
                      </a:moveTo>
                      <a:cubicBezTo>
                        <a:pt x="1" y="0"/>
                        <a:pt x="1" y="0"/>
                        <a:pt x="1" y="0"/>
                      </a:cubicBezTo>
                      <a:cubicBezTo>
                        <a:pt x="0" y="35"/>
                        <a:pt x="0" y="35"/>
                        <a:pt x="0" y="35"/>
                      </a:cubicBezTo>
                      <a:cubicBezTo>
                        <a:pt x="16" y="33"/>
                        <a:pt x="39" y="30"/>
                        <a:pt x="52" y="29"/>
                      </a:cubicBezTo>
                      <a:lnTo>
                        <a:pt x="53" y="1"/>
                      </a:ln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03" name="任意多边形 195"/>
                <p:cNvSpPr/>
                <p:nvPr/>
              </p:nvSpPr>
              <p:spPr bwMode="auto">
                <a:xfrm>
                  <a:off x="5807076" y="2257425"/>
                  <a:ext cx="211138" cy="144463"/>
                </a:xfrm>
                <a:custGeom>
                  <a:avLst/>
                  <a:gdLst>
                    <a:gd name="T0" fmla="*/ 37 w 56"/>
                    <a:gd name="T1" fmla="*/ 35 h 38"/>
                    <a:gd name="T2" fmla="*/ 55 w 56"/>
                    <a:gd name="T3" fmla="*/ 28 h 38"/>
                    <a:gd name="T4" fmla="*/ 56 w 56"/>
                    <a:gd name="T5" fmla="*/ 0 h 38"/>
                    <a:gd name="T6" fmla="*/ 0 w 56"/>
                    <a:gd name="T7" fmla="*/ 6 h 38"/>
                    <a:gd name="T8" fmla="*/ 0 w 56"/>
                    <a:gd name="T9" fmla="*/ 31 h 38"/>
                    <a:gd name="T10" fmla="*/ 37 w 56"/>
                    <a:gd name="T11" fmla="*/ 35 h 38"/>
                  </a:gdLst>
                  <a:ahLst/>
                  <a:cxnLst>
                    <a:cxn ang="0">
                      <a:pos x="T0" y="T1"/>
                    </a:cxn>
                    <a:cxn ang="0">
                      <a:pos x="T2" y="T3"/>
                    </a:cxn>
                    <a:cxn ang="0">
                      <a:pos x="T4" y="T5"/>
                    </a:cxn>
                    <a:cxn ang="0">
                      <a:pos x="T6" y="T7"/>
                    </a:cxn>
                    <a:cxn ang="0">
                      <a:pos x="T8" y="T9"/>
                    </a:cxn>
                    <a:cxn ang="0">
                      <a:pos x="T10" y="T11"/>
                    </a:cxn>
                  </a:cxnLst>
                  <a:rect l="0" t="0" r="r" b="b"/>
                  <a:pathLst>
                    <a:path w="56" h="38">
                      <a:moveTo>
                        <a:pt x="37" y="35"/>
                      </a:moveTo>
                      <a:cubicBezTo>
                        <a:pt x="42" y="34"/>
                        <a:pt x="49" y="31"/>
                        <a:pt x="55" y="28"/>
                      </a:cubicBezTo>
                      <a:cubicBezTo>
                        <a:pt x="56" y="0"/>
                        <a:pt x="56" y="0"/>
                        <a:pt x="56" y="0"/>
                      </a:cubicBezTo>
                      <a:cubicBezTo>
                        <a:pt x="43" y="1"/>
                        <a:pt x="16" y="4"/>
                        <a:pt x="0" y="6"/>
                      </a:cubicBezTo>
                      <a:cubicBezTo>
                        <a:pt x="0" y="31"/>
                        <a:pt x="0" y="31"/>
                        <a:pt x="0" y="31"/>
                      </a:cubicBezTo>
                      <a:cubicBezTo>
                        <a:pt x="10" y="36"/>
                        <a:pt x="26" y="38"/>
                        <a:pt x="37" y="35"/>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7" name="任意多边形 196"/>
                <p:cNvSpPr/>
                <p:nvPr/>
              </p:nvSpPr>
              <p:spPr bwMode="auto">
                <a:xfrm>
                  <a:off x="5500688" y="1338263"/>
                  <a:ext cx="760413" cy="1044575"/>
                </a:xfrm>
                <a:custGeom>
                  <a:avLst/>
                  <a:gdLst>
                    <a:gd name="T0" fmla="*/ 78 w 201"/>
                    <a:gd name="T1" fmla="*/ 269 h 277"/>
                    <a:gd name="T2" fmla="*/ 8 w 201"/>
                    <a:gd name="T3" fmla="*/ 169 h 277"/>
                    <a:gd name="T4" fmla="*/ 23 w 201"/>
                    <a:gd name="T5" fmla="*/ 78 h 277"/>
                    <a:gd name="T6" fmla="*/ 123 w 201"/>
                    <a:gd name="T7" fmla="*/ 8 h 277"/>
                    <a:gd name="T8" fmla="*/ 193 w 201"/>
                    <a:gd name="T9" fmla="*/ 107 h 277"/>
                    <a:gd name="T10" fmla="*/ 177 w 201"/>
                    <a:gd name="T11" fmla="*/ 199 h 277"/>
                    <a:gd name="T12" fmla="*/ 78 w 201"/>
                    <a:gd name="T13" fmla="*/ 269 h 277"/>
                  </a:gdLst>
                  <a:ahLst/>
                  <a:cxnLst>
                    <a:cxn ang="0">
                      <a:pos x="T0" y="T1"/>
                    </a:cxn>
                    <a:cxn ang="0">
                      <a:pos x="T2" y="T3"/>
                    </a:cxn>
                    <a:cxn ang="0">
                      <a:pos x="T4" y="T5"/>
                    </a:cxn>
                    <a:cxn ang="0">
                      <a:pos x="T6" y="T7"/>
                    </a:cxn>
                    <a:cxn ang="0">
                      <a:pos x="T8" y="T9"/>
                    </a:cxn>
                    <a:cxn ang="0">
                      <a:pos x="T10" y="T11"/>
                    </a:cxn>
                    <a:cxn ang="0">
                      <a:pos x="T12" y="T13"/>
                    </a:cxn>
                  </a:cxnLst>
                  <a:rect l="0" t="0" r="r" b="b"/>
                  <a:pathLst>
                    <a:path w="201" h="277">
                      <a:moveTo>
                        <a:pt x="78" y="269"/>
                      </a:moveTo>
                      <a:cubicBezTo>
                        <a:pt x="31" y="261"/>
                        <a:pt x="0" y="216"/>
                        <a:pt x="8" y="169"/>
                      </a:cubicBezTo>
                      <a:cubicBezTo>
                        <a:pt x="23" y="78"/>
                        <a:pt x="23" y="78"/>
                        <a:pt x="23" y="78"/>
                      </a:cubicBezTo>
                      <a:cubicBezTo>
                        <a:pt x="32" y="31"/>
                        <a:pt x="76" y="0"/>
                        <a:pt x="123" y="8"/>
                      </a:cubicBezTo>
                      <a:cubicBezTo>
                        <a:pt x="170" y="16"/>
                        <a:pt x="201" y="61"/>
                        <a:pt x="193" y="107"/>
                      </a:cubicBezTo>
                      <a:cubicBezTo>
                        <a:pt x="177" y="199"/>
                        <a:pt x="177" y="199"/>
                        <a:pt x="177" y="199"/>
                      </a:cubicBezTo>
                      <a:cubicBezTo>
                        <a:pt x="169" y="246"/>
                        <a:pt x="124" y="277"/>
                        <a:pt x="78" y="269"/>
                      </a:cubicBezTo>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8" name="任意多边形 197"/>
                <p:cNvSpPr/>
                <p:nvPr/>
              </p:nvSpPr>
              <p:spPr bwMode="auto">
                <a:xfrm>
                  <a:off x="5497513" y="1330325"/>
                  <a:ext cx="695325" cy="1041400"/>
                </a:xfrm>
                <a:custGeom>
                  <a:avLst/>
                  <a:gdLst>
                    <a:gd name="T0" fmla="*/ 67 w 184"/>
                    <a:gd name="T1" fmla="*/ 269 h 276"/>
                    <a:gd name="T2" fmla="*/ 7 w 184"/>
                    <a:gd name="T3" fmla="*/ 179 h 276"/>
                    <a:gd name="T4" fmla="*/ 20 w 184"/>
                    <a:gd name="T5" fmla="*/ 72 h 276"/>
                    <a:gd name="T6" fmla="*/ 112 w 184"/>
                    <a:gd name="T7" fmla="*/ 8 h 276"/>
                    <a:gd name="T8" fmla="*/ 176 w 184"/>
                    <a:gd name="T9" fmla="*/ 99 h 276"/>
                    <a:gd name="T10" fmla="*/ 158 w 184"/>
                    <a:gd name="T11" fmla="*/ 204 h 276"/>
                    <a:gd name="T12" fmla="*/ 67 w 184"/>
                    <a:gd name="T13" fmla="*/ 269 h 276"/>
                  </a:gdLst>
                  <a:ahLst/>
                  <a:cxnLst>
                    <a:cxn ang="0">
                      <a:pos x="T0" y="T1"/>
                    </a:cxn>
                    <a:cxn ang="0">
                      <a:pos x="T2" y="T3"/>
                    </a:cxn>
                    <a:cxn ang="0">
                      <a:pos x="T4" y="T5"/>
                    </a:cxn>
                    <a:cxn ang="0">
                      <a:pos x="T6" y="T7"/>
                    </a:cxn>
                    <a:cxn ang="0">
                      <a:pos x="T8" y="T9"/>
                    </a:cxn>
                    <a:cxn ang="0">
                      <a:pos x="T10" y="T11"/>
                    </a:cxn>
                    <a:cxn ang="0">
                      <a:pos x="T12" y="T13"/>
                    </a:cxn>
                  </a:cxnLst>
                  <a:rect l="0" t="0" r="r" b="b"/>
                  <a:pathLst>
                    <a:path w="184" h="276">
                      <a:moveTo>
                        <a:pt x="67" y="269"/>
                      </a:moveTo>
                      <a:cubicBezTo>
                        <a:pt x="24" y="261"/>
                        <a:pt x="0" y="222"/>
                        <a:pt x="7" y="179"/>
                      </a:cubicBezTo>
                      <a:cubicBezTo>
                        <a:pt x="20" y="72"/>
                        <a:pt x="20" y="72"/>
                        <a:pt x="20" y="72"/>
                      </a:cubicBezTo>
                      <a:cubicBezTo>
                        <a:pt x="28" y="29"/>
                        <a:pt x="69" y="0"/>
                        <a:pt x="112" y="8"/>
                      </a:cubicBezTo>
                      <a:cubicBezTo>
                        <a:pt x="155" y="15"/>
                        <a:pt x="184" y="56"/>
                        <a:pt x="176" y="99"/>
                      </a:cubicBezTo>
                      <a:cubicBezTo>
                        <a:pt x="158" y="204"/>
                        <a:pt x="158" y="204"/>
                        <a:pt x="158" y="204"/>
                      </a:cubicBezTo>
                      <a:cubicBezTo>
                        <a:pt x="150" y="247"/>
                        <a:pt x="110" y="276"/>
                        <a:pt x="67" y="269"/>
                      </a:cubicBezTo>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09" name="任意多边形 198"/>
                <p:cNvSpPr/>
                <p:nvPr/>
              </p:nvSpPr>
              <p:spPr bwMode="auto">
                <a:xfrm>
                  <a:off x="5618163" y="1809750"/>
                  <a:ext cx="87313" cy="127000"/>
                </a:xfrm>
                <a:custGeom>
                  <a:avLst/>
                  <a:gdLst>
                    <a:gd name="T0" fmla="*/ 2 w 23"/>
                    <a:gd name="T1" fmla="*/ 15 h 34"/>
                    <a:gd name="T2" fmla="*/ 9 w 23"/>
                    <a:gd name="T3" fmla="*/ 33 h 34"/>
                    <a:gd name="T4" fmla="*/ 22 w 23"/>
                    <a:gd name="T5" fmla="*/ 19 h 34"/>
                    <a:gd name="T6" fmla="*/ 14 w 23"/>
                    <a:gd name="T7" fmla="*/ 1 h 34"/>
                    <a:gd name="T8" fmla="*/ 2 w 23"/>
                    <a:gd name="T9" fmla="*/ 15 h 34"/>
                  </a:gdLst>
                  <a:ahLst/>
                  <a:cxnLst>
                    <a:cxn ang="0">
                      <a:pos x="T0" y="T1"/>
                    </a:cxn>
                    <a:cxn ang="0">
                      <a:pos x="T2" y="T3"/>
                    </a:cxn>
                    <a:cxn ang="0">
                      <a:pos x="T4" y="T5"/>
                    </a:cxn>
                    <a:cxn ang="0">
                      <a:pos x="T6" y="T7"/>
                    </a:cxn>
                    <a:cxn ang="0">
                      <a:pos x="T8" y="T9"/>
                    </a:cxn>
                  </a:cxnLst>
                  <a:rect l="0" t="0" r="r" b="b"/>
                  <a:pathLst>
                    <a:path w="23" h="34">
                      <a:moveTo>
                        <a:pt x="2" y="15"/>
                      </a:moveTo>
                      <a:cubicBezTo>
                        <a:pt x="0" y="24"/>
                        <a:pt x="4" y="32"/>
                        <a:pt x="9" y="33"/>
                      </a:cubicBezTo>
                      <a:cubicBezTo>
                        <a:pt x="15" y="34"/>
                        <a:pt x="20" y="27"/>
                        <a:pt x="22" y="19"/>
                      </a:cubicBezTo>
                      <a:cubicBezTo>
                        <a:pt x="23" y="10"/>
                        <a:pt x="20" y="2"/>
                        <a:pt x="14" y="1"/>
                      </a:cubicBezTo>
                      <a:cubicBezTo>
                        <a:pt x="9" y="0"/>
                        <a:pt x="3" y="7"/>
                        <a:pt x="2"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13" name="任意多边形 199"/>
                <p:cNvSpPr/>
                <p:nvPr/>
              </p:nvSpPr>
              <p:spPr bwMode="auto">
                <a:xfrm>
                  <a:off x="5919788" y="1865313"/>
                  <a:ext cx="84138" cy="128588"/>
                </a:xfrm>
                <a:custGeom>
                  <a:avLst/>
                  <a:gdLst>
                    <a:gd name="T0" fmla="*/ 1 w 22"/>
                    <a:gd name="T1" fmla="*/ 15 h 34"/>
                    <a:gd name="T2" fmla="*/ 8 w 22"/>
                    <a:gd name="T3" fmla="*/ 33 h 34"/>
                    <a:gd name="T4" fmla="*/ 21 w 22"/>
                    <a:gd name="T5" fmla="*/ 19 h 34"/>
                    <a:gd name="T6" fmla="*/ 14 w 22"/>
                    <a:gd name="T7" fmla="*/ 1 h 34"/>
                    <a:gd name="T8" fmla="*/ 1 w 22"/>
                    <a:gd name="T9" fmla="*/ 15 h 34"/>
                  </a:gdLst>
                  <a:ahLst/>
                  <a:cxnLst>
                    <a:cxn ang="0">
                      <a:pos x="T0" y="T1"/>
                    </a:cxn>
                    <a:cxn ang="0">
                      <a:pos x="T2" y="T3"/>
                    </a:cxn>
                    <a:cxn ang="0">
                      <a:pos x="T4" y="T5"/>
                    </a:cxn>
                    <a:cxn ang="0">
                      <a:pos x="T6" y="T7"/>
                    </a:cxn>
                    <a:cxn ang="0">
                      <a:pos x="T8" y="T9"/>
                    </a:cxn>
                  </a:cxnLst>
                  <a:rect l="0" t="0" r="r" b="b"/>
                  <a:pathLst>
                    <a:path w="22" h="34">
                      <a:moveTo>
                        <a:pt x="1" y="15"/>
                      </a:moveTo>
                      <a:cubicBezTo>
                        <a:pt x="0" y="24"/>
                        <a:pt x="3" y="32"/>
                        <a:pt x="8" y="33"/>
                      </a:cubicBezTo>
                      <a:cubicBezTo>
                        <a:pt x="14" y="34"/>
                        <a:pt x="19" y="27"/>
                        <a:pt x="21" y="19"/>
                      </a:cubicBezTo>
                      <a:cubicBezTo>
                        <a:pt x="22" y="10"/>
                        <a:pt x="19" y="2"/>
                        <a:pt x="14" y="1"/>
                      </a:cubicBezTo>
                      <a:cubicBezTo>
                        <a:pt x="8" y="0"/>
                        <a:pt x="3" y="7"/>
                        <a:pt x="1"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14" name="任意多边形 200"/>
                <p:cNvSpPr/>
                <p:nvPr/>
              </p:nvSpPr>
              <p:spPr bwMode="auto">
                <a:xfrm>
                  <a:off x="5905501" y="2032000"/>
                  <a:ext cx="128588" cy="52388"/>
                </a:xfrm>
                <a:custGeom>
                  <a:avLst/>
                  <a:gdLst>
                    <a:gd name="T0" fmla="*/ 13 w 34"/>
                    <a:gd name="T1" fmla="*/ 0 h 14"/>
                    <a:gd name="T2" fmla="*/ 2 w 34"/>
                    <a:gd name="T3" fmla="*/ 4 h 14"/>
                    <a:gd name="T4" fmla="*/ 15 w 34"/>
                    <a:gd name="T5" fmla="*/ 13 h 14"/>
                    <a:gd name="T6" fmla="*/ 22 w 34"/>
                    <a:gd name="T7" fmla="*/ 14 h 14"/>
                    <a:gd name="T8" fmla="*/ 33 w 34"/>
                    <a:gd name="T9" fmla="*/ 10 h 14"/>
                    <a:gd name="T10" fmla="*/ 19 w 34"/>
                    <a:gd name="T11" fmla="*/ 1 h 14"/>
                    <a:gd name="T12" fmla="*/ 13 w 3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4" h="14">
                      <a:moveTo>
                        <a:pt x="13" y="0"/>
                      </a:moveTo>
                      <a:cubicBezTo>
                        <a:pt x="7" y="0"/>
                        <a:pt x="2" y="2"/>
                        <a:pt x="2" y="4"/>
                      </a:cubicBezTo>
                      <a:cubicBezTo>
                        <a:pt x="0" y="8"/>
                        <a:pt x="6" y="12"/>
                        <a:pt x="15" y="13"/>
                      </a:cubicBezTo>
                      <a:cubicBezTo>
                        <a:pt x="17" y="14"/>
                        <a:pt x="20" y="14"/>
                        <a:pt x="22" y="14"/>
                      </a:cubicBezTo>
                      <a:cubicBezTo>
                        <a:pt x="27" y="14"/>
                        <a:pt x="32" y="12"/>
                        <a:pt x="33" y="10"/>
                      </a:cubicBezTo>
                      <a:cubicBezTo>
                        <a:pt x="34" y="6"/>
                        <a:pt x="28" y="2"/>
                        <a:pt x="19" y="1"/>
                      </a:cubicBezTo>
                      <a:cubicBezTo>
                        <a:pt x="17" y="0"/>
                        <a:pt x="15" y="0"/>
                        <a:pt x="13" y="0"/>
                      </a:cubicBezTo>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15" name="任意多边形 201"/>
                <p:cNvSpPr/>
                <p:nvPr/>
              </p:nvSpPr>
              <p:spPr bwMode="auto">
                <a:xfrm>
                  <a:off x="5538788" y="1955800"/>
                  <a:ext cx="128588" cy="57150"/>
                </a:xfrm>
                <a:custGeom>
                  <a:avLst/>
                  <a:gdLst>
                    <a:gd name="T0" fmla="*/ 11 w 34"/>
                    <a:gd name="T1" fmla="*/ 0 h 15"/>
                    <a:gd name="T2" fmla="*/ 2 w 34"/>
                    <a:gd name="T3" fmla="*/ 4 h 15"/>
                    <a:gd name="T4" fmla="*/ 15 w 34"/>
                    <a:gd name="T5" fmla="*/ 13 h 15"/>
                    <a:gd name="T6" fmla="*/ 23 w 34"/>
                    <a:gd name="T7" fmla="*/ 15 h 15"/>
                    <a:gd name="T8" fmla="*/ 32 w 34"/>
                    <a:gd name="T9" fmla="*/ 11 h 15"/>
                    <a:gd name="T10" fmla="*/ 20 w 34"/>
                    <a:gd name="T11" fmla="*/ 1 h 15"/>
                    <a:gd name="T12" fmla="*/ 11 w 34"/>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4" h="15">
                      <a:moveTo>
                        <a:pt x="11" y="0"/>
                      </a:moveTo>
                      <a:cubicBezTo>
                        <a:pt x="6" y="0"/>
                        <a:pt x="3" y="1"/>
                        <a:pt x="2" y="4"/>
                      </a:cubicBezTo>
                      <a:cubicBezTo>
                        <a:pt x="0" y="7"/>
                        <a:pt x="6" y="11"/>
                        <a:pt x="15" y="13"/>
                      </a:cubicBezTo>
                      <a:cubicBezTo>
                        <a:pt x="18" y="14"/>
                        <a:pt x="21" y="15"/>
                        <a:pt x="23" y="15"/>
                      </a:cubicBezTo>
                      <a:cubicBezTo>
                        <a:pt x="28" y="15"/>
                        <a:pt x="32" y="13"/>
                        <a:pt x="32" y="11"/>
                      </a:cubicBezTo>
                      <a:cubicBezTo>
                        <a:pt x="34" y="8"/>
                        <a:pt x="28" y="3"/>
                        <a:pt x="20" y="1"/>
                      </a:cubicBezTo>
                      <a:cubicBezTo>
                        <a:pt x="17" y="1"/>
                        <a:pt x="14" y="0"/>
                        <a:pt x="11" y="0"/>
                      </a:cubicBezTo>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16" name="任意多边形 202"/>
                <p:cNvSpPr/>
                <p:nvPr/>
              </p:nvSpPr>
              <p:spPr bwMode="auto">
                <a:xfrm>
                  <a:off x="6116638" y="1900238"/>
                  <a:ext cx="227013" cy="277813"/>
                </a:xfrm>
                <a:custGeom>
                  <a:avLst/>
                  <a:gdLst>
                    <a:gd name="T0" fmla="*/ 6 w 60"/>
                    <a:gd name="T1" fmla="*/ 32 h 74"/>
                    <a:gd name="T2" fmla="*/ 19 w 60"/>
                    <a:gd name="T3" fmla="*/ 71 h 74"/>
                    <a:gd name="T4" fmla="*/ 54 w 60"/>
                    <a:gd name="T5" fmla="*/ 42 h 74"/>
                    <a:gd name="T6" fmla="*/ 41 w 60"/>
                    <a:gd name="T7" fmla="*/ 3 h 74"/>
                    <a:gd name="T8" fmla="*/ 6 w 60"/>
                    <a:gd name="T9" fmla="*/ 32 h 74"/>
                  </a:gdLst>
                  <a:ahLst/>
                  <a:cxnLst>
                    <a:cxn ang="0">
                      <a:pos x="T0" y="T1"/>
                    </a:cxn>
                    <a:cxn ang="0">
                      <a:pos x="T2" y="T3"/>
                    </a:cxn>
                    <a:cxn ang="0">
                      <a:pos x="T4" y="T5"/>
                    </a:cxn>
                    <a:cxn ang="0">
                      <a:pos x="T6" y="T7"/>
                    </a:cxn>
                    <a:cxn ang="0">
                      <a:pos x="T8" y="T9"/>
                    </a:cxn>
                  </a:cxnLst>
                  <a:rect l="0" t="0" r="r" b="b"/>
                  <a:pathLst>
                    <a:path w="60" h="74">
                      <a:moveTo>
                        <a:pt x="6" y="32"/>
                      </a:moveTo>
                      <a:cubicBezTo>
                        <a:pt x="0" y="51"/>
                        <a:pt x="5" y="68"/>
                        <a:pt x="19" y="71"/>
                      </a:cubicBezTo>
                      <a:cubicBezTo>
                        <a:pt x="32" y="74"/>
                        <a:pt x="48" y="61"/>
                        <a:pt x="54" y="42"/>
                      </a:cubicBezTo>
                      <a:cubicBezTo>
                        <a:pt x="60" y="23"/>
                        <a:pt x="54" y="6"/>
                        <a:pt x="41" y="3"/>
                      </a:cubicBezTo>
                      <a:cubicBezTo>
                        <a:pt x="28" y="0"/>
                        <a:pt x="12" y="13"/>
                        <a:pt x="6" y="32"/>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17" name="任意多边形 203"/>
                <p:cNvSpPr/>
                <p:nvPr/>
              </p:nvSpPr>
              <p:spPr bwMode="auto">
                <a:xfrm>
                  <a:off x="5503863" y="1231900"/>
                  <a:ext cx="866775" cy="742950"/>
                </a:xfrm>
                <a:custGeom>
                  <a:avLst/>
                  <a:gdLst>
                    <a:gd name="T0" fmla="*/ 169 w 229"/>
                    <a:gd name="T1" fmla="*/ 109 h 197"/>
                    <a:gd name="T2" fmla="*/ 3 w 229"/>
                    <a:gd name="T3" fmla="*/ 120 h 197"/>
                    <a:gd name="T4" fmla="*/ 32 w 229"/>
                    <a:gd name="T5" fmla="*/ 36 h 197"/>
                    <a:gd name="T6" fmla="*/ 195 w 229"/>
                    <a:gd name="T7" fmla="*/ 51 h 197"/>
                    <a:gd name="T8" fmla="*/ 229 w 229"/>
                    <a:gd name="T9" fmla="*/ 117 h 197"/>
                    <a:gd name="T10" fmla="*/ 199 w 229"/>
                    <a:gd name="T11" fmla="*/ 183 h 197"/>
                    <a:gd name="T12" fmla="*/ 177 w 229"/>
                    <a:gd name="T13" fmla="*/ 197 h 197"/>
                    <a:gd name="T14" fmla="*/ 168 w 229"/>
                    <a:gd name="T15" fmla="*/ 176 h 197"/>
                    <a:gd name="T16" fmla="*/ 169 w 229"/>
                    <a:gd name="T17" fmla="*/ 10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 h="197">
                      <a:moveTo>
                        <a:pt x="169" y="109"/>
                      </a:moveTo>
                      <a:cubicBezTo>
                        <a:pt x="169" y="109"/>
                        <a:pt x="107" y="148"/>
                        <a:pt x="3" y="120"/>
                      </a:cubicBezTo>
                      <a:cubicBezTo>
                        <a:pt x="3" y="120"/>
                        <a:pt x="0" y="61"/>
                        <a:pt x="32" y="36"/>
                      </a:cubicBezTo>
                      <a:cubicBezTo>
                        <a:pt x="63" y="12"/>
                        <a:pt x="158" y="0"/>
                        <a:pt x="195" y="51"/>
                      </a:cubicBezTo>
                      <a:cubicBezTo>
                        <a:pt x="195" y="51"/>
                        <a:pt x="229" y="64"/>
                        <a:pt x="229" y="117"/>
                      </a:cubicBezTo>
                      <a:cubicBezTo>
                        <a:pt x="229" y="147"/>
                        <a:pt x="199" y="183"/>
                        <a:pt x="199" y="183"/>
                      </a:cubicBezTo>
                      <a:cubicBezTo>
                        <a:pt x="199" y="183"/>
                        <a:pt x="187" y="183"/>
                        <a:pt x="177" y="197"/>
                      </a:cubicBezTo>
                      <a:cubicBezTo>
                        <a:pt x="177" y="197"/>
                        <a:pt x="172" y="186"/>
                        <a:pt x="168" y="176"/>
                      </a:cubicBezTo>
                      <a:cubicBezTo>
                        <a:pt x="168" y="176"/>
                        <a:pt x="155" y="144"/>
                        <a:pt x="169" y="109"/>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18" name="任意多边形 204"/>
                <p:cNvSpPr/>
                <p:nvPr/>
              </p:nvSpPr>
              <p:spPr bwMode="auto">
                <a:xfrm>
                  <a:off x="5648326" y="2114550"/>
                  <a:ext cx="185738" cy="112713"/>
                </a:xfrm>
                <a:custGeom>
                  <a:avLst/>
                  <a:gdLst>
                    <a:gd name="T0" fmla="*/ 1 w 49"/>
                    <a:gd name="T1" fmla="*/ 0 h 30"/>
                    <a:gd name="T2" fmla="*/ 21 w 49"/>
                    <a:gd name="T3" fmla="*/ 7 h 30"/>
                    <a:gd name="T4" fmla="*/ 49 w 49"/>
                    <a:gd name="T5" fmla="*/ 6 h 30"/>
                    <a:gd name="T6" fmla="*/ 44 w 49"/>
                    <a:gd name="T7" fmla="*/ 19 h 30"/>
                    <a:gd name="T8" fmla="*/ 22 w 49"/>
                    <a:gd name="T9" fmla="*/ 28 h 30"/>
                    <a:gd name="T10" fmla="*/ 11 w 49"/>
                    <a:gd name="T11" fmla="*/ 24 h 30"/>
                    <a:gd name="T12" fmla="*/ 1 w 4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49" h="30">
                      <a:moveTo>
                        <a:pt x="1" y="0"/>
                      </a:moveTo>
                      <a:cubicBezTo>
                        <a:pt x="1" y="0"/>
                        <a:pt x="10" y="5"/>
                        <a:pt x="21" y="7"/>
                      </a:cubicBezTo>
                      <a:cubicBezTo>
                        <a:pt x="32" y="10"/>
                        <a:pt x="49" y="6"/>
                        <a:pt x="49" y="6"/>
                      </a:cubicBezTo>
                      <a:cubicBezTo>
                        <a:pt x="49" y="6"/>
                        <a:pt x="48" y="13"/>
                        <a:pt x="44" y="19"/>
                      </a:cubicBezTo>
                      <a:cubicBezTo>
                        <a:pt x="40" y="25"/>
                        <a:pt x="33" y="30"/>
                        <a:pt x="22" y="28"/>
                      </a:cubicBezTo>
                      <a:cubicBezTo>
                        <a:pt x="17" y="28"/>
                        <a:pt x="14" y="26"/>
                        <a:pt x="11" y="24"/>
                      </a:cubicBezTo>
                      <a:cubicBezTo>
                        <a:pt x="0" y="16"/>
                        <a:pt x="1" y="0"/>
                        <a:pt x="1" y="0"/>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19" name="任意多边形 205"/>
                <p:cNvSpPr/>
                <p:nvPr/>
              </p:nvSpPr>
              <p:spPr bwMode="auto">
                <a:xfrm>
                  <a:off x="5984876" y="1881188"/>
                  <a:ext cx="52388" cy="30163"/>
                </a:xfrm>
                <a:custGeom>
                  <a:avLst/>
                  <a:gdLst>
                    <a:gd name="T0" fmla="*/ 3 w 14"/>
                    <a:gd name="T1" fmla="*/ 8 h 8"/>
                    <a:gd name="T2" fmla="*/ 14 w 14"/>
                    <a:gd name="T3" fmla="*/ 5 h 8"/>
                    <a:gd name="T4" fmla="*/ 0 w 14"/>
                    <a:gd name="T5" fmla="*/ 2 h 8"/>
                    <a:gd name="T6" fmla="*/ 3 w 14"/>
                    <a:gd name="T7" fmla="*/ 8 h 8"/>
                  </a:gdLst>
                  <a:ahLst/>
                  <a:cxnLst>
                    <a:cxn ang="0">
                      <a:pos x="T0" y="T1"/>
                    </a:cxn>
                    <a:cxn ang="0">
                      <a:pos x="T2" y="T3"/>
                    </a:cxn>
                    <a:cxn ang="0">
                      <a:pos x="T4" y="T5"/>
                    </a:cxn>
                    <a:cxn ang="0">
                      <a:pos x="T6" y="T7"/>
                    </a:cxn>
                  </a:cxnLst>
                  <a:rect l="0" t="0" r="r" b="b"/>
                  <a:pathLst>
                    <a:path w="14" h="8">
                      <a:moveTo>
                        <a:pt x="3" y="8"/>
                      </a:moveTo>
                      <a:cubicBezTo>
                        <a:pt x="3" y="8"/>
                        <a:pt x="7" y="5"/>
                        <a:pt x="14" y="5"/>
                      </a:cubicBezTo>
                      <a:cubicBezTo>
                        <a:pt x="14" y="5"/>
                        <a:pt x="8" y="0"/>
                        <a:pt x="0" y="2"/>
                      </a:cubicBezTo>
                      <a:lnTo>
                        <a:pt x="3" y="8"/>
                      </a:ln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0" name="任意多边形 206"/>
                <p:cNvSpPr/>
                <p:nvPr/>
              </p:nvSpPr>
              <p:spPr bwMode="auto">
                <a:xfrm>
                  <a:off x="5602288" y="1804988"/>
                  <a:ext cx="53975" cy="34925"/>
                </a:xfrm>
                <a:custGeom>
                  <a:avLst/>
                  <a:gdLst>
                    <a:gd name="T0" fmla="*/ 10 w 14"/>
                    <a:gd name="T1" fmla="*/ 9 h 9"/>
                    <a:gd name="T2" fmla="*/ 0 w 14"/>
                    <a:gd name="T3" fmla="*/ 3 h 9"/>
                    <a:gd name="T4" fmla="*/ 14 w 14"/>
                    <a:gd name="T5" fmla="*/ 4 h 9"/>
                    <a:gd name="T6" fmla="*/ 10 w 14"/>
                    <a:gd name="T7" fmla="*/ 9 h 9"/>
                  </a:gdLst>
                  <a:ahLst/>
                  <a:cxnLst>
                    <a:cxn ang="0">
                      <a:pos x="T0" y="T1"/>
                    </a:cxn>
                    <a:cxn ang="0">
                      <a:pos x="T2" y="T3"/>
                    </a:cxn>
                    <a:cxn ang="0">
                      <a:pos x="T4" y="T5"/>
                    </a:cxn>
                    <a:cxn ang="0">
                      <a:pos x="T6" y="T7"/>
                    </a:cxn>
                  </a:cxnLst>
                  <a:rect l="0" t="0" r="r" b="b"/>
                  <a:pathLst>
                    <a:path w="14" h="9">
                      <a:moveTo>
                        <a:pt x="10" y="9"/>
                      </a:moveTo>
                      <a:cubicBezTo>
                        <a:pt x="10" y="9"/>
                        <a:pt x="7" y="5"/>
                        <a:pt x="0" y="3"/>
                      </a:cubicBezTo>
                      <a:cubicBezTo>
                        <a:pt x="0" y="3"/>
                        <a:pt x="7" y="0"/>
                        <a:pt x="14" y="4"/>
                      </a:cubicBezTo>
                      <a:lnTo>
                        <a:pt x="10" y="9"/>
                      </a:ln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2" name="任意多边形 207"/>
                <p:cNvSpPr/>
                <p:nvPr/>
              </p:nvSpPr>
              <p:spPr bwMode="auto">
                <a:xfrm>
                  <a:off x="6131032" y="2495550"/>
                  <a:ext cx="525299" cy="724658"/>
                </a:xfrm>
                <a:custGeom>
                  <a:avLst/>
                  <a:gdLst>
                    <a:gd name="connsiteX0" fmla="*/ 103332 w 525299"/>
                    <a:gd name="connsiteY0" fmla="*/ 0 h 724658"/>
                    <a:gd name="connsiteX1" fmla="*/ 500542 w 525299"/>
                    <a:gd name="connsiteY1" fmla="*/ 555041 h 724658"/>
                    <a:gd name="connsiteX2" fmla="*/ 525299 w 525299"/>
                    <a:gd name="connsiteY2" fmla="*/ 628596 h 724658"/>
                    <a:gd name="connsiteX3" fmla="*/ 521292 w 525299"/>
                    <a:gd name="connsiteY3" fmla="*/ 631026 h 724658"/>
                    <a:gd name="connsiteX4" fmla="*/ 412427 w 525299"/>
                    <a:gd name="connsiteY4" fmla="*/ 683369 h 724658"/>
                    <a:gd name="connsiteX5" fmla="*/ 299401 w 525299"/>
                    <a:gd name="connsiteY5" fmla="*/ 724658 h 724658"/>
                    <a:gd name="connsiteX6" fmla="*/ 279247 w 525299"/>
                    <a:gd name="connsiteY6" fmla="*/ 683424 h 724658"/>
                    <a:gd name="connsiteX7" fmla="*/ 76855 w 525299"/>
                    <a:gd name="connsiteY7" fmla="*/ 418759 h 724658"/>
                    <a:gd name="connsiteX8" fmla="*/ 16336 w 525299"/>
                    <a:gd name="connsiteY8" fmla="*/ 135814 h 724658"/>
                    <a:gd name="connsiteX9" fmla="*/ 61725 w 525299"/>
                    <a:gd name="connsiteY9" fmla="*/ 37726 h 724658"/>
                    <a:gd name="connsiteX10" fmla="*/ 103332 w 525299"/>
                    <a:gd name="connsiteY10" fmla="*/ 0 h 724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299" h="724658">
                      <a:moveTo>
                        <a:pt x="103332" y="0"/>
                      </a:moveTo>
                      <a:cubicBezTo>
                        <a:pt x="291273" y="127326"/>
                        <a:pt x="416789" y="332756"/>
                        <a:pt x="500542" y="555041"/>
                      </a:cubicBezTo>
                      <a:lnTo>
                        <a:pt x="525299" y="628596"/>
                      </a:lnTo>
                      <a:lnTo>
                        <a:pt x="521292" y="631026"/>
                      </a:lnTo>
                      <a:cubicBezTo>
                        <a:pt x="485999" y="650162"/>
                        <a:pt x="449676" y="667644"/>
                        <a:pt x="412427" y="683369"/>
                      </a:cubicBezTo>
                      <a:lnTo>
                        <a:pt x="299401" y="724658"/>
                      </a:lnTo>
                      <a:lnTo>
                        <a:pt x="279247" y="683424"/>
                      </a:lnTo>
                      <a:cubicBezTo>
                        <a:pt x="205400" y="547853"/>
                        <a:pt x="130755" y="454127"/>
                        <a:pt x="76855" y="418759"/>
                      </a:cubicBezTo>
                      <a:cubicBezTo>
                        <a:pt x="54160" y="399896"/>
                        <a:pt x="-36619" y="320672"/>
                        <a:pt x="16336" y="135814"/>
                      </a:cubicBezTo>
                      <a:cubicBezTo>
                        <a:pt x="23901" y="101860"/>
                        <a:pt x="39031" y="67907"/>
                        <a:pt x="61725" y="37726"/>
                      </a:cubicBezTo>
                      <a:cubicBezTo>
                        <a:pt x="73073" y="18863"/>
                        <a:pt x="88203" y="7545"/>
                        <a:pt x="103332" y="0"/>
                      </a:cubicBez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223" name="任意多边形 208"/>
                <p:cNvSpPr/>
                <p:nvPr/>
              </p:nvSpPr>
              <p:spPr bwMode="auto">
                <a:xfrm>
                  <a:off x="5640388" y="1828800"/>
                  <a:ext cx="26988" cy="33338"/>
                </a:xfrm>
                <a:custGeom>
                  <a:avLst/>
                  <a:gdLst>
                    <a:gd name="T0" fmla="*/ 7 w 7"/>
                    <a:gd name="T1" fmla="*/ 5 h 9"/>
                    <a:gd name="T2" fmla="*/ 5 w 7"/>
                    <a:gd name="T3" fmla="*/ 0 h 9"/>
                    <a:gd name="T4" fmla="*/ 1 w 7"/>
                    <a:gd name="T5" fmla="*/ 3 h 9"/>
                    <a:gd name="T6" fmla="*/ 2 w 7"/>
                    <a:gd name="T7" fmla="*/ 9 h 9"/>
                    <a:gd name="T8" fmla="*/ 7 w 7"/>
                    <a:gd name="T9" fmla="*/ 5 h 9"/>
                  </a:gdLst>
                  <a:ahLst/>
                  <a:cxnLst>
                    <a:cxn ang="0">
                      <a:pos x="T0" y="T1"/>
                    </a:cxn>
                    <a:cxn ang="0">
                      <a:pos x="T2" y="T3"/>
                    </a:cxn>
                    <a:cxn ang="0">
                      <a:pos x="T4" y="T5"/>
                    </a:cxn>
                    <a:cxn ang="0">
                      <a:pos x="T6" y="T7"/>
                    </a:cxn>
                    <a:cxn ang="0">
                      <a:pos x="T8" y="T9"/>
                    </a:cxn>
                  </a:cxnLst>
                  <a:rect l="0" t="0" r="r" b="b"/>
                  <a:pathLst>
                    <a:path w="7" h="9">
                      <a:moveTo>
                        <a:pt x="7" y="5"/>
                      </a:moveTo>
                      <a:cubicBezTo>
                        <a:pt x="7" y="3"/>
                        <a:pt x="7" y="1"/>
                        <a:pt x="5" y="0"/>
                      </a:cubicBezTo>
                      <a:cubicBezTo>
                        <a:pt x="4" y="0"/>
                        <a:pt x="2" y="1"/>
                        <a:pt x="1" y="3"/>
                      </a:cubicBezTo>
                      <a:cubicBezTo>
                        <a:pt x="0" y="6"/>
                        <a:pt x="1" y="8"/>
                        <a:pt x="2" y="9"/>
                      </a:cubicBezTo>
                      <a:cubicBezTo>
                        <a:pt x="4" y="9"/>
                        <a:pt x="6" y="8"/>
                        <a:pt x="7"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24" name="任意多边形 209"/>
                <p:cNvSpPr/>
                <p:nvPr/>
              </p:nvSpPr>
              <p:spPr bwMode="auto">
                <a:xfrm>
                  <a:off x="5648326" y="1846263"/>
                  <a:ext cx="19050" cy="30163"/>
                </a:xfrm>
                <a:custGeom>
                  <a:avLst/>
                  <a:gdLst>
                    <a:gd name="T0" fmla="*/ 5 w 5"/>
                    <a:gd name="T1" fmla="*/ 5 h 8"/>
                    <a:gd name="T2" fmla="*/ 4 w 5"/>
                    <a:gd name="T3" fmla="*/ 1 h 8"/>
                    <a:gd name="T4" fmla="*/ 0 w 5"/>
                    <a:gd name="T5" fmla="*/ 3 h 8"/>
                    <a:gd name="T6" fmla="*/ 1 w 5"/>
                    <a:gd name="T7" fmla="*/ 7 h 8"/>
                    <a:gd name="T8" fmla="*/ 5 w 5"/>
                    <a:gd name="T9" fmla="*/ 5 h 8"/>
                  </a:gdLst>
                  <a:ahLst/>
                  <a:cxnLst>
                    <a:cxn ang="0">
                      <a:pos x="T0" y="T1"/>
                    </a:cxn>
                    <a:cxn ang="0">
                      <a:pos x="T2" y="T3"/>
                    </a:cxn>
                    <a:cxn ang="0">
                      <a:pos x="T4" y="T5"/>
                    </a:cxn>
                    <a:cxn ang="0">
                      <a:pos x="T6" y="T7"/>
                    </a:cxn>
                    <a:cxn ang="0">
                      <a:pos x="T8" y="T9"/>
                    </a:cxn>
                  </a:cxnLst>
                  <a:rect l="0" t="0" r="r" b="b"/>
                  <a:pathLst>
                    <a:path w="5" h="8">
                      <a:moveTo>
                        <a:pt x="5" y="5"/>
                      </a:moveTo>
                      <a:cubicBezTo>
                        <a:pt x="5" y="3"/>
                        <a:pt x="5" y="1"/>
                        <a:pt x="4" y="1"/>
                      </a:cubicBezTo>
                      <a:cubicBezTo>
                        <a:pt x="3" y="0"/>
                        <a:pt x="1" y="2"/>
                        <a:pt x="0" y="3"/>
                      </a:cubicBezTo>
                      <a:cubicBezTo>
                        <a:pt x="0" y="5"/>
                        <a:pt x="0" y="7"/>
                        <a:pt x="1" y="7"/>
                      </a:cubicBezTo>
                      <a:cubicBezTo>
                        <a:pt x="2" y="8"/>
                        <a:pt x="4" y="7"/>
                        <a:pt x="5" y="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25" name="任意多边形 210"/>
                <p:cNvSpPr/>
                <p:nvPr/>
              </p:nvSpPr>
              <p:spPr bwMode="auto">
                <a:xfrm>
                  <a:off x="5938838" y="1892300"/>
                  <a:ext cx="26988" cy="33338"/>
                </a:xfrm>
                <a:custGeom>
                  <a:avLst/>
                  <a:gdLst>
                    <a:gd name="T0" fmla="*/ 6 w 7"/>
                    <a:gd name="T1" fmla="*/ 5 h 9"/>
                    <a:gd name="T2" fmla="*/ 5 w 7"/>
                    <a:gd name="T3" fmla="*/ 0 h 9"/>
                    <a:gd name="T4" fmla="*/ 1 w 7"/>
                    <a:gd name="T5" fmla="*/ 3 h 9"/>
                    <a:gd name="T6" fmla="*/ 2 w 7"/>
                    <a:gd name="T7" fmla="*/ 9 h 9"/>
                    <a:gd name="T8" fmla="*/ 6 w 7"/>
                    <a:gd name="T9" fmla="*/ 5 h 9"/>
                  </a:gdLst>
                  <a:ahLst/>
                  <a:cxnLst>
                    <a:cxn ang="0">
                      <a:pos x="T0" y="T1"/>
                    </a:cxn>
                    <a:cxn ang="0">
                      <a:pos x="T2" y="T3"/>
                    </a:cxn>
                    <a:cxn ang="0">
                      <a:pos x="T4" y="T5"/>
                    </a:cxn>
                    <a:cxn ang="0">
                      <a:pos x="T6" y="T7"/>
                    </a:cxn>
                    <a:cxn ang="0">
                      <a:pos x="T8" y="T9"/>
                    </a:cxn>
                  </a:cxnLst>
                  <a:rect l="0" t="0" r="r" b="b"/>
                  <a:pathLst>
                    <a:path w="7" h="9">
                      <a:moveTo>
                        <a:pt x="6" y="5"/>
                      </a:moveTo>
                      <a:cubicBezTo>
                        <a:pt x="7" y="3"/>
                        <a:pt x="6" y="1"/>
                        <a:pt x="5" y="0"/>
                      </a:cubicBezTo>
                      <a:cubicBezTo>
                        <a:pt x="3" y="0"/>
                        <a:pt x="2" y="1"/>
                        <a:pt x="1" y="3"/>
                      </a:cubicBezTo>
                      <a:cubicBezTo>
                        <a:pt x="0" y="6"/>
                        <a:pt x="0" y="8"/>
                        <a:pt x="2" y="9"/>
                      </a:cubicBezTo>
                      <a:cubicBezTo>
                        <a:pt x="3" y="9"/>
                        <a:pt x="5" y="8"/>
                        <a:pt x="6"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26" name="任意多边形 211"/>
                <p:cNvSpPr/>
                <p:nvPr/>
              </p:nvSpPr>
              <p:spPr bwMode="auto">
                <a:xfrm>
                  <a:off x="5943601" y="1911350"/>
                  <a:ext cx="22225" cy="30163"/>
                </a:xfrm>
                <a:custGeom>
                  <a:avLst/>
                  <a:gdLst>
                    <a:gd name="T0" fmla="*/ 5 w 6"/>
                    <a:gd name="T1" fmla="*/ 5 h 8"/>
                    <a:gd name="T2" fmla="*/ 4 w 6"/>
                    <a:gd name="T3" fmla="*/ 1 h 8"/>
                    <a:gd name="T4" fmla="*/ 1 w 6"/>
                    <a:gd name="T5" fmla="*/ 3 h 8"/>
                    <a:gd name="T6" fmla="*/ 2 w 6"/>
                    <a:gd name="T7" fmla="*/ 7 h 8"/>
                    <a:gd name="T8" fmla="*/ 5 w 6"/>
                    <a:gd name="T9" fmla="*/ 5 h 8"/>
                  </a:gdLst>
                  <a:ahLst/>
                  <a:cxnLst>
                    <a:cxn ang="0">
                      <a:pos x="T0" y="T1"/>
                    </a:cxn>
                    <a:cxn ang="0">
                      <a:pos x="T2" y="T3"/>
                    </a:cxn>
                    <a:cxn ang="0">
                      <a:pos x="T4" y="T5"/>
                    </a:cxn>
                    <a:cxn ang="0">
                      <a:pos x="T6" y="T7"/>
                    </a:cxn>
                    <a:cxn ang="0">
                      <a:pos x="T8" y="T9"/>
                    </a:cxn>
                  </a:cxnLst>
                  <a:rect l="0" t="0" r="r" b="b"/>
                  <a:pathLst>
                    <a:path w="6" h="8">
                      <a:moveTo>
                        <a:pt x="5" y="5"/>
                      </a:moveTo>
                      <a:cubicBezTo>
                        <a:pt x="6" y="3"/>
                        <a:pt x="5" y="1"/>
                        <a:pt x="4" y="1"/>
                      </a:cubicBezTo>
                      <a:cubicBezTo>
                        <a:pt x="3" y="0"/>
                        <a:pt x="2" y="2"/>
                        <a:pt x="1" y="3"/>
                      </a:cubicBezTo>
                      <a:cubicBezTo>
                        <a:pt x="0" y="5"/>
                        <a:pt x="1" y="7"/>
                        <a:pt x="2" y="7"/>
                      </a:cubicBezTo>
                      <a:cubicBezTo>
                        <a:pt x="3" y="8"/>
                        <a:pt x="4" y="7"/>
                        <a:pt x="5" y="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30" name="任意多边形 212"/>
                <p:cNvSpPr/>
                <p:nvPr/>
              </p:nvSpPr>
              <p:spPr bwMode="auto">
                <a:xfrm>
                  <a:off x="5954713" y="1790700"/>
                  <a:ext cx="101600" cy="49213"/>
                </a:xfrm>
                <a:custGeom>
                  <a:avLst/>
                  <a:gdLst>
                    <a:gd name="T0" fmla="*/ 25 w 27"/>
                    <a:gd name="T1" fmla="*/ 13 h 13"/>
                    <a:gd name="T2" fmla="*/ 23 w 27"/>
                    <a:gd name="T3" fmla="*/ 12 h 13"/>
                    <a:gd name="T4" fmla="*/ 2 w 27"/>
                    <a:gd name="T5" fmla="*/ 5 h 13"/>
                    <a:gd name="T6" fmla="*/ 0 w 27"/>
                    <a:gd name="T7" fmla="*/ 3 h 13"/>
                    <a:gd name="T8" fmla="*/ 2 w 27"/>
                    <a:gd name="T9" fmla="*/ 0 h 13"/>
                    <a:gd name="T10" fmla="*/ 26 w 27"/>
                    <a:gd name="T11" fmla="*/ 9 h 13"/>
                    <a:gd name="T12" fmla="*/ 26 w 27"/>
                    <a:gd name="T13" fmla="*/ 12 h 13"/>
                    <a:gd name="T14" fmla="*/ 25 w 27"/>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3">
                      <a:moveTo>
                        <a:pt x="25" y="13"/>
                      </a:moveTo>
                      <a:cubicBezTo>
                        <a:pt x="24" y="13"/>
                        <a:pt x="23" y="13"/>
                        <a:pt x="23" y="12"/>
                      </a:cubicBezTo>
                      <a:cubicBezTo>
                        <a:pt x="14" y="5"/>
                        <a:pt x="3" y="5"/>
                        <a:pt x="2" y="5"/>
                      </a:cubicBezTo>
                      <a:cubicBezTo>
                        <a:pt x="1" y="5"/>
                        <a:pt x="0" y="4"/>
                        <a:pt x="0" y="3"/>
                      </a:cubicBezTo>
                      <a:cubicBezTo>
                        <a:pt x="0" y="2"/>
                        <a:pt x="1" y="0"/>
                        <a:pt x="2" y="0"/>
                      </a:cubicBezTo>
                      <a:cubicBezTo>
                        <a:pt x="3" y="0"/>
                        <a:pt x="16" y="0"/>
                        <a:pt x="26" y="9"/>
                      </a:cubicBezTo>
                      <a:cubicBezTo>
                        <a:pt x="27" y="10"/>
                        <a:pt x="27" y="11"/>
                        <a:pt x="26" y="12"/>
                      </a:cubicBezTo>
                      <a:cubicBezTo>
                        <a:pt x="26" y="13"/>
                        <a:pt x="25" y="13"/>
                        <a:pt x="25" y="13"/>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31" name="任意多边形 213"/>
                <p:cNvSpPr/>
                <p:nvPr/>
              </p:nvSpPr>
              <p:spPr bwMode="auto">
                <a:xfrm>
                  <a:off x="5613401" y="1738313"/>
                  <a:ext cx="106363" cy="36513"/>
                </a:xfrm>
                <a:custGeom>
                  <a:avLst/>
                  <a:gdLst>
                    <a:gd name="T0" fmla="*/ 1 w 28"/>
                    <a:gd name="T1" fmla="*/ 10 h 10"/>
                    <a:gd name="T2" fmla="*/ 0 w 28"/>
                    <a:gd name="T3" fmla="*/ 9 h 10"/>
                    <a:gd name="T4" fmla="*/ 2 w 28"/>
                    <a:gd name="T5" fmla="*/ 6 h 10"/>
                    <a:gd name="T6" fmla="*/ 26 w 28"/>
                    <a:gd name="T7" fmla="*/ 4 h 10"/>
                    <a:gd name="T8" fmla="*/ 28 w 28"/>
                    <a:gd name="T9" fmla="*/ 7 h 10"/>
                    <a:gd name="T10" fmla="*/ 25 w 28"/>
                    <a:gd name="T11" fmla="*/ 8 h 10"/>
                    <a:gd name="T12" fmla="*/ 3 w 28"/>
                    <a:gd name="T13" fmla="*/ 10 h 10"/>
                    <a:gd name="T14" fmla="*/ 1 w 28"/>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0">
                      <a:moveTo>
                        <a:pt x="1" y="10"/>
                      </a:moveTo>
                      <a:cubicBezTo>
                        <a:pt x="1" y="10"/>
                        <a:pt x="1" y="9"/>
                        <a:pt x="0" y="9"/>
                      </a:cubicBezTo>
                      <a:cubicBezTo>
                        <a:pt x="0" y="8"/>
                        <a:pt x="0" y="6"/>
                        <a:pt x="2" y="6"/>
                      </a:cubicBezTo>
                      <a:cubicBezTo>
                        <a:pt x="14" y="0"/>
                        <a:pt x="26" y="4"/>
                        <a:pt x="26" y="4"/>
                      </a:cubicBezTo>
                      <a:cubicBezTo>
                        <a:pt x="28" y="4"/>
                        <a:pt x="28" y="6"/>
                        <a:pt x="28" y="7"/>
                      </a:cubicBezTo>
                      <a:cubicBezTo>
                        <a:pt x="28" y="8"/>
                        <a:pt x="26" y="9"/>
                        <a:pt x="25" y="8"/>
                      </a:cubicBezTo>
                      <a:cubicBezTo>
                        <a:pt x="25" y="8"/>
                        <a:pt x="14" y="5"/>
                        <a:pt x="3" y="10"/>
                      </a:cubicBezTo>
                      <a:cubicBezTo>
                        <a:pt x="3" y="10"/>
                        <a:pt x="2" y="10"/>
                        <a:pt x="1" y="10"/>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32" name="任意多边形 214"/>
                <p:cNvSpPr/>
                <p:nvPr/>
              </p:nvSpPr>
              <p:spPr bwMode="auto">
                <a:xfrm>
                  <a:off x="5708651" y="1858963"/>
                  <a:ext cx="106363" cy="176213"/>
                </a:xfrm>
                <a:custGeom>
                  <a:avLst/>
                  <a:gdLst>
                    <a:gd name="T0" fmla="*/ 14 w 28"/>
                    <a:gd name="T1" fmla="*/ 47 h 47"/>
                    <a:gd name="T2" fmla="*/ 16 w 28"/>
                    <a:gd name="T3" fmla="*/ 45 h 47"/>
                    <a:gd name="T4" fmla="*/ 14 w 28"/>
                    <a:gd name="T5" fmla="*/ 43 h 47"/>
                    <a:gd name="T6" fmla="*/ 5 w 28"/>
                    <a:gd name="T7" fmla="*/ 39 h 47"/>
                    <a:gd name="T8" fmla="*/ 5 w 28"/>
                    <a:gd name="T9" fmla="*/ 34 h 47"/>
                    <a:gd name="T10" fmla="*/ 8 w 28"/>
                    <a:gd name="T11" fmla="*/ 31 h 47"/>
                    <a:gd name="T12" fmla="*/ 16 w 28"/>
                    <a:gd name="T13" fmla="*/ 32 h 47"/>
                    <a:gd name="T14" fmla="*/ 18 w 28"/>
                    <a:gd name="T15" fmla="*/ 32 h 47"/>
                    <a:gd name="T16" fmla="*/ 19 w 28"/>
                    <a:gd name="T17" fmla="*/ 31 h 47"/>
                    <a:gd name="T18" fmla="*/ 28 w 28"/>
                    <a:gd name="T19" fmla="*/ 3 h 47"/>
                    <a:gd name="T20" fmla="*/ 27 w 28"/>
                    <a:gd name="T21" fmla="*/ 1 h 47"/>
                    <a:gd name="T22" fmla="*/ 24 w 28"/>
                    <a:gd name="T23" fmla="*/ 2 h 47"/>
                    <a:gd name="T24" fmla="*/ 16 w 28"/>
                    <a:gd name="T25" fmla="*/ 27 h 47"/>
                    <a:gd name="T26" fmla="*/ 7 w 28"/>
                    <a:gd name="T27" fmla="*/ 27 h 47"/>
                    <a:gd name="T28" fmla="*/ 1 w 28"/>
                    <a:gd name="T29" fmla="*/ 33 h 47"/>
                    <a:gd name="T30" fmla="*/ 2 w 28"/>
                    <a:gd name="T31" fmla="*/ 41 h 47"/>
                    <a:gd name="T32" fmla="*/ 14 w 28"/>
                    <a:gd name="T3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47">
                      <a:moveTo>
                        <a:pt x="14" y="47"/>
                      </a:moveTo>
                      <a:cubicBezTo>
                        <a:pt x="15" y="47"/>
                        <a:pt x="16" y="46"/>
                        <a:pt x="16" y="45"/>
                      </a:cubicBezTo>
                      <a:cubicBezTo>
                        <a:pt x="16" y="44"/>
                        <a:pt x="15" y="43"/>
                        <a:pt x="14" y="43"/>
                      </a:cubicBezTo>
                      <a:cubicBezTo>
                        <a:pt x="12" y="43"/>
                        <a:pt x="7" y="42"/>
                        <a:pt x="5" y="39"/>
                      </a:cubicBezTo>
                      <a:cubicBezTo>
                        <a:pt x="5" y="38"/>
                        <a:pt x="4" y="36"/>
                        <a:pt x="5" y="34"/>
                      </a:cubicBezTo>
                      <a:cubicBezTo>
                        <a:pt x="6" y="32"/>
                        <a:pt x="7" y="31"/>
                        <a:pt x="8" y="31"/>
                      </a:cubicBezTo>
                      <a:cubicBezTo>
                        <a:pt x="11" y="29"/>
                        <a:pt x="15" y="31"/>
                        <a:pt x="16" y="32"/>
                      </a:cubicBezTo>
                      <a:cubicBezTo>
                        <a:pt x="17" y="32"/>
                        <a:pt x="17" y="32"/>
                        <a:pt x="18" y="32"/>
                      </a:cubicBezTo>
                      <a:cubicBezTo>
                        <a:pt x="18" y="32"/>
                        <a:pt x="19" y="31"/>
                        <a:pt x="19" y="31"/>
                      </a:cubicBezTo>
                      <a:cubicBezTo>
                        <a:pt x="28" y="3"/>
                        <a:pt x="28" y="3"/>
                        <a:pt x="28" y="3"/>
                      </a:cubicBezTo>
                      <a:cubicBezTo>
                        <a:pt x="28" y="2"/>
                        <a:pt x="28" y="1"/>
                        <a:pt x="27" y="1"/>
                      </a:cubicBezTo>
                      <a:cubicBezTo>
                        <a:pt x="26" y="0"/>
                        <a:pt x="25" y="1"/>
                        <a:pt x="24" y="2"/>
                      </a:cubicBezTo>
                      <a:cubicBezTo>
                        <a:pt x="16" y="27"/>
                        <a:pt x="16" y="27"/>
                        <a:pt x="16" y="27"/>
                      </a:cubicBezTo>
                      <a:cubicBezTo>
                        <a:pt x="14" y="26"/>
                        <a:pt x="10" y="26"/>
                        <a:pt x="7" y="27"/>
                      </a:cubicBezTo>
                      <a:cubicBezTo>
                        <a:pt x="4" y="28"/>
                        <a:pt x="2" y="30"/>
                        <a:pt x="1" y="33"/>
                      </a:cubicBezTo>
                      <a:cubicBezTo>
                        <a:pt x="0" y="36"/>
                        <a:pt x="1" y="39"/>
                        <a:pt x="2" y="41"/>
                      </a:cubicBezTo>
                      <a:cubicBezTo>
                        <a:pt x="5" y="46"/>
                        <a:pt x="13" y="47"/>
                        <a:pt x="14" y="4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233" name="椭圆 232"/>
              <p:cNvSpPr/>
              <p:nvPr/>
            </p:nvSpPr>
            <p:spPr bwMode="auto">
              <a:xfrm>
                <a:off x="4499610" y="1835663"/>
                <a:ext cx="3192779" cy="3186674"/>
              </a:xfrm>
              <a:prstGeom prst="ellipse">
                <a:avLst/>
              </a:pr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34" name="矩形 233"/>
              <p:cNvSpPr/>
              <p:nvPr/>
            </p:nvSpPr>
            <p:spPr bwMode="auto">
              <a:xfrm>
                <a:off x="5541485" y="2987424"/>
                <a:ext cx="954375" cy="1719502"/>
              </a:xfrm>
              <a:prstGeom prst="rect">
                <a:avLst/>
              </a:prstGeom>
              <a:solidFill>
                <a:srgbClr val="FF4200"/>
              </a:solidFill>
              <a:ln>
                <a:noFill/>
              </a:ln>
              <a:extLs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5" name="矩形 234"/>
              <p:cNvSpPr/>
              <p:nvPr/>
            </p:nvSpPr>
            <p:spPr bwMode="auto">
              <a:xfrm>
                <a:off x="5541485" y="2987424"/>
                <a:ext cx="954375" cy="1719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83838"/>
                    </a:solidFill>
                    <a:miter lim="800000"/>
                    <a:headEnd/>
                    <a:tailE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6" name="任意多边形 164"/>
              <p:cNvSpPr/>
              <p:nvPr/>
            </p:nvSpPr>
            <p:spPr bwMode="auto">
              <a:xfrm>
                <a:off x="5419127" y="3836119"/>
                <a:ext cx="1047282" cy="1186219"/>
              </a:xfrm>
              <a:custGeom>
                <a:avLst/>
                <a:gdLst>
                  <a:gd name="connsiteX0" fmla="*/ 393249 w 817018"/>
                  <a:gd name="connsiteY0" fmla="*/ 491 h 925407"/>
                  <a:gd name="connsiteX1" fmla="*/ 438575 w 817018"/>
                  <a:gd name="connsiteY1" fmla="*/ 26897 h 925407"/>
                  <a:gd name="connsiteX2" fmla="*/ 767187 w 817018"/>
                  <a:gd name="connsiteY2" fmla="*/ 196646 h 925407"/>
                  <a:gd name="connsiteX3" fmla="*/ 786073 w 817018"/>
                  <a:gd name="connsiteY3" fmla="*/ 468244 h 925407"/>
                  <a:gd name="connsiteX4" fmla="*/ 714307 w 817018"/>
                  <a:gd name="connsiteY4" fmla="*/ 468244 h 925407"/>
                  <a:gd name="connsiteX5" fmla="*/ 714307 w 817018"/>
                  <a:gd name="connsiteY5" fmla="*/ 581411 h 925407"/>
                  <a:gd name="connsiteX6" fmla="*/ 702976 w 817018"/>
                  <a:gd name="connsiteY6" fmla="*/ 720982 h 925407"/>
                  <a:gd name="connsiteX7" fmla="*/ 698136 w 817018"/>
                  <a:gd name="connsiteY7" fmla="*/ 904818 h 925407"/>
                  <a:gd name="connsiteX8" fmla="*/ 698259 w 817018"/>
                  <a:gd name="connsiteY8" fmla="*/ 912459 h 925407"/>
                  <a:gd name="connsiteX9" fmla="*/ 655385 w 817018"/>
                  <a:gd name="connsiteY9" fmla="*/ 918990 h 925407"/>
                  <a:gd name="connsiteX10" fmla="*/ 528050 w 817018"/>
                  <a:gd name="connsiteY10" fmla="*/ 925407 h 925407"/>
                  <a:gd name="connsiteX11" fmla="*/ 43287 w 817018"/>
                  <a:gd name="connsiteY11" fmla="*/ 827725 h 925407"/>
                  <a:gd name="connsiteX12" fmla="*/ 19809 w 817018"/>
                  <a:gd name="connsiteY12" fmla="*/ 816437 h 925407"/>
                  <a:gd name="connsiteX13" fmla="*/ 15533 w 817018"/>
                  <a:gd name="connsiteY13" fmla="*/ 698349 h 925407"/>
                  <a:gd name="connsiteX14" fmla="*/ 425 w 817018"/>
                  <a:gd name="connsiteY14" fmla="*/ 502194 h 925407"/>
                  <a:gd name="connsiteX15" fmla="*/ 83522 w 817018"/>
                  <a:gd name="connsiteY15" fmla="*/ 249457 h 925407"/>
                  <a:gd name="connsiteX16" fmla="*/ 291266 w 817018"/>
                  <a:gd name="connsiteY16" fmla="*/ 45758 h 925407"/>
                  <a:gd name="connsiteX17" fmla="*/ 393249 w 817018"/>
                  <a:gd name="connsiteY17" fmla="*/ 491 h 92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7018" h="925407">
                    <a:moveTo>
                      <a:pt x="393249" y="491"/>
                    </a:moveTo>
                    <a:cubicBezTo>
                      <a:pt x="404580" y="-3281"/>
                      <a:pt x="412135" y="15580"/>
                      <a:pt x="438575" y="26897"/>
                    </a:cubicBezTo>
                    <a:cubicBezTo>
                      <a:pt x="619878" y="98569"/>
                      <a:pt x="706753" y="121202"/>
                      <a:pt x="767187" y="196646"/>
                    </a:cubicBezTo>
                    <a:cubicBezTo>
                      <a:pt x="767187" y="196646"/>
                      <a:pt x="865393" y="472017"/>
                      <a:pt x="786073" y="468244"/>
                    </a:cubicBezTo>
                    <a:cubicBezTo>
                      <a:pt x="786073" y="468244"/>
                      <a:pt x="786073" y="468244"/>
                      <a:pt x="714307" y="468244"/>
                    </a:cubicBezTo>
                    <a:cubicBezTo>
                      <a:pt x="714307" y="468244"/>
                      <a:pt x="714307" y="468244"/>
                      <a:pt x="714307" y="581411"/>
                    </a:cubicBezTo>
                    <a:cubicBezTo>
                      <a:pt x="714307" y="581411"/>
                      <a:pt x="714307" y="581411"/>
                      <a:pt x="702976" y="720982"/>
                    </a:cubicBezTo>
                    <a:cubicBezTo>
                      <a:pt x="700143" y="782280"/>
                      <a:pt x="698490" y="843579"/>
                      <a:pt x="698136" y="904818"/>
                    </a:cubicBezTo>
                    <a:lnTo>
                      <a:pt x="698259" y="912459"/>
                    </a:lnTo>
                    <a:lnTo>
                      <a:pt x="655385" y="918990"/>
                    </a:lnTo>
                    <a:cubicBezTo>
                      <a:pt x="613518" y="923233"/>
                      <a:pt x="571038" y="925407"/>
                      <a:pt x="528050" y="925407"/>
                    </a:cubicBezTo>
                    <a:cubicBezTo>
                      <a:pt x="356097" y="925407"/>
                      <a:pt x="192284" y="890625"/>
                      <a:pt x="43287" y="827725"/>
                    </a:cubicBezTo>
                    <a:lnTo>
                      <a:pt x="19809" y="816437"/>
                    </a:lnTo>
                    <a:lnTo>
                      <a:pt x="15533" y="698349"/>
                    </a:lnTo>
                    <a:cubicBezTo>
                      <a:pt x="15533" y="698349"/>
                      <a:pt x="15533" y="698349"/>
                      <a:pt x="425" y="502194"/>
                    </a:cubicBezTo>
                    <a:cubicBezTo>
                      <a:pt x="425" y="502194"/>
                      <a:pt x="-10907" y="362623"/>
                      <a:pt x="83522" y="249457"/>
                    </a:cubicBezTo>
                    <a:cubicBezTo>
                      <a:pt x="113739" y="207962"/>
                      <a:pt x="223277" y="113657"/>
                      <a:pt x="291266" y="45758"/>
                    </a:cubicBezTo>
                    <a:cubicBezTo>
                      <a:pt x="310151" y="26897"/>
                      <a:pt x="385695" y="-3281"/>
                      <a:pt x="393249" y="491"/>
                    </a:cubicBezTo>
                    <a:close/>
                  </a:path>
                </a:pathLst>
              </a:custGeom>
              <a:solidFill>
                <a:srgbClr val="668E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7" name="任意多边形 165"/>
              <p:cNvSpPr/>
              <p:nvPr/>
            </p:nvSpPr>
            <p:spPr bwMode="auto">
              <a:xfrm>
                <a:off x="6224054" y="4393549"/>
                <a:ext cx="241282" cy="621259"/>
              </a:xfrm>
              <a:custGeom>
                <a:avLst/>
                <a:gdLst>
                  <a:gd name="connsiteX0" fmla="*/ 188232 w 188232"/>
                  <a:gd name="connsiteY0" fmla="*/ 0 h 484664"/>
                  <a:gd name="connsiteX1" fmla="*/ 158115 w 188232"/>
                  <a:gd name="connsiteY1" fmla="*/ 33946 h 484664"/>
                  <a:gd name="connsiteX2" fmla="*/ 86587 w 188232"/>
                  <a:gd name="connsiteY2" fmla="*/ 33946 h 484664"/>
                  <a:gd name="connsiteX3" fmla="*/ 86587 w 188232"/>
                  <a:gd name="connsiteY3" fmla="*/ 147097 h 484664"/>
                  <a:gd name="connsiteX4" fmla="*/ 75293 w 188232"/>
                  <a:gd name="connsiteY4" fmla="*/ 286651 h 484664"/>
                  <a:gd name="connsiteX5" fmla="*/ 70469 w 188232"/>
                  <a:gd name="connsiteY5" fmla="*/ 470463 h 484664"/>
                  <a:gd name="connsiteX6" fmla="*/ 70583 w 188232"/>
                  <a:gd name="connsiteY6" fmla="*/ 477548 h 484664"/>
                  <a:gd name="connsiteX7" fmla="*/ 27436 w 188232"/>
                  <a:gd name="connsiteY7" fmla="*/ 484121 h 484664"/>
                  <a:gd name="connsiteX8" fmla="*/ 16662 w 188232"/>
                  <a:gd name="connsiteY8" fmla="*/ 484664 h 484664"/>
                  <a:gd name="connsiteX9" fmla="*/ 18823 w 188232"/>
                  <a:gd name="connsiteY9" fmla="*/ 396502 h 484664"/>
                  <a:gd name="connsiteX10" fmla="*/ 0 w 188232"/>
                  <a:gd name="connsiteY10" fmla="*/ 15087 h 4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232" h="484664">
                    <a:moveTo>
                      <a:pt x="188232" y="0"/>
                    </a:moveTo>
                    <a:cubicBezTo>
                      <a:pt x="184468" y="22630"/>
                      <a:pt x="176938" y="33946"/>
                      <a:pt x="158115" y="33946"/>
                    </a:cubicBezTo>
                    <a:cubicBezTo>
                      <a:pt x="158115" y="33946"/>
                      <a:pt x="158115" y="33946"/>
                      <a:pt x="86587" y="33946"/>
                    </a:cubicBezTo>
                    <a:cubicBezTo>
                      <a:pt x="86587" y="33946"/>
                      <a:pt x="86587" y="33946"/>
                      <a:pt x="86587" y="147097"/>
                    </a:cubicBezTo>
                    <a:cubicBezTo>
                      <a:pt x="86587" y="147097"/>
                      <a:pt x="86587" y="147097"/>
                      <a:pt x="75293" y="286651"/>
                    </a:cubicBezTo>
                    <a:cubicBezTo>
                      <a:pt x="72469" y="347941"/>
                      <a:pt x="70822" y="409232"/>
                      <a:pt x="70469" y="470463"/>
                    </a:cubicBezTo>
                    <a:lnTo>
                      <a:pt x="70583" y="477548"/>
                    </a:lnTo>
                    <a:lnTo>
                      <a:pt x="27436" y="484121"/>
                    </a:lnTo>
                    <a:lnTo>
                      <a:pt x="16662" y="484664"/>
                    </a:lnTo>
                    <a:lnTo>
                      <a:pt x="18823" y="396502"/>
                    </a:lnTo>
                    <a:cubicBezTo>
                      <a:pt x="18823" y="181986"/>
                      <a:pt x="0" y="15087"/>
                      <a:pt x="0" y="15087"/>
                    </a:cubicBezTo>
                    <a:close/>
                  </a:path>
                </a:pathLst>
              </a:cu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38" name="任意多边形 166"/>
              <p:cNvSpPr/>
              <p:nvPr/>
            </p:nvSpPr>
            <p:spPr bwMode="auto">
              <a:xfrm>
                <a:off x="5769396" y="3852262"/>
                <a:ext cx="270644" cy="242155"/>
              </a:xfrm>
              <a:custGeom>
                <a:avLst/>
                <a:gdLst>
                  <a:gd name="T0" fmla="*/ 38 w 56"/>
                  <a:gd name="T1" fmla="*/ 7 h 50"/>
                  <a:gd name="T2" fmla="*/ 1 w 56"/>
                  <a:gd name="T3" fmla="*/ 3 h 50"/>
                  <a:gd name="T4" fmla="*/ 1 w 56"/>
                  <a:gd name="T5" fmla="*/ 24 h 50"/>
                  <a:gd name="T6" fmla="*/ 56 w 56"/>
                  <a:gd name="T7" fmla="*/ 25 h 50"/>
                  <a:gd name="T8" fmla="*/ 56 w 56"/>
                  <a:gd name="T9" fmla="*/ 0 h 50"/>
                  <a:gd name="T10" fmla="*/ 38 w 56"/>
                  <a:gd name="T11" fmla="*/ 7 h 50"/>
                </a:gdLst>
                <a:ahLst/>
                <a:cxnLst>
                  <a:cxn ang="0">
                    <a:pos x="T0" y="T1"/>
                  </a:cxn>
                  <a:cxn ang="0">
                    <a:pos x="T2" y="T3"/>
                  </a:cxn>
                  <a:cxn ang="0">
                    <a:pos x="T4" y="T5"/>
                  </a:cxn>
                  <a:cxn ang="0">
                    <a:pos x="T6" y="T7"/>
                  </a:cxn>
                  <a:cxn ang="0">
                    <a:pos x="T8" y="T9"/>
                  </a:cxn>
                  <a:cxn ang="0">
                    <a:pos x="T10" y="T11"/>
                  </a:cxn>
                </a:cxnLst>
                <a:rect l="0" t="0" r="r" b="b"/>
                <a:pathLst>
                  <a:path w="56" h="50">
                    <a:moveTo>
                      <a:pt x="38" y="7"/>
                    </a:moveTo>
                    <a:cubicBezTo>
                      <a:pt x="27" y="10"/>
                      <a:pt x="10" y="4"/>
                      <a:pt x="1" y="3"/>
                    </a:cubicBezTo>
                    <a:cubicBezTo>
                      <a:pt x="1" y="24"/>
                      <a:pt x="1" y="24"/>
                      <a:pt x="1" y="24"/>
                    </a:cubicBezTo>
                    <a:cubicBezTo>
                      <a:pt x="0" y="48"/>
                      <a:pt x="55" y="50"/>
                      <a:pt x="56" y="25"/>
                    </a:cubicBezTo>
                    <a:cubicBezTo>
                      <a:pt x="56" y="0"/>
                      <a:pt x="56" y="0"/>
                      <a:pt x="56" y="0"/>
                    </a:cubicBezTo>
                    <a:cubicBezTo>
                      <a:pt x="50" y="3"/>
                      <a:pt x="43" y="6"/>
                      <a:pt x="38" y="7"/>
                    </a:cubicBez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39" name="任意多边形 167"/>
              <p:cNvSpPr/>
              <p:nvPr/>
            </p:nvSpPr>
            <p:spPr bwMode="auto">
              <a:xfrm>
                <a:off x="5791779" y="3575514"/>
                <a:ext cx="258435" cy="170933"/>
              </a:xfrm>
              <a:custGeom>
                <a:avLst/>
                <a:gdLst>
                  <a:gd name="T0" fmla="*/ 53 w 53"/>
                  <a:gd name="T1" fmla="*/ 1 h 35"/>
                  <a:gd name="T2" fmla="*/ 1 w 53"/>
                  <a:gd name="T3" fmla="*/ 0 h 35"/>
                  <a:gd name="T4" fmla="*/ 0 w 53"/>
                  <a:gd name="T5" fmla="*/ 35 h 35"/>
                  <a:gd name="T6" fmla="*/ 52 w 53"/>
                  <a:gd name="T7" fmla="*/ 29 h 35"/>
                  <a:gd name="T8" fmla="*/ 53 w 53"/>
                  <a:gd name="T9" fmla="*/ 1 h 35"/>
                </a:gdLst>
                <a:ahLst/>
                <a:cxnLst>
                  <a:cxn ang="0">
                    <a:pos x="T0" y="T1"/>
                  </a:cxn>
                  <a:cxn ang="0">
                    <a:pos x="T2" y="T3"/>
                  </a:cxn>
                  <a:cxn ang="0">
                    <a:pos x="T4" y="T5"/>
                  </a:cxn>
                  <a:cxn ang="0">
                    <a:pos x="T6" y="T7"/>
                  </a:cxn>
                  <a:cxn ang="0">
                    <a:pos x="T8" y="T9"/>
                  </a:cxn>
                </a:cxnLst>
                <a:rect l="0" t="0" r="r" b="b"/>
                <a:pathLst>
                  <a:path w="53" h="35">
                    <a:moveTo>
                      <a:pt x="53" y="1"/>
                    </a:moveTo>
                    <a:cubicBezTo>
                      <a:pt x="1" y="0"/>
                      <a:pt x="1" y="0"/>
                      <a:pt x="1" y="0"/>
                    </a:cubicBezTo>
                    <a:cubicBezTo>
                      <a:pt x="0" y="35"/>
                      <a:pt x="0" y="35"/>
                      <a:pt x="0" y="35"/>
                    </a:cubicBezTo>
                    <a:cubicBezTo>
                      <a:pt x="16" y="33"/>
                      <a:pt x="39" y="30"/>
                      <a:pt x="52" y="29"/>
                    </a:cubicBezTo>
                    <a:lnTo>
                      <a:pt x="53" y="1"/>
                    </a:ln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40" name="任意多边形 168"/>
              <p:cNvSpPr/>
              <p:nvPr/>
            </p:nvSpPr>
            <p:spPr bwMode="auto">
              <a:xfrm>
                <a:off x="5773465" y="3715923"/>
                <a:ext cx="270644" cy="185178"/>
              </a:xfrm>
              <a:custGeom>
                <a:avLst/>
                <a:gdLst>
                  <a:gd name="T0" fmla="*/ 37 w 56"/>
                  <a:gd name="T1" fmla="*/ 35 h 38"/>
                  <a:gd name="T2" fmla="*/ 55 w 56"/>
                  <a:gd name="T3" fmla="*/ 28 h 38"/>
                  <a:gd name="T4" fmla="*/ 56 w 56"/>
                  <a:gd name="T5" fmla="*/ 0 h 38"/>
                  <a:gd name="T6" fmla="*/ 0 w 56"/>
                  <a:gd name="T7" fmla="*/ 6 h 38"/>
                  <a:gd name="T8" fmla="*/ 0 w 56"/>
                  <a:gd name="T9" fmla="*/ 31 h 38"/>
                  <a:gd name="T10" fmla="*/ 37 w 56"/>
                  <a:gd name="T11" fmla="*/ 35 h 38"/>
                </a:gdLst>
                <a:ahLst/>
                <a:cxnLst>
                  <a:cxn ang="0">
                    <a:pos x="T0" y="T1"/>
                  </a:cxn>
                  <a:cxn ang="0">
                    <a:pos x="T2" y="T3"/>
                  </a:cxn>
                  <a:cxn ang="0">
                    <a:pos x="T4" y="T5"/>
                  </a:cxn>
                  <a:cxn ang="0">
                    <a:pos x="T6" y="T7"/>
                  </a:cxn>
                  <a:cxn ang="0">
                    <a:pos x="T8" y="T9"/>
                  </a:cxn>
                  <a:cxn ang="0">
                    <a:pos x="T10" y="T11"/>
                  </a:cxn>
                </a:cxnLst>
                <a:rect l="0" t="0" r="r" b="b"/>
                <a:pathLst>
                  <a:path w="56" h="38">
                    <a:moveTo>
                      <a:pt x="37" y="35"/>
                    </a:moveTo>
                    <a:cubicBezTo>
                      <a:pt x="42" y="34"/>
                      <a:pt x="49" y="31"/>
                      <a:pt x="55" y="28"/>
                    </a:cubicBezTo>
                    <a:cubicBezTo>
                      <a:pt x="56" y="0"/>
                      <a:pt x="56" y="0"/>
                      <a:pt x="56" y="0"/>
                    </a:cubicBezTo>
                    <a:cubicBezTo>
                      <a:pt x="43" y="1"/>
                      <a:pt x="16" y="4"/>
                      <a:pt x="0" y="6"/>
                    </a:cubicBezTo>
                    <a:cubicBezTo>
                      <a:pt x="0" y="31"/>
                      <a:pt x="0" y="31"/>
                      <a:pt x="0" y="31"/>
                    </a:cubicBezTo>
                    <a:cubicBezTo>
                      <a:pt x="10" y="36"/>
                      <a:pt x="26" y="38"/>
                      <a:pt x="37" y="35"/>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1" name="任意多边形 169"/>
              <p:cNvSpPr/>
              <p:nvPr/>
            </p:nvSpPr>
            <p:spPr bwMode="auto">
              <a:xfrm>
                <a:off x="5380727" y="2537709"/>
                <a:ext cx="974724" cy="1338973"/>
              </a:xfrm>
              <a:custGeom>
                <a:avLst/>
                <a:gdLst>
                  <a:gd name="T0" fmla="*/ 78 w 201"/>
                  <a:gd name="T1" fmla="*/ 269 h 277"/>
                  <a:gd name="T2" fmla="*/ 8 w 201"/>
                  <a:gd name="T3" fmla="*/ 169 h 277"/>
                  <a:gd name="T4" fmla="*/ 23 w 201"/>
                  <a:gd name="T5" fmla="*/ 78 h 277"/>
                  <a:gd name="T6" fmla="*/ 123 w 201"/>
                  <a:gd name="T7" fmla="*/ 8 h 277"/>
                  <a:gd name="T8" fmla="*/ 193 w 201"/>
                  <a:gd name="T9" fmla="*/ 107 h 277"/>
                  <a:gd name="T10" fmla="*/ 177 w 201"/>
                  <a:gd name="T11" fmla="*/ 199 h 277"/>
                  <a:gd name="T12" fmla="*/ 78 w 201"/>
                  <a:gd name="T13" fmla="*/ 269 h 277"/>
                </a:gdLst>
                <a:ahLst/>
                <a:cxnLst>
                  <a:cxn ang="0">
                    <a:pos x="T0" y="T1"/>
                  </a:cxn>
                  <a:cxn ang="0">
                    <a:pos x="T2" y="T3"/>
                  </a:cxn>
                  <a:cxn ang="0">
                    <a:pos x="T4" y="T5"/>
                  </a:cxn>
                  <a:cxn ang="0">
                    <a:pos x="T6" y="T7"/>
                  </a:cxn>
                  <a:cxn ang="0">
                    <a:pos x="T8" y="T9"/>
                  </a:cxn>
                  <a:cxn ang="0">
                    <a:pos x="T10" y="T11"/>
                  </a:cxn>
                  <a:cxn ang="0">
                    <a:pos x="T12" y="T13"/>
                  </a:cxn>
                </a:cxnLst>
                <a:rect l="0" t="0" r="r" b="b"/>
                <a:pathLst>
                  <a:path w="201" h="277">
                    <a:moveTo>
                      <a:pt x="78" y="269"/>
                    </a:moveTo>
                    <a:cubicBezTo>
                      <a:pt x="31" y="261"/>
                      <a:pt x="0" y="216"/>
                      <a:pt x="8" y="169"/>
                    </a:cubicBezTo>
                    <a:cubicBezTo>
                      <a:pt x="23" y="78"/>
                      <a:pt x="23" y="78"/>
                      <a:pt x="23" y="78"/>
                    </a:cubicBezTo>
                    <a:cubicBezTo>
                      <a:pt x="32" y="31"/>
                      <a:pt x="76" y="0"/>
                      <a:pt x="123" y="8"/>
                    </a:cubicBezTo>
                    <a:cubicBezTo>
                      <a:pt x="170" y="16"/>
                      <a:pt x="201" y="61"/>
                      <a:pt x="193" y="107"/>
                    </a:cubicBezTo>
                    <a:cubicBezTo>
                      <a:pt x="177" y="199"/>
                      <a:pt x="177" y="199"/>
                      <a:pt x="177" y="199"/>
                    </a:cubicBezTo>
                    <a:cubicBezTo>
                      <a:pt x="169" y="246"/>
                      <a:pt x="124" y="277"/>
                      <a:pt x="78" y="269"/>
                    </a:cubicBezTo>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2" name="任意多边形 170"/>
              <p:cNvSpPr/>
              <p:nvPr/>
            </p:nvSpPr>
            <p:spPr bwMode="auto">
              <a:xfrm>
                <a:off x="5376657" y="2527533"/>
                <a:ext cx="891292" cy="1334903"/>
              </a:xfrm>
              <a:custGeom>
                <a:avLst/>
                <a:gdLst>
                  <a:gd name="T0" fmla="*/ 67 w 184"/>
                  <a:gd name="T1" fmla="*/ 269 h 276"/>
                  <a:gd name="T2" fmla="*/ 7 w 184"/>
                  <a:gd name="T3" fmla="*/ 179 h 276"/>
                  <a:gd name="T4" fmla="*/ 20 w 184"/>
                  <a:gd name="T5" fmla="*/ 72 h 276"/>
                  <a:gd name="T6" fmla="*/ 112 w 184"/>
                  <a:gd name="T7" fmla="*/ 8 h 276"/>
                  <a:gd name="T8" fmla="*/ 176 w 184"/>
                  <a:gd name="T9" fmla="*/ 99 h 276"/>
                  <a:gd name="T10" fmla="*/ 158 w 184"/>
                  <a:gd name="T11" fmla="*/ 204 h 276"/>
                  <a:gd name="T12" fmla="*/ 67 w 184"/>
                  <a:gd name="T13" fmla="*/ 269 h 276"/>
                </a:gdLst>
                <a:ahLst/>
                <a:cxnLst>
                  <a:cxn ang="0">
                    <a:pos x="T0" y="T1"/>
                  </a:cxn>
                  <a:cxn ang="0">
                    <a:pos x="T2" y="T3"/>
                  </a:cxn>
                  <a:cxn ang="0">
                    <a:pos x="T4" y="T5"/>
                  </a:cxn>
                  <a:cxn ang="0">
                    <a:pos x="T6" y="T7"/>
                  </a:cxn>
                  <a:cxn ang="0">
                    <a:pos x="T8" y="T9"/>
                  </a:cxn>
                  <a:cxn ang="0">
                    <a:pos x="T10" y="T11"/>
                  </a:cxn>
                  <a:cxn ang="0">
                    <a:pos x="T12" y="T13"/>
                  </a:cxn>
                </a:cxnLst>
                <a:rect l="0" t="0" r="r" b="b"/>
                <a:pathLst>
                  <a:path w="184" h="276">
                    <a:moveTo>
                      <a:pt x="67" y="269"/>
                    </a:moveTo>
                    <a:cubicBezTo>
                      <a:pt x="24" y="261"/>
                      <a:pt x="0" y="222"/>
                      <a:pt x="7" y="179"/>
                    </a:cubicBezTo>
                    <a:cubicBezTo>
                      <a:pt x="20" y="72"/>
                      <a:pt x="20" y="72"/>
                      <a:pt x="20" y="72"/>
                    </a:cubicBezTo>
                    <a:cubicBezTo>
                      <a:pt x="28" y="29"/>
                      <a:pt x="69" y="0"/>
                      <a:pt x="112" y="8"/>
                    </a:cubicBezTo>
                    <a:cubicBezTo>
                      <a:pt x="155" y="15"/>
                      <a:pt x="184" y="56"/>
                      <a:pt x="176" y="99"/>
                    </a:cubicBezTo>
                    <a:cubicBezTo>
                      <a:pt x="158" y="204"/>
                      <a:pt x="158" y="204"/>
                      <a:pt x="158" y="204"/>
                    </a:cubicBezTo>
                    <a:cubicBezTo>
                      <a:pt x="150" y="247"/>
                      <a:pt x="110" y="276"/>
                      <a:pt x="67" y="269"/>
                    </a:cubicBezTo>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3" name="任意多边形 171"/>
              <p:cNvSpPr/>
              <p:nvPr/>
            </p:nvSpPr>
            <p:spPr bwMode="auto">
              <a:xfrm>
                <a:off x="5531310" y="3142077"/>
                <a:ext cx="111921" cy="162793"/>
              </a:xfrm>
              <a:custGeom>
                <a:avLst/>
                <a:gdLst>
                  <a:gd name="T0" fmla="*/ 2 w 23"/>
                  <a:gd name="T1" fmla="*/ 15 h 34"/>
                  <a:gd name="T2" fmla="*/ 9 w 23"/>
                  <a:gd name="T3" fmla="*/ 33 h 34"/>
                  <a:gd name="T4" fmla="*/ 22 w 23"/>
                  <a:gd name="T5" fmla="*/ 19 h 34"/>
                  <a:gd name="T6" fmla="*/ 14 w 23"/>
                  <a:gd name="T7" fmla="*/ 1 h 34"/>
                  <a:gd name="T8" fmla="*/ 2 w 23"/>
                  <a:gd name="T9" fmla="*/ 15 h 34"/>
                </a:gdLst>
                <a:ahLst/>
                <a:cxnLst>
                  <a:cxn ang="0">
                    <a:pos x="T0" y="T1"/>
                  </a:cxn>
                  <a:cxn ang="0">
                    <a:pos x="T2" y="T3"/>
                  </a:cxn>
                  <a:cxn ang="0">
                    <a:pos x="T4" y="T5"/>
                  </a:cxn>
                  <a:cxn ang="0">
                    <a:pos x="T6" y="T7"/>
                  </a:cxn>
                  <a:cxn ang="0">
                    <a:pos x="T8" y="T9"/>
                  </a:cxn>
                </a:cxnLst>
                <a:rect l="0" t="0" r="r" b="b"/>
                <a:pathLst>
                  <a:path w="23" h="34">
                    <a:moveTo>
                      <a:pt x="2" y="15"/>
                    </a:moveTo>
                    <a:cubicBezTo>
                      <a:pt x="0" y="24"/>
                      <a:pt x="4" y="32"/>
                      <a:pt x="9" y="33"/>
                    </a:cubicBezTo>
                    <a:cubicBezTo>
                      <a:pt x="15" y="34"/>
                      <a:pt x="20" y="27"/>
                      <a:pt x="22" y="19"/>
                    </a:cubicBezTo>
                    <a:cubicBezTo>
                      <a:pt x="23" y="10"/>
                      <a:pt x="20" y="2"/>
                      <a:pt x="14" y="1"/>
                    </a:cubicBezTo>
                    <a:cubicBezTo>
                      <a:pt x="9" y="0"/>
                      <a:pt x="3" y="7"/>
                      <a:pt x="2"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4" name="任意多边形 172"/>
              <p:cNvSpPr/>
              <p:nvPr/>
            </p:nvSpPr>
            <p:spPr bwMode="auto">
              <a:xfrm>
                <a:off x="5917944" y="3213300"/>
                <a:ext cx="107851" cy="164829"/>
              </a:xfrm>
              <a:custGeom>
                <a:avLst/>
                <a:gdLst>
                  <a:gd name="T0" fmla="*/ 1 w 22"/>
                  <a:gd name="T1" fmla="*/ 15 h 34"/>
                  <a:gd name="T2" fmla="*/ 8 w 22"/>
                  <a:gd name="T3" fmla="*/ 33 h 34"/>
                  <a:gd name="T4" fmla="*/ 21 w 22"/>
                  <a:gd name="T5" fmla="*/ 19 h 34"/>
                  <a:gd name="T6" fmla="*/ 14 w 22"/>
                  <a:gd name="T7" fmla="*/ 1 h 34"/>
                  <a:gd name="T8" fmla="*/ 1 w 22"/>
                  <a:gd name="T9" fmla="*/ 15 h 34"/>
                </a:gdLst>
                <a:ahLst/>
                <a:cxnLst>
                  <a:cxn ang="0">
                    <a:pos x="T0" y="T1"/>
                  </a:cxn>
                  <a:cxn ang="0">
                    <a:pos x="T2" y="T3"/>
                  </a:cxn>
                  <a:cxn ang="0">
                    <a:pos x="T4" y="T5"/>
                  </a:cxn>
                  <a:cxn ang="0">
                    <a:pos x="T6" y="T7"/>
                  </a:cxn>
                  <a:cxn ang="0">
                    <a:pos x="T8" y="T9"/>
                  </a:cxn>
                </a:cxnLst>
                <a:rect l="0" t="0" r="r" b="b"/>
                <a:pathLst>
                  <a:path w="22" h="34">
                    <a:moveTo>
                      <a:pt x="1" y="15"/>
                    </a:moveTo>
                    <a:cubicBezTo>
                      <a:pt x="0" y="24"/>
                      <a:pt x="3" y="32"/>
                      <a:pt x="8" y="33"/>
                    </a:cubicBezTo>
                    <a:cubicBezTo>
                      <a:pt x="14" y="34"/>
                      <a:pt x="19" y="27"/>
                      <a:pt x="21" y="19"/>
                    </a:cubicBezTo>
                    <a:cubicBezTo>
                      <a:pt x="22" y="10"/>
                      <a:pt x="19" y="2"/>
                      <a:pt x="14" y="1"/>
                    </a:cubicBezTo>
                    <a:cubicBezTo>
                      <a:pt x="8" y="0"/>
                      <a:pt x="3" y="7"/>
                      <a:pt x="1"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5" name="任意多边形 173"/>
              <p:cNvSpPr/>
              <p:nvPr/>
            </p:nvSpPr>
            <p:spPr bwMode="auto">
              <a:xfrm>
                <a:off x="5899630" y="3426965"/>
                <a:ext cx="164829" cy="67153"/>
              </a:xfrm>
              <a:custGeom>
                <a:avLst/>
                <a:gdLst>
                  <a:gd name="T0" fmla="*/ 13 w 34"/>
                  <a:gd name="T1" fmla="*/ 0 h 14"/>
                  <a:gd name="T2" fmla="*/ 2 w 34"/>
                  <a:gd name="T3" fmla="*/ 4 h 14"/>
                  <a:gd name="T4" fmla="*/ 15 w 34"/>
                  <a:gd name="T5" fmla="*/ 13 h 14"/>
                  <a:gd name="T6" fmla="*/ 22 w 34"/>
                  <a:gd name="T7" fmla="*/ 14 h 14"/>
                  <a:gd name="T8" fmla="*/ 33 w 34"/>
                  <a:gd name="T9" fmla="*/ 10 h 14"/>
                  <a:gd name="T10" fmla="*/ 19 w 34"/>
                  <a:gd name="T11" fmla="*/ 1 h 14"/>
                  <a:gd name="T12" fmla="*/ 13 w 3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4" h="14">
                    <a:moveTo>
                      <a:pt x="13" y="0"/>
                    </a:moveTo>
                    <a:cubicBezTo>
                      <a:pt x="7" y="0"/>
                      <a:pt x="2" y="2"/>
                      <a:pt x="2" y="4"/>
                    </a:cubicBezTo>
                    <a:cubicBezTo>
                      <a:pt x="0" y="8"/>
                      <a:pt x="6" y="12"/>
                      <a:pt x="15" y="13"/>
                    </a:cubicBezTo>
                    <a:cubicBezTo>
                      <a:pt x="17" y="14"/>
                      <a:pt x="20" y="14"/>
                      <a:pt x="22" y="14"/>
                    </a:cubicBezTo>
                    <a:cubicBezTo>
                      <a:pt x="27" y="14"/>
                      <a:pt x="32" y="12"/>
                      <a:pt x="33" y="10"/>
                    </a:cubicBezTo>
                    <a:cubicBezTo>
                      <a:pt x="34" y="6"/>
                      <a:pt x="28" y="2"/>
                      <a:pt x="19" y="1"/>
                    </a:cubicBezTo>
                    <a:cubicBezTo>
                      <a:pt x="17" y="0"/>
                      <a:pt x="15" y="0"/>
                      <a:pt x="13" y="0"/>
                    </a:cubicBezTo>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46" name="任意多边形 174"/>
              <p:cNvSpPr/>
              <p:nvPr/>
            </p:nvSpPr>
            <p:spPr bwMode="auto">
              <a:xfrm>
                <a:off x="5429565" y="3329289"/>
                <a:ext cx="164829" cy="73257"/>
              </a:xfrm>
              <a:custGeom>
                <a:avLst/>
                <a:gdLst>
                  <a:gd name="T0" fmla="*/ 11 w 34"/>
                  <a:gd name="T1" fmla="*/ 0 h 15"/>
                  <a:gd name="T2" fmla="*/ 2 w 34"/>
                  <a:gd name="T3" fmla="*/ 4 h 15"/>
                  <a:gd name="T4" fmla="*/ 15 w 34"/>
                  <a:gd name="T5" fmla="*/ 13 h 15"/>
                  <a:gd name="T6" fmla="*/ 23 w 34"/>
                  <a:gd name="T7" fmla="*/ 15 h 15"/>
                  <a:gd name="T8" fmla="*/ 32 w 34"/>
                  <a:gd name="T9" fmla="*/ 11 h 15"/>
                  <a:gd name="T10" fmla="*/ 20 w 34"/>
                  <a:gd name="T11" fmla="*/ 1 h 15"/>
                  <a:gd name="T12" fmla="*/ 11 w 34"/>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4" h="15">
                    <a:moveTo>
                      <a:pt x="11" y="0"/>
                    </a:moveTo>
                    <a:cubicBezTo>
                      <a:pt x="6" y="0"/>
                      <a:pt x="3" y="1"/>
                      <a:pt x="2" y="4"/>
                    </a:cubicBezTo>
                    <a:cubicBezTo>
                      <a:pt x="0" y="7"/>
                      <a:pt x="6" y="11"/>
                      <a:pt x="15" y="13"/>
                    </a:cubicBezTo>
                    <a:cubicBezTo>
                      <a:pt x="18" y="14"/>
                      <a:pt x="21" y="15"/>
                      <a:pt x="23" y="15"/>
                    </a:cubicBezTo>
                    <a:cubicBezTo>
                      <a:pt x="28" y="15"/>
                      <a:pt x="32" y="13"/>
                      <a:pt x="32" y="11"/>
                    </a:cubicBezTo>
                    <a:cubicBezTo>
                      <a:pt x="34" y="8"/>
                      <a:pt x="28" y="3"/>
                      <a:pt x="20" y="1"/>
                    </a:cubicBezTo>
                    <a:cubicBezTo>
                      <a:pt x="17" y="1"/>
                      <a:pt x="14" y="0"/>
                      <a:pt x="11" y="0"/>
                    </a:cubicBezTo>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47" name="任意多边形 175"/>
              <p:cNvSpPr/>
              <p:nvPr/>
            </p:nvSpPr>
            <p:spPr bwMode="auto">
              <a:xfrm>
                <a:off x="6170273" y="3258068"/>
                <a:ext cx="290993" cy="356110"/>
              </a:xfrm>
              <a:custGeom>
                <a:avLst/>
                <a:gdLst>
                  <a:gd name="T0" fmla="*/ 6 w 60"/>
                  <a:gd name="T1" fmla="*/ 32 h 74"/>
                  <a:gd name="T2" fmla="*/ 19 w 60"/>
                  <a:gd name="T3" fmla="*/ 71 h 74"/>
                  <a:gd name="T4" fmla="*/ 54 w 60"/>
                  <a:gd name="T5" fmla="*/ 42 h 74"/>
                  <a:gd name="T6" fmla="*/ 41 w 60"/>
                  <a:gd name="T7" fmla="*/ 3 h 74"/>
                  <a:gd name="T8" fmla="*/ 6 w 60"/>
                  <a:gd name="T9" fmla="*/ 32 h 74"/>
                </a:gdLst>
                <a:ahLst/>
                <a:cxnLst>
                  <a:cxn ang="0">
                    <a:pos x="T0" y="T1"/>
                  </a:cxn>
                  <a:cxn ang="0">
                    <a:pos x="T2" y="T3"/>
                  </a:cxn>
                  <a:cxn ang="0">
                    <a:pos x="T4" y="T5"/>
                  </a:cxn>
                  <a:cxn ang="0">
                    <a:pos x="T6" y="T7"/>
                  </a:cxn>
                  <a:cxn ang="0">
                    <a:pos x="T8" y="T9"/>
                  </a:cxn>
                </a:cxnLst>
                <a:rect l="0" t="0" r="r" b="b"/>
                <a:pathLst>
                  <a:path w="60" h="74">
                    <a:moveTo>
                      <a:pt x="6" y="32"/>
                    </a:moveTo>
                    <a:cubicBezTo>
                      <a:pt x="0" y="51"/>
                      <a:pt x="5" y="68"/>
                      <a:pt x="19" y="71"/>
                    </a:cubicBezTo>
                    <a:cubicBezTo>
                      <a:pt x="32" y="74"/>
                      <a:pt x="48" y="61"/>
                      <a:pt x="54" y="42"/>
                    </a:cubicBezTo>
                    <a:cubicBezTo>
                      <a:pt x="60" y="23"/>
                      <a:pt x="54" y="6"/>
                      <a:pt x="41" y="3"/>
                    </a:cubicBezTo>
                    <a:cubicBezTo>
                      <a:pt x="28" y="0"/>
                      <a:pt x="12" y="13"/>
                      <a:pt x="6" y="32"/>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8" name="任意多边形 176"/>
              <p:cNvSpPr/>
              <p:nvPr/>
            </p:nvSpPr>
            <p:spPr bwMode="auto">
              <a:xfrm>
                <a:off x="5384796" y="2401369"/>
                <a:ext cx="1111062" cy="952339"/>
              </a:xfrm>
              <a:custGeom>
                <a:avLst/>
                <a:gdLst>
                  <a:gd name="T0" fmla="*/ 169 w 229"/>
                  <a:gd name="T1" fmla="*/ 109 h 197"/>
                  <a:gd name="T2" fmla="*/ 3 w 229"/>
                  <a:gd name="T3" fmla="*/ 120 h 197"/>
                  <a:gd name="T4" fmla="*/ 32 w 229"/>
                  <a:gd name="T5" fmla="*/ 36 h 197"/>
                  <a:gd name="T6" fmla="*/ 195 w 229"/>
                  <a:gd name="T7" fmla="*/ 51 h 197"/>
                  <a:gd name="T8" fmla="*/ 229 w 229"/>
                  <a:gd name="T9" fmla="*/ 117 h 197"/>
                  <a:gd name="T10" fmla="*/ 199 w 229"/>
                  <a:gd name="T11" fmla="*/ 183 h 197"/>
                  <a:gd name="T12" fmla="*/ 177 w 229"/>
                  <a:gd name="T13" fmla="*/ 197 h 197"/>
                  <a:gd name="T14" fmla="*/ 168 w 229"/>
                  <a:gd name="T15" fmla="*/ 176 h 197"/>
                  <a:gd name="T16" fmla="*/ 169 w 229"/>
                  <a:gd name="T17" fmla="*/ 10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 h="197">
                    <a:moveTo>
                      <a:pt x="169" y="109"/>
                    </a:moveTo>
                    <a:cubicBezTo>
                      <a:pt x="169" y="109"/>
                      <a:pt x="107" y="148"/>
                      <a:pt x="3" y="120"/>
                    </a:cubicBezTo>
                    <a:cubicBezTo>
                      <a:pt x="3" y="120"/>
                      <a:pt x="0" y="61"/>
                      <a:pt x="32" y="36"/>
                    </a:cubicBezTo>
                    <a:cubicBezTo>
                      <a:pt x="63" y="12"/>
                      <a:pt x="158" y="0"/>
                      <a:pt x="195" y="51"/>
                    </a:cubicBezTo>
                    <a:cubicBezTo>
                      <a:pt x="195" y="51"/>
                      <a:pt x="229" y="64"/>
                      <a:pt x="229" y="117"/>
                    </a:cubicBezTo>
                    <a:cubicBezTo>
                      <a:pt x="229" y="147"/>
                      <a:pt x="199" y="183"/>
                      <a:pt x="199" y="183"/>
                    </a:cubicBezTo>
                    <a:cubicBezTo>
                      <a:pt x="199" y="183"/>
                      <a:pt x="187" y="183"/>
                      <a:pt x="177" y="197"/>
                    </a:cubicBezTo>
                    <a:cubicBezTo>
                      <a:pt x="177" y="197"/>
                      <a:pt x="172" y="186"/>
                      <a:pt x="168" y="176"/>
                    </a:cubicBezTo>
                    <a:cubicBezTo>
                      <a:pt x="168" y="176"/>
                      <a:pt x="155" y="144"/>
                      <a:pt x="169" y="109"/>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9" name="任意多边形 177"/>
              <p:cNvSpPr/>
              <p:nvPr/>
            </p:nvSpPr>
            <p:spPr bwMode="auto">
              <a:xfrm>
                <a:off x="5569974" y="3532780"/>
                <a:ext cx="238085" cy="144479"/>
              </a:xfrm>
              <a:custGeom>
                <a:avLst/>
                <a:gdLst>
                  <a:gd name="T0" fmla="*/ 1 w 49"/>
                  <a:gd name="T1" fmla="*/ 0 h 30"/>
                  <a:gd name="T2" fmla="*/ 21 w 49"/>
                  <a:gd name="T3" fmla="*/ 7 h 30"/>
                  <a:gd name="T4" fmla="*/ 49 w 49"/>
                  <a:gd name="T5" fmla="*/ 6 h 30"/>
                  <a:gd name="T6" fmla="*/ 44 w 49"/>
                  <a:gd name="T7" fmla="*/ 19 h 30"/>
                  <a:gd name="T8" fmla="*/ 22 w 49"/>
                  <a:gd name="T9" fmla="*/ 28 h 30"/>
                  <a:gd name="T10" fmla="*/ 11 w 49"/>
                  <a:gd name="T11" fmla="*/ 24 h 30"/>
                  <a:gd name="T12" fmla="*/ 1 w 4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49" h="30">
                    <a:moveTo>
                      <a:pt x="1" y="0"/>
                    </a:moveTo>
                    <a:cubicBezTo>
                      <a:pt x="1" y="0"/>
                      <a:pt x="10" y="5"/>
                      <a:pt x="21" y="7"/>
                    </a:cubicBezTo>
                    <a:cubicBezTo>
                      <a:pt x="32" y="10"/>
                      <a:pt x="49" y="6"/>
                      <a:pt x="49" y="6"/>
                    </a:cubicBezTo>
                    <a:cubicBezTo>
                      <a:pt x="49" y="6"/>
                      <a:pt x="48" y="13"/>
                      <a:pt x="44" y="19"/>
                    </a:cubicBezTo>
                    <a:cubicBezTo>
                      <a:pt x="40" y="25"/>
                      <a:pt x="33" y="30"/>
                      <a:pt x="22" y="28"/>
                    </a:cubicBezTo>
                    <a:cubicBezTo>
                      <a:pt x="17" y="28"/>
                      <a:pt x="14" y="26"/>
                      <a:pt x="11" y="24"/>
                    </a:cubicBezTo>
                    <a:cubicBezTo>
                      <a:pt x="0" y="16"/>
                      <a:pt x="1" y="0"/>
                      <a:pt x="1" y="0"/>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50" name="任意多边形 178"/>
              <p:cNvSpPr/>
              <p:nvPr/>
            </p:nvSpPr>
            <p:spPr bwMode="auto">
              <a:xfrm>
                <a:off x="6001376" y="3233649"/>
                <a:ext cx="67153" cy="38664"/>
              </a:xfrm>
              <a:custGeom>
                <a:avLst/>
                <a:gdLst>
                  <a:gd name="T0" fmla="*/ 3 w 14"/>
                  <a:gd name="T1" fmla="*/ 8 h 8"/>
                  <a:gd name="T2" fmla="*/ 14 w 14"/>
                  <a:gd name="T3" fmla="*/ 5 h 8"/>
                  <a:gd name="T4" fmla="*/ 0 w 14"/>
                  <a:gd name="T5" fmla="*/ 2 h 8"/>
                  <a:gd name="T6" fmla="*/ 3 w 14"/>
                  <a:gd name="T7" fmla="*/ 8 h 8"/>
                </a:gdLst>
                <a:ahLst/>
                <a:cxnLst>
                  <a:cxn ang="0">
                    <a:pos x="T0" y="T1"/>
                  </a:cxn>
                  <a:cxn ang="0">
                    <a:pos x="T2" y="T3"/>
                  </a:cxn>
                  <a:cxn ang="0">
                    <a:pos x="T4" y="T5"/>
                  </a:cxn>
                  <a:cxn ang="0">
                    <a:pos x="T6" y="T7"/>
                  </a:cxn>
                </a:cxnLst>
                <a:rect l="0" t="0" r="r" b="b"/>
                <a:pathLst>
                  <a:path w="14" h="8">
                    <a:moveTo>
                      <a:pt x="3" y="8"/>
                    </a:moveTo>
                    <a:cubicBezTo>
                      <a:pt x="3" y="8"/>
                      <a:pt x="7" y="5"/>
                      <a:pt x="14" y="5"/>
                    </a:cubicBezTo>
                    <a:cubicBezTo>
                      <a:pt x="14" y="5"/>
                      <a:pt x="8" y="0"/>
                      <a:pt x="0" y="2"/>
                    </a:cubicBezTo>
                    <a:lnTo>
                      <a:pt x="3" y="8"/>
                    </a:ln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1" name="任意多边形 179"/>
              <p:cNvSpPr/>
              <p:nvPr/>
            </p:nvSpPr>
            <p:spPr bwMode="auto">
              <a:xfrm>
                <a:off x="5510961" y="3135973"/>
                <a:ext cx="69187" cy="44768"/>
              </a:xfrm>
              <a:custGeom>
                <a:avLst/>
                <a:gdLst>
                  <a:gd name="T0" fmla="*/ 10 w 14"/>
                  <a:gd name="T1" fmla="*/ 9 h 9"/>
                  <a:gd name="T2" fmla="*/ 0 w 14"/>
                  <a:gd name="T3" fmla="*/ 3 h 9"/>
                  <a:gd name="T4" fmla="*/ 14 w 14"/>
                  <a:gd name="T5" fmla="*/ 4 h 9"/>
                  <a:gd name="T6" fmla="*/ 10 w 14"/>
                  <a:gd name="T7" fmla="*/ 9 h 9"/>
                </a:gdLst>
                <a:ahLst/>
                <a:cxnLst>
                  <a:cxn ang="0">
                    <a:pos x="T0" y="T1"/>
                  </a:cxn>
                  <a:cxn ang="0">
                    <a:pos x="T2" y="T3"/>
                  </a:cxn>
                  <a:cxn ang="0">
                    <a:pos x="T4" y="T5"/>
                  </a:cxn>
                  <a:cxn ang="0">
                    <a:pos x="T6" y="T7"/>
                  </a:cxn>
                </a:cxnLst>
                <a:rect l="0" t="0" r="r" b="b"/>
                <a:pathLst>
                  <a:path w="14" h="9">
                    <a:moveTo>
                      <a:pt x="10" y="9"/>
                    </a:moveTo>
                    <a:cubicBezTo>
                      <a:pt x="10" y="9"/>
                      <a:pt x="7" y="5"/>
                      <a:pt x="0" y="3"/>
                    </a:cubicBezTo>
                    <a:cubicBezTo>
                      <a:pt x="0" y="3"/>
                      <a:pt x="7" y="0"/>
                      <a:pt x="14" y="4"/>
                    </a:cubicBezTo>
                    <a:lnTo>
                      <a:pt x="10" y="9"/>
                    </a:ln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2" name="任意多边形 180"/>
              <p:cNvSpPr/>
              <p:nvPr/>
            </p:nvSpPr>
            <p:spPr bwMode="auto">
              <a:xfrm>
                <a:off x="6188724" y="4021160"/>
                <a:ext cx="673347" cy="928892"/>
              </a:xfrm>
              <a:custGeom>
                <a:avLst/>
                <a:gdLst>
                  <a:gd name="connsiteX0" fmla="*/ 103332 w 525299"/>
                  <a:gd name="connsiteY0" fmla="*/ 0 h 724658"/>
                  <a:gd name="connsiteX1" fmla="*/ 500542 w 525299"/>
                  <a:gd name="connsiteY1" fmla="*/ 555041 h 724658"/>
                  <a:gd name="connsiteX2" fmla="*/ 525299 w 525299"/>
                  <a:gd name="connsiteY2" fmla="*/ 628596 h 724658"/>
                  <a:gd name="connsiteX3" fmla="*/ 521292 w 525299"/>
                  <a:gd name="connsiteY3" fmla="*/ 631026 h 724658"/>
                  <a:gd name="connsiteX4" fmla="*/ 412427 w 525299"/>
                  <a:gd name="connsiteY4" fmla="*/ 683369 h 724658"/>
                  <a:gd name="connsiteX5" fmla="*/ 299401 w 525299"/>
                  <a:gd name="connsiteY5" fmla="*/ 724658 h 724658"/>
                  <a:gd name="connsiteX6" fmla="*/ 279247 w 525299"/>
                  <a:gd name="connsiteY6" fmla="*/ 683424 h 724658"/>
                  <a:gd name="connsiteX7" fmla="*/ 76855 w 525299"/>
                  <a:gd name="connsiteY7" fmla="*/ 418759 h 724658"/>
                  <a:gd name="connsiteX8" fmla="*/ 16336 w 525299"/>
                  <a:gd name="connsiteY8" fmla="*/ 135814 h 724658"/>
                  <a:gd name="connsiteX9" fmla="*/ 61725 w 525299"/>
                  <a:gd name="connsiteY9" fmla="*/ 37726 h 724658"/>
                  <a:gd name="connsiteX10" fmla="*/ 103332 w 525299"/>
                  <a:gd name="connsiteY10" fmla="*/ 0 h 724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299" h="724658">
                    <a:moveTo>
                      <a:pt x="103332" y="0"/>
                    </a:moveTo>
                    <a:cubicBezTo>
                      <a:pt x="291273" y="127326"/>
                      <a:pt x="416789" y="332756"/>
                      <a:pt x="500542" y="555041"/>
                    </a:cubicBezTo>
                    <a:lnTo>
                      <a:pt x="525299" y="628596"/>
                    </a:lnTo>
                    <a:lnTo>
                      <a:pt x="521292" y="631026"/>
                    </a:lnTo>
                    <a:cubicBezTo>
                      <a:pt x="485999" y="650162"/>
                      <a:pt x="449676" y="667644"/>
                      <a:pt x="412427" y="683369"/>
                    </a:cubicBezTo>
                    <a:lnTo>
                      <a:pt x="299401" y="724658"/>
                    </a:lnTo>
                    <a:lnTo>
                      <a:pt x="279247" y="683424"/>
                    </a:lnTo>
                    <a:cubicBezTo>
                      <a:pt x="205400" y="547853"/>
                      <a:pt x="130755" y="454127"/>
                      <a:pt x="76855" y="418759"/>
                    </a:cubicBezTo>
                    <a:cubicBezTo>
                      <a:pt x="54160" y="399896"/>
                      <a:pt x="-36619" y="320672"/>
                      <a:pt x="16336" y="135814"/>
                    </a:cubicBezTo>
                    <a:cubicBezTo>
                      <a:pt x="23901" y="101860"/>
                      <a:pt x="39031" y="67907"/>
                      <a:pt x="61725" y="37726"/>
                    </a:cubicBezTo>
                    <a:cubicBezTo>
                      <a:pt x="73073" y="18863"/>
                      <a:pt x="88203" y="7545"/>
                      <a:pt x="103332" y="0"/>
                    </a:cubicBezTo>
                    <a:close/>
                  </a:path>
                </a:pathLst>
              </a:custGeom>
              <a:solidFill>
                <a:srgbClr val="C6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253" name="任意多边形 181"/>
              <p:cNvSpPr/>
              <p:nvPr/>
            </p:nvSpPr>
            <p:spPr bwMode="auto">
              <a:xfrm>
                <a:off x="5559799" y="3166496"/>
                <a:ext cx="34594" cy="42734"/>
              </a:xfrm>
              <a:custGeom>
                <a:avLst/>
                <a:gdLst>
                  <a:gd name="T0" fmla="*/ 7 w 7"/>
                  <a:gd name="T1" fmla="*/ 5 h 9"/>
                  <a:gd name="T2" fmla="*/ 5 w 7"/>
                  <a:gd name="T3" fmla="*/ 0 h 9"/>
                  <a:gd name="T4" fmla="*/ 1 w 7"/>
                  <a:gd name="T5" fmla="*/ 3 h 9"/>
                  <a:gd name="T6" fmla="*/ 2 w 7"/>
                  <a:gd name="T7" fmla="*/ 9 h 9"/>
                  <a:gd name="T8" fmla="*/ 7 w 7"/>
                  <a:gd name="T9" fmla="*/ 5 h 9"/>
                </a:gdLst>
                <a:ahLst/>
                <a:cxnLst>
                  <a:cxn ang="0">
                    <a:pos x="T0" y="T1"/>
                  </a:cxn>
                  <a:cxn ang="0">
                    <a:pos x="T2" y="T3"/>
                  </a:cxn>
                  <a:cxn ang="0">
                    <a:pos x="T4" y="T5"/>
                  </a:cxn>
                  <a:cxn ang="0">
                    <a:pos x="T6" y="T7"/>
                  </a:cxn>
                  <a:cxn ang="0">
                    <a:pos x="T8" y="T9"/>
                  </a:cxn>
                </a:cxnLst>
                <a:rect l="0" t="0" r="r" b="b"/>
                <a:pathLst>
                  <a:path w="7" h="9">
                    <a:moveTo>
                      <a:pt x="7" y="5"/>
                    </a:moveTo>
                    <a:cubicBezTo>
                      <a:pt x="7" y="3"/>
                      <a:pt x="7" y="1"/>
                      <a:pt x="5" y="0"/>
                    </a:cubicBezTo>
                    <a:cubicBezTo>
                      <a:pt x="4" y="0"/>
                      <a:pt x="2" y="1"/>
                      <a:pt x="1" y="3"/>
                    </a:cubicBezTo>
                    <a:cubicBezTo>
                      <a:pt x="0" y="6"/>
                      <a:pt x="1" y="8"/>
                      <a:pt x="2" y="9"/>
                    </a:cubicBezTo>
                    <a:cubicBezTo>
                      <a:pt x="4" y="9"/>
                      <a:pt x="6" y="8"/>
                      <a:pt x="7"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54" name="任意多边形 182"/>
              <p:cNvSpPr/>
              <p:nvPr/>
            </p:nvSpPr>
            <p:spPr bwMode="auto">
              <a:xfrm>
                <a:off x="5569974" y="3188881"/>
                <a:ext cx="24419" cy="38664"/>
              </a:xfrm>
              <a:custGeom>
                <a:avLst/>
                <a:gdLst>
                  <a:gd name="T0" fmla="*/ 5 w 5"/>
                  <a:gd name="T1" fmla="*/ 5 h 8"/>
                  <a:gd name="T2" fmla="*/ 4 w 5"/>
                  <a:gd name="T3" fmla="*/ 1 h 8"/>
                  <a:gd name="T4" fmla="*/ 0 w 5"/>
                  <a:gd name="T5" fmla="*/ 3 h 8"/>
                  <a:gd name="T6" fmla="*/ 1 w 5"/>
                  <a:gd name="T7" fmla="*/ 7 h 8"/>
                  <a:gd name="T8" fmla="*/ 5 w 5"/>
                  <a:gd name="T9" fmla="*/ 5 h 8"/>
                </a:gdLst>
                <a:ahLst/>
                <a:cxnLst>
                  <a:cxn ang="0">
                    <a:pos x="T0" y="T1"/>
                  </a:cxn>
                  <a:cxn ang="0">
                    <a:pos x="T2" y="T3"/>
                  </a:cxn>
                  <a:cxn ang="0">
                    <a:pos x="T4" y="T5"/>
                  </a:cxn>
                  <a:cxn ang="0">
                    <a:pos x="T6" y="T7"/>
                  </a:cxn>
                  <a:cxn ang="0">
                    <a:pos x="T8" y="T9"/>
                  </a:cxn>
                </a:cxnLst>
                <a:rect l="0" t="0" r="r" b="b"/>
                <a:pathLst>
                  <a:path w="5" h="8">
                    <a:moveTo>
                      <a:pt x="5" y="5"/>
                    </a:moveTo>
                    <a:cubicBezTo>
                      <a:pt x="5" y="3"/>
                      <a:pt x="5" y="1"/>
                      <a:pt x="4" y="1"/>
                    </a:cubicBezTo>
                    <a:cubicBezTo>
                      <a:pt x="3" y="0"/>
                      <a:pt x="1" y="2"/>
                      <a:pt x="0" y="3"/>
                    </a:cubicBezTo>
                    <a:cubicBezTo>
                      <a:pt x="0" y="5"/>
                      <a:pt x="0" y="7"/>
                      <a:pt x="1" y="7"/>
                    </a:cubicBezTo>
                    <a:cubicBezTo>
                      <a:pt x="2" y="8"/>
                      <a:pt x="4" y="7"/>
                      <a:pt x="5" y="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5" name="任意多边形 183"/>
              <p:cNvSpPr/>
              <p:nvPr/>
            </p:nvSpPr>
            <p:spPr bwMode="auto">
              <a:xfrm>
                <a:off x="5942363" y="3247893"/>
                <a:ext cx="34594" cy="42734"/>
              </a:xfrm>
              <a:custGeom>
                <a:avLst/>
                <a:gdLst>
                  <a:gd name="T0" fmla="*/ 6 w 7"/>
                  <a:gd name="T1" fmla="*/ 5 h 9"/>
                  <a:gd name="T2" fmla="*/ 5 w 7"/>
                  <a:gd name="T3" fmla="*/ 0 h 9"/>
                  <a:gd name="T4" fmla="*/ 1 w 7"/>
                  <a:gd name="T5" fmla="*/ 3 h 9"/>
                  <a:gd name="T6" fmla="*/ 2 w 7"/>
                  <a:gd name="T7" fmla="*/ 9 h 9"/>
                  <a:gd name="T8" fmla="*/ 6 w 7"/>
                  <a:gd name="T9" fmla="*/ 5 h 9"/>
                </a:gdLst>
                <a:ahLst/>
                <a:cxnLst>
                  <a:cxn ang="0">
                    <a:pos x="T0" y="T1"/>
                  </a:cxn>
                  <a:cxn ang="0">
                    <a:pos x="T2" y="T3"/>
                  </a:cxn>
                  <a:cxn ang="0">
                    <a:pos x="T4" y="T5"/>
                  </a:cxn>
                  <a:cxn ang="0">
                    <a:pos x="T6" y="T7"/>
                  </a:cxn>
                  <a:cxn ang="0">
                    <a:pos x="T8" y="T9"/>
                  </a:cxn>
                </a:cxnLst>
                <a:rect l="0" t="0" r="r" b="b"/>
                <a:pathLst>
                  <a:path w="7" h="9">
                    <a:moveTo>
                      <a:pt x="6" y="5"/>
                    </a:moveTo>
                    <a:cubicBezTo>
                      <a:pt x="7" y="3"/>
                      <a:pt x="6" y="1"/>
                      <a:pt x="5" y="0"/>
                    </a:cubicBezTo>
                    <a:cubicBezTo>
                      <a:pt x="3" y="0"/>
                      <a:pt x="2" y="1"/>
                      <a:pt x="1" y="3"/>
                    </a:cubicBezTo>
                    <a:cubicBezTo>
                      <a:pt x="0" y="6"/>
                      <a:pt x="0" y="8"/>
                      <a:pt x="2" y="9"/>
                    </a:cubicBezTo>
                    <a:cubicBezTo>
                      <a:pt x="3" y="9"/>
                      <a:pt x="5" y="8"/>
                      <a:pt x="6"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56" name="任意多边形 184"/>
              <p:cNvSpPr/>
              <p:nvPr/>
            </p:nvSpPr>
            <p:spPr bwMode="auto">
              <a:xfrm>
                <a:off x="5948468" y="3272312"/>
                <a:ext cx="28489" cy="38664"/>
              </a:xfrm>
              <a:custGeom>
                <a:avLst/>
                <a:gdLst>
                  <a:gd name="T0" fmla="*/ 5 w 6"/>
                  <a:gd name="T1" fmla="*/ 5 h 8"/>
                  <a:gd name="T2" fmla="*/ 4 w 6"/>
                  <a:gd name="T3" fmla="*/ 1 h 8"/>
                  <a:gd name="T4" fmla="*/ 1 w 6"/>
                  <a:gd name="T5" fmla="*/ 3 h 8"/>
                  <a:gd name="T6" fmla="*/ 2 w 6"/>
                  <a:gd name="T7" fmla="*/ 7 h 8"/>
                  <a:gd name="T8" fmla="*/ 5 w 6"/>
                  <a:gd name="T9" fmla="*/ 5 h 8"/>
                </a:gdLst>
                <a:ahLst/>
                <a:cxnLst>
                  <a:cxn ang="0">
                    <a:pos x="T0" y="T1"/>
                  </a:cxn>
                  <a:cxn ang="0">
                    <a:pos x="T2" y="T3"/>
                  </a:cxn>
                  <a:cxn ang="0">
                    <a:pos x="T4" y="T5"/>
                  </a:cxn>
                  <a:cxn ang="0">
                    <a:pos x="T6" y="T7"/>
                  </a:cxn>
                  <a:cxn ang="0">
                    <a:pos x="T8" y="T9"/>
                  </a:cxn>
                </a:cxnLst>
                <a:rect l="0" t="0" r="r" b="b"/>
                <a:pathLst>
                  <a:path w="6" h="8">
                    <a:moveTo>
                      <a:pt x="5" y="5"/>
                    </a:moveTo>
                    <a:cubicBezTo>
                      <a:pt x="6" y="3"/>
                      <a:pt x="5" y="1"/>
                      <a:pt x="4" y="1"/>
                    </a:cubicBezTo>
                    <a:cubicBezTo>
                      <a:pt x="3" y="0"/>
                      <a:pt x="2" y="2"/>
                      <a:pt x="1" y="3"/>
                    </a:cubicBezTo>
                    <a:cubicBezTo>
                      <a:pt x="0" y="5"/>
                      <a:pt x="1" y="7"/>
                      <a:pt x="2" y="7"/>
                    </a:cubicBezTo>
                    <a:cubicBezTo>
                      <a:pt x="3" y="8"/>
                      <a:pt x="4" y="7"/>
                      <a:pt x="5" y="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7" name="任意多边形 185"/>
              <p:cNvSpPr/>
              <p:nvPr/>
            </p:nvSpPr>
            <p:spPr bwMode="auto">
              <a:xfrm>
                <a:off x="5962712" y="3117658"/>
                <a:ext cx="130234" cy="63083"/>
              </a:xfrm>
              <a:custGeom>
                <a:avLst/>
                <a:gdLst>
                  <a:gd name="T0" fmla="*/ 25 w 27"/>
                  <a:gd name="T1" fmla="*/ 13 h 13"/>
                  <a:gd name="T2" fmla="*/ 23 w 27"/>
                  <a:gd name="T3" fmla="*/ 12 h 13"/>
                  <a:gd name="T4" fmla="*/ 2 w 27"/>
                  <a:gd name="T5" fmla="*/ 5 h 13"/>
                  <a:gd name="T6" fmla="*/ 0 w 27"/>
                  <a:gd name="T7" fmla="*/ 3 h 13"/>
                  <a:gd name="T8" fmla="*/ 2 w 27"/>
                  <a:gd name="T9" fmla="*/ 0 h 13"/>
                  <a:gd name="T10" fmla="*/ 26 w 27"/>
                  <a:gd name="T11" fmla="*/ 9 h 13"/>
                  <a:gd name="T12" fmla="*/ 26 w 27"/>
                  <a:gd name="T13" fmla="*/ 12 h 13"/>
                  <a:gd name="T14" fmla="*/ 25 w 27"/>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3">
                    <a:moveTo>
                      <a:pt x="25" y="13"/>
                    </a:moveTo>
                    <a:cubicBezTo>
                      <a:pt x="24" y="13"/>
                      <a:pt x="23" y="13"/>
                      <a:pt x="23" y="12"/>
                    </a:cubicBezTo>
                    <a:cubicBezTo>
                      <a:pt x="14" y="5"/>
                      <a:pt x="3" y="5"/>
                      <a:pt x="2" y="5"/>
                    </a:cubicBezTo>
                    <a:cubicBezTo>
                      <a:pt x="1" y="5"/>
                      <a:pt x="0" y="4"/>
                      <a:pt x="0" y="3"/>
                    </a:cubicBezTo>
                    <a:cubicBezTo>
                      <a:pt x="0" y="2"/>
                      <a:pt x="1" y="0"/>
                      <a:pt x="2" y="0"/>
                    </a:cubicBezTo>
                    <a:cubicBezTo>
                      <a:pt x="3" y="0"/>
                      <a:pt x="16" y="0"/>
                      <a:pt x="26" y="9"/>
                    </a:cubicBezTo>
                    <a:cubicBezTo>
                      <a:pt x="27" y="10"/>
                      <a:pt x="27" y="11"/>
                      <a:pt x="26" y="12"/>
                    </a:cubicBezTo>
                    <a:cubicBezTo>
                      <a:pt x="26" y="13"/>
                      <a:pt x="25" y="13"/>
                      <a:pt x="25" y="13"/>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8" name="任意多边形 186"/>
              <p:cNvSpPr/>
              <p:nvPr/>
            </p:nvSpPr>
            <p:spPr bwMode="auto">
              <a:xfrm>
                <a:off x="5525206" y="3050507"/>
                <a:ext cx="136340" cy="46804"/>
              </a:xfrm>
              <a:custGeom>
                <a:avLst/>
                <a:gdLst>
                  <a:gd name="T0" fmla="*/ 1 w 28"/>
                  <a:gd name="T1" fmla="*/ 10 h 10"/>
                  <a:gd name="T2" fmla="*/ 0 w 28"/>
                  <a:gd name="T3" fmla="*/ 9 h 10"/>
                  <a:gd name="T4" fmla="*/ 2 w 28"/>
                  <a:gd name="T5" fmla="*/ 6 h 10"/>
                  <a:gd name="T6" fmla="*/ 26 w 28"/>
                  <a:gd name="T7" fmla="*/ 4 h 10"/>
                  <a:gd name="T8" fmla="*/ 28 w 28"/>
                  <a:gd name="T9" fmla="*/ 7 h 10"/>
                  <a:gd name="T10" fmla="*/ 25 w 28"/>
                  <a:gd name="T11" fmla="*/ 8 h 10"/>
                  <a:gd name="T12" fmla="*/ 3 w 28"/>
                  <a:gd name="T13" fmla="*/ 10 h 10"/>
                  <a:gd name="T14" fmla="*/ 1 w 28"/>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0">
                    <a:moveTo>
                      <a:pt x="1" y="10"/>
                    </a:moveTo>
                    <a:cubicBezTo>
                      <a:pt x="1" y="10"/>
                      <a:pt x="1" y="9"/>
                      <a:pt x="0" y="9"/>
                    </a:cubicBezTo>
                    <a:cubicBezTo>
                      <a:pt x="0" y="8"/>
                      <a:pt x="0" y="6"/>
                      <a:pt x="2" y="6"/>
                    </a:cubicBezTo>
                    <a:cubicBezTo>
                      <a:pt x="14" y="0"/>
                      <a:pt x="26" y="4"/>
                      <a:pt x="26" y="4"/>
                    </a:cubicBezTo>
                    <a:cubicBezTo>
                      <a:pt x="28" y="4"/>
                      <a:pt x="28" y="6"/>
                      <a:pt x="28" y="7"/>
                    </a:cubicBezTo>
                    <a:cubicBezTo>
                      <a:pt x="28" y="8"/>
                      <a:pt x="26" y="9"/>
                      <a:pt x="25" y="8"/>
                    </a:cubicBezTo>
                    <a:cubicBezTo>
                      <a:pt x="25" y="8"/>
                      <a:pt x="14" y="5"/>
                      <a:pt x="3" y="10"/>
                    </a:cubicBezTo>
                    <a:cubicBezTo>
                      <a:pt x="3" y="10"/>
                      <a:pt x="2" y="10"/>
                      <a:pt x="1" y="10"/>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9" name="任意多边形 187"/>
              <p:cNvSpPr/>
              <p:nvPr/>
            </p:nvSpPr>
            <p:spPr bwMode="auto">
              <a:xfrm>
                <a:off x="5647301" y="3205160"/>
                <a:ext cx="136340" cy="225876"/>
              </a:xfrm>
              <a:custGeom>
                <a:avLst/>
                <a:gdLst>
                  <a:gd name="T0" fmla="*/ 14 w 28"/>
                  <a:gd name="T1" fmla="*/ 47 h 47"/>
                  <a:gd name="T2" fmla="*/ 16 w 28"/>
                  <a:gd name="T3" fmla="*/ 45 h 47"/>
                  <a:gd name="T4" fmla="*/ 14 w 28"/>
                  <a:gd name="T5" fmla="*/ 43 h 47"/>
                  <a:gd name="T6" fmla="*/ 5 w 28"/>
                  <a:gd name="T7" fmla="*/ 39 h 47"/>
                  <a:gd name="T8" fmla="*/ 5 w 28"/>
                  <a:gd name="T9" fmla="*/ 34 h 47"/>
                  <a:gd name="T10" fmla="*/ 8 w 28"/>
                  <a:gd name="T11" fmla="*/ 31 h 47"/>
                  <a:gd name="T12" fmla="*/ 16 w 28"/>
                  <a:gd name="T13" fmla="*/ 32 h 47"/>
                  <a:gd name="T14" fmla="*/ 18 w 28"/>
                  <a:gd name="T15" fmla="*/ 32 h 47"/>
                  <a:gd name="T16" fmla="*/ 19 w 28"/>
                  <a:gd name="T17" fmla="*/ 31 h 47"/>
                  <a:gd name="T18" fmla="*/ 28 w 28"/>
                  <a:gd name="T19" fmla="*/ 3 h 47"/>
                  <a:gd name="T20" fmla="*/ 27 w 28"/>
                  <a:gd name="T21" fmla="*/ 1 h 47"/>
                  <a:gd name="T22" fmla="*/ 24 w 28"/>
                  <a:gd name="T23" fmla="*/ 2 h 47"/>
                  <a:gd name="T24" fmla="*/ 16 w 28"/>
                  <a:gd name="T25" fmla="*/ 27 h 47"/>
                  <a:gd name="T26" fmla="*/ 7 w 28"/>
                  <a:gd name="T27" fmla="*/ 27 h 47"/>
                  <a:gd name="T28" fmla="*/ 1 w 28"/>
                  <a:gd name="T29" fmla="*/ 33 h 47"/>
                  <a:gd name="T30" fmla="*/ 2 w 28"/>
                  <a:gd name="T31" fmla="*/ 41 h 47"/>
                  <a:gd name="T32" fmla="*/ 14 w 28"/>
                  <a:gd name="T3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47">
                    <a:moveTo>
                      <a:pt x="14" y="47"/>
                    </a:moveTo>
                    <a:cubicBezTo>
                      <a:pt x="15" y="47"/>
                      <a:pt x="16" y="46"/>
                      <a:pt x="16" y="45"/>
                    </a:cubicBezTo>
                    <a:cubicBezTo>
                      <a:pt x="16" y="44"/>
                      <a:pt x="15" y="43"/>
                      <a:pt x="14" y="43"/>
                    </a:cubicBezTo>
                    <a:cubicBezTo>
                      <a:pt x="12" y="43"/>
                      <a:pt x="7" y="42"/>
                      <a:pt x="5" y="39"/>
                    </a:cubicBezTo>
                    <a:cubicBezTo>
                      <a:pt x="5" y="38"/>
                      <a:pt x="4" y="36"/>
                      <a:pt x="5" y="34"/>
                    </a:cubicBezTo>
                    <a:cubicBezTo>
                      <a:pt x="6" y="32"/>
                      <a:pt x="7" y="31"/>
                      <a:pt x="8" y="31"/>
                    </a:cubicBezTo>
                    <a:cubicBezTo>
                      <a:pt x="11" y="29"/>
                      <a:pt x="15" y="31"/>
                      <a:pt x="16" y="32"/>
                    </a:cubicBezTo>
                    <a:cubicBezTo>
                      <a:pt x="17" y="32"/>
                      <a:pt x="17" y="32"/>
                      <a:pt x="18" y="32"/>
                    </a:cubicBezTo>
                    <a:cubicBezTo>
                      <a:pt x="18" y="32"/>
                      <a:pt x="19" y="31"/>
                      <a:pt x="19" y="31"/>
                    </a:cubicBezTo>
                    <a:cubicBezTo>
                      <a:pt x="28" y="3"/>
                      <a:pt x="28" y="3"/>
                      <a:pt x="28" y="3"/>
                    </a:cubicBezTo>
                    <a:cubicBezTo>
                      <a:pt x="28" y="2"/>
                      <a:pt x="28" y="1"/>
                      <a:pt x="27" y="1"/>
                    </a:cubicBezTo>
                    <a:cubicBezTo>
                      <a:pt x="26" y="0"/>
                      <a:pt x="25" y="1"/>
                      <a:pt x="24" y="2"/>
                    </a:cubicBezTo>
                    <a:cubicBezTo>
                      <a:pt x="16" y="27"/>
                      <a:pt x="16" y="27"/>
                      <a:pt x="16" y="27"/>
                    </a:cubicBezTo>
                    <a:cubicBezTo>
                      <a:pt x="14" y="26"/>
                      <a:pt x="10" y="26"/>
                      <a:pt x="7" y="27"/>
                    </a:cubicBezTo>
                    <a:cubicBezTo>
                      <a:pt x="4" y="28"/>
                      <a:pt x="2" y="30"/>
                      <a:pt x="1" y="33"/>
                    </a:cubicBezTo>
                    <a:cubicBezTo>
                      <a:pt x="0" y="36"/>
                      <a:pt x="1" y="39"/>
                      <a:pt x="2" y="41"/>
                    </a:cubicBezTo>
                    <a:cubicBezTo>
                      <a:pt x="5" y="46"/>
                      <a:pt x="13" y="47"/>
                      <a:pt x="14" y="4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grpSp>
        <p:nvGrpSpPr>
          <p:cNvPr id="260" name="组合 259"/>
          <p:cNvGrpSpPr/>
          <p:nvPr/>
        </p:nvGrpSpPr>
        <p:grpSpPr>
          <a:xfrm>
            <a:off x="8682990" y="1738630"/>
            <a:ext cx="1090295" cy="303530"/>
            <a:chOff x="7545958" y="1344698"/>
            <a:chExt cx="1035151" cy="288000"/>
          </a:xfrm>
        </p:grpSpPr>
        <p:sp>
          <p:nvSpPr>
            <p:cNvPr id="261" name="文本框 260"/>
            <p:cNvSpPr txBox="1"/>
            <p:nvPr/>
          </p:nvSpPr>
          <p:spPr>
            <a:xfrm>
              <a:off x="7836281" y="1369770"/>
              <a:ext cx="744828" cy="232642"/>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流失客户</a:t>
              </a:r>
              <a:endParaRPr lang="zh-CN" altLang="en-US" sz="1000" dirty="0">
                <a:solidFill>
                  <a:srgbClr val="0042FF"/>
                </a:solidFill>
                <a:latin typeface="微软雅黑"/>
                <a:ea typeface="微软雅黑"/>
                <a:cs typeface="微软雅黑"/>
              </a:endParaRPr>
            </a:p>
          </p:txBody>
        </p:sp>
        <p:grpSp>
          <p:nvGrpSpPr>
            <p:cNvPr id="262" name="组合 261"/>
            <p:cNvGrpSpPr>
              <a:grpSpLocks noChangeAspect="1"/>
            </p:cNvGrpSpPr>
            <p:nvPr/>
          </p:nvGrpSpPr>
          <p:grpSpPr>
            <a:xfrm>
              <a:off x="7545958" y="1344698"/>
              <a:ext cx="288735" cy="288000"/>
              <a:chOff x="4516660" y="1853683"/>
              <a:chExt cx="3158681" cy="3150635"/>
            </a:xfrm>
          </p:grpSpPr>
          <p:sp>
            <p:nvSpPr>
              <p:cNvPr id="263" name="椭圆 262"/>
              <p:cNvSpPr/>
              <p:nvPr/>
            </p:nvSpPr>
            <p:spPr bwMode="auto">
              <a:xfrm>
                <a:off x="4516660" y="1853683"/>
                <a:ext cx="3158681" cy="3150634"/>
              </a:xfrm>
              <a:prstGeom prst="ellipse">
                <a:avLst/>
              </a:prstGeom>
              <a:solidFill>
                <a:srgbClr val="3368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64" name="任意多边形 256"/>
              <p:cNvSpPr/>
              <p:nvPr/>
            </p:nvSpPr>
            <p:spPr bwMode="auto">
              <a:xfrm>
                <a:off x="5419636" y="2361811"/>
                <a:ext cx="1618475" cy="1416166"/>
              </a:xfrm>
              <a:custGeom>
                <a:avLst/>
                <a:gdLst>
                  <a:gd name="T0" fmla="*/ 47 w 242"/>
                  <a:gd name="T1" fmla="*/ 105 h 212"/>
                  <a:gd name="T2" fmla="*/ 21 w 242"/>
                  <a:gd name="T3" fmla="*/ 127 h 212"/>
                  <a:gd name="T4" fmla="*/ 7 w 242"/>
                  <a:gd name="T5" fmla="*/ 115 h 212"/>
                  <a:gd name="T6" fmla="*/ 11 w 242"/>
                  <a:gd name="T7" fmla="*/ 83 h 212"/>
                  <a:gd name="T8" fmla="*/ 1 w 242"/>
                  <a:gd name="T9" fmla="*/ 70 h 212"/>
                  <a:gd name="T10" fmla="*/ 9 w 242"/>
                  <a:gd name="T11" fmla="*/ 55 h 212"/>
                  <a:gd name="T12" fmla="*/ 15 w 242"/>
                  <a:gd name="T13" fmla="*/ 51 h 212"/>
                  <a:gd name="T14" fmla="*/ 16 w 242"/>
                  <a:gd name="T15" fmla="*/ 45 h 212"/>
                  <a:gd name="T16" fmla="*/ 31 w 242"/>
                  <a:gd name="T17" fmla="*/ 21 h 212"/>
                  <a:gd name="T18" fmla="*/ 41 w 242"/>
                  <a:gd name="T19" fmla="*/ 22 h 212"/>
                  <a:gd name="T20" fmla="*/ 67 w 242"/>
                  <a:gd name="T21" fmla="*/ 5 h 212"/>
                  <a:gd name="T22" fmla="*/ 87 w 242"/>
                  <a:gd name="T23" fmla="*/ 12 h 212"/>
                  <a:gd name="T24" fmla="*/ 109 w 242"/>
                  <a:gd name="T25" fmla="*/ 0 h 212"/>
                  <a:gd name="T26" fmla="*/ 132 w 242"/>
                  <a:gd name="T27" fmla="*/ 11 h 212"/>
                  <a:gd name="T28" fmla="*/ 136 w 242"/>
                  <a:gd name="T29" fmla="*/ 14 h 212"/>
                  <a:gd name="T30" fmla="*/ 141 w 242"/>
                  <a:gd name="T31" fmla="*/ 12 h 212"/>
                  <a:gd name="T32" fmla="*/ 166 w 242"/>
                  <a:gd name="T33" fmla="*/ 11 h 212"/>
                  <a:gd name="T34" fmla="*/ 180 w 242"/>
                  <a:gd name="T35" fmla="*/ 33 h 212"/>
                  <a:gd name="T36" fmla="*/ 199 w 242"/>
                  <a:gd name="T37" fmla="*/ 32 h 212"/>
                  <a:gd name="T38" fmla="*/ 212 w 242"/>
                  <a:gd name="T39" fmla="*/ 43 h 212"/>
                  <a:gd name="T40" fmla="*/ 214 w 242"/>
                  <a:gd name="T41" fmla="*/ 52 h 212"/>
                  <a:gd name="T42" fmla="*/ 219 w 242"/>
                  <a:gd name="T43" fmla="*/ 54 h 212"/>
                  <a:gd name="T44" fmla="*/ 235 w 242"/>
                  <a:gd name="T45" fmla="*/ 86 h 212"/>
                  <a:gd name="T46" fmla="*/ 234 w 242"/>
                  <a:gd name="T47" fmla="*/ 93 h 212"/>
                  <a:gd name="T48" fmla="*/ 236 w 242"/>
                  <a:gd name="T49" fmla="*/ 96 h 212"/>
                  <a:gd name="T50" fmla="*/ 239 w 242"/>
                  <a:gd name="T51" fmla="*/ 128 h 212"/>
                  <a:gd name="T52" fmla="*/ 237 w 242"/>
                  <a:gd name="T53" fmla="*/ 133 h 212"/>
                  <a:gd name="T54" fmla="*/ 239 w 242"/>
                  <a:gd name="T55" fmla="*/ 140 h 212"/>
                  <a:gd name="T56" fmla="*/ 235 w 242"/>
                  <a:gd name="T57" fmla="*/ 167 h 212"/>
                  <a:gd name="T58" fmla="*/ 227 w 242"/>
                  <a:gd name="T59" fmla="*/ 177 h 212"/>
                  <a:gd name="T60" fmla="*/ 218 w 242"/>
                  <a:gd name="T61" fmla="*/ 192 h 212"/>
                  <a:gd name="T62" fmla="*/ 196 w 242"/>
                  <a:gd name="T63" fmla="*/ 212 h 212"/>
                  <a:gd name="T64" fmla="*/ 192 w 242"/>
                  <a:gd name="T65" fmla="*/ 212 h 212"/>
                  <a:gd name="T66" fmla="*/ 188 w 242"/>
                  <a:gd name="T67" fmla="*/ 210 h 212"/>
                  <a:gd name="T68" fmla="*/ 183 w 242"/>
                  <a:gd name="T69" fmla="*/ 210 h 212"/>
                  <a:gd name="T70" fmla="*/ 161 w 242"/>
                  <a:gd name="T71" fmla="*/ 196 h 212"/>
                  <a:gd name="T72" fmla="*/ 158 w 242"/>
                  <a:gd name="T73" fmla="*/ 177 h 212"/>
                  <a:gd name="T74" fmla="*/ 159 w 242"/>
                  <a:gd name="T75" fmla="*/ 149 h 212"/>
                  <a:gd name="T76" fmla="*/ 156 w 242"/>
                  <a:gd name="T77" fmla="*/ 133 h 212"/>
                  <a:gd name="T78" fmla="*/ 141 w 242"/>
                  <a:gd name="T79" fmla="*/ 115 h 212"/>
                  <a:gd name="T80" fmla="*/ 125 w 242"/>
                  <a:gd name="T81" fmla="*/ 107 h 212"/>
                  <a:gd name="T82" fmla="*/ 59 w 242"/>
                  <a:gd name="T83" fmla="*/ 10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2" h="212">
                    <a:moveTo>
                      <a:pt x="47" y="105"/>
                    </a:moveTo>
                    <a:cubicBezTo>
                      <a:pt x="37" y="111"/>
                      <a:pt x="33" y="126"/>
                      <a:pt x="21" y="127"/>
                    </a:cubicBezTo>
                    <a:cubicBezTo>
                      <a:pt x="14" y="128"/>
                      <a:pt x="10" y="121"/>
                      <a:pt x="7" y="115"/>
                    </a:cubicBezTo>
                    <a:cubicBezTo>
                      <a:pt x="2" y="104"/>
                      <a:pt x="1" y="92"/>
                      <a:pt x="11" y="83"/>
                    </a:cubicBezTo>
                    <a:cubicBezTo>
                      <a:pt x="5" y="80"/>
                      <a:pt x="1" y="76"/>
                      <a:pt x="1" y="70"/>
                    </a:cubicBezTo>
                    <a:cubicBezTo>
                      <a:pt x="0" y="64"/>
                      <a:pt x="4" y="59"/>
                      <a:pt x="9" y="55"/>
                    </a:cubicBezTo>
                    <a:cubicBezTo>
                      <a:pt x="11" y="54"/>
                      <a:pt x="13" y="53"/>
                      <a:pt x="15" y="51"/>
                    </a:cubicBezTo>
                    <a:cubicBezTo>
                      <a:pt x="16" y="49"/>
                      <a:pt x="16" y="47"/>
                      <a:pt x="16" y="45"/>
                    </a:cubicBezTo>
                    <a:cubicBezTo>
                      <a:pt x="18" y="34"/>
                      <a:pt x="23" y="26"/>
                      <a:pt x="31" y="21"/>
                    </a:cubicBezTo>
                    <a:cubicBezTo>
                      <a:pt x="35" y="18"/>
                      <a:pt x="39" y="18"/>
                      <a:pt x="41" y="22"/>
                    </a:cubicBezTo>
                    <a:cubicBezTo>
                      <a:pt x="46" y="11"/>
                      <a:pt x="56" y="7"/>
                      <a:pt x="67" y="5"/>
                    </a:cubicBezTo>
                    <a:cubicBezTo>
                      <a:pt x="75" y="4"/>
                      <a:pt x="83" y="5"/>
                      <a:pt x="87" y="12"/>
                    </a:cubicBezTo>
                    <a:cubicBezTo>
                      <a:pt x="93" y="6"/>
                      <a:pt x="100" y="1"/>
                      <a:pt x="109" y="0"/>
                    </a:cubicBezTo>
                    <a:cubicBezTo>
                      <a:pt x="119" y="0"/>
                      <a:pt x="126" y="4"/>
                      <a:pt x="132" y="11"/>
                    </a:cubicBezTo>
                    <a:cubicBezTo>
                      <a:pt x="133" y="12"/>
                      <a:pt x="134" y="14"/>
                      <a:pt x="136" y="14"/>
                    </a:cubicBezTo>
                    <a:cubicBezTo>
                      <a:pt x="138" y="14"/>
                      <a:pt x="139" y="13"/>
                      <a:pt x="141" y="12"/>
                    </a:cubicBezTo>
                    <a:cubicBezTo>
                      <a:pt x="149" y="7"/>
                      <a:pt x="157" y="6"/>
                      <a:pt x="166" y="11"/>
                    </a:cubicBezTo>
                    <a:cubicBezTo>
                      <a:pt x="175" y="15"/>
                      <a:pt x="179" y="23"/>
                      <a:pt x="180" y="33"/>
                    </a:cubicBezTo>
                    <a:cubicBezTo>
                      <a:pt x="186" y="32"/>
                      <a:pt x="193" y="30"/>
                      <a:pt x="199" y="32"/>
                    </a:cubicBezTo>
                    <a:cubicBezTo>
                      <a:pt x="205" y="33"/>
                      <a:pt x="210" y="37"/>
                      <a:pt x="212" y="43"/>
                    </a:cubicBezTo>
                    <a:cubicBezTo>
                      <a:pt x="213" y="46"/>
                      <a:pt x="211" y="50"/>
                      <a:pt x="214" y="52"/>
                    </a:cubicBezTo>
                    <a:cubicBezTo>
                      <a:pt x="216" y="53"/>
                      <a:pt x="217" y="53"/>
                      <a:pt x="219" y="54"/>
                    </a:cubicBezTo>
                    <a:cubicBezTo>
                      <a:pt x="233" y="59"/>
                      <a:pt x="240" y="71"/>
                      <a:pt x="235" y="86"/>
                    </a:cubicBezTo>
                    <a:cubicBezTo>
                      <a:pt x="235" y="89"/>
                      <a:pt x="234" y="91"/>
                      <a:pt x="234" y="93"/>
                    </a:cubicBezTo>
                    <a:cubicBezTo>
                      <a:pt x="234" y="95"/>
                      <a:pt x="235" y="95"/>
                      <a:pt x="236" y="96"/>
                    </a:cubicBezTo>
                    <a:cubicBezTo>
                      <a:pt x="241" y="107"/>
                      <a:pt x="242" y="116"/>
                      <a:pt x="239" y="128"/>
                    </a:cubicBezTo>
                    <a:cubicBezTo>
                      <a:pt x="238" y="130"/>
                      <a:pt x="237" y="131"/>
                      <a:pt x="237" y="133"/>
                    </a:cubicBezTo>
                    <a:cubicBezTo>
                      <a:pt x="237" y="136"/>
                      <a:pt x="239" y="137"/>
                      <a:pt x="239" y="140"/>
                    </a:cubicBezTo>
                    <a:cubicBezTo>
                      <a:pt x="242" y="149"/>
                      <a:pt x="240" y="158"/>
                      <a:pt x="235" y="167"/>
                    </a:cubicBezTo>
                    <a:cubicBezTo>
                      <a:pt x="233" y="171"/>
                      <a:pt x="230" y="173"/>
                      <a:pt x="227" y="177"/>
                    </a:cubicBezTo>
                    <a:cubicBezTo>
                      <a:pt x="225" y="181"/>
                      <a:pt x="221" y="188"/>
                      <a:pt x="218" y="192"/>
                    </a:cubicBezTo>
                    <a:cubicBezTo>
                      <a:pt x="212" y="201"/>
                      <a:pt x="206" y="208"/>
                      <a:pt x="196" y="212"/>
                    </a:cubicBezTo>
                    <a:cubicBezTo>
                      <a:pt x="194" y="212"/>
                      <a:pt x="193" y="212"/>
                      <a:pt x="192" y="212"/>
                    </a:cubicBezTo>
                    <a:cubicBezTo>
                      <a:pt x="190" y="211"/>
                      <a:pt x="190" y="210"/>
                      <a:pt x="188" y="210"/>
                    </a:cubicBezTo>
                    <a:cubicBezTo>
                      <a:pt x="186" y="209"/>
                      <a:pt x="185" y="210"/>
                      <a:pt x="183" y="210"/>
                    </a:cubicBezTo>
                    <a:cubicBezTo>
                      <a:pt x="173" y="210"/>
                      <a:pt x="166" y="205"/>
                      <a:pt x="161" y="196"/>
                    </a:cubicBezTo>
                    <a:cubicBezTo>
                      <a:pt x="158" y="191"/>
                      <a:pt x="159" y="184"/>
                      <a:pt x="158" y="177"/>
                    </a:cubicBezTo>
                    <a:cubicBezTo>
                      <a:pt x="158" y="168"/>
                      <a:pt x="159" y="159"/>
                      <a:pt x="159" y="149"/>
                    </a:cubicBezTo>
                    <a:cubicBezTo>
                      <a:pt x="158" y="144"/>
                      <a:pt x="159" y="139"/>
                      <a:pt x="156" y="133"/>
                    </a:cubicBezTo>
                    <a:cubicBezTo>
                      <a:pt x="153" y="126"/>
                      <a:pt x="148" y="120"/>
                      <a:pt x="141" y="115"/>
                    </a:cubicBezTo>
                    <a:cubicBezTo>
                      <a:pt x="136" y="112"/>
                      <a:pt x="132" y="109"/>
                      <a:pt x="125" y="107"/>
                    </a:cubicBezTo>
                    <a:cubicBezTo>
                      <a:pt x="103" y="101"/>
                      <a:pt x="81" y="105"/>
                      <a:pt x="59" y="108"/>
                    </a:cubicBezTo>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65" name="任意多边形 257"/>
              <p:cNvSpPr/>
              <p:nvPr/>
            </p:nvSpPr>
            <p:spPr bwMode="auto">
              <a:xfrm>
                <a:off x="5326911" y="4202030"/>
                <a:ext cx="1583419" cy="802288"/>
              </a:xfrm>
              <a:custGeom>
                <a:avLst/>
                <a:gdLst>
                  <a:gd name="connsiteX0" fmla="*/ 614032 w 1249406"/>
                  <a:gd name="connsiteY0" fmla="*/ 775 h 633050"/>
                  <a:gd name="connsiteX1" fmla="*/ 633839 w 1249406"/>
                  <a:gd name="connsiteY1" fmla="*/ 1022 h 633050"/>
                  <a:gd name="connsiteX2" fmla="*/ 765889 w 1249406"/>
                  <a:gd name="connsiteY2" fmla="*/ 37917 h 633050"/>
                  <a:gd name="connsiteX3" fmla="*/ 1240268 w 1249406"/>
                  <a:gd name="connsiteY3" fmla="*/ 394615 h 633050"/>
                  <a:gd name="connsiteX4" fmla="*/ 1249406 w 1249406"/>
                  <a:gd name="connsiteY4" fmla="*/ 450110 h 633050"/>
                  <a:gd name="connsiteX5" fmla="*/ 1091928 w 1249406"/>
                  <a:gd name="connsiteY5" fmla="*/ 535368 h 633050"/>
                  <a:gd name="connsiteX6" fmla="*/ 606855 w 1249406"/>
                  <a:gd name="connsiteY6" fmla="*/ 633050 h 633050"/>
                  <a:gd name="connsiteX7" fmla="*/ 121782 w 1249406"/>
                  <a:gd name="connsiteY7" fmla="*/ 535368 h 633050"/>
                  <a:gd name="connsiteX8" fmla="*/ 4252 w 1249406"/>
                  <a:gd name="connsiteY8" fmla="*/ 471737 h 633050"/>
                  <a:gd name="connsiteX9" fmla="*/ 1651 w 1249406"/>
                  <a:gd name="connsiteY9" fmla="*/ 460725 h 633050"/>
                  <a:gd name="connsiteX10" fmla="*/ 0 w 1249406"/>
                  <a:gd name="connsiteY10" fmla="*/ 438490 h 633050"/>
                  <a:gd name="connsiteX11" fmla="*/ 507071 w 1249406"/>
                  <a:gd name="connsiteY11" fmla="*/ 32646 h 633050"/>
                  <a:gd name="connsiteX12" fmla="*/ 614032 w 1249406"/>
                  <a:gd name="connsiteY12" fmla="*/ 775 h 63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9406" h="633050">
                    <a:moveTo>
                      <a:pt x="614032" y="775"/>
                    </a:moveTo>
                    <a:cubicBezTo>
                      <a:pt x="623935" y="-296"/>
                      <a:pt x="631198" y="-296"/>
                      <a:pt x="633839" y="1022"/>
                    </a:cubicBezTo>
                    <a:cubicBezTo>
                      <a:pt x="649685" y="-4249"/>
                      <a:pt x="734197" y="16834"/>
                      <a:pt x="765889" y="37917"/>
                    </a:cubicBezTo>
                    <a:cubicBezTo>
                      <a:pt x="932272" y="157825"/>
                      <a:pt x="1183579" y="241415"/>
                      <a:pt x="1240268" y="394615"/>
                    </a:cubicBezTo>
                    <a:lnTo>
                      <a:pt x="1249406" y="450110"/>
                    </a:lnTo>
                    <a:lnTo>
                      <a:pt x="1091928" y="535368"/>
                    </a:lnTo>
                    <a:cubicBezTo>
                      <a:pt x="942836" y="598268"/>
                      <a:pt x="778918" y="633050"/>
                      <a:pt x="606855" y="633050"/>
                    </a:cubicBezTo>
                    <a:cubicBezTo>
                      <a:pt x="434792" y="633050"/>
                      <a:pt x="270874" y="598268"/>
                      <a:pt x="121782" y="535368"/>
                    </a:cubicBezTo>
                    <a:lnTo>
                      <a:pt x="4252" y="471737"/>
                    </a:lnTo>
                    <a:lnTo>
                      <a:pt x="1651" y="460725"/>
                    </a:lnTo>
                    <a:cubicBezTo>
                      <a:pt x="0" y="447384"/>
                      <a:pt x="0" y="438490"/>
                      <a:pt x="0" y="438490"/>
                    </a:cubicBezTo>
                    <a:cubicBezTo>
                      <a:pt x="5282" y="238203"/>
                      <a:pt x="306356" y="159143"/>
                      <a:pt x="507071" y="32646"/>
                    </a:cubicBezTo>
                    <a:cubicBezTo>
                      <a:pt x="530840" y="16834"/>
                      <a:pt x="584321" y="3987"/>
                      <a:pt x="614032" y="775"/>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66" name="任意多边形 258"/>
              <p:cNvSpPr/>
              <p:nvPr/>
            </p:nvSpPr>
            <p:spPr bwMode="auto">
              <a:xfrm>
                <a:off x="5754009" y="4191024"/>
                <a:ext cx="702464" cy="460815"/>
              </a:xfrm>
              <a:custGeom>
                <a:avLst/>
                <a:gdLst>
                  <a:gd name="T0" fmla="*/ 8 w 105"/>
                  <a:gd name="T1" fmla="*/ 22 h 69"/>
                  <a:gd name="T2" fmla="*/ 49 w 105"/>
                  <a:gd name="T3" fmla="*/ 67 h 69"/>
                  <a:gd name="T4" fmla="*/ 105 w 105"/>
                  <a:gd name="T5" fmla="*/ 24 h 69"/>
                  <a:gd name="T6" fmla="*/ 66 w 105"/>
                  <a:gd name="T7" fmla="*/ 0 h 69"/>
                  <a:gd name="T8" fmla="*/ 36 w 105"/>
                  <a:gd name="T9" fmla="*/ 2 h 69"/>
                  <a:gd name="T10" fmla="*/ 8 w 105"/>
                  <a:gd name="T11" fmla="*/ 22 h 69"/>
                </a:gdLst>
                <a:ahLst/>
                <a:cxnLst>
                  <a:cxn ang="0">
                    <a:pos x="T0" y="T1"/>
                  </a:cxn>
                  <a:cxn ang="0">
                    <a:pos x="T2" y="T3"/>
                  </a:cxn>
                  <a:cxn ang="0">
                    <a:pos x="T4" y="T5"/>
                  </a:cxn>
                  <a:cxn ang="0">
                    <a:pos x="T6" y="T7"/>
                  </a:cxn>
                  <a:cxn ang="0">
                    <a:pos x="T8" y="T9"/>
                  </a:cxn>
                  <a:cxn ang="0">
                    <a:pos x="T10" y="T11"/>
                  </a:cxn>
                </a:cxnLst>
                <a:rect l="0" t="0" r="r" b="b"/>
                <a:pathLst>
                  <a:path w="105" h="69">
                    <a:moveTo>
                      <a:pt x="8" y="22"/>
                    </a:moveTo>
                    <a:cubicBezTo>
                      <a:pt x="8" y="22"/>
                      <a:pt x="0" y="65"/>
                      <a:pt x="49" y="67"/>
                    </a:cubicBezTo>
                    <a:cubicBezTo>
                      <a:pt x="97" y="69"/>
                      <a:pt x="105" y="24"/>
                      <a:pt x="105" y="24"/>
                    </a:cubicBezTo>
                    <a:cubicBezTo>
                      <a:pt x="66" y="0"/>
                      <a:pt x="66" y="0"/>
                      <a:pt x="66" y="0"/>
                    </a:cubicBezTo>
                    <a:cubicBezTo>
                      <a:pt x="36" y="2"/>
                      <a:pt x="36" y="2"/>
                      <a:pt x="36" y="2"/>
                    </a:cubicBezTo>
                    <a:lnTo>
                      <a:pt x="8" y="22"/>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67" name="任意多边形 259"/>
              <p:cNvSpPr/>
              <p:nvPr/>
            </p:nvSpPr>
            <p:spPr bwMode="auto">
              <a:xfrm>
                <a:off x="5947887" y="4224743"/>
                <a:ext cx="334373" cy="306275"/>
              </a:xfrm>
              <a:custGeom>
                <a:avLst/>
                <a:gdLst>
                  <a:gd name="T0" fmla="*/ 33 w 50"/>
                  <a:gd name="T1" fmla="*/ 7 h 46"/>
                  <a:gd name="T2" fmla="*/ 1 w 50"/>
                  <a:gd name="T3" fmla="*/ 9 h 46"/>
                  <a:gd name="T4" fmla="*/ 1 w 50"/>
                  <a:gd name="T5" fmla="*/ 22 h 46"/>
                  <a:gd name="T6" fmla="*/ 49 w 50"/>
                  <a:gd name="T7" fmla="*/ 23 h 46"/>
                  <a:gd name="T8" fmla="*/ 50 w 50"/>
                  <a:gd name="T9" fmla="*/ 0 h 46"/>
                  <a:gd name="T10" fmla="*/ 33 w 50"/>
                  <a:gd name="T11" fmla="*/ 7 h 46"/>
                </a:gdLst>
                <a:ahLst/>
                <a:cxnLst>
                  <a:cxn ang="0">
                    <a:pos x="T0" y="T1"/>
                  </a:cxn>
                  <a:cxn ang="0">
                    <a:pos x="T2" y="T3"/>
                  </a:cxn>
                  <a:cxn ang="0">
                    <a:pos x="T4" y="T5"/>
                  </a:cxn>
                  <a:cxn ang="0">
                    <a:pos x="T6" y="T7"/>
                  </a:cxn>
                  <a:cxn ang="0">
                    <a:pos x="T8" y="T9"/>
                  </a:cxn>
                  <a:cxn ang="0">
                    <a:pos x="T10" y="T11"/>
                  </a:cxn>
                </a:cxnLst>
                <a:rect l="0" t="0" r="r" b="b"/>
                <a:pathLst>
                  <a:path w="50" h="46">
                    <a:moveTo>
                      <a:pt x="33" y="7"/>
                    </a:moveTo>
                    <a:cubicBezTo>
                      <a:pt x="23" y="10"/>
                      <a:pt x="10" y="10"/>
                      <a:pt x="1" y="9"/>
                    </a:cubicBezTo>
                    <a:cubicBezTo>
                      <a:pt x="1" y="22"/>
                      <a:pt x="1" y="22"/>
                      <a:pt x="1" y="22"/>
                    </a:cubicBezTo>
                    <a:cubicBezTo>
                      <a:pt x="0" y="45"/>
                      <a:pt x="49" y="46"/>
                      <a:pt x="49" y="23"/>
                    </a:cubicBezTo>
                    <a:cubicBezTo>
                      <a:pt x="50" y="0"/>
                      <a:pt x="50" y="0"/>
                      <a:pt x="50" y="0"/>
                    </a:cubicBezTo>
                    <a:cubicBezTo>
                      <a:pt x="43" y="3"/>
                      <a:pt x="37" y="6"/>
                      <a:pt x="33" y="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68" name="任意多边形 260"/>
              <p:cNvSpPr/>
              <p:nvPr/>
            </p:nvSpPr>
            <p:spPr bwMode="auto">
              <a:xfrm>
                <a:off x="5961938" y="3876321"/>
                <a:ext cx="328754" cy="213549"/>
              </a:xfrm>
              <a:custGeom>
                <a:avLst/>
                <a:gdLst>
                  <a:gd name="T0" fmla="*/ 49 w 49"/>
                  <a:gd name="T1" fmla="*/ 1 h 32"/>
                  <a:gd name="T2" fmla="*/ 1 w 49"/>
                  <a:gd name="T3" fmla="*/ 0 h 32"/>
                  <a:gd name="T4" fmla="*/ 0 w 49"/>
                  <a:gd name="T5" fmla="*/ 32 h 32"/>
                  <a:gd name="T6" fmla="*/ 48 w 49"/>
                  <a:gd name="T7" fmla="*/ 26 h 32"/>
                  <a:gd name="T8" fmla="*/ 49 w 49"/>
                  <a:gd name="T9" fmla="*/ 1 h 32"/>
                </a:gdLst>
                <a:ahLst/>
                <a:cxnLst>
                  <a:cxn ang="0">
                    <a:pos x="T0" y="T1"/>
                  </a:cxn>
                  <a:cxn ang="0">
                    <a:pos x="T2" y="T3"/>
                  </a:cxn>
                  <a:cxn ang="0">
                    <a:pos x="T4" y="T5"/>
                  </a:cxn>
                  <a:cxn ang="0">
                    <a:pos x="T6" y="T7"/>
                  </a:cxn>
                  <a:cxn ang="0">
                    <a:pos x="T8" y="T9"/>
                  </a:cxn>
                </a:cxnLst>
                <a:rect l="0" t="0" r="r" b="b"/>
                <a:pathLst>
                  <a:path w="49" h="32">
                    <a:moveTo>
                      <a:pt x="49" y="1"/>
                    </a:moveTo>
                    <a:cubicBezTo>
                      <a:pt x="1" y="0"/>
                      <a:pt x="1" y="0"/>
                      <a:pt x="1" y="0"/>
                    </a:cubicBezTo>
                    <a:cubicBezTo>
                      <a:pt x="0" y="32"/>
                      <a:pt x="0" y="32"/>
                      <a:pt x="0" y="32"/>
                    </a:cubicBezTo>
                    <a:cubicBezTo>
                      <a:pt x="15" y="30"/>
                      <a:pt x="36" y="27"/>
                      <a:pt x="48" y="26"/>
                    </a:cubicBezTo>
                    <a:lnTo>
                      <a:pt x="49" y="1"/>
                    </a:ln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0" name="任意多边形 261"/>
              <p:cNvSpPr/>
              <p:nvPr/>
            </p:nvSpPr>
            <p:spPr bwMode="auto">
              <a:xfrm>
                <a:off x="5956318" y="4050532"/>
                <a:ext cx="325943" cy="241647"/>
              </a:xfrm>
              <a:custGeom>
                <a:avLst/>
                <a:gdLst>
                  <a:gd name="T0" fmla="*/ 32 w 49"/>
                  <a:gd name="T1" fmla="*/ 33 h 36"/>
                  <a:gd name="T2" fmla="*/ 49 w 49"/>
                  <a:gd name="T3" fmla="*/ 26 h 36"/>
                  <a:gd name="T4" fmla="*/ 49 w 49"/>
                  <a:gd name="T5" fmla="*/ 0 h 36"/>
                  <a:gd name="T6" fmla="*/ 1 w 49"/>
                  <a:gd name="T7" fmla="*/ 6 h 36"/>
                  <a:gd name="T8" fmla="*/ 0 w 49"/>
                  <a:gd name="T9" fmla="*/ 35 h 36"/>
                  <a:gd name="T10" fmla="*/ 32 w 49"/>
                  <a:gd name="T11" fmla="*/ 33 h 36"/>
                </a:gdLst>
                <a:ahLst/>
                <a:cxnLst>
                  <a:cxn ang="0">
                    <a:pos x="T0" y="T1"/>
                  </a:cxn>
                  <a:cxn ang="0">
                    <a:pos x="T2" y="T3"/>
                  </a:cxn>
                  <a:cxn ang="0">
                    <a:pos x="T4" y="T5"/>
                  </a:cxn>
                  <a:cxn ang="0">
                    <a:pos x="T6" y="T7"/>
                  </a:cxn>
                  <a:cxn ang="0">
                    <a:pos x="T8" y="T9"/>
                  </a:cxn>
                  <a:cxn ang="0">
                    <a:pos x="T10" y="T11"/>
                  </a:cxn>
                </a:cxnLst>
                <a:rect l="0" t="0" r="r" b="b"/>
                <a:pathLst>
                  <a:path w="49" h="36">
                    <a:moveTo>
                      <a:pt x="32" y="33"/>
                    </a:moveTo>
                    <a:cubicBezTo>
                      <a:pt x="36" y="32"/>
                      <a:pt x="42" y="29"/>
                      <a:pt x="49" y="26"/>
                    </a:cubicBezTo>
                    <a:cubicBezTo>
                      <a:pt x="49" y="0"/>
                      <a:pt x="49" y="0"/>
                      <a:pt x="49" y="0"/>
                    </a:cubicBezTo>
                    <a:cubicBezTo>
                      <a:pt x="37" y="1"/>
                      <a:pt x="16" y="4"/>
                      <a:pt x="1" y="6"/>
                    </a:cubicBezTo>
                    <a:cubicBezTo>
                      <a:pt x="0" y="35"/>
                      <a:pt x="0" y="35"/>
                      <a:pt x="0" y="35"/>
                    </a:cubicBezTo>
                    <a:cubicBezTo>
                      <a:pt x="9" y="36"/>
                      <a:pt x="22" y="36"/>
                      <a:pt x="32" y="33"/>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1" name="任意多边形 262"/>
              <p:cNvSpPr/>
              <p:nvPr/>
            </p:nvSpPr>
            <p:spPr bwMode="auto">
              <a:xfrm>
                <a:off x="5433685" y="2550070"/>
                <a:ext cx="1244766" cy="1708392"/>
              </a:xfrm>
              <a:custGeom>
                <a:avLst/>
                <a:gdLst>
                  <a:gd name="T0" fmla="*/ 72 w 186"/>
                  <a:gd name="T1" fmla="*/ 248 h 256"/>
                  <a:gd name="T2" fmla="*/ 72 w 186"/>
                  <a:gd name="T3" fmla="*/ 248 h 256"/>
                  <a:gd name="T4" fmla="*/ 8 w 186"/>
                  <a:gd name="T5" fmla="*/ 157 h 256"/>
                  <a:gd name="T6" fmla="*/ 22 w 186"/>
                  <a:gd name="T7" fmla="*/ 72 h 256"/>
                  <a:gd name="T8" fmla="*/ 114 w 186"/>
                  <a:gd name="T9" fmla="*/ 8 h 256"/>
                  <a:gd name="T10" fmla="*/ 114 w 186"/>
                  <a:gd name="T11" fmla="*/ 8 h 256"/>
                  <a:gd name="T12" fmla="*/ 179 w 186"/>
                  <a:gd name="T13" fmla="*/ 99 h 256"/>
                  <a:gd name="T14" fmla="*/ 164 w 186"/>
                  <a:gd name="T15" fmla="*/ 184 h 256"/>
                  <a:gd name="T16" fmla="*/ 72 w 186"/>
                  <a:gd name="T17" fmla="*/ 24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256">
                    <a:moveTo>
                      <a:pt x="72" y="248"/>
                    </a:moveTo>
                    <a:cubicBezTo>
                      <a:pt x="72" y="248"/>
                      <a:pt x="72" y="248"/>
                      <a:pt x="72" y="248"/>
                    </a:cubicBezTo>
                    <a:cubicBezTo>
                      <a:pt x="29" y="241"/>
                      <a:pt x="0" y="200"/>
                      <a:pt x="8" y="157"/>
                    </a:cubicBezTo>
                    <a:cubicBezTo>
                      <a:pt x="22" y="72"/>
                      <a:pt x="22" y="72"/>
                      <a:pt x="22" y="72"/>
                    </a:cubicBezTo>
                    <a:cubicBezTo>
                      <a:pt x="30" y="29"/>
                      <a:pt x="71" y="0"/>
                      <a:pt x="114" y="8"/>
                    </a:cubicBezTo>
                    <a:cubicBezTo>
                      <a:pt x="114" y="8"/>
                      <a:pt x="114" y="8"/>
                      <a:pt x="114" y="8"/>
                    </a:cubicBezTo>
                    <a:cubicBezTo>
                      <a:pt x="157" y="15"/>
                      <a:pt x="186" y="56"/>
                      <a:pt x="179" y="99"/>
                    </a:cubicBezTo>
                    <a:cubicBezTo>
                      <a:pt x="164" y="184"/>
                      <a:pt x="164" y="184"/>
                      <a:pt x="164" y="184"/>
                    </a:cubicBezTo>
                    <a:cubicBezTo>
                      <a:pt x="156" y="227"/>
                      <a:pt x="115" y="256"/>
                      <a:pt x="72" y="248"/>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2" name="任意多边形 263"/>
              <p:cNvSpPr/>
              <p:nvPr/>
            </p:nvSpPr>
            <p:spPr bwMode="auto">
              <a:xfrm>
                <a:off x="5433685" y="2541641"/>
                <a:ext cx="1129562" cy="1697152"/>
              </a:xfrm>
              <a:custGeom>
                <a:avLst/>
                <a:gdLst>
                  <a:gd name="T0" fmla="*/ 61 w 169"/>
                  <a:gd name="T1" fmla="*/ 247 h 254"/>
                  <a:gd name="T2" fmla="*/ 61 w 169"/>
                  <a:gd name="T3" fmla="*/ 247 h 254"/>
                  <a:gd name="T4" fmla="*/ 7 w 169"/>
                  <a:gd name="T5" fmla="*/ 165 h 254"/>
                  <a:gd name="T6" fmla="*/ 19 w 169"/>
                  <a:gd name="T7" fmla="*/ 66 h 254"/>
                  <a:gd name="T8" fmla="*/ 103 w 169"/>
                  <a:gd name="T9" fmla="*/ 7 h 254"/>
                  <a:gd name="T10" fmla="*/ 103 w 169"/>
                  <a:gd name="T11" fmla="*/ 7 h 254"/>
                  <a:gd name="T12" fmla="*/ 162 w 169"/>
                  <a:gd name="T13" fmla="*/ 91 h 254"/>
                  <a:gd name="T14" fmla="*/ 145 w 169"/>
                  <a:gd name="T15" fmla="*/ 188 h 254"/>
                  <a:gd name="T16" fmla="*/ 61 w 169"/>
                  <a:gd name="T17" fmla="*/ 247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254">
                    <a:moveTo>
                      <a:pt x="61" y="247"/>
                    </a:moveTo>
                    <a:cubicBezTo>
                      <a:pt x="61" y="247"/>
                      <a:pt x="61" y="247"/>
                      <a:pt x="61" y="247"/>
                    </a:cubicBezTo>
                    <a:cubicBezTo>
                      <a:pt x="22" y="240"/>
                      <a:pt x="0" y="204"/>
                      <a:pt x="7" y="165"/>
                    </a:cubicBezTo>
                    <a:cubicBezTo>
                      <a:pt x="19" y="66"/>
                      <a:pt x="19" y="66"/>
                      <a:pt x="19" y="66"/>
                    </a:cubicBezTo>
                    <a:cubicBezTo>
                      <a:pt x="26" y="27"/>
                      <a:pt x="63" y="0"/>
                      <a:pt x="103" y="7"/>
                    </a:cubicBezTo>
                    <a:cubicBezTo>
                      <a:pt x="103" y="7"/>
                      <a:pt x="103" y="7"/>
                      <a:pt x="103" y="7"/>
                    </a:cubicBezTo>
                    <a:cubicBezTo>
                      <a:pt x="143" y="14"/>
                      <a:pt x="169" y="52"/>
                      <a:pt x="162" y="91"/>
                    </a:cubicBezTo>
                    <a:cubicBezTo>
                      <a:pt x="145" y="188"/>
                      <a:pt x="145" y="188"/>
                      <a:pt x="145" y="188"/>
                    </a:cubicBezTo>
                    <a:cubicBezTo>
                      <a:pt x="139" y="228"/>
                      <a:pt x="101" y="254"/>
                      <a:pt x="61" y="24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3" name="任意多边形 264"/>
              <p:cNvSpPr/>
              <p:nvPr/>
            </p:nvSpPr>
            <p:spPr bwMode="auto">
              <a:xfrm>
                <a:off x="5633185" y="3322781"/>
                <a:ext cx="140493" cy="207930"/>
              </a:xfrm>
              <a:custGeom>
                <a:avLst/>
                <a:gdLst>
                  <a:gd name="T0" fmla="*/ 1 w 21"/>
                  <a:gd name="T1" fmla="*/ 14 h 31"/>
                  <a:gd name="T2" fmla="*/ 8 w 21"/>
                  <a:gd name="T3" fmla="*/ 30 h 31"/>
                  <a:gd name="T4" fmla="*/ 19 w 21"/>
                  <a:gd name="T5" fmla="*/ 17 h 31"/>
                  <a:gd name="T6" fmla="*/ 13 w 21"/>
                  <a:gd name="T7" fmla="*/ 1 h 31"/>
                  <a:gd name="T8" fmla="*/ 1 w 21"/>
                  <a:gd name="T9" fmla="*/ 14 h 31"/>
                </a:gdLst>
                <a:ahLst/>
                <a:cxnLst>
                  <a:cxn ang="0">
                    <a:pos x="T0" y="T1"/>
                  </a:cxn>
                  <a:cxn ang="0">
                    <a:pos x="T2" y="T3"/>
                  </a:cxn>
                  <a:cxn ang="0">
                    <a:pos x="T4" y="T5"/>
                  </a:cxn>
                  <a:cxn ang="0">
                    <a:pos x="T6" y="T7"/>
                  </a:cxn>
                  <a:cxn ang="0">
                    <a:pos x="T8" y="T9"/>
                  </a:cxn>
                </a:cxnLst>
                <a:rect l="0" t="0" r="r" b="b"/>
                <a:pathLst>
                  <a:path w="21" h="31">
                    <a:moveTo>
                      <a:pt x="1" y="14"/>
                    </a:moveTo>
                    <a:cubicBezTo>
                      <a:pt x="0" y="22"/>
                      <a:pt x="3" y="29"/>
                      <a:pt x="8" y="30"/>
                    </a:cubicBezTo>
                    <a:cubicBezTo>
                      <a:pt x="13" y="31"/>
                      <a:pt x="18" y="25"/>
                      <a:pt x="19" y="17"/>
                    </a:cubicBezTo>
                    <a:cubicBezTo>
                      <a:pt x="21" y="9"/>
                      <a:pt x="18" y="2"/>
                      <a:pt x="13" y="1"/>
                    </a:cubicBezTo>
                    <a:cubicBezTo>
                      <a:pt x="8" y="0"/>
                      <a:pt x="3" y="6"/>
                      <a:pt x="1" y="14"/>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4" name="任意多边形 265"/>
              <p:cNvSpPr/>
              <p:nvPr/>
            </p:nvSpPr>
            <p:spPr bwMode="auto">
              <a:xfrm>
                <a:off x="6122098" y="3415505"/>
                <a:ext cx="140493" cy="207930"/>
              </a:xfrm>
              <a:custGeom>
                <a:avLst/>
                <a:gdLst>
                  <a:gd name="T0" fmla="*/ 1 w 21"/>
                  <a:gd name="T1" fmla="*/ 14 h 31"/>
                  <a:gd name="T2" fmla="*/ 8 w 21"/>
                  <a:gd name="T3" fmla="*/ 30 h 31"/>
                  <a:gd name="T4" fmla="*/ 19 w 21"/>
                  <a:gd name="T5" fmla="*/ 17 h 31"/>
                  <a:gd name="T6" fmla="*/ 13 w 21"/>
                  <a:gd name="T7" fmla="*/ 1 h 31"/>
                  <a:gd name="T8" fmla="*/ 1 w 21"/>
                  <a:gd name="T9" fmla="*/ 14 h 31"/>
                </a:gdLst>
                <a:ahLst/>
                <a:cxnLst>
                  <a:cxn ang="0">
                    <a:pos x="T0" y="T1"/>
                  </a:cxn>
                  <a:cxn ang="0">
                    <a:pos x="T2" y="T3"/>
                  </a:cxn>
                  <a:cxn ang="0">
                    <a:pos x="T4" y="T5"/>
                  </a:cxn>
                  <a:cxn ang="0">
                    <a:pos x="T6" y="T7"/>
                  </a:cxn>
                  <a:cxn ang="0">
                    <a:pos x="T8" y="T9"/>
                  </a:cxn>
                </a:cxnLst>
                <a:rect l="0" t="0" r="r" b="b"/>
                <a:pathLst>
                  <a:path w="21" h="31">
                    <a:moveTo>
                      <a:pt x="1" y="14"/>
                    </a:moveTo>
                    <a:cubicBezTo>
                      <a:pt x="0" y="22"/>
                      <a:pt x="3" y="29"/>
                      <a:pt x="8" y="30"/>
                    </a:cubicBezTo>
                    <a:cubicBezTo>
                      <a:pt x="13" y="31"/>
                      <a:pt x="18" y="25"/>
                      <a:pt x="19" y="17"/>
                    </a:cubicBezTo>
                    <a:cubicBezTo>
                      <a:pt x="21" y="9"/>
                      <a:pt x="18" y="2"/>
                      <a:pt x="13" y="1"/>
                    </a:cubicBezTo>
                    <a:cubicBezTo>
                      <a:pt x="8" y="0"/>
                      <a:pt x="3" y="6"/>
                      <a:pt x="1" y="14"/>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5" name="任意多边形 266"/>
              <p:cNvSpPr/>
              <p:nvPr/>
            </p:nvSpPr>
            <p:spPr bwMode="auto">
              <a:xfrm>
                <a:off x="6442422" y="3468894"/>
                <a:ext cx="368092" cy="455196"/>
              </a:xfrm>
              <a:custGeom>
                <a:avLst/>
                <a:gdLst>
                  <a:gd name="T0" fmla="*/ 5 w 55"/>
                  <a:gd name="T1" fmla="*/ 29 h 68"/>
                  <a:gd name="T2" fmla="*/ 17 w 55"/>
                  <a:gd name="T3" fmla="*/ 65 h 68"/>
                  <a:gd name="T4" fmla="*/ 50 w 55"/>
                  <a:gd name="T5" fmla="*/ 39 h 68"/>
                  <a:gd name="T6" fmla="*/ 38 w 55"/>
                  <a:gd name="T7" fmla="*/ 3 h 68"/>
                  <a:gd name="T8" fmla="*/ 5 w 55"/>
                  <a:gd name="T9" fmla="*/ 29 h 68"/>
                </a:gdLst>
                <a:ahLst/>
                <a:cxnLst>
                  <a:cxn ang="0">
                    <a:pos x="T0" y="T1"/>
                  </a:cxn>
                  <a:cxn ang="0">
                    <a:pos x="T2" y="T3"/>
                  </a:cxn>
                  <a:cxn ang="0">
                    <a:pos x="T4" y="T5"/>
                  </a:cxn>
                  <a:cxn ang="0">
                    <a:pos x="T6" y="T7"/>
                  </a:cxn>
                  <a:cxn ang="0">
                    <a:pos x="T8" y="T9"/>
                  </a:cxn>
                </a:cxnLst>
                <a:rect l="0" t="0" r="r" b="b"/>
                <a:pathLst>
                  <a:path w="55" h="68">
                    <a:moveTo>
                      <a:pt x="5" y="29"/>
                    </a:moveTo>
                    <a:cubicBezTo>
                      <a:pt x="0" y="47"/>
                      <a:pt x="5" y="63"/>
                      <a:pt x="17" y="65"/>
                    </a:cubicBezTo>
                    <a:cubicBezTo>
                      <a:pt x="29" y="68"/>
                      <a:pt x="44" y="56"/>
                      <a:pt x="50" y="39"/>
                    </a:cubicBezTo>
                    <a:cubicBezTo>
                      <a:pt x="55" y="21"/>
                      <a:pt x="50" y="5"/>
                      <a:pt x="38" y="3"/>
                    </a:cubicBezTo>
                    <a:cubicBezTo>
                      <a:pt x="26" y="0"/>
                      <a:pt x="11" y="12"/>
                      <a:pt x="5" y="29"/>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7" name="任意多边形 267"/>
              <p:cNvSpPr/>
              <p:nvPr/>
            </p:nvSpPr>
            <p:spPr bwMode="auto">
              <a:xfrm>
                <a:off x="5487072" y="2420817"/>
                <a:ext cx="1371209" cy="1123941"/>
              </a:xfrm>
              <a:custGeom>
                <a:avLst/>
                <a:gdLst>
                  <a:gd name="T0" fmla="*/ 3 w 205"/>
                  <a:gd name="T1" fmla="*/ 60 h 168"/>
                  <a:gd name="T2" fmla="*/ 3 w 205"/>
                  <a:gd name="T3" fmla="*/ 54 h 168"/>
                  <a:gd name="T4" fmla="*/ 8 w 205"/>
                  <a:gd name="T5" fmla="*/ 43 h 168"/>
                  <a:gd name="T6" fmla="*/ 23 w 205"/>
                  <a:gd name="T7" fmla="*/ 24 h 168"/>
                  <a:gd name="T8" fmla="*/ 36 w 205"/>
                  <a:gd name="T9" fmla="*/ 16 h 168"/>
                  <a:gd name="T10" fmla="*/ 169 w 205"/>
                  <a:gd name="T11" fmla="*/ 35 h 168"/>
                  <a:gd name="T12" fmla="*/ 172 w 205"/>
                  <a:gd name="T13" fmla="*/ 41 h 168"/>
                  <a:gd name="T14" fmla="*/ 200 w 205"/>
                  <a:gd name="T15" fmla="*/ 82 h 168"/>
                  <a:gd name="T16" fmla="*/ 205 w 205"/>
                  <a:gd name="T17" fmla="*/ 93 h 168"/>
                  <a:gd name="T18" fmla="*/ 205 w 205"/>
                  <a:gd name="T19" fmla="*/ 102 h 168"/>
                  <a:gd name="T20" fmla="*/ 181 w 205"/>
                  <a:gd name="T21" fmla="*/ 157 h 168"/>
                  <a:gd name="T22" fmla="*/ 173 w 205"/>
                  <a:gd name="T23" fmla="*/ 163 h 168"/>
                  <a:gd name="T24" fmla="*/ 169 w 205"/>
                  <a:gd name="T25" fmla="*/ 164 h 168"/>
                  <a:gd name="T26" fmla="*/ 149 w 205"/>
                  <a:gd name="T27" fmla="*/ 157 h 168"/>
                  <a:gd name="T28" fmla="*/ 149 w 205"/>
                  <a:gd name="T29" fmla="*/ 157 h 168"/>
                  <a:gd name="T30" fmla="*/ 148 w 205"/>
                  <a:gd name="T31" fmla="*/ 156 h 168"/>
                  <a:gd name="T32" fmla="*/ 144 w 205"/>
                  <a:gd name="T33" fmla="*/ 116 h 168"/>
                  <a:gd name="T34" fmla="*/ 126 w 205"/>
                  <a:gd name="T35" fmla="*/ 99 h 168"/>
                  <a:gd name="T36" fmla="*/ 6 w 205"/>
                  <a:gd name="T37" fmla="*/ 104 h 168"/>
                  <a:gd name="T38" fmla="*/ 1 w 205"/>
                  <a:gd name="T39" fmla="*/ 87 h 168"/>
                  <a:gd name="T40" fmla="*/ 0 w 205"/>
                  <a:gd name="T41" fmla="*/ 78 h 168"/>
                  <a:gd name="T42" fmla="*/ 3 w 205"/>
                  <a:gd name="T43" fmla="*/ 6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5" h="168">
                    <a:moveTo>
                      <a:pt x="3" y="60"/>
                    </a:moveTo>
                    <a:cubicBezTo>
                      <a:pt x="3" y="58"/>
                      <a:pt x="3" y="56"/>
                      <a:pt x="3" y="54"/>
                    </a:cubicBezTo>
                    <a:cubicBezTo>
                      <a:pt x="3" y="50"/>
                      <a:pt x="5" y="46"/>
                      <a:pt x="8" y="43"/>
                    </a:cubicBezTo>
                    <a:cubicBezTo>
                      <a:pt x="13" y="37"/>
                      <a:pt x="18" y="31"/>
                      <a:pt x="23" y="24"/>
                    </a:cubicBezTo>
                    <a:cubicBezTo>
                      <a:pt x="25" y="19"/>
                      <a:pt x="30" y="16"/>
                      <a:pt x="36" y="16"/>
                    </a:cubicBezTo>
                    <a:cubicBezTo>
                      <a:pt x="95" y="18"/>
                      <a:pt x="138" y="0"/>
                      <a:pt x="169" y="35"/>
                    </a:cubicBezTo>
                    <a:cubicBezTo>
                      <a:pt x="170" y="37"/>
                      <a:pt x="171" y="39"/>
                      <a:pt x="172" y="41"/>
                    </a:cubicBezTo>
                    <a:cubicBezTo>
                      <a:pt x="176" y="57"/>
                      <a:pt x="187" y="71"/>
                      <a:pt x="200" y="82"/>
                    </a:cubicBezTo>
                    <a:cubicBezTo>
                      <a:pt x="203" y="85"/>
                      <a:pt x="205" y="89"/>
                      <a:pt x="205" y="93"/>
                    </a:cubicBezTo>
                    <a:cubicBezTo>
                      <a:pt x="205" y="96"/>
                      <a:pt x="205" y="99"/>
                      <a:pt x="205" y="102"/>
                    </a:cubicBezTo>
                    <a:cubicBezTo>
                      <a:pt x="205" y="123"/>
                      <a:pt x="188" y="147"/>
                      <a:pt x="181" y="157"/>
                    </a:cubicBezTo>
                    <a:cubicBezTo>
                      <a:pt x="179" y="160"/>
                      <a:pt x="176" y="162"/>
                      <a:pt x="173" y="163"/>
                    </a:cubicBezTo>
                    <a:cubicBezTo>
                      <a:pt x="172" y="163"/>
                      <a:pt x="171" y="164"/>
                      <a:pt x="169" y="164"/>
                    </a:cubicBezTo>
                    <a:cubicBezTo>
                      <a:pt x="162" y="168"/>
                      <a:pt x="152" y="165"/>
                      <a:pt x="149" y="157"/>
                    </a:cubicBezTo>
                    <a:cubicBezTo>
                      <a:pt x="149" y="157"/>
                      <a:pt x="149" y="157"/>
                      <a:pt x="149" y="157"/>
                    </a:cubicBezTo>
                    <a:cubicBezTo>
                      <a:pt x="148" y="156"/>
                      <a:pt x="148" y="156"/>
                      <a:pt x="148" y="156"/>
                    </a:cubicBezTo>
                    <a:cubicBezTo>
                      <a:pt x="147" y="152"/>
                      <a:pt x="142" y="136"/>
                      <a:pt x="144" y="116"/>
                    </a:cubicBezTo>
                    <a:cubicBezTo>
                      <a:pt x="145" y="106"/>
                      <a:pt x="136" y="97"/>
                      <a:pt x="126" y="99"/>
                    </a:cubicBezTo>
                    <a:cubicBezTo>
                      <a:pt x="102" y="103"/>
                      <a:pt x="61" y="108"/>
                      <a:pt x="6" y="104"/>
                    </a:cubicBezTo>
                    <a:cubicBezTo>
                      <a:pt x="5" y="98"/>
                      <a:pt x="3" y="92"/>
                      <a:pt x="1" y="87"/>
                    </a:cubicBezTo>
                    <a:cubicBezTo>
                      <a:pt x="0" y="84"/>
                      <a:pt x="0" y="81"/>
                      <a:pt x="0" y="78"/>
                    </a:cubicBezTo>
                    <a:cubicBezTo>
                      <a:pt x="2" y="72"/>
                      <a:pt x="3" y="66"/>
                      <a:pt x="3" y="60"/>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8" name="任意多边形 268"/>
              <p:cNvSpPr/>
              <p:nvPr/>
            </p:nvSpPr>
            <p:spPr bwMode="auto">
              <a:xfrm>
                <a:off x="5621945" y="3783597"/>
                <a:ext cx="421479" cy="207930"/>
              </a:xfrm>
              <a:custGeom>
                <a:avLst/>
                <a:gdLst>
                  <a:gd name="T0" fmla="*/ 42 w 63"/>
                  <a:gd name="T1" fmla="*/ 20 h 31"/>
                  <a:gd name="T2" fmla="*/ 56 w 63"/>
                  <a:gd name="T3" fmla="*/ 25 h 31"/>
                  <a:gd name="T4" fmla="*/ 63 w 63"/>
                  <a:gd name="T5" fmla="*/ 7 h 31"/>
                  <a:gd name="T6" fmla="*/ 26 w 63"/>
                  <a:gd name="T7" fmla="*/ 9 h 31"/>
                  <a:gd name="T8" fmla="*/ 1 w 63"/>
                  <a:gd name="T9" fmla="*/ 0 h 31"/>
                  <a:gd name="T10" fmla="*/ 14 w 63"/>
                  <a:gd name="T11" fmla="*/ 31 h 31"/>
                  <a:gd name="T12" fmla="*/ 42 w 63"/>
                  <a:gd name="T13" fmla="*/ 20 h 31"/>
                </a:gdLst>
                <a:ahLst/>
                <a:cxnLst>
                  <a:cxn ang="0">
                    <a:pos x="T0" y="T1"/>
                  </a:cxn>
                  <a:cxn ang="0">
                    <a:pos x="T2" y="T3"/>
                  </a:cxn>
                  <a:cxn ang="0">
                    <a:pos x="T4" y="T5"/>
                  </a:cxn>
                  <a:cxn ang="0">
                    <a:pos x="T6" y="T7"/>
                  </a:cxn>
                  <a:cxn ang="0">
                    <a:pos x="T8" y="T9"/>
                  </a:cxn>
                  <a:cxn ang="0">
                    <a:pos x="T10" y="T11"/>
                  </a:cxn>
                  <a:cxn ang="0">
                    <a:pos x="T12" y="T13"/>
                  </a:cxn>
                </a:cxnLst>
                <a:rect l="0" t="0" r="r" b="b"/>
                <a:pathLst>
                  <a:path w="63" h="31">
                    <a:moveTo>
                      <a:pt x="42" y="20"/>
                    </a:moveTo>
                    <a:cubicBezTo>
                      <a:pt x="48" y="21"/>
                      <a:pt x="52" y="23"/>
                      <a:pt x="56" y="25"/>
                    </a:cubicBezTo>
                    <a:cubicBezTo>
                      <a:pt x="62" y="17"/>
                      <a:pt x="63" y="7"/>
                      <a:pt x="63" y="7"/>
                    </a:cubicBezTo>
                    <a:cubicBezTo>
                      <a:pt x="63" y="7"/>
                      <a:pt x="40" y="13"/>
                      <a:pt x="26" y="9"/>
                    </a:cubicBezTo>
                    <a:cubicBezTo>
                      <a:pt x="12" y="6"/>
                      <a:pt x="1" y="0"/>
                      <a:pt x="1" y="0"/>
                    </a:cubicBezTo>
                    <a:cubicBezTo>
                      <a:pt x="1" y="0"/>
                      <a:pt x="0" y="21"/>
                      <a:pt x="14" y="31"/>
                    </a:cubicBezTo>
                    <a:cubicBezTo>
                      <a:pt x="19" y="24"/>
                      <a:pt x="27" y="18"/>
                      <a:pt x="42" y="20"/>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80" name="任意多边形 269"/>
              <p:cNvSpPr/>
              <p:nvPr/>
            </p:nvSpPr>
            <p:spPr bwMode="auto">
              <a:xfrm>
                <a:off x="5714671" y="3904420"/>
                <a:ext cx="280985" cy="132064"/>
              </a:xfrm>
              <a:custGeom>
                <a:avLst/>
                <a:gdLst>
                  <a:gd name="T0" fmla="*/ 42 w 42"/>
                  <a:gd name="T1" fmla="*/ 7 h 20"/>
                  <a:gd name="T2" fmla="*/ 28 w 42"/>
                  <a:gd name="T3" fmla="*/ 2 h 20"/>
                  <a:gd name="T4" fmla="*/ 0 w 42"/>
                  <a:gd name="T5" fmla="*/ 13 h 20"/>
                  <a:gd name="T6" fmla="*/ 14 w 42"/>
                  <a:gd name="T7" fmla="*/ 19 h 20"/>
                  <a:gd name="T8" fmla="*/ 42 w 42"/>
                  <a:gd name="T9" fmla="*/ 7 h 20"/>
                </a:gdLst>
                <a:ahLst/>
                <a:cxnLst>
                  <a:cxn ang="0">
                    <a:pos x="T0" y="T1"/>
                  </a:cxn>
                  <a:cxn ang="0">
                    <a:pos x="T2" y="T3"/>
                  </a:cxn>
                  <a:cxn ang="0">
                    <a:pos x="T4" y="T5"/>
                  </a:cxn>
                  <a:cxn ang="0">
                    <a:pos x="T6" y="T7"/>
                  </a:cxn>
                  <a:cxn ang="0">
                    <a:pos x="T8" y="T9"/>
                  </a:cxn>
                </a:cxnLst>
                <a:rect l="0" t="0" r="r" b="b"/>
                <a:pathLst>
                  <a:path w="42" h="20">
                    <a:moveTo>
                      <a:pt x="42" y="7"/>
                    </a:moveTo>
                    <a:cubicBezTo>
                      <a:pt x="38" y="5"/>
                      <a:pt x="34" y="3"/>
                      <a:pt x="28" y="2"/>
                    </a:cubicBezTo>
                    <a:cubicBezTo>
                      <a:pt x="13" y="0"/>
                      <a:pt x="5" y="6"/>
                      <a:pt x="0" y="13"/>
                    </a:cubicBezTo>
                    <a:cubicBezTo>
                      <a:pt x="3" y="16"/>
                      <a:pt x="8" y="18"/>
                      <a:pt x="14" y="19"/>
                    </a:cubicBezTo>
                    <a:cubicBezTo>
                      <a:pt x="28" y="20"/>
                      <a:pt x="37" y="14"/>
                      <a:pt x="42" y="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83" name="任意多边形 270"/>
              <p:cNvSpPr/>
              <p:nvPr/>
            </p:nvSpPr>
            <p:spPr bwMode="auto">
              <a:xfrm>
                <a:off x="5613516" y="3210386"/>
                <a:ext cx="179830" cy="59007"/>
              </a:xfrm>
              <a:custGeom>
                <a:avLst/>
                <a:gdLst>
                  <a:gd name="T0" fmla="*/ 2 w 27"/>
                  <a:gd name="T1" fmla="*/ 9 h 9"/>
                  <a:gd name="T2" fmla="*/ 3 w 27"/>
                  <a:gd name="T3" fmla="*/ 9 h 9"/>
                  <a:gd name="T4" fmla="*/ 24 w 27"/>
                  <a:gd name="T5" fmla="*/ 8 h 9"/>
                  <a:gd name="T6" fmla="*/ 26 w 27"/>
                  <a:gd name="T7" fmla="*/ 7 h 9"/>
                  <a:gd name="T8" fmla="*/ 25 w 27"/>
                  <a:gd name="T9" fmla="*/ 4 h 9"/>
                  <a:gd name="T10" fmla="*/ 2 w 27"/>
                  <a:gd name="T11" fmla="*/ 5 h 9"/>
                  <a:gd name="T12" fmla="*/ 1 w 27"/>
                  <a:gd name="T13" fmla="*/ 7 h 9"/>
                  <a:gd name="T14" fmla="*/ 2 w 27"/>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9">
                    <a:moveTo>
                      <a:pt x="2" y="9"/>
                    </a:moveTo>
                    <a:cubicBezTo>
                      <a:pt x="2" y="9"/>
                      <a:pt x="3" y="9"/>
                      <a:pt x="3" y="9"/>
                    </a:cubicBezTo>
                    <a:cubicBezTo>
                      <a:pt x="13" y="5"/>
                      <a:pt x="23" y="8"/>
                      <a:pt x="24" y="8"/>
                    </a:cubicBezTo>
                    <a:cubicBezTo>
                      <a:pt x="25" y="9"/>
                      <a:pt x="26" y="8"/>
                      <a:pt x="26" y="7"/>
                    </a:cubicBezTo>
                    <a:cubicBezTo>
                      <a:pt x="27" y="6"/>
                      <a:pt x="26" y="5"/>
                      <a:pt x="25" y="4"/>
                    </a:cubicBezTo>
                    <a:cubicBezTo>
                      <a:pt x="24" y="4"/>
                      <a:pt x="14" y="0"/>
                      <a:pt x="2" y="5"/>
                    </a:cubicBezTo>
                    <a:cubicBezTo>
                      <a:pt x="1" y="5"/>
                      <a:pt x="0" y="6"/>
                      <a:pt x="1" y="7"/>
                    </a:cubicBezTo>
                    <a:cubicBezTo>
                      <a:pt x="1" y="8"/>
                      <a:pt x="1" y="8"/>
                      <a:pt x="2" y="9"/>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84" name="任意多边形 271"/>
              <p:cNvSpPr/>
              <p:nvPr/>
            </p:nvSpPr>
            <p:spPr bwMode="auto">
              <a:xfrm>
                <a:off x="6169867" y="3308730"/>
                <a:ext cx="165782" cy="87107"/>
              </a:xfrm>
              <a:custGeom>
                <a:avLst/>
                <a:gdLst>
                  <a:gd name="T0" fmla="*/ 23 w 25"/>
                  <a:gd name="T1" fmla="*/ 13 h 13"/>
                  <a:gd name="T2" fmla="*/ 24 w 25"/>
                  <a:gd name="T3" fmla="*/ 13 h 13"/>
                  <a:gd name="T4" fmla="*/ 24 w 25"/>
                  <a:gd name="T5" fmla="*/ 10 h 13"/>
                  <a:gd name="T6" fmla="*/ 3 w 25"/>
                  <a:gd name="T7" fmla="*/ 0 h 13"/>
                  <a:gd name="T8" fmla="*/ 0 w 25"/>
                  <a:gd name="T9" fmla="*/ 2 h 13"/>
                  <a:gd name="T10" fmla="*/ 2 w 25"/>
                  <a:gd name="T11" fmla="*/ 5 h 13"/>
                  <a:gd name="T12" fmla="*/ 21 w 25"/>
                  <a:gd name="T13" fmla="*/ 13 h 13"/>
                  <a:gd name="T14" fmla="*/ 23 w 25"/>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3">
                    <a:moveTo>
                      <a:pt x="23" y="13"/>
                    </a:moveTo>
                    <a:cubicBezTo>
                      <a:pt x="23" y="13"/>
                      <a:pt x="24" y="13"/>
                      <a:pt x="24" y="13"/>
                    </a:cubicBezTo>
                    <a:cubicBezTo>
                      <a:pt x="25" y="12"/>
                      <a:pt x="25" y="10"/>
                      <a:pt x="24" y="10"/>
                    </a:cubicBezTo>
                    <a:cubicBezTo>
                      <a:pt x="15" y="1"/>
                      <a:pt x="3" y="0"/>
                      <a:pt x="3" y="0"/>
                    </a:cubicBezTo>
                    <a:cubicBezTo>
                      <a:pt x="2" y="0"/>
                      <a:pt x="1" y="1"/>
                      <a:pt x="0" y="2"/>
                    </a:cubicBezTo>
                    <a:cubicBezTo>
                      <a:pt x="0" y="3"/>
                      <a:pt x="1" y="5"/>
                      <a:pt x="2" y="5"/>
                    </a:cubicBezTo>
                    <a:cubicBezTo>
                      <a:pt x="3" y="5"/>
                      <a:pt x="13" y="5"/>
                      <a:pt x="21" y="13"/>
                    </a:cubicBezTo>
                    <a:cubicBezTo>
                      <a:pt x="21" y="13"/>
                      <a:pt x="22" y="13"/>
                      <a:pt x="23" y="13"/>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86" name="任意多边形 272"/>
              <p:cNvSpPr/>
              <p:nvPr/>
            </p:nvSpPr>
            <p:spPr bwMode="auto">
              <a:xfrm>
                <a:off x="5768057" y="3370547"/>
                <a:ext cx="188260" cy="314704"/>
              </a:xfrm>
              <a:custGeom>
                <a:avLst/>
                <a:gdLst>
                  <a:gd name="T0" fmla="*/ 14 w 28"/>
                  <a:gd name="T1" fmla="*/ 47 h 47"/>
                  <a:gd name="T2" fmla="*/ 16 w 28"/>
                  <a:gd name="T3" fmla="*/ 45 h 47"/>
                  <a:gd name="T4" fmla="*/ 14 w 28"/>
                  <a:gd name="T5" fmla="*/ 43 h 47"/>
                  <a:gd name="T6" fmla="*/ 5 w 28"/>
                  <a:gd name="T7" fmla="*/ 39 h 47"/>
                  <a:gd name="T8" fmla="*/ 5 w 28"/>
                  <a:gd name="T9" fmla="*/ 34 h 47"/>
                  <a:gd name="T10" fmla="*/ 8 w 28"/>
                  <a:gd name="T11" fmla="*/ 31 h 47"/>
                  <a:gd name="T12" fmla="*/ 16 w 28"/>
                  <a:gd name="T13" fmla="*/ 32 h 47"/>
                  <a:gd name="T14" fmla="*/ 18 w 28"/>
                  <a:gd name="T15" fmla="*/ 32 h 47"/>
                  <a:gd name="T16" fmla="*/ 19 w 28"/>
                  <a:gd name="T17" fmla="*/ 31 h 47"/>
                  <a:gd name="T18" fmla="*/ 28 w 28"/>
                  <a:gd name="T19" fmla="*/ 3 h 47"/>
                  <a:gd name="T20" fmla="*/ 27 w 28"/>
                  <a:gd name="T21" fmla="*/ 0 h 47"/>
                  <a:gd name="T22" fmla="*/ 24 w 28"/>
                  <a:gd name="T23" fmla="*/ 2 h 47"/>
                  <a:gd name="T24" fmla="*/ 16 w 28"/>
                  <a:gd name="T25" fmla="*/ 27 h 47"/>
                  <a:gd name="T26" fmla="*/ 6 w 28"/>
                  <a:gd name="T27" fmla="*/ 27 h 47"/>
                  <a:gd name="T28" fmla="*/ 1 w 28"/>
                  <a:gd name="T29" fmla="*/ 33 h 47"/>
                  <a:gd name="T30" fmla="*/ 2 w 28"/>
                  <a:gd name="T31" fmla="*/ 41 h 47"/>
                  <a:gd name="T32" fmla="*/ 13 w 28"/>
                  <a:gd name="T33" fmla="*/ 47 h 47"/>
                  <a:gd name="T34" fmla="*/ 14 w 28"/>
                  <a:gd name="T3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7">
                    <a:moveTo>
                      <a:pt x="14" y="47"/>
                    </a:moveTo>
                    <a:cubicBezTo>
                      <a:pt x="15" y="47"/>
                      <a:pt x="16" y="46"/>
                      <a:pt x="16" y="45"/>
                    </a:cubicBezTo>
                    <a:cubicBezTo>
                      <a:pt x="16" y="44"/>
                      <a:pt x="15" y="43"/>
                      <a:pt x="14" y="43"/>
                    </a:cubicBezTo>
                    <a:cubicBezTo>
                      <a:pt x="12" y="43"/>
                      <a:pt x="7" y="42"/>
                      <a:pt x="5" y="39"/>
                    </a:cubicBezTo>
                    <a:cubicBezTo>
                      <a:pt x="4" y="38"/>
                      <a:pt x="4" y="36"/>
                      <a:pt x="5" y="34"/>
                    </a:cubicBezTo>
                    <a:cubicBezTo>
                      <a:pt x="5" y="32"/>
                      <a:pt x="6" y="31"/>
                      <a:pt x="8" y="31"/>
                    </a:cubicBezTo>
                    <a:cubicBezTo>
                      <a:pt x="11" y="29"/>
                      <a:pt x="15" y="31"/>
                      <a:pt x="16" y="32"/>
                    </a:cubicBezTo>
                    <a:cubicBezTo>
                      <a:pt x="16" y="32"/>
                      <a:pt x="17" y="32"/>
                      <a:pt x="18" y="32"/>
                    </a:cubicBezTo>
                    <a:cubicBezTo>
                      <a:pt x="18" y="32"/>
                      <a:pt x="19" y="31"/>
                      <a:pt x="19" y="31"/>
                    </a:cubicBezTo>
                    <a:cubicBezTo>
                      <a:pt x="28" y="3"/>
                      <a:pt x="28" y="3"/>
                      <a:pt x="28" y="3"/>
                    </a:cubicBezTo>
                    <a:cubicBezTo>
                      <a:pt x="28" y="2"/>
                      <a:pt x="28" y="1"/>
                      <a:pt x="27" y="0"/>
                    </a:cubicBezTo>
                    <a:cubicBezTo>
                      <a:pt x="26" y="0"/>
                      <a:pt x="24" y="1"/>
                      <a:pt x="24" y="2"/>
                    </a:cubicBezTo>
                    <a:cubicBezTo>
                      <a:pt x="16" y="27"/>
                      <a:pt x="16" y="27"/>
                      <a:pt x="16" y="27"/>
                    </a:cubicBezTo>
                    <a:cubicBezTo>
                      <a:pt x="13" y="26"/>
                      <a:pt x="10" y="25"/>
                      <a:pt x="6" y="27"/>
                    </a:cubicBezTo>
                    <a:cubicBezTo>
                      <a:pt x="4" y="28"/>
                      <a:pt x="2" y="30"/>
                      <a:pt x="1" y="33"/>
                    </a:cubicBezTo>
                    <a:cubicBezTo>
                      <a:pt x="0" y="36"/>
                      <a:pt x="0" y="39"/>
                      <a:pt x="2" y="41"/>
                    </a:cubicBezTo>
                    <a:cubicBezTo>
                      <a:pt x="5" y="46"/>
                      <a:pt x="13" y="47"/>
                      <a:pt x="13" y="47"/>
                    </a:cubicBezTo>
                    <a:cubicBezTo>
                      <a:pt x="14" y="47"/>
                      <a:pt x="14" y="47"/>
                      <a:pt x="14" y="4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grpSp>
        <p:nvGrpSpPr>
          <p:cNvPr id="287" name="组合 286"/>
          <p:cNvGrpSpPr/>
          <p:nvPr/>
        </p:nvGrpSpPr>
        <p:grpSpPr>
          <a:xfrm>
            <a:off x="10171430" y="2550795"/>
            <a:ext cx="1473200" cy="303530"/>
            <a:chOff x="6063142" y="1984388"/>
            <a:chExt cx="1398340" cy="288000"/>
          </a:xfrm>
        </p:grpSpPr>
        <p:sp>
          <p:nvSpPr>
            <p:cNvPr id="290" name="文本框 289"/>
            <p:cNvSpPr txBox="1"/>
            <p:nvPr/>
          </p:nvSpPr>
          <p:spPr>
            <a:xfrm>
              <a:off x="6361240" y="2002666"/>
              <a:ext cx="1100242" cy="232642"/>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dirty="0">
                  <a:solidFill>
                    <a:srgbClr val="0042FF"/>
                  </a:solidFill>
                  <a:latin typeface="微软雅黑"/>
                  <a:ea typeface="微软雅黑"/>
                  <a:cs typeface="微软雅黑"/>
                </a:rPr>
                <a:t>核心高价值客户</a:t>
              </a:r>
              <a:endParaRPr lang="zh-CN" altLang="en-US" sz="1000" dirty="0">
                <a:solidFill>
                  <a:srgbClr val="0042FF"/>
                </a:solidFill>
                <a:latin typeface="微软雅黑"/>
                <a:ea typeface="微软雅黑"/>
                <a:cs typeface="微软雅黑"/>
              </a:endParaRPr>
            </a:p>
          </p:txBody>
        </p:sp>
        <p:grpSp>
          <p:nvGrpSpPr>
            <p:cNvPr id="291" name="组合 290"/>
            <p:cNvGrpSpPr>
              <a:grpSpLocks noChangeAspect="1"/>
            </p:cNvGrpSpPr>
            <p:nvPr/>
          </p:nvGrpSpPr>
          <p:grpSpPr>
            <a:xfrm>
              <a:off x="6063142" y="1984388"/>
              <a:ext cx="289104" cy="288000"/>
              <a:chOff x="4486273" y="1989700"/>
              <a:chExt cx="3219454" cy="3207158"/>
            </a:xfrm>
          </p:grpSpPr>
          <p:sp>
            <p:nvSpPr>
              <p:cNvPr id="292" name="椭圆 291"/>
              <p:cNvSpPr/>
              <p:nvPr/>
            </p:nvSpPr>
            <p:spPr bwMode="auto">
              <a:xfrm>
                <a:off x="4486273" y="1989700"/>
                <a:ext cx="3219454" cy="3207158"/>
              </a:xfrm>
              <a:prstGeom prst="ellipse">
                <a:avLst/>
              </a:pr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96" name="任意多边形 138"/>
              <p:cNvSpPr/>
              <p:nvPr/>
            </p:nvSpPr>
            <p:spPr bwMode="auto">
              <a:xfrm>
                <a:off x="5275730" y="4331532"/>
                <a:ext cx="1645793" cy="818690"/>
              </a:xfrm>
              <a:custGeom>
                <a:avLst/>
                <a:gdLst>
                  <a:gd name="connsiteX0" fmla="*/ 481083 w 980008"/>
                  <a:gd name="connsiteY0" fmla="*/ 555 h 487499"/>
                  <a:gd name="connsiteX1" fmla="*/ 496487 w 980008"/>
                  <a:gd name="connsiteY1" fmla="*/ 731 h 487499"/>
                  <a:gd name="connsiteX2" fmla="*/ 598470 w 980008"/>
                  <a:gd name="connsiteY2" fmla="*/ 30894 h 487499"/>
                  <a:gd name="connsiteX3" fmla="*/ 979963 w 980008"/>
                  <a:gd name="connsiteY3" fmla="*/ 362682 h 487499"/>
                  <a:gd name="connsiteX4" fmla="*/ 979072 w 980008"/>
                  <a:gd name="connsiteY4" fmla="*/ 369170 h 487499"/>
                  <a:gd name="connsiteX5" fmla="*/ 940771 w 980008"/>
                  <a:gd name="connsiteY5" fmla="*/ 389879 h 487499"/>
                  <a:gd name="connsiteX6" fmla="*/ 455389 w 980008"/>
                  <a:gd name="connsiteY6" fmla="*/ 487499 h 487499"/>
                  <a:gd name="connsiteX7" fmla="*/ 84575 w 980008"/>
                  <a:gd name="connsiteY7" fmla="*/ 431651 h 487499"/>
                  <a:gd name="connsiteX8" fmla="*/ 14744 w 980008"/>
                  <a:gd name="connsiteY8" fmla="*/ 406190 h 487499"/>
                  <a:gd name="connsiteX9" fmla="*/ 7699 w 980008"/>
                  <a:gd name="connsiteY9" fmla="*/ 391136 h 487499"/>
                  <a:gd name="connsiteX10" fmla="*/ 1679 w 980008"/>
                  <a:gd name="connsiteY10" fmla="*/ 362682 h 487499"/>
                  <a:gd name="connsiteX11" fmla="*/ 1679 w 980008"/>
                  <a:gd name="connsiteY11" fmla="*/ 328749 h 487499"/>
                  <a:gd name="connsiteX12" fmla="*/ 394504 w 980008"/>
                  <a:gd name="connsiteY12" fmla="*/ 23353 h 487499"/>
                  <a:gd name="connsiteX13" fmla="*/ 481083 w 980008"/>
                  <a:gd name="connsiteY13" fmla="*/ 555 h 48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008" h="487499">
                    <a:moveTo>
                      <a:pt x="481083" y="555"/>
                    </a:moveTo>
                    <a:cubicBezTo>
                      <a:pt x="488933" y="-211"/>
                      <a:pt x="494599" y="-211"/>
                      <a:pt x="496487" y="731"/>
                    </a:cubicBezTo>
                    <a:cubicBezTo>
                      <a:pt x="507818" y="-3039"/>
                      <a:pt x="572030" y="12042"/>
                      <a:pt x="598470" y="30894"/>
                    </a:cubicBezTo>
                    <a:cubicBezTo>
                      <a:pt x="749556" y="136463"/>
                      <a:pt x="983740" y="208099"/>
                      <a:pt x="979963" y="362682"/>
                    </a:cubicBezTo>
                    <a:lnTo>
                      <a:pt x="979072" y="369170"/>
                    </a:lnTo>
                    <a:lnTo>
                      <a:pt x="940771" y="389879"/>
                    </a:lnTo>
                    <a:cubicBezTo>
                      <a:pt x="791584" y="452739"/>
                      <a:pt x="627562" y="487499"/>
                      <a:pt x="455389" y="487499"/>
                    </a:cubicBezTo>
                    <a:cubicBezTo>
                      <a:pt x="326260" y="487499"/>
                      <a:pt x="201715" y="467947"/>
                      <a:pt x="84575" y="431651"/>
                    </a:cubicBezTo>
                    <a:lnTo>
                      <a:pt x="14744" y="406190"/>
                    </a:lnTo>
                    <a:lnTo>
                      <a:pt x="7699" y="391136"/>
                    </a:lnTo>
                    <a:cubicBezTo>
                      <a:pt x="4512" y="381062"/>
                      <a:pt x="2624" y="371165"/>
                      <a:pt x="1679" y="362682"/>
                    </a:cubicBezTo>
                    <a:cubicBezTo>
                      <a:pt x="1679" y="351371"/>
                      <a:pt x="-2098" y="340060"/>
                      <a:pt x="1679" y="328749"/>
                    </a:cubicBezTo>
                    <a:cubicBezTo>
                      <a:pt x="16788" y="181707"/>
                      <a:pt x="243417" y="121381"/>
                      <a:pt x="394504" y="23353"/>
                    </a:cubicBezTo>
                    <a:cubicBezTo>
                      <a:pt x="414334" y="12042"/>
                      <a:pt x="457535" y="2852"/>
                      <a:pt x="481083" y="555"/>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297" name="任意多边形 139"/>
              <p:cNvSpPr/>
              <p:nvPr/>
            </p:nvSpPr>
            <p:spPr bwMode="auto">
              <a:xfrm>
                <a:off x="5722761" y="4313099"/>
                <a:ext cx="722486" cy="482546"/>
              </a:xfrm>
              <a:custGeom>
                <a:avLst/>
                <a:gdLst>
                  <a:gd name="T0" fmla="*/ 8 w 114"/>
                  <a:gd name="T1" fmla="*/ 25 h 76"/>
                  <a:gd name="T2" fmla="*/ 53 w 114"/>
                  <a:gd name="T3" fmla="*/ 74 h 76"/>
                  <a:gd name="T4" fmla="*/ 114 w 114"/>
                  <a:gd name="T5" fmla="*/ 26 h 76"/>
                  <a:gd name="T6" fmla="*/ 71 w 114"/>
                  <a:gd name="T7" fmla="*/ 0 h 76"/>
                  <a:gd name="T8" fmla="*/ 39 w 114"/>
                  <a:gd name="T9" fmla="*/ 2 h 76"/>
                  <a:gd name="T10" fmla="*/ 8 w 114"/>
                  <a:gd name="T11" fmla="*/ 25 h 76"/>
                </a:gdLst>
                <a:ahLst/>
                <a:cxnLst>
                  <a:cxn ang="0">
                    <a:pos x="T0" y="T1"/>
                  </a:cxn>
                  <a:cxn ang="0">
                    <a:pos x="T2" y="T3"/>
                  </a:cxn>
                  <a:cxn ang="0">
                    <a:pos x="T4" y="T5"/>
                  </a:cxn>
                  <a:cxn ang="0">
                    <a:pos x="T6" y="T7"/>
                  </a:cxn>
                  <a:cxn ang="0">
                    <a:pos x="T8" y="T9"/>
                  </a:cxn>
                  <a:cxn ang="0">
                    <a:pos x="T10" y="T11"/>
                  </a:cxn>
                </a:cxnLst>
                <a:rect l="0" t="0" r="r" b="b"/>
                <a:pathLst>
                  <a:path w="114" h="76">
                    <a:moveTo>
                      <a:pt x="8" y="25"/>
                    </a:moveTo>
                    <a:cubicBezTo>
                      <a:pt x="8" y="25"/>
                      <a:pt x="0" y="72"/>
                      <a:pt x="53" y="74"/>
                    </a:cubicBezTo>
                    <a:cubicBezTo>
                      <a:pt x="106" y="76"/>
                      <a:pt x="114" y="26"/>
                      <a:pt x="114" y="26"/>
                    </a:cubicBezTo>
                    <a:cubicBezTo>
                      <a:pt x="71" y="0"/>
                      <a:pt x="71" y="0"/>
                      <a:pt x="71" y="0"/>
                    </a:cubicBezTo>
                    <a:cubicBezTo>
                      <a:pt x="39" y="2"/>
                      <a:pt x="39" y="2"/>
                      <a:pt x="39" y="2"/>
                    </a:cubicBezTo>
                    <a:lnTo>
                      <a:pt x="8" y="2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98" name="任意多边形 140"/>
              <p:cNvSpPr/>
              <p:nvPr/>
            </p:nvSpPr>
            <p:spPr bwMode="auto">
              <a:xfrm>
                <a:off x="5925376" y="4353089"/>
                <a:ext cx="341247" cy="314587"/>
              </a:xfrm>
              <a:custGeom>
                <a:avLst/>
                <a:gdLst>
                  <a:gd name="T0" fmla="*/ 35 w 54"/>
                  <a:gd name="T1" fmla="*/ 7 h 50"/>
                  <a:gd name="T2" fmla="*/ 1 w 54"/>
                  <a:gd name="T3" fmla="*/ 10 h 50"/>
                  <a:gd name="T4" fmla="*/ 0 w 54"/>
                  <a:gd name="T5" fmla="*/ 24 h 50"/>
                  <a:gd name="T6" fmla="*/ 53 w 54"/>
                  <a:gd name="T7" fmla="*/ 25 h 50"/>
                  <a:gd name="T8" fmla="*/ 54 w 54"/>
                  <a:gd name="T9" fmla="*/ 0 h 50"/>
                  <a:gd name="T10" fmla="*/ 35 w 54"/>
                  <a:gd name="T11" fmla="*/ 7 h 50"/>
                </a:gdLst>
                <a:ahLst/>
                <a:cxnLst>
                  <a:cxn ang="0">
                    <a:pos x="T0" y="T1"/>
                  </a:cxn>
                  <a:cxn ang="0">
                    <a:pos x="T2" y="T3"/>
                  </a:cxn>
                  <a:cxn ang="0">
                    <a:pos x="T4" y="T5"/>
                  </a:cxn>
                  <a:cxn ang="0">
                    <a:pos x="T6" y="T7"/>
                  </a:cxn>
                  <a:cxn ang="0">
                    <a:pos x="T8" y="T9"/>
                  </a:cxn>
                  <a:cxn ang="0">
                    <a:pos x="T10" y="T11"/>
                  </a:cxn>
                </a:cxnLst>
                <a:rect l="0" t="0" r="r" b="b"/>
                <a:pathLst>
                  <a:path w="54" h="50">
                    <a:moveTo>
                      <a:pt x="35" y="7"/>
                    </a:moveTo>
                    <a:cubicBezTo>
                      <a:pt x="24" y="11"/>
                      <a:pt x="10" y="10"/>
                      <a:pt x="1" y="10"/>
                    </a:cubicBezTo>
                    <a:cubicBezTo>
                      <a:pt x="0" y="24"/>
                      <a:pt x="0" y="24"/>
                      <a:pt x="0" y="24"/>
                    </a:cubicBezTo>
                    <a:cubicBezTo>
                      <a:pt x="0" y="49"/>
                      <a:pt x="52" y="50"/>
                      <a:pt x="53" y="25"/>
                    </a:cubicBezTo>
                    <a:cubicBezTo>
                      <a:pt x="54" y="0"/>
                      <a:pt x="54" y="0"/>
                      <a:pt x="54" y="0"/>
                    </a:cubicBezTo>
                    <a:cubicBezTo>
                      <a:pt x="47" y="3"/>
                      <a:pt x="40" y="6"/>
                      <a:pt x="35" y="7"/>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299" name="任意多边形 141"/>
              <p:cNvSpPr/>
              <p:nvPr/>
            </p:nvSpPr>
            <p:spPr bwMode="auto">
              <a:xfrm>
                <a:off x="5930708" y="3985181"/>
                <a:ext cx="343914" cy="221278"/>
              </a:xfrm>
              <a:custGeom>
                <a:avLst/>
                <a:gdLst>
                  <a:gd name="T0" fmla="*/ 54 w 54"/>
                  <a:gd name="T1" fmla="*/ 2 h 35"/>
                  <a:gd name="T2" fmla="*/ 1 w 54"/>
                  <a:gd name="T3" fmla="*/ 0 h 35"/>
                  <a:gd name="T4" fmla="*/ 0 w 54"/>
                  <a:gd name="T5" fmla="*/ 35 h 35"/>
                  <a:gd name="T6" fmla="*/ 53 w 54"/>
                  <a:gd name="T7" fmla="*/ 29 h 35"/>
                  <a:gd name="T8" fmla="*/ 54 w 54"/>
                  <a:gd name="T9" fmla="*/ 2 h 35"/>
                </a:gdLst>
                <a:ahLst/>
                <a:cxnLst>
                  <a:cxn ang="0">
                    <a:pos x="T0" y="T1"/>
                  </a:cxn>
                  <a:cxn ang="0">
                    <a:pos x="T2" y="T3"/>
                  </a:cxn>
                  <a:cxn ang="0">
                    <a:pos x="T4" y="T5"/>
                  </a:cxn>
                  <a:cxn ang="0">
                    <a:pos x="T6" y="T7"/>
                  </a:cxn>
                  <a:cxn ang="0">
                    <a:pos x="T8" y="T9"/>
                  </a:cxn>
                </a:cxnLst>
                <a:rect l="0" t="0" r="r" b="b"/>
                <a:pathLst>
                  <a:path w="54" h="35">
                    <a:moveTo>
                      <a:pt x="54" y="2"/>
                    </a:moveTo>
                    <a:cubicBezTo>
                      <a:pt x="1" y="0"/>
                      <a:pt x="1" y="0"/>
                      <a:pt x="1" y="0"/>
                    </a:cubicBezTo>
                    <a:cubicBezTo>
                      <a:pt x="0" y="35"/>
                      <a:pt x="0" y="35"/>
                      <a:pt x="0" y="35"/>
                    </a:cubicBezTo>
                    <a:cubicBezTo>
                      <a:pt x="17" y="34"/>
                      <a:pt x="40" y="31"/>
                      <a:pt x="53" y="29"/>
                    </a:cubicBezTo>
                    <a:lnTo>
                      <a:pt x="54" y="2"/>
                    </a:ln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302" name="任意多边形 142"/>
              <p:cNvSpPr/>
              <p:nvPr/>
            </p:nvSpPr>
            <p:spPr bwMode="auto">
              <a:xfrm>
                <a:off x="5930708" y="4169136"/>
                <a:ext cx="335915" cy="253270"/>
              </a:xfrm>
              <a:custGeom>
                <a:avLst/>
                <a:gdLst>
                  <a:gd name="T0" fmla="*/ 34 w 53"/>
                  <a:gd name="T1" fmla="*/ 36 h 40"/>
                  <a:gd name="T2" fmla="*/ 53 w 53"/>
                  <a:gd name="T3" fmla="*/ 29 h 40"/>
                  <a:gd name="T4" fmla="*/ 53 w 53"/>
                  <a:gd name="T5" fmla="*/ 0 h 40"/>
                  <a:gd name="T6" fmla="*/ 0 w 53"/>
                  <a:gd name="T7" fmla="*/ 6 h 40"/>
                  <a:gd name="T8" fmla="*/ 0 w 53"/>
                  <a:gd name="T9" fmla="*/ 39 h 40"/>
                  <a:gd name="T10" fmla="*/ 34 w 53"/>
                  <a:gd name="T11" fmla="*/ 36 h 40"/>
                </a:gdLst>
                <a:ahLst/>
                <a:cxnLst>
                  <a:cxn ang="0">
                    <a:pos x="T0" y="T1"/>
                  </a:cxn>
                  <a:cxn ang="0">
                    <a:pos x="T2" y="T3"/>
                  </a:cxn>
                  <a:cxn ang="0">
                    <a:pos x="T4" y="T5"/>
                  </a:cxn>
                  <a:cxn ang="0">
                    <a:pos x="T6" y="T7"/>
                  </a:cxn>
                  <a:cxn ang="0">
                    <a:pos x="T8" y="T9"/>
                  </a:cxn>
                  <a:cxn ang="0">
                    <a:pos x="T10" y="T11"/>
                  </a:cxn>
                </a:cxnLst>
                <a:rect l="0" t="0" r="r" b="b"/>
                <a:pathLst>
                  <a:path w="53" h="40">
                    <a:moveTo>
                      <a:pt x="34" y="36"/>
                    </a:moveTo>
                    <a:cubicBezTo>
                      <a:pt x="39" y="35"/>
                      <a:pt x="46" y="32"/>
                      <a:pt x="53" y="29"/>
                    </a:cubicBezTo>
                    <a:cubicBezTo>
                      <a:pt x="53" y="0"/>
                      <a:pt x="53" y="0"/>
                      <a:pt x="53" y="0"/>
                    </a:cubicBezTo>
                    <a:cubicBezTo>
                      <a:pt x="40" y="2"/>
                      <a:pt x="17" y="5"/>
                      <a:pt x="0" y="6"/>
                    </a:cubicBezTo>
                    <a:cubicBezTo>
                      <a:pt x="0" y="39"/>
                      <a:pt x="0" y="39"/>
                      <a:pt x="0" y="39"/>
                    </a:cubicBezTo>
                    <a:cubicBezTo>
                      <a:pt x="9" y="39"/>
                      <a:pt x="23" y="40"/>
                      <a:pt x="34" y="36"/>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03" name="任意多边形 143"/>
              <p:cNvSpPr/>
              <p:nvPr/>
            </p:nvSpPr>
            <p:spPr bwMode="auto">
              <a:xfrm>
                <a:off x="5384178" y="2612194"/>
                <a:ext cx="1295674" cy="1772888"/>
              </a:xfrm>
              <a:custGeom>
                <a:avLst/>
                <a:gdLst>
                  <a:gd name="T0" fmla="*/ 79 w 204"/>
                  <a:gd name="T1" fmla="*/ 272 h 280"/>
                  <a:gd name="T2" fmla="*/ 79 w 204"/>
                  <a:gd name="T3" fmla="*/ 272 h 280"/>
                  <a:gd name="T4" fmla="*/ 8 w 204"/>
                  <a:gd name="T5" fmla="*/ 171 h 280"/>
                  <a:gd name="T6" fmla="*/ 25 w 204"/>
                  <a:gd name="T7" fmla="*/ 79 h 280"/>
                  <a:gd name="T8" fmla="*/ 125 w 204"/>
                  <a:gd name="T9" fmla="*/ 8 h 280"/>
                  <a:gd name="T10" fmla="*/ 125 w 204"/>
                  <a:gd name="T11" fmla="*/ 8 h 280"/>
                  <a:gd name="T12" fmla="*/ 195 w 204"/>
                  <a:gd name="T13" fmla="*/ 109 h 280"/>
                  <a:gd name="T14" fmla="*/ 179 w 204"/>
                  <a:gd name="T15" fmla="*/ 201 h 280"/>
                  <a:gd name="T16" fmla="*/ 79 w 204"/>
                  <a:gd name="T17" fmla="*/ 27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80">
                    <a:moveTo>
                      <a:pt x="79" y="272"/>
                    </a:moveTo>
                    <a:cubicBezTo>
                      <a:pt x="79" y="272"/>
                      <a:pt x="79" y="272"/>
                      <a:pt x="79" y="272"/>
                    </a:cubicBezTo>
                    <a:cubicBezTo>
                      <a:pt x="32" y="264"/>
                      <a:pt x="0" y="219"/>
                      <a:pt x="8" y="171"/>
                    </a:cubicBezTo>
                    <a:cubicBezTo>
                      <a:pt x="25" y="79"/>
                      <a:pt x="25" y="79"/>
                      <a:pt x="25" y="79"/>
                    </a:cubicBezTo>
                    <a:cubicBezTo>
                      <a:pt x="33" y="32"/>
                      <a:pt x="78" y="0"/>
                      <a:pt x="125" y="8"/>
                    </a:cubicBezTo>
                    <a:cubicBezTo>
                      <a:pt x="125" y="8"/>
                      <a:pt x="125" y="8"/>
                      <a:pt x="125" y="8"/>
                    </a:cubicBezTo>
                    <a:cubicBezTo>
                      <a:pt x="172" y="17"/>
                      <a:pt x="204" y="62"/>
                      <a:pt x="195" y="109"/>
                    </a:cubicBezTo>
                    <a:cubicBezTo>
                      <a:pt x="179" y="201"/>
                      <a:pt x="179" y="201"/>
                      <a:pt x="179" y="201"/>
                    </a:cubicBezTo>
                    <a:cubicBezTo>
                      <a:pt x="171" y="248"/>
                      <a:pt x="126" y="280"/>
                      <a:pt x="79" y="272"/>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04" name="任意多边形 144"/>
              <p:cNvSpPr/>
              <p:nvPr/>
            </p:nvSpPr>
            <p:spPr bwMode="auto">
              <a:xfrm>
                <a:off x="5384178" y="2604196"/>
                <a:ext cx="1175705" cy="1759557"/>
              </a:xfrm>
              <a:custGeom>
                <a:avLst/>
                <a:gdLst>
                  <a:gd name="T0" fmla="*/ 67 w 185"/>
                  <a:gd name="T1" fmla="*/ 271 h 278"/>
                  <a:gd name="T2" fmla="*/ 67 w 185"/>
                  <a:gd name="T3" fmla="*/ 271 h 278"/>
                  <a:gd name="T4" fmla="*/ 7 w 185"/>
                  <a:gd name="T5" fmla="*/ 180 h 278"/>
                  <a:gd name="T6" fmla="*/ 20 w 185"/>
                  <a:gd name="T7" fmla="*/ 72 h 278"/>
                  <a:gd name="T8" fmla="*/ 113 w 185"/>
                  <a:gd name="T9" fmla="*/ 7 h 278"/>
                  <a:gd name="T10" fmla="*/ 113 w 185"/>
                  <a:gd name="T11" fmla="*/ 7 h 278"/>
                  <a:gd name="T12" fmla="*/ 178 w 185"/>
                  <a:gd name="T13" fmla="*/ 100 h 278"/>
                  <a:gd name="T14" fmla="*/ 159 w 185"/>
                  <a:gd name="T15" fmla="*/ 206 h 278"/>
                  <a:gd name="T16" fmla="*/ 67 w 185"/>
                  <a:gd name="T17" fmla="*/ 271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278">
                    <a:moveTo>
                      <a:pt x="67" y="271"/>
                    </a:moveTo>
                    <a:cubicBezTo>
                      <a:pt x="67" y="271"/>
                      <a:pt x="67" y="271"/>
                      <a:pt x="67" y="271"/>
                    </a:cubicBezTo>
                    <a:cubicBezTo>
                      <a:pt x="24" y="263"/>
                      <a:pt x="0" y="224"/>
                      <a:pt x="7" y="180"/>
                    </a:cubicBezTo>
                    <a:cubicBezTo>
                      <a:pt x="20" y="72"/>
                      <a:pt x="20" y="72"/>
                      <a:pt x="20" y="72"/>
                    </a:cubicBezTo>
                    <a:cubicBezTo>
                      <a:pt x="28" y="29"/>
                      <a:pt x="69" y="0"/>
                      <a:pt x="113" y="7"/>
                    </a:cubicBezTo>
                    <a:cubicBezTo>
                      <a:pt x="113" y="7"/>
                      <a:pt x="113" y="7"/>
                      <a:pt x="113" y="7"/>
                    </a:cubicBezTo>
                    <a:cubicBezTo>
                      <a:pt x="156" y="15"/>
                      <a:pt x="185" y="56"/>
                      <a:pt x="178" y="100"/>
                    </a:cubicBezTo>
                    <a:cubicBezTo>
                      <a:pt x="159" y="206"/>
                      <a:pt x="159" y="206"/>
                      <a:pt x="159" y="206"/>
                    </a:cubicBezTo>
                    <a:cubicBezTo>
                      <a:pt x="152" y="249"/>
                      <a:pt x="110" y="278"/>
                      <a:pt x="67" y="271"/>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305" name="任意多边形 145"/>
              <p:cNvSpPr/>
              <p:nvPr/>
            </p:nvSpPr>
            <p:spPr bwMode="auto">
              <a:xfrm>
                <a:off x="5594793" y="3414658"/>
                <a:ext cx="138632" cy="215946"/>
              </a:xfrm>
              <a:custGeom>
                <a:avLst/>
                <a:gdLst>
                  <a:gd name="T0" fmla="*/ 1 w 22"/>
                  <a:gd name="T1" fmla="*/ 15 h 34"/>
                  <a:gd name="T2" fmla="*/ 8 w 22"/>
                  <a:gd name="T3" fmla="*/ 33 h 34"/>
                  <a:gd name="T4" fmla="*/ 21 w 22"/>
                  <a:gd name="T5" fmla="*/ 18 h 34"/>
                  <a:gd name="T6" fmla="*/ 14 w 22"/>
                  <a:gd name="T7" fmla="*/ 1 h 34"/>
                  <a:gd name="T8" fmla="*/ 1 w 22"/>
                  <a:gd name="T9" fmla="*/ 15 h 34"/>
                </a:gdLst>
                <a:ahLst/>
                <a:cxnLst>
                  <a:cxn ang="0">
                    <a:pos x="T0" y="T1"/>
                  </a:cxn>
                  <a:cxn ang="0">
                    <a:pos x="T2" y="T3"/>
                  </a:cxn>
                  <a:cxn ang="0">
                    <a:pos x="T4" y="T5"/>
                  </a:cxn>
                  <a:cxn ang="0">
                    <a:pos x="T6" y="T7"/>
                  </a:cxn>
                  <a:cxn ang="0">
                    <a:pos x="T8" y="T9"/>
                  </a:cxn>
                </a:cxnLst>
                <a:rect l="0" t="0" r="r" b="b"/>
                <a:pathLst>
                  <a:path w="22" h="34">
                    <a:moveTo>
                      <a:pt x="1" y="15"/>
                    </a:moveTo>
                    <a:cubicBezTo>
                      <a:pt x="0" y="24"/>
                      <a:pt x="3" y="32"/>
                      <a:pt x="8" y="33"/>
                    </a:cubicBezTo>
                    <a:cubicBezTo>
                      <a:pt x="14" y="34"/>
                      <a:pt x="19" y="27"/>
                      <a:pt x="21" y="18"/>
                    </a:cubicBezTo>
                    <a:cubicBezTo>
                      <a:pt x="22" y="10"/>
                      <a:pt x="19" y="2"/>
                      <a:pt x="14" y="1"/>
                    </a:cubicBezTo>
                    <a:cubicBezTo>
                      <a:pt x="8" y="0"/>
                      <a:pt x="3" y="6"/>
                      <a:pt x="1"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06" name="任意多边形 146"/>
              <p:cNvSpPr/>
              <p:nvPr/>
            </p:nvSpPr>
            <p:spPr bwMode="auto">
              <a:xfrm>
                <a:off x="6101332" y="3510634"/>
                <a:ext cx="141299" cy="215946"/>
              </a:xfrm>
              <a:custGeom>
                <a:avLst/>
                <a:gdLst>
                  <a:gd name="T0" fmla="*/ 1 w 22"/>
                  <a:gd name="T1" fmla="*/ 15 h 34"/>
                  <a:gd name="T2" fmla="*/ 8 w 22"/>
                  <a:gd name="T3" fmla="*/ 33 h 34"/>
                  <a:gd name="T4" fmla="*/ 21 w 22"/>
                  <a:gd name="T5" fmla="*/ 19 h 34"/>
                  <a:gd name="T6" fmla="*/ 14 w 22"/>
                  <a:gd name="T7" fmla="*/ 1 h 34"/>
                  <a:gd name="T8" fmla="*/ 1 w 22"/>
                  <a:gd name="T9" fmla="*/ 15 h 34"/>
                </a:gdLst>
                <a:ahLst/>
                <a:cxnLst>
                  <a:cxn ang="0">
                    <a:pos x="T0" y="T1"/>
                  </a:cxn>
                  <a:cxn ang="0">
                    <a:pos x="T2" y="T3"/>
                  </a:cxn>
                  <a:cxn ang="0">
                    <a:pos x="T4" y="T5"/>
                  </a:cxn>
                  <a:cxn ang="0">
                    <a:pos x="T6" y="T7"/>
                  </a:cxn>
                  <a:cxn ang="0">
                    <a:pos x="T8" y="T9"/>
                  </a:cxn>
                </a:cxnLst>
                <a:rect l="0" t="0" r="r" b="b"/>
                <a:pathLst>
                  <a:path w="22" h="34">
                    <a:moveTo>
                      <a:pt x="1" y="15"/>
                    </a:moveTo>
                    <a:cubicBezTo>
                      <a:pt x="0" y="24"/>
                      <a:pt x="3" y="32"/>
                      <a:pt x="8" y="33"/>
                    </a:cubicBezTo>
                    <a:cubicBezTo>
                      <a:pt x="14" y="34"/>
                      <a:pt x="19" y="27"/>
                      <a:pt x="21" y="19"/>
                    </a:cubicBezTo>
                    <a:cubicBezTo>
                      <a:pt x="22" y="10"/>
                      <a:pt x="19" y="2"/>
                      <a:pt x="14" y="1"/>
                    </a:cubicBezTo>
                    <a:cubicBezTo>
                      <a:pt x="8" y="0"/>
                      <a:pt x="2" y="6"/>
                      <a:pt x="1" y="15"/>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07" name="任意多边形 147"/>
              <p:cNvSpPr/>
              <p:nvPr/>
            </p:nvSpPr>
            <p:spPr bwMode="auto">
              <a:xfrm>
                <a:off x="6431915" y="3566621"/>
                <a:ext cx="386570" cy="469215"/>
              </a:xfrm>
              <a:custGeom>
                <a:avLst/>
                <a:gdLst>
                  <a:gd name="T0" fmla="*/ 6 w 61"/>
                  <a:gd name="T1" fmla="*/ 32 h 74"/>
                  <a:gd name="T2" fmla="*/ 19 w 61"/>
                  <a:gd name="T3" fmla="*/ 71 h 74"/>
                  <a:gd name="T4" fmla="*/ 55 w 61"/>
                  <a:gd name="T5" fmla="*/ 42 h 74"/>
                  <a:gd name="T6" fmla="*/ 42 w 61"/>
                  <a:gd name="T7" fmla="*/ 3 h 74"/>
                  <a:gd name="T8" fmla="*/ 6 w 61"/>
                  <a:gd name="T9" fmla="*/ 32 h 74"/>
                </a:gdLst>
                <a:ahLst/>
                <a:cxnLst>
                  <a:cxn ang="0">
                    <a:pos x="T0" y="T1"/>
                  </a:cxn>
                  <a:cxn ang="0">
                    <a:pos x="T2" y="T3"/>
                  </a:cxn>
                  <a:cxn ang="0">
                    <a:pos x="T4" y="T5"/>
                  </a:cxn>
                  <a:cxn ang="0">
                    <a:pos x="T6" y="T7"/>
                  </a:cxn>
                  <a:cxn ang="0">
                    <a:pos x="T8" y="T9"/>
                  </a:cxn>
                </a:cxnLst>
                <a:rect l="0" t="0" r="r" b="b"/>
                <a:pathLst>
                  <a:path w="61" h="74">
                    <a:moveTo>
                      <a:pt x="6" y="32"/>
                    </a:moveTo>
                    <a:cubicBezTo>
                      <a:pt x="0" y="51"/>
                      <a:pt x="6" y="69"/>
                      <a:pt x="19" y="71"/>
                    </a:cubicBezTo>
                    <a:cubicBezTo>
                      <a:pt x="33" y="74"/>
                      <a:pt x="48" y="61"/>
                      <a:pt x="55" y="42"/>
                    </a:cubicBezTo>
                    <a:cubicBezTo>
                      <a:pt x="61" y="23"/>
                      <a:pt x="55" y="6"/>
                      <a:pt x="42" y="3"/>
                    </a:cubicBezTo>
                    <a:cubicBezTo>
                      <a:pt x="28" y="0"/>
                      <a:pt x="12" y="13"/>
                      <a:pt x="6" y="32"/>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08" name="任意多边形 148"/>
              <p:cNvSpPr/>
              <p:nvPr/>
            </p:nvSpPr>
            <p:spPr bwMode="auto">
              <a:xfrm>
                <a:off x="5360185" y="2433572"/>
                <a:ext cx="1503621" cy="1261017"/>
              </a:xfrm>
              <a:custGeom>
                <a:avLst/>
                <a:gdLst>
                  <a:gd name="T0" fmla="*/ 176 w 237"/>
                  <a:gd name="T1" fmla="*/ 110 h 199"/>
                  <a:gd name="T2" fmla="*/ 17 w 237"/>
                  <a:gd name="T3" fmla="*/ 120 h 199"/>
                  <a:gd name="T4" fmla="*/ 28 w 237"/>
                  <a:gd name="T5" fmla="*/ 23 h 199"/>
                  <a:gd name="T6" fmla="*/ 203 w 237"/>
                  <a:gd name="T7" fmla="*/ 52 h 199"/>
                  <a:gd name="T8" fmla="*/ 237 w 237"/>
                  <a:gd name="T9" fmla="*/ 119 h 199"/>
                  <a:gd name="T10" fmla="*/ 206 w 237"/>
                  <a:gd name="T11" fmla="*/ 185 h 199"/>
                  <a:gd name="T12" fmla="*/ 184 w 237"/>
                  <a:gd name="T13" fmla="*/ 199 h 199"/>
                  <a:gd name="T14" fmla="*/ 175 w 237"/>
                  <a:gd name="T15" fmla="*/ 178 h 199"/>
                  <a:gd name="T16" fmla="*/ 176 w 237"/>
                  <a:gd name="T17" fmla="*/ 11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99">
                    <a:moveTo>
                      <a:pt x="176" y="110"/>
                    </a:moveTo>
                    <a:cubicBezTo>
                      <a:pt x="176" y="110"/>
                      <a:pt x="116" y="128"/>
                      <a:pt x="17" y="120"/>
                    </a:cubicBezTo>
                    <a:cubicBezTo>
                      <a:pt x="5" y="118"/>
                      <a:pt x="0" y="19"/>
                      <a:pt x="28" y="23"/>
                    </a:cubicBezTo>
                    <a:cubicBezTo>
                      <a:pt x="109" y="32"/>
                      <a:pt x="166" y="0"/>
                      <a:pt x="203" y="52"/>
                    </a:cubicBezTo>
                    <a:cubicBezTo>
                      <a:pt x="203" y="52"/>
                      <a:pt x="237" y="62"/>
                      <a:pt x="237" y="119"/>
                    </a:cubicBezTo>
                    <a:cubicBezTo>
                      <a:pt x="237" y="149"/>
                      <a:pt x="206" y="185"/>
                      <a:pt x="206" y="185"/>
                    </a:cubicBezTo>
                    <a:cubicBezTo>
                      <a:pt x="206" y="185"/>
                      <a:pt x="194" y="185"/>
                      <a:pt x="184" y="199"/>
                    </a:cubicBezTo>
                    <a:cubicBezTo>
                      <a:pt x="184" y="199"/>
                      <a:pt x="180" y="188"/>
                      <a:pt x="175" y="178"/>
                    </a:cubicBezTo>
                    <a:cubicBezTo>
                      <a:pt x="175" y="178"/>
                      <a:pt x="162" y="145"/>
                      <a:pt x="176" y="110"/>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09" name="任意多边形 149"/>
              <p:cNvSpPr/>
              <p:nvPr/>
            </p:nvSpPr>
            <p:spPr bwMode="auto">
              <a:xfrm>
                <a:off x="5576130" y="3897204"/>
                <a:ext cx="445222" cy="213280"/>
              </a:xfrm>
              <a:custGeom>
                <a:avLst/>
                <a:gdLst>
                  <a:gd name="T0" fmla="*/ 46 w 70"/>
                  <a:gd name="T1" fmla="*/ 21 h 34"/>
                  <a:gd name="T2" fmla="*/ 62 w 70"/>
                  <a:gd name="T3" fmla="*/ 27 h 34"/>
                  <a:gd name="T4" fmla="*/ 70 w 70"/>
                  <a:gd name="T5" fmla="*/ 7 h 34"/>
                  <a:gd name="T6" fmla="*/ 29 w 70"/>
                  <a:gd name="T7" fmla="*/ 10 h 34"/>
                  <a:gd name="T8" fmla="*/ 2 w 70"/>
                  <a:gd name="T9" fmla="*/ 0 h 34"/>
                  <a:gd name="T10" fmla="*/ 15 w 70"/>
                  <a:gd name="T11" fmla="*/ 34 h 34"/>
                  <a:gd name="T12" fmla="*/ 46 w 70"/>
                  <a:gd name="T13" fmla="*/ 21 h 34"/>
                </a:gdLst>
                <a:ahLst/>
                <a:cxnLst>
                  <a:cxn ang="0">
                    <a:pos x="T0" y="T1"/>
                  </a:cxn>
                  <a:cxn ang="0">
                    <a:pos x="T2" y="T3"/>
                  </a:cxn>
                  <a:cxn ang="0">
                    <a:pos x="T4" y="T5"/>
                  </a:cxn>
                  <a:cxn ang="0">
                    <a:pos x="T6" y="T7"/>
                  </a:cxn>
                  <a:cxn ang="0">
                    <a:pos x="T8" y="T9"/>
                  </a:cxn>
                  <a:cxn ang="0">
                    <a:pos x="T10" y="T11"/>
                  </a:cxn>
                  <a:cxn ang="0">
                    <a:pos x="T12" y="T13"/>
                  </a:cxn>
                </a:cxnLst>
                <a:rect l="0" t="0" r="r" b="b"/>
                <a:pathLst>
                  <a:path w="70" h="34">
                    <a:moveTo>
                      <a:pt x="46" y="21"/>
                    </a:moveTo>
                    <a:cubicBezTo>
                      <a:pt x="53" y="22"/>
                      <a:pt x="58" y="24"/>
                      <a:pt x="62" y="27"/>
                    </a:cubicBezTo>
                    <a:cubicBezTo>
                      <a:pt x="68" y="18"/>
                      <a:pt x="70" y="7"/>
                      <a:pt x="70" y="7"/>
                    </a:cubicBezTo>
                    <a:cubicBezTo>
                      <a:pt x="70" y="7"/>
                      <a:pt x="45" y="13"/>
                      <a:pt x="29" y="10"/>
                    </a:cubicBezTo>
                    <a:cubicBezTo>
                      <a:pt x="14" y="6"/>
                      <a:pt x="2" y="0"/>
                      <a:pt x="2" y="0"/>
                    </a:cubicBezTo>
                    <a:cubicBezTo>
                      <a:pt x="2" y="0"/>
                      <a:pt x="0" y="22"/>
                      <a:pt x="15" y="34"/>
                    </a:cubicBezTo>
                    <a:cubicBezTo>
                      <a:pt x="21" y="26"/>
                      <a:pt x="30" y="19"/>
                      <a:pt x="46" y="21"/>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0" name="任意多边形 150"/>
              <p:cNvSpPr/>
              <p:nvPr/>
            </p:nvSpPr>
            <p:spPr bwMode="auto">
              <a:xfrm>
                <a:off x="5672106" y="4017173"/>
                <a:ext cx="295926" cy="143964"/>
              </a:xfrm>
              <a:custGeom>
                <a:avLst/>
                <a:gdLst>
                  <a:gd name="T0" fmla="*/ 47 w 47"/>
                  <a:gd name="T1" fmla="*/ 8 h 23"/>
                  <a:gd name="T2" fmla="*/ 31 w 47"/>
                  <a:gd name="T3" fmla="*/ 2 h 23"/>
                  <a:gd name="T4" fmla="*/ 0 w 47"/>
                  <a:gd name="T5" fmla="*/ 15 h 23"/>
                  <a:gd name="T6" fmla="*/ 16 w 47"/>
                  <a:gd name="T7" fmla="*/ 21 h 23"/>
                  <a:gd name="T8" fmla="*/ 47 w 47"/>
                  <a:gd name="T9" fmla="*/ 8 h 23"/>
                </a:gdLst>
                <a:ahLst/>
                <a:cxnLst>
                  <a:cxn ang="0">
                    <a:pos x="T0" y="T1"/>
                  </a:cxn>
                  <a:cxn ang="0">
                    <a:pos x="T2" y="T3"/>
                  </a:cxn>
                  <a:cxn ang="0">
                    <a:pos x="T4" y="T5"/>
                  </a:cxn>
                  <a:cxn ang="0">
                    <a:pos x="T6" y="T7"/>
                  </a:cxn>
                  <a:cxn ang="0">
                    <a:pos x="T8" y="T9"/>
                  </a:cxn>
                </a:cxnLst>
                <a:rect l="0" t="0" r="r" b="b"/>
                <a:pathLst>
                  <a:path w="47" h="23">
                    <a:moveTo>
                      <a:pt x="47" y="8"/>
                    </a:moveTo>
                    <a:cubicBezTo>
                      <a:pt x="43" y="5"/>
                      <a:pt x="38" y="3"/>
                      <a:pt x="31" y="2"/>
                    </a:cubicBezTo>
                    <a:cubicBezTo>
                      <a:pt x="15" y="0"/>
                      <a:pt x="6" y="7"/>
                      <a:pt x="0" y="15"/>
                    </a:cubicBezTo>
                    <a:cubicBezTo>
                      <a:pt x="4" y="18"/>
                      <a:pt x="10" y="20"/>
                      <a:pt x="16" y="21"/>
                    </a:cubicBezTo>
                    <a:cubicBezTo>
                      <a:pt x="32" y="23"/>
                      <a:pt x="41" y="16"/>
                      <a:pt x="47" y="8"/>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1" name="任意多边形 151"/>
              <p:cNvSpPr/>
              <p:nvPr/>
            </p:nvSpPr>
            <p:spPr bwMode="auto">
              <a:xfrm>
                <a:off x="6248965" y="4694336"/>
                <a:ext cx="719031" cy="445400"/>
              </a:xfrm>
              <a:custGeom>
                <a:avLst/>
                <a:gdLst>
                  <a:gd name="connsiteX0" fmla="*/ 116634 w 428156"/>
                  <a:gd name="connsiteY0" fmla="*/ 0 h 265219"/>
                  <a:gd name="connsiteX1" fmla="*/ 384967 w 428156"/>
                  <a:gd name="connsiteY1" fmla="*/ 86616 h 265219"/>
                  <a:gd name="connsiteX2" fmla="*/ 407998 w 428156"/>
                  <a:gd name="connsiteY2" fmla="*/ 114684 h 265219"/>
                  <a:gd name="connsiteX3" fmla="*/ 428156 w 428156"/>
                  <a:gd name="connsiteY3" fmla="*/ 141734 h 265219"/>
                  <a:gd name="connsiteX4" fmla="*/ 361246 w 428156"/>
                  <a:gd name="connsiteY4" fmla="*/ 173843 h 265219"/>
                  <a:gd name="connsiteX5" fmla="*/ 3361 w 428156"/>
                  <a:gd name="connsiteY5" fmla="*/ 265050 h 265219"/>
                  <a:gd name="connsiteX6" fmla="*/ 0 w 428156"/>
                  <a:gd name="connsiteY6" fmla="*/ 265219 h 265219"/>
                  <a:gd name="connsiteX7" fmla="*/ 17892 w 428156"/>
                  <a:gd name="connsiteY7" fmla="*/ 224535 h 265219"/>
                  <a:gd name="connsiteX8" fmla="*/ 116634 w 428156"/>
                  <a:gd name="connsiteY8" fmla="*/ 0 h 26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156" h="265219">
                    <a:moveTo>
                      <a:pt x="116634" y="0"/>
                    </a:moveTo>
                    <a:lnTo>
                      <a:pt x="384967" y="86616"/>
                    </a:lnTo>
                    <a:cubicBezTo>
                      <a:pt x="384967" y="86616"/>
                      <a:pt x="393471" y="96031"/>
                      <a:pt x="407998" y="114684"/>
                    </a:cubicBezTo>
                    <a:lnTo>
                      <a:pt x="428156" y="141734"/>
                    </a:lnTo>
                    <a:lnTo>
                      <a:pt x="361246" y="173843"/>
                    </a:lnTo>
                    <a:cubicBezTo>
                      <a:pt x="249356" y="220988"/>
                      <a:pt x="129121" y="252327"/>
                      <a:pt x="3361" y="265050"/>
                    </a:cubicBezTo>
                    <a:lnTo>
                      <a:pt x="0" y="265219"/>
                    </a:lnTo>
                    <a:lnTo>
                      <a:pt x="17892" y="224535"/>
                    </a:lnTo>
                    <a:cubicBezTo>
                      <a:pt x="116634" y="0"/>
                      <a:pt x="116634" y="0"/>
                      <a:pt x="116634" y="0"/>
                    </a:cubicBezTo>
                    <a:close/>
                  </a:path>
                </a:pathLst>
              </a:custGeom>
              <a:solidFill>
                <a:srgbClr val="B3D4FE"/>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zh-CN" altLang="en-US">
                  <a:latin typeface="微软雅黑"/>
                  <a:ea typeface="微软雅黑"/>
                  <a:cs typeface="微软雅黑"/>
                </a:endParaRPr>
              </a:p>
            </p:txBody>
          </p:sp>
          <p:sp>
            <p:nvSpPr>
              <p:cNvPr id="312" name="任意多边形 152"/>
              <p:cNvSpPr/>
              <p:nvPr/>
            </p:nvSpPr>
            <p:spPr bwMode="auto">
              <a:xfrm>
                <a:off x="5640114" y="3441318"/>
                <a:ext cx="37324" cy="55987"/>
              </a:xfrm>
              <a:custGeom>
                <a:avLst/>
                <a:gdLst>
                  <a:gd name="T0" fmla="*/ 6 w 6"/>
                  <a:gd name="T1" fmla="*/ 5 h 9"/>
                  <a:gd name="T2" fmla="*/ 4 w 6"/>
                  <a:gd name="T3" fmla="*/ 1 h 9"/>
                  <a:gd name="T4" fmla="*/ 1 w 6"/>
                  <a:gd name="T5" fmla="*/ 4 h 9"/>
                  <a:gd name="T6" fmla="*/ 2 w 6"/>
                  <a:gd name="T7" fmla="*/ 8 h 9"/>
                  <a:gd name="T8" fmla="*/ 6 w 6"/>
                  <a:gd name="T9" fmla="*/ 5 h 9"/>
                </a:gdLst>
                <a:ahLst/>
                <a:cxnLst>
                  <a:cxn ang="0">
                    <a:pos x="T0" y="T1"/>
                  </a:cxn>
                  <a:cxn ang="0">
                    <a:pos x="T2" y="T3"/>
                  </a:cxn>
                  <a:cxn ang="0">
                    <a:pos x="T4" y="T5"/>
                  </a:cxn>
                  <a:cxn ang="0">
                    <a:pos x="T6" y="T7"/>
                  </a:cxn>
                  <a:cxn ang="0">
                    <a:pos x="T8" y="T9"/>
                  </a:cxn>
                </a:cxnLst>
                <a:rect l="0" t="0" r="r" b="b"/>
                <a:pathLst>
                  <a:path w="6" h="9">
                    <a:moveTo>
                      <a:pt x="6" y="5"/>
                    </a:moveTo>
                    <a:cubicBezTo>
                      <a:pt x="6" y="3"/>
                      <a:pt x="6" y="1"/>
                      <a:pt x="4" y="1"/>
                    </a:cubicBezTo>
                    <a:cubicBezTo>
                      <a:pt x="3" y="0"/>
                      <a:pt x="1" y="2"/>
                      <a:pt x="1" y="4"/>
                    </a:cubicBezTo>
                    <a:cubicBezTo>
                      <a:pt x="0" y="6"/>
                      <a:pt x="1" y="8"/>
                      <a:pt x="2" y="8"/>
                    </a:cubicBezTo>
                    <a:cubicBezTo>
                      <a:pt x="3" y="9"/>
                      <a:pt x="5" y="7"/>
                      <a:pt x="6"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313" name="任意多边形 153"/>
              <p:cNvSpPr/>
              <p:nvPr/>
            </p:nvSpPr>
            <p:spPr bwMode="auto">
              <a:xfrm>
                <a:off x="5650778" y="3473310"/>
                <a:ext cx="26660" cy="37324"/>
              </a:xfrm>
              <a:custGeom>
                <a:avLst/>
                <a:gdLst>
                  <a:gd name="T0" fmla="*/ 4 w 4"/>
                  <a:gd name="T1" fmla="*/ 4 h 6"/>
                  <a:gd name="T2" fmla="*/ 3 w 4"/>
                  <a:gd name="T3" fmla="*/ 1 h 6"/>
                  <a:gd name="T4" fmla="*/ 0 w 4"/>
                  <a:gd name="T5" fmla="*/ 3 h 6"/>
                  <a:gd name="T6" fmla="*/ 1 w 4"/>
                  <a:gd name="T7" fmla="*/ 6 h 6"/>
                  <a:gd name="T8" fmla="*/ 4 w 4"/>
                  <a:gd name="T9" fmla="*/ 4 h 6"/>
                </a:gdLst>
                <a:ahLst/>
                <a:cxnLst>
                  <a:cxn ang="0">
                    <a:pos x="T0" y="T1"/>
                  </a:cxn>
                  <a:cxn ang="0">
                    <a:pos x="T2" y="T3"/>
                  </a:cxn>
                  <a:cxn ang="0">
                    <a:pos x="T4" y="T5"/>
                  </a:cxn>
                  <a:cxn ang="0">
                    <a:pos x="T6" y="T7"/>
                  </a:cxn>
                  <a:cxn ang="0">
                    <a:pos x="T8" y="T9"/>
                  </a:cxn>
                </a:cxnLst>
                <a:rect l="0" t="0" r="r" b="b"/>
                <a:pathLst>
                  <a:path w="4" h="6">
                    <a:moveTo>
                      <a:pt x="4" y="4"/>
                    </a:moveTo>
                    <a:cubicBezTo>
                      <a:pt x="4" y="2"/>
                      <a:pt x="4" y="1"/>
                      <a:pt x="3" y="1"/>
                    </a:cubicBezTo>
                    <a:cubicBezTo>
                      <a:pt x="2" y="0"/>
                      <a:pt x="1" y="1"/>
                      <a:pt x="0" y="3"/>
                    </a:cubicBezTo>
                    <a:cubicBezTo>
                      <a:pt x="0" y="4"/>
                      <a:pt x="0" y="6"/>
                      <a:pt x="1" y="6"/>
                    </a:cubicBezTo>
                    <a:cubicBezTo>
                      <a:pt x="2" y="6"/>
                      <a:pt x="3" y="5"/>
                      <a:pt x="4" y="4"/>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4" name="任意多边形 154"/>
              <p:cNvSpPr/>
              <p:nvPr/>
            </p:nvSpPr>
            <p:spPr bwMode="auto">
              <a:xfrm>
                <a:off x="6141321" y="3542626"/>
                <a:ext cx="37324" cy="50655"/>
              </a:xfrm>
              <a:custGeom>
                <a:avLst/>
                <a:gdLst>
                  <a:gd name="T0" fmla="*/ 6 w 6"/>
                  <a:gd name="T1" fmla="*/ 5 h 8"/>
                  <a:gd name="T2" fmla="*/ 4 w 6"/>
                  <a:gd name="T3" fmla="*/ 1 h 8"/>
                  <a:gd name="T4" fmla="*/ 1 w 6"/>
                  <a:gd name="T5" fmla="*/ 4 h 8"/>
                  <a:gd name="T6" fmla="*/ 2 w 6"/>
                  <a:gd name="T7" fmla="*/ 8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6" y="3"/>
                      <a:pt x="6" y="1"/>
                      <a:pt x="4" y="1"/>
                    </a:cubicBezTo>
                    <a:cubicBezTo>
                      <a:pt x="3" y="0"/>
                      <a:pt x="2" y="1"/>
                      <a:pt x="1" y="4"/>
                    </a:cubicBezTo>
                    <a:cubicBezTo>
                      <a:pt x="0" y="6"/>
                      <a:pt x="1" y="8"/>
                      <a:pt x="2" y="8"/>
                    </a:cubicBezTo>
                    <a:cubicBezTo>
                      <a:pt x="3" y="8"/>
                      <a:pt x="5" y="7"/>
                      <a:pt x="6" y="5"/>
                    </a:cubicBez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zh-CN" altLang="en-US">
                  <a:latin typeface="微软雅黑"/>
                  <a:ea typeface="微软雅黑"/>
                  <a:cs typeface="微软雅黑"/>
                </a:endParaRPr>
              </a:p>
            </p:txBody>
          </p:sp>
          <p:sp>
            <p:nvSpPr>
              <p:cNvPr id="315" name="任意多边形 155"/>
              <p:cNvSpPr/>
              <p:nvPr/>
            </p:nvSpPr>
            <p:spPr bwMode="auto">
              <a:xfrm>
                <a:off x="6151985" y="3574618"/>
                <a:ext cx="26660" cy="37324"/>
              </a:xfrm>
              <a:custGeom>
                <a:avLst/>
                <a:gdLst>
                  <a:gd name="T0" fmla="*/ 4 w 4"/>
                  <a:gd name="T1" fmla="*/ 4 h 6"/>
                  <a:gd name="T2" fmla="*/ 3 w 4"/>
                  <a:gd name="T3" fmla="*/ 0 h 6"/>
                  <a:gd name="T4" fmla="*/ 0 w 4"/>
                  <a:gd name="T5" fmla="*/ 3 h 6"/>
                  <a:gd name="T6" fmla="*/ 1 w 4"/>
                  <a:gd name="T7" fmla="*/ 6 h 6"/>
                  <a:gd name="T8" fmla="*/ 4 w 4"/>
                  <a:gd name="T9" fmla="*/ 4 h 6"/>
                </a:gdLst>
                <a:ahLst/>
                <a:cxnLst>
                  <a:cxn ang="0">
                    <a:pos x="T0" y="T1"/>
                  </a:cxn>
                  <a:cxn ang="0">
                    <a:pos x="T2" y="T3"/>
                  </a:cxn>
                  <a:cxn ang="0">
                    <a:pos x="T4" y="T5"/>
                  </a:cxn>
                  <a:cxn ang="0">
                    <a:pos x="T6" y="T7"/>
                  </a:cxn>
                  <a:cxn ang="0">
                    <a:pos x="T8" y="T9"/>
                  </a:cxn>
                </a:cxnLst>
                <a:rect l="0" t="0" r="r" b="b"/>
                <a:pathLst>
                  <a:path w="4" h="6">
                    <a:moveTo>
                      <a:pt x="4" y="4"/>
                    </a:moveTo>
                    <a:cubicBezTo>
                      <a:pt x="4" y="2"/>
                      <a:pt x="4" y="1"/>
                      <a:pt x="3" y="0"/>
                    </a:cubicBezTo>
                    <a:cubicBezTo>
                      <a:pt x="2" y="0"/>
                      <a:pt x="1" y="1"/>
                      <a:pt x="0" y="3"/>
                    </a:cubicBezTo>
                    <a:cubicBezTo>
                      <a:pt x="0" y="4"/>
                      <a:pt x="0" y="6"/>
                      <a:pt x="1" y="6"/>
                    </a:cubicBezTo>
                    <a:cubicBezTo>
                      <a:pt x="2" y="6"/>
                      <a:pt x="3" y="5"/>
                      <a:pt x="4" y="4"/>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6" name="任意多边形 156"/>
              <p:cNvSpPr/>
              <p:nvPr/>
            </p:nvSpPr>
            <p:spPr bwMode="auto">
              <a:xfrm>
                <a:off x="5581462" y="3294689"/>
                <a:ext cx="183955" cy="63984"/>
              </a:xfrm>
              <a:custGeom>
                <a:avLst/>
                <a:gdLst>
                  <a:gd name="T0" fmla="*/ 2 w 29"/>
                  <a:gd name="T1" fmla="*/ 9 h 10"/>
                  <a:gd name="T2" fmla="*/ 4 w 29"/>
                  <a:gd name="T3" fmla="*/ 10 h 10"/>
                  <a:gd name="T4" fmla="*/ 26 w 29"/>
                  <a:gd name="T5" fmla="*/ 9 h 10"/>
                  <a:gd name="T6" fmla="*/ 29 w 29"/>
                  <a:gd name="T7" fmla="*/ 7 h 10"/>
                  <a:gd name="T8" fmla="*/ 27 w 29"/>
                  <a:gd name="T9" fmla="*/ 4 h 10"/>
                  <a:gd name="T10" fmla="*/ 2 w 29"/>
                  <a:gd name="T11" fmla="*/ 5 h 10"/>
                  <a:gd name="T12" fmla="*/ 1 w 29"/>
                  <a:gd name="T13" fmla="*/ 8 h 10"/>
                  <a:gd name="T14" fmla="*/ 2 w 29"/>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0">
                    <a:moveTo>
                      <a:pt x="2" y="9"/>
                    </a:moveTo>
                    <a:cubicBezTo>
                      <a:pt x="3" y="10"/>
                      <a:pt x="3" y="10"/>
                      <a:pt x="4" y="10"/>
                    </a:cubicBezTo>
                    <a:cubicBezTo>
                      <a:pt x="15" y="5"/>
                      <a:pt x="26" y="9"/>
                      <a:pt x="26" y="9"/>
                    </a:cubicBezTo>
                    <a:cubicBezTo>
                      <a:pt x="27" y="9"/>
                      <a:pt x="28" y="8"/>
                      <a:pt x="29" y="7"/>
                    </a:cubicBezTo>
                    <a:cubicBezTo>
                      <a:pt x="29" y="6"/>
                      <a:pt x="28" y="5"/>
                      <a:pt x="27" y="4"/>
                    </a:cubicBezTo>
                    <a:cubicBezTo>
                      <a:pt x="27" y="4"/>
                      <a:pt x="15" y="0"/>
                      <a:pt x="2" y="5"/>
                    </a:cubicBezTo>
                    <a:cubicBezTo>
                      <a:pt x="1" y="6"/>
                      <a:pt x="0" y="7"/>
                      <a:pt x="1" y="8"/>
                    </a:cubicBezTo>
                    <a:cubicBezTo>
                      <a:pt x="1" y="9"/>
                      <a:pt x="2" y="9"/>
                      <a:pt x="2" y="9"/>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7" name="任意多边形 157"/>
              <p:cNvSpPr/>
              <p:nvPr/>
            </p:nvSpPr>
            <p:spPr bwMode="auto">
              <a:xfrm>
                <a:off x="6159984" y="3382666"/>
                <a:ext cx="165292" cy="90644"/>
              </a:xfrm>
              <a:custGeom>
                <a:avLst/>
                <a:gdLst>
                  <a:gd name="T0" fmla="*/ 25 w 26"/>
                  <a:gd name="T1" fmla="*/ 13 h 14"/>
                  <a:gd name="T2" fmla="*/ 26 w 26"/>
                  <a:gd name="T3" fmla="*/ 13 h 14"/>
                  <a:gd name="T4" fmla="*/ 25 w 26"/>
                  <a:gd name="T5" fmla="*/ 9 h 14"/>
                  <a:gd name="T6" fmla="*/ 2 w 26"/>
                  <a:gd name="T7" fmla="*/ 0 h 14"/>
                  <a:gd name="T8" fmla="*/ 0 w 26"/>
                  <a:gd name="T9" fmla="*/ 2 h 14"/>
                  <a:gd name="T10" fmla="*/ 2 w 26"/>
                  <a:gd name="T11" fmla="*/ 5 h 14"/>
                  <a:gd name="T12" fmla="*/ 22 w 26"/>
                  <a:gd name="T13" fmla="*/ 13 h 14"/>
                  <a:gd name="T14" fmla="*/ 25 w 26"/>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4">
                    <a:moveTo>
                      <a:pt x="25" y="13"/>
                    </a:moveTo>
                    <a:cubicBezTo>
                      <a:pt x="25" y="13"/>
                      <a:pt x="25" y="13"/>
                      <a:pt x="26" y="13"/>
                    </a:cubicBezTo>
                    <a:cubicBezTo>
                      <a:pt x="26" y="12"/>
                      <a:pt x="26" y="10"/>
                      <a:pt x="25" y="9"/>
                    </a:cubicBezTo>
                    <a:cubicBezTo>
                      <a:pt x="15" y="0"/>
                      <a:pt x="3" y="0"/>
                      <a:pt x="2" y="0"/>
                    </a:cubicBezTo>
                    <a:cubicBezTo>
                      <a:pt x="1" y="0"/>
                      <a:pt x="0" y="1"/>
                      <a:pt x="0" y="2"/>
                    </a:cubicBezTo>
                    <a:cubicBezTo>
                      <a:pt x="0" y="4"/>
                      <a:pt x="1" y="5"/>
                      <a:pt x="2" y="5"/>
                    </a:cubicBezTo>
                    <a:cubicBezTo>
                      <a:pt x="2" y="5"/>
                      <a:pt x="14" y="5"/>
                      <a:pt x="22" y="13"/>
                    </a:cubicBezTo>
                    <a:cubicBezTo>
                      <a:pt x="23" y="13"/>
                      <a:pt x="24" y="14"/>
                      <a:pt x="25" y="13"/>
                    </a:cubicBezTo>
                    <a:close/>
                  </a:path>
                </a:pathLst>
              </a:custGeom>
              <a:solidFill>
                <a:srgbClr val="0042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8" name="任意多边形 158"/>
              <p:cNvSpPr/>
              <p:nvPr/>
            </p:nvSpPr>
            <p:spPr bwMode="auto">
              <a:xfrm>
                <a:off x="5714762" y="3459981"/>
                <a:ext cx="178623" cy="295926"/>
              </a:xfrm>
              <a:custGeom>
                <a:avLst/>
                <a:gdLst>
                  <a:gd name="T0" fmla="*/ 13 w 28"/>
                  <a:gd name="T1" fmla="*/ 47 h 47"/>
                  <a:gd name="T2" fmla="*/ 15 w 28"/>
                  <a:gd name="T3" fmla="*/ 46 h 47"/>
                  <a:gd name="T4" fmla="*/ 14 w 28"/>
                  <a:gd name="T5" fmla="*/ 43 h 47"/>
                  <a:gd name="T6" fmla="*/ 5 w 28"/>
                  <a:gd name="T7" fmla="*/ 39 h 47"/>
                  <a:gd name="T8" fmla="*/ 4 w 28"/>
                  <a:gd name="T9" fmla="*/ 34 h 47"/>
                  <a:gd name="T10" fmla="*/ 7 w 28"/>
                  <a:gd name="T11" fmla="*/ 31 h 47"/>
                  <a:gd name="T12" fmla="*/ 15 w 28"/>
                  <a:gd name="T13" fmla="*/ 32 h 47"/>
                  <a:gd name="T14" fmla="*/ 17 w 28"/>
                  <a:gd name="T15" fmla="*/ 32 h 47"/>
                  <a:gd name="T16" fmla="*/ 18 w 28"/>
                  <a:gd name="T17" fmla="*/ 31 h 47"/>
                  <a:gd name="T18" fmla="*/ 27 w 28"/>
                  <a:gd name="T19" fmla="*/ 3 h 47"/>
                  <a:gd name="T20" fmla="*/ 26 w 28"/>
                  <a:gd name="T21" fmla="*/ 1 h 47"/>
                  <a:gd name="T22" fmla="*/ 24 w 28"/>
                  <a:gd name="T23" fmla="*/ 2 h 47"/>
                  <a:gd name="T24" fmla="*/ 15 w 28"/>
                  <a:gd name="T25" fmla="*/ 27 h 47"/>
                  <a:gd name="T26" fmla="*/ 6 w 28"/>
                  <a:gd name="T27" fmla="*/ 27 h 47"/>
                  <a:gd name="T28" fmla="*/ 1 w 28"/>
                  <a:gd name="T29" fmla="*/ 33 h 47"/>
                  <a:gd name="T30" fmla="*/ 1 w 28"/>
                  <a:gd name="T31" fmla="*/ 41 h 47"/>
                  <a:gd name="T32" fmla="*/ 13 w 28"/>
                  <a:gd name="T33" fmla="*/ 47 h 47"/>
                  <a:gd name="T34" fmla="*/ 13 w 28"/>
                  <a:gd name="T3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7">
                    <a:moveTo>
                      <a:pt x="13" y="47"/>
                    </a:moveTo>
                    <a:cubicBezTo>
                      <a:pt x="14" y="47"/>
                      <a:pt x="15" y="47"/>
                      <a:pt x="15" y="46"/>
                    </a:cubicBezTo>
                    <a:cubicBezTo>
                      <a:pt x="15" y="45"/>
                      <a:pt x="15" y="44"/>
                      <a:pt x="14" y="43"/>
                    </a:cubicBezTo>
                    <a:cubicBezTo>
                      <a:pt x="12" y="43"/>
                      <a:pt x="7" y="42"/>
                      <a:pt x="5" y="39"/>
                    </a:cubicBezTo>
                    <a:cubicBezTo>
                      <a:pt x="4" y="38"/>
                      <a:pt x="4" y="36"/>
                      <a:pt x="4" y="34"/>
                    </a:cubicBezTo>
                    <a:cubicBezTo>
                      <a:pt x="5" y="32"/>
                      <a:pt x="6" y="31"/>
                      <a:pt x="7" y="31"/>
                    </a:cubicBezTo>
                    <a:cubicBezTo>
                      <a:pt x="10" y="30"/>
                      <a:pt x="14" y="31"/>
                      <a:pt x="15" y="32"/>
                    </a:cubicBezTo>
                    <a:cubicBezTo>
                      <a:pt x="16" y="32"/>
                      <a:pt x="17" y="32"/>
                      <a:pt x="17" y="32"/>
                    </a:cubicBezTo>
                    <a:cubicBezTo>
                      <a:pt x="18" y="32"/>
                      <a:pt x="18" y="31"/>
                      <a:pt x="18" y="31"/>
                    </a:cubicBezTo>
                    <a:cubicBezTo>
                      <a:pt x="27" y="3"/>
                      <a:pt x="27" y="3"/>
                      <a:pt x="27" y="3"/>
                    </a:cubicBezTo>
                    <a:cubicBezTo>
                      <a:pt x="28" y="2"/>
                      <a:pt x="27" y="1"/>
                      <a:pt x="26" y="1"/>
                    </a:cubicBezTo>
                    <a:cubicBezTo>
                      <a:pt x="25" y="0"/>
                      <a:pt x="24" y="1"/>
                      <a:pt x="24" y="2"/>
                    </a:cubicBezTo>
                    <a:cubicBezTo>
                      <a:pt x="15" y="27"/>
                      <a:pt x="15" y="27"/>
                      <a:pt x="15" y="27"/>
                    </a:cubicBezTo>
                    <a:cubicBezTo>
                      <a:pt x="13" y="27"/>
                      <a:pt x="9" y="26"/>
                      <a:pt x="6" y="27"/>
                    </a:cubicBezTo>
                    <a:cubicBezTo>
                      <a:pt x="3" y="28"/>
                      <a:pt x="2" y="30"/>
                      <a:pt x="1" y="33"/>
                    </a:cubicBezTo>
                    <a:cubicBezTo>
                      <a:pt x="0" y="36"/>
                      <a:pt x="0" y="39"/>
                      <a:pt x="1" y="41"/>
                    </a:cubicBezTo>
                    <a:cubicBezTo>
                      <a:pt x="5" y="46"/>
                      <a:pt x="13" y="47"/>
                      <a:pt x="13" y="47"/>
                    </a:cubicBezTo>
                    <a:cubicBezTo>
                      <a:pt x="13" y="47"/>
                      <a:pt x="13" y="47"/>
                      <a:pt x="13" y="47"/>
                    </a:cubicBezTo>
                    <a:close/>
                  </a:path>
                </a:pathLst>
              </a:custGeom>
              <a:solidFill>
                <a:srgbClr val="FF4200"/>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sp>
        <p:nvSpPr>
          <p:cNvPr id="319" name="文本框 318"/>
          <p:cNvSpPr txBox="1"/>
          <p:nvPr/>
        </p:nvSpPr>
        <p:spPr>
          <a:xfrm>
            <a:off x="1781175" y="3310255"/>
            <a:ext cx="74612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市场推广</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0" name="文本框 319"/>
          <p:cNvSpPr txBox="1"/>
          <p:nvPr/>
        </p:nvSpPr>
        <p:spPr>
          <a:xfrm>
            <a:off x="2831465" y="3109595"/>
            <a:ext cx="1097280"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获取产品信息</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1" name="文本框 320"/>
          <p:cNvSpPr txBox="1"/>
          <p:nvPr/>
        </p:nvSpPr>
        <p:spPr>
          <a:xfrm>
            <a:off x="2150110" y="2334260"/>
            <a:ext cx="73723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首次进店</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2" name="文本框 321"/>
          <p:cNvSpPr txBox="1"/>
          <p:nvPr/>
        </p:nvSpPr>
        <p:spPr>
          <a:xfrm>
            <a:off x="3472815" y="2243455"/>
            <a:ext cx="106997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确定销售方案</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3" name="文本框 322"/>
          <p:cNvSpPr txBox="1"/>
          <p:nvPr/>
        </p:nvSpPr>
        <p:spPr>
          <a:xfrm>
            <a:off x="4886325" y="2355850"/>
            <a:ext cx="74612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购买成交</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4" name="文本框 323"/>
          <p:cNvSpPr txBox="1"/>
          <p:nvPr/>
        </p:nvSpPr>
        <p:spPr>
          <a:xfrm>
            <a:off x="5576570" y="2739390"/>
            <a:ext cx="73723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加入会员</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5" name="文本框 324"/>
          <p:cNvSpPr txBox="1"/>
          <p:nvPr/>
        </p:nvSpPr>
        <p:spPr>
          <a:xfrm>
            <a:off x="6584950" y="2560320"/>
            <a:ext cx="73723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活动推送</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6" name="文本框 325"/>
          <p:cNvSpPr txBox="1"/>
          <p:nvPr/>
        </p:nvSpPr>
        <p:spPr>
          <a:xfrm>
            <a:off x="7691120" y="2943225"/>
            <a:ext cx="73723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二次购买</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7" name="文本框 326"/>
          <p:cNvSpPr txBox="1"/>
          <p:nvPr/>
        </p:nvSpPr>
        <p:spPr>
          <a:xfrm>
            <a:off x="8004810" y="2066290"/>
            <a:ext cx="73723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线上商城</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8" name="文本框 327"/>
          <p:cNvSpPr txBox="1"/>
          <p:nvPr/>
        </p:nvSpPr>
        <p:spPr>
          <a:xfrm>
            <a:off x="9307830" y="3115945"/>
            <a:ext cx="73723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激活卡券</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29" name="文本框 328"/>
          <p:cNvSpPr txBox="1"/>
          <p:nvPr/>
        </p:nvSpPr>
        <p:spPr>
          <a:xfrm>
            <a:off x="10855960" y="3062605"/>
            <a:ext cx="421640"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传播</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30" name="文本框 329"/>
          <p:cNvSpPr txBox="1"/>
          <p:nvPr/>
        </p:nvSpPr>
        <p:spPr>
          <a:xfrm>
            <a:off x="9207500" y="2247265"/>
            <a:ext cx="737235" cy="27432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rPr>
              <a:t>会员活动</a:t>
            </a:r>
            <a:endParaRPr kumimoji="0" lang="zh-CN" altLang="en-US" sz="1200" b="0" i="0" u="none" strike="noStrike" cap="none" spc="0" normalizeH="0" baseline="0" dirty="0">
              <a:ln>
                <a:noFill/>
              </a:ln>
              <a:solidFill>
                <a:srgbClr val="383838"/>
              </a:solidFill>
              <a:effectLst/>
              <a:uFillTx/>
              <a:latin typeface="微软雅黑"/>
              <a:ea typeface="微软雅黑"/>
              <a:cs typeface="微软雅黑"/>
              <a:sym typeface="微软雅黑"/>
            </a:endParaRPr>
          </a:p>
        </p:txBody>
      </p:sp>
      <p:sp>
        <p:nvSpPr>
          <p:cNvPr id="331" name="椭圆 330"/>
          <p:cNvSpPr/>
          <p:nvPr/>
        </p:nvSpPr>
        <p:spPr>
          <a:xfrm>
            <a:off x="10693400" y="3123565"/>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2" name="椭圆 331"/>
          <p:cNvSpPr/>
          <p:nvPr/>
        </p:nvSpPr>
        <p:spPr>
          <a:xfrm>
            <a:off x="2159635" y="3074035"/>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3" name="椭圆 332"/>
          <p:cNvSpPr/>
          <p:nvPr/>
        </p:nvSpPr>
        <p:spPr>
          <a:xfrm>
            <a:off x="2717800" y="263017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4" name="椭圆 333"/>
          <p:cNvSpPr/>
          <p:nvPr/>
        </p:nvSpPr>
        <p:spPr>
          <a:xfrm>
            <a:off x="3422650" y="285369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5" name="椭圆 334"/>
          <p:cNvSpPr/>
          <p:nvPr/>
        </p:nvSpPr>
        <p:spPr>
          <a:xfrm>
            <a:off x="4487545" y="2591435"/>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6" name="椭圆 335"/>
          <p:cNvSpPr/>
          <p:nvPr/>
        </p:nvSpPr>
        <p:spPr>
          <a:xfrm>
            <a:off x="4949825" y="224282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7" name="椭圆 336"/>
          <p:cNvSpPr/>
          <p:nvPr/>
        </p:nvSpPr>
        <p:spPr>
          <a:xfrm>
            <a:off x="6056630" y="252349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8" name="椭圆 337"/>
          <p:cNvSpPr/>
          <p:nvPr/>
        </p:nvSpPr>
        <p:spPr>
          <a:xfrm>
            <a:off x="6558280" y="3042285"/>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39" name="椭圆 338"/>
          <p:cNvSpPr/>
          <p:nvPr/>
        </p:nvSpPr>
        <p:spPr>
          <a:xfrm>
            <a:off x="7690485" y="282194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40" name="椭圆 339"/>
          <p:cNvSpPr/>
          <p:nvPr/>
        </p:nvSpPr>
        <p:spPr>
          <a:xfrm>
            <a:off x="8305800" y="237998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41" name="椭圆 340"/>
          <p:cNvSpPr/>
          <p:nvPr/>
        </p:nvSpPr>
        <p:spPr>
          <a:xfrm>
            <a:off x="9036685" y="245745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342" name="椭圆 341"/>
          <p:cNvSpPr/>
          <p:nvPr/>
        </p:nvSpPr>
        <p:spPr>
          <a:xfrm>
            <a:off x="9812655" y="2909570"/>
            <a:ext cx="90805" cy="90805"/>
          </a:xfrm>
          <a:prstGeom prst="ellipse">
            <a:avLst/>
          </a:prstGeom>
          <a:solidFill>
            <a:srgbClr val="3368FF"/>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cap="none" spc="0" normalizeH="0" baseline="0">
              <a:ln>
                <a:noFill/>
              </a:ln>
              <a:solidFill>
                <a:srgbClr val="FFFFFF"/>
              </a:solidFill>
              <a:effectLst/>
              <a:uFillTx/>
              <a:latin typeface="微软雅黑"/>
              <a:ea typeface="微软雅黑"/>
              <a:cs typeface="微软雅黑"/>
              <a:sym typeface="微软雅黑"/>
            </a:endParaRPr>
          </a:p>
        </p:txBody>
      </p:sp>
      <p:sp>
        <p:nvSpPr>
          <p:cNvPr id="7" name="矩形 6"/>
          <p:cNvSpPr/>
          <p:nvPr/>
        </p:nvSpPr>
        <p:spPr>
          <a:xfrm>
            <a:off x="1627505" y="4342765"/>
            <a:ext cx="9993630" cy="376555"/>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品牌消费者场景：新品发布、人群破圈、会员</a:t>
            </a:r>
            <a:r>
              <a:rPr lang="zh-CN" altLang="en-US" sz="1400">
                <a:solidFill>
                  <a:srgbClr val="FFFFFF"/>
                </a:solidFill>
                <a:latin typeface="微软雅黑"/>
                <a:ea typeface="微软雅黑"/>
                <a:cs typeface="微软雅黑"/>
              </a:rPr>
              <a:t>复购</a:t>
            </a:r>
            <a:r>
              <a:rPr lang="en-US" altLang="zh-CN" sz="1400">
                <a:solidFill>
                  <a:srgbClr val="FFFFFF"/>
                </a:solidFill>
                <a:latin typeface="微软雅黑"/>
                <a:ea typeface="微软雅黑"/>
                <a:cs typeface="微软雅黑"/>
              </a:rPr>
              <a:t>…</a:t>
            </a:r>
            <a:endParaRPr lang="en-US" altLang="zh-CN" sz="1400" dirty="0">
              <a:solidFill>
                <a:srgbClr val="FFFFFF"/>
              </a:solidFill>
              <a:latin typeface="微软雅黑"/>
              <a:ea typeface="微软雅黑"/>
              <a:cs typeface="微软雅黑"/>
            </a:endParaRPr>
          </a:p>
        </p:txBody>
      </p:sp>
      <p:sp>
        <p:nvSpPr>
          <p:cNvPr id="22" name="矩形 21"/>
          <p:cNvSpPr/>
          <p:nvPr/>
        </p:nvSpPr>
        <p:spPr>
          <a:xfrm>
            <a:off x="2135924" y="4975860"/>
            <a:ext cx="883234" cy="1046519"/>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曝光</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点击人数</a:t>
            </a:r>
            <a:endParaRPr lang="zh-CN" altLang="en-US" sz="1000" dirty="0">
              <a:solidFill>
                <a:srgbClr val="383838"/>
              </a:solidFill>
              <a:latin typeface="微软雅黑"/>
              <a:ea typeface="微软雅黑"/>
              <a:cs typeface="微软雅黑"/>
            </a:endParaRPr>
          </a:p>
        </p:txBody>
      </p:sp>
      <p:sp>
        <p:nvSpPr>
          <p:cNvPr id="23" name="矩形 22"/>
          <p:cNvSpPr/>
          <p:nvPr/>
        </p:nvSpPr>
        <p:spPr>
          <a:xfrm>
            <a:off x="3122930" y="4975860"/>
            <a:ext cx="1329055" cy="1046480"/>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短视频</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直播观看人</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数店铺商品刘览</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无品牌搜索人数</a:t>
            </a:r>
            <a:endParaRPr lang="zh-CN" altLang="en-US" sz="1000" dirty="0">
              <a:solidFill>
                <a:srgbClr val="383838"/>
              </a:solidFill>
              <a:latin typeface="微软雅黑"/>
              <a:ea typeface="微软雅黑"/>
              <a:cs typeface="微软雅黑"/>
            </a:endParaRPr>
          </a:p>
        </p:txBody>
      </p:sp>
      <p:sp>
        <p:nvSpPr>
          <p:cNvPr id="24" name="矩形 23"/>
          <p:cNvSpPr/>
          <p:nvPr/>
        </p:nvSpPr>
        <p:spPr>
          <a:xfrm>
            <a:off x="4542790" y="4975860"/>
            <a:ext cx="1146810" cy="1046480"/>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latin typeface="微软雅黑"/>
                <a:ea typeface="微软雅黑"/>
                <a:cs typeface="微软雅黑"/>
              </a:rPr>
              <a:t>互动</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订阅</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试用</a:t>
            </a:r>
            <a:r>
              <a:rPr lang="en-US" altLang="zh-CN" sz="1000">
                <a:solidFill>
                  <a:srgbClr val="383838"/>
                </a:solidFill>
                <a:latin typeface="微软雅黑"/>
                <a:ea typeface="微软雅黑"/>
                <a:cs typeface="微软雅黑"/>
              </a:rPr>
              <a:t>/</a:t>
            </a:r>
            <a:endParaRPr lang="en-US" alt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浏览</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搜索人数</a:t>
            </a:r>
            <a:endParaRPr lang="zh-CN" altLang="en-US" sz="1000">
              <a:solidFill>
                <a:srgbClr val="383838"/>
              </a:solidFill>
              <a:latin typeface="微软雅黑"/>
              <a:ea typeface="微软雅黑"/>
              <a:cs typeface="微软雅黑"/>
            </a:endParaRPr>
          </a:p>
        </p:txBody>
      </p:sp>
      <p:sp>
        <p:nvSpPr>
          <p:cNvPr id="25" name="矩形 24"/>
          <p:cNvSpPr/>
          <p:nvPr/>
        </p:nvSpPr>
        <p:spPr>
          <a:xfrm>
            <a:off x="5762625" y="4975860"/>
            <a:ext cx="1140460" cy="1046480"/>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入会未购</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收藏加购</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购前咨询人数</a:t>
            </a:r>
            <a:endParaRPr lang="zh-CN" altLang="en-US" sz="1000" dirty="0">
              <a:solidFill>
                <a:srgbClr val="383838"/>
              </a:solidFill>
              <a:latin typeface="微软雅黑"/>
              <a:ea typeface="微软雅黑"/>
              <a:cs typeface="微软雅黑"/>
            </a:endParaRPr>
          </a:p>
        </p:txBody>
      </p:sp>
      <p:sp>
        <p:nvSpPr>
          <p:cNvPr id="26" name="矩形 25"/>
          <p:cNvSpPr/>
          <p:nvPr/>
        </p:nvSpPr>
        <p:spPr>
          <a:xfrm>
            <a:off x="6968490" y="4975860"/>
            <a:ext cx="1035685" cy="1046480"/>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en-US" sz="1000">
                <a:solidFill>
                  <a:srgbClr val="383838"/>
                </a:solidFill>
                <a:latin typeface="微软雅黑"/>
                <a:ea typeface="微软雅黑"/>
                <a:cs typeface="微软雅黑"/>
              </a:rPr>
              <a:t>UD/</a:t>
            </a:r>
            <a:r>
              <a:rPr lang="zh-SG" altLang="en-US" sz="1000">
                <a:solidFill>
                  <a:srgbClr val="383838"/>
                </a:solidFill>
                <a:latin typeface="微软雅黑"/>
                <a:ea typeface="微软雅黑"/>
                <a:cs typeface="微软雅黑"/>
              </a:rPr>
              <a:t>流量宝</a:t>
            </a:r>
            <a:r>
              <a:rPr lang="en-US" altLang="zh-SG" sz="1000">
                <a:solidFill>
                  <a:srgbClr val="383838"/>
                </a:solidFill>
                <a:latin typeface="微软雅黑"/>
                <a:ea typeface="微软雅黑"/>
                <a:cs typeface="微软雅黑"/>
              </a:rPr>
              <a:t>/</a:t>
            </a:r>
            <a:endParaRPr lang="en-US" altLang="zh-SG" sz="1000">
              <a:solidFill>
                <a:srgbClr val="383838"/>
              </a:solidFill>
              <a:latin typeface="微软雅黑"/>
              <a:ea typeface="微软雅黑"/>
              <a:cs typeface="微软雅黑"/>
            </a:endParaRPr>
          </a:p>
          <a:p>
            <a:pPr algn="ctr">
              <a:defRPr>
                <a:latin typeface="微软雅黑"/>
                <a:ea typeface="微软雅黑"/>
                <a:cs typeface="微软雅黑"/>
              </a:defRPr>
            </a:pPr>
            <a:r>
              <a:rPr lang="zh-SG" altLang="en-US" sz="1000">
                <a:solidFill>
                  <a:srgbClr val="383838"/>
                </a:solidFill>
                <a:latin typeface="微软雅黑"/>
                <a:ea typeface="微软雅黑"/>
                <a:cs typeface="微软雅黑"/>
              </a:rPr>
              <a:t>品牌一方</a:t>
            </a:r>
            <a:endParaRPr lang="zh-SG" altLang="en-US" sz="1000">
              <a:solidFill>
                <a:srgbClr val="383838"/>
              </a:solidFill>
              <a:latin typeface="微软雅黑"/>
              <a:ea typeface="微软雅黑"/>
              <a:cs typeface="微软雅黑"/>
            </a:endParaRPr>
          </a:p>
        </p:txBody>
      </p:sp>
      <p:sp>
        <p:nvSpPr>
          <p:cNvPr id="27" name="矩形 26"/>
          <p:cNvSpPr/>
          <p:nvPr/>
        </p:nvSpPr>
        <p:spPr>
          <a:xfrm>
            <a:off x="8102600" y="4975860"/>
            <a:ext cx="1024255" cy="1046480"/>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a:solidFill>
                  <a:srgbClr val="383838"/>
                </a:solidFill>
                <a:latin typeface="微软雅黑"/>
                <a:ea typeface="微软雅黑"/>
                <a:cs typeface="微软雅黑"/>
              </a:rPr>
              <a:t>首次购买人数</a:t>
            </a:r>
            <a:endParaRPr lang="zh-CN" altLang="en-US" sz="1000">
              <a:solidFill>
                <a:srgbClr val="383838"/>
              </a:solidFill>
              <a:latin typeface="微软雅黑"/>
              <a:ea typeface="微软雅黑"/>
              <a:cs typeface="微软雅黑"/>
            </a:endParaRPr>
          </a:p>
        </p:txBody>
      </p:sp>
      <p:sp>
        <p:nvSpPr>
          <p:cNvPr id="28" name="矩形 27"/>
          <p:cNvSpPr/>
          <p:nvPr/>
        </p:nvSpPr>
        <p:spPr>
          <a:xfrm>
            <a:off x="9186545" y="4975860"/>
            <a:ext cx="1059815" cy="1046480"/>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非会员复购</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人数非会员口碑传播人数</a:t>
            </a:r>
            <a:endParaRPr lang="zh-CN" altLang="en-US" sz="1000" dirty="0">
              <a:solidFill>
                <a:srgbClr val="383838"/>
              </a:solidFill>
              <a:latin typeface="微软雅黑"/>
              <a:ea typeface="微软雅黑"/>
              <a:cs typeface="微软雅黑"/>
            </a:endParaRPr>
          </a:p>
        </p:txBody>
      </p:sp>
      <p:sp>
        <p:nvSpPr>
          <p:cNvPr id="29" name="矩形 28"/>
          <p:cNvSpPr/>
          <p:nvPr/>
        </p:nvSpPr>
        <p:spPr>
          <a:xfrm>
            <a:off x="10304996" y="4975860"/>
            <a:ext cx="1204963" cy="1046519"/>
          </a:xfrm>
          <a:prstGeom prst="rect">
            <a:avLst/>
          </a:prstGeom>
          <a:solidFill>
            <a:srgbClr val="E6E6E6">
              <a:alpha val="0"/>
            </a:srgbClr>
          </a:solidFill>
          <a:ln w="12700">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会员复购</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人数会员口碑</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传播人数</a:t>
            </a:r>
            <a:endParaRPr lang="zh-CN" altLang="en-US" sz="1000" dirty="0">
              <a:solidFill>
                <a:srgbClr val="383838"/>
              </a:solidFill>
              <a:latin typeface="微软雅黑"/>
              <a:ea typeface="微软雅黑"/>
              <a:cs typeface="微软雅黑"/>
            </a:endParaRPr>
          </a:p>
        </p:txBody>
      </p:sp>
      <p:sp>
        <p:nvSpPr>
          <p:cNvPr id="30" name="文本框 29"/>
          <p:cNvSpPr txBox="1"/>
          <p:nvPr/>
        </p:nvSpPr>
        <p:spPr>
          <a:xfrm>
            <a:off x="1624547" y="5299161"/>
            <a:ext cx="438150" cy="39878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基础</a:t>
            </a:r>
            <a:endParaRPr lang="en-US" altLang="zh-CN" sz="10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指标</a:t>
            </a:r>
            <a:endParaRPr lang="zh-CN" altLang="en-US" sz="1000" b="1" dirty="0">
              <a:solidFill>
                <a:srgbClr val="0042FF"/>
              </a:solidFill>
              <a:latin typeface="微软雅黑"/>
              <a:ea typeface="微软雅黑"/>
              <a:cs typeface="微软雅黑"/>
            </a:endParaRPr>
          </a:p>
        </p:txBody>
      </p:sp>
      <p:sp>
        <p:nvSpPr>
          <p:cNvPr id="31" name="文本框 30"/>
          <p:cNvSpPr txBox="1"/>
          <p:nvPr/>
        </p:nvSpPr>
        <p:spPr>
          <a:xfrm>
            <a:off x="1625184" y="6096048"/>
            <a:ext cx="436880" cy="398780"/>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运营</a:t>
            </a:r>
            <a:endParaRPr lang="en-US" altLang="zh-CN" sz="1000" b="1" dirty="0">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000" b="1" dirty="0">
                <a:solidFill>
                  <a:srgbClr val="0042FF"/>
                </a:solidFill>
                <a:latin typeface="微软雅黑"/>
                <a:ea typeface="微软雅黑"/>
                <a:cs typeface="微软雅黑"/>
              </a:rPr>
              <a:t>指标</a:t>
            </a:r>
            <a:endParaRPr lang="zh-CN" altLang="en-US" sz="1000" b="1" dirty="0">
              <a:solidFill>
                <a:srgbClr val="0042FF"/>
              </a:solidFill>
              <a:latin typeface="微软雅黑"/>
              <a:ea typeface="微软雅黑"/>
              <a:cs typeface="微软雅黑"/>
            </a:endParaRPr>
          </a:p>
        </p:txBody>
      </p:sp>
      <p:grpSp>
        <p:nvGrpSpPr>
          <p:cNvPr id="32" name="组合 31"/>
          <p:cNvGrpSpPr/>
          <p:nvPr/>
        </p:nvGrpSpPr>
        <p:grpSpPr>
          <a:xfrm rot="5400000">
            <a:off x="4168775" y="4225925"/>
            <a:ext cx="112395" cy="4177665"/>
            <a:chOff x="442913" y="981075"/>
            <a:chExt cx="112712" cy="1266825"/>
          </a:xfrm>
        </p:grpSpPr>
        <p:cxnSp>
          <p:nvCxnSpPr>
            <p:cNvPr id="33" name="直接箭头连接符 32"/>
            <p:cNvCxnSpPr/>
            <p:nvPr/>
          </p:nvCxnSpPr>
          <p:spPr>
            <a:xfrm>
              <a:off x="499269" y="981075"/>
              <a:ext cx="0" cy="1261013"/>
            </a:xfrm>
            <a:prstGeom prst="straightConnector1">
              <a:avLst/>
            </a:prstGeom>
            <a:ln w="12700">
              <a:solidFill>
                <a:srgbClr val="3368FF"/>
              </a:solidFill>
              <a:headEnd type="triangle" w="sm" len="sm"/>
              <a:tailEnd type="triangle" w="sm" len="sm"/>
            </a:ln>
          </p:spPr>
          <p:style>
            <a:lnRef idx="2">
              <a:srgbClr val="0042FF"/>
            </a:lnRef>
            <a:fillRef idx="0">
              <a:srgbClr val="0042FF"/>
            </a:fillRef>
            <a:effectRef idx="1">
              <a:srgbClr val="0042FF"/>
            </a:effectRef>
            <a:fontRef idx="minor">
              <a:srgbClr val="383838"/>
            </a:fontRef>
          </p:style>
        </p:cxnSp>
        <p:cxnSp>
          <p:nvCxnSpPr>
            <p:cNvPr id="34" name="直接连接符 33"/>
            <p:cNvCxnSpPr/>
            <p:nvPr/>
          </p:nvCxnSpPr>
          <p:spPr>
            <a:xfrm>
              <a:off x="442913" y="981075"/>
              <a:ext cx="112712"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cxnSp>
          <p:nvCxnSpPr>
            <p:cNvPr id="35" name="直接连接符 34"/>
            <p:cNvCxnSpPr/>
            <p:nvPr/>
          </p:nvCxnSpPr>
          <p:spPr>
            <a:xfrm>
              <a:off x="442913" y="2247900"/>
              <a:ext cx="112712"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grpSp>
      <p:grpSp>
        <p:nvGrpSpPr>
          <p:cNvPr id="36" name="组合 35"/>
          <p:cNvGrpSpPr/>
          <p:nvPr/>
        </p:nvGrpSpPr>
        <p:grpSpPr>
          <a:xfrm rot="5400000">
            <a:off x="9927590" y="4789170"/>
            <a:ext cx="112395" cy="3051810"/>
            <a:chOff x="442913" y="981075"/>
            <a:chExt cx="112712" cy="1266825"/>
          </a:xfrm>
        </p:grpSpPr>
        <p:cxnSp>
          <p:nvCxnSpPr>
            <p:cNvPr id="43" name="直接箭头连接符 42"/>
            <p:cNvCxnSpPr/>
            <p:nvPr/>
          </p:nvCxnSpPr>
          <p:spPr>
            <a:xfrm>
              <a:off x="499269" y="981075"/>
              <a:ext cx="0" cy="1261013"/>
            </a:xfrm>
            <a:prstGeom prst="straightConnector1">
              <a:avLst/>
            </a:prstGeom>
            <a:ln w="12700">
              <a:solidFill>
                <a:srgbClr val="3368FF"/>
              </a:solidFill>
              <a:headEnd type="triangle" w="sm" len="sm"/>
              <a:tailEnd type="triangle" w="sm" len="sm"/>
            </a:ln>
          </p:spPr>
          <p:style>
            <a:lnRef idx="2">
              <a:srgbClr val="0042FF"/>
            </a:lnRef>
            <a:fillRef idx="0">
              <a:srgbClr val="0042FF"/>
            </a:fillRef>
            <a:effectRef idx="1">
              <a:srgbClr val="0042FF"/>
            </a:effectRef>
            <a:fontRef idx="minor">
              <a:srgbClr val="383838"/>
            </a:fontRef>
          </p:style>
        </p:cxnSp>
        <p:cxnSp>
          <p:nvCxnSpPr>
            <p:cNvPr id="44" name="直接连接符 43"/>
            <p:cNvCxnSpPr/>
            <p:nvPr/>
          </p:nvCxnSpPr>
          <p:spPr>
            <a:xfrm>
              <a:off x="442913" y="981075"/>
              <a:ext cx="112712"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cxnSp>
          <p:nvCxnSpPr>
            <p:cNvPr id="66" name="直接连接符 65"/>
            <p:cNvCxnSpPr/>
            <p:nvPr/>
          </p:nvCxnSpPr>
          <p:spPr>
            <a:xfrm>
              <a:off x="442913" y="2247900"/>
              <a:ext cx="112712"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grpSp>
      <p:sp>
        <p:nvSpPr>
          <p:cNvPr id="67" name="文本框 66"/>
          <p:cNvSpPr txBox="1"/>
          <p:nvPr/>
        </p:nvSpPr>
        <p:spPr>
          <a:xfrm>
            <a:off x="2756535" y="6191885"/>
            <a:ext cx="3134360" cy="245110"/>
          </a:xfrm>
          <a:prstGeom prst="rect">
            <a:avLst/>
          </a:prstGeom>
          <a:solidFill>
            <a:srgbClr val="3368FF"/>
          </a:solidFill>
        </p:spPr>
        <p:txBody>
          <a:bodyPr wrap="square"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人群触达率</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触达频次</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人群流转率</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心智份额</a:t>
            </a:r>
            <a:r>
              <a:rPr lang="en-US" altLang="zh-CN" sz="1000" dirty="0">
                <a:solidFill>
                  <a:srgbClr val="FFFFFF"/>
                </a:solidFill>
                <a:latin typeface="微软雅黑"/>
                <a:ea typeface="微软雅黑"/>
                <a:cs typeface="微软雅黑"/>
              </a:rPr>
              <a:t>/</a:t>
            </a:r>
            <a:r>
              <a:rPr lang="zh-CN" altLang="en-US" sz="1000" dirty="0">
                <a:solidFill>
                  <a:srgbClr val="FFFFFF"/>
                </a:solidFill>
                <a:latin typeface="微软雅黑"/>
                <a:ea typeface="微软雅黑"/>
                <a:cs typeface="微软雅黑"/>
              </a:rPr>
              <a:t>兴趣度</a:t>
            </a:r>
            <a:endParaRPr lang="zh-CN" altLang="en-US" sz="1000" dirty="0">
              <a:solidFill>
                <a:srgbClr val="FFFFFF"/>
              </a:solidFill>
              <a:latin typeface="微软雅黑"/>
              <a:ea typeface="微软雅黑"/>
              <a:cs typeface="微软雅黑"/>
            </a:endParaRPr>
          </a:p>
        </p:txBody>
      </p:sp>
      <p:sp>
        <p:nvSpPr>
          <p:cNvPr id="73" name="文本框 72"/>
          <p:cNvSpPr txBox="1"/>
          <p:nvPr/>
        </p:nvSpPr>
        <p:spPr>
          <a:xfrm>
            <a:off x="8902541" y="6193315"/>
            <a:ext cx="2217980" cy="245110"/>
          </a:xfrm>
          <a:prstGeom prst="rect">
            <a:avLst/>
          </a:prstGeom>
          <a:solidFill>
            <a:srgbClr val="3368FF"/>
          </a:solidFill>
        </p:spPr>
        <p:txBody>
          <a:bodyPr wrap="square" lIns="0" rIns="0" tIns="0" bIns="0">
            <a:sp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人群触达率/达频次/人群流转率/LTV</a:t>
            </a:r>
            <a:endParaRPr lang="zh-CN" altLang="en-US" sz="1000" dirty="0">
              <a:solidFill>
                <a:srgbClr val="FFFFFF"/>
              </a:solidFill>
              <a:latin typeface="微软雅黑"/>
              <a:ea typeface="微软雅黑"/>
              <a:cs typeface="微软雅黑"/>
              <a:sym typeface="微软雅黑"/>
            </a:endParaRPr>
          </a:p>
        </p:txBody>
      </p:sp>
      <p:sp>
        <p:nvSpPr>
          <p:cNvPr id="74" name="文本框 73"/>
          <p:cNvSpPr txBox="1"/>
          <p:nvPr/>
        </p:nvSpPr>
        <p:spPr>
          <a:xfrm>
            <a:off x="6416675" y="6193155"/>
            <a:ext cx="1946275" cy="245110"/>
          </a:xfrm>
          <a:prstGeom prst="rect">
            <a:avLst/>
          </a:prstGeom>
          <a:solidFill>
            <a:srgbClr val="3368FF"/>
          </a:solidFill>
        </p:spPr>
        <p:txBody>
          <a:bodyPr wrap="square" lIns="0" rIns="0" tIns="0" bIns="0">
            <a:spAutoFit/>
          </a:bodyPr>
          <a:lstStyle/>
          <a:p>
            <a:pPr lvl="0" algn="ctr">
              <a:buClrTx/>
              <a:buSzTx/>
              <a:buFontTx/>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外投洞察/二次追投/人群流转率</a:t>
            </a:r>
            <a:endParaRPr lang="zh-CN" altLang="en-US" sz="1000" dirty="0">
              <a:solidFill>
                <a:srgbClr val="FFFFFF"/>
              </a:solidFill>
              <a:latin typeface="微软雅黑"/>
              <a:ea typeface="微软雅黑"/>
              <a:cs typeface="微软雅黑"/>
              <a:sym typeface="微软雅黑"/>
            </a:endParaRPr>
          </a:p>
        </p:txBody>
      </p:sp>
      <p:sp>
        <p:nvSpPr>
          <p:cNvPr id="75" name="矩形 74"/>
          <p:cNvSpPr/>
          <p:nvPr/>
        </p:nvSpPr>
        <p:spPr>
          <a:xfrm>
            <a:off x="608965" y="4067175"/>
            <a:ext cx="879475" cy="2532380"/>
          </a:xfrm>
          <a:prstGeom prst="rect">
            <a:avLst/>
          </a:prstGeom>
          <a:gradFill flip="none" rotWithShape="1">
            <a:gsLst>
              <a:gs pos="100000">
                <a:srgbClr val="3368FF"/>
              </a:gs>
              <a:gs pos="18000">
                <a:srgbClr val="0042FF"/>
              </a:gs>
            </a:gsLst>
            <a:lin ang="2700000" scaled="1"/>
          </a:gradFill>
          <a:ln>
            <a:noFill/>
          </a:ln>
          <a:effectLst>
            <a:outerShdw blurRad="50800" dist="38100" dir="2700000" algn="tl" rotWithShape="0">
              <a:srgbClr val="383838">
                <a:alpha val="40000"/>
              </a:srgbClr>
            </a:outerShdw>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运营</a:t>
            </a:r>
            <a:endParaRPr lang="zh-CN" altLang="en-US" sz="1600" b="1" noProof="0">
              <a:ln>
                <a:noFill/>
              </a:ln>
              <a:solidFill>
                <a:srgbClr val="FFFFFF"/>
              </a:solidFill>
              <a:effectLst/>
              <a:uLnTx/>
              <a:uFillTx/>
              <a:latin typeface="微软雅黑"/>
              <a:ea typeface="微软雅黑"/>
              <a:cs typeface="微软雅黑"/>
              <a:sym typeface="微软雅黑"/>
            </a:endParaRPr>
          </a:p>
          <a:p>
            <a:pPr lvl="0" algn="ctr">
              <a:spcBef>
                <a:spcPts val="0"/>
              </a:spcBef>
              <a:spcAft>
                <a:spcPts val="0"/>
              </a:spcAft>
              <a:buClrTx/>
              <a:buSzTx/>
              <a:buFontTx/>
              <a:defRPr>
                <a:solidFill>
                  <a:srgbClr val="FFFFFF"/>
                </a:solidFill>
                <a:latin typeface="微软雅黑"/>
                <a:ea typeface="微软雅黑"/>
                <a:cs typeface="微软雅黑"/>
              </a:defRPr>
            </a:pPr>
            <a:r>
              <a:rPr lang="zh-CN" altLang="en-US" sz="1600" b="1" noProof="0">
                <a:ln>
                  <a:noFill/>
                </a:ln>
                <a:solidFill>
                  <a:srgbClr val="FFFFFF"/>
                </a:solidFill>
                <a:effectLst/>
                <a:uLnTx/>
                <a:uFillTx/>
                <a:latin typeface="微软雅黑"/>
                <a:ea typeface="微软雅黑"/>
                <a:cs typeface="微软雅黑"/>
                <a:sym typeface="微软雅黑"/>
              </a:rPr>
              <a:t>场景</a:t>
            </a:r>
            <a:endParaRPr lang="zh-CN" altLang="en-US" sz="1600" b="1" noProof="0">
              <a:ln>
                <a:noFill/>
              </a:ln>
              <a:solidFill>
                <a:srgbClr val="FFFFFF"/>
              </a:solidFill>
              <a:effectLst/>
              <a:uLnTx/>
              <a:uFillTx/>
              <a:latin typeface="微软雅黑"/>
              <a:ea typeface="微软雅黑"/>
              <a:cs typeface="微软雅黑"/>
              <a:sym typeface="微软雅黑"/>
            </a:endParaRPr>
          </a:p>
        </p:txBody>
      </p:sp>
      <p:grpSp>
        <p:nvGrpSpPr>
          <p:cNvPr id="94" name="组合 93"/>
          <p:cNvGrpSpPr/>
          <p:nvPr/>
        </p:nvGrpSpPr>
        <p:grpSpPr>
          <a:xfrm rot="5400000">
            <a:off x="4796155" y="982345"/>
            <a:ext cx="112395" cy="6389370"/>
            <a:chOff x="442913" y="981075"/>
            <a:chExt cx="112712" cy="1266825"/>
          </a:xfrm>
        </p:grpSpPr>
        <p:cxnSp>
          <p:nvCxnSpPr>
            <p:cNvPr id="95" name="直接箭头连接符 94"/>
            <p:cNvCxnSpPr/>
            <p:nvPr/>
          </p:nvCxnSpPr>
          <p:spPr>
            <a:xfrm>
              <a:off x="499269" y="981075"/>
              <a:ext cx="0" cy="1261013"/>
            </a:xfrm>
            <a:prstGeom prst="straightConnector1">
              <a:avLst/>
            </a:prstGeom>
            <a:ln w="12700">
              <a:solidFill>
                <a:srgbClr val="383838"/>
              </a:solidFill>
              <a:headEnd type="triangle" w="sm" len="sm"/>
              <a:tailEnd type="triangle" w="sm" len="sm"/>
            </a:ln>
          </p:spPr>
          <p:style>
            <a:lnRef idx="2">
              <a:srgbClr val="0042FF"/>
            </a:lnRef>
            <a:fillRef idx="0">
              <a:srgbClr val="0042FF"/>
            </a:fillRef>
            <a:effectRef idx="1">
              <a:srgbClr val="0042FF"/>
            </a:effectRef>
            <a:fontRef idx="minor">
              <a:srgbClr val="383838"/>
            </a:fontRef>
          </p:style>
        </p:cxnSp>
        <p:cxnSp>
          <p:nvCxnSpPr>
            <p:cNvPr id="96" name="直接连接符 95"/>
            <p:cNvCxnSpPr/>
            <p:nvPr/>
          </p:nvCxnSpPr>
          <p:spPr>
            <a:xfrm>
              <a:off x="442913" y="981075"/>
              <a:ext cx="112712" cy="0"/>
            </a:xfrm>
            <a:prstGeom prst="line">
              <a:avLst/>
            </a:prstGeom>
            <a:ln w="12700">
              <a:solidFill>
                <a:srgbClr val="383838"/>
              </a:solidFill>
            </a:ln>
          </p:spPr>
          <p:style>
            <a:lnRef idx="2">
              <a:srgbClr val="0042FF"/>
            </a:lnRef>
            <a:fillRef idx="0">
              <a:srgbClr val="0042FF"/>
            </a:fillRef>
            <a:effectRef idx="1">
              <a:srgbClr val="0042FF"/>
            </a:effectRef>
            <a:fontRef idx="minor">
              <a:srgbClr val="383838"/>
            </a:fontRef>
          </p:style>
        </p:cxnSp>
        <p:cxnSp>
          <p:nvCxnSpPr>
            <p:cNvPr id="98" name="直接连接符 97"/>
            <p:cNvCxnSpPr/>
            <p:nvPr/>
          </p:nvCxnSpPr>
          <p:spPr>
            <a:xfrm>
              <a:off x="442913" y="2247900"/>
              <a:ext cx="112712" cy="0"/>
            </a:xfrm>
            <a:prstGeom prst="line">
              <a:avLst/>
            </a:prstGeom>
            <a:ln w="12700">
              <a:solidFill>
                <a:srgbClr val="383838"/>
              </a:solidFill>
            </a:ln>
          </p:spPr>
          <p:style>
            <a:lnRef idx="2">
              <a:srgbClr val="0042FF"/>
            </a:lnRef>
            <a:fillRef idx="0">
              <a:srgbClr val="0042FF"/>
            </a:fillRef>
            <a:effectRef idx="1">
              <a:srgbClr val="0042FF"/>
            </a:effectRef>
            <a:fontRef idx="minor">
              <a:srgbClr val="383838"/>
            </a:fontRef>
          </p:style>
        </p:cxnSp>
      </p:grpSp>
      <p:sp>
        <p:nvSpPr>
          <p:cNvPr id="99" name="文本框 98"/>
          <p:cNvSpPr txBox="1"/>
          <p:nvPr/>
        </p:nvSpPr>
        <p:spPr>
          <a:xfrm>
            <a:off x="4599940" y="4067175"/>
            <a:ext cx="1089660" cy="275590"/>
          </a:xfrm>
          <a:prstGeom prst="rect">
            <a:avLst/>
          </a:prstGeom>
          <a:solidFill>
            <a:srgbClr val="FFFFFF"/>
          </a:solidFill>
        </p:spPr>
        <p:txBody>
          <a:bodyPr wrap="square">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公域投放</a:t>
            </a:r>
            <a:endParaRPr lang="zh-CN" altLang="en-US" sz="1200" dirty="0">
              <a:solidFill>
                <a:srgbClr val="383838"/>
              </a:solidFill>
              <a:latin typeface="微软雅黑"/>
              <a:ea typeface="微软雅黑"/>
              <a:cs typeface="微软雅黑"/>
            </a:endParaRPr>
          </a:p>
        </p:txBody>
      </p:sp>
      <p:grpSp>
        <p:nvGrpSpPr>
          <p:cNvPr id="100" name="组合 99"/>
          <p:cNvGrpSpPr/>
          <p:nvPr/>
        </p:nvGrpSpPr>
        <p:grpSpPr>
          <a:xfrm rot="5400000">
            <a:off x="9805670" y="2418080"/>
            <a:ext cx="112395" cy="3518535"/>
            <a:chOff x="442913" y="981075"/>
            <a:chExt cx="112712" cy="1266825"/>
          </a:xfrm>
        </p:grpSpPr>
        <p:cxnSp>
          <p:nvCxnSpPr>
            <p:cNvPr id="101" name="直接箭头连接符 100"/>
            <p:cNvCxnSpPr/>
            <p:nvPr/>
          </p:nvCxnSpPr>
          <p:spPr>
            <a:xfrm>
              <a:off x="499269" y="981075"/>
              <a:ext cx="0" cy="1261013"/>
            </a:xfrm>
            <a:prstGeom prst="straightConnector1">
              <a:avLst/>
            </a:prstGeom>
            <a:ln w="12700">
              <a:solidFill>
                <a:srgbClr val="383838"/>
              </a:solidFill>
              <a:headEnd type="triangle" w="sm" len="sm"/>
              <a:tailEnd type="triangle" w="sm" len="sm"/>
            </a:ln>
          </p:spPr>
          <p:style>
            <a:lnRef idx="2">
              <a:srgbClr val="0042FF"/>
            </a:lnRef>
            <a:fillRef idx="0">
              <a:srgbClr val="0042FF"/>
            </a:fillRef>
            <a:effectRef idx="1">
              <a:srgbClr val="0042FF"/>
            </a:effectRef>
            <a:fontRef idx="minor">
              <a:srgbClr val="383838"/>
            </a:fontRef>
          </p:style>
        </p:cxnSp>
        <p:cxnSp>
          <p:nvCxnSpPr>
            <p:cNvPr id="102" name="直接连接符 101"/>
            <p:cNvCxnSpPr/>
            <p:nvPr/>
          </p:nvCxnSpPr>
          <p:spPr>
            <a:xfrm>
              <a:off x="442913" y="981075"/>
              <a:ext cx="112712" cy="0"/>
            </a:xfrm>
            <a:prstGeom prst="line">
              <a:avLst/>
            </a:prstGeom>
            <a:ln w="12700">
              <a:solidFill>
                <a:srgbClr val="383838"/>
              </a:solidFill>
            </a:ln>
          </p:spPr>
          <p:style>
            <a:lnRef idx="2">
              <a:srgbClr val="0042FF"/>
            </a:lnRef>
            <a:fillRef idx="0">
              <a:srgbClr val="0042FF"/>
            </a:fillRef>
            <a:effectRef idx="1">
              <a:srgbClr val="0042FF"/>
            </a:effectRef>
            <a:fontRef idx="minor">
              <a:srgbClr val="383838"/>
            </a:fontRef>
          </p:style>
        </p:cxnSp>
        <p:cxnSp>
          <p:nvCxnSpPr>
            <p:cNvPr id="103" name="直接连接符 102"/>
            <p:cNvCxnSpPr/>
            <p:nvPr/>
          </p:nvCxnSpPr>
          <p:spPr>
            <a:xfrm>
              <a:off x="442913" y="2247900"/>
              <a:ext cx="112712" cy="0"/>
            </a:xfrm>
            <a:prstGeom prst="line">
              <a:avLst/>
            </a:prstGeom>
            <a:ln w="12700">
              <a:solidFill>
                <a:srgbClr val="383838"/>
              </a:solidFill>
            </a:ln>
          </p:spPr>
          <p:style>
            <a:lnRef idx="2">
              <a:srgbClr val="0042FF"/>
            </a:lnRef>
            <a:fillRef idx="0">
              <a:srgbClr val="0042FF"/>
            </a:fillRef>
            <a:effectRef idx="1">
              <a:srgbClr val="0042FF"/>
            </a:effectRef>
            <a:fontRef idx="minor">
              <a:srgbClr val="383838"/>
            </a:fontRef>
          </p:style>
        </p:cxnSp>
      </p:grpSp>
      <p:sp>
        <p:nvSpPr>
          <p:cNvPr id="104" name="文本框 103"/>
          <p:cNvSpPr txBox="1"/>
          <p:nvPr/>
        </p:nvSpPr>
        <p:spPr>
          <a:xfrm>
            <a:off x="9546590" y="4039235"/>
            <a:ext cx="1089660" cy="275590"/>
          </a:xfrm>
          <a:prstGeom prst="rect">
            <a:avLst/>
          </a:prstGeom>
          <a:solidFill>
            <a:srgbClr val="FFFFFF"/>
          </a:solidFill>
        </p:spPr>
        <p:txBody>
          <a:bodyPr wrap="square">
            <a:sp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私域投放</a:t>
            </a:r>
            <a:endParaRPr lang="zh-CN" altLang="en-US" sz="1200" dirty="0">
              <a:solidFill>
                <a:srgbClr val="383838"/>
              </a:solidFill>
              <a:latin typeface="微软雅黑"/>
              <a:ea typeface="微软雅黑"/>
              <a:cs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3" name="图片 2"/>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 name="文本框 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36028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a:t>
            </a:r>
            <a:r>
              <a:rPr sz="2500">
                <a:solidFill>
                  <a:srgbClr val="0042FF"/>
                </a:solidFill>
                <a:effectLst/>
                <a:latin typeface="微软雅黑"/>
                <a:ea typeface="微软雅黑"/>
                <a:cs typeface="微软雅黑"/>
              </a:rPr>
              <a:t> </a:t>
            </a:r>
            <a:r>
              <a:rPr lang="zh-CN" altLang="en-US" sz="2500">
                <a:solidFill>
                  <a:srgbClr val="383838"/>
                </a:solidFill>
                <a:effectLst/>
                <a:latin typeface="微软雅黑"/>
                <a:ea typeface="微软雅黑"/>
                <a:cs typeface="微软雅黑"/>
              </a:rPr>
              <a:t>不同阶段车企竞争力分析</a:t>
            </a:r>
            <a:endParaRPr lang="zh-CN" altLang="en-US"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圆角矩形 11"/>
          <p:cNvSpPr/>
          <p:nvPr/>
        </p:nvSpPr>
        <p:spPr>
          <a:xfrm>
            <a:off x="558800" y="1132205"/>
            <a:ext cx="1896745" cy="5437505"/>
          </a:xfrm>
          <a:prstGeom prst="roundRect">
            <a:avLst>
              <a:gd name="adj" fmla="val 0"/>
            </a:avLst>
          </a:prstGeom>
          <a:solidFill>
            <a:srgbClr val="0042FF">
              <a:alpha val="10000"/>
            </a:srgbClr>
          </a:solidFill>
          <a:ln w="9525" cap="flat" cmpd="sng" algn="ctr">
            <a:solidFill>
              <a:srgbClr val="0042FF">
                <a:alpha val="40000"/>
              </a:srgbClr>
            </a:solidFill>
            <a:prstDash val="solid"/>
            <a:miter lim="800000"/>
          </a:ln>
          <a:effectLst/>
        </p:spPr>
        <p:txBody>
          <a:bodyPr rtlCol="0" anchor="ctr" lIns="0" rIns="0" tIns="0" bIns="0"/>
          <a:lstStyle/>
          <a:p>
            <a:pPr algn="ctr">
              <a:defRPr>
                <a:latin typeface="微软雅黑"/>
                <a:ea typeface="微软雅黑"/>
                <a:cs typeface="微软雅黑"/>
              </a:defRPr>
            </a:pPr>
            <a:endParaRPr lang="zh-CN" altLang="en-US" kern="0">
              <a:solidFill>
                <a:prstClr val="white"/>
              </a:solidFill>
              <a:latin typeface="微软雅黑"/>
              <a:ea typeface="微软雅黑"/>
              <a:cs typeface="微软雅黑"/>
            </a:endParaRPr>
          </a:p>
        </p:txBody>
      </p:sp>
      <p:sp>
        <p:nvSpPr>
          <p:cNvPr id="26" name="圆角矩形 11"/>
          <p:cNvSpPr/>
          <p:nvPr/>
        </p:nvSpPr>
        <p:spPr>
          <a:xfrm>
            <a:off x="2713990" y="3180715"/>
            <a:ext cx="2225675" cy="571500"/>
          </a:xfrm>
          <a:prstGeom prst="roundRect">
            <a:avLst>
              <a:gd name="adj" fmla="val 0"/>
            </a:avLst>
          </a:prstGeom>
          <a:gradFill>
            <a:gsLst>
              <a:gs pos="33000">
                <a:srgbClr val="E6E6E6">
                  <a:alpha val="0"/>
                </a:srgbClr>
              </a:gs>
              <a:gs pos="100000">
                <a:srgbClr val="E6E6E6"/>
              </a:gs>
            </a:gsLst>
            <a:lin ang="21594000" scaled="0"/>
          </a:gradFill>
          <a:ln w="9525" cap="flat" cmpd="sng" algn="ctr">
            <a:noFill/>
            <a:prstDash val="solid"/>
            <a:miter lim="800000"/>
          </a:ln>
          <a:effectLst/>
        </p:spPr>
        <p:txBody>
          <a:bodyPr rtlCol="0" anchor="ctr"/>
          <a:lstStyle/>
          <a:p>
            <a:pPr indent="0" algn="l">
              <a:buFont typeface="微软雅黑"/>
              <a:buNone/>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指汽车作为一个产品的技术核心、功能、质量等方面的竞争力</a:t>
            </a:r>
            <a:endParaRPr lang="zh-CN" sz="1100" kern="0" dirty="0">
              <a:solidFill>
                <a:srgbClr val="383838"/>
              </a:solidFill>
              <a:latin typeface="微软雅黑"/>
              <a:ea typeface="微软雅黑"/>
              <a:cs typeface="微软雅黑"/>
              <a:sym typeface="微软雅黑"/>
            </a:endParaRPr>
          </a:p>
        </p:txBody>
      </p:sp>
      <p:sp>
        <p:nvSpPr>
          <p:cNvPr id="6" name="Rectangle: Top Corners Rounded 32"/>
          <p:cNvSpPr/>
          <p:nvPr/>
        </p:nvSpPr>
        <p:spPr>
          <a:xfrm>
            <a:off x="684269" y="1225690"/>
            <a:ext cx="1619394" cy="360000"/>
          </a:xfrm>
          <a:prstGeom prst="round2SameRect">
            <a:avLst>
              <a:gd name="adj1" fmla="val 6470"/>
              <a:gd name="adj2" fmla="val 0"/>
            </a:avLst>
          </a:prstGeom>
          <a:solidFill>
            <a:srgbClr val="0042FF"/>
          </a:solidFill>
          <a:ln w="9525" cap="flat" cmpd="sng" algn="ctr">
            <a:no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400" kern="0" dirty="0">
                <a:solidFill>
                  <a:srgbClr val="FFFFFF"/>
                </a:solidFill>
                <a:latin typeface="微软雅黑"/>
                <a:ea typeface="微软雅黑"/>
                <a:cs typeface="微软雅黑"/>
                <a:sym typeface="微软雅黑"/>
              </a:rPr>
              <a:t>供需时代</a:t>
            </a:r>
            <a:endParaRPr lang="zh-CN" altLang="en-US" sz="1400" kern="0" dirty="0">
              <a:solidFill>
                <a:srgbClr val="FFFFFF"/>
              </a:solidFill>
              <a:latin typeface="微软雅黑"/>
              <a:ea typeface="微软雅黑"/>
              <a:cs typeface="微软雅黑"/>
              <a:sym typeface="微软雅黑"/>
            </a:endParaRPr>
          </a:p>
        </p:txBody>
      </p:sp>
      <p:sp>
        <p:nvSpPr>
          <p:cNvPr id="24" name="Rectangle: Top Corners Rounded 32"/>
          <p:cNvSpPr/>
          <p:nvPr/>
        </p:nvSpPr>
        <p:spPr>
          <a:xfrm>
            <a:off x="684530" y="1793875"/>
            <a:ext cx="1619250" cy="761365"/>
          </a:xfrm>
          <a:prstGeom prst="rect">
            <a:avLst/>
          </a:prstGeom>
          <a:solidFill>
            <a:srgbClr val="FFFFFF"/>
          </a:solidFill>
          <a:ln w="12700" cap="flat" cmpd="sng" algn="ctr">
            <a:solidFill>
              <a:srgbClr val="0042FF">
                <a:alpha val="40000"/>
              </a:srgbClr>
            </a:solidFill>
            <a:prstDash val="dash"/>
            <a:miter lim="800000"/>
          </a:ln>
          <a:effectLst/>
        </p:spPr>
        <p:txBody>
          <a:bodyPr lIns="82296" tIns="41148" rIns="82296" bIns="41148" rtlCol="0" anchor="ctr"/>
          <a:lstStyle/>
          <a:p>
            <a:pPr algn="ctr">
              <a:defRPr>
                <a:latin typeface="微软雅黑"/>
                <a:ea typeface="微软雅黑"/>
                <a:cs typeface="微软雅黑"/>
              </a:defRPr>
            </a:pPr>
            <a:r>
              <a:rPr lang="zh-CN" altLang="en-US" sz="1200" kern="0" dirty="0">
                <a:solidFill>
                  <a:srgbClr val="0042FF"/>
                </a:solidFill>
                <a:latin typeface="微软雅黑"/>
                <a:ea typeface="微软雅黑"/>
                <a:cs typeface="微软雅黑"/>
                <a:sym typeface="微软雅黑"/>
              </a:rPr>
              <a:t>车企视角下的</a:t>
            </a:r>
            <a:endParaRPr lang="zh-CN" altLang="en-US" sz="1200" kern="0"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kern="0" dirty="0">
                <a:solidFill>
                  <a:srgbClr val="0042FF"/>
                </a:solidFill>
                <a:latin typeface="微软雅黑"/>
                <a:ea typeface="微软雅黑"/>
                <a:cs typeface="微软雅黑"/>
                <a:sym typeface="微软雅黑"/>
              </a:rPr>
              <a:t>业务竞争逻辑</a:t>
            </a:r>
            <a:endParaRPr lang="zh-CN" altLang="en-US" sz="1600" b="1" kern="0" dirty="0">
              <a:solidFill>
                <a:srgbClr val="0042FF"/>
              </a:solidFill>
              <a:latin typeface="微软雅黑"/>
              <a:ea typeface="微软雅黑"/>
              <a:cs typeface="微软雅黑"/>
              <a:sym typeface="微软雅黑"/>
            </a:endParaRPr>
          </a:p>
        </p:txBody>
      </p:sp>
      <p:sp>
        <p:nvSpPr>
          <p:cNvPr id="145" name="Rectangle: Top Corners Rounded 32"/>
          <p:cNvSpPr/>
          <p:nvPr/>
        </p:nvSpPr>
        <p:spPr>
          <a:xfrm>
            <a:off x="697865" y="2846705"/>
            <a:ext cx="1619250" cy="980440"/>
          </a:xfrm>
          <a:prstGeom prst="rect">
            <a:avLst/>
          </a:prstGeom>
          <a:solidFill>
            <a:srgbClr val="FFFFFF"/>
          </a:solidFill>
          <a:ln w="12700" cap="flat" cmpd="sng" algn="ctr">
            <a:solidFill>
              <a:srgbClr val="0042FF">
                <a:alpha val="40000"/>
              </a:srgbClr>
            </a:solidFill>
            <a:prstDash val="dash"/>
            <a:miter lim="800000"/>
          </a:ln>
          <a:effectLst/>
        </p:spPr>
        <p:txBody>
          <a:bodyPr lIns="82296" tIns="41148" rIns="82296" bIns="41148" rtlCol="0" anchor="ctr"/>
          <a:lstStyle/>
          <a:p>
            <a:pPr algn="ctr">
              <a:defRPr>
                <a:latin typeface="微软雅黑"/>
                <a:ea typeface="微软雅黑"/>
                <a:cs typeface="微软雅黑"/>
              </a:defRPr>
            </a:pPr>
            <a:r>
              <a:rPr lang="zh-CN" altLang="en-US" sz="1200" kern="0" dirty="0">
                <a:solidFill>
                  <a:srgbClr val="0042FF"/>
                </a:solidFill>
                <a:latin typeface="微软雅黑"/>
                <a:ea typeface="微软雅黑"/>
                <a:cs typeface="微软雅黑"/>
                <a:sym typeface="微软雅黑"/>
              </a:rPr>
              <a:t>不同阶段车企</a:t>
            </a:r>
            <a:endParaRPr lang="zh-CN" altLang="en-US" sz="1600" b="1" kern="0"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kern="0" dirty="0">
                <a:solidFill>
                  <a:srgbClr val="0042FF"/>
                </a:solidFill>
                <a:latin typeface="微软雅黑"/>
                <a:ea typeface="微软雅黑"/>
                <a:cs typeface="微软雅黑"/>
                <a:sym typeface="微软雅黑"/>
              </a:rPr>
              <a:t>所属核心竞争力</a:t>
            </a:r>
            <a:endParaRPr lang="zh-CN" altLang="en-US" sz="1600" b="1" kern="0" dirty="0">
              <a:solidFill>
                <a:srgbClr val="0042FF"/>
              </a:solidFill>
              <a:latin typeface="微软雅黑"/>
              <a:ea typeface="微软雅黑"/>
              <a:cs typeface="微软雅黑"/>
              <a:sym typeface="微软雅黑"/>
            </a:endParaRPr>
          </a:p>
        </p:txBody>
      </p:sp>
      <p:sp>
        <p:nvSpPr>
          <p:cNvPr id="25" name="等腰三角形 24"/>
          <p:cNvSpPr>
            <a:spLocks noChangeAspect="1"/>
          </p:cNvSpPr>
          <p:nvPr/>
        </p:nvSpPr>
        <p:spPr>
          <a:xfrm rot="10800000">
            <a:off x="1231265" y="2635885"/>
            <a:ext cx="525780" cy="288290"/>
          </a:xfrm>
          <a:prstGeom prst="triangle">
            <a:avLst/>
          </a:prstGeom>
          <a:gradFill>
            <a:gsLst>
              <a:gs pos="92000">
                <a:srgbClr val="0042FF">
                  <a:alpha val="0"/>
                </a:srgbClr>
              </a:gs>
              <a:gs pos="0">
                <a:srgbClr val="0042FF"/>
              </a:gs>
            </a:gsLst>
            <a:lin ang="5400000" scaled="1"/>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9" name="Rectangle: Top Corners Rounded 32"/>
          <p:cNvSpPr/>
          <p:nvPr/>
        </p:nvSpPr>
        <p:spPr>
          <a:xfrm>
            <a:off x="697865" y="4147185"/>
            <a:ext cx="1619250" cy="2237740"/>
          </a:xfrm>
          <a:prstGeom prst="rect">
            <a:avLst/>
          </a:prstGeom>
          <a:solidFill>
            <a:srgbClr val="FFFFFF"/>
          </a:solidFill>
          <a:ln w="12700" cap="flat" cmpd="sng" algn="ctr">
            <a:solidFill>
              <a:srgbClr val="0042FF">
                <a:alpha val="40000"/>
              </a:srgbClr>
            </a:solidFill>
            <a:prstDash val="dash"/>
            <a:miter lim="800000"/>
          </a:ln>
          <a:effectLst/>
        </p:spPr>
        <p:txBody>
          <a:bodyPr lIns="82296" tIns="41148" rIns="82296" bIns="41148" rtlCol="0" anchor="ctr"/>
          <a:lstStyle/>
          <a:p>
            <a:pPr algn="ctr">
              <a:defRPr>
                <a:latin typeface="微软雅黑"/>
                <a:ea typeface="微软雅黑"/>
                <a:cs typeface="微软雅黑"/>
              </a:defRPr>
            </a:pPr>
            <a:r>
              <a:rPr lang="zh-CN" altLang="en-US" sz="1200" kern="0" dirty="0">
                <a:solidFill>
                  <a:srgbClr val="0042FF"/>
                </a:solidFill>
                <a:latin typeface="微软雅黑"/>
                <a:ea typeface="微软雅黑"/>
                <a:cs typeface="微软雅黑"/>
                <a:sym typeface="微软雅黑"/>
              </a:rPr>
              <a:t>各时代下的</a:t>
            </a:r>
            <a:endParaRPr lang="zh-CN" altLang="en-US" sz="1200" kern="0"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kern="0" dirty="0">
                <a:solidFill>
                  <a:srgbClr val="0042FF"/>
                </a:solidFill>
                <a:latin typeface="微软雅黑"/>
                <a:ea typeface="微软雅黑"/>
                <a:cs typeface="微软雅黑"/>
                <a:sym typeface="微软雅黑"/>
              </a:rPr>
              <a:t>车企破局之道与主要的经营价值目标</a:t>
            </a:r>
            <a:endParaRPr lang="zh-CN" altLang="en-US" sz="1600" b="1" kern="0" dirty="0">
              <a:solidFill>
                <a:srgbClr val="0042FF"/>
              </a:solidFill>
              <a:latin typeface="微软雅黑"/>
              <a:ea typeface="微软雅黑"/>
              <a:cs typeface="微软雅黑"/>
              <a:sym typeface="微软雅黑"/>
            </a:endParaRPr>
          </a:p>
        </p:txBody>
      </p:sp>
      <p:grpSp>
        <p:nvGrpSpPr>
          <p:cNvPr id="438" name="组合 437"/>
          <p:cNvGrpSpPr/>
          <p:nvPr/>
        </p:nvGrpSpPr>
        <p:grpSpPr>
          <a:xfrm>
            <a:off x="2647961" y="1224280"/>
            <a:ext cx="2442221" cy="331805"/>
            <a:chOff x="3457586" y="2179141"/>
            <a:chExt cx="2442221" cy="331805"/>
          </a:xfrm>
          <a:solidFill>
            <a:srgbClr val="3368FF"/>
          </a:solidFill>
        </p:grpSpPr>
        <p:sp>
          <p:nvSpPr>
            <p:cNvPr id="150" name="箭头: V 形 19"/>
            <p:cNvSpPr/>
            <p:nvPr/>
          </p:nvSpPr>
          <p:spPr>
            <a:xfrm>
              <a:off x="3457586" y="2179141"/>
              <a:ext cx="2442221" cy="331805"/>
            </a:xfrm>
            <a:prstGeom prst="chevron">
              <a:avLst>
                <a:gd name="adj" fmla="val 37908"/>
              </a:avLst>
            </a:prstGeom>
            <a:grpFill/>
            <a:ln w="9525" cap="rnd" cmpd="sng">
              <a:noFill/>
              <a:prstDash val="solid"/>
              <a:round/>
            </a:ln>
            <a:effectLst>
              <a:outerShdw dist="35921" dir="2700000" algn="ctr" rotWithShape="0">
                <a:srgbClr val="E6E6E6"/>
              </a:outerShdw>
            </a:effectLst>
          </p:spPr>
          <p:txBody>
            <a:bodyPr lIns="0" rIns="0" tIns="0" bIns="0"/>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434" name="文本框 433"/>
            <p:cNvSpPr txBox="1"/>
            <p:nvPr/>
          </p:nvSpPr>
          <p:spPr>
            <a:xfrm>
              <a:off x="3908425" y="2230576"/>
              <a:ext cx="1600200" cy="241300"/>
            </a:xfrm>
            <a:prstGeom prst="rect">
              <a:avLst/>
            </a:prstGeom>
            <a:grpFill/>
          </p:spPr>
          <p:txBody>
            <a:bodyPr vert="horz" wrap="none" lIns="0" tIns="0" rIns="0" bIns="0" rtlCol="0" anchor="t">
              <a:noAutofit/>
            </a:bodyPr>
            <a:lstStyle/>
            <a:p>
              <a:pPr algn="ctr" eaLnBrk="1" latinLnBrk="0" marL="0" marR="0" indent="0">
                <a:lnSpc>
                  <a:spcPts val="1600"/>
                </a:lnSpc>
                <a:spcBef>
                  <a:spcPts val="0"/>
                </a:spcBef>
                <a:spcAft>
                  <a:spcPts val="0"/>
                </a:spcAft>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rPr>
                <a:t>①</a:t>
              </a:r>
              <a:r>
                <a:rPr lang="en-US" sz="1400" b="1" dirty="0">
                  <a:solidFill>
                    <a:srgbClr val="FFFFFF"/>
                  </a:solidFill>
                  <a:effectLst/>
                  <a:latin typeface="微软雅黑"/>
                  <a:ea typeface="微软雅黑"/>
                  <a:cs typeface="微软雅黑"/>
                </a:rPr>
                <a:t>“</a:t>
              </a:r>
              <a:r>
                <a:rPr lang="zh-CN" altLang="en-US" sz="1400" b="1" dirty="0">
                  <a:solidFill>
                    <a:srgbClr val="FFFFFF"/>
                  </a:solidFill>
                  <a:effectLst/>
                  <a:latin typeface="微软雅黑"/>
                  <a:ea typeface="微软雅黑"/>
                  <a:cs typeface="微软雅黑"/>
                </a:rPr>
                <a:t>供不应求</a:t>
              </a:r>
              <a:r>
                <a:rPr lang="en-US" sz="1400" b="1" dirty="0">
                  <a:solidFill>
                    <a:srgbClr val="FFFFFF"/>
                  </a:solidFill>
                  <a:effectLst/>
                  <a:latin typeface="微软雅黑"/>
                  <a:ea typeface="微软雅黑"/>
                  <a:cs typeface="微软雅黑"/>
                </a:rPr>
                <a:t>”</a:t>
              </a:r>
              <a:endParaRPr lang="en-US" sz="1400" b="1" dirty="0">
                <a:solidFill>
                  <a:srgbClr val="FFFFFF"/>
                </a:solidFill>
                <a:effectLst/>
                <a:latin typeface="微软雅黑"/>
                <a:ea typeface="微软雅黑"/>
                <a:cs typeface="微软雅黑"/>
              </a:endParaRPr>
            </a:p>
          </p:txBody>
        </p:sp>
      </p:grpSp>
      <p:grpSp>
        <p:nvGrpSpPr>
          <p:cNvPr id="152" name="组合 151"/>
          <p:cNvGrpSpPr/>
          <p:nvPr/>
        </p:nvGrpSpPr>
        <p:grpSpPr>
          <a:xfrm>
            <a:off x="5217160" y="1224280"/>
            <a:ext cx="3197860" cy="332105"/>
            <a:chOff x="3457586" y="2179141"/>
            <a:chExt cx="2442221" cy="331805"/>
          </a:xfrm>
          <a:solidFill>
            <a:srgbClr val="3368FF"/>
          </a:solidFill>
        </p:grpSpPr>
        <p:sp>
          <p:nvSpPr>
            <p:cNvPr id="153" name="箭头: V 形 19"/>
            <p:cNvSpPr/>
            <p:nvPr/>
          </p:nvSpPr>
          <p:spPr>
            <a:xfrm>
              <a:off x="3457586" y="2179141"/>
              <a:ext cx="2442221" cy="331805"/>
            </a:xfrm>
            <a:prstGeom prst="chevron">
              <a:avLst>
                <a:gd name="adj" fmla="val 37908"/>
              </a:avLst>
            </a:prstGeom>
            <a:grpFill/>
            <a:ln w="9525" cap="rnd" cmpd="sng">
              <a:noFill/>
              <a:prstDash val="solid"/>
              <a:round/>
            </a:ln>
            <a:effectLst>
              <a:outerShdw dist="35921" dir="2700000" algn="ctr" rotWithShape="0">
                <a:srgbClr val="E6E6E6"/>
              </a:outerShdw>
            </a:effectLst>
          </p:spPr>
          <p:txBody>
            <a:bodyPr lIns="0" rIns="0" tIns="0" bIns="0"/>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54" name="文本框 153"/>
            <p:cNvSpPr txBox="1"/>
            <p:nvPr/>
          </p:nvSpPr>
          <p:spPr>
            <a:xfrm>
              <a:off x="4017829" y="2222973"/>
              <a:ext cx="1322705" cy="227759"/>
            </a:xfrm>
            <a:prstGeom prst="rect">
              <a:avLst/>
            </a:prstGeom>
            <a:grpFill/>
            <a:extLst>
              <a:ext uri="{909E8E84-426E-40DD-AFC4-6F175D3DCCD1}">
                <a14:hiddenFill xmlns:a14="http://schemas.microsoft.com/office/drawing/2010/main">
                  <a:grpFill/>
                </a14:hiddenFill>
              </a:ext>
            </a:extLst>
          </p:spPr>
          <p:txBody>
            <a:bodyPr vert="horz" wrap="square" lIns="0" tIns="1270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rPr>
                <a:t>②</a:t>
              </a:r>
              <a:r>
                <a:rPr lang="en-US" sz="1400" b="1" dirty="0">
                  <a:solidFill>
                    <a:srgbClr val="FFFFFF"/>
                  </a:solidFill>
                  <a:effectLst/>
                  <a:latin typeface="微软雅黑"/>
                  <a:ea typeface="微软雅黑"/>
                  <a:cs typeface="微软雅黑"/>
                </a:rPr>
                <a:t>“</a:t>
              </a:r>
              <a:r>
                <a:rPr lang="zh-CN" altLang="en-US" sz="1400" b="1" dirty="0">
                  <a:solidFill>
                    <a:srgbClr val="FFFFFF"/>
                  </a:solidFill>
                  <a:effectLst/>
                  <a:latin typeface="微软雅黑"/>
                  <a:ea typeface="微软雅黑"/>
                  <a:cs typeface="微软雅黑"/>
                </a:rPr>
                <a:t>供需平衡</a:t>
              </a:r>
              <a:r>
                <a:rPr lang="en-US" sz="1400" b="1" dirty="0">
                  <a:solidFill>
                    <a:srgbClr val="FFFFFF"/>
                  </a:solidFill>
                  <a:effectLst/>
                  <a:latin typeface="微软雅黑"/>
                  <a:ea typeface="微软雅黑"/>
                  <a:cs typeface="微软雅黑"/>
                </a:rPr>
                <a:t>”</a:t>
              </a:r>
              <a:endParaRPr lang="en-US" sz="1400" b="1" dirty="0">
                <a:solidFill>
                  <a:srgbClr val="FFFFFF"/>
                </a:solidFill>
                <a:effectLst/>
                <a:latin typeface="微软雅黑"/>
                <a:ea typeface="微软雅黑"/>
                <a:cs typeface="微软雅黑"/>
              </a:endParaRPr>
            </a:p>
          </p:txBody>
        </p:sp>
      </p:grpSp>
      <p:grpSp>
        <p:nvGrpSpPr>
          <p:cNvPr id="155" name="组合 154"/>
          <p:cNvGrpSpPr/>
          <p:nvPr/>
        </p:nvGrpSpPr>
        <p:grpSpPr>
          <a:xfrm>
            <a:off x="8465185" y="1224280"/>
            <a:ext cx="1917065" cy="332105"/>
            <a:chOff x="3457586" y="2179141"/>
            <a:chExt cx="2442221" cy="331805"/>
          </a:xfrm>
          <a:solidFill>
            <a:srgbClr val="3368FF"/>
          </a:solidFill>
        </p:grpSpPr>
        <p:sp>
          <p:nvSpPr>
            <p:cNvPr id="156" name="箭头: V 形 19"/>
            <p:cNvSpPr/>
            <p:nvPr/>
          </p:nvSpPr>
          <p:spPr>
            <a:xfrm>
              <a:off x="3457586" y="2179141"/>
              <a:ext cx="2442221" cy="331805"/>
            </a:xfrm>
            <a:prstGeom prst="chevron">
              <a:avLst>
                <a:gd name="adj" fmla="val 37908"/>
              </a:avLst>
            </a:prstGeom>
            <a:grpFill/>
            <a:ln w="9525" cap="rnd" cmpd="sng">
              <a:noFill/>
              <a:prstDash val="dash"/>
              <a:round/>
            </a:ln>
            <a:effectLst>
              <a:outerShdw dist="35921" dir="2700000" algn="ctr" rotWithShape="0">
                <a:srgbClr val="E6E6E6"/>
              </a:outerShdw>
            </a:effectLst>
          </p:spPr>
          <p:txBody>
            <a:bodyPr lIns="0" rIns="0" tIns="0" bIns="0"/>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57" name="文本框 156"/>
            <p:cNvSpPr txBox="1"/>
            <p:nvPr/>
          </p:nvSpPr>
          <p:spPr>
            <a:xfrm>
              <a:off x="3809479" y="2231797"/>
              <a:ext cx="1865439" cy="227759"/>
            </a:xfrm>
            <a:prstGeom prst="rect">
              <a:avLst/>
            </a:prstGeom>
            <a:grpFill/>
            <a:extLst>
              <a:ext uri="{909E8E84-426E-40DD-AFC4-6F175D3DCCD1}">
                <a14:hiddenFill xmlns:a14="http://schemas.microsoft.com/office/drawing/2010/main">
                  <a:grpFill/>
                </a14:hiddenFill>
              </a:ext>
            </a:extLst>
          </p:spPr>
          <p:txBody>
            <a:bodyPr vert="horz" wrap="square" lIns="0" tIns="1270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rPr>
                <a:t>③</a:t>
              </a:r>
              <a:r>
                <a:rPr lang="en-US" sz="1400" b="1" dirty="0">
                  <a:solidFill>
                    <a:srgbClr val="FFFFFF"/>
                  </a:solidFill>
                  <a:effectLst/>
                  <a:latin typeface="微软雅黑"/>
                  <a:ea typeface="微软雅黑"/>
                  <a:cs typeface="微软雅黑"/>
                </a:rPr>
                <a:t>“</a:t>
              </a:r>
              <a:r>
                <a:rPr lang="zh-CN" altLang="en-US" sz="1400" b="1" dirty="0">
                  <a:solidFill>
                    <a:srgbClr val="FFFFFF"/>
                  </a:solidFill>
                  <a:effectLst/>
                  <a:latin typeface="微软雅黑"/>
                  <a:ea typeface="微软雅黑"/>
                  <a:cs typeface="微软雅黑"/>
                </a:rPr>
                <a:t>供需错配</a:t>
              </a:r>
              <a:r>
                <a:rPr lang="en-US" sz="1400" b="1" dirty="0">
                  <a:solidFill>
                    <a:srgbClr val="FFFFFF"/>
                  </a:solidFill>
                  <a:effectLst/>
                  <a:latin typeface="微软雅黑"/>
                  <a:ea typeface="微软雅黑"/>
                  <a:cs typeface="微软雅黑"/>
                </a:rPr>
                <a:t>”</a:t>
              </a:r>
              <a:endParaRPr lang="en-US" sz="1400" b="1" dirty="0">
                <a:solidFill>
                  <a:srgbClr val="FFFFFF"/>
                </a:solidFill>
                <a:effectLst/>
                <a:latin typeface="微软雅黑"/>
                <a:ea typeface="微软雅黑"/>
                <a:cs typeface="微软雅黑"/>
              </a:endParaRPr>
            </a:p>
          </p:txBody>
        </p:sp>
      </p:grpSp>
      <p:sp>
        <p:nvSpPr>
          <p:cNvPr id="30" name="文本框 29"/>
          <p:cNvSpPr txBox="1"/>
          <p:nvPr/>
        </p:nvSpPr>
        <p:spPr>
          <a:xfrm>
            <a:off x="2596515" y="1700530"/>
            <a:ext cx="2393315" cy="768350"/>
          </a:xfrm>
          <a:prstGeom prst="rect">
            <a:avLst/>
          </a:prstGeom>
          <a:noFill/>
        </p:spPr>
        <p:txBody>
          <a:bodyPr wrap="square" rtlCol="0">
            <a:spAutoFit/>
          </a:bodyPr>
          <a:lstStyle/>
          <a:p>
            <a:pPr marL="171450" indent="-171450" algn="l">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供不应求</a:t>
            </a: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时代，</a:t>
            </a:r>
            <a:r>
              <a:rPr lang="zh-CN" altLang="en-US" sz="1100" b="1" dirty="0">
                <a:solidFill>
                  <a:srgbClr val="383838"/>
                </a:solidFill>
                <a:latin typeface="微软雅黑"/>
                <a:ea typeface="微软雅黑"/>
                <a:cs typeface="微软雅黑"/>
              </a:rPr>
              <a:t>卖方市场</a:t>
            </a:r>
            <a:r>
              <a:rPr lang="zh-CN" altLang="en-US" sz="1100" dirty="0">
                <a:solidFill>
                  <a:srgbClr val="383838"/>
                </a:solidFill>
                <a:latin typeface="微软雅黑"/>
                <a:ea typeface="微软雅黑"/>
                <a:cs typeface="微软雅黑"/>
              </a:rPr>
              <a:t>；</a:t>
            </a:r>
            <a:endParaRPr lang="zh-CN" altLang="en-US" sz="11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产品质量过硬即可实现销售，车企最大的挑战是</a:t>
            </a:r>
            <a:r>
              <a:rPr lang="zh-CN" altLang="en-US" sz="1100" b="1" dirty="0">
                <a:solidFill>
                  <a:srgbClr val="383838"/>
                </a:solidFill>
                <a:latin typeface="微软雅黑"/>
                <a:ea typeface="微软雅黑"/>
                <a:cs typeface="微软雅黑"/>
              </a:rPr>
              <a:t>技术壁垒与产能限制</a:t>
            </a:r>
            <a:r>
              <a:rPr lang="zh-CN" altLang="en-US" sz="1100" dirty="0">
                <a:solidFill>
                  <a:srgbClr val="383838"/>
                </a:solidFill>
                <a:latin typeface="微软雅黑"/>
                <a:ea typeface="微软雅黑"/>
                <a:cs typeface="微软雅黑"/>
              </a:rPr>
              <a:t>。</a:t>
            </a:r>
            <a:endParaRPr lang="zh-CN" altLang="en-US" sz="1100" dirty="0">
              <a:solidFill>
                <a:srgbClr val="383838"/>
              </a:solidFill>
              <a:latin typeface="微软雅黑"/>
              <a:ea typeface="微软雅黑"/>
              <a:cs typeface="微软雅黑"/>
            </a:endParaRPr>
          </a:p>
        </p:txBody>
      </p:sp>
      <p:sp>
        <p:nvSpPr>
          <p:cNvPr id="161" name="文本框 160"/>
          <p:cNvSpPr txBox="1"/>
          <p:nvPr/>
        </p:nvSpPr>
        <p:spPr>
          <a:xfrm>
            <a:off x="5177155" y="1700530"/>
            <a:ext cx="3172460" cy="937260"/>
          </a:xfrm>
          <a:prstGeom prst="rect">
            <a:avLst/>
          </a:prstGeom>
          <a:noFill/>
        </p:spPr>
        <p:txBody>
          <a:bodyPr wrap="square" rtlCol="0">
            <a:spAutoFit/>
          </a:bodyPr>
          <a:lstStyle/>
          <a:p>
            <a:pPr marL="171450" indent="-171450" algn="l">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供需平衡</a:t>
            </a: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时代，</a:t>
            </a:r>
            <a:r>
              <a:rPr lang="zh-CN" altLang="en-US" sz="1100" b="1" dirty="0">
                <a:solidFill>
                  <a:srgbClr val="383838"/>
                </a:solidFill>
                <a:latin typeface="微软雅黑"/>
                <a:ea typeface="微软雅黑"/>
                <a:cs typeface="微软雅黑"/>
              </a:rPr>
              <a:t>竞争加剧</a:t>
            </a:r>
            <a:r>
              <a:rPr lang="zh-CN" altLang="en-US" sz="1100" dirty="0">
                <a:solidFill>
                  <a:srgbClr val="383838"/>
                </a:solidFill>
                <a:latin typeface="微软雅黑"/>
                <a:ea typeface="微软雅黑"/>
                <a:cs typeface="微软雅黑"/>
              </a:rPr>
              <a:t>；</a:t>
            </a:r>
            <a:endParaRPr lang="zh-CN" altLang="en-US" sz="11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量产规模降低成本与价格，全国范围内的市场需求提升；竞争格局固化；相同细分市场内的产品日趋同质化；</a:t>
            </a:r>
            <a:endParaRPr lang="zh-CN" altLang="en-US" sz="11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车企</a:t>
            </a:r>
            <a:r>
              <a:rPr lang="zh-CN" altLang="en-US" sz="1100" b="1" dirty="0">
                <a:solidFill>
                  <a:srgbClr val="383838"/>
                </a:solidFill>
                <a:latin typeface="微软雅黑"/>
                <a:ea typeface="微软雅黑"/>
                <a:cs typeface="微软雅黑"/>
              </a:rPr>
              <a:t>扩大和下沉渠道</a:t>
            </a:r>
            <a:r>
              <a:rPr lang="zh-CN" altLang="en-US" sz="1100" dirty="0">
                <a:solidFill>
                  <a:srgbClr val="383838"/>
                </a:solidFill>
                <a:latin typeface="微软雅黑"/>
                <a:ea typeface="微软雅黑"/>
                <a:cs typeface="微软雅黑"/>
              </a:rPr>
              <a:t>以抢占市场份额。</a:t>
            </a:r>
            <a:endParaRPr lang="zh-CN" altLang="en-US" sz="1100" dirty="0">
              <a:solidFill>
                <a:srgbClr val="383838"/>
              </a:solidFill>
              <a:latin typeface="微软雅黑"/>
              <a:ea typeface="微软雅黑"/>
              <a:cs typeface="微软雅黑"/>
            </a:endParaRPr>
          </a:p>
        </p:txBody>
      </p:sp>
      <p:grpSp>
        <p:nvGrpSpPr>
          <p:cNvPr id="31" name="组合 30"/>
          <p:cNvGrpSpPr/>
          <p:nvPr/>
        </p:nvGrpSpPr>
        <p:grpSpPr>
          <a:xfrm>
            <a:off x="10340975" y="1224280"/>
            <a:ext cx="1475740" cy="332740"/>
            <a:chOff x="3457586" y="2179141"/>
            <a:chExt cx="2442221" cy="331805"/>
          </a:xfrm>
          <a:solidFill>
            <a:srgbClr val="DCDCDC"/>
          </a:solidFill>
        </p:grpSpPr>
        <p:sp>
          <p:nvSpPr>
            <p:cNvPr id="163" name="箭头: V 形 19"/>
            <p:cNvSpPr/>
            <p:nvPr/>
          </p:nvSpPr>
          <p:spPr>
            <a:xfrm>
              <a:off x="3457586" y="2179141"/>
              <a:ext cx="2442221" cy="331805"/>
            </a:xfrm>
            <a:prstGeom prst="chevron">
              <a:avLst>
                <a:gd name="adj" fmla="val 37908"/>
              </a:avLst>
            </a:prstGeom>
            <a:solidFill>
              <a:srgbClr val="3368FF"/>
            </a:solidFill>
            <a:ln w="9525" cap="rnd" cmpd="sng">
              <a:noFill/>
              <a:prstDash val="solid"/>
              <a:round/>
            </a:ln>
            <a:effectLst>
              <a:outerShdw dist="35921" dir="2700000" algn="ctr" rotWithShape="0">
                <a:srgbClr val="E6E6E6"/>
              </a:outerShdw>
            </a:effectLst>
          </p:spPr>
          <p:txBody>
            <a:bodyPr lIns="0" rIns="0" tIns="0" bIns="0"/>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64" name="文本框 163"/>
            <p:cNvSpPr txBox="1"/>
            <p:nvPr/>
          </p:nvSpPr>
          <p:spPr>
            <a:xfrm>
              <a:off x="3813048" y="2232964"/>
              <a:ext cx="1846796" cy="227324"/>
            </a:xfrm>
            <a:prstGeom prst="rect">
              <a:avLst/>
            </a:prstGeom>
            <a:noFill/>
          </p:spPr>
          <p:txBody>
            <a:bodyPr vert="horz" wrap="square" lIns="0" tIns="1270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effectLst/>
                  <a:latin typeface="微软雅黑"/>
                  <a:ea typeface="微软雅黑"/>
                  <a:cs typeface="微软雅黑"/>
                </a:rPr>
                <a:t>④</a:t>
              </a:r>
              <a:r>
                <a:rPr lang="en-US" altLang="zh-CN" sz="1400" b="1" dirty="0">
                  <a:solidFill>
                    <a:srgbClr val="FFFFFF"/>
                  </a:solidFill>
                  <a:effectLst/>
                  <a:latin typeface="微软雅黑"/>
                  <a:ea typeface="微软雅黑"/>
                  <a:cs typeface="微软雅黑"/>
                </a:rPr>
                <a:t>“</a:t>
              </a:r>
              <a:r>
                <a:rPr lang="zh-CN" altLang="en-US" sz="1400" b="1" dirty="0">
                  <a:solidFill>
                    <a:srgbClr val="FFFFFF"/>
                  </a:solidFill>
                  <a:effectLst/>
                  <a:latin typeface="微软雅黑"/>
                  <a:ea typeface="微软雅黑"/>
                  <a:cs typeface="微软雅黑"/>
                </a:rPr>
                <a:t>再平衡</a:t>
              </a:r>
              <a:r>
                <a:rPr lang="en-US" altLang="zh-CN" sz="1400" b="1" dirty="0">
                  <a:solidFill>
                    <a:srgbClr val="FFFFFF"/>
                  </a:solidFill>
                  <a:effectLst/>
                  <a:latin typeface="微软雅黑"/>
                  <a:ea typeface="微软雅黑"/>
                  <a:cs typeface="微软雅黑"/>
                </a:rPr>
                <a:t>”</a:t>
              </a:r>
              <a:endParaRPr lang="en-US" altLang="zh-CN" sz="1400" b="1" dirty="0">
                <a:solidFill>
                  <a:srgbClr val="FFFFFF"/>
                </a:solidFill>
                <a:effectLst/>
                <a:latin typeface="微软雅黑"/>
                <a:ea typeface="微软雅黑"/>
                <a:cs typeface="微软雅黑"/>
              </a:endParaRPr>
            </a:p>
          </p:txBody>
        </p:sp>
      </p:grpSp>
      <p:sp>
        <p:nvSpPr>
          <p:cNvPr id="165" name="文本框 164"/>
          <p:cNvSpPr txBox="1"/>
          <p:nvPr/>
        </p:nvSpPr>
        <p:spPr>
          <a:xfrm>
            <a:off x="8749030" y="1748155"/>
            <a:ext cx="3067685" cy="937260"/>
          </a:xfrm>
          <a:prstGeom prst="rect">
            <a:avLst/>
          </a:prstGeom>
          <a:noFill/>
        </p:spPr>
        <p:txBody>
          <a:bodyPr wrap="square" rtlCol="0">
            <a:spAutoFit/>
          </a:bodyPr>
          <a:lstStyle/>
          <a:p>
            <a:pPr marL="171450" indent="-171450" algn="l">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供需错配</a:t>
            </a:r>
            <a:r>
              <a:rPr lang="en-US" altLang="zh-CN" sz="1100" dirty="0">
                <a:solidFill>
                  <a:srgbClr val="383838"/>
                </a:solidFill>
                <a:latin typeface="微软雅黑"/>
                <a:ea typeface="微软雅黑"/>
                <a:cs typeface="微软雅黑"/>
              </a:rPr>
              <a:t>”</a:t>
            </a:r>
            <a:r>
              <a:rPr lang="zh-CN" altLang="en-US" sz="1100" dirty="0">
                <a:solidFill>
                  <a:srgbClr val="383838"/>
                </a:solidFill>
                <a:latin typeface="微软雅黑"/>
                <a:ea typeface="微软雅黑"/>
                <a:cs typeface="微软雅黑"/>
              </a:rPr>
              <a:t>时代，</a:t>
            </a:r>
            <a:r>
              <a:rPr lang="zh-CN" altLang="en-US" sz="1100" b="1" dirty="0">
                <a:solidFill>
                  <a:srgbClr val="383838"/>
                </a:solidFill>
                <a:latin typeface="微软雅黑"/>
                <a:ea typeface="微软雅黑"/>
                <a:cs typeface="微软雅黑"/>
              </a:rPr>
              <a:t>买方市场；</a:t>
            </a:r>
            <a:endParaRPr lang="zh-CN" altLang="en-US" sz="1100" b="1"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价格战的时代已过，产品供大于求伴随消费者需求提升，</a:t>
            </a:r>
            <a:r>
              <a:rPr lang="en-US" altLang="zh-CN" sz="1100" b="1" dirty="0">
                <a:solidFill>
                  <a:srgbClr val="383838"/>
                </a:solidFill>
                <a:latin typeface="微软雅黑"/>
                <a:ea typeface="微软雅黑"/>
                <a:cs typeface="微软雅黑"/>
              </a:rPr>
              <a:t>“</a:t>
            </a:r>
            <a:r>
              <a:rPr lang="zh-CN" altLang="en-US" sz="1100" b="1" dirty="0">
                <a:solidFill>
                  <a:srgbClr val="383838"/>
                </a:solidFill>
                <a:latin typeface="微软雅黑"/>
                <a:ea typeface="微软雅黑"/>
                <a:cs typeface="微软雅黑"/>
              </a:rPr>
              <a:t>客源流量</a:t>
            </a:r>
            <a:r>
              <a:rPr lang="en-US" altLang="zh-CN" sz="1100" b="1" dirty="0">
                <a:solidFill>
                  <a:srgbClr val="383838"/>
                </a:solidFill>
                <a:latin typeface="微软雅黑"/>
                <a:ea typeface="微软雅黑"/>
                <a:cs typeface="微软雅黑"/>
              </a:rPr>
              <a:t>”</a:t>
            </a:r>
            <a:r>
              <a:rPr lang="zh-CN" altLang="en-US" sz="1100" b="1" dirty="0">
                <a:solidFill>
                  <a:srgbClr val="383838"/>
                </a:solidFill>
                <a:latin typeface="微软雅黑"/>
                <a:ea typeface="微软雅黑"/>
                <a:cs typeface="微软雅黑"/>
              </a:rPr>
              <a:t>的获取是关键</a:t>
            </a:r>
            <a:r>
              <a:rPr lang="zh-CN" altLang="en-US" sz="1100" dirty="0">
                <a:solidFill>
                  <a:srgbClr val="383838"/>
                </a:solidFill>
                <a:latin typeface="微软雅黑"/>
                <a:ea typeface="微软雅黑"/>
                <a:cs typeface="微软雅黑"/>
              </a:rPr>
              <a:t>；</a:t>
            </a:r>
            <a:endParaRPr lang="zh-CN" altLang="en-US" sz="1100" dirty="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rPr>
              <a:t>车企通过个性化产品打造和品牌亲密度培育，获取高价值线索流量支撑变现。</a:t>
            </a:r>
            <a:endParaRPr lang="zh-CN" altLang="en-US" sz="1100" dirty="0">
              <a:solidFill>
                <a:srgbClr val="383838"/>
              </a:solidFill>
              <a:latin typeface="微软雅黑"/>
              <a:ea typeface="微软雅黑"/>
              <a:cs typeface="微软雅黑"/>
            </a:endParaRPr>
          </a:p>
        </p:txBody>
      </p:sp>
      <p:sp>
        <p:nvSpPr>
          <p:cNvPr id="167" name="宇神Design-独家版式库-5-2"/>
          <p:cNvSpPr>
            <a:spLocks noEditPoints="1"/>
          </p:cNvSpPr>
          <p:nvPr/>
        </p:nvSpPr>
        <p:spPr bwMode="auto">
          <a:xfrm>
            <a:off x="6599555" y="2954020"/>
            <a:ext cx="1620000" cy="15875"/>
          </a:xfrm>
          <a:custGeom>
            <a:avLst/>
            <a:gdLst>
              <a:gd name="T0" fmla="*/ 726 w 726"/>
              <a:gd name="T1" fmla="*/ 10 h 10"/>
              <a:gd name="T2" fmla="*/ 722 w 726"/>
              <a:gd name="T3" fmla="*/ 0 h 10"/>
              <a:gd name="T4" fmla="*/ 688 w 726"/>
              <a:gd name="T5" fmla="*/ 10 h 10"/>
              <a:gd name="T6" fmla="*/ 708 w 726"/>
              <a:gd name="T7" fmla="*/ 0 h 10"/>
              <a:gd name="T8" fmla="*/ 688 w 726"/>
              <a:gd name="T9" fmla="*/ 10 h 10"/>
              <a:gd name="T10" fmla="*/ 674 w 726"/>
              <a:gd name="T11" fmla="*/ 10 h 10"/>
              <a:gd name="T12" fmla="*/ 653 w 726"/>
              <a:gd name="T13" fmla="*/ 0 h 10"/>
              <a:gd name="T14" fmla="*/ 619 w 726"/>
              <a:gd name="T15" fmla="*/ 10 h 10"/>
              <a:gd name="T16" fmla="*/ 640 w 726"/>
              <a:gd name="T17" fmla="*/ 0 h 10"/>
              <a:gd name="T18" fmla="*/ 619 w 726"/>
              <a:gd name="T19" fmla="*/ 10 h 10"/>
              <a:gd name="T20" fmla="*/ 605 w 726"/>
              <a:gd name="T21" fmla="*/ 10 h 10"/>
              <a:gd name="T22" fmla="*/ 584 w 726"/>
              <a:gd name="T23" fmla="*/ 0 h 10"/>
              <a:gd name="T24" fmla="*/ 550 w 726"/>
              <a:gd name="T25" fmla="*/ 10 h 10"/>
              <a:gd name="T26" fmla="*/ 571 w 726"/>
              <a:gd name="T27" fmla="*/ 0 h 10"/>
              <a:gd name="T28" fmla="*/ 550 w 726"/>
              <a:gd name="T29" fmla="*/ 10 h 10"/>
              <a:gd name="T30" fmla="*/ 536 w 726"/>
              <a:gd name="T31" fmla="*/ 10 h 10"/>
              <a:gd name="T32" fmla="*/ 516 w 726"/>
              <a:gd name="T33" fmla="*/ 0 h 10"/>
              <a:gd name="T34" fmla="*/ 481 w 726"/>
              <a:gd name="T35" fmla="*/ 10 h 10"/>
              <a:gd name="T36" fmla="*/ 502 w 726"/>
              <a:gd name="T37" fmla="*/ 0 h 10"/>
              <a:gd name="T38" fmla="*/ 481 w 726"/>
              <a:gd name="T39" fmla="*/ 10 h 10"/>
              <a:gd name="T40" fmla="*/ 468 w 726"/>
              <a:gd name="T41" fmla="*/ 10 h 10"/>
              <a:gd name="T42" fmla="*/ 447 w 726"/>
              <a:gd name="T43" fmla="*/ 0 h 10"/>
              <a:gd name="T44" fmla="*/ 412 w 726"/>
              <a:gd name="T45" fmla="*/ 10 h 10"/>
              <a:gd name="T46" fmla="*/ 433 w 726"/>
              <a:gd name="T47" fmla="*/ 0 h 10"/>
              <a:gd name="T48" fmla="*/ 412 w 726"/>
              <a:gd name="T49" fmla="*/ 10 h 10"/>
              <a:gd name="T50" fmla="*/ 399 w 726"/>
              <a:gd name="T51" fmla="*/ 10 h 10"/>
              <a:gd name="T52" fmla="*/ 378 w 726"/>
              <a:gd name="T53" fmla="*/ 0 h 10"/>
              <a:gd name="T54" fmla="*/ 344 w 726"/>
              <a:gd name="T55" fmla="*/ 10 h 10"/>
              <a:gd name="T56" fmla="*/ 364 w 726"/>
              <a:gd name="T57" fmla="*/ 0 h 10"/>
              <a:gd name="T58" fmla="*/ 344 w 726"/>
              <a:gd name="T59" fmla="*/ 10 h 10"/>
              <a:gd name="T60" fmla="*/ 330 w 726"/>
              <a:gd name="T61" fmla="*/ 10 h 10"/>
              <a:gd name="T62" fmla="*/ 309 w 726"/>
              <a:gd name="T63" fmla="*/ 0 h 10"/>
              <a:gd name="T64" fmla="*/ 275 w 726"/>
              <a:gd name="T65" fmla="*/ 10 h 10"/>
              <a:gd name="T66" fmla="*/ 295 w 726"/>
              <a:gd name="T67" fmla="*/ 0 h 10"/>
              <a:gd name="T68" fmla="*/ 275 w 726"/>
              <a:gd name="T69" fmla="*/ 10 h 10"/>
              <a:gd name="T70" fmla="*/ 261 w 726"/>
              <a:gd name="T71" fmla="*/ 10 h 10"/>
              <a:gd name="T72" fmla="*/ 240 w 726"/>
              <a:gd name="T73" fmla="*/ 0 h 10"/>
              <a:gd name="T74" fmla="*/ 206 w 726"/>
              <a:gd name="T75" fmla="*/ 10 h 10"/>
              <a:gd name="T76" fmla="*/ 227 w 726"/>
              <a:gd name="T77" fmla="*/ 0 h 10"/>
              <a:gd name="T78" fmla="*/ 206 w 726"/>
              <a:gd name="T79" fmla="*/ 10 h 10"/>
              <a:gd name="T80" fmla="*/ 192 w 726"/>
              <a:gd name="T81" fmla="*/ 10 h 10"/>
              <a:gd name="T82" fmla="*/ 172 w 726"/>
              <a:gd name="T83" fmla="*/ 0 h 10"/>
              <a:gd name="T84" fmla="*/ 137 w 726"/>
              <a:gd name="T85" fmla="*/ 10 h 10"/>
              <a:gd name="T86" fmla="*/ 158 w 726"/>
              <a:gd name="T87" fmla="*/ 0 h 10"/>
              <a:gd name="T88" fmla="*/ 137 w 726"/>
              <a:gd name="T89" fmla="*/ 10 h 10"/>
              <a:gd name="T90" fmla="*/ 123 w 726"/>
              <a:gd name="T91" fmla="*/ 10 h 10"/>
              <a:gd name="T92" fmla="*/ 103 w 726"/>
              <a:gd name="T93" fmla="*/ 0 h 10"/>
              <a:gd name="T94" fmla="*/ 68 w 726"/>
              <a:gd name="T95" fmla="*/ 10 h 10"/>
              <a:gd name="T96" fmla="*/ 89 w 726"/>
              <a:gd name="T97" fmla="*/ 0 h 10"/>
              <a:gd name="T98" fmla="*/ 68 w 726"/>
              <a:gd name="T99" fmla="*/ 10 h 10"/>
              <a:gd name="T100" fmla="*/ 55 w 726"/>
              <a:gd name="T101" fmla="*/ 10 h 10"/>
              <a:gd name="T102" fmla="*/ 34 w 726"/>
              <a:gd name="T103" fmla="*/ 0 h 10"/>
              <a:gd name="T104" fmla="*/ 0 w 726"/>
              <a:gd name="T105" fmla="*/ 10 h 10"/>
              <a:gd name="T106" fmla="*/ 20 w 726"/>
              <a:gd name="T107" fmla="*/ 0 h 10"/>
              <a:gd name="T108" fmla="*/ 0 w 726"/>
              <a:gd name="T10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6" h="10">
                <a:moveTo>
                  <a:pt x="722" y="10"/>
                </a:moveTo>
                <a:lnTo>
                  <a:pt x="726" y="10"/>
                </a:lnTo>
                <a:lnTo>
                  <a:pt x="726" y="0"/>
                </a:lnTo>
                <a:lnTo>
                  <a:pt x="722" y="0"/>
                </a:lnTo>
                <a:lnTo>
                  <a:pt x="722" y="10"/>
                </a:lnTo>
                <a:moveTo>
                  <a:pt x="688" y="10"/>
                </a:moveTo>
                <a:lnTo>
                  <a:pt x="708" y="10"/>
                </a:lnTo>
                <a:lnTo>
                  <a:pt x="708" y="0"/>
                </a:lnTo>
                <a:lnTo>
                  <a:pt x="688" y="0"/>
                </a:lnTo>
                <a:lnTo>
                  <a:pt x="688" y="10"/>
                </a:lnTo>
                <a:moveTo>
                  <a:pt x="653" y="10"/>
                </a:moveTo>
                <a:lnTo>
                  <a:pt x="674" y="10"/>
                </a:lnTo>
                <a:lnTo>
                  <a:pt x="674" y="0"/>
                </a:lnTo>
                <a:lnTo>
                  <a:pt x="653" y="0"/>
                </a:lnTo>
                <a:lnTo>
                  <a:pt x="653" y="10"/>
                </a:lnTo>
                <a:moveTo>
                  <a:pt x="619" y="10"/>
                </a:moveTo>
                <a:lnTo>
                  <a:pt x="640" y="10"/>
                </a:lnTo>
                <a:lnTo>
                  <a:pt x="640" y="0"/>
                </a:lnTo>
                <a:lnTo>
                  <a:pt x="619" y="0"/>
                </a:lnTo>
                <a:lnTo>
                  <a:pt x="619" y="10"/>
                </a:lnTo>
                <a:moveTo>
                  <a:pt x="584" y="10"/>
                </a:moveTo>
                <a:lnTo>
                  <a:pt x="605" y="10"/>
                </a:lnTo>
                <a:lnTo>
                  <a:pt x="605" y="0"/>
                </a:lnTo>
                <a:lnTo>
                  <a:pt x="584" y="0"/>
                </a:lnTo>
                <a:lnTo>
                  <a:pt x="584" y="10"/>
                </a:lnTo>
                <a:moveTo>
                  <a:pt x="550" y="10"/>
                </a:moveTo>
                <a:lnTo>
                  <a:pt x="571" y="10"/>
                </a:lnTo>
                <a:lnTo>
                  <a:pt x="571" y="0"/>
                </a:lnTo>
                <a:lnTo>
                  <a:pt x="550" y="0"/>
                </a:lnTo>
                <a:lnTo>
                  <a:pt x="550" y="10"/>
                </a:lnTo>
                <a:moveTo>
                  <a:pt x="516" y="10"/>
                </a:moveTo>
                <a:lnTo>
                  <a:pt x="536" y="10"/>
                </a:lnTo>
                <a:lnTo>
                  <a:pt x="536" y="0"/>
                </a:lnTo>
                <a:lnTo>
                  <a:pt x="516" y="0"/>
                </a:lnTo>
                <a:lnTo>
                  <a:pt x="516" y="10"/>
                </a:lnTo>
                <a:moveTo>
                  <a:pt x="481" y="10"/>
                </a:moveTo>
                <a:lnTo>
                  <a:pt x="502" y="10"/>
                </a:lnTo>
                <a:lnTo>
                  <a:pt x="502" y="0"/>
                </a:lnTo>
                <a:lnTo>
                  <a:pt x="481" y="0"/>
                </a:lnTo>
                <a:lnTo>
                  <a:pt x="481" y="10"/>
                </a:lnTo>
                <a:moveTo>
                  <a:pt x="447" y="10"/>
                </a:moveTo>
                <a:lnTo>
                  <a:pt x="468" y="10"/>
                </a:lnTo>
                <a:lnTo>
                  <a:pt x="468" y="0"/>
                </a:lnTo>
                <a:lnTo>
                  <a:pt x="447" y="0"/>
                </a:lnTo>
                <a:lnTo>
                  <a:pt x="447" y="10"/>
                </a:lnTo>
                <a:moveTo>
                  <a:pt x="412" y="10"/>
                </a:moveTo>
                <a:lnTo>
                  <a:pt x="433" y="10"/>
                </a:lnTo>
                <a:lnTo>
                  <a:pt x="433" y="0"/>
                </a:lnTo>
                <a:lnTo>
                  <a:pt x="412" y="0"/>
                </a:lnTo>
                <a:lnTo>
                  <a:pt x="412" y="10"/>
                </a:lnTo>
                <a:moveTo>
                  <a:pt x="378" y="10"/>
                </a:moveTo>
                <a:lnTo>
                  <a:pt x="399" y="10"/>
                </a:lnTo>
                <a:lnTo>
                  <a:pt x="399" y="0"/>
                </a:lnTo>
                <a:lnTo>
                  <a:pt x="378" y="0"/>
                </a:lnTo>
                <a:lnTo>
                  <a:pt x="378" y="10"/>
                </a:lnTo>
                <a:moveTo>
                  <a:pt x="344" y="10"/>
                </a:moveTo>
                <a:lnTo>
                  <a:pt x="364" y="10"/>
                </a:lnTo>
                <a:lnTo>
                  <a:pt x="364" y="0"/>
                </a:lnTo>
                <a:lnTo>
                  <a:pt x="344" y="0"/>
                </a:lnTo>
                <a:lnTo>
                  <a:pt x="344" y="10"/>
                </a:lnTo>
                <a:moveTo>
                  <a:pt x="309" y="10"/>
                </a:moveTo>
                <a:lnTo>
                  <a:pt x="330" y="10"/>
                </a:lnTo>
                <a:lnTo>
                  <a:pt x="330" y="0"/>
                </a:lnTo>
                <a:lnTo>
                  <a:pt x="309" y="0"/>
                </a:lnTo>
                <a:lnTo>
                  <a:pt x="309" y="10"/>
                </a:lnTo>
                <a:moveTo>
                  <a:pt x="275" y="10"/>
                </a:moveTo>
                <a:lnTo>
                  <a:pt x="295" y="10"/>
                </a:lnTo>
                <a:lnTo>
                  <a:pt x="295" y="0"/>
                </a:lnTo>
                <a:lnTo>
                  <a:pt x="275" y="0"/>
                </a:lnTo>
                <a:lnTo>
                  <a:pt x="275" y="10"/>
                </a:lnTo>
                <a:moveTo>
                  <a:pt x="240" y="10"/>
                </a:moveTo>
                <a:lnTo>
                  <a:pt x="261" y="10"/>
                </a:lnTo>
                <a:lnTo>
                  <a:pt x="261" y="0"/>
                </a:lnTo>
                <a:lnTo>
                  <a:pt x="240" y="0"/>
                </a:lnTo>
                <a:lnTo>
                  <a:pt x="240" y="10"/>
                </a:lnTo>
                <a:moveTo>
                  <a:pt x="206" y="10"/>
                </a:moveTo>
                <a:lnTo>
                  <a:pt x="227" y="10"/>
                </a:lnTo>
                <a:lnTo>
                  <a:pt x="227" y="0"/>
                </a:lnTo>
                <a:lnTo>
                  <a:pt x="206" y="0"/>
                </a:lnTo>
                <a:lnTo>
                  <a:pt x="206" y="10"/>
                </a:lnTo>
                <a:moveTo>
                  <a:pt x="172" y="10"/>
                </a:moveTo>
                <a:lnTo>
                  <a:pt x="192" y="10"/>
                </a:lnTo>
                <a:lnTo>
                  <a:pt x="192" y="0"/>
                </a:lnTo>
                <a:lnTo>
                  <a:pt x="172" y="0"/>
                </a:lnTo>
                <a:lnTo>
                  <a:pt x="172" y="10"/>
                </a:lnTo>
                <a:moveTo>
                  <a:pt x="137" y="10"/>
                </a:moveTo>
                <a:lnTo>
                  <a:pt x="158" y="10"/>
                </a:lnTo>
                <a:lnTo>
                  <a:pt x="158" y="0"/>
                </a:lnTo>
                <a:lnTo>
                  <a:pt x="137" y="0"/>
                </a:lnTo>
                <a:lnTo>
                  <a:pt x="137" y="10"/>
                </a:lnTo>
                <a:moveTo>
                  <a:pt x="103" y="10"/>
                </a:moveTo>
                <a:lnTo>
                  <a:pt x="123" y="10"/>
                </a:lnTo>
                <a:lnTo>
                  <a:pt x="123" y="0"/>
                </a:lnTo>
                <a:lnTo>
                  <a:pt x="103" y="0"/>
                </a:lnTo>
                <a:lnTo>
                  <a:pt x="103" y="10"/>
                </a:lnTo>
                <a:moveTo>
                  <a:pt x="68" y="10"/>
                </a:moveTo>
                <a:lnTo>
                  <a:pt x="89" y="10"/>
                </a:lnTo>
                <a:lnTo>
                  <a:pt x="89" y="0"/>
                </a:lnTo>
                <a:lnTo>
                  <a:pt x="68" y="0"/>
                </a:lnTo>
                <a:lnTo>
                  <a:pt x="68" y="10"/>
                </a:lnTo>
                <a:moveTo>
                  <a:pt x="34" y="10"/>
                </a:moveTo>
                <a:lnTo>
                  <a:pt x="55" y="10"/>
                </a:lnTo>
                <a:lnTo>
                  <a:pt x="55" y="0"/>
                </a:lnTo>
                <a:lnTo>
                  <a:pt x="34" y="0"/>
                </a:lnTo>
                <a:lnTo>
                  <a:pt x="34" y="10"/>
                </a:lnTo>
                <a:moveTo>
                  <a:pt x="0" y="10"/>
                </a:moveTo>
                <a:lnTo>
                  <a:pt x="20" y="10"/>
                </a:lnTo>
                <a:lnTo>
                  <a:pt x="20" y="0"/>
                </a:lnTo>
                <a:lnTo>
                  <a:pt x="0" y="0"/>
                </a:lnTo>
                <a:lnTo>
                  <a:pt x="0" y="10"/>
                </a:lnTo>
              </a:path>
            </a:pathLst>
          </a:custGeom>
          <a:solidFill>
            <a:srgbClr val="3368FF"/>
          </a:soli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id-ID" sz="18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32" name="宇神Design-独家版式库-5-3"/>
          <p:cNvSpPr>
            <a:spLocks noChangeArrowheads="1"/>
          </p:cNvSpPr>
          <p:nvPr/>
        </p:nvSpPr>
        <p:spPr bwMode="auto">
          <a:xfrm>
            <a:off x="8219440" y="2924810"/>
            <a:ext cx="71755" cy="71120"/>
          </a:xfrm>
          <a:prstGeom prst="ellipse">
            <a:avLst/>
          </a:prstGeom>
          <a:solidFill>
            <a:srgbClr val="3368FF"/>
          </a:soli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id-ID" sz="18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33" name="矩形: 圆角 23"/>
          <p:cNvSpPr/>
          <p:nvPr/>
        </p:nvSpPr>
        <p:spPr>
          <a:xfrm>
            <a:off x="5362575" y="2823845"/>
            <a:ext cx="1211580" cy="356870"/>
          </a:xfrm>
          <a:prstGeom prst="roundRect">
            <a:avLst>
              <a:gd name="adj" fmla="val 8000"/>
            </a:avLst>
          </a:prstGeom>
          <a:solidFill>
            <a:srgbClr val="3368FF"/>
          </a:solidFill>
          <a:ln w="6350" cap="flat">
            <a:noFill/>
            <a:prstDash val="solid"/>
            <a:miter/>
          </a:ln>
          <a:effectLst/>
        </p:spPr>
        <p:txBody>
          <a:bodyPr rot="0" spcFirstLastPara="0"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4" name="文本框 77"/>
          <p:cNvSpPr txBox="1"/>
          <p:nvPr/>
        </p:nvSpPr>
        <p:spPr>
          <a:xfrm>
            <a:off x="5561330" y="2904490"/>
            <a:ext cx="457200" cy="184150"/>
          </a:xfrm>
          <a:prstGeom prst="rect">
            <a:avLst/>
          </a:prstGeom>
          <a:noFill/>
        </p:spPr>
        <p:txBody>
          <a:bodyPr wrap="non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sz="1200" b="1" dirty="0">
                <a:solidFill>
                  <a:srgbClr val="FFFFFF"/>
                </a:solidFill>
                <a:effectLst/>
                <a:latin typeface="微软雅黑"/>
                <a:ea typeface="微软雅黑"/>
                <a:cs typeface="微软雅黑"/>
              </a:rPr>
              <a:t>渠道力</a:t>
            </a:r>
            <a:endParaRPr lang="zh-CN" sz="1200" b="1" dirty="0">
              <a:solidFill>
                <a:srgbClr val="FFFFFF"/>
              </a:solidFill>
              <a:effectLst/>
              <a:latin typeface="微软雅黑"/>
              <a:ea typeface="微软雅黑"/>
              <a:cs typeface="微软雅黑"/>
            </a:endParaRPr>
          </a:p>
        </p:txBody>
      </p:sp>
      <p:pic>
        <p:nvPicPr>
          <p:cNvPr id="37" name="图片 36" descr="系统平台"/>
          <p:cNvPicPr>
            <a:picLocks noChangeAspect="1"/>
          </p:cNvPicPr>
          <p:nvPr>
            <p:custDataLst>
              <p:tags r:id="rId3"/>
            </p:custDataLst>
          </p:nvPr>
        </p:nvPicPr>
        <p:blipFill>
          <a:blip r:embed="rId4"/>
          <a:stretch>
            <a:fillRect/>
          </a:stretch>
        </p:blipFill>
        <p:spPr>
          <a:xfrm>
            <a:off x="6245225" y="2875915"/>
            <a:ext cx="241300" cy="241300"/>
          </a:xfrm>
          <a:prstGeom prst="rect">
            <a:avLst/>
          </a:prstGeom>
        </p:spPr>
      </p:pic>
      <p:grpSp>
        <p:nvGrpSpPr>
          <p:cNvPr id="38" name="组合 37"/>
          <p:cNvGrpSpPr/>
          <p:nvPr/>
        </p:nvGrpSpPr>
        <p:grpSpPr>
          <a:xfrm>
            <a:off x="2708275" y="2823845"/>
            <a:ext cx="2291080" cy="356870"/>
            <a:chOff x="4265" y="4393"/>
            <a:chExt cx="3608" cy="562"/>
          </a:xfrm>
          <a:solidFill>
            <a:srgbClr val="3368FF"/>
          </a:solidFill>
        </p:grpSpPr>
        <p:sp>
          <p:nvSpPr>
            <p:cNvPr id="177" name="宇神Design-独家版式库-5-2"/>
            <p:cNvSpPr>
              <a:spLocks noEditPoints="1"/>
            </p:cNvSpPr>
            <p:nvPr/>
          </p:nvSpPr>
          <p:spPr bwMode="auto">
            <a:xfrm>
              <a:off x="6035" y="4595"/>
              <a:ext cx="1815" cy="25"/>
            </a:xfrm>
            <a:custGeom>
              <a:avLst/>
              <a:gdLst>
                <a:gd name="T0" fmla="*/ 726 w 726"/>
                <a:gd name="T1" fmla="*/ 10 h 10"/>
                <a:gd name="T2" fmla="*/ 722 w 726"/>
                <a:gd name="T3" fmla="*/ 0 h 10"/>
                <a:gd name="T4" fmla="*/ 688 w 726"/>
                <a:gd name="T5" fmla="*/ 10 h 10"/>
                <a:gd name="T6" fmla="*/ 708 w 726"/>
                <a:gd name="T7" fmla="*/ 0 h 10"/>
                <a:gd name="T8" fmla="*/ 688 w 726"/>
                <a:gd name="T9" fmla="*/ 10 h 10"/>
                <a:gd name="T10" fmla="*/ 674 w 726"/>
                <a:gd name="T11" fmla="*/ 10 h 10"/>
                <a:gd name="T12" fmla="*/ 653 w 726"/>
                <a:gd name="T13" fmla="*/ 0 h 10"/>
                <a:gd name="T14" fmla="*/ 619 w 726"/>
                <a:gd name="T15" fmla="*/ 10 h 10"/>
                <a:gd name="T16" fmla="*/ 640 w 726"/>
                <a:gd name="T17" fmla="*/ 0 h 10"/>
                <a:gd name="T18" fmla="*/ 619 w 726"/>
                <a:gd name="T19" fmla="*/ 10 h 10"/>
                <a:gd name="T20" fmla="*/ 605 w 726"/>
                <a:gd name="T21" fmla="*/ 10 h 10"/>
                <a:gd name="T22" fmla="*/ 584 w 726"/>
                <a:gd name="T23" fmla="*/ 0 h 10"/>
                <a:gd name="T24" fmla="*/ 550 w 726"/>
                <a:gd name="T25" fmla="*/ 10 h 10"/>
                <a:gd name="T26" fmla="*/ 571 w 726"/>
                <a:gd name="T27" fmla="*/ 0 h 10"/>
                <a:gd name="T28" fmla="*/ 550 w 726"/>
                <a:gd name="T29" fmla="*/ 10 h 10"/>
                <a:gd name="T30" fmla="*/ 536 w 726"/>
                <a:gd name="T31" fmla="*/ 10 h 10"/>
                <a:gd name="T32" fmla="*/ 516 w 726"/>
                <a:gd name="T33" fmla="*/ 0 h 10"/>
                <a:gd name="T34" fmla="*/ 481 w 726"/>
                <a:gd name="T35" fmla="*/ 10 h 10"/>
                <a:gd name="T36" fmla="*/ 502 w 726"/>
                <a:gd name="T37" fmla="*/ 0 h 10"/>
                <a:gd name="T38" fmla="*/ 481 w 726"/>
                <a:gd name="T39" fmla="*/ 10 h 10"/>
                <a:gd name="T40" fmla="*/ 468 w 726"/>
                <a:gd name="T41" fmla="*/ 10 h 10"/>
                <a:gd name="T42" fmla="*/ 447 w 726"/>
                <a:gd name="T43" fmla="*/ 0 h 10"/>
                <a:gd name="T44" fmla="*/ 412 w 726"/>
                <a:gd name="T45" fmla="*/ 10 h 10"/>
                <a:gd name="T46" fmla="*/ 433 w 726"/>
                <a:gd name="T47" fmla="*/ 0 h 10"/>
                <a:gd name="T48" fmla="*/ 412 w 726"/>
                <a:gd name="T49" fmla="*/ 10 h 10"/>
                <a:gd name="T50" fmla="*/ 399 w 726"/>
                <a:gd name="T51" fmla="*/ 10 h 10"/>
                <a:gd name="T52" fmla="*/ 378 w 726"/>
                <a:gd name="T53" fmla="*/ 0 h 10"/>
                <a:gd name="T54" fmla="*/ 344 w 726"/>
                <a:gd name="T55" fmla="*/ 10 h 10"/>
                <a:gd name="T56" fmla="*/ 364 w 726"/>
                <a:gd name="T57" fmla="*/ 0 h 10"/>
                <a:gd name="T58" fmla="*/ 344 w 726"/>
                <a:gd name="T59" fmla="*/ 10 h 10"/>
                <a:gd name="T60" fmla="*/ 330 w 726"/>
                <a:gd name="T61" fmla="*/ 10 h 10"/>
                <a:gd name="T62" fmla="*/ 309 w 726"/>
                <a:gd name="T63" fmla="*/ 0 h 10"/>
                <a:gd name="T64" fmla="*/ 275 w 726"/>
                <a:gd name="T65" fmla="*/ 10 h 10"/>
                <a:gd name="T66" fmla="*/ 295 w 726"/>
                <a:gd name="T67" fmla="*/ 0 h 10"/>
                <a:gd name="T68" fmla="*/ 275 w 726"/>
                <a:gd name="T69" fmla="*/ 10 h 10"/>
                <a:gd name="T70" fmla="*/ 261 w 726"/>
                <a:gd name="T71" fmla="*/ 10 h 10"/>
                <a:gd name="T72" fmla="*/ 240 w 726"/>
                <a:gd name="T73" fmla="*/ 0 h 10"/>
                <a:gd name="T74" fmla="*/ 206 w 726"/>
                <a:gd name="T75" fmla="*/ 10 h 10"/>
                <a:gd name="T76" fmla="*/ 227 w 726"/>
                <a:gd name="T77" fmla="*/ 0 h 10"/>
                <a:gd name="T78" fmla="*/ 206 w 726"/>
                <a:gd name="T79" fmla="*/ 10 h 10"/>
                <a:gd name="T80" fmla="*/ 192 w 726"/>
                <a:gd name="T81" fmla="*/ 10 h 10"/>
                <a:gd name="T82" fmla="*/ 172 w 726"/>
                <a:gd name="T83" fmla="*/ 0 h 10"/>
                <a:gd name="T84" fmla="*/ 137 w 726"/>
                <a:gd name="T85" fmla="*/ 10 h 10"/>
                <a:gd name="T86" fmla="*/ 158 w 726"/>
                <a:gd name="T87" fmla="*/ 0 h 10"/>
                <a:gd name="T88" fmla="*/ 137 w 726"/>
                <a:gd name="T89" fmla="*/ 10 h 10"/>
                <a:gd name="T90" fmla="*/ 123 w 726"/>
                <a:gd name="T91" fmla="*/ 10 h 10"/>
                <a:gd name="T92" fmla="*/ 103 w 726"/>
                <a:gd name="T93" fmla="*/ 0 h 10"/>
                <a:gd name="T94" fmla="*/ 68 w 726"/>
                <a:gd name="T95" fmla="*/ 10 h 10"/>
                <a:gd name="T96" fmla="*/ 89 w 726"/>
                <a:gd name="T97" fmla="*/ 0 h 10"/>
                <a:gd name="T98" fmla="*/ 68 w 726"/>
                <a:gd name="T99" fmla="*/ 10 h 10"/>
                <a:gd name="T100" fmla="*/ 55 w 726"/>
                <a:gd name="T101" fmla="*/ 10 h 10"/>
                <a:gd name="T102" fmla="*/ 34 w 726"/>
                <a:gd name="T103" fmla="*/ 0 h 10"/>
                <a:gd name="T104" fmla="*/ 0 w 726"/>
                <a:gd name="T105" fmla="*/ 10 h 10"/>
                <a:gd name="T106" fmla="*/ 20 w 726"/>
                <a:gd name="T107" fmla="*/ 0 h 10"/>
                <a:gd name="T108" fmla="*/ 0 w 726"/>
                <a:gd name="T10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6" h="10">
                  <a:moveTo>
                    <a:pt x="722" y="10"/>
                  </a:moveTo>
                  <a:lnTo>
                    <a:pt x="726" y="10"/>
                  </a:lnTo>
                  <a:lnTo>
                    <a:pt x="726" y="0"/>
                  </a:lnTo>
                  <a:lnTo>
                    <a:pt x="722" y="0"/>
                  </a:lnTo>
                  <a:lnTo>
                    <a:pt x="722" y="10"/>
                  </a:lnTo>
                  <a:moveTo>
                    <a:pt x="688" y="10"/>
                  </a:moveTo>
                  <a:lnTo>
                    <a:pt x="708" y="10"/>
                  </a:lnTo>
                  <a:lnTo>
                    <a:pt x="708" y="0"/>
                  </a:lnTo>
                  <a:lnTo>
                    <a:pt x="688" y="0"/>
                  </a:lnTo>
                  <a:lnTo>
                    <a:pt x="688" y="10"/>
                  </a:lnTo>
                  <a:moveTo>
                    <a:pt x="653" y="10"/>
                  </a:moveTo>
                  <a:lnTo>
                    <a:pt x="674" y="10"/>
                  </a:lnTo>
                  <a:lnTo>
                    <a:pt x="674" y="0"/>
                  </a:lnTo>
                  <a:lnTo>
                    <a:pt x="653" y="0"/>
                  </a:lnTo>
                  <a:lnTo>
                    <a:pt x="653" y="10"/>
                  </a:lnTo>
                  <a:moveTo>
                    <a:pt x="619" y="10"/>
                  </a:moveTo>
                  <a:lnTo>
                    <a:pt x="640" y="10"/>
                  </a:lnTo>
                  <a:lnTo>
                    <a:pt x="640" y="0"/>
                  </a:lnTo>
                  <a:lnTo>
                    <a:pt x="619" y="0"/>
                  </a:lnTo>
                  <a:lnTo>
                    <a:pt x="619" y="10"/>
                  </a:lnTo>
                  <a:moveTo>
                    <a:pt x="584" y="10"/>
                  </a:moveTo>
                  <a:lnTo>
                    <a:pt x="605" y="10"/>
                  </a:lnTo>
                  <a:lnTo>
                    <a:pt x="605" y="0"/>
                  </a:lnTo>
                  <a:lnTo>
                    <a:pt x="584" y="0"/>
                  </a:lnTo>
                  <a:lnTo>
                    <a:pt x="584" y="10"/>
                  </a:lnTo>
                  <a:moveTo>
                    <a:pt x="550" y="10"/>
                  </a:moveTo>
                  <a:lnTo>
                    <a:pt x="571" y="10"/>
                  </a:lnTo>
                  <a:lnTo>
                    <a:pt x="571" y="0"/>
                  </a:lnTo>
                  <a:lnTo>
                    <a:pt x="550" y="0"/>
                  </a:lnTo>
                  <a:lnTo>
                    <a:pt x="550" y="10"/>
                  </a:lnTo>
                  <a:moveTo>
                    <a:pt x="516" y="10"/>
                  </a:moveTo>
                  <a:lnTo>
                    <a:pt x="536" y="10"/>
                  </a:lnTo>
                  <a:lnTo>
                    <a:pt x="536" y="0"/>
                  </a:lnTo>
                  <a:lnTo>
                    <a:pt x="516" y="0"/>
                  </a:lnTo>
                  <a:lnTo>
                    <a:pt x="516" y="10"/>
                  </a:lnTo>
                  <a:moveTo>
                    <a:pt x="481" y="10"/>
                  </a:moveTo>
                  <a:lnTo>
                    <a:pt x="502" y="10"/>
                  </a:lnTo>
                  <a:lnTo>
                    <a:pt x="502" y="0"/>
                  </a:lnTo>
                  <a:lnTo>
                    <a:pt x="481" y="0"/>
                  </a:lnTo>
                  <a:lnTo>
                    <a:pt x="481" y="10"/>
                  </a:lnTo>
                  <a:moveTo>
                    <a:pt x="447" y="10"/>
                  </a:moveTo>
                  <a:lnTo>
                    <a:pt x="468" y="10"/>
                  </a:lnTo>
                  <a:lnTo>
                    <a:pt x="468" y="0"/>
                  </a:lnTo>
                  <a:lnTo>
                    <a:pt x="447" y="0"/>
                  </a:lnTo>
                  <a:lnTo>
                    <a:pt x="447" y="10"/>
                  </a:lnTo>
                  <a:moveTo>
                    <a:pt x="412" y="10"/>
                  </a:moveTo>
                  <a:lnTo>
                    <a:pt x="433" y="10"/>
                  </a:lnTo>
                  <a:lnTo>
                    <a:pt x="433" y="0"/>
                  </a:lnTo>
                  <a:lnTo>
                    <a:pt x="412" y="0"/>
                  </a:lnTo>
                  <a:lnTo>
                    <a:pt x="412" y="10"/>
                  </a:lnTo>
                  <a:moveTo>
                    <a:pt x="378" y="10"/>
                  </a:moveTo>
                  <a:lnTo>
                    <a:pt x="399" y="10"/>
                  </a:lnTo>
                  <a:lnTo>
                    <a:pt x="399" y="0"/>
                  </a:lnTo>
                  <a:lnTo>
                    <a:pt x="378" y="0"/>
                  </a:lnTo>
                  <a:lnTo>
                    <a:pt x="378" y="10"/>
                  </a:lnTo>
                  <a:moveTo>
                    <a:pt x="344" y="10"/>
                  </a:moveTo>
                  <a:lnTo>
                    <a:pt x="364" y="10"/>
                  </a:lnTo>
                  <a:lnTo>
                    <a:pt x="364" y="0"/>
                  </a:lnTo>
                  <a:lnTo>
                    <a:pt x="344" y="0"/>
                  </a:lnTo>
                  <a:lnTo>
                    <a:pt x="344" y="10"/>
                  </a:lnTo>
                  <a:moveTo>
                    <a:pt x="309" y="10"/>
                  </a:moveTo>
                  <a:lnTo>
                    <a:pt x="330" y="10"/>
                  </a:lnTo>
                  <a:lnTo>
                    <a:pt x="330" y="0"/>
                  </a:lnTo>
                  <a:lnTo>
                    <a:pt x="309" y="0"/>
                  </a:lnTo>
                  <a:lnTo>
                    <a:pt x="309" y="10"/>
                  </a:lnTo>
                  <a:moveTo>
                    <a:pt x="275" y="10"/>
                  </a:moveTo>
                  <a:lnTo>
                    <a:pt x="295" y="10"/>
                  </a:lnTo>
                  <a:lnTo>
                    <a:pt x="295" y="0"/>
                  </a:lnTo>
                  <a:lnTo>
                    <a:pt x="275" y="0"/>
                  </a:lnTo>
                  <a:lnTo>
                    <a:pt x="275" y="10"/>
                  </a:lnTo>
                  <a:moveTo>
                    <a:pt x="240" y="10"/>
                  </a:moveTo>
                  <a:lnTo>
                    <a:pt x="261" y="10"/>
                  </a:lnTo>
                  <a:lnTo>
                    <a:pt x="261" y="0"/>
                  </a:lnTo>
                  <a:lnTo>
                    <a:pt x="240" y="0"/>
                  </a:lnTo>
                  <a:lnTo>
                    <a:pt x="240" y="10"/>
                  </a:lnTo>
                  <a:moveTo>
                    <a:pt x="206" y="10"/>
                  </a:moveTo>
                  <a:lnTo>
                    <a:pt x="227" y="10"/>
                  </a:lnTo>
                  <a:lnTo>
                    <a:pt x="227" y="0"/>
                  </a:lnTo>
                  <a:lnTo>
                    <a:pt x="206" y="0"/>
                  </a:lnTo>
                  <a:lnTo>
                    <a:pt x="206" y="10"/>
                  </a:lnTo>
                  <a:moveTo>
                    <a:pt x="172" y="10"/>
                  </a:moveTo>
                  <a:lnTo>
                    <a:pt x="192" y="10"/>
                  </a:lnTo>
                  <a:lnTo>
                    <a:pt x="192" y="0"/>
                  </a:lnTo>
                  <a:lnTo>
                    <a:pt x="172" y="0"/>
                  </a:lnTo>
                  <a:lnTo>
                    <a:pt x="172" y="10"/>
                  </a:lnTo>
                  <a:moveTo>
                    <a:pt x="137" y="10"/>
                  </a:moveTo>
                  <a:lnTo>
                    <a:pt x="158" y="10"/>
                  </a:lnTo>
                  <a:lnTo>
                    <a:pt x="158" y="0"/>
                  </a:lnTo>
                  <a:lnTo>
                    <a:pt x="137" y="0"/>
                  </a:lnTo>
                  <a:lnTo>
                    <a:pt x="137" y="10"/>
                  </a:lnTo>
                  <a:moveTo>
                    <a:pt x="103" y="10"/>
                  </a:moveTo>
                  <a:lnTo>
                    <a:pt x="123" y="10"/>
                  </a:lnTo>
                  <a:lnTo>
                    <a:pt x="123" y="0"/>
                  </a:lnTo>
                  <a:lnTo>
                    <a:pt x="103" y="0"/>
                  </a:lnTo>
                  <a:lnTo>
                    <a:pt x="103" y="10"/>
                  </a:lnTo>
                  <a:moveTo>
                    <a:pt x="68" y="10"/>
                  </a:moveTo>
                  <a:lnTo>
                    <a:pt x="89" y="10"/>
                  </a:lnTo>
                  <a:lnTo>
                    <a:pt x="89" y="0"/>
                  </a:lnTo>
                  <a:lnTo>
                    <a:pt x="68" y="0"/>
                  </a:lnTo>
                  <a:lnTo>
                    <a:pt x="68" y="10"/>
                  </a:lnTo>
                  <a:moveTo>
                    <a:pt x="34" y="10"/>
                  </a:moveTo>
                  <a:lnTo>
                    <a:pt x="55" y="10"/>
                  </a:lnTo>
                  <a:lnTo>
                    <a:pt x="55" y="0"/>
                  </a:lnTo>
                  <a:lnTo>
                    <a:pt x="34" y="0"/>
                  </a:lnTo>
                  <a:lnTo>
                    <a:pt x="34" y="10"/>
                  </a:lnTo>
                  <a:moveTo>
                    <a:pt x="0" y="10"/>
                  </a:moveTo>
                  <a:lnTo>
                    <a:pt x="20" y="10"/>
                  </a:lnTo>
                  <a:lnTo>
                    <a:pt x="20" y="0"/>
                  </a:lnTo>
                  <a:lnTo>
                    <a:pt x="0" y="0"/>
                  </a:lnTo>
                  <a:lnTo>
                    <a:pt x="0" y="10"/>
                  </a:lnTo>
                </a:path>
              </a:pathLst>
            </a:custGeom>
            <a:grpFill/>
            <a:ln>
              <a:solidFill>
                <a:srgbClr val="383838">
                  <a:alpha val="0"/>
                </a:srgbClr>
              </a:solid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id-ID" sz="18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8" name="宇神Design-独家版式库-5-3"/>
            <p:cNvSpPr>
              <a:spLocks noChangeArrowheads="1"/>
            </p:cNvSpPr>
            <p:nvPr/>
          </p:nvSpPr>
          <p:spPr bwMode="auto">
            <a:xfrm>
              <a:off x="7761" y="4552"/>
              <a:ext cx="113" cy="112"/>
            </a:xfrm>
            <a:prstGeom prst="ellipse">
              <a:avLst/>
            </a:prstGeom>
            <a:grpFill/>
            <a:ln>
              <a:solidFill>
                <a:srgbClr val="383838">
                  <a:alpha val="0"/>
                </a:srgbClr>
              </a:solid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id-ID" sz="18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9" name="矩形: 圆角 23"/>
            <p:cNvSpPr/>
            <p:nvPr/>
          </p:nvSpPr>
          <p:spPr>
            <a:xfrm>
              <a:off x="4265" y="4393"/>
              <a:ext cx="1908" cy="562"/>
            </a:xfrm>
            <a:prstGeom prst="roundRect">
              <a:avLst>
                <a:gd name="adj" fmla="val 8000"/>
              </a:avLst>
            </a:prstGeom>
            <a:grpFill/>
            <a:ln w="6350" cap="flat">
              <a:solidFill>
                <a:srgbClr val="383838">
                  <a:alpha val="0"/>
                </a:srgbClr>
              </a:solidFill>
              <a:prstDash val="solid"/>
              <a:miter/>
            </a:ln>
            <a:effectLst/>
          </p:spPr>
          <p:txBody>
            <a:bodyPr rot="0" spcFirstLastPara="0"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0" name="文本框 77"/>
            <p:cNvSpPr txBox="1"/>
            <p:nvPr/>
          </p:nvSpPr>
          <p:spPr>
            <a:xfrm>
              <a:off x="4578" y="4520"/>
              <a:ext cx="720" cy="290"/>
            </a:xfrm>
            <a:prstGeom prst="rect">
              <a:avLst/>
            </a:prstGeom>
            <a:grpFill/>
            <a:ln>
              <a:solidFill>
                <a:srgbClr val="383838">
                  <a:alpha val="0"/>
                </a:srgbClr>
              </a:solidFill>
            </a:ln>
          </p:spPr>
          <p:txBody>
            <a:bodyPr wrap="non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sz="1200" b="1" dirty="0">
                  <a:solidFill>
                    <a:srgbClr val="FFFFFF"/>
                  </a:solidFill>
                  <a:effectLst/>
                  <a:latin typeface="微软雅黑"/>
                  <a:ea typeface="微软雅黑"/>
                  <a:cs typeface="微软雅黑"/>
                </a:rPr>
                <a:t>产品力</a:t>
              </a:r>
              <a:endParaRPr lang="zh-CN" sz="1200" b="1" dirty="0">
                <a:solidFill>
                  <a:srgbClr val="FFFFFF"/>
                </a:solidFill>
                <a:effectLst/>
                <a:latin typeface="微软雅黑"/>
                <a:ea typeface="微软雅黑"/>
                <a:cs typeface="微软雅黑"/>
              </a:endParaRPr>
            </a:p>
          </p:txBody>
        </p:sp>
        <p:pic>
          <p:nvPicPr>
            <p:cNvPr id="182" name="图形 8"/>
            <p:cNvPicPr>
              <a:picLocks noChangeAspect="1"/>
            </p:cNvPicPr>
            <p:nvPr>
              <p:custDataLst>
                <p:tags r:id="rId5"/>
              </p:custDataLst>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580" y="4461"/>
              <a:ext cx="356" cy="356"/>
            </a:xfrm>
            <a:prstGeom prst="rect">
              <a:avLst/>
            </a:prstGeom>
          </p:spPr>
        </p:pic>
      </p:grpSp>
      <p:sp>
        <p:nvSpPr>
          <p:cNvPr id="39" name="宇神Design-独家版式库-5-2"/>
          <p:cNvSpPr>
            <a:spLocks noEditPoints="1"/>
          </p:cNvSpPr>
          <p:nvPr/>
        </p:nvSpPr>
        <p:spPr bwMode="auto">
          <a:xfrm>
            <a:off x="10052685" y="2995930"/>
            <a:ext cx="1512000" cy="15875"/>
          </a:xfrm>
          <a:custGeom>
            <a:avLst/>
            <a:gdLst>
              <a:gd name="T0" fmla="*/ 726 w 726"/>
              <a:gd name="T1" fmla="*/ 10 h 10"/>
              <a:gd name="T2" fmla="*/ 722 w 726"/>
              <a:gd name="T3" fmla="*/ 0 h 10"/>
              <a:gd name="T4" fmla="*/ 688 w 726"/>
              <a:gd name="T5" fmla="*/ 10 h 10"/>
              <a:gd name="T6" fmla="*/ 708 w 726"/>
              <a:gd name="T7" fmla="*/ 0 h 10"/>
              <a:gd name="T8" fmla="*/ 688 w 726"/>
              <a:gd name="T9" fmla="*/ 10 h 10"/>
              <a:gd name="T10" fmla="*/ 674 w 726"/>
              <a:gd name="T11" fmla="*/ 10 h 10"/>
              <a:gd name="T12" fmla="*/ 653 w 726"/>
              <a:gd name="T13" fmla="*/ 0 h 10"/>
              <a:gd name="T14" fmla="*/ 619 w 726"/>
              <a:gd name="T15" fmla="*/ 10 h 10"/>
              <a:gd name="T16" fmla="*/ 640 w 726"/>
              <a:gd name="T17" fmla="*/ 0 h 10"/>
              <a:gd name="T18" fmla="*/ 619 w 726"/>
              <a:gd name="T19" fmla="*/ 10 h 10"/>
              <a:gd name="T20" fmla="*/ 605 w 726"/>
              <a:gd name="T21" fmla="*/ 10 h 10"/>
              <a:gd name="T22" fmla="*/ 584 w 726"/>
              <a:gd name="T23" fmla="*/ 0 h 10"/>
              <a:gd name="T24" fmla="*/ 550 w 726"/>
              <a:gd name="T25" fmla="*/ 10 h 10"/>
              <a:gd name="T26" fmla="*/ 571 w 726"/>
              <a:gd name="T27" fmla="*/ 0 h 10"/>
              <a:gd name="T28" fmla="*/ 550 w 726"/>
              <a:gd name="T29" fmla="*/ 10 h 10"/>
              <a:gd name="T30" fmla="*/ 536 w 726"/>
              <a:gd name="T31" fmla="*/ 10 h 10"/>
              <a:gd name="T32" fmla="*/ 516 w 726"/>
              <a:gd name="T33" fmla="*/ 0 h 10"/>
              <a:gd name="T34" fmla="*/ 481 w 726"/>
              <a:gd name="T35" fmla="*/ 10 h 10"/>
              <a:gd name="T36" fmla="*/ 502 w 726"/>
              <a:gd name="T37" fmla="*/ 0 h 10"/>
              <a:gd name="T38" fmla="*/ 481 w 726"/>
              <a:gd name="T39" fmla="*/ 10 h 10"/>
              <a:gd name="T40" fmla="*/ 468 w 726"/>
              <a:gd name="T41" fmla="*/ 10 h 10"/>
              <a:gd name="T42" fmla="*/ 447 w 726"/>
              <a:gd name="T43" fmla="*/ 0 h 10"/>
              <a:gd name="T44" fmla="*/ 412 w 726"/>
              <a:gd name="T45" fmla="*/ 10 h 10"/>
              <a:gd name="T46" fmla="*/ 433 w 726"/>
              <a:gd name="T47" fmla="*/ 0 h 10"/>
              <a:gd name="T48" fmla="*/ 412 w 726"/>
              <a:gd name="T49" fmla="*/ 10 h 10"/>
              <a:gd name="T50" fmla="*/ 399 w 726"/>
              <a:gd name="T51" fmla="*/ 10 h 10"/>
              <a:gd name="T52" fmla="*/ 378 w 726"/>
              <a:gd name="T53" fmla="*/ 0 h 10"/>
              <a:gd name="T54" fmla="*/ 344 w 726"/>
              <a:gd name="T55" fmla="*/ 10 h 10"/>
              <a:gd name="T56" fmla="*/ 364 w 726"/>
              <a:gd name="T57" fmla="*/ 0 h 10"/>
              <a:gd name="T58" fmla="*/ 344 w 726"/>
              <a:gd name="T59" fmla="*/ 10 h 10"/>
              <a:gd name="T60" fmla="*/ 330 w 726"/>
              <a:gd name="T61" fmla="*/ 10 h 10"/>
              <a:gd name="T62" fmla="*/ 309 w 726"/>
              <a:gd name="T63" fmla="*/ 0 h 10"/>
              <a:gd name="T64" fmla="*/ 275 w 726"/>
              <a:gd name="T65" fmla="*/ 10 h 10"/>
              <a:gd name="T66" fmla="*/ 295 w 726"/>
              <a:gd name="T67" fmla="*/ 0 h 10"/>
              <a:gd name="T68" fmla="*/ 275 w 726"/>
              <a:gd name="T69" fmla="*/ 10 h 10"/>
              <a:gd name="T70" fmla="*/ 261 w 726"/>
              <a:gd name="T71" fmla="*/ 10 h 10"/>
              <a:gd name="T72" fmla="*/ 240 w 726"/>
              <a:gd name="T73" fmla="*/ 0 h 10"/>
              <a:gd name="T74" fmla="*/ 206 w 726"/>
              <a:gd name="T75" fmla="*/ 10 h 10"/>
              <a:gd name="T76" fmla="*/ 227 w 726"/>
              <a:gd name="T77" fmla="*/ 0 h 10"/>
              <a:gd name="T78" fmla="*/ 206 w 726"/>
              <a:gd name="T79" fmla="*/ 10 h 10"/>
              <a:gd name="T80" fmla="*/ 192 w 726"/>
              <a:gd name="T81" fmla="*/ 10 h 10"/>
              <a:gd name="T82" fmla="*/ 172 w 726"/>
              <a:gd name="T83" fmla="*/ 0 h 10"/>
              <a:gd name="T84" fmla="*/ 137 w 726"/>
              <a:gd name="T85" fmla="*/ 10 h 10"/>
              <a:gd name="T86" fmla="*/ 158 w 726"/>
              <a:gd name="T87" fmla="*/ 0 h 10"/>
              <a:gd name="T88" fmla="*/ 137 w 726"/>
              <a:gd name="T89" fmla="*/ 10 h 10"/>
              <a:gd name="T90" fmla="*/ 123 w 726"/>
              <a:gd name="T91" fmla="*/ 10 h 10"/>
              <a:gd name="T92" fmla="*/ 103 w 726"/>
              <a:gd name="T93" fmla="*/ 0 h 10"/>
              <a:gd name="T94" fmla="*/ 68 w 726"/>
              <a:gd name="T95" fmla="*/ 10 h 10"/>
              <a:gd name="T96" fmla="*/ 89 w 726"/>
              <a:gd name="T97" fmla="*/ 0 h 10"/>
              <a:gd name="T98" fmla="*/ 68 w 726"/>
              <a:gd name="T99" fmla="*/ 10 h 10"/>
              <a:gd name="T100" fmla="*/ 55 w 726"/>
              <a:gd name="T101" fmla="*/ 10 h 10"/>
              <a:gd name="T102" fmla="*/ 34 w 726"/>
              <a:gd name="T103" fmla="*/ 0 h 10"/>
              <a:gd name="T104" fmla="*/ 0 w 726"/>
              <a:gd name="T105" fmla="*/ 10 h 10"/>
              <a:gd name="T106" fmla="*/ 20 w 726"/>
              <a:gd name="T107" fmla="*/ 0 h 10"/>
              <a:gd name="T108" fmla="*/ 0 w 726"/>
              <a:gd name="T10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6" h="10">
                <a:moveTo>
                  <a:pt x="722" y="10"/>
                </a:moveTo>
                <a:lnTo>
                  <a:pt x="726" y="10"/>
                </a:lnTo>
                <a:lnTo>
                  <a:pt x="726" y="0"/>
                </a:lnTo>
                <a:lnTo>
                  <a:pt x="722" y="0"/>
                </a:lnTo>
                <a:lnTo>
                  <a:pt x="722" y="10"/>
                </a:lnTo>
                <a:moveTo>
                  <a:pt x="688" y="10"/>
                </a:moveTo>
                <a:lnTo>
                  <a:pt x="708" y="10"/>
                </a:lnTo>
                <a:lnTo>
                  <a:pt x="708" y="0"/>
                </a:lnTo>
                <a:lnTo>
                  <a:pt x="688" y="0"/>
                </a:lnTo>
                <a:lnTo>
                  <a:pt x="688" y="10"/>
                </a:lnTo>
                <a:moveTo>
                  <a:pt x="653" y="10"/>
                </a:moveTo>
                <a:lnTo>
                  <a:pt x="674" y="10"/>
                </a:lnTo>
                <a:lnTo>
                  <a:pt x="674" y="0"/>
                </a:lnTo>
                <a:lnTo>
                  <a:pt x="653" y="0"/>
                </a:lnTo>
                <a:lnTo>
                  <a:pt x="653" y="10"/>
                </a:lnTo>
                <a:moveTo>
                  <a:pt x="619" y="10"/>
                </a:moveTo>
                <a:lnTo>
                  <a:pt x="640" y="10"/>
                </a:lnTo>
                <a:lnTo>
                  <a:pt x="640" y="0"/>
                </a:lnTo>
                <a:lnTo>
                  <a:pt x="619" y="0"/>
                </a:lnTo>
                <a:lnTo>
                  <a:pt x="619" y="10"/>
                </a:lnTo>
                <a:moveTo>
                  <a:pt x="584" y="10"/>
                </a:moveTo>
                <a:lnTo>
                  <a:pt x="605" y="10"/>
                </a:lnTo>
                <a:lnTo>
                  <a:pt x="605" y="0"/>
                </a:lnTo>
                <a:lnTo>
                  <a:pt x="584" y="0"/>
                </a:lnTo>
                <a:lnTo>
                  <a:pt x="584" y="10"/>
                </a:lnTo>
                <a:moveTo>
                  <a:pt x="550" y="10"/>
                </a:moveTo>
                <a:lnTo>
                  <a:pt x="571" y="10"/>
                </a:lnTo>
                <a:lnTo>
                  <a:pt x="571" y="0"/>
                </a:lnTo>
                <a:lnTo>
                  <a:pt x="550" y="0"/>
                </a:lnTo>
                <a:lnTo>
                  <a:pt x="550" y="10"/>
                </a:lnTo>
                <a:moveTo>
                  <a:pt x="516" y="10"/>
                </a:moveTo>
                <a:lnTo>
                  <a:pt x="536" y="10"/>
                </a:lnTo>
                <a:lnTo>
                  <a:pt x="536" y="0"/>
                </a:lnTo>
                <a:lnTo>
                  <a:pt x="516" y="0"/>
                </a:lnTo>
                <a:lnTo>
                  <a:pt x="516" y="10"/>
                </a:lnTo>
                <a:moveTo>
                  <a:pt x="481" y="10"/>
                </a:moveTo>
                <a:lnTo>
                  <a:pt x="502" y="10"/>
                </a:lnTo>
                <a:lnTo>
                  <a:pt x="502" y="0"/>
                </a:lnTo>
                <a:lnTo>
                  <a:pt x="481" y="0"/>
                </a:lnTo>
                <a:lnTo>
                  <a:pt x="481" y="10"/>
                </a:lnTo>
                <a:moveTo>
                  <a:pt x="447" y="10"/>
                </a:moveTo>
                <a:lnTo>
                  <a:pt x="468" y="10"/>
                </a:lnTo>
                <a:lnTo>
                  <a:pt x="468" y="0"/>
                </a:lnTo>
                <a:lnTo>
                  <a:pt x="447" y="0"/>
                </a:lnTo>
                <a:lnTo>
                  <a:pt x="447" y="10"/>
                </a:lnTo>
                <a:moveTo>
                  <a:pt x="412" y="10"/>
                </a:moveTo>
                <a:lnTo>
                  <a:pt x="433" y="10"/>
                </a:lnTo>
                <a:lnTo>
                  <a:pt x="433" y="0"/>
                </a:lnTo>
                <a:lnTo>
                  <a:pt x="412" y="0"/>
                </a:lnTo>
                <a:lnTo>
                  <a:pt x="412" y="10"/>
                </a:lnTo>
                <a:moveTo>
                  <a:pt x="378" y="10"/>
                </a:moveTo>
                <a:lnTo>
                  <a:pt x="399" y="10"/>
                </a:lnTo>
                <a:lnTo>
                  <a:pt x="399" y="0"/>
                </a:lnTo>
                <a:lnTo>
                  <a:pt x="378" y="0"/>
                </a:lnTo>
                <a:lnTo>
                  <a:pt x="378" y="10"/>
                </a:lnTo>
                <a:moveTo>
                  <a:pt x="344" y="10"/>
                </a:moveTo>
                <a:lnTo>
                  <a:pt x="364" y="10"/>
                </a:lnTo>
                <a:lnTo>
                  <a:pt x="364" y="0"/>
                </a:lnTo>
                <a:lnTo>
                  <a:pt x="344" y="0"/>
                </a:lnTo>
                <a:lnTo>
                  <a:pt x="344" y="10"/>
                </a:lnTo>
                <a:moveTo>
                  <a:pt x="309" y="10"/>
                </a:moveTo>
                <a:lnTo>
                  <a:pt x="330" y="10"/>
                </a:lnTo>
                <a:lnTo>
                  <a:pt x="330" y="0"/>
                </a:lnTo>
                <a:lnTo>
                  <a:pt x="309" y="0"/>
                </a:lnTo>
                <a:lnTo>
                  <a:pt x="309" y="10"/>
                </a:lnTo>
                <a:moveTo>
                  <a:pt x="275" y="10"/>
                </a:moveTo>
                <a:lnTo>
                  <a:pt x="295" y="10"/>
                </a:lnTo>
                <a:lnTo>
                  <a:pt x="295" y="0"/>
                </a:lnTo>
                <a:lnTo>
                  <a:pt x="275" y="0"/>
                </a:lnTo>
                <a:lnTo>
                  <a:pt x="275" y="10"/>
                </a:lnTo>
                <a:moveTo>
                  <a:pt x="240" y="10"/>
                </a:moveTo>
                <a:lnTo>
                  <a:pt x="261" y="10"/>
                </a:lnTo>
                <a:lnTo>
                  <a:pt x="261" y="0"/>
                </a:lnTo>
                <a:lnTo>
                  <a:pt x="240" y="0"/>
                </a:lnTo>
                <a:lnTo>
                  <a:pt x="240" y="10"/>
                </a:lnTo>
                <a:moveTo>
                  <a:pt x="206" y="10"/>
                </a:moveTo>
                <a:lnTo>
                  <a:pt x="227" y="10"/>
                </a:lnTo>
                <a:lnTo>
                  <a:pt x="227" y="0"/>
                </a:lnTo>
                <a:lnTo>
                  <a:pt x="206" y="0"/>
                </a:lnTo>
                <a:lnTo>
                  <a:pt x="206" y="10"/>
                </a:lnTo>
                <a:moveTo>
                  <a:pt x="172" y="10"/>
                </a:moveTo>
                <a:lnTo>
                  <a:pt x="192" y="10"/>
                </a:lnTo>
                <a:lnTo>
                  <a:pt x="192" y="0"/>
                </a:lnTo>
                <a:lnTo>
                  <a:pt x="172" y="0"/>
                </a:lnTo>
                <a:lnTo>
                  <a:pt x="172" y="10"/>
                </a:lnTo>
                <a:moveTo>
                  <a:pt x="137" y="10"/>
                </a:moveTo>
                <a:lnTo>
                  <a:pt x="158" y="10"/>
                </a:lnTo>
                <a:lnTo>
                  <a:pt x="158" y="0"/>
                </a:lnTo>
                <a:lnTo>
                  <a:pt x="137" y="0"/>
                </a:lnTo>
                <a:lnTo>
                  <a:pt x="137" y="10"/>
                </a:lnTo>
                <a:moveTo>
                  <a:pt x="103" y="10"/>
                </a:moveTo>
                <a:lnTo>
                  <a:pt x="123" y="10"/>
                </a:lnTo>
                <a:lnTo>
                  <a:pt x="123" y="0"/>
                </a:lnTo>
                <a:lnTo>
                  <a:pt x="103" y="0"/>
                </a:lnTo>
                <a:lnTo>
                  <a:pt x="103" y="10"/>
                </a:lnTo>
                <a:moveTo>
                  <a:pt x="68" y="10"/>
                </a:moveTo>
                <a:lnTo>
                  <a:pt x="89" y="10"/>
                </a:lnTo>
                <a:lnTo>
                  <a:pt x="89" y="0"/>
                </a:lnTo>
                <a:lnTo>
                  <a:pt x="68" y="0"/>
                </a:lnTo>
                <a:lnTo>
                  <a:pt x="68" y="10"/>
                </a:lnTo>
                <a:moveTo>
                  <a:pt x="34" y="10"/>
                </a:moveTo>
                <a:lnTo>
                  <a:pt x="55" y="10"/>
                </a:lnTo>
                <a:lnTo>
                  <a:pt x="55" y="0"/>
                </a:lnTo>
                <a:lnTo>
                  <a:pt x="34" y="0"/>
                </a:lnTo>
                <a:lnTo>
                  <a:pt x="34" y="10"/>
                </a:lnTo>
                <a:moveTo>
                  <a:pt x="0" y="10"/>
                </a:moveTo>
                <a:lnTo>
                  <a:pt x="20" y="10"/>
                </a:lnTo>
                <a:lnTo>
                  <a:pt x="20" y="0"/>
                </a:lnTo>
                <a:lnTo>
                  <a:pt x="0" y="0"/>
                </a:lnTo>
                <a:lnTo>
                  <a:pt x="0" y="10"/>
                </a:lnTo>
              </a:path>
            </a:pathLst>
          </a:custGeom>
          <a:solidFill>
            <a:srgbClr val="3368FF"/>
          </a:soli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id-ID" sz="18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40" name="矩形: 圆角 23"/>
          <p:cNvSpPr/>
          <p:nvPr/>
        </p:nvSpPr>
        <p:spPr>
          <a:xfrm>
            <a:off x="8748395" y="2823845"/>
            <a:ext cx="1379855" cy="356870"/>
          </a:xfrm>
          <a:prstGeom prst="roundRect">
            <a:avLst>
              <a:gd name="adj" fmla="val 8000"/>
            </a:avLst>
          </a:prstGeom>
          <a:solidFill>
            <a:srgbClr val="3368FF"/>
          </a:solidFill>
          <a:ln w="6350" cap="flat">
            <a:noFill/>
            <a:prstDash val="solid"/>
            <a:miter/>
          </a:ln>
          <a:effectLst/>
        </p:spPr>
        <p:txBody>
          <a:bodyPr rot="0" spcFirstLastPara="0"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9" name="文本框 77"/>
          <p:cNvSpPr txBox="1"/>
          <p:nvPr/>
        </p:nvSpPr>
        <p:spPr>
          <a:xfrm>
            <a:off x="8890000" y="2908935"/>
            <a:ext cx="762000" cy="184150"/>
          </a:xfrm>
          <a:prstGeom prst="rect">
            <a:avLst/>
          </a:prstGeom>
          <a:noFill/>
        </p:spPr>
        <p:txBody>
          <a:bodyPr wrap="non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sz="1200" b="1" dirty="0">
                <a:solidFill>
                  <a:srgbClr val="FFFFFF"/>
                </a:solidFill>
                <a:effectLst/>
                <a:latin typeface="微软雅黑"/>
                <a:ea typeface="微软雅黑"/>
                <a:cs typeface="微软雅黑"/>
              </a:rPr>
              <a:t>用户运营力</a:t>
            </a:r>
            <a:endParaRPr lang="zh-CN" sz="1200" b="1" dirty="0">
              <a:solidFill>
                <a:srgbClr val="FFFFFF"/>
              </a:solidFill>
              <a:effectLst/>
              <a:latin typeface="微软雅黑"/>
              <a:ea typeface="微软雅黑"/>
              <a:cs typeface="微软雅黑"/>
            </a:endParaRPr>
          </a:p>
        </p:txBody>
      </p:sp>
      <p:sp>
        <p:nvSpPr>
          <p:cNvPr id="41" name="宇神Design-独家版式库-5-3"/>
          <p:cNvSpPr>
            <a:spLocks noChangeArrowheads="1"/>
          </p:cNvSpPr>
          <p:nvPr/>
        </p:nvSpPr>
        <p:spPr bwMode="auto">
          <a:xfrm>
            <a:off x="11541125" y="2973070"/>
            <a:ext cx="71755" cy="71120"/>
          </a:xfrm>
          <a:prstGeom prst="ellipse">
            <a:avLst/>
          </a:prstGeom>
          <a:solidFill>
            <a:srgbClr val="3368FF"/>
          </a:solidFill>
          <a:ln>
            <a:noFill/>
          </a:ln>
        </p:spPr>
        <p:txBody>
          <a:bodyPr vert="horz" wrap="square" lIns="0" tIns="0" rIns="0" bIns="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id-ID" sz="1800" b="1" i="0" u="none" strike="noStrike" kern="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42" name="等腰三角形 41"/>
          <p:cNvSpPr>
            <a:spLocks noChangeAspect="1"/>
          </p:cNvSpPr>
          <p:nvPr/>
        </p:nvSpPr>
        <p:spPr>
          <a:xfrm rot="10800000">
            <a:off x="1231265" y="3986530"/>
            <a:ext cx="525780" cy="288290"/>
          </a:xfrm>
          <a:prstGeom prst="triangle">
            <a:avLst/>
          </a:prstGeom>
          <a:gradFill>
            <a:gsLst>
              <a:gs pos="92000">
                <a:srgbClr val="0042FF">
                  <a:alpha val="0"/>
                </a:srgbClr>
              </a:gs>
              <a:gs pos="0">
                <a:srgbClr val="0042FF"/>
              </a:gs>
            </a:gsLst>
            <a:lin ang="5400000" scaled="1"/>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cxnSp>
        <p:nvCxnSpPr>
          <p:cNvPr id="43" name="直接连接符 42"/>
          <p:cNvCxnSpPr/>
          <p:nvPr/>
        </p:nvCxnSpPr>
        <p:spPr>
          <a:xfrm>
            <a:off x="2743200" y="4042410"/>
            <a:ext cx="2324100" cy="0"/>
          </a:xfrm>
          <a:prstGeom prst="line">
            <a:avLst/>
          </a:prstGeom>
          <a:ln w="12700" cap="flat" cmpd="sng" algn="ctr">
            <a:solidFill>
              <a:srgbClr val="383838"/>
            </a:solidFill>
            <a:prstDash val="dash"/>
            <a:miter lim="800000"/>
          </a:ln>
        </p:spPr>
        <p:style>
          <a:lnRef idx="0">
            <a:srgbClr val="0042FF"/>
          </a:lnRef>
          <a:fillRef idx="0">
            <a:srgbClr val="FFFFFF"/>
          </a:fillRef>
          <a:effectRef idx="0">
            <a:srgbClr val="FFFFFF"/>
          </a:effectRef>
          <a:fontRef idx="minor">
            <a:srgbClr val="383838"/>
          </a:fontRef>
        </p:style>
      </p:cxnSp>
      <p:cxnSp>
        <p:nvCxnSpPr>
          <p:cNvPr id="44" name="直接连接符 43"/>
          <p:cNvCxnSpPr/>
          <p:nvPr/>
        </p:nvCxnSpPr>
        <p:spPr>
          <a:xfrm flipV="1">
            <a:off x="5074920" y="4029075"/>
            <a:ext cx="10795" cy="2508885"/>
          </a:xfrm>
          <a:prstGeom prst="line">
            <a:avLst/>
          </a:prstGeom>
          <a:ln w="12700" cap="flat" cmpd="sng" algn="ctr">
            <a:solidFill>
              <a:srgbClr val="383838"/>
            </a:solidFill>
            <a:prstDash val="dash"/>
            <a:miter lim="800000"/>
          </a:ln>
        </p:spPr>
        <p:style>
          <a:lnRef idx="0">
            <a:srgbClr val="0042FF"/>
          </a:lnRef>
          <a:fillRef idx="0">
            <a:srgbClr val="FFFFFF"/>
          </a:fillRef>
          <a:effectRef idx="0">
            <a:srgbClr val="FFFFFF"/>
          </a:effectRef>
          <a:fontRef idx="minor">
            <a:srgbClr val="383838"/>
          </a:fontRef>
        </p:style>
      </p:cxnSp>
      <p:sp>
        <p:nvSpPr>
          <p:cNvPr id="45" name="圆角矩形 11"/>
          <p:cNvSpPr/>
          <p:nvPr/>
        </p:nvSpPr>
        <p:spPr>
          <a:xfrm>
            <a:off x="3850640" y="4224020"/>
            <a:ext cx="1089025" cy="358140"/>
          </a:xfrm>
          <a:prstGeom prst="roundRect">
            <a:avLst>
              <a:gd name="adj" fmla="val 0"/>
            </a:avLst>
          </a:prstGeom>
          <a:gradFill>
            <a:gsLst>
              <a:gs pos="15000">
                <a:srgbClr val="FFFFFF">
                  <a:alpha val="0"/>
                </a:srgbClr>
              </a:gs>
              <a:gs pos="100000">
                <a:srgbClr val="FFFFFF"/>
              </a:gs>
            </a:gsLst>
            <a:lin ang="21594000" scaled="0"/>
          </a:gradFill>
          <a:ln w="9525" cap="flat" cmpd="sng" algn="ctr">
            <a:noFill/>
            <a:prstDash val="solid"/>
            <a:miter lim="800000"/>
          </a:ln>
          <a:effectLst/>
        </p:spPr>
        <p:txBody>
          <a:bodyPr rtlCol="0" anchor="ctr"/>
          <a:lstStyle/>
          <a:p>
            <a:pPr indent="0" algn="ctr">
              <a:buFont typeface="微软雅黑"/>
              <a:buNone/>
              <a:defRPr>
                <a:latin typeface="微软雅黑"/>
                <a:ea typeface="微软雅黑"/>
                <a:cs typeface="微软雅黑"/>
              </a:defRPr>
            </a:pPr>
            <a:r>
              <a:rPr lang="en-US" altLang="zh-CN" sz="1400" b="1" kern="0" dirty="0">
                <a:solidFill>
                  <a:srgbClr val="383838"/>
                </a:solidFill>
                <a:latin typeface="微软雅黑"/>
                <a:ea typeface="微软雅黑"/>
                <a:cs typeface="微软雅黑"/>
                <a:sym typeface="微软雅黑"/>
              </a:rPr>
              <a:t>  </a:t>
            </a:r>
            <a:r>
              <a:rPr lang="zh-CN" altLang="en-US" sz="1400" b="1" kern="0" dirty="0">
                <a:solidFill>
                  <a:srgbClr val="383838"/>
                </a:solidFill>
                <a:latin typeface="微软雅黑"/>
                <a:ea typeface="微软雅黑"/>
                <a:cs typeface="微软雅黑"/>
                <a:sym typeface="微软雅黑"/>
              </a:rPr>
              <a:t>产品力</a:t>
            </a:r>
            <a:endParaRPr lang="zh-CN" altLang="en-US" sz="1400" b="1" kern="0" dirty="0">
              <a:solidFill>
                <a:srgbClr val="383838"/>
              </a:solidFill>
              <a:latin typeface="微软雅黑"/>
              <a:ea typeface="微软雅黑"/>
              <a:cs typeface="微软雅黑"/>
              <a:sym typeface="微软雅黑"/>
            </a:endParaRPr>
          </a:p>
        </p:txBody>
      </p:sp>
      <p:sp>
        <p:nvSpPr>
          <p:cNvPr id="46" name="文本框 45"/>
          <p:cNvSpPr txBox="1"/>
          <p:nvPr/>
        </p:nvSpPr>
        <p:spPr>
          <a:xfrm>
            <a:off x="2673985" y="4824730"/>
            <a:ext cx="2393315" cy="306705"/>
          </a:xfrm>
          <a:prstGeom prst="rect">
            <a:avLst/>
          </a:prstGeom>
          <a:noFill/>
        </p:spPr>
        <p:txBody>
          <a:bodyPr wrap="square" rtlCol="0">
            <a:spAutoFit/>
          </a:bodyPr>
          <a:lstStyle/>
          <a:p>
            <a:pPr indent="0" algn="l">
              <a:buFont typeface="微软雅黑"/>
              <a:buNone/>
              <a:defRPr>
                <a:latin typeface="微软雅黑"/>
                <a:ea typeface="微软雅黑"/>
                <a:cs typeface="微软雅黑"/>
              </a:defRPr>
            </a:pPr>
            <a:r>
              <a:rPr lang="en-US" altLang="zh-CN" sz="1400" b="1" dirty="0">
                <a:solidFill>
                  <a:srgbClr val="0042FF"/>
                </a:solidFill>
                <a:latin typeface="微软雅黑"/>
                <a:ea typeface="微软雅黑"/>
                <a:cs typeface="微软雅黑"/>
              </a:rPr>
              <a:t>—“</a:t>
            </a:r>
            <a:r>
              <a:rPr lang="zh-CN" altLang="en-US" sz="1400" b="1" dirty="0">
                <a:solidFill>
                  <a:srgbClr val="0042FF"/>
                </a:solidFill>
                <a:latin typeface="微软雅黑"/>
                <a:ea typeface="微软雅黑"/>
                <a:cs typeface="微软雅黑"/>
              </a:rPr>
              <a:t>产品为王、技术引领</a:t>
            </a:r>
            <a:r>
              <a:rPr lang="en-US" altLang="zh-CN" sz="1400" b="1" dirty="0">
                <a:solidFill>
                  <a:srgbClr val="0042FF"/>
                </a:solidFill>
                <a:latin typeface="微软雅黑"/>
                <a:ea typeface="微软雅黑"/>
                <a:cs typeface="微软雅黑"/>
              </a:rPr>
              <a:t>”</a:t>
            </a:r>
            <a:endParaRPr lang="en-US" altLang="zh-CN" sz="1400" b="1" dirty="0">
              <a:solidFill>
                <a:srgbClr val="0042FF"/>
              </a:solidFill>
              <a:latin typeface="微软雅黑"/>
              <a:ea typeface="微软雅黑"/>
              <a:cs typeface="微软雅黑"/>
            </a:endParaRPr>
          </a:p>
        </p:txBody>
      </p:sp>
      <p:sp>
        <p:nvSpPr>
          <p:cNvPr id="47" name="文本框 46"/>
          <p:cNvSpPr txBox="1"/>
          <p:nvPr/>
        </p:nvSpPr>
        <p:spPr>
          <a:xfrm>
            <a:off x="2673985" y="5215890"/>
            <a:ext cx="2393315" cy="429895"/>
          </a:xfrm>
          <a:prstGeom prst="rect">
            <a:avLst/>
          </a:prstGeom>
          <a:noFill/>
        </p:spPr>
        <p:txBody>
          <a:bodyPr wrap="square" rtlCol="0">
            <a:spAutoFit/>
          </a:bodyPr>
          <a:lstStyle/>
          <a:p>
            <a:pPr indent="0" algn="l">
              <a:buFont typeface="微软雅黑"/>
              <a:buNone/>
              <a:defRPr>
                <a:latin typeface="微软雅黑"/>
                <a:ea typeface="微软雅黑"/>
                <a:cs typeface="微软雅黑"/>
              </a:defRPr>
            </a:pPr>
            <a:r>
              <a:rPr lang="zh-CN" altLang="en-US" sz="1100" dirty="0">
                <a:solidFill>
                  <a:srgbClr val="383838"/>
                </a:solidFill>
                <a:latin typeface="微软雅黑"/>
                <a:ea typeface="微软雅黑"/>
                <a:cs typeface="微软雅黑"/>
              </a:rPr>
              <a:t>通过技术创新，推出质量与品质过硬的产品，建立品牌护城河</a:t>
            </a:r>
            <a:endParaRPr lang="zh-CN" altLang="en-US" sz="1100" dirty="0">
              <a:solidFill>
                <a:srgbClr val="383838"/>
              </a:solidFill>
              <a:latin typeface="微软雅黑"/>
              <a:ea typeface="微软雅黑"/>
              <a:cs typeface="微软雅黑"/>
            </a:endParaRPr>
          </a:p>
        </p:txBody>
      </p:sp>
      <p:sp>
        <p:nvSpPr>
          <p:cNvPr id="48" name="圆角矩形 11"/>
          <p:cNvSpPr/>
          <p:nvPr/>
        </p:nvSpPr>
        <p:spPr>
          <a:xfrm>
            <a:off x="2680335" y="5857875"/>
            <a:ext cx="1322070" cy="543560"/>
          </a:xfrm>
          <a:prstGeom prst="roundRect">
            <a:avLst>
              <a:gd name="adj" fmla="val 0"/>
            </a:avLst>
          </a:prstGeom>
          <a:noFill/>
          <a:ln w="9525" cap="flat" cmpd="sng" algn="ctr">
            <a:solidFill>
              <a:srgbClr val="3368FF"/>
            </a:solidFill>
            <a:prstDash val="solid"/>
            <a:miter lim="800000"/>
          </a:ln>
          <a:effectLst/>
        </p:spPr>
        <p:txBody>
          <a:bodyPr rtlCol="0" anchor="ctr">
            <a:noAutofit/>
          </a:bodyPr>
          <a:lstStyle/>
          <a:p>
            <a:pPr lvl="0" algn="ctr">
              <a:buClrTx/>
              <a:buSzTx/>
              <a:buFont typeface="微软雅黑"/>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业务线索价值</a:t>
            </a:r>
            <a:endParaRPr lang="zh-CN" sz="1100" b="1" dirty="0">
              <a:solidFill>
                <a:srgbClr val="383838"/>
              </a:solidFill>
              <a:latin typeface="微软雅黑"/>
              <a:ea typeface="微软雅黑"/>
              <a:cs typeface="微软雅黑"/>
              <a:sym typeface="微软雅黑"/>
            </a:endParaRPr>
          </a:p>
          <a:p>
            <a:pPr lvl="0" algn="ctr">
              <a:buClrTx/>
              <a:buSzTx/>
              <a:buFont typeface="微软雅黑"/>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新车、二手车客户</a:t>
            </a:r>
            <a:endParaRPr lang="zh-CN" sz="1100" dirty="0">
              <a:solidFill>
                <a:srgbClr val="383838"/>
              </a:solidFill>
              <a:latin typeface="微软雅黑"/>
              <a:ea typeface="微软雅黑"/>
              <a:cs typeface="微软雅黑"/>
              <a:sym typeface="微软雅黑"/>
            </a:endParaRPr>
          </a:p>
        </p:txBody>
      </p:sp>
      <p:grpSp>
        <p:nvGrpSpPr>
          <p:cNvPr id="49" name="组合 48"/>
          <p:cNvGrpSpPr/>
          <p:nvPr/>
        </p:nvGrpSpPr>
        <p:grpSpPr>
          <a:xfrm>
            <a:off x="4380230" y="5872480"/>
            <a:ext cx="541020" cy="529590"/>
            <a:chOff x="4265" y="4393"/>
            <a:chExt cx="1908" cy="562"/>
          </a:xfrm>
          <a:solidFill>
            <a:srgbClr val="3368FF"/>
          </a:solidFill>
        </p:grpSpPr>
        <p:sp>
          <p:nvSpPr>
            <p:cNvPr id="50" name="矩形: 圆角 23"/>
            <p:cNvSpPr/>
            <p:nvPr/>
          </p:nvSpPr>
          <p:spPr>
            <a:xfrm>
              <a:off x="4265" y="4393"/>
              <a:ext cx="1908" cy="562"/>
            </a:xfrm>
            <a:prstGeom prst="roundRect">
              <a:avLst>
                <a:gd name="adj" fmla="val 8000"/>
              </a:avLst>
            </a:prstGeom>
            <a:grpFill/>
            <a:ln w="6350" cap="flat">
              <a:noFill/>
              <a:prstDash val="solid"/>
              <a:miter/>
            </a:ln>
            <a:effectLst/>
          </p:spPr>
          <p:txBody>
            <a:bodyPr rot="0" spcFirstLastPara="0"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1" name="文本框 77"/>
            <p:cNvSpPr txBox="1"/>
            <p:nvPr/>
          </p:nvSpPr>
          <p:spPr>
            <a:xfrm>
              <a:off x="4460" y="4460"/>
              <a:ext cx="1458" cy="410"/>
            </a:xfrm>
            <a:prstGeom prst="rect">
              <a:avLst/>
            </a:prstGeom>
            <a:grpFill/>
          </p:spPr>
          <p:txBody>
            <a:bodyPr wrap="square" lIns="0" tIns="0" rIns="0" bIns="0" rtlCol="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sz="1200" b="1" dirty="0">
                  <a:solidFill>
                    <a:srgbClr val="FFFFFF"/>
                  </a:solidFill>
                  <a:effectLst/>
                  <a:latin typeface="微软雅黑"/>
                  <a:ea typeface="微软雅黑"/>
                  <a:cs typeface="微软雅黑"/>
                </a:rPr>
                <a:t>产品变现</a:t>
              </a:r>
              <a:endParaRPr lang="zh-CN" sz="1200" b="1" dirty="0">
                <a:solidFill>
                  <a:srgbClr val="FFFFFF"/>
                </a:solidFill>
                <a:effectLst/>
                <a:latin typeface="微软雅黑"/>
                <a:ea typeface="微软雅黑"/>
                <a:cs typeface="微软雅黑"/>
              </a:endParaRPr>
            </a:p>
          </p:txBody>
        </p:sp>
      </p:grpSp>
      <p:cxnSp>
        <p:nvCxnSpPr>
          <p:cNvPr id="52" name="直接连接符 51"/>
          <p:cNvCxnSpPr/>
          <p:nvPr/>
        </p:nvCxnSpPr>
        <p:spPr>
          <a:xfrm>
            <a:off x="5425440" y="4042410"/>
            <a:ext cx="2865755" cy="0"/>
          </a:xfrm>
          <a:prstGeom prst="line">
            <a:avLst/>
          </a:prstGeom>
          <a:ln w="12700" cap="flat" cmpd="sng" algn="ctr">
            <a:solidFill>
              <a:srgbClr val="383838"/>
            </a:solidFill>
            <a:prstDash val="dash"/>
            <a:miter lim="800000"/>
          </a:ln>
        </p:spPr>
        <p:style>
          <a:lnRef idx="0">
            <a:srgbClr val="0042FF"/>
          </a:lnRef>
          <a:fillRef idx="0">
            <a:srgbClr val="FFFFFF"/>
          </a:fillRef>
          <a:effectRef idx="0">
            <a:srgbClr val="FFFFFF"/>
          </a:effectRef>
          <a:fontRef idx="minor">
            <a:srgbClr val="383838"/>
          </a:fontRef>
        </p:style>
      </p:cxnSp>
      <p:cxnSp>
        <p:nvCxnSpPr>
          <p:cNvPr id="53" name="直接连接符 52"/>
          <p:cNvCxnSpPr/>
          <p:nvPr/>
        </p:nvCxnSpPr>
        <p:spPr>
          <a:xfrm flipH="1" flipV="1">
            <a:off x="8303895" y="4055110"/>
            <a:ext cx="3810" cy="2535555"/>
          </a:xfrm>
          <a:prstGeom prst="line">
            <a:avLst/>
          </a:prstGeom>
          <a:ln w="12700" cap="flat" cmpd="sng" algn="ctr">
            <a:solidFill>
              <a:srgbClr val="383838"/>
            </a:solidFill>
            <a:prstDash val="dash"/>
            <a:miter lim="800000"/>
          </a:ln>
        </p:spPr>
        <p:style>
          <a:lnRef idx="0">
            <a:srgbClr val="0042FF"/>
          </a:lnRef>
          <a:fillRef idx="0">
            <a:srgbClr val="FFFFFF"/>
          </a:fillRef>
          <a:effectRef idx="0">
            <a:srgbClr val="FFFFFF"/>
          </a:effectRef>
          <a:fontRef idx="minor">
            <a:srgbClr val="383838"/>
          </a:fontRef>
        </p:style>
      </p:cxnSp>
      <p:pic>
        <p:nvPicPr>
          <p:cNvPr id="54" name="图片 53" descr="客户"/>
          <p:cNvPicPr>
            <a:picLocks noChangeAspect="1"/>
          </p:cNvPicPr>
          <p:nvPr/>
        </p:nvPicPr>
        <p:blipFill>
          <a:blip r:embed="rId8"/>
          <a:stretch>
            <a:fillRect/>
          </a:stretch>
        </p:blipFill>
        <p:spPr>
          <a:xfrm>
            <a:off x="9750425" y="2908300"/>
            <a:ext cx="213360" cy="213360"/>
          </a:xfrm>
          <a:prstGeom prst="rect">
            <a:avLst/>
          </a:prstGeom>
        </p:spPr>
      </p:pic>
      <p:grpSp>
        <p:nvGrpSpPr>
          <p:cNvPr id="55" name="组合 54"/>
          <p:cNvGrpSpPr/>
          <p:nvPr/>
        </p:nvGrpSpPr>
        <p:grpSpPr>
          <a:xfrm>
            <a:off x="2680335" y="4187825"/>
            <a:ext cx="1088390" cy="394335"/>
            <a:chOff x="4221" y="6595"/>
            <a:chExt cx="1714" cy="740"/>
          </a:xfrm>
          <a:solidFill>
            <a:srgbClr val="3368FF"/>
          </a:solidFill>
        </p:grpSpPr>
        <p:sp>
          <p:nvSpPr>
            <p:cNvPr id="56" name="圆角矩形 11"/>
            <p:cNvSpPr/>
            <p:nvPr/>
          </p:nvSpPr>
          <p:spPr>
            <a:xfrm>
              <a:off x="4221" y="6595"/>
              <a:ext cx="1359" cy="740"/>
            </a:xfrm>
            <a:prstGeom prst="roundRect">
              <a:avLst>
                <a:gd name="adj" fmla="val 0"/>
              </a:avLst>
            </a:prstGeom>
            <a:grpFill/>
            <a:ln w="9525" cap="flat" cmpd="sng" algn="ctr">
              <a:noFill/>
              <a:prstDash val="solid"/>
              <a:miter lim="800000"/>
            </a:ln>
            <a:effectLst/>
          </p:spPr>
          <p:txBody>
            <a:bodyPr rtlCol="0" anchor="ctr"/>
            <a:lstStyle/>
            <a:p>
              <a:pPr indent="0" algn="l">
                <a:buFont typeface="微软雅黑"/>
                <a:buNone/>
                <a:defRPr>
                  <a:solidFill>
                    <a:srgbClr val="FFFFFF"/>
                  </a:solidFill>
                  <a:latin typeface="微软雅黑"/>
                  <a:ea typeface="微软雅黑"/>
                  <a:cs typeface="微软雅黑"/>
                </a:defRPr>
              </a:pPr>
              <a:endParaRPr lang="zh-CN" altLang="en-US" sz="1100" kern="0" dirty="0">
                <a:solidFill>
                  <a:srgbClr val="FFFFFF"/>
                </a:solidFill>
                <a:latin typeface="微软雅黑"/>
                <a:ea typeface="微软雅黑"/>
                <a:cs typeface="微软雅黑"/>
                <a:sym typeface="微软雅黑"/>
              </a:endParaRPr>
            </a:p>
          </p:txBody>
        </p:sp>
        <p:sp>
          <p:nvSpPr>
            <p:cNvPr id="57" name="椭圆 56"/>
            <p:cNvSpPr/>
            <p:nvPr/>
          </p:nvSpPr>
          <p:spPr>
            <a:xfrm>
              <a:off x="5231" y="6595"/>
              <a:ext cx="705" cy="740"/>
            </a:xfrm>
            <a:prstGeom prst="ellipse">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58" name="文本框 57"/>
          <p:cNvSpPr txBox="1"/>
          <p:nvPr/>
        </p:nvSpPr>
        <p:spPr>
          <a:xfrm>
            <a:off x="2647950" y="4227195"/>
            <a:ext cx="1089025" cy="306705"/>
          </a:xfrm>
          <a:prstGeom prst="rect">
            <a:avLst/>
          </a:prstGeom>
          <a:noFill/>
        </p:spPr>
        <p:txBody>
          <a:bodyPr wrap="square" rtlCol="0">
            <a:spAutoFit/>
          </a:bodyPr>
          <a:lstStyle/>
          <a:p>
            <a:pPr indent="0" algn="l">
              <a:buFont typeface="微软雅黑"/>
              <a:buNone/>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第</a:t>
            </a:r>
            <a:r>
              <a:rPr lang="en-US" altLang="zh-CN" sz="1400" b="1" dirty="0">
                <a:solidFill>
                  <a:srgbClr val="FFFFFF"/>
                </a:solidFill>
                <a:latin typeface="微软雅黑"/>
                <a:ea typeface="微软雅黑"/>
                <a:cs typeface="微软雅黑"/>
              </a:rPr>
              <a:t>1</a:t>
            </a:r>
            <a:r>
              <a:rPr lang="zh-CN" altLang="en-US" sz="1400" b="1" dirty="0">
                <a:solidFill>
                  <a:srgbClr val="FFFFFF"/>
                </a:solidFill>
                <a:latin typeface="微软雅黑"/>
                <a:ea typeface="微软雅黑"/>
                <a:cs typeface="微软雅黑"/>
              </a:rPr>
              <a:t>级驱动</a:t>
            </a:r>
            <a:endParaRPr lang="zh-CN" altLang="en-US" sz="1400" b="1" dirty="0">
              <a:solidFill>
                <a:srgbClr val="FFFFFF"/>
              </a:solidFill>
              <a:latin typeface="微软雅黑"/>
              <a:ea typeface="微软雅黑"/>
              <a:cs typeface="微软雅黑"/>
            </a:endParaRPr>
          </a:p>
        </p:txBody>
      </p:sp>
      <p:sp>
        <p:nvSpPr>
          <p:cNvPr id="59" name="右箭头 58"/>
          <p:cNvSpPr/>
          <p:nvPr/>
        </p:nvSpPr>
        <p:spPr>
          <a:xfrm>
            <a:off x="4092575" y="5994400"/>
            <a:ext cx="195580" cy="304800"/>
          </a:xfrm>
          <a:prstGeom prst="rightArrow">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66" name="圆角矩形 11"/>
          <p:cNvSpPr/>
          <p:nvPr/>
        </p:nvSpPr>
        <p:spPr>
          <a:xfrm>
            <a:off x="6595745" y="4301490"/>
            <a:ext cx="1623060" cy="358140"/>
          </a:xfrm>
          <a:prstGeom prst="roundRect">
            <a:avLst>
              <a:gd name="adj" fmla="val 0"/>
            </a:avLst>
          </a:prstGeom>
          <a:gradFill>
            <a:gsLst>
              <a:gs pos="15000">
                <a:srgbClr val="FFFFFF">
                  <a:alpha val="0"/>
                </a:srgbClr>
              </a:gs>
              <a:gs pos="100000">
                <a:srgbClr val="FFFFFF"/>
              </a:gs>
            </a:gsLst>
            <a:lin ang="21594000" scaled="0"/>
          </a:gradFill>
          <a:ln w="9525" cap="flat" cmpd="sng" algn="ctr">
            <a:noFill/>
            <a:prstDash val="solid"/>
            <a:miter lim="800000"/>
          </a:ln>
          <a:effectLst/>
        </p:spPr>
        <p:txBody>
          <a:bodyPr rtlCol="0" anchor="ctr">
            <a:noAutofit/>
          </a:bodyPr>
          <a:lstStyle/>
          <a:p>
            <a:pPr lvl="0" algn="ctr">
              <a:buClrTx/>
              <a:buSzTx/>
              <a:buFont typeface="微软雅黑"/>
              <a:defRPr>
                <a:latin typeface="微软雅黑"/>
                <a:ea typeface="微软雅黑"/>
                <a:cs typeface="微软雅黑"/>
              </a:defRPr>
            </a:pPr>
            <a:r>
              <a:rPr lang="en-US" altLang="zh-CN" sz="1400" b="1" kern="0" dirty="0">
                <a:solidFill>
                  <a:srgbClr val="383838"/>
                </a:solidFill>
                <a:latin typeface="微软雅黑"/>
                <a:ea typeface="微软雅黑"/>
                <a:cs typeface="微软雅黑"/>
                <a:sym typeface="微软雅黑"/>
              </a:rPr>
              <a:t>产品力+渠道力</a:t>
            </a:r>
            <a:endParaRPr lang="en-US" altLang="zh-CN" sz="1400" b="1" kern="0" dirty="0">
              <a:solidFill>
                <a:srgbClr val="383838"/>
              </a:solidFill>
              <a:latin typeface="微软雅黑"/>
              <a:ea typeface="微软雅黑"/>
              <a:cs typeface="微软雅黑"/>
              <a:sym typeface="微软雅黑"/>
            </a:endParaRPr>
          </a:p>
        </p:txBody>
      </p:sp>
      <p:sp>
        <p:nvSpPr>
          <p:cNvPr id="67" name="文本框 66"/>
          <p:cNvSpPr txBox="1"/>
          <p:nvPr/>
        </p:nvSpPr>
        <p:spPr>
          <a:xfrm>
            <a:off x="5419090" y="4824730"/>
            <a:ext cx="2393315" cy="306705"/>
          </a:xfrm>
          <a:prstGeom prst="rect">
            <a:avLst/>
          </a:prstGeom>
          <a:noFill/>
        </p:spPr>
        <p:txBody>
          <a:bodyPr wrap="square" rtlCol="0">
            <a:spAutoFit/>
          </a:bodyPr>
          <a:lstStyle/>
          <a:p>
            <a:pPr indent="0" algn="l">
              <a:buFont typeface="微软雅黑"/>
              <a:buNone/>
              <a:defRPr>
                <a:latin typeface="微软雅黑"/>
                <a:ea typeface="微软雅黑"/>
                <a:cs typeface="微软雅黑"/>
              </a:defRPr>
            </a:pPr>
            <a:r>
              <a:rPr lang="en-US" altLang="zh-CN" sz="1400" b="1" dirty="0">
                <a:solidFill>
                  <a:srgbClr val="0042FF"/>
                </a:solidFill>
                <a:latin typeface="微软雅黑"/>
                <a:ea typeface="微软雅黑"/>
                <a:cs typeface="微软雅黑"/>
              </a:rPr>
              <a:t>—“</a:t>
            </a:r>
            <a:r>
              <a:rPr lang="zh-CN" altLang="en-US" sz="1400" b="1" dirty="0">
                <a:solidFill>
                  <a:srgbClr val="0042FF"/>
                </a:solidFill>
                <a:latin typeface="微软雅黑"/>
                <a:ea typeface="微软雅黑"/>
                <a:cs typeface="微软雅黑"/>
              </a:rPr>
              <a:t>渠道为王、抢占市场</a:t>
            </a:r>
            <a:r>
              <a:rPr lang="en-US" altLang="zh-CN" sz="1400" b="1" dirty="0">
                <a:solidFill>
                  <a:srgbClr val="0042FF"/>
                </a:solidFill>
                <a:latin typeface="微软雅黑"/>
                <a:ea typeface="微软雅黑"/>
                <a:cs typeface="微软雅黑"/>
              </a:rPr>
              <a:t>”</a:t>
            </a:r>
            <a:endParaRPr lang="en-US" altLang="zh-CN" sz="1400" b="1" dirty="0">
              <a:solidFill>
                <a:srgbClr val="0042FF"/>
              </a:solidFill>
              <a:latin typeface="微软雅黑"/>
              <a:ea typeface="微软雅黑"/>
              <a:cs typeface="微软雅黑"/>
            </a:endParaRPr>
          </a:p>
        </p:txBody>
      </p:sp>
      <p:sp>
        <p:nvSpPr>
          <p:cNvPr id="73" name="文本框 72"/>
          <p:cNvSpPr txBox="1"/>
          <p:nvPr/>
        </p:nvSpPr>
        <p:spPr>
          <a:xfrm>
            <a:off x="5419090" y="5243195"/>
            <a:ext cx="2676525" cy="429895"/>
          </a:xfrm>
          <a:prstGeom prst="rect">
            <a:avLst/>
          </a:prstGeom>
          <a:noFill/>
        </p:spPr>
        <p:txBody>
          <a:bodyPr wrap="square" rtlCol="0">
            <a:spAutoFit/>
          </a:bodyPr>
          <a:lstStyle/>
          <a:p>
            <a:pPr indent="0" algn="l">
              <a:buFont typeface="微软雅黑"/>
              <a:buNone/>
              <a:defRPr>
                <a:latin typeface="微软雅黑"/>
                <a:ea typeface="微软雅黑"/>
                <a:cs typeface="微软雅黑"/>
              </a:defRPr>
            </a:pPr>
            <a:r>
              <a:rPr lang="zh-CN" altLang="en-US" sz="1100" dirty="0">
                <a:solidFill>
                  <a:srgbClr val="383838"/>
                </a:solidFill>
                <a:latin typeface="微软雅黑"/>
                <a:ea typeface="微软雅黑"/>
                <a:cs typeface="微软雅黑"/>
              </a:rPr>
              <a:t>拓展渠道以提供便捷优质的营销服务体验，获得客户认可，形成附加价值。</a:t>
            </a:r>
            <a:endParaRPr lang="zh-CN" altLang="en-US" sz="1100" dirty="0">
              <a:solidFill>
                <a:srgbClr val="383838"/>
              </a:solidFill>
              <a:latin typeface="微软雅黑"/>
              <a:ea typeface="微软雅黑"/>
              <a:cs typeface="微软雅黑"/>
            </a:endParaRPr>
          </a:p>
        </p:txBody>
      </p:sp>
      <p:sp>
        <p:nvSpPr>
          <p:cNvPr id="74" name="圆角矩形 11"/>
          <p:cNvSpPr/>
          <p:nvPr/>
        </p:nvSpPr>
        <p:spPr>
          <a:xfrm>
            <a:off x="5425440" y="5842000"/>
            <a:ext cx="1322070" cy="543560"/>
          </a:xfrm>
          <a:prstGeom prst="roundRect">
            <a:avLst>
              <a:gd name="adj" fmla="val 0"/>
            </a:avLst>
          </a:prstGeom>
          <a:noFill/>
          <a:ln w="9525" cap="flat" cmpd="sng" algn="ctr">
            <a:solidFill>
              <a:srgbClr val="3368FF"/>
            </a:solidFill>
            <a:prstDash val="solid"/>
            <a:miter lim="800000"/>
          </a:ln>
          <a:effectLst/>
        </p:spPr>
        <p:txBody>
          <a:bodyPr rtlCol="0" anchor="ctr">
            <a:noAutofit/>
          </a:bodyPr>
          <a:lstStyle/>
          <a:p>
            <a:pPr lvl="0" algn="ctr">
              <a:buClrTx/>
              <a:buSzTx/>
              <a:buFont typeface="微软雅黑"/>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业务线索价值</a:t>
            </a:r>
            <a:endParaRPr lang="zh-CN" sz="1100" b="1" dirty="0">
              <a:solidFill>
                <a:srgbClr val="383838"/>
              </a:solidFill>
              <a:latin typeface="微软雅黑"/>
              <a:ea typeface="微软雅黑"/>
              <a:cs typeface="微软雅黑"/>
              <a:sym typeface="微软雅黑"/>
            </a:endParaRPr>
          </a:p>
          <a:p>
            <a:pPr lvl="0" algn="ctr">
              <a:buClrTx/>
              <a:buSzTx/>
              <a:buFont typeface="微软雅黑"/>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全量保客</a:t>
            </a:r>
            <a:endParaRPr lang="zh-CN" sz="1100" dirty="0">
              <a:solidFill>
                <a:srgbClr val="383838"/>
              </a:solidFill>
              <a:latin typeface="微软雅黑"/>
              <a:ea typeface="微软雅黑"/>
              <a:cs typeface="微软雅黑"/>
              <a:sym typeface="微软雅黑"/>
            </a:endParaRPr>
          </a:p>
        </p:txBody>
      </p:sp>
      <p:grpSp>
        <p:nvGrpSpPr>
          <p:cNvPr id="81" name="组合 80"/>
          <p:cNvGrpSpPr/>
          <p:nvPr/>
        </p:nvGrpSpPr>
        <p:grpSpPr>
          <a:xfrm>
            <a:off x="7125335" y="5856605"/>
            <a:ext cx="897255" cy="266700"/>
            <a:chOff x="4265" y="4393"/>
            <a:chExt cx="1908" cy="562"/>
          </a:xfrm>
          <a:solidFill>
            <a:srgbClr val="3368FF"/>
          </a:solidFill>
        </p:grpSpPr>
        <p:sp>
          <p:nvSpPr>
            <p:cNvPr id="82" name="矩形: 圆角 23"/>
            <p:cNvSpPr/>
            <p:nvPr/>
          </p:nvSpPr>
          <p:spPr>
            <a:xfrm>
              <a:off x="4265" y="4393"/>
              <a:ext cx="1908" cy="562"/>
            </a:xfrm>
            <a:prstGeom prst="roundRect">
              <a:avLst>
                <a:gd name="adj" fmla="val 8000"/>
              </a:avLst>
            </a:prstGeom>
            <a:grpFill/>
            <a:ln w="6350" cap="flat">
              <a:noFill/>
              <a:prstDash val="solid"/>
              <a:miter/>
            </a:ln>
            <a:effectLst/>
          </p:spPr>
          <p:txBody>
            <a:bodyPr rot="0" spcFirstLastPara="0"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4" name="文本框 77"/>
            <p:cNvSpPr txBox="1"/>
            <p:nvPr/>
          </p:nvSpPr>
          <p:spPr>
            <a:xfrm>
              <a:off x="4460" y="4460"/>
              <a:ext cx="1458" cy="410"/>
            </a:xfrm>
            <a:prstGeom prst="rect">
              <a:avLst/>
            </a:prstGeom>
            <a:noFill/>
            <a:extLst>
              <a:ext uri="{909E8E84-426E-40DD-AFC4-6F175D3DCCD1}">
                <a14:hiddenFill xmlns:a14="http://schemas.microsoft.com/office/drawing/2010/main">
                  <a:grpFill/>
                </a14:hiddenFill>
              </a:ext>
            </a:extLst>
          </p:spPr>
          <p:txBody>
            <a:bodyPr wrap="square" lIns="0" tIns="0" rIns="0" bIns="0" rtlCol="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sz="1200" b="1" dirty="0">
                  <a:solidFill>
                    <a:srgbClr val="FFFFFF"/>
                  </a:solidFill>
                  <a:effectLst/>
                  <a:latin typeface="微软雅黑"/>
                  <a:ea typeface="微软雅黑"/>
                  <a:cs typeface="微软雅黑"/>
                </a:rPr>
                <a:t>服务变现</a:t>
              </a:r>
              <a:endParaRPr lang="zh-CN" sz="1200" b="1" dirty="0">
                <a:solidFill>
                  <a:srgbClr val="FFFFFF"/>
                </a:solidFill>
                <a:effectLst/>
                <a:latin typeface="微软雅黑"/>
                <a:ea typeface="微软雅黑"/>
                <a:cs typeface="微软雅黑"/>
              </a:endParaRPr>
            </a:p>
          </p:txBody>
        </p:sp>
      </p:grpSp>
      <p:grpSp>
        <p:nvGrpSpPr>
          <p:cNvPr id="85" name="组合 84"/>
          <p:cNvGrpSpPr/>
          <p:nvPr/>
        </p:nvGrpSpPr>
        <p:grpSpPr>
          <a:xfrm>
            <a:off x="5425440" y="4265295"/>
            <a:ext cx="1088390" cy="394335"/>
            <a:chOff x="4221" y="6595"/>
            <a:chExt cx="1714" cy="740"/>
          </a:xfrm>
          <a:solidFill>
            <a:srgbClr val="3368FF"/>
          </a:solidFill>
        </p:grpSpPr>
        <p:sp>
          <p:nvSpPr>
            <p:cNvPr id="87" name="圆角矩形 11"/>
            <p:cNvSpPr/>
            <p:nvPr/>
          </p:nvSpPr>
          <p:spPr>
            <a:xfrm>
              <a:off x="4221" y="6595"/>
              <a:ext cx="1359" cy="740"/>
            </a:xfrm>
            <a:prstGeom prst="roundRect">
              <a:avLst>
                <a:gd name="adj" fmla="val 0"/>
              </a:avLst>
            </a:prstGeom>
            <a:grpFill/>
            <a:ln w="9525" cap="flat" cmpd="sng" algn="ctr">
              <a:noFill/>
              <a:prstDash val="solid"/>
              <a:miter lim="800000"/>
            </a:ln>
            <a:effectLst/>
          </p:spPr>
          <p:txBody>
            <a:bodyPr rtlCol="0" anchor="ctr"/>
            <a:lstStyle/>
            <a:p>
              <a:pPr indent="0" algn="l">
                <a:buFont typeface="微软雅黑"/>
                <a:buNone/>
                <a:defRPr>
                  <a:solidFill>
                    <a:srgbClr val="FFFFFF"/>
                  </a:solidFill>
                  <a:latin typeface="微软雅黑"/>
                  <a:ea typeface="微软雅黑"/>
                  <a:cs typeface="微软雅黑"/>
                </a:defRPr>
              </a:pPr>
              <a:endParaRPr lang="zh-CN" altLang="en-US" sz="1100" kern="0" dirty="0">
                <a:solidFill>
                  <a:srgbClr val="FFFFFF"/>
                </a:solidFill>
                <a:latin typeface="微软雅黑"/>
                <a:ea typeface="微软雅黑"/>
                <a:cs typeface="微软雅黑"/>
                <a:sym typeface="微软雅黑"/>
              </a:endParaRPr>
            </a:p>
          </p:txBody>
        </p:sp>
        <p:sp>
          <p:nvSpPr>
            <p:cNvPr id="88" name="椭圆 87"/>
            <p:cNvSpPr/>
            <p:nvPr/>
          </p:nvSpPr>
          <p:spPr>
            <a:xfrm>
              <a:off x="5231" y="6595"/>
              <a:ext cx="705" cy="740"/>
            </a:xfrm>
            <a:prstGeom prst="ellipse">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89" name="文本框 88"/>
          <p:cNvSpPr txBox="1"/>
          <p:nvPr/>
        </p:nvSpPr>
        <p:spPr>
          <a:xfrm>
            <a:off x="5398135" y="4301490"/>
            <a:ext cx="1088390" cy="306705"/>
          </a:xfrm>
          <a:prstGeom prst="rect">
            <a:avLst/>
          </a:prstGeom>
          <a:noFill/>
        </p:spPr>
        <p:txBody>
          <a:bodyPr wrap="square" rtlCol="0">
            <a:spAutoFit/>
          </a:bodyPr>
          <a:lstStyle/>
          <a:p>
            <a:pPr indent="0" algn="l">
              <a:buFont typeface="微软雅黑"/>
              <a:buNone/>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第</a:t>
            </a:r>
            <a:r>
              <a:rPr lang="en-US" altLang="zh-CN" sz="1400" b="1" dirty="0">
                <a:solidFill>
                  <a:srgbClr val="FFFFFF"/>
                </a:solidFill>
                <a:latin typeface="微软雅黑"/>
                <a:ea typeface="微软雅黑"/>
                <a:cs typeface="微软雅黑"/>
              </a:rPr>
              <a:t>2</a:t>
            </a:r>
            <a:r>
              <a:rPr lang="zh-CN" altLang="en-US" sz="1400" b="1" dirty="0">
                <a:solidFill>
                  <a:srgbClr val="FFFFFF"/>
                </a:solidFill>
                <a:latin typeface="微软雅黑"/>
                <a:ea typeface="微软雅黑"/>
                <a:cs typeface="微软雅黑"/>
              </a:rPr>
              <a:t>级驱动</a:t>
            </a:r>
            <a:endParaRPr lang="zh-CN" altLang="en-US" sz="1400" b="1" dirty="0">
              <a:solidFill>
                <a:srgbClr val="FFFFFF"/>
              </a:solidFill>
              <a:latin typeface="微软雅黑"/>
              <a:ea typeface="微软雅黑"/>
              <a:cs typeface="微软雅黑"/>
            </a:endParaRPr>
          </a:p>
        </p:txBody>
      </p:sp>
      <p:sp>
        <p:nvSpPr>
          <p:cNvPr id="90" name="右箭头 89"/>
          <p:cNvSpPr/>
          <p:nvPr/>
        </p:nvSpPr>
        <p:spPr>
          <a:xfrm>
            <a:off x="6837680" y="5978525"/>
            <a:ext cx="195580" cy="304800"/>
          </a:xfrm>
          <a:prstGeom prst="rightArrow">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1" name="矩形 90"/>
          <p:cNvSpPr/>
          <p:nvPr/>
        </p:nvSpPr>
        <p:spPr>
          <a:xfrm>
            <a:off x="8096250" y="5006975"/>
            <a:ext cx="461645" cy="575945"/>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95" name="组合 94"/>
          <p:cNvGrpSpPr/>
          <p:nvPr/>
        </p:nvGrpSpPr>
        <p:grpSpPr>
          <a:xfrm>
            <a:off x="7125335" y="6228715"/>
            <a:ext cx="897255" cy="266700"/>
            <a:chOff x="4265" y="4393"/>
            <a:chExt cx="1908" cy="562"/>
          </a:xfrm>
          <a:solidFill>
            <a:srgbClr val="C6D4FE"/>
          </a:solidFill>
        </p:grpSpPr>
        <p:sp>
          <p:nvSpPr>
            <p:cNvPr id="96" name="矩形: 圆角 23"/>
            <p:cNvSpPr/>
            <p:nvPr/>
          </p:nvSpPr>
          <p:spPr>
            <a:xfrm>
              <a:off x="4265" y="4393"/>
              <a:ext cx="1908" cy="562"/>
            </a:xfrm>
            <a:prstGeom prst="roundRect">
              <a:avLst>
                <a:gd name="adj" fmla="val 8000"/>
              </a:avLst>
            </a:prstGeom>
            <a:solidFill>
              <a:srgbClr val="FFFFFF"/>
            </a:solidFill>
            <a:ln w="6350" cap="flat">
              <a:noFill/>
              <a:prstDash val="solid"/>
              <a:miter/>
            </a:ln>
            <a:effectLst/>
          </p:spPr>
          <p:txBody>
            <a:bodyPr rot="0" spcFirstLastPara="0"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97" name="文本框 77"/>
            <p:cNvSpPr txBox="1"/>
            <p:nvPr/>
          </p:nvSpPr>
          <p:spPr>
            <a:xfrm>
              <a:off x="4460" y="4460"/>
              <a:ext cx="1458" cy="410"/>
            </a:xfrm>
            <a:prstGeom prst="rect">
              <a:avLst/>
            </a:prstGeom>
            <a:noFill/>
            <a:extLst>
              <a:ext uri="{909E8E84-426E-40DD-AFC4-6F175D3DCCD1}">
                <a14:hiddenFill xmlns:a14="http://schemas.microsoft.com/office/drawing/2010/main">
                  <a:grpFill/>
                </a14:hiddenFill>
              </a:ext>
            </a:extLst>
          </p:spPr>
          <p:txBody>
            <a:bodyPr wrap="square" lIns="0" tIns="0" rIns="0" bIns="0" rtlCol="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sz="1200" b="1" dirty="0">
                  <a:solidFill>
                    <a:srgbClr val="383838"/>
                  </a:solidFill>
                  <a:effectLst/>
                  <a:latin typeface="微软雅黑"/>
                  <a:ea typeface="微软雅黑"/>
                  <a:cs typeface="微软雅黑"/>
                </a:rPr>
                <a:t>产品变现</a:t>
              </a:r>
              <a:endParaRPr lang="zh-CN" sz="1200" b="1" dirty="0">
                <a:solidFill>
                  <a:srgbClr val="383838"/>
                </a:solidFill>
                <a:effectLst/>
                <a:latin typeface="微软雅黑"/>
                <a:ea typeface="微软雅黑"/>
                <a:cs typeface="微软雅黑"/>
              </a:endParaRPr>
            </a:p>
          </p:txBody>
        </p:sp>
      </p:grpSp>
      <p:cxnSp>
        <p:nvCxnSpPr>
          <p:cNvPr id="98" name="直接连接符 97"/>
          <p:cNvCxnSpPr/>
          <p:nvPr/>
        </p:nvCxnSpPr>
        <p:spPr>
          <a:xfrm>
            <a:off x="8748395" y="4042410"/>
            <a:ext cx="2865755" cy="0"/>
          </a:xfrm>
          <a:prstGeom prst="line">
            <a:avLst/>
          </a:prstGeom>
          <a:ln w="1270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cxnSp>
      <p:cxnSp>
        <p:nvCxnSpPr>
          <p:cNvPr id="99" name="直接连接符 98"/>
          <p:cNvCxnSpPr/>
          <p:nvPr/>
        </p:nvCxnSpPr>
        <p:spPr>
          <a:xfrm flipV="1">
            <a:off x="11612880" y="4042410"/>
            <a:ext cx="13970" cy="2591435"/>
          </a:xfrm>
          <a:prstGeom prst="line">
            <a:avLst/>
          </a:prstGeom>
          <a:ln w="12700" cap="flat" cmpd="sng" algn="ctr">
            <a:solidFill>
              <a:srgbClr val="3368FF"/>
            </a:solidFill>
            <a:prstDash val="dash"/>
            <a:miter lim="800000"/>
          </a:ln>
        </p:spPr>
        <p:style>
          <a:lnRef idx="0">
            <a:srgbClr val="0042FF"/>
          </a:lnRef>
          <a:fillRef idx="0">
            <a:srgbClr val="FFFFFF"/>
          </a:fillRef>
          <a:effectRef idx="0">
            <a:srgbClr val="FFFFFF"/>
          </a:effectRef>
          <a:fontRef idx="minor">
            <a:srgbClr val="383838"/>
          </a:fontRef>
        </p:style>
      </p:cxnSp>
      <p:sp>
        <p:nvSpPr>
          <p:cNvPr id="100" name="矩形 99"/>
          <p:cNvSpPr/>
          <p:nvPr/>
        </p:nvSpPr>
        <p:spPr>
          <a:xfrm>
            <a:off x="8546465" y="3827780"/>
            <a:ext cx="1172210" cy="399415"/>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r>
              <a:rPr lang="zh-CN" altLang="en-US" b="1">
                <a:solidFill>
                  <a:srgbClr val="FFFFFF"/>
                </a:solidFill>
                <a:latin typeface="微软雅黑"/>
                <a:ea typeface="微软雅黑"/>
                <a:cs typeface="微软雅黑"/>
              </a:rPr>
              <a:t>当前时代</a:t>
            </a:r>
            <a:endParaRPr lang="zh-CN" altLang="en-US" b="1">
              <a:solidFill>
                <a:srgbClr val="FFFFFF"/>
              </a:solidFill>
              <a:latin typeface="微软雅黑"/>
              <a:ea typeface="微软雅黑"/>
              <a:cs typeface="微软雅黑"/>
            </a:endParaRPr>
          </a:p>
        </p:txBody>
      </p:sp>
      <p:sp>
        <p:nvSpPr>
          <p:cNvPr id="101" name="文本框 100"/>
          <p:cNvSpPr txBox="1"/>
          <p:nvPr/>
        </p:nvSpPr>
        <p:spPr>
          <a:xfrm>
            <a:off x="8674735" y="4824730"/>
            <a:ext cx="2393315" cy="306705"/>
          </a:xfrm>
          <a:prstGeom prst="rect">
            <a:avLst/>
          </a:prstGeom>
          <a:noFill/>
        </p:spPr>
        <p:txBody>
          <a:bodyPr wrap="square" rtlCol="0">
            <a:spAutoFit/>
          </a:bodyPr>
          <a:lstStyle/>
          <a:p>
            <a:pPr indent="0" algn="l">
              <a:buFont typeface="微软雅黑"/>
              <a:buNone/>
              <a:defRPr>
                <a:latin typeface="微软雅黑"/>
                <a:ea typeface="微软雅黑"/>
                <a:cs typeface="微软雅黑"/>
              </a:defRPr>
            </a:pPr>
            <a:r>
              <a:rPr lang="en-US" altLang="zh-CN" sz="1400" b="1" dirty="0">
                <a:solidFill>
                  <a:srgbClr val="0042FF"/>
                </a:solidFill>
                <a:latin typeface="微软雅黑"/>
                <a:ea typeface="微软雅黑"/>
                <a:cs typeface="微软雅黑"/>
              </a:rPr>
              <a:t>—“</a:t>
            </a:r>
            <a:r>
              <a:rPr lang="zh-CN" altLang="en-US" sz="1400" b="1" dirty="0">
                <a:solidFill>
                  <a:srgbClr val="0042FF"/>
                </a:solidFill>
                <a:latin typeface="微软雅黑"/>
                <a:ea typeface="微软雅黑"/>
                <a:cs typeface="微软雅黑"/>
              </a:rPr>
              <a:t>用户为王、共赢共生</a:t>
            </a:r>
            <a:r>
              <a:rPr lang="en-US" altLang="zh-CN" sz="1400" b="1" dirty="0">
                <a:solidFill>
                  <a:srgbClr val="0042FF"/>
                </a:solidFill>
                <a:latin typeface="微软雅黑"/>
                <a:ea typeface="微软雅黑"/>
                <a:cs typeface="微软雅黑"/>
              </a:rPr>
              <a:t>”</a:t>
            </a:r>
            <a:endParaRPr lang="en-US" altLang="zh-CN" sz="1400" b="1" dirty="0">
              <a:solidFill>
                <a:srgbClr val="0042FF"/>
              </a:solidFill>
              <a:latin typeface="微软雅黑"/>
              <a:ea typeface="微软雅黑"/>
              <a:cs typeface="微软雅黑"/>
            </a:endParaRPr>
          </a:p>
        </p:txBody>
      </p:sp>
      <p:sp>
        <p:nvSpPr>
          <p:cNvPr id="102" name="文本框 101"/>
          <p:cNvSpPr txBox="1"/>
          <p:nvPr/>
        </p:nvSpPr>
        <p:spPr>
          <a:xfrm>
            <a:off x="8674735" y="5121275"/>
            <a:ext cx="2676525" cy="429895"/>
          </a:xfrm>
          <a:prstGeom prst="rect">
            <a:avLst/>
          </a:prstGeom>
          <a:noFill/>
        </p:spPr>
        <p:txBody>
          <a:bodyPr wrap="square" rtlCol="0">
            <a:spAutoFit/>
          </a:bodyPr>
          <a:lstStyle/>
          <a:p>
            <a:pPr indent="0" algn="l">
              <a:buFont typeface="微软雅黑"/>
              <a:buNone/>
              <a:defRPr>
                <a:latin typeface="微软雅黑"/>
                <a:ea typeface="微软雅黑"/>
                <a:cs typeface="微软雅黑"/>
              </a:defRPr>
            </a:pPr>
            <a:r>
              <a:rPr lang="zh-CN" altLang="en-US" sz="1100" dirty="0">
                <a:solidFill>
                  <a:srgbClr val="383838"/>
                </a:solidFill>
                <a:latin typeface="微软雅黑"/>
                <a:ea typeface="微软雅黑"/>
                <a:cs typeface="微软雅黑"/>
              </a:rPr>
              <a:t>从用户需求出发布局品牌生态，实现业务线索与品牌用户流量的双变现</a:t>
            </a:r>
            <a:endParaRPr lang="zh-CN" altLang="en-US" sz="1100" dirty="0">
              <a:solidFill>
                <a:srgbClr val="383838"/>
              </a:solidFill>
              <a:latin typeface="微软雅黑"/>
              <a:ea typeface="微软雅黑"/>
              <a:cs typeface="微软雅黑"/>
            </a:endParaRPr>
          </a:p>
        </p:txBody>
      </p:sp>
      <p:sp>
        <p:nvSpPr>
          <p:cNvPr id="103" name="圆角矩形 11"/>
          <p:cNvSpPr/>
          <p:nvPr/>
        </p:nvSpPr>
        <p:spPr>
          <a:xfrm>
            <a:off x="8674735" y="6118860"/>
            <a:ext cx="872490" cy="450215"/>
          </a:xfrm>
          <a:prstGeom prst="roundRect">
            <a:avLst>
              <a:gd name="adj" fmla="val 0"/>
            </a:avLst>
          </a:prstGeom>
          <a:noFill/>
          <a:ln w="9525" cap="flat" cmpd="sng" algn="ctr">
            <a:solidFill>
              <a:srgbClr val="3368FF"/>
            </a:solidFill>
            <a:prstDash val="solid"/>
            <a:miter lim="800000"/>
          </a:ln>
          <a:effectLst/>
        </p:spPr>
        <p:txBody>
          <a:bodyPr rtlCol="0" anchor="ctr">
            <a:noAutofit/>
          </a:bodyPr>
          <a:lstStyle/>
          <a:p>
            <a:pPr lvl="0" algn="ctr">
              <a:buClrTx/>
              <a:buSzTx/>
              <a:buFont typeface="微软雅黑"/>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业务线索</a:t>
            </a:r>
            <a:endParaRPr lang="zh-CN" sz="1100" b="1" dirty="0">
              <a:solidFill>
                <a:srgbClr val="383838"/>
              </a:solidFill>
              <a:latin typeface="微软雅黑"/>
              <a:ea typeface="微软雅黑"/>
              <a:cs typeface="微软雅黑"/>
              <a:sym typeface="微软雅黑"/>
            </a:endParaRPr>
          </a:p>
          <a:p>
            <a:pPr lvl="0" algn="ctr">
              <a:buClrTx/>
              <a:buSzTx/>
              <a:buFont typeface="微软雅黑"/>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价值</a:t>
            </a:r>
            <a:endParaRPr lang="zh-CN" sz="1100" b="1" dirty="0">
              <a:solidFill>
                <a:srgbClr val="383838"/>
              </a:solidFill>
              <a:latin typeface="微软雅黑"/>
              <a:ea typeface="微软雅黑"/>
              <a:cs typeface="微软雅黑"/>
              <a:sym typeface="微软雅黑"/>
            </a:endParaRPr>
          </a:p>
        </p:txBody>
      </p:sp>
      <p:sp>
        <p:nvSpPr>
          <p:cNvPr id="105" name="右箭头 104"/>
          <p:cNvSpPr/>
          <p:nvPr/>
        </p:nvSpPr>
        <p:spPr>
          <a:xfrm>
            <a:off x="9683750" y="6173470"/>
            <a:ext cx="195580" cy="304800"/>
          </a:xfrm>
          <a:prstGeom prst="rightArrow">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112" name="组合 111"/>
          <p:cNvGrpSpPr/>
          <p:nvPr/>
        </p:nvGrpSpPr>
        <p:grpSpPr>
          <a:xfrm>
            <a:off x="8687435" y="5581650"/>
            <a:ext cx="859790" cy="448945"/>
            <a:chOff x="4265" y="4393"/>
            <a:chExt cx="1908" cy="562"/>
          </a:xfrm>
          <a:solidFill>
            <a:srgbClr val="C6D4FE"/>
          </a:solidFill>
        </p:grpSpPr>
        <p:sp>
          <p:nvSpPr>
            <p:cNvPr id="113" name="矩形: 圆角 23"/>
            <p:cNvSpPr/>
            <p:nvPr/>
          </p:nvSpPr>
          <p:spPr>
            <a:xfrm>
              <a:off x="4265" y="4393"/>
              <a:ext cx="1908" cy="562"/>
            </a:xfrm>
            <a:prstGeom prst="roundRect">
              <a:avLst>
                <a:gd name="adj" fmla="val 8000"/>
              </a:avLst>
            </a:prstGeom>
            <a:noFill/>
            <a:ln w="9525" cap="flat" cmpd="sng" algn="ctr">
              <a:solidFill>
                <a:srgbClr val="3368FF"/>
              </a:solidFill>
              <a:prstDash val="solid"/>
              <a:miter lim="800000"/>
            </a:ln>
            <a:effectLst/>
          </p:spPr>
          <p:txBody>
            <a:bodyPr rot="0" spcFirstLastPara="0" vert="horz" wrap="square" lIns="91440" tIns="45720" rIns="91440" bIns="45720" numCol="1" spcCol="0" rtlCol="0" fromWordArt="0" anchor="ctr" anchorCtr="0" forceAA="0" compatLnSpc="0">
              <a:noAutofit/>
            </a:bodyPr>
            <a:lstStyle/>
            <a:p>
              <a:pPr lvl="0" algn="ctr">
                <a:buClrTx/>
                <a:buSzTx/>
                <a:buFont typeface="微软雅黑"/>
                <a:defRPr>
                  <a:latin typeface="微软雅黑"/>
                  <a:ea typeface="微软雅黑"/>
                  <a:cs typeface="微软雅黑"/>
                </a:defRPr>
              </a:pPr>
              <a:endParaRPr lang="zh-CN" sz="1100" b="1" dirty="0">
                <a:solidFill>
                  <a:srgbClr val="383838"/>
                </a:solidFill>
                <a:latin typeface="微软雅黑"/>
                <a:ea typeface="微软雅黑"/>
                <a:cs typeface="微软雅黑"/>
                <a:sym typeface="微软雅黑"/>
              </a:endParaRPr>
            </a:p>
          </p:txBody>
        </p:sp>
        <p:sp>
          <p:nvSpPr>
            <p:cNvPr id="116" name="文本框 77"/>
            <p:cNvSpPr/>
            <p:nvPr/>
          </p:nvSpPr>
          <p:spPr>
            <a:xfrm>
              <a:off x="4326" y="4460"/>
              <a:ext cx="1752" cy="410"/>
            </a:xfrm>
            <a:prstGeom prst="rect">
              <a:avLst/>
            </a:prstGeom>
            <a:noFill/>
            <a:ln w="9525" cap="flat" cmpd="sng" algn="ctr">
              <a:solidFill>
                <a:srgbClr val="383838">
                  <a:alpha val="0"/>
                </a:srgbClr>
              </a:solidFill>
              <a:prstDash val="solid"/>
              <a:miter lim="800000"/>
            </a:ln>
            <a:effectLst/>
          </p:spPr>
          <p:txBody>
            <a:bodyPr wrap="square" lIns="91440" tIns="45720" rIns="91440" bIns="45720" rtlCol="0" anchor="ctr">
              <a:noAutofit/>
            </a:bodyPr>
            <a:lstStyle/>
            <a:p>
              <a:pPr lvl="0" algn="ctr">
                <a:buClrTx/>
                <a:buSzTx/>
                <a:buFont typeface="微软雅黑"/>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全量用户流量价值</a:t>
              </a:r>
              <a:endParaRPr lang="zh-CN" sz="1100" b="1" dirty="0">
                <a:solidFill>
                  <a:srgbClr val="383838"/>
                </a:solidFill>
                <a:latin typeface="微软雅黑"/>
                <a:ea typeface="微软雅黑"/>
                <a:cs typeface="微软雅黑"/>
                <a:sym typeface="微软雅黑"/>
              </a:endParaRPr>
            </a:p>
          </p:txBody>
        </p:sp>
      </p:grpSp>
      <p:sp>
        <p:nvSpPr>
          <p:cNvPr id="117" name="右箭头 116"/>
          <p:cNvSpPr/>
          <p:nvPr/>
        </p:nvSpPr>
        <p:spPr>
          <a:xfrm>
            <a:off x="9683750" y="5673090"/>
            <a:ext cx="195580" cy="304800"/>
          </a:xfrm>
          <a:prstGeom prst="rightArrow">
            <a:avLst/>
          </a:prstGeom>
          <a:no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18" name="组合 117"/>
          <p:cNvGrpSpPr/>
          <p:nvPr/>
        </p:nvGrpSpPr>
        <p:grpSpPr>
          <a:xfrm>
            <a:off x="10003155" y="5581650"/>
            <a:ext cx="1470660" cy="448945"/>
            <a:chOff x="4265" y="4393"/>
            <a:chExt cx="1908" cy="562"/>
          </a:xfrm>
          <a:solidFill>
            <a:srgbClr val="3368FF"/>
          </a:solidFill>
        </p:grpSpPr>
        <p:sp>
          <p:nvSpPr>
            <p:cNvPr id="104" name="矩形: 圆角 23"/>
            <p:cNvSpPr/>
            <p:nvPr/>
          </p:nvSpPr>
          <p:spPr>
            <a:xfrm>
              <a:off x="4265" y="4393"/>
              <a:ext cx="1908" cy="562"/>
            </a:xfrm>
            <a:prstGeom prst="roundRect">
              <a:avLst>
                <a:gd name="adj" fmla="val 8000"/>
              </a:avLst>
            </a:prstGeom>
            <a:grpFill/>
            <a:ln w="6350" cap="flat">
              <a:noFill/>
              <a:prstDash val="solid"/>
              <a:miter/>
            </a:ln>
            <a:effectLst/>
          </p:spPr>
          <p:txBody>
            <a:bodyPr rot="0" spcFirstLastPara="0" vert="horz" wrap="square" lIns="0" tIns="0" rIns="0" bIns="0" numCol="1" spcCol="0" rtlCol="0" fromWordArt="0" anchor="ctr" anchorCtr="0" forceAA="0" compatLnSpc="1">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20" name="文本框 77"/>
            <p:cNvSpPr txBox="1"/>
            <p:nvPr/>
          </p:nvSpPr>
          <p:spPr>
            <a:xfrm>
              <a:off x="4460" y="4460"/>
              <a:ext cx="1458" cy="410"/>
            </a:xfrm>
            <a:prstGeom prst="rect">
              <a:avLst/>
            </a:prstGeom>
            <a:noFill/>
            <a:extLst>
              <a:ext uri="{909E8E84-426E-40DD-AFC4-6F175D3DCCD1}">
                <a14:hiddenFill xmlns:a14="http://schemas.microsoft.com/office/drawing/2010/main">
                  <a:grpFill/>
                </a14:hiddenFill>
              </a:ext>
            </a:extLst>
          </p:spPr>
          <p:txBody>
            <a:bodyPr wrap="square" lIns="0" tIns="0" rIns="0" bIns="0" rtlCol="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FFFFFF"/>
                  </a:solidFill>
                  <a:latin typeface="微软雅黑"/>
                  <a:ea typeface="微软雅黑"/>
                  <a:cs typeface="微软雅黑"/>
                </a:defRPr>
              </a:pPr>
              <a:r>
                <a:rPr lang="zh-CN" sz="1200" b="1" dirty="0">
                  <a:solidFill>
                    <a:srgbClr val="FFFFFF"/>
                  </a:solidFill>
                  <a:effectLst/>
                  <a:latin typeface="微软雅黑"/>
                  <a:ea typeface="微软雅黑"/>
                  <a:cs typeface="微软雅黑"/>
                </a:rPr>
                <a:t>价值裂变</a:t>
              </a:r>
              <a:r>
                <a:rPr lang="en-US" altLang="zh-CN" sz="1200" b="1" dirty="0">
                  <a:solidFill>
                    <a:srgbClr val="FFFFFF"/>
                  </a:solidFill>
                  <a:effectLst/>
                  <a:latin typeface="微软雅黑"/>
                  <a:ea typeface="微软雅黑"/>
                  <a:cs typeface="微软雅黑"/>
                </a:rPr>
                <a:t>+</a:t>
              </a:r>
              <a:endParaRPr lang="en-US" altLang="zh-CN" sz="1200" b="1" dirty="0">
                <a:solidFill>
                  <a:srgbClr val="FFFFFF"/>
                </a:solidFill>
                <a:effectLst/>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b="1" dirty="0">
                  <a:solidFill>
                    <a:srgbClr val="FFFFFF"/>
                  </a:solidFill>
                  <a:effectLst/>
                  <a:latin typeface="微软雅黑"/>
                  <a:ea typeface="微软雅黑"/>
                  <a:cs typeface="微软雅黑"/>
                </a:rPr>
                <a:t>生态衍生变现</a:t>
              </a:r>
              <a:endParaRPr lang="zh-CN" altLang="en-US" sz="1200" b="1" dirty="0">
                <a:solidFill>
                  <a:srgbClr val="FFFFFF"/>
                </a:solidFill>
                <a:effectLst/>
                <a:latin typeface="微软雅黑"/>
                <a:ea typeface="微软雅黑"/>
                <a:cs typeface="微软雅黑"/>
              </a:endParaRPr>
            </a:p>
          </p:txBody>
        </p:sp>
      </p:grpSp>
      <p:grpSp>
        <p:nvGrpSpPr>
          <p:cNvPr id="106" name="组合 105"/>
          <p:cNvGrpSpPr/>
          <p:nvPr/>
        </p:nvGrpSpPr>
        <p:grpSpPr>
          <a:xfrm>
            <a:off x="10003155" y="6159500"/>
            <a:ext cx="1470660" cy="450215"/>
            <a:chOff x="4265" y="4393"/>
            <a:chExt cx="1908" cy="562"/>
          </a:xfrm>
          <a:solidFill>
            <a:srgbClr val="C6D4FE"/>
          </a:solidFill>
        </p:grpSpPr>
        <p:sp>
          <p:nvSpPr>
            <p:cNvPr id="107" name="矩形: 圆角 23"/>
            <p:cNvSpPr/>
            <p:nvPr/>
          </p:nvSpPr>
          <p:spPr>
            <a:xfrm>
              <a:off x="4265" y="4393"/>
              <a:ext cx="1908" cy="562"/>
            </a:xfrm>
            <a:prstGeom prst="roundRect">
              <a:avLst>
                <a:gd name="adj" fmla="val 8000"/>
              </a:avLst>
            </a:prstGeom>
            <a:solidFill>
              <a:srgbClr val="FFFFFF"/>
            </a:solidFill>
            <a:ln w="6350" cap="flat">
              <a:noFill/>
              <a:prstDash val="solid"/>
              <a:miter/>
            </a:ln>
            <a:effectLst/>
          </p:spPr>
          <p:txBody>
            <a:bodyPr rot="0" spcFirstLastPara="0" vert="horz" wrap="square" lIns="0" tIns="0" rIns="0" bIns="0" numCol="1" spcCol="0" rtlCol="0" fromWordArt="0" anchor="ctr" anchorCtr="0" forceAA="0" compatLnSpc="1">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08" name="文本框 77"/>
            <p:cNvSpPr txBox="1"/>
            <p:nvPr/>
          </p:nvSpPr>
          <p:spPr>
            <a:xfrm>
              <a:off x="4460" y="4460"/>
              <a:ext cx="1458" cy="410"/>
            </a:xfrm>
            <a:prstGeom prst="rect">
              <a:avLst/>
            </a:prstGeom>
            <a:noFill/>
            <a:extLst>
              <a:ext uri="{909E8E84-426E-40DD-AFC4-6F175D3DCCD1}">
                <a14:hiddenFill xmlns:a14="http://schemas.microsoft.com/office/drawing/2010/main">
                  <a:grpFill/>
                </a14:hiddenFill>
              </a:ext>
            </a:extLst>
          </p:spPr>
          <p:txBody>
            <a:bodyPr wrap="square" lIns="0" tIns="0" rIns="0" bIns="0" rtlCol="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r>
                <a:rPr lang="zh-CN" sz="1200" b="1" dirty="0">
                  <a:solidFill>
                    <a:srgbClr val="383838"/>
                  </a:solidFill>
                  <a:effectLst/>
                  <a:latin typeface="微软雅黑"/>
                  <a:ea typeface="微软雅黑"/>
                  <a:cs typeface="微软雅黑"/>
                </a:rPr>
                <a:t>全生命周期</a:t>
              </a:r>
              <a:endParaRPr lang="zh-CN" sz="1200" b="1" dirty="0">
                <a:solidFill>
                  <a:srgbClr val="383838"/>
                </a:solidFill>
                <a:effectLst/>
                <a:latin typeface="微软雅黑"/>
                <a:ea typeface="微软雅黑"/>
                <a:cs typeface="微软雅黑"/>
              </a:endParaRPr>
            </a:p>
            <a:p>
              <a:pPr algn="ctr">
                <a:defRPr>
                  <a:latin typeface="微软雅黑"/>
                  <a:ea typeface="微软雅黑"/>
                  <a:cs typeface="微软雅黑"/>
                </a:defRPr>
              </a:pPr>
              <a:r>
                <a:rPr lang="zh-CN" sz="1200" b="1" dirty="0">
                  <a:solidFill>
                    <a:srgbClr val="383838"/>
                  </a:solidFill>
                  <a:effectLst/>
                  <a:latin typeface="微软雅黑"/>
                  <a:ea typeface="微软雅黑"/>
                  <a:cs typeface="微软雅黑"/>
                </a:rPr>
                <a:t>业务变现</a:t>
              </a:r>
              <a:endParaRPr lang="zh-CN" sz="1200" b="1" dirty="0">
                <a:solidFill>
                  <a:srgbClr val="383838"/>
                </a:solidFill>
                <a:effectLst/>
                <a:latin typeface="微软雅黑"/>
                <a:ea typeface="微软雅黑"/>
                <a:cs typeface="微软雅黑"/>
              </a:endParaRPr>
            </a:p>
          </p:txBody>
        </p:sp>
      </p:grpSp>
      <p:sp>
        <p:nvSpPr>
          <p:cNvPr id="126" name="圆角矩形 11"/>
          <p:cNvSpPr/>
          <p:nvPr/>
        </p:nvSpPr>
        <p:spPr>
          <a:xfrm>
            <a:off x="9885045" y="4212590"/>
            <a:ext cx="1623060" cy="511175"/>
          </a:xfrm>
          <a:prstGeom prst="roundRect">
            <a:avLst>
              <a:gd name="adj" fmla="val 0"/>
            </a:avLst>
          </a:prstGeom>
          <a:gradFill>
            <a:gsLst>
              <a:gs pos="15000">
                <a:srgbClr val="FFFFFF">
                  <a:alpha val="0"/>
                </a:srgbClr>
              </a:gs>
              <a:gs pos="100000">
                <a:srgbClr val="FFFFFF"/>
              </a:gs>
            </a:gsLst>
            <a:lin ang="21594000" scaled="0"/>
          </a:gradFill>
          <a:ln w="9525" cap="flat" cmpd="sng" algn="ctr">
            <a:noFill/>
            <a:prstDash val="solid"/>
            <a:miter lim="800000"/>
          </a:ln>
          <a:effectLst/>
        </p:spPr>
        <p:txBody>
          <a:bodyPr rtlCol="0" anchor="ctr">
            <a:noAutofit/>
          </a:bodyPr>
          <a:lstStyle/>
          <a:p>
            <a:pPr lvl="0" algn="ctr">
              <a:buClrTx/>
              <a:buSzTx/>
              <a:buFont typeface="微软雅黑"/>
              <a:defRPr>
                <a:latin typeface="微软雅黑"/>
                <a:ea typeface="微软雅黑"/>
                <a:cs typeface="微软雅黑"/>
              </a:defRPr>
            </a:pPr>
            <a:r>
              <a:rPr lang="en-US" altLang="zh-CN" sz="1400" b="1" kern="0" dirty="0">
                <a:solidFill>
                  <a:srgbClr val="383838"/>
                </a:solidFill>
                <a:latin typeface="微软雅黑"/>
                <a:ea typeface="微软雅黑"/>
                <a:cs typeface="微软雅黑"/>
                <a:sym typeface="微软雅黑"/>
              </a:rPr>
              <a:t>产品力+渠道力+用户运营力</a:t>
            </a:r>
            <a:endParaRPr lang="en-US" altLang="zh-CN" sz="1400" b="1" kern="0" dirty="0">
              <a:solidFill>
                <a:srgbClr val="383838"/>
              </a:solidFill>
              <a:latin typeface="微软雅黑"/>
              <a:ea typeface="微软雅黑"/>
              <a:cs typeface="微软雅黑"/>
              <a:sym typeface="微软雅黑"/>
            </a:endParaRPr>
          </a:p>
        </p:txBody>
      </p:sp>
      <p:grpSp>
        <p:nvGrpSpPr>
          <p:cNvPr id="127" name="组合 126"/>
          <p:cNvGrpSpPr/>
          <p:nvPr/>
        </p:nvGrpSpPr>
        <p:grpSpPr>
          <a:xfrm>
            <a:off x="8714740" y="4316730"/>
            <a:ext cx="1088390" cy="394335"/>
            <a:chOff x="4221" y="6595"/>
            <a:chExt cx="1714" cy="740"/>
          </a:xfrm>
          <a:solidFill>
            <a:srgbClr val="3368FF"/>
          </a:solidFill>
        </p:grpSpPr>
        <p:sp>
          <p:nvSpPr>
            <p:cNvPr id="128" name="圆角矩形 11"/>
            <p:cNvSpPr/>
            <p:nvPr/>
          </p:nvSpPr>
          <p:spPr>
            <a:xfrm>
              <a:off x="4221" y="6595"/>
              <a:ext cx="1359" cy="740"/>
            </a:xfrm>
            <a:prstGeom prst="roundRect">
              <a:avLst>
                <a:gd name="adj" fmla="val 0"/>
              </a:avLst>
            </a:prstGeom>
            <a:grpFill/>
            <a:ln w="9525" cap="flat" cmpd="sng" algn="ctr">
              <a:noFill/>
              <a:prstDash val="solid"/>
              <a:miter lim="800000"/>
            </a:ln>
            <a:effectLst/>
          </p:spPr>
          <p:txBody>
            <a:bodyPr rtlCol="0" anchor="ctr"/>
            <a:lstStyle/>
            <a:p>
              <a:pPr indent="0" algn="l">
                <a:buFont typeface="微软雅黑"/>
                <a:buNone/>
                <a:defRPr>
                  <a:solidFill>
                    <a:srgbClr val="FFFFFF"/>
                  </a:solidFill>
                  <a:latin typeface="微软雅黑"/>
                  <a:ea typeface="微软雅黑"/>
                  <a:cs typeface="微软雅黑"/>
                </a:defRPr>
              </a:pPr>
              <a:endParaRPr lang="zh-CN" altLang="en-US" sz="1100" kern="0" dirty="0">
                <a:solidFill>
                  <a:srgbClr val="FFFFFF"/>
                </a:solidFill>
                <a:latin typeface="微软雅黑"/>
                <a:ea typeface="微软雅黑"/>
                <a:cs typeface="微软雅黑"/>
                <a:sym typeface="微软雅黑"/>
              </a:endParaRPr>
            </a:p>
          </p:txBody>
        </p:sp>
        <p:sp>
          <p:nvSpPr>
            <p:cNvPr id="129" name="椭圆 128"/>
            <p:cNvSpPr/>
            <p:nvPr/>
          </p:nvSpPr>
          <p:spPr>
            <a:xfrm>
              <a:off x="5231" y="6595"/>
              <a:ext cx="705" cy="740"/>
            </a:xfrm>
            <a:prstGeom prst="ellipse">
              <a:avLst/>
            </a:prstGeom>
            <a:grp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109" name="文本框 108"/>
          <p:cNvSpPr txBox="1"/>
          <p:nvPr/>
        </p:nvSpPr>
        <p:spPr>
          <a:xfrm>
            <a:off x="8687435" y="4352925"/>
            <a:ext cx="1088390" cy="306705"/>
          </a:xfrm>
          <a:prstGeom prst="rect">
            <a:avLst/>
          </a:prstGeom>
          <a:noFill/>
        </p:spPr>
        <p:txBody>
          <a:bodyPr wrap="square" rtlCol="0">
            <a:spAutoFit/>
          </a:bodyPr>
          <a:lstStyle/>
          <a:p>
            <a:pPr indent="0" algn="l">
              <a:buFont typeface="微软雅黑"/>
              <a:buNone/>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第</a:t>
            </a:r>
            <a:r>
              <a:rPr lang="en-US" altLang="zh-CN" sz="1400" b="1" dirty="0">
                <a:solidFill>
                  <a:srgbClr val="FFFFFF"/>
                </a:solidFill>
                <a:latin typeface="微软雅黑"/>
                <a:ea typeface="微软雅黑"/>
                <a:cs typeface="微软雅黑"/>
              </a:rPr>
              <a:t>3</a:t>
            </a:r>
            <a:r>
              <a:rPr lang="zh-CN" altLang="en-US" sz="1400" b="1" dirty="0">
                <a:solidFill>
                  <a:srgbClr val="FFFFFF"/>
                </a:solidFill>
                <a:latin typeface="微软雅黑"/>
                <a:ea typeface="微软雅黑"/>
                <a:cs typeface="微软雅黑"/>
              </a:rPr>
              <a:t>级驱动</a:t>
            </a:r>
            <a:endParaRPr lang="zh-CN" altLang="en-US" sz="1400" b="1" dirty="0">
              <a:solidFill>
                <a:srgbClr val="FFFFFF"/>
              </a:solidFill>
              <a:latin typeface="微软雅黑"/>
              <a:ea typeface="微软雅黑"/>
              <a:cs typeface="微软雅黑"/>
            </a:endParaRPr>
          </a:p>
        </p:txBody>
      </p:sp>
      <p:sp>
        <p:nvSpPr>
          <p:cNvPr id="131" name="圆角矩形 11"/>
          <p:cNvSpPr/>
          <p:nvPr/>
        </p:nvSpPr>
        <p:spPr>
          <a:xfrm>
            <a:off x="5351145" y="3180715"/>
            <a:ext cx="2940685" cy="572770"/>
          </a:xfrm>
          <a:prstGeom prst="roundRect">
            <a:avLst>
              <a:gd name="adj" fmla="val 0"/>
            </a:avLst>
          </a:prstGeom>
          <a:gradFill>
            <a:gsLst>
              <a:gs pos="33000">
                <a:srgbClr val="E6E6E6">
                  <a:alpha val="0"/>
                </a:srgbClr>
              </a:gs>
              <a:gs pos="100000">
                <a:srgbClr val="E6E6E6"/>
              </a:gs>
            </a:gsLst>
            <a:lin ang="21594000" scaled="0"/>
          </a:gradFill>
          <a:ln w="9525" cap="flat" cmpd="sng" algn="ctr">
            <a:noFill/>
            <a:prstDash val="solid"/>
            <a:miter lim="800000"/>
          </a:ln>
          <a:effectLst/>
        </p:spPr>
        <p:txBody>
          <a:bodyPr rtlCol="0" anchor="ctr">
            <a:noAutofit/>
          </a:bodyPr>
          <a:lstStyle/>
          <a:p>
            <a:pPr lvl="0" algn="l">
              <a:buClrTx/>
              <a:buSzTx/>
              <a:buFont typeface="微软雅黑"/>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指经销网络覆盖的地域广度和多级渠道分布的深度，以及渠道营销与服务质量</a:t>
            </a:r>
            <a:endParaRPr lang="zh-CN" sz="1100" dirty="0">
              <a:solidFill>
                <a:srgbClr val="383838"/>
              </a:solidFill>
              <a:latin typeface="微软雅黑"/>
              <a:ea typeface="微软雅黑"/>
              <a:cs typeface="微软雅黑"/>
              <a:sym typeface="微软雅黑"/>
            </a:endParaRPr>
          </a:p>
        </p:txBody>
      </p:sp>
      <p:sp>
        <p:nvSpPr>
          <p:cNvPr id="110" name="圆角矩形 11"/>
          <p:cNvSpPr/>
          <p:nvPr/>
        </p:nvSpPr>
        <p:spPr>
          <a:xfrm>
            <a:off x="8749030" y="3179445"/>
            <a:ext cx="2863215" cy="572770"/>
          </a:xfrm>
          <a:prstGeom prst="roundRect">
            <a:avLst>
              <a:gd name="adj" fmla="val 0"/>
            </a:avLst>
          </a:prstGeom>
          <a:gradFill>
            <a:gsLst>
              <a:gs pos="33000">
                <a:srgbClr val="E6E6E6">
                  <a:alpha val="0"/>
                </a:srgbClr>
              </a:gs>
              <a:gs pos="100000">
                <a:srgbClr val="E6E6E6"/>
              </a:gs>
            </a:gsLst>
            <a:lin ang="21594000" scaled="0"/>
          </a:gradFill>
          <a:ln w="9525" cap="flat" cmpd="sng" algn="ctr">
            <a:noFill/>
            <a:prstDash val="solid"/>
            <a:miter lim="800000"/>
          </a:ln>
          <a:effectLst/>
        </p:spPr>
        <p:txBody>
          <a:bodyPr rtlCol="0" anchor="ctr">
            <a:noAutofit/>
          </a:bodyPr>
          <a:lstStyle/>
          <a:p>
            <a:pPr lvl="0" algn="l">
              <a:buClrTx/>
              <a:buSzTx/>
              <a:buFont typeface="微软雅黑"/>
              <a:defRPr>
                <a:latin typeface="微软雅黑"/>
                <a:ea typeface="微软雅黑"/>
                <a:cs typeface="微软雅黑"/>
              </a:defRPr>
            </a:pPr>
            <a:r>
              <a:rPr lang="zh-CN" sz="1100" dirty="0">
                <a:solidFill>
                  <a:srgbClr val="383838"/>
                </a:solidFill>
                <a:latin typeface="微软雅黑"/>
                <a:ea typeface="微软雅黑"/>
                <a:cs typeface="微软雅黑"/>
                <a:sym typeface="微软雅黑"/>
              </a:rPr>
              <a:t>指以用户需求为核心，培养和维系品牌与用户亲密关系的精益化运营能力</a:t>
            </a:r>
            <a:endParaRPr lang="zh-CN" sz="1100" dirty="0">
              <a:solidFill>
                <a:srgbClr val="383838"/>
              </a:solidFill>
              <a:latin typeface="微软雅黑"/>
              <a:ea typeface="微软雅黑"/>
              <a:cs typeface="微软雅黑"/>
              <a:sym typeface="微软雅黑"/>
            </a:endParaRPr>
          </a:p>
        </p:txBody>
      </p:sp>
      <p:grpSp>
        <p:nvGrpSpPr>
          <p:cNvPr id="11" name="组合 10"/>
          <p:cNvGrpSpPr/>
          <p:nvPr/>
        </p:nvGrpSpPr>
        <p:grpSpPr>
          <a:xfrm>
            <a:off x="4671060" y="5012373"/>
            <a:ext cx="679450" cy="575310"/>
            <a:chOff x="7356" y="7804"/>
            <a:chExt cx="1070" cy="906"/>
          </a:xfrm>
        </p:grpSpPr>
        <p:sp>
          <p:nvSpPr>
            <p:cNvPr id="61" name="矩形 60"/>
            <p:cNvSpPr/>
            <p:nvPr/>
          </p:nvSpPr>
          <p:spPr>
            <a:xfrm>
              <a:off x="7700" y="7804"/>
              <a:ext cx="727" cy="907"/>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1" name="菱形 120"/>
            <p:cNvSpPr/>
            <p:nvPr/>
          </p:nvSpPr>
          <p:spPr>
            <a:xfrm rot="5400000">
              <a:off x="7458" y="7783"/>
              <a:ext cx="592" cy="797"/>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sp>
          <p:nvSpPr>
            <p:cNvPr id="2" name="菱形 1"/>
            <p:cNvSpPr/>
            <p:nvPr/>
          </p:nvSpPr>
          <p:spPr>
            <a:xfrm rot="5400000">
              <a:off x="7658" y="7783"/>
              <a:ext cx="592" cy="797"/>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grpSp>
        <p:nvGrpSpPr>
          <p:cNvPr id="12" name="组合 11"/>
          <p:cNvGrpSpPr/>
          <p:nvPr/>
        </p:nvGrpSpPr>
        <p:grpSpPr>
          <a:xfrm>
            <a:off x="7832090" y="5012373"/>
            <a:ext cx="679450" cy="575310"/>
            <a:chOff x="7356" y="7804"/>
            <a:chExt cx="1070" cy="906"/>
          </a:xfrm>
        </p:grpSpPr>
        <p:sp>
          <p:nvSpPr>
            <p:cNvPr id="13" name="矩形 12"/>
            <p:cNvSpPr/>
            <p:nvPr/>
          </p:nvSpPr>
          <p:spPr>
            <a:xfrm>
              <a:off x="7700" y="7804"/>
              <a:ext cx="727" cy="907"/>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4" name="菱形 13"/>
            <p:cNvSpPr/>
            <p:nvPr/>
          </p:nvSpPr>
          <p:spPr>
            <a:xfrm rot="5400000">
              <a:off x="7458" y="7783"/>
              <a:ext cx="592" cy="797"/>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sp>
          <p:nvSpPr>
            <p:cNvPr id="15" name="菱形 14"/>
            <p:cNvSpPr/>
            <p:nvPr/>
          </p:nvSpPr>
          <p:spPr>
            <a:xfrm rot="5400000">
              <a:off x="7658" y="7783"/>
              <a:ext cx="592" cy="797"/>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defTabSz="914400">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endParaRPr>
            </a:p>
          </p:txBody>
        </p:sp>
      </p:gr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9"/>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lang="zh-CN" altLang="en-US" sz="2500">
                <a:solidFill>
                  <a:srgbClr val="383838"/>
                </a:solidFill>
                <a:effectLst/>
                <a:latin typeface="微软雅黑"/>
                <a:ea typeface="微软雅黑"/>
                <a:cs typeface="微软雅黑"/>
              </a:rPr>
              <a:t>业务流程路径设计</a:t>
            </a:r>
            <a:endParaRPr lang="zh-CN" altLang="en-US"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2" name="组合 1"/>
          <p:cNvGrpSpPr/>
          <p:nvPr/>
        </p:nvGrpSpPr>
        <p:grpSpPr>
          <a:xfrm>
            <a:off x="783590" y="1385769"/>
            <a:ext cx="787400" cy="1761926"/>
            <a:chOff x="2334" y="2073"/>
            <a:chExt cx="1240" cy="2146"/>
          </a:xfrm>
        </p:grpSpPr>
        <p:sp>
          <p:nvSpPr>
            <p:cNvPr id="7" name="流程图: 离页连接符 6"/>
            <p:cNvSpPr/>
            <p:nvPr/>
          </p:nvSpPr>
          <p:spPr>
            <a:xfrm>
              <a:off x="2334" y="2089"/>
              <a:ext cx="1230" cy="2130"/>
            </a:xfrm>
            <a:prstGeom prst="flowChartOffpageConnector">
              <a:avLst/>
            </a:prstGeom>
            <a:solidFill>
              <a:srgbClr val="0042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8" name="流程图: 离页连接符 7"/>
            <p:cNvSpPr/>
            <p:nvPr/>
          </p:nvSpPr>
          <p:spPr>
            <a:xfrm>
              <a:off x="2344" y="2073"/>
              <a:ext cx="1230" cy="2050"/>
            </a:xfrm>
            <a:prstGeom prst="flowChartOffpageConnector">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r>
                <a:rPr lang="zh-CN" altLang="en-US" b="1">
                  <a:solidFill>
                    <a:srgbClr val="0042FF"/>
                  </a:solidFill>
                  <a:latin typeface="微软雅黑"/>
                  <a:ea typeface="微软雅黑"/>
                  <a:cs typeface="微软雅黑"/>
                </a:rPr>
                <a:t>产品设计阶段</a:t>
              </a:r>
              <a:endParaRPr lang="zh-CN" altLang="en-US" b="1">
                <a:solidFill>
                  <a:srgbClr val="0042FF"/>
                </a:solidFill>
                <a:latin typeface="微软雅黑"/>
                <a:ea typeface="微软雅黑"/>
                <a:cs typeface="微软雅黑"/>
              </a:endParaRPr>
            </a:p>
          </p:txBody>
        </p:sp>
      </p:grpSp>
      <p:sp>
        <p:nvSpPr>
          <p:cNvPr id="9" name="燕尾形 8"/>
          <p:cNvSpPr/>
          <p:nvPr/>
        </p:nvSpPr>
        <p:spPr>
          <a:xfrm rot="5400000">
            <a:off x="267335" y="3524885"/>
            <a:ext cx="1819910" cy="787400"/>
          </a:xfrm>
          <a:prstGeom prst="chevron">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 name="燕尾形 10"/>
          <p:cNvSpPr/>
          <p:nvPr/>
        </p:nvSpPr>
        <p:spPr>
          <a:xfrm rot="5400000">
            <a:off x="305435" y="3486785"/>
            <a:ext cx="1743710" cy="787400"/>
          </a:xfrm>
          <a:prstGeom prst="chevron">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vert270" rtlCol="0" anchor="ctr" lIns="0" rIns="0" tIns="0" bIns="0"/>
          <a:lstStyle/>
          <a:p>
            <a:pPr algn="ctr">
              <a:defRPr>
                <a:latin typeface="微软雅黑"/>
                <a:ea typeface="微软雅黑"/>
                <a:cs typeface="微软雅黑"/>
              </a:defRPr>
            </a:pPr>
            <a:r>
              <a:rPr lang="zh-CN" altLang="en-US" b="1">
                <a:solidFill>
                  <a:srgbClr val="0042FF"/>
                </a:solidFill>
                <a:latin typeface="微软雅黑"/>
                <a:ea typeface="微软雅黑"/>
                <a:cs typeface="微软雅黑"/>
              </a:rPr>
              <a:t>产品</a:t>
            </a:r>
            <a:endParaRPr lang="zh-CN" altLang="en-US"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b="1">
                <a:solidFill>
                  <a:srgbClr val="0042FF"/>
                </a:solidFill>
                <a:latin typeface="微软雅黑"/>
                <a:ea typeface="微软雅黑"/>
                <a:cs typeface="微软雅黑"/>
              </a:rPr>
              <a:t>开发</a:t>
            </a:r>
            <a:endParaRPr lang="zh-CN" altLang="en-US"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b="1">
                <a:solidFill>
                  <a:srgbClr val="0042FF"/>
                </a:solidFill>
                <a:latin typeface="微软雅黑"/>
                <a:ea typeface="微软雅黑"/>
                <a:cs typeface="微软雅黑"/>
              </a:rPr>
              <a:t>阶段</a:t>
            </a:r>
            <a:endParaRPr lang="zh-CN" altLang="en-US" b="1">
              <a:solidFill>
                <a:srgbClr val="0042FF"/>
              </a:solidFill>
              <a:latin typeface="微软雅黑"/>
              <a:ea typeface="微软雅黑"/>
              <a:cs typeface="微软雅黑"/>
            </a:endParaRPr>
          </a:p>
        </p:txBody>
      </p:sp>
      <p:sp>
        <p:nvSpPr>
          <p:cNvPr id="114" name="燕尾形 113"/>
          <p:cNvSpPr/>
          <p:nvPr/>
        </p:nvSpPr>
        <p:spPr>
          <a:xfrm rot="5400000">
            <a:off x="281940" y="5217795"/>
            <a:ext cx="1819910" cy="787400"/>
          </a:xfrm>
          <a:prstGeom prst="chevron">
            <a:avLst/>
          </a:prstGeom>
          <a:solidFill>
            <a:srgbClr val="3368FF"/>
          </a:solidFill>
          <a:ln>
            <a:solidFill>
              <a:srgbClr val="FF4200"/>
            </a:solid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5" name="燕尾形 114"/>
          <p:cNvSpPr/>
          <p:nvPr/>
        </p:nvSpPr>
        <p:spPr>
          <a:xfrm rot="5400000">
            <a:off x="320040" y="5192395"/>
            <a:ext cx="1743710" cy="787400"/>
          </a:xfrm>
          <a:prstGeom prst="chevron">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vert270" rtlCol="0" anchor="ctr" lIns="0" rIns="0" tIns="0" bIns="0"/>
          <a:lstStyle/>
          <a:p>
            <a:pPr algn="ctr">
              <a:defRPr>
                <a:latin typeface="微软雅黑"/>
                <a:ea typeface="微软雅黑"/>
                <a:cs typeface="微软雅黑"/>
              </a:defRPr>
            </a:pPr>
            <a:r>
              <a:rPr lang="zh-CN" altLang="en-US" b="1">
                <a:solidFill>
                  <a:srgbClr val="0042FF"/>
                </a:solidFill>
                <a:latin typeface="微软雅黑"/>
                <a:ea typeface="微软雅黑"/>
                <a:cs typeface="微软雅黑"/>
              </a:rPr>
              <a:t>产品</a:t>
            </a:r>
            <a:endParaRPr lang="zh-CN" altLang="en-US"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b="1">
                <a:solidFill>
                  <a:srgbClr val="0042FF"/>
                </a:solidFill>
                <a:latin typeface="微软雅黑"/>
                <a:ea typeface="微软雅黑"/>
                <a:cs typeface="微软雅黑"/>
              </a:rPr>
              <a:t>开发</a:t>
            </a:r>
            <a:endParaRPr lang="zh-CN" altLang="en-US"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b="1">
                <a:solidFill>
                  <a:srgbClr val="0042FF"/>
                </a:solidFill>
                <a:latin typeface="微软雅黑"/>
                <a:ea typeface="微软雅黑"/>
                <a:cs typeface="微软雅黑"/>
              </a:rPr>
              <a:t>阶段</a:t>
            </a:r>
            <a:endParaRPr lang="zh-CN" altLang="en-US" b="1">
              <a:solidFill>
                <a:srgbClr val="0042FF"/>
              </a:solidFill>
              <a:latin typeface="微软雅黑"/>
              <a:ea typeface="微软雅黑"/>
              <a:cs typeface="微软雅黑"/>
            </a:endParaRPr>
          </a:p>
        </p:txBody>
      </p:sp>
      <p:sp>
        <p:nvSpPr>
          <p:cNvPr id="137" name="圆角矩形 136"/>
          <p:cNvSpPr/>
          <p:nvPr/>
        </p:nvSpPr>
        <p:spPr>
          <a:xfrm>
            <a:off x="2045970" y="1398905"/>
            <a:ext cx="1644650" cy="438150"/>
          </a:xfrm>
          <a:prstGeom prst="roundRect">
            <a:avLst/>
          </a:prstGeom>
          <a:gradFill>
            <a:gsLst>
              <a:gs pos="0">
                <a:srgbClr val="3368FF"/>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生产管理与物流</a:t>
            </a:r>
            <a:endParaRPr lang="zh-CN" altLang="en-US" sz="1400" b="1">
              <a:solidFill>
                <a:srgbClr val="FFFFFF"/>
              </a:solidFill>
              <a:latin typeface="微软雅黑"/>
              <a:ea typeface="微软雅黑"/>
              <a:cs typeface="微软雅黑"/>
            </a:endParaRPr>
          </a:p>
        </p:txBody>
      </p:sp>
      <p:sp>
        <p:nvSpPr>
          <p:cNvPr id="139" name="圆角矩形 138"/>
          <p:cNvSpPr/>
          <p:nvPr/>
        </p:nvSpPr>
        <p:spPr>
          <a:xfrm>
            <a:off x="2045970" y="3661410"/>
            <a:ext cx="1644650" cy="438150"/>
          </a:xfrm>
          <a:prstGeom prst="round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供应商</a:t>
            </a:r>
            <a:endParaRPr lang="zh-CN" altLang="en-US" sz="1400" b="1">
              <a:solidFill>
                <a:srgbClr val="FFFFFF"/>
              </a:solidFill>
              <a:latin typeface="微软雅黑"/>
              <a:ea typeface="微软雅黑"/>
              <a:cs typeface="微软雅黑"/>
            </a:endParaRPr>
          </a:p>
        </p:txBody>
      </p:sp>
      <p:sp>
        <p:nvSpPr>
          <p:cNvPr id="141" name="圆角矩形 140"/>
          <p:cNvSpPr/>
          <p:nvPr/>
        </p:nvSpPr>
        <p:spPr>
          <a:xfrm>
            <a:off x="6548120" y="1398905"/>
            <a:ext cx="1644650" cy="438150"/>
          </a:xfrm>
          <a:prstGeom prst="roundRect">
            <a:avLst/>
          </a:prstGeom>
          <a:gradFill>
            <a:gsLst>
              <a:gs pos="0">
                <a:srgbClr val="3368FF"/>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生产基地</a:t>
            </a:r>
            <a:endParaRPr lang="zh-CN" altLang="en-US" sz="1400" b="1">
              <a:solidFill>
                <a:srgbClr val="FFFFFF"/>
              </a:solidFill>
              <a:latin typeface="微软雅黑"/>
              <a:ea typeface="微软雅黑"/>
              <a:cs typeface="微软雅黑"/>
            </a:endParaRPr>
          </a:p>
        </p:txBody>
      </p:sp>
      <p:sp>
        <p:nvSpPr>
          <p:cNvPr id="142" name="圆角矩形 141"/>
          <p:cNvSpPr/>
          <p:nvPr/>
        </p:nvSpPr>
        <p:spPr>
          <a:xfrm>
            <a:off x="6548120" y="3661410"/>
            <a:ext cx="1644650" cy="438150"/>
          </a:xfrm>
          <a:prstGeom prst="roundRect">
            <a:avLst/>
          </a:prstGeom>
          <a:gradFill>
            <a:gsLst>
              <a:gs pos="0">
                <a:srgbClr val="3368FF"/>
              </a:gs>
              <a:gs pos="100000">
                <a:srgbClr val="0042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a:lstStyle/>
          <a:p>
            <a:pPr algn="ctr">
              <a:defRPr>
                <a:solidFill>
                  <a:srgbClr val="FFFFFF"/>
                </a:solidFill>
                <a:latin typeface="微软雅黑"/>
                <a:ea typeface="微软雅黑"/>
                <a:cs typeface="微软雅黑"/>
              </a:defRPr>
            </a:pPr>
            <a:r>
              <a:rPr lang="en-US" altLang="zh-CN" sz="1400" b="1">
                <a:solidFill>
                  <a:srgbClr val="FFFFFF"/>
                </a:solidFill>
                <a:latin typeface="微软雅黑"/>
                <a:ea typeface="微软雅黑"/>
                <a:cs typeface="微软雅黑"/>
              </a:rPr>
              <a:t>IT</a:t>
            </a:r>
            <a:r>
              <a:rPr lang="zh-CN" altLang="en-US" sz="1400" b="1">
                <a:solidFill>
                  <a:srgbClr val="FFFFFF"/>
                </a:solidFill>
                <a:latin typeface="微软雅黑"/>
                <a:ea typeface="微软雅黑"/>
                <a:cs typeface="微软雅黑"/>
              </a:rPr>
              <a:t>部门</a:t>
            </a:r>
            <a:endParaRPr lang="zh-CN" altLang="en-US" sz="1400" b="1">
              <a:solidFill>
                <a:srgbClr val="FFFFFF"/>
              </a:solidFill>
              <a:latin typeface="微软雅黑"/>
              <a:ea typeface="微软雅黑"/>
              <a:cs typeface="微软雅黑"/>
            </a:endParaRPr>
          </a:p>
        </p:txBody>
      </p:sp>
      <p:sp>
        <p:nvSpPr>
          <p:cNvPr id="144" name="矩形 143"/>
          <p:cNvSpPr/>
          <p:nvPr/>
        </p:nvSpPr>
        <p:spPr>
          <a:xfrm>
            <a:off x="8642350" y="1301115"/>
            <a:ext cx="2697480" cy="1758950"/>
          </a:xfrm>
          <a:prstGeom prst="rect">
            <a:avLst/>
          </a:prstGeom>
          <a:gradFill>
            <a:gsLst>
              <a:gs pos="0">
                <a:srgbClr val="FFFFFF">
                  <a:alpha val="0"/>
                </a:srgbClr>
              </a:gs>
              <a:gs pos="100000">
                <a:srgbClr val="FFFFFF"/>
              </a:gs>
            </a:gsLst>
            <a:lin ang="21594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2" name="文本框 11"/>
          <p:cNvSpPr txBox="1"/>
          <p:nvPr/>
        </p:nvSpPr>
        <p:spPr>
          <a:xfrm>
            <a:off x="8980170" y="1497965"/>
            <a:ext cx="2307590" cy="1383665"/>
          </a:xfrm>
          <a:prstGeom prst="rect">
            <a:avLst/>
          </a:prstGeom>
          <a:noFill/>
        </p:spPr>
        <p:txBody>
          <a:bodyPr wrap="square" rtlCol="0">
            <a:spAutoFit/>
          </a:bodyPr>
          <a:lstStyle/>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rPr>
              <a:t>生产管理与物流中心仅提出产品的输入与输出诉求；</a:t>
            </a:r>
            <a:endParaRPr lang="zh-CN" altLang="en-US" sz="1400">
              <a:solidFill>
                <a:srgbClr val="383838"/>
              </a:solidFill>
              <a:latin typeface="微软雅黑"/>
              <a:ea typeface="微软雅黑"/>
              <a:cs typeface="微软雅黑"/>
            </a:endParaRPr>
          </a:p>
          <a:p>
            <a:pPr marL="285750" indent="-285750">
              <a:buFont typeface="微软雅黑"/>
              <a:buChar char="●"/>
              <a:defRPr>
                <a:latin typeface="微软雅黑"/>
                <a:ea typeface="微软雅黑"/>
                <a:cs typeface="微软雅黑"/>
              </a:defRPr>
            </a:pPr>
            <a:r>
              <a:rPr lang="zh-CN" altLang="en-US" sz="1400">
                <a:solidFill>
                  <a:srgbClr val="383838"/>
                </a:solidFill>
                <a:latin typeface="微软雅黑"/>
                <a:ea typeface="微软雅黑"/>
                <a:cs typeface="微软雅黑"/>
              </a:rPr>
              <a:t>业务部门未充分整理需求并清晰反馈给</a:t>
            </a:r>
            <a:r>
              <a:rPr lang="en-US" altLang="zh-CN" sz="1400">
                <a:solidFill>
                  <a:srgbClr val="383838"/>
                </a:solidFill>
                <a:latin typeface="微软雅黑"/>
                <a:ea typeface="微软雅黑"/>
                <a:cs typeface="微软雅黑"/>
              </a:rPr>
              <a:t>IT</a:t>
            </a:r>
            <a:r>
              <a:rPr lang="zh-CN" altLang="en-US" sz="1400">
                <a:solidFill>
                  <a:srgbClr val="383838"/>
                </a:solidFill>
                <a:latin typeface="微软雅黑"/>
                <a:ea typeface="微软雅黑"/>
                <a:cs typeface="微软雅黑"/>
              </a:rPr>
              <a:t>部门和供应商</a:t>
            </a:r>
            <a:endParaRPr lang="zh-CN" altLang="en-US" sz="1400">
              <a:solidFill>
                <a:srgbClr val="383838"/>
              </a:solidFill>
              <a:latin typeface="微软雅黑"/>
              <a:ea typeface="微软雅黑"/>
              <a:cs typeface="微软雅黑"/>
            </a:endParaRPr>
          </a:p>
        </p:txBody>
      </p:sp>
      <p:sp>
        <p:nvSpPr>
          <p:cNvPr id="146" name="矩形 145"/>
          <p:cNvSpPr/>
          <p:nvPr/>
        </p:nvSpPr>
        <p:spPr>
          <a:xfrm>
            <a:off x="8642350" y="3436620"/>
            <a:ext cx="2697480" cy="1616710"/>
          </a:xfrm>
          <a:prstGeom prst="rect">
            <a:avLst/>
          </a:prstGeom>
          <a:gradFill>
            <a:gsLst>
              <a:gs pos="0">
                <a:srgbClr val="FFFFFF">
                  <a:alpha val="0"/>
                </a:srgbClr>
              </a:gs>
              <a:gs pos="100000">
                <a:srgbClr val="FFFFFF"/>
              </a:gs>
            </a:gsLst>
            <a:lin ang="21594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47" name="文本框 146"/>
          <p:cNvSpPr txBox="1"/>
          <p:nvPr/>
        </p:nvSpPr>
        <p:spPr>
          <a:xfrm>
            <a:off x="8980170" y="3633470"/>
            <a:ext cx="2307590" cy="1168400"/>
          </a:xfrm>
          <a:prstGeom prst="rect">
            <a:avLst/>
          </a:prstGeom>
          <a:noFill/>
        </p:spPr>
        <p:txBody>
          <a:bodyPr wrap="square" rtlCol="0">
            <a:spAutoFit/>
          </a:bodyPr>
          <a:lstStyle/>
          <a:p>
            <a:pPr marL="285750" indent="-285750">
              <a:buFont typeface="微软雅黑"/>
              <a:buChar char="●"/>
              <a:defRPr>
                <a:latin typeface="微软雅黑"/>
                <a:ea typeface="微软雅黑"/>
                <a:cs typeface="微软雅黑"/>
              </a:defRPr>
            </a:pPr>
            <a:r>
              <a:rPr lang="en-US" sz="1400">
                <a:solidFill>
                  <a:srgbClr val="383838"/>
                </a:solidFill>
                <a:latin typeface="微软雅黑"/>
                <a:ea typeface="微软雅黑"/>
                <a:cs typeface="微软雅黑"/>
              </a:rPr>
              <a:t>IT</a:t>
            </a:r>
            <a:r>
              <a:rPr lang="zh-CN" altLang="en-US" sz="1400">
                <a:solidFill>
                  <a:srgbClr val="383838"/>
                </a:solidFill>
                <a:latin typeface="微软雅黑"/>
                <a:ea typeface="微软雅黑"/>
                <a:cs typeface="微软雅黑"/>
              </a:rPr>
              <a:t>部门未与业务部门充分沟通业务诉求，盲目</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大干快上</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，企图借用供应商能力通过产品的牵引</a:t>
            </a:r>
            <a:endParaRPr lang="zh-CN" altLang="en-US" sz="1400">
              <a:solidFill>
                <a:srgbClr val="383838"/>
              </a:solidFill>
              <a:latin typeface="微软雅黑"/>
              <a:ea typeface="微软雅黑"/>
              <a:cs typeface="微软雅黑"/>
            </a:endParaRPr>
          </a:p>
        </p:txBody>
      </p:sp>
      <p:sp>
        <p:nvSpPr>
          <p:cNvPr id="149" name="任意形状 248"/>
          <p:cNvSpPr/>
          <p:nvPr/>
        </p:nvSpPr>
        <p:spPr>
          <a:xfrm rot="19370445">
            <a:off x="8499475" y="3361690"/>
            <a:ext cx="419735" cy="344170"/>
          </a:xfrm>
          <a:custGeom>
            <a:avLst/>
            <a:gdLst>
              <a:gd name="connsiteX0" fmla="*/ 408131 w 721818"/>
              <a:gd name="connsiteY0" fmla="*/ 97738 h 601674"/>
              <a:gd name="connsiteX1" fmla="*/ 615162 w 721818"/>
              <a:gd name="connsiteY1" fmla="*/ 355594 h 601674"/>
              <a:gd name="connsiteX2" fmla="*/ 646609 w 721818"/>
              <a:gd name="connsiteY2" fmla="*/ 451255 h 601674"/>
              <a:gd name="connsiteX3" fmla="*/ 721818 w 721818"/>
              <a:gd name="connsiteY3" fmla="*/ 451256 h 601674"/>
              <a:gd name="connsiteX4" fmla="*/ 589350 w 721818"/>
              <a:gd name="connsiteY4" fmla="*/ 601674 h 601674"/>
              <a:gd name="connsiteX5" fmla="*/ 420981 w 721818"/>
              <a:gd name="connsiteY5" fmla="*/ 451256 h 601674"/>
              <a:gd name="connsiteX6" fmla="*/ 496190 w 721818"/>
              <a:gd name="connsiteY6" fmla="*/ 451256 h 601674"/>
              <a:gd name="connsiteX7" fmla="*/ 437521 w 721818"/>
              <a:gd name="connsiteY7" fmla="*/ 303030 h 601674"/>
              <a:gd name="connsiteX8" fmla="*/ 424792 w 721818"/>
              <a:gd name="connsiteY8" fmla="*/ 278449 h 601674"/>
              <a:gd name="connsiteX9" fmla="*/ 405333 w 721818"/>
              <a:gd name="connsiteY9" fmla="*/ 249265 h 601674"/>
              <a:gd name="connsiteX10" fmla="*/ 372120 w 721818"/>
              <a:gd name="connsiteY10" fmla="*/ 204491 h 601674"/>
              <a:gd name="connsiteX11" fmla="*/ 348091 w 721818"/>
              <a:gd name="connsiteY11" fmla="*/ 177580 h 601674"/>
              <a:gd name="connsiteX12" fmla="*/ 309511 w 721818"/>
              <a:gd name="connsiteY12" fmla="*/ 140089 h 601674"/>
              <a:gd name="connsiteX13" fmla="*/ 282234 w 721818"/>
              <a:gd name="connsiteY13" fmla="*/ 117128 h 601674"/>
              <a:gd name="connsiteX14" fmla="*/ 237579 w 721818"/>
              <a:gd name="connsiteY14" fmla="*/ 86111 h 601674"/>
              <a:gd name="connsiteX15" fmla="*/ 208796 w 721818"/>
              <a:gd name="connsiteY15" fmla="*/ 68260 h 601674"/>
              <a:gd name="connsiteX16" fmla="*/ 155309 w 721818"/>
              <a:gd name="connsiteY16" fmla="*/ 43133 h 601674"/>
              <a:gd name="connsiteX17" fmla="*/ 128908 w 721818"/>
              <a:gd name="connsiteY17" fmla="*/ 31745 h 601674"/>
              <a:gd name="connsiteX18" fmla="*/ 43743 w 721818"/>
              <a:gd name="connsiteY18" fmla="*/ 8495 h 601674"/>
              <a:gd name="connsiteX19" fmla="*/ 43743 w 721818"/>
              <a:gd name="connsiteY19" fmla="*/ 8495 h 601674"/>
              <a:gd name="connsiteX20" fmla="*/ 19916 w 721818"/>
              <a:gd name="connsiteY20" fmla="*/ 6362 h 601674"/>
              <a:gd name="connsiteX21" fmla="*/ 4078 w 721818"/>
              <a:gd name="connsiteY21" fmla="*/ 10223 h 601674"/>
              <a:gd name="connsiteX22" fmla="*/ 0 w 721818"/>
              <a:gd name="connsiteY22" fmla="*/ 0 h 601674"/>
              <a:gd name="connsiteX23" fmla="*/ 99280 w 721818"/>
              <a:gd name="connsiteY23" fmla="*/ 0 h 601674"/>
              <a:gd name="connsiteX24" fmla="*/ 408131 w 721818"/>
              <a:gd name="connsiteY24" fmla="*/ 97738 h 60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818" h="601674">
                <a:moveTo>
                  <a:pt x="408131" y="97738"/>
                </a:moveTo>
                <a:cubicBezTo>
                  <a:pt x="497685" y="159951"/>
                  <a:pt x="570269" y="248849"/>
                  <a:pt x="615162" y="355594"/>
                </a:cubicBezTo>
                <a:cubicBezTo>
                  <a:pt x="627988" y="386093"/>
                  <a:pt x="638554" y="418049"/>
                  <a:pt x="646609" y="451255"/>
                </a:cubicBezTo>
                <a:lnTo>
                  <a:pt x="721818" y="451256"/>
                </a:lnTo>
                <a:lnTo>
                  <a:pt x="589350" y="601674"/>
                </a:lnTo>
                <a:lnTo>
                  <a:pt x="420981" y="451256"/>
                </a:lnTo>
                <a:lnTo>
                  <a:pt x="496190" y="451256"/>
                </a:lnTo>
                <a:lnTo>
                  <a:pt x="437521" y="303030"/>
                </a:lnTo>
                <a:lnTo>
                  <a:pt x="424792" y="278449"/>
                </a:lnTo>
                <a:lnTo>
                  <a:pt x="405333" y="249265"/>
                </a:lnTo>
                <a:lnTo>
                  <a:pt x="372120" y="204491"/>
                </a:lnTo>
                <a:lnTo>
                  <a:pt x="348091" y="177580"/>
                </a:lnTo>
                <a:lnTo>
                  <a:pt x="309511" y="140089"/>
                </a:lnTo>
                <a:lnTo>
                  <a:pt x="282234" y="117128"/>
                </a:lnTo>
                <a:lnTo>
                  <a:pt x="237579" y="86111"/>
                </a:lnTo>
                <a:lnTo>
                  <a:pt x="208796" y="68260"/>
                </a:lnTo>
                <a:lnTo>
                  <a:pt x="155309" y="43133"/>
                </a:lnTo>
                <a:lnTo>
                  <a:pt x="128908" y="31745"/>
                </a:lnTo>
                <a:lnTo>
                  <a:pt x="43743" y="8495"/>
                </a:lnTo>
                <a:lnTo>
                  <a:pt x="43743" y="8495"/>
                </a:lnTo>
                <a:lnTo>
                  <a:pt x="19916" y="6362"/>
                </a:lnTo>
                <a:lnTo>
                  <a:pt x="4078" y="10223"/>
                </a:lnTo>
                <a:lnTo>
                  <a:pt x="0" y="0"/>
                </a:lnTo>
                <a:lnTo>
                  <a:pt x="99280" y="0"/>
                </a:lnTo>
                <a:cubicBezTo>
                  <a:pt x="212053" y="0"/>
                  <a:pt x="318577" y="35526"/>
                  <a:pt x="408131" y="97738"/>
                </a:cubicBezTo>
                <a:close/>
              </a:path>
            </a:pathLst>
          </a:custGeom>
          <a:gradFill>
            <a:gsLst>
              <a:gs pos="0">
                <a:srgbClr val="3368FF">
                  <a:alpha val="0"/>
                </a:srgbClr>
              </a:gs>
              <a:gs pos="100000">
                <a:srgbClr val="3368FF"/>
              </a:gs>
            </a:gsLst>
            <a:lin ang="21594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cxnSp>
        <p:nvCxnSpPr>
          <p:cNvPr id="151" name="直接连接符 150"/>
          <p:cNvCxnSpPr/>
          <p:nvPr/>
        </p:nvCxnSpPr>
        <p:spPr>
          <a:xfrm>
            <a:off x="1809750" y="5163185"/>
            <a:ext cx="9530080" cy="0"/>
          </a:xfrm>
          <a:prstGeom prst="line">
            <a:avLst/>
          </a:prstGeom>
          <a:ln>
            <a:solidFill>
              <a:srgbClr val="3368FF"/>
            </a:solidFill>
            <a:prstDash val="dash"/>
          </a:ln>
        </p:spPr>
        <p:style>
          <a:lnRef idx="2">
            <a:srgbClr val="0042FF"/>
          </a:lnRef>
          <a:fillRef idx="0">
            <a:srgbClr val="FFFFFF"/>
          </a:fillRef>
          <a:effectRef idx="0">
            <a:srgbClr val="FFFFFF"/>
          </a:effectRef>
          <a:fontRef idx="minor">
            <a:srgbClr val="383838"/>
          </a:fontRef>
        </p:style>
      </p:cxnSp>
      <p:sp>
        <p:nvSpPr>
          <p:cNvPr id="13" name="AutoShape 6"/>
          <p:cNvSpPr>
            <a:spLocks noChangeArrowheads="1"/>
          </p:cNvSpPr>
          <p:nvPr/>
        </p:nvSpPr>
        <p:spPr bwMode="auto">
          <a:xfrm>
            <a:off x="2153920" y="5358130"/>
            <a:ext cx="1343025" cy="1129030"/>
          </a:xfrm>
          <a:prstGeom prst="rect">
            <a:avLst/>
          </a:prstGeom>
          <a:solidFill>
            <a:srgbClr val="FFFFFF"/>
          </a:solidFill>
          <a:ln w="19050">
            <a:solidFill>
              <a:srgbClr val="3368FF"/>
            </a:solidFill>
            <a:miter lim="800000"/>
          </a:ln>
          <a:effectLst/>
        </p:spPr>
        <p:txBody>
          <a:bodyPr lIns="46791" tIns="46791" rIns="46791" bIns="46791" anchor="ctr"/>
          <a:lstStyle/>
          <a:p>
            <a:pPr algn="ctr" eaLnBrk="0" hangingPunct="0">
              <a:defRPr>
                <a:latin typeface="微软雅黑"/>
                <a:ea typeface="微软雅黑"/>
                <a:cs typeface="微软雅黑"/>
              </a:defRPr>
            </a:pPr>
            <a:r>
              <a:rPr lang="zh-CN" altLang="en-US" sz="2000" b="1" dirty="0">
                <a:solidFill>
                  <a:srgbClr val="0042FF"/>
                </a:solidFill>
                <a:latin typeface="微软雅黑"/>
                <a:ea typeface="微软雅黑"/>
                <a:cs typeface="微软雅黑"/>
              </a:rPr>
              <a:t>项目延期</a:t>
            </a:r>
            <a:endParaRPr lang="zh-CN" altLang="en-US" sz="2000" b="1" dirty="0">
              <a:solidFill>
                <a:srgbClr val="0042FF"/>
              </a:solidFill>
              <a:latin typeface="微软雅黑"/>
              <a:ea typeface="微软雅黑"/>
              <a:cs typeface="微软雅黑"/>
            </a:endParaRPr>
          </a:p>
        </p:txBody>
      </p:sp>
      <p:sp>
        <p:nvSpPr>
          <p:cNvPr id="14" name="KMA6C131B"/>
          <p:cNvSpPr>
            <a:spLocks noChangeArrowheads="1"/>
          </p:cNvSpPr>
          <p:nvPr>
            <p:custDataLst>
              <p:tags r:id="rId3"/>
            </p:custDataLst>
          </p:nvPr>
        </p:nvSpPr>
        <p:spPr bwMode="auto">
          <a:xfrm>
            <a:off x="3654425" y="5409565"/>
            <a:ext cx="2679065" cy="11690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marL="285750" indent="-285750">
              <a:buFont typeface="微软雅黑"/>
              <a:buChar char="●"/>
              <a:defRPr>
                <a:latin typeface="微软雅黑"/>
                <a:ea typeface="微软雅黑"/>
                <a:cs typeface="微软雅黑"/>
              </a:defRPr>
            </a:pPr>
            <a:r>
              <a:rPr lang="zh-CN" sz="1400">
                <a:solidFill>
                  <a:srgbClr val="383838"/>
                </a:solidFill>
                <a:latin typeface="微软雅黑"/>
                <a:ea typeface="微软雅黑"/>
                <a:cs typeface="微软雅黑"/>
                <a:sym typeface="微软雅黑"/>
              </a:rPr>
              <a:t>预期希望实现的项目目标未达成，各基地仍然各自为战，各自进行按月的排产。</a:t>
            </a:r>
            <a:endParaRPr lang="zh-CN" sz="1400">
              <a:solidFill>
                <a:srgbClr val="383838"/>
              </a:solidFill>
              <a:latin typeface="微软雅黑"/>
              <a:ea typeface="微软雅黑"/>
              <a:cs typeface="微软雅黑"/>
              <a:sym typeface="微软雅黑"/>
            </a:endParaRPr>
          </a:p>
          <a:p>
            <a:pPr marL="285750" indent="-285750">
              <a:buFont typeface="微软雅黑"/>
              <a:buChar char="●"/>
              <a:defRPr>
                <a:latin typeface="微软雅黑"/>
                <a:ea typeface="微软雅黑"/>
                <a:cs typeface="微软雅黑"/>
              </a:defRPr>
            </a:pPr>
            <a:r>
              <a:rPr lang="en-US" sz="1400" dirty="0">
                <a:solidFill>
                  <a:srgbClr val="383838"/>
                </a:solidFill>
                <a:latin typeface="微软雅黑"/>
                <a:ea typeface="微软雅黑"/>
                <a:cs typeface="微软雅黑"/>
              </a:rPr>
              <a:t>……</a:t>
            </a:r>
            <a:endParaRPr lang="en-US" sz="1400" dirty="0">
              <a:solidFill>
                <a:srgbClr val="383838"/>
              </a:solidFill>
              <a:latin typeface="微软雅黑"/>
              <a:ea typeface="微软雅黑"/>
              <a:cs typeface="微软雅黑"/>
            </a:endParaRPr>
          </a:p>
        </p:txBody>
      </p:sp>
      <p:sp>
        <p:nvSpPr>
          <p:cNvPr id="159" name="KMA6C131B"/>
          <p:cNvSpPr>
            <a:spLocks noChangeArrowheads="1"/>
          </p:cNvSpPr>
          <p:nvPr>
            <p:custDataLst>
              <p:tags r:id="rId4"/>
            </p:custDataLst>
          </p:nvPr>
        </p:nvSpPr>
        <p:spPr bwMode="auto">
          <a:xfrm>
            <a:off x="2415540" y="4290060"/>
            <a:ext cx="1250950" cy="87757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noAutofit/>
          </a:bodyPr>
          <a:lstStyle/>
          <a:p>
            <a:pPr indent="0">
              <a:buFont typeface="微软雅黑"/>
              <a:buNone/>
              <a:defRPr>
                <a:latin typeface="微软雅黑"/>
                <a:ea typeface="微软雅黑"/>
                <a:cs typeface="微软雅黑"/>
              </a:defRPr>
            </a:pPr>
            <a:r>
              <a:rPr lang="zh-CN" sz="1000">
                <a:solidFill>
                  <a:srgbClr val="383838"/>
                </a:solidFill>
                <a:latin typeface="微软雅黑"/>
                <a:ea typeface="微软雅黑"/>
                <a:cs typeface="微软雅黑"/>
                <a:sym typeface="微软雅黑"/>
              </a:rPr>
              <a:t>产品定义和开发高度依赖供应商</a:t>
            </a:r>
            <a:endParaRPr lang="zh-CN" sz="1000" dirty="0">
              <a:solidFill>
                <a:srgbClr val="383838"/>
              </a:solidFill>
              <a:latin typeface="微软雅黑"/>
              <a:ea typeface="微软雅黑"/>
              <a:cs typeface="微软雅黑"/>
              <a:sym typeface="微软雅黑"/>
            </a:endParaRPr>
          </a:p>
        </p:txBody>
      </p:sp>
      <p:sp>
        <p:nvSpPr>
          <p:cNvPr id="15" name="KMA6C131B"/>
          <p:cNvSpPr>
            <a:spLocks noChangeArrowheads="1"/>
          </p:cNvSpPr>
          <p:nvPr>
            <p:custDataLst>
              <p:tags r:id="rId5"/>
            </p:custDataLst>
          </p:nvPr>
        </p:nvSpPr>
        <p:spPr bwMode="auto">
          <a:xfrm>
            <a:off x="3905250" y="4279900"/>
            <a:ext cx="2674620" cy="87757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未与生产管理与物流中心沟通业务诉求并形成便于供应商理解的产品语言</a:t>
            </a:r>
            <a:endParaRPr lang="zh-CN" altLang="en-US" sz="1200" dirty="0">
              <a:solidFill>
                <a:srgbClr val="383838"/>
              </a:solidFill>
              <a:latin typeface="微软雅黑"/>
              <a:ea typeface="微软雅黑"/>
              <a:cs typeface="微软雅黑"/>
              <a:sym typeface="微软雅黑"/>
            </a:endParaRPr>
          </a:p>
        </p:txBody>
      </p:sp>
      <p:cxnSp>
        <p:nvCxnSpPr>
          <p:cNvPr id="162" name="直接箭头连接符 161"/>
          <p:cNvCxnSpPr/>
          <p:nvPr/>
        </p:nvCxnSpPr>
        <p:spPr>
          <a:xfrm>
            <a:off x="3350895" y="1882140"/>
            <a:ext cx="0" cy="1638935"/>
          </a:xfrm>
          <a:prstGeom prst="straightConnector1">
            <a:avLst/>
          </a:prstGeom>
          <a:ln w="19050">
            <a:solidFill>
              <a:srgbClr val="DCDCDC"/>
            </a:solidFill>
            <a:tailEnd type="triangle" w="lg" len="lg"/>
          </a:ln>
        </p:spPr>
        <p:style>
          <a:lnRef idx="2">
            <a:srgbClr val="0042FF"/>
          </a:lnRef>
          <a:fillRef idx="0">
            <a:srgbClr val="FFFFFF"/>
          </a:fillRef>
          <a:effectRef idx="0">
            <a:srgbClr val="FFFFFF"/>
          </a:effectRef>
          <a:fontRef idx="minor">
            <a:srgbClr val="383838"/>
          </a:fontRef>
        </p:style>
      </p:cxnSp>
      <p:cxnSp>
        <p:nvCxnSpPr>
          <p:cNvPr id="16" name="直接箭头连接符 15"/>
          <p:cNvCxnSpPr>
            <a:stCxn id="142" idx="1"/>
            <a:endCxn id="139" idx="3"/>
          </p:cNvCxnSpPr>
          <p:nvPr/>
        </p:nvCxnSpPr>
        <p:spPr>
          <a:xfrm flipH="1">
            <a:off x="3690620" y="3880485"/>
            <a:ext cx="2857500" cy="0"/>
          </a:xfrm>
          <a:prstGeom prst="straightConnector1">
            <a:avLst/>
          </a:prstGeom>
          <a:ln w="19050">
            <a:solidFill>
              <a:srgbClr val="DCDCDC"/>
            </a:solidFill>
            <a:tailEnd type="triangle" w="lg" len="lg"/>
          </a:ln>
        </p:spPr>
        <p:style>
          <a:lnRef idx="2">
            <a:srgbClr val="0042FF"/>
          </a:lnRef>
          <a:fillRef idx="0">
            <a:srgbClr val="FFFFFF"/>
          </a:fillRef>
          <a:effectRef idx="0">
            <a:srgbClr val="FFFFFF"/>
          </a:effectRef>
          <a:fontRef idx="minor">
            <a:srgbClr val="383838"/>
          </a:fontRef>
        </p:style>
      </p:cxnSp>
      <p:cxnSp>
        <p:nvCxnSpPr>
          <p:cNvPr id="17" name="直接箭头连接符 16"/>
          <p:cNvCxnSpPr/>
          <p:nvPr/>
        </p:nvCxnSpPr>
        <p:spPr>
          <a:xfrm flipH="1">
            <a:off x="3666490" y="1831340"/>
            <a:ext cx="2893695" cy="1842135"/>
          </a:xfrm>
          <a:prstGeom prst="straightConnector1">
            <a:avLst/>
          </a:prstGeom>
          <a:ln w="19050">
            <a:solidFill>
              <a:srgbClr val="DCDCDC"/>
            </a:solidFill>
            <a:prstDash val="dash"/>
            <a:tailEnd type="triangle" w="lg" len="lg"/>
          </a:ln>
        </p:spPr>
        <p:style>
          <a:lnRef idx="2">
            <a:srgbClr val="0042FF"/>
          </a:lnRef>
          <a:fillRef idx="0">
            <a:srgbClr val="FFFFFF"/>
          </a:fillRef>
          <a:effectRef idx="0">
            <a:srgbClr val="FFFFFF"/>
          </a:effectRef>
          <a:fontRef idx="minor">
            <a:srgbClr val="383838"/>
          </a:fontRef>
        </p:style>
      </p:cxnSp>
      <p:cxnSp>
        <p:nvCxnSpPr>
          <p:cNvPr id="166" name="直接箭头连接符 165"/>
          <p:cNvCxnSpPr>
            <a:stCxn id="137" idx="3"/>
            <a:endCxn id="141" idx="1"/>
          </p:cNvCxnSpPr>
          <p:nvPr/>
        </p:nvCxnSpPr>
        <p:spPr>
          <a:xfrm>
            <a:off x="3690620" y="1617980"/>
            <a:ext cx="2857500" cy="0"/>
          </a:xfrm>
          <a:prstGeom prst="straightConnector1">
            <a:avLst/>
          </a:prstGeom>
          <a:ln w="19050">
            <a:solidFill>
              <a:srgbClr val="DCDCDC"/>
            </a:solidFill>
            <a:prstDash val="dash"/>
            <a:tailEnd type="triangle" w="lg" len="lg"/>
          </a:ln>
        </p:spPr>
        <p:style>
          <a:lnRef idx="2">
            <a:srgbClr val="0042FF"/>
          </a:lnRef>
          <a:fillRef idx="0">
            <a:srgbClr val="FFFFFF"/>
          </a:fillRef>
          <a:effectRef idx="0">
            <a:srgbClr val="FFFFFF"/>
          </a:effectRef>
          <a:fontRef idx="minor">
            <a:srgbClr val="383838"/>
          </a:fontRef>
        </p:style>
      </p:cxnSp>
      <p:sp>
        <p:nvSpPr>
          <p:cNvPr id="18" name="KMA6C131B"/>
          <p:cNvSpPr>
            <a:spLocks noChangeArrowheads="1"/>
          </p:cNvSpPr>
          <p:nvPr>
            <p:custDataLst>
              <p:tags r:id="rId6"/>
            </p:custDataLst>
          </p:nvPr>
        </p:nvSpPr>
        <p:spPr bwMode="auto">
          <a:xfrm>
            <a:off x="2245995" y="2303145"/>
            <a:ext cx="1250950" cy="29464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buFont typeface="微软雅黑"/>
              <a:buNone/>
              <a:defRPr>
                <a:latin typeface="微软雅黑"/>
                <a:ea typeface="微软雅黑"/>
                <a:cs typeface="微软雅黑"/>
              </a:defRPr>
            </a:pPr>
            <a:r>
              <a:rPr lang="zh-CN" altLang="en-US" sz="1200" dirty="0">
                <a:latin typeface="微软雅黑"/>
                <a:ea typeface="微软雅黑"/>
                <a:cs typeface="微软雅黑"/>
                <a:sym typeface="微软雅黑"/>
              </a:rPr>
              <a:t>业务诉求提出</a:t>
            </a:r>
            <a:endParaRPr lang="zh-CN" altLang="en-US" sz="1200" dirty="0">
              <a:latin typeface="微软雅黑"/>
              <a:ea typeface="微软雅黑"/>
              <a:cs typeface="微软雅黑"/>
              <a:sym typeface="微软雅黑"/>
            </a:endParaRPr>
          </a:p>
        </p:txBody>
      </p:sp>
      <p:sp>
        <p:nvSpPr>
          <p:cNvPr id="169" name="KMA6C131B"/>
          <p:cNvSpPr>
            <a:spLocks noChangeArrowheads="1"/>
          </p:cNvSpPr>
          <p:nvPr>
            <p:custDataLst>
              <p:tags r:id="rId7"/>
            </p:custDataLst>
          </p:nvPr>
        </p:nvSpPr>
        <p:spPr bwMode="auto">
          <a:xfrm>
            <a:off x="2459355" y="2776220"/>
            <a:ext cx="891540" cy="29464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0" tIns="0" rIns="0" bIns="0">
            <a:noAutofit/>
          </a:bodyPr>
          <a:lstStyle/>
          <a:p>
            <a:pPr indent="0">
              <a:buFont typeface="微软雅黑"/>
              <a:buNone/>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未对产品构建提供足够</a:t>
            </a:r>
            <a:endParaRPr lang="zh-CN" altLang="en-US" sz="1000" dirty="0">
              <a:solidFill>
                <a:srgbClr val="383838"/>
              </a:solidFill>
              <a:latin typeface="微软雅黑"/>
              <a:ea typeface="微软雅黑"/>
              <a:cs typeface="微软雅黑"/>
              <a:sym typeface="微软雅黑"/>
            </a:endParaRPr>
          </a:p>
        </p:txBody>
      </p:sp>
      <p:sp>
        <p:nvSpPr>
          <p:cNvPr id="170" name="AutoShape 6"/>
          <p:cNvSpPr>
            <a:spLocks noChangeArrowheads="1"/>
          </p:cNvSpPr>
          <p:nvPr/>
        </p:nvSpPr>
        <p:spPr bwMode="auto">
          <a:xfrm>
            <a:off x="6775450" y="5358130"/>
            <a:ext cx="1343025" cy="1129030"/>
          </a:xfrm>
          <a:prstGeom prst="rect">
            <a:avLst/>
          </a:prstGeom>
          <a:solidFill>
            <a:srgbClr val="FFFFFF"/>
          </a:solidFill>
          <a:ln w="19050">
            <a:solidFill>
              <a:srgbClr val="3368FF"/>
            </a:solidFill>
            <a:miter lim="800000"/>
          </a:ln>
          <a:effectLst/>
        </p:spPr>
        <p:txBody>
          <a:bodyPr lIns="46791" tIns="46791" rIns="46791" bIns="46791" anchor="ctr">
            <a:noAutofit/>
          </a:bodyPr>
          <a:lstStyle/>
          <a:p>
            <a:pPr lvl="0" algn="ctr" eaLnBrk="0" hangingPunct="0">
              <a:buClrTx/>
              <a:buSzTx/>
              <a:buFontTx/>
              <a:defRPr>
                <a:latin typeface="微软雅黑"/>
                <a:ea typeface="微软雅黑"/>
                <a:cs typeface="微软雅黑"/>
              </a:defRPr>
            </a:pPr>
            <a:r>
              <a:rPr lang="zh-CN" altLang="en-US" sz="2000" b="1" dirty="0">
                <a:solidFill>
                  <a:srgbClr val="0042FF"/>
                </a:solidFill>
                <a:latin typeface="微软雅黑"/>
                <a:ea typeface="微软雅黑"/>
                <a:cs typeface="微软雅黑"/>
                <a:sym typeface="微软雅黑"/>
              </a:rPr>
              <a:t>资源浪费</a:t>
            </a:r>
            <a:endParaRPr lang="zh-CN" altLang="en-US" sz="2000" b="1" dirty="0">
              <a:solidFill>
                <a:srgbClr val="0042FF"/>
              </a:solidFill>
              <a:latin typeface="微软雅黑"/>
              <a:ea typeface="微软雅黑"/>
              <a:cs typeface="微软雅黑"/>
              <a:sym typeface="微软雅黑"/>
            </a:endParaRPr>
          </a:p>
        </p:txBody>
      </p:sp>
      <p:sp>
        <p:nvSpPr>
          <p:cNvPr id="171" name="KMA6C131B"/>
          <p:cNvSpPr>
            <a:spLocks noChangeArrowheads="1"/>
          </p:cNvSpPr>
          <p:nvPr>
            <p:custDataLst>
              <p:tags r:id="rId8"/>
            </p:custDataLst>
          </p:nvPr>
        </p:nvSpPr>
        <p:spPr bwMode="auto">
          <a:xfrm>
            <a:off x="8284845" y="5409565"/>
            <a:ext cx="3055620" cy="1169035"/>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marL="285750" indent="-285750">
              <a:buFont typeface="微软雅黑"/>
              <a:buChar char="●"/>
              <a:defRPr>
                <a:latin typeface="微软雅黑"/>
                <a:ea typeface="微软雅黑"/>
                <a:cs typeface="微软雅黑"/>
              </a:defRPr>
            </a:pPr>
            <a:r>
              <a:rPr lang="zh-CN" sz="1400">
                <a:solidFill>
                  <a:srgbClr val="383838"/>
                </a:solidFill>
                <a:latin typeface="微软雅黑"/>
                <a:ea typeface="微软雅黑"/>
                <a:cs typeface="微软雅黑"/>
                <a:sym typeface="微软雅黑"/>
              </a:rPr>
              <a:t>传统ERP和新ERP系统同时运营，执行主要依靠传统ERP系统，新ERP系统仅支持业务验证。</a:t>
            </a:r>
            <a:endParaRPr lang="zh-CN" sz="1400">
              <a:solidFill>
                <a:srgbClr val="383838"/>
              </a:solidFill>
              <a:latin typeface="微软雅黑"/>
              <a:ea typeface="微软雅黑"/>
              <a:cs typeface="微软雅黑"/>
              <a:sym typeface="微软雅黑"/>
            </a:endParaRPr>
          </a:p>
          <a:p>
            <a:pPr marL="285750" indent="-285750">
              <a:buFont typeface="微软雅黑"/>
              <a:buChar char="●"/>
              <a:defRPr>
                <a:latin typeface="微软雅黑"/>
                <a:ea typeface="微软雅黑"/>
                <a:cs typeface="微软雅黑"/>
              </a:defRPr>
            </a:pPr>
            <a:r>
              <a:rPr lang="en-US" sz="1400" dirty="0">
                <a:solidFill>
                  <a:srgbClr val="383838"/>
                </a:solidFill>
                <a:latin typeface="微软雅黑"/>
                <a:ea typeface="微软雅黑"/>
                <a:cs typeface="微软雅黑"/>
              </a:rPr>
              <a:t>……</a:t>
            </a:r>
            <a:endParaRPr lang="en-US" sz="1400" dirty="0">
              <a:solidFill>
                <a:srgbClr val="383838"/>
              </a:solidFill>
              <a:latin typeface="微软雅黑"/>
              <a:ea typeface="微软雅黑"/>
              <a:cs typeface="微软雅黑"/>
            </a:endParaRPr>
          </a:p>
        </p:txBody>
      </p:sp>
      <p:sp>
        <p:nvSpPr>
          <p:cNvPr id="172" name="任意形状 248"/>
          <p:cNvSpPr/>
          <p:nvPr/>
        </p:nvSpPr>
        <p:spPr>
          <a:xfrm rot="19370445">
            <a:off x="8499475" y="1182370"/>
            <a:ext cx="419735" cy="344170"/>
          </a:xfrm>
          <a:custGeom>
            <a:avLst/>
            <a:gdLst>
              <a:gd name="connsiteX0" fmla="*/ 408131 w 721818"/>
              <a:gd name="connsiteY0" fmla="*/ 97738 h 601674"/>
              <a:gd name="connsiteX1" fmla="*/ 615162 w 721818"/>
              <a:gd name="connsiteY1" fmla="*/ 355594 h 601674"/>
              <a:gd name="connsiteX2" fmla="*/ 646609 w 721818"/>
              <a:gd name="connsiteY2" fmla="*/ 451255 h 601674"/>
              <a:gd name="connsiteX3" fmla="*/ 721818 w 721818"/>
              <a:gd name="connsiteY3" fmla="*/ 451256 h 601674"/>
              <a:gd name="connsiteX4" fmla="*/ 589350 w 721818"/>
              <a:gd name="connsiteY4" fmla="*/ 601674 h 601674"/>
              <a:gd name="connsiteX5" fmla="*/ 420981 w 721818"/>
              <a:gd name="connsiteY5" fmla="*/ 451256 h 601674"/>
              <a:gd name="connsiteX6" fmla="*/ 496190 w 721818"/>
              <a:gd name="connsiteY6" fmla="*/ 451256 h 601674"/>
              <a:gd name="connsiteX7" fmla="*/ 437521 w 721818"/>
              <a:gd name="connsiteY7" fmla="*/ 303030 h 601674"/>
              <a:gd name="connsiteX8" fmla="*/ 424792 w 721818"/>
              <a:gd name="connsiteY8" fmla="*/ 278449 h 601674"/>
              <a:gd name="connsiteX9" fmla="*/ 405333 w 721818"/>
              <a:gd name="connsiteY9" fmla="*/ 249265 h 601674"/>
              <a:gd name="connsiteX10" fmla="*/ 372120 w 721818"/>
              <a:gd name="connsiteY10" fmla="*/ 204491 h 601674"/>
              <a:gd name="connsiteX11" fmla="*/ 348091 w 721818"/>
              <a:gd name="connsiteY11" fmla="*/ 177580 h 601674"/>
              <a:gd name="connsiteX12" fmla="*/ 309511 w 721818"/>
              <a:gd name="connsiteY12" fmla="*/ 140089 h 601674"/>
              <a:gd name="connsiteX13" fmla="*/ 282234 w 721818"/>
              <a:gd name="connsiteY13" fmla="*/ 117128 h 601674"/>
              <a:gd name="connsiteX14" fmla="*/ 237579 w 721818"/>
              <a:gd name="connsiteY14" fmla="*/ 86111 h 601674"/>
              <a:gd name="connsiteX15" fmla="*/ 208796 w 721818"/>
              <a:gd name="connsiteY15" fmla="*/ 68260 h 601674"/>
              <a:gd name="connsiteX16" fmla="*/ 155309 w 721818"/>
              <a:gd name="connsiteY16" fmla="*/ 43133 h 601674"/>
              <a:gd name="connsiteX17" fmla="*/ 128908 w 721818"/>
              <a:gd name="connsiteY17" fmla="*/ 31745 h 601674"/>
              <a:gd name="connsiteX18" fmla="*/ 43743 w 721818"/>
              <a:gd name="connsiteY18" fmla="*/ 8495 h 601674"/>
              <a:gd name="connsiteX19" fmla="*/ 43743 w 721818"/>
              <a:gd name="connsiteY19" fmla="*/ 8495 h 601674"/>
              <a:gd name="connsiteX20" fmla="*/ 19916 w 721818"/>
              <a:gd name="connsiteY20" fmla="*/ 6362 h 601674"/>
              <a:gd name="connsiteX21" fmla="*/ 4078 w 721818"/>
              <a:gd name="connsiteY21" fmla="*/ 10223 h 601674"/>
              <a:gd name="connsiteX22" fmla="*/ 0 w 721818"/>
              <a:gd name="connsiteY22" fmla="*/ 0 h 601674"/>
              <a:gd name="connsiteX23" fmla="*/ 99280 w 721818"/>
              <a:gd name="connsiteY23" fmla="*/ 0 h 601674"/>
              <a:gd name="connsiteX24" fmla="*/ 408131 w 721818"/>
              <a:gd name="connsiteY24" fmla="*/ 97738 h 60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818" h="601674">
                <a:moveTo>
                  <a:pt x="408131" y="97738"/>
                </a:moveTo>
                <a:cubicBezTo>
                  <a:pt x="497685" y="159951"/>
                  <a:pt x="570269" y="248849"/>
                  <a:pt x="615162" y="355594"/>
                </a:cubicBezTo>
                <a:cubicBezTo>
                  <a:pt x="627988" y="386093"/>
                  <a:pt x="638554" y="418049"/>
                  <a:pt x="646609" y="451255"/>
                </a:cubicBezTo>
                <a:lnTo>
                  <a:pt x="721818" y="451256"/>
                </a:lnTo>
                <a:lnTo>
                  <a:pt x="589350" y="601674"/>
                </a:lnTo>
                <a:lnTo>
                  <a:pt x="420981" y="451256"/>
                </a:lnTo>
                <a:lnTo>
                  <a:pt x="496190" y="451256"/>
                </a:lnTo>
                <a:lnTo>
                  <a:pt x="437521" y="303030"/>
                </a:lnTo>
                <a:lnTo>
                  <a:pt x="424792" y="278449"/>
                </a:lnTo>
                <a:lnTo>
                  <a:pt x="405333" y="249265"/>
                </a:lnTo>
                <a:lnTo>
                  <a:pt x="372120" y="204491"/>
                </a:lnTo>
                <a:lnTo>
                  <a:pt x="348091" y="177580"/>
                </a:lnTo>
                <a:lnTo>
                  <a:pt x="309511" y="140089"/>
                </a:lnTo>
                <a:lnTo>
                  <a:pt x="282234" y="117128"/>
                </a:lnTo>
                <a:lnTo>
                  <a:pt x="237579" y="86111"/>
                </a:lnTo>
                <a:lnTo>
                  <a:pt x="208796" y="68260"/>
                </a:lnTo>
                <a:lnTo>
                  <a:pt x="155309" y="43133"/>
                </a:lnTo>
                <a:lnTo>
                  <a:pt x="128908" y="31745"/>
                </a:lnTo>
                <a:lnTo>
                  <a:pt x="43743" y="8495"/>
                </a:lnTo>
                <a:lnTo>
                  <a:pt x="43743" y="8495"/>
                </a:lnTo>
                <a:lnTo>
                  <a:pt x="19916" y="6362"/>
                </a:lnTo>
                <a:lnTo>
                  <a:pt x="4078" y="10223"/>
                </a:lnTo>
                <a:lnTo>
                  <a:pt x="0" y="0"/>
                </a:lnTo>
                <a:lnTo>
                  <a:pt x="99280" y="0"/>
                </a:lnTo>
                <a:cubicBezTo>
                  <a:pt x="212053" y="0"/>
                  <a:pt x="318577" y="35526"/>
                  <a:pt x="408131" y="97738"/>
                </a:cubicBezTo>
                <a:close/>
              </a:path>
            </a:pathLst>
          </a:custGeom>
          <a:gradFill>
            <a:gsLst>
              <a:gs pos="0">
                <a:srgbClr val="3368FF">
                  <a:alpha val="0"/>
                </a:srgbClr>
              </a:gs>
              <a:gs pos="100000">
                <a:srgbClr val="3368FF"/>
              </a:gs>
            </a:gsLst>
            <a:lin ang="21594000" scaled="0"/>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173" name="KMA6C131B"/>
          <p:cNvSpPr>
            <a:spLocks noChangeArrowheads="1"/>
          </p:cNvSpPr>
          <p:nvPr>
            <p:custDataLst>
              <p:tags r:id="rId9"/>
            </p:custDataLst>
          </p:nvPr>
        </p:nvSpPr>
        <p:spPr bwMode="auto">
          <a:xfrm rot="19560000">
            <a:off x="4762500" y="2206625"/>
            <a:ext cx="1250950" cy="29464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业务咨询</a:t>
            </a:r>
            <a:endParaRPr lang="zh-CN" altLang="en-US" sz="1200" dirty="0">
              <a:solidFill>
                <a:srgbClr val="383838"/>
              </a:solidFill>
              <a:latin typeface="微软雅黑"/>
              <a:ea typeface="微软雅黑"/>
              <a:cs typeface="微软雅黑"/>
              <a:sym typeface="微软雅黑"/>
            </a:endParaRPr>
          </a:p>
        </p:txBody>
      </p:sp>
      <p:sp>
        <p:nvSpPr>
          <p:cNvPr id="174" name="KMA6C131B"/>
          <p:cNvSpPr>
            <a:spLocks noChangeArrowheads="1"/>
          </p:cNvSpPr>
          <p:nvPr>
            <p:custDataLst>
              <p:tags r:id="rId10"/>
            </p:custDataLst>
          </p:nvPr>
        </p:nvSpPr>
        <p:spPr bwMode="auto">
          <a:xfrm rot="19560000">
            <a:off x="4408170" y="2648585"/>
            <a:ext cx="2156460" cy="29464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lgn="ctr">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未对诉求进行梳理总结，</a:t>
            </a:r>
            <a:endParaRPr lang="zh-CN" altLang="en-US" sz="1200" dirty="0">
              <a:solidFill>
                <a:srgbClr val="383838"/>
              </a:solidFill>
              <a:latin typeface="微软雅黑"/>
              <a:ea typeface="微软雅黑"/>
              <a:cs typeface="微软雅黑"/>
              <a:sym typeface="微软雅黑"/>
            </a:endParaRPr>
          </a:p>
          <a:p>
            <a:pPr indent="0" algn="ctr">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导致部分需求未被充分引入</a:t>
            </a:r>
            <a:endParaRPr lang="zh-CN" altLang="en-US" sz="1200" dirty="0">
              <a:solidFill>
                <a:srgbClr val="383838"/>
              </a:solidFill>
              <a:latin typeface="微软雅黑"/>
              <a:ea typeface="微软雅黑"/>
              <a:cs typeface="微软雅黑"/>
              <a:sym typeface="微软雅黑"/>
            </a:endParaRPr>
          </a:p>
        </p:txBody>
      </p:sp>
      <p:sp>
        <p:nvSpPr>
          <p:cNvPr id="176" name="KMA6C131B"/>
          <p:cNvSpPr>
            <a:spLocks noChangeArrowheads="1"/>
          </p:cNvSpPr>
          <p:nvPr>
            <p:custDataLst>
              <p:tags r:id="rId11"/>
            </p:custDataLst>
          </p:nvPr>
        </p:nvSpPr>
        <p:spPr bwMode="auto">
          <a:xfrm>
            <a:off x="3905250" y="1295400"/>
            <a:ext cx="2426335" cy="294640"/>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按需指派工厂端人员配合业务咨询</a:t>
            </a:r>
            <a:endParaRPr lang="zh-CN" altLang="en-US" sz="1200" dirty="0">
              <a:solidFill>
                <a:srgbClr val="383838"/>
              </a:solidFill>
              <a:latin typeface="微软雅黑"/>
              <a:ea typeface="微软雅黑"/>
              <a:cs typeface="微软雅黑"/>
              <a:sym typeface="微软雅黑"/>
            </a:endParaRPr>
          </a:p>
        </p:txBody>
      </p:sp>
      <p:pic>
        <p:nvPicPr>
          <p:cNvPr id="3" name="图片 2" descr="叹号"/>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2153920" y="2791460"/>
            <a:ext cx="305435" cy="305435"/>
          </a:xfrm>
          <a:prstGeom prst="rect">
            <a:avLst/>
          </a:prstGeom>
        </p:spPr>
      </p:pic>
      <p:pic>
        <p:nvPicPr>
          <p:cNvPr id="6" name="图片 5" descr="叹号"/>
          <p:cNvPicPr>
            <a:picLocks noChangeAspect="1"/>
          </p:cNvPicPr>
          <p:nvPr/>
        </p:nvPicPr>
        <p:blipFill>
          <a:blip r:embed="rId12">
            <a:extLst>
              <a:ext uri="{96DAC541-7B7A-43D3-8B79-37D633B846F1}">
                <asvg:svgBlip xmlns:asvg="http://schemas.microsoft.com/office/drawing/2016/SVG/main" r:embed="rId14"/>
              </a:ext>
            </a:extLst>
          </a:blip>
          <a:stretch>
            <a:fillRect/>
          </a:stretch>
        </p:blipFill>
        <p:spPr>
          <a:xfrm>
            <a:off x="2110105" y="4326890"/>
            <a:ext cx="305435" cy="305435"/>
          </a:xfrm>
          <a:prstGeom prst="rect">
            <a:avLst/>
          </a:prstGeom>
        </p:spPr>
      </p:pic>
      <p:pic>
        <p:nvPicPr>
          <p:cNvPr id="22" name="图片 21" descr="叹号"/>
          <p:cNvPicPr>
            <a:picLocks noChangeAspect="1"/>
          </p:cNvPicPr>
          <p:nvPr/>
        </p:nvPicPr>
        <p:blipFill>
          <a:blip r:embed="rId12">
            <a:extLst>
              <a:ext uri="{96DAC541-7B7A-43D3-8B79-37D633B846F1}">
                <asvg:svgBlip xmlns:asvg="http://schemas.microsoft.com/office/drawing/2016/SVG/main" r:embed="rId15"/>
              </a:ext>
            </a:extLst>
          </a:blip>
          <a:stretch>
            <a:fillRect/>
          </a:stretch>
        </p:blipFill>
        <p:spPr>
          <a:xfrm>
            <a:off x="6331585" y="2070735"/>
            <a:ext cx="305435" cy="305435"/>
          </a:xfrm>
          <a:prstGeom prst="rect">
            <a:avLst/>
          </a:prstGeom>
        </p:spPr>
      </p:pic>
      <p:pic>
        <p:nvPicPr>
          <p:cNvPr id="23" name="图片 22" descr="叹号"/>
          <p:cNvPicPr>
            <a:picLocks noChangeAspect="1"/>
          </p:cNvPicPr>
          <p:nvPr/>
        </p:nvPicPr>
        <p:blipFill>
          <a:blip r:embed="rId12">
            <a:extLst>
              <a:ext uri="{96DAC541-7B7A-43D3-8B79-37D633B846F1}">
                <asvg:svgBlip xmlns:asvg="http://schemas.microsoft.com/office/drawing/2016/SVG/main" r:embed="rId15"/>
              </a:ext>
            </a:extLst>
          </a:blip>
          <a:stretch>
            <a:fillRect/>
          </a:stretch>
        </p:blipFill>
        <p:spPr>
          <a:xfrm>
            <a:off x="6421755" y="4326890"/>
            <a:ext cx="305435" cy="305435"/>
          </a:xfrm>
          <a:prstGeom prst="rect">
            <a:avLst/>
          </a:prstGeom>
        </p:spPr>
      </p:pic>
      <p:cxnSp>
        <p:nvCxnSpPr>
          <p:cNvPr id="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9" name="组合 18"/>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16"/>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企业构建降本增效流程</a:t>
            </a:r>
            <a:endParaRPr sz="2500" b="0">
              <a:solidFill>
                <a:srgbClr val="383838"/>
              </a:solidFill>
              <a:effectLst/>
              <a:latin typeface="微软雅黑"/>
              <a:ea typeface="微软雅黑"/>
              <a:cs typeface="微软雅黑"/>
            </a:endParaRPr>
          </a:p>
        </p:txBody>
      </p:sp>
      <p:pic>
        <p:nvPicPr>
          <p:cNvPr id="6" name="图片 5"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3" name="组合 12"/>
          <p:cNvGrpSpPr/>
          <p:nvPr/>
        </p:nvGrpSpPr>
        <p:grpSpPr>
          <a:xfrm>
            <a:off x="449580" y="2556510"/>
            <a:ext cx="3368040" cy="1463040"/>
            <a:chOff x="708" y="4026"/>
            <a:chExt cx="5304" cy="2304"/>
          </a:xfrm>
        </p:grpSpPr>
        <p:sp>
          <p:nvSpPr>
            <p:cNvPr id="8" name="圆角矩形 7"/>
            <p:cNvSpPr/>
            <p:nvPr/>
          </p:nvSpPr>
          <p:spPr>
            <a:xfrm>
              <a:off x="708" y="4026"/>
              <a:ext cx="5304" cy="2304"/>
            </a:xfrm>
            <a:prstGeom prst="roundRect">
              <a:avLst>
                <a:gd name="adj" fmla="val 6250"/>
              </a:avLst>
            </a:prstGeom>
            <a:no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9" name="圆角矩形 8"/>
            <p:cNvSpPr/>
            <p:nvPr/>
          </p:nvSpPr>
          <p:spPr>
            <a:xfrm>
              <a:off x="1004" y="5132"/>
              <a:ext cx="2197" cy="1015"/>
            </a:xfrm>
            <a:prstGeom prst="roundRect">
              <a:avLst>
                <a:gd name="adj" fmla="val 13300"/>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en-US" altLang="zh-CN" sz="1200" b="1">
                  <a:solidFill>
                    <a:srgbClr val="FFFFFF"/>
                  </a:solidFill>
                  <a:latin typeface="微软雅黑"/>
                  <a:ea typeface="微软雅黑"/>
                  <a:cs typeface="微软雅黑"/>
                </a:rPr>
                <a:t>AI</a:t>
              </a:r>
              <a:r>
                <a:rPr lang="zh-CN" altLang="en-US" sz="1200" b="1">
                  <a:solidFill>
                    <a:srgbClr val="FFFFFF"/>
                  </a:solidFill>
                  <a:latin typeface="微软雅黑"/>
                  <a:ea typeface="微软雅黑"/>
                  <a:cs typeface="微软雅黑"/>
                </a:rPr>
                <a:t>动态出价与</a:t>
              </a:r>
              <a:endParaRPr lang="zh-CN" altLang="en-US" sz="12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创意优化</a:t>
              </a:r>
              <a:endParaRPr lang="zh-CN" altLang="en-US" sz="1200" b="1">
                <a:solidFill>
                  <a:srgbClr val="FFFFFF"/>
                </a:solidFill>
                <a:latin typeface="微软雅黑"/>
                <a:ea typeface="微软雅黑"/>
                <a:cs typeface="微软雅黑"/>
              </a:endParaRPr>
            </a:p>
          </p:txBody>
        </p:sp>
        <p:sp>
          <p:nvSpPr>
            <p:cNvPr id="11" name="圆角矩形 10"/>
            <p:cNvSpPr/>
            <p:nvPr/>
          </p:nvSpPr>
          <p:spPr>
            <a:xfrm>
              <a:off x="3490" y="5132"/>
              <a:ext cx="2197" cy="1015"/>
            </a:xfrm>
            <a:prstGeom prst="roundRect">
              <a:avLst>
                <a:gd name="adj" fmla="val 13300"/>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200" b="1">
                  <a:solidFill>
                    <a:srgbClr val="0042FF"/>
                  </a:solidFill>
                  <a:latin typeface="微软雅黑"/>
                  <a:ea typeface="微软雅黑"/>
                  <a:cs typeface="微软雅黑"/>
                </a:rPr>
                <a:t>AI</a:t>
              </a:r>
              <a:r>
                <a:rPr lang="zh-CN" altLang="en-US" sz="1200" b="1">
                  <a:solidFill>
                    <a:srgbClr val="0042FF"/>
                  </a:solidFill>
                  <a:latin typeface="微软雅黑"/>
                  <a:ea typeface="微软雅黑"/>
                  <a:cs typeface="微软雅黑"/>
                </a:rPr>
                <a:t>动态出价与</a:t>
              </a:r>
              <a:endParaRPr lang="zh-CN" altLang="en-US" sz="1200"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创意优化</a:t>
              </a:r>
              <a:endParaRPr lang="zh-CN" altLang="en-US" sz="1200" b="1">
                <a:solidFill>
                  <a:srgbClr val="0042FF"/>
                </a:solidFill>
                <a:latin typeface="微软雅黑"/>
                <a:ea typeface="微软雅黑"/>
                <a:cs typeface="微软雅黑"/>
              </a:endParaRPr>
            </a:p>
          </p:txBody>
        </p:sp>
        <p:sp>
          <p:nvSpPr>
            <p:cNvPr id="12" name="右箭头 11"/>
            <p:cNvSpPr/>
            <p:nvPr/>
          </p:nvSpPr>
          <p:spPr>
            <a:xfrm>
              <a:off x="3156" y="5535"/>
              <a:ext cx="310" cy="210"/>
            </a:xfrm>
            <a:prstGeom prst="rightArrow">
              <a:avLst>
                <a:gd name="adj1" fmla="val 50000"/>
                <a:gd name="adj2" fmla="val 82857"/>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76" name="KMA6C131B"/>
            <p:cNvSpPr>
              <a:spLocks noChangeArrowheads="1"/>
            </p:cNvSpPr>
            <p:nvPr>
              <p:custDataLst>
                <p:tags r:id="rId3"/>
              </p:custDataLst>
            </p:nvPr>
          </p:nvSpPr>
          <p:spPr bwMode="auto">
            <a:xfrm>
              <a:off x="911" y="4190"/>
              <a:ext cx="4899" cy="464"/>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lgn="ctr">
                <a:buFont typeface="微软雅黑"/>
                <a:buNone/>
                <a:defRPr>
                  <a:latin typeface="微软雅黑"/>
                  <a:ea typeface="微软雅黑"/>
                  <a:cs typeface="微软雅黑"/>
                </a:defRPr>
              </a:pPr>
              <a:r>
                <a:rPr lang="zh-CN" altLang="en-US" sz="1600" b="1" dirty="0">
                  <a:solidFill>
                    <a:srgbClr val="0042FF"/>
                  </a:solidFill>
                  <a:latin typeface="微软雅黑"/>
                  <a:ea typeface="微软雅黑"/>
                  <a:cs typeface="微软雅黑"/>
                  <a:sym typeface="微软雅黑"/>
                </a:rPr>
                <a:t>第一环节：精准狙击</a:t>
              </a:r>
              <a:endParaRPr lang="zh-CN" altLang="en-US" sz="1600" b="1" dirty="0">
                <a:solidFill>
                  <a:srgbClr val="0042FF"/>
                </a:solidFill>
                <a:latin typeface="微软雅黑"/>
                <a:ea typeface="微软雅黑"/>
                <a:cs typeface="微软雅黑"/>
                <a:sym typeface="微软雅黑"/>
              </a:endParaRPr>
            </a:p>
            <a:p>
              <a:pPr indent="0" algn="ctr">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（公域平台流量运营</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品牌事件营销）</a:t>
              </a:r>
              <a:endParaRPr lang="zh-CN" altLang="en-US" sz="1200" dirty="0">
                <a:solidFill>
                  <a:srgbClr val="383838"/>
                </a:solidFill>
                <a:latin typeface="微软雅黑"/>
                <a:ea typeface="微软雅黑"/>
                <a:cs typeface="微软雅黑"/>
                <a:sym typeface="微软雅黑"/>
              </a:endParaRPr>
            </a:p>
          </p:txBody>
        </p:sp>
      </p:grpSp>
      <p:grpSp>
        <p:nvGrpSpPr>
          <p:cNvPr id="14" name="组合 13"/>
          <p:cNvGrpSpPr/>
          <p:nvPr/>
        </p:nvGrpSpPr>
        <p:grpSpPr>
          <a:xfrm>
            <a:off x="3482340" y="4810125"/>
            <a:ext cx="4973320" cy="1283335"/>
            <a:chOff x="708" y="4026"/>
            <a:chExt cx="5304" cy="2304"/>
          </a:xfrm>
        </p:grpSpPr>
        <p:sp>
          <p:nvSpPr>
            <p:cNvPr id="15" name="圆角矩形 14"/>
            <p:cNvSpPr/>
            <p:nvPr/>
          </p:nvSpPr>
          <p:spPr>
            <a:xfrm>
              <a:off x="708" y="4026"/>
              <a:ext cx="5304" cy="2304"/>
            </a:xfrm>
            <a:prstGeom prst="roundRect">
              <a:avLst>
                <a:gd name="adj" fmla="val 6250"/>
              </a:avLst>
            </a:prstGeom>
            <a:no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6" name="圆角矩形 15"/>
            <p:cNvSpPr/>
            <p:nvPr/>
          </p:nvSpPr>
          <p:spPr>
            <a:xfrm>
              <a:off x="1004" y="4967"/>
              <a:ext cx="2415" cy="1180"/>
            </a:xfrm>
            <a:prstGeom prst="roundRect">
              <a:avLst>
                <a:gd name="adj" fmla="val 13300"/>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sz="1200" b="1">
                  <a:latin typeface="微软雅黑"/>
                  <a:ea typeface="微软雅黑"/>
                  <a:cs typeface="微软雅黑"/>
                </a:rPr>
                <a:t>价值度量与归因分析</a:t>
              </a:r>
              <a:endParaRPr lang="zh-CN" sz="1200" b="1">
                <a:latin typeface="微软雅黑"/>
                <a:ea typeface="微软雅黑"/>
                <a:cs typeface="微软雅黑"/>
              </a:endParaRPr>
            </a:p>
          </p:txBody>
        </p:sp>
        <p:sp>
          <p:nvSpPr>
            <p:cNvPr id="17" name="圆角矩形 16"/>
            <p:cNvSpPr/>
            <p:nvPr/>
          </p:nvSpPr>
          <p:spPr>
            <a:xfrm>
              <a:off x="3698" y="4968"/>
              <a:ext cx="2038" cy="1180"/>
            </a:xfrm>
            <a:prstGeom prst="roundRect">
              <a:avLst>
                <a:gd name="adj" fmla="val 13300"/>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sz="1200" b="1">
                  <a:solidFill>
                    <a:srgbClr val="0042FF"/>
                  </a:solidFill>
                  <a:latin typeface="微软雅黑"/>
                  <a:ea typeface="微软雅黑"/>
                  <a:cs typeface="微软雅黑"/>
                </a:rPr>
                <a:t>动态调整飞轮各环节策略</a:t>
              </a:r>
              <a:endParaRPr lang="en-US" altLang="zh-CN" sz="1200" b="1">
                <a:solidFill>
                  <a:srgbClr val="0042FF"/>
                </a:solidFill>
                <a:latin typeface="微软雅黑"/>
                <a:ea typeface="微软雅黑"/>
                <a:cs typeface="微软雅黑"/>
              </a:endParaRPr>
            </a:p>
          </p:txBody>
        </p:sp>
        <p:sp>
          <p:nvSpPr>
            <p:cNvPr id="18" name="右箭头 17"/>
            <p:cNvSpPr/>
            <p:nvPr/>
          </p:nvSpPr>
          <p:spPr>
            <a:xfrm>
              <a:off x="3390" y="5385"/>
              <a:ext cx="310" cy="210"/>
            </a:xfrm>
            <a:prstGeom prst="rightArrow">
              <a:avLst>
                <a:gd name="adj1" fmla="val 50000"/>
                <a:gd name="adj2" fmla="val 82857"/>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9" name="KMA6C131B"/>
            <p:cNvSpPr>
              <a:spLocks noChangeArrowheads="1"/>
            </p:cNvSpPr>
            <p:nvPr>
              <p:custDataLst>
                <p:tags r:id="rId4"/>
              </p:custDataLst>
            </p:nvPr>
          </p:nvSpPr>
          <p:spPr bwMode="auto">
            <a:xfrm>
              <a:off x="911" y="4265"/>
              <a:ext cx="4899" cy="464"/>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lgn="ctr">
                <a:buFont typeface="微软雅黑"/>
                <a:buNone/>
                <a:defRPr>
                  <a:latin typeface="微软雅黑"/>
                  <a:ea typeface="微软雅黑"/>
                  <a:cs typeface="微软雅黑"/>
                </a:defRPr>
              </a:pPr>
              <a:r>
                <a:rPr lang="zh-CN" sz="1400" b="1" dirty="0">
                  <a:solidFill>
                    <a:srgbClr val="383838"/>
                  </a:solidFill>
                  <a:latin typeface="微软雅黑"/>
                  <a:ea typeface="微软雅黑"/>
                  <a:cs typeface="微软雅黑"/>
                  <a:sym typeface="微软雅黑"/>
                </a:rPr>
                <a:t>智能中枢：决策与调优（智能运营指挥中心）</a:t>
              </a:r>
              <a:endParaRPr lang="zh-CN" sz="1400" b="1" dirty="0">
                <a:solidFill>
                  <a:srgbClr val="383838"/>
                </a:solidFill>
                <a:latin typeface="微软雅黑"/>
                <a:ea typeface="微软雅黑"/>
                <a:cs typeface="微软雅黑"/>
                <a:sym typeface="微软雅黑"/>
              </a:endParaRPr>
            </a:p>
          </p:txBody>
        </p:sp>
      </p:grpSp>
      <p:sp>
        <p:nvSpPr>
          <p:cNvPr id="32" name="圆角矩形 31"/>
          <p:cNvSpPr/>
          <p:nvPr/>
        </p:nvSpPr>
        <p:spPr>
          <a:xfrm>
            <a:off x="9147175" y="5180330"/>
            <a:ext cx="1976120" cy="544830"/>
          </a:xfrm>
          <a:prstGeom prst="roundRect">
            <a:avLst>
              <a:gd name="adj" fmla="val 13300"/>
            </a:avLst>
          </a:prstGeom>
          <a:solidFill>
            <a:srgbClr val="B3D4FE"/>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200" b="1">
                <a:latin typeface="微软雅黑"/>
                <a:ea typeface="微软雅黑"/>
                <a:cs typeface="微软雅黑"/>
              </a:rPr>
              <a:t>AI</a:t>
            </a:r>
            <a:r>
              <a:rPr lang="zh-CN" altLang="en-US" sz="1200" b="1">
                <a:latin typeface="微软雅黑"/>
                <a:ea typeface="微软雅黑"/>
                <a:cs typeface="微软雅黑"/>
              </a:rPr>
              <a:t>动态出价与</a:t>
            </a:r>
            <a:endParaRPr lang="zh-CN" altLang="en-US" sz="1200" b="1">
              <a:latin typeface="微软雅黑"/>
              <a:ea typeface="微软雅黑"/>
              <a:cs typeface="微软雅黑"/>
            </a:endParaRPr>
          </a:p>
          <a:p>
            <a:pPr algn="ctr">
              <a:defRPr>
                <a:latin typeface="微软雅黑"/>
                <a:ea typeface="微软雅黑"/>
                <a:cs typeface="微软雅黑"/>
              </a:defRPr>
            </a:pPr>
            <a:r>
              <a:rPr lang="zh-CN" altLang="en-US" sz="1200" b="1">
                <a:latin typeface="微软雅黑"/>
                <a:ea typeface="微软雅黑"/>
                <a:cs typeface="微软雅黑"/>
              </a:rPr>
              <a:t>创意优化</a:t>
            </a:r>
            <a:endParaRPr lang="zh-CN" altLang="en-US" sz="1200" b="1">
              <a:latin typeface="微软雅黑"/>
              <a:ea typeface="微软雅黑"/>
              <a:cs typeface="微软雅黑"/>
            </a:endParaRPr>
          </a:p>
        </p:txBody>
      </p:sp>
      <p:sp>
        <p:nvSpPr>
          <p:cNvPr id="33" name="圆角矩形 32"/>
          <p:cNvSpPr/>
          <p:nvPr/>
        </p:nvSpPr>
        <p:spPr>
          <a:xfrm>
            <a:off x="4413885" y="1435735"/>
            <a:ext cx="3368040" cy="819785"/>
          </a:xfrm>
          <a:prstGeom prst="roundRect">
            <a:avLst>
              <a:gd name="adj" fmla="val 13300"/>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核心挑战：公域流量成本高</a:t>
            </a:r>
            <a:endParaRPr lang="zh-CN" altLang="en-US" sz="1400" b="1">
              <a:solidFill>
                <a:srgbClr val="FFFFFF"/>
              </a:solidFill>
              <a:latin typeface="微软雅黑"/>
              <a:ea typeface="微软雅黑"/>
              <a:cs typeface="微软雅黑"/>
            </a:endParaRPr>
          </a:p>
        </p:txBody>
      </p:sp>
      <p:cxnSp>
        <p:nvCxnSpPr>
          <p:cNvPr id="34" name="肘形连接符 33"/>
          <p:cNvCxnSpPr>
            <a:stCxn id="33" idx="1"/>
            <a:endCxn id="8" idx="0"/>
          </p:cNvCxnSpPr>
          <p:nvPr/>
        </p:nvCxnSpPr>
        <p:spPr>
          <a:xfrm rot="10800000" flipV="1">
            <a:off x="2132965" y="1845310"/>
            <a:ext cx="2280285" cy="710565"/>
          </a:xfrm>
          <a:prstGeom prst="bentConnector2">
            <a:avLst/>
          </a:prstGeom>
          <a:ln w="63500">
            <a:solidFill>
              <a:srgbClr val="0042FF"/>
            </a:solidFill>
            <a:prstDash val="solid"/>
            <a:tailEnd type="triangle" w="med" len="lg"/>
          </a:ln>
        </p:spPr>
        <p:style>
          <a:lnRef idx="2">
            <a:srgbClr val="0042FF"/>
          </a:lnRef>
          <a:fillRef idx="0">
            <a:srgbClr val="FFFFFF"/>
          </a:fillRef>
          <a:effectRef idx="0">
            <a:srgbClr val="FFFFFF"/>
          </a:effectRef>
          <a:fontRef idx="minor">
            <a:srgbClr val="383838"/>
          </a:fontRef>
        </p:style>
      </p:cxnSp>
      <p:cxnSp>
        <p:nvCxnSpPr>
          <p:cNvPr id="35" name="肘形连接符 34"/>
          <p:cNvCxnSpPr>
            <a:stCxn id="8" idx="2"/>
            <a:endCxn id="36" idx="4"/>
          </p:cNvCxnSpPr>
          <p:nvPr/>
        </p:nvCxnSpPr>
        <p:spPr>
          <a:xfrm rot="5400000" flipV="1">
            <a:off x="3669030" y="2484120"/>
            <a:ext cx="3175" cy="3070860"/>
          </a:xfrm>
          <a:prstGeom prst="bentConnector3">
            <a:avLst>
              <a:gd name="adj1" fmla="val 13650000"/>
            </a:avLst>
          </a:prstGeom>
          <a:ln w="63500">
            <a:solidFill>
              <a:srgbClr val="3368FF"/>
            </a:solidFill>
            <a:prstDash val="solid"/>
            <a:tailEnd type="triangle" w="med" len="lg"/>
          </a:ln>
        </p:spPr>
        <p:style>
          <a:lnRef idx="2">
            <a:srgbClr val="0042FF"/>
          </a:lnRef>
          <a:fillRef idx="0">
            <a:srgbClr val="FFFFFF"/>
          </a:fillRef>
          <a:effectRef idx="0">
            <a:srgbClr val="FFFFFF"/>
          </a:effectRef>
          <a:fontRef idx="minor">
            <a:srgbClr val="383838"/>
          </a:fontRef>
        </p:style>
      </p:cxnSp>
      <p:cxnSp>
        <p:nvCxnSpPr>
          <p:cNvPr id="37" name="肘形连接符 36"/>
          <p:cNvCxnSpPr>
            <a:stCxn id="38" idx="4"/>
            <a:endCxn id="21" idx="2"/>
          </p:cNvCxnSpPr>
          <p:nvPr/>
        </p:nvCxnSpPr>
        <p:spPr>
          <a:xfrm rot="5400000" flipH="1" flipV="1">
            <a:off x="8307070" y="2508250"/>
            <a:ext cx="10160" cy="3032760"/>
          </a:xfrm>
          <a:prstGeom prst="bentConnector3">
            <a:avLst>
              <a:gd name="adj1" fmla="val -4325000"/>
            </a:avLst>
          </a:prstGeom>
          <a:ln w="63500">
            <a:solidFill>
              <a:srgbClr val="3368FF"/>
            </a:solidFill>
            <a:prstDash val="solid"/>
            <a:tailEnd type="triangle" w="med" len="lg"/>
          </a:ln>
        </p:spPr>
        <p:style>
          <a:lnRef idx="2">
            <a:srgbClr val="0042FF"/>
          </a:lnRef>
          <a:fillRef idx="0">
            <a:srgbClr val="FFFFFF"/>
          </a:fillRef>
          <a:effectRef idx="0">
            <a:srgbClr val="FFFFFF"/>
          </a:effectRef>
          <a:fontRef idx="minor">
            <a:srgbClr val="383838"/>
          </a:fontRef>
        </p:style>
      </p:cxnSp>
      <p:cxnSp>
        <p:nvCxnSpPr>
          <p:cNvPr id="39" name="肘形连接符 38"/>
          <p:cNvCxnSpPr>
            <a:stCxn id="21" idx="3"/>
            <a:endCxn id="32" idx="3"/>
          </p:cNvCxnSpPr>
          <p:nvPr/>
        </p:nvCxnSpPr>
        <p:spPr>
          <a:xfrm flipH="1">
            <a:off x="11123295" y="3288030"/>
            <a:ext cx="389255" cy="2164715"/>
          </a:xfrm>
          <a:prstGeom prst="bentConnector3">
            <a:avLst>
              <a:gd name="adj1" fmla="val -61175"/>
            </a:avLst>
          </a:prstGeom>
          <a:ln w="63500">
            <a:solidFill>
              <a:srgbClr val="3368FF"/>
            </a:solidFill>
            <a:prstDash val="solid"/>
            <a:tailEnd type="triangle" w="med" len="lg"/>
          </a:ln>
        </p:spPr>
        <p:style>
          <a:lnRef idx="2">
            <a:srgbClr val="0042FF"/>
          </a:lnRef>
          <a:fillRef idx="0">
            <a:srgbClr val="FFFFFF"/>
          </a:fillRef>
          <a:effectRef idx="0">
            <a:srgbClr val="FFFFFF"/>
          </a:effectRef>
          <a:fontRef idx="minor">
            <a:srgbClr val="383838"/>
          </a:fontRef>
        </p:style>
      </p:cxnSp>
      <p:cxnSp>
        <p:nvCxnSpPr>
          <p:cNvPr id="40" name="直接箭头连接符 39"/>
          <p:cNvCxnSpPr>
            <a:stCxn id="27" idx="2"/>
            <a:endCxn id="15" idx="0"/>
          </p:cNvCxnSpPr>
          <p:nvPr/>
        </p:nvCxnSpPr>
        <p:spPr>
          <a:xfrm>
            <a:off x="5969000" y="4019550"/>
            <a:ext cx="0" cy="790575"/>
          </a:xfrm>
          <a:prstGeom prst="straightConnector1">
            <a:avLst/>
          </a:prstGeom>
          <a:ln w="76200">
            <a:solidFill>
              <a:srgbClr val="3368FF"/>
            </a:solidFill>
            <a:tailEnd type="triangle" w="lg" len="med"/>
          </a:ln>
        </p:spPr>
        <p:style>
          <a:lnRef idx="2">
            <a:srgbClr val="0042FF"/>
          </a:lnRef>
          <a:fillRef idx="0">
            <a:srgbClr val="FFFFFF"/>
          </a:fillRef>
          <a:effectRef idx="0">
            <a:srgbClr val="FFFFFF"/>
          </a:effectRef>
          <a:fontRef idx="minor">
            <a:srgbClr val="383838"/>
          </a:fontRef>
        </p:style>
      </p:cxnSp>
      <p:cxnSp>
        <p:nvCxnSpPr>
          <p:cNvPr id="41" name="直接箭头连接符 40"/>
          <p:cNvCxnSpPr>
            <a:stCxn id="32" idx="1"/>
            <a:endCxn id="15" idx="3"/>
          </p:cNvCxnSpPr>
          <p:nvPr/>
        </p:nvCxnSpPr>
        <p:spPr>
          <a:xfrm flipH="1" flipV="1">
            <a:off x="8455660" y="5452110"/>
            <a:ext cx="691515" cy="635"/>
          </a:xfrm>
          <a:prstGeom prst="straightConnector1">
            <a:avLst/>
          </a:prstGeom>
          <a:ln w="76200">
            <a:solidFill>
              <a:srgbClr val="B3D4FE"/>
            </a:solidFill>
            <a:tailEnd type="triangle" w="lg" len="med"/>
          </a:ln>
        </p:spPr>
        <p:style>
          <a:lnRef idx="2">
            <a:srgbClr val="0042FF"/>
          </a:lnRef>
          <a:fillRef idx="0">
            <a:srgbClr val="FFFFFF"/>
          </a:fillRef>
          <a:effectRef idx="0">
            <a:srgbClr val="FFFFFF"/>
          </a:effectRef>
          <a:fontRef idx="minor">
            <a:srgbClr val="383838"/>
          </a:fontRef>
        </p:style>
      </p:cxnSp>
      <p:grpSp>
        <p:nvGrpSpPr>
          <p:cNvPr id="42" name="组合 41"/>
          <p:cNvGrpSpPr/>
          <p:nvPr/>
        </p:nvGrpSpPr>
        <p:grpSpPr>
          <a:xfrm>
            <a:off x="4351020" y="2556510"/>
            <a:ext cx="3368040" cy="1463040"/>
            <a:chOff x="708" y="4026"/>
            <a:chExt cx="5304" cy="2304"/>
          </a:xfrm>
        </p:grpSpPr>
        <p:sp>
          <p:nvSpPr>
            <p:cNvPr id="43" name="圆角矩形 42"/>
            <p:cNvSpPr/>
            <p:nvPr/>
          </p:nvSpPr>
          <p:spPr>
            <a:xfrm>
              <a:off x="708" y="4026"/>
              <a:ext cx="5304" cy="2304"/>
            </a:xfrm>
            <a:prstGeom prst="roundRect">
              <a:avLst>
                <a:gd name="adj" fmla="val 6250"/>
              </a:avLst>
            </a:prstGeom>
            <a:no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4" name="圆角矩形 43"/>
            <p:cNvSpPr/>
            <p:nvPr/>
          </p:nvSpPr>
          <p:spPr>
            <a:xfrm>
              <a:off x="1004" y="5132"/>
              <a:ext cx="2197" cy="1015"/>
            </a:xfrm>
            <a:prstGeom prst="roundRect">
              <a:avLst>
                <a:gd name="adj" fmla="val 13300"/>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sz="1200" b="1">
                  <a:solidFill>
                    <a:srgbClr val="FFFFFF"/>
                  </a:solidFill>
                  <a:latin typeface="微软雅黑"/>
                  <a:ea typeface="微软雅黑"/>
                  <a:cs typeface="微软雅黑"/>
                </a:rPr>
                <a:t>无缝引导至私域</a:t>
              </a:r>
              <a:endParaRPr lang="zh-CN" sz="1200" b="1">
                <a:solidFill>
                  <a:srgbClr val="FFFFFF"/>
                </a:solidFill>
                <a:latin typeface="微软雅黑"/>
                <a:ea typeface="微软雅黑"/>
                <a:cs typeface="微软雅黑"/>
              </a:endParaRPr>
            </a:p>
          </p:txBody>
        </p:sp>
        <p:sp>
          <p:nvSpPr>
            <p:cNvPr id="45" name="圆角矩形 44"/>
            <p:cNvSpPr/>
            <p:nvPr/>
          </p:nvSpPr>
          <p:spPr>
            <a:xfrm>
              <a:off x="3490" y="5132"/>
              <a:ext cx="2197" cy="1015"/>
            </a:xfrm>
            <a:prstGeom prst="roundRect">
              <a:avLst>
                <a:gd name="adj" fmla="val 13300"/>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100" b="1">
                  <a:solidFill>
                    <a:srgbClr val="0042FF"/>
                  </a:solidFill>
                  <a:latin typeface="微软雅黑"/>
                  <a:ea typeface="微软雅黑"/>
                  <a:cs typeface="微软雅黑"/>
                </a:rPr>
                <a:t>个性化</a:t>
              </a:r>
              <a:r>
                <a:rPr lang="en-US" altLang="zh-CN" sz="1100" b="1">
                  <a:solidFill>
                    <a:srgbClr val="0042FF"/>
                  </a:solidFill>
                  <a:latin typeface="微软雅黑"/>
                  <a:ea typeface="微软雅黑"/>
                  <a:cs typeface="微软雅黑"/>
                  <a:sym typeface="微软雅黑"/>
                </a:rPr>
                <a:t>”</a:t>
              </a:r>
              <a:r>
                <a:rPr lang="zh-CN" altLang="en-US" sz="1100" b="1">
                  <a:solidFill>
                    <a:srgbClr val="0042FF"/>
                  </a:solidFill>
                  <a:latin typeface="微软雅黑"/>
                  <a:ea typeface="微软雅黑"/>
                  <a:cs typeface="微软雅黑"/>
                </a:rPr>
                <a:t>欢迎旅程</a:t>
              </a:r>
              <a:r>
                <a:rPr lang="en-US" altLang="zh-CN" sz="1100" b="1">
                  <a:solidFill>
                    <a:srgbClr val="0042FF"/>
                  </a:solidFill>
                  <a:latin typeface="微软雅黑"/>
                  <a:ea typeface="微软雅黑"/>
                  <a:cs typeface="微软雅黑"/>
                </a:rPr>
                <a:t>”</a:t>
              </a:r>
              <a:r>
                <a:rPr lang="zh-CN" altLang="en-US" sz="1100" b="1">
                  <a:solidFill>
                    <a:srgbClr val="0042FF"/>
                  </a:solidFill>
                  <a:latin typeface="微软雅黑"/>
                  <a:ea typeface="微软雅黑"/>
                  <a:cs typeface="微软雅黑"/>
                </a:rPr>
                <a:t>与智能体即刻服务</a:t>
              </a:r>
              <a:endParaRPr lang="zh-CN" altLang="en-US" sz="1100" b="1">
                <a:solidFill>
                  <a:srgbClr val="0042FF"/>
                </a:solidFill>
                <a:latin typeface="微软雅黑"/>
                <a:ea typeface="微软雅黑"/>
                <a:cs typeface="微软雅黑"/>
              </a:endParaRPr>
            </a:p>
          </p:txBody>
        </p:sp>
        <p:sp>
          <p:nvSpPr>
            <p:cNvPr id="46" name="右箭头 45"/>
            <p:cNvSpPr/>
            <p:nvPr/>
          </p:nvSpPr>
          <p:spPr>
            <a:xfrm>
              <a:off x="3156" y="5535"/>
              <a:ext cx="310" cy="210"/>
            </a:xfrm>
            <a:prstGeom prst="rightArrow">
              <a:avLst>
                <a:gd name="adj1" fmla="val 50000"/>
                <a:gd name="adj2" fmla="val 82857"/>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7" name="KMA6C131B"/>
            <p:cNvSpPr>
              <a:spLocks noChangeArrowheads="1"/>
            </p:cNvSpPr>
            <p:nvPr>
              <p:custDataLst>
                <p:tags r:id="rId5"/>
              </p:custDataLst>
            </p:nvPr>
          </p:nvSpPr>
          <p:spPr bwMode="auto">
            <a:xfrm>
              <a:off x="911" y="4190"/>
              <a:ext cx="4899" cy="464"/>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lgn="ctr">
                <a:buFont typeface="微软雅黑"/>
                <a:buNone/>
                <a:defRPr>
                  <a:latin typeface="微软雅黑"/>
                  <a:ea typeface="微软雅黑"/>
                  <a:cs typeface="微软雅黑"/>
                </a:defRPr>
              </a:pPr>
              <a:r>
                <a:rPr lang="zh-CN" altLang="en-US" sz="1600" b="1" dirty="0">
                  <a:solidFill>
                    <a:srgbClr val="0042FF"/>
                  </a:solidFill>
                  <a:latin typeface="微软雅黑"/>
                  <a:ea typeface="微软雅黑"/>
                  <a:cs typeface="微软雅黑"/>
                  <a:sym typeface="微软雅黑"/>
                </a:rPr>
                <a:t>第二环节：高质承接</a:t>
              </a:r>
              <a:endParaRPr lang="zh-CN" altLang="en-US" sz="1600" b="1" dirty="0">
                <a:solidFill>
                  <a:srgbClr val="0042FF"/>
                </a:solidFill>
                <a:latin typeface="微软雅黑"/>
                <a:ea typeface="微软雅黑"/>
                <a:cs typeface="微软雅黑"/>
                <a:sym typeface="微软雅黑"/>
              </a:endParaRPr>
            </a:p>
            <a:p>
              <a:pPr indent="0" algn="ctr">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a:t>
              </a:r>
              <a:r>
                <a:rPr lang="zh-CN" sz="1200" dirty="0">
                  <a:solidFill>
                    <a:srgbClr val="383838"/>
                  </a:solidFill>
                  <a:latin typeface="微软雅黑"/>
                  <a:ea typeface="微软雅黑"/>
                  <a:cs typeface="微软雅黑"/>
                  <a:sym typeface="微软雅黑"/>
                </a:rPr>
                <a:t>私域流量与用户价值运营</a:t>
              </a:r>
              <a:r>
                <a:rPr lang="zh-CN" altLang="en-US" sz="1200" dirty="0">
                  <a:solidFill>
                    <a:srgbClr val="383838"/>
                  </a:solidFill>
                  <a:latin typeface="微软雅黑"/>
                  <a:ea typeface="微软雅黑"/>
                  <a:cs typeface="微软雅黑"/>
                  <a:sym typeface="微软雅黑"/>
                </a:rPr>
                <a:t>）</a:t>
              </a:r>
              <a:endParaRPr lang="zh-CN" altLang="en-US" sz="1200" dirty="0">
                <a:solidFill>
                  <a:srgbClr val="383838"/>
                </a:solidFill>
                <a:latin typeface="微软雅黑"/>
                <a:ea typeface="微软雅黑"/>
                <a:cs typeface="微软雅黑"/>
                <a:sym typeface="微软雅黑"/>
              </a:endParaRPr>
            </a:p>
          </p:txBody>
        </p:sp>
      </p:grpSp>
      <p:grpSp>
        <p:nvGrpSpPr>
          <p:cNvPr id="54" name="组合 53"/>
          <p:cNvGrpSpPr/>
          <p:nvPr/>
        </p:nvGrpSpPr>
        <p:grpSpPr>
          <a:xfrm>
            <a:off x="8144510" y="2555240"/>
            <a:ext cx="3368040" cy="1463040"/>
            <a:chOff x="708" y="4026"/>
            <a:chExt cx="5304" cy="2304"/>
          </a:xfrm>
        </p:grpSpPr>
        <p:sp>
          <p:nvSpPr>
            <p:cNvPr id="55" name="圆角矩形 54"/>
            <p:cNvSpPr/>
            <p:nvPr/>
          </p:nvSpPr>
          <p:spPr>
            <a:xfrm>
              <a:off x="708" y="4026"/>
              <a:ext cx="5304" cy="2304"/>
            </a:xfrm>
            <a:prstGeom prst="roundRect">
              <a:avLst>
                <a:gd name="adj" fmla="val 6250"/>
              </a:avLst>
            </a:prstGeom>
            <a:no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56" name="圆角矩形 55"/>
            <p:cNvSpPr/>
            <p:nvPr/>
          </p:nvSpPr>
          <p:spPr>
            <a:xfrm>
              <a:off x="1004" y="5132"/>
              <a:ext cx="2197" cy="1015"/>
            </a:xfrm>
            <a:prstGeom prst="roundRect">
              <a:avLst>
                <a:gd name="adj" fmla="val 13300"/>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en-US" altLang="zh-CN" sz="1200" b="1">
                  <a:solidFill>
                    <a:srgbClr val="FFFFFF"/>
                  </a:solidFill>
                  <a:latin typeface="微软雅黑"/>
                  <a:ea typeface="微软雅黑"/>
                  <a:cs typeface="微软雅黑"/>
                </a:rPr>
                <a:t>AI</a:t>
              </a:r>
              <a:r>
                <a:rPr lang="zh-CN" altLang="en-US" sz="1200" b="1">
                  <a:solidFill>
                    <a:srgbClr val="FFFFFF"/>
                  </a:solidFill>
                  <a:latin typeface="微软雅黑"/>
                  <a:ea typeface="微软雅黑"/>
                  <a:cs typeface="微软雅黑"/>
                </a:rPr>
                <a:t>识别高潜力</a:t>
              </a:r>
              <a:endParaRPr lang="zh-CN" altLang="en-US" sz="12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en-US" altLang="zh-CN" sz="1200" b="1">
                  <a:solidFill>
                    <a:srgbClr val="FFFFFF"/>
                  </a:solidFill>
                  <a:latin typeface="微软雅黑"/>
                  <a:ea typeface="微软雅黑"/>
                  <a:cs typeface="微软雅黑"/>
                </a:rPr>
                <a:t>KOC</a:t>
              </a:r>
              <a:endParaRPr lang="en-US" altLang="zh-CN" sz="1200" b="1">
                <a:solidFill>
                  <a:srgbClr val="FFFFFF"/>
                </a:solidFill>
                <a:latin typeface="微软雅黑"/>
                <a:ea typeface="微软雅黑"/>
                <a:cs typeface="微软雅黑"/>
              </a:endParaRPr>
            </a:p>
          </p:txBody>
        </p:sp>
        <p:sp>
          <p:nvSpPr>
            <p:cNvPr id="57" name="圆角矩形 56"/>
            <p:cNvSpPr/>
            <p:nvPr/>
          </p:nvSpPr>
          <p:spPr>
            <a:xfrm>
              <a:off x="3490" y="5132"/>
              <a:ext cx="2197" cy="1015"/>
            </a:xfrm>
            <a:prstGeom prst="roundRect">
              <a:avLst>
                <a:gd name="adj" fmla="val 13300"/>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sz="1100" b="1">
                  <a:solidFill>
                    <a:srgbClr val="0042FF"/>
                  </a:solidFill>
                  <a:latin typeface="微软雅黑"/>
                  <a:ea typeface="微软雅黑"/>
                  <a:cs typeface="微软雅黑"/>
                </a:rPr>
                <a:t>设计</a:t>
              </a:r>
              <a:r>
                <a:rPr lang="en-US" altLang="zh-CN" sz="1100" b="1">
                  <a:solidFill>
                    <a:srgbClr val="0042FF"/>
                  </a:solidFill>
                  <a:latin typeface="微软雅黑"/>
                  <a:ea typeface="微软雅黑"/>
                  <a:cs typeface="微软雅黑"/>
                </a:rPr>
                <a:t>“</a:t>
              </a:r>
              <a:r>
                <a:rPr lang="zh-CN" altLang="en-US" sz="1100" b="1">
                  <a:solidFill>
                    <a:srgbClr val="0042FF"/>
                  </a:solidFill>
                  <a:latin typeface="微软雅黑"/>
                  <a:ea typeface="微软雅黑"/>
                  <a:cs typeface="微软雅黑"/>
                </a:rPr>
                <a:t>微任务</a:t>
              </a:r>
              <a:r>
                <a:rPr lang="en-US" altLang="zh-CN" sz="1100" b="1">
                  <a:solidFill>
                    <a:srgbClr val="0042FF"/>
                  </a:solidFill>
                  <a:latin typeface="微软雅黑"/>
                  <a:ea typeface="微软雅黑"/>
                  <a:cs typeface="微软雅黑"/>
                </a:rPr>
                <a:t>”</a:t>
              </a:r>
              <a:r>
                <a:rPr lang="zh-CN" altLang="en-US" sz="1100" b="1">
                  <a:solidFill>
                    <a:srgbClr val="0042FF"/>
                  </a:solidFill>
                  <a:latin typeface="微软雅黑"/>
                  <a:ea typeface="微软雅黑"/>
                  <a:cs typeface="微软雅黑"/>
                </a:rPr>
                <a:t>激励漏斗与线下快闪体验</a:t>
              </a:r>
              <a:endParaRPr lang="zh-CN" altLang="en-US" sz="1100" b="1">
                <a:solidFill>
                  <a:srgbClr val="0042FF"/>
                </a:solidFill>
                <a:latin typeface="微软雅黑"/>
                <a:ea typeface="微软雅黑"/>
                <a:cs typeface="微软雅黑"/>
              </a:endParaRPr>
            </a:p>
          </p:txBody>
        </p:sp>
        <p:sp>
          <p:nvSpPr>
            <p:cNvPr id="58" name="右箭头 57"/>
            <p:cNvSpPr/>
            <p:nvPr/>
          </p:nvSpPr>
          <p:spPr>
            <a:xfrm>
              <a:off x="3156" y="5535"/>
              <a:ext cx="310" cy="210"/>
            </a:xfrm>
            <a:prstGeom prst="rightArrow">
              <a:avLst>
                <a:gd name="adj1" fmla="val 50000"/>
                <a:gd name="adj2" fmla="val 82857"/>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9" name="KMA6C131B"/>
            <p:cNvSpPr>
              <a:spLocks noChangeArrowheads="1"/>
            </p:cNvSpPr>
            <p:nvPr>
              <p:custDataLst>
                <p:tags r:id="rId6"/>
              </p:custDataLst>
            </p:nvPr>
          </p:nvSpPr>
          <p:spPr bwMode="auto">
            <a:xfrm>
              <a:off x="911" y="4190"/>
              <a:ext cx="4899" cy="464"/>
            </a:xfrm>
            <a:prstGeom prst="rect">
              <a:avLst/>
            </a:prstGeom>
            <a:noFill/>
            <a:ln>
              <a:noFill/>
            </a:ln>
            <a:effectLst/>
            <a:extLst>
              <a:ext uri="{909E8E84-426E-40DD-AFC4-6F175D3DCCD1}">
                <a14:hiddenFill xmlns:a14="http://schemas.microsoft.com/office/drawing/2010/main">
                  <a:solidFill>
                    <a:srgbClr val="0042FF"/>
                  </a:solidFill>
                </a14:hiddenFill>
              </a:ext>
              <a:ext uri="{91240B29-F687-4F45-9708-019B960494DF}">
                <a14:hiddenLine xmlns:a14="http://schemas.microsoft.com/office/drawing/2010/main" w="9525">
                  <a:solidFill>
                    <a:srgbClr val="383838"/>
                  </a:solidFill>
                  <a:miter lim="800000"/>
                  <a:headEnd/>
                  <a:tailEnd/>
                </a14:hiddenLine>
              </a:ext>
              <a:ext uri="{AF507438-7753-43E0-B8FC-AC1667EBCBE1}">
                <a14:hiddenEffects xmlns:a14="http://schemas.microsoft.com/office/drawing/2010/main">
                  <a:effectLst>
                    <a:outerShdw dist="35921" dir="2700000" algn="ctr" rotWithShape="0">
                      <a:srgbClr val="FFFFFF"/>
                    </a:outerShdw>
                  </a:effectLst>
                </a14:hiddenEffects>
              </a:ext>
            </a:extLst>
          </p:spPr>
          <p:txBody>
            <a:bodyPr wrap="square" lIns="46791" tIns="46791" rIns="46791" bIns="46791">
              <a:noAutofit/>
            </a:bodyPr>
            <a:lstStyle/>
            <a:p>
              <a:pPr indent="0" algn="ctr">
                <a:buFont typeface="微软雅黑"/>
                <a:buNone/>
                <a:defRPr>
                  <a:latin typeface="微软雅黑"/>
                  <a:ea typeface="微软雅黑"/>
                  <a:cs typeface="微软雅黑"/>
                </a:defRPr>
              </a:pPr>
              <a:r>
                <a:rPr lang="zh-CN" altLang="en-US" sz="1600" b="1" dirty="0">
                  <a:solidFill>
                    <a:srgbClr val="0042FF"/>
                  </a:solidFill>
                  <a:latin typeface="微软雅黑"/>
                  <a:ea typeface="微软雅黑"/>
                  <a:cs typeface="微软雅黑"/>
                  <a:sym typeface="微软雅黑"/>
                </a:rPr>
                <a:t>第三环节：价值裂变</a:t>
              </a:r>
              <a:endParaRPr lang="zh-CN" altLang="en-US" sz="1600" b="1" dirty="0">
                <a:solidFill>
                  <a:srgbClr val="0042FF"/>
                </a:solidFill>
                <a:latin typeface="微软雅黑"/>
                <a:ea typeface="微软雅黑"/>
                <a:cs typeface="微软雅黑"/>
                <a:sym typeface="微软雅黑"/>
              </a:endParaRPr>
            </a:p>
            <a:p>
              <a:pPr indent="0" algn="ctr">
                <a:buFont typeface="微软雅黑"/>
                <a:buNone/>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a:t>
              </a:r>
              <a:r>
                <a:rPr lang="zh-CN" sz="1200" dirty="0">
                  <a:solidFill>
                    <a:srgbClr val="383838"/>
                  </a:solidFill>
                  <a:latin typeface="微软雅黑"/>
                  <a:ea typeface="微软雅黑"/>
                  <a:cs typeface="微软雅黑"/>
                  <a:sym typeface="微软雅黑"/>
                </a:rPr>
                <a:t>品牌活动运营</a:t>
              </a:r>
              <a:r>
                <a:rPr lang="en-US" altLang="zh-CN" sz="1200" dirty="0">
                  <a:solidFill>
                    <a:srgbClr val="383838"/>
                  </a:solidFill>
                  <a:latin typeface="微软雅黑"/>
                  <a:ea typeface="微软雅黑"/>
                  <a:cs typeface="微软雅黑"/>
                  <a:sym typeface="微软雅黑"/>
                </a:rPr>
                <a:t>+</a:t>
              </a:r>
              <a:r>
                <a:rPr lang="zh-CN" altLang="en-US" sz="1200" dirty="0">
                  <a:solidFill>
                    <a:srgbClr val="383838"/>
                  </a:solidFill>
                  <a:latin typeface="微软雅黑"/>
                  <a:ea typeface="微软雅黑"/>
                  <a:cs typeface="微软雅黑"/>
                  <a:sym typeface="微软雅黑"/>
                </a:rPr>
                <a:t>实体同城获客）</a:t>
              </a:r>
              <a:endParaRPr lang="zh-CN" altLang="en-US" sz="1200" dirty="0">
                <a:solidFill>
                  <a:srgbClr val="383838"/>
                </a:solidFill>
                <a:latin typeface="微软雅黑"/>
                <a:ea typeface="微软雅黑"/>
                <a:cs typeface="微软雅黑"/>
                <a:sym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7"/>
            <a:srcRect l="17002" t="-1765" r="56499" b="-1176"/>
            <a:stretch>
              <a:fillRect/>
            </a:stretch>
          </p:blipFill>
          <p:spPr>
            <a:xfrm>
              <a:off x="13761" y="549"/>
              <a:ext cx="1582" cy="525"/>
            </a:xfrm>
            <a:prstGeom prst="rect">
              <a:avLst/>
            </a:prstGeom>
          </p:spPr>
        </p:pic>
        <p:sp>
          <p:nvSpPr>
            <p:cNvPr id="20" name="文本框 19"/>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运营流量转化策略流程</a:t>
            </a:r>
            <a:endParaRPr sz="2500" b="0">
              <a:solidFill>
                <a:srgbClr val="383838"/>
              </a:solidFill>
              <a:effectLst/>
              <a:latin typeface="微软雅黑"/>
              <a:ea typeface="微软雅黑"/>
              <a:cs typeface="微软雅黑"/>
            </a:endParaRPr>
          </a:p>
        </p:txBody>
      </p:sp>
      <p:pic>
        <p:nvPicPr>
          <p:cNvPr id="6" name="图片 5"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矩形: 圆角 6"/>
          <p:cNvSpPr/>
          <p:nvPr/>
        </p:nvSpPr>
        <p:spPr>
          <a:xfrm>
            <a:off x="3712210" y="2796540"/>
            <a:ext cx="1911350" cy="859790"/>
          </a:xfrm>
          <a:prstGeom prst="roundRect">
            <a:avLst>
              <a:gd name="adj" fmla="val 7866"/>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0" name="文本框 9"/>
          <p:cNvSpPr txBox="1"/>
          <p:nvPr/>
        </p:nvSpPr>
        <p:spPr>
          <a:xfrm>
            <a:off x="3733165" y="3034665"/>
            <a:ext cx="1868805" cy="368300"/>
          </a:xfrm>
          <a:prstGeom prst="rect">
            <a:avLst/>
          </a:prstGeom>
          <a:noFill/>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b="1" spc="150" dirty="0">
                <a:solidFill>
                  <a:srgbClr val="FFFFFF"/>
                </a:solidFill>
                <a:latin typeface="微软雅黑"/>
                <a:ea typeface="微软雅黑"/>
                <a:cs typeface="微软雅黑"/>
                <a:sym typeface="微软雅黑"/>
              </a:rPr>
              <a:t>抖音团购</a:t>
            </a:r>
            <a:r>
              <a:rPr lang="en-US" altLang="zh-CN" b="1" spc="150" dirty="0">
                <a:solidFill>
                  <a:srgbClr val="FFFFFF"/>
                </a:solidFill>
                <a:latin typeface="微软雅黑"/>
                <a:ea typeface="微软雅黑"/>
                <a:cs typeface="微软雅黑"/>
                <a:sym typeface="微软雅黑"/>
              </a:rPr>
              <a:t>/</a:t>
            </a:r>
            <a:r>
              <a:rPr lang="zh-CN" altLang="en-US" b="1" spc="150" dirty="0">
                <a:solidFill>
                  <a:srgbClr val="FFFFFF"/>
                </a:solidFill>
                <a:latin typeface="微软雅黑"/>
                <a:ea typeface="微软雅黑"/>
                <a:cs typeface="微软雅黑"/>
                <a:sym typeface="微软雅黑"/>
              </a:rPr>
              <a:t>直播</a:t>
            </a:r>
            <a:endParaRPr lang="zh-CN" altLang="en-US" b="1" spc="150" dirty="0">
              <a:solidFill>
                <a:srgbClr val="FFFFFF"/>
              </a:solidFill>
              <a:latin typeface="微软雅黑"/>
              <a:ea typeface="微软雅黑"/>
              <a:cs typeface="微软雅黑"/>
              <a:sym typeface="微软雅黑"/>
            </a:endParaRPr>
          </a:p>
        </p:txBody>
      </p:sp>
      <p:grpSp>
        <p:nvGrpSpPr>
          <p:cNvPr id="20" name="组合 19"/>
          <p:cNvGrpSpPr/>
          <p:nvPr/>
        </p:nvGrpSpPr>
        <p:grpSpPr>
          <a:xfrm rot="0">
            <a:off x="6749415" y="2796540"/>
            <a:ext cx="1911350" cy="859790"/>
            <a:chOff x="6770762" y="3094606"/>
            <a:chExt cx="1841137" cy="828043"/>
          </a:xfrm>
          <a:solidFill>
            <a:srgbClr val="668EFF"/>
          </a:solidFill>
        </p:grpSpPr>
        <p:sp>
          <p:nvSpPr>
            <p:cNvPr id="21" name="矩形: 圆角 9"/>
            <p:cNvSpPr/>
            <p:nvPr/>
          </p:nvSpPr>
          <p:spPr>
            <a:xfrm>
              <a:off x="6770762" y="3094606"/>
              <a:ext cx="1841137" cy="828043"/>
            </a:xfrm>
            <a:prstGeom prst="roundRect">
              <a:avLst>
                <a:gd name="adj" fmla="val 7866"/>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22" name="文本框 21"/>
            <p:cNvSpPr txBox="1"/>
            <p:nvPr/>
          </p:nvSpPr>
          <p:spPr>
            <a:xfrm>
              <a:off x="6851999" y="3323961"/>
              <a:ext cx="1678665" cy="354764"/>
            </a:xfrm>
            <a:prstGeom prst="rect">
              <a:avLst/>
            </a:prstGeom>
            <a:noFill/>
            <a:extLst>
              <a:ext uri="{909E8E84-426E-40DD-AFC4-6F175D3DCCD1}">
                <a14:hiddenFill xmlns:a14="http://schemas.microsoft.com/office/drawing/2010/main">
                  <a:grpFill/>
                </a14:hiddenFill>
              </a:ext>
            </a:extLst>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b="1" spc="150" dirty="0">
                  <a:solidFill>
                    <a:srgbClr val="FFFFFF"/>
                  </a:solidFill>
                  <a:latin typeface="微软雅黑"/>
                  <a:ea typeface="微软雅黑"/>
                  <a:cs typeface="微软雅黑"/>
                  <a:sym typeface="微软雅黑"/>
                </a:rPr>
                <a:t>抖音种草视频</a:t>
              </a:r>
              <a:endParaRPr lang="zh-CN" altLang="en-US" b="1" spc="150" dirty="0">
                <a:solidFill>
                  <a:srgbClr val="FFFFFF"/>
                </a:solidFill>
                <a:latin typeface="微软雅黑"/>
                <a:ea typeface="微软雅黑"/>
                <a:cs typeface="微软雅黑"/>
                <a:sym typeface="微软雅黑"/>
              </a:endParaRPr>
            </a:p>
          </p:txBody>
        </p:sp>
      </p:grpSp>
      <p:grpSp>
        <p:nvGrpSpPr>
          <p:cNvPr id="23" name="组合 22"/>
          <p:cNvGrpSpPr/>
          <p:nvPr/>
        </p:nvGrpSpPr>
        <p:grpSpPr>
          <a:xfrm rot="0">
            <a:off x="9789160" y="2796540"/>
            <a:ext cx="1911350" cy="859790"/>
            <a:chOff x="9520072" y="3094606"/>
            <a:chExt cx="1841137" cy="828043"/>
          </a:xfrm>
          <a:solidFill>
            <a:srgbClr val="0042FF"/>
          </a:solidFill>
        </p:grpSpPr>
        <p:sp>
          <p:nvSpPr>
            <p:cNvPr id="24" name="矩形: 圆角 12"/>
            <p:cNvSpPr/>
            <p:nvPr/>
          </p:nvSpPr>
          <p:spPr>
            <a:xfrm>
              <a:off x="9520072" y="3094606"/>
              <a:ext cx="1841137" cy="828043"/>
            </a:xfrm>
            <a:prstGeom prst="roundRect">
              <a:avLst>
                <a:gd name="adj" fmla="val 7866"/>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25" name="文本框 24"/>
            <p:cNvSpPr txBox="1"/>
            <p:nvPr/>
          </p:nvSpPr>
          <p:spPr>
            <a:xfrm>
              <a:off x="9526793" y="3323961"/>
              <a:ext cx="1803699" cy="354764"/>
            </a:xfrm>
            <a:prstGeom prst="rect">
              <a:avLst/>
            </a:prstGeom>
            <a:noFill/>
            <a:extLst>
              <a:ext uri="{909E8E84-426E-40DD-AFC4-6F175D3DCCD1}">
                <a14:hiddenFill xmlns:a14="http://schemas.microsoft.com/office/drawing/2010/main">
                  <a:grpFill/>
                </a14:hiddenFill>
              </a:ext>
            </a:extLst>
          </p:spPr>
          <p:txBody>
            <a:bodyPr wrap="square" rtlCol="0" lIns="0" rIns="0" tIns="0" bIns="0">
              <a:spAutoFit/>
            </a:bodyPr>
            <a:lstStyle/>
            <a:p>
              <a:pPr algn="ctr">
                <a:defRPr>
                  <a:solidFill>
                    <a:srgbClr val="FFFFFF"/>
                  </a:solidFill>
                  <a:latin typeface="微软雅黑"/>
                  <a:ea typeface="微软雅黑"/>
                  <a:cs typeface="微软雅黑"/>
                </a:defRPr>
              </a:pPr>
              <a:r>
                <a:rPr lang="zh-CN" altLang="en-US" b="1" spc="150" dirty="0">
                  <a:solidFill>
                    <a:srgbClr val="FFFFFF"/>
                  </a:solidFill>
                  <a:latin typeface="微软雅黑"/>
                  <a:ea typeface="微软雅黑"/>
                  <a:cs typeface="微软雅黑"/>
                  <a:sym typeface="微软雅黑"/>
                </a:rPr>
                <a:t>抖音销售</a:t>
              </a:r>
              <a:r>
                <a:rPr lang="en-US" altLang="zh-CN" b="1" spc="150" dirty="0">
                  <a:solidFill>
                    <a:srgbClr val="FFFFFF"/>
                  </a:solidFill>
                  <a:latin typeface="微软雅黑"/>
                  <a:ea typeface="微软雅黑"/>
                  <a:cs typeface="微软雅黑"/>
                  <a:sym typeface="微软雅黑"/>
                </a:rPr>
                <a:t>GMV</a:t>
              </a:r>
              <a:endParaRPr lang="zh-CN" altLang="en-US" b="1" spc="150" dirty="0">
                <a:solidFill>
                  <a:srgbClr val="FFFFFF"/>
                </a:solidFill>
                <a:latin typeface="微软雅黑"/>
                <a:ea typeface="微软雅黑"/>
                <a:cs typeface="微软雅黑"/>
                <a:sym typeface="微软雅黑"/>
              </a:endParaRPr>
            </a:p>
          </p:txBody>
        </p:sp>
      </p:grpSp>
      <p:sp>
        <p:nvSpPr>
          <p:cNvPr id="26" name="文本框 25"/>
          <p:cNvSpPr txBox="1"/>
          <p:nvPr/>
        </p:nvSpPr>
        <p:spPr>
          <a:xfrm>
            <a:off x="6683375" y="1344295"/>
            <a:ext cx="1998980" cy="737235"/>
          </a:xfrm>
          <a:prstGeom prst="rect">
            <a:avLst/>
          </a:prstGeom>
          <a:noFill/>
        </p:spPr>
        <p:txBody>
          <a:bodyPr wrap="square" rtlCol="0">
            <a:spAutoFit/>
          </a:bodyPr>
          <a:lstStyle/>
          <a:p>
            <a:pPr algn="ctr">
              <a:lnSpc>
                <a:spcPct val="150000"/>
              </a:lnSpc>
              <a:defRPr>
                <a:latin typeface="微软雅黑"/>
                <a:ea typeface="微软雅黑"/>
                <a:cs typeface="微软雅黑"/>
              </a:defRPr>
            </a:pPr>
            <a:r>
              <a:rPr lang="zh-CN" altLang="en-US" sz="1400" b="1" spc="150" dirty="0">
                <a:solidFill>
                  <a:srgbClr val="0042FF"/>
                </a:solidFill>
                <a:latin typeface="微软雅黑"/>
                <a:ea typeface="微软雅黑"/>
                <a:cs typeface="微软雅黑"/>
                <a:sym typeface="微软雅黑"/>
              </a:rPr>
              <a:t>蓝</a:t>
            </a:r>
            <a:r>
              <a:rPr lang="en-US" altLang="zh-CN" sz="1400" b="1" spc="150" dirty="0">
                <a:solidFill>
                  <a:srgbClr val="0042FF"/>
                </a:solidFill>
                <a:latin typeface="微软雅黑"/>
                <a:ea typeface="微软雅黑"/>
                <a:cs typeface="微软雅黑"/>
                <a:sym typeface="微软雅黑"/>
              </a:rPr>
              <a:t>V</a:t>
            </a:r>
            <a:r>
              <a:rPr lang="zh-CN" altLang="en-US" sz="1400" b="1" spc="150" dirty="0">
                <a:solidFill>
                  <a:srgbClr val="0042FF"/>
                </a:solidFill>
                <a:latin typeface="微软雅黑"/>
                <a:ea typeface="微软雅黑"/>
                <a:cs typeface="微软雅黑"/>
                <a:sym typeface="微软雅黑"/>
              </a:rPr>
              <a:t>企业号</a:t>
            </a:r>
            <a:endParaRPr lang="en-US" altLang="zh-CN" sz="1400" b="1" spc="150" dirty="0">
              <a:solidFill>
                <a:srgbClr val="0042FF"/>
              </a:solidFill>
              <a:latin typeface="微软雅黑"/>
              <a:ea typeface="微软雅黑"/>
              <a:cs typeface="微软雅黑"/>
              <a:sym typeface="微软雅黑"/>
            </a:endParaRPr>
          </a:p>
          <a:p>
            <a:pPr algn="ctr">
              <a:lnSpc>
                <a:spcPct val="150000"/>
              </a:lnSpc>
              <a:defRPr>
                <a:latin typeface="微软雅黑"/>
                <a:ea typeface="微软雅黑"/>
                <a:cs typeface="微软雅黑"/>
              </a:defRPr>
            </a:pPr>
            <a:r>
              <a:rPr lang="zh-CN" altLang="en-US" sz="1400" b="1" spc="150" dirty="0">
                <a:solidFill>
                  <a:srgbClr val="0042FF"/>
                </a:solidFill>
                <a:latin typeface="微软雅黑"/>
                <a:ea typeface="微软雅黑"/>
                <a:cs typeface="微软雅黑"/>
                <a:sym typeface="微软雅黑"/>
              </a:rPr>
              <a:t>私域粉丝积累</a:t>
            </a:r>
            <a:endParaRPr lang="zh-CN" altLang="en-US" sz="1400" b="1" spc="150" dirty="0">
              <a:solidFill>
                <a:srgbClr val="0042FF"/>
              </a:solidFill>
              <a:latin typeface="微软雅黑"/>
              <a:ea typeface="微软雅黑"/>
              <a:cs typeface="微软雅黑"/>
              <a:sym typeface="微软雅黑"/>
            </a:endParaRPr>
          </a:p>
        </p:txBody>
      </p:sp>
      <p:sp>
        <p:nvSpPr>
          <p:cNvPr id="27" name="文本框 26"/>
          <p:cNvSpPr txBox="1"/>
          <p:nvPr/>
        </p:nvSpPr>
        <p:spPr>
          <a:xfrm>
            <a:off x="7729220" y="2119630"/>
            <a:ext cx="1127125" cy="64516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关注</a:t>
            </a:r>
            <a:endParaRPr lang="en-US" altLang="zh-CN" sz="1200" spc="150" dirty="0">
              <a:solidFill>
                <a:srgbClr val="383838"/>
              </a:solidFill>
              <a:latin typeface="微软雅黑"/>
              <a:ea typeface="微软雅黑"/>
              <a:cs typeface="微软雅黑"/>
              <a:sym typeface="微软雅黑"/>
            </a:endParaRPr>
          </a:p>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粉丝沉淀</a:t>
            </a:r>
            <a:endParaRPr lang="zh-CN" altLang="en-US" sz="1200" spc="150" dirty="0">
              <a:solidFill>
                <a:srgbClr val="383838"/>
              </a:solidFill>
              <a:latin typeface="微软雅黑"/>
              <a:ea typeface="微软雅黑"/>
              <a:cs typeface="微软雅黑"/>
              <a:sym typeface="微软雅黑"/>
            </a:endParaRPr>
          </a:p>
        </p:txBody>
      </p:sp>
      <p:cxnSp>
        <p:nvCxnSpPr>
          <p:cNvPr id="28" name="直接箭头连接符 27"/>
          <p:cNvCxnSpPr/>
          <p:nvPr/>
        </p:nvCxnSpPr>
        <p:spPr>
          <a:xfrm flipV="1">
            <a:off x="7705090" y="2132330"/>
            <a:ext cx="0" cy="663575"/>
          </a:xfrm>
          <a:prstGeom prst="straightConnector1">
            <a:avLst/>
          </a:prstGeom>
          <a:ln w="38100">
            <a:gradFill>
              <a:gsLst>
                <a:gs pos="100000">
                  <a:srgbClr val="0042FF"/>
                </a:gs>
                <a:gs pos="0">
                  <a:srgbClr val="3368FF"/>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cxnSp>
        <p:nvCxnSpPr>
          <p:cNvPr id="29" name="直接箭头连接符 28"/>
          <p:cNvCxnSpPr/>
          <p:nvPr/>
        </p:nvCxnSpPr>
        <p:spPr>
          <a:xfrm>
            <a:off x="10732135" y="1778635"/>
            <a:ext cx="0" cy="1017905"/>
          </a:xfrm>
          <a:prstGeom prst="straightConnector1">
            <a:avLst/>
          </a:prstGeom>
          <a:ln w="38100">
            <a:gradFill>
              <a:gsLst>
                <a:gs pos="100000">
                  <a:srgbClr val="0042FF"/>
                </a:gs>
                <a:gs pos="0">
                  <a:srgbClr val="3368FF"/>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cxnSp>
        <p:nvCxnSpPr>
          <p:cNvPr id="31" name="直接箭头连接符 30"/>
          <p:cNvCxnSpPr/>
          <p:nvPr/>
        </p:nvCxnSpPr>
        <p:spPr>
          <a:xfrm flipH="1">
            <a:off x="4631690" y="1758315"/>
            <a:ext cx="2338070" cy="0"/>
          </a:xfrm>
          <a:prstGeom prst="straightConnector1">
            <a:avLst/>
          </a:prstGeom>
          <a:ln w="38100">
            <a:gradFill flip="none" rotWithShape="1">
              <a:gsLst>
                <a:gs pos="0">
                  <a:srgbClr val="0042FF"/>
                </a:gs>
                <a:gs pos="100000">
                  <a:srgbClr val="3368FF"/>
                </a:gs>
              </a:gsLst>
              <a:lin ang="0" scaled="1"/>
              <a:tileRect/>
            </a:gradFill>
            <a:tailEnd type="none" w="lg" len="lg"/>
          </a:ln>
        </p:spPr>
        <p:style>
          <a:lnRef idx="1">
            <a:srgbClr val="0042FF"/>
          </a:lnRef>
          <a:fillRef idx="0">
            <a:srgbClr val="0042FF"/>
          </a:fillRef>
          <a:effectRef idx="0">
            <a:srgbClr val="0042FF"/>
          </a:effectRef>
          <a:fontRef idx="minor">
            <a:srgbClr val="383838"/>
          </a:fontRef>
        </p:style>
      </p:cxnSp>
      <p:cxnSp>
        <p:nvCxnSpPr>
          <p:cNvPr id="36" name="直接箭头连接符 35"/>
          <p:cNvCxnSpPr/>
          <p:nvPr/>
        </p:nvCxnSpPr>
        <p:spPr>
          <a:xfrm rot="10800000" flipH="1">
            <a:off x="8409940" y="1758315"/>
            <a:ext cx="2338070" cy="0"/>
          </a:xfrm>
          <a:prstGeom prst="straightConnector1">
            <a:avLst/>
          </a:prstGeom>
          <a:ln w="38100">
            <a:gradFill flip="none" rotWithShape="1">
              <a:gsLst>
                <a:gs pos="0">
                  <a:srgbClr val="0042FF"/>
                </a:gs>
                <a:gs pos="100000">
                  <a:srgbClr val="3368FF"/>
                </a:gs>
              </a:gsLst>
              <a:lin ang="0" scaled="1"/>
              <a:tileRect/>
            </a:gradFill>
            <a:tailEnd type="none" w="lg" len="lg"/>
          </a:ln>
        </p:spPr>
        <p:style>
          <a:lnRef idx="1">
            <a:srgbClr val="0042FF"/>
          </a:lnRef>
          <a:fillRef idx="0">
            <a:srgbClr val="0042FF"/>
          </a:fillRef>
          <a:effectRef idx="0">
            <a:srgbClr val="0042FF"/>
          </a:effectRef>
          <a:fontRef idx="minor">
            <a:srgbClr val="383838"/>
          </a:fontRef>
        </p:style>
      </p:cxnSp>
      <p:sp>
        <p:nvSpPr>
          <p:cNvPr id="38" name="文本框 37"/>
          <p:cNvSpPr txBox="1"/>
          <p:nvPr/>
        </p:nvSpPr>
        <p:spPr>
          <a:xfrm>
            <a:off x="9015730" y="1783080"/>
            <a:ext cx="1127125" cy="368300"/>
          </a:xfrm>
          <a:prstGeom prst="rect">
            <a:avLst/>
          </a:prstGeom>
          <a:noFill/>
        </p:spPr>
        <p:txBody>
          <a:bodyPr wrap="square" rtlCol="0">
            <a:spAutoFit/>
          </a:bodyPr>
          <a:lstStyle/>
          <a:p>
            <a:pPr algn="ct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粉丝复购</a:t>
            </a:r>
            <a:endParaRPr lang="zh-CN" altLang="en-US" sz="1200" spc="150" dirty="0">
              <a:solidFill>
                <a:srgbClr val="383838"/>
              </a:solidFill>
              <a:latin typeface="微软雅黑"/>
              <a:ea typeface="微软雅黑"/>
              <a:cs typeface="微软雅黑"/>
              <a:sym typeface="微软雅黑"/>
            </a:endParaRPr>
          </a:p>
        </p:txBody>
      </p:sp>
      <p:sp>
        <p:nvSpPr>
          <p:cNvPr id="48" name="文本框 47"/>
          <p:cNvSpPr txBox="1"/>
          <p:nvPr/>
        </p:nvSpPr>
        <p:spPr>
          <a:xfrm>
            <a:off x="5233670" y="1760855"/>
            <a:ext cx="1127125" cy="368300"/>
          </a:xfrm>
          <a:prstGeom prst="rect">
            <a:avLst/>
          </a:prstGeom>
          <a:noFill/>
        </p:spPr>
        <p:txBody>
          <a:bodyPr wrap="square" rtlCol="0">
            <a:spAutoFit/>
          </a:bodyPr>
          <a:lstStyle/>
          <a:p>
            <a:pPr algn="ct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活动造节</a:t>
            </a:r>
            <a:endParaRPr lang="zh-CN" altLang="en-US" sz="1200" spc="150" dirty="0">
              <a:solidFill>
                <a:srgbClr val="383838"/>
              </a:solidFill>
              <a:latin typeface="微软雅黑"/>
              <a:ea typeface="微软雅黑"/>
              <a:cs typeface="微软雅黑"/>
              <a:sym typeface="微软雅黑"/>
            </a:endParaRPr>
          </a:p>
        </p:txBody>
      </p:sp>
      <p:sp>
        <p:nvSpPr>
          <p:cNvPr id="49" name="文本框 48"/>
          <p:cNvSpPr txBox="1"/>
          <p:nvPr/>
        </p:nvSpPr>
        <p:spPr>
          <a:xfrm>
            <a:off x="5078095" y="1388110"/>
            <a:ext cx="1437640" cy="368300"/>
          </a:xfrm>
          <a:prstGeom prst="rect">
            <a:avLst/>
          </a:prstGeom>
          <a:noFill/>
        </p:spPr>
        <p:txBody>
          <a:bodyPr wrap="square" rtlCol="0">
            <a:spAutoFit/>
          </a:bodyPr>
          <a:lstStyle/>
          <a:p>
            <a:pPr algn="ct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针对性营销召回</a:t>
            </a:r>
            <a:endParaRPr lang="zh-CN" altLang="en-US" sz="1200" spc="150" dirty="0">
              <a:solidFill>
                <a:srgbClr val="383838"/>
              </a:solidFill>
              <a:latin typeface="微软雅黑"/>
              <a:ea typeface="微软雅黑"/>
              <a:cs typeface="微软雅黑"/>
              <a:sym typeface="微软雅黑"/>
            </a:endParaRPr>
          </a:p>
        </p:txBody>
      </p:sp>
      <p:sp>
        <p:nvSpPr>
          <p:cNvPr id="50" name="文本框 49"/>
          <p:cNvSpPr txBox="1"/>
          <p:nvPr/>
        </p:nvSpPr>
        <p:spPr>
          <a:xfrm>
            <a:off x="4678680" y="2051050"/>
            <a:ext cx="1127125" cy="64516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引流品</a:t>
            </a:r>
            <a:endParaRPr lang="en-US" altLang="zh-CN" sz="1200" spc="150" dirty="0">
              <a:solidFill>
                <a:srgbClr val="383838"/>
              </a:solidFill>
              <a:latin typeface="微软雅黑"/>
              <a:ea typeface="微软雅黑"/>
              <a:cs typeface="微软雅黑"/>
              <a:sym typeface="微软雅黑"/>
            </a:endParaRPr>
          </a:p>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利润品</a:t>
            </a:r>
            <a:endParaRPr lang="zh-CN" altLang="en-US" sz="1200" spc="150" dirty="0">
              <a:solidFill>
                <a:srgbClr val="383838"/>
              </a:solidFill>
              <a:latin typeface="微软雅黑"/>
              <a:ea typeface="微软雅黑"/>
              <a:cs typeface="微软雅黑"/>
              <a:sym typeface="微软雅黑"/>
            </a:endParaRPr>
          </a:p>
        </p:txBody>
      </p:sp>
      <p:sp>
        <p:nvSpPr>
          <p:cNvPr id="51" name="文本框 50"/>
          <p:cNvSpPr txBox="1"/>
          <p:nvPr/>
        </p:nvSpPr>
        <p:spPr>
          <a:xfrm>
            <a:off x="3644265" y="4617085"/>
            <a:ext cx="1998980" cy="414020"/>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50000"/>
              </a:lnSpc>
              <a:defRPr sz="1400" b="1" spc="150">
                <a:solidFill>
                  <a:srgbClr val="0042FF"/>
                </a:solidFill>
                <a:latin typeface="微软雅黑"/>
                <a:ea typeface="微软雅黑"/>
                <a:cs typeface="微软雅黑"/>
              </a:defRPr>
            </a:lvl1pPr>
          </a:lstStyle>
          <a:p>
            <a:pPr>
              <a:defRPr>
                <a:latin typeface="微软雅黑"/>
                <a:ea typeface="微软雅黑"/>
                <a:cs typeface="微软雅黑"/>
              </a:defRPr>
            </a:pPr>
            <a:r>
              <a:rPr lang="zh-CN" altLang="en-US" dirty="0">
                <a:solidFill>
                  <a:srgbClr val="0042FF"/>
                </a:solidFill>
                <a:cs typeface="微软雅黑"/>
                <a:sym typeface="微软雅黑"/>
                <a:latin typeface="微软雅黑"/>
                <a:ea typeface="微软雅黑"/>
              </a:rPr>
              <a:t>品牌内容力</a:t>
            </a:r>
            <a:r>
              <a:rPr lang="en-US" altLang="zh-CN" dirty="0">
                <a:solidFill>
                  <a:srgbClr val="0042FF"/>
                </a:solidFill>
                <a:cs typeface="微软雅黑"/>
                <a:sym typeface="微软雅黑"/>
                <a:latin typeface="微软雅黑"/>
                <a:ea typeface="微软雅黑"/>
              </a:rPr>
              <a:t>/</a:t>
            </a:r>
            <a:r>
              <a:rPr lang="zh-CN" altLang="en-US" dirty="0">
                <a:solidFill>
                  <a:srgbClr val="0042FF"/>
                </a:solidFill>
                <a:cs typeface="微软雅黑"/>
                <a:sym typeface="微软雅黑"/>
                <a:latin typeface="微软雅黑"/>
                <a:ea typeface="微软雅黑"/>
              </a:rPr>
              <a:t>影响力</a:t>
            </a:r>
            <a:endParaRPr lang="zh-CN" altLang="en-US" dirty="0">
              <a:solidFill>
                <a:srgbClr val="0042FF"/>
              </a:solidFill>
              <a:cs typeface="微软雅黑"/>
              <a:sym typeface="微软雅黑"/>
              <a:latin typeface="微软雅黑"/>
              <a:ea typeface="微软雅黑"/>
            </a:endParaRPr>
          </a:p>
        </p:txBody>
      </p:sp>
      <p:sp>
        <p:nvSpPr>
          <p:cNvPr id="52" name="文本框 51"/>
          <p:cNvSpPr txBox="1"/>
          <p:nvPr/>
        </p:nvSpPr>
        <p:spPr>
          <a:xfrm>
            <a:off x="3608705" y="5917565"/>
            <a:ext cx="1998980" cy="414020"/>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50000"/>
              </a:lnSpc>
              <a:defRPr sz="1400" b="1" spc="150">
                <a:solidFill>
                  <a:srgbClr val="0042FF"/>
                </a:solidFill>
                <a:latin typeface="微软雅黑"/>
                <a:ea typeface="微软雅黑"/>
                <a:cs typeface="微软雅黑"/>
              </a:defRPr>
            </a:lvl1pPr>
          </a:lstStyle>
          <a:p>
            <a:pPr>
              <a:defRPr>
                <a:latin typeface="微软雅黑"/>
                <a:ea typeface="微软雅黑"/>
                <a:cs typeface="微软雅黑"/>
              </a:defRPr>
            </a:pPr>
            <a:r>
              <a:rPr lang="zh-CN" altLang="en-US" dirty="0">
                <a:solidFill>
                  <a:srgbClr val="0042FF"/>
                </a:solidFill>
                <a:cs typeface="微软雅黑"/>
                <a:sym typeface="微软雅黑"/>
                <a:latin typeface="微软雅黑"/>
                <a:ea typeface="微软雅黑"/>
              </a:rPr>
              <a:t>达人带货</a:t>
            </a:r>
            <a:r>
              <a:rPr lang="en-US" altLang="zh-CN" dirty="0">
                <a:solidFill>
                  <a:srgbClr val="0042FF"/>
                </a:solidFill>
                <a:cs typeface="微软雅黑"/>
                <a:sym typeface="微软雅黑"/>
                <a:latin typeface="微软雅黑"/>
                <a:ea typeface="微软雅黑"/>
              </a:rPr>
              <a:t>/</a:t>
            </a:r>
            <a:r>
              <a:rPr lang="zh-CN" altLang="en-US" dirty="0">
                <a:solidFill>
                  <a:srgbClr val="0042FF"/>
                </a:solidFill>
                <a:cs typeface="微软雅黑"/>
                <a:sym typeface="微软雅黑"/>
                <a:latin typeface="微软雅黑"/>
                <a:ea typeface="微软雅黑"/>
              </a:rPr>
              <a:t>直播</a:t>
            </a:r>
            <a:endParaRPr lang="zh-CN" altLang="en-US" dirty="0">
              <a:solidFill>
                <a:srgbClr val="0042FF"/>
              </a:solidFill>
              <a:cs typeface="微软雅黑"/>
              <a:sym typeface="微软雅黑"/>
              <a:latin typeface="微软雅黑"/>
              <a:ea typeface="微软雅黑"/>
            </a:endParaRPr>
          </a:p>
        </p:txBody>
      </p:sp>
      <p:cxnSp>
        <p:nvCxnSpPr>
          <p:cNvPr id="53" name="直接箭头连接符 52"/>
          <p:cNvCxnSpPr/>
          <p:nvPr/>
        </p:nvCxnSpPr>
        <p:spPr>
          <a:xfrm>
            <a:off x="4599305" y="3656330"/>
            <a:ext cx="0" cy="1017905"/>
          </a:xfrm>
          <a:prstGeom prst="straightConnector1">
            <a:avLst/>
          </a:prstGeom>
          <a:ln w="38100">
            <a:gradFill>
              <a:gsLst>
                <a:gs pos="0">
                  <a:srgbClr val="0042FF"/>
                </a:gs>
                <a:gs pos="100000">
                  <a:srgbClr val="3368FF"/>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cxnSp>
        <p:nvCxnSpPr>
          <p:cNvPr id="60" name="直接箭头连接符 59"/>
          <p:cNvCxnSpPr/>
          <p:nvPr/>
        </p:nvCxnSpPr>
        <p:spPr>
          <a:xfrm>
            <a:off x="4599305" y="5010785"/>
            <a:ext cx="0" cy="1017905"/>
          </a:xfrm>
          <a:prstGeom prst="straightConnector1">
            <a:avLst/>
          </a:prstGeom>
          <a:ln w="38100">
            <a:gradFill>
              <a:gsLst>
                <a:gs pos="0">
                  <a:srgbClr val="3368FF"/>
                </a:gs>
                <a:gs pos="100000">
                  <a:srgbClr val="B3D4FE"/>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cxnSp>
        <p:nvCxnSpPr>
          <p:cNvPr id="61" name="直接箭头连接符 60"/>
          <p:cNvCxnSpPr/>
          <p:nvPr/>
        </p:nvCxnSpPr>
        <p:spPr>
          <a:xfrm flipH="1">
            <a:off x="5590540" y="4846320"/>
            <a:ext cx="2145030" cy="0"/>
          </a:xfrm>
          <a:prstGeom prst="straightConnector1">
            <a:avLst/>
          </a:prstGeom>
          <a:ln w="38100">
            <a:gradFill flip="none" rotWithShape="1">
              <a:gsLst>
                <a:gs pos="0">
                  <a:srgbClr val="B3D4FE"/>
                </a:gs>
                <a:gs pos="100000">
                  <a:srgbClr val="3368FF"/>
                </a:gs>
              </a:gsLst>
              <a:lin ang="0" scaled="1"/>
              <a:tileRect/>
            </a:gradFill>
            <a:tailEnd type="none" w="lg" len="lg"/>
          </a:ln>
        </p:spPr>
        <p:style>
          <a:lnRef idx="1">
            <a:srgbClr val="0042FF"/>
          </a:lnRef>
          <a:fillRef idx="0">
            <a:srgbClr val="0042FF"/>
          </a:fillRef>
          <a:effectRef idx="0">
            <a:srgbClr val="0042FF"/>
          </a:effectRef>
          <a:fontRef idx="minor">
            <a:srgbClr val="383838"/>
          </a:fontRef>
        </p:style>
      </p:cxnSp>
      <p:cxnSp>
        <p:nvCxnSpPr>
          <p:cNvPr id="62" name="直接箭头连接符 61"/>
          <p:cNvCxnSpPr/>
          <p:nvPr/>
        </p:nvCxnSpPr>
        <p:spPr>
          <a:xfrm flipV="1">
            <a:off x="7729220" y="3656330"/>
            <a:ext cx="0" cy="1190625"/>
          </a:xfrm>
          <a:prstGeom prst="straightConnector1">
            <a:avLst/>
          </a:prstGeom>
          <a:ln w="38100">
            <a:gradFill>
              <a:gsLst>
                <a:gs pos="100000">
                  <a:srgbClr val="3368FF"/>
                </a:gs>
                <a:gs pos="0">
                  <a:srgbClr val="B3D4FE"/>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cxnSp>
        <p:nvCxnSpPr>
          <p:cNvPr id="63" name="直接箭头连接符 62"/>
          <p:cNvCxnSpPr/>
          <p:nvPr/>
        </p:nvCxnSpPr>
        <p:spPr>
          <a:xfrm flipH="1">
            <a:off x="5297170" y="6155055"/>
            <a:ext cx="5447665" cy="0"/>
          </a:xfrm>
          <a:prstGeom prst="straightConnector1">
            <a:avLst/>
          </a:prstGeom>
          <a:ln w="38100">
            <a:gradFill flip="none" rotWithShape="1">
              <a:gsLst>
                <a:gs pos="0">
                  <a:srgbClr val="B3D4FE"/>
                </a:gs>
                <a:gs pos="100000">
                  <a:srgbClr val="3368FF"/>
                </a:gs>
              </a:gsLst>
              <a:lin ang="0" scaled="1"/>
              <a:tileRect/>
            </a:gradFill>
            <a:tailEnd type="none" w="lg" len="lg"/>
          </a:ln>
        </p:spPr>
        <p:style>
          <a:lnRef idx="1">
            <a:srgbClr val="0042FF"/>
          </a:lnRef>
          <a:fillRef idx="0">
            <a:srgbClr val="0042FF"/>
          </a:fillRef>
          <a:effectRef idx="0">
            <a:srgbClr val="0042FF"/>
          </a:effectRef>
          <a:fontRef idx="minor">
            <a:srgbClr val="383838"/>
          </a:fontRef>
        </p:style>
      </p:cxnSp>
      <p:cxnSp>
        <p:nvCxnSpPr>
          <p:cNvPr id="64" name="直接箭头连接符 63"/>
          <p:cNvCxnSpPr/>
          <p:nvPr/>
        </p:nvCxnSpPr>
        <p:spPr>
          <a:xfrm flipV="1">
            <a:off x="10732135" y="3656330"/>
            <a:ext cx="0" cy="2498725"/>
          </a:xfrm>
          <a:prstGeom prst="straightConnector1">
            <a:avLst/>
          </a:prstGeom>
          <a:ln w="38100">
            <a:gradFill>
              <a:gsLst>
                <a:gs pos="100000">
                  <a:srgbClr val="3368FF"/>
                </a:gs>
                <a:gs pos="0">
                  <a:srgbClr val="B3D4FE"/>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sp>
        <p:nvSpPr>
          <p:cNvPr id="66" name="矩形: 圆角 34"/>
          <p:cNvSpPr/>
          <p:nvPr/>
        </p:nvSpPr>
        <p:spPr>
          <a:xfrm>
            <a:off x="491490" y="1746250"/>
            <a:ext cx="1690370" cy="2381250"/>
          </a:xfrm>
          <a:prstGeom prst="roundRect">
            <a:avLst>
              <a:gd name="adj" fmla="val 4360"/>
            </a:avLst>
          </a:prstGeom>
          <a:noFill/>
          <a:ln w="38100">
            <a:solidFill>
              <a:srgbClr val="3368FF"/>
            </a:solidFill>
            <a:tailEnd type="none" w="lg" len="lg"/>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67" name="矩形: 圆角 35"/>
          <p:cNvSpPr/>
          <p:nvPr/>
        </p:nvSpPr>
        <p:spPr>
          <a:xfrm>
            <a:off x="668020" y="2327275"/>
            <a:ext cx="1340485" cy="320675"/>
          </a:xfrm>
          <a:prstGeom prst="roundRect">
            <a:avLst>
              <a:gd name="adj" fmla="val 7866"/>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68" name="文本框 67"/>
          <p:cNvSpPr txBox="1"/>
          <p:nvPr/>
        </p:nvSpPr>
        <p:spPr>
          <a:xfrm>
            <a:off x="760095" y="1864995"/>
            <a:ext cx="1229995" cy="36830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b="1" spc="150" dirty="0">
                <a:gradFill>
                  <a:gsLst>
                    <a:gs pos="0">
                      <a:srgbClr val="0042FF"/>
                    </a:gs>
                    <a:gs pos="100000">
                      <a:srgbClr val="0042FF"/>
                    </a:gs>
                  </a:gsLst>
                  <a:lin ang="5400000" scaled="0"/>
                </a:gradFill>
                <a:latin typeface="微软雅黑"/>
                <a:ea typeface="微软雅黑"/>
                <a:cs typeface="微软雅黑"/>
                <a:sym typeface="微软雅黑"/>
              </a:rPr>
              <a:t>流量获取</a:t>
            </a:r>
            <a:endParaRPr lang="zh-CN" altLang="en-US" b="1" spc="150"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69" name="矩形: 圆角 37"/>
          <p:cNvSpPr/>
          <p:nvPr/>
        </p:nvSpPr>
        <p:spPr>
          <a:xfrm>
            <a:off x="668020" y="2752090"/>
            <a:ext cx="1340485" cy="320675"/>
          </a:xfrm>
          <a:prstGeom prst="roundRect">
            <a:avLst>
              <a:gd name="adj" fmla="val 7866"/>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70" name="矩形: 圆角 38"/>
          <p:cNvSpPr/>
          <p:nvPr/>
        </p:nvSpPr>
        <p:spPr>
          <a:xfrm>
            <a:off x="668020" y="3176270"/>
            <a:ext cx="1340485" cy="320675"/>
          </a:xfrm>
          <a:prstGeom prst="roundRect">
            <a:avLst>
              <a:gd name="adj" fmla="val 7866"/>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71" name="矩形: 圆角 39"/>
          <p:cNvSpPr/>
          <p:nvPr/>
        </p:nvSpPr>
        <p:spPr>
          <a:xfrm>
            <a:off x="668020" y="3597752"/>
            <a:ext cx="1340485" cy="320675"/>
          </a:xfrm>
          <a:prstGeom prst="roundRect">
            <a:avLst>
              <a:gd name="adj" fmla="val 7866"/>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sym typeface="微软雅黑"/>
            </a:endParaRPr>
          </a:p>
        </p:txBody>
      </p:sp>
      <p:cxnSp>
        <p:nvCxnSpPr>
          <p:cNvPr id="76" name="直接箭头连接符 75"/>
          <p:cNvCxnSpPr/>
          <p:nvPr/>
        </p:nvCxnSpPr>
        <p:spPr>
          <a:xfrm flipH="1">
            <a:off x="1335405" y="4846320"/>
            <a:ext cx="2376805" cy="0"/>
          </a:xfrm>
          <a:prstGeom prst="straightConnector1">
            <a:avLst/>
          </a:prstGeom>
          <a:ln w="38100">
            <a:gradFill flip="none" rotWithShape="1">
              <a:gsLst>
                <a:gs pos="0">
                  <a:srgbClr val="0042FF"/>
                </a:gs>
                <a:gs pos="100000">
                  <a:srgbClr val="3368FF"/>
                </a:gs>
              </a:gsLst>
              <a:lin ang="10800000" scaled="1"/>
              <a:tileRect/>
            </a:gradFill>
            <a:tailEnd type="none" w="lg" len="lg"/>
          </a:ln>
        </p:spPr>
        <p:style>
          <a:lnRef idx="1">
            <a:srgbClr val="0042FF"/>
          </a:lnRef>
          <a:fillRef idx="0">
            <a:srgbClr val="0042FF"/>
          </a:fillRef>
          <a:effectRef idx="0">
            <a:srgbClr val="0042FF"/>
          </a:effectRef>
          <a:fontRef idx="minor">
            <a:srgbClr val="383838"/>
          </a:fontRef>
        </p:style>
      </p:cxnSp>
      <p:cxnSp>
        <p:nvCxnSpPr>
          <p:cNvPr id="77" name="直接箭头连接符 76"/>
          <p:cNvCxnSpPr/>
          <p:nvPr/>
        </p:nvCxnSpPr>
        <p:spPr>
          <a:xfrm flipV="1">
            <a:off x="1352550" y="4127500"/>
            <a:ext cx="0" cy="718820"/>
          </a:xfrm>
          <a:prstGeom prst="straightConnector1">
            <a:avLst/>
          </a:prstGeom>
          <a:ln w="38100">
            <a:gradFill>
              <a:gsLst>
                <a:gs pos="0">
                  <a:srgbClr val="0042FF"/>
                </a:gs>
                <a:gs pos="100000">
                  <a:srgbClr val="3368FF"/>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cxnSp>
        <p:nvCxnSpPr>
          <p:cNvPr id="78" name="直接箭头连接符 77"/>
          <p:cNvCxnSpPr/>
          <p:nvPr/>
        </p:nvCxnSpPr>
        <p:spPr>
          <a:xfrm>
            <a:off x="2230120" y="3238500"/>
            <a:ext cx="1426845" cy="0"/>
          </a:xfrm>
          <a:prstGeom prst="straightConnector1">
            <a:avLst/>
          </a:prstGeom>
          <a:ln w="38100">
            <a:gradFill flip="none" rotWithShape="1">
              <a:gsLst>
                <a:gs pos="0">
                  <a:srgbClr val="0042FF"/>
                </a:gs>
                <a:gs pos="100000">
                  <a:srgbClr val="3368FF"/>
                </a:gs>
              </a:gsLst>
              <a:lin ang="10800000" scaled="1"/>
              <a:tileRect/>
            </a:gradFill>
            <a:headEnd type="stealth" w="lg" len="lg"/>
            <a:tailEnd type="stealth" w="lg" len="lg"/>
          </a:ln>
        </p:spPr>
        <p:style>
          <a:lnRef idx="1">
            <a:srgbClr val="0042FF"/>
          </a:lnRef>
          <a:fillRef idx="0">
            <a:srgbClr val="0042FF"/>
          </a:fillRef>
          <a:effectRef idx="0">
            <a:srgbClr val="0042FF"/>
          </a:effectRef>
          <a:fontRef idx="minor">
            <a:srgbClr val="383838"/>
          </a:fontRef>
        </p:style>
      </p:cxnSp>
      <p:cxnSp>
        <p:nvCxnSpPr>
          <p:cNvPr id="79" name="直接箭头连接符 78"/>
          <p:cNvCxnSpPr/>
          <p:nvPr/>
        </p:nvCxnSpPr>
        <p:spPr>
          <a:xfrm flipH="1">
            <a:off x="5622925" y="3238500"/>
            <a:ext cx="1119505" cy="0"/>
          </a:xfrm>
          <a:prstGeom prst="straightConnector1">
            <a:avLst/>
          </a:prstGeom>
          <a:ln w="38100">
            <a:gradFill flip="none" rotWithShape="1">
              <a:gsLst>
                <a:gs pos="0">
                  <a:srgbClr val="0042FF"/>
                </a:gs>
                <a:gs pos="100000">
                  <a:srgbClr val="3368FF"/>
                </a:gs>
              </a:gsLst>
              <a:lin ang="10800000" scaled="1"/>
              <a:tileRect/>
            </a:gradFill>
            <a:headEnd type="stealth" w="lg" len="lg"/>
            <a:tailEnd type="stealth" w="lg" len="lg"/>
          </a:ln>
        </p:spPr>
        <p:style>
          <a:lnRef idx="1">
            <a:srgbClr val="0042FF"/>
          </a:lnRef>
          <a:fillRef idx="0">
            <a:srgbClr val="0042FF"/>
          </a:fillRef>
          <a:effectRef idx="0">
            <a:srgbClr val="0042FF"/>
          </a:effectRef>
          <a:fontRef idx="minor">
            <a:srgbClr val="383838"/>
          </a:fontRef>
        </p:style>
      </p:cxnSp>
      <p:cxnSp>
        <p:nvCxnSpPr>
          <p:cNvPr id="80" name="直接箭头连接符 79"/>
          <p:cNvCxnSpPr/>
          <p:nvPr/>
        </p:nvCxnSpPr>
        <p:spPr>
          <a:xfrm flipH="1">
            <a:off x="8660765" y="3238500"/>
            <a:ext cx="1119505" cy="0"/>
          </a:xfrm>
          <a:prstGeom prst="straightConnector1">
            <a:avLst/>
          </a:prstGeom>
          <a:ln w="38100">
            <a:gradFill flip="none" rotWithShape="1">
              <a:gsLst>
                <a:gs pos="0">
                  <a:srgbClr val="0042FF"/>
                </a:gs>
                <a:gs pos="100000">
                  <a:srgbClr val="3368FF"/>
                </a:gs>
              </a:gsLst>
              <a:lin ang="10800000" scaled="1"/>
              <a:tileRect/>
            </a:gradFill>
            <a:headEnd type="stealth" w="lg" len="lg"/>
            <a:tailEnd type="stealth" w="lg" len="lg"/>
          </a:ln>
        </p:spPr>
        <p:style>
          <a:lnRef idx="1">
            <a:srgbClr val="0042FF"/>
          </a:lnRef>
          <a:fillRef idx="0">
            <a:srgbClr val="0042FF"/>
          </a:fillRef>
          <a:effectRef idx="0">
            <a:srgbClr val="0042FF"/>
          </a:effectRef>
          <a:fontRef idx="minor">
            <a:srgbClr val="383838"/>
          </a:fontRef>
        </p:style>
      </p:cxnSp>
      <p:sp>
        <p:nvSpPr>
          <p:cNvPr id="81" name="文本框 80"/>
          <p:cNvSpPr txBox="1"/>
          <p:nvPr/>
        </p:nvSpPr>
        <p:spPr>
          <a:xfrm>
            <a:off x="2519998" y="3225800"/>
            <a:ext cx="1127125" cy="64516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帐号标签</a:t>
            </a:r>
            <a:endParaRPr lang="en-US" altLang="zh-CN" sz="1200" spc="150" dirty="0">
              <a:solidFill>
                <a:srgbClr val="383838"/>
              </a:solidFill>
              <a:latin typeface="微软雅黑"/>
              <a:ea typeface="微软雅黑"/>
              <a:cs typeface="微软雅黑"/>
              <a:sym typeface="微软雅黑"/>
            </a:endParaRPr>
          </a:p>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权重提升</a:t>
            </a:r>
            <a:endParaRPr lang="zh-CN" altLang="en-US" sz="1200" spc="150" dirty="0">
              <a:solidFill>
                <a:srgbClr val="383838"/>
              </a:solidFill>
              <a:latin typeface="微软雅黑"/>
              <a:ea typeface="微软雅黑"/>
              <a:cs typeface="微软雅黑"/>
              <a:sym typeface="微软雅黑"/>
            </a:endParaRPr>
          </a:p>
        </p:txBody>
      </p:sp>
      <p:sp>
        <p:nvSpPr>
          <p:cNvPr id="82" name="文本框 81"/>
          <p:cNvSpPr txBox="1"/>
          <p:nvPr/>
        </p:nvSpPr>
        <p:spPr>
          <a:xfrm>
            <a:off x="2519998" y="2850515"/>
            <a:ext cx="1127125" cy="36830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获取公域</a:t>
            </a:r>
            <a:endParaRPr lang="zh-CN" altLang="en-US" sz="1200" spc="150" dirty="0">
              <a:solidFill>
                <a:srgbClr val="383838"/>
              </a:solidFill>
              <a:latin typeface="微软雅黑"/>
              <a:ea typeface="微软雅黑"/>
              <a:cs typeface="微软雅黑"/>
              <a:sym typeface="微软雅黑"/>
            </a:endParaRPr>
          </a:p>
        </p:txBody>
      </p:sp>
      <p:sp>
        <p:nvSpPr>
          <p:cNvPr id="83" name="文本框 82"/>
          <p:cNvSpPr txBox="1"/>
          <p:nvPr/>
        </p:nvSpPr>
        <p:spPr>
          <a:xfrm>
            <a:off x="5744210" y="3235325"/>
            <a:ext cx="1127125" cy="36830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订单转化</a:t>
            </a:r>
            <a:endParaRPr lang="zh-CN" altLang="en-US" sz="1200" spc="150" dirty="0">
              <a:solidFill>
                <a:srgbClr val="383838"/>
              </a:solidFill>
              <a:latin typeface="微软雅黑"/>
              <a:ea typeface="微软雅黑"/>
              <a:cs typeface="微软雅黑"/>
              <a:sym typeface="微软雅黑"/>
            </a:endParaRPr>
          </a:p>
        </p:txBody>
      </p:sp>
      <p:sp>
        <p:nvSpPr>
          <p:cNvPr id="84" name="文本框 83"/>
          <p:cNvSpPr txBox="1"/>
          <p:nvPr/>
        </p:nvSpPr>
        <p:spPr>
          <a:xfrm>
            <a:off x="1630680" y="4443730"/>
            <a:ext cx="1802130" cy="368300"/>
          </a:xfrm>
          <a:prstGeom prst="rect">
            <a:avLst/>
          </a:prstGeom>
          <a:noFill/>
        </p:spPr>
        <p:txBody>
          <a:bodyPr wrap="square" rtlCol="0">
            <a:spAutoFit/>
          </a:bodyPr>
          <a:lstStyle/>
          <a:p>
            <a:pPr algn="ct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内容驱动，流量升级</a:t>
            </a:r>
            <a:endParaRPr lang="zh-CN" altLang="en-US" sz="1200" spc="150" dirty="0">
              <a:solidFill>
                <a:srgbClr val="383838"/>
              </a:solidFill>
              <a:latin typeface="微软雅黑"/>
              <a:ea typeface="微软雅黑"/>
              <a:cs typeface="微软雅黑"/>
              <a:sym typeface="微软雅黑"/>
            </a:endParaRPr>
          </a:p>
        </p:txBody>
      </p:sp>
      <p:sp>
        <p:nvSpPr>
          <p:cNvPr id="85" name="文本框 84"/>
          <p:cNvSpPr txBox="1"/>
          <p:nvPr/>
        </p:nvSpPr>
        <p:spPr>
          <a:xfrm>
            <a:off x="1630680" y="4848225"/>
            <a:ext cx="1802130" cy="368300"/>
          </a:xfrm>
          <a:prstGeom prst="rect">
            <a:avLst/>
          </a:prstGeom>
          <a:noFill/>
        </p:spPr>
        <p:txBody>
          <a:bodyPr wrap="square" rtlCol="0">
            <a:spAutoFit/>
          </a:bodyPr>
          <a:lstStyle/>
          <a:p>
            <a:pPr algn="ct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同城</a:t>
            </a:r>
            <a:r>
              <a:rPr lang="en-US" altLang="zh-CN" sz="1200" spc="150" dirty="0">
                <a:solidFill>
                  <a:srgbClr val="383838"/>
                </a:solidFill>
                <a:latin typeface="微软雅黑"/>
                <a:ea typeface="微软雅黑"/>
                <a:cs typeface="微软雅黑"/>
                <a:sym typeface="微软雅黑"/>
              </a:rPr>
              <a:t>/</a:t>
            </a:r>
            <a:r>
              <a:rPr lang="zh-CN" altLang="en-US" sz="1200" spc="150" dirty="0">
                <a:solidFill>
                  <a:srgbClr val="383838"/>
                </a:solidFill>
                <a:latin typeface="微软雅黑"/>
                <a:ea typeface="微软雅黑"/>
                <a:cs typeface="微软雅黑"/>
                <a:sym typeface="微软雅黑"/>
              </a:rPr>
              <a:t>周边人群爆光</a:t>
            </a:r>
            <a:endParaRPr lang="zh-CN" altLang="en-US" sz="1200" spc="150" dirty="0">
              <a:solidFill>
                <a:srgbClr val="383838"/>
              </a:solidFill>
              <a:latin typeface="微软雅黑"/>
              <a:ea typeface="微软雅黑"/>
              <a:cs typeface="微软雅黑"/>
              <a:sym typeface="微软雅黑"/>
            </a:endParaRPr>
          </a:p>
        </p:txBody>
      </p:sp>
      <p:sp>
        <p:nvSpPr>
          <p:cNvPr id="86" name="文本框 85"/>
          <p:cNvSpPr txBox="1"/>
          <p:nvPr/>
        </p:nvSpPr>
        <p:spPr>
          <a:xfrm>
            <a:off x="4646930" y="5193030"/>
            <a:ext cx="1127125" cy="64516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持续</a:t>
            </a:r>
            <a:endParaRPr lang="en-US" altLang="zh-CN" sz="1200" spc="150" dirty="0">
              <a:solidFill>
                <a:srgbClr val="383838"/>
              </a:solidFill>
              <a:latin typeface="微软雅黑"/>
              <a:ea typeface="微软雅黑"/>
              <a:cs typeface="微软雅黑"/>
              <a:sym typeface="微软雅黑"/>
            </a:endParaRPr>
          </a:p>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加热</a:t>
            </a:r>
            <a:endParaRPr lang="zh-CN" altLang="en-US" sz="1200" spc="150" dirty="0">
              <a:solidFill>
                <a:srgbClr val="383838"/>
              </a:solidFill>
              <a:latin typeface="微软雅黑"/>
              <a:ea typeface="微软雅黑"/>
              <a:cs typeface="微软雅黑"/>
              <a:sym typeface="微软雅黑"/>
            </a:endParaRPr>
          </a:p>
        </p:txBody>
      </p:sp>
      <p:sp>
        <p:nvSpPr>
          <p:cNvPr id="87" name="文本框 86"/>
          <p:cNvSpPr txBox="1"/>
          <p:nvPr/>
        </p:nvSpPr>
        <p:spPr>
          <a:xfrm>
            <a:off x="6175375" y="4868545"/>
            <a:ext cx="1127125" cy="36830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用户复购</a:t>
            </a:r>
            <a:endParaRPr lang="zh-CN" altLang="en-US" sz="1200" spc="150" dirty="0">
              <a:solidFill>
                <a:srgbClr val="383838"/>
              </a:solidFill>
              <a:latin typeface="微软雅黑"/>
              <a:ea typeface="微软雅黑"/>
              <a:cs typeface="微软雅黑"/>
              <a:sym typeface="微软雅黑"/>
            </a:endParaRPr>
          </a:p>
        </p:txBody>
      </p:sp>
      <p:sp>
        <p:nvSpPr>
          <p:cNvPr id="88" name="文本框 87"/>
          <p:cNvSpPr txBox="1"/>
          <p:nvPr/>
        </p:nvSpPr>
        <p:spPr>
          <a:xfrm>
            <a:off x="7571740" y="5781040"/>
            <a:ext cx="1127125" cy="36830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订单转化</a:t>
            </a:r>
            <a:endParaRPr lang="zh-CN" altLang="en-US" sz="1200" spc="150" dirty="0">
              <a:solidFill>
                <a:srgbClr val="383838"/>
              </a:solidFill>
              <a:latin typeface="微软雅黑"/>
              <a:ea typeface="微软雅黑"/>
              <a:cs typeface="微软雅黑"/>
              <a:sym typeface="微软雅黑"/>
            </a:endParaRPr>
          </a:p>
        </p:txBody>
      </p:sp>
      <p:sp>
        <p:nvSpPr>
          <p:cNvPr id="89" name="文本框 88"/>
          <p:cNvSpPr txBox="1"/>
          <p:nvPr/>
        </p:nvSpPr>
        <p:spPr>
          <a:xfrm>
            <a:off x="8839200" y="3235325"/>
            <a:ext cx="1127125" cy="368300"/>
          </a:xfrm>
          <a:prstGeom prst="rect">
            <a:avLst/>
          </a:prstGeom>
          <a:noFill/>
        </p:spPr>
        <p:txBody>
          <a:bodyPr wrap="square" rtlCol="0">
            <a:spAutoFit/>
          </a:bodyPr>
          <a:lstStyle/>
          <a:p>
            <a:pPr>
              <a:lnSpc>
                <a:spcPct val="150000"/>
              </a:lnSpc>
              <a:defRPr>
                <a:latin typeface="微软雅黑"/>
                <a:ea typeface="微软雅黑"/>
                <a:cs typeface="微软雅黑"/>
              </a:defRPr>
            </a:pPr>
            <a:r>
              <a:rPr lang="zh-CN" altLang="en-US" sz="1200" spc="150" dirty="0">
                <a:solidFill>
                  <a:srgbClr val="383838"/>
                </a:solidFill>
                <a:latin typeface="微软雅黑"/>
                <a:ea typeface="微软雅黑"/>
                <a:cs typeface="微软雅黑"/>
                <a:sym typeface="微软雅黑"/>
              </a:rPr>
              <a:t>粉丝复购</a:t>
            </a:r>
            <a:endParaRPr lang="zh-CN" altLang="en-US" sz="1200" spc="150" dirty="0">
              <a:solidFill>
                <a:srgbClr val="383838"/>
              </a:solidFill>
              <a:latin typeface="微软雅黑"/>
              <a:ea typeface="微软雅黑"/>
              <a:cs typeface="微软雅黑"/>
              <a:sym typeface="微软雅黑"/>
            </a:endParaRPr>
          </a:p>
        </p:txBody>
      </p:sp>
      <p:sp>
        <p:nvSpPr>
          <p:cNvPr id="91" name="文本框 90"/>
          <p:cNvSpPr txBox="1"/>
          <p:nvPr/>
        </p:nvSpPr>
        <p:spPr>
          <a:xfrm>
            <a:off x="851535" y="2349818"/>
            <a:ext cx="97345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自然流量</a:t>
            </a:r>
            <a:endParaRPr lang="zh-CN" altLang="en-US" sz="1200">
              <a:solidFill>
                <a:srgbClr val="383838"/>
              </a:solidFill>
              <a:latin typeface="微软雅黑"/>
              <a:ea typeface="微软雅黑"/>
              <a:cs typeface="微软雅黑"/>
            </a:endParaRPr>
          </a:p>
        </p:txBody>
      </p:sp>
      <p:sp>
        <p:nvSpPr>
          <p:cNvPr id="92" name="文本框 91"/>
          <p:cNvSpPr txBox="1"/>
          <p:nvPr/>
        </p:nvSpPr>
        <p:spPr>
          <a:xfrm>
            <a:off x="851535" y="2764473"/>
            <a:ext cx="97345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视频流量</a:t>
            </a:r>
            <a:endParaRPr lang="zh-CN" altLang="en-US" sz="1200">
              <a:solidFill>
                <a:srgbClr val="383838"/>
              </a:solidFill>
              <a:latin typeface="微软雅黑"/>
              <a:ea typeface="微软雅黑"/>
              <a:cs typeface="微软雅黑"/>
            </a:endParaRPr>
          </a:p>
        </p:txBody>
      </p:sp>
      <p:sp>
        <p:nvSpPr>
          <p:cNvPr id="93" name="文本框 92"/>
          <p:cNvSpPr txBox="1"/>
          <p:nvPr/>
        </p:nvSpPr>
        <p:spPr>
          <a:xfrm>
            <a:off x="851535" y="3198813"/>
            <a:ext cx="97345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同城流量</a:t>
            </a:r>
            <a:endParaRPr lang="zh-CN" altLang="en-US" sz="1200">
              <a:solidFill>
                <a:srgbClr val="383838"/>
              </a:solidFill>
              <a:latin typeface="微软雅黑"/>
              <a:ea typeface="微软雅黑"/>
              <a:cs typeface="微软雅黑"/>
            </a:endParaRPr>
          </a:p>
        </p:txBody>
      </p:sp>
      <p:sp>
        <p:nvSpPr>
          <p:cNvPr id="94" name="文本框 93"/>
          <p:cNvSpPr txBox="1"/>
          <p:nvPr/>
        </p:nvSpPr>
        <p:spPr>
          <a:xfrm>
            <a:off x="851535" y="3620294"/>
            <a:ext cx="97345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账号关注</a:t>
            </a:r>
            <a:endParaRPr lang="zh-CN" altLang="en-US" sz="1200">
              <a:solidFill>
                <a:srgbClr val="383838"/>
              </a:solidFill>
              <a:latin typeface="微软雅黑"/>
              <a:ea typeface="微软雅黑"/>
              <a:cs typeface="微软雅黑"/>
            </a:endParaRPr>
          </a:p>
        </p:txBody>
      </p:sp>
      <p:cxnSp>
        <p:nvCxnSpPr>
          <p:cNvPr id="95" name="直接箭头连接符 94"/>
          <p:cNvCxnSpPr/>
          <p:nvPr/>
        </p:nvCxnSpPr>
        <p:spPr>
          <a:xfrm>
            <a:off x="4643755" y="1738630"/>
            <a:ext cx="0" cy="1057910"/>
          </a:xfrm>
          <a:prstGeom prst="straightConnector1">
            <a:avLst/>
          </a:prstGeom>
          <a:ln w="38100">
            <a:gradFill>
              <a:gsLst>
                <a:gs pos="100000">
                  <a:srgbClr val="0042FF"/>
                </a:gs>
                <a:gs pos="0">
                  <a:srgbClr val="3368FF"/>
                </a:gs>
              </a:gsLst>
              <a:lin ang="5400000" scaled="1"/>
            </a:gradFill>
            <a:tailEnd type="stealth" w="lg" len="lg"/>
          </a:ln>
        </p:spPr>
        <p:style>
          <a:lnRef idx="1">
            <a:srgbClr val="0042FF"/>
          </a:lnRef>
          <a:fillRef idx="0">
            <a:srgbClr val="0042FF"/>
          </a:fillRef>
          <a:effectRef idx="0">
            <a:srgbClr val="0042FF"/>
          </a:effectRef>
          <a:fontRef idx="minor">
            <a:srgbClr val="383838"/>
          </a:fontRef>
        </p:style>
      </p:cxn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运营流量转化策略流程</a:t>
            </a:r>
            <a:endParaRPr sz="2500" b="0">
              <a:solidFill>
                <a:srgbClr val="383838"/>
              </a:solidFill>
              <a:effectLst/>
              <a:latin typeface="微软雅黑"/>
              <a:ea typeface="微软雅黑"/>
              <a:cs typeface="微软雅黑"/>
            </a:endParaRPr>
          </a:p>
        </p:txBody>
      </p:sp>
      <p:pic>
        <p:nvPicPr>
          <p:cNvPr id="6" name="图片 5"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41" name="圆角矩形 140"/>
          <p:cNvSpPr/>
          <p:nvPr/>
        </p:nvSpPr>
        <p:spPr>
          <a:xfrm>
            <a:off x="394487" y="2937086"/>
            <a:ext cx="11369125" cy="2014513"/>
          </a:xfrm>
          <a:prstGeom prst="roundRect">
            <a:avLst>
              <a:gd name="adj" fmla="val 0"/>
            </a:avLst>
          </a:prstGeom>
          <a:solidFill>
            <a:srgbClr val="FFFFFF">
              <a:alpha val="30000"/>
            </a:srgbClr>
          </a:solidFill>
          <a:ln w="12700">
            <a:noFill/>
            <a:prstDash val="dash"/>
          </a:ln>
        </p:spPr>
        <p:style>
          <a:lnRef idx="2">
            <a:srgbClr val="0042FF"/>
          </a:lnRef>
          <a:fillRef idx="1">
            <a:srgbClr val="0042FF"/>
          </a:fillRef>
          <a:effectRef idx="0">
            <a:srgbClr val="0042FF"/>
          </a:effectRef>
          <a:fontRef idx="minor">
            <a:srgbClr val="FFFFFF"/>
          </a:fontRef>
        </p:style>
        <p:txBody>
          <a:bodyPr rtlCol="0" anchor="ctr" anchorCtr="0" lIns="0" rIns="0" tIns="0" bIns="0"/>
          <a:lstStyle/>
          <a:p>
            <a:pPr algn="ctr" defTabSz="457200">
              <a:defRPr>
                <a:latin typeface="微软雅黑"/>
                <a:ea typeface="微软雅黑"/>
                <a:cs typeface="微软雅黑"/>
              </a:defRPr>
            </a:pPr>
            <a:r>
              <a:rPr kumimoji="1" lang="en-US" altLang="zh-CN" dirty="0">
                <a:solidFill>
                  <a:srgbClr val="383838"/>
                </a:solidFill>
                <a:latin typeface="微软雅黑"/>
                <a:ea typeface="微软雅黑"/>
                <a:cs typeface="微软雅黑"/>
              </a:rPr>
              <a:t> </a:t>
            </a:r>
            <a:endParaRPr kumimoji="1" lang="en-US" altLang="zh-CN" dirty="0">
              <a:solidFill>
                <a:srgbClr val="383838"/>
              </a:solidFill>
              <a:latin typeface="微软雅黑"/>
              <a:ea typeface="微软雅黑"/>
              <a:cs typeface="微软雅黑"/>
            </a:endParaRPr>
          </a:p>
        </p:txBody>
      </p:sp>
      <p:sp>
        <p:nvSpPr>
          <p:cNvPr id="2" name="文本框 1"/>
          <p:cNvSpPr txBox="1"/>
          <p:nvPr/>
        </p:nvSpPr>
        <p:spPr>
          <a:xfrm>
            <a:off x="8338804" y="1712092"/>
            <a:ext cx="492443" cy="276999"/>
          </a:xfrm>
          <a:prstGeom prst="rect">
            <a:avLst/>
          </a:prstGeom>
          <a:noFill/>
        </p:spPr>
        <p:txBody>
          <a:bodyPr wrap="none" rtlCol="0" anchor="ctr" anchorCtr="0">
            <a:spAutoFit/>
          </a:bodyPr>
          <a:lstStyle/>
          <a:p>
            <a:pPr algn="ctr" defTabSz="457200">
              <a:defRPr>
                <a:latin typeface="微软雅黑"/>
                <a:ea typeface="微软雅黑"/>
                <a:cs typeface="微软雅黑"/>
              </a:defRPr>
            </a:pPr>
            <a:r>
              <a:rPr kumimoji="1" lang="zh-CN" altLang="en-US" sz="1200" dirty="0">
                <a:latin typeface="微软雅黑"/>
                <a:ea typeface="微软雅黑"/>
                <a:cs typeface="微软雅黑"/>
              </a:rPr>
              <a:t>通过</a:t>
            </a:r>
            <a:endParaRPr kumimoji="1" lang="zh-CN" altLang="en-US" sz="1200" dirty="0">
              <a:latin typeface="微软雅黑"/>
              <a:ea typeface="微软雅黑"/>
              <a:cs typeface="微软雅黑"/>
            </a:endParaRPr>
          </a:p>
        </p:txBody>
      </p:sp>
      <p:sp>
        <p:nvSpPr>
          <p:cNvPr id="59" name="文本框 58"/>
          <p:cNvSpPr txBox="1"/>
          <p:nvPr/>
        </p:nvSpPr>
        <p:spPr>
          <a:xfrm>
            <a:off x="8732356" y="3672080"/>
            <a:ext cx="800219" cy="276999"/>
          </a:xfrm>
          <a:prstGeom prst="rect">
            <a:avLst/>
          </a:prstGeom>
          <a:noFill/>
        </p:spPr>
        <p:txBody>
          <a:bodyPr wrap="none" rtlCol="0" anchor="ctr" anchorCtr="0">
            <a:spAutoFit/>
          </a:bodyPr>
          <a:lstStyle/>
          <a:p>
            <a:pPr algn="ctr" defTabSz="457200">
              <a:defRPr>
                <a:latin typeface="微软雅黑"/>
                <a:ea typeface="微软雅黑"/>
                <a:cs typeface="微软雅黑"/>
              </a:defRPr>
            </a:pPr>
            <a:r>
              <a:rPr kumimoji="1" lang="zh-CN" altLang="en-US" sz="1200" dirty="0">
                <a:latin typeface="微软雅黑"/>
                <a:ea typeface="微软雅黑"/>
                <a:cs typeface="微软雅黑"/>
              </a:rPr>
              <a:t>物料申请</a:t>
            </a:r>
            <a:endParaRPr kumimoji="1" lang="zh-CN" altLang="en-US" sz="1200" dirty="0">
              <a:latin typeface="微软雅黑"/>
              <a:ea typeface="微软雅黑"/>
              <a:cs typeface="微软雅黑"/>
            </a:endParaRPr>
          </a:p>
        </p:txBody>
      </p:sp>
      <p:sp>
        <p:nvSpPr>
          <p:cNvPr id="4" name="文本框 3"/>
          <p:cNvSpPr txBox="1"/>
          <p:nvPr/>
        </p:nvSpPr>
        <p:spPr>
          <a:xfrm>
            <a:off x="10167786" y="2910709"/>
            <a:ext cx="492443" cy="276999"/>
          </a:xfrm>
          <a:prstGeom prst="rect">
            <a:avLst/>
          </a:prstGeom>
          <a:noFill/>
        </p:spPr>
        <p:txBody>
          <a:bodyPr wrap="none" rtlCol="0" anchor="ctr" anchorCtr="0">
            <a:spAutoFit/>
          </a:bodyPr>
          <a:lstStyle/>
          <a:p>
            <a:pPr algn="ctr" defTabSz="457200">
              <a:defRPr>
                <a:latin typeface="微软雅黑"/>
                <a:ea typeface="微软雅黑"/>
                <a:cs typeface="微软雅黑"/>
              </a:defRPr>
            </a:pPr>
            <a:r>
              <a:rPr kumimoji="1" lang="zh-CN" altLang="en-US" sz="1200" dirty="0">
                <a:latin typeface="微软雅黑"/>
                <a:ea typeface="微软雅黑"/>
                <a:cs typeface="微软雅黑"/>
              </a:rPr>
              <a:t>通知</a:t>
            </a:r>
            <a:endParaRPr kumimoji="1" lang="zh-CN" altLang="en-US" sz="1200" dirty="0">
              <a:latin typeface="微软雅黑"/>
              <a:ea typeface="微软雅黑"/>
              <a:cs typeface="微软雅黑"/>
            </a:endParaRPr>
          </a:p>
        </p:txBody>
      </p:sp>
      <p:sp>
        <p:nvSpPr>
          <p:cNvPr id="7" name="剪去单角的矩形 6"/>
          <p:cNvSpPr/>
          <p:nvPr/>
        </p:nvSpPr>
        <p:spPr>
          <a:xfrm>
            <a:off x="489727" y="1888989"/>
            <a:ext cx="1148820" cy="360000"/>
          </a:xfrm>
          <a:prstGeom prst="snip1Rect">
            <a:avLst/>
          </a:prstGeom>
          <a:gradFill flip="none" rotWithShape="1">
            <a:gsLst>
              <a:gs pos="0">
                <a:srgbClr val="3368FF"/>
              </a:gs>
              <a:gs pos="99000">
                <a:srgbClr val="0042FF"/>
              </a:gs>
            </a:gsLst>
            <a:lin ang="0" scaled="1"/>
            <a:tileRect/>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horz" tIns="0" bIns="0" rtlCol="0" anchor="ctr" anchorCtr="0"/>
          <a:lstStyle/>
          <a:p>
            <a:pPr algn="ctr" defTabSz="457200">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rPr>
              <a:t>业务需求</a:t>
            </a:r>
            <a:endParaRPr kumimoji="1" lang="zh-CN" altLang="en-US" sz="1400" dirty="0">
              <a:solidFill>
                <a:srgbClr val="FFFFFF"/>
              </a:solidFill>
              <a:latin typeface="微软雅黑"/>
              <a:ea typeface="微软雅黑"/>
              <a:cs typeface="微软雅黑"/>
            </a:endParaRPr>
          </a:p>
        </p:txBody>
      </p:sp>
      <p:sp>
        <p:nvSpPr>
          <p:cNvPr id="8" name="剪去单角的矩形 7"/>
          <p:cNvSpPr/>
          <p:nvPr/>
        </p:nvSpPr>
        <p:spPr>
          <a:xfrm>
            <a:off x="2158198" y="1888989"/>
            <a:ext cx="1148820" cy="360000"/>
          </a:xfrm>
          <a:prstGeom prst="snip1Rect">
            <a:avLst/>
          </a:prstGeom>
          <a:gradFill flip="none" rotWithShape="1">
            <a:gsLst>
              <a:gs pos="0">
                <a:srgbClr val="3368FF"/>
              </a:gs>
              <a:gs pos="99000">
                <a:srgbClr val="0042FF"/>
              </a:gs>
            </a:gsLst>
            <a:lin ang="0" scaled="1"/>
            <a:tileRect/>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业务受理</a:t>
            </a:r>
            <a:endParaRPr kumimoji="1" lang="zh-CN" altLang="en-US" sz="1400" dirty="0">
              <a:solidFill>
                <a:srgbClr val="FFFFFF"/>
              </a:solidFill>
              <a:latin typeface="微软雅黑"/>
              <a:ea typeface="微软雅黑"/>
              <a:cs typeface="微软雅黑"/>
              <a:sym typeface="微软雅黑"/>
            </a:endParaRPr>
          </a:p>
        </p:txBody>
      </p:sp>
      <p:sp>
        <p:nvSpPr>
          <p:cNvPr id="9" name="剪去单角的矩形 8"/>
          <p:cNvSpPr/>
          <p:nvPr/>
        </p:nvSpPr>
        <p:spPr>
          <a:xfrm>
            <a:off x="3825862" y="1888989"/>
            <a:ext cx="1148820" cy="360000"/>
          </a:xfrm>
          <a:prstGeom prst="snip1Rect">
            <a:avLst/>
          </a:prstGeom>
          <a:gradFill flip="none" rotWithShape="1">
            <a:gsLst>
              <a:gs pos="0">
                <a:srgbClr val="3368FF"/>
              </a:gs>
              <a:gs pos="99000">
                <a:srgbClr val="0042FF"/>
              </a:gs>
            </a:gsLst>
            <a:lin ang="0" scaled="1"/>
            <a:tileRect/>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方案设计</a:t>
            </a:r>
            <a:endParaRPr kumimoji="1" lang="zh-CN" altLang="en-US" sz="1400" dirty="0">
              <a:solidFill>
                <a:srgbClr val="FFFFFF"/>
              </a:solidFill>
              <a:latin typeface="微软雅黑"/>
              <a:ea typeface="微软雅黑"/>
              <a:cs typeface="微软雅黑"/>
              <a:sym typeface="微软雅黑"/>
            </a:endParaRPr>
          </a:p>
        </p:txBody>
      </p:sp>
      <p:sp>
        <p:nvSpPr>
          <p:cNvPr id="98" name="剪去单角的矩形 97"/>
          <p:cNvSpPr/>
          <p:nvPr/>
        </p:nvSpPr>
        <p:spPr>
          <a:xfrm>
            <a:off x="7218114" y="1879713"/>
            <a:ext cx="1148820" cy="360000"/>
          </a:xfrm>
          <a:prstGeom prst="snip1Rect">
            <a:avLst/>
          </a:prstGeom>
          <a:gradFill flip="none" rotWithShape="1">
            <a:gsLst>
              <a:gs pos="0">
                <a:srgbClr val="3368FF"/>
              </a:gs>
              <a:gs pos="99000">
                <a:srgbClr val="0042FF"/>
              </a:gs>
            </a:gsLst>
            <a:lin ang="0" scaled="1"/>
            <a:tileRect/>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方案会审</a:t>
            </a:r>
            <a:endParaRPr kumimoji="1" lang="zh-CN" altLang="en-US" sz="1400" dirty="0">
              <a:solidFill>
                <a:srgbClr val="FFFFFF"/>
              </a:solidFill>
              <a:latin typeface="微软雅黑"/>
              <a:ea typeface="微软雅黑"/>
              <a:cs typeface="微软雅黑"/>
              <a:sym typeface="微软雅黑"/>
            </a:endParaRPr>
          </a:p>
        </p:txBody>
      </p:sp>
      <p:sp>
        <p:nvSpPr>
          <p:cNvPr id="99" name="剪去单角的矩形 98"/>
          <p:cNvSpPr/>
          <p:nvPr/>
        </p:nvSpPr>
        <p:spPr>
          <a:xfrm>
            <a:off x="8835426" y="1879713"/>
            <a:ext cx="1148400" cy="360000"/>
          </a:xfrm>
          <a:prstGeom prst="snip1Rect">
            <a:avLst/>
          </a:prstGeom>
          <a:gradFill flip="none" rotWithShape="1">
            <a:gsLst>
              <a:gs pos="0">
                <a:srgbClr val="3368FF"/>
              </a:gs>
              <a:gs pos="99000">
                <a:srgbClr val="0042FF"/>
              </a:gs>
            </a:gsLst>
            <a:lin ang="0" scaled="1"/>
            <a:tileRect/>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签约</a:t>
            </a:r>
            <a:endParaRPr kumimoji="1" lang="zh-CN" altLang="en-US" sz="1400" dirty="0">
              <a:solidFill>
                <a:srgbClr val="FFFFFF"/>
              </a:solidFill>
              <a:latin typeface="微软雅黑"/>
              <a:ea typeface="微软雅黑"/>
              <a:cs typeface="微软雅黑"/>
              <a:sym typeface="微软雅黑"/>
            </a:endParaRPr>
          </a:p>
        </p:txBody>
      </p:sp>
      <p:sp>
        <p:nvSpPr>
          <p:cNvPr id="101" name="剪去单角的矩形 100"/>
          <p:cNvSpPr/>
          <p:nvPr/>
        </p:nvSpPr>
        <p:spPr>
          <a:xfrm>
            <a:off x="489727" y="3835843"/>
            <a:ext cx="1148820" cy="360000"/>
          </a:xfrm>
          <a:prstGeom prst="snip1Rect">
            <a:avLst/>
          </a:prstGeom>
          <a:solidFill>
            <a:srgbClr val="B3D4FE"/>
          </a:solidFill>
          <a:ln>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45720" numCol="1" spcCol="0" rtlCol="0" fromWordArt="0" anchor="ctr" anchorCtr="0" forceAA="0" compatLnSpc="1">
            <a:noAutofit/>
          </a:bodyPr>
          <a:lstStyle/>
          <a:p>
            <a:pPr lvl="0" algn="ctr" defTabSz="457200">
              <a:buClrTx/>
              <a:buSzTx/>
              <a:buFontTx/>
              <a:defRPr>
                <a:latin typeface="微软雅黑"/>
                <a:ea typeface="微软雅黑"/>
                <a:cs typeface="微软雅黑"/>
              </a:defRPr>
            </a:pPr>
            <a:r>
              <a:rPr kumimoji="1" lang="zh-CN" altLang="en-US" sz="1400" dirty="0">
                <a:latin typeface="微软雅黑"/>
                <a:ea typeface="微软雅黑"/>
                <a:cs typeface="微软雅黑"/>
                <a:sym typeface="微软雅黑"/>
              </a:rPr>
              <a:t>资管录入</a:t>
            </a:r>
            <a:endParaRPr kumimoji="1" lang="zh-CN" altLang="en-US" sz="1400" dirty="0">
              <a:latin typeface="微软雅黑"/>
              <a:ea typeface="微软雅黑"/>
              <a:cs typeface="微软雅黑"/>
              <a:sym typeface="微软雅黑"/>
            </a:endParaRPr>
          </a:p>
        </p:txBody>
      </p:sp>
      <p:sp>
        <p:nvSpPr>
          <p:cNvPr id="102" name="剪去单角的矩形 101"/>
          <p:cNvSpPr/>
          <p:nvPr/>
        </p:nvSpPr>
        <p:spPr>
          <a:xfrm>
            <a:off x="3825862" y="3835843"/>
            <a:ext cx="1148820" cy="360000"/>
          </a:xfrm>
          <a:prstGeom prst="snip1Rect">
            <a:avLst/>
          </a:prstGeom>
          <a:solidFill>
            <a:srgbClr val="B3D4FE"/>
          </a:solidFill>
          <a:ln>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45720" numCol="1" spcCol="0" rtlCol="0" fromWordArt="0" anchor="ctr" anchorCtr="0" forceAA="0" compatLnSpc="1">
            <a:noAutofit/>
          </a:bodyPr>
          <a:lstStyle/>
          <a:p>
            <a:pPr lvl="0" algn="ctr" defTabSz="457200">
              <a:buClrTx/>
              <a:buSzTx/>
              <a:buFontTx/>
              <a:defRPr>
                <a:latin typeface="微软雅黑"/>
                <a:ea typeface="微软雅黑"/>
                <a:cs typeface="微软雅黑"/>
              </a:defRPr>
            </a:pPr>
            <a:r>
              <a:rPr kumimoji="1" lang="zh-CN" altLang="en-US" sz="1400" dirty="0">
                <a:latin typeface="微软雅黑"/>
                <a:ea typeface="微软雅黑"/>
                <a:cs typeface="微软雅黑"/>
                <a:sym typeface="微软雅黑"/>
              </a:rPr>
              <a:t>进度上报</a:t>
            </a:r>
            <a:endParaRPr kumimoji="1" lang="zh-CN" altLang="en-US" sz="1400" dirty="0">
              <a:latin typeface="微软雅黑"/>
              <a:ea typeface="微软雅黑"/>
              <a:cs typeface="微软雅黑"/>
              <a:sym typeface="微软雅黑"/>
            </a:endParaRPr>
          </a:p>
        </p:txBody>
      </p:sp>
      <p:sp>
        <p:nvSpPr>
          <p:cNvPr id="104" name="剪去单角的矩形 103"/>
          <p:cNvSpPr/>
          <p:nvPr/>
        </p:nvSpPr>
        <p:spPr>
          <a:xfrm>
            <a:off x="5521590" y="3556748"/>
            <a:ext cx="1148820" cy="360000"/>
          </a:xfrm>
          <a:prstGeom prst="snip1Rect">
            <a:avLst/>
          </a:prstGeom>
          <a:solidFill>
            <a:srgbClr val="FFFFFF"/>
          </a:solidFill>
          <a:ln w="6350">
            <a:solidFill>
              <a:srgbClr val="3368FF"/>
            </a:solidFill>
            <a:prstDash val="solid"/>
          </a:ln>
          <a:effectLst>
            <a:outerShdw blurRad="101600" sx="102000" sy="102000" algn="ctr"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rtlCol="0" anchor="ctr" anchorCtr="0"/>
          <a:lstStyle/>
          <a:p>
            <a:pPr algn="ctr" defTabSz="457200">
              <a:defRPr>
                <a:latin typeface="微软雅黑"/>
                <a:ea typeface="微软雅黑"/>
                <a:cs typeface="微软雅黑"/>
              </a:defRPr>
            </a:pPr>
            <a:r>
              <a:rPr kumimoji="1" lang="zh-CN" altLang="en-US" sz="1400" dirty="0">
                <a:solidFill>
                  <a:srgbClr val="0042FF"/>
                </a:solidFill>
                <a:latin typeface="微软雅黑"/>
                <a:ea typeface="微软雅黑"/>
                <a:cs typeface="微软雅黑"/>
              </a:rPr>
              <a:t>进场施工</a:t>
            </a:r>
            <a:endParaRPr kumimoji="1" lang="zh-CN" altLang="en-US" sz="1400" dirty="0">
              <a:solidFill>
                <a:srgbClr val="0042FF"/>
              </a:solidFill>
              <a:latin typeface="微软雅黑"/>
              <a:ea typeface="微软雅黑"/>
              <a:cs typeface="微软雅黑"/>
            </a:endParaRPr>
          </a:p>
        </p:txBody>
      </p:sp>
      <p:sp>
        <p:nvSpPr>
          <p:cNvPr id="105" name="剪去单角的矩形 104"/>
          <p:cNvSpPr/>
          <p:nvPr/>
        </p:nvSpPr>
        <p:spPr>
          <a:xfrm>
            <a:off x="5521590" y="4241794"/>
            <a:ext cx="1148820" cy="360000"/>
          </a:xfrm>
          <a:prstGeom prst="snip1Rect">
            <a:avLst/>
          </a:prstGeom>
          <a:solidFill>
            <a:srgbClr val="FFFFFF"/>
          </a:solidFill>
          <a:ln w="6350">
            <a:solidFill>
              <a:srgbClr val="3368FF"/>
            </a:solidFill>
            <a:prstDash val="solid"/>
          </a:ln>
          <a:effectLst>
            <a:outerShdw blurRad="101600" sx="102000" sy="102000" algn="ctr" rotWithShape="0">
              <a:srgbClr val="3368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r>
              <a:rPr kumimoji="1" lang="zh-CN" altLang="en-US" sz="1400" dirty="0">
                <a:solidFill>
                  <a:srgbClr val="0042FF"/>
                </a:solidFill>
                <a:latin typeface="微软雅黑"/>
                <a:ea typeface="微软雅黑"/>
                <a:cs typeface="微软雅黑"/>
                <a:sym typeface="微软雅黑"/>
              </a:rPr>
              <a:t>物料领取</a:t>
            </a:r>
            <a:endParaRPr kumimoji="1" lang="zh-CN" altLang="en-US" sz="1400" dirty="0">
              <a:solidFill>
                <a:srgbClr val="0042FF"/>
              </a:solidFill>
              <a:latin typeface="微软雅黑"/>
              <a:ea typeface="微软雅黑"/>
              <a:cs typeface="微软雅黑"/>
              <a:sym typeface="微软雅黑"/>
            </a:endParaRPr>
          </a:p>
        </p:txBody>
      </p:sp>
      <p:sp>
        <p:nvSpPr>
          <p:cNvPr id="115" name="剪去单角的矩形 114"/>
          <p:cNvSpPr/>
          <p:nvPr/>
        </p:nvSpPr>
        <p:spPr>
          <a:xfrm>
            <a:off x="2158198" y="3835843"/>
            <a:ext cx="1148820" cy="360000"/>
          </a:xfrm>
          <a:prstGeom prst="snip1Rect">
            <a:avLst/>
          </a:prstGeom>
          <a:solidFill>
            <a:srgbClr val="3368FF"/>
          </a:soli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0" rIns="91440" bIns="4572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资料上报</a:t>
            </a:r>
            <a:endParaRPr kumimoji="1" lang="zh-CN" altLang="en-US" sz="1400" dirty="0">
              <a:solidFill>
                <a:srgbClr val="FFFFFF"/>
              </a:solidFill>
              <a:latin typeface="微软雅黑"/>
              <a:ea typeface="微软雅黑"/>
              <a:cs typeface="微软雅黑"/>
              <a:sym typeface="微软雅黑"/>
            </a:endParaRPr>
          </a:p>
        </p:txBody>
      </p:sp>
      <p:sp>
        <p:nvSpPr>
          <p:cNvPr id="116" name="剪去单角的矩形 115"/>
          <p:cNvSpPr/>
          <p:nvPr/>
        </p:nvSpPr>
        <p:spPr>
          <a:xfrm>
            <a:off x="489727" y="5817337"/>
            <a:ext cx="1148820" cy="360000"/>
          </a:xfrm>
          <a:prstGeom prst="snip1Rect">
            <a:avLst/>
          </a:prstGeom>
          <a:solidFill>
            <a:srgbClr val="3368FF"/>
          </a:soli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horz" tIns="0" rtlCol="0" anchor="ctr" anchorCtr="0"/>
          <a:lstStyle/>
          <a:p>
            <a:pPr algn="ctr" defTabSz="457200">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rPr>
              <a:t>验证交维</a:t>
            </a:r>
            <a:endParaRPr kumimoji="1" lang="zh-CN" altLang="en-US" sz="1400" dirty="0">
              <a:solidFill>
                <a:srgbClr val="FFFFFF"/>
              </a:solidFill>
              <a:latin typeface="微软雅黑"/>
              <a:ea typeface="微软雅黑"/>
              <a:cs typeface="微软雅黑"/>
            </a:endParaRPr>
          </a:p>
        </p:txBody>
      </p:sp>
      <p:sp>
        <p:nvSpPr>
          <p:cNvPr id="117" name="剪去单角的矩形 116"/>
          <p:cNvSpPr/>
          <p:nvPr/>
        </p:nvSpPr>
        <p:spPr>
          <a:xfrm>
            <a:off x="9867260" y="3842203"/>
            <a:ext cx="1148820" cy="360000"/>
          </a:xfrm>
          <a:prstGeom prst="snip1Rect">
            <a:avLst/>
          </a:prstGeom>
          <a:solidFill>
            <a:srgbClr val="B3D4FE"/>
          </a:solidFill>
          <a:ln>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0" rIns="91440" bIns="45720" numCol="1" spcCol="0" rtlCol="0" fromWordArt="0" anchor="ctr" anchorCtr="0" forceAA="0" compatLnSpc="1">
            <a:noAutofit/>
          </a:bodyPr>
          <a:lstStyle/>
          <a:p>
            <a:pPr lvl="0" algn="ctr" defTabSz="457200">
              <a:buClrTx/>
              <a:buSzTx/>
              <a:buFontTx/>
              <a:defRPr>
                <a:latin typeface="微软雅黑"/>
                <a:ea typeface="微软雅黑"/>
                <a:cs typeface="微软雅黑"/>
              </a:defRPr>
            </a:pPr>
            <a:r>
              <a:rPr kumimoji="1" lang="zh-CN" altLang="en-US" sz="1400" dirty="0">
                <a:latin typeface="微软雅黑"/>
                <a:ea typeface="微软雅黑"/>
                <a:cs typeface="微软雅黑"/>
                <a:sym typeface="微软雅黑"/>
              </a:rPr>
              <a:t>派工</a:t>
            </a:r>
            <a:endParaRPr kumimoji="1" lang="zh-CN" altLang="en-US" sz="1400" dirty="0">
              <a:latin typeface="微软雅黑"/>
              <a:ea typeface="微软雅黑"/>
              <a:cs typeface="微软雅黑"/>
              <a:sym typeface="微软雅黑"/>
            </a:endParaRPr>
          </a:p>
        </p:txBody>
      </p:sp>
      <p:sp>
        <p:nvSpPr>
          <p:cNvPr id="118" name="剪去单角的矩形 117"/>
          <p:cNvSpPr/>
          <p:nvPr/>
        </p:nvSpPr>
        <p:spPr>
          <a:xfrm>
            <a:off x="7218114" y="3842203"/>
            <a:ext cx="1148820" cy="360000"/>
          </a:xfrm>
          <a:prstGeom prst="snip1Rect">
            <a:avLst/>
          </a:prstGeom>
          <a:solidFill>
            <a:srgbClr val="3368FF"/>
          </a:soli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0" rIns="91440" bIns="4572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出库配发</a:t>
            </a:r>
            <a:endParaRPr kumimoji="1" lang="zh-CN" altLang="en-US" sz="1400" dirty="0">
              <a:solidFill>
                <a:srgbClr val="FFFFFF"/>
              </a:solidFill>
              <a:latin typeface="微软雅黑"/>
              <a:ea typeface="微软雅黑"/>
              <a:cs typeface="微软雅黑"/>
              <a:sym typeface="微软雅黑"/>
            </a:endParaRPr>
          </a:p>
        </p:txBody>
      </p:sp>
      <p:sp>
        <p:nvSpPr>
          <p:cNvPr id="114" name="文本框 113"/>
          <p:cNvSpPr txBox="1"/>
          <p:nvPr/>
        </p:nvSpPr>
        <p:spPr>
          <a:xfrm>
            <a:off x="560137" y="1456043"/>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客户经理</a:t>
            </a:r>
            <a:endParaRPr kumimoji="1" lang="zh-CN" altLang="en-US" sz="1200" dirty="0">
              <a:solidFill>
                <a:srgbClr val="383838"/>
              </a:solidFill>
              <a:latin typeface="微软雅黑"/>
              <a:ea typeface="微软雅黑"/>
              <a:cs typeface="微软雅黑"/>
            </a:endParaRPr>
          </a:p>
        </p:txBody>
      </p:sp>
      <p:sp>
        <p:nvSpPr>
          <p:cNvPr id="119" name="剪去单角的矩形 118"/>
          <p:cNvSpPr/>
          <p:nvPr/>
        </p:nvSpPr>
        <p:spPr>
          <a:xfrm>
            <a:off x="5521590" y="1396971"/>
            <a:ext cx="1148820" cy="360000"/>
          </a:xfrm>
          <a:prstGeom prst="snip1Rect">
            <a:avLst/>
          </a:prstGeom>
          <a:solidFill>
            <a:srgbClr val="FFFFFF"/>
          </a:solidFill>
          <a:ln w="6350">
            <a:solidFill>
              <a:srgbClr val="0042FF"/>
            </a:solidFill>
            <a:prstDash val="solid"/>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rtlCol="0" anchor="ctr" anchorCtr="0"/>
          <a:lstStyle/>
          <a:p>
            <a:pPr algn="ctr" defTabSz="457200">
              <a:defRPr>
                <a:latin typeface="微软雅黑"/>
                <a:ea typeface="微软雅黑"/>
                <a:cs typeface="微软雅黑"/>
              </a:defRPr>
            </a:pPr>
            <a:r>
              <a:rPr kumimoji="1" lang="zh-CN" altLang="en-US" sz="1400" dirty="0">
                <a:solidFill>
                  <a:srgbClr val="0042FF"/>
                </a:solidFill>
                <a:latin typeface="微软雅黑"/>
                <a:ea typeface="微软雅黑"/>
                <a:cs typeface="微软雅黑"/>
              </a:rPr>
              <a:t>投资审核</a:t>
            </a:r>
            <a:endParaRPr kumimoji="1" lang="zh-CN" altLang="en-US" sz="1400" dirty="0">
              <a:solidFill>
                <a:srgbClr val="0042FF"/>
              </a:solidFill>
              <a:latin typeface="微软雅黑"/>
              <a:ea typeface="微软雅黑"/>
              <a:cs typeface="微软雅黑"/>
            </a:endParaRPr>
          </a:p>
        </p:txBody>
      </p:sp>
      <p:sp>
        <p:nvSpPr>
          <p:cNvPr id="120" name="剪去单角的矩形 119"/>
          <p:cNvSpPr/>
          <p:nvPr/>
        </p:nvSpPr>
        <p:spPr>
          <a:xfrm>
            <a:off x="5521590" y="2398815"/>
            <a:ext cx="1148820" cy="360000"/>
          </a:xfrm>
          <a:prstGeom prst="snip1Rect">
            <a:avLst/>
          </a:prstGeom>
          <a:solidFill>
            <a:srgbClr val="FFFFFF"/>
          </a:solidFill>
          <a:ln w="6350">
            <a:solidFill>
              <a:srgbClr val="0042FF"/>
            </a:solidFill>
            <a:prstDash val="solid"/>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r>
              <a:rPr kumimoji="1" lang="zh-CN" altLang="en-US" sz="1400" dirty="0">
                <a:solidFill>
                  <a:srgbClr val="0042FF"/>
                </a:solidFill>
                <a:latin typeface="微软雅黑"/>
                <a:ea typeface="微软雅黑"/>
                <a:cs typeface="微软雅黑"/>
                <a:sym typeface="微软雅黑"/>
              </a:rPr>
              <a:t>方案审核</a:t>
            </a:r>
            <a:endParaRPr kumimoji="1" lang="zh-CN" altLang="en-US" sz="1400" dirty="0">
              <a:solidFill>
                <a:srgbClr val="0042FF"/>
              </a:solidFill>
              <a:latin typeface="微软雅黑"/>
              <a:ea typeface="微软雅黑"/>
              <a:cs typeface="微软雅黑"/>
              <a:sym typeface="微软雅黑"/>
            </a:endParaRPr>
          </a:p>
        </p:txBody>
      </p:sp>
      <p:sp>
        <p:nvSpPr>
          <p:cNvPr id="121" name="剪去单角的矩形 120"/>
          <p:cNvSpPr/>
          <p:nvPr/>
        </p:nvSpPr>
        <p:spPr>
          <a:xfrm>
            <a:off x="10452319" y="1879713"/>
            <a:ext cx="1148400" cy="360000"/>
          </a:xfrm>
          <a:prstGeom prst="snip1Rect">
            <a:avLst/>
          </a:prstGeom>
          <a:gradFill flip="none" rotWithShape="1">
            <a:gsLst>
              <a:gs pos="0">
                <a:srgbClr val="3368FF"/>
              </a:gs>
              <a:gs pos="99000">
                <a:srgbClr val="0042FF"/>
              </a:gs>
            </a:gsLst>
            <a:lin ang="0" scaled="1"/>
            <a:tileRect/>
          </a:gradFill>
          <a:ln>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协议备案</a:t>
            </a:r>
            <a:endParaRPr kumimoji="1" lang="zh-CN" altLang="en-US" sz="1400" dirty="0">
              <a:solidFill>
                <a:srgbClr val="FFFFFF"/>
              </a:solidFill>
              <a:latin typeface="微软雅黑"/>
              <a:ea typeface="微软雅黑"/>
              <a:cs typeface="微软雅黑"/>
              <a:sym typeface="微软雅黑"/>
            </a:endParaRPr>
          </a:p>
        </p:txBody>
      </p:sp>
      <p:sp>
        <p:nvSpPr>
          <p:cNvPr id="122" name="剪去单角的矩形 121"/>
          <p:cNvSpPr/>
          <p:nvPr/>
        </p:nvSpPr>
        <p:spPr>
          <a:xfrm>
            <a:off x="10470253" y="4381347"/>
            <a:ext cx="1148820" cy="360000"/>
          </a:xfrm>
          <a:prstGeom prst="snip1Rect">
            <a:avLst/>
          </a:prstGeom>
          <a:solidFill>
            <a:srgbClr val="B3D4FE"/>
          </a:solidFill>
          <a:ln>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1440" tIns="0" rIns="91440" bIns="45720" numCol="1" spcCol="0" rtlCol="0" fromWordArt="0" anchor="ctr" anchorCtr="0" forceAA="0" compatLnSpc="1">
            <a:noAutofit/>
          </a:bodyPr>
          <a:lstStyle/>
          <a:p>
            <a:pPr lvl="0" algn="ctr" defTabSz="457200">
              <a:buClrTx/>
              <a:buSzTx/>
              <a:buFontTx/>
              <a:defRPr>
                <a:latin typeface="微软雅黑"/>
                <a:ea typeface="微软雅黑"/>
                <a:cs typeface="微软雅黑"/>
              </a:defRPr>
            </a:pPr>
            <a:r>
              <a:rPr kumimoji="1" lang="zh-CN" altLang="en-US" sz="1400" dirty="0">
                <a:latin typeface="微软雅黑"/>
                <a:ea typeface="微软雅黑"/>
                <a:cs typeface="微软雅黑"/>
                <a:sym typeface="微软雅黑"/>
              </a:rPr>
              <a:t>监理公司</a:t>
            </a:r>
            <a:endParaRPr kumimoji="1" lang="zh-CN" altLang="en-US" sz="1400" dirty="0">
              <a:latin typeface="微软雅黑"/>
              <a:ea typeface="微软雅黑"/>
              <a:cs typeface="微软雅黑"/>
              <a:sym typeface="微软雅黑"/>
            </a:endParaRPr>
          </a:p>
        </p:txBody>
      </p:sp>
      <p:sp>
        <p:nvSpPr>
          <p:cNvPr id="123" name="文本框 122"/>
          <p:cNvSpPr txBox="1"/>
          <p:nvPr/>
        </p:nvSpPr>
        <p:spPr>
          <a:xfrm>
            <a:off x="2228608" y="1456043"/>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县网络部</a:t>
            </a:r>
            <a:endParaRPr kumimoji="1" lang="zh-CN" altLang="en-US" sz="1200" dirty="0">
              <a:solidFill>
                <a:srgbClr val="383838"/>
              </a:solidFill>
              <a:latin typeface="微软雅黑"/>
              <a:ea typeface="微软雅黑"/>
              <a:cs typeface="微软雅黑"/>
            </a:endParaRPr>
          </a:p>
        </p:txBody>
      </p:sp>
      <p:sp>
        <p:nvSpPr>
          <p:cNvPr id="124" name="文本框 123"/>
          <p:cNvSpPr txBox="1"/>
          <p:nvPr/>
        </p:nvSpPr>
        <p:spPr>
          <a:xfrm>
            <a:off x="3896272" y="1456043"/>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设计院</a:t>
            </a:r>
            <a:endParaRPr kumimoji="1" lang="zh-CN" altLang="en-US" sz="1200" dirty="0">
              <a:solidFill>
                <a:srgbClr val="383838"/>
              </a:solidFill>
              <a:latin typeface="微软雅黑"/>
              <a:ea typeface="微软雅黑"/>
              <a:cs typeface="微软雅黑"/>
            </a:endParaRPr>
          </a:p>
        </p:txBody>
      </p:sp>
      <p:sp>
        <p:nvSpPr>
          <p:cNvPr id="125" name="文本框 124"/>
          <p:cNvSpPr txBox="1"/>
          <p:nvPr/>
        </p:nvSpPr>
        <p:spPr>
          <a:xfrm>
            <a:off x="5592000" y="967646"/>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支撑中心</a:t>
            </a:r>
            <a:endParaRPr kumimoji="1" lang="zh-CN" altLang="en-US" sz="1200" dirty="0">
              <a:solidFill>
                <a:srgbClr val="383838"/>
              </a:solidFill>
              <a:latin typeface="微软雅黑"/>
              <a:ea typeface="微软雅黑"/>
              <a:cs typeface="微软雅黑"/>
            </a:endParaRPr>
          </a:p>
        </p:txBody>
      </p:sp>
      <p:sp>
        <p:nvSpPr>
          <p:cNvPr id="126" name="文本框 125"/>
          <p:cNvSpPr txBox="1"/>
          <p:nvPr/>
        </p:nvSpPr>
        <p:spPr>
          <a:xfrm>
            <a:off x="5592000" y="2015252"/>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建设管理人</a:t>
            </a:r>
            <a:endParaRPr kumimoji="1" lang="zh-CN" altLang="en-US" sz="1200" dirty="0">
              <a:solidFill>
                <a:srgbClr val="383838"/>
              </a:solidFill>
              <a:latin typeface="微软雅黑"/>
              <a:ea typeface="微软雅黑"/>
              <a:cs typeface="微软雅黑"/>
            </a:endParaRPr>
          </a:p>
        </p:txBody>
      </p:sp>
      <p:sp>
        <p:nvSpPr>
          <p:cNvPr id="127" name="文本框 126"/>
          <p:cNvSpPr txBox="1"/>
          <p:nvPr/>
        </p:nvSpPr>
        <p:spPr>
          <a:xfrm>
            <a:off x="7172008" y="1047421"/>
            <a:ext cx="1249902" cy="715089"/>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包片负责人</a:t>
            </a:r>
            <a:endParaRPr kumimoji="1" lang="en-US" altLang="zh-CN" sz="1200" dirty="0">
              <a:solidFill>
                <a:srgbClr val="383838"/>
              </a:solidFill>
              <a:latin typeface="微软雅黑"/>
              <a:ea typeface="微软雅黑"/>
              <a:cs typeface="微软雅黑"/>
            </a:endParaRPr>
          </a:p>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管理人</a:t>
            </a:r>
            <a:endParaRPr kumimoji="1" lang="en-US" altLang="zh-CN" sz="1200" dirty="0">
              <a:solidFill>
                <a:srgbClr val="383838"/>
              </a:solidFill>
              <a:latin typeface="微软雅黑"/>
              <a:ea typeface="微软雅黑"/>
              <a:cs typeface="微软雅黑"/>
            </a:endParaRPr>
          </a:p>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设计院、监理</a:t>
            </a:r>
            <a:endParaRPr kumimoji="1" lang="zh-CN" altLang="en-US" sz="1200" dirty="0">
              <a:solidFill>
                <a:srgbClr val="383838"/>
              </a:solidFill>
              <a:latin typeface="微软雅黑"/>
              <a:ea typeface="微软雅黑"/>
              <a:cs typeface="微软雅黑"/>
            </a:endParaRPr>
          </a:p>
        </p:txBody>
      </p:sp>
      <p:sp>
        <p:nvSpPr>
          <p:cNvPr id="128" name="文本框 127"/>
          <p:cNvSpPr txBox="1"/>
          <p:nvPr/>
        </p:nvSpPr>
        <p:spPr>
          <a:xfrm>
            <a:off x="8902590" y="1456043"/>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客户经理</a:t>
            </a:r>
            <a:endParaRPr kumimoji="1" lang="zh-CN" altLang="en-US" sz="1200" dirty="0">
              <a:solidFill>
                <a:srgbClr val="383838"/>
              </a:solidFill>
              <a:latin typeface="微软雅黑"/>
              <a:ea typeface="微软雅黑"/>
              <a:cs typeface="微软雅黑"/>
            </a:endParaRPr>
          </a:p>
        </p:txBody>
      </p:sp>
      <p:sp>
        <p:nvSpPr>
          <p:cNvPr id="130" name="文本框 129"/>
          <p:cNvSpPr txBox="1"/>
          <p:nvPr/>
        </p:nvSpPr>
        <p:spPr>
          <a:xfrm>
            <a:off x="10522519" y="1456043"/>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支撑中心</a:t>
            </a:r>
            <a:endParaRPr kumimoji="1" lang="zh-CN" altLang="en-US" sz="1200" dirty="0">
              <a:solidFill>
                <a:srgbClr val="383838"/>
              </a:solidFill>
              <a:latin typeface="微软雅黑"/>
              <a:ea typeface="微软雅黑"/>
              <a:cs typeface="微软雅黑"/>
            </a:endParaRPr>
          </a:p>
        </p:txBody>
      </p:sp>
      <p:sp>
        <p:nvSpPr>
          <p:cNvPr id="131" name="文本框 130"/>
          <p:cNvSpPr txBox="1"/>
          <p:nvPr/>
        </p:nvSpPr>
        <p:spPr>
          <a:xfrm>
            <a:off x="560137" y="3370406"/>
            <a:ext cx="1008000" cy="306467"/>
          </a:xfrm>
          <a:prstGeom prst="roundRect">
            <a:avLst/>
          </a:prstGeom>
          <a:solidFill>
            <a:srgbClr val="FFFFFF">
              <a:alpha val="70000"/>
            </a:srgbClr>
          </a:solidFill>
        </p:spPr>
        <p:txBody>
          <a:bodyPr wrap="square" rtlCol="0" anchor="ctr" anchorCtr="0" lIns="0" rIns="0" tIns="0" bIns="0">
            <a:spAutoFit/>
          </a:bodyPr>
          <a:lstStyle>
            <a:defPPr>
              <a:defRPr lang="zh-CN">
                <a:latin typeface="微软雅黑"/>
                <a:ea typeface="微软雅黑"/>
                <a:cs typeface="微软雅黑"/>
              </a:defRPr>
            </a:defPPr>
            <a:lvl1pPr marR="0" lvl="0" indent="0" algn="ctr"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rPr>
              <a:t>支撑中心</a:t>
            </a:r>
            <a:endParaRPr lang="zh-CN" altLang="en-US" dirty="0">
              <a:solidFill>
                <a:srgbClr val="383838"/>
              </a:solidFill>
              <a:latin typeface="微软雅黑"/>
              <a:ea typeface="微软雅黑"/>
              <a:cs typeface="微软雅黑"/>
            </a:endParaRPr>
          </a:p>
        </p:txBody>
      </p:sp>
      <p:sp>
        <p:nvSpPr>
          <p:cNvPr id="132" name="文本框 131"/>
          <p:cNvSpPr txBox="1"/>
          <p:nvPr/>
        </p:nvSpPr>
        <p:spPr>
          <a:xfrm>
            <a:off x="2228608" y="3370406"/>
            <a:ext cx="1008000" cy="306467"/>
          </a:xfrm>
          <a:prstGeom prst="roundRect">
            <a:avLst/>
          </a:prstGeom>
          <a:solidFill>
            <a:srgbClr val="FFFFFF">
              <a:alpha val="70000"/>
            </a:srgbClr>
          </a:solidFill>
        </p:spPr>
        <p:txBody>
          <a:bodyPr wrap="square" rtlCol="0" anchor="ctr" anchorCtr="0" lIns="0" rIns="0" tIns="0" bIns="0">
            <a:spAutoFit/>
          </a:bodyPr>
          <a:lstStyle>
            <a:defPPr>
              <a:defRPr lang="zh-CN">
                <a:latin typeface="微软雅黑"/>
                <a:ea typeface="微软雅黑"/>
                <a:cs typeface="微软雅黑"/>
              </a:defRPr>
            </a:defPPr>
            <a:lvl1pPr marR="0" lvl="0" indent="0" algn="ctr"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rPr>
              <a:t>支撑人员</a:t>
            </a:r>
            <a:endParaRPr lang="zh-CN" altLang="en-US" dirty="0">
              <a:solidFill>
                <a:srgbClr val="383838"/>
              </a:solidFill>
              <a:latin typeface="微软雅黑"/>
              <a:ea typeface="微软雅黑"/>
              <a:cs typeface="微软雅黑"/>
            </a:endParaRPr>
          </a:p>
        </p:txBody>
      </p:sp>
      <p:sp>
        <p:nvSpPr>
          <p:cNvPr id="133" name="文本框 132"/>
          <p:cNvSpPr txBox="1"/>
          <p:nvPr/>
        </p:nvSpPr>
        <p:spPr>
          <a:xfrm>
            <a:off x="3896272" y="3370406"/>
            <a:ext cx="1008000" cy="306467"/>
          </a:xfrm>
          <a:prstGeom prst="roundRect">
            <a:avLst/>
          </a:prstGeom>
          <a:solidFill>
            <a:srgbClr val="FFFFFF">
              <a:alpha val="70000"/>
            </a:srgbClr>
          </a:solidFill>
        </p:spPr>
        <p:txBody>
          <a:bodyPr wrap="square" rtlCol="0" anchor="ctr" anchorCtr="0" lIns="0" rIns="0" tIns="0" bIns="0">
            <a:spAutoFit/>
          </a:bodyPr>
          <a:lstStyle>
            <a:defPPr>
              <a:defRPr lang="zh-CN">
                <a:latin typeface="微软雅黑"/>
                <a:ea typeface="微软雅黑"/>
                <a:cs typeface="微软雅黑"/>
              </a:defRPr>
            </a:defPPr>
            <a:lvl1pPr marR="0" lvl="0" indent="0" algn="ctr"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rPr>
              <a:t>管理人员</a:t>
            </a:r>
            <a:endParaRPr lang="zh-CN" altLang="en-US" dirty="0">
              <a:solidFill>
                <a:srgbClr val="383838"/>
              </a:solidFill>
              <a:latin typeface="微软雅黑"/>
              <a:ea typeface="微软雅黑"/>
              <a:cs typeface="微软雅黑"/>
            </a:endParaRPr>
          </a:p>
        </p:txBody>
      </p:sp>
      <p:sp>
        <p:nvSpPr>
          <p:cNvPr id="134" name="文本框 133"/>
          <p:cNvSpPr txBox="1"/>
          <p:nvPr/>
        </p:nvSpPr>
        <p:spPr>
          <a:xfrm>
            <a:off x="5455658" y="3154179"/>
            <a:ext cx="1249902" cy="305406"/>
          </a:xfrm>
          <a:prstGeom prst="roundRect">
            <a:avLst/>
          </a:prstGeom>
          <a:solidFill>
            <a:srgbClr val="FFFFFF">
              <a:alpha val="70000"/>
            </a:srgbClr>
          </a:solidFill>
        </p:spPr>
        <p:txBody>
          <a:bodyPr wrap="square" rtlCol="0" anchor="ctr" anchorCtr="0" lIns="0" rIns="0" tIns="0" bIns="0">
            <a:spAutoFit/>
          </a:bodyPr>
          <a:lstStyle>
            <a:defPPr>
              <a:defRPr lang="zh-CN">
                <a:latin typeface="微软雅黑"/>
                <a:ea typeface="微软雅黑"/>
                <a:cs typeface="微软雅黑"/>
              </a:defRPr>
            </a:defPPr>
            <a:lvl1pPr marR="0" lvl="0" indent="0" algn="ctr"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lvl="0" algn="ct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入围施工单位</a:t>
            </a:r>
            <a:endParaRPr lang="zh-CN" altLang="en-US" dirty="0">
              <a:solidFill>
                <a:srgbClr val="383838"/>
              </a:solidFill>
              <a:latin typeface="微软雅黑"/>
              <a:ea typeface="微软雅黑"/>
              <a:cs typeface="微软雅黑"/>
              <a:sym typeface="微软雅黑"/>
            </a:endParaRPr>
          </a:p>
        </p:txBody>
      </p:sp>
      <p:sp>
        <p:nvSpPr>
          <p:cNvPr id="135" name="文本框 134"/>
          <p:cNvSpPr txBox="1"/>
          <p:nvPr/>
        </p:nvSpPr>
        <p:spPr>
          <a:xfrm>
            <a:off x="7172008" y="3154476"/>
            <a:ext cx="1249902" cy="510185"/>
          </a:xfrm>
          <a:prstGeom prst="roundRect">
            <a:avLst/>
          </a:prstGeom>
          <a:solidFill>
            <a:srgbClr val="FFFFFF">
              <a:alpha val="70000"/>
            </a:srgbClr>
          </a:solidFill>
        </p:spPr>
        <p:txBody>
          <a:bodyPr wrap="square" rtlCol="0" anchor="ctr" anchorCtr="0" lIns="0" rIns="0" tIns="0" bIns="0">
            <a:spAutoFit/>
          </a:bodyPr>
          <a:lstStyle>
            <a:defPPr>
              <a:defRPr lang="zh-CN">
                <a:latin typeface="微软雅黑"/>
                <a:ea typeface="微软雅黑"/>
                <a:cs typeface="微软雅黑"/>
              </a:defRPr>
            </a:defPPr>
            <a:lvl1pPr marR="0" lvl="0" indent="0" algn="ctr"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lvl="0" algn="ct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全业支撑中心</a:t>
            </a:r>
            <a:endParaRPr lang="zh-CN" altLang="en-US" dirty="0">
              <a:solidFill>
                <a:srgbClr val="383838"/>
              </a:solidFill>
              <a:latin typeface="微软雅黑"/>
              <a:ea typeface="微软雅黑"/>
              <a:cs typeface="微软雅黑"/>
              <a:sym typeface="微软雅黑"/>
            </a:endParaRPr>
          </a:p>
          <a:p>
            <a:pPr lvl="0" algn="ct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物料管理人员</a:t>
            </a:r>
            <a:endParaRPr lang="zh-CN" altLang="en-US" dirty="0">
              <a:solidFill>
                <a:srgbClr val="383838"/>
              </a:solidFill>
              <a:latin typeface="微软雅黑"/>
              <a:ea typeface="微软雅黑"/>
              <a:cs typeface="微软雅黑"/>
              <a:sym typeface="微软雅黑"/>
            </a:endParaRPr>
          </a:p>
        </p:txBody>
      </p:sp>
      <p:sp>
        <p:nvSpPr>
          <p:cNvPr id="136" name="文本框 135"/>
          <p:cNvSpPr txBox="1"/>
          <p:nvPr/>
        </p:nvSpPr>
        <p:spPr>
          <a:xfrm>
            <a:off x="560137" y="5324924"/>
            <a:ext cx="1008000"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四方签字</a:t>
            </a:r>
            <a:endParaRPr kumimoji="1" lang="zh-CN" altLang="en-US" sz="1200" dirty="0">
              <a:solidFill>
                <a:srgbClr val="383838"/>
              </a:solidFill>
              <a:latin typeface="微软雅黑"/>
              <a:ea typeface="微软雅黑"/>
              <a:cs typeface="微软雅黑"/>
            </a:endParaRPr>
          </a:p>
        </p:txBody>
      </p:sp>
      <p:sp>
        <p:nvSpPr>
          <p:cNvPr id="11" name="剪去单角的矩形 10"/>
          <p:cNvSpPr/>
          <p:nvPr/>
        </p:nvSpPr>
        <p:spPr>
          <a:xfrm>
            <a:off x="7218114" y="5817337"/>
            <a:ext cx="1148820" cy="360000"/>
          </a:xfrm>
          <a:prstGeom prst="snip1Rect">
            <a:avLst/>
          </a:prstGeom>
          <a:solidFill>
            <a:srgbClr val="3368FF"/>
          </a:soli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转资</a:t>
            </a:r>
            <a:endParaRPr kumimoji="1" lang="zh-CN" altLang="en-US" sz="1400" dirty="0">
              <a:solidFill>
                <a:srgbClr val="FFFFFF"/>
              </a:solidFill>
              <a:latin typeface="微软雅黑"/>
              <a:ea typeface="微软雅黑"/>
              <a:cs typeface="微软雅黑"/>
              <a:sym typeface="微软雅黑"/>
            </a:endParaRPr>
          </a:p>
        </p:txBody>
      </p:sp>
      <p:sp>
        <p:nvSpPr>
          <p:cNvPr id="111" name="剪去单角的矩形 110"/>
          <p:cNvSpPr/>
          <p:nvPr/>
        </p:nvSpPr>
        <p:spPr>
          <a:xfrm>
            <a:off x="3838090" y="5817337"/>
            <a:ext cx="1148820" cy="360000"/>
          </a:xfrm>
          <a:prstGeom prst="snip1Rect">
            <a:avLst/>
          </a:prstGeom>
          <a:solidFill>
            <a:srgbClr val="3368FF"/>
          </a:soli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账务报账</a:t>
            </a:r>
            <a:endParaRPr kumimoji="1" lang="zh-CN" altLang="en-US" sz="1400" dirty="0">
              <a:solidFill>
                <a:srgbClr val="FFFFFF"/>
              </a:solidFill>
              <a:latin typeface="微软雅黑"/>
              <a:ea typeface="微软雅黑"/>
              <a:cs typeface="微软雅黑"/>
              <a:sym typeface="微软雅黑"/>
            </a:endParaRPr>
          </a:p>
        </p:txBody>
      </p:sp>
      <p:sp>
        <p:nvSpPr>
          <p:cNvPr id="112" name="剪去单角的矩形 111"/>
          <p:cNvSpPr/>
          <p:nvPr/>
        </p:nvSpPr>
        <p:spPr>
          <a:xfrm>
            <a:off x="9877909" y="5817337"/>
            <a:ext cx="1148820" cy="360000"/>
          </a:xfrm>
          <a:prstGeom prst="snip1Rect">
            <a:avLst/>
          </a:prstGeom>
          <a:solidFill>
            <a:srgbClr val="3368FF"/>
          </a:solidFill>
          <a:ln>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r>
              <a:rPr kumimoji="1" lang="zh-CN" altLang="en-US" sz="1400" dirty="0">
                <a:solidFill>
                  <a:srgbClr val="FFFFFF"/>
                </a:solidFill>
                <a:latin typeface="微软雅黑"/>
                <a:ea typeface="微软雅黑"/>
                <a:cs typeface="微软雅黑"/>
                <a:sym typeface="微软雅黑"/>
              </a:rPr>
              <a:t>决算交付</a:t>
            </a:r>
            <a:endParaRPr kumimoji="1" lang="zh-CN" altLang="en-US" sz="1400" dirty="0">
              <a:solidFill>
                <a:srgbClr val="FFFFFF"/>
              </a:solidFill>
              <a:latin typeface="微软雅黑"/>
              <a:ea typeface="微软雅黑"/>
              <a:cs typeface="微软雅黑"/>
              <a:sym typeface="微软雅黑"/>
            </a:endParaRPr>
          </a:p>
        </p:txBody>
      </p:sp>
      <p:sp>
        <p:nvSpPr>
          <p:cNvPr id="137" name="文本框 136"/>
          <p:cNvSpPr txBox="1"/>
          <p:nvPr/>
        </p:nvSpPr>
        <p:spPr>
          <a:xfrm>
            <a:off x="6901145" y="5324924"/>
            <a:ext cx="1807054" cy="306467"/>
          </a:xfrm>
          <a:prstGeom prst="roundRect">
            <a:avLst/>
          </a:prstGeom>
          <a:solidFill>
            <a:srgbClr val="E6E6E6">
              <a:alpha val="44000"/>
            </a:srgbClr>
          </a:solidFill>
        </p:spPr>
        <p:txBody>
          <a:bodyPr wrap="square" rtlCol="0" anchor="ctr" anchorCtr="0">
            <a:spAutoFit/>
          </a:bodyPr>
          <a:lstStyle/>
          <a:p>
            <a:pPr algn="ctr" defTabSz="457200">
              <a:defRPr>
                <a:latin typeface="微软雅黑"/>
                <a:ea typeface="微软雅黑"/>
                <a:cs typeface="微软雅黑"/>
              </a:defRPr>
            </a:pPr>
            <a:r>
              <a:rPr kumimoji="1" lang="zh-CN" altLang="en-US" sz="1200" dirty="0">
                <a:solidFill>
                  <a:srgbClr val="383838"/>
                </a:solidFill>
                <a:latin typeface="微软雅黑"/>
                <a:ea typeface="微软雅黑"/>
                <a:cs typeface="微软雅黑"/>
              </a:rPr>
              <a:t>市公司全业务中心</a:t>
            </a:r>
            <a:endParaRPr kumimoji="1" lang="zh-CN" altLang="en-US" sz="1200" dirty="0">
              <a:solidFill>
                <a:srgbClr val="383838"/>
              </a:solidFill>
              <a:latin typeface="微软雅黑"/>
              <a:ea typeface="微软雅黑"/>
              <a:cs typeface="微软雅黑"/>
            </a:endParaRPr>
          </a:p>
        </p:txBody>
      </p:sp>
      <p:sp>
        <p:nvSpPr>
          <p:cNvPr id="139" name="矩形 138"/>
          <p:cNvSpPr/>
          <p:nvPr/>
        </p:nvSpPr>
        <p:spPr>
          <a:xfrm>
            <a:off x="5255571" y="3027385"/>
            <a:ext cx="1661099" cy="1813121"/>
          </a:xfrm>
          <a:prstGeom prst="rect">
            <a:avLst/>
          </a:prstGeom>
          <a:ln w="6350">
            <a:solidFill>
              <a:srgbClr val="3368FF"/>
            </a:solidFill>
            <a:prstDash val="lgDashDot"/>
            <a:headEnd type="oval"/>
            <a:tailEnd type="triangle"/>
          </a:ln>
        </p:spPr>
        <p:style>
          <a:lnRef idx="1">
            <a:srgbClr val="0042FF"/>
          </a:lnRef>
          <a:fillRef idx="0">
            <a:srgbClr val="0042FF"/>
          </a:fillRef>
          <a:effectRef idx="0">
            <a:srgbClr val="0042FF"/>
          </a:effectRef>
          <a:fontRef idx="minor">
            <a:srgbClr val="383838"/>
          </a:fontRef>
        </p:style>
        <p:txBody>
          <a:bodyPr rtlCol="0" anchor="ctr" anchorCtr="0" lIns="0" rIns="0" tIns="0" bIns="0"/>
          <a:lstStyle/>
          <a:p>
            <a:pPr algn="ctr" defTabSz="457200">
              <a:defRPr>
                <a:latin typeface="微软雅黑"/>
                <a:ea typeface="微软雅黑"/>
                <a:cs typeface="微软雅黑"/>
              </a:defRPr>
            </a:pPr>
            <a:endParaRPr kumimoji="1" lang="zh-CN" altLang="en-US">
              <a:latin typeface="微软雅黑"/>
              <a:ea typeface="微软雅黑"/>
              <a:cs typeface="微软雅黑"/>
            </a:endParaRPr>
          </a:p>
        </p:txBody>
      </p:sp>
      <p:sp>
        <p:nvSpPr>
          <p:cNvPr id="140" name="矩形 139"/>
          <p:cNvSpPr/>
          <p:nvPr/>
        </p:nvSpPr>
        <p:spPr>
          <a:xfrm>
            <a:off x="3259500" y="5170378"/>
            <a:ext cx="8341220" cy="1214759"/>
          </a:xfrm>
          <a:prstGeom prst="rect">
            <a:avLst/>
          </a:prstGeom>
          <a:ln w="6350">
            <a:solidFill>
              <a:srgbClr val="3368FF"/>
            </a:solidFill>
            <a:prstDash val="lgDashDot"/>
            <a:headEnd type="oval"/>
            <a:tailEnd type="triangle"/>
          </a:ln>
        </p:spPr>
        <p:style>
          <a:lnRef idx="1">
            <a:srgbClr val="0042FF"/>
          </a:lnRef>
          <a:fillRef idx="0">
            <a:srgbClr val="0042FF"/>
          </a:fillRef>
          <a:effectRef idx="0">
            <a:srgbClr val="0042FF"/>
          </a:effectRef>
          <a:fontRef idx="minor">
            <a:srgbClr val="383838"/>
          </a:fontRef>
        </p:style>
        <p:txBody>
          <a:bodyPr rtlCol="0" anchor="ctr" anchorCtr="0" lIns="0" rIns="0" tIns="0" bIns="0"/>
          <a:lstStyle/>
          <a:p>
            <a:pPr algn="ctr" defTabSz="457200">
              <a:defRPr>
                <a:latin typeface="微软雅黑"/>
                <a:ea typeface="微软雅黑"/>
                <a:cs typeface="微软雅黑"/>
              </a:defRPr>
            </a:pPr>
            <a:endParaRPr kumimoji="1" lang="zh-CN" altLang="en-US">
              <a:latin typeface="微软雅黑"/>
              <a:ea typeface="微软雅黑"/>
              <a:cs typeface="微软雅黑"/>
            </a:endParaRPr>
          </a:p>
        </p:txBody>
      </p:sp>
      <p:cxnSp>
        <p:nvCxnSpPr>
          <p:cNvPr id="12" name="直线箭头连接符 77"/>
          <p:cNvCxnSpPr/>
          <p:nvPr/>
        </p:nvCxnSpPr>
        <p:spPr>
          <a:xfrm>
            <a:off x="1695030" y="2077082"/>
            <a:ext cx="402407" cy="0"/>
          </a:xfrm>
          <a:prstGeom prst="straightConnector1">
            <a:avLst/>
          </a:prstGeom>
          <a:ln>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3" name="直线箭头连接符 79"/>
          <p:cNvCxnSpPr/>
          <p:nvPr/>
        </p:nvCxnSpPr>
        <p:spPr>
          <a:xfrm>
            <a:off x="3380707" y="2077082"/>
            <a:ext cx="402407" cy="0"/>
          </a:xfrm>
          <a:prstGeom prst="straightConnector1">
            <a:avLst/>
          </a:prstGeom>
          <a:ln>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4" name="直线箭头连接符 80"/>
          <p:cNvCxnSpPr/>
          <p:nvPr/>
        </p:nvCxnSpPr>
        <p:spPr>
          <a:xfrm>
            <a:off x="8445125" y="2077082"/>
            <a:ext cx="319088" cy="0"/>
          </a:xfrm>
          <a:prstGeom prst="straightConnector1">
            <a:avLst/>
          </a:prstGeom>
          <a:ln>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5" name="直线箭头连接符 83"/>
          <p:cNvCxnSpPr/>
          <p:nvPr/>
        </p:nvCxnSpPr>
        <p:spPr>
          <a:xfrm>
            <a:off x="10068014" y="2077082"/>
            <a:ext cx="319088" cy="0"/>
          </a:xfrm>
          <a:prstGeom prst="straightConnector1">
            <a:avLst/>
          </a:prstGeom>
          <a:ln>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6" name="直线箭头连接符 85"/>
          <p:cNvCxnSpPr/>
          <p:nvPr/>
        </p:nvCxnSpPr>
        <p:spPr>
          <a:xfrm>
            <a:off x="10736505" y="2372260"/>
            <a:ext cx="0" cy="1395257"/>
          </a:xfrm>
          <a:prstGeom prst="straightConnector1">
            <a:avLst/>
          </a:prstGeom>
          <a:ln>
            <a:solidFill>
              <a:srgbClr val="B3D4FE"/>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7" name="直线箭头连接符 90"/>
          <p:cNvCxnSpPr/>
          <p:nvPr/>
        </p:nvCxnSpPr>
        <p:spPr>
          <a:xfrm>
            <a:off x="11381502" y="2372260"/>
            <a:ext cx="0" cy="1940578"/>
          </a:xfrm>
          <a:prstGeom prst="straightConnector1">
            <a:avLst/>
          </a:prstGeom>
          <a:ln>
            <a:solidFill>
              <a:srgbClr val="B3D4FE"/>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96" name="直线箭头连接符 95"/>
          <p:cNvCxnSpPr/>
          <p:nvPr/>
        </p:nvCxnSpPr>
        <p:spPr>
          <a:xfrm flipH="1">
            <a:off x="8421910" y="4022204"/>
            <a:ext cx="1333548" cy="0"/>
          </a:xfrm>
          <a:prstGeom prst="straightConnector1">
            <a:avLst/>
          </a:prstGeom>
          <a:ln>
            <a:solidFill>
              <a:srgbClr val="B3D4FE"/>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97" name="直线箭头连接符 96"/>
          <p:cNvCxnSpPr/>
          <p:nvPr/>
        </p:nvCxnSpPr>
        <p:spPr>
          <a:xfrm flipH="1">
            <a:off x="1674710" y="4022203"/>
            <a:ext cx="402407" cy="0"/>
          </a:xfrm>
          <a:prstGeom prst="straightConnector1">
            <a:avLst/>
          </a:prstGeom>
          <a:ln>
            <a:solidFill>
              <a:srgbClr val="B3D4FE"/>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00" name="直线箭头连接符 99"/>
          <p:cNvCxnSpPr/>
          <p:nvPr/>
        </p:nvCxnSpPr>
        <p:spPr>
          <a:xfrm flipH="1">
            <a:off x="3360387" y="4022203"/>
            <a:ext cx="402407" cy="0"/>
          </a:xfrm>
          <a:prstGeom prst="straightConnector1">
            <a:avLst/>
          </a:prstGeom>
          <a:ln>
            <a:solidFill>
              <a:srgbClr val="B3D4FE"/>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03" name="直线箭头连接符 102"/>
          <p:cNvCxnSpPr/>
          <p:nvPr/>
        </p:nvCxnSpPr>
        <p:spPr>
          <a:xfrm>
            <a:off x="1695030" y="5997337"/>
            <a:ext cx="2088084" cy="0"/>
          </a:xfrm>
          <a:prstGeom prst="straightConnector1">
            <a:avLst/>
          </a:prstGeom>
          <a:ln>
            <a:solidFill>
              <a:srgbClr val="3368FF"/>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06" name="直线箭头连接符 105"/>
          <p:cNvCxnSpPr/>
          <p:nvPr/>
        </p:nvCxnSpPr>
        <p:spPr>
          <a:xfrm>
            <a:off x="5094300" y="5997337"/>
            <a:ext cx="1932905" cy="0"/>
          </a:xfrm>
          <a:prstGeom prst="straightConnector1">
            <a:avLst/>
          </a:prstGeom>
          <a:ln>
            <a:solidFill>
              <a:srgbClr val="3368FF"/>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07" name="直线箭头连接符 106"/>
          <p:cNvCxnSpPr/>
          <p:nvPr/>
        </p:nvCxnSpPr>
        <p:spPr>
          <a:xfrm>
            <a:off x="8445125" y="5997337"/>
            <a:ext cx="1269970" cy="0"/>
          </a:xfrm>
          <a:prstGeom prst="straightConnector1">
            <a:avLst/>
          </a:prstGeom>
          <a:ln>
            <a:solidFill>
              <a:srgbClr val="3368FF"/>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08" name="直线箭头连接符 107"/>
          <p:cNvCxnSpPr/>
          <p:nvPr/>
        </p:nvCxnSpPr>
        <p:spPr>
          <a:xfrm>
            <a:off x="1064137" y="4349735"/>
            <a:ext cx="0" cy="923440"/>
          </a:xfrm>
          <a:prstGeom prst="straightConnector1">
            <a:avLst/>
          </a:prstGeom>
          <a:ln>
            <a:solidFill>
              <a:srgbClr val="3368FF"/>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09" name="直线箭头连接符 108"/>
          <p:cNvCxnSpPr/>
          <p:nvPr/>
        </p:nvCxnSpPr>
        <p:spPr>
          <a:xfrm flipH="1">
            <a:off x="5003451" y="4022203"/>
            <a:ext cx="252120" cy="0"/>
          </a:xfrm>
          <a:prstGeom prst="straightConnector1">
            <a:avLst/>
          </a:prstGeom>
          <a:ln>
            <a:solidFill>
              <a:srgbClr val="3368FF"/>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110" name="直线箭头连接符 109"/>
          <p:cNvCxnSpPr/>
          <p:nvPr/>
        </p:nvCxnSpPr>
        <p:spPr>
          <a:xfrm flipH="1">
            <a:off x="6872117" y="4022203"/>
            <a:ext cx="252120" cy="0"/>
          </a:xfrm>
          <a:prstGeom prst="straightConnector1">
            <a:avLst/>
          </a:prstGeom>
          <a:ln>
            <a:solidFill>
              <a:srgbClr val="3368FF"/>
            </a:solidFill>
            <a:prstDash val="dash"/>
            <a:headEnd type="oval"/>
            <a:tailEnd type="triangle"/>
          </a:ln>
        </p:spPr>
        <p:style>
          <a:lnRef idx="1">
            <a:srgbClr val="0042FF"/>
          </a:lnRef>
          <a:fillRef idx="0">
            <a:srgbClr val="0042FF"/>
          </a:fillRef>
          <a:effectRef idx="0">
            <a:srgbClr val="0042FF"/>
          </a:effectRef>
          <a:fontRef idx="minor">
            <a:srgbClr val="383838"/>
          </a:fontRef>
        </p:style>
      </p:cxnSp>
      <p:sp>
        <p:nvSpPr>
          <p:cNvPr id="113" name="文本框 112"/>
          <p:cNvSpPr txBox="1"/>
          <p:nvPr/>
        </p:nvSpPr>
        <p:spPr>
          <a:xfrm>
            <a:off x="10832749" y="3270876"/>
            <a:ext cx="492443" cy="276999"/>
          </a:xfrm>
          <a:prstGeom prst="rect">
            <a:avLst/>
          </a:prstGeom>
          <a:noFill/>
        </p:spPr>
        <p:txBody>
          <a:bodyPr wrap="none" rtlCol="0" anchor="ctr" anchorCtr="0">
            <a:spAutoFit/>
          </a:bodyPr>
          <a:lstStyle/>
          <a:p>
            <a:pPr algn="ctr" defTabSz="457200">
              <a:defRPr>
                <a:latin typeface="微软雅黑"/>
                <a:ea typeface="微软雅黑"/>
                <a:cs typeface="微软雅黑"/>
              </a:defRPr>
            </a:pPr>
            <a:r>
              <a:rPr kumimoji="1" lang="zh-CN" altLang="en-US" sz="1200" dirty="0">
                <a:latin typeface="微软雅黑"/>
                <a:ea typeface="微软雅黑"/>
                <a:cs typeface="微软雅黑"/>
              </a:rPr>
              <a:t>通知</a:t>
            </a:r>
            <a:endParaRPr kumimoji="1" lang="zh-CN" altLang="en-US" sz="1200" dirty="0">
              <a:latin typeface="微软雅黑"/>
              <a:ea typeface="微软雅黑"/>
              <a:cs typeface="微软雅黑"/>
            </a:endParaRPr>
          </a:p>
        </p:txBody>
      </p:sp>
      <p:sp>
        <p:nvSpPr>
          <p:cNvPr id="18" name="左大括号 17"/>
          <p:cNvSpPr/>
          <p:nvPr/>
        </p:nvSpPr>
        <p:spPr>
          <a:xfrm>
            <a:off x="5191979" y="1553659"/>
            <a:ext cx="228035" cy="1007165"/>
          </a:xfrm>
          <a:prstGeom prst="leftBrace">
            <a:avLst>
              <a:gd name="adj1" fmla="val 53900"/>
              <a:gd name="adj2" fmla="val 50000"/>
            </a:avLst>
          </a:prstGeom>
          <a:ln>
            <a:prstDash val="dash"/>
            <a:headEnd type="none"/>
            <a:tailEnd type="none"/>
          </a:ln>
        </p:spPr>
        <p:style>
          <a:lnRef idx="1">
            <a:srgbClr val="0042FF"/>
          </a:lnRef>
          <a:fillRef idx="0">
            <a:srgbClr val="0042FF"/>
          </a:fillRef>
          <a:effectRef idx="0">
            <a:srgbClr val="0042FF"/>
          </a:effectRef>
          <a:fontRef idx="minor">
            <a:srgbClr val="383838"/>
          </a:fontRef>
        </p:style>
        <p:txBody>
          <a:bodyPr rtlCol="0" anchor="ctr" anchorCtr="0" lIns="0" rIns="0" tIns="0" bIns="0"/>
          <a:lstStyle/>
          <a:p>
            <a:pPr algn="ctr" defTabSz="457200">
              <a:defRPr>
                <a:latin typeface="微软雅黑"/>
                <a:ea typeface="微软雅黑"/>
                <a:cs typeface="微软雅黑"/>
              </a:defRPr>
            </a:pPr>
            <a:endParaRPr kumimoji="1" lang="zh-CN" altLang="en-US">
              <a:latin typeface="微软雅黑"/>
              <a:ea typeface="微软雅黑"/>
              <a:cs typeface="微软雅黑"/>
            </a:endParaRPr>
          </a:p>
        </p:txBody>
      </p:sp>
      <p:sp>
        <p:nvSpPr>
          <p:cNvPr id="129" name="左大括号 128"/>
          <p:cNvSpPr/>
          <p:nvPr/>
        </p:nvSpPr>
        <p:spPr>
          <a:xfrm flipH="1">
            <a:off x="6757017" y="1553659"/>
            <a:ext cx="228035" cy="1007165"/>
          </a:xfrm>
          <a:prstGeom prst="leftBrace">
            <a:avLst>
              <a:gd name="adj1" fmla="val 53900"/>
              <a:gd name="adj2" fmla="val 50000"/>
            </a:avLst>
          </a:prstGeom>
          <a:ln>
            <a:prstDash val="dash"/>
            <a:headEnd type="none"/>
            <a:tailEnd type="none"/>
          </a:ln>
        </p:spPr>
        <p:style>
          <a:lnRef idx="1">
            <a:srgbClr val="0042FF"/>
          </a:lnRef>
          <a:fillRef idx="0">
            <a:srgbClr val="0042FF"/>
          </a:fillRef>
          <a:effectRef idx="0">
            <a:srgbClr val="0042FF"/>
          </a:effectRef>
          <a:fontRef idx="minor">
            <a:srgbClr val="383838"/>
          </a:fontRef>
        </p:style>
        <p:txBody>
          <a:bodyPr rtlCol="0" anchor="ctr" anchorCtr="0" lIns="0" rIns="0" tIns="0" bIns="0"/>
          <a:lstStyle/>
          <a:p>
            <a:pPr algn="ctr" defTabSz="457200">
              <a:defRPr>
                <a:latin typeface="微软雅黑"/>
                <a:ea typeface="微软雅黑"/>
                <a:cs typeface="微软雅黑"/>
              </a:defRPr>
            </a:pPr>
            <a:endParaRPr kumimoji="1" lang="zh-CN" altLang="en-US">
              <a:latin typeface="微软雅黑"/>
              <a:ea typeface="微软雅黑"/>
              <a:cs typeface="微软雅黑"/>
            </a:endParaRPr>
          </a:p>
        </p:txBody>
      </p:sp>
      <p:sp>
        <p:nvSpPr>
          <p:cNvPr id="19" name="五角星 18"/>
          <p:cNvSpPr/>
          <p:nvPr/>
        </p:nvSpPr>
        <p:spPr>
          <a:xfrm>
            <a:off x="10382444" y="6214436"/>
            <a:ext cx="162630" cy="162630"/>
          </a:xfrm>
          <a:prstGeom prst="star5">
            <a:avLst>
              <a:gd name="adj" fmla="val 21920"/>
              <a:gd name="hf" fmla="val 105146"/>
              <a:gd name="vf" fmla="val 110557"/>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91440" tIns="0" rIns="91440" bIns="45720" numCol="1" spcCol="0" rtlCol="0" fromWordArt="0" anchor="ctr" anchorCtr="0" forceAA="0" compatLnSpc="1">
            <a:noAutofit/>
          </a:bodyPr>
          <a:lstStyle/>
          <a:p>
            <a:pPr algn="ctr" defTabSz="457200">
              <a:defRPr>
                <a:solidFill>
                  <a:srgbClr val="FFFFFF"/>
                </a:solidFill>
                <a:latin typeface="微软雅黑"/>
                <a:ea typeface="微软雅黑"/>
                <a:cs typeface="微软雅黑"/>
              </a:defRPr>
            </a:pPr>
            <a:endParaRPr kumimoji="1" lang="zh-CN" altLang="en-US" sz="1400">
              <a:solidFill>
                <a:srgbClr val="FFFFFF"/>
              </a:solidFill>
              <a:latin typeface="微软雅黑"/>
              <a:ea typeface="微软雅黑"/>
              <a:cs typeface="微软雅黑"/>
            </a:endParaRPr>
          </a:p>
        </p:txBody>
      </p:sp>
      <p:sp>
        <p:nvSpPr>
          <p:cNvPr id="30" name="五角星 29"/>
          <p:cNvSpPr/>
          <p:nvPr/>
        </p:nvSpPr>
        <p:spPr>
          <a:xfrm>
            <a:off x="7711209" y="4268420"/>
            <a:ext cx="162630" cy="162630"/>
          </a:xfrm>
          <a:prstGeom prst="star5">
            <a:avLst>
              <a:gd name="adj" fmla="val 21920"/>
              <a:gd name="hf" fmla="val 105146"/>
              <a:gd name="vf" fmla="val 110557"/>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0" numCol="1" spcCol="0" rtlCol="0" fromWordArt="0" anchor="ctr" anchorCtr="0" forceAA="0" compatLnSpc="1">
            <a:noAutofit/>
          </a:bodyPr>
          <a:lstStyle/>
          <a:p>
            <a:pPr lvl="0" algn="ctr" defTabSz="457200">
              <a:buClrTx/>
              <a:buSzTx/>
              <a:buFontTx/>
              <a:defRPr>
                <a:solidFill>
                  <a:srgbClr val="383838"/>
                </a:solidFill>
                <a:latin typeface="微软雅黑"/>
                <a:ea typeface="微软雅黑"/>
                <a:cs typeface="微软雅黑"/>
              </a:defRPr>
            </a:pPr>
            <a:endParaRPr kumimoji="1" lang="zh-CN" altLang="en-US" sz="1400">
              <a:solidFill>
                <a:srgbClr val="383838"/>
              </a:solidFill>
              <a:latin typeface="微软雅黑"/>
              <a:ea typeface="微软雅黑"/>
              <a:cs typeface="微软雅黑"/>
              <a:sym typeface="微软雅黑"/>
            </a:endParaRPr>
          </a:p>
        </p:txBody>
      </p:sp>
      <p:sp>
        <p:nvSpPr>
          <p:cNvPr id="32" name="五角星 31"/>
          <p:cNvSpPr/>
          <p:nvPr/>
        </p:nvSpPr>
        <p:spPr>
          <a:xfrm>
            <a:off x="7714162" y="2287977"/>
            <a:ext cx="162630" cy="162630"/>
          </a:xfrm>
          <a:prstGeom prst="star5">
            <a:avLst>
              <a:gd name="adj" fmla="val 21920"/>
              <a:gd name="hf" fmla="val 105146"/>
              <a:gd name="vf" fmla="val 110557"/>
            </a:avLst>
          </a:prstGeom>
          <a:gradFill flip="none" rotWithShape="1">
            <a:gsLst>
              <a:gs pos="0">
                <a:srgbClr val="3368FF"/>
              </a:gs>
              <a:gs pos="99000">
                <a:srgbClr val="0042FF"/>
              </a:gs>
            </a:gsLst>
            <a:lin ang="0" scaled="1"/>
            <a:tileRect/>
          </a:gradFill>
          <a:ln>
            <a:noFill/>
          </a:ln>
          <a:effectLst>
            <a:outerShdw blurRad="330200" dist="88900" dir="5400000" algn="t" rotWithShape="0">
              <a:srgbClr val="0042FF">
                <a:alpha val="38000"/>
              </a:srgbClr>
            </a:outerShdw>
          </a:effectLst>
        </p:spPr>
        <p:style>
          <a:lnRef idx="2">
            <a:srgbClr val="0042FF"/>
          </a:lnRef>
          <a:fillRef idx="1">
            <a:srgbClr val="0042FF"/>
          </a:fillRef>
          <a:effectRef idx="0">
            <a:srgbClr val="0042FF"/>
          </a:effectRef>
          <a:fontRef idx="minor">
            <a:srgbClr val="FFFFFF"/>
          </a:fontRef>
        </p:style>
        <p:txBody>
          <a:bodyPr vert="horz" tIns="0" bIns="0" rtlCol="0" anchor="ctr" anchorCtr="0"/>
          <a:lstStyle/>
          <a:p>
            <a:pPr algn="ctr" defTabSz="457200">
              <a:defRPr>
                <a:solidFill>
                  <a:srgbClr val="383838"/>
                </a:solidFill>
                <a:latin typeface="微软雅黑"/>
                <a:ea typeface="微软雅黑"/>
                <a:cs typeface="微软雅黑"/>
              </a:defRPr>
            </a:pPr>
            <a:endParaRPr kumimoji="1" lang="zh-CN" altLang="en-US" sz="1400">
              <a:solidFill>
                <a:srgbClr val="383838"/>
              </a:solidFill>
              <a:latin typeface="微软雅黑"/>
              <a:ea typeface="微软雅黑"/>
              <a:cs typeface="微软雅黑"/>
            </a:endParaRPr>
          </a:p>
        </p:txBody>
      </p:sp>
      <p:sp>
        <p:nvSpPr>
          <p:cNvPr id="90" name="五角星 89"/>
          <p:cNvSpPr/>
          <p:nvPr/>
        </p:nvSpPr>
        <p:spPr>
          <a:xfrm>
            <a:off x="2651293" y="4268420"/>
            <a:ext cx="162630" cy="162630"/>
          </a:xfrm>
          <a:prstGeom prst="star5">
            <a:avLst>
              <a:gd name="adj" fmla="val 21920"/>
              <a:gd name="hf" fmla="val 105146"/>
              <a:gd name="vf" fmla="val 110557"/>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tIns="0" bIns="0" numCol="1" spcCol="0" rtlCol="0" fromWordArt="0" anchor="ctr" anchorCtr="0" forceAA="0" compatLnSpc="1">
            <a:noAutofit/>
          </a:bodyPr>
          <a:lstStyle/>
          <a:p>
            <a:pPr lvl="0" algn="ctr" defTabSz="457200">
              <a:buClrTx/>
              <a:buSzTx/>
              <a:buFontTx/>
              <a:defRPr>
                <a:solidFill>
                  <a:srgbClr val="FFFFFF"/>
                </a:solidFill>
                <a:latin typeface="微软雅黑"/>
                <a:ea typeface="微软雅黑"/>
                <a:cs typeface="微软雅黑"/>
              </a:defRPr>
            </a:pPr>
            <a:endParaRPr kumimoji="1" lang="zh-CN" altLang="en-US" sz="1400">
              <a:solidFill>
                <a:srgbClr val="FFFFFF"/>
              </a:solidFill>
              <a:latin typeface="微软雅黑"/>
              <a:ea typeface="微软雅黑"/>
              <a:cs typeface="微软雅黑"/>
              <a:sym typeface="微软雅黑"/>
            </a:endParaRPr>
          </a:p>
        </p:txBody>
      </p:sp>
      <p:cxnSp>
        <p:nvCxnSpPr>
          <p:cNvPr id="33" name="直线箭头连接符 84"/>
          <p:cNvCxnSpPr/>
          <p:nvPr/>
        </p:nvCxnSpPr>
        <p:spPr>
          <a:xfrm flipH="1">
            <a:off x="6997894" y="4574212"/>
            <a:ext cx="3384550" cy="0"/>
          </a:xfrm>
          <a:prstGeom prst="straightConnector1">
            <a:avLst/>
          </a:prstGeom>
          <a:ln>
            <a:solidFill>
              <a:srgbClr val="B3D4FE"/>
            </a:solidFill>
            <a:prstDash val="dash"/>
            <a:headEnd type="oval"/>
            <a:tailEnd type="triangle"/>
          </a:ln>
        </p:spPr>
        <p:style>
          <a:lnRef idx="1">
            <a:srgbClr val="0042FF"/>
          </a:lnRef>
          <a:fillRef idx="0">
            <a:srgbClr val="0042FF"/>
          </a:fillRef>
          <a:effectRef idx="0">
            <a:srgbClr val="0042FF"/>
          </a:effectRef>
          <a:fontRef idx="minor">
            <a:srgbClr val="383838"/>
          </a:fontRef>
        </p:style>
      </p:cxn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0" name="组合 9"/>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zh-CN" altLang="en-US" sz="2500">
                <a:solidFill>
                  <a:srgbClr val="383838"/>
                </a:solidFill>
                <a:effectLst/>
                <a:latin typeface="微软雅黑"/>
                <a:ea typeface="微软雅黑"/>
                <a:cs typeface="微软雅黑"/>
              </a:rPr>
              <a:t>全域智能营销体验升维</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矩形 1"/>
          <p:cNvSpPr/>
          <p:nvPr/>
        </p:nvSpPr>
        <p:spPr>
          <a:xfrm>
            <a:off x="970915" y="2049145"/>
            <a:ext cx="735965" cy="1115695"/>
          </a:xfrm>
          <a:prstGeom prst="rect">
            <a:avLst/>
          </a:prstGeom>
          <a:solidFill>
            <a:srgbClr val="0042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600">
                <a:solidFill>
                  <a:srgbClr val="FFFFFF"/>
                </a:solidFill>
                <a:cs typeface="微软雅黑"/>
                <a:latin typeface="微软雅黑"/>
                <a:ea typeface="微软雅黑"/>
              </a:rPr>
              <a:t>数据层面</a:t>
            </a:r>
            <a:endParaRPr lang="zh-CN" altLang="en-US" sz="1600">
              <a:solidFill>
                <a:srgbClr val="FFFFFF"/>
              </a:solidFill>
              <a:cs typeface="微软雅黑"/>
              <a:latin typeface="微软雅黑"/>
              <a:ea typeface="微软雅黑"/>
            </a:endParaRPr>
          </a:p>
        </p:txBody>
      </p:sp>
      <p:sp>
        <p:nvSpPr>
          <p:cNvPr id="3" name="矩形 2"/>
          <p:cNvSpPr/>
          <p:nvPr/>
        </p:nvSpPr>
        <p:spPr>
          <a:xfrm>
            <a:off x="970915" y="3897630"/>
            <a:ext cx="735965" cy="1115695"/>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600">
                <a:solidFill>
                  <a:srgbClr val="FFFFFF"/>
                </a:solidFill>
                <a:cs typeface="微软雅黑"/>
                <a:latin typeface="微软雅黑"/>
                <a:ea typeface="微软雅黑"/>
              </a:rPr>
              <a:t>技术层面</a:t>
            </a:r>
            <a:endParaRPr lang="zh-CN" altLang="en-US" sz="1600">
              <a:solidFill>
                <a:srgbClr val="FFFFFF"/>
              </a:solidFill>
              <a:cs typeface="微软雅黑"/>
              <a:latin typeface="微软雅黑"/>
              <a:ea typeface="微软雅黑"/>
            </a:endParaRPr>
          </a:p>
        </p:txBody>
      </p:sp>
      <p:sp>
        <p:nvSpPr>
          <p:cNvPr id="4" name="矩形 3"/>
          <p:cNvSpPr/>
          <p:nvPr/>
        </p:nvSpPr>
        <p:spPr>
          <a:xfrm>
            <a:off x="970915" y="5530850"/>
            <a:ext cx="735965" cy="781685"/>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600">
                <a:solidFill>
                  <a:srgbClr val="FFFFFF"/>
                </a:solidFill>
                <a:cs typeface="微软雅黑"/>
                <a:latin typeface="微软雅黑"/>
                <a:ea typeface="微软雅黑"/>
              </a:rPr>
              <a:t>潜力层面</a:t>
            </a:r>
            <a:endParaRPr lang="zh-CN" altLang="en-US" sz="1600">
              <a:solidFill>
                <a:srgbClr val="FFFFFF"/>
              </a:solidFill>
              <a:cs typeface="微软雅黑"/>
              <a:latin typeface="微软雅黑"/>
              <a:ea typeface="微软雅黑"/>
            </a:endParaRPr>
          </a:p>
        </p:txBody>
      </p:sp>
      <p:cxnSp>
        <p:nvCxnSpPr>
          <p:cNvPr id="6" name="肘形连接符 5"/>
          <p:cNvCxnSpPr/>
          <p:nvPr/>
        </p:nvCxnSpPr>
        <p:spPr>
          <a:xfrm rot="10800000" flipH="1" flipV="1">
            <a:off x="970915" y="2651760"/>
            <a:ext cx="3175" cy="3314700"/>
          </a:xfrm>
          <a:prstGeom prst="bentConnector3">
            <a:avLst>
              <a:gd name="adj1" fmla="val -16500000"/>
            </a:avLst>
          </a:prstGeom>
          <a:ln>
            <a:solidFill>
              <a:srgbClr val="0042FF"/>
            </a:solidFill>
            <a:prstDash val="sysDash"/>
            <a:tailEnd type="triangle"/>
          </a:ln>
        </p:spPr>
        <p:style>
          <a:lnRef idx="2">
            <a:srgbClr val="0042FF"/>
          </a:lnRef>
          <a:fillRef idx="0">
            <a:srgbClr val="FFFFFF"/>
          </a:fillRef>
          <a:effectRef idx="0">
            <a:srgbClr val="FFFFFF"/>
          </a:effectRef>
          <a:fontRef idx="minor">
            <a:srgbClr val="383838"/>
          </a:fontRef>
        </p:style>
      </p:cxnSp>
      <p:cxnSp>
        <p:nvCxnSpPr>
          <p:cNvPr id="7" name="肘形连接符 6"/>
          <p:cNvCxnSpPr/>
          <p:nvPr/>
        </p:nvCxnSpPr>
        <p:spPr>
          <a:xfrm rot="10800000" flipV="1">
            <a:off x="923290" y="2738755"/>
            <a:ext cx="30480" cy="3106420"/>
          </a:xfrm>
          <a:prstGeom prst="bentConnector3">
            <a:avLst>
              <a:gd name="adj1" fmla="val 975000"/>
            </a:avLst>
          </a:prstGeom>
          <a:ln>
            <a:solidFill>
              <a:srgbClr val="3368FF"/>
            </a:solidFill>
            <a:prstDash val="sysDash"/>
            <a:headEnd type="triangle"/>
          </a:ln>
        </p:spPr>
        <p:style>
          <a:lnRef idx="2">
            <a:srgbClr val="0042FF"/>
          </a:lnRef>
          <a:fillRef idx="0">
            <a:srgbClr val="FFFFFF"/>
          </a:fillRef>
          <a:effectRef idx="0">
            <a:srgbClr val="FFFFFF"/>
          </a:effectRef>
          <a:fontRef idx="minor">
            <a:srgbClr val="383838"/>
          </a:fontRef>
        </p:style>
      </p:cxnSp>
      <p:cxnSp>
        <p:nvCxnSpPr>
          <p:cNvPr id="11" name="直接连接符 10"/>
          <p:cNvCxnSpPr/>
          <p:nvPr/>
        </p:nvCxnSpPr>
        <p:spPr>
          <a:xfrm>
            <a:off x="1339215" y="3225165"/>
            <a:ext cx="0" cy="589915"/>
          </a:xfrm>
          <a:prstGeom prst="line">
            <a:avLst/>
          </a:prstGeom>
          <a:ln>
            <a:solidFill>
              <a:srgbClr val="DCDCDC"/>
            </a:solidFill>
            <a:headEnd type="triangle"/>
            <a:tailEnd type="triangle"/>
          </a:ln>
        </p:spPr>
        <p:style>
          <a:lnRef idx="2">
            <a:srgbClr val="0042FF"/>
          </a:lnRef>
          <a:fillRef idx="0">
            <a:srgbClr val="FFFFFF"/>
          </a:fillRef>
          <a:effectRef idx="0">
            <a:srgbClr val="FFFFFF"/>
          </a:effectRef>
          <a:fontRef idx="minor">
            <a:srgbClr val="383838"/>
          </a:fontRef>
        </p:style>
      </p:cxnSp>
      <p:cxnSp>
        <p:nvCxnSpPr>
          <p:cNvPr id="12" name="直接连接符 11"/>
          <p:cNvCxnSpPr/>
          <p:nvPr/>
        </p:nvCxnSpPr>
        <p:spPr>
          <a:xfrm flipV="1">
            <a:off x="1339215" y="5060315"/>
            <a:ext cx="0" cy="426085"/>
          </a:xfrm>
          <a:prstGeom prst="line">
            <a:avLst/>
          </a:prstGeom>
          <a:ln>
            <a:solidFill>
              <a:srgbClr val="DCDCDC"/>
            </a:solidFill>
            <a:headEnd type="triangle"/>
            <a:tailEnd type="triangle"/>
          </a:ln>
        </p:spPr>
        <p:style>
          <a:lnRef idx="2">
            <a:srgbClr val="0042FF"/>
          </a:lnRef>
          <a:fillRef idx="0">
            <a:srgbClr val="FFFFFF"/>
          </a:fillRef>
          <a:effectRef idx="0">
            <a:srgbClr val="FFFFFF"/>
          </a:effectRef>
          <a:fontRef idx="minor">
            <a:srgbClr val="383838"/>
          </a:fontRef>
        </p:style>
      </p:cxnSp>
      <p:sp>
        <p:nvSpPr>
          <p:cNvPr id="13" name="矩形 12"/>
          <p:cNvSpPr/>
          <p:nvPr/>
        </p:nvSpPr>
        <p:spPr>
          <a:xfrm>
            <a:off x="1866583" y="2049463"/>
            <a:ext cx="911860" cy="1121410"/>
          </a:xfrm>
          <a:prstGeom prst="rect">
            <a:avLst/>
          </a:prstGeom>
          <a:solidFill>
            <a:srgbClr val="E6E6E6">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4" name="矩形 13"/>
          <p:cNvSpPr/>
          <p:nvPr/>
        </p:nvSpPr>
        <p:spPr>
          <a:xfrm>
            <a:off x="3161665" y="2473960"/>
            <a:ext cx="911860" cy="27241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应用软件</a:t>
            </a:r>
            <a:endParaRPr lang="zh-CN" altLang="en-US" sz="1200">
              <a:solidFill>
                <a:srgbClr val="0042FF"/>
              </a:solidFill>
              <a:cs typeface="微软雅黑"/>
              <a:sym typeface="微软雅黑"/>
              <a:latin typeface="微软雅黑"/>
              <a:ea typeface="微软雅黑"/>
            </a:endParaRPr>
          </a:p>
        </p:txBody>
      </p:sp>
      <p:sp>
        <p:nvSpPr>
          <p:cNvPr id="15" name="矩形 14"/>
          <p:cNvSpPr/>
          <p:nvPr/>
        </p:nvSpPr>
        <p:spPr>
          <a:xfrm>
            <a:off x="3161665" y="2074545"/>
            <a:ext cx="911860" cy="27241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硬件本身</a:t>
            </a:r>
            <a:endParaRPr lang="zh-CN" altLang="en-US" sz="1200">
              <a:solidFill>
                <a:srgbClr val="0042FF"/>
              </a:solidFill>
              <a:cs typeface="微软雅黑"/>
              <a:sym typeface="微软雅黑"/>
              <a:latin typeface="微软雅黑"/>
              <a:ea typeface="微软雅黑"/>
            </a:endParaRPr>
          </a:p>
        </p:txBody>
      </p:sp>
      <p:sp>
        <p:nvSpPr>
          <p:cNvPr id="16" name="矩形 15"/>
          <p:cNvSpPr/>
          <p:nvPr/>
        </p:nvSpPr>
        <p:spPr>
          <a:xfrm>
            <a:off x="3161665" y="2873375"/>
            <a:ext cx="911860" cy="272415"/>
          </a:xfrm>
          <a:prstGeom prst="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cs typeface="微软雅黑"/>
                <a:sym typeface="微软雅黑"/>
                <a:latin typeface="微软雅黑"/>
                <a:ea typeface="微软雅黑"/>
              </a:rPr>
              <a:t>用户行为</a:t>
            </a:r>
            <a:endParaRPr lang="zh-CN" altLang="en-US" sz="1200">
              <a:solidFill>
                <a:srgbClr val="0042FF"/>
              </a:solidFill>
              <a:cs typeface="微软雅黑"/>
              <a:sym typeface="微软雅黑"/>
              <a:latin typeface="微软雅黑"/>
              <a:ea typeface="微软雅黑"/>
            </a:endParaRPr>
          </a:p>
        </p:txBody>
      </p:sp>
      <p:sp>
        <p:nvSpPr>
          <p:cNvPr id="17" name="矩形 16"/>
          <p:cNvSpPr/>
          <p:nvPr/>
        </p:nvSpPr>
        <p:spPr>
          <a:xfrm>
            <a:off x="1871345" y="5530850"/>
            <a:ext cx="9893935" cy="781685"/>
          </a:xfrm>
          <a:prstGeom prst="rect">
            <a:avLst/>
          </a:prstGeom>
          <a:solidFill>
            <a:srgbClr val="3368FF">
              <a:alpha val="1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8" name="矩形 17"/>
          <p:cNvSpPr/>
          <p:nvPr/>
        </p:nvSpPr>
        <p:spPr>
          <a:xfrm>
            <a:off x="1871345" y="3897630"/>
            <a:ext cx="911860" cy="25560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云服务</a:t>
            </a:r>
            <a:endParaRPr lang="zh-CN" altLang="en-US" sz="1200">
              <a:solidFill>
                <a:srgbClr val="383838"/>
              </a:solidFill>
              <a:cs typeface="微软雅黑"/>
              <a:sym typeface="微软雅黑"/>
              <a:latin typeface="微软雅黑"/>
              <a:ea typeface="微软雅黑"/>
            </a:endParaRPr>
          </a:p>
        </p:txBody>
      </p:sp>
      <p:sp>
        <p:nvSpPr>
          <p:cNvPr id="20" name="矩形 19"/>
          <p:cNvSpPr/>
          <p:nvPr/>
        </p:nvSpPr>
        <p:spPr>
          <a:xfrm>
            <a:off x="1871345" y="4184980"/>
            <a:ext cx="911860" cy="25527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大数据</a:t>
            </a:r>
            <a:endParaRPr lang="zh-CN" altLang="en-US" sz="1200">
              <a:solidFill>
                <a:srgbClr val="383838"/>
              </a:solidFill>
              <a:cs typeface="微软雅黑"/>
              <a:sym typeface="微软雅黑"/>
              <a:latin typeface="微软雅黑"/>
              <a:ea typeface="微软雅黑"/>
            </a:endParaRPr>
          </a:p>
        </p:txBody>
      </p:sp>
      <p:sp>
        <p:nvSpPr>
          <p:cNvPr id="21" name="矩形 20"/>
          <p:cNvSpPr/>
          <p:nvPr/>
        </p:nvSpPr>
        <p:spPr>
          <a:xfrm>
            <a:off x="1871345" y="4472000"/>
            <a:ext cx="911860" cy="25527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AI</a:t>
            </a:r>
            <a:endParaRPr lang="zh-CN" altLang="en-US" sz="1200">
              <a:solidFill>
                <a:srgbClr val="383838"/>
              </a:solidFill>
              <a:cs typeface="微软雅黑"/>
              <a:sym typeface="微软雅黑"/>
              <a:latin typeface="微软雅黑"/>
              <a:ea typeface="微软雅黑"/>
            </a:endParaRPr>
          </a:p>
        </p:txBody>
      </p:sp>
      <p:sp>
        <p:nvSpPr>
          <p:cNvPr id="22" name="矩形 21"/>
          <p:cNvSpPr/>
          <p:nvPr/>
        </p:nvSpPr>
        <p:spPr>
          <a:xfrm>
            <a:off x="1871345" y="4759020"/>
            <a:ext cx="911860" cy="25527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a:t>
            </a:r>
            <a:endParaRPr lang="zh-CN" altLang="en-US" sz="1200">
              <a:solidFill>
                <a:srgbClr val="383838"/>
              </a:solidFill>
              <a:cs typeface="微软雅黑"/>
              <a:sym typeface="微软雅黑"/>
              <a:latin typeface="微软雅黑"/>
              <a:ea typeface="微软雅黑"/>
            </a:endParaRPr>
          </a:p>
        </p:txBody>
      </p:sp>
      <p:sp>
        <p:nvSpPr>
          <p:cNvPr id="23" name="矩形 22"/>
          <p:cNvSpPr/>
          <p:nvPr/>
        </p:nvSpPr>
        <p:spPr>
          <a:xfrm>
            <a:off x="3161665" y="3912870"/>
            <a:ext cx="1580515" cy="1139190"/>
          </a:xfrm>
          <a:prstGeom prst="rect">
            <a:avLst/>
          </a:prstGeom>
          <a:ln>
            <a:solidFill>
              <a:srgbClr val="3368FF"/>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4" name="矩形 23"/>
          <p:cNvSpPr/>
          <p:nvPr/>
        </p:nvSpPr>
        <p:spPr>
          <a:xfrm>
            <a:off x="5129530" y="1870710"/>
            <a:ext cx="680085" cy="816610"/>
          </a:xfrm>
          <a:prstGeom prst="rect">
            <a:avLst/>
          </a:prstGeom>
          <a:solidFill>
            <a:srgbClr val="E6E6E6">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5" name="矩形 24"/>
          <p:cNvSpPr/>
          <p:nvPr/>
        </p:nvSpPr>
        <p:spPr>
          <a:xfrm>
            <a:off x="5129530" y="2771775"/>
            <a:ext cx="680085" cy="669925"/>
          </a:xfrm>
          <a:prstGeom prst="rect">
            <a:avLst/>
          </a:prstGeom>
          <a:solidFill>
            <a:srgbClr val="E6E6E6">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6" name="矩形 25"/>
          <p:cNvSpPr/>
          <p:nvPr/>
        </p:nvSpPr>
        <p:spPr>
          <a:xfrm>
            <a:off x="5120640" y="3728085"/>
            <a:ext cx="680085" cy="941705"/>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广告</a:t>
            </a:r>
            <a:endParaRPr lang="zh-CN" altLang="en-US" sz="1200" b="1">
              <a:solidFill>
                <a:srgbClr val="0042FF"/>
              </a:solidFill>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主侧</a:t>
            </a:r>
            <a:endParaRPr lang="zh-CN" altLang="en-US" sz="1200" b="1">
              <a:solidFill>
                <a:srgbClr val="0042FF"/>
              </a:solidFill>
              <a:cs typeface="微软雅黑"/>
              <a:sym typeface="微软雅黑"/>
              <a:latin typeface="微软雅黑"/>
              <a:ea typeface="微软雅黑"/>
            </a:endParaRPr>
          </a:p>
        </p:txBody>
      </p:sp>
      <p:sp>
        <p:nvSpPr>
          <p:cNvPr id="27" name="矩形 26"/>
          <p:cNvSpPr/>
          <p:nvPr/>
        </p:nvSpPr>
        <p:spPr>
          <a:xfrm>
            <a:off x="5120640" y="4759325"/>
            <a:ext cx="680085" cy="45974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用户侧</a:t>
            </a:r>
            <a:endParaRPr lang="zh-CN" altLang="en-US" sz="1200" b="1">
              <a:solidFill>
                <a:srgbClr val="0042FF"/>
              </a:solidFill>
              <a:cs typeface="微软雅黑"/>
              <a:sym typeface="微软雅黑"/>
              <a:latin typeface="微软雅黑"/>
              <a:ea typeface="微软雅黑"/>
            </a:endParaRPr>
          </a:p>
        </p:txBody>
      </p:sp>
      <p:sp>
        <p:nvSpPr>
          <p:cNvPr id="28" name="矩形 27"/>
          <p:cNvSpPr/>
          <p:nvPr/>
        </p:nvSpPr>
        <p:spPr>
          <a:xfrm>
            <a:off x="6119495" y="1828165"/>
            <a:ext cx="895350" cy="397510"/>
          </a:xfrm>
          <a:prstGeom prst="rect">
            <a:avLst/>
          </a:prstGeom>
          <a:solidFill>
            <a:srgbClr val="E6E6E6">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投放策略</a:t>
            </a:r>
            <a:endParaRPr lang="zh-CN" altLang="en-US" sz="1200" b="1">
              <a:solidFill>
                <a:srgbClr val="0042FF"/>
              </a:solidFill>
              <a:cs typeface="微软雅黑"/>
              <a:sym typeface="微软雅黑"/>
              <a:latin typeface="微软雅黑"/>
              <a:ea typeface="微软雅黑"/>
            </a:endParaRPr>
          </a:p>
        </p:txBody>
      </p:sp>
      <p:sp>
        <p:nvSpPr>
          <p:cNvPr id="29" name="矩形 28"/>
          <p:cNvSpPr/>
          <p:nvPr/>
        </p:nvSpPr>
        <p:spPr>
          <a:xfrm>
            <a:off x="6119495" y="2751455"/>
            <a:ext cx="895350" cy="708660"/>
          </a:xfrm>
          <a:prstGeom prst="rect">
            <a:avLst/>
          </a:prstGeom>
          <a:solidFill>
            <a:srgbClr val="E6E6E6">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更懂用户</a:t>
            </a:r>
            <a:endParaRPr lang="zh-CN" altLang="en-US" sz="1200" b="1">
              <a:solidFill>
                <a:srgbClr val="0042FF"/>
              </a:solidFill>
              <a:cs typeface="微软雅黑"/>
              <a:sym typeface="微软雅黑"/>
              <a:latin typeface="微软雅黑"/>
              <a:ea typeface="微软雅黑"/>
            </a:endParaRPr>
          </a:p>
        </p:txBody>
      </p:sp>
      <p:sp>
        <p:nvSpPr>
          <p:cNvPr id="30" name="矩形 29"/>
          <p:cNvSpPr/>
          <p:nvPr/>
        </p:nvSpPr>
        <p:spPr>
          <a:xfrm>
            <a:off x="6119495" y="2289810"/>
            <a:ext cx="895350" cy="397510"/>
          </a:xfrm>
          <a:prstGeom prst="rect">
            <a:avLst/>
          </a:prstGeom>
          <a:solidFill>
            <a:srgbClr val="E6E6E6">
              <a:alpha val="50000"/>
            </a:srgbClr>
          </a:solidFill>
          <a:ln>
            <a:solidFill>
              <a:srgbClr val="0042FF">
                <a:alpha val="70000"/>
              </a:srgbClr>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广告形式</a:t>
            </a:r>
            <a:endParaRPr lang="zh-CN" altLang="en-US" sz="1200" b="1">
              <a:solidFill>
                <a:srgbClr val="0042FF"/>
              </a:solidFill>
              <a:cs typeface="微软雅黑"/>
              <a:sym typeface="微软雅黑"/>
              <a:latin typeface="微软雅黑"/>
              <a:ea typeface="微软雅黑"/>
            </a:endParaRPr>
          </a:p>
        </p:txBody>
      </p:sp>
      <p:sp>
        <p:nvSpPr>
          <p:cNvPr id="31" name="矩形 30"/>
          <p:cNvSpPr/>
          <p:nvPr/>
        </p:nvSpPr>
        <p:spPr>
          <a:xfrm>
            <a:off x="6119495" y="3728085"/>
            <a:ext cx="895350" cy="44069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广告制作</a:t>
            </a:r>
            <a:endParaRPr lang="zh-CN" altLang="en-US" sz="1200" b="1">
              <a:solidFill>
                <a:srgbClr val="0042FF"/>
              </a:solidFill>
              <a:cs typeface="微软雅黑"/>
              <a:sym typeface="微软雅黑"/>
              <a:latin typeface="微软雅黑"/>
              <a:ea typeface="微软雅黑"/>
            </a:endParaRPr>
          </a:p>
        </p:txBody>
      </p:sp>
      <p:sp>
        <p:nvSpPr>
          <p:cNvPr id="32" name="矩形 31"/>
          <p:cNvSpPr/>
          <p:nvPr/>
        </p:nvSpPr>
        <p:spPr>
          <a:xfrm>
            <a:off x="6119495" y="4229100"/>
            <a:ext cx="895350" cy="44069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跨端</a:t>
            </a:r>
            <a:r>
              <a:rPr lang="zh-CN" altLang="en-US" sz="1200" b="1">
                <a:solidFill>
                  <a:srgbClr val="0042FF"/>
                </a:solidFill>
                <a:cs typeface="微软雅黑"/>
                <a:sym typeface="微软雅黑"/>
                <a:latin typeface="微软雅黑"/>
                <a:ea typeface="微软雅黑"/>
              </a:rPr>
              <a:t>/</a:t>
            </a:r>
            <a:r>
              <a:rPr lang="zh-CN" altLang="en-US" sz="1200" b="1">
                <a:solidFill>
                  <a:srgbClr val="0042FF"/>
                </a:solidFill>
                <a:cs typeface="微软雅黑"/>
                <a:sym typeface="微软雅黑"/>
                <a:latin typeface="微软雅黑"/>
                <a:ea typeface="微软雅黑"/>
              </a:rPr>
              <a:t>平台投放</a:t>
            </a:r>
            <a:endParaRPr lang="zh-CN" altLang="en-US" sz="1200" b="1">
              <a:solidFill>
                <a:srgbClr val="0042FF"/>
              </a:solidFill>
              <a:cs typeface="微软雅黑"/>
              <a:sym typeface="微软雅黑"/>
              <a:latin typeface="微软雅黑"/>
              <a:ea typeface="微软雅黑"/>
            </a:endParaRPr>
          </a:p>
        </p:txBody>
      </p:sp>
      <p:sp>
        <p:nvSpPr>
          <p:cNvPr id="33" name="矩形 32"/>
          <p:cNvSpPr/>
          <p:nvPr/>
        </p:nvSpPr>
        <p:spPr>
          <a:xfrm>
            <a:off x="6119495" y="4759325"/>
            <a:ext cx="895350" cy="440690"/>
          </a:xfrm>
          <a:prstGeom prst="rect">
            <a:avLst/>
          </a:prstGeom>
          <a:solidFill>
            <a:srgbClr val="E6E6E6">
              <a:alpha val="20000"/>
            </a:srgbClr>
          </a:solidFill>
          <a:ln>
            <a:solidFill>
              <a:srgbClr val="3368FF"/>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互动更立体</a:t>
            </a:r>
            <a:endParaRPr lang="zh-CN" altLang="en-US" sz="1200" b="1">
              <a:solidFill>
                <a:srgbClr val="0042FF"/>
              </a:solidFill>
              <a:cs typeface="微软雅黑"/>
              <a:sym typeface="微软雅黑"/>
              <a:latin typeface="微软雅黑"/>
              <a:ea typeface="微软雅黑"/>
            </a:endParaRPr>
          </a:p>
        </p:txBody>
      </p:sp>
      <p:sp>
        <p:nvSpPr>
          <p:cNvPr id="35" name="矩形 34"/>
          <p:cNvSpPr/>
          <p:nvPr/>
        </p:nvSpPr>
        <p:spPr>
          <a:xfrm>
            <a:off x="7123430" y="1817370"/>
            <a:ext cx="4641850" cy="397510"/>
          </a:xfrm>
          <a:prstGeom prst="rect">
            <a:avLst/>
          </a:prstGeom>
          <a:solidFill>
            <a:srgbClr val="FFFFFF">
              <a:alpha val="10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l">
              <a:buClrTx/>
              <a:buSzTx/>
              <a:buFontTx/>
              <a:defRPr>
                <a:latin typeface="微软雅黑"/>
                <a:ea typeface="微软雅黑"/>
                <a:cs typeface="微软雅黑"/>
              </a:defRPr>
            </a:pPr>
            <a:endParaRPr lang="zh-CN" altLang="en-US" sz="1200">
              <a:solidFill>
                <a:srgbClr val="383838"/>
              </a:solidFill>
              <a:cs typeface="微软雅黑"/>
              <a:sym typeface="微软雅黑"/>
              <a:latin typeface="微软雅黑"/>
              <a:ea typeface="微软雅黑"/>
            </a:endParaRPr>
          </a:p>
        </p:txBody>
      </p:sp>
      <p:sp>
        <p:nvSpPr>
          <p:cNvPr id="36" name="矩形 35"/>
          <p:cNvSpPr/>
          <p:nvPr/>
        </p:nvSpPr>
        <p:spPr>
          <a:xfrm>
            <a:off x="7123430" y="2740660"/>
            <a:ext cx="4641850" cy="708660"/>
          </a:xfrm>
          <a:prstGeom prst="rect">
            <a:avLst/>
          </a:prstGeom>
          <a:solidFill>
            <a:srgbClr val="FFFFFF">
              <a:alpha val="10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l">
              <a:buClrTx/>
              <a:buSzTx/>
              <a:buFontTx/>
              <a:defRPr>
                <a:latin typeface="微软雅黑"/>
                <a:ea typeface="微软雅黑"/>
                <a:cs typeface="微软雅黑"/>
              </a:defRPr>
            </a:pPr>
            <a:endParaRPr lang="zh-CN" altLang="en-US" sz="1200">
              <a:solidFill>
                <a:srgbClr val="383838"/>
              </a:solidFill>
              <a:cs typeface="微软雅黑"/>
              <a:sym typeface="微软雅黑"/>
              <a:latin typeface="微软雅黑"/>
              <a:ea typeface="微软雅黑"/>
            </a:endParaRPr>
          </a:p>
        </p:txBody>
      </p:sp>
      <p:sp>
        <p:nvSpPr>
          <p:cNvPr id="37" name="矩形 36"/>
          <p:cNvSpPr/>
          <p:nvPr/>
        </p:nvSpPr>
        <p:spPr>
          <a:xfrm>
            <a:off x="7123430" y="2279015"/>
            <a:ext cx="4641850" cy="397510"/>
          </a:xfrm>
          <a:prstGeom prst="rect">
            <a:avLst/>
          </a:prstGeom>
          <a:solidFill>
            <a:srgbClr val="FFFFFF">
              <a:alpha val="10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l">
              <a:buClrTx/>
              <a:buSzTx/>
              <a:buFontTx/>
              <a:defRPr>
                <a:latin typeface="微软雅黑"/>
                <a:ea typeface="微软雅黑"/>
                <a:cs typeface="微软雅黑"/>
              </a:defRPr>
            </a:pPr>
            <a:endParaRPr lang="zh-CN" altLang="en-US" sz="1200">
              <a:solidFill>
                <a:srgbClr val="383838"/>
              </a:solidFill>
              <a:cs typeface="微软雅黑"/>
              <a:sym typeface="微软雅黑"/>
              <a:latin typeface="微软雅黑"/>
              <a:ea typeface="微软雅黑"/>
            </a:endParaRPr>
          </a:p>
        </p:txBody>
      </p:sp>
      <p:sp>
        <p:nvSpPr>
          <p:cNvPr id="38" name="矩形 37"/>
          <p:cNvSpPr/>
          <p:nvPr/>
        </p:nvSpPr>
        <p:spPr>
          <a:xfrm>
            <a:off x="7123430" y="3728085"/>
            <a:ext cx="4641850" cy="440690"/>
          </a:xfrm>
          <a:prstGeom prst="rect">
            <a:avLst/>
          </a:prstGeom>
          <a:ln>
            <a:solidFill>
              <a:srgbClr val="3368FF">
                <a:alpha val="95000"/>
              </a:srgbClr>
            </a:solidFill>
          </a:ln>
        </p:spPr>
        <p:style>
          <a:lnRef idx="2">
            <a:srgbClr val="0042FF"/>
          </a:lnRef>
          <a:fillRef idx="0">
            <a:srgbClr val="FFFF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39" name="矩形 38"/>
          <p:cNvSpPr/>
          <p:nvPr/>
        </p:nvSpPr>
        <p:spPr>
          <a:xfrm>
            <a:off x="7123430" y="4229100"/>
            <a:ext cx="4641850" cy="440690"/>
          </a:xfrm>
          <a:prstGeom prst="rect">
            <a:avLst/>
          </a:prstGeom>
          <a:ln>
            <a:solidFill>
              <a:srgbClr val="3368FF">
                <a:alpha val="95000"/>
              </a:srgbClr>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0" name="矩形 39"/>
          <p:cNvSpPr/>
          <p:nvPr/>
        </p:nvSpPr>
        <p:spPr>
          <a:xfrm>
            <a:off x="7123430" y="4759325"/>
            <a:ext cx="4641850" cy="440690"/>
          </a:xfrm>
          <a:prstGeom prst="rect">
            <a:avLst/>
          </a:prstGeom>
          <a:ln>
            <a:solidFill>
              <a:srgbClr val="3368FF">
                <a:alpha val="95000"/>
              </a:srgbClr>
            </a:solidFill>
          </a:ln>
        </p:spPr>
        <p:style>
          <a:lnRef idx="2">
            <a:srgbClr val="0042FF"/>
          </a:lnRef>
          <a:fillRef idx="0">
            <a:srgbClr val="FFFF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1" name="矩形 40"/>
          <p:cNvSpPr/>
          <p:nvPr/>
        </p:nvSpPr>
        <p:spPr>
          <a:xfrm>
            <a:off x="1871345" y="2049145"/>
            <a:ext cx="902335" cy="1122045"/>
          </a:xfrm>
          <a:prstGeom prst="rect">
            <a:avLst/>
          </a:prstGeom>
          <a:solidFill>
            <a:srgbClr val="383838">
              <a:alpha val="0"/>
            </a:srgbClr>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系统层，</a:t>
            </a:r>
            <a:endParaRPr lang="zh-CN" altLang="en-US" sz="1200">
              <a:solidFill>
                <a:srgbClr val="383838"/>
              </a:solidFill>
              <a:cs typeface="微软雅黑"/>
              <a:sym typeface="微软雅黑"/>
              <a:latin typeface="微软雅黑"/>
              <a:ea typeface="微软雅黑"/>
            </a:endParaRPr>
          </a:p>
          <a:p>
            <a:pPr lvl="0" algn="ctr">
              <a:buClrTx/>
              <a:buSzTx/>
              <a:buFontTx/>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拥有更深层的对核心数据感知能力</a:t>
            </a:r>
            <a:endParaRPr lang="zh-CN" altLang="en-US" sz="1200">
              <a:solidFill>
                <a:srgbClr val="383838"/>
              </a:solidFill>
              <a:cs typeface="微软雅黑"/>
              <a:sym typeface="微软雅黑"/>
              <a:latin typeface="微软雅黑"/>
              <a:ea typeface="微软雅黑"/>
            </a:endParaRPr>
          </a:p>
        </p:txBody>
      </p:sp>
      <p:cxnSp>
        <p:nvCxnSpPr>
          <p:cNvPr id="42" name="直接箭头连接符 41"/>
          <p:cNvCxnSpPr/>
          <p:nvPr/>
        </p:nvCxnSpPr>
        <p:spPr>
          <a:xfrm>
            <a:off x="2783205" y="2607310"/>
            <a:ext cx="378460" cy="0"/>
          </a:xfrm>
          <a:prstGeom prst="straightConnector1">
            <a:avLst/>
          </a:prstGeom>
          <a:ln>
            <a:solidFill>
              <a:srgbClr val="0042FF"/>
            </a:solidFill>
            <a:tailEnd type="triangle"/>
          </a:ln>
        </p:spPr>
        <p:style>
          <a:lnRef idx="2">
            <a:srgbClr val="0042FF"/>
          </a:lnRef>
          <a:fillRef idx="0">
            <a:srgbClr val="FFFFFF"/>
          </a:fillRef>
          <a:effectRef idx="0">
            <a:srgbClr val="FFFFFF"/>
          </a:effectRef>
          <a:fontRef idx="minor">
            <a:srgbClr val="383838"/>
          </a:fontRef>
        </p:style>
      </p:cxnSp>
      <p:cxnSp>
        <p:nvCxnSpPr>
          <p:cNvPr id="43" name="肘形连接符 42"/>
          <p:cNvCxnSpPr>
            <a:stCxn id="15" idx="1"/>
            <a:endCxn id="16" idx="1"/>
          </p:cNvCxnSpPr>
          <p:nvPr/>
        </p:nvCxnSpPr>
        <p:spPr>
          <a:xfrm rot="10800000" flipH="1" flipV="1">
            <a:off x="3161665" y="2211070"/>
            <a:ext cx="3175" cy="798830"/>
          </a:xfrm>
          <a:prstGeom prst="bentConnector3">
            <a:avLst>
              <a:gd name="adj1" fmla="val -6780000"/>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cxnSp>
      <p:sp>
        <p:nvSpPr>
          <p:cNvPr id="44" name="上箭头 43"/>
          <p:cNvSpPr/>
          <p:nvPr/>
        </p:nvSpPr>
        <p:spPr>
          <a:xfrm rot="5400000">
            <a:off x="4179570" y="2208530"/>
            <a:ext cx="919480" cy="803275"/>
          </a:xfrm>
          <a:prstGeom prst="upArrow">
            <a:avLst>
              <a:gd name="adj1" fmla="val 64019"/>
              <a:gd name="adj2" fmla="val 50474"/>
            </a:avLst>
          </a:prstGeom>
          <a:gradFill>
            <a:gsLst>
              <a:gs pos="100000">
                <a:srgbClr val="E6E6E6">
                  <a:alpha val="0"/>
                </a:srgbClr>
              </a:gs>
              <a:gs pos="0">
                <a:srgbClr val="E6E6E6"/>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9" name="文本框 48"/>
          <p:cNvSpPr txBox="1"/>
          <p:nvPr/>
        </p:nvSpPr>
        <p:spPr>
          <a:xfrm>
            <a:off x="5129530" y="1969770"/>
            <a:ext cx="688975" cy="597535"/>
          </a:xfrm>
          <a:prstGeom prst="rect">
            <a:avLst/>
          </a:prstGeom>
          <a:noFill/>
        </p:spPr>
        <p:txBody>
          <a:bodyPr wrap="square" rtlCol="0" anchor="ctr" anchorCtr="0">
            <a:no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广告</a:t>
            </a:r>
            <a:endParaRPr lang="zh-CN" altLang="en-US" sz="1200" b="1">
              <a:solidFill>
                <a:srgbClr val="0042FF"/>
              </a:solidFill>
              <a:latin typeface="微软雅黑"/>
              <a:ea typeface="微软雅黑"/>
              <a:cs typeface="微软雅黑"/>
            </a:endParaRPr>
          </a:p>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主侧</a:t>
            </a:r>
            <a:endParaRPr lang="zh-CN" altLang="en-US" sz="1200" b="1">
              <a:solidFill>
                <a:srgbClr val="0042FF"/>
              </a:solidFill>
              <a:latin typeface="微软雅黑"/>
              <a:ea typeface="微软雅黑"/>
              <a:cs typeface="微软雅黑"/>
            </a:endParaRPr>
          </a:p>
        </p:txBody>
      </p:sp>
      <p:sp>
        <p:nvSpPr>
          <p:cNvPr id="50" name="文本框 49"/>
          <p:cNvSpPr txBox="1"/>
          <p:nvPr/>
        </p:nvSpPr>
        <p:spPr>
          <a:xfrm>
            <a:off x="5129530" y="2887980"/>
            <a:ext cx="688975" cy="464185"/>
          </a:xfrm>
          <a:prstGeom prst="rect">
            <a:avLst/>
          </a:prstGeom>
          <a:noFill/>
          <a:ln>
            <a:noFill/>
          </a:ln>
        </p:spPr>
        <p:txBody>
          <a:bodyPr wrap="square" rtlCol="0" anchor="ctr" anchorCtr="0">
            <a:no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用户侧</a:t>
            </a:r>
            <a:endParaRPr lang="zh-CN" altLang="en-US" sz="1200" b="1">
              <a:solidFill>
                <a:srgbClr val="0042FF"/>
              </a:solidFill>
              <a:latin typeface="微软雅黑"/>
              <a:ea typeface="微软雅黑"/>
              <a:cs typeface="微软雅黑"/>
            </a:endParaRPr>
          </a:p>
        </p:txBody>
      </p:sp>
      <p:cxnSp>
        <p:nvCxnSpPr>
          <p:cNvPr id="51" name="肘形连接符 50"/>
          <p:cNvCxnSpPr>
            <a:stCxn id="28" idx="1"/>
            <a:endCxn id="30" idx="1"/>
          </p:cNvCxnSpPr>
          <p:nvPr/>
        </p:nvCxnSpPr>
        <p:spPr>
          <a:xfrm rot="10800000" flipH="1" flipV="1">
            <a:off x="6119495" y="2026285"/>
            <a:ext cx="3175" cy="461645"/>
          </a:xfrm>
          <a:prstGeom prst="bentConnector3">
            <a:avLst>
              <a:gd name="adj1" fmla="val -6300000"/>
            </a:avLst>
          </a:prstGeom>
          <a:ln>
            <a:headEnd type="triangle"/>
            <a:tailEnd type="triangle"/>
          </a:ln>
        </p:spPr>
        <p:style>
          <a:lnRef idx="2">
            <a:srgbClr val="0042FF"/>
          </a:lnRef>
          <a:fillRef idx="0">
            <a:srgbClr val="FFFFFF"/>
          </a:fillRef>
          <a:effectRef idx="0">
            <a:srgbClr val="FFFFFF"/>
          </a:effectRef>
          <a:fontRef idx="minor">
            <a:srgbClr val="383838"/>
          </a:fontRef>
        </p:style>
      </p:cxnSp>
      <p:cxnSp>
        <p:nvCxnSpPr>
          <p:cNvPr id="52" name="直接箭头连接符 51"/>
          <p:cNvCxnSpPr/>
          <p:nvPr/>
        </p:nvCxnSpPr>
        <p:spPr>
          <a:xfrm>
            <a:off x="5818505" y="2279015"/>
            <a:ext cx="92710" cy="0"/>
          </a:xfrm>
          <a:prstGeom prst="straightConnector1">
            <a:avLst/>
          </a:prstGeom>
          <a:ln>
            <a:tailEnd type="none"/>
          </a:ln>
        </p:spPr>
        <p:style>
          <a:lnRef idx="2">
            <a:srgbClr val="0042FF"/>
          </a:lnRef>
          <a:fillRef idx="0">
            <a:srgbClr val="FFFFFF"/>
          </a:fillRef>
          <a:effectRef idx="0">
            <a:srgbClr val="FFFFFF"/>
          </a:effectRef>
          <a:fontRef idx="minor">
            <a:srgbClr val="383838"/>
          </a:fontRef>
        </p:style>
      </p:cxnSp>
      <p:cxnSp>
        <p:nvCxnSpPr>
          <p:cNvPr id="53" name="直接箭头连接符 52"/>
          <p:cNvCxnSpPr/>
          <p:nvPr/>
        </p:nvCxnSpPr>
        <p:spPr>
          <a:xfrm>
            <a:off x="5818505" y="3070225"/>
            <a:ext cx="316230" cy="0"/>
          </a:xfrm>
          <a:prstGeom prst="straightConnector1">
            <a:avLst/>
          </a:prstGeom>
          <a:ln>
            <a:tailEnd type="triangle"/>
          </a:ln>
        </p:spPr>
        <p:style>
          <a:lnRef idx="2">
            <a:srgbClr val="0042FF"/>
          </a:lnRef>
          <a:fillRef idx="0">
            <a:srgbClr val="FFFFFF"/>
          </a:fillRef>
          <a:effectRef idx="0">
            <a:srgbClr val="FFFFFF"/>
          </a:effectRef>
          <a:fontRef idx="minor">
            <a:srgbClr val="383838"/>
          </a:fontRef>
        </p:style>
      </p:cxnSp>
      <p:sp>
        <p:nvSpPr>
          <p:cNvPr id="54" name="文本框 53"/>
          <p:cNvSpPr txBox="1"/>
          <p:nvPr/>
        </p:nvSpPr>
        <p:spPr>
          <a:xfrm>
            <a:off x="3250565" y="3938270"/>
            <a:ext cx="1403350" cy="1122045"/>
          </a:xfrm>
          <a:prstGeom prst="rect">
            <a:avLst/>
          </a:prstGeom>
          <a:noFill/>
        </p:spPr>
        <p:txBody>
          <a:bodyPr wrap="square" rtlCol="0" anchor="ctr" anchorCtr="0">
            <a:noAutofit/>
          </a:bodyPr>
          <a:p>
            <a:pPr>
              <a:defRPr>
                <a:latin typeface="微软雅黑"/>
                <a:ea typeface="微软雅黑"/>
                <a:cs typeface="微软雅黑"/>
              </a:defRPr>
            </a:pPr>
            <a:r>
              <a:rPr lang="zh-CN" altLang="en-US" sz="1200">
                <a:solidFill>
                  <a:srgbClr val="383838"/>
                </a:solidFill>
                <a:latin typeface="微软雅黑"/>
                <a:ea typeface="微软雅黑"/>
                <a:cs typeface="微软雅黑"/>
              </a:rPr>
              <a:t>促进统一底层架构，推动各参与主体在硬件层、系统层、软件层、内容层上活动的协同、连接</a:t>
            </a:r>
            <a:endParaRPr lang="zh-CN" altLang="en-US" sz="1200">
              <a:solidFill>
                <a:srgbClr val="383838"/>
              </a:solidFill>
              <a:latin typeface="微软雅黑"/>
              <a:ea typeface="微软雅黑"/>
              <a:cs typeface="微软雅黑"/>
            </a:endParaRPr>
          </a:p>
        </p:txBody>
      </p:sp>
      <p:sp>
        <p:nvSpPr>
          <p:cNvPr id="55" name="等腰三角形 54"/>
          <p:cNvSpPr/>
          <p:nvPr/>
        </p:nvSpPr>
        <p:spPr>
          <a:xfrm rot="5400000">
            <a:off x="2700020" y="4292600"/>
            <a:ext cx="602615" cy="266700"/>
          </a:xfrm>
          <a:prstGeom prst="triangle">
            <a:avLst/>
          </a:prstGeom>
          <a:gradFill>
            <a:gsLst>
              <a:gs pos="100000">
                <a:srgbClr val="3368FF">
                  <a:alpha val="0"/>
                </a:srgbClr>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56" name="等腰三角形 55"/>
          <p:cNvSpPr/>
          <p:nvPr/>
        </p:nvSpPr>
        <p:spPr>
          <a:xfrm rot="5400000">
            <a:off x="4646295" y="4385945"/>
            <a:ext cx="602615" cy="266700"/>
          </a:xfrm>
          <a:prstGeom prst="triangle">
            <a:avLst/>
          </a:prstGeom>
          <a:gradFill>
            <a:gsLst>
              <a:gs pos="100000">
                <a:srgbClr val="3368FF">
                  <a:alpha val="0"/>
                </a:srgbClr>
              </a:gs>
              <a:gs pos="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cxnSp>
        <p:nvCxnSpPr>
          <p:cNvPr id="57" name="直接箭头连接符 56"/>
          <p:cNvCxnSpPr/>
          <p:nvPr/>
        </p:nvCxnSpPr>
        <p:spPr>
          <a:xfrm>
            <a:off x="5822950" y="4979670"/>
            <a:ext cx="260350" cy="0"/>
          </a:xfrm>
          <a:prstGeom prst="straightConnector1">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60" name="肘形连接符 59"/>
          <p:cNvCxnSpPr/>
          <p:nvPr/>
        </p:nvCxnSpPr>
        <p:spPr>
          <a:xfrm rot="10800000" flipH="1" flipV="1">
            <a:off x="6111240" y="4010660"/>
            <a:ext cx="3175" cy="461645"/>
          </a:xfrm>
          <a:prstGeom prst="bentConnector3">
            <a:avLst>
              <a:gd name="adj1" fmla="val -6300000"/>
            </a:avLst>
          </a:prstGeom>
          <a:ln>
            <a:solidFill>
              <a:srgbClr val="3368FF"/>
            </a:solidFill>
            <a:headEnd type="triangle"/>
            <a:tailEnd type="triangle"/>
          </a:ln>
        </p:spPr>
        <p:style>
          <a:lnRef idx="2">
            <a:srgbClr val="0042FF"/>
          </a:lnRef>
          <a:fillRef idx="0">
            <a:srgbClr val="FFFFFF"/>
          </a:fillRef>
          <a:effectRef idx="0">
            <a:srgbClr val="FFFFFF"/>
          </a:effectRef>
          <a:fontRef idx="minor">
            <a:srgbClr val="383838"/>
          </a:fontRef>
        </p:style>
      </p:cxnSp>
      <p:cxnSp>
        <p:nvCxnSpPr>
          <p:cNvPr id="61" name="直接箭头连接符 60"/>
          <p:cNvCxnSpPr/>
          <p:nvPr/>
        </p:nvCxnSpPr>
        <p:spPr>
          <a:xfrm>
            <a:off x="5810250" y="4263390"/>
            <a:ext cx="92710" cy="0"/>
          </a:xfrm>
          <a:prstGeom prst="straightConnector1">
            <a:avLst/>
          </a:prstGeom>
          <a:ln>
            <a:solidFill>
              <a:srgbClr val="668EFF"/>
            </a:solidFill>
            <a:tailEnd type="none"/>
          </a:ln>
        </p:spPr>
        <p:style>
          <a:lnRef idx="2">
            <a:srgbClr val="0042FF"/>
          </a:lnRef>
          <a:fillRef idx="0">
            <a:srgbClr val="FFFFFF"/>
          </a:fillRef>
          <a:effectRef idx="0">
            <a:srgbClr val="FFFFFF"/>
          </a:effectRef>
          <a:fontRef idx="minor">
            <a:srgbClr val="383838"/>
          </a:fontRef>
        </p:style>
      </p:cxnSp>
      <p:sp>
        <p:nvSpPr>
          <p:cNvPr id="62" name="文本框 61"/>
          <p:cNvSpPr txBox="1"/>
          <p:nvPr/>
        </p:nvSpPr>
        <p:spPr>
          <a:xfrm>
            <a:off x="7211060" y="3832543"/>
            <a:ext cx="4622165" cy="231775"/>
          </a:xfrm>
          <a:prstGeom prst="rect">
            <a:avLst/>
          </a:prstGeom>
          <a:noFill/>
        </p:spPr>
        <p:txBody>
          <a:bodyPr wrap="square" rtlCol="0" anchor="ctr" anchorCtr="0">
            <a:noAutofit/>
          </a:bodyPr>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短期</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辅助广告内容生成</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如文案、图片等</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长期</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辅助投放决策</a:t>
            </a:r>
            <a:endParaRPr lang="zh-CN" altLang="en-US" sz="1200">
              <a:solidFill>
                <a:srgbClr val="383838"/>
              </a:solidFill>
              <a:latin typeface="微软雅黑"/>
              <a:ea typeface="微软雅黑"/>
              <a:cs typeface="微软雅黑"/>
            </a:endParaRPr>
          </a:p>
        </p:txBody>
      </p:sp>
      <p:sp>
        <p:nvSpPr>
          <p:cNvPr id="63" name="文本框 62"/>
          <p:cNvSpPr txBox="1"/>
          <p:nvPr/>
        </p:nvSpPr>
        <p:spPr>
          <a:xfrm>
            <a:off x="7211060" y="4333558"/>
            <a:ext cx="4622165" cy="231775"/>
          </a:xfrm>
          <a:prstGeom prst="rect">
            <a:avLst/>
          </a:prstGeom>
          <a:noFill/>
        </p:spPr>
        <p:txBody>
          <a:bodyPr wrap="square" rtlCol="0" anchor="ctr" anchorCtr="0">
            <a:noAutofit/>
          </a:bodyPr>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促进跨屏</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跨终端广告内容延续呈现成为可能</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增强用户重复记忆</a:t>
            </a:r>
            <a:endParaRPr lang="zh-CN" altLang="en-US"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以更低成本、更高效率的成本促使广告素材适应不同终端投放</a:t>
            </a:r>
            <a:endParaRPr lang="zh-CN" altLang="en-US" sz="1200">
              <a:solidFill>
                <a:srgbClr val="383838"/>
              </a:solidFill>
              <a:latin typeface="微软雅黑"/>
              <a:ea typeface="微软雅黑"/>
              <a:cs typeface="微软雅黑"/>
            </a:endParaRPr>
          </a:p>
        </p:txBody>
      </p:sp>
      <p:sp>
        <p:nvSpPr>
          <p:cNvPr id="64" name="文本框 63"/>
          <p:cNvSpPr txBox="1"/>
          <p:nvPr/>
        </p:nvSpPr>
        <p:spPr>
          <a:xfrm>
            <a:off x="7211060" y="4863783"/>
            <a:ext cx="4622165" cy="231775"/>
          </a:xfrm>
          <a:prstGeom prst="rect">
            <a:avLst/>
          </a:prstGeom>
          <a:noFill/>
        </p:spPr>
        <p:txBody>
          <a:bodyPr wrap="square" rtlCol="0" anchor="ctr" anchorCtr="0">
            <a:noAutofit/>
          </a:bodyPr>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互动方式上</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眼动</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手势识别、裸眼</a:t>
            </a:r>
            <a:r>
              <a:rPr lang="en-US" altLang="zh-CN" sz="1200">
                <a:solidFill>
                  <a:srgbClr val="383838"/>
                </a:solidFill>
                <a:latin typeface="微软雅黑"/>
                <a:ea typeface="微软雅黑"/>
                <a:cs typeface="微软雅黑"/>
              </a:rPr>
              <a:t>3D</a:t>
            </a:r>
            <a:r>
              <a:rPr lang="zh-CN" altLang="en-US" sz="1200">
                <a:solidFill>
                  <a:srgbClr val="383838"/>
                </a:solidFill>
                <a:latin typeface="微软雅黑"/>
                <a:ea typeface="微软雅黑"/>
                <a:cs typeface="微软雅黑"/>
              </a:rPr>
              <a:t>等增强用户体验与沉浸感</a:t>
            </a:r>
            <a:endParaRPr lang="zh-CN" altLang="en-US"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视觉感官上</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更加具有美感</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提升欣赏性</a:t>
            </a:r>
            <a:endParaRPr lang="zh-CN" altLang="en-US" sz="1200">
              <a:solidFill>
                <a:srgbClr val="383838"/>
              </a:solidFill>
              <a:latin typeface="微软雅黑"/>
              <a:ea typeface="微软雅黑"/>
              <a:cs typeface="微软雅黑"/>
            </a:endParaRPr>
          </a:p>
        </p:txBody>
      </p:sp>
      <p:sp>
        <p:nvSpPr>
          <p:cNvPr id="65" name="文本框 64"/>
          <p:cNvSpPr txBox="1"/>
          <p:nvPr/>
        </p:nvSpPr>
        <p:spPr>
          <a:xfrm>
            <a:off x="1946275" y="5614670"/>
            <a:ext cx="9724390" cy="618490"/>
          </a:xfrm>
          <a:prstGeom prst="rect">
            <a:avLst/>
          </a:prstGeom>
          <a:noFill/>
        </p:spPr>
        <p:txBody>
          <a:bodyPr wrap="square" rtlCol="0" anchor="ctr" anchorCtr="0">
            <a:noAutofit/>
          </a:bodyPr>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原有市场开发度提升</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数据层面的注立与完造后</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生态型蝶体平合特更了解平台上相关参与主体</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提升了广告位、广信形式等方面的优化空间</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营销能力焕发新机；</a:t>
            </a:r>
            <a:endParaRPr lang="zh-CN" altLang="en-US" sz="12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新的求场操械挖据。核心参与主体的活动临故画后</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其痛的常求有望被发现</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意味着可通过更多将在触点可的达并满足其滞求。</a:t>
            </a:r>
            <a:endParaRPr lang="zh-CN" altLang="en-US" sz="1200">
              <a:solidFill>
                <a:srgbClr val="383838"/>
              </a:solidFill>
              <a:latin typeface="微软雅黑"/>
              <a:ea typeface="微软雅黑"/>
              <a:cs typeface="微软雅黑"/>
            </a:endParaRPr>
          </a:p>
        </p:txBody>
      </p:sp>
      <p:sp>
        <p:nvSpPr>
          <p:cNvPr id="66" name="文本框 65"/>
          <p:cNvSpPr txBox="1"/>
          <p:nvPr/>
        </p:nvSpPr>
        <p:spPr>
          <a:xfrm>
            <a:off x="1394460" y="3352165"/>
            <a:ext cx="452755" cy="375920"/>
          </a:xfrm>
          <a:prstGeom prst="rect">
            <a:avLst/>
          </a:prstGeom>
          <a:noFill/>
        </p:spPr>
        <p:txBody>
          <a:bodyPr wrap="square" rtlCol="0" anchor="ctr" anchorCtr="0" lIns="0" rIns="0" tIns="0" bIns="0">
            <a:no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相互成就</a:t>
            </a:r>
            <a:endParaRPr lang="zh-CN" altLang="en-US" sz="1000">
              <a:solidFill>
                <a:srgbClr val="383838"/>
              </a:solidFill>
              <a:latin typeface="微软雅黑"/>
              <a:ea typeface="微软雅黑"/>
              <a:cs typeface="微软雅黑"/>
            </a:endParaRPr>
          </a:p>
        </p:txBody>
      </p:sp>
      <p:sp>
        <p:nvSpPr>
          <p:cNvPr id="67" name="文本框 66"/>
          <p:cNvSpPr txBox="1"/>
          <p:nvPr/>
        </p:nvSpPr>
        <p:spPr>
          <a:xfrm>
            <a:off x="1363980" y="5110480"/>
            <a:ext cx="452755" cy="375920"/>
          </a:xfrm>
          <a:prstGeom prst="rect">
            <a:avLst/>
          </a:prstGeom>
          <a:noFill/>
        </p:spPr>
        <p:txBody>
          <a:bodyPr wrap="square" rtlCol="0" anchor="ctr" anchorCtr="0" lIns="0" rIns="0" tIns="0" bIns="0">
            <a:noAutofit/>
          </a:bodyPr>
          <a:p>
            <a:pPr>
              <a:defRPr>
                <a:latin typeface="微软雅黑"/>
                <a:ea typeface="微软雅黑"/>
                <a:cs typeface="微软雅黑"/>
              </a:defRPr>
            </a:pPr>
            <a:r>
              <a:rPr lang="zh-CN" altLang="en-US" sz="1000">
                <a:solidFill>
                  <a:srgbClr val="383838"/>
                </a:solidFill>
                <a:latin typeface="微软雅黑"/>
                <a:ea typeface="微软雅黑"/>
                <a:cs typeface="微软雅黑"/>
              </a:rPr>
              <a:t>间接释放</a:t>
            </a:r>
            <a:endParaRPr lang="zh-CN" altLang="en-US" sz="1000">
              <a:solidFill>
                <a:srgbClr val="383838"/>
              </a:solidFill>
              <a:latin typeface="微软雅黑"/>
              <a:ea typeface="微软雅黑"/>
              <a:cs typeface="微软雅黑"/>
            </a:endParaRPr>
          </a:p>
        </p:txBody>
      </p:sp>
      <p:sp>
        <p:nvSpPr>
          <p:cNvPr id="68" name="文本框 67"/>
          <p:cNvSpPr txBox="1"/>
          <p:nvPr/>
        </p:nvSpPr>
        <p:spPr>
          <a:xfrm>
            <a:off x="160020" y="3757295"/>
            <a:ext cx="224155" cy="935355"/>
          </a:xfrm>
          <a:prstGeom prst="rect">
            <a:avLst/>
          </a:prstGeom>
          <a:noFill/>
        </p:spPr>
        <p:txBody>
          <a:bodyPr wrap="square" rtlCol="0" anchor="ctr" anchorCtr="0">
            <a:no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直接推动</a:t>
            </a:r>
            <a:endParaRPr lang="zh-CN" altLang="en-US" sz="1200" b="1">
              <a:solidFill>
                <a:srgbClr val="0042FF"/>
              </a:solidFill>
              <a:latin typeface="微软雅黑"/>
              <a:ea typeface="微软雅黑"/>
              <a:cs typeface="微软雅黑"/>
            </a:endParaRPr>
          </a:p>
        </p:txBody>
      </p:sp>
      <p:sp>
        <p:nvSpPr>
          <p:cNvPr id="69" name="文本框 68"/>
          <p:cNvSpPr txBox="1"/>
          <p:nvPr/>
        </p:nvSpPr>
        <p:spPr>
          <a:xfrm>
            <a:off x="641350" y="3757295"/>
            <a:ext cx="224155" cy="935355"/>
          </a:xfrm>
          <a:prstGeom prst="rect">
            <a:avLst/>
          </a:prstGeom>
          <a:noFill/>
        </p:spPr>
        <p:txBody>
          <a:bodyPr wrap="square" rtlCol="0" anchor="ctr" anchorCtr="0">
            <a:noAutofit/>
          </a:bodyPr>
          <a:p>
            <a:pPr>
              <a:defRPr>
                <a:latin typeface="微软雅黑"/>
                <a:ea typeface="微软雅黑"/>
                <a:cs typeface="微软雅黑"/>
              </a:defRPr>
            </a:pPr>
            <a:r>
              <a:rPr lang="zh-CN" altLang="en-US" sz="1200" b="1">
                <a:solidFill>
                  <a:srgbClr val="0042FF"/>
                </a:solidFill>
                <a:latin typeface="微软雅黑"/>
                <a:ea typeface="微软雅黑"/>
                <a:cs typeface="微软雅黑"/>
              </a:rPr>
              <a:t>反哺</a:t>
            </a:r>
            <a:endParaRPr lang="zh-CN" altLang="en-US" sz="1200" b="1">
              <a:solidFill>
                <a:srgbClr val="0042FF"/>
              </a:solidFill>
              <a:latin typeface="微软雅黑"/>
              <a:ea typeface="微软雅黑"/>
              <a:cs typeface="微软雅黑"/>
            </a:endParaRPr>
          </a:p>
        </p:txBody>
      </p:sp>
      <p:sp>
        <p:nvSpPr>
          <p:cNvPr id="70" name="文本框 69"/>
          <p:cNvSpPr txBox="1"/>
          <p:nvPr/>
        </p:nvSpPr>
        <p:spPr>
          <a:xfrm>
            <a:off x="7178675" y="1900238"/>
            <a:ext cx="3437890" cy="231775"/>
          </a:xfrm>
          <a:prstGeom prst="rect">
            <a:avLst/>
          </a:prstGeom>
          <a:noFill/>
        </p:spPr>
        <p:txBody>
          <a:bodyPr wrap="square" rtlCol="0" anchor="ctr" anchorCtr="0">
            <a:noAutofit/>
          </a:bodyPr>
          <a:p>
            <a:pPr marL="171450" indent="-171450" algn="l">
              <a:buFont typeface="微软雅黑"/>
              <a:buChar char="●"/>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充分分析用户数据,赋能广告投放</a:t>
            </a:r>
            <a:endParaRPr lang="zh-CN" altLang="en-US" sz="1200">
              <a:solidFill>
                <a:srgbClr val="383838"/>
              </a:solidFill>
              <a:latin typeface="微软雅黑"/>
              <a:ea typeface="微软雅黑"/>
              <a:cs typeface="微软雅黑"/>
            </a:endParaRPr>
          </a:p>
        </p:txBody>
      </p:sp>
      <p:sp>
        <p:nvSpPr>
          <p:cNvPr id="71" name="文本框 70"/>
          <p:cNvSpPr txBox="1"/>
          <p:nvPr/>
        </p:nvSpPr>
        <p:spPr>
          <a:xfrm>
            <a:off x="7178675" y="2361883"/>
            <a:ext cx="4492625" cy="231775"/>
          </a:xfrm>
          <a:prstGeom prst="rect">
            <a:avLst/>
          </a:prstGeom>
          <a:noFill/>
        </p:spPr>
        <p:txBody>
          <a:bodyPr wrap="square" rtlCol="0" anchor="ctr" anchorCtr="0">
            <a:noAutofit/>
          </a:bodyPr>
          <a:p>
            <a:pPr marL="171450" lvl="0" indent="-171450" algn="l">
              <a:buClrTx/>
              <a:buSzTx/>
              <a:buFont typeface="微软雅黑"/>
              <a:buChar char="●"/>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根据投后数据分析,调整广告形式,降低用户广告感知度,让广告更软、更原生的出现</a:t>
            </a:r>
            <a:endParaRPr lang="zh-CN" altLang="en-US" sz="1200">
              <a:solidFill>
                <a:srgbClr val="383838"/>
              </a:solidFill>
              <a:cs typeface="微软雅黑"/>
              <a:sym typeface="微软雅黑"/>
              <a:latin typeface="微软雅黑"/>
              <a:ea typeface="微软雅黑"/>
            </a:endParaRPr>
          </a:p>
        </p:txBody>
      </p:sp>
      <p:sp>
        <p:nvSpPr>
          <p:cNvPr id="72" name="文本框 71"/>
          <p:cNvSpPr txBox="1"/>
          <p:nvPr/>
        </p:nvSpPr>
        <p:spPr>
          <a:xfrm>
            <a:off x="7178675" y="2901633"/>
            <a:ext cx="4427855" cy="386715"/>
          </a:xfrm>
          <a:prstGeom prst="rect">
            <a:avLst/>
          </a:prstGeom>
          <a:noFill/>
        </p:spPr>
        <p:txBody>
          <a:bodyPr wrap="square" rtlCol="0" anchor="ctr" anchorCtr="0">
            <a:noAutofit/>
          </a:bodyPr>
          <a:p>
            <a:pPr marL="171450" lvl="0" indent="-171450" algn="l">
              <a:buClrTx/>
              <a:buSzTx/>
              <a:buFont typeface="微软雅黑"/>
              <a:buChar char="●"/>
              <a:defRPr>
                <a:latin typeface="微软雅黑"/>
                <a:ea typeface="微软雅黑"/>
                <a:cs typeface="微软雅黑"/>
              </a:defRPr>
            </a:pPr>
            <a:r>
              <a:rPr lang="zh-CN" altLang="en-US" sz="1200">
                <a:solidFill>
                  <a:srgbClr val="383838"/>
                </a:solidFill>
                <a:cs typeface="微软雅黑"/>
                <a:sym typeface="微软雅黑"/>
                <a:latin typeface="微软雅黑"/>
                <a:ea typeface="微软雅黑"/>
              </a:rPr>
              <a:t>推荐更精准、更个性化,决策更高效；跨端/跨平台的无缝衔接；覆盖情绪价值:减少推送或推送低广告痕迹</a:t>
            </a:r>
            <a:endParaRPr lang="zh-CN" altLang="en-US" sz="1200">
              <a:solidFill>
                <a:srgbClr val="383838"/>
              </a:solidFill>
              <a:cs typeface="微软雅黑"/>
              <a:sym typeface="微软雅黑"/>
              <a:latin typeface="微软雅黑"/>
              <a:ea typeface="微软雅黑"/>
            </a:endParaRPr>
          </a:p>
        </p:txBody>
      </p:sp>
      <p:sp>
        <p:nvSpPr>
          <p:cNvPr id="76" name="文本框 75"/>
          <p:cNvSpPr txBox="1"/>
          <p:nvPr/>
        </p:nvSpPr>
        <p:spPr>
          <a:xfrm>
            <a:off x="606425" y="1033145"/>
            <a:ext cx="11000740" cy="583565"/>
          </a:xfrm>
          <a:prstGeom prst="rect">
            <a:avLst/>
          </a:prstGeom>
          <a:noFill/>
        </p:spPr>
        <p:txBody>
          <a:bodyPr wrap="square" rtlCol="0">
            <a:spAutoFit/>
          </a:bodyPr>
          <a:p>
            <a:pPr>
              <a:defRPr>
                <a:latin typeface="微软雅黑"/>
                <a:ea typeface="微软雅黑"/>
                <a:cs typeface="微软雅黑"/>
              </a:defRPr>
            </a:pPr>
            <a:r>
              <a:rPr lang="zh-CN" altLang="en-US" sz="1600">
                <a:solidFill>
                  <a:srgbClr val="383838"/>
                </a:solidFill>
                <a:latin typeface="微软雅黑"/>
                <a:ea typeface="微软雅黑"/>
                <a:cs typeface="微软雅黑"/>
              </a:rPr>
              <a:t>通过系统化拆解了生态型媒体平台如何通过</a:t>
            </a:r>
            <a:r>
              <a:rPr lang="zh-CN" altLang="en-US" sz="1600" b="1">
                <a:solidFill>
                  <a:srgbClr val="0042FF"/>
                </a:solidFill>
                <a:latin typeface="微软雅黑"/>
                <a:ea typeface="微软雅黑"/>
                <a:cs typeface="微软雅黑"/>
              </a:rPr>
              <a:t>数据</a:t>
            </a:r>
            <a:r>
              <a:rPr lang="en-US" altLang="zh-CN" sz="1600" b="1">
                <a:solidFill>
                  <a:srgbClr val="0042FF"/>
                </a:solidFill>
                <a:latin typeface="微软雅黑"/>
                <a:ea typeface="微软雅黑"/>
                <a:cs typeface="微软雅黑"/>
              </a:rPr>
              <a:t>-</a:t>
            </a:r>
            <a:r>
              <a:rPr lang="zh-CN" altLang="en-US" sz="1600" b="1">
                <a:solidFill>
                  <a:srgbClr val="0042FF"/>
                </a:solidFill>
                <a:latin typeface="微软雅黑"/>
                <a:ea typeface="微软雅黑"/>
                <a:cs typeface="微软雅黑"/>
              </a:rPr>
              <a:t>技术</a:t>
            </a:r>
            <a:r>
              <a:rPr lang="en-US" altLang="zh-CN" sz="1600" b="1">
                <a:solidFill>
                  <a:srgbClr val="0042FF"/>
                </a:solidFill>
                <a:latin typeface="微软雅黑"/>
                <a:ea typeface="微软雅黑"/>
                <a:cs typeface="微软雅黑"/>
              </a:rPr>
              <a:t>-</a:t>
            </a:r>
            <a:r>
              <a:rPr lang="zh-CN" altLang="en-US" sz="1600" b="1">
                <a:solidFill>
                  <a:srgbClr val="0042FF"/>
                </a:solidFill>
                <a:latin typeface="微软雅黑"/>
                <a:ea typeface="微软雅黑"/>
                <a:cs typeface="微软雅黑"/>
              </a:rPr>
              <a:t>场景</a:t>
            </a:r>
            <a:r>
              <a:rPr lang="zh-CN" altLang="en-US" sz="1600">
                <a:solidFill>
                  <a:srgbClr val="383838"/>
                </a:solidFill>
                <a:latin typeface="微软雅黑"/>
                <a:ea typeface="微软雅黑"/>
                <a:cs typeface="微软雅黑"/>
              </a:rPr>
              <a:t>三重革新，重构智能营销价值链，最终实现用户感知与商业价值的双升级。</a:t>
            </a:r>
            <a:endParaRPr lang="zh-CN" altLang="en-US" sz="1600">
              <a:solidFill>
                <a:srgbClr val="383838"/>
              </a:solidFill>
              <a:latin typeface="微软雅黑"/>
              <a:ea typeface="微软雅黑"/>
              <a:cs typeface="微软雅黑"/>
            </a:endParaRPr>
          </a:p>
        </p:txBody>
      </p:sp>
      <p:sp>
        <p:nvSpPr>
          <p:cNvPr id="8" name="文本框 7"/>
          <p:cNvSpPr txBox="1"/>
          <p:nvPr/>
        </p:nvSpPr>
        <p:spPr>
          <a:xfrm>
            <a:off x="4126230" y="2065020"/>
            <a:ext cx="955040" cy="1122045"/>
          </a:xfrm>
          <a:prstGeom prst="rect">
            <a:avLst/>
          </a:prstGeom>
          <a:noFill/>
        </p:spPr>
        <p:txBody>
          <a:bodyPr wrap="square" rtlCol="0" anchor="ctr" anchorCtr="0" lIns="0" rIns="0" tIns="0" bIns="0">
            <a:noAutofit/>
          </a:bodyPr>
          <a:p>
            <a:pPr>
              <a:defRPr>
                <a:latin typeface="微软雅黑"/>
                <a:ea typeface="微软雅黑"/>
                <a:cs typeface="微软雅黑"/>
              </a:defRPr>
            </a:pPr>
            <a:r>
              <a:rPr lang="zh-CN" altLang="en-US" sz="1000">
                <a:solidFill>
                  <a:srgbClr val="0042FF"/>
                </a:solidFill>
                <a:latin typeface="微软雅黑"/>
                <a:ea typeface="微软雅黑"/>
                <a:cs typeface="微软雅黑"/>
              </a:rPr>
              <a:t>数据拉通、</a:t>
            </a:r>
            <a:endParaRPr lang="zh-CN" altLang="en-US" sz="1000">
              <a:solidFill>
                <a:srgbClr val="0042FF"/>
              </a:solidFill>
              <a:latin typeface="微软雅黑"/>
              <a:ea typeface="微软雅黑"/>
              <a:cs typeface="微软雅黑"/>
            </a:endParaRPr>
          </a:p>
          <a:p>
            <a:pPr>
              <a:defRPr>
                <a:latin typeface="微软雅黑"/>
                <a:ea typeface="微软雅黑"/>
                <a:cs typeface="微软雅黑"/>
              </a:defRPr>
            </a:pPr>
            <a:r>
              <a:rPr lang="zh-CN" altLang="en-US" sz="1000">
                <a:solidFill>
                  <a:srgbClr val="0042FF"/>
                </a:solidFill>
                <a:latin typeface="微软雅黑"/>
                <a:ea typeface="微软雅黑"/>
                <a:cs typeface="微软雅黑"/>
              </a:rPr>
              <a:t>数据归一、</a:t>
            </a:r>
            <a:endParaRPr lang="zh-CN" altLang="en-US" sz="1000">
              <a:solidFill>
                <a:srgbClr val="0042FF"/>
              </a:solidFill>
              <a:latin typeface="微软雅黑"/>
              <a:ea typeface="微软雅黑"/>
              <a:cs typeface="微软雅黑"/>
            </a:endParaRPr>
          </a:p>
          <a:p>
            <a:pPr>
              <a:defRPr>
                <a:latin typeface="微软雅黑"/>
                <a:ea typeface="微软雅黑"/>
                <a:cs typeface="微软雅黑"/>
              </a:defRPr>
            </a:pPr>
            <a:r>
              <a:rPr lang="zh-CN" altLang="en-US" sz="1000">
                <a:solidFill>
                  <a:srgbClr val="0042FF"/>
                </a:solidFill>
                <a:latin typeface="微软雅黑"/>
                <a:ea typeface="微软雅黑"/>
                <a:cs typeface="微软雅黑"/>
              </a:rPr>
              <a:t>数据标签</a:t>
            </a:r>
            <a:endParaRPr lang="zh-CN" altLang="en-US" sz="1000">
              <a:solidFill>
                <a:srgbClr val="0042FF"/>
              </a:solidFill>
              <a:latin typeface="微软雅黑"/>
              <a:ea typeface="微软雅黑"/>
              <a:cs typeface="微软雅黑"/>
            </a:endParaRPr>
          </a:p>
        </p:txBody>
      </p:sp>
      <p:cxnSp>
        <p:nvCxnSpPr>
          <p:cNvPr id="9"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9" name="组合 18"/>
          <p:cNvGrpSpPr/>
          <p:nvPr/>
        </p:nvGrpSpPr>
        <p:grpSpPr>
          <a:xfrm>
            <a:off x="8738235" y="348615"/>
            <a:ext cx="3219450" cy="332740"/>
            <a:chOff x="13761" y="549"/>
            <a:chExt cx="5070" cy="524"/>
          </a:xfrm>
        </p:grpSpPr>
        <p:pic>
          <p:nvPicPr>
            <p:cNvPr id="34" name="图片 3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任意多边形 57"/>
          <p:cNvSpPr/>
          <p:nvPr/>
        </p:nvSpPr>
        <p:spPr>
          <a:xfrm>
            <a:off x="1104900" y="1318895"/>
            <a:ext cx="10335260" cy="1226185"/>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17015" h="1639">
                <a:moveTo>
                  <a:pt x="0" y="1639"/>
                </a:moveTo>
                <a:cubicBezTo>
                  <a:pt x="791" y="1075"/>
                  <a:pt x="2836" y="505"/>
                  <a:pt x="4334" y="299"/>
                </a:cubicBezTo>
                <a:lnTo>
                  <a:pt x="4545" y="268"/>
                </a:lnTo>
                <a:lnTo>
                  <a:pt x="4760" y="239"/>
                </a:lnTo>
                <a:lnTo>
                  <a:pt x="4976" y="211"/>
                </a:lnTo>
                <a:lnTo>
                  <a:pt x="5196" y="184"/>
                </a:lnTo>
                <a:lnTo>
                  <a:pt x="5418" y="160"/>
                </a:lnTo>
                <a:lnTo>
                  <a:pt x="5643" y="137"/>
                </a:lnTo>
                <a:lnTo>
                  <a:pt x="5870" y="115"/>
                </a:lnTo>
                <a:lnTo>
                  <a:pt x="6100" y="96"/>
                </a:lnTo>
                <a:lnTo>
                  <a:pt x="6331" y="78"/>
                </a:lnTo>
                <a:lnTo>
                  <a:pt x="6565" y="62"/>
                </a:lnTo>
                <a:lnTo>
                  <a:pt x="6802" y="47"/>
                </a:lnTo>
                <a:lnTo>
                  <a:pt x="7040" y="35"/>
                </a:lnTo>
                <a:lnTo>
                  <a:pt x="7280" y="24"/>
                </a:lnTo>
                <a:lnTo>
                  <a:pt x="7522" y="16"/>
                </a:lnTo>
                <a:lnTo>
                  <a:pt x="7766" y="9"/>
                </a:lnTo>
                <a:lnTo>
                  <a:pt x="8011" y="4"/>
                </a:lnTo>
                <a:lnTo>
                  <a:pt x="8258" y="1"/>
                </a:lnTo>
                <a:lnTo>
                  <a:pt x="8507" y="0"/>
                </a:lnTo>
                <a:lnTo>
                  <a:pt x="8756" y="1"/>
                </a:lnTo>
                <a:lnTo>
                  <a:pt x="9003" y="4"/>
                </a:lnTo>
                <a:lnTo>
                  <a:pt x="9249" y="9"/>
                </a:lnTo>
                <a:lnTo>
                  <a:pt x="9493" y="16"/>
                </a:lnTo>
                <a:lnTo>
                  <a:pt x="9735" y="24"/>
                </a:lnTo>
                <a:lnTo>
                  <a:pt x="9975" y="35"/>
                </a:lnTo>
                <a:lnTo>
                  <a:pt x="10213" y="47"/>
                </a:lnTo>
                <a:lnTo>
                  <a:pt x="10449" y="62"/>
                </a:lnTo>
                <a:lnTo>
                  <a:pt x="10683" y="78"/>
                </a:lnTo>
                <a:lnTo>
                  <a:pt x="10915" y="96"/>
                </a:lnTo>
                <a:lnTo>
                  <a:pt x="11144" y="115"/>
                </a:lnTo>
                <a:lnTo>
                  <a:pt x="11372" y="137"/>
                </a:lnTo>
                <a:lnTo>
                  <a:pt x="11596" y="160"/>
                </a:lnTo>
                <a:lnTo>
                  <a:pt x="11818" y="184"/>
                </a:lnTo>
                <a:lnTo>
                  <a:pt x="12038" y="211"/>
                </a:lnTo>
                <a:lnTo>
                  <a:pt x="12255" y="239"/>
                </a:lnTo>
                <a:lnTo>
                  <a:pt x="12469" y="268"/>
                </a:lnTo>
                <a:lnTo>
                  <a:pt x="12681" y="299"/>
                </a:lnTo>
                <a:cubicBezTo>
                  <a:pt x="14568" y="551"/>
                  <a:pt x="16367" y="1195"/>
                  <a:pt x="17015" y="1639"/>
                </a:cubicBezTo>
                <a:lnTo>
                  <a:pt x="0" y="1639"/>
                </a:lnTo>
                <a:close/>
              </a:path>
            </a:pathLst>
          </a:custGeom>
          <a:gradFill>
            <a:gsLst>
              <a:gs pos="0">
                <a:srgbClr val="E6E6E6">
                  <a:alpha val="0"/>
                </a:srgbClr>
              </a:gs>
              <a:gs pos="100000">
                <a:srgbClr val="E6E6E6">
                  <a:alpha val="20000"/>
                </a:srgbClr>
              </a:gs>
            </a:gsLst>
            <a:lin ang="16200000" scaled="0"/>
          </a:gradFill>
          <a:ln>
            <a:gradFill>
              <a:gsLst>
                <a:gs pos="0">
                  <a:srgbClr val="0042FF"/>
                </a:gs>
                <a:gs pos="100000">
                  <a:srgbClr val="0042FF">
                    <a:alpha val="0"/>
                  </a:srgbClr>
                </a:gs>
              </a:gsLst>
              <a:lin ang="5400000" scaled="1"/>
            </a:gra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856615" y="3321050"/>
            <a:ext cx="1600200" cy="2260600"/>
          </a:xfrm>
          <a:prstGeom prst="rect">
            <a:avLst/>
          </a:prstGeom>
          <a:solidFill>
            <a:srgbClr val="E6E6E6">
              <a:alpha val="50000"/>
            </a:srgbClr>
          </a:solidFill>
          <a:ln>
            <a:solidFill>
              <a:srgbClr val="3368FF">
                <a:alpha val="70000"/>
              </a:srgbClr>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7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70">
                <a:solidFill>
                  <a:srgbClr val="0042FF"/>
                </a:solidFill>
                <a:effectLst/>
                <a:latin typeface="微软雅黑"/>
                <a:ea typeface="微软雅黑"/>
                <a:cs typeface="微软雅黑"/>
              </a:rPr>
              <a:t>业务框架</a:t>
            </a:r>
            <a:r>
              <a:rPr lang="en-US" altLang="zh-CN" sz="2470">
                <a:solidFill>
                  <a:srgbClr val="0042FF"/>
                </a:solidFill>
                <a:effectLst/>
                <a:latin typeface="微软雅黑"/>
                <a:ea typeface="微软雅黑"/>
                <a:cs typeface="微软雅黑"/>
              </a:rPr>
              <a:t>-</a:t>
            </a:r>
            <a:r>
              <a:rPr sz="2470">
                <a:solidFill>
                  <a:srgbClr val="0042FF"/>
                </a:solidFill>
                <a:effectLst/>
                <a:latin typeface="微软雅黑"/>
                <a:ea typeface="微软雅黑"/>
                <a:cs typeface="微软雅黑"/>
              </a:rPr>
              <a:t>多层平台架构 | </a:t>
            </a:r>
            <a:r>
              <a:rPr sz="2470">
                <a:solidFill>
                  <a:srgbClr val="383838"/>
                </a:solidFill>
                <a:effectLst/>
                <a:latin typeface="微软雅黑"/>
                <a:ea typeface="微软雅黑"/>
                <a:cs typeface="微软雅黑"/>
              </a:rPr>
              <a:t>数字支付</a:t>
            </a:r>
            <a:r>
              <a:rPr lang="en-US" altLang="zh-CN" sz="2470">
                <a:solidFill>
                  <a:srgbClr val="383838"/>
                </a:solidFill>
                <a:effectLst/>
                <a:latin typeface="微软雅黑"/>
                <a:ea typeface="微软雅黑"/>
                <a:cs typeface="微软雅黑"/>
              </a:rPr>
              <a:t>+</a:t>
            </a:r>
            <a:r>
              <a:rPr sz="2470">
                <a:solidFill>
                  <a:srgbClr val="383838"/>
                </a:solidFill>
                <a:effectLst/>
                <a:latin typeface="微软雅黑"/>
                <a:ea typeface="微软雅黑"/>
                <a:cs typeface="微软雅黑"/>
              </a:rPr>
              <a:t>生态业务流程</a:t>
            </a:r>
            <a:endParaRPr sz="2470" b="0">
              <a:solidFill>
                <a:srgbClr val="383838"/>
              </a:solidFill>
              <a:effectLst/>
              <a:latin typeface="微软雅黑"/>
              <a:ea typeface="微软雅黑"/>
              <a:cs typeface="微软雅黑"/>
            </a:endParaRPr>
          </a:p>
        </p:txBody>
      </p:sp>
      <p:sp>
        <p:nvSpPr>
          <p:cNvPr id="2" name="矩形 1"/>
          <p:cNvSpPr/>
          <p:nvPr/>
        </p:nvSpPr>
        <p:spPr>
          <a:xfrm>
            <a:off x="850900" y="2604135"/>
            <a:ext cx="10756900" cy="133350"/>
          </a:xfrm>
          <a:prstGeom prst="rect">
            <a:avLst/>
          </a:prstGeom>
          <a:gradFill>
            <a:gsLst>
              <a:gs pos="0">
                <a:srgbClr val="0042FF"/>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8" name="梯形 27"/>
          <p:cNvSpPr/>
          <p:nvPr/>
        </p:nvSpPr>
        <p:spPr>
          <a:xfrm>
            <a:off x="850900" y="2083435"/>
            <a:ext cx="10756900" cy="520700"/>
          </a:xfrm>
          <a:prstGeom prst="trapezoid">
            <a:avLst>
              <a:gd name="adj" fmla="val 187465"/>
            </a:avLst>
          </a:prstGeom>
          <a:gradFill>
            <a:gsLst>
              <a:gs pos="0">
                <a:srgbClr val="3368FF">
                  <a:alpha val="0"/>
                </a:srgbClr>
              </a:gs>
              <a:gs pos="100000">
                <a:srgbClr val="3368FF">
                  <a:alpha val="70000"/>
                </a:srgbClr>
              </a:gs>
            </a:gsLst>
          </a:gradFill>
        </p:spPr>
        <p:style>
          <a:lnRef idx="0">
            <a:srgbClr val="FFFFFF"/>
          </a:lnRef>
          <a:fillRef idx="2">
            <a:srgbClr val="0042FF"/>
          </a:fillRef>
          <a:effectRef idx="0">
            <a:srgbClr val="FFFFFF"/>
          </a:effectRef>
          <a:fontRef idx="minor">
            <a:srgbClr val="383838"/>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 name="圆角矩形 3"/>
          <p:cNvSpPr/>
          <p:nvPr/>
        </p:nvSpPr>
        <p:spPr>
          <a:xfrm>
            <a:off x="1040130" y="3679825"/>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应用开发者</a:t>
            </a:r>
            <a:endParaRPr lang="zh-CN" altLang="en-US" sz="1400">
              <a:solidFill>
                <a:srgbClr val="383838"/>
              </a:solidFill>
              <a:cs typeface="微软雅黑"/>
              <a:latin typeface="微软雅黑"/>
              <a:ea typeface="微软雅黑"/>
            </a:endParaRPr>
          </a:p>
        </p:txBody>
      </p:sp>
      <p:sp>
        <p:nvSpPr>
          <p:cNvPr id="8" name="矩形 7"/>
          <p:cNvSpPr/>
          <p:nvPr/>
        </p:nvSpPr>
        <p:spPr>
          <a:xfrm>
            <a:off x="1028065" y="3100705"/>
            <a:ext cx="1322070" cy="429895"/>
          </a:xfrm>
          <a:prstGeom prst="rect">
            <a:avLst/>
          </a:prstGeom>
          <a:solidFill>
            <a:srgbClr val="3368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cs typeface="微软雅黑"/>
                <a:sym typeface="微软雅黑"/>
                <a:latin typeface="微软雅黑"/>
                <a:ea typeface="微软雅黑"/>
              </a:rPr>
              <a:t>开发者伙伴</a:t>
            </a:r>
            <a:endParaRPr lang="zh-CN" altLang="en-US" sz="1400" b="1">
              <a:solidFill>
                <a:srgbClr val="FFFFFF"/>
              </a:solidFill>
              <a:cs typeface="微软雅黑"/>
              <a:sym typeface="微软雅黑"/>
              <a:latin typeface="微软雅黑"/>
              <a:ea typeface="微软雅黑"/>
            </a:endParaRPr>
          </a:p>
        </p:txBody>
      </p:sp>
      <p:sp>
        <p:nvSpPr>
          <p:cNvPr id="9" name="矩形 8"/>
          <p:cNvSpPr/>
          <p:nvPr/>
        </p:nvSpPr>
        <p:spPr>
          <a:xfrm>
            <a:off x="3328035" y="3244215"/>
            <a:ext cx="1322070" cy="584200"/>
          </a:xfrm>
          <a:prstGeom prst="rect">
            <a:avLst/>
          </a:prstGeom>
          <a:solidFill>
            <a:srgbClr val="3368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344"/>
              </a:lnSpc>
              <a:spcBef>
                <a:spcPts val="0"/>
              </a:spcBef>
              <a:spcAft>
                <a:spcPts val="0"/>
              </a:spcAft>
            </a:pPr>
            <a:r>
              <a:rPr lang="zh-CN" altLang="en-US" sz="1200" b="1">
                <a:solidFill>
                  <a:srgbClr val="FFFFFF"/>
                </a:solidFill>
                <a:cs typeface="微软雅黑"/>
                <a:sym typeface="微软雅黑"/>
                <a:latin typeface="微软雅黑"/>
                <a:ea typeface="微软雅黑"/>
              </a:rPr>
              <a:t>SaaS</a:t>
            </a:r>
            <a:r>
              <a:rPr lang="zh-CN" altLang="en-US" sz="1200" b="1">
                <a:solidFill>
                  <a:srgbClr val="FFFFFF"/>
                </a:solidFill>
                <a:cs typeface="微软雅黑"/>
                <a:sym typeface="微软雅黑"/>
                <a:latin typeface="微软雅黑"/>
                <a:ea typeface="微软雅黑"/>
              </a:rPr>
              <a:t>应用</a:t>
            </a:r>
            <a:endParaRPr lang="zh-CN" altLang="en-US" sz="1200" b="1">
              <a:solidFill>
                <a:srgbClr val="FFFFFF"/>
              </a:solidFill>
              <a:cs typeface="微软雅黑"/>
              <a:sym typeface="微软雅黑"/>
              <a:latin typeface="微软雅黑"/>
              <a:ea typeface="微软雅黑"/>
            </a:endParaRPr>
          </a:p>
          <a:p>
            <a:pPr lvl="0" algn="ctr">
              <a:buClrTx/>
              <a:buSzTx/>
              <a:buFontTx/>
              <a:defRPr>
                <a:solidFill>
                  <a:srgbClr val="FFFFFF"/>
                </a:solidFill>
                <a:latin typeface="微软雅黑"/>
                <a:ea typeface="微软雅黑"/>
                <a:cs typeface="微软雅黑"/>
              </a:defRPr>
              <a:lnSpc>
                <a:spcPts val="1344"/>
              </a:lnSpc>
              <a:spcBef>
                <a:spcPts val="0"/>
              </a:spcBef>
              <a:spcAft>
                <a:spcPts val="0"/>
              </a:spcAft>
            </a:pPr>
            <a:r>
              <a:rPr lang="zh-CN" altLang="en-US" sz="1000" b="1">
                <a:solidFill>
                  <a:srgbClr val="FFFFFF"/>
                </a:solidFill>
                <a:cs typeface="微软雅黑"/>
                <a:sym typeface="微软雅黑"/>
                <a:latin typeface="微软雅黑"/>
                <a:ea typeface="微软雅黑"/>
              </a:rPr>
              <a:t>"</a:t>
            </a:r>
            <a:r>
              <a:rPr lang="zh-CN" altLang="en-US" sz="1000" b="1">
                <a:solidFill>
                  <a:srgbClr val="FFFFFF"/>
                </a:solidFill>
                <a:cs typeface="微软雅黑"/>
                <a:sym typeface="微软雅黑"/>
                <a:latin typeface="微软雅黑"/>
                <a:ea typeface="微软雅黑"/>
              </a:rPr>
              <a:t>行业垂直解决方案</a:t>
            </a:r>
            <a:r>
              <a:rPr lang="zh-CN" altLang="en-US" sz="1000" b="1">
                <a:solidFill>
                  <a:srgbClr val="FFFFFF"/>
                </a:solidFill>
                <a:cs typeface="微软雅黑"/>
                <a:sym typeface="微软雅黑"/>
                <a:latin typeface="微软雅黑"/>
                <a:ea typeface="微软雅黑"/>
              </a:rPr>
              <a:t>"</a:t>
            </a:r>
            <a:endParaRPr lang="zh-CN" altLang="en-US" sz="1000" b="1">
              <a:solidFill>
                <a:srgbClr val="FFFFFF"/>
              </a:solidFill>
              <a:cs typeface="微软雅黑"/>
              <a:sym typeface="微软雅黑"/>
              <a:latin typeface="微软雅黑"/>
              <a:ea typeface="微软雅黑"/>
            </a:endParaRPr>
          </a:p>
        </p:txBody>
      </p:sp>
      <p:sp>
        <p:nvSpPr>
          <p:cNvPr id="11" name="矩形 10"/>
          <p:cNvSpPr/>
          <p:nvPr/>
        </p:nvSpPr>
        <p:spPr>
          <a:xfrm>
            <a:off x="3359785" y="4982210"/>
            <a:ext cx="1322070" cy="584200"/>
          </a:xfrm>
          <a:prstGeom prst="rect">
            <a:avLst/>
          </a:prstGeom>
          <a:solidFill>
            <a:srgbClr val="3368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344"/>
              </a:lnSpc>
              <a:spcBef>
                <a:spcPts val="0"/>
              </a:spcBef>
              <a:spcAft>
                <a:spcPts val="0"/>
              </a:spcAft>
            </a:pPr>
            <a:r>
              <a:rPr lang="zh-CN" altLang="en-US" sz="1200" b="1">
                <a:solidFill>
                  <a:srgbClr val="FFFFFF"/>
                </a:solidFill>
                <a:cs typeface="微软雅黑"/>
                <a:sym typeface="微软雅黑"/>
                <a:latin typeface="微软雅黑"/>
                <a:ea typeface="微软雅黑"/>
              </a:rPr>
              <a:t>基础支付</a:t>
            </a:r>
            <a:endParaRPr lang="zh-CN" altLang="en-US" sz="1200" b="1">
              <a:solidFill>
                <a:srgbClr val="FFFFFF"/>
              </a:solidFill>
              <a:cs typeface="微软雅黑"/>
              <a:sym typeface="微软雅黑"/>
              <a:latin typeface="微软雅黑"/>
              <a:ea typeface="微软雅黑"/>
            </a:endParaRPr>
          </a:p>
          <a:p>
            <a:pPr lvl="0" algn="ctr">
              <a:buClrTx/>
              <a:buSzTx/>
              <a:buFontTx/>
              <a:defRPr>
                <a:solidFill>
                  <a:srgbClr val="FFFFFF"/>
                </a:solidFill>
                <a:latin typeface="微软雅黑"/>
                <a:ea typeface="微软雅黑"/>
                <a:cs typeface="微软雅黑"/>
              </a:defRPr>
              <a:lnSpc>
                <a:spcPts val="1344"/>
              </a:lnSpc>
              <a:spcBef>
                <a:spcPts val="0"/>
              </a:spcBef>
              <a:spcAft>
                <a:spcPts val="0"/>
              </a:spcAft>
            </a:pPr>
            <a:r>
              <a:rPr lang="zh-CN" altLang="en-US" sz="1000" b="1">
                <a:solidFill>
                  <a:srgbClr val="FFFFFF"/>
                </a:solidFill>
                <a:cs typeface="微软雅黑"/>
                <a:sym typeface="微软雅黑"/>
                <a:latin typeface="微软雅黑"/>
                <a:ea typeface="微软雅黑"/>
              </a:rPr>
              <a:t>"</a:t>
            </a:r>
            <a:r>
              <a:rPr lang="zh-CN" altLang="en-US" sz="1000" b="1">
                <a:solidFill>
                  <a:srgbClr val="FFFFFF"/>
                </a:solidFill>
                <a:cs typeface="微软雅黑"/>
                <a:sym typeface="微软雅黑"/>
                <a:latin typeface="微软雅黑"/>
                <a:ea typeface="微软雅黑"/>
              </a:rPr>
              <a:t>稳定高效支付通道</a:t>
            </a:r>
            <a:r>
              <a:rPr lang="zh-CN" altLang="en-US" sz="1000" b="1">
                <a:solidFill>
                  <a:srgbClr val="FFFFFF"/>
                </a:solidFill>
                <a:cs typeface="微软雅黑"/>
                <a:sym typeface="微软雅黑"/>
                <a:latin typeface="微软雅黑"/>
                <a:ea typeface="微软雅黑"/>
              </a:rPr>
              <a:t>"</a:t>
            </a:r>
            <a:endParaRPr lang="zh-CN" altLang="en-US" sz="1000" b="1">
              <a:solidFill>
                <a:srgbClr val="FFFFFF"/>
              </a:solidFill>
              <a:cs typeface="微软雅黑"/>
              <a:sym typeface="微软雅黑"/>
              <a:latin typeface="微软雅黑"/>
              <a:ea typeface="微软雅黑"/>
            </a:endParaRPr>
          </a:p>
        </p:txBody>
      </p:sp>
      <p:sp>
        <p:nvSpPr>
          <p:cNvPr id="12" name="矩形 11"/>
          <p:cNvSpPr/>
          <p:nvPr/>
        </p:nvSpPr>
        <p:spPr>
          <a:xfrm>
            <a:off x="4942205" y="4982210"/>
            <a:ext cx="1584960" cy="584200"/>
          </a:xfrm>
          <a:prstGeom prst="rect">
            <a:avLst/>
          </a:prstGeom>
          <a:solidFill>
            <a:srgbClr val="3368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lnSpc>
                <a:spcPts val="1344"/>
              </a:lnSpc>
              <a:spcBef>
                <a:spcPts val="0"/>
              </a:spcBef>
              <a:spcAft>
                <a:spcPts val="0"/>
              </a:spcAft>
            </a:pPr>
            <a:r>
              <a:rPr lang="zh-CN" altLang="en-US" sz="1200" b="1">
                <a:solidFill>
                  <a:srgbClr val="FFFFFF"/>
                </a:solidFill>
                <a:cs typeface="微软雅黑"/>
                <a:sym typeface="微软雅黑"/>
                <a:latin typeface="微软雅黑"/>
                <a:ea typeface="微软雅黑"/>
              </a:rPr>
              <a:t>场景实施伙伴</a:t>
            </a:r>
            <a:endParaRPr lang="zh-CN" altLang="en-US" sz="1200" b="1">
              <a:solidFill>
                <a:srgbClr val="FFFFFF"/>
              </a:solidFill>
              <a:cs typeface="微软雅黑"/>
              <a:sym typeface="微软雅黑"/>
              <a:latin typeface="微软雅黑"/>
              <a:ea typeface="微软雅黑"/>
            </a:endParaRPr>
          </a:p>
          <a:p>
            <a:pPr lvl="0" algn="ctr">
              <a:buClrTx/>
              <a:buSzTx/>
              <a:buFontTx/>
              <a:defRPr>
                <a:solidFill>
                  <a:srgbClr val="FFFFFF"/>
                </a:solidFill>
                <a:latin typeface="微软雅黑"/>
                <a:ea typeface="微软雅黑"/>
                <a:cs typeface="微软雅黑"/>
              </a:defRPr>
              <a:lnSpc>
                <a:spcPts val="1344"/>
              </a:lnSpc>
              <a:spcBef>
                <a:spcPts val="0"/>
              </a:spcBef>
              <a:spcAft>
                <a:spcPts val="0"/>
              </a:spcAft>
            </a:pPr>
            <a:r>
              <a:rPr lang="en-US" altLang="zh-CN" sz="1000">
                <a:solidFill>
                  <a:srgbClr val="FFFFFF"/>
                </a:solidFill>
                <a:cs typeface="微软雅黑"/>
                <a:sym typeface="微软雅黑"/>
                <a:latin typeface="微软雅黑"/>
                <a:ea typeface="微软雅黑"/>
              </a:rPr>
              <a:t>"</a:t>
            </a:r>
            <a:r>
              <a:rPr lang="zh-CN" altLang="en-US" sz="1000">
                <a:solidFill>
                  <a:srgbClr val="FFFFFF"/>
                </a:solidFill>
                <a:cs typeface="微软雅黑"/>
                <a:sym typeface="微软雅黑"/>
                <a:latin typeface="微软雅黑"/>
                <a:ea typeface="微软雅黑"/>
              </a:rPr>
              <a:t>定制化落地全链路服务</a:t>
            </a:r>
            <a:r>
              <a:rPr lang="en-US" altLang="zh-CN" sz="1000">
                <a:solidFill>
                  <a:srgbClr val="FFFFFF"/>
                </a:solidFill>
                <a:cs typeface="微软雅黑"/>
                <a:sym typeface="微软雅黑"/>
                <a:latin typeface="微软雅黑"/>
                <a:ea typeface="微软雅黑"/>
              </a:rPr>
              <a:t>"</a:t>
            </a:r>
            <a:endParaRPr lang="en-US" altLang="zh-CN" sz="1000">
              <a:solidFill>
                <a:srgbClr val="FFFFFF"/>
              </a:solidFill>
              <a:cs typeface="微软雅黑"/>
              <a:sym typeface="微软雅黑"/>
              <a:latin typeface="微软雅黑"/>
              <a:ea typeface="微软雅黑"/>
            </a:endParaRPr>
          </a:p>
        </p:txBody>
      </p:sp>
      <p:sp>
        <p:nvSpPr>
          <p:cNvPr id="18" name="矩形 17"/>
          <p:cNvSpPr/>
          <p:nvPr/>
        </p:nvSpPr>
        <p:spPr>
          <a:xfrm>
            <a:off x="10466070" y="3397885"/>
            <a:ext cx="1142365" cy="2085340"/>
          </a:xfrm>
          <a:prstGeom prst="rect">
            <a:avLst/>
          </a:prstGeom>
          <a:solidFill>
            <a:srgbClr val="E6E6E6">
              <a:alpha val="50000"/>
            </a:srgbClr>
          </a:solidFill>
          <a:ln>
            <a:solidFill>
              <a:srgbClr val="3368FF">
                <a:alpha val="70000"/>
              </a:srgbClr>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41" name="右箭头 40"/>
          <p:cNvSpPr/>
          <p:nvPr/>
        </p:nvSpPr>
        <p:spPr>
          <a:xfrm rot="16200000">
            <a:off x="1521460" y="2789555"/>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42" name="右箭头 41"/>
          <p:cNvSpPr/>
          <p:nvPr/>
        </p:nvSpPr>
        <p:spPr>
          <a:xfrm rot="5400000" flipV="1">
            <a:off x="2867660" y="2816860"/>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3" name="右箭头 42"/>
          <p:cNvSpPr/>
          <p:nvPr/>
        </p:nvSpPr>
        <p:spPr>
          <a:xfrm rot="16200000">
            <a:off x="4187190" y="2789555"/>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4" name="右箭头 43"/>
          <p:cNvSpPr/>
          <p:nvPr/>
        </p:nvSpPr>
        <p:spPr>
          <a:xfrm rot="5400000" flipV="1">
            <a:off x="5533390" y="2816860"/>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7" name="右箭头 46"/>
          <p:cNvSpPr/>
          <p:nvPr/>
        </p:nvSpPr>
        <p:spPr>
          <a:xfrm rot="16200000">
            <a:off x="6903720" y="2789555"/>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8" name="右箭头 47"/>
          <p:cNvSpPr/>
          <p:nvPr/>
        </p:nvSpPr>
        <p:spPr>
          <a:xfrm rot="5400000" flipV="1">
            <a:off x="8249920" y="2816860"/>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49" name="右箭头 48"/>
          <p:cNvSpPr/>
          <p:nvPr/>
        </p:nvSpPr>
        <p:spPr>
          <a:xfrm rot="16200000">
            <a:off x="9558020" y="2789555"/>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50" name="右箭头 49"/>
          <p:cNvSpPr/>
          <p:nvPr/>
        </p:nvSpPr>
        <p:spPr>
          <a:xfrm rot="5400000" flipV="1">
            <a:off x="10904220" y="2816860"/>
            <a:ext cx="259080" cy="260985"/>
          </a:xfrm>
          <a:prstGeom prst="rightArrow">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cxnSp>
        <p:nvCxnSpPr>
          <p:cNvPr id="51" name="直接连接符 50"/>
          <p:cNvCxnSpPr/>
          <p:nvPr/>
        </p:nvCxnSpPr>
        <p:spPr>
          <a:xfrm>
            <a:off x="2711450" y="4296410"/>
            <a:ext cx="2172335" cy="0"/>
          </a:xfrm>
          <a:prstGeom prst="line">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52" name="直接连接符 51"/>
          <p:cNvCxnSpPr/>
          <p:nvPr/>
        </p:nvCxnSpPr>
        <p:spPr>
          <a:xfrm>
            <a:off x="2741295" y="4442460"/>
            <a:ext cx="2200275" cy="0"/>
          </a:xfrm>
          <a:prstGeom prst="line">
            <a:avLst/>
          </a:prstGeom>
          <a:ln>
            <a:solidFill>
              <a:srgbClr val="3368FF"/>
            </a:solidFill>
            <a:headEnd type="triangle"/>
          </a:ln>
        </p:spPr>
        <p:style>
          <a:lnRef idx="2">
            <a:srgbClr val="0042FF"/>
          </a:lnRef>
          <a:fillRef idx="0">
            <a:srgbClr val="FFFFFF"/>
          </a:fillRef>
          <a:effectRef idx="0">
            <a:srgbClr val="FFFFFF"/>
          </a:effectRef>
          <a:fontRef idx="minor">
            <a:srgbClr val="383838"/>
          </a:fontRef>
        </p:style>
      </p:cxnSp>
      <p:sp>
        <p:nvSpPr>
          <p:cNvPr id="60" name="矩形 59"/>
          <p:cNvSpPr/>
          <p:nvPr/>
        </p:nvSpPr>
        <p:spPr>
          <a:xfrm>
            <a:off x="851535" y="5848350"/>
            <a:ext cx="10756900" cy="588010"/>
          </a:xfrm>
          <a:prstGeom prst="rect">
            <a:avLst/>
          </a:prstGeom>
          <a:gradFill>
            <a:gsLst>
              <a:gs pos="0">
                <a:srgbClr val="3368FF"/>
              </a:gs>
              <a:gs pos="100000">
                <a:srgbClr val="B3D4FE"/>
              </a:gs>
            </a:gsLst>
            <a:lin ang="0" scaled="0"/>
          </a:gra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b="1">
                <a:latin typeface="微软雅黑"/>
                <a:ea typeface="微软雅黑"/>
                <a:cs typeface="微软雅黑"/>
              </a:rPr>
              <a:t>围绕</a:t>
            </a:r>
            <a:r>
              <a:rPr lang="en-US" altLang="zh-CN" b="1">
                <a:latin typeface="微软雅黑"/>
                <a:ea typeface="微软雅黑"/>
                <a:cs typeface="微软雅黑"/>
              </a:rPr>
              <a:t>“</a:t>
            </a:r>
            <a:r>
              <a:rPr lang="zh-CN" altLang="en-US" b="1">
                <a:latin typeface="微软雅黑"/>
                <a:ea typeface="微软雅黑"/>
                <a:cs typeface="微软雅黑"/>
              </a:rPr>
              <a:t>支付业务流</a:t>
            </a:r>
            <a:r>
              <a:rPr lang="en-US" altLang="en-US" b="1">
                <a:latin typeface="微软雅黑"/>
                <a:ea typeface="微软雅黑"/>
                <a:cs typeface="微软雅黑"/>
              </a:rPr>
              <a:t>→</a:t>
            </a:r>
            <a:r>
              <a:rPr lang="en-US" altLang="zh-CN" b="1">
                <a:latin typeface="微软雅黑"/>
                <a:ea typeface="微软雅黑"/>
                <a:cs typeface="微软雅黑"/>
              </a:rPr>
              <a:t> </a:t>
            </a:r>
            <a:r>
              <a:rPr lang="zh-CN" altLang="en-US" b="1">
                <a:latin typeface="微软雅黑"/>
                <a:ea typeface="微软雅黑"/>
                <a:cs typeface="微软雅黑"/>
              </a:rPr>
              <a:t>生态协作流</a:t>
            </a:r>
            <a:r>
              <a:rPr lang="en-US" altLang="en-US" b="1">
                <a:latin typeface="微软雅黑"/>
                <a:ea typeface="微软雅黑"/>
                <a:cs typeface="微软雅黑"/>
              </a:rPr>
              <a:t>→</a:t>
            </a:r>
            <a:r>
              <a:rPr lang="en-US" altLang="zh-CN" b="1">
                <a:latin typeface="微软雅黑"/>
                <a:ea typeface="微软雅黑"/>
                <a:cs typeface="微软雅黑"/>
              </a:rPr>
              <a:t> </a:t>
            </a:r>
            <a:r>
              <a:rPr lang="zh-CN" altLang="en-US" b="1">
                <a:latin typeface="微软雅黑"/>
                <a:ea typeface="微软雅黑"/>
                <a:cs typeface="微软雅黑"/>
              </a:rPr>
              <a:t>商业价值流</a:t>
            </a:r>
            <a:r>
              <a:rPr lang="en-US" altLang="zh-CN" b="1">
                <a:latin typeface="微软雅黑"/>
                <a:ea typeface="微软雅黑"/>
                <a:cs typeface="微软雅黑"/>
              </a:rPr>
              <a:t>”</a:t>
            </a:r>
            <a:r>
              <a:rPr lang="zh-CN" altLang="en-US" b="1">
                <a:latin typeface="微软雅黑"/>
                <a:ea typeface="微软雅黑"/>
                <a:cs typeface="微软雅黑"/>
              </a:rPr>
              <a:t>，构建数字支付</a:t>
            </a:r>
            <a:r>
              <a:rPr lang="en-US" altLang="zh-CN" b="1">
                <a:latin typeface="微软雅黑"/>
                <a:ea typeface="微软雅黑"/>
                <a:cs typeface="微软雅黑"/>
              </a:rPr>
              <a:t>+</a:t>
            </a:r>
            <a:r>
              <a:rPr lang="zh-CN" altLang="en-US" b="1">
                <a:latin typeface="微软雅黑"/>
                <a:ea typeface="微软雅黑"/>
                <a:cs typeface="微软雅黑"/>
              </a:rPr>
              <a:t>新生态</a:t>
            </a:r>
            <a:endParaRPr lang="zh-CN" altLang="en-US" b="1">
              <a:latin typeface="微软雅黑"/>
              <a:ea typeface="微软雅黑"/>
              <a:cs typeface="微软雅黑"/>
            </a:endParaRPr>
          </a:p>
        </p:txBody>
      </p:sp>
      <p:sp>
        <p:nvSpPr>
          <p:cNvPr id="61" name="圆角矩形 60"/>
          <p:cNvSpPr/>
          <p:nvPr/>
        </p:nvSpPr>
        <p:spPr>
          <a:xfrm>
            <a:off x="1040130" y="4140200"/>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400">
                <a:solidFill>
                  <a:srgbClr val="383838"/>
                </a:solidFill>
                <a:cs typeface="微软雅黑"/>
                <a:latin typeface="微软雅黑"/>
                <a:ea typeface="微软雅黑"/>
              </a:rPr>
              <a:t>SaaS</a:t>
            </a:r>
            <a:r>
              <a:rPr lang="zh-CN" altLang="en-US" sz="1400">
                <a:solidFill>
                  <a:srgbClr val="383838"/>
                </a:solidFill>
                <a:cs typeface="微软雅黑"/>
                <a:latin typeface="微软雅黑"/>
                <a:ea typeface="微软雅黑"/>
              </a:rPr>
              <a:t>软件商</a:t>
            </a:r>
            <a:endParaRPr lang="zh-CN" altLang="en-US" sz="1400">
              <a:solidFill>
                <a:srgbClr val="383838"/>
              </a:solidFill>
              <a:cs typeface="微软雅黑"/>
              <a:latin typeface="微软雅黑"/>
              <a:ea typeface="微软雅黑"/>
            </a:endParaRPr>
          </a:p>
        </p:txBody>
      </p:sp>
      <p:sp>
        <p:nvSpPr>
          <p:cNvPr id="62" name="圆角矩形 61"/>
          <p:cNvSpPr/>
          <p:nvPr/>
        </p:nvSpPr>
        <p:spPr>
          <a:xfrm>
            <a:off x="1040130" y="4600575"/>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传统软件商</a:t>
            </a:r>
            <a:endParaRPr lang="zh-CN" altLang="en-US" sz="1400">
              <a:solidFill>
                <a:srgbClr val="383838"/>
              </a:solidFill>
              <a:cs typeface="微软雅黑"/>
              <a:latin typeface="微软雅黑"/>
              <a:ea typeface="微软雅黑"/>
            </a:endParaRPr>
          </a:p>
        </p:txBody>
      </p:sp>
      <p:sp>
        <p:nvSpPr>
          <p:cNvPr id="63" name="圆角矩形 62"/>
          <p:cNvSpPr/>
          <p:nvPr/>
        </p:nvSpPr>
        <p:spPr>
          <a:xfrm>
            <a:off x="1040130" y="5060950"/>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接口服务商</a:t>
            </a:r>
            <a:endParaRPr lang="zh-CN" altLang="en-US" sz="1400">
              <a:solidFill>
                <a:srgbClr val="383838"/>
              </a:solidFill>
              <a:cs typeface="微软雅黑"/>
              <a:latin typeface="微软雅黑"/>
              <a:ea typeface="微软雅黑"/>
            </a:endParaRPr>
          </a:p>
        </p:txBody>
      </p:sp>
      <p:sp>
        <p:nvSpPr>
          <p:cNvPr id="315" name="任意多边形: 形状 280"/>
          <p:cNvSpPr/>
          <p:nvPr/>
        </p:nvSpPr>
        <p:spPr>
          <a:xfrm rot="5400000">
            <a:off x="2697480" y="3296920"/>
            <a:ext cx="429895" cy="6318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64" name="文本框 63"/>
          <p:cNvSpPr txBox="1"/>
          <p:nvPr/>
        </p:nvSpPr>
        <p:spPr>
          <a:xfrm>
            <a:off x="2477135" y="3175635"/>
            <a:ext cx="83248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应用上架</a:t>
            </a:r>
            <a:endParaRPr lang="zh-CN" altLang="en-US" sz="1200">
              <a:solidFill>
                <a:srgbClr val="383838"/>
              </a:solidFill>
              <a:latin typeface="微软雅黑"/>
              <a:ea typeface="微软雅黑"/>
              <a:cs typeface="微软雅黑"/>
            </a:endParaRPr>
          </a:p>
        </p:txBody>
      </p:sp>
      <p:sp>
        <p:nvSpPr>
          <p:cNvPr id="65" name="任意多边形: 形状 280"/>
          <p:cNvSpPr/>
          <p:nvPr/>
        </p:nvSpPr>
        <p:spPr>
          <a:xfrm rot="16200000" flipH="1">
            <a:off x="2697480" y="4892040"/>
            <a:ext cx="429895" cy="6318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66" name="文本框 65"/>
          <p:cNvSpPr txBox="1"/>
          <p:nvPr/>
        </p:nvSpPr>
        <p:spPr>
          <a:xfrm>
            <a:off x="2502535" y="5391150"/>
            <a:ext cx="83248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能力输出</a:t>
            </a:r>
            <a:endParaRPr lang="zh-CN" altLang="en-US" sz="1200">
              <a:solidFill>
                <a:srgbClr val="383838"/>
              </a:solidFill>
              <a:latin typeface="微软雅黑"/>
              <a:ea typeface="微软雅黑"/>
              <a:cs typeface="微软雅黑"/>
            </a:endParaRPr>
          </a:p>
        </p:txBody>
      </p:sp>
      <p:sp>
        <p:nvSpPr>
          <p:cNvPr id="67" name="文本框 66"/>
          <p:cNvSpPr txBox="1"/>
          <p:nvPr/>
        </p:nvSpPr>
        <p:spPr>
          <a:xfrm>
            <a:off x="3531870" y="3984625"/>
            <a:ext cx="83248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入驻</a:t>
            </a:r>
            <a:endParaRPr lang="zh-CN" altLang="en-US" sz="1200">
              <a:solidFill>
                <a:srgbClr val="0042FF"/>
              </a:solidFill>
              <a:latin typeface="微软雅黑"/>
              <a:ea typeface="微软雅黑"/>
              <a:cs typeface="微软雅黑"/>
            </a:endParaRPr>
          </a:p>
        </p:txBody>
      </p:sp>
      <p:sp>
        <p:nvSpPr>
          <p:cNvPr id="68" name="文本框 67"/>
          <p:cNvSpPr txBox="1"/>
          <p:nvPr/>
        </p:nvSpPr>
        <p:spPr>
          <a:xfrm>
            <a:off x="3531870" y="4460240"/>
            <a:ext cx="83248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标准输出</a:t>
            </a:r>
            <a:endParaRPr lang="zh-CN" altLang="en-US" sz="1200">
              <a:solidFill>
                <a:srgbClr val="0042FF"/>
              </a:solidFill>
              <a:latin typeface="微软雅黑"/>
              <a:ea typeface="微软雅黑"/>
              <a:cs typeface="微软雅黑"/>
            </a:endParaRPr>
          </a:p>
        </p:txBody>
      </p:sp>
      <p:sp>
        <p:nvSpPr>
          <p:cNvPr id="69" name="梯形 322"/>
          <p:cNvSpPr/>
          <p:nvPr>
            <p:custDataLst>
              <p:tags r:id="rId1"/>
            </p:custDataLst>
          </p:nvPr>
        </p:nvSpPr>
        <p:spPr>
          <a:xfrm rot="10800000">
            <a:off x="4883785" y="3443605"/>
            <a:ext cx="1691640" cy="891540"/>
          </a:xfrm>
          <a:custGeom>
            <a:avLst/>
            <a:gdLst>
              <a:gd name="connsiteX0" fmla="*/ 0 w 965390"/>
              <a:gd name="connsiteY0" fmla="*/ 697627 h 697627"/>
              <a:gd name="connsiteX1" fmla="*/ 174407 w 965390"/>
              <a:gd name="connsiteY1" fmla="*/ 0 h 697627"/>
              <a:gd name="connsiteX2" fmla="*/ 790983 w 965390"/>
              <a:gd name="connsiteY2" fmla="*/ 0 h 697627"/>
              <a:gd name="connsiteX3" fmla="*/ 965390 w 965390"/>
              <a:gd name="connsiteY3" fmla="*/ 697627 h 697627"/>
              <a:gd name="connsiteX4" fmla="*/ 0 w 965390"/>
              <a:gd name="connsiteY4" fmla="*/ 697627 h 697627"/>
              <a:gd name="connsiteX0-1" fmla="*/ 0 w 965390"/>
              <a:gd name="connsiteY0-2" fmla="*/ 697627 h 697627"/>
              <a:gd name="connsiteX1-3" fmla="*/ 174407 w 965390"/>
              <a:gd name="connsiteY1-4" fmla="*/ 0 h 697627"/>
              <a:gd name="connsiteX2-5" fmla="*/ 790983 w 965390"/>
              <a:gd name="connsiteY2-6" fmla="*/ 0 h 697627"/>
              <a:gd name="connsiteX3-7" fmla="*/ 965390 w 965390"/>
              <a:gd name="connsiteY3-8" fmla="*/ 697627 h 697627"/>
              <a:gd name="connsiteX4-9" fmla="*/ 0 w 965390"/>
              <a:gd name="connsiteY4-10" fmla="*/ 697627 h 697627"/>
              <a:gd name="connsiteX0-11" fmla="*/ 0 w 965390"/>
              <a:gd name="connsiteY0-12" fmla="*/ 697627 h 697627"/>
              <a:gd name="connsiteX1-13" fmla="*/ 174407 w 965390"/>
              <a:gd name="connsiteY1-14" fmla="*/ 0 h 697627"/>
              <a:gd name="connsiteX2-15" fmla="*/ 790983 w 965390"/>
              <a:gd name="connsiteY2-16" fmla="*/ 0 h 697627"/>
              <a:gd name="connsiteX3-17" fmla="*/ 965390 w 965390"/>
              <a:gd name="connsiteY3-18" fmla="*/ 697627 h 697627"/>
              <a:gd name="connsiteX4-19" fmla="*/ 0 w 965390"/>
              <a:gd name="connsiteY4-20" fmla="*/ 697627 h 697627"/>
              <a:gd name="connsiteX0-21" fmla="*/ 0 w 965390"/>
              <a:gd name="connsiteY0-22" fmla="*/ 697627 h 697627"/>
              <a:gd name="connsiteX1-23" fmla="*/ 174407 w 965390"/>
              <a:gd name="connsiteY1-24" fmla="*/ 0 h 697627"/>
              <a:gd name="connsiteX2-25" fmla="*/ 790983 w 965390"/>
              <a:gd name="connsiteY2-26" fmla="*/ 0 h 697627"/>
              <a:gd name="connsiteX3-27" fmla="*/ 965390 w 965390"/>
              <a:gd name="connsiteY3-28" fmla="*/ 697627 h 697627"/>
              <a:gd name="connsiteX4-29" fmla="*/ 0 w 965390"/>
              <a:gd name="connsiteY4-30" fmla="*/ 697627 h 697627"/>
              <a:gd name="connsiteX0-31" fmla="*/ 0 w 965390"/>
              <a:gd name="connsiteY0-32" fmla="*/ 697627 h 697627"/>
              <a:gd name="connsiteX1-33" fmla="*/ 174407 w 965390"/>
              <a:gd name="connsiteY1-34" fmla="*/ 0 h 697627"/>
              <a:gd name="connsiteX2-35" fmla="*/ 790983 w 965390"/>
              <a:gd name="connsiteY2-36" fmla="*/ 0 h 697627"/>
              <a:gd name="connsiteX3-37" fmla="*/ 965390 w 965390"/>
              <a:gd name="connsiteY3-38" fmla="*/ 697627 h 697627"/>
              <a:gd name="connsiteX4-39" fmla="*/ 0 w 965390"/>
              <a:gd name="connsiteY4-40" fmla="*/ 697627 h 697627"/>
              <a:gd name="connsiteX0-41" fmla="*/ 0 w 965390"/>
              <a:gd name="connsiteY0-42" fmla="*/ 697627 h 697627"/>
              <a:gd name="connsiteX1-43" fmla="*/ 174407 w 965390"/>
              <a:gd name="connsiteY1-44" fmla="*/ 0 h 697627"/>
              <a:gd name="connsiteX2-45" fmla="*/ 745261 w 965390"/>
              <a:gd name="connsiteY2-46" fmla="*/ 0 h 697627"/>
              <a:gd name="connsiteX3-47" fmla="*/ 965390 w 965390"/>
              <a:gd name="connsiteY3-48" fmla="*/ 697627 h 697627"/>
              <a:gd name="connsiteX4-49" fmla="*/ 0 w 965390"/>
              <a:gd name="connsiteY4-50" fmla="*/ 697627 h 697627"/>
              <a:gd name="connsiteX0-51" fmla="*/ 0 w 965390"/>
              <a:gd name="connsiteY0-52" fmla="*/ 697627 h 697627"/>
              <a:gd name="connsiteX1-53" fmla="*/ 197267 w 965390"/>
              <a:gd name="connsiteY1-54" fmla="*/ 0 h 697627"/>
              <a:gd name="connsiteX2-55" fmla="*/ 745261 w 965390"/>
              <a:gd name="connsiteY2-56" fmla="*/ 0 h 697627"/>
              <a:gd name="connsiteX3-57" fmla="*/ 965390 w 965390"/>
              <a:gd name="connsiteY3-58" fmla="*/ 697627 h 697627"/>
              <a:gd name="connsiteX4-59" fmla="*/ 0 w 965390"/>
              <a:gd name="connsiteY4-60" fmla="*/ 697627 h 69762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65390" h="697627">
                <a:moveTo>
                  <a:pt x="0" y="697627"/>
                </a:moveTo>
                <a:cubicBezTo>
                  <a:pt x="142112" y="493080"/>
                  <a:pt x="223106" y="307190"/>
                  <a:pt x="197267" y="0"/>
                </a:cubicBezTo>
                <a:lnTo>
                  <a:pt x="745261" y="0"/>
                </a:lnTo>
                <a:cubicBezTo>
                  <a:pt x="747414" y="269867"/>
                  <a:pt x="823278" y="399774"/>
                  <a:pt x="965390" y="697627"/>
                </a:cubicBezTo>
                <a:lnTo>
                  <a:pt x="0" y="697627"/>
                </a:lnTo>
                <a:close/>
              </a:path>
            </a:pathLst>
          </a:custGeom>
          <a:gradFill flip="none" rotWithShape="1">
            <a:gsLst>
              <a:gs pos="42000">
                <a:srgbClr val="FFFFFF"/>
              </a:gs>
              <a:gs pos="0">
                <a:srgbClr val="FFFFFF">
                  <a:alpha val="0"/>
                </a:srgbClr>
              </a:gs>
              <a:gs pos="67000">
                <a:srgbClr val="FFFFFF"/>
              </a:gs>
              <a:gs pos="100000">
                <a:srgbClr val="FFFFFF">
                  <a:alpha val="0"/>
                </a:srgbClr>
              </a:gs>
            </a:gsLst>
            <a:lin ang="16200000" scaled="1"/>
          </a:gradFill>
          <a:ln>
            <a:gradFill flip="none" rotWithShape="1">
              <a:gsLst>
                <a:gs pos="50500">
                  <a:srgbClr val="3368FF"/>
                </a:gs>
                <a:gs pos="0">
                  <a:srgbClr val="3368FF">
                    <a:alpha val="0"/>
                  </a:srgbClr>
                </a:gs>
                <a:gs pos="100000">
                  <a:srgbClr val="3368FF">
                    <a:alpha val="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p>
            <a:pPr algn="ctr">
              <a:defRPr>
                <a:latin typeface="微软雅黑"/>
                <a:ea typeface="微软雅黑"/>
                <a:cs typeface="微软雅黑"/>
              </a:defRPr>
            </a:pPr>
            <a:endParaRPr lang="zh-CN" altLang="en-US" sz="1800">
              <a:solidFill>
                <a:srgbClr val="383838"/>
              </a:solidFill>
              <a:latin typeface="微软雅黑"/>
              <a:ea typeface="微软雅黑"/>
              <a:cs typeface="微软雅黑"/>
            </a:endParaRPr>
          </a:p>
        </p:txBody>
      </p:sp>
      <p:sp>
        <p:nvSpPr>
          <p:cNvPr id="70" name="不完整圆 235"/>
          <p:cNvSpPr/>
          <p:nvPr/>
        </p:nvSpPr>
        <p:spPr>
          <a:xfrm>
            <a:off x="5163820" y="4261485"/>
            <a:ext cx="1179830" cy="20129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19000">
                <a:srgbClr val="FFFFFF">
                  <a:alpha val="0"/>
                </a:srgbClr>
              </a:gs>
              <a:gs pos="100000">
                <a:srgbClr val="FFFFFF"/>
              </a:gs>
            </a:gsLst>
            <a:path path="circle">
              <a:fillToRect l="50000" t="50000" r="50000" b="50000"/>
            </a:path>
            <a:tileRect/>
          </a:gradFill>
          <a:ln w="11684">
            <a:gradFill flip="none" rotWithShape="1">
              <a:gsLst>
                <a:gs pos="0">
                  <a:srgbClr val="FFFFFF">
                    <a:alpha val="0"/>
                  </a:srgbClr>
                </a:gs>
                <a:gs pos="100000">
                  <a:srgbClr val="FFFF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55" dirty="0">
              <a:solidFill>
                <a:srgbClr val="0042FF"/>
              </a:solidFill>
              <a:latin typeface="微软雅黑"/>
              <a:ea typeface="微软雅黑"/>
              <a:cs typeface="微软雅黑"/>
              <a:sym typeface="微软雅黑"/>
            </a:endParaRPr>
          </a:p>
        </p:txBody>
      </p:sp>
      <p:sp>
        <p:nvSpPr>
          <p:cNvPr id="71" name="文本框 70"/>
          <p:cNvSpPr txBox="1"/>
          <p:nvPr/>
        </p:nvSpPr>
        <p:spPr>
          <a:xfrm>
            <a:off x="4967605" y="3746500"/>
            <a:ext cx="1536065" cy="275590"/>
          </a:xfrm>
          <a:prstGeom prst="rect">
            <a:avLst/>
          </a:prstGeom>
          <a:noFill/>
        </p:spPr>
        <p:txBody>
          <a:bodyPr wrap="square" rtlCol="0">
            <a:sp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数字开放平台</a:t>
            </a:r>
            <a:endParaRPr lang="zh-CN" altLang="en-US" sz="1200" b="1">
              <a:solidFill>
                <a:srgbClr val="0042FF"/>
              </a:solidFill>
              <a:latin typeface="微软雅黑"/>
              <a:ea typeface="微软雅黑"/>
              <a:cs typeface="微软雅黑"/>
            </a:endParaRPr>
          </a:p>
        </p:txBody>
      </p:sp>
      <p:cxnSp>
        <p:nvCxnSpPr>
          <p:cNvPr id="73" name="直接连接符 72"/>
          <p:cNvCxnSpPr/>
          <p:nvPr/>
        </p:nvCxnSpPr>
        <p:spPr>
          <a:xfrm>
            <a:off x="5925503" y="4525328"/>
            <a:ext cx="0" cy="394970"/>
          </a:xfrm>
          <a:prstGeom prst="line">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74" name="直接连接符 73"/>
          <p:cNvCxnSpPr/>
          <p:nvPr/>
        </p:nvCxnSpPr>
        <p:spPr>
          <a:xfrm flipV="1">
            <a:off x="5735638" y="4513263"/>
            <a:ext cx="0" cy="394970"/>
          </a:xfrm>
          <a:prstGeom prst="line">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sp>
        <p:nvSpPr>
          <p:cNvPr id="75" name="文本框 74"/>
          <p:cNvSpPr txBox="1"/>
          <p:nvPr/>
        </p:nvSpPr>
        <p:spPr>
          <a:xfrm>
            <a:off x="5069205" y="4600575"/>
            <a:ext cx="78422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入驻</a:t>
            </a:r>
            <a:endParaRPr lang="zh-CN" altLang="en-US" sz="1200">
              <a:solidFill>
                <a:srgbClr val="0042FF"/>
              </a:solidFill>
              <a:latin typeface="微软雅黑"/>
              <a:ea typeface="微软雅黑"/>
              <a:cs typeface="微软雅黑"/>
            </a:endParaRPr>
          </a:p>
        </p:txBody>
      </p:sp>
      <p:sp>
        <p:nvSpPr>
          <p:cNvPr id="76" name="文本框 75"/>
          <p:cNvSpPr txBox="1"/>
          <p:nvPr/>
        </p:nvSpPr>
        <p:spPr>
          <a:xfrm>
            <a:off x="5796280" y="4600575"/>
            <a:ext cx="78422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派单</a:t>
            </a:r>
            <a:endParaRPr lang="zh-CN" altLang="en-US" sz="1200">
              <a:solidFill>
                <a:srgbClr val="0042FF"/>
              </a:solidFill>
              <a:latin typeface="微软雅黑"/>
              <a:ea typeface="微软雅黑"/>
              <a:cs typeface="微软雅黑"/>
            </a:endParaRPr>
          </a:p>
        </p:txBody>
      </p:sp>
      <p:grpSp>
        <p:nvGrpSpPr>
          <p:cNvPr id="79" name="组合 78"/>
          <p:cNvGrpSpPr/>
          <p:nvPr/>
        </p:nvGrpSpPr>
        <p:grpSpPr>
          <a:xfrm>
            <a:off x="6681470" y="3853815"/>
            <a:ext cx="1101725" cy="146050"/>
            <a:chOff x="10522" y="6403"/>
            <a:chExt cx="3511" cy="230"/>
          </a:xfrm>
        </p:grpSpPr>
        <p:cxnSp>
          <p:nvCxnSpPr>
            <p:cNvPr id="77" name="直接连接符 76"/>
            <p:cNvCxnSpPr/>
            <p:nvPr/>
          </p:nvCxnSpPr>
          <p:spPr>
            <a:xfrm>
              <a:off x="10522" y="6403"/>
              <a:ext cx="3421" cy="0"/>
            </a:xfrm>
            <a:prstGeom prst="line">
              <a:avLst/>
            </a:prstGeom>
            <a:ln>
              <a:solidFill>
                <a:srgbClr val="3368FF"/>
              </a:solidFill>
              <a:tailEnd type="triangle"/>
            </a:ln>
          </p:spPr>
          <p:style>
            <a:lnRef idx="2">
              <a:srgbClr val="0042FF"/>
            </a:lnRef>
            <a:fillRef idx="0">
              <a:srgbClr val="FFFFFF"/>
            </a:fillRef>
            <a:effectRef idx="0">
              <a:srgbClr val="FFFFFF"/>
            </a:effectRef>
            <a:fontRef idx="minor">
              <a:srgbClr val="383838"/>
            </a:fontRef>
          </p:style>
        </p:cxnSp>
        <p:cxnSp>
          <p:nvCxnSpPr>
            <p:cNvPr id="78" name="直接连接符 77"/>
            <p:cNvCxnSpPr/>
            <p:nvPr/>
          </p:nvCxnSpPr>
          <p:spPr>
            <a:xfrm>
              <a:off x="10569" y="6633"/>
              <a:ext cx="3465" cy="0"/>
            </a:xfrm>
            <a:prstGeom prst="line">
              <a:avLst/>
            </a:prstGeom>
            <a:ln>
              <a:solidFill>
                <a:srgbClr val="3368FF"/>
              </a:solidFill>
              <a:headEnd type="triangle"/>
            </a:ln>
          </p:spPr>
          <p:style>
            <a:lnRef idx="2">
              <a:srgbClr val="0042FF"/>
            </a:lnRef>
            <a:fillRef idx="0">
              <a:srgbClr val="FFFFFF"/>
            </a:fillRef>
            <a:effectRef idx="0">
              <a:srgbClr val="FFFFFF"/>
            </a:effectRef>
            <a:fontRef idx="minor">
              <a:srgbClr val="383838"/>
            </a:fontRef>
          </p:style>
        </p:cxnSp>
      </p:grpSp>
      <p:sp>
        <p:nvSpPr>
          <p:cNvPr id="80" name="文本框 79"/>
          <p:cNvSpPr txBox="1"/>
          <p:nvPr/>
        </p:nvSpPr>
        <p:spPr>
          <a:xfrm>
            <a:off x="6579870" y="3526790"/>
            <a:ext cx="1363980"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解决方案获取</a:t>
            </a:r>
            <a:endParaRPr lang="zh-CN" altLang="en-US" sz="1200">
              <a:solidFill>
                <a:srgbClr val="0042FF"/>
              </a:solidFill>
              <a:latin typeface="微软雅黑"/>
              <a:ea typeface="微软雅黑"/>
              <a:cs typeface="微软雅黑"/>
            </a:endParaRPr>
          </a:p>
        </p:txBody>
      </p:sp>
      <p:sp>
        <p:nvSpPr>
          <p:cNvPr id="81" name="文本框 80"/>
          <p:cNvSpPr txBox="1"/>
          <p:nvPr/>
        </p:nvSpPr>
        <p:spPr>
          <a:xfrm>
            <a:off x="6579870" y="4059555"/>
            <a:ext cx="1363980"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0042FF"/>
                </a:solidFill>
                <a:latin typeface="微软雅黑"/>
                <a:ea typeface="微软雅黑"/>
                <a:cs typeface="微软雅黑"/>
              </a:rPr>
              <a:t>场景合作需求</a:t>
            </a:r>
            <a:endParaRPr lang="zh-CN" altLang="en-US" sz="1200">
              <a:solidFill>
                <a:srgbClr val="0042FF"/>
              </a:solidFill>
              <a:latin typeface="微软雅黑"/>
              <a:ea typeface="微软雅黑"/>
              <a:cs typeface="微软雅黑"/>
            </a:endParaRPr>
          </a:p>
        </p:txBody>
      </p:sp>
      <p:sp>
        <p:nvSpPr>
          <p:cNvPr id="82" name="矩形 81"/>
          <p:cNvSpPr/>
          <p:nvPr/>
        </p:nvSpPr>
        <p:spPr>
          <a:xfrm>
            <a:off x="7943850" y="3372485"/>
            <a:ext cx="1600200" cy="2260600"/>
          </a:xfrm>
          <a:prstGeom prst="rect">
            <a:avLst/>
          </a:prstGeom>
          <a:solidFill>
            <a:srgbClr val="E6E6E6">
              <a:alpha val="50000"/>
            </a:srgbClr>
          </a:solidFill>
          <a:ln>
            <a:solidFill>
              <a:srgbClr val="3368FF">
                <a:alpha val="70000"/>
              </a:srgbClr>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3" name="圆角矩形 82"/>
          <p:cNvSpPr/>
          <p:nvPr/>
        </p:nvSpPr>
        <p:spPr>
          <a:xfrm>
            <a:off x="8127365" y="3731260"/>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银行</a:t>
            </a:r>
            <a:endParaRPr lang="zh-CN" altLang="en-US" sz="1400">
              <a:solidFill>
                <a:srgbClr val="383838"/>
              </a:solidFill>
              <a:cs typeface="微软雅黑"/>
              <a:latin typeface="微软雅黑"/>
              <a:ea typeface="微软雅黑"/>
            </a:endParaRPr>
          </a:p>
        </p:txBody>
      </p:sp>
      <p:sp>
        <p:nvSpPr>
          <p:cNvPr id="84" name="矩形 83"/>
          <p:cNvSpPr/>
          <p:nvPr/>
        </p:nvSpPr>
        <p:spPr>
          <a:xfrm>
            <a:off x="8115300" y="3152140"/>
            <a:ext cx="1322070" cy="429895"/>
          </a:xfrm>
          <a:prstGeom prst="rect">
            <a:avLst/>
          </a:prstGeom>
          <a:solidFill>
            <a:srgbClr val="3368FF"/>
          </a:solid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400" b="1">
                <a:solidFill>
                  <a:srgbClr val="FFFFFF"/>
                </a:solidFill>
                <a:cs typeface="微软雅黑"/>
                <a:latin typeface="微软雅黑"/>
                <a:ea typeface="微软雅黑"/>
              </a:rPr>
              <a:t>收单合作伙伴</a:t>
            </a:r>
            <a:endParaRPr lang="zh-CN" altLang="en-US" sz="1400" b="1">
              <a:solidFill>
                <a:srgbClr val="FFFFFF"/>
              </a:solidFill>
              <a:cs typeface="微软雅黑"/>
              <a:latin typeface="微软雅黑"/>
              <a:ea typeface="微软雅黑"/>
            </a:endParaRPr>
          </a:p>
        </p:txBody>
      </p:sp>
      <p:sp>
        <p:nvSpPr>
          <p:cNvPr id="85" name="圆角矩形 84"/>
          <p:cNvSpPr/>
          <p:nvPr/>
        </p:nvSpPr>
        <p:spPr>
          <a:xfrm>
            <a:off x="8127365" y="4191635"/>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sz="1400">
                <a:solidFill>
                  <a:srgbClr val="383838"/>
                </a:solidFill>
                <a:cs typeface="微软雅黑"/>
                <a:latin typeface="微软雅黑"/>
                <a:ea typeface="微软雅黑"/>
              </a:rPr>
              <a:t>第三方支付</a:t>
            </a:r>
            <a:endParaRPr lang="zh-CN" sz="1400">
              <a:solidFill>
                <a:srgbClr val="383838"/>
              </a:solidFill>
              <a:cs typeface="微软雅黑"/>
              <a:latin typeface="微软雅黑"/>
              <a:ea typeface="微软雅黑"/>
            </a:endParaRPr>
          </a:p>
        </p:txBody>
      </p:sp>
      <p:sp>
        <p:nvSpPr>
          <p:cNvPr id="86" name="圆角矩形 85"/>
          <p:cNvSpPr/>
          <p:nvPr/>
        </p:nvSpPr>
        <p:spPr>
          <a:xfrm>
            <a:off x="8127365" y="4652010"/>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聚合支付商</a:t>
            </a:r>
            <a:endParaRPr lang="zh-CN" altLang="en-US" sz="1400">
              <a:solidFill>
                <a:srgbClr val="383838"/>
              </a:solidFill>
              <a:cs typeface="微软雅黑"/>
              <a:latin typeface="微软雅黑"/>
              <a:ea typeface="微软雅黑"/>
            </a:endParaRPr>
          </a:p>
        </p:txBody>
      </p:sp>
      <p:sp>
        <p:nvSpPr>
          <p:cNvPr id="87" name="圆角矩形 86"/>
          <p:cNvSpPr/>
          <p:nvPr/>
        </p:nvSpPr>
        <p:spPr>
          <a:xfrm>
            <a:off x="8127365" y="5112385"/>
            <a:ext cx="126555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400">
                <a:solidFill>
                  <a:srgbClr val="383838"/>
                </a:solidFill>
                <a:cs typeface="微软雅黑"/>
                <a:latin typeface="微软雅黑"/>
                <a:ea typeface="微软雅黑"/>
              </a:rPr>
              <a:t>行业支付商</a:t>
            </a:r>
            <a:endParaRPr lang="zh-CN" altLang="en-US" sz="1400">
              <a:solidFill>
                <a:srgbClr val="383838"/>
              </a:solidFill>
              <a:cs typeface="微软雅黑"/>
              <a:latin typeface="微软雅黑"/>
              <a:ea typeface="微软雅黑"/>
            </a:endParaRPr>
          </a:p>
        </p:txBody>
      </p:sp>
      <p:sp>
        <p:nvSpPr>
          <p:cNvPr id="88" name="任意多边形: 形状 280"/>
          <p:cNvSpPr/>
          <p:nvPr/>
        </p:nvSpPr>
        <p:spPr>
          <a:xfrm rot="5400000">
            <a:off x="9860280" y="3800475"/>
            <a:ext cx="429895" cy="6318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89" name="任意多边形: 形状 280"/>
          <p:cNvSpPr/>
          <p:nvPr/>
        </p:nvSpPr>
        <p:spPr>
          <a:xfrm rot="16200000" flipH="1">
            <a:off x="9805670" y="4481195"/>
            <a:ext cx="429895" cy="6318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90" name="文本框 89"/>
          <p:cNvSpPr txBox="1"/>
          <p:nvPr/>
        </p:nvSpPr>
        <p:spPr>
          <a:xfrm>
            <a:off x="9551035" y="3606800"/>
            <a:ext cx="97218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数字化升级</a:t>
            </a:r>
            <a:endParaRPr lang="zh-CN" altLang="en-US" sz="1200">
              <a:solidFill>
                <a:srgbClr val="383838"/>
              </a:solidFill>
              <a:latin typeface="微软雅黑"/>
              <a:ea typeface="微软雅黑"/>
              <a:cs typeface="微软雅黑"/>
            </a:endParaRPr>
          </a:p>
        </p:txBody>
      </p:sp>
      <p:sp>
        <p:nvSpPr>
          <p:cNvPr id="91" name="文本框 90"/>
          <p:cNvSpPr txBox="1"/>
          <p:nvPr/>
        </p:nvSpPr>
        <p:spPr>
          <a:xfrm>
            <a:off x="9558020" y="5022215"/>
            <a:ext cx="972185" cy="275590"/>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场景需求</a:t>
            </a:r>
            <a:endParaRPr lang="zh-CN" altLang="en-US" sz="1200">
              <a:solidFill>
                <a:srgbClr val="383838"/>
              </a:solidFill>
              <a:latin typeface="微软雅黑"/>
              <a:ea typeface="微软雅黑"/>
              <a:cs typeface="微软雅黑"/>
            </a:endParaRPr>
          </a:p>
        </p:txBody>
      </p:sp>
      <p:sp>
        <p:nvSpPr>
          <p:cNvPr id="92" name="圆角矩形 91"/>
          <p:cNvSpPr/>
          <p:nvPr/>
        </p:nvSpPr>
        <p:spPr>
          <a:xfrm>
            <a:off x="10548620" y="3606800"/>
            <a:ext cx="97599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商户</a:t>
            </a:r>
            <a:endParaRPr lang="zh-CN" altLang="en-US" sz="1400">
              <a:solidFill>
                <a:srgbClr val="383838"/>
              </a:solidFill>
              <a:cs typeface="微软雅黑"/>
              <a:sym typeface="微软雅黑"/>
              <a:latin typeface="微软雅黑"/>
              <a:ea typeface="微软雅黑"/>
            </a:endParaRPr>
          </a:p>
        </p:txBody>
      </p:sp>
      <p:sp>
        <p:nvSpPr>
          <p:cNvPr id="93" name="圆角矩形 92"/>
          <p:cNvSpPr/>
          <p:nvPr/>
        </p:nvSpPr>
        <p:spPr>
          <a:xfrm>
            <a:off x="10548620" y="4662170"/>
            <a:ext cx="975995" cy="320040"/>
          </a:xfrm>
          <a:prstGeom prst="roundRect">
            <a:avLst>
              <a:gd name="adj" fmla="val 50000"/>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a:solidFill>
                  <a:srgbClr val="383838"/>
                </a:solidFill>
                <a:cs typeface="微软雅黑"/>
                <a:sym typeface="微软雅黑"/>
                <a:latin typeface="微软雅黑"/>
                <a:ea typeface="微软雅黑"/>
              </a:rPr>
              <a:t>消费者</a:t>
            </a:r>
            <a:endParaRPr lang="zh-CN" altLang="en-US" sz="1400">
              <a:solidFill>
                <a:srgbClr val="383838"/>
              </a:solidFill>
              <a:cs typeface="微软雅黑"/>
              <a:sym typeface="微软雅黑"/>
              <a:latin typeface="微软雅黑"/>
              <a:ea typeface="微软雅黑"/>
            </a:endParaRPr>
          </a:p>
        </p:txBody>
      </p:sp>
      <p:cxnSp>
        <p:nvCxnSpPr>
          <p:cNvPr id="94" name="直接箭头连接符 93"/>
          <p:cNvCxnSpPr/>
          <p:nvPr/>
        </p:nvCxnSpPr>
        <p:spPr>
          <a:xfrm>
            <a:off x="11036935" y="3971290"/>
            <a:ext cx="0" cy="605155"/>
          </a:xfrm>
          <a:prstGeom prst="straightConnector1">
            <a:avLst/>
          </a:prstGeom>
          <a:ln>
            <a:solidFill>
              <a:srgbClr val="3368FF"/>
            </a:solidFill>
            <a:tailEnd type="arrow"/>
          </a:ln>
        </p:spPr>
        <p:style>
          <a:lnRef idx="2">
            <a:srgbClr val="0042FF"/>
          </a:lnRef>
          <a:fillRef idx="0">
            <a:srgbClr val="FFFFFF"/>
          </a:fillRef>
          <a:effectRef idx="0">
            <a:srgbClr val="FFFFFF"/>
          </a:effectRef>
          <a:fontRef idx="minor">
            <a:srgbClr val="383838"/>
          </a:fontRef>
        </p:style>
      </p:cxnSp>
      <p:cxnSp>
        <p:nvCxnSpPr>
          <p:cNvPr id="95" name="肘形连接符 94"/>
          <p:cNvCxnSpPr/>
          <p:nvPr/>
        </p:nvCxnSpPr>
        <p:spPr>
          <a:xfrm rot="5400000" flipH="1" flipV="1">
            <a:off x="7851775" y="1771650"/>
            <a:ext cx="1799590" cy="5789930"/>
          </a:xfrm>
          <a:prstGeom prst="bentConnector4">
            <a:avLst>
              <a:gd name="adj1" fmla="val -10726"/>
              <a:gd name="adj2" fmla="val 104113"/>
            </a:avLst>
          </a:prstGeom>
          <a:ln>
            <a:solidFill>
              <a:srgbClr val="668EFF"/>
            </a:solidFill>
            <a:prstDash val="dash"/>
            <a:tailEnd type="triangle" w="lg" len="med"/>
          </a:ln>
        </p:spPr>
        <p:style>
          <a:lnRef idx="2">
            <a:srgbClr val="0042FF"/>
          </a:lnRef>
          <a:fillRef idx="0">
            <a:srgbClr val="FFFFFF"/>
          </a:fillRef>
          <a:effectRef idx="0">
            <a:srgbClr val="FFFFFF"/>
          </a:effectRef>
          <a:fontRef idx="minor">
            <a:srgbClr val="383838"/>
          </a:fontRef>
        </p:style>
      </p:cxnSp>
      <p:sp>
        <p:nvSpPr>
          <p:cNvPr id="96" name="标题 2"/>
          <p:cNvSpPr>
            <a:spLocks noGrp="1"/>
          </p:cNvSpPr>
          <p:nvPr/>
        </p:nvSpPr>
        <p:spPr>
          <a:xfrm>
            <a:off x="4066540" y="1475740"/>
            <a:ext cx="3949065" cy="422275"/>
          </a:xfrm>
          <a:prstGeom prst="rect">
            <a:avLst/>
          </a:prstGeom>
          <a:ln w="12700">
            <a:miter lim="400000"/>
          </a:ln>
        </p:spPr>
        <p:txBody>
          <a:bodyPr vert="horz" wrap="square" lIns="25400" tIns="25400" rIns="25400" bIns="25400" rtlCol="0" anchor="ctr">
            <a:prstTxWarp prst="textArchUp">
              <a:avLst/>
            </a:prstTxWarp>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lang="en-US" altLang="zh-CN" sz="1600">
                <a:solidFill>
                  <a:srgbClr val="0042FF"/>
                </a:solidFill>
                <a:effectLst/>
                <a:latin typeface="微软雅黑"/>
                <a:ea typeface="微软雅黑"/>
                <a:cs typeface="微软雅黑"/>
              </a:rPr>
              <a:t>“</a:t>
            </a:r>
            <a:r>
              <a:rPr sz="1600">
                <a:solidFill>
                  <a:srgbClr val="0042FF"/>
                </a:solidFill>
                <a:effectLst/>
                <a:latin typeface="微软雅黑"/>
                <a:ea typeface="微软雅黑"/>
                <a:cs typeface="微软雅黑"/>
              </a:rPr>
              <a:t>支付</a:t>
            </a:r>
            <a:r>
              <a:rPr lang="en-US" altLang="zh-CN" sz="1600">
                <a:solidFill>
                  <a:srgbClr val="0042FF"/>
                </a:solidFill>
                <a:effectLst/>
                <a:latin typeface="微软雅黑"/>
                <a:ea typeface="微软雅黑"/>
                <a:cs typeface="微软雅黑"/>
              </a:rPr>
              <a:t>+”</a:t>
            </a:r>
            <a:r>
              <a:rPr sz="1600">
                <a:solidFill>
                  <a:srgbClr val="0042FF"/>
                </a:solidFill>
                <a:effectLst/>
                <a:latin typeface="微软雅黑"/>
                <a:ea typeface="微软雅黑"/>
                <a:cs typeface="微软雅黑"/>
              </a:rPr>
              <a:t>生态</a:t>
            </a:r>
            <a:endParaRPr sz="1600" b="0">
              <a:solidFill>
                <a:srgbClr val="0042FF"/>
              </a:solidFill>
              <a:effectLst/>
              <a:latin typeface="微软雅黑"/>
              <a:ea typeface="微软雅黑"/>
              <a:cs typeface="微软雅黑"/>
            </a:endParaRPr>
          </a:p>
        </p:txBody>
      </p:sp>
      <p:sp>
        <p:nvSpPr>
          <p:cNvPr id="6" name="不完整圆 235"/>
          <p:cNvSpPr/>
          <p:nvPr/>
        </p:nvSpPr>
        <p:spPr>
          <a:xfrm>
            <a:off x="4883785" y="3329305"/>
            <a:ext cx="1696720" cy="20129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19000">
                <a:srgbClr val="FFFFFF">
                  <a:alpha val="0"/>
                </a:srgbClr>
              </a:gs>
              <a:gs pos="100000">
                <a:srgbClr val="FFFFFF"/>
              </a:gs>
            </a:gsLst>
            <a:path path="circle">
              <a:fillToRect l="50000" t="50000" r="50000" b="50000"/>
            </a:path>
            <a:tileRect/>
          </a:gradFill>
          <a:ln w="11684">
            <a:gradFill flip="none" rotWithShape="1">
              <a:gsLst>
                <a:gs pos="0">
                  <a:srgbClr val="FFFFFF">
                    <a:alpha val="0"/>
                  </a:srgbClr>
                </a:gs>
                <a:gs pos="100000">
                  <a:srgbClr val="FFFF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55" dirty="0">
              <a:solidFill>
                <a:srgbClr val="0042FF"/>
              </a:solidFill>
              <a:latin typeface="微软雅黑"/>
              <a:ea typeface="微软雅黑"/>
              <a:cs typeface="微软雅黑"/>
              <a:sym typeface="微软雅黑"/>
            </a:endParaRPr>
          </a:p>
        </p:txBody>
      </p:sp>
      <p:grpSp>
        <p:nvGrpSpPr>
          <p:cNvPr id="24" name="组合 23"/>
          <p:cNvGrpSpPr/>
          <p:nvPr/>
        </p:nvGrpSpPr>
        <p:grpSpPr>
          <a:xfrm>
            <a:off x="3225800" y="1692910"/>
            <a:ext cx="1026160" cy="770890"/>
            <a:chOff x="5212" y="2576"/>
            <a:chExt cx="1616" cy="1214"/>
          </a:xfrm>
        </p:grpSpPr>
        <p:sp>
          <p:nvSpPr>
            <p:cNvPr id="198" name="©显眼包PPT1-1"/>
            <p:cNvSpPr/>
            <p:nvPr/>
          </p:nvSpPr>
          <p:spPr>
            <a:xfrm rot="5400000">
              <a:off x="5655" y="2576"/>
              <a:ext cx="731" cy="730"/>
            </a:xfrm>
            <a:prstGeom prst="hexagon">
              <a:avLst/>
            </a:prstGeom>
            <a:gradFill flip="none" rotWithShape="1">
              <a:gsLst>
                <a:gs pos="10000">
                  <a:srgbClr val="3368FF">
                    <a:alpha val="0"/>
                  </a:srgbClr>
                </a:gs>
                <a:gs pos="100000">
                  <a:srgbClr val="3368FF">
                    <a:alpha val="33000"/>
                  </a:srgbClr>
                </a:gs>
              </a:gsLst>
              <a:lin ang="10800000" scaled="1"/>
              <a:tileRect/>
            </a:gradFill>
            <a:ln w="9525">
              <a:gradFill flip="none" rotWithShape="1">
                <a:gsLst>
                  <a:gs pos="7000">
                    <a:srgbClr val="3368FF"/>
                  </a:gs>
                  <a:gs pos="84000">
                    <a:srgbClr val="3368FF">
                      <a:alpha val="0"/>
                    </a:srgbClr>
                  </a:gs>
                </a:gsLst>
                <a:lin ang="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cs typeface="微软雅黑"/>
                <a:latin typeface="微软雅黑"/>
                <a:ea typeface="微软雅黑"/>
              </a:endParaRPr>
            </a:p>
          </p:txBody>
        </p:sp>
        <p:grpSp>
          <p:nvGrpSpPr>
            <p:cNvPr id="16" name="组合 15"/>
            <p:cNvGrpSpPr/>
            <p:nvPr/>
          </p:nvGrpSpPr>
          <p:grpSpPr>
            <a:xfrm rot="0">
              <a:off x="5212" y="3049"/>
              <a:ext cx="1616" cy="741"/>
              <a:chOff x="6573188" y="2968936"/>
              <a:chExt cx="1399540" cy="743470"/>
            </a:xfrm>
          </p:grpSpPr>
          <p:grpSp>
            <p:nvGrpSpPr>
              <p:cNvPr id="102" name="组合 101"/>
              <p:cNvGrpSpPr/>
              <p:nvPr/>
            </p:nvGrpSpPr>
            <p:grpSpPr>
              <a:xfrm>
                <a:off x="6573188" y="2968936"/>
                <a:ext cx="1399540" cy="743470"/>
                <a:chOff x="6855551" y="3109240"/>
                <a:chExt cx="834814" cy="443474"/>
              </a:xfrm>
            </p:grpSpPr>
            <p:sp>
              <p:nvSpPr>
                <p:cNvPr id="17" name="©显眼包PPT1-3"/>
                <p:cNvSpPr/>
                <p:nvPr/>
              </p:nvSpPr>
              <p:spPr>
                <a:xfrm>
                  <a:off x="6855551" y="3109240"/>
                  <a:ext cx="834814" cy="412335"/>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19" name="©显眼包PPT1-4"/>
                <p:cNvSpPr/>
                <p:nvPr/>
              </p:nvSpPr>
              <p:spPr>
                <a:xfrm>
                  <a:off x="6855551" y="3362957"/>
                  <a:ext cx="834814" cy="15861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0" name="©显眼包PPT1-5"/>
                <p:cNvSpPr/>
                <p:nvPr/>
              </p:nvSpPr>
              <p:spPr>
                <a:xfrm>
                  <a:off x="6924576" y="3392369"/>
                  <a:ext cx="696764" cy="93519"/>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21" name="©显眼包PPT1-6"/>
                <p:cNvSpPr/>
                <p:nvPr/>
              </p:nvSpPr>
              <p:spPr>
                <a:xfrm>
                  <a:off x="6855551" y="3394096"/>
                  <a:ext cx="834814" cy="15861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sp>
            <p:nvSpPr>
              <p:cNvPr id="22" name="©显眼包PPT1-7"/>
              <p:cNvSpPr txBox="1"/>
              <p:nvPr/>
            </p:nvSpPr>
            <p:spPr>
              <a:xfrm>
                <a:off x="6573188" y="3027222"/>
                <a:ext cx="1399540" cy="388661"/>
              </a:xfrm>
              <a:prstGeom prst="rect">
                <a:avLst/>
              </a:prstGeom>
              <a:noFill/>
            </p:spPr>
            <p:txBody>
              <a:bodyPr wrap="square" lIns="0" tIns="0" rIns="0" bIns="0" rtlCol="0">
                <a:spAutoFit/>
              </a:bodyPr>
              <a:lstStyle/>
              <a:p>
                <a:pPr algn="ctr">
                  <a:defRPr>
                    <a:latin typeface="微软雅黑"/>
                    <a:ea typeface="微软雅黑"/>
                    <a:cs typeface="微软雅黑"/>
                  </a:defRPr>
                </a:pPr>
                <a:r>
                  <a:rPr lang="zh-CN" sz="1600" dirty="0">
                    <a:gradFill>
                      <a:gsLst>
                        <a:gs pos="1000">
                          <a:srgbClr val="0042FF"/>
                        </a:gs>
                        <a:gs pos="80000">
                          <a:srgbClr val="0042FF"/>
                        </a:gs>
                      </a:gsLst>
                      <a:lin ang="5400000" scaled="1"/>
                    </a:gradFill>
                    <a:solidFill>
                      <a:srgbClr val="383838"/>
                    </a:solidFill>
                    <a:latin typeface="微软雅黑"/>
                    <a:ea typeface="微软雅黑"/>
                    <a:cs typeface="微软雅黑"/>
                  </a:rPr>
                  <a:t>数字支付</a:t>
                </a:r>
                <a:endParaRPr lang="zh-CN" sz="1600" dirty="0">
                  <a:gradFill>
                    <a:gsLst>
                      <a:gs pos="1000">
                        <a:srgbClr val="0042FF"/>
                      </a:gs>
                      <a:gs pos="80000">
                        <a:srgbClr val="0042FF"/>
                      </a:gs>
                    </a:gsLst>
                    <a:lin ang="5400000" scaled="1"/>
                  </a:gradFill>
                  <a:solidFill>
                    <a:srgbClr val="383838"/>
                  </a:solidFill>
                  <a:latin typeface="微软雅黑"/>
                  <a:ea typeface="微软雅黑"/>
                  <a:cs typeface="微软雅黑"/>
                </a:endParaRPr>
              </a:p>
            </p:txBody>
          </p:sp>
        </p:grpSp>
        <p:pic>
          <p:nvPicPr>
            <p:cNvPr id="23" name="图片 22" descr="支付方式"/>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820" y="2709"/>
              <a:ext cx="398" cy="398"/>
            </a:xfrm>
            <a:prstGeom prst="rect">
              <a:avLst/>
            </a:prstGeom>
          </p:spPr>
        </p:pic>
      </p:grpSp>
      <p:grpSp>
        <p:nvGrpSpPr>
          <p:cNvPr id="135" name="组合 134"/>
          <p:cNvGrpSpPr/>
          <p:nvPr/>
        </p:nvGrpSpPr>
        <p:grpSpPr>
          <a:xfrm>
            <a:off x="4885690" y="1692910"/>
            <a:ext cx="1026160" cy="770890"/>
            <a:chOff x="7646" y="2666"/>
            <a:chExt cx="1616" cy="1214"/>
          </a:xfrm>
        </p:grpSpPr>
        <p:grpSp>
          <p:nvGrpSpPr>
            <p:cNvPr id="25" name="组合 24"/>
            <p:cNvGrpSpPr/>
            <p:nvPr/>
          </p:nvGrpSpPr>
          <p:grpSpPr>
            <a:xfrm>
              <a:off x="7646" y="2666"/>
              <a:ext cx="1616" cy="1214"/>
              <a:chOff x="5212" y="2576"/>
              <a:chExt cx="1616" cy="1214"/>
            </a:xfrm>
          </p:grpSpPr>
          <p:sp>
            <p:nvSpPr>
              <p:cNvPr id="26" name="©显眼包PPT1-1"/>
              <p:cNvSpPr/>
              <p:nvPr/>
            </p:nvSpPr>
            <p:spPr>
              <a:xfrm rot="5400000">
                <a:off x="5655" y="2576"/>
                <a:ext cx="731" cy="730"/>
              </a:xfrm>
              <a:prstGeom prst="hexagon">
                <a:avLst/>
              </a:prstGeom>
              <a:gradFill flip="none" rotWithShape="1">
                <a:gsLst>
                  <a:gs pos="10000">
                    <a:srgbClr val="3368FF">
                      <a:alpha val="0"/>
                    </a:srgbClr>
                  </a:gs>
                  <a:gs pos="100000">
                    <a:srgbClr val="3368FF">
                      <a:alpha val="33000"/>
                    </a:srgbClr>
                  </a:gs>
                </a:gsLst>
                <a:lin ang="10800000" scaled="1"/>
                <a:tileRect/>
              </a:gradFill>
              <a:ln w="9525">
                <a:gradFill flip="none" rotWithShape="1">
                  <a:gsLst>
                    <a:gs pos="7000">
                      <a:srgbClr val="3368FF"/>
                    </a:gs>
                    <a:gs pos="84000">
                      <a:srgbClr val="3368FF">
                        <a:alpha val="0"/>
                      </a:srgbClr>
                    </a:gs>
                  </a:gsLst>
                  <a:lin ang="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cs typeface="微软雅黑"/>
                  <a:latin typeface="微软雅黑"/>
                  <a:ea typeface="微软雅黑"/>
                </a:endParaRPr>
              </a:p>
            </p:txBody>
          </p:sp>
          <p:grpSp>
            <p:nvGrpSpPr>
              <p:cNvPr id="27" name="组合 26"/>
              <p:cNvGrpSpPr/>
              <p:nvPr/>
            </p:nvGrpSpPr>
            <p:grpSpPr>
              <a:xfrm rot="0">
                <a:off x="5212" y="3049"/>
                <a:ext cx="1616" cy="741"/>
                <a:chOff x="6573188" y="2968936"/>
                <a:chExt cx="1399540" cy="743470"/>
              </a:xfrm>
            </p:grpSpPr>
            <p:grpSp>
              <p:nvGrpSpPr>
                <p:cNvPr id="29" name="组合 28"/>
                <p:cNvGrpSpPr/>
                <p:nvPr/>
              </p:nvGrpSpPr>
              <p:grpSpPr>
                <a:xfrm>
                  <a:off x="6573188" y="2968936"/>
                  <a:ext cx="1399540" cy="743470"/>
                  <a:chOff x="6855551" y="3109240"/>
                  <a:chExt cx="834814" cy="443474"/>
                </a:xfrm>
              </p:grpSpPr>
              <p:sp>
                <p:nvSpPr>
                  <p:cNvPr id="30" name="©显眼包PPT1-3"/>
                  <p:cNvSpPr/>
                  <p:nvPr/>
                </p:nvSpPr>
                <p:spPr>
                  <a:xfrm>
                    <a:off x="6855551" y="3109240"/>
                    <a:ext cx="834814" cy="412335"/>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31" name="©显眼包PPT1-4"/>
                  <p:cNvSpPr/>
                  <p:nvPr/>
                </p:nvSpPr>
                <p:spPr>
                  <a:xfrm>
                    <a:off x="6855551" y="3362957"/>
                    <a:ext cx="834814" cy="15861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32" name="©显眼包PPT1-5"/>
                  <p:cNvSpPr/>
                  <p:nvPr/>
                </p:nvSpPr>
                <p:spPr>
                  <a:xfrm>
                    <a:off x="6924576" y="3392369"/>
                    <a:ext cx="696764" cy="93519"/>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33" name="©显眼包PPT1-6"/>
                  <p:cNvSpPr/>
                  <p:nvPr/>
                </p:nvSpPr>
                <p:spPr>
                  <a:xfrm>
                    <a:off x="6855551" y="3394096"/>
                    <a:ext cx="834814" cy="15861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sp>
              <p:nvSpPr>
                <p:cNvPr id="34" name="©显眼包PPT1-7"/>
                <p:cNvSpPr txBox="1"/>
                <p:nvPr/>
              </p:nvSpPr>
              <p:spPr>
                <a:xfrm>
                  <a:off x="6573188" y="3027222"/>
                  <a:ext cx="1399540" cy="38829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600" dirty="0">
                      <a:gradFill>
                        <a:gsLst>
                          <a:gs pos="1000">
                            <a:srgbClr val="0042FF"/>
                          </a:gs>
                          <a:gs pos="80000">
                            <a:srgbClr val="0042FF"/>
                          </a:gs>
                        </a:gsLst>
                        <a:lin ang="5400000" scaled="1"/>
                      </a:gradFill>
                      <a:solidFill>
                        <a:srgbClr val="383838"/>
                      </a:solidFill>
                      <a:latin typeface="微软雅黑"/>
                      <a:ea typeface="微软雅黑"/>
                      <a:cs typeface="微软雅黑"/>
                    </a:rPr>
                    <a:t>场景</a:t>
                  </a:r>
                  <a:r>
                    <a:rPr lang="en-US" altLang="zh-CN" sz="1600" dirty="0">
                      <a:gradFill>
                        <a:gsLst>
                          <a:gs pos="1000">
                            <a:srgbClr val="0042FF"/>
                          </a:gs>
                          <a:gs pos="80000">
                            <a:srgbClr val="0042FF"/>
                          </a:gs>
                        </a:gsLst>
                        <a:lin ang="5400000" scaled="1"/>
                      </a:gradFill>
                      <a:solidFill>
                        <a:srgbClr val="383838"/>
                      </a:solidFill>
                      <a:latin typeface="微软雅黑"/>
                      <a:ea typeface="微软雅黑"/>
                      <a:cs typeface="微软雅黑"/>
                    </a:rPr>
                    <a:t>SaaS</a:t>
                  </a:r>
                  <a:endParaRPr lang="en-US" altLang="zh-CN" sz="1600" dirty="0">
                    <a:gradFill>
                      <a:gsLst>
                        <a:gs pos="1000">
                          <a:srgbClr val="0042FF"/>
                        </a:gs>
                        <a:gs pos="80000">
                          <a:srgbClr val="0042FF"/>
                        </a:gs>
                      </a:gsLst>
                      <a:lin ang="5400000" scaled="1"/>
                    </a:gradFill>
                    <a:solidFill>
                      <a:srgbClr val="383838"/>
                    </a:solidFill>
                    <a:latin typeface="微软雅黑"/>
                    <a:ea typeface="微软雅黑"/>
                    <a:cs typeface="微软雅黑"/>
                  </a:endParaRPr>
                </a:p>
              </p:txBody>
            </p:sp>
          </p:grpSp>
        </p:grpSp>
        <p:pic>
          <p:nvPicPr>
            <p:cNvPr id="131" name="图片 130" descr="saas (2)"/>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275" y="2798"/>
              <a:ext cx="326" cy="326"/>
            </a:xfrm>
            <a:prstGeom prst="rect">
              <a:avLst/>
            </a:prstGeom>
          </p:spPr>
        </p:pic>
      </p:grpSp>
      <p:grpSp>
        <p:nvGrpSpPr>
          <p:cNvPr id="136" name="组合 135"/>
          <p:cNvGrpSpPr/>
          <p:nvPr/>
        </p:nvGrpSpPr>
        <p:grpSpPr>
          <a:xfrm>
            <a:off x="6545580" y="1692910"/>
            <a:ext cx="1026160" cy="770890"/>
            <a:chOff x="10158" y="2666"/>
            <a:chExt cx="1616" cy="1214"/>
          </a:xfrm>
        </p:grpSpPr>
        <p:grpSp>
          <p:nvGrpSpPr>
            <p:cNvPr id="36" name="组合 35"/>
            <p:cNvGrpSpPr/>
            <p:nvPr/>
          </p:nvGrpSpPr>
          <p:grpSpPr>
            <a:xfrm>
              <a:off x="10158" y="2666"/>
              <a:ext cx="1616" cy="1214"/>
              <a:chOff x="5212" y="2576"/>
              <a:chExt cx="1616" cy="1214"/>
            </a:xfrm>
          </p:grpSpPr>
          <p:sp>
            <p:nvSpPr>
              <p:cNvPr id="37" name="©显眼包PPT1-1"/>
              <p:cNvSpPr/>
              <p:nvPr/>
            </p:nvSpPr>
            <p:spPr>
              <a:xfrm rot="5400000">
                <a:off x="5655" y="2576"/>
                <a:ext cx="731" cy="730"/>
              </a:xfrm>
              <a:prstGeom prst="hexagon">
                <a:avLst/>
              </a:prstGeom>
              <a:gradFill flip="none" rotWithShape="1">
                <a:gsLst>
                  <a:gs pos="10000">
                    <a:srgbClr val="3368FF">
                      <a:alpha val="0"/>
                    </a:srgbClr>
                  </a:gs>
                  <a:gs pos="100000">
                    <a:srgbClr val="3368FF">
                      <a:alpha val="33000"/>
                    </a:srgbClr>
                  </a:gs>
                </a:gsLst>
                <a:lin ang="10800000" scaled="1"/>
                <a:tileRect/>
              </a:gradFill>
              <a:ln w="9525">
                <a:gradFill flip="none" rotWithShape="1">
                  <a:gsLst>
                    <a:gs pos="7000">
                      <a:srgbClr val="3368FF"/>
                    </a:gs>
                    <a:gs pos="84000">
                      <a:srgbClr val="3368FF">
                        <a:alpha val="0"/>
                      </a:srgbClr>
                    </a:gs>
                  </a:gsLst>
                  <a:lin ang="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cs typeface="微软雅黑"/>
                  <a:latin typeface="微软雅黑"/>
                  <a:ea typeface="微软雅黑"/>
                </a:endParaRPr>
              </a:p>
            </p:txBody>
          </p:sp>
          <p:grpSp>
            <p:nvGrpSpPr>
              <p:cNvPr id="38" name="组合 37"/>
              <p:cNvGrpSpPr/>
              <p:nvPr/>
            </p:nvGrpSpPr>
            <p:grpSpPr>
              <a:xfrm rot="0">
                <a:off x="5212" y="3049"/>
                <a:ext cx="1616" cy="741"/>
                <a:chOff x="6573188" y="2968936"/>
                <a:chExt cx="1399540" cy="743470"/>
              </a:xfrm>
            </p:grpSpPr>
            <p:grpSp>
              <p:nvGrpSpPr>
                <p:cNvPr id="39" name="组合 38"/>
                <p:cNvGrpSpPr/>
                <p:nvPr/>
              </p:nvGrpSpPr>
              <p:grpSpPr>
                <a:xfrm>
                  <a:off x="6573188" y="2968936"/>
                  <a:ext cx="1399540" cy="743470"/>
                  <a:chOff x="6855551" y="3109240"/>
                  <a:chExt cx="834814" cy="443474"/>
                </a:xfrm>
              </p:grpSpPr>
              <p:sp>
                <p:nvSpPr>
                  <p:cNvPr id="40" name="©显眼包PPT1-3"/>
                  <p:cNvSpPr/>
                  <p:nvPr/>
                </p:nvSpPr>
                <p:spPr>
                  <a:xfrm>
                    <a:off x="6855551" y="3109240"/>
                    <a:ext cx="834814" cy="412335"/>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45" name="©显眼包PPT1-4"/>
                  <p:cNvSpPr/>
                  <p:nvPr/>
                </p:nvSpPr>
                <p:spPr>
                  <a:xfrm>
                    <a:off x="6855551" y="3362957"/>
                    <a:ext cx="834814" cy="15861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46" name="©显眼包PPT1-5"/>
                  <p:cNvSpPr/>
                  <p:nvPr/>
                </p:nvSpPr>
                <p:spPr>
                  <a:xfrm>
                    <a:off x="6924576" y="3392369"/>
                    <a:ext cx="696764" cy="93519"/>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53" name="©显眼包PPT1-6"/>
                  <p:cNvSpPr/>
                  <p:nvPr/>
                </p:nvSpPr>
                <p:spPr>
                  <a:xfrm>
                    <a:off x="6855551" y="3394096"/>
                    <a:ext cx="834814" cy="15861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sp>
              <p:nvSpPr>
                <p:cNvPr id="54" name="©显眼包PPT1-7"/>
                <p:cNvSpPr txBox="1"/>
                <p:nvPr/>
              </p:nvSpPr>
              <p:spPr>
                <a:xfrm>
                  <a:off x="6573188" y="3027222"/>
                  <a:ext cx="1399540" cy="388290"/>
                </a:xfrm>
                <a:prstGeom prst="rect">
                  <a:avLst/>
                </a:prstGeom>
                <a:noFill/>
              </p:spPr>
              <p:txBody>
                <a:bodyPr wrap="square" lIns="0" tIns="0" rIns="0" bIns="0" rtlCol="0">
                  <a:spAutoFit/>
                </a:bodyPr>
                <a:lstStyle/>
                <a:p>
                  <a:pPr algn="ctr">
                    <a:defRPr>
                      <a:latin typeface="微软雅黑"/>
                      <a:ea typeface="微软雅黑"/>
                      <a:cs typeface="微软雅黑"/>
                    </a:defRPr>
                  </a:pPr>
                  <a:r>
                    <a:rPr lang="zh-CN" sz="1600" dirty="0">
                      <a:gradFill>
                        <a:gsLst>
                          <a:gs pos="1000">
                            <a:srgbClr val="0042FF"/>
                          </a:gs>
                          <a:gs pos="80000">
                            <a:srgbClr val="0042FF"/>
                          </a:gs>
                        </a:gsLst>
                        <a:lin ang="5400000" scaled="1"/>
                      </a:gradFill>
                      <a:solidFill>
                        <a:srgbClr val="383838"/>
                      </a:solidFill>
                      <a:latin typeface="微软雅黑"/>
                      <a:ea typeface="微软雅黑"/>
                      <a:cs typeface="微软雅黑"/>
                    </a:rPr>
                    <a:t>数字营销</a:t>
                  </a:r>
                  <a:endParaRPr lang="en-US" altLang="zh-CN" sz="1600" dirty="0">
                    <a:gradFill>
                      <a:gsLst>
                        <a:gs pos="1000">
                          <a:srgbClr val="0042FF"/>
                        </a:gs>
                        <a:gs pos="80000">
                          <a:srgbClr val="0042FF"/>
                        </a:gs>
                      </a:gsLst>
                      <a:lin ang="5400000" scaled="1"/>
                    </a:gradFill>
                    <a:solidFill>
                      <a:srgbClr val="383838"/>
                    </a:solidFill>
                    <a:latin typeface="微软雅黑"/>
                    <a:ea typeface="微软雅黑"/>
                    <a:cs typeface="微软雅黑"/>
                  </a:endParaRPr>
                </a:p>
              </p:txBody>
            </p:sp>
          </p:grpSp>
        </p:grpSp>
        <p:pic>
          <p:nvPicPr>
            <p:cNvPr id="132" name="图片 131" descr="数字营销2"/>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809" y="2815"/>
              <a:ext cx="315" cy="315"/>
            </a:xfrm>
            <a:prstGeom prst="rect">
              <a:avLst/>
            </a:prstGeom>
          </p:spPr>
        </p:pic>
      </p:grpSp>
      <p:grpSp>
        <p:nvGrpSpPr>
          <p:cNvPr id="137" name="组合 136"/>
          <p:cNvGrpSpPr/>
          <p:nvPr/>
        </p:nvGrpSpPr>
        <p:grpSpPr>
          <a:xfrm>
            <a:off x="8205470" y="1692910"/>
            <a:ext cx="1026160" cy="770890"/>
            <a:chOff x="12670" y="2666"/>
            <a:chExt cx="1616" cy="1214"/>
          </a:xfrm>
        </p:grpSpPr>
        <p:grpSp>
          <p:nvGrpSpPr>
            <p:cNvPr id="56" name="组合 55"/>
            <p:cNvGrpSpPr/>
            <p:nvPr/>
          </p:nvGrpSpPr>
          <p:grpSpPr>
            <a:xfrm>
              <a:off x="12670" y="2666"/>
              <a:ext cx="1616" cy="1214"/>
              <a:chOff x="5212" y="2576"/>
              <a:chExt cx="1616" cy="1214"/>
            </a:xfrm>
          </p:grpSpPr>
          <p:sp>
            <p:nvSpPr>
              <p:cNvPr id="57" name="©显眼包PPT1-1"/>
              <p:cNvSpPr/>
              <p:nvPr/>
            </p:nvSpPr>
            <p:spPr>
              <a:xfrm rot="5400000">
                <a:off x="5655" y="2576"/>
                <a:ext cx="731" cy="730"/>
              </a:xfrm>
              <a:prstGeom prst="hexagon">
                <a:avLst/>
              </a:prstGeom>
              <a:gradFill flip="none" rotWithShape="1">
                <a:gsLst>
                  <a:gs pos="10000">
                    <a:srgbClr val="3368FF">
                      <a:alpha val="0"/>
                    </a:srgbClr>
                  </a:gs>
                  <a:gs pos="100000">
                    <a:srgbClr val="3368FF">
                      <a:alpha val="33000"/>
                    </a:srgbClr>
                  </a:gs>
                </a:gsLst>
                <a:lin ang="10800000" scaled="1"/>
                <a:tileRect/>
              </a:gradFill>
              <a:ln w="9525">
                <a:gradFill flip="none" rotWithShape="1">
                  <a:gsLst>
                    <a:gs pos="7000">
                      <a:srgbClr val="3368FF"/>
                    </a:gs>
                    <a:gs pos="84000">
                      <a:srgbClr val="3368FF">
                        <a:alpha val="0"/>
                      </a:srgbClr>
                    </a:gs>
                  </a:gsLst>
                  <a:lin ang="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600">
                  <a:cs typeface="微软雅黑"/>
                  <a:latin typeface="微软雅黑"/>
                  <a:ea typeface="微软雅黑"/>
                </a:endParaRPr>
              </a:p>
            </p:txBody>
          </p:sp>
          <p:grpSp>
            <p:nvGrpSpPr>
              <p:cNvPr id="59" name="组合 58"/>
              <p:cNvGrpSpPr/>
              <p:nvPr/>
            </p:nvGrpSpPr>
            <p:grpSpPr>
              <a:xfrm rot="0">
                <a:off x="5212" y="3049"/>
                <a:ext cx="1616" cy="741"/>
                <a:chOff x="6573188" y="2968936"/>
                <a:chExt cx="1399540" cy="743470"/>
              </a:xfrm>
            </p:grpSpPr>
            <p:grpSp>
              <p:nvGrpSpPr>
                <p:cNvPr id="72" name="组合 71"/>
                <p:cNvGrpSpPr/>
                <p:nvPr/>
              </p:nvGrpSpPr>
              <p:grpSpPr>
                <a:xfrm>
                  <a:off x="6573188" y="2968936"/>
                  <a:ext cx="1399540" cy="743470"/>
                  <a:chOff x="6855551" y="3109240"/>
                  <a:chExt cx="834814" cy="443474"/>
                </a:xfrm>
              </p:grpSpPr>
              <p:sp>
                <p:nvSpPr>
                  <p:cNvPr id="97" name="©显眼包PPT1-3"/>
                  <p:cNvSpPr/>
                  <p:nvPr/>
                </p:nvSpPr>
                <p:spPr>
                  <a:xfrm>
                    <a:off x="6855551" y="3109240"/>
                    <a:ext cx="834814" cy="412335"/>
                  </a:xfrm>
                  <a:custGeom>
                    <a:avLst/>
                    <a:gdLst>
                      <a:gd name="connsiteX0" fmla="*/ 0 w 888777"/>
                      <a:gd name="connsiteY0" fmla="*/ 419295 h 519149"/>
                      <a:gd name="connsiteX1" fmla="*/ 271413 w 888777"/>
                      <a:gd name="connsiteY1" fmla="*/ 511302 h 519149"/>
                      <a:gd name="connsiteX2" fmla="*/ 444389 w 888777"/>
                      <a:gd name="connsiteY2" fmla="*/ 519149 h 519149"/>
                      <a:gd name="connsiteX3" fmla="*/ 444388 w 888777"/>
                      <a:gd name="connsiteY3" fmla="*/ 519149 h 519149"/>
                      <a:gd name="connsiteX4" fmla="*/ 0 w 888777"/>
                      <a:gd name="connsiteY4" fmla="*/ 419295 h 519149"/>
                      <a:gd name="connsiteX5" fmla="*/ 0 w 888777"/>
                      <a:gd name="connsiteY5" fmla="*/ 0 h 519149"/>
                      <a:gd name="connsiteX6" fmla="*/ 888777 w 888777"/>
                      <a:gd name="connsiteY6" fmla="*/ 0 h 519149"/>
                      <a:gd name="connsiteX7" fmla="*/ 888777 w 888777"/>
                      <a:gd name="connsiteY7" fmla="*/ 122940 h 519149"/>
                      <a:gd name="connsiteX8" fmla="*/ 888777 w 888777"/>
                      <a:gd name="connsiteY8" fmla="*/ 245879 h 519149"/>
                      <a:gd name="connsiteX9" fmla="*/ 888777 w 888777"/>
                      <a:gd name="connsiteY9" fmla="*/ 416722 h 519149"/>
                      <a:gd name="connsiteX10" fmla="*/ 887624 w 888777"/>
                      <a:gd name="connsiteY10" fmla="*/ 416722 h 519149"/>
                      <a:gd name="connsiteX11" fmla="*/ 879750 w 888777"/>
                      <a:gd name="connsiteY11" fmla="*/ 399171 h 519149"/>
                      <a:gd name="connsiteX12" fmla="*/ 444389 w 888777"/>
                      <a:gd name="connsiteY12" fmla="*/ 319441 h 519149"/>
                      <a:gd name="connsiteX13" fmla="*/ 0 w 888777"/>
                      <a:gd name="connsiteY13" fmla="*/ 419295 h 519149"/>
                      <a:gd name="connsiteX14" fmla="*/ 1154 w 888777"/>
                      <a:gd name="connsiteY14" fmla="*/ 416722 h 519149"/>
                      <a:gd name="connsiteX15" fmla="*/ 0 w 888777"/>
                      <a:gd name="connsiteY15" fmla="*/ 416722 h 519149"/>
                      <a:gd name="connsiteX16" fmla="*/ 0 w 888777"/>
                      <a:gd name="connsiteY16" fmla="*/ 245879 h 519149"/>
                      <a:gd name="connsiteX17" fmla="*/ 0 w 888777"/>
                      <a:gd name="connsiteY17" fmla="*/ 122940 h 51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8777" h="519149">
                        <a:moveTo>
                          <a:pt x="0" y="419295"/>
                        </a:moveTo>
                        <a:cubicBezTo>
                          <a:pt x="0" y="460656"/>
                          <a:pt x="111915" y="496144"/>
                          <a:pt x="271413" y="511302"/>
                        </a:cubicBezTo>
                        <a:lnTo>
                          <a:pt x="444389" y="519149"/>
                        </a:lnTo>
                        <a:lnTo>
                          <a:pt x="444388" y="519149"/>
                        </a:lnTo>
                        <a:cubicBezTo>
                          <a:pt x="198959" y="519149"/>
                          <a:pt x="0" y="474443"/>
                          <a:pt x="0" y="419295"/>
                        </a:cubicBezTo>
                        <a:close/>
                        <a:moveTo>
                          <a:pt x="0" y="0"/>
                        </a:moveTo>
                        <a:lnTo>
                          <a:pt x="888777" y="0"/>
                        </a:lnTo>
                        <a:lnTo>
                          <a:pt x="888777" y="122940"/>
                        </a:lnTo>
                        <a:lnTo>
                          <a:pt x="888777" y="245879"/>
                        </a:lnTo>
                        <a:lnTo>
                          <a:pt x="888777" y="416722"/>
                        </a:lnTo>
                        <a:lnTo>
                          <a:pt x="887624" y="416722"/>
                        </a:lnTo>
                        <a:lnTo>
                          <a:pt x="879750" y="399171"/>
                        </a:lnTo>
                        <a:cubicBezTo>
                          <a:pt x="838312" y="353669"/>
                          <a:pt x="659139" y="319441"/>
                          <a:pt x="444389" y="319441"/>
                        </a:cubicBezTo>
                        <a:cubicBezTo>
                          <a:pt x="198960" y="319441"/>
                          <a:pt x="0" y="364147"/>
                          <a:pt x="0" y="419295"/>
                        </a:cubicBezTo>
                        <a:lnTo>
                          <a:pt x="1154" y="416722"/>
                        </a:lnTo>
                        <a:lnTo>
                          <a:pt x="0" y="416722"/>
                        </a:lnTo>
                        <a:lnTo>
                          <a:pt x="0" y="245879"/>
                        </a:lnTo>
                        <a:lnTo>
                          <a:pt x="0" y="122940"/>
                        </a:lnTo>
                        <a:close/>
                      </a:path>
                    </a:pathLst>
                  </a:custGeom>
                  <a:gradFill flip="none" rotWithShape="1">
                    <a:gsLst>
                      <a:gs pos="100000">
                        <a:srgbClr val="3368FF">
                          <a:alpha val="45000"/>
                        </a:srgbClr>
                      </a:gs>
                      <a:gs pos="22000">
                        <a:srgbClr val="3368FF">
                          <a:alpha val="0"/>
                        </a:srgbClr>
                      </a:gs>
                    </a:gsLst>
                    <a:lin ang="5400000" scaled="1"/>
                    <a:tileRect/>
                  </a:gradFill>
                  <a:ln w="12700">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98" name="©显眼包PPT1-4"/>
                  <p:cNvSpPr/>
                  <p:nvPr/>
                </p:nvSpPr>
                <p:spPr>
                  <a:xfrm>
                    <a:off x="6855551" y="3362957"/>
                    <a:ext cx="834814" cy="158618"/>
                  </a:xfrm>
                  <a:prstGeom prst="ellipse">
                    <a:avLst/>
                  </a:prstGeom>
                  <a:gradFill flip="none" rotWithShape="1">
                    <a:gsLst>
                      <a:gs pos="50000">
                        <a:srgbClr val="3368FF">
                          <a:alpha val="0"/>
                        </a:srgbClr>
                      </a:gs>
                      <a:gs pos="0">
                        <a:srgbClr val="3368FF">
                          <a:alpha val="45000"/>
                        </a:srgbClr>
                      </a:gs>
                      <a:gs pos="100000">
                        <a:srgbClr val="3368FF">
                          <a:alpha val="45000"/>
                        </a:srgbClr>
                      </a:gs>
                    </a:gsLst>
                    <a:lin ang="0" scaled="1"/>
                    <a:tileRect/>
                  </a:gradFill>
                  <a:ln w="12700">
                    <a:gradFill flip="none" rotWithShape="1">
                      <a:gsLst>
                        <a:gs pos="17000">
                          <a:srgbClr val="3368FF">
                            <a:alpha val="0"/>
                          </a:srgbClr>
                        </a:gs>
                        <a:gs pos="70000">
                          <a:srgbClr val="3368FF"/>
                        </a:gs>
                        <a:gs pos="100000">
                          <a:srgbClr val="3368FF"/>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99" name="©显眼包PPT1-5"/>
                  <p:cNvSpPr/>
                  <p:nvPr/>
                </p:nvSpPr>
                <p:spPr>
                  <a:xfrm>
                    <a:off x="6924576" y="3392369"/>
                    <a:ext cx="696764" cy="93519"/>
                  </a:xfrm>
                  <a:prstGeom prst="ellipse">
                    <a:avLst/>
                  </a:prstGeom>
                  <a:gradFill>
                    <a:gsLst>
                      <a:gs pos="0">
                        <a:srgbClr val="FFFFFF">
                          <a:alpha val="0"/>
                        </a:srgbClr>
                      </a:gs>
                      <a:gs pos="99000">
                        <a:srgbClr val="FFFFFF">
                          <a:alpha val="70000"/>
                        </a:srgbClr>
                      </a:gs>
                    </a:gsLst>
                    <a:lin ang="5400000" scaled="1"/>
                  </a:gradFill>
                  <a:ln w="9525">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endParaRPr lang="zh-CN" altLang="en-US" sz="1400">
                      <a:cs typeface="微软雅黑"/>
                      <a:latin typeface="微软雅黑"/>
                      <a:ea typeface="微软雅黑"/>
                    </a:endParaRPr>
                  </a:p>
                </p:txBody>
              </p:sp>
              <p:sp>
                <p:nvSpPr>
                  <p:cNvPr id="100" name="©显眼包PPT1-6"/>
                  <p:cNvSpPr/>
                  <p:nvPr/>
                </p:nvSpPr>
                <p:spPr>
                  <a:xfrm>
                    <a:off x="6855551" y="3394096"/>
                    <a:ext cx="834814" cy="158618"/>
                  </a:xfrm>
                  <a:prstGeom prst="ellipse">
                    <a:avLst/>
                  </a:prstGeom>
                  <a:noFill/>
                  <a:ln w="6350">
                    <a:gradFill flip="none" rotWithShape="1">
                      <a:gsLst>
                        <a:gs pos="53000">
                          <a:srgbClr val="3368FF">
                            <a:alpha val="0"/>
                          </a:srgbClr>
                        </a:gs>
                        <a:gs pos="100000">
                          <a:srgbClr val="3368FF">
                            <a:alpha val="66000"/>
                          </a:srgbClr>
                        </a:gs>
                      </a:gsLst>
                      <a:lin ang="5400000" scaled="1"/>
                      <a:tileRect/>
                    </a:gra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400">
                      <a:cs typeface="微软雅黑"/>
                      <a:latin typeface="微软雅黑"/>
                      <a:ea typeface="微软雅黑"/>
                    </a:endParaRPr>
                  </a:p>
                </p:txBody>
              </p:sp>
            </p:grpSp>
            <p:sp>
              <p:nvSpPr>
                <p:cNvPr id="101" name="©显眼包PPT1-7"/>
                <p:cNvSpPr txBox="1"/>
                <p:nvPr/>
              </p:nvSpPr>
              <p:spPr>
                <a:xfrm>
                  <a:off x="6573188" y="3027222"/>
                  <a:ext cx="1399540" cy="388290"/>
                </a:xfrm>
                <a:prstGeom prst="rect">
                  <a:avLst/>
                </a:prstGeom>
                <a:noFill/>
              </p:spPr>
              <p:txBody>
                <a:bodyPr wrap="square" lIns="0" tIns="0" rIns="0" bIns="0" rtlCol="0">
                  <a:spAutoFit/>
                </a:bodyPr>
                <a:lstStyle/>
                <a:p>
                  <a:pPr algn="ctr">
                    <a:defRPr>
                      <a:latin typeface="微软雅黑"/>
                      <a:ea typeface="微软雅黑"/>
                      <a:cs typeface="微软雅黑"/>
                    </a:defRPr>
                  </a:pPr>
                  <a:r>
                    <a:rPr lang="zh-CN" sz="1600" dirty="0">
                      <a:gradFill>
                        <a:gsLst>
                          <a:gs pos="1000">
                            <a:srgbClr val="0042FF"/>
                          </a:gs>
                          <a:gs pos="80000">
                            <a:srgbClr val="0042FF"/>
                          </a:gs>
                        </a:gsLst>
                        <a:lin ang="5400000" scaled="1"/>
                      </a:gradFill>
                      <a:solidFill>
                        <a:srgbClr val="383838"/>
                      </a:solidFill>
                      <a:latin typeface="微软雅黑"/>
                      <a:ea typeface="微软雅黑"/>
                      <a:cs typeface="微软雅黑"/>
                    </a:rPr>
                    <a:t>增值业务</a:t>
                  </a:r>
                  <a:endParaRPr lang="zh-CN" sz="1600" dirty="0">
                    <a:gradFill>
                      <a:gsLst>
                        <a:gs pos="1000">
                          <a:srgbClr val="0042FF"/>
                        </a:gs>
                        <a:gs pos="80000">
                          <a:srgbClr val="0042FF"/>
                        </a:gs>
                      </a:gsLst>
                      <a:lin ang="5400000" scaled="1"/>
                    </a:gradFill>
                    <a:solidFill>
                      <a:srgbClr val="383838"/>
                    </a:solidFill>
                    <a:latin typeface="微软雅黑"/>
                    <a:ea typeface="微软雅黑"/>
                    <a:cs typeface="微软雅黑"/>
                  </a:endParaRPr>
                </a:p>
              </p:txBody>
            </p:sp>
          </p:grpSp>
        </p:grpSp>
        <p:pic>
          <p:nvPicPr>
            <p:cNvPr id="133" name="图片 132" descr="一级菜单：增值业务"/>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3278" y="2767"/>
              <a:ext cx="400" cy="400"/>
            </a:xfrm>
            <a:prstGeom prst="rect">
              <a:avLst/>
            </a:prstGeom>
          </p:spPr>
        </p:pic>
      </p:grpSp>
      <p:pic>
        <p:nvPicPr>
          <p:cNvPr id="134" name="图片 133" descr="屋顶资源管理"/>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55600" y="186055"/>
            <a:ext cx="549910" cy="549910"/>
          </a:xfrm>
          <a:prstGeom prst="rect">
            <a:avLst/>
          </a:prstGeom>
        </p:spPr>
      </p:pic>
      <p:cxnSp>
        <p:nvCxnSpPr>
          <p:cNvPr id="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0" name="组合 9"/>
          <p:cNvGrpSpPr/>
          <p:nvPr/>
        </p:nvGrpSpPr>
        <p:grpSpPr>
          <a:xfrm>
            <a:off x="8738235" y="348615"/>
            <a:ext cx="3219450" cy="332740"/>
            <a:chOff x="13761" y="549"/>
            <a:chExt cx="5070" cy="524"/>
          </a:xfrm>
        </p:grpSpPr>
        <p:pic>
          <p:nvPicPr>
            <p:cNvPr id="13" name="图片 12"/>
            <p:cNvPicPr>
              <a:picLocks noChangeAspect="1"/>
            </p:cNvPicPr>
            <p:nvPr userDrawn="1"/>
          </p:nvPicPr>
          <p:blipFill>
            <a:blip r:embed="rId12"/>
            <a:srcRect l="17002" t="-1765" r="56499" b="-1176"/>
            <a:stretch>
              <a:fillRect/>
            </a:stretch>
          </p:blipFill>
          <p:spPr>
            <a:xfrm>
              <a:off x="13761" y="549"/>
              <a:ext cx="1582" cy="525"/>
            </a:xfrm>
            <a:prstGeom prst="rect">
              <a:avLst/>
            </a:prstGeom>
          </p:spPr>
        </p:pic>
        <p:sp>
          <p:nvSpPr>
            <p:cNvPr id="14" name="文本框 1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矩形 74"/>
          <p:cNvSpPr/>
          <p:nvPr/>
        </p:nvSpPr>
        <p:spPr>
          <a:xfrm>
            <a:off x="3128010" y="1899285"/>
            <a:ext cx="8256905" cy="4018280"/>
          </a:xfrm>
          <a:prstGeom prst="rect">
            <a:avLst/>
          </a:prstGeom>
          <a:solidFill>
            <a:srgbClr val="E6E6E6">
              <a:alpha val="20000"/>
            </a:srgbClr>
          </a:solidFill>
          <a:ln>
            <a:solidFill>
              <a:srgbClr val="3368FF">
                <a:alpha val="7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66" name="直接连接符 65"/>
          <p:cNvCxnSpPr/>
          <p:nvPr/>
        </p:nvCxnSpPr>
        <p:spPr>
          <a:xfrm>
            <a:off x="6767195" y="4758690"/>
            <a:ext cx="1520825" cy="0"/>
          </a:xfrm>
          <a:prstGeom prst="line">
            <a:avLst/>
          </a:prstGeom>
          <a:ln>
            <a:solidFill>
              <a:srgbClr val="668EFF"/>
            </a:solidFill>
            <a:prstDash val="sysDash"/>
          </a:ln>
        </p:spPr>
        <p:style>
          <a:lnRef idx="2">
            <a:srgbClr val="0042FF"/>
          </a:lnRef>
          <a:fillRef idx="0">
            <a:srgbClr val="FFFFFF"/>
          </a:fillRef>
          <a:effectRef idx="0">
            <a:srgbClr val="FFFFFF"/>
          </a:effectRef>
          <a:fontRef idx="minor">
            <a:srgbClr val="383838"/>
          </a:fontRef>
        </p:style>
      </p:cxnSp>
      <p:cxnSp>
        <p:nvCxnSpPr>
          <p:cNvPr id="65" name="直接连接符 64"/>
          <p:cNvCxnSpPr>
            <a:stCxn id="40" idx="3"/>
            <a:endCxn id="42" idx="3"/>
          </p:cNvCxnSpPr>
          <p:nvPr/>
        </p:nvCxnSpPr>
        <p:spPr>
          <a:xfrm>
            <a:off x="6791325" y="3927475"/>
            <a:ext cx="1520825" cy="0"/>
          </a:xfrm>
          <a:prstGeom prst="line">
            <a:avLst/>
          </a:prstGeom>
          <a:ln>
            <a:solidFill>
              <a:srgbClr val="668EFF"/>
            </a:solidFill>
            <a:prstDash val="sysDash"/>
          </a:ln>
        </p:spPr>
        <p:style>
          <a:lnRef idx="2">
            <a:srgbClr val="0042FF"/>
          </a:lnRef>
          <a:fillRef idx="0">
            <a:srgbClr val="FFFFFF"/>
          </a:fillRef>
          <a:effectRef idx="0">
            <a:srgbClr val="FFFFFF"/>
          </a:effectRef>
          <a:fontRef idx="minor">
            <a:srgbClr val="383838"/>
          </a:fontRef>
        </p:style>
      </p:cxnSp>
      <p:sp>
        <p:nvSpPr>
          <p:cNvPr id="34" name="椭圆 33"/>
          <p:cNvSpPr/>
          <p:nvPr/>
        </p:nvSpPr>
        <p:spPr>
          <a:xfrm>
            <a:off x="4027805" y="2310130"/>
            <a:ext cx="6453505" cy="3080385"/>
          </a:xfrm>
          <a:prstGeom prst="ellipse">
            <a:avLst/>
          </a:prstGeom>
          <a:noFill/>
          <a:ln>
            <a:solidFill>
              <a:srgbClr val="0042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 name="矩形 1"/>
          <p:cNvSpPr/>
          <p:nvPr/>
        </p:nvSpPr>
        <p:spPr>
          <a:xfrm>
            <a:off x="743585" y="1208405"/>
            <a:ext cx="2075180" cy="4709160"/>
          </a:xfrm>
          <a:prstGeom prst="rect">
            <a:avLst/>
          </a:prstGeom>
          <a:solidFill>
            <a:srgbClr val="FFFFFF">
              <a:alpha val="2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企业数据化转型逻辑图</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圆角矩形 2"/>
          <p:cNvSpPr/>
          <p:nvPr/>
        </p:nvSpPr>
        <p:spPr>
          <a:xfrm>
            <a:off x="1071880" y="1457960"/>
            <a:ext cx="1472565" cy="407670"/>
          </a:xfrm>
          <a:prstGeom prst="roundRect">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a:cs typeface="微软雅黑"/>
                <a:latin typeface="微软雅黑"/>
                <a:ea typeface="微软雅黑"/>
              </a:rPr>
              <a:t>价值</a:t>
            </a:r>
            <a:endParaRPr lang="zh-CN" altLang="en-US">
              <a:cs typeface="微软雅黑"/>
              <a:latin typeface="微软雅黑"/>
              <a:ea typeface="微软雅黑"/>
            </a:endParaRPr>
          </a:p>
        </p:txBody>
      </p:sp>
      <p:sp>
        <p:nvSpPr>
          <p:cNvPr id="4" name="圆角矩形 3"/>
          <p:cNvSpPr/>
          <p:nvPr/>
        </p:nvSpPr>
        <p:spPr>
          <a:xfrm>
            <a:off x="743585" y="6045200"/>
            <a:ext cx="2074545" cy="407670"/>
          </a:xfrm>
          <a:prstGeom prst="roundRect">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a:solidFill>
                  <a:srgbClr val="FFFFFF"/>
                </a:solidFill>
                <a:cs typeface="微软雅黑"/>
                <a:latin typeface="微软雅黑"/>
                <a:ea typeface="微软雅黑"/>
              </a:rPr>
              <a:t>痛点</a:t>
            </a:r>
            <a:endParaRPr lang="zh-CN" altLang="en-US">
              <a:solidFill>
                <a:srgbClr val="FFFFFF"/>
              </a:solidFill>
              <a:cs typeface="微软雅黑"/>
              <a:latin typeface="微软雅黑"/>
              <a:ea typeface="微软雅黑"/>
            </a:endParaRPr>
          </a:p>
        </p:txBody>
      </p:sp>
      <p:sp>
        <p:nvSpPr>
          <p:cNvPr id="6" name="圆角矩形 5"/>
          <p:cNvSpPr/>
          <p:nvPr/>
        </p:nvSpPr>
        <p:spPr>
          <a:xfrm>
            <a:off x="3128010" y="1208405"/>
            <a:ext cx="8256905" cy="566420"/>
          </a:xfrm>
          <a:prstGeom prst="roundRect">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a:solidFill>
                  <a:srgbClr val="FFFFFF"/>
                </a:solidFill>
                <a:cs typeface="微软雅黑"/>
                <a:sym typeface="微软雅黑"/>
                <a:latin typeface="微软雅黑"/>
                <a:ea typeface="微软雅黑"/>
              </a:rPr>
              <a:t>支撑企业数字化转型的基础数据统一，推动企业数字化转型中的业务可视化</a:t>
            </a:r>
            <a:endParaRPr lang="zh-CN" altLang="en-US">
              <a:solidFill>
                <a:srgbClr val="FFFFFF"/>
              </a:solidFill>
              <a:cs typeface="微软雅黑"/>
              <a:sym typeface="微软雅黑"/>
              <a:latin typeface="微软雅黑"/>
              <a:ea typeface="微软雅黑"/>
            </a:endParaRPr>
          </a:p>
        </p:txBody>
      </p:sp>
      <p:sp>
        <p:nvSpPr>
          <p:cNvPr id="7" name="圆角矩形 6"/>
          <p:cNvSpPr/>
          <p:nvPr/>
        </p:nvSpPr>
        <p:spPr>
          <a:xfrm>
            <a:off x="3128010" y="6045200"/>
            <a:ext cx="1522730" cy="4076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b="1">
                <a:solidFill>
                  <a:srgbClr val="0042FF"/>
                </a:solidFill>
                <a:cs typeface="微软雅黑"/>
                <a:latin typeface="微软雅黑"/>
                <a:ea typeface="微软雅黑"/>
              </a:rPr>
              <a:t>数据资产管理混乱</a:t>
            </a:r>
            <a:endParaRPr lang="zh-CN" altLang="en-US" sz="1200" b="1">
              <a:solidFill>
                <a:srgbClr val="0042FF"/>
              </a:solidFill>
              <a:cs typeface="微软雅黑"/>
              <a:latin typeface="微软雅黑"/>
              <a:ea typeface="微软雅黑"/>
            </a:endParaRPr>
          </a:p>
        </p:txBody>
      </p:sp>
      <p:sp>
        <p:nvSpPr>
          <p:cNvPr id="8" name="圆角矩形 7"/>
          <p:cNvSpPr/>
          <p:nvPr/>
        </p:nvSpPr>
        <p:spPr>
          <a:xfrm>
            <a:off x="4810760" y="6045200"/>
            <a:ext cx="1522730" cy="4076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数据孤单普遍存在</a:t>
            </a:r>
            <a:endParaRPr lang="zh-CN" altLang="en-US" sz="1200" b="1">
              <a:solidFill>
                <a:srgbClr val="0042FF"/>
              </a:solidFill>
              <a:cs typeface="微软雅黑"/>
              <a:sym typeface="微软雅黑"/>
              <a:latin typeface="微软雅黑"/>
              <a:ea typeface="微软雅黑"/>
            </a:endParaRPr>
          </a:p>
        </p:txBody>
      </p:sp>
      <p:sp>
        <p:nvSpPr>
          <p:cNvPr id="9" name="圆角矩形 8"/>
          <p:cNvSpPr/>
          <p:nvPr/>
        </p:nvSpPr>
        <p:spPr>
          <a:xfrm>
            <a:off x="9859010" y="6045200"/>
            <a:ext cx="1522730" cy="4076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数据价值急待释放</a:t>
            </a:r>
            <a:endParaRPr lang="zh-CN" altLang="en-US" sz="1200" b="1">
              <a:solidFill>
                <a:srgbClr val="0042FF"/>
              </a:solidFill>
              <a:cs typeface="微软雅黑"/>
              <a:sym typeface="微软雅黑"/>
              <a:latin typeface="微软雅黑"/>
              <a:ea typeface="微软雅黑"/>
            </a:endParaRPr>
          </a:p>
        </p:txBody>
      </p:sp>
      <p:sp>
        <p:nvSpPr>
          <p:cNvPr id="11" name="圆角矩形 10"/>
          <p:cNvSpPr/>
          <p:nvPr/>
        </p:nvSpPr>
        <p:spPr>
          <a:xfrm>
            <a:off x="6493510" y="6045200"/>
            <a:ext cx="1522730" cy="4076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数据治理体系欠缺</a:t>
            </a:r>
            <a:endParaRPr lang="zh-CN" altLang="en-US" sz="1200" b="1">
              <a:solidFill>
                <a:srgbClr val="0042FF"/>
              </a:solidFill>
              <a:cs typeface="微软雅黑"/>
              <a:sym typeface="微软雅黑"/>
              <a:latin typeface="微软雅黑"/>
              <a:ea typeface="微软雅黑"/>
            </a:endParaRPr>
          </a:p>
        </p:txBody>
      </p:sp>
      <p:sp>
        <p:nvSpPr>
          <p:cNvPr id="12" name="圆角矩形 11"/>
          <p:cNvSpPr/>
          <p:nvPr/>
        </p:nvSpPr>
        <p:spPr>
          <a:xfrm>
            <a:off x="8176260" y="6045200"/>
            <a:ext cx="1522730" cy="407670"/>
          </a:xfrm>
          <a:prstGeom prst="roundRect">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b="1">
                <a:solidFill>
                  <a:srgbClr val="0042FF"/>
                </a:solidFill>
                <a:cs typeface="微软雅黑"/>
                <a:sym typeface="微软雅黑"/>
                <a:latin typeface="微软雅黑"/>
                <a:ea typeface="微软雅黑"/>
              </a:rPr>
              <a:t>数据分析不成体系</a:t>
            </a:r>
            <a:endParaRPr lang="zh-CN" altLang="en-US" sz="1200" b="1">
              <a:solidFill>
                <a:srgbClr val="0042FF"/>
              </a:solidFill>
              <a:cs typeface="微软雅黑"/>
              <a:sym typeface="微软雅黑"/>
              <a:latin typeface="微软雅黑"/>
              <a:ea typeface="微软雅黑"/>
            </a:endParaRPr>
          </a:p>
        </p:txBody>
      </p:sp>
      <p:sp>
        <p:nvSpPr>
          <p:cNvPr id="13" name="圆角矩形 12"/>
          <p:cNvSpPr/>
          <p:nvPr/>
        </p:nvSpPr>
        <p:spPr>
          <a:xfrm>
            <a:off x="1071880" y="2286000"/>
            <a:ext cx="1472565" cy="3222625"/>
          </a:xfrm>
          <a:prstGeom prst="roundRect">
            <a:avLst>
              <a:gd name="adj" fmla="val 10176"/>
            </a:avLst>
          </a:prstGeom>
          <a:solidFill>
            <a:srgbClr val="FFFFFF"/>
          </a:solid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0" name="菱形 89"/>
          <p:cNvSpPr/>
          <p:nvPr/>
        </p:nvSpPr>
        <p:spPr>
          <a:xfrm>
            <a:off x="1542415" y="1941195"/>
            <a:ext cx="532130" cy="558165"/>
          </a:xfrm>
          <a:prstGeom prst="diamond">
            <a:avLst/>
          </a:prstGeom>
          <a:gradFill>
            <a:gsLst>
              <a:gs pos="0">
                <a:srgbClr val="3368FF"/>
              </a:gs>
              <a:gs pos="50000">
                <a:srgbClr val="3368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4" name="菱形 13"/>
          <p:cNvSpPr/>
          <p:nvPr/>
        </p:nvSpPr>
        <p:spPr>
          <a:xfrm>
            <a:off x="1542415" y="5574030"/>
            <a:ext cx="532130" cy="558165"/>
          </a:xfrm>
          <a:prstGeom prst="diamond">
            <a:avLst/>
          </a:prstGeom>
          <a:gradFill>
            <a:gsLst>
              <a:gs pos="0">
                <a:srgbClr val="0042FF"/>
              </a:gs>
              <a:gs pos="50000">
                <a:srgbClr val="0042FF">
                  <a:alpha val="0"/>
                </a:srgbClr>
              </a:gs>
            </a:gsLst>
          </a:gradFill>
        </p:spPr>
        <p:style>
          <a:lnRef idx="0">
            <a:srgbClr val="FFFFFF"/>
          </a:lnRef>
          <a:fillRef idx="2">
            <a:srgbClr val="0042FF"/>
          </a:fillRef>
          <a:effectRef idx="0">
            <a:srgbClr val="FFFFFF"/>
          </a:effectRef>
          <a:fontRef idx="minor">
            <a:srgbClr val="383838"/>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5" name="燕尾形 14"/>
          <p:cNvSpPr/>
          <p:nvPr/>
        </p:nvSpPr>
        <p:spPr>
          <a:xfrm rot="16200000">
            <a:off x="1406525" y="2839720"/>
            <a:ext cx="741680" cy="990600"/>
          </a:xfrm>
          <a:prstGeom prst="chevron">
            <a:avLst>
              <a:gd name="adj" fmla="val 27478"/>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6" name="燕尾形 15"/>
          <p:cNvSpPr/>
          <p:nvPr/>
        </p:nvSpPr>
        <p:spPr>
          <a:xfrm rot="16200000">
            <a:off x="1406525" y="3554095"/>
            <a:ext cx="741680" cy="990600"/>
          </a:xfrm>
          <a:prstGeom prst="chevron">
            <a:avLst>
              <a:gd name="adj" fmla="val 27478"/>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7" name="燕尾形 16"/>
          <p:cNvSpPr/>
          <p:nvPr/>
        </p:nvSpPr>
        <p:spPr>
          <a:xfrm rot="16200000">
            <a:off x="1406525" y="4268470"/>
            <a:ext cx="741680" cy="990600"/>
          </a:xfrm>
          <a:prstGeom prst="chevron">
            <a:avLst>
              <a:gd name="adj" fmla="val 27478"/>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grpSp>
        <p:nvGrpSpPr>
          <p:cNvPr id="25" name="组合 24"/>
          <p:cNvGrpSpPr/>
          <p:nvPr/>
        </p:nvGrpSpPr>
        <p:grpSpPr>
          <a:xfrm>
            <a:off x="4912360" y="4617720"/>
            <a:ext cx="774065" cy="774065"/>
            <a:chOff x="4633" y="4642"/>
            <a:chExt cx="1624" cy="1624"/>
          </a:xfrm>
        </p:grpSpPr>
        <p:sp>
          <p:nvSpPr>
            <p:cNvPr id="26" name="椭圆 25"/>
            <p:cNvSpPr/>
            <p:nvPr/>
          </p:nvSpPr>
          <p:spPr>
            <a:xfrm>
              <a:off x="4691" y="4700"/>
              <a:ext cx="1508" cy="1508"/>
            </a:xfrm>
            <a:prstGeom prst="ellipse">
              <a:avLst/>
            </a:prstGeom>
            <a:gradFill>
              <a:gsLst>
                <a:gs pos="0">
                  <a:srgbClr val="3368FF"/>
                </a:gs>
                <a:gs pos="100000">
                  <a:srgbClr val="0042FF"/>
                </a:gs>
              </a:gsLst>
              <a:lin ang="5400000" scaled="0"/>
            </a:gradFill>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endParaRPr lang="zh-CN" altLang="en-US" sz="1400">
                <a:solidFill>
                  <a:srgbClr val="FFFFFF"/>
                </a:solidFill>
                <a:cs typeface="微软雅黑"/>
                <a:latin typeface="微软雅黑"/>
                <a:ea typeface="微软雅黑"/>
              </a:endParaRPr>
            </a:p>
          </p:txBody>
        </p:sp>
        <p:sp>
          <p:nvSpPr>
            <p:cNvPr id="27" name="椭圆 26"/>
            <p:cNvSpPr/>
            <p:nvPr/>
          </p:nvSpPr>
          <p:spPr>
            <a:xfrm>
              <a:off x="4633" y="4642"/>
              <a:ext cx="1624" cy="1624"/>
            </a:xfrm>
            <a:prstGeom prst="ellipse">
              <a:avLst/>
            </a:prstGeom>
            <a:noFill/>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grpSp>
        <p:nvGrpSpPr>
          <p:cNvPr id="28" name="组合 27"/>
          <p:cNvGrpSpPr/>
          <p:nvPr/>
        </p:nvGrpSpPr>
        <p:grpSpPr>
          <a:xfrm>
            <a:off x="8854440" y="4617085"/>
            <a:ext cx="774065" cy="774065"/>
            <a:chOff x="4633" y="4642"/>
            <a:chExt cx="1624" cy="1624"/>
          </a:xfrm>
        </p:grpSpPr>
        <p:sp>
          <p:nvSpPr>
            <p:cNvPr id="29" name="椭圆 28"/>
            <p:cNvSpPr/>
            <p:nvPr/>
          </p:nvSpPr>
          <p:spPr>
            <a:xfrm>
              <a:off x="4691" y="4700"/>
              <a:ext cx="1508" cy="1508"/>
            </a:xfrm>
            <a:prstGeom prst="ellipse">
              <a:avLst/>
            </a:prstGeom>
            <a:gradFill>
              <a:gsLst>
                <a:gs pos="0">
                  <a:srgbClr val="3368FF"/>
                </a:gs>
                <a:gs pos="100000">
                  <a:srgbClr val="0042FF"/>
                </a:gs>
              </a:gsLst>
              <a:lin ang="5400000" scaled="0"/>
            </a:gradFill>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endParaRPr lang="zh-CN" altLang="en-US" sz="1400">
                <a:solidFill>
                  <a:srgbClr val="FFFFFF"/>
                </a:solidFill>
                <a:cs typeface="微软雅黑"/>
                <a:latin typeface="微软雅黑"/>
                <a:ea typeface="微软雅黑"/>
              </a:endParaRPr>
            </a:p>
          </p:txBody>
        </p:sp>
        <p:sp>
          <p:nvSpPr>
            <p:cNvPr id="30" name="椭圆 29"/>
            <p:cNvSpPr/>
            <p:nvPr/>
          </p:nvSpPr>
          <p:spPr>
            <a:xfrm>
              <a:off x="4633" y="4642"/>
              <a:ext cx="1624" cy="1624"/>
            </a:xfrm>
            <a:prstGeom prst="ellipse">
              <a:avLst/>
            </a:prstGeom>
            <a:noFill/>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sp>
        <p:nvSpPr>
          <p:cNvPr id="36" name="椭圆 35"/>
          <p:cNvSpPr/>
          <p:nvPr/>
        </p:nvSpPr>
        <p:spPr>
          <a:xfrm>
            <a:off x="5800725" y="3766185"/>
            <a:ext cx="2870835" cy="1202055"/>
          </a:xfrm>
          <a:prstGeom prst="ellipse">
            <a:avLst/>
          </a:prstGeom>
          <a:noFill/>
          <a:ln>
            <a:gradFill>
              <a:gsLst>
                <a:gs pos="0">
                  <a:srgbClr val="3368FF"/>
                </a:gs>
                <a:gs pos="30000">
                  <a:srgbClr val="3368FF">
                    <a:alpha val="0"/>
                  </a:srgbClr>
                </a:gs>
                <a:gs pos="71000">
                  <a:srgbClr val="3368FF">
                    <a:alpha val="0"/>
                  </a:srgbClr>
                </a:gs>
                <a:gs pos="100000">
                  <a:srgbClr val="3368FF"/>
                </a:gs>
              </a:gsLst>
              <a:lin ang="0" scaled="1"/>
            </a:gra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sz="1000">
              <a:cs typeface="微软雅黑"/>
              <a:latin typeface="微软雅黑"/>
              <a:ea typeface="微软雅黑"/>
            </a:endParaRPr>
          </a:p>
        </p:txBody>
      </p:sp>
      <p:sp>
        <p:nvSpPr>
          <p:cNvPr id="38" name="矩形 37"/>
          <p:cNvSpPr/>
          <p:nvPr/>
        </p:nvSpPr>
        <p:spPr>
          <a:xfrm>
            <a:off x="5546725" y="4240530"/>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sz="1000">
                <a:solidFill>
                  <a:srgbClr val="FFFFFF"/>
                </a:solidFill>
                <a:cs typeface="微软雅黑"/>
                <a:sym typeface="微软雅黑"/>
                <a:latin typeface="微软雅黑"/>
                <a:ea typeface="微软雅黑"/>
              </a:rPr>
              <a:t>研发</a:t>
            </a:r>
            <a:endParaRPr lang="zh-CN" altLang="en-US" sz="1000">
              <a:solidFill>
                <a:srgbClr val="FFFFFF"/>
              </a:solidFill>
              <a:cs typeface="微软雅黑"/>
              <a:sym typeface="微软雅黑"/>
              <a:latin typeface="微软雅黑"/>
              <a:ea typeface="微软雅黑"/>
            </a:endParaRPr>
          </a:p>
        </p:txBody>
      </p:sp>
      <p:sp>
        <p:nvSpPr>
          <p:cNvPr id="39" name="矩形 38"/>
          <p:cNvSpPr/>
          <p:nvPr/>
        </p:nvSpPr>
        <p:spPr>
          <a:xfrm>
            <a:off x="6172835" y="4617403"/>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sz="1000">
                <a:solidFill>
                  <a:srgbClr val="FFFFFF"/>
                </a:solidFill>
                <a:cs typeface="微软雅黑"/>
                <a:sym typeface="微软雅黑"/>
                <a:latin typeface="微软雅黑"/>
                <a:ea typeface="微软雅黑"/>
              </a:rPr>
              <a:t>营销</a:t>
            </a:r>
            <a:endParaRPr lang="zh-CN" altLang="en-US" sz="1000">
              <a:solidFill>
                <a:srgbClr val="FFFFFF"/>
              </a:solidFill>
              <a:cs typeface="微软雅黑"/>
              <a:sym typeface="微软雅黑"/>
              <a:latin typeface="微软雅黑"/>
              <a:ea typeface="微软雅黑"/>
            </a:endParaRPr>
          </a:p>
        </p:txBody>
      </p:sp>
      <p:sp>
        <p:nvSpPr>
          <p:cNvPr id="40" name="矩形 39"/>
          <p:cNvSpPr/>
          <p:nvPr/>
        </p:nvSpPr>
        <p:spPr>
          <a:xfrm>
            <a:off x="6196965" y="3784283"/>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r>
              <a:rPr lang="zh-CN" altLang="en-US" sz="1000">
                <a:solidFill>
                  <a:srgbClr val="FFFFFF"/>
                </a:solidFill>
                <a:cs typeface="微软雅黑"/>
                <a:latin typeface="微软雅黑"/>
                <a:ea typeface="微软雅黑"/>
              </a:rPr>
              <a:t>计划</a:t>
            </a:r>
            <a:endParaRPr lang="zh-CN" altLang="en-US" sz="1000">
              <a:solidFill>
                <a:srgbClr val="FFFFFF"/>
              </a:solidFill>
              <a:cs typeface="微软雅黑"/>
              <a:latin typeface="微软雅黑"/>
              <a:ea typeface="微软雅黑"/>
            </a:endParaRPr>
          </a:p>
        </p:txBody>
      </p:sp>
      <p:sp>
        <p:nvSpPr>
          <p:cNvPr id="41" name="矩形 40"/>
          <p:cNvSpPr/>
          <p:nvPr/>
        </p:nvSpPr>
        <p:spPr>
          <a:xfrm>
            <a:off x="8312150" y="4224655"/>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sz="1000">
                <a:solidFill>
                  <a:srgbClr val="FFFFFF"/>
                </a:solidFill>
                <a:cs typeface="微软雅黑"/>
                <a:sym typeface="微软雅黑"/>
                <a:latin typeface="微软雅黑"/>
                <a:ea typeface="微软雅黑"/>
              </a:rPr>
              <a:t>品质</a:t>
            </a:r>
            <a:endParaRPr lang="zh-CN" altLang="en-US" sz="1000">
              <a:solidFill>
                <a:srgbClr val="FFFFFF"/>
              </a:solidFill>
              <a:cs typeface="微软雅黑"/>
              <a:sym typeface="微软雅黑"/>
              <a:latin typeface="微软雅黑"/>
              <a:ea typeface="微软雅黑"/>
            </a:endParaRPr>
          </a:p>
        </p:txBody>
      </p:sp>
      <p:sp>
        <p:nvSpPr>
          <p:cNvPr id="42" name="矩形 41"/>
          <p:cNvSpPr/>
          <p:nvPr/>
        </p:nvSpPr>
        <p:spPr>
          <a:xfrm>
            <a:off x="7717790" y="3784283"/>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sz="1000">
                <a:solidFill>
                  <a:srgbClr val="FFFFFF"/>
                </a:solidFill>
                <a:cs typeface="微软雅黑"/>
                <a:sym typeface="微软雅黑"/>
                <a:latin typeface="微软雅黑"/>
                <a:ea typeface="微软雅黑"/>
              </a:rPr>
              <a:t>制造</a:t>
            </a:r>
            <a:endParaRPr lang="zh-CN" altLang="en-US" sz="1000">
              <a:solidFill>
                <a:srgbClr val="FFFFFF"/>
              </a:solidFill>
              <a:cs typeface="微软雅黑"/>
              <a:sym typeface="微软雅黑"/>
              <a:latin typeface="微软雅黑"/>
              <a:ea typeface="微软雅黑"/>
            </a:endParaRPr>
          </a:p>
        </p:txBody>
      </p:sp>
      <p:sp>
        <p:nvSpPr>
          <p:cNvPr id="43" name="矩形 42"/>
          <p:cNvSpPr/>
          <p:nvPr/>
        </p:nvSpPr>
        <p:spPr>
          <a:xfrm>
            <a:off x="6938645" y="3784283"/>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sz="1000">
                <a:solidFill>
                  <a:srgbClr val="FFFFFF"/>
                </a:solidFill>
                <a:cs typeface="微软雅黑"/>
                <a:sym typeface="微软雅黑"/>
                <a:latin typeface="微软雅黑"/>
                <a:ea typeface="微软雅黑"/>
              </a:rPr>
              <a:t>采购</a:t>
            </a:r>
            <a:endParaRPr lang="zh-CN" altLang="en-US" sz="1000">
              <a:solidFill>
                <a:srgbClr val="FFFFFF"/>
              </a:solidFill>
              <a:cs typeface="微软雅黑"/>
              <a:sym typeface="微软雅黑"/>
              <a:latin typeface="微软雅黑"/>
              <a:ea typeface="微软雅黑"/>
            </a:endParaRPr>
          </a:p>
        </p:txBody>
      </p:sp>
      <p:sp>
        <p:nvSpPr>
          <p:cNvPr id="44" name="矩形 43"/>
          <p:cNvSpPr/>
          <p:nvPr/>
        </p:nvSpPr>
        <p:spPr>
          <a:xfrm>
            <a:off x="6958965" y="4617403"/>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sz="1000">
                <a:solidFill>
                  <a:srgbClr val="FFFFFF"/>
                </a:solidFill>
                <a:cs typeface="微软雅黑"/>
                <a:sym typeface="微软雅黑"/>
                <a:latin typeface="微软雅黑"/>
                <a:ea typeface="微软雅黑"/>
              </a:rPr>
              <a:t>终端</a:t>
            </a:r>
            <a:endParaRPr lang="zh-CN" altLang="en-US" sz="1000">
              <a:solidFill>
                <a:srgbClr val="FFFFFF"/>
              </a:solidFill>
              <a:cs typeface="微软雅黑"/>
              <a:sym typeface="微软雅黑"/>
              <a:latin typeface="微软雅黑"/>
              <a:ea typeface="微软雅黑"/>
            </a:endParaRPr>
          </a:p>
        </p:txBody>
      </p:sp>
      <p:sp>
        <p:nvSpPr>
          <p:cNvPr id="45" name="矩形 44"/>
          <p:cNvSpPr/>
          <p:nvPr/>
        </p:nvSpPr>
        <p:spPr>
          <a:xfrm>
            <a:off x="7710805" y="4617403"/>
            <a:ext cx="594360" cy="285750"/>
          </a:xfrm>
          <a:prstGeom prst="rect">
            <a:avLst/>
          </a:prstGeom>
          <a:solidFill>
            <a:srgbClr val="3368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r>
              <a:rPr lang="zh-CN" altLang="en-US" sz="1000">
                <a:solidFill>
                  <a:srgbClr val="FFFFFF"/>
                </a:solidFill>
                <a:cs typeface="微软雅黑"/>
                <a:sym typeface="微软雅黑"/>
                <a:latin typeface="微软雅黑"/>
                <a:ea typeface="微软雅黑"/>
              </a:rPr>
              <a:t>储运</a:t>
            </a:r>
            <a:endParaRPr lang="zh-CN" altLang="en-US" sz="1000">
              <a:solidFill>
                <a:srgbClr val="FFFFFF"/>
              </a:solidFill>
              <a:cs typeface="微软雅黑"/>
              <a:sym typeface="微软雅黑"/>
              <a:latin typeface="微软雅黑"/>
              <a:ea typeface="微软雅黑"/>
            </a:endParaRPr>
          </a:p>
        </p:txBody>
      </p:sp>
      <p:sp>
        <p:nvSpPr>
          <p:cNvPr id="48" name="文本框 47"/>
          <p:cNvSpPr txBox="1"/>
          <p:nvPr/>
        </p:nvSpPr>
        <p:spPr>
          <a:xfrm>
            <a:off x="1212850" y="2403475"/>
            <a:ext cx="1197610" cy="521970"/>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企业数字化转型阶段</a:t>
            </a:r>
            <a:endParaRPr lang="zh-CN" altLang="en-US" sz="1400" b="1">
              <a:solidFill>
                <a:srgbClr val="0042FF"/>
              </a:solidFill>
              <a:latin typeface="微软雅黑"/>
              <a:ea typeface="微软雅黑"/>
              <a:cs typeface="微软雅黑"/>
            </a:endParaRPr>
          </a:p>
        </p:txBody>
      </p:sp>
      <p:sp>
        <p:nvSpPr>
          <p:cNvPr id="49" name="文本框 48"/>
          <p:cNvSpPr txBox="1"/>
          <p:nvPr/>
        </p:nvSpPr>
        <p:spPr>
          <a:xfrm>
            <a:off x="1281430" y="3186430"/>
            <a:ext cx="99123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驱动创新</a:t>
            </a:r>
            <a:endParaRPr lang="zh-CN" altLang="en-US" sz="1400" b="1">
              <a:solidFill>
                <a:srgbClr val="383838"/>
              </a:solidFill>
              <a:latin typeface="微软雅黑"/>
              <a:ea typeface="微软雅黑"/>
              <a:cs typeface="微软雅黑"/>
            </a:endParaRPr>
          </a:p>
        </p:txBody>
      </p:sp>
      <p:sp>
        <p:nvSpPr>
          <p:cNvPr id="50" name="文本框 49"/>
          <p:cNvSpPr txBox="1"/>
          <p:nvPr/>
        </p:nvSpPr>
        <p:spPr>
          <a:xfrm>
            <a:off x="1295400" y="3896360"/>
            <a:ext cx="97726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智能决策</a:t>
            </a:r>
            <a:endParaRPr lang="zh-CN" altLang="en-US" sz="1400" b="1">
              <a:solidFill>
                <a:srgbClr val="383838"/>
              </a:solidFill>
              <a:latin typeface="微软雅黑"/>
              <a:ea typeface="微软雅黑"/>
              <a:cs typeface="微软雅黑"/>
            </a:endParaRPr>
          </a:p>
        </p:txBody>
      </p:sp>
      <p:sp>
        <p:nvSpPr>
          <p:cNvPr id="51" name="文本框 50"/>
          <p:cNvSpPr txBox="1"/>
          <p:nvPr/>
        </p:nvSpPr>
        <p:spPr>
          <a:xfrm>
            <a:off x="1295400" y="4625340"/>
            <a:ext cx="97726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数据洞察</a:t>
            </a:r>
            <a:endParaRPr lang="zh-CN" altLang="en-US" sz="1400" b="1">
              <a:solidFill>
                <a:srgbClr val="383838"/>
              </a:solidFill>
              <a:latin typeface="微软雅黑"/>
              <a:ea typeface="微软雅黑"/>
              <a:cs typeface="微软雅黑"/>
            </a:endParaRPr>
          </a:p>
        </p:txBody>
      </p:sp>
      <p:sp>
        <p:nvSpPr>
          <p:cNvPr id="55" name="文本框 54"/>
          <p:cNvSpPr txBox="1"/>
          <p:nvPr/>
        </p:nvSpPr>
        <p:spPr>
          <a:xfrm>
            <a:off x="4986020" y="4743768"/>
            <a:ext cx="626745"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数据平台</a:t>
            </a:r>
            <a:endParaRPr lang="zh-CN" altLang="en-US" sz="1400" b="1">
              <a:solidFill>
                <a:srgbClr val="FFFFFF"/>
              </a:solidFill>
              <a:latin typeface="微软雅黑"/>
              <a:ea typeface="微软雅黑"/>
              <a:cs typeface="微软雅黑"/>
            </a:endParaRPr>
          </a:p>
        </p:txBody>
      </p:sp>
      <p:sp>
        <p:nvSpPr>
          <p:cNvPr id="57" name="文本框 56"/>
          <p:cNvSpPr txBox="1"/>
          <p:nvPr/>
        </p:nvSpPr>
        <p:spPr>
          <a:xfrm>
            <a:off x="8928100" y="4743133"/>
            <a:ext cx="626745"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数据治理</a:t>
            </a:r>
            <a:endParaRPr lang="zh-CN" altLang="en-US" sz="1400" b="1">
              <a:solidFill>
                <a:srgbClr val="FFFFFF"/>
              </a:solidFill>
              <a:latin typeface="微软雅黑"/>
              <a:ea typeface="微软雅黑"/>
              <a:cs typeface="微软雅黑"/>
            </a:endParaRPr>
          </a:p>
        </p:txBody>
      </p:sp>
      <p:sp>
        <p:nvSpPr>
          <p:cNvPr id="58" name="文本框 57"/>
          <p:cNvSpPr txBox="1"/>
          <p:nvPr/>
        </p:nvSpPr>
        <p:spPr>
          <a:xfrm>
            <a:off x="3968115" y="5444490"/>
            <a:ext cx="1364615" cy="398780"/>
          </a:xfrm>
          <a:prstGeom prst="rect">
            <a:avLst/>
          </a:prstGeom>
          <a:noFill/>
        </p:spPr>
        <p:txBody>
          <a:bodyPr wrap="square" rtlCol="0" lIns="0" rIns="0" tIns="0" bIns="0">
            <a:spAutoFit/>
          </a:bodyPr>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云原生数字基座</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低代码开发平台</a:t>
            </a:r>
            <a:endParaRPr lang="zh-CN" altLang="en-US" sz="1000">
              <a:solidFill>
                <a:srgbClr val="383838"/>
              </a:solidFill>
              <a:latin typeface="微软雅黑"/>
              <a:ea typeface="微软雅黑"/>
              <a:cs typeface="微软雅黑"/>
            </a:endParaRPr>
          </a:p>
        </p:txBody>
      </p:sp>
      <p:sp>
        <p:nvSpPr>
          <p:cNvPr id="59" name="文本框 58"/>
          <p:cNvSpPr txBox="1"/>
          <p:nvPr/>
        </p:nvSpPr>
        <p:spPr>
          <a:xfrm>
            <a:off x="5302250" y="5444490"/>
            <a:ext cx="1493520" cy="398780"/>
          </a:xfrm>
          <a:prstGeom prst="rect">
            <a:avLst/>
          </a:prstGeom>
          <a:noFill/>
        </p:spPr>
        <p:txBody>
          <a:bodyPr wrap="square" rtlCol="0" lIns="0" rIns="0" tIns="0" bIns="0">
            <a:spAutoFit/>
          </a:bodyPr>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数据资产管理平台</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智能化平台运营</a:t>
            </a:r>
            <a:endParaRPr lang="zh-CN" altLang="en-US" sz="1000">
              <a:solidFill>
                <a:srgbClr val="383838"/>
              </a:solidFill>
              <a:latin typeface="微软雅黑"/>
              <a:ea typeface="微软雅黑"/>
              <a:cs typeface="微软雅黑"/>
            </a:endParaRPr>
          </a:p>
        </p:txBody>
      </p:sp>
      <p:sp>
        <p:nvSpPr>
          <p:cNvPr id="60" name="文本框 59"/>
          <p:cNvSpPr txBox="1"/>
          <p:nvPr/>
        </p:nvSpPr>
        <p:spPr>
          <a:xfrm>
            <a:off x="8547735" y="5440680"/>
            <a:ext cx="1844040" cy="398780"/>
          </a:xfrm>
          <a:prstGeom prst="rect">
            <a:avLst/>
          </a:prstGeom>
          <a:noFill/>
        </p:spPr>
        <p:txBody>
          <a:bodyPr wrap="square" rtlCol="0" lIns="0" rIns="0" tIns="0" bIns="0">
            <a:spAutoFit/>
          </a:bodyPr>
          <a:p>
            <a:pPr marL="171450" indent="-171450" algn="l">
              <a:buFont typeface="微软雅黑"/>
              <a:buChar char="●"/>
              <a:defRPr>
                <a:latin typeface="微软雅黑"/>
                <a:ea typeface="微软雅黑"/>
                <a:cs typeface="微软雅黑"/>
              </a:defRPr>
            </a:pP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数字化转型治理框架</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数据血缘溯源</a:t>
            </a:r>
            <a:endParaRPr lang="zh-CN" altLang="en-US" sz="1000">
              <a:solidFill>
                <a:srgbClr val="383838"/>
              </a:solidFill>
              <a:latin typeface="微软雅黑"/>
              <a:ea typeface="微软雅黑"/>
              <a:cs typeface="微软雅黑"/>
            </a:endParaRPr>
          </a:p>
        </p:txBody>
      </p:sp>
      <p:sp>
        <p:nvSpPr>
          <p:cNvPr id="61" name="文本框 60"/>
          <p:cNvSpPr txBox="1"/>
          <p:nvPr/>
        </p:nvSpPr>
        <p:spPr>
          <a:xfrm>
            <a:off x="6059170" y="2785745"/>
            <a:ext cx="1207770" cy="398780"/>
          </a:xfrm>
          <a:prstGeom prst="rect">
            <a:avLst/>
          </a:prstGeom>
          <a:noFill/>
        </p:spPr>
        <p:txBody>
          <a:bodyPr wrap="square" rtlCol="0" lIns="0" rIns="0" tIns="0" bIns="0">
            <a:spAutoFit/>
          </a:bodyPr>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战略分解落地</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聚焦经营重点</a:t>
            </a:r>
            <a:endParaRPr lang="zh-CN" altLang="en-US" sz="1000">
              <a:solidFill>
                <a:srgbClr val="383838"/>
              </a:solidFill>
              <a:latin typeface="微软雅黑"/>
              <a:ea typeface="微软雅黑"/>
              <a:cs typeface="微软雅黑"/>
            </a:endParaRPr>
          </a:p>
        </p:txBody>
      </p:sp>
      <p:sp>
        <p:nvSpPr>
          <p:cNvPr id="62" name="文本框 61"/>
          <p:cNvSpPr txBox="1"/>
          <p:nvPr/>
        </p:nvSpPr>
        <p:spPr>
          <a:xfrm>
            <a:off x="7325995" y="2785745"/>
            <a:ext cx="1414780" cy="398780"/>
          </a:xfrm>
          <a:prstGeom prst="rect">
            <a:avLst/>
          </a:prstGeom>
          <a:noFill/>
        </p:spPr>
        <p:txBody>
          <a:bodyPr wrap="square" rtlCol="0" lIns="0" rIns="0" tIns="0" bIns="0">
            <a:spAutoFit/>
          </a:bodyPr>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全价值链可视化</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pPr>
            <a:r>
              <a:rPr lang="zh-CN" altLang="en-US" sz="1000">
                <a:solidFill>
                  <a:srgbClr val="383838"/>
                </a:solidFill>
                <a:latin typeface="微软雅黑"/>
                <a:ea typeface="微软雅黑"/>
                <a:cs typeface="微软雅黑"/>
              </a:rPr>
              <a:t>智能报表中枢</a:t>
            </a:r>
            <a:endParaRPr lang="zh-CN" altLang="en-US" sz="1000">
              <a:solidFill>
                <a:srgbClr val="383838"/>
              </a:solidFill>
              <a:latin typeface="微软雅黑"/>
              <a:ea typeface="微软雅黑"/>
              <a:cs typeface="微软雅黑"/>
            </a:endParaRPr>
          </a:p>
        </p:txBody>
      </p:sp>
      <p:sp>
        <p:nvSpPr>
          <p:cNvPr id="67" name="等腰三角形 66"/>
          <p:cNvSpPr/>
          <p:nvPr/>
        </p:nvSpPr>
        <p:spPr>
          <a:xfrm rot="3360000">
            <a:off x="5936615" y="4040505"/>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8" name="等腰三角形 67"/>
          <p:cNvSpPr/>
          <p:nvPr/>
        </p:nvSpPr>
        <p:spPr>
          <a:xfrm rot="18240000" flipV="1">
            <a:off x="5958205" y="4638675"/>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9" name="等腰三角形 68"/>
          <p:cNvSpPr/>
          <p:nvPr/>
        </p:nvSpPr>
        <p:spPr>
          <a:xfrm rot="5220000">
            <a:off x="6823075" y="3890010"/>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0" name="等腰三角形 69"/>
          <p:cNvSpPr/>
          <p:nvPr/>
        </p:nvSpPr>
        <p:spPr>
          <a:xfrm rot="5220000">
            <a:off x="6823075" y="4721225"/>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1" name="等腰三角形 70"/>
          <p:cNvSpPr/>
          <p:nvPr/>
        </p:nvSpPr>
        <p:spPr>
          <a:xfrm rot="5220000">
            <a:off x="7597140" y="3890010"/>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2" name="等腰三角形 71"/>
          <p:cNvSpPr/>
          <p:nvPr/>
        </p:nvSpPr>
        <p:spPr>
          <a:xfrm rot="5220000">
            <a:off x="7597140" y="4720590"/>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3" name="等腰三角形 72"/>
          <p:cNvSpPr/>
          <p:nvPr/>
        </p:nvSpPr>
        <p:spPr>
          <a:xfrm rot="780000">
            <a:off x="8465820" y="4028440"/>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4" name="等腰三角形 73"/>
          <p:cNvSpPr/>
          <p:nvPr/>
        </p:nvSpPr>
        <p:spPr>
          <a:xfrm rot="6480000">
            <a:off x="8434070" y="4635500"/>
            <a:ext cx="90805" cy="73660"/>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nvGrpSpPr>
          <p:cNvPr id="93" name="组合 92"/>
          <p:cNvGrpSpPr/>
          <p:nvPr/>
        </p:nvGrpSpPr>
        <p:grpSpPr>
          <a:xfrm>
            <a:off x="3785870" y="2885440"/>
            <a:ext cx="774065" cy="774065"/>
            <a:chOff x="4633" y="4642"/>
            <a:chExt cx="1624" cy="1624"/>
          </a:xfrm>
        </p:grpSpPr>
        <p:sp>
          <p:nvSpPr>
            <p:cNvPr id="94" name="椭圆 93"/>
            <p:cNvSpPr/>
            <p:nvPr/>
          </p:nvSpPr>
          <p:spPr>
            <a:xfrm>
              <a:off x="4691" y="4700"/>
              <a:ext cx="1508" cy="1508"/>
            </a:xfrm>
            <a:prstGeom prst="ellipse">
              <a:avLst/>
            </a:prstGeom>
            <a:gradFill>
              <a:gsLst>
                <a:gs pos="0">
                  <a:srgbClr val="3368FF"/>
                </a:gs>
                <a:gs pos="100000">
                  <a:srgbClr val="0042FF"/>
                </a:gs>
              </a:gsLst>
              <a:lin ang="5400000" scaled="0"/>
            </a:gradFill>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endParaRPr lang="zh-CN" altLang="en-US" sz="1400">
                <a:solidFill>
                  <a:srgbClr val="FFFFFF"/>
                </a:solidFill>
                <a:cs typeface="微软雅黑"/>
                <a:latin typeface="微软雅黑"/>
                <a:ea typeface="微软雅黑"/>
              </a:endParaRPr>
            </a:p>
          </p:txBody>
        </p:sp>
        <p:sp>
          <p:nvSpPr>
            <p:cNvPr id="95" name="椭圆 94"/>
            <p:cNvSpPr/>
            <p:nvPr/>
          </p:nvSpPr>
          <p:spPr>
            <a:xfrm>
              <a:off x="4633" y="4642"/>
              <a:ext cx="1624" cy="1624"/>
            </a:xfrm>
            <a:prstGeom prst="ellipse">
              <a:avLst/>
            </a:prstGeom>
            <a:noFill/>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sp>
        <p:nvSpPr>
          <p:cNvPr id="96" name="文本框 95"/>
          <p:cNvSpPr txBox="1"/>
          <p:nvPr/>
        </p:nvSpPr>
        <p:spPr>
          <a:xfrm>
            <a:off x="3859530" y="3011488"/>
            <a:ext cx="626745"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数据运营</a:t>
            </a:r>
            <a:endParaRPr lang="zh-CN" altLang="en-US" sz="1400" b="1">
              <a:solidFill>
                <a:srgbClr val="FFFFFF"/>
              </a:solidFill>
              <a:latin typeface="微软雅黑"/>
              <a:ea typeface="微软雅黑"/>
              <a:cs typeface="微软雅黑"/>
            </a:endParaRPr>
          </a:p>
        </p:txBody>
      </p:sp>
      <p:grpSp>
        <p:nvGrpSpPr>
          <p:cNvPr id="97" name="组合 96"/>
          <p:cNvGrpSpPr/>
          <p:nvPr/>
        </p:nvGrpSpPr>
        <p:grpSpPr>
          <a:xfrm>
            <a:off x="6857365" y="1963420"/>
            <a:ext cx="774065" cy="774065"/>
            <a:chOff x="4633" y="4642"/>
            <a:chExt cx="1624" cy="1624"/>
          </a:xfrm>
        </p:grpSpPr>
        <p:sp>
          <p:nvSpPr>
            <p:cNvPr id="98" name="椭圆 97"/>
            <p:cNvSpPr/>
            <p:nvPr/>
          </p:nvSpPr>
          <p:spPr>
            <a:xfrm>
              <a:off x="4691" y="4700"/>
              <a:ext cx="1508" cy="1508"/>
            </a:xfrm>
            <a:prstGeom prst="ellipse">
              <a:avLst/>
            </a:prstGeom>
            <a:gradFill>
              <a:gsLst>
                <a:gs pos="0">
                  <a:srgbClr val="3368FF"/>
                </a:gs>
                <a:gs pos="100000">
                  <a:srgbClr val="0042FF"/>
                </a:gs>
              </a:gsLst>
              <a:lin ang="5400000" scaled="0"/>
            </a:gradFill>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endParaRPr lang="zh-CN" altLang="en-US" sz="1400">
                <a:solidFill>
                  <a:srgbClr val="FFFFFF"/>
                </a:solidFill>
                <a:cs typeface="微软雅黑"/>
                <a:latin typeface="微软雅黑"/>
                <a:ea typeface="微软雅黑"/>
              </a:endParaRPr>
            </a:p>
          </p:txBody>
        </p:sp>
        <p:sp>
          <p:nvSpPr>
            <p:cNvPr id="99" name="椭圆 98"/>
            <p:cNvSpPr/>
            <p:nvPr/>
          </p:nvSpPr>
          <p:spPr>
            <a:xfrm>
              <a:off x="4633" y="4642"/>
              <a:ext cx="1624" cy="1624"/>
            </a:xfrm>
            <a:prstGeom prst="ellipse">
              <a:avLst/>
            </a:prstGeom>
            <a:noFill/>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sp>
        <p:nvSpPr>
          <p:cNvPr id="100" name="文本框 99"/>
          <p:cNvSpPr txBox="1"/>
          <p:nvPr/>
        </p:nvSpPr>
        <p:spPr>
          <a:xfrm>
            <a:off x="6931025" y="2089468"/>
            <a:ext cx="626745"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数据分析</a:t>
            </a:r>
            <a:endParaRPr lang="en-US" altLang="zh-CN" sz="1400" b="1">
              <a:solidFill>
                <a:srgbClr val="FFFFFF"/>
              </a:solidFill>
              <a:latin typeface="微软雅黑"/>
              <a:ea typeface="微软雅黑"/>
              <a:cs typeface="微软雅黑"/>
            </a:endParaRPr>
          </a:p>
        </p:txBody>
      </p:sp>
      <p:grpSp>
        <p:nvGrpSpPr>
          <p:cNvPr id="101" name="组合 100"/>
          <p:cNvGrpSpPr/>
          <p:nvPr/>
        </p:nvGrpSpPr>
        <p:grpSpPr>
          <a:xfrm>
            <a:off x="10011410" y="2931795"/>
            <a:ext cx="774065" cy="774065"/>
            <a:chOff x="4633" y="4642"/>
            <a:chExt cx="1624" cy="1624"/>
          </a:xfrm>
        </p:grpSpPr>
        <p:sp>
          <p:nvSpPr>
            <p:cNvPr id="102" name="椭圆 101"/>
            <p:cNvSpPr/>
            <p:nvPr/>
          </p:nvSpPr>
          <p:spPr>
            <a:xfrm>
              <a:off x="4691" y="4700"/>
              <a:ext cx="1508" cy="1508"/>
            </a:xfrm>
            <a:prstGeom prst="ellipse">
              <a:avLst/>
            </a:prstGeom>
            <a:gradFill>
              <a:gsLst>
                <a:gs pos="0">
                  <a:srgbClr val="3368FF"/>
                </a:gs>
                <a:gs pos="100000">
                  <a:srgbClr val="0042FF"/>
                </a:gs>
              </a:gsLst>
              <a:lin ang="5400000" scaled="0"/>
            </a:gradFill>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endParaRPr lang="zh-CN" altLang="en-US" sz="1400">
                <a:solidFill>
                  <a:srgbClr val="FFFFFF"/>
                </a:solidFill>
                <a:cs typeface="微软雅黑"/>
                <a:latin typeface="微软雅黑"/>
                <a:ea typeface="微软雅黑"/>
              </a:endParaRPr>
            </a:p>
          </p:txBody>
        </p:sp>
        <p:sp>
          <p:nvSpPr>
            <p:cNvPr id="103" name="椭圆 102"/>
            <p:cNvSpPr/>
            <p:nvPr/>
          </p:nvSpPr>
          <p:spPr>
            <a:xfrm>
              <a:off x="4633" y="4642"/>
              <a:ext cx="1624" cy="1624"/>
            </a:xfrm>
            <a:prstGeom prst="ellipse">
              <a:avLst/>
            </a:prstGeom>
            <a:noFill/>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sp>
        <p:nvSpPr>
          <p:cNvPr id="104" name="文本框 103"/>
          <p:cNvSpPr txBox="1"/>
          <p:nvPr/>
        </p:nvSpPr>
        <p:spPr>
          <a:xfrm>
            <a:off x="10085070" y="3057843"/>
            <a:ext cx="626745"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数据服务</a:t>
            </a:r>
            <a:endParaRPr lang="zh-CN" altLang="en-US" sz="1400" b="1">
              <a:solidFill>
                <a:srgbClr val="FFFFFF"/>
              </a:solidFill>
              <a:latin typeface="微软雅黑"/>
              <a:ea typeface="微软雅黑"/>
              <a:cs typeface="微软雅黑"/>
            </a:endParaRPr>
          </a:p>
        </p:txBody>
      </p:sp>
      <p:grpSp>
        <p:nvGrpSpPr>
          <p:cNvPr id="115" name="组合 114"/>
          <p:cNvGrpSpPr/>
          <p:nvPr/>
        </p:nvGrpSpPr>
        <p:grpSpPr>
          <a:xfrm>
            <a:off x="6119495" y="3258185"/>
            <a:ext cx="2339340" cy="430530"/>
            <a:chOff x="9637" y="5196"/>
            <a:chExt cx="3684" cy="678"/>
          </a:xfrm>
        </p:grpSpPr>
        <p:sp>
          <p:nvSpPr>
            <p:cNvPr id="37" name="矩形 36"/>
            <p:cNvSpPr/>
            <p:nvPr/>
          </p:nvSpPr>
          <p:spPr>
            <a:xfrm>
              <a:off x="12541" y="5196"/>
              <a:ext cx="780" cy="375"/>
            </a:xfrm>
            <a:prstGeom prst="rect">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en-US" altLang="zh-CN" sz="1000" b="1">
                  <a:solidFill>
                    <a:srgbClr val="0042FF"/>
                  </a:solidFill>
                  <a:cs typeface="微软雅黑"/>
                  <a:sym typeface="微软雅黑"/>
                  <a:latin typeface="微软雅黑"/>
                  <a:ea typeface="微软雅黑"/>
                </a:rPr>
                <a:t>运营</a:t>
              </a:r>
              <a:endParaRPr lang="en-US" altLang="zh-CN" sz="1000" b="1">
                <a:solidFill>
                  <a:srgbClr val="0042FF"/>
                </a:solidFill>
                <a:cs typeface="微软雅黑"/>
                <a:sym typeface="微软雅黑"/>
                <a:latin typeface="微软雅黑"/>
                <a:ea typeface="微软雅黑"/>
              </a:endParaRPr>
            </a:p>
          </p:txBody>
        </p:sp>
        <p:sp>
          <p:nvSpPr>
            <p:cNvPr id="109" name="矩形 108"/>
            <p:cNvSpPr/>
            <p:nvPr/>
          </p:nvSpPr>
          <p:spPr>
            <a:xfrm>
              <a:off x="11573" y="5196"/>
              <a:ext cx="780" cy="375"/>
            </a:xfrm>
            <a:prstGeom prst="rect">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en-US" altLang="zh-CN" sz="1000" b="1">
                  <a:solidFill>
                    <a:srgbClr val="0042FF"/>
                  </a:solidFill>
                  <a:cs typeface="微软雅黑"/>
                  <a:sym typeface="微软雅黑"/>
                  <a:latin typeface="微软雅黑"/>
                  <a:ea typeface="微软雅黑"/>
                </a:rPr>
                <a:t>市场</a:t>
              </a:r>
              <a:endParaRPr lang="en-US" altLang="zh-CN" sz="1000" b="1">
                <a:solidFill>
                  <a:srgbClr val="0042FF"/>
                </a:solidFill>
                <a:cs typeface="微软雅黑"/>
                <a:sym typeface="微软雅黑"/>
                <a:latin typeface="微软雅黑"/>
                <a:ea typeface="微软雅黑"/>
              </a:endParaRPr>
            </a:p>
          </p:txBody>
        </p:sp>
        <p:sp>
          <p:nvSpPr>
            <p:cNvPr id="110" name="矩形 109"/>
            <p:cNvSpPr/>
            <p:nvPr/>
          </p:nvSpPr>
          <p:spPr>
            <a:xfrm>
              <a:off x="10605" y="5196"/>
              <a:ext cx="780" cy="375"/>
            </a:xfrm>
            <a:prstGeom prst="rect">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r>
                <a:rPr lang="en-US" altLang="zh-CN" sz="1000" b="1">
                  <a:solidFill>
                    <a:srgbClr val="0042FF"/>
                  </a:solidFill>
                  <a:cs typeface="微软雅黑"/>
                  <a:sym typeface="微软雅黑"/>
                  <a:latin typeface="微软雅黑"/>
                  <a:ea typeface="微软雅黑"/>
                </a:rPr>
                <a:t>财务</a:t>
              </a:r>
              <a:endParaRPr lang="en-US" altLang="zh-CN" sz="1000" b="1">
                <a:solidFill>
                  <a:srgbClr val="0042FF"/>
                </a:solidFill>
                <a:cs typeface="微软雅黑"/>
                <a:sym typeface="微软雅黑"/>
                <a:latin typeface="微软雅黑"/>
                <a:ea typeface="微软雅黑"/>
              </a:endParaRPr>
            </a:p>
          </p:txBody>
        </p:sp>
        <p:sp>
          <p:nvSpPr>
            <p:cNvPr id="111" name="矩形 110"/>
            <p:cNvSpPr/>
            <p:nvPr/>
          </p:nvSpPr>
          <p:spPr>
            <a:xfrm>
              <a:off x="9637" y="5196"/>
              <a:ext cx="780" cy="375"/>
            </a:xfrm>
            <a:prstGeom prst="rect">
              <a:avLst/>
            </a:prstGeom>
            <a:noFill/>
            <a:ln>
              <a:solidFill>
                <a:srgbClr val="3368FF"/>
              </a:solid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en-US" altLang="zh-CN" sz="1000" b="1">
                  <a:solidFill>
                    <a:srgbClr val="0042FF"/>
                  </a:solidFill>
                  <a:cs typeface="微软雅黑"/>
                  <a:latin typeface="微软雅黑"/>
                  <a:ea typeface="微软雅黑"/>
                </a:rPr>
                <a:t>HR</a:t>
              </a:r>
              <a:endParaRPr lang="en-US" altLang="zh-CN" sz="1000" b="1">
                <a:solidFill>
                  <a:srgbClr val="0042FF"/>
                </a:solidFill>
                <a:cs typeface="微软雅黑"/>
                <a:latin typeface="微软雅黑"/>
                <a:ea typeface="微软雅黑"/>
              </a:endParaRPr>
            </a:p>
          </p:txBody>
        </p:sp>
        <p:sp>
          <p:nvSpPr>
            <p:cNvPr id="248" name="紫荆的职场Point99-4"/>
            <p:cNvSpPr/>
            <p:nvPr/>
          </p:nvSpPr>
          <p:spPr>
            <a:xfrm rot="10800000" flipH="1">
              <a:off x="9882" y="5638"/>
              <a:ext cx="291" cy="236"/>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marL="0" marR="0" lvl="0" indent="0" algn="ctr" defTabSz="91440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0" cap="none" spc="0" normalizeH="0" baseline="0" noProof="0" dirty="0">
                <a:ln>
                  <a:noFill/>
                </a:ln>
                <a:solidFill>
                  <a:srgbClr val="383838"/>
                </a:solidFill>
                <a:effectLst/>
                <a:uLnTx/>
                <a:uFillTx/>
                <a:latin typeface="微软雅黑"/>
                <a:ea typeface="微软雅黑"/>
                <a:cs typeface="微软雅黑"/>
              </a:endParaRPr>
            </a:p>
          </p:txBody>
        </p:sp>
        <p:sp>
          <p:nvSpPr>
            <p:cNvPr id="112" name="紫荆的职场Point99-4"/>
            <p:cNvSpPr/>
            <p:nvPr/>
          </p:nvSpPr>
          <p:spPr>
            <a:xfrm rot="10800000" flipH="1">
              <a:off x="10878" y="5638"/>
              <a:ext cx="291" cy="236"/>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sp>
          <p:nvSpPr>
            <p:cNvPr id="113" name="紫荆的职场Point99-4"/>
            <p:cNvSpPr/>
            <p:nvPr/>
          </p:nvSpPr>
          <p:spPr>
            <a:xfrm rot="10800000" flipH="1">
              <a:off x="11806" y="5638"/>
              <a:ext cx="291" cy="236"/>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sp>
          <p:nvSpPr>
            <p:cNvPr id="114" name="紫荆的职场Point99-4"/>
            <p:cNvSpPr/>
            <p:nvPr/>
          </p:nvSpPr>
          <p:spPr>
            <a:xfrm rot="10800000" flipH="1">
              <a:off x="12799" y="5638"/>
              <a:ext cx="291" cy="236"/>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w="6350" cap="flat" cmpd="sng" algn="ctr">
              <a:noFill/>
              <a:prstDash val="lgDash"/>
              <a:miter lim="800000"/>
            </a:ln>
            <a:effectLst>
              <a:outerShdw blurRad="190500" algn="ctr" rotWithShape="0">
                <a:srgbClr val="0042FF">
                  <a:alpha val="40000"/>
                </a:srgbClr>
              </a:outerShdw>
            </a:effectLst>
          </p:spPr>
          <p:txBody>
            <a:bodyPr wrap="square" rtlCol="0" anchor="ctr" lIns="0" rIns="0" tIns="0" bIns="0">
              <a:noAutofit/>
            </a:bodyPr>
            <a:p>
              <a:pPr lvl="0" algn="ctr">
                <a:spcBef>
                  <a:spcPts val="0"/>
                </a:spcBef>
                <a:spcAft>
                  <a:spcPts val="0"/>
                </a:spcAft>
                <a:buClrTx/>
                <a:buSzTx/>
                <a:buFontTx/>
                <a:defRPr>
                  <a:solidFill>
                    <a:srgbClr val="383838"/>
                  </a:solidFill>
                  <a:latin typeface="微软雅黑"/>
                  <a:ea typeface="微软雅黑"/>
                  <a:cs typeface="微软雅黑"/>
                </a:defRPr>
              </a:pPr>
              <a:endParaRPr lang="zh-CN" altLang="en-US" kern="0" noProof="0" dirty="0">
                <a:ln>
                  <a:noFill/>
                </a:ln>
                <a:solidFill>
                  <a:srgbClr val="383838"/>
                </a:solidFill>
                <a:effectLst/>
                <a:uLnTx/>
                <a:uFillTx/>
                <a:latin typeface="微软雅黑"/>
                <a:ea typeface="微软雅黑"/>
                <a:cs typeface="微软雅黑"/>
                <a:sym typeface="微软雅黑"/>
              </a:endParaRPr>
            </a:p>
          </p:txBody>
        </p:sp>
      </p:grpSp>
      <p:grpSp>
        <p:nvGrpSpPr>
          <p:cNvPr id="31" name="组合 30"/>
          <p:cNvGrpSpPr/>
          <p:nvPr/>
        </p:nvGrpSpPr>
        <p:grpSpPr>
          <a:xfrm>
            <a:off x="3455670" y="3850005"/>
            <a:ext cx="1574800" cy="675640"/>
            <a:chOff x="5503" y="6157"/>
            <a:chExt cx="2480" cy="1064"/>
          </a:xfrm>
        </p:grpSpPr>
        <p:grpSp>
          <p:nvGrpSpPr>
            <p:cNvPr id="23" name="组合 22"/>
            <p:cNvGrpSpPr/>
            <p:nvPr/>
          </p:nvGrpSpPr>
          <p:grpSpPr>
            <a:xfrm>
              <a:off x="5503" y="6157"/>
              <a:ext cx="2480" cy="1064"/>
              <a:chOff x="5455" y="5960"/>
              <a:chExt cx="2480" cy="1064"/>
            </a:xfrm>
          </p:grpSpPr>
          <p:sp>
            <p:nvSpPr>
              <p:cNvPr id="19" name="矩形 18"/>
              <p:cNvSpPr/>
              <p:nvPr/>
            </p:nvSpPr>
            <p:spPr>
              <a:xfrm>
                <a:off x="5455" y="5960"/>
                <a:ext cx="2480" cy="1064"/>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2" name="文本框 21"/>
              <p:cNvSpPr txBox="1"/>
              <p:nvPr/>
            </p:nvSpPr>
            <p:spPr>
              <a:xfrm>
                <a:off x="5455" y="5960"/>
                <a:ext cx="2480" cy="1063"/>
              </a:xfrm>
              <a:prstGeom prst="rect">
                <a:avLst/>
              </a:prstGeom>
              <a:solidFill>
                <a:srgbClr val="E6E6E6">
                  <a:alpha val="20000"/>
                </a:srgbClr>
              </a:solidFill>
              <a:ln>
                <a:noFill/>
              </a:ln>
            </p:spPr>
            <p:txBody>
              <a:bodyPr wrap="square" rtlCol="0" anchor="t" lIns="0" rIns="0" tIns="0" bIns="0">
                <a:noAutofit/>
              </a:bodyPr>
              <a:p>
                <a:pPr marL="171450" lvl="0" indent="-171450" algn="l">
                  <a:buClrTx/>
                  <a:buSzTx/>
                  <a:buFont typeface="微软雅黑"/>
                  <a:buChar char="●"/>
                  <a:defRPr>
                    <a:latin typeface="微软雅黑"/>
                    <a:ea typeface="微软雅黑"/>
                    <a:cs typeface="微软雅黑"/>
                  </a:defRPr>
                </a:pPr>
                <a:endParaRPr lang="zh-CN" altLang="en-US" sz="1000">
                  <a:solidFill>
                    <a:srgbClr val="383838"/>
                  </a:solidFill>
                  <a:latin typeface="微软雅黑"/>
                  <a:ea typeface="微软雅黑"/>
                  <a:cs typeface="微软雅黑"/>
                  <a:sym typeface="微软雅黑"/>
                </a:endParaRPr>
              </a:p>
            </p:txBody>
          </p:sp>
        </p:grpSp>
        <p:sp>
          <p:nvSpPr>
            <p:cNvPr id="24" name="文本框 23"/>
            <p:cNvSpPr txBox="1"/>
            <p:nvPr/>
          </p:nvSpPr>
          <p:spPr>
            <a:xfrm>
              <a:off x="5503" y="6181"/>
              <a:ext cx="2481" cy="1050"/>
            </a:xfrm>
            <a:prstGeom prst="rect">
              <a:avLst/>
            </a:prstGeom>
            <a:noFill/>
            <a:ln>
              <a:noFill/>
            </a:ln>
          </p:spPr>
          <p:txBody>
            <a:bodyPr wrap="square" rtlCol="0" lIns="0" rIns="0" tIns="0" bIns="0" anchor="t">
              <a:noAutofit/>
            </a:bodyPr>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数字化人才梯队建设</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数字化文化培育</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驱动业务转型</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聚焦转型内生力</a:t>
              </a:r>
              <a:endParaRPr lang="zh-CN" altLang="en-US" sz="1000">
                <a:solidFill>
                  <a:srgbClr val="383838"/>
                </a:solidFill>
                <a:latin typeface="微软雅黑"/>
                <a:ea typeface="微软雅黑"/>
                <a:cs typeface="微软雅黑"/>
              </a:endParaRPr>
            </a:p>
          </p:txBody>
        </p:sp>
      </p:grpSp>
      <p:grpSp>
        <p:nvGrpSpPr>
          <p:cNvPr id="32" name="组合 31"/>
          <p:cNvGrpSpPr/>
          <p:nvPr/>
        </p:nvGrpSpPr>
        <p:grpSpPr>
          <a:xfrm>
            <a:off x="9628505" y="3784600"/>
            <a:ext cx="1575435" cy="675640"/>
            <a:chOff x="5503" y="6157"/>
            <a:chExt cx="2481" cy="1064"/>
          </a:xfrm>
        </p:grpSpPr>
        <p:grpSp>
          <p:nvGrpSpPr>
            <p:cNvPr id="33" name="组合 32"/>
            <p:cNvGrpSpPr/>
            <p:nvPr/>
          </p:nvGrpSpPr>
          <p:grpSpPr>
            <a:xfrm>
              <a:off x="5503" y="6157"/>
              <a:ext cx="2480" cy="1064"/>
              <a:chOff x="5455" y="5960"/>
              <a:chExt cx="2480" cy="1064"/>
            </a:xfrm>
          </p:grpSpPr>
          <p:sp>
            <p:nvSpPr>
              <p:cNvPr id="35" name="矩形 34"/>
              <p:cNvSpPr/>
              <p:nvPr/>
            </p:nvSpPr>
            <p:spPr>
              <a:xfrm>
                <a:off x="5455" y="5960"/>
                <a:ext cx="2480" cy="1064"/>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6" name="文本框 45"/>
              <p:cNvSpPr txBox="1"/>
              <p:nvPr/>
            </p:nvSpPr>
            <p:spPr>
              <a:xfrm>
                <a:off x="5455" y="5960"/>
                <a:ext cx="2480" cy="1063"/>
              </a:xfrm>
              <a:prstGeom prst="rect">
                <a:avLst/>
              </a:prstGeom>
              <a:solidFill>
                <a:srgbClr val="E6E6E6">
                  <a:alpha val="20000"/>
                </a:srgbClr>
              </a:solidFill>
              <a:ln>
                <a:noFill/>
              </a:ln>
            </p:spPr>
            <p:txBody>
              <a:bodyPr wrap="square" rtlCol="0" anchor="t" lIns="0" rIns="0" tIns="0" bIns="0">
                <a:noAutofit/>
              </a:bodyPr>
              <a:p>
                <a:pPr marL="171450" lvl="0" indent="-171450" algn="l">
                  <a:buClrTx/>
                  <a:buSzTx/>
                  <a:buFont typeface="微软雅黑"/>
                  <a:buChar char="●"/>
                  <a:defRPr>
                    <a:latin typeface="微软雅黑"/>
                    <a:ea typeface="微软雅黑"/>
                    <a:cs typeface="微软雅黑"/>
                  </a:defRPr>
                </a:pPr>
                <a:endParaRPr lang="zh-CN" altLang="en-US" sz="1000">
                  <a:solidFill>
                    <a:srgbClr val="383838"/>
                  </a:solidFill>
                  <a:latin typeface="微软雅黑"/>
                  <a:ea typeface="微软雅黑"/>
                  <a:cs typeface="微软雅黑"/>
                  <a:sym typeface="微软雅黑"/>
                </a:endParaRPr>
              </a:p>
            </p:txBody>
          </p:sp>
        </p:grpSp>
        <p:sp>
          <p:nvSpPr>
            <p:cNvPr id="47" name="文本框 46"/>
            <p:cNvSpPr txBox="1"/>
            <p:nvPr/>
          </p:nvSpPr>
          <p:spPr>
            <a:xfrm>
              <a:off x="5503" y="6181"/>
              <a:ext cx="2481" cy="1050"/>
            </a:xfrm>
            <a:prstGeom prst="rect">
              <a:avLst/>
            </a:prstGeom>
            <a:noFill/>
            <a:ln>
              <a:noFill/>
            </a:ln>
          </p:spPr>
          <p:txBody>
            <a:bodyPr wrap="square" rtlCol="0" lIns="0" rIns="0" tIns="0" bIns="0" anchor="t">
              <a:noAutofit/>
            </a:bodyPr>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数字化转型体验升级</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全场景覆盖</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角色化转型工作台</a:t>
              </a:r>
              <a:endParaRPr lang="zh-CN" altLang="en-US" sz="1000">
                <a:solidFill>
                  <a:srgbClr val="383838"/>
                </a:solidFill>
                <a:latin typeface="微软雅黑"/>
                <a:ea typeface="微软雅黑"/>
                <a:cs typeface="微软雅黑"/>
              </a:endParaRPr>
            </a:p>
            <a:p>
              <a:pPr marL="171450" indent="-171450" algn="l">
                <a:buFont typeface="微软雅黑"/>
                <a:buChar cha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业务自主用数驱动转型</a:t>
              </a:r>
              <a:endParaRPr lang="zh-CN" altLang="en-US" sz="1000">
                <a:solidFill>
                  <a:srgbClr val="383838"/>
                </a:solidFill>
                <a:latin typeface="微软雅黑"/>
                <a:ea typeface="微软雅黑"/>
                <a:cs typeface="微软雅黑"/>
              </a:endParaRPr>
            </a:p>
          </p:txBody>
        </p:sp>
      </p:grpSp>
      <p:cxnSp>
        <p:nvCxnSpPr>
          <p:cNvPr id="1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0" name="组合 19"/>
          <p:cNvGrpSpPr/>
          <p:nvPr/>
        </p:nvGrpSpPr>
        <p:grpSpPr>
          <a:xfrm>
            <a:off x="8738235" y="348615"/>
            <a:ext cx="3219450" cy="332740"/>
            <a:chOff x="13761" y="549"/>
            <a:chExt cx="5070" cy="524"/>
          </a:xfrm>
        </p:grpSpPr>
        <p:pic>
          <p:nvPicPr>
            <p:cNvPr id="21" name="图片 20"/>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52" name="文本框 5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思考问题的框架方法论</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圆角矩形 1"/>
          <p:cNvSpPr/>
          <p:nvPr/>
        </p:nvSpPr>
        <p:spPr>
          <a:xfrm>
            <a:off x="287798" y="1102824"/>
            <a:ext cx="11616404" cy="1022366"/>
          </a:xfrm>
          <a:prstGeom prst="roundRect">
            <a:avLst>
              <a:gd name="adj" fmla="val 9588"/>
            </a:avLst>
          </a:prstGeom>
          <a:solidFill>
            <a:srgbClr val="FFFFFF"/>
          </a:solidFill>
          <a:ln w="6350">
            <a:solidFill>
              <a:srgbClr val="B3D4FE"/>
            </a:solidFill>
            <a:prstDash val="solid"/>
          </a:ln>
          <a:effectLst>
            <a:outerShdw blurRad="101600" sx="101000" sy="101000" algn="ctr" rotWithShape="0">
              <a:srgbClr val="B3D4FE">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endParaRPr kumimoji="1" lang="zh-CN" altLang="en-US" sz="1400" dirty="0">
              <a:solidFill>
                <a:srgbClr val="383838"/>
              </a:solidFill>
              <a:latin typeface="微软雅黑"/>
              <a:ea typeface="微软雅黑"/>
              <a:cs typeface="微软雅黑"/>
              <a:sym typeface="微软雅黑"/>
            </a:endParaRPr>
          </a:p>
        </p:txBody>
      </p:sp>
      <p:sp>
        <p:nvSpPr>
          <p:cNvPr id="7" name="圆角矩形 6"/>
          <p:cNvSpPr/>
          <p:nvPr/>
        </p:nvSpPr>
        <p:spPr>
          <a:xfrm>
            <a:off x="287798" y="4918657"/>
            <a:ext cx="11616404" cy="1578078"/>
          </a:xfrm>
          <a:prstGeom prst="roundRect">
            <a:avLst>
              <a:gd name="adj" fmla="val 9588"/>
            </a:avLst>
          </a:prstGeom>
          <a:solidFill>
            <a:srgbClr val="E6E6E6">
              <a:alpha val="30000"/>
            </a:srgbClr>
          </a:solidFill>
          <a:ln w="6350">
            <a:solidFill>
              <a:srgbClr val="3368FF"/>
            </a:solidFill>
            <a:prstDash val="solid"/>
          </a:ln>
          <a:effectLst>
            <a:outerShdw blurRad="101600" sx="101000" sy="101000" algn="ctr" rotWithShape="0">
              <a:srgbClr val="668E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endParaRPr kumimoji="1" lang="zh-CN" altLang="en-US" sz="1400" dirty="0">
              <a:solidFill>
                <a:srgbClr val="383838"/>
              </a:solidFill>
              <a:latin typeface="微软雅黑"/>
              <a:ea typeface="微软雅黑"/>
              <a:cs typeface="微软雅黑"/>
              <a:sym typeface="微软雅黑"/>
            </a:endParaRPr>
          </a:p>
        </p:txBody>
      </p:sp>
      <p:sp>
        <p:nvSpPr>
          <p:cNvPr id="8" name="圆角矩形 7"/>
          <p:cNvSpPr/>
          <p:nvPr/>
        </p:nvSpPr>
        <p:spPr>
          <a:xfrm>
            <a:off x="287798" y="2216873"/>
            <a:ext cx="11616404" cy="2580235"/>
          </a:xfrm>
          <a:prstGeom prst="roundRect">
            <a:avLst>
              <a:gd name="adj" fmla="val 6146"/>
            </a:avLst>
          </a:prstGeom>
          <a:solidFill>
            <a:srgbClr val="FFFFFF"/>
          </a:solidFill>
          <a:ln w="6350">
            <a:solidFill>
              <a:srgbClr val="3368FF"/>
            </a:solidFill>
            <a:prstDash val="solid"/>
          </a:ln>
          <a:effectLst>
            <a:outerShdw blurRad="101600" sx="101000" sy="101000" algn="ctr" rotWithShape="0">
              <a:srgbClr val="668EFF">
                <a:alpha val="2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defTabSz="457200">
              <a:buClrTx/>
              <a:buSzTx/>
              <a:buFontTx/>
              <a:defRPr>
                <a:latin typeface="微软雅黑"/>
                <a:ea typeface="微软雅黑"/>
                <a:cs typeface="微软雅黑"/>
              </a:defRPr>
            </a:pPr>
            <a:endParaRPr kumimoji="1" lang="zh-CN" altLang="en-US" sz="1400" dirty="0">
              <a:solidFill>
                <a:srgbClr val="383838"/>
              </a:solidFill>
              <a:latin typeface="微软雅黑"/>
              <a:ea typeface="微软雅黑"/>
              <a:cs typeface="微软雅黑"/>
              <a:sym typeface="微软雅黑"/>
            </a:endParaRPr>
          </a:p>
        </p:txBody>
      </p:sp>
      <p:sp>
        <p:nvSpPr>
          <p:cNvPr id="9" name="圆角矩形 8"/>
          <p:cNvSpPr/>
          <p:nvPr/>
        </p:nvSpPr>
        <p:spPr>
          <a:xfrm>
            <a:off x="371482" y="1194377"/>
            <a:ext cx="361184" cy="828000"/>
          </a:xfrm>
          <a:prstGeom prst="roundRect">
            <a:avLst/>
          </a:prstGeom>
          <a:gradFill flip="none" rotWithShape="1">
            <a:gsLst>
              <a:gs pos="100000">
                <a:srgbClr val="FFFFFF"/>
              </a:gs>
              <a:gs pos="0">
                <a:srgbClr val="FFFFFF"/>
              </a:gs>
            </a:gsLst>
            <a:lin ang="5400000" scaled="1"/>
            <a:tileRect/>
          </a:gradFill>
          <a:ln w="9525">
            <a:solidFill>
              <a:srgbClr val="B3D4FE"/>
            </a:solidFill>
            <a:prstDash val="solid"/>
          </a:ln>
          <a:effectLst>
            <a:outerShdw blurRad="127000" dist="38100" dir="5400000" sx="102000" sy="102000" algn="t" rotWithShape="0">
              <a:srgbClr val="3368FF">
                <a:alpha val="1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1" name="圆角矩形 10"/>
          <p:cNvSpPr/>
          <p:nvPr/>
        </p:nvSpPr>
        <p:spPr>
          <a:xfrm>
            <a:off x="371482" y="2448370"/>
            <a:ext cx="361184" cy="2112134"/>
          </a:xfrm>
          <a:prstGeom prst="roundRect">
            <a:avLst/>
          </a:prstGeom>
          <a:gradFill flip="none" rotWithShape="1">
            <a:gsLst>
              <a:gs pos="100000">
                <a:srgbClr val="E6E6E6"/>
              </a:gs>
              <a:gs pos="0">
                <a:srgbClr val="FFFFFF"/>
              </a:gs>
            </a:gsLst>
            <a:lin ang="5400000" scaled="1"/>
            <a:tileRect/>
          </a:gradFill>
          <a:ln w="9525">
            <a:solidFill>
              <a:srgbClr val="668EFF"/>
            </a:solidFill>
            <a:prstDash val="solid"/>
          </a:ln>
          <a:effectLst>
            <a:outerShdw blurRad="127000" dist="38100" dir="5400000" sx="102000" sy="102000" algn="t" rotWithShape="0">
              <a:srgbClr val="3368FF">
                <a:alpha val="1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2" name="圆角矩形 11"/>
          <p:cNvSpPr/>
          <p:nvPr/>
        </p:nvSpPr>
        <p:spPr>
          <a:xfrm>
            <a:off x="371482" y="5055348"/>
            <a:ext cx="361184" cy="1304696"/>
          </a:xfrm>
          <a:prstGeom prst="roundRect">
            <a:avLst/>
          </a:prstGeom>
          <a:gradFill flip="none" rotWithShape="1">
            <a:gsLst>
              <a:gs pos="100000">
                <a:srgbClr val="E6E6E6"/>
              </a:gs>
              <a:gs pos="0">
                <a:srgbClr val="FFFFFF"/>
              </a:gs>
            </a:gsLst>
            <a:lin ang="5400000" scaled="1"/>
            <a:tileRect/>
          </a:gradFill>
          <a:ln w="9525">
            <a:solidFill>
              <a:srgbClr val="0042FF">
                <a:alpha val="50000"/>
              </a:srgbClr>
            </a:solidFill>
            <a:prstDash val="solid"/>
          </a:ln>
          <a:effectLst>
            <a:outerShdw blurRad="127000" dist="38100" dir="5400000" sx="102000" sy="102000" algn="t" rotWithShape="0">
              <a:srgbClr val="3368FF">
                <a:alpha val="1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buClrTx/>
              <a:buSzTx/>
              <a:buFontTx/>
              <a:defRPr>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3" name="矩形 12"/>
          <p:cNvSpPr/>
          <p:nvPr/>
        </p:nvSpPr>
        <p:spPr>
          <a:xfrm>
            <a:off x="1059623" y="5390866"/>
            <a:ext cx="2408031" cy="930137"/>
          </a:xfrm>
          <a:prstGeom prst="rect">
            <a:avLst/>
          </a:prstGeom>
          <a:solidFill>
            <a:srgbClr val="FFFFFF"/>
          </a:solidFill>
          <a:ln w="15875">
            <a:noFill/>
            <a:prstDash val="dash"/>
          </a:ln>
          <a:effectLst>
            <a:outerShdw blurRad="127000" sx="102000" sy="102000" algn="ctr" rotWithShape="0">
              <a:srgbClr val="0042FF">
                <a:alpha val="5000"/>
              </a:srgbClr>
            </a:outerShdw>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4" name="矩形 13"/>
          <p:cNvSpPr/>
          <p:nvPr/>
        </p:nvSpPr>
        <p:spPr>
          <a:xfrm>
            <a:off x="1059623" y="5188261"/>
            <a:ext cx="2408031" cy="316089"/>
          </a:xfrm>
          <a:prstGeom prst="rect">
            <a:avLst/>
          </a:prstGeom>
          <a:gradFill>
            <a:gsLst>
              <a:gs pos="0">
                <a:srgbClr val="0042FF"/>
              </a:gs>
              <a:gs pos="100000">
                <a:srgbClr val="3368FF"/>
              </a:gs>
            </a:gsLst>
            <a:lin ang="5400000" scaled="0"/>
          </a:gradFill>
          <a:ln>
            <a:noFill/>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endParaRPr>
          </a:p>
        </p:txBody>
      </p:sp>
      <p:sp>
        <p:nvSpPr>
          <p:cNvPr id="15" name="文本框 14"/>
          <p:cNvSpPr txBox="1"/>
          <p:nvPr/>
        </p:nvSpPr>
        <p:spPr>
          <a:xfrm>
            <a:off x="4553499" y="1831021"/>
            <a:ext cx="800219" cy="276999"/>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内涵认识</a:t>
            </a:r>
            <a:endParaRPr lang="zh-CN" altLang="en-US" dirty="0">
              <a:solidFill>
                <a:srgbClr val="383838"/>
              </a:solidFill>
              <a:latin typeface="微软雅黑"/>
              <a:ea typeface="微软雅黑"/>
              <a:cs typeface="微软雅黑"/>
            </a:endParaRPr>
          </a:p>
        </p:txBody>
      </p:sp>
      <p:sp>
        <p:nvSpPr>
          <p:cNvPr id="16" name="文本框 15"/>
          <p:cNvSpPr txBox="1"/>
          <p:nvPr/>
        </p:nvSpPr>
        <p:spPr>
          <a:xfrm>
            <a:off x="8191541" y="1840303"/>
            <a:ext cx="800219" cy="276999"/>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方法设计</a:t>
            </a:r>
            <a:endParaRPr lang="zh-CN" altLang="en-US" dirty="0">
              <a:solidFill>
                <a:srgbClr val="383838"/>
              </a:solidFill>
              <a:latin typeface="微软雅黑"/>
              <a:ea typeface="微软雅黑"/>
              <a:cs typeface="微软雅黑"/>
            </a:endParaRPr>
          </a:p>
        </p:txBody>
      </p:sp>
      <p:sp>
        <p:nvSpPr>
          <p:cNvPr id="17" name="文本框 16"/>
          <p:cNvSpPr txBox="1"/>
          <p:nvPr/>
        </p:nvSpPr>
        <p:spPr>
          <a:xfrm>
            <a:off x="9324723" y="1840303"/>
            <a:ext cx="800219" cy="276999"/>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实践验证</a:t>
            </a:r>
            <a:endParaRPr lang="zh-CN" altLang="en-US" dirty="0">
              <a:solidFill>
                <a:srgbClr val="383838"/>
              </a:solidFill>
              <a:latin typeface="微软雅黑"/>
              <a:ea typeface="微软雅黑"/>
              <a:cs typeface="微软雅黑"/>
            </a:endParaRPr>
          </a:p>
        </p:txBody>
      </p:sp>
      <p:sp>
        <p:nvSpPr>
          <p:cNvPr id="18" name="任意形状 108"/>
          <p:cNvSpPr/>
          <p:nvPr/>
        </p:nvSpPr>
        <p:spPr>
          <a:xfrm rot="5400000">
            <a:off x="9994265" y="2459355"/>
            <a:ext cx="1564005" cy="2151380"/>
          </a:xfrm>
          <a:custGeom>
            <a:avLst/>
            <a:gdLst>
              <a:gd name="connsiteX0" fmla="*/ 987389 w 1948800"/>
              <a:gd name="connsiteY0" fmla="*/ 0 h 3381339"/>
              <a:gd name="connsiteX1" fmla="*/ 1065440 w 1948800"/>
              <a:gd name="connsiteY1" fmla="*/ 134048 h 3381339"/>
              <a:gd name="connsiteX2" fmla="*/ 1224232 w 1948800"/>
              <a:gd name="connsiteY2" fmla="*/ 366820 h 3381339"/>
              <a:gd name="connsiteX3" fmla="*/ 1752372 w 1948800"/>
              <a:gd name="connsiteY3" fmla="*/ 948285 h 3381339"/>
              <a:gd name="connsiteX4" fmla="*/ 1814404 w 1948800"/>
              <a:gd name="connsiteY4" fmla="*/ 996658 h 3381339"/>
              <a:gd name="connsiteX5" fmla="*/ 1520156 w 1948800"/>
              <a:gd name="connsiteY5" fmla="*/ 996658 h 3381339"/>
              <a:gd name="connsiteX6" fmla="*/ 1948800 w 1948800"/>
              <a:gd name="connsiteY6" fmla="*/ 3381339 h 3381339"/>
              <a:gd name="connsiteX7" fmla="*/ 0 w 1948800"/>
              <a:gd name="connsiteY7" fmla="*/ 3381339 h 3381339"/>
              <a:gd name="connsiteX8" fmla="*/ 454622 w 1948800"/>
              <a:gd name="connsiteY8" fmla="*/ 996658 h 3381339"/>
              <a:gd name="connsiteX9" fmla="*/ 160372 w 1948800"/>
              <a:gd name="connsiteY9" fmla="*/ 996658 h 3381339"/>
              <a:gd name="connsiteX10" fmla="*/ 222407 w 1948800"/>
              <a:gd name="connsiteY10" fmla="*/ 948283 h 3381339"/>
              <a:gd name="connsiteX11" fmla="*/ 750546 w 1948800"/>
              <a:gd name="connsiteY11" fmla="*/ 366818 h 3381339"/>
              <a:gd name="connsiteX12" fmla="*/ 909338 w 1948800"/>
              <a:gd name="connsiteY12" fmla="*/ 134046 h 3381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8800" h="3381339">
                <a:moveTo>
                  <a:pt x="987389" y="0"/>
                </a:moveTo>
                <a:lnTo>
                  <a:pt x="1065440" y="134048"/>
                </a:lnTo>
                <a:cubicBezTo>
                  <a:pt x="1114125" y="211149"/>
                  <a:pt x="1167154" y="289054"/>
                  <a:pt x="1224232" y="366820"/>
                </a:cubicBezTo>
                <a:cubicBezTo>
                  <a:pt x="1395467" y="600117"/>
                  <a:pt x="1578827" y="799026"/>
                  <a:pt x="1752372" y="948285"/>
                </a:cubicBezTo>
                <a:lnTo>
                  <a:pt x="1814404" y="996658"/>
                </a:lnTo>
                <a:lnTo>
                  <a:pt x="1520156" y="996658"/>
                </a:lnTo>
                <a:cubicBezTo>
                  <a:pt x="1476860" y="1931308"/>
                  <a:pt x="1745303" y="2686273"/>
                  <a:pt x="1948800" y="3381339"/>
                </a:cubicBezTo>
                <a:lnTo>
                  <a:pt x="0" y="3381339"/>
                </a:lnTo>
                <a:cubicBezTo>
                  <a:pt x="238135" y="2646340"/>
                  <a:pt x="450292" y="1851448"/>
                  <a:pt x="454622" y="996658"/>
                </a:cubicBezTo>
                <a:lnTo>
                  <a:pt x="160372" y="996658"/>
                </a:lnTo>
                <a:lnTo>
                  <a:pt x="222407" y="948283"/>
                </a:lnTo>
                <a:cubicBezTo>
                  <a:pt x="395951" y="799024"/>
                  <a:pt x="579312" y="600115"/>
                  <a:pt x="750546" y="366818"/>
                </a:cubicBezTo>
                <a:cubicBezTo>
                  <a:pt x="807625" y="289052"/>
                  <a:pt x="860654" y="211147"/>
                  <a:pt x="909338" y="134046"/>
                </a:cubicBezTo>
                <a:close/>
              </a:path>
            </a:pathLst>
          </a:custGeom>
          <a:gradFill flip="none" rotWithShape="1">
            <a:gsLst>
              <a:gs pos="0">
                <a:srgbClr val="3368FF">
                  <a:alpha val="0"/>
                </a:srgbClr>
              </a:gs>
              <a:gs pos="73000">
                <a:srgbClr val="3368FF">
                  <a:alpha val="60000"/>
                </a:srgbClr>
              </a:gs>
              <a:gs pos="100000">
                <a:srgbClr val="3368FF">
                  <a:alpha val="50000"/>
                </a:srgbClr>
              </a:gs>
            </a:gsLst>
            <a:lin ang="162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55">
              <a:solidFill>
                <a:srgbClr val="383838"/>
              </a:solidFill>
              <a:latin typeface="微软雅黑"/>
              <a:ea typeface="微软雅黑"/>
              <a:cs typeface="微软雅黑"/>
              <a:sym typeface="微软雅黑"/>
            </a:endParaRPr>
          </a:p>
        </p:txBody>
      </p:sp>
      <p:sp>
        <p:nvSpPr>
          <p:cNvPr id="19" name="任意形状 108"/>
          <p:cNvSpPr/>
          <p:nvPr/>
        </p:nvSpPr>
        <p:spPr>
          <a:xfrm rot="5400000">
            <a:off x="2156460" y="2646045"/>
            <a:ext cx="1214755" cy="1570355"/>
          </a:xfrm>
          <a:custGeom>
            <a:avLst/>
            <a:gdLst>
              <a:gd name="connsiteX0" fmla="*/ 987389 w 1948800"/>
              <a:gd name="connsiteY0" fmla="*/ 0 h 3381339"/>
              <a:gd name="connsiteX1" fmla="*/ 1065440 w 1948800"/>
              <a:gd name="connsiteY1" fmla="*/ 134048 h 3381339"/>
              <a:gd name="connsiteX2" fmla="*/ 1224232 w 1948800"/>
              <a:gd name="connsiteY2" fmla="*/ 366820 h 3381339"/>
              <a:gd name="connsiteX3" fmla="*/ 1752372 w 1948800"/>
              <a:gd name="connsiteY3" fmla="*/ 948285 h 3381339"/>
              <a:gd name="connsiteX4" fmla="*/ 1814404 w 1948800"/>
              <a:gd name="connsiteY4" fmla="*/ 996658 h 3381339"/>
              <a:gd name="connsiteX5" fmla="*/ 1520156 w 1948800"/>
              <a:gd name="connsiteY5" fmla="*/ 996658 h 3381339"/>
              <a:gd name="connsiteX6" fmla="*/ 1948800 w 1948800"/>
              <a:gd name="connsiteY6" fmla="*/ 3381339 h 3381339"/>
              <a:gd name="connsiteX7" fmla="*/ 0 w 1948800"/>
              <a:gd name="connsiteY7" fmla="*/ 3381339 h 3381339"/>
              <a:gd name="connsiteX8" fmla="*/ 454622 w 1948800"/>
              <a:gd name="connsiteY8" fmla="*/ 996658 h 3381339"/>
              <a:gd name="connsiteX9" fmla="*/ 160372 w 1948800"/>
              <a:gd name="connsiteY9" fmla="*/ 996658 h 3381339"/>
              <a:gd name="connsiteX10" fmla="*/ 222407 w 1948800"/>
              <a:gd name="connsiteY10" fmla="*/ 948283 h 3381339"/>
              <a:gd name="connsiteX11" fmla="*/ 750546 w 1948800"/>
              <a:gd name="connsiteY11" fmla="*/ 366818 h 3381339"/>
              <a:gd name="connsiteX12" fmla="*/ 909338 w 1948800"/>
              <a:gd name="connsiteY12" fmla="*/ 134046 h 3381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8800" h="3381339">
                <a:moveTo>
                  <a:pt x="987389" y="0"/>
                </a:moveTo>
                <a:lnTo>
                  <a:pt x="1065440" y="134048"/>
                </a:lnTo>
                <a:cubicBezTo>
                  <a:pt x="1114125" y="211149"/>
                  <a:pt x="1167154" y="289054"/>
                  <a:pt x="1224232" y="366820"/>
                </a:cubicBezTo>
                <a:cubicBezTo>
                  <a:pt x="1395467" y="600117"/>
                  <a:pt x="1578827" y="799026"/>
                  <a:pt x="1752372" y="948285"/>
                </a:cubicBezTo>
                <a:lnTo>
                  <a:pt x="1814404" y="996658"/>
                </a:lnTo>
                <a:lnTo>
                  <a:pt x="1520156" y="996658"/>
                </a:lnTo>
                <a:cubicBezTo>
                  <a:pt x="1476860" y="1931308"/>
                  <a:pt x="1745303" y="2686273"/>
                  <a:pt x="1948800" y="3381339"/>
                </a:cubicBezTo>
                <a:lnTo>
                  <a:pt x="0" y="3381339"/>
                </a:lnTo>
                <a:cubicBezTo>
                  <a:pt x="238135" y="2646340"/>
                  <a:pt x="450292" y="1851448"/>
                  <a:pt x="454622" y="996658"/>
                </a:cubicBezTo>
                <a:lnTo>
                  <a:pt x="160372" y="996658"/>
                </a:lnTo>
                <a:lnTo>
                  <a:pt x="222407" y="948283"/>
                </a:lnTo>
                <a:cubicBezTo>
                  <a:pt x="395951" y="799024"/>
                  <a:pt x="579312" y="600115"/>
                  <a:pt x="750546" y="366818"/>
                </a:cubicBezTo>
                <a:cubicBezTo>
                  <a:pt x="807625" y="289052"/>
                  <a:pt x="860654" y="211147"/>
                  <a:pt x="909338" y="134046"/>
                </a:cubicBezTo>
                <a:close/>
              </a:path>
            </a:pathLst>
          </a:custGeom>
          <a:gradFill flip="none" rotWithShape="1">
            <a:gsLst>
              <a:gs pos="0">
                <a:srgbClr val="3368FF">
                  <a:alpha val="0"/>
                </a:srgbClr>
              </a:gs>
              <a:gs pos="73000">
                <a:srgbClr val="3368FF">
                  <a:alpha val="60000"/>
                </a:srgbClr>
              </a:gs>
              <a:gs pos="100000">
                <a:srgbClr val="3368FF">
                  <a:alpha val="50000"/>
                </a:srgbClr>
              </a:gs>
            </a:gsLst>
            <a:lin ang="162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55">
              <a:solidFill>
                <a:srgbClr val="383838"/>
              </a:solidFill>
              <a:latin typeface="微软雅黑"/>
              <a:ea typeface="微软雅黑"/>
              <a:cs typeface="微软雅黑"/>
              <a:sym typeface="微软雅黑"/>
            </a:endParaRPr>
          </a:p>
        </p:txBody>
      </p:sp>
      <p:sp>
        <p:nvSpPr>
          <p:cNvPr id="20" name="文本框 19"/>
          <p:cNvSpPr txBox="1"/>
          <p:nvPr/>
        </p:nvSpPr>
        <p:spPr>
          <a:xfrm>
            <a:off x="1080035" y="2950277"/>
            <a:ext cx="492443" cy="276999"/>
          </a:xfrm>
          <a:prstGeom prst="rect">
            <a:avLst/>
          </a:prstGeom>
          <a:noFill/>
        </p:spPr>
        <p:txBody>
          <a:bodyPr wrap="none" rtlCol="0" lIns="0" rIns="0" tIns="0" bIns="0">
            <a:spAutoFit/>
          </a:bodyPr>
          <a:lstStyle>
            <a:defPPr>
              <a:defRPr lang="en-US">
                <a:latin typeface="微软雅黑"/>
                <a:ea typeface="微软雅黑"/>
                <a:cs typeface="微软雅黑"/>
              </a:defRPr>
            </a:defPPr>
            <a:lvl1pPr marR="0" lvl="0" indent="0" fontAlgn="auto">
              <a:lnSpc>
                <a:spcPct val="100000"/>
              </a:lnSpc>
              <a:spcBef>
                <a:spcPts val="0"/>
              </a:spcBef>
              <a:spcAft>
                <a:spcPts val="0"/>
              </a:spcAft>
              <a:buClrTx/>
              <a:buSzTx/>
              <a:buFontTx/>
              <a:buNone/>
              <a:defRPr kumimoji="1" sz="1200" b="1" i="0" u="none" strike="noStrike" normalizeH="0" baseline="0">
                <a:solidFill>
                  <a:srgbClr val="0042FF"/>
                </a:solidFill>
                <a:uLnTx/>
                <a:uFillTx/>
                <a:latin typeface="微软雅黑"/>
                <a:ea typeface="微软雅黑"/>
                <a:cs typeface="微软雅黑"/>
              </a:defRPr>
            </a:lvl1pPr>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rPr>
              <a:t>背景</a:t>
            </a:r>
            <a:endPar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 name="文本框 20"/>
          <p:cNvSpPr txBox="1"/>
          <p:nvPr/>
        </p:nvSpPr>
        <p:spPr>
          <a:xfrm>
            <a:off x="1837154" y="2532436"/>
            <a:ext cx="492443" cy="276999"/>
          </a:xfrm>
          <a:prstGeom prst="rect">
            <a:avLst/>
          </a:prstGeom>
          <a:noFill/>
        </p:spPr>
        <p:txBody>
          <a:bodyPr wrap="none" rtlCol="0" lIns="0" rIns="0" tIns="0" bIns="0">
            <a:spAutoFit/>
          </a:bodyPr>
          <a:lstStyle>
            <a:defPPr>
              <a:defRPr lang="en-US">
                <a:latin typeface="微软雅黑"/>
                <a:ea typeface="微软雅黑"/>
                <a:cs typeface="微软雅黑"/>
              </a:defRPr>
            </a:defPPr>
            <a:lvl1pPr marR="0" lvl="0" indent="0" fontAlgn="auto">
              <a:lnSpc>
                <a:spcPct val="100000"/>
              </a:lnSpc>
              <a:spcBef>
                <a:spcPts val="0"/>
              </a:spcBef>
              <a:spcAft>
                <a:spcPts val="0"/>
              </a:spcAft>
              <a:buClrTx/>
              <a:buSzTx/>
              <a:buFontTx/>
              <a:buNone/>
              <a:defRPr kumimoji="1" sz="1200" b="1" i="0" u="none" strike="noStrike" normalizeH="0" baseline="0">
                <a:solidFill>
                  <a:srgbClr val="0042FF"/>
                </a:solidFill>
                <a:uLnTx/>
                <a:uFillTx/>
                <a:latin typeface="微软雅黑"/>
                <a:ea typeface="微软雅黑"/>
                <a:cs typeface="微软雅黑"/>
              </a:defRPr>
            </a:lvl1pPr>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rPr>
              <a:t>目的</a:t>
            </a:r>
            <a:endPar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2" name="文本框 21"/>
          <p:cNvSpPr txBox="1"/>
          <p:nvPr/>
        </p:nvSpPr>
        <p:spPr>
          <a:xfrm>
            <a:off x="2636125" y="3276665"/>
            <a:ext cx="492443" cy="276999"/>
          </a:xfrm>
          <a:prstGeom prst="rect">
            <a:avLst/>
          </a:prstGeom>
          <a:noFill/>
        </p:spPr>
        <p:txBody>
          <a:bodyPr wrap="none" rtlCol="0" lIns="0" rIns="0" tIns="0" bIns="0">
            <a:spAutoFit/>
          </a:bodyPr>
          <a:lstStyle>
            <a:defPPr>
              <a:defRPr lang="en-US">
                <a:latin typeface="微软雅黑"/>
                <a:ea typeface="微软雅黑"/>
                <a:cs typeface="微软雅黑"/>
              </a:defRPr>
            </a:defPPr>
            <a:lvl1pPr marR="0" lvl="0" indent="0" fontAlgn="auto">
              <a:lnSpc>
                <a:spcPct val="100000"/>
              </a:lnSpc>
              <a:spcBef>
                <a:spcPts val="0"/>
              </a:spcBef>
              <a:spcAft>
                <a:spcPts val="0"/>
              </a:spcAft>
              <a:buClrTx/>
              <a:buSzTx/>
              <a:buFontTx/>
              <a:buNone/>
              <a:defRPr kumimoji="1" sz="1200" b="1" i="0" u="none" strike="noStrike" normalizeH="0" baseline="0">
                <a:solidFill>
                  <a:srgbClr val="383838"/>
                </a:solidFill>
                <a:uLnTx/>
                <a:uFillTx/>
                <a:latin typeface="微软雅黑"/>
                <a:ea typeface="微软雅黑"/>
                <a:cs typeface="微软雅黑"/>
              </a:defRPr>
            </a:lvl1pPr>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rPr>
              <a:t>依据</a:t>
            </a:r>
            <a:endPar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 name="文本框 22"/>
          <p:cNvSpPr txBox="1"/>
          <p:nvPr/>
        </p:nvSpPr>
        <p:spPr>
          <a:xfrm>
            <a:off x="1308016" y="4079427"/>
            <a:ext cx="800219" cy="276999"/>
          </a:xfrm>
          <a:prstGeom prst="rect">
            <a:avLst/>
          </a:prstGeom>
          <a:noFill/>
        </p:spPr>
        <p:txBody>
          <a:bodyPr wrap="none" rtlCol="0" lIns="0" rIns="0" tIns="0" bIns="0">
            <a:spAutoFit/>
          </a:bodyPr>
          <a:lstStyle>
            <a:defPPr>
              <a:defRPr lang="en-US">
                <a:latin typeface="微软雅黑"/>
                <a:ea typeface="微软雅黑"/>
                <a:cs typeface="微软雅黑"/>
              </a:defRPr>
            </a:defPPr>
            <a:lvl1pPr marR="0" lvl="0" indent="0" fontAlgn="auto">
              <a:lnSpc>
                <a:spcPct val="100000"/>
              </a:lnSpc>
              <a:spcBef>
                <a:spcPts val="0"/>
              </a:spcBef>
              <a:spcAft>
                <a:spcPts val="0"/>
              </a:spcAft>
              <a:buClrTx/>
              <a:buSzTx/>
              <a:buFontTx/>
              <a:buNone/>
              <a:defRPr kumimoji="1" sz="1200" b="1" i="0" u="none" strike="noStrike" normalizeH="0" baseline="0">
                <a:solidFill>
                  <a:srgbClr val="0042FF"/>
                </a:solidFill>
                <a:uLnTx/>
                <a:uFillTx/>
                <a:latin typeface="微软雅黑"/>
                <a:ea typeface="微软雅黑"/>
                <a:cs typeface="微软雅黑"/>
              </a:defRPr>
            </a:lvl1pPr>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rPr>
              <a:t>研究综述</a:t>
            </a:r>
            <a:endPar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 name="文本框 23"/>
          <p:cNvSpPr txBox="1"/>
          <p:nvPr/>
        </p:nvSpPr>
        <p:spPr>
          <a:xfrm>
            <a:off x="2389500" y="4079427"/>
            <a:ext cx="492443" cy="276999"/>
          </a:xfrm>
          <a:prstGeom prst="rect">
            <a:avLst/>
          </a:prstGeom>
          <a:noFill/>
        </p:spPr>
        <p:txBody>
          <a:bodyPr wrap="none" rtlCol="0" lIns="0" rIns="0" tIns="0" bIns="0">
            <a:spAutoFit/>
          </a:bodyPr>
          <a:lstStyle>
            <a:defPPr>
              <a:defRPr lang="en-US">
                <a:latin typeface="微软雅黑"/>
                <a:ea typeface="微软雅黑"/>
                <a:cs typeface="微软雅黑"/>
              </a:defRPr>
            </a:defPPr>
            <a:lvl1pPr marR="0" lvl="0" indent="0" fontAlgn="auto">
              <a:lnSpc>
                <a:spcPct val="100000"/>
              </a:lnSpc>
              <a:spcBef>
                <a:spcPts val="0"/>
              </a:spcBef>
              <a:spcAft>
                <a:spcPts val="0"/>
              </a:spcAft>
              <a:buClrTx/>
              <a:buSzTx/>
              <a:buFontTx/>
              <a:buNone/>
              <a:defRPr kumimoji="1" sz="1200" b="1" i="0" u="none" strike="noStrike" normalizeH="0" baseline="0">
                <a:solidFill>
                  <a:srgbClr val="0042FF"/>
                </a:solidFill>
                <a:uLnTx/>
                <a:uFillTx/>
                <a:latin typeface="微软雅黑"/>
                <a:ea typeface="微软雅黑"/>
                <a:cs typeface="微软雅黑"/>
              </a:defRPr>
            </a:lvl1pPr>
          </a:lstStyle>
          <a:p>
            <a:pPr marL="0" marR="0" lvl="0" indent="0" algn="l"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rPr>
              <a:t>路线</a:t>
            </a:r>
            <a:endParaRPr kumimoji="1" lang="zh-CN" altLang="en-US" sz="12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5" name="椭圆 24"/>
          <p:cNvSpPr/>
          <p:nvPr/>
        </p:nvSpPr>
        <p:spPr>
          <a:xfrm>
            <a:off x="1659820" y="3031306"/>
            <a:ext cx="847112" cy="847112"/>
          </a:xfrm>
          <a:prstGeom prst="ellipse">
            <a:avLst/>
          </a:prstGeom>
          <a:solidFill>
            <a:srgbClr val="3368FF"/>
          </a:solidFill>
          <a:ln>
            <a:noFill/>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6" name="椭圆 25"/>
          <p:cNvSpPr/>
          <p:nvPr/>
        </p:nvSpPr>
        <p:spPr>
          <a:xfrm>
            <a:off x="1531028" y="2902514"/>
            <a:ext cx="1104694" cy="1104694"/>
          </a:xfrm>
          <a:prstGeom prst="ellipse">
            <a:avLst/>
          </a:prstGeom>
          <a:noFill/>
          <a:ln w="6350">
            <a:solidFill>
              <a:srgbClr val="3368FF"/>
            </a:solidFill>
            <a:prstDash val="dash"/>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7" name="文本框 26"/>
          <p:cNvSpPr txBox="1"/>
          <p:nvPr/>
        </p:nvSpPr>
        <p:spPr>
          <a:xfrm>
            <a:off x="1811506" y="3193251"/>
            <a:ext cx="543739" cy="523220"/>
          </a:xfrm>
          <a:prstGeom prst="rect">
            <a:avLst/>
          </a:prstGeom>
          <a:noFill/>
        </p:spPr>
        <p:txBody>
          <a:bodyPr wrap="none" lIns="0" rIns="0" tIns="0" bIns="0">
            <a:spAutoFit/>
          </a:bodyPr>
          <a:lstStyle>
            <a:defPPr>
              <a:defRPr lang="en-US">
                <a:solidFill>
                  <a:srgbClr val="FFFFFF"/>
                </a:solidFill>
                <a:latin typeface="微软雅黑"/>
                <a:ea typeface="微软雅黑"/>
                <a:cs typeface="微软雅黑"/>
              </a:defRPr>
            </a:defPPr>
            <a:lvl1pPr marR="0" lvl="0" indent="0" algn="ctr" defTabSz="914400" fontAlgn="auto">
              <a:lnSpc>
                <a:spcPct val="100000"/>
              </a:lnSpc>
              <a:spcBef>
                <a:spcPts val="0"/>
              </a:spcBef>
              <a:spcAft>
                <a:spcPts val="0"/>
              </a:spcAft>
              <a:buClrTx/>
              <a:buSzTx/>
              <a:buFontTx/>
              <a:buNone/>
              <a:defRPr kumimoji="0" b="1"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研究</a:t>
            </a:r>
            <a:endPar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总论</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8" name="椭圆 27"/>
          <p:cNvSpPr/>
          <p:nvPr/>
        </p:nvSpPr>
        <p:spPr>
          <a:xfrm rot="5400000">
            <a:off x="2021004" y="2823690"/>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9" name="椭圆 28"/>
          <p:cNvSpPr/>
          <p:nvPr/>
        </p:nvSpPr>
        <p:spPr>
          <a:xfrm rot="5400000">
            <a:off x="2051204" y="2853889"/>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0" name="椭圆 29"/>
          <p:cNvSpPr/>
          <p:nvPr/>
        </p:nvSpPr>
        <p:spPr>
          <a:xfrm rot="5400000">
            <a:off x="2561965" y="3216721"/>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1" name="椭圆 30"/>
          <p:cNvSpPr/>
          <p:nvPr/>
        </p:nvSpPr>
        <p:spPr>
          <a:xfrm rot="5400000">
            <a:off x="2592165" y="3246920"/>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2" name="椭圆 31"/>
          <p:cNvSpPr/>
          <p:nvPr/>
        </p:nvSpPr>
        <p:spPr>
          <a:xfrm rot="5400000">
            <a:off x="2355336" y="3852659"/>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3" name="椭圆 32"/>
          <p:cNvSpPr/>
          <p:nvPr/>
        </p:nvSpPr>
        <p:spPr>
          <a:xfrm rot="5400000">
            <a:off x="2385536" y="3882858"/>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4" name="椭圆 33"/>
          <p:cNvSpPr/>
          <p:nvPr/>
        </p:nvSpPr>
        <p:spPr>
          <a:xfrm rot="5400000">
            <a:off x="1686672" y="3852659"/>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5" name="椭圆 34"/>
          <p:cNvSpPr/>
          <p:nvPr/>
        </p:nvSpPr>
        <p:spPr>
          <a:xfrm rot="5400000">
            <a:off x="1716872" y="3882858"/>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6" name="椭圆 35"/>
          <p:cNvSpPr/>
          <p:nvPr/>
        </p:nvSpPr>
        <p:spPr>
          <a:xfrm rot="5400000">
            <a:off x="1480043" y="3216721"/>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1" name="椭圆 70"/>
          <p:cNvSpPr/>
          <p:nvPr/>
        </p:nvSpPr>
        <p:spPr>
          <a:xfrm rot="5400000">
            <a:off x="1510243" y="3246920"/>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72" name="任意形状 108"/>
          <p:cNvSpPr/>
          <p:nvPr/>
        </p:nvSpPr>
        <p:spPr>
          <a:xfrm rot="5400000">
            <a:off x="4855466" y="2372156"/>
            <a:ext cx="1570524" cy="2178848"/>
          </a:xfrm>
          <a:custGeom>
            <a:avLst/>
            <a:gdLst>
              <a:gd name="connsiteX0" fmla="*/ 987389 w 1948800"/>
              <a:gd name="connsiteY0" fmla="*/ 0 h 3381339"/>
              <a:gd name="connsiteX1" fmla="*/ 1065440 w 1948800"/>
              <a:gd name="connsiteY1" fmla="*/ 134048 h 3381339"/>
              <a:gd name="connsiteX2" fmla="*/ 1224232 w 1948800"/>
              <a:gd name="connsiteY2" fmla="*/ 366820 h 3381339"/>
              <a:gd name="connsiteX3" fmla="*/ 1752372 w 1948800"/>
              <a:gd name="connsiteY3" fmla="*/ 948285 h 3381339"/>
              <a:gd name="connsiteX4" fmla="*/ 1814404 w 1948800"/>
              <a:gd name="connsiteY4" fmla="*/ 996658 h 3381339"/>
              <a:gd name="connsiteX5" fmla="*/ 1520156 w 1948800"/>
              <a:gd name="connsiteY5" fmla="*/ 996658 h 3381339"/>
              <a:gd name="connsiteX6" fmla="*/ 1948800 w 1948800"/>
              <a:gd name="connsiteY6" fmla="*/ 3381339 h 3381339"/>
              <a:gd name="connsiteX7" fmla="*/ 0 w 1948800"/>
              <a:gd name="connsiteY7" fmla="*/ 3381339 h 3381339"/>
              <a:gd name="connsiteX8" fmla="*/ 454622 w 1948800"/>
              <a:gd name="connsiteY8" fmla="*/ 996658 h 3381339"/>
              <a:gd name="connsiteX9" fmla="*/ 160372 w 1948800"/>
              <a:gd name="connsiteY9" fmla="*/ 996658 h 3381339"/>
              <a:gd name="connsiteX10" fmla="*/ 222407 w 1948800"/>
              <a:gd name="connsiteY10" fmla="*/ 948283 h 3381339"/>
              <a:gd name="connsiteX11" fmla="*/ 750546 w 1948800"/>
              <a:gd name="connsiteY11" fmla="*/ 366818 h 3381339"/>
              <a:gd name="connsiteX12" fmla="*/ 909338 w 1948800"/>
              <a:gd name="connsiteY12" fmla="*/ 134046 h 3381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8800" h="3381339">
                <a:moveTo>
                  <a:pt x="987389" y="0"/>
                </a:moveTo>
                <a:lnTo>
                  <a:pt x="1065440" y="134048"/>
                </a:lnTo>
                <a:cubicBezTo>
                  <a:pt x="1114125" y="211149"/>
                  <a:pt x="1167154" y="289054"/>
                  <a:pt x="1224232" y="366820"/>
                </a:cubicBezTo>
                <a:cubicBezTo>
                  <a:pt x="1395467" y="600117"/>
                  <a:pt x="1578827" y="799026"/>
                  <a:pt x="1752372" y="948285"/>
                </a:cubicBezTo>
                <a:lnTo>
                  <a:pt x="1814404" y="996658"/>
                </a:lnTo>
                <a:lnTo>
                  <a:pt x="1520156" y="996658"/>
                </a:lnTo>
                <a:cubicBezTo>
                  <a:pt x="1476860" y="1931308"/>
                  <a:pt x="1745303" y="2686273"/>
                  <a:pt x="1948800" y="3381339"/>
                </a:cubicBezTo>
                <a:lnTo>
                  <a:pt x="0" y="3381339"/>
                </a:lnTo>
                <a:cubicBezTo>
                  <a:pt x="238135" y="2646340"/>
                  <a:pt x="450292" y="1851448"/>
                  <a:pt x="454622" y="996658"/>
                </a:cubicBezTo>
                <a:lnTo>
                  <a:pt x="160372" y="996658"/>
                </a:lnTo>
                <a:lnTo>
                  <a:pt x="222407" y="948283"/>
                </a:lnTo>
                <a:cubicBezTo>
                  <a:pt x="395951" y="799024"/>
                  <a:pt x="579312" y="600115"/>
                  <a:pt x="750546" y="366818"/>
                </a:cubicBezTo>
                <a:cubicBezTo>
                  <a:pt x="807625" y="289052"/>
                  <a:pt x="860654" y="211147"/>
                  <a:pt x="909338" y="134046"/>
                </a:cubicBezTo>
                <a:close/>
              </a:path>
            </a:pathLst>
          </a:custGeom>
          <a:gradFill flip="none" rotWithShape="1">
            <a:gsLst>
              <a:gs pos="0">
                <a:srgbClr val="3368FF">
                  <a:alpha val="0"/>
                </a:srgbClr>
              </a:gs>
              <a:gs pos="73000">
                <a:srgbClr val="3368FF">
                  <a:alpha val="60000"/>
                </a:srgbClr>
              </a:gs>
              <a:gs pos="100000">
                <a:srgbClr val="3368FF">
                  <a:alpha val="50000"/>
                </a:srgbClr>
              </a:gs>
            </a:gsLst>
            <a:lin ang="162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55">
              <a:solidFill>
                <a:srgbClr val="383838"/>
              </a:solidFill>
              <a:latin typeface="微软雅黑"/>
              <a:ea typeface="微软雅黑"/>
              <a:cs typeface="微软雅黑"/>
              <a:sym typeface="微软雅黑"/>
            </a:endParaRPr>
          </a:p>
        </p:txBody>
      </p:sp>
      <p:sp>
        <p:nvSpPr>
          <p:cNvPr id="75" name="文本框 74"/>
          <p:cNvSpPr txBox="1"/>
          <p:nvPr/>
        </p:nvSpPr>
        <p:spPr>
          <a:xfrm>
            <a:off x="3827411" y="2614927"/>
            <a:ext cx="492443" cy="276999"/>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rPr>
              <a:t>内涵</a:t>
            </a:r>
            <a:endParaRPr lang="zh-CN" altLang="en-US" dirty="0">
              <a:solidFill>
                <a:srgbClr val="383838"/>
              </a:solidFill>
              <a:latin typeface="微软雅黑"/>
              <a:ea typeface="微软雅黑"/>
              <a:cs typeface="微软雅黑"/>
            </a:endParaRPr>
          </a:p>
        </p:txBody>
      </p:sp>
      <p:sp>
        <p:nvSpPr>
          <p:cNvPr id="76" name="文本框 75"/>
          <p:cNvSpPr txBox="1"/>
          <p:nvPr/>
        </p:nvSpPr>
        <p:spPr>
          <a:xfrm>
            <a:off x="3742508" y="3294862"/>
            <a:ext cx="492443" cy="276999"/>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rPr>
              <a:t>分类</a:t>
            </a:r>
            <a:endParaRPr lang="zh-CN" altLang="en-US" dirty="0">
              <a:solidFill>
                <a:srgbClr val="383838"/>
              </a:solidFill>
              <a:latin typeface="微软雅黑"/>
              <a:ea typeface="微软雅黑"/>
              <a:cs typeface="微软雅黑"/>
            </a:endParaRPr>
          </a:p>
        </p:txBody>
      </p:sp>
      <p:sp>
        <p:nvSpPr>
          <p:cNvPr id="77" name="文本框 76"/>
          <p:cNvSpPr txBox="1"/>
          <p:nvPr/>
        </p:nvSpPr>
        <p:spPr>
          <a:xfrm>
            <a:off x="3827411" y="4038019"/>
            <a:ext cx="492443" cy="276999"/>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defRPr>
                <a:latin typeface="微软雅黑"/>
                <a:ea typeface="微软雅黑"/>
                <a:cs typeface="微软雅黑"/>
              </a:defRPr>
            </a:pPr>
            <a:r>
              <a:rPr lang="zh-CN" altLang="en-US" dirty="0">
                <a:solidFill>
                  <a:srgbClr val="383838"/>
                </a:solidFill>
                <a:latin typeface="微软雅黑"/>
                <a:ea typeface="微软雅黑"/>
                <a:cs typeface="微软雅黑"/>
              </a:rPr>
              <a:t>特点</a:t>
            </a:r>
            <a:endParaRPr lang="zh-CN" altLang="en-US" dirty="0">
              <a:solidFill>
                <a:srgbClr val="383838"/>
              </a:solidFill>
              <a:latin typeface="微软雅黑"/>
              <a:ea typeface="微软雅黑"/>
              <a:cs typeface="微软雅黑"/>
            </a:endParaRPr>
          </a:p>
        </p:txBody>
      </p:sp>
      <p:sp>
        <p:nvSpPr>
          <p:cNvPr id="78" name="椭圆 77"/>
          <p:cNvSpPr/>
          <p:nvPr/>
        </p:nvSpPr>
        <p:spPr>
          <a:xfrm rot="5400000">
            <a:off x="3539044" y="3262489"/>
            <a:ext cx="2028544" cy="405463"/>
          </a:xfrm>
          <a:prstGeom prst="ellipse">
            <a:avLst/>
          </a:prstGeom>
          <a:gradFill flip="none" rotWithShape="1">
            <a:gsLst>
              <a:gs pos="57000">
                <a:srgbClr val="3368FF">
                  <a:alpha val="0"/>
                </a:srgbClr>
              </a:gs>
              <a:gs pos="100000">
                <a:srgbClr val="3368FF">
                  <a:alpha val="70000"/>
                </a:srgbClr>
              </a:gs>
            </a:gsLst>
            <a:path path="circle">
              <a:fillToRect l="50000" t="50000" r="50000" b="50000"/>
            </a:path>
            <a:tileRect/>
          </a:gradFill>
          <a:ln w="11684">
            <a:gradFill flip="none" rotWithShape="1">
              <a:gsLst>
                <a:gs pos="0">
                  <a:srgbClr val="3368FF">
                    <a:alpha val="0"/>
                  </a:srgbClr>
                </a:gs>
                <a:gs pos="100000">
                  <a:srgbClr val="3368FF">
                    <a:alpha val="50000"/>
                  </a:srgbClr>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55" dirty="0">
              <a:solidFill>
                <a:srgbClr val="383838"/>
              </a:solidFill>
              <a:latin typeface="微软雅黑"/>
              <a:ea typeface="微软雅黑"/>
              <a:cs typeface="微软雅黑"/>
              <a:sym typeface="微软雅黑"/>
            </a:endParaRPr>
          </a:p>
        </p:txBody>
      </p:sp>
      <p:sp>
        <p:nvSpPr>
          <p:cNvPr id="79" name="椭圆 78"/>
          <p:cNvSpPr/>
          <p:nvPr/>
        </p:nvSpPr>
        <p:spPr>
          <a:xfrm rot="5400000">
            <a:off x="3338263" y="3197279"/>
            <a:ext cx="2381936" cy="528600"/>
          </a:xfrm>
          <a:prstGeom prst="ellipse">
            <a:avLst/>
          </a:prstGeom>
          <a:noFill/>
          <a:ln w="6350">
            <a:gradFill>
              <a:gsLst>
                <a:gs pos="24000">
                  <a:srgbClr val="3368FF">
                    <a:alpha val="0"/>
                  </a:srgbClr>
                </a:gs>
                <a:gs pos="100000">
                  <a:srgbClr val="3368FF"/>
                </a:gs>
              </a:gsLst>
              <a:lin ang="5400000" scaled="1"/>
            </a:gradFill>
            <a:prstDash val="lgDash"/>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sp>
        <p:nvSpPr>
          <p:cNvPr id="80" name="椭圆 79"/>
          <p:cNvSpPr/>
          <p:nvPr/>
        </p:nvSpPr>
        <p:spPr>
          <a:xfrm rot="5400000">
            <a:off x="4651138" y="3262488"/>
            <a:ext cx="2028546" cy="405464"/>
          </a:xfrm>
          <a:prstGeom prst="ellipse">
            <a:avLst/>
          </a:prstGeom>
          <a:gradFill flip="none" rotWithShape="1">
            <a:gsLst>
              <a:gs pos="57000">
                <a:srgbClr val="3368FF">
                  <a:alpha val="0"/>
                </a:srgbClr>
              </a:gs>
              <a:gs pos="100000">
                <a:srgbClr val="3368FF">
                  <a:alpha val="70000"/>
                </a:srgbClr>
              </a:gs>
            </a:gsLst>
            <a:path path="circle">
              <a:fillToRect l="50000" t="50000" r="50000" b="50000"/>
            </a:path>
            <a:tileRect/>
          </a:gradFill>
          <a:ln w="11684">
            <a:gradFill flip="none" rotWithShape="1">
              <a:gsLst>
                <a:gs pos="0">
                  <a:srgbClr val="3368FF">
                    <a:alpha val="0"/>
                  </a:srgbClr>
                </a:gs>
                <a:gs pos="100000">
                  <a:srgbClr val="3368FF">
                    <a:alpha val="50000"/>
                  </a:srgbClr>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55" dirty="0">
              <a:solidFill>
                <a:srgbClr val="383838"/>
              </a:solidFill>
              <a:latin typeface="微软雅黑"/>
              <a:ea typeface="微软雅黑"/>
              <a:cs typeface="微软雅黑"/>
              <a:sym typeface="微软雅黑"/>
            </a:endParaRPr>
          </a:p>
        </p:txBody>
      </p:sp>
      <p:sp>
        <p:nvSpPr>
          <p:cNvPr id="83" name="椭圆 82"/>
          <p:cNvSpPr/>
          <p:nvPr/>
        </p:nvSpPr>
        <p:spPr>
          <a:xfrm rot="5400000">
            <a:off x="4450366" y="3197278"/>
            <a:ext cx="2381936" cy="528600"/>
          </a:xfrm>
          <a:prstGeom prst="ellipse">
            <a:avLst/>
          </a:prstGeom>
          <a:noFill/>
          <a:ln w="6350">
            <a:gradFill>
              <a:gsLst>
                <a:gs pos="24000">
                  <a:srgbClr val="3368FF">
                    <a:alpha val="0"/>
                  </a:srgbClr>
                </a:gs>
                <a:gs pos="100000">
                  <a:srgbClr val="3368FF"/>
                </a:gs>
              </a:gsLst>
              <a:lin ang="5400000" scaled="1"/>
            </a:gradFill>
            <a:prstDash val="lgDash"/>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sp>
        <p:nvSpPr>
          <p:cNvPr id="86" name="文本框 85"/>
          <p:cNvSpPr txBox="1"/>
          <p:nvPr/>
        </p:nvSpPr>
        <p:spPr>
          <a:xfrm>
            <a:off x="5542770" y="3094427"/>
            <a:ext cx="490220" cy="726440"/>
          </a:xfrm>
          <a:prstGeom prst="rect">
            <a:avLst/>
          </a:prstGeom>
          <a:noFill/>
        </p:spPr>
        <p:txBody>
          <a:bodyPr vert="eaVert" wrap="none" rtlCol="0" lIns="0" rIns="0" tIns="0" bIns="0">
            <a:spAutoFit/>
          </a:bodyPr>
          <a:lstStyle>
            <a:defPPr>
              <a:defRPr lang="en-US">
                <a:latin typeface="微软雅黑"/>
                <a:ea typeface="微软雅黑"/>
                <a:cs typeface="微软雅黑"/>
              </a:defRPr>
            </a:defPPr>
            <a:lvl1pPr marR="0" lvl="0" indent="0" fontAlgn="auto">
              <a:lnSpc>
                <a:spcPct val="100000"/>
              </a:lnSpc>
              <a:spcBef>
                <a:spcPts val="0"/>
              </a:spcBef>
              <a:spcAft>
                <a:spcPts val="0"/>
              </a:spcAft>
              <a:buClrTx/>
              <a:buSzTx/>
              <a:buFontTx/>
              <a:buNone/>
              <a:defRPr kumimoji="1" sz="1200" b="1" i="0" u="none" strike="noStrike" normalizeH="0" baseline="0">
                <a:solidFill>
                  <a:srgbClr val="383838"/>
                </a:solidFill>
                <a:uLnTx/>
                <a:uFillTx/>
                <a:latin typeface="微软雅黑"/>
                <a:ea typeface="微软雅黑"/>
                <a:cs typeface="微软雅黑"/>
              </a:defRPr>
            </a:lvl1p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u="none" strike="noStrike" kern="1200" cap="none" spc="0" normalizeH="0" baseline="0" noProof="0" dirty="0">
                <a:ln>
                  <a:noFill/>
                </a:ln>
                <a:solidFill>
                  <a:srgbClr val="383838"/>
                </a:solidFill>
                <a:effectLst/>
                <a:uLnTx/>
                <a:uFillTx/>
                <a:latin typeface="微软雅黑"/>
                <a:ea typeface="微软雅黑"/>
                <a:cs typeface="微软雅黑"/>
              </a:rPr>
              <a:t>低碳生态规</a:t>
            </a:r>
            <a:endParaRPr kumimoji="1"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u="none" strike="noStrike" kern="1200" cap="none" spc="0" normalizeH="0" baseline="0" noProof="0" dirty="0">
                <a:ln>
                  <a:noFill/>
                </a:ln>
                <a:solidFill>
                  <a:srgbClr val="383838"/>
                </a:solidFill>
                <a:effectLst/>
                <a:uLnTx/>
                <a:uFillTx/>
                <a:latin typeface="微软雅黑"/>
                <a:ea typeface="微软雅黑"/>
                <a:cs typeface="微软雅黑"/>
              </a:rPr>
              <a:t>划侧重点</a:t>
            </a:r>
            <a:endParaRPr kumimoji="1" lang="zh-CN" altLang="en-US"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19" name="椭圆 118"/>
          <p:cNvSpPr/>
          <p:nvPr/>
        </p:nvSpPr>
        <p:spPr>
          <a:xfrm rot="5400000">
            <a:off x="4370524" y="2692033"/>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1" name="椭圆 120"/>
          <p:cNvSpPr/>
          <p:nvPr/>
        </p:nvSpPr>
        <p:spPr>
          <a:xfrm rot="5400000">
            <a:off x="4400724" y="2722232"/>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22" name="椭圆 121"/>
          <p:cNvSpPr/>
          <p:nvPr/>
        </p:nvSpPr>
        <p:spPr>
          <a:xfrm rot="5400000">
            <a:off x="4291443" y="3336834"/>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3" name="椭圆 122"/>
          <p:cNvSpPr/>
          <p:nvPr/>
        </p:nvSpPr>
        <p:spPr>
          <a:xfrm rot="5400000">
            <a:off x="4319738" y="3367033"/>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24" name="椭圆 123"/>
          <p:cNvSpPr/>
          <p:nvPr/>
        </p:nvSpPr>
        <p:spPr>
          <a:xfrm rot="5400000">
            <a:off x="4370524" y="4097808"/>
            <a:ext cx="124742" cy="124742"/>
          </a:xfrm>
          <a:prstGeom prst="ellipse">
            <a:avLst/>
          </a:prstGeom>
          <a:solidFill>
            <a:srgbClr val="FFFFFF"/>
          </a:solidFill>
          <a:ln w="6350">
            <a:solidFill>
              <a:srgbClr val="E6E6E6"/>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0" name="椭圆 129"/>
          <p:cNvSpPr/>
          <p:nvPr/>
        </p:nvSpPr>
        <p:spPr>
          <a:xfrm rot="5400000">
            <a:off x="4400724" y="4128007"/>
            <a:ext cx="64343" cy="64343"/>
          </a:xfrm>
          <a:prstGeom prst="ellipse">
            <a:avLst/>
          </a:prstGeom>
          <a:solidFill>
            <a:srgbClr val="3368FF"/>
          </a:solidFill>
          <a:ln w="6350">
            <a:solidFill>
              <a:srgbClr val="FFFFFF"/>
            </a:solidFill>
            <a:prstDash val="solid"/>
          </a:ln>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132" name="直接箭头连接符 209"/>
          <p:cNvCxnSpPr>
            <a:stCxn id="75" idx="2"/>
          </p:cNvCxnSpPr>
          <p:nvPr/>
        </p:nvCxnSpPr>
        <p:spPr>
          <a:xfrm flipH="1">
            <a:off x="3984791" y="2891926"/>
            <a:ext cx="88842" cy="308042"/>
          </a:xfrm>
          <a:prstGeom prst="straightConnector1">
            <a:avLst/>
          </a:prstGeom>
          <a:ln w="19050" cap="rnd">
            <a:gradFill>
              <a:gsLst>
                <a:gs pos="0">
                  <a:srgbClr val="3368FF">
                    <a:alpha val="0"/>
                  </a:srgbClr>
                </a:gs>
                <a:gs pos="100000">
                  <a:srgbClr val="3368FF"/>
                </a:gs>
              </a:gsLst>
              <a:lin ang="0" scaled="0"/>
            </a:gradFill>
            <a:round/>
            <a:tailEnd type="arrow"/>
          </a:ln>
        </p:spPr>
        <p:style>
          <a:lnRef idx="1">
            <a:srgbClr val="FF4200"/>
          </a:lnRef>
          <a:fillRef idx="0">
            <a:srgbClr val="FF4200"/>
          </a:fillRef>
          <a:effectRef idx="0">
            <a:srgbClr val="FF4200"/>
          </a:effectRef>
          <a:fontRef idx="minor">
            <a:srgbClr val="0042FF"/>
          </a:fontRef>
        </p:style>
      </p:cxnSp>
      <p:cxnSp>
        <p:nvCxnSpPr>
          <p:cNvPr id="133" name="直接箭头连接符 210"/>
          <p:cNvCxnSpPr/>
          <p:nvPr/>
        </p:nvCxnSpPr>
        <p:spPr>
          <a:xfrm>
            <a:off x="3954882" y="3645416"/>
            <a:ext cx="88842" cy="308042"/>
          </a:xfrm>
          <a:prstGeom prst="straightConnector1">
            <a:avLst/>
          </a:prstGeom>
          <a:ln w="19050" cap="rnd">
            <a:gradFill>
              <a:gsLst>
                <a:gs pos="0">
                  <a:srgbClr val="3368FF">
                    <a:alpha val="0"/>
                  </a:srgbClr>
                </a:gs>
                <a:gs pos="100000">
                  <a:srgbClr val="3368FF"/>
                </a:gs>
              </a:gsLst>
              <a:lin ang="0" scaled="0"/>
            </a:gradFill>
            <a:round/>
            <a:tailEnd type="arrow"/>
          </a:ln>
        </p:spPr>
        <p:style>
          <a:lnRef idx="1">
            <a:srgbClr val="FF4200"/>
          </a:lnRef>
          <a:fillRef idx="0">
            <a:srgbClr val="FF4200"/>
          </a:fillRef>
          <a:effectRef idx="0">
            <a:srgbClr val="FF4200"/>
          </a:effectRef>
          <a:fontRef idx="minor">
            <a:srgbClr val="0042FF"/>
          </a:fontRef>
        </p:style>
      </p:cxnSp>
      <p:cxnSp>
        <p:nvCxnSpPr>
          <p:cNvPr id="141" name="直接箭头连接符 211"/>
          <p:cNvCxnSpPr/>
          <p:nvPr/>
        </p:nvCxnSpPr>
        <p:spPr>
          <a:xfrm>
            <a:off x="4732943" y="2753028"/>
            <a:ext cx="359614" cy="0"/>
          </a:xfrm>
          <a:prstGeom prst="straightConnector1">
            <a:avLst/>
          </a:prstGeom>
          <a:ln w="19050" cap="rnd">
            <a:gradFill>
              <a:gsLst>
                <a:gs pos="0">
                  <a:srgbClr val="3368FF">
                    <a:alpha val="0"/>
                  </a:srgbClr>
                </a:gs>
                <a:gs pos="100000">
                  <a:srgbClr val="3368FF"/>
                </a:gs>
              </a:gsLst>
              <a:lin ang="0" scaled="0"/>
            </a:gradFill>
            <a:round/>
            <a:tailEnd type="arrow"/>
          </a:ln>
        </p:spPr>
        <p:style>
          <a:lnRef idx="1">
            <a:srgbClr val="FF4200"/>
          </a:lnRef>
          <a:fillRef idx="0">
            <a:srgbClr val="FF4200"/>
          </a:fillRef>
          <a:effectRef idx="0">
            <a:srgbClr val="FF4200"/>
          </a:effectRef>
          <a:fontRef idx="minor">
            <a:srgbClr val="0042FF"/>
          </a:fontRef>
        </p:style>
      </p:cxnSp>
      <p:cxnSp>
        <p:nvCxnSpPr>
          <p:cNvPr id="142" name="直接箭头连接符 214"/>
          <p:cNvCxnSpPr/>
          <p:nvPr/>
        </p:nvCxnSpPr>
        <p:spPr>
          <a:xfrm>
            <a:off x="4732943" y="4157468"/>
            <a:ext cx="359614" cy="0"/>
          </a:xfrm>
          <a:prstGeom prst="straightConnector1">
            <a:avLst/>
          </a:prstGeom>
          <a:ln w="19050" cap="rnd">
            <a:gradFill>
              <a:gsLst>
                <a:gs pos="0">
                  <a:srgbClr val="3368FF">
                    <a:alpha val="0"/>
                  </a:srgbClr>
                </a:gs>
                <a:gs pos="100000">
                  <a:srgbClr val="3368FF"/>
                </a:gs>
              </a:gsLst>
              <a:lin ang="0" scaled="0"/>
            </a:gradFill>
            <a:round/>
            <a:tailEnd type="arrow"/>
          </a:ln>
        </p:spPr>
        <p:style>
          <a:lnRef idx="1">
            <a:srgbClr val="FF4200"/>
          </a:lnRef>
          <a:fillRef idx="0">
            <a:srgbClr val="FF4200"/>
          </a:fillRef>
          <a:effectRef idx="0">
            <a:srgbClr val="FF4200"/>
          </a:effectRef>
          <a:fontRef idx="minor">
            <a:srgbClr val="0042FF"/>
          </a:fontRef>
        </p:style>
      </p:cxnSp>
      <p:sp>
        <p:nvSpPr>
          <p:cNvPr id="143" name="矩形: 圆角 157"/>
          <p:cNvSpPr/>
          <p:nvPr/>
        </p:nvSpPr>
        <p:spPr>
          <a:xfrm>
            <a:off x="7101341" y="3239486"/>
            <a:ext cx="1428819" cy="538511"/>
          </a:xfrm>
          <a:prstGeom prst="roundRect">
            <a:avLst>
              <a:gd name="adj" fmla="val 13000"/>
            </a:avLst>
          </a:prstGeom>
          <a:solidFill>
            <a:srgbClr val="3368FF"/>
          </a:solidFill>
          <a:ln>
            <a:noFill/>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4" name="矩形: 圆角 158"/>
          <p:cNvSpPr/>
          <p:nvPr/>
        </p:nvSpPr>
        <p:spPr>
          <a:xfrm>
            <a:off x="7039824" y="3193910"/>
            <a:ext cx="1551852" cy="629662"/>
          </a:xfrm>
          <a:prstGeom prst="roundRect">
            <a:avLst>
              <a:gd name="adj" fmla="val 13000"/>
            </a:avLst>
          </a:prstGeom>
          <a:noFill/>
          <a:ln w="6350">
            <a:solidFill>
              <a:srgbClr val="3368FF"/>
            </a:solidFill>
            <a:prstDash val="dash"/>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solidFill>
                  <a:srgbClr val="FFFFFF"/>
                </a:solidFill>
                <a:latin typeface="微软雅黑"/>
                <a:ea typeface="微软雅黑"/>
                <a:cs typeface="微软雅黑"/>
              </a:defRPr>
            </a:pPr>
            <a:endParaRPr kumimoji="1" lang="zh-CN" altLang="en-US" noProof="0" dirty="0">
              <a:ln>
                <a:noFill/>
              </a:ln>
              <a:solidFill>
                <a:srgbClr val="FFFFFF"/>
              </a:solidFill>
              <a:effectLst/>
              <a:uLnTx/>
              <a:uFillTx/>
              <a:latin typeface="微软雅黑"/>
              <a:ea typeface="微软雅黑"/>
              <a:cs typeface="微软雅黑"/>
              <a:sym typeface="微软雅黑"/>
            </a:endParaRPr>
          </a:p>
        </p:txBody>
      </p:sp>
      <p:sp>
        <p:nvSpPr>
          <p:cNvPr id="145" name="文本框 144"/>
          <p:cNvSpPr txBox="1"/>
          <p:nvPr/>
        </p:nvSpPr>
        <p:spPr>
          <a:xfrm>
            <a:off x="7186930" y="3276600"/>
            <a:ext cx="1259840" cy="460375"/>
          </a:xfrm>
          <a:prstGeom prst="rect">
            <a:avLst/>
          </a:prstGeom>
          <a:noFill/>
        </p:spPr>
        <p:txBody>
          <a:bodyPr wrap="square" lIns="0" rIns="0" tIns="0" bIns="0">
            <a:spAutoFit/>
          </a:bodyPr>
          <a:lstStyle>
            <a:defPPr>
              <a:defRPr lang="en-US">
                <a:solidFill>
                  <a:srgbClr val="FFFFFF"/>
                </a:solidFill>
                <a:latin typeface="微软雅黑"/>
                <a:ea typeface="微软雅黑"/>
                <a:cs typeface="微软雅黑"/>
              </a:defRPr>
            </a:defPPr>
            <a:lvl1pPr marR="0" lvl="0" indent="0" algn="ctr" defTabSz="914400" fontAlgn="auto">
              <a:lnSpc>
                <a:spcPct val="100000"/>
              </a:lnSpc>
              <a:spcBef>
                <a:spcPts val="0"/>
              </a:spcBef>
              <a:spcAft>
                <a:spcPts val="0"/>
              </a:spcAft>
              <a:buClrTx/>
              <a:buSzTx/>
              <a:buFontTx/>
              <a:buNone/>
              <a:defRPr kumimoji="0" b="1"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rPr>
              <a:t>典型功能区</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rPr>
              <a:t>指标体系设计</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6" name="文本框 145"/>
          <p:cNvSpPr txBox="1"/>
          <p:nvPr/>
        </p:nvSpPr>
        <p:spPr>
          <a:xfrm>
            <a:off x="7011501" y="2466064"/>
            <a:ext cx="492443" cy="461665"/>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技术</a:t>
            </a:r>
            <a:endParaRPr lang="en-US" altLang="zh-CN"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dirty="0">
                <a:solidFill>
                  <a:srgbClr val="383838"/>
                </a:solidFill>
                <a:latin typeface="微软雅黑"/>
                <a:ea typeface="微软雅黑"/>
                <a:cs typeface="微软雅黑"/>
              </a:rPr>
              <a:t>路线</a:t>
            </a:r>
            <a:endParaRPr lang="zh-CN" altLang="en-US" dirty="0">
              <a:solidFill>
                <a:srgbClr val="383838"/>
              </a:solidFill>
              <a:latin typeface="微软雅黑"/>
              <a:ea typeface="微软雅黑"/>
              <a:cs typeface="微软雅黑"/>
            </a:endParaRPr>
          </a:p>
        </p:txBody>
      </p:sp>
      <p:sp>
        <p:nvSpPr>
          <p:cNvPr id="147" name="文本框 146"/>
          <p:cNvSpPr txBox="1"/>
          <p:nvPr/>
        </p:nvSpPr>
        <p:spPr>
          <a:xfrm>
            <a:off x="8089488" y="2466064"/>
            <a:ext cx="492443" cy="461665"/>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框架</a:t>
            </a:r>
            <a:endParaRPr lang="en-US" altLang="zh-CN"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dirty="0">
                <a:solidFill>
                  <a:srgbClr val="383838"/>
                </a:solidFill>
                <a:latin typeface="微软雅黑"/>
                <a:ea typeface="微软雅黑"/>
                <a:cs typeface="微软雅黑"/>
              </a:rPr>
              <a:t>构建</a:t>
            </a:r>
            <a:endParaRPr lang="zh-CN" altLang="en-US" dirty="0">
              <a:solidFill>
                <a:srgbClr val="383838"/>
              </a:solidFill>
              <a:latin typeface="微软雅黑"/>
              <a:ea typeface="微软雅黑"/>
              <a:cs typeface="微软雅黑"/>
            </a:endParaRPr>
          </a:p>
        </p:txBody>
      </p:sp>
      <p:sp>
        <p:nvSpPr>
          <p:cNvPr id="148" name="文本框 147"/>
          <p:cNvSpPr txBox="1"/>
          <p:nvPr/>
        </p:nvSpPr>
        <p:spPr>
          <a:xfrm>
            <a:off x="7011501" y="3956159"/>
            <a:ext cx="492443" cy="461665"/>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指标</a:t>
            </a:r>
            <a:endParaRPr lang="en-US" altLang="zh-CN"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dirty="0">
                <a:solidFill>
                  <a:srgbClr val="383838"/>
                </a:solidFill>
                <a:latin typeface="微软雅黑"/>
                <a:ea typeface="微软雅黑"/>
                <a:cs typeface="微软雅黑"/>
              </a:rPr>
              <a:t>设计</a:t>
            </a:r>
            <a:endParaRPr lang="zh-CN" altLang="en-US" dirty="0">
              <a:solidFill>
                <a:srgbClr val="383838"/>
              </a:solidFill>
              <a:latin typeface="微软雅黑"/>
              <a:ea typeface="微软雅黑"/>
              <a:cs typeface="微软雅黑"/>
            </a:endParaRPr>
          </a:p>
        </p:txBody>
      </p:sp>
      <p:sp>
        <p:nvSpPr>
          <p:cNvPr id="162" name="文本框 161"/>
          <p:cNvSpPr txBox="1"/>
          <p:nvPr/>
        </p:nvSpPr>
        <p:spPr>
          <a:xfrm>
            <a:off x="8089488" y="3956159"/>
            <a:ext cx="492443" cy="461665"/>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标准</a:t>
            </a:r>
            <a:endParaRPr lang="en-US" altLang="zh-CN"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dirty="0">
                <a:solidFill>
                  <a:srgbClr val="383838"/>
                </a:solidFill>
                <a:latin typeface="微软雅黑"/>
                <a:ea typeface="微软雅黑"/>
                <a:cs typeface="微软雅黑"/>
              </a:rPr>
              <a:t>量化</a:t>
            </a:r>
            <a:endParaRPr lang="zh-CN" altLang="en-US" dirty="0">
              <a:solidFill>
                <a:srgbClr val="383838"/>
              </a:solidFill>
              <a:latin typeface="微软雅黑"/>
              <a:ea typeface="微软雅黑"/>
              <a:cs typeface="微软雅黑"/>
            </a:endParaRPr>
          </a:p>
        </p:txBody>
      </p:sp>
      <p:sp>
        <p:nvSpPr>
          <p:cNvPr id="168" name="菱形 167"/>
          <p:cNvSpPr/>
          <p:nvPr/>
        </p:nvSpPr>
        <p:spPr>
          <a:xfrm>
            <a:off x="6930169" y="2886067"/>
            <a:ext cx="655107" cy="61785"/>
          </a:xfrm>
          <a:prstGeom prst="diamond">
            <a:avLst/>
          </a:prstGeom>
          <a:solidFill>
            <a:srgbClr val="FFFFFF"/>
          </a:solidFill>
          <a:ln w="25400">
            <a:gradFill>
              <a:gsLst>
                <a:gs pos="23000">
                  <a:srgbClr val="3368FF">
                    <a:alpha val="0"/>
                  </a:srgbClr>
                </a:gs>
                <a:gs pos="100000">
                  <a:srgbClr val="3368FF"/>
                </a:gs>
              </a:gsLst>
              <a:lin ang="5400000" scaled="1"/>
            </a:gradFill>
          </a:ln>
          <a:effectLst>
            <a:outerShdw blurRad="127000" dist="88900" dir="5400000" algn="t" rotWithShape="0">
              <a:srgbClr val="3368FF">
                <a:alpha val="38000"/>
              </a:srgbClr>
            </a:outerShdw>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sp>
        <p:nvSpPr>
          <p:cNvPr id="172" name="菱形 171"/>
          <p:cNvSpPr/>
          <p:nvPr/>
        </p:nvSpPr>
        <p:spPr>
          <a:xfrm>
            <a:off x="8008156" y="2886067"/>
            <a:ext cx="655107" cy="61785"/>
          </a:xfrm>
          <a:prstGeom prst="diamond">
            <a:avLst/>
          </a:prstGeom>
          <a:solidFill>
            <a:srgbClr val="FFFFFF"/>
          </a:solidFill>
          <a:ln w="25400">
            <a:gradFill>
              <a:gsLst>
                <a:gs pos="23000">
                  <a:srgbClr val="3368FF">
                    <a:alpha val="0"/>
                  </a:srgbClr>
                </a:gs>
                <a:gs pos="100000">
                  <a:srgbClr val="3368FF"/>
                </a:gs>
              </a:gsLst>
              <a:lin ang="5400000" scaled="1"/>
            </a:gradFill>
          </a:ln>
          <a:effectLst>
            <a:outerShdw blurRad="127000" dist="88900" dir="5400000" algn="t" rotWithShape="0">
              <a:srgbClr val="3368FF">
                <a:alpha val="38000"/>
              </a:srgbClr>
            </a:outerShdw>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sp>
        <p:nvSpPr>
          <p:cNvPr id="173" name="菱形 172"/>
          <p:cNvSpPr/>
          <p:nvPr/>
        </p:nvSpPr>
        <p:spPr>
          <a:xfrm>
            <a:off x="8008156" y="4358595"/>
            <a:ext cx="655107" cy="61785"/>
          </a:xfrm>
          <a:prstGeom prst="diamond">
            <a:avLst/>
          </a:prstGeom>
          <a:solidFill>
            <a:srgbClr val="FFFFFF"/>
          </a:solidFill>
          <a:ln w="25400">
            <a:gradFill>
              <a:gsLst>
                <a:gs pos="23000">
                  <a:srgbClr val="3368FF">
                    <a:alpha val="0"/>
                  </a:srgbClr>
                </a:gs>
                <a:gs pos="100000">
                  <a:srgbClr val="3368FF"/>
                </a:gs>
              </a:gsLst>
              <a:lin ang="5400000" scaled="1"/>
            </a:gradFill>
          </a:ln>
          <a:effectLst>
            <a:outerShdw blurRad="127000" dist="88900" dir="5400000" algn="t" rotWithShape="0">
              <a:srgbClr val="3368FF">
                <a:alpha val="38000"/>
              </a:srgbClr>
            </a:outerShdw>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sp>
        <p:nvSpPr>
          <p:cNvPr id="174" name="菱形 173"/>
          <p:cNvSpPr/>
          <p:nvPr/>
        </p:nvSpPr>
        <p:spPr>
          <a:xfrm>
            <a:off x="6930169" y="4358595"/>
            <a:ext cx="655107" cy="61785"/>
          </a:xfrm>
          <a:prstGeom prst="diamond">
            <a:avLst/>
          </a:prstGeom>
          <a:solidFill>
            <a:srgbClr val="FFFFFF"/>
          </a:solidFill>
          <a:ln w="25400">
            <a:gradFill>
              <a:gsLst>
                <a:gs pos="23000">
                  <a:srgbClr val="3368FF">
                    <a:alpha val="0"/>
                  </a:srgbClr>
                </a:gs>
                <a:gs pos="100000">
                  <a:srgbClr val="3368FF"/>
                </a:gs>
              </a:gsLst>
              <a:lin ang="5400000" scaled="1"/>
            </a:gradFill>
          </a:ln>
          <a:effectLst>
            <a:outerShdw blurRad="127000" dist="88900" dir="5400000" algn="t" rotWithShape="0">
              <a:srgbClr val="3368FF">
                <a:alpha val="38000"/>
              </a:srgbClr>
            </a:outerShdw>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sp>
        <p:nvSpPr>
          <p:cNvPr id="175" name="矩形: 圆角 217"/>
          <p:cNvSpPr/>
          <p:nvPr/>
        </p:nvSpPr>
        <p:spPr>
          <a:xfrm>
            <a:off x="9269274" y="3239486"/>
            <a:ext cx="1428819" cy="538511"/>
          </a:xfrm>
          <a:prstGeom prst="roundRect">
            <a:avLst>
              <a:gd name="adj" fmla="val 13000"/>
            </a:avLst>
          </a:prstGeom>
          <a:solidFill>
            <a:srgbClr val="3368FF"/>
          </a:solidFill>
          <a:ln>
            <a:noFill/>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6" name="矩形: 圆角 218"/>
          <p:cNvSpPr/>
          <p:nvPr/>
        </p:nvSpPr>
        <p:spPr>
          <a:xfrm>
            <a:off x="9207757" y="3193910"/>
            <a:ext cx="1551852" cy="629662"/>
          </a:xfrm>
          <a:prstGeom prst="roundRect">
            <a:avLst>
              <a:gd name="adj" fmla="val 13000"/>
            </a:avLst>
          </a:prstGeom>
          <a:noFill/>
          <a:ln w="6350">
            <a:solidFill>
              <a:srgbClr val="668EFF"/>
            </a:solidFill>
            <a:prstDash val="dash"/>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solidFill>
                  <a:srgbClr val="FFFFFF"/>
                </a:solidFill>
                <a:latin typeface="微软雅黑"/>
                <a:ea typeface="微软雅黑"/>
                <a:cs typeface="微软雅黑"/>
              </a:defRPr>
            </a:pPr>
            <a:endParaRPr kumimoji="1" lang="zh-CN" altLang="en-US" noProof="0" dirty="0">
              <a:ln>
                <a:noFill/>
              </a:ln>
              <a:solidFill>
                <a:srgbClr val="FFFFFF"/>
              </a:solidFill>
              <a:effectLst/>
              <a:uLnTx/>
              <a:uFillTx/>
              <a:latin typeface="微软雅黑"/>
              <a:ea typeface="微软雅黑"/>
              <a:cs typeface="微软雅黑"/>
              <a:sym typeface="微软雅黑"/>
            </a:endParaRPr>
          </a:p>
        </p:txBody>
      </p:sp>
      <p:sp>
        <p:nvSpPr>
          <p:cNvPr id="177" name="文本框 176"/>
          <p:cNvSpPr txBox="1"/>
          <p:nvPr/>
        </p:nvSpPr>
        <p:spPr>
          <a:xfrm>
            <a:off x="9430598" y="3280152"/>
            <a:ext cx="1101090" cy="460375"/>
          </a:xfrm>
          <a:prstGeom prst="rect">
            <a:avLst/>
          </a:prstGeom>
          <a:noFill/>
        </p:spPr>
        <p:txBody>
          <a:bodyPr wrap="none" lIns="0" rIns="0" tIns="0" bIns="0">
            <a:spAutoFit/>
          </a:bodyPr>
          <a:lstStyle>
            <a:defPPr>
              <a:defRPr lang="en-US">
                <a:solidFill>
                  <a:srgbClr val="FFFFFF"/>
                </a:solidFill>
                <a:latin typeface="微软雅黑"/>
                <a:ea typeface="微软雅黑"/>
                <a:cs typeface="微软雅黑"/>
              </a:defRPr>
            </a:defPPr>
            <a:lvl1pPr marR="0" lvl="0" indent="0" algn="ctr" defTabSz="914400" fontAlgn="auto">
              <a:lnSpc>
                <a:spcPct val="100000"/>
              </a:lnSpc>
              <a:spcBef>
                <a:spcPts val="0"/>
              </a:spcBef>
              <a:spcAft>
                <a:spcPts val="0"/>
              </a:spcAft>
              <a:buClrTx/>
              <a:buSzTx/>
              <a:buFontTx/>
              <a:buNone/>
              <a:defRPr kumimoji="0" b="1"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rPr>
              <a:t>指标研究反馈</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rPr>
              <a:t>与应用建议</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8" name="文本框 177"/>
          <p:cNvSpPr txBox="1"/>
          <p:nvPr/>
        </p:nvSpPr>
        <p:spPr>
          <a:xfrm>
            <a:off x="9506629" y="2466064"/>
            <a:ext cx="954107" cy="461665"/>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功能区调研</a:t>
            </a:r>
            <a:endParaRPr lang="en-US" altLang="zh-CN"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dirty="0">
                <a:solidFill>
                  <a:srgbClr val="383838"/>
                </a:solidFill>
                <a:latin typeface="微软雅黑"/>
                <a:ea typeface="微软雅黑"/>
                <a:cs typeface="微软雅黑"/>
              </a:rPr>
              <a:t>与意见反馈</a:t>
            </a:r>
            <a:endParaRPr lang="zh-CN" altLang="en-US" dirty="0">
              <a:solidFill>
                <a:srgbClr val="383838"/>
              </a:solidFill>
              <a:latin typeface="微软雅黑"/>
              <a:ea typeface="微软雅黑"/>
              <a:cs typeface="微软雅黑"/>
            </a:endParaRPr>
          </a:p>
        </p:txBody>
      </p:sp>
      <p:sp>
        <p:nvSpPr>
          <p:cNvPr id="179" name="文本框 178"/>
          <p:cNvSpPr txBox="1"/>
          <p:nvPr/>
        </p:nvSpPr>
        <p:spPr>
          <a:xfrm>
            <a:off x="9412373" y="4048493"/>
            <a:ext cx="1142620" cy="276999"/>
          </a:xfrm>
          <a:prstGeom prst="rect">
            <a:avLst/>
          </a:prstGeom>
          <a:noFill/>
        </p:spPr>
        <p:txBody>
          <a:bodyPr wrap="none" rtlCol="0" lIns="0" rIns="0" tIns="0" bIns="0">
            <a:spAutoFit/>
          </a:bodyPr>
          <a:lstStyle>
            <a:defPPr>
              <a:defRPr lang="zh-CN">
                <a:latin typeface="微软雅黑"/>
                <a:ea typeface="微软雅黑"/>
                <a:cs typeface="微软雅黑"/>
              </a:defRPr>
            </a:defPPr>
            <a:lvl1pPr marR="0" lvl="0" indent="0" defTabSz="457200" fontAlgn="auto">
              <a:lnSpc>
                <a:spcPct val="100000"/>
              </a:lnSpc>
              <a:spcBef>
                <a:spcPts val="0"/>
              </a:spcBef>
              <a:spcAft>
                <a:spcPts val="0"/>
              </a:spcAft>
              <a:buClrTx/>
              <a:buSzTx/>
              <a:buFontTx/>
              <a:buNone/>
              <a:defRPr kumimoji="1" sz="1200" b="0" i="0" u="none" strike="noStrike" cap="none" spc="0" normalizeH="0" baseline="0">
                <a:ln>
                  <a:noFill/>
                </a:ln>
                <a:solidFill>
                  <a:srgbClr val="383838"/>
                </a:solidFill>
                <a:effectLst/>
                <a:uLnTx/>
                <a:uFillTx/>
                <a:latin typeface="微软雅黑"/>
                <a:ea typeface="微软雅黑"/>
                <a:cs typeface="微软雅黑"/>
              </a:defRPr>
            </a:lvl1pPr>
          </a:lstStyle>
          <a:p>
            <a:pPr algn="ctr">
              <a:defRPr>
                <a:latin typeface="微软雅黑"/>
                <a:ea typeface="微软雅黑"/>
                <a:cs typeface="微软雅黑"/>
              </a:defRPr>
            </a:pPr>
            <a:r>
              <a:rPr lang="zh-CN" altLang="en-US" dirty="0">
                <a:solidFill>
                  <a:srgbClr val="383838"/>
                </a:solidFill>
                <a:latin typeface="微软雅黑"/>
                <a:ea typeface="微软雅黑"/>
                <a:cs typeface="微软雅黑"/>
              </a:rPr>
              <a:t>指标应用建议</a:t>
            </a:r>
            <a:endParaRPr lang="zh-CN" altLang="en-US" dirty="0">
              <a:solidFill>
                <a:srgbClr val="383838"/>
              </a:solidFill>
              <a:latin typeface="微软雅黑"/>
              <a:ea typeface="微软雅黑"/>
              <a:cs typeface="微软雅黑"/>
            </a:endParaRPr>
          </a:p>
        </p:txBody>
      </p:sp>
      <p:sp>
        <p:nvSpPr>
          <p:cNvPr id="180" name="菱形 179"/>
          <p:cNvSpPr/>
          <p:nvPr/>
        </p:nvSpPr>
        <p:spPr>
          <a:xfrm>
            <a:off x="9285454" y="2886652"/>
            <a:ext cx="1396459" cy="61200"/>
          </a:xfrm>
          <a:prstGeom prst="diamond">
            <a:avLst/>
          </a:prstGeom>
          <a:solidFill>
            <a:srgbClr val="FFFFFF"/>
          </a:solidFill>
          <a:ln w="25400">
            <a:gradFill>
              <a:gsLst>
                <a:gs pos="23000">
                  <a:srgbClr val="3368FF">
                    <a:alpha val="0"/>
                  </a:srgbClr>
                </a:gs>
                <a:gs pos="100000">
                  <a:srgbClr val="3368FF"/>
                </a:gs>
              </a:gsLst>
              <a:lin ang="5400000" scaled="1"/>
            </a:gradFill>
          </a:ln>
          <a:effectLst>
            <a:outerShdw blurRad="127000" dist="88900" dir="5400000" algn="t" rotWithShape="0">
              <a:srgbClr val="3368FF">
                <a:alpha val="38000"/>
              </a:srgbClr>
            </a:outerShdw>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sp>
        <p:nvSpPr>
          <p:cNvPr id="181" name="菱形 180"/>
          <p:cNvSpPr/>
          <p:nvPr/>
        </p:nvSpPr>
        <p:spPr>
          <a:xfrm>
            <a:off x="9285454" y="4349749"/>
            <a:ext cx="1396459" cy="70631"/>
          </a:xfrm>
          <a:prstGeom prst="diamond">
            <a:avLst/>
          </a:prstGeom>
          <a:solidFill>
            <a:srgbClr val="FFFFFF"/>
          </a:solidFill>
          <a:ln w="25400">
            <a:gradFill>
              <a:gsLst>
                <a:gs pos="23000">
                  <a:srgbClr val="3368FF">
                    <a:alpha val="0"/>
                  </a:srgbClr>
                </a:gs>
                <a:gs pos="100000">
                  <a:srgbClr val="3368FF"/>
                </a:gs>
              </a:gsLst>
              <a:lin ang="5400000" scaled="1"/>
            </a:gradFill>
          </a:ln>
          <a:effectLst>
            <a:outerShdw blurRad="127000" dist="88900" dir="5400000" algn="t" rotWithShape="0">
              <a:srgbClr val="3368FF">
                <a:alpha val="38000"/>
              </a:srgbClr>
            </a:outerShdw>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noProof="0" dirty="0">
              <a:ln>
                <a:noFill/>
              </a:ln>
              <a:effectLst/>
              <a:uLnTx/>
              <a:uFillTx/>
              <a:latin typeface="微软雅黑"/>
              <a:ea typeface="微软雅黑"/>
              <a:cs typeface="微软雅黑"/>
              <a:sym typeface="微软雅黑"/>
            </a:endParaRPr>
          </a:p>
        </p:txBody>
      </p:sp>
      <p:cxnSp>
        <p:nvCxnSpPr>
          <p:cNvPr id="182" name="直接箭头连接符 37"/>
          <p:cNvCxnSpPr/>
          <p:nvPr/>
        </p:nvCxnSpPr>
        <p:spPr>
          <a:xfrm flipH="1">
            <a:off x="9983336" y="3832968"/>
            <a:ext cx="695" cy="183740"/>
          </a:xfrm>
          <a:prstGeom prst="straightConnector1">
            <a:avLst/>
          </a:prstGeom>
          <a:ln w="19050" cap="rnd">
            <a:gradFill>
              <a:gsLst>
                <a:gs pos="0">
                  <a:srgbClr val="3368FF">
                    <a:alpha val="0"/>
                  </a:srgbClr>
                </a:gs>
                <a:gs pos="100000">
                  <a:srgbClr val="3368FF"/>
                </a:gs>
              </a:gsLst>
              <a:lin ang="5400000" scaled="0"/>
            </a:gradFill>
            <a:round/>
            <a:tailEnd type="arrow"/>
          </a:ln>
        </p:spPr>
        <p:style>
          <a:lnRef idx="1">
            <a:srgbClr val="FF4200"/>
          </a:lnRef>
          <a:fillRef idx="0">
            <a:srgbClr val="FF4200"/>
          </a:fillRef>
          <a:effectRef idx="0">
            <a:srgbClr val="FF4200"/>
          </a:effectRef>
          <a:fontRef idx="minor">
            <a:srgbClr val="0042FF"/>
          </a:fontRef>
        </p:style>
      </p:cxnSp>
      <p:sp>
        <p:nvSpPr>
          <p:cNvPr id="183" name="文本框 182"/>
          <p:cNvSpPr txBox="1"/>
          <p:nvPr/>
        </p:nvSpPr>
        <p:spPr>
          <a:xfrm>
            <a:off x="10814933" y="3366849"/>
            <a:ext cx="902811" cy="307777"/>
          </a:xfrm>
          <a:prstGeom prst="rect">
            <a:avLst/>
          </a:prstGeom>
          <a:noFill/>
        </p:spPr>
        <p:txBody>
          <a:bodyPr wrap="none" lIns="0" rIns="0" tIns="0" bIns="0">
            <a:spAutoFit/>
          </a:bodyPr>
          <a:lstStyle>
            <a:defPPr>
              <a:defRPr lang="en-US">
                <a:latin typeface="微软雅黑"/>
                <a:ea typeface="微软雅黑"/>
                <a:cs typeface="微软雅黑"/>
              </a:defRPr>
            </a:defPPr>
            <a:lvl1pPr marR="0" lvl="0" indent="0" algn="ctr" defTabSz="914400" fontAlgn="auto">
              <a:lnSpc>
                <a:spcPct val="100000"/>
              </a:lnSpc>
              <a:spcBef>
                <a:spcPts val="0"/>
              </a:spcBef>
              <a:spcAft>
                <a:spcPts val="0"/>
              </a:spcAft>
              <a:buClrTx/>
              <a:buSzTx/>
              <a:buFontTx/>
              <a:buNone/>
              <a:defRPr kumimoji="0" sz="1400" b="1" u="none" strike="noStrike" cap="none" spc="0" normalizeH="0" baseline="0">
                <a:ln>
                  <a:noFill/>
                </a:ln>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研究结论</a:t>
            </a:r>
            <a:endParaRPr kumimoji="0"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4" name="燕尾形 183"/>
          <p:cNvSpPr/>
          <p:nvPr/>
        </p:nvSpPr>
        <p:spPr>
          <a:xfrm>
            <a:off x="872284" y="1343251"/>
            <a:ext cx="2778194" cy="484632"/>
          </a:xfrm>
          <a:prstGeom prst="chevron">
            <a:avLst>
              <a:gd name="adj" fmla="val 26041"/>
            </a:avLst>
          </a:prstGeom>
          <a:gradFill>
            <a:gsLst>
              <a:gs pos="0">
                <a:srgbClr val="3368FF"/>
              </a:gs>
              <a:gs pos="100000">
                <a:srgbClr val="B3D4FE"/>
              </a:gs>
            </a:gsLst>
            <a:lin ang="5400000" scaled="0"/>
          </a:gradFill>
          <a:ln>
            <a:noFill/>
          </a:ln>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85" name="燕尾形 184"/>
          <p:cNvSpPr/>
          <p:nvPr/>
        </p:nvSpPr>
        <p:spPr>
          <a:xfrm>
            <a:off x="3670372" y="1343251"/>
            <a:ext cx="2930453" cy="484632"/>
          </a:xfrm>
          <a:prstGeom prst="chevron">
            <a:avLst>
              <a:gd name="adj" fmla="val 26041"/>
            </a:avLst>
          </a:prstGeom>
          <a:gradFill>
            <a:gsLst>
              <a:gs pos="0">
                <a:srgbClr val="3368FF"/>
              </a:gs>
              <a:gs pos="100000">
                <a:srgbClr val="B3D4FE"/>
              </a:gs>
            </a:gsLst>
            <a:lin ang="5400000" scaled="0"/>
          </a:gradFill>
          <a:ln>
            <a:noFill/>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86" name="燕尾形 185"/>
          <p:cNvSpPr/>
          <p:nvPr/>
        </p:nvSpPr>
        <p:spPr>
          <a:xfrm>
            <a:off x="6620719" y="1343251"/>
            <a:ext cx="5208415" cy="484632"/>
          </a:xfrm>
          <a:prstGeom prst="chevron">
            <a:avLst>
              <a:gd name="adj" fmla="val 26041"/>
            </a:avLst>
          </a:prstGeom>
          <a:gradFill>
            <a:gsLst>
              <a:gs pos="0">
                <a:srgbClr val="3368FF"/>
              </a:gs>
              <a:gs pos="100000">
                <a:srgbClr val="B3D4FE"/>
              </a:gs>
            </a:gsLst>
            <a:lin ang="5400000" scaled="0"/>
          </a:gradFill>
          <a:ln>
            <a:noFill/>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87" name="文本框 186"/>
          <p:cNvSpPr txBox="1"/>
          <p:nvPr/>
        </p:nvSpPr>
        <p:spPr>
          <a:xfrm>
            <a:off x="1707383" y="1399222"/>
            <a:ext cx="1107996" cy="369332"/>
          </a:xfrm>
          <a:prstGeom prst="rect">
            <a:avLst/>
          </a:prstGeom>
          <a:noFill/>
        </p:spPr>
        <p:txBody>
          <a:bodyPr wrap="none" lIns="0" rIns="0" tIns="0" bIns="0">
            <a:spAutoFit/>
          </a:bodyPr>
          <a:lstStyle>
            <a:defPPr>
              <a:defRPr lang="en-US">
                <a:latin typeface="微软雅黑"/>
                <a:ea typeface="微软雅黑"/>
                <a:cs typeface="微软雅黑"/>
              </a:defRPr>
            </a:defPPr>
            <a:lvl1pPr marR="0" lvl="0" indent="0" algn="ctr" defTabSz="914400" fontAlgn="auto">
              <a:lnSpc>
                <a:spcPct val="100000"/>
              </a:lnSpc>
              <a:spcBef>
                <a:spcPts val="0"/>
              </a:spcBef>
              <a:spcAft>
                <a:spcPts val="0"/>
              </a:spcAft>
              <a:buClrTx/>
              <a:buSzTx/>
              <a:buFontTx/>
              <a:buNone/>
              <a:defRPr kumimoji="0" b="1"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rPr>
              <a:t>提出问题</a:t>
            </a:r>
            <a:endPar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8" name="文本框 187"/>
          <p:cNvSpPr txBox="1"/>
          <p:nvPr/>
        </p:nvSpPr>
        <p:spPr>
          <a:xfrm>
            <a:off x="4419969" y="1399222"/>
            <a:ext cx="1107996" cy="369332"/>
          </a:xfrm>
          <a:prstGeom prst="rect">
            <a:avLst/>
          </a:prstGeom>
          <a:noFill/>
        </p:spPr>
        <p:txBody>
          <a:bodyPr wrap="none" lIns="0" rIns="0" tIns="0" bIns="0">
            <a:spAutoFit/>
          </a:bodyPr>
          <a:lstStyle>
            <a:defPPr>
              <a:defRPr lang="en-US">
                <a:latin typeface="微软雅黑"/>
                <a:ea typeface="微软雅黑"/>
                <a:cs typeface="微软雅黑"/>
              </a:defRPr>
            </a:defPPr>
            <a:lvl1pPr marR="0" lvl="0" indent="0" algn="ctr" defTabSz="914400" fontAlgn="auto">
              <a:lnSpc>
                <a:spcPct val="100000"/>
              </a:lnSpc>
              <a:spcBef>
                <a:spcPts val="0"/>
              </a:spcBef>
              <a:spcAft>
                <a:spcPts val="0"/>
              </a:spcAft>
              <a:buClrTx/>
              <a:buSzTx/>
              <a:buFontTx/>
              <a:buNone/>
              <a:defRPr kumimoji="0" b="1"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rPr>
              <a:t>分析问题</a:t>
            </a:r>
            <a:endPar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9" name="文本框 188"/>
          <p:cNvSpPr txBox="1"/>
          <p:nvPr/>
        </p:nvSpPr>
        <p:spPr>
          <a:xfrm>
            <a:off x="8509297" y="1399222"/>
            <a:ext cx="1107996" cy="369332"/>
          </a:xfrm>
          <a:prstGeom prst="rect">
            <a:avLst/>
          </a:prstGeom>
          <a:noFill/>
        </p:spPr>
        <p:txBody>
          <a:bodyPr wrap="none" lIns="0" rIns="0" tIns="0" bIns="0">
            <a:spAutoFit/>
          </a:bodyPr>
          <a:lstStyle>
            <a:defPPr>
              <a:defRPr lang="en-US">
                <a:latin typeface="微软雅黑"/>
                <a:ea typeface="微软雅黑"/>
                <a:cs typeface="微软雅黑"/>
              </a:defRPr>
            </a:defPPr>
            <a:lvl1pPr marR="0" lvl="0" indent="0" algn="ctr" defTabSz="914400" fontAlgn="auto">
              <a:lnSpc>
                <a:spcPct val="100000"/>
              </a:lnSpc>
              <a:spcBef>
                <a:spcPts val="0"/>
              </a:spcBef>
              <a:spcAft>
                <a:spcPts val="0"/>
              </a:spcAft>
              <a:buClrTx/>
              <a:buSzTx/>
              <a:buFontTx/>
              <a:buNone/>
              <a:defRPr kumimoji="0" b="1"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rPr>
              <a:t>解决问题</a:t>
            </a:r>
            <a:endPar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90" name="文本框 189"/>
          <p:cNvSpPr txBox="1"/>
          <p:nvPr/>
        </p:nvSpPr>
        <p:spPr>
          <a:xfrm>
            <a:off x="378460" y="2691130"/>
            <a:ext cx="367030" cy="1531620"/>
          </a:xfrm>
          <a:prstGeom prst="rect">
            <a:avLst/>
          </a:prstGeom>
        </p:spPr>
        <p:txBody>
          <a:bodyPr vert="eaVert" wrap="square" rtlCol="0">
            <a:spAutoFit/>
            <a:extLst>
              <a:ext uri="{4A0BC546-FE56-4ADE-93B0-CB8AF2F6F144}">
                <wpsdc:textFrameExt xmlns:wpsdc="http://www.wps.cn/officeDocument/2022/drawingmlCustomData" type="text"/>
              </a:ext>
            </a:extLs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研究主要内容框架</a:t>
            </a:r>
            <a:endParaRPr lang="zh-CN" altLang="en-US" sz="1200" b="1">
              <a:solidFill>
                <a:srgbClr val="0042FF"/>
              </a:solidFill>
              <a:latin typeface="微软雅黑"/>
              <a:ea typeface="微软雅黑"/>
              <a:cs typeface="微软雅黑"/>
              <a:sym typeface="微软雅黑"/>
            </a:endParaRPr>
          </a:p>
        </p:txBody>
      </p:sp>
      <p:sp>
        <p:nvSpPr>
          <p:cNvPr id="191" name="文本框 190"/>
          <p:cNvSpPr txBox="1"/>
          <p:nvPr/>
        </p:nvSpPr>
        <p:spPr>
          <a:xfrm>
            <a:off x="380747" y="5276808"/>
            <a:ext cx="367030" cy="861774"/>
          </a:xfrm>
          <a:prstGeom prst="rect">
            <a:avLst/>
          </a:prstGeom>
        </p:spPr>
        <p:txBody>
          <a:bodyPr vert="eaVert" wrap="square" rtlCol="0">
            <a:spAutoFit/>
            <a:extLst>
              <a:ext uri="{4A0BC546-FE56-4ADE-93B0-CB8AF2F6F144}">
                <wpsdc:textFrameExt xmlns:wpsdc="http://www.wps.cn/officeDocument/2022/drawingmlCustomData" type="text"/>
              </a:ext>
            </a:extLst>
          </a:bodyPr>
          <a:lstStyle/>
          <a:p>
            <a:pPr lvl="0" algn="ctr">
              <a:buClrTx/>
              <a:buSzTx/>
              <a:buFontTx/>
              <a:defRPr>
                <a:latin typeface="微软雅黑"/>
                <a:ea typeface="微软雅黑"/>
                <a:cs typeface="微软雅黑"/>
              </a:defRPr>
            </a:pPr>
            <a:r>
              <a:rPr lang="zh-CN" altLang="en-US" sz="1200" b="1">
                <a:solidFill>
                  <a:srgbClr val="0042FF"/>
                </a:solidFill>
                <a:latin typeface="微软雅黑"/>
                <a:ea typeface="微软雅黑"/>
                <a:cs typeface="微软雅黑"/>
                <a:sym typeface="微软雅黑"/>
              </a:rPr>
              <a:t>研究方法</a:t>
            </a:r>
            <a:endParaRPr lang="zh-CN" altLang="en-US" sz="1200" b="1">
              <a:solidFill>
                <a:srgbClr val="0042FF"/>
              </a:solidFill>
              <a:latin typeface="微软雅黑"/>
              <a:ea typeface="微软雅黑"/>
              <a:cs typeface="微软雅黑"/>
              <a:sym typeface="微软雅黑"/>
            </a:endParaRPr>
          </a:p>
        </p:txBody>
      </p:sp>
      <p:sp>
        <p:nvSpPr>
          <p:cNvPr id="193" name="矩形 192"/>
          <p:cNvSpPr/>
          <p:nvPr/>
        </p:nvSpPr>
        <p:spPr>
          <a:xfrm>
            <a:off x="3692797" y="5390866"/>
            <a:ext cx="2777127" cy="930137"/>
          </a:xfrm>
          <a:prstGeom prst="rect">
            <a:avLst/>
          </a:prstGeom>
          <a:solidFill>
            <a:srgbClr val="FFFFFF"/>
          </a:solidFill>
          <a:ln w="15875">
            <a:noFill/>
            <a:prstDash val="dash"/>
          </a:ln>
          <a:effectLst>
            <a:outerShdw blurRad="127000" sx="102000" sy="102000" algn="ctr" rotWithShape="0">
              <a:srgbClr val="0042FF">
                <a:alpha val="5000"/>
              </a:srgbClr>
            </a:outerShdw>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94" name="矩形 193"/>
          <p:cNvSpPr/>
          <p:nvPr/>
        </p:nvSpPr>
        <p:spPr>
          <a:xfrm>
            <a:off x="3692797" y="5188261"/>
            <a:ext cx="2777127" cy="316089"/>
          </a:xfrm>
          <a:prstGeom prst="rect">
            <a:avLst/>
          </a:prstGeom>
          <a:gradFill>
            <a:gsLst>
              <a:gs pos="0">
                <a:srgbClr val="0042FF"/>
              </a:gs>
              <a:gs pos="100000">
                <a:srgbClr val="3368FF"/>
              </a:gs>
            </a:gsLst>
            <a:lin ang="5400000" scaled="0"/>
          </a:gradFill>
          <a:ln>
            <a:noFill/>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95" name="矩形 194"/>
          <p:cNvSpPr/>
          <p:nvPr/>
        </p:nvSpPr>
        <p:spPr>
          <a:xfrm>
            <a:off x="6695067" y="5390866"/>
            <a:ext cx="2375085" cy="930137"/>
          </a:xfrm>
          <a:prstGeom prst="rect">
            <a:avLst/>
          </a:prstGeom>
          <a:solidFill>
            <a:srgbClr val="FFFFFF"/>
          </a:solidFill>
          <a:ln w="15875">
            <a:noFill/>
            <a:prstDash val="dash"/>
          </a:ln>
          <a:effectLst>
            <a:outerShdw blurRad="127000" sx="102000" sy="102000" algn="ctr" rotWithShape="0">
              <a:srgbClr val="0042FF">
                <a:alpha val="5000"/>
              </a:srgbClr>
            </a:outerShdw>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96" name="矩形 195"/>
          <p:cNvSpPr/>
          <p:nvPr/>
        </p:nvSpPr>
        <p:spPr>
          <a:xfrm>
            <a:off x="6695067" y="5188261"/>
            <a:ext cx="2375085" cy="316089"/>
          </a:xfrm>
          <a:prstGeom prst="rect">
            <a:avLst/>
          </a:prstGeom>
          <a:gradFill>
            <a:gsLst>
              <a:gs pos="0">
                <a:srgbClr val="0042FF"/>
              </a:gs>
              <a:gs pos="100000">
                <a:srgbClr val="3368FF"/>
              </a:gs>
            </a:gsLst>
            <a:lin ang="5400000" scaled="0"/>
          </a:gradFill>
          <a:ln>
            <a:noFill/>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97" name="矩形 196"/>
          <p:cNvSpPr/>
          <p:nvPr/>
        </p:nvSpPr>
        <p:spPr>
          <a:xfrm>
            <a:off x="9295296" y="5390866"/>
            <a:ext cx="2375085" cy="930137"/>
          </a:xfrm>
          <a:prstGeom prst="rect">
            <a:avLst/>
          </a:prstGeom>
          <a:solidFill>
            <a:srgbClr val="FFFFFF"/>
          </a:solidFill>
          <a:ln w="15875">
            <a:noFill/>
            <a:prstDash val="dash"/>
          </a:ln>
          <a:effectLst>
            <a:outerShdw blurRad="127000" sx="102000" sy="102000" algn="ctr" rotWithShape="0">
              <a:srgbClr val="0042FF">
                <a:alpha val="5000"/>
              </a:srgbClr>
            </a:outerShdw>
          </a:effectLst>
        </p:spPr>
        <p:style>
          <a:lnRef idx="2">
            <a:srgbClr val="FF4200"/>
          </a:lnRef>
          <a:fillRef idx="1">
            <a:srgbClr val="FF4200"/>
          </a:fillRef>
          <a:effectRef idx="0">
            <a:srgbClr val="FF4200"/>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sp>
        <p:nvSpPr>
          <p:cNvPr id="198" name="矩形 197"/>
          <p:cNvSpPr/>
          <p:nvPr/>
        </p:nvSpPr>
        <p:spPr>
          <a:xfrm>
            <a:off x="9295296" y="5188261"/>
            <a:ext cx="2375085" cy="316089"/>
          </a:xfrm>
          <a:prstGeom prst="rect">
            <a:avLst/>
          </a:prstGeom>
          <a:gradFill>
            <a:gsLst>
              <a:gs pos="0">
                <a:srgbClr val="0042FF"/>
              </a:gs>
              <a:gs pos="100000">
                <a:srgbClr val="3368FF"/>
              </a:gs>
            </a:gsLst>
            <a:lin ang="5400000" scaled="0"/>
          </a:gradFill>
          <a:ln>
            <a:noFill/>
          </a:ln>
          <a:effectLst/>
        </p:spPr>
        <p:style>
          <a:lnRef idx="2">
            <a:srgbClr val="FF4200"/>
          </a:lnRef>
          <a:fillRef idx="1">
            <a:srgbClr val="FF4200"/>
          </a:fillRef>
          <a:effectRef idx="0">
            <a:srgbClr val="FF4200"/>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dirty="0">
              <a:solidFill>
                <a:srgbClr val="FFFFFF"/>
              </a:solidFill>
              <a:latin typeface="微软雅黑"/>
              <a:ea typeface="微软雅黑"/>
              <a:cs typeface="微软雅黑"/>
              <a:sym typeface="微软雅黑"/>
            </a:endParaRPr>
          </a:p>
        </p:txBody>
      </p:sp>
      <p:sp>
        <p:nvSpPr>
          <p:cNvPr id="199" name="文本框 198"/>
          <p:cNvSpPr txBox="1"/>
          <p:nvPr/>
        </p:nvSpPr>
        <p:spPr>
          <a:xfrm>
            <a:off x="1863528" y="5191891"/>
            <a:ext cx="800220" cy="276999"/>
          </a:xfrm>
          <a:prstGeom prst="rect">
            <a:avLst/>
          </a:prstGeom>
          <a:noFill/>
        </p:spPr>
        <p:txBody>
          <a:bodyPr wrap="non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rPr>
              <a:t>整体统筹</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00" name="文本框 199"/>
          <p:cNvSpPr txBox="1"/>
          <p:nvPr/>
        </p:nvSpPr>
        <p:spPr>
          <a:xfrm>
            <a:off x="4681250" y="5191891"/>
            <a:ext cx="800220" cy="276999"/>
          </a:xfrm>
          <a:prstGeom prst="rect">
            <a:avLst/>
          </a:prstGeom>
          <a:noFill/>
        </p:spPr>
        <p:txBody>
          <a:bodyPr wrap="non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rPr>
              <a:t>理念先导</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01" name="文本框 200"/>
          <p:cNvSpPr txBox="1"/>
          <p:nvPr/>
        </p:nvSpPr>
        <p:spPr>
          <a:xfrm>
            <a:off x="7482499" y="5191891"/>
            <a:ext cx="800220" cy="276999"/>
          </a:xfrm>
          <a:prstGeom prst="rect">
            <a:avLst/>
          </a:prstGeom>
          <a:noFill/>
        </p:spPr>
        <p:txBody>
          <a:bodyPr wrap="non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rPr>
              <a:t>方法科学</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02" name="文本框 201"/>
          <p:cNvSpPr txBox="1"/>
          <p:nvPr/>
        </p:nvSpPr>
        <p:spPr>
          <a:xfrm>
            <a:off x="10082728" y="5191891"/>
            <a:ext cx="800220" cy="276999"/>
          </a:xfrm>
          <a:prstGeom prst="rect">
            <a:avLst/>
          </a:prstGeom>
          <a:noFill/>
        </p:spPr>
        <p:txBody>
          <a:bodyPr wrap="non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rPr>
              <a:t>价值多元</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03" name="文本框 202"/>
          <p:cNvSpPr txBox="1"/>
          <p:nvPr/>
        </p:nvSpPr>
        <p:spPr>
          <a:xfrm>
            <a:off x="1296893" y="556948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理论研究与实践验证结合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4" name="文本框 203"/>
          <p:cNvSpPr txBox="1"/>
          <p:nvPr/>
        </p:nvSpPr>
        <p:spPr>
          <a:xfrm>
            <a:off x="1296893" y="5781518"/>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理论研究</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5" name="文本框 204"/>
          <p:cNvSpPr txBox="1"/>
          <p:nvPr/>
        </p:nvSpPr>
        <p:spPr>
          <a:xfrm>
            <a:off x="1296893" y="599355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与实践验证结合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6" name="文本框 205"/>
          <p:cNvSpPr txBox="1"/>
          <p:nvPr/>
        </p:nvSpPr>
        <p:spPr>
          <a:xfrm>
            <a:off x="4085238" y="556948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目标导向与问题导向结合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7" name="文本框 206"/>
          <p:cNvSpPr txBox="1"/>
          <p:nvPr/>
        </p:nvSpPr>
        <p:spPr>
          <a:xfrm>
            <a:off x="4085238" y="5781518"/>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目标导向</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8" name="文本框 207"/>
          <p:cNvSpPr txBox="1"/>
          <p:nvPr/>
        </p:nvSpPr>
        <p:spPr>
          <a:xfrm>
            <a:off x="4085238" y="599355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与问题导向结合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9" name="文本框 208"/>
          <p:cNvSpPr txBox="1"/>
          <p:nvPr/>
        </p:nvSpPr>
        <p:spPr>
          <a:xfrm>
            <a:off x="6929110" y="556948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类型研究与比较研究结合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0" name="文本框 209"/>
          <p:cNvSpPr txBox="1"/>
          <p:nvPr/>
        </p:nvSpPr>
        <p:spPr>
          <a:xfrm>
            <a:off x="6929110" y="5781518"/>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层次分析与归纳演绎结合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1" name="文本框 210"/>
          <p:cNvSpPr txBox="1"/>
          <p:nvPr/>
        </p:nvSpPr>
        <p:spPr>
          <a:xfrm>
            <a:off x="6929110" y="599355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定性研究与定量赋值结合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2" name="文本框 211"/>
          <p:cNvSpPr txBox="1"/>
          <p:nvPr/>
        </p:nvSpPr>
        <p:spPr>
          <a:xfrm>
            <a:off x="9522652" y="556948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专业领衔与公众参与结合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3" name="文本框 212"/>
          <p:cNvSpPr txBox="1"/>
          <p:nvPr/>
        </p:nvSpPr>
        <p:spPr>
          <a:xfrm>
            <a:off x="9522652" y="5781518"/>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专业领衔</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4" name="文本框 213"/>
          <p:cNvSpPr txBox="1"/>
          <p:nvPr/>
        </p:nvSpPr>
        <p:spPr>
          <a:xfrm>
            <a:off x="9522652" y="5993553"/>
            <a:ext cx="1928976" cy="261610"/>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rPr>
              <a:t>公众参与结合</a:t>
            </a:r>
            <a:endParaRPr kumimoji="0" lang="zh-CN" altLang="en-US" sz="110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15" name="直线箭头连接符 120"/>
          <p:cNvCxnSpPr/>
          <p:nvPr/>
        </p:nvCxnSpPr>
        <p:spPr>
          <a:xfrm>
            <a:off x="8689266" y="3506990"/>
            <a:ext cx="388321" cy="0"/>
          </a:xfrm>
          <a:prstGeom prst="straightConnector1">
            <a:avLst/>
          </a:prstGeom>
          <a:ln w="19050" cap="rnd">
            <a:gradFill>
              <a:gsLst>
                <a:gs pos="0">
                  <a:srgbClr val="3368FF">
                    <a:alpha val="0"/>
                  </a:srgbClr>
                </a:gs>
                <a:gs pos="100000">
                  <a:srgbClr val="3368FF"/>
                </a:gs>
              </a:gsLst>
              <a:lin ang="0" scaled="0"/>
            </a:gradFill>
            <a:round/>
            <a:tailEnd type="arrow"/>
          </a:ln>
        </p:spPr>
        <p:style>
          <a:lnRef idx="1">
            <a:srgbClr val="FF4200"/>
          </a:lnRef>
          <a:fillRef idx="0">
            <a:srgbClr val="FF4200"/>
          </a:fillRef>
          <a:effectRef idx="0">
            <a:srgbClr val="FF4200"/>
          </a:effectRef>
          <a:fontRef idx="minor">
            <a:srgbClr val="0042FF"/>
          </a:fontRef>
        </p:style>
      </p:cxnSp>
      <p:cxnSp>
        <p:nvCxnSpPr>
          <p:cNvPr id="216" name="直接箭头连接符 211"/>
          <p:cNvCxnSpPr/>
          <p:nvPr/>
        </p:nvCxnSpPr>
        <p:spPr>
          <a:xfrm flipV="1">
            <a:off x="10006085" y="3007765"/>
            <a:ext cx="0" cy="198120"/>
          </a:xfrm>
          <a:prstGeom prst="straightConnector1">
            <a:avLst/>
          </a:prstGeom>
          <a:ln w="19050" cap="rnd">
            <a:gradFill>
              <a:gsLst>
                <a:gs pos="0">
                  <a:srgbClr val="3368FF">
                    <a:alpha val="0"/>
                  </a:srgbClr>
                </a:gs>
                <a:gs pos="100000">
                  <a:srgbClr val="3368FF"/>
                </a:gs>
              </a:gsLst>
              <a:lin ang="5400000" scaled="0"/>
            </a:gradFill>
            <a:round/>
            <a:tailEnd type="arrow"/>
          </a:ln>
        </p:spPr>
        <p:style>
          <a:lnRef idx="1">
            <a:srgbClr val="FF4200"/>
          </a:lnRef>
          <a:fillRef idx="0">
            <a:srgbClr val="FF4200"/>
          </a:fillRef>
          <a:effectRef idx="0">
            <a:srgbClr val="FF4200"/>
          </a:effectRef>
          <a:fontRef idx="minor">
            <a:srgbClr val="0042FF"/>
          </a:fontRef>
        </p:style>
      </p:cxnSp>
      <p:sp>
        <p:nvSpPr>
          <p:cNvPr id="217" name="文本框 216"/>
          <p:cNvSpPr txBox="1"/>
          <p:nvPr/>
        </p:nvSpPr>
        <p:spPr>
          <a:xfrm>
            <a:off x="4615035" y="3094427"/>
            <a:ext cx="490220" cy="726440"/>
          </a:xfrm>
          <a:prstGeom prst="rect">
            <a:avLst/>
          </a:prstGeom>
          <a:noFill/>
        </p:spPr>
        <p:txBody>
          <a:bodyPr vert="eaVert" wrap="none" rtlCol="0" lIns="0" rIns="0" tIns="0" bIns="0">
            <a:spAutoFit/>
          </a:bodyPr>
          <a:lstStyle>
            <a:defPPr>
              <a:defRPr lang="en-US">
                <a:latin typeface="微软雅黑"/>
                <a:ea typeface="微软雅黑"/>
                <a:cs typeface="微软雅黑"/>
              </a:defRPr>
            </a:defPPr>
            <a:lvl1pPr marR="0" lvl="0" indent="0" fontAlgn="auto">
              <a:lnSpc>
                <a:spcPct val="100000"/>
              </a:lnSpc>
              <a:spcBef>
                <a:spcPts val="0"/>
              </a:spcBef>
              <a:spcAft>
                <a:spcPts val="0"/>
              </a:spcAft>
              <a:buClrTx/>
              <a:buSzTx/>
              <a:buFontTx/>
              <a:buNone/>
              <a:defRPr kumimoji="1" sz="1200" b="1" i="0" u="none" strike="noStrike" normalizeH="0" baseline="0">
                <a:solidFill>
                  <a:srgbClr val="383838"/>
                </a:solidFill>
                <a:uLnTx/>
                <a:uFillTx/>
                <a:latin typeface="微软雅黑"/>
                <a:ea typeface="微软雅黑"/>
                <a:cs typeface="微软雅黑"/>
              </a:defRPr>
            </a:lvl1p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u="none" strike="noStrike" kern="1200" cap="none" spc="0" normalizeH="0" baseline="0" noProof="0" dirty="0">
                <a:ln>
                  <a:noFill/>
                </a:ln>
                <a:solidFill>
                  <a:srgbClr val="383838"/>
                </a:solidFill>
                <a:effectLst/>
                <a:uLnTx/>
                <a:uFillTx/>
                <a:latin typeface="微软雅黑"/>
                <a:ea typeface="微软雅黑"/>
                <a:cs typeface="微软雅黑"/>
              </a:rPr>
              <a:t>典型功能区</a:t>
            </a:r>
            <a:endParaRPr kumimoji="1" lang="en-US" altLang="zh-CN" sz="1000" b="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000" b="0" u="none" strike="noStrike" kern="1200" cap="none" spc="0" normalizeH="0" baseline="0" noProof="0" dirty="0">
                <a:ln>
                  <a:noFill/>
                </a:ln>
                <a:solidFill>
                  <a:srgbClr val="383838"/>
                </a:solidFill>
                <a:effectLst/>
                <a:uLnTx/>
                <a:uFillTx/>
                <a:latin typeface="微软雅黑"/>
                <a:ea typeface="微软雅黑"/>
                <a:cs typeface="微软雅黑"/>
              </a:rPr>
              <a:t>侧重点分析</a:t>
            </a:r>
            <a:endParaRPr kumimoji="1" lang="zh-CN" altLang="en-US" sz="1000" b="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8" name="文本框 37"/>
          <p:cNvSpPr txBox="1"/>
          <p:nvPr/>
        </p:nvSpPr>
        <p:spPr>
          <a:xfrm>
            <a:off x="378460" y="1235075"/>
            <a:ext cx="367030" cy="757555"/>
          </a:xfrm>
          <a:prstGeom prst="rect">
            <a:avLst/>
          </a:prstGeom>
        </p:spPr>
        <p:txBody>
          <a:bodyPr vert="eaVert" wrap="square">
            <a:spAutoFit/>
            <a:extLst>
              <a:ext uri="{4A0BC546-FE56-4ADE-93B0-CB8AF2F6F144}">
                <wpsdc:textFrameExt xmlns:wpsdc="http://www.wps.cn/officeDocument/2022/drawingmlCustomData" type="text"/>
              </a:ext>
            </a:extLst>
          </a:bodyPr>
          <a:p>
            <a:pPr algn="l">
              <a:defRPr>
                <a:latin typeface="微软雅黑"/>
                <a:ea typeface="微软雅黑"/>
                <a:cs typeface="微软雅黑"/>
              </a:defRPr>
            </a:pPr>
            <a:r>
              <a:rPr lang="zh-CN" altLang="en-US" sz="1200" b="1">
                <a:solidFill>
                  <a:srgbClr val="0042FF"/>
                </a:solidFill>
                <a:latin typeface="微软雅黑"/>
                <a:ea typeface="微软雅黑"/>
                <a:cs typeface="微软雅黑"/>
              </a:rPr>
              <a:t>逻辑思路</a:t>
            </a:r>
            <a:endParaRPr lang="zh-CN" altLang="en-US" sz="1200" b="1">
              <a:solidFill>
                <a:srgbClr val="0042FF"/>
              </a:solidFill>
              <a:latin typeface="微软雅黑"/>
              <a:ea typeface="微软雅黑"/>
              <a:cs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系统业务流</a:t>
            </a:r>
            <a:r>
              <a:rPr lang="en-US" altLang="zh-CN" sz="2500">
                <a:solidFill>
                  <a:srgbClr val="383838"/>
                </a:solidFill>
                <a:effectLst/>
                <a:latin typeface="微软雅黑"/>
                <a:ea typeface="微软雅黑"/>
                <a:cs typeface="微软雅黑"/>
              </a:rPr>
              <a:t>/</a:t>
            </a:r>
            <a:r>
              <a:rPr sz="2500">
                <a:solidFill>
                  <a:srgbClr val="383838"/>
                </a:solidFill>
                <a:effectLst/>
                <a:latin typeface="微软雅黑"/>
                <a:ea typeface="微软雅黑"/>
                <a:cs typeface="微软雅黑"/>
              </a:rPr>
              <a:t>数据流原理</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任意多边形: 形状 943"/>
          <p:cNvSpPr/>
          <p:nvPr/>
        </p:nvSpPr>
        <p:spPr>
          <a:xfrm>
            <a:off x="3686810" y="3947795"/>
            <a:ext cx="4556760" cy="2271395"/>
          </a:xfrm>
          <a:custGeom>
            <a:avLst/>
            <a:gdLst>
              <a:gd name="connsiteX0" fmla="*/ 38561 w 4648200"/>
              <a:gd name="connsiteY0" fmla="*/ 0 h 2247900"/>
              <a:gd name="connsiteX1" fmla="*/ 4648200 w 4648200"/>
              <a:gd name="connsiteY1" fmla="*/ 0 h 2247900"/>
              <a:gd name="connsiteX2" fmla="*/ 4648200 w 4648200"/>
              <a:gd name="connsiteY2" fmla="*/ 2247900 h 2247900"/>
              <a:gd name="connsiteX3" fmla="*/ 0 w 4648200"/>
              <a:gd name="connsiteY3" fmla="*/ 2247900 h 2247900"/>
              <a:gd name="connsiteX4" fmla="*/ 0 w 4648200"/>
              <a:gd name="connsiteY4" fmla="*/ 2231419 h 2247900"/>
              <a:gd name="connsiteX5" fmla="*/ 10101 w 4648200"/>
              <a:gd name="connsiteY5" fmla="*/ 2231419 h 2247900"/>
              <a:gd name="connsiteX6" fmla="*/ 144234 w 4648200"/>
              <a:gd name="connsiteY6" fmla="*/ 1102707 h 2247900"/>
              <a:gd name="connsiteX7" fmla="*/ 49998 w 4648200"/>
              <a:gd name="connsiteY7" fmla="*/ 24747 h 224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48200" h="2247900">
                <a:moveTo>
                  <a:pt x="38561" y="0"/>
                </a:moveTo>
                <a:lnTo>
                  <a:pt x="4648200" y="0"/>
                </a:lnTo>
                <a:lnTo>
                  <a:pt x="4648200" y="2247900"/>
                </a:lnTo>
                <a:lnTo>
                  <a:pt x="0" y="2247900"/>
                </a:lnTo>
                <a:lnTo>
                  <a:pt x="0" y="2231419"/>
                </a:lnTo>
                <a:lnTo>
                  <a:pt x="10101" y="2231419"/>
                </a:lnTo>
                <a:cubicBezTo>
                  <a:pt x="84208" y="2231419"/>
                  <a:pt x="144234" y="1725982"/>
                  <a:pt x="144234" y="1102707"/>
                </a:cubicBezTo>
                <a:cubicBezTo>
                  <a:pt x="144234" y="596296"/>
                  <a:pt x="104608" y="167676"/>
                  <a:pt x="49998" y="24747"/>
                </a:cubicBezTo>
                <a:close/>
              </a:path>
            </a:pathLst>
          </a:custGeom>
          <a:solidFill>
            <a:srgbClr val="E6E6E6">
              <a:alpha val="30000"/>
            </a:srgbClr>
          </a:solidFill>
          <a:ln w="11430">
            <a:gradFill flip="none" rotWithShape="1">
              <a:gsLst>
                <a:gs pos="0">
                  <a:srgbClr val="3368FF">
                    <a:alpha val="0"/>
                  </a:srgbClr>
                </a:gs>
                <a:gs pos="100000">
                  <a:srgbClr val="3368FF"/>
                </a:gs>
              </a:gsLst>
              <a:lin ang="0" scaled="1"/>
              <a:tileRect/>
            </a:gra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solidFill>
                <a:srgbClr val="0042FF"/>
              </a:solidFill>
              <a:latin typeface="微软雅黑"/>
              <a:ea typeface="微软雅黑"/>
              <a:cs typeface="微软雅黑"/>
              <a:sym typeface="微软雅黑"/>
            </a:endParaRPr>
          </a:p>
        </p:txBody>
      </p:sp>
      <p:sp>
        <p:nvSpPr>
          <p:cNvPr id="7" name="不完整圆 235"/>
          <p:cNvSpPr/>
          <p:nvPr/>
        </p:nvSpPr>
        <p:spPr>
          <a:xfrm rot="5400000">
            <a:off x="3163985" y="4934782"/>
            <a:ext cx="2051616" cy="244267"/>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57000">
                <a:srgbClr val="3368FF">
                  <a:alpha val="0"/>
                </a:srgbClr>
              </a:gs>
              <a:gs pos="100000">
                <a:srgbClr val="3368FF"/>
              </a:gs>
            </a:gsLst>
            <a:path path="circle">
              <a:fillToRect l="50000" t="50000" r="50000" b="50000"/>
            </a:path>
            <a:tileRect/>
          </a:gradFill>
          <a:ln w="11684">
            <a:gradFill flip="none" rotWithShape="1">
              <a:gsLst>
                <a:gs pos="0">
                  <a:srgbClr val="3368FF">
                    <a:alpha val="0"/>
                  </a:srgbClr>
                </a:gs>
                <a:gs pos="100000">
                  <a:srgbClr val="3368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lIns="84125" tIns="42062" rIns="84125" bIns="42062" rtlCol="0" anchor="ctr"/>
          <a:lstStyle/>
          <a:p>
            <a:pPr algn="ctr">
              <a:defRPr>
                <a:solidFill>
                  <a:srgbClr val="383838"/>
                </a:solidFill>
                <a:latin typeface="微软雅黑"/>
                <a:ea typeface="微软雅黑"/>
                <a:cs typeface="微软雅黑"/>
              </a:defRPr>
            </a:pPr>
            <a:endParaRPr lang="zh-CN" altLang="en-US" sz="1655" dirty="0">
              <a:solidFill>
                <a:srgbClr val="383838"/>
              </a:solidFill>
              <a:latin typeface="微软雅黑"/>
              <a:ea typeface="微软雅黑"/>
              <a:cs typeface="微软雅黑"/>
            </a:endParaRPr>
          </a:p>
        </p:txBody>
      </p:sp>
      <p:sp>
        <p:nvSpPr>
          <p:cNvPr id="8" name="任意多边形: 形状 942"/>
          <p:cNvSpPr/>
          <p:nvPr/>
        </p:nvSpPr>
        <p:spPr>
          <a:xfrm>
            <a:off x="3687039" y="1551276"/>
            <a:ext cx="4562881" cy="2247900"/>
          </a:xfrm>
          <a:custGeom>
            <a:avLst/>
            <a:gdLst>
              <a:gd name="connsiteX0" fmla="*/ 38561 w 4648200"/>
              <a:gd name="connsiteY0" fmla="*/ 0 h 2247900"/>
              <a:gd name="connsiteX1" fmla="*/ 4648200 w 4648200"/>
              <a:gd name="connsiteY1" fmla="*/ 0 h 2247900"/>
              <a:gd name="connsiteX2" fmla="*/ 4648200 w 4648200"/>
              <a:gd name="connsiteY2" fmla="*/ 2247900 h 2247900"/>
              <a:gd name="connsiteX3" fmla="*/ 0 w 4648200"/>
              <a:gd name="connsiteY3" fmla="*/ 2247900 h 2247900"/>
              <a:gd name="connsiteX4" fmla="*/ 0 w 4648200"/>
              <a:gd name="connsiteY4" fmla="*/ 2231419 h 2247900"/>
              <a:gd name="connsiteX5" fmla="*/ 10101 w 4648200"/>
              <a:gd name="connsiteY5" fmla="*/ 2231419 h 2247900"/>
              <a:gd name="connsiteX6" fmla="*/ 144234 w 4648200"/>
              <a:gd name="connsiteY6" fmla="*/ 1102707 h 2247900"/>
              <a:gd name="connsiteX7" fmla="*/ 49998 w 4648200"/>
              <a:gd name="connsiteY7" fmla="*/ 24747 h 224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48200" h="2247900">
                <a:moveTo>
                  <a:pt x="38561" y="0"/>
                </a:moveTo>
                <a:lnTo>
                  <a:pt x="4648200" y="0"/>
                </a:lnTo>
                <a:lnTo>
                  <a:pt x="4648200" y="2247900"/>
                </a:lnTo>
                <a:lnTo>
                  <a:pt x="0" y="2247900"/>
                </a:lnTo>
                <a:lnTo>
                  <a:pt x="0" y="2231419"/>
                </a:lnTo>
                <a:lnTo>
                  <a:pt x="10101" y="2231419"/>
                </a:lnTo>
                <a:cubicBezTo>
                  <a:pt x="84208" y="2231419"/>
                  <a:pt x="144234" y="1725982"/>
                  <a:pt x="144234" y="1102707"/>
                </a:cubicBezTo>
                <a:cubicBezTo>
                  <a:pt x="144234" y="596296"/>
                  <a:pt x="104608" y="167676"/>
                  <a:pt x="49998" y="24747"/>
                </a:cubicBezTo>
                <a:close/>
              </a:path>
            </a:pathLst>
          </a:custGeom>
          <a:solidFill>
            <a:srgbClr val="E6E6E6">
              <a:alpha val="30000"/>
            </a:srgbClr>
          </a:solidFill>
          <a:ln w="11430">
            <a:gradFill flip="none" rotWithShape="1">
              <a:gsLst>
                <a:gs pos="0">
                  <a:srgbClr val="3368FF">
                    <a:alpha val="0"/>
                  </a:srgbClr>
                </a:gs>
                <a:gs pos="100000">
                  <a:srgbClr val="3368FF"/>
                </a:gs>
              </a:gsLst>
              <a:lin ang="0" scaled="1"/>
              <a:tileRect/>
            </a:gradFill>
            <a:prstDash val="dash"/>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dirty="0">
              <a:solidFill>
                <a:srgbClr val="0042FF"/>
              </a:solidFill>
              <a:latin typeface="微软雅黑"/>
              <a:ea typeface="微软雅黑"/>
              <a:cs typeface="微软雅黑"/>
            </a:endParaRPr>
          </a:p>
        </p:txBody>
      </p:sp>
      <p:sp>
        <p:nvSpPr>
          <p:cNvPr id="11" name="梯形 10"/>
          <p:cNvSpPr/>
          <p:nvPr/>
        </p:nvSpPr>
        <p:spPr>
          <a:xfrm rot="16200000" flipH="1" flipV="1">
            <a:off x="386715" y="3552825"/>
            <a:ext cx="4907280" cy="426085"/>
          </a:xfrm>
          <a:prstGeom prst="trapezoid">
            <a:avLst>
              <a:gd name="adj" fmla="val 119447"/>
            </a:avLst>
          </a:prstGeom>
          <a:gradFill>
            <a:gsLst>
              <a:gs pos="0">
                <a:srgbClr val="E6E6E6">
                  <a:alpha val="0"/>
                </a:srgbClr>
              </a:gs>
              <a:gs pos="100000">
                <a:srgbClr val="E6E6E6">
                  <a:alpha val="40000"/>
                </a:srgbClr>
              </a:gs>
            </a:gsLst>
            <a:lin ang="5400000" scaled="0"/>
          </a:gradFill>
          <a:ln w="12700">
            <a:gradFill>
              <a:gsLst>
                <a:gs pos="0">
                  <a:srgbClr val="3368FF"/>
                </a:gs>
                <a:gs pos="100000">
                  <a:srgbClr val="3368FF">
                    <a:alpha val="0"/>
                  </a:srgbClr>
                </a:gs>
              </a:gsLst>
              <a:lin ang="16200000" scaled="1"/>
            </a:grad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2" name="矩形 11"/>
          <p:cNvSpPr/>
          <p:nvPr/>
        </p:nvSpPr>
        <p:spPr>
          <a:xfrm rot="16200000" flipH="1" flipV="1">
            <a:off x="105633" y="3722629"/>
            <a:ext cx="4954328" cy="88498"/>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3" name="梯形 12"/>
          <p:cNvSpPr/>
          <p:nvPr/>
        </p:nvSpPr>
        <p:spPr>
          <a:xfrm rot="5400000" flipV="1">
            <a:off x="7569835" y="3559175"/>
            <a:ext cx="4940300" cy="419100"/>
          </a:xfrm>
          <a:prstGeom prst="trapezoid">
            <a:avLst>
              <a:gd name="adj" fmla="val 119447"/>
            </a:avLst>
          </a:prstGeom>
          <a:gradFill>
            <a:gsLst>
              <a:gs pos="0">
                <a:srgbClr val="FFFFFF">
                  <a:alpha val="0"/>
                </a:srgbClr>
              </a:gs>
              <a:gs pos="100000">
                <a:srgbClr val="FFFFFF">
                  <a:alpha val="40000"/>
                </a:srgbClr>
              </a:gs>
            </a:gsLst>
            <a:lin ang="5400000" scaled="0"/>
          </a:gradFill>
          <a:ln w="12700">
            <a:gradFill>
              <a:gsLst>
                <a:gs pos="0">
                  <a:srgbClr val="B3D4FE"/>
                </a:gs>
                <a:gs pos="100000">
                  <a:srgbClr val="B3D4FE">
                    <a:alpha val="0"/>
                  </a:srgbClr>
                </a:gs>
              </a:gsLst>
              <a:lin ang="16200000" scaled="1"/>
            </a:grad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4" name="矩形 13"/>
          <p:cNvSpPr/>
          <p:nvPr/>
        </p:nvSpPr>
        <p:spPr>
          <a:xfrm rot="5400000" flipV="1">
            <a:off x="7814935" y="3722629"/>
            <a:ext cx="4954328" cy="88498"/>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 name="流程图: 磁盘 17"/>
          <p:cNvSpPr/>
          <p:nvPr/>
        </p:nvSpPr>
        <p:spPr>
          <a:xfrm rot="5400000">
            <a:off x="2310174" y="2273284"/>
            <a:ext cx="2257425" cy="804635"/>
          </a:xfrm>
          <a:prstGeom prst="flowChartMagneticDisk">
            <a:avLst/>
          </a:prstGeom>
          <a:gradFill flip="none" rotWithShape="1">
            <a:gsLst>
              <a:gs pos="40000">
                <a:srgbClr val="3368FF">
                  <a:alpha val="0"/>
                </a:srgbClr>
              </a:gs>
              <a:gs pos="100000">
                <a:srgbClr val="3368FF">
                  <a:alpha val="60000"/>
                </a:srgbClr>
              </a:gs>
            </a:gsLst>
            <a:path path="circle">
              <a:fillToRect l="50000" t="50000" r="50000" b="50000"/>
            </a:path>
            <a:tileRect/>
          </a:grad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9" name="流程图: 磁盘 18"/>
          <p:cNvSpPr/>
          <p:nvPr/>
        </p:nvSpPr>
        <p:spPr>
          <a:xfrm rot="5400000">
            <a:off x="2310174" y="4673584"/>
            <a:ext cx="2257425" cy="804635"/>
          </a:xfrm>
          <a:prstGeom prst="flowChartMagneticDisk">
            <a:avLst/>
          </a:prstGeom>
          <a:gradFill flip="none" rotWithShape="1">
            <a:gsLst>
              <a:gs pos="40000">
                <a:srgbClr val="3368FF">
                  <a:alpha val="0"/>
                </a:srgbClr>
              </a:gs>
              <a:gs pos="100000">
                <a:srgbClr val="3368FF">
                  <a:alpha val="60000"/>
                </a:srgbClr>
              </a:gs>
            </a:gsLst>
            <a:path path="circle">
              <a:fillToRect l="50000" t="50000" r="50000" b="50000"/>
            </a:path>
            <a:tileRect/>
          </a:gradFill>
          <a:ln w="12700">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0" name="流程图: 磁盘 19"/>
          <p:cNvSpPr/>
          <p:nvPr/>
        </p:nvSpPr>
        <p:spPr>
          <a:xfrm rot="5400000">
            <a:off x="6508998" y="3539317"/>
            <a:ext cx="4648201" cy="758600"/>
          </a:xfrm>
          <a:prstGeom prst="flowChartMagneticDisk">
            <a:avLst/>
          </a:prstGeom>
          <a:gradFill flip="none" rotWithShape="1">
            <a:gsLst>
              <a:gs pos="40000">
                <a:srgbClr val="B3D4FE">
                  <a:alpha val="0"/>
                </a:srgbClr>
              </a:gs>
              <a:gs pos="100000">
                <a:srgbClr val="B3D4FE">
                  <a:alpha val="60000"/>
                </a:srgbClr>
              </a:gs>
            </a:gsLst>
            <a:path path="circle">
              <a:fillToRect l="50000" t="50000" r="50000" b="50000"/>
            </a:path>
            <a:tileRect/>
          </a:gradFill>
          <a:ln w="12700">
            <a:solidFill>
              <a:srgbClr val="B3D4FE"/>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21" name="文本框 20"/>
          <p:cNvSpPr txBox="1"/>
          <p:nvPr/>
        </p:nvSpPr>
        <p:spPr>
          <a:xfrm>
            <a:off x="3153073" y="2212640"/>
            <a:ext cx="302985" cy="1076325"/>
          </a:xfrm>
          <a:prstGeom prst="rect">
            <a:avLst/>
          </a:prstGeom>
          <a:noFill/>
        </p:spPr>
        <p:txBody>
          <a:bodyPr wrap="square" rtlCol="0">
            <a:spAutoFit/>
          </a:bodyPr>
          <a:lstStyle/>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业务</a:t>
            </a:r>
            <a:endParaRPr lang="en-US" altLang="zh-CN" sz="16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中台</a:t>
            </a:r>
            <a:endParaRPr lang="zh-CN" altLang="en-US" sz="1600" b="1" dirty="0">
              <a:solidFill>
                <a:srgbClr val="383838"/>
              </a:solidFill>
              <a:latin typeface="微软雅黑"/>
              <a:ea typeface="微软雅黑"/>
              <a:cs typeface="微软雅黑"/>
            </a:endParaRPr>
          </a:p>
        </p:txBody>
      </p:sp>
      <p:sp>
        <p:nvSpPr>
          <p:cNvPr id="22" name="文本框 21"/>
          <p:cNvSpPr txBox="1"/>
          <p:nvPr/>
        </p:nvSpPr>
        <p:spPr>
          <a:xfrm>
            <a:off x="3058344" y="4673357"/>
            <a:ext cx="492443" cy="1076325"/>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数据中台</a:t>
            </a:r>
            <a:endParaRPr lang="zh-CN" altLang="en-US" sz="1600" b="1" dirty="0">
              <a:solidFill>
                <a:srgbClr val="383838"/>
              </a:solidFill>
              <a:latin typeface="微软雅黑"/>
              <a:ea typeface="微软雅黑"/>
              <a:cs typeface="微软雅黑"/>
              <a:sym typeface="微软雅黑"/>
            </a:endParaRPr>
          </a:p>
        </p:txBody>
      </p:sp>
      <p:sp>
        <p:nvSpPr>
          <p:cNvPr id="23" name="文本框 22"/>
          <p:cNvSpPr txBox="1"/>
          <p:nvPr/>
        </p:nvSpPr>
        <p:spPr>
          <a:xfrm>
            <a:off x="8468088" y="3532465"/>
            <a:ext cx="492443" cy="460375"/>
          </a:xfrm>
          <a:prstGeom prst="rect">
            <a:avLst/>
          </a:prstGeom>
          <a:noFill/>
        </p:spPr>
        <p:txBody>
          <a:bodyPr wrap="square" rtlCol="0">
            <a:spAutoFit/>
          </a:bodyPr>
          <a:lstStyle/>
          <a:p>
            <a:pPr algn="l">
              <a:defRPr>
                <a:latin typeface="微软雅黑"/>
                <a:ea typeface="微软雅黑"/>
                <a:cs typeface="微软雅黑"/>
              </a:defRPr>
            </a:pPr>
            <a:r>
              <a:rPr lang="zh-CN" altLang="en-US" sz="1200" b="1" dirty="0">
                <a:solidFill>
                  <a:srgbClr val="0042FF"/>
                </a:solidFill>
                <a:latin typeface="微软雅黑"/>
                <a:ea typeface="微软雅黑"/>
                <a:cs typeface="微软雅黑"/>
              </a:rPr>
              <a:t>服务</a:t>
            </a:r>
            <a:endParaRPr lang="en-US" altLang="zh-CN" sz="1200" b="1" dirty="0">
              <a:solidFill>
                <a:srgbClr val="0042FF"/>
              </a:solidFill>
              <a:latin typeface="微软雅黑"/>
              <a:ea typeface="微软雅黑"/>
              <a:cs typeface="微软雅黑"/>
            </a:endParaRPr>
          </a:p>
          <a:p>
            <a:pPr algn="l">
              <a:defRPr>
                <a:latin typeface="微软雅黑"/>
                <a:ea typeface="微软雅黑"/>
                <a:cs typeface="微软雅黑"/>
              </a:defRPr>
            </a:pPr>
            <a:r>
              <a:rPr lang="zh-CN" altLang="en-US" sz="1200" b="1" dirty="0">
                <a:solidFill>
                  <a:srgbClr val="0042FF"/>
                </a:solidFill>
                <a:latin typeface="微软雅黑"/>
                <a:ea typeface="微软雅黑"/>
                <a:cs typeface="微软雅黑"/>
              </a:rPr>
              <a:t>能力</a:t>
            </a:r>
            <a:endParaRPr lang="zh-CN" altLang="en-US" sz="1200" b="1" dirty="0">
              <a:solidFill>
                <a:srgbClr val="0042FF"/>
              </a:solidFill>
              <a:latin typeface="微软雅黑"/>
              <a:ea typeface="微软雅黑"/>
              <a:cs typeface="微软雅黑"/>
            </a:endParaRPr>
          </a:p>
        </p:txBody>
      </p:sp>
      <p:sp>
        <p:nvSpPr>
          <p:cNvPr id="28" name="六边形 27"/>
          <p:cNvSpPr/>
          <p:nvPr/>
        </p:nvSpPr>
        <p:spPr>
          <a:xfrm rot="5400000">
            <a:off x="9326709" y="1607261"/>
            <a:ext cx="618889" cy="533525"/>
          </a:xfrm>
          <a:prstGeom prst="hexagon">
            <a:avLst/>
          </a:prstGeom>
          <a:solidFill>
            <a:srgbClr val="B3D4FE"/>
          </a:solidFill>
          <a:ln w="38100">
            <a:solidFill>
              <a:srgbClr val="FFFFFF"/>
            </a:solid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9" name="文本框 28"/>
          <p:cNvSpPr txBox="1"/>
          <p:nvPr/>
        </p:nvSpPr>
        <p:spPr>
          <a:xfrm>
            <a:off x="9424218" y="1676960"/>
            <a:ext cx="441146" cy="400110"/>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用户</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服务</a:t>
            </a:r>
            <a:endParaRPr lang="zh-CN" altLang="en-US" sz="1000" dirty="0">
              <a:solidFill>
                <a:srgbClr val="383838"/>
              </a:solidFill>
              <a:latin typeface="微软雅黑"/>
              <a:ea typeface="微软雅黑"/>
              <a:cs typeface="微软雅黑"/>
            </a:endParaRPr>
          </a:p>
        </p:txBody>
      </p:sp>
      <p:sp>
        <p:nvSpPr>
          <p:cNvPr id="30" name="六边形 29"/>
          <p:cNvSpPr/>
          <p:nvPr/>
        </p:nvSpPr>
        <p:spPr>
          <a:xfrm rot="5400000">
            <a:off x="9326709" y="2417521"/>
            <a:ext cx="618889" cy="533525"/>
          </a:xfrm>
          <a:prstGeom prst="hexagon">
            <a:avLst/>
          </a:prstGeom>
          <a:solidFill>
            <a:srgbClr val="B3D4FE"/>
          </a:solidFill>
          <a:ln w="381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1" name="六边形 30"/>
          <p:cNvSpPr/>
          <p:nvPr/>
        </p:nvSpPr>
        <p:spPr>
          <a:xfrm rot="5400000">
            <a:off x="9326709" y="3227781"/>
            <a:ext cx="618889" cy="533525"/>
          </a:xfrm>
          <a:prstGeom prst="hexagon">
            <a:avLst/>
          </a:prstGeom>
          <a:solidFill>
            <a:srgbClr val="B3D4FE"/>
          </a:solidFill>
          <a:ln w="381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2" name="六边形 31"/>
          <p:cNvSpPr/>
          <p:nvPr/>
        </p:nvSpPr>
        <p:spPr>
          <a:xfrm rot="5400000">
            <a:off x="9326709" y="4038041"/>
            <a:ext cx="618889" cy="533525"/>
          </a:xfrm>
          <a:prstGeom prst="hexagon">
            <a:avLst/>
          </a:prstGeom>
          <a:solidFill>
            <a:srgbClr val="B3D4FE"/>
          </a:solidFill>
          <a:ln w="381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7" name="六边形 36"/>
          <p:cNvSpPr/>
          <p:nvPr/>
        </p:nvSpPr>
        <p:spPr>
          <a:xfrm rot="5400000">
            <a:off x="9326709" y="4848301"/>
            <a:ext cx="618889" cy="533525"/>
          </a:xfrm>
          <a:prstGeom prst="hexagon">
            <a:avLst/>
          </a:prstGeom>
          <a:solidFill>
            <a:srgbClr val="B3D4FE"/>
          </a:solidFill>
          <a:ln w="381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8" name="六边形 37"/>
          <p:cNvSpPr/>
          <p:nvPr/>
        </p:nvSpPr>
        <p:spPr>
          <a:xfrm rot="5400000">
            <a:off x="9326709" y="5658561"/>
            <a:ext cx="618889" cy="533525"/>
          </a:xfrm>
          <a:prstGeom prst="hexagon">
            <a:avLst/>
          </a:prstGeom>
          <a:solidFill>
            <a:srgbClr val="B3D4FE"/>
          </a:solidFill>
          <a:ln w="38100">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9" name="不完整圆 235"/>
          <p:cNvSpPr/>
          <p:nvPr/>
        </p:nvSpPr>
        <p:spPr>
          <a:xfrm>
            <a:off x="10853536" y="2161668"/>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45" name="不完整圆 235"/>
          <p:cNvSpPr/>
          <p:nvPr/>
        </p:nvSpPr>
        <p:spPr>
          <a:xfrm>
            <a:off x="10853536" y="2110190"/>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46" name="椭圆 45"/>
          <p:cNvSpPr/>
          <p:nvPr>
            <p:custDataLst>
              <p:tags r:id="rId3"/>
            </p:custDataLst>
          </p:nvPr>
        </p:nvSpPr>
        <p:spPr>
          <a:xfrm flipH="1">
            <a:off x="10975197" y="1565860"/>
            <a:ext cx="577617" cy="577617"/>
          </a:xfrm>
          <a:prstGeom prst="ellipse">
            <a:avLst/>
          </a:prstGeom>
          <a:gradFill>
            <a:gsLst>
              <a:gs pos="0">
                <a:srgbClr val="B3D4FE"/>
              </a:gs>
              <a:gs pos="100000">
                <a:srgbClr val="3368FF"/>
              </a:gs>
            </a:gsLst>
            <a:lin ang="27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48" name="文本框 47"/>
          <p:cNvSpPr txBox="1"/>
          <p:nvPr/>
        </p:nvSpPr>
        <p:spPr>
          <a:xfrm>
            <a:off x="10897384" y="2288641"/>
            <a:ext cx="733243" cy="268215"/>
          </a:xfrm>
          <a:prstGeom prst="rect">
            <a:avLst/>
          </a:prstGeom>
          <a:noFill/>
        </p:spPr>
        <p:txBody>
          <a:bodyPr wrap="square" lIns="0" rIns="0" tIns="0" bIns="0">
            <a:sp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电子商城</a:t>
            </a:r>
            <a:endParaRPr lang="zh-CN" altLang="en-US" sz="1000" dirty="0">
              <a:solidFill>
                <a:srgbClr val="383838"/>
              </a:solidFill>
              <a:latin typeface="微软雅黑"/>
              <a:ea typeface="微软雅黑"/>
              <a:cs typeface="微软雅黑"/>
            </a:endParaRPr>
          </a:p>
        </p:txBody>
      </p:sp>
      <p:sp>
        <p:nvSpPr>
          <p:cNvPr id="49" name="不完整圆 235"/>
          <p:cNvSpPr/>
          <p:nvPr/>
        </p:nvSpPr>
        <p:spPr>
          <a:xfrm>
            <a:off x="10853536" y="3322811"/>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0" name="不完整圆 235"/>
          <p:cNvSpPr/>
          <p:nvPr/>
        </p:nvSpPr>
        <p:spPr>
          <a:xfrm>
            <a:off x="10853536" y="3271333"/>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1" name="椭圆 50"/>
          <p:cNvSpPr/>
          <p:nvPr>
            <p:custDataLst>
              <p:tags r:id="rId4"/>
            </p:custDataLst>
          </p:nvPr>
        </p:nvSpPr>
        <p:spPr>
          <a:xfrm flipH="1">
            <a:off x="10975197" y="2727003"/>
            <a:ext cx="577617" cy="577617"/>
          </a:xfrm>
          <a:prstGeom prst="ellipse">
            <a:avLst/>
          </a:prstGeom>
          <a:gradFill>
            <a:gsLst>
              <a:gs pos="0">
                <a:srgbClr val="B3D4FE"/>
              </a:gs>
              <a:gs pos="100000">
                <a:srgbClr val="3368FF"/>
              </a:gs>
            </a:gsLst>
            <a:lin ang="27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2" name="文本框 51"/>
          <p:cNvSpPr txBox="1"/>
          <p:nvPr/>
        </p:nvSpPr>
        <p:spPr>
          <a:xfrm>
            <a:off x="10897384" y="3463119"/>
            <a:ext cx="733243" cy="268215"/>
          </a:xfrm>
          <a:prstGeom prst="rect">
            <a:avLst/>
          </a:prstGeom>
          <a:noFill/>
        </p:spPr>
        <p:txBody>
          <a:bodyPr wrap="square" lIns="0" rIns="0" tIns="0" bIns="0">
            <a:sp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ct val="120000"/>
              </a:lnSpc>
              <a:defRPr>
                <a:latin typeface="微软雅黑"/>
                <a:ea typeface="微软雅黑"/>
                <a:cs typeface="微软雅黑"/>
              </a:defRPr>
            </a:pPr>
            <a:r>
              <a:rPr lang="en-US" altLang="zh-CN" sz="1000" dirty="0">
                <a:solidFill>
                  <a:srgbClr val="383838"/>
                </a:solidFill>
                <a:latin typeface="微软雅黑"/>
                <a:ea typeface="微软雅黑"/>
                <a:cs typeface="微软雅黑"/>
              </a:rPr>
              <a:t>POS</a:t>
            </a:r>
            <a:r>
              <a:rPr lang="zh-CN" altLang="en-US" sz="1000" dirty="0">
                <a:solidFill>
                  <a:srgbClr val="383838"/>
                </a:solidFill>
                <a:latin typeface="微软雅黑"/>
                <a:ea typeface="微软雅黑"/>
                <a:cs typeface="微软雅黑"/>
              </a:rPr>
              <a:t>系统</a:t>
            </a:r>
            <a:endParaRPr lang="zh-CN" altLang="en-US" sz="1000" dirty="0">
              <a:solidFill>
                <a:srgbClr val="383838"/>
              </a:solidFill>
              <a:latin typeface="微软雅黑"/>
              <a:ea typeface="微软雅黑"/>
              <a:cs typeface="微软雅黑"/>
            </a:endParaRPr>
          </a:p>
        </p:txBody>
      </p:sp>
      <p:sp>
        <p:nvSpPr>
          <p:cNvPr id="53" name="不完整圆 235"/>
          <p:cNvSpPr/>
          <p:nvPr/>
        </p:nvSpPr>
        <p:spPr>
          <a:xfrm>
            <a:off x="10853536" y="4483954"/>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4" name="不完整圆 235"/>
          <p:cNvSpPr/>
          <p:nvPr/>
        </p:nvSpPr>
        <p:spPr>
          <a:xfrm>
            <a:off x="10853536" y="4432476"/>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5" name="椭圆 54"/>
          <p:cNvSpPr/>
          <p:nvPr>
            <p:custDataLst>
              <p:tags r:id="rId5"/>
            </p:custDataLst>
          </p:nvPr>
        </p:nvSpPr>
        <p:spPr>
          <a:xfrm flipH="1">
            <a:off x="10975197" y="3888146"/>
            <a:ext cx="577617" cy="577617"/>
          </a:xfrm>
          <a:prstGeom prst="ellipse">
            <a:avLst/>
          </a:prstGeom>
          <a:gradFill>
            <a:gsLst>
              <a:gs pos="0">
                <a:srgbClr val="B3D4FE"/>
              </a:gs>
              <a:gs pos="100000">
                <a:srgbClr val="3368FF"/>
              </a:gs>
            </a:gsLst>
            <a:lin ang="27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6" name="文本框 55"/>
          <p:cNvSpPr txBox="1"/>
          <p:nvPr/>
        </p:nvSpPr>
        <p:spPr>
          <a:xfrm>
            <a:off x="10786861" y="4624262"/>
            <a:ext cx="954290" cy="268215"/>
          </a:xfrm>
          <a:prstGeom prst="rect">
            <a:avLst/>
          </a:prstGeom>
          <a:noFill/>
        </p:spPr>
        <p:txBody>
          <a:bodyPr wrap="square" lIns="0" rIns="0" tIns="0" bIns="0">
            <a:sp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可视化大屏</a:t>
            </a:r>
            <a:endParaRPr lang="zh-CN" altLang="en-US" sz="1000" dirty="0">
              <a:solidFill>
                <a:srgbClr val="383838"/>
              </a:solidFill>
              <a:latin typeface="微软雅黑"/>
              <a:ea typeface="微软雅黑"/>
              <a:cs typeface="微软雅黑"/>
            </a:endParaRPr>
          </a:p>
        </p:txBody>
      </p:sp>
      <p:sp>
        <p:nvSpPr>
          <p:cNvPr id="57" name="不完整圆 235"/>
          <p:cNvSpPr/>
          <p:nvPr/>
        </p:nvSpPr>
        <p:spPr>
          <a:xfrm>
            <a:off x="10853536" y="5645097"/>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8" name="不完整圆 235"/>
          <p:cNvSpPr/>
          <p:nvPr/>
        </p:nvSpPr>
        <p:spPr>
          <a:xfrm>
            <a:off x="10853536" y="5593619"/>
            <a:ext cx="820940" cy="10295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noFill/>
          <a:ln w="38100">
            <a:gradFill flip="none" rotWithShape="1">
              <a:gsLst>
                <a:gs pos="0">
                  <a:srgbClr val="FFFFFF"/>
                </a:gs>
                <a:gs pos="100000">
                  <a:srgbClr val="3368FF"/>
                </a:gs>
              </a:gsLst>
              <a:lin ang="5400000" scaled="1"/>
              <a:tileRect/>
            </a:gra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59" name="椭圆 58"/>
          <p:cNvSpPr/>
          <p:nvPr>
            <p:custDataLst>
              <p:tags r:id="rId6"/>
            </p:custDataLst>
          </p:nvPr>
        </p:nvSpPr>
        <p:spPr>
          <a:xfrm flipH="1">
            <a:off x="10975197" y="5049289"/>
            <a:ext cx="577617" cy="577617"/>
          </a:xfrm>
          <a:prstGeom prst="ellipse">
            <a:avLst/>
          </a:prstGeom>
          <a:gradFill>
            <a:gsLst>
              <a:gs pos="0">
                <a:srgbClr val="B3D4FE"/>
              </a:gs>
              <a:gs pos="100000">
                <a:srgbClr val="3368FF"/>
              </a:gs>
            </a:gsLst>
            <a:lin ang="27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61" name="文本框 60"/>
          <p:cNvSpPr txBox="1"/>
          <p:nvPr/>
        </p:nvSpPr>
        <p:spPr>
          <a:xfrm>
            <a:off x="10736061" y="5785405"/>
            <a:ext cx="1055890" cy="268215"/>
          </a:xfrm>
          <a:prstGeom prst="rect">
            <a:avLst/>
          </a:prstGeom>
          <a:noFill/>
        </p:spPr>
        <p:txBody>
          <a:bodyPr wrap="square" lIns="0" rIns="0" tIns="0" bIns="0">
            <a:sp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400" b="0" u="none" strike="noStrike" cap="none" spc="0" normalizeH="0" baseline="0">
                <a:ln>
                  <a:noFill/>
                </a:ln>
                <a:solidFill>
                  <a:srgbClr val="383838"/>
                </a:solidFill>
                <a:effectLst/>
                <a:uLnTx/>
                <a:uFillTx/>
                <a:latin typeface="微软雅黑"/>
                <a:ea typeface="微软雅黑"/>
                <a:cs typeface="微软雅黑"/>
              </a:defRPr>
            </a:lvl1pPr>
          </a:lstStyle>
          <a:p>
            <a:pPr algn="ct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rPr>
              <a:t>会员系统</a:t>
            </a:r>
            <a:endParaRPr lang="zh-CN" altLang="en-US" sz="1000" dirty="0">
              <a:solidFill>
                <a:srgbClr val="383838"/>
              </a:solidFill>
              <a:latin typeface="微软雅黑"/>
              <a:ea typeface="微软雅黑"/>
              <a:cs typeface="微软雅黑"/>
            </a:endParaRPr>
          </a:p>
        </p:txBody>
      </p:sp>
      <p:sp>
        <p:nvSpPr>
          <p:cNvPr id="62" name="流程图: 磁盘 61"/>
          <p:cNvSpPr/>
          <p:nvPr/>
        </p:nvSpPr>
        <p:spPr>
          <a:xfrm>
            <a:off x="508542" y="1668504"/>
            <a:ext cx="1389746" cy="656260"/>
          </a:xfrm>
          <a:prstGeom prst="flowChartMagneticDisk">
            <a:avLst/>
          </a:prstGeom>
          <a:gradFill>
            <a:gsLst>
              <a:gs pos="77000">
                <a:srgbClr val="0042FF"/>
              </a:gs>
              <a:gs pos="0">
                <a:srgbClr val="3368FF"/>
              </a:gs>
            </a:gsLst>
            <a:lin ang="5400000" scaled="0"/>
          </a:gradFill>
          <a:ln w="12700">
            <a:solidFill>
              <a:srgbClr val="E6E6E6"/>
            </a:solidFill>
          </a:ln>
          <a:effectLst>
            <a:outerShdw blurRad="190500" dist="76200" dir="5400000" sx="103000" sy="103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64" name="文本框 63"/>
          <p:cNvSpPr txBox="1"/>
          <p:nvPr/>
        </p:nvSpPr>
        <p:spPr>
          <a:xfrm>
            <a:off x="814526" y="1883335"/>
            <a:ext cx="777777" cy="276999"/>
          </a:xfrm>
          <a:prstGeom prst="rect">
            <a:avLst/>
          </a:prstGeom>
          <a:noFill/>
          <a:extLst>
            <a:ext uri="{909E8E84-426E-40DD-AFC4-6F175D3DCCD1}">
              <a14:hiddenFill xmlns:a14="http://schemas.microsoft.com/office/drawing/2010/main">
                <a:solidFill>
                  <a:srgbClr val="0042FF"/>
                </a:solidFill>
              </a14:hiddenFill>
            </a:ext>
          </a:extLst>
        </p:spPr>
        <p:txBody>
          <a:bodyPr wrap="none" rtlCol="0">
            <a:spAutoFit/>
          </a:bodyPr>
          <a:lstStyle/>
          <a:p>
            <a:pPr algn="ctr">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ERP</a:t>
            </a:r>
            <a:r>
              <a:rPr lang="zh-CN" altLang="en-US" sz="1200" dirty="0">
                <a:solidFill>
                  <a:srgbClr val="FFFFFF"/>
                </a:solidFill>
                <a:latin typeface="微软雅黑"/>
                <a:ea typeface="微软雅黑"/>
                <a:cs typeface="微软雅黑"/>
              </a:rPr>
              <a:t>系统</a:t>
            </a:r>
            <a:endParaRPr lang="zh-CN" altLang="en-US" sz="1200" dirty="0">
              <a:solidFill>
                <a:srgbClr val="FFFFFF"/>
              </a:solidFill>
              <a:latin typeface="微软雅黑"/>
              <a:ea typeface="微软雅黑"/>
              <a:cs typeface="微软雅黑"/>
            </a:endParaRPr>
          </a:p>
        </p:txBody>
      </p:sp>
      <p:sp>
        <p:nvSpPr>
          <p:cNvPr id="65" name="文本框 64"/>
          <p:cNvSpPr txBox="1"/>
          <p:nvPr/>
        </p:nvSpPr>
        <p:spPr>
          <a:xfrm>
            <a:off x="688157" y="2082432"/>
            <a:ext cx="1030514" cy="200055"/>
          </a:xfrm>
          <a:prstGeom prst="rect">
            <a:avLst/>
          </a:prstGeom>
          <a:noFill/>
          <a:extLst>
            <a:ext uri="{909E8E84-426E-40DD-AFC4-6F175D3DCCD1}">
              <a14:hiddenFill xmlns:a14="http://schemas.microsoft.com/office/drawing/2010/main">
                <a:solidFill>
                  <a:srgbClr val="0042FF"/>
                </a:solidFill>
              </a14:hiddenFill>
            </a:ext>
          </a:extLst>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rPr>
              <a:t>Enter your title</a:t>
            </a:r>
            <a:endPar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66" name="流程图: 磁盘 65"/>
          <p:cNvSpPr/>
          <p:nvPr/>
        </p:nvSpPr>
        <p:spPr>
          <a:xfrm>
            <a:off x="508542" y="2587667"/>
            <a:ext cx="1389746" cy="656260"/>
          </a:xfrm>
          <a:prstGeom prst="flowChartMagneticDisk">
            <a:avLst/>
          </a:prstGeom>
          <a:gradFill>
            <a:gsLst>
              <a:gs pos="77000">
                <a:srgbClr val="0042FF"/>
              </a:gs>
              <a:gs pos="0">
                <a:srgbClr val="3368FF"/>
              </a:gs>
            </a:gsLst>
            <a:lin ang="5400000" scaled="0"/>
          </a:gradFill>
          <a:ln w="12700">
            <a:solidFill>
              <a:srgbClr val="E6E6E6"/>
            </a:solidFill>
          </a:ln>
          <a:effectLst>
            <a:outerShdw blurRad="190500" dist="76200" dir="5400000" sx="103000" sy="103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67" name="文本框 66"/>
          <p:cNvSpPr txBox="1"/>
          <p:nvPr/>
        </p:nvSpPr>
        <p:spPr>
          <a:xfrm>
            <a:off x="803307" y="2802498"/>
            <a:ext cx="800220" cy="276999"/>
          </a:xfrm>
          <a:prstGeom prst="rect">
            <a:avLst/>
          </a:prstGeom>
          <a:noFill/>
          <a:extLst>
            <a:ext uri="{909E8E84-426E-40DD-AFC4-6F175D3DCCD1}">
              <a14:hiddenFill xmlns:a14="http://schemas.microsoft.com/office/drawing/2010/main">
                <a:solidFill>
                  <a:srgbClr val="0042FF"/>
                </a:solidFill>
              </a14:hiddenFill>
            </a:ext>
          </a:extLst>
        </p:spPr>
        <p:txBody>
          <a:bodyPr wrap="none"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采购系统</a:t>
            </a:r>
            <a:endParaRPr lang="zh-CN" altLang="en-US" sz="1200" dirty="0">
              <a:solidFill>
                <a:srgbClr val="FFFFFF"/>
              </a:solidFill>
              <a:latin typeface="微软雅黑"/>
              <a:ea typeface="微软雅黑"/>
              <a:cs typeface="微软雅黑"/>
            </a:endParaRPr>
          </a:p>
        </p:txBody>
      </p:sp>
      <p:sp>
        <p:nvSpPr>
          <p:cNvPr id="71" name="文本框 70"/>
          <p:cNvSpPr txBox="1"/>
          <p:nvPr/>
        </p:nvSpPr>
        <p:spPr>
          <a:xfrm>
            <a:off x="688157" y="3001595"/>
            <a:ext cx="1030514" cy="200055"/>
          </a:xfrm>
          <a:prstGeom prst="rect">
            <a:avLst/>
          </a:prstGeom>
          <a:noFill/>
          <a:extLst>
            <a:ext uri="{909E8E84-426E-40DD-AFC4-6F175D3DCCD1}">
              <a14:hiddenFill xmlns:a14="http://schemas.microsoft.com/office/drawing/2010/main">
                <a:solidFill>
                  <a:srgbClr val="0042FF"/>
                </a:solidFill>
              </a14:hiddenFill>
            </a:ext>
          </a:extLst>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rPr>
              <a:t>Enter your title</a:t>
            </a:r>
            <a:endPar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72" name="流程图: 磁盘 71"/>
          <p:cNvSpPr/>
          <p:nvPr/>
        </p:nvSpPr>
        <p:spPr>
          <a:xfrm>
            <a:off x="508542" y="3506830"/>
            <a:ext cx="1389746" cy="656260"/>
          </a:xfrm>
          <a:prstGeom prst="flowChartMagneticDisk">
            <a:avLst/>
          </a:prstGeom>
          <a:gradFill>
            <a:gsLst>
              <a:gs pos="77000">
                <a:srgbClr val="0042FF"/>
              </a:gs>
              <a:gs pos="0">
                <a:srgbClr val="3368FF"/>
              </a:gs>
            </a:gsLst>
            <a:lin ang="5400000" scaled="0"/>
          </a:gradFill>
          <a:ln w="12700">
            <a:solidFill>
              <a:srgbClr val="E6E6E6"/>
            </a:solidFill>
          </a:ln>
          <a:effectLst>
            <a:outerShdw blurRad="190500" dist="76200" dir="5400000" sx="103000" sy="103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3" name="文本框 72"/>
          <p:cNvSpPr txBox="1"/>
          <p:nvPr/>
        </p:nvSpPr>
        <p:spPr>
          <a:xfrm>
            <a:off x="649419" y="3721661"/>
            <a:ext cx="1107996" cy="276999"/>
          </a:xfrm>
          <a:prstGeom prst="rect">
            <a:avLst/>
          </a:prstGeom>
          <a:noFill/>
          <a:extLst>
            <a:ext uri="{909E8E84-426E-40DD-AFC4-6F175D3DCCD1}">
              <a14:hiddenFill xmlns:a14="http://schemas.microsoft.com/office/drawing/2010/main">
                <a:solidFill>
                  <a:srgbClr val="0042FF"/>
                </a:solidFill>
              </a14:hiddenFill>
            </a:ext>
          </a:extLst>
        </p:spPr>
        <p:txBody>
          <a:bodyPr wrap="none" rtlCol="0">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基础数据管理</a:t>
            </a:r>
            <a:endParaRPr lang="zh-CN" altLang="en-US" sz="1200" dirty="0">
              <a:solidFill>
                <a:srgbClr val="FFFFFF"/>
              </a:solidFill>
              <a:latin typeface="微软雅黑"/>
              <a:ea typeface="微软雅黑"/>
              <a:cs typeface="微软雅黑"/>
            </a:endParaRPr>
          </a:p>
        </p:txBody>
      </p:sp>
      <p:sp>
        <p:nvSpPr>
          <p:cNvPr id="74" name="文本框 73"/>
          <p:cNvSpPr txBox="1"/>
          <p:nvPr/>
        </p:nvSpPr>
        <p:spPr>
          <a:xfrm>
            <a:off x="688157" y="3920758"/>
            <a:ext cx="1030514" cy="200055"/>
          </a:xfrm>
          <a:prstGeom prst="rect">
            <a:avLst/>
          </a:prstGeom>
          <a:noFill/>
          <a:extLst>
            <a:ext uri="{909E8E84-426E-40DD-AFC4-6F175D3DCCD1}">
              <a14:hiddenFill xmlns:a14="http://schemas.microsoft.com/office/drawing/2010/main">
                <a:solidFill>
                  <a:srgbClr val="0042FF"/>
                </a:solidFill>
              </a14:hiddenFill>
            </a:ext>
          </a:extLst>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u="none" strike="noStrike" kern="1200" cap="none" spc="0" normalizeH="0" baseline="0" noProof="0">
                <a:ln>
                  <a:noFill/>
                </a:ln>
                <a:solidFill>
                  <a:srgbClr val="FFFFFF"/>
                </a:solidFill>
                <a:effectLst/>
                <a:uLnTx/>
                <a:uFillTx/>
                <a:latin typeface="微软雅黑"/>
                <a:ea typeface="微软雅黑"/>
                <a:cs typeface="微软雅黑"/>
              </a:rPr>
              <a:t>Enter your title</a:t>
            </a:r>
            <a:endPar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75" name="流程图: 磁盘 74"/>
          <p:cNvSpPr/>
          <p:nvPr/>
        </p:nvSpPr>
        <p:spPr>
          <a:xfrm>
            <a:off x="508542" y="4425993"/>
            <a:ext cx="1389746" cy="656260"/>
          </a:xfrm>
          <a:prstGeom prst="flowChartMagneticDisk">
            <a:avLst/>
          </a:prstGeom>
          <a:gradFill>
            <a:gsLst>
              <a:gs pos="77000">
                <a:srgbClr val="0042FF"/>
              </a:gs>
              <a:gs pos="0">
                <a:srgbClr val="3368FF"/>
              </a:gs>
            </a:gsLst>
            <a:lin ang="5400000" scaled="0"/>
          </a:gradFill>
          <a:ln w="12700">
            <a:solidFill>
              <a:srgbClr val="E6E6E6"/>
            </a:solidFill>
          </a:ln>
          <a:effectLst>
            <a:outerShdw blurRad="190500" dist="76200" dir="5400000" sx="103000" sy="103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6" name="文本框 75"/>
          <p:cNvSpPr txBox="1"/>
          <p:nvPr/>
        </p:nvSpPr>
        <p:spPr>
          <a:xfrm>
            <a:off x="952384" y="4640824"/>
            <a:ext cx="502061" cy="276999"/>
          </a:xfrm>
          <a:prstGeom prst="rect">
            <a:avLst/>
          </a:prstGeom>
          <a:noFill/>
          <a:extLst>
            <a:ext uri="{909E8E84-426E-40DD-AFC4-6F175D3DCCD1}">
              <a14:hiddenFill xmlns:a14="http://schemas.microsoft.com/office/drawing/2010/main">
                <a:solidFill>
                  <a:srgbClr val="0042FF"/>
                </a:solidFill>
              </a14:hiddenFill>
            </a:ext>
          </a:extLst>
        </p:spPr>
        <p:txBody>
          <a:bodyPr wrap="none" rtlCol="0">
            <a:spAutoFit/>
          </a:bodyPr>
          <a:lstStyle/>
          <a:p>
            <a:pPr algn="ctr">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PLM</a:t>
            </a:r>
            <a:endParaRPr lang="en-US" altLang="zh-CN" sz="1200" dirty="0">
              <a:solidFill>
                <a:srgbClr val="FFFFFF"/>
              </a:solidFill>
              <a:latin typeface="微软雅黑"/>
              <a:ea typeface="微软雅黑"/>
              <a:cs typeface="微软雅黑"/>
            </a:endParaRPr>
          </a:p>
        </p:txBody>
      </p:sp>
      <p:sp>
        <p:nvSpPr>
          <p:cNvPr id="77" name="文本框 76"/>
          <p:cNvSpPr txBox="1"/>
          <p:nvPr/>
        </p:nvSpPr>
        <p:spPr>
          <a:xfrm>
            <a:off x="688157" y="4839921"/>
            <a:ext cx="1030514" cy="200055"/>
          </a:xfrm>
          <a:prstGeom prst="rect">
            <a:avLst/>
          </a:prstGeom>
          <a:noFill/>
          <a:extLst>
            <a:ext uri="{909E8E84-426E-40DD-AFC4-6F175D3DCCD1}">
              <a14:hiddenFill xmlns:a14="http://schemas.microsoft.com/office/drawing/2010/main">
                <a:solidFill>
                  <a:srgbClr val="0042FF"/>
                </a:solidFill>
              </a14:hiddenFill>
            </a:ext>
          </a:extLst>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rPr>
              <a:t>Enter your title</a:t>
            </a:r>
            <a:endPar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78" name="流程图: 磁盘 77"/>
          <p:cNvSpPr/>
          <p:nvPr/>
        </p:nvSpPr>
        <p:spPr>
          <a:xfrm>
            <a:off x="508542" y="5345154"/>
            <a:ext cx="1389746" cy="656260"/>
          </a:xfrm>
          <a:prstGeom prst="flowChartMagneticDisk">
            <a:avLst/>
          </a:prstGeom>
          <a:gradFill>
            <a:gsLst>
              <a:gs pos="77000">
                <a:srgbClr val="0042FF"/>
              </a:gs>
              <a:gs pos="0">
                <a:srgbClr val="3368FF"/>
              </a:gs>
            </a:gsLst>
            <a:lin ang="5400000" scaled="0"/>
          </a:gradFill>
          <a:ln w="12700">
            <a:solidFill>
              <a:srgbClr val="E6E6E6"/>
            </a:solidFill>
          </a:ln>
          <a:effectLst>
            <a:outerShdw blurRad="190500" dist="76200" dir="5400000" sx="103000" sy="103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9" name="文本框 78"/>
          <p:cNvSpPr txBox="1"/>
          <p:nvPr/>
        </p:nvSpPr>
        <p:spPr>
          <a:xfrm>
            <a:off x="934751" y="5559985"/>
            <a:ext cx="537327" cy="276999"/>
          </a:xfrm>
          <a:prstGeom prst="rect">
            <a:avLst/>
          </a:prstGeom>
          <a:noFill/>
          <a:extLst>
            <a:ext uri="{909E8E84-426E-40DD-AFC4-6F175D3DCCD1}">
              <a14:hiddenFill xmlns:a14="http://schemas.microsoft.com/office/drawing/2010/main">
                <a:solidFill>
                  <a:srgbClr val="0042FF"/>
                </a:solidFill>
              </a14:hiddenFill>
            </a:ext>
          </a:extLst>
        </p:spPr>
        <p:txBody>
          <a:bodyPr wrap="none" rtlCol="0">
            <a:spAutoFit/>
          </a:bodyPr>
          <a:lstStyle/>
          <a:p>
            <a:pPr algn="ctr">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WMS</a:t>
            </a:r>
            <a:endParaRPr lang="en-US" altLang="zh-CN" sz="1200" dirty="0">
              <a:solidFill>
                <a:srgbClr val="FFFFFF"/>
              </a:solidFill>
              <a:latin typeface="微软雅黑"/>
              <a:ea typeface="微软雅黑"/>
              <a:cs typeface="微软雅黑"/>
            </a:endParaRPr>
          </a:p>
        </p:txBody>
      </p:sp>
      <p:sp>
        <p:nvSpPr>
          <p:cNvPr id="80" name="文本框 79"/>
          <p:cNvSpPr txBox="1"/>
          <p:nvPr/>
        </p:nvSpPr>
        <p:spPr>
          <a:xfrm>
            <a:off x="688157" y="5759082"/>
            <a:ext cx="1030514" cy="200055"/>
          </a:xfrm>
          <a:prstGeom prst="rect">
            <a:avLst/>
          </a:prstGeom>
          <a:noFill/>
          <a:extLst>
            <a:ext uri="{909E8E84-426E-40DD-AFC4-6F175D3DCCD1}">
              <a14:hiddenFill xmlns:a14="http://schemas.microsoft.com/office/drawing/2010/main">
                <a:solidFill>
                  <a:srgbClr val="0042FF"/>
                </a:solidFill>
              </a14:hiddenFill>
            </a:ext>
          </a:extLst>
        </p:spPr>
        <p:txBody>
          <a:bodyPr wrap="square" lIns="0" rIns="0" tIns="0" bIns="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rPr>
              <a:t>Enter your title</a:t>
            </a:r>
            <a:endParaRPr kumimoji="0" lang="en-US" altLang="zh-CN" sz="10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81" name="文本框 80"/>
          <p:cNvSpPr txBox="1"/>
          <p:nvPr/>
        </p:nvSpPr>
        <p:spPr>
          <a:xfrm>
            <a:off x="1875032" y="3326655"/>
            <a:ext cx="590550" cy="337185"/>
          </a:xfrm>
          <a:prstGeom prst="rect">
            <a:avLst/>
          </a:prstGeom>
          <a:noFill/>
        </p:spPr>
        <p:txBody>
          <a:bodyPr wrap="none" rtlCol="0">
            <a:spAutoFit/>
          </a:bodyPr>
          <a:lstStyle/>
          <a:p>
            <a:pPr algn="ctr">
              <a:defRPr>
                <a:latin typeface="微软雅黑"/>
                <a:ea typeface="微软雅黑"/>
                <a:cs typeface="微软雅黑"/>
              </a:defRPr>
            </a:pPr>
            <a:r>
              <a:rPr lang="zh-CN" altLang="en-US" sz="1600" b="1" dirty="0">
                <a:solidFill>
                  <a:srgbClr val="383838"/>
                </a:solidFill>
                <a:latin typeface="微软雅黑"/>
                <a:ea typeface="微软雅黑"/>
                <a:cs typeface="微软雅黑"/>
              </a:rPr>
              <a:t>输入</a:t>
            </a:r>
            <a:endParaRPr lang="zh-CN" altLang="en-US" sz="1600" b="1" dirty="0">
              <a:solidFill>
                <a:srgbClr val="383838"/>
              </a:solidFill>
              <a:latin typeface="微软雅黑"/>
              <a:ea typeface="微软雅黑"/>
              <a:cs typeface="微软雅黑"/>
            </a:endParaRPr>
          </a:p>
        </p:txBody>
      </p:sp>
      <p:sp>
        <p:nvSpPr>
          <p:cNvPr id="83" name="矩形 82"/>
          <p:cNvSpPr/>
          <p:nvPr/>
        </p:nvSpPr>
        <p:spPr>
          <a:xfrm>
            <a:off x="4025900" y="1755458"/>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84" name="文本框 83"/>
          <p:cNvSpPr txBox="1"/>
          <p:nvPr/>
        </p:nvSpPr>
        <p:spPr>
          <a:xfrm>
            <a:off x="4499610" y="1814513"/>
            <a:ext cx="646430" cy="23114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商品中心</a:t>
            </a:r>
            <a:endParaRPr lang="zh-CN" altLang="en-US" sz="1000" dirty="0">
              <a:solidFill>
                <a:srgbClr val="383838"/>
              </a:solidFill>
              <a:latin typeface="微软雅黑"/>
              <a:ea typeface="微软雅黑"/>
              <a:cs typeface="微软雅黑"/>
            </a:endParaRPr>
          </a:p>
        </p:txBody>
      </p:sp>
      <p:sp>
        <p:nvSpPr>
          <p:cNvPr id="85" name="矩形 84"/>
          <p:cNvSpPr/>
          <p:nvPr/>
        </p:nvSpPr>
        <p:spPr>
          <a:xfrm>
            <a:off x="4025265" y="1754823"/>
            <a:ext cx="350520" cy="350520"/>
          </a:xfrm>
          <a:prstGeom prst="rect">
            <a:avLst/>
          </a:prstGeom>
          <a:solidFill>
            <a:srgbClr val="3368FF"/>
          </a:solidFill>
          <a:ln w="12700">
            <a:solidFill>
              <a:srgbClr val="3368FF"/>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endParaRPr>
          </a:p>
        </p:txBody>
      </p:sp>
      <p:sp>
        <p:nvSpPr>
          <p:cNvPr id="86" name="文本框 85"/>
          <p:cNvSpPr txBox="1"/>
          <p:nvPr/>
        </p:nvSpPr>
        <p:spPr>
          <a:xfrm>
            <a:off x="4089427" y="4878003"/>
            <a:ext cx="323781" cy="454277"/>
          </a:xfrm>
          <a:prstGeom prst="rect">
            <a:avLst/>
          </a:prstGeom>
          <a:noFill/>
          <a:effectLst/>
        </p:spPr>
        <p:txBody>
          <a:bodyPr wrap="none" lIns="84125" tIns="42062" rIns="84125" bIns="42062" rtlCol="0">
            <a:spAutoFit/>
          </a:bodyPr>
          <a:lstStyle/>
          <a:p>
            <a:pPr algn="l">
              <a:defRPr>
                <a:latin typeface="微软雅黑"/>
                <a:ea typeface="微软雅黑"/>
                <a:cs typeface="微软雅黑"/>
              </a:defRPr>
            </a:pPr>
            <a:r>
              <a:rPr lang="zh-CN" altLang="en-US" sz="1200" dirty="0">
                <a:solidFill>
                  <a:srgbClr val="383838"/>
                </a:solidFill>
                <a:latin typeface="微软雅黑"/>
                <a:ea typeface="微软雅黑"/>
                <a:cs typeface="微软雅黑"/>
              </a:rPr>
              <a:t>数</a:t>
            </a:r>
            <a:endParaRPr lang="en-US" altLang="zh-CN" sz="1200" dirty="0">
              <a:solidFill>
                <a:srgbClr val="383838"/>
              </a:solidFill>
              <a:latin typeface="微软雅黑"/>
              <a:ea typeface="微软雅黑"/>
              <a:cs typeface="微软雅黑"/>
            </a:endParaRPr>
          </a:p>
          <a:p>
            <a:pPr algn="l">
              <a:defRPr>
                <a:latin typeface="微软雅黑"/>
                <a:ea typeface="微软雅黑"/>
                <a:cs typeface="微软雅黑"/>
              </a:defRPr>
            </a:pPr>
            <a:r>
              <a:rPr lang="zh-CN" altLang="en-US" sz="1200" dirty="0">
                <a:solidFill>
                  <a:srgbClr val="383838"/>
                </a:solidFill>
                <a:latin typeface="微软雅黑"/>
                <a:ea typeface="微软雅黑"/>
                <a:cs typeface="微软雅黑"/>
              </a:rPr>
              <a:t>仓</a:t>
            </a:r>
            <a:endParaRPr lang="zh-CN" altLang="en-US" sz="1200" dirty="0">
              <a:solidFill>
                <a:srgbClr val="383838"/>
              </a:solidFill>
              <a:latin typeface="微软雅黑"/>
              <a:ea typeface="微软雅黑"/>
              <a:cs typeface="微软雅黑"/>
            </a:endParaRPr>
          </a:p>
        </p:txBody>
      </p:sp>
      <p:sp>
        <p:nvSpPr>
          <p:cNvPr id="87" name="右大括号 86"/>
          <p:cNvSpPr/>
          <p:nvPr/>
        </p:nvSpPr>
        <p:spPr>
          <a:xfrm flipH="1">
            <a:off x="4395186" y="4207109"/>
            <a:ext cx="176092" cy="1757625"/>
          </a:xfrm>
          <a:prstGeom prst="rightBrace">
            <a:avLst>
              <a:gd name="adj1" fmla="val 53950"/>
              <a:gd name="adj2" fmla="val 50000"/>
            </a:avLst>
          </a:prstGeom>
          <a:noFill/>
          <a:ln w="10516">
            <a:solidFill>
              <a:srgbClr val="3368FF"/>
            </a:solidFill>
            <a:prstDash val="dash"/>
          </a:ln>
          <a:effectLst/>
        </p:spPr>
        <p:style>
          <a:lnRef idx="2">
            <a:srgbClr val="0042FF"/>
          </a:lnRef>
          <a:fillRef idx="1">
            <a:srgbClr val="0042FF"/>
          </a:fillRef>
          <a:effectRef idx="0">
            <a:srgbClr val="0042FF"/>
          </a:effectRef>
          <a:fontRef idx="minor">
            <a:srgbClr val="FFFFFF"/>
          </a:fontRef>
        </p:style>
        <p:txBody>
          <a:bodyPr lIns="81769" tIns="40885" rIns="81769" bIns="40885" rtlCol="0" anchor="ctr"/>
          <a:lstStyle/>
          <a:p>
            <a:pPr algn="ctr">
              <a:defRPr>
                <a:latin typeface="微软雅黑"/>
                <a:ea typeface="微软雅黑"/>
                <a:cs typeface="微软雅黑"/>
              </a:defRPr>
            </a:pPr>
            <a:endParaRPr lang="zh-CN" altLang="en-US" sz="1610">
              <a:solidFill>
                <a:srgbClr val="0042FF"/>
              </a:solidFill>
              <a:latin typeface="微软雅黑"/>
              <a:ea typeface="微软雅黑"/>
              <a:cs typeface="微软雅黑"/>
            </a:endParaRPr>
          </a:p>
        </p:txBody>
      </p:sp>
      <p:sp>
        <p:nvSpPr>
          <p:cNvPr id="88" name="矩形: 圆角 655"/>
          <p:cNvSpPr/>
          <p:nvPr>
            <p:custDataLst>
              <p:tags r:id="rId7"/>
            </p:custDataLst>
          </p:nvPr>
        </p:nvSpPr>
        <p:spPr>
          <a:xfrm>
            <a:off x="4643117" y="4060958"/>
            <a:ext cx="894661" cy="293769"/>
          </a:xfrm>
          <a:prstGeom prst="roundRect">
            <a:avLst>
              <a:gd name="adj" fmla="val 50000"/>
            </a:avLst>
          </a:prstGeom>
          <a:solidFill>
            <a:srgbClr val="FFFFFF"/>
          </a:solidFill>
          <a:ln w="11430">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03" name="椭圆 102"/>
          <p:cNvSpPr/>
          <p:nvPr>
            <p:custDataLst>
              <p:tags r:id="rId8"/>
            </p:custDataLst>
          </p:nvPr>
        </p:nvSpPr>
        <p:spPr>
          <a:xfrm flipH="1">
            <a:off x="4602779" y="4169347"/>
            <a:ext cx="79061" cy="790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10" name="椭圆 109"/>
          <p:cNvSpPr/>
          <p:nvPr/>
        </p:nvSpPr>
        <p:spPr>
          <a:xfrm flipH="1">
            <a:off x="4624424" y="4190992"/>
            <a:ext cx="35770" cy="3577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endParaRPr>
          </a:p>
        </p:txBody>
      </p:sp>
      <p:sp>
        <p:nvSpPr>
          <p:cNvPr id="119" name="矩形: 圆角 17"/>
          <p:cNvSpPr/>
          <p:nvPr>
            <p:custDataLst>
              <p:tags r:id="rId9"/>
            </p:custDataLst>
          </p:nvPr>
        </p:nvSpPr>
        <p:spPr>
          <a:xfrm>
            <a:off x="4643117" y="4501439"/>
            <a:ext cx="894661" cy="293769"/>
          </a:xfrm>
          <a:prstGeom prst="roundRect">
            <a:avLst>
              <a:gd name="adj" fmla="val 50000"/>
            </a:avLst>
          </a:prstGeom>
          <a:solidFill>
            <a:srgbClr val="FFFFFF"/>
          </a:solidFill>
          <a:ln w="11430">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23" name="椭圆 122"/>
          <p:cNvSpPr/>
          <p:nvPr>
            <p:custDataLst>
              <p:tags r:id="rId10"/>
            </p:custDataLst>
          </p:nvPr>
        </p:nvSpPr>
        <p:spPr>
          <a:xfrm flipH="1">
            <a:off x="4602779" y="4609827"/>
            <a:ext cx="79061" cy="790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24" name="椭圆 123"/>
          <p:cNvSpPr/>
          <p:nvPr/>
        </p:nvSpPr>
        <p:spPr>
          <a:xfrm flipH="1">
            <a:off x="4624424" y="4631472"/>
            <a:ext cx="35770" cy="3577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sym typeface="微软雅黑"/>
            </a:endParaRPr>
          </a:p>
        </p:txBody>
      </p:sp>
      <p:sp>
        <p:nvSpPr>
          <p:cNvPr id="130" name="矩形: 圆角 25"/>
          <p:cNvSpPr/>
          <p:nvPr>
            <p:custDataLst>
              <p:tags r:id="rId11"/>
            </p:custDataLst>
          </p:nvPr>
        </p:nvSpPr>
        <p:spPr>
          <a:xfrm>
            <a:off x="4643117" y="4941919"/>
            <a:ext cx="894661" cy="293769"/>
          </a:xfrm>
          <a:prstGeom prst="roundRect">
            <a:avLst>
              <a:gd name="adj" fmla="val 50000"/>
            </a:avLst>
          </a:prstGeom>
          <a:solidFill>
            <a:srgbClr val="FFFFFF"/>
          </a:solidFill>
          <a:ln w="11430">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41" name="椭圆 140"/>
          <p:cNvSpPr/>
          <p:nvPr>
            <p:custDataLst>
              <p:tags r:id="rId12"/>
            </p:custDataLst>
          </p:nvPr>
        </p:nvSpPr>
        <p:spPr>
          <a:xfrm flipH="1">
            <a:off x="4602779" y="5050308"/>
            <a:ext cx="79061" cy="790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42" name="椭圆 141"/>
          <p:cNvSpPr/>
          <p:nvPr/>
        </p:nvSpPr>
        <p:spPr>
          <a:xfrm flipH="1">
            <a:off x="4624424" y="5071953"/>
            <a:ext cx="35770" cy="3577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sym typeface="微软雅黑"/>
            </a:endParaRPr>
          </a:p>
        </p:txBody>
      </p:sp>
      <p:sp>
        <p:nvSpPr>
          <p:cNvPr id="143" name="矩形: 圆角 34"/>
          <p:cNvSpPr/>
          <p:nvPr>
            <p:custDataLst>
              <p:tags r:id="rId13"/>
            </p:custDataLst>
          </p:nvPr>
        </p:nvSpPr>
        <p:spPr>
          <a:xfrm>
            <a:off x="4643117" y="5382400"/>
            <a:ext cx="894661" cy="293769"/>
          </a:xfrm>
          <a:prstGeom prst="roundRect">
            <a:avLst>
              <a:gd name="adj" fmla="val 50000"/>
            </a:avLst>
          </a:prstGeom>
          <a:solidFill>
            <a:srgbClr val="FFFFFF"/>
          </a:solidFill>
          <a:ln w="11430">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45" name="椭圆 144"/>
          <p:cNvSpPr/>
          <p:nvPr>
            <p:custDataLst>
              <p:tags r:id="rId14"/>
            </p:custDataLst>
          </p:nvPr>
        </p:nvSpPr>
        <p:spPr>
          <a:xfrm flipH="1">
            <a:off x="4602779" y="5490788"/>
            <a:ext cx="79061" cy="790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46" name="椭圆 145"/>
          <p:cNvSpPr/>
          <p:nvPr/>
        </p:nvSpPr>
        <p:spPr>
          <a:xfrm flipH="1">
            <a:off x="4624424" y="5512433"/>
            <a:ext cx="35770" cy="3577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sym typeface="微软雅黑"/>
            </a:endParaRPr>
          </a:p>
        </p:txBody>
      </p:sp>
      <p:sp>
        <p:nvSpPr>
          <p:cNvPr id="147" name="矩形: 圆角 41"/>
          <p:cNvSpPr/>
          <p:nvPr>
            <p:custDataLst>
              <p:tags r:id="rId15"/>
            </p:custDataLst>
          </p:nvPr>
        </p:nvSpPr>
        <p:spPr>
          <a:xfrm>
            <a:off x="4643117" y="5822878"/>
            <a:ext cx="894661" cy="293769"/>
          </a:xfrm>
          <a:prstGeom prst="roundRect">
            <a:avLst>
              <a:gd name="adj" fmla="val 50000"/>
            </a:avLst>
          </a:prstGeom>
          <a:solidFill>
            <a:srgbClr val="FFFFFF"/>
          </a:solidFill>
          <a:ln w="11430">
            <a:solidFill>
              <a:srgbClr val="3368FF">
                <a:alpha val="50000"/>
              </a:srgbClr>
            </a:solidFill>
            <a:prstDash val="solid"/>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62" name="椭圆 161"/>
          <p:cNvSpPr/>
          <p:nvPr>
            <p:custDataLst>
              <p:tags r:id="rId16"/>
            </p:custDataLst>
          </p:nvPr>
        </p:nvSpPr>
        <p:spPr>
          <a:xfrm flipH="1">
            <a:off x="4602779" y="5931267"/>
            <a:ext cx="79061" cy="790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latin typeface="微软雅黑"/>
                <a:ea typeface="微软雅黑"/>
                <a:cs typeface="微软雅黑"/>
              </a:defRPr>
            </a:pPr>
            <a:endParaRPr lang="zh-CN" altLang="en-US" sz="1000" dirty="0">
              <a:solidFill>
                <a:srgbClr val="0042FF"/>
              </a:solidFill>
              <a:latin typeface="微软雅黑"/>
              <a:ea typeface="微软雅黑"/>
              <a:cs typeface="微软雅黑"/>
            </a:endParaRPr>
          </a:p>
        </p:txBody>
      </p:sp>
      <p:sp>
        <p:nvSpPr>
          <p:cNvPr id="168" name="椭圆 167"/>
          <p:cNvSpPr/>
          <p:nvPr/>
        </p:nvSpPr>
        <p:spPr>
          <a:xfrm flipH="1">
            <a:off x="4624424" y="5952911"/>
            <a:ext cx="35770" cy="35770"/>
          </a:xfrm>
          <a:prstGeom prst="ellipse">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000">
              <a:solidFill>
                <a:srgbClr val="383838"/>
              </a:solidFill>
              <a:latin typeface="微软雅黑"/>
              <a:ea typeface="微软雅黑"/>
              <a:cs typeface="微软雅黑"/>
              <a:sym typeface="微软雅黑"/>
            </a:endParaRPr>
          </a:p>
        </p:txBody>
      </p:sp>
      <p:sp>
        <p:nvSpPr>
          <p:cNvPr id="173" name="不完整圆 235"/>
          <p:cNvSpPr/>
          <p:nvPr/>
        </p:nvSpPr>
        <p:spPr>
          <a:xfrm rot="5400000">
            <a:off x="5640517" y="4447300"/>
            <a:ext cx="960100" cy="13843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57000">
                <a:srgbClr val="3368FF">
                  <a:alpha val="0"/>
                </a:srgbClr>
              </a:gs>
              <a:gs pos="100000">
                <a:srgbClr val="3368FF"/>
              </a:gs>
            </a:gsLst>
            <a:path path="circle">
              <a:fillToRect l="50000" t="50000" r="50000" b="50000"/>
            </a:path>
            <a:tileRect/>
          </a:gradFill>
          <a:ln w="11684">
            <a:gradFill flip="none" rotWithShape="1">
              <a:gsLst>
                <a:gs pos="0">
                  <a:srgbClr val="3368FF">
                    <a:alpha val="0"/>
                  </a:srgbClr>
                </a:gs>
                <a:gs pos="100000">
                  <a:srgbClr val="3368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55" dirty="0">
              <a:solidFill>
                <a:srgbClr val="383838"/>
              </a:solidFill>
              <a:latin typeface="微软雅黑"/>
              <a:ea typeface="微软雅黑"/>
              <a:cs typeface="微软雅黑"/>
              <a:sym typeface="微软雅黑"/>
            </a:endParaRPr>
          </a:p>
        </p:txBody>
      </p:sp>
      <p:sp>
        <p:nvSpPr>
          <p:cNvPr id="183" name="文本框 182"/>
          <p:cNvSpPr txBox="1"/>
          <p:nvPr/>
        </p:nvSpPr>
        <p:spPr>
          <a:xfrm>
            <a:off x="6035045" y="4361320"/>
            <a:ext cx="516142" cy="361944"/>
          </a:xfrm>
          <a:prstGeom prst="rect">
            <a:avLst/>
          </a:prstGeom>
          <a:noFill/>
          <a:effectLst/>
        </p:spPr>
        <p:txBody>
          <a:bodyPr wrap="square" lIns="0" tIns="0" rIns="0" bIns="0" rtlCol="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数据</a:t>
            </a:r>
            <a:endParaRPr lang="en-US" altLang="zh-CN" sz="1000" dirty="0">
              <a:solidFill>
                <a:srgbClr val="0042FF"/>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主题域</a:t>
            </a:r>
            <a:endParaRPr lang="zh-CN" altLang="en-US" sz="1000" dirty="0">
              <a:solidFill>
                <a:srgbClr val="0042FF"/>
              </a:solidFill>
              <a:latin typeface="微软雅黑"/>
              <a:ea typeface="微软雅黑"/>
              <a:cs typeface="微软雅黑"/>
            </a:endParaRPr>
          </a:p>
        </p:txBody>
      </p:sp>
      <p:sp>
        <p:nvSpPr>
          <p:cNvPr id="184" name="不完整圆 235"/>
          <p:cNvSpPr/>
          <p:nvPr/>
        </p:nvSpPr>
        <p:spPr>
          <a:xfrm rot="5400000">
            <a:off x="7400271" y="4447300"/>
            <a:ext cx="960100" cy="13843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57000">
                <a:srgbClr val="3368FF">
                  <a:alpha val="0"/>
                </a:srgbClr>
              </a:gs>
              <a:gs pos="100000">
                <a:srgbClr val="3368FF"/>
              </a:gs>
            </a:gsLst>
            <a:path path="circle">
              <a:fillToRect l="50000" t="50000" r="50000" b="50000"/>
            </a:path>
            <a:tileRect/>
          </a:gradFill>
          <a:ln w="11684">
            <a:gradFill flip="none" rotWithShape="1">
              <a:gsLst>
                <a:gs pos="0">
                  <a:srgbClr val="3368FF">
                    <a:alpha val="0"/>
                  </a:srgbClr>
                </a:gs>
                <a:gs pos="100000">
                  <a:srgbClr val="3368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55" dirty="0">
              <a:solidFill>
                <a:srgbClr val="383838"/>
              </a:solidFill>
              <a:latin typeface="微软雅黑"/>
              <a:ea typeface="微软雅黑"/>
              <a:cs typeface="微软雅黑"/>
              <a:sym typeface="微软雅黑"/>
            </a:endParaRPr>
          </a:p>
        </p:txBody>
      </p:sp>
      <p:cxnSp>
        <p:nvCxnSpPr>
          <p:cNvPr id="185" name="直接连接符 184"/>
          <p:cNvCxnSpPr/>
          <p:nvPr/>
        </p:nvCxnSpPr>
        <p:spPr>
          <a:xfrm>
            <a:off x="6106556" y="4040925"/>
            <a:ext cx="1734001" cy="0"/>
          </a:xfrm>
          <a:prstGeom prst="line">
            <a:avLst/>
          </a:prstGeom>
          <a:ln w="5842">
            <a:solidFill>
              <a:srgbClr val="3368FF"/>
            </a:solidFill>
            <a:prstDash val="dash"/>
          </a:ln>
          <a:effectLst/>
        </p:spPr>
        <p:style>
          <a:lnRef idx="1">
            <a:srgbClr val="0042FF"/>
          </a:lnRef>
          <a:fillRef idx="0">
            <a:srgbClr val="0042FF"/>
          </a:fillRef>
          <a:effectRef idx="0">
            <a:srgbClr val="0042FF"/>
          </a:effectRef>
          <a:fontRef idx="minor">
            <a:srgbClr val="383838"/>
          </a:fontRef>
        </p:style>
      </p:cxnSp>
      <p:cxnSp>
        <p:nvCxnSpPr>
          <p:cNvPr id="186" name="直接连接符 185"/>
          <p:cNvCxnSpPr/>
          <p:nvPr/>
        </p:nvCxnSpPr>
        <p:spPr>
          <a:xfrm>
            <a:off x="6106556" y="5010935"/>
            <a:ext cx="1734001" cy="0"/>
          </a:xfrm>
          <a:prstGeom prst="line">
            <a:avLst/>
          </a:prstGeom>
          <a:ln w="5842">
            <a:solidFill>
              <a:srgbClr val="3368FF"/>
            </a:solidFill>
            <a:prstDash val="dash"/>
          </a:ln>
          <a:effectLst/>
        </p:spPr>
        <p:style>
          <a:lnRef idx="1">
            <a:srgbClr val="0042FF"/>
          </a:lnRef>
          <a:fillRef idx="0">
            <a:srgbClr val="0042FF"/>
          </a:fillRef>
          <a:effectRef idx="0">
            <a:srgbClr val="0042FF"/>
          </a:effectRef>
          <a:fontRef idx="minor">
            <a:srgbClr val="383838"/>
          </a:fontRef>
        </p:style>
      </p:cxnSp>
      <p:sp>
        <p:nvSpPr>
          <p:cNvPr id="187" name="矩形: 圆角 685"/>
          <p:cNvSpPr/>
          <p:nvPr>
            <p:custDataLst>
              <p:tags r:id="rId17"/>
            </p:custDataLst>
          </p:nvPr>
        </p:nvSpPr>
        <p:spPr>
          <a:xfrm>
            <a:off x="6576539" y="4132729"/>
            <a:ext cx="1109980" cy="180372"/>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endParaRPr>
          </a:p>
        </p:txBody>
      </p:sp>
      <p:sp>
        <p:nvSpPr>
          <p:cNvPr id="188" name="文本框 187"/>
          <p:cNvSpPr txBox="1"/>
          <p:nvPr/>
        </p:nvSpPr>
        <p:spPr>
          <a:xfrm>
            <a:off x="6782090" y="4114109"/>
            <a:ext cx="698884" cy="212353"/>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交易主题域</a:t>
            </a:r>
            <a:endParaRPr lang="zh-CN" altLang="en-US" sz="1000" dirty="0">
              <a:solidFill>
                <a:srgbClr val="FFFFFF"/>
              </a:solidFill>
              <a:latin typeface="微软雅黑"/>
              <a:ea typeface="微软雅黑"/>
              <a:cs typeface="微软雅黑"/>
            </a:endParaRPr>
          </a:p>
        </p:txBody>
      </p:sp>
      <p:sp>
        <p:nvSpPr>
          <p:cNvPr id="189" name="矩形: 圆角 689"/>
          <p:cNvSpPr/>
          <p:nvPr>
            <p:custDataLst>
              <p:tags r:id="rId18"/>
            </p:custDataLst>
          </p:nvPr>
        </p:nvSpPr>
        <p:spPr>
          <a:xfrm>
            <a:off x="6576539" y="4421908"/>
            <a:ext cx="1109980" cy="180372"/>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190" name="文本框 189"/>
          <p:cNvSpPr txBox="1"/>
          <p:nvPr/>
        </p:nvSpPr>
        <p:spPr>
          <a:xfrm>
            <a:off x="6782090" y="4403289"/>
            <a:ext cx="698884" cy="212353"/>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商品主题域</a:t>
            </a:r>
            <a:endParaRPr lang="zh-CN" altLang="en-US" sz="1000" dirty="0">
              <a:solidFill>
                <a:srgbClr val="FFFFFF"/>
              </a:solidFill>
              <a:latin typeface="微软雅黑"/>
              <a:ea typeface="微软雅黑"/>
              <a:cs typeface="微软雅黑"/>
            </a:endParaRPr>
          </a:p>
        </p:txBody>
      </p:sp>
      <p:sp>
        <p:nvSpPr>
          <p:cNvPr id="191" name="矩形: 圆角 691"/>
          <p:cNvSpPr/>
          <p:nvPr>
            <p:custDataLst>
              <p:tags r:id="rId19"/>
            </p:custDataLst>
          </p:nvPr>
        </p:nvSpPr>
        <p:spPr>
          <a:xfrm>
            <a:off x="6576539" y="4711087"/>
            <a:ext cx="1109980" cy="180372"/>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192" name="文本框 191"/>
          <p:cNvSpPr txBox="1"/>
          <p:nvPr/>
        </p:nvSpPr>
        <p:spPr>
          <a:xfrm>
            <a:off x="6782089" y="4692468"/>
            <a:ext cx="698884" cy="212353"/>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用户主题域</a:t>
            </a:r>
            <a:endParaRPr lang="zh-CN" altLang="en-US" sz="1000" dirty="0">
              <a:solidFill>
                <a:srgbClr val="FFFFFF"/>
              </a:solidFill>
              <a:latin typeface="微软雅黑"/>
              <a:ea typeface="微软雅黑"/>
              <a:cs typeface="微软雅黑"/>
            </a:endParaRPr>
          </a:p>
        </p:txBody>
      </p:sp>
      <p:sp>
        <p:nvSpPr>
          <p:cNvPr id="194" name="不完整圆 235"/>
          <p:cNvSpPr/>
          <p:nvPr/>
        </p:nvSpPr>
        <p:spPr>
          <a:xfrm rot="5400000">
            <a:off x="5640517" y="5560201"/>
            <a:ext cx="960100" cy="13843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57000">
                <a:srgbClr val="3368FF">
                  <a:alpha val="0"/>
                </a:srgbClr>
              </a:gs>
              <a:gs pos="100000">
                <a:srgbClr val="3368FF"/>
              </a:gs>
            </a:gsLst>
            <a:path path="circle">
              <a:fillToRect l="50000" t="50000" r="50000" b="50000"/>
            </a:path>
            <a:tileRect/>
          </a:gradFill>
          <a:ln w="11684">
            <a:gradFill flip="none" rotWithShape="1">
              <a:gsLst>
                <a:gs pos="0">
                  <a:srgbClr val="3368FF">
                    <a:alpha val="0"/>
                  </a:srgbClr>
                </a:gs>
                <a:gs pos="100000">
                  <a:srgbClr val="3368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55" dirty="0">
              <a:solidFill>
                <a:srgbClr val="383838"/>
              </a:solidFill>
              <a:latin typeface="微软雅黑"/>
              <a:ea typeface="微软雅黑"/>
              <a:cs typeface="微软雅黑"/>
              <a:sym typeface="微软雅黑"/>
            </a:endParaRPr>
          </a:p>
        </p:txBody>
      </p:sp>
      <p:sp>
        <p:nvSpPr>
          <p:cNvPr id="195" name="文本框 194"/>
          <p:cNvSpPr txBox="1"/>
          <p:nvPr/>
        </p:nvSpPr>
        <p:spPr>
          <a:xfrm>
            <a:off x="6052825" y="5474221"/>
            <a:ext cx="516142" cy="361944"/>
          </a:xfrm>
          <a:prstGeom prst="rect">
            <a:avLst/>
          </a:prstGeom>
          <a:noFill/>
          <a:effectLst/>
        </p:spPr>
        <p:txBody>
          <a:bodyPr wrap="square" lIns="0" tIns="0" rIns="0" bIns="0" rtlCol="0" anchor="t">
            <a:noAutofit/>
          </a:bodyPr>
          <a:lstStyle/>
          <a:p>
            <a:pP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数据治</a:t>
            </a:r>
            <a:endParaRPr lang="en-US" altLang="zh-CN" sz="1000" dirty="0">
              <a:solidFill>
                <a:srgbClr val="0042FF"/>
              </a:solidFill>
              <a:latin typeface="微软雅黑"/>
              <a:ea typeface="微软雅黑"/>
              <a:cs typeface="微软雅黑"/>
            </a:endParaRPr>
          </a:p>
          <a:p>
            <a:pPr>
              <a:defRPr>
                <a:latin typeface="微软雅黑"/>
                <a:ea typeface="微软雅黑"/>
                <a:cs typeface="微软雅黑"/>
              </a:defRPr>
              <a:lnSpc>
                <a:spcPts val="1120"/>
              </a:lnSpc>
              <a:spcBef>
                <a:spcPts val="0"/>
              </a:spcBef>
              <a:spcAft>
                <a:spcPts val="0"/>
              </a:spcAft>
            </a:pPr>
            <a:r>
              <a:rPr lang="zh-CN" altLang="en-US" sz="1000" dirty="0">
                <a:solidFill>
                  <a:srgbClr val="0042FF"/>
                </a:solidFill>
                <a:latin typeface="微软雅黑"/>
                <a:ea typeface="微软雅黑"/>
                <a:cs typeface="微软雅黑"/>
              </a:rPr>
              <a:t>理套件</a:t>
            </a:r>
            <a:endParaRPr lang="zh-CN" altLang="en-US" sz="1000" dirty="0">
              <a:solidFill>
                <a:srgbClr val="0042FF"/>
              </a:solidFill>
              <a:latin typeface="微软雅黑"/>
              <a:ea typeface="微软雅黑"/>
              <a:cs typeface="微软雅黑"/>
            </a:endParaRPr>
          </a:p>
        </p:txBody>
      </p:sp>
      <p:sp>
        <p:nvSpPr>
          <p:cNvPr id="196" name="不完整圆 235"/>
          <p:cNvSpPr/>
          <p:nvPr/>
        </p:nvSpPr>
        <p:spPr>
          <a:xfrm rot="5400000">
            <a:off x="7400271" y="5560201"/>
            <a:ext cx="960100" cy="138430"/>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flip="none" rotWithShape="1">
            <a:gsLst>
              <a:gs pos="57000">
                <a:srgbClr val="3368FF">
                  <a:alpha val="0"/>
                </a:srgbClr>
              </a:gs>
              <a:gs pos="100000">
                <a:srgbClr val="3368FF"/>
              </a:gs>
            </a:gsLst>
            <a:path path="circle">
              <a:fillToRect l="50000" t="50000" r="50000" b="50000"/>
            </a:path>
            <a:tileRect/>
          </a:gradFill>
          <a:ln w="11684">
            <a:gradFill flip="none" rotWithShape="1">
              <a:gsLst>
                <a:gs pos="0">
                  <a:srgbClr val="3368FF">
                    <a:alpha val="0"/>
                  </a:srgbClr>
                </a:gs>
                <a:gs pos="100000">
                  <a:srgbClr val="3368FF"/>
                </a:gs>
              </a:gsLst>
              <a:lin ang="5400000" scaled="1"/>
              <a:tileRect/>
            </a:gradFill>
            <a:prstDash val="solid"/>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55" dirty="0">
              <a:solidFill>
                <a:srgbClr val="383838"/>
              </a:solidFill>
              <a:latin typeface="微软雅黑"/>
              <a:ea typeface="微软雅黑"/>
              <a:cs typeface="微软雅黑"/>
              <a:sym typeface="微软雅黑"/>
            </a:endParaRPr>
          </a:p>
        </p:txBody>
      </p:sp>
      <p:cxnSp>
        <p:nvCxnSpPr>
          <p:cNvPr id="197" name="直接连接符 196"/>
          <p:cNvCxnSpPr/>
          <p:nvPr/>
        </p:nvCxnSpPr>
        <p:spPr>
          <a:xfrm>
            <a:off x="6106556" y="5153826"/>
            <a:ext cx="1734001" cy="0"/>
          </a:xfrm>
          <a:prstGeom prst="line">
            <a:avLst/>
          </a:prstGeom>
          <a:ln w="5842">
            <a:solidFill>
              <a:srgbClr val="3368FF"/>
            </a:solidFill>
            <a:prstDash val="dash"/>
          </a:ln>
          <a:effectLst/>
        </p:spPr>
        <p:style>
          <a:lnRef idx="1">
            <a:srgbClr val="0042FF"/>
          </a:lnRef>
          <a:fillRef idx="0">
            <a:srgbClr val="0042FF"/>
          </a:fillRef>
          <a:effectRef idx="0">
            <a:srgbClr val="0042FF"/>
          </a:effectRef>
          <a:fontRef idx="minor">
            <a:srgbClr val="383838"/>
          </a:fontRef>
        </p:style>
      </p:cxnSp>
      <p:cxnSp>
        <p:nvCxnSpPr>
          <p:cNvPr id="199" name="直接连接符 198"/>
          <p:cNvCxnSpPr/>
          <p:nvPr/>
        </p:nvCxnSpPr>
        <p:spPr>
          <a:xfrm>
            <a:off x="6106556" y="6123836"/>
            <a:ext cx="1734001" cy="0"/>
          </a:xfrm>
          <a:prstGeom prst="line">
            <a:avLst/>
          </a:prstGeom>
          <a:ln w="5842">
            <a:solidFill>
              <a:srgbClr val="3368FF"/>
            </a:solidFill>
            <a:prstDash val="dash"/>
          </a:ln>
          <a:effectLst/>
        </p:spPr>
        <p:style>
          <a:lnRef idx="1">
            <a:srgbClr val="0042FF"/>
          </a:lnRef>
          <a:fillRef idx="0">
            <a:srgbClr val="0042FF"/>
          </a:fillRef>
          <a:effectRef idx="0">
            <a:srgbClr val="0042FF"/>
          </a:effectRef>
          <a:fontRef idx="minor">
            <a:srgbClr val="383838"/>
          </a:fontRef>
        </p:style>
      </p:cxnSp>
      <p:sp>
        <p:nvSpPr>
          <p:cNvPr id="206" name="矩形: 圆角 700"/>
          <p:cNvSpPr/>
          <p:nvPr>
            <p:custDataLst>
              <p:tags r:id="rId20"/>
            </p:custDataLst>
          </p:nvPr>
        </p:nvSpPr>
        <p:spPr>
          <a:xfrm>
            <a:off x="6576539" y="5245630"/>
            <a:ext cx="1109980" cy="180372"/>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07" name="文本框 206"/>
          <p:cNvSpPr txBox="1"/>
          <p:nvPr/>
        </p:nvSpPr>
        <p:spPr>
          <a:xfrm>
            <a:off x="6834988" y="5227010"/>
            <a:ext cx="593086" cy="212353"/>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数据地图</a:t>
            </a:r>
            <a:endParaRPr lang="zh-CN" altLang="en-US" sz="1000" dirty="0">
              <a:solidFill>
                <a:srgbClr val="FFFFFF"/>
              </a:solidFill>
              <a:latin typeface="微软雅黑"/>
              <a:ea typeface="微软雅黑"/>
              <a:cs typeface="微软雅黑"/>
            </a:endParaRPr>
          </a:p>
        </p:txBody>
      </p:sp>
      <p:sp>
        <p:nvSpPr>
          <p:cNvPr id="209" name="矩形: 圆角 702"/>
          <p:cNvSpPr/>
          <p:nvPr>
            <p:custDataLst>
              <p:tags r:id="rId21"/>
            </p:custDataLst>
          </p:nvPr>
        </p:nvSpPr>
        <p:spPr>
          <a:xfrm>
            <a:off x="6576539" y="5534809"/>
            <a:ext cx="1109980" cy="180372"/>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10" name="文本框 209"/>
          <p:cNvSpPr txBox="1"/>
          <p:nvPr/>
        </p:nvSpPr>
        <p:spPr>
          <a:xfrm>
            <a:off x="6830178" y="5516190"/>
            <a:ext cx="602704" cy="212353"/>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数据模型</a:t>
            </a:r>
            <a:endParaRPr lang="zh-CN" altLang="en-US" sz="1000" dirty="0">
              <a:solidFill>
                <a:srgbClr val="FFFFFF"/>
              </a:solidFill>
              <a:latin typeface="微软雅黑"/>
              <a:ea typeface="微软雅黑"/>
              <a:cs typeface="微软雅黑"/>
            </a:endParaRPr>
          </a:p>
        </p:txBody>
      </p:sp>
      <p:sp>
        <p:nvSpPr>
          <p:cNvPr id="211" name="矩形: 圆角 704"/>
          <p:cNvSpPr/>
          <p:nvPr>
            <p:custDataLst>
              <p:tags r:id="rId22"/>
            </p:custDataLst>
          </p:nvPr>
        </p:nvSpPr>
        <p:spPr>
          <a:xfrm>
            <a:off x="6576539" y="5823988"/>
            <a:ext cx="1109980" cy="180372"/>
          </a:xfrm>
          <a:prstGeom prst="roundRect">
            <a:avLst>
              <a:gd name="adj" fmla="val 50000"/>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12" name="文本框 211"/>
          <p:cNvSpPr txBox="1"/>
          <p:nvPr/>
        </p:nvSpPr>
        <p:spPr>
          <a:xfrm>
            <a:off x="6834987" y="5805369"/>
            <a:ext cx="593087" cy="212353"/>
          </a:xfrm>
          <a:prstGeom prst="rect">
            <a:avLst/>
          </a:prstGeom>
          <a:noFill/>
          <a:effectLst/>
        </p:spPr>
        <p:txBody>
          <a:bodyPr wrap="square" lIns="0" tIns="0" rIns="0" bIns="0" rtlCol="0" anchor="t">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数据质量</a:t>
            </a:r>
            <a:endParaRPr lang="zh-CN" altLang="en-US" sz="1000" dirty="0">
              <a:solidFill>
                <a:srgbClr val="FFFFFF"/>
              </a:solidFill>
              <a:latin typeface="微软雅黑"/>
              <a:ea typeface="微软雅黑"/>
              <a:cs typeface="微软雅黑"/>
            </a:endParaRPr>
          </a:p>
        </p:txBody>
      </p:sp>
      <p:sp>
        <p:nvSpPr>
          <p:cNvPr id="213" name="任意多边形: 形状 43"/>
          <p:cNvSpPr/>
          <p:nvPr/>
        </p:nvSpPr>
        <p:spPr>
          <a:xfrm rot="5400000">
            <a:off x="7586345" y="4037330"/>
            <a:ext cx="763905" cy="97345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73000">
                <a:srgbClr val="3368FF">
                  <a:alpha val="60000"/>
                </a:srgbClr>
              </a:gs>
              <a:gs pos="100000">
                <a:srgbClr val="3368FF"/>
              </a:gs>
            </a:gsLst>
            <a:lin ang="16200000" scaled="1"/>
            <a:tileRect/>
          </a:gradFill>
          <a:ln>
            <a:noFill/>
          </a:ln>
          <a:effectLst/>
        </p:spPr>
        <p:style>
          <a:lnRef idx="2">
            <a:srgbClr val="0042FF"/>
          </a:lnRef>
          <a:fillRef idx="1">
            <a:srgbClr val="0042FF"/>
          </a:fillRef>
          <a:effectRef idx="0">
            <a:srgbClr val="0042FF"/>
          </a:effectRef>
          <a:fontRef idx="minor">
            <a:srgbClr val="FFFFFF"/>
          </a:fontRef>
        </p:style>
        <p:txBody>
          <a:bodyPr wrap="square" lIns="84125" tIns="42062" rIns="84125" bIns="42062" rtlCol="0" anchor="ctr">
            <a:noAutofit/>
          </a:bodyPr>
          <a:lstStyle/>
          <a:p>
            <a:pPr algn="ctr">
              <a:defRPr>
                <a:solidFill>
                  <a:srgbClr val="383838"/>
                </a:solidFill>
                <a:latin typeface="微软雅黑"/>
                <a:ea typeface="微软雅黑"/>
                <a:cs typeface="微软雅黑"/>
              </a:defRPr>
            </a:pPr>
            <a:endParaRPr lang="zh-CN" altLang="en-US" sz="1655">
              <a:solidFill>
                <a:srgbClr val="383838"/>
              </a:solidFill>
              <a:latin typeface="微软雅黑"/>
              <a:ea typeface="微软雅黑"/>
              <a:cs typeface="微软雅黑"/>
            </a:endParaRPr>
          </a:p>
        </p:txBody>
      </p:sp>
      <p:sp>
        <p:nvSpPr>
          <p:cNvPr id="214" name="任意多边形: 形状 46"/>
          <p:cNvSpPr/>
          <p:nvPr/>
        </p:nvSpPr>
        <p:spPr>
          <a:xfrm rot="5400000">
            <a:off x="7586345" y="5144770"/>
            <a:ext cx="763905" cy="97282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73000">
                <a:srgbClr val="3368FF">
                  <a:alpha val="60000"/>
                </a:srgbClr>
              </a:gs>
              <a:gs pos="100000">
                <a:srgbClr val="3368FF"/>
              </a:gs>
            </a:gsLst>
            <a:lin ang="162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84125" tIns="42062" rIns="84125" bIns="42062"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655">
              <a:solidFill>
                <a:srgbClr val="383838"/>
              </a:solidFill>
              <a:latin typeface="微软雅黑"/>
              <a:ea typeface="微软雅黑"/>
              <a:cs typeface="微软雅黑"/>
              <a:sym typeface="微软雅黑"/>
            </a:endParaRPr>
          </a:p>
        </p:txBody>
      </p:sp>
      <p:cxnSp>
        <p:nvCxnSpPr>
          <p:cNvPr id="215" name="直接连接符 214"/>
          <p:cNvCxnSpPr/>
          <p:nvPr/>
        </p:nvCxnSpPr>
        <p:spPr>
          <a:xfrm>
            <a:off x="8783320" y="1932039"/>
            <a:ext cx="500234"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216" name="直接连接符 215"/>
          <p:cNvCxnSpPr/>
          <p:nvPr/>
        </p:nvCxnSpPr>
        <p:spPr>
          <a:xfrm>
            <a:off x="8783320" y="2685149"/>
            <a:ext cx="500234"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217" name="直接连接符 216"/>
          <p:cNvCxnSpPr/>
          <p:nvPr/>
        </p:nvCxnSpPr>
        <p:spPr>
          <a:xfrm>
            <a:off x="8783320" y="3497949"/>
            <a:ext cx="500234"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218" name="直接连接符 217"/>
          <p:cNvCxnSpPr/>
          <p:nvPr/>
        </p:nvCxnSpPr>
        <p:spPr>
          <a:xfrm>
            <a:off x="8783320" y="4298049"/>
            <a:ext cx="500234"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229" name="直接连接符 228"/>
          <p:cNvCxnSpPr/>
          <p:nvPr/>
        </p:nvCxnSpPr>
        <p:spPr>
          <a:xfrm>
            <a:off x="8783320" y="5110849"/>
            <a:ext cx="500234"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cxnSp>
        <p:nvCxnSpPr>
          <p:cNvPr id="230" name="直接连接符 229"/>
          <p:cNvCxnSpPr/>
          <p:nvPr/>
        </p:nvCxnSpPr>
        <p:spPr>
          <a:xfrm>
            <a:off x="8783320" y="5936349"/>
            <a:ext cx="500234" cy="0"/>
          </a:xfrm>
          <a:prstGeom prst="line">
            <a:avLst/>
          </a:prstGeom>
          <a:ln w="6858">
            <a:solidFill>
              <a:srgbClr val="3368FF"/>
            </a:solidFill>
            <a:tailEnd type="oval" w="sm" len="sm"/>
          </a:ln>
          <a:effectLst/>
        </p:spPr>
        <p:style>
          <a:lnRef idx="1">
            <a:srgbClr val="0042FF"/>
          </a:lnRef>
          <a:fillRef idx="0">
            <a:srgbClr val="0042FF"/>
          </a:fillRef>
          <a:effectRef idx="0">
            <a:srgbClr val="0042FF"/>
          </a:effectRef>
          <a:fontRef idx="minor">
            <a:srgbClr val="383838"/>
          </a:fontRef>
        </p:style>
      </p:cxnSp>
      <p:sp>
        <p:nvSpPr>
          <p:cNvPr id="231" name="文本框 230"/>
          <p:cNvSpPr txBox="1"/>
          <p:nvPr/>
        </p:nvSpPr>
        <p:spPr>
          <a:xfrm>
            <a:off x="8540524" y="2608887"/>
            <a:ext cx="233272" cy="738664"/>
          </a:xfrm>
          <a:prstGeom prst="rect">
            <a:avLst/>
          </a:prstGeom>
          <a:noFill/>
        </p:spPr>
        <p:txBody>
          <a:bodyPr wrap="square" rtlCol="0">
            <a:spAutoFit/>
          </a:bodyPr>
          <a:lstStyle/>
          <a:p>
            <a:pPr algn="l">
              <a:defRPr>
                <a:latin typeface="微软雅黑"/>
                <a:ea typeface="微软雅黑"/>
                <a:cs typeface="微软雅黑"/>
              </a:defRPr>
            </a:pPr>
            <a:r>
              <a:rPr lang="zh-CN" altLang="en-US" sz="1050" dirty="0">
                <a:solidFill>
                  <a:srgbClr val="0042FF"/>
                </a:solidFill>
                <a:latin typeface="微软雅黑"/>
                <a:ea typeface="微软雅黑"/>
                <a:cs typeface="微软雅黑"/>
              </a:rPr>
              <a:t>功能服务</a:t>
            </a:r>
            <a:endParaRPr lang="zh-CN" altLang="en-US" sz="1050" dirty="0">
              <a:solidFill>
                <a:srgbClr val="0042FF"/>
              </a:solidFill>
              <a:latin typeface="微软雅黑"/>
              <a:ea typeface="微软雅黑"/>
              <a:cs typeface="微软雅黑"/>
            </a:endParaRPr>
          </a:p>
        </p:txBody>
      </p:sp>
      <p:sp>
        <p:nvSpPr>
          <p:cNvPr id="232" name="文本框 231"/>
          <p:cNvSpPr txBox="1"/>
          <p:nvPr/>
        </p:nvSpPr>
        <p:spPr>
          <a:xfrm>
            <a:off x="8569099" y="4104312"/>
            <a:ext cx="157072" cy="738664"/>
          </a:xfrm>
          <a:prstGeom prst="rect">
            <a:avLst/>
          </a:prstGeom>
          <a:noFill/>
        </p:spPr>
        <p:txBody>
          <a:bodyPr wrap="square" rtlCol="0">
            <a:spAutoFit/>
          </a:bodyPr>
          <a:lstStyle/>
          <a:p>
            <a:pPr algn="l">
              <a:defRPr>
                <a:latin typeface="微软雅黑"/>
                <a:ea typeface="微软雅黑"/>
                <a:cs typeface="微软雅黑"/>
              </a:defRPr>
            </a:pPr>
            <a:r>
              <a:rPr lang="zh-CN" altLang="en-US" sz="1050" dirty="0">
                <a:solidFill>
                  <a:srgbClr val="0042FF"/>
                </a:solidFill>
                <a:latin typeface="微软雅黑"/>
                <a:ea typeface="微软雅黑"/>
                <a:cs typeface="微软雅黑"/>
              </a:rPr>
              <a:t>数据服务</a:t>
            </a:r>
            <a:endParaRPr lang="zh-CN" altLang="en-US" sz="1050" dirty="0">
              <a:solidFill>
                <a:srgbClr val="0042FF"/>
              </a:solidFill>
              <a:latin typeface="微软雅黑"/>
              <a:ea typeface="微软雅黑"/>
              <a:cs typeface="微软雅黑"/>
            </a:endParaRPr>
          </a:p>
        </p:txBody>
      </p:sp>
      <p:cxnSp>
        <p:nvCxnSpPr>
          <p:cNvPr id="233" name="直接连接符 232"/>
          <p:cNvCxnSpPr/>
          <p:nvPr/>
        </p:nvCxnSpPr>
        <p:spPr>
          <a:xfrm>
            <a:off x="8618220" y="3458845"/>
            <a:ext cx="168276" cy="0"/>
          </a:xfrm>
          <a:prstGeom prst="line">
            <a:avLst/>
          </a:prstGeom>
          <a:ln>
            <a:solidFill>
              <a:srgbClr val="B3D4FE"/>
            </a:solidFill>
            <a:prstDash val="dash"/>
          </a:ln>
        </p:spPr>
        <p:style>
          <a:lnRef idx="1">
            <a:srgbClr val="0042FF"/>
          </a:lnRef>
          <a:fillRef idx="0">
            <a:srgbClr val="0042FF"/>
          </a:fillRef>
          <a:effectRef idx="0">
            <a:srgbClr val="0042FF"/>
          </a:effectRef>
          <a:fontRef idx="minor">
            <a:srgbClr val="383838"/>
          </a:fontRef>
        </p:style>
      </p:cxnSp>
      <p:cxnSp>
        <p:nvCxnSpPr>
          <p:cNvPr id="234" name="直接连接符 233"/>
          <p:cNvCxnSpPr/>
          <p:nvPr/>
        </p:nvCxnSpPr>
        <p:spPr>
          <a:xfrm>
            <a:off x="8618220" y="4049395"/>
            <a:ext cx="168276" cy="0"/>
          </a:xfrm>
          <a:prstGeom prst="line">
            <a:avLst/>
          </a:prstGeom>
          <a:ln>
            <a:solidFill>
              <a:srgbClr val="B3D4FE"/>
            </a:solidFill>
            <a:prstDash val="dash"/>
          </a:ln>
        </p:spPr>
        <p:style>
          <a:lnRef idx="1">
            <a:srgbClr val="0042FF"/>
          </a:lnRef>
          <a:fillRef idx="0">
            <a:srgbClr val="0042FF"/>
          </a:fillRef>
          <a:effectRef idx="0">
            <a:srgbClr val="0042FF"/>
          </a:effectRef>
          <a:fontRef idx="minor">
            <a:srgbClr val="383838"/>
          </a:fontRef>
        </p:style>
      </p:cxnSp>
      <p:sp>
        <p:nvSpPr>
          <p:cNvPr id="235" name="紫荆的职场Point57"/>
          <p:cNvSpPr/>
          <p:nvPr/>
        </p:nvSpPr>
        <p:spPr>
          <a:xfrm rot="5400000">
            <a:off x="2080260" y="1847850"/>
            <a:ext cx="179705" cy="347980"/>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6" name="紫荆的职场Point57"/>
          <p:cNvSpPr/>
          <p:nvPr/>
        </p:nvSpPr>
        <p:spPr>
          <a:xfrm rot="5400000">
            <a:off x="2080260" y="2771775"/>
            <a:ext cx="179705" cy="347980"/>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7" name="紫荆的职场Point57"/>
          <p:cNvSpPr/>
          <p:nvPr/>
        </p:nvSpPr>
        <p:spPr>
          <a:xfrm rot="5400000">
            <a:off x="2080260" y="3695700"/>
            <a:ext cx="179705" cy="347980"/>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38" name="紫荆的职场Point57"/>
          <p:cNvSpPr/>
          <p:nvPr/>
        </p:nvSpPr>
        <p:spPr>
          <a:xfrm rot="5400000">
            <a:off x="2080260" y="4619625"/>
            <a:ext cx="179705" cy="347980"/>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pic>
        <p:nvPicPr>
          <p:cNvPr id="239" name="图片 238" descr="电子商城"/>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11129010" y="1701800"/>
            <a:ext cx="491490" cy="364490"/>
          </a:xfrm>
          <a:prstGeom prst="rect">
            <a:avLst/>
          </a:prstGeom>
        </p:spPr>
      </p:pic>
      <p:pic>
        <p:nvPicPr>
          <p:cNvPr id="240" name="图片 239" descr="pos机"/>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11103610" y="2835910"/>
            <a:ext cx="332740" cy="332740"/>
          </a:xfrm>
          <a:prstGeom prst="rect">
            <a:avLst/>
          </a:prstGeom>
        </p:spPr>
      </p:pic>
      <p:pic>
        <p:nvPicPr>
          <p:cNvPr id="241" name="图片 240" descr="数据大屏"/>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11088370" y="3989070"/>
            <a:ext cx="360680" cy="360680"/>
          </a:xfrm>
          <a:prstGeom prst="rect">
            <a:avLst/>
          </a:prstGeom>
        </p:spPr>
      </p:pic>
      <p:pic>
        <p:nvPicPr>
          <p:cNvPr id="242" name="图片 241" descr="个性化会员系统"/>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11092180" y="5198745"/>
            <a:ext cx="351790" cy="276860"/>
          </a:xfrm>
          <a:prstGeom prst="rect">
            <a:avLst/>
          </a:prstGeom>
        </p:spPr>
      </p:pic>
      <p:sp>
        <p:nvSpPr>
          <p:cNvPr id="243" name="文本框 242"/>
          <p:cNvSpPr txBox="1"/>
          <p:nvPr/>
        </p:nvSpPr>
        <p:spPr>
          <a:xfrm>
            <a:off x="9426352" y="2478965"/>
            <a:ext cx="436880" cy="398780"/>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交易</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服务</a:t>
            </a:r>
            <a:endParaRPr lang="zh-CN" altLang="en-US" sz="1000" dirty="0">
              <a:solidFill>
                <a:srgbClr val="383838"/>
              </a:solidFill>
              <a:latin typeface="微软雅黑"/>
              <a:ea typeface="微软雅黑"/>
              <a:cs typeface="微软雅黑"/>
            </a:endParaRPr>
          </a:p>
        </p:txBody>
      </p:sp>
      <p:sp>
        <p:nvSpPr>
          <p:cNvPr id="244" name="文本框 243"/>
          <p:cNvSpPr txBox="1"/>
          <p:nvPr/>
        </p:nvSpPr>
        <p:spPr>
          <a:xfrm>
            <a:off x="9424219" y="3289225"/>
            <a:ext cx="441146" cy="400110"/>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消息</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服务</a:t>
            </a:r>
            <a:endParaRPr lang="zh-CN" altLang="en-US" sz="1000" dirty="0">
              <a:solidFill>
                <a:srgbClr val="383838"/>
              </a:solidFill>
              <a:latin typeface="微软雅黑"/>
              <a:ea typeface="微软雅黑"/>
              <a:cs typeface="微软雅黑"/>
            </a:endParaRPr>
          </a:p>
        </p:txBody>
      </p:sp>
      <p:sp>
        <p:nvSpPr>
          <p:cNvPr id="245" name="文本框 244"/>
          <p:cNvSpPr txBox="1"/>
          <p:nvPr/>
        </p:nvSpPr>
        <p:spPr>
          <a:xfrm>
            <a:off x="9424218" y="4099485"/>
            <a:ext cx="441146" cy="400110"/>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支付</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服务</a:t>
            </a:r>
            <a:endParaRPr lang="zh-CN" altLang="en-US" sz="1000" dirty="0">
              <a:solidFill>
                <a:srgbClr val="383838"/>
              </a:solidFill>
              <a:latin typeface="微软雅黑"/>
              <a:ea typeface="微软雅黑"/>
              <a:cs typeface="微软雅黑"/>
            </a:endParaRPr>
          </a:p>
        </p:txBody>
      </p:sp>
      <p:sp>
        <p:nvSpPr>
          <p:cNvPr id="246" name="文本框 245"/>
          <p:cNvSpPr txBox="1"/>
          <p:nvPr/>
        </p:nvSpPr>
        <p:spPr>
          <a:xfrm>
            <a:off x="9424219" y="4909745"/>
            <a:ext cx="441146" cy="400110"/>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报表</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服务</a:t>
            </a:r>
            <a:endParaRPr lang="zh-CN" altLang="en-US" sz="1000" dirty="0">
              <a:solidFill>
                <a:srgbClr val="383838"/>
              </a:solidFill>
              <a:latin typeface="微软雅黑"/>
              <a:ea typeface="微软雅黑"/>
              <a:cs typeface="微软雅黑"/>
            </a:endParaRPr>
          </a:p>
        </p:txBody>
      </p:sp>
      <p:sp>
        <p:nvSpPr>
          <p:cNvPr id="247" name="文本框 246"/>
          <p:cNvSpPr txBox="1"/>
          <p:nvPr/>
        </p:nvSpPr>
        <p:spPr>
          <a:xfrm>
            <a:off x="9362853" y="5720005"/>
            <a:ext cx="563880" cy="398780"/>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智能推</a:t>
            </a:r>
            <a:endParaRPr lang="zh-CN" altLang="en-US"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荐服务</a:t>
            </a:r>
            <a:endParaRPr lang="zh-CN" altLang="en-US" sz="1000" dirty="0">
              <a:solidFill>
                <a:srgbClr val="383838"/>
              </a:solidFill>
              <a:latin typeface="微软雅黑"/>
              <a:ea typeface="微软雅黑"/>
              <a:cs typeface="微软雅黑"/>
            </a:endParaRPr>
          </a:p>
        </p:txBody>
      </p:sp>
      <p:grpSp>
        <p:nvGrpSpPr>
          <p:cNvPr id="248" name="组合 247"/>
          <p:cNvGrpSpPr/>
          <p:nvPr/>
        </p:nvGrpSpPr>
        <p:grpSpPr>
          <a:xfrm>
            <a:off x="10454640" y="1990725"/>
            <a:ext cx="347980" cy="3648075"/>
            <a:chOff x="16336" y="2935"/>
            <a:chExt cx="548" cy="5745"/>
          </a:xfrm>
        </p:grpSpPr>
        <p:sp>
          <p:nvSpPr>
            <p:cNvPr id="249" name="紫荆的职场Point57"/>
            <p:cNvSpPr/>
            <p:nvPr/>
          </p:nvSpPr>
          <p:spPr>
            <a:xfrm rot="5400000">
              <a:off x="16469" y="2802"/>
              <a:ext cx="283" cy="548"/>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50" name="紫荆的职场Point57"/>
            <p:cNvSpPr/>
            <p:nvPr/>
          </p:nvSpPr>
          <p:spPr>
            <a:xfrm rot="5400000">
              <a:off x="16469" y="4623"/>
              <a:ext cx="283" cy="548"/>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1" name="紫荆的职场Point57"/>
            <p:cNvSpPr/>
            <p:nvPr/>
          </p:nvSpPr>
          <p:spPr>
            <a:xfrm rot="5400000">
              <a:off x="16469" y="6444"/>
              <a:ext cx="283" cy="548"/>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2" name="紫荆的职场Point57"/>
            <p:cNvSpPr/>
            <p:nvPr/>
          </p:nvSpPr>
          <p:spPr>
            <a:xfrm rot="5400000">
              <a:off x="16469" y="8265"/>
              <a:ext cx="283" cy="548"/>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sp>
        <p:nvSpPr>
          <p:cNvPr id="253" name="紫荆的职场Point57"/>
          <p:cNvSpPr/>
          <p:nvPr/>
        </p:nvSpPr>
        <p:spPr>
          <a:xfrm rot="5400000">
            <a:off x="2080260" y="5543550"/>
            <a:ext cx="179705" cy="347980"/>
          </a:xfrm>
          <a:prstGeom prst="upArrow">
            <a:avLst/>
          </a:prstGeom>
          <a:gradFill>
            <a:gsLst>
              <a:gs pos="0">
                <a:srgbClr val="3368FF"/>
              </a:gs>
              <a:gs pos="100000">
                <a:srgbClr val="3368FF">
                  <a:alpha val="0"/>
                </a:srgbClr>
              </a:gs>
            </a:gsLst>
            <a:lin ang="5400000" scaled="0"/>
          </a:gradFill>
          <a:ln w="1905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55" name="矩形 254"/>
          <p:cNvSpPr/>
          <p:nvPr/>
        </p:nvSpPr>
        <p:spPr>
          <a:xfrm>
            <a:off x="4025900" y="2261553"/>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56" name="文本框 255"/>
          <p:cNvSpPr txBox="1"/>
          <p:nvPr/>
        </p:nvSpPr>
        <p:spPr>
          <a:xfrm>
            <a:off x="4502785" y="2321243"/>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支付中心</a:t>
            </a:r>
            <a:endParaRPr lang="zh-CN" altLang="en-US" sz="1000" dirty="0">
              <a:solidFill>
                <a:srgbClr val="383838"/>
              </a:solidFill>
              <a:latin typeface="微软雅黑"/>
              <a:ea typeface="微软雅黑"/>
              <a:cs typeface="微软雅黑"/>
            </a:endParaRPr>
          </a:p>
        </p:txBody>
      </p:sp>
      <p:sp>
        <p:nvSpPr>
          <p:cNvPr id="257" name="矩形 256"/>
          <p:cNvSpPr/>
          <p:nvPr/>
        </p:nvSpPr>
        <p:spPr>
          <a:xfrm>
            <a:off x="4025265" y="2260918"/>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algn="ctr">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endParaRPr>
          </a:p>
        </p:txBody>
      </p:sp>
      <p:sp>
        <p:nvSpPr>
          <p:cNvPr id="259" name="矩形 258"/>
          <p:cNvSpPr/>
          <p:nvPr/>
        </p:nvSpPr>
        <p:spPr>
          <a:xfrm>
            <a:off x="4025900" y="3275330"/>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100" dirty="0">
              <a:solidFill>
                <a:srgbClr val="0042FF"/>
              </a:solidFill>
              <a:latin typeface="微软雅黑"/>
              <a:ea typeface="微软雅黑"/>
              <a:cs typeface="微软雅黑"/>
              <a:sym typeface="微软雅黑"/>
            </a:endParaRPr>
          </a:p>
        </p:txBody>
      </p:sp>
      <p:sp>
        <p:nvSpPr>
          <p:cNvPr id="260" name="文本框 259"/>
          <p:cNvSpPr txBox="1"/>
          <p:nvPr/>
        </p:nvSpPr>
        <p:spPr>
          <a:xfrm>
            <a:off x="4502785" y="3335020"/>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营销中心</a:t>
            </a:r>
            <a:endParaRPr lang="zh-CN" altLang="en-US" sz="1000" dirty="0">
              <a:solidFill>
                <a:srgbClr val="383838"/>
              </a:solidFill>
              <a:latin typeface="微软雅黑"/>
              <a:ea typeface="微软雅黑"/>
              <a:cs typeface="微软雅黑"/>
            </a:endParaRPr>
          </a:p>
        </p:txBody>
      </p:sp>
      <p:sp>
        <p:nvSpPr>
          <p:cNvPr id="261" name="矩形 260"/>
          <p:cNvSpPr/>
          <p:nvPr/>
        </p:nvSpPr>
        <p:spPr>
          <a:xfrm>
            <a:off x="4025265" y="3272155"/>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63" name="矩形 262"/>
          <p:cNvSpPr/>
          <p:nvPr/>
        </p:nvSpPr>
        <p:spPr>
          <a:xfrm>
            <a:off x="4025900" y="2769235"/>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100" dirty="0">
              <a:solidFill>
                <a:srgbClr val="0042FF"/>
              </a:solidFill>
              <a:latin typeface="微软雅黑"/>
              <a:ea typeface="微软雅黑"/>
              <a:cs typeface="微软雅黑"/>
              <a:sym typeface="微软雅黑"/>
            </a:endParaRPr>
          </a:p>
        </p:txBody>
      </p:sp>
      <p:sp>
        <p:nvSpPr>
          <p:cNvPr id="264" name="文本框 263"/>
          <p:cNvSpPr txBox="1"/>
          <p:nvPr/>
        </p:nvSpPr>
        <p:spPr>
          <a:xfrm>
            <a:off x="4502785" y="2842260"/>
            <a:ext cx="640080" cy="229870"/>
          </a:xfrm>
          <a:prstGeom prst="rect">
            <a:avLst/>
          </a:prstGeom>
          <a:solidFill>
            <a:srgbClr val="FFFFFF"/>
          </a:solid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评价中心</a:t>
            </a:r>
            <a:endParaRPr lang="zh-CN" altLang="en-US" sz="1000" dirty="0">
              <a:solidFill>
                <a:srgbClr val="383838"/>
              </a:solidFill>
              <a:latin typeface="微软雅黑"/>
              <a:ea typeface="微软雅黑"/>
              <a:cs typeface="微软雅黑"/>
            </a:endParaRPr>
          </a:p>
        </p:txBody>
      </p:sp>
      <p:sp>
        <p:nvSpPr>
          <p:cNvPr id="265" name="矩形 264"/>
          <p:cNvSpPr/>
          <p:nvPr/>
        </p:nvSpPr>
        <p:spPr>
          <a:xfrm>
            <a:off x="4025265" y="2766060"/>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67" name="矩形 266"/>
          <p:cNvSpPr/>
          <p:nvPr/>
        </p:nvSpPr>
        <p:spPr>
          <a:xfrm>
            <a:off x="5458460" y="1758950"/>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68" name="文本框 267"/>
          <p:cNvSpPr txBox="1"/>
          <p:nvPr/>
        </p:nvSpPr>
        <p:spPr>
          <a:xfrm>
            <a:off x="5935345" y="1831975"/>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会员中心</a:t>
            </a:r>
            <a:endParaRPr lang="zh-CN" altLang="en-US" sz="1000" dirty="0">
              <a:solidFill>
                <a:srgbClr val="383838"/>
              </a:solidFill>
              <a:latin typeface="微软雅黑"/>
              <a:ea typeface="微软雅黑"/>
              <a:cs typeface="微软雅黑"/>
            </a:endParaRPr>
          </a:p>
        </p:txBody>
      </p:sp>
      <p:sp>
        <p:nvSpPr>
          <p:cNvPr id="269" name="矩形 268"/>
          <p:cNvSpPr/>
          <p:nvPr/>
        </p:nvSpPr>
        <p:spPr>
          <a:xfrm>
            <a:off x="5457825" y="1755775"/>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71" name="矩形 270"/>
          <p:cNvSpPr/>
          <p:nvPr/>
        </p:nvSpPr>
        <p:spPr>
          <a:xfrm>
            <a:off x="5458460" y="2265045"/>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72" name="文本框 271"/>
          <p:cNvSpPr txBox="1"/>
          <p:nvPr/>
        </p:nvSpPr>
        <p:spPr>
          <a:xfrm>
            <a:off x="5935345" y="2338070"/>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工单中心</a:t>
            </a:r>
            <a:endParaRPr lang="zh-CN" altLang="en-US" sz="1000" dirty="0">
              <a:solidFill>
                <a:srgbClr val="383838"/>
              </a:solidFill>
              <a:latin typeface="微软雅黑"/>
              <a:ea typeface="微软雅黑"/>
              <a:cs typeface="微软雅黑"/>
            </a:endParaRPr>
          </a:p>
        </p:txBody>
      </p:sp>
      <p:sp>
        <p:nvSpPr>
          <p:cNvPr id="273" name="矩形 272"/>
          <p:cNvSpPr/>
          <p:nvPr/>
        </p:nvSpPr>
        <p:spPr>
          <a:xfrm>
            <a:off x="5457825" y="2261870"/>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75" name="矩形 274"/>
          <p:cNvSpPr/>
          <p:nvPr/>
        </p:nvSpPr>
        <p:spPr>
          <a:xfrm>
            <a:off x="5458460" y="3277235"/>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76" name="文本框 275"/>
          <p:cNvSpPr txBox="1"/>
          <p:nvPr/>
        </p:nvSpPr>
        <p:spPr>
          <a:xfrm>
            <a:off x="5935345" y="3350260"/>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用户中心</a:t>
            </a:r>
            <a:endParaRPr lang="zh-CN" altLang="en-US" sz="1000" dirty="0">
              <a:solidFill>
                <a:srgbClr val="383838"/>
              </a:solidFill>
              <a:latin typeface="微软雅黑"/>
              <a:ea typeface="微软雅黑"/>
              <a:cs typeface="微软雅黑"/>
            </a:endParaRPr>
          </a:p>
        </p:txBody>
      </p:sp>
      <p:sp>
        <p:nvSpPr>
          <p:cNvPr id="277" name="矩形 276"/>
          <p:cNvSpPr/>
          <p:nvPr/>
        </p:nvSpPr>
        <p:spPr>
          <a:xfrm>
            <a:off x="5457825" y="3274060"/>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79" name="矩形 278"/>
          <p:cNvSpPr/>
          <p:nvPr/>
        </p:nvSpPr>
        <p:spPr>
          <a:xfrm>
            <a:off x="5458460" y="2771140"/>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80" name="文本框 279"/>
          <p:cNvSpPr txBox="1"/>
          <p:nvPr/>
        </p:nvSpPr>
        <p:spPr>
          <a:xfrm>
            <a:off x="5935345" y="2844165"/>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物流中心</a:t>
            </a:r>
            <a:endParaRPr lang="zh-CN" altLang="en-US" sz="1000" dirty="0">
              <a:solidFill>
                <a:srgbClr val="383838"/>
              </a:solidFill>
              <a:latin typeface="微软雅黑"/>
              <a:ea typeface="微软雅黑"/>
              <a:cs typeface="微软雅黑"/>
            </a:endParaRPr>
          </a:p>
        </p:txBody>
      </p:sp>
      <p:sp>
        <p:nvSpPr>
          <p:cNvPr id="281" name="矩形 280"/>
          <p:cNvSpPr/>
          <p:nvPr/>
        </p:nvSpPr>
        <p:spPr>
          <a:xfrm>
            <a:off x="5457825" y="2767965"/>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83" name="矩形 282"/>
          <p:cNvSpPr/>
          <p:nvPr/>
        </p:nvSpPr>
        <p:spPr>
          <a:xfrm>
            <a:off x="6891020" y="1764665"/>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84" name="文本框 283"/>
          <p:cNvSpPr txBox="1"/>
          <p:nvPr/>
        </p:nvSpPr>
        <p:spPr>
          <a:xfrm>
            <a:off x="7367905" y="1837690"/>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推荐中心</a:t>
            </a:r>
            <a:endParaRPr lang="zh-CN" altLang="en-US" sz="1000" dirty="0">
              <a:solidFill>
                <a:srgbClr val="383838"/>
              </a:solidFill>
              <a:latin typeface="微软雅黑"/>
              <a:ea typeface="微软雅黑"/>
              <a:cs typeface="微软雅黑"/>
            </a:endParaRPr>
          </a:p>
        </p:txBody>
      </p:sp>
      <p:sp>
        <p:nvSpPr>
          <p:cNvPr id="285" name="矩形 284"/>
          <p:cNvSpPr/>
          <p:nvPr/>
        </p:nvSpPr>
        <p:spPr>
          <a:xfrm>
            <a:off x="6890385" y="1761490"/>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87" name="矩形 286"/>
          <p:cNvSpPr/>
          <p:nvPr/>
        </p:nvSpPr>
        <p:spPr>
          <a:xfrm>
            <a:off x="6890385" y="2270760"/>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88" name="文本框 287"/>
          <p:cNvSpPr txBox="1"/>
          <p:nvPr/>
        </p:nvSpPr>
        <p:spPr>
          <a:xfrm>
            <a:off x="7367270" y="2343785"/>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消息中心</a:t>
            </a:r>
            <a:endParaRPr lang="zh-CN" altLang="en-US" sz="1000" dirty="0">
              <a:solidFill>
                <a:srgbClr val="383838"/>
              </a:solidFill>
              <a:latin typeface="微软雅黑"/>
              <a:ea typeface="微软雅黑"/>
              <a:cs typeface="微软雅黑"/>
            </a:endParaRPr>
          </a:p>
        </p:txBody>
      </p:sp>
      <p:sp>
        <p:nvSpPr>
          <p:cNvPr id="289" name="矩形 288"/>
          <p:cNvSpPr/>
          <p:nvPr/>
        </p:nvSpPr>
        <p:spPr>
          <a:xfrm>
            <a:off x="6889750" y="2267585"/>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91" name="矩形 290"/>
          <p:cNvSpPr/>
          <p:nvPr/>
        </p:nvSpPr>
        <p:spPr>
          <a:xfrm>
            <a:off x="6891655" y="3282950"/>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92" name="文本框 291"/>
          <p:cNvSpPr txBox="1"/>
          <p:nvPr/>
        </p:nvSpPr>
        <p:spPr>
          <a:xfrm>
            <a:off x="7368540" y="3355975"/>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库存中心</a:t>
            </a:r>
            <a:endParaRPr lang="zh-CN" altLang="en-US" sz="1000" dirty="0">
              <a:solidFill>
                <a:srgbClr val="383838"/>
              </a:solidFill>
              <a:latin typeface="微软雅黑"/>
              <a:ea typeface="微软雅黑"/>
              <a:cs typeface="微软雅黑"/>
            </a:endParaRPr>
          </a:p>
        </p:txBody>
      </p:sp>
      <p:sp>
        <p:nvSpPr>
          <p:cNvPr id="293" name="矩形 292"/>
          <p:cNvSpPr/>
          <p:nvPr/>
        </p:nvSpPr>
        <p:spPr>
          <a:xfrm>
            <a:off x="6891020" y="3279775"/>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95" name="矩形 294"/>
          <p:cNvSpPr/>
          <p:nvPr/>
        </p:nvSpPr>
        <p:spPr>
          <a:xfrm>
            <a:off x="6890385" y="2776855"/>
            <a:ext cx="1230630" cy="349250"/>
          </a:xfrm>
          <a:prstGeom prst="rect">
            <a:avLst/>
          </a:prstGeom>
          <a:solidFill>
            <a:srgbClr val="FFFFFF"/>
          </a:solidFill>
          <a:ln w="11430">
            <a:solidFill>
              <a:srgbClr val="3368FF">
                <a:alpha val="50000"/>
              </a:srgbClr>
            </a:solidFill>
            <a:prstDash val="dash"/>
          </a:ln>
          <a:effectLst/>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100" dirty="0">
              <a:solidFill>
                <a:srgbClr val="0042FF"/>
              </a:solidFill>
              <a:latin typeface="微软雅黑"/>
              <a:ea typeface="微软雅黑"/>
              <a:cs typeface="微软雅黑"/>
            </a:endParaRPr>
          </a:p>
        </p:txBody>
      </p:sp>
      <p:sp>
        <p:nvSpPr>
          <p:cNvPr id="296" name="文本框 295"/>
          <p:cNvSpPr txBox="1"/>
          <p:nvPr/>
        </p:nvSpPr>
        <p:spPr>
          <a:xfrm>
            <a:off x="7367270" y="2849880"/>
            <a:ext cx="640080" cy="229870"/>
          </a:xfrm>
          <a:prstGeom prst="rect">
            <a:avLst/>
          </a:prstGeom>
          <a:noFill/>
          <a:ln>
            <a:noFill/>
          </a:ln>
        </p:spPr>
        <p:txBody>
          <a:bodyPr wrap="square" rtlCol="0"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渠道中心</a:t>
            </a:r>
            <a:endParaRPr lang="zh-CN" altLang="en-US" sz="1000" dirty="0">
              <a:solidFill>
                <a:srgbClr val="383838"/>
              </a:solidFill>
              <a:latin typeface="微软雅黑"/>
              <a:ea typeface="微软雅黑"/>
              <a:cs typeface="微软雅黑"/>
            </a:endParaRPr>
          </a:p>
        </p:txBody>
      </p:sp>
      <p:sp>
        <p:nvSpPr>
          <p:cNvPr id="297" name="矩形 296"/>
          <p:cNvSpPr/>
          <p:nvPr/>
        </p:nvSpPr>
        <p:spPr>
          <a:xfrm>
            <a:off x="6889750" y="2773680"/>
            <a:ext cx="350520" cy="350520"/>
          </a:xfrm>
          <a:prstGeom prst="rect">
            <a:avLst/>
          </a:prstGeom>
          <a:solidFill>
            <a:srgbClr val="3368FF"/>
          </a:solidFill>
          <a:ln w="15875">
            <a:solidFill>
              <a:srgbClr val="3368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000" dirty="0">
              <a:solidFill>
                <a:srgbClr val="FFFFFF"/>
              </a:solidFill>
              <a:latin typeface="微软雅黑"/>
              <a:ea typeface="微软雅黑"/>
              <a:cs typeface="微软雅黑"/>
              <a:sym typeface="微软雅黑"/>
            </a:endParaRPr>
          </a:p>
        </p:txBody>
      </p:sp>
      <p:sp>
        <p:nvSpPr>
          <p:cNvPr id="298" name="文本框 297"/>
          <p:cNvSpPr txBox="1"/>
          <p:nvPr/>
        </p:nvSpPr>
        <p:spPr>
          <a:xfrm>
            <a:off x="10308467" y="3610500"/>
            <a:ext cx="590550" cy="337185"/>
          </a:xfrm>
          <a:prstGeom prst="rect">
            <a:avLst/>
          </a:prstGeom>
          <a:noFill/>
        </p:spPr>
        <p:txBody>
          <a:bodyPr wrap="none" rtlCol="0">
            <a:spAutoFit/>
          </a:bodyPr>
          <a:lstStyle/>
          <a:p>
            <a:pPr algn="ctr">
              <a:defRPr>
                <a:latin typeface="微软雅黑"/>
                <a:ea typeface="微软雅黑"/>
                <a:cs typeface="微软雅黑"/>
              </a:defRPr>
            </a:pPr>
            <a:r>
              <a:rPr lang="zh-CN" altLang="en-US" sz="1600" b="1" dirty="0">
                <a:solidFill>
                  <a:srgbClr val="0042FF"/>
                </a:solidFill>
                <a:latin typeface="微软雅黑"/>
                <a:ea typeface="微软雅黑"/>
                <a:cs typeface="微软雅黑"/>
              </a:rPr>
              <a:t>支撑</a:t>
            </a:r>
            <a:endParaRPr lang="zh-CN" altLang="en-US" sz="1600" b="1" dirty="0">
              <a:solidFill>
                <a:srgbClr val="0042FF"/>
              </a:solidFill>
              <a:latin typeface="微软雅黑"/>
              <a:ea typeface="微软雅黑"/>
              <a:cs typeface="微软雅黑"/>
            </a:endParaRPr>
          </a:p>
        </p:txBody>
      </p:sp>
      <p:pic>
        <p:nvPicPr>
          <p:cNvPr id="299" name="图片 298" descr="商品中心"/>
          <p:cNvPicPr>
            <a:picLocks noChangeAspect="1"/>
          </p:cNvPicPr>
          <p:nvPr/>
        </p:nvPicPr>
        <p:blipFill>
          <a:blip r:embed="rId31">
            <a:extLst>
              <a:ext uri="{96DAC541-7B7A-43D3-8B79-37D633B846F1}">
                <asvg:svgBlip xmlns:asvg="http://schemas.microsoft.com/office/drawing/2016/SVG/main" r:embed="rId32"/>
              </a:ext>
            </a:extLst>
          </a:blip>
          <a:stretch>
            <a:fillRect/>
          </a:stretch>
        </p:blipFill>
        <p:spPr>
          <a:xfrm>
            <a:off x="4090353" y="1819910"/>
            <a:ext cx="220345" cy="220345"/>
          </a:xfrm>
          <a:prstGeom prst="rect">
            <a:avLst/>
          </a:prstGeom>
        </p:spPr>
      </p:pic>
      <p:pic>
        <p:nvPicPr>
          <p:cNvPr id="300" name="图片 299" descr="会员中心"/>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5498148" y="1796098"/>
            <a:ext cx="269875" cy="269875"/>
          </a:xfrm>
          <a:prstGeom prst="rect">
            <a:avLst/>
          </a:prstGeom>
        </p:spPr>
      </p:pic>
      <p:pic>
        <p:nvPicPr>
          <p:cNvPr id="301" name="图片 300" descr="商城-推荐中心 – 1"/>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6950710" y="1819910"/>
            <a:ext cx="230505" cy="230505"/>
          </a:xfrm>
          <a:prstGeom prst="rect">
            <a:avLst/>
          </a:prstGeom>
        </p:spPr>
      </p:pic>
      <p:pic>
        <p:nvPicPr>
          <p:cNvPr id="302" name="图片 301" descr="支付中心"/>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4090670" y="2326323"/>
            <a:ext cx="219710" cy="219710"/>
          </a:xfrm>
          <a:prstGeom prst="rect">
            <a:avLst/>
          </a:prstGeom>
        </p:spPr>
      </p:pic>
      <p:pic>
        <p:nvPicPr>
          <p:cNvPr id="303" name="图片 302" descr="工单中心"/>
          <p:cNvPicPr>
            <a:picLocks noChangeAspect="1"/>
          </p:cNvPicPr>
          <p:nvPr/>
        </p:nvPicPr>
        <p:blipFill>
          <a:blip r:embed="rId39">
            <a:extLst>
              <a:ext uri="{96DAC541-7B7A-43D3-8B79-37D633B846F1}">
                <asvg:svgBlip xmlns:asvg="http://schemas.microsoft.com/office/drawing/2016/SVG/main" r:embed="rId40"/>
              </a:ext>
            </a:extLst>
          </a:blip>
          <a:stretch>
            <a:fillRect/>
          </a:stretch>
        </p:blipFill>
        <p:spPr>
          <a:xfrm>
            <a:off x="5518785" y="2322830"/>
            <a:ext cx="228600" cy="228600"/>
          </a:xfrm>
          <a:prstGeom prst="rect">
            <a:avLst/>
          </a:prstGeom>
        </p:spPr>
      </p:pic>
      <p:pic>
        <p:nvPicPr>
          <p:cNvPr id="304" name="图片 303" descr="消息-面"/>
          <p:cNvPicPr>
            <a:picLocks noChangeAspect="1"/>
          </p:cNvPicPr>
          <p:nvPr/>
        </p:nvPicPr>
        <p:blipFill>
          <a:blip r:embed="rId41">
            <a:extLst>
              <a:ext uri="{96DAC541-7B7A-43D3-8B79-37D633B846F1}">
                <asvg:svgBlip xmlns:asvg="http://schemas.microsoft.com/office/drawing/2016/SVG/main" r:embed="rId42"/>
              </a:ext>
            </a:extLst>
          </a:blip>
          <a:stretch>
            <a:fillRect/>
          </a:stretch>
        </p:blipFill>
        <p:spPr>
          <a:xfrm>
            <a:off x="6950710" y="2335530"/>
            <a:ext cx="230505" cy="230505"/>
          </a:xfrm>
          <a:prstGeom prst="rect">
            <a:avLst/>
          </a:prstGeom>
        </p:spPr>
      </p:pic>
      <p:pic>
        <p:nvPicPr>
          <p:cNvPr id="305" name="图片 304" descr="评价中心"/>
          <p:cNvPicPr>
            <a:picLocks noChangeAspect="1"/>
          </p:cNvPicPr>
          <p:nvPr/>
        </p:nvPicPr>
        <p:blipFill>
          <a:blip r:embed="rId43">
            <a:extLst>
              <a:ext uri="{96DAC541-7B7A-43D3-8B79-37D633B846F1}">
                <asvg:svgBlip xmlns:asvg="http://schemas.microsoft.com/office/drawing/2016/SVG/main" r:embed="rId44"/>
              </a:ext>
            </a:extLst>
          </a:blip>
          <a:stretch>
            <a:fillRect/>
          </a:stretch>
        </p:blipFill>
        <p:spPr>
          <a:xfrm>
            <a:off x="4098290" y="2839085"/>
            <a:ext cx="204470" cy="204470"/>
          </a:xfrm>
          <a:prstGeom prst="rect">
            <a:avLst/>
          </a:prstGeom>
        </p:spPr>
      </p:pic>
      <p:pic>
        <p:nvPicPr>
          <p:cNvPr id="306" name="图片 305" descr="物流中心"/>
          <p:cNvPicPr>
            <a:picLocks noChangeAspect="1"/>
          </p:cNvPicPr>
          <p:nvPr/>
        </p:nvPicPr>
        <p:blipFill>
          <a:blip r:embed="rId45">
            <a:extLst>
              <a:ext uri="{96DAC541-7B7A-43D3-8B79-37D633B846F1}">
                <asvg:svgBlip xmlns:asvg="http://schemas.microsoft.com/office/drawing/2016/SVG/main" r:embed="rId46"/>
              </a:ext>
            </a:extLst>
          </a:blip>
          <a:stretch>
            <a:fillRect/>
          </a:stretch>
        </p:blipFill>
        <p:spPr>
          <a:xfrm>
            <a:off x="5515928" y="2826068"/>
            <a:ext cx="234315" cy="234315"/>
          </a:xfrm>
          <a:prstGeom prst="rect">
            <a:avLst/>
          </a:prstGeom>
        </p:spPr>
      </p:pic>
      <p:pic>
        <p:nvPicPr>
          <p:cNvPr id="307" name="图片 306" descr="渠道中心"/>
          <p:cNvPicPr>
            <a:picLocks noChangeAspect="1"/>
          </p:cNvPicPr>
          <p:nvPr/>
        </p:nvPicPr>
        <p:blipFill>
          <a:blip r:embed="rId47">
            <a:extLst>
              <a:ext uri="{96DAC541-7B7A-43D3-8B79-37D633B846F1}">
                <asvg:svgBlip xmlns:asvg="http://schemas.microsoft.com/office/drawing/2016/SVG/main" r:embed="rId48"/>
              </a:ext>
            </a:extLst>
          </a:blip>
          <a:stretch>
            <a:fillRect/>
          </a:stretch>
        </p:blipFill>
        <p:spPr>
          <a:xfrm>
            <a:off x="6950710" y="2814320"/>
            <a:ext cx="250825" cy="250825"/>
          </a:xfrm>
          <a:prstGeom prst="rect">
            <a:avLst/>
          </a:prstGeom>
          <a:solidFill>
            <a:srgbClr val="3368FF"/>
          </a:solidFill>
          <a:effectLst/>
        </p:spPr>
      </p:pic>
      <p:pic>
        <p:nvPicPr>
          <p:cNvPr id="308" name="图片 307" descr="营销中心icon"/>
          <p:cNvPicPr>
            <a:picLocks noChangeAspect="1"/>
          </p:cNvPicPr>
          <p:nvPr/>
        </p:nvPicPr>
        <p:blipFill>
          <a:blip r:embed="rId49">
            <a:extLst>
              <a:ext uri="{96DAC541-7B7A-43D3-8B79-37D633B846F1}">
                <asvg:svgBlip xmlns:asvg="http://schemas.microsoft.com/office/drawing/2016/SVG/main" r:embed="rId50"/>
              </a:ext>
            </a:extLst>
          </a:blip>
          <a:stretch>
            <a:fillRect/>
          </a:stretch>
        </p:blipFill>
        <p:spPr>
          <a:xfrm>
            <a:off x="4096703" y="3343593"/>
            <a:ext cx="207645" cy="207645"/>
          </a:xfrm>
          <a:prstGeom prst="rect">
            <a:avLst/>
          </a:prstGeom>
        </p:spPr>
      </p:pic>
      <p:pic>
        <p:nvPicPr>
          <p:cNvPr id="309" name="图片 308" descr="用户中心"/>
          <p:cNvPicPr>
            <a:picLocks noChangeAspect="1"/>
          </p:cNvPicPr>
          <p:nvPr/>
        </p:nvPicPr>
        <p:blipFill>
          <a:blip r:embed="rId51">
            <a:extLst>
              <a:ext uri="{96DAC541-7B7A-43D3-8B79-37D633B846F1}">
                <asvg:svgBlip xmlns:asvg="http://schemas.microsoft.com/office/drawing/2016/SVG/main" r:embed="rId52"/>
              </a:ext>
            </a:extLst>
          </a:blip>
          <a:stretch>
            <a:fillRect/>
          </a:stretch>
        </p:blipFill>
        <p:spPr>
          <a:xfrm>
            <a:off x="5536883" y="3353118"/>
            <a:ext cx="192405" cy="192405"/>
          </a:xfrm>
          <a:prstGeom prst="rect">
            <a:avLst/>
          </a:prstGeom>
        </p:spPr>
      </p:pic>
      <p:pic>
        <p:nvPicPr>
          <p:cNvPr id="310" name="图片 309" descr="库存中心"/>
          <p:cNvPicPr>
            <a:picLocks noChangeAspect="1"/>
          </p:cNvPicPr>
          <p:nvPr/>
        </p:nvPicPr>
        <p:blipFill>
          <a:blip r:embed="rId53">
            <a:extLst>
              <a:ext uri="{96DAC541-7B7A-43D3-8B79-37D633B846F1}">
                <asvg:svgBlip xmlns:asvg="http://schemas.microsoft.com/office/drawing/2016/SVG/main" r:embed="rId54"/>
              </a:ext>
            </a:extLst>
          </a:blip>
          <a:stretch>
            <a:fillRect/>
          </a:stretch>
        </p:blipFill>
        <p:spPr>
          <a:xfrm>
            <a:off x="6957060" y="3329305"/>
            <a:ext cx="233045" cy="233045"/>
          </a:xfrm>
          <a:prstGeom prst="rect">
            <a:avLst/>
          </a:prstGeom>
        </p:spPr>
      </p:pic>
      <p:cxnSp>
        <p:nvCxnSpPr>
          <p:cNvPr id="311" name="直接连接符 310"/>
          <p:cNvCxnSpPr>
            <a:endCxn id="124" idx="6"/>
          </p:cNvCxnSpPr>
          <p:nvPr/>
        </p:nvCxnSpPr>
        <p:spPr>
          <a:xfrm>
            <a:off x="4494530" y="4647565"/>
            <a:ext cx="130175" cy="1905"/>
          </a:xfrm>
          <a:prstGeom prst="line">
            <a:avLst/>
          </a:prstGeom>
          <a:noFill/>
          <a:ln w="10516">
            <a:solidFill>
              <a:srgbClr val="3368FF"/>
            </a:solidFill>
            <a:prstDash val="dash"/>
          </a:ln>
          <a:effectLst/>
        </p:spPr>
        <p:style>
          <a:lnRef idx="2">
            <a:srgbClr val="0042FF"/>
          </a:lnRef>
          <a:fillRef idx="1">
            <a:srgbClr val="0042FF"/>
          </a:fillRef>
          <a:effectRef idx="0">
            <a:srgbClr val="0042FF"/>
          </a:effectRef>
          <a:fontRef idx="minor">
            <a:srgbClr val="FFFFFF"/>
          </a:fontRef>
        </p:style>
      </p:cxnSp>
      <p:cxnSp>
        <p:nvCxnSpPr>
          <p:cNvPr id="312" name="直接连接符 311"/>
          <p:cNvCxnSpPr/>
          <p:nvPr/>
        </p:nvCxnSpPr>
        <p:spPr>
          <a:xfrm>
            <a:off x="4491355" y="5082540"/>
            <a:ext cx="130175" cy="1905"/>
          </a:xfrm>
          <a:prstGeom prst="line">
            <a:avLst/>
          </a:prstGeom>
          <a:noFill/>
          <a:ln w="10516">
            <a:solidFill>
              <a:srgbClr val="3368FF"/>
            </a:solidFill>
            <a:prstDash val="dash"/>
          </a:ln>
          <a:effectLst/>
        </p:spPr>
        <p:style>
          <a:lnRef idx="2">
            <a:srgbClr val="0042FF"/>
          </a:lnRef>
          <a:fillRef idx="1">
            <a:srgbClr val="0042FF"/>
          </a:fillRef>
          <a:effectRef idx="0">
            <a:srgbClr val="0042FF"/>
          </a:effectRef>
          <a:fontRef idx="minor">
            <a:srgbClr val="FFFFFF"/>
          </a:fontRef>
        </p:style>
      </p:cxnSp>
      <p:cxnSp>
        <p:nvCxnSpPr>
          <p:cNvPr id="313" name="直接连接符 312"/>
          <p:cNvCxnSpPr/>
          <p:nvPr/>
        </p:nvCxnSpPr>
        <p:spPr>
          <a:xfrm>
            <a:off x="4494530" y="5532755"/>
            <a:ext cx="130175" cy="1905"/>
          </a:xfrm>
          <a:prstGeom prst="line">
            <a:avLst/>
          </a:prstGeom>
          <a:noFill/>
          <a:ln w="10516">
            <a:solidFill>
              <a:srgbClr val="3368FF"/>
            </a:solidFill>
            <a:prstDash val="dash"/>
          </a:ln>
          <a:effectLst/>
        </p:spPr>
        <p:style>
          <a:lnRef idx="2">
            <a:srgbClr val="0042FF"/>
          </a:lnRef>
          <a:fillRef idx="1">
            <a:srgbClr val="0042FF"/>
          </a:fillRef>
          <a:effectRef idx="0">
            <a:srgbClr val="0042FF"/>
          </a:effectRef>
          <a:fontRef idx="minor">
            <a:srgbClr val="FFFFFF"/>
          </a:fontRef>
        </p:style>
      </p:cxnSp>
      <p:grpSp>
        <p:nvGrpSpPr>
          <p:cNvPr id="326" name="组合 325"/>
          <p:cNvGrpSpPr/>
          <p:nvPr/>
        </p:nvGrpSpPr>
        <p:grpSpPr>
          <a:xfrm>
            <a:off x="5616575" y="5836358"/>
            <a:ext cx="297180" cy="248285"/>
            <a:chOff x="9363" y="5746"/>
            <a:chExt cx="468" cy="702"/>
          </a:xfrm>
        </p:grpSpPr>
        <p:sp>
          <p:nvSpPr>
            <p:cNvPr id="327" name="箭头: 下 47"/>
            <p:cNvSpPr/>
            <p:nvPr>
              <p:custDataLst>
                <p:tags r:id="rId55"/>
              </p:custDataLst>
            </p:nvPr>
          </p:nvSpPr>
          <p:spPr>
            <a:xfrm rot="16200000" flipH="1" flipV="1">
              <a:off x="9330" y="5946"/>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28" name="箭头: 下 47"/>
            <p:cNvSpPr/>
            <p:nvPr>
              <p:custDataLst>
                <p:tags r:id="rId56"/>
              </p:custDataLst>
            </p:nvPr>
          </p:nvSpPr>
          <p:spPr>
            <a:xfrm rot="16200000" flipH="1" flipV="1">
              <a:off x="9163" y="5947"/>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2" name="组合 1"/>
          <p:cNvGrpSpPr/>
          <p:nvPr/>
        </p:nvGrpSpPr>
        <p:grpSpPr>
          <a:xfrm>
            <a:off x="5616575" y="5401383"/>
            <a:ext cx="297180" cy="248285"/>
            <a:chOff x="9363" y="5746"/>
            <a:chExt cx="468" cy="702"/>
          </a:xfrm>
        </p:grpSpPr>
        <p:sp>
          <p:nvSpPr>
            <p:cNvPr id="6" name="箭头: 下 47"/>
            <p:cNvSpPr/>
            <p:nvPr>
              <p:custDataLst>
                <p:tags r:id="rId57"/>
              </p:custDataLst>
            </p:nvPr>
          </p:nvSpPr>
          <p:spPr>
            <a:xfrm rot="16200000" flipH="1" flipV="1">
              <a:off x="9330" y="5946"/>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9" name="箭头: 下 47"/>
            <p:cNvSpPr/>
            <p:nvPr>
              <p:custDataLst>
                <p:tags r:id="rId58"/>
              </p:custDataLst>
            </p:nvPr>
          </p:nvSpPr>
          <p:spPr>
            <a:xfrm rot="16200000" flipH="1" flipV="1">
              <a:off x="9163" y="5947"/>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15" name="组合 14"/>
          <p:cNvGrpSpPr/>
          <p:nvPr/>
        </p:nvGrpSpPr>
        <p:grpSpPr>
          <a:xfrm>
            <a:off x="5616575" y="4966408"/>
            <a:ext cx="297180" cy="248285"/>
            <a:chOff x="9363" y="5746"/>
            <a:chExt cx="468" cy="702"/>
          </a:xfrm>
        </p:grpSpPr>
        <p:sp>
          <p:nvSpPr>
            <p:cNvPr id="16" name="箭头: 下 47"/>
            <p:cNvSpPr/>
            <p:nvPr>
              <p:custDataLst>
                <p:tags r:id="rId59"/>
              </p:custDataLst>
            </p:nvPr>
          </p:nvSpPr>
          <p:spPr>
            <a:xfrm rot="16200000" flipH="1" flipV="1">
              <a:off x="9330" y="5946"/>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17" name="箭头: 下 47"/>
            <p:cNvSpPr/>
            <p:nvPr>
              <p:custDataLst>
                <p:tags r:id="rId60"/>
              </p:custDataLst>
            </p:nvPr>
          </p:nvSpPr>
          <p:spPr>
            <a:xfrm rot="16200000" flipH="1" flipV="1">
              <a:off x="9163" y="5947"/>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24" name="组合 23"/>
          <p:cNvGrpSpPr/>
          <p:nvPr/>
        </p:nvGrpSpPr>
        <p:grpSpPr>
          <a:xfrm>
            <a:off x="5616575" y="4531433"/>
            <a:ext cx="297180" cy="248285"/>
            <a:chOff x="9363" y="5746"/>
            <a:chExt cx="468" cy="702"/>
          </a:xfrm>
        </p:grpSpPr>
        <p:sp>
          <p:nvSpPr>
            <p:cNvPr id="25" name="箭头: 下 47"/>
            <p:cNvSpPr/>
            <p:nvPr>
              <p:custDataLst>
                <p:tags r:id="rId61"/>
              </p:custDataLst>
            </p:nvPr>
          </p:nvSpPr>
          <p:spPr>
            <a:xfrm rot="16200000" flipH="1" flipV="1">
              <a:off x="9330" y="5946"/>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6" name="箭头: 下 47"/>
            <p:cNvSpPr/>
            <p:nvPr>
              <p:custDataLst>
                <p:tags r:id="rId62"/>
              </p:custDataLst>
            </p:nvPr>
          </p:nvSpPr>
          <p:spPr>
            <a:xfrm rot="16200000" flipH="1" flipV="1">
              <a:off x="9163" y="5947"/>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grpSp>
      <p:grpSp>
        <p:nvGrpSpPr>
          <p:cNvPr id="27" name="组合 26"/>
          <p:cNvGrpSpPr/>
          <p:nvPr/>
        </p:nvGrpSpPr>
        <p:grpSpPr>
          <a:xfrm>
            <a:off x="5616575" y="4096385"/>
            <a:ext cx="297180" cy="248358"/>
            <a:chOff x="9363" y="5746"/>
            <a:chExt cx="468" cy="702"/>
          </a:xfrm>
        </p:grpSpPr>
        <p:sp>
          <p:nvSpPr>
            <p:cNvPr id="33" name="箭头: 下 47"/>
            <p:cNvSpPr/>
            <p:nvPr>
              <p:custDataLst>
                <p:tags r:id="rId63"/>
              </p:custDataLst>
            </p:nvPr>
          </p:nvSpPr>
          <p:spPr>
            <a:xfrm rot="16200000" flipH="1" flipV="1">
              <a:off x="9330" y="5946"/>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en-US" altLang="zh-CN">
                <a:solidFill>
                  <a:srgbClr val="383838"/>
                </a:solidFill>
                <a:latin typeface="微软雅黑"/>
                <a:ea typeface="微软雅黑"/>
                <a:cs typeface="微软雅黑"/>
                <a:sym typeface="微软雅黑"/>
              </a:endParaRPr>
            </a:p>
          </p:txBody>
        </p:sp>
        <p:sp>
          <p:nvSpPr>
            <p:cNvPr id="34" name="箭头: 下 47"/>
            <p:cNvSpPr/>
            <p:nvPr>
              <p:custDataLst>
                <p:tags r:id="rId64"/>
              </p:custDataLst>
            </p:nvPr>
          </p:nvSpPr>
          <p:spPr>
            <a:xfrm rot="16200000" flipH="1" flipV="1">
              <a:off x="9163" y="5947"/>
              <a:ext cx="701" cy="301"/>
            </a:xfrm>
            <a:prstGeom prst="triangle">
              <a:avLst/>
            </a:prstGeom>
            <a:gradFill>
              <a:gsLst>
                <a:gs pos="99000">
                  <a:srgbClr val="3368FF">
                    <a:alpha val="0"/>
                  </a:srgbClr>
                </a:gs>
                <a:gs pos="0">
                  <a:srgbClr val="3368FF"/>
                </a:gs>
              </a:gsLst>
              <a:lin ang="54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4" name="文本框 3"/>
          <p:cNvSpPr txBox="1"/>
          <p:nvPr/>
        </p:nvSpPr>
        <p:spPr>
          <a:xfrm>
            <a:off x="4621271" y="4094135"/>
            <a:ext cx="939334" cy="238834"/>
          </a:xfrm>
          <a:prstGeom prst="rect">
            <a:avLst/>
          </a:prstGeom>
          <a:noFill/>
          <a:effectLst/>
        </p:spPr>
        <p:txBody>
          <a:bodyPr wrap="none" lIns="0" tIns="0" rIns="0" bIns="0" rtlCol="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用户基础数据</a:t>
            </a:r>
            <a:endParaRPr lang="zh-CN" altLang="en-US" sz="1000" dirty="0">
              <a:solidFill>
                <a:srgbClr val="383838"/>
              </a:solidFill>
              <a:latin typeface="微软雅黑"/>
              <a:ea typeface="微软雅黑"/>
              <a:cs typeface="微软雅黑"/>
            </a:endParaRPr>
          </a:p>
        </p:txBody>
      </p:sp>
      <p:sp>
        <p:nvSpPr>
          <p:cNvPr id="35" name="文本框 34"/>
          <p:cNvSpPr txBox="1"/>
          <p:nvPr/>
        </p:nvSpPr>
        <p:spPr>
          <a:xfrm>
            <a:off x="4749511" y="4534615"/>
            <a:ext cx="682854" cy="238834"/>
          </a:xfrm>
          <a:prstGeom prst="rect">
            <a:avLst/>
          </a:prstGeom>
          <a:noFill/>
          <a:effectLst/>
        </p:spPr>
        <p:txBody>
          <a:bodyPr wrap="none" lIns="0" tIns="0" rIns="0" bIns="0" rtlCol="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商品数据</a:t>
            </a:r>
            <a:endParaRPr lang="zh-CN" altLang="en-US" sz="1000" dirty="0">
              <a:solidFill>
                <a:srgbClr val="383838"/>
              </a:solidFill>
              <a:latin typeface="微软雅黑"/>
              <a:ea typeface="微软雅黑"/>
              <a:cs typeface="微软雅黑"/>
            </a:endParaRPr>
          </a:p>
        </p:txBody>
      </p:sp>
      <p:sp>
        <p:nvSpPr>
          <p:cNvPr id="36" name="文本框 35"/>
          <p:cNvSpPr txBox="1"/>
          <p:nvPr/>
        </p:nvSpPr>
        <p:spPr>
          <a:xfrm>
            <a:off x="4749512" y="4975096"/>
            <a:ext cx="682854" cy="238834"/>
          </a:xfrm>
          <a:prstGeom prst="rect">
            <a:avLst/>
          </a:prstGeom>
          <a:noFill/>
          <a:effectLst/>
        </p:spPr>
        <p:txBody>
          <a:bodyPr wrap="none" lIns="0" tIns="0" rIns="0" bIns="0" rtlCol="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订单数据</a:t>
            </a:r>
            <a:endParaRPr lang="zh-CN" altLang="en-US" sz="1000" dirty="0">
              <a:solidFill>
                <a:srgbClr val="383838"/>
              </a:solidFill>
              <a:latin typeface="微软雅黑"/>
              <a:ea typeface="微软雅黑"/>
              <a:cs typeface="微软雅黑"/>
            </a:endParaRPr>
          </a:p>
        </p:txBody>
      </p:sp>
      <p:sp>
        <p:nvSpPr>
          <p:cNvPr id="40" name="文本框 39"/>
          <p:cNvSpPr txBox="1"/>
          <p:nvPr/>
        </p:nvSpPr>
        <p:spPr>
          <a:xfrm>
            <a:off x="4749511" y="5415576"/>
            <a:ext cx="682854" cy="238834"/>
          </a:xfrm>
          <a:prstGeom prst="rect">
            <a:avLst/>
          </a:prstGeom>
          <a:noFill/>
          <a:effectLst/>
        </p:spPr>
        <p:txBody>
          <a:bodyPr wrap="none" lIns="0" tIns="0" rIns="0" bIns="0" rtlCol="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支付数据</a:t>
            </a:r>
            <a:endParaRPr lang="zh-CN" altLang="en-US" sz="1000" dirty="0">
              <a:solidFill>
                <a:srgbClr val="383838"/>
              </a:solidFill>
              <a:latin typeface="微软雅黑"/>
              <a:ea typeface="微软雅黑"/>
              <a:cs typeface="微软雅黑"/>
            </a:endParaRPr>
          </a:p>
        </p:txBody>
      </p:sp>
      <p:sp>
        <p:nvSpPr>
          <p:cNvPr id="41" name="文本框 40"/>
          <p:cNvSpPr txBox="1"/>
          <p:nvPr/>
        </p:nvSpPr>
        <p:spPr>
          <a:xfrm>
            <a:off x="4749511" y="5856054"/>
            <a:ext cx="682854" cy="238834"/>
          </a:xfrm>
          <a:prstGeom prst="rect">
            <a:avLst/>
          </a:prstGeom>
          <a:noFill/>
          <a:effectLst/>
        </p:spPr>
        <p:txBody>
          <a:bodyPr wrap="none" lIns="0" tIns="0" rIns="0" bIns="0" rtlCol="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位置数据</a:t>
            </a:r>
            <a:endParaRPr lang="zh-CN" altLang="en-US" sz="1000" dirty="0">
              <a:solidFill>
                <a:srgbClr val="383838"/>
              </a:solidFill>
              <a:latin typeface="微软雅黑"/>
              <a:ea typeface="微软雅黑"/>
              <a:cs typeface="微软雅黑"/>
            </a:endParaRPr>
          </a:p>
        </p:txBody>
      </p:sp>
      <p:cxnSp>
        <p:nvCxnSpPr>
          <p:cNvPr id="4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3" name="组合 4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65"/>
            <a:srcRect l="17002" t="-1765" r="56499" b="-1176"/>
            <a:stretch>
              <a:fillRect/>
            </a:stretch>
          </p:blipFill>
          <p:spPr>
            <a:xfrm>
              <a:off x="13761" y="549"/>
              <a:ext cx="1582" cy="525"/>
            </a:xfrm>
            <a:prstGeom prst="rect">
              <a:avLst/>
            </a:prstGeom>
          </p:spPr>
        </p:pic>
        <p:sp>
          <p:nvSpPr>
            <p:cNvPr id="47" name="文本框 4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3279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构建全链路数字营销能力</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31" name="圆角矩形 8"/>
          <p:cNvSpPr/>
          <p:nvPr/>
        </p:nvSpPr>
        <p:spPr>
          <a:xfrm>
            <a:off x="1192384" y="4940410"/>
            <a:ext cx="2732820" cy="621000"/>
          </a:xfrm>
          <a:prstGeom prst="roundRect">
            <a:avLst>
              <a:gd name="adj" fmla="val 2689"/>
            </a:avLst>
          </a:prstGeom>
          <a:solidFill>
            <a:srgbClr val="3368FF"/>
          </a:solidFill>
          <a:ln w="38100" cap="flat" cmpd="sng" algn="ctr">
            <a:noFill/>
            <a:prstDash val="solid"/>
            <a:miter lim="800000"/>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232" name="圆角矩形 8"/>
          <p:cNvSpPr/>
          <p:nvPr/>
        </p:nvSpPr>
        <p:spPr>
          <a:xfrm>
            <a:off x="4812934" y="4940410"/>
            <a:ext cx="2732405" cy="621000"/>
          </a:xfrm>
          <a:prstGeom prst="roundRect">
            <a:avLst>
              <a:gd name="adj" fmla="val 2689"/>
            </a:avLst>
          </a:prstGeom>
          <a:solidFill>
            <a:srgbClr val="3368FF"/>
          </a:solidFill>
          <a:ln w="38100" cap="flat" cmpd="sng" algn="ctr">
            <a:noFill/>
            <a:prstDash val="solid"/>
            <a:miter lim="800000"/>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233" name="圆角矩形 8"/>
          <p:cNvSpPr/>
          <p:nvPr/>
        </p:nvSpPr>
        <p:spPr>
          <a:xfrm>
            <a:off x="8433069" y="4940410"/>
            <a:ext cx="2732405" cy="621000"/>
          </a:xfrm>
          <a:prstGeom prst="roundRect">
            <a:avLst>
              <a:gd name="adj" fmla="val 2689"/>
            </a:avLst>
          </a:prstGeom>
          <a:solidFill>
            <a:srgbClr val="0042FF"/>
          </a:solidFill>
          <a:ln w="38100" cap="flat" cmpd="sng" algn="ctr">
            <a:noFill/>
            <a:prstDash val="solid"/>
            <a:miter lim="800000"/>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3817" tIns="46909" rIns="93817" bIns="46909"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845">
              <a:solidFill>
                <a:srgbClr val="FFFFFF"/>
              </a:solidFill>
              <a:effectLst>
                <a:outerShdw blurRad="130302" dist="39091" dir="2699985" algn="tl">
                  <a:srgbClr val="383838">
                    <a:alpha val="40000"/>
                  </a:srgbClr>
                </a:outerShdw>
              </a:effectLst>
              <a:latin typeface="微软雅黑"/>
              <a:ea typeface="微软雅黑"/>
              <a:cs typeface="微软雅黑"/>
              <a:sym typeface="微软雅黑"/>
            </a:endParaRPr>
          </a:p>
        </p:txBody>
      </p:sp>
      <p:sp>
        <p:nvSpPr>
          <p:cNvPr id="223" name="圆角矩形 8"/>
          <p:cNvSpPr/>
          <p:nvPr/>
        </p:nvSpPr>
        <p:spPr>
          <a:xfrm>
            <a:off x="7199302" y="2450201"/>
            <a:ext cx="1974073" cy="1002743"/>
          </a:xfrm>
          <a:prstGeom prst="roundRect">
            <a:avLst>
              <a:gd name="adj" fmla="val 2689"/>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224" name="圆角矩形 8"/>
          <p:cNvSpPr/>
          <p:nvPr/>
        </p:nvSpPr>
        <p:spPr>
          <a:xfrm>
            <a:off x="7199302" y="3689608"/>
            <a:ext cx="1974073" cy="1002743"/>
          </a:xfrm>
          <a:prstGeom prst="roundRect">
            <a:avLst>
              <a:gd name="adj" fmla="val 2689"/>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219" name="圆角矩形 59"/>
          <p:cNvSpPr/>
          <p:nvPr>
            <p:custDataLst>
              <p:tags r:id="rId3"/>
            </p:custDataLst>
          </p:nvPr>
        </p:nvSpPr>
        <p:spPr>
          <a:xfrm>
            <a:off x="5165090" y="2338705"/>
            <a:ext cx="1890395" cy="2351405"/>
          </a:xfrm>
          <a:prstGeom prst="roundRect">
            <a:avLst>
              <a:gd name="adj" fmla="val 2928"/>
            </a:avLst>
          </a:prstGeom>
          <a:solidFill>
            <a:srgbClr val="E6E6E6">
              <a:alpha val="20000"/>
            </a:srgbClr>
          </a:solidFill>
          <a:ln w="8318">
            <a:solidFill>
              <a:srgbClr val="3368FF"/>
            </a:solidFill>
            <a:prstDash val="dash"/>
          </a:ln>
          <a:effectLst>
            <a:outerShdw blurRad="499110" dist="249555" dir="5400000" sx="90000" sy="90000" algn="ctr" rotWithShape="0">
              <a:srgbClr val="0042FF">
                <a:alpha val="9735"/>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220" name="圆角矩形 59"/>
          <p:cNvSpPr/>
          <p:nvPr>
            <p:custDataLst>
              <p:tags r:id="rId4"/>
            </p:custDataLst>
          </p:nvPr>
        </p:nvSpPr>
        <p:spPr>
          <a:xfrm>
            <a:off x="9413875" y="2339975"/>
            <a:ext cx="1890395" cy="2350135"/>
          </a:xfrm>
          <a:prstGeom prst="roundRect">
            <a:avLst>
              <a:gd name="adj" fmla="val 2928"/>
            </a:avLst>
          </a:prstGeom>
          <a:solidFill>
            <a:srgbClr val="FFFFFF">
              <a:alpha val="20000"/>
            </a:srgbClr>
          </a:solidFill>
          <a:ln w="8318">
            <a:solidFill>
              <a:srgbClr val="3368FF"/>
            </a:solidFill>
            <a:prstDash val="dash"/>
          </a:ln>
          <a:effectLst>
            <a:outerShdw blurRad="499110" dist="249555" dir="5400000" sx="90000" sy="90000" algn="ctr" rotWithShape="0">
              <a:srgbClr val="0042FF">
                <a:alpha val="9735"/>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218" name="圆角矩形 59"/>
          <p:cNvSpPr/>
          <p:nvPr>
            <p:custDataLst>
              <p:tags r:id="rId5"/>
            </p:custDataLst>
          </p:nvPr>
        </p:nvSpPr>
        <p:spPr>
          <a:xfrm>
            <a:off x="855345" y="2339975"/>
            <a:ext cx="1890395" cy="2350135"/>
          </a:xfrm>
          <a:prstGeom prst="roundRect">
            <a:avLst>
              <a:gd name="adj" fmla="val 2928"/>
            </a:avLst>
          </a:prstGeom>
          <a:solidFill>
            <a:srgbClr val="E6E6E6">
              <a:alpha val="20000"/>
            </a:srgbClr>
          </a:solidFill>
          <a:ln w="8318">
            <a:solidFill>
              <a:srgbClr val="3368FF"/>
            </a:solidFill>
            <a:prstDash val="dash"/>
          </a:ln>
          <a:effectLst>
            <a:outerShdw blurRad="499110" dist="249555" dir="5400000" sx="90000" sy="90000" algn="ctr" rotWithShape="0">
              <a:srgbClr val="0042FF">
                <a:alpha val="9735"/>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119786" tIns="59893" rIns="119786" bIns="59893"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zh-CN" altLang="en-US" sz="2360">
              <a:latin typeface="微软雅黑"/>
              <a:ea typeface="微软雅黑"/>
              <a:cs typeface="微软雅黑"/>
              <a:sym typeface="微软雅黑"/>
            </a:endParaRPr>
          </a:p>
        </p:txBody>
      </p:sp>
      <p:sp>
        <p:nvSpPr>
          <p:cNvPr id="2" name="Freeform 2384"/>
          <p:cNvSpPr/>
          <p:nvPr/>
        </p:nvSpPr>
        <p:spPr>
          <a:xfrm>
            <a:off x="9536247" y="1391302"/>
            <a:ext cx="1648967" cy="527305"/>
          </a:xfrm>
          <a:custGeom>
            <a:avLst/>
            <a:gdLst/>
            <a:ahLst/>
            <a:cxnLst/>
            <a:rect l="0" t="0" r="0" b="0"/>
            <a:pathLst>
              <a:path w="1648967" h="527305">
                <a:moveTo>
                  <a:pt x="0" y="108967"/>
                </a:moveTo>
                <a:lnTo>
                  <a:pt x="108965" y="0"/>
                </a:lnTo>
                <a:lnTo>
                  <a:pt x="1648967" y="0"/>
                </a:lnTo>
                <a:lnTo>
                  <a:pt x="1648967" y="418338"/>
                </a:lnTo>
                <a:lnTo>
                  <a:pt x="1540001" y="527305"/>
                </a:lnTo>
                <a:lnTo>
                  <a:pt x="0" y="527305"/>
                </a:lnTo>
                <a:close/>
                <a:moveTo>
                  <a:pt x="0" y="108967"/>
                </a:moveTo>
                <a:lnTo>
                  <a:pt x="1540001" y="108967"/>
                </a:lnTo>
                <a:lnTo>
                  <a:pt x="1648967" y="0"/>
                </a:lnTo>
                <a:moveTo>
                  <a:pt x="1540001" y="108967"/>
                </a:moveTo>
                <a:lnTo>
                  <a:pt x="1540001" y="527305"/>
                </a:lnTo>
              </a:path>
            </a:pathLst>
          </a:custGeom>
          <a:noFill/>
          <a:ln w="6095" cap="flat" cmpd="sng">
            <a:solidFill>
              <a:srgbClr val="3368FF"/>
            </a:solidFill>
            <a:miter lim="127000"/>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 name="Freeform 2385"/>
          <p:cNvSpPr/>
          <p:nvPr/>
        </p:nvSpPr>
        <p:spPr>
          <a:xfrm>
            <a:off x="9533198" y="1497982"/>
            <a:ext cx="1545336" cy="425196"/>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a:noFill/>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 name="Freeform 2389"/>
          <p:cNvSpPr/>
          <p:nvPr/>
        </p:nvSpPr>
        <p:spPr>
          <a:xfrm>
            <a:off x="971367" y="1400446"/>
            <a:ext cx="1648967" cy="527305"/>
          </a:xfrm>
          <a:custGeom>
            <a:avLst/>
            <a:gdLst/>
            <a:ahLst/>
            <a:cxnLst/>
            <a:rect l="0" t="0" r="0" b="0"/>
            <a:pathLst>
              <a:path w="1648967" h="527305">
                <a:moveTo>
                  <a:pt x="0" y="108967"/>
                </a:moveTo>
                <a:lnTo>
                  <a:pt x="108953" y="0"/>
                </a:lnTo>
                <a:lnTo>
                  <a:pt x="1648967" y="0"/>
                </a:lnTo>
                <a:lnTo>
                  <a:pt x="1648967" y="418338"/>
                </a:lnTo>
                <a:lnTo>
                  <a:pt x="1540001" y="527305"/>
                </a:lnTo>
                <a:lnTo>
                  <a:pt x="0" y="527305"/>
                </a:lnTo>
                <a:close/>
                <a:moveTo>
                  <a:pt x="0" y="108967"/>
                </a:moveTo>
                <a:lnTo>
                  <a:pt x="1540001" y="108967"/>
                </a:lnTo>
                <a:lnTo>
                  <a:pt x="1648967" y="0"/>
                </a:lnTo>
                <a:moveTo>
                  <a:pt x="1540001" y="108967"/>
                </a:moveTo>
                <a:lnTo>
                  <a:pt x="1540001" y="527305"/>
                </a:lnTo>
              </a:path>
            </a:pathLst>
          </a:custGeom>
          <a:noFill/>
          <a:ln w="6095" cap="flat" cmpd="sng">
            <a:solidFill>
              <a:srgbClr val="3368FF"/>
            </a:solidFill>
            <a:miter lim="101600"/>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9" name="Freeform 2390"/>
          <p:cNvSpPr/>
          <p:nvPr/>
        </p:nvSpPr>
        <p:spPr>
          <a:xfrm>
            <a:off x="968318" y="1497982"/>
            <a:ext cx="1545336" cy="425195"/>
          </a:xfrm>
          <a:custGeom>
            <a:avLst/>
            <a:gdLst/>
            <a:ahLst/>
            <a:cxnLst/>
            <a:rect l="0" t="0" r="0" b="0"/>
            <a:pathLst>
              <a:path w="1545336" h="425195">
                <a:moveTo>
                  <a:pt x="0" y="425195"/>
                </a:moveTo>
                <a:lnTo>
                  <a:pt x="1545336" y="425195"/>
                </a:lnTo>
                <a:lnTo>
                  <a:pt x="1545336" y="0"/>
                </a:lnTo>
                <a:lnTo>
                  <a:pt x="0" y="0"/>
                </a:lnTo>
                <a:lnTo>
                  <a:pt x="0" y="425195"/>
                </a:lnTo>
                <a:close/>
              </a:path>
            </a:pathLst>
          </a:custGeom>
          <a:solidFill>
            <a:srgbClr val="3368FF"/>
          </a:solidFill>
          <a:ln w="6095">
            <a:noFill/>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2" name="Freeform 2394"/>
          <p:cNvSpPr/>
          <p:nvPr/>
        </p:nvSpPr>
        <p:spPr>
          <a:xfrm>
            <a:off x="936315" y="2602373"/>
            <a:ext cx="1738883" cy="307848"/>
          </a:xfrm>
          <a:custGeom>
            <a:avLst/>
            <a:gdLst/>
            <a:ahLst/>
            <a:cxnLst/>
            <a:rect l="0" t="0" r="0" b="0"/>
            <a:pathLst>
              <a:path w="1738883" h="307848">
                <a:moveTo>
                  <a:pt x="0" y="307848"/>
                </a:moveTo>
                <a:lnTo>
                  <a:pt x="1738883" y="307848"/>
                </a:lnTo>
                <a:lnTo>
                  <a:pt x="1738883"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13" name="Freeform 2395"/>
          <p:cNvSpPr/>
          <p:nvPr/>
        </p:nvSpPr>
        <p:spPr>
          <a:xfrm>
            <a:off x="946982" y="3461909"/>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solidFill>
                <a:srgbClr val="0042FF"/>
              </a:solidFill>
              <a:latin typeface="微软雅黑"/>
              <a:ea typeface="微软雅黑"/>
              <a:cs typeface="微软雅黑"/>
              <a:sym typeface="微软雅黑"/>
            </a:endParaRPr>
          </a:p>
        </p:txBody>
      </p:sp>
      <p:sp>
        <p:nvSpPr>
          <p:cNvPr id="14" name="Freeform 2396"/>
          <p:cNvSpPr/>
          <p:nvPr/>
        </p:nvSpPr>
        <p:spPr>
          <a:xfrm>
            <a:off x="936315" y="2907173"/>
            <a:ext cx="1738883" cy="307848"/>
          </a:xfrm>
          <a:custGeom>
            <a:avLst/>
            <a:gdLst/>
            <a:ahLst/>
            <a:cxnLst/>
            <a:rect l="0" t="0" r="0" b="0"/>
            <a:pathLst>
              <a:path w="1738883" h="307848">
                <a:moveTo>
                  <a:pt x="0" y="307848"/>
                </a:moveTo>
                <a:lnTo>
                  <a:pt x="1738883" y="307848"/>
                </a:lnTo>
                <a:lnTo>
                  <a:pt x="1738883" y="0"/>
                </a:lnTo>
                <a:lnTo>
                  <a:pt x="0" y="0"/>
                </a:lnTo>
                <a:lnTo>
                  <a:pt x="0" y="307848"/>
                </a:lnTo>
                <a:close/>
              </a:path>
            </a:pathLst>
          </a:custGeom>
          <a:noFill/>
          <a:ln w="3047">
            <a:noFill/>
          </a:ln>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 name="Freeform 2397"/>
          <p:cNvSpPr/>
          <p:nvPr/>
        </p:nvSpPr>
        <p:spPr>
          <a:xfrm>
            <a:off x="9490526" y="3626809"/>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 name="Freeform 2398"/>
          <p:cNvSpPr/>
          <p:nvPr/>
        </p:nvSpPr>
        <p:spPr>
          <a:xfrm>
            <a:off x="9490526" y="4102297"/>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7" name="Freeform 2399"/>
          <p:cNvSpPr/>
          <p:nvPr/>
        </p:nvSpPr>
        <p:spPr>
          <a:xfrm>
            <a:off x="9490526" y="2675833"/>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7" name="Freeform 2409"/>
          <p:cNvSpPr/>
          <p:nvPr/>
        </p:nvSpPr>
        <p:spPr>
          <a:xfrm>
            <a:off x="855542" y="5767357"/>
            <a:ext cx="10489693" cy="527303"/>
          </a:xfrm>
          <a:custGeom>
            <a:avLst/>
            <a:gdLst/>
            <a:ahLst/>
            <a:cxnLst/>
            <a:rect l="0" t="0" r="0" b="0"/>
            <a:pathLst>
              <a:path w="10489693" h="527303">
                <a:moveTo>
                  <a:pt x="0" y="108953"/>
                </a:moveTo>
                <a:lnTo>
                  <a:pt x="108954" y="0"/>
                </a:lnTo>
                <a:lnTo>
                  <a:pt x="10489693" y="0"/>
                </a:lnTo>
                <a:lnTo>
                  <a:pt x="10489693" y="418338"/>
                </a:lnTo>
                <a:lnTo>
                  <a:pt x="10380727" y="527303"/>
                </a:lnTo>
                <a:lnTo>
                  <a:pt x="0" y="527303"/>
                </a:lnTo>
                <a:close/>
                <a:moveTo>
                  <a:pt x="0" y="108953"/>
                </a:moveTo>
                <a:lnTo>
                  <a:pt x="10380727" y="108953"/>
                </a:lnTo>
                <a:lnTo>
                  <a:pt x="10489693" y="0"/>
                </a:lnTo>
                <a:moveTo>
                  <a:pt x="10380727" y="108953"/>
                </a:moveTo>
                <a:lnTo>
                  <a:pt x="10380727" y="527303"/>
                </a:lnTo>
              </a:path>
            </a:pathLst>
          </a:custGeom>
          <a:noFill/>
          <a:ln w="6095" cap="flat" cmpd="sng">
            <a:solidFill>
              <a:srgbClr val="3368FF"/>
            </a:solidFill>
            <a:miter lim="101600"/>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8" name="Freeform 2410"/>
          <p:cNvSpPr/>
          <p:nvPr/>
        </p:nvSpPr>
        <p:spPr>
          <a:xfrm>
            <a:off x="852495" y="5872513"/>
            <a:ext cx="10395204" cy="425196"/>
          </a:xfrm>
          <a:custGeom>
            <a:avLst/>
            <a:gdLst/>
            <a:ahLst/>
            <a:cxnLst/>
            <a:rect l="0" t="0" r="0" b="0"/>
            <a:pathLst>
              <a:path w="10395204" h="425196">
                <a:moveTo>
                  <a:pt x="0" y="425196"/>
                </a:moveTo>
                <a:lnTo>
                  <a:pt x="10395204" y="425196"/>
                </a:lnTo>
                <a:lnTo>
                  <a:pt x="10395204" y="0"/>
                </a:lnTo>
                <a:lnTo>
                  <a:pt x="0" y="0"/>
                </a:lnTo>
                <a:lnTo>
                  <a:pt x="0" y="425196"/>
                </a:lnTo>
                <a:close/>
              </a:path>
            </a:pathLst>
          </a:custGeom>
          <a:solidFill>
            <a:srgbClr val="3368FF"/>
          </a:solidFill>
          <a:ln w="6095">
            <a:noFill/>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1" name="Freeform 2447"/>
          <p:cNvSpPr/>
          <p:nvPr/>
        </p:nvSpPr>
        <p:spPr>
          <a:xfrm>
            <a:off x="7361498" y="1391302"/>
            <a:ext cx="1648969" cy="527305"/>
          </a:xfrm>
          <a:custGeom>
            <a:avLst/>
            <a:gdLst/>
            <a:ahLst/>
            <a:cxnLst/>
            <a:rect l="0" t="0" r="0" b="0"/>
            <a:pathLst>
              <a:path w="1648969" h="527305">
                <a:moveTo>
                  <a:pt x="0" y="108967"/>
                </a:moveTo>
                <a:lnTo>
                  <a:pt x="108966" y="0"/>
                </a:lnTo>
                <a:lnTo>
                  <a:pt x="1648969" y="0"/>
                </a:lnTo>
                <a:lnTo>
                  <a:pt x="1648969" y="418338"/>
                </a:lnTo>
                <a:lnTo>
                  <a:pt x="1540002" y="527305"/>
                </a:lnTo>
                <a:lnTo>
                  <a:pt x="0" y="527305"/>
                </a:lnTo>
                <a:close/>
                <a:moveTo>
                  <a:pt x="0" y="108967"/>
                </a:moveTo>
                <a:lnTo>
                  <a:pt x="1540002" y="108967"/>
                </a:lnTo>
                <a:lnTo>
                  <a:pt x="1648969" y="0"/>
                </a:lnTo>
                <a:moveTo>
                  <a:pt x="1540002" y="108967"/>
                </a:moveTo>
                <a:lnTo>
                  <a:pt x="1540002" y="527305"/>
                </a:lnTo>
              </a:path>
            </a:pathLst>
          </a:custGeom>
          <a:noFill/>
          <a:ln w="6095" cap="flat" cmpd="sng">
            <a:solidFill>
              <a:srgbClr val="0042FF"/>
            </a:solidFill>
            <a:miter lim="101600"/>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 name="Freeform 2448"/>
          <p:cNvSpPr/>
          <p:nvPr/>
        </p:nvSpPr>
        <p:spPr>
          <a:xfrm>
            <a:off x="7358450" y="1497982"/>
            <a:ext cx="1545336" cy="425196"/>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0042FF"/>
          </a:solidFill>
          <a:ln w="6095">
            <a:noFill/>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71" name="Freeform 2453"/>
          <p:cNvSpPr/>
          <p:nvPr/>
        </p:nvSpPr>
        <p:spPr>
          <a:xfrm>
            <a:off x="7198431" y="3517146"/>
            <a:ext cx="1973580" cy="1127760"/>
          </a:xfrm>
          <a:custGeom>
            <a:avLst/>
            <a:gdLst/>
            <a:ahLst/>
            <a:cxnLst/>
            <a:rect l="0" t="0" r="0" b="0"/>
            <a:pathLst>
              <a:path w="1973580" h="1127760">
                <a:moveTo>
                  <a:pt x="0" y="1127760"/>
                </a:moveTo>
                <a:lnTo>
                  <a:pt x="1973580" y="1127760"/>
                </a:lnTo>
                <a:lnTo>
                  <a:pt x="1973580" y="0"/>
                </a:lnTo>
                <a:lnTo>
                  <a:pt x="0" y="0"/>
                </a:lnTo>
                <a:lnTo>
                  <a:pt x="0" y="1127760"/>
                </a:lnTo>
                <a:close/>
              </a:path>
            </a:pathLst>
          </a:custGeom>
          <a:solidFill>
            <a:srgbClr val="FFFFFF">
              <a:alpha val="100000"/>
            </a:srgbClr>
          </a:solidFill>
          <a:ln w="3047">
            <a:noFill/>
          </a:ln>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9" name="Freeform 2455"/>
          <p:cNvSpPr/>
          <p:nvPr/>
        </p:nvSpPr>
        <p:spPr>
          <a:xfrm>
            <a:off x="7195383" y="2322329"/>
            <a:ext cx="1976627" cy="283464"/>
          </a:xfrm>
          <a:custGeom>
            <a:avLst/>
            <a:gdLst/>
            <a:ahLst/>
            <a:cxnLst/>
            <a:rect l="0" t="0" r="0" b="0"/>
            <a:pathLst>
              <a:path w="1976627" h="283464">
                <a:moveTo>
                  <a:pt x="1929384" y="283464"/>
                </a:moveTo>
                <a:lnTo>
                  <a:pt x="47243" y="283464"/>
                </a:lnTo>
                <a:cubicBezTo>
                  <a:pt x="21209" y="283464"/>
                  <a:pt x="0" y="262256"/>
                  <a:pt x="0" y="236220"/>
                </a:cubicBezTo>
                <a:lnTo>
                  <a:pt x="0" y="0"/>
                </a:lnTo>
                <a:lnTo>
                  <a:pt x="1976627" y="0"/>
                </a:lnTo>
                <a:lnTo>
                  <a:pt x="1976627" y="236220"/>
                </a:lnTo>
                <a:cubicBezTo>
                  <a:pt x="1976627" y="262256"/>
                  <a:pt x="1955418" y="283464"/>
                  <a:pt x="1929384" y="283464"/>
                </a:cubicBezTo>
                <a:close/>
              </a:path>
            </a:pathLst>
          </a:custGeom>
          <a:solidFill>
            <a:srgbClr val="0042FF"/>
          </a:solidFill>
          <a:ln w="6095">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0" name="Freeform 2456"/>
          <p:cNvSpPr/>
          <p:nvPr/>
        </p:nvSpPr>
        <p:spPr>
          <a:xfrm>
            <a:off x="7299014" y="2695710"/>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75" name="Freeform 2457"/>
          <p:cNvSpPr/>
          <p:nvPr/>
        </p:nvSpPr>
        <p:spPr>
          <a:xfrm>
            <a:off x="8205795" y="2695710"/>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6" name="Freeform 2458"/>
          <p:cNvSpPr/>
          <p:nvPr/>
        </p:nvSpPr>
        <p:spPr>
          <a:xfrm>
            <a:off x="7299014" y="3043181"/>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7" name="Freeform 2459"/>
          <p:cNvSpPr/>
          <p:nvPr/>
        </p:nvSpPr>
        <p:spPr>
          <a:xfrm>
            <a:off x="7195383" y="3520193"/>
            <a:ext cx="1976627" cy="283465"/>
          </a:xfrm>
          <a:custGeom>
            <a:avLst/>
            <a:gdLst/>
            <a:ahLst/>
            <a:cxnLst/>
            <a:rect l="0" t="0" r="0" b="0"/>
            <a:pathLst>
              <a:path w="1976627" h="283465">
                <a:moveTo>
                  <a:pt x="1929384" y="283465"/>
                </a:moveTo>
                <a:lnTo>
                  <a:pt x="47243" y="283465"/>
                </a:lnTo>
                <a:cubicBezTo>
                  <a:pt x="21209" y="283465"/>
                  <a:pt x="0" y="262256"/>
                  <a:pt x="0" y="236220"/>
                </a:cubicBezTo>
                <a:lnTo>
                  <a:pt x="0" y="0"/>
                </a:lnTo>
                <a:lnTo>
                  <a:pt x="1976627" y="0"/>
                </a:lnTo>
                <a:lnTo>
                  <a:pt x="1976627" y="236220"/>
                </a:lnTo>
                <a:cubicBezTo>
                  <a:pt x="1976627" y="262256"/>
                  <a:pt x="1955418" y="283465"/>
                  <a:pt x="1929384" y="283465"/>
                </a:cubicBezTo>
                <a:close/>
              </a:path>
            </a:pathLst>
          </a:custGeom>
          <a:solidFill>
            <a:srgbClr val="0042FF"/>
          </a:solidFill>
          <a:ln w="6095">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8" name="Freeform 2460"/>
          <p:cNvSpPr/>
          <p:nvPr/>
        </p:nvSpPr>
        <p:spPr>
          <a:xfrm>
            <a:off x="7299014" y="4241045"/>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79" name="Freeform 2461"/>
          <p:cNvSpPr/>
          <p:nvPr/>
        </p:nvSpPr>
        <p:spPr>
          <a:xfrm>
            <a:off x="7299014" y="3893573"/>
            <a:ext cx="569976" cy="307848"/>
          </a:xfrm>
          <a:custGeom>
            <a:avLst/>
            <a:gdLst/>
            <a:ahLst/>
            <a:cxnLst/>
            <a:rect l="0" t="0" r="0" b="0"/>
            <a:pathLst>
              <a:path w="569976" h="307848">
                <a:moveTo>
                  <a:pt x="0" y="307848"/>
                </a:moveTo>
                <a:lnTo>
                  <a:pt x="569976" y="307848"/>
                </a:lnTo>
                <a:lnTo>
                  <a:pt x="569976"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80" name="Freeform 2462"/>
          <p:cNvSpPr/>
          <p:nvPr/>
        </p:nvSpPr>
        <p:spPr>
          <a:xfrm>
            <a:off x="7899471" y="3893573"/>
            <a:ext cx="569976" cy="307848"/>
          </a:xfrm>
          <a:custGeom>
            <a:avLst/>
            <a:gdLst/>
            <a:ahLst/>
            <a:cxnLst/>
            <a:rect l="0" t="0" r="0" b="0"/>
            <a:pathLst>
              <a:path w="569976" h="307848">
                <a:moveTo>
                  <a:pt x="0" y="307848"/>
                </a:moveTo>
                <a:lnTo>
                  <a:pt x="569976" y="307848"/>
                </a:lnTo>
                <a:lnTo>
                  <a:pt x="569976"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1" name="Freeform 2463"/>
          <p:cNvSpPr/>
          <p:nvPr/>
        </p:nvSpPr>
        <p:spPr>
          <a:xfrm>
            <a:off x="8499926" y="3893573"/>
            <a:ext cx="569976" cy="307848"/>
          </a:xfrm>
          <a:custGeom>
            <a:avLst/>
            <a:gdLst/>
            <a:ahLst/>
            <a:cxnLst/>
            <a:rect l="0" t="0" r="0" b="0"/>
            <a:pathLst>
              <a:path w="569976" h="307848">
                <a:moveTo>
                  <a:pt x="0" y="307848"/>
                </a:moveTo>
                <a:lnTo>
                  <a:pt x="569976" y="307848"/>
                </a:lnTo>
                <a:lnTo>
                  <a:pt x="569976"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2" name="Freeform 2464"/>
          <p:cNvSpPr/>
          <p:nvPr/>
        </p:nvSpPr>
        <p:spPr>
          <a:xfrm>
            <a:off x="8205795" y="4241045"/>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83" name="Freeform 2465"/>
          <p:cNvSpPr/>
          <p:nvPr/>
        </p:nvSpPr>
        <p:spPr>
          <a:xfrm>
            <a:off x="8195310" y="3038475"/>
            <a:ext cx="864235" cy="307975"/>
          </a:xfrm>
          <a:custGeom>
            <a:avLst/>
            <a:gdLst/>
            <a:ahLst/>
            <a:cxnLst/>
            <a:rect l="0" t="0" r="0" b="0"/>
            <a:pathLst>
              <a:path w="864108" h="307848">
                <a:moveTo>
                  <a:pt x="0" y="307848"/>
                </a:moveTo>
                <a:lnTo>
                  <a:pt x="864108" y="307848"/>
                </a:lnTo>
                <a:lnTo>
                  <a:pt x="864108" y="0"/>
                </a:lnTo>
                <a:lnTo>
                  <a:pt x="0" y="0"/>
                </a:lnTo>
                <a:lnTo>
                  <a:pt x="0" y="307848"/>
                </a:lnTo>
                <a:close/>
              </a:path>
            </a:pathLst>
          </a:custGeom>
          <a:solidFill>
            <a:srgbClr val="383838">
              <a:alpha val="0"/>
            </a:srgbClr>
          </a:solidFill>
          <a:ln w="3047">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3" name="Freeform 2466"/>
          <p:cNvSpPr/>
          <p:nvPr/>
        </p:nvSpPr>
        <p:spPr>
          <a:xfrm>
            <a:off x="9490526" y="3151320"/>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5" name="Freeform 2482"/>
          <p:cNvSpPr/>
          <p:nvPr/>
        </p:nvSpPr>
        <p:spPr>
          <a:xfrm>
            <a:off x="5310194" y="1391302"/>
            <a:ext cx="1648968" cy="527305"/>
          </a:xfrm>
          <a:custGeom>
            <a:avLst/>
            <a:gdLst/>
            <a:ahLst/>
            <a:cxnLst/>
            <a:rect l="0" t="0" r="0" b="0"/>
            <a:pathLst>
              <a:path w="1648968" h="527305">
                <a:moveTo>
                  <a:pt x="0" y="108967"/>
                </a:moveTo>
                <a:lnTo>
                  <a:pt x="108967" y="0"/>
                </a:lnTo>
                <a:lnTo>
                  <a:pt x="1648968" y="0"/>
                </a:lnTo>
                <a:lnTo>
                  <a:pt x="1648968" y="418338"/>
                </a:lnTo>
                <a:lnTo>
                  <a:pt x="1540003" y="527305"/>
                </a:lnTo>
                <a:lnTo>
                  <a:pt x="0" y="527305"/>
                </a:lnTo>
                <a:close/>
                <a:moveTo>
                  <a:pt x="0" y="108967"/>
                </a:moveTo>
                <a:lnTo>
                  <a:pt x="1540003" y="108967"/>
                </a:lnTo>
                <a:lnTo>
                  <a:pt x="1648968" y="0"/>
                </a:lnTo>
                <a:moveTo>
                  <a:pt x="1540003" y="108967"/>
                </a:moveTo>
                <a:lnTo>
                  <a:pt x="1540003" y="527305"/>
                </a:lnTo>
              </a:path>
            </a:pathLst>
          </a:custGeom>
          <a:noFill/>
          <a:ln w="6095" cap="flat" cmpd="sng">
            <a:solidFill>
              <a:srgbClr val="3368FF"/>
            </a:solidFill>
            <a:miter lim="101600"/>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6" name="Freeform 2483"/>
          <p:cNvSpPr/>
          <p:nvPr/>
        </p:nvSpPr>
        <p:spPr>
          <a:xfrm>
            <a:off x="5307146" y="1497982"/>
            <a:ext cx="1545336" cy="425196"/>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3368FF"/>
          </a:solidFill>
          <a:ln w="6095">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2" name="Freeform 2487"/>
          <p:cNvSpPr/>
          <p:nvPr/>
        </p:nvSpPr>
        <p:spPr>
          <a:xfrm>
            <a:off x="5240090" y="2593931"/>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86" name="Freeform 2488"/>
          <p:cNvSpPr/>
          <p:nvPr/>
        </p:nvSpPr>
        <p:spPr>
          <a:xfrm>
            <a:off x="5240090" y="3358978"/>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9" name="Freeform 2489"/>
          <p:cNvSpPr/>
          <p:nvPr/>
        </p:nvSpPr>
        <p:spPr>
          <a:xfrm>
            <a:off x="5240090" y="4157555"/>
            <a:ext cx="1738884" cy="307847"/>
          </a:xfrm>
          <a:custGeom>
            <a:avLst/>
            <a:gdLst/>
            <a:ahLst/>
            <a:cxnLst/>
            <a:rect l="0" t="0" r="0" b="0"/>
            <a:pathLst>
              <a:path w="1738884" h="307847">
                <a:moveTo>
                  <a:pt x="0" y="307847"/>
                </a:moveTo>
                <a:lnTo>
                  <a:pt x="1738884" y="307847"/>
                </a:lnTo>
                <a:lnTo>
                  <a:pt x="1738884" y="0"/>
                </a:lnTo>
                <a:lnTo>
                  <a:pt x="0" y="0"/>
                </a:lnTo>
                <a:lnTo>
                  <a:pt x="0" y="307847"/>
                </a:lnTo>
                <a:close/>
              </a:path>
            </a:pathLst>
          </a:custGeom>
          <a:solidFill>
            <a:srgbClr val="FFFFFF"/>
          </a:solidFill>
          <a:ln w="3047">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1" name="Freeform 2490"/>
          <p:cNvSpPr/>
          <p:nvPr/>
        </p:nvSpPr>
        <p:spPr>
          <a:xfrm>
            <a:off x="5240090" y="3680340"/>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noFill/>
          <a:ln w="3047">
            <a:noFill/>
          </a:ln>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22" name="Freeform 2491"/>
          <p:cNvSpPr/>
          <p:nvPr/>
        </p:nvSpPr>
        <p:spPr>
          <a:xfrm>
            <a:off x="5224850" y="2938153"/>
            <a:ext cx="1738884" cy="307848"/>
          </a:xfrm>
          <a:custGeom>
            <a:avLst/>
            <a:gdLst/>
            <a:ahLst/>
            <a:cxnLst/>
            <a:rect l="0" t="0" r="0" b="0"/>
            <a:pathLst>
              <a:path w="1738884" h="307848">
                <a:moveTo>
                  <a:pt x="0" y="307848"/>
                </a:moveTo>
                <a:lnTo>
                  <a:pt x="1738884" y="307848"/>
                </a:lnTo>
                <a:lnTo>
                  <a:pt x="1738884" y="0"/>
                </a:lnTo>
                <a:lnTo>
                  <a:pt x="0" y="0"/>
                </a:lnTo>
                <a:lnTo>
                  <a:pt x="0" y="307848"/>
                </a:lnTo>
                <a:close/>
              </a:path>
            </a:pathLst>
          </a:custGeom>
          <a:noFill/>
          <a:ln w="3047">
            <a:noFill/>
          </a:ln>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24" name="Rectangle 2495"/>
          <p:cNvSpPr/>
          <p:nvPr/>
        </p:nvSpPr>
        <p:spPr>
          <a:xfrm>
            <a:off x="9882448" y="1579896"/>
            <a:ext cx="914400" cy="285841"/>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800" b="1" spc="0" baseline="0" dirty="0">
                <a:solidFill>
                  <a:srgbClr val="FFFFFF"/>
                </a:solidFill>
                <a:latin typeface="微软雅黑"/>
                <a:ea typeface="微软雅黑"/>
                <a:cs typeface="微软雅黑"/>
              </a:rPr>
              <a:t>线索管理</a:t>
            </a:r>
            <a:endParaRPr lang="en-US" sz="1800" b="1" spc="0" baseline="0" dirty="0">
              <a:solidFill>
                <a:srgbClr val="FFFFFF"/>
              </a:solidFill>
              <a:latin typeface="微软雅黑"/>
              <a:ea typeface="微软雅黑"/>
              <a:cs typeface="微软雅黑"/>
            </a:endParaRPr>
          </a:p>
        </p:txBody>
      </p:sp>
      <p:sp>
        <p:nvSpPr>
          <p:cNvPr id="130" name="Rectangle 2497"/>
          <p:cNvSpPr/>
          <p:nvPr/>
        </p:nvSpPr>
        <p:spPr>
          <a:xfrm>
            <a:off x="1317315" y="1589040"/>
            <a:ext cx="923330" cy="276999"/>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800" b="1" spc="0" baseline="0" dirty="0">
                <a:solidFill>
                  <a:srgbClr val="FFFFFF"/>
                </a:solidFill>
                <a:latin typeface="微软雅黑"/>
                <a:ea typeface="微软雅黑"/>
                <a:cs typeface="微软雅黑"/>
              </a:rPr>
              <a:t>创意生产</a:t>
            </a:r>
            <a:endParaRPr lang="en-US" sz="1800" b="1" spc="0" baseline="0" dirty="0">
              <a:solidFill>
                <a:srgbClr val="FFFFFF"/>
              </a:solidFill>
              <a:latin typeface="微软雅黑"/>
              <a:ea typeface="微软雅黑"/>
              <a:cs typeface="微软雅黑"/>
            </a:endParaRPr>
          </a:p>
        </p:txBody>
      </p:sp>
      <p:sp>
        <p:nvSpPr>
          <p:cNvPr id="132" name="Rectangle 2498"/>
          <p:cNvSpPr/>
          <p:nvPr/>
        </p:nvSpPr>
        <p:spPr>
          <a:xfrm>
            <a:off x="1500195" y="2677370"/>
            <a:ext cx="609600" cy="190559"/>
          </a:xfrm>
          <a:prstGeom prst="rect">
            <a:avLst/>
          </a:prstGeom>
        </p:spPr>
        <p:txBody>
          <a:bodyPr wrap="none" lIns="0" tIns="0" rIns="0" bIns="0">
            <a:spAutoFit/>
          </a:bodyPr>
          <a:lstStyle/>
          <a:p>
            <a:pPr marL="0">
              <a:defRPr>
                <a:latin typeface="微软雅黑"/>
                <a:ea typeface="微软雅黑"/>
                <a:cs typeface="微软雅黑"/>
              </a:defRPr>
            </a:pPr>
            <a:r>
              <a:rPr lang="en-US" sz="1200" b="1" spc="0" baseline="0" dirty="0">
                <a:solidFill>
                  <a:srgbClr val="0042FF"/>
                </a:solidFill>
                <a:latin typeface="微软雅黑"/>
                <a:ea typeface="微软雅黑"/>
                <a:cs typeface="微软雅黑"/>
              </a:rPr>
              <a:t>创意中心</a:t>
            </a:r>
            <a:endParaRPr lang="en-US" sz="1200" b="1" spc="0" baseline="0" dirty="0">
              <a:solidFill>
                <a:srgbClr val="0042FF"/>
              </a:solidFill>
              <a:latin typeface="微软雅黑"/>
              <a:ea typeface="微软雅黑"/>
              <a:cs typeface="微软雅黑"/>
            </a:endParaRPr>
          </a:p>
        </p:txBody>
      </p:sp>
      <p:sp>
        <p:nvSpPr>
          <p:cNvPr id="133" name="Rectangle 2499"/>
          <p:cNvSpPr/>
          <p:nvPr/>
        </p:nvSpPr>
        <p:spPr>
          <a:xfrm>
            <a:off x="1399102" y="3520649"/>
            <a:ext cx="918210" cy="184150"/>
          </a:xfrm>
          <a:prstGeom prst="rect">
            <a:avLst/>
          </a:prstGeom>
        </p:spPr>
        <p:txBody>
          <a:bodyPr wrap="none" lIns="0" tIns="0" rIns="0" bIns="0">
            <a:spAutoFit/>
          </a:bodyPr>
          <a:lstStyle/>
          <a:p>
            <a:pPr marL="0">
              <a:defRPr>
                <a:latin typeface="微软雅黑"/>
                <a:ea typeface="微软雅黑"/>
                <a:cs typeface="微软雅黑"/>
              </a:defRPr>
            </a:pPr>
            <a:r>
              <a:rPr lang="zh-CN" altLang="en-US" sz="1200" b="1" spc="0" baseline="0" dirty="0">
                <a:solidFill>
                  <a:srgbClr val="0042FF"/>
                </a:solidFill>
                <a:latin typeface="微软雅黑"/>
                <a:ea typeface="微软雅黑"/>
                <a:cs typeface="微软雅黑"/>
              </a:rPr>
              <a:t>内容创作平台</a:t>
            </a:r>
            <a:endParaRPr lang="zh-CN" altLang="en-US" sz="1200" b="1" spc="0" baseline="0" dirty="0">
              <a:solidFill>
                <a:srgbClr val="0042FF"/>
              </a:solidFill>
              <a:latin typeface="微软雅黑"/>
              <a:ea typeface="微软雅黑"/>
              <a:cs typeface="微软雅黑"/>
            </a:endParaRPr>
          </a:p>
        </p:txBody>
      </p:sp>
      <p:sp>
        <p:nvSpPr>
          <p:cNvPr id="141" name="Rectangle 2500"/>
          <p:cNvSpPr/>
          <p:nvPr/>
        </p:nvSpPr>
        <p:spPr>
          <a:xfrm>
            <a:off x="1172230" y="3050913"/>
            <a:ext cx="1282402" cy="171450"/>
          </a:xfrm>
          <a:prstGeom prst="rect">
            <a:avLst/>
          </a:prstGeom>
        </p:spPr>
        <p:txBody>
          <a:bodyPr wrap="square" lIns="0" tIns="0" rIns="0" bIns="0" anchor="t">
            <a:noAutofit/>
          </a:bodyPr>
          <a:lstStyle/>
          <a:p>
            <a:pPr marL="0">
              <a:defRPr>
                <a:latin typeface="微软雅黑"/>
                <a:ea typeface="微软雅黑"/>
                <a:cs typeface="微软雅黑"/>
              </a:defRPr>
              <a:lnSpc>
                <a:spcPts val="1120"/>
              </a:lnSpc>
              <a:spcBef>
                <a:spcPts val="0"/>
              </a:spcBef>
              <a:spcAft>
                <a:spcPts val="0"/>
              </a:spcAft>
            </a:pPr>
            <a:r>
              <a:rPr lang="en-US" sz="1000" b="1" spc="0" baseline="0" dirty="0">
                <a:solidFill>
                  <a:srgbClr val="383838"/>
                </a:solidFill>
                <a:latin typeface="微软雅黑"/>
                <a:ea typeface="微软雅黑"/>
                <a:cs typeface="微软雅黑"/>
              </a:rPr>
              <a:t>（标题、图片、视频）</a:t>
            </a:r>
            <a:endParaRPr lang="en-US" sz="1000" b="1" spc="0" baseline="0" dirty="0">
              <a:solidFill>
                <a:srgbClr val="383838"/>
              </a:solidFill>
              <a:latin typeface="微软雅黑"/>
              <a:ea typeface="微软雅黑"/>
              <a:cs typeface="微软雅黑"/>
            </a:endParaRPr>
          </a:p>
        </p:txBody>
      </p:sp>
      <p:sp>
        <p:nvSpPr>
          <p:cNvPr id="142" name="Rectangle 2501"/>
          <p:cNvSpPr/>
          <p:nvPr/>
        </p:nvSpPr>
        <p:spPr>
          <a:xfrm>
            <a:off x="10056185" y="3695709"/>
            <a:ext cx="609600" cy="190559"/>
          </a:xfrm>
          <a:prstGeom prst="rect">
            <a:avLst/>
          </a:prstGeom>
        </p:spPr>
        <p:txBody>
          <a:bodyPr wrap="none" lIns="0" tIns="0" rIns="0" bIns="0">
            <a:spAutoFit/>
          </a:bodyPr>
          <a:lstStyle/>
          <a:p>
            <a:pPr marL="0">
              <a:defRPr>
                <a:latin typeface="微软雅黑"/>
                <a:ea typeface="微软雅黑"/>
                <a:cs typeface="微软雅黑"/>
              </a:defRPr>
            </a:pPr>
            <a:r>
              <a:rPr lang="en-US" sz="1200" b="1" spc="0" baseline="0" dirty="0">
                <a:solidFill>
                  <a:srgbClr val="0042FF"/>
                </a:solidFill>
                <a:latin typeface="微软雅黑"/>
                <a:ea typeface="微软雅黑"/>
                <a:cs typeface="微软雅黑"/>
              </a:rPr>
              <a:t>页面洞察</a:t>
            </a:r>
            <a:endParaRPr lang="en-US" sz="1200" b="1" spc="0" baseline="0" dirty="0">
              <a:solidFill>
                <a:srgbClr val="0042FF"/>
              </a:solidFill>
              <a:latin typeface="微软雅黑"/>
              <a:ea typeface="微软雅黑"/>
              <a:cs typeface="微软雅黑"/>
            </a:endParaRPr>
          </a:p>
        </p:txBody>
      </p:sp>
      <p:sp>
        <p:nvSpPr>
          <p:cNvPr id="143" name="Rectangle 2502"/>
          <p:cNvSpPr/>
          <p:nvPr/>
        </p:nvSpPr>
        <p:spPr>
          <a:xfrm>
            <a:off x="10056185" y="4171831"/>
            <a:ext cx="609600" cy="190559"/>
          </a:xfrm>
          <a:prstGeom prst="rect">
            <a:avLst/>
          </a:prstGeom>
        </p:spPr>
        <p:txBody>
          <a:bodyPr wrap="none" lIns="0" tIns="0" rIns="0" bIns="0">
            <a:spAutoFit/>
          </a:bodyPr>
          <a:lstStyle/>
          <a:p>
            <a:pPr marL="0">
              <a:defRPr>
                <a:latin typeface="微软雅黑"/>
                <a:ea typeface="微软雅黑"/>
                <a:cs typeface="微软雅黑"/>
              </a:defRPr>
            </a:pPr>
            <a:r>
              <a:rPr lang="en-US" sz="1200" b="1" spc="0" baseline="0" dirty="0">
                <a:solidFill>
                  <a:srgbClr val="0042FF"/>
                </a:solidFill>
                <a:latin typeface="微软雅黑"/>
                <a:ea typeface="微软雅黑"/>
                <a:cs typeface="微软雅黑"/>
              </a:rPr>
              <a:t>线索运营</a:t>
            </a:r>
            <a:endParaRPr lang="en-US" sz="1200" b="1" spc="0" baseline="0" dirty="0">
              <a:solidFill>
                <a:srgbClr val="0042FF"/>
              </a:solidFill>
              <a:latin typeface="微软雅黑"/>
              <a:ea typeface="微软雅黑"/>
              <a:cs typeface="微软雅黑"/>
            </a:endParaRPr>
          </a:p>
        </p:txBody>
      </p:sp>
      <p:sp>
        <p:nvSpPr>
          <p:cNvPr id="144" name="Rectangle 2503"/>
          <p:cNvSpPr/>
          <p:nvPr/>
        </p:nvSpPr>
        <p:spPr>
          <a:xfrm>
            <a:off x="10056185" y="2743843"/>
            <a:ext cx="609600" cy="190559"/>
          </a:xfrm>
          <a:prstGeom prst="rect">
            <a:avLst/>
          </a:prstGeom>
        </p:spPr>
        <p:txBody>
          <a:bodyPr wrap="none" lIns="0" tIns="0" rIns="0" bIns="0">
            <a:spAutoFit/>
          </a:bodyPr>
          <a:lstStyle/>
          <a:p>
            <a:pPr marL="0">
              <a:defRPr>
                <a:latin typeface="微软雅黑"/>
                <a:ea typeface="微软雅黑"/>
                <a:cs typeface="微软雅黑"/>
              </a:defRPr>
            </a:pPr>
            <a:r>
              <a:rPr lang="en-US" sz="1200" b="1" spc="0" baseline="0" dirty="0">
                <a:solidFill>
                  <a:srgbClr val="0042FF"/>
                </a:solidFill>
                <a:latin typeface="微软雅黑"/>
                <a:ea typeface="微软雅黑"/>
                <a:cs typeface="微软雅黑"/>
              </a:rPr>
              <a:t>线索沉淀</a:t>
            </a:r>
            <a:endParaRPr lang="en-US" sz="1200" b="1" spc="0" baseline="0" dirty="0">
              <a:solidFill>
                <a:srgbClr val="0042FF"/>
              </a:solidFill>
              <a:latin typeface="微软雅黑"/>
              <a:ea typeface="微软雅黑"/>
              <a:cs typeface="微软雅黑"/>
            </a:endParaRPr>
          </a:p>
        </p:txBody>
      </p:sp>
      <p:sp>
        <p:nvSpPr>
          <p:cNvPr id="146" name="Rectangle 2505"/>
          <p:cNvSpPr txBox="1"/>
          <p:nvPr/>
        </p:nvSpPr>
        <p:spPr>
          <a:xfrm>
            <a:off x="5067935" y="5001895"/>
            <a:ext cx="2109470" cy="495300"/>
          </a:xfrm>
          <a:prstGeom prst="rect">
            <a:avLst/>
          </a:prstGeom>
          <a:noFill/>
          <a:effectLst/>
        </p:spPr>
        <p:txBody>
          <a:bodyPr wrap="square" lIns="86868" tIns="43434" rIns="86868" bIns="43434">
            <a:spAutoFit/>
          </a:bodyPr>
          <a:lstStyle/>
          <a:p>
            <a:pPr marL="228600" lvl="0" algn="ctr">
              <a:buClrTx/>
              <a:buSzTx/>
              <a:buFontTx/>
              <a:defRPr>
                <a:solidFill>
                  <a:srgbClr val="FFFFFF"/>
                </a:solidFill>
                <a:latin typeface="微软雅黑"/>
                <a:ea typeface="微软雅黑"/>
                <a:cs typeface="微软雅黑"/>
              </a:defRPr>
            </a:pPr>
            <a:r>
              <a:rPr lang="en-US" sz="1330" b="1" dirty="0">
                <a:solidFill>
                  <a:srgbClr val="FFFFFF"/>
                </a:solidFill>
                <a:latin typeface="微软雅黑"/>
                <a:ea typeface="微软雅黑"/>
                <a:cs typeface="微软雅黑"/>
                <a:sym typeface="微软雅黑"/>
              </a:rPr>
              <a:t>全方位智能引擎</a:t>
            </a:r>
            <a:endParaRPr lang="en-US" sz="1330" b="1" dirty="0">
              <a:solidFill>
                <a:srgbClr val="FFFFFF"/>
              </a:solidFill>
              <a:latin typeface="微软雅黑"/>
              <a:ea typeface="微软雅黑"/>
              <a:cs typeface="微软雅黑"/>
              <a:sym typeface="微软雅黑"/>
            </a:endParaRPr>
          </a:p>
          <a:p>
            <a:pPr marL="228600" lvl="0" algn="ctr">
              <a:buClrTx/>
              <a:buSzTx/>
              <a:buFontTx/>
              <a:defRPr>
                <a:solidFill>
                  <a:srgbClr val="FFFFFF"/>
                </a:solidFill>
                <a:latin typeface="微软雅黑"/>
                <a:ea typeface="微软雅黑"/>
                <a:cs typeface="微软雅黑"/>
              </a:defRPr>
            </a:pPr>
            <a:r>
              <a:rPr lang="en-US" sz="1330" b="1" dirty="0">
                <a:solidFill>
                  <a:srgbClr val="FFFFFF"/>
                </a:solidFill>
                <a:latin typeface="微软雅黑"/>
                <a:ea typeface="微软雅黑"/>
                <a:cs typeface="微软雅黑"/>
                <a:sym typeface="微软雅黑"/>
              </a:rPr>
              <a:t>触达海量用户</a:t>
            </a:r>
            <a:endParaRPr lang="en-US" sz="1330" b="1" dirty="0">
              <a:solidFill>
                <a:srgbClr val="FFFFFF"/>
              </a:solidFill>
              <a:latin typeface="微软雅黑"/>
              <a:ea typeface="微软雅黑"/>
              <a:cs typeface="微软雅黑"/>
              <a:sym typeface="微软雅黑"/>
            </a:endParaRPr>
          </a:p>
        </p:txBody>
      </p:sp>
      <p:sp>
        <p:nvSpPr>
          <p:cNvPr id="147" name="Rectangle 2506"/>
          <p:cNvSpPr txBox="1"/>
          <p:nvPr/>
        </p:nvSpPr>
        <p:spPr>
          <a:xfrm>
            <a:off x="8509635" y="5001895"/>
            <a:ext cx="2569845" cy="495300"/>
          </a:xfrm>
          <a:prstGeom prst="rect">
            <a:avLst/>
          </a:prstGeom>
          <a:noFill/>
          <a:effectLst/>
        </p:spPr>
        <p:txBody>
          <a:bodyPr wrap="square" lIns="86868" tIns="43434" rIns="86868" bIns="43434">
            <a:spAutoFit/>
          </a:bodyPr>
          <a:lstStyle/>
          <a:p>
            <a:pPr marL="228600" lvl="0" algn="ctr">
              <a:buClrTx/>
              <a:buSzTx/>
              <a:buFontTx/>
              <a:defRPr>
                <a:solidFill>
                  <a:srgbClr val="FFFFFF"/>
                </a:solidFill>
                <a:latin typeface="微软雅黑"/>
                <a:ea typeface="微软雅黑"/>
                <a:cs typeface="微软雅黑"/>
              </a:defRPr>
            </a:pPr>
            <a:r>
              <a:rPr lang="en-US" sz="1330" b="1" dirty="0">
                <a:solidFill>
                  <a:srgbClr val="FFFFFF"/>
                </a:solidFill>
                <a:latin typeface="微软雅黑"/>
                <a:ea typeface="微软雅黑"/>
                <a:cs typeface="微软雅黑"/>
                <a:sym typeface="微软雅黑"/>
              </a:rPr>
              <a:t>全环节优化赋能</a:t>
            </a:r>
            <a:endParaRPr lang="en-US" sz="1330" b="1" dirty="0">
              <a:solidFill>
                <a:srgbClr val="FFFFFF"/>
              </a:solidFill>
              <a:latin typeface="微软雅黑"/>
              <a:ea typeface="微软雅黑"/>
              <a:cs typeface="微软雅黑"/>
              <a:sym typeface="微软雅黑"/>
            </a:endParaRPr>
          </a:p>
          <a:p>
            <a:pPr marL="228600" lvl="0" algn="ctr">
              <a:buClrTx/>
              <a:buSzTx/>
              <a:buFontTx/>
              <a:defRPr>
                <a:solidFill>
                  <a:srgbClr val="FFFFFF"/>
                </a:solidFill>
                <a:latin typeface="微软雅黑"/>
                <a:ea typeface="微软雅黑"/>
                <a:cs typeface="微软雅黑"/>
              </a:defRPr>
            </a:pPr>
            <a:r>
              <a:rPr lang="en-US" sz="1330" b="1" dirty="0">
                <a:solidFill>
                  <a:srgbClr val="FFFFFF"/>
                </a:solidFill>
                <a:latin typeface="微软雅黑"/>
                <a:ea typeface="微软雅黑"/>
                <a:cs typeface="微软雅黑"/>
                <a:sym typeface="微软雅黑"/>
              </a:rPr>
              <a:t>提高诊断优化决策效率</a:t>
            </a:r>
            <a:endParaRPr lang="en-US" sz="1330" b="1" dirty="0">
              <a:solidFill>
                <a:srgbClr val="FFFFFF"/>
              </a:solidFill>
              <a:latin typeface="微软雅黑"/>
              <a:ea typeface="微软雅黑"/>
              <a:cs typeface="微软雅黑"/>
              <a:sym typeface="微软雅黑"/>
            </a:endParaRPr>
          </a:p>
        </p:txBody>
      </p:sp>
      <p:sp>
        <p:nvSpPr>
          <p:cNvPr id="148" name="Rectangle 2507"/>
          <p:cNvSpPr/>
          <p:nvPr/>
        </p:nvSpPr>
        <p:spPr>
          <a:xfrm>
            <a:off x="1569085" y="5967730"/>
            <a:ext cx="8775065" cy="276860"/>
          </a:xfrm>
          <a:prstGeom prst="rect">
            <a:avLst/>
          </a:prstGeom>
        </p:spPr>
        <p:txBody>
          <a:bodyPr wrap="square" lIns="0" tIns="0" rIns="0" bIns="0">
            <a:spAutoFit/>
          </a:bodyPr>
          <a:lstStyle/>
          <a:p>
            <a:pPr marL="0" algn="ctr">
              <a:defRPr>
                <a:solidFill>
                  <a:srgbClr val="FFFFFF"/>
                </a:solidFill>
                <a:latin typeface="微软雅黑"/>
                <a:ea typeface="微软雅黑"/>
                <a:cs typeface="微软雅黑"/>
              </a:defRPr>
            </a:pPr>
            <a:r>
              <a:rPr lang="zh-CN" altLang="en-US" sz="1800" b="1" spc="0" baseline="0" dirty="0">
                <a:solidFill>
                  <a:srgbClr val="FFFFFF"/>
                </a:solidFill>
                <a:latin typeface="微软雅黑"/>
                <a:ea typeface="微软雅黑"/>
                <a:cs typeface="微软雅黑"/>
              </a:rPr>
              <a:t>构建数字化全链路</a:t>
            </a:r>
            <a:r>
              <a:rPr lang="en-US" sz="1800" b="1" spc="0" baseline="0" dirty="0">
                <a:solidFill>
                  <a:srgbClr val="FFFFFF"/>
                </a:solidFill>
                <a:latin typeface="微软雅黑"/>
                <a:ea typeface="微软雅黑"/>
                <a:cs typeface="微软雅黑"/>
              </a:rPr>
              <a:t>一站式投放平台</a:t>
            </a:r>
            <a:r>
              <a:rPr lang="zh-CN" sz="1800" b="1" spc="0" baseline="0" dirty="0">
                <a:solidFill>
                  <a:srgbClr val="FFFFFF"/>
                </a:solidFill>
                <a:latin typeface="微软雅黑"/>
                <a:ea typeface="微软雅黑"/>
                <a:cs typeface="微软雅黑"/>
              </a:rPr>
              <a:t>，全环节、全访问赋能业务增长</a:t>
            </a:r>
            <a:endParaRPr lang="zh-CN" sz="1800" b="1" spc="0" baseline="0" dirty="0">
              <a:solidFill>
                <a:srgbClr val="FFFFFF"/>
              </a:solidFill>
              <a:latin typeface="微软雅黑"/>
              <a:ea typeface="微软雅黑"/>
              <a:cs typeface="微软雅黑"/>
            </a:endParaRPr>
          </a:p>
        </p:txBody>
      </p:sp>
      <p:sp>
        <p:nvSpPr>
          <p:cNvPr id="162" name="Rectangle 2508"/>
          <p:cNvSpPr/>
          <p:nvPr/>
        </p:nvSpPr>
        <p:spPr>
          <a:xfrm>
            <a:off x="7708082" y="1579896"/>
            <a:ext cx="914400" cy="285841"/>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800" b="1" spc="0" baseline="0" dirty="0">
                <a:solidFill>
                  <a:srgbClr val="FFFFFF"/>
                </a:solidFill>
                <a:latin typeface="微软雅黑"/>
                <a:ea typeface="微软雅黑"/>
                <a:cs typeface="微软雅黑"/>
              </a:rPr>
              <a:t>深度转化</a:t>
            </a:r>
            <a:endParaRPr lang="en-US" sz="1800" b="1" spc="0" baseline="0" dirty="0">
              <a:solidFill>
                <a:srgbClr val="FFFFFF"/>
              </a:solidFill>
              <a:latin typeface="微软雅黑"/>
              <a:ea typeface="微软雅黑"/>
              <a:cs typeface="微软雅黑"/>
            </a:endParaRPr>
          </a:p>
        </p:txBody>
      </p:sp>
      <p:sp>
        <p:nvSpPr>
          <p:cNvPr id="168" name="Rectangle 2509"/>
          <p:cNvSpPr/>
          <p:nvPr/>
        </p:nvSpPr>
        <p:spPr>
          <a:xfrm>
            <a:off x="7879023" y="2353384"/>
            <a:ext cx="609600" cy="190559"/>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200" b="1" spc="0" baseline="0" dirty="0">
                <a:solidFill>
                  <a:srgbClr val="FFFFFF"/>
                </a:solidFill>
                <a:latin typeface="微软雅黑"/>
                <a:ea typeface="微软雅黑"/>
                <a:cs typeface="微软雅黑"/>
              </a:rPr>
              <a:t>目标转化</a:t>
            </a:r>
            <a:endParaRPr lang="en-US" sz="1200" b="1" spc="0" baseline="0" dirty="0">
              <a:solidFill>
                <a:srgbClr val="FFFFFF"/>
              </a:solidFill>
              <a:latin typeface="微软雅黑"/>
              <a:ea typeface="微软雅黑"/>
              <a:cs typeface="微软雅黑"/>
            </a:endParaRPr>
          </a:p>
        </p:txBody>
      </p:sp>
      <p:sp>
        <p:nvSpPr>
          <p:cNvPr id="172" name="Rectangle 2511"/>
          <p:cNvSpPr/>
          <p:nvPr/>
        </p:nvSpPr>
        <p:spPr>
          <a:xfrm>
            <a:off x="7879023" y="3551883"/>
            <a:ext cx="609600" cy="190559"/>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200" b="1" spc="0" baseline="0" dirty="0">
                <a:solidFill>
                  <a:srgbClr val="FFFFFF"/>
                </a:solidFill>
                <a:latin typeface="微软雅黑"/>
                <a:ea typeface="微软雅黑"/>
                <a:cs typeface="微软雅黑"/>
              </a:rPr>
              <a:t>深度转化</a:t>
            </a:r>
            <a:endParaRPr lang="en-US" sz="1200" b="1" spc="0" baseline="0" dirty="0">
              <a:solidFill>
                <a:srgbClr val="FFFFFF"/>
              </a:solidFill>
              <a:latin typeface="微软雅黑"/>
              <a:ea typeface="微软雅黑"/>
              <a:cs typeface="微软雅黑"/>
            </a:endParaRPr>
          </a:p>
        </p:txBody>
      </p:sp>
      <p:sp>
        <p:nvSpPr>
          <p:cNvPr id="173" name="Rectangle 2512"/>
          <p:cNvSpPr/>
          <p:nvPr/>
        </p:nvSpPr>
        <p:spPr>
          <a:xfrm>
            <a:off x="7579685" y="4284545"/>
            <a:ext cx="304800" cy="184150"/>
          </a:xfrm>
          <a:prstGeom prst="rect">
            <a:avLst/>
          </a:prstGeom>
        </p:spPr>
        <p:txBody>
          <a:bodyPr wrap="none" lIns="0" tIns="0" rIns="0" bIns="0">
            <a:spAutoFit/>
          </a:bodyPr>
          <a:lstStyle/>
          <a:p>
            <a:pPr marL="0">
              <a:defRPr>
                <a:latin typeface="微软雅黑"/>
                <a:ea typeface="微软雅黑"/>
                <a:cs typeface="微软雅黑"/>
              </a:defRPr>
            </a:pPr>
            <a:r>
              <a:rPr lang="en-US" sz="1200" spc="0" baseline="0" dirty="0">
                <a:solidFill>
                  <a:srgbClr val="0042FF"/>
                </a:solidFill>
                <a:latin typeface="微软雅黑"/>
                <a:ea typeface="微软雅黑"/>
                <a:cs typeface="微软雅黑"/>
              </a:rPr>
              <a:t>授信</a:t>
            </a:r>
            <a:endParaRPr lang="en-US" sz="1200" spc="0" baseline="0" dirty="0">
              <a:solidFill>
                <a:srgbClr val="0042FF"/>
              </a:solidFill>
              <a:latin typeface="微软雅黑"/>
              <a:ea typeface="微软雅黑"/>
              <a:cs typeface="微软雅黑"/>
            </a:endParaRPr>
          </a:p>
        </p:txBody>
      </p:sp>
      <p:sp>
        <p:nvSpPr>
          <p:cNvPr id="174" name="Rectangle 2513"/>
          <p:cNvSpPr/>
          <p:nvPr/>
        </p:nvSpPr>
        <p:spPr>
          <a:xfrm>
            <a:off x="8041847" y="3961644"/>
            <a:ext cx="631825" cy="184150"/>
          </a:xfrm>
          <a:prstGeom prst="rect">
            <a:avLst/>
          </a:prstGeom>
        </p:spPr>
        <p:txBody>
          <a:bodyPr wrap="none" lIns="0" tIns="0" rIns="0" bIns="0">
            <a:spAutoFit/>
          </a:bodyPr>
          <a:lstStyle/>
          <a:p>
            <a:pPr marL="0">
              <a:defRPr>
                <a:latin typeface="微软雅黑"/>
                <a:ea typeface="微软雅黑"/>
                <a:cs typeface="微软雅黑"/>
              </a:defRPr>
            </a:pPr>
            <a:r>
              <a:rPr lang="en-US" sz="1200" spc="0" baseline="0" dirty="0">
                <a:solidFill>
                  <a:srgbClr val="0042FF"/>
                </a:solidFill>
                <a:latin typeface="微软雅黑"/>
                <a:ea typeface="微软雅黑"/>
                <a:cs typeface="微软雅黑"/>
              </a:rPr>
              <a:t>付</a:t>
            </a:r>
            <a:r>
              <a:rPr lang="en-US" sz="1200" spc="2578" baseline="0" dirty="0">
                <a:solidFill>
                  <a:srgbClr val="0042FF"/>
                </a:solidFill>
                <a:latin typeface="微软雅黑"/>
                <a:ea typeface="微软雅黑"/>
                <a:cs typeface="微软雅黑"/>
              </a:rPr>
              <a:t>费</a:t>
            </a:r>
            <a:endParaRPr lang="en-US" sz="1200" spc="2578" baseline="0" dirty="0">
              <a:solidFill>
                <a:srgbClr val="0042FF"/>
              </a:solidFill>
              <a:latin typeface="微软雅黑"/>
              <a:ea typeface="微软雅黑"/>
              <a:cs typeface="微软雅黑"/>
            </a:endParaRPr>
          </a:p>
        </p:txBody>
      </p:sp>
      <p:sp>
        <p:nvSpPr>
          <p:cNvPr id="175" name="Rectangle 2514"/>
          <p:cNvSpPr/>
          <p:nvPr/>
        </p:nvSpPr>
        <p:spPr>
          <a:xfrm>
            <a:off x="8404707" y="4303470"/>
            <a:ext cx="457200" cy="184150"/>
          </a:xfrm>
          <a:prstGeom prst="rect">
            <a:avLst/>
          </a:prstGeom>
        </p:spPr>
        <p:txBody>
          <a:bodyPr wrap="none" lIns="0" tIns="0" rIns="0" bIns="0">
            <a:spAutoFit/>
          </a:bodyPr>
          <a:lstStyle/>
          <a:p>
            <a:pPr marL="0">
              <a:defRPr>
                <a:latin typeface="微软雅黑"/>
                <a:ea typeface="微软雅黑"/>
                <a:cs typeface="微软雅黑"/>
              </a:defRPr>
            </a:pPr>
            <a:r>
              <a:rPr lang="en-US" sz="1200" spc="0" baseline="0" dirty="0">
                <a:solidFill>
                  <a:srgbClr val="0042FF"/>
                </a:solidFill>
                <a:latin typeface="微软雅黑"/>
                <a:ea typeface="微软雅黑"/>
                <a:cs typeface="微软雅黑"/>
              </a:rPr>
              <a:t>下单等</a:t>
            </a:r>
            <a:endParaRPr lang="en-US" sz="1200" spc="0" baseline="0" dirty="0">
              <a:solidFill>
                <a:srgbClr val="0042FF"/>
              </a:solidFill>
              <a:latin typeface="微软雅黑"/>
              <a:ea typeface="微软雅黑"/>
              <a:cs typeface="微软雅黑"/>
            </a:endParaRPr>
          </a:p>
        </p:txBody>
      </p:sp>
      <p:sp>
        <p:nvSpPr>
          <p:cNvPr id="176" name="Rectangle 2515"/>
          <p:cNvSpPr/>
          <p:nvPr/>
        </p:nvSpPr>
        <p:spPr>
          <a:xfrm>
            <a:off x="10058957" y="3225428"/>
            <a:ext cx="621965" cy="186526"/>
          </a:xfrm>
          <a:prstGeom prst="rect">
            <a:avLst/>
          </a:prstGeom>
        </p:spPr>
        <p:txBody>
          <a:bodyPr wrap="none" lIns="0" tIns="0" rIns="0" bIns="0">
            <a:spAutoFit/>
          </a:bodyPr>
          <a:lstStyle/>
          <a:p>
            <a:pPr marL="0">
              <a:tabLst>
                <a:tab pos="1581150" algn="l"/>
              </a:tabLst>
              <a:defRPr>
                <a:latin typeface="微软雅黑"/>
                <a:ea typeface="微软雅黑"/>
                <a:cs typeface="微软雅黑"/>
              </a:defRPr>
            </a:pPr>
            <a:r>
              <a:rPr lang="en-US" sz="1820" b="1" spc="0" baseline="4000" dirty="0">
                <a:solidFill>
                  <a:srgbClr val="0042FF"/>
                </a:solidFill>
                <a:latin typeface="微软雅黑"/>
                <a:ea typeface="微软雅黑"/>
                <a:cs typeface="微软雅黑"/>
              </a:rPr>
              <a:t>线索分析</a:t>
            </a:r>
            <a:endParaRPr lang="en-US" sz="1820" b="1" spc="0" baseline="4000" dirty="0">
              <a:solidFill>
                <a:srgbClr val="0042FF"/>
              </a:solidFill>
              <a:latin typeface="微软雅黑"/>
              <a:ea typeface="微软雅黑"/>
              <a:cs typeface="微软雅黑"/>
            </a:endParaRPr>
          </a:p>
        </p:txBody>
      </p:sp>
      <p:sp>
        <p:nvSpPr>
          <p:cNvPr id="183" name="Rectangle 2522"/>
          <p:cNvSpPr/>
          <p:nvPr/>
        </p:nvSpPr>
        <p:spPr>
          <a:xfrm>
            <a:off x="5656396" y="1579896"/>
            <a:ext cx="914400" cy="285841"/>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800" b="1" spc="0" baseline="0" dirty="0">
                <a:solidFill>
                  <a:srgbClr val="FFFFFF"/>
                </a:solidFill>
                <a:latin typeface="微软雅黑"/>
                <a:ea typeface="微软雅黑"/>
                <a:cs typeface="微软雅黑"/>
              </a:rPr>
              <a:t>智能投放</a:t>
            </a:r>
            <a:endParaRPr lang="en-US" sz="1800" b="1" spc="0" baseline="0" dirty="0">
              <a:solidFill>
                <a:srgbClr val="FFFFFF"/>
              </a:solidFill>
              <a:latin typeface="微软雅黑"/>
              <a:ea typeface="微软雅黑"/>
              <a:cs typeface="微软雅黑"/>
            </a:endParaRPr>
          </a:p>
        </p:txBody>
      </p:sp>
      <p:sp>
        <p:nvSpPr>
          <p:cNvPr id="184" name="Rectangle 2523"/>
          <p:cNvSpPr/>
          <p:nvPr/>
        </p:nvSpPr>
        <p:spPr>
          <a:xfrm>
            <a:off x="5804859" y="2636796"/>
            <a:ext cx="609600" cy="190559"/>
          </a:xfrm>
          <a:prstGeom prst="rect">
            <a:avLst/>
          </a:prstGeom>
        </p:spPr>
        <p:txBody>
          <a:bodyPr wrap="none" lIns="0" tIns="0" rIns="0" bIns="0">
            <a:spAutoFit/>
          </a:bodyPr>
          <a:lstStyle/>
          <a:p>
            <a:pPr marL="0">
              <a:defRPr>
                <a:latin typeface="微软雅黑"/>
                <a:ea typeface="微软雅黑"/>
                <a:cs typeface="微软雅黑"/>
              </a:defRPr>
            </a:pPr>
            <a:r>
              <a:rPr lang="en-US" sz="1200" b="1" spc="0" baseline="0" dirty="0">
                <a:solidFill>
                  <a:srgbClr val="0042FF"/>
                </a:solidFill>
                <a:latin typeface="微软雅黑"/>
                <a:ea typeface="微软雅黑"/>
                <a:cs typeface="微软雅黑"/>
              </a:rPr>
              <a:t>定向优化</a:t>
            </a:r>
            <a:endParaRPr lang="en-US" sz="1200" b="1" spc="0" baseline="0" dirty="0">
              <a:solidFill>
                <a:srgbClr val="0042FF"/>
              </a:solidFill>
              <a:latin typeface="微软雅黑"/>
              <a:ea typeface="微软雅黑"/>
              <a:cs typeface="微软雅黑"/>
            </a:endParaRPr>
          </a:p>
        </p:txBody>
      </p:sp>
      <p:sp>
        <p:nvSpPr>
          <p:cNvPr id="185" name="Rectangle 2524"/>
          <p:cNvSpPr/>
          <p:nvPr/>
        </p:nvSpPr>
        <p:spPr>
          <a:xfrm>
            <a:off x="5804859" y="3402860"/>
            <a:ext cx="609600" cy="190559"/>
          </a:xfrm>
          <a:prstGeom prst="rect">
            <a:avLst/>
          </a:prstGeom>
        </p:spPr>
        <p:txBody>
          <a:bodyPr wrap="none" lIns="0" tIns="0" rIns="0" bIns="0">
            <a:spAutoFit/>
          </a:bodyPr>
          <a:lstStyle/>
          <a:p>
            <a:pPr marL="0">
              <a:defRPr>
                <a:latin typeface="微软雅黑"/>
                <a:ea typeface="微软雅黑"/>
                <a:cs typeface="微软雅黑"/>
              </a:defRPr>
            </a:pPr>
            <a:r>
              <a:rPr lang="en-US" sz="1200" b="1" spc="0" baseline="0" dirty="0">
                <a:solidFill>
                  <a:srgbClr val="0042FF"/>
                </a:solidFill>
                <a:latin typeface="微软雅黑"/>
                <a:ea typeface="微软雅黑"/>
                <a:cs typeface="微软雅黑"/>
              </a:rPr>
              <a:t>智能创意</a:t>
            </a:r>
            <a:endParaRPr lang="en-US" sz="1200" b="1" spc="0" baseline="0" dirty="0">
              <a:solidFill>
                <a:srgbClr val="0042FF"/>
              </a:solidFill>
              <a:latin typeface="微软雅黑"/>
              <a:ea typeface="微软雅黑"/>
              <a:cs typeface="微软雅黑"/>
            </a:endParaRPr>
          </a:p>
        </p:txBody>
      </p:sp>
      <p:sp>
        <p:nvSpPr>
          <p:cNvPr id="186" name="Rectangle 2525"/>
          <p:cNvSpPr/>
          <p:nvPr/>
        </p:nvSpPr>
        <p:spPr>
          <a:xfrm>
            <a:off x="5804859" y="4201436"/>
            <a:ext cx="609600" cy="190559"/>
          </a:xfrm>
          <a:prstGeom prst="rect">
            <a:avLst/>
          </a:prstGeom>
        </p:spPr>
        <p:txBody>
          <a:bodyPr wrap="none" lIns="0" tIns="0" rIns="0" bIns="0">
            <a:spAutoFit/>
          </a:bodyPr>
          <a:lstStyle/>
          <a:p>
            <a:pPr marL="0">
              <a:defRPr>
                <a:latin typeface="微软雅黑"/>
                <a:ea typeface="微软雅黑"/>
                <a:cs typeface="微软雅黑"/>
              </a:defRPr>
            </a:pPr>
            <a:r>
              <a:rPr lang="en-US" sz="1200" b="1" spc="0" baseline="0" dirty="0">
                <a:solidFill>
                  <a:srgbClr val="0042FF"/>
                </a:solidFill>
                <a:latin typeface="微软雅黑"/>
                <a:ea typeface="微软雅黑"/>
                <a:cs typeface="微软雅黑"/>
              </a:rPr>
              <a:t>智能出价</a:t>
            </a:r>
            <a:endParaRPr lang="en-US" sz="1200" b="1" spc="0" baseline="0" dirty="0">
              <a:solidFill>
                <a:srgbClr val="0042FF"/>
              </a:solidFill>
              <a:latin typeface="微软雅黑"/>
              <a:ea typeface="微软雅黑"/>
              <a:cs typeface="微软雅黑"/>
            </a:endParaRPr>
          </a:p>
        </p:txBody>
      </p:sp>
      <p:sp>
        <p:nvSpPr>
          <p:cNvPr id="187" name="Rectangle 2526"/>
          <p:cNvSpPr/>
          <p:nvPr/>
        </p:nvSpPr>
        <p:spPr>
          <a:xfrm>
            <a:off x="5350707" y="3760528"/>
            <a:ext cx="1538883" cy="153568"/>
          </a:xfrm>
          <a:prstGeom prst="rect">
            <a:avLst/>
          </a:prstGeom>
        </p:spPr>
        <p:txBody>
          <a:bodyPr wrap="none" lIns="0" tIns="0" rIns="0" bIns="0">
            <a:spAutoFit/>
          </a:bodyPr>
          <a:lstStyle/>
          <a:p>
            <a:pPr marL="0">
              <a:defRPr>
                <a:latin typeface="微软雅黑"/>
                <a:ea typeface="微软雅黑"/>
                <a:cs typeface="微软雅黑"/>
              </a:defRPr>
            </a:pPr>
            <a:r>
              <a:rPr lang="en-US" sz="1000" b="1" spc="0" baseline="0" dirty="0">
                <a:solidFill>
                  <a:srgbClr val="383838"/>
                </a:solidFill>
                <a:latin typeface="微软雅黑"/>
                <a:ea typeface="微软雅黑"/>
                <a:cs typeface="微软雅黑"/>
              </a:rPr>
              <a:t>（动态创意、程序化创意）</a:t>
            </a:r>
            <a:endParaRPr lang="en-US" sz="1000" b="1" spc="0" baseline="0" dirty="0">
              <a:solidFill>
                <a:srgbClr val="383838"/>
              </a:solidFill>
              <a:latin typeface="微软雅黑"/>
              <a:ea typeface="微软雅黑"/>
              <a:cs typeface="微软雅黑"/>
            </a:endParaRPr>
          </a:p>
        </p:txBody>
      </p:sp>
      <p:sp>
        <p:nvSpPr>
          <p:cNvPr id="188" name="Rectangle 2527"/>
          <p:cNvSpPr/>
          <p:nvPr/>
        </p:nvSpPr>
        <p:spPr>
          <a:xfrm>
            <a:off x="5335213" y="3004268"/>
            <a:ext cx="1538883" cy="171450"/>
          </a:xfrm>
          <a:prstGeom prst="rect">
            <a:avLst/>
          </a:prstGeom>
        </p:spPr>
        <p:txBody>
          <a:bodyPr wrap="square" lIns="0" tIns="0" rIns="0" bIns="0" anchor="t">
            <a:noAutofit/>
          </a:bodyPr>
          <a:lstStyle/>
          <a:p>
            <a:pPr marL="0">
              <a:defRPr>
                <a:latin typeface="微软雅黑"/>
                <a:ea typeface="微软雅黑"/>
                <a:cs typeface="微软雅黑"/>
              </a:defRPr>
              <a:lnSpc>
                <a:spcPts val="1120"/>
              </a:lnSpc>
              <a:spcBef>
                <a:spcPts val="0"/>
              </a:spcBef>
              <a:spcAft>
                <a:spcPts val="0"/>
              </a:spcAft>
            </a:pPr>
            <a:r>
              <a:rPr lang="en-US" sz="1000" b="1" spc="0" baseline="0" dirty="0">
                <a:solidFill>
                  <a:srgbClr val="383838"/>
                </a:solidFill>
                <a:latin typeface="微软雅黑"/>
                <a:ea typeface="微软雅黑"/>
                <a:cs typeface="微软雅黑"/>
              </a:rPr>
              <a:t>（关键词推荐、自动定向）</a:t>
            </a:r>
            <a:endParaRPr lang="en-US" sz="1000" b="1" spc="0" baseline="0" dirty="0">
              <a:solidFill>
                <a:srgbClr val="383838"/>
              </a:solidFill>
              <a:latin typeface="微软雅黑"/>
              <a:ea typeface="微软雅黑"/>
              <a:cs typeface="微软雅黑"/>
            </a:endParaRPr>
          </a:p>
        </p:txBody>
      </p:sp>
      <p:grpSp>
        <p:nvGrpSpPr>
          <p:cNvPr id="202" name="组合 201"/>
          <p:cNvGrpSpPr/>
          <p:nvPr/>
        </p:nvGrpSpPr>
        <p:grpSpPr>
          <a:xfrm flipV="1">
            <a:off x="11344388" y="1661160"/>
            <a:ext cx="306883" cy="4426490"/>
            <a:chOff x="11308861" y="1925354"/>
            <a:chExt cx="308460" cy="4133342"/>
          </a:xfrm>
        </p:grpSpPr>
        <p:cxnSp>
          <p:nvCxnSpPr>
            <p:cNvPr id="203" name="连接符: 肘形 177"/>
            <p:cNvCxnSpPr/>
            <p:nvPr/>
          </p:nvCxnSpPr>
          <p:spPr>
            <a:xfrm rot="5400000">
              <a:off x="9404356" y="3851500"/>
              <a:ext cx="4133342" cy="281050"/>
            </a:xfrm>
            <a:prstGeom prst="bentConnector3">
              <a:avLst>
                <a:gd name="adj1" fmla="val 99846"/>
              </a:avLst>
            </a:prstGeom>
            <a:ln w="19050">
              <a:solidFill>
                <a:srgbClr val="383838">
                  <a:alpha val="70000"/>
                </a:srgbClr>
              </a:solidFill>
              <a:tailEnd type="triangle"/>
            </a:ln>
          </p:spPr>
          <p:style>
            <a:lnRef idx="1">
              <a:srgbClr val="0042FF"/>
            </a:lnRef>
            <a:fillRef idx="0">
              <a:srgbClr val="0042FF"/>
            </a:fillRef>
            <a:effectRef idx="0">
              <a:srgbClr val="0042FF"/>
            </a:effectRef>
            <a:fontRef idx="minor">
              <a:srgbClr val="383838"/>
            </a:fontRef>
          </p:style>
        </p:cxnSp>
        <p:cxnSp>
          <p:nvCxnSpPr>
            <p:cNvPr id="204" name="直接连接符 203"/>
            <p:cNvCxnSpPr/>
            <p:nvPr/>
          </p:nvCxnSpPr>
          <p:spPr>
            <a:xfrm>
              <a:off x="11308861" y="1927670"/>
              <a:ext cx="308460" cy="0"/>
            </a:xfrm>
            <a:prstGeom prst="line">
              <a:avLst/>
            </a:prstGeom>
            <a:ln w="19050">
              <a:solidFill>
                <a:srgbClr val="383838">
                  <a:alpha val="70000"/>
                </a:srgbClr>
              </a:solidFill>
            </a:ln>
          </p:spPr>
          <p:style>
            <a:lnRef idx="1">
              <a:srgbClr val="0042FF"/>
            </a:lnRef>
            <a:fillRef idx="0">
              <a:srgbClr val="0042FF"/>
            </a:fillRef>
            <a:effectRef idx="0">
              <a:srgbClr val="0042FF"/>
            </a:effectRef>
            <a:fontRef idx="minor">
              <a:srgbClr val="383838"/>
            </a:fontRef>
          </p:style>
        </p:cxnSp>
      </p:grpSp>
      <p:grpSp>
        <p:nvGrpSpPr>
          <p:cNvPr id="205" name="组合 204"/>
          <p:cNvGrpSpPr/>
          <p:nvPr/>
        </p:nvGrpSpPr>
        <p:grpSpPr>
          <a:xfrm rot="10800000">
            <a:off x="534461" y="1722120"/>
            <a:ext cx="306883" cy="4365530"/>
            <a:chOff x="11308861" y="1925354"/>
            <a:chExt cx="308460" cy="4133342"/>
          </a:xfrm>
        </p:grpSpPr>
        <p:cxnSp>
          <p:nvCxnSpPr>
            <p:cNvPr id="206" name="连接符: 肘形 194"/>
            <p:cNvCxnSpPr/>
            <p:nvPr/>
          </p:nvCxnSpPr>
          <p:spPr>
            <a:xfrm rot="5400000">
              <a:off x="9404356" y="3851500"/>
              <a:ext cx="4133342" cy="281050"/>
            </a:xfrm>
            <a:prstGeom prst="bentConnector3">
              <a:avLst>
                <a:gd name="adj1" fmla="val 99846"/>
              </a:avLst>
            </a:prstGeom>
            <a:ln w="19050">
              <a:solidFill>
                <a:srgbClr val="383838">
                  <a:alpha val="70000"/>
                </a:srgbClr>
              </a:solidFill>
              <a:tailEnd type="triangle"/>
            </a:ln>
          </p:spPr>
          <p:style>
            <a:lnRef idx="1">
              <a:srgbClr val="0042FF"/>
            </a:lnRef>
            <a:fillRef idx="0">
              <a:srgbClr val="0042FF"/>
            </a:fillRef>
            <a:effectRef idx="0">
              <a:srgbClr val="0042FF"/>
            </a:effectRef>
            <a:fontRef idx="minor">
              <a:srgbClr val="383838"/>
            </a:fontRef>
          </p:style>
        </p:cxnSp>
        <p:cxnSp>
          <p:nvCxnSpPr>
            <p:cNvPr id="207" name="直接连接符 206"/>
            <p:cNvCxnSpPr/>
            <p:nvPr/>
          </p:nvCxnSpPr>
          <p:spPr>
            <a:xfrm>
              <a:off x="11308861" y="1927670"/>
              <a:ext cx="308460" cy="0"/>
            </a:xfrm>
            <a:prstGeom prst="line">
              <a:avLst/>
            </a:prstGeom>
            <a:ln w="19050">
              <a:solidFill>
                <a:srgbClr val="383838">
                  <a:alpha val="70000"/>
                </a:srgbClr>
              </a:solidFill>
            </a:ln>
          </p:spPr>
          <p:style>
            <a:lnRef idx="1">
              <a:srgbClr val="0042FF"/>
            </a:lnRef>
            <a:fillRef idx="0">
              <a:srgbClr val="0042FF"/>
            </a:fillRef>
            <a:effectRef idx="0">
              <a:srgbClr val="0042FF"/>
            </a:effectRef>
            <a:fontRef idx="minor">
              <a:srgbClr val="383838"/>
            </a:fontRef>
          </p:style>
        </p:cxnSp>
      </p:grpSp>
      <p:sp>
        <p:nvSpPr>
          <p:cNvPr id="227" name="Rectangle 2515"/>
          <p:cNvSpPr/>
          <p:nvPr/>
        </p:nvSpPr>
        <p:spPr>
          <a:xfrm>
            <a:off x="8461990" y="3115713"/>
            <a:ext cx="396239" cy="184150"/>
          </a:xfrm>
          <a:prstGeom prst="rect">
            <a:avLst/>
          </a:prstGeom>
        </p:spPr>
        <p:txBody>
          <a:bodyPr wrap="square" lIns="0" tIns="0" rIns="0" bIns="0">
            <a:spAutoFit/>
          </a:bodyPr>
          <a:lstStyle/>
          <a:p>
            <a:pPr marL="0">
              <a:tabLst>
                <a:tab pos="1581150" algn="l"/>
              </a:tabLst>
              <a:defRPr>
                <a:latin typeface="微软雅黑"/>
                <a:ea typeface="微软雅黑"/>
                <a:cs typeface="微软雅黑"/>
              </a:defRPr>
            </a:pPr>
            <a:r>
              <a:rPr lang="en-US" sz="1200" spc="0" baseline="0" dirty="0">
                <a:solidFill>
                  <a:srgbClr val="0042FF"/>
                </a:solidFill>
                <a:latin typeface="微软雅黑"/>
                <a:ea typeface="微软雅黑"/>
                <a:cs typeface="微软雅黑"/>
              </a:rPr>
              <a:t>咨询</a:t>
            </a:r>
            <a:endParaRPr lang="en-US" sz="1200" spc="0" baseline="0" dirty="0">
              <a:solidFill>
                <a:srgbClr val="0042FF"/>
              </a:solidFill>
              <a:latin typeface="微软雅黑"/>
              <a:ea typeface="微软雅黑"/>
              <a:cs typeface="微软雅黑"/>
            </a:endParaRPr>
          </a:p>
        </p:txBody>
      </p:sp>
      <p:sp>
        <p:nvSpPr>
          <p:cNvPr id="228" name="Rectangle 2515"/>
          <p:cNvSpPr/>
          <p:nvPr/>
        </p:nvSpPr>
        <p:spPr>
          <a:xfrm>
            <a:off x="7381150" y="3115713"/>
            <a:ext cx="699836" cy="184150"/>
          </a:xfrm>
          <a:prstGeom prst="rect">
            <a:avLst/>
          </a:prstGeom>
        </p:spPr>
        <p:txBody>
          <a:bodyPr wrap="square" lIns="0" tIns="0" rIns="0" bIns="0">
            <a:spAutoFit/>
          </a:bodyPr>
          <a:lstStyle/>
          <a:p>
            <a:pPr marL="0" algn="ctr">
              <a:tabLst>
                <a:tab pos="1581150" algn="l"/>
              </a:tabLst>
              <a:defRPr>
                <a:latin typeface="微软雅黑"/>
                <a:ea typeface="微软雅黑"/>
                <a:cs typeface="微软雅黑"/>
              </a:defRPr>
            </a:pPr>
            <a:r>
              <a:rPr lang="en-US" sz="1200" spc="0" baseline="0" dirty="0">
                <a:solidFill>
                  <a:srgbClr val="0042FF"/>
                </a:solidFill>
                <a:latin typeface="微软雅黑"/>
                <a:ea typeface="微软雅黑"/>
                <a:cs typeface="微软雅黑"/>
              </a:rPr>
              <a:t>App</a:t>
            </a:r>
            <a:r>
              <a:rPr lang="zh-CN" altLang="en-US" sz="1200" spc="0" baseline="0" dirty="0">
                <a:solidFill>
                  <a:srgbClr val="0042FF"/>
                </a:solidFill>
                <a:latin typeface="微软雅黑"/>
                <a:ea typeface="微软雅黑"/>
                <a:cs typeface="微软雅黑"/>
              </a:rPr>
              <a:t>激活</a:t>
            </a:r>
            <a:endParaRPr lang="zh-CN" altLang="en-US" sz="1200" spc="0" baseline="0" dirty="0">
              <a:solidFill>
                <a:srgbClr val="0042FF"/>
              </a:solidFill>
              <a:latin typeface="微软雅黑"/>
              <a:ea typeface="微软雅黑"/>
              <a:cs typeface="微软雅黑"/>
            </a:endParaRPr>
          </a:p>
        </p:txBody>
      </p:sp>
      <p:sp>
        <p:nvSpPr>
          <p:cNvPr id="229" name="Rectangle 2515"/>
          <p:cNvSpPr/>
          <p:nvPr/>
        </p:nvSpPr>
        <p:spPr>
          <a:xfrm>
            <a:off x="8338525" y="2757234"/>
            <a:ext cx="643170" cy="184150"/>
          </a:xfrm>
          <a:prstGeom prst="rect">
            <a:avLst/>
          </a:prstGeom>
        </p:spPr>
        <p:txBody>
          <a:bodyPr wrap="square" lIns="0" tIns="0" rIns="0" bIns="0">
            <a:spAutoFit/>
          </a:bodyPr>
          <a:lstStyle/>
          <a:p>
            <a:pPr marL="0" algn="ctr">
              <a:tabLst>
                <a:tab pos="1581150" algn="l"/>
              </a:tabLst>
              <a:defRPr>
                <a:latin typeface="微软雅黑"/>
                <a:ea typeface="微软雅黑"/>
                <a:cs typeface="微软雅黑"/>
              </a:defRPr>
            </a:pPr>
            <a:r>
              <a:rPr lang="zh-CN" altLang="en-US" sz="1200" spc="0" baseline="0" dirty="0">
                <a:solidFill>
                  <a:srgbClr val="0042FF"/>
                </a:solidFill>
                <a:latin typeface="微软雅黑"/>
                <a:ea typeface="微软雅黑"/>
                <a:cs typeface="微软雅黑"/>
              </a:rPr>
              <a:t>表单提交</a:t>
            </a:r>
            <a:endParaRPr lang="zh-CN" altLang="en-US" sz="1200" spc="0" baseline="0" dirty="0">
              <a:solidFill>
                <a:srgbClr val="0042FF"/>
              </a:solidFill>
              <a:latin typeface="微软雅黑"/>
              <a:ea typeface="微软雅黑"/>
              <a:cs typeface="微软雅黑"/>
            </a:endParaRPr>
          </a:p>
        </p:txBody>
      </p:sp>
      <p:sp>
        <p:nvSpPr>
          <p:cNvPr id="230" name="Rectangle 2515"/>
          <p:cNvSpPr/>
          <p:nvPr/>
        </p:nvSpPr>
        <p:spPr>
          <a:xfrm>
            <a:off x="7336056" y="2757234"/>
            <a:ext cx="790024" cy="184150"/>
          </a:xfrm>
          <a:prstGeom prst="rect">
            <a:avLst/>
          </a:prstGeom>
        </p:spPr>
        <p:txBody>
          <a:bodyPr wrap="square" lIns="0" tIns="0" rIns="0" bIns="0">
            <a:spAutoFit/>
          </a:bodyPr>
          <a:lstStyle/>
          <a:p>
            <a:pPr marL="0" algn="ctr">
              <a:tabLst>
                <a:tab pos="1581150" algn="l"/>
              </a:tabLst>
              <a:defRPr>
                <a:latin typeface="微软雅黑"/>
                <a:ea typeface="微软雅黑"/>
                <a:cs typeface="微软雅黑"/>
              </a:defRPr>
            </a:pPr>
            <a:r>
              <a:rPr lang="en-US" altLang="zh-CN" sz="1200" spc="0" baseline="0" dirty="0">
                <a:solidFill>
                  <a:srgbClr val="0042FF"/>
                </a:solidFill>
                <a:latin typeface="微软雅黑"/>
                <a:ea typeface="微软雅黑"/>
                <a:cs typeface="微软雅黑"/>
              </a:rPr>
              <a:t>App</a:t>
            </a:r>
            <a:r>
              <a:rPr lang="zh-CN" altLang="en-US" sz="1200" spc="0" baseline="0" dirty="0">
                <a:solidFill>
                  <a:srgbClr val="0042FF"/>
                </a:solidFill>
                <a:latin typeface="微软雅黑"/>
                <a:ea typeface="微软雅黑"/>
                <a:cs typeface="微软雅黑"/>
              </a:rPr>
              <a:t>下载</a:t>
            </a:r>
            <a:endParaRPr lang="zh-CN" altLang="en-US" sz="1200" spc="0" baseline="0" dirty="0">
              <a:solidFill>
                <a:srgbClr val="0042FF"/>
              </a:solidFill>
              <a:latin typeface="微软雅黑"/>
              <a:ea typeface="微软雅黑"/>
              <a:cs typeface="微软雅黑"/>
            </a:endParaRPr>
          </a:p>
        </p:txBody>
      </p:sp>
      <p:sp>
        <p:nvSpPr>
          <p:cNvPr id="234" name="Rectangle 2513"/>
          <p:cNvSpPr/>
          <p:nvPr/>
        </p:nvSpPr>
        <p:spPr>
          <a:xfrm>
            <a:off x="7428100" y="3961644"/>
            <a:ext cx="600075" cy="184150"/>
          </a:xfrm>
          <a:prstGeom prst="rect">
            <a:avLst/>
          </a:prstGeom>
        </p:spPr>
        <p:txBody>
          <a:bodyPr wrap="none" lIns="0" tIns="0" rIns="0" bIns="0">
            <a:spAutoFit/>
          </a:bodyPr>
          <a:lstStyle/>
          <a:p>
            <a:pPr marL="0">
              <a:defRPr>
                <a:latin typeface="微软雅黑"/>
                <a:ea typeface="微软雅黑"/>
                <a:cs typeface="微软雅黑"/>
              </a:defRPr>
            </a:pPr>
            <a:r>
              <a:rPr lang="en-US" sz="1200" spc="0" baseline="0" dirty="0">
                <a:solidFill>
                  <a:srgbClr val="0042FF"/>
                </a:solidFill>
                <a:latin typeface="微软雅黑"/>
                <a:ea typeface="微软雅黑"/>
                <a:cs typeface="微软雅黑"/>
              </a:rPr>
              <a:t>留</a:t>
            </a:r>
            <a:r>
              <a:rPr lang="en-US" sz="1200" spc="2325" baseline="0" dirty="0">
                <a:solidFill>
                  <a:srgbClr val="0042FF"/>
                </a:solidFill>
                <a:latin typeface="微软雅黑"/>
                <a:ea typeface="微软雅黑"/>
                <a:cs typeface="微软雅黑"/>
              </a:rPr>
              <a:t>存</a:t>
            </a:r>
            <a:endParaRPr lang="en-US" sz="1200" spc="2325" baseline="0" dirty="0">
              <a:solidFill>
                <a:srgbClr val="0042FF"/>
              </a:solidFill>
              <a:latin typeface="微软雅黑"/>
              <a:ea typeface="微软雅黑"/>
              <a:cs typeface="微软雅黑"/>
            </a:endParaRPr>
          </a:p>
        </p:txBody>
      </p:sp>
      <p:sp>
        <p:nvSpPr>
          <p:cNvPr id="235" name="Rectangle 2513"/>
          <p:cNvSpPr/>
          <p:nvPr/>
        </p:nvSpPr>
        <p:spPr>
          <a:xfrm>
            <a:off x="8662284" y="3959784"/>
            <a:ext cx="248920" cy="180975"/>
          </a:xfrm>
          <a:prstGeom prst="rect">
            <a:avLst/>
          </a:prstGeom>
        </p:spPr>
        <p:txBody>
          <a:bodyPr wrap="none" lIns="0" tIns="0" rIns="0" bIns="0">
            <a:spAutoFit/>
          </a:bodyPr>
          <a:lstStyle/>
          <a:p>
            <a:pPr marL="0">
              <a:defRPr>
                <a:latin typeface="微软雅黑"/>
                <a:ea typeface="微软雅黑"/>
                <a:cs typeface="微软雅黑"/>
              </a:defRPr>
            </a:pPr>
            <a:r>
              <a:rPr lang="en-US" sz="1820" spc="0" baseline="-2000" dirty="0">
                <a:solidFill>
                  <a:srgbClr val="0042FF"/>
                </a:solidFill>
                <a:latin typeface="微软雅黑"/>
                <a:ea typeface="微软雅黑"/>
                <a:cs typeface="微软雅黑"/>
              </a:rPr>
              <a:t>ROI</a:t>
            </a:r>
            <a:endParaRPr lang="en-US" sz="1820" spc="0" baseline="-2000" dirty="0">
              <a:solidFill>
                <a:srgbClr val="0042FF"/>
              </a:solidFill>
              <a:latin typeface="微软雅黑"/>
              <a:ea typeface="微软雅黑"/>
              <a:cs typeface="微软雅黑"/>
            </a:endParaRPr>
          </a:p>
        </p:txBody>
      </p:sp>
      <p:sp>
        <p:nvSpPr>
          <p:cNvPr id="247" name="圆角矩形 8"/>
          <p:cNvSpPr/>
          <p:nvPr/>
        </p:nvSpPr>
        <p:spPr>
          <a:xfrm>
            <a:off x="2934081" y="2450201"/>
            <a:ext cx="1974073" cy="1002743"/>
          </a:xfrm>
          <a:prstGeom prst="roundRect">
            <a:avLst>
              <a:gd name="adj" fmla="val 2689"/>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248" name="圆角矩形 8"/>
          <p:cNvSpPr/>
          <p:nvPr/>
        </p:nvSpPr>
        <p:spPr>
          <a:xfrm>
            <a:off x="2934081" y="3689608"/>
            <a:ext cx="1974073" cy="1002743"/>
          </a:xfrm>
          <a:prstGeom prst="roundRect">
            <a:avLst>
              <a:gd name="adj" fmla="val 2689"/>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249" name="Freeform 2470"/>
          <p:cNvSpPr/>
          <p:nvPr/>
        </p:nvSpPr>
        <p:spPr>
          <a:xfrm>
            <a:off x="3161355" y="1391302"/>
            <a:ext cx="1648968" cy="527305"/>
          </a:xfrm>
          <a:custGeom>
            <a:avLst/>
            <a:gdLst/>
            <a:ahLst/>
            <a:cxnLst/>
            <a:rect l="0" t="0" r="0" b="0"/>
            <a:pathLst>
              <a:path w="1648968" h="527305">
                <a:moveTo>
                  <a:pt x="0" y="108967"/>
                </a:moveTo>
                <a:lnTo>
                  <a:pt x="108965" y="0"/>
                </a:lnTo>
                <a:lnTo>
                  <a:pt x="1648968" y="0"/>
                </a:lnTo>
                <a:lnTo>
                  <a:pt x="1648968" y="418338"/>
                </a:lnTo>
                <a:lnTo>
                  <a:pt x="1540002" y="527305"/>
                </a:lnTo>
                <a:lnTo>
                  <a:pt x="0" y="527305"/>
                </a:lnTo>
                <a:close/>
                <a:moveTo>
                  <a:pt x="0" y="108967"/>
                </a:moveTo>
                <a:lnTo>
                  <a:pt x="1540002" y="108967"/>
                </a:lnTo>
                <a:lnTo>
                  <a:pt x="1648968" y="0"/>
                </a:lnTo>
                <a:moveTo>
                  <a:pt x="1540002" y="108967"/>
                </a:moveTo>
                <a:lnTo>
                  <a:pt x="1540002" y="527305"/>
                </a:lnTo>
              </a:path>
            </a:pathLst>
          </a:custGeom>
          <a:noFill/>
          <a:ln w="6095" cap="flat" cmpd="sng">
            <a:solidFill>
              <a:srgbClr val="0042FF"/>
            </a:solidFill>
            <a:miter lim="101600"/>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0" name="Freeform 2471"/>
          <p:cNvSpPr/>
          <p:nvPr/>
        </p:nvSpPr>
        <p:spPr>
          <a:xfrm>
            <a:off x="3158306" y="1497982"/>
            <a:ext cx="1545336" cy="425196"/>
          </a:xfrm>
          <a:custGeom>
            <a:avLst/>
            <a:gdLst/>
            <a:ahLst/>
            <a:cxnLst/>
            <a:rect l="0" t="0" r="0" b="0"/>
            <a:pathLst>
              <a:path w="1545336" h="425196">
                <a:moveTo>
                  <a:pt x="0" y="425196"/>
                </a:moveTo>
                <a:lnTo>
                  <a:pt x="1545336" y="425196"/>
                </a:lnTo>
                <a:lnTo>
                  <a:pt x="1545336" y="0"/>
                </a:lnTo>
                <a:lnTo>
                  <a:pt x="0" y="0"/>
                </a:lnTo>
                <a:lnTo>
                  <a:pt x="0" y="425196"/>
                </a:lnTo>
                <a:close/>
              </a:path>
            </a:pathLst>
          </a:custGeom>
          <a:solidFill>
            <a:srgbClr val="0042FF"/>
          </a:solidFill>
          <a:ln w="6095">
            <a:noFill/>
          </a:ln>
        </p:spPr>
        <p:style>
          <a:lnRef idx="2">
            <a:srgbClr val="0042FF"/>
          </a:lnRef>
          <a:fillRef idx="1">
            <a:srgbClr val="0042FF"/>
          </a:fillRef>
          <a:effectRef idx="0">
            <a:srgbClr val="0042FF"/>
          </a:effectRef>
          <a:fontRef idx="minor">
            <a:srgbClr val="FFFFFF"/>
          </a:fontRef>
        </p:style>
        <p:txBody>
          <a:bodyP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1" name="Freeform 2472"/>
          <p:cNvSpPr/>
          <p:nvPr/>
        </p:nvSpPr>
        <p:spPr>
          <a:xfrm>
            <a:off x="2944946" y="2339093"/>
            <a:ext cx="1976629" cy="283465"/>
          </a:xfrm>
          <a:custGeom>
            <a:avLst/>
            <a:gdLst/>
            <a:ahLst/>
            <a:cxnLst/>
            <a:rect l="0" t="0" r="0" b="0"/>
            <a:pathLst>
              <a:path w="1976629" h="283465">
                <a:moveTo>
                  <a:pt x="1929385" y="283465"/>
                </a:moveTo>
                <a:lnTo>
                  <a:pt x="47244" y="283465"/>
                </a:lnTo>
                <a:cubicBezTo>
                  <a:pt x="21209" y="283465"/>
                  <a:pt x="0" y="262255"/>
                  <a:pt x="0" y="236220"/>
                </a:cubicBezTo>
                <a:lnTo>
                  <a:pt x="0" y="0"/>
                </a:lnTo>
                <a:lnTo>
                  <a:pt x="1976629" y="0"/>
                </a:lnTo>
                <a:lnTo>
                  <a:pt x="1976629" y="236220"/>
                </a:lnTo>
                <a:cubicBezTo>
                  <a:pt x="1976629" y="262255"/>
                  <a:pt x="1955419" y="283465"/>
                  <a:pt x="1929385" y="283465"/>
                </a:cubicBezTo>
                <a:close/>
              </a:path>
            </a:pathLst>
          </a:custGeom>
          <a:solidFill>
            <a:srgbClr val="0042FF"/>
          </a:solidFill>
          <a:ln w="6095">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52" name="Freeform 2473"/>
          <p:cNvSpPr/>
          <p:nvPr/>
        </p:nvSpPr>
        <p:spPr>
          <a:xfrm>
            <a:off x="3050102" y="2710950"/>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noFill/>
          <a:ln w="6095">
            <a:solidFill>
              <a:srgbClr val="0042FF"/>
            </a:solidFill>
          </a:ln>
          <a:extLst>
            <a:ext uri="{909E8E84-426E-40DD-AFC4-6F175D3DCCD1}">
              <a14:hiddenFill xmlns:a14="http://schemas.microsoft.com/office/drawing/2010/main">
                <a:solidFill>
                  <a:srgbClr val="E6E6E6"/>
                </a:solidFill>
              </a14:hiddenFill>
            </a:ext>
          </a:extLst>
        </p:spPr>
        <p:style>
          <a:lnRef idx="2">
            <a:srgbClr val="0042FF"/>
          </a:lnRef>
          <a:fillRef idx="1">
            <a:srgbClr val="0042FF"/>
          </a:fillRef>
          <a:effectRef idx="0">
            <a:srgbClr val="0042FF"/>
          </a:effectRef>
          <a:fontRef idx="minor">
            <a:srgbClr val="FFFFFF"/>
          </a:fontRef>
        </p:style>
        <p:txBody>
          <a:bodyPr lIns="0" rIns="0" tIns="0" bIns="0"/>
          <a:lstStyle/>
          <a:p>
            <a:pP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53" name="Freeform 2474"/>
          <p:cNvSpPr/>
          <p:nvPr/>
        </p:nvSpPr>
        <p:spPr>
          <a:xfrm>
            <a:off x="3956882" y="2710950"/>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noFill/>
          <a:ln w="6095">
            <a:solidFill>
              <a:srgbClr val="0042FF"/>
            </a:solidFill>
          </a:ln>
          <a:extLst>
            <a:ext uri="{909E8E84-426E-40DD-AFC4-6F175D3DCCD1}">
              <a14:hiddenFill xmlns:a14="http://schemas.microsoft.com/office/drawing/2010/main">
                <a:solidFill>
                  <a:srgbClr val="E6E6E6"/>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54" name="Freeform 2475"/>
          <p:cNvSpPr/>
          <p:nvPr/>
        </p:nvSpPr>
        <p:spPr>
          <a:xfrm>
            <a:off x="3050102" y="3058421"/>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noFill/>
          <a:ln w="6095">
            <a:solidFill>
              <a:srgbClr val="0042FF"/>
            </a:solidFill>
          </a:ln>
          <a:extLst>
            <a:ext uri="{909E8E84-426E-40DD-AFC4-6F175D3DCCD1}">
              <a14:hiddenFill xmlns:a14="http://schemas.microsoft.com/office/drawing/2010/main">
                <a:solidFill>
                  <a:srgbClr val="E6E6E6"/>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55" name="Freeform 2476"/>
          <p:cNvSpPr/>
          <p:nvPr/>
        </p:nvSpPr>
        <p:spPr>
          <a:xfrm>
            <a:off x="3944690" y="3055374"/>
            <a:ext cx="864108" cy="307848"/>
          </a:xfrm>
          <a:custGeom>
            <a:avLst/>
            <a:gdLst/>
            <a:ahLst/>
            <a:cxnLst/>
            <a:rect l="0" t="0" r="0" b="0"/>
            <a:pathLst>
              <a:path w="864108" h="307848">
                <a:moveTo>
                  <a:pt x="0" y="307848"/>
                </a:moveTo>
                <a:lnTo>
                  <a:pt x="864108" y="307848"/>
                </a:lnTo>
                <a:lnTo>
                  <a:pt x="864108" y="0"/>
                </a:lnTo>
                <a:lnTo>
                  <a:pt x="0" y="0"/>
                </a:lnTo>
                <a:lnTo>
                  <a:pt x="0" y="307848"/>
                </a:lnTo>
                <a:close/>
              </a:path>
            </a:pathLst>
          </a:custGeom>
          <a:noFill/>
          <a:ln w="6095">
            <a:solidFill>
              <a:srgbClr val="0042FF"/>
            </a:solidFill>
          </a:ln>
          <a:extLst>
            <a:ext uri="{909E8E84-426E-40DD-AFC4-6F175D3DCCD1}">
              <a14:hiddenFill xmlns:a14="http://schemas.microsoft.com/office/drawing/2010/main">
                <a:solidFill>
                  <a:srgbClr val="E6E6E6"/>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56" name="Freeform 2480"/>
          <p:cNvSpPr/>
          <p:nvPr/>
        </p:nvSpPr>
        <p:spPr>
          <a:xfrm>
            <a:off x="2935802" y="3529337"/>
            <a:ext cx="1976629" cy="283465"/>
          </a:xfrm>
          <a:custGeom>
            <a:avLst/>
            <a:gdLst/>
            <a:ahLst/>
            <a:cxnLst/>
            <a:rect l="0" t="0" r="0" b="0"/>
            <a:pathLst>
              <a:path w="1976629" h="283465">
                <a:moveTo>
                  <a:pt x="1929385" y="283465"/>
                </a:moveTo>
                <a:lnTo>
                  <a:pt x="47244" y="283465"/>
                </a:lnTo>
                <a:cubicBezTo>
                  <a:pt x="21209" y="283465"/>
                  <a:pt x="0" y="262256"/>
                  <a:pt x="0" y="236221"/>
                </a:cubicBezTo>
                <a:lnTo>
                  <a:pt x="0" y="0"/>
                </a:lnTo>
                <a:lnTo>
                  <a:pt x="1976629" y="0"/>
                </a:lnTo>
                <a:lnTo>
                  <a:pt x="1976629" y="236221"/>
                </a:lnTo>
                <a:cubicBezTo>
                  <a:pt x="1976629" y="262256"/>
                  <a:pt x="1955419" y="283465"/>
                  <a:pt x="1929385" y="283465"/>
                </a:cubicBezTo>
                <a:close/>
              </a:path>
            </a:pathLst>
          </a:custGeom>
          <a:solidFill>
            <a:srgbClr val="0042FF"/>
          </a:solidFill>
          <a:ln w="6095">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57" name="Freeform 2481"/>
          <p:cNvSpPr/>
          <p:nvPr/>
        </p:nvSpPr>
        <p:spPr>
          <a:xfrm>
            <a:off x="3031814" y="3895098"/>
            <a:ext cx="1758696" cy="297180"/>
          </a:xfrm>
          <a:custGeom>
            <a:avLst/>
            <a:gdLst/>
            <a:ahLst/>
            <a:cxnLst/>
            <a:rect l="0" t="0" r="0" b="0"/>
            <a:pathLst>
              <a:path w="1758696" h="297180">
                <a:moveTo>
                  <a:pt x="0" y="297180"/>
                </a:moveTo>
                <a:lnTo>
                  <a:pt x="1758696" y="297180"/>
                </a:lnTo>
                <a:lnTo>
                  <a:pt x="1758696" y="0"/>
                </a:lnTo>
                <a:lnTo>
                  <a:pt x="0" y="0"/>
                </a:lnTo>
                <a:lnTo>
                  <a:pt x="0" y="297180"/>
                </a:lnTo>
                <a:close/>
              </a:path>
            </a:pathLst>
          </a:custGeom>
          <a:noFill/>
          <a:ln w="6095">
            <a:solidFill>
              <a:srgbClr val="0042FF"/>
            </a:solidFill>
          </a:ln>
          <a:extLst>
            <a:ext uri="{909E8E84-426E-40DD-AFC4-6F175D3DCCD1}">
              <a14:hiddenFill xmlns:a14="http://schemas.microsoft.com/office/drawing/2010/main">
                <a:solidFill>
                  <a:srgbClr val="E6E6E6"/>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58" name="Freeform 2492"/>
          <p:cNvSpPr/>
          <p:nvPr/>
        </p:nvSpPr>
        <p:spPr>
          <a:xfrm>
            <a:off x="3031814" y="4285241"/>
            <a:ext cx="1758696" cy="297180"/>
          </a:xfrm>
          <a:custGeom>
            <a:avLst/>
            <a:gdLst/>
            <a:ahLst/>
            <a:cxnLst/>
            <a:rect l="0" t="0" r="0" b="0"/>
            <a:pathLst>
              <a:path w="1758696" h="297180">
                <a:moveTo>
                  <a:pt x="0" y="297180"/>
                </a:moveTo>
                <a:lnTo>
                  <a:pt x="1758696" y="297180"/>
                </a:lnTo>
                <a:lnTo>
                  <a:pt x="1758696" y="0"/>
                </a:lnTo>
                <a:lnTo>
                  <a:pt x="0" y="0"/>
                </a:lnTo>
                <a:lnTo>
                  <a:pt x="0" y="297180"/>
                </a:lnTo>
                <a:close/>
              </a:path>
            </a:pathLst>
          </a:custGeom>
          <a:noFill/>
          <a:ln w="6095">
            <a:solidFill>
              <a:srgbClr val="0042FF"/>
            </a:solidFill>
          </a:ln>
          <a:extLst>
            <a:ext uri="{909E8E84-426E-40DD-AFC4-6F175D3DCCD1}">
              <a14:hiddenFill xmlns:a14="http://schemas.microsoft.com/office/drawing/2010/main">
                <a:solidFill>
                  <a:srgbClr val="E6E6E6"/>
                </a:solidFill>
              </a14:hiddenFill>
            </a:ext>
          </a:ex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59" name="Rectangle 2516"/>
          <p:cNvSpPr/>
          <p:nvPr/>
        </p:nvSpPr>
        <p:spPr>
          <a:xfrm>
            <a:off x="3507049" y="1579896"/>
            <a:ext cx="914400" cy="285841"/>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800" b="1" spc="0" baseline="0" dirty="0">
                <a:solidFill>
                  <a:srgbClr val="FFFFFF"/>
                </a:solidFill>
                <a:latin typeface="微软雅黑"/>
                <a:ea typeface="微软雅黑"/>
                <a:cs typeface="微软雅黑"/>
              </a:rPr>
              <a:t>精准定向</a:t>
            </a:r>
            <a:endParaRPr lang="en-US" sz="1800" b="1" spc="0" baseline="0" dirty="0">
              <a:solidFill>
                <a:srgbClr val="FFFFFF"/>
              </a:solidFill>
              <a:latin typeface="微软雅黑"/>
              <a:ea typeface="微软雅黑"/>
              <a:cs typeface="微软雅黑"/>
            </a:endParaRPr>
          </a:p>
        </p:txBody>
      </p:sp>
      <p:sp>
        <p:nvSpPr>
          <p:cNvPr id="260" name="Rectangle 2517"/>
          <p:cNvSpPr/>
          <p:nvPr/>
        </p:nvSpPr>
        <p:spPr>
          <a:xfrm>
            <a:off x="3628969" y="2388816"/>
            <a:ext cx="609600" cy="190559"/>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200" b="1" spc="0" baseline="0" dirty="0">
                <a:solidFill>
                  <a:srgbClr val="FFFFFF"/>
                </a:solidFill>
                <a:latin typeface="微软雅黑"/>
                <a:ea typeface="微软雅黑"/>
                <a:cs typeface="微软雅黑"/>
              </a:rPr>
              <a:t>搜索场景</a:t>
            </a:r>
            <a:endParaRPr lang="en-US" sz="1200" b="1" spc="0" baseline="0" dirty="0">
              <a:solidFill>
                <a:srgbClr val="FFFFFF"/>
              </a:solidFill>
              <a:latin typeface="微软雅黑"/>
              <a:ea typeface="微软雅黑"/>
              <a:cs typeface="微软雅黑"/>
            </a:endParaRPr>
          </a:p>
        </p:txBody>
      </p:sp>
      <p:sp>
        <p:nvSpPr>
          <p:cNvPr id="261" name="Rectangle 2518"/>
          <p:cNvSpPr/>
          <p:nvPr/>
        </p:nvSpPr>
        <p:spPr>
          <a:xfrm>
            <a:off x="3253430" y="2776720"/>
            <a:ext cx="1287145" cy="184150"/>
          </a:xfrm>
          <a:prstGeom prst="rect">
            <a:avLst/>
          </a:prstGeom>
        </p:spPr>
        <p:txBody>
          <a:bodyPr wrap="none" lIns="0" tIns="0" rIns="0" bIns="0">
            <a:spAutoFit/>
          </a:bodyPr>
          <a:lstStyle/>
          <a:p>
            <a:pPr marL="0">
              <a:tabLst>
                <a:tab pos="982345" algn="l"/>
              </a:tabLst>
              <a:defRPr>
                <a:latin typeface="微软雅黑"/>
                <a:ea typeface="微软雅黑"/>
                <a:cs typeface="微软雅黑"/>
              </a:defRPr>
            </a:pPr>
            <a:r>
              <a:rPr lang="en-US" sz="1200" spc="0" baseline="0" dirty="0">
                <a:solidFill>
                  <a:srgbClr val="0042FF"/>
                </a:solidFill>
                <a:latin typeface="微软雅黑"/>
                <a:ea typeface="微软雅黑"/>
                <a:cs typeface="微软雅黑"/>
              </a:rPr>
              <a:t>关键词	词包</a:t>
            </a:r>
            <a:endParaRPr lang="en-US" sz="1200" spc="0" baseline="0" dirty="0">
              <a:solidFill>
                <a:srgbClr val="0042FF"/>
              </a:solidFill>
              <a:latin typeface="微软雅黑"/>
              <a:ea typeface="微软雅黑"/>
              <a:cs typeface="微软雅黑"/>
            </a:endParaRPr>
          </a:p>
        </p:txBody>
      </p:sp>
      <p:sp>
        <p:nvSpPr>
          <p:cNvPr id="262" name="Rectangle 2519"/>
          <p:cNvSpPr/>
          <p:nvPr/>
        </p:nvSpPr>
        <p:spPr>
          <a:xfrm>
            <a:off x="3329630" y="3121607"/>
            <a:ext cx="1194435" cy="184150"/>
          </a:xfrm>
          <a:prstGeom prst="rect">
            <a:avLst/>
          </a:prstGeom>
        </p:spPr>
        <p:txBody>
          <a:bodyPr wrap="none" lIns="0" tIns="0" rIns="0" bIns="0">
            <a:spAutoFit/>
          </a:bodyPr>
          <a:lstStyle/>
          <a:p>
            <a:pPr marL="0">
              <a:tabLst>
                <a:tab pos="894715" algn="l"/>
              </a:tabLst>
              <a:defRPr>
                <a:latin typeface="微软雅黑"/>
                <a:ea typeface="微软雅黑"/>
                <a:cs typeface="微软雅黑"/>
              </a:defRPr>
            </a:pPr>
            <a:r>
              <a:rPr lang="en-US" sz="1200" spc="0" baseline="0" dirty="0">
                <a:solidFill>
                  <a:srgbClr val="0042FF"/>
                </a:solidFill>
                <a:latin typeface="微软雅黑"/>
                <a:ea typeface="微软雅黑"/>
                <a:cs typeface="微软雅黑"/>
              </a:rPr>
              <a:t>网址	</a:t>
            </a:r>
            <a:r>
              <a:rPr lang="en-US" sz="1820" spc="0" baseline="2000" dirty="0">
                <a:solidFill>
                  <a:srgbClr val="0042FF"/>
                </a:solidFill>
                <a:latin typeface="微软雅黑"/>
                <a:ea typeface="微软雅黑"/>
                <a:cs typeface="微软雅黑"/>
              </a:rPr>
              <a:t>商品</a:t>
            </a:r>
            <a:endParaRPr lang="en-US" sz="1820" spc="0" baseline="2000" dirty="0">
              <a:solidFill>
                <a:srgbClr val="0042FF"/>
              </a:solidFill>
              <a:latin typeface="微软雅黑"/>
              <a:ea typeface="微软雅黑"/>
              <a:cs typeface="微软雅黑"/>
            </a:endParaRPr>
          </a:p>
        </p:txBody>
      </p:sp>
      <p:sp>
        <p:nvSpPr>
          <p:cNvPr id="263" name="Rectangle 2520"/>
          <p:cNvSpPr/>
          <p:nvPr/>
        </p:nvSpPr>
        <p:spPr>
          <a:xfrm>
            <a:off x="3618808" y="3573345"/>
            <a:ext cx="609600" cy="190559"/>
          </a:xfrm>
          <a:prstGeom prst="rect">
            <a:avLst/>
          </a:prstGeom>
        </p:spPr>
        <p:txBody>
          <a:bodyPr wrap="none" lIns="0" tIns="0" rIns="0" bIns="0">
            <a:spAutoFit/>
          </a:bodyPr>
          <a:lstStyle/>
          <a:p>
            <a:pPr marL="0">
              <a:defRPr>
                <a:solidFill>
                  <a:srgbClr val="FFFFFF"/>
                </a:solidFill>
                <a:latin typeface="微软雅黑"/>
                <a:ea typeface="微软雅黑"/>
                <a:cs typeface="微软雅黑"/>
              </a:defRPr>
            </a:pPr>
            <a:r>
              <a:rPr lang="en-US" sz="1200" b="1" spc="0" baseline="0" dirty="0">
                <a:solidFill>
                  <a:srgbClr val="FFFFFF"/>
                </a:solidFill>
                <a:latin typeface="微软雅黑"/>
                <a:ea typeface="微软雅黑"/>
                <a:cs typeface="微软雅黑"/>
              </a:rPr>
              <a:t>推荐场景</a:t>
            </a:r>
            <a:endParaRPr lang="en-US" sz="1200" b="1" spc="0" baseline="0" dirty="0">
              <a:solidFill>
                <a:srgbClr val="FFFFFF"/>
              </a:solidFill>
              <a:latin typeface="微软雅黑"/>
              <a:ea typeface="微软雅黑"/>
              <a:cs typeface="微软雅黑"/>
            </a:endParaRPr>
          </a:p>
        </p:txBody>
      </p:sp>
      <p:sp>
        <p:nvSpPr>
          <p:cNvPr id="264" name="Rectangle 2521"/>
          <p:cNvSpPr/>
          <p:nvPr/>
        </p:nvSpPr>
        <p:spPr>
          <a:xfrm>
            <a:off x="3606617" y="3958791"/>
            <a:ext cx="609600" cy="184150"/>
          </a:xfrm>
          <a:prstGeom prst="rect">
            <a:avLst/>
          </a:prstGeom>
        </p:spPr>
        <p:txBody>
          <a:bodyPr wrap="none" lIns="0" tIns="0" rIns="0" bIns="0">
            <a:spAutoFit/>
          </a:bodyPr>
          <a:lstStyle/>
          <a:p>
            <a:pPr marL="0">
              <a:defRPr>
                <a:latin typeface="微软雅黑"/>
                <a:ea typeface="微软雅黑"/>
                <a:cs typeface="微软雅黑"/>
              </a:defRPr>
            </a:pPr>
            <a:r>
              <a:rPr lang="en-US" sz="1200" spc="0" baseline="0" dirty="0">
                <a:solidFill>
                  <a:srgbClr val="0042FF"/>
                </a:solidFill>
                <a:latin typeface="微软雅黑"/>
                <a:ea typeface="微软雅黑"/>
                <a:cs typeface="微软雅黑"/>
              </a:rPr>
              <a:t>用户标签</a:t>
            </a:r>
            <a:endParaRPr lang="en-US" sz="1200" spc="0" baseline="0" dirty="0">
              <a:solidFill>
                <a:srgbClr val="0042FF"/>
              </a:solidFill>
              <a:latin typeface="微软雅黑"/>
              <a:ea typeface="微软雅黑"/>
              <a:cs typeface="微软雅黑"/>
            </a:endParaRPr>
          </a:p>
        </p:txBody>
      </p:sp>
      <p:sp>
        <p:nvSpPr>
          <p:cNvPr id="265" name="Rectangle 2528"/>
          <p:cNvSpPr/>
          <p:nvPr/>
        </p:nvSpPr>
        <p:spPr>
          <a:xfrm>
            <a:off x="3530417" y="4342077"/>
            <a:ext cx="762000" cy="184150"/>
          </a:xfrm>
          <a:prstGeom prst="rect">
            <a:avLst/>
          </a:prstGeom>
        </p:spPr>
        <p:txBody>
          <a:bodyPr wrap="none" lIns="0" tIns="0" rIns="0" bIns="0">
            <a:spAutoFit/>
          </a:bodyPr>
          <a:lstStyle/>
          <a:p>
            <a:pPr marL="0">
              <a:defRPr>
                <a:latin typeface="微软雅黑"/>
                <a:ea typeface="微软雅黑"/>
                <a:cs typeface="微软雅黑"/>
              </a:defRPr>
            </a:pPr>
            <a:r>
              <a:rPr lang="en-US" sz="1200" spc="0" baseline="0" dirty="0">
                <a:solidFill>
                  <a:srgbClr val="0042FF"/>
                </a:solidFill>
                <a:latin typeface="微软雅黑"/>
                <a:ea typeface="微软雅黑"/>
                <a:cs typeface="微软雅黑"/>
              </a:rPr>
              <a:t>定制人群包</a:t>
            </a:r>
            <a:endParaRPr lang="en-US" sz="1200" spc="0" baseline="0" dirty="0">
              <a:solidFill>
                <a:srgbClr val="0042FF"/>
              </a:solidFill>
              <a:latin typeface="微软雅黑"/>
              <a:ea typeface="微软雅黑"/>
              <a:cs typeface="微软雅黑"/>
            </a:endParaRPr>
          </a:p>
        </p:txBody>
      </p:sp>
      <p:sp>
        <p:nvSpPr>
          <p:cNvPr id="283" name="文本框 282"/>
          <p:cNvSpPr txBox="1"/>
          <p:nvPr/>
        </p:nvSpPr>
        <p:spPr>
          <a:xfrm>
            <a:off x="1163955" y="5001895"/>
            <a:ext cx="2814320" cy="511810"/>
          </a:xfrm>
          <a:prstGeom prst="rect">
            <a:avLst/>
          </a:prstGeom>
          <a:noFill/>
          <a:effectLst/>
        </p:spPr>
        <p:txBody>
          <a:bodyPr wrap="square" lIns="86868" tIns="43434" rIns="86868" bIns="43434">
            <a:spAutoFit/>
          </a:bodyPr>
          <a:lstStyle/>
          <a:p>
            <a:pPr marL="228600" algn="ctr">
              <a:defRPr>
                <a:solidFill>
                  <a:srgbClr val="FFFFFF"/>
                </a:solidFill>
                <a:latin typeface="微软雅黑"/>
                <a:ea typeface="微软雅黑"/>
                <a:cs typeface="微软雅黑"/>
              </a:defRPr>
            </a:pPr>
            <a:r>
              <a:rPr lang="en-US" sz="1330" b="1" dirty="0">
                <a:solidFill>
                  <a:srgbClr val="FFFFFF"/>
                </a:solidFill>
                <a:latin typeface="微软雅黑"/>
                <a:ea typeface="微软雅黑"/>
                <a:cs typeface="微软雅黑"/>
                <a:sym typeface="微软雅黑"/>
              </a:rPr>
              <a:t>全链路数据打通</a:t>
            </a:r>
            <a:endParaRPr lang="en-US" sz="1330" b="1" spc="0" baseline="0" dirty="0">
              <a:solidFill>
                <a:srgbClr val="FFFFFF"/>
              </a:solidFill>
              <a:latin typeface="微软雅黑"/>
              <a:ea typeface="微软雅黑"/>
              <a:cs typeface="微软雅黑"/>
            </a:endParaRPr>
          </a:p>
          <a:p>
            <a:pPr marL="0" algn="ctr">
              <a:lnSpc>
                <a:spcPts val="1725"/>
              </a:lnSpc>
              <a:defRPr>
                <a:solidFill>
                  <a:srgbClr val="FFFFFF"/>
                </a:solidFill>
                <a:latin typeface="微软雅黑"/>
                <a:ea typeface="微软雅黑"/>
                <a:cs typeface="微软雅黑"/>
              </a:defRPr>
            </a:pPr>
            <a:r>
              <a:rPr lang="en-US" sz="1330" b="1" dirty="0">
                <a:solidFill>
                  <a:srgbClr val="FFFFFF"/>
                </a:solidFill>
                <a:latin typeface="微软雅黑"/>
                <a:ea typeface="微软雅黑"/>
                <a:cs typeface="微软雅黑"/>
                <a:sym typeface="微软雅黑"/>
              </a:rPr>
              <a:t>驱动投放效果持续优化</a:t>
            </a:r>
            <a:endParaRPr lang="zh-CN" altLang="en-US" sz="1330" b="0" dirty="0">
              <a:solidFill>
                <a:srgbClr val="FFFFFF"/>
              </a:solidFill>
              <a:effectLst/>
              <a:latin typeface="微软雅黑"/>
              <a:ea typeface="微软雅黑"/>
              <a:cs typeface="微软雅黑"/>
            </a:endParaRPr>
          </a:p>
        </p:txBody>
      </p:sp>
      <p:pic>
        <p:nvPicPr>
          <p:cNvPr id="301" name="图片 300" descr="saas (1)"/>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500505" y="3886200"/>
            <a:ext cx="695325" cy="695325"/>
          </a:xfrm>
          <a:prstGeom prst="rect">
            <a:avLst/>
          </a:prstGeom>
        </p:spPr>
      </p:pic>
      <p:grpSp>
        <p:nvGrpSpPr>
          <p:cNvPr id="6" name="组合 5"/>
          <p:cNvGrpSpPr/>
          <p:nvPr/>
        </p:nvGrpSpPr>
        <p:grpSpPr>
          <a:xfrm>
            <a:off x="2585085" y="1475740"/>
            <a:ext cx="482600" cy="382905"/>
            <a:chOff x="3998" y="2579"/>
            <a:chExt cx="760" cy="603"/>
          </a:xfrm>
        </p:grpSpPr>
        <p:sp>
          <p:nvSpPr>
            <p:cNvPr id="287" name="菱形 286"/>
            <p:cNvSpPr/>
            <p:nvPr/>
          </p:nvSpPr>
          <p:spPr>
            <a:xfrm rot="10800000" flipV="1">
              <a:off x="4191"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 name="菱形 2"/>
            <p:cNvSpPr/>
            <p:nvPr/>
          </p:nvSpPr>
          <p:spPr>
            <a:xfrm rot="10800000" flipV="1">
              <a:off x="3998"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24" name="组合 23"/>
          <p:cNvGrpSpPr/>
          <p:nvPr/>
        </p:nvGrpSpPr>
        <p:grpSpPr>
          <a:xfrm>
            <a:off x="4785360" y="1475740"/>
            <a:ext cx="482600" cy="382905"/>
            <a:chOff x="3998" y="2579"/>
            <a:chExt cx="760" cy="603"/>
          </a:xfrm>
        </p:grpSpPr>
        <p:sp>
          <p:nvSpPr>
            <p:cNvPr id="25" name="菱形 24"/>
            <p:cNvSpPr/>
            <p:nvPr/>
          </p:nvSpPr>
          <p:spPr>
            <a:xfrm rot="10800000" flipV="1">
              <a:off x="4191"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26" name="菱形 25"/>
            <p:cNvSpPr/>
            <p:nvPr/>
          </p:nvSpPr>
          <p:spPr>
            <a:xfrm rot="10800000" flipV="1">
              <a:off x="3998"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29" name="组合 28"/>
          <p:cNvGrpSpPr/>
          <p:nvPr/>
        </p:nvGrpSpPr>
        <p:grpSpPr>
          <a:xfrm>
            <a:off x="6841490" y="1475740"/>
            <a:ext cx="482600" cy="382905"/>
            <a:chOff x="3998" y="2579"/>
            <a:chExt cx="760" cy="603"/>
          </a:xfrm>
        </p:grpSpPr>
        <p:sp>
          <p:nvSpPr>
            <p:cNvPr id="30" name="菱形 29"/>
            <p:cNvSpPr/>
            <p:nvPr/>
          </p:nvSpPr>
          <p:spPr>
            <a:xfrm rot="10800000" flipV="1">
              <a:off x="4191"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1" name="菱形 30"/>
            <p:cNvSpPr/>
            <p:nvPr/>
          </p:nvSpPr>
          <p:spPr>
            <a:xfrm rot="10800000" flipV="1">
              <a:off x="3998"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32" name="组合 31"/>
          <p:cNvGrpSpPr/>
          <p:nvPr/>
        </p:nvGrpSpPr>
        <p:grpSpPr>
          <a:xfrm>
            <a:off x="8981440" y="1475740"/>
            <a:ext cx="482600" cy="382905"/>
            <a:chOff x="3998" y="2579"/>
            <a:chExt cx="760" cy="603"/>
          </a:xfrm>
        </p:grpSpPr>
        <p:sp>
          <p:nvSpPr>
            <p:cNvPr id="33" name="菱形 32"/>
            <p:cNvSpPr/>
            <p:nvPr/>
          </p:nvSpPr>
          <p:spPr>
            <a:xfrm rot="10800000" flipV="1">
              <a:off x="4191"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4" name="菱形 33"/>
            <p:cNvSpPr/>
            <p:nvPr/>
          </p:nvSpPr>
          <p:spPr>
            <a:xfrm rot="10800000" flipV="1">
              <a:off x="3998"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37" name="组合 36"/>
          <p:cNvGrpSpPr/>
          <p:nvPr/>
        </p:nvGrpSpPr>
        <p:grpSpPr>
          <a:xfrm flipH="1">
            <a:off x="782955" y="5114290"/>
            <a:ext cx="482600" cy="382905"/>
            <a:chOff x="3998" y="2579"/>
            <a:chExt cx="760" cy="603"/>
          </a:xfrm>
        </p:grpSpPr>
        <p:sp>
          <p:nvSpPr>
            <p:cNvPr id="38" name="菱形 37"/>
            <p:cNvSpPr/>
            <p:nvPr/>
          </p:nvSpPr>
          <p:spPr>
            <a:xfrm rot="10800000" flipV="1">
              <a:off x="4191"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39" name="菱形 38"/>
            <p:cNvSpPr/>
            <p:nvPr/>
          </p:nvSpPr>
          <p:spPr>
            <a:xfrm rot="10800000" flipV="1">
              <a:off x="3998"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40" name="组合 39"/>
          <p:cNvGrpSpPr/>
          <p:nvPr/>
        </p:nvGrpSpPr>
        <p:grpSpPr>
          <a:xfrm flipH="1">
            <a:off x="4220845" y="5114290"/>
            <a:ext cx="482600" cy="382905"/>
            <a:chOff x="3998" y="2579"/>
            <a:chExt cx="760" cy="603"/>
          </a:xfrm>
        </p:grpSpPr>
        <p:sp>
          <p:nvSpPr>
            <p:cNvPr id="41" name="菱形 40"/>
            <p:cNvSpPr/>
            <p:nvPr/>
          </p:nvSpPr>
          <p:spPr>
            <a:xfrm rot="10800000" flipV="1">
              <a:off x="4191"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2" name="菱形 41"/>
            <p:cNvSpPr/>
            <p:nvPr/>
          </p:nvSpPr>
          <p:spPr>
            <a:xfrm rot="10800000" flipV="1">
              <a:off x="3998"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43" name="组合 42"/>
          <p:cNvGrpSpPr/>
          <p:nvPr/>
        </p:nvGrpSpPr>
        <p:grpSpPr>
          <a:xfrm flipH="1">
            <a:off x="7856220" y="5114290"/>
            <a:ext cx="482600" cy="382905"/>
            <a:chOff x="3998" y="2579"/>
            <a:chExt cx="760" cy="603"/>
          </a:xfrm>
        </p:grpSpPr>
        <p:sp>
          <p:nvSpPr>
            <p:cNvPr id="44" name="菱形 43"/>
            <p:cNvSpPr/>
            <p:nvPr/>
          </p:nvSpPr>
          <p:spPr>
            <a:xfrm rot="10800000" flipV="1">
              <a:off x="4191"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45" name="菱形 44"/>
            <p:cNvSpPr/>
            <p:nvPr/>
          </p:nvSpPr>
          <p:spPr>
            <a:xfrm rot="10800000" flipV="1">
              <a:off x="3998" y="2579"/>
              <a:ext cx="567" cy="603"/>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lstStyle/>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cxnSp>
        <p:nvCxnSpPr>
          <p:cNvPr id="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6" name="组合 45"/>
          <p:cNvGrpSpPr/>
          <p:nvPr/>
        </p:nvGrpSpPr>
        <p:grpSpPr>
          <a:xfrm>
            <a:off x="8738235" y="348615"/>
            <a:ext cx="3219450" cy="332740"/>
            <a:chOff x="13761" y="549"/>
            <a:chExt cx="5070" cy="524"/>
          </a:xfrm>
        </p:grpSpPr>
        <p:pic>
          <p:nvPicPr>
            <p:cNvPr id="47" name="图片 46"/>
            <p:cNvPicPr>
              <a:picLocks noChangeAspect="1"/>
            </p:cNvPicPr>
            <p:nvPr userDrawn="1"/>
          </p:nvPicPr>
          <p:blipFill>
            <a:blip r:embed="rId8"/>
            <a:srcRect l="17002" t="-1765" r="56499" b="-1176"/>
            <a:stretch>
              <a:fillRect/>
            </a:stretch>
          </p:blipFill>
          <p:spPr>
            <a:xfrm>
              <a:off x="13761" y="549"/>
              <a:ext cx="1582" cy="525"/>
            </a:xfrm>
            <a:prstGeom prst="rect">
              <a:avLst/>
            </a:prstGeom>
          </p:spPr>
        </p:pic>
        <p:sp>
          <p:nvSpPr>
            <p:cNvPr id="48" name="文本框 4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a:t>
            </a:r>
            <a:r>
              <a:rPr sz="2500">
                <a:solidFill>
                  <a:srgbClr val="0042FF"/>
                </a:solidFill>
                <a:effectLst/>
                <a:latin typeface="微软雅黑"/>
                <a:ea typeface="微软雅黑"/>
                <a:cs typeface="微软雅黑"/>
              </a:rPr>
              <a:t> </a:t>
            </a:r>
            <a:r>
              <a:rPr lang="zh-CN" altLang="en-US" sz="2500">
                <a:solidFill>
                  <a:srgbClr val="383838"/>
                </a:solidFill>
                <a:effectLst/>
                <a:latin typeface="微软雅黑"/>
                <a:ea typeface="微软雅黑"/>
                <a:cs typeface="微软雅黑"/>
              </a:rPr>
              <a:t>会员体系框架流程</a:t>
            </a:r>
            <a:endParaRPr lang="zh-CN" altLang="en-US"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501" name="梯形 500"/>
          <p:cNvSpPr/>
          <p:nvPr/>
        </p:nvSpPr>
        <p:spPr>
          <a:xfrm>
            <a:off x="334963" y="5653312"/>
            <a:ext cx="11557000" cy="507201"/>
          </a:xfrm>
          <a:prstGeom prst="trapezoid">
            <a:avLst>
              <a:gd name="adj" fmla="val 140533"/>
            </a:avLst>
          </a:prstGeom>
          <a:gradFill>
            <a:gsLst>
              <a:gs pos="38000">
                <a:srgbClr val="3368FF">
                  <a:alpha val="0"/>
                </a:srgbClr>
              </a:gs>
              <a:gs pos="100000">
                <a:srgbClr val="3368FF"/>
              </a:gs>
            </a:gsLst>
            <a:lin ang="5400000" scaled="0"/>
          </a:gradFill>
          <a:ln>
            <a:no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502" name="矩形: 圆角 501"/>
          <p:cNvSpPr/>
          <p:nvPr/>
        </p:nvSpPr>
        <p:spPr>
          <a:xfrm>
            <a:off x="334963" y="6166121"/>
            <a:ext cx="11557000" cy="386443"/>
          </a:xfrm>
          <a:prstGeom prst="roundRect">
            <a:avLst>
              <a:gd name="adj" fmla="val 5940"/>
            </a:avLst>
          </a:prstGeom>
          <a:gradFill>
            <a:gsLst>
              <a:gs pos="100000">
                <a:srgbClr val="3368FF"/>
              </a:gs>
              <a:gs pos="0">
                <a:srgbClr val="0042FF"/>
              </a:gs>
            </a:gsLst>
            <a:lin ang="2700000" scaled="0"/>
          </a:gradFill>
          <a:ln w="38100">
            <a:noFill/>
          </a:ln>
          <a:effectLst>
            <a:outerShdw blurRad="190500" dist="50800" dir="5400000" sx="101000" sy="101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effectLst/>
              <a:latin typeface="微软雅黑"/>
              <a:ea typeface="微软雅黑"/>
              <a:cs typeface="微软雅黑"/>
            </a:endParaRPr>
          </a:p>
        </p:txBody>
      </p:sp>
      <p:sp>
        <p:nvSpPr>
          <p:cNvPr id="503" name="文本框 502"/>
          <p:cNvSpPr txBox="1"/>
          <p:nvPr/>
        </p:nvSpPr>
        <p:spPr>
          <a:xfrm>
            <a:off x="3240314" y="6183233"/>
            <a:ext cx="2997200" cy="369332"/>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en-US" altLang="zh-CN" dirty="0">
                <a:solidFill>
                  <a:srgbClr val="FFFFFF"/>
                </a:solidFill>
                <a:latin typeface="微软雅黑"/>
                <a:ea typeface="微软雅黑"/>
                <a:cs typeface="微软雅黑"/>
              </a:rPr>
              <a:t>TRR </a:t>
            </a:r>
            <a:r>
              <a:rPr lang="zh-CN" altLang="en-US" dirty="0">
                <a:solidFill>
                  <a:srgbClr val="FFFFFF"/>
                </a:solidFill>
                <a:latin typeface="微软雅黑"/>
                <a:ea typeface="微软雅黑"/>
                <a:cs typeface="微软雅黑"/>
              </a:rPr>
              <a:t>快时尚品牌策略洞察</a:t>
            </a:r>
            <a:endParaRPr lang="zh-CN" altLang="en-US" dirty="0">
              <a:solidFill>
                <a:srgbClr val="FFFFFF"/>
              </a:solidFill>
              <a:latin typeface="微软雅黑"/>
              <a:ea typeface="微软雅黑"/>
              <a:cs typeface="微软雅黑"/>
            </a:endParaRPr>
          </a:p>
        </p:txBody>
      </p:sp>
      <p:sp>
        <p:nvSpPr>
          <p:cNvPr id="505" name="文本框 504"/>
          <p:cNvSpPr txBox="1"/>
          <p:nvPr/>
        </p:nvSpPr>
        <p:spPr>
          <a:xfrm>
            <a:off x="6160245" y="6236952"/>
            <a:ext cx="3862938" cy="307777"/>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建设基于</a:t>
            </a:r>
            <a:r>
              <a:rPr lang="en-US" altLang="zh-CN" sz="1400" dirty="0">
                <a:solidFill>
                  <a:srgbClr val="FFFFFF"/>
                </a:solidFill>
                <a:latin typeface="微软雅黑"/>
                <a:ea typeface="微软雅黑"/>
                <a:cs typeface="微软雅黑"/>
              </a:rPr>
              <a:t>AARRR</a:t>
            </a:r>
            <a:r>
              <a:rPr lang="zh-CN" altLang="en-US" sz="1400" dirty="0">
                <a:solidFill>
                  <a:srgbClr val="FFFFFF"/>
                </a:solidFill>
                <a:latin typeface="微软雅黑"/>
                <a:ea typeface="微软雅黑"/>
                <a:cs typeface="微软雅黑"/>
              </a:rPr>
              <a:t>的会员运营体系 </a:t>
            </a:r>
            <a:endParaRPr lang="zh-CN" altLang="en-US" sz="1400" dirty="0">
              <a:solidFill>
                <a:srgbClr val="FFFFFF"/>
              </a:solidFill>
              <a:latin typeface="微软雅黑"/>
              <a:ea typeface="微软雅黑"/>
              <a:cs typeface="微软雅黑"/>
            </a:endParaRPr>
          </a:p>
        </p:txBody>
      </p:sp>
      <p:cxnSp>
        <p:nvCxnSpPr>
          <p:cNvPr id="4" name="直接箭头连接符 3"/>
          <p:cNvCxnSpPr/>
          <p:nvPr/>
        </p:nvCxnSpPr>
        <p:spPr>
          <a:xfrm>
            <a:off x="1129053" y="1570320"/>
            <a:ext cx="0" cy="355895"/>
          </a:xfrm>
          <a:prstGeom prst="straightConnector1">
            <a:avLst/>
          </a:prstGeom>
          <a:ln>
            <a:solidFill>
              <a:srgbClr val="DCDCDC"/>
            </a:solidFill>
            <a:prstDash val="dash"/>
            <a:tailEnd type="triangle"/>
          </a:ln>
        </p:spPr>
        <p:style>
          <a:lnRef idx="1">
            <a:srgbClr val="0042FF"/>
          </a:lnRef>
          <a:fillRef idx="0">
            <a:srgbClr val="0042FF"/>
          </a:fillRef>
          <a:effectRef idx="0">
            <a:srgbClr val="0042FF"/>
          </a:effectRef>
          <a:fontRef idx="minor">
            <a:srgbClr val="383838"/>
          </a:fontRef>
        </p:style>
      </p:cxnSp>
      <p:sp>
        <p:nvSpPr>
          <p:cNvPr id="7" name="矩形 6"/>
          <p:cNvSpPr/>
          <p:nvPr/>
        </p:nvSpPr>
        <p:spPr>
          <a:xfrm>
            <a:off x="639445" y="1080770"/>
            <a:ext cx="998855" cy="417830"/>
          </a:xfrm>
          <a:prstGeom prst="rect">
            <a:avLst/>
          </a:prstGeom>
          <a:solidFill>
            <a:srgbClr val="0042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r>
              <a:rPr lang="zh-CN" altLang="en-US" sz="1200" dirty="0">
                <a:solidFill>
                  <a:srgbClr val="FFFFFF"/>
                </a:solidFill>
                <a:effectLst/>
                <a:latin typeface="微软雅黑"/>
                <a:ea typeface="微软雅黑"/>
                <a:cs typeface="微软雅黑"/>
              </a:rPr>
              <a:t>用户触达</a:t>
            </a:r>
            <a:endParaRPr lang="zh-CN" altLang="en-US" sz="1200" dirty="0">
              <a:solidFill>
                <a:srgbClr val="FFFFFF"/>
              </a:solidFill>
              <a:effectLst/>
              <a:latin typeface="微软雅黑"/>
              <a:ea typeface="微软雅黑"/>
              <a:cs typeface="微软雅黑"/>
            </a:endParaRPr>
          </a:p>
        </p:txBody>
      </p:sp>
      <p:sp>
        <p:nvSpPr>
          <p:cNvPr id="8" name="矩形 7"/>
          <p:cNvSpPr/>
          <p:nvPr/>
        </p:nvSpPr>
        <p:spPr>
          <a:xfrm>
            <a:off x="4915535" y="1484630"/>
            <a:ext cx="1548000"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数字媒体广告投放</a:t>
            </a:r>
            <a:endParaRPr lang="zh-CN" altLang="en-US" sz="1100">
              <a:solidFill>
                <a:srgbClr val="383838"/>
              </a:solidFill>
              <a:latin typeface="微软雅黑"/>
              <a:ea typeface="微软雅黑"/>
              <a:cs typeface="微软雅黑"/>
              <a:sym typeface="微软雅黑"/>
            </a:endParaRPr>
          </a:p>
        </p:txBody>
      </p:sp>
      <p:sp>
        <p:nvSpPr>
          <p:cNvPr id="9" name="矩形 8"/>
          <p:cNvSpPr/>
          <p:nvPr/>
        </p:nvSpPr>
        <p:spPr>
          <a:xfrm>
            <a:off x="1901190" y="1110615"/>
            <a:ext cx="2084705" cy="712470"/>
          </a:xfrm>
          <a:prstGeom prst="rect">
            <a:avLst/>
          </a:prstGeom>
          <a:solidFill>
            <a:srgbClr val="E6E6E6">
              <a:alpha val="5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 name="文本框 15"/>
          <p:cNvSpPr txBox="1"/>
          <p:nvPr/>
        </p:nvSpPr>
        <p:spPr>
          <a:xfrm>
            <a:off x="2195195" y="1121410"/>
            <a:ext cx="795020" cy="275590"/>
          </a:xfrm>
          <a:prstGeom prst="rect">
            <a:avLst/>
          </a:prstGeom>
          <a:noFill/>
        </p:spPr>
        <p:txBody>
          <a:bodyPr wrap="none" rtlCol="0">
            <a:spAutoFit/>
          </a:bodyPr>
          <a:lstStyle/>
          <a:p>
            <a:pPr>
              <a:defRPr>
                <a:latin typeface="微软雅黑"/>
                <a:ea typeface="微软雅黑"/>
                <a:cs typeface="微软雅黑"/>
              </a:defRPr>
            </a:pPr>
            <a:r>
              <a:rPr lang="zh-CN" altLang="en-US" sz="1200" b="1" dirty="0">
                <a:solidFill>
                  <a:srgbClr val="383838"/>
                </a:solidFill>
                <a:latin typeface="微软雅黑"/>
                <a:ea typeface="微软雅黑"/>
                <a:cs typeface="微软雅黑"/>
              </a:rPr>
              <a:t>考核指标</a:t>
            </a:r>
            <a:endParaRPr lang="zh-CN" altLang="en-US" sz="1200" b="1" dirty="0">
              <a:solidFill>
                <a:srgbClr val="383838"/>
              </a:solidFill>
              <a:latin typeface="微软雅黑"/>
              <a:ea typeface="微软雅黑"/>
              <a:cs typeface="微软雅黑"/>
            </a:endParaRPr>
          </a:p>
        </p:txBody>
      </p:sp>
      <p:sp>
        <p:nvSpPr>
          <p:cNvPr id="17" name="任意多边形: 形状 60"/>
          <p:cNvSpPr/>
          <p:nvPr/>
        </p:nvSpPr>
        <p:spPr>
          <a:xfrm>
            <a:off x="1896745" y="1102995"/>
            <a:ext cx="317500" cy="332105"/>
          </a:xfrm>
          <a:custGeom>
            <a:avLst/>
            <a:gdLst>
              <a:gd name="connsiteX0" fmla="*/ 0 w 408602"/>
              <a:gd name="connsiteY0" fmla="*/ 0 h 427068"/>
              <a:gd name="connsiteX1" fmla="*/ 406519 w 408602"/>
              <a:gd name="connsiteY1" fmla="*/ 0 h 427068"/>
              <a:gd name="connsiteX2" fmla="*/ 408602 w 408602"/>
              <a:gd name="connsiteY2" fmla="*/ 20668 h 427068"/>
              <a:gd name="connsiteX3" fmla="*/ 2202 w 408602"/>
              <a:gd name="connsiteY3" fmla="*/ 427068 h 427068"/>
              <a:gd name="connsiteX4" fmla="*/ 0 w 408602"/>
              <a:gd name="connsiteY4" fmla="*/ 426846 h 427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602" h="427068">
                <a:moveTo>
                  <a:pt x="0" y="0"/>
                </a:moveTo>
                <a:lnTo>
                  <a:pt x="406519" y="0"/>
                </a:lnTo>
                <a:lnTo>
                  <a:pt x="408602" y="20668"/>
                </a:lnTo>
                <a:cubicBezTo>
                  <a:pt x="408602" y="245117"/>
                  <a:pt x="226651" y="427068"/>
                  <a:pt x="2202" y="427068"/>
                </a:cubicBezTo>
                <a:lnTo>
                  <a:pt x="0" y="426846"/>
                </a:lnTo>
                <a:close/>
              </a:path>
            </a:pathLst>
          </a:custGeom>
          <a:solidFill>
            <a:srgbClr val="0042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62" name="文本框 61"/>
          <p:cNvSpPr txBox="1"/>
          <p:nvPr/>
        </p:nvSpPr>
        <p:spPr>
          <a:xfrm>
            <a:off x="1860550" y="1092835"/>
            <a:ext cx="278130" cy="239395"/>
          </a:xfrm>
          <a:prstGeom prst="rect">
            <a:avLst/>
          </a:prstGeom>
          <a:noFill/>
        </p:spPr>
        <p:txBody>
          <a:bodyPr wrap="none" rtlCol="0">
            <a:spAutoFit/>
          </a:bodyPr>
          <a:lstStyle/>
          <a:p>
            <a:pP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a:t>
            </a:r>
            <a:endParaRPr lang="en-US" altLang="zh-CN" sz="1400" dirty="0">
              <a:solidFill>
                <a:srgbClr val="FFFFFF"/>
              </a:solidFill>
              <a:latin typeface="微软雅黑"/>
              <a:ea typeface="微软雅黑"/>
              <a:cs typeface="微软雅黑"/>
            </a:endParaRPr>
          </a:p>
        </p:txBody>
      </p:sp>
      <p:sp>
        <p:nvSpPr>
          <p:cNvPr id="449" name="文本框 448"/>
          <p:cNvSpPr txBox="1"/>
          <p:nvPr/>
        </p:nvSpPr>
        <p:spPr>
          <a:xfrm>
            <a:off x="2200275" y="1367790"/>
            <a:ext cx="798830" cy="246380"/>
          </a:xfrm>
          <a:prstGeom prst="rect">
            <a:avLst/>
          </a:prstGeom>
          <a:noFill/>
        </p:spPr>
        <p:txBody>
          <a:bodyPr wrap="none" rtlCol="0" lIns="0" rIns="0" tIns="0" bIns="0">
            <a:spAutoFit/>
          </a:bodyPr>
          <a:lstStyle/>
          <a:p>
            <a:pPr>
              <a:defRPr>
                <a:latin typeface="微软雅黑"/>
                <a:ea typeface="微软雅黑"/>
                <a:cs typeface="微软雅黑"/>
              </a:defRPr>
            </a:pPr>
            <a:r>
              <a:rPr lang="en-US" altLang="zh-CN" sz="1000" dirty="0">
                <a:solidFill>
                  <a:srgbClr val="383838"/>
                </a:solidFill>
                <a:latin typeface="微软雅黑"/>
                <a:ea typeface="微软雅黑"/>
                <a:cs typeface="微软雅黑"/>
              </a:rPr>
              <a:t>App</a:t>
            </a:r>
            <a:r>
              <a:rPr lang="zh-CN" altLang="en-US" sz="1000" dirty="0">
                <a:solidFill>
                  <a:srgbClr val="383838"/>
                </a:solidFill>
                <a:latin typeface="微软雅黑"/>
                <a:ea typeface="微软雅黑"/>
                <a:cs typeface="微软雅黑"/>
              </a:rPr>
              <a:t>访问量</a:t>
            </a:r>
            <a:endParaRPr lang="zh-CN" altLang="en-US" sz="1000" dirty="0">
              <a:solidFill>
                <a:srgbClr val="383838"/>
              </a:solidFill>
              <a:latin typeface="微软雅黑"/>
              <a:ea typeface="微软雅黑"/>
              <a:cs typeface="微软雅黑"/>
            </a:endParaRPr>
          </a:p>
        </p:txBody>
      </p:sp>
      <p:sp>
        <p:nvSpPr>
          <p:cNvPr id="450" name="文本框 449"/>
          <p:cNvSpPr txBox="1"/>
          <p:nvPr/>
        </p:nvSpPr>
        <p:spPr>
          <a:xfrm>
            <a:off x="2976245" y="1367790"/>
            <a:ext cx="82613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注册用户数</a:t>
            </a:r>
            <a:endParaRPr lang="zh-CN" altLang="en-US" sz="1000" dirty="0">
              <a:solidFill>
                <a:srgbClr val="383838"/>
              </a:solidFill>
              <a:latin typeface="微软雅黑"/>
              <a:ea typeface="微软雅黑"/>
              <a:cs typeface="微软雅黑"/>
            </a:endParaRPr>
          </a:p>
        </p:txBody>
      </p:sp>
      <p:sp>
        <p:nvSpPr>
          <p:cNvPr id="452" name="文本框 451"/>
          <p:cNvSpPr txBox="1"/>
          <p:nvPr/>
        </p:nvSpPr>
        <p:spPr>
          <a:xfrm>
            <a:off x="2200275" y="1574165"/>
            <a:ext cx="64452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广告</a:t>
            </a:r>
            <a:r>
              <a:rPr lang="en-US" altLang="zh-CN" sz="1000" dirty="0">
                <a:solidFill>
                  <a:srgbClr val="383838"/>
                </a:solidFill>
                <a:latin typeface="微软雅黑"/>
                <a:ea typeface="微软雅黑"/>
                <a:cs typeface="微软雅黑"/>
              </a:rPr>
              <a:t>ROI</a:t>
            </a:r>
            <a:endParaRPr lang="en-US" altLang="zh-CN" sz="1000" dirty="0">
              <a:solidFill>
                <a:srgbClr val="383838"/>
              </a:solidFill>
              <a:latin typeface="微软雅黑"/>
              <a:ea typeface="微软雅黑"/>
              <a:cs typeface="微软雅黑"/>
            </a:endParaRPr>
          </a:p>
        </p:txBody>
      </p:sp>
      <p:sp>
        <p:nvSpPr>
          <p:cNvPr id="453" name="文本框 452"/>
          <p:cNvSpPr txBox="1"/>
          <p:nvPr/>
        </p:nvSpPr>
        <p:spPr>
          <a:xfrm>
            <a:off x="2976245" y="1574165"/>
            <a:ext cx="69786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考核指标</a:t>
            </a:r>
            <a:endParaRPr lang="zh-CN" altLang="en-US" sz="1000" dirty="0">
              <a:solidFill>
                <a:srgbClr val="383838"/>
              </a:solidFill>
              <a:latin typeface="微软雅黑"/>
              <a:ea typeface="微软雅黑"/>
              <a:cs typeface="微软雅黑"/>
            </a:endParaRPr>
          </a:p>
        </p:txBody>
      </p:sp>
      <p:sp>
        <p:nvSpPr>
          <p:cNvPr id="455" name="文本框 454"/>
          <p:cNvSpPr txBox="1"/>
          <p:nvPr/>
        </p:nvSpPr>
        <p:spPr>
          <a:xfrm>
            <a:off x="4088765" y="1520825"/>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资源支持</a:t>
            </a:r>
            <a:endParaRPr lang="zh-CN" altLang="en-US" sz="1200" dirty="0">
              <a:solidFill>
                <a:srgbClr val="383838"/>
              </a:solidFill>
              <a:latin typeface="微软雅黑"/>
              <a:ea typeface="微软雅黑"/>
              <a:cs typeface="微软雅黑"/>
            </a:endParaRPr>
          </a:p>
        </p:txBody>
      </p:sp>
      <p:sp>
        <p:nvSpPr>
          <p:cNvPr id="458" name="矩形 457"/>
          <p:cNvSpPr/>
          <p:nvPr/>
        </p:nvSpPr>
        <p:spPr>
          <a:xfrm>
            <a:off x="6598790" y="1484630"/>
            <a:ext cx="1547495"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SEO优化</a:t>
            </a:r>
            <a:endParaRPr lang="zh-CN" altLang="en-US" sz="1100">
              <a:solidFill>
                <a:srgbClr val="383838"/>
              </a:solidFill>
              <a:latin typeface="微软雅黑"/>
              <a:ea typeface="微软雅黑"/>
              <a:cs typeface="微软雅黑"/>
              <a:sym typeface="微软雅黑"/>
            </a:endParaRPr>
          </a:p>
        </p:txBody>
      </p:sp>
      <p:sp>
        <p:nvSpPr>
          <p:cNvPr id="459" name="矩形 458"/>
          <p:cNvSpPr/>
          <p:nvPr/>
        </p:nvSpPr>
        <p:spPr>
          <a:xfrm>
            <a:off x="8281540" y="1484630"/>
            <a:ext cx="1547495"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社交媒体内容创作</a:t>
            </a:r>
            <a:endParaRPr lang="zh-CN" altLang="en-US" sz="1100">
              <a:solidFill>
                <a:srgbClr val="383838"/>
              </a:solidFill>
              <a:latin typeface="微软雅黑"/>
              <a:ea typeface="微软雅黑"/>
              <a:cs typeface="微软雅黑"/>
              <a:sym typeface="微软雅黑"/>
            </a:endParaRPr>
          </a:p>
        </p:txBody>
      </p:sp>
      <p:sp>
        <p:nvSpPr>
          <p:cNvPr id="460" name="矩形 459"/>
          <p:cNvSpPr/>
          <p:nvPr/>
        </p:nvSpPr>
        <p:spPr>
          <a:xfrm>
            <a:off x="9964290" y="1483360"/>
            <a:ext cx="1547495"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品牌合作</a:t>
            </a:r>
            <a:endParaRPr lang="zh-CN" altLang="en-US" sz="1100">
              <a:solidFill>
                <a:srgbClr val="383838"/>
              </a:solidFill>
              <a:latin typeface="微软雅黑"/>
              <a:ea typeface="微软雅黑"/>
              <a:cs typeface="微软雅黑"/>
              <a:sym typeface="微软雅黑"/>
            </a:endParaRPr>
          </a:p>
        </p:txBody>
      </p:sp>
      <p:sp>
        <p:nvSpPr>
          <p:cNvPr id="465" name="文本框 464"/>
          <p:cNvSpPr txBox="1"/>
          <p:nvPr/>
        </p:nvSpPr>
        <p:spPr>
          <a:xfrm>
            <a:off x="4225290" y="1103630"/>
            <a:ext cx="49276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方法</a:t>
            </a:r>
            <a:endParaRPr lang="zh-CN" altLang="en-US" sz="1200" dirty="0">
              <a:solidFill>
                <a:srgbClr val="383838"/>
              </a:solidFill>
              <a:latin typeface="微软雅黑"/>
              <a:ea typeface="微软雅黑"/>
              <a:cs typeface="微软雅黑"/>
            </a:endParaRPr>
          </a:p>
        </p:txBody>
      </p:sp>
      <p:sp>
        <p:nvSpPr>
          <p:cNvPr id="466" name="矩形 465"/>
          <p:cNvSpPr/>
          <p:nvPr/>
        </p:nvSpPr>
        <p:spPr>
          <a:xfrm>
            <a:off x="4915535" y="1080770"/>
            <a:ext cx="6597015" cy="337185"/>
          </a:xfrm>
          <a:prstGeom prst="rect">
            <a:avLst/>
          </a:prstGeom>
          <a:solidFill>
            <a:srgbClr val="E6E6E6">
              <a:alpha val="5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467" name="任意多边形: 形状 466"/>
          <p:cNvSpPr/>
          <p:nvPr/>
        </p:nvSpPr>
        <p:spPr>
          <a:xfrm>
            <a:off x="4406265" y="1336040"/>
            <a:ext cx="158115" cy="2635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468" name="文本框 467"/>
          <p:cNvSpPr txBox="1"/>
          <p:nvPr/>
        </p:nvSpPr>
        <p:spPr>
          <a:xfrm>
            <a:off x="5010785" y="1137285"/>
            <a:ext cx="6415405" cy="261620"/>
          </a:xfrm>
          <a:prstGeom prst="rect">
            <a:avLst/>
          </a:prstGeom>
          <a:noFill/>
        </p:spPr>
        <p:txBody>
          <a:bodyPr wrap="square">
            <a:spAutoFit/>
          </a:bodyPr>
          <a:lstStyle/>
          <a:p>
            <a:pPr algn="l">
              <a:defRPr>
                <a:latin typeface="微软雅黑"/>
                <a:ea typeface="微软雅黑"/>
                <a:cs typeface="微软雅黑"/>
              </a:defRPr>
            </a:pPr>
            <a:r>
              <a:rPr lang="zh-CN" altLang="en-US" sz="1100" b="0" i="0" dirty="0">
                <a:solidFill>
                  <a:srgbClr val="383838"/>
                </a:solidFill>
                <a:effectLst/>
                <a:latin typeface="微软雅黑"/>
                <a:ea typeface="微软雅黑"/>
                <a:cs typeface="微软雅黑"/>
              </a:rPr>
              <a:t>通过广告投放、社交媒体推广、搜索引擎优化等方式，吸引更多目标用户进入会员系统。</a:t>
            </a:r>
            <a:endParaRPr lang="zh-CN" altLang="en-US" sz="1100" b="0" i="0" dirty="0">
              <a:solidFill>
                <a:srgbClr val="383838"/>
              </a:solidFill>
              <a:effectLst/>
              <a:latin typeface="微软雅黑"/>
              <a:ea typeface="微软雅黑"/>
              <a:cs typeface="微软雅黑"/>
            </a:endParaRPr>
          </a:p>
        </p:txBody>
      </p:sp>
      <p:sp>
        <p:nvSpPr>
          <p:cNvPr id="18" name="矩形 17"/>
          <p:cNvSpPr/>
          <p:nvPr/>
        </p:nvSpPr>
        <p:spPr>
          <a:xfrm>
            <a:off x="639445" y="1983740"/>
            <a:ext cx="998855" cy="417830"/>
          </a:xfrm>
          <a:prstGeom prst="rect">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r>
              <a:rPr lang="zh-CN" altLang="en-US" sz="1200" dirty="0">
                <a:solidFill>
                  <a:srgbClr val="FFFFFF"/>
                </a:solidFill>
                <a:effectLst/>
                <a:latin typeface="微软雅黑"/>
                <a:ea typeface="微软雅黑"/>
                <a:cs typeface="微软雅黑"/>
              </a:rPr>
              <a:t>用户促活</a:t>
            </a:r>
            <a:endParaRPr lang="zh-CN" altLang="en-US" sz="1200" dirty="0">
              <a:solidFill>
                <a:srgbClr val="FFFFFF"/>
              </a:solidFill>
              <a:effectLst/>
              <a:latin typeface="微软雅黑"/>
              <a:ea typeface="微软雅黑"/>
              <a:cs typeface="微软雅黑"/>
            </a:endParaRPr>
          </a:p>
        </p:txBody>
      </p:sp>
      <p:sp>
        <p:nvSpPr>
          <p:cNvPr id="515" name="矩形 514"/>
          <p:cNvSpPr/>
          <p:nvPr/>
        </p:nvSpPr>
        <p:spPr>
          <a:xfrm>
            <a:off x="4915535" y="2456180"/>
            <a:ext cx="1548000"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优惠券发放</a:t>
            </a:r>
            <a:endParaRPr lang="zh-CN" altLang="en-US" sz="1100">
              <a:solidFill>
                <a:srgbClr val="383838"/>
              </a:solidFill>
              <a:latin typeface="微软雅黑"/>
              <a:ea typeface="微软雅黑"/>
              <a:cs typeface="微软雅黑"/>
              <a:sym typeface="微软雅黑"/>
            </a:endParaRPr>
          </a:p>
        </p:txBody>
      </p:sp>
      <p:sp>
        <p:nvSpPr>
          <p:cNvPr id="516" name="矩形 515"/>
          <p:cNvSpPr/>
          <p:nvPr/>
        </p:nvSpPr>
        <p:spPr>
          <a:xfrm>
            <a:off x="1901190" y="2015490"/>
            <a:ext cx="2084705" cy="713105"/>
          </a:xfrm>
          <a:prstGeom prst="rect">
            <a:avLst/>
          </a:prstGeom>
          <a:no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33" name="任意多边形: 形状 532"/>
          <p:cNvSpPr/>
          <p:nvPr/>
        </p:nvSpPr>
        <p:spPr>
          <a:xfrm>
            <a:off x="1896745" y="2007870"/>
            <a:ext cx="317500" cy="332105"/>
          </a:xfrm>
          <a:custGeom>
            <a:avLst/>
            <a:gdLst>
              <a:gd name="connsiteX0" fmla="*/ 0 w 408602"/>
              <a:gd name="connsiteY0" fmla="*/ 0 h 427068"/>
              <a:gd name="connsiteX1" fmla="*/ 406519 w 408602"/>
              <a:gd name="connsiteY1" fmla="*/ 0 h 427068"/>
              <a:gd name="connsiteX2" fmla="*/ 408602 w 408602"/>
              <a:gd name="connsiteY2" fmla="*/ 20668 h 427068"/>
              <a:gd name="connsiteX3" fmla="*/ 2202 w 408602"/>
              <a:gd name="connsiteY3" fmla="*/ 427068 h 427068"/>
              <a:gd name="connsiteX4" fmla="*/ 0 w 408602"/>
              <a:gd name="connsiteY4" fmla="*/ 426846 h 427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602" h="427068">
                <a:moveTo>
                  <a:pt x="0" y="0"/>
                </a:moveTo>
                <a:lnTo>
                  <a:pt x="406519" y="0"/>
                </a:lnTo>
                <a:lnTo>
                  <a:pt x="408602" y="20668"/>
                </a:lnTo>
                <a:cubicBezTo>
                  <a:pt x="408602" y="245117"/>
                  <a:pt x="226651" y="427068"/>
                  <a:pt x="2202" y="427068"/>
                </a:cubicBezTo>
                <a:lnTo>
                  <a:pt x="0" y="426846"/>
                </a:ln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534" name="文本框 533"/>
          <p:cNvSpPr txBox="1"/>
          <p:nvPr/>
        </p:nvSpPr>
        <p:spPr>
          <a:xfrm>
            <a:off x="1860550" y="1997710"/>
            <a:ext cx="278130" cy="239395"/>
          </a:xfrm>
          <a:prstGeom prst="rect">
            <a:avLst/>
          </a:prstGeom>
          <a:noFill/>
        </p:spPr>
        <p:txBody>
          <a:bodyPr wrap="none" rtlCol="0">
            <a:spAutoFit/>
          </a:bodyPr>
          <a:lstStyle/>
          <a:p>
            <a:pPr>
              <a:defRPr>
                <a:solidFill>
                  <a:srgbClr val="FFFFFF"/>
                </a:solidFill>
                <a:latin typeface="微软雅黑"/>
                <a:ea typeface="微软雅黑"/>
                <a:cs typeface="微软雅黑"/>
              </a:defRPr>
            </a:pPr>
            <a:r>
              <a:rPr lang="en-US" altLang="zh-CN" sz="1400">
                <a:solidFill>
                  <a:srgbClr val="FFFFFF"/>
                </a:solidFill>
                <a:latin typeface="微软雅黑"/>
                <a:ea typeface="微软雅黑"/>
                <a:cs typeface="微软雅黑"/>
              </a:rPr>
              <a:t>%</a:t>
            </a:r>
            <a:endParaRPr lang="en-US" altLang="zh-CN" sz="1400" dirty="0">
              <a:solidFill>
                <a:srgbClr val="FFFFFF"/>
              </a:solidFill>
              <a:latin typeface="微软雅黑"/>
              <a:ea typeface="微软雅黑"/>
              <a:cs typeface="微软雅黑"/>
            </a:endParaRPr>
          </a:p>
        </p:txBody>
      </p:sp>
      <p:sp>
        <p:nvSpPr>
          <p:cNvPr id="525" name="文本框 524"/>
          <p:cNvSpPr txBox="1"/>
          <p:nvPr/>
        </p:nvSpPr>
        <p:spPr>
          <a:xfrm>
            <a:off x="4088765" y="2425700"/>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资源支持</a:t>
            </a:r>
            <a:endParaRPr lang="zh-CN" altLang="en-US" sz="1200" dirty="0">
              <a:solidFill>
                <a:srgbClr val="383838"/>
              </a:solidFill>
              <a:latin typeface="微软雅黑"/>
              <a:ea typeface="微软雅黑"/>
              <a:cs typeface="微软雅黑"/>
            </a:endParaRPr>
          </a:p>
        </p:txBody>
      </p:sp>
      <p:sp>
        <p:nvSpPr>
          <p:cNvPr id="526" name="矩形 525"/>
          <p:cNvSpPr/>
          <p:nvPr/>
        </p:nvSpPr>
        <p:spPr>
          <a:xfrm>
            <a:off x="6598790" y="2456180"/>
            <a:ext cx="1547495"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线下实体店活动</a:t>
            </a:r>
            <a:endParaRPr lang="zh-CN" altLang="en-US" sz="1100">
              <a:solidFill>
                <a:srgbClr val="383838"/>
              </a:solidFill>
              <a:latin typeface="微软雅黑"/>
              <a:ea typeface="微软雅黑"/>
              <a:cs typeface="微软雅黑"/>
              <a:sym typeface="微软雅黑"/>
            </a:endParaRPr>
          </a:p>
        </p:txBody>
      </p:sp>
      <p:sp>
        <p:nvSpPr>
          <p:cNvPr id="527" name="矩形 526"/>
          <p:cNvSpPr/>
          <p:nvPr/>
        </p:nvSpPr>
        <p:spPr>
          <a:xfrm>
            <a:off x="8281540" y="2456180"/>
            <a:ext cx="1547495"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用户引导教程</a:t>
            </a:r>
            <a:endParaRPr lang="zh-CN" altLang="en-US" sz="1100">
              <a:solidFill>
                <a:srgbClr val="383838"/>
              </a:solidFill>
              <a:latin typeface="微软雅黑"/>
              <a:ea typeface="微软雅黑"/>
              <a:cs typeface="微软雅黑"/>
              <a:sym typeface="微软雅黑"/>
            </a:endParaRPr>
          </a:p>
        </p:txBody>
      </p:sp>
      <p:sp>
        <p:nvSpPr>
          <p:cNvPr id="528" name="矩形 527"/>
          <p:cNvSpPr/>
          <p:nvPr/>
        </p:nvSpPr>
        <p:spPr>
          <a:xfrm>
            <a:off x="9964290" y="2456180"/>
            <a:ext cx="1547495"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商城积分</a:t>
            </a:r>
            <a:endParaRPr lang="zh-CN" altLang="en-US" sz="1100">
              <a:solidFill>
                <a:srgbClr val="383838"/>
              </a:solidFill>
              <a:latin typeface="微软雅黑"/>
              <a:ea typeface="微软雅黑"/>
              <a:cs typeface="微软雅黑"/>
              <a:sym typeface="微软雅黑"/>
            </a:endParaRPr>
          </a:p>
        </p:txBody>
      </p:sp>
      <p:sp>
        <p:nvSpPr>
          <p:cNvPr id="529" name="文本框 528"/>
          <p:cNvSpPr txBox="1"/>
          <p:nvPr/>
        </p:nvSpPr>
        <p:spPr>
          <a:xfrm>
            <a:off x="4225290" y="2008505"/>
            <a:ext cx="49276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方法</a:t>
            </a:r>
            <a:endParaRPr lang="zh-CN" altLang="en-US" sz="1200" dirty="0">
              <a:solidFill>
                <a:srgbClr val="383838"/>
              </a:solidFill>
              <a:latin typeface="微软雅黑"/>
              <a:ea typeface="微软雅黑"/>
              <a:cs typeface="微软雅黑"/>
            </a:endParaRPr>
          </a:p>
        </p:txBody>
      </p:sp>
      <p:sp>
        <p:nvSpPr>
          <p:cNvPr id="530" name="矩形 529"/>
          <p:cNvSpPr/>
          <p:nvPr/>
        </p:nvSpPr>
        <p:spPr>
          <a:xfrm>
            <a:off x="4915535" y="1985645"/>
            <a:ext cx="6597015" cy="414020"/>
          </a:xfrm>
          <a:prstGeom prst="rect">
            <a:avLst/>
          </a:prstGeom>
          <a:solidFill>
            <a:srgbClr val="E6E6E6">
              <a:alpha val="5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531" name="任意多边形: 形状 530"/>
          <p:cNvSpPr/>
          <p:nvPr/>
        </p:nvSpPr>
        <p:spPr>
          <a:xfrm>
            <a:off x="4406265" y="2240915"/>
            <a:ext cx="158115" cy="2635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32" name="文本框 531"/>
          <p:cNvSpPr txBox="1"/>
          <p:nvPr/>
        </p:nvSpPr>
        <p:spPr>
          <a:xfrm>
            <a:off x="4984115" y="1983740"/>
            <a:ext cx="6415405" cy="431165"/>
          </a:xfrm>
          <a:prstGeom prst="rect">
            <a:avLst/>
          </a:prstGeom>
          <a:noFill/>
        </p:spPr>
        <p:txBody>
          <a:bodyPr wrap="square">
            <a:spAutoFit/>
          </a:bodyPr>
          <a:lstStyle/>
          <a:p>
            <a:pPr algn="l">
              <a:defRPr>
                <a:latin typeface="微软雅黑"/>
                <a:ea typeface="微软雅黑"/>
                <a:cs typeface="微软雅黑"/>
              </a:defRPr>
            </a:pPr>
            <a:r>
              <a:rPr lang="zh-CN" altLang="en-US" sz="1100" b="0" i="0" dirty="0">
                <a:solidFill>
                  <a:srgbClr val="383838"/>
                </a:solidFill>
                <a:effectLst/>
                <a:latin typeface="微软雅黑"/>
                <a:ea typeface="微软雅黑"/>
                <a:cs typeface="微软雅黑"/>
              </a:rPr>
              <a:t>将用户从注册变为真正的活跃用户，可以通过发放优惠券、赠送礼品等方式鼓励用户首次购买；另外，可以通过用户引导和教育，加深用户对品牌的认知度和信任感。</a:t>
            </a:r>
            <a:endParaRPr lang="zh-CN" altLang="en-US" sz="1100" b="0" i="0" dirty="0">
              <a:solidFill>
                <a:srgbClr val="383838"/>
              </a:solidFill>
              <a:effectLst/>
              <a:latin typeface="微软雅黑"/>
              <a:ea typeface="微软雅黑"/>
              <a:cs typeface="微软雅黑"/>
            </a:endParaRPr>
          </a:p>
        </p:txBody>
      </p:sp>
      <p:sp>
        <p:nvSpPr>
          <p:cNvPr id="602" name="文本框 601"/>
          <p:cNvSpPr txBox="1"/>
          <p:nvPr/>
        </p:nvSpPr>
        <p:spPr>
          <a:xfrm>
            <a:off x="2195195" y="2004695"/>
            <a:ext cx="795020" cy="275590"/>
          </a:xfrm>
          <a:prstGeom prst="rect">
            <a:avLst/>
          </a:prstGeom>
          <a:noFill/>
        </p:spPr>
        <p:txBody>
          <a:bodyPr wrap="none" rtlCol="0">
            <a:spAutoFit/>
          </a:bodyPr>
          <a:lstStyle/>
          <a:p>
            <a:pPr>
              <a:defRPr>
                <a:latin typeface="微软雅黑"/>
                <a:ea typeface="微软雅黑"/>
                <a:cs typeface="微软雅黑"/>
              </a:defRPr>
            </a:pPr>
            <a:r>
              <a:rPr lang="zh-CN" altLang="en-US" sz="1200" b="1" dirty="0">
                <a:solidFill>
                  <a:srgbClr val="383838"/>
                </a:solidFill>
                <a:latin typeface="微软雅黑"/>
                <a:ea typeface="微软雅黑"/>
                <a:cs typeface="微软雅黑"/>
              </a:rPr>
              <a:t>考核指标</a:t>
            </a:r>
            <a:endParaRPr lang="zh-CN" altLang="en-US" sz="1200" b="1" dirty="0">
              <a:solidFill>
                <a:srgbClr val="383838"/>
              </a:solidFill>
              <a:latin typeface="微软雅黑"/>
              <a:ea typeface="微软雅黑"/>
              <a:cs typeface="微软雅黑"/>
            </a:endParaRPr>
          </a:p>
        </p:txBody>
      </p:sp>
      <p:sp>
        <p:nvSpPr>
          <p:cNvPr id="603" name="文本框 602"/>
          <p:cNvSpPr txBox="1"/>
          <p:nvPr/>
        </p:nvSpPr>
        <p:spPr>
          <a:xfrm>
            <a:off x="2186940" y="2250440"/>
            <a:ext cx="82613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活跃用户数</a:t>
            </a:r>
            <a:endParaRPr lang="zh-CN" altLang="en-US" sz="1000" dirty="0">
              <a:solidFill>
                <a:srgbClr val="383838"/>
              </a:solidFill>
              <a:latin typeface="微软雅黑"/>
              <a:ea typeface="微软雅黑"/>
              <a:cs typeface="微软雅黑"/>
            </a:endParaRPr>
          </a:p>
        </p:txBody>
      </p:sp>
      <p:sp>
        <p:nvSpPr>
          <p:cNvPr id="604" name="文本框 603"/>
          <p:cNvSpPr txBox="1"/>
          <p:nvPr/>
        </p:nvSpPr>
        <p:spPr>
          <a:xfrm>
            <a:off x="2976245" y="2250440"/>
            <a:ext cx="95440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新用户转化率</a:t>
            </a:r>
            <a:endParaRPr lang="zh-CN" altLang="en-US" sz="1000" dirty="0">
              <a:solidFill>
                <a:srgbClr val="383838"/>
              </a:solidFill>
              <a:latin typeface="微软雅黑"/>
              <a:ea typeface="微软雅黑"/>
              <a:cs typeface="微软雅黑"/>
            </a:endParaRPr>
          </a:p>
        </p:txBody>
      </p:sp>
      <p:sp>
        <p:nvSpPr>
          <p:cNvPr id="605" name="文本框 604"/>
          <p:cNvSpPr txBox="1"/>
          <p:nvPr/>
        </p:nvSpPr>
        <p:spPr>
          <a:xfrm>
            <a:off x="2200275" y="2457450"/>
            <a:ext cx="69786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日活月活</a:t>
            </a:r>
            <a:endParaRPr lang="zh-CN" altLang="en-US" sz="1000" dirty="0">
              <a:solidFill>
                <a:srgbClr val="383838"/>
              </a:solidFill>
              <a:latin typeface="微软雅黑"/>
              <a:ea typeface="微软雅黑"/>
              <a:cs typeface="微软雅黑"/>
            </a:endParaRPr>
          </a:p>
        </p:txBody>
      </p:sp>
      <p:sp>
        <p:nvSpPr>
          <p:cNvPr id="606" name="文本框 605"/>
          <p:cNvSpPr txBox="1"/>
          <p:nvPr/>
        </p:nvSpPr>
        <p:spPr>
          <a:xfrm>
            <a:off x="2976245" y="2457450"/>
            <a:ext cx="69786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在线时长</a:t>
            </a:r>
            <a:endParaRPr lang="zh-CN" altLang="en-US" sz="1000" dirty="0">
              <a:solidFill>
                <a:srgbClr val="383838"/>
              </a:solidFill>
              <a:latin typeface="微软雅黑"/>
              <a:ea typeface="微软雅黑"/>
              <a:cs typeface="微软雅黑"/>
            </a:endParaRPr>
          </a:p>
        </p:txBody>
      </p:sp>
      <p:sp>
        <p:nvSpPr>
          <p:cNvPr id="19" name="矩形 18"/>
          <p:cNvSpPr/>
          <p:nvPr/>
        </p:nvSpPr>
        <p:spPr>
          <a:xfrm>
            <a:off x="639445" y="2952750"/>
            <a:ext cx="998855" cy="417830"/>
          </a:xfrm>
          <a:prstGeom prst="rect">
            <a:avLst/>
          </a:prstGeom>
          <a:solidFill>
            <a:srgbClr val="0042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r>
              <a:rPr lang="zh-CN" altLang="en-US" sz="1200" dirty="0">
                <a:solidFill>
                  <a:srgbClr val="FFFFFF"/>
                </a:solidFill>
                <a:effectLst/>
                <a:latin typeface="微软雅黑"/>
                <a:ea typeface="微软雅黑"/>
                <a:cs typeface="微软雅黑"/>
              </a:rPr>
              <a:t>用户留存</a:t>
            </a:r>
            <a:endParaRPr lang="zh-CN" altLang="en-US" sz="1200" dirty="0">
              <a:solidFill>
                <a:srgbClr val="FFFFFF"/>
              </a:solidFill>
              <a:effectLst/>
              <a:latin typeface="微软雅黑"/>
              <a:ea typeface="微软雅黑"/>
              <a:cs typeface="微软雅黑"/>
            </a:endParaRPr>
          </a:p>
        </p:txBody>
      </p:sp>
      <p:sp>
        <p:nvSpPr>
          <p:cNvPr id="536" name="矩形 535"/>
          <p:cNvSpPr/>
          <p:nvPr/>
        </p:nvSpPr>
        <p:spPr>
          <a:xfrm>
            <a:off x="4915535" y="3456305"/>
            <a:ext cx="1548130"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CRM系统建设</a:t>
            </a:r>
            <a:endParaRPr lang="zh-CN" altLang="en-US" sz="1100">
              <a:solidFill>
                <a:srgbClr val="383838"/>
              </a:solidFill>
              <a:latin typeface="微软雅黑"/>
              <a:ea typeface="微软雅黑"/>
              <a:cs typeface="微软雅黑"/>
              <a:sym typeface="微软雅黑"/>
            </a:endParaRPr>
          </a:p>
        </p:txBody>
      </p:sp>
      <p:sp>
        <p:nvSpPr>
          <p:cNvPr id="537" name="矩形 536"/>
          <p:cNvSpPr/>
          <p:nvPr/>
        </p:nvSpPr>
        <p:spPr>
          <a:xfrm>
            <a:off x="1901190" y="2982595"/>
            <a:ext cx="2084705" cy="712470"/>
          </a:xfrm>
          <a:prstGeom prst="rect">
            <a:avLst/>
          </a:prstGeom>
          <a:solidFill>
            <a:srgbClr val="E6E6E6">
              <a:alpha val="5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54" name="任意多边形: 形状 553"/>
          <p:cNvSpPr/>
          <p:nvPr/>
        </p:nvSpPr>
        <p:spPr>
          <a:xfrm>
            <a:off x="1896745" y="2974975"/>
            <a:ext cx="317500" cy="332105"/>
          </a:xfrm>
          <a:custGeom>
            <a:avLst/>
            <a:gdLst>
              <a:gd name="connsiteX0" fmla="*/ 0 w 408602"/>
              <a:gd name="connsiteY0" fmla="*/ 0 h 427068"/>
              <a:gd name="connsiteX1" fmla="*/ 406519 w 408602"/>
              <a:gd name="connsiteY1" fmla="*/ 0 h 427068"/>
              <a:gd name="connsiteX2" fmla="*/ 408602 w 408602"/>
              <a:gd name="connsiteY2" fmla="*/ 20668 h 427068"/>
              <a:gd name="connsiteX3" fmla="*/ 2202 w 408602"/>
              <a:gd name="connsiteY3" fmla="*/ 427068 h 427068"/>
              <a:gd name="connsiteX4" fmla="*/ 0 w 408602"/>
              <a:gd name="connsiteY4" fmla="*/ 426846 h 427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602" h="427068">
                <a:moveTo>
                  <a:pt x="0" y="0"/>
                </a:moveTo>
                <a:lnTo>
                  <a:pt x="406519" y="0"/>
                </a:lnTo>
                <a:lnTo>
                  <a:pt x="408602" y="20668"/>
                </a:lnTo>
                <a:cubicBezTo>
                  <a:pt x="408602" y="245117"/>
                  <a:pt x="226651" y="427068"/>
                  <a:pt x="2202" y="427068"/>
                </a:cubicBezTo>
                <a:lnTo>
                  <a:pt x="0" y="426846"/>
                </a:lnTo>
                <a:close/>
              </a:path>
            </a:pathLst>
          </a:custGeom>
          <a:solidFill>
            <a:srgbClr val="0042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55" name="文本框 554"/>
          <p:cNvSpPr txBox="1"/>
          <p:nvPr/>
        </p:nvSpPr>
        <p:spPr>
          <a:xfrm>
            <a:off x="1860550" y="2964815"/>
            <a:ext cx="278130" cy="239395"/>
          </a:xfrm>
          <a:prstGeom prst="rect">
            <a:avLst/>
          </a:prstGeom>
          <a:noFill/>
        </p:spPr>
        <p:txBody>
          <a:bodyPr wrap="none" rtlCol="0">
            <a:spAutoFit/>
          </a:bodyPr>
          <a:lstStyle/>
          <a:p>
            <a:pP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a:t>
            </a:r>
            <a:endParaRPr lang="en-US" altLang="zh-CN" sz="1400" dirty="0">
              <a:solidFill>
                <a:srgbClr val="FFFFFF"/>
              </a:solidFill>
              <a:latin typeface="微软雅黑"/>
              <a:ea typeface="微软雅黑"/>
              <a:cs typeface="微软雅黑"/>
            </a:endParaRPr>
          </a:p>
        </p:txBody>
      </p:sp>
      <p:sp>
        <p:nvSpPr>
          <p:cNvPr id="546" name="文本框 545"/>
          <p:cNvSpPr txBox="1"/>
          <p:nvPr/>
        </p:nvSpPr>
        <p:spPr>
          <a:xfrm>
            <a:off x="4088765" y="3392805"/>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资源支持</a:t>
            </a:r>
            <a:endParaRPr lang="zh-CN" altLang="en-US" sz="1200" dirty="0">
              <a:solidFill>
                <a:srgbClr val="383838"/>
              </a:solidFill>
              <a:latin typeface="微软雅黑"/>
              <a:ea typeface="微软雅黑"/>
              <a:cs typeface="微软雅黑"/>
            </a:endParaRPr>
          </a:p>
        </p:txBody>
      </p:sp>
      <p:sp>
        <p:nvSpPr>
          <p:cNvPr id="547" name="矩形 546"/>
          <p:cNvSpPr/>
          <p:nvPr/>
        </p:nvSpPr>
        <p:spPr>
          <a:xfrm>
            <a:off x="6598285" y="3456305"/>
            <a:ext cx="1548130"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VIP会员服务</a:t>
            </a:r>
            <a:endParaRPr lang="zh-CN" altLang="en-US" sz="1100">
              <a:solidFill>
                <a:srgbClr val="383838"/>
              </a:solidFill>
              <a:latin typeface="微软雅黑"/>
              <a:ea typeface="微软雅黑"/>
              <a:cs typeface="微软雅黑"/>
              <a:sym typeface="微软雅黑"/>
            </a:endParaRPr>
          </a:p>
        </p:txBody>
      </p:sp>
      <p:sp>
        <p:nvSpPr>
          <p:cNvPr id="548" name="矩形 547"/>
          <p:cNvSpPr/>
          <p:nvPr/>
        </p:nvSpPr>
        <p:spPr>
          <a:xfrm>
            <a:off x="8282305" y="3456305"/>
            <a:ext cx="1547495"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专属客服</a:t>
            </a:r>
            <a:endParaRPr lang="zh-CN" altLang="en-US" sz="1100">
              <a:solidFill>
                <a:srgbClr val="383838"/>
              </a:solidFill>
              <a:latin typeface="微软雅黑"/>
              <a:ea typeface="微软雅黑"/>
              <a:cs typeface="微软雅黑"/>
              <a:sym typeface="微软雅黑"/>
            </a:endParaRPr>
          </a:p>
        </p:txBody>
      </p:sp>
      <p:sp>
        <p:nvSpPr>
          <p:cNvPr id="549" name="矩形 548"/>
          <p:cNvSpPr/>
          <p:nvPr/>
        </p:nvSpPr>
        <p:spPr>
          <a:xfrm>
            <a:off x="9963785" y="3456305"/>
            <a:ext cx="1547495" cy="337185"/>
          </a:xfrm>
          <a:prstGeom prst="rect">
            <a:avLst/>
          </a:prstGeom>
          <a:solidFill>
            <a:srgbClr val="E6E6E6">
              <a:alpha val="10000"/>
            </a:srgbClr>
          </a:solidFill>
          <a:ln>
            <a:solidFill>
              <a:srgbClr val="0042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数据分析师</a:t>
            </a:r>
            <a:endParaRPr lang="zh-CN" altLang="en-US" sz="1100">
              <a:solidFill>
                <a:srgbClr val="383838"/>
              </a:solidFill>
              <a:latin typeface="微软雅黑"/>
              <a:ea typeface="微软雅黑"/>
              <a:cs typeface="微软雅黑"/>
              <a:sym typeface="微软雅黑"/>
            </a:endParaRPr>
          </a:p>
        </p:txBody>
      </p:sp>
      <p:sp>
        <p:nvSpPr>
          <p:cNvPr id="550" name="文本框 549"/>
          <p:cNvSpPr txBox="1"/>
          <p:nvPr/>
        </p:nvSpPr>
        <p:spPr>
          <a:xfrm>
            <a:off x="4225290" y="2975610"/>
            <a:ext cx="49276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方法</a:t>
            </a:r>
            <a:endParaRPr lang="zh-CN" altLang="en-US" sz="1200" dirty="0">
              <a:solidFill>
                <a:srgbClr val="383838"/>
              </a:solidFill>
              <a:latin typeface="微软雅黑"/>
              <a:ea typeface="微软雅黑"/>
              <a:cs typeface="微软雅黑"/>
            </a:endParaRPr>
          </a:p>
        </p:txBody>
      </p:sp>
      <p:sp>
        <p:nvSpPr>
          <p:cNvPr id="551" name="矩形 550"/>
          <p:cNvSpPr/>
          <p:nvPr/>
        </p:nvSpPr>
        <p:spPr>
          <a:xfrm>
            <a:off x="4915535" y="2952750"/>
            <a:ext cx="6597015" cy="447040"/>
          </a:xfrm>
          <a:prstGeom prst="rect">
            <a:avLst/>
          </a:prstGeom>
          <a:solidFill>
            <a:srgbClr val="E6E6E6">
              <a:alpha val="5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552" name="任意多边形: 形状 551"/>
          <p:cNvSpPr/>
          <p:nvPr/>
        </p:nvSpPr>
        <p:spPr>
          <a:xfrm>
            <a:off x="4406265" y="3208020"/>
            <a:ext cx="158115" cy="2635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53" name="文本框 552"/>
          <p:cNvSpPr txBox="1"/>
          <p:nvPr/>
        </p:nvSpPr>
        <p:spPr>
          <a:xfrm>
            <a:off x="4984115" y="2994025"/>
            <a:ext cx="6415405" cy="430530"/>
          </a:xfrm>
          <a:prstGeom prst="rect">
            <a:avLst/>
          </a:prstGeom>
          <a:noFill/>
        </p:spPr>
        <p:txBody>
          <a:bodyPr wrap="square">
            <a:spAutoFit/>
          </a:bodyPr>
          <a:lstStyle/>
          <a:p>
            <a:pPr algn="l">
              <a:defRPr>
                <a:latin typeface="微软雅黑"/>
                <a:ea typeface="微软雅黑"/>
                <a:cs typeface="微软雅黑"/>
              </a:defRPr>
            </a:pPr>
            <a:r>
              <a:rPr lang="zh-CN" altLang="en-US" sz="1100" b="0" i="0" dirty="0">
                <a:solidFill>
                  <a:srgbClr val="383838"/>
                </a:solidFill>
                <a:effectLst/>
                <a:latin typeface="微软雅黑"/>
                <a:ea typeface="微软雅黑"/>
                <a:cs typeface="微软雅黑"/>
              </a:rPr>
              <a:t>留住现有用户，可以通过定期发放专属优惠券、积分等奖励机制，及时了解用户需求并提供个性化服务等方式来提高用户粘性，增强用户满意度。</a:t>
            </a:r>
            <a:endParaRPr lang="zh-CN" altLang="en-US" sz="1100" b="0" i="0" dirty="0">
              <a:solidFill>
                <a:srgbClr val="383838"/>
              </a:solidFill>
              <a:effectLst/>
              <a:latin typeface="微软雅黑"/>
              <a:ea typeface="微软雅黑"/>
              <a:cs typeface="微软雅黑"/>
            </a:endParaRPr>
          </a:p>
        </p:txBody>
      </p:sp>
      <p:sp>
        <p:nvSpPr>
          <p:cNvPr id="607" name="文本框 606"/>
          <p:cNvSpPr txBox="1"/>
          <p:nvPr/>
        </p:nvSpPr>
        <p:spPr>
          <a:xfrm>
            <a:off x="2195195" y="2978785"/>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latin typeface="微软雅黑"/>
                <a:ea typeface="微软雅黑"/>
                <a:cs typeface="微软雅黑"/>
              </a:rPr>
              <a:t>考核指标</a:t>
            </a:r>
            <a:endParaRPr lang="zh-CN" altLang="en-US" sz="1200" dirty="0">
              <a:latin typeface="微软雅黑"/>
              <a:ea typeface="微软雅黑"/>
              <a:cs typeface="微软雅黑"/>
            </a:endParaRPr>
          </a:p>
        </p:txBody>
      </p:sp>
      <p:sp>
        <p:nvSpPr>
          <p:cNvPr id="608" name="文本框 607"/>
          <p:cNvSpPr txBox="1"/>
          <p:nvPr/>
        </p:nvSpPr>
        <p:spPr>
          <a:xfrm>
            <a:off x="2200275" y="3225165"/>
            <a:ext cx="82613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用户留存率</a:t>
            </a:r>
            <a:endParaRPr lang="zh-CN" altLang="en-US" sz="1000" dirty="0">
              <a:latin typeface="微软雅黑"/>
              <a:ea typeface="微软雅黑"/>
              <a:cs typeface="微软雅黑"/>
            </a:endParaRPr>
          </a:p>
        </p:txBody>
      </p:sp>
      <p:sp>
        <p:nvSpPr>
          <p:cNvPr id="609" name="文本框 608"/>
          <p:cNvSpPr txBox="1"/>
          <p:nvPr/>
        </p:nvSpPr>
        <p:spPr>
          <a:xfrm>
            <a:off x="2976245" y="3225165"/>
            <a:ext cx="56959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复购率</a:t>
            </a:r>
            <a:endParaRPr lang="zh-CN" altLang="en-US" sz="1000" dirty="0">
              <a:latin typeface="微软雅黑"/>
              <a:ea typeface="微软雅黑"/>
              <a:cs typeface="微软雅黑"/>
            </a:endParaRPr>
          </a:p>
        </p:txBody>
      </p:sp>
      <p:sp>
        <p:nvSpPr>
          <p:cNvPr id="610" name="文本框 609"/>
          <p:cNvSpPr txBox="1"/>
          <p:nvPr/>
        </p:nvSpPr>
        <p:spPr>
          <a:xfrm>
            <a:off x="2200275" y="3431540"/>
            <a:ext cx="69786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登录频次</a:t>
            </a:r>
            <a:endParaRPr lang="zh-CN" altLang="en-US" sz="1000" dirty="0">
              <a:latin typeface="微软雅黑"/>
              <a:ea typeface="微软雅黑"/>
              <a:cs typeface="微软雅黑"/>
            </a:endParaRPr>
          </a:p>
        </p:txBody>
      </p:sp>
      <p:sp>
        <p:nvSpPr>
          <p:cNvPr id="611" name="文本框 610"/>
          <p:cNvSpPr txBox="1"/>
          <p:nvPr/>
        </p:nvSpPr>
        <p:spPr>
          <a:xfrm>
            <a:off x="2976245" y="3431540"/>
            <a:ext cx="69786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考核指标</a:t>
            </a:r>
            <a:endParaRPr lang="zh-CN" altLang="en-US" sz="1000" dirty="0">
              <a:latin typeface="微软雅黑"/>
              <a:ea typeface="微软雅黑"/>
              <a:cs typeface="微软雅黑"/>
            </a:endParaRPr>
          </a:p>
        </p:txBody>
      </p:sp>
      <p:sp>
        <p:nvSpPr>
          <p:cNvPr id="20" name="矩形 19"/>
          <p:cNvSpPr/>
          <p:nvPr/>
        </p:nvSpPr>
        <p:spPr>
          <a:xfrm>
            <a:off x="639445" y="3953510"/>
            <a:ext cx="998855" cy="417830"/>
          </a:xfrm>
          <a:prstGeom prst="rect">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r>
              <a:rPr lang="zh-CN" altLang="en-US" sz="1200" dirty="0">
                <a:solidFill>
                  <a:srgbClr val="FFFFFF"/>
                </a:solidFill>
                <a:effectLst/>
                <a:latin typeface="微软雅黑"/>
                <a:ea typeface="微软雅黑"/>
                <a:cs typeface="微软雅黑"/>
              </a:rPr>
              <a:t>用户转化</a:t>
            </a:r>
            <a:endParaRPr lang="zh-CN" altLang="en-US" sz="1200" dirty="0">
              <a:solidFill>
                <a:srgbClr val="FFFFFF"/>
              </a:solidFill>
              <a:effectLst/>
              <a:latin typeface="微软雅黑"/>
              <a:ea typeface="微软雅黑"/>
              <a:cs typeface="微软雅黑"/>
            </a:endParaRPr>
          </a:p>
        </p:txBody>
      </p:sp>
      <p:sp>
        <p:nvSpPr>
          <p:cNvPr id="557" name="矩形 556"/>
          <p:cNvSpPr/>
          <p:nvPr/>
        </p:nvSpPr>
        <p:spPr>
          <a:xfrm>
            <a:off x="4915535" y="4479925"/>
            <a:ext cx="1548000"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电商渠道</a:t>
            </a:r>
            <a:endParaRPr lang="zh-CN" altLang="en-US" sz="1100">
              <a:solidFill>
                <a:srgbClr val="383838"/>
              </a:solidFill>
              <a:latin typeface="微软雅黑"/>
              <a:ea typeface="微软雅黑"/>
              <a:cs typeface="微软雅黑"/>
              <a:sym typeface="微软雅黑"/>
            </a:endParaRPr>
          </a:p>
        </p:txBody>
      </p:sp>
      <p:sp>
        <p:nvSpPr>
          <p:cNvPr id="558" name="矩形 557"/>
          <p:cNvSpPr/>
          <p:nvPr/>
        </p:nvSpPr>
        <p:spPr>
          <a:xfrm>
            <a:off x="1901190" y="3983355"/>
            <a:ext cx="2084705" cy="712470"/>
          </a:xfrm>
          <a:prstGeom prst="rect">
            <a:avLst/>
          </a:prstGeom>
          <a:no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75" name="任意多边形: 形状 574"/>
          <p:cNvSpPr/>
          <p:nvPr/>
        </p:nvSpPr>
        <p:spPr>
          <a:xfrm>
            <a:off x="1896745" y="3975735"/>
            <a:ext cx="317500" cy="332105"/>
          </a:xfrm>
          <a:custGeom>
            <a:avLst/>
            <a:gdLst>
              <a:gd name="connsiteX0" fmla="*/ 0 w 408602"/>
              <a:gd name="connsiteY0" fmla="*/ 0 h 427068"/>
              <a:gd name="connsiteX1" fmla="*/ 406519 w 408602"/>
              <a:gd name="connsiteY1" fmla="*/ 0 h 427068"/>
              <a:gd name="connsiteX2" fmla="*/ 408602 w 408602"/>
              <a:gd name="connsiteY2" fmla="*/ 20668 h 427068"/>
              <a:gd name="connsiteX3" fmla="*/ 2202 w 408602"/>
              <a:gd name="connsiteY3" fmla="*/ 427068 h 427068"/>
              <a:gd name="connsiteX4" fmla="*/ 0 w 408602"/>
              <a:gd name="connsiteY4" fmla="*/ 426846 h 427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602" h="427068">
                <a:moveTo>
                  <a:pt x="0" y="0"/>
                </a:moveTo>
                <a:lnTo>
                  <a:pt x="406519" y="0"/>
                </a:lnTo>
                <a:lnTo>
                  <a:pt x="408602" y="20668"/>
                </a:lnTo>
                <a:cubicBezTo>
                  <a:pt x="408602" y="245117"/>
                  <a:pt x="226651" y="427068"/>
                  <a:pt x="2202" y="427068"/>
                </a:cubicBezTo>
                <a:lnTo>
                  <a:pt x="0" y="426846"/>
                </a:ln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76" name="文本框 575"/>
          <p:cNvSpPr txBox="1"/>
          <p:nvPr/>
        </p:nvSpPr>
        <p:spPr>
          <a:xfrm>
            <a:off x="1860550" y="3965575"/>
            <a:ext cx="278130" cy="239395"/>
          </a:xfrm>
          <a:prstGeom prst="rect">
            <a:avLst/>
          </a:prstGeom>
          <a:noFill/>
        </p:spPr>
        <p:txBody>
          <a:bodyPr wrap="none" rtlCol="0">
            <a:spAutoFit/>
          </a:bodyPr>
          <a:lstStyle/>
          <a:p>
            <a:pP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a:t>
            </a:r>
            <a:endParaRPr lang="en-US" altLang="zh-CN" sz="1400" dirty="0">
              <a:solidFill>
                <a:srgbClr val="FFFFFF"/>
              </a:solidFill>
              <a:latin typeface="微软雅黑"/>
              <a:ea typeface="微软雅黑"/>
              <a:cs typeface="微软雅黑"/>
            </a:endParaRPr>
          </a:p>
        </p:txBody>
      </p:sp>
      <p:sp>
        <p:nvSpPr>
          <p:cNvPr id="567" name="文本框 566"/>
          <p:cNvSpPr txBox="1"/>
          <p:nvPr/>
        </p:nvSpPr>
        <p:spPr>
          <a:xfrm>
            <a:off x="4088765" y="4393565"/>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资源支持</a:t>
            </a:r>
            <a:endParaRPr lang="zh-CN" altLang="en-US" sz="1200" dirty="0">
              <a:solidFill>
                <a:srgbClr val="383838"/>
              </a:solidFill>
              <a:latin typeface="微软雅黑"/>
              <a:ea typeface="微软雅黑"/>
              <a:cs typeface="微软雅黑"/>
            </a:endParaRPr>
          </a:p>
        </p:txBody>
      </p:sp>
      <p:sp>
        <p:nvSpPr>
          <p:cNvPr id="568" name="矩形 567"/>
          <p:cNvSpPr/>
          <p:nvPr/>
        </p:nvSpPr>
        <p:spPr>
          <a:xfrm>
            <a:off x="6598790" y="4479925"/>
            <a:ext cx="1547495"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产品设计师</a:t>
            </a:r>
            <a:endParaRPr lang="zh-CN" altLang="en-US" sz="1100">
              <a:solidFill>
                <a:srgbClr val="383838"/>
              </a:solidFill>
              <a:latin typeface="微软雅黑"/>
              <a:ea typeface="微软雅黑"/>
              <a:cs typeface="微软雅黑"/>
              <a:sym typeface="微软雅黑"/>
            </a:endParaRPr>
          </a:p>
        </p:txBody>
      </p:sp>
      <p:sp>
        <p:nvSpPr>
          <p:cNvPr id="569" name="矩形 568"/>
          <p:cNvSpPr/>
          <p:nvPr/>
        </p:nvSpPr>
        <p:spPr>
          <a:xfrm>
            <a:off x="8281540" y="4479925"/>
            <a:ext cx="1547495"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优质供应商</a:t>
            </a:r>
            <a:endParaRPr lang="zh-CN" altLang="en-US" sz="1100">
              <a:solidFill>
                <a:srgbClr val="383838"/>
              </a:solidFill>
              <a:latin typeface="微软雅黑"/>
              <a:ea typeface="微软雅黑"/>
              <a:cs typeface="微软雅黑"/>
              <a:sym typeface="微软雅黑"/>
            </a:endParaRPr>
          </a:p>
        </p:txBody>
      </p:sp>
      <p:sp>
        <p:nvSpPr>
          <p:cNvPr id="570" name="矩形 569"/>
          <p:cNvSpPr/>
          <p:nvPr/>
        </p:nvSpPr>
        <p:spPr>
          <a:xfrm>
            <a:off x="9964290" y="4479925"/>
            <a:ext cx="1547495" cy="337185"/>
          </a:xfrm>
          <a:prstGeom prst="rect">
            <a:avLst/>
          </a:prstGeom>
          <a:solidFill>
            <a:srgbClr val="E6E6E6">
              <a:alpha val="20000"/>
            </a:srgbClr>
          </a:solidFill>
          <a:ln>
            <a:solidFill>
              <a:srgbClr val="668E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物流合作伙伴</a:t>
            </a:r>
            <a:endParaRPr lang="zh-CN" altLang="en-US" sz="1100">
              <a:solidFill>
                <a:srgbClr val="383838"/>
              </a:solidFill>
              <a:latin typeface="微软雅黑"/>
              <a:ea typeface="微软雅黑"/>
              <a:cs typeface="微软雅黑"/>
              <a:sym typeface="微软雅黑"/>
            </a:endParaRPr>
          </a:p>
        </p:txBody>
      </p:sp>
      <p:sp>
        <p:nvSpPr>
          <p:cNvPr id="571" name="文本框 570"/>
          <p:cNvSpPr txBox="1"/>
          <p:nvPr/>
        </p:nvSpPr>
        <p:spPr>
          <a:xfrm>
            <a:off x="4225290" y="3976370"/>
            <a:ext cx="49276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方法</a:t>
            </a:r>
            <a:endParaRPr lang="zh-CN" altLang="en-US" sz="1200" dirty="0">
              <a:solidFill>
                <a:srgbClr val="383838"/>
              </a:solidFill>
              <a:latin typeface="微软雅黑"/>
              <a:ea typeface="微软雅黑"/>
              <a:cs typeface="微软雅黑"/>
            </a:endParaRPr>
          </a:p>
        </p:txBody>
      </p:sp>
      <p:sp>
        <p:nvSpPr>
          <p:cNvPr id="572" name="矩形 571"/>
          <p:cNvSpPr/>
          <p:nvPr/>
        </p:nvSpPr>
        <p:spPr>
          <a:xfrm>
            <a:off x="4915535" y="3953510"/>
            <a:ext cx="6597015" cy="471170"/>
          </a:xfrm>
          <a:prstGeom prst="rect">
            <a:avLst/>
          </a:prstGeom>
          <a:solidFill>
            <a:srgbClr val="E6E6E6">
              <a:alpha val="5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573" name="任意多边形: 形状 572"/>
          <p:cNvSpPr/>
          <p:nvPr/>
        </p:nvSpPr>
        <p:spPr>
          <a:xfrm>
            <a:off x="4406265" y="4208780"/>
            <a:ext cx="158115" cy="2635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74" name="文本框 573"/>
          <p:cNvSpPr txBox="1"/>
          <p:nvPr/>
        </p:nvSpPr>
        <p:spPr>
          <a:xfrm>
            <a:off x="4984115" y="3994785"/>
            <a:ext cx="6415405" cy="430530"/>
          </a:xfrm>
          <a:prstGeom prst="rect">
            <a:avLst/>
          </a:prstGeom>
          <a:noFill/>
        </p:spPr>
        <p:txBody>
          <a:bodyPr wrap="square">
            <a:spAutoFit/>
          </a:bodyPr>
          <a:lstStyle/>
          <a:p>
            <a:pPr algn="l">
              <a:defRPr>
                <a:latin typeface="微软雅黑"/>
                <a:ea typeface="微软雅黑"/>
                <a:cs typeface="微软雅黑"/>
              </a:defRPr>
            </a:pPr>
            <a:r>
              <a:rPr lang="zh-CN" altLang="en-US" sz="1100" b="0" i="0" dirty="0">
                <a:solidFill>
                  <a:srgbClr val="383838"/>
                </a:solidFill>
                <a:effectLst/>
                <a:latin typeface="微软雅黑"/>
                <a:ea typeface="微软雅黑"/>
                <a:cs typeface="微软雅黑"/>
              </a:rPr>
              <a:t>促进用户转化，提高订单量和订单价值。可以通过定期推送产品推荐信息和满足用户个性化需求的宣传手段来增加用户消费频次和精准转化目标用户。</a:t>
            </a:r>
            <a:endParaRPr lang="zh-CN" altLang="en-US" sz="1100" b="0" i="0" dirty="0">
              <a:solidFill>
                <a:srgbClr val="383838"/>
              </a:solidFill>
              <a:effectLst/>
              <a:latin typeface="微软雅黑"/>
              <a:ea typeface="微软雅黑"/>
              <a:cs typeface="微软雅黑"/>
            </a:endParaRPr>
          </a:p>
        </p:txBody>
      </p:sp>
      <p:sp>
        <p:nvSpPr>
          <p:cNvPr id="612" name="文本框 611"/>
          <p:cNvSpPr txBox="1"/>
          <p:nvPr/>
        </p:nvSpPr>
        <p:spPr>
          <a:xfrm>
            <a:off x="2195195" y="3987165"/>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latin typeface="微软雅黑"/>
                <a:ea typeface="微软雅黑"/>
                <a:cs typeface="微软雅黑"/>
              </a:rPr>
              <a:t>考核指标</a:t>
            </a:r>
            <a:endParaRPr lang="zh-CN" altLang="en-US" sz="1200" dirty="0">
              <a:latin typeface="微软雅黑"/>
              <a:ea typeface="微软雅黑"/>
              <a:cs typeface="微软雅黑"/>
            </a:endParaRPr>
          </a:p>
        </p:txBody>
      </p:sp>
      <p:sp>
        <p:nvSpPr>
          <p:cNvPr id="613" name="文本框 612"/>
          <p:cNvSpPr txBox="1"/>
          <p:nvPr/>
        </p:nvSpPr>
        <p:spPr>
          <a:xfrm>
            <a:off x="2200275" y="4232910"/>
            <a:ext cx="82613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订单成交量</a:t>
            </a:r>
            <a:endParaRPr lang="zh-CN" altLang="en-US" sz="1000" dirty="0">
              <a:latin typeface="微软雅黑"/>
              <a:ea typeface="微软雅黑"/>
              <a:cs typeface="微软雅黑"/>
            </a:endParaRPr>
          </a:p>
        </p:txBody>
      </p:sp>
      <p:sp>
        <p:nvSpPr>
          <p:cNvPr id="614" name="文本框 613"/>
          <p:cNvSpPr txBox="1"/>
          <p:nvPr/>
        </p:nvSpPr>
        <p:spPr>
          <a:xfrm>
            <a:off x="2976245" y="4232910"/>
            <a:ext cx="569595"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销售额</a:t>
            </a:r>
            <a:endParaRPr lang="zh-CN" altLang="en-US" sz="1000" dirty="0">
              <a:latin typeface="微软雅黑"/>
              <a:ea typeface="微软雅黑"/>
              <a:cs typeface="微软雅黑"/>
            </a:endParaRPr>
          </a:p>
        </p:txBody>
      </p:sp>
      <p:sp>
        <p:nvSpPr>
          <p:cNvPr id="615" name="文本框 614"/>
          <p:cNvSpPr txBox="1"/>
          <p:nvPr/>
        </p:nvSpPr>
        <p:spPr>
          <a:xfrm>
            <a:off x="2200275" y="4439285"/>
            <a:ext cx="1210310"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客户生命周期价值</a:t>
            </a:r>
            <a:endParaRPr lang="zh-CN" altLang="en-US" sz="1000" dirty="0">
              <a:latin typeface="微软雅黑"/>
              <a:ea typeface="微软雅黑"/>
              <a:cs typeface="微软雅黑"/>
            </a:endParaRPr>
          </a:p>
        </p:txBody>
      </p:sp>
      <p:sp>
        <p:nvSpPr>
          <p:cNvPr id="21" name="矩形 20"/>
          <p:cNvSpPr/>
          <p:nvPr/>
        </p:nvSpPr>
        <p:spPr>
          <a:xfrm>
            <a:off x="639445" y="4963795"/>
            <a:ext cx="998855" cy="417830"/>
          </a:xfrm>
          <a:prstGeom prst="rect">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r>
              <a:rPr lang="zh-CN" altLang="en-US" sz="1200" dirty="0">
                <a:solidFill>
                  <a:srgbClr val="FFFFFF"/>
                </a:solidFill>
                <a:effectLst/>
                <a:latin typeface="微软雅黑"/>
                <a:ea typeface="微软雅黑"/>
                <a:cs typeface="微软雅黑"/>
              </a:rPr>
              <a:t>口碑传播</a:t>
            </a:r>
            <a:endParaRPr lang="zh-CN" altLang="en-US" sz="1200" dirty="0">
              <a:solidFill>
                <a:srgbClr val="FFFFFF"/>
              </a:solidFill>
              <a:effectLst/>
              <a:latin typeface="微软雅黑"/>
              <a:ea typeface="微软雅黑"/>
              <a:cs typeface="微软雅黑"/>
            </a:endParaRPr>
          </a:p>
        </p:txBody>
      </p:sp>
      <p:sp>
        <p:nvSpPr>
          <p:cNvPr id="578" name="矩形 577"/>
          <p:cNvSpPr/>
          <p:nvPr/>
        </p:nvSpPr>
        <p:spPr>
          <a:xfrm>
            <a:off x="4915535" y="5492115"/>
            <a:ext cx="1317625" cy="337185"/>
          </a:xfrm>
          <a:prstGeom prst="rect">
            <a:avLst/>
          </a:prstGeom>
          <a:solidFill>
            <a:srgbClr val="FFFFFF">
              <a:alpha val="15000"/>
            </a:srgbClr>
          </a:solidFill>
          <a:ln>
            <a:solidFill>
              <a:srgbClr val="3368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社群运营及奖励方案设计</a:t>
            </a:r>
            <a:endParaRPr lang="zh-CN" altLang="en-US" sz="1100">
              <a:solidFill>
                <a:srgbClr val="383838"/>
              </a:solidFill>
              <a:latin typeface="微软雅黑"/>
              <a:ea typeface="微软雅黑"/>
              <a:cs typeface="微软雅黑"/>
              <a:sym typeface="微软雅黑"/>
            </a:endParaRPr>
          </a:p>
        </p:txBody>
      </p:sp>
      <p:sp>
        <p:nvSpPr>
          <p:cNvPr id="579" name="矩形 578"/>
          <p:cNvSpPr/>
          <p:nvPr/>
        </p:nvSpPr>
        <p:spPr>
          <a:xfrm>
            <a:off x="1901190" y="4993640"/>
            <a:ext cx="2084705" cy="713105"/>
          </a:xfrm>
          <a:prstGeom prst="rect">
            <a:avLst/>
          </a:prstGeom>
          <a:solidFill>
            <a:srgbClr val="FFFFFF">
              <a:alpha val="50000"/>
            </a:srgbClr>
          </a:solid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596" name="任意多边形: 形状 595"/>
          <p:cNvSpPr/>
          <p:nvPr/>
        </p:nvSpPr>
        <p:spPr>
          <a:xfrm>
            <a:off x="1896745" y="4986020"/>
            <a:ext cx="317500" cy="332105"/>
          </a:xfrm>
          <a:custGeom>
            <a:avLst/>
            <a:gdLst>
              <a:gd name="connsiteX0" fmla="*/ 0 w 408602"/>
              <a:gd name="connsiteY0" fmla="*/ 0 h 427068"/>
              <a:gd name="connsiteX1" fmla="*/ 406519 w 408602"/>
              <a:gd name="connsiteY1" fmla="*/ 0 h 427068"/>
              <a:gd name="connsiteX2" fmla="*/ 408602 w 408602"/>
              <a:gd name="connsiteY2" fmla="*/ 20668 h 427068"/>
              <a:gd name="connsiteX3" fmla="*/ 2202 w 408602"/>
              <a:gd name="connsiteY3" fmla="*/ 427068 h 427068"/>
              <a:gd name="connsiteX4" fmla="*/ 0 w 408602"/>
              <a:gd name="connsiteY4" fmla="*/ 426846 h 427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602" h="427068">
                <a:moveTo>
                  <a:pt x="0" y="0"/>
                </a:moveTo>
                <a:lnTo>
                  <a:pt x="406519" y="0"/>
                </a:lnTo>
                <a:lnTo>
                  <a:pt x="408602" y="20668"/>
                </a:lnTo>
                <a:cubicBezTo>
                  <a:pt x="408602" y="245117"/>
                  <a:pt x="226651" y="427068"/>
                  <a:pt x="2202" y="427068"/>
                </a:cubicBezTo>
                <a:lnTo>
                  <a:pt x="0" y="426846"/>
                </a:lnTo>
                <a:close/>
              </a:path>
            </a:pathLst>
          </a:cu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97" name="文本框 596"/>
          <p:cNvSpPr txBox="1"/>
          <p:nvPr/>
        </p:nvSpPr>
        <p:spPr>
          <a:xfrm>
            <a:off x="1860550" y="4975860"/>
            <a:ext cx="278130" cy="239395"/>
          </a:xfrm>
          <a:prstGeom prst="rect">
            <a:avLst/>
          </a:prstGeom>
          <a:noFill/>
        </p:spPr>
        <p:txBody>
          <a:bodyPr wrap="none" rtlCol="0">
            <a:spAutoFit/>
          </a:bodyPr>
          <a:lstStyle/>
          <a:p>
            <a:pP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a:t>
            </a:r>
            <a:endParaRPr lang="en-US" altLang="zh-CN" sz="1400" dirty="0">
              <a:solidFill>
                <a:srgbClr val="FFFFFF"/>
              </a:solidFill>
              <a:latin typeface="微软雅黑"/>
              <a:ea typeface="微软雅黑"/>
              <a:cs typeface="微软雅黑"/>
            </a:endParaRPr>
          </a:p>
        </p:txBody>
      </p:sp>
      <p:sp>
        <p:nvSpPr>
          <p:cNvPr id="588" name="文本框 587"/>
          <p:cNvSpPr txBox="1"/>
          <p:nvPr/>
        </p:nvSpPr>
        <p:spPr>
          <a:xfrm>
            <a:off x="4088765" y="5403850"/>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资源支持</a:t>
            </a:r>
            <a:endParaRPr lang="zh-CN" altLang="en-US" sz="1200" dirty="0">
              <a:solidFill>
                <a:srgbClr val="383838"/>
              </a:solidFill>
              <a:latin typeface="微软雅黑"/>
              <a:ea typeface="微软雅黑"/>
              <a:cs typeface="微软雅黑"/>
            </a:endParaRPr>
          </a:p>
        </p:txBody>
      </p:sp>
      <p:sp>
        <p:nvSpPr>
          <p:cNvPr id="589" name="矩形 588"/>
          <p:cNvSpPr/>
          <p:nvPr/>
        </p:nvSpPr>
        <p:spPr>
          <a:xfrm>
            <a:off x="6675120" y="5492115"/>
            <a:ext cx="1317625" cy="337185"/>
          </a:xfrm>
          <a:prstGeom prst="rect">
            <a:avLst/>
          </a:prstGeom>
          <a:solidFill>
            <a:srgbClr val="FFFFFF">
              <a:alpha val="15000"/>
            </a:srgbClr>
          </a:solidFill>
          <a:ln>
            <a:solidFill>
              <a:srgbClr val="3368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口碑营销策划投放</a:t>
            </a:r>
            <a:endParaRPr lang="zh-CN" altLang="en-US" sz="1100">
              <a:solidFill>
                <a:srgbClr val="383838"/>
              </a:solidFill>
              <a:latin typeface="微软雅黑"/>
              <a:ea typeface="微软雅黑"/>
              <a:cs typeface="微软雅黑"/>
              <a:sym typeface="微软雅黑"/>
            </a:endParaRPr>
          </a:p>
        </p:txBody>
      </p:sp>
      <p:sp>
        <p:nvSpPr>
          <p:cNvPr id="590" name="矩形 589"/>
          <p:cNvSpPr/>
          <p:nvPr/>
        </p:nvSpPr>
        <p:spPr>
          <a:xfrm>
            <a:off x="8434070" y="5492115"/>
            <a:ext cx="1317625" cy="337185"/>
          </a:xfrm>
          <a:prstGeom prst="rect">
            <a:avLst/>
          </a:prstGeom>
          <a:solidFill>
            <a:srgbClr val="FFFFFF">
              <a:alpha val="15000"/>
            </a:srgbClr>
          </a:solidFill>
          <a:ln>
            <a:solidFill>
              <a:srgbClr val="3368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客户体验管理</a:t>
            </a:r>
            <a:endParaRPr lang="zh-CN" altLang="en-US" sz="1100">
              <a:solidFill>
                <a:srgbClr val="383838"/>
              </a:solidFill>
              <a:latin typeface="微软雅黑"/>
              <a:ea typeface="微软雅黑"/>
              <a:cs typeface="微软雅黑"/>
              <a:sym typeface="微软雅黑"/>
            </a:endParaRPr>
          </a:p>
        </p:txBody>
      </p:sp>
      <p:sp>
        <p:nvSpPr>
          <p:cNvPr id="591" name="矩形 590"/>
          <p:cNvSpPr/>
          <p:nvPr/>
        </p:nvSpPr>
        <p:spPr>
          <a:xfrm>
            <a:off x="10193655" y="5492115"/>
            <a:ext cx="1317625" cy="337185"/>
          </a:xfrm>
          <a:prstGeom prst="rect">
            <a:avLst/>
          </a:prstGeom>
          <a:solidFill>
            <a:srgbClr val="FFFFFF">
              <a:alpha val="15000"/>
            </a:srgbClr>
          </a:solidFill>
          <a:ln>
            <a:solidFill>
              <a:srgbClr val="3368FF">
                <a:alpha val="4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100">
                <a:solidFill>
                  <a:srgbClr val="383838"/>
                </a:solidFill>
                <a:latin typeface="微软雅黑"/>
                <a:ea typeface="微软雅黑"/>
                <a:cs typeface="微软雅黑"/>
                <a:sym typeface="微软雅黑"/>
              </a:rPr>
              <a:t>社交媒体内容创作</a:t>
            </a:r>
            <a:endParaRPr lang="zh-CN" altLang="en-US" sz="1100">
              <a:solidFill>
                <a:srgbClr val="383838"/>
              </a:solidFill>
              <a:latin typeface="微软雅黑"/>
              <a:ea typeface="微软雅黑"/>
              <a:cs typeface="微软雅黑"/>
              <a:sym typeface="微软雅黑"/>
            </a:endParaRPr>
          </a:p>
        </p:txBody>
      </p:sp>
      <p:sp>
        <p:nvSpPr>
          <p:cNvPr id="592" name="文本框 591"/>
          <p:cNvSpPr txBox="1"/>
          <p:nvPr/>
        </p:nvSpPr>
        <p:spPr>
          <a:xfrm>
            <a:off x="4225290" y="4986655"/>
            <a:ext cx="49276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方法</a:t>
            </a:r>
            <a:endParaRPr lang="zh-CN" altLang="en-US" sz="1200" dirty="0">
              <a:solidFill>
                <a:srgbClr val="383838"/>
              </a:solidFill>
              <a:latin typeface="微软雅黑"/>
              <a:ea typeface="微软雅黑"/>
              <a:cs typeface="微软雅黑"/>
            </a:endParaRPr>
          </a:p>
        </p:txBody>
      </p:sp>
      <p:sp>
        <p:nvSpPr>
          <p:cNvPr id="593" name="矩形 592"/>
          <p:cNvSpPr/>
          <p:nvPr/>
        </p:nvSpPr>
        <p:spPr>
          <a:xfrm>
            <a:off x="4915535" y="4963795"/>
            <a:ext cx="6597015" cy="478155"/>
          </a:xfrm>
          <a:prstGeom prst="rect">
            <a:avLst/>
          </a:prstGeom>
          <a:solidFill>
            <a:srgbClr val="FFFFFF">
              <a:alpha val="50000"/>
            </a:srgbClr>
          </a:solid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100">
              <a:solidFill>
                <a:srgbClr val="383838"/>
              </a:solidFill>
              <a:latin typeface="微软雅黑"/>
              <a:ea typeface="微软雅黑"/>
              <a:cs typeface="微软雅黑"/>
              <a:sym typeface="微软雅黑"/>
            </a:endParaRPr>
          </a:p>
        </p:txBody>
      </p:sp>
      <p:sp>
        <p:nvSpPr>
          <p:cNvPr id="594" name="任意多边形: 形状 593"/>
          <p:cNvSpPr/>
          <p:nvPr/>
        </p:nvSpPr>
        <p:spPr>
          <a:xfrm>
            <a:off x="4406265" y="5219065"/>
            <a:ext cx="158115" cy="26352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595" name="文本框 594"/>
          <p:cNvSpPr txBox="1"/>
          <p:nvPr/>
        </p:nvSpPr>
        <p:spPr>
          <a:xfrm>
            <a:off x="4984115" y="5005070"/>
            <a:ext cx="6415405" cy="431165"/>
          </a:xfrm>
          <a:prstGeom prst="rect">
            <a:avLst/>
          </a:prstGeom>
          <a:noFill/>
        </p:spPr>
        <p:txBody>
          <a:bodyPr wrap="square">
            <a:spAutoFit/>
          </a:bodyPr>
          <a:lstStyle/>
          <a:p>
            <a:pPr algn="l">
              <a:defRPr>
                <a:latin typeface="微软雅黑"/>
                <a:ea typeface="微软雅黑"/>
                <a:cs typeface="微软雅黑"/>
              </a:defRPr>
            </a:pPr>
            <a:r>
              <a:rPr lang="zh-CN" altLang="en-US" sz="1100" b="0" i="0" dirty="0">
                <a:solidFill>
                  <a:srgbClr val="383838"/>
                </a:solidFill>
                <a:effectLst/>
                <a:latin typeface="微软雅黑"/>
                <a:ea typeface="微软雅黑"/>
                <a:cs typeface="微软雅黑"/>
              </a:rPr>
              <a:t>利用现有客户的口碑影响力，吸引更多潜在客户。可以通过现有用户推荐返利、社交媒体用户</a:t>
            </a:r>
            <a:r>
              <a:rPr lang="en-US" altLang="zh-CN" sz="1100" b="0" i="0" dirty="0">
                <a:solidFill>
                  <a:srgbClr val="383838"/>
                </a:solidFill>
                <a:effectLst/>
                <a:latin typeface="微软雅黑"/>
                <a:ea typeface="微软雅黑"/>
                <a:cs typeface="微软雅黑"/>
              </a:rPr>
              <a:t>UGC</a:t>
            </a:r>
            <a:r>
              <a:rPr lang="zh-CN" altLang="en-US" sz="1100" b="0" i="0" dirty="0">
                <a:solidFill>
                  <a:srgbClr val="383838"/>
                </a:solidFill>
                <a:effectLst/>
                <a:latin typeface="微软雅黑"/>
                <a:ea typeface="微软雅黑"/>
                <a:cs typeface="微软雅黑"/>
              </a:rPr>
              <a:t>等方式，鼓励用户进行品牌口碑传播。</a:t>
            </a:r>
            <a:endParaRPr lang="zh-CN" altLang="en-US" sz="1100" b="0" i="0" dirty="0">
              <a:solidFill>
                <a:srgbClr val="383838"/>
              </a:solidFill>
              <a:effectLst/>
              <a:latin typeface="微软雅黑"/>
              <a:ea typeface="微软雅黑"/>
              <a:cs typeface="微软雅黑"/>
            </a:endParaRPr>
          </a:p>
        </p:txBody>
      </p:sp>
      <p:sp>
        <p:nvSpPr>
          <p:cNvPr id="617" name="文本框 616"/>
          <p:cNvSpPr txBox="1"/>
          <p:nvPr/>
        </p:nvSpPr>
        <p:spPr>
          <a:xfrm>
            <a:off x="2195195" y="5012055"/>
            <a:ext cx="800100" cy="276860"/>
          </a:xfrm>
          <a:prstGeom prst="rect">
            <a:avLst/>
          </a:prstGeom>
          <a:noFill/>
        </p:spPr>
        <p:txBody>
          <a:bodyPr wrap="none" rtlCol="0">
            <a:spAutoFit/>
          </a:bodyPr>
          <a:lstStyle/>
          <a:p>
            <a:pPr>
              <a:defRPr>
                <a:latin typeface="微软雅黑"/>
                <a:ea typeface="微软雅黑"/>
                <a:cs typeface="微软雅黑"/>
              </a:defRPr>
            </a:pPr>
            <a:r>
              <a:rPr lang="zh-CN" altLang="en-US" sz="1200" dirty="0">
                <a:latin typeface="微软雅黑"/>
                <a:ea typeface="微软雅黑"/>
                <a:cs typeface="微软雅黑"/>
              </a:rPr>
              <a:t>考核指标</a:t>
            </a:r>
            <a:endParaRPr lang="zh-CN" altLang="en-US" sz="1200" dirty="0">
              <a:latin typeface="微软雅黑"/>
              <a:ea typeface="微软雅黑"/>
              <a:cs typeface="微软雅黑"/>
            </a:endParaRPr>
          </a:p>
        </p:txBody>
      </p:sp>
      <p:sp>
        <p:nvSpPr>
          <p:cNvPr id="618" name="文本框 617"/>
          <p:cNvSpPr txBox="1"/>
          <p:nvPr/>
        </p:nvSpPr>
        <p:spPr>
          <a:xfrm>
            <a:off x="2200275" y="5257800"/>
            <a:ext cx="1338580"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引导新注册用户数量</a:t>
            </a:r>
            <a:endParaRPr lang="zh-CN" altLang="en-US" sz="1000" dirty="0">
              <a:latin typeface="微软雅黑"/>
              <a:ea typeface="微软雅黑"/>
              <a:cs typeface="微软雅黑"/>
            </a:endParaRPr>
          </a:p>
        </p:txBody>
      </p:sp>
      <p:sp>
        <p:nvSpPr>
          <p:cNvPr id="620" name="文本框 619"/>
          <p:cNvSpPr txBox="1"/>
          <p:nvPr/>
        </p:nvSpPr>
        <p:spPr>
          <a:xfrm>
            <a:off x="2200275" y="5464175"/>
            <a:ext cx="1338580" cy="246380"/>
          </a:xfrm>
          <a:prstGeom prst="rect">
            <a:avLst/>
          </a:prstGeom>
          <a:noFill/>
        </p:spPr>
        <p:txBody>
          <a:bodyPr wrap="none" rtlCol="0" lIns="0" rIns="0" tIns="0" bIns="0">
            <a:spAutoFit/>
          </a:bodyPr>
          <a:lstStyle/>
          <a:p>
            <a:pPr>
              <a:defRPr>
                <a:latin typeface="微软雅黑"/>
                <a:ea typeface="微软雅黑"/>
                <a:cs typeface="微软雅黑"/>
              </a:defRPr>
            </a:pPr>
            <a:r>
              <a:rPr lang="zh-CN" altLang="en-US" sz="1000" dirty="0">
                <a:latin typeface="微软雅黑"/>
                <a:ea typeface="微软雅黑"/>
                <a:cs typeface="微软雅黑"/>
              </a:rPr>
              <a:t>受邀用户订单成交量</a:t>
            </a:r>
            <a:endParaRPr lang="zh-CN" altLang="en-US" sz="1000" dirty="0">
              <a:latin typeface="微软雅黑"/>
              <a:ea typeface="微软雅黑"/>
              <a:cs typeface="微软雅黑"/>
            </a:endParaRPr>
          </a:p>
        </p:txBody>
      </p:sp>
      <p:cxnSp>
        <p:nvCxnSpPr>
          <p:cNvPr id="636" name="直接箭头连接符 635"/>
          <p:cNvCxnSpPr/>
          <p:nvPr/>
        </p:nvCxnSpPr>
        <p:spPr>
          <a:xfrm>
            <a:off x="1129053" y="2508532"/>
            <a:ext cx="0" cy="355895"/>
          </a:xfrm>
          <a:prstGeom prst="straightConnector1">
            <a:avLst/>
          </a:prstGeom>
          <a:ln>
            <a:solidFill>
              <a:srgbClr val="DCDCDC"/>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637" name="直接箭头连接符 636"/>
          <p:cNvCxnSpPr/>
          <p:nvPr/>
        </p:nvCxnSpPr>
        <p:spPr>
          <a:xfrm>
            <a:off x="1129053" y="3496507"/>
            <a:ext cx="0" cy="355895"/>
          </a:xfrm>
          <a:prstGeom prst="straightConnector1">
            <a:avLst/>
          </a:prstGeom>
          <a:ln>
            <a:solidFill>
              <a:srgbClr val="DCDCDC"/>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638" name="直接箭头连接符 637"/>
          <p:cNvCxnSpPr/>
          <p:nvPr/>
        </p:nvCxnSpPr>
        <p:spPr>
          <a:xfrm>
            <a:off x="1129053" y="4515585"/>
            <a:ext cx="0" cy="355895"/>
          </a:xfrm>
          <a:prstGeom prst="straightConnector1">
            <a:avLst/>
          </a:prstGeom>
          <a:ln>
            <a:solidFill>
              <a:srgbClr val="DCDCDC"/>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矩形: 圆角 247"/>
          <p:cNvSpPr/>
          <p:nvPr/>
        </p:nvSpPr>
        <p:spPr>
          <a:xfrm>
            <a:off x="8648700" y="4318000"/>
            <a:ext cx="1552575" cy="1539240"/>
          </a:xfrm>
          <a:prstGeom prst="roundRect">
            <a:avLst>
              <a:gd name="adj" fmla="val 8240"/>
            </a:avLst>
          </a:prstGeom>
          <a:solidFill>
            <a:srgbClr val="FFFFFF">
              <a:alpha val="20000"/>
            </a:srgbClr>
          </a:solid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6" name="矩形: 圆角 217"/>
          <p:cNvSpPr/>
          <p:nvPr/>
        </p:nvSpPr>
        <p:spPr>
          <a:xfrm>
            <a:off x="8648700" y="1508760"/>
            <a:ext cx="1552575" cy="2136140"/>
          </a:xfrm>
          <a:prstGeom prst="roundRect">
            <a:avLst>
              <a:gd name="adj" fmla="val 8240"/>
            </a:avLst>
          </a:prstGeom>
          <a:solidFill>
            <a:srgbClr val="FFFFFF">
              <a:alpha val="20000"/>
            </a:srgbClr>
          </a:solid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客户运营计划全景图</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5" name="矩形: 圆角 184"/>
          <p:cNvSpPr/>
          <p:nvPr/>
        </p:nvSpPr>
        <p:spPr>
          <a:xfrm>
            <a:off x="5326360" y="1509268"/>
            <a:ext cx="2888980" cy="983551"/>
          </a:xfrm>
          <a:prstGeom prst="roundRect">
            <a:avLst>
              <a:gd name="adj" fmla="val 8240"/>
            </a:avLst>
          </a:prstGeom>
          <a:solidFill>
            <a:srgbClr val="E6E6E6">
              <a:alpha val="20000"/>
            </a:srgbClr>
          </a:solidFill>
          <a:ln>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71" name="任意多边形: 形状 370"/>
          <p:cNvSpPr/>
          <p:nvPr/>
        </p:nvSpPr>
        <p:spPr>
          <a:xfrm>
            <a:off x="5326360" y="1509268"/>
            <a:ext cx="2888980" cy="326128"/>
          </a:xfrm>
          <a:custGeom>
            <a:avLst/>
            <a:gdLst>
              <a:gd name="connsiteX0" fmla="*/ 81045 w 2888980"/>
              <a:gd name="connsiteY0" fmla="*/ 0 h 326128"/>
              <a:gd name="connsiteX1" fmla="*/ 2807935 w 2888980"/>
              <a:gd name="connsiteY1" fmla="*/ 0 h 326128"/>
              <a:gd name="connsiteX2" fmla="*/ 2888980 w 2888980"/>
              <a:gd name="connsiteY2" fmla="*/ 81045 h 326128"/>
              <a:gd name="connsiteX3" fmla="*/ 2888980 w 2888980"/>
              <a:gd name="connsiteY3" fmla="*/ 326128 h 326128"/>
              <a:gd name="connsiteX4" fmla="*/ 0 w 2888980"/>
              <a:gd name="connsiteY4" fmla="*/ 326128 h 326128"/>
              <a:gd name="connsiteX5" fmla="*/ 0 w 2888980"/>
              <a:gd name="connsiteY5" fmla="*/ 81045 h 326128"/>
              <a:gd name="connsiteX6" fmla="*/ 81045 w 2888980"/>
              <a:gd name="connsiteY6" fmla="*/ 0 h 326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8980" h="326128">
                <a:moveTo>
                  <a:pt x="81045" y="0"/>
                </a:moveTo>
                <a:lnTo>
                  <a:pt x="2807935" y="0"/>
                </a:lnTo>
                <a:cubicBezTo>
                  <a:pt x="2852695" y="0"/>
                  <a:pt x="2888980" y="36285"/>
                  <a:pt x="2888980" y="81045"/>
                </a:cubicBezTo>
                <a:lnTo>
                  <a:pt x="2888980" y="326128"/>
                </a:lnTo>
                <a:lnTo>
                  <a:pt x="0" y="326128"/>
                </a:lnTo>
                <a:lnTo>
                  <a:pt x="0" y="81045"/>
                </a:lnTo>
                <a:cubicBezTo>
                  <a:pt x="0" y="36285"/>
                  <a:pt x="36285" y="0"/>
                  <a:pt x="81045" y="0"/>
                </a:cubicBezTo>
                <a:close/>
              </a:path>
            </a:pathLst>
          </a:cu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6" name="矩形: 圆角 62"/>
          <p:cNvSpPr/>
          <p:nvPr/>
        </p:nvSpPr>
        <p:spPr>
          <a:xfrm>
            <a:off x="3295650" y="1486535"/>
            <a:ext cx="1552575" cy="2157730"/>
          </a:xfrm>
          <a:prstGeom prst="roundRect">
            <a:avLst>
              <a:gd name="adj" fmla="val 8240"/>
            </a:avLst>
          </a:prstGeom>
          <a:solidFill>
            <a:srgbClr val="E6E6E6">
              <a:alpha val="20000"/>
            </a:srgbClr>
          </a:solidFill>
          <a:ln>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cxnSp>
        <p:nvCxnSpPr>
          <p:cNvPr id="355" name="连接符: 曲线 354"/>
          <p:cNvCxnSpPr>
            <a:stCxn id="140" idx="2"/>
          </p:cNvCxnSpPr>
          <p:nvPr/>
        </p:nvCxnSpPr>
        <p:spPr>
          <a:xfrm rot="5400000">
            <a:off x="9425305" y="4488815"/>
            <a:ext cx="252730" cy="2987675"/>
          </a:xfrm>
          <a:prstGeom prst="curvedConnector2">
            <a:avLst/>
          </a:prstGeom>
          <a:ln>
            <a:solidFill>
              <a:srgbClr val="383838">
                <a:alpha val="70000"/>
              </a:srgbClr>
            </a:solidFill>
            <a:prstDash val="dash"/>
            <a:tailEnd type="triangle"/>
          </a:ln>
        </p:spPr>
        <p:style>
          <a:lnRef idx="1">
            <a:srgbClr val="0042FF"/>
          </a:lnRef>
          <a:fillRef idx="0">
            <a:srgbClr val="0042FF"/>
          </a:fillRef>
          <a:effectRef idx="0">
            <a:srgbClr val="0042FF"/>
          </a:effectRef>
          <a:fontRef idx="minor">
            <a:srgbClr val="383838"/>
          </a:fontRef>
        </p:style>
      </p:cxnSp>
      <p:sp>
        <p:nvSpPr>
          <p:cNvPr id="323" name="梯形 322"/>
          <p:cNvSpPr/>
          <p:nvPr/>
        </p:nvSpPr>
        <p:spPr>
          <a:xfrm rot="16200000">
            <a:off x="2482850" y="2732405"/>
            <a:ext cx="1182370" cy="531495"/>
          </a:xfrm>
          <a:custGeom>
            <a:avLst/>
            <a:gdLst>
              <a:gd name="connsiteX0" fmla="*/ 0 w 965390"/>
              <a:gd name="connsiteY0" fmla="*/ 697627 h 697627"/>
              <a:gd name="connsiteX1" fmla="*/ 174407 w 965390"/>
              <a:gd name="connsiteY1" fmla="*/ 0 h 697627"/>
              <a:gd name="connsiteX2" fmla="*/ 790983 w 965390"/>
              <a:gd name="connsiteY2" fmla="*/ 0 h 697627"/>
              <a:gd name="connsiteX3" fmla="*/ 965390 w 965390"/>
              <a:gd name="connsiteY3" fmla="*/ 697627 h 697627"/>
              <a:gd name="connsiteX4" fmla="*/ 0 w 965390"/>
              <a:gd name="connsiteY4" fmla="*/ 697627 h 697627"/>
              <a:gd name="connsiteX0-1" fmla="*/ 0 w 965390"/>
              <a:gd name="connsiteY0-2" fmla="*/ 697627 h 697627"/>
              <a:gd name="connsiteX1-3" fmla="*/ 174407 w 965390"/>
              <a:gd name="connsiteY1-4" fmla="*/ 0 h 697627"/>
              <a:gd name="connsiteX2-5" fmla="*/ 790983 w 965390"/>
              <a:gd name="connsiteY2-6" fmla="*/ 0 h 697627"/>
              <a:gd name="connsiteX3-7" fmla="*/ 965390 w 965390"/>
              <a:gd name="connsiteY3-8" fmla="*/ 697627 h 697627"/>
              <a:gd name="connsiteX4-9" fmla="*/ 0 w 965390"/>
              <a:gd name="connsiteY4-10" fmla="*/ 697627 h 697627"/>
              <a:gd name="connsiteX0-11" fmla="*/ 0 w 965390"/>
              <a:gd name="connsiteY0-12" fmla="*/ 697627 h 697627"/>
              <a:gd name="connsiteX1-13" fmla="*/ 174407 w 965390"/>
              <a:gd name="connsiteY1-14" fmla="*/ 0 h 697627"/>
              <a:gd name="connsiteX2-15" fmla="*/ 790983 w 965390"/>
              <a:gd name="connsiteY2-16" fmla="*/ 0 h 697627"/>
              <a:gd name="connsiteX3-17" fmla="*/ 965390 w 965390"/>
              <a:gd name="connsiteY3-18" fmla="*/ 697627 h 697627"/>
              <a:gd name="connsiteX4-19" fmla="*/ 0 w 965390"/>
              <a:gd name="connsiteY4-20" fmla="*/ 697627 h 697627"/>
              <a:gd name="connsiteX0-21" fmla="*/ 0 w 965390"/>
              <a:gd name="connsiteY0-22" fmla="*/ 697627 h 697627"/>
              <a:gd name="connsiteX1-23" fmla="*/ 174407 w 965390"/>
              <a:gd name="connsiteY1-24" fmla="*/ 0 h 697627"/>
              <a:gd name="connsiteX2-25" fmla="*/ 790983 w 965390"/>
              <a:gd name="connsiteY2-26" fmla="*/ 0 h 697627"/>
              <a:gd name="connsiteX3-27" fmla="*/ 965390 w 965390"/>
              <a:gd name="connsiteY3-28" fmla="*/ 697627 h 697627"/>
              <a:gd name="connsiteX4-29" fmla="*/ 0 w 965390"/>
              <a:gd name="connsiteY4-30" fmla="*/ 697627 h 697627"/>
              <a:gd name="connsiteX0-31" fmla="*/ 0 w 965390"/>
              <a:gd name="connsiteY0-32" fmla="*/ 697627 h 697627"/>
              <a:gd name="connsiteX1-33" fmla="*/ 174407 w 965390"/>
              <a:gd name="connsiteY1-34" fmla="*/ 0 h 697627"/>
              <a:gd name="connsiteX2-35" fmla="*/ 790983 w 965390"/>
              <a:gd name="connsiteY2-36" fmla="*/ 0 h 697627"/>
              <a:gd name="connsiteX3-37" fmla="*/ 965390 w 965390"/>
              <a:gd name="connsiteY3-38" fmla="*/ 697627 h 697627"/>
              <a:gd name="connsiteX4-39" fmla="*/ 0 w 965390"/>
              <a:gd name="connsiteY4-40" fmla="*/ 697627 h 697627"/>
              <a:gd name="connsiteX0-41" fmla="*/ 0 w 965390"/>
              <a:gd name="connsiteY0-42" fmla="*/ 697627 h 697627"/>
              <a:gd name="connsiteX1-43" fmla="*/ 174407 w 965390"/>
              <a:gd name="connsiteY1-44" fmla="*/ 0 h 697627"/>
              <a:gd name="connsiteX2-45" fmla="*/ 745261 w 965390"/>
              <a:gd name="connsiteY2-46" fmla="*/ 0 h 697627"/>
              <a:gd name="connsiteX3-47" fmla="*/ 965390 w 965390"/>
              <a:gd name="connsiteY3-48" fmla="*/ 697627 h 697627"/>
              <a:gd name="connsiteX4-49" fmla="*/ 0 w 965390"/>
              <a:gd name="connsiteY4-50" fmla="*/ 697627 h 697627"/>
              <a:gd name="connsiteX0-51" fmla="*/ 0 w 965390"/>
              <a:gd name="connsiteY0-52" fmla="*/ 697627 h 697627"/>
              <a:gd name="connsiteX1-53" fmla="*/ 197267 w 965390"/>
              <a:gd name="connsiteY1-54" fmla="*/ 0 h 697627"/>
              <a:gd name="connsiteX2-55" fmla="*/ 745261 w 965390"/>
              <a:gd name="connsiteY2-56" fmla="*/ 0 h 697627"/>
              <a:gd name="connsiteX3-57" fmla="*/ 965390 w 965390"/>
              <a:gd name="connsiteY3-58" fmla="*/ 697627 h 697627"/>
              <a:gd name="connsiteX4-59" fmla="*/ 0 w 965390"/>
              <a:gd name="connsiteY4-60" fmla="*/ 697627 h 69762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65390" h="697627">
                <a:moveTo>
                  <a:pt x="0" y="697627"/>
                </a:moveTo>
                <a:cubicBezTo>
                  <a:pt x="142112" y="493080"/>
                  <a:pt x="223106" y="307190"/>
                  <a:pt x="197267" y="0"/>
                </a:cubicBezTo>
                <a:lnTo>
                  <a:pt x="745261" y="0"/>
                </a:lnTo>
                <a:cubicBezTo>
                  <a:pt x="747414" y="269867"/>
                  <a:pt x="823278" y="399774"/>
                  <a:pt x="965390" y="697627"/>
                </a:cubicBezTo>
                <a:lnTo>
                  <a:pt x="0" y="697627"/>
                </a:lnTo>
                <a:close/>
              </a:path>
            </a:pathLst>
          </a:custGeom>
          <a:gradFill>
            <a:gsLst>
              <a:gs pos="0">
                <a:srgbClr val="E6E6E6">
                  <a:alpha val="0"/>
                </a:srgbClr>
              </a:gs>
              <a:gs pos="100000">
                <a:srgbClr val="E6E6E6"/>
              </a:gs>
            </a:gsLst>
            <a:lin ang="16200000" scaled="1"/>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81" name="矩形: 圆角 180"/>
          <p:cNvSpPr/>
          <p:nvPr/>
        </p:nvSpPr>
        <p:spPr>
          <a:xfrm>
            <a:off x="3411456" y="1947294"/>
            <a:ext cx="623872" cy="218663"/>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82" name="矩形: 圆角 181"/>
          <p:cNvSpPr/>
          <p:nvPr/>
        </p:nvSpPr>
        <p:spPr>
          <a:xfrm>
            <a:off x="4130044" y="1947294"/>
            <a:ext cx="623872" cy="218663"/>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0" name="矩形: 圆角 34"/>
          <p:cNvSpPr/>
          <p:nvPr/>
        </p:nvSpPr>
        <p:spPr>
          <a:xfrm>
            <a:off x="439420" y="1532255"/>
            <a:ext cx="1087120" cy="2887345"/>
          </a:xfrm>
          <a:prstGeom prst="roundRect">
            <a:avLst>
              <a:gd name="adj" fmla="val 8240"/>
            </a:avLst>
          </a:prstGeom>
          <a:solidFill>
            <a:srgbClr val="E6E6E6">
              <a:alpha val="2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2" name="组合 1"/>
          <p:cNvGrpSpPr/>
          <p:nvPr/>
        </p:nvGrpSpPr>
        <p:grpSpPr>
          <a:xfrm>
            <a:off x="442288" y="1515110"/>
            <a:ext cx="1083981" cy="367665"/>
            <a:chOff x="692" y="2342"/>
            <a:chExt cx="1712" cy="579"/>
          </a:xfrm>
        </p:grpSpPr>
        <p:sp>
          <p:nvSpPr>
            <p:cNvPr id="41" name="任意多边形: 形状 37"/>
            <p:cNvSpPr/>
            <p:nvPr/>
          </p:nvSpPr>
          <p:spPr>
            <a:xfrm>
              <a:off x="692" y="2377"/>
              <a:ext cx="1712" cy="508"/>
            </a:xfrm>
            <a:custGeom>
              <a:avLst/>
              <a:gdLst>
                <a:gd name="connsiteX0" fmla="*/ 89582 w 1087156"/>
                <a:gd name="connsiteY0" fmla="*/ 0 h 322421"/>
                <a:gd name="connsiteX1" fmla="*/ 997574 w 1087156"/>
                <a:gd name="connsiteY1" fmla="*/ 0 h 322421"/>
                <a:gd name="connsiteX2" fmla="*/ 1087156 w 1087156"/>
                <a:gd name="connsiteY2" fmla="*/ 89582 h 322421"/>
                <a:gd name="connsiteX3" fmla="*/ 1087156 w 1087156"/>
                <a:gd name="connsiteY3" fmla="*/ 322421 h 322421"/>
                <a:gd name="connsiteX4" fmla="*/ 0 w 1087156"/>
                <a:gd name="connsiteY4" fmla="*/ 322421 h 322421"/>
                <a:gd name="connsiteX5" fmla="*/ 0 w 1087156"/>
                <a:gd name="connsiteY5" fmla="*/ 89582 h 322421"/>
                <a:gd name="connsiteX6" fmla="*/ 89582 w 1087156"/>
                <a:gd name="connsiteY6" fmla="*/ 0 h 32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7156" h="322421">
                  <a:moveTo>
                    <a:pt x="89582" y="0"/>
                  </a:moveTo>
                  <a:lnTo>
                    <a:pt x="997574" y="0"/>
                  </a:lnTo>
                  <a:cubicBezTo>
                    <a:pt x="1047049" y="0"/>
                    <a:pt x="1087156" y="40107"/>
                    <a:pt x="1087156" y="89582"/>
                  </a:cubicBezTo>
                  <a:lnTo>
                    <a:pt x="1087156" y="322421"/>
                  </a:lnTo>
                  <a:lnTo>
                    <a:pt x="0" y="322421"/>
                  </a:lnTo>
                  <a:lnTo>
                    <a:pt x="0" y="89582"/>
                  </a:lnTo>
                  <a:cubicBezTo>
                    <a:pt x="0" y="40107"/>
                    <a:pt x="40107" y="0"/>
                    <a:pt x="89582" y="0"/>
                  </a:cubicBezTo>
                  <a:close/>
                </a:path>
              </a:pathLst>
            </a:custGeom>
            <a:gradFill>
              <a:gsLst>
                <a:gs pos="100000">
                  <a:srgbClr val="3368FF"/>
                </a:gs>
                <a:gs pos="9000">
                  <a:srgbClr val="0042FF"/>
                </a:gs>
              </a:gsLst>
              <a:lin ang="2700000" scaled="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42" name="文本框 41"/>
            <p:cNvSpPr txBox="1"/>
            <p:nvPr/>
          </p:nvSpPr>
          <p:spPr>
            <a:xfrm>
              <a:off x="994" y="2559"/>
              <a:ext cx="1107" cy="362"/>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线上</a:t>
              </a:r>
              <a:endParaRPr lang="zh-CN" altLang="en-US" sz="1000" dirty="0">
                <a:solidFill>
                  <a:srgbClr val="FFFFFF"/>
                </a:solidFill>
                <a:latin typeface="微软雅黑"/>
                <a:ea typeface="微软雅黑"/>
                <a:cs typeface="微软雅黑"/>
              </a:endParaRPr>
            </a:p>
          </p:txBody>
        </p:sp>
        <p:sp>
          <p:nvSpPr>
            <p:cNvPr id="43" name="文本框 42"/>
            <p:cNvSpPr txBox="1"/>
            <p:nvPr/>
          </p:nvSpPr>
          <p:spPr>
            <a:xfrm>
              <a:off x="1270" y="2342"/>
              <a:ext cx="574" cy="362"/>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lnSpc>
                  <a:spcPts val="1120"/>
                </a:lnSpc>
                <a:spcBef>
                  <a:spcPts val="0"/>
                </a:spcBef>
                <a:spcAft>
                  <a:spcPts val="0"/>
                </a:spcAft>
              </a:pPr>
              <a:r>
                <a:rPr lang="en-US" altLang="zh-CN" sz="1000" dirty="0">
                  <a:solidFill>
                    <a:srgbClr val="FFFFFF"/>
                  </a:solidFill>
                  <a:latin typeface="微软雅黑"/>
                  <a:ea typeface="微软雅黑"/>
                  <a:cs typeface="微软雅黑"/>
                </a:rPr>
                <a:t>01</a:t>
              </a:r>
              <a:endParaRPr lang="en-US" altLang="zh-CN" sz="1000" dirty="0">
                <a:solidFill>
                  <a:srgbClr val="FFFFFF"/>
                </a:solidFill>
                <a:latin typeface="微软雅黑"/>
                <a:ea typeface="微软雅黑"/>
                <a:cs typeface="微软雅黑"/>
              </a:endParaRPr>
            </a:p>
          </p:txBody>
        </p:sp>
      </p:grpSp>
      <p:sp>
        <p:nvSpPr>
          <p:cNvPr id="44" name="矩形: 圆角 40"/>
          <p:cNvSpPr/>
          <p:nvPr/>
        </p:nvSpPr>
        <p:spPr>
          <a:xfrm>
            <a:off x="439420" y="4620895"/>
            <a:ext cx="1087120" cy="1221740"/>
          </a:xfrm>
          <a:prstGeom prst="roundRect">
            <a:avLst>
              <a:gd name="adj" fmla="val 8240"/>
            </a:avLst>
          </a:prstGeom>
          <a:solidFill>
            <a:srgbClr val="E6E6E6">
              <a:alpha val="20000"/>
            </a:srgbClr>
          </a:solidFill>
          <a:ln>
            <a:solidFill>
              <a:srgbClr val="0042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47" name="文本框 46"/>
          <p:cNvSpPr txBox="1"/>
          <p:nvPr/>
        </p:nvSpPr>
        <p:spPr>
          <a:xfrm>
            <a:off x="630410" y="1958698"/>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垂直媒体</a:t>
            </a:r>
            <a:endParaRPr lang="zh-CN" altLang="en-US" sz="1000" dirty="0">
              <a:solidFill>
                <a:srgbClr val="383838"/>
              </a:solidFill>
              <a:latin typeface="微软雅黑"/>
              <a:ea typeface="微软雅黑"/>
              <a:cs typeface="微软雅黑"/>
            </a:endParaRPr>
          </a:p>
        </p:txBody>
      </p:sp>
      <p:sp>
        <p:nvSpPr>
          <p:cNvPr id="90" name="文本框 89"/>
          <p:cNvSpPr txBox="1"/>
          <p:nvPr/>
        </p:nvSpPr>
        <p:spPr>
          <a:xfrm>
            <a:off x="686492" y="2246597"/>
            <a:ext cx="570990" cy="246221"/>
          </a:xfrm>
          <a:prstGeom prst="rect">
            <a:avLst/>
          </a:prstGeom>
          <a:noFill/>
        </p:spPr>
        <p:txBody>
          <a:bodyPr wrap="none" rtlCol="0" lIns="0" rIns="0" tIns="0" bIns="0">
            <a:spAutoFit/>
          </a:bodyPr>
          <a:lstStyle/>
          <a:p>
            <a:pPr algn="ctr">
              <a:defRPr>
                <a:latin typeface="微软雅黑"/>
                <a:ea typeface="微软雅黑"/>
                <a:cs typeface="微软雅黑"/>
              </a:defRPr>
            </a:pPr>
            <a:r>
              <a:rPr lang="en-US" altLang="zh-CN" sz="1000" dirty="0">
                <a:solidFill>
                  <a:srgbClr val="383838"/>
                </a:solidFill>
                <a:latin typeface="微软雅黑"/>
                <a:ea typeface="微软雅黑"/>
                <a:cs typeface="微软雅黑"/>
              </a:rPr>
              <a:t>SEO/M</a:t>
            </a:r>
            <a:endParaRPr lang="en-US" altLang="zh-CN" sz="1000" dirty="0">
              <a:solidFill>
                <a:srgbClr val="383838"/>
              </a:solidFill>
              <a:latin typeface="微软雅黑"/>
              <a:ea typeface="微软雅黑"/>
              <a:cs typeface="微软雅黑"/>
            </a:endParaRPr>
          </a:p>
        </p:txBody>
      </p:sp>
      <p:sp>
        <p:nvSpPr>
          <p:cNvPr id="91" name="文本框 90"/>
          <p:cNvSpPr txBox="1"/>
          <p:nvPr/>
        </p:nvSpPr>
        <p:spPr>
          <a:xfrm>
            <a:off x="642219" y="2534978"/>
            <a:ext cx="668773"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头部</a:t>
            </a:r>
            <a:r>
              <a:rPr lang="en-US" altLang="zh-CN" sz="1000" dirty="0">
                <a:solidFill>
                  <a:srgbClr val="383838"/>
                </a:solidFill>
                <a:latin typeface="微软雅黑"/>
                <a:ea typeface="微软雅黑"/>
                <a:cs typeface="微软雅黑"/>
              </a:rPr>
              <a:t>KOL</a:t>
            </a:r>
            <a:endParaRPr lang="en-US" altLang="zh-CN" sz="1000" dirty="0">
              <a:solidFill>
                <a:srgbClr val="383838"/>
              </a:solidFill>
              <a:latin typeface="微软雅黑"/>
              <a:ea typeface="微软雅黑"/>
              <a:cs typeface="微软雅黑"/>
            </a:endParaRPr>
          </a:p>
        </p:txBody>
      </p:sp>
      <p:sp>
        <p:nvSpPr>
          <p:cNvPr id="92" name="文本框 91"/>
          <p:cNvSpPr txBox="1"/>
          <p:nvPr/>
        </p:nvSpPr>
        <p:spPr>
          <a:xfrm>
            <a:off x="630411" y="2822398"/>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微博抖音</a:t>
            </a:r>
            <a:endParaRPr lang="zh-CN" altLang="en-US" sz="1000" dirty="0">
              <a:solidFill>
                <a:srgbClr val="383838"/>
              </a:solidFill>
              <a:latin typeface="微软雅黑"/>
              <a:ea typeface="微软雅黑"/>
              <a:cs typeface="微软雅黑"/>
            </a:endParaRPr>
          </a:p>
        </p:txBody>
      </p:sp>
      <p:sp>
        <p:nvSpPr>
          <p:cNvPr id="93" name="文本框 92"/>
          <p:cNvSpPr txBox="1"/>
          <p:nvPr/>
        </p:nvSpPr>
        <p:spPr>
          <a:xfrm>
            <a:off x="566292" y="3110298"/>
            <a:ext cx="82586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微信公众号</a:t>
            </a:r>
            <a:endParaRPr lang="zh-CN" altLang="en-US" sz="1000" dirty="0">
              <a:solidFill>
                <a:srgbClr val="383838"/>
              </a:solidFill>
              <a:latin typeface="微软雅黑"/>
              <a:ea typeface="微软雅黑"/>
              <a:cs typeface="微软雅黑"/>
            </a:endParaRPr>
          </a:p>
        </p:txBody>
      </p:sp>
      <p:sp>
        <p:nvSpPr>
          <p:cNvPr id="94" name="文本框 93"/>
          <p:cNvSpPr txBox="1"/>
          <p:nvPr/>
        </p:nvSpPr>
        <p:spPr>
          <a:xfrm>
            <a:off x="623998" y="3398198"/>
            <a:ext cx="710452"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企业微信</a:t>
            </a:r>
            <a:endParaRPr lang="zh-CN" altLang="en-US" sz="1000" dirty="0">
              <a:solidFill>
                <a:srgbClr val="383838"/>
              </a:solidFill>
              <a:latin typeface="微软雅黑"/>
              <a:ea typeface="微软雅黑"/>
              <a:cs typeface="微软雅黑"/>
            </a:endParaRPr>
          </a:p>
        </p:txBody>
      </p:sp>
      <p:sp>
        <p:nvSpPr>
          <p:cNvPr id="95" name="文本框 94"/>
          <p:cNvSpPr txBox="1"/>
          <p:nvPr/>
        </p:nvSpPr>
        <p:spPr>
          <a:xfrm>
            <a:off x="552664" y="3686098"/>
            <a:ext cx="853119"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个人收藏夹</a:t>
            </a:r>
            <a:endParaRPr lang="zh-CN" altLang="en-US" sz="1000" dirty="0">
              <a:solidFill>
                <a:srgbClr val="383838"/>
              </a:solidFill>
              <a:latin typeface="微软雅黑"/>
              <a:ea typeface="微软雅黑"/>
              <a:cs typeface="微软雅黑"/>
            </a:endParaRPr>
          </a:p>
        </p:txBody>
      </p:sp>
      <p:sp>
        <p:nvSpPr>
          <p:cNvPr id="96" name="文本框 95"/>
          <p:cNvSpPr txBox="1"/>
          <p:nvPr/>
        </p:nvSpPr>
        <p:spPr>
          <a:xfrm>
            <a:off x="630411" y="3973998"/>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广告平台</a:t>
            </a:r>
            <a:endParaRPr lang="zh-CN" altLang="en-US" sz="1000" dirty="0">
              <a:solidFill>
                <a:srgbClr val="383838"/>
              </a:solidFill>
              <a:latin typeface="微软雅黑"/>
              <a:ea typeface="微软雅黑"/>
              <a:cs typeface="微软雅黑"/>
            </a:endParaRPr>
          </a:p>
        </p:txBody>
      </p:sp>
      <p:sp>
        <p:nvSpPr>
          <p:cNvPr id="97" name="文本框 96"/>
          <p:cNvSpPr txBox="1"/>
          <p:nvPr/>
        </p:nvSpPr>
        <p:spPr>
          <a:xfrm>
            <a:off x="630410" y="5077038"/>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线下媒体</a:t>
            </a:r>
            <a:endParaRPr lang="zh-CN" altLang="en-US" sz="1000" dirty="0">
              <a:solidFill>
                <a:srgbClr val="383838"/>
              </a:solidFill>
              <a:latin typeface="微软雅黑"/>
              <a:ea typeface="微软雅黑"/>
              <a:cs typeface="微软雅黑"/>
            </a:endParaRPr>
          </a:p>
        </p:txBody>
      </p:sp>
      <p:sp>
        <p:nvSpPr>
          <p:cNvPr id="98" name="文本框 97"/>
          <p:cNvSpPr txBox="1"/>
          <p:nvPr/>
        </p:nvSpPr>
        <p:spPr>
          <a:xfrm>
            <a:off x="630410" y="5364938"/>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应用场景</a:t>
            </a:r>
            <a:endParaRPr lang="zh-CN" altLang="en-US" sz="1000" dirty="0">
              <a:solidFill>
                <a:srgbClr val="383838"/>
              </a:solidFill>
              <a:latin typeface="微软雅黑"/>
              <a:ea typeface="微软雅黑"/>
              <a:cs typeface="微软雅黑"/>
            </a:endParaRPr>
          </a:p>
        </p:txBody>
      </p:sp>
      <p:sp>
        <p:nvSpPr>
          <p:cNvPr id="99" name="矩形: 圆角 54"/>
          <p:cNvSpPr/>
          <p:nvPr/>
        </p:nvSpPr>
        <p:spPr>
          <a:xfrm>
            <a:off x="2056276" y="2617979"/>
            <a:ext cx="780219" cy="780219"/>
          </a:xfrm>
          <a:prstGeom prst="roundRect">
            <a:avLst>
              <a:gd name="adj" fmla="val 9342"/>
            </a:avLst>
          </a:prstGeom>
          <a:gradFill flip="none" rotWithShape="1">
            <a:gsLst>
              <a:gs pos="0">
                <a:srgbClr val="0042FF"/>
              </a:gs>
              <a:gs pos="100000">
                <a:srgbClr val="3368FF"/>
              </a:gs>
            </a:gsLst>
            <a:path path="circle">
              <a:fillToRect t="100000" r="100000"/>
            </a:path>
            <a:tileRect l="-100000" b="-100000"/>
          </a:gradFill>
          <a:ln w="38100">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FFFFFF"/>
                </a:solidFill>
                <a:latin typeface="微软雅黑"/>
                <a:ea typeface="微软雅黑"/>
                <a:cs typeface="微软雅黑"/>
              </a:defRPr>
            </a:pPr>
            <a:endParaRPr lang="zh-CN" altLang="en-US" sz="1945" b="1">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100" name="文本框 99"/>
          <p:cNvSpPr txBox="1"/>
          <p:nvPr/>
        </p:nvSpPr>
        <p:spPr>
          <a:xfrm>
            <a:off x="2094990" y="2854736"/>
            <a:ext cx="702790" cy="30670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首页</a:t>
            </a:r>
            <a:endParaRPr lang="zh-CN" altLang="en-US" sz="1400" b="1" dirty="0">
              <a:solidFill>
                <a:srgbClr val="FFFFFF"/>
              </a:solidFill>
              <a:latin typeface="微软雅黑"/>
              <a:ea typeface="微软雅黑"/>
              <a:cs typeface="微软雅黑"/>
            </a:endParaRPr>
          </a:p>
        </p:txBody>
      </p:sp>
      <p:sp>
        <p:nvSpPr>
          <p:cNvPr id="102" name="矩形: 圆角 59"/>
          <p:cNvSpPr/>
          <p:nvPr/>
        </p:nvSpPr>
        <p:spPr>
          <a:xfrm>
            <a:off x="2056276" y="5011089"/>
            <a:ext cx="780219" cy="780219"/>
          </a:xfrm>
          <a:prstGeom prst="roundRect">
            <a:avLst>
              <a:gd name="adj" fmla="val 9342"/>
            </a:avLst>
          </a:prstGeom>
          <a:gradFill flip="none" rotWithShape="1">
            <a:gsLst>
              <a:gs pos="0">
                <a:srgbClr val="0042FF"/>
              </a:gs>
              <a:gs pos="100000">
                <a:srgbClr val="3368FF"/>
              </a:gs>
            </a:gsLst>
            <a:path path="circle">
              <a:fillToRect t="100000" r="100000"/>
            </a:path>
            <a:tileRect l="-100000" b="-100000"/>
          </a:gradFill>
          <a:ln w="38100">
            <a:noFill/>
          </a:ln>
          <a:effectLst>
            <a:outerShdw blurRad="50800" dist="38100" dir="2700000" algn="tl"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b="1">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04" name="文本框 103"/>
          <p:cNvSpPr txBox="1"/>
          <p:nvPr/>
        </p:nvSpPr>
        <p:spPr>
          <a:xfrm>
            <a:off x="2094990" y="5247846"/>
            <a:ext cx="702790" cy="30670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我的</a:t>
            </a:r>
            <a:endParaRPr lang="zh-CN" altLang="en-US" sz="1400" b="1" dirty="0">
              <a:solidFill>
                <a:srgbClr val="FFFFFF"/>
              </a:solidFill>
              <a:latin typeface="微软雅黑"/>
              <a:ea typeface="微软雅黑"/>
              <a:cs typeface="微软雅黑"/>
            </a:endParaRPr>
          </a:p>
        </p:txBody>
      </p:sp>
      <p:grpSp>
        <p:nvGrpSpPr>
          <p:cNvPr id="4" name="组合 3"/>
          <p:cNvGrpSpPr/>
          <p:nvPr/>
        </p:nvGrpSpPr>
        <p:grpSpPr>
          <a:xfrm>
            <a:off x="3299460" y="1469709"/>
            <a:ext cx="1548765" cy="368851"/>
            <a:chOff x="5190" y="2342"/>
            <a:chExt cx="2439" cy="581"/>
          </a:xfrm>
        </p:grpSpPr>
        <p:sp>
          <p:nvSpPr>
            <p:cNvPr id="366" name="任意多边形: 形状 365"/>
            <p:cNvSpPr/>
            <p:nvPr/>
          </p:nvSpPr>
          <p:spPr>
            <a:xfrm>
              <a:off x="5190" y="2377"/>
              <a:ext cx="2439" cy="510"/>
            </a:xfrm>
            <a:custGeom>
              <a:avLst/>
              <a:gdLst>
                <a:gd name="connsiteX0" fmla="*/ 127955 w 1552852"/>
                <a:gd name="connsiteY0" fmla="*/ 0 h 323765"/>
                <a:gd name="connsiteX1" fmla="*/ 1424897 w 1552852"/>
                <a:gd name="connsiteY1" fmla="*/ 0 h 323765"/>
                <a:gd name="connsiteX2" fmla="*/ 1552852 w 1552852"/>
                <a:gd name="connsiteY2" fmla="*/ 127955 h 323765"/>
                <a:gd name="connsiteX3" fmla="*/ 1552852 w 1552852"/>
                <a:gd name="connsiteY3" fmla="*/ 323765 h 323765"/>
                <a:gd name="connsiteX4" fmla="*/ 0 w 1552852"/>
                <a:gd name="connsiteY4" fmla="*/ 323765 h 323765"/>
                <a:gd name="connsiteX5" fmla="*/ 0 w 1552852"/>
                <a:gd name="connsiteY5" fmla="*/ 127955 h 323765"/>
                <a:gd name="connsiteX6" fmla="*/ 127955 w 1552852"/>
                <a:gd name="connsiteY6" fmla="*/ 0 h 32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852" h="323765">
                  <a:moveTo>
                    <a:pt x="127955" y="0"/>
                  </a:moveTo>
                  <a:lnTo>
                    <a:pt x="1424897" y="0"/>
                  </a:lnTo>
                  <a:cubicBezTo>
                    <a:pt x="1495565" y="0"/>
                    <a:pt x="1552852" y="57287"/>
                    <a:pt x="1552852" y="127955"/>
                  </a:cubicBezTo>
                  <a:lnTo>
                    <a:pt x="1552852" y="323765"/>
                  </a:lnTo>
                  <a:lnTo>
                    <a:pt x="0" y="323765"/>
                  </a:lnTo>
                  <a:lnTo>
                    <a:pt x="0" y="127955"/>
                  </a:lnTo>
                  <a:cubicBezTo>
                    <a:pt x="0" y="57287"/>
                    <a:pt x="57287" y="0"/>
                    <a:pt x="127955" y="0"/>
                  </a:cubicBezTo>
                  <a:close/>
                </a:path>
              </a:pathLst>
            </a:cu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61" name="文本框 160"/>
            <p:cNvSpPr txBox="1"/>
            <p:nvPr/>
          </p:nvSpPr>
          <p:spPr>
            <a:xfrm>
              <a:off x="5908" y="2559"/>
              <a:ext cx="1107" cy="364"/>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流量分发</a:t>
              </a:r>
              <a:endParaRPr lang="zh-CN" altLang="en-US" sz="1000" dirty="0">
                <a:solidFill>
                  <a:srgbClr val="383838"/>
                </a:solidFill>
                <a:latin typeface="微软雅黑"/>
                <a:ea typeface="微软雅黑"/>
                <a:cs typeface="微软雅黑"/>
              </a:endParaRPr>
            </a:p>
          </p:txBody>
        </p:sp>
        <p:sp>
          <p:nvSpPr>
            <p:cNvPr id="106" name="文本框 105"/>
            <p:cNvSpPr txBox="1"/>
            <p:nvPr/>
          </p:nvSpPr>
          <p:spPr>
            <a:xfrm>
              <a:off x="6184" y="2342"/>
              <a:ext cx="574" cy="364"/>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03</a:t>
              </a:r>
              <a:endParaRPr lang="en-US" altLang="zh-CN" sz="1000" dirty="0">
                <a:solidFill>
                  <a:srgbClr val="383838"/>
                </a:solidFill>
                <a:latin typeface="微软雅黑"/>
                <a:ea typeface="微软雅黑"/>
                <a:cs typeface="微软雅黑"/>
              </a:endParaRPr>
            </a:p>
          </p:txBody>
        </p:sp>
      </p:grpSp>
      <p:sp>
        <p:nvSpPr>
          <p:cNvPr id="163" name="文本框 162"/>
          <p:cNvSpPr txBox="1"/>
          <p:nvPr/>
        </p:nvSpPr>
        <p:spPr>
          <a:xfrm>
            <a:off x="3523780" y="1935864"/>
            <a:ext cx="441146" cy="246221"/>
          </a:xfrm>
          <a:prstGeom prst="rect">
            <a:avLst/>
          </a:prstGeom>
          <a:noFill/>
          <a:extLst>
            <a:ext uri="{909E8E84-426E-40DD-AFC4-6F175D3DCCD1}">
              <a14:hiddenFill xmlns:a14="http://schemas.microsoft.com/office/drawing/2010/main">
                <a:solidFill>
                  <a:srgbClr val="3368FF"/>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内容</a:t>
            </a:r>
            <a:endParaRPr lang="zh-CN" altLang="en-US" sz="1000" dirty="0">
              <a:solidFill>
                <a:srgbClr val="FFFFFF"/>
              </a:solidFill>
              <a:latin typeface="微软雅黑"/>
              <a:ea typeface="微软雅黑"/>
              <a:cs typeface="微软雅黑"/>
            </a:endParaRPr>
          </a:p>
        </p:txBody>
      </p:sp>
      <p:sp>
        <p:nvSpPr>
          <p:cNvPr id="171" name="文本框 170"/>
          <p:cNvSpPr txBox="1"/>
          <p:nvPr/>
        </p:nvSpPr>
        <p:spPr>
          <a:xfrm>
            <a:off x="4200448" y="1935864"/>
            <a:ext cx="441146" cy="246221"/>
          </a:xfrm>
          <a:prstGeom prst="rect">
            <a:avLst/>
          </a:prstGeom>
          <a:noFill/>
          <a:extLst>
            <a:ext uri="{909E8E84-426E-40DD-AFC4-6F175D3DCCD1}">
              <a14:hiddenFill xmlns:a14="http://schemas.microsoft.com/office/drawing/2010/main">
                <a:solidFill>
                  <a:srgbClr val="3368FF"/>
                </a:solidFill>
              </a14:hiddenFill>
            </a:ext>
          </a:extLst>
        </p:spPr>
        <p:txBody>
          <a:bodyPr wrap="none" rtlCol="0" lIns="0" rIns="0" tIns="0" bIns="0">
            <a:spAutoFit/>
          </a:bodyPr>
          <a:lstStyle/>
          <a:p>
            <a:pPr algn="ct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功能</a:t>
            </a:r>
            <a:endParaRPr lang="zh-CN" altLang="en-US" sz="1000" dirty="0">
              <a:solidFill>
                <a:srgbClr val="FFFFFF"/>
              </a:solidFill>
              <a:latin typeface="微软雅黑"/>
              <a:ea typeface="微软雅黑"/>
              <a:cs typeface="微软雅黑"/>
            </a:endParaRPr>
          </a:p>
        </p:txBody>
      </p:sp>
      <p:sp>
        <p:nvSpPr>
          <p:cNvPr id="176" name="文本框 175"/>
          <p:cNvSpPr txBox="1"/>
          <p:nvPr/>
        </p:nvSpPr>
        <p:spPr>
          <a:xfrm>
            <a:off x="3851632" y="2383380"/>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搜索</a:t>
            </a:r>
            <a:endParaRPr lang="zh-CN" altLang="en-US" sz="1000" dirty="0">
              <a:solidFill>
                <a:srgbClr val="383838"/>
              </a:solidFill>
              <a:latin typeface="微软雅黑"/>
              <a:ea typeface="微软雅黑"/>
              <a:cs typeface="微软雅黑"/>
            </a:endParaRPr>
          </a:p>
        </p:txBody>
      </p:sp>
      <p:sp>
        <p:nvSpPr>
          <p:cNvPr id="177" name="文本框 176"/>
          <p:cNvSpPr txBox="1"/>
          <p:nvPr/>
        </p:nvSpPr>
        <p:spPr>
          <a:xfrm>
            <a:off x="3723392" y="2671280"/>
            <a:ext cx="697628"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分类列表</a:t>
            </a:r>
            <a:endParaRPr lang="zh-CN" altLang="en-US" sz="1000" dirty="0">
              <a:solidFill>
                <a:srgbClr val="383838"/>
              </a:solidFill>
              <a:latin typeface="微软雅黑"/>
              <a:ea typeface="微软雅黑"/>
              <a:cs typeface="微软雅黑"/>
            </a:endParaRPr>
          </a:p>
        </p:txBody>
      </p:sp>
      <p:sp>
        <p:nvSpPr>
          <p:cNvPr id="178" name="文本框 177"/>
          <p:cNvSpPr txBox="1"/>
          <p:nvPr/>
        </p:nvSpPr>
        <p:spPr>
          <a:xfrm>
            <a:off x="3787513" y="2959180"/>
            <a:ext cx="56938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详情页</a:t>
            </a:r>
            <a:endParaRPr lang="zh-CN" altLang="en-US" sz="1000" dirty="0">
              <a:solidFill>
                <a:srgbClr val="383838"/>
              </a:solidFill>
              <a:latin typeface="微软雅黑"/>
              <a:ea typeface="微软雅黑"/>
              <a:cs typeface="微软雅黑"/>
            </a:endParaRPr>
          </a:p>
        </p:txBody>
      </p:sp>
      <p:sp>
        <p:nvSpPr>
          <p:cNvPr id="179" name="文本框 178"/>
          <p:cNvSpPr txBox="1"/>
          <p:nvPr/>
        </p:nvSpPr>
        <p:spPr>
          <a:xfrm>
            <a:off x="3723393" y="3247080"/>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栏目专区</a:t>
            </a:r>
            <a:endParaRPr lang="zh-CN" altLang="en-US" sz="1000" dirty="0">
              <a:solidFill>
                <a:srgbClr val="383838"/>
              </a:solidFill>
              <a:latin typeface="微软雅黑"/>
              <a:ea typeface="微软雅黑"/>
              <a:cs typeface="微软雅黑"/>
            </a:endParaRPr>
          </a:p>
        </p:txBody>
      </p:sp>
      <p:sp>
        <p:nvSpPr>
          <p:cNvPr id="107" name="文本框 106"/>
          <p:cNvSpPr txBox="1"/>
          <p:nvPr/>
        </p:nvSpPr>
        <p:spPr>
          <a:xfrm>
            <a:off x="6440950" y="1624873"/>
            <a:ext cx="702790" cy="230832"/>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成长体系</a:t>
            </a:r>
            <a:endParaRPr lang="zh-CN" altLang="en-US" sz="1000" dirty="0">
              <a:solidFill>
                <a:srgbClr val="383838"/>
              </a:solidFill>
              <a:latin typeface="微软雅黑"/>
              <a:ea typeface="微软雅黑"/>
              <a:cs typeface="微软雅黑"/>
            </a:endParaRPr>
          </a:p>
        </p:txBody>
      </p:sp>
      <p:sp>
        <p:nvSpPr>
          <p:cNvPr id="108" name="文本框 107"/>
          <p:cNvSpPr txBox="1"/>
          <p:nvPr/>
        </p:nvSpPr>
        <p:spPr>
          <a:xfrm>
            <a:off x="6616039" y="1486854"/>
            <a:ext cx="364731" cy="230832"/>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04</a:t>
            </a:r>
            <a:endParaRPr lang="en-US" altLang="zh-CN" sz="1000" dirty="0">
              <a:solidFill>
                <a:srgbClr val="383838"/>
              </a:solidFill>
              <a:latin typeface="微软雅黑"/>
              <a:ea typeface="微软雅黑"/>
              <a:cs typeface="微软雅黑"/>
            </a:endParaRPr>
          </a:p>
        </p:txBody>
      </p:sp>
      <p:sp>
        <p:nvSpPr>
          <p:cNvPr id="109" name="矩形: 圆角 194"/>
          <p:cNvSpPr/>
          <p:nvPr/>
        </p:nvSpPr>
        <p:spPr>
          <a:xfrm>
            <a:off x="5325745" y="2763520"/>
            <a:ext cx="2889885" cy="845185"/>
          </a:xfrm>
          <a:prstGeom prst="roundRect">
            <a:avLst>
              <a:gd name="adj" fmla="val 8240"/>
            </a:avLst>
          </a:prstGeom>
          <a:solidFill>
            <a:srgbClr val="E6E6E6">
              <a:alpha val="20000"/>
            </a:srgbClr>
          </a:solidFill>
          <a:ln>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1" name="文本框 110"/>
          <p:cNvSpPr txBox="1"/>
          <p:nvPr/>
        </p:nvSpPr>
        <p:spPr>
          <a:xfrm>
            <a:off x="6440950" y="2741023"/>
            <a:ext cx="702790"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线上</a:t>
            </a:r>
            <a:endParaRPr lang="zh-CN" altLang="en-US" sz="1000" dirty="0">
              <a:solidFill>
                <a:srgbClr val="383838"/>
              </a:solidFill>
              <a:latin typeface="微软雅黑"/>
              <a:ea typeface="微软雅黑"/>
              <a:cs typeface="微软雅黑"/>
            </a:endParaRPr>
          </a:p>
        </p:txBody>
      </p:sp>
      <p:sp>
        <p:nvSpPr>
          <p:cNvPr id="198" name="文本框 197"/>
          <p:cNvSpPr txBox="1"/>
          <p:nvPr/>
        </p:nvSpPr>
        <p:spPr>
          <a:xfrm>
            <a:off x="6616039" y="2603004"/>
            <a:ext cx="364731"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01</a:t>
            </a:r>
            <a:endParaRPr lang="en-US" altLang="zh-CN" sz="1000" dirty="0">
              <a:solidFill>
                <a:srgbClr val="383838"/>
              </a:solidFill>
              <a:latin typeface="微软雅黑"/>
              <a:ea typeface="微软雅黑"/>
              <a:cs typeface="微软雅黑"/>
            </a:endParaRPr>
          </a:p>
        </p:txBody>
      </p:sp>
      <p:sp>
        <p:nvSpPr>
          <p:cNvPr id="112" name="文本框 111"/>
          <p:cNvSpPr txBox="1"/>
          <p:nvPr/>
        </p:nvSpPr>
        <p:spPr>
          <a:xfrm>
            <a:off x="5742942" y="1919736"/>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注册</a:t>
            </a:r>
            <a:endParaRPr lang="zh-CN" altLang="en-US" sz="1000" dirty="0">
              <a:solidFill>
                <a:srgbClr val="383838"/>
              </a:solidFill>
              <a:latin typeface="微软雅黑"/>
              <a:ea typeface="微软雅黑"/>
              <a:cs typeface="微软雅黑"/>
            </a:endParaRPr>
          </a:p>
        </p:txBody>
      </p:sp>
      <p:sp>
        <p:nvSpPr>
          <p:cNvPr id="200" name="文本框 199"/>
          <p:cNvSpPr txBox="1"/>
          <p:nvPr/>
        </p:nvSpPr>
        <p:spPr>
          <a:xfrm>
            <a:off x="6571773" y="1919736"/>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标签</a:t>
            </a:r>
            <a:endParaRPr lang="zh-CN" altLang="en-US" sz="1000" dirty="0">
              <a:solidFill>
                <a:srgbClr val="383838"/>
              </a:solidFill>
              <a:latin typeface="微软雅黑"/>
              <a:ea typeface="微软雅黑"/>
              <a:cs typeface="微软雅黑"/>
            </a:endParaRPr>
          </a:p>
        </p:txBody>
      </p:sp>
      <p:sp>
        <p:nvSpPr>
          <p:cNvPr id="201" name="文本框 200"/>
          <p:cNvSpPr txBox="1"/>
          <p:nvPr/>
        </p:nvSpPr>
        <p:spPr>
          <a:xfrm>
            <a:off x="7463547" y="1919736"/>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测评</a:t>
            </a:r>
            <a:endParaRPr lang="zh-CN" altLang="en-US" sz="1000" dirty="0">
              <a:solidFill>
                <a:srgbClr val="383838"/>
              </a:solidFill>
              <a:latin typeface="微软雅黑"/>
              <a:ea typeface="微软雅黑"/>
              <a:cs typeface="微软雅黑"/>
            </a:endParaRPr>
          </a:p>
        </p:txBody>
      </p:sp>
      <p:sp>
        <p:nvSpPr>
          <p:cNvPr id="202" name="文本框 201"/>
          <p:cNvSpPr txBox="1"/>
          <p:nvPr/>
        </p:nvSpPr>
        <p:spPr>
          <a:xfrm>
            <a:off x="5742942" y="2161169"/>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打卡</a:t>
            </a:r>
            <a:endParaRPr lang="zh-CN" altLang="en-US" sz="1000" dirty="0">
              <a:solidFill>
                <a:srgbClr val="383838"/>
              </a:solidFill>
              <a:latin typeface="微软雅黑"/>
              <a:ea typeface="微软雅黑"/>
              <a:cs typeface="微软雅黑"/>
            </a:endParaRPr>
          </a:p>
        </p:txBody>
      </p:sp>
      <p:sp>
        <p:nvSpPr>
          <p:cNvPr id="203" name="文本框 202"/>
          <p:cNvSpPr txBox="1"/>
          <p:nvPr/>
        </p:nvSpPr>
        <p:spPr>
          <a:xfrm>
            <a:off x="6571774" y="2161169"/>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任务</a:t>
            </a:r>
            <a:endParaRPr lang="zh-CN" altLang="en-US" sz="1000" dirty="0">
              <a:solidFill>
                <a:srgbClr val="383838"/>
              </a:solidFill>
              <a:latin typeface="微软雅黑"/>
              <a:ea typeface="微软雅黑"/>
              <a:cs typeface="微软雅黑"/>
            </a:endParaRPr>
          </a:p>
        </p:txBody>
      </p:sp>
      <p:sp>
        <p:nvSpPr>
          <p:cNvPr id="204" name="文本框 203"/>
          <p:cNvSpPr txBox="1"/>
          <p:nvPr/>
        </p:nvSpPr>
        <p:spPr>
          <a:xfrm>
            <a:off x="7463547" y="2161169"/>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荣誉</a:t>
            </a:r>
            <a:endParaRPr lang="zh-CN" altLang="en-US" sz="1000" dirty="0">
              <a:solidFill>
                <a:srgbClr val="383838"/>
              </a:solidFill>
              <a:latin typeface="微软雅黑"/>
              <a:ea typeface="微软雅黑"/>
              <a:cs typeface="微软雅黑"/>
            </a:endParaRPr>
          </a:p>
        </p:txBody>
      </p:sp>
      <p:sp>
        <p:nvSpPr>
          <p:cNvPr id="205" name="文本框 204"/>
          <p:cNvSpPr txBox="1"/>
          <p:nvPr/>
        </p:nvSpPr>
        <p:spPr>
          <a:xfrm>
            <a:off x="5742943" y="3042109"/>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点赞</a:t>
            </a:r>
            <a:endParaRPr lang="zh-CN" altLang="en-US" sz="1000" dirty="0">
              <a:solidFill>
                <a:srgbClr val="383838"/>
              </a:solidFill>
              <a:latin typeface="微软雅黑"/>
              <a:ea typeface="微软雅黑"/>
              <a:cs typeface="微软雅黑"/>
            </a:endParaRPr>
          </a:p>
        </p:txBody>
      </p:sp>
      <p:sp>
        <p:nvSpPr>
          <p:cNvPr id="113" name="文本框 112"/>
          <p:cNvSpPr txBox="1"/>
          <p:nvPr/>
        </p:nvSpPr>
        <p:spPr>
          <a:xfrm>
            <a:off x="6571772" y="3042109"/>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收藏</a:t>
            </a:r>
            <a:endParaRPr lang="zh-CN" altLang="en-US" sz="1000" dirty="0">
              <a:solidFill>
                <a:srgbClr val="383838"/>
              </a:solidFill>
              <a:latin typeface="微软雅黑"/>
              <a:ea typeface="微软雅黑"/>
              <a:cs typeface="微软雅黑"/>
            </a:endParaRPr>
          </a:p>
        </p:txBody>
      </p:sp>
      <p:sp>
        <p:nvSpPr>
          <p:cNvPr id="114" name="文本框 113"/>
          <p:cNvSpPr txBox="1"/>
          <p:nvPr/>
        </p:nvSpPr>
        <p:spPr>
          <a:xfrm>
            <a:off x="7463548" y="3042109"/>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关注</a:t>
            </a:r>
            <a:endParaRPr lang="zh-CN" altLang="en-US" sz="1000" dirty="0">
              <a:solidFill>
                <a:srgbClr val="383838"/>
              </a:solidFill>
              <a:latin typeface="微软雅黑"/>
              <a:ea typeface="微软雅黑"/>
              <a:cs typeface="微软雅黑"/>
            </a:endParaRPr>
          </a:p>
        </p:txBody>
      </p:sp>
      <p:sp>
        <p:nvSpPr>
          <p:cNvPr id="115" name="文本框 114"/>
          <p:cNvSpPr txBox="1"/>
          <p:nvPr/>
        </p:nvSpPr>
        <p:spPr>
          <a:xfrm>
            <a:off x="5742943" y="3283542"/>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评论</a:t>
            </a:r>
            <a:endParaRPr lang="zh-CN" altLang="en-US" sz="1000" dirty="0">
              <a:solidFill>
                <a:srgbClr val="383838"/>
              </a:solidFill>
              <a:latin typeface="微软雅黑"/>
              <a:ea typeface="微软雅黑"/>
              <a:cs typeface="微软雅黑"/>
            </a:endParaRPr>
          </a:p>
        </p:txBody>
      </p:sp>
      <p:sp>
        <p:nvSpPr>
          <p:cNvPr id="116" name="文本框 115"/>
          <p:cNvSpPr txBox="1"/>
          <p:nvPr/>
        </p:nvSpPr>
        <p:spPr>
          <a:xfrm>
            <a:off x="6566962" y="3283542"/>
            <a:ext cx="450764"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私信</a:t>
            </a:r>
            <a:endParaRPr lang="zh-CN" altLang="en-US" sz="1000" dirty="0">
              <a:solidFill>
                <a:srgbClr val="383838"/>
              </a:solidFill>
              <a:latin typeface="微软雅黑"/>
              <a:ea typeface="微软雅黑"/>
              <a:cs typeface="微软雅黑"/>
            </a:endParaRPr>
          </a:p>
        </p:txBody>
      </p:sp>
      <p:sp>
        <p:nvSpPr>
          <p:cNvPr id="117" name="文本框 116"/>
          <p:cNvSpPr txBox="1"/>
          <p:nvPr/>
        </p:nvSpPr>
        <p:spPr>
          <a:xfrm>
            <a:off x="7463547" y="3283542"/>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小组</a:t>
            </a:r>
            <a:endParaRPr lang="zh-CN" altLang="en-US" sz="1000" dirty="0">
              <a:solidFill>
                <a:srgbClr val="383838"/>
              </a:solidFill>
              <a:latin typeface="微软雅黑"/>
              <a:ea typeface="微软雅黑"/>
              <a:cs typeface="微软雅黑"/>
            </a:endParaRPr>
          </a:p>
        </p:txBody>
      </p:sp>
      <p:sp>
        <p:nvSpPr>
          <p:cNvPr id="118" name="矩形: 圆角 213"/>
          <p:cNvSpPr/>
          <p:nvPr/>
        </p:nvSpPr>
        <p:spPr>
          <a:xfrm>
            <a:off x="3278635" y="4072122"/>
            <a:ext cx="4919559" cy="526669"/>
          </a:xfrm>
          <a:prstGeom prst="roundRect">
            <a:avLst>
              <a:gd name="adj" fmla="val 9342"/>
            </a:avLst>
          </a:pr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20" name="文本框 119"/>
          <p:cNvSpPr txBox="1"/>
          <p:nvPr/>
        </p:nvSpPr>
        <p:spPr>
          <a:xfrm>
            <a:off x="4103370" y="4156710"/>
            <a:ext cx="3408680" cy="306705"/>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383838"/>
                </a:solidFill>
                <a:latin typeface="微软雅黑"/>
                <a:ea typeface="微软雅黑"/>
                <a:cs typeface="微软雅黑"/>
              </a:defRPr>
            </a:pPr>
            <a:r>
              <a:rPr lang="en-US" altLang="zh-CN" sz="1400" b="1">
                <a:solidFill>
                  <a:srgbClr val="383838"/>
                </a:solidFill>
                <a:latin typeface="微软雅黑"/>
                <a:ea typeface="微软雅黑"/>
                <a:cs typeface="微软雅黑"/>
              </a:rPr>
              <a:t>First one </a:t>
            </a:r>
            <a:r>
              <a:rPr lang="zh-CN" altLang="en-US" sz="1400" b="1">
                <a:solidFill>
                  <a:srgbClr val="383838"/>
                </a:solidFill>
                <a:latin typeface="微软雅黑"/>
                <a:ea typeface="微软雅黑"/>
                <a:cs typeface="微软雅黑"/>
              </a:rPr>
              <a:t>智能</a:t>
            </a:r>
            <a:r>
              <a:rPr lang="zh-CN" altLang="en-US" sz="1400" b="1" dirty="0">
                <a:solidFill>
                  <a:srgbClr val="383838"/>
                </a:solidFill>
                <a:latin typeface="微软雅黑"/>
                <a:ea typeface="微软雅黑"/>
                <a:cs typeface="微软雅黑"/>
              </a:rPr>
              <a:t>推荐系统</a:t>
            </a:r>
            <a:endParaRPr lang="zh-CN" altLang="en-US" sz="1400" b="1" dirty="0">
              <a:solidFill>
                <a:srgbClr val="383838"/>
              </a:solidFill>
              <a:latin typeface="微软雅黑"/>
              <a:ea typeface="微软雅黑"/>
              <a:cs typeface="微软雅黑"/>
            </a:endParaRPr>
          </a:p>
        </p:txBody>
      </p:sp>
      <p:sp>
        <p:nvSpPr>
          <p:cNvPr id="122" name="矩形: 圆角 215"/>
          <p:cNvSpPr/>
          <p:nvPr/>
        </p:nvSpPr>
        <p:spPr>
          <a:xfrm>
            <a:off x="8764399" y="1947294"/>
            <a:ext cx="623872" cy="218663"/>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25" name="矩形: 圆角 216"/>
          <p:cNvSpPr/>
          <p:nvPr/>
        </p:nvSpPr>
        <p:spPr>
          <a:xfrm>
            <a:off x="9482987" y="1947294"/>
            <a:ext cx="623872" cy="218663"/>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nvGrpSpPr>
          <p:cNvPr id="6" name="组合 5"/>
          <p:cNvGrpSpPr/>
          <p:nvPr/>
        </p:nvGrpSpPr>
        <p:grpSpPr>
          <a:xfrm>
            <a:off x="8648723" y="1489075"/>
            <a:ext cx="1553487" cy="367665"/>
            <a:chOff x="13620" y="2342"/>
            <a:chExt cx="2445" cy="579"/>
          </a:xfrm>
        </p:grpSpPr>
        <p:sp>
          <p:nvSpPr>
            <p:cNvPr id="219" name="任意多边形: 形状 218"/>
            <p:cNvSpPr/>
            <p:nvPr/>
          </p:nvSpPr>
          <p:spPr>
            <a:xfrm>
              <a:off x="13620" y="2377"/>
              <a:ext cx="2445" cy="508"/>
            </a:xfrm>
            <a:custGeom>
              <a:avLst/>
              <a:gdLst>
                <a:gd name="connsiteX0" fmla="*/ 89582 w 1087156"/>
                <a:gd name="connsiteY0" fmla="*/ 0 h 322421"/>
                <a:gd name="connsiteX1" fmla="*/ 997574 w 1087156"/>
                <a:gd name="connsiteY1" fmla="*/ 0 h 322421"/>
                <a:gd name="connsiteX2" fmla="*/ 1087156 w 1087156"/>
                <a:gd name="connsiteY2" fmla="*/ 89582 h 322421"/>
                <a:gd name="connsiteX3" fmla="*/ 1087156 w 1087156"/>
                <a:gd name="connsiteY3" fmla="*/ 322421 h 322421"/>
                <a:gd name="connsiteX4" fmla="*/ 0 w 1087156"/>
                <a:gd name="connsiteY4" fmla="*/ 322421 h 322421"/>
                <a:gd name="connsiteX5" fmla="*/ 0 w 1087156"/>
                <a:gd name="connsiteY5" fmla="*/ 89582 h 322421"/>
                <a:gd name="connsiteX6" fmla="*/ 89582 w 1087156"/>
                <a:gd name="connsiteY6" fmla="*/ 0 h 32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7156" h="322421">
                  <a:moveTo>
                    <a:pt x="89582" y="0"/>
                  </a:moveTo>
                  <a:lnTo>
                    <a:pt x="997574" y="0"/>
                  </a:lnTo>
                  <a:cubicBezTo>
                    <a:pt x="1047049" y="0"/>
                    <a:pt x="1087156" y="40107"/>
                    <a:pt x="1087156" y="89582"/>
                  </a:cubicBezTo>
                  <a:lnTo>
                    <a:pt x="1087156" y="322421"/>
                  </a:lnTo>
                  <a:lnTo>
                    <a:pt x="0" y="322421"/>
                  </a:lnTo>
                  <a:lnTo>
                    <a:pt x="0" y="89582"/>
                  </a:lnTo>
                  <a:cubicBezTo>
                    <a:pt x="0" y="40107"/>
                    <a:pt x="40107" y="0"/>
                    <a:pt x="89582" y="0"/>
                  </a:cubicBezTo>
                  <a:close/>
                </a:path>
              </a:pathLst>
            </a:custGeom>
            <a:gradFill>
              <a:gsLst>
                <a:gs pos="0">
                  <a:srgbClr val="B3D4FE"/>
                </a:gs>
                <a:gs pos="100000">
                  <a:srgbClr val="3368FF"/>
                </a:gs>
              </a:gsLst>
              <a:lin ang="16200000" scaled="0"/>
            </a:gradFill>
            <a:ln w="38100">
              <a:noFill/>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20" name="文本框 219"/>
            <p:cNvSpPr txBox="1"/>
            <p:nvPr/>
          </p:nvSpPr>
          <p:spPr>
            <a:xfrm>
              <a:off x="14338" y="2559"/>
              <a:ext cx="1107" cy="36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latin typeface="微软雅黑"/>
                  <a:ea typeface="微软雅黑"/>
                  <a:cs typeface="微软雅黑"/>
                </a:rPr>
                <a:t>付费</a:t>
              </a:r>
              <a:r>
                <a:rPr lang="en-US" altLang="zh-CN" sz="1000" dirty="0">
                  <a:latin typeface="微软雅黑"/>
                  <a:ea typeface="微软雅黑"/>
                  <a:cs typeface="微软雅黑"/>
                </a:rPr>
                <a:t>/</a:t>
              </a:r>
              <a:r>
                <a:rPr lang="zh-CN" altLang="en-US" sz="1000" dirty="0">
                  <a:latin typeface="微软雅黑"/>
                  <a:ea typeface="微软雅黑"/>
                  <a:cs typeface="微软雅黑"/>
                </a:rPr>
                <a:t>续费</a:t>
              </a:r>
              <a:endParaRPr lang="zh-CN" altLang="en-US" sz="1000" dirty="0">
                <a:latin typeface="微软雅黑"/>
                <a:ea typeface="微软雅黑"/>
                <a:cs typeface="微软雅黑"/>
              </a:endParaRPr>
            </a:p>
          </p:txBody>
        </p:sp>
        <p:sp>
          <p:nvSpPr>
            <p:cNvPr id="221" name="文本框 220"/>
            <p:cNvSpPr txBox="1"/>
            <p:nvPr/>
          </p:nvSpPr>
          <p:spPr>
            <a:xfrm>
              <a:off x="14614" y="2342"/>
              <a:ext cx="574" cy="36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en-US" altLang="zh-CN" sz="1000" dirty="0">
                  <a:latin typeface="微软雅黑"/>
                  <a:ea typeface="微软雅黑"/>
                  <a:cs typeface="微软雅黑"/>
                </a:rPr>
                <a:t>05</a:t>
              </a:r>
              <a:endParaRPr lang="en-US" altLang="zh-CN" sz="1000" dirty="0">
                <a:latin typeface="微软雅黑"/>
                <a:ea typeface="微软雅黑"/>
                <a:cs typeface="微软雅黑"/>
              </a:endParaRPr>
            </a:p>
          </p:txBody>
        </p:sp>
      </p:grpSp>
      <p:sp>
        <p:nvSpPr>
          <p:cNvPr id="222" name="文本框 221"/>
          <p:cNvSpPr txBox="1"/>
          <p:nvPr/>
        </p:nvSpPr>
        <p:spPr>
          <a:xfrm>
            <a:off x="8876724" y="1926339"/>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售货</a:t>
            </a:r>
            <a:endParaRPr lang="zh-CN" altLang="en-US" sz="1000" dirty="0">
              <a:solidFill>
                <a:srgbClr val="383838"/>
              </a:solidFill>
              <a:latin typeface="微软雅黑"/>
              <a:ea typeface="微软雅黑"/>
              <a:cs typeface="微软雅黑"/>
            </a:endParaRPr>
          </a:p>
        </p:txBody>
      </p:sp>
      <p:sp>
        <p:nvSpPr>
          <p:cNvPr id="223" name="文本框 222"/>
          <p:cNvSpPr txBox="1"/>
          <p:nvPr/>
        </p:nvSpPr>
        <p:spPr>
          <a:xfrm>
            <a:off x="9553390" y="1926974"/>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订阅</a:t>
            </a:r>
            <a:endParaRPr lang="zh-CN" altLang="en-US" sz="1000" dirty="0">
              <a:solidFill>
                <a:srgbClr val="383838"/>
              </a:solidFill>
              <a:latin typeface="微软雅黑"/>
              <a:ea typeface="微软雅黑"/>
              <a:cs typeface="微软雅黑"/>
            </a:endParaRPr>
          </a:p>
        </p:txBody>
      </p:sp>
      <p:sp>
        <p:nvSpPr>
          <p:cNvPr id="224" name="文本框 223"/>
          <p:cNvSpPr txBox="1"/>
          <p:nvPr/>
        </p:nvSpPr>
        <p:spPr>
          <a:xfrm>
            <a:off x="9076336" y="2383380"/>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高潜预警</a:t>
            </a:r>
            <a:endParaRPr lang="zh-CN" altLang="en-US" sz="1000" dirty="0">
              <a:solidFill>
                <a:srgbClr val="383838"/>
              </a:solidFill>
              <a:latin typeface="微软雅黑"/>
              <a:ea typeface="微软雅黑"/>
              <a:cs typeface="微软雅黑"/>
            </a:endParaRPr>
          </a:p>
        </p:txBody>
      </p:sp>
      <p:sp>
        <p:nvSpPr>
          <p:cNvPr id="225" name="文本框 224"/>
          <p:cNvSpPr txBox="1"/>
          <p:nvPr/>
        </p:nvSpPr>
        <p:spPr>
          <a:xfrm>
            <a:off x="9076334" y="2671280"/>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分群引导</a:t>
            </a:r>
            <a:endParaRPr lang="zh-CN" altLang="en-US" sz="1000" dirty="0">
              <a:solidFill>
                <a:srgbClr val="383838"/>
              </a:solidFill>
              <a:latin typeface="微软雅黑"/>
              <a:ea typeface="微软雅黑"/>
              <a:cs typeface="微软雅黑"/>
            </a:endParaRPr>
          </a:p>
        </p:txBody>
      </p:sp>
      <p:sp>
        <p:nvSpPr>
          <p:cNvPr id="226" name="文本框 225"/>
          <p:cNvSpPr txBox="1"/>
          <p:nvPr/>
        </p:nvSpPr>
        <p:spPr>
          <a:xfrm>
            <a:off x="9063512" y="2959180"/>
            <a:ext cx="723275"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流失预测</a:t>
            </a:r>
            <a:endParaRPr lang="zh-CN" altLang="en-US" sz="1000" dirty="0">
              <a:solidFill>
                <a:srgbClr val="383838"/>
              </a:solidFill>
              <a:latin typeface="微软雅黑"/>
              <a:ea typeface="微软雅黑"/>
              <a:cs typeface="微软雅黑"/>
            </a:endParaRPr>
          </a:p>
        </p:txBody>
      </p:sp>
      <p:sp>
        <p:nvSpPr>
          <p:cNvPr id="227" name="文本框 226"/>
          <p:cNvSpPr txBox="1"/>
          <p:nvPr/>
        </p:nvSpPr>
        <p:spPr>
          <a:xfrm>
            <a:off x="9076334" y="3247080"/>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个性召回</a:t>
            </a:r>
            <a:endParaRPr lang="zh-CN" altLang="en-US" sz="1000" dirty="0">
              <a:solidFill>
                <a:srgbClr val="383838"/>
              </a:solidFill>
              <a:latin typeface="微软雅黑"/>
              <a:ea typeface="微软雅黑"/>
              <a:cs typeface="微软雅黑"/>
            </a:endParaRPr>
          </a:p>
        </p:txBody>
      </p:sp>
      <p:sp>
        <p:nvSpPr>
          <p:cNvPr id="228" name="矩形: 圆角 227"/>
          <p:cNvSpPr/>
          <p:nvPr/>
        </p:nvSpPr>
        <p:spPr>
          <a:xfrm>
            <a:off x="10527665" y="1511300"/>
            <a:ext cx="1087120" cy="2908300"/>
          </a:xfrm>
          <a:prstGeom prst="roundRect">
            <a:avLst>
              <a:gd name="adj" fmla="val 8240"/>
            </a:avLst>
          </a:prstGeom>
          <a:solidFill>
            <a:srgbClr val="FFFFFF">
              <a:alpha val="20000"/>
            </a:srgbClr>
          </a:solid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27" name="任意多边形: 形状 228"/>
          <p:cNvSpPr/>
          <p:nvPr/>
        </p:nvSpPr>
        <p:spPr>
          <a:xfrm>
            <a:off x="10527741" y="1509268"/>
            <a:ext cx="1087156" cy="322421"/>
          </a:xfrm>
          <a:custGeom>
            <a:avLst/>
            <a:gdLst>
              <a:gd name="connsiteX0" fmla="*/ 89582 w 1087156"/>
              <a:gd name="connsiteY0" fmla="*/ 0 h 322421"/>
              <a:gd name="connsiteX1" fmla="*/ 997574 w 1087156"/>
              <a:gd name="connsiteY1" fmla="*/ 0 h 322421"/>
              <a:gd name="connsiteX2" fmla="*/ 1087156 w 1087156"/>
              <a:gd name="connsiteY2" fmla="*/ 89582 h 322421"/>
              <a:gd name="connsiteX3" fmla="*/ 1087156 w 1087156"/>
              <a:gd name="connsiteY3" fmla="*/ 322421 h 322421"/>
              <a:gd name="connsiteX4" fmla="*/ 0 w 1087156"/>
              <a:gd name="connsiteY4" fmla="*/ 322421 h 322421"/>
              <a:gd name="connsiteX5" fmla="*/ 0 w 1087156"/>
              <a:gd name="connsiteY5" fmla="*/ 89582 h 322421"/>
              <a:gd name="connsiteX6" fmla="*/ 89582 w 1087156"/>
              <a:gd name="connsiteY6" fmla="*/ 0 h 32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7156" h="322421">
                <a:moveTo>
                  <a:pt x="89582" y="0"/>
                </a:moveTo>
                <a:lnTo>
                  <a:pt x="997574" y="0"/>
                </a:lnTo>
                <a:cubicBezTo>
                  <a:pt x="1047049" y="0"/>
                  <a:pt x="1087156" y="40107"/>
                  <a:pt x="1087156" y="89582"/>
                </a:cubicBezTo>
                <a:lnTo>
                  <a:pt x="1087156" y="322421"/>
                </a:lnTo>
                <a:lnTo>
                  <a:pt x="0" y="322421"/>
                </a:lnTo>
                <a:lnTo>
                  <a:pt x="0" y="89582"/>
                </a:lnTo>
                <a:cubicBezTo>
                  <a:pt x="0" y="40107"/>
                  <a:pt x="40107" y="0"/>
                  <a:pt x="89582" y="0"/>
                </a:cubicBezTo>
                <a:close/>
              </a:path>
            </a:pathLst>
          </a:custGeom>
          <a:gradFill>
            <a:gsLst>
              <a:gs pos="0">
                <a:srgbClr val="B3D4FE"/>
              </a:gs>
              <a:gs pos="100000">
                <a:srgbClr val="3368FF"/>
              </a:gs>
            </a:gsLst>
            <a:lin ang="162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28" name="文本框 127"/>
          <p:cNvSpPr txBox="1"/>
          <p:nvPr/>
        </p:nvSpPr>
        <p:spPr>
          <a:xfrm>
            <a:off x="10719924" y="1624873"/>
            <a:ext cx="702790"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latin typeface="微软雅黑"/>
                <a:ea typeface="微软雅黑"/>
                <a:cs typeface="微软雅黑"/>
              </a:rPr>
              <a:t>内容裂变</a:t>
            </a:r>
            <a:endParaRPr lang="zh-CN" altLang="en-US" sz="1000" dirty="0">
              <a:latin typeface="微软雅黑"/>
              <a:ea typeface="微软雅黑"/>
              <a:cs typeface="微软雅黑"/>
            </a:endParaRPr>
          </a:p>
        </p:txBody>
      </p:sp>
      <p:sp>
        <p:nvSpPr>
          <p:cNvPr id="129" name="文本框 128"/>
          <p:cNvSpPr txBox="1"/>
          <p:nvPr/>
        </p:nvSpPr>
        <p:spPr>
          <a:xfrm>
            <a:off x="10895013" y="1486854"/>
            <a:ext cx="364731"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en-US" altLang="zh-CN" sz="1000" dirty="0">
                <a:latin typeface="微软雅黑"/>
                <a:ea typeface="微软雅黑"/>
                <a:cs typeface="微软雅黑"/>
              </a:rPr>
              <a:t>06</a:t>
            </a:r>
            <a:endParaRPr lang="en-US" altLang="zh-CN" sz="1000" dirty="0">
              <a:latin typeface="微软雅黑"/>
              <a:ea typeface="微软雅黑"/>
              <a:cs typeface="微软雅黑"/>
            </a:endParaRPr>
          </a:p>
        </p:txBody>
      </p:sp>
      <p:sp>
        <p:nvSpPr>
          <p:cNvPr id="131" name="文本框 130"/>
          <p:cNvSpPr txBox="1"/>
          <p:nvPr/>
        </p:nvSpPr>
        <p:spPr>
          <a:xfrm>
            <a:off x="10719040" y="1958698"/>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唤起意愿</a:t>
            </a:r>
            <a:endParaRPr lang="zh-CN" altLang="en-US" sz="1000" dirty="0">
              <a:solidFill>
                <a:srgbClr val="383838"/>
              </a:solidFill>
              <a:latin typeface="微软雅黑"/>
              <a:ea typeface="微软雅黑"/>
              <a:cs typeface="微软雅黑"/>
            </a:endParaRPr>
          </a:p>
        </p:txBody>
      </p:sp>
      <p:sp>
        <p:nvSpPr>
          <p:cNvPr id="132" name="文本框 131"/>
          <p:cNvSpPr txBox="1"/>
          <p:nvPr/>
        </p:nvSpPr>
        <p:spPr>
          <a:xfrm>
            <a:off x="10719038" y="2246598"/>
            <a:ext cx="697628"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选择素材</a:t>
            </a:r>
            <a:endParaRPr lang="zh-CN" altLang="en-US" sz="1000" dirty="0">
              <a:solidFill>
                <a:srgbClr val="383838"/>
              </a:solidFill>
              <a:latin typeface="微软雅黑"/>
              <a:ea typeface="微软雅黑"/>
              <a:cs typeface="微软雅黑"/>
            </a:endParaRPr>
          </a:p>
        </p:txBody>
      </p:sp>
      <p:sp>
        <p:nvSpPr>
          <p:cNvPr id="134" name="文本框 133"/>
          <p:cNvSpPr txBox="1"/>
          <p:nvPr/>
        </p:nvSpPr>
        <p:spPr>
          <a:xfrm>
            <a:off x="10716636" y="2534498"/>
            <a:ext cx="70243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落地页面</a:t>
            </a:r>
            <a:endParaRPr lang="zh-CN" altLang="en-US" sz="1000" dirty="0">
              <a:solidFill>
                <a:srgbClr val="383838"/>
              </a:solidFill>
              <a:latin typeface="微软雅黑"/>
              <a:ea typeface="微软雅黑"/>
              <a:cs typeface="微软雅黑"/>
            </a:endParaRPr>
          </a:p>
        </p:txBody>
      </p:sp>
      <p:sp>
        <p:nvSpPr>
          <p:cNvPr id="135" name="文本框 134"/>
          <p:cNvSpPr txBox="1"/>
          <p:nvPr/>
        </p:nvSpPr>
        <p:spPr>
          <a:xfrm>
            <a:off x="10719040" y="2822398"/>
            <a:ext cx="697628"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跳转路径</a:t>
            </a:r>
            <a:endParaRPr lang="zh-CN" altLang="en-US" sz="1000" dirty="0">
              <a:solidFill>
                <a:srgbClr val="383838"/>
              </a:solidFill>
              <a:latin typeface="微软雅黑"/>
              <a:ea typeface="微软雅黑"/>
              <a:cs typeface="微软雅黑"/>
            </a:endParaRPr>
          </a:p>
        </p:txBody>
      </p:sp>
      <p:sp>
        <p:nvSpPr>
          <p:cNvPr id="136" name="文本框 135"/>
          <p:cNvSpPr txBox="1"/>
          <p:nvPr/>
        </p:nvSpPr>
        <p:spPr>
          <a:xfrm>
            <a:off x="10653317" y="3110298"/>
            <a:ext cx="829073"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朋友圈分享</a:t>
            </a:r>
            <a:endParaRPr lang="zh-CN" altLang="en-US" sz="1000" dirty="0">
              <a:solidFill>
                <a:srgbClr val="383838"/>
              </a:solidFill>
              <a:latin typeface="微软雅黑"/>
              <a:ea typeface="微软雅黑"/>
              <a:cs typeface="微软雅黑"/>
            </a:endParaRPr>
          </a:p>
        </p:txBody>
      </p:sp>
      <p:sp>
        <p:nvSpPr>
          <p:cNvPr id="137" name="文本框 136"/>
          <p:cNvSpPr txBox="1"/>
          <p:nvPr/>
        </p:nvSpPr>
        <p:spPr>
          <a:xfrm>
            <a:off x="10653318" y="3398198"/>
            <a:ext cx="829073"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微信群分享</a:t>
            </a:r>
            <a:endParaRPr lang="zh-CN" altLang="en-US" sz="1000" dirty="0">
              <a:solidFill>
                <a:srgbClr val="383838"/>
              </a:solidFill>
              <a:latin typeface="微软雅黑"/>
              <a:ea typeface="微软雅黑"/>
              <a:cs typeface="微软雅黑"/>
            </a:endParaRPr>
          </a:p>
        </p:txBody>
      </p:sp>
      <p:sp>
        <p:nvSpPr>
          <p:cNvPr id="138" name="文本框 137"/>
          <p:cNvSpPr txBox="1"/>
          <p:nvPr/>
        </p:nvSpPr>
        <p:spPr>
          <a:xfrm>
            <a:off x="10847282" y="3686098"/>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分佣</a:t>
            </a:r>
            <a:endParaRPr lang="zh-CN" altLang="en-US" sz="1000" dirty="0">
              <a:solidFill>
                <a:srgbClr val="383838"/>
              </a:solidFill>
              <a:latin typeface="微软雅黑"/>
              <a:ea typeface="微软雅黑"/>
              <a:cs typeface="微软雅黑"/>
            </a:endParaRPr>
          </a:p>
        </p:txBody>
      </p:sp>
      <p:sp>
        <p:nvSpPr>
          <p:cNvPr id="139" name="文本框 138"/>
          <p:cNvSpPr txBox="1"/>
          <p:nvPr/>
        </p:nvSpPr>
        <p:spPr>
          <a:xfrm>
            <a:off x="10847282" y="3973998"/>
            <a:ext cx="441146"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活动</a:t>
            </a:r>
            <a:endParaRPr lang="zh-CN" altLang="en-US" sz="1000" dirty="0">
              <a:solidFill>
                <a:srgbClr val="383838"/>
              </a:solidFill>
              <a:latin typeface="微软雅黑"/>
              <a:ea typeface="微软雅黑"/>
              <a:cs typeface="微软雅黑"/>
            </a:endParaRPr>
          </a:p>
        </p:txBody>
      </p:sp>
      <p:sp>
        <p:nvSpPr>
          <p:cNvPr id="140" name="矩形: 圆角 239"/>
          <p:cNvSpPr/>
          <p:nvPr/>
        </p:nvSpPr>
        <p:spPr>
          <a:xfrm>
            <a:off x="10502396" y="4775933"/>
            <a:ext cx="1087156" cy="1081073"/>
          </a:xfrm>
          <a:prstGeom prst="roundRect">
            <a:avLst>
              <a:gd name="adj" fmla="val 8240"/>
            </a:avLst>
          </a:prstGeom>
          <a:solidFill>
            <a:srgbClr val="FFFFFF">
              <a:alpha val="20000"/>
            </a:srgbClr>
          </a:solidFill>
          <a:ln>
            <a:solidFill>
              <a:srgbClr val="3368FF">
                <a:alpha val="70000"/>
              </a:srgbClr>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9" name="任意多边形: 形状 240"/>
          <p:cNvSpPr/>
          <p:nvPr/>
        </p:nvSpPr>
        <p:spPr>
          <a:xfrm>
            <a:off x="10502396" y="4779446"/>
            <a:ext cx="1087156" cy="322421"/>
          </a:xfrm>
          <a:custGeom>
            <a:avLst/>
            <a:gdLst>
              <a:gd name="connsiteX0" fmla="*/ 89582 w 1087156"/>
              <a:gd name="connsiteY0" fmla="*/ 0 h 322421"/>
              <a:gd name="connsiteX1" fmla="*/ 997574 w 1087156"/>
              <a:gd name="connsiteY1" fmla="*/ 0 h 322421"/>
              <a:gd name="connsiteX2" fmla="*/ 1087156 w 1087156"/>
              <a:gd name="connsiteY2" fmla="*/ 89582 h 322421"/>
              <a:gd name="connsiteX3" fmla="*/ 1087156 w 1087156"/>
              <a:gd name="connsiteY3" fmla="*/ 322421 h 322421"/>
              <a:gd name="connsiteX4" fmla="*/ 0 w 1087156"/>
              <a:gd name="connsiteY4" fmla="*/ 322421 h 322421"/>
              <a:gd name="connsiteX5" fmla="*/ 0 w 1087156"/>
              <a:gd name="connsiteY5" fmla="*/ 89582 h 322421"/>
              <a:gd name="connsiteX6" fmla="*/ 89582 w 1087156"/>
              <a:gd name="connsiteY6" fmla="*/ 0 h 32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7156" h="322421">
                <a:moveTo>
                  <a:pt x="89582" y="0"/>
                </a:moveTo>
                <a:lnTo>
                  <a:pt x="997574" y="0"/>
                </a:lnTo>
                <a:cubicBezTo>
                  <a:pt x="1047049" y="0"/>
                  <a:pt x="1087156" y="40107"/>
                  <a:pt x="1087156" y="89582"/>
                </a:cubicBezTo>
                <a:lnTo>
                  <a:pt x="1087156" y="322421"/>
                </a:lnTo>
                <a:lnTo>
                  <a:pt x="0" y="322421"/>
                </a:lnTo>
                <a:lnTo>
                  <a:pt x="0" y="89582"/>
                </a:lnTo>
                <a:cubicBezTo>
                  <a:pt x="0" y="40107"/>
                  <a:pt x="40107" y="0"/>
                  <a:pt x="89582" y="0"/>
                </a:cubicBezTo>
                <a:close/>
              </a:path>
            </a:pathLst>
          </a:custGeom>
          <a:gradFill>
            <a:gsLst>
              <a:gs pos="0">
                <a:srgbClr val="B3D4FE"/>
              </a:gs>
              <a:gs pos="100000">
                <a:srgbClr val="3368FF"/>
              </a:gs>
            </a:gsLst>
            <a:lin ang="162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50" name="文本框 149"/>
          <p:cNvSpPr txBox="1"/>
          <p:nvPr/>
        </p:nvSpPr>
        <p:spPr>
          <a:xfrm>
            <a:off x="10694579" y="4895051"/>
            <a:ext cx="702790"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latin typeface="微软雅黑"/>
                <a:ea typeface="微软雅黑"/>
                <a:cs typeface="微软雅黑"/>
              </a:rPr>
              <a:t>会员互换</a:t>
            </a:r>
            <a:endParaRPr lang="zh-CN" altLang="en-US" sz="1000" dirty="0">
              <a:latin typeface="微软雅黑"/>
              <a:ea typeface="微软雅黑"/>
              <a:cs typeface="微软雅黑"/>
            </a:endParaRPr>
          </a:p>
        </p:txBody>
      </p:sp>
      <p:sp>
        <p:nvSpPr>
          <p:cNvPr id="151" name="文本框 150"/>
          <p:cNvSpPr txBox="1"/>
          <p:nvPr/>
        </p:nvSpPr>
        <p:spPr>
          <a:xfrm>
            <a:off x="10869668" y="4757032"/>
            <a:ext cx="364731"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08</a:t>
            </a:r>
            <a:endParaRPr lang="en-US" altLang="zh-CN" sz="1000" dirty="0">
              <a:solidFill>
                <a:srgbClr val="383838"/>
              </a:solidFill>
              <a:latin typeface="微软雅黑"/>
              <a:ea typeface="微软雅黑"/>
              <a:cs typeface="微软雅黑"/>
            </a:endParaRPr>
          </a:p>
        </p:txBody>
      </p:sp>
      <p:sp>
        <p:nvSpPr>
          <p:cNvPr id="152" name="文本框 151"/>
          <p:cNvSpPr txBox="1"/>
          <p:nvPr/>
        </p:nvSpPr>
        <p:spPr>
          <a:xfrm>
            <a:off x="10693695" y="5406936"/>
            <a:ext cx="697628"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异业合作</a:t>
            </a:r>
            <a:endParaRPr lang="zh-CN" altLang="en-US" sz="1000" dirty="0">
              <a:solidFill>
                <a:srgbClr val="383838"/>
              </a:solidFill>
              <a:latin typeface="微软雅黑"/>
              <a:ea typeface="微软雅黑"/>
              <a:cs typeface="微软雅黑"/>
            </a:endParaRPr>
          </a:p>
        </p:txBody>
      </p:sp>
      <p:sp>
        <p:nvSpPr>
          <p:cNvPr id="156" name="任意多边形: 形状 248"/>
          <p:cNvSpPr/>
          <p:nvPr/>
        </p:nvSpPr>
        <p:spPr>
          <a:xfrm>
            <a:off x="8648723" y="4317995"/>
            <a:ext cx="1552852" cy="322421"/>
          </a:xfrm>
          <a:custGeom>
            <a:avLst/>
            <a:gdLst>
              <a:gd name="connsiteX0" fmla="*/ 89582 w 1087156"/>
              <a:gd name="connsiteY0" fmla="*/ 0 h 322421"/>
              <a:gd name="connsiteX1" fmla="*/ 997574 w 1087156"/>
              <a:gd name="connsiteY1" fmla="*/ 0 h 322421"/>
              <a:gd name="connsiteX2" fmla="*/ 1087156 w 1087156"/>
              <a:gd name="connsiteY2" fmla="*/ 89582 h 322421"/>
              <a:gd name="connsiteX3" fmla="*/ 1087156 w 1087156"/>
              <a:gd name="connsiteY3" fmla="*/ 322421 h 322421"/>
              <a:gd name="connsiteX4" fmla="*/ 0 w 1087156"/>
              <a:gd name="connsiteY4" fmla="*/ 322421 h 322421"/>
              <a:gd name="connsiteX5" fmla="*/ 0 w 1087156"/>
              <a:gd name="connsiteY5" fmla="*/ 89582 h 322421"/>
              <a:gd name="connsiteX6" fmla="*/ 89582 w 1087156"/>
              <a:gd name="connsiteY6" fmla="*/ 0 h 32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7156" h="322421">
                <a:moveTo>
                  <a:pt x="89582" y="0"/>
                </a:moveTo>
                <a:lnTo>
                  <a:pt x="997574" y="0"/>
                </a:lnTo>
                <a:cubicBezTo>
                  <a:pt x="1047049" y="0"/>
                  <a:pt x="1087156" y="40107"/>
                  <a:pt x="1087156" y="89582"/>
                </a:cubicBezTo>
                <a:lnTo>
                  <a:pt x="1087156" y="322421"/>
                </a:lnTo>
                <a:lnTo>
                  <a:pt x="0" y="322421"/>
                </a:lnTo>
                <a:lnTo>
                  <a:pt x="0" y="89582"/>
                </a:lnTo>
                <a:cubicBezTo>
                  <a:pt x="0" y="40107"/>
                  <a:pt x="40107" y="0"/>
                  <a:pt x="89582" y="0"/>
                </a:cubicBezTo>
                <a:close/>
              </a:path>
            </a:pathLst>
          </a:custGeom>
          <a:gradFill>
            <a:gsLst>
              <a:gs pos="0">
                <a:srgbClr val="B3D4FE"/>
              </a:gs>
              <a:gs pos="100000">
                <a:srgbClr val="3368FF"/>
              </a:gs>
            </a:gsLst>
            <a:lin ang="162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157" name="文本框 156"/>
          <p:cNvSpPr txBox="1"/>
          <p:nvPr/>
        </p:nvSpPr>
        <p:spPr>
          <a:xfrm>
            <a:off x="9104679" y="4433600"/>
            <a:ext cx="702790"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zh-CN" altLang="en-US" sz="1000" dirty="0">
                <a:latin typeface="微软雅黑"/>
                <a:ea typeface="微软雅黑"/>
                <a:cs typeface="微软雅黑"/>
              </a:rPr>
              <a:t>积分</a:t>
            </a:r>
            <a:endParaRPr lang="zh-CN" altLang="en-US" sz="1000" dirty="0">
              <a:latin typeface="微软雅黑"/>
              <a:ea typeface="微软雅黑"/>
              <a:cs typeface="微软雅黑"/>
            </a:endParaRPr>
          </a:p>
        </p:txBody>
      </p:sp>
      <p:sp>
        <p:nvSpPr>
          <p:cNvPr id="158" name="文本框 157"/>
          <p:cNvSpPr txBox="1"/>
          <p:nvPr/>
        </p:nvSpPr>
        <p:spPr>
          <a:xfrm>
            <a:off x="9279768" y="4295581"/>
            <a:ext cx="364731"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algn="ctr">
              <a:defRPr>
                <a:solidFill>
                  <a:srgbClr val="383838"/>
                </a:solidFill>
                <a:latin typeface="微软雅黑"/>
                <a:ea typeface="微软雅黑"/>
                <a:cs typeface="微软雅黑"/>
              </a:defRPr>
            </a:lvl1pPr>
          </a:lstStyle>
          <a:p>
            <a:pPr>
              <a:defRPr>
                <a:latin typeface="微软雅黑"/>
                <a:ea typeface="微软雅黑"/>
                <a:cs typeface="微软雅黑"/>
              </a:defRPr>
              <a:lnSpc>
                <a:spcPts val="1120"/>
              </a:lnSpc>
              <a:spcBef>
                <a:spcPts val="0"/>
              </a:spcBef>
              <a:spcAft>
                <a:spcPts val="0"/>
              </a:spcAft>
            </a:pPr>
            <a:r>
              <a:rPr lang="en-US" altLang="zh-CN" sz="1000" dirty="0">
                <a:latin typeface="微软雅黑"/>
                <a:ea typeface="微软雅黑"/>
                <a:cs typeface="微软雅黑"/>
              </a:rPr>
              <a:t>07</a:t>
            </a:r>
            <a:endParaRPr lang="en-US" altLang="zh-CN" sz="1000" dirty="0">
              <a:latin typeface="微软雅黑"/>
              <a:ea typeface="微软雅黑"/>
              <a:cs typeface="微软雅黑"/>
            </a:endParaRPr>
          </a:p>
        </p:txBody>
      </p:sp>
      <p:sp>
        <p:nvSpPr>
          <p:cNvPr id="164" name="文本框 163"/>
          <p:cNvSpPr txBox="1"/>
          <p:nvPr/>
        </p:nvSpPr>
        <p:spPr>
          <a:xfrm>
            <a:off x="9076335" y="5192107"/>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积分商城</a:t>
            </a:r>
            <a:endParaRPr lang="zh-CN" altLang="en-US" sz="1000" dirty="0">
              <a:solidFill>
                <a:srgbClr val="383838"/>
              </a:solidFill>
              <a:latin typeface="微软雅黑"/>
              <a:ea typeface="微软雅黑"/>
              <a:cs typeface="微软雅黑"/>
            </a:endParaRPr>
          </a:p>
        </p:txBody>
      </p:sp>
      <p:sp>
        <p:nvSpPr>
          <p:cNvPr id="165" name="文本框 164"/>
          <p:cNvSpPr txBox="1"/>
          <p:nvPr/>
        </p:nvSpPr>
        <p:spPr>
          <a:xfrm>
            <a:off x="9076337" y="5480007"/>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全易兑换</a:t>
            </a:r>
            <a:endParaRPr lang="zh-CN" altLang="en-US" sz="1000" dirty="0">
              <a:solidFill>
                <a:srgbClr val="383838"/>
              </a:solidFill>
              <a:latin typeface="微软雅黑"/>
              <a:ea typeface="微软雅黑"/>
              <a:cs typeface="微软雅黑"/>
            </a:endParaRPr>
          </a:p>
        </p:txBody>
      </p:sp>
      <p:sp>
        <p:nvSpPr>
          <p:cNvPr id="166" name="矩形: 圆角 257"/>
          <p:cNvSpPr/>
          <p:nvPr/>
        </p:nvSpPr>
        <p:spPr>
          <a:xfrm>
            <a:off x="3484245" y="4719320"/>
            <a:ext cx="4559935" cy="635635"/>
          </a:xfrm>
          <a:prstGeom prst="roundRect">
            <a:avLst>
              <a:gd name="adj" fmla="val 8240"/>
            </a:avLst>
          </a:prstGeom>
          <a:solidFill>
            <a:srgbClr val="E6E6E6">
              <a:alpha val="20000"/>
            </a:srgbClr>
          </a:solidFill>
          <a:ln>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7" name="矩形: 圆角 258"/>
          <p:cNvSpPr/>
          <p:nvPr/>
        </p:nvSpPr>
        <p:spPr>
          <a:xfrm>
            <a:off x="3486785" y="5488940"/>
            <a:ext cx="4556760" cy="909955"/>
          </a:xfrm>
          <a:prstGeom prst="roundRect">
            <a:avLst>
              <a:gd name="adj" fmla="val 8240"/>
            </a:avLst>
          </a:prstGeom>
          <a:solidFill>
            <a:srgbClr val="E6E6E6">
              <a:alpha val="20000"/>
            </a:srgbClr>
          </a:solidFill>
          <a:ln>
            <a:solidFill>
              <a:srgbClr val="3368FF"/>
            </a:solidFill>
            <a:prstDash val="dash"/>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69" name="文本框 168"/>
          <p:cNvSpPr txBox="1"/>
          <p:nvPr/>
        </p:nvSpPr>
        <p:spPr>
          <a:xfrm>
            <a:off x="5434608" y="1099382"/>
            <a:ext cx="864235" cy="275590"/>
          </a:xfrm>
          <a:prstGeom prst="rect">
            <a:avLst/>
          </a:prstGeom>
          <a:noFill/>
          <a:ln>
            <a:noFill/>
          </a:ln>
        </p:spPr>
        <p:txBody>
          <a:bodyPr wrap="none" rtlCol="0" lIns="0" rIns="0" tIns="0" bIns="0">
            <a:spAutoFit/>
          </a:bodyPr>
          <a:lstStyle>
            <a:defPPr>
              <a:defRPr lang="zh-CN">
                <a:latin typeface="微软雅黑"/>
                <a:ea typeface="微软雅黑"/>
                <a:cs typeface="微软雅黑"/>
              </a:defRPr>
            </a:defPPr>
            <a:lvl1pPr>
              <a:defRPr sz="1600">
                <a:solidFill>
                  <a:srgbClr val="0042FF"/>
                </a:solidFill>
                <a:latin typeface="微软雅黑"/>
                <a:ea typeface="微软雅黑"/>
                <a:cs typeface="微软雅黑"/>
              </a:defRPr>
            </a:lvl1pPr>
          </a:lstStyle>
          <a:p>
            <a:pPr lvl="0" algn="ctr">
              <a:buClrTx/>
              <a:buSzTx/>
              <a:buFontTx/>
              <a:defRPr>
                <a:latin typeface="微软雅黑"/>
                <a:ea typeface="微软雅黑"/>
                <a:cs typeface="微软雅黑"/>
              </a:defRPr>
            </a:pPr>
            <a:r>
              <a:rPr lang="zh-CN" altLang="en-US" sz="1200" b="1" dirty="0">
                <a:solidFill>
                  <a:srgbClr val="383838"/>
                </a:solidFill>
                <a:latin typeface="微软雅黑"/>
                <a:ea typeface="微软雅黑"/>
                <a:cs typeface="微软雅黑"/>
                <a:sym typeface="微软雅黑"/>
              </a:rPr>
              <a:t>激活</a:t>
            </a:r>
            <a:r>
              <a:rPr lang="zh-CN" altLang="en-US" sz="1200" b="1" dirty="0">
                <a:solidFill>
                  <a:srgbClr val="383838"/>
                </a:solidFill>
                <a:latin typeface="微软雅黑"/>
                <a:ea typeface="微软雅黑"/>
                <a:cs typeface="微软雅黑"/>
                <a:sym typeface="微软雅黑"/>
              </a:rPr>
              <a:t>/</a:t>
            </a:r>
            <a:r>
              <a:rPr lang="zh-CN" altLang="en-US" sz="1200" b="1" dirty="0">
                <a:solidFill>
                  <a:srgbClr val="383838"/>
                </a:solidFill>
                <a:latin typeface="微软雅黑"/>
                <a:ea typeface="微软雅黑"/>
                <a:cs typeface="微软雅黑"/>
                <a:sym typeface="微软雅黑"/>
              </a:rPr>
              <a:t>留存</a:t>
            </a:r>
            <a:endParaRPr lang="zh-CN" altLang="en-US" sz="1200" b="1" dirty="0">
              <a:solidFill>
                <a:srgbClr val="383838"/>
              </a:solidFill>
              <a:latin typeface="微软雅黑"/>
              <a:ea typeface="微软雅黑"/>
              <a:cs typeface="微软雅黑"/>
              <a:sym typeface="微软雅黑"/>
            </a:endParaRPr>
          </a:p>
        </p:txBody>
      </p:sp>
      <p:sp>
        <p:nvSpPr>
          <p:cNvPr id="170" name="文本框 169"/>
          <p:cNvSpPr txBox="1"/>
          <p:nvPr/>
        </p:nvSpPr>
        <p:spPr>
          <a:xfrm>
            <a:off x="1379579" y="1099382"/>
            <a:ext cx="488950" cy="275590"/>
          </a:xfrm>
          <a:prstGeom prst="rect">
            <a:avLst/>
          </a:prstGeom>
          <a:noFill/>
          <a:ln>
            <a:noFill/>
          </a:ln>
        </p:spPr>
        <p:txBody>
          <a:bodyPr wrap="none" rtlCol="0" lIns="0" rIns="0" tIns="0" bIns="0">
            <a:spAutoFit/>
          </a:bodyPr>
          <a:lstStyle>
            <a:defPPr>
              <a:defRPr lang="zh-CN">
                <a:latin typeface="微软雅黑"/>
                <a:ea typeface="微软雅黑"/>
                <a:cs typeface="微软雅黑"/>
              </a:defRPr>
            </a:defPPr>
            <a:lvl1pPr>
              <a:defRPr sz="1600">
                <a:solidFill>
                  <a:srgbClr val="0042FF"/>
                </a:solidFill>
                <a:latin typeface="微软雅黑"/>
                <a:ea typeface="微软雅黑"/>
                <a:cs typeface="微软雅黑"/>
              </a:defRPr>
            </a:lvl1p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拉新</a:t>
            </a:r>
            <a:endParaRPr lang="zh-CN" altLang="en-US" sz="1200" b="1" dirty="0">
              <a:solidFill>
                <a:srgbClr val="383838"/>
              </a:solidFill>
              <a:latin typeface="微软雅黑"/>
              <a:ea typeface="微软雅黑"/>
              <a:cs typeface="微软雅黑"/>
            </a:endParaRPr>
          </a:p>
        </p:txBody>
      </p:sp>
      <p:sp>
        <p:nvSpPr>
          <p:cNvPr id="172" name="文本框 171"/>
          <p:cNvSpPr txBox="1"/>
          <p:nvPr/>
        </p:nvSpPr>
        <p:spPr>
          <a:xfrm>
            <a:off x="9636226" y="1099382"/>
            <a:ext cx="864235" cy="275590"/>
          </a:xfrm>
          <a:prstGeom prst="rect">
            <a:avLst/>
          </a:prstGeom>
          <a:noFill/>
          <a:ln>
            <a:noFill/>
          </a:ln>
        </p:spPr>
        <p:txBody>
          <a:bodyPr wrap="none" rtlCol="0" lIns="0" rIns="0" tIns="0" bIns="0">
            <a:spAutoFit/>
          </a:bodyPr>
          <a:lstStyle>
            <a:defPPr>
              <a:defRPr lang="zh-CN">
                <a:latin typeface="微软雅黑"/>
                <a:ea typeface="微软雅黑"/>
                <a:cs typeface="微软雅黑"/>
              </a:defRPr>
            </a:defPPr>
            <a:lvl1pPr>
              <a:defRPr sz="1600">
                <a:solidFill>
                  <a:srgbClr val="0042FF"/>
                </a:solidFill>
                <a:latin typeface="微软雅黑"/>
                <a:ea typeface="微软雅黑"/>
                <a:cs typeface="微软雅黑"/>
              </a:defRPr>
            </a:lvl1pPr>
          </a:lstStyle>
          <a:p>
            <a:pPr lvl="0" algn="ctr">
              <a:buClrTx/>
              <a:buSzTx/>
              <a:buFontTx/>
              <a:defRPr>
                <a:latin typeface="微软雅黑"/>
                <a:ea typeface="微软雅黑"/>
                <a:cs typeface="微软雅黑"/>
              </a:defRPr>
            </a:pPr>
            <a:r>
              <a:rPr lang="zh-CN" altLang="en-US" sz="1200" b="1" dirty="0">
                <a:solidFill>
                  <a:srgbClr val="383838"/>
                </a:solidFill>
                <a:latin typeface="微软雅黑"/>
                <a:ea typeface="微软雅黑"/>
                <a:cs typeface="微软雅黑"/>
                <a:sym typeface="微软雅黑"/>
              </a:rPr>
              <a:t>变现</a:t>
            </a:r>
            <a:r>
              <a:rPr lang="zh-CN" altLang="en-US" sz="1200" b="1" dirty="0">
                <a:solidFill>
                  <a:srgbClr val="383838"/>
                </a:solidFill>
                <a:latin typeface="微软雅黑"/>
                <a:ea typeface="微软雅黑"/>
                <a:cs typeface="微软雅黑"/>
                <a:sym typeface="微软雅黑"/>
              </a:rPr>
              <a:t>/</a:t>
            </a:r>
            <a:r>
              <a:rPr lang="zh-CN" altLang="en-US" sz="1200" b="1" dirty="0">
                <a:solidFill>
                  <a:srgbClr val="383838"/>
                </a:solidFill>
                <a:latin typeface="微软雅黑"/>
                <a:ea typeface="微软雅黑"/>
                <a:cs typeface="微软雅黑"/>
                <a:sym typeface="微软雅黑"/>
              </a:rPr>
              <a:t>推荐</a:t>
            </a:r>
            <a:endParaRPr lang="zh-CN" altLang="en-US" sz="1200" b="1" dirty="0">
              <a:solidFill>
                <a:srgbClr val="383838"/>
              </a:solidFill>
              <a:latin typeface="微软雅黑"/>
              <a:ea typeface="微软雅黑"/>
              <a:cs typeface="微软雅黑"/>
              <a:sym typeface="微软雅黑"/>
            </a:endParaRPr>
          </a:p>
        </p:txBody>
      </p:sp>
      <p:cxnSp>
        <p:nvCxnSpPr>
          <p:cNvPr id="174" name="直接箭头连接符 173"/>
          <p:cNvCxnSpPr/>
          <p:nvPr/>
        </p:nvCxnSpPr>
        <p:spPr>
          <a:xfrm flipV="1">
            <a:off x="1949558" y="1211920"/>
            <a:ext cx="984250" cy="3810"/>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175" name="直接箭头连接符 174"/>
          <p:cNvCxnSpPr/>
          <p:nvPr/>
        </p:nvCxnSpPr>
        <p:spPr>
          <a:xfrm flipH="1">
            <a:off x="464702" y="1215730"/>
            <a:ext cx="913130" cy="0"/>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180" name="直接箭头连接符 179"/>
          <p:cNvCxnSpPr/>
          <p:nvPr/>
        </p:nvCxnSpPr>
        <p:spPr>
          <a:xfrm>
            <a:off x="6295689" y="1215730"/>
            <a:ext cx="2108082" cy="0"/>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193" name="直接箭头连接符 192"/>
          <p:cNvCxnSpPr/>
          <p:nvPr/>
        </p:nvCxnSpPr>
        <p:spPr>
          <a:xfrm flipH="1">
            <a:off x="3066921" y="1215730"/>
            <a:ext cx="2303145" cy="0"/>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208" name="直接箭头连接符 207"/>
          <p:cNvCxnSpPr/>
          <p:nvPr/>
        </p:nvCxnSpPr>
        <p:spPr>
          <a:xfrm>
            <a:off x="10527741" y="1215730"/>
            <a:ext cx="1026160" cy="0"/>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314" name="直接箭头连接符 313"/>
          <p:cNvCxnSpPr/>
          <p:nvPr/>
        </p:nvCxnSpPr>
        <p:spPr>
          <a:xfrm flipH="1">
            <a:off x="8510588" y="1215730"/>
            <a:ext cx="1044575" cy="0"/>
          </a:xfrm>
          <a:prstGeom prst="straightConnector1">
            <a:avLst/>
          </a:prstGeom>
          <a:ln>
            <a:solidFill>
              <a:srgbClr val="383838"/>
            </a:solidFill>
            <a:prstDash val="dash"/>
            <a:tailEnd type="triangle"/>
          </a:ln>
        </p:spPr>
        <p:style>
          <a:lnRef idx="1">
            <a:srgbClr val="0042FF"/>
          </a:lnRef>
          <a:fillRef idx="0">
            <a:srgbClr val="0042FF"/>
          </a:fillRef>
          <a:effectRef idx="0">
            <a:srgbClr val="0042FF"/>
          </a:effectRef>
          <a:fontRef idx="minor">
            <a:srgbClr val="383838"/>
          </a:fontRef>
        </p:style>
      </p:cxnSp>
      <p:sp>
        <p:nvSpPr>
          <p:cNvPr id="315" name="任意多边形: 形状 280"/>
          <p:cNvSpPr/>
          <p:nvPr/>
        </p:nvSpPr>
        <p:spPr>
          <a:xfrm>
            <a:off x="3862705" y="3529965"/>
            <a:ext cx="429895" cy="50292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17" name="文本框 316"/>
          <p:cNvSpPr txBox="1"/>
          <p:nvPr/>
        </p:nvSpPr>
        <p:spPr>
          <a:xfrm>
            <a:off x="3745412" y="4942749"/>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发布内容</a:t>
            </a:r>
            <a:endParaRPr lang="zh-CN" altLang="en-US" sz="1000" dirty="0">
              <a:solidFill>
                <a:srgbClr val="383838"/>
              </a:solidFill>
              <a:latin typeface="微软雅黑"/>
              <a:ea typeface="微软雅黑"/>
              <a:cs typeface="微软雅黑"/>
            </a:endParaRPr>
          </a:p>
        </p:txBody>
      </p:sp>
      <p:sp>
        <p:nvSpPr>
          <p:cNvPr id="318" name="文本框 317"/>
          <p:cNvSpPr txBox="1"/>
          <p:nvPr/>
        </p:nvSpPr>
        <p:spPr>
          <a:xfrm>
            <a:off x="4698928" y="4942749"/>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粉丝互动</a:t>
            </a:r>
            <a:endParaRPr lang="zh-CN" altLang="en-US" sz="1000" dirty="0">
              <a:solidFill>
                <a:srgbClr val="383838"/>
              </a:solidFill>
              <a:latin typeface="微软雅黑"/>
              <a:ea typeface="微软雅黑"/>
              <a:cs typeface="微软雅黑"/>
            </a:endParaRPr>
          </a:p>
        </p:txBody>
      </p:sp>
      <p:sp>
        <p:nvSpPr>
          <p:cNvPr id="319" name="文本框 318"/>
          <p:cNvSpPr txBox="1"/>
          <p:nvPr/>
        </p:nvSpPr>
        <p:spPr>
          <a:xfrm>
            <a:off x="5652443" y="4942749"/>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组织管理</a:t>
            </a:r>
            <a:endParaRPr lang="zh-CN" altLang="en-US" sz="1000" dirty="0">
              <a:solidFill>
                <a:srgbClr val="383838"/>
              </a:solidFill>
              <a:latin typeface="微软雅黑"/>
              <a:ea typeface="微软雅黑"/>
              <a:cs typeface="微软雅黑"/>
            </a:endParaRPr>
          </a:p>
        </p:txBody>
      </p:sp>
      <p:sp>
        <p:nvSpPr>
          <p:cNvPr id="320" name="文本框 319"/>
          <p:cNvSpPr txBox="1"/>
          <p:nvPr/>
        </p:nvSpPr>
        <p:spPr>
          <a:xfrm>
            <a:off x="6605958" y="4942749"/>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奖励收获</a:t>
            </a:r>
            <a:endParaRPr lang="zh-CN" altLang="en-US" sz="1000" dirty="0">
              <a:solidFill>
                <a:srgbClr val="383838"/>
              </a:solidFill>
              <a:latin typeface="微软雅黑"/>
              <a:ea typeface="微软雅黑"/>
              <a:cs typeface="微软雅黑"/>
            </a:endParaRPr>
          </a:p>
        </p:txBody>
      </p:sp>
      <p:sp>
        <p:nvSpPr>
          <p:cNvPr id="321" name="文本框 320"/>
          <p:cNvSpPr txBox="1"/>
          <p:nvPr/>
        </p:nvSpPr>
        <p:spPr>
          <a:xfrm>
            <a:off x="3782863" y="5621853"/>
            <a:ext cx="56938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大曝光</a:t>
            </a:r>
            <a:endParaRPr lang="zh-CN" altLang="en-US" sz="1000" dirty="0">
              <a:solidFill>
                <a:srgbClr val="383838"/>
              </a:solidFill>
              <a:latin typeface="微软雅黑"/>
              <a:ea typeface="微软雅黑"/>
              <a:cs typeface="微软雅黑"/>
            </a:endParaRPr>
          </a:p>
        </p:txBody>
      </p:sp>
      <p:sp>
        <p:nvSpPr>
          <p:cNvPr id="322" name="文本框 321"/>
          <p:cNvSpPr txBox="1"/>
          <p:nvPr/>
        </p:nvSpPr>
        <p:spPr>
          <a:xfrm>
            <a:off x="4672259" y="5621853"/>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活动运营</a:t>
            </a:r>
            <a:endParaRPr lang="zh-CN" altLang="en-US" sz="1000" dirty="0">
              <a:solidFill>
                <a:srgbClr val="383838"/>
              </a:solidFill>
              <a:latin typeface="微软雅黑"/>
              <a:ea typeface="微软雅黑"/>
              <a:cs typeface="微软雅黑"/>
            </a:endParaRPr>
          </a:p>
        </p:txBody>
      </p:sp>
      <p:sp>
        <p:nvSpPr>
          <p:cNvPr id="324" name="文本框 323"/>
          <p:cNvSpPr txBox="1"/>
          <p:nvPr/>
        </p:nvSpPr>
        <p:spPr>
          <a:xfrm>
            <a:off x="5625773" y="5621853"/>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粉丝增长</a:t>
            </a:r>
            <a:endParaRPr lang="zh-CN" altLang="en-US" sz="1000" dirty="0">
              <a:solidFill>
                <a:srgbClr val="383838"/>
              </a:solidFill>
              <a:latin typeface="微软雅黑"/>
              <a:ea typeface="微软雅黑"/>
              <a:cs typeface="微软雅黑"/>
            </a:endParaRPr>
          </a:p>
        </p:txBody>
      </p:sp>
      <p:sp>
        <p:nvSpPr>
          <p:cNvPr id="325" name="文本框 324"/>
          <p:cNvSpPr txBox="1"/>
          <p:nvPr/>
        </p:nvSpPr>
        <p:spPr>
          <a:xfrm>
            <a:off x="6579288" y="5621853"/>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流量广告</a:t>
            </a:r>
            <a:endParaRPr lang="zh-CN" altLang="en-US" sz="1000" dirty="0">
              <a:solidFill>
                <a:srgbClr val="383838"/>
              </a:solidFill>
              <a:latin typeface="微软雅黑"/>
              <a:ea typeface="微软雅黑"/>
              <a:cs typeface="微软雅黑"/>
            </a:endParaRPr>
          </a:p>
        </p:txBody>
      </p:sp>
      <p:sp>
        <p:nvSpPr>
          <p:cNvPr id="329" name="文本框 328"/>
          <p:cNvSpPr txBox="1"/>
          <p:nvPr/>
        </p:nvSpPr>
        <p:spPr>
          <a:xfrm>
            <a:off x="3718744" y="6099736"/>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分群曝光</a:t>
            </a:r>
            <a:endParaRPr lang="zh-CN" altLang="en-US" sz="1000" dirty="0">
              <a:solidFill>
                <a:srgbClr val="383838"/>
              </a:solidFill>
              <a:latin typeface="微软雅黑"/>
              <a:ea typeface="微软雅黑"/>
              <a:cs typeface="微软雅黑"/>
            </a:endParaRPr>
          </a:p>
        </p:txBody>
      </p:sp>
      <p:sp>
        <p:nvSpPr>
          <p:cNvPr id="330" name="文本框 329"/>
          <p:cNvSpPr txBox="1"/>
          <p:nvPr/>
        </p:nvSpPr>
        <p:spPr>
          <a:xfrm>
            <a:off x="4686685" y="6099736"/>
            <a:ext cx="668774"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定位</a:t>
            </a:r>
            <a:r>
              <a:rPr lang="en-US" altLang="zh-CN" sz="1000" dirty="0">
                <a:solidFill>
                  <a:srgbClr val="383838"/>
                </a:solidFill>
                <a:latin typeface="微软雅黑"/>
                <a:ea typeface="微软雅黑"/>
                <a:cs typeface="微软雅黑"/>
              </a:rPr>
              <a:t>KOL</a:t>
            </a:r>
            <a:endParaRPr lang="en-US" altLang="zh-CN" sz="1000" dirty="0">
              <a:solidFill>
                <a:srgbClr val="383838"/>
              </a:solidFill>
              <a:latin typeface="微软雅黑"/>
              <a:ea typeface="微软雅黑"/>
              <a:cs typeface="微软雅黑"/>
            </a:endParaRPr>
          </a:p>
        </p:txBody>
      </p:sp>
      <p:sp>
        <p:nvSpPr>
          <p:cNvPr id="331" name="文本框 330"/>
          <p:cNvSpPr txBox="1"/>
          <p:nvPr/>
        </p:nvSpPr>
        <p:spPr>
          <a:xfrm>
            <a:off x="5625773" y="6099736"/>
            <a:ext cx="69762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粉丝培育</a:t>
            </a:r>
            <a:endParaRPr lang="zh-CN" altLang="en-US" sz="1000" dirty="0">
              <a:solidFill>
                <a:srgbClr val="383838"/>
              </a:solidFill>
              <a:latin typeface="微软雅黑"/>
              <a:ea typeface="微软雅黑"/>
              <a:cs typeface="微软雅黑"/>
            </a:endParaRPr>
          </a:p>
        </p:txBody>
      </p:sp>
      <p:sp>
        <p:nvSpPr>
          <p:cNvPr id="332" name="文本框 331"/>
          <p:cNvSpPr txBox="1"/>
          <p:nvPr/>
        </p:nvSpPr>
        <p:spPr>
          <a:xfrm>
            <a:off x="6643409" y="6099736"/>
            <a:ext cx="569387" cy="246221"/>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用户池</a:t>
            </a:r>
            <a:endParaRPr lang="zh-CN" altLang="en-US" sz="1000" dirty="0">
              <a:solidFill>
                <a:srgbClr val="383838"/>
              </a:solidFill>
              <a:latin typeface="微软雅黑"/>
              <a:ea typeface="微软雅黑"/>
              <a:cs typeface="微软雅黑"/>
            </a:endParaRPr>
          </a:p>
        </p:txBody>
      </p:sp>
      <p:sp>
        <p:nvSpPr>
          <p:cNvPr id="333" name="右大括号 332"/>
          <p:cNvSpPr/>
          <p:nvPr/>
        </p:nvSpPr>
        <p:spPr>
          <a:xfrm>
            <a:off x="1691386" y="2006600"/>
            <a:ext cx="222565" cy="2095916"/>
          </a:xfrm>
          <a:prstGeom prst="rightBrace">
            <a:avLst>
              <a:gd name="adj1" fmla="val 53950"/>
              <a:gd name="adj2" fmla="val 50000"/>
            </a:avLst>
          </a:prstGeom>
          <a:noFill/>
          <a:ln w="12700">
            <a:solidFill>
              <a:srgbClr val="383838">
                <a:alpha val="70000"/>
              </a:srgbClr>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a:solidFill>
                <a:srgbClr val="383838"/>
              </a:solidFill>
              <a:latin typeface="微软雅黑"/>
              <a:ea typeface="微软雅黑"/>
              <a:cs typeface="微软雅黑"/>
            </a:endParaRPr>
          </a:p>
        </p:txBody>
      </p:sp>
      <p:sp>
        <p:nvSpPr>
          <p:cNvPr id="334" name="右大括号 333"/>
          <p:cNvSpPr/>
          <p:nvPr/>
        </p:nvSpPr>
        <p:spPr>
          <a:xfrm>
            <a:off x="1691386" y="5192106"/>
            <a:ext cx="222565" cy="320327"/>
          </a:xfrm>
          <a:prstGeom prst="rightBrace">
            <a:avLst>
              <a:gd name="adj1" fmla="val 18863"/>
              <a:gd name="adj2" fmla="val 50000"/>
            </a:avLst>
          </a:prstGeom>
          <a:noFill/>
          <a:ln w="12700">
            <a:solidFill>
              <a:srgbClr val="383838">
                <a:alpha val="70000"/>
              </a:srgbClr>
            </a:solidFill>
            <a:prstDash val="dash"/>
          </a:ln>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b="1">
              <a:solidFill>
                <a:srgbClr val="383838"/>
              </a:solidFill>
              <a:latin typeface="微软雅黑"/>
              <a:ea typeface="微软雅黑"/>
              <a:cs typeface="微软雅黑"/>
            </a:endParaRPr>
          </a:p>
        </p:txBody>
      </p:sp>
      <p:sp>
        <p:nvSpPr>
          <p:cNvPr id="335" name="椭圆 334"/>
          <p:cNvSpPr/>
          <p:nvPr/>
        </p:nvSpPr>
        <p:spPr>
          <a:xfrm>
            <a:off x="3657600" y="2476485"/>
            <a:ext cx="51726" cy="51726"/>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36" name="椭圆 335"/>
          <p:cNvSpPr/>
          <p:nvPr/>
        </p:nvSpPr>
        <p:spPr>
          <a:xfrm>
            <a:off x="3657600" y="2776720"/>
            <a:ext cx="51726" cy="51726"/>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37" name="椭圆 336"/>
          <p:cNvSpPr/>
          <p:nvPr/>
        </p:nvSpPr>
        <p:spPr>
          <a:xfrm>
            <a:off x="3657600" y="3056967"/>
            <a:ext cx="51726" cy="51726"/>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38" name="椭圆 337"/>
          <p:cNvSpPr/>
          <p:nvPr/>
        </p:nvSpPr>
        <p:spPr>
          <a:xfrm>
            <a:off x="3657600" y="3366278"/>
            <a:ext cx="51726" cy="51726"/>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339" name="连接符: 曲线 325"/>
          <p:cNvCxnSpPr>
            <a:stCxn id="102" idx="3"/>
            <a:endCxn id="166" idx="1"/>
          </p:cNvCxnSpPr>
          <p:nvPr/>
        </p:nvCxnSpPr>
        <p:spPr>
          <a:xfrm flipV="1">
            <a:off x="2836545" y="5037455"/>
            <a:ext cx="647700" cy="363855"/>
          </a:xfrm>
          <a:prstGeom prst="curvedConnector3">
            <a:avLst>
              <a:gd name="adj1" fmla="val 50000"/>
            </a:avLst>
          </a:prstGeom>
          <a:ln>
            <a:solidFill>
              <a:srgbClr val="383838">
                <a:alpha val="70000"/>
              </a:srgbClr>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340" name="连接符: 曲线 327"/>
          <p:cNvCxnSpPr>
            <a:stCxn id="35" idx="3"/>
            <a:endCxn id="126" idx="1"/>
          </p:cNvCxnSpPr>
          <p:nvPr/>
        </p:nvCxnSpPr>
        <p:spPr>
          <a:xfrm>
            <a:off x="8215630" y="2001520"/>
            <a:ext cx="433070" cy="575310"/>
          </a:xfrm>
          <a:prstGeom prst="curvedConnector3">
            <a:avLst>
              <a:gd name="adj1" fmla="val 50000"/>
            </a:avLst>
          </a:prstGeom>
          <a:ln>
            <a:solidFill>
              <a:srgbClr val="383838">
                <a:alpha val="70000"/>
              </a:srgbClr>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341" name="连接符: 曲线 329"/>
          <p:cNvCxnSpPr>
            <a:stCxn id="109" idx="3"/>
          </p:cNvCxnSpPr>
          <p:nvPr/>
        </p:nvCxnSpPr>
        <p:spPr>
          <a:xfrm flipV="1">
            <a:off x="8215339" y="2845516"/>
            <a:ext cx="427612" cy="340813"/>
          </a:xfrm>
          <a:prstGeom prst="curvedConnector3">
            <a:avLst>
              <a:gd name="adj1" fmla="val 50000"/>
            </a:avLst>
          </a:prstGeom>
          <a:ln>
            <a:solidFill>
              <a:srgbClr val="383838">
                <a:alpha val="70000"/>
              </a:srgbClr>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342" name="连接符: 曲线 333"/>
          <p:cNvCxnSpPr>
            <a:stCxn id="166" idx="3"/>
            <a:endCxn id="155" idx="1"/>
          </p:cNvCxnSpPr>
          <p:nvPr/>
        </p:nvCxnSpPr>
        <p:spPr>
          <a:xfrm>
            <a:off x="8044180" y="5037455"/>
            <a:ext cx="604520" cy="50165"/>
          </a:xfrm>
          <a:prstGeom prst="curvedConnector3">
            <a:avLst>
              <a:gd name="adj1" fmla="val 50000"/>
            </a:avLst>
          </a:prstGeom>
          <a:ln>
            <a:solidFill>
              <a:srgbClr val="383838">
                <a:alpha val="70000"/>
              </a:srgbClr>
            </a:solidFill>
            <a:prstDash val="dash"/>
            <a:tailEnd type="triangle"/>
          </a:ln>
        </p:spPr>
        <p:style>
          <a:lnRef idx="1">
            <a:srgbClr val="0042FF"/>
          </a:lnRef>
          <a:fillRef idx="0">
            <a:srgbClr val="0042FF"/>
          </a:fillRef>
          <a:effectRef idx="0">
            <a:srgbClr val="0042FF"/>
          </a:effectRef>
          <a:fontRef idx="minor">
            <a:srgbClr val="383838"/>
          </a:fontRef>
        </p:style>
      </p:cxnSp>
      <p:cxnSp>
        <p:nvCxnSpPr>
          <p:cNvPr id="346" name="连接符: 曲线 345"/>
          <p:cNvCxnSpPr>
            <a:stCxn id="126" idx="3"/>
            <a:endCxn id="228" idx="1"/>
          </p:cNvCxnSpPr>
          <p:nvPr/>
        </p:nvCxnSpPr>
        <p:spPr>
          <a:xfrm>
            <a:off x="10201275" y="2576830"/>
            <a:ext cx="326390" cy="388620"/>
          </a:xfrm>
          <a:prstGeom prst="curvedConnector3">
            <a:avLst>
              <a:gd name="adj1" fmla="val 50000"/>
            </a:avLst>
          </a:prstGeom>
          <a:ln>
            <a:solidFill>
              <a:srgbClr val="383838">
                <a:alpha val="70000"/>
              </a:srgbClr>
            </a:solidFill>
            <a:prstDash val="dash"/>
            <a:tailEnd type="triangle" w="sm" len="sm"/>
          </a:ln>
        </p:spPr>
        <p:style>
          <a:lnRef idx="1">
            <a:srgbClr val="0042FF"/>
          </a:lnRef>
          <a:fillRef idx="0">
            <a:srgbClr val="0042FF"/>
          </a:fillRef>
          <a:effectRef idx="0">
            <a:srgbClr val="0042FF"/>
          </a:effectRef>
          <a:fontRef idx="minor">
            <a:srgbClr val="383838"/>
          </a:fontRef>
        </p:style>
      </p:cxnSp>
      <p:cxnSp>
        <p:nvCxnSpPr>
          <p:cNvPr id="349" name="连接符: 曲线 348"/>
          <p:cNvCxnSpPr>
            <a:stCxn id="155" idx="3"/>
            <a:endCxn id="228" idx="1"/>
          </p:cNvCxnSpPr>
          <p:nvPr/>
        </p:nvCxnSpPr>
        <p:spPr>
          <a:xfrm flipV="1">
            <a:off x="10201275" y="2965450"/>
            <a:ext cx="326390" cy="2122170"/>
          </a:xfrm>
          <a:prstGeom prst="curvedConnector3">
            <a:avLst>
              <a:gd name="adj1" fmla="val 50000"/>
            </a:avLst>
          </a:prstGeom>
          <a:ln>
            <a:solidFill>
              <a:srgbClr val="383838">
                <a:alpha val="70000"/>
              </a:srgbClr>
            </a:solidFill>
            <a:prstDash val="dash"/>
            <a:tailEnd type="triangle" w="sm" len="med"/>
          </a:ln>
        </p:spPr>
        <p:style>
          <a:lnRef idx="1">
            <a:srgbClr val="0042FF"/>
          </a:lnRef>
          <a:fillRef idx="0">
            <a:srgbClr val="0042FF"/>
          </a:fillRef>
          <a:effectRef idx="0">
            <a:srgbClr val="0042FF"/>
          </a:effectRef>
          <a:fontRef idx="minor">
            <a:srgbClr val="383838"/>
          </a:fontRef>
        </p:style>
      </p:cxnSp>
      <p:cxnSp>
        <p:nvCxnSpPr>
          <p:cNvPr id="352" name="连接符: 曲线 351"/>
          <p:cNvCxnSpPr>
            <a:endCxn id="140" idx="1"/>
          </p:cNvCxnSpPr>
          <p:nvPr/>
        </p:nvCxnSpPr>
        <p:spPr>
          <a:xfrm>
            <a:off x="10290447" y="5248204"/>
            <a:ext cx="211949" cy="68266"/>
          </a:xfrm>
          <a:prstGeom prst="curvedConnector3">
            <a:avLst>
              <a:gd name="adj1" fmla="val 50000"/>
            </a:avLst>
          </a:prstGeom>
          <a:ln>
            <a:solidFill>
              <a:srgbClr val="383838">
                <a:alpha val="70000"/>
              </a:srgbClr>
            </a:solidFill>
            <a:prstDash val="dash"/>
            <a:tailEnd type="triangle"/>
          </a:ln>
        </p:spPr>
        <p:style>
          <a:lnRef idx="1">
            <a:srgbClr val="0042FF"/>
          </a:lnRef>
          <a:fillRef idx="0">
            <a:srgbClr val="0042FF"/>
          </a:fillRef>
          <a:effectRef idx="0">
            <a:srgbClr val="0042FF"/>
          </a:effectRef>
          <a:fontRef idx="minor">
            <a:srgbClr val="383838"/>
          </a:fontRef>
        </p:style>
      </p:cxnSp>
      <p:sp>
        <p:nvSpPr>
          <p:cNvPr id="372" name="任意多边形: 形状 371"/>
          <p:cNvSpPr/>
          <p:nvPr/>
        </p:nvSpPr>
        <p:spPr>
          <a:xfrm>
            <a:off x="5326360" y="2648823"/>
            <a:ext cx="2888980" cy="326128"/>
          </a:xfrm>
          <a:custGeom>
            <a:avLst/>
            <a:gdLst>
              <a:gd name="connsiteX0" fmla="*/ 81045 w 2888980"/>
              <a:gd name="connsiteY0" fmla="*/ 0 h 326128"/>
              <a:gd name="connsiteX1" fmla="*/ 2807935 w 2888980"/>
              <a:gd name="connsiteY1" fmla="*/ 0 h 326128"/>
              <a:gd name="connsiteX2" fmla="*/ 2888980 w 2888980"/>
              <a:gd name="connsiteY2" fmla="*/ 81045 h 326128"/>
              <a:gd name="connsiteX3" fmla="*/ 2888980 w 2888980"/>
              <a:gd name="connsiteY3" fmla="*/ 326128 h 326128"/>
              <a:gd name="connsiteX4" fmla="*/ 0 w 2888980"/>
              <a:gd name="connsiteY4" fmla="*/ 326128 h 326128"/>
              <a:gd name="connsiteX5" fmla="*/ 0 w 2888980"/>
              <a:gd name="connsiteY5" fmla="*/ 81045 h 326128"/>
              <a:gd name="connsiteX6" fmla="*/ 81045 w 2888980"/>
              <a:gd name="connsiteY6" fmla="*/ 0 h 326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8980" h="326128">
                <a:moveTo>
                  <a:pt x="81045" y="0"/>
                </a:moveTo>
                <a:lnTo>
                  <a:pt x="2807935" y="0"/>
                </a:lnTo>
                <a:cubicBezTo>
                  <a:pt x="2852695" y="0"/>
                  <a:pt x="2888980" y="36285"/>
                  <a:pt x="2888980" y="81045"/>
                </a:cubicBezTo>
                <a:lnTo>
                  <a:pt x="2888980" y="326128"/>
                </a:lnTo>
                <a:lnTo>
                  <a:pt x="0" y="326128"/>
                </a:lnTo>
                <a:lnTo>
                  <a:pt x="0" y="81045"/>
                </a:lnTo>
                <a:cubicBezTo>
                  <a:pt x="0" y="36285"/>
                  <a:pt x="36285" y="0"/>
                  <a:pt x="81045" y="0"/>
                </a:cubicBezTo>
                <a:close/>
              </a:path>
            </a:pathLst>
          </a:custGeom>
          <a:gradFill flip="none" rotWithShape="1">
            <a:gsLst>
              <a:gs pos="0">
                <a:srgbClr val="3368FF"/>
              </a:gs>
              <a:gs pos="100000">
                <a:srgbClr val="668E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73" name="文本框 372"/>
          <p:cNvSpPr txBox="1"/>
          <p:nvPr/>
        </p:nvSpPr>
        <p:spPr>
          <a:xfrm>
            <a:off x="6440950" y="2764428"/>
            <a:ext cx="702790" cy="230832"/>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社交体系</a:t>
            </a:r>
            <a:endParaRPr lang="zh-CN" altLang="en-US" sz="1000" dirty="0">
              <a:solidFill>
                <a:srgbClr val="383838"/>
              </a:solidFill>
              <a:latin typeface="微软雅黑"/>
              <a:ea typeface="微软雅黑"/>
              <a:cs typeface="微软雅黑"/>
            </a:endParaRPr>
          </a:p>
        </p:txBody>
      </p:sp>
      <p:sp>
        <p:nvSpPr>
          <p:cNvPr id="374" name="文本框 373"/>
          <p:cNvSpPr txBox="1"/>
          <p:nvPr/>
        </p:nvSpPr>
        <p:spPr>
          <a:xfrm>
            <a:off x="6616039" y="2626409"/>
            <a:ext cx="364731" cy="230832"/>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383838"/>
                </a:solidFill>
                <a:latin typeface="微软雅黑"/>
                <a:ea typeface="微软雅黑"/>
                <a:cs typeface="微软雅黑"/>
              </a:defRPr>
              <a:lnSpc>
                <a:spcPts val="1120"/>
              </a:lnSpc>
              <a:spcBef>
                <a:spcPts val="0"/>
              </a:spcBef>
              <a:spcAft>
                <a:spcPts val="0"/>
              </a:spcAft>
            </a:pPr>
            <a:r>
              <a:rPr lang="en-US" altLang="zh-CN" sz="1000" dirty="0">
                <a:solidFill>
                  <a:srgbClr val="383838"/>
                </a:solidFill>
                <a:latin typeface="微软雅黑"/>
                <a:ea typeface="微软雅黑"/>
                <a:cs typeface="微软雅黑"/>
              </a:rPr>
              <a:t>05</a:t>
            </a:r>
            <a:endParaRPr lang="en-US" altLang="zh-CN" sz="1000" dirty="0">
              <a:solidFill>
                <a:srgbClr val="383838"/>
              </a:solidFill>
              <a:latin typeface="微软雅黑"/>
              <a:ea typeface="微软雅黑"/>
              <a:cs typeface="微软雅黑"/>
            </a:endParaRPr>
          </a:p>
        </p:txBody>
      </p:sp>
      <p:grpSp>
        <p:nvGrpSpPr>
          <p:cNvPr id="3" name="组合 2"/>
          <p:cNvGrpSpPr/>
          <p:nvPr/>
        </p:nvGrpSpPr>
        <p:grpSpPr>
          <a:xfrm>
            <a:off x="439420" y="4598670"/>
            <a:ext cx="1087120" cy="368935"/>
            <a:chOff x="692" y="7242"/>
            <a:chExt cx="1712" cy="581"/>
          </a:xfrm>
        </p:grpSpPr>
        <p:sp>
          <p:nvSpPr>
            <p:cNvPr id="377" name="任意多边形: 形状 376"/>
            <p:cNvSpPr/>
            <p:nvPr/>
          </p:nvSpPr>
          <p:spPr>
            <a:xfrm>
              <a:off x="692" y="7277"/>
              <a:ext cx="1712" cy="508"/>
            </a:xfrm>
            <a:custGeom>
              <a:avLst/>
              <a:gdLst>
                <a:gd name="connsiteX0" fmla="*/ 89582 w 1087156"/>
                <a:gd name="connsiteY0" fmla="*/ 0 h 322421"/>
                <a:gd name="connsiteX1" fmla="*/ 997574 w 1087156"/>
                <a:gd name="connsiteY1" fmla="*/ 0 h 322421"/>
                <a:gd name="connsiteX2" fmla="*/ 1087156 w 1087156"/>
                <a:gd name="connsiteY2" fmla="*/ 89582 h 322421"/>
                <a:gd name="connsiteX3" fmla="*/ 1087156 w 1087156"/>
                <a:gd name="connsiteY3" fmla="*/ 322421 h 322421"/>
                <a:gd name="connsiteX4" fmla="*/ 0 w 1087156"/>
                <a:gd name="connsiteY4" fmla="*/ 322421 h 322421"/>
                <a:gd name="connsiteX5" fmla="*/ 0 w 1087156"/>
                <a:gd name="connsiteY5" fmla="*/ 89582 h 322421"/>
                <a:gd name="connsiteX6" fmla="*/ 89582 w 1087156"/>
                <a:gd name="connsiteY6" fmla="*/ 0 h 32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7156" h="322421">
                  <a:moveTo>
                    <a:pt x="89582" y="0"/>
                  </a:moveTo>
                  <a:lnTo>
                    <a:pt x="997574" y="0"/>
                  </a:lnTo>
                  <a:cubicBezTo>
                    <a:pt x="1047049" y="0"/>
                    <a:pt x="1087156" y="40107"/>
                    <a:pt x="1087156" y="89582"/>
                  </a:cubicBezTo>
                  <a:lnTo>
                    <a:pt x="1087156" y="322421"/>
                  </a:lnTo>
                  <a:lnTo>
                    <a:pt x="0" y="322421"/>
                  </a:lnTo>
                  <a:lnTo>
                    <a:pt x="0" y="89582"/>
                  </a:lnTo>
                  <a:cubicBezTo>
                    <a:pt x="0" y="40107"/>
                    <a:pt x="40107" y="0"/>
                    <a:pt x="89582" y="0"/>
                  </a:cubicBezTo>
                  <a:close/>
                </a:path>
              </a:pathLst>
            </a:custGeom>
            <a:gradFill>
              <a:gsLst>
                <a:gs pos="100000">
                  <a:srgbClr val="3368FF"/>
                </a:gs>
                <a:gs pos="9000">
                  <a:srgbClr val="0042FF"/>
                </a:gs>
              </a:gsLst>
              <a:lin ang="27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378" name="文本框 377"/>
            <p:cNvSpPr txBox="1"/>
            <p:nvPr/>
          </p:nvSpPr>
          <p:spPr>
            <a:xfrm>
              <a:off x="994" y="7459"/>
              <a:ext cx="1107" cy="364"/>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lnSpc>
                  <a:spcPts val="1120"/>
                </a:lnSpc>
                <a:spcBef>
                  <a:spcPts val="0"/>
                </a:spcBef>
                <a:spcAft>
                  <a:spcPts val="0"/>
                </a:spcAft>
              </a:pPr>
              <a:r>
                <a:rPr lang="zh-CN" altLang="en-US" sz="1000" dirty="0">
                  <a:solidFill>
                    <a:srgbClr val="FFFFFF"/>
                  </a:solidFill>
                  <a:latin typeface="微软雅黑"/>
                  <a:ea typeface="微软雅黑"/>
                  <a:cs typeface="微软雅黑"/>
                </a:rPr>
                <a:t>线下</a:t>
              </a:r>
              <a:endParaRPr lang="zh-CN" altLang="en-US" sz="1000" dirty="0">
                <a:solidFill>
                  <a:srgbClr val="FFFFFF"/>
                </a:solidFill>
                <a:latin typeface="微软雅黑"/>
                <a:ea typeface="微软雅黑"/>
                <a:cs typeface="微软雅黑"/>
              </a:endParaRPr>
            </a:p>
          </p:txBody>
        </p:sp>
        <p:sp>
          <p:nvSpPr>
            <p:cNvPr id="379" name="文本框 378"/>
            <p:cNvSpPr txBox="1"/>
            <p:nvPr/>
          </p:nvSpPr>
          <p:spPr>
            <a:xfrm>
              <a:off x="1270" y="7242"/>
              <a:ext cx="574" cy="364"/>
            </a:xfrm>
            <a:prstGeom prst="rect">
              <a:avLst/>
            </a:prstGeom>
            <a:noFill/>
          </p:spPr>
          <p:txBody>
            <a:bodyPr wrap="square" rtlCol="0" lIns="0" rIns="0" tIns="0" bIns="0" anchor="t">
              <a:noAutofit/>
            </a:bodyPr>
            <a:lstStyle>
              <a:defPPr>
                <a:defRPr lang="zh-CN">
                  <a:solidFill>
                    <a:srgbClr val="FFFFFF"/>
                  </a:solidFill>
                  <a:latin typeface="微软雅黑"/>
                  <a:ea typeface="微软雅黑"/>
                  <a:cs typeface="微软雅黑"/>
                </a:defRPr>
              </a:defPPr>
              <a:lvl1pPr algn="ctr">
                <a:defRPr>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lnSpc>
                  <a:spcPts val="1120"/>
                </a:lnSpc>
                <a:spcBef>
                  <a:spcPts val="0"/>
                </a:spcBef>
                <a:spcAft>
                  <a:spcPts val="0"/>
                </a:spcAft>
              </a:pPr>
              <a:r>
                <a:rPr lang="en-US" altLang="zh-CN" sz="1000" dirty="0">
                  <a:solidFill>
                    <a:srgbClr val="FFFFFF"/>
                  </a:solidFill>
                  <a:latin typeface="微软雅黑"/>
                  <a:ea typeface="微软雅黑"/>
                  <a:cs typeface="微软雅黑"/>
                </a:rPr>
                <a:t>02</a:t>
              </a:r>
              <a:endParaRPr lang="en-US" altLang="zh-CN" sz="1000" dirty="0">
                <a:solidFill>
                  <a:srgbClr val="FFFFFF"/>
                </a:solidFill>
                <a:latin typeface="微软雅黑"/>
                <a:ea typeface="微软雅黑"/>
                <a:cs typeface="微软雅黑"/>
              </a:endParaRPr>
            </a:p>
          </p:txBody>
        </p:sp>
      </p:grpSp>
      <p:sp>
        <p:nvSpPr>
          <p:cNvPr id="380" name="矩形: 圆角 379"/>
          <p:cNvSpPr/>
          <p:nvPr/>
        </p:nvSpPr>
        <p:spPr>
          <a:xfrm>
            <a:off x="7541902" y="4793291"/>
            <a:ext cx="264357" cy="506723"/>
          </a:xfrm>
          <a:prstGeom prst="roundRect">
            <a:avLst>
              <a:gd name="adj" fmla="val 9342"/>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lnSpc>
                <a:spcPts val="1120"/>
              </a:lnSpc>
              <a:spcBef>
                <a:spcPts val="0"/>
              </a:spcBef>
              <a:spcAft>
                <a:spcPts val="0"/>
              </a:spcAft>
            </a:pPr>
            <a:r>
              <a:rPr lang="en-US" altLang="zh-CN" sz="1000" dirty="0">
                <a:solidFill>
                  <a:srgbClr val="FFFFFF"/>
                </a:solidFill>
                <a:latin typeface="微软雅黑"/>
                <a:ea typeface="微软雅黑"/>
                <a:cs typeface="微软雅黑"/>
                <a:sym typeface="微软雅黑"/>
              </a:rPr>
              <a:t>UGC</a:t>
            </a:r>
            <a:endParaRPr lang="en-US" altLang="zh-CN" sz="1000" dirty="0">
              <a:solidFill>
                <a:srgbClr val="FFFFFF"/>
              </a:solidFill>
              <a:latin typeface="微软雅黑"/>
              <a:ea typeface="微软雅黑"/>
              <a:cs typeface="微软雅黑"/>
              <a:sym typeface="微软雅黑"/>
            </a:endParaRPr>
          </a:p>
        </p:txBody>
      </p:sp>
      <p:sp>
        <p:nvSpPr>
          <p:cNvPr id="382" name="矩形: 圆角 381"/>
          <p:cNvSpPr/>
          <p:nvPr/>
        </p:nvSpPr>
        <p:spPr>
          <a:xfrm>
            <a:off x="7552062" y="5723041"/>
            <a:ext cx="264357" cy="506723"/>
          </a:xfrm>
          <a:prstGeom prst="roundRect">
            <a:avLst>
              <a:gd name="adj" fmla="val 9342"/>
            </a:avLst>
          </a:prstGeom>
          <a:solidFill>
            <a:srgbClr val="3368FF"/>
          </a:solidFill>
          <a:ln w="38100">
            <a:noFill/>
          </a:ln>
          <a:effectLst/>
        </p:spPr>
        <p:style>
          <a:lnRef idx="2">
            <a:srgbClr val="0042FF"/>
          </a:lnRef>
          <a:fillRef idx="1">
            <a:srgbClr val="0042FF"/>
          </a:fillRef>
          <a:effectRef idx="0">
            <a:srgbClr val="0042FF"/>
          </a:effectRef>
          <a:fontRef idx="minor">
            <a:srgbClr val="FFFFFF"/>
          </a:fontRef>
        </p:style>
        <p:txBody>
          <a:bodyPr lIns="0" tIns="0" rIns="0" bIns="0" rtlCol="0" anchor="ctr" wrap="square">
            <a:noAutofit/>
          </a:bodyPr>
          <a:lstStyle/>
          <a:p>
            <a:pPr algn="ctr">
              <a:defRPr>
                <a:solidFill>
                  <a:srgbClr val="FFFFFF"/>
                </a:solidFill>
                <a:latin typeface="微软雅黑"/>
                <a:ea typeface="微软雅黑"/>
                <a:cs typeface="微软雅黑"/>
              </a:defRPr>
              <a:lnSpc>
                <a:spcPts val="1120"/>
              </a:lnSpc>
              <a:spcBef>
                <a:spcPts val="0"/>
              </a:spcBef>
              <a:spcAft>
                <a:spcPts val="0"/>
              </a:spcAft>
            </a:pPr>
            <a:r>
              <a:rPr lang="en-US" altLang="zh-CN" sz="1000" dirty="0">
                <a:solidFill>
                  <a:srgbClr val="FFFFFF"/>
                </a:solidFill>
                <a:latin typeface="微软雅黑"/>
                <a:ea typeface="微软雅黑"/>
                <a:cs typeface="微软雅黑"/>
              </a:rPr>
              <a:t>DMP</a:t>
            </a:r>
            <a:endParaRPr lang="en-US" altLang="zh-CN" sz="1000" dirty="0">
              <a:solidFill>
                <a:srgbClr val="FFFFFF"/>
              </a:solidFill>
              <a:latin typeface="微软雅黑"/>
              <a:ea typeface="微软雅黑"/>
              <a:cs typeface="微软雅黑"/>
            </a:endParaRPr>
          </a:p>
        </p:txBody>
      </p:sp>
      <p:sp>
        <p:nvSpPr>
          <p:cNvPr id="385" name="任意多边形: 形状 384"/>
          <p:cNvSpPr/>
          <p:nvPr/>
        </p:nvSpPr>
        <p:spPr>
          <a:xfrm rot="10800000">
            <a:off x="3947268" y="5856212"/>
            <a:ext cx="232572" cy="271554"/>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86" name="任意多边形: 形状 385"/>
          <p:cNvSpPr/>
          <p:nvPr/>
        </p:nvSpPr>
        <p:spPr>
          <a:xfrm rot="10800000">
            <a:off x="4905721" y="5856212"/>
            <a:ext cx="232572" cy="271554"/>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87" name="任意多边形: 形状 386"/>
          <p:cNvSpPr/>
          <p:nvPr/>
        </p:nvSpPr>
        <p:spPr>
          <a:xfrm rot="10800000">
            <a:off x="5848767" y="5856212"/>
            <a:ext cx="232572" cy="271554"/>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88" name="任意多边形: 形状 387"/>
          <p:cNvSpPr/>
          <p:nvPr/>
        </p:nvSpPr>
        <p:spPr>
          <a:xfrm rot="10800000">
            <a:off x="6819118" y="5856212"/>
            <a:ext cx="232572" cy="271554"/>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343" name="矩形: 圆角 215"/>
          <p:cNvSpPr/>
          <p:nvPr/>
        </p:nvSpPr>
        <p:spPr>
          <a:xfrm>
            <a:off x="8764399" y="4769234"/>
            <a:ext cx="623872" cy="218663"/>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344" name="矩形: 圆角 216"/>
          <p:cNvSpPr/>
          <p:nvPr/>
        </p:nvSpPr>
        <p:spPr>
          <a:xfrm>
            <a:off x="9482987" y="4769234"/>
            <a:ext cx="623872" cy="218663"/>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45" name="文本框 344"/>
          <p:cNvSpPr txBox="1"/>
          <p:nvPr/>
        </p:nvSpPr>
        <p:spPr>
          <a:xfrm>
            <a:off x="8878857" y="4743199"/>
            <a:ext cx="436880" cy="245110"/>
          </a:xfrm>
          <a:prstGeom prst="rect">
            <a:avLst/>
          </a:prstGeom>
          <a:noFill/>
        </p:spPr>
        <p:txBody>
          <a:bodyPr wrap="none" rtlCol="0" lIns="0" rIns="0" tIns="0" bIns="0">
            <a:spAutoFit/>
          </a:bodyPr>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获取</a:t>
            </a:r>
            <a:endParaRPr lang="zh-CN" altLang="en-US" sz="1000" dirty="0">
              <a:solidFill>
                <a:srgbClr val="383838"/>
              </a:solidFill>
              <a:latin typeface="微软雅黑"/>
              <a:ea typeface="微软雅黑"/>
              <a:cs typeface="微软雅黑"/>
            </a:endParaRPr>
          </a:p>
        </p:txBody>
      </p:sp>
      <p:sp>
        <p:nvSpPr>
          <p:cNvPr id="347" name="文本框 346"/>
          <p:cNvSpPr txBox="1"/>
          <p:nvPr/>
        </p:nvSpPr>
        <p:spPr>
          <a:xfrm>
            <a:off x="9555523" y="4738754"/>
            <a:ext cx="436880" cy="245110"/>
          </a:xfrm>
          <a:prstGeom prst="rect">
            <a:avLst/>
          </a:prstGeom>
          <a:noFill/>
        </p:spPr>
        <p:txBody>
          <a:bodyPr wrap="none" rtlCol="0" lIns="0" rIns="0" tIns="0" bIns="0">
            <a:spAutoFit/>
          </a:bodyPr>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消耗</a:t>
            </a:r>
            <a:endParaRPr lang="zh-CN" altLang="en-US" sz="1000" dirty="0">
              <a:solidFill>
                <a:srgbClr val="383838"/>
              </a:solidFill>
              <a:latin typeface="微软雅黑"/>
              <a:ea typeface="微软雅黑"/>
              <a:cs typeface="微软雅黑"/>
            </a:endParaRPr>
          </a:p>
        </p:txBody>
      </p:sp>
      <p:cxnSp>
        <p:nvCxnSpPr>
          <p:cNvPr id="350" name="连接符: 曲线 354"/>
          <p:cNvCxnSpPr>
            <a:endCxn id="44" idx="2"/>
          </p:cNvCxnSpPr>
          <p:nvPr/>
        </p:nvCxnSpPr>
        <p:spPr>
          <a:xfrm rot="10800000">
            <a:off x="982980" y="5842635"/>
            <a:ext cx="2468245" cy="285115"/>
          </a:xfrm>
          <a:prstGeom prst="curvedConnector2">
            <a:avLst/>
          </a:prstGeom>
          <a:ln>
            <a:solidFill>
              <a:srgbClr val="383838">
                <a:alpha val="70000"/>
              </a:srgbClr>
            </a:solidFill>
            <a:prstDash val="dash"/>
            <a:tailEnd type="triangle"/>
          </a:ln>
        </p:spPr>
        <p:style>
          <a:lnRef idx="1">
            <a:srgbClr val="0042FF"/>
          </a:lnRef>
          <a:fillRef idx="0">
            <a:srgbClr val="0042FF"/>
          </a:fillRef>
          <a:effectRef idx="0">
            <a:srgbClr val="0042FF"/>
          </a:effectRef>
          <a:fontRef idx="minor">
            <a:srgbClr val="383838"/>
          </a:fontRef>
        </p:style>
      </p:cxnSp>
      <p:sp>
        <p:nvSpPr>
          <p:cNvPr id="351" name="任意多边形: 形状 280"/>
          <p:cNvSpPr/>
          <p:nvPr/>
        </p:nvSpPr>
        <p:spPr>
          <a:xfrm>
            <a:off x="6643370" y="3529965"/>
            <a:ext cx="429895" cy="502920"/>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3368FF">
                  <a:alpha val="0"/>
                </a:srgbClr>
              </a:gs>
              <a:gs pos="100000">
                <a:srgbClr val="3368FF"/>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cxnSp>
        <p:nvCxnSpPr>
          <p:cNvPr id="7" name="直接连接符 6"/>
          <p:cNvCxnSpPr/>
          <p:nvPr/>
        </p:nvCxnSpPr>
        <p:spPr>
          <a:xfrm>
            <a:off x="411480" y="1097915"/>
            <a:ext cx="0" cy="22479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8" name="直接连接符 7"/>
          <p:cNvCxnSpPr/>
          <p:nvPr/>
        </p:nvCxnSpPr>
        <p:spPr>
          <a:xfrm>
            <a:off x="3004185" y="1099185"/>
            <a:ext cx="0" cy="22479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9" name="直接连接符 8"/>
          <p:cNvCxnSpPr/>
          <p:nvPr/>
        </p:nvCxnSpPr>
        <p:spPr>
          <a:xfrm>
            <a:off x="8463280" y="1099185"/>
            <a:ext cx="0" cy="22479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11" name="直接连接符 10"/>
          <p:cNvCxnSpPr/>
          <p:nvPr/>
        </p:nvCxnSpPr>
        <p:spPr>
          <a:xfrm>
            <a:off x="11668125" y="1099185"/>
            <a:ext cx="0" cy="224790"/>
          </a:xfrm>
          <a:prstGeom prst="line">
            <a:avLst/>
          </a:prstGeom>
          <a:ln>
            <a:solidFill>
              <a:srgbClr val="383838"/>
            </a:solidFill>
          </a:ln>
        </p:spPr>
        <p:style>
          <a:lnRef idx="2">
            <a:srgbClr val="0042FF"/>
          </a:lnRef>
          <a:fillRef idx="0">
            <a:srgbClr val="FFFFFF"/>
          </a:fillRef>
          <a:effectRef idx="0">
            <a:srgbClr val="FFFFFF"/>
          </a:effectRef>
          <a:fontRef idx="minor">
            <a:srgbClr val="383838"/>
          </a:fontRef>
        </p:style>
      </p:cxn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2" name="图片 1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sz="2500">
                <a:solidFill>
                  <a:srgbClr val="383838"/>
                </a:solidFill>
                <a:effectLst/>
                <a:latin typeface="微软雅黑"/>
                <a:ea typeface="微软雅黑"/>
                <a:cs typeface="微软雅黑"/>
              </a:rPr>
              <a:t>品牌供应链升级路径</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2" name="紫荆的职场Point2"/>
          <p:cNvSpPr/>
          <p:nvPr/>
        </p:nvSpPr>
        <p:spPr>
          <a:xfrm>
            <a:off x="4181623" y="1383610"/>
            <a:ext cx="7705577" cy="4892426"/>
          </a:xfrm>
          <a:prstGeom prst="roundRect">
            <a:avLst>
              <a:gd name="adj" fmla="val 1693"/>
            </a:avLst>
          </a:prstGeom>
          <a:solidFill>
            <a:srgbClr val="E6E6E6">
              <a:alpha val="20000"/>
            </a:srgbClr>
          </a:solidFill>
          <a:ln>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3" name="紫荆的职场Point3"/>
          <p:cNvSpPr/>
          <p:nvPr/>
        </p:nvSpPr>
        <p:spPr>
          <a:xfrm>
            <a:off x="304800" y="1383610"/>
            <a:ext cx="3289766" cy="4892426"/>
          </a:xfrm>
          <a:prstGeom prst="roundRect">
            <a:avLst>
              <a:gd name="adj" fmla="val 1693"/>
            </a:avLst>
          </a:prstGeom>
          <a:solidFill>
            <a:srgbClr val="FFFFFF">
              <a:alpha val="20000"/>
            </a:srgbClr>
          </a:solidFill>
          <a:ln>
            <a:solidFill>
              <a:srgbClr val="B3D4FE"/>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327" name="紫荆的职场Point4"/>
          <p:cNvSpPr/>
          <p:nvPr/>
        </p:nvSpPr>
        <p:spPr>
          <a:xfrm flipH="1" flipV="1">
            <a:off x="4181623" y="1383610"/>
            <a:ext cx="4412559" cy="418034"/>
          </a:xfrm>
          <a:custGeom>
            <a:avLst/>
            <a:gdLst>
              <a:gd name="connsiteX0" fmla="*/ 3967227 w 4049692"/>
              <a:gd name="connsiteY0" fmla="*/ 416200 h 416200"/>
              <a:gd name="connsiteX1" fmla="*/ 3921414 w 4049692"/>
              <a:gd name="connsiteY1" fmla="*/ 416200 h 416200"/>
              <a:gd name="connsiteX2" fmla="*/ 2600305 w 4049692"/>
              <a:gd name="connsiteY2" fmla="*/ 416200 h 416200"/>
              <a:gd name="connsiteX3" fmla="*/ 2205970 w 4049692"/>
              <a:gd name="connsiteY3" fmla="*/ 416200 h 416200"/>
              <a:gd name="connsiteX4" fmla="*/ 884862 w 4049692"/>
              <a:gd name="connsiteY4" fmla="*/ 416200 h 416200"/>
              <a:gd name="connsiteX5" fmla="*/ 0 w 4049692"/>
              <a:gd name="connsiteY5" fmla="*/ 416200 h 416200"/>
              <a:gd name="connsiteX6" fmla="*/ 310025 w 4049692"/>
              <a:gd name="connsiteY6" fmla="*/ 246200 h 416200"/>
              <a:gd name="connsiteX7" fmla="*/ 704027 w 4049692"/>
              <a:gd name="connsiteY7" fmla="*/ 0 h 416200"/>
              <a:gd name="connsiteX8" fmla="*/ 884862 w 4049692"/>
              <a:gd name="connsiteY8" fmla="*/ 0 h 416200"/>
              <a:gd name="connsiteX9" fmla="*/ 2205970 w 4049692"/>
              <a:gd name="connsiteY9" fmla="*/ 0 h 416200"/>
              <a:gd name="connsiteX10" fmla="*/ 2600305 w 4049692"/>
              <a:gd name="connsiteY10" fmla="*/ 0 h 416200"/>
              <a:gd name="connsiteX11" fmla="*/ 3921414 w 4049692"/>
              <a:gd name="connsiteY11" fmla="*/ 0 h 416200"/>
              <a:gd name="connsiteX12" fmla="*/ 4049692 w 4049692"/>
              <a:gd name="connsiteY12" fmla="*/ 0 h 416200"/>
              <a:gd name="connsiteX13" fmla="*/ 4049692 w 4049692"/>
              <a:gd name="connsiteY13" fmla="*/ 333735 h 416200"/>
              <a:gd name="connsiteX14" fmla="*/ 3967227 w 4049692"/>
              <a:gd name="connsiteY14" fmla="*/ 416200 h 4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49692" h="416200">
                <a:moveTo>
                  <a:pt x="3967227" y="416200"/>
                </a:moveTo>
                <a:lnTo>
                  <a:pt x="3921414" y="416200"/>
                </a:lnTo>
                <a:lnTo>
                  <a:pt x="2600305" y="416200"/>
                </a:lnTo>
                <a:lnTo>
                  <a:pt x="2205970" y="416200"/>
                </a:lnTo>
                <a:lnTo>
                  <a:pt x="884862" y="416200"/>
                </a:lnTo>
                <a:lnTo>
                  <a:pt x="0" y="416200"/>
                </a:lnTo>
                <a:cubicBezTo>
                  <a:pt x="201516" y="386520"/>
                  <a:pt x="186016" y="377479"/>
                  <a:pt x="310025" y="246200"/>
                </a:cubicBezTo>
                <a:cubicBezTo>
                  <a:pt x="434037" y="114921"/>
                  <a:pt x="479578" y="0"/>
                  <a:pt x="704027" y="0"/>
                </a:cubicBezTo>
                <a:lnTo>
                  <a:pt x="884862" y="0"/>
                </a:lnTo>
                <a:lnTo>
                  <a:pt x="2205970" y="0"/>
                </a:lnTo>
                <a:lnTo>
                  <a:pt x="2600305" y="0"/>
                </a:lnTo>
                <a:lnTo>
                  <a:pt x="3921414" y="0"/>
                </a:lnTo>
                <a:lnTo>
                  <a:pt x="4049692" y="0"/>
                </a:lnTo>
                <a:lnTo>
                  <a:pt x="4049692" y="333735"/>
                </a:lnTo>
                <a:cubicBezTo>
                  <a:pt x="4049692" y="379279"/>
                  <a:pt x="4012771" y="416200"/>
                  <a:pt x="3967227" y="416200"/>
                </a:cubicBezTo>
                <a:close/>
              </a:path>
            </a:pathLst>
          </a:custGeom>
          <a:gradFill flip="none" rotWithShape="1">
            <a:gsLst>
              <a:gs pos="0">
                <a:srgbClr val="3368FF"/>
              </a:gs>
              <a:gs pos="70000">
                <a:srgbClr val="0042FF"/>
              </a:gs>
            </a:gsLst>
            <a:lin ang="16200000" scaled="1"/>
            <a:tileRect/>
          </a:gradFill>
          <a:ln w="12700" cap="flat" cmpd="sng" algn="ctr">
            <a:noFill/>
            <a:prstDash val="solid"/>
            <a:miter lim="800000"/>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noProof="0" dirty="0">
              <a:ln>
                <a:noFill/>
              </a:ln>
              <a:solidFill>
                <a:srgbClr val="FFFFFF"/>
              </a:solidFill>
              <a:effectLst/>
              <a:uLnTx/>
              <a:uFillTx/>
              <a:latin typeface="微软雅黑"/>
              <a:ea typeface="微软雅黑"/>
              <a:cs typeface="微软雅黑"/>
              <a:sym typeface="微软雅黑"/>
            </a:endParaRPr>
          </a:p>
        </p:txBody>
      </p:sp>
      <p:sp>
        <p:nvSpPr>
          <p:cNvPr id="14" name="紫荆的职场Point5"/>
          <p:cNvSpPr txBox="1"/>
          <p:nvPr/>
        </p:nvSpPr>
        <p:spPr>
          <a:xfrm>
            <a:off x="4398315" y="1287746"/>
            <a:ext cx="3557270" cy="506730"/>
          </a:xfrm>
          <a:prstGeom prst="rect">
            <a:avLst/>
          </a:prstGeom>
          <a:noFill/>
        </p:spPr>
        <p:txBody>
          <a:bodyPr wrap="none" lIns="0" rIns="0" tIns="0" bIns="0">
            <a:spAutoFit/>
          </a:bodyPr>
          <a:lstStyle/>
          <a:p>
            <a:pPr lvl="0" algn="r">
              <a:lnSpc>
                <a:spcPct val="150000"/>
              </a:lnSpc>
              <a:spcBef>
                <a:spcPts val="0"/>
              </a:spcBef>
              <a:spcAft>
                <a:spcPts val="0"/>
              </a:spcAft>
              <a:buClrTx/>
              <a:buSzTx/>
              <a:buFontTx/>
              <a:defRPr>
                <a:solidFill>
                  <a:srgbClr val="FFFFFF"/>
                </a:solidFill>
                <a:latin typeface="微软雅黑"/>
                <a:ea typeface="微软雅黑"/>
                <a:cs typeface="微软雅黑"/>
              </a:defRPr>
            </a:pPr>
            <a:r>
              <a:rPr lang="zh-CN" altLang="en-US" b="1" noProof="0">
                <a:ln>
                  <a:noFill/>
                </a:ln>
                <a:solidFill>
                  <a:srgbClr val="FFFFFF"/>
                </a:solidFill>
                <a:effectLst/>
                <a:uLnTx/>
                <a:uFillTx/>
                <a:latin typeface="微软雅黑"/>
                <a:ea typeface="微软雅黑"/>
                <a:cs typeface="微软雅黑"/>
                <a:sym typeface="微软雅黑"/>
              </a:rPr>
              <a:t>全渠道供应链升级（线上+线下）</a:t>
            </a:r>
            <a:endParaRPr lang="zh-CN" altLang="en-US" b="1" noProof="0">
              <a:ln>
                <a:noFill/>
              </a:ln>
              <a:solidFill>
                <a:srgbClr val="FFFFFF"/>
              </a:solidFill>
              <a:effectLst/>
              <a:uLnTx/>
              <a:uFillTx/>
              <a:latin typeface="微软雅黑"/>
              <a:ea typeface="微软雅黑"/>
              <a:cs typeface="微软雅黑"/>
              <a:sym typeface="微软雅黑"/>
            </a:endParaRPr>
          </a:p>
        </p:txBody>
      </p:sp>
      <p:sp>
        <p:nvSpPr>
          <p:cNvPr id="56" name="紫荆的职场Point6"/>
          <p:cNvSpPr/>
          <p:nvPr/>
        </p:nvSpPr>
        <p:spPr>
          <a:xfrm flipH="1" flipV="1">
            <a:off x="304800" y="1367746"/>
            <a:ext cx="2791379" cy="418034"/>
          </a:xfrm>
          <a:custGeom>
            <a:avLst/>
            <a:gdLst>
              <a:gd name="connsiteX0" fmla="*/ 2723684 w 2779135"/>
              <a:gd name="connsiteY0" fmla="*/ 416200 h 416200"/>
              <a:gd name="connsiteX1" fmla="*/ 2600305 w 2779135"/>
              <a:gd name="connsiteY1" fmla="*/ 416200 h 416200"/>
              <a:gd name="connsiteX2" fmla="*/ 2205970 w 2779135"/>
              <a:gd name="connsiteY2" fmla="*/ 416200 h 416200"/>
              <a:gd name="connsiteX3" fmla="*/ 884862 w 2779135"/>
              <a:gd name="connsiteY3" fmla="*/ 416200 h 416200"/>
              <a:gd name="connsiteX4" fmla="*/ 0 w 2779135"/>
              <a:gd name="connsiteY4" fmla="*/ 416200 h 416200"/>
              <a:gd name="connsiteX5" fmla="*/ 310025 w 2779135"/>
              <a:gd name="connsiteY5" fmla="*/ 246200 h 416200"/>
              <a:gd name="connsiteX6" fmla="*/ 704027 w 2779135"/>
              <a:gd name="connsiteY6" fmla="*/ 0 h 416200"/>
              <a:gd name="connsiteX7" fmla="*/ 884862 w 2779135"/>
              <a:gd name="connsiteY7" fmla="*/ 0 h 416200"/>
              <a:gd name="connsiteX8" fmla="*/ 2205970 w 2779135"/>
              <a:gd name="connsiteY8" fmla="*/ 0 h 416200"/>
              <a:gd name="connsiteX9" fmla="*/ 2600305 w 2779135"/>
              <a:gd name="connsiteY9" fmla="*/ 0 h 416200"/>
              <a:gd name="connsiteX10" fmla="*/ 2779135 w 2779135"/>
              <a:gd name="connsiteY10" fmla="*/ 0 h 416200"/>
              <a:gd name="connsiteX11" fmla="*/ 2779135 w 2779135"/>
              <a:gd name="connsiteY11" fmla="*/ 360749 h 416200"/>
              <a:gd name="connsiteX12" fmla="*/ 2723684 w 2779135"/>
              <a:gd name="connsiteY12" fmla="*/ 416200 h 4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79135" h="416200">
                <a:moveTo>
                  <a:pt x="2723684" y="416200"/>
                </a:moveTo>
                <a:lnTo>
                  <a:pt x="2600305" y="416200"/>
                </a:lnTo>
                <a:lnTo>
                  <a:pt x="2205970" y="416200"/>
                </a:lnTo>
                <a:lnTo>
                  <a:pt x="884862" y="416200"/>
                </a:lnTo>
                <a:lnTo>
                  <a:pt x="0" y="416200"/>
                </a:lnTo>
                <a:cubicBezTo>
                  <a:pt x="201515" y="386520"/>
                  <a:pt x="186015" y="377479"/>
                  <a:pt x="310025" y="246200"/>
                </a:cubicBezTo>
                <a:cubicBezTo>
                  <a:pt x="434037" y="114921"/>
                  <a:pt x="479578" y="0"/>
                  <a:pt x="704027" y="0"/>
                </a:cubicBezTo>
                <a:lnTo>
                  <a:pt x="884862" y="0"/>
                </a:lnTo>
                <a:lnTo>
                  <a:pt x="2205970" y="0"/>
                </a:lnTo>
                <a:lnTo>
                  <a:pt x="2600305" y="0"/>
                </a:lnTo>
                <a:lnTo>
                  <a:pt x="2779135" y="0"/>
                </a:lnTo>
                <a:lnTo>
                  <a:pt x="2779135" y="360749"/>
                </a:lnTo>
                <a:cubicBezTo>
                  <a:pt x="2779135" y="391374"/>
                  <a:pt x="2754309" y="416200"/>
                  <a:pt x="2723684" y="416200"/>
                </a:cubicBezTo>
                <a:close/>
              </a:path>
            </a:pathLst>
          </a:custGeom>
          <a:gradFill flip="none" rotWithShape="1">
            <a:gsLst>
              <a:gs pos="0">
                <a:srgbClr val="B3D4FE"/>
              </a:gs>
              <a:gs pos="70000">
                <a:srgbClr val="3368FF"/>
              </a:gs>
            </a:gsLst>
            <a:lin ang="16200000" scaled="1"/>
            <a:tileRect/>
          </a:gradFill>
          <a:ln w="12700" cap="flat" cmpd="sng" algn="ctr">
            <a:noFill/>
            <a:prstDash val="solid"/>
            <a:miter lim="800000"/>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 name="紫荆的职场Point7"/>
          <p:cNvSpPr txBox="1"/>
          <p:nvPr/>
        </p:nvSpPr>
        <p:spPr>
          <a:xfrm>
            <a:off x="502732" y="1278948"/>
            <a:ext cx="1783080" cy="506730"/>
          </a:xfrm>
          <a:prstGeom prst="rect">
            <a:avLst/>
          </a:prstGeom>
          <a:noFill/>
        </p:spPr>
        <p:txBody>
          <a:bodyPr wrap="none" lIns="0" rIns="0" tIns="0" bIns="0">
            <a:spAutoFit/>
          </a:bodyPr>
          <a:lstStyle/>
          <a:p>
            <a:pPr marL="0" marR="0" lvl="0" indent="0" algn="r" defTabSz="914400" rtl="0" eaLnBrk="1" fontAlgn="auto" latinLnBrk="0" hangingPunct="1">
              <a:lnSpc>
                <a:spcPct val="15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b="1" i="0" u="none" strike="noStrike" kern="1200" cap="none" spc="0" normalizeH="0" baseline="0" noProof="0">
                <a:ln>
                  <a:noFill/>
                </a:ln>
                <a:solidFill>
                  <a:srgbClr val="FFFFFF"/>
                </a:solidFill>
                <a:effectLst/>
                <a:uLnTx/>
                <a:uFillTx/>
                <a:latin typeface="微软雅黑"/>
                <a:ea typeface="微软雅黑"/>
                <a:cs typeface="微软雅黑"/>
              </a:rPr>
              <a:t>生产物流一盘货</a:t>
            </a:r>
            <a:endParaRPr kumimoji="0" lang="zh-CN" altLang="en-US" b="1"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59" name="紫荆的职场Point8-1"/>
          <p:cNvSpPr/>
          <p:nvPr/>
        </p:nvSpPr>
        <p:spPr>
          <a:xfrm>
            <a:off x="454660" y="3202940"/>
            <a:ext cx="1127125" cy="638810"/>
          </a:xfrm>
          <a:prstGeom prst="roundRect">
            <a:avLst>
              <a:gd name="adj" fmla="val 6430"/>
            </a:avLst>
          </a:prstGeom>
          <a:solidFill>
            <a:srgbClr val="B3D4FE"/>
          </a:solidFill>
          <a:ln w="38100">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0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60" name="紫荆的职场Point8-2"/>
          <p:cNvSpPr txBox="1"/>
          <p:nvPr/>
        </p:nvSpPr>
        <p:spPr>
          <a:xfrm>
            <a:off x="499745" y="3259455"/>
            <a:ext cx="1036955" cy="52578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a:ln>
                  <a:noFill/>
                </a:ln>
                <a:solidFill>
                  <a:prstClr val="white"/>
                </a:solidFill>
                <a:effectLst/>
                <a:uLnTx/>
                <a:uFillTx/>
                <a:latin typeface="微软雅黑"/>
                <a:ea typeface="微软雅黑"/>
                <a:cs typeface="微软雅黑"/>
              </a:rPr>
              <a:t>原材料</a:t>
            </a:r>
            <a:endParaRPr kumimoji="0" lang="en-US" altLang="zh-CN" sz="1400" b="1" i="0" u="none" strike="noStrike" kern="1200" cap="none" spc="0" normalizeH="0" baseline="0" noProof="0">
              <a:ln>
                <a:noFill/>
              </a:ln>
              <a:solidFill>
                <a:prstClr val="white"/>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a:ln>
                  <a:noFill/>
                </a:ln>
                <a:solidFill>
                  <a:prstClr val="white"/>
                </a:solidFill>
                <a:effectLst/>
                <a:uLnTx/>
                <a:uFillTx/>
                <a:latin typeface="微软雅黑"/>
                <a:ea typeface="微软雅黑"/>
                <a:cs typeface="微软雅黑"/>
              </a:rPr>
              <a:t>供应商</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63" name="紫荆的职场Point9-1"/>
          <p:cNvSpPr/>
          <p:nvPr/>
        </p:nvSpPr>
        <p:spPr>
          <a:xfrm>
            <a:off x="454660" y="4126230"/>
            <a:ext cx="1127125" cy="638810"/>
          </a:xfrm>
          <a:prstGeom prst="roundRect">
            <a:avLst>
              <a:gd name="adj" fmla="val 6430"/>
            </a:avLst>
          </a:prstGeom>
          <a:solidFill>
            <a:srgbClr val="B3D4FE"/>
          </a:solidFill>
          <a:ln w="38100">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sz="1000" noProof="0" dirty="0">
              <a:ln>
                <a:noFill/>
              </a:ln>
              <a:solidFill>
                <a:prstClr val="white"/>
              </a:solidFill>
              <a:effectLst/>
              <a:uLnTx/>
              <a:uFillTx/>
              <a:latin typeface="微软雅黑"/>
              <a:ea typeface="微软雅黑"/>
              <a:cs typeface="微软雅黑"/>
              <a:sym typeface="微软雅黑"/>
            </a:endParaRPr>
          </a:p>
        </p:txBody>
      </p:sp>
      <p:sp>
        <p:nvSpPr>
          <p:cNvPr id="64" name="紫荆的职场Point9-2"/>
          <p:cNvSpPr txBox="1"/>
          <p:nvPr/>
        </p:nvSpPr>
        <p:spPr>
          <a:xfrm>
            <a:off x="499745" y="4182745"/>
            <a:ext cx="1036955" cy="52578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a:ln>
                  <a:noFill/>
                </a:ln>
                <a:solidFill>
                  <a:prstClr val="white"/>
                </a:solidFill>
                <a:effectLst/>
                <a:uLnTx/>
                <a:uFillTx/>
                <a:latin typeface="微软雅黑"/>
                <a:ea typeface="微软雅黑"/>
                <a:cs typeface="微软雅黑"/>
              </a:rPr>
              <a:t>原材料</a:t>
            </a:r>
            <a:endParaRPr kumimoji="0" lang="en-US" altLang="zh-CN" sz="1400" b="1" i="0" u="none" strike="noStrike" kern="1200" cap="none" spc="0" normalizeH="0" baseline="0" noProof="0">
              <a:ln>
                <a:noFill/>
              </a:ln>
              <a:solidFill>
                <a:prstClr val="white"/>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a:ln>
                  <a:noFill/>
                </a:ln>
                <a:solidFill>
                  <a:prstClr val="white"/>
                </a:solidFill>
                <a:effectLst/>
                <a:uLnTx/>
                <a:uFillTx/>
                <a:latin typeface="微软雅黑"/>
                <a:ea typeface="微软雅黑"/>
                <a:cs typeface="微软雅黑"/>
              </a:rPr>
              <a:t>供应商</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66" name="紫荆的职场Point10-1"/>
          <p:cNvSpPr/>
          <p:nvPr/>
        </p:nvSpPr>
        <p:spPr>
          <a:xfrm>
            <a:off x="454660" y="5049520"/>
            <a:ext cx="1127125" cy="638810"/>
          </a:xfrm>
          <a:prstGeom prst="roundRect">
            <a:avLst>
              <a:gd name="adj" fmla="val 6430"/>
            </a:avLst>
          </a:prstGeom>
          <a:solidFill>
            <a:srgbClr val="B3D4FE"/>
          </a:solidFill>
          <a:ln w="38100">
            <a:noFill/>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sz="1000" noProof="0" dirty="0">
              <a:ln>
                <a:noFill/>
              </a:ln>
              <a:solidFill>
                <a:prstClr val="white"/>
              </a:solidFill>
              <a:effectLst/>
              <a:uLnTx/>
              <a:uFillTx/>
              <a:latin typeface="微软雅黑"/>
              <a:ea typeface="微软雅黑"/>
              <a:cs typeface="微软雅黑"/>
              <a:sym typeface="微软雅黑"/>
            </a:endParaRPr>
          </a:p>
        </p:txBody>
      </p:sp>
      <p:sp>
        <p:nvSpPr>
          <p:cNvPr id="67" name="紫荆的职场Point10-2"/>
          <p:cNvSpPr txBox="1"/>
          <p:nvPr/>
        </p:nvSpPr>
        <p:spPr>
          <a:xfrm>
            <a:off x="499745" y="5106035"/>
            <a:ext cx="1036955" cy="525780"/>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a:ln>
                  <a:noFill/>
                </a:ln>
                <a:solidFill>
                  <a:prstClr val="white"/>
                </a:solidFill>
                <a:effectLst/>
                <a:uLnTx/>
                <a:uFillTx/>
                <a:latin typeface="微软雅黑"/>
                <a:ea typeface="微软雅黑"/>
                <a:cs typeface="微软雅黑"/>
              </a:rPr>
              <a:t>原材料</a:t>
            </a:r>
            <a:endParaRPr kumimoji="0" lang="en-US" altLang="zh-CN" sz="1400" b="1" i="0" u="none" strike="noStrike" kern="1200" cap="none" spc="0" normalizeH="0" baseline="0" noProof="0">
              <a:ln>
                <a:noFill/>
              </a:ln>
              <a:solidFill>
                <a:prstClr val="white"/>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a:ln>
                  <a:noFill/>
                </a:ln>
                <a:solidFill>
                  <a:prstClr val="white"/>
                </a:solidFill>
                <a:effectLst/>
                <a:uLnTx/>
                <a:uFillTx/>
                <a:latin typeface="微软雅黑"/>
                <a:ea typeface="微软雅黑"/>
                <a:cs typeface="微软雅黑"/>
              </a:rPr>
              <a:t>供应商</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nvGrpSpPr>
          <p:cNvPr id="68" name="紫荆的职场Point11"/>
          <p:cNvGrpSpPr/>
          <p:nvPr/>
        </p:nvGrpSpPr>
        <p:grpSpPr>
          <a:xfrm flipH="1">
            <a:off x="1613375" y="3497182"/>
            <a:ext cx="672616" cy="871072"/>
            <a:chOff x="5286396" y="1495505"/>
            <a:chExt cx="669666" cy="867251"/>
          </a:xfrm>
        </p:grpSpPr>
        <p:sp>
          <p:nvSpPr>
            <p:cNvPr id="69" name="紫荆的职场Point11-1"/>
            <p:cNvSpPr/>
            <p:nvPr/>
          </p:nvSpPr>
          <p:spPr>
            <a:xfrm>
              <a:off x="5286396" y="1888054"/>
              <a:ext cx="87472" cy="87472"/>
            </a:xfrm>
            <a:prstGeom prst="ellipse">
              <a:avLst/>
            </a:prstGeom>
            <a:noFill/>
            <a:ln>
              <a:solidFill>
                <a:srgbClr val="3368FF">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0" name="紫荆的职场Point11-2"/>
            <p:cNvSpPr/>
            <p:nvPr/>
          </p:nvSpPr>
          <p:spPr>
            <a:xfrm>
              <a:off x="5868590" y="1495505"/>
              <a:ext cx="87472" cy="87472"/>
            </a:xfrm>
            <a:prstGeom prst="ellipse">
              <a:avLst/>
            </a:prstGeom>
            <a:noFill/>
            <a:ln>
              <a:solidFill>
                <a:srgbClr val="3368FF">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71" name="紫荆的职场Point11-3"/>
            <p:cNvCxnSpPr>
              <a:stCxn id="69" idx="6"/>
              <a:endCxn id="72" idx="1"/>
            </p:cNvCxnSpPr>
            <p:nvPr/>
          </p:nvCxnSpPr>
          <p:spPr>
            <a:xfrm flipV="1">
              <a:off x="5373868" y="1930400"/>
              <a:ext cx="289057" cy="1390"/>
            </a:xfrm>
            <a:prstGeom prst="line">
              <a:avLst/>
            </a:prstGeom>
            <a:ln w="12700" cap="rnd">
              <a:solidFill>
                <a:srgbClr val="3368FF">
                  <a:alpha val="70000"/>
                </a:srgbClr>
              </a:solidFill>
              <a:prstDash val="sysDash"/>
            </a:ln>
          </p:spPr>
          <p:style>
            <a:lnRef idx="1">
              <a:srgbClr val="0042FF"/>
            </a:lnRef>
            <a:fillRef idx="0">
              <a:srgbClr val="0042FF"/>
            </a:fillRef>
            <a:effectRef idx="0">
              <a:srgbClr val="0042FF"/>
            </a:effectRef>
            <a:fontRef idx="minor">
              <a:srgbClr val="383838"/>
            </a:fontRef>
          </p:style>
        </p:cxnSp>
        <p:sp>
          <p:nvSpPr>
            <p:cNvPr id="72" name="紫荆的职场Point11-4"/>
            <p:cNvSpPr/>
            <p:nvPr/>
          </p:nvSpPr>
          <p:spPr>
            <a:xfrm>
              <a:off x="5662925" y="1541780"/>
              <a:ext cx="206340" cy="777240"/>
            </a:xfrm>
            <a:prstGeom prst="leftBracket">
              <a:avLst>
                <a:gd name="adj" fmla="val 0"/>
              </a:avLst>
            </a:prstGeom>
            <a:ln w="12700" cap="rnd">
              <a:solidFill>
                <a:srgbClr val="3368FF">
                  <a:alpha val="70000"/>
                </a:srgbClr>
              </a:solidFill>
              <a:prstDash val="sysDash"/>
            </a:ln>
          </p:spPr>
          <p:style>
            <a:lnRef idx="1">
              <a:srgbClr val="0042FF"/>
            </a:lnRef>
            <a:fillRef idx="0">
              <a:srgbClr val="0042FF"/>
            </a:fillRef>
            <a:effectRef idx="0">
              <a:srgbClr val="0042FF"/>
            </a:effectRef>
            <a:fontRef idx="minor">
              <a:srgbClr val="383838"/>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3" name="紫荆的职场Point11-5"/>
            <p:cNvSpPr/>
            <p:nvPr/>
          </p:nvSpPr>
          <p:spPr>
            <a:xfrm>
              <a:off x="5868590" y="2275284"/>
              <a:ext cx="87472" cy="87472"/>
            </a:xfrm>
            <a:prstGeom prst="ellipse">
              <a:avLst/>
            </a:prstGeom>
            <a:noFill/>
            <a:ln>
              <a:solidFill>
                <a:srgbClr val="3368FF">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81" name="紫荆的职场Point12"/>
          <p:cNvGrpSpPr/>
          <p:nvPr/>
        </p:nvGrpSpPr>
        <p:grpSpPr>
          <a:xfrm flipH="1">
            <a:off x="1613375" y="4522527"/>
            <a:ext cx="672616" cy="871072"/>
            <a:chOff x="5286396" y="1495505"/>
            <a:chExt cx="669666" cy="867251"/>
          </a:xfrm>
        </p:grpSpPr>
        <p:sp>
          <p:nvSpPr>
            <p:cNvPr id="82" name="紫荆的职场Point12-1"/>
            <p:cNvSpPr/>
            <p:nvPr/>
          </p:nvSpPr>
          <p:spPr>
            <a:xfrm>
              <a:off x="5286396" y="1888054"/>
              <a:ext cx="87472" cy="87472"/>
            </a:xfrm>
            <a:prstGeom prst="ellipse">
              <a:avLst/>
            </a:prstGeom>
            <a:noFill/>
            <a:ln>
              <a:solidFill>
                <a:srgbClr val="3368FF">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3" name="紫荆的职场Point12-2"/>
            <p:cNvSpPr/>
            <p:nvPr/>
          </p:nvSpPr>
          <p:spPr>
            <a:xfrm>
              <a:off x="5868590" y="1495505"/>
              <a:ext cx="87472" cy="87472"/>
            </a:xfrm>
            <a:prstGeom prst="ellipse">
              <a:avLst/>
            </a:prstGeom>
            <a:noFill/>
            <a:ln>
              <a:solidFill>
                <a:srgbClr val="3368FF">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84" name="紫荆的职场Point12-3"/>
            <p:cNvCxnSpPr>
              <a:stCxn id="82" idx="6"/>
              <a:endCxn id="85" idx="1"/>
            </p:cNvCxnSpPr>
            <p:nvPr/>
          </p:nvCxnSpPr>
          <p:spPr>
            <a:xfrm flipV="1">
              <a:off x="5373868" y="1930400"/>
              <a:ext cx="289057" cy="1390"/>
            </a:xfrm>
            <a:prstGeom prst="line">
              <a:avLst/>
            </a:prstGeom>
            <a:ln w="12700" cap="rnd">
              <a:solidFill>
                <a:srgbClr val="3368FF">
                  <a:alpha val="70000"/>
                </a:srgbClr>
              </a:solidFill>
              <a:prstDash val="sysDash"/>
            </a:ln>
          </p:spPr>
          <p:style>
            <a:lnRef idx="1">
              <a:srgbClr val="0042FF"/>
            </a:lnRef>
            <a:fillRef idx="0">
              <a:srgbClr val="0042FF"/>
            </a:fillRef>
            <a:effectRef idx="0">
              <a:srgbClr val="0042FF"/>
            </a:effectRef>
            <a:fontRef idx="minor">
              <a:srgbClr val="383838"/>
            </a:fontRef>
          </p:style>
        </p:cxnSp>
        <p:sp>
          <p:nvSpPr>
            <p:cNvPr id="85" name="紫荆的职场Point12-4"/>
            <p:cNvSpPr/>
            <p:nvPr/>
          </p:nvSpPr>
          <p:spPr>
            <a:xfrm>
              <a:off x="5662925" y="1541780"/>
              <a:ext cx="206340" cy="777240"/>
            </a:xfrm>
            <a:prstGeom prst="leftBracket">
              <a:avLst>
                <a:gd name="adj" fmla="val 0"/>
              </a:avLst>
            </a:prstGeom>
            <a:ln w="12700" cap="rnd">
              <a:solidFill>
                <a:srgbClr val="3368FF">
                  <a:alpha val="70000"/>
                </a:srgbClr>
              </a:solidFill>
              <a:prstDash val="sysDash"/>
            </a:ln>
          </p:spPr>
          <p:style>
            <a:lnRef idx="1">
              <a:srgbClr val="0042FF"/>
            </a:lnRef>
            <a:fillRef idx="0">
              <a:srgbClr val="0042FF"/>
            </a:fillRef>
            <a:effectRef idx="0">
              <a:srgbClr val="0042FF"/>
            </a:effectRef>
            <a:fontRef idx="minor">
              <a:srgbClr val="383838"/>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6" name="紫荆的职场Point12-5"/>
            <p:cNvSpPr/>
            <p:nvPr/>
          </p:nvSpPr>
          <p:spPr>
            <a:xfrm>
              <a:off x="5868590" y="2275284"/>
              <a:ext cx="87472" cy="87472"/>
            </a:xfrm>
            <a:prstGeom prst="ellipse">
              <a:avLst/>
            </a:prstGeom>
            <a:noFill/>
            <a:ln>
              <a:solidFill>
                <a:srgbClr val="3368FF">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6" name="紫荆的职场Point13"/>
          <p:cNvSpPr/>
          <p:nvPr/>
        </p:nvSpPr>
        <p:spPr>
          <a:xfrm>
            <a:off x="2348042" y="3626378"/>
            <a:ext cx="917379" cy="612680"/>
          </a:xfrm>
          <a:prstGeom prst="roundRect">
            <a:avLst>
              <a:gd name="adj" fmla="val 8732"/>
            </a:avLst>
          </a:prstGeom>
          <a:gradFill flip="none" rotWithShape="1">
            <a:gsLst>
              <a:gs pos="100000">
                <a:srgbClr val="FFFFFF"/>
              </a:gs>
              <a:gs pos="0">
                <a:srgbClr val="FFFFFF"/>
              </a:gs>
            </a:gsLst>
            <a:lin ang="16200000" scaled="1"/>
            <a:tileRect/>
          </a:gradFill>
          <a:ln w="6350">
            <a:solidFill>
              <a:srgbClr val="B3D4FE"/>
            </a:solidFill>
            <a:prstDash val="solid"/>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7" name="紫荆的职场Point14"/>
          <p:cNvSpPr txBox="1"/>
          <p:nvPr/>
        </p:nvSpPr>
        <p:spPr>
          <a:xfrm>
            <a:off x="2424144" y="3779366"/>
            <a:ext cx="765175" cy="306705"/>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400" b="1" i="0" u="none" strike="noStrike" kern="1200" cap="none" spc="0" normalizeH="0" baseline="0" noProof="0" dirty="0">
                <a:ln>
                  <a:noFill/>
                </a:ln>
                <a:solidFill>
                  <a:srgbClr val="0042FF"/>
                </a:solidFill>
                <a:effectLst/>
                <a:uLnTx/>
                <a:uFillTx/>
                <a:latin typeface="微软雅黑"/>
                <a:ea typeface="微软雅黑"/>
                <a:cs typeface="微软雅黑"/>
              </a:rPr>
              <a:t>ODM</a:t>
            </a:r>
            <a:endParaRPr kumimoji="0" lang="en-US" altLang="zh-CN"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8" name="紫荆的职场Point15-1"/>
          <p:cNvSpPr/>
          <p:nvPr/>
        </p:nvSpPr>
        <p:spPr>
          <a:xfrm>
            <a:off x="2348042" y="4651723"/>
            <a:ext cx="917379" cy="612680"/>
          </a:xfrm>
          <a:prstGeom prst="roundRect">
            <a:avLst>
              <a:gd name="adj" fmla="val 8732"/>
            </a:avLst>
          </a:prstGeom>
          <a:gradFill flip="none" rotWithShape="1">
            <a:gsLst>
              <a:gs pos="100000">
                <a:srgbClr val="FFFFFF"/>
              </a:gs>
              <a:gs pos="0">
                <a:srgbClr val="FFFFFF"/>
              </a:gs>
            </a:gsLst>
            <a:lin ang="16200000" scaled="1"/>
            <a:tileRect/>
          </a:gradFill>
          <a:ln w="6350">
            <a:solidFill>
              <a:srgbClr val="B3D4FE"/>
            </a:solidFill>
            <a:prstDash val="solid"/>
          </a:ln>
          <a:effectLst>
            <a:outerShdw blurRad="50800" dist="38100" dir="2700000" algn="tl"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19" name="紫荆的职场Point15-2"/>
          <p:cNvSpPr txBox="1"/>
          <p:nvPr/>
        </p:nvSpPr>
        <p:spPr>
          <a:xfrm>
            <a:off x="2485166" y="4695300"/>
            <a:ext cx="643129" cy="525525"/>
          </a:xfrm>
          <a:prstGeom prst="rect">
            <a:avLst/>
          </a:prstGeom>
          <a:noFill/>
        </p:spPr>
        <p:txBody>
          <a:bodyPr wrap="squar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rPr>
              <a:t>自有工厂</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0" name="紫荆的职场Point16"/>
          <p:cNvSpPr txBox="1"/>
          <p:nvPr/>
        </p:nvSpPr>
        <p:spPr>
          <a:xfrm>
            <a:off x="359290" y="1919338"/>
            <a:ext cx="2986690" cy="645160"/>
          </a:xfrm>
          <a:prstGeom prst="rect">
            <a:avLst/>
          </a:prstGeom>
          <a:noFill/>
        </p:spPr>
        <p:txBody>
          <a:bodyPr wrap="squar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0" i="0" u="none" strike="noStrike" kern="1200" cap="none" spc="0" normalizeH="0" baseline="0" noProof="0" dirty="0">
                <a:ln>
                  <a:noFill/>
                </a:ln>
                <a:solidFill>
                  <a:srgbClr val="383838"/>
                </a:solidFill>
                <a:effectLst/>
                <a:uLnTx/>
                <a:uFillTx/>
                <a:latin typeface="微软雅黑"/>
                <a:ea typeface="微软雅黑"/>
                <a:cs typeface="微软雅黑"/>
              </a:rPr>
              <a:t>推动在生产环节的需求与库存统一管控</a:t>
            </a:r>
            <a:endParaRPr kumimoji="0" lang="zh-CN" altLang="en-US"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1" name="紫荆的职场Point17"/>
          <p:cNvSpPr/>
          <p:nvPr/>
        </p:nvSpPr>
        <p:spPr>
          <a:xfrm>
            <a:off x="3251938" y="3940668"/>
            <a:ext cx="509842" cy="1025346"/>
          </a:xfrm>
          <a:prstGeom prst="rightBrace">
            <a:avLst>
              <a:gd name="adj1" fmla="val 38356"/>
              <a:gd name="adj2" fmla="val 50000"/>
            </a:avLst>
          </a:prstGeom>
          <a:ln>
            <a:solidFill>
              <a:srgbClr val="3368FF"/>
            </a:solidFill>
          </a:ln>
        </p:spPr>
        <p:style>
          <a:lnRef idx="2">
            <a:srgbClr val="0042FF"/>
          </a:lnRef>
          <a:fillRef idx="0">
            <a:srgbClr val="0042FF"/>
          </a:fillRef>
          <a:effectRef idx="1">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23" name="紫荆的职场Point18-1"/>
          <p:cNvSpPr/>
          <p:nvPr/>
        </p:nvSpPr>
        <p:spPr>
          <a:xfrm>
            <a:off x="5167630" y="4104640"/>
            <a:ext cx="727075" cy="727075"/>
          </a:xfrm>
          <a:prstGeom prst="roundRect">
            <a:avLst/>
          </a:prstGeom>
          <a:solidFill>
            <a:srgbClr val="3368FF"/>
          </a:soli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000" noProof="0" dirty="0">
              <a:ln>
                <a:noFill/>
              </a:ln>
              <a:solidFill>
                <a:srgbClr val="FFFFFF"/>
              </a:solidFill>
              <a:effectLst/>
              <a:uLnTx/>
              <a:uFillTx/>
              <a:latin typeface="微软雅黑"/>
              <a:ea typeface="微软雅黑"/>
              <a:cs typeface="微软雅黑"/>
              <a:sym typeface="微软雅黑"/>
            </a:endParaRPr>
          </a:p>
        </p:txBody>
      </p:sp>
      <p:sp>
        <p:nvSpPr>
          <p:cNvPr id="24" name="紫荆的职场Point18-2"/>
          <p:cNvSpPr txBox="1"/>
          <p:nvPr/>
        </p:nvSpPr>
        <p:spPr>
          <a:xfrm>
            <a:off x="5258435" y="4205605"/>
            <a:ext cx="546100" cy="52578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a:ln>
                  <a:noFill/>
                </a:ln>
                <a:solidFill>
                  <a:srgbClr val="FFFFFF"/>
                </a:solidFill>
                <a:effectLst/>
                <a:uLnTx/>
                <a:uFillTx/>
                <a:latin typeface="微软雅黑"/>
                <a:ea typeface="微软雅黑"/>
                <a:cs typeface="微软雅黑"/>
              </a:rPr>
              <a:t>销售</a:t>
            </a:r>
            <a:endParaRPr kumimoji="0" lang="en-US" altLang="zh-CN" sz="1400" b="1" i="0" u="none" strike="noStrike" kern="1200" cap="none" spc="0" normalizeH="0" baseline="0" noProof="0">
              <a:ln>
                <a:noFill/>
              </a:ln>
              <a:solidFill>
                <a:srgbClr val="FFFF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a:ln>
                  <a:noFill/>
                </a:ln>
                <a:solidFill>
                  <a:srgbClr val="FFFFFF"/>
                </a:solidFill>
                <a:effectLst/>
                <a:uLnTx/>
                <a:uFillTx/>
                <a:latin typeface="微软雅黑"/>
                <a:ea typeface="微软雅黑"/>
                <a:cs typeface="微软雅黑"/>
              </a:rPr>
              <a:t>公司</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6" name="紫荆的职场Point19-1"/>
          <p:cNvSpPr/>
          <p:nvPr/>
        </p:nvSpPr>
        <p:spPr>
          <a:xfrm>
            <a:off x="5167630" y="2378075"/>
            <a:ext cx="727075" cy="727075"/>
          </a:xfrm>
          <a:prstGeom prst="roundRect">
            <a:avLst/>
          </a:prstGeom>
          <a:solidFill>
            <a:srgbClr val="3368FF"/>
          </a:soli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7" name="紫荆的职场Point19-2"/>
          <p:cNvSpPr txBox="1"/>
          <p:nvPr/>
        </p:nvSpPr>
        <p:spPr>
          <a:xfrm>
            <a:off x="5258435" y="2479040"/>
            <a:ext cx="546100" cy="52578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电商</a:t>
            </a:r>
            <a:endPar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部门</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6" name="紫荆的职场Point20-1"/>
          <p:cNvSpPr/>
          <p:nvPr/>
        </p:nvSpPr>
        <p:spPr>
          <a:xfrm>
            <a:off x="6752590" y="1945005"/>
            <a:ext cx="1202690" cy="346075"/>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147" name="紫荆的职场Point20-2"/>
          <p:cNvSpPr txBox="1"/>
          <p:nvPr/>
        </p:nvSpPr>
        <p:spPr>
          <a:xfrm>
            <a:off x="6919595" y="1978660"/>
            <a:ext cx="868045" cy="27813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官网</a:t>
            </a:r>
            <a:r>
              <a:rPr kumimoji="0" lang="en-US" altLang="zh-CN" sz="1200" b="1" i="0" u="none" strike="noStrike" kern="1200" cap="none" spc="0" normalizeH="0" baseline="0" noProof="0" dirty="0">
                <a:ln>
                  <a:noFill/>
                </a:ln>
                <a:solidFill>
                  <a:srgbClr val="0042FF"/>
                </a:solidFill>
                <a:effectLst/>
                <a:uLnTx/>
                <a:uFillTx/>
                <a:latin typeface="微软雅黑"/>
                <a:ea typeface="微软雅黑"/>
                <a:cs typeface="微软雅黑"/>
              </a:rPr>
              <a:t>/APP</a:t>
            </a:r>
            <a:endParaRPr kumimoji="0" lang="en-US" altLang="zh-CN"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0" name="紫荆的职场Point21-1"/>
          <p:cNvSpPr/>
          <p:nvPr/>
        </p:nvSpPr>
        <p:spPr>
          <a:xfrm>
            <a:off x="6752590" y="2568575"/>
            <a:ext cx="1202690" cy="346075"/>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31" name="紫荆的职场Point21-2"/>
          <p:cNvSpPr txBox="1"/>
          <p:nvPr/>
        </p:nvSpPr>
        <p:spPr>
          <a:xfrm>
            <a:off x="6900545" y="2602865"/>
            <a:ext cx="906780" cy="27813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200" b="1" i="0" u="none" strike="noStrike" kern="1200" cap="none" spc="0" normalizeH="0" baseline="0" noProof="0">
                <a:ln>
                  <a:noFill/>
                </a:ln>
                <a:solidFill>
                  <a:srgbClr val="0042FF"/>
                </a:solidFill>
                <a:effectLst/>
                <a:uLnTx/>
                <a:uFillTx/>
                <a:latin typeface="微软雅黑"/>
                <a:ea typeface="微软雅黑"/>
                <a:cs typeface="微软雅黑"/>
              </a:rPr>
              <a:t>TP/</a:t>
            </a:r>
            <a:r>
              <a:rPr kumimoji="0" lang="zh-CN" altLang="en-US" sz="1200" b="1" i="0" u="none" strike="noStrike" kern="1200" cap="none" spc="0" normalizeH="0" baseline="0" noProof="0">
                <a:ln>
                  <a:noFill/>
                </a:ln>
                <a:solidFill>
                  <a:srgbClr val="0042FF"/>
                </a:solidFill>
                <a:effectLst/>
                <a:uLnTx/>
                <a:uFillTx/>
                <a:latin typeface="微软雅黑"/>
                <a:ea typeface="微软雅黑"/>
                <a:cs typeface="微软雅黑"/>
              </a:rPr>
              <a:t>经销商</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54" name="紫荆的职场Point22-1"/>
          <p:cNvSpPr/>
          <p:nvPr/>
        </p:nvSpPr>
        <p:spPr>
          <a:xfrm>
            <a:off x="6752590" y="3192145"/>
            <a:ext cx="1202690" cy="346075"/>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32" name="紫荆的职场Point22-2"/>
          <p:cNvSpPr txBox="1"/>
          <p:nvPr/>
        </p:nvSpPr>
        <p:spPr>
          <a:xfrm>
            <a:off x="6951980" y="3226435"/>
            <a:ext cx="803910" cy="27813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公域电商</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90" name="紫荆的职场Point23"/>
          <p:cNvGrpSpPr/>
          <p:nvPr/>
        </p:nvGrpSpPr>
        <p:grpSpPr>
          <a:xfrm>
            <a:off x="5962834" y="2077131"/>
            <a:ext cx="672616" cy="1313858"/>
            <a:chOff x="6007154" y="2458584"/>
            <a:chExt cx="669666" cy="1308095"/>
          </a:xfrm>
        </p:grpSpPr>
        <p:sp>
          <p:nvSpPr>
            <p:cNvPr id="141" name="紫荆的职场Point23-1"/>
            <p:cNvSpPr/>
            <p:nvPr/>
          </p:nvSpPr>
          <p:spPr>
            <a:xfrm>
              <a:off x="6007154" y="3068896"/>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2" name="紫荆的职场Point23-2"/>
            <p:cNvSpPr/>
            <p:nvPr/>
          </p:nvSpPr>
          <p:spPr>
            <a:xfrm>
              <a:off x="6589348" y="3068896"/>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4" name="紫荆的职场Point23-3"/>
            <p:cNvSpPr/>
            <p:nvPr/>
          </p:nvSpPr>
          <p:spPr>
            <a:xfrm>
              <a:off x="6383683" y="2483579"/>
              <a:ext cx="206340" cy="1241839"/>
            </a:xfrm>
            <a:prstGeom prst="leftBracket">
              <a:avLst>
                <a:gd name="adj" fmla="val 0"/>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5" name="紫荆的职场Point23-4"/>
            <p:cNvSpPr/>
            <p:nvPr/>
          </p:nvSpPr>
          <p:spPr>
            <a:xfrm>
              <a:off x="6589348" y="3679207"/>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33" name="紫荆的职场Point23-5"/>
            <p:cNvCxnSpPr/>
            <p:nvPr/>
          </p:nvCxnSpPr>
          <p:spPr>
            <a:xfrm>
              <a:off x="6383683" y="3104498"/>
              <a:ext cx="208800"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sp>
          <p:nvSpPr>
            <p:cNvPr id="34" name="紫荆的职场Point23-6"/>
            <p:cNvSpPr/>
            <p:nvPr/>
          </p:nvSpPr>
          <p:spPr>
            <a:xfrm>
              <a:off x="6589348" y="2458584"/>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37" name="紫荆的职场Point23-7"/>
            <p:cNvCxnSpPr/>
            <p:nvPr/>
          </p:nvCxnSpPr>
          <p:spPr>
            <a:xfrm>
              <a:off x="6094626" y="3104498"/>
              <a:ext cx="289057"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grpSp>
      <p:grpSp>
        <p:nvGrpSpPr>
          <p:cNvPr id="38" name="紫荆的职场Point24"/>
          <p:cNvGrpSpPr/>
          <p:nvPr/>
        </p:nvGrpSpPr>
        <p:grpSpPr>
          <a:xfrm rot="5400000">
            <a:off x="7250204" y="2922609"/>
            <a:ext cx="207160" cy="258427"/>
            <a:chOff x="10783486" y="2365674"/>
            <a:chExt cx="290969" cy="362976"/>
          </a:xfrm>
        </p:grpSpPr>
        <p:sp>
          <p:nvSpPr>
            <p:cNvPr id="39" name="紫荆的职场Point24-1"/>
            <p:cNvSpPr/>
            <p:nvPr/>
          </p:nvSpPr>
          <p:spPr>
            <a:xfrm rot="16200000" flipH="1" flipV="1">
              <a:off x="10713998" y="2435162"/>
              <a:ext cx="362976" cy="223999"/>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0042FF"/>
                </a:gs>
                <a:gs pos="0">
                  <a:srgbClr val="0042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73" name="紫荆的职场Point24-2"/>
            <p:cNvSpPr/>
            <p:nvPr/>
          </p:nvSpPr>
          <p:spPr>
            <a:xfrm rot="16200000" flipH="1" flipV="1">
              <a:off x="10854937" y="2468187"/>
              <a:ext cx="281088" cy="157949"/>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0042FF"/>
                </a:gs>
                <a:gs pos="0">
                  <a:srgbClr val="0042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184" name="紫荆的职场Point25"/>
          <p:cNvSpPr/>
          <p:nvPr/>
        </p:nvSpPr>
        <p:spPr>
          <a:xfrm flipH="1">
            <a:off x="8152959" y="2102236"/>
            <a:ext cx="207249" cy="1247310"/>
          </a:xfrm>
          <a:prstGeom prst="leftBracket">
            <a:avLst>
              <a:gd name="adj" fmla="val 0"/>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5" name="紫荆的职场Point26"/>
          <p:cNvSpPr/>
          <p:nvPr/>
        </p:nvSpPr>
        <p:spPr>
          <a:xfrm flipH="1">
            <a:off x="8065780" y="3303132"/>
            <a:ext cx="87857" cy="87857"/>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7" name="紫荆的职场Point27"/>
          <p:cNvSpPr/>
          <p:nvPr/>
        </p:nvSpPr>
        <p:spPr>
          <a:xfrm flipH="1">
            <a:off x="8065780" y="2077131"/>
            <a:ext cx="87857" cy="87857"/>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92" name="紫荆的职场Point28-1"/>
          <p:cNvSpPr/>
          <p:nvPr/>
        </p:nvSpPr>
        <p:spPr>
          <a:xfrm>
            <a:off x="10321925" y="2378075"/>
            <a:ext cx="727075" cy="727075"/>
          </a:xfrm>
          <a:prstGeom prst="roundRect">
            <a:avLst/>
          </a:prstGeom>
          <a:solidFill>
            <a:srgbClr val="3368FF"/>
          </a:soli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000" noProof="0" dirty="0">
              <a:ln>
                <a:noFill/>
              </a:ln>
              <a:solidFill>
                <a:srgbClr val="FFFFFF"/>
              </a:solidFill>
              <a:effectLst/>
              <a:uLnTx/>
              <a:uFillTx/>
              <a:latin typeface="微软雅黑"/>
              <a:ea typeface="微软雅黑"/>
              <a:cs typeface="微软雅黑"/>
              <a:sym typeface="微软雅黑"/>
            </a:endParaRPr>
          </a:p>
        </p:txBody>
      </p:sp>
      <p:sp>
        <p:nvSpPr>
          <p:cNvPr id="196" name="紫荆的职场Point29"/>
          <p:cNvSpPr/>
          <p:nvPr/>
        </p:nvSpPr>
        <p:spPr>
          <a:xfrm flipH="1">
            <a:off x="4633120" y="2797351"/>
            <a:ext cx="522206" cy="2918526"/>
          </a:xfrm>
          <a:prstGeom prst="rightBrace">
            <a:avLst>
              <a:gd name="adj1" fmla="val 38356"/>
              <a:gd name="adj2" fmla="val 56814"/>
            </a:avLst>
          </a:prstGeom>
          <a:ln>
            <a:solidFill>
              <a:srgbClr val="0042FF"/>
            </a:solidFill>
          </a:ln>
        </p:spPr>
        <p:style>
          <a:lnRef idx="2">
            <a:srgbClr val="0042FF"/>
          </a:lnRef>
          <a:fillRef idx="0">
            <a:srgbClr val="0042FF"/>
          </a:fillRef>
          <a:effectRef idx="1">
            <a:srgbClr val="0042FF"/>
          </a:effectRef>
          <a:fontRef idx="minor">
            <a:srgbClr val="383838"/>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black"/>
              </a:solidFill>
              <a:effectLst/>
              <a:uLnTx/>
              <a:uFillTx/>
              <a:latin typeface="微软雅黑"/>
              <a:ea typeface="微软雅黑"/>
              <a:cs typeface="微软雅黑"/>
            </a:endParaRPr>
          </a:p>
        </p:txBody>
      </p:sp>
      <p:sp>
        <p:nvSpPr>
          <p:cNvPr id="123" name="紫荆的职场Point30"/>
          <p:cNvSpPr/>
          <p:nvPr/>
        </p:nvSpPr>
        <p:spPr>
          <a:xfrm>
            <a:off x="3760693" y="3915032"/>
            <a:ext cx="949683" cy="949683"/>
          </a:xfrm>
          <a:prstGeom prst="ellipse">
            <a:avLst/>
          </a:prstGeom>
          <a:solidFill>
            <a:srgbClr val="E6E6E6"/>
          </a:solidFill>
          <a:ln>
            <a:noFill/>
          </a:ln>
          <a:effectLst>
            <a:outerShdw blurRad="254000" dist="114300" dir="5400000" sx="99000" sy="99000" algn="t"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24" name="紫荆的职场Point31"/>
          <p:cNvSpPr/>
          <p:nvPr/>
        </p:nvSpPr>
        <p:spPr>
          <a:xfrm>
            <a:off x="3830909" y="3979357"/>
            <a:ext cx="809250" cy="809250"/>
          </a:xfrm>
          <a:prstGeom prst="ellipse">
            <a:avLst/>
          </a:prstGeom>
          <a:gradFill flip="none" rotWithShape="1">
            <a:gsLst>
              <a:gs pos="0">
                <a:srgbClr val="0042FF"/>
              </a:gs>
              <a:gs pos="100000">
                <a:srgbClr val="3368FF"/>
              </a:gs>
            </a:gsLst>
            <a:lin ang="16200000" scaled="1"/>
            <a:tileRect/>
          </a:gradFill>
          <a:ln>
            <a:noFill/>
          </a:ln>
          <a:effectLst>
            <a:outerShdw blurRad="254000" dist="114300" dir="5400000" sx="99000" sy="99000" algn="t"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6" name="紫荆的职场Point32"/>
          <p:cNvSpPr txBox="1"/>
          <p:nvPr/>
        </p:nvSpPr>
        <p:spPr>
          <a:xfrm>
            <a:off x="3910945" y="4275923"/>
            <a:ext cx="649179" cy="370959"/>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1" i="0" u="none" strike="noStrike" kern="1200" cap="none" spc="0" normalizeH="0" baseline="0" noProof="0" dirty="0">
                <a:ln>
                  <a:noFill/>
                </a:ln>
                <a:solidFill>
                  <a:srgbClr val="FFFFFF"/>
                </a:solidFill>
                <a:effectLst/>
                <a:uLnTx/>
                <a:uFillTx/>
                <a:latin typeface="微软雅黑"/>
                <a:ea typeface="微软雅黑"/>
                <a:cs typeface="微软雅黑"/>
              </a:rPr>
              <a:t>品牌</a:t>
            </a:r>
            <a:endParaRPr kumimoji="0" lang="zh-CN" altLang="en-US" sz="18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8" name="紫荆的职场Point33"/>
          <p:cNvSpPr txBox="1"/>
          <p:nvPr/>
        </p:nvSpPr>
        <p:spPr>
          <a:xfrm>
            <a:off x="3923021" y="4083217"/>
            <a:ext cx="625027" cy="278219"/>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200" b="0" i="0" u="none" strike="noStrike" kern="1200" cap="none" spc="0" normalizeH="0" baseline="0" noProof="0" dirty="0">
                <a:ln>
                  <a:noFill/>
                </a:ln>
                <a:solidFill>
                  <a:srgbClr val="FFFFFF"/>
                </a:solidFill>
                <a:effectLst/>
                <a:uLnTx/>
                <a:uFillTx/>
                <a:latin typeface="微软雅黑"/>
                <a:ea typeface="微软雅黑"/>
                <a:cs typeface="微软雅黑"/>
              </a:rPr>
              <a:t>Brand</a:t>
            </a:r>
            <a:endParaRPr kumimoji="0" lang="en-US" altLang="zh-CN" sz="12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9" name="紫荆的职场Point34-1"/>
          <p:cNvSpPr/>
          <p:nvPr/>
        </p:nvSpPr>
        <p:spPr>
          <a:xfrm>
            <a:off x="5167630" y="5323205"/>
            <a:ext cx="727075" cy="727075"/>
          </a:xfrm>
          <a:prstGeom prst="roundRect">
            <a:avLst/>
          </a:prstGeom>
          <a:solidFill>
            <a:srgbClr val="3368FF"/>
          </a:solidFill>
          <a:ln w="38100">
            <a:noFill/>
          </a:ln>
          <a:effectLst>
            <a:outerShdw blurRad="411480" dist="123444" dir="5400000" sx="108000" sy="108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sz="1000" noProof="0" dirty="0">
              <a:ln>
                <a:noFill/>
              </a:ln>
              <a:solidFill>
                <a:srgbClr val="FFFFFF"/>
              </a:solidFill>
              <a:effectLst/>
              <a:uLnTx/>
              <a:uFillTx/>
              <a:latin typeface="微软雅黑"/>
              <a:ea typeface="微软雅黑"/>
              <a:cs typeface="微软雅黑"/>
              <a:sym typeface="微软雅黑"/>
            </a:endParaRPr>
          </a:p>
        </p:txBody>
      </p:sp>
      <p:sp>
        <p:nvSpPr>
          <p:cNvPr id="199" name="紫荆的职场Point34-2"/>
          <p:cNvSpPr txBox="1"/>
          <p:nvPr/>
        </p:nvSpPr>
        <p:spPr>
          <a:xfrm>
            <a:off x="5168265" y="5424170"/>
            <a:ext cx="726440" cy="52578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a:ln>
                  <a:noFill/>
                </a:ln>
                <a:solidFill>
                  <a:srgbClr val="FFFFFF"/>
                </a:solidFill>
                <a:effectLst/>
                <a:uLnTx/>
                <a:uFillTx/>
                <a:latin typeface="微软雅黑"/>
                <a:ea typeface="微软雅黑"/>
                <a:cs typeface="微软雅黑"/>
              </a:rPr>
              <a:t>新零售</a:t>
            </a:r>
            <a:endParaRPr kumimoji="0" lang="en-US" altLang="zh-CN" sz="1400" b="1" i="0" u="none" strike="noStrike" kern="1200" cap="none" spc="0" normalizeH="0" baseline="0" noProof="0">
              <a:ln>
                <a:noFill/>
              </a:ln>
              <a:solidFill>
                <a:srgbClr val="FFFF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a:ln>
                  <a:noFill/>
                </a:ln>
                <a:solidFill>
                  <a:srgbClr val="FFFFFF"/>
                </a:solidFill>
                <a:effectLst/>
                <a:uLnTx/>
                <a:uFillTx/>
                <a:latin typeface="微软雅黑"/>
                <a:ea typeface="微软雅黑"/>
                <a:cs typeface="微软雅黑"/>
              </a:rPr>
              <a:t>部门</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nvGrpSpPr>
          <p:cNvPr id="217" name="紫荆的职场Point35"/>
          <p:cNvGrpSpPr/>
          <p:nvPr/>
        </p:nvGrpSpPr>
        <p:grpSpPr>
          <a:xfrm>
            <a:off x="5967121" y="5628020"/>
            <a:ext cx="2455991" cy="87857"/>
            <a:chOff x="6007154" y="5665628"/>
            <a:chExt cx="2445218" cy="87472"/>
          </a:xfrm>
        </p:grpSpPr>
        <p:sp>
          <p:nvSpPr>
            <p:cNvPr id="50" name="紫荆的职场Point35-1"/>
            <p:cNvSpPr/>
            <p:nvPr/>
          </p:nvSpPr>
          <p:spPr>
            <a:xfrm>
              <a:off x="6007154" y="5665628"/>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1" name="紫荆的职场Point35-2"/>
            <p:cNvSpPr/>
            <p:nvPr/>
          </p:nvSpPr>
          <p:spPr>
            <a:xfrm>
              <a:off x="8364900" y="5665628"/>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07" name="紫荆的职场Point35-3"/>
            <p:cNvCxnSpPr/>
            <p:nvPr/>
          </p:nvCxnSpPr>
          <p:spPr>
            <a:xfrm>
              <a:off x="6094626" y="5701230"/>
              <a:ext cx="2255651"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grpSp>
      <p:sp>
        <p:nvSpPr>
          <p:cNvPr id="212" name="紫荆的职场Point36-1"/>
          <p:cNvSpPr/>
          <p:nvPr/>
        </p:nvSpPr>
        <p:spPr>
          <a:xfrm>
            <a:off x="8495030" y="5407025"/>
            <a:ext cx="1442720" cy="559435"/>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grpSp>
        <p:nvGrpSpPr>
          <p:cNvPr id="231" name="紫荆的职场Point37"/>
          <p:cNvGrpSpPr/>
          <p:nvPr/>
        </p:nvGrpSpPr>
        <p:grpSpPr>
          <a:xfrm>
            <a:off x="5962834" y="4032666"/>
            <a:ext cx="672616" cy="871072"/>
            <a:chOff x="5286396" y="1495505"/>
            <a:chExt cx="669666" cy="867251"/>
          </a:xfrm>
        </p:grpSpPr>
        <p:sp>
          <p:nvSpPr>
            <p:cNvPr id="232" name="紫荆的职场Point37-1"/>
            <p:cNvSpPr/>
            <p:nvPr/>
          </p:nvSpPr>
          <p:spPr>
            <a:xfrm>
              <a:off x="5286396" y="1888054"/>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3" name="紫荆的职场Point37-2"/>
            <p:cNvSpPr/>
            <p:nvPr/>
          </p:nvSpPr>
          <p:spPr>
            <a:xfrm>
              <a:off x="5868590" y="1495505"/>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34" name="紫荆的职场Point37-3"/>
            <p:cNvCxnSpPr>
              <a:stCxn id="232" idx="6"/>
              <a:endCxn id="235" idx="1"/>
            </p:cNvCxnSpPr>
            <p:nvPr/>
          </p:nvCxnSpPr>
          <p:spPr>
            <a:xfrm flipV="1">
              <a:off x="5373868" y="1930400"/>
              <a:ext cx="289057" cy="139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sp>
          <p:nvSpPr>
            <p:cNvPr id="235" name="紫荆的职场Point37-4"/>
            <p:cNvSpPr/>
            <p:nvPr/>
          </p:nvSpPr>
          <p:spPr>
            <a:xfrm>
              <a:off x="5662925" y="1541780"/>
              <a:ext cx="206340" cy="777240"/>
            </a:xfrm>
            <a:prstGeom prst="leftBracket">
              <a:avLst>
                <a:gd name="adj" fmla="val 0"/>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6" name="紫荆的职场Point37-5"/>
            <p:cNvSpPr/>
            <p:nvPr/>
          </p:nvSpPr>
          <p:spPr>
            <a:xfrm>
              <a:off x="5868590" y="2275284"/>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238" name="紫荆的职场Point38-1"/>
          <p:cNvSpPr/>
          <p:nvPr/>
        </p:nvSpPr>
        <p:spPr>
          <a:xfrm>
            <a:off x="6690360" y="3813175"/>
            <a:ext cx="521970" cy="520700"/>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242" name="紫荆的职场Point39-1"/>
          <p:cNvSpPr/>
          <p:nvPr/>
        </p:nvSpPr>
        <p:spPr>
          <a:xfrm>
            <a:off x="7506970" y="3813175"/>
            <a:ext cx="521970" cy="520700"/>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sp>
        <p:nvSpPr>
          <p:cNvPr id="245" name="紫荆的职场Point40-1"/>
          <p:cNvSpPr/>
          <p:nvPr/>
        </p:nvSpPr>
        <p:spPr>
          <a:xfrm>
            <a:off x="8781415" y="3813175"/>
            <a:ext cx="521970" cy="520700"/>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grpSp>
        <p:nvGrpSpPr>
          <p:cNvPr id="248" name="紫荆的职场Point41"/>
          <p:cNvGrpSpPr/>
          <p:nvPr/>
        </p:nvGrpSpPr>
        <p:grpSpPr>
          <a:xfrm>
            <a:off x="7256120" y="3958143"/>
            <a:ext cx="207160" cy="258427"/>
            <a:chOff x="10783486" y="2365674"/>
            <a:chExt cx="290969" cy="362976"/>
          </a:xfrm>
        </p:grpSpPr>
        <p:sp>
          <p:nvSpPr>
            <p:cNvPr id="249" name="紫荆的职场Point41-1"/>
            <p:cNvSpPr/>
            <p:nvPr/>
          </p:nvSpPr>
          <p:spPr>
            <a:xfrm rot="16200000" flipH="1" flipV="1">
              <a:off x="10713998" y="2435162"/>
              <a:ext cx="362976" cy="223999"/>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0042FF"/>
                </a:gs>
                <a:gs pos="0">
                  <a:srgbClr val="0042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50" name="紫荆的职场Point41-2"/>
            <p:cNvSpPr/>
            <p:nvPr/>
          </p:nvSpPr>
          <p:spPr>
            <a:xfrm rot="16200000" flipH="1" flipV="1">
              <a:off x="10854937" y="2468187"/>
              <a:ext cx="281088" cy="157949"/>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0042FF"/>
                </a:gs>
                <a:gs pos="0">
                  <a:srgbClr val="0042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251" name="紫荆的职场Point42"/>
          <p:cNvGrpSpPr/>
          <p:nvPr/>
        </p:nvGrpSpPr>
        <p:grpSpPr>
          <a:xfrm>
            <a:off x="8072515" y="3958143"/>
            <a:ext cx="207160" cy="258427"/>
            <a:chOff x="10783486" y="2365674"/>
            <a:chExt cx="290969" cy="362976"/>
          </a:xfrm>
        </p:grpSpPr>
        <p:sp>
          <p:nvSpPr>
            <p:cNvPr id="252" name="紫荆的职场Point42-1"/>
            <p:cNvSpPr/>
            <p:nvPr/>
          </p:nvSpPr>
          <p:spPr>
            <a:xfrm rot="16200000" flipH="1" flipV="1">
              <a:off x="10713998" y="2435162"/>
              <a:ext cx="362976" cy="223999"/>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0042FF"/>
                </a:gs>
                <a:gs pos="0">
                  <a:srgbClr val="0042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53" name="紫荆的职场Point42-2"/>
            <p:cNvSpPr/>
            <p:nvPr/>
          </p:nvSpPr>
          <p:spPr>
            <a:xfrm rot="16200000" flipH="1" flipV="1">
              <a:off x="10854937" y="2468187"/>
              <a:ext cx="281088" cy="157949"/>
            </a:xfrm>
            <a:custGeom>
              <a:avLst/>
              <a:gdLst>
                <a:gd name="connsiteX0" fmla="*/ 732665 w 1457604"/>
                <a:gd name="connsiteY0" fmla="*/ 0 h 715059"/>
                <a:gd name="connsiteX1" fmla="*/ 728802 w 1457604"/>
                <a:gd name="connsiteY1" fmla="*/ 3771 h 715059"/>
                <a:gd name="connsiteX2" fmla="*/ 724939 w 1457604"/>
                <a:gd name="connsiteY2" fmla="*/ 0 h 715059"/>
                <a:gd name="connsiteX3" fmla="*/ 724921 w 1457604"/>
                <a:gd name="connsiteY3" fmla="*/ 7558 h 715059"/>
                <a:gd name="connsiteX4" fmla="*/ 0 w 1457604"/>
                <a:gd name="connsiteY4" fmla="*/ 715059 h 715059"/>
                <a:gd name="connsiteX5" fmla="*/ 728802 w 1457604"/>
                <a:gd name="connsiteY5" fmla="*/ 483764 h 715059"/>
                <a:gd name="connsiteX6" fmla="*/ 1457604 w 1457604"/>
                <a:gd name="connsiteY6" fmla="*/ 715059 h 715059"/>
                <a:gd name="connsiteX7" fmla="*/ 732683 w 1457604"/>
                <a:gd name="connsiteY7" fmla="*/ 7558 h 715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7604" h="715059">
                  <a:moveTo>
                    <a:pt x="732665" y="0"/>
                  </a:moveTo>
                  <a:lnTo>
                    <a:pt x="728802" y="3771"/>
                  </a:lnTo>
                  <a:lnTo>
                    <a:pt x="724939" y="0"/>
                  </a:lnTo>
                  <a:lnTo>
                    <a:pt x="724921" y="7558"/>
                  </a:lnTo>
                  <a:lnTo>
                    <a:pt x="0" y="715059"/>
                  </a:lnTo>
                  <a:lnTo>
                    <a:pt x="728802" y="483764"/>
                  </a:lnTo>
                  <a:lnTo>
                    <a:pt x="1457604" y="715059"/>
                  </a:lnTo>
                  <a:lnTo>
                    <a:pt x="732683" y="7558"/>
                  </a:lnTo>
                  <a:close/>
                </a:path>
              </a:pathLst>
            </a:custGeom>
            <a:gradFill flip="none" rotWithShape="1">
              <a:gsLst>
                <a:gs pos="89000">
                  <a:srgbClr val="0042FF"/>
                </a:gs>
                <a:gs pos="0">
                  <a:srgbClr val="0042FF">
                    <a:alpha val="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sp>
        <p:nvSpPr>
          <p:cNvPr id="254" name="紫荆的职场Point43"/>
          <p:cNvSpPr txBox="1"/>
          <p:nvPr/>
        </p:nvSpPr>
        <p:spPr>
          <a:xfrm>
            <a:off x="8202615" y="3833947"/>
            <a:ext cx="649178" cy="370959"/>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800" b="0" i="0" u="none" strike="noStrike" kern="1200" cap="none" spc="0" normalizeH="0" baseline="0" noProof="0" dirty="0">
                <a:ln>
                  <a:noFill/>
                </a:ln>
                <a:solidFill>
                  <a:srgbClr val="0042FF"/>
                </a:solidFill>
                <a:effectLst/>
                <a:uLnTx/>
                <a:uFillTx/>
                <a:latin typeface="微软雅黑"/>
                <a:ea typeface="微软雅黑"/>
                <a:cs typeface="微软雅黑"/>
              </a:rPr>
              <a:t>……</a:t>
            </a:r>
            <a:endParaRPr kumimoji="0" lang="en-US" altLang="zh-CN" sz="18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56" name="紫荆的职场Point44-1"/>
          <p:cNvSpPr/>
          <p:nvPr/>
        </p:nvSpPr>
        <p:spPr>
          <a:xfrm>
            <a:off x="6690360" y="4587875"/>
            <a:ext cx="521970" cy="520700"/>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grpSp>
        <p:nvGrpSpPr>
          <p:cNvPr id="269" name="紫荆的职场Point45"/>
          <p:cNvGrpSpPr/>
          <p:nvPr/>
        </p:nvGrpSpPr>
        <p:grpSpPr>
          <a:xfrm>
            <a:off x="7264307" y="4804167"/>
            <a:ext cx="1465609" cy="87857"/>
            <a:chOff x="7207706" y="4845389"/>
            <a:chExt cx="1459180" cy="87472"/>
          </a:xfrm>
        </p:grpSpPr>
        <p:sp>
          <p:nvSpPr>
            <p:cNvPr id="260" name="紫荆的职场Point45-1"/>
            <p:cNvSpPr/>
            <p:nvPr/>
          </p:nvSpPr>
          <p:spPr>
            <a:xfrm>
              <a:off x="7207706" y="4845389"/>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61" name="紫荆的职场Point45-2"/>
            <p:cNvSpPr/>
            <p:nvPr/>
          </p:nvSpPr>
          <p:spPr>
            <a:xfrm>
              <a:off x="8579414" y="4845389"/>
              <a:ext cx="87472" cy="87472"/>
            </a:xfrm>
            <a:prstGeom prst="ellipse">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62" name="紫荆的职场Point45-3"/>
            <p:cNvCxnSpPr/>
            <p:nvPr/>
          </p:nvCxnSpPr>
          <p:spPr>
            <a:xfrm>
              <a:off x="7295178" y="4880991"/>
              <a:ext cx="1288046"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grpSp>
      <p:sp>
        <p:nvSpPr>
          <p:cNvPr id="266" name="紫荆的职场Point46-1"/>
          <p:cNvSpPr/>
          <p:nvPr/>
        </p:nvSpPr>
        <p:spPr>
          <a:xfrm>
            <a:off x="8781415" y="4587875"/>
            <a:ext cx="521970" cy="520700"/>
          </a:xfrm>
          <a:prstGeom prst="roundRect">
            <a:avLst>
              <a:gd name="adj" fmla="val 8732"/>
            </a:avLst>
          </a:prstGeom>
          <a:gradFill flip="none" rotWithShape="1">
            <a:gsLst>
              <a:gs pos="100000">
                <a:srgbClr val="FFFFFF"/>
              </a:gs>
              <a:gs pos="0">
                <a:srgbClr val="FFFFFF"/>
              </a:gs>
            </a:gsLst>
            <a:lin ang="16200000" scaled="1"/>
            <a:tileRect/>
          </a:gradFill>
          <a:ln w="6350">
            <a:solidFill>
              <a:srgbClr val="0042FF"/>
            </a:solidFill>
            <a:prstDash val="solid"/>
          </a:ln>
          <a:effectLst>
            <a:outerShdw blurRad="50800" dist="381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defTabSz="457200">
              <a:spcBef>
                <a:spcPts val="0"/>
              </a:spcBef>
              <a:spcAft>
                <a:spcPts val="0"/>
              </a:spcAft>
              <a:buClrTx/>
              <a:buSzTx/>
              <a:buFontTx/>
              <a:defRPr>
                <a:latin typeface="微软雅黑"/>
                <a:ea typeface="微软雅黑"/>
                <a:cs typeface="微软雅黑"/>
              </a:defRPr>
            </a:pPr>
            <a:endParaRPr kumimoji="1" lang="zh-CN" altLang="en-US" sz="1400" noProof="0" dirty="0">
              <a:ln>
                <a:noFill/>
              </a:ln>
              <a:solidFill>
                <a:srgbClr val="383838"/>
              </a:solidFill>
              <a:effectLst/>
              <a:uLnTx/>
              <a:uFillTx/>
              <a:latin typeface="微软雅黑"/>
              <a:ea typeface="微软雅黑"/>
              <a:cs typeface="微软雅黑"/>
              <a:sym typeface="微软雅黑"/>
            </a:endParaRPr>
          </a:p>
        </p:txBody>
      </p:sp>
      <p:cxnSp>
        <p:nvCxnSpPr>
          <p:cNvPr id="273" name="紫荆的职场Point47"/>
          <p:cNvCxnSpPr/>
          <p:nvPr/>
        </p:nvCxnSpPr>
        <p:spPr>
          <a:xfrm>
            <a:off x="4702394" y="4457302"/>
            <a:ext cx="470062"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cxnSp>
        <p:nvCxnSpPr>
          <p:cNvPr id="290" name="紫荆的职场Point48"/>
          <p:cNvCxnSpPr/>
          <p:nvPr/>
        </p:nvCxnSpPr>
        <p:spPr>
          <a:xfrm>
            <a:off x="9332864" y="4073680"/>
            <a:ext cx="2263134"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cxnSp>
        <p:nvCxnSpPr>
          <p:cNvPr id="291" name="紫荆的职场Point49"/>
          <p:cNvCxnSpPr/>
          <p:nvPr/>
        </p:nvCxnSpPr>
        <p:spPr>
          <a:xfrm>
            <a:off x="9332864" y="4848096"/>
            <a:ext cx="2263529"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cxnSp>
        <p:nvCxnSpPr>
          <p:cNvPr id="294" name="紫荆的职场Point50"/>
          <p:cNvCxnSpPr/>
          <p:nvPr/>
        </p:nvCxnSpPr>
        <p:spPr>
          <a:xfrm>
            <a:off x="9938645" y="5686961"/>
            <a:ext cx="1657353" cy="0"/>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cxnSp>
        <p:nvCxnSpPr>
          <p:cNvPr id="296" name="紫荆的职场Point51"/>
          <p:cNvCxnSpPr/>
          <p:nvPr/>
        </p:nvCxnSpPr>
        <p:spPr>
          <a:xfrm>
            <a:off x="11595998" y="2741663"/>
            <a:ext cx="0" cy="2953801"/>
          </a:xfrm>
          <a:prstGeom prst="line">
            <a:avLst/>
          </a:prstGeom>
          <a:ln w="12700" cap="rnd">
            <a:solidFill>
              <a:srgbClr val="0042FF"/>
            </a:solidFill>
            <a:prstDash val="sysDash"/>
          </a:ln>
        </p:spPr>
        <p:style>
          <a:lnRef idx="1">
            <a:srgbClr val="0042FF"/>
          </a:lnRef>
          <a:fillRef idx="0">
            <a:srgbClr val="0042FF"/>
          </a:fillRef>
          <a:effectRef idx="0">
            <a:srgbClr val="0042FF"/>
          </a:effectRef>
          <a:fontRef idx="minor">
            <a:srgbClr val="383838"/>
          </a:fontRef>
        </p:style>
      </p:cxnSp>
      <p:cxnSp>
        <p:nvCxnSpPr>
          <p:cNvPr id="310" name="紫荆的职场Point52"/>
          <p:cNvCxnSpPr/>
          <p:nvPr/>
        </p:nvCxnSpPr>
        <p:spPr>
          <a:xfrm flipH="1">
            <a:off x="11139300" y="2741663"/>
            <a:ext cx="456697" cy="0"/>
          </a:xfrm>
          <a:prstGeom prst="straightConnector1">
            <a:avLst/>
          </a:prstGeom>
          <a:ln w="12700">
            <a:prstDash val="sysDash"/>
            <a:tailEnd type="triangle"/>
          </a:ln>
        </p:spPr>
        <p:style>
          <a:lnRef idx="2">
            <a:srgbClr val="0042FF"/>
          </a:lnRef>
          <a:fillRef idx="0">
            <a:srgbClr val="0042FF"/>
          </a:fillRef>
          <a:effectRef idx="1">
            <a:srgbClr val="0042FF"/>
          </a:effectRef>
          <a:fontRef idx="minor">
            <a:srgbClr val="383838"/>
          </a:fontRef>
        </p:style>
      </p:cxnSp>
      <p:cxnSp>
        <p:nvCxnSpPr>
          <p:cNvPr id="313" name="紫荆的职场Point53"/>
          <p:cNvCxnSpPr/>
          <p:nvPr/>
        </p:nvCxnSpPr>
        <p:spPr>
          <a:xfrm>
            <a:off x="8351537" y="2741663"/>
            <a:ext cx="1879998" cy="0"/>
          </a:xfrm>
          <a:prstGeom prst="straightConnector1">
            <a:avLst/>
          </a:prstGeom>
          <a:ln w="12700">
            <a:prstDash val="sysDash"/>
            <a:tailEnd type="triangle"/>
          </a:ln>
        </p:spPr>
        <p:style>
          <a:lnRef idx="2">
            <a:srgbClr val="0042FF"/>
          </a:lnRef>
          <a:fillRef idx="0">
            <a:srgbClr val="0042FF"/>
          </a:fillRef>
          <a:effectRef idx="1">
            <a:srgbClr val="0042FF"/>
          </a:effectRef>
          <a:fontRef idx="minor">
            <a:srgbClr val="383838"/>
          </a:fontRef>
        </p:style>
      </p:cxnSp>
      <p:sp>
        <p:nvSpPr>
          <p:cNvPr id="54" name="紫荆的职场Point55"/>
          <p:cNvSpPr txBox="1"/>
          <p:nvPr/>
        </p:nvSpPr>
        <p:spPr>
          <a:xfrm>
            <a:off x="9720857" y="3708872"/>
            <a:ext cx="1427480" cy="306705"/>
          </a:xfrm>
          <a:prstGeom prst="rect">
            <a:avLst/>
          </a:prstGeom>
          <a:noFill/>
        </p:spPr>
        <p:txBody>
          <a:bodyPr wrap="none" lIns="0" rIns="0" tIns="0" bIns="0">
            <a:spAutoFit/>
          </a:bodyPr>
          <a:lstStyle/>
          <a:p>
            <a:pPr algn="ctr">
              <a:defRPr>
                <a:latin typeface="微软雅黑"/>
                <a:ea typeface="微软雅黑"/>
                <a:cs typeface="微软雅黑"/>
              </a:defRPr>
            </a:pPr>
            <a:r>
              <a:rPr lang="zh-CN" altLang="en-US" sz="1400" dirty="0">
                <a:solidFill>
                  <a:srgbClr val="383838"/>
                </a:solidFill>
                <a:latin typeface="微软雅黑"/>
                <a:ea typeface="微软雅黑"/>
                <a:cs typeface="微软雅黑"/>
              </a:rPr>
              <a:t>线下供应链升级</a:t>
            </a:r>
            <a:endParaRPr lang="zh-CN" altLang="en-US" sz="1400" dirty="0">
              <a:solidFill>
                <a:srgbClr val="383838"/>
              </a:solidFill>
              <a:latin typeface="微软雅黑"/>
              <a:ea typeface="微软雅黑"/>
              <a:cs typeface="微软雅黑"/>
            </a:endParaRPr>
          </a:p>
        </p:txBody>
      </p:sp>
      <p:sp>
        <p:nvSpPr>
          <p:cNvPr id="55" name="紫荆的职场Point56"/>
          <p:cNvSpPr txBox="1"/>
          <p:nvPr/>
        </p:nvSpPr>
        <p:spPr>
          <a:xfrm>
            <a:off x="8577796" y="2383026"/>
            <a:ext cx="1427480" cy="30670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i="0" u="none" strike="noStrike" kern="1200" cap="none" spc="0" normalizeH="0" baseline="0" noProof="0" dirty="0">
                <a:ln>
                  <a:noFill/>
                </a:ln>
                <a:solidFill>
                  <a:srgbClr val="383838"/>
                </a:solidFill>
                <a:effectLst/>
                <a:uLnTx/>
                <a:uFillTx/>
                <a:latin typeface="微软雅黑"/>
                <a:ea typeface="微软雅黑"/>
                <a:cs typeface="微软雅黑"/>
              </a:rPr>
              <a:t>线上供应链升级</a:t>
            </a:r>
            <a:endParaRPr kumimoji="0" lang="zh-CN" altLang="en-US" sz="14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7" name="紫荆的职场Point57"/>
          <p:cNvSpPr txBox="1"/>
          <p:nvPr/>
        </p:nvSpPr>
        <p:spPr>
          <a:xfrm>
            <a:off x="9720857" y="4477136"/>
            <a:ext cx="1427480" cy="30670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400" i="0" u="none" strike="noStrike" kern="1200" cap="none" spc="0" normalizeH="0" baseline="0" noProof="0" dirty="0">
                <a:ln>
                  <a:noFill/>
                </a:ln>
                <a:solidFill>
                  <a:srgbClr val="383838"/>
                </a:solidFill>
                <a:effectLst/>
                <a:uLnTx/>
                <a:uFillTx/>
                <a:latin typeface="微软雅黑"/>
                <a:ea typeface="微软雅黑"/>
                <a:cs typeface="微软雅黑"/>
              </a:rPr>
              <a:t>线下供应链升级</a:t>
            </a:r>
            <a:endParaRPr kumimoji="0" lang="zh-CN" altLang="en-US" sz="14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8" name="任意多边形: 形状 384"/>
          <p:cNvSpPr/>
          <p:nvPr/>
        </p:nvSpPr>
        <p:spPr>
          <a:xfrm rot="10800000">
            <a:off x="905510" y="2624455"/>
            <a:ext cx="363855" cy="426085"/>
          </a:xfrm>
          <a:custGeom>
            <a:avLst/>
            <a:gdLst>
              <a:gd name="connsiteX0" fmla="*/ 202633 w 416172"/>
              <a:gd name="connsiteY0" fmla="*/ 0 h 485927"/>
              <a:gd name="connsiteX1" fmla="*/ 374083 w 416172"/>
              <a:gd name="connsiteY1" fmla="*/ 157551 h 485927"/>
              <a:gd name="connsiteX2" fmla="*/ 294275 w 416172"/>
              <a:gd name="connsiteY2" fmla="*/ 157551 h 485927"/>
              <a:gd name="connsiteX3" fmla="*/ 306015 w 416172"/>
              <a:gd name="connsiteY3" fmla="*/ 222549 h 485927"/>
              <a:gd name="connsiteX4" fmla="*/ 416172 w 416172"/>
              <a:gd name="connsiteY4" fmla="*/ 485927 h 485927"/>
              <a:gd name="connsiteX5" fmla="*/ 0 w 416172"/>
              <a:gd name="connsiteY5" fmla="*/ 485927 h 485927"/>
              <a:gd name="connsiteX6" fmla="*/ 112166 w 416172"/>
              <a:gd name="connsiteY6" fmla="*/ 219870 h 485927"/>
              <a:gd name="connsiteX7" fmla="*/ 122329 w 416172"/>
              <a:gd name="connsiteY7" fmla="*/ 157551 h 485927"/>
              <a:gd name="connsiteX8" fmla="*/ 31183 w 416172"/>
              <a:gd name="connsiteY8" fmla="*/ 157551 h 485927"/>
              <a:gd name="connsiteX9" fmla="*/ 202633 w 416172"/>
              <a:gd name="connsiteY9" fmla="*/ 0 h 48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172" h="485927">
                <a:moveTo>
                  <a:pt x="202633" y="0"/>
                </a:moveTo>
                <a:cubicBezTo>
                  <a:pt x="238352" y="59661"/>
                  <a:pt x="269308" y="105034"/>
                  <a:pt x="374083" y="157551"/>
                </a:cubicBezTo>
                <a:lnTo>
                  <a:pt x="294275" y="157551"/>
                </a:lnTo>
                <a:lnTo>
                  <a:pt x="306015" y="222549"/>
                </a:lnTo>
                <a:cubicBezTo>
                  <a:pt x="326661" y="313020"/>
                  <a:pt x="361370" y="404832"/>
                  <a:pt x="416172" y="485927"/>
                </a:cubicBezTo>
                <a:lnTo>
                  <a:pt x="0" y="485927"/>
                </a:lnTo>
                <a:cubicBezTo>
                  <a:pt x="54801" y="401260"/>
                  <a:pt x="92191" y="308555"/>
                  <a:pt x="112166" y="219870"/>
                </a:cubicBezTo>
                <a:lnTo>
                  <a:pt x="122329" y="157551"/>
                </a:lnTo>
                <a:lnTo>
                  <a:pt x="31183" y="157551"/>
                </a:lnTo>
                <a:cubicBezTo>
                  <a:pt x="131195" y="107415"/>
                  <a:pt x="181202" y="45373"/>
                  <a:pt x="202633" y="0"/>
                </a:cubicBezTo>
                <a:close/>
              </a:path>
            </a:pathLst>
          </a:custGeom>
          <a:gradFill flip="none" rotWithShape="1">
            <a:gsLst>
              <a:gs pos="0">
                <a:srgbClr val="B3D4FE">
                  <a:alpha val="0"/>
                </a:srgbClr>
              </a:gs>
              <a:gs pos="100000">
                <a:srgbClr val="B3D4FE"/>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74" name="紫荆的职场Point28-2"/>
          <p:cNvSpPr txBox="1"/>
          <p:nvPr/>
        </p:nvSpPr>
        <p:spPr>
          <a:xfrm>
            <a:off x="10412351" y="2587097"/>
            <a:ext cx="546134" cy="309133"/>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1" i="0" u="none" strike="noStrike" kern="1200" cap="none" spc="0" normalizeH="0" baseline="0" noProof="0">
                <a:ln>
                  <a:noFill/>
                </a:ln>
                <a:solidFill>
                  <a:srgbClr val="FFFFFF"/>
                </a:solidFill>
                <a:effectLst/>
                <a:uLnTx/>
                <a:uFillTx/>
                <a:latin typeface="微软雅黑"/>
                <a:ea typeface="微软雅黑"/>
                <a:cs typeface="微软雅黑"/>
              </a:rPr>
              <a:t>用户</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75" name="紫荆的职场Point38-2"/>
          <p:cNvSpPr txBox="1"/>
          <p:nvPr/>
        </p:nvSpPr>
        <p:spPr>
          <a:xfrm>
            <a:off x="6704330" y="3841750"/>
            <a:ext cx="494665" cy="46355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a:ln>
                  <a:noFill/>
                </a:ln>
                <a:solidFill>
                  <a:srgbClr val="0042FF"/>
                </a:solidFill>
                <a:effectLst/>
                <a:uLnTx/>
                <a:uFillTx/>
                <a:latin typeface="微软雅黑"/>
                <a:ea typeface="微软雅黑"/>
                <a:cs typeface="微软雅黑"/>
              </a:rPr>
              <a:t>一级</a:t>
            </a:r>
            <a:endParaRPr kumimoji="0" lang="zh-CN" altLang="en-US" sz="1200" b="1" i="0" u="none" strike="noStrike" kern="1200" cap="none" spc="0" normalizeH="0" baseline="0" noProof="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a:ln>
                  <a:noFill/>
                </a:ln>
                <a:solidFill>
                  <a:srgbClr val="0042FF"/>
                </a:solidFill>
                <a:effectLst/>
                <a:uLnTx/>
                <a:uFillTx/>
                <a:latin typeface="微软雅黑"/>
                <a:ea typeface="微软雅黑"/>
                <a:cs typeface="微软雅黑"/>
              </a:rPr>
              <a:t>经销</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76" name="紫荆的职场Point39-2"/>
          <p:cNvSpPr txBox="1"/>
          <p:nvPr/>
        </p:nvSpPr>
        <p:spPr>
          <a:xfrm>
            <a:off x="7520305" y="3841750"/>
            <a:ext cx="494665" cy="46355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二级</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经销</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78" name="紫荆的职场Point36-2"/>
          <p:cNvSpPr txBox="1"/>
          <p:nvPr/>
        </p:nvSpPr>
        <p:spPr>
          <a:xfrm>
            <a:off x="8594090" y="5455285"/>
            <a:ext cx="1244600" cy="46355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数字门店</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自有</a:t>
            </a:r>
            <a:r>
              <a:rPr kumimoji="0" lang="en-US" altLang="zh-CN" sz="1200" b="1" i="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加盟</a:t>
            </a:r>
            <a:r>
              <a:rPr kumimoji="0" lang="en-US" altLang="zh-CN" sz="1200" b="1" i="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合作</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79" name="紫荆的职场Point44-2"/>
          <p:cNvSpPr txBox="1"/>
          <p:nvPr/>
        </p:nvSpPr>
        <p:spPr>
          <a:xfrm>
            <a:off x="6746240" y="4709160"/>
            <a:ext cx="410845" cy="27813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200" b="1" i="0" u="none" strike="noStrike" kern="1200" cap="none" spc="0" normalizeH="0" baseline="0" noProof="0">
                <a:ln>
                  <a:noFill/>
                </a:ln>
                <a:solidFill>
                  <a:srgbClr val="0042FF"/>
                </a:solidFill>
                <a:effectLst/>
                <a:uLnTx/>
                <a:uFillTx/>
                <a:latin typeface="微软雅黑"/>
                <a:ea typeface="微软雅黑"/>
                <a:cs typeface="微软雅黑"/>
              </a:rPr>
              <a:t>KA</a:t>
            </a:r>
            <a:endParaRPr kumimoji="0" lang="en-US" altLang="zh-CN"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0" name="紫荆的职场Point46-2"/>
          <p:cNvSpPr txBox="1"/>
          <p:nvPr/>
        </p:nvSpPr>
        <p:spPr>
          <a:xfrm>
            <a:off x="8795385" y="4709160"/>
            <a:ext cx="494665" cy="27813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a:ln>
                  <a:noFill/>
                </a:ln>
                <a:solidFill>
                  <a:srgbClr val="0042FF"/>
                </a:solidFill>
                <a:effectLst/>
                <a:uLnTx/>
                <a:uFillTx/>
                <a:latin typeface="微软雅黑"/>
                <a:ea typeface="微软雅黑"/>
                <a:cs typeface="微软雅黑"/>
              </a:rPr>
              <a:t>门店</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7" name="紫荆的职场Point40-2"/>
          <p:cNvSpPr txBox="1"/>
          <p:nvPr/>
        </p:nvSpPr>
        <p:spPr>
          <a:xfrm>
            <a:off x="8795385" y="3934460"/>
            <a:ext cx="494665" cy="278130"/>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门店</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会员运营管理流程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9" name="圆角矩形 28"/>
          <p:cNvSpPr/>
          <p:nvPr/>
        </p:nvSpPr>
        <p:spPr bwMode="auto">
          <a:xfrm>
            <a:off x="946150" y="1858645"/>
            <a:ext cx="10299700" cy="3926205"/>
          </a:xfrm>
          <a:prstGeom prst="roundRect">
            <a:avLst>
              <a:gd name="adj" fmla="val 1499"/>
            </a:avLst>
          </a:prstGeom>
          <a:solidFill>
            <a:srgbClr val="E6E6E6">
              <a:alpha val="20000"/>
            </a:srgbClr>
          </a:solidFill>
          <a:ln w="19050" cap="flat" cmpd="sng" algn="ctr">
            <a:solidFill>
              <a:srgbClr val="3368FF">
                <a:alpha val="70000"/>
              </a:srgbClr>
            </a:solidFill>
            <a:prstDash val="solid"/>
            <a:round/>
            <a:headEnd type="none" w="med" len="med"/>
            <a:tailEnd type="none" w="med" len="med"/>
          </a:ln>
          <a:effectLst/>
        </p:spPr>
        <p:txBody>
          <a:bodyPr wrap="none" anchor="ctr" lIns="0" rIns="0" tIns="0" bIns="0"/>
          <a:lstStyle/>
          <a:p>
            <a:pPr algn="ctr" eaLnBrk="0" hangingPunct="0">
              <a:lnSpc>
                <a:spcPts val="3350"/>
              </a:lnSpc>
              <a:defRPr>
                <a:latin typeface="微软雅黑"/>
                <a:ea typeface="微软雅黑"/>
                <a:cs typeface="微软雅黑"/>
              </a:defRPr>
            </a:pPr>
            <a:endParaRPr lang="zh-CN" altLang="en-US">
              <a:latin typeface="微软雅黑"/>
              <a:ea typeface="微软雅黑"/>
              <a:cs typeface="微软雅黑"/>
            </a:endParaRPr>
          </a:p>
        </p:txBody>
      </p:sp>
      <p:grpSp>
        <p:nvGrpSpPr>
          <p:cNvPr id="94" name="组合 93"/>
          <p:cNvGrpSpPr/>
          <p:nvPr/>
        </p:nvGrpSpPr>
        <p:grpSpPr>
          <a:xfrm>
            <a:off x="7794625" y="4380391"/>
            <a:ext cx="530051" cy="578959"/>
            <a:chOff x="518443" y="3109316"/>
            <a:chExt cx="635000" cy="696384"/>
          </a:xfrm>
          <a:solidFill>
            <a:srgbClr val="3368FF"/>
          </a:solidFill>
        </p:grpSpPr>
        <p:sp>
          <p:nvSpPr>
            <p:cNvPr id="66" name="矩形 2"/>
            <p:cNvSpPr>
              <a:spLocks noChangeArrowheads="1"/>
            </p:cNvSpPr>
            <p:nvPr/>
          </p:nvSpPr>
          <p:spPr bwMode="auto">
            <a:xfrm>
              <a:off x="518443" y="3109316"/>
              <a:ext cx="635000" cy="309765"/>
            </a:xfrm>
            <a:prstGeom prst="rect">
              <a:avLst/>
            </a:prstGeom>
            <a:grpFill/>
            <a:ln>
              <a:noFill/>
            </a:ln>
            <a:extLst>
              <a:ext uri="{91240B29-F687-4F45-9708-019B960494DF}">
                <a14:hiddenLine xmlns:a14="http://schemas.microsoft.com/office/drawing/2010/main" w="9525">
                  <a:solidFill>
                    <a:srgbClr val="383838"/>
                  </a:solidFill>
                  <a:round/>
                </a14:hiddenLine>
              </a:ext>
            </a:extLst>
          </p:spPr>
          <p:txBody>
            <a:bodyPr lIns="0" rIns="0" anchor="ctr" tIns="0" bIns="0" wrap="square">
              <a:noAutofit/>
            </a:bodyPr>
            <a:lstStyle/>
            <a:p>
              <a:pPr algn="ctr" eaLnBrk="0" hangingPunct="0">
                <a:defRPr>
                  <a:solidFill>
                    <a:srgbClr val="FFFFFF"/>
                  </a:solidFill>
                  <a:latin typeface="微软雅黑"/>
                  <a:ea typeface="微软雅黑"/>
                  <a:cs typeface="微软雅黑"/>
                </a:defRPr>
                <a:lnSpc>
                  <a:spcPts val="1120"/>
                </a:lnSpc>
                <a:spcBef>
                  <a:spcPts val="0"/>
                </a:spcBef>
                <a:spcAft>
                  <a:spcPts val="0"/>
                </a:spcAft>
              </a:pPr>
              <a:r>
                <a:rPr lang="zh-CN" sz="1000" b="0" dirty="0">
                  <a:solidFill>
                    <a:srgbClr val="FFFFFF"/>
                  </a:solidFill>
                  <a:latin typeface="微软雅黑"/>
                  <a:ea typeface="微软雅黑"/>
                  <a:cs typeface="微软雅黑"/>
                </a:rPr>
                <a:t>集团</a:t>
              </a:r>
              <a:endParaRPr lang="zh-CN" sz="1000" b="0" dirty="0">
                <a:solidFill>
                  <a:srgbClr val="FFFFFF"/>
                </a:solidFill>
                <a:latin typeface="微软雅黑"/>
                <a:ea typeface="微软雅黑"/>
                <a:cs typeface="微软雅黑"/>
              </a:endParaRPr>
            </a:p>
          </p:txBody>
        </p:sp>
        <p:sp>
          <p:nvSpPr>
            <p:cNvPr id="67" name="矩形 44"/>
            <p:cNvSpPr>
              <a:spLocks noChangeArrowheads="1"/>
            </p:cNvSpPr>
            <p:nvPr/>
          </p:nvSpPr>
          <p:spPr bwMode="auto">
            <a:xfrm>
              <a:off x="518443" y="3496736"/>
              <a:ext cx="635000" cy="308964"/>
            </a:xfrm>
            <a:prstGeom prst="rect">
              <a:avLst/>
            </a:prstGeom>
            <a:grpFill/>
            <a:ln>
              <a:noFill/>
            </a:ln>
            <a:extLst>
              <a:ext uri="{91240B29-F687-4F45-9708-019B960494DF}">
                <a14:hiddenLine xmlns:a14="http://schemas.microsoft.com/office/drawing/2010/main" w="9525">
                  <a:solidFill>
                    <a:srgbClr val="383838"/>
                  </a:solidFill>
                  <a:round/>
                </a14:hiddenLine>
              </a:ext>
            </a:extLst>
          </p:spPr>
          <p:txBody>
            <a:bodyPr lIns="0" rIns="0" anchor="ctr" tIns="0" bIns="0" wrap="square">
              <a:noAutofit/>
            </a:bodyPr>
            <a:lstStyle/>
            <a:p>
              <a:pPr algn="ctr" eaLnBrk="0" hangingPunct="0">
                <a:defRPr>
                  <a:solidFill>
                    <a:srgbClr val="FFFFFF"/>
                  </a:solidFill>
                  <a:latin typeface="微软雅黑"/>
                  <a:ea typeface="微软雅黑"/>
                  <a:cs typeface="微软雅黑"/>
                </a:defRPr>
                <a:lnSpc>
                  <a:spcPts val="1120"/>
                </a:lnSpc>
                <a:spcBef>
                  <a:spcPts val="0"/>
                </a:spcBef>
                <a:spcAft>
                  <a:spcPts val="0"/>
                </a:spcAft>
              </a:pPr>
              <a:r>
                <a:rPr lang="zh-CN" altLang="en-US" sz="1000" b="0" dirty="0">
                  <a:solidFill>
                    <a:srgbClr val="FFFFFF"/>
                  </a:solidFill>
                  <a:latin typeface="微软雅黑"/>
                  <a:ea typeface="微软雅黑"/>
                  <a:cs typeface="微软雅黑"/>
                </a:rPr>
                <a:t>子公司</a:t>
              </a:r>
              <a:endParaRPr lang="zh-CN" altLang="en-US" sz="1000" b="0" dirty="0">
                <a:solidFill>
                  <a:srgbClr val="FFFFFF"/>
                </a:solidFill>
                <a:latin typeface="微软雅黑"/>
                <a:ea typeface="微软雅黑"/>
                <a:cs typeface="微软雅黑"/>
              </a:endParaRPr>
            </a:p>
          </p:txBody>
        </p:sp>
      </p:grpSp>
      <p:cxnSp>
        <p:nvCxnSpPr>
          <p:cNvPr id="74" name="肘形连接符 73"/>
          <p:cNvCxnSpPr>
            <a:stCxn id="96" idx="1"/>
          </p:cNvCxnSpPr>
          <p:nvPr/>
        </p:nvCxnSpPr>
        <p:spPr bwMode="auto">
          <a:xfrm rot="10800000" flipV="1">
            <a:off x="4923155" y="3168650"/>
            <a:ext cx="954405" cy="7620"/>
          </a:xfrm>
          <a:prstGeom prst="bentConnector3">
            <a:avLst>
              <a:gd name="adj1" fmla="val 49967"/>
            </a:avLst>
          </a:prstGeom>
          <a:solidFill>
            <a:srgbClr val="FFFFFF"/>
          </a:solidFill>
          <a:ln w="19050" cap="flat" cmpd="sng" algn="ctr">
            <a:solidFill>
              <a:srgbClr val="DCDCDC"/>
            </a:solidFill>
            <a:prstDash val="solid"/>
            <a:round/>
            <a:headEnd type="triangl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sp>
        <p:nvSpPr>
          <p:cNvPr id="96" name="TextBox 95"/>
          <p:cNvSpPr txBox="1"/>
          <p:nvPr/>
        </p:nvSpPr>
        <p:spPr>
          <a:xfrm>
            <a:off x="5878195" y="3003407"/>
            <a:ext cx="1638935" cy="331121"/>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numCol="1" spcCol="0" rtlCol="0" fromWordArt="0" anchor="ctr" anchorCtr="0" forceAA="0" compatLnSpc="1" lIns="0" rIns="0" tIns="0" bIns="0">
            <a:spAutoFit/>
          </a:bodyPr>
          <a:lstStyle/>
          <a:p>
            <a:pPr lvl="0" algn="ctr">
              <a:buClrTx/>
              <a:buSzTx/>
              <a:buFontTx/>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sym typeface="微软雅黑"/>
              </a:rPr>
              <a:t>车主维系与关怀</a:t>
            </a:r>
            <a:endParaRPr lang="zh-CN" altLang="en-US" sz="1400" dirty="0">
              <a:solidFill>
                <a:srgbClr val="FFFFFF"/>
              </a:solidFill>
              <a:latin typeface="微软雅黑"/>
              <a:ea typeface="微软雅黑"/>
              <a:cs typeface="微软雅黑"/>
              <a:sym typeface="微软雅黑"/>
            </a:endParaRPr>
          </a:p>
        </p:txBody>
      </p:sp>
      <p:sp>
        <p:nvSpPr>
          <p:cNvPr id="98" name="TextBox 97"/>
          <p:cNvSpPr txBox="1"/>
          <p:nvPr/>
        </p:nvSpPr>
        <p:spPr>
          <a:xfrm>
            <a:off x="5878195" y="3382010"/>
            <a:ext cx="1638935"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buNone/>
              <a:defRPr>
                <a:latin typeface="微软雅黑"/>
                <a:ea typeface="微软雅黑"/>
                <a:cs typeface="微软雅黑"/>
              </a:defRPr>
            </a:pPr>
            <a:r>
              <a:rPr lang="zh-CN" altLang="en-US" sz="1000" dirty="0">
                <a:solidFill>
                  <a:srgbClr val="383838"/>
                </a:solidFill>
                <a:latin typeface="微软雅黑"/>
                <a:ea typeface="微软雅黑"/>
                <a:cs typeface="微软雅黑"/>
              </a:rPr>
              <a:t>客户关怀服务提醒</a:t>
            </a:r>
            <a:endParaRPr lang="zh-CN" altLang="en-US" sz="1000" dirty="0">
              <a:solidFill>
                <a:srgbClr val="383838"/>
              </a:solidFill>
              <a:latin typeface="微软雅黑"/>
              <a:ea typeface="微软雅黑"/>
              <a:cs typeface="微软雅黑"/>
            </a:endParaRPr>
          </a:p>
        </p:txBody>
      </p:sp>
      <p:sp>
        <p:nvSpPr>
          <p:cNvPr id="99" name="TextBox 98"/>
          <p:cNvSpPr txBox="1"/>
          <p:nvPr/>
        </p:nvSpPr>
        <p:spPr>
          <a:xfrm>
            <a:off x="5878195" y="3674110"/>
            <a:ext cx="1638935"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buNone/>
              <a:defRPr>
                <a:latin typeface="微软雅黑"/>
                <a:ea typeface="微软雅黑"/>
                <a:cs typeface="微软雅黑"/>
              </a:defRPr>
            </a:pPr>
            <a:r>
              <a:rPr lang="zh-CN" altLang="en-US" sz="1000" dirty="0">
                <a:solidFill>
                  <a:srgbClr val="383838"/>
                </a:solidFill>
                <a:latin typeface="微软雅黑"/>
                <a:ea typeface="微软雅黑"/>
                <a:cs typeface="微软雅黑"/>
              </a:rPr>
              <a:t>客户投诉</a:t>
            </a:r>
            <a:endParaRPr lang="zh-CN" altLang="en-US" sz="1000" dirty="0">
              <a:solidFill>
                <a:srgbClr val="383838"/>
              </a:solidFill>
              <a:latin typeface="微软雅黑"/>
              <a:ea typeface="微软雅黑"/>
              <a:cs typeface="微软雅黑"/>
            </a:endParaRPr>
          </a:p>
        </p:txBody>
      </p:sp>
      <p:sp>
        <p:nvSpPr>
          <p:cNvPr id="100" name="TextBox 99"/>
          <p:cNvSpPr txBox="1"/>
          <p:nvPr/>
        </p:nvSpPr>
        <p:spPr>
          <a:xfrm>
            <a:off x="5878195" y="3955415"/>
            <a:ext cx="1638935"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buNone/>
              <a:defRPr>
                <a:latin typeface="微软雅黑"/>
                <a:ea typeface="微软雅黑"/>
                <a:cs typeface="微软雅黑"/>
              </a:defRPr>
            </a:pPr>
            <a:r>
              <a:rPr lang="zh-CN" altLang="en-US" sz="1000" dirty="0">
                <a:solidFill>
                  <a:srgbClr val="383838"/>
                </a:solidFill>
                <a:latin typeface="微软雅黑"/>
                <a:ea typeface="微软雅黑"/>
                <a:cs typeface="微软雅黑"/>
              </a:rPr>
              <a:t>会员信息提醒</a:t>
            </a:r>
            <a:endParaRPr lang="zh-CN" altLang="en-US" sz="1000" dirty="0">
              <a:solidFill>
                <a:srgbClr val="383838"/>
              </a:solidFill>
              <a:latin typeface="微软雅黑"/>
              <a:ea typeface="微软雅黑"/>
              <a:cs typeface="微软雅黑"/>
            </a:endParaRPr>
          </a:p>
        </p:txBody>
      </p:sp>
      <p:sp>
        <p:nvSpPr>
          <p:cNvPr id="101" name="TextBox 100"/>
          <p:cNvSpPr txBox="1"/>
          <p:nvPr/>
        </p:nvSpPr>
        <p:spPr>
          <a:xfrm>
            <a:off x="5878195" y="4239895"/>
            <a:ext cx="1638935"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buNone/>
              <a:defRPr>
                <a:latin typeface="微软雅黑"/>
                <a:ea typeface="微软雅黑"/>
                <a:cs typeface="微软雅黑"/>
              </a:defRPr>
            </a:pPr>
            <a:r>
              <a:rPr lang="zh-CN" altLang="en-US" sz="1000" dirty="0">
                <a:solidFill>
                  <a:srgbClr val="383838"/>
                </a:solidFill>
                <a:latin typeface="微软雅黑"/>
                <a:ea typeface="微软雅黑"/>
                <a:cs typeface="微软雅黑"/>
              </a:rPr>
              <a:t>奖励品管理与信息发布</a:t>
            </a:r>
            <a:endParaRPr lang="zh-CN" altLang="en-US" sz="1000" dirty="0">
              <a:solidFill>
                <a:srgbClr val="383838"/>
              </a:solidFill>
              <a:latin typeface="微软雅黑"/>
              <a:ea typeface="微软雅黑"/>
              <a:cs typeface="微软雅黑"/>
            </a:endParaRPr>
          </a:p>
        </p:txBody>
      </p:sp>
      <p:sp>
        <p:nvSpPr>
          <p:cNvPr id="102" name="TextBox 101"/>
          <p:cNvSpPr txBox="1"/>
          <p:nvPr/>
        </p:nvSpPr>
        <p:spPr>
          <a:xfrm>
            <a:off x="5871845" y="4523740"/>
            <a:ext cx="1638935" cy="249555"/>
          </a:xfrm>
          <a:prstGeom prst="roundRect">
            <a:avLst>
              <a:gd name="adj" fmla="val 12588"/>
            </a:avLst>
          </a:prstGeom>
          <a:solidFill>
            <a:srgbClr val="3368FF"/>
          </a:solidFill>
          <a:ln>
            <a:no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solidFill>
                  <a:srgbClr val="FFFFFF"/>
                </a:solidFill>
                <a:latin typeface="微软雅黑"/>
                <a:ea typeface="微软雅黑"/>
                <a:cs typeface="微软雅黑"/>
              </a:defRPr>
            </a:defPPr>
            <a:lvl1pPr marL="266700" indent="-174625" defTabSz="779780">
              <a:buSzPct val="100000"/>
              <a:buFont typeface="微软雅黑"/>
              <a:buChar char="▶"/>
              <a:defRPr sz="1200" b="0" kern="0">
                <a:solidFill>
                  <a:srgbClr val="FFFFFF"/>
                </a:solidFill>
                <a:latin typeface="微软雅黑"/>
                <a:ea typeface="微软雅黑"/>
                <a:cs typeface="微软雅黑"/>
              </a:defRPr>
            </a:lvl1pPr>
          </a:lstStyle>
          <a:p>
            <a:pPr marL="92075" indent="0">
              <a:buNone/>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营销服务类活动</a:t>
            </a:r>
            <a:endParaRPr lang="zh-CN" altLang="en-US" sz="1000" dirty="0">
              <a:solidFill>
                <a:srgbClr val="FFFFFF"/>
              </a:solidFill>
              <a:latin typeface="微软雅黑"/>
              <a:ea typeface="微软雅黑"/>
              <a:cs typeface="微软雅黑"/>
            </a:endParaRPr>
          </a:p>
        </p:txBody>
      </p:sp>
      <p:sp>
        <p:nvSpPr>
          <p:cNvPr id="111" name="TextBox 110"/>
          <p:cNvSpPr txBox="1"/>
          <p:nvPr/>
        </p:nvSpPr>
        <p:spPr>
          <a:xfrm>
            <a:off x="5871845" y="4808220"/>
            <a:ext cx="1638935"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buNone/>
              <a:defRPr>
                <a:latin typeface="微软雅黑"/>
                <a:ea typeface="微软雅黑"/>
                <a:cs typeface="微软雅黑"/>
              </a:defRPr>
            </a:pPr>
            <a:r>
              <a:rPr lang="zh-CN" altLang="en-US" sz="1000" dirty="0">
                <a:solidFill>
                  <a:srgbClr val="383838"/>
                </a:solidFill>
                <a:latin typeface="微软雅黑"/>
                <a:ea typeface="微软雅黑"/>
                <a:cs typeface="微软雅黑"/>
              </a:rPr>
              <a:t>产品、服务优势教育</a:t>
            </a:r>
            <a:endParaRPr lang="zh-CN" altLang="en-US" sz="1000" dirty="0">
              <a:solidFill>
                <a:srgbClr val="383838"/>
              </a:solidFill>
              <a:latin typeface="微软雅黑"/>
              <a:ea typeface="微软雅黑"/>
              <a:cs typeface="微软雅黑"/>
            </a:endParaRPr>
          </a:p>
        </p:txBody>
      </p:sp>
      <p:sp>
        <p:nvSpPr>
          <p:cNvPr id="115" name="TextBox 114"/>
          <p:cNvSpPr txBox="1"/>
          <p:nvPr/>
        </p:nvSpPr>
        <p:spPr>
          <a:xfrm>
            <a:off x="1226820" y="2750042"/>
            <a:ext cx="1541780" cy="331121"/>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numCol="1" spcCol="0" rtlCol="0" fromWordArt="0" anchor="ctr" anchorCtr="0" forceAA="0" compatLnSpc="1" lIns="0" rIns="0" tIns="0" bIns="0">
            <a:spAutoFit/>
          </a:bodyPr>
          <a:lstStyle/>
          <a:p>
            <a:pPr lvl="0" algn="ctr">
              <a:buClrTx/>
              <a:buSzTx/>
              <a:buFontTx/>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sym typeface="微软雅黑"/>
              </a:rPr>
              <a:t>存量客户</a:t>
            </a:r>
            <a:endParaRPr lang="zh-CN" altLang="en-US" sz="1400" dirty="0">
              <a:solidFill>
                <a:srgbClr val="FFFFFF"/>
              </a:solidFill>
              <a:latin typeface="微软雅黑"/>
              <a:ea typeface="微软雅黑"/>
              <a:cs typeface="微软雅黑"/>
              <a:sym typeface="微软雅黑"/>
            </a:endParaRPr>
          </a:p>
        </p:txBody>
      </p:sp>
      <p:sp>
        <p:nvSpPr>
          <p:cNvPr id="116" name="Freeform 3"/>
          <p:cNvSpPr/>
          <p:nvPr/>
        </p:nvSpPr>
        <p:spPr>
          <a:xfrm>
            <a:off x="7592060" y="4511675"/>
            <a:ext cx="127635" cy="325755"/>
          </a:xfrm>
          <a:custGeom>
            <a:avLst/>
            <a:gdLst>
              <a:gd name="connsiteX0" fmla="*/ 569912 w 584199"/>
              <a:gd name="connsiteY0" fmla="*/ 1757870 h 1772157"/>
              <a:gd name="connsiteX1" fmla="*/ 292163 w 584199"/>
              <a:gd name="connsiteY1" fmla="*/ 1406842 h 1772157"/>
              <a:gd name="connsiteX2" fmla="*/ 292163 w 584199"/>
              <a:gd name="connsiteY2" fmla="*/ 1237170 h 1772157"/>
              <a:gd name="connsiteX3" fmla="*/ 14287 w 584199"/>
              <a:gd name="connsiteY3" fmla="*/ 886142 h 1772157"/>
              <a:gd name="connsiteX4" fmla="*/ 292163 w 584199"/>
              <a:gd name="connsiteY4" fmla="*/ 534987 h 1772157"/>
              <a:gd name="connsiteX5" fmla="*/ 292163 w 584199"/>
              <a:gd name="connsiteY5" fmla="*/ 365442 h 1772157"/>
              <a:gd name="connsiteX6" fmla="*/ 569912 w 584199"/>
              <a:gd name="connsiteY6" fmla="*/ 14287 h 1772157"/>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Lst>
            <a:rect l="l" t="t" r="r" b="b"/>
            <a:pathLst>
              <a:path w="584199" h="1772157">
                <a:moveTo>
                  <a:pt x="569912" y="1757870"/>
                </a:moveTo>
                <a:cubicBezTo>
                  <a:pt x="416496" y="1757870"/>
                  <a:pt x="292163" y="1600771"/>
                  <a:pt x="292163" y="1406842"/>
                </a:cubicBezTo>
                <a:lnTo>
                  <a:pt x="292163" y="1237170"/>
                </a:lnTo>
                <a:cubicBezTo>
                  <a:pt x="292163" y="1043241"/>
                  <a:pt x="167703" y="886142"/>
                  <a:pt x="14287" y="886142"/>
                </a:cubicBezTo>
                <a:cubicBezTo>
                  <a:pt x="167703" y="886142"/>
                  <a:pt x="292163" y="728916"/>
                  <a:pt x="292163" y="534987"/>
                </a:cubicBezTo>
                <a:lnTo>
                  <a:pt x="292163" y="365442"/>
                </a:lnTo>
                <a:cubicBezTo>
                  <a:pt x="292163" y="171513"/>
                  <a:pt x="416496" y="14287"/>
                  <a:pt x="569912" y="14287"/>
                </a:cubicBezTo>
              </a:path>
            </a:pathLst>
          </a:custGeom>
          <a:ln w="25400">
            <a:solidFill>
              <a:srgbClr val="3368FF"/>
            </a:solidFill>
            <a:prstDash val="solid"/>
          </a:ln>
        </p:spPr>
        <p:style>
          <a:lnRef idx="1">
            <a:srgbClr val="0042FF"/>
          </a:lnRef>
          <a:fillRef idx="0">
            <a:srgbClr val="0042FF"/>
          </a:fillRef>
          <a:effectRef idx="0">
            <a:srgbClr val="0042FF"/>
          </a:effectRef>
          <a:fontRef idx="minor">
            <a:srgbClr val="383838"/>
          </a:fontRef>
        </p:style>
        <p:txBody>
          <a:bodyPr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cxnSp>
        <p:nvCxnSpPr>
          <p:cNvPr id="118" name="肘形连接符 117"/>
          <p:cNvCxnSpPr/>
          <p:nvPr/>
        </p:nvCxnSpPr>
        <p:spPr bwMode="auto">
          <a:xfrm flipH="1">
            <a:off x="2768600" y="2912745"/>
            <a:ext cx="918210" cy="0"/>
          </a:xfrm>
          <a:prstGeom prst="straightConnector1">
            <a:avLst/>
          </a:prstGeom>
          <a:solidFill>
            <a:srgbClr val="FFFFFF"/>
          </a:solidFill>
          <a:ln w="19050" cap="flat" cmpd="sng" algn="ctr">
            <a:solidFill>
              <a:srgbClr val="DCDCDC"/>
            </a:solidFill>
            <a:prstDash val="solid"/>
            <a:round/>
            <a:headEnd type="triangle" w="med" len="med"/>
            <a:tailEnd type="non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sp>
        <p:nvSpPr>
          <p:cNvPr id="131" name="TextBox 130"/>
          <p:cNvSpPr txBox="1"/>
          <p:nvPr/>
        </p:nvSpPr>
        <p:spPr>
          <a:xfrm>
            <a:off x="5871845" y="2520315"/>
            <a:ext cx="1100455" cy="214630"/>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vertOverflow="overflow" horzOverflow="overflow" vert="horz" wrap="square" lIns="0" rIns="0" numCol="1" spcCol="0" rtlCol="0" fromWordArt="0" anchor="ctr" anchorCtr="0" forceAA="0" compatLnSpc="1" tIns="0" bIns="0">
            <a:noAutofit/>
          </a:bodyPr>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lvl="0" algn="ctr">
              <a:buClrTx/>
              <a:buNone/>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沟通接触点管理</a:t>
            </a:r>
            <a:endParaRPr lang="zh-CN" altLang="en-US" sz="1000" dirty="0">
              <a:solidFill>
                <a:srgbClr val="383838"/>
              </a:solidFill>
              <a:latin typeface="微软雅黑"/>
              <a:ea typeface="微软雅黑"/>
              <a:cs typeface="微软雅黑"/>
              <a:sym typeface="微软雅黑"/>
            </a:endParaRPr>
          </a:p>
        </p:txBody>
      </p:sp>
      <p:sp>
        <p:nvSpPr>
          <p:cNvPr id="132" name="TextBox 131"/>
          <p:cNvSpPr txBox="1"/>
          <p:nvPr/>
        </p:nvSpPr>
        <p:spPr>
          <a:xfrm>
            <a:off x="1885315" y="2073910"/>
            <a:ext cx="1541780" cy="332105"/>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wrap="square" lIns="0" rIns="0" tIns="0" bIns="0">
            <a:spAutoFit/>
          </a:bodyPr>
          <a:lstStyle/>
          <a:p>
            <a:pPr algn="ctr">
              <a:defRPr>
                <a:solidFill>
                  <a:srgbClr val="FFFFFF"/>
                </a:solidFill>
                <a:latin typeface="微软雅黑"/>
                <a:ea typeface="微软雅黑"/>
                <a:cs typeface="微软雅黑"/>
              </a:defRPr>
            </a:pPr>
            <a:r>
              <a:rPr lang="zh-CN" altLang="en-US" sz="1400" b="0" dirty="0">
                <a:solidFill>
                  <a:srgbClr val="FFFFFF"/>
                </a:solidFill>
                <a:latin typeface="微软雅黑"/>
                <a:ea typeface="微软雅黑"/>
                <a:cs typeface="微软雅黑"/>
              </a:rPr>
              <a:t>增量客户</a:t>
            </a:r>
            <a:endParaRPr lang="zh-CN" altLang="en-US" sz="1400" b="0" dirty="0">
              <a:solidFill>
                <a:srgbClr val="FFFFFF"/>
              </a:solidFill>
              <a:latin typeface="微软雅黑"/>
              <a:ea typeface="微软雅黑"/>
              <a:cs typeface="微软雅黑"/>
            </a:endParaRPr>
          </a:p>
        </p:txBody>
      </p:sp>
      <p:cxnSp>
        <p:nvCxnSpPr>
          <p:cNvPr id="133" name="肘形连接符 132"/>
          <p:cNvCxnSpPr>
            <a:stCxn id="95" idx="0"/>
          </p:cNvCxnSpPr>
          <p:nvPr/>
        </p:nvCxnSpPr>
        <p:spPr bwMode="auto">
          <a:xfrm rot="16200000" flipV="1">
            <a:off x="3585210" y="2074545"/>
            <a:ext cx="567055" cy="873760"/>
          </a:xfrm>
          <a:prstGeom prst="bentConnector2">
            <a:avLst/>
          </a:prstGeom>
          <a:solidFill>
            <a:srgbClr val="FFFFFF"/>
          </a:solidFill>
          <a:ln w="19050" cap="flat" cmpd="sng" algn="ctr">
            <a:solidFill>
              <a:srgbClr val="DCDCDC"/>
            </a:solidFill>
            <a:prstDash val="solid"/>
            <a:round/>
            <a:headEnd type="triangle" w="med" len="med"/>
            <a:tailEnd type="non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sp>
        <p:nvSpPr>
          <p:cNvPr id="137" name="流程图: 联系 116"/>
          <p:cNvSpPr>
            <a:spLocks noChangeArrowheads="1"/>
          </p:cNvSpPr>
          <p:nvPr/>
        </p:nvSpPr>
        <p:spPr bwMode="auto">
          <a:xfrm>
            <a:off x="5815965" y="3328035"/>
            <a:ext cx="123825" cy="129540"/>
          </a:xfrm>
          <a:prstGeom prst="flowChartConnector">
            <a:avLst/>
          </a:prstGeom>
          <a:solidFill>
            <a:srgbClr val="DCDCDC"/>
          </a:solidFill>
          <a:ln w="9525" algn="ctr">
            <a:solidFill>
              <a:srgbClr val="FFFFFF"/>
            </a:solidFill>
            <a:round/>
          </a:ln>
        </p:spPr>
        <p:txBody>
          <a:bodyPr lIns="0" tIns="0" rIns="0" bIns="0"/>
          <a:lstStyle/>
          <a:p>
            <a:pPr defTabSz="675005">
              <a:defRPr>
                <a:latin typeface="微软雅黑"/>
                <a:ea typeface="微软雅黑"/>
                <a:cs typeface="微软雅黑"/>
              </a:defRPr>
            </a:pPr>
            <a:endParaRPr lang="zh-CN" altLang="en-US" sz="1000" b="0" dirty="0">
              <a:solidFill>
                <a:srgbClr val="383838"/>
              </a:solidFill>
              <a:latin typeface="微软雅黑"/>
              <a:ea typeface="微软雅黑"/>
              <a:cs typeface="微软雅黑"/>
              <a:sym typeface="微软雅黑"/>
            </a:endParaRPr>
          </a:p>
        </p:txBody>
      </p:sp>
      <p:sp>
        <p:nvSpPr>
          <p:cNvPr id="138" name="流程图: 联系 116"/>
          <p:cNvSpPr>
            <a:spLocks noChangeArrowheads="1"/>
          </p:cNvSpPr>
          <p:nvPr/>
        </p:nvSpPr>
        <p:spPr bwMode="auto">
          <a:xfrm>
            <a:off x="5815965" y="3628390"/>
            <a:ext cx="123825" cy="129540"/>
          </a:xfrm>
          <a:prstGeom prst="flowChartConnector">
            <a:avLst/>
          </a:prstGeom>
          <a:solidFill>
            <a:srgbClr val="DCDCDC"/>
          </a:solidFill>
          <a:ln w="9525" algn="ctr">
            <a:solidFill>
              <a:srgbClr val="FFFFFF"/>
            </a:solidFill>
            <a:round/>
          </a:ln>
        </p:spPr>
        <p:txBody>
          <a:bodyPr lIns="0" tIns="0" rIns="0" bIns="0"/>
          <a:lstStyle/>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139" name="流程图: 联系 116"/>
          <p:cNvSpPr>
            <a:spLocks noChangeArrowheads="1"/>
          </p:cNvSpPr>
          <p:nvPr/>
        </p:nvSpPr>
        <p:spPr bwMode="auto">
          <a:xfrm>
            <a:off x="5815965" y="3916045"/>
            <a:ext cx="123825" cy="129540"/>
          </a:xfrm>
          <a:prstGeom prst="flowChartConnector">
            <a:avLst/>
          </a:prstGeom>
          <a:solidFill>
            <a:srgbClr val="DCDCDC"/>
          </a:solidFill>
          <a:ln w="9525" algn="ctr">
            <a:solidFill>
              <a:srgbClr val="FFFFFF"/>
            </a:solidFill>
            <a:round/>
          </a:ln>
        </p:spPr>
        <p:txBody>
          <a:bodyPr lIns="0" tIns="0" rIns="0" bIns="0"/>
          <a:lstStyle/>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140" name="流程图: 联系 116"/>
          <p:cNvSpPr>
            <a:spLocks noChangeArrowheads="1"/>
          </p:cNvSpPr>
          <p:nvPr/>
        </p:nvSpPr>
        <p:spPr bwMode="auto">
          <a:xfrm>
            <a:off x="5815965" y="4216400"/>
            <a:ext cx="123825" cy="129540"/>
          </a:xfrm>
          <a:prstGeom prst="flowChartConnector">
            <a:avLst/>
          </a:prstGeom>
          <a:solidFill>
            <a:srgbClr val="DCDCDC"/>
          </a:solidFill>
          <a:ln w="9525" algn="ctr">
            <a:solidFill>
              <a:srgbClr val="DCDCDC"/>
            </a:solidFill>
            <a:round/>
          </a:ln>
        </p:spPr>
        <p:txBody>
          <a:bodyPr lIns="0" tIns="0" rIns="0" bIns="0"/>
          <a:lstStyle/>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141" name="流程图: 联系 116"/>
          <p:cNvSpPr>
            <a:spLocks noChangeArrowheads="1"/>
          </p:cNvSpPr>
          <p:nvPr/>
        </p:nvSpPr>
        <p:spPr bwMode="auto">
          <a:xfrm>
            <a:off x="5815965" y="4472940"/>
            <a:ext cx="123825" cy="129540"/>
          </a:xfrm>
          <a:prstGeom prst="flowChartConnector">
            <a:avLst/>
          </a:prstGeom>
          <a:solidFill>
            <a:srgbClr val="B3D4FE"/>
          </a:solidFill>
          <a:ln w="9525" algn="ctr">
            <a:solidFill>
              <a:srgbClr val="FFFFFF"/>
            </a:solidFill>
            <a:round/>
          </a:ln>
        </p:spPr>
        <p:txBody>
          <a:bodyPr lIns="0" tIns="0" rIns="0" bIns="0"/>
          <a:lstStyle/>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142" name="流程图: 联系 116"/>
          <p:cNvSpPr>
            <a:spLocks noChangeArrowheads="1"/>
          </p:cNvSpPr>
          <p:nvPr/>
        </p:nvSpPr>
        <p:spPr bwMode="auto">
          <a:xfrm>
            <a:off x="5815965" y="4773295"/>
            <a:ext cx="123825" cy="129540"/>
          </a:xfrm>
          <a:prstGeom prst="flowChartConnector">
            <a:avLst/>
          </a:prstGeom>
          <a:solidFill>
            <a:srgbClr val="DCDCDC"/>
          </a:solidFill>
          <a:ln w="9525" algn="ctr">
            <a:solidFill>
              <a:srgbClr val="FFFFFF"/>
            </a:solidFill>
            <a:round/>
          </a:ln>
        </p:spPr>
        <p:txBody>
          <a:bodyPr lIns="0" tIns="0" rIns="0" bIns="0"/>
          <a:lstStyle/>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cxnSp>
        <p:nvCxnSpPr>
          <p:cNvPr id="143" name="肘形连接符 5"/>
          <p:cNvCxnSpPr>
            <a:cxnSpLocks noChangeShapeType="1"/>
            <a:stCxn id="142" idx="2"/>
            <a:endCxn id="131" idx="1"/>
          </p:cNvCxnSpPr>
          <p:nvPr/>
        </p:nvCxnSpPr>
        <p:spPr bwMode="auto">
          <a:xfrm rot="10800000" flipH="1">
            <a:off x="5815965" y="2626995"/>
            <a:ext cx="55880" cy="2210435"/>
          </a:xfrm>
          <a:prstGeom prst="bentConnector3">
            <a:avLst>
              <a:gd name="adj1" fmla="val -76136"/>
            </a:avLst>
          </a:prstGeom>
          <a:noFill/>
          <a:ln w="12700" algn="ctr">
            <a:solidFill>
              <a:srgbClr val="DCDCDC"/>
            </a:solidFill>
            <a:prstDash val="sysDot"/>
            <a:round/>
            <a:tailEnd type="triangle" w="sm" len="sm"/>
          </a:ln>
          <a:extLst>
            <a:ext uri="{909E8E84-426E-40DD-AFC4-6F175D3DCCD1}">
              <a14:hiddenFill xmlns:a14="http://schemas.microsoft.com/office/drawing/2010/main">
                <a:noFill/>
              </a14:hiddenFill>
            </a:ext>
          </a:extLst>
        </p:spPr>
      </p:cxnSp>
      <p:cxnSp>
        <p:nvCxnSpPr>
          <p:cNvPr id="149" name="肘形连接符 148"/>
          <p:cNvCxnSpPr>
            <a:stCxn id="111" idx="2"/>
            <a:endCxn id="95" idx="1"/>
          </p:cNvCxnSpPr>
          <p:nvPr/>
        </p:nvCxnSpPr>
        <p:spPr bwMode="auto">
          <a:xfrm rot="5400000" flipH="1">
            <a:off x="4248150" y="2614295"/>
            <a:ext cx="1881505" cy="3005455"/>
          </a:xfrm>
          <a:prstGeom prst="bentConnector4">
            <a:avLst>
              <a:gd name="adj1" fmla="val -12657"/>
              <a:gd name="adj2" fmla="val 107918"/>
            </a:avLst>
          </a:prstGeom>
          <a:solidFill>
            <a:srgbClr val="FFFFFF"/>
          </a:solidFill>
          <a:ln w="19050" cap="flat" cmpd="sng" algn="ctr">
            <a:solidFill>
              <a:srgbClr val="DCDCDC"/>
            </a:solidFill>
            <a:prstDash val="solid"/>
            <a:round/>
            <a:headEnd type="triangl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cxnSp>
        <p:nvCxnSpPr>
          <p:cNvPr id="24" name="肘形连接符 23"/>
          <p:cNvCxnSpPr>
            <a:stCxn id="25" idx="1"/>
            <a:endCxn id="6" idx="3"/>
          </p:cNvCxnSpPr>
          <p:nvPr/>
        </p:nvCxnSpPr>
        <p:spPr bwMode="auto">
          <a:xfrm rot="10800000" flipV="1">
            <a:off x="9515475" y="3386455"/>
            <a:ext cx="414655" cy="618490"/>
          </a:xfrm>
          <a:prstGeom prst="bentConnector3">
            <a:avLst>
              <a:gd name="adj1" fmla="val 49923"/>
            </a:avLst>
          </a:prstGeom>
          <a:solidFill>
            <a:srgbClr val="FFFFFF"/>
          </a:solidFill>
          <a:ln w="19050" cap="flat" cmpd="sng" algn="ctr">
            <a:solidFill>
              <a:srgbClr val="DCDCDC"/>
            </a:solidFill>
            <a:prstDash val="solid"/>
            <a:round/>
            <a:headEnd type="triangl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sp>
        <p:nvSpPr>
          <p:cNvPr id="25" name="TextBox 173"/>
          <p:cNvSpPr txBox="1"/>
          <p:nvPr/>
        </p:nvSpPr>
        <p:spPr>
          <a:xfrm>
            <a:off x="9930130" y="3220577"/>
            <a:ext cx="1191895" cy="331121"/>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numCol="1" spcCol="0" rtlCol="0" fromWordArt="0" anchor="ctr" anchorCtr="0" forceAA="0" compatLnSpc="1" lIns="0" rIns="0" tIns="0" bIns="0">
            <a:spAutoFit/>
          </a:bodyPr>
          <a:lstStyle/>
          <a:p>
            <a:pPr lvl="0" algn="ctr">
              <a:buClrTx/>
              <a:buSzTx/>
              <a:buFontTx/>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sym typeface="微软雅黑"/>
              </a:rPr>
              <a:t>异业联盟</a:t>
            </a:r>
            <a:endParaRPr lang="zh-CN" altLang="en-US" sz="1400" dirty="0">
              <a:solidFill>
                <a:srgbClr val="FFFFFF"/>
              </a:solidFill>
              <a:latin typeface="微软雅黑"/>
              <a:ea typeface="微软雅黑"/>
              <a:cs typeface="微软雅黑"/>
              <a:sym typeface="微软雅黑"/>
            </a:endParaRPr>
          </a:p>
        </p:txBody>
      </p:sp>
      <p:sp>
        <p:nvSpPr>
          <p:cNvPr id="185" name="TextBox 184"/>
          <p:cNvSpPr txBox="1"/>
          <p:nvPr/>
        </p:nvSpPr>
        <p:spPr>
          <a:xfrm>
            <a:off x="5878195" y="2172827"/>
            <a:ext cx="1094105" cy="331121"/>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numCol="1" spcCol="0" rtlCol="0" fromWordArt="0" anchor="ctr" anchorCtr="0" forceAA="0" compatLnSpc="1" lIns="0" rIns="0" tIns="0" bIns="0">
            <a:spAutoFit/>
          </a:bodyPr>
          <a:lstStyle/>
          <a:p>
            <a:pPr lvl="0" algn="ctr">
              <a:buClrTx/>
              <a:buSzTx/>
              <a:buFontTx/>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sym typeface="微软雅黑"/>
              </a:rPr>
              <a:t>服务流程</a:t>
            </a:r>
            <a:endParaRPr lang="zh-CN" altLang="en-US" sz="1400" dirty="0">
              <a:solidFill>
                <a:srgbClr val="FFFFFF"/>
              </a:solidFill>
              <a:latin typeface="微软雅黑"/>
              <a:ea typeface="微软雅黑"/>
              <a:cs typeface="微软雅黑"/>
              <a:sym typeface="微软雅黑"/>
            </a:endParaRPr>
          </a:p>
        </p:txBody>
      </p:sp>
      <p:sp>
        <p:nvSpPr>
          <p:cNvPr id="186" name="TextBox 185"/>
          <p:cNvSpPr txBox="1"/>
          <p:nvPr/>
        </p:nvSpPr>
        <p:spPr>
          <a:xfrm>
            <a:off x="7967980" y="2162667"/>
            <a:ext cx="1292225" cy="331121"/>
          </a:xfrm>
          <a:prstGeom prst="roundRect">
            <a:avLst>
              <a:gd name="adj" fmla="val 12588"/>
            </a:avLst>
          </a:prstGeom>
          <a:solidFill>
            <a:srgbClr val="3368FF"/>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numCol="1" spcCol="0" rtlCol="0" fromWordArt="0" anchor="ctr" anchorCtr="0" forceAA="0" compatLnSpc="1" lIns="0" rIns="0" tIns="0" bIns="0">
            <a:spAutoFit/>
          </a:bodyPr>
          <a:lstStyle/>
          <a:p>
            <a:pPr lvl="0" algn="ctr">
              <a:buClrTx/>
              <a:buSzTx/>
              <a:buFontTx/>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sym typeface="微软雅黑"/>
              </a:rPr>
              <a:t>客户分析</a:t>
            </a:r>
            <a:endParaRPr lang="zh-CN" altLang="en-US" sz="1400" dirty="0">
              <a:solidFill>
                <a:srgbClr val="FFFFFF"/>
              </a:solidFill>
              <a:latin typeface="微软雅黑"/>
              <a:ea typeface="微软雅黑"/>
              <a:cs typeface="微软雅黑"/>
              <a:sym typeface="微软雅黑"/>
            </a:endParaRPr>
          </a:p>
        </p:txBody>
      </p:sp>
      <p:sp>
        <p:nvSpPr>
          <p:cNvPr id="204" name="TextBox 203"/>
          <p:cNvSpPr txBox="1"/>
          <p:nvPr/>
        </p:nvSpPr>
        <p:spPr>
          <a:xfrm>
            <a:off x="1434465" y="4750927"/>
            <a:ext cx="1638935" cy="331121"/>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numCol="1" spcCol="0" rtlCol="0" fromWordArt="0" anchor="ctr" anchorCtr="0" forceAA="0" compatLnSpc="1" lIns="0" rIns="0" tIns="0" bIns="0">
            <a:spAutoFit/>
          </a:bodyPr>
          <a:lstStyle/>
          <a:p>
            <a:pPr lvl="0" algn="ctr">
              <a:buClrTx/>
              <a:buSzTx/>
              <a:buFontTx/>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sym typeface="微软雅黑"/>
              </a:rPr>
              <a:t>协同配合</a:t>
            </a:r>
            <a:endParaRPr lang="zh-CN" altLang="en-US" sz="1400" dirty="0">
              <a:solidFill>
                <a:srgbClr val="FFFFFF"/>
              </a:solidFill>
              <a:latin typeface="微软雅黑"/>
              <a:ea typeface="微软雅黑"/>
              <a:cs typeface="微软雅黑"/>
              <a:sym typeface="微软雅黑"/>
            </a:endParaRPr>
          </a:p>
        </p:txBody>
      </p:sp>
      <p:cxnSp>
        <p:nvCxnSpPr>
          <p:cNvPr id="89" name="肘形连接符 88"/>
          <p:cNvCxnSpPr>
            <a:endCxn id="30" idx="2"/>
          </p:cNvCxnSpPr>
          <p:nvPr/>
        </p:nvCxnSpPr>
        <p:spPr bwMode="auto">
          <a:xfrm flipV="1">
            <a:off x="6697345" y="4700905"/>
            <a:ext cx="3828415" cy="589280"/>
          </a:xfrm>
          <a:prstGeom prst="bentConnector2">
            <a:avLst/>
          </a:prstGeom>
          <a:solidFill>
            <a:srgbClr val="FFFFFF"/>
          </a:solidFill>
          <a:ln w="19050" cap="flat" cmpd="sng" algn="ctr">
            <a:solidFill>
              <a:srgbClr val="DCDCDC"/>
            </a:solidFill>
            <a:prstDash val="solid"/>
            <a:round/>
            <a:headEnd type="non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cxnSp>
        <p:nvCxnSpPr>
          <p:cNvPr id="103" name="肘形连接符 102"/>
          <p:cNvCxnSpPr>
            <a:stCxn id="30" idx="1"/>
            <a:endCxn id="22" idx="3"/>
          </p:cNvCxnSpPr>
          <p:nvPr/>
        </p:nvCxnSpPr>
        <p:spPr bwMode="auto">
          <a:xfrm rot="10800000" flipV="1">
            <a:off x="9544685" y="4572000"/>
            <a:ext cx="385445" cy="259080"/>
          </a:xfrm>
          <a:prstGeom prst="bentConnector3">
            <a:avLst>
              <a:gd name="adj1" fmla="val 50000"/>
            </a:avLst>
          </a:prstGeom>
          <a:solidFill>
            <a:srgbClr val="FFFFFF"/>
          </a:solidFill>
          <a:ln w="19050" cap="flat" cmpd="sng" algn="ctr">
            <a:solidFill>
              <a:srgbClr val="DCDCDC"/>
            </a:solidFill>
            <a:prstDash val="solid"/>
            <a:round/>
            <a:headEnd type="triangl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cxnSp>
        <p:nvCxnSpPr>
          <p:cNvPr id="108" name="肘形连接符 5"/>
          <p:cNvCxnSpPr>
            <a:cxnSpLocks noChangeShapeType="1"/>
            <a:stCxn id="107" idx="4"/>
            <a:endCxn id="128" idx="1"/>
          </p:cNvCxnSpPr>
          <p:nvPr/>
        </p:nvCxnSpPr>
        <p:spPr bwMode="auto">
          <a:xfrm rot="5400000" flipH="1">
            <a:off x="59055" y="2392045"/>
            <a:ext cx="2099310" cy="249555"/>
          </a:xfrm>
          <a:prstGeom prst="bentConnector4">
            <a:avLst>
              <a:gd name="adj1" fmla="val -11328"/>
              <a:gd name="adj2" fmla="val 195547"/>
            </a:avLst>
          </a:prstGeom>
          <a:noFill/>
          <a:ln w="25400" algn="ctr">
            <a:solidFill>
              <a:srgbClr val="0042FF"/>
            </a:solidFill>
            <a:prstDash val="sysDot"/>
            <a:round/>
            <a:tailEnd type="triangle" w="med" len="med"/>
          </a:ln>
          <a:extLst>
            <a:ext uri="{909E8E84-426E-40DD-AFC4-6F175D3DCCD1}">
              <a14:hiddenFill xmlns:a14="http://schemas.microsoft.com/office/drawing/2010/main">
                <a:noFill/>
              </a14:hiddenFill>
            </a:ext>
          </a:extLst>
        </p:spPr>
      </p:cxnSp>
      <p:cxnSp>
        <p:nvCxnSpPr>
          <p:cNvPr id="129" name="肘形连接符 128"/>
          <p:cNvCxnSpPr>
            <a:stCxn id="132" idx="2"/>
            <a:endCxn id="105" idx="1"/>
          </p:cNvCxnSpPr>
          <p:nvPr/>
        </p:nvCxnSpPr>
        <p:spPr bwMode="auto">
          <a:xfrm rot="5400000">
            <a:off x="1356360" y="2277745"/>
            <a:ext cx="1170940" cy="1428750"/>
          </a:xfrm>
          <a:prstGeom prst="bentConnector4">
            <a:avLst>
              <a:gd name="adj1" fmla="val 11169"/>
              <a:gd name="adj2" fmla="val 109574"/>
            </a:avLst>
          </a:prstGeom>
          <a:solidFill>
            <a:srgbClr val="FFFFFF"/>
          </a:solidFill>
          <a:ln w="19050" cap="flat" cmpd="sng" algn="ctr">
            <a:solidFill>
              <a:srgbClr val="DCDCDC">
                <a:alpha val="70000"/>
              </a:srgbClr>
            </a:solidFill>
            <a:prstDash val="solid"/>
            <a:round/>
            <a:headEnd type="triangl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cxnSp>
        <p:nvCxnSpPr>
          <p:cNvPr id="145" name="肘形连接符 5"/>
          <p:cNvCxnSpPr>
            <a:cxnSpLocks noChangeShapeType="1"/>
            <a:stCxn id="144" idx="6"/>
            <a:endCxn id="125" idx="2"/>
          </p:cNvCxnSpPr>
          <p:nvPr/>
        </p:nvCxnSpPr>
        <p:spPr bwMode="auto">
          <a:xfrm flipV="1">
            <a:off x="4963795" y="1704975"/>
            <a:ext cx="16510" cy="2052955"/>
          </a:xfrm>
          <a:prstGeom prst="bentConnector2">
            <a:avLst/>
          </a:prstGeom>
          <a:noFill/>
          <a:ln w="25400" algn="ctr">
            <a:solidFill>
              <a:srgbClr val="B3D4FE"/>
            </a:solidFill>
            <a:prstDash val="sysDot"/>
            <a:round/>
            <a:tailEnd type="triangle" w="med" len="med"/>
          </a:ln>
          <a:extLst>
            <a:ext uri="{909E8E84-426E-40DD-AFC4-6F175D3DCCD1}">
              <a14:hiddenFill xmlns:a14="http://schemas.microsoft.com/office/drawing/2010/main">
                <a:noFill/>
              </a14:hiddenFill>
            </a:ext>
          </a:extLst>
        </p:spPr>
      </p:cxnSp>
      <p:cxnSp>
        <p:nvCxnSpPr>
          <p:cNvPr id="152" name="肘形连接符 151"/>
          <p:cNvCxnSpPr>
            <a:stCxn id="186" idx="1"/>
            <a:endCxn id="151" idx="6"/>
          </p:cNvCxnSpPr>
          <p:nvPr/>
        </p:nvCxnSpPr>
        <p:spPr bwMode="auto">
          <a:xfrm rot="10800000" flipV="1">
            <a:off x="7510145" y="2328545"/>
            <a:ext cx="457835" cy="1422400"/>
          </a:xfrm>
          <a:prstGeom prst="bentConnector3">
            <a:avLst>
              <a:gd name="adj1" fmla="val 49896"/>
            </a:avLst>
          </a:prstGeom>
          <a:solidFill>
            <a:srgbClr val="FFFFFF"/>
          </a:solidFill>
          <a:ln w="19050" cap="flat" cmpd="sng" algn="ctr">
            <a:solidFill>
              <a:srgbClr val="DCDCDC"/>
            </a:solidFill>
            <a:prstDash val="solid"/>
            <a:round/>
            <a:headEnd type="triangl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cxnSp>
        <p:nvCxnSpPr>
          <p:cNvPr id="202" name="肘形连接符 201"/>
          <p:cNvCxnSpPr/>
          <p:nvPr/>
        </p:nvCxnSpPr>
        <p:spPr bwMode="auto">
          <a:xfrm rot="10800000" flipV="1">
            <a:off x="2727960" y="3303270"/>
            <a:ext cx="711835" cy="0"/>
          </a:xfrm>
          <a:prstGeom prst="bentConnector3">
            <a:avLst>
              <a:gd name="adj1" fmla="val 75677"/>
            </a:avLst>
          </a:prstGeom>
          <a:solidFill>
            <a:srgbClr val="FFFFFF"/>
          </a:solidFill>
          <a:ln w="19050" cap="flat" cmpd="sng" algn="ctr">
            <a:solidFill>
              <a:srgbClr val="DCDCDC"/>
            </a:solidFill>
            <a:prstDash val="solid"/>
            <a:round/>
            <a:headEnd type="triangle" w="med" len="med"/>
            <a:tailEnd type="triangle" w="med" len="med"/>
          </a:ln>
          <a:effectLst/>
          <a:extLst>
            <a:ext uri="{AF507438-7753-43E0-B8FC-AC1667EBCBE1}">
              <a14:hiddenEffects xmlns:a14="http://schemas.microsoft.com/office/drawing/2010/main">
                <a:effectLst>
                  <a:outerShdw dist="35921" dir="2700000" algn="ctr" rotWithShape="0">
                    <a:srgbClr val="DCDCDC"/>
                  </a:outerShdw>
                </a:effectLst>
              </a14:hiddenEffects>
            </a:ext>
          </a:extLst>
        </p:spPr>
      </p:cxnSp>
      <p:cxnSp>
        <p:nvCxnSpPr>
          <p:cNvPr id="221" name="肘形连接符 5"/>
          <p:cNvCxnSpPr>
            <a:cxnSpLocks noChangeShapeType="1"/>
            <a:endCxn id="124" idx="3"/>
          </p:cNvCxnSpPr>
          <p:nvPr/>
        </p:nvCxnSpPr>
        <p:spPr bwMode="auto">
          <a:xfrm rot="5400000" flipH="1" flipV="1">
            <a:off x="3149600" y="1858010"/>
            <a:ext cx="1085850" cy="311150"/>
          </a:xfrm>
          <a:prstGeom prst="bentConnector4">
            <a:avLst>
              <a:gd name="adj1" fmla="val 68467"/>
              <a:gd name="adj2" fmla="val 176593"/>
            </a:avLst>
          </a:prstGeom>
          <a:noFill/>
          <a:ln w="25400" algn="ctr">
            <a:solidFill>
              <a:srgbClr val="3368FF"/>
            </a:solidFill>
            <a:prstDash val="sysDot"/>
            <a:round/>
            <a:tailEnd type="triangle" w="med" len="med"/>
          </a:ln>
          <a:extLst>
            <a:ext uri="{909E8E84-426E-40DD-AFC4-6F175D3DCCD1}">
              <a14:hiddenFill xmlns:a14="http://schemas.microsoft.com/office/drawing/2010/main">
                <a:noFill/>
              </a14:hiddenFill>
            </a:ext>
          </a:extLst>
        </p:spPr>
      </p:cxnSp>
      <p:sp>
        <p:nvSpPr>
          <p:cNvPr id="228" name="流程图: 联系 116"/>
          <p:cNvSpPr>
            <a:spLocks noChangeArrowheads="1"/>
          </p:cNvSpPr>
          <p:nvPr/>
        </p:nvSpPr>
        <p:spPr bwMode="auto">
          <a:xfrm>
            <a:off x="7416165" y="2964180"/>
            <a:ext cx="123825" cy="129540"/>
          </a:xfrm>
          <a:prstGeom prst="flowChartConnector">
            <a:avLst/>
          </a:prstGeom>
          <a:solidFill>
            <a:srgbClr val="0042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cxnSp>
        <p:nvCxnSpPr>
          <p:cNvPr id="229" name="肘形连接符 5"/>
          <p:cNvCxnSpPr>
            <a:cxnSpLocks noChangeShapeType="1"/>
            <a:stCxn id="228" idx="0"/>
            <a:endCxn id="124" idx="2"/>
          </p:cNvCxnSpPr>
          <p:nvPr/>
        </p:nvCxnSpPr>
        <p:spPr bwMode="auto">
          <a:xfrm rot="16200000" flipV="1">
            <a:off x="4693285" y="179070"/>
            <a:ext cx="1259205" cy="4311015"/>
          </a:xfrm>
          <a:prstGeom prst="bentConnector3">
            <a:avLst>
              <a:gd name="adj1" fmla="val 90864"/>
            </a:avLst>
          </a:prstGeom>
          <a:noFill/>
          <a:ln w="25400" algn="ctr">
            <a:solidFill>
              <a:srgbClr val="0042FF"/>
            </a:solidFill>
            <a:prstDash val="sysDot"/>
            <a:round/>
            <a:tailEnd type="triangle" w="med" len="med"/>
          </a:ln>
          <a:extLst>
            <a:ext uri="{909E8E84-426E-40DD-AFC4-6F175D3DCCD1}">
              <a14:hiddenFill xmlns:a14="http://schemas.microsoft.com/office/drawing/2010/main">
                <a:noFill/>
              </a14:hiddenFill>
            </a:ext>
          </a:extLst>
        </p:spPr>
      </p:cxnSp>
      <p:cxnSp>
        <p:nvCxnSpPr>
          <p:cNvPr id="269" name="肘形连接符 5"/>
          <p:cNvCxnSpPr>
            <a:cxnSpLocks noChangeShapeType="1"/>
            <a:stCxn id="276" idx="6"/>
            <a:endCxn id="117" idx="0"/>
          </p:cNvCxnSpPr>
          <p:nvPr/>
        </p:nvCxnSpPr>
        <p:spPr bwMode="auto">
          <a:xfrm flipV="1">
            <a:off x="11183620" y="3201670"/>
            <a:ext cx="481965" cy="40005"/>
          </a:xfrm>
          <a:prstGeom prst="bentConnector4">
            <a:avLst>
              <a:gd name="adj1" fmla="val 38460"/>
              <a:gd name="adj2" fmla="val 757831"/>
            </a:avLst>
          </a:prstGeom>
          <a:noFill/>
          <a:ln w="25400" algn="ctr">
            <a:solidFill>
              <a:srgbClr val="0042FF"/>
            </a:solidFill>
            <a:prstDash val="sysDot"/>
            <a:round/>
            <a:tailEnd type="triangle" w="med" len="med"/>
          </a:ln>
          <a:extLst>
            <a:ext uri="{909E8E84-426E-40DD-AFC4-6F175D3DCCD1}">
              <a14:hiddenFill xmlns:a14="http://schemas.microsoft.com/office/drawing/2010/main">
                <a:noFill/>
              </a14:hiddenFill>
            </a:ext>
          </a:extLst>
        </p:spPr>
      </p:cxnSp>
      <p:sp>
        <p:nvSpPr>
          <p:cNvPr id="276" name="流程图: 联系 116"/>
          <p:cNvSpPr>
            <a:spLocks noChangeArrowheads="1"/>
          </p:cNvSpPr>
          <p:nvPr/>
        </p:nvSpPr>
        <p:spPr bwMode="auto">
          <a:xfrm>
            <a:off x="11059795" y="3176905"/>
            <a:ext cx="123825" cy="129540"/>
          </a:xfrm>
          <a:prstGeom prst="flowChartConnector">
            <a:avLst/>
          </a:prstGeom>
          <a:solidFill>
            <a:srgbClr val="0042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cxnSp>
        <p:nvCxnSpPr>
          <p:cNvPr id="279" name="肘形连接符 5"/>
          <p:cNvCxnSpPr>
            <a:cxnSpLocks noChangeShapeType="1"/>
            <a:stCxn id="282" idx="0"/>
            <a:endCxn id="127" idx="3"/>
          </p:cNvCxnSpPr>
          <p:nvPr/>
        </p:nvCxnSpPr>
        <p:spPr bwMode="auto">
          <a:xfrm rot="16200000" flipV="1">
            <a:off x="8700135" y="1567180"/>
            <a:ext cx="624205" cy="437515"/>
          </a:xfrm>
          <a:prstGeom prst="bentConnector2">
            <a:avLst/>
          </a:prstGeom>
          <a:noFill/>
          <a:ln w="25400" algn="ctr">
            <a:solidFill>
              <a:srgbClr val="3368FF"/>
            </a:solidFill>
            <a:prstDash val="sysDot"/>
            <a:round/>
            <a:tailEnd type="triangle" w="med" len="med"/>
          </a:ln>
          <a:extLst>
            <a:ext uri="{909E8E84-426E-40DD-AFC4-6F175D3DCCD1}">
              <a14:hiddenFill xmlns:a14="http://schemas.microsoft.com/office/drawing/2010/main">
                <a:noFill/>
              </a14:hiddenFill>
            </a:ext>
          </a:extLst>
        </p:spPr>
      </p:cxnSp>
      <p:sp>
        <p:nvSpPr>
          <p:cNvPr id="281" name="流程图: 联系 116"/>
          <p:cNvSpPr>
            <a:spLocks noChangeArrowheads="1"/>
          </p:cNvSpPr>
          <p:nvPr/>
        </p:nvSpPr>
        <p:spPr bwMode="auto">
          <a:xfrm>
            <a:off x="5819775" y="2098675"/>
            <a:ext cx="123825" cy="129540"/>
          </a:xfrm>
          <a:prstGeom prst="flowChartConnector">
            <a:avLst/>
          </a:prstGeom>
          <a:solidFill>
            <a:srgbClr val="3368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sp>
        <p:nvSpPr>
          <p:cNvPr id="282" name="流程图: 联系 116"/>
          <p:cNvSpPr>
            <a:spLocks noChangeArrowheads="1"/>
          </p:cNvSpPr>
          <p:nvPr/>
        </p:nvSpPr>
        <p:spPr bwMode="auto">
          <a:xfrm>
            <a:off x="9168765" y="2098040"/>
            <a:ext cx="123825" cy="129540"/>
          </a:xfrm>
          <a:prstGeom prst="flowChartConnector">
            <a:avLst/>
          </a:prstGeom>
          <a:solidFill>
            <a:srgbClr val="3368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cxnSp>
        <p:nvCxnSpPr>
          <p:cNvPr id="285" name="肘形连接符 5"/>
          <p:cNvCxnSpPr>
            <a:cxnSpLocks noChangeShapeType="1"/>
            <a:stCxn id="281" idx="0"/>
            <a:endCxn id="127" idx="1"/>
          </p:cNvCxnSpPr>
          <p:nvPr/>
        </p:nvCxnSpPr>
        <p:spPr bwMode="auto">
          <a:xfrm rot="5400000" flipH="1" flipV="1">
            <a:off x="5826760" y="1527810"/>
            <a:ext cx="625475" cy="516255"/>
          </a:xfrm>
          <a:prstGeom prst="bentConnector2">
            <a:avLst/>
          </a:prstGeom>
          <a:noFill/>
          <a:ln w="25400" algn="ctr">
            <a:solidFill>
              <a:srgbClr val="3368FF"/>
            </a:solidFill>
            <a:prstDash val="sysDot"/>
            <a:round/>
            <a:tailEnd type="triangle" w="med" len="med"/>
          </a:ln>
          <a:extLst>
            <a:ext uri="{909E8E84-426E-40DD-AFC4-6F175D3DCCD1}">
              <a14:hiddenFill xmlns:a14="http://schemas.microsoft.com/office/drawing/2010/main">
                <a:noFill/>
              </a14:hiddenFill>
            </a:ext>
          </a:extLst>
        </p:spPr>
      </p:cxnSp>
      <p:sp>
        <p:nvSpPr>
          <p:cNvPr id="288" name="流程图: 联系 116"/>
          <p:cNvSpPr>
            <a:spLocks noChangeArrowheads="1"/>
          </p:cNvSpPr>
          <p:nvPr/>
        </p:nvSpPr>
        <p:spPr bwMode="auto">
          <a:xfrm>
            <a:off x="7422515" y="4205605"/>
            <a:ext cx="123825" cy="129540"/>
          </a:xfrm>
          <a:prstGeom prst="flowChartConnector">
            <a:avLst/>
          </a:prstGeom>
          <a:solidFill>
            <a:srgbClr val="3368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cxnSp>
        <p:nvCxnSpPr>
          <p:cNvPr id="289" name="肘形连接符 5"/>
          <p:cNvCxnSpPr>
            <a:cxnSpLocks noChangeShapeType="1"/>
            <a:stCxn id="288" idx="5"/>
            <a:endCxn id="51" idx="3"/>
          </p:cNvCxnSpPr>
          <p:nvPr/>
        </p:nvCxnSpPr>
        <p:spPr bwMode="auto">
          <a:xfrm rot="5400000" flipV="1">
            <a:off x="7071995" y="4772025"/>
            <a:ext cx="1919605" cy="1007110"/>
          </a:xfrm>
          <a:prstGeom prst="bentConnector4">
            <a:avLst>
              <a:gd name="adj1" fmla="val 44376"/>
              <a:gd name="adj2" fmla="val 123613"/>
            </a:avLst>
          </a:prstGeom>
          <a:noFill/>
          <a:ln w="25400" algn="ctr">
            <a:solidFill>
              <a:srgbClr val="3368FF"/>
            </a:solidFill>
            <a:prstDash val="sysDot"/>
            <a:round/>
            <a:tailEnd type="triangle" w="med" len="med"/>
          </a:ln>
          <a:extLst>
            <a:ext uri="{909E8E84-426E-40DD-AFC4-6F175D3DCCD1}">
              <a14:hiddenFill xmlns:a14="http://schemas.microsoft.com/office/drawing/2010/main">
                <a:noFill/>
              </a14:hiddenFill>
            </a:ext>
          </a:extLst>
        </p:spPr>
      </p:cxnSp>
      <p:sp>
        <p:nvSpPr>
          <p:cNvPr id="293" name="流程图: 联系 116"/>
          <p:cNvSpPr>
            <a:spLocks noChangeArrowheads="1"/>
          </p:cNvSpPr>
          <p:nvPr/>
        </p:nvSpPr>
        <p:spPr bwMode="auto">
          <a:xfrm>
            <a:off x="7720330" y="4636135"/>
            <a:ext cx="123825" cy="129540"/>
          </a:xfrm>
          <a:prstGeom prst="flowChartConnector">
            <a:avLst/>
          </a:prstGeom>
          <a:solidFill>
            <a:srgbClr val="3368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sp>
        <p:nvSpPr>
          <p:cNvPr id="294" name="流程图: 联系 116"/>
          <p:cNvSpPr>
            <a:spLocks noChangeArrowheads="1"/>
          </p:cNvSpPr>
          <p:nvPr/>
        </p:nvSpPr>
        <p:spPr bwMode="auto">
          <a:xfrm>
            <a:off x="7732395" y="4335145"/>
            <a:ext cx="123825" cy="129540"/>
          </a:xfrm>
          <a:prstGeom prst="flowChartConnector">
            <a:avLst/>
          </a:prstGeom>
          <a:solidFill>
            <a:srgbClr val="3368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cxnSp>
        <p:nvCxnSpPr>
          <p:cNvPr id="295" name="肘形连接符 5"/>
          <p:cNvCxnSpPr>
            <a:cxnSpLocks noChangeShapeType="1"/>
            <a:stCxn id="294" idx="4"/>
            <a:endCxn id="51" idx="0"/>
          </p:cNvCxnSpPr>
          <p:nvPr/>
        </p:nvCxnSpPr>
        <p:spPr bwMode="auto">
          <a:xfrm rot="5400000">
            <a:off x="6870700" y="5076190"/>
            <a:ext cx="1536065" cy="311785"/>
          </a:xfrm>
          <a:prstGeom prst="bentConnector3">
            <a:avLst>
              <a:gd name="adj1" fmla="val 80611"/>
            </a:avLst>
          </a:prstGeom>
          <a:solidFill>
            <a:srgbClr val="3368FF"/>
          </a:solidFill>
          <a:ln w="25400" algn="ctr">
            <a:solidFill>
              <a:srgbClr val="3368FF"/>
            </a:solidFill>
            <a:prstDash val="sysDot"/>
            <a:round/>
            <a:tailEnd type="triangle" w="med" len="med"/>
          </a:ln>
        </p:spPr>
      </p:cxnSp>
      <p:sp>
        <p:nvSpPr>
          <p:cNvPr id="300" name="流程图: 联系 116"/>
          <p:cNvSpPr>
            <a:spLocks noChangeArrowheads="1"/>
          </p:cNvSpPr>
          <p:nvPr/>
        </p:nvSpPr>
        <p:spPr bwMode="auto">
          <a:xfrm>
            <a:off x="1372235" y="4696460"/>
            <a:ext cx="123825" cy="129540"/>
          </a:xfrm>
          <a:prstGeom prst="flowChartConnector">
            <a:avLst/>
          </a:prstGeom>
          <a:solidFill>
            <a:srgbClr val="0042FF"/>
          </a:solidFill>
          <a:ln w="9525" algn="ctr">
            <a:solidFill>
              <a:srgbClr val="FFFFFF"/>
            </a:solidFill>
            <a:round/>
          </a:ln>
        </p:spPr>
        <p:txBody>
          <a:bodyPr lIns="0" tIns="0" rIns="0" bIns="0"/>
          <a:lstStyle/>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cxnSp>
        <p:nvCxnSpPr>
          <p:cNvPr id="301" name="肘形连接符 5"/>
          <p:cNvCxnSpPr>
            <a:cxnSpLocks noChangeShapeType="1"/>
            <a:stCxn id="300" idx="2"/>
            <a:endCxn id="48" idx="1"/>
          </p:cNvCxnSpPr>
          <p:nvPr/>
        </p:nvCxnSpPr>
        <p:spPr bwMode="auto">
          <a:xfrm rot="10800000" flipH="1" flipV="1">
            <a:off x="1372235" y="4761230"/>
            <a:ext cx="2364740" cy="1474470"/>
          </a:xfrm>
          <a:prstGeom prst="bentConnector3">
            <a:avLst>
              <a:gd name="adj1" fmla="val -10070"/>
            </a:avLst>
          </a:prstGeom>
          <a:noFill/>
          <a:ln w="25400" algn="ctr">
            <a:solidFill>
              <a:srgbClr val="0042FF"/>
            </a:solidFill>
            <a:prstDash val="sysDot"/>
            <a:round/>
            <a:tailEnd type="triangle" w="med" len="med"/>
          </a:ln>
          <a:extLst>
            <a:ext uri="{909E8E84-426E-40DD-AFC4-6F175D3DCCD1}">
              <a14:hiddenFill xmlns:a14="http://schemas.microsoft.com/office/drawing/2010/main">
                <a:noFill/>
              </a14:hiddenFill>
            </a:ext>
          </a:extLst>
        </p:spPr>
      </p:cxnSp>
      <p:grpSp>
        <p:nvGrpSpPr>
          <p:cNvPr id="16" name="组合 15"/>
          <p:cNvGrpSpPr/>
          <p:nvPr/>
        </p:nvGrpSpPr>
        <p:grpSpPr>
          <a:xfrm>
            <a:off x="5100492" y="4424045"/>
            <a:ext cx="569424" cy="562610"/>
            <a:chOff x="4092563" y="3298404"/>
            <a:chExt cx="546100" cy="539750"/>
          </a:xfrm>
        </p:grpSpPr>
        <p:sp>
          <p:nvSpPr>
            <p:cNvPr id="17" name="椭圆 44"/>
            <p:cNvSpPr>
              <a:spLocks noChangeArrowheads="1"/>
            </p:cNvSpPr>
            <p:nvPr/>
          </p:nvSpPr>
          <p:spPr bwMode="auto">
            <a:xfrm>
              <a:off x="4093616" y="3298404"/>
              <a:ext cx="539750" cy="539750"/>
            </a:xfrm>
            <a:prstGeom prst="ellipse">
              <a:avLst/>
            </a:prstGeom>
            <a:solidFill>
              <a:srgbClr val="FFFFFF"/>
            </a:solidFill>
            <a:ln w="19050" algn="ctr">
              <a:solidFill>
                <a:srgbClr val="3368FF">
                  <a:alpha val="50000"/>
                </a:srgbClr>
              </a:solidFill>
              <a:round/>
            </a:ln>
          </p:spPr>
          <p:txBody>
            <a:bodyPr wrap="none" anchor="ctr" lIns="0" rIns="0" tIns="0" bIns="0"/>
            <a:lstStyle/>
            <a:p>
              <a:pPr algn="ctr" eaLnBrk="0" hangingPunct="0">
                <a:lnSpc>
                  <a:spcPts val="3350"/>
                </a:lnSpc>
                <a:defRPr>
                  <a:latin typeface="微软雅黑"/>
                  <a:ea typeface="微软雅黑"/>
                  <a:cs typeface="微软雅黑"/>
                </a:defRPr>
              </a:pPr>
              <a:endParaRPr lang="zh-CN" altLang="en-US">
                <a:latin typeface="微软雅黑"/>
                <a:ea typeface="微软雅黑"/>
                <a:cs typeface="微软雅黑"/>
              </a:endParaRPr>
            </a:p>
          </p:txBody>
        </p:sp>
        <p:sp>
          <p:nvSpPr>
            <p:cNvPr id="18" name="TextBox 157"/>
            <p:cNvSpPr txBox="1"/>
            <p:nvPr/>
          </p:nvSpPr>
          <p:spPr bwMode="auto">
            <a:xfrm>
              <a:off x="4092563" y="3359933"/>
              <a:ext cx="546100" cy="441669"/>
            </a:xfrm>
            <a:prstGeom prst="rect">
              <a:avLst/>
            </a:prstGeom>
            <a:noFill/>
            <a:ln>
              <a:noFill/>
            </a:ln>
          </p:spPr>
          <p:style>
            <a:lnRef idx="2">
              <a:srgbClr val="668EFF"/>
            </a:lnRef>
            <a:fillRef idx="1">
              <a:srgbClr val="FFFFFF"/>
            </a:fillRef>
            <a:effectRef idx="0">
              <a:srgbClr val="668EFF"/>
            </a:effectRef>
            <a:fontRef idx="minor">
              <a:srgbClr val="383838"/>
            </a:fontRef>
          </p:style>
          <p:txBody>
            <a:bodyPr lIns="0" rIns="0" tIns="0" bIns="0">
              <a:spAutoFit/>
            </a:bodyPr>
            <a:lstStyle>
              <a:lvl1pPr algn="l" eaLnBrk="0" hangingPunct="0">
                <a:defRPr sz="2100" b="1">
                  <a:solidFill>
                    <a:srgbClr val="0042FF"/>
                  </a:solidFill>
                  <a:latin typeface="微软雅黑"/>
                  <a:ea typeface="微软雅黑"/>
                  <a:cs typeface="微软雅黑"/>
                </a:defRPr>
              </a:lvl1pPr>
              <a:lvl2pPr marL="742950" indent="-285750" algn="l" eaLnBrk="0" hangingPunct="0">
                <a:defRPr sz="2100" b="1">
                  <a:solidFill>
                    <a:srgbClr val="0042FF"/>
                  </a:solidFill>
                  <a:latin typeface="微软雅黑"/>
                  <a:ea typeface="微软雅黑"/>
                  <a:cs typeface="微软雅黑"/>
                </a:defRPr>
              </a:lvl2pPr>
              <a:lvl3pPr marL="1143000" indent="-228600" algn="l" eaLnBrk="0" hangingPunct="0">
                <a:defRPr sz="2100" b="1">
                  <a:solidFill>
                    <a:srgbClr val="0042FF"/>
                  </a:solidFill>
                  <a:latin typeface="微软雅黑"/>
                  <a:ea typeface="微软雅黑"/>
                  <a:cs typeface="微软雅黑"/>
                </a:defRPr>
              </a:lvl3pPr>
              <a:lvl4pPr marL="1600200" indent="-228600" algn="l" eaLnBrk="0" hangingPunct="0">
                <a:defRPr sz="2100" b="1">
                  <a:solidFill>
                    <a:srgbClr val="0042FF"/>
                  </a:solidFill>
                  <a:latin typeface="微软雅黑"/>
                  <a:ea typeface="微软雅黑"/>
                  <a:cs typeface="微软雅黑"/>
                </a:defRPr>
              </a:lvl4pPr>
              <a:lvl5pPr marL="2057400" indent="-228600" algn="l" eaLnBrk="0" hangingPunct="0">
                <a:defRPr sz="2100" b="1">
                  <a:solidFill>
                    <a:srgbClr val="0042FF"/>
                  </a:solidFill>
                  <a:latin typeface="微软雅黑"/>
                  <a:ea typeface="微软雅黑"/>
                  <a:cs typeface="微软雅黑"/>
                </a:defRPr>
              </a:lvl5pPr>
              <a:lvl6pPr marL="2514600" indent="-228600" eaLnBrk="0" fontAlgn="base" hangingPunct="0">
                <a:spcBef>
                  <a:spcPct val="0"/>
                </a:spcBef>
                <a:spcAft>
                  <a:spcPct val="0"/>
                </a:spcAft>
                <a:defRPr sz="2100" b="1">
                  <a:solidFill>
                    <a:srgbClr val="0042FF"/>
                  </a:solidFill>
                  <a:latin typeface="微软雅黑"/>
                  <a:ea typeface="微软雅黑"/>
                  <a:cs typeface="微软雅黑"/>
                </a:defRPr>
              </a:lvl6pPr>
              <a:lvl7pPr marL="2971800" indent="-228600" eaLnBrk="0" fontAlgn="base" hangingPunct="0">
                <a:spcBef>
                  <a:spcPct val="0"/>
                </a:spcBef>
                <a:spcAft>
                  <a:spcPct val="0"/>
                </a:spcAft>
                <a:defRPr sz="2100" b="1">
                  <a:solidFill>
                    <a:srgbClr val="0042FF"/>
                  </a:solidFill>
                  <a:latin typeface="微软雅黑"/>
                  <a:ea typeface="微软雅黑"/>
                  <a:cs typeface="微软雅黑"/>
                </a:defRPr>
              </a:lvl7pPr>
              <a:lvl8pPr marL="3429000" indent="-228600" eaLnBrk="0" fontAlgn="base" hangingPunct="0">
                <a:spcBef>
                  <a:spcPct val="0"/>
                </a:spcBef>
                <a:spcAft>
                  <a:spcPct val="0"/>
                </a:spcAft>
                <a:defRPr sz="2100" b="1">
                  <a:solidFill>
                    <a:srgbClr val="0042FF"/>
                  </a:solidFill>
                  <a:latin typeface="微软雅黑"/>
                  <a:ea typeface="微软雅黑"/>
                  <a:cs typeface="微软雅黑"/>
                </a:defRPr>
              </a:lvl8pPr>
              <a:lvl9pPr marL="3886200" indent="-228600" eaLnBrk="0" fontAlgn="base" hangingPunct="0">
                <a:spcBef>
                  <a:spcPct val="0"/>
                </a:spcBef>
                <a:spcAft>
                  <a:spcPct val="0"/>
                </a:spcAft>
                <a:defRPr sz="2100" b="1">
                  <a:solidFill>
                    <a:srgbClr val="0042FF"/>
                  </a:solidFill>
                  <a:latin typeface="微软雅黑"/>
                  <a:ea typeface="微软雅黑"/>
                  <a:cs typeface="微软雅黑"/>
                </a:defRPr>
              </a:lvl9pPr>
            </a:lstStyle>
            <a:p>
              <a:pPr algn="ctr" eaLnBrk="1" hangingPunct="1">
                <a:defRPr>
                  <a:latin typeface="微软雅黑"/>
                  <a:ea typeface="微软雅黑"/>
                  <a:cs typeface="微软雅黑"/>
                </a:defRPr>
              </a:pPr>
              <a:r>
                <a:rPr lang="zh-CN" altLang="en-US" sz="1200" dirty="0">
                  <a:solidFill>
                    <a:srgbClr val="383838"/>
                  </a:solidFill>
                  <a:latin typeface="微软雅黑"/>
                  <a:ea typeface="微软雅黑"/>
                  <a:cs typeface="微软雅黑"/>
                </a:rPr>
                <a:t>协同内容</a:t>
              </a:r>
              <a:endParaRPr lang="zh-CN" altLang="en-US" sz="1200" dirty="0">
                <a:solidFill>
                  <a:srgbClr val="383838"/>
                </a:solidFill>
                <a:latin typeface="微软雅黑"/>
                <a:ea typeface="微软雅黑"/>
                <a:cs typeface="微软雅黑"/>
              </a:endParaRPr>
            </a:p>
          </p:txBody>
        </p:sp>
      </p:grpSp>
      <p:grpSp>
        <p:nvGrpSpPr>
          <p:cNvPr id="19" name="组合 18"/>
          <p:cNvGrpSpPr/>
          <p:nvPr/>
        </p:nvGrpSpPr>
        <p:grpSpPr>
          <a:xfrm>
            <a:off x="2883071" y="2633981"/>
            <a:ext cx="569424" cy="496570"/>
            <a:chOff x="4088908" y="3314853"/>
            <a:chExt cx="546100" cy="476393"/>
          </a:xfrm>
        </p:grpSpPr>
        <p:sp>
          <p:nvSpPr>
            <p:cNvPr id="20" name="椭圆 44"/>
            <p:cNvSpPr>
              <a:spLocks noChangeArrowheads="1"/>
            </p:cNvSpPr>
            <p:nvPr/>
          </p:nvSpPr>
          <p:spPr bwMode="auto">
            <a:xfrm>
              <a:off x="4123843" y="3314853"/>
              <a:ext cx="476230" cy="476393"/>
            </a:xfrm>
            <a:prstGeom prst="ellipse">
              <a:avLst/>
            </a:prstGeom>
            <a:solidFill>
              <a:srgbClr val="E6E6E6"/>
            </a:solidFill>
            <a:ln w="19050" algn="ctr">
              <a:solidFill>
                <a:srgbClr val="0042FF">
                  <a:alpha val="50000"/>
                </a:srgbClr>
              </a:solidFill>
              <a:round/>
            </a:ln>
          </p:spPr>
          <p:txBody>
            <a:bodyPr wrap="none" anchor="ctr" lIns="0" rIns="0" tIns="0" bIns="0"/>
            <a:lstStyle/>
            <a:p>
              <a:pPr algn="ctr" eaLnBrk="0" hangingPunct="0">
                <a:lnSpc>
                  <a:spcPts val="3350"/>
                </a:lnSpc>
                <a:defRPr>
                  <a:latin typeface="微软雅黑"/>
                  <a:ea typeface="微软雅黑"/>
                  <a:cs typeface="微软雅黑"/>
                </a:defRPr>
              </a:pPr>
              <a:endParaRPr lang="zh-CN" altLang="en-US">
                <a:latin typeface="微软雅黑"/>
                <a:ea typeface="微软雅黑"/>
                <a:cs typeface="微软雅黑"/>
              </a:endParaRPr>
            </a:p>
          </p:txBody>
        </p:sp>
        <p:sp>
          <p:nvSpPr>
            <p:cNvPr id="21" name="TextBox 157"/>
            <p:cNvSpPr txBox="1"/>
            <p:nvPr/>
          </p:nvSpPr>
          <p:spPr bwMode="auto">
            <a:xfrm>
              <a:off x="4088908" y="3361758"/>
              <a:ext cx="546100" cy="382577"/>
            </a:xfrm>
            <a:prstGeom prst="rect">
              <a:avLst/>
            </a:prstGeom>
            <a:noFill/>
            <a:ln>
              <a:noFill/>
            </a:ln>
          </p:spPr>
          <p:style>
            <a:lnRef idx="2">
              <a:srgbClr val="668EFF"/>
            </a:lnRef>
            <a:fillRef idx="1">
              <a:srgbClr val="FFFFFF"/>
            </a:fillRef>
            <a:effectRef idx="0">
              <a:srgbClr val="668EFF"/>
            </a:effectRef>
            <a:fontRef idx="minor">
              <a:srgbClr val="383838"/>
            </a:fontRef>
          </p:style>
          <p:txBody>
            <a:bodyPr lIns="0" rIns="0" tIns="0" bIns="0">
              <a:spAutoFit/>
            </a:bodyPr>
            <a:lstStyle>
              <a:lvl1pPr algn="l" eaLnBrk="0" hangingPunct="0">
                <a:defRPr sz="2100" b="1">
                  <a:solidFill>
                    <a:srgbClr val="0042FF"/>
                  </a:solidFill>
                  <a:latin typeface="微软雅黑"/>
                  <a:ea typeface="微软雅黑"/>
                  <a:cs typeface="微软雅黑"/>
                </a:defRPr>
              </a:lvl1pPr>
              <a:lvl2pPr marL="742950" indent="-285750" algn="l" eaLnBrk="0" hangingPunct="0">
                <a:defRPr sz="2100" b="1">
                  <a:solidFill>
                    <a:srgbClr val="0042FF"/>
                  </a:solidFill>
                  <a:latin typeface="微软雅黑"/>
                  <a:ea typeface="微软雅黑"/>
                  <a:cs typeface="微软雅黑"/>
                </a:defRPr>
              </a:lvl2pPr>
              <a:lvl3pPr marL="1143000" indent="-228600" algn="l" eaLnBrk="0" hangingPunct="0">
                <a:defRPr sz="2100" b="1">
                  <a:solidFill>
                    <a:srgbClr val="0042FF"/>
                  </a:solidFill>
                  <a:latin typeface="微软雅黑"/>
                  <a:ea typeface="微软雅黑"/>
                  <a:cs typeface="微软雅黑"/>
                </a:defRPr>
              </a:lvl3pPr>
              <a:lvl4pPr marL="1600200" indent="-228600" algn="l" eaLnBrk="0" hangingPunct="0">
                <a:defRPr sz="2100" b="1">
                  <a:solidFill>
                    <a:srgbClr val="0042FF"/>
                  </a:solidFill>
                  <a:latin typeface="微软雅黑"/>
                  <a:ea typeface="微软雅黑"/>
                  <a:cs typeface="微软雅黑"/>
                </a:defRPr>
              </a:lvl4pPr>
              <a:lvl5pPr marL="2057400" indent="-228600" algn="l" eaLnBrk="0" hangingPunct="0">
                <a:defRPr sz="2100" b="1">
                  <a:solidFill>
                    <a:srgbClr val="0042FF"/>
                  </a:solidFill>
                  <a:latin typeface="微软雅黑"/>
                  <a:ea typeface="微软雅黑"/>
                  <a:cs typeface="微软雅黑"/>
                </a:defRPr>
              </a:lvl5pPr>
              <a:lvl6pPr marL="2514600" indent="-228600" eaLnBrk="0" fontAlgn="base" hangingPunct="0">
                <a:spcBef>
                  <a:spcPct val="0"/>
                </a:spcBef>
                <a:spcAft>
                  <a:spcPct val="0"/>
                </a:spcAft>
                <a:defRPr sz="2100" b="1">
                  <a:solidFill>
                    <a:srgbClr val="0042FF"/>
                  </a:solidFill>
                  <a:latin typeface="微软雅黑"/>
                  <a:ea typeface="微软雅黑"/>
                  <a:cs typeface="微软雅黑"/>
                </a:defRPr>
              </a:lvl6pPr>
              <a:lvl7pPr marL="2971800" indent="-228600" eaLnBrk="0" fontAlgn="base" hangingPunct="0">
                <a:spcBef>
                  <a:spcPct val="0"/>
                </a:spcBef>
                <a:spcAft>
                  <a:spcPct val="0"/>
                </a:spcAft>
                <a:defRPr sz="2100" b="1">
                  <a:solidFill>
                    <a:srgbClr val="0042FF"/>
                  </a:solidFill>
                  <a:latin typeface="微软雅黑"/>
                  <a:ea typeface="微软雅黑"/>
                  <a:cs typeface="微软雅黑"/>
                </a:defRPr>
              </a:lvl7pPr>
              <a:lvl8pPr marL="3429000" indent="-228600" eaLnBrk="0" fontAlgn="base" hangingPunct="0">
                <a:spcBef>
                  <a:spcPct val="0"/>
                </a:spcBef>
                <a:spcAft>
                  <a:spcPct val="0"/>
                </a:spcAft>
                <a:defRPr sz="2100" b="1">
                  <a:solidFill>
                    <a:srgbClr val="0042FF"/>
                  </a:solidFill>
                  <a:latin typeface="微软雅黑"/>
                  <a:ea typeface="微软雅黑"/>
                  <a:cs typeface="微软雅黑"/>
                </a:defRPr>
              </a:lvl8pPr>
              <a:lvl9pPr marL="3886200" indent="-228600" eaLnBrk="0" fontAlgn="base" hangingPunct="0">
                <a:spcBef>
                  <a:spcPct val="0"/>
                </a:spcBef>
                <a:spcAft>
                  <a:spcPct val="0"/>
                </a:spcAft>
                <a:defRPr sz="2100" b="1">
                  <a:solidFill>
                    <a:srgbClr val="0042FF"/>
                  </a:solidFill>
                  <a:latin typeface="微软雅黑"/>
                  <a:ea typeface="微软雅黑"/>
                  <a:cs typeface="微软雅黑"/>
                </a:defRPr>
              </a:lvl9pPr>
            </a:lstStyle>
            <a:p>
              <a:pPr algn="ctr" eaLnBrk="1" hangingPunct="1">
                <a:defRPr>
                  <a:latin typeface="微软雅黑"/>
                  <a:ea typeface="微软雅黑"/>
                  <a:cs typeface="微软雅黑"/>
                </a:defRPr>
              </a:pPr>
              <a:r>
                <a:rPr lang="zh-CN" altLang="en-US" sz="1000" dirty="0">
                  <a:solidFill>
                    <a:srgbClr val="383838"/>
                  </a:solidFill>
                  <a:latin typeface="微软雅黑"/>
                  <a:ea typeface="微软雅黑"/>
                  <a:cs typeface="微软雅黑"/>
                </a:rPr>
                <a:t>分级</a:t>
              </a:r>
              <a:endParaRPr lang="zh-CN" altLang="en-US" sz="1000" dirty="0">
                <a:solidFill>
                  <a:srgbClr val="383838"/>
                </a:solidFill>
                <a:latin typeface="微软雅黑"/>
                <a:ea typeface="微软雅黑"/>
                <a:cs typeface="微软雅黑"/>
              </a:endParaRPr>
            </a:p>
            <a:p>
              <a:pPr algn="ctr" eaLnBrk="1" hangingPunct="1">
                <a:defRPr>
                  <a:latin typeface="微软雅黑"/>
                  <a:ea typeface="微软雅黑"/>
                  <a:cs typeface="微软雅黑"/>
                </a:defRPr>
              </a:pPr>
              <a:r>
                <a:rPr lang="zh-CN" altLang="en-US" sz="1000" dirty="0">
                  <a:solidFill>
                    <a:srgbClr val="383838"/>
                  </a:solidFill>
                  <a:latin typeface="微软雅黑"/>
                  <a:ea typeface="微软雅黑"/>
                  <a:cs typeface="微软雅黑"/>
                </a:rPr>
                <a:t>入会</a:t>
              </a:r>
              <a:endParaRPr lang="zh-CN" altLang="en-US" sz="1000" dirty="0">
                <a:solidFill>
                  <a:srgbClr val="383838"/>
                </a:solidFill>
                <a:latin typeface="微软雅黑"/>
                <a:ea typeface="微软雅黑"/>
                <a:cs typeface="微软雅黑"/>
              </a:endParaRPr>
            </a:p>
          </p:txBody>
        </p:sp>
      </p:grpSp>
      <p:sp>
        <p:nvSpPr>
          <p:cNvPr id="38" name="椭圆 44"/>
          <p:cNvSpPr>
            <a:spLocks noChangeArrowheads="1"/>
          </p:cNvSpPr>
          <p:nvPr/>
        </p:nvSpPr>
        <p:spPr bwMode="auto">
          <a:xfrm>
            <a:off x="3709035" y="2018665"/>
            <a:ext cx="475615" cy="475615"/>
          </a:xfrm>
          <a:prstGeom prst="ellipse">
            <a:avLst/>
          </a:prstGeom>
          <a:solidFill>
            <a:srgbClr val="E6E6E6"/>
          </a:solidFill>
          <a:ln w="19050" algn="ctr">
            <a:solidFill>
              <a:srgbClr val="3368FF">
                <a:alpha val="70000"/>
              </a:srgbClr>
            </a:solidFill>
            <a:round/>
          </a:ln>
        </p:spPr>
        <p:txBody>
          <a:bodyPr wrap="none" anchor="ctr" lIns="0" rIns="0" tIns="0" bIns="0"/>
          <a:lstStyle/>
          <a:p>
            <a:pPr algn="ctr" eaLnBrk="0" hangingPunct="0">
              <a:lnSpc>
                <a:spcPts val="3350"/>
              </a:lnSpc>
              <a:defRPr>
                <a:latin typeface="微软雅黑"/>
                <a:ea typeface="微软雅黑"/>
                <a:cs typeface="微软雅黑"/>
              </a:defRPr>
            </a:pPr>
            <a:endParaRPr lang="zh-CN" altLang="en-US">
              <a:latin typeface="微软雅黑"/>
              <a:ea typeface="微软雅黑"/>
              <a:cs typeface="微软雅黑"/>
            </a:endParaRPr>
          </a:p>
        </p:txBody>
      </p:sp>
      <p:sp>
        <p:nvSpPr>
          <p:cNvPr id="39" name="TextBox 157"/>
          <p:cNvSpPr txBox="1"/>
          <p:nvPr/>
        </p:nvSpPr>
        <p:spPr bwMode="auto">
          <a:xfrm>
            <a:off x="3698240" y="2058035"/>
            <a:ext cx="503555" cy="352425"/>
          </a:xfrm>
          <a:prstGeom prst="rect">
            <a:avLst/>
          </a:prstGeom>
          <a:noFill/>
          <a:ln>
            <a:noFill/>
          </a:ln>
        </p:spPr>
        <p:style>
          <a:lnRef idx="2">
            <a:srgbClr val="668EFF"/>
          </a:lnRef>
          <a:fillRef idx="1">
            <a:srgbClr val="FFFFFF"/>
          </a:fillRef>
          <a:effectRef idx="0">
            <a:srgbClr val="668EFF"/>
          </a:effectRef>
          <a:fontRef idx="minor">
            <a:srgbClr val="383838"/>
          </a:fontRef>
        </p:style>
        <p:txBody>
          <a:bodyPr lIns="0" rIns="0" tIns="0" bIns="0">
            <a:noAutofit/>
          </a:bodyPr>
          <a:lstStyle>
            <a:lvl1pPr algn="l" eaLnBrk="0" hangingPunct="0">
              <a:defRPr sz="2100" b="1">
                <a:solidFill>
                  <a:srgbClr val="0042FF"/>
                </a:solidFill>
                <a:latin typeface="微软雅黑"/>
                <a:ea typeface="微软雅黑"/>
                <a:cs typeface="微软雅黑"/>
              </a:defRPr>
            </a:lvl1pPr>
            <a:lvl2pPr marL="742950" indent="-285750" algn="l" eaLnBrk="0" hangingPunct="0">
              <a:defRPr sz="2100" b="1">
                <a:solidFill>
                  <a:srgbClr val="0042FF"/>
                </a:solidFill>
                <a:latin typeface="微软雅黑"/>
                <a:ea typeface="微软雅黑"/>
                <a:cs typeface="微软雅黑"/>
              </a:defRPr>
            </a:lvl2pPr>
            <a:lvl3pPr marL="1143000" indent="-228600" algn="l" eaLnBrk="0" hangingPunct="0">
              <a:defRPr sz="2100" b="1">
                <a:solidFill>
                  <a:srgbClr val="0042FF"/>
                </a:solidFill>
                <a:latin typeface="微软雅黑"/>
                <a:ea typeface="微软雅黑"/>
                <a:cs typeface="微软雅黑"/>
              </a:defRPr>
            </a:lvl3pPr>
            <a:lvl4pPr marL="1600200" indent="-228600" algn="l" eaLnBrk="0" hangingPunct="0">
              <a:defRPr sz="2100" b="1">
                <a:solidFill>
                  <a:srgbClr val="0042FF"/>
                </a:solidFill>
                <a:latin typeface="微软雅黑"/>
                <a:ea typeface="微软雅黑"/>
                <a:cs typeface="微软雅黑"/>
              </a:defRPr>
            </a:lvl4pPr>
            <a:lvl5pPr marL="2057400" indent="-228600" algn="l" eaLnBrk="0" hangingPunct="0">
              <a:defRPr sz="2100" b="1">
                <a:solidFill>
                  <a:srgbClr val="0042FF"/>
                </a:solidFill>
                <a:latin typeface="微软雅黑"/>
                <a:ea typeface="微软雅黑"/>
                <a:cs typeface="微软雅黑"/>
              </a:defRPr>
            </a:lvl5pPr>
            <a:lvl6pPr marL="2514600" indent="-228600" eaLnBrk="0" fontAlgn="base" hangingPunct="0">
              <a:spcBef>
                <a:spcPct val="0"/>
              </a:spcBef>
              <a:spcAft>
                <a:spcPct val="0"/>
              </a:spcAft>
              <a:defRPr sz="2100" b="1">
                <a:solidFill>
                  <a:srgbClr val="0042FF"/>
                </a:solidFill>
                <a:latin typeface="微软雅黑"/>
                <a:ea typeface="微软雅黑"/>
                <a:cs typeface="微软雅黑"/>
              </a:defRPr>
            </a:lvl6pPr>
            <a:lvl7pPr marL="2971800" indent="-228600" eaLnBrk="0" fontAlgn="base" hangingPunct="0">
              <a:spcBef>
                <a:spcPct val="0"/>
              </a:spcBef>
              <a:spcAft>
                <a:spcPct val="0"/>
              </a:spcAft>
              <a:defRPr sz="2100" b="1">
                <a:solidFill>
                  <a:srgbClr val="0042FF"/>
                </a:solidFill>
                <a:latin typeface="微软雅黑"/>
                <a:ea typeface="微软雅黑"/>
                <a:cs typeface="微软雅黑"/>
              </a:defRPr>
            </a:lvl7pPr>
            <a:lvl8pPr marL="3429000" indent="-228600" eaLnBrk="0" fontAlgn="base" hangingPunct="0">
              <a:spcBef>
                <a:spcPct val="0"/>
              </a:spcBef>
              <a:spcAft>
                <a:spcPct val="0"/>
              </a:spcAft>
              <a:defRPr sz="2100" b="1">
                <a:solidFill>
                  <a:srgbClr val="0042FF"/>
                </a:solidFill>
                <a:latin typeface="微软雅黑"/>
                <a:ea typeface="微软雅黑"/>
                <a:cs typeface="微软雅黑"/>
              </a:defRPr>
            </a:lvl8pPr>
            <a:lvl9pPr marL="3886200" indent="-228600" eaLnBrk="0" fontAlgn="base" hangingPunct="0">
              <a:spcBef>
                <a:spcPct val="0"/>
              </a:spcBef>
              <a:spcAft>
                <a:spcPct val="0"/>
              </a:spcAft>
              <a:defRPr sz="2100" b="1">
                <a:solidFill>
                  <a:srgbClr val="0042FF"/>
                </a:solidFill>
                <a:latin typeface="微软雅黑"/>
                <a:ea typeface="微软雅黑"/>
                <a:cs typeface="微软雅黑"/>
              </a:defRPr>
            </a:lvl9pPr>
          </a:lstStyle>
          <a:p>
            <a:pPr algn="ctr" eaLnBrk="1" hangingPunct="1">
              <a:defRPr>
                <a:latin typeface="微软雅黑"/>
                <a:ea typeface="微软雅黑"/>
                <a:cs typeface="微软雅黑"/>
              </a:defRPr>
            </a:pPr>
            <a:r>
              <a:rPr lang="zh-CN" altLang="en-US" sz="1000" dirty="0">
                <a:solidFill>
                  <a:srgbClr val="383838"/>
                </a:solidFill>
                <a:latin typeface="微软雅黑"/>
                <a:ea typeface="微软雅黑"/>
                <a:cs typeface="微软雅黑"/>
              </a:rPr>
              <a:t>吸引</a:t>
            </a:r>
            <a:endParaRPr lang="zh-CN" altLang="en-US" sz="1000" dirty="0">
              <a:solidFill>
                <a:srgbClr val="383838"/>
              </a:solidFill>
              <a:latin typeface="微软雅黑"/>
              <a:ea typeface="微软雅黑"/>
              <a:cs typeface="微软雅黑"/>
            </a:endParaRPr>
          </a:p>
          <a:p>
            <a:pPr algn="ctr" eaLnBrk="1" hangingPunct="1">
              <a:defRPr>
                <a:latin typeface="微软雅黑"/>
                <a:ea typeface="微软雅黑"/>
                <a:cs typeface="微软雅黑"/>
              </a:defRPr>
            </a:pPr>
            <a:r>
              <a:rPr lang="zh-CN" altLang="en-US" sz="1000" dirty="0">
                <a:solidFill>
                  <a:srgbClr val="383838"/>
                </a:solidFill>
                <a:latin typeface="微软雅黑"/>
                <a:ea typeface="微软雅黑"/>
                <a:cs typeface="微软雅黑"/>
              </a:rPr>
              <a:t>入会</a:t>
            </a:r>
            <a:endParaRPr lang="zh-CN" altLang="en-US" sz="1000" dirty="0">
              <a:solidFill>
                <a:srgbClr val="383838"/>
              </a:solidFill>
              <a:latin typeface="微软雅黑"/>
              <a:ea typeface="微软雅黑"/>
              <a:cs typeface="微软雅黑"/>
            </a:endParaRPr>
          </a:p>
        </p:txBody>
      </p:sp>
      <p:grpSp>
        <p:nvGrpSpPr>
          <p:cNvPr id="40" name="组合 39"/>
          <p:cNvGrpSpPr/>
          <p:nvPr/>
        </p:nvGrpSpPr>
        <p:grpSpPr>
          <a:xfrm>
            <a:off x="5101590" y="2865755"/>
            <a:ext cx="575945" cy="562610"/>
            <a:chOff x="4093616" y="3298404"/>
            <a:chExt cx="552354" cy="539750"/>
          </a:xfrm>
        </p:grpSpPr>
        <p:sp>
          <p:nvSpPr>
            <p:cNvPr id="41" name="椭圆 44"/>
            <p:cNvSpPr>
              <a:spLocks noChangeArrowheads="1"/>
            </p:cNvSpPr>
            <p:nvPr/>
          </p:nvSpPr>
          <p:spPr bwMode="auto">
            <a:xfrm>
              <a:off x="4093616" y="3298404"/>
              <a:ext cx="539750" cy="539750"/>
            </a:xfrm>
            <a:prstGeom prst="ellipse">
              <a:avLst/>
            </a:prstGeom>
            <a:solidFill>
              <a:srgbClr val="FFFFFF"/>
            </a:solidFill>
            <a:ln w="19050" algn="ctr">
              <a:solidFill>
                <a:srgbClr val="3368FF">
                  <a:alpha val="50000"/>
                </a:srgbClr>
              </a:solidFill>
              <a:round/>
            </a:ln>
          </p:spPr>
          <p:txBody>
            <a:bodyPr wrap="none" anchor="ctr" lIns="0" rIns="0" tIns="0" bIns="0"/>
            <a:lstStyle/>
            <a:p>
              <a:pPr algn="ctr" eaLnBrk="0" hangingPunct="0">
                <a:lnSpc>
                  <a:spcPts val="3350"/>
                </a:lnSpc>
                <a:defRPr>
                  <a:latin typeface="微软雅黑"/>
                  <a:ea typeface="微软雅黑"/>
                  <a:cs typeface="微软雅黑"/>
                </a:defRPr>
              </a:pPr>
              <a:endParaRPr lang="zh-CN" altLang="en-US">
                <a:latin typeface="微软雅黑"/>
                <a:ea typeface="微软雅黑"/>
                <a:cs typeface="微软雅黑"/>
              </a:endParaRPr>
            </a:p>
          </p:txBody>
        </p:sp>
        <p:sp>
          <p:nvSpPr>
            <p:cNvPr id="42" name="TextBox 157"/>
            <p:cNvSpPr txBox="1"/>
            <p:nvPr/>
          </p:nvSpPr>
          <p:spPr bwMode="auto">
            <a:xfrm>
              <a:off x="4099870" y="3356278"/>
              <a:ext cx="546100" cy="441669"/>
            </a:xfrm>
            <a:prstGeom prst="rect">
              <a:avLst/>
            </a:prstGeom>
            <a:noFill/>
            <a:ln>
              <a:noFill/>
            </a:ln>
          </p:spPr>
          <p:style>
            <a:lnRef idx="2">
              <a:srgbClr val="668EFF"/>
            </a:lnRef>
            <a:fillRef idx="1">
              <a:srgbClr val="FFFFFF"/>
            </a:fillRef>
            <a:effectRef idx="0">
              <a:srgbClr val="668EFF"/>
            </a:effectRef>
            <a:fontRef idx="minor">
              <a:srgbClr val="383838"/>
            </a:fontRef>
          </p:style>
          <p:txBody>
            <a:bodyPr lIns="0" rIns="0" tIns="0" bIns="0">
              <a:spAutoFit/>
            </a:bodyPr>
            <a:lstStyle>
              <a:lvl1pPr algn="l" eaLnBrk="0" hangingPunct="0">
                <a:defRPr sz="2100" b="1">
                  <a:solidFill>
                    <a:srgbClr val="0042FF"/>
                  </a:solidFill>
                  <a:latin typeface="微软雅黑"/>
                  <a:ea typeface="微软雅黑"/>
                  <a:cs typeface="微软雅黑"/>
                </a:defRPr>
              </a:lvl1pPr>
              <a:lvl2pPr marL="742950" indent="-285750" algn="l" eaLnBrk="0" hangingPunct="0">
                <a:defRPr sz="2100" b="1">
                  <a:solidFill>
                    <a:srgbClr val="0042FF"/>
                  </a:solidFill>
                  <a:latin typeface="微软雅黑"/>
                  <a:ea typeface="微软雅黑"/>
                  <a:cs typeface="微软雅黑"/>
                </a:defRPr>
              </a:lvl2pPr>
              <a:lvl3pPr marL="1143000" indent="-228600" algn="l" eaLnBrk="0" hangingPunct="0">
                <a:defRPr sz="2100" b="1">
                  <a:solidFill>
                    <a:srgbClr val="0042FF"/>
                  </a:solidFill>
                  <a:latin typeface="微软雅黑"/>
                  <a:ea typeface="微软雅黑"/>
                  <a:cs typeface="微软雅黑"/>
                </a:defRPr>
              </a:lvl3pPr>
              <a:lvl4pPr marL="1600200" indent="-228600" algn="l" eaLnBrk="0" hangingPunct="0">
                <a:defRPr sz="2100" b="1">
                  <a:solidFill>
                    <a:srgbClr val="0042FF"/>
                  </a:solidFill>
                  <a:latin typeface="微软雅黑"/>
                  <a:ea typeface="微软雅黑"/>
                  <a:cs typeface="微软雅黑"/>
                </a:defRPr>
              </a:lvl4pPr>
              <a:lvl5pPr marL="2057400" indent="-228600" algn="l" eaLnBrk="0" hangingPunct="0">
                <a:defRPr sz="2100" b="1">
                  <a:solidFill>
                    <a:srgbClr val="0042FF"/>
                  </a:solidFill>
                  <a:latin typeface="微软雅黑"/>
                  <a:ea typeface="微软雅黑"/>
                  <a:cs typeface="微软雅黑"/>
                </a:defRPr>
              </a:lvl5pPr>
              <a:lvl6pPr marL="2514600" indent="-228600" eaLnBrk="0" fontAlgn="base" hangingPunct="0">
                <a:spcBef>
                  <a:spcPct val="0"/>
                </a:spcBef>
                <a:spcAft>
                  <a:spcPct val="0"/>
                </a:spcAft>
                <a:defRPr sz="2100" b="1">
                  <a:solidFill>
                    <a:srgbClr val="0042FF"/>
                  </a:solidFill>
                  <a:latin typeface="微软雅黑"/>
                  <a:ea typeface="微软雅黑"/>
                  <a:cs typeface="微软雅黑"/>
                </a:defRPr>
              </a:lvl6pPr>
              <a:lvl7pPr marL="2971800" indent="-228600" eaLnBrk="0" fontAlgn="base" hangingPunct="0">
                <a:spcBef>
                  <a:spcPct val="0"/>
                </a:spcBef>
                <a:spcAft>
                  <a:spcPct val="0"/>
                </a:spcAft>
                <a:defRPr sz="2100" b="1">
                  <a:solidFill>
                    <a:srgbClr val="0042FF"/>
                  </a:solidFill>
                  <a:latin typeface="微软雅黑"/>
                  <a:ea typeface="微软雅黑"/>
                  <a:cs typeface="微软雅黑"/>
                </a:defRPr>
              </a:lvl7pPr>
              <a:lvl8pPr marL="3429000" indent="-228600" eaLnBrk="0" fontAlgn="base" hangingPunct="0">
                <a:spcBef>
                  <a:spcPct val="0"/>
                </a:spcBef>
                <a:spcAft>
                  <a:spcPct val="0"/>
                </a:spcAft>
                <a:defRPr sz="2100" b="1">
                  <a:solidFill>
                    <a:srgbClr val="0042FF"/>
                  </a:solidFill>
                  <a:latin typeface="微软雅黑"/>
                  <a:ea typeface="微软雅黑"/>
                  <a:cs typeface="微软雅黑"/>
                </a:defRPr>
              </a:lvl8pPr>
              <a:lvl9pPr marL="3886200" indent="-228600" eaLnBrk="0" fontAlgn="base" hangingPunct="0">
                <a:spcBef>
                  <a:spcPct val="0"/>
                </a:spcBef>
                <a:spcAft>
                  <a:spcPct val="0"/>
                </a:spcAft>
                <a:defRPr sz="2100" b="1">
                  <a:solidFill>
                    <a:srgbClr val="0042FF"/>
                  </a:solidFill>
                  <a:latin typeface="微软雅黑"/>
                  <a:ea typeface="微软雅黑"/>
                  <a:cs typeface="微软雅黑"/>
                </a:defRPr>
              </a:lvl9pPr>
            </a:lstStyle>
            <a:p>
              <a:pPr algn="ctr" eaLnBrk="1" hangingPunct="1">
                <a:defRPr>
                  <a:latin typeface="微软雅黑"/>
                  <a:ea typeface="微软雅黑"/>
                  <a:cs typeface="微软雅黑"/>
                </a:defRPr>
              </a:pPr>
              <a:r>
                <a:rPr lang="zh-CN" altLang="en-US" sz="1200" dirty="0">
                  <a:solidFill>
                    <a:srgbClr val="383838"/>
                  </a:solidFill>
                  <a:latin typeface="微软雅黑"/>
                  <a:ea typeface="微软雅黑"/>
                  <a:cs typeface="微软雅黑"/>
                </a:rPr>
                <a:t>沟通渠道</a:t>
              </a:r>
              <a:endParaRPr lang="zh-CN" altLang="en-US" sz="1200" dirty="0">
                <a:solidFill>
                  <a:srgbClr val="383838"/>
                </a:solidFill>
                <a:latin typeface="微软雅黑"/>
                <a:ea typeface="微软雅黑"/>
                <a:cs typeface="微软雅黑"/>
              </a:endParaRPr>
            </a:p>
          </p:txBody>
        </p:sp>
      </p:grpSp>
      <p:grpSp>
        <p:nvGrpSpPr>
          <p:cNvPr id="45" name="组合 44"/>
          <p:cNvGrpSpPr/>
          <p:nvPr/>
        </p:nvGrpSpPr>
        <p:grpSpPr>
          <a:xfrm>
            <a:off x="6986272" y="3543300"/>
            <a:ext cx="569595" cy="461645"/>
            <a:chOff x="4036470" y="3298404"/>
            <a:chExt cx="665737" cy="539750"/>
          </a:xfrm>
        </p:grpSpPr>
        <p:sp>
          <p:nvSpPr>
            <p:cNvPr id="46" name="椭圆 44"/>
            <p:cNvSpPr>
              <a:spLocks noChangeArrowheads="1"/>
            </p:cNvSpPr>
            <p:nvPr/>
          </p:nvSpPr>
          <p:spPr bwMode="auto">
            <a:xfrm>
              <a:off x="4093616" y="3298404"/>
              <a:ext cx="539750" cy="539750"/>
            </a:xfrm>
            <a:prstGeom prst="ellipse">
              <a:avLst/>
            </a:prstGeom>
            <a:solidFill>
              <a:srgbClr val="E6E6E6"/>
            </a:solidFill>
            <a:ln w="19050" algn="ctr">
              <a:solidFill>
                <a:srgbClr val="0042FF">
                  <a:alpha val="50000"/>
                </a:srgbClr>
              </a:solidFill>
              <a:round/>
            </a:ln>
          </p:spPr>
          <p:txBody>
            <a:bodyPr wrap="none" anchor="ctr" lIns="0" rIns="0" tIns="0" bIns="0"/>
            <a:lstStyle/>
            <a:p>
              <a:pPr algn="ctr" eaLnBrk="0" hangingPunct="0">
                <a:lnSpc>
                  <a:spcPts val="3350"/>
                </a:lnSpc>
                <a:defRPr>
                  <a:latin typeface="微软雅黑"/>
                  <a:ea typeface="微软雅黑"/>
                  <a:cs typeface="微软雅黑"/>
                </a:defRPr>
              </a:pPr>
              <a:endParaRPr lang="zh-CN" altLang="en-US">
                <a:latin typeface="微软雅黑"/>
                <a:ea typeface="微软雅黑"/>
                <a:cs typeface="微软雅黑"/>
              </a:endParaRPr>
            </a:p>
          </p:txBody>
        </p:sp>
        <p:sp>
          <p:nvSpPr>
            <p:cNvPr id="47" name="TextBox 157"/>
            <p:cNvSpPr txBox="1"/>
            <p:nvPr/>
          </p:nvSpPr>
          <p:spPr bwMode="auto">
            <a:xfrm>
              <a:off x="4036470" y="3418677"/>
              <a:ext cx="665737" cy="322217"/>
            </a:xfrm>
            <a:prstGeom prst="rect">
              <a:avLst/>
            </a:prstGeom>
            <a:noFill/>
            <a:ln>
              <a:noFill/>
            </a:ln>
          </p:spPr>
          <p:style>
            <a:lnRef idx="2">
              <a:srgbClr val="668EFF"/>
            </a:lnRef>
            <a:fillRef idx="1">
              <a:srgbClr val="FFFFFF"/>
            </a:fillRef>
            <a:effectRef idx="0">
              <a:srgbClr val="668EFF"/>
            </a:effectRef>
            <a:fontRef idx="minor">
              <a:srgbClr val="383838"/>
            </a:fontRef>
          </p:style>
          <p:txBody>
            <a:bodyPr wrap="square" lIns="0" rIns="0" tIns="0" bIns="0">
              <a:spAutoFit/>
            </a:bodyPr>
            <a:lstStyle>
              <a:lvl1pPr algn="l" eaLnBrk="0" hangingPunct="0">
                <a:defRPr sz="2100" b="1">
                  <a:solidFill>
                    <a:srgbClr val="0042FF"/>
                  </a:solidFill>
                  <a:latin typeface="微软雅黑"/>
                  <a:ea typeface="微软雅黑"/>
                  <a:cs typeface="微软雅黑"/>
                </a:defRPr>
              </a:lvl1pPr>
              <a:lvl2pPr marL="742950" indent="-285750" algn="l" eaLnBrk="0" hangingPunct="0">
                <a:defRPr sz="2100" b="1">
                  <a:solidFill>
                    <a:srgbClr val="0042FF"/>
                  </a:solidFill>
                  <a:latin typeface="微软雅黑"/>
                  <a:ea typeface="微软雅黑"/>
                  <a:cs typeface="微软雅黑"/>
                </a:defRPr>
              </a:lvl2pPr>
              <a:lvl3pPr marL="1143000" indent="-228600" algn="l" eaLnBrk="0" hangingPunct="0">
                <a:defRPr sz="2100" b="1">
                  <a:solidFill>
                    <a:srgbClr val="0042FF"/>
                  </a:solidFill>
                  <a:latin typeface="微软雅黑"/>
                  <a:ea typeface="微软雅黑"/>
                  <a:cs typeface="微软雅黑"/>
                </a:defRPr>
              </a:lvl3pPr>
              <a:lvl4pPr marL="1600200" indent="-228600" algn="l" eaLnBrk="0" hangingPunct="0">
                <a:defRPr sz="2100" b="1">
                  <a:solidFill>
                    <a:srgbClr val="0042FF"/>
                  </a:solidFill>
                  <a:latin typeface="微软雅黑"/>
                  <a:ea typeface="微软雅黑"/>
                  <a:cs typeface="微软雅黑"/>
                </a:defRPr>
              </a:lvl4pPr>
              <a:lvl5pPr marL="2057400" indent="-228600" algn="l" eaLnBrk="0" hangingPunct="0">
                <a:defRPr sz="2100" b="1">
                  <a:solidFill>
                    <a:srgbClr val="0042FF"/>
                  </a:solidFill>
                  <a:latin typeface="微软雅黑"/>
                  <a:ea typeface="微软雅黑"/>
                  <a:cs typeface="微软雅黑"/>
                </a:defRPr>
              </a:lvl5pPr>
              <a:lvl6pPr marL="2514600" indent="-228600" eaLnBrk="0" fontAlgn="base" hangingPunct="0">
                <a:spcBef>
                  <a:spcPct val="0"/>
                </a:spcBef>
                <a:spcAft>
                  <a:spcPct val="0"/>
                </a:spcAft>
                <a:defRPr sz="2100" b="1">
                  <a:solidFill>
                    <a:srgbClr val="0042FF"/>
                  </a:solidFill>
                  <a:latin typeface="微软雅黑"/>
                  <a:ea typeface="微软雅黑"/>
                  <a:cs typeface="微软雅黑"/>
                </a:defRPr>
              </a:lvl6pPr>
              <a:lvl7pPr marL="2971800" indent="-228600" eaLnBrk="0" fontAlgn="base" hangingPunct="0">
                <a:spcBef>
                  <a:spcPct val="0"/>
                </a:spcBef>
                <a:spcAft>
                  <a:spcPct val="0"/>
                </a:spcAft>
                <a:defRPr sz="2100" b="1">
                  <a:solidFill>
                    <a:srgbClr val="0042FF"/>
                  </a:solidFill>
                  <a:latin typeface="微软雅黑"/>
                  <a:ea typeface="微软雅黑"/>
                  <a:cs typeface="微软雅黑"/>
                </a:defRPr>
              </a:lvl7pPr>
              <a:lvl8pPr marL="3429000" indent="-228600" eaLnBrk="0" fontAlgn="base" hangingPunct="0">
                <a:spcBef>
                  <a:spcPct val="0"/>
                </a:spcBef>
                <a:spcAft>
                  <a:spcPct val="0"/>
                </a:spcAft>
                <a:defRPr sz="2100" b="1">
                  <a:solidFill>
                    <a:srgbClr val="0042FF"/>
                  </a:solidFill>
                  <a:latin typeface="微软雅黑"/>
                  <a:ea typeface="微软雅黑"/>
                  <a:cs typeface="微软雅黑"/>
                </a:defRPr>
              </a:lvl8pPr>
              <a:lvl9pPr marL="3886200" indent="-228600" eaLnBrk="0" fontAlgn="base" hangingPunct="0">
                <a:spcBef>
                  <a:spcPct val="0"/>
                </a:spcBef>
                <a:spcAft>
                  <a:spcPct val="0"/>
                </a:spcAft>
                <a:defRPr sz="2100" b="1">
                  <a:solidFill>
                    <a:srgbClr val="0042FF"/>
                  </a:solidFill>
                  <a:latin typeface="微软雅黑"/>
                  <a:ea typeface="微软雅黑"/>
                  <a:cs typeface="微软雅黑"/>
                </a:defRPr>
              </a:lvl9pPr>
            </a:lstStyle>
            <a:p>
              <a:pPr algn="ctr" eaLnBrk="1" hangingPunct="1">
                <a:defRPr>
                  <a:latin typeface="微软雅黑"/>
                  <a:ea typeface="微软雅黑"/>
                  <a:cs typeface="微软雅黑"/>
                </a:defRPr>
              </a:pPr>
              <a:r>
                <a:rPr lang="zh-CN" altLang="en-US" sz="1200" dirty="0">
                  <a:solidFill>
                    <a:srgbClr val="383838"/>
                  </a:solidFill>
                  <a:latin typeface="微软雅黑"/>
                  <a:ea typeface="微软雅黑"/>
                  <a:cs typeface="微软雅黑"/>
                </a:rPr>
                <a:t>分析</a:t>
              </a:r>
              <a:endParaRPr lang="zh-CN" altLang="en-US" sz="1200" dirty="0">
                <a:solidFill>
                  <a:srgbClr val="383838"/>
                </a:solidFill>
                <a:latin typeface="微软雅黑"/>
                <a:ea typeface="微软雅黑"/>
                <a:cs typeface="微软雅黑"/>
              </a:endParaRPr>
            </a:p>
          </p:txBody>
        </p:sp>
      </p:grpSp>
      <p:sp>
        <p:nvSpPr>
          <p:cNvPr id="11" name="文本框 10"/>
          <p:cNvSpPr txBox="1"/>
          <p:nvPr/>
        </p:nvSpPr>
        <p:spPr>
          <a:xfrm>
            <a:off x="3693795" y="2808605"/>
            <a:ext cx="1226185" cy="771525"/>
          </a:xfrm>
          <a:prstGeom prst="roundRect">
            <a:avLst/>
          </a:prstGeom>
          <a:solidFill>
            <a:srgbClr val="3368FF"/>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成为会员</a:t>
            </a:r>
            <a:endParaRPr lang="zh-CN" altLang="en-US" b="1" dirty="0">
              <a:solidFill>
                <a:srgbClr val="FFFFFF"/>
              </a:solidFill>
              <a:latin typeface="微软雅黑"/>
              <a:ea typeface="微软雅黑"/>
              <a:cs typeface="微软雅黑"/>
              <a:sym typeface="微软雅黑"/>
            </a:endParaRPr>
          </a:p>
        </p:txBody>
      </p:sp>
      <p:sp>
        <p:nvSpPr>
          <p:cNvPr id="12" name="TextBox 131"/>
          <p:cNvSpPr txBox="1"/>
          <p:nvPr/>
        </p:nvSpPr>
        <p:spPr>
          <a:xfrm>
            <a:off x="984250" y="1212215"/>
            <a:ext cx="1284605" cy="492760"/>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wrap="square" anchor="ctr" anchorCtr="0" lIns="0" rIns="0" tIns="0" bIns="0">
            <a:noAutofit/>
          </a:bodyPr>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财务管理组</a:t>
            </a:r>
            <a:endParaRPr lang="zh-CN" altLang="en-US" sz="1200" b="1" dirty="0">
              <a:solidFill>
                <a:srgbClr val="FFFFFF"/>
              </a:solidFill>
              <a:latin typeface="微软雅黑"/>
              <a:ea typeface="微软雅黑"/>
              <a:cs typeface="微软雅黑"/>
            </a:endParaRPr>
          </a:p>
        </p:txBody>
      </p:sp>
      <p:sp>
        <p:nvSpPr>
          <p:cNvPr id="13" name="TextBox 131"/>
          <p:cNvSpPr txBox="1"/>
          <p:nvPr/>
        </p:nvSpPr>
        <p:spPr>
          <a:xfrm>
            <a:off x="4305935" y="1212215"/>
            <a:ext cx="1284605" cy="492760"/>
          </a:xfrm>
          <a:prstGeom prst="roundRect">
            <a:avLst>
              <a:gd name="adj" fmla="val 12588"/>
            </a:avLst>
          </a:prstGeom>
          <a:solidFill>
            <a:srgbClr val="B3D4FE"/>
          </a:solidFill>
          <a:ln>
            <a:noFill/>
          </a:ln>
        </p:spPr>
        <p:style>
          <a:lnRef idx="2">
            <a:srgbClr val="668EFF"/>
          </a:lnRef>
          <a:fillRef idx="1">
            <a:srgbClr val="FFFFFF"/>
          </a:fillRef>
          <a:effectRef idx="0">
            <a:srgbClr val="668EFF"/>
          </a:effectRef>
          <a:fontRef idx="minor">
            <a:srgbClr val="383838"/>
          </a:fontRef>
        </p:style>
        <p:txBody>
          <a:bodyPr wrap="square" anchor="ctr" anchorCtr="0" lIns="0" rIns="0" tIns="0" bIns="0">
            <a:noAutofit/>
          </a:bodyPr>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技术维护组</a:t>
            </a:r>
            <a:endParaRPr lang="zh-CN" altLang="en-US" sz="1200" b="1" dirty="0">
              <a:solidFill>
                <a:srgbClr val="383838"/>
              </a:solidFill>
              <a:latin typeface="微软雅黑"/>
              <a:ea typeface="微软雅黑"/>
              <a:cs typeface="微软雅黑"/>
            </a:endParaRPr>
          </a:p>
        </p:txBody>
      </p:sp>
      <p:sp>
        <p:nvSpPr>
          <p:cNvPr id="14" name="TextBox 131"/>
          <p:cNvSpPr txBox="1"/>
          <p:nvPr/>
        </p:nvSpPr>
        <p:spPr>
          <a:xfrm>
            <a:off x="2486660" y="1235710"/>
            <a:ext cx="1361440" cy="469265"/>
          </a:xfrm>
          <a:prstGeom prst="roundRect">
            <a:avLst>
              <a:gd name="adj" fmla="val 12588"/>
            </a:avLst>
          </a:prstGeom>
          <a:solidFill>
            <a:srgbClr val="3368FF"/>
          </a:solidFill>
          <a:ln>
            <a:noFill/>
          </a:ln>
        </p:spPr>
        <p:style>
          <a:lnRef idx="2">
            <a:srgbClr val="668EFF"/>
          </a:lnRef>
          <a:fillRef idx="1">
            <a:srgbClr val="FFFFFF"/>
          </a:fillRef>
          <a:effectRef idx="0">
            <a:srgbClr val="668EFF"/>
          </a:effectRef>
          <a:fontRef idx="minor">
            <a:srgbClr val="383838"/>
          </a:fontRef>
        </p:style>
        <p:txBody>
          <a:bodyPr wrap="square" anchor="ctr" anchorCtr="0" lIns="0" rIns="0" tIns="0" bIns="0">
            <a:noAutofit/>
          </a:bodyPr>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会员关系管理组</a:t>
            </a:r>
            <a:endParaRPr lang="zh-CN" altLang="en-US" sz="1200" b="1" dirty="0">
              <a:solidFill>
                <a:srgbClr val="FFFFFF"/>
              </a:solidFill>
              <a:latin typeface="微软雅黑"/>
              <a:ea typeface="微软雅黑"/>
              <a:cs typeface="微软雅黑"/>
            </a:endParaRPr>
          </a:p>
        </p:txBody>
      </p:sp>
      <p:sp>
        <p:nvSpPr>
          <p:cNvPr id="23" name="椭圆 22"/>
          <p:cNvSpPr/>
          <p:nvPr/>
        </p:nvSpPr>
        <p:spPr>
          <a:xfrm>
            <a:off x="2375535" y="1138555"/>
            <a:ext cx="273050" cy="27305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2</a:t>
            </a:r>
            <a:endParaRPr lang="en-US" altLang="zh-CN" sz="1600" b="1">
              <a:solidFill>
                <a:srgbClr val="0042FF"/>
              </a:solidFill>
              <a:latin typeface="微软雅黑"/>
              <a:ea typeface="微软雅黑"/>
              <a:cs typeface="微软雅黑"/>
            </a:endParaRPr>
          </a:p>
        </p:txBody>
      </p:sp>
      <p:sp>
        <p:nvSpPr>
          <p:cNvPr id="43" name="TextBox 131"/>
          <p:cNvSpPr txBox="1"/>
          <p:nvPr/>
        </p:nvSpPr>
        <p:spPr>
          <a:xfrm>
            <a:off x="6397625" y="1213485"/>
            <a:ext cx="2397125" cy="469265"/>
          </a:xfrm>
          <a:prstGeom prst="roundRect">
            <a:avLst>
              <a:gd name="adj" fmla="val 12588"/>
            </a:avLst>
          </a:prstGeom>
          <a:solidFill>
            <a:srgbClr val="3368FF"/>
          </a:solidFill>
          <a:ln>
            <a:noFill/>
          </a:ln>
        </p:spPr>
        <p:style>
          <a:lnRef idx="2">
            <a:srgbClr val="668EFF"/>
          </a:lnRef>
          <a:fillRef idx="1">
            <a:srgbClr val="FFFFFF"/>
          </a:fillRef>
          <a:effectRef idx="0">
            <a:srgbClr val="668EFF"/>
          </a:effectRef>
          <a:fontRef idx="minor">
            <a:srgbClr val="383838"/>
          </a:fontRef>
        </p:style>
        <p:txBody>
          <a:bodyPr wrap="square" anchor="ctr" anchorCtr="0" lIns="0" rIns="0" tIns="0" bIns="0">
            <a:noAutofit/>
          </a:bodyPr>
          <a:p>
            <a:pPr algn="ctr">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运营管理组</a:t>
            </a:r>
            <a:endParaRPr lang="zh-CN" altLang="en-US" sz="1200" b="1" dirty="0">
              <a:solidFill>
                <a:srgbClr val="FFFFFF"/>
              </a:solidFill>
              <a:latin typeface="微软雅黑"/>
              <a:ea typeface="微软雅黑"/>
              <a:cs typeface="微软雅黑"/>
            </a:endParaRPr>
          </a:p>
        </p:txBody>
      </p:sp>
      <p:sp>
        <p:nvSpPr>
          <p:cNvPr id="44" name="椭圆 43"/>
          <p:cNvSpPr/>
          <p:nvPr/>
        </p:nvSpPr>
        <p:spPr>
          <a:xfrm>
            <a:off x="6289040" y="1138555"/>
            <a:ext cx="273050" cy="27305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1</a:t>
            </a:r>
            <a:endParaRPr lang="en-US" altLang="zh-CN" sz="1600" b="1">
              <a:solidFill>
                <a:srgbClr val="0042FF"/>
              </a:solidFill>
              <a:latin typeface="微软雅黑"/>
              <a:ea typeface="微软雅黑"/>
              <a:cs typeface="微软雅黑"/>
            </a:endParaRPr>
          </a:p>
        </p:txBody>
      </p:sp>
      <p:sp>
        <p:nvSpPr>
          <p:cNvPr id="48" name="TextBox 131"/>
          <p:cNvSpPr txBox="1"/>
          <p:nvPr/>
        </p:nvSpPr>
        <p:spPr>
          <a:xfrm>
            <a:off x="3736975" y="6000750"/>
            <a:ext cx="2105025" cy="469265"/>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wrap="square" anchor="ctr" anchorCtr="0">
            <a:noAutofit/>
          </a:bodyPr>
          <a:p>
            <a:pPr lvl="0" algn="ctr">
              <a:buClrTx/>
              <a:buSzTx/>
              <a:buFontTx/>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市场活动管理组</a:t>
            </a:r>
            <a:endParaRPr lang="zh-CN" altLang="en-US" sz="1200" b="1" dirty="0">
              <a:solidFill>
                <a:srgbClr val="FFFFFF"/>
              </a:solidFill>
              <a:latin typeface="微软雅黑"/>
              <a:ea typeface="微软雅黑"/>
              <a:cs typeface="微软雅黑"/>
            </a:endParaRPr>
          </a:p>
        </p:txBody>
      </p:sp>
      <p:sp>
        <p:nvSpPr>
          <p:cNvPr id="49" name="椭圆 48"/>
          <p:cNvSpPr/>
          <p:nvPr/>
        </p:nvSpPr>
        <p:spPr>
          <a:xfrm>
            <a:off x="3656965" y="5904230"/>
            <a:ext cx="273050" cy="273050"/>
          </a:xfrm>
          <a:prstGeom prst="ellipse">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3</a:t>
            </a:r>
            <a:endParaRPr lang="en-US" altLang="zh-CN" sz="1600" b="1">
              <a:solidFill>
                <a:srgbClr val="0042FF"/>
              </a:solidFill>
              <a:latin typeface="微软雅黑"/>
              <a:ea typeface="微软雅黑"/>
              <a:cs typeface="微软雅黑"/>
            </a:endParaRPr>
          </a:p>
        </p:txBody>
      </p:sp>
      <p:sp>
        <p:nvSpPr>
          <p:cNvPr id="51" name="TextBox 131"/>
          <p:cNvSpPr txBox="1"/>
          <p:nvPr/>
        </p:nvSpPr>
        <p:spPr>
          <a:xfrm>
            <a:off x="6430010" y="6000750"/>
            <a:ext cx="2105025" cy="469265"/>
          </a:xfrm>
          <a:prstGeom prst="roundRect">
            <a:avLst>
              <a:gd name="adj" fmla="val 12588"/>
            </a:avLst>
          </a:prstGeom>
          <a:solidFill>
            <a:srgbClr val="3368FF"/>
          </a:solidFill>
          <a:ln>
            <a:noFill/>
          </a:ln>
        </p:spPr>
        <p:style>
          <a:lnRef idx="2">
            <a:srgbClr val="668EFF"/>
          </a:lnRef>
          <a:fillRef idx="1">
            <a:srgbClr val="FFFFFF"/>
          </a:fillRef>
          <a:effectRef idx="0">
            <a:srgbClr val="668EFF"/>
          </a:effectRef>
          <a:fontRef idx="minor">
            <a:srgbClr val="383838"/>
          </a:fontRef>
        </p:style>
        <p:txBody>
          <a:bodyPr wrap="square" anchor="ctr" anchorCtr="0">
            <a:noAutofit/>
          </a:bodyPr>
          <a:p>
            <a:pPr lvl="0" algn="ctr">
              <a:buClrTx/>
              <a:buSzTx/>
              <a:buFontTx/>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rPr>
              <a:t>奖励品管理组</a:t>
            </a:r>
            <a:endParaRPr lang="zh-CN" altLang="en-US" sz="1200" b="1" dirty="0">
              <a:solidFill>
                <a:srgbClr val="FFFFFF"/>
              </a:solidFill>
              <a:latin typeface="微软雅黑"/>
              <a:ea typeface="微软雅黑"/>
              <a:cs typeface="微软雅黑"/>
            </a:endParaRPr>
          </a:p>
        </p:txBody>
      </p:sp>
      <p:sp>
        <p:nvSpPr>
          <p:cNvPr id="52" name="椭圆 51"/>
          <p:cNvSpPr/>
          <p:nvPr/>
        </p:nvSpPr>
        <p:spPr>
          <a:xfrm>
            <a:off x="8354060" y="5904230"/>
            <a:ext cx="273050" cy="27305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4</a:t>
            </a:r>
            <a:endParaRPr lang="en-US" altLang="zh-CN" sz="1600" b="1">
              <a:solidFill>
                <a:srgbClr val="0042FF"/>
              </a:solidFill>
              <a:latin typeface="微软雅黑"/>
              <a:ea typeface="微软雅黑"/>
              <a:cs typeface="微软雅黑"/>
            </a:endParaRPr>
          </a:p>
        </p:txBody>
      </p:sp>
      <p:sp>
        <p:nvSpPr>
          <p:cNvPr id="53" name="TextBox 131"/>
          <p:cNvSpPr txBox="1"/>
          <p:nvPr/>
        </p:nvSpPr>
        <p:spPr>
          <a:xfrm>
            <a:off x="11421745" y="3220720"/>
            <a:ext cx="488315" cy="1462405"/>
          </a:xfrm>
          <a:prstGeom prst="roundRect">
            <a:avLst>
              <a:gd name="adj" fmla="val 12588"/>
            </a:avLst>
          </a:prstGeom>
          <a:solidFill>
            <a:srgbClr val="0042FF"/>
          </a:solidFill>
          <a:ln>
            <a:noFill/>
          </a:ln>
        </p:spPr>
        <p:style>
          <a:lnRef idx="2">
            <a:srgbClr val="668EFF"/>
          </a:lnRef>
          <a:fillRef idx="1">
            <a:srgbClr val="FFFFFF"/>
          </a:fillRef>
          <a:effectRef idx="0">
            <a:srgbClr val="668EFF"/>
          </a:effectRef>
          <a:fontRef idx="minor">
            <a:srgbClr val="383838"/>
          </a:fontRef>
        </p:style>
        <p:txBody>
          <a:bodyPr wrap="square" anchor="ctr" anchorCtr="0">
            <a:noAutofit/>
          </a:bodyPr>
          <a:p>
            <a:pPr algn="ctr" eaLnBrk="1" hangingPunct="1">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合作伙伴管理组</a:t>
            </a:r>
            <a:endParaRPr lang="zh-CN" altLang="en-US" sz="1200" b="1" dirty="0">
              <a:solidFill>
                <a:srgbClr val="FFFFFF"/>
              </a:solidFill>
              <a:latin typeface="微软雅黑"/>
              <a:ea typeface="微软雅黑"/>
              <a:cs typeface="微软雅黑"/>
            </a:endParaRPr>
          </a:p>
        </p:txBody>
      </p:sp>
      <p:sp>
        <p:nvSpPr>
          <p:cNvPr id="54" name="椭圆 53"/>
          <p:cNvSpPr/>
          <p:nvPr/>
        </p:nvSpPr>
        <p:spPr>
          <a:xfrm>
            <a:off x="11765280" y="3061970"/>
            <a:ext cx="273050" cy="273050"/>
          </a:xfrm>
          <a:prstGeom prst="ellipse">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600" b="1">
                <a:solidFill>
                  <a:srgbClr val="0042FF"/>
                </a:solidFill>
                <a:latin typeface="微软雅黑"/>
                <a:ea typeface="微软雅黑"/>
                <a:cs typeface="微软雅黑"/>
              </a:rPr>
              <a:t>5</a:t>
            </a:r>
            <a:endParaRPr lang="en-US" altLang="zh-CN" sz="1600" b="1">
              <a:solidFill>
                <a:srgbClr val="0042FF"/>
              </a:solidFill>
              <a:latin typeface="微软雅黑"/>
              <a:ea typeface="微软雅黑"/>
              <a:cs typeface="微软雅黑"/>
            </a:endParaRPr>
          </a:p>
        </p:txBody>
      </p:sp>
      <p:sp>
        <p:nvSpPr>
          <p:cNvPr id="62" name="流程图: 联系 116"/>
          <p:cNvSpPr>
            <a:spLocks noChangeArrowheads="1"/>
          </p:cNvSpPr>
          <p:nvPr/>
        </p:nvSpPr>
        <p:spPr bwMode="auto">
          <a:xfrm>
            <a:off x="1171575" y="3437255"/>
            <a:ext cx="123825" cy="129540"/>
          </a:xfrm>
          <a:prstGeom prst="flowChartConnector">
            <a:avLst/>
          </a:prstGeom>
          <a:solidFill>
            <a:srgbClr val="0042FF"/>
          </a:solidFill>
          <a:ln w="9525" algn="ctr">
            <a:solidFill>
              <a:srgbClr val="FFFFFF"/>
            </a:solidFill>
            <a:round/>
          </a:ln>
        </p:spPr>
        <p:txBody>
          <a:bodyPr lIns="0" tIns="0" rIns="0" bIns="0"/>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sp>
        <p:nvSpPr>
          <p:cNvPr id="65" name="矩形 64"/>
          <p:cNvSpPr/>
          <p:nvPr/>
        </p:nvSpPr>
        <p:spPr bwMode="auto">
          <a:xfrm>
            <a:off x="3846195" y="3756660"/>
            <a:ext cx="1062355" cy="240665"/>
          </a:xfrm>
          <a:prstGeom prst="rect">
            <a:avLst/>
          </a:prstGeom>
          <a:solidFill>
            <a:srgbClr val="B3D4FE"/>
          </a:solidFill>
          <a:ln w="12700" algn="ctr">
            <a:noFill/>
            <a:round/>
          </a:ln>
        </p:spPr>
        <p:txBody>
          <a:bodyPr wrap="none" rtlCol="0" anchor="ctr" lIns="0" rIns="0" tIns="0" bIns="0">
            <a:noAutofit/>
          </a:bodyPr>
          <a:p>
            <a:pPr lvl="0" algn="ctr" eaLnBrk="0" hangingPunct="0">
              <a:lnSpc>
                <a:spcPts val="3350"/>
              </a:lnSpc>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71" name="文本框 70"/>
          <p:cNvSpPr txBox="1"/>
          <p:nvPr/>
        </p:nvSpPr>
        <p:spPr>
          <a:xfrm>
            <a:off x="3886200" y="3778885"/>
            <a:ext cx="1000760" cy="194945"/>
          </a:xfrm>
          <a:prstGeom prst="rect">
            <a:avLst/>
          </a:prstGeom>
          <a:noFill/>
        </p:spPr>
        <p:txBody>
          <a:bodyPr wrap="square" rtlCol="0" lIns="0" rIns="0" tIns="0" bIns="0" anchor="t">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会员管理系统</a:t>
            </a:r>
            <a:endParaRPr lang="zh-CN" altLang="en-US" sz="1000">
              <a:solidFill>
                <a:srgbClr val="383838"/>
              </a:solidFill>
              <a:latin typeface="微软雅黑"/>
              <a:ea typeface="微软雅黑"/>
              <a:cs typeface="微软雅黑"/>
            </a:endParaRPr>
          </a:p>
        </p:txBody>
      </p:sp>
      <p:sp>
        <p:nvSpPr>
          <p:cNvPr id="72" name="流程图: 联系 116"/>
          <p:cNvSpPr>
            <a:spLocks noChangeArrowheads="1"/>
          </p:cNvSpPr>
          <p:nvPr/>
        </p:nvSpPr>
        <p:spPr bwMode="auto">
          <a:xfrm>
            <a:off x="4839970" y="3692525"/>
            <a:ext cx="123825" cy="129540"/>
          </a:xfrm>
          <a:prstGeom prst="flowChartConnector">
            <a:avLst/>
          </a:prstGeom>
          <a:solidFill>
            <a:srgbClr val="B3D4FE"/>
          </a:solidFill>
          <a:ln w="9525" algn="ctr">
            <a:solidFill>
              <a:srgbClr val="FFFFFF"/>
            </a:solidFill>
            <a:round/>
          </a:ln>
        </p:spPr>
        <p:txBody>
          <a:bodyPr lIns="0" tIns="0" rIns="0" bIns="0"/>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112" name="椭圆 44"/>
          <p:cNvSpPr>
            <a:spLocks noChangeArrowheads="1"/>
          </p:cNvSpPr>
          <p:nvPr/>
        </p:nvSpPr>
        <p:spPr bwMode="auto">
          <a:xfrm>
            <a:off x="3199130" y="4959350"/>
            <a:ext cx="562610" cy="562610"/>
          </a:xfrm>
          <a:prstGeom prst="ellipse">
            <a:avLst/>
          </a:prstGeom>
          <a:solidFill>
            <a:srgbClr val="E6E6E6"/>
          </a:solidFill>
          <a:ln w="19050" algn="ctr">
            <a:solidFill>
              <a:srgbClr val="0042FF">
                <a:alpha val="50000"/>
              </a:srgbClr>
            </a:solidFill>
            <a:round/>
          </a:ln>
        </p:spPr>
        <p:txBody>
          <a:bodyPr wrap="none" anchor="ctr" lIns="0" rIns="0" tIns="0" bIns="0">
            <a:noAutofit/>
          </a:bodyPr>
          <a:lstStyle/>
          <a:p>
            <a:pPr lvl="0" algn="ctr" eaLnBrk="0" hangingPunct="0">
              <a:lnSpc>
                <a:spcPts val="3350"/>
              </a:lnSpc>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13" name="TextBox 157"/>
          <p:cNvSpPr txBox="1"/>
          <p:nvPr/>
        </p:nvSpPr>
        <p:spPr bwMode="auto">
          <a:xfrm>
            <a:off x="3195638" y="5041265"/>
            <a:ext cx="569595" cy="398780"/>
          </a:xfrm>
          <a:prstGeom prst="rect">
            <a:avLst/>
          </a:prstGeom>
          <a:noFill/>
          <a:ln>
            <a:noFill/>
          </a:ln>
        </p:spPr>
        <p:style>
          <a:lnRef idx="2">
            <a:srgbClr val="668EFF"/>
          </a:lnRef>
          <a:fillRef idx="1">
            <a:srgbClr val="FFFFFF"/>
          </a:fillRef>
          <a:effectRef idx="0">
            <a:srgbClr val="668EFF"/>
          </a:effectRef>
          <a:fontRef idx="minor">
            <a:srgbClr val="383838"/>
          </a:fontRef>
        </p:style>
        <p:txBody>
          <a:bodyPr lIns="0" rIns="0" tIns="0" bIns="0">
            <a:spAutoFit/>
          </a:bodyPr>
          <a:lstStyle>
            <a:lvl1pPr algn="l" eaLnBrk="0" hangingPunct="0">
              <a:defRPr sz="2100" b="1">
                <a:solidFill>
                  <a:srgbClr val="0042FF"/>
                </a:solidFill>
                <a:latin typeface="微软雅黑"/>
                <a:ea typeface="微软雅黑"/>
                <a:cs typeface="微软雅黑"/>
              </a:defRPr>
            </a:lvl1pPr>
            <a:lvl2pPr marL="742950" indent="-285750" algn="l" eaLnBrk="0" hangingPunct="0">
              <a:defRPr sz="2100" b="1">
                <a:solidFill>
                  <a:srgbClr val="0042FF"/>
                </a:solidFill>
                <a:latin typeface="微软雅黑"/>
                <a:ea typeface="微软雅黑"/>
                <a:cs typeface="微软雅黑"/>
              </a:defRPr>
            </a:lvl2pPr>
            <a:lvl3pPr marL="1143000" indent="-228600" algn="l" eaLnBrk="0" hangingPunct="0">
              <a:defRPr sz="2100" b="1">
                <a:solidFill>
                  <a:srgbClr val="0042FF"/>
                </a:solidFill>
                <a:latin typeface="微软雅黑"/>
                <a:ea typeface="微软雅黑"/>
                <a:cs typeface="微软雅黑"/>
              </a:defRPr>
            </a:lvl3pPr>
            <a:lvl4pPr marL="1600200" indent="-228600" algn="l" eaLnBrk="0" hangingPunct="0">
              <a:defRPr sz="2100" b="1">
                <a:solidFill>
                  <a:srgbClr val="0042FF"/>
                </a:solidFill>
                <a:latin typeface="微软雅黑"/>
                <a:ea typeface="微软雅黑"/>
                <a:cs typeface="微软雅黑"/>
              </a:defRPr>
            </a:lvl4pPr>
            <a:lvl5pPr marL="2057400" indent="-228600" algn="l" eaLnBrk="0" hangingPunct="0">
              <a:defRPr sz="2100" b="1">
                <a:solidFill>
                  <a:srgbClr val="0042FF"/>
                </a:solidFill>
                <a:latin typeface="微软雅黑"/>
                <a:ea typeface="微软雅黑"/>
                <a:cs typeface="微软雅黑"/>
              </a:defRPr>
            </a:lvl5pPr>
            <a:lvl6pPr marL="2514600" indent="-228600" eaLnBrk="0" fontAlgn="base" hangingPunct="0">
              <a:spcBef>
                <a:spcPct val="0"/>
              </a:spcBef>
              <a:spcAft>
                <a:spcPct val="0"/>
              </a:spcAft>
              <a:defRPr sz="2100" b="1">
                <a:solidFill>
                  <a:srgbClr val="0042FF"/>
                </a:solidFill>
                <a:latin typeface="微软雅黑"/>
                <a:ea typeface="微软雅黑"/>
                <a:cs typeface="微软雅黑"/>
              </a:defRPr>
            </a:lvl6pPr>
            <a:lvl7pPr marL="2971800" indent="-228600" eaLnBrk="0" fontAlgn="base" hangingPunct="0">
              <a:spcBef>
                <a:spcPct val="0"/>
              </a:spcBef>
              <a:spcAft>
                <a:spcPct val="0"/>
              </a:spcAft>
              <a:defRPr sz="2100" b="1">
                <a:solidFill>
                  <a:srgbClr val="0042FF"/>
                </a:solidFill>
                <a:latin typeface="微软雅黑"/>
                <a:ea typeface="微软雅黑"/>
                <a:cs typeface="微软雅黑"/>
              </a:defRPr>
            </a:lvl7pPr>
            <a:lvl8pPr marL="3429000" indent="-228600" eaLnBrk="0" fontAlgn="base" hangingPunct="0">
              <a:spcBef>
                <a:spcPct val="0"/>
              </a:spcBef>
              <a:spcAft>
                <a:spcPct val="0"/>
              </a:spcAft>
              <a:defRPr sz="2100" b="1">
                <a:solidFill>
                  <a:srgbClr val="0042FF"/>
                </a:solidFill>
                <a:latin typeface="微软雅黑"/>
                <a:ea typeface="微软雅黑"/>
                <a:cs typeface="微软雅黑"/>
              </a:defRPr>
            </a:lvl8pPr>
            <a:lvl9pPr marL="3886200" indent="-228600" eaLnBrk="0" fontAlgn="base" hangingPunct="0">
              <a:spcBef>
                <a:spcPct val="0"/>
              </a:spcBef>
              <a:spcAft>
                <a:spcPct val="0"/>
              </a:spcAft>
              <a:defRPr sz="2100" b="1">
                <a:solidFill>
                  <a:srgbClr val="0042FF"/>
                </a:solidFill>
                <a:latin typeface="微软雅黑"/>
                <a:ea typeface="微软雅黑"/>
                <a:cs typeface="微软雅黑"/>
              </a:defRPr>
            </a:lvl9pPr>
          </a:lstStyle>
          <a:p>
            <a:pPr algn="ctr" eaLnBrk="1" hangingPunct="1">
              <a:defRPr>
                <a:latin typeface="微软雅黑"/>
                <a:ea typeface="微软雅黑"/>
                <a:cs typeface="微软雅黑"/>
              </a:defRPr>
            </a:pPr>
            <a:r>
              <a:rPr lang="zh-CN" altLang="en-US" sz="1000" dirty="0">
                <a:solidFill>
                  <a:srgbClr val="383838"/>
                </a:solidFill>
                <a:latin typeface="微软雅黑"/>
                <a:ea typeface="微软雅黑"/>
                <a:cs typeface="微软雅黑"/>
              </a:rPr>
              <a:t>协同</a:t>
            </a:r>
            <a:endParaRPr lang="zh-CN" altLang="en-US" sz="1000" dirty="0">
              <a:solidFill>
                <a:srgbClr val="383838"/>
              </a:solidFill>
              <a:latin typeface="微软雅黑"/>
              <a:ea typeface="微软雅黑"/>
              <a:cs typeface="微软雅黑"/>
            </a:endParaRPr>
          </a:p>
          <a:p>
            <a:pPr algn="ctr" eaLnBrk="1" hangingPunct="1">
              <a:defRPr>
                <a:latin typeface="微软雅黑"/>
                <a:ea typeface="微软雅黑"/>
                <a:cs typeface="微软雅黑"/>
              </a:defRPr>
            </a:pPr>
            <a:r>
              <a:rPr lang="zh-CN" altLang="en-US" sz="1000" dirty="0">
                <a:solidFill>
                  <a:srgbClr val="383838"/>
                </a:solidFill>
                <a:latin typeface="微软雅黑"/>
                <a:ea typeface="微软雅黑"/>
                <a:cs typeface="微软雅黑"/>
              </a:rPr>
              <a:t>配合</a:t>
            </a:r>
            <a:endParaRPr lang="zh-CN" altLang="en-US" sz="1000" dirty="0">
              <a:solidFill>
                <a:srgbClr val="383838"/>
              </a:solidFill>
              <a:latin typeface="微软雅黑"/>
              <a:ea typeface="微软雅黑"/>
              <a:cs typeface="微软雅黑"/>
            </a:endParaRPr>
          </a:p>
        </p:txBody>
      </p:sp>
      <p:sp>
        <p:nvSpPr>
          <p:cNvPr id="135" name="矩形 134"/>
          <p:cNvSpPr/>
          <p:nvPr/>
        </p:nvSpPr>
        <p:spPr bwMode="auto">
          <a:xfrm>
            <a:off x="3568065" y="2559368"/>
            <a:ext cx="631190" cy="181610"/>
          </a:xfrm>
          <a:prstGeom prst="rect">
            <a:avLst/>
          </a:prstGeom>
          <a:solidFill>
            <a:srgbClr val="3368FF"/>
          </a:solidFill>
          <a:ln w="12700" algn="ctr">
            <a:solidFill>
              <a:srgbClr val="3368FF"/>
            </a:solidFill>
            <a:round/>
          </a:ln>
        </p:spPr>
        <p:txBody>
          <a:bodyPr wrap="none" rtlCol="0" anchor="ctr" lIns="0" rIns="0" tIns="0" bIns="0">
            <a:noAutofit/>
          </a:bodyPr>
          <a:p>
            <a:pPr lvl="0" algn="ctr" eaLnBrk="0" hangingPunct="0">
              <a:lnSpc>
                <a:spcPts val="3350"/>
              </a:lnSpc>
              <a:buClrTx/>
              <a:buSzTx/>
              <a:buFontTx/>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sym typeface="微软雅黑"/>
            </a:endParaRPr>
          </a:p>
        </p:txBody>
      </p:sp>
      <p:sp>
        <p:nvSpPr>
          <p:cNvPr id="146" name="流程图: 联系 116"/>
          <p:cNvSpPr>
            <a:spLocks noChangeArrowheads="1"/>
          </p:cNvSpPr>
          <p:nvPr/>
        </p:nvSpPr>
        <p:spPr bwMode="auto">
          <a:xfrm>
            <a:off x="3475355" y="2527935"/>
            <a:ext cx="123825" cy="129540"/>
          </a:xfrm>
          <a:prstGeom prst="flowChartConnector">
            <a:avLst/>
          </a:prstGeom>
          <a:solidFill>
            <a:srgbClr val="3368FF"/>
          </a:solidFill>
          <a:ln w="9525" algn="ctr">
            <a:solidFill>
              <a:srgbClr val="FFFFFF"/>
            </a:solidFill>
            <a:round/>
          </a:ln>
        </p:spPr>
        <p:txBody>
          <a:bodyPr lIns="0" tIns="0" rIns="0" bIns="0"/>
          <a:p>
            <a:pPr defTabSz="675005">
              <a:defRPr>
                <a:solidFill>
                  <a:srgbClr val="FFFFFF"/>
                </a:solidFill>
                <a:latin typeface="微软雅黑"/>
                <a:ea typeface="微软雅黑"/>
                <a:cs typeface="微软雅黑"/>
              </a:defRPr>
            </a:pPr>
            <a:endParaRPr lang="zh-CN" altLang="en-US" sz="1000" b="0">
              <a:solidFill>
                <a:srgbClr val="FFFFFF"/>
              </a:solidFill>
              <a:latin typeface="微软雅黑"/>
              <a:ea typeface="微软雅黑"/>
              <a:cs typeface="微软雅黑"/>
              <a:sym typeface="微软雅黑"/>
            </a:endParaRPr>
          </a:p>
        </p:txBody>
      </p:sp>
      <p:sp>
        <p:nvSpPr>
          <p:cNvPr id="151" name="矩形 2"/>
          <p:cNvSpPr txBox="1">
            <a:spLocks noChangeArrowheads="1"/>
          </p:cNvSpPr>
          <p:nvPr/>
        </p:nvSpPr>
        <p:spPr bwMode="auto">
          <a:xfrm>
            <a:off x="8267700" y="3746500"/>
            <a:ext cx="1511300" cy="393700"/>
          </a:xfrm>
          <a:prstGeom prst="rect">
            <a:avLst/>
          </a:prstGeom>
          <a:solidFill>
            <a:srgbClr val="E6E6E6"/>
          </a:solidFill>
          <a:ln>
            <a:noFill/>
          </a:ln>
        </p:spPr>
        <p:style>
          <a:lnRef idx="2">
            <a:srgbClr val="668EFF"/>
          </a:lnRef>
          <a:fillRef idx="1">
            <a:srgbClr val="FFFFFF"/>
          </a:fillRef>
          <a:effectRef idx="0">
            <a:srgbClr val="668EFF"/>
          </a:effectRef>
          <a:fontRef idx="minor">
            <a:srgbClr val="383838"/>
          </a:fontRef>
        </p:style>
        <p:txBody>
          <a:bodyPr vertOverflow="overflow" horzOverflow="overflow" vert="horz" wrap="square" lIns="0" rIns="0" numCol="1" spcCol="0" rtlCol="0" fromWordArt="0" anchor="t" anchorCtr="0" forceAA="0" compatLnSpc="1" tIns="0" bIns="0">
            <a:noAutofit/>
          </a:bodyPr>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lvl="0" algn="l" eaLnBrk="1" latinLnBrk="0" marL="0" marR="0" indent="0">
              <a:lnSpc>
                <a:spcPts val="1080"/>
              </a:lnSpc>
              <a:spcBef>
                <a:spcPts val="0"/>
              </a:spcBef>
              <a:spcAft>
                <a:spcPts val="0"/>
              </a:spcAft>
              <a:buClr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跨业态/企业营销活动、</a:t>
            </a:r>
            <a:endParaRPr lang="zh-CN" altLang="en-US" sz="1000" dirty="0">
              <a:solidFill>
                <a:srgbClr val="383838"/>
              </a:solidFill>
              <a:latin typeface="微软雅黑"/>
              <a:ea typeface="微软雅黑"/>
              <a:cs typeface="微软雅黑"/>
              <a:sym typeface="微软雅黑"/>
            </a:endParaRPr>
          </a:p>
          <a:p>
            <a:pPr lvl="0" algn="l" eaLnBrk="1" latinLnBrk="0" marL="0" marR="0" indent="0">
              <a:lnSpc>
                <a:spcPts val="1080"/>
              </a:lnSpc>
              <a:spcBef>
                <a:spcPts val="0"/>
              </a:spcBef>
              <a:spcAft>
                <a:spcPts val="0"/>
              </a:spcAft>
              <a:buClrTx/>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品牌主题类活动</a:t>
            </a:r>
            <a:endParaRPr lang="zh-CN" altLang="en-US" sz="1000" dirty="0">
              <a:solidFill>
                <a:srgbClr val="383838"/>
              </a:solidFill>
              <a:latin typeface="微软雅黑"/>
              <a:ea typeface="微软雅黑"/>
              <a:cs typeface="微软雅黑"/>
              <a:sym typeface="微软雅黑"/>
            </a:endParaRPr>
          </a:p>
        </p:txBody>
      </p:sp>
      <p:sp>
        <p:nvSpPr>
          <p:cNvPr id="155" name="矩形 154"/>
          <p:cNvSpPr/>
          <p:nvPr/>
        </p:nvSpPr>
        <p:spPr bwMode="auto">
          <a:xfrm>
            <a:off x="5182235" y="2237740"/>
            <a:ext cx="120015" cy="561975"/>
          </a:xfrm>
          <a:prstGeom prst="rect">
            <a:avLst/>
          </a:prstGeom>
          <a:solidFill>
            <a:srgbClr val="FFFFFF"/>
          </a:solidFill>
          <a:ln w="6350" algn="ctr">
            <a:solidFill>
              <a:srgbClr val="B3D4FE"/>
            </a:solidFill>
            <a:round/>
          </a:ln>
        </p:spPr>
        <p:txBody>
          <a:bodyPr wrap="none" rtlCol="0" anchor="ctr" lIns="0" rIns="0" tIns="0" bIns="0">
            <a:noAutofit/>
          </a:bodyPr>
          <a:p>
            <a:pPr lvl="0" algn="ctr" eaLnBrk="0" hangingPunct="0">
              <a:lnSpc>
                <a:spcPts val="3350"/>
              </a:lnSpc>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162" name="矩形 161"/>
          <p:cNvSpPr/>
          <p:nvPr/>
        </p:nvSpPr>
        <p:spPr bwMode="auto">
          <a:xfrm>
            <a:off x="5362575" y="2237740"/>
            <a:ext cx="120015" cy="565785"/>
          </a:xfrm>
          <a:prstGeom prst="rect">
            <a:avLst/>
          </a:prstGeom>
          <a:solidFill>
            <a:srgbClr val="FFFFFF"/>
          </a:solidFill>
          <a:ln w="6350" algn="ctr">
            <a:solidFill>
              <a:srgbClr val="B3D4FE"/>
            </a:solidFill>
            <a:round/>
          </a:ln>
        </p:spPr>
        <p:txBody>
          <a:bodyPr wrap="none" rtlCol="0" anchor="ctr" lIns="0" rIns="0" tIns="0" bIns="0">
            <a:noAutofit/>
          </a:bodyPr>
          <a:p>
            <a:pPr lvl="0" algn="ctr" eaLnBrk="0" hangingPunct="0">
              <a:lnSpc>
                <a:spcPts val="3350"/>
              </a:lnSpc>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163" name="文本框 162"/>
          <p:cNvSpPr txBox="1"/>
          <p:nvPr/>
        </p:nvSpPr>
        <p:spPr bwMode="auto">
          <a:xfrm>
            <a:off x="5362575" y="2275205"/>
            <a:ext cx="121920" cy="487680"/>
          </a:xfrm>
          <a:prstGeom prst="rect">
            <a:avLst/>
          </a:prstGeom>
          <a:noFill/>
          <a:ln>
            <a:noFill/>
          </a:ln>
        </p:spPr>
        <p:txBody>
          <a:bodyPr wrap="square" rtlCol="0" anchor="ctr" anchorCtr="0" lIns="0" rIns="0" tIns="0" bIns="0">
            <a:noAutofit/>
          </a:bodyPr>
          <a:p>
            <a:pPr lvl="0" algn="ctr">
              <a:buClrTx/>
              <a:buSzTx/>
              <a:buFontTx/>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sym typeface="微软雅黑"/>
              </a:rPr>
              <a:t>APP</a:t>
            </a:r>
            <a:endParaRPr lang="zh-CN" altLang="en-US" sz="1000">
              <a:solidFill>
                <a:srgbClr val="383838"/>
              </a:solidFill>
              <a:latin typeface="微软雅黑"/>
              <a:ea typeface="微软雅黑"/>
              <a:cs typeface="微软雅黑"/>
              <a:sym typeface="微软雅黑"/>
            </a:endParaRPr>
          </a:p>
        </p:txBody>
      </p:sp>
      <p:sp>
        <p:nvSpPr>
          <p:cNvPr id="165" name="矩形 164"/>
          <p:cNvSpPr/>
          <p:nvPr/>
        </p:nvSpPr>
        <p:spPr bwMode="auto">
          <a:xfrm>
            <a:off x="5542915" y="2237740"/>
            <a:ext cx="120015" cy="565785"/>
          </a:xfrm>
          <a:prstGeom prst="rect">
            <a:avLst/>
          </a:prstGeom>
          <a:solidFill>
            <a:srgbClr val="FFFFFF"/>
          </a:solidFill>
          <a:ln w="6350" algn="ctr">
            <a:solidFill>
              <a:srgbClr val="B3D4FE"/>
            </a:solidFill>
            <a:round/>
          </a:ln>
        </p:spPr>
        <p:txBody>
          <a:bodyPr wrap="none" rtlCol="0" anchor="ctr" lIns="0" rIns="0" tIns="0" bIns="0">
            <a:noAutofit/>
          </a:bodyPr>
          <a:p>
            <a:pPr lvl="0" algn="ctr" eaLnBrk="0" hangingPunct="0">
              <a:lnSpc>
                <a:spcPts val="3350"/>
              </a:lnSpc>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166" name="文本框 165"/>
          <p:cNvSpPr txBox="1"/>
          <p:nvPr/>
        </p:nvSpPr>
        <p:spPr>
          <a:xfrm>
            <a:off x="5541010" y="2296160"/>
            <a:ext cx="121920" cy="45593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小程序</a:t>
            </a:r>
            <a:endParaRPr lang="zh-CN" altLang="en-US" sz="1000">
              <a:solidFill>
                <a:srgbClr val="383838"/>
              </a:solidFill>
              <a:latin typeface="微软雅黑"/>
              <a:ea typeface="微软雅黑"/>
              <a:cs typeface="微软雅黑"/>
            </a:endParaRPr>
          </a:p>
        </p:txBody>
      </p:sp>
      <p:sp>
        <p:nvSpPr>
          <p:cNvPr id="169" name="矩形 168"/>
          <p:cNvSpPr/>
          <p:nvPr/>
        </p:nvSpPr>
        <p:spPr bwMode="auto">
          <a:xfrm>
            <a:off x="5147945" y="3563620"/>
            <a:ext cx="120015" cy="565785"/>
          </a:xfrm>
          <a:prstGeom prst="rect">
            <a:avLst/>
          </a:prstGeom>
          <a:solidFill>
            <a:srgbClr val="FFFFFF"/>
          </a:solidFill>
          <a:ln w="6350" algn="ctr">
            <a:solidFill>
              <a:srgbClr val="B3D4FE"/>
            </a:solidFill>
            <a:round/>
          </a:ln>
        </p:spPr>
        <p:txBody>
          <a:bodyPr wrap="none" rtlCol="0" anchor="ctr" lIns="0" rIns="0" tIns="0" bIns="0">
            <a:noAutofit/>
          </a:bodyPr>
          <a:p>
            <a:pPr lvl="0" algn="ctr" eaLnBrk="0" hangingPunct="0">
              <a:lnSpc>
                <a:spcPts val="3350"/>
              </a:lnSpc>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171" name="矩形 170"/>
          <p:cNvSpPr/>
          <p:nvPr/>
        </p:nvSpPr>
        <p:spPr bwMode="auto">
          <a:xfrm>
            <a:off x="5372100" y="3563620"/>
            <a:ext cx="120015" cy="565785"/>
          </a:xfrm>
          <a:prstGeom prst="rect">
            <a:avLst/>
          </a:prstGeom>
          <a:solidFill>
            <a:srgbClr val="FFFFFF"/>
          </a:solidFill>
          <a:ln w="6350" algn="ctr">
            <a:solidFill>
              <a:srgbClr val="B3D4FE"/>
            </a:solidFill>
            <a:round/>
          </a:ln>
        </p:spPr>
        <p:txBody>
          <a:bodyPr wrap="none" rtlCol="0" anchor="ctr" lIns="0" rIns="0" tIns="0" bIns="0">
            <a:noAutofit/>
          </a:bodyPr>
          <a:p>
            <a:pPr lvl="0" algn="ctr" eaLnBrk="0" hangingPunct="0">
              <a:lnSpc>
                <a:spcPts val="3350"/>
              </a:lnSpc>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173" name="矩形 172"/>
          <p:cNvSpPr/>
          <p:nvPr/>
        </p:nvSpPr>
        <p:spPr bwMode="auto">
          <a:xfrm>
            <a:off x="5560060" y="3563620"/>
            <a:ext cx="120015" cy="565785"/>
          </a:xfrm>
          <a:prstGeom prst="rect">
            <a:avLst/>
          </a:prstGeom>
          <a:solidFill>
            <a:srgbClr val="FFFFFF"/>
          </a:solidFill>
          <a:ln w="6350" algn="ctr">
            <a:solidFill>
              <a:srgbClr val="B3D4FE"/>
            </a:solidFill>
            <a:round/>
          </a:ln>
        </p:spPr>
        <p:txBody>
          <a:bodyPr wrap="none" rtlCol="0" anchor="ctr" lIns="0" rIns="0" tIns="0" bIns="0">
            <a:noAutofit/>
          </a:bodyPr>
          <a:p>
            <a:pPr lvl="0" algn="ctr" eaLnBrk="0" hangingPunct="0">
              <a:lnSpc>
                <a:spcPts val="3350"/>
              </a:lnSpc>
              <a:buClrTx/>
              <a:buSzTx/>
              <a:buFontTx/>
              <a:defRPr>
                <a:latin typeface="微软雅黑"/>
                <a:ea typeface="微软雅黑"/>
                <a:cs typeface="微软雅黑"/>
              </a:defRPr>
            </a:pPr>
            <a:endParaRPr lang="zh-CN" altLang="en-US" sz="1000">
              <a:latin typeface="微软雅黑"/>
              <a:ea typeface="微软雅黑"/>
              <a:cs typeface="微软雅黑"/>
              <a:sym typeface="微软雅黑"/>
            </a:endParaRPr>
          </a:p>
        </p:txBody>
      </p:sp>
      <p:sp>
        <p:nvSpPr>
          <p:cNvPr id="177" name="TextBox 97"/>
          <p:cNvSpPr txBox="1"/>
          <p:nvPr/>
        </p:nvSpPr>
        <p:spPr>
          <a:xfrm>
            <a:off x="1312545" y="3157220"/>
            <a:ext cx="1413510"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lgn="ctr">
              <a:buNone/>
              <a:defRPr>
                <a:latin typeface="微软雅黑"/>
                <a:ea typeface="微软雅黑"/>
                <a:cs typeface="微软雅黑"/>
              </a:defRPr>
            </a:pPr>
            <a:r>
              <a:rPr lang="zh-CN" altLang="en-US" sz="1000" dirty="0">
                <a:solidFill>
                  <a:srgbClr val="383838"/>
                </a:solidFill>
                <a:latin typeface="微软雅黑"/>
                <a:ea typeface="微软雅黑"/>
                <a:cs typeface="微软雅黑"/>
              </a:rPr>
              <a:t>会员等级与权益</a:t>
            </a:r>
            <a:endParaRPr lang="zh-CN" altLang="en-US" sz="1000" dirty="0">
              <a:solidFill>
                <a:srgbClr val="383838"/>
              </a:solidFill>
              <a:latin typeface="微软雅黑"/>
              <a:ea typeface="微软雅黑"/>
              <a:cs typeface="微软雅黑"/>
            </a:endParaRPr>
          </a:p>
        </p:txBody>
      </p:sp>
      <p:sp>
        <p:nvSpPr>
          <p:cNvPr id="178" name="TextBox 98"/>
          <p:cNvSpPr txBox="1"/>
          <p:nvPr/>
        </p:nvSpPr>
        <p:spPr>
          <a:xfrm>
            <a:off x="1312545" y="3457575"/>
            <a:ext cx="1414145"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lgn="ctr">
              <a:buNone/>
              <a:defRPr>
                <a:latin typeface="微软雅黑"/>
                <a:ea typeface="微软雅黑"/>
                <a:cs typeface="微软雅黑"/>
              </a:defRPr>
            </a:pPr>
            <a:r>
              <a:rPr lang="zh-CN" altLang="en-US" sz="1000" dirty="0">
                <a:solidFill>
                  <a:srgbClr val="383838"/>
                </a:solidFill>
                <a:latin typeface="微软雅黑"/>
                <a:ea typeface="微软雅黑"/>
                <a:cs typeface="微软雅黑"/>
              </a:rPr>
              <a:t>会员积分管理</a:t>
            </a:r>
            <a:endParaRPr lang="zh-CN" altLang="en-US" sz="1000" dirty="0">
              <a:solidFill>
                <a:srgbClr val="383838"/>
              </a:solidFill>
              <a:latin typeface="微软雅黑"/>
              <a:ea typeface="微软雅黑"/>
              <a:cs typeface="微软雅黑"/>
            </a:endParaRPr>
          </a:p>
        </p:txBody>
      </p:sp>
      <p:sp>
        <p:nvSpPr>
          <p:cNvPr id="179" name="TextBox 97"/>
          <p:cNvSpPr txBox="1"/>
          <p:nvPr/>
        </p:nvSpPr>
        <p:spPr>
          <a:xfrm>
            <a:off x="1495425" y="5140325"/>
            <a:ext cx="1413510"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lgn="ctr">
              <a:buNone/>
              <a:defRPr>
                <a:latin typeface="微软雅黑"/>
                <a:ea typeface="微软雅黑"/>
                <a:cs typeface="微软雅黑"/>
              </a:defRPr>
            </a:pPr>
            <a:r>
              <a:rPr lang="zh-CN" altLang="en-US" sz="1000">
                <a:solidFill>
                  <a:srgbClr val="383838"/>
                </a:solidFill>
                <a:latin typeface="微软雅黑"/>
                <a:ea typeface="微软雅黑"/>
                <a:cs typeface="微软雅黑"/>
                <a:sym typeface="微软雅黑"/>
              </a:rPr>
              <a:t>沟通内容协同配合</a:t>
            </a:r>
            <a:endParaRPr lang="zh-CN" altLang="en-US" sz="1000" dirty="0">
              <a:solidFill>
                <a:srgbClr val="383838"/>
              </a:solidFill>
              <a:latin typeface="微软雅黑"/>
              <a:ea typeface="微软雅黑"/>
              <a:cs typeface="微软雅黑"/>
            </a:endParaRPr>
          </a:p>
        </p:txBody>
      </p:sp>
      <p:sp>
        <p:nvSpPr>
          <p:cNvPr id="180" name="TextBox 98"/>
          <p:cNvSpPr txBox="1"/>
          <p:nvPr/>
        </p:nvSpPr>
        <p:spPr>
          <a:xfrm>
            <a:off x="1495425" y="5440680"/>
            <a:ext cx="1414145" cy="249555"/>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266700" indent="-174625" defTabSz="779780">
              <a:buSzPct val="100000"/>
              <a:buFont typeface="微软雅黑"/>
              <a:buChar char="▶"/>
              <a:defRPr sz="1200" b="0" kern="0">
                <a:solidFill>
                  <a:srgbClr val="383838"/>
                </a:solidFill>
                <a:latin typeface="微软雅黑"/>
                <a:ea typeface="微软雅黑"/>
                <a:cs typeface="微软雅黑"/>
              </a:defRPr>
            </a:lvl1pPr>
          </a:lstStyle>
          <a:p>
            <a:pPr marL="92075" indent="0" algn="ctr">
              <a:buNone/>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营销活动协同配合</a:t>
            </a:r>
            <a:endParaRPr lang="zh-CN" altLang="en-US" sz="1000" dirty="0">
              <a:solidFill>
                <a:srgbClr val="383838"/>
              </a:solidFill>
              <a:latin typeface="微软雅黑"/>
              <a:ea typeface="微软雅黑"/>
              <a:cs typeface="微软雅黑"/>
            </a:endParaRPr>
          </a:p>
        </p:txBody>
      </p:sp>
      <p:sp>
        <p:nvSpPr>
          <p:cNvPr id="182" name="TextBox 130"/>
          <p:cNvSpPr txBox="1"/>
          <p:nvPr/>
        </p:nvSpPr>
        <p:spPr>
          <a:xfrm>
            <a:off x="9959340" y="3628390"/>
            <a:ext cx="1100455" cy="214630"/>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a:solidFill>
                  <a:srgbClr val="383838"/>
                </a:solidFill>
                <a:latin typeface="微软雅黑"/>
                <a:ea typeface="微软雅黑"/>
                <a:cs typeface="微软雅黑"/>
                <a:sym typeface="微软雅黑"/>
              </a:rPr>
              <a:t>整体规划</a:t>
            </a:r>
            <a:endParaRPr lang="zh-CN" altLang="en-US" dirty="0">
              <a:solidFill>
                <a:srgbClr val="383838"/>
              </a:solidFill>
              <a:latin typeface="微软雅黑"/>
              <a:ea typeface="微软雅黑"/>
              <a:cs typeface="微软雅黑"/>
              <a:sym typeface="微软雅黑"/>
            </a:endParaRPr>
          </a:p>
        </p:txBody>
      </p:sp>
      <p:sp>
        <p:nvSpPr>
          <p:cNvPr id="183" name="TextBox 130"/>
          <p:cNvSpPr txBox="1"/>
          <p:nvPr/>
        </p:nvSpPr>
        <p:spPr>
          <a:xfrm>
            <a:off x="9959340" y="3909695"/>
            <a:ext cx="1100455" cy="214630"/>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a:solidFill>
                  <a:srgbClr val="383838"/>
                </a:solidFill>
                <a:latin typeface="微软雅黑"/>
                <a:ea typeface="微软雅黑"/>
                <a:cs typeface="微软雅黑"/>
                <a:sym typeface="微软雅黑"/>
              </a:rPr>
              <a:t>合作伙伴管理</a:t>
            </a:r>
            <a:endParaRPr lang="zh-CN" altLang="en-US" dirty="0">
              <a:solidFill>
                <a:srgbClr val="383838"/>
              </a:solidFill>
              <a:latin typeface="微软雅黑"/>
              <a:ea typeface="微软雅黑"/>
              <a:cs typeface="微软雅黑"/>
              <a:sym typeface="微软雅黑"/>
            </a:endParaRPr>
          </a:p>
        </p:txBody>
      </p:sp>
      <p:sp>
        <p:nvSpPr>
          <p:cNvPr id="184" name="TextBox 130"/>
          <p:cNvSpPr txBox="1"/>
          <p:nvPr/>
        </p:nvSpPr>
        <p:spPr>
          <a:xfrm>
            <a:off x="9959340" y="4191000"/>
            <a:ext cx="1100455" cy="214630"/>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lIns="0" rIns="0" anchor="ctr" tIns="0" bIns="0"/>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a:solidFill>
                  <a:srgbClr val="383838"/>
                </a:solidFill>
                <a:latin typeface="微软雅黑"/>
                <a:ea typeface="微软雅黑"/>
                <a:cs typeface="微软雅黑"/>
                <a:sym typeface="微软雅黑"/>
              </a:rPr>
              <a:t>会员商城促销</a:t>
            </a:r>
            <a:endParaRPr lang="zh-CN" altLang="en-US" dirty="0">
              <a:solidFill>
                <a:srgbClr val="383838"/>
              </a:solidFill>
              <a:latin typeface="微软雅黑"/>
              <a:ea typeface="微软雅黑"/>
              <a:cs typeface="微软雅黑"/>
              <a:sym typeface="微软雅黑"/>
            </a:endParaRPr>
          </a:p>
        </p:txBody>
      </p:sp>
      <p:sp>
        <p:nvSpPr>
          <p:cNvPr id="187" name="TextBox 130"/>
          <p:cNvSpPr txBox="1"/>
          <p:nvPr/>
        </p:nvSpPr>
        <p:spPr>
          <a:xfrm>
            <a:off x="9959340" y="4472305"/>
            <a:ext cx="1100455" cy="214630"/>
          </a:xfrm>
          <a:prstGeom prst="roundRect">
            <a:avLst>
              <a:gd name="adj" fmla="val 12588"/>
            </a:avLst>
          </a:prstGeom>
          <a:solidFill>
            <a:srgbClr val="FFFFFF"/>
          </a:solidFill>
          <a:ln>
            <a:solidFill>
              <a:srgbClr val="0042FF"/>
            </a:solidFill>
          </a:ln>
        </p:spPr>
        <p:style>
          <a:lnRef idx="2">
            <a:srgbClr val="668EFF"/>
          </a:lnRef>
          <a:fillRef idx="1">
            <a:srgbClr val="FFFFFF"/>
          </a:fillRef>
          <a:effectRef idx="0">
            <a:srgbClr val="668EFF"/>
          </a:effectRef>
          <a:fontRef idx="minor">
            <a:srgbClr val="383838"/>
          </a:fontRef>
        </p:style>
        <p:txBody>
          <a:bodyPr vertOverflow="overflow" horzOverflow="overflow" vert="horz" wrap="square" lIns="0" rIns="0" numCol="1" spcCol="0" rtlCol="0" fromWordArt="0" anchor="ctr" anchorCtr="0" forceAA="0" compatLnSpc="1" tIns="0" bIns="0">
            <a:noAutofit/>
          </a:bodyPr>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lvl="0" algn="ctr">
              <a:buClrTx/>
              <a:defRPr>
                <a:latin typeface="微软雅黑"/>
                <a:ea typeface="微软雅黑"/>
                <a:cs typeface="微软雅黑"/>
              </a:defRPr>
            </a:pPr>
            <a:r>
              <a:rPr lang="zh-CN" altLang="en-US">
                <a:solidFill>
                  <a:srgbClr val="383838"/>
                </a:solidFill>
                <a:latin typeface="微软雅黑"/>
                <a:ea typeface="微软雅黑"/>
                <a:cs typeface="微软雅黑"/>
                <a:sym typeface="微软雅黑"/>
              </a:rPr>
              <a:t>会员权益设计</a:t>
            </a:r>
            <a:endParaRPr lang="zh-CN" altLang="en-US">
              <a:solidFill>
                <a:srgbClr val="383838"/>
              </a:solidFill>
              <a:latin typeface="微软雅黑"/>
              <a:ea typeface="微软雅黑"/>
              <a:cs typeface="微软雅黑"/>
              <a:sym typeface="微软雅黑"/>
            </a:endParaRPr>
          </a:p>
        </p:txBody>
      </p:sp>
      <p:sp>
        <p:nvSpPr>
          <p:cNvPr id="191" name="TextBox 130"/>
          <p:cNvSpPr txBox="1"/>
          <p:nvPr/>
        </p:nvSpPr>
        <p:spPr>
          <a:xfrm>
            <a:off x="8354060" y="4298950"/>
            <a:ext cx="1511300" cy="393700"/>
          </a:xfrm>
          <a:prstGeom prst="roundRect">
            <a:avLst>
              <a:gd name="adj" fmla="val 12588"/>
            </a:avLst>
          </a:prstGeom>
          <a:solidFill>
            <a:srgbClr val="FFFFFF"/>
          </a:solidFill>
          <a:ln>
            <a:solidFill>
              <a:srgbClr val="3368FF"/>
            </a:solidFill>
          </a:ln>
        </p:spPr>
        <p:style>
          <a:lnRef idx="2">
            <a:srgbClr val="668EFF"/>
          </a:lnRef>
          <a:fillRef idx="1">
            <a:srgbClr val="FFFFFF"/>
          </a:fillRef>
          <a:effectRef idx="0">
            <a:srgbClr val="668EFF"/>
          </a:effectRef>
          <a:fontRef idx="minor">
            <a:srgbClr val="383838"/>
          </a:fontRef>
        </p:style>
        <p:txBody>
          <a:bodyPr vertOverflow="overflow" horzOverflow="overflow" vert="horz" wrap="square" lIns="0" rIns="0" numCol="1" spcCol="0" rtlCol="0" fromWordArt="0" anchor="t" anchorCtr="0" forceAA="0" compatLnSpc="1" tIns="0" bIns="0">
            <a:noAutofit/>
          </a:bodyPr>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eaLnBrk="1" hangingPunct="0" latinLnBrk="0" marL="0" marR="0" indent="0">
              <a:lnSpc>
                <a:spcPts val="105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跨业态</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企业营销活动、</a:t>
            </a:r>
            <a:endParaRPr lang="en-US" altLang="zh-CN" sz="1000" dirty="0">
              <a:solidFill>
                <a:srgbClr val="383838"/>
              </a:solidFill>
              <a:latin typeface="微软雅黑"/>
              <a:ea typeface="微软雅黑"/>
              <a:cs typeface="微软雅黑"/>
            </a:endParaRPr>
          </a:p>
          <a:p>
            <a:pPr algn="ctr" eaLnBrk="1" hangingPunct="0" latinLnBrk="0" marL="0" marR="0" indent="0">
              <a:lnSpc>
                <a:spcPts val="105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品牌主题类活动</a:t>
            </a:r>
            <a:endParaRPr lang="zh-CN" altLang="en-US" sz="1000">
              <a:solidFill>
                <a:srgbClr val="383838"/>
              </a:solidFill>
              <a:latin typeface="微软雅黑"/>
              <a:ea typeface="微软雅黑"/>
              <a:cs typeface="微软雅黑"/>
              <a:sym typeface="微软雅黑"/>
            </a:endParaRPr>
          </a:p>
        </p:txBody>
      </p:sp>
      <p:sp>
        <p:nvSpPr>
          <p:cNvPr id="192" name="TextBox 130"/>
          <p:cNvSpPr txBox="1"/>
          <p:nvPr/>
        </p:nvSpPr>
        <p:spPr>
          <a:xfrm>
            <a:off x="8354060" y="4737100"/>
            <a:ext cx="1511300" cy="254000"/>
          </a:xfrm>
          <a:prstGeom prst="roundRect">
            <a:avLst>
              <a:gd name="adj" fmla="val 12588"/>
            </a:avLst>
          </a:prstGeom>
          <a:solidFill>
            <a:srgbClr val="FFFFFF"/>
          </a:solidFill>
          <a:ln>
            <a:solidFill>
              <a:srgbClr val="3368FF"/>
            </a:solidFill>
          </a:ln>
        </p:spPr>
        <p:style>
          <a:lnRef idx="2">
            <a:srgbClr val="668EFF"/>
          </a:lnRef>
          <a:fillRef idx="1">
            <a:srgbClr val="FFFFFF"/>
          </a:fillRef>
          <a:effectRef idx="0">
            <a:srgbClr val="668EFF"/>
          </a:effectRef>
          <a:fontRef idx="minor">
            <a:srgbClr val="383838"/>
          </a:fontRef>
        </p:style>
        <p:txBody>
          <a:bodyPr vertOverflow="overflow" horzOverflow="overflow" vert="horz" wrap="square" lIns="0" rIns="0" numCol="1" spcCol="0" rtlCol="0" fromWordArt="0" anchor="t" anchorCtr="0" forceAA="0" compatLnSpc="1" tIns="0" bIns="0">
            <a:noAutofit/>
          </a:bodyPr>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eaLnBrk="1" hangingPunct="0"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兴趣类、亲子类活动</a:t>
            </a:r>
            <a:endParaRPr lang="zh-CN" altLang="en-US" sz="1000">
              <a:solidFill>
                <a:srgbClr val="383838"/>
              </a:solidFill>
              <a:latin typeface="微软雅黑"/>
              <a:ea typeface="微软雅黑"/>
              <a:cs typeface="微软雅黑"/>
              <a:sym typeface="微软雅黑"/>
            </a:endParaRPr>
          </a:p>
        </p:txBody>
      </p:sp>
      <p:sp>
        <p:nvSpPr>
          <p:cNvPr id="193" name="TextBox 130"/>
          <p:cNvSpPr txBox="1"/>
          <p:nvPr/>
        </p:nvSpPr>
        <p:spPr>
          <a:xfrm>
            <a:off x="7967980" y="2561590"/>
            <a:ext cx="1263650" cy="214630"/>
          </a:xfrm>
          <a:prstGeom prst="roundRect">
            <a:avLst>
              <a:gd name="adj" fmla="val 12588"/>
            </a:avLst>
          </a:prstGeom>
          <a:solidFill>
            <a:srgbClr val="FFFFFF"/>
          </a:solidFill>
          <a:ln>
            <a:solidFill>
              <a:srgbClr val="3368FF"/>
            </a:solidFill>
          </a:ln>
        </p:spPr>
        <p:style>
          <a:lnRef idx="2">
            <a:srgbClr val="668EFF"/>
          </a:lnRef>
          <a:fillRef idx="1">
            <a:srgbClr val="FFFFFF"/>
          </a:fillRef>
          <a:effectRef idx="0">
            <a:srgbClr val="668EFF"/>
          </a:effectRef>
          <a:fontRef idx="minor">
            <a:srgbClr val="383838"/>
          </a:fontRef>
        </p:style>
        <p:txBody>
          <a:bodyPr lIns="0" rIns="0" anchor="ctr" anchorCtr="0" tIns="0" bIns="0"/>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a:solidFill>
                  <a:srgbClr val="383838"/>
                </a:solidFill>
                <a:latin typeface="微软雅黑"/>
                <a:ea typeface="微软雅黑"/>
                <a:cs typeface="微软雅黑"/>
                <a:sym typeface="微软雅黑"/>
              </a:rPr>
              <a:t>客户忠诚度分析</a:t>
            </a:r>
            <a:endParaRPr lang="zh-CN" altLang="en-US" dirty="0">
              <a:solidFill>
                <a:srgbClr val="383838"/>
              </a:solidFill>
              <a:latin typeface="微软雅黑"/>
              <a:ea typeface="微软雅黑"/>
              <a:cs typeface="微软雅黑"/>
              <a:sym typeface="微软雅黑"/>
            </a:endParaRPr>
          </a:p>
        </p:txBody>
      </p:sp>
      <p:sp>
        <p:nvSpPr>
          <p:cNvPr id="198" name="TextBox 130"/>
          <p:cNvSpPr txBox="1"/>
          <p:nvPr/>
        </p:nvSpPr>
        <p:spPr>
          <a:xfrm>
            <a:off x="7967980" y="2847340"/>
            <a:ext cx="1263650" cy="214630"/>
          </a:xfrm>
          <a:prstGeom prst="roundRect">
            <a:avLst>
              <a:gd name="adj" fmla="val 12588"/>
            </a:avLst>
          </a:prstGeom>
          <a:solidFill>
            <a:srgbClr val="FFFFFF"/>
          </a:solidFill>
          <a:ln>
            <a:solidFill>
              <a:srgbClr val="3368FF"/>
            </a:solidFill>
          </a:ln>
        </p:spPr>
        <p:style>
          <a:lnRef idx="2">
            <a:srgbClr val="668EFF"/>
          </a:lnRef>
          <a:fillRef idx="1">
            <a:srgbClr val="FFFFFF"/>
          </a:fillRef>
          <a:effectRef idx="0">
            <a:srgbClr val="668EFF"/>
          </a:effectRef>
          <a:fontRef idx="minor">
            <a:srgbClr val="383838"/>
          </a:fontRef>
        </p:style>
        <p:txBody>
          <a:bodyPr lIns="0" rIns="0" anchor="ctr" anchorCtr="0" tIns="0" bIns="0"/>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a:solidFill>
                  <a:srgbClr val="383838"/>
                </a:solidFill>
                <a:latin typeface="微软雅黑"/>
                <a:ea typeface="微软雅黑"/>
                <a:cs typeface="微软雅黑"/>
                <a:sym typeface="微软雅黑"/>
              </a:rPr>
              <a:t>客户价值分析</a:t>
            </a:r>
            <a:endParaRPr lang="zh-CN" altLang="en-US" dirty="0">
              <a:solidFill>
                <a:srgbClr val="383838"/>
              </a:solidFill>
              <a:latin typeface="微软雅黑"/>
              <a:ea typeface="微软雅黑"/>
              <a:cs typeface="微软雅黑"/>
              <a:sym typeface="微软雅黑"/>
            </a:endParaRPr>
          </a:p>
        </p:txBody>
      </p:sp>
      <p:sp>
        <p:nvSpPr>
          <p:cNvPr id="199" name="TextBox 130"/>
          <p:cNvSpPr txBox="1"/>
          <p:nvPr/>
        </p:nvSpPr>
        <p:spPr>
          <a:xfrm>
            <a:off x="7967980" y="3127375"/>
            <a:ext cx="1263650" cy="214630"/>
          </a:xfrm>
          <a:prstGeom prst="roundRect">
            <a:avLst>
              <a:gd name="adj" fmla="val 12588"/>
            </a:avLst>
          </a:prstGeom>
          <a:solidFill>
            <a:srgbClr val="FFFFFF"/>
          </a:solidFill>
          <a:ln>
            <a:solidFill>
              <a:srgbClr val="3368FF"/>
            </a:solidFill>
          </a:ln>
        </p:spPr>
        <p:style>
          <a:lnRef idx="2">
            <a:srgbClr val="668EFF"/>
          </a:lnRef>
          <a:fillRef idx="1">
            <a:srgbClr val="FFFFFF"/>
          </a:fillRef>
          <a:effectRef idx="0">
            <a:srgbClr val="668EFF"/>
          </a:effectRef>
          <a:fontRef idx="minor">
            <a:srgbClr val="383838"/>
          </a:fontRef>
        </p:style>
        <p:txBody>
          <a:bodyPr lIns="0" rIns="0" anchor="ctr" anchorCtr="0" tIns="0" bIns="0"/>
          <a:lstStyle>
            <a:defPPr>
              <a:defRPr lang="de-DE">
                <a:latin typeface="微软雅黑"/>
                <a:ea typeface="微软雅黑"/>
                <a:cs typeface="微软雅黑"/>
              </a:defRPr>
            </a:defPPr>
            <a:lvl1pPr marL="92075" indent="0" defTabSz="779780">
              <a:buSzPct val="100000"/>
              <a:buFont typeface="微软雅黑"/>
              <a:buNone/>
              <a:defRPr sz="1000" b="0" kern="0">
                <a:solidFill>
                  <a:srgbClr val="383838"/>
                </a:solidFill>
                <a:latin typeface="微软雅黑"/>
                <a:ea typeface="微软雅黑"/>
                <a:cs typeface="微软雅黑"/>
              </a:defRPr>
            </a:lvl1pPr>
            <a:lvl2pPr>
              <a:defRPr>
                <a:solidFill>
                  <a:srgbClr val="383838"/>
                </a:solidFill>
                <a:latin typeface="微软雅黑"/>
                <a:ea typeface="微软雅黑"/>
                <a:cs typeface="微软雅黑"/>
              </a:defRPr>
            </a:lvl2pPr>
            <a:lvl3pPr>
              <a:defRPr>
                <a:solidFill>
                  <a:srgbClr val="383838"/>
                </a:solidFill>
                <a:latin typeface="微软雅黑"/>
                <a:ea typeface="微软雅黑"/>
                <a:cs typeface="微软雅黑"/>
              </a:defRPr>
            </a:lvl3pPr>
            <a:lvl4pPr>
              <a:defRPr>
                <a:solidFill>
                  <a:srgbClr val="383838"/>
                </a:solidFill>
                <a:latin typeface="微软雅黑"/>
                <a:ea typeface="微软雅黑"/>
                <a:cs typeface="微软雅黑"/>
              </a:defRPr>
            </a:lvl4pPr>
            <a:lvl5pPr>
              <a:defRPr>
                <a:solidFill>
                  <a:srgbClr val="383838"/>
                </a:solidFill>
                <a:latin typeface="微软雅黑"/>
                <a:ea typeface="微软雅黑"/>
                <a:cs typeface="微软雅黑"/>
              </a:defRPr>
            </a:lvl5pPr>
            <a:lvl6pPr>
              <a:defRPr>
                <a:solidFill>
                  <a:srgbClr val="383838"/>
                </a:solidFill>
                <a:latin typeface="微软雅黑"/>
                <a:ea typeface="微软雅黑"/>
                <a:cs typeface="微软雅黑"/>
              </a:defRPr>
            </a:lvl6pPr>
            <a:lvl7pPr>
              <a:defRPr>
                <a:solidFill>
                  <a:srgbClr val="383838"/>
                </a:solidFill>
                <a:latin typeface="微软雅黑"/>
                <a:ea typeface="微软雅黑"/>
                <a:cs typeface="微软雅黑"/>
              </a:defRPr>
            </a:lvl7pPr>
            <a:lvl8pPr>
              <a:defRPr>
                <a:solidFill>
                  <a:srgbClr val="383838"/>
                </a:solidFill>
                <a:latin typeface="微软雅黑"/>
                <a:ea typeface="微软雅黑"/>
                <a:cs typeface="微软雅黑"/>
              </a:defRPr>
            </a:lvl8pPr>
            <a:lvl9pPr>
              <a:defRPr>
                <a:solidFill>
                  <a:srgbClr val="383838"/>
                </a:solidFill>
                <a:latin typeface="微软雅黑"/>
                <a:ea typeface="微软雅黑"/>
                <a:cs typeface="微软雅黑"/>
              </a:defRPr>
            </a:lvl9pPr>
          </a:lstStyle>
          <a:p>
            <a:pPr algn="ctr">
              <a:defRPr>
                <a:latin typeface="微软雅黑"/>
                <a:ea typeface="微软雅黑"/>
                <a:cs typeface="微软雅黑"/>
              </a:defRPr>
            </a:pPr>
            <a:r>
              <a:rPr lang="zh-CN" altLang="en-US">
                <a:solidFill>
                  <a:srgbClr val="383838"/>
                </a:solidFill>
                <a:latin typeface="微软雅黑"/>
                <a:ea typeface="微软雅黑"/>
                <a:cs typeface="微软雅黑"/>
                <a:sym typeface="微软雅黑"/>
              </a:rPr>
              <a:t>流失客户分析</a:t>
            </a:r>
            <a:endParaRPr lang="zh-CN" altLang="en-US" dirty="0">
              <a:solidFill>
                <a:srgbClr val="383838"/>
              </a:solidFill>
              <a:latin typeface="微软雅黑"/>
              <a:ea typeface="微软雅黑"/>
              <a:cs typeface="微软雅黑"/>
              <a:sym typeface="微软雅黑"/>
            </a:endParaRPr>
          </a:p>
        </p:txBody>
      </p:sp>
      <p:sp>
        <p:nvSpPr>
          <p:cNvPr id="2" name="文本框 1"/>
          <p:cNvSpPr txBox="1"/>
          <p:nvPr/>
        </p:nvSpPr>
        <p:spPr>
          <a:xfrm>
            <a:off x="3586480" y="2549525"/>
            <a:ext cx="600075" cy="191135"/>
          </a:xfrm>
          <a:prstGeom prst="rect">
            <a:avLst/>
          </a:prstGeom>
          <a:noFill/>
        </p:spPr>
        <p:txBody>
          <a:bodyPr wrap="square" rtlCol="0" lIns="0" rIns="0" tIns="0" bIns="0" anchor="t">
            <a:noAutofit/>
          </a:bodyPr>
          <a:p>
            <a:pPr algn="ctr">
              <a:defRPr>
                <a:solidFill>
                  <a:srgbClr val="FFFFFF"/>
                </a:solidFill>
                <a:latin typeface="微软雅黑"/>
                <a:ea typeface="微软雅黑"/>
                <a:cs typeface="微软雅黑"/>
              </a:defRPr>
              <a:lnSpc>
                <a:spcPts val="1120"/>
              </a:lnSpc>
              <a:spcBef>
                <a:spcPts val="0"/>
              </a:spcBef>
              <a:spcAft>
                <a:spcPts val="0"/>
              </a:spcAft>
            </a:pPr>
            <a:r>
              <a:rPr lang="zh-CN" altLang="en-US" sz="1000">
                <a:solidFill>
                  <a:srgbClr val="FFFFFF"/>
                </a:solidFill>
                <a:latin typeface="微软雅黑"/>
                <a:ea typeface="微软雅黑"/>
                <a:cs typeface="微软雅黑"/>
              </a:rPr>
              <a:t>入会管理</a:t>
            </a:r>
            <a:endParaRPr lang="zh-CN" altLang="en-US" sz="1000">
              <a:solidFill>
                <a:srgbClr val="FFFFFF"/>
              </a:solidFill>
              <a:latin typeface="微软雅黑"/>
              <a:ea typeface="微软雅黑"/>
              <a:cs typeface="微软雅黑"/>
            </a:endParaRPr>
          </a:p>
        </p:txBody>
      </p:sp>
      <p:sp>
        <p:nvSpPr>
          <p:cNvPr id="3" name="文本框 2"/>
          <p:cNvSpPr txBox="1"/>
          <p:nvPr/>
        </p:nvSpPr>
        <p:spPr>
          <a:xfrm>
            <a:off x="5146675" y="3613785"/>
            <a:ext cx="121920" cy="59817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客服中心</a:t>
            </a:r>
            <a:endParaRPr lang="zh-CN" altLang="en-US" sz="1000">
              <a:solidFill>
                <a:srgbClr val="383838"/>
              </a:solidFill>
              <a:latin typeface="微软雅黑"/>
              <a:ea typeface="微软雅黑"/>
              <a:cs typeface="微软雅黑"/>
            </a:endParaRPr>
          </a:p>
        </p:txBody>
      </p:sp>
      <p:sp>
        <p:nvSpPr>
          <p:cNvPr id="4" name="文本框 3"/>
          <p:cNvSpPr txBox="1"/>
          <p:nvPr/>
        </p:nvSpPr>
        <p:spPr>
          <a:xfrm>
            <a:off x="5362575" y="3613785"/>
            <a:ext cx="121920" cy="44577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微信</a:t>
            </a:r>
            <a:endParaRPr lang="zh-CN" altLang="en-US" sz="1000">
              <a:solidFill>
                <a:srgbClr val="383838"/>
              </a:solidFill>
              <a:latin typeface="微软雅黑"/>
              <a:ea typeface="微软雅黑"/>
              <a:cs typeface="微软雅黑"/>
            </a:endParaRPr>
          </a:p>
        </p:txBody>
      </p:sp>
      <p:sp>
        <p:nvSpPr>
          <p:cNvPr id="6" name="文本框 5"/>
          <p:cNvSpPr txBox="1"/>
          <p:nvPr/>
        </p:nvSpPr>
        <p:spPr>
          <a:xfrm>
            <a:off x="5560060" y="3613785"/>
            <a:ext cx="121920" cy="44577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短信</a:t>
            </a:r>
            <a:endParaRPr lang="zh-CN" altLang="en-US" sz="1000">
              <a:solidFill>
                <a:srgbClr val="383838"/>
              </a:solidFill>
              <a:latin typeface="微软雅黑"/>
              <a:ea typeface="微软雅黑"/>
              <a:cs typeface="微软雅黑"/>
            </a:endParaRPr>
          </a:p>
        </p:txBody>
      </p:sp>
      <p:grpSp>
        <p:nvGrpSpPr>
          <p:cNvPr id="27" name="组合 26"/>
          <p:cNvGrpSpPr/>
          <p:nvPr/>
        </p:nvGrpSpPr>
        <p:grpSpPr>
          <a:xfrm>
            <a:off x="5002530" y="3475355"/>
            <a:ext cx="660400" cy="118110"/>
            <a:chOff x="7878" y="5473"/>
            <a:chExt cx="1040" cy="186"/>
          </a:xfrm>
        </p:grpSpPr>
        <p:cxnSp>
          <p:nvCxnSpPr>
            <p:cNvPr id="36" name="直接连接符 105"/>
            <p:cNvCxnSpPr/>
            <p:nvPr/>
          </p:nvCxnSpPr>
          <p:spPr>
            <a:xfrm flipV="1">
              <a:off x="7878" y="5477"/>
              <a:ext cx="977" cy="2"/>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sp>
          <p:nvSpPr>
            <p:cNvPr id="175" name="流程图: 联系 116"/>
            <p:cNvSpPr>
              <a:spLocks noChangeArrowheads="1"/>
            </p:cNvSpPr>
            <p:nvPr/>
          </p:nvSpPr>
          <p:spPr bwMode="auto">
            <a:xfrm>
              <a:off x="8476" y="5523"/>
              <a:ext cx="130" cy="136"/>
            </a:xfrm>
            <a:prstGeom prst="flowChartConnector">
              <a:avLst/>
            </a:prstGeom>
            <a:solidFill>
              <a:srgbClr val="B3D4FE"/>
            </a:solidFill>
            <a:ln w="9525" algn="ctr">
              <a:solidFill>
                <a:srgbClr val="FFFFFF"/>
              </a:solidFill>
              <a:round/>
            </a:ln>
          </p:spPr>
          <p:txBody>
            <a:bodyPr lIns="0" tIns="0" rIns="0" bIns="0"/>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176" name="流程图: 联系 116"/>
            <p:cNvSpPr>
              <a:spLocks noChangeArrowheads="1"/>
            </p:cNvSpPr>
            <p:nvPr/>
          </p:nvSpPr>
          <p:spPr bwMode="auto">
            <a:xfrm>
              <a:off x="8136" y="5523"/>
              <a:ext cx="130" cy="136"/>
            </a:xfrm>
            <a:prstGeom prst="flowChartConnector">
              <a:avLst/>
            </a:prstGeom>
            <a:solidFill>
              <a:srgbClr val="B3D4FE"/>
            </a:solidFill>
            <a:ln w="9525" algn="ctr">
              <a:solidFill>
                <a:srgbClr val="FFFFFF"/>
              </a:solidFill>
              <a:round/>
            </a:ln>
          </p:spPr>
          <p:txBody>
            <a:bodyPr lIns="0" tIns="0" rIns="0" bIns="0"/>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7" name="流程图: 联系 116"/>
            <p:cNvSpPr>
              <a:spLocks noChangeArrowheads="1"/>
            </p:cNvSpPr>
            <p:nvPr/>
          </p:nvSpPr>
          <p:spPr bwMode="auto">
            <a:xfrm>
              <a:off x="8788" y="5523"/>
              <a:ext cx="130" cy="136"/>
            </a:xfrm>
            <a:prstGeom prst="flowChartConnector">
              <a:avLst/>
            </a:prstGeom>
            <a:solidFill>
              <a:srgbClr val="B3D4FE"/>
            </a:solidFill>
            <a:ln w="9525" algn="ctr">
              <a:solidFill>
                <a:srgbClr val="FFFFFF"/>
              </a:solidFill>
              <a:round/>
            </a:ln>
          </p:spPr>
          <p:txBody>
            <a:bodyPr lIns="0" tIns="0" rIns="0" bIns="0"/>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cxnSp>
          <p:nvCxnSpPr>
            <p:cNvPr id="8" name="直接连接符 7"/>
            <p:cNvCxnSpPr>
              <a:stCxn id="176" idx="0"/>
            </p:cNvCxnSpPr>
            <p:nvPr/>
          </p:nvCxnSpPr>
          <p:spPr>
            <a:xfrm flipV="1">
              <a:off x="8201" y="5473"/>
              <a:ext cx="0" cy="50"/>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cxnSp>
          <p:nvCxnSpPr>
            <p:cNvPr id="9" name="直接连接符 8"/>
            <p:cNvCxnSpPr/>
            <p:nvPr/>
          </p:nvCxnSpPr>
          <p:spPr>
            <a:xfrm flipV="1">
              <a:off x="8541" y="5481"/>
              <a:ext cx="0" cy="50"/>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grpSp>
      <p:cxnSp>
        <p:nvCxnSpPr>
          <p:cNvPr id="15" name="直接连接符 14"/>
          <p:cNvCxnSpPr/>
          <p:nvPr/>
        </p:nvCxnSpPr>
        <p:spPr>
          <a:xfrm flipV="1">
            <a:off x="5621655" y="3480435"/>
            <a:ext cx="0" cy="31750"/>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sp>
        <p:nvSpPr>
          <p:cNvPr id="26" name="文本框 25"/>
          <p:cNvSpPr txBox="1"/>
          <p:nvPr/>
        </p:nvSpPr>
        <p:spPr>
          <a:xfrm>
            <a:off x="5182235" y="2296160"/>
            <a:ext cx="121920" cy="598170"/>
          </a:xfrm>
          <a:prstGeom prst="rect">
            <a:avLst/>
          </a:prstGeom>
          <a:noFill/>
        </p:spPr>
        <p:txBody>
          <a:bodyPr wrap="square" rtlCol="0" anchor="ctr" anchorCtr="0" lIns="0" rIns="0" tIns="0" bIns="0">
            <a:noAutofit/>
          </a:bodyPr>
          <a:p>
            <a:pPr algn="ctr">
              <a:defRPr>
                <a:latin typeface="微软雅黑"/>
                <a:ea typeface="微软雅黑"/>
                <a:cs typeface="微软雅黑"/>
              </a:defRPr>
              <a:lnSpc>
                <a:spcPts val="1120"/>
              </a:lnSpc>
              <a:spcBef>
                <a:spcPts val="0"/>
              </a:spcBef>
              <a:spcAft>
                <a:spcPts val="0"/>
              </a:spcAft>
            </a:pPr>
            <a:r>
              <a:rPr lang="zh-CN" altLang="en-US" sz="1000">
                <a:solidFill>
                  <a:srgbClr val="383838"/>
                </a:solidFill>
                <a:latin typeface="微软雅黑"/>
                <a:ea typeface="微软雅黑"/>
                <a:cs typeface="微软雅黑"/>
              </a:rPr>
              <a:t>会员网站</a:t>
            </a:r>
            <a:endParaRPr lang="zh-CN" altLang="en-US" sz="1000">
              <a:solidFill>
                <a:srgbClr val="383838"/>
              </a:solidFill>
              <a:latin typeface="微软雅黑"/>
              <a:ea typeface="微软雅黑"/>
              <a:cs typeface="微软雅黑"/>
            </a:endParaRPr>
          </a:p>
        </p:txBody>
      </p:sp>
      <p:cxnSp>
        <p:nvCxnSpPr>
          <p:cNvPr id="30" name="直接连接符 105"/>
          <p:cNvCxnSpPr/>
          <p:nvPr/>
        </p:nvCxnSpPr>
        <p:spPr>
          <a:xfrm>
            <a:off x="4975225" y="2164080"/>
            <a:ext cx="632460" cy="635"/>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sp>
        <p:nvSpPr>
          <p:cNvPr id="31" name="流程图: 联系 116"/>
          <p:cNvSpPr>
            <a:spLocks noChangeArrowheads="1"/>
          </p:cNvSpPr>
          <p:nvPr/>
        </p:nvSpPr>
        <p:spPr bwMode="auto">
          <a:xfrm>
            <a:off x="5388610" y="2192020"/>
            <a:ext cx="82550" cy="86360"/>
          </a:xfrm>
          <a:prstGeom prst="flowChartConnector">
            <a:avLst/>
          </a:prstGeom>
          <a:solidFill>
            <a:srgbClr val="B3D4FE"/>
          </a:solidFill>
          <a:ln w="9525" algn="ctr">
            <a:solidFill>
              <a:srgbClr val="FFFFFF"/>
            </a:solidFill>
            <a:round/>
          </a:ln>
        </p:spPr>
        <p:txBody>
          <a:bodyPr lIns="0" tIns="0" rIns="0" bIns="0"/>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32" name="流程图: 联系 116"/>
          <p:cNvSpPr>
            <a:spLocks noChangeArrowheads="1"/>
          </p:cNvSpPr>
          <p:nvPr/>
        </p:nvSpPr>
        <p:spPr bwMode="auto">
          <a:xfrm>
            <a:off x="5196205" y="2192020"/>
            <a:ext cx="82550" cy="86360"/>
          </a:xfrm>
          <a:prstGeom prst="flowChartConnector">
            <a:avLst/>
          </a:prstGeom>
          <a:solidFill>
            <a:srgbClr val="B3D4FE"/>
          </a:solidFill>
          <a:ln w="9525" algn="ctr">
            <a:solidFill>
              <a:srgbClr val="FFFFFF"/>
            </a:solidFill>
            <a:round/>
          </a:ln>
        </p:spPr>
        <p:txBody>
          <a:bodyPr lIns="0" tIns="0" rIns="0" bIns="0"/>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sp>
        <p:nvSpPr>
          <p:cNvPr id="33" name="流程图: 联系 116"/>
          <p:cNvSpPr>
            <a:spLocks noChangeArrowheads="1"/>
          </p:cNvSpPr>
          <p:nvPr/>
        </p:nvSpPr>
        <p:spPr bwMode="auto">
          <a:xfrm>
            <a:off x="5560060" y="2188845"/>
            <a:ext cx="82550" cy="86360"/>
          </a:xfrm>
          <a:prstGeom prst="flowChartConnector">
            <a:avLst/>
          </a:prstGeom>
          <a:solidFill>
            <a:srgbClr val="B3D4FE"/>
          </a:solidFill>
          <a:ln w="9525" algn="ctr">
            <a:solidFill>
              <a:srgbClr val="FFFFFF"/>
            </a:solidFill>
            <a:round/>
          </a:ln>
        </p:spPr>
        <p:txBody>
          <a:bodyPr lIns="0" tIns="0" rIns="0" bIns="0"/>
          <a:p>
            <a:pPr defTabSz="675005">
              <a:defRPr>
                <a:latin typeface="微软雅黑"/>
                <a:ea typeface="微软雅黑"/>
                <a:cs typeface="微软雅黑"/>
              </a:defRPr>
            </a:pPr>
            <a:endParaRPr lang="zh-CN" altLang="en-US" sz="1000" b="0">
              <a:solidFill>
                <a:srgbClr val="383838"/>
              </a:solidFill>
              <a:latin typeface="微软雅黑"/>
              <a:ea typeface="微软雅黑"/>
              <a:cs typeface="微软雅黑"/>
              <a:sym typeface="微软雅黑"/>
            </a:endParaRPr>
          </a:p>
        </p:txBody>
      </p:sp>
      <p:cxnSp>
        <p:nvCxnSpPr>
          <p:cNvPr id="34" name="直接连接符 33"/>
          <p:cNvCxnSpPr>
            <a:stCxn id="32" idx="0"/>
          </p:cNvCxnSpPr>
          <p:nvPr/>
        </p:nvCxnSpPr>
        <p:spPr>
          <a:xfrm flipV="1">
            <a:off x="5237480" y="2160270"/>
            <a:ext cx="0" cy="31750"/>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cxnSp>
        <p:nvCxnSpPr>
          <p:cNvPr id="35" name="直接连接符 34"/>
          <p:cNvCxnSpPr/>
          <p:nvPr/>
        </p:nvCxnSpPr>
        <p:spPr>
          <a:xfrm flipV="1">
            <a:off x="5430520" y="2165350"/>
            <a:ext cx="0" cy="31750"/>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cxnSp>
        <p:nvCxnSpPr>
          <p:cNvPr id="37" name="直接连接符 36"/>
          <p:cNvCxnSpPr/>
          <p:nvPr/>
        </p:nvCxnSpPr>
        <p:spPr>
          <a:xfrm flipV="1">
            <a:off x="5602605" y="2162810"/>
            <a:ext cx="0" cy="31750"/>
          </a:xfrm>
          <a:prstGeom prst="line">
            <a:avLst/>
          </a:prstGeom>
          <a:ln w="12700">
            <a:solidFill>
              <a:srgbClr val="B3D4FE"/>
            </a:solidFill>
            <a:prstDash val="sysDot"/>
          </a:ln>
        </p:spPr>
        <p:style>
          <a:lnRef idx="1">
            <a:srgbClr val="0042FF"/>
          </a:lnRef>
          <a:fillRef idx="0">
            <a:srgbClr val="0042FF"/>
          </a:fillRef>
          <a:effectRef idx="0">
            <a:srgbClr val="0042FF"/>
          </a:effectRef>
          <a:fontRef idx="minor">
            <a:srgbClr val="383838"/>
          </a:fontRef>
        </p:style>
      </p:cxnSp>
      <p:cxnSp>
        <p:nvCxnSpPr>
          <p:cNvPr id="50" name="直接连接符 49"/>
          <p:cNvCxnSpPr>
            <a:stCxn id="137" idx="2"/>
          </p:cNvCxnSpPr>
          <p:nvPr/>
        </p:nvCxnSpPr>
        <p:spPr>
          <a:xfrm flipH="1">
            <a:off x="5774690" y="3392805"/>
            <a:ext cx="41275" cy="0"/>
          </a:xfrm>
          <a:prstGeom prst="line">
            <a:avLst/>
          </a:prstGeom>
          <a:ln>
            <a:solidFill>
              <a:srgbClr val="DCDCDC"/>
            </a:solidFill>
            <a:prstDash val="sysDot"/>
          </a:ln>
        </p:spPr>
        <p:style>
          <a:lnRef idx="2">
            <a:srgbClr val="0042FF"/>
          </a:lnRef>
          <a:fillRef idx="0">
            <a:srgbClr val="FFFFFF"/>
          </a:fillRef>
          <a:effectRef idx="0">
            <a:srgbClr val="FFFFFF"/>
          </a:effectRef>
          <a:fontRef idx="minor">
            <a:srgbClr val="383838"/>
          </a:fontRef>
        </p:style>
      </p:cxnSp>
      <p:cxnSp>
        <p:nvCxnSpPr>
          <p:cNvPr id="55" name="直接连接符 54"/>
          <p:cNvCxnSpPr/>
          <p:nvPr/>
        </p:nvCxnSpPr>
        <p:spPr>
          <a:xfrm flipH="1">
            <a:off x="5778500" y="3692525"/>
            <a:ext cx="41275" cy="0"/>
          </a:xfrm>
          <a:prstGeom prst="line">
            <a:avLst/>
          </a:prstGeom>
          <a:ln>
            <a:solidFill>
              <a:srgbClr val="DCDCDC"/>
            </a:solidFill>
            <a:prstDash val="sysDot"/>
          </a:ln>
        </p:spPr>
        <p:style>
          <a:lnRef idx="2">
            <a:srgbClr val="0042FF"/>
          </a:lnRef>
          <a:fillRef idx="0">
            <a:srgbClr val="FFFFFF"/>
          </a:fillRef>
          <a:effectRef idx="0">
            <a:srgbClr val="FFFFFF"/>
          </a:effectRef>
          <a:fontRef idx="minor">
            <a:srgbClr val="383838"/>
          </a:fontRef>
        </p:style>
      </p:cxnSp>
      <p:cxnSp>
        <p:nvCxnSpPr>
          <p:cNvPr id="56" name="直接连接符 55"/>
          <p:cNvCxnSpPr/>
          <p:nvPr/>
        </p:nvCxnSpPr>
        <p:spPr>
          <a:xfrm flipH="1">
            <a:off x="5778500" y="3973830"/>
            <a:ext cx="41275" cy="0"/>
          </a:xfrm>
          <a:prstGeom prst="line">
            <a:avLst/>
          </a:prstGeom>
          <a:ln>
            <a:solidFill>
              <a:srgbClr val="DCDCDC"/>
            </a:solidFill>
            <a:prstDash val="sysDot"/>
          </a:ln>
        </p:spPr>
        <p:style>
          <a:lnRef idx="2">
            <a:srgbClr val="0042FF"/>
          </a:lnRef>
          <a:fillRef idx="0">
            <a:srgbClr val="FFFFFF"/>
          </a:fillRef>
          <a:effectRef idx="0">
            <a:srgbClr val="FFFFFF"/>
          </a:effectRef>
          <a:fontRef idx="minor">
            <a:srgbClr val="383838"/>
          </a:fontRef>
        </p:style>
      </p:cxnSp>
      <p:cxnSp>
        <p:nvCxnSpPr>
          <p:cNvPr id="57" name="直接连接符 56"/>
          <p:cNvCxnSpPr/>
          <p:nvPr/>
        </p:nvCxnSpPr>
        <p:spPr>
          <a:xfrm flipH="1">
            <a:off x="5778500" y="4281170"/>
            <a:ext cx="41275" cy="0"/>
          </a:xfrm>
          <a:prstGeom prst="line">
            <a:avLst/>
          </a:prstGeom>
          <a:ln>
            <a:solidFill>
              <a:srgbClr val="DCDCDC"/>
            </a:solidFill>
            <a:prstDash val="sysDot"/>
          </a:ln>
        </p:spPr>
        <p:style>
          <a:lnRef idx="2">
            <a:srgbClr val="0042FF"/>
          </a:lnRef>
          <a:fillRef idx="0">
            <a:srgbClr val="FFFFFF"/>
          </a:fillRef>
          <a:effectRef idx="0">
            <a:srgbClr val="FFFFFF"/>
          </a:effectRef>
          <a:fontRef idx="minor">
            <a:srgbClr val="383838"/>
          </a:fontRef>
        </p:style>
      </p:cxnSp>
      <p:cxnSp>
        <p:nvCxnSpPr>
          <p:cNvPr id="58" name="直接连接符 57"/>
          <p:cNvCxnSpPr/>
          <p:nvPr/>
        </p:nvCxnSpPr>
        <p:spPr>
          <a:xfrm flipH="1">
            <a:off x="5774690" y="4537710"/>
            <a:ext cx="41275" cy="0"/>
          </a:xfrm>
          <a:prstGeom prst="line">
            <a:avLst/>
          </a:prstGeom>
          <a:ln>
            <a:solidFill>
              <a:srgbClr val="B3D4FE"/>
            </a:solidFill>
            <a:prstDash val="sysDot"/>
          </a:ln>
        </p:spPr>
        <p:style>
          <a:lnRef idx="2">
            <a:srgbClr val="0042FF"/>
          </a:lnRef>
          <a:fillRef idx="0">
            <a:srgbClr val="FFFFFF"/>
          </a:fillRef>
          <a:effectRef idx="0">
            <a:srgbClr val="FFFFFF"/>
          </a:effectRef>
          <a:fontRef idx="minor">
            <a:srgbClr val="383838"/>
          </a:fontRef>
        </p:style>
      </p:cxnSp>
      <p:cxnSp>
        <p:nvCxnSpPr>
          <p:cNvPr id="2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8" name="组合 27"/>
          <p:cNvGrpSpPr/>
          <p:nvPr/>
        </p:nvGrpSpPr>
        <p:grpSpPr>
          <a:xfrm>
            <a:off x="8738235" y="348615"/>
            <a:ext cx="3219450" cy="332740"/>
            <a:chOff x="13761" y="549"/>
            <a:chExt cx="5070" cy="524"/>
          </a:xfrm>
        </p:grpSpPr>
        <p:pic>
          <p:nvPicPr>
            <p:cNvPr id="59" name="图片 58"/>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60" name="文本框 59"/>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产品设计探索过程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圆角矩形 11"/>
          <p:cNvSpPr/>
          <p:nvPr/>
        </p:nvSpPr>
        <p:spPr>
          <a:xfrm>
            <a:off x="948055" y="1056005"/>
            <a:ext cx="10706100" cy="1930400"/>
          </a:xfrm>
          <a:prstGeom prst="roundRect">
            <a:avLst>
              <a:gd name="adj" fmla="val 3659"/>
            </a:avLst>
          </a:prstGeom>
          <a:solidFill>
            <a:srgbClr val="FFFFFF">
              <a:alpha val="30000"/>
            </a:srgbClr>
          </a:solidFill>
          <a:ln w="12700">
            <a:solidFill>
              <a:srgbClr val="B3D4FE"/>
            </a:solid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7" name="组合 6"/>
          <p:cNvGrpSpPr/>
          <p:nvPr/>
        </p:nvGrpSpPr>
        <p:grpSpPr>
          <a:xfrm>
            <a:off x="3827691" y="1196514"/>
            <a:ext cx="7587339" cy="484632"/>
            <a:chOff x="3827691" y="1247314"/>
            <a:chExt cx="7762190" cy="484632"/>
          </a:xfrm>
          <a:solidFill>
            <a:srgbClr val="3368FF"/>
          </a:solidFill>
          <a:effectLst>
            <a:outerShdw blurRad="50800" dist="38100" dir="2700000" algn="tl" rotWithShape="0">
              <a:srgbClr val="B3D4FE">
                <a:alpha val="40000"/>
              </a:srgbClr>
            </a:outerShdw>
          </a:effectLst>
        </p:grpSpPr>
        <p:sp>
          <p:nvSpPr>
            <p:cNvPr id="8" name="箭头: 燕尾形 4"/>
            <p:cNvSpPr/>
            <p:nvPr/>
          </p:nvSpPr>
          <p:spPr>
            <a:xfrm>
              <a:off x="9501881" y="1247314"/>
              <a:ext cx="2088000" cy="484632"/>
            </a:xfrm>
            <a:prstGeom prst="notchedRightArrow">
              <a:avLst>
                <a:gd name="adj1" fmla="val 100000"/>
                <a:gd name="adj2" fmla="val 50000"/>
              </a:avLst>
            </a:prstGeom>
            <a:grp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a:lstStyle/>
            <a:p>
              <a:pPr algn="ctr">
                <a:defRPr>
                  <a:solidFill>
                    <a:srgbClr val="FFFFFF"/>
                  </a:solidFill>
                  <a:latin typeface="微软雅黑"/>
                  <a:ea typeface="微软雅黑"/>
                  <a:cs typeface="微软雅黑"/>
                </a:defRPr>
              </a:pPr>
              <a:r>
                <a:rPr lang="en-US" altLang="zh-CN" sz="1300" kern="0" dirty="0">
                  <a:solidFill>
                    <a:srgbClr val="FFFFFF"/>
                  </a:solidFill>
                  <a:latin typeface="微软雅黑"/>
                  <a:ea typeface="微软雅黑"/>
                  <a:cs typeface="微软雅黑"/>
                </a:rPr>
                <a:t>E4 </a:t>
              </a:r>
              <a:r>
                <a:rPr lang="zh-CN" altLang="en-US" sz="1300" kern="0" dirty="0">
                  <a:solidFill>
                    <a:srgbClr val="FFFFFF"/>
                  </a:solidFill>
                  <a:latin typeface="微软雅黑"/>
                  <a:ea typeface="微软雅黑"/>
                  <a:cs typeface="微软雅黑"/>
                </a:rPr>
                <a:t>改进</a:t>
              </a:r>
              <a:endParaRPr lang="zh-CN" altLang="en-US" sz="1300" kern="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rPr>
                <a:t>营销策略</a:t>
              </a:r>
              <a:endParaRPr lang="zh-CN" altLang="en-US" sz="1300" kern="0" dirty="0">
                <a:solidFill>
                  <a:srgbClr val="FFFFFF"/>
                </a:solidFill>
                <a:latin typeface="微软雅黑"/>
                <a:ea typeface="微软雅黑"/>
                <a:cs typeface="微软雅黑"/>
              </a:endParaRPr>
            </a:p>
          </p:txBody>
        </p:sp>
        <p:sp>
          <p:nvSpPr>
            <p:cNvPr id="9" name="箭头: 燕尾形 8"/>
            <p:cNvSpPr/>
            <p:nvPr/>
          </p:nvSpPr>
          <p:spPr>
            <a:xfrm>
              <a:off x="7610485" y="1247314"/>
              <a:ext cx="2088000" cy="484632"/>
            </a:xfrm>
            <a:prstGeom prst="notchedRightArrow">
              <a:avLst>
                <a:gd name="adj1" fmla="val 100000"/>
                <a:gd name="adj2" fmla="val 50000"/>
              </a:avLst>
            </a:prstGeom>
            <a:grp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a:lstStyle/>
            <a:p>
              <a:pPr algn="ctr">
                <a:defRPr>
                  <a:solidFill>
                    <a:srgbClr val="FFFFFF"/>
                  </a:solidFill>
                  <a:latin typeface="微软雅黑"/>
                  <a:ea typeface="微软雅黑"/>
                  <a:cs typeface="微软雅黑"/>
                </a:defRPr>
              </a:pPr>
              <a:r>
                <a:rPr lang="en-US" altLang="zh-CN" sz="1300" kern="0" dirty="0">
                  <a:solidFill>
                    <a:srgbClr val="FFFFFF"/>
                  </a:solidFill>
                  <a:latin typeface="微软雅黑"/>
                  <a:ea typeface="微软雅黑"/>
                  <a:cs typeface="微软雅黑"/>
                </a:rPr>
                <a:t>E3 </a:t>
              </a:r>
              <a:r>
                <a:rPr lang="zh-CN" altLang="en-US" sz="1300" kern="0" dirty="0">
                  <a:solidFill>
                    <a:srgbClr val="FFFFFF"/>
                  </a:solidFill>
                  <a:latin typeface="微软雅黑"/>
                  <a:ea typeface="微软雅黑"/>
                  <a:cs typeface="微软雅黑"/>
                </a:rPr>
                <a:t>衡量营销效果</a:t>
              </a:r>
              <a:endParaRPr lang="zh-CN" altLang="en-US" sz="1300" kern="0" dirty="0">
                <a:solidFill>
                  <a:srgbClr val="FFFFFF"/>
                </a:solidFill>
                <a:latin typeface="微软雅黑"/>
                <a:ea typeface="微软雅黑"/>
                <a:cs typeface="微软雅黑"/>
              </a:endParaRPr>
            </a:p>
          </p:txBody>
        </p:sp>
        <p:sp>
          <p:nvSpPr>
            <p:cNvPr id="11" name="箭头: 燕尾形 9"/>
            <p:cNvSpPr/>
            <p:nvPr/>
          </p:nvSpPr>
          <p:spPr>
            <a:xfrm>
              <a:off x="5719088" y="1247314"/>
              <a:ext cx="2088000" cy="484632"/>
            </a:xfrm>
            <a:prstGeom prst="notchedRightArrow">
              <a:avLst>
                <a:gd name="adj1" fmla="val 100000"/>
                <a:gd name="adj2" fmla="val 50000"/>
              </a:avLst>
            </a:prstGeom>
            <a:grp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a:lstStyle/>
            <a:p>
              <a:pPr algn="ctr">
                <a:defRPr>
                  <a:solidFill>
                    <a:srgbClr val="FFFFFF"/>
                  </a:solidFill>
                  <a:latin typeface="微软雅黑"/>
                  <a:ea typeface="微软雅黑"/>
                  <a:cs typeface="微软雅黑"/>
                </a:defRPr>
              </a:pPr>
              <a:r>
                <a:rPr lang="en-US" altLang="zh-CN" sz="1300" kern="0" dirty="0">
                  <a:solidFill>
                    <a:srgbClr val="FFFFFF"/>
                  </a:solidFill>
                  <a:latin typeface="微软雅黑"/>
                  <a:ea typeface="微软雅黑"/>
                  <a:cs typeface="微软雅黑"/>
                </a:rPr>
                <a:t>E2 </a:t>
              </a:r>
              <a:r>
                <a:rPr lang="zh-CN" altLang="en-US" sz="1300" kern="0" dirty="0">
                  <a:solidFill>
                    <a:srgbClr val="FFFFFF"/>
                  </a:solidFill>
                  <a:latin typeface="微软雅黑"/>
                  <a:ea typeface="微软雅黑"/>
                  <a:cs typeface="微软雅黑"/>
                </a:rPr>
                <a:t>执行营销计划</a:t>
              </a:r>
              <a:endParaRPr lang="zh-CN" altLang="en-US" sz="1300" kern="0" dirty="0">
                <a:solidFill>
                  <a:srgbClr val="FFFFFF"/>
                </a:solidFill>
                <a:latin typeface="微软雅黑"/>
                <a:ea typeface="微软雅黑"/>
                <a:cs typeface="微软雅黑"/>
              </a:endParaRPr>
            </a:p>
          </p:txBody>
        </p:sp>
        <p:sp>
          <p:nvSpPr>
            <p:cNvPr id="12" name="箭头: 燕尾形 10"/>
            <p:cNvSpPr/>
            <p:nvPr/>
          </p:nvSpPr>
          <p:spPr>
            <a:xfrm>
              <a:off x="3827691" y="1247314"/>
              <a:ext cx="2088000" cy="484632"/>
            </a:xfrm>
            <a:prstGeom prst="notchedRightArrow">
              <a:avLst>
                <a:gd name="adj1" fmla="val 100000"/>
                <a:gd name="adj2" fmla="val 50000"/>
              </a:avLst>
            </a:prstGeom>
            <a:grpFill/>
            <a:ln w="9525" cap="flat" cmpd="sng" algn="ctr">
              <a:noFill/>
              <a:prstDash val="solid"/>
              <a:miter lim="800000"/>
            </a:ln>
            <a:effectLst>
              <a:outerShdw blurRad="368300" dist="203200" dir="5400000" sx="98000" sy="98000" algn="t" rotWithShape="0">
                <a:srgbClr val="383838">
                  <a:alpha val="18000"/>
                </a:srgbClr>
              </a:outerShdw>
            </a:effectLst>
          </p:spPr>
          <p:txBody>
            <a:bodyPr rtlCol="0" anchor="ctr"/>
            <a:lstStyle/>
            <a:p>
              <a:pPr algn="ctr">
                <a:defRPr>
                  <a:solidFill>
                    <a:srgbClr val="FFFFFF"/>
                  </a:solidFill>
                  <a:latin typeface="微软雅黑"/>
                  <a:ea typeface="微软雅黑"/>
                  <a:cs typeface="微软雅黑"/>
                </a:defRPr>
              </a:pPr>
              <a:r>
                <a:rPr lang="en-US" altLang="zh-CN" sz="1300" kern="0" dirty="0">
                  <a:solidFill>
                    <a:srgbClr val="FFFFFF"/>
                  </a:solidFill>
                  <a:latin typeface="微软雅黑"/>
                  <a:ea typeface="微软雅黑"/>
                  <a:cs typeface="微软雅黑"/>
                </a:rPr>
                <a:t>E1 </a:t>
              </a:r>
              <a:r>
                <a:rPr lang="zh-CN" altLang="en-US" sz="1300" kern="0" dirty="0">
                  <a:solidFill>
                    <a:srgbClr val="FFFFFF"/>
                  </a:solidFill>
                  <a:latin typeface="微软雅黑"/>
                  <a:ea typeface="微软雅黑"/>
                  <a:cs typeface="微软雅黑"/>
                </a:rPr>
                <a:t>开发营销策略</a:t>
              </a:r>
              <a:endParaRPr lang="zh-CN" altLang="en-US" sz="1300" kern="0" dirty="0">
                <a:solidFill>
                  <a:srgbClr val="FFFFFF"/>
                </a:solidFill>
                <a:latin typeface="微软雅黑"/>
                <a:ea typeface="微软雅黑"/>
                <a:cs typeface="微软雅黑"/>
              </a:endParaRPr>
            </a:p>
          </p:txBody>
        </p:sp>
      </p:grpSp>
      <p:grpSp>
        <p:nvGrpSpPr>
          <p:cNvPr id="13" name="组合 12"/>
          <p:cNvGrpSpPr/>
          <p:nvPr/>
        </p:nvGrpSpPr>
        <p:grpSpPr>
          <a:xfrm>
            <a:off x="3866397" y="2345579"/>
            <a:ext cx="7548633" cy="484632"/>
            <a:chOff x="3866397" y="2175001"/>
            <a:chExt cx="7700462" cy="484632"/>
          </a:xfrm>
          <a:solidFill>
            <a:srgbClr val="B3D4FE"/>
          </a:solidFill>
          <a:effectLst>
            <a:outerShdw blurRad="50800" dist="38100" dir="2700000" algn="tl" rotWithShape="0">
              <a:srgbClr val="B3D4FE">
                <a:alpha val="40000"/>
              </a:srgbClr>
            </a:outerShdw>
          </a:effectLst>
        </p:grpSpPr>
        <p:sp>
          <p:nvSpPr>
            <p:cNvPr id="14" name="箭头: 燕尾形 11"/>
            <p:cNvSpPr/>
            <p:nvPr/>
          </p:nvSpPr>
          <p:spPr>
            <a:xfrm>
              <a:off x="9874859" y="2175001"/>
              <a:ext cx="1692000" cy="484632"/>
            </a:xfrm>
            <a:prstGeom prst="notchedRightArrow">
              <a:avLst>
                <a:gd name="adj1" fmla="val 100000"/>
                <a:gd name="adj2" fmla="val 50000"/>
              </a:avLst>
            </a:prstGeom>
            <a:grpFill/>
            <a:ln>
              <a:noFill/>
            </a:ln>
            <a:effectLst>
              <a:outerShdw blurRad="292100" dist="38100" dir="5400000" algn="t" rotWithShape="0">
                <a:prstClr val="black">
                  <a:alpha val="19000"/>
                </a:prstClr>
              </a:outerShdw>
            </a:effectLst>
          </p:spPr>
          <p:style>
            <a:lnRef idx="2">
              <a:srgbClr val="0042FF"/>
            </a:lnRef>
            <a:fillRef idx="1">
              <a:srgbClr val="0042FF"/>
            </a:fillRef>
            <a:effectRef idx="0">
              <a:srgbClr val="0042FF"/>
            </a:effectRef>
            <a:fontRef idx="minor">
              <a:srgbClr val="FFFFFF"/>
            </a:fontRef>
          </p:style>
          <p:txBody>
            <a:bodyPr lIns="0" rIns="0" rtlCol="0" anchor="ctr"/>
            <a:lstStyle/>
            <a:p>
              <a:pPr algn="ctr">
                <a:defRPr>
                  <a:latin typeface="微软雅黑"/>
                  <a:ea typeface="微软雅黑"/>
                  <a:cs typeface="微软雅黑"/>
                </a:defRPr>
              </a:pPr>
              <a:r>
                <a:rPr lang="en-US" altLang="zh-CN" sz="1300" dirty="0">
                  <a:latin typeface="微软雅黑"/>
                  <a:ea typeface="微软雅黑"/>
                  <a:cs typeface="微软雅黑"/>
                </a:rPr>
                <a:t>Result</a:t>
              </a:r>
              <a:endParaRPr lang="en-US" altLang="zh-CN" sz="1300" dirty="0">
                <a:latin typeface="微软雅黑"/>
                <a:ea typeface="微软雅黑"/>
                <a:cs typeface="微软雅黑"/>
              </a:endParaRPr>
            </a:p>
            <a:p>
              <a:pPr algn="ctr">
                <a:defRPr>
                  <a:latin typeface="微软雅黑"/>
                  <a:ea typeface="微软雅黑"/>
                  <a:cs typeface="微软雅黑"/>
                </a:defRPr>
              </a:pPr>
              <a:r>
                <a:rPr lang="zh-CN" altLang="en-US" sz="1300" dirty="0">
                  <a:latin typeface="微软雅黑"/>
                  <a:ea typeface="微软雅黑"/>
                  <a:cs typeface="微软雅黑"/>
                </a:rPr>
                <a:t>复盘及优化</a:t>
              </a:r>
              <a:endParaRPr lang="en-US" altLang="zh-CN" sz="1300" dirty="0">
                <a:latin typeface="微软雅黑"/>
                <a:ea typeface="微软雅黑"/>
                <a:cs typeface="微软雅黑"/>
              </a:endParaRPr>
            </a:p>
          </p:txBody>
        </p:sp>
        <p:sp>
          <p:nvSpPr>
            <p:cNvPr id="15" name="箭头: 燕尾形 12"/>
            <p:cNvSpPr/>
            <p:nvPr/>
          </p:nvSpPr>
          <p:spPr>
            <a:xfrm>
              <a:off x="8372745" y="2175001"/>
              <a:ext cx="1692000" cy="484632"/>
            </a:xfrm>
            <a:prstGeom prst="notchedRightArrow">
              <a:avLst>
                <a:gd name="adj1" fmla="val 100000"/>
                <a:gd name="adj2" fmla="val 50000"/>
              </a:avLst>
            </a:prstGeom>
            <a:grpFill/>
            <a:ln>
              <a:noFill/>
            </a:ln>
            <a:effectLst>
              <a:outerShdw blurRad="292100" dist="38100" dir="5400000" algn="t" rotWithShape="0">
                <a:prstClr val="black">
                  <a:alpha val="19000"/>
                </a:prstClr>
              </a:outerShdw>
            </a:effectLst>
          </p:spPr>
          <p:style>
            <a:lnRef idx="2">
              <a:srgbClr val="0042FF"/>
            </a:lnRef>
            <a:fillRef idx="1">
              <a:srgbClr val="0042FF"/>
            </a:fillRef>
            <a:effectRef idx="0">
              <a:srgbClr val="0042FF"/>
            </a:effectRef>
            <a:fontRef idx="minor">
              <a:srgbClr val="FFFFFF"/>
            </a:fontRef>
          </p:style>
          <p:txBody>
            <a:bodyPr lIns="0" rIns="0" rtlCol="0" anchor="ctr"/>
            <a:lstStyle/>
            <a:p>
              <a:pPr algn="ctr">
                <a:defRPr>
                  <a:latin typeface="微软雅黑"/>
                  <a:ea typeface="微软雅黑"/>
                  <a:cs typeface="微软雅黑"/>
                </a:defRPr>
              </a:pPr>
              <a:r>
                <a:rPr lang="en-US" altLang="zh-CN" sz="1300" dirty="0">
                  <a:latin typeface="微软雅黑"/>
                  <a:ea typeface="微软雅黑"/>
                  <a:cs typeface="微软雅黑"/>
                </a:rPr>
                <a:t>Action</a:t>
              </a:r>
              <a:endParaRPr lang="en-US" altLang="zh-CN" sz="1300" dirty="0">
                <a:latin typeface="微软雅黑"/>
                <a:ea typeface="微软雅黑"/>
                <a:cs typeface="微软雅黑"/>
              </a:endParaRPr>
            </a:p>
            <a:p>
              <a:pPr algn="ctr">
                <a:defRPr>
                  <a:latin typeface="微软雅黑"/>
                  <a:ea typeface="微软雅黑"/>
                  <a:cs typeface="微软雅黑"/>
                </a:defRPr>
              </a:pPr>
              <a:r>
                <a:rPr lang="zh-CN" altLang="en-US" sz="1300" dirty="0">
                  <a:latin typeface="微软雅黑"/>
                  <a:ea typeface="微软雅黑"/>
                  <a:cs typeface="微软雅黑"/>
                </a:rPr>
                <a:t>营销执行</a:t>
              </a:r>
              <a:endParaRPr lang="en-US" altLang="zh-CN" sz="1300" dirty="0">
                <a:latin typeface="微软雅黑"/>
                <a:ea typeface="微软雅黑"/>
                <a:cs typeface="微软雅黑"/>
              </a:endParaRPr>
            </a:p>
          </p:txBody>
        </p:sp>
        <p:sp>
          <p:nvSpPr>
            <p:cNvPr id="16" name="箭头: 燕尾形 13"/>
            <p:cNvSpPr/>
            <p:nvPr/>
          </p:nvSpPr>
          <p:spPr>
            <a:xfrm>
              <a:off x="6870629" y="2175001"/>
              <a:ext cx="1692000" cy="484632"/>
            </a:xfrm>
            <a:prstGeom prst="notchedRightArrow">
              <a:avLst>
                <a:gd name="adj1" fmla="val 100000"/>
                <a:gd name="adj2" fmla="val 50000"/>
              </a:avLst>
            </a:prstGeom>
            <a:grpFill/>
            <a:ln>
              <a:noFill/>
            </a:ln>
            <a:effectLst>
              <a:outerShdw blurRad="292100" dist="38100" dir="5400000" algn="t" rotWithShape="0">
                <a:prstClr val="black">
                  <a:alpha val="19000"/>
                </a:prstClr>
              </a:outerShdw>
            </a:effectLst>
          </p:spPr>
          <p:style>
            <a:lnRef idx="2">
              <a:srgbClr val="0042FF"/>
            </a:lnRef>
            <a:fillRef idx="1">
              <a:srgbClr val="0042FF"/>
            </a:fillRef>
            <a:effectRef idx="0">
              <a:srgbClr val="0042FF"/>
            </a:effectRef>
            <a:fontRef idx="minor">
              <a:srgbClr val="FFFFFF"/>
            </a:fontRef>
          </p:style>
          <p:txBody>
            <a:bodyPr lIns="0" rIns="0" rtlCol="0" anchor="ctr"/>
            <a:lstStyle/>
            <a:p>
              <a:pPr algn="ctr">
                <a:defRPr>
                  <a:latin typeface="微软雅黑"/>
                  <a:ea typeface="微软雅黑"/>
                  <a:cs typeface="微软雅黑"/>
                </a:defRPr>
              </a:pPr>
              <a:r>
                <a:rPr lang="en-US" altLang="zh-CN" sz="1300" dirty="0">
                  <a:latin typeface="微软雅黑"/>
                  <a:ea typeface="微软雅黑"/>
                  <a:cs typeface="微软雅黑"/>
                </a:rPr>
                <a:t>Tactics</a:t>
              </a:r>
              <a:endParaRPr lang="en-US" altLang="zh-CN" sz="1300" dirty="0">
                <a:latin typeface="微软雅黑"/>
                <a:ea typeface="微软雅黑"/>
                <a:cs typeface="微软雅黑"/>
              </a:endParaRPr>
            </a:p>
            <a:p>
              <a:pPr algn="ctr">
                <a:defRPr>
                  <a:latin typeface="微软雅黑"/>
                  <a:ea typeface="微软雅黑"/>
                  <a:cs typeface="微软雅黑"/>
                </a:defRPr>
              </a:pPr>
              <a:r>
                <a:rPr lang="zh-CN" altLang="en-US" sz="1300" dirty="0">
                  <a:latin typeface="微软雅黑"/>
                  <a:ea typeface="微软雅黑"/>
                  <a:cs typeface="微软雅黑"/>
                </a:rPr>
                <a:t>营销策略</a:t>
              </a:r>
              <a:endParaRPr lang="en-US" altLang="zh-CN" sz="1300" dirty="0">
                <a:latin typeface="微软雅黑"/>
                <a:ea typeface="微软雅黑"/>
                <a:cs typeface="微软雅黑"/>
              </a:endParaRPr>
            </a:p>
          </p:txBody>
        </p:sp>
        <p:sp>
          <p:nvSpPr>
            <p:cNvPr id="17" name="箭头: 燕尾形 14"/>
            <p:cNvSpPr/>
            <p:nvPr/>
          </p:nvSpPr>
          <p:spPr>
            <a:xfrm>
              <a:off x="5368513" y="2175001"/>
              <a:ext cx="1692000" cy="484632"/>
            </a:xfrm>
            <a:prstGeom prst="notchedRightArrow">
              <a:avLst>
                <a:gd name="adj1" fmla="val 100000"/>
                <a:gd name="adj2" fmla="val 50000"/>
              </a:avLst>
            </a:prstGeom>
            <a:grpFill/>
            <a:ln>
              <a:noFill/>
            </a:ln>
            <a:effectLst>
              <a:outerShdw blurRad="292100" dist="38100" dir="5400000" algn="t" rotWithShape="0">
                <a:prstClr val="black">
                  <a:alpha val="19000"/>
                </a:prstClr>
              </a:outerShdw>
            </a:effectLst>
          </p:spPr>
          <p:style>
            <a:lnRef idx="2">
              <a:srgbClr val="0042FF"/>
            </a:lnRef>
            <a:fillRef idx="1">
              <a:srgbClr val="0042FF"/>
            </a:fillRef>
            <a:effectRef idx="0">
              <a:srgbClr val="0042FF"/>
            </a:effectRef>
            <a:fontRef idx="minor">
              <a:srgbClr val="FFFFFF"/>
            </a:fontRef>
          </p:style>
          <p:txBody>
            <a:bodyPr lIns="0" rIns="0" rtlCol="0" anchor="ctr"/>
            <a:lstStyle/>
            <a:p>
              <a:pPr algn="ctr">
                <a:defRPr>
                  <a:latin typeface="微软雅黑"/>
                  <a:ea typeface="微软雅黑"/>
                  <a:cs typeface="微软雅黑"/>
                </a:defRPr>
              </a:pPr>
              <a:r>
                <a:rPr lang="en-US" altLang="zh-CN" sz="1300" dirty="0">
                  <a:latin typeface="微软雅黑"/>
                  <a:ea typeface="微软雅黑"/>
                  <a:cs typeface="微软雅黑"/>
                </a:rPr>
                <a:t>Strategy</a:t>
              </a:r>
              <a:endParaRPr lang="en-US" altLang="zh-CN" sz="1300" dirty="0">
                <a:latin typeface="微软雅黑"/>
                <a:ea typeface="微软雅黑"/>
                <a:cs typeface="微软雅黑"/>
              </a:endParaRPr>
            </a:p>
            <a:p>
              <a:pPr algn="ctr">
                <a:defRPr>
                  <a:latin typeface="微软雅黑"/>
                  <a:ea typeface="微软雅黑"/>
                  <a:cs typeface="微软雅黑"/>
                </a:defRPr>
              </a:pPr>
              <a:r>
                <a:rPr lang="zh-CN" altLang="en-US" sz="1300" dirty="0">
                  <a:latin typeface="微软雅黑"/>
                  <a:ea typeface="微软雅黑"/>
                  <a:cs typeface="微软雅黑"/>
                </a:rPr>
                <a:t>营销战略</a:t>
              </a:r>
              <a:endParaRPr lang="en-US" altLang="zh-CN" sz="1300" dirty="0">
                <a:latin typeface="微软雅黑"/>
                <a:ea typeface="微软雅黑"/>
                <a:cs typeface="微软雅黑"/>
              </a:endParaRPr>
            </a:p>
          </p:txBody>
        </p:sp>
        <p:sp>
          <p:nvSpPr>
            <p:cNvPr id="18" name="箭头: 燕尾形 15"/>
            <p:cNvSpPr/>
            <p:nvPr/>
          </p:nvSpPr>
          <p:spPr>
            <a:xfrm>
              <a:off x="3866397" y="2175001"/>
              <a:ext cx="1692000" cy="484632"/>
            </a:xfrm>
            <a:prstGeom prst="notchedRightArrow">
              <a:avLst>
                <a:gd name="adj1" fmla="val 100000"/>
                <a:gd name="adj2" fmla="val 50000"/>
              </a:avLst>
            </a:prstGeom>
            <a:grpFill/>
            <a:ln>
              <a:noFill/>
            </a:ln>
            <a:effectLst>
              <a:outerShdw blurRad="292100" dist="38100" dir="5400000" algn="t" rotWithShape="0">
                <a:prstClr val="black">
                  <a:alpha val="19000"/>
                </a:prstClr>
              </a:outerShdw>
            </a:effectLst>
          </p:spPr>
          <p:style>
            <a:lnRef idx="2">
              <a:srgbClr val="0042FF"/>
            </a:lnRef>
            <a:fillRef idx="1">
              <a:srgbClr val="0042FF"/>
            </a:fillRef>
            <a:effectRef idx="0">
              <a:srgbClr val="0042FF"/>
            </a:effectRef>
            <a:fontRef idx="minor">
              <a:srgbClr val="FFFFFF"/>
            </a:fontRef>
          </p:style>
          <p:txBody>
            <a:bodyPr lIns="0" rIns="0" rtlCol="0" anchor="ctr"/>
            <a:lstStyle/>
            <a:p>
              <a:pPr algn="ctr">
                <a:defRPr>
                  <a:latin typeface="微软雅黑"/>
                  <a:ea typeface="微软雅黑"/>
                  <a:cs typeface="微软雅黑"/>
                </a:defRPr>
              </a:pPr>
              <a:r>
                <a:rPr lang="en-US" altLang="zh-CN" sz="1300" dirty="0">
                  <a:latin typeface="微软雅黑"/>
                  <a:ea typeface="微软雅黑"/>
                  <a:cs typeface="微软雅黑"/>
                </a:rPr>
                <a:t>Insight</a:t>
              </a:r>
              <a:endParaRPr lang="en-US" altLang="zh-CN" sz="1300" dirty="0">
                <a:latin typeface="微软雅黑"/>
                <a:ea typeface="微软雅黑"/>
                <a:cs typeface="微软雅黑"/>
              </a:endParaRPr>
            </a:p>
            <a:p>
              <a:pPr algn="ctr">
                <a:defRPr>
                  <a:latin typeface="微软雅黑"/>
                  <a:ea typeface="微软雅黑"/>
                  <a:cs typeface="微软雅黑"/>
                </a:defRPr>
              </a:pPr>
              <a:r>
                <a:rPr lang="zh-CN" altLang="en-US" sz="1300" dirty="0">
                  <a:latin typeface="微软雅黑"/>
                  <a:ea typeface="微软雅黑"/>
                  <a:cs typeface="微软雅黑"/>
                </a:rPr>
                <a:t>营销洞察</a:t>
              </a:r>
              <a:endParaRPr lang="en-US" altLang="zh-CN" sz="1300" dirty="0">
                <a:latin typeface="微软雅黑"/>
                <a:ea typeface="微软雅黑"/>
                <a:cs typeface="微软雅黑"/>
              </a:endParaRPr>
            </a:p>
          </p:txBody>
        </p:sp>
      </p:grpSp>
      <p:sp>
        <p:nvSpPr>
          <p:cNvPr id="19" name="矩形: 圆角 1"/>
          <p:cNvSpPr/>
          <p:nvPr/>
        </p:nvSpPr>
        <p:spPr>
          <a:xfrm>
            <a:off x="3022600" y="3392805"/>
            <a:ext cx="8320405" cy="3007995"/>
          </a:xfrm>
          <a:prstGeom prst="roundRect">
            <a:avLst>
              <a:gd name="adj" fmla="val 4787"/>
            </a:avLst>
          </a:prstGeom>
          <a:noFill/>
          <a:ln>
            <a:solidFill>
              <a:srgbClr val="383838"/>
            </a:solidFill>
          </a:ln>
          <a:effectLst/>
        </p:spPr>
        <p:style>
          <a:lnRef idx="2">
            <a:srgbClr val="0042FF"/>
          </a:lnRef>
          <a:fillRef idx="1">
            <a:srgbClr val="0042FF"/>
          </a:fillRef>
          <a:effectRef idx="0">
            <a:srgbClr val="0042FF"/>
          </a:effectRef>
          <a:fontRef idx="minor">
            <a:srgbClr val="FFFFFF"/>
          </a:fontRef>
        </p:style>
        <p:txBody>
          <a:bodyPr lIns="0" rIns="0" rtlCol="0" anchor="ctr"/>
          <a:lstStyle/>
          <a:p>
            <a:pPr algn="ctr">
              <a:defRPr>
                <a:latin typeface="微软雅黑"/>
                <a:ea typeface="微软雅黑"/>
                <a:cs typeface="微软雅黑"/>
              </a:defRPr>
            </a:pPr>
            <a:endParaRPr lang="en-US" altLang="zh-CN" sz="1400" dirty="0">
              <a:latin typeface="微软雅黑"/>
              <a:ea typeface="微软雅黑"/>
              <a:cs typeface="微软雅黑"/>
            </a:endParaRPr>
          </a:p>
        </p:txBody>
      </p:sp>
      <p:grpSp>
        <p:nvGrpSpPr>
          <p:cNvPr id="20" name="组合 19"/>
          <p:cNvGrpSpPr/>
          <p:nvPr/>
        </p:nvGrpSpPr>
        <p:grpSpPr>
          <a:xfrm>
            <a:off x="4669503" y="6326670"/>
            <a:ext cx="6112672" cy="144000"/>
            <a:chOff x="4669503" y="6381534"/>
            <a:chExt cx="6112672" cy="144000"/>
          </a:xfrm>
          <a:solidFill>
            <a:srgbClr val="3368FF"/>
          </a:solidFill>
        </p:grpSpPr>
        <p:sp>
          <p:nvSpPr>
            <p:cNvPr id="21" name="箭头: V 形 16"/>
            <p:cNvSpPr/>
            <p:nvPr/>
          </p:nvSpPr>
          <p:spPr>
            <a:xfrm flipH="1">
              <a:off x="4669503" y="6381534"/>
              <a:ext cx="144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7" name="箭头: V 形 17"/>
            <p:cNvSpPr/>
            <p:nvPr/>
          </p:nvSpPr>
          <p:spPr>
            <a:xfrm flipH="1">
              <a:off x="5664282" y="6381534"/>
              <a:ext cx="144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8" name="箭头: V 形 18"/>
            <p:cNvSpPr/>
            <p:nvPr/>
          </p:nvSpPr>
          <p:spPr>
            <a:xfrm flipH="1">
              <a:off x="6659061" y="6381534"/>
              <a:ext cx="144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9" name="箭头: V 形 19"/>
            <p:cNvSpPr/>
            <p:nvPr/>
          </p:nvSpPr>
          <p:spPr>
            <a:xfrm flipH="1">
              <a:off x="7653840" y="6381534"/>
              <a:ext cx="144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0" name="箭头: V 形 20"/>
            <p:cNvSpPr/>
            <p:nvPr/>
          </p:nvSpPr>
          <p:spPr>
            <a:xfrm flipH="1">
              <a:off x="9643398" y="6381534"/>
              <a:ext cx="144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1" name="箭头: V 形 21"/>
            <p:cNvSpPr/>
            <p:nvPr/>
          </p:nvSpPr>
          <p:spPr>
            <a:xfrm flipH="1">
              <a:off x="10638175" y="6381534"/>
              <a:ext cx="144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2" name="箭头: V 形 22"/>
            <p:cNvSpPr/>
            <p:nvPr/>
          </p:nvSpPr>
          <p:spPr>
            <a:xfrm flipH="1">
              <a:off x="8648619" y="6381534"/>
              <a:ext cx="144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45" name="组合 44"/>
          <p:cNvGrpSpPr/>
          <p:nvPr/>
        </p:nvGrpSpPr>
        <p:grpSpPr>
          <a:xfrm>
            <a:off x="2955215" y="4162548"/>
            <a:ext cx="144000" cy="1742896"/>
            <a:chOff x="3782987" y="4003733"/>
            <a:chExt cx="144000" cy="1742896"/>
          </a:xfrm>
          <a:solidFill>
            <a:srgbClr val="3368FF"/>
          </a:solidFill>
        </p:grpSpPr>
        <p:sp>
          <p:nvSpPr>
            <p:cNvPr id="46" name="箭头: V 形 24"/>
            <p:cNvSpPr/>
            <p:nvPr/>
          </p:nvSpPr>
          <p:spPr>
            <a:xfrm rot="5400000" flipH="1">
              <a:off x="3728987" y="4057733"/>
              <a:ext cx="252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7" name="箭头: V 形 25"/>
            <p:cNvSpPr/>
            <p:nvPr/>
          </p:nvSpPr>
          <p:spPr>
            <a:xfrm rot="5400000" flipH="1">
              <a:off x="3728987" y="4803181"/>
              <a:ext cx="252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8" name="箭头: V 形 26"/>
            <p:cNvSpPr/>
            <p:nvPr/>
          </p:nvSpPr>
          <p:spPr>
            <a:xfrm rot="5400000" flipH="1">
              <a:off x="3728987" y="5548629"/>
              <a:ext cx="252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49" name="组合 48"/>
          <p:cNvGrpSpPr/>
          <p:nvPr/>
        </p:nvGrpSpPr>
        <p:grpSpPr>
          <a:xfrm>
            <a:off x="11271030" y="4162548"/>
            <a:ext cx="144000" cy="1742896"/>
            <a:chOff x="11271030" y="4003733"/>
            <a:chExt cx="144000" cy="1742896"/>
          </a:xfrm>
          <a:solidFill>
            <a:srgbClr val="3368FF"/>
          </a:solidFill>
        </p:grpSpPr>
        <p:sp>
          <p:nvSpPr>
            <p:cNvPr id="50" name="箭头: V 形 29"/>
            <p:cNvSpPr/>
            <p:nvPr/>
          </p:nvSpPr>
          <p:spPr>
            <a:xfrm rot="16200000" flipH="1" flipV="1">
              <a:off x="11217030" y="5548629"/>
              <a:ext cx="252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1" name="箭头: V 形 30"/>
            <p:cNvSpPr/>
            <p:nvPr/>
          </p:nvSpPr>
          <p:spPr>
            <a:xfrm rot="16200000" flipH="1" flipV="1">
              <a:off x="11217030" y="4803181"/>
              <a:ext cx="252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52" name="箭头: V 形 1119"/>
            <p:cNvSpPr/>
            <p:nvPr/>
          </p:nvSpPr>
          <p:spPr>
            <a:xfrm rot="16200000" flipH="1" flipV="1">
              <a:off x="11217030" y="4057733"/>
              <a:ext cx="252000" cy="144000"/>
            </a:xfrm>
            <a:prstGeom prst="chevron">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53" name="箭头: 燕尾形 1123"/>
          <p:cNvSpPr/>
          <p:nvPr/>
        </p:nvSpPr>
        <p:spPr>
          <a:xfrm>
            <a:off x="9636523" y="3158280"/>
            <a:ext cx="1800000" cy="484632"/>
          </a:xfrm>
          <a:prstGeom prst="notchedRightArrow">
            <a:avLst>
              <a:gd name="adj1" fmla="val 100000"/>
              <a:gd name="adj2" fmla="val 50000"/>
            </a:avLst>
          </a:prstGeom>
          <a:gradFill>
            <a:gsLst>
              <a:gs pos="0">
                <a:srgbClr val="0042FF"/>
              </a:gs>
              <a:gs pos="100000">
                <a:srgbClr val="3368FF"/>
              </a:gs>
            </a:gsLst>
            <a:lin ang="2700000" scaled="0"/>
          </a:gradFill>
          <a:ln w="9525" cap="flat" cmpd="sng" algn="ctr">
            <a:noFill/>
            <a:prstDash val="solid"/>
            <a:miter lim="800000"/>
          </a:ln>
          <a:effectLst>
            <a:outerShdw blurRad="50800" dist="38100" dir="2700000" algn="tl" rotWithShape="0">
              <a:srgbClr val="3368FF">
                <a:alpha val="40000"/>
              </a:srgbClr>
            </a:outerShdw>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sym typeface="微软雅黑"/>
              </a:rPr>
              <a:t>复盘及优化</a:t>
            </a:r>
            <a:endParaRPr lang="zh-CN" altLang="en-US" sz="1300" kern="0"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sym typeface="微软雅黑"/>
              </a:rPr>
              <a:t>Result</a:t>
            </a:r>
            <a:endParaRPr lang="zh-CN" altLang="en-US" sz="1300" kern="0" dirty="0">
              <a:solidFill>
                <a:srgbClr val="FFFFFF"/>
              </a:solidFill>
              <a:latin typeface="微软雅黑"/>
              <a:ea typeface="微软雅黑"/>
              <a:cs typeface="微软雅黑"/>
              <a:sym typeface="微软雅黑"/>
            </a:endParaRPr>
          </a:p>
        </p:txBody>
      </p:sp>
      <p:sp>
        <p:nvSpPr>
          <p:cNvPr id="54" name="箭头: 燕尾形 1124"/>
          <p:cNvSpPr/>
          <p:nvPr/>
        </p:nvSpPr>
        <p:spPr>
          <a:xfrm>
            <a:off x="8028988" y="3158280"/>
            <a:ext cx="1800000" cy="484632"/>
          </a:xfrm>
          <a:prstGeom prst="notchedRightArrow">
            <a:avLst>
              <a:gd name="adj1" fmla="val 100000"/>
              <a:gd name="adj2" fmla="val 50000"/>
            </a:avLst>
          </a:prstGeom>
          <a:gradFill>
            <a:gsLst>
              <a:gs pos="0">
                <a:srgbClr val="0042FF"/>
              </a:gs>
              <a:gs pos="100000">
                <a:srgbClr val="3368FF"/>
              </a:gs>
            </a:gsLst>
            <a:lin ang="2700000" scaled="0"/>
          </a:gradFill>
          <a:ln w="9525" cap="flat" cmpd="sng" algn="ctr">
            <a:noFill/>
            <a:prstDash val="solid"/>
            <a:miter lim="800000"/>
          </a:ln>
          <a:effectLst>
            <a:outerShdw blurRad="50800" dist="38100" dir="2700000" algn="tl" rotWithShape="0">
              <a:srgbClr val="3368FF">
                <a:alpha val="40000"/>
              </a:srgbClr>
            </a:outerShdw>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sym typeface="微软雅黑"/>
              </a:rPr>
              <a:t>营销执行</a:t>
            </a:r>
            <a:r>
              <a:rPr lang="zh-CN" altLang="en-US" sz="1300" kern="0" dirty="0">
                <a:solidFill>
                  <a:srgbClr val="FFFFFF"/>
                </a:solidFill>
                <a:latin typeface="微软雅黑"/>
                <a:ea typeface="微软雅黑"/>
                <a:cs typeface="微软雅黑"/>
                <a:sym typeface="微软雅黑"/>
              </a:rPr>
              <a:t>Action</a:t>
            </a:r>
            <a:endParaRPr lang="zh-CN" altLang="en-US" sz="1300" kern="0" dirty="0">
              <a:solidFill>
                <a:srgbClr val="FFFFFF"/>
              </a:solidFill>
              <a:latin typeface="微软雅黑"/>
              <a:ea typeface="微软雅黑"/>
              <a:cs typeface="微软雅黑"/>
              <a:sym typeface="微软雅黑"/>
            </a:endParaRPr>
          </a:p>
        </p:txBody>
      </p:sp>
      <p:sp>
        <p:nvSpPr>
          <p:cNvPr id="55" name="箭头: 燕尾形 1125"/>
          <p:cNvSpPr/>
          <p:nvPr/>
        </p:nvSpPr>
        <p:spPr>
          <a:xfrm>
            <a:off x="6421453" y="3158280"/>
            <a:ext cx="1800000" cy="484632"/>
          </a:xfrm>
          <a:prstGeom prst="notchedRightArrow">
            <a:avLst>
              <a:gd name="adj1" fmla="val 100000"/>
              <a:gd name="adj2" fmla="val 50000"/>
            </a:avLst>
          </a:prstGeom>
          <a:gradFill>
            <a:gsLst>
              <a:gs pos="0">
                <a:srgbClr val="0042FF"/>
              </a:gs>
              <a:gs pos="100000">
                <a:srgbClr val="3368FF"/>
              </a:gs>
            </a:gsLst>
            <a:lin ang="2700000" scaled="0"/>
          </a:gradFill>
          <a:ln w="9525" cap="flat" cmpd="sng" algn="ctr">
            <a:noFill/>
            <a:prstDash val="solid"/>
            <a:miter lim="800000"/>
          </a:ln>
          <a:effectLst>
            <a:outerShdw blurRad="50800" dist="38100" dir="2700000" algn="tl" rotWithShape="0">
              <a:srgbClr val="3368FF">
                <a:alpha val="40000"/>
              </a:srgbClr>
            </a:outerShdw>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sym typeface="微软雅黑"/>
              </a:rPr>
              <a:t>营销策略</a:t>
            </a:r>
            <a:endParaRPr lang="zh-CN" altLang="en-US" sz="1300" kern="0"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sym typeface="微软雅黑"/>
              </a:rPr>
              <a:t>Tactics</a:t>
            </a:r>
            <a:endParaRPr lang="zh-CN" altLang="en-US" sz="1300" kern="0" dirty="0">
              <a:solidFill>
                <a:srgbClr val="FFFFFF"/>
              </a:solidFill>
              <a:latin typeface="微软雅黑"/>
              <a:ea typeface="微软雅黑"/>
              <a:cs typeface="微软雅黑"/>
              <a:sym typeface="微软雅黑"/>
            </a:endParaRPr>
          </a:p>
        </p:txBody>
      </p:sp>
      <p:sp>
        <p:nvSpPr>
          <p:cNvPr id="56" name="箭头: 燕尾形 1126"/>
          <p:cNvSpPr/>
          <p:nvPr/>
        </p:nvSpPr>
        <p:spPr>
          <a:xfrm>
            <a:off x="4813918" y="3158280"/>
            <a:ext cx="1800000" cy="484632"/>
          </a:xfrm>
          <a:prstGeom prst="notchedRightArrow">
            <a:avLst>
              <a:gd name="adj1" fmla="val 100000"/>
              <a:gd name="adj2" fmla="val 50000"/>
            </a:avLst>
          </a:prstGeom>
          <a:gradFill>
            <a:gsLst>
              <a:gs pos="0">
                <a:srgbClr val="0042FF"/>
              </a:gs>
              <a:gs pos="100000">
                <a:srgbClr val="3368FF"/>
              </a:gs>
            </a:gsLst>
            <a:lin ang="2700000" scaled="0"/>
          </a:gradFill>
          <a:ln w="9525" cap="flat" cmpd="sng" algn="ctr">
            <a:noFill/>
            <a:prstDash val="solid"/>
            <a:miter lim="800000"/>
          </a:ln>
          <a:effectLst>
            <a:outerShdw blurRad="50800" dist="38100" dir="2700000" algn="tl" rotWithShape="0">
              <a:srgbClr val="3368FF">
                <a:alpha val="40000"/>
              </a:srgbClr>
            </a:outerShdw>
          </a:effectLst>
        </p:spPr>
        <p:txBody>
          <a:bodyPr rtlCol="0" anchor="ctr">
            <a:noAutofit/>
          </a:bodyPr>
          <a:lstStyle/>
          <a:p>
            <a:pPr lvl="0" algn="ctr">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sym typeface="微软雅黑"/>
              </a:rPr>
              <a:t>营销洞战略</a:t>
            </a:r>
            <a:endParaRPr lang="zh-CN" altLang="en-US" sz="1300" kern="0" dirty="0">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sym typeface="微软雅黑"/>
              </a:rPr>
              <a:t>Strategy</a:t>
            </a:r>
            <a:endParaRPr lang="zh-CN" altLang="en-US" sz="1300" kern="0" dirty="0">
              <a:solidFill>
                <a:srgbClr val="FFFFFF"/>
              </a:solidFill>
              <a:latin typeface="微软雅黑"/>
              <a:ea typeface="微软雅黑"/>
              <a:cs typeface="微软雅黑"/>
              <a:sym typeface="微软雅黑"/>
            </a:endParaRPr>
          </a:p>
        </p:txBody>
      </p:sp>
      <p:sp>
        <p:nvSpPr>
          <p:cNvPr id="57" name="箭头: 燕尾形 1127"/>
          <p:cNvSpPr/>
          <p:nvPr/>
        </p:nvSpPr>
        <p:spPr>
          <a:xfrm>
            <a:off x="3206383" y="3158280"/>
            <a:ext cx="1800000" cy="484632"/>
          </a:xfrm>
          <a:prstGeom prst="notchedRightArrow">
            <a:avLst>
              <a:gd name="adj1" fmla="val 100000"/>
              <a:gd name="adj2" fmla="val 50000"/>
            </a:avLst>
          </a:prstGeom>
          <a:gradFill>
            <a:gsLst>
              <a:gs pos="0">
                <a:srgbClr val="0042FF"/>
              </a:gs>
              <a:gs pos="100000">
                <a:srgbClr val="3368FF"/>
              </a:gs>
            </a:gsLst>
            <a:lin ang="2700000" scaled="0"/>
          </a:gradFill>
          <a:ln w="9525" cap="flat" cmpd="sng" algn="ctr">
            <a:noFill/>
            <a:prstDash val="solid"/>
            <a:miter lim="800000"/>
          </a:ln>
          <a:effectLst>
            <a:outerShdw blurRad="50800" dist="38100" dir="2700000" algn="tl" rotWithShape="0">
              <a:srgbClr val="3368FF">
                <a:alpha val="40000"/>
              </a:srgbClr>
            </a:outerShdw>
          </a:effectLst>
        </p:spPr>
        <p:txBody>
          <a:bodyPr rtlCol="0" anchor="ctr"/>
          <a:lstStyle/>
          <a:p>
            <a:pPr algn="ctr">
              <a:defRPr>
                <a:solidFill>
                  <a:srgbClr val="FFFFFF"/>
                </a:solidFill>
                <a:latin typeface="微软雅黑"/>
                <a:ea typeface="微软雅黑"/>
                <a:cs typeface="微软雅黑"/>
              </a:defRPr>
            </a:pPr>
            <a:r>
              <a:rPr lang="zh-CN" altLang="en-US" sz="1300" kern="0" dirty="0">
                <a:solidFill>
                  <a:srgbClr val="FFFFFF"/>
                </a:solidFill>
                <a:latin typeface="微软雅黑"/>
                <a:ea typeface="微软雅黑"/>
                <a:cs typeface="微软雅黑"/>
              </a:rPr>
              <a:t>营销洞察</a:t>
            </a:r>
            <a:endParaRPr lang="en-US" altLang="zh-CN" sz="1300" kern="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en-US" altLang="zh-CN" sz="1300" kern="0" dirty="0">
                <a:solidFill>
                  <a:srgbClr val="FFFFFF"/>
                </a:solidFill>
                <a:latin typeface="微软雅黑"/>
                <a:ea typeface="微软雅黑"/>
                <a:cs typeface="微软雅黑"/>
              </a:rPr>
              <a:t>Insight</a:t>
            </a:r>
            <a:endParaRPr lang="en-US" altLang="zh-CN" sz="1300" kern="0" dirty="0">
              <a:solidFill>
                <a:srgbClr val="FFFFFF"/>
              </a:solidFill>
              <a:latin typeface="微软雅黑"/>
              <a:ea typeface="微软雅黑"/>
              <a:cs typeface="微软雅黑"/>
            </a:endParaRPr>
          </a:p>
        </p:txBody>
      </p:sp>
      <p:cxnSp>
        <p:nvCxnSpPr>
          <p:cNvPr id="58" name="直接连接符 6"/>
          <p:cNvCxnSpPr/>
          <p:nvPr/>
        </p:nvCxnSpPr>
        <p:spPr>
          <a:xfrm>
            <a:off x="6535849" y="1787738"/>
            <a:ext cx="0" cy="447472"/>
          </a:xfrm>
          <a:prstGeom prst="line">
            <a:avLst/>
          </a:prstGeom>
          <a:ln>
            <a:solidFill>
              <a:srgbClr val="DCDCDC"/>
            </a:solidFill>
            <a:prstDash val="lgDash"/>
            <a:tailEnd type="none"/>
          </a:ln>
        </p:spPr>
        <p:style>
          <a:lnRef idx="1">
            <a:srgbClr val="0042FF"/>
          </a:lnRef>
          <a:fillRef idx="0">
            <a:srgbClr val="0042FF"/>
          </a:fillRef>
          <a:effectRef idx="0">
            <a:srgbClr val="0042FF"/>
          </a:effectRef>
          <a:fontRef idx="minor">
            <a:srgbClr val="383838"/>
          </a:fontRef>
        </p:style>
      </p:cxnSp>
      <p:cxnSp>
        <p:nvCxnSpPr>
          <p:cNvPr id="59" name="直接连接符 23"/>
          <p:cNvCxnSpPr/>
          <p:nvPr/>
        </p:nvCxnSpPr>
        <p:spPr>
          <a:xfrm>
            <a:off x="8953922" y="1787738"/>
            <a:ext cx="0" cy="447472"/>
          </a:xfrm>
          <a:prstGeom prst="line">
            <a:avLst/>
          </a:prstGeom>
          <a:ln>
            <a:solidFill>
              <a:srgbClr val="DCDCDC"/>
            </a:solidFill>
            <a:prstDash val="lgDash"/>
            <a:tailEnd type="none"/>
          </a:ln>
        </p:spPr>
        <p:style>
          <a:lnRef idx="1">
            <a:srgbClr val="0042FF"/>
          </a:lnRef>
          <a:fillRef idx="0">
            <a:srgbClr val="0042FF"/>
          </a:fillRef>
          <a:effectRef idx="0">
            <a:srgbClr val="0042FF"/>
          </a:effectRef>
          <a:fontRef idx="minor">
            <a:srgbClr val="383838"/>
          </a:fontRef>
        </p:style>
      </p:cxnSp>
      <p:sp>
        <p:nvSpPr>
          <p:cNvPr id="61" name="文本框 60"/>
          <p:cNvSpPr txBox="1"/>
          <p:nvPr/>
        </p:nvSpPr>
        <p:spPr>
          <a:xfrm>
            <a:off x="4039707" y="1752268"/>
            <a:ext cx="2574211" cy="518412"/>
          </a:xfrm>
          <a:prstGeom prst="rect">
            <a:avLst/>
          </a:prstGeom>
          <a:noFill/>
        </p:spPr>
        <p:txBody>
          <a:bodyPr wrap="square" rtlCol="0">
            <a:spAutoFit/>
          </a:bodyPr>
          <a:lstStyle/>
          <a:p>
            <a:pPr algn="ctr">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强化对战略与策略层面关注</a:t>
            </a:r>
            <a:endParaRPr lang="en-US" altLang="zh-CN" sz="1050" dirty="0">
              <a:solidFill>
                <a:srgbClr val="383838"/>
              </a:solidFill>
              <a:latin typeface="微软雅黑"/>
              <a:ea typeface="微软雅黑"/>
              <a:cs typeface="微软雅黑"/>
            </a:endParaRPr>
          </a:p>
          <a:p>
            <a:pPr algn="ctr">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更明确地引导前期洞察方向</a:t>
            </a:r>
            <a:endParaRPr lang="zh-CN" altLang="en-US" sz="1050" dirty="0">
              <a:solidFill>
                <a:srgbClr val="383838"/>
              </a:solidFill>
              <a:latin typeface="微软雅黑"/>
              <a:ea typeface="微软雅黑"/>
              <a:cs typeface="微软雅黑"/>
            </a:endParaRPr>
          </a:p>
        </p:txBody>
      </p:sp>
      <p:sp>
        <p:nvSpPr>
          <p:cNvPr id="62" name="文本框 61"/>
          <p:cNvSpPr txBox="1"/>
          <p:nvPr/>
        </p:nvSpPr>
        <p:spPr>
          <a:xfrm>
            <a:off x="6457780" y="1862299"/>
            <a:ext cx="2574211" cy="298351"/>
          </a:xfrm>
          <a:prstGeom prst="rect">
            <a:avLst/>
          </a:prstGeom>
          <a:noFill/>
        </p:spPr>
        <p:txBody>
          <a:bodyPr wrap="square" rtlCol="0">
            <a:spAutoFit/>
          </a:bodyPr>
          <a:lstStyle/>
          <a:p>
            <a:pPr algn="ctr">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营销执行维持不变</a:t>
            </a:r>
            <a:endParaRPr lang="zh-CN" altLang="en-US" sz="1050" dirty="0">
              <a:solidFill>
                <a:srgbClr val="383838"/>
              </a:solidFill>
              <a:latin typeface="微软雅黑"/>
              <a:ea typeface="微软雅黑"/>
              <a:cs typeface="微软雅黑"/>
            </a:endParaRPr>
          </a:p>
        </p:txBody>
      </p:sp>
      <p:sp>
        <p:nvSpPr>
          <p:cNvPr id="64" name="文本框 63"/>
          <p:cNvSpPr txBox="1"/>
          <p:nvPr/>
        </p:nvSpPr>
        <p:spPr>
          <a:xfrm>
            <a:off x="8875854" y="1752268"/>
            <a:ext cx="2574211" cy="518412"/>
          </a:xfrm>
          <a:prstGeom prst="rect">
            <a:avLst/>
          </a:prstGeom>
          <a:noFill/>
        </p:spPr>
        <p:txBody>
          <a:bodyPr wrap="square" rtlCol="0">
            <a:spAutoFit/>
          </a:bodyPr>
          <a:lstStyle/>
          <a:p>
            <a:pPr algn="ctr">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基于实操的紧密性将营销效果</a:t>
            </a:r>
            <a:endParaRPr lang="en-US" altLang="zh-CN" sz="1050" dirty="0">
              <a:solidFill>
                <a:srgbClr val="383838"/>
              </a:solidFill>
              <a:latin typeface="微软雅黑"/>
              <a:ea typeface="微软雅黑"/>
              <a:cs typeface="微软雅黑"/>
            </a:endParaRPr>
          </a:p>
          <a:p>
            <a:pPr algn="ctr">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与策略优化合并</a:t>
            </a:r>
            <a:endParaRPr lang="zh-CN" altLang="en-US" sz="1050" dirty="0">
              <a:solidFill>
                <a:srgbClr val="383838"/>
              </a:solidFill>
              <a:latin typeface="微软雅黑"/>
              <a:ea typeface="微软雅黑"/>
              <a:cs typeface="微软雅黑"/>
            </a:endParaRPr>
          </a:p>
        </p:txBody>
      </p:sp>
      <p:sp>
        <p:nvSpPr>
          <p:cNvPr id="65" name="文本框 64"/>
          <p:cNvSpPr txBox="1"/>
          <p:nvPr/>
        </p:nvSpPr>
        <p:spPr>
          <a:xfrm>
            <a:off x="1119475" y="1417431"/>
            <a:ext cx="2525216" cy="1219886"/>
          </a:xfrm>
          <a:prstGeom prst="rect">
            <a:avLst/>
          </a:prstGeom>
          <a:noFill/>
        </p:spPr>
        <p:txBody>
          <a:bodyPr wrap="square" rtlCol="0">
            <a:spAutoFit/>
          </a:bodyPr>
          <a:lstStyle/>
          <a:p>
            <a:pPr>
              <a:spcAft>
                <a:spcPts val="600"/>
              </a:spcAft>
              <a:defRPr>
                <a:latin typeface="微软雅黑"/>
                <a:ea typeface="微软雅黑"/>
                <a:cs typeface="微软雅黑"/>
              </a:defRPr>
            </a:pPr>
            <a:r>
              <a:rPr lang="en-US" altLang="zh-CN" sz="2800" b="1" dirty="0">
                <a:solidFill>
                  <a:srgbClr val="0042FF"/>
                </a:solidFill>
                <a:latin typeface="微软雅黑"/>
                <a:ea typeface="微软雅黑"/>
                <a:cs typeface="微软雅黑"/>
              </a:rPr>
              <a:t>iStar</a:t>
            </a:r>
            <a:endParaRPr lang="en-US" altLang="zh-CN" sz="2800" b="1" dirty="0">
              <a:solidFill>
                <a:srgbClr val="0042FF"/>
              </a:solidFill>
              <a:latin typeface="微软雅黑"/>
              <a:ea typeface="微软雅黑"/>
              <a:cs typeface="微软雅黑"/>
            </a:endParaRPr>
          </a:p>
          <a:p>
            <a:pPr>
              <a:lnSpc>
                <a:spcPct val="130000"/>
              </a:lnSpc>
              <a:defRPr>
                <a:latin typeface="微软雅黑"/>
                <a:ea typeface="微软雅黑"/>
                <a:cs typeface="微软雅黑"/>
              </a:defRPr>
            </a:pPr>
            <a:r>
              <a:rPr lang="zh-CN" altLang="en-US" sz="1600" b="1" dirty="0">
                <a:solidFill>
                  <a:srgbClr val="383838"/>
                </a:solidFill>
                <a:latin typeface="微软雅黑"/>
                <a:ea typeface="微软雅黑"/>
                <a:cs typeface="微软雅黑"/>
              </a:rPr>
              <a:t>从</a:t>
            </a:r>
            <a:r>
              <a:rPr lang="en-US" altLang="zh-CN" sz="1600" b="1" dirty="0">
                <a:solidFill>
                  <a:srgbClr val="383838"/>
                </a:solidFill>
                <a:latin typeface="微软雅黑"/>
                <a:ea typeface="微软雅黑"/>
                <a:cs typeface="微软雅黑"/>
              </a:rPr>
              <a:t>4E</a:t>
            </a:r>
            <a:r>
              <a:rPr lang="zh-CN" altLang="en-US" sz="1600" b="1" dirty="0">
                <a:solidFill>
                  <a:srgbClr val="383838"/>
                </a:solidFill>
                <a:latin typeface="微软雅黑"/>
                <a:ea typeface="微软雅黑"/>
                <a:cs typeface="微软雅黑"/>
              </a:rPr>
              <a:t>升级到强化洞察及战略开发的执行链路</a:t>
            </a:r>
            <a:endParaRPr lang="zh-CN" altLang="en-US" sz="1600" b="1" dirty="0">
              <a:solidFill>
                <a:srgbClr val="383838"/>
              </a:solidFill>
              <a:latin typeface="微软雅黑"/>
              <a:ea typeface="微软雅黑"/>
              <a:cs typeface="微软雅黑"/>
            </a:endParaRPr>
          </a:p>
        </p:txBody>
      </p:sp>
      <p:grpSp>
        <p:nvGrpSpPr>
          <p:cNvPr id="67" name="组合 66"/>
          <p:cNvGrpSpPr/>
          <p:nvPr/>
        </p:nvGrpSpPr>
        <p:grpSpPr>
          <a:xfrm>
            <a:off x="1509702" y="3909770"/>
            <a:ext cx="1279493" cy="654636"/>
            <a:chOff x="886190" y="3704639"/>
            <a:chExt cx="1279493" cy="654636"/>
          </a:xfrm>
        </p:grpSpPr>
        <p:sp>
          <p:nvSpPr>
            <p:cNvPr id="71" name="文本框 70"/>
            <p:cNvSpPr txBox="1"/>
            <p:nvPr/>
          </p:nvSpPr>
          <p:spPr>
            <a:xfrm>
              <a:off x="886190" y="3898900"/>
              <a:ext cx="1279493" cy="460375"/>
            </a:xfrm>
            <a:prstGeom prst="rect">
              <a:avLst/>
            </a:prstGeom>
            <a:noFill/>
          </p:spPr>
          <p:txBody>
            <a:bodyPr wrap="square" lIns="0" rIns="0" tIns="0" bIns="0">
              <a:spAutoFit/>
            </a:bodyPr>
            <a:lstStyle/>
            <a:p>
              <a:pPr>
                <a:spcAft>
                  <a:spcPts val="600"/>
                </a:spcAft>
                <a:defRPr>
                  <a:latin typeface="微软雅黑"/>
                  <a:ea typeface="微软雅黑"/>
                  <a:cs typeface="微软雅黑"/>
                </a:defRPr>
              </a:pPr>
              <a:r>
                <a:rPr lang="en-US" altLang="zh-CN" sz="2400" b="1" dirty="0">
                  <a:solidFill>
                    <a:srgbClr val="0042FF"/>
                  </a:solidFill>
                  <a:latin typeface="微软雅黑"/>
                  <a:ea typeface="微软雅黑"/>
                  <a:cs typeface="微软雅黑"/>
                </a:rPr>
                <a:t>M</a:t>
              </a:r>
              <a:r>
                <a:rPr lang="en-US" altLang="zh-CN" b="1" dirty="0">
                  <a:solidFill>
                    <a:srgbClr val="0042FF"/>
                  </a:solidFill>
                  <a:latin typeface="微软雅黑"/>
                  <a:ea typeface="微软雅黑"/>
                  <a:cs typeface="微软雅黑"/>
                </a:rPr>
                <a:t>atch</a:t>
              </a:r>
              <a:endParaRPr lang="en-US" altLang="zh-CN" sz="2400" b="1" dirty="0">
                <a:solidFill>
                  <a:srgbClr val="0042FF"/>
                </a:solidFill>
                <a:latin typeface="微软雅黑"/>
                <a:ea typeface="微软雅黑"/>
                <a:cs typeface="微软雅黑"/>
              </a:endParaRPr>
            </a:p>
          </p:txBody>
        </p:sp>
        <p:sp>
          <p:nvSpPr>
            <p:cNvPr id="72" name="文本框 71"/>
            <p:cNvSpPr txBox="1"/>
            <p:nvPr/>
          </p:nvSpPr>
          <p:spPr>
            <a:xfrm>
              <a:off x="1133066" y="3704639"/>
              <a:ext cx="842276" cy="300990"/>
            </a:xfrm>
            <a:prstGeom prst="rect">
              <a:avLst/>
            </a:prstGeom>
            <a:noFill/>
          </p:spPr>
          <p:txBody>
            <a:bodyPr wrap="square" rtlCol="0">
              <a:spAutoFit/>
            </a:bodyPr>
            <a:lstStyle/>
            <a:p>
              <a:pPr>
                <a:lnSpc>
                  <a:spcPct val="130000"/>
                </a:lnSpc>
                <a:defRPr>
                  <a:latin typeface="微软雅黑"/>
                  <a:ea typeface="微软雅黑"/>
                  <a:cs typeface="微软雅黑"/>
                </a:defRPr>
              </a:pPr>
              <a:r>
                <a:rPr lang="zh-CN" altLang="en-US" sz="1050" b="1" dirty="0">
                  <a:solidFill>
                    <a:srgbClr val="383838"/>
                  </a:solidFill>
                  <a:latin typeface="微软雅黑"/>
                  <a:ea typeface="微软雅黑"/>
                  <a:cs typeface="微软雅黑"/>
                </a:rPr>
                <a:t>成长定位</a:t>
              </a:r>
              <a:endParaRPr lang="zh-CN" altLang="en-US" sz="1050" b="1" dirty="0">
                <a:solidFill>
                  <a:srgbClr val="383838"/>
                </a:solidFill>
                <a:latin typeface="微软雅黑"/>
                <a:ea typeface="微软雅黑"/>
                <a:cs typeface="微软雅黑"/>
              </a:endParaRPr>
            </a:p>
          </p:txBody>
        </p:sp>
      </p:grpSp>
      <p:grpSp>
        <p:nvGrpSpPr>
          <p:cNvPr id="73" name="组合 72"/>
          <p:cNvGrpSpPr/>
          <p:nvPr/>
        </p:nvGrpSpPr>
        <p:grpSpPr>
          <a:xfrm>
            <a:off x="1509702" y="4776067"/>
            <a:ext cx="1279493" cy="609551"/>
            <a:chOff x="886190" y="3749724"/>
            <a:chExt cx="1279493" cy="609551"/>
          </a:xfrm>
        </p:grpSpPr>
        <p:sp>
          <p:nvSpPr>
            <p:cNvPr id="74" name="文本框 73"/>
            <p:cNvSpPr txBox="1"/>
            <p:nvPr/>
          </p:nvSpPr>
          <p:spPr>
            <a:xfrm>
              <a:off x="886190" y="3898900"/>
              <a:ext cx="1279493" cy="460375"/>
            </a:xfrm>
            <a:prstGeom prst="rect">
              <a:avLst/>
            </a:prstGeom>
            <a:noFill/>
          </p:spPr>
          <p:txBody>
            <a:bodyPr wrap="square" lIns="0" rIns="0" tIns="0" bIns="0">
              <a:spAutoFit/>
            </a:bodyPr>
            <a:lstStyle/>
            <a:p>
              <a:pPr>
                <a:spcAft>
                  <a:spcPts val="600"/>
                </a:spcAft>
                <a:defRPr>
                  <a:latin typeface="微软雅黑"/>
                  <a:ea typeface="微软雅黑"/>
                  <a:cs typeface="微软雅黑"/>
                </a:defRPr>
              </a:pPr>
              <a:r>
                <a:rPr lang="en-US" altLang="zh-CN" sz="2400" b="1" dirty="0">
                  <a:solidFill>
                    <a:srgbClr val="0042FF"/>
                  </a:solidFill>
                  <a:latin typeface="微软雅黑"/>
                  <a:ea typeface="微软雅黑"/>
                  <a:cs typeface="微软雅黑"/>
                </a:rPr>
                <a:t>A</a:t>
              </a:r>
              <a:r>
                <a:rPr lang="en-US" altLang="zh-CN" b="1" dirty="0">
                  <a:solidFill>
                    <a:srgbClr val="0042FF"/>
                  </a:solidFill>
                  <a:latin typeface="微软雅黑"/>
                  <a:ea typeface="微软雅黑"/>
                  <a:cs typeface="微软雅黑"/>
                </a:rPr>
                <a:t>ssess</a:t>
              </a:r>
              <a:endParaRPr lang="en-US" altLang="zh-CN" sz="2400" b="1" dirty="0">
                <a:solidFill>
                  <a:srgbClr val="0042FF"/>
                </a:solidFill>
                <a:latin typeface="微软雅黑"/>
                <a:ea typeface="微软雅黑"/>
                <a:cs typeface="微软雅黑"/>
              </a:endParaRPr>
            </a:p>
          </p:txBody>
        </p:sp>
        <p:sp>
          <p:nvSpPr>
            <p:cNvPr id="75" name="文本框 74"/>
            <p:cNvSpPr txBox="1"/>
            <p:nvPr/>
          </p:nvSpPr>
          <p:spPr>
            <a:xfrm>
              <a:off x="1190851" y="3749724"/>
              <a:ext cx="842276" cy="300990"/>
            </a:xfrm>
            <a:prstGeom prst="rect">
              <a:avLst/>
            </a:prstGeom>
            <a:noFill/>
          </p:spPr>
          <p:txBody>
            <a:bodyPr wrap="square" rtlCol="0">
              <a:spAutoFit/>
            </a:bodyPr>
            <a:lstStyle/>
            <a:p>
              <a:pPr>
                <a:lnSpc>
                  <a:spcPct val="130000"/>
                </a:lnSpc>
                <a:defRPr>
                  <a:latin typeface="微软雅黑"/>
                  <a:ea typeface="微软雅黑"/>
                  <a:cs typeface="微软雅黑"/>
                </a:defRPr>
              </a:pPr>
              <a:r>
                <a:rPr lang="zh-CN" altLang="en-US" sz="1050" b="1" dirty="0">
                  <a:solidFill>
                    <a:srgbClr val="383838"/>
                  </a:solidFill>
                  <a:latin typeface="微软雅黑"/>
                  <a:ea typeface="微软雅黑"/>
                  <a:cs typeface="微软雅黑"/>
                </a:rPr>
                <a:t>能力评估</a:t>
              </a:r>
              <a:endParaRPr lang="zh-CN" altLang="en-US" sz="1050" b="1" dirty="0">
                <a:solidFill>
                  <a:srgbClr val="383838"/>
                </a:solidFill>
                <a:latin typeface="微软雅黑"/>
                <a:ea typeface="微软雅黑"/>
                <a:cs typeface="微软雅黑"/>
              </a:endParaRPr>
            </a:p>
          </p:txBody>
        </p:sp>
      </p:grpSp>
      <p:grpSp>
        <p:nvGrpSpPr>
          <p:cNvPr id="76" name="组合 75"/>
          <p:cNvGrpSpPr/>
          <p:nvPr/>
        </p:nvGrpSpPr>
        <p:grpSpPr>
          <a:xfrm>
            <a:off x="1509702" y="5566799"/>
            <a:ext cx="1279493" cy="640031"/>
            <a:chOff x="886190" y="3719244"/>
            <a:chExt cx="1279493" cy="640031"/>
          </a:xfrm>
        </p:grpSpPr>
        <p:sp>
          <p:nvSpPr>
            <p:cNvPr id="77" name="文本框 76"/>
            <p:cNvSpPr txBox="1"/>
            <p:nvPr/>
          </p:nvSpPr>
          <p:spPr>
            <a:xfrm>
              <a:off x="886190" y="3898900"/>
              <a:ext cx="1279493" cy="460375"/>
            </a:xfrm>
            <a:prstGeom prst="rect">
              <a:avLst/>
            </a:prstGeom>
            <a:noFill/>
          </p:spPr>
          <p:txBody>
            <a:bodyPr wrap="square" lIns="0" rIns="0" tIns="0" bIns="0">
              <a:spAutoFit/>
            </a:bodyPr>
            <a:lstStyle/>
            <a:p>
              <a:pPr>
                <a:spcAft>
                  <a:spcPts val="600"/>
                </a:spcAft>
                <a:defRPr>
                  <a:latin typeface="微软雅黑"/>
                  <a:ea typeface="微软雅黑"/>
                  <a:cs typeface="微软雅黑"/>
                </a:defRPr>
              </a:pPr>
              <a:r>
                <a:rPr lang="en-US" altLang="zh-CN" sz="2400" b="1" dirty="0">
                  <a:solidFill>
                    <a:srgbClr val="0042FF"/>
                  </a:solidFill>
                  <a:latin typeface="微软雅黑"/>
                  <a:ea typeface="微软雅黑"/>
                  <a:cs typeface="微软雅黑"/>
                </a:rPr>
                <a:t>P</a:t>
              </a:r>
              <a:r>
                <a:rPr lang="en-US" altLang="zh-CN" b="1" dirty="0">
                  <a:solidFill>
                    <a:srgbClr val="0042FF"/>
                  </a:solidFill>
                  <a:latin typeface="微软雅黑"/>
                  <a:ea typeface="微软雅黑"/>
                  <a:cs typeface="微软雅黑"/>
                </a:rPr>
                <a:t>ractice</a:t>
              </a:r>
              <a:endParaRPr lang="en-US" altLang="zh-CN" sz="2400" b="1" dirty="0">
                <a:solidFill>
                  <a:srgbClr val="0042FF"/>
                </a:solidFill>
                <a:latin typeface="微软雅黑"/>
                <a:ea typeface="微软雅黑"/>
                <a:cs typeface="微软雅黑"/>
              </a:endParaRPr>
            </a:p>
          </p:txBody>
        </p:sp>
        <p:sp>
          <p:nvSpPr>
            <p:cNvPr id="78" name="文本框 77"/>
            <p:cNvSpPr txBox="1"/>
            <p:nvPr/>
          </p:nvSpPr>
          <p:spPr>
            <a:xfrm>
              <a:off x="1191486" y="3719244"/>
              <a:ext cx="842276" cy="300990"/>
            </a:xfrm>
            <a:prstGeom prst="rect">
              <a:avLst/>
            </a:prstGeom>
            <a:noFill/>
          </p:spPr>
          <p:txBody>
            <a:bodyPr wrap="square" rtlCol="0">
              <a:spAutoFit/>
            </a:bodyPr>
            <a:lstStyle/>
            <a:p>
              <a:pPr>
                <a:lnSpc>
                  <a:spcPct val="130000"/>
                </a:lnSpc>
                <a:defRPr>
                  <a:latin typeface="微软雅黑"/>
                  <a:ea typeface="微软雅黑"/>
                  <a:cs typeface="微软雅黑"/>
                </a:defRPr>
              </a:pPr>
              <a:r>
                <a:rPr lang="zh-CN" altLang="en-US" sz="1050" b="1" dirty="0">
                  <a:solidFill>
                    <a:srgbClr val="383838"/>
                  </a:solidFill>
                  <a:latin typeface="微软雅黑"/>
                  <a:ea typeface="微软雅黑"/>
                  <a:cs typeface="微软雅黑"/>
                </a:rPr>
                <a:t>策略匹配</a:t>
              </a:r>
              <a:endParaRPr lang="zh-CN" altLang="en-US" sz="1050" b="1" dirty="0">
                <a:solidFill>
                  <a:srgbClr val="383838"/>
                </a:solidFill>
                <a:latin typeface="微软雅黑"/>
                <a:ea typeface="微软雅黑"/>
                <a:cs typeface="微软雅黑"/>
              </a:endParaRPr>
            </a:p>
          </p:txBody>
        </p:sp>
      </p:grpSp>
      <p:sp>
        <p:nvSpPr>
          <p:cNvPr id="79" name="矩形: 圆角 48"/>
          <p:cNvSpPr/>
          <p:nvPr/>
        </p:nvSpPr>
        <p:spPr>
          <a:xfrm>
            <a:off x="3354789" y="3814231"/>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京东平台上</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品牌成长定位</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80" name="矩形: 圆角 48"/>
          <p:cNvSpPr/>
          <p:nvPr/>
        </p:nvSpPr>
        <p:spPr>
          <a:xfrm>
            <a:off x="4892744" y="3814231"/>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结合定位的</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战略确认</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85" name="矩形: 圆角 48"/>
          <p:cNvSpPr/>
          <p:nvPr/>
        </p:nvSpPr>
        <p:spPr>
          <a:xfrm>
            <a:off x="3354789" y="4796522"/>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营销能力及具体</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指标表现诊断</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86" name="矩形: 圆角 48"/>
          <p:cNvSpPr/>
          <p:nvPr/>
        </p:nvSpPr>
        <p:spPr>
          <a:xfrm>
            <a:off x="6608807" y="4796522"/>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基于评估设定</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营销目标</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89" name="矩形: 圆角 48"/>
          <p:cNvSpPr/>
          <p:nvPr/>
        </p:nvSpPr>
        <p:spPr>
          <a:xfrm>
            <a:off x="8161163" y="4796522"/>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过程中进度</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表现监控</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90" name="矩形: 圆角 48"/>
          <p:cNvSpPr/>
          <p:nvPr/>
        </p:nvSpPr>
        <p:spPr>
          <a:xfrm>
            <a:off x="6616319" y="5617902"/>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匹配的营销</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策略与打法</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91" name="矩形: 圆角 48"/>
          <p:cNvSpPr/>
          <p:nvPr/>
        </p:nvSpPr>
        <p:spPr>
          <a:xfrm>
            <a:off x="8164919" y="5617902"/>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京东营销产品</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工具的应用</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92" name="矩形: 圆角 48"/>
          <p:cNvSpPr/>
          <p:nvPr/>
        </p:nvSpPr>
        <p:spPr>
          <a:xfrm>
            <a:off x="9713518" y="4796522"/>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差距要素的</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识别与提升</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93" name="矩形: 圆角 48"/>
          <p:cNvSpPr/>
          <p:nvPr/>
        </p:nvSpPr>
        <p:spPr>
          <a:xfrm>
            <a:off x="9713518" y="3995550"/>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品牌成长定位的</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保持与跃迁</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94" name="矩形: 圆角 48"/>
          <p:cNvSpPr/>
          <p:nvPr/>
        </p:nvSpPr>
        <p:spPr>
          <a:xfrm>
            <a:off x="9713518" y="5617902"/>
            <a:ext cx="1304937" cy="504000"/>
          </a:xfrm>
          <a:prstGeom prst="roundRect">
            <a:avLst>
              <a:gd name="adj" fmla="val 2567"/>
            </a:avLst>
          </a:prstGeom>
          <a:solidFill>
            <a:srgbClr val="E6E6E6">
              <a:alpha val="50000"/>
            </a:srgbClr>
          </a:solidFill>
          <a:ln w="12700" cap="flat" cmpd="sng" algn="ctr">
            <a:solidFill>
              <a:srgbClr val="3368FF">
                <a:alpha val="50000"/>
              </a:srgbClr>
            </a:solidFill>
            <a:prstDash val="dash"/>
            <a:miter lim="800000"/>
          </a:ln>
          <a:effectLst/>
        </p:spPr>
        <p:txBody>
          <a:bodyPr lIns="0" tIns="0" rIns="0" bIns="0" rtlCol="0" anchor="ctr">
            <a:noAutofit/>
          </a:bodyPr>
          <a:lstStyle/>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品牌重点关注项的</a:t>
            </a:r>
            <a:endParaRPr lang="zh-CN" altLang="en-US" sz="1050" kern="0" noProof="0" dirty="0">
              <a:ln>
                <a:noFill/>
              </a:ln>
              <a:solidFill>
                <a:srgbClr val="383838"/>
              </a:solidFill>
              <a:effectLst/>
              <a:uLnTx/>
              <a:uFillTx/>
              <a:latin typeface="微软雅黑"/>
              <a:ea typeface="微软雅黑"/>
              <a:cs typeface="微软雅黑"/>
              <a:sym typeface="微软雅黑"/>
            </a:endParaRPr>
          </a:p>
          <a:p>
            <a:pPr lvl="0" algn="ctr">
              <a:lnSpc>
                <a:spcPct val="130000"/>
              </a:lnSpc>
              <a:spcBef>
                <a:spcPts val="0"/>
              </a:spcBef>
              <a:spcAft>
                <a:spcPts val="0"/>
              </a:spcAft>
              <a:buClrTx/>
              <a:buSzTx/>
              <a:buFontTx/>
              <a:defRPr>
                <a:latin typeface="微软雅黑"/>
                <a:ea typeface="微软雅黑"/>
                <a:cs typeface="微软雅黑"/>
              </a:defRPr>
            </a:pPr>
            <a:r>
              <a:rPr lang="zh-CN" altLang="en-US" sz="1050" kern="0" noProof="0" dirty="0">
                <a:ln>
                  <a:noFill/>
                </a:ln>
                <a:solidFill>
                  <a:srgbClr val="383838"/>
                </a:solidFill>
                <a:effectLst/>
                <a:uLnTx/>
                <a:uFillTx/>
                <a:latin typeface="微软雅黑"/>
                <a:ea typeface="微软雅黑"/>
                <a:cs typeface="微软雅黑"/>
                <a:sym typeface="微软雅黑"/>
              </a:rPr>
              <a:t>策略与打击</a:t>
            </a:r>
            <a:endParaRPr lang="zh-CN" altLang="en-US" sz="1050" kern="0" noProof="0" dirty="0">
              <a:ln>
                <a:noFill/>
              </a:ln>
              <a:solidFill>
                <a:srgbClr val="383838"/>
              </a:solidFill>
              <a:effectLst/>
              <a:uLnTx/>
              <a:uFillTx/>
              <a:latin typeface="微软雅黑"/>
              <a:ea typeface="微软雅黑"/>
              <a:cs typeface="微软雅黑"/>
              <a:sym typeface="微软雅黑"/>
            </a:endParaRPr>
          </a:p>
        </p:txBody>
      </p:sp>
      <p:sp>
        <p:nvSpPr>
          <p:cNvPr id="95" name="Rectangle: Top Corners Rounded 32"/>
          <p:cNvSpPr/>
          <p:nvPr/>
        </p:nvSpPr>
        <p:spPr>
          <a:xfrm>
            <a:off x="3535618" y="6002371"/>
            <a:ext cx="720000" cy="720000"/>
          </a:xfrm>
          <a:prstGeom prst="ellipse">
            <a:avLst/>
          </a:prstGeom>
          <a:gradFill>
            <a:gsLst>
              <a:gs pos="0">
                <a:srgbClr val="0042FF"/>
              </a:gs>
              <a:gs pos="100000">
                <a:srgbClr val="3368FF"/>
              </a:gs>
            </a:gsLst>
            <a:lin ang="2700000" scaled="0"/>
          </a:gradFill>
          <a:ln w="9525" cap="flat" cmpd="sng" algn="ctr">
            <a:noFill/>
            <a:prstDash val="solid"/>
            <a:miter lim="800000"/>
          </a:ln>
          <a:effectLst>
            <a:outerShdw blurRad="50800" dist="38100" dir="2700000" algn="tl" rotWithShape="0">
              <a:srgbClr val="3368FF">
                <a:alpha val="40000"/>
              </a:srgbClr>
            </a:outerShdw>
          </a:effectLst>
        </p:spPr>
        <p:txBody>
          <a:bodyPr rtlCol="0" anchor="ctr"/>
          <a:lstStyle/>
          <a:p>
            <a:pPr algn="ctr">
              <a:defRPr>
                <a:solidFill>
                  <a:srgbClr val="FFFFFF"/>
                </a:solidFill>
                <a:latin typeface="微软雅黑"/>
                <a:ea typeface="微软雅黑"/>
                <a:cs typeface="微软雅黑"/>
              </a:defRPr>
            </a:pPr>
            <a:endParaRPr lang="en-US" sz="1050" b="1" kern="0" dirty="0">
              <a:solidFill>
                <a:srgbClr val="FFFFFF"/>
              </a:solidFill>
              <a:latin typeface="微软雅黑"/>
              <a:ea typeface="微软雅黑"/>
              <a:cs typeface="微软雅黑"/>
              <a:sym typeface="微软雅黑"/>
            </a:endParaRPr>
          </a:p>
        </p:txBody>
      </p:sp>
      <p:pic>
        <p:nvPicPr>
          <p:cNvPr id="96" name="图形 62" descr="32303236373537303b32303238313636373b4e345e8a4e2d5fc3"/>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24803" y="6191556"/>
            <a:ext cx="341630" cy="341630"/>
          </a:xfrm>
          <a:prstGeom prst="rect">
            <a:avLst/>
          </a:prstGeom>
        </p:spPr>
      </p:pic>
      <p:grpSp>
        <p:nvGrpSpPr>
          <p:cNvPr id="4" name="组合 3"/>
          <p:cNvGrpSpPr/>
          <p:nvPr/>
        </p:nvGrpSpPr>
        <p:grpSpPr>
          <a:xfrm>
            <a:off x="1456055" y="3310890"/>
            <a:ext cx="1104900" cy="502920"/>
            <a:chOff x="1986" y="4893"/>
            <a:chExt cx="1740" cy="792"/>
          </a:xfrm>
        </p:grpSpPr>
        <p:sp>
          <p:nvSpPr>
            <p:cNvPr id="66" name="文本框 65"/>
            <p:cNvSpPr txBox="1"/>
            <p:nvPr/>
          </p:nvSpPr>
          <p:spPr>
            <a:xfrm>
              <a:off x="2071" y="4927"/>
              <a:ext cx="1571" cy="725"/>
            </a:xfrm>
            <a:prstGeom prst="rect">
              <a:avLst/>
            </a:prstGeom>
            <a:noFill/>
          </p:spPr>
          <p:txBody>
            <a:bodyPr wrap="square">
              <a:spAutoFit/>
            </a:bodyPr>
            <a:lstStyle/>
            <a:p>
              <a:pPr algn="ctr">
                <a:spcAft>
                  <a:spcPts val="600"/>
                </a:spcAft>
                <a:defRPr>
                  <a:latin typeface="微软雅黑"/>
                  <a:ea typeface="微软雅黑"/>
                  <a:cs typeface="微软雅黑"/>
                </a:defRPr>
              </a:pPr>
              <a:r>
                <a:rPr lang="en-US" altLang="zh-CN" sz="2400" b="1" dirty="0">
                  <a:solidFill>
                    <a:srgbClr val="0042FF"/>
                  </a:solidFill>
                  <a:latin typeface="微软雅黑"/>
                  <a:ea typeface="微软雅黑"/>
                  <a:cs typeface="微软雅黑"/>
                </a:rPr>
                <a:t>iStar</a:t>
              </a:r>
              <a:endParaRPr lang="en-US" altLang="zh-CN" sz="2400" b="1" dirty="0">
                <a:solidFill>
                  <a:srgbClr val="0042FF"/>
                </a:solidFill>
                <a:latin typeface="微软雅黑"/>
                <a:ea typeface="微软雅黑"/>
                <a:cs typeface="微软雅黑"/>
              </a:endParaRPr>
            </a:p>
          </p:txBody>
        </p:sp>
        <p:sp>
          <p:nvSpPr>
            <p:cNvPr id="3" name="矩形 2"/>
            <p:cNvSpPr/>
            <p:nvPr/>
          </p:nvSpPr>
          <p:spPr>
            <a:xfrm>
              <a:off x="1986" y="4893"/>
              <a:ext cx="1740" cy="793"/>
            </a:xfrm>
            <a:prstGeom prst="rect">
              <a:avLst/>
            </a:prstGeom>
            <a:no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cxnSp>
        <p:nvCxnSpPr>
          <p:cNvPr id="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2" name="组合 21"/>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23" name="文本框 2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活动策划执行流程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12" name="矩形 111"/>
          <p:cNvSpPr/>
          <p:nvPr/>
        </p:nvSpPr>
        <p:spPr>
          <a:xfrm>
            <a:off x="3776431" y="3761318"/>
            <a:ext cx="2571188" cy="647700"/>
          </a:xfrm>
          <a:prstGeom prst="rect">
            <a:avLst/>
          </a:prstGeom>
          <a:solidFill>
            <a:srgbClr val="3368FF"/>
          </a:solidFill>
          <a:ln w="12700" cap="flat" cmpd="sng" algn="ctr">
            <a:no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13" name="矩形 112"/>
          <p:cNvSpPr/>
          <p:nvPr/>
        </p:nvSpPr>
        <p:spPr>
          <a:xfrm>
            <a:off x="1088649" y="3761318"/>
            <a:ext cx="2571188" cy="647700"/>
          </a:xfrm>
          <a:prstGeom prst="rect">
            <a:avLst/>
          </a:prstGeom>
          <a:solidFill>
            <a:srgbClr val="0042FF"/>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14" name="矩形 113"/>
          <p:cNvSpPr/>
          <p:nvPr/>
        </p:nvSpPr>
        <p:spPr>
          <a:xfrm>
            <a:off x="1088390" y="1939290"/>
            <a:ext cx="10618470" cy="1671955"/>
          </a:xfrm>
          <a:prstGeom prst="rect">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18" name="矩形: 圆角 489"/>
          <p:cNvSpPr/>
          <p:nvPr/>
        </p:nvSpPr>
        <p:spPr>
          <a:xfrm>
            <a:off x="492948" y="3761318"/>
            <a:ext cx="522287" cy="647700"/>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20" name="矩形: 圆角 487"/>
          <p:cNvSpPr/>
          <p:nvPr/>
        </p:nvSpPr>
        <p:spPr>
          <a:xfrm>
            <a:off x="492948" y="1177966"/>
            <a:ext cx="522287" cy="647700"/>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21" name="矩形: 圆角 488"/>
          <p:cNvSpPr/>
          <p:nvPr/>
        </p:nvSpPr>
        <p:spPr>
          <a:xfrm>
            <a:off x="492760" y="1936115"/>
            <a:ext cx="521970" cy="1675130"/>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22" name="矩形 121"/>
          <p:cNvSpPr/>
          <p:nvPr/>
        </p:nvSpPr>
        <p:spPr>
          <a:xfrm>
            <a:off x="1088648" y="1183410"/>
            <a:ext cx="10618437" cy="647700"/>
          </a:xfrm>
          <a:prstGeom prst="rect">
            <a:avLst/>
          </a:prstGeom>
          <a:gradFill>
            <a:gsLst>
              <a:gs pos="100000">
                <a:srgbClr val="3368FF"/>
              </a:gs>
              <a:gs pos="0">
                <a:srgbClr val="0042FF"/>
              </a:gs>
            </a:gsLst>
            <a:lin ang="2700000" scaled="0"/>
          </a:gradFill>
          <a:ln w="12700" cap="flat" cmpd="sng" algn="ctr">
            <a:no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23" name="椭圆 122"/>
          <p:cNvSpPr/>
          <p:nvPr/>
        </p:nvSpPr>
        <p:spPr>
          <a:xfrm>
            <a:off x="1717790" y="2155091"/>
            <a:ext cx="1312906" cy="1312906"/>
          </a:xfrm>
          <a:prstGeom prst="ellipse">
            <a:avLst/>
          </a:prstGeom>
          <a:solidFill>
            <a:srgbClr val="0042FF"/>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24" name="文本框 123"/>
          <p:cNvSpPr txBox="1"/>
          <p:nvPr/>
        </p:nvSpPr>
        <p:spPr>
          <a:xfrm>
            <a:off x="1382473" y="3916019"/>
            <a:ext cx="1983540" cy="281103"/>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1200">
                <a:solidFill>
                  <a:srgbClr val="FFFFFF"/>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rPr>
              <a:t>策划部、设计部</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25" name="文本框 124"/>
          <p:cNvSpPr txBox="1"/>
          <p:nvPr/>
        </p:nvSpPr>
        <p:spPr>
          <a:xfrm>
            <a:off x="4391727" y="3916019"/>
            <a:ext cx="1340596" cy="281103"/>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1200">
                <a:solidFill>
                  <a:srgbClr val="FFFFFF"/>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rPr>
              <a:t>财务部</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26" name="文本框 125"/>
          <p:cNvSpPr txBox="1"/>
          <p:nvPr/>
        </p:nvSpPr>
        <p:spPr>
          <a:xfrm>
            <a:off x="7077087" y="3881827"/>
            <a:ext cx="1340596" cy="338298"/>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383838"/>
                </a:solidFill>
                <a:effectLst/>
                <a:uLnTx/>
                <a:uFillTx/>
                <a:latin typeface="微软雅黑"/>
                <a:ea typeface="微软雅黑"/>
                <a:cs typeface="微软雅黑"/>
              </a:rPr>
              <a:t>嘉宾、主播</a:t>
            </a:r>
            <a:r>
              <a:rPr kumimoji="0" lang="en-US" altLang="zh-CN" sz="1400" b="0" i="0" u="none" strike="noStrike" kern="1200" cap="none" spc="0" normalizeH="0" baseline="0" noProof="0" dirty="0">
                <a:ln>
                  <a:noFill/>
                </a:ln>
                <a:solidFill>
                  <a:srgbClr val="383838"/>
                </a:solidFill>
                <a:effectLst/>
                <a:uLnTx/>
                <a:uFillTx/>
                <a:latin typeface="微软雅黑"/>
                <a:ea typeface="微软雅黑"/>
                <a:cs typeface="微软雅黑"/>
              </a:rPr>
              <a:t>A</a:t>
            </a:r>
            <a:endParaRPr kumimoji="0" lang="zh-CN"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7" name="文本框 126"/>
          <p:cNvSpPr txBox="1"/>
          <p:nvPr/>
        </p:nvSpPr>
        <p:spPr>
          <a:xfrm>
            <a:off x="9545122" y="3881827"/>
            <a:ext cx="1950192" cy="338298"/>
          </a:xfrm>
          <a:prstGeom prst="rect">
            <a:avLst/>
          </a:prstGeom>
          <a:noFill/>
        </p:spPr>
        <p:txBody>
          <a:bodyPr wrap="square" rtlCol="0" lIns="0" rIns="0" tIns="0" bIns="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主播</a:t>
            </a:r>
            <a:r>
              <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rPr>
              <a:t>B</a:t>
            </a: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rPr>
              <a:t>、运营部</a:t>
            </a:r>
            <a:endPar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128" name="直接连接符 469"/>
          <p:cNvCxnSpPr/>
          <p:nvPr/>
        </p:nvCxnSpPr>
        <p:spPr>
          <a:xfrm>
            <a:off x="3743257" y="1392053"/>
            <a:ext cx="0" cy="232228"/>
          </a:xfrm>
          <a:prstGeom prst="line">
            <a:avLst/>
          </a:prstGeom>
          <a:noFill/>
          <a:ln w="6350" cap="flat" cmpd="sng" algn="ctr">
            <a:solidFill>
              <a:srgbClr val="DCDCDC"/>
            </a:solidFill>
            <a:prstDash val="solid"/>
            <a:miter lim="800000"/>
          </a:ln>
          <a:effectLst/>
        </p:spPr>
      </p:cxnSp>
      <p:cxnSp>
        <p:nvCxnSpPr>
          <p:cNvPr id="129" name="直接连接符 470"/>
          <p:cNvCxnSpPr/>
          <p:nvPr/>
        </p:nvCxnSpPr>
        <p:spPr>
          <a:xfrm>
            <a:off x="6397866" y="1392053"/>
            <a:ext cx="0" cy="232228"/>
          </a:xfrm>
          <a:prstGeom prst="line">
            <a:avLst/>
          </a:prstGeom>
          <a:noFill/>
          <a:ln w="6350" cap="flat" cmpd="sng" algn="ctr">
            <a:solidFill>
              <a:srgbClr val="DCDCDC"/>
            </a:solidFill>
            <a:prstDash val="solid"/>
            <a:miter lim="800000"/>
          </a:ln>
          <a:effectLst/>
        </p:spPr>
      </p:cxnSp>
      <p:cxnSp>
        <p:nvCxnSpPr>
          <p:cNvPr id="130" name="直接连接符 471"/>
          <p:cNvCxnSpPr/>
          <p:nvPr/>
        </p:nvCxnSpPr>
        <p:spPr>
          <a:xfrm>
            <a:off x="9052475" y="1392053"/>
            <a:ext cx="0" cy="232228"/>
          </a:xfrm>
          <a:prstGeom prst="line">
            <a:avLst/>
          </a:prstGeom>
          <a:noFill/>
          <a:ln w="6350" cap="flat" cmpd="sng" algn="ctr">
            <a:solidFill>
              <a:srgbClr val="DCDCDC"/>
            </a:solidFill>
            <a:prstDash val="solid"/>
            <a:miter lim="800000"/>
          </a:ln>
          <a:effectLst/>
        </p:spPr>
      </p:cxnSp>
      <p:sp>
        <p:nvSpPr>
          <p:cNvPr id="131" name="文本框 130"/>
          <p:cNvSpPr txBox="1"/>
          <p:nvPr/>
        </p:nvSpPr>
        <p:spPr>
          <a:xfrm>
            <a:off x="518598" y="1273292"/>
            <a:ext cx="483209" cy="457048"/>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策略</a:t>
            </a:r>
            <a:endParaRPr lang="en-US" altLang="zh-CN" sz="1200" dirty="0">
              <a:solidFill>
                <a:srgbClr val="383838"/>
              </a:solidFill>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步骤</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2" name="文本框 131"/>
          <p:cNvSpPr txBox="1"/>
          <p:nvPr/>
        </p:nvSpPr>
        <p:spPr>
          <a:xfrm>
            <a:off x="607646" y="2395251"/>
            <a:ext cx="286060" cy="826380"/>
          </a:xfrm>
          <a:prstGeom prst="rect">
            <a:avLst/>
          </a:prstGeom>
          <a:noFill/>
          <a:effec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lang="zh-CN" altLang="en-US" sz="1200" dirty="0">
                <a:solidFill>
                  <a:srgbClr val="383838"/>
                </a:solidFill>
                <a:latin typeface="微软雅黑"/>
                <a:ea typeface="微软雅黑"/>
                <a:cs typeface="微软雅黑"/>
              </a:rPr>
              <a:t>核心事项</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3" name="文本框 132"/>
          <p:cNvSpPr txBox="1"/>
          <p:nvPr/>
        </p:nvSpPr>
        <p:spPr>
          <a:xfrm>
            <a:off x="511970" y="3858514"/>
            <a:ext cx="483209" cy="457048"/>
          </a:xfrm>
          <a:prstGeom prst="rect">
            <a:avLst/>
          </a:prstGeom>
          <a:noFill/>
          <a:ln>
            <a:noFill/>
          </a:ln>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负责</a:t>
            </a:r>
            <a:endPar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部门</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4" name="文本框 133"/>
          <p:cNvSpPr txBox="1"/>
          <p:nvPr/>
        </p:nvSpPr>
        <p:spPr>
          <a:xfrm flipH="1">
            <a:off x="1714116" y="1384715"/>
            <a:ext cx="1320254"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rPr>
              <a:t>活动策划</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36" name="箭头: 下 14"/>
          <p:cNvSpPr/>
          <p:nvPr/>
        </p:nvSpPr>
        <p:spPr>
          <a:xfrm rot="16200000">
            <a:off x="3295334" y="2366998"/>
            <a:ext cx="576846" cy="889094"/>
          </a:xfrm>
          <a:prstGeom prst="downArrow">
            <a:avLst>
              <a:gd name="adj1" fmla="val 48920"/>
              <a:gd name="adj2" fmla="val 63858"/>
            </a:avLst>
          </a:prstGeom>
          <a:gradFill>
            <a:gsLst>
              <a:gs pos="100000">
                <a:srgbClr val="3368FF"/>
              </a:gs>
              <a:gs pos="23000">
                <a:srgbClr val="3368FF">
                  <a:alpha val="0"/>
                </a:srgbClr>
              </a:gs>
            </a:gsLst>
            <a:lin ang="5400000" scaled="0"/>
          </a:gra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37" name="矩形 136"/>
          <p:cNvSpPr/>
          <p:nvPr/>
        </p:nvSpPr>
        <p:spPr>
          <a:xfrm>
            <a:off x="9110429" y="3761318"/>
            <a:ext cx="2596655" cy="647700"/>
          </a:xfrm>
          <a:prstGeom prst="rect">
            <a:avLst/>
          </a:prstGeom>
          <a:solidFill>
            <a:srgbClr val="3368FF"/>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38" name="矩形 137"/>
          <p:cNvSpPr/>
          <p:nvPr/>
        </p:nvSpPr>
        <p:spPr>
          <a:xfrm>
            <a:off x="6464212" y="3761318"/>
            <a:ext cx="808176" cy="647700"/>
          </a:xfrm>
          <a:prstGeom prst="rect">
            <a:avLst/>
          </a:prstGeom>
          <a:solidFill>
            <a:srgbClr val="B3D4FE"/>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39" name="矩形 138"/>
          <p:cNvSpPr/>
          <p:nvPr/>
        </p:nvSpPr>
        <p:spPr>
          <a:xfrm>
            <a:off x="7341134" y="3761318"/>
            <a:ext cx="808176" cy="647700"/>
          </a:xfrm>
          <a:prstGeom prst="rect">
            <a:avLst/>
          </a:prstGeom>
          <a:solidFill>
            <a:srgbClr val="B3D4FE"/>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40" name="矩形 139"/>
          <p:cNvSpPr/>
          <p:nvPr/>
        </p:nvSpPr>
        <p:spPr>
          <a:xfrm>
            <a:off x="8218057" y="3761318"/>
            <a:ext cx="808176" cy="647700"/>
          </a:xfrm>
          <a:prstGeom prst="rect">
            <a:avLst/>
          </a:prstGeom>
          <a:solidFill>
            <a:srgbClr val="B3D4FE"/>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41" name="Object27"/>
          <p:cNvSpPr/>
          <p:nvPr/>
        </p:nvSpPr>
        <p:spPr>
          <a:xfrm>
            <a:off x="1779572" y="2599691"/>
            <a:ext cx="1189342" cy="294542"/>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sz="1600" b="0" i="0" u="none" strike="noStrike" kern="1200" cap="none" spc="0" normalizeH="0" baseline="0" noProof="0" dirty="0" err="1">
                <a:ln>
                  <a:noFill/>
                </a:ln>
                <a:solidFill>
                  <a:srgbClr val="FFFFFF"/>
                </a:solidFill>
                <a:effectLst/>
                <a:uLnTx/>
                <a:uFillTx/>
                <a:latin typeface="微软雅黑"/>
                <a:ea typeface="微软雅黑"/>
                <a:cs typeface="微软雅黑"/>
              </a:rPr>
              <a:t>方案制定</a:t>
            </a:r>
            <a:endParaRPr kumimoji="0" 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2" name="文本框 141"/>
          <p:cNvSpPr txBox="1"/>
          <p:nvPr/>
        </p:nvSpPr>
        <p:spPr>
          <a:xfrm>
            <a:off x="1873946" y="2850691"/>
            <a:ext cx="1000595" cy="313690"/>
          </a:xfrm>
          <a:prstGeom prst="rect">
            <a:avLst/>
          </a:prstGeom>
          <a:noFill/>
        </p:spPr>
        <p:txBody>
          <a:bodyPr wrap="square" rtlCol="0" lIns="0" rIns="0" tIns="0" bIns="0" anchor="t">
            <a:noAutofit/>
          </a:bodyPr>
          <a:lstStyle/>
          <a:p>
            <a:pPr marL="0" marR="0" lvl="0" indent="0" algn="l"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Brand marketing</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3" name="椭圆 142"/>
          <p:cNvSpPr/>
          <p:nvPr/>
        </p:nvSpPr>
        <p:spPr>
          <a:xfrm>
            <a:off x="4405572" y="2155091"/>
            <a:ext cx="1312906" cy="1312906"/>
          </a:xfrm>
          <a:prstGeom prst="ellipse">
            <a:avLst/>
          </a:prstGeom>
          <a:solidFill>
            <a:srgbClr val="3368FF"/>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44" name="Object27"/>
          <p:cNvSpPr/>
          <p:nvPr/>
        </p:nvSpPr>
        <p:spPr>
          <a:xfrm>
            <a:off x="4467354" y="2599691"/>
            <a:ext cx="1189342" cy="294542"/>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sz="1600" b="0" i="0" u="none" strike="noStrike" kern="1200" cap="none" spc="0" normalizeH="0" baseline="0" noProof="0" dirty="0" err="1">
                <a:ln>
                  <a:noFill/>
                </a:ln>
                <a:solidFill>
                  <a:srgbClr val="FFFFFF"/>
                </a:solidFill>
                <a:effectLst/>
                <a:uLnTx/>
                <a:uFillTx/>
                <a:latin typeface="微软雅黑"/>
                <a:ea typeface="微软雅黑"/>
                <a:cs typeface="微软雅黑"/>
              </a:rPr>
              <a:t>经费评估</a:t>
            </a:r>
            <a:endParaRPr kumimoji="0" 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5" name="文本框 144"/>
          <p:cNvSpPr txBox="1"/>
          <p:nvPr/>
        </p:nvSpPr>
        <p:spPr>
          <a:xfrm>
            <a:off x="4561728" y="2850691"/>
            <a:ext cx="1000595" cy="313690"/>
          </a:xfrm>
          <a:prstGeom prst="rect">
            <a:avLst/>
          </a:prstGeom>
          <a:noFill/>
        </p:spPr>
        <p:txBody>
          <a:bodyPr wrap="square" rtlCol="0" lIns="0" rIns="0" tIns="0" bIns="0" anchor="t">
            <a:noAutofit/>
          </a:bodyPr>
          <a:lstStyle/>
          <a:p>
            <a:pPr marL="0" marR="0" lvl="0" indent="0" algn="l"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Brand marketing</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6" name="椭圆 145"/>
          <p:cNvSpPr/>
          <p:nvPr/>
        </p:nvSpPr>
        <p:spPr>
          <a:xfrm>
            <a:off x="7364303" y="2165930"/>
            <a:ext cx="752672" cy="752672"/>
          </a:xfrm>
          <a:prstGeom prst="ellipse">
            <a:avLst/>
          </a:prstGeom>
          <a:solidFill>
            <a:srgbClr val="B3D4FE">
              <a:alpha val="70000"/>
            </a:srgbClr>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47" name="椭圆 146"/>
          <p:cNvSpPr/>
          <p:nvPr/>
        </p:nvSpPr>
        <p:spPr>
          <a:xfrm>
            <a:off x="9739571" y="2155091"/>
            <a:ext cx="1312906" cy="1312906"/>
          </a:xfrm>
          <a:prstGeom prst="ellipse">
            <a:avLst/>
          </a:prstGeom>
          <a:solidFill>
            <a:srgbClr val="3368FF"/>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48" name="Object27"/>
          <p:cNvSpPr/>
          <p:nvPr/>
        </p:nvSpPr>
        <p:spPr>
          <a:xfrm>
            <a:off x="9801353" y="2599691"/>
            <a:ext cx="1189342" cy="294542"/>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sz="1600" b="0" i="0" u="none" strike="noStrike" kern="1200" cap="none" spc="0" normalizeH="0" baseline="0" noProof="0" dirty="0" err="1">
                <a:ln>
                  <a:noFill/>
                </a:ln>
                <a:solidFill>
                  <a:srgbClr val="FFFFFF"/>
                </a:solidFill>
                <a:effectLst/>
                <a:uLnTx/>
                <a:uFillTx/>
                <a:latin typeface="微软雅黑"/>
                <a:ea typeface="微软雅黑"/>
                <a:cs typeface="微软雅黑"/>
              </a:rPr>
              <a:t>渠道投放</a:t>
            </a:r>
            <a:endParaRPr kumimoji="0" 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49" name="文本框 148"/>
          <p:cNvSpPr txBox="1"/>
          <p:nvPr/>
        </p:nvSpPr>
        <p:spPr>
          <a:xfrm>
            <a:off x="9895727" y="2850691"/>
            <a:ext cx="1000595" cy="313690"/>
          </a:xfrm>
          <a:prstGeom prst="rect">
            <a:avLst/>
          </a:prstGeom>
          <a:noFill/>
        </p:spPr>
        <p:txBody>
          <a:bodyPr wrap="square" rtlCol="0" lIns="0" rIns="0" tIns="0" bIns="0" anchor="t">
            <a:noAutofit/>
          </a:bodyPr>
          <a:lstStyle/>
          <a:p>
            <a:pPr marL="0" marR="0" lvl="0" indent="0" algn="l"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rPr>
              <a:t>Brand marketing</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1" name="箭头: 下 14"/>
          <p:cNvSpPr/>
          <p:nvPr/>
        </p:nvSpPr>
        <p:spPr>
          <a:xfrm rot="16200000">
            <a:off x="6026119" y="2366998"/>
            <a:ext cx="576846" cy="889094"/>
          </a:xfrm>
          <a:prstGeom prst="downArrow">
            <a:avLst>
              <a:gd name="adj1" fmla="val 48920"/>
              <a:gd name="adj2" fmla="val 63858"/>
            </a:avLst>
          </a:prstGeom>
          <a:gradFill>
            <a:gsLst>
              <a:gs pos="100000">
                <a:srgbClr val="3368FF"/>
              </a:gs>
              <a:gs pos="23000">
                <a:srgbClr val="3368FF">
                  <a:alpha val="0"/>
                </a:srgbClr>
              </a:gs>
            </a:gsLst>
            <a:lin ang="5400000" scaled="0"/>
          </a:gradFill>
          <a:ln w="12700" cap="flat" cmpd="sng" algn="ctr">
            <a:noFill/>
            <a:prstDash val="solid"/>
            <a:miter lim="800000"/>
          </a:ln>
          <a:effectLst/>
        </p:spPr>
        <p:txBody>
          <a:bodyPr rtlCol="0" anchor="ctr" lIns="0" rIns="0" tIns="0" bIns="0">
            <a:noAutofit/>
          </a:bodyPr>
          <a:lstStyle/>
          <a:p>
            <a:pPr lvl="0" algn="ctr">
              <a:spcBef>
                <a:spcPts val="0"/>
              </a:spcBef>
              <a:spcAft>
                <a:spcPts val="0"/>
              </a:spcAft>
              <a:buClrTx/>
              <a:buSzTx/>
              <a:buFontTx/>
              <a:defRPr>
                <a:solidFill>
                  <a:srgbClr val="383838"/>
                </a:solidFill>
                <a:latin typeface="微软雅黑"/>
                <a:ea typeface="微软雅黑"/>
                <a:cs typeface="微软雅黑"/>
              </a:defRPr>
            </a:pPr>
            <a:endParaRPr kumimoji="1" lang="zh-CN" altLang="en-US" kern="0" noProof="0">
              <a:ln>
                <a:noFill/>
              </a:ln>
              <a:solidFill>
                <a:srgbClr val="383838"/>
              </a:solidFill>
              <a:effectLst/>
              <a:uLnTx/>
              <a:uFillTx/>
              <a:latin typeface="微软雅黑"/>
              <a:ea typeface="微软雅黑"/>
              <a:cs typeface="微软雅黑"/>
              <a:sym typeface="微软雅黑"/>
            </a:endParaRPr>
          </a:p>
        </p:txBody>
      </p:sp>
      <p:sp>
        <p:nvSpPr>
          <p:cNvPr id="152" name="箭头: 下 14"/>
          <p:cNvSpPr/>
          <p:nvPr/>
        </p:nvSpPr>
        <p:spPr>
          <a:xfrm rot="16200000">
            <a:off x="8647590" y="2366998"/>
            <a:ext cx="576846" cy="889094"/>
          </a:xfrm>
          <a:prstGeom prst="downArrow">
            <a:avLst>
              <a:gd name="adj1" fmla="val 48920"/>
              <a:gd name="adj2" fmla="val 63858"/>
            </a:avLst>
          </a:prstGeom>
          <a:gradFill>
            <a:gsLst>
              <a:gs pos="100000">
                <a:srgbClr val="B3D4FE">
                  <a:alpha val="100000"/>
                </a:srgbClr>
              </a:gs>
              <a:gs pos="23000">
                <a:srgbClr val="B3D4FE">
                  <a:alpha val="0"/>
                </a:srgbClr>
              </a:gs>
            </a:gsLst>
            <a:lin ang="5400000" scaled="0"/>
          </a:gradFill>
          <a:ln w="12700" cap="flat" cmpd="sng" algn="ctr">
            <a:noFill/>
            <a:prstDash val="solid"/>
            <a:miter lim="800000"/>
          </a:ln>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kumimoji="1" lang="zh-CN" altLang="en-US" kern="0" noProof="0">
              <a:ln>
                <a:noFill/>
              </a:ln>
              <a:solidFill>
                <a:srgbClr val="383838"/>
              </a:solidFill>
              <a:effectLst/>
              <a:uLnTx/>
              <a:uFillTx/>
              <a:latin typeface="微软雅黑"/>
              <a:ea typeface="微软雅黑"/>
              <a:cs typeface="微软雅黑"/>
              <a:sym typeface="微软雅黑"/>
            </a:endParaRPr>
          </a:p>
        </p:txBody>
      </p:sp>
      <p:sp>
        <p:nvSpPr>
          <p:cNvPr id="153" name="文本框 152"/>
          <p:cNvSpPr txBox="1"/>
          <p:nvPr/>
        </p:nvSpPr>
        <p:spPr>
          <a:xfrm flipH="1">
            <a:off x="4401898" y="1384715"/>
            <a:ext cx="1320254"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rPr>
              <a:t>预算制定</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4" name="文本框 153"/>
          <p:cNvSpPr txBox="1"/>
          <p:nvPr/>
        </p:nvSpPr>
        <p:spPr>
          <a:xfrm flipH="1">
            <a:off x="7080512" y="1384715"/>
            <a:ext cx="1320254"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rPr>
              <a:t>供应商协商</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5" name="文本框 154"/>
          <p:cNvSpPr txBox="1"/>
          <p:nvPr/>
        </p:nvSpPr>
        <p:spPr>
          <a:xfrm flipH="1">
            <a:off x="9761364" y="1384715"/>
            <a:ext cx="1320254"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rPr>
              <a:t>宣传推广</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56" name="文本框 155"/>
          <p:cNvSpPr txBox="1"/>
          <p:nvPr/>
        </p:nvSpPr>
        <p:spPr>
          <a:xfrm>
            <a:off x="6546923" y="3916019"/>
            <a:ext cx="642754" cy="281103"/>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rPr>
              <a:t>行政</a:t>
            </a:r>
            <a:endPar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7" name="文本框 156"/>
          <p:cNvSpPr txBox="1"/>
          <p:nvPr/>
        </p:nvSpPr>
        <p:spPr>
          <a:xfrm>
            <a:off x="7423845" y="3916019"/>
            <a:ext cx="642754" cy="281103"/>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rPr>
              <a:t>财务</a:t>
            </a:r>
            <a:endPar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8" name="文本框 157"/>
          <p:cNvSpPr txBox="1"/>
          <p:nvPr/>
        </p:nvSpPr>
        <p:spPr>
          <a:xfrm>
            <a:off x="8300768" y="3916019"/>
            <a:ext cx="642754" cy="281103"/>
          </a:xfrm>
          <a:prstGeom prst="rect">
            <a:avLst/>
          </a:prstGeom>
          <a:noFill/>
        </p:spPr>
        <p:txBody>
          <a:bodyPr wrap="square" lIns="0" tIns="0" rIns="0" bIns="0" rtlCol="0">
            <a:spAutoFit/>
          </a:bodyPr>
          <a:lstStyle>
            <a:defPPr>
              <a:defRPr lang="zh-CN">
                <a:latin typeface="微软雅黑"/>
                <a:ea typeface="微软雅黑"/>
                <a:cs typeface="微软雅黑"/>
              </a:defRPr>
            </a:defPPr>
            <a:lvl1pPr algn="ctr">
              <a:lnSpc>
                <a:spcPct val="120000"/>
              </a:lnSpc>
              <a:defRPr sz="1200">
                <a:solidFill>
                  <a:srgbClr val="383838"/>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rPr>
              <a:t>法务</a:t>
            </a:r>
            <a:endParaRPr kumimoji="0" lang="zh-CN" alt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9" name="椭圆 158"/>
          <p:cNvSpPr/>
          <p:nvPr/>
        </p:nvSpPr>
        <p:spPr>
          <a:xfrm>
            <a:off x="7044788" y="2701217"/>
            <a:ext cx="752672" cy="752672"/>
          </a:xfrm>
          <a:prstGeom prst="ellipse">
            <a:avLst/>
          </a:prstGeom>
          <a:solidFill>
            <a:srgbClr val="B3D4FE">
              <a:alpha val="70000"/>
            </a:srgbClr>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60" name="椭圆 159"/>
          <p:cNvSpPr/>
          <p:nvPr/>
        </p:nvSpPr>
        <p:spPr>
          <a:xfrm>
            <a:off x="7669543" y="2701217"/>
            <a:ext cx="752672" cy="752672"/>
          </a:xfrm>
          <a:prstGeom prst="ellipse">
            <a:avLst/>
          </a:prstGeom>
          <a:solidFill>
            <a:srgbClr val="B3D4FE">
              <a:alpha val="70000"/>
            </a:srgbClr>
          </a:solidFill>
          <a:ln w="381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945" b="0" i="0" u="none" strike="noStrike" kern="0" cap="none" spc="0" normalizeH="0" baseline="0" noProof="0">
              <a:ln>
                <a:noFill/>
              </a:ln>
              <a:solidFill>
                <a:srgbClr val="383838"/>
              </a:solidFill>
              <a:effectLst>
                <a:outerShdw blurRad="137160" dist="41148" dir="2699997" algn="tl">
                  <a:srgbClr val="383838">
                    <a:alpha val="40000"/>
                  </a:srgbClr>
                </a:outerShdw>
              </a:effectLst>
              <a:uLnTx/>
              <a:uFillTx/>
              <a:latin typeface="微软雅黑"/>
              <a:ea typeface="微软雅黑"/>
              <a:cs typeface="微软雅黑"/>
            </a:endParaRPr>
          </a:p>
        </p:txBody>
      </p:sp>
      <p:sp>
        <p:nvSpPr>
          <p:cNvPr id="161" name="Object27"/>
          <p:cNvSpPr/>
          <p:nvPr/>
        </p:nvSpPr>
        <p:spPr>
          <a:xfrm>
            <a:off x="7486768" y="2375850"/>
            <a:ext cx="512146" cy="294542"/>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1600" b="0" i="0" u="none" strike="noStrike" kern="1200" cap="none" spc="0" normalizeH="0" baseline="0" noProof="0" dirty="0" err="1">
                <a:ln>
                  <a:noFill/>
                </a:ln>
                <a:solidFill>
                  <a:srgbClr val="383838"/>
                </a:solidFill>
                <a:effectLst/>
                <a:uLnTx/>
                <a:uFillTx/>
                <a:latin typeface="微软雅黑"/>
                <a:ea typeface="微软雅黑"/>
                <a:cs typeface="微软雅黑"/>
              </a:rPr>
              <a:t>场地</a:t>
            </a:r>
            <a:endParaRPr kumimoji="0" 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2" name="Object27"/>
          <p:cNvSpPr/>
          <p:nvPr/>
        </p:nvSpPr>
        <p:spPr>
          <a:xfrm>
            <a:off x="7160783" y="2940171"/>
            <a:ext cx="512146" cy="294542"/>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1600" b="0" i="0" u="none" strike="noStrike" kern="1200" cap="none" spc="0" normalizeH="0" baseline="0" noProof="0" dirty="0" err="1">
                <a:ln>
                  <a:noFill/>
                </a:ln>
                <a:solidFill>
                  <a:srgbClr val="383838"/>
                </a:solidFill>
                <a:effectLst/>
                <a:uLnTx/>
                <a:uFillTx/>
                <a:latin typeface="微软雅黑"/>
                <a:ea typeface="微软雅黑"/>
                <a:cs typeface="微软雅黑"/>
              </a:rPr>
              <a:t>设备</a:t>
            </a:r>
            <a:endParaRPr kumimoji="0" 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3" name="Object27"/>
          <p:cNvSpPr/>
          <p:nvPr/>
        </p:nvSpPr>
        <p:spPr>
          <a:xfrm>
            <a:off x="7836498" y="2940171"/>
            <a:ext cx="512146" cy="294542"/>
          </a:xfrm>
          <a:prstGeom prst="rect">
            <a:avLst/>
          </a:prstGeom>
          <a:noFill/>
        </p:spPr>
        <p:txBody>
          <a:bodyPr wrap="square" lIns="0" tIns="0" rIns="0" bIns="0" rtlCol="0" anchor="ctr"/>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1600" b="0" i="0" u="none" strike="noStrike" kern="1200" cap="none" spc="0" normalizeH="0" baseline="0" noProof="0" dirty="0" err="1">
                <a:ln>
                  <a:noFill/>
                </a:ln>
                <a:solidFill>
                  <a:srgbClr val="383838"/>
                </a:solidFill>
                <a:effectLst/>
                <a:uLnTx/>
                <a:uFillTx/>
                <a:latin typeface="微软雅黑"/>
                <a:ea typeface="微软雅黑"/>
                <a:cs typeface="微软雅黑"/>
              </a:rPr>
              <a:t>嘉宾</a:t>
            </a:r>
            <a:endParaRPr kumimoji="0" lang="en-US" sz="16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4" name="文本框 163"/>
          <p:cNvSpPr txBox="1"/>
          <p:nvPr/>
        </p:nvSpPr>
        <p:spPr>
          <a:xfrm>
            <a:off x="9615284" y="3916019"/>
            <a:ext cx="1561480" cy="281103"/>
          </a:xfrm>
          <a:prstGeom prst="rect">
            <a:avLst/>
          </a:prstGeom>
          <a:noFill/>
        </p:spPr>
        <p:txBody>
          <a:bodyPr wrap="square" lIns="0" tIns="0" rIns="0" bIns="0" rtlCol="0">
            <a:spAutoFit/>
          </a:bodyPr>
          <a:lstStyle>
            <a:defPPr>
              <a:defRPr lang="zh-CN">
                <a:solidFill>
                  <a:srgbClr val="FFFFFF"/>
                </a:solidFill>
                <a:latin typeface="微软雅黑"/>
                <a:ea typeface="微软雅黑"/>
                <a:cs typeface="微软雅黑"/>
              </a:defRPr>
            </a:defPPr>
            <a:lvl1pPr algn="ctr">
              <a:lnSpc>
                <a:spcPct val="120000"/>
              </a:lnSpc>
              <a:defRPr sz="1200">
                <a:solidFill>
                  <a:srgbClr val="FFFFFF"/>
                </a:solidFill>
                <a:effectLst/>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rPr>
              <a:t>品宣部、设计部</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10" name="矩形: 圆角 30"/>
          <p:cNvSpPr/>
          <p:nvPr/>
        </p:nvSpPr>
        <p:spPr>
          <a:xfrm>
            <a:off x="9135745" y="4518660"/>
            <a:ext cx="2571115" cy="1978660"/>
          </a:xfrm>
          <a:prstGeom prst="roundRect">
            <a:avLst>
              <a:gd name="adj" fmla="val 110"/>
            </a:avLst>
          </a:prstGeom>
          <a:solidFill>
            <a:srgbClr val="FFFFFF">
              <a:alpha val="40000"/>
            </a:srgbClr>
          </a:solidFill>
          <a:ln w="12700" cap="flat" cmpd="sng" algn="ctr">
            <a:noFill/>
            <a:prstDash val="solid"/>
            <a:miter lim="800000"/>
          </a:ln>
          <a:effectLst/>
        </p:spPr>
        <p:txBody>
          <a:bodyPr rtlCol="0" anchor="ctr" lIns="0" rIns="0" tIns="0" bIns="0">
            <a:noAutofit/>
          </a:bodyPr>
          <a:lstStyle/>
          <a:p>
            <a:pPr lvl="0" algn="ctr" defTabSz="456565">
              <a:spcBef>
                <a:spcPts val="0"/>
              </a:spcBef>
              <a:spcAft>
                <a:spcPts val="0"/>
              </a:spcAft>
              <a:buClrTx/>
              <a:buSzTx/>
              <a:buFontTx/>
              <a:defRPr>
                <a:latin typeface="微软雅黑"/>
                <a:ea typeface="微软雅黑"/>
                <a:cs typeface="微软雅黑"/>
              </a:defRPr>
            </a:pPr>
            <a:endParaRPr kumimoji="1" lang="zh-CN" altLang="en-US" sz="1000" b="1" kern="0" noProof="0">
              <a:ln>
                <a:noFill/>
              </a:ln>
              <a:solidFill>
                <a:srgbClr val="0042FF"/>
              </a:solidFill>
              <a:effectLst/>
              <a:uLnTx/>
              <a:uFillTx/>
              <a:latin typeface="微软雅黑"/>
              <a:ea typeface="微软雅黑"/>
              <a:cs typeface="微软雅黑"/>
              <a:sym typeface="微软雅黑"/>
            </a:endParaRPr>
          </a:p>
        </p:txBody>
      </p:sp>
      <p:sp>
        <p:nvSpPr>
          <p:cNvPr id="111" name="矩形 110"/>
          <p:cNvSpPr/>
          <p:nvPr/>
        </p:nvSpPr>
        <p:spPr>
          <a:xfrm>
            <a:off x="9396095" y="4748530"/>
            <a:ext cx="1067435" cy="295275"/>
          </a:xfrm>
          <a:prstGeom prst="rect">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15" name="矩形: 圆角 30"/>
          <p:cNvSpPr/>
          <p:nvPr/>
        </p:nvSpPr>
        <p:spPr>
          <a:xfrm>
            <a:off x="1093470" y="4518660"/>
            <a:ext cx="2571115" cy="1978660"/>
          </a:xfrm>
          <a:prstGeom prst="roundRect">
            <a:avLst>
              <a:gd name="adj" fmla="val 110"/>
            </a:avLst>
          </a:prstGeom>
          <a:solidFill>
            <a:srgbClr val="E6E6E6">
              <a:alpha val="40000"/>
            </a:srgbClr>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00" b="1"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16" name="矩形: 圆角 30"/>
          <p:cNvSpPr/>
          <p:nvPr/>
        </p:nvSpPr>
        <p:spPr>
          <a:xfrm>
            <a:off x="3774440" y="4518660"/>
            <a:ext cx="2571115" cy="1978660"/>
          </a:xfrm>
          <a:prstGeom prst="roundRect">
            <a:avLst>
              <a:gd name="adj" fmla="val 0"/>
            </a:avLst>
          </a:prstGeom>
          <a:solidFill>
            <a:srgbClr val="E6E6E6">
              <a:alpha val="40000"/>
            </a:srgbClr>
          </a:solidFill>
          <a:ln w="12700" cap="flat" cmpd="sng" algn="ctr">
            <a:noFill/>
            <a:prstDash val="solid"/>
            <a:miter lim="800000"/>
          </a:ln>
          <a:effectLst/>
        </p:spPr>
        <p:txBody>
          <a:bodyPr rtlCol="0" anchor="ctr" lIns="0" rIns="0" tIns="0" bIns="0">
            <a:noAutofit/>
          </a:bodyPr>
          <a:lstStyle/>
          <a:p>
            <a:pPr lvl="0" algn="ctr" defTabSz="456565">
              <a:spcBef>
                <a:spcPts val="0"/>
              </a:spcBef>
              <a:spcAft>
                <a:spcPts val="0"/>
              </a:spcAft>
              <a:buClrTx/>
              <a:buSzTx/>
              <a:buFontTx/>
              <a:defRPr>
                <a:latin typeface="微软雅黑"/>
                <a:ea typeface="微软雅黑"/>
                <a:cs typeface="微软雅黑"/>
              </a:defRPr>
            </a:pPr>
            <a:endParaRPr kumimoji="1" lang="zh-CN" altLang="en-US" sz="1000" b="1" kern="0" noProof="0">
              <a:ln>
                <a:noFill/>
              </a:ln>
              <a:solidFill>
                <a:srgbClr val="0042FF"/>
              </a:solidFill>
              <a:effectLst/>
              <a:uLnTx/>
              <a:uFillTx/>
              <a:latin typeface="微软雅黑"/>
              <a:ea typeface="微软雅黑"/>
              <a:cs typeface="微软雅黑"/>
              <a:sym typeface="微软雅黑"/>
            </a:endParaRPr>
          </a:p>
        </p:txBody>
      </p:sp>
      <p:sp>
        <p:nvSpPr>
          <p:cNvPr id="117" name="矩形: 圆角 30"/>
          <p:cNvSpPr/>
          <p:nvPr/>
        </p:nvSpPr>
        <p:spPr>
          <a:xfrm>
            <a:off x="6454775" y="4518660"/>
            <a:ext cx="2571115" cy="1978660"/>
          </a:xfrm>
          <a:prstGeom prst="roundRect">
            <a:avLst>
              <a:gd name="adj" fmla="val 110"/>
            </a:avLst>
          </a:prstGeom>
          <a:solidFill>
            <a:srgbClr val="FFFFFF">
              <a:alpha val="40000"/>
            </a:srgbClr>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000" b="1" i="0" u="none" strike="noStrike" kern="0" cap="none" spc="0" normalizeH="0" baseline="0" noProof="0">
              <a:ln>
                <a:noFill/>
              </a:ln>
              <a:solidFill>
                <a:srgbClr val="0042FF"/>
              </a:solidFill>
              <a:effectLst/>
              <a:uLnTx/>
              <a:uFillTx/>
              <a:latin typeface="微软雅黑"/>
              <a:ea typeface="微软雅黑"/>
              <a:cs typeface="微软雅黑"/>
            </a:endParaRPr>
          </a:p>
        </p:txBody>
      </p:sp>
      <p:sp>
        <p:nvSpPr>
          <p:cNvPr id="119" name="矩形: 圆角 490"/>
          <p:cNvSpPr/>
          <p:nvPr/>
        </p:nvSpPr>
        <p:spPr>
          <a:xfrm>
            <a:off x="492760" y="4518660"/>
            <a:ext cx="521970" cy="1978660"/>
          </a:xfrm>
          <a:prstGeom prst="roundRect">
            <a:avLst>
              <a:gd name="adj" fmla="val 110"/>
            </a:avLst>
          </a:prstGeom>
          <a:noFill/>
          <a:ln w="12700" cap="flat" cmpd="sng" algn="ctr">
            <a:solidFill>
              <a:srgbClr val="383838">
                <a:alpha val="65000"/>
              </a:srgbClr>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50" name="文本框 149"/>
          <p:cNvSpPr txBox="1"/>
          <p:nvPr/>
        </p:nvSpPr>
        <p:spPr>
          <a:xfrm>
            <a:off x="607695" y="5064760"/>
            <a:ext cx="285750" cy="824865"/>
          </a:xfrm>
          <a:prstGeom prst="rect">
            <a:avLst/>
          </a:prstGeom>
          <a:noFill/>
          <a:effec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具体方案</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5" name="文本框 164"/>
          <p:cNvSpPr txBox="1"/>
          <p:nvPr/>
        </p:nvSpPr>
        <p:spPr>
          <a:xfrm flipH="1">
            <a:off x="9396095" y="5076190"/>
            <a:ext cx="2106295" cy="34988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rPr>
              <a:t>制定详细的宣传计划，明确使用的渠道和推广方式</a:t>
            </a:r>
            <a:endPar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endParaRPr>
          </a:p>
        </p:txBody>
      </p:sp>
      <p:sp>
        <p:nvSpPr>
          <p:cNvPr id="166" name="文本框 165"/>
          <p:cNvSpPr txBox="1"/>
          <p:nvPr/>
        </p:nvSpPr>
        <p:spPr>
          <a:xfrm flipH="1">
            <a:off x="9440545" y="4788535"/>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rPr>
              <a:t>宣传计划制定</a:t>
            </a:r>
            <a:endPar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67" name="矩形 166"/>
          <p:cNvSpPr/>
          <p:nvPr/>
        </p:nvSpPr>
        <p:spPr>
          <a:xfrm>
            <a:off x="9396095" y="5581015"/>
            <a:ext cx="1067435" cy="295275"/>
          </a:xfrm>
          <a:prstGeom prst="rect">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68" name="文本框 167"/>
          <p:cNvSpPr txBox="1"/>
          <p:nvPr/>
        </p:nvSpPr>
        <p:spPr>
          <a:xfrm flipH="1">
            <a:off x="9396095" y="5908675"/>
            <a:ext cx="2106295" cy="34988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rPr>
              <a:t>设计引人注目的宣传物料，包括海报、传单、社交媒体图像等</a:t>
            </a:r>
            <a:endPar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endParaRPr>
          </a:p>
        </p:txBody>
      </p:sp>
      <p:sp>
        <p:nvSpPr>
          <p:cNvPr id="169" name="文本框 168"/>
          <p:cNvSpPr txBox="1"/>
          <p:nvPr/>
        </p:nvSpPr>
        <p:spPr>
          <a:xfrm flipH="1">
            <a:off x="9440545" y="5621655"/>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rPr>
              <a:t>宣传物料设计</a:t>
            </a:r>
            <a:endPar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0" name="矩形 169"/>
          <p:cNvSpPr/>
          <p:nvPr/>
        </p:nvSpPr>
        <p:spPr>
          <a:xfrm>
            <a:off x="4046855" y="4748530"/>
            <a:ext cx="1067435" cy="295275"/>
          </a:xfrm>
          <a:prstGeom prst="rect">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71" name="文本框 170"/>
          <p:cNvSpPr txBox="1"/>
          <p:nvPr/>
        </p:nvSpPr>
        <p:spPr>
          <a:xfrm flipH="1">
            <a:off x="4046855" y="5076190"/>
            <a:ext cx="2106295" cy="34988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仔细评估所有可能的费用，包括场地租赁、物料制作、嘉宾费用等</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72" name="文本框 171"/>
          <p:cNvSpPr txBox="1"/>
          <p:nvPr/>
        </p:nvSpPr>
        <p:spPr>
          <a:xfrm flipH="1">
            <a:off x="4091305" y="4788535"/>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rPr>
              <a:t>详细经费估算</a:t>
            </a:r>
            <a:endPar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3" name="矩形 172"/>
          <p:cNvSpPr/>
          <p:nvPr/>
        </p:nvSpPr>
        <p:spPr>
          <a:xfrm>
            <a:off x="4046855" y="5581015"/>
            <a:ext cx="1067435" cy="295275"/>
          </a:xfrm>
          <a:prstGeom prst="rect">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74" name="文本框 173"/>
          <p:cNvSpPr txBox="1"/>
          <p:nvPr/>
        </p:nvSpPr>
        <p:spPr>
          <a:xfrm flipH="1">
            <a:off x="4046855" y="5908675"/>
            <a:ext cx="2106295" cy="34988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确定经费分配的优先级，重点考虑对活动成功至关重要的方面</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75" name="文本框 174"/>
          <p:cNvSpPr txBox="1"/>
          <p:nvPr/>
        </p:nvSpPr>
        <p:spPr>
          <a:xfrm flipH="1">
            <a:off x="4091305" y="5621655"/>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rPr>
              <a:t>经费排优先级</a:t>
            </a:r>
            <a:endPar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6" name="矩形 175"/>
          <p:cNvSpPr/>
          <p:nvPr/>
        </p:nvSpPr>
        <p:spPr>
          <a:xfrm>
            <a:off x="1364615" y="4748530"/>
            <a:ext cx="1067435" cy="295275"/>
          </a:xfrm>
          <a:prstGeom prst="rect">
            <a:avLst/>
          </a:prstGeom>
          <a:solidFill>
            <a:srgbClr val="0042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77" name="文本框 176"/>
          <p:cNvSpPr txBox="1"/>
          <p:nvPr/>
        </p:nvSpPr>
        <p:spPr>
          <a:xfrm flipH="1">
            <a:off x="1364615" y="5076190"/>
            <a:ext cx="2106295" cy="17462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确定明确想要达到的效果</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78" name="文本框 177"/>
          <p:cNvSpPr txBox="1"/>
          <p:nvPr/>
        </p:nvSpPr>
        <p:spPr>
          <a:xfrm flipH="1">
            <a:off x="1409065" y="4788535"/>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rPr>
              <a:t>确定活动目标</a:t>
            </a:r>
            <a:endPar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79" name="矩形 178"/>
          <p:cNvSpPr/>
          <p:nvPr/>
        </p:nvSpPr>
        <p:spPr>
          <a:xfrm>
            <a:off x="1364615" y="5400675"/>
            <a:ext cx="1067435" cy="295275"/>
          </a:xfrm>
          <a:prstGeom prst="rect">
            <a:avLst/>
          </a:prstGeom>
          <a:solidFill>
            <a:srgbClr val="0042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0" cap="none" spc="0" normalizeH="0" baseline="0" noProof="0">
              <a:ln>
                <a:noFill/>
              </a:ln>
              <a:solidFill>
                <a:srgbClr val="FFFFFF"/>
              </a:solidFill>
              <a:effectLst/>
              <a:uLnTx/>
              <a:uFillTx/>
              <a:latin typeface="微软雅黑"/>
              <a:ea typeface="微软雅黑"/>
              <a:cs typeface="微软雅黑"/>
            </a:endParaRPr>
          </a:p>
        </p:txBody>
      </p:sp>
      <p:sp>
        <p:nvSpPr>
          <p:cNvPr id="180" name="文本框 179"/>
          <p:cNvSpPr txBox="1"/>
          <p:nvPr/>
        </p:nvSpPr>
        <p:spPr>
          <a:xfrm flipH="1">
            <a:off x="1364615" y="5728335"/>
            <a:ext cx="2106295" cy="52514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制定详细的策划方案，包括主题、内容、执行步骤、时间表等，确保全体团队对活动有清晰的认知</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1" name="文本框 180"/>
          <p:cNvSpPr txBox="1"/>
          <p:nvPr/>
        </p:nvSpPr>
        <p:spPr>
          <a:xfrm flipH="1">
            <a:off x="1409065" y="5440680"/>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rPr>
              <a:t>制定策划方案</a:t>
            </a:r>
            <a:endParaRPr kumimoji="0" lang="zh-CN" altLang="en-US" sz="13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82" name="矩形 181"/>
          <p:cNvSpPr/>
          <p:nvPr/>
        </p:nvSpPr>
        <p:spPr>
          <a:xfrm>
            <a:off x="6720205" y="4748530"/>
            <a:ext cx="1067435" cy="295275"/>
          </a:xfrm>
          <a:prstGeom prst="rect">
            <a:avLst/>
          </a:prstGeom>
          <a:solidFill>
            <a:srgbClr val="B3D4FE"/>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83" name="文本框 182"/>
          <p:cNvSpPr txBox="1"/>
          <p:nvPr/>
        </p:nvSpPr>
        <p:spPr>
          <a:xfrm flipH="1">
            <a:off x="6720205" y="5076190"/>
            <a:ext cx="2106295" cy="17462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rPr>
              <a:t>选择满足活动规模和主题的场地</a:t>
            </a:r>
            <a:endPar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endParaRPr>
          </a:p>
        </p:txBody>
      </p:sp>
      <p:sp>
        <p:nvSpPr>
          <p:cNvPr id="184" name="文本框 183"/>
          <p:cNvSpPr txBox="1"/>
          <p:nvPr/>
        </p:nvSpPr>
        <p:spPr>
          <a:xfrm flipH="1">
            <a:off x="6765290" y="4788535"/>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rPr>
              <a:t>场地选择规划</a:t>
            </a:r>
            <a:endPar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5" name="矩形 184"/>
          <p:cNvSpPr/>
          <p:nvPr/>
        </p:nvSpPr>
        <p:spPr>
          <a:xfrm>
            <a:off x="6720205" y="5400675"/>
            <a:ext cx="1067435" cy="295275"/>
          </a:xfrm>
          <a:prstGeom prst="rect">
            <a:avLst/>
          </a:prstGeom>
          <a:solidFill>
            <a:srgbClr val="B3D4FE"/>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186" name="文本框 185"/>
          <p:cNvSpPr txBox="1"/>
          <p:nvPr/>
        </p:nvSpPr>
        <p:spPr>
          <a:xfrm flipH="1">
            <a:off x="6720205" y="5728335"/>
            <a:ext cx="2106295" cy="525145"/>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rPr>
              <a:t>统筹协调所有所需设备，确保在活动中运作顺畅。同时，妥善安排嘉宾出席，并提前进行沟通</a:t>
            </a:r>
            <a:endParaRPr kumimoji="0" lang="zh-CN" altLang="en-US" sz="1000" b="0" i="0" u="none" strike="noStrike" kern="1200" cap="none" spc="0" normalizeH="0" baseline="0" noProof="0" dirty="0">
              <a:ln>
                <a:noFill/>
              </a:ln>
              <a:solidFill>
                <a:srgbClr val="383838">
                  <a:alpha val="65000"/>
                </a:srgbClr>
              </a:solidFill>
              <a:effectLst/>
              <a:uLnTx/>
              <a:uFillTx/>
              <a:latin typeface="微软雅黑"/>
              <a:ea typeface="微软雅黑"/>
              <a:cs typeface="微软雅黑"/>
            </a:endParaRPr>
          </a:p>
        </p:txBody>
      </p:sp>
      <p:sp>
        <p:nvSpPr>
          <p:cNvPr id="187" name="文本框 186"/>
          <p:cNvSpPr txBox="1"/>
          <p:nvPr/>
        </p:nvSpPr>
        <p:spPr>
          <a:xfrm flipH="1">
            <a:off x="6765290" y="5440680"/>
            <a:ext cx="1015365" cy="20002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rPr>
              <a:t>设备嘉宾协调</a:t>
            </a:r>
            <a:endParaRPr kumimoji="0" lang="zh-CN" altLang="en-US" sz="13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矩形 63"/>
          <p:cNvSpPr/>
          <p:nvPr/>
        </p:nvSpPr>
        <p:spPr>
          <a:xfrm>
            <a:off x="9834596" y="4264166"/>
            <a:ext cx="1914491" cy="1671545"/>
          </a:xfrm>
          <a:prstGeom prst="rect">
            <a:avLst/>
          </a:prstGeom>
          <a:solidFill>
            <a:srgbClr val="E6E6E6">
              <a:alpha val="3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85" name="文本框 84"/>
          <p:cNvSpPr txBox="1"/>
          <p:nvPr/>
        </p:nvSpPr>
        <p:spPr>
          <a:xfrm>
            <a:off x="9898380" y="5384165"/>
            <a:ext cx="478155" cy="33845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活动节</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前催付</a:t>
            </a:r>
            <a:endParaRPr lang="zh-CN" altLang="en-US" sz="1000" dirty="0">
              <a:solidFill>
                <a:srgbClr val="383838"/>
              </a:solidFill>
              <a:latin typeface="微软雅黑"/>
              <a:ea typeface="微软雅黑"/>
              <a:cs typeface="微软雅黑"/>
            </a:endParaRPr>
          </a:p>
        </p:txBody>
      </p:sp>
      <p:sp>
        <p:nvSpPr>
          <p:cNvPr id="86" name="文本框 85"/>
          <p:cNvSpPr txBox="1"/>
          <p:nvPr/>
        </p:nvSpPr>
        <p:spPr>
          <a:xfrm>
            <a:off x="10260330" y="5175250"/>
            <a:ext cx="380365" cy="21526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首单</a:t>
            </a:r>
            <a:endParaRPr lang="zh-CN" altLang="en-US" sz="1000" dirty="0">
              <a:solidFill>
                <a:srgbClr val="383838"/>
              </a:solidFill>
              <a:latin typeface="微软雅黑"/>
              <a:ea typeface="微软雅黑"/>
              <a:cs typeface="微软雅黑"/>
            </a:endParaRPr>
          </a:p>
        </p:txBody>
      </p:sp>
      <p:sp>
        <p:nvSpPr>
          <p:cNvPr id="87" name="文本框 86"/>
          <p:cNvSpPr txBox="1"/>
          <p:nvPr/>
        </p:nvSpPr>
        <p:spPr>
          <a:xfrm>
            <a:off x="10828655" y="4997450"/>
            <a:ext cx="380365" cy="21526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复购</a:t>
            </a:r>
            <a:endParaRPr lang="zh-CN" altLang="en-US" sz="1000" dirty="0">
              <a:solidFill>
                <a:srgbClr val="383838"/>
              </a:solidFill>
              <a:latin typeface="微软雅黑"/>
              <a:ea typeface="微软雅黑"/>
              <a:cs typeface="微软雅黑"/>
            </a:endParaRPr>
          </a:p>
        </p:txBody>
      </p:sp>
      <p:sp>
        <p:nvSpPr>
          <p:cNvPr id="88" name="文本框 87"/>
          <p:cNvSpPr txBox="1"/>
          <p:nvPr/>
        </p:nvSpPr>
        <p:spPr>
          <a:xfrm>
            <a:off x="11167745" y="4722495"/>
            <a:ext cx="575945" cy="215265"/>
          </a:xfrm>
          <a:prstGeom prst="rect">
            <a:avLst/>
          </a:prstGeom>
          <a:noFill/>
        </p:spPr>
        <p:txBody>
          <a:bodyPr wrap="square" lIns="0" rIns="0" tIns="0" bIns="0" anchor="t">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真爱会员</a:t>
            </a:r>
            <a:endParaRPr lang="zh-CN" altLang="en-US" sz="1000" dirty="0">
              <a:solidFill>
                <a:srgbClr val="383838"/>
              </a:solidFill>
              <a:latin typeface="微软雅黑"/>
              <a:ea typeface="微软雅黑"/>
              <a:cs typeface="微软雅黑"/>
            </a:endParaRPr>
          </a:p>
        </p:txBody>
      </p:sp>
      <p:sp>
        <p:nvSpPr>
          <p:cNvPr id="5" name="标题 2"/>
          <p:cNvSpPr>
            <a:spLocks noGrp="1"/>
          </p:cNvSpPr>
          <p:nvPr/>
        </p:nvSpPr>
        <p:spPr>
          <a:xfrm>
            <a:off x="1105535" y="347980"/>
            <a:ext cx="722947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7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70">
                <a:solidFill>
                  <a:srgbClr val="0042FF"/>
                </a:solidFill>
                <a:effectLst/>
                <a:latin typeface="微软雅黑"/>
                <a:ea typeface="微软雅黑"/>
                <a:cs typeface="微软雅黑"/>
              </a:rPr>
              <a:t>业务框架</a:t>
            </a:r>
            <a:r>
              <a:rPr lang="en-US" altLang="zh-CN" sz="2470">
                <a:solidFill>
                  <a:srgbClr val="0042FF"/>
                </a:solidFill>
                <a:effectLst/>
                <a:latin typeface="微软雅黑"/>
                <a:ea typeface="微软雅黑"/>
                <a:cs typeface="微软雅黑"/>
              </a:rPr>
              <a:t>-</a:t>
            </a:r>
            <a:r>
              <a:rPr sz="2470">
                <a:solidFill>
                  <a:srgbClr val="0042FF"/>
                </a:solidFill>
                <a:effectLst/>
                <a:latin typeface="微软雅黑"/>
                <a:ea typeface="微软雅黑"/>
                <a:cs typeface="微软雅黑"/>
              </a:rPr>
              <a:t>业务流程架构 | </a:t>
            </a:r>
            <a:r>
              <a:rPr lang="zh-CN" altLang="en-US" sz="2470">
                <a:solidFill>
                  <a:srgbClr val="383838"/>
                </a:solidFill>
                <a:effectLst/>
                <a:latin typeface="微软雅黑"/>
                <a:ea typeface="微软雅黑"/>
                <a:cs typeface="微软雅黑"/>
              </a:rPr>
              <a:t>人群全路径运营模型分析</a:t>
            </a:r>
            <a:endParaRPr lang="zh-CN" altLang="en-US" sz="247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2" name="直接箭头连接符 1"/>
          <p:cNvCxnSpPr/>
          <p:nvPr/>
        </p:nvCxnSpPr>
        <p:spPr>
          <a:xfrm>
            <a:off x="442914" y="1328949"/>
            <a:ext cx="11306174" cy="0"/>
          </a:xfrm>
          <a:prstGeom prst="straightConnector1">
            <a:avLst/>
          </a:prstGeom>
          <a:ln w="34925">
            <a:solidFill>
              <a:srgbClr val="383838">
                <a:alpha val="70000"/>
              </a:srgbClr>
            </a:solidFill>
            <a:tailEnd type="triangle" w="lg" len="lg"/>
          </a:ln>
        </p:spPr>
        <p:style>
          <a:lnRef idx="1">
            <a:srgbClr val="0042FF"/>
          </a:lnRef>
          <a:fillRef idx="0">
            <a:srgbClr val="0042FF"/>
          </a:fillRef>
          <a:effectRef idx="0">
            <a:srgbClr val="0042FF"/>
          </a:effectRef>
          <a:fontRef idx="minor">
            <a:srgbClr val="383838"/>
          </a:fontRef>
        </p:style>
      </p:cxnSp>
      <p:sp>
        <p:nvSpPr>
          <p:cNvPr id="7" name="椭圆 6"/>
          <p:cNvSpPr/>
          <p:nvPr/>
        </p:nvSpPr>
        <p:spPr>
          <a:xfrm>
            <a:off x="1063812" y="1260881"/>
            <a:ext cx="136137" cy="136137"/>
          </a:xfrm>
          <a:prstGeom prst="ellipse">
            <a:avLst/>
          </a:prstGeom>
          <a:solidFill>
            <a:srgbClr val="FFFFFF"/>
          </a:solidFill>
          <a:ln w="25400">
            <a:solidFill>
              <a:srgbClr val="383838">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8" name="文本框 7"/>
          <p:cNvSpPr txBox="1"/>
          <p:nvPr/>
        </p:nvSpPr>
        <p:spPr>
          <a:xfrm>
            <a:off x="744595" y="950754"/>
            <a:ext cx="774571" cy="276999"/>
          </a:xfrm>
          <a:prstGeom prst="rect">
            <a:avLst/>
          </a:prstGeom>
          <a:noFill/>
        </p:spPr>
        <p:txBody>
          <a:bodyPr wrap="none">
            <a:spAutoFit/>
          </a:bodyPr>
          <a:lstStyle/>
          <a:p>
            <a:pPr algn="ctr">
              <a:defRPr>
                <a:latin typeface="微软雅黑"/>
                <a:ea typeface="微软雅黑"/>
                <a:cs typeface="微软雅黑"/>
              </a:defRPr>
            </a:pPr>
            <a:r>
              <a:rPr lang="zh-SG" altLang="en-US" sz="1200" dirty="0">
                <a:solidFill>
                  <a:srgbClr val="383838"/>
                </a:solidFill>
                <a:latin typeface="微软雅黑"/>
                <a:ea typeface="微软雅黑"/>
                <a:cs typeface="微软雅黑"/>
              </a:rPr>
              <a:t>渠道选择</a:t>
            </a:r>
            <a:endParaRPr lang="zh-SG" altLang="en-US" sz="1200" dirty="0">
              <a:solidFill>
                <a:srgbClr val="383838"/>
              </a:solidFill>
              <a:latin typeface="微软雅黑"/>
              <a:ea typeface="微软雅黑"/>
              <a:cs typeface="微软雅黑"/>
            </a:endParaRPr>
          </a:p>
        </p:txBody>
      </p:sp>
      <p:sp>
        <p:nvSpPr>
          <p:cNvPr id="13" name="椭圆 12"/>
          <p:cNvSpPr/>
          <p:nvPr/>
        </p:nvSpPr>
        <p:spPr>
          <a:xfrm>
            <a:off x="1981458" y="1260881"/>
            <a:ext cx="136137" cy="136137"/>
          </a:xfrm>
          <a:prstGeom prst="ellipse">
            <a:avLst/>
          </a:prstGeom>
          <a:solidFill>
            <a:srgbClr val="FFFFFF"/>
          </a:solidFill>
          <a:ln w="25400">
            <a:solidFill>
              <a:srgbClr val="383838">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4" name="文本框 13"/>
          <p:cNvSpPr txBox="1"/>
          <p:nvPr/>
        </p:nvSpPr>
        <p:spPr>
          <a:xfrm>
            <a:off x="1809716" y="950754"/>
            <a:ext cx="479618" cy="276999"/>
          </a:xfrm>
          <a:prstGeom prst="rect">
            <a:avLst/>
          </a:prstGeom>
          <a:noFill/>
        </p:spPr>
        <p:txBody>
          <a:bodyPr wrap="none">
            <a:spAutoFit/>
          </a:bodyPr>
          <a:lstStyle/>
          <a:p>
            <a:pPr algn="ctr">
              <a:defRPr>
                <a:latin typeface="微软雅黑"/>
                <a:ea typeface="微软雅黑"/>
                <a:cs typeface="微软雅黑"/>
              </a:defRPr>
            </a:pPr>
            <a:r>
              <a:rPr lang="zh-SG" altLang="en-US" sz="1200" dirty="0">
                <a:solidFill>
                  <a:srgbClr val="383838"/>
                </a:solidFill>
                <a:latin typeface="微软雅黑"/>
                <a:ea typeface="微软雅黑"/>
                <a:cs typeface="微软雅黑"/>
              </a:rPr>
              <a:t>公域</a:t>
            </a:r>
            <a:endParaRPr lang="zh-SG" altLang="en-US" sz="1200" dirty="0">
              <a:solidFill>
                <a:srgbClr val="383838"/>
              </a:solidFill>
              <a:latin typeface="微软雅黑"/>
              <a:ea typeface="微软雅黑"/>
              <a:cs typeface="微软雅黑"/>
            </a:endParaRPr>
          </a:p>
        </p:txBody>
      </p:sp>
      <p:sp>
        <p:nvSpPr>
          <p:cNvPr id="15" name="椭圆 14"/>
          <p:cNvSpPr/>
          <p:nvPr/>
        </p:nvSpPr>
        <p:spPr>
          <a:xfrm>
            <a:off x="3963063" y="1260881"/>
            <a:ext cx="136137" cy="136137"/>
          </a:xfrm>
          <a:prstGeom prst="ellipse">
            <a:avLst/>
          </a:prstGeom>
          <a:solidFill>
            <a:srgbClr val="FFFFFF"/>
          </a:solidFill>
          <a:ln w="25400">
            <a:solidFill>
              <a:srgbClr val="383838">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6" name="文本框 15"/>
          <p:cNvSpPr txBox="1"/>
          <p:nvPr/>
        </p:nvSpPr>
        <p:spPr>
          <a:xfrm>
            <a:off x="3791321" y="950754"/>
            <a:ext cx="479618" cy="276999"/>
          </a:xfrm>
          <a:prstGeom prst="rect">
            <a:avLst/>
          </a:prstGeom>
          <a:noFill/>
        </p:spPr>
        <p:txBody>
          <a:bodyPr wrap="none">
            <a:spAutoFit/>
          </a:bodyPr>
          <a:lstStyle/>
          <a:p>
            <a:pPr algn="ctr">
              <a:defRPr>
                <a:latin typeface="微软雅黑"/>
                <a:ea typeface="微软雅黑"/>
                <a:cs typeface="微软雅黑"/>
              </a:defRPr>
            </a:pPr>
            <a:r>
              <a:rPr lang="zh-SG" altLang="en-US" sz="1200" dirty="0">
                <a:solidFill>
                  <a:srgbClr val="383838"/>
                </a:solidFill>
                <a:latin typeface="微软雅黑"/>
                <a:ea typeface="微软雅黑"/>
                <a:cs typeface="微软雅黑"/>
              </a:rPr>
              <a:t>认知</a:t>
            </a:r>
            <a:endParaRPr lang="zh-SG" altLang="en-US" sz="1200" dirty="0">
              <a:solidFill>
                <a:srgbClr val="383838"/>
              </a:solidFill>
              <a:latin typeface="微软雅黑"/>
              <a:ea typeface="微软雅黑"/>
              <a:cs typeface="微软雅黑"/>
            </a:endParaRPr>
          </a:p>
        </p:txBody>
      </p:sp>
      <p:sp>
        <p:nvSpPr>
          <p:cNvPr id="17" name="椭圆 16"/>
          <p:cNvSpPr/>
          <p:nvPr/>
        </p:nvSpPr>
        <p:spPr>
          <a:xfrm>
            <a:off x="7881418" y="1260881"/>
            <a:ext cx="136137" cy="136137"/>
          </a:xfrm>
          <a:prstGeom prst="ellipse">
            <a:avLst/>
          </a:prstGeom>
          <a:solidFill>
            <a:srgbClr val="FFFFFF"/>
          </a:solidFill>
          <a:ln w="25400">
            <a:solidFill>
              <a:srgbClr val="383838">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8" name="文本框 17"/>
          <p:cNvSpPr txBox="1"/>
          <p:nvPr/>
        </p:nvSpPr>
        <p:spPr>
          <a:xfrm>
            <a:off x="7709676" y="950754"/>
            <a:ext cx="479618" cy="276999"/>
          </a:xfrm>
          <a:prstGeom prst="rect">
            <a:avLst/>
          </a:prstGeom>
          <a:noFill/>
        </p:spPr>
        <p:txBody>
          <a:bodyPr wrap="none">
            <a:spAutoFit/>
          </a:bodyPr>
          <a:lstStyle/>
          <a:p>
            <a:pPr algn="ctr">
              <a:defRPr>
                <a:latin typeface="微软雅黑"/>
                <a:ea typeface="微软雅黑"/>
                <a:cs typeface="微软雅黑"/>
              </a:defRPr>
            </a:pPr>
            <a:r>
              <a:rPr lang="zh-SG" altLang="en-US" sz="1200" dirty="0">
                <a:solidFill>
                  <a:srgbClr val="383838"/>
                </a:solidFill>
                <a:latin typeface="微软雅黑"/>
                <a:ea typeface="微软雅黑"/>
                <a:cs typeface="微软雅黑"/>
              </a:rPr>
              <a:t>兴趣</a:t>
            </a:r>
            <a:endParaRPr lang="zh-SG" altLang="en-US" sz="1200" dirty="0">
              <a:solidFill>
                <a:srgbClr val="383838"/>
              </a:solidFill>
              <a:latin typeface="微软雅黑"/>
              <a:ea typeface="微软雅黑"/>
              <a:cs typeface="微软雅黑"/>
            </a:endParaRPr>
          </a:p>
        </p:txBody>
      </p:sp>
      <p:sp>
        <p:nvSpPr>
          <p:cNvPr id="19" name="椭圆 18"/>
          <p:cNvSpPr/>
          <p:nvPr/>
        </p:nvSpPr>
        <p:spPr>
          <a:xfrm>
            <a:off x="9766529" y="1260881"/>
            <a:ext cx="136137" cy="136137"/>
          </a:xfrm>
          <a:prstGeom prst="ellipse">
            <a:avLst/>
          </a:prstGeom>
          <a:solidFill>
            <a:srgbClr val="FFFFFF"/>
          </a:solidFill>
          <a:ln w="25400">
            <a:solidFill>
              <a:srgbClr val="383838">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2" name="文本框 21"/>
          <p:cNvSpPr txBox="1"/>
          <p:nvPr/>
        </p:nvSpPr>
        <p:spPr>
          <a:xfrm>
            <a:off x="9594787" y="950754"/>
            <a:ext cx="479618" cy="276999"/>
          </a:xfrm>
          <a:prstGeom prst="rect">
            <a:avLst/>
          </a:prstGeom>
          <a:noFill/>
        </p:spPr>
        <p:txBody>
          <a:bodyPr wrap="none">
            <a:spAutoFit/>
          </a:bodyPr>
          <a:lstStyle/>
          <a:p>
            <a:pPr algn="ctr">
              <a:defRPr>
                <a:latin typeface="微软雅黑"/>
                <a:ea typeface="微软雅黑"/>
                <a:cs typeface="微软雅黑"/>
              </a:defRPr>
            </a:pPr>
            <a:r>
              <a:rPr lang="zh-SG" altLang="en-US" sz="1200" dirty="0">
                <a:solidFill>
                  <a:srgbClr val="383838"/>
                </a:solidFill>
                <a:latin typeface="微软雅黑"/>
                <a:ea typeface="微软雅黑"/>
                <a:cs typeface="微软雅黑"/>
              </a:rPr>
              <a:t>首购</a:t>
            </a:r>
            <a:endParaRPr lang="zh-SG" altLang="en-US" sz="1200" dirty="0">
              <a:solidFill>
                <a:srgbClr val="383838"/>
              </a:solidFill>
              <a:latin typeface="微软雅黑"/>
              <a:ea typeface="微软雅黑"/>
              <a:cs typeface="微软雅黑"/>
            </a:endParaRPr>
          </a:p>
        </p:txBody>
      </p:sp>
      <p:sp>
        <p:nvSpPr>
          <p:cNvPr id="23" name="椭圆 22"/>
          <p:cNvSpPr/>
          <p:nvPr/>
        </p:nvSpPr>
        <p:spPr>
          <a:xfrm>
            <a:off x="11208857" y="1260881"/>
            <a:ext cx="136137" cy="136137"/>
          </a:xfrm>
          <a:prstGeom prst="ellipse">
            <a:avLst/>
          </a:prstGeom>
          <a:solidFill>
            <a:srgbClr val="FFFFFF"/>
          </a:solidFill>
          <a:ln w="25400">
            <a:solidFill>
              <a:srgbClr val="383838">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6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2" name="文本框 31"/>
          <p:cNvSpPr txBox="1"/>
          <p:nvPr/>
        </p:nvSpPr>
        <p:spPr>
          <a:xfrm>
            <a:off x="10855976" y="950754"/>
            <a:ext cx="841898" cy="276999"/>
          </a:xfrm>
          <a:prstGeom prst="rect">
            <a:avLst/>
          </a:prstGeom>
          <a:noFill/>
        </p:spPr>
        <p:txBody>
          <a:bodyPr wrap="none">
            <a:spAutoFit/>
          </a:bodyPr>
          <a:lstStyle/>
          <a:p>
            <a:pPr algn="ctr">
              <a:defRPr>
                <a:latin typeface="微软雅黑"/>
                <a:ea typeface="微软雅黑"/>
                <a:cs typeface="微软雅黑"/>
              </a:defRPr>
            </a:pPr>
            <a:r>
              <a:rPr lang="zh-SG" altLang="en-US" sz="1200" dirty="0">
                <a:solidFill>
                  <a:srgbClr val="383838"/>
                </a:solidFill>
                <a:latin typeface="微软雅黑"/>
                <a:ea typeface="微软雅黑"/>
                <a:cs typeface="微软雅黑"/>
              </a:rPr>
              <a:t>复购</a:t>
            </a:r>
            <a:r>
              <a:rPr lang="en-US" altLang="zh-SG" sz="1200" dirty="0">
                <a:solidFill>
                  <a:srgbClr val="383838"/>
                </a:solidFill>
                <a:latin typeface="微软雅黑"/>
                <a:ea typeface="微软雅黑"/>
                <a:cs typeface="微软雅黑"/>
              </a:rPr>
              <a:t>/</a:t>
            </a:r>
            <a:r>
              <a:rPr lang="zh-SG" altLang="en-US" sz="1200" dirty="0">
                <a:solidFill>
                  <a:srgbClr val="383838"/>
                </a:solidFill>
                <a:latin typeface="微软雅黑"/>
                <a:ea typeface="微软雅黑"/>
                <a:cs typeface="微软雅黑"/>
              </a:rPr>
              <a:t>分享</a:t>
            </a:r>
            <a:endParaRPr lang="zh-SG" altLang="en-US" sz="1200" dirty="0">
              <a:solidFill>
                <a:srgbClr val="383838"/>
              </a:solidFill>
              <a:latin typeface="微软雅黑"/>
              <a:ea typeface="微软雅黑"/>
              <a:cs typeface="微软雅黑"/>
            </a:endParaRPr>
          </a:p>
        </p:txBody>
      </p:sp>
      <p:sp>
        <p:nvSpPr>
          <p:cNvPr id="33" name="矩形 32"/>
          <p:cNvSpPr/>
          <p:nvPr/>
        </p:nvSpPr>
        <p:spPr>
          <a:xfrm>
            <a:off x="442914" y="6110287"/>
            <a:ext cx="11306174" cy="414338"/>
          </a:xfrm>
          <a:prstGeom prst="rect">
            <a:avLst/>
          </a:prstGeom>
          <a:solidFill>
            <a:srgbClr val="3368FF"/>
          </a:solidFill>
          <a:ln w="1905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400" spc="100" dirty="0">
                <a:solidFill>
                  <a:srgbClr val="FFFFFF"/>
                </a:solidFill>
                <a:latin typeface="微软雅黑"/>
                <a:ea typeface="微软雅黑"/>
                <a:cs typeface="微软雅黑"/>
              </a:rPr>
              <a:t>企业可以根据自身业务特点和用户特性，选择合适的人群差异化运营模型，实现更精准、更有效的用户运营</a:t>
            </a:r>
            <a:endParaRPr lang="zh-CN" altLang="en-US" sz="1400" spc="100" dirty="0">
              <a:solidFill>
                <a:srgbClr val="FFFFFF"/>
              </a:solidFill>
              <a:latin typeface="微软雅黑"/>
              <a:ea typeface="微软雅黑"/>
              <a:cs typeface="微软雅黑"/>
            </a:endParaRPr>
          </a:p>
        </p:txBody>
      </p:sp>
      <p:sp>
        <p:nvSpPr>
          <p:cNvPr id="34" name="箭头: 五边形 23"/>
          <p:cNvSpPr/>
          <p:nvPr/>
        </p:nvSpPr>
        <p:spPr>
          <a:xfrm>
            <a:off x="442913" y="1520460"/>
            <a:ext cx="1538545" cy="2578711"/>
          </a:xfrm>
          <a:prstGeom prst="homePlate">
            <a:avLst>
              <a:gd name="adj" fmla="val 0"/>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35" name="箭头: 五边形 24"/>
          <p:cNvSpPr/>
          <p:nvPr/>
        </p:nvSpPr>
        <p:spPr>
          <a:xfrm>
            <a:off x="442913" y="4264166"/>
            <a:ext cx="1538545" cy="1671545"/>
          </a:xfrm>
          <a:prstGeom prst="homePlate">
            <a:avLst>
              <a:gd name="adj" fmla="val 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36" name="文本框 35"/>
          <p:cNvSpPr txBox="1"/>
          <p:nvPr/>
        </p:nvSpPr>
        <p:spPr>
          <a:xfrm>
            <a:off x="776810" y="5207518"/>
            <a:ext cx="870751" cy="307777"/>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SG" altLang="en-US" sz="1400" dirty="0">
                <a:solidFill>
                  <a:srgbClr val="FFFFFF"/>
                </a:solidFill>
                <a:latin typeface="微软雅黑"/>
                <a:ea typeface="微软雅黑"/>
                <a:cs typeface="微软雅黑"/>
              </a:rPr>
              <a:t>高端货品</a:t>
            </a:r>
            <a:endParaRPr lang="zh-SG" altLang="en-US" sz="1400" dirty="0">
              <a:solidFill>
                <a:srgbClr val="FFFFFF"/>
              </a:solidFill>
              <a:latin typeface="微软雅黑"/>
              <a:ea typeface="微软雅黑"/>
              <a:cs typeface="微软雅黑"/>
            </a:endParaRPr>
          </a:p>
        </p:txBody>
      </p:sp>
      <p:sp>
        <p:nvSpPr>
          <p:cNvPr id="37" name="文本框 36"/>
          <p:cNvSpPr txBox="1"/>
          <p:nvPr/>
        </p:nvSpPr>
        <p:spPr>
          <a:xfrm>
            <a:off x="866746" y="5438637"/>
            <a:ext cx="690880" cy="275590"/>
          </a:xfrm>
          <a:prstGeom prst="rect">
            <a:avLst/>
          </a:prstGeom>
          <a:noFill/>
        </p:spPr>
        <p:txBody>
          <a:bodyPr wrap="none" lIns="0" rIns="0" tIns="0" bIns="0">
            <a:spAutoFit/>
          </a:bodyPr>
          <a:lstStyle>
            <a:defPPr>
              <a:defRPr lang="zh-CN">
                <a:solidFill>
                  <a:srgbClr val="FFFFFF"/>
                </a:solidFill>
                <a:latin typeface="微软雅黑"/>
                <a:ea typeface="微软雅黑"/>
                <a:cs typeface="微软雅黑"/>
              </a:defRPr>
            </a:defPPr>
            <a:lvl1pPr algn="ctr">
              <a:lnSpc>
                <a:spcPct val="120000"/>
              </a:lnSpc>
              <a:defRPr sz="1200">
                <a:solidFill>
                  <a:srgbClr val="FFFFFF"/>
                </a:solidFill>
                <a:latin typeface="微软雅黑"/>
                <a:ea typeface="微软雅黑"/>
                <a:cs typeface="微软雅黑"/>
              </a:defRPr>
            </a:lvl1pPr>
          </a:lstStyle>
          <a:p>
            <a:pP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付费广告</a:t>
            </a:r>
            <a:endParaRPr lang="zh-CN" altLang="en-US" sz="1000" dirty="0">
              <a:solidFill>
                <a:srgbClr val="FFFFFF"/>
              </a:solidFill>
              <a:latin typeface="微软雅黑"/>
              <a:ea typeface="微软雅黑"/>
              <a:cs typeface="微软雅黑"/>
            </a:endParaRPr>
          </a:p>
        </p:txBody>
      </p:sp>
      <p:grpSp>
        <p:nvGrpSpPr>
          <p:cNvPr id="38" name="组合 37"/>
          <p:cNvGrpSpPr/>
          <p:nvPr/>
        </p:nvGrpSpPr>
        <p:grpSpPr>
          <a:xfrm>
            <a:off x="549246" y="2688354"/>
            <a:ext cx="1325880" cy="732027"/>
            <a:chOff x="468941" y="2347466"/>
            <a:chExt cx="1325880" cy="732027"/>
          </a:xfrm>
        </p:grpSpPr>
        <p:sp>
          <p:nvSpPr>
            <p:cNvPr id="39" name="文本框 38"/>
            <p:cNvSpPr txBox="1"/>
            <p:nvPr/>
          </p:nvSpPr>
          <p:spPr>
            <a:xfrm>
              <a:off x="696505" y="2347466"/>
              <a:ext cx="870751" cy="307777"/>
            </a:xfrm>
            <a:prstGeom prst="rect">
              <a:avLst/>
            </a:prstGeom>
            <a:noFill/>
          </p:spPr>
          <p:txBody>
            <a:bodyPr wrap="none">
              <a:spAutoFit/>
            </a:bodyPr>
            <a:lstStyle/>
            <a:p>
              <a:pPr algn="ctr">
                <a:defRPr>
                  <a:solidFill>
                    <a:srgbClr val="FFFFFF"/>
                  </a:solidFill>
                  <a:latin typeface="微软雅黑"/>
                  <a:ea typeface="微软雅黑"/>
                  <a:cs typeface="微软雅黑"/>
                </a:defRPr>
              </a:pPr>
              <a:r>
                <a:rPr lang="zh-SG" altLang="en-US" sz="1400" dirty="0">
                  <a:solidFill>
                    <a:srgbClr val="FFFFFF"/>
                  </a:solidFill>
                  <a:latin typeface="微软雅黑"/>
                  <a:ea typeface="微软雅黑"/>
                  <a:cs typeface="微软雅黑"/>
                </a:rPr>
                <a:t>趋势货品</a:t>
              </a:r>
              <a:endParaRPr lang="zh-SG" altLang="en-US" sz="1400" dirty="0">
                <a:solidFill>
                  <a:srgbClr val="FFFFFF"/>
                </a:solidFill>
                <a:latin typeface="微软雅黑"/>
                <a:ea typeface="微软雅黑"/>
                <a:cs typeface="微软雅黑"/>
              </a:endParaRPr>
            </a:p>
          </p:txBody>
        </p:sp>
        <p:sp>
          <p:nvSpPr>
            <p:cNvPr id="40" name="文本框 39"/>
            <p:cNvSpPr txBox="1"/>
            <p:nvPr/>
          </p:nvSpPr>
          <p:spPr>
            <a:xfrm>
              <a:off x="468941" y="2619118"/>
              <a:ext cx="1325880" cy="460375"/>
            </a:xfrm>
            <a:prstGeom prst="rect">
              <a:avLst/>
            </a:prstGeom>
            <a:noFill/>
          </p:spPr>
          <p:txBody>
            <a:bodyPr wrap="none" lIns="0" rIns="0" tIns="0" bIns="0">
              <a:spAutoFit/>
            </a:bodyPr>
            <a:lstStyle/>
            <a:p>
              <a:pPr algn="ctr">
                <a:lnSpc>
                  <a:spcPct val="12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付费广告与内容种草</a:t>
              </a:r>
              <a:endParaRPr lang="zh-CN" altLang="en-US" sz="1000" dirty="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rPr>
                <a:t>双渠道驱动</a:t>
              </a:r>
              <a:endParaRPr lang="zh-CN" altLang="en-US" sz="1000" dirty="0">
                <a:solidFill>
                  <a:srgbClr val="FFFFFF"/>
                </a:solidFill>
                <a:latin typeface="微软雅黑"/>
                <a:ea typeface="微软雅黑"/>
                <a:cs typeface="微软雅黑"/>
              </a:endParaRPr>
            </a:p>
          </p:txBody>
        </p:sp>
      </p:grpSp>
      <p:sp>
        <p:nvSpPr>
          <p:cNvPr id="41" name="椭圆 40"/>
          <p:cNvSpPr/>
          <p:nvPr/>
        </p:nvSpPr>
        <p:spPr>
          <a:xfrm>
            <a:off x="938377" y="1920788"/>
            <a:ext cx="547616" cy="547616"/>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endParaRPr>
          </a:p>
        </p:txBody>
      </p:sp>
      <p:sp>
        <p:nvSpPr>
          <p:cNvPr id="42" name="椭圆 41"/>
          <p:cNvSpPr/>
          <p:nvPr/>
        </p:nvSpPr>
        <p:spPr>
          <a:xfrm>
            <a:off x="926141" y="4479600"/>
            <a:ext cx="547616" cy="547616"/>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endParaRPr>
          </a:p>
        </p:txBody>
      </p:sp>
      <p:sp>
        <p:nvSpPr>
          <p:cNvPr id="47" name="任意多边形: 形状 46"/>
          <p:cNvSpPr/>
          <p:nvPr/>
        </p:nvSpPr>
        <p:spPr>
          <a:xfrm rot="10800000">
            <a:off x="2124616" y="1520460"/>
            <a:ext cx="2276768" cy="1096034"/>
          </a:xfrm>
          <a:custGeom>
            <a:avLst/>
            <a:gdLst>
              <a:gd name="connsiteX0" fmla="*/ 2276768 w 2276768"/>
              <a:gd name="connsiteY0" fmla="*/ 1096034 h 1096034"/>
              <a:gd name="connsiteX1" fmla="*/ 0 w 2276768"/>
              <a:gd name="connsiteY1" fmla="*/ 1096034 h 1096034"/>
              <a:gd name="connsiteX2" fmla="*/ 0 w 2276768"/>
              <a:gd name="connsiteY2" fmla="*/ 147868 h 1096034"/>
              <a:gd name="connsiteX3" fmla="*/ 949805 w 2276768"/>
              <a:gd name="connsiteY3" fmla="*/ 147868 h 1096034"/>
              <a:gd name="connsiteX4" fmla="*/ 1138383 w 2276768"/>
              <a:gd name="connsiteY4" fmla="*/ 0 h 1096034"/>
              <a:gd name="connsiteX5" fmla="*/ 1326961 w 2276768"/>
              <a:gd name="connsiteY5" fmla="*/ 147868 h 1096034"/>
              <a:gd name="connsiteX6" fmla="*/ 2276768 w 2276768"/>
              <a:gd name="connsiteY6" fmla="*/ 147868 h 109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6768" h="1096034">
                <a:moveTo>
                  <a:pt x="2276768" y="1096034"/>
                </a:moveTo>
                <a:lnTo>
                  <a:pt x="0" y="1096034"/>
                </a:lnTo>
                <a:lnTo>
                  <a:pt x="0" y="147868"/>
                </a:lnTo>
                <a:lnTo>
                  <a:pt x="949805" y="147868"/>
                </a:lnTo>
                <a:lnTo>
                  <a:pt x="1138383" y="0"/>
                </a:lnTo>
                <a:lnTo>
                  <a:pt x="1326961" y="147868"/>
                </a:lnTo>
                <a:lnTo>
                  <a:pt x="2276768" y="147868"/>
                </a:lnTo>
                <a:close/>
              </a:path>
            </a:pathLst>
          </a:cu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endParaRPr>
          </a:p>
        </p:txBody>
      </p:sp>
      <p:sp>
        <p:nvSpPr>
          <p:cNvPr id="48" name="任意多边形: 形状 47"/>
          <p:cNvSpPr/>
          <p:nvPr/>
        </p:nvSpPr>
        <p:spPr>
          <a:xfrm rot="10800000">
            <a:off x="4573851" y="1520460"/>
            <a:ext cx="2276768" cy="1096034"/>
          </a:xfrm>
          <a:custGeom>
            <a:avLst/>
            <a:gdLst>
              <a:gd name="connsiteX0" fmla="*/ 2276768 w 2276768"/>
              <a:gd name="connsiteY0" fmla="*/ 1096034 h 1096034"/>
              <a:gd name="connsiteX1" fmla="*/ 0 w 2276768"/>
              <a:gd name="connsiteY1" fmla="*/ 1096034 h 1096034"/>
              <a:gd name="connsiteX2" fmla="*/ 0 w 2276768"/>
              <a:gd name="connsiteY2" fmla="*/ 147868 h 1096034"/>
              <a:gd name="connsiteX3" fmla="*/ 949805 w 2276768"/>
              <a:gd name="connsiteY3" fmla="*/ 147868 h 1096034"/>
              <a:gd name="connsiteX4" fmla="*/ 1138383 w 2276768"/>
              <a:gd name="connsiteY4" fmla="*/ 0 h 1096034"/>
              <a:gd name="connsiteX5" fmla="*/ 1326961 w 2276768"/>
              <a:gd name="connsiteY5" fmla="*/ 147868 h 1096034"/>
              <a:gd name="connsiteX6" fmla="*/ 2276768 w 2276768"/>
              <a:gd name="connsiteY6" fmla="*/ 147868 h 109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6768" h="1096034">
                <a:moveTo>
                  <a:pt x="2276768" y="1096034"/>
                </a:moveTo>
                <a:lnTo>
                  <a:pt x="0" y="1096034"/>
                </a:lnTo>
                <a:lnTo>
                  <a:pt x="0" y="147868"/>
                </a:lnTo>
                <a:lnTo>
                  <a:pt x="949805" y="147868"/>
                </a:lnTo>
                <a:lnTo>
                  <a:pt x="1138383" y="0"/>
                </a:lnTo>
                <a:lnTo>
                  <a:pt x="1326961" y="147868"/>
                </a:lnTo>
                <a:lnTo>
                  <a:pt x="2276768" y="147868"/>
                </a:lnTo>
                <a:close/>
              </a:path>
            </a:pathLst>
          </a:cu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endParaRPr>
          </a:p>
        </p:txBody>
      </p:sp>
      <p:sp>
        <p:nvSpPr>
          <p:cNvPr id="49" name="任意多边形: 形状 48"/>
          <p:cNvSpPr/>
          <p:nvPr/>
        </p:nvSpPr>
        <p:spPr>
          <a:xfrm rot="10800000">
            <a:off x="7023086" y="1520460"/>
            <a:ext cx="2276768" cy="1096034"/>
          </a:xfrm>
          <a:custGeom>
            <a:avLst/>
            <a:gdLst>
              <a:gd name="connsiteX0" fmla="*/ 2276768 w 2276768"/>
              <a:gd name="connsiteY0" fmla="*/ 1096034 h 1096034"/>
              <a:gd name="connsiteX1" fmla="*/ 0 w 2276768"/>
              <a:gd name="connsiteY1" fmla="*/ 1096034 h 1096034"/>
              <a:gd name="connsiteX2" fmla="*/ 0 w 2276768"/>
              <a:gd name="connsiteY2" fmla="*/ 147868 h 1096034"/>
              <a:gd name="connsiteX3" fmla="*/ 949805 w 2276768"/>
              <a:gd name="connsiteY3" fmla="*/ 147868 h 1096034"/>
              <a:gd name="connsiteX4" fmla="*/ 1138383 w 2276768"/>
              <a:gd name="connsiteY4" fmla="*/ 0 h 1096034"/>
              <a:gd name="connsiteX5" fmla="*/ 1326961 w 2276768"/>
              <a:gd name="connsiteY5" fmla="*/ 147868 h 1096034"/>
              <a:gd name="connsiteX6" fmla="*/ 2276768 w 2276768"/>
              <a:gd name="connsiteY6" fmla="*/ 147868 h 109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6768" h="1096034">
                <a:moveTo>
                  <a:pt x="2276768" y="1096034"/>
                </a:moveTo>
                <a:lnTo>
                  <a:pt x="0" y="1096034"/>
                </a:lnTo>
                <a:lnTo>
                  <a:pt x="0" y="147868"/>
                </a:lnTo>
                <a:lnTo>
                  <a:pt x="949805" y="147868"/>
                </a:lnTo>
                <a:lnTo>
                  <a:pt x="1138383" y="0"/>
                </a:lnTo>
                <a:lnTo>
                  <a:pt x="1326961" y="147868"/>
                </a:lnTo>
                <a:lnTo>
                  <a:pt x="2276768" y="147868"/>
                </a:lnTo>
                <a:close/>
              </a:path>
            </a:pathLst>
          </a:cu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endParaRPr>
          </a:p>
        </p:txBody>
      </p:sp>
      <p:sp>
        <p:nvSpPr>
          <p:cNvPr id="50" name="任意多边形: 形状 49"/>
          <p:cNvSpPr/>
          <p:nvPr/>
        </p:nvSpPr>
        <p:spPr>
          <a:xfrm rot="10800000">
            <a:off x="9472320" y="1520460"/>
            <a:ext cx="2276768" cy="1096034"/>
          </a:xfrm>
          <a:custGeom>
            <a:avLst/>
            <a:gdLst>
              <a:gd name="connsiteX0" fmla="*/ 2276768 w 2276768"/>
              <a:gd name="connsiteY0" fmla="*/ 1096034 h 1096034"/>
              <a:gd name="connsiteX1" fmla="*/ 0 w 2276768"/>
              <a:gd name="connsiteY1" fmla="*/ 1096034 h 1096034"/>
              <a:gd name="connsiteX2" fmla="*/ 0 w 2276768"/>
              <a:gd name="connsiteY2" fmla="*/ 147868 h 1096034"/>
              <a:gd name="connsiteX3" fmla="*/ 949805 w 2276768"/>
              <a:gd name="connsiteY3" fmla="*/ 147868 h 1096034"/>
              <a:gd name="connsiteX4" fmla="*/ 1138383 w 2276768"/>
              <a:gd name="connsiteY4" fmla="*/ 0 h 1096034"/>
              <a:gd name="connsiteX5" fmla="*/ 1326961 w 2276768"/>
              <a:gd name="connsiteY5" fmla="*/ 147868 h 1096034"/>
              <a:gd name="connsiteX6" fmla="*/ 2276768 w 2276768"/>
              <a:gd name="connsiteY6" fmla="*/ 147868 h 109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6768" h="1096034">
                <a:moveTo>
                  <a:pt x="2276768" y="1096034"/>
                </a:moveTo>
                <a:lnTo>
                  <a:pt x="0" y="1096034"/>
                </a:lnTo>
                <a:lnTo>
                  <a:pt x="0" y="147868"/>
                </a:lnTo>
                <a:lnTo>
                  <a:pt x="949805" y="147868"/>
                </a:lnTo>
                <a:lnTo>
                  <a:pt x="1138383" y="0"/>
                </a:lnTo>
                <a:lnTo>
                  <a:pt x="1326961" y="147868"/>
                </a:lnTo>
                <a:lnTo>
                  <a:pt x="2276768" y="147868"/>
                </a:lnTo>
                <a:close/>
              </a:path>
            </a:pathLst>
          </a:cu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endParaRPr lang="zh-CN" altLang="en-US" sz="1200" dirty="0">
              <a:solidFill>
                <a:srgbClr val="FFFFFF"/>
              </a:solidFill>
              <a:latin typeface="微软雅黑"/>
              <a:ea typeface="微软雅黑"/>
              <a:cs typeface="微软雅黑"/>
            </a:endParaRPr>
          </a:p>
        </p:txBody>
      </p:sp>
      <p:sp>
        <p:nvSpPr>
          <p:cNvPr id="53" name="任意多边形: 形状 52"/>
          <p:cNvSpPr/>
          <p:nvPr/>
        </p:nvSpPr>
        <p:spPr>
          <a:xfrm>
            <a:off x="2117595" y="2514453"/>
            <a:ext cx="2283789" cy="1584718"/>
          </a:xfrm>
          <a:custGeom>
            <a:avLst/>
            <a:gdLst>
              <a:gd name="connsiteX0" fmla="*/ 0 w 2283789"/>
              <a:gd name="connsiteY0" fmla="*/ 0 h 1584718"/>
              <a:gd name="connsiteX1" fmla="*/ 914124 w 2283789"/>
              <a:gd name="connsiteY1" fmla="*/ 0 h 1584718"/>
              <a:gd name="connsiteX2" fmla="*/ 1141896 w 2283789"/>
              <a:gd name="connsiteY2" fmla="*/ 167469 h 1584718"/>
              <a:gd name="connsiteX3" fmla="*/ 1369667 w 2283789"/>
              <a:gd name="connsiteY3" fmla="*/ 0 h 1584718"/>
              <a:gd name="connsiteX4" fmla="*/ 2283789 w 2283789"/>
              <a:gd name="connsiteY4" fmla="*/ 0 h 1584718"/>
              <a:gd name="connsiteX5" fmla="*/ 2283789 w 2283789"/>
              <a:gd name="connsiteY5" fmla="*/ 1584718 h 1584718"/>
              <a:gd name="connsiteX6" fmla="*/ 0 w 2283789"/>
              <a:gd name="connsiteY6" fmla="*/ 1584718 h 158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3789" h="1584718">
                <a:moveTo>
                  <a:pt x="0" y="0"/>
                </a:moveTo>
                <a:lnTo>
                  <a:pt x="914124" y="0"/>
                </a:lnTo>
                <a:lnTo>
                  <a:pt x="1141896" y="167469"/>
                </a:lnTo>
                <a:lnTo>
                  <a:pt x="1369667" y="0"/>
                </a:lnTo>
                <a:lnTo>
                  <a:pt x="2283789" y="0"/>
                </a:lnTo>
                <a:lnTo>
                  <a:pt x="2283789" y="1584718"/>
                </a:lnTo>
                <a:lnTo>
                  <a:pt x="0" y="1584718"/>
                </a:lnTo>
                <a:close/>
              </a:path>
            </a:pathLst>
          </a:custGeom>
          <a:solidFill>
            <a:srgbClr val="E6E6E6">
              <a:alpha val="3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4" name="任意多边形: 形状 53"/>
          <p:cNvSpPr/>
          <p:nvPr/>
        </p:nvSpPr>
        <p:spPr>
          <a:xfrm>
            <a:off x="4570340" y="2514453"/>
            <a:ext cx="2283789" cy="1584718"/>
          </a:xfrm>
          <a:custGeom>
            <a:avLst/>
            <a:gdLst>
              <a:gd name="connsiteX0" fmla="*/ 0 w 2283789"/>
              <a:gd name="connsiteY0" fmla="*/ 0 h 1584718"/>
              <a:gd name="connsiteX1" fmla="*/ 914124 w 2283789"/>
              <a:gd name="connsiteY1" fmla="*/ 0 h 1584718"/>
              <a:gd name="connsiteX2" fmla="*/ 1141896 w 2283789"/>
              <a:gd name="connsiteY2" fmla="*/ 167469 h 1584718"/>
              <a:gd name="connsiteX3" fmla="*/ 1369667 w 2283789"/>
              <a:gd name="connsiteY3" fmla="*/ 0 h 1584718"/>
              <a:gd name="connsiteX4" fmla="*/ 2283789 w 2283789"/>
              <a:gd name="connsiteY4" fmla="*/ 0 h 1584718"/>
              <a:gd name="connsiteX5" fmla="*/ 2283789 w 2283789"/>
              <a:gd name="connsiteY5" fmla="*/ 1584718 h 1584718"/>
              <a:gd name="connsiteX6" fmla="*/ 0 w 2283789"/>
              <a:gd name="connsiteY6" fmla="*/ 1584718 h 158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3789" h="1584718">
                <a:moveTo>
                  <a:pt x="0" y="0"/>
                </a:moveTo>
                <a:lnTo>
                  <a:pt x="914124" y="0"/>
                </a:lnTo>
                <a:lnTo>
                  <a:pt x="1141896" y="167469"/>
                </a:lnTo>
                <a:lnTo>
                  <a:pt x="1369667" y="0"/>
                </a:lnTo>
                <a:lnTo>
                  <a:pt x="2283789" y="0"/>
                </a:lnTo>
                <a:lnTo>
                  <a:pt x="2283789" y="1584718"/>
                </a:lnTo>
                <a:lnTo>
                  <a:pt x="0" y="1584718"/>
                </a:lnTo>
                <a:close/>
              </a:path>
            </a:pathLst>
          </a:custGeom>
          <a:solidFill>
            <a:srgbClr val="E6E6E6">
              <a:alpha val="3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55" name="任意多边形: 形状 54"/>
          <p:cNvSpPr/>
          <p:nvPr/>
        </p:nvSpPr>
        <p:spPr>
          <a:xfrm>
            <a:off x="7026595" y="2514453"/>
            <a:ext cx="2283789" cy="1584718"/>
          </a:xfrm>
          <a:custGeom>
            <a:avLst/>
            <a:gdLst>
              <a:gd name="connsiteX0" fmla="*/ 0 w 2283789"/>
              <a:gd name="connsiteY0" fmla="*/ 0 h 1584718"/>
              <a:gd name="connsiteX1" fmla="*/ 914124 w 2283789"/>
              <a:gd name="connsiteY1" fmla="*/ 0 h 1584718"/>
              <a:gd name="connsiteX2" fmla="*/ 1141896 w 2283789"/>
              <a:gd name="connsiteY2" fmla="*/ 167469 h 1584718"/>
              <a:gd name="connsiteX3" fmla="*/ 1369667 w 2283789"/>
              <a:gd name="connsiteY3" fmla="*/ 0 h 1584718"/>
              <a:gd name="connsiteX4" fmla="*/ 2283789 w 2283789"/>
              <a:gd name="connsiteY4" fmla="*/ 0 h 1584718"/>
              <a:gd name="connsiteX5" fmla="*/ 2283789 w 2283789"/>
              <a:gd name="connsiteY5" fmla="*/ 1584718 h 1584718"/>
              <a:gd name="connsiteX6" fmla="*/ 0 w 2283789"/>
              <a:gd name="connsiteY6" fmla="*/ 1584718 h 158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3789" h="1584718">
                <a:moveTo>
                  <a:pt x="0" y="0"/>
                </a:moveTo>
                <a:lnTo>
                  <a:pt x="914124" y="0"/>
                </a:lnTo>
                <a:lnTo>
                  <a:pt x="1141896" y="167469"/>
                </a:lnTo>
                <a:lnTo>
                  <a:pt x="1369667" y="0"/>
                </a:lnTo>
                <a:lnTo>
                  <a:pt x="2283789" y="0"/>
                </a:lnTo>
                <a:lnTo>
                  <a:pt x="2283789" y="1584718"/>
                </a:lnTo>
                <a:lnTo>
                  <a:pt x="0" y="1584718"/>
                </a:lnTo>
                <a:close/>
              </a:path>
            </a:pathLst>
          </a:custGeom>
          <a:solidFill>
            <a:srgbClr val="FFFFFF">
              <a:alpha val="4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56" name="任意多边形: 形状 55"/>
          <p:cNvSpPr/>
          <p:nvPr/>
        </p:nvSpPr>
        <p:spPr>
          <a:xfrm>
            <a:off x="9482850" y="2514453"/>
            <a:ext cx="2283789" cy="1584718"/>
          </a:xfrm>
          <a:custGeom>
            <a:avLst/>
            <a:gdLst>
              <a:gd name="connsiteX0" fmla="*/ 0 w 2283789"/>
              <a:gd name="connsiteY0" fmla="*/ 0 h 1584718"/>
              <a:gd name="connsiteX1" fmla="*/ 914124 w 2283789"/>
              <a:gd name="connsiteY1" fmla="*/ 0 h 1584718"/>
              <a:gd name="connsiteX2" fmla="*/ 1141896 w 2283789"/>
              <a:gd name="connsiteY2" fmla="*/ 167469 h 1584718"/>
              <a:gd name="connsiteX3" fmla="*/ 1369667 w 2283789"/>
              <a:gd name="connsiteY3" fmla="*/ 0 h 1584718"/>
              <a:gd name="connsiteX4" fmla="*/ 2283789 w 2283789"/>
              <a:gd name="connsiteY4" fmla="*/ 0 h 1584718"/>
              <a:gd name="connsiteX5" fmla="*/ 2283789 w 2283789"/>
              <a:gd name="connsiteY5" fmla="*/ 1584718 h 1584718"/>
              <a:gd name="connsiteX6" fmla="*/ 0 w 2283789"/>
              <a:gd name="connsiteY6" fmla="*/ 1584718 h 158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3789" h="1584718">
                <a:moveTo>
                  <a:pt x="0" y="0"/>
                </a:moveTo>
                <a:lnTo>
                  <a:pt x="914124" y="0"/>
                </a:lnTo>
                <a:lnTo>
                  <a:pt x="1141896" y="167469"/>
                </a:lnTo>
                <a:lnTo>
                  <a:pt x="1369667" y="0"/>
                </a:lnTo>
                <a:lnTo>
                  <a:pt x="2283789" y="0"/>
                </a:lnTo>
                <a:lnTo>
                  <a:pt x="2283789" y="1584718"/>
                </a:lnTo>
                <a:lnTo>
                  <a:pt x="0" y="1584718"/>
                </a:lnTo>
                <a:close/>
              </a:path>
            </a:pathLst>
          </a:custGeom>
          <a:solidFill>
            <a:srgbClr val="E6E6E6">
              <a:alpha val="3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57" name="矩形 56"/>
          <p:cNvSpPr/>
          <p:nvPr/>
        </p:nvSpPr>
        <p:spPr>
          <a:xfrm>
            <a:off x="2124616" y="4264166"/>
            <a:ext cx="1914491" cy="1671545"/>
          </a:xfrm>
          <a:prstGeom prst="rect">
            <a:avLst/>
          </a:prstGeom>
          <a:solidFill>
            <a:srgbClr val="E6E6E6">
              <a:alpha val="3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58" name="矩形 57"/>
          <p:cNvSpPr/>
          <p:nvPr/>
        </p:nvSpPr>
        <p:spPr>
          <a:xfrm>
            <a:off x="2124616" y="4264167"/>
            <a:ext cx="1914491" cy="381797"/>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开展矩阵</a:t>
            </a:r>
            <a:endParaRPr lang="zh-CN" altLang="en-US" sz="1200" dirty="0">
              <a:solidFill>
                <a:srgbClr val="FFFFFF"/>
              </a:solidFill>
              <a:latin typeface="微软雅黑"/>
              <a:ea typeface="微软雅黑"/>
              <a:cs typeface="微软雅黑"/>
            </a:endParaRPr>
          </a:p>
        </p:txBody>
      </p:sp>
      <p:sp>
        <p:nvSpPr>
          <p:cNvPr id="59" name="矩形 58"/>
          <p:cNvSpPr/>
          <p:nvPr/>
        </p:nvSpPr>
        <p:spPr>
          <a:xfrm>
            <a:off x="4179962" y="4264166"/>
            <a:ext cx="1914491" cy="1671545"/>
          </a:xfrm>
          <a:prstGeom prst="rect">
            <a:avLst/>
          </a:prstGeom>
          <a:solidFill>
            <a:srgbClr val="E6E6E6">
              <a:alpha val="3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43" name="矩形 42"/>
          <p:cNvSpPr/>
          <p:nvPr/>
        </p:nvSpPr>
        <p:spPr>
          <a:xfrm>
            <a:off x="4179962" y="4264167"/>
            <a:ext cx="1914491" cy="381797"/>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sym typeface="微软雅黑"/>
              </a:rPr>
              <a:t>品牌特秀</a:t>
            </a:r>
            <a:endParaRPr lang="zh-CN" altLang="en-US" sz="1200" dirty="0">
              <a:solidFill>
                <a:srgbClr val="FFFFFF"/>
              </a:solidFill>
              <a:latin typeface="微软雅黑"/>
              <a:ea typeface="微软雅黑"/>
              <a:cs typeface="微软雅黑"/>
              <a:sym typeface="微软雅黑"/>
            </a:endParaRPr>
          </a:p>
        </p:txBody>
      </p:sp>
      <p:sp>
        <p:nvSpPr>
          <p:cNvPr id="62" name="矩形 61"/>
          <p:cNvSpPr/>
          <p:nvPr/>
        </p:nvSpPr>
        <p:spPr>
          <a:xfrm>
            <a:off x="6235308" y="4264166"/>
            <a:ext cx="3458434" cy="1671545"/>
          </a:xfrm>
          <a:prstGeom prst="rect">
            <a:avLst/>
          </a:prstGeom>
          <a:solidFill>
            <a:srgbClr val="FFFFFF">
              <a:alpha val="4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44" name="矩形 43"/>
          <p:cNvSpPr/>
          <p:nvPr/>
        </p:nvSpPr>
        <p:spPr>
          <a:xfrm>
            <a:off x="6235308" y="4264167"/>
            <a:ext cx="3458434" cy="381797"/>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商业广告</a:t>
            </a:r>
            <a:endParaRPr lang="zh-CN" altLang="en-US" sz="1200" dirty="0">
              <a:solidFill>
                <a:srgbClr val="383838"/>
              </a:solidFill>
              <a:latin typeface="微软雅黑"/>
              <a:ea typeface="微软雅黑"/>
              <a:cs typeface="微软雅黑"/>
            </a:endParaRPr>
          </a:p>
        </p:txBody>
      </p:sp>
      <p:sp>
        <p:nvSpPr>
          <p:cNvPr id="65" name="矩形 64"/>
          <p:cNvSpPr/>
          <p:nvPr/>
        </p:nvSpPr>
        <p:spPr>
          <a:xfrm>
            <a:off x="9834596" y="4264167"/>
            <a:ext cx="1914491" cy="381797"/>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私域沟通</a:t>
            </a:r>
            <a:endParaRPr lang="zh-CN" altLang="en-US" sz="1200" dirty="0">
              <a:solidFill>
                <a:srgbClr val="FFFFFF"/>
              </a:solidFill>
              <a:latin typeface="微软雅黑"/>
              <a:ea typeface="微软雅黑"/>
              <a:cs typeface="微软雅黑"/>
            </a:endParaRPr>
          </a:p>
        </p:txBody>
      </p:sp>
      <p:grpSp>
        <p:nvGrpSpPr>
          <p:cNvPr id="73" name="组合 72"/>
          <p:cNvGrpSpPr/>
          <p:nvPr/>
        </p:nvGrpSpPr>
        <p:grpSpPr>
          <a:xfrm>
            <a:off x="8335625" y="4772012"/>
            <a:ext cx="1040951" cy="1051824"/>
            <a:chOff x="8335625" y="4765425"/>
            <a:chExt cx="1040951" cy="1242728"/>
          </a:xfrm>
        </p:grpSpPr>
        <p:sp>
          <p:nvSpPr>
            <p:cNvPr id="66" name="矩形 65"/>
            <p:cNvSpPr/>
            <p:nvPr/>
          </p:nvSpPr>
          <p:spPr>
            <a:xfrm>
              <a:off x="8335625" y="4765425"/>
              <a:ext cx="1040951" cy="563813"/>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直播间专属</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限时权益</a:t>
              </a:r>
              <a:endParaRPr lang="zh-CN" altLang="en-US" sz="1000" dirty="0">
                <a:solidFill>
                  <a:srgbClr val="383838"/>
                </a:solidFill>
                <a:latin typeface="微软雅黑"/>
                <a:ea typeface="微软雅黑"/>
                <a:cs typeface="微软雅黑"/>
              </a:endParaRPr>
            </a:p>
          </p:txBody>
        </p:sp>
        <p:sp>
          <p:nvSpPr>
            <p:cNvPr id="67" name="矩形 66"/>
            <p:cNvSpPr/>
            <p:nvPr/>
          </p:nvSpPr>
          <p:spPr>
            <a:xfrm>
              <a:off x="8335625" y="5415542"/>
              <a:ext cx="1040951" cy="592611"/>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wrap="none"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搜索场域</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做站内承接</a:t>
              </a:r>
              <a:endParaRPr lang="zh-CN" altLang="en-US" sz="1000" dirty="0">
                <a:solidFill>
                  <a:srgbClr val="383838"/>
                </a:solidFill>
                <a:latin typeface="微软雅黑"/>
                <a:ea typeface="微软雅黑"/>
                <a:cs typeface="微软雅黑"/>
              </a:endParaRPr>
            </a:p>
          </p:txBody>
        </p:sp>
      </p:grpSp>
      <p:sp>
        <p:nvSpPr>
          <p:cNvPr id="45" name="Arrow"/>
          <p:cNvSpPr/>
          <p:nvPr/>
        </p:nvSpPr>
        <p:spPr>
          <a:xfrm>
            <a:off x="7786154" y="5257777"/>
            <a:ext cx="513156" cy="153015"/>
          </a:xfrm>
          <a:prstGeom prst="rightArrow">
            <a:avLst>
              <a:gd name="adj1" fmla="val 47695"/>
              <a:gd name="adj2" fmla="val 118485"/>
            </a:avLst>
          </a:prstGeom>
          <a:gradFill>
            <a:gsLst>
              <a:gs pos="0">
                <a:srgbClr val="B3D4FE">
                  <a:alpha val="0"/>
                </a:srgbClr>
              </a:gs>
              <a:gs pos="100000">
                <a:srgbClr val="B3D4FE"/>
              </a:gs>
            </a:gsLst>
          </a:gra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sz="1000" b="0" i="0" u="none" strike="noStrike" kern="0" cap="none" spc="0" normalizeH="0" baseline="0" noProof="0">
              <a:ln>
                <a:noFill/>
              </a:ln>
              <a:solidFill>
                <a:prstClr val="black"/>
              </a:solidFill>
              <a:effectLst/>
              <a:uLnTx/>
              <a:uFillTx/>
              <a:latin typeface="微软雅黑"/>
              <a:ea typeface="微软雅黑"/>
              <a:cs typeface="微软雅黑"/>
            </a:endParaRPr>
          </a:p>
        </p:txBody>
      </p:sp>
      <p:sp>
        <p:nvSpPr>
          <p:cNvPr id="46" name="椭圆 45"/>
          <p:cNvSpPr/>
          <p:nvPr/>
        </p:nvSpPr>
        <p:spPr>
          <a:xfrm>
            <a:off x="6543272" y="5178567"/>
            <a:ext cx="626550" cy="626552"/>
          </a:xfrm>
          <a:prstGeom prst="ellipse">
            <a:avLst/>
          </a:prstGeom>
          <a:solidFill>
            <a:srgbClr val="B3D4FE">
              <a:alpha val="36000"/>
            </a:srgbClr>
          </a:solidFill>
          <a:ln w="6350">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先锋</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者</a:t>
            </a:r>
            <a:endParaRPr lang="zh-CN" altLang="en-US" sz="1000" dirty="0">
              <a:solidFill>
                <a:srgbClr val="383838"/>
              </a:solidFill>
              <a:latin typeface="微软雅黑"/>
              <a:ea typeface="微软雅黑"/>
              <a:cs typeface="微软雅黑"/>
              <a:sym typeface="微软雅黑"/>
            </a:endParaRPr>
          </a:p>
        </p:txBody>
      </p:sp>
      <p:sp>
        <p:nvSpPr>
          <p:cNvPr id="71" name="椭圆 70"/>
          <p:cNvSpPr/>
          <p:nvPr/>
        </p:nvSpPr>
        <p:spPr>
          <a:xfrm>
            <a:off x="6808849" y="4731883"/>
            <a:ext cx="626550" cy="626552"/>
          </a:xfrm>
          <a:prstGeom prst="ellipse">
            <a:avLst/>
          </a:prstGeom>
          <a:solidFill>
            <a:srgbClr val="B3D4FE">
              <a:alpha val="36000"/>
            </a:srgbClr>
          </a:solidFill>
          <a:ln w="6350">
            <a:solidFill>
              <a:srgbClr val="B3D4FE"/>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高端</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悦享者</a:t>
            </a:r>
            <a:endParaRPr lang="zh-CN" altLang="en-US" sz="1000" dirty="0">
              <a:solidFill>
                <a:srgbClr val="383838"/>
              </a:solidFill>
              <a:latin typeface="微软雅黑"/>
              <a:ea typeface="微软雅黑"/>
              <a:cs typeface="微软雅黑"/>
            </a:endParaRPr>
          </a:p>
        </p:txBody>
      </p:sp>
      <p:sp>
        <p:nvSpPr>
          <p:cNvPr id="72" name="椭圆 71"/>
          <p:cNvSpPr/>
          <p:nvPr/>
        </p:nvSpPr>
        <p:spPr>
          <a:xfrm>
            <a:off x="7056855" y="5178586"/>
            <a:ext cx="626550" cy="626552"/>
          </a:xfrm>
          <a:prstGeom prst="ellipse">
            <a:avLst/>
          </a:prstGeom>
          <a:solidFill>
            <a:srgbClr val="B3D4FE">
              <a:alpha val="36000"/>
            </a:srgbClr>
          </a:solidFill>
          <a:ln w="6350">
            <a:solidFill>
              <a:srgbClr val="B3D4FE"/>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资深</a:t>
            </a:r>
            <a:endParaRPr lang="zh-CN" altLang="en-US" sz="1000"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sym typeface="微软雅黑"/>
              </a:rPr>
              <a:t>用户</a:t>
            </a:r>
            <a:endParaRPr lang="zh-CN" altLang="en-US" sz="1000" dirty="0">
              <a:solidFill>
                <a:srgbClr val="383838"/>
              </a:solidFill>
              <a:latin typeface="微软雅黑"/>
              <a:ea typeface="微软雅黑"/>
              <a:cs typeface="微软雅黑"/>
              <a:sym typeface="微软雅黑"/>
            </a:endParaRPr>
          </a:p>
        </p:txBody>
      </p:sp>
      <p:grpSp>
        <p:nvGrpSpPr>
          <p:cNvPr id="80" name="组合 79"/>
          <p:cNvGrpSpPr/>
          <p:nvPr/>
        </p:nvGrpSpPr>
        <p:grpSpPr>
          <a:xfrm>
            <a:off x="10127559" y="4947491"/>
            <a:ext cx="1330856" cy="857627"/>
            <a:chOff x="10129837" y="4720596"/>
            <a:chExt cx="1088230" cy="1084894"/>
          </a:xfrm>
        </p:grpSpPr>
        <p:grpSp>
          <p:nvGrpSpPr>
            <p:cNvPr id="89" name="组合 88"/>
            <p:cNvGrpSpPr/>
            <p:nvPr/>
          </p:nvGrpSpPr>
          <p:grpSpPr>
            <a:xfrm>
              <a:off x="10129837" y="5438777"/>
              <a:ext cx="366713" cy="366713"/>
              <a:chOff x="10129837" y="5438777"/>
              <a:chExt cx="366713" cy="366713"/>
            </a:xfrm>
          </p:grpSpPr>
          <p:cxnSp>
            <p:nvCxnSpPr>
              <p:cNvPr id="96" name="直接连接符 95"/>
              <p:cNvCxnSpPr/>
              <p:nvPr/>
            </p:nvCxnSpPr>
            <p:spPr>
              <a:xfrm>
                <a:off x="10129837" y="5800725"/>
                <a:ext cx="366713"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cxnSp>
            <p:nvCxnSpPr>
              <p:cNvPr id="97" name="直接连接符 96"/>
              <p:cNvCxnSpPr/>
              <p:nvPr/>
            </p:nvCxnSpPr>
            <p:spPr>
              <a:xfrm rot="5400000">
                <a:off x="10313193" y="5622134"/>
                <a:ext cx="366713"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grpSp>
        <p:grpSp>
          <p:nvGrpSpPr>
            <p:cNvPr id="90" name="组合 89"/>
            <p:cNvGrpSpPr/>
            <p:nvPr/>
          </p:nvGrpSpPr>
          <p:grpSpPr>
            <a:xfrm>
              <a:off x="10489263" y="5077781"/>
              <a:ext cx="366713" cy="366713"/>
              <a:chOff x="10129837" y="5434015"/>
              <a:chExt cx="366713" cy="366713"/>
            </a:xfrm>
          </p:grpSpPr>
          <p:cxnSp>
            <p:nvCxnSpPr>
              <p:cNvPr id="94" name="直接连接符 93"/>
              <p:cNvCxnSpPr/>
              <p:nvPr/>
            </p:nvCxnSpPr>
            <p:spPr>
              <a:xfrm>
                <a:off x="10129837" y="5795963"/>
                <a:ext cx="366713"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cxnSp>
            <p:nvCxnSpPr>
              <p:cNvPr id="95" name="直接连接符 94"/>
              <p:cNvCxnSpPr/>
              <p:nvPr/>
            </p:nvCxnSpPr>
            <p:spPr>
              <a:xfrm rot="5400000">
                <a:off x="10313193" y="5617372"/>
                <a:ext cx="366713"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grpSp>
        <p:grpSp>
          <p:nvGrpSpPr>
            <p:cNvPr id="91" name="组合 90"/>
            <p:cNvGrpSpPr/>
            <p:nvPr/>
          </p:nvGrpSpPr>
          <p:grpSpPr>
            <a:xfrm>
              <a:off x="10851354" y="4720596"/>
              <a:ext cx="366713" cy="366713"/>
              <a:chOff x="10132218" y="5424491"/>
              <a:chExt cx="366713" cy="366713"/>
            </a:xfrm>
          </p:grpSpPr>
          <p:cxnSp>
            <p:nvCxnSpPr>
              <p:cNvPr id="92" name="直接连接符 91"/>
              <p:cNvCxnSpPr/>
              <p:nvPr/>
            </p:nvCxnSpPr>
            <p:spPr>
              <a:xfrm>
                <a:off x="10132218" y="5786439"/>
                <a:ext cx="366713"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cxnSp>
            <p:nvCxnSpPr>
              <p:cNvPr id="93" name="直接连接符 92"/>
              <p:cNvCxnSpPr/>
              <p:nvPr/>
            </p:nvCxnSpPr>
            <p:spPr>
              <a:xfrm rot="5400000">
                <a:off x="10313193" y="5607848"/>
                <a:ext cx="366713" cy="0"/>
              </a:xfrm>
              <a:prstGeom prst="line">
                <a:avLst/>
              </a:prstGeom>
              <a:ln w="12700">
                <a:solidFill>
                  <a:srgbClr val="3368FF"/>
                </a:solidFill>
              </a:ln>
            </p:spPr>
            <p:style>
              <a:lnRef idx="2">
                <a:srgbClr val="0042FF"/>
              </a:lnRef>
              <a:fillRef idx="0">
                <a:srgbClr val="0042FF"/>
              </a:fillRef>
              <a:effectRef idx="1">
                <a:srgbClr val="0042FF"/>
              </a:effectRef>
              <a:fontRef idx="minor">
                <a:srgbClr val="383838"/>
              </a:fontRef>
            </p:style>
          </p:cxnSp>
        </p:grpSp>
      </p:grpSp>
      <p:cxnSp>
        <p:nvCxnSpPr>
          <p:cNvPr id="77" name="直接箭头连接符 76"/>
          <p:cNvCxnSpPr/>
          <p:nvPr/>
        </p:nvCxnSpPr>
        <p:spPr>
          <a:xfrm flipV="1">
            <a:off x="10342411" y="5165598"/>
            <a:ext cx="452691" cy="442325"/>
          </a:xfrm>
          <a:prstGeom prst="straightConnector1">
            <a:avLst/>
          </a:prstGeom>
          <a:ln w="9525">
            <a:solidFill>
              <a:srgbClr val="3368FF"/>
            </a:solidFill>
            <a:prstDash val="dash"/>
            <a:tailEnd type="triangle"/>
          </a:ln>
        </p:spPr>
        <p:style>
          <a:lnRef idx="1">
            <a:srgbClr val="0042FF"/>
          </a:lnRef>
          <a:fillRef idx="0">
            <a:srgbClr val="0042FF"/>
          </a:fillRef>
          <a:effectRef idx="0">
            <a:srgbClr val="0042FF"/>
          </a:effectRef>
          <a:fontRef idx="minor">
            <a:srgbClr val="383838"/>
          </a:fontRef>
        </p:style>
      </p:cxnSp>
      <p:sp>
        <p:nvSpPr>
          <p:cNvPr id="98" name="矩形 97"/>
          <p:cNvSpPr/>
          <p:nvPr/>
        </p:nvSpPr>
        <p:spPr>
          <a:xfrm>
            <a:off x="2238845" y="4757839"/>
            <a:ext cx="802990" cy="506328"/>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站外</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持续曝光</a:t>
            </a:r>
            <a:endParaRPr lang="zh-CN" altLang="en-US" sz="1000" dirty="0">
              <a:solidFill>
                <a:srgbClr val="383838"/>
              </a:solidFill>
              <a:latin typeface="微软雅黑"/>
              <a:ea typeface="微软雅黑"/>
              <a:cs typeface="微软雅黑"/>
            </a:endParaRPr>
          </a:p>
        </p:txBody>
      </p:sp>
      <p:sp>
        <p:nvSpPr>
          <p:cNvPr id="101" name="矩形 100"/>
          <p:cNvSpPr/>
          <p:nvPr/>
        </p:nvSpPr>
        <p:spPr>
          <a:xfrm>
            <a:off x="3121888" y="4757839"/>
            <a:ext cx="802990" cy="506328"/>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品牌</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认知强化</a:t>
            </a:r>
            <a:endParaRPr lang="zh-CN" altLang="en-US" sz="1000" dirty="0">
              <a:solidFill>
                <a:srgbClr val="383838"/>
              </a:solidFill>
              <a:latin typeface="微软雅黑"/>
              <a:ea typeface="微软雅黑"/>
              <a:cs typeface="微软雅黑"/>
            </a:endParaRPr>
          </a:p>
        </p:txBody>
      </p:sp>
      <p:sp>
        <p:nvSpPr>
          <p:cNvPr id="104" name="矩形 103"/>
          <p:cNvSpPr/>
          <p:nvPr/>
        </p:nvSpPr>
        <p:spPr>
          <a:xfrm>
            <a:off x="2238845" y="5317508"/>
            <a:ext cx="802990" cy="506328"/>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活动</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玩法透出</a:t>
            </a:r>
            <a:endParaRPr lang="zh-CN" altLang="en-US" sz="1000" dirty="0">
              <a:solidFill>
                <a:srgbClr val="383838"/>
              </a:solidFill>
              <a:latin typeface="微软雅黑"/>
              <a:ea typeface="微软雅黑"/>
              <a:cs typeface="微软雅黑"/>
            </a:endParaRPr>
          </a:p>
        </p:txBody>
      </p:sp>
      <p:sp>
        <p:nvSpPr>
          <p:cNvPr id="105" name="矩形 104"/>
          <p:cNvSpPr/>
          <p:nvPr/>
        </p:nvSpPr>
        <p:spPr>
          <a:xfrm>
            <a:off x="3121888" y="5317508"/>
            <a:ext cx="802990" cy="506328"/>
          </a:xfrm>
          <a:prstGeom prst="rect">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产品</a:t>
            </a:r>
            <a:endParaRPr lang="en-US" altLang="zh-CN" sz="1000"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dirty="0">
                <a:solidFill>
                  <a:srgbClr val="383838"/>
                </a:solidFill>
                <a:latin typeface="微软雅黑"/>
                <a:ea typeface="微软雅黑"/>
                <a:cs typeface="微软雅黑"/>
              </a:rPr>
              <a:t>强化创新</a:t>
            </a:r>
            <a:endParaRPr lang="zh-CN" altLang="en-US" sz="1000" dirty="0">
              <a:solidFill>
                <a:srgbClr val="383838"/>
              </a:solidFill>
              <a:latin typeface="微软雅黑"/>
              <a:ea typeface="微软雅黑"/>
              <a:cs typeface="微软雅黑"/>
            </a:endParaRPr>
          </a:p>
        </p:txBody>
      </p:sp>
      <p:pic>
        <p:nvPicPr>
          <p:cNvPr id="111" name="图形 110"/>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83288" y="4894359"/>
            <a:ext cx="388841" cy="388840"/>
          </a:xfrm>
          <a:prstGeom prst="rect">
            <a:avLst/>
          </a:prstGeom>
        </p:spPr>
      </p:pic>
      <p:pic>
        <p:nvPicPr>
          <p:cNvPr id="112" name="图形 111"/>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81621" y="4934026"/>
            <a:ext cx="309505" cy="309504"/>
          </a:xfrm>
          <a:prstGeom prst="rect">
            <a:avLst/>
          </a:prstGeom>
        </p:spPr>
      </p:pic>
      <p:grpSp>
        <p:nvGrpSpPr>
          <p:cNvPr id="113" name="组合 112"/>
          <p:cNvGrpSpPr/>
          <p:nvPr/>
        </p:nvGrpSpPr>
        <p:grpSpPr>
          <a:xfrm>
            <a:off x="5105397" y="5017302"/>
            <a:ext cx="142956" cy="142954"/>
            <a:chOff x="5841999" y="2646554"/>
            <a:chExt cx="198000" cy="198000"/>
          </a:xfrm>
          <a:solidFill>
            <a:srgbClr val="3368FF"/>
          </a:solidFill>
        </p:grpSpPr>
        <p:sp>
          <p:nvSpPr>
            <p:cNvPr id="114" name="矩形 113"/>
            <p:cNvSpPr/>
            <p:nvPr/>
          </p:nvSpPr>
          <p:spPr>
            <a:xfrm>
              <a:off x="5841999" y="2722694"/>
              <a:ext cx="198000" cy="45719"/>
            </a:xfrm>
            <a:prstGeom prst="rect">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15" name="矩形 114"/>
            <p:cNvSpPr/>
            <p:nvPr/>
          </p:nvSpPr>
          <p:spPr>
            <a:xfrm rot="16200000">
              <a:off x="5841999" y="2722694"/>
              <a:ext cx="198000" cy="45719"/>
            </a:xfrm>
            <a:prstGeom prst="rect">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6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sp>
        <p:nvSpPr>
          <p:cNvPr id="116" name="文本框 115"/>
          <p:cNvSpPr txBox="1"/>
          <p:nvPr/>
        </p:nvSpPr>
        <p:spPr>
          <a:xfrm>
            <a:off x="4749922" y="5386760"/>
            <a:ext cx="795020" cy="275590"/>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正装买赠</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8" name="文本框 117"/>
          <p:cNvSpPr txBox="1"/>
          <p:nvPr/>
        </p:nvSpPr>
        <p:spPr>
          <a:xfrm>
            <a:off x="4293035" y="5614867"/>
            <a:ext cx="1721782" cy="246221"/>
          </a:xfrm>
          <a:prstGeom prst="rect">
            <a:avLst/>
          </a:prstGeom>
          <a:noFill/>
        </p:spPr>
        <p:txBody>
          <a:bodyPr wrap="squar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品种心智种草与货品推荐</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0" name="文本框 119"/>
          <p:cNvSpPr txBox="1"/>
          <p:nvPr/>
        </p:nvSpPr>
        <p:spPr>
          <a:xfrm>
            <a:off x="2333621" y="1821943"/>
            <a:ext cx="1846341" cy="46166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发送者在编码信息时可能未能准确表达其意图</a:t>
            </a:r>
            <a:endParaRPr lang="zh-CN" altLang="en-US" sz="1200" dirty="0">
              <a:solidFill>
                <a:srgbClr val="FFFFFF"/>
              </a:solidFill>
              <a:latin typeface="微软雅黑"/>
              <a:ea typeface="微软雅黑"/>
              <a:cs typeface="微软雅黑"/>
            </a:endParaRPr>
          </a:p>
        </p:txBody>
      </p:sp>
      <p:sp>
        <p:nvSpPr>
          <p:cNvPr id="122" name="文本框 121"/>
          <p:cNvSpPr txBox="1"/>
          <p:nvPr/>
        </p:nvSpPr>
        <p:spPr>
          <a:xfrm>
            <a:off x="4749800" y="1821815"/>
            <a:ext cx="1907540" cy="46037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步骤繁多，导致效率低下</a:t>
            </a:r>
            <a:endParaRPr lang="en-US" altLang="zh-CN" sz="1200"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甚至可能影响工作质量</a:t>
            </a:r>
            <a:endParaRPr lang="zh-CN" altLang="en-US" sz="1200" dirty="0">
              <a:solidFill>
                <a:srgbClr val="FFFFFF"/>
              </a:solidFill>
              <a:latin typeface="微软雅黑"/>
              <a:ea typeface="微软雅黑"/>
              <a:cs typeface="微软雅黑"/>
            </a:endParaRPr>
          </a:p>
        </p:txBody>
      </p:sp>
      <p:sp>
        <p:nvSpPr>
          <p:cNvPr id="123" name="文本框 122"/>
          <p:cNvSpPr txBox="1"/>
          <p:nvPr/>
        </p:nvSpPr>
        <p:spPr>
          <a:xfrm>
            <a:off x="7202289" y="1821943"/>
            <a:ext cx="1846341" cy="46166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项目进度管控确保项目按时完成的关键环节</a:t>
            </a:r>
            <a:endParaRPr lang="zh-CN" altLang="en-US" sz="1200" dirty="0">
              <a:solidFill>
                <a:srgbClr val="FFFFFF"/>
              </a:solidFill>
              <a:latin typeface="微软雅黑"/>
              <a:ea typeface="微软雅黑"/>
              <a:cs typeface="微软雅黑"/>
            </a:endParaRPr>
          </a:p>
        </p:txBody>
      </p:sp>
      <p:sp>
        <p:nvSpPr>
          <p:cNvPr id="124" name="文本框 123"/>
          <p:cNvSpPr txBox="1"/>
          <p:nvPr/>
        </p:nvSpPr>
        <p:spPr>
          <a:xfrm>
            <a:off x="9636760" y="1821815"/>
            <a:ext cx="1923415" cy="46037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会影响企业的运营效率和团队的整体表现</a:t>
            </a:r>
            <a:endParaRPr lang="zh-CN" altLang="en-US" sz="1200" dirty="0">
              <a:solidFill>
                <a:srgbClr val="FFFFFF"/>
              </a:solidFill>
              <a:latin typeface="微软雅黑"/>
              <a:ea typeface="微软雅黑"/>
              <a:cs typeface="微软雅黑"/>
            </a:endParaRPr>
          </a:p>
        </p:txBody>
      </p:sp>
      <p:sp>
        <p:nvSpPr>
          <p:cNvPr id="128" name="文本框 127"/>
          <p:cNvSpPr txBox="1"/>
          <p:nvPr/>
        </p:nvSpPr>
        <p:spPr>
          <a:xfrm>
            <a:off x="2199005" y="3270885"/>
            <a:ext cx="2094230" cy="645160"/>
          </a:xfrm>
          <a:prstGeom prst="rect">
            <a:avLst/>
          </a:prstGeom>
          <a:noFill/>
        </p:spPr>
        <p:txBody>
          <a:bodyPr wrap="square" rtlCol="0" lIns="0" rIns="0" t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沟通渠道的选择不当或信号不好</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可能导致信息丢失或延迟，技术故障不兼容可能导致信息无法传输</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9" name="文本框 128"/>
          <p:cNvSpPr txBox="1"/>
          <p:nvPr/>
        </p:nvSpPr>
        <p:spPr>
          <a:xfrm>
            <a:off x="2333621" y="1622177"/>
            <a:ext cx="1846341" cy="245110"/>
          </a:xfrm>
          <a:prstGeom prst="rect">
            <a:avLst/>
          </a:prstGeom>
          <a:noFill/>
        </p:spPr>
        <p:txBody>
          <a:bodyPr wrap="square" lIns="0" rIns="0" tIns="0" bIns="0">
            <a:spAutoFit/>
          </a:bodyPr>
          <a:lstStyle/>
          <a:p>
            <a:pPr algn="ctr">
              <a:defRPr>
                <a:solidFill>
                  <a:srgbClr val="FFFFFF"/>
                </a:solidFill>
                <a:latin typeface="微软雅黑"/>
                <a:ea typeface="微软雅黑"/>
                <a:cs typeface="微软雅黑"/>
              </a:defRPr>
            </a:pPr>
            <a:r>
              <a:rPr lang="en-US" altLang="zh-CN" sz="1000" b="1" dirty="0">
                <a:solidFill>
                  <a:srgbClr val="FFFFFF"/>
                </a:solidFill>
                <a:latin typeface="微软雅黑"/>
                <a:ea typeface="微软雅黑"/>
                <a:cs typeface="微软雅黑"/>
              </a:rPr>
              <a:t>PART 01</a:t>
            </a:r>
            <a:endParaRPr lang="en-US" altLang="zh-CN" sz="1000" b="1" dirty="0">
              <a:solidFill>
                <a:srgbClr val="FFFFFF"/>
              </a:solidFill>
              <a:latin typeface="微软雅黑"/>
              <a:ea typeface="微软雅黑"/>
              <a:cs typeface="微软雅黑"/>
            </a:endParaRPr>
          </a:p>
        </p:txBody>
      </p:sp>
      <p:sp>
        <p:nvSpPr>
          <p:cNvPr id="130" name="文本框 129"/>
          <p:cNvSpPr txBox="1"/>
          <p:nvPr/>
        </p:nvSpPr>
        <p:spPr>
          <a:xfrm>
            <a:off x="4789064" y="1622177"/>
            <a:ext cx="1846341" cy="245110"/>
          </a:xfrm>
          <a:prstGeom prst="rect">
            <a:avLst/>
          </a:prstGeom>
          <a:noFill/>
        </p:spPr>
        <p:txBody>
          <a:bodyPr wrap="square" lIns="0" rIns="0" tIns="0" bIns="0">
            <a:spAutoFit/>
          </a:bodyPr>
          <a:lstStyle/>
          <a:p>
            <a:pPr lvl="0" algn="ctr">
              <a:buClrTx/>
              <a:buSzTx/>
              <a:buFontTx/>
              <a:defRPr>
                <a:solidFill>
                  <a:srgbClr val="FFFFFF"/>
                </a:solidFill>
                <a:latin typeface="微软雅黑"/>
                <a:ea typeface="微软雅黑"/>
                <a:cs typeface="微软雅黑"/>
              </a:defRPr>
            </a:pPr>
            <a:r>
              <a:rPr lang="en-US" altLang="zh-CN" sz="1000" b="1" dirty="0">
                <a:solidFill>
                  <a:srgbClr val="FFFFFF"/>
                </a:solidFill>
                <a:latin typeface="微软雅黑"/>
                <a:ea typeface="微软雅黑"/>
                <a:cs typeface="微软雅黑"/>
                <a:sym typeface="微软雅黑"/>
              </a:rPr>
              <a:t>PART 02</a:t>
            </a:r>
            <a:endParaRPr lang="en-US" altLang="zh-CN" sz="1000" b="1" dirty="0">
              <a:solidFill>
                <a:srgbClr val="FFFFFF"/>
              </a:solidFill>
              <a:latin typeface="微软雅黑"/>
              <a:ea typeface="微软雅黑"/>
              <a:cs typeface="微软雅黑"/>
              <a:sym typeface="微软雅黑"/>
            </a:endParaRPr>
          </a:p>
        </p:txBody>
      </p:sp>
      <p:sp>
        <p:nvSpPr>
          <p:cNvPr id="131" name="文本框 130"/>
          <p:cNvSpPr txBox="1"/>
          <p:nvPr/>
        </p:nvSpPr>
        <p:spPr>
          <a:xfrm>
            <a:off x="7238300" y="1622177"/>
            <a:ext cx="1846341" cy="245110"/>
          </a:xfrm>
          <a:prstGeom prst="rect">
            <a:avLst/>
          </a:prstGeom>
          <a:noFill/>
        </p:spPr>
        <p:txBody>
          <a:bodyPr wrap="square" lIns="0" rIns="0" tIns="0" bIns="0">
            <a:spAutoFit/>
          </a:bodyPr>
          <a:lstStyle/>
          <a:p>
            <a:pPr lvl="0" algn="ctr">
              <a:buClrTx/>
              <a:buSzTx/>
              <a:buFontTx/>
              <a:defRPr>
                <a:solidFill>
                  <a:srgbClr val="FFFFFF"/>
                </a:solidFill>
                <a:latin typeface="微软雅黑"/>
                <a:ea typeface="微软雅黑"/>
                <a:cs typeface="微软雅黑"/>
              </a:defRPr>
            </a:pPr>
            <a:r>
              <a:rPr lang="en-US" altLang="zh-CN" sz="1000" b="1" dirty="0">
                <a:solidFill>
                  <a:srgbClr val="FFFFFF"/>
                </a:solidFill>
                <a:latin typeface="微软雅黑"/>
                <a:ea typeface="微软雅黑"/>
                <a:cs typeface="微软雅黑"/>
                <a:sym typeface="微软雅黑"/>
              </a:rPr>
              <a:t>PART 03</a:t>
            </a:r>
            <a:endParaRPr lang="en-US" altLang="zh-CN" sz="1000" b="1" dirty="0">
              <a:solidFill>
                <a:srgbClr val="FFFFFF"/>
              </a:solidFill>
              <a:latin typeface="微软雅黑"/>
              <a:ea typeface="微软雅黑"/>
              <a:cs typeface="微软雅黑"/>
              <a:sym typeface="微软雅黑"/>
            </a:endParaRPr>
          </a:p>
        </p:txBody>
      </p:sp>
      <p:sp>
        <p:nvSpPr>
          <p:cNvPr id="132" name="文本框 131"/>
          <p:cNvSpPr txBox="1"/>
          <p:nvPr/>
        </p:nvSpPr>
        <p:spPr>
          <a:xfrm>
            <a:off x="9687534" y="1622177"/>
            <a:ext cx="1846341" cy="245110"/>
          </a:xfrm>
          <a:prstGeom prst="rect">
            <a:avLst/>
          </a:prstGeom>
          <a:noFill/>
        </p:spPr>
        <p:txBody>
          <a:bodyPr wrap="square" lIns="0" rIns="0" tIns="0" bIns="0">
            <a:spAutoFit/>
          </a:bodyPr>
          <a:lstStyle/>
          <a:p>
            <a:pPr lvl="0" algn="ctr">
              <a:buClrTx/>
              <a:buSzTx/>
              <a:buFontTx/>
              <a:defRPr>
                <a:solidFill>
                  <a:srgbClr val="FFFFFF"/>
                </a:solidFill>
                <a:latin typeface="微软雅黑"/>
                <a:ea typeface="微软雅黑"/>
                <a:cs typeface="微软雅黑"/>
              </a:defRPr>
            </a:pPr>
            <a:r>
              <a:rPr lang="en-US" altLang="zh-CN" sz="1000" b="1" dirty="0">
                <a:solidFill>
                  <a:srgbClr val="FFFFFF"/>
                </a:solidFill>
                <a:latin typeface="微软雅黑"/>
                <a:ea typeface="微软雅黑"/>
                <a:cs typeface="微软雅黑"/>
                <a:sym typeface="微软雅黑"/>
              </a:rPr>
              <a:t>PART 04</a:t>
            </a:r>
            <a:endParaRPr lang="en-US" altLang="zh-CN" sz="1000" b="1" dirty="0">
              <a:solidFill>
                <a:srgbClr val="FFFFFF"/>
              </a:solidFill>
              <a:latin typeface="微软雅黑"/>
              <a:ea typeface="微软雅黑"/>
              <a:cs typeface="微软雅黑"/>
              <a:sym typeface="微软雅黑"/>
            </a:endParaRPr>
          </a:p>
        </p:txBody>
      </p:sp>
      <p:sp>
        <p:nvSpPr>
          <p:cNvPr id="133" name="文本框 132"/>
          <p:cNvSpPr txBox="1"/>
          <p:nvPr/>
        </p:nvSpPr>
        <p:spPr>
          <a:xfrm>
            <a:off x="2233476" y="2765236"/>
            <a:ext cx="2052027" cy="461665"/>
          </a:xfrm>
          <a:prstGeom prst="rect">
            <a:avLst/>
          </a:prstGeom>
          <a:noFill/>
        </p:spPr>
        <p:txBody>
          <a:bodyPr wrap="squar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技术问题</a:t>
            </a:r>
            <a:endPar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信息过载沟通渠道不畅</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34" name="文本框 133"/>
          <p:cNvSpPr txBox="1"/>
          <p:nvPr/>
        </p:nvSpPr>
        <p:spPr>
          <a:xfrm>
            <a:off x="4686221" y="3271131"/>
            <a:ext cx="2052027" cy="630494"/>
          </a:xfrm>
          <a:prstGeom prst="rect">
            <a:avLst/>
          </a:prstGeom>
          <a:noFill/>
        </p:spPr>
        <p:txBody>
          <a:bodyPr wrap="square" rtlCol="0" lIns="0" rIns="0" t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使用软件自动化繁琐的重复性</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任务</a:t>
            </a:r>
            <a:r>
              <a:rPr lang="zh-CN" altLang="en-US" sz="1000" dirty="0">
                <a:solidFill>
                  <a:srgbClr val="383838"/>
                </a:solidFill>
                <a:latin typeface="微软雅黑"/>
                <a:ea typeface="微软雅黑"/>
                <a:cs typeface="微软雅黑"/>
              </a:rPr>
              <a:t>，</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减少不必要的文档工作，采用电子化管理</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5" name="文本框 134"/>
          <p:cNvSpPr txBox="1"/>
          <p:nvPr/>
        </p:nvSpPr>
        <p:spPr>
          <a:xfrm>
            <a:off x="4686221" y="2765236"/>
            <a:ext cx="2052027" cy="461665"/>
          </a:xfrm>
          <a:prstGeom prst="rect">
            <a:avLst/>
          </a:prstGeom>
          <a:noFill/>
        </p:spPr>
        <p:txBody>
          <a:bodyPr wrap="squar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过多的审批环节</a:t>
            </a:r>
            <a:endPar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缺乏明确的指导</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36" name="文本框 135"/>
          <p:cNvSpPr txBox="1"/>
          <p:nvPr/>
        </p:nvSpPr>
        <p:spPr>
          <a:xfrm>
            <a:off x="7097395" y="3270885"/>
            <a:ext cx="2131060" cy="645160"/>
          </a:xfrm>
          <a:prstGeom prst="rect">
            <a:avLst/>
          </a:prstGeom>
          <a:noFill/>
        </p:spPr>
        <p:txBody>
          <a:bodyPr wrap="square" rtlCol="0" lIns="0" rIns="0" t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使用甘特图、任务看板等工具监</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控项目进展，及时调整工作计划及时评估其对项目进度的潜在影响</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7" name="文本框 136"/>
          <p:cNvSpPr txBox="1"/>
          <p:nvPr/>
        </p:nvSpPr>
        <p:spPr>
          <a:xfrm>
            <a:off x="7142476" y="2765236"/>
            <a:ext cx="2052027" cy="461665"/>
          </a:xfrm>
          <a:prstGeom prst="rect">
            <a:avLst/>
          </a:prstGeom>
          <a:noFill/>
        </p:spPr>
        <p:txBody>
          <a:bodyPr wrap="squar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制定详细的项目计划</a:t>
            </a:r>
            <a:endPar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确定关键路径和关键活动</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38" name="文本框 137"/>
          <p:cNvSpPr txBox="1"/>
          <p:nvPr/>
        </p:nvSpPr>
        <p:spPr>
          <a:xfrm>
            <a:off x="9530080" y="3270885"/>
            <a:ext cx="2121535" cy="645160"/>
          </a:xfrm>
          <a:prstGeom prst="rect">
            <a:avLst/>
          </a:prstGeom>
          <a:noFill/>
        </p:spPr>
        <p:txBody>
          <a:bodyPr wrap="square" rtlCol="0" lIns="0" rIns="0" t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确保所有部门都朝着组织的整体</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目标努力，设定明确的项目目标和阶段性里程碑来保持团队一致性</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9" name="文本框 138"/>
          <p:cNvSpPr txBox="1"/>
          <p:nvPr/>
        </p:nvSpPr>
        <p:spPr>
          <a:xfrm>
            <a:off x="9598731" y="2765236"/>
            <a:ext cx="2052027" cy="461665"/>
          </a:xfrm>
          <a:prstGeom prst="rect">
            <a:avLst/>
          </a:prstGeom>
          <a:noFill/>
        </p:spPr>
        <p:txBody>
          <a:bodyPr wrap="squar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明确共同目标</a:t>
            </a:r>
            <a:endPar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建立清晰的沟通渠道</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51" name="组合 50"/>
          <p:cNvGrpSpPr/>
          <p:nvPr/>
        </p:nvGrpSpPr>
        <p:grpSpPr>
          <a:xfrm>
            <a:off x="1080067" y="4626400"/>
            <a:ext cx="239764" cy="254016"/>
            <a:chOff x="1048202" y="4467000"/>
            <a:chExt cx="239764" cy="254016"/>
          </a:xfrm>
          <a:solidFill>
            <a:srgbClr val="3368FF"/>
          </a:solidFill>
        </p:grpSpPr>
        <p:sp>
          <p:nvSpPr>
            <p:cNvPr id="52" name="任意多边形: 形状 38"/>
            <p:cNvSpPr/>
            <p:nvPr/>
          </p:nvSpPr>
          <p:spPr>
            <a:xfrm>
              <a:off x="1048202" y="4467000"/>
              <a:ext cx="239764" cy="254016"/>
            </a:xfrm>
            <a:custGeom>
              <a:avLst/>
              <a:gdLst>
                <a:gd name="connsiteX0" fmla="*/ 239705 w 239764"/>
                <a:gd name="connsiteY0" fmla="*/ 104630 h 254016"/>
                <a:gd name="connsiteX1" fmla="*/ 238366 w 239764"/>
                <a:gd name="connsiteY1" fmla="*/ 97547 h 254016"/>
                <a:gd name="connsiteX2" fmla="*/ 231402 w 239764"/>
                <a:gd name="connsiteY2" fmla="*/ 93530 h 254016"/>
                <a:gd name="connsiteX3" fmla="*/ 231134 w 239764"/>
                <a:gd name="connsiteY3" fmla="*/ 93530 h 254016"/>
                <a:gd name="connsiteX4" fmla="*/ 225272 w 239764"/>
                <a:gd name="connsiteY4" fmla="*/ 95702 h 254016"/>
                <a:gd name="connsiteX5" fmla="*/ 222683 w 239764"/>
                <a:gd name="connsiteY5" fmla="*/ 104779 h 254016"/>
                <a:gd name="connsiteX6" fmla="*/ 222713 w 239764"/>
                <a:gd name="connsiteY6" fmla="*/ 132722 h 254016"/>
                <a:gd name="connsiteX7" fmla="*/ 222802 w 239764"/>
                <a:gd name="connsiteY7" fmla="*/ 171854 h 254016"/>
                <a:gd name="connsiteX8" fmla="*/ 219558 w 239764"/>
                <a:gd name="connsiteY8" fmla="*/ 177865 h 254016"/>
                <a:gd name="connsiteX9" fmla="*/ 155519 w 239764"/>
                <a:gd name="connsiteY9" fmla="*/ 213842 h 254016"/>
                <a:gd name="connsiteX10" fmla="*/ 126266 w 239764"/>
                <a:gd name="connsiteY10" fmla="*/ 230329 h 254016"/>
                <a:gd name="connsiteX11" fmla="*/ 125225 w 239764"/>
                <a:gd name="connsiteY11" fmla="*/ 230983 h 254016"/>
                <a:gd name="connsiteX12" fmla="*/ 124749 w 239764"/>
                <a:gd name="connsiteY12" fmla="*/ 231281 h 254016"/>
                <a:gd name="connsiteX13" fmla="*/ 124749 w 239764"/>
                <a:gd name="connsiteY13" fmla="*/ 206105 h 254016"/>
                <a:gd name="connsiteX14" fmla="*/ 124600 w 239764"/>
                <a:gd name="connsiteY14" fmla="*/ 132097 h 254016"/>
                <a:gd name="connsiteX15" fmla="*/ 128439 w 239764"/>
                <a:gd name="connsiteY15" fmla="*/ 125788 h 254016"/>
                <a:gd name="connsiteX16" fmla="*/ 223278 w 239764"/>
                <a:gd name="connsiteY16" fmla="*/ 72134 h 254016"/>
                <a:gd name="connsiteX17" fmla="*/ 225183 w 239764"/>
                <a:gd name="connsiteY17" fmla="*/ 71182 h 254016"/>
                <a:gd name="connsiteX18" fmla="*/ 232235 w 239764"/>
                <a:gd name="connsiteY18" fmla="*/ 61867 h 254016"/>
                <a:gd name="connsiteX19" fmla="*/ 224558 w 239764"/>
                <a:gd name="connsiteY19" fmla="*/ 53267 h 254016"/>
                <a:gd name="connsiteX20" fmla="*/ 222504 w 239764"/>
                <a:gd name="connsiteY20" fmla="*/ 52345 h 254016"/>
                <a:gd name="connsiteX21" fmla="*/ 202299 w 239764"/>
                <a:gd name="connsiteY21" fmla="*/ 42167 h 254016"/>
                <a:gd name="connsiteX22" fmla="*/ 182123 w 239764"/>
                <a:gd name="connsiteY22" fmla="*/ 32020 h 254016"/>
                <a:gd name="connsiteX23" fmla="*/ 136831 w 239764"/>
                <a:gd name="connsiteY23" fmla="*/ 8898 h 254016"/>
                <a:gd name="connsiteX24" fmla="*/ 119868 w 239764"/>
                <a:gd name="connsiteY24" fmla="*/ 238 h 254016"/>
                <a:gd name="connsiteX25" fmla="*/ 119392 w 239764"/>
                <a:gd name="connsiteY25" fmla="*/ 0 h 254016"/>
                <a:gd name="connsiteX26" fmla="*/ 112518 w 239764"/>
                <a:gd name="connsiteY26" fmla="*/ 0 h 254016"/>
                <a:gd name="connsiteX27" fmla="*/ 111834 w 239764"/>
                <a:gd name="connsiteY27" fmla="*/ 1012 h 254016"/>
                <a:gd name="connsiteX28" fmla="*/ 109483 w 239764"/>
                <a:gd name="connsiteY28" fmla="*/ 2440 h 254016"/>
                <a:gd name="connsiteX29" fmla="*/ 107935 w 239764"/>
                <a:gd name="connsiteY29" fmla="*/ 3095 h 254016"/>
                <a:gd name="connsiteX30" fmla="*/ 91717 w 239764"/>
                <a:gd name="connsiteY30" fmla="*/ 11278 h 254016"/>
                <a:gd name="connsiteX31" fmla="*/ 9346 w 239764"/>
                <a:gd name="connsiteY31" fmla="*/ 52464 h 254016"/>
                <a:gd name="connsiteX32" fmla="*/ 2 w 239764"/>
                <a:gd name="connsiteY32" fmla="*/ 67789 h 254016"/>
                <a:gd name="connsiteX33" fmla="*/ 2 w 239764"/>
                <a:gd name="connsiteY33" fmla="*/ 175722 h 254016"/>
                <a:gd name="connsiteX34" fmla="*/ 8632 w 239764"/>
                <a:gd name="connsiteY34" fmla="*/ 190899 h 254016"/>
                <a:gd name="connsiteX35" fmla="*/ 110703 w 239764"/>
                <a:gd name="connsiteY35" fmla="*/ 252379 h 254016"/>
                <a:gd name="connsiteX36" fmla="*/ 116059 w 239764"/>
                <a:gd name="connsiteY36" fmla="*/ 254016 h 254016"/>
                <a:gd name="connsiteX37" fmla="*/ 121862 w 239764"/>
                <a:gd name="connsiteY37" fmla="*/ 252290 h 254016"/>
                <a:gd name="connsiteX38" fmla="*/ 232801 w 239764"/>
                <a:gd name="connsiteY38" fmla="*/ 189679 h 254016"/>
                <a:gd name="connsiteX39" fmla="*/ 239764 w 239764"/>
                <a:gd name="connsiteY39" fmla="*/ 178162 h 254016"/>
                <a:gd name="connsiteX40" fmla="*/ 239705 w 239764"/>
                <a:gd name="connsiteY40" fmla="*/ 104630 h 254016"/>
                <a:gd name="connsiteX41" fmla="*/ 107757 w 239764"/>
                <a:gd name="connsiteY41" fmla="*/ 201642 h 254016"/>
                <a:gd name="connsiteX42" fmla="*/ 107757 w 239764"/>
                <a:gd name="connsiteY42" fmla="*/ 230745 h 254016"/>
                <a:gd name="connsiteX43" fmla="*/ 87581 w 239764"/>
                <a:gd name="connsiteY43" fmla="*/ 218395 h 254016"/>
                <a:gd name="connsiteX44" fmla="*/ 31338 w 239764"/>
                <a:gd name="connsiteY44" fmla="*/ 185185 h 254016"/>
                <a:gd name="connsiteX45" fmla="*/ 16548 w 239764"/>
                <a:gd name="connsiteY45" fmla="*/ 158611 h 254016"/>
                <a:gd name="connsiteX46" fmla="*/ 17113 w 239764"/>
                <a:gd name="connsiteY46" fmla="*/ 104035 h 254016"/>
                <a:gd name="connsiteX47" fmla="*/ 16964 w 239764"/>
                <a:gd name="connsiteY47" fmla="*/ 80020 h 254016"/>
                <a:gd name="connsiteX48" fmla="*/ 16875 w 239764"/>
                <a:gd name="connsiteY48" fmla="*/ 78264 h 254016"/>
                <a:gd name="connsiteX49" fmla="*/ 16816 w 239764"/>
                <a:gd name="connsiteY49" fmla="*/ 76389 h 254016"/>
                <a:gd name="connsiteX50" fmla="*/ 17589 w 239764"/>
                <a:gd name="connsiteY50" fmla="*/ 76925 h 254016"/>
                <a:gd name="connsiteX51" fmla="*/ 18750 w 239764"/>
                <a:gd name="connsiteY51" fmla="*/ 77699 h 254016"/>
                <a:gd name="connsiteX52" fmla="*/ 57525 w 239764"/>
                <a:gd name="connsiteY52" fmla="*/ 99630 h 254016"/>
                <a:gd name="connsiteX53" fmla="*/ 104602 w 239764"/>
                <a:gd name="connsiteY53" fmla="*/ 126234 h 254016"/>
                <a:gd name="connsiteX54" fmla="*/ 107876 w 239764"/>
                <a:gd name="connsiteY54" fmla="*/ 130906 h 254016"/>
                <a:gd name="connsiteX55" fmla="*/ 107757 w 239764"/>
                <a:gd name="connsiteY55" fmla="*/ 201642 h 254016"/>
                <a:gd name="connsiteX56" fmla="*/ 117636 w 239764"/>
                <a:gd name="connsiteY56" fmla="*/ 113022 h 254016"/>
                <a:gd name="connsiteX57" fmla="*/ 116357 w 239764"/>
                <a:gd name="connsiteY57" fmla="*/ 113438 h 254016"/>
                <a:gd name="connsiteX58" fmla="*/ 114095 w 239764"/>
                <a:gd name="connsiteY58" fmla="*/ 112516 h 254016"/>
                <a:gd name="connsiteX59" fmla="*/ 26338 w 239764"/>
                <a:gd name="connsiteY59" fmla="*/ 62760 h 254016"/>
                <a:gd name="connsiteX60" fmla="*/ 27439 w 239764"/>
                <a:gd name="connsiteY60" fmla="*/ 62314 h 254016"/>
                <a:gd name="connsiteX61" fmla="*/ 73386 w 239764"/>
                <a:gd name="connsiteY61" fmla="*/ 39281 h 254016"/>
                <a:gd name="connsiteX62" fmla="*/ 112786 w 239764"/>
                <a:gd name="connsiteY62" fmla="*/ 19521 h 254016"/>
                <a:gd name="connsiteX63" fmla="*/ 116446 w 239764"/>
                <a:gd name="connsiteY63" fmla="*/ 18331 h 254016"/>
                <a:gd name="connsiteX64" fmla="*/ 118916 w 239764"/>
                <a:gd name="connsiteY64" fmla="*/ 19015 h 254016"/>
                <a:gd name="connsiteX65" fmla="*/ 186556 w 239764"/>
                <a:gd name="connsiteY65" fmla="*/ 53089 h 254016"/>
                <a:gd name="connsiteX66" fmla="*/ 205870 w 239764"/>
                <a:gd name="connsiteY66" fmla="*/ 62760 h 254016"/>
                <a:gd name="connsiteX67" fmla="*/ 206048 w 239764"/>
                <a:gd name="connsiteY67" fmla="*/ 62849 h 254016"/>
                <a:gd name="connsiteX68" fmla="*/ 187122 w 239764"/>
                <a:gd name="connsiteY68" fmla="*/ 73562 h 254016"/>
                <a:gd name="connsiteX69" fmla="*/ 117636 w 239764"/>
                <a:gd name="connsiteY69" fmla="*/ 113022 h 25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39764" h="254016">
                  <a:moveTo>
                    <a:pt x="239705" y="104630"/>
                  </a:moveTo>
                  <a:cubicBezTo>
                    <a:pt x="239705" y="101475"/>
                    <a:pt x="239288" y="99303"/>
                    <a:pt x="238366" y="97547"/>
                  </a:cubicBezTo>
                  <a:cubicBezTo>
                    <a:pt x="237443" y="95762"/>
                    <a:pt x="235479" y="93619"/>
                    <a:pt x="231402" y="93530"/>
                  </a:cubicBezTo>
                  <a:lnTo>
                    <a:pt x="231134" y="93530"/>
                  </a:lnTo>
                  <a:cubicBezTo>
                    <a:pt x="228664" y="93530"/>
                    <a:pt x="226700" y="94244"/>
                    <a:pt x="225272" y="95702"/>
                  </a:cubicBezTo>
                  <a:cubicBezTo>
                    <a:pt x="222951" y="98024"/>
                    <a:pt x="222653" y="101595"/>
                    <a:pt x="222683" y="104779"/>
                  </a:cubicBezTo>
                  <a:cubicBezTo>
                    <a:pt x="222713" y="114093"/>
                    <a:pt x="222713" y="123556"/>
                    <a:pt x="222713" y="132722"/>
                  </a:cubicBezTo>
                  <a:cubicBezTo>
                    <a:pt x="222713" y="145547"/>
                    <a:pt x="222713" y="158820"/>
                    <a:pt x="222802" y="171854"/>
                  </a:cubicBezTo>
                  <a:cubicBezTo>
                    <a:pt x="222832" y="175157"/>
                    <a:pt x="222118" y="176436"/>
                    <a:pt x="219558" y="177865"/>
                  </a:cubicBezTo>
                  <a:cubicBezTo>
                    <a:pt x="198162" y="189798"/>
                    <a:pt x="176498" y="202028"/>
                    <a:pt x="155519" y="213842"/>
                  </a:cubicBezTo>
                  <a:cubicBezTo>
                    <a:pt x="145937" y="219258"/>
                    <a:pt x="136027" y="224853"/>
                    <a:pt x="126266" y="230329"/>
                  </a:cubicBezTo>
                  <a:cubicBezTo>
                    <a:pt x="125880" y="230537"/>
                    <a:pt x="125552" y="230775"/>
                    <a:pt x="125225" y="230983"/>
                  </a:cubicBezTo>
                  <a:cubicBezTo>
                    <a:pt x="125046" y="231102"/>
                    <a:pt x="124897" y="231191"/>
                    <a:pt x="124749" y="231281"/>
                  </a:cubicBezTo>
                  <a:lnTo>
                    <a:pt x="124749" y="206105"/>
                  </a:lnTo>
                  <a:cubicBezTo>
                    <a:pt x="124778" y="181852"/>
                    <a:pt x="124778" y="156766"/>
                    <a:pt x="124600" y="132097"/>
                  </a:cubicBezTo>
                  <a:cubicBezTo>
                    <a:pt x="124570" y="128823"/>
                    <a:pt x="125403" y="127484"/>
                    <a:pt x="128439" y="125788"/>
                  </a:cubicBezTo>
                  <a:cubicBezTo>
                    <a:pt x="161202" y="107397"/>
                    <a:pt x="193401" y="89126"/>
                    <a:pt x="223278" y="72134"/>
                  </a:cubicBezTo>
                  <a:cubicBezTo>
                    <a:pt x="223844" y="71807"/>
                    <a:pt x="224498" y="71509"/>
                    <a:pt x="225183" y="71182"/>
                  </a:cubicBezTo>
                  <a:cubicBezTo>
                    <a:pt x="228307" y="69694"/>
                    <a:pt x="232563" y="67640"/>
                    <a:pt x="232235" y="61867"/>
                  </a:cubicBezTo>
                  <a:cubicBezTo>
                    <a:pt x="231908" y="56392"/>
                    <a:pt x="227653" y="54577"/>
                    <a:pt x="224558" y="53267"/>
                  </a:cubicBezTo>
                  <a:cubicBezTo>
                    <a:pt x="223814" y="52970"/>
                    <a:pt x="223129" y="52672"/>
                    <a:pt x="222504" y="52345"/>
                  </a:cubicBezTo>
                  <a:cubicBezTo>
                    <a:pt x="215779" y="48922"/>
                    <a:pt x="208935" y="45500"/>
                    <a:pt x="202299" y="42167"/>
                  </a:cubicBezTo>
                  <a:cubicBezTo>
                    <a:pt x="195662" y="38864"/>
                    <a:pt x="188818" y="35442"/>
                    <a:pt x="182123" y="32020"/>
                  </a:cubicBezTo>
                  <a:cubicBezTo>
                    <a:pt x="167005" y="24342"/>
                    <a:pt x="151680" y="16486"/>
                    <a:pt x="136831" y="8898"/>
                  </a:cubicBezTo>
                  <a:lnTo>
                    <a:pt x="119868" y="238"/>
                  </a:lnTo>
                  <a:lnTo>
                    <a:pt x="119392" y="0"/>
                  </a:lnTo>
                  <a:lnTo>
                    <a:pt x="112518" y="0"/>
                  </a:lnTo>
                  <a:lnTo>
                    <a:pt x="111834" y="1012"/>
                  </a:lnTo>
                  <a:cubicBezTo>
                    <a:pt x="111417" y="1637"/>
                    <a:pt x="110673" y="1964"/>
                    <a:pt x="109483" y="2440"/>
                  </a:cubicBezTo>
                  <a:cubicBezTo>
                    <a:pt x="108977" y="2648"/>
                    <a:pt x="108471" y="2857"/>
                    <a:pt x="107935" y="3095"/>
                  </a:cubicBezTo>
                  <a:cubicBezTo>
                    <a:pt x="102519" y="5833"/>
                    <a:pt x="97133" y="8541"/>
                    <a:pt x="91717" y="11278"/>
                  </a:cubicBezTo>
                  <a:cubicBezTo>
                    <a:pt x="64756" y="24878"/>
                    <a:pt x="36902" y="38953"/>
                    <a:pt x="9346" y="52464"/>
                  </a:cubicBezTo>
                  <a:cubicBezTo>
                    <a:pt x="2562" y="55767"/>
                    <a:pt x="-57" y="60082"/>
                    <a:pt x="2" y="67789"/>
                  </a:cubicBezTo>
                  <a:cubicBezTo>
                    <a:pt x="330" y="103588"/>
                    <a:pt x="330" y="139923"/>
                    <a:pt x="2" y="175722"/>
                  </a:cubicBezTo>
                  <a:cubicBezTo>
                    <a:pt x="-87" y="182805"/>
                    <a:pt x="2413" y="187179"/>
                    <a:pt x="8632" y="190899"/>
                  </a:cubicBezTo>
                  <a:cubicBezTo>
                    <a:pt x="43747" y="211819"/>
                    <a:pt x="78326" y="232739"/>
                    <a:pt x="110703" y="252379"/>
                  </a:cubicBezTo>
                  <a:cubicBezTo>
                    <a:pt x="112518" y="253480"/>
                    <a:pt x="114274" y="254016"/>
                    <a:pt x="116059" y="254016"/>
                  </a:cubicBezTo>
                  <a:cubicBezTo>
                    <a:pt x="117875" y="254016"/>
                    <a:pt x="119720" y="253451"/>
                    <a:pt x="121862" y="252290"/>
                  </a:cubicBezTo>
                  <a:cubicBezTo>
                    <a:pt x="152156" y="235120"/>
                    <a:pt x="192151" y="212474"/>
                    <a:pt x="232801" y="189679"/>
                  </a:cubicBezTo>
                  <a:cubicBezTo>
                    <a:pt x="237741" y="186911"/>
                    <a:pt x="239794" y="183459"/>
                    <a:pt x="239764" y="178162"/>
                  </a:cubicBezTo>
                  <a:cubicBezTo>
                    <a:pt x="239615" y="153612"/>
                    <a:pt x="239675" y="128704"/>
                    <a:pt x="239705" y="104630"/>
                  </a:cubicBezTo>
                  <a:close/>
                  <a:moveTo>
                    <a:pt x="107757" y="201642"/>
                  </a:moveTo>
                  <a:lnTo>
                    <a:pt x="107757" y="230745"/>
                  </a:lnTo>
                  <a:cubicBezTo>
                    <a:pt x="100942" y="226609"/>
                    <a:pt x="94157" y="222443"/>
                    <a:pt x="87581" y="218395"/>
                  </a:cubicBezTo>
                  <a:cubicBezTo>
                    <a:pt x="68446" y="206641"/>
                    <a:pt x="50353" y="195541"/>
                    <a:pt x="31338" y="185185"/>
                  </a:cubicBezTo>
                  <a:cubicBezTo>
                    <a:pt x="19732" y="178877"/>
                    <a:pt x="15863" y="171913"/>
                    <a:pt x="16548" y="158611"/>
                  </a:cubicBezTo>
                  <a:cubicBezTo>
                    <a:pt x="17470" y="140429"/>
                    <a:pt x="17292" y="121949"/>
                    <a:pt x="17113" y="104035"/>
                  </a:cubicBezTo>
                  <a:cubicBezTo>
                    <a:pt x="17024" y="96149"/>
                    <a:pt x="16935" y="88025"/>
                    <a:pt x="16964" y="80020"/>
                  </a:cubicBezTo>
                  <a:cubicBezTo>
                    <a:pt x="16964" y="79425"/>
                    <a:pt x="16905" y="78829"/>
                    <a:pt x="16875" y="78264"/>
                  </a:cubicBezTo>
                  <a:cubicBezTo>
                    <a:pt x="16816" y="77520"/>
                    <a:pt x="16786" y="76895"/>
                    <a:pt x="16816" y="76389"/>
                  </a:cubicBezTo>
                  <a:cubicBezTo>
                    <a:pt x="17054" y="76538"/>
                    <a:pt x="17292" y="76717"/>
                    <a:pt x="17589" y="76925"/>
                  </a:cubicBezTo>
                  <a:cubicBezTo>
                    <a:pt x="17947" y="77163"/>
                    <a:pt x="18333" y="77431"/>
                    <a:pt x="18750" y="77699"/>
                  </a:cubicBezTo>
                  <a:cubicBezTo>
                    <a:pt x="31695" y="84989"/>
                    <a:pt x="44818" y="92429"/>
                    <a:pt x="57525" y="99630"/>
                  </a:cubicBezTo>
                  <a:cubicBezTo>
                    <a:pt x="72940" y="108350"/>
                    <a:pt x="88890" y="117396"/>
                    <a:pt x="104602" y="126234"/>
                  </a:cubicBezTo>
                  <a:cubicBezTo>
                    <a:pt x="107162" y="127663"/>
                    <a:pt x="107906" y="128466"/>
                    <a:pt x="107876" y="130906"/>
                  </a:cubicBezTo>
                  <a:cubicBezTo>
                    <a:pt x="107757" y="154475"/>
                    <a:pt x="107757" y="178460"/>
                    <a:pt x="107757" y="201642"/>
                  </a:cubicBezTo>
                  <a:close/>
                  <a:moveTo>
                    <a:pt x="117636" y="113022"/>
                  </a:moveTo>
                  <a:cubicBezTo>
                    <a:pt x="117131" y="113289"/>
                    <a:pt x="116714" y="113438"/>
                    <a:pt x="116357" y="113438"/>
                  </a:cubicBezTo>
                  <a:cubicBezTo>
                    <a:pt x="115762" y="113438"/>
                    <a:pt x="115048" y="113051"/>
                    <a:pt x="114095" y="112516"/>
                  </a:cubicBezTo>
                  <a:cubicBezTo>
                    <a:pt x="84635" y="95821"/>
                    <a:pt x="55025" y="79038"/>
                    <a:pt x="26338" y="62760"/>
                  </a:cubicBezTo>
                  <a:cubicBezTo>
                    <a:pt x="26666" y="62641"/>
                    <a:pt x="27053" y="62492"/>
                    <a:pt x="27439" y="62314"/>
                  </a:cubicBezTo>
                  <a:cubicBezTo>
                    <a:pt x="42735" y="54606"/>
                    <a:pt x="58328" y="46810"/>
                    <a:pt x="73386" y="39281"/>
                  </a:cubicBezTo>
                  <a:cubicBezTo>
                    <a:pt x="86301" y="32823"/>
                    <a:pt x="99663" y="26128"/>
                    <a:pt x="112786" y="19521"/>
                  </a:cubicBezTo>
                  <a:cubicBezTo>
                    <a:pt x="114244" y="18777"/>
                    <a:pt x="115375" y="18331"/>
                    <a:pt x="116446" y="18331"/>
                  </a:cubicBezTo>
                  <a:cubicBezTo>
                    <a:pt x="117220" y="18331"/>
                    <a:pt x="117994" y="18539"/>
                    <a:pt x="118916" y="19015"/>
                  </a:cubicBezTo>
                  <a:cubicBezTo>
                    <a:pt x="141413" y="30472"/>
                    <a:pt x="164357" y="41989"/>
                    <a:pt x="186556" y="53089"/>
                  </a:cubicBezTo>
                  <a:cubicBezTo>
                    <a:pt x="192984" y="56303"/>
                    <a:pt x="199442" y="59546"/>
                    <a:pt x="205870" y="62760"/>
                  </a:cubicBezTo>
                  <a:lnTo>
                    <a:pt x="206048" y="62849"/>
                  </a:lnTo>
                  <a:lnTo>
                    <a:pt x="187122" y="73562"/>
                  </a:lnTo>
                  <a:cubicBezTo>
                    <a:pt x="164357" y="86448"/>
                    <a:pt x="140788" y="99809"/>
                    <a:pt x="117636" y="113022"/>
                  </a:cubicBezTo>
                  <a:close/>
                </a:path>
              </a:pathLst>
            </a:cu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61" name="任意多边形: 形状 39"/>
            <p:cNvSpPr/>
            <p:nvPr/>
          </p:nvSpPr>
          <p:spPr>
            <a:xfrm>
              <a:off x="1077242" y="4567761"/>
              <a:ext cx="52503" cy="38179"/>
            </a:xfrm>
            <a:custGeom>
              <a:avLst/>
              <a:gdLst>
                <a:gd name="connsiteX0" fmla="*/ 44585 w 52503"/>
                <a:gd name="connsiteY0" fmla="*/ 38180 h 38179"/>
                <a:gd name="connsiteX1" fmla="*/ 37651 w 52503"/>
                <a:gd name="connsiteY1" fmla="*/ 35680 h 38179"/>
                <a:gd name="connsiteX2" fmla="*/ 20004 w 52503"/>
                <a:gd name="connsiteY2" fmla="*/ 25086 h 38179"/>
                <a:gd name="connsiteX3" fmla="*/ 4947 w 52503"/>
                <a:gd name="connsiteY3" fmla="*/ 16040 h 38179"/>
                <a:gd name="connsiteX4" fmla="*/ 334 w 52503"/>
                <a:gd name="connsiteY4" fmla="*/ 6100 h 38179"/>
                <a:gd name="connsiteX5" fmla="*/ 8369 w 52503"/>
                <a:gd name="connsiteY5" fmla="*/ 30 h 38179"/>
                <a:gd name="connsiteX6" fmla="*/ 8964 w 52503"/>
                <a:gd name="connsiteY6" fmla="*/ 0 h 38179"/>
                <a:gd name="connsiteX7" fmla="*/ 14053 w 52503"/>
                <a:gd name="connsiteY7" fmla="*/ 1964 h 38179"/>
                <a:gd name="connsiteX8" fmla="*/ 14529 w 52503"/>
                <a:gd name="connsiteY8" fmla="*/ 2262 h 38179"/>
                <a:gd name="connsiteX9" fmla="*/ 46102 w 52503"/>
                <a:gd name="connsiteY9" fmla="*/ 21218 h 38179"/>
                <a:gd name="connsiteX10" fmla="*/ 51429 w 52503"/>
                <a:gd name="connsiteY10" fmla="*/ 25771 h 38179"/>
                <a:gd name="connsiteX11" fmla="*/ 51132 w 52503"/>
                <a:gd name="connsiteY11" fmla="*/ 33924 h 38179"/>
                <a:gd name="connsiteX12" fmla="*/ 44585 w 52503"/>
                <a:gd name="connsiteY12" fmla="*/ 38180 h 3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503" h="38179">
                  <a:moveTo>
                    <a:pt x="44585" y="38180"/>
                  </a:moveTo>
                  <a:cubicBezTo>
                    <a:pt x="42115" y="38180"/>
                    <a:pt x="39704" y="36930"/>
                    <a:pt x="37651" y="35680"/>
                  </a:cubicBezTo>
                  <a:cubicBezTo>
                    <a:pt x="31789" y="32139"/>
                    <a:pt x="25807" y="28538"/>
                    <a:pt x="20004" y="25086"/>
                  </a:cubicBezTo>
                  <a:cubicBezTo>
                    <a:pt x="15065" y="22140"/>
                    <a:pt x="9946" y="19075"/>
                    <a:pt x="4947" y="16040"/>
                  </a:cubicBezTo>
                  <a:cubicBezTo>
                    <a:pt x="-231" y="12945"/>
                    <a:pt x="-439" y="8927"/>
                    <a:pt x="334" y="6100"/>
                  </a:cubicBezTo>
                  <a:cubicBezTo>
                    <a:pt x="1019" y="3452"/>
                    <a:pt x="2983" y="268"/>
                    <a:pt x="8369" y="30"/>
                  </a:cubicBezTo>
                  <a:cubicBezTo>
                    <a:pt x="8577" y="0"/>
                    <a:pt x="8786" y="0"/>
                    <a:pt x="8964" y="0"/>
                  </a:cubicBezTo>
                  <a:cubicBezTo>
                    <a:pt x="10869" y="0"/>
                    <a:pt x="12565" y="1042"/>
                    <a:pt x="14053" y="1964"/>
                  </a:cubicBezTo>
                  <a:cubicBezTo>
                    <a:pt x="14202" y="2053"/>
                    <a:pt x="14350" y="2143"/>
                    <a:pt x="14529" y="2262"/>
                  </a:cubicBezTo>
                  <a:cubicBezTo>
                    <a:pt x="25123" y="8630"/>
                    <a:pt x="35806" y="15028"/>
                    <a:pt x="46102" y="21218"/>
                  </a:cubicBezTo>
                  <a:cubicBezTo>
                    <a:pt x="48007" y="22378"/>
                    <a:pt x="50150" y="23777"/>
                    <a:pt x="51429" y="25771"/>
                  </a:cubicBezTo>
                  <a:cubicBezTo>
                    <a:pt x="52500" y="27467"/>
                    <a:pt x="53304" y="30234"/>
                    <a:pt x="51132" y="33924"/>
                  </a:cubicBezTo>
                  <a:cubicBezTo>
                    <a:pt x="49495" y="36751"/>
                    <a:pt x="47293" y="38180"/>
                    <a:pt x="44585" y="38180"/>
                  </a:cubicBezTo>
                  <a:close/>
                </a:path>
              </a:pathLst>
            </a:cu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grpSp>
      <p:grpSp>
        <p:nvGrpSpPr>
          <p:cNvPr id="74" name="组合 73"/>
          <p:cNvGrpSpPr/>
          <p:nvPr/>
        </p:nvGrpSpPr>
        <p:grpSpPr>
          <a:xfrm>
            <a:off x="1104540" y="2093817"/>
            <a:ext cx="215292" cy="201560"/>
            <a:chOff x="-753007" y="7477236"/>
            <a:chExt cx="1729940" cy="1619621"/>
          </a:xfrm>
          <a:solidFill>
            <a:srgbClr val="0042FF"/>
          </a:solidFill>
        </p:grpSpPr>
        <p:sp>
          <p:nvSpPr>
            <p:cNvPr id="75" name="任意多边形: 形状 42"/>
            <p:cNvSpPr/>
            <p:nvPr/>
          </p:nvSpPr>
          <p:spPr>
            <a:xfrm>
              <a:off x="-753007" y="7477236"/>
              <a:ext cx="1729940" cy="468064"/>
            </a:xfrm>
            <a:custGeom>
              <a:avLst/>
              <a:gdLst>
                <a:gd name="connsiteX0" fmla="*/ 1696455 w 1729940"/>
                <a:gd name="connsiteY0" fmla="*/ 468064 h 468064"/>
                <a:gd name="connsiteX1" fmla="*/ 33486 w 1729940"/>
                <a:gd name="connsiteY1" fmla="*/ 468064 h 468064"/>
                <a:gd name="connsiteX2" fmla="*/ 0 w 1729940"/>
                <a:gd name="connsiteY2" fmla="*/ 434578 h 468064"/>
                <a:gd name="connsiteX3" fmla="*/ 0 w 1729940"/>
                <a:gd name="connsiteY3" fmla="*/ 33486 h 468064"/>
                <a:gd name="connsiteX4" fmla="*/ 33486 w 1729940"/>
                <a:gd name="connsiteY4" fmla="*/ 0 h 468064"/>
                <a:gd name="connsiteX5" fmla="*/ 1696455 w 1729940"/>
                <a:gd name="connsiteY5" fmla="*/ 0 h 468064"/>
                <a:gd name="connsiteX6" fmla="*/ 1729941 w 1729940"/>
                <a:gd name="connsiteY6" fmla="*/ 33486 h 468064"/>
                <a:gd name="connsiteX7" fmla="*/ 1729941 w 1729940"/>
                <a:gd name="connsiteY7" fmla="*/ 434578 h 468064"/>
                <a:gd name="connsiteX8" fmla="*/ 1696455 w 1729940"/>
                <a:gd name="connsiteY8" fmla="*/ 468064 h 468064"/>
                <a:gd name="connsiteX9" fmla="*/ 66973 w 1729940"/>
                <a:gd name="connsiteY9" fmla="*/ 401092 h 468064"/>
                <a:gd name="connsiteX10" fmla="*/ 1662968 w 1729940"/>
                <a:gd name="connsiteY10" fmla="*/ 401092 h 468064"/>
                <a:gd name="connsiteX11" fmla="*/ 1662968 w 1729940"/>
                <a:gd name="connsiteY11" fmla="*/ 66973 h 468064"/>
                <a:gd name="connsiteX12" fmla="*/ 66973 w 1729940"/>
                <a:gd name="connsiteY12" fmla="*/ 66973 h 468064"/>
                <a:gd name="connsiteX13" fmla="*/ 66973 w 1729940"/>
                <a:gd name="connsiteY13" fmla="*/ 401092 h 46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9940" h="468064">
                  <a:moveTo>
                    <a:pt x="1696455" y="468064"/>
                  </a:moveTo>
                  <a:lnTo>
                    <a:pt x="33486" y="468064"/>
                  </a:lnTo>
                  <a:cubicBezTo>
                    <a:pt x="15069" y="468064"/>
                    <a:pt x="0" y="452996"/>
                    <a:pt x="0" y="434578"/>
                  </a:cubicBezTo>
                  <a:lnTo>
                    <a:pt x="0" y="33486"/>
                  </a:lnTo>
                  <a:cubicBezTo>
                    <a:pt x="0" y="15069"/>
                    <a:pt x="15069" y="0"/>
                    <a:pt x="33486" y="0"/>
                  </a:cubicBezTo>
                  <a:lnTo>
                    <a:pt x="1696455" y="0"/>
                  </a:lnTo>
                  <a:cubicBezTo>
                    <a:pt x="1714872" y="0"/>
                    <a:pt x="1729941" y="15069"/>
                    <a:pt x="1729941" y="33486"/>
                  </a:cubicBezTo>
                  <a:lnTo>
                    <a:pt x="1729941" y="434578"/>
                  </a:lnTo>
                  <a:cubicBezTo>
                    <a:pt x="1729941" y="452996"/>
                    <a:pt x="1715058" y="468064"/>
                    <a:pt x="1696455" y="468064"/>
                  </a:cubicBezTo>
                  <a:close/>
                  <a:moveTo>
                    <a:pt x="66973" y="401092"/>
                  </a:moveTo>
                  <a:lnTo>
                    <a:pt x="1662968" y="401092"/>
                  </a:lnTo>
                  <a:lnTo>
                    <a:pt x="1662968" y="66973"/>
                  </a:lnTo>
                  <a:lnTo>
                    <a:pt x="66973" y="66973"/>
                  </a:lnTo>
                  <a:lnTo>
                    <a:pt x="66973" y="401092"/>
                  </a:lnTo>
                  <a:close/>
                </a:path>
              </a:pathLst>
            </a:custGeom>
            <a:grpFill/>
            <a:ln w="9525">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76" name="任意多边形: 形状 43"/>
            <p:cNvSpPr/>
            <p:nvPr/>
          </p:nvSpPr>
          <p:spPr>
            <a:xfrm>
              <a:off x="-679337" y="7896745"/>
              <a:ext cx="1586507" cy="1200112"/>
            </a:xfrm>
            <a:custGeom>
              <a:avLst/>
              <a:gdLst>
                <a:gd name="connsiteX0" fmla="*/ 1553022 w 1586507"/>
                <a:gd name="connsiteY0" fmla="*/ 1200113 h 1200112"/>
                <a:gd name="connsiteX1" fmla="*/ 33486 w 1586507"/>
                <a:gd name="connsiteY1" fmla="*/ 1200113 h 1200112"/>
                <a:gd name="connsiteX2" fmla="*/ 0 w 1586507"/>
                <a:gd name="connsiteY2" fmla="*/ 1166627 h 1200112"/>
                <a:gd name="connsiteX3" fmla="*/ 0 w 1586507"/>
                <a:gd name="connsiteY3" fmla="*/ 33486 h 1200112"/>
                <a:gd name="connsiteX4" fmla="*/ 33486 w 1586507"/>
                <a:gd name="connsiteY4" fmla="*/ 0 h 1200112"/>
                <a:gd name="connsiteX5" fmla="*/ 66973 w 1586507"/>
                <a:gd name="connsiteY5" fmla="*/ 33486 h 1200112"/>
                <a:gd name="connsiteX6" fmla="*/ 66973 w 1586507"/>
                <a:gd name="connsiteY6" fmla="*/ 1133140 h 1200112"/>
                <a:gd name="connsiteX7" fmla="*/ 1519535 w 1586507"/>
                <a:gd name="connsiteY7" fmla="*/ 1133140 h 1200112"/>
                <a:gd name="connsiteX8" fmla="*/ 1519535 w 1586507"/>
                <a:gd name="connsiteY8" fmla="*/ 51346 h 1200112"/>
                <a:gd name="connsiteX9" fmla="*/ 1553022 w 1586507"/>
                <a:gd name="connsiteY9" fmla="*/ 17859 h 1200112"/>
                <a:gd name="connsiteX10" fmla="*/ 1586508 w 1586507"/>
                <a:gd name="connsiteY10" fmla="*/ 51346 h 1200112"/>
                <a:gd name="connsiteX11" fmla="*/ 1586508 w 1586507"/>
                <a:gd name="connsiteY11" fmla="*/ 1166627 h 1200112"/>
                <a:gd name="connsiteX12" fmla="*/ 1553022 w 1586507"/>
                <a:gd name="connsiteY12" fmla="*/ 1200113 h 1200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6507" h="1200112">
                  <a:moveTo>
                    <a:pt x="1553022" y="1200113"/>
                  </a:moveTo>
                  <a:lnTo>
                    <a:pt x="33486" y="1200113"/>
                  </a:lnTo>
                  <a:cubicBezTo>
                    <a:pt x="15069" y="1200113"/>
                    <a:pt x="0" y="1185044"/>
                    <a:pt x="0" y="1166627"/>
                  </a:cubicBezTo>
                  <a:lnTo>
                    <a:pt x="0" y="33486"/>
                  </a:lnTo>
                  <a:cubicBezTo>
                    <a:pt x="0" y="15069"/>
                    <a:pt x="15069" y="0"/>
                    <a:pt x="33486" y="0"/>
                  </a:cubicBezTo>
                  <a:cubicBezTo>
                    <a:pt x="51904" y="0"/>
                    <a:pt x="66973" y="15069"/>
                    <a:pt x="66973" y="33486"/>
                  </a:cubicBezTo>
                  <a:lnTo>
                    <a:pt x="66973" y="1133140"/>
                  </a:lnTo>
                  <a:lnTo>
                    <a:pt x="1519535" y="1133140"/>
                  </a:lnTo>
                  <a:lnTo>
                    <a:pt x="1519535" y="51346"/>
                  </a:lnTo>
                  <a:cubicBezTo>
                    <a:pt x="1519535" y="32928"/>
                    <a:pt x="1534604" y="17859"/>
                    <a:pt x="1553022" y="17859"/>
                  </a:cubicBezTo>
                  <a:cubicBezTo>
                    <a:pt x="1571439" y="17859"/>
                    <a:pt x="1586508" y="32928"/>
                    <a:pt x="1586508" y="51346"/>
                  </a:cubicBezTo>
                  <a:lnTo>
                    <a:pt x="1586508" y="1166627"/>
                  </a:lnTo>
                  <a:cubicBezTo>
                    <a:pt x="1586508" y="1185230"/>
                    <a:pt x="1571439" y="1200113"/>
                    <a:pt x="1553022" y="1200113"/>
                  </a:cubicBezTo>
                  <a:close/>
                </a:path>
              </a:pathLst>
            </a:custGeom>
            <a:grpFill/>
            <a:ln w="9525">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78" name="任意多边形: 形状 44"/>
            <p:cNvSpPr/>
            <p:nvPr/>
          </p:nvSpPr>
          <p:spPr>
            <a:xfrm>
              <a:off x="-282152" y="8138963"/>
              <a:ext cx="783022" cy="274959"/>
            </a:xfrm>
            <a:custGeom>
              <a:avLst/>
              <a:gdLst>
                <a:gd name="connsiteX0" fmla="*/ 749536 w 783022"/>
                <a:gd name="connsiteY0" fmla="*/ 274960 h 274959"/>
                <a:gd name="connsiteX1" fmla="*/ 33486 w 783022"/>
                <a:gd name="connsiteY1" fmla="*/ 274960 h 274959"/>
                <a:gd name="connsiteX2" fmla="*/ 0 w 783022"/>
                <a:gd name="connsiteY2" fmla="*/ 241474 h 274959"/>
                <a:gd name="connsiteX3" fmla="*/ 0 w 783022"/>
                <a:gd name="connsiteY3" fmla="*/ 33486 h 274959"/>
                <a:gd name="connsiteX4" fmla="*/ 33486 w 783022"/>
                <a:gd name="connsiteY4" fmla="*/ 0 h 274959"/>
                <a:gd name="connsiteX5" fmla="*/ 749536 w 783022"/>
                <a:gd name="connsiteY5" fmla="*/ 0 h 274959"/>
                <a:gd name="connsiteX6" fmla="*/ 783022 w 783022"/>
                <a:gd name="connsiteY6" fmla="*/ 33486 h 274959"/>
                <a:gd name="connsiteX7" fmla="*/ 783022 w 783022"/>
                <a:gd name="connsiteY7" fmla="*/ 241474 h 274959"/>
                <a:gd name="connsiteX8" fmla="*/ 749536 w 783022"/>
                <a:gd name="connsiteY8" fmla="*/ 274960 h 274959"/>
                <a:gd name="connsiteX9" fmla="*/ 66973 w 783022"/>
                <a:gd name="connsiteY9" fmla="*/ 207987 h 274959"/>
                <a:gd name="connsiteX10" fmla="*/ 716049 w 783022"/>
                <a:gd name="connsiteY10" fmla="*/ 207987 h 274959"/>
                <a:gd name="connsiteX11" fmla="*/ 716049 w 783022"/>
                <a:gd name="connsiteY11" fmla="*/ 66973 h 274959"/>
                <a:gd name="connsiteX12" fmla="*/ 66973 w 783022"/>
                <a:gd name="connsiteY12" fmla="*/ 66973 h 274959"/>
                <a:gd name="connsiteX13" fmla="*/ 66973 w 783022"/>
                <a:gd name="connsiteY13" fmla="*/ 207987 h 27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3022" h="274959">
                  <a:moveTo>
                    <a:pt x="749536" y="274960"/>
                  </a:moveTo>
                  <a:lnTo>
                    <a:pt x="33486" y="274960"/>
                  </a:lnTo>
                  <a:cubicBezTo>
                    <a:pt x="15069" y="274960"/>
                    <a:pt x="0" y="259891"/>
                    <a:pt x="0" y="241474"/>
                  </a:cubicBezTo>
                  <a:lnTo>
                    <a:pt x="0" y="33486"/>
                  </a:lnTo>
                  <a:cubicBezTo>
                    <a:pt x="0" y="15069"/>
                    <a:pt x="15069" y="0"/>
                    <a:pt x="33486" y="0"/>
                  </a:cubicBezTo>
                  <a:lnTo>
                    <a:pt x="749536" y="0"/>
                  </a:lnTo>
                  <a:cubicBezTo>
                    <a:pt x="767953" y="0"/>
                    <a:pt x="783022" y="15069"/>
                    <a:pt x="783022" y="33486"/>
                  </a:cubicBezTo>
                  <a:lnTo>
                    <a:pt x="783022" y="241474"/>
                  </a:lnTo>
                  <a:cubicBezTo>
                    <a:pt x="783022" y="260077"/>
                    <a:pt x="768139" y="274960"/>
                    <a:pt x="749536" y="274960"/>
                  </a:cubicBezTo>
                  <a:close/>
                  <a:moveTo>
                    <a:pt x="66973" y="207987"/>
                  </a:moveTo>
                  <a:lnTo>
                    <a:pt x="716049" y="207987"/>
                  </a:lnTo>
                  <a:lnTo>
                    <a:pt x="716049" y="66973"/>
                  </a:lnTo>
                  <a:lnTo>
                    <a:pt x="66973" y="66973"/>
                  </a:lnTo>
                  <a:lnTo>
                    <a:pt x="66973" y="207987"/>
                  </a:lnTo>
                  <a:close/>
                </a:path>
              </a:pathLst>
            </a:custGeom>
            <a:grpFill/>
            <a:ln w="9525">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grpSp>
      <p:sp>
        <p:nvSpPr>
          <p:cNvPr id="6" name="椭圆 5"/>
          <p:cNvSpPr/>
          <p:nvPr/>
        </p:nvSpPr>
        <p:spPr>
          <a:xfrm>
            <a:off x="10121857" y="5747205"/>
            <a:ext cx="70957" cy="70955"/>
          </a:xfrm>
          <a:prstGeom prst="ellipse">
            <a:avLst/>
          </a:prstGeom>
          <a:solidFill>
            <a:srgbClr val="FFFFFF"/>
          </a:solidFill>
          <a:ln w="127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en-US">
              <a:solidFill>
                <a:srgbClr val="0042FF"/>
              </a:solidFill>
              <a:latin typeface="微软雅黑"/>
              <a:ea typeface="微软雅黑"/>
              <a:cs typeface="微软雅黑"/>
            </a:endParaRPr>
          </a:p>
        </p:txBody>
      </p:sp>
      <p:sp>
        <p:nvSpPr>
          <p:cNvPr id="9" name="椭圆 8"/>
          <p:cNvSpPr/>
          <p:nvPr/>
        </p:nvSpPr>
        <p:spPr>
          <a:xfrm>
            <a:off x="10537342" y="5482624"/>
            <a:ext cx="70957" cy="70955"/>
          </a:xfrm>
          <a:prstGeom prst="ellipse">
            <a:avLst/>
          </a:prstGeom>
          <a:solidFill>
            <a:srgbClr val="FFFFFF"/>
          </a:solidFill>
          <a:ln w="127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en-US">
              <a:solidFill>
                <a:srgbClr val="0042FF"/>
              </a:solidFill>
              <a:latin typeface="微软雅黑"/>
              <a:ea typeface="微软雅黑"/>
              <a:cs typeface="微软雅黑"/>
            </a:endParaRPr>
          </a:p>
        </p:txBody>
      </p:sp>
      <p:sp>
        <p:nvSpPr>
          <p:cNvPr id="11" name="椭圆 10"/>
          <p:cNvSpPr/>
          <p:nvPr/>
        </p:nvSpPr>
        <p:spPr>
          <a:xfrm>
            <a:off x="10983193" y="5203890"/>
            <a:ext cx="70957" cy="70955"/>
          </a:xfrm>
          <a:prstGeom prst="ellipse">
            <a:avLst/>
          </a:prstGeom>
          <a:solidFill>
            <a:srgbClr val="FFFFFF"/>
          </a:solidFill>
          <a:ln w="127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en-US">
              <a:solidFill>
                <a:srgbClr val="0042FF"/>
              </a:solidFill>
              <a:latin typeface="微软雅黑"/>
              <a:ea typeface="微软雅黑"/>
              <a:cs typeface="微软雅黑"/>
            </a:endParaRPr>
          </a:p>
        </p:txBody>
      </p:sp>
      <p:sp>
        <p:nvSpPr>
          <p:cNvPr id="12" name="椭圆 11"/>
          <p:cNvSpPr/>
          <p:nvPr/>
        </p:nvSpPr>
        <p:spPr>
          <a:xfrm>
            <a:off x="11421505" y="4924171"/>
            <a:ext cx="70957" cy="70955"/>
          </a:xfrm>
          <a:prstGeom prst="ellipse">
            <a:avLst/>
          </a:prstGeom>
          <a:solidFill>
            <a:srgbClr val="FFFFFF"/>
          </a:solidFill>
          <a:ln w="1270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p>
            <a:pPr algn="ctr">
              <a:defRPr>
                <a:latin typeface="微软雅黑"/>
                <a:ea typeface="微软雅黑"/>
                <a:cs typeface="微软雅黑"/>
              </a:defRPr>
            </a:pPr>
            <a:endParaRPr lang="en-US">
              <a:solidFill>
                <a:srgbClr val="0042FF"/>
              </a:solidFill>
              <a:latin typeface="微软雅黑"/>
              <a:ea typeface="微软雅黑"/>
              <a:cs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20" name="图片 19"/>
            <p:cNvPicPr>
              <a:picLocks noChangeAspect="1"/>
            </p:cNvPicPr>
            <p:nvPr userDrawn="1"/>
          </p:nvPicPr>
          <p:blipFill>
            <a:blip r:embed="rId6"/>
            <a:srcRect l="17002" t="-1765" r="56499" b="-1176"/>
            <a:stretch>
              <a:fillRect/>
            </a:stretch>
          </p:blipFill>
          <p:spPr>
            <a:xfrm>
              <a:off x="13761" y="549"/>
              <a:ext cx="1582" cy="525"/>
            </a:xfrm>
            <a:prstGeom prst="rect">
              <a:avLst/>
            </a:prstGeom>
          </p:spPr>
        </p:pic>
        <p:sp>
          <p:nvSpPr>
            <p:cNvPr id="21" name="文本框 2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485775" y="1229995"/>
            <a:ext cx="11165205" cy="5148580"/>
          </a:xfrm>
          <a:prstGeom prst="rect">
            <a:avLst/>
          </a:prstGeom>
          <a:solidFill>
            <a:srgbClr val="FFFFFF">
              <a:alpha val="11000"/>
            </a:srgbClr>
          </a:solidFill>
          <a:ln w="12700" cap="flat">
            <a:solidFill>
              <a:srgbClr val="0042FF">
                <a:alpha val="40000"/>
              </a:srgb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dirty="0">
              <a:solidFill>
                <a:srgbClr val="383838"/>
              </a:solidFill>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zh-CN" altLang="en-US" sz="2500">
                <a:solidFill>
                  <a:srgbClr val="383838"/>
                </a:solidFill>
                <a:effectLst/>
                <a:latin typeface="微软雅黑"/>
                <a:ea typeface="微软雅黑"/>
                <a:cs typeface="微软雅黑"/>
              </a:rPr>
              <a:t>系统数据架构流转图</a:t>
            </a:r>
            <a:endParaRPr lang="en-US" altLang="zh-CN"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矩形 2"/>
          <p:cNvSpPr/>
          <p:nvPr/>
        </p:nvSpPr>
        <p:spPr>
          <a:xfrm>
            <a:off x="3755390" y="2172335"/>
            <a:ext cx="3382645" cy="2665730"/>
          </a:xfrm>
          <a:prstGeom prst="rect">
            <a:avLst/>
          </a:prstGeom>
          <a:solidFill>
            <a:srgbClr val="FFFFFF">
              <a:alpha val="30000"/>
            </a:srgbClr>
          </a:solidFill>
          <a:ln w="6350" cap="flat">
            <a:solidFill>
              <a:srgbClr val="B3D4FE"/>
            </a:solidFill>
            <a:prstDash val="lg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algn="ctr" hangingPunct="0">
              <a:defRPr>
                <a:solidFill>
                  <a:srgbClr val="FFFFFF"/>
                </a:solidFill>
                <a:latin typeface="微软雅黑"/>
                <a:ea typeface="微软雅黑"/>
                <a:cs typeface="微软雅黑"/>
              </a:defRPr>
            </a:pPr>
            <a:endParaRPr lang="en-US" dirty="0">
              <a:solidFill>
                <a:srgbClr val="FFFFFF"/>
              </a:solidFill>
              <a:latin typeface="微软雅黑"/>
              <a:ea typeface="微软雅黑"/>
              <a:cs typeface="微软雅黑"/>
              <a:sym typeface="微软雅黑"/>
            </a:endParaRPr>
          </a:p>
        </p:txBody>
      </p:sp>
      <p:sp>
        <p:nvSpPr>
          <p:cNvPr id="4" name="矩形 3"/>
          <p:cNvSpPr/>
          <p:nvPr/>
        </p:nvSpPr>
        <p:spPr>
          <a:xfrm>
            <a:off x="678815" y="2172335"/>
            <a:ext cx="2463165" cy="2665730"/>
          </a:xfrm>
          <a:prstGeom prst="rect">
            <a:avLst/>
          </a:prstGeom>
          <a:solidFill>
            <a:srgbClr val="E6E6E6">
              <a:alpha val="30000"/>
            </a:srgbClr>
          </a:solidFill>
          <a:ln w="6350" cap="flat">
            <a:solidFill>
              <a:srgbClr val="3368FF"/>
            </a:solidFill>
            <a:prstDash val="lg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algn="ctr" hangingPunct="0">
              <a:defRPr>
                <a:solidFill>
                  <a:srgbClr val="FFFFFF"/>
                </a:solidFill>
                <a:latin typeface="微软雅黑"/>
                <a:ea typeface="微软雅黑"/>
                <a:cs typeface="微软雅黑"/>
              </a:defRPr>
            </a:pPr>
            <a:endParaRPr lang="en-US" dirty="0">
              <a:solidFill>
                <a:srgbClr val="FFFFFF"/>
              </a:solidFill>
              <a:latin typeface="微软雅黑"/>
              <a:ea typeface="微软雅黑"/>
              <a:cs typeface="微软雅黑"/>
              <a:sym typeface="微软雅黑"/>
            </a:endParaRPr>
          </a:p>
        </p:txBody>
      </p:sp>
      <p:sp>
        <p:nvSpPr>
          <p:cNvPr id="81" name="矩形 80"/>
          <p:cNvSpPr/>
          <p:nvPr/>
        </p:nvSpPr>
        <p:spPr>
          <a:xfrm>
            <a:off x="7647305" y="2172335"/>
            <a:ext cx="3860165" cy="2665730"/>
          </a:xfrm>
          <a:prstGeom prst="rect">
            <a:avLst/>
          </a:prstGeom>
          <a:solidFill>
            <a:srgbClr val="E6E6E6">
              <a:alpha val="30000"/>
            </a:srgbClr>
          </a:solidFill>
          <a:ln w="6350" cap="flat">
            <a:solidFill>
              <a:srgbClr val="3368FF"/>
            </a:solidFill>
            <a:prstDash val="lg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buClrTx/>
              <a:buSzTx/>
              <a:buFontTx/>
              <a:defRPr>
                <a:solidFill>
                  <a:srgbClr val="FFFFFF"/>
                </a:solidFill>
                <a:latin typeface="微软雅黑"/>
                <a:ea typeface="微软雅黑"/>
                <a:cs typeface="微软雅黑"/>
              </a:defRPr>
            </a:pPr>
            <a:endParaRPr lang="en-US" dirty="0">
              <a:solidFill>
                <a:srgbClr val="FFFFFF"/>
              </a:solidFill>
              <a:latin typeface="微软雅黑"/>
              <a:ea typeface="微软雅黑"/>
              <a:cs typeface="微软雅黑"/>
              <a:sym typeface="微软雅黑"/>
            </a:endParaRPr>
          </a:p>
        </p:txBody>
      </p:sp>
      <p:sp>
        <p:nvSpPr>
          <p:cNvPr id="8" name="矩形 7"/>
          <p:cNvSpPr/>
          <p:nvPr/>
        </p:nvSpPr>
        <p:spPr>
          <a:xfrm>
            <a:off x="485140" y="1229995"/>
            <a:ext cx="11165840" cy="748030"/>
          </a:xfrm>
          <a:prstGeom prst="rect">
            <a:avLst/>
          </a:prstGeom>
          <a:solidFill>
            <a:srgbClr val="0042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6" name="文本框 5"/>
          <p:cNvSpPr txBox="1"/>
          <p:nvPr/>
        </p:nvSpPr>
        <p:spPr>
          <a:xfrm>
            <a:off x="1456690" y="1471295"/>
            <a:ext cx="9224645" cy="245745"/>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fontAlgn="auto">
              <a:lnSpc>
                <a:spcPct val="100000"/>
              </a:lnSpc>
              <a:spcBef>
                <a:spcPct val="0"/>
              </a:spcBef>
              <a:spcAft>
                <a:spcPts val="0"/>
              </a:spcAft>
              <a:buClrTx/>
              <a:buSzTx/>
              <a:buFontTx/>
              <a:buNone/>
              <a:defRPr kumimoji="0" sz="1600" b="0" i="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数据采集挖掘架构图</a:t>
            </a:r>
            <a:endParaRPr lang="zh-CN" altLang="en-US" b="1" dirty="0">
              <a:solidFill>
                <a:srgbClr val="FFFFFF"/>
              </a:solidFill>
              <a:latin typeface="微软雅黑"/>
              <a:ea typeface="微软雅黑"/>
              <a:cs typeface="微软雅黑"/>
            </a:endParaRPr>
          </a:p>
        </p:txBody>
      </p:sp>
      <p:sp>
        <p:nvSpPr>
          <p:cNvPr id="11" name="矩形 10"/>
          <p:cNvSpPr/>
          <p:nvPr/>
        </p:nvSpPr>
        <p:spPr>
          <a:xfrm>
            <a:off x="485140" y="5330825"/>
            <a:ext cx="11165840" cy="1047750"/>
          </a:xfrm>
          <a:prstGeom prst="rect">
            <a:avLst/>
          </a:prstGeom>
          <a:solidFill>
            <a:srgbClr val="0042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12" name="文本框 11"/>
          <p:cNvSpPr txBox="1"/>
          <p:nvPr/>
        </p:nvSpPr>
        <p:spPr>
          <a:xfrm>
            <a:off x="1181100" y="5928995"/>
            <a:ext cx="983615"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fontAlgn="auto">
              <a:lnSpc>
                <a:spcPct val="100000"/>
              </a:lnSpc>
              <a:spcBef>
                <a:spcPct val="0"/>
              </a:spcBef>
              <a:spcAft>
                <a:spcPts val="0"/>
              </a:spcAft>
              <a:buClrTx/>
              <a:buSzTx/>
              <a:buFontTx/>
              <a:buNone/>
              <a:defRPr kumimoji="0" sz="1600" b="0" i="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数据统计</a:t>
            </a:r>
            <a:endParaRPr lang="zh-CN" altLang="en-US" sz="1200" dirty="0">
              <a:solidFill>
                <a:srgbClr val="FFFFFF"/>
              </a:solidFill>
              <a:latin typeface="微软雅黑"/>
              <a:ea typeface="微软雅黑"/>
              <a:cs typeface="微软雅黑"/>
            </a:endParaRPr>
          </a:p>
        </p:txBody>
      </p:sp>
      <p:sp>
        <p:nvSpPr>
          <p:cNvPr id="13" name="矩形 12"/>
          <p:cNvSpPr/>
          <p:nvPr/>
        </p:nvSpPr>
        <p:spPr>
          <a:xfrm>
            <a:off x="5030470" y="5330825"/>
            <a:ext cx="2076450" cy="1047750"/>
          </a:xfrm>
          <a:prstGeom prst="rect">
            <a:avLst/>
          </a:prstGeom>
          <a:solidFill>
            <a:srgbClr val="3368FF"/>
          </a:solidFill>
          <a:ln w="12700" cap="flat">
            <a:solidFill>
              <a:srgbClr val="FFFF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14" name="文本框 13"/>
          <p:cNvSpPr txBox="1"/>
          <p:nvPr/>
        </p:nvSpPr>
        <p:spPr>
          <a:xfrm>
            <a:off x="5389880" y="5955030"/>
            <a:ext cx="1355725" cy="245745"/>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fontAlgn="auto">
              <a:lnSpc>
                <a:spcPct val="100000"/>
              </a:lnSpc>
              <a:spcBef>
                <a:spcPct val="0"/>
              </a:spcBef>
              <a:spcAft>
                <a:spcPts val="0"/>
              </a:spcAft>
              <a:buClrTx/>
              <a:buSzTx/>
              <a:buFontTx/>
              <a:buNone/>
              <a:defRPr kumimoji="0" sz="1600" b="0" i="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数据应用</a:t>
            </a:r>
            <a:endParaRPr lang="zh-CN" altLang="en-US" dirty="0">
              <a:solidFill>
                <a:srgbClr val="FFFFFF"/>
              </a:solidFill>
              <a:latin typeface="微软雅黑"/>
              <a:ea typeface="微软雅黑"/>
              <a:cs typeface="微软雅黑"/>
            </a:endParaRPr>
          </a:p>
        </p:txBody>
      </p:sp>
      <p:sp>
        <p:nvSpPr>
          <p:cNvPr id="15" name="文本框 14"/>
          <p:cNvSpPr txBox="1"/>
          <p:nvPr/>
        </p:nvSpPr>
        <p:spPr>
          <a:xfrm>
            <a:off x="2908935" y="5928995"/>
            <a:ext cx="983615"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fontAlgn="auto">
              <a:lnSpc>
                <a:spcPct val="100000"/>
              </a:lnSpc>
              <a:spcBef>
                <a:spcPct val="0"/>
              </a:spcBef>
              <a:spcAft>
                <a:spcPts val="0"/>
              </a:spcAft>
              <a:buClrTx/>
              <a:buSzTx/>
              <a:buFontTx/>
              <a:buNone/>
              <a:defRPr kumimoji="0" sz="1600" b="0" i="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内容推荐</a:t>
            </a:r>
            <a:endParaRPr lang="zh-CN" altLang="en-US" sz="1200" dirty="0">
              <a:solidFill>
                <a:srgbClr val="FFFFFF"/>
              </a:solidFill>
              <a:latin typeface="微软雅黑"/>
              <a:ea typeface="微软雅黑"/>
              <a:cs typeface="微软雅黑"/>
            </a:endParaRPr>
          </a:p>
        </p:txBody>
      </p:sp>
      <p:sp>
        <p:nvSpPr>
          <p:cNvPr id="19" name="文本框 18"/>
          <p:cNvSpPr txBox="1"/>
          <p:nvPr/>
        </p:nvSpPr>
        <p:spPr>
          <a:xfrm>
            <a:off x="8001000" y="5928995"/>
            <a:ext cx="983615"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fontAlgn="auto">
              <a:lnSpc>
                <a:spcPct val="100000"/>
              </a:lnSpc>
              <a:spcBef>
                <a:spcPct val="0"/>
              </a:spcBef>
              <a:spcAft>
                <a:spcPts val="0"/>
              </a:spcAft>
              <a:buClrTx/>
              <a:buSzTx/>
              <a:buFontTx/>
              <a:buNone/>
              <a:defRPr kumimoji="0" sz="1600" b="0" i="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精准投放</a:t>
            </a:r>
            <a:endParaRPr lang="zh-CN" altLang="en-US" sz="1200" dirty="0">
              <a:solidFill>
                <a:srgbClr val="FFFFFF"/>
              </a:solidFill>
              <a:latin typeface="微软雅黑"/>
              <a:ea typeface="微软雅黑"/>
              <a:cs typeface="微软雅黑"/>
            </a:endParaRPr>
          </a:p>
        </p:txBody>
      </p:sp>
      <p:sp>
        <p:nvSpPr>
          <p:cNvPr id="20" name="文本框 19"/>
          <p:cNvSpPr txBox="1"/>
          <p:nvPr/>
        </p:nvSpPr>
        <p:spPr>
          <a:xfrm>
            <a:off x="9728200" y="5928995"/>
            <a:ext cx="983615"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fontAlgn="auto">
              <a:lnSpc>
                <a:spcPct val="100000"/>
              </a:lnSpc>
              <a:spcBef>
                <a:spcPct val="0"/>
              </a:spcBef>
              <a:spcAft>
                <a:spcPts val="0"/>
              </a:spcAft>
              <a:buClrTx/>
              <a:buSzTx/>
              <a:buFontTx/>
              <a:buNone/>
              <a:defRPr kumimoji="0" sz="1600" b="0" i="0" u="none" strike="noStrike" cap="none" spc="0" normalizeH="0" baseline="0">
                <a:ln>
                  <a:noFill/>
                </a:ln>
                <a:solidFill>
                  <a:srgbClr val="FFFFFF"/>
                </a:solidFill>
                <a:effectLst/>
                <a:uLnTx/>
                <a:uFillTx/>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用户画像</a:t>
            </a:r>
            <a:endParaRPr lang="zh-CN" altLang="en-US" sz="1200" dirty="0">
              <a:solidFill>
                <a:srgbClr val="FFFFFF"/>
              </a:solidFill>
              <a:latin typeface="微软雅黑"/>
              <a:ea typeface="微软雅黑"/>
              <a:cs typeface="微软雅黑"/>
            </a:endParaRPr>
          </a:p>
        </p:txBody>
      </p:sp>
      <p:sp>
        <p:nvSpPr>
          <p:cNvPr id="32" name="矩形 31"/>
          <p:cNvSpPr/>
          <p:nvPr/>
        </p:nvSpPr>
        <p:spPr>
          <a:xfrm>
            <a:off x="776605" y="2315845"/>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59" name="矩形 58"/>
          <p:cNvSpPr/>
          <p:nvPr/>
        </p:nvSpPr>
        <p:spPr>
          <a:xfrm>
            <a:off x="776605" y="2936875"/>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0" name="矩形 59"/>
          <p:cNvSpPr/>
          <p:nvPr/>
        </p:nvSpPr>
        <p:spPr>
          <a:xfrm>
            <a:off x="776605" y="3558540"/>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1" name="矩形 60"/>
          <p:cNvSpPr/>
          <p:nvPr/>
        </p:nvSpPr>
        <p:spPr>
          <a:xfrm>
            <a:off x="776605" y="4179570"/>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grpSp>
        <p:nvGrpSpPr>
          <p:cNvPr id="62" name="组合 61"/>
          <p:cNvGrpSpPr/>
          <p:nvPr/>
        </p:nvGrpSpPr>
        <p:grpSpPr>
          <a:xfrm rot="0">
            <a:off x="4568825" y="2315845"/>
            <a:ext cx="2261870" cy="2378710"/>
            <a:chOff x="3994373" y="2457633"/>
            <a:chExt cx="1837653" cy="1205805"/>
          </a:xfrm>
        </p:grpSpPr>
        <p:sp>
          <p:nvSpPr>
            <p:cNvPr id="63" name="矩形 62"/>
            <p:cNvSpPr/>
            <p:nvPr/>
          </p:nvSpPr>
          <p:spPr>
            <a:xfrm>
              <a:off x="3994373" y="2457633"/>
              <a:ext cx="1837653" cy="477560"/>
            </a:xfrm>
            <a:prstGeom prst="rect">
              <a:avLst/>
            </a:prstGeom>
            <a:solidFill>
              <a:srgbClr val="3368FF"/>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4" name="矩形 63"/>
            <p:cNvSpPr/>
            <p:nvPr/>
          </p:nvSpPr>
          <p:spPr>
            <a:xfrm>
              <a:off x="3994373" y="3185878"/>
              <a:ext cx="1837653" cy="477560"/>
            </a:xfrm>
            <a:prstGeom prst="rect">
              <a:avLst/>
            </a:prstGeom>
            <a:solidFill>
              <a:srgbClr val="3368FF"/>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grpSp>
      <p:sp>
        <p:nvSpPr>
          <p:cNvPr id="65" name="矩形 64"/>
          <p:cNvSpPr/>
          <p:nvPr/>
        </p:nvSpPr>
        <p:spPr>
          <a:xfrm>
            <a:off x="7384415" y="2315845"/>
            <a:ext cx="509270" cy="2378710"/>
          </a:xfrm>
          <a:prstGeom prst="rect">
            <a:avLst/>
          </a:prstGeom>
          <a:solidFill>
            <a:srgbClr val="FFFFFF"/>
          </a:solidFill>
          <a:ln w="6350" cap="flat">
            <a:solidFill>
              <a:srgbClr val="3368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fromWordArt="0" anchor="ctr" anchorCtr="0" forceAA="0" compatLnSpc="1">
            <a:noAutofit/>
          </a:bodyPr>
          <a:lstStyle/>
          <a:p>
            <a:pPr lvl="0" algn="ctr" hangingPunct="0">
              <a:buClrTx/>
              <a:buSzTx/>
              <a:buFontTx/>
              <a:defRPr>
                <a:latin typeface="微软雅黑"/>
                <a:ea typeface="微软雅黑"/>
                <a:cs typeface="微软雅黑"/>
              </a:defRPr>
            </a:pPr>
            <a:endParaRPr lang="en-US" dirty="0">
              <a:solidFill>
                <a:srgbClr val="383838"/>
              </a:solidFill>
              <a:latin typeface="微软雅黑"/>
              <a:ea typeface="微软雅黑"/>
              <a:cs typeface="微软雅黑"/>
              <a:sym typeface="微软雅黑"/>
            </a:endParaRPr>
          </a:p>
        </p:txBody>
      </p:sp>
      <p:sp>
        <p:nvSpPr>
          <p:cNvPr id="66" name="矩形 65"/>
          <p:cNvSpPr/>
          <p:nvPr/>
        </p:nvSpPr>
        <p:spPr>
          <a:xfrm>
            <a:off x="8446770" y="2315845"/>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7" name="矩形 66"/>
          <p:cNvSpPr/>
          <p:nvPr/>
        </p:nvSpPr>
        <p:spPr>
          <a:xfrm>
            <a:off x="8446770" y="2936875"/>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9" name="矩形 68"/>
          <p:cNvSpPr/>
          <p:nvPr/>
        </p:nvSpPr>
        <p:spPr>
          <a:xfrm>
            <a:off x="8446770" y="3558540"/>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70" name="矩形 69"/>
          <p:cNvSpPr/>
          <p:nvPr/>
        </p:nvSpPr>
        <p:spPr>
          <a:xfrm>
            <a:off x="8446770" y="4179570"/>
            <a:ext cx="2261870" cy="51498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71" name="矩形 70"/>
          <p:cNvSpPr/>
          <p:nvPr/>
        </p:nvSpPr>
        <p:spPr>
          <a:xfrm>
            <a:off x="10850880" y="2315845"/>
            <a:ext cx="509270" cy="113601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en-US" dirty="0">
              <a:solidFill>
                <a:srgbClr val="FFFFFF"/>
              </a:solidFill>
              <a:latin typeface="微软雅黑"/>
              <a:ea typeface="微软雅黑"/>
              <a:cs typeface="微软雅黑"/>
              <a:sym typeface="微软雅黑"/>
            </a:endParaRPr>
          </a:p>
        </p:txBody>
      </p:sp>
      <p:sp>
        <p:nvSpPr>
          <p:cNvPr id="72" name="矩形 71"/>
          <p:cNvSpPr/>
          <p:nvPr/>
        </p:nvSpPr>
        <p:spPr>
          <a:xfrm>
            <a:off x="10850880" y="3554095"/>
            <a:ext cx="509270" cy="1136015"/>
          </a:xfrm>
          <a:prstGeom prst="rect">
            <a:avLst/>
          </a:prstGeom>
          <a:solidFill>
            <a:srgbClr val="3368FF"/>
          </a:solidFill>
          <a:ln w="635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solidFill>
                  <a:srgbClr val="FFFFFF"/>
                </a:solidFill>
                <a:latin typeface="微软雅黑"/>
                <a:ea typeface="微软雅黑"/>
                <a:cs typeface="微软雅黑"/>
              </a:defRPr>
            </a:pPr>
            <a:endParaRPr lang="en-US" dirty="0">
              <a:solidFill>
                <a:srgbClr val="FFFFFF"/>
              </a:solidFill>
              <a:latin typeface="微软雅黑"/>
              <a:ea typeface="微软雅黑"/>
              <a:cs typeface="微软雅黑"/>
              <a:sym typeface="微软雅黑"/>
            </a:endParaRPr>
          </a:p>
        </p:txBody>
      </p:sp>
      <p:sp>
        <p:nvSpPr>
          <p:cNvPr id="80" name="Title 2"/>
          <p:cNvSpPr txBox="1"/>
          <p:nvPr/>
        </p:nvSpPr>
        <p:spPr>
          <a:xfrm>
            <a:off x="1726565" y="2473960"/>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浏览数据</a:t>
            </a:r>
            <a:endParaRPr lang="zh-CN" altLang="en-US" sz="1200" dirty="0">
              <a:solidFill>
                <a:srgbClr val="FFFFFF"/>
              </a:solidFill>
              <a:latin typeface="微软雅黑"/>
              <a:ea typeface="微软雅黑"/>
              <a:cs typeface="微软雅黑"/>
            </a:endParaRPr>
          </a:p>
        </p:txBody>
      </p:sp>
      <p:sp>
        <p:nvSpPr>
          <p:cNvPr id="101" name="椭圆 100"/>
          <p:cNvSpPr/>
          <p:nvPr/>
        </p:nvSpPr>
        <p:spPr>
          <a:xfrm>
            <a:off x="1337945" y="2406650"/>
            <a:ext cx="317500" cy="333375"/>
          </a:xfrm>
          <a:prstGeom prst="ellipse">
            <a:avLst/>
          </a:prstGeom>
          <a:solidFill>
            <a:srgbClr val="FFFFFF"/>
          </a:solidFill>
          <a:ln w="3175" cap="flat">
            <a:solidFill>
              <a:srgbClr val="FFFF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02" name="Title 2"/>
          <p:cNvSpPr txBox="1"/>
          <p:nvPr/>
        </p:nvSpPr>
        <p:spPr>
          <a:xfrm>
            <a:off x="1726565" y="3096895"/>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点击数据</a:t>
            </a:r>
            <a:endParaRPr lang="zh-CN" altLang="en-US" sz="1200" dirty="0">
              <a:solidFill>
                <a:srgbClr val="FFFFFF"/>
              </a:solidFill>
              <a:latin typeface="微软雅黑"/>
              <a:ea typeface="微软雅黑"/>
              <a:cs typeface="微软雅黑"/>
            </a:endParaRPr>
          </a:p>
        </p:txBody>
      </p:sp>
      <p:sp>
        <p:nvSpPr>
          <p:cNvPr id="103" name="椭圆 102"/>
          <p:cNvSpPr/>
          <p:nvPr/>
        </p:nvSpPr>
        <p:spPr>
          <a:xfrm>
            <a:off x="1337945" y="3029585"/>
            <a:ext cx="317500" cy="333375"/>
          </a:xfrm>
          <a:prstGeom prst="ellipse">
            <a:avLst/>
          </a:prstGeom>
          <a:solidFill>
            <a:srgbClr val="FFFFFF"/>
          </a:solidFill>
          <a:ln w="3175" cap="flat">
            <a:solidFill>
              <a:srgbClr val="FFFF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04" name="Title 2"/>
          <p:cNvSpPr txBox="1"/>
          <p:nvPr/>
        </p:nvSpPr>
        <p:spPr>
          <a:xfrm>
            <a:off x="1726565" y="3730625"/>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视频数据</a:t>
            </a:r>
            <a:endParaRPr lang="zh-CN" altLang="en-US" sz="1200" dirty="0">
              <a:solidFill>
                <a:srgbClr val="FFFFFF"/>
              </a:solidFill>
              <a:latin typeface="微软雅黑"/>
              <a:ea typeface="微软雅黑"/>
              <a:cs typeface="微软雅黑"/>
            </a:endParaRPr>
          </a:p>
        </p:txBody>
      </p:sp>
      <p:sp>
        <p:nvSpPr>
          <p:cNvPr id="105" name="椭圆 104"/>
          <p:cNvSpPr/>
          <p:nvPr/>
        </p:nvSpPr>
        <p:spPr>
          <a:xfrm>
            <a:off x="1337945" y="3663315"/>
            <a:ext cx="317500" cy="333375"/>
          </a:xfrm>
          <a:prstGeom prst="ellipse">
            <a:avLst/>
          </a:prstGeom>
          <a:solidFill>
            <a:srgbClr val="FFFFFF"/>
          </a:solidFill>
          <a:ln w="3175" cap="flat">
            <a:solidFill>
              <a:srgbClr val="FFFF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06" name="Title 2"/>
          <p:cNvSpPr txBox="1"/>
          <p:nvPr/>
        </p:nvSpPr>
        <p:spPr>
          <a:xfrm>
            <a:off x="1726565" y="4337685"/>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APP</a:t>
            </a:r>
            <a:r>
              <a:rPr lang="zh-CN" altLang="en-US" sz="1200" dirty="0">
                <a:solidFill>
                  <a:srgbClr val="FFFFFF"/>
                </a:solidFill>
                <a:latin typeface="微软雅黑"/>
                <a:ea typeface="微软雅黑"/>
                <a:cs typeface="微软雅黑"/>
              </a:rPr>
              <a:t>数据</a:t>
            </a:r>
            <a:endParaRPr lang="en-US" sz="1200" dirty="0">
              <a:solidFill>
                <a:srgbClr val="FFFFFF"/>
              </a:solidFill>
              <a:latin typeface="微软雅黑"/>
              <a:ea typeface="微软雅黑"/>
              <a:cs typeface="微软雅黑"/>
            </a:endParaRPr>
          </a:p>
        </p:txBody>
      </p:sp>
      <p:sp>
        <p:nvSpPr>
          <p:cNvPr id="107" name="椭圆 106"/>
          <p:cNvSpPr/>
          <p:nvPr/>
        </p:nvSpPr>
        <p:spPr>
          <a:xfrm>
            <a:off x="1337945" y="4270375"/>
            <a:ext cx="317500" cy="333375"/>
          </a:xfrm>
          <a:prstGeom prst="ellipse">
            <a:avLst/>
          </a:prstGeom>
          <a:solidFill>
            <a:srgbClr val="FFFFFF"/>
          </a:solidFill>
          <a:ln w="3175" cap="flat">
            <a:solidFill>
              <a:srgbClr val="FFFF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08" name="Title 2"/>
          <p:cNvSpPr txBox="1"/>
          <p:nvPr/>
        </p:nvSpPr>
        <p:spPr>
          <a:xfrm>
            <a:off x="7579360" y="3040380"/>
            <a:ext cx="119380" cy="861695"/>
          </a:xfrm>
          <a:prstGeom prst="rect">
            <a:avLst/>
          </a:prstGeom>
        </p:spPr>
        <p:txBody>
          <a:bodyPr vert="horz" wrap="square" lIns="0" tIns="0" rIns="0" bIns="0" rtlCol="0" anchor="t" anchorCtr="0">
            <a:spAutoFit/>
          </a:bodyPr>
          <a:lstStyle>
            <a:defPPr>
              <a:defRPr lang="zh-CN">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effectLst/>
                <a:uLnTx/>
                <a:uFillTx/>
                <a:latin typeface="微软雅黑"/>
                <a:ea typeface="微软雅黑"/>
                <a:cs typeface="微软雅黑"/>
              </a:defRPr>
            </a:lvl1pPr>
          </a:lstStyle>
          <a:p>
            <a:pPr lvl="0" algn="ctr">
              <a:defRPr>
                <a:latin typeface="微软雅黑"/>
                <a:ea typeface="微软雅黑"/>
                <a:cs typeface="微软雅黑"/>
              </a:defRPr>
            </a:pPr>
            <a:r>
              <a:rPr lang="zh-CN" altLang="en-US" b="1" dirty="0">
                <a:solidFill>
                  <a:srgbClr val="0042FF"/>
                </a:solidFill>
                <a:latin typeface="微软雅黑"/>
                <a:ea typeface="微软雅黑"/>
                <a:cs typeface="微软雅黑"/>
                <a:sym typeface="微软雅黑"/>
              </a:rPr>
              <a:t>数据处理</a:t>
            </a:r>
            <a:endParaRPr lang="zh-CN" altLang="en-US" b="1" dirty="0">
              <a:solidFill>
                <a:srgbClr val="0042FF"/>
              </a:solidFill>
              <a:latin typeface="微软雅黑"/>
              <a:ea typeface="微软雅黑"/>
              <a:cs typeface="微软雅黑"/>
              <a:sym typeface="微软雅黑"/>
            </a:endParaRPr>
          </a:p>
        </p:txBody>
      </p:sp>
      <p:sp>
        <p:nvSpPr>
          <p:cNvPr id="113" name="Title 2"/>
          <p:cNvSpPr txBox="1"/>
          <p:nvPr/>
        </p:nvSpPr>
        <p:spPr>
          <a:xfrm>
            <a:off x="9372600" y="2473960"/>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配置系统</a:t>
            </a:r>
            <a:endParaRPr lang="zh-CN" altLang="en-US" sz="1200" dirty="0">
              <a:solidFill>
                <a:srgbClr val="FFFFFF"/>
              </a:solidFill>
              <a:latin typeface="微软雅黑"/>
              <a:ea typeface="微软雅黑"/>
              <a:cs typeface="微软雅黑"/>
            </a:endParaRPr>
          </a:p>
        </p:txBody>
      </p:sp>
      <p:sp>
        <p:nvSpPr>
          <p:cNvPr id="114" name="椭圆 113"/>
          <p:cNvSpPr/>
          <p:nvPr/>
        </p:nvSpPr>
        <p:spPr>
          <a:xfrm>
            <a:off x="8984615" y="2406650"/>
            <a:ext cx="317500" cy="333375"/>
          </a:xfrm>
          <a:prstGeom prst="ellipse">
            <a:avLst/>
          </a:prstGeom>
          <a:solidFill>
            <a:srgbClr val="FFFFFF"/>
          </a:solidFill>
          <a:ln w="3175" cap="flat">
            <a:solidFill>
              <a:srgbClr val="383838">
                <a:alpha val="50000"/>
              </a:srgb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15" name="Title 2"/>
          <p:cNvSpPr txBox="1"/>
          <p:nvPr/>
        </p:nvSpPr>
        <p:spPr>
          <a:xfrm>
            <a:off x="9372600" y="3096895"/>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离线计算</a:t>
            </a:r>
            <a:endParaRPr lang="zh-CN" altLang="en-US" sz="1200" dirty="0">
              <a:solidFill>
                <a:srgbClr val="FFFFFF"/>
              </a:solidFill>
              <a:latin typeface="微软雅黑"/>
              <a:ea typeface="微软雅黑"/>
              <a:cs typeface="微软雅黑"/>
            </a:endParaRPr>
          </a:p>
        </p:txBody>
      </p:sp>
      <p:sp>
        <p:nvSpPr>
          <p:cNvPr id="120" name="椭圆 119"/>
          <p:cNvSpPr/>
          <p:nvPr/>
        </p:nvSpPr>
        <p:spPr>
          <a:xfrm>
            <a:off x="8984615" y="3029585"/>
            <a:ext cx="317500" cy="333375"/>
          </a:xfrm>
          <a:prstGeom prst="ellipse">
            <a:avLst/>
          </a:prstGeom>
          <a:solidFill>
            <a:srgbClr val="FFFFFF"/>
          </a:solidFill>
          <a:ln w="3175" cap="flat">
            <a:solidFill>
              <a:srgbClr val="383838">
                <a:alpha val="50000"/>
              </a:srgb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21" name="Title 2"/>
          <p:cNvSpPr txBox="1"/>
          <p:nvPr/>
        </p:nvSpPr>
        <p:spPr>
          <a:xfrm>
            <a:off x="9372600" y="3730625"/>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爬虫系统</a:t>
            </a:r>
            <a:endParaRPr lang="zh-CN" altLang="en-US" sz="1200" dirty="0">
              <a:solidFill>
                <a:srgbClr val="FFFFFF"/>
              </a:solidFill>
              <a:latin typeface="微软雅黑"/>
              <a:ea typeface="微软雅黑"/>
              <a:cs typeface="微软雅黑"/>
            </a:endParaRPr>
          </a:p>
        </p:txBody>
      </p:sp>
      <p:sp>
        <p:nvSpPr>
          <p:cNvPr id="122" name="椭圆 121"/>
          <p:cNvSpPr/>
          <p:nvPr/>
        </p:nvSpPr>
        <p:spPr>
          <a:xfrm>
            <a:off x="8984615" y="3663315"/>
            <a:ext cx="317500" cy="333375"/>
          </a:xfrm>
          <a:prstGeom prst="ellipse">
            <a:avLst/>
          </a:prstGeom>
          <a:solidFill>
            <a:srgbClr val="FFFFFF"/>
          </a:solidFill>
          <a:ln w="3175" cap="flat">
            <a:solidFill>
              <a:srgbClr val="383838">
                <a:alpha val="50000"/>
              </a:srgb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23" name="Title 2"/>
          <p:cNvSpPr txBox="1"/>
          <p:nvPr/>
        </p:nvSpPr>
        <p:spPr>
          <a:xfrm>
            <a:off x="9372600" y="4337685"/>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lgn="l">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机器学习</a:t>
            </a:r>
            <a:endParaRPr lang="zh-CN" altLang="en-US" sz="1200" dirty="0">
              <a:solidFill>
                <a:srgbClr val="FFFFFF"/>
              </a:solidFill>
              <a:latin typeface="微软雅黑"/>
              <a:ea typeface="微软雅黑"/>
              <a:cs typeface="微软雅黑"/>
            </a:endParaRPr>
          </a:p>
        </p:txBody>
      </p:sp>
      <p:sp>
        <p:nvSpPr>
          <p:cNvPr id="124" name="椭圆 123"/>
          <p:cNvSpPr/>
          <p:nvPr/>
        </p:nvSpPr>
        <p:spPr>
          <a:xfrm>
            <a:off x="8984615" y="4270375"/>
            <a:ext cx="317500" cy="333375"/>
          </a:xfrm>
          <a:prstGeom prst="ellipse">
            <a:avLst/>
          </a:prstGeom>
          <a:solidFill>
            <a:srgbClr val="FFFFFF"/>
          </a:solidFill>
          <a:ln w="3175" cap="flat">
            <a:solidFill>
              <a:srgbClr val="383838">
                <a:alpha val="50000"/>
              </a:srgb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hangingPunct="0">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29" name="Title 2"/>
          <p:cNvSpPr txBox="1"/>
          <p:nvPr/>
        </p:nvSpPr>
        <p:spPr>
          <a:xfrm>
            <a:off x="11016615" y="2498090"/>
            <a:ext cx="184150" cy="770890"/>
          </a:xfrm>
          <a:prstGeom prst="rect">
            <a:avLst/>
          </a:prstGeom>
        </p:spPr>
        <p:txBody>
          <a:bodyPr vert="eaVert"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HADOOP</a:t>
            </a:r>
            <a:endParaRPr lang="en-US" altLang="zh-CN" sz="1200" dirty="0">
              <a:solidFill>
                <a:srgbClr val="FFFFFF"/>
              </a:solidFill>
              <a:latin typeface="微软雅黑"/>
              <a:ea typeface="微软雅黑"/>
              <a:cs typeface="微软雅黑"/>
            </a:endParaRPr>
          </a:p>
        </p:txBody>
      </p:sp>
      <p:sp>
        <p:nvSpPr>
          <p:cNvPr id="130" name="Title 2"/>
          <p:cNvSpPr txBox="1"/>
          <p:nvPr/>
        </p:nvSpPr>
        <p:spPr>
          <a:xfrm>
            <a:off x="11016615" y="3736975"/>
            <a:ext cx="184150" cy="770890"/>
          </a:xfrm>
          <a:prstGeom prst="rect">
            <a:avLst/>
          </a:prstGeom>
        </p:spPr>
        <p:txBody>
          <a:bodyPr vert="eaVert"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API</a:t>
            </a:r>
            <a:endParaRPr lang="en-US" altLang="zh-CN" sz="1200" dirty="0">
              <a:solidFill>
                <a:srgbClr val="FFFFFF"/>
              </a:solidFill>
              <a:latin typeface="微软雅黑"/>
              <a:ea typeface="微软雅黑"/>
              <a:cs typeface="微软雅黑"/>
            </a:endParaRPr>
          </a:p>
        </p:txBody>
      </p:sp>
      <p:sp>
        <p:nvSpPr>
          <p:cNvPr id="131" name="Title 2"/>
          <p:cNvSpPr txBox="1"/>
          <p:nvPr/>
        </p:nvSpPr>
        <p:spPr>
          <a:xfrm>
            <a:off x="4958715" y="2913380"/>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defRPr>
                <a:solidFill>
                  <a:srgbClr val="FFFFFF"/>
                </a:solidFill>
                <a:latin typeface="微软雅黑"/>
                <a:ea typeface="微软雅黑"/>
                <a:cs typeface="微软雅黑"/>
              </a:defRPr>
            </a:pPr>
            <a:r>
              <a:rPr lang="en-US" sz="1200" dirty="0">
                <a:solidFill>
                  <a:srgbClr val="FFFFFF"/>
                </a:solidFill>
                <a:latin typeface="微软雅黑"/>
                <a:ea typeface="微软雅黑"/>
                <a:cs typeface="微软雅黑"/>
              </a:rPr>
              <a:t>AGENT</a:t>
            </a:r>
            <a:endParaRPr lang="en-US" sz="1200" dirty="0">
              <a:solidFill>
                <a:srgbClr val="FFFFFF"/>
              </a:solidFill>
              <a:latin typeface="微软雅黑"/>
              <a:ea typeface="微软雅黑"/>
              <a:cs typeface="微软雅黑"/>
            </a:endParaRPr>
          </a:p>
        </p:txBody>
      </p:sp>
      <p:sp>
        <p:nvSpPr>
          <p:cNvPr id="132" name="Title 2"/>
          <p:cNvSpPr txBox="1"/>
          <p:nvPr/>
        </p:nvSpPr>
        <p:spPr>
          <a:xfrm>
            <a:off x="5786120" y="2913380"/>
            <a:ext cx="680720"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defRPr>
                <a:solidFill>
                  <a:srgbClr val="FFFFFF"/>
                </a:solidFill>
                <a:latin typeface="微软雅黑"/>
                <a:ea typeface="微软雅黑"/>
                <a:cs typeface="微软雅黑"/>
              </a:defRPr>
            </a:pPr>
            <a:r>
              <a:rPr lang="en-US" sz="1200" dirty="0">
                <a:solidFill>
                  <a:srgbClr val="FFFFFF"/>
                </a:solidFill>
                <a:latin typeface="微软雅黑"/>
                <a:ea typeface="微软雅黑"/>
                <a:cs typeface="微软雅黑"/>
              </a:rPr>
              <a:t>AGENT</a:t>
            </a:r>
            <a:endParaRPr lang="en-US" sz="1200" dirty="0">
              <a:solidFill>
                <a:srgbClr val="FFFFFF"/>
              </a:solidFill>
              <a:latin typeface="微软雅黑"/>
              <a:ea typeface="微软雅黑"/>
              <a:cs typeface="微软雅黑"/>
            </a:endParaRPr>
          </a:p>
        </p:txBody>
      </p:sp>
      <p:sp>
        <p:nvSpPr>
          <p:cNvPr id="133" name="Title 2"/>
          <p:cNvSpPr txBox="1"/>
          <p:nvPr/>
        </p:nvSpPr>
        <p:spPr>
          <a:xfrm>
            <a:off x="5067300" y="4337685"/>
            <a:ext cx="1264285" cy="184150"/>
          </a:xfrm>
          <a:prstGeom prst="rect">
            <a:avLst/>
          </a:prstGeom>
        </p:spPr>
        <p:txBody>
          <a:bodyPr vert="horz" wrap="square" lIns="0" tIns="0" rIns="0" bIns="0" rtlCol="0" anchor="t" anchorCtr="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solidFill>
                  <a:srgbClr val="FFFFFF"/>
                </a:solidFill>
                <a:effectLst/>
                <a:uLnTx/>
                <a:uFillTx/>
                <a:latin typeface="微软雅黑"/>
                <a:ea typeface="微软雅黑"/>
                <a:cs typeface="微软雅黑"/>
              </a:defRPr>
            </a:lvl1pPr>
          </a:lstStyle>
          <a:p>
            <a:pPr>
              <a:defRPr>
                <a:solidFill>
                  <a:srgbClr val="FFFFFF"/>
                </a:solidFill>
                <a:latin typeface="微软雅黑"/>
                <a:ea typeface="微软雅黑"/>
                <a:cs typeface="微软雅黑"/>
              </a:defRPr>
            </a:pPr>
            <a:r>
              <a:rPr lang="en-US" sz="1200" dirty="0">
                <a:solidFill>
                  <a:srgbClr val="FFFFFF"/>
                </a:solidFill>
                <a:latin typeface="微软雅黑"/>
                <a:ea typeface="微软雅黑"/>
                <a:cs typeface="微软雅黑"/>
              </a:rPr>
              <a:t>COLLECTOR</a:t>
            </a:r>
            <a:endParaRPr lang="en-US" sz="1200" dirty="0">
              <a:solidFill>
                <a:srgbClr val="FFFFFF"/>
              </a:solidFill>
              <a:latin typeface="微软雅黑"/>
              <a:ea typeface="微软雅黑"/>
              <a:cs typeface="微软雅黑"/>
            </a:endParaRPr>
          </a:p>
        </p:txBody>
      </p:sp>
      <p:cxnSp>
        <p:nvCxnSpPr>
          <p:cNvPr id="142" name="连接符: 肘形 60"/>
          <p:cNvCxnSpPr>
            <a:stCxn id="32" idx="3"/>
            <a:endCxn id="61" idx="3"/>
          </p:cNvCxnSpPr>
          <p:nvPr/>
        </p:nvCxnSpPr>
        <p:spPr>
          <a:xfrm>
            <a:off x="3038475" y="2573020"/>
            <a:ext cx="13335" cy="1863725"/>
          </a:xfrm>
          <a:prstGeom prst="bentConnector3">
            <a:avLst>
              <a:gd name="adj1" fmla="val 1800000"/>
            </a:avLst>
          </a:prstGeom>
          <a:noFill/>
          <a:ln w="6350" cap="flat">
            <a:solidFill>
              <a:srgbClr val="3368FF"/>
            </a:solidFill>
            <a:prstDash val="solid"/>
            <a:miter lim="800000"/>
          </a:ln>
          <a:effectLst/>
          <a:sp3d/>
        </p:spPr>
        <p:style>
          <a:lnRef idx="0">
            <a:scrgbClr r="0" g="0" b="0"/>
          </a:lnRef>
          <a:fillRef idx="0">
            <a:scrgbClr r="0" g="0" b="0"/>
          </a:fillRef>
          <a:effectRef idx="0">
            <a:scrgbClr r="0" g="0" b="0"/>
          </a:effectRef>
          <a:fontRef idx="none"/>
        </p:style>
      </p:cxnSp>
      <p:cxnSp>
        <p:nvCxnSpPr>
          <p:cNvPr id="143" name="直接连接符 142"/>
          <p:cNvCxnSpPr>
            <a:stCxn id="59" idx="3"/>
          </p:cNvCxnSpPr>
          <p:nvPr/>
        </p:nvCxnSpPr>
        <p:spPr>
          <a:xfrm flipV="1">
            <a:off x="3038475" y="3194050"/>
            <a:ext cx="237490" cy="635"/>
          </a:xfrm>
          <a:prstGeom prst="line">
            <a:avLst/>
          </a:prstGeom>
          <a:noFill/>
          <a:ln w="6350" cap="flat">
            <a:solidFill>
              <a:srgbClr val="3368FF"/>
            </a:solidFill>
            <a:prstDash val="solid"/>
            <a:miter lim="800000"/>
          </a:ln>
          <a:effectLst/>
          <a:sp3d/>
        </p:spPr>
        <p:style>
          <a:lnRef idx="0">
            <a:scrgbClr r="0" g="0" b="0"/>
          </a:lnRef>
          <a:fillRef idx="0">
            <a:scrgbClr r="0" g="0" b="0"/>
          </a:fillRef>
          <a:effectRef idx="0">
            <a:scrgbClr r="0" g="0" b="0"/>
          </a:effectRef>
          <a:fontRef idx="none"/>
        </p:style>
      </p:cxnSp>
      <p:cxnSp>
        <p:nvCxnSpPr>
          <p:cNvPr id="144" name="直接连接符 143"/>
          <p:cNvCxnSpPr/>
          <p:nvPr/>
        </p:nvCxnSpPr>
        <p:spPr>
          <a:xfrm flipV="1">
            <a:off x="3038475" y="3815080"/>
            <a:ext cx="237490" cy="635"/>
          </a:xfrm>
          <a:prstGeom prst="line">
            <a:avLst/>
          </a:prstGeom>
          <a:noFill/>
          <a:ln w="6350" cap="flat">
            <a:solidFill>
              <a:srgbClr val="3368FF"/>
            </a:solidFill>
            <a:prstDash val="solid"/>
            <a:miter lim="800000"/>
          </a:ln>
          <a:effectLst/>
          <a:sp3d/>
        </p:spPr>
        <p:style>
          <a:lnRef idx="0">
            <a:scrgbClr r="0" g="0" b="0"/>
          </a:lnRef>
          <a:fillRef idx="0">
            <a:scrgbClr r="0" g="0" b="0"/>
          </a:fillRef>
          <a:effectRef idx="0">
            <a:scrgbClr r="0" g="0" b="0"/>
          </a:effectRef>
          <a:fontRef idx="none"/>
        </p:style>
      </p:cxnSp>
      <p:cxnSp>
        <p:nvCxnSpPr>
          <p:cNvPr id="145" name="直接连接符 144"/>
          <p:cNvCxnSpPr/>
          <p:nvPr/>
        </p:nvCxnSpPr>
        <p:spPr>
          <a:xfrm flipV="1">
            <a:off x="3268980" y="3504565"/>
            <a:ext cx="237490" cy="635"/>
          </a:xfrm>
          <a:prstGeom prst="line">
            <a:avLst/>
          </a:prstGeom>
          <a:noFill/>
          <a:ln w="6350" cap="flat">
            <a:solidFill>
              <a:srgbClr val="3368FF"/>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46" name="连接符: 肘形 72"/>
          <p:cNvCxnSpPr>
            <a:stCxn id="63" idx="1"/>
            <a:endCxn id="64" idx="1"/>
          </p:cNvCxnSpPr>
          <p:nvPr/>
        </p:nvCxnSpPr>
        <p:spPr>
          <a:xfrm rot="10800000" flipV="1">
            <a:off x="4568825" y="2787015"/>
            <a:ext cx="13335" cy="1436370"/>
          </a:xfrm>
          <a:prstGeom prst="bentConnector3">
            <a:avLst>
              <a:gd name="adj1" fmla="val 1800000"/>
            </a:avLst>
          </a:prstGeom>
          <a:noFill/>
          <a:ln w="6350" cap="flat">
            <a:solidFill>
              <a:srgbClr val="3368FF"/>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147" name="直接连接符 146"/>
          <p:cNvCxnSpPr/>
          <p:nvPr/>
        </p:nvCxnSpPr>
        <p:spPr>
          <a:xfrm>
            <a:off x="4018280" y="3505200"/>
            <a:ext cx="328295" cy="0"/>
          </a:xfrm>
          <a:prstGeom prst="line">
            <a:avLst/>
          </a:prstGeom>
          <a:noFill/>
          <a:ln w="6350" cap="flat">
            <a:solidFill>
              <a:srgbClr val="3368FF"/>
            </a:solidFill>
            <a:prstDash val="solid"/>
            <a:miter lim="800000"/>
            <a:tailEnd type="none"/>
          </a:ln>
          <a:effectLst/>
          <a:sp3d/>
        </p:spPr>
        <p:style>
          <a:lnRef idx="0">
            <a:scrgbClr r="0" g="0" b="0"/>
          </a:lnRef>
          <a:fillRef idx="0">
            <a:scrgbClr r="0" g="0" b="0"/>
          </a:fillRef>
          <a:effectRef idx="0">
            <a:scrgbClr r="0" g="0" b="0"/>
          </a:effectRef>
          <a:fontRef idx="none"/>
        </p:style>
      </p:cxnSp>
      <p:cxnSp>
        <p:nvCxnSpPr>
          <p:cNvPr id="148" name="直接连接符 147"/>
          <p:cNvCxnSpPr>
            <a:stCxn id="63" idx="2"/>
            <a:endCxn id="64" idx="0"/>
          </p:cNvCxnSpPr>
          <p:nvPr/>
        </p:nvCxnSpPr>
        <p:spPr>
          <a:xfrm>
            <a:off x="5699760" y="3257550"/>
            <a:ext cx="0" cy="494665"/>
          </a:xfrm>
          <a:prstGeom prst="line">
            <a:avLst/>
          </a:prstGeom>
          <a:noFill/>
          <a:ln w="6350" cap="flat">
            <a:solidFill>
              <a:srgbClr val="3368FF"/>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49" name="Title 2"/>
          <p:cNvSpPr txBox="1"/>
          <p:nvPr/>
        </p:nvSpPr>
        <p:spPr>
          <a:xfrm>
            <a:off x="5788025" y="3430905"/>
            <a:ext cx="680720" cy="171450"/>
          </a:xfrm>
          <a:prstGeom prst="rect">
            <a:avLst/>
          </a:prstGeom>
        </p:spPr>
        <p:txBody>
          <a:bodyPr vert="horz" wrap="square" lIns="0" tIns="0" rIns="0" bIns="0" rtlCol="0" anchor="t" anchorCtr="0">
            <a:noAutofit/>
          </a:bodyPr>
          <a:lstStyle>
            <a:defPPr>
              <a:defRPr lang="zh-CN">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effectLst/>
                <a:uLnTx/>
                <a:uFillTx/>
                <a:latin typeface="微软雅黑"/>
                <a:ea typeface="微软雅黑"/>
                <a:cs typeface="微软雅黑"/>
              </a:defRPr>
            </a:lvl1pPr>
          </a:lstStyle>
          <a:p>
            <a:pPr algn="l">
              <a:defRPr>
                <a:latin typeface="微软雅黑"/>
                <a:ea typeface="微软雅黑"/>
                <a:cs typeface="微软雅黑"/>
              </a:defRPr>
              <a:lnSpc>
                <a:spcPts val="1120"/>
              </a:lnSpc>
              <a:spcBef>
                <a:spcPts val="0"/>
              </a:spcBef>
              <a:spcAft>
                <a:spcPts val="0"/>
              </a:spcAft>
            </a:pPr>
            <a:r>
              <a:rPr lang="zh-CN" altLang="en-US" sz="1000" dirty="0">
                <a:solidFill>
                  <a:srgbClr val="383838"/>
                </a:solidFill>
                <a:latin typeface="微软雅黑"/>
                <a:ea typeface="微软雅黑"/>
                <a:cs typeface="微软雅黑"/>
              </a:rPr>
              <a:t>数据传输</a:t>
            </a:r>
            <a:endParaRPr lang="zh-CN" altLang="en-US" sz="1000" dirty="0">
              <a:solidFill>
                <a:srgbClr val="383838"/>
              </a:solidFill>
              <a:latin typeface="微软雅黑"/>
              <a:ea typeface="微软雅黑"/>
              <a:cs typeface="微软雅黑"/>
            </a:endParaRPr>
          </a:p>
        </p:txBody>
      </p:sp>
      <p:cxnSp>
        <p:nvCxnSpPr>
          <p:cNvPr id="150" name="直接连接符 149"/>
          <p:cNvCxnSpPr/>
          <p:nvPr/>
        </p:nvCxnSpPr>
        <p:spPr>
          <a:xfrm>
            <a:off x="6348730" y="3505200"/>
            <a:ext cx="1014730" cy="0"/>
          </a:xfrm>
          <a:prstGeom prst="line">
            <a:avLst/>
          </a:prstGeom>
          <a:noFill/>
          <a:ln w="6350" cap="flat">
            <a:solidFill>
              <a:srgbClr val="3368FF"/>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51" name="连接符: 肘形 86"/>
          <p:cNvCxnSpPr>
            <a:stCxn id="66" idx="1"/>
            <a:endCxn id="70" idx="1"/>
          </p:cNvCxnSpPr>
          <p:nvPr/>
        </p:nvCxnSpPr>
        <p:spPr>
          <a:xfrm rot="10800000" flipV="1">
            <a:off x="8446770" y="2573020"/>
            <a:ext cx="13335" cy="1863725"/>
          </a:xfrm>
          <a:prstGeom prst="bentConnector3">
            <a:avLst>
              <a:gd name="adj1" fmla="val 1800000"/>
            </a:avLst>
          </a:prstGeom>
          <a:noFill/>
          <a:ln w="6350" cap="flat">
            <a:solidFill>
              <a:srgbClr val="3368FF"/>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152" name="直接连接符 151"/>
          <p:cNvCxnSpPr/>
          <p:nvPr/>
        </p:nvCxnSpPr>
        <p:spPr>
          <a:xfrm>
            <a:off x="7901940" y="3505200"/>
            <a:ext cx="313055" cy="0"/>
          </a:xfrm>
          <a:prstGeom prst="line">
            <a:avLst/>
          </a:prstGeom>
          <a:noFill/>
          <a:ln w="6350" cap="flat">
            <a:solidFill>
              <a:srgbClr val="3368FF"/>
            </a:solidFill>
            <a:prstDash val="solid"/>
            <a:miter lim="800000"/>
            <a:tailEnd type="none"/>
          </a:ln>
          <a:effectLst/>
          <a:sp3d/>
        </p:spPr>
        <p:style>
          <a:lnRef idx="0">
            <a:scrgbClr r="0" g="0" b="0"/>
          </a:lnRef>
          <a:fillRef idx="0">
            <a:scrgbClr r="0" g="0" b="0"/>
          </a:fillRef>
          <a:effectRef idx="0">
            <a:scrgbClr r="0" g="0" b="0"/>
          </a:effectRef>
          <a:fontRef idx="none"/>
        </p:style>
      </p:cxnSp>
      <p:cxnSp>
        <p:nvCxnSpPr>
          <p:cNvPr id="153" name="直接连接符 152"/>
          <p:cNvCxnSpPr/>
          <p:nvPr/>
        </p:nvCxnSpPr>
        <p:spPr>
          <a:xfrm>
            <a:off x="8214995" y="3194685"/>
            <a:ext cx="232410" cy="0"/>
          </a:xfrm>
          <a:prstGeom prst="line">
            <a:avLst/>
          </a:prstGeom>
          <a:noFill/>
          <a:ln w="6350" cap="flat">
            <a:solidFill>
              <a:srgbClr val="3368FF"/>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54" name="直接连接符 153"/>
          <p:cNvCxnSpPr/>
          <p:nvPr/>
        </p:nvCxnSpPr>
        <p:spPr>
          <a:xfrm>
            <a:off x="8214995" y="3815715"/>
            <a:ext cx="232410" cy="0"/>
          </a:xfrm>
          <a:prstGeom prst="line">
            <a:avLst/>
          </a:prstGeom>
          <a:noFill/>
          <a:ln w="6350" cap="flat">
            <a:solidFill>
              <a:srgbClr val="3368FF"/>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55" name="连接符: 肘形 97"/>
          <p:cNvCxnSpPr>
            <a:stCxn id="4" idx="2"/>
            <a:endCxn id="81" idx="2"/>
          </p:cNvCxnSpPr>
          <p:nvPr/>
        </p:nvCxnSpPr>
        <p:spPr>
          <a:xfrm rot="16200000" flipH="1">
            <a:off x="5743575" y="1004570"/>
            <a:ext cx="13970" cy="7666355"/>
          </a:xfrm>
          <a:prstGeom prst="bentConnector3">
            <a:avLst>
              <a:gd name="adj1" fmla="val 1800000"/>
            </a:avLst>
          </a:prstGeom>
          <a:noFill/>
          <a:ln w="6350" cap="flat">
            <a:solidFill>
              <a:srgbClr val="0042FF"/>
            </a:solidFill>
            <a:prstDash val="solid"/>
            <a:miter lim="800000"/>
          </a:ln>
          <a:effectLst/>
          <a:sp3d/>
        </p:spPr>
        <p:style>
          <a:lnRef idx="0">
            <a:scrgbClr r="0" g="0" b="0"/>
          </a:lnRef>
          <a:fillRef idx="0">
            <a:scrgbClr r="0" g="0" b="0"/>
          </a:fillRef>
          <a:effectRef idx="0">
            <a:scrgbClr r="0" g="0" b="0"/>
          </a:effectRef>
          <a:fontRef idx="none"/>
        </p:style>
      </p:cxnSp>
      <p:cxnSp>
        <p:nvCxnSpPr>
          <p:cNvPr id="156" name="直接连接符 155"/>
          <p:cNvCxnSpPr>
            <a:stCxn id="13" idx="0"/>
          </p:cNvCxnSpPr>
          <p:nvPr/>
        </p:nvCxnSpPr>
        <p:spPr>
          <a:xfrm flipV="1">
            <a:off x="6068695" y="4831080"/>
            <a:ext cx="0" cy="499745"/>
          </a:xfrm>
          <a:prstGeom prst="line">
            <a:avLst/>
          </a:prstGeom>
          <a:noFill/>
          <a:ln w="6350" cap="flat">
            <a:solidFill>
              <a:srgbClr val="3368FF"/>
            </a:solidFill>
            <a:prstDash val="solid"/>
            <a:miter lim="800000"/>
            <a:headEnd type="triangle"/>
            <a:tailEnd type="none"/>
          </a:ln>
          <a:effectLst/>
          <a:sp3d/>
        </p:spPr>
        <p:style>
          <a:lnRef idx="0">
            <a:scrgbClr r="0" g="0" b="0"/>
          </a:lnRef>
          <a:fillRef idx="0">
            <a:scrgbClr r="0" g="0" b="0"/>
          </a:fillRef>
          <a:effectRef idx="0">
            <a:scrgbClr r="0" g="0" b="0"/>
          </a:effectRef>
          <a:fontRef idx="none"/>
        </p:style>
      </p:cxnSp>
      <p:pic>
        <p:nvPicPr>
          <p:cNvPr id="157" name="图形 102"/>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414145" y="2486660"/>
            <a:ext cx="165100" cy="173355"/>
          </a:xfrm>
          <a:prstGeom prst="rect">
            <a:avLst/>
          </a:prstGeom>
        </p:spPr>
      </p:pic>
      <p:pic>
        <p:nvPicPr>
          <p:cNvPr id="158" name="图形 104"/>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414145" y="3109595"/>
            <a:ext cx="165100" cy="173355"/>
          </a:xfrm>
          <a:prstGeom prst="rect">
            <a:avLst/>
          </a:prstGeom>
        </p:spPr>
      </p:pic>
      <p:pic>
        <p:nvPicPr>
          <p:cNvPr id="159" name="图形 106"/>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414145" y="3743325"/>
            <a:ext cx="165100" cy="173355"/>
          </a:xfrm>
          <a:prstGeom prst="rect">
            <a:avLst/>
          </a:prstGeom>
        </p:spPr>
      </p:pic>
      <p:pic>
        <p:nvPicPr>
          <p:cNvPr id="160" name="图形 108"/>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14145" y="4350385"/>
            <a:ext cx="165100" cy="173355"/>
          </a:xfrm>
          <a:prstGeom prst="rect">
            <a:avLst/>
          </a:prstGeom>
        </p:spPr>
      </p:pic>
      <p:pic>
        <p:nvPicPr>
          <p:cNvPr id="161" name="图形 110"/>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041130" y="2465705"/>
            <a:ext cx="204470" cy="214630"/>
          </a:xfrm>
          <a:prstGeom prst="rect">
            <a:avLst/>
          </a:prstGeom>
        </p:spPr>
      </p:pic>
      <p:pic>
        <p:nvPicPr>
          <p:cNvPr id="162" name="图形 112"/>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059545" y="4348480"/>
            <a:ext cx="168275" cy="176530"/>
          </a:xfrm>
          <a:prstGeom prst="rect">
            <a:avLst/>
          </a:prstGeom>
        </p:spPr>
      </p:pic>
      <p:pic>
        <p:nvPicPr>
          <p:cNvPr id="163" name="图形 114"/>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020175" y="3700780"/>
            <a:ext cx="246380" cy="258445"/>
          </a:xfrm>
          <a:prstGeom prst="rect">
            <a:avLst/>
          </a:prstGeom>
        </p:spPr>
      </p:pic>
      <p:pic>
        <p:nvPicPr>
          <p:cNvPr id="164" name="图形 116"/>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9020175" y="3067050"/>
            <a:ext cx="246380" cy="258445"/>
          </a:xfrm>
          <a:prstGeom prst="rect">
            <a:avLst/>
          </a:prstGeom>
        </p:spPr>
      </p:pic>
      <p:sp>
        <p:nvSpPr>
          <p:cNvPr id="165" name="椭圆 164"/>
          <p:cNvSpPr/>
          <p:nvPr/>
        </p:nvSpPr>
        <p:spPr>
          <a:xfrm>
            <a:off x="5850890" y="5461635"/>
            <a:ext cx="434340" cy="455930"/>
          </a:xfrm>
          <a:prstGeom prst="ellipse">
            <a:avLst/>
          </a:prstGeom>
          <a:solidFill>
            <a:srgbClr val="FFFFFF"/>
          </a:solidFill>
          <a:ln w="12700" cap="flat">
            <a:no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cap="none" spc="0" normalizeH="0" baseline="0">
              <a:ln>
                <a:noFill/>
              </a:ln>
              <a:solidFill>
                <a:srgbClr val="383838"/>
              </a:solidFill>
              <a:effectLst/>
              <a:uFillTx/>
              <a:latin typeface="微软雅黑"/>
              <a:ea typeface="微软雅黑"/>
              <a:cs typeface="微软雅黑"/>
              <a:sym typeface="微软雅黑"/>
            </a:endParaRPr>
          </a:p>
        </p:txBody>
      </p:sp>
      <p:pic>
        <p:nvPicPr>
          <p:cNvPr id="166" name="图形 118"/>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5958205" y="5574030"/>
            <a:ext cx="219710" cy="230505"/>
          </a:xfrm>
          <a:prstGeom prst="rect">
            <a:avLst/>
          </a:prstGeom>
        </p:spPr>
      </p:pic>
      <p:pic>
        <p:nvPicPr>
          <p:cNvPr id="167" name="图形 120"/>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5175250" y="2580640"/>
            <a:ext cx="247650" cy="259715"/>
          </a:xfrm>
          <a:prstGeom prst="rect">
            <a:avLst/>
          </a:prstGeom>
        </p:spPr>
      </p:pic>
      <p:pic>
        <p:nvPicPr>
          <p:cNvPr id="168" name="图形 122"/>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5546725" y="3917950"/>
            <a:ext cx="306070" cy="321310"/>
          </a:xfrm>
          <a:prstGeom prst="rect">
            <a:avLst/>
          </a:prstGeom>
        </p:spPr>
      </p:pic>
      <p:pic>
        <p:nvPicPr>
          <p:cNvPr id="169" name="图形 124"/>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6003290" y="2580640"/>
            <a:ext cx="247650" cy="259715"/>
          </a:xfrm>
          <a:prstGeom prst="rect">
            <a:avLst/>
          </a:prstGeom>
        </p:spPr>
      </p:pic>
      <p:pic>
        <p:nvPicPr>
          <p:cNvPr id="170" name="图形 126"/>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10053955" y="5506085"/>
            <a:ext cx="333375" cy="349250"/>
          </a:xfrm>
          <a:prstGeom prst="rect">
            <a:avLst/>
          </a:prstGeom>
        </p:spPr>
      </p:pic>
      <p:pic>
        <p:nvPicPr>
          <p:cNvPr id="171" name="图形 128"/>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8369300" y="5561965"/>
            <a:ext cx="247650" cy="259715"/>
          </a:xfrm>
          <a:prstGeom prst="rect">
            <a:avLst/>
          </a:prstGeom>
        </p:spPr>
      </p:pic>
      <p:pic>
        <p:nvPicPr>
          <p:cNvPr id="172" name="图形 130"/>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3277235" y="5561965"/>
            <a:ext cx="247650" cy="259715"/>
          </a:xfrm>
          <a:prstGeom prst="rect">
            <a:avLst/>
          </a:prstGeom>
        </p:spPr>
      </p:pic>
      <p:pic>
        <p:nvPicPr>
          <p:cNvPr id="173" name="图形 132"/>
          <p:cNvPicPr>
            <a:picLocks noChangeAspect="1"/>
          </p:cNvPicPr>
          <p:nvPr/>
        </p:nvPicPr>
        <p:blipFill>
          <a:blip r:embed="rId31">
            <a:extLst>
              <a:ext uri="{96DAC541-7B7A-43D3-8B79-37D633B846F1}">
                <asvg:svgBlip xmlns:asvg="http://schemas.microsoft.com/office/drawing/2016/SVG/main" r:embed="rId32"/>
              </a:ext>
            </a:extLst>
          </a:blip>
          <a:stretch>
            <a:fillRect/>
          </a:stretch>
        </p:blipFill>
        <p:spPr>
          <a:xfrm>
            <a:off x="1514475" y="5516245"/>
            <a:ext cx="317500" cy="333375"/>
          </a:xfrm>
          <a:prstGeom prst="rect">
            <a:avLst/>
          </a:prstGeom>
        </p:spPr>
      </p:pic>
      <p:sp>
        <p:nvSpPr>
          <p:cNvPr id="174" name="矩形 173"/>
          <p:cNvSpPr/>
          <p:nvPr/>
        </p:nvSpPr>
        <p:spPr>
          <a:xfrm>
            <a:off x="3514725" y="2311400"/>
            <a:ext cx="509270" cy="2378710"/>
          </a:xfrm>
          <a:prstGeom prst="rect">
            <a:avLst/>
          </a:prstGeom>
          <a:solidFill>
            <a:srgbClr val="FFFFFF"/>
          </a:solidFill>
          <a:ln w="6350" cap="flat">
            <a:solidFill>
              <a:srgbClr val="3368FF"/>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algn="ctr" hangingPunct="0">
              <a:defRPr>
                <a:latin typeface="微软雅黑"/>
                <a:ea typeface="微软雅黑"/>
                <a:cs typeface="微软雅黑"/>
              </a:defRPr>
            </a:pPr>
            <a:endParaRPr lang="en-US" dirty="0">
              <a:solidFill>
                <a:srgbClr val="383838"/>
              </a:solidFill>
              <a:latin typeface="微软雅黑"/>
              <a:ea typeface="微软雅黑"/>
              <a:cs typeface="微软雅黑"/>
              <a:sym typeface="微软雅黑"/>
            </a:endParaRPr>
          </a:p>
        </p:txBody>
      </p:sp>
      <p:sp>
        <p:nvSpPr>
          <p:cNvPr id="175" name="Title 2"/>
          <p:cNvSpPr txBox="1"/>
          <p:nvPr/>
        </p:nvSpPr>
        <p:spPr>
          <a:xfrm>
            <a:off x="3705860" y="2981960"/>
            <a:ext cx="119380" cy="861695"/>
          </a:xfrm>
          <a:prstGeom prst="rect">
            <a:avLst/>
          </a:prstGeom>
        </p:spPr>
        <p:txBody>
          <a:bodyPr vert="horz" wrap="square" lIns="0" tIns="0" rIns="0" bIns="0" rtlCol="0" anchor="t" anchorCtr="0">
            <a:spAutoFit/>
          </a:bodyPr>
          <a:lstStyle>
            <a:defPPr>
              <a:defRPr lang="zh-CN">
                <a:latin typeface="微软雅黑"/>
                <a:ea typeface="微软雅黑"/>
                <a:cs typeface="微软雅黑"/>
              </a:defRPr>
            </a:defPPr>
            <a:lvl1pPr marR="0" lvl="0" indent="0" algn="ctr" fontAlgn="auto">
              <a:lnSpc>
                <a:spcPct val="100000"/>
              </a:lnSpc>
              <a:spcBef>
                <a:spcPct val="0"/>
              </a:spcBef>
              <a:spcAft>
                <a:spcPts val="0"/>
              </a:spcAft>
              <a:buClrTx/>
              <a:buSzTx/>
              <a:buFontTx/>
              <a:buNone/>
              <a:defRPr kumimoji="0" sz="1400" b="0" i="0" u="none" strike="noStrike" cap="none" spc="0" normalizeH="0" baseline="0">
                <a:ln>
                  <a:noFill/>
                </a:ln>
                <a:effectLst/>
                <a:uLnTx/>
                <a:uFillTx/>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数据收集</a:t>
            </a:r>
            <a:endParaRPr lang="zh-CN" altLang="en-US" b="1" dirty="0">
              <a:solidFill>
                <a:srgbClr val="0042FF"/>
              </a:solidFill>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熊大的PPT宝库3"/>
          <p:cNvSpPr/>
          <p:nvPr/>
        </p:nvSpPr>
        <p:spPr>
          <a:xfrm>
            <a:off x="796925" y="1220843"/>
            <a:ext cx="10598150" cy="3811532"/>
          </a:xfrm>
          <a:prstGeom prst="roundRect">
            <a:avLst>
              <a:gd name="adj" fmla="val 4401"/>
            </a:avLst>
          </a:prstGeom>
          <a:solidFill>
            <a:srgbClr val="E6E6E6">
              <a:alpha val="30000"/>
            </a:srgbClr>
          </a:solidFill>
          <a:ln w="6350" cap="flat">
            <a:solidFill>
              <a:srgbClr val="3368FF"/>
            </a:solidFill>
            <a:custDash>
              <a:ds d="300000" sp="300000"/>
            </a:custDash>
            <a:miter/>
          </a:ln>
        </p:spPr>
        <p:txBody>
          <a:bodyPr rtlCol="0" anchor="ctr" lIns="0" rIns="0" tIns="0" bIns="0"/>
          <a:lstStyle/>
          <a:p>
            <a:pPr defTabSz="457200">
              <a:defRPr>
                <a:latin typeface="微软雅黑"/>
                <a:ea typeface="微软雅黑"/>
                <a:cs typeface="微软雅黑"/>
              </a:defRPr>
            </a:pPr>
            <a:endParaRPr lang="en-US">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zh-CN" altLang="en-US" sz="2500">
                <a:solidFill>
                  <a:srgbClr val="383838"/>
                </a:solidFill>
                <a:effectLst/>
                <a:latin typeface="微软雅黑"/>
                <a:ea typeface="微软雅黑"/>
                <a:cs typeface="微软雅黑"/>
              </a:rPr>
              <a:t>客户触达与转化路径图</a:t>
            </a:r>
            <a:endParaRPr lang="en-US" altLang="zh-CN"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10" name="熊大的PPT宝库1"/>
          <p:cNvSpPr/>
          <p:nvPr/>
        </p:nvSpPr>
        <p:spPr>
          <a:xfrm>
            <a:off x="9484993" y="5187950"/>
            <a:ext cx="1923687" cy="1035050"/>
          </a:xfrm>
          <a:prstGeom prst="roundRect">
            <a:avLst>
              <a:gd name="adj" fmla="val 4401"/>
            </a:avLst>
          </a:prstGeom>
          <a:solidFill>
            <a:srgbClr val="FFFFFF">
              <a:alpha val="50000"/>
            </a:srgbClr>
          </a:solidFill>
          <a:ln w="6350" cap="flat">
            <a:solidFill>
              <a:srgbClr val="B3D4FE">
                <a:alpha val="50000"/>
              </a:srgbClr>
            </a:solidFill>
            <a:custDash>
              <a:ds d="300000" sp="300000"/>
            </a:custDash>
            <a:miter/>
          </a:ln>
        </p:spPr>
        <p:txBody>
          <a:bodyPr rtlCol="0" anchor="ctr" lIns="0" rIns="0" tIns="0" bIns="0">
            <a:noAutofit/>
          </a:bodyPr>
          <a:lstStyle/>
          <a:p>
            <a:pPr lvl="0" algn="l" defTabSz="457200">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109" name="熊大的PPT宝库2"/>
          <p:cNvSpPr/>
          <p:nvPr/>
        </p:nvSpPr>
        <p:spPr>
          <a:xfrm>
            <a:off x="796925" y="5187950"/>
            <a:ext cx="1923687" cy="1035050"/>
          </a:xfrm>
          <a:prstGeom prst="roundRect">
            <a:avLst>
              <a:gd name="adj" fmla="val 4401"/>
            </a:avLst>
          </a:prstGeom>
          <a:solidFill>
            <a:srgbClr val="FFFFFF">
              <a:alpha val="50000"/>
            </a:srgbClr>
          </a:solidFill>
          <a:ln w="6350" cap="flat">
            <a:solidFill>
              <a:srgbClr val="B3D4FE">
                <a:alpha val="50000"/>
              </a:srgbClr>
            </a:solidFill>
            <a:custDash>
              <a:ds d="300000" sp="300000"/>
            </a:custDash>
            <a:miter/>
          </a:ln>
        </p:spPr>
        <p:txBody>
          <a:bodyPr rtlCol="0" anchor="ctr" lIns="0" rIns="0" tIns="0" bIns="0"/>
          <a:lstStyle/>
          <a:p>
            <a:pPr defTabSz="457200">
              <a:defRPr>
                <a:latin typeface="微软雅黑"/>
                <a:ea typeface="微软雅黑"/>
                <a:cs typeface="微软雅黑"/>
              </a:defRPr>
            </a:pPr>
            <a:endParaRPr lang="en-US">
              <a:latin typeface="微软雅黑"/>
              <a:ea typeface="微软雅黑"/>
              <a:cs typeface="微软雅黑"/>
            </a:endParaRPr>
          </a:p>
        </p:txBody>
      </p:sp>
      <p:sp>
        <p:nvSpPr>
          <p:cNvPr id="88" name="熊大的PPT宝库4"/>
          <p:cNvSpPr/>
          <p:nvPr/>
        </p:nvSpPr>
        <p:spPr>
          <a:xfrm>
            <a:off x="9177684" y="2220654"/>
            <a:ext cx="1934816" cy="2423618"/>
          </a:xfrm>
          <a:prstGeom prst="roundRect">
            <a:avLst>
              <a:gd name="adj" fmla="val 5104"/>
            </a:avLst>
          </a:prstGeom>
          <a:solidFill>
            <a:srgbClr val="FFFFFF"/>
          </a:solidFill>
          <a:ln w="6350" cap="flat">
            <a:solidFill>
              <a:srgbClr val="3368FF"/>
            </a:solidFill>
            <a:prstDash val="solid"/>
            <a:miter/>
          </a:ln>
          <a:effectLst>
            <a:outerShdw blurRad="609600" sx="102000" sy="102000" algn="ctr" rotWithShape="0">
              <a:srgbClr val="3368FF">
                <a:alpha val="5000"/>
              </a:srgbClr>
            </a:outerShdw>
          </a:effectLst>
        </p:spPr>
        <p:txBody>
          <a:bodyPr rtlCol="0" anchor="ctr" lIns="0" rIns="0" tIns="0" bIns="0">
            <a:noAutofit/>
          </a:bodyPr>
          <a:lstStyle/>
          <a:p>
            <a:pPr lvl="0" algn="l" defTabSz="457200">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sp>
        <p:nvSpPr>
          <p:cNvPr id="87" name="熊大的PPT宝库5"/>
          <p:cNvSpPr/>
          <p:nvPr/>
        </p:nvSpPr>
        <p:spPr>
          <a:xfrm>
            <a:off x="1080834" y="2220654"/>
            <a:ext cx="1934816" cy="2423618"/>
          </a:xfrm>
          <a:prstGeom prst="roundRect">
            <a:avLst>
              <a:gd name="adj" fmla="val 5104"/>
            </a:avLst>
          </a:prstGeom>
          <a:solidFill>
            <a:srgbClr val="FFFFFF"/>
          </a:solidFill>
          <a:ln w="6350" cap="flat">
            <a:solidFill>
              <a:srgbClr val="3368FF"/>
            </a:solidFill>
            <a:prstDash val="solid"/>
            <a:miter/>
          </a:ln>
          <a:effectLst>
            <a:outerShdw blurRad="609600" sx="102000" sy="102000" algn="ctr" rotWithShape="0">
              <a:srgbClr val="3368FF">
                <a:alpha val="5000"/>
              </a:srgbClr>
            </a:outerShdw>
          </a:effectLst>
        </p:spPr>
        <p:txBody>
          <a:bodyPr rtlCol="0" anchor="ctr" lIns="0" rIns="0" tIns="0" bIns="0"/>
          <a:lstStyle/>
          <a:p>
            <a:pPr defTabSz="457200">
              <a:defRPr>
                <a:latin typeface="微软雅黑"/>
                <a:ea typeface="微软雅黑"/>
                <a:cs typeface="微软雅黑"/>
              </a:defRPr>
            </a:pPr>
            <a:endParaRPr lang="zh-CN" altLang="en-US" dirty="0">
              <a:latin typeface="微软雅黑"/>
              <a:ea typeface="微软雅黑"/>
              <a:cs typeface="微软雅黑"/>
            </a:endParaRPr>
          </a:p>
        </p:txBody>
      </p:sp>
      <p:sp>
        <p:nvSpPr>
          <p:cNvPr id="92" name="熊大的PPT宝库6"/>
          <p:cNvSpPr/>
          <p:nvPr/>
        </p:nvSpPr>
        <p:spPr>
          <a:xfrm>
            <a:off x="9464898" y="2605957"/>
            <a:ext cx="1440000" cy="338553"/>
          </a:xfrm>
          <a:prstGeom prst="roundRect">
            <a:avLst>
              <a:gd name="adj" fmla="val 50000"/>
            </a:avLst>
          </a:prstGeom>
          <a:solidFill>
            <a:srgbClr val="E6E6E6">
              <a:alpha val="70000"/>
            </a:srgbClr>
          </a:solidFill>
        </p:spPr>
        <p:txBody>
          <a:bodyPr wrap="square" lIns="0" tIns="0" rIns="0" bIns="0" rtlCol="0" anchor="t">
            <a:spAutoFit/>
          </a:bodyPr>
          <a:lstStyle/>
          <a:p>
            <a:pPr lvl="0" algn="just" defTabSz="731520">
              <a:lnSpc>
                <a:spcPct val="130000"/>
              </a:lnSpc>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93" name="熊大的PPT宝库7"/>
          <p:cNvSpPr/>
          <p:nvPr/>
        </p:nvSpPr>
        <p:spPr>
          <a:xfrm>
            <a:off x="9464898" y="2993606"/>
            <a:ext cx="1440000" cy="338553"/>
          </a:xfrm>
          <a:prstGeom prst="roundRect">
            <a:avLst>
              <a:gd name="adj" fmla="val 50000"/>
            </a:avLst>
          </a:prstGeom>
          <a:solidFill>
            <a:srgbClr val="E6E6E6">
              <a:alpha val="70000"/>
            </a:srgbClr>
          </a:solidFill>
        </p:spPr>
        <p:txBody>
          <a:bodyPr wrap="square" lIns="0" tIns="0" rIns="0" bIns="0" rtlCol="0" anchor="t">
            <a:spAutoFit/>
          </a:bodyPr>
          <a:lstStyle/>
          <a:p>
            <a:pPr lvl="0" algn="just" defTabSz="731520">
              <a:lnSpc>
                <a:spcPct val="130000"/>
              </a:lnSpc>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94" name="熊大的PPT宝库8"/>
          <p:cNvSpPr/>
          <p:nvPr/>
        </p:nvSpPr>
        <p:spPr>
          <a:xfrm>
            <a:off x="9464898" y="3381255"/>
            <a:ext cx="1440000" cy="338553"/>
          </a:xfrm>
          <a:prstGeom prst="roundRect">
            <a:avLst>
              <a:gd name="adj" fmla="val 50000"/>
            </a:avLst>
          </a:prstGeom>
          <a:solidFill>
            <a:srgbClr val="E6E6E6">
              <a:alpha val="70000"/>
            </a:srgbClr>
          </a:solidFill>
        </p:spPr>
        <p:txBody>
          <a:bodyPr wrap="square" lIns="0" tIns="0" rIns="0" bIns="0" rtlCol="0" anchor="t">
            <a:spAutoFit/>
          </a:bodyPr>
          <a:lstStyle/>
          <a:p>
            <a:pPr lvl="0" algn="just" defTabSz="731520">
              <a:lnSpc>
                <a:spcPct val="130000"/>
              </a:lnSpc>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95" name="熊大的PPT宝库9"/>
          <p:cNvSpPr/>
          <p:nvPr/>
        </p:nvSpPr>
        <p:spPr>
          <a:xfrm>
            <a:off x="9464898" y="3768904"/>
            <a:ext cx="1440000" cy="338553"/>
          </a:xfrm>
          <a:prstGeom prst="roundRect">
            <a:avLst>
              <a:gd name="adj" fmla="val 50000"/>
            </a:avLst>
          </a:prstGeom>
          <a:solidFill>
            <a:srgbClr val="E6E6E6">
              <a:alpha val="70000"/>
            </a:srgbClr>
          </a:solidFill>
        </p:spPr>
        <p:txBody>
          <a:bodyPr wrap="square" lIns="0" tIns="0" rIns="0" bIns="0" rtlCol="0" anchor="t">
            <a:spAutoFit/>
          </a:bodyPr>
          <a:lstStyle/>
          <a:p>
            <a:pPr lvl="0" algn="just" defTabSz="731520">
              <a:lnSpc>
                <a:spcPct val="130000"/>
              </a:lnSpc>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96" name="熊大的PPT宝库10"/>
          <p:cNvSpPr/>
          <p:nvPr/>
        </p:nvSpPr>
        <p:spPr>
          <a:xfrm>
            <a:off x="9464898" y="4156553"/>
            <a:ext cx="1440000" cy="338553"/>
          </a:xfrm>
          <a:prstGeom prst="roundRect">
            <a:avLst>
              <a:gd name="adj" fmla="val 50000"/>
            </a:avLst>
          </a:prstGeom>
          <a:solidFill>
            <a:srgbClr val="E6E6E6">
              <a:alpha val="70000"/>
            </a:srgbClr>
          </a:solidFill>
        </p:spPr>
        <p:txBody>
          <a:bodyPr wrap="square" lIns="0" tIns="0" rIns="0" bIns="0" rtlCol="0" anchor="t">
            <a:spAutoFit/>
          </a:bodyPr>
          <a:lstStyle/>
          <a:p>
            <a:pPr lvl="0" algn="just" defTabSz="731520">
              <a:lnSpc>
                <a:spcPct val="130000"/>
              </a:lnSpc>
              <a:buClrTx/>
              <a:buSzTx/>
              <a:buFontTx/>
              <a:defRPr>
                <a:latin typeface="微软雅黑"/>
                <a:ea typeface="微软雅黑"/>
                <a:cs typeface="微软雅黑"/>
              </a:defRPr>
            </a:pPr>
            <a:endParaRPr lang="zh-CN" altLang="en-US" sz="1200" dirty="0">
              <a:solidFill>
                <a:srgbClr val="383838"/>
              </a:solidFill>
              <a:latin typeface="微软雅黑"/>
              <a:ea typeface="微软雅黑"/>
              <a:cs typeface="微软雅黑"/>
              <a:sym typeface="微软雅黑"/>
            </a:endParaRPr>
          </a:p>
        </p:txBody>
      </p:sp>
      <p:sp>
        <p:nvSpPr>
          <p:cNvPr id="9" name="熊大的PPT宝库12"/>
          <p:cNvSpPr/>
          <p:nvPr/>
        </p:nvSpPr>
        <p:spPr>
          <a:xfrm>
            <a:off x="4081386" y="2544762"/>
            <a:ext cx="485933" cy="280988"/>
          </a:xfrm>
          <a:custGeom>
            <a:avLst/>
            <a:gdLst>
              <a:gd name="connsiteX0" fmla="*/ 242964 w 485933"/>
              <a:gd name="connsiteY0" fmla="*/ 128588 h 128587"/>
              <a:gd name="connsiteX1" fmla="*/ 485934 w 485933"/>
              <a:gd name="connsiteY1" fmla="*/ 0 h 128587"/>
              <a:gd name="connsiteX2" fmla="*/ 0 w 485933"/>
              <a:gd name="connsiteY2" fmla="*/ 0 h 128587"/>
              <a:gd name="connsiteX3" fmla="*/ 242964 w 485933"/>
              <a:gd name="connsiteY3" fmla="*/ 128588 h 128587"/>
            </a:gdLst>
            <a:ahLst/>
            <a:cxnLst>
              <a:cxn ang="0">
                <a:pos x="connsiteX0" y="connsiteY0"/>
              </a:cxn>
              <a:cxn ang="0">
                <a:pos x="connsiteX1" y="connsiteY1"/>
              </a:cxn>
              <a:cxn ang="0">
                <a:pos x="connsiteX2" y="connsiteY2"/>
              </a:cxn>
              <a:cxn ang="0">
                <a:pos x="connsiteX3" y="connsiteY3"/>
              </a:cxn>
            </a:cxnLst>
            <a:rect l="l" t="t" r="r" b="b"/>
            <a:pathLst>
              <a:path w="485933" h="128587">
                <a:moveTo>
                  <a:pt x="242964" y="128588"/>
                </a:moveTo>
                <a:lnTo>
                  <a:pt x="485934" y="0"/>
                </a:lnTo>
                <a:lnTo>
                  <a:pt x="0" y="0"/>
                </a:lnTo>
                <a:lnTo>
                  <a:pt x="242964" y="128588"/>
                </a:lnTo>
                <a:close/>
              </a:path>
            </a:pathLst>
          </a:custGeom>
          <a:gradFill>
            <a:gsLst>
              <a:gs pos="0">
                <a:srgbClr val="0042FF"/>
              </a:gs>
              <a:gs pos="74055">
                <a:srgbClr val="0042FF">
                  <a:alpha val="0"/>
                </a:srgbClr>
              </a:gs>
            </a:gsLst>
            <a:lin ang="16200000" scaled="1"/>
          </a:gradFill>
          <a:ln w="6350" cap="flat">
            <a:noFill/>
            <a:prstDash val="solid"/>
            <a:miter/>
          </a:ln>
        </p:spPr>
        <p:txBody>
          <a:bodyPr rtlCol="0" anchor="ctr" lIns="0" rIns="0" tIns="0" bIns="0">
            <a:noAutofit/>
          </a:bodyPr>
          <a:lstStyle/>
          <a:p>
            <a:pPr lvl="0" algn="l" defTabSz="457200">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6" name="熊大的PPT宝库13"/>
          <p:cNvSpPr/>
          <p:nvPr/>
        </p:nvSpPr>
        <p:spPr>
          <a:xfrm>
            <a:off x="5847835" y="2544762"/>
            <a:ext cx="485933" cy="280988"/>
          </a:xfrm>
          <a:custGeom>
            <a:avLst/>
            <a:gdLst>
              <a:gd name="connsiteX0" fmla="*/ 242970 w 485933"/>
              <a:gd name="connsiteY0" fmla="*/ 128588 h 128587"/>
              <a:gd name="connsiteX1" fmla="*/ 485934 w 485933"/>
              <a:gd name="connsiteY1" fmla="*/ 0 h 128587"/>
              <a:gd name="connsiteX2" fmla="*/ 0 w 485933"/>
              <a:gd name="connsiteY2" fmla="*/ 0 h 128587"/>
              <a:gd name="connsiteX3" fmla="*/ 242970 w 485933"/>
              <a:gd name="connsiteY3" fmla="*/ 128588 h 128587"/>
            </a:gdLst>
            <a:ahLst/>
            <a:cxnLst>
              <a:cxn ang="0">
                <a:pos x="connsiteX0" y="connsiteY0"/>
              </a:cxn>
              <a:cxn ang="0">
                <a:pos x="connsiteX1" y="connsiteY1"/>
              </a:cxn>
              <a:cxn ang="0">
                <a:pos x="connsiteX2" y="connsiteY2"/>
              </a:cxn>
              <a:cxn ang="0">
                <a:pos x="connsiteX3" y="connsiteY3"/>
              </a:cxn>
            </a:cxnLst>
            <a:rect l="l" t="t" r="r" b="b"/>
            <a:pathLst>
              <a:path w="485933" h="128587">
                <a:moveTo>
                  <a:pt x="242970" y="128588"/>
                </a:moveTo>
                <a:lnTo>
                  <a:pt x="485934" y="0"/>
                </a:lnTo>
                <a:lnTo>
                  <a:pt x="0" y="0"/>
                </a:lnTo>
                <a:lnTo>
                  <a:pt x="242970" y="128588"/>
                </a:lnTo>
                <a:close/>
              </a:path>
            </a:pathLst>
          </a:custGeom>
          <a:gradFill>
            <a:gsLst>
              <a:gs pos="0">
                <a:srgbClr val="0042FF"/>
              </a:gs>
              <a:gs pos="74055">
                <a:srgbClr val="0042FF">
                  <a:alpha val="0"/>
                </a:srgbClr>
              </a:gs>
            </a:gsLst>
            <a:lin ang="16200000" scaled="1"/>
          </a:gradFill>
          <a:ln w="6350" cap="flat">
            <a:noFill/>
            <a:prstDash val="solid"/>
            <a:miter/>
          </a:ln>
        </p:spPr>
        <p:txBody>
          <a:bodyPr rtlCol="0" anchor="ctr" lIns="0" rIns="0" tIns="0" bIns="0">
            <a:noAutofit/>
          </a:bodyPr>
          <a:lstStyle/>
          <a:p>
            <a:pPr lvl="0" algn="l" defTabSz="457200">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17" name="熊大的PPT宝库14"/>
          <p:cNvSpPr/>
          <p:nvPr/>
        </p:nvSpPr>
        <p:spPr>
          <a:xfrm>
            <a:off x="7613142" y="2544762"/>
            <a:ext cx="485901" cy="280988"/>
          </a:xfrm>
          <a:custGeom>
            <a:avLst/>
            <a:gdLst>
              <a:gd name="connsiteX0" fmla="*/ 242951 w 485901"/>
              <a:gd name="connsiteY0" fmla="*/ 128588 h 128587"/>
              <a:gd name="connsiteX1" fmla="*/ 485901 w 485901"/>
              <a:gd name="connsiteY1" fmla="*/ 0 h 128587"/>
              <a:gd name="connsiteX2" fmla="*/ 0 w 485901"/>
              <a:gd name="connsiteY2" fmla="*/ 0 h 128587"/>
              <a:gd name="connsiteX3" fmla="*/ 242951 w 485901"/>
              <a:gd name="connsiteY3" fmla="*/ 128588 h 128587"/>
            </a:gdLst>
            <a:ahLst/>
            <a:cxnLst>
              <a:cxn ang="0">
                <a:pos x="connsiteX0" y="connsiteY0"/>
              </a:cxn>
              <a:cxn ang="0">
                <a:pos x="connsiteX1" y="connsiteY1"/>
              </a:cxn>
              <a:cxn ang="0">
                <a:pos x="connsiteX2" y="connsiteY2"/>
              </a:cxn>
              <a:cxn ang="0">
                <a:pos x="connsiteX3" y="connsiteY3"/>
              </a:cxn>
            </a:cxnLst>
            <a:rect l="l" t="t" r="r" b="b"/>
            <a:pathLst>
              <a:path w="485901" h="128587">
                <a:moveTo>
                  <a:pt x="242951" y="128588"/>
                </a:moveTo>
                <a:lnTo>
                  <a:pt x="485901" y="0"/>
                </a:lnTo>
                <a:lnTo>
                  <a:pt x="0" y="0"/>
                </a:lnTo>
                <a:lnTo>
                  <a:pt x="242951" y="128588"/>
                </a:lnTo>
                <a:close/>
              </a:path>
            </a:pathLst>
          </a:custGeom>
          <a:gradFill>
            <a:gsLst>
              <a:gs pos="0">
                <a:srgbClr val="0042FF"/>
              </a:gs>
              <a:gs pos="74055">
                <a:srgbClr val="0042FF">
                  <a:alpha val="0"/>
                </a:srgbClr>
              </a:gs>
            </a:gsLst>
            <a:lin ang="16200000" scaled="1"/>
          </a:gradFill>
          <a:ln w="6350" cap="flat">
            <a:noFill/>
            <a:prstDash val="solid"/>
            <a:miter/>
          </a:ln>
        </p:spPr>
        <p:txBody>
          <a:bodyPr rtlCol="0" anchor="ctr" lIns="0" rIns="0" tIns="0" bIns="0">
            <a:noAutofit/>
          </a:bodyPr>
          <a:lstStyle/>
          <a:p>
            <a:pPr lvl="0" algn="l" defTabSz="457200">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82" name="熊大的PPT宝库15"/>
          <p:cNvSpPr/>
          <p:nvPr/>
        </p:nvSpPr>
        <p:spPr>
          <a:xfrm>
            <a:off x="1386493" y="2593257"/>
            <a:ext cx="1296000" cy="316029"/>
          </a:xfrm>
          <a:prstGeom prst="roundRect">
            <a:avLst>
              <a:gd name="adj" fmla="val 50000"/>
            </a:avLst>
          </a:prstGeom>
          <a:solidFill>
            <a:srgbClr val="E6E6E6">
              <a:alpha val="70000"/>
            </a:srgbClr>
          </a:solidFill>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8" name="熊大的PPT宝库16"/>
          <p:cNvSpPr/>
          <p:nvPr/>
        </p:nvSpPr>
        <p:spPr>
          <a:xfrm>
            <a:off x="1079500" y="1936750"/>
            <a:ext cx="1943100" cy="488950"/>
          </a:xfrm>
          <a:custGeom>
            <a:avLst/>
            <a:gdLst>
              <a:gd name="connsiteX0" fmla="*/ 0 w 1943100"/>
              <a:gd name="connsiteY0" fmla="*/ 146050 h 488950"/>
              <a:gd name="connsiteX1" fmla="*/ 146050 w 1943100"/>
              <a:gd name="connsiteY1" fmla="*/ 0 h 488950"/>
              <a:gd name="connsiteX2" fmla="*/ 1797050 w 1943100"/>
              <a:gd name="connsiteY2" fmla="*/ 0 h 488950"/>
              <a:gd name="connsiteX3" fmla="*/ 1943100 w 1943100"/>
              <a:gd name="connsiteY3" fmla="*/ 146050 h 488950"/>
              <a:gd name="connsiteX4" fmla="*/ 1943100 w 1943100"/>
              <a:gd name="connsiteY4" fmla="*/ 438150 h 488950"/>
              <a:gd name="connsiteX5" fmla="*/ 1892300 w 1943100"/>
              <a:gd name="connsiteY5" fmla="*/ 488950 h 488950"/>
              <a:gd name="connsiteX6" fmla="*/ 50800 w 1943100"/>
              <a:gd name="connsiteY6" fmla="*/ 488950 h 488950"/>
              <a:gd name="connsiteX7" fmla="*/ 0 w 1943100"/>
              <a:gd name="connsiteY7" fmla="*/ 438150 h 488950"/>
              <a:gd name="connsiteX8" fmla="*/ 0 w 1943100"/>
              <a:gd name="connsiteY8" fmla="*/ 146050 h 488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3100" h="488950">
                <a:moveTo>
                  <a:pt x="0" y="146050"/>
                </a:moveTo>
                <a:cubicBezTo>
                  <a:pt x="0" y="65386"/>
                  <a:pt x="65386" y="0"/>
                  <a:pt x="146050" y="0"/>
                </a:cubicBezTo>
                <a:lnTo>
                  <a:pt x="1797050" y="0"/>
                </a:lnTo>
                <a:cubicBezTo>
                  <a:pt x="1877714" y="0"/>
                  <a:pt x="1943100" y="65386"/>
                  <a:pt x="1943100" y="146050"/>
                </a:cubicBezTo>
                <a:lnTo>
                  <a:pt x="1943100" y="438150"/>
                </a:lnTo>
                <a:cubicBezTo>
                  <a:pt x="1943100" y="466204"/>
                  <a:pt x="1920354" y="488950"/>
                  <a:pt x="1892300" y="488950"/>
                </a:cubicBezTo>
                <a:lnTo>
                  <a:pt x="50800" y="488950"/>
                </a:lnTo>
                <a:cubicBezTo>
                  <a:pt x="22746" y="488950"/>
                  <a:pt x="0" y="466204"/>
                  <a:pt x="0" y="438150"/>
                </a:cubicBezTo>
                <a:lnTo>
                  <a:pt x="0" y="146050"/>
                </a:lnTo>
                <a:close/>
              </a:path>
            </a:pathLst>
          </a:custGeom>
          <a:solidFill>
            <a:srgbClr val="3368FF"/>
          </a:solidFill>
          <a:ln w="6350"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1" name="熊大的PPT宝库17"/>
          <p:cNvSpPr/>
          <p:nvPr/>
        </p:nvSpPr>
        <p:spPr>
          <a:xfrm>
            <a:off x="9169400" y="1936750"/>
            <a:ext cx="1943100" cy="488950"/>
          </a:xfrm>
          <a:custGeom>
            <a:avLst/>
            <a:gdLst>
              <a:gd name="connsiteX0" fmla="*/ 0 w 1943100"/>
              <a:gd name="connsiteY0" fmla="*/ 133350 h 488950"/>
              <a:gd name="connsiteX1" fmla="*/ 133350 w 1943100"/>
              <a:gd name="connsiteY1" fmla="*/ 0 h 488950"/>
              <a:gd name="connsiteX2" fmla="*/ 1809750 w 1943100"/>
              <a:gd name="connsiteY2" fmla="*/ 0 h 488950"/>
              <a:gd name="connsiteX3" fmla="*/ 1943100 w 1943100"/>
              <a:gd name="connsiteY3" fmla="*/ 133350 h 488950"/>
              <a:gd name="connsiteX4" fmla="*/ 1943100 w 1943100"/>
              <a:gd name="connsiteY4" fmla="*/ 438150 h 488950"/>
              <a:gd name="connsiteX5" fmla="*/ 1892300 w 1943100"/>
              <a:gd name="connsiteY5" fmla="*/ 488950 h 488950"/>
              <a:gd name="connsiteX6" fmla="*/ 50800 w 1943100"/>
              <a:gd name="connsiteY6" fmla="*/ 488950 h 488950"/>
              <a:gd name="connsiteX7" fmla="*/ 0 w 1943100"/>
              <a:gd name="connsiteY7" fmla="*/ 438150 h 488950"/>
              <a:gd name="connsiteX8" fmla="*/ 0 w 1943100"/>
              <a:gd name="connsiteY8" fmla="*/ 133350 h 488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3100" h="488950">
                <a:moveTo>
                  <a:pt x="0" y="133350"/>
                </a:moveTo>
                <a:cubicBezTo>
                  <a:pt x="0" y="59703"/>
                  <a:pt x="59690" y="0"/>
                  <a:pt x="133350" y="0"/>
                </a:cubicBezTo>
                <a:lnTo>
                  <a:pt x="1809750" y="0"/>
                </a:lnTo>
                <a:cubicBezTo>
                  <a:pt x="1883410" y="0"/>
                  <a:pt x="1943100" y="59703"/>
                  <a:pt x="1943100" y="133350"/>
                </a:cubicBezTo>
                <a:lnTo>
                  <a:pt x="1943100" y="438150"/>
                </a:lnTo>
                <a:cubicBezTo>
                  <a:pt x="1943100" y="466204"/>
                  <a:pt x="1920367" y="488950"/>
                  <a:pt x="1892300" y="488950"/>
                </a:cubicBezTo>
                <a:lnTo>
                  <a:pt x="50800" y="488950"/>
                </a:lnTo>
                <a:cubicBezTo>
                  <a:pt x="22733" y="488950"/>
                  <a:pt x="0" y="466204"/>
                  <a:pt x="0" y="438150"/>
                </a:cubicBezTo>
                <a:lnTo>
                  <a:pt x="0" y="133350"/>
                </a:lnTo>
                <a:close/>
              </a:path>
            </a:pathLst>
          </a:custGeom>
          <a:solidFill>
            <a:srgbClr val="3368FF"/>
          </a:solidFill>
          <a:ln w="6350" cap="flat">
            <a:noFill/>
            <a:prstDash val="solid"/>
            <a:miter/>
          </a:ln>
        </p:spPr>
        <p:txBody>
          <a:bodyPr rtlCol="0" anchor="ctr" lIns="0" rIns="0" tIns="0" bIns="0">
            <a:noAutofit/>
          </a:bodyPr>
          <a:lstStyle/>
          <a:p>
            <a:pPr lvl="0" algn="l" defTabSz="457200">
              <a:buClrTx/>
              <a:buSzTx/>
              <a:buFontTx/>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sym typeface="微软雅黑"/>
            </a:endParaRPr>
          </a:p>
        </p:txBody>
      </p:sp>
      <p:sp>
        <p:nvSpPr>
          <p:cNvPr id="22" name="熊大的PPT宝库18"/>
          <p:cNvSpPr/>
          <p:nvPr/>
        </p:nvSpPr>
        <p:spPr>
          <a:xfrm>
            <a:off x="3505200" y="1447800"/>
            <a:ext cx="5175250" cy="908050"/>
          </a:xfrm>
          <a:prstGeom prst="roundRect">
            <a:avLst>
              <a:gd name="adj" fmla="val 13559"/>
            </a:avLst>
          </a:prstGeom>
          <a:solidFill>
            <a:srgbClr val="0042FF"/>
          </a:solidFill>
          <a:ln w="6350"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3" name="熊大的PPT宝库19"/>
          <p:cNvSpPr/>
          <p:nvPr/>
        </p:nvSpPr>
        <p:spPr>
          <a:xfrm>
            <a:off x="3511550" y="3054350"/>
            <a:ext cx="1631950" cy="1708150"/>
          </a:xfrm>
          <a:prstGeom prst="roundRect">
            <a:avLst>
              <a:gd name="adj" fmla="val 9058"/>
            </a:avLst>
          </a:prstGeom>
          <a:solidFill>
            <a:srgbClr val="FFFFFF"/>
          </a:solidFill>
          <a:ln w="6350" cap="flat">
            <a:noFill/>
            <a:prstDash val="solid"/>
            <a:miter/>
          </a:ln>
          <a:effectLst>
            <a:outerShdw blurRad="342900" sx="102000" sy="102000" algn="ctr" rotWithShape="0">
              <a:srgbClr val="3368FF">
                <a:alpha val="17000"/>
              </a:srgbClr>
            </a:outerShdw>
          </a:effectLst>
        </p:spPr>
        <p:txBody>
          <a:bodyPr rtlCol="0" anchor="ctr" lIns="0" rIns="0" tIns="0" bIns="0"/>
          <a:lstStyle/>
          <a:p>
            <a:pPr defTabSz="457200">
              <a:defRPr>
                <a:latin typeface="微软雅黑"/>
                <a:ea typeface="微软雅黑"/>
                <a:cs typeface="微软雅黑"/>
              </a:defRPr>
            </a:pPr>
            <a:endParaRPr lang="en-US">
              <a:latin typeface="微软雅黑"/>
              <a:ea typeface="微软雅黑"/>
              <a:cs typeface="微软雅黑"/>
            </a:endParaRPr>
          </a:p>
        </p:txBody>
      </p:sp>
      <p:sp>
        <p:nvSpPr>
          <p:cNvPr id="24" name="熊大的PPT宝库20"/>
          <p:cNvSpPr/>
          <p:nvPr/>
        </p:nvSpPr>
        <p:spPr>
          <a:xfrm>
            <a:off x="5276850" y="3054350"/>
            <a:ext cx="1631950" cy="1708150"/>
          </a:xfrm>
          <a:prstGeom prst="roundRect">
            <a:avLst>
              <a:gd name="adj" fmla="val 8366"/>
            </a:avLst>
          </a:prstGeom>
          <a:solidFill>
            <a:srgbClr val="FFFFFF"/>
          </a:solidFill>
          <a:ln w="6350" cap="flat">
            <a:noFill/>
            <a:prstDash val="solid"/>
            <a:miter/>
          </a:ln>
          <a:effectLst>
            <a:outerShdw blurRad="342900" sx="102000" sy="102000" algn="ctr" rotWithShape="0">
              <a:srgbClr val="3368FF">
                <a:alpha val="17000"/>
              </a:srgbClr>
            </a:outerShdw>
          </a:effectLst>
        </p:spPr>
        <p:txBody>
          <a:bodyPr rtlCol="0" anchor="ctr" lIns="0" rIns="0" tIns="0" bIns="0"/>
          <a:lstStyle/>
          <a:p>
            <a:pPr defTabSz="457200">
              <a:defRPr>
                <a:latin typeface="微软雅黑"/>
                <a:ea typeface="微软雅黑"/>
                <a:cs typeface="微软雅黑"/>
              </a:defRPr>
            </a:pPr>
            <a:endParaRPr lang="en-US">
              <a:latin typeface="微软雅黑"/>
              <a:ea typeface="微软雅黑"/>
              <a:cs typeface="微软雅黑"/>
            </a:endParaRPr>
          </a:p>
        </p:txBody>
      </p:sp>
      <p:sp>
        <p:nvSpPr>
          <p:cNvPr id="25" name="熊大的PPT宝库21"/>
          <p:cNvSpPr/>
          <p:nvPr/>
        </p:nvSpPr>
        <p:spPr>
          <a:xfrm>
            <a:off x="7048500" y="3054350"/>
            <a:ext cx="1631950" cy="1708150"/>
          </a:xfrm>
          <a:prstGeom prst="roundRect">
            <a:avLst>
              <a:gd name="adj" fmla="val 6291"/>
            </a:avLst>
          </a:prstGeom>
          <a:solidFill>
            <a:srgbClr val="FFFFFF"/>
          </a:solidFill>
          <a:ln w="6350" cap="flat">
            <a:noFill/>
            <a:prstDash val="solid"/>
            <a:miter/>
          </a:ln>
          <a:effectLst>
            <a:outerShdw blurRad="342900" sx="102000" sy="102000" algn="ctr" rotWithShape="0">
              <a:srgbClr val="3368FF">
                <a:alpha val="17000"/>
              </a:srgbClr>
            </a:outerShdw>
          </a:effectLst>
        </p:spPr>
        <p:txBody>
          <a:bodyPr rtlCol="0" anchor="ctr" lIns="0" rIns="0" tIns="0" bIns="0"/>
          <a:lstStyle/>
          <a:p>
            <a:pPr defTabSz="457200">
              <a:defRPr>
                <a:latin typeface="微软雅黑"/>
                <a:ea typeface="微软雅黑"/>
                <a:cs typeface="微软雅黑"/>
              </a:defRPr>
            </a:pPr>
            <a:endParaRPr lang="en-US">
              <a:latin typeface="微软雅黑"/>
              <a:ea typeface="微软雅黑"/>
              <a:cs typeface="微软雅黑"/>
            </a:endParaRPr>
          </a:p>
        </p:txBody>
      </p:sp>
      <p:sp>
        <p:nvSpPr>
          <p:cNvPr id="26" name="熊大的PPT宝库22"/>
          <p:cNvSpPr/>
          <p:nvPr/>
        </p:nvSpPr>
        <p:spPr>
          <a:xfrm>
            <a:off x="3263900" y="5181600"/>
            <a:ext cx="5657850" cy="1041400"/>
          </a:xfrm>
          <a:prstGeom prst="roundRect">
            <a:avLst>
              <a:gd name="adj" fmla="val 11789"/>
            </a:avLst>
          </a:prstGeom>
          <a:solidFill>
            <a:srgbClr val="3368FF"/>
          </a:solidFill>
          <a:ln w="6350"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7" name="熊大的PPT宝库23"/>
          <p:cNvSpPr/>
          <p:nvPr/>
        </p:nvSpPr>
        <p:spPr>
          <a:xfrm>
            <a:off x="5148262" y="5536895"/>
            <a:ext cx="128587" cy="324459"/>
          </a:xfrm>
          <a:custGeom>
            <a:avLst/>
            <a:gdLst>
              <a:gd name="connsiteX0" fmla="*/ 128588 w 128587"/>
              <a:gd name="connsiteY0" fmla="*/ 162230 h 324459"/>
              <a:gd name="connsiteX1" fmla="*/ 0 w 128587"/>
              <a:gd name="connsiteY1" fmla="*/ 0 h 324459"/>
              <a:gd name="connsiteX2" fmla="*/ 0 w 128587"/>
              <a:gd name="connsiteY2" fmla="*/ 324459 h 324459"/>
              <a:gd name="connsiteX3" fmla="*/ 128588 w 128587"/>
              <a:gd name="connsiteY3" fmla="*/ 162230 h 324459"/>
            </a:gdLst>
            <a:ahLst/>
            <a:cxnLst>
              <a:cxn ang="0">
                <a:pos x="connsiteX0" y="connsiteY0"/>
              </a:cxn>
              <a:cxn ang="0">
                <a:pos x="connsiteX1" y="connsiteY1"/>
              </a:cxn>
              <a:cxn ang="0">
                <a:pos x="connsiteX2" y="connsiteY2"/>
              </a:cxn>
              <a:cxn ang="0">
                <a:pos x="connsiteX3" y="connsiteY3"/>
              </a:cxn>
            </a:cxnLst>
            <a:rect l="l" t="t" r="r" b="b"/>
            <a:pathLst>
              <a:path w="128587" h="324459">
                <a:moveTo>
                  <a:pt x="128588" y="162230"/>
                </a:moveTo>
                <a:lnTo>
                  <a:pt x="0" y="0"/>
                </a:lnTo>
                <a:lnTo>
                  <a:pt x="0" y="324459"/>
                </a:lnTo>
                <a:lnTo>
                  <a:pt x="128588" y="162230"/>
                </a:lnTo>
                <a:close/>
              </a:path>
            </a:pathLst>
          </a:custGeom>
          <a:gradFill>
            <a:gsLst>
              <a:gs pos="0">
                <a:srgbClr val="FFFFFF"/>
              </a:gs>
              <a:gs pos="74055">
                <a:srgbClr val="FFFFFF">
                  <a:alpha val="0"/>
                </a:srgbClr>
              </a:gs>
            </a:gsLst>
            <a:lin ang="10800000" scaled="1"/>
          </a:gradFill>
          <a:ln w="6350"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8" name="熊大的PPT宝库24"/>
          <p:cNvSpPr/>
          <p:nvPr/>
        </p:nvSpPr>
        <p:spPr>
          <a:xfrm>
            <a:off x="5059362" y="5536895"/>
            <a:ext cx="128587" cy="324459"/>
          </a:xfrm>
          <a:custGeom>
            <a:avLst/>
            <a:gdLst>
              <a:gd name="connsiteX0" fmla="*/ 128588 w 128587"/>
              <a:gd name="connsiteY0" fmla="*/ 162230 h 324459"/>
              <a:gd name="connsiteX1" fmla="*/ 0 w 128587"/>
              <a:gd name="connsiteY1" fmla="*/ 0 h 324459"/>
              <a:gd name="connsiteX2" fmla="*/ 0 w 128587"/>
              <a:gd name="connsiteY2" fmla="*/ 324459 h 324459"/>
              <a:gd name="connsiteX3" fmla="*/ 128588 w 128587"/>
              <a:gd name="connsiteY3" fmla="*/ 162230 h 324459"/>
            </a:gdLst>
            <a:ahLst/>
            <a:cxnLst>
              <a:cxn ang="0">
                <a:pos x="connsiteX0" y="connsiteY0"/>
              </a:cxn>
              <a:cxn ang="0">
                <a:pos x="connsiteX1" y="connsiteY1"/>
              </a:cxn>
              <a:cxn ang="0">
                <a:pos x="connsiteX2" y="connsiteY2"/>
              </a:cxn>
              <a:cxn ang="0">
                <a:pos x="connsiteX3" y="connsiteY3"/>
              </a:cxn>
            </a:cxnLst>
            <a:rect l="l" t="t" r="r" b="b"/>
            <a:pathLst>
              <a:path w="128587" h="324459">
                <a:moveTo>
                  <a:pt x="128588" y="162230"/>
                </a:moveTo>
                <a:lnTo>
                  <a:pt x="0" y="0"/>
                </a:lnTo>
                <a:lnTo>
                  <a:pt x="0" y="324459"/>
                </a:lnTo>
                <a:lnTo>
                  <a:pt x="128588" y="162230"/>
                </a:lnTo>
                <a:close/>
              </a:path>
            </a:pathLst>
          </a:custGeom>
          <a:gradFill>
            <a:gsLst>
              <a:gs pos="0">
                <a:srgbClr val="FFFFFF"/>
              </a:gs>
              <a:gs pos="74055">
                <a:srgbClr val="FFFFFF">
                  <a:alpha val="0"/>
                </a:srgbClr>
              </a:gs>
            </a:gsLst>
            <a:lin ang="10800000" scaled="1"/>
          </a:gradFill>
          <a:ln w="6350"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9" name="熊大的PPT宝库25"/>
          <p:cNvSpPr/>
          <p:nvPr/>
        </p:nvSpPr>
        <p:spPr>
          <a:xfrm>
            <a:off x="7040562" y="5536895"/>
            <a:ext cx="128587" cy="324459"/>
          </a:xfrm>
          <a:custGeom>
            <a:avLst/>
            <a:gdLst>
              <a:gd name="connsiteX0" fmla="*/ 128588 w 128587"/>
              <a:gd name="connsiteY0" fmla="*/ 162230 h 324459"/>
              <a:gd name="connsiteX1" fmla="*/ 0 w 128587"/>
              <a:gd name="connsiteY1" fmla="*/ 0 h 324459"/>
              <a:gd name="connsiteX2" fmla="*/ 0 w 128587"/>
              <a:gd name="connsiteY2" fmla="*/ 324459 h 324459"/>
              <a:gd name="connsiteX3" fmla="*/ 128588 w 128587"/>
              <a:gd name="connsiteY3" fmla="*/ 162230 h 324459"/>
            </a:gdLst>
            <a:ahLst/>
            <a:cxnLst>
              <a:cxn ang="0">
                <a:pos x="connsiteX0" y="connsiteY0"/>
              </a:cxn>
              <a:cxn ang="0">
                <a:pos x="connsiteX1" y="connsiteY1"/>
              </a:cxn>
              <a:cxn ang="0">
                <a:pos x="connsiteX2" y="connsiteY2"/>
              </a:cxn>
              <a:cxn ang="0">
                <a:pos x="connsiteX3" y="connsiteY3"/>
              </a:cxn>
            </a:cxnLst>
            <a:rect l="l" t="t" r="r" b="b"/>
            <a:pathLst>
              <a:path w="128587" h="324459">
                <a:moveTo>
                  <a:pt x="128588" y="162230"/>
                </a:moveTo>
                <a:lnTo>
                  <a:pt x="0" y="0"/>
                </a:lnTo>
                <a:lnTo>
                  <a:pt x="0" y="324459"/>
                </a:lnTo>
                <a:lnTo>
                  <a:pt x="128588" y="162230"/>
                </a:lnTo>
                <a:close/>
              </a:path>
            </a:pathLst>
          </a:custGeom>
          <a:gradFill>
            <a:gsLst>
              <a:gs pos="0">
                <a:srgbClr val="FFFFFF"/>
              </a:gs>
              <a:gs pos="74055">
                <a:srgbClr val="FFFFFF">
                  <a:alpha val="0"/>
                </a:srgbClr>
              </a:gs>
            </a:gsLst>
            <a:lin ang="10800000" scaled="1"/>
          </a:gradFill>
          <a:ln w="6350"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30" name="熊大的PPT宝库26"/>
          <p:cNvSpPr/>
          <p:nvPr/>
        </p:nvSpPr>
        <p:spPr>
          <a:xfrm>
            <a:off x="6951662" y="5536895"/>
            <a:ext cx="128587" cy="324459"/>
          </a:xfrm>
          <a:custGeom>
            <a:avLst/>
            <a:gdLst>
              <a:gd name="connsiteX0" fmla="*/ 128588 w 128587"/>
              <a:gd name="connsiteY0" fmla="*/ 162230 h 324459"/>
              <a:gd name="connsiteX1" fmla="*/ 0 w 128587"/>
              <a:gd name="connsiteY1" fmla="*/ 0 h 324459"/>
              <a:gd name="connsiteX2" fmla="*/ 0 w 128587"/>
              <a:gd name="connsiteY2" fmla="*/ 324459 h 324459"/>
              <a:gd name="connsiteX3" fmla="*/ 128588 w 128587"/>
              <a:gd name="connsiteY3" fmla="*/ 162230 h 324459"/>
            </a:gdLst>
            <a:ahLst/>
            <a:cxnLst>
              <a:cxn ang="0">
                <a:pos x="connsiteX0" y="connsiteY0"/>
              </a:cxn>
              <a:cxn ang="0">
                <a:pos x="connsiteX1" y="connsiteY1"/>
              </a:cxn>
              <a:cxn ang="0">
                <a:pos x="connsiteX2" y="connsiteY2"/>
              </a:cxn>
              <a:cxn ang="0">
                <a:pos x="connsiteX3" y="connsiteY3"/>
              </a:cxn>
            </a:cxnLst>
            <a:rect l="l" t="t" r="r" b="b"/>
            <a:pathLst>
              <a:path w="128587" h="324459">
                <a:moveTo>
                  <a:pt x="128588" y="162230"/>
                </a:moveTo>
                <a:lnTo>
                  <a:pt x="0" y="0"/>
                </a:lnTo>
                <a:lnTo>
                  <a:pt x="0" y="324459"/>
                </a:lnTo>
                <a:lnTo>
                  <a:pt x="128588" y="162230"/>
                </a:lnTo>
                <a:close/>
              </a:path>
            </a:pathLst>
          </a:custGeom>
          <a:gradFill>
            <a:gsLst>
              <a:gs pos="0">
                <a:srgbClr val="FFFFFF"/>
              </a:gs>
              <a:gs pos="74055">
                <a:srgbClr val="FFFFFF">
                  <a:alpha val="0"/>
                </a:srgbClr>
              </a:gs>
            </a:gsLst>
            <a:lin ang="10800000" scaled="1"/>
          </a:gradFill>
          <a:ln w="6350" cap="flat">
            <a:noFill/>
            <a:prstDash val="solid"/>
            <a:miter/>
          </a:ln>
        </p:spPr>
        <p:txBody>
          <a:bodyPr rtlCol="0" anchor="ctr" lIns="0" rIns="0" tIns="0" bIns="0"/>
          <a:lstStyle/>
          <a:p>
            <a:pPr defTabSz="457200">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31" name="熊大的PPT宝库27"/>
          <p:cNvSpPr/>
          <p:nvPr/>
        </p:nvSpPr>
        <p:spPr>
          <a:xfrm>
            <a:off x="1497933" y="4953635"/>
            <a:ext cx="483933" cy="295275"/>
          </a:xfrm>
          <a:custGeom>
            <a:avLst/>
            <a:gdLst>
              <a:gd name="connsiteX0" fmla="*/ 241967 w 483933"/>
              <a:gd name="connsiteY0" fmla="*/ 295275 h 295275"/>
              <a:gd name="connsiteX1" fmla="*/ 483934 w 483933"/>
              <a:gd name="connsiteY1" fmla="*/ 0 h 295275"/>
              <a:gd name="connsiteX2" fmla="*/ 0 w 483933"/>
              <a:gd name="connsiteY2" fmla="*/ 0 h 295275"/>
              <a:gd name="connsiteX3" fmla="*/ 241967 w 483933"/>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483933" h="295275">
                <a:moveTo>
                  <a:pt x="241967" y="295275"/>
                </a:moveTo>
                <a:lnTo>
                  <a:pt x="483934" y="0"/>
                </a:lnTo>
                <a:lnTo>
                  <a:pt x="0" y="0"/>
                </a:lnTo>
                <a:lnTo>
                  <a:pt x="241967" y="295275"/>
                </a:lnTo>
                <a:close/>
              </a:path>
            </a:pathLst>
          </a:custGeom>
          <a:gradFill>
            <a:gsLst>
              <a:gs pos="0">
                <a:srgbClr val="3368FF"/>
              </a:gs>
              <a:gs pos="62000">
                <a:srgbClr val="B3D4FE">
                  <a:alpha val="0"/>
                </a:srgbClr>
              </a:gs>
            </a:gsLst>
            <a:lin ang="16200000" scaled="1"/>
          </a:gradFill>
          <a:ln w="6350" cap="flat">
            <a:noFill/>
            <a:prstDash val="solid"/>
            <a:miter/>
          </a:ln>
        </p:spPr>
        <p:txBody>
          <a:bodyPr rtlCol="0" anchor="ctr" lIns="0" rIns="0" tIns="0" bIns="0"/>
          <a:lstStyle/>
          <a:p>
            <a:pPr defTabSz="457200">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33" name="熊大的PPT宝库29"/>
          <p:cNvSpPr txBox="1"/>
          <p:nvPr/>
        </p:nvSpPr>
        <p:spPr>
          <a:xfrm>
            <a:off x="1497051" y="1996559"/>
            <a:ext cx="1107996" cy="369332"/>
          </a:xfrm>
          <a:prstGeom prst="rect">
            <a:avLst/>
          </a:prstGeom>
          <a:noFill/>
        </p:spPr>
        <p:txBody>
          <a:bodyPr wrap="none" rtlCol="0" lIns="0" rIns="0" tIns="0" bIns="0">
            <a:spAutoFit/>
          </a:bodyPr>
          <a:lstStyle/>
          <a:p>
            <a:pPr algn="ctr" defTabSz="457200">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潜在客户</a:t>
            </a:r>
            <a:endParaRPr lang="zh-CN" altLang="en-US" dirty="0">
              <a:solidFill>
                <a:srgbClr val="FFFFFF"/>
              </a:solidFill>
              <a:latin typeface="微软雅黑"/>
              <a:ea typeface="微软雅黑"/>
              <a:cs typeface="微软雅黑"/>
            </a:endParaRPr>
          </a:p>
        </p:txBody>
      </p:sp>
      <p:sp>
        <p:nvSpPr>
          <p:cNvPr id="34" name="熊大的PPT宝库30"/>
          <p:cNvSpPr txBox="1"/>
          <p:nvPr/>
        </p:nvSpPr>
        <p:spPr>
          <a:xfrm>
            <a:off x="9579028" y="1996559"/>
            <a:ext cx="1107996" cy="369332"/>
          </a:xfrm>
          <a:prstGeom prst="rect">
            <a:avLst/>
          </a:prstGeom>
          <a:noFill/>
        </p:spPr>
        <p:txBody>
          <a:bodyPr wrap="none" rtlCol="0" lIns="0" rIns="0" tIns="0" bIns="0">
            <a:spAutoFit/>
          </a:bodyPr>
          <a:lstStyle/>
          <a:p>
            <a:pPr algn="ctr" defTabSz="457200">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平台内容</a:t>
            </a:r>
            <a:endParaRPr lang="zh-CN" altLang="en-US" dirty="0">
              <a:solidFill>
                <a:srgbClr val="FFFFFF"/>
              </a:solidFill>
              <a:latin typeface="微软雅黑"/>
              <a:ea typeface="微软雅黑"/>
              <a:cs typeface="微软雅黑"/>
            </a:endParaRPr>
          </a:p>
        </p:txBody>
      </p:sp>
      <p:sp>
        <p:nvSpPr>
          <p:cNvPr id="35" name="熊大的PPT宝库31"/>
          <p:cNvSpPr txBox="1"/>
          <p:nvPr/>
        </p:nvSpPr>
        <p:spPr>
          <a:xfrm>
            <a:off x="4384671" y="1584249"/>
            <a:ext cx="3416320" cy="369332"/>
          </a:xfrm>
          <a:prstGeom prst="rect">
            <a:avLst/>
          </a:prstGeom>
          <a:noFill/>
        </p:spPr>
        <p:txBody>
          <a:bodyPr wrap="none" rtlCol="0" lIns="0" rIns="0" tIns="0" bIns="0">
            <a:spAutoFit/>
          </a:bodyPr>
          <a:lstStyle/>
          <a:p>
            <a:pPr algn="ctr" defTabSz="457200">
              <a:defRPr>
                <a:solidFill>
                  <a:srgbClr val="FFFFFF"/>
                </a:solidFill>
                <a:latin typeface="微软雅黑"/>
                <a:ea typeface="微软雅黑"/>
                <a:cs typeface="微软雅黑"/>
              </a:defRPr>
            </a:pPr>
            <a:r>
              <a:rPr lang="zh-CN" altLang="en-US" dirty="0">
                <a:solidFill>
                  <a:srgbClr val="FFFFFF"/>
                </a:solidFill>
                <a:latin typeface="微软雅黑"/>
                <a:ea typeface="微软雅黑"/>
                <a:cs typeface="微软雅黑"/>
              </a:rPr>
              <a:t>公司与员工客户产生触达的手段</a:t>
            </a:r>
            <a:endParaRPr lang="zh-CN" altLang="en-US" dirty="0">
              <a:solidFill>
                <a:srgbClr val="FFFFFF"/>
              </a:solidFill>
              <a:latin typeface="微软雅黑"/>
              <a:ea typeface="微软雅黑"/>
              <a:cs typeface="微软雅黑"/>
            </a:endParaRPr>
          </a:p>
        </p:txBody>
      </p:sp>
      <p:sp>
        <p:nvSpPr>
          <p:cNvPr id="36" name="熊大的PPT宝库32"/>
          <p:cNvSpPr txBox="1"/>
          <p:nvPr/>
        </p:nvSpPr>
        <p:spPr>
          <a:xfrm>
            <a:off x="3780526" y="1974590"/>
            <a:ext cx="800219" cy="276999"/>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内容宣发</a:t>
            </a:r>
            <a:endParaRPr lang="zh-CN" altLang="en-US" sz="1200" dirty="0">
              <a:solidFill>
                <a:srgbClr val="FFFFFF"/>
              </a:solidFill>
              <a:latin typeface="微软雅黑"/>
              <a:ea typeface="微软雅黑"/>
              <a:cs typeface="微软雅黑"/>
            </a:endParaRPr>
          </a:p>
        </p:txBody>
      </p:sp>
      <p:sp>
        <p:nvSpPr>
          <p:cNvPr id="37" name="熊大的PPT宝库33"/>
          <p:cNvSpPr txBox="1"/>
          <p:nvPr/>
        </p:nvSpPr>
        <p:spPr>
          <a:xfrm>
            <a:off x="4545405" y="1974590"/>
            <a:ext cx="800219" cy="276999"/>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活动营销</a:t>
            </a:r>
            <a:endParaRPr lang="zh-CN" altLang="en-US" sz="1200" dirty="0">
              <a:solidFill>
                <a:srgbClr val="FFFFFF"/>
              </a:solidFill>
              <a:latin typeface="微软雅黑"/>
              <a:ea typeface="微软雅黑"/>
              <a:cs typeface="微软雅黑"/>
            </a:endParaRPr>
          </a:p>
        </p:txBody>
      </p:sp>
      <p:sp>
        <p:nvSpPr>
          <p:cNvPr id="38" name="熊大的PPT宝库34"/>
          <p:cNvSpPr txBox="1"/>
          <p:nvPr/>
        </p:nvSpPr>
        <p:spPr>
          <a:xfrm>
            <a:off x="5310282" y="1974590"/>
            <a:ext cx="800219" cy="276999"/>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游戏玩法</a:t>
            </a:r>
            <a:endParaRPr lang="zh-CN" altLang="en-US" sz="1200" dirty="0">
              <a:solidFill>
                <a:srgbClr val="FFFFFF"/>
              </a:solidFill>
              <a:latin typeface="微软雅黑"/>
              <a:ea typeface="微软雅黑"/>
              <a:cs typeface="微软雅黑"/>
            </a:endParaRPr>
          </a:p>
        </p:txBody>
      </p:sp>
      <p:sp>
        <p:nvSpPr>
          <p:cNvPr id="39" name="熊大的PPT宝库35"/>
          <p:cNvSpPr txBox="1"/>
          <p:nvPr/>
        </p:nvSpPr>
        <p:spPr>
          <a:xfrm>
            <a:off x="6075159" y="1974590"/>
            <a:ext cx="800219" cy="276999"/>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权益引导</a:t>
            </a:r>
            <a:endParaRPr lang="zh-CN" altLang="en-US" sz="1200" dirty="0">
              <a:solidFill>
                <a:srgbClr val="FFFFFF"/>
              </a:solidFill>
              <a:latin typeface="微软雅黑"/>
              <a:ea typeface="微软雅黑"/>
              <a:cs typeface="微软雅黑"/>
            </a:endParaRPr>
          </a:p>
        </p:txBody>
      </p:sp>
      <p:sp>
        <p:nvSpPr>
          <p:cNvPr id="40" name="熊大的PPT宝库36"/>
          <p:cNvSpPr txBox="1"/>
          <p:nvPr/>
        </p:nvSpPr>
        <p:spPr>
          <a:xfrm>
            <a:off x="6840033" y="1974590"/>
            <a:ext cx="800219" cy="276999"/>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广告投放</a:t>
            </a:r>
            <a:endParaRPr lang="zh-CN" altLang="en-US" sz="1200" dirty="0">
              <a:solidFill>
                <a:srgbClr val="FFFFFF"/>
              </a:solidFill>
              <a:latin typeface="微软雅黑"/>
              <a:ea typeface="微软雅黑"/>
              <a:cs typeface="微软雅黑"/>
            </a:endParaRPr>
          </a:p>
        </p:txBody>
      </p:sp>
      <p:sp>
        <p:nvSpPr>
          <p:cNvPr id="41" name="熊大的PPT宝库37"/>
          <p:cNvSpPr txBox="1"/>
          <p:nvPr/>
        </p:nvSpPr>
        <p:spPr>
          <a:xfrm>
            <a:off x="7604909" y="1974590"/>
            <a:ext cx="800219" cy="276999"/>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rPr>
              <a:t>渠道合作</a:t>
            </a:r>
            <a:endParaRPr lang="zh-CN" altLang="en-US" sz="1200" dirty="0">
              <a:solidFill>
                <a:srgbClr val="FFFFFF"/>
              </a:solidFill>
              <a:latin typeface="微软雅黑"/>
              <a:ea typeface="微软雅黑"/>
              <a:cs typeface="微软雅黑"/>
            </a:endParaRPr>
          </a:p>
        </p:txBody>
      </p:sp>
      <p:sp>
        <p:nvSpPr>
          <p:cNvPr id="42" name="熊大的PPT宝库38"/>
          <p:cNvSpPr txBox="1"/>
          <p:nvPr/>
        </p:nvSpPr>
        <p:spPr>
          <a:xfrm>
            <a:off x="3880486" y="3111794"/>
            <a:ext cx="894080" cy="306705"/>
          </a:xfrm>
          <a:prstGeom prst="rect">
            <a:avLst/>
          </a:prstGeom>
          <a:noFill/>
        </p:spPr>
        <p:txBody>
          <a:bodyPr wrap="none" rtlCol="0">
            <a:spAutoFit/>
          </a:bodyPr>
          <a:lstStyle/>
          <a:p>
            <a:pPr algn="ctr" defTabSz="457200">
              <a:defRPr>
                <a:latin typeface="微软雅黑"/>
                <a:ea typeface="微软雅黑"/>
                <a:cs typeface="微软雅黑"/>
              </a:defRPr>
            </a:pPr>
            <a:r>
              <a:rPr lang="zh-CN" altLang="en-US" sz="1400" b="1" dirty="0">
                <a:solidFill>
                  <a:srgbClr val="0042FF"/>
                </a:solidFill>
                <a:latin typeface="微软雅黑"/>
                <a:ea typeface="微软雅黑"/>
                <a:cs typeface="微软雅黑"/>
              </a:rPr>
              <a:t>私人场景</a:t>
            </a:r>
            <a:endParaRPr lang="zh-CN" altLang="en-US" sz="1400" b="1" dirty="0">
              <a:solidFill>
                <a:srgbClr val="0042FF"/>
              </a:solidFill>
              <a:latin typeface="微软雅黑"/>
              <a:ea typeface="微软雅黑"/>
              <a:cs typeface="微软雅黑"/>
            </a:endParaRPr>
          </a:p>
        </p:txBody>
      </p:sp>
      <p:sp>
        <p:nvSpPr>
          <p:cNvPr id="43" name="熊大的PPT宝库39"/>
          <p:cNvSpPr txBox="1"/>
          <p:nvPr/>
        </p:nvSpPr>
        <p:spPr>
          <a:xfrm>
            <a:off x="5645786" y="3111794"/>
            <a:ext cx="894080" cy="306705"/>
          </a:xfrm>
          <a:prstGeom prst="rect">
            <a:avLst/>
          </a:prstGeom>
          <a:noFill/>
        </p:spPr>
        <p:txBody>
          <a:bodyPr wrap="none" rtlCol="0">
            <a:spAutoFit/>
          </a:bodyPr>
          <a:lstStyle/>
          <a:p>
            <a:pPr algn="ctr" defTabSz="457200">
              <a:defRPr>
                <a:latin typeface="微软雅黑"/>
                <a:ea typeface="微软雅黑"/>
                <a:cs typeface="微软雅黑"/>
              </a:defRPr>
            </a:pPr>
            <a:r>
              <a:rPr lang="zh-CN" altLang="en-US" sz="1400" b="1" dirty="0">
                <a:solidFill>
                  <a:srgbClr val="0042FF"/>
                </a:solidFill>
                <a:latin typeface="微软雅黑"/>
                <a:ea typeface="微软雅黑"/>
                <a:cs typeface="微软雅黑"/>
              </a:rPr>
              <a:t>公共场景</a:t>
            </a:r>
            <a:endParaRPr lang="zh-CN" altLang="en-US" sz="1400" b="1" dirty="0">
              <a:solidFill>
                <a:srgbClr val="0042FF"/>
              </a:solidFill>
              <a:latin typeface="微软雅黑"/>
              <a:ea typeface="微软雅黑"/>
              <a:cs typeface="微软雅黑"/>
            </a:endParaRPr>
          </a:p>
        </p:txBody>
      </p:sp>
      <p:sp>
        <p:nvSpPr>
          <p:cNvPr id="44" name="熊大的PPT宝库40"/>
          <p:cNvSpPr txBox="1"/>
          <p:nvPr/>
        </p:nvSpPr>
        <p:spPr>
          <a:xfrm>
            <a:off x="7417436" y="3111794"/>
            <a:ext cx="894080" cy="306705"/>
          </a:xfrm>
          <a:prstGeom prst="rect">
            <a:avLst/>
          </a:prstGeom>
          <a:noFill/>
        </p:spPr>
        <p:txBody>
          <a:bodyPr wrap="none" rtlCol="0">
            <a:spAutoFit/>
          </a:bodyPr>
          <a:lstStyle/>
          <a:p>
            <a:pPr algn="ctr" defTabSz="457200">
              <a:defRPr>
                <a:latin typeface="微软雅黑"/>
                <a:ea typeface="微软雅黑"/>
                <a:cs typeface="微软雅黑"/>
              </a:defRPr>
            </a:pPr>
            <a:r>
              <a:rPr lang="zh-CN" altLang="en-US" sz="1400" b="1" dirty="0">
                <a:solidFill>
                  <a:srgbClr val="0042FF"/>
                </a:solidFill>
                <a:latin typeface="微软雅黑"/>
                <a:ea typeface="微软雅黑"/>
                <a:cs typeface="微软雅黑"/>
              </a:rPr>
              <a:t>商业场景</a:t>
            </a:r>
            <a:endParaRPr lang="zh-CN" altLang="en-US" sz="1400" b="1" dirty="0">
              <a:solidFill>
                <a:srgbClr val="0042FF"/>
              </a:solidFill>
              <a:latin typeface="微软雅黑"/>
              <a:ea typeface="微软雅黑"/>
              <a:cs typeface="微软雅黑"/>
            </a:endParaRPr>
          </a:p>
        </p:txBody>
      </p:sp>
      <p:sp>
        <p:nvSpPr>
          <p:cNvPr id="45" name="熊大的PPT宝库41"/>
          <p:cNvSpPr txBox="1"/>
          <p:nvPr/>
        </p:nvSpPr>
        <p:spPr>
          <a:xfrm>
            <a:off x="979591" y="5409471"/>
            <a:ext cx="1569660" cy="646331"/>
          </a:xfrm>
          <a:prstGeom prst="rect">
            <a:avLst/>
          </a:prstGeom>
          <a:noFill/>
        </p:spPr>
        <p:txBody>
          <a:bodyPr wrap="none" rtlCol="0" lIns="0" rIns="0" tIns="0" bIns="0">
            <a:spAutoFit/>
          </a:bodyPr>
          <a:lstStyle/>
          <a:p>
            <a:pPr algn="ctr" defTabSz="457200">
              <a:defRPr>
                <a:latin typeface="微软雅黑"/>
                <a:ea typeface="微软雅黑"/>
                <a:cs typeface="微软雅黑"/>
              </a:defRPr>
            </a:pPr>
            <a:r>
              <a:rPr lang="zh-CN" altLang="en-US" dirty="0">
                <a:solidFill>
                  <a:srgbClr val="383838"/>
                </a:solidFill>
                <a:latin typeface="微软雅黑"/>
                <a:ea typeface="微软雅黑"/>
                <a:cs typeface="微软雅黑"/>
              </a:rPr>
              <a:t>激发客户</a:t>
            </a:r>
            <a:endParaRPr lang="en-US" altLang="zh-CN" dirty="0">
              <a:solidFill>
                <a:srgbClr val="383838"/>
              </a:solidFill>
              <a:latin typeface="微软雅黑"/>
              <a:ea typeface="微软雅黑"/>
              <a:cs typeface="微软雅黑"/>
            </a:endParaRPr>
          </a:p>
          <a:p>
            <a:pPr algn="ctr" defTabSz="457200">
              <a:defRPr>
                <a:latin typeface="微软雅黑"/>
                <a:ea typeface="微软雅黑"/>
                <a:cs typeface="微软雅黑"/>
              </a:defRPr>
            </a:pPr>
            <a:r>
              <a:rPr lang="zh-CN" altLang="en-US" dirty="0">
                <a:solidFill>
                  <a:srgbClr val="383838"/>
                </a:solidFill>
                <a:latin typeface="微软雅黑"/>
                <a:ea typeface="微软雅黑"/>
                <a:cs typeface="微软雅黑"/>
              </a:rPr>
              <a:t>产生购买行为</a:t>
            </a:r>
            <a:endParaRPr lang="zh-CN" altLang="en-US" dirty="0">
              <a:solidFill>
                <a:srgbClr val="383838"/>
              </a:solidFill>
              <a:latin typeface="微软雅黑"/>
              <a:ea typeface="微软雅黑"/>
              <a:cs typeface="微软雅黑"/>
            </a:endParaRPr>
          </a:p>
        </p:txBody>
      </p:sp>
      <p:sp>
        <p:nvSpPr>
          <p:cNvPr id="46" name="熊大的PPT宝库42"/>
          <p:cNvSpPr txBox="1"/>
          <p:nvPr/>
        </p:nvSpPr>
        <p:spPr>
          <a:xfrm>
            <a:off x="9706609" y="5409471"/>
            <a:ext cx="1554480" cy="645160"/>
          </a:xfrm>
          <a:prstGeom prst="rect">
            <a:avLst/>
          </a:prstGeom>
          <a:noFill/>
        </p:spPr>
        <p:txBody>
          <a:bodyPr wrap="none" rtlCol="0" lIns="0" rIns="0" tIns="0" bIns="0">
            <a:spAutoFit/>
          </a:bodyPr>
          <a:lstStyle/>
          <a:p>
            <a:pPr lvl="0" algn="ctr" defTabSz="457200">
              <a:buClrTx/>
              <a:buSzTx/>
              <a:buFontTx/>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提炼曝光</a:t>
            </a:r>
            <a:endParaRPr lang="zh-CN" altLang="en-US" dirty="0">
              <a:solidFill>
                <a:srgbClr val="383838"/>
              </a:solidFill>
              <a:latin typeface="微软雅黑"/>
              <a:ea typeface="微软雅黑"/>
              <a:cs typeface="微软雅黑"/>
              <a:sym typeface="微软雅黑"/>
            </a:endParaRPr>
          </a:p>
          <a:p>
            <a:pPr lvl="0" algn="ctr" defTabSz="457200">
              <a:buClrTx/>
              <a:buSzTx/>
              <a:buFontTx/>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内容价值优势</a:t>
            </a:r>
            <a:endParaRPr lang="zh-CN" altLang="en-US" dirty="0">
              <a:solidFill>
                <a:srgbClr val="383838"/>
              </a:solidFill>
              <a:latin typeface="微软雅黑"/>
              <a:ea typeface="微软雅黑"/>
              <a:cs typeface="微软雅黑"/>
              <a:sym typeface="微软雅黑"/>
            </a:endParaRPr>
          </a:p>
        </p:txBody>
      </p:sp>
      <p:sp>
        <p:nvSpPr>
          <p:cNvPr id="47" name="熊大的PPT宝库43"/>
          <p:cNvSpPr txBox="1"/>
          <p:nvPr/>
        </p:nvSpPr>
        <p:spPr>
          <a:xfrm>
            <a:off x="3928801" y="5359702"/>
            <a:ext cx="589280" cy="337185"/>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600" b="1" dirty="0">
                <a:solidFill>
                  <a:srgbClr val="FFFFFF"/>
                </a:solidFill>
                <a:effectLst/>
                <a:latin typeface="微软雅黑"/>
                <a:ea typeface="微软雅黑"/>
                <a:cs typeface="微软雅黑"/>
              </a:rPr>
              <a:t>触达</a:t>
            </a:r>
            <a:endParaRPr lang="zh-CN" altLang="en-US" sz="1600" b="1" dirty="0">
              <a:solidFill>
                <a:srgbClr val="FFFFFF"/>
              </a:solidFill>
              <a:effectLst/>
              <a:latin typeface="微软雅黑"/>
              <a:ea typeface="微软雅黑"/>
              <a:cs typeface="微软雅黑"/>
            </a:endParaRPr>
          </a:p>
        </p:txBody>
      </p:sp>
      <p:sp>
        <p:nvSpPr>
          <p:cNvPr id="48" name="熊大的PPT宝库44"/>
          <p:cNvSpPr txBox="1"/>
          <p:nvPr/>
        </p:nvSpPr>
        <p:spPr>
          <a:xfrm>
            <a:off x="5787457" y="5359702"/>
            <a:ext cx="589280" cy="337185"/>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吸引</a:t>
            </a:r>
            <a:endParaRPr lang="zh-CN" altLang="en-US" sz="1600" b="1" dirty="0">
              <a:solidFill>
                <a:srgbClr val="FFFFFF"/>
              </a:solidFill>
              <a:latin typeface="微软雅黑"/>
              <a:ea typeface="微软雅黑"/>
              <a:cs typeface="微软雅黑"/>
            </a:endParaRPr>
          </a:p>
        </p:txBody>
      </p:sp>
      <p:sp>
        <p:nvSpPr>
          <p:cNvPr id="49" name="熊大的PPT宝库45"/>
          <p:cNvSpPr txBox="1"/>
          <p:nvPr/>
        </p:nvSpPr>
        <p:spPr>
          <a:xfrm>
            <a:off x="7616020" y="5359702"/>
            <a:ext cx="589280" cy="337185"/>
          </a:xfrm>
          <a:prstGeom prst="rect">
            <a:avLst/>
          </a:prstGeom>
          <a:noFill/>
        </p:spPr>
        <p:txBody>
          <a:bodyPr wrap="none" rtlCol="0">
            <a:spAutoFit/>
          </a:bodyPr>
          <a:lstStyle/>
          <a:p>
            <a:pPr algn="ctr" defTabSz="457200">
              <a:defRPr>
                <a:solidFill>
                  <a:srgbClr val="FFFFFF"/>
                </a:solidFill>
                <a:latin typeface="微软雅黑"/>
                <a:ea typeface="微软雅黑"/>
                <a:cs typeface="微软雅黑"/>
              </a:defRPr>
            </a:pPr>
            <a:r>
              <a:rPr lang="zh-CN" altLang="en-US" sz="1600" b="1" dirty="0">
                <a:solidFill>
                  <a:srgbClr val="FFFFFF"/>
                </a:solidFill>
                <a:latin typeface="微软雅黑"/>
                <a:ea typeface="微软雅黑"/>
                <a:cs typeface="微软雅黑"/>
              </a:rPr>
              <a:t>转化</a:t>
            </a:r>
            <a:endParaRPr lang="zh-CN" altLang="en-US" sz="1600" b="1" dirty="0">
              <a:solidFill>
                <a:srgbClr val="FFFFFF"/>
              </a:solidFill>
              <a:latin typeface="微软雅黑"/>
              <a:ea typeface="微软雅黑"/>
              <a:cs typeface="微软雅黑"/>
            </a:endParaRPr>
          </a:p>
        </p:txBody>
      </p:sp>
      <p:sp>
        <p:nvSpPr>
          <p:cNvPr id="50" name="熊大的PPT宝库46"/>
          <p:cNvSpPr txBox="1"/>
          <p:nvPr/>
        </p:nvSpPr>
        <p:spPr>
          <a:xfrm>
            <a:off x="1743276" y="2591761"/>
            <a:ext cx="615553"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既往客户</a:t>
            </a:r>
            <a:endParaRPr lang="zh-CN" altLang="en-US" sz="1200" dirty="0">
              <a:solidFill>
                <a:srgbClr val="383838"/>
              </a:solidFill>
              <a:latin typeface="微软雅黑"/>
              <a:ea typeface="微软雅黑"/>
              <a:cs typeface="微软雅黑"/>
            </a:endParaRPr>
          </a:p>
        </p:txBody>
      </p:sp>
      <p:sp>
        <p:nvSpPr>
          <p:cNvPr id="54" name="熊大的PPT宝库47"/>
          <p:cNvSpPr txBox="1"/>
          <p:nvPr/>
        </p:nvSpPr>
        <p:spPr>
          <a:xfrm>
            <a:off x="9646289" y="2593159"/>
            <a:ext cx="1077218"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小型产品说明会</a:t>
            </a:r>
            <a:endParaRPr lang="zh-CN" altLang="en-US" sz="1200" dirty="0">
              <a:solidFill>
                <a:srgbClr val="383838"/>
              </a:solidFill>
              <a:latin typeface="微软雅黑"/>
              <a:ea typeface="微软雅黑"/>
              <a:cs typeface="微软雅黑"/>
            </a:endParaRPr>
          </a:p>
        </p:txBody>
      </p:sp>
      <p:sp>
        <p:nvSpPr>
          <p:cNvPr id="55" name="熊大的PPT宝库48"/>
          <p:cNvSpPr txBox="1"/>
          <p:nvPr/>
        </p:nvSpPr>
        <p:spPr>
          <a:xfrm>
            <a:off x="9954066" y="2980808"/>
            <a:ext cx="461665"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品酒会</a:t>
            </a:r>
            <a:endParaRPr lang="zh-CN" altLang="en-US" sz="1200" dirty="0">
              <a:solidFill>
                <a:srgbClr val="383838"/>
              </a:solidFill>
              <a:latin typeface="微软雅黑"/>
              <a:ea typeface="微软雅黑"/>
              <a:cs typeface="微软雅黑"/>
            </a:endParaRPr>
          </a:p>
        </p:txBody>
      </p:sp>
      <p:sp>
        <p:nvSpPr>
          <p:cNvPr id="56" name="熊大的PPT宝库49"/>
          <p:cNvSpPr txBox="1"/>
          <p:nvPr/>
        </p:nvSpPr>
        <p:spPr>
          <a:xfrm>
            <a:off x="9646289" y="3368457"/>
            <a:ext cx="1077218"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客户权益介绍会</a:t>
            </a:r>
            <a:endParaRPr lang="zh-CN" altLang="en-US" sz="1200" dirty="0">
              <a:solidFill>
                <a:srgbClr val="383838"/>
              </a:solidFill>
              <a:latin typeface="微软雅黑"/>
              <a:ea typeface="微软雅黑"/>
              <a:cs typeface="微软雅黑"/>
            </a:endParaRPr>
          </a:p>
        </p:txBody>
      </p:sp>
      <p:sp>
        <p:nvSpPr>
          <p:cNvPr id="57" name="熊大的PPT宝库50"/>
          <p:cNvSpPr txBox="1"/>
          <p:nvPr/>
        </p:nvSpPr>
        <p:spPr>
          <a:xfrm>
            <a:off x="9646289" y="3756106"/>
            <a:ext cx="1077218"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客户服务宣导会</a:t>
            </a:r>
            <a:endParaRPr lang="zh-CN" altLang="en-US" sz="1200" dirty="0">
              <a:solidFill>
                <a:srgbClr val="383838"/>
              </a:solidFill>
              <a:latin typeface="微软雅黑"/>
              <a:ea typeface="微软雅黑"/>
              <a:cs typeface="微软雅黑"/>
            </a:endParaRPr>
          </a:p>
        </p:txBody>
      </p:sp>
      <p:sp>
        <p:nvSpPr>
          <p:cNvPr id="74" name="熊大的PPT宝库63"/>
          <p:cNvSpPr txBox="1"/>
          <p:nvPr/>
        </p:nvSpPr>
        <p:spPr>
          <a:xfrm>
            <a:off x="5678144" y="5756996"/>
            <a:ext cx="807913" cy="323165"/>
          </a:xfrm>
          <a:prstGeom prst="rect">
            <a:avLst/>
          </a:prstGeom>
          <a:noFill/>
        </p:spPr>
        <p:txBody>
          <a:bodyPr wrap="none" lIns="0" tIns="0" rIns="0" bIns="0" rtlCol="0">
            <a:spAutoFit/>
          </a:bodyPr>
          <a:lstStyle/>
          <a:p>
            <a:pPr algn="ctr" defTabSz="457200">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价值刺激</a:t>
            </a:r>
            <a:endParaRPr lang="en-US" altLang="zh-CN" sz="1050" dirty="0">
              <a:solidFill>
                <a:srgbClr val="FFFFFF"/>
              </a:solidFill>
              <a:latin typeface="微软雅黑"/>
              <a:ea typeface="微软雅黑"/>
              <a:cs typeface="微软雅黑"/>
            </a:endParaRPr>
          </a:p>
          <a:p>
            <a:pPr algn="ctr" defTabSz="457200">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促进行动意愿</a:t>
            </a:r>
            <a:endParaRPr lang="zh-CN" altLang="en-US" sz="1050" dirty="0">
              <a:solidFill>
                <a:srgbClr val="FFFFFF"/>
              </a:solidFill>
              <a:latin typeface="微软雅黑"/>
              <a:ea typeface="微软雅黑"/>
              <a:cs typeface="微软雅黑"/>
            </a:endParaRPr>
          </a:p>
        </p:txBody>
      </p:sp>
      <p:sp>
        <p:nvSpPr>
          <p:cNvPr id="76" name="熊大的PPT宝库64"/>
          <p:cNvSpPr txBox="1"/>
          <p:nvPr/>
        </p:nvSpPr>
        <p:spPr>
          <a:xfrm>
            <a:off x="3819488" y="5756996"/>
            <a:ext cx="807913" cy="323165"/>
          </a:xfrm>
          <a:prstGeom prst="rect">
            <a:avLst/>
          </a:prstGeom>
          <a:noFill/>
        </p:spPr>
        <p:txBody>
          <a:bodyPr wrap="none" lIns="0" tIns="0" rIns="0" bIns="0" rtlCol="0">
            <a:spAutoFit/>
          </a:bodyPr>
          <a:lstStyle/>
          <a:p>
            <a:pPr algn="ctr" defTabSz="457200">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利用内容</a:t>
            </a:r>
            <a:endParaRPr lang="en-US" altLang="zh-CN" sz="1050" dirty="0">
              <a:solidFill>
                <a:srgbClr val="FFFFFF"/>
              </a:solidFill>
              <a:latin typeface="微软雅黑"/>
              <a:ea typeface="微软雅黑"/>
              <a:cs typeface="微软雅黑"/>
            </a:endParaRPr>
          </a:p>
          <a:p>
            <a:pPr algn="ctr" defTabSz="457200">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产生购买关系</a:t>
            </a:r>
            <a:endParaRPr lang="zh-CN" altLang="en-US" sz="1050" dirty="0">
              <a:solidFill>
                <a:srgbClr val="FFFFFF"/>
              </a:solidFill>
              <a:latin typeface="微软雅黑"/>
              <a:ea typeface="微软雅黑"/>
              <a:cs typeface="微软雅黑"/>
            </a:endParaRPr>
          </a:p>
        </p:txBody>
      </p:sp>
      <p:sp>
        <p:nvSpPr>
          <p:cNvPr id="78" name="熊大的PPT宝库65"/>
          <p:cNvSpPr txBox="1"/>
          <p:nvPr/>
        </p:nvSpPr>
        <p:spPr>
          <a:xfrm>
            <a:off x="7506706" y="5756996"/>
            <a:ext cx="807913" cy="323165"/>
          </a:xfrm>
          <a:prstGeom prst="rect">
            <a:avLst/>
          </a:prstGeom>
          <a:noFill/>
        </p:spPr>
        <p:txBody>
          <a:bodyPr wrap="none" lIns="0" tIns="0" rIns="0" bIns="0" rtlCol="0">
            <a:spAutoFit/>
          </a:bodyPr>
          <a:lstStyle/>
          <a:p>
            <a:pPr algn="ctr" defTabSz="457200">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产生内容</a:t>
            </a:r>
            <a:endParaRPr lang="en-US" altLang="zh-CN" sz="1050" dirty="0">
              <a:solidFill>
                <a:srgbClr val="FFFFFF"/>
              </a:solidFill>
              <a:latin typeface="微软雅黑"/>
              <a:ea typeface="微软雅黑"/>
              <a:cs typeface="微软雅黑"/>
            </a:endParaRPr>
          </a:p>
          <a:p>
            <a:pPr algn="ctr" defTabSz="457200">
              <a:defRPr>
                <a:solidFill>
                  <a:srgbClr val="FFFFFF"/>
                </a:solidFill>
                <a:latin typeface="微软雅黑"/>
                <a:ea typeface="微软雅黑"/>
                <a:cs typeface="微软雅黑"/>
              </a:defRPr>
            </a:pPr>
            <a:r>
              <a:rPr lang="zh-CN" altLang="en-US" sz="1050" dirty="0">
                <a:solidFill>
                  <a:srgbClr val="FFFFFF"/>
                </a:solidFill>
                <a:latin typeface="微软雅黑"/>
                <a:ea typeface="微软雅黑"/>
                <a:cs typeface="微软雅黑"/>
              </a:rPr>
              <a:t>提升消费转化</a:t>
            </a:r>
            <a:endParaRPr lang="zh-CN" altLang="en-US" sz="1050" dirty="0">
              <a:solidFill>
                <a:srgbClr val="FFFFFF"/>
              </a:solidFill>
              <a:latin typeface="微软雅黑"/>
              <a:ea typeface="微软雅黑"/>
              <a:cs typeface="微软雅黑"/>
            </a:endParaRPr>
          </a:p>
        </p:txBody>
      </p:sp>
      <p:sp>
        <p:nvSpPr>
          <p:cNvPr id="83" name="熊大的PPT宝库66"/>
          <p:cNvSpPr/>
          <p:nvPr/>
        </p:nvSpPr>
        <p:spPr>
          <a:xfrm>
            <a:off x="1386493" y="2980906"/>
            <a:ext cx="1296000" cy="316029"/>
          </a:xfrm>
          <a:prstGeom prst="roundRect">
            <a:avLst>
              <a:gd name="adj" fmla="val 50000"/>
            </a:avLst>
          </a:prstGeom>
          <a:solidFill>
            <a:srgbClr val="E6E6E6">
              <a:alpha val="70000"/>
            </a:srgbClr>
          </a:solidFill>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84" name="熊大的PPT宝库67"/>
          <p:cNvSpPr/>
          <p:nvPr/>
        </p:nvSpPr>
        <p:spPr>
          <a:xfrm>
            <a:off x="1386493" y="3368555"/>
            <a:ext cx="1296000" cy="316029"/>
          </a:xfrm>
          <a:prstGeom prst="roundRect">
            <a:avLst>
              <a:gd name="adj" fmla="val 50000"/>
            </a:avLst>
          </a:prstGeom>
          <a:solidFill>
            <a:srgbClr val="E6E6E6">
              <a:alpha val="70000"/>
            </a:srgbClr>
          </a:solidFill>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85" name="熊大的PPT宝库68"/>
          <p:cNvSpPr/>
          <p:nvPr/>
        </p:nvSpPr>
        <p:spPr>
          <a:xfrm>
            <a:off x="1386493" y="3756204"/>
            <a:ext cx="1296000" cy="316029"/>
          </a:xfrm>
          <a:prstGeom prst="roundRect">
            <a:avLst>
              <a:gd name="adj" fmla="val 50000"/>
            </a:avLst>
          </a:prstGeom>
          <a:solidFill>
            <a:srgbClr val="E6E6E6">
              <a:alpha val="70000"/>
            </a:srgbClr>
          </a:solidFill>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86" name="熊大的PPT宝库69"/>
          <p:cNvSpPr/>
          <p:nvPr/>
        </p:nvSpPr>
        <p:spPr>
          <a:xfrm>
            <a:off x="1386493" y="4143853"/>
            <a:ext cx="1296000" cy="316029"/>
          </a:xfrm>
          <a:prstGeom prst="roundRect">
            <a:avLst>
              <a:gd name="adj" fmla="val 50000"/>
            </a:avLst>
          </a:prstGeom>
          <a:solidFill>
            <a:srgbClr val="E6E6E6">
              <a:alpha val="70000"/>
            </a:srgbClr>
          </a:solidFill>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51" name="熊大的PPT宝库70"/>
          <p:cNvSpPr txBox="1"/>
          <p:nvPr/>
        </p:nvSpPr>
        <p:spPr>
          <a:xfrm>
            <a:off x="1743276" y="3007020"/>
            <a:ext cx="615553"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沉睡客户</a:t>
            </a:r>
            <a:endParaRPr lang="zh-CN" altLang="en-US" sz="1200" dirty="0">
              <a:solidFill>
                <a:srgbClr val="383838"/>
              </a:solidFill>
              <a:latin typeface="微软雅黑"/>
              <a:ea typeface="微软雅黑"/>
              <a:cs typeface="微软雅黑"/>
            </a:endParaRPr>
          </a:p>
        </p:txBody>
      </p:sp>
      <p:sp>
        <p:nvSpPr>
          <p:cNvPr id="52" name="熊大的PPT宝库71"/>
          <p:cNvSpPr txBox="1"/>
          <p:nvPr/>
        </p:nvSpPr>
        <p:spPr>
          <a:xfrm>
            <a:off x="1743276" y="3394669"/>
            <a:ext cx="615553"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渠道客户</a:t>
            </a:r>
            <a:endParaRPr lang="zh-CN" altLang="en-US" sz="1200" dirty="0">
              <a:solidFill>
                <a:srgbClr val="383838"/>
              </a:solidFill>
              <a:latin typeface="微软雅黑"/>
              <a:ea typeface="微软雅黑"/>
              <a:cs typeface="微软雅黑"/>
            </a:endParaRPr>
          </a:p>
        </p:txBody>
      </p:sp>
      <p:sp>
        <p:nvSpPr>
          <p:cNvPr id="53" name="熊大的PPT宝库72"/>
          <p:cNvSpPr txBox="1"/>
          <p:nvPr/>
        </p:nvSpPr>
        <p:spPr>
          <a:xfrm>
            <a:off x="1666332" y="3782318"/>
            <a:ext cx="769441"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转介绍客户</a:t>
            </a:r>
            <a:endParaRPr lang="zh-CN" altLang="en-US" sz="1200" dirty="0">
              <a:solidFill>
                <a:srgbClr val="383838"/>
              </a:solidFill>
              <a:latin typeface="微软雅黑"/>
              <a:ea typeface="微软雅黑"/>
              <a:cs typeface="微软雅黑"/>
            </a:endParaRPr>
          </a:p>
        </p:txBody>
      </p:sp>
      <p:sp>
        <p:nvSpPr>
          <p:cNvPr id="58" name="熊大的PPT宝库73"/>
          <p:cNvSpPr txBox="1"/>
          <p:nvPr/>
        </p:nvSpPr>
        <p:spPr>
          <a:xfrm>
            <a:off x="1666334" y="4169967"/>
            <a:ext cx="769442"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新开发客户</a:t>
            </a:r>
            <a:endParaRPr lang="zh-CN" altLang="en-US" sz="1200" dirty="0">
              <a:solidFill>
                <a:srgbClr val="383838"/>
              </a:solidFill>
              <a:latin typeface="微软雅黑"/>
              <a:ea typeface="微软雅黑"/>
              <a:cs typeface="微软雅黑"/>
            </a:endParaRPr>
          </a:p>
        </p:txBody>
      </p:sp>
      <p:sp>
        <p:nvSpPr>
          <p:cNvPr id="89" name="熊大的PPT宝库74"/>
          <p:cNvSpPr/>
          <p:nvPr/>
        </p:nvSpPr>
        <p:spPr>
          <a:xfrm rot="16200000">
            <a:off x="3015052" y="3405812"/>
            <a:ext cx="485933" cy="128587"/>
          </a:xfrm>
          <a:custGeom>
            <a:avLst/>
            <a:gdLst>
              <a:gd name="connsiteX0" fmla="*/ 242964 w 485933"/>
              <a:gd name="connsiteY0" fmla="*/ 128588 h 128587"/>
              <a:gd name="connsiteX1" fmla="*/ 485934 w 485933"/>
              <a:gd name="connsiteY1" fmla="*/ 0 h 128587"/>
              <a:gd name="connsiteX2" fmla="*/ 0 w 485933"/>
              <a:gd name="connsiteY2" fmla="*/ 0 h 128587"/>
              <a:gd name="connsiteX3" fmla="*/ 242964 w 485933"/>
              <a:gd name="connsiteY3" fmla="*/ 128588 h 128587"/>
            </a:gdLst>
            <a:ahLst/>
            <a:cxnLst>
              <a:cxn ang="0">
                <a:pos x="connsiteX0" y="connsiteY0"/>
              </a:cxn>
              <a:cxn ang="0">
                <a:pos x="connsiteX1" y="connsiteY1"/>
              </a:cxn>
              <a:cxn ang="0">
                <a:pos x="connsiteX2" y="connsiteY2"/>
              </a:cxn>
              <a:cxn ang="0">
                <a:pos x="connsiteX3" y="connsiteY3"/>
              </a:cxn>
            </a:cxnLst>
            <a:rect l="l" t="t" r="r" b="b"/>
            <a:pathLst>
              <a:path w="485933" h="128587">
                <a:moveTo>
                  <a:pt x="242964" y="128588"/>
                </a:moveTo>
                <a:lnTo>
                  <a:pt x="485934" y="0"/>
                </a:lnTo>
                <a:lnTo>
                  <a:pt x="0" y="0"/>
                </a:lnTo>
                <a:lnTo>
                  <a:pt x="242964" y="128588"/>
                </a:lnTo>
                <a:close/>
              </a:path>
            </a:pathLst>
          </a:custGeom>
          <a:gradFill>
            <a:gsLst>
              <a:gs pos="0">
                <a:srgbClr val="3368FF"/>
              </a:gs>
              <a:gs pos="74055">
                <a:srgbClr val="3368FF">
                  <a:alpha val="0"/>
                </a:srgbClr>
              </a:gs>
            </a:gsLst>
            <a:lin ang="16200000" scaled="1"/>
          </a:gradFill>
          <a:ln w="6350" cap="flat">
            <a:noFill/>
            <a:prstDash val="solid"/>
            <a:miter/>
          </a:ln>
        </p:spPr>
        <p:txBody>
          <a:bodyPr rtlCol="0" anchor="ctr" lIns="0" rIns="0" tIns="0" bIns="0"/>
          <a:lstStyle/>
          <a:p>
            <a:pPr defTabSz="457200">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90" name="熊大的PPT宝库75"/>
          <p:cNvSpPr/>
          <p:nvPr/>
        </p:nvSpPr>
        <p:spPr>
          <a:xfrm rot="5400000">
            <a:off x="8727013" y="3405795"/>
            <a:ext cx="485901" cy="128587"/>
          </a:xfrm>
          <a:custGeom>
            <a:avLst/>
            <a:gdLst>
              <a:gd name="connsiteX0" fmla="*/ 242951 w 485901"/>
              <a:gd name="connsiteY0" fmla="*/ 128588 h 128587"/>
              <a:gd name="connsiteX1" fmla="*/ 485901 w 485901"/>
              <a:gd name="connsiteY1" fmla="*/ 0 h 128587"/>
              <a:gd name="connsiteX2" fmla="*/ 0 w 485901"/>
              <a:gd name="connsiteY2" fmla="*/ 0 h 128587"/>
              <a:gd name="connsiteX3" fmla="*/ 242951 w 485901"/>
              <a:gd name="connsiteY3" fmla="*/ 128588 h 128587"/>
            </a:gdLst>
            <a:ahLst/>
            <a:cxnLst>
              <a:cxn ang="0">
                <a:pos x="connsiteX0" y="connsiteY0"/>
              </a:cxn>
              <a:cxn ang="0">
                <a:pos x="connsiteX1" y="connsiteY1"/>
              </a:cxn>
              <a:cxn ang="0">
                <a:pos x="connsiteX2" y="connsiteY2"/>
              </a:cxn>
              <a:cxn ang="0">
                <a:pos x="connsiteX3" y="connsiteY3"/>
              </a:cxn>
            </a:cxnLst>
            <a:rect l="l" t="t" r="r" b="b"/>
            <a:pathLst>
              <a:path w="485901" h="128587">
                <a:moveTo>
                  <a:pt x="242951" y="128588"/>
                </a:moveTo>
                <a:lnTo>
                  <a:pt x="485901" y="0"/>
                </a:lnTo>
                <a:lnTo>
                  <a:pt x="0" y="0"/>
                </a:lnTo>
                <a:lnTo>
                  <a:pt x="242951" y="128588"/>
                </a:lnTo>
                <a:close/>
              </a:path>
            </a:pathLst>
          </a:custGeom>
          <a:gradFill>
            <a:gsLst>
              <a:gs pos="0">
                <a:srgbClr val="3368FF"/>
              </a:gs>
              <a:gs pos="74055">
                <a:srgbClr val="3368FF">
                  <a:alpha val="0"/>
                </a:srgbClr>
              </a:gs>
            </a:gsLst>
            <a:lin ang="16200000" scaled="1"/>
          </a:gradFill>
          <a:ln w="6350" cap="flat">
            <a:noFill/>
            <a:prstDash val="solid"/>
            <a:miter/>
          </a:ln>
        </p:spPr>
        <p:txBody>
          <a:bodyPr rtlCol="0" anchor="ctr" lIns="0" rIns="0" tIns="0" bIns="0">
            <a:noAutofit/>
          </a:bodyPr>
          <a:lstStyle/>
          <a:p>
            <a:pPr lvl="0" algn="l" defTabSz="457200">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91" name="熊大的PPT宝库76"/>
          <p:cNvSpPr txBox="1"/>
          <p:nvPr/>
        </p:nvSpPr>
        <p:spPr>
          <a:xfrm>
            <a:off x="9800178" y="4144544"/>
            <a:ext cx="769441" cy="252441"/>
          </a:xfrm>
          <a:prstGeom prst="rect">
            <a:avLst/>
          </a:prstGeom>
          <a:noFill/>
        </p:spPr>
        <p:txBody>
          <a:bodyPr wrap="none" lIns="0" tIns="0" rIns="0" bIns="0" rtlCol="0" anchor="ctr" anchorCtr="0">
            <a:spAutoFit/>
          </a:bodyPr>
          <a:lstStyle/>
          <a:p>
            <a:pPr algn="ctr" defTabSz="457200">
              <a:lnSpc>
                <a:spcPct val="15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高端权益会</a:t>
            </a:r>
            <a:endParaRPr lang="zh-CN" altLang="en-US" sz="1200" dirty="0">
              <a:solidFill>
                <a:srgbClr val="383838"/>
              </a:solidFill>
              <a:latin typeface="微软雅黑"/>
              <a:ea typeface="微软雅黑"/>
              <a:cs typeface="微软雅黑"/>
            </a:endParaRPr>
          </a:p>
        </p:txBody>
      </p:sp>
      <p:sp>
        <p:nvSpPr>
          <p:cNvPr id="97" name="熊大的PPT宝库77"/>
          <p:cNvSpPr/>
          <p:nvPr/>
        </p:nvSpPr>
        <p:spPr>
          <a:xfrm>
            <a:off x="3780155" y="3506470"/>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98" name="熊大的PPT宝库78"/>
          <p:cNvSpPr/>
          <p:nvPr/>
        </p:nvSpPr>
        <p:spPr>
          <a:xfrm>
            <a:off x="3780155" y="3791585"/>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99" name="熊大的PPT宝库79"/>
          <p:cNvSpPr/>
          <p:nvPr/>
        </p:nvSpPr>
        <p:spPr>
          <a:xfrm>
            <a:off x="3780155" y="4077335"/>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00" name="熊大的PPT宝库80"/>
          <p:cNvSpPr/>
          <p:nvPr/>
        </p:nvSpPr>
        <p:spPr>
          <a:xfrm>
            <a:off x="3780155" y="4362450"/>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11" name="熊大的PPT宝库89"/>
          <p:cNvSpPr/>
          <p:nvPr/>
        </p:nvSpPr>
        <p:spPr>
          <a:xfrm rot="16200000">
            <a:off x="2748352" y="5627734"/>
            <a:ext cx="485933" cy="128587"/>
          </a:xfrm>
          <a:custGeom>
            <a:avLst/>
            <a:gdLst>
              <a:gd name="connsiteX0" fmla="*/ 242964 w 485933"/>
              <a:gd name="connsiteY0" fmla="*/ 128588 h 128587"/>
              <a:gd name="connsiteX1" fmla="*/ 485934 w 485933"/>
              <a:gd name="connsiteY1" fmla="*/ 0 h 128587"/>
              <a:gd name="connsiteX2" fmla="*/ 0 w 485933"/>
              <a:gd name="connsiteY2" fmla="*/ 0 h 128587"/>
              <a:gd name="connsiteX3" fmla="*/ 242964 w 485933"/>
              <a:gd name="connsiteY3" fmla="*/ 128588 h 128587"/>
            </a:gdLst>
            <a:ahLst/>
            <a:cxnLst>
              <a:cxn ang="0">
                <a:pos x="connsiteX0" y="connsiteY0"/>
              </a:cxn>
              <a:cxn ang="0">
                <a:pos x="connsiteX1" y="connsiteY1"/>
              </a:cxn>
              <a:cxn ang="0">
                <a:pos x="connsiteX2" y="connsiteY2"/>
              </a:cxn>
              <a:cxn ang="0">
                <a:pos x="connsiteX3" y="connsiteY3"/>
              </a:cxn>
            </a:cxnLst>
            <a:rect l="l" t="t" r="r" b="b"/>
            <a:pathLst>
              <a:path w="485933" h="128587">
                <a:moveTo>
                  <a:pt x="242964" y="128588"/>
                </a:moveTo>
                <a:lnTo>
                  <a:pt x="485934" y="0"/>
                </a:lnTo>
                <a:lnTo>
                  <a:pt x="0" y="0"/>
                </a:lnTo>
                <a:lnTo>
                  <a:pt x="242964" y="128588"/>
                </a:lnTo>
                <a:close/>
              </a:path>
            </a:pathLst>
          </a:custGeom>
          <a:gradFill>
            <a:gsLst>
              <a:gs pos="0">
                <a:srgbClr val="3368FF"/>
              </a:gs>
              <a:gs pos="74055">
                <a:srgbClr val="3368FF">
                  <a:alpha val="0"/>
                </a:srgbClr>
              </a:gs>
            </a:gsLst>
            <a:lin ang="16200000" scaled="1"/>
          </a:gradFill>
          <a:ln w="6350" cap="flat">
            <a:noFill/>
            <a:prstDash val="solid"/>
            <a:miter/>
          </a:ln>
        </p:spPr>
        <p:txBody>
          <a:bodyPr rtlCol="0" anchor="ctr" lIns="0" rIns="0" tIns="0" bIns="0"/>
          <a:lstStyle/>
          <a:p>
            <a:pPr defTabSz="457200">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112" name="熊大的PPT宝库90"/>
          <p:cNvSpPr/>
          <p:nvPr/>
        </p:nvSpPr>
        <p:spPr>
          <a:xfrm rot="5400000">
            <a:off x="8981013" y="5627717"/>
            <a:ext cx="485901" cy="128587"/>
          </a:xfrm>
          <a:custGeom>
            <a:avLst/>
            <a:gdLst>
              <a:gd name="connsiteX0" fmla="*/ 242951 w 485901"/>
              <a:gd name="connsiteY0" fmla="*/ 128588 h 128587"/>
              <a:gd name="connsiteX1" fmla="*/ 485901 w 485901"/>
              <a:gd name="connsiteY1" fmla="*/ 0 h 128587"/>
              <a:gd name="connsiteX2" fmla="*/ 0 w 485901"/>
              <a:gd name="connsiteY2" fmla="*/ 0 h 128587"/>
              <a:gd name="connsiteX3" fmla="*/ 242951 w 485901"/>
              <a:gd name="connsiteY3" fmla="*/ 128588 h 128587"/>
            </a:gdLst>
            <a:ahLst/>
            <a:cxnLst>
              <a:cxn ang="0">
                <a:pos x="connsiteX0" y="connsiteY0"/>
              </a:cxn>
              <a:cxn ang="0">
                <a:pos x="connsiteX1" y="connsiteY1"/>
              </a:cxn>
              <a:cxn ang="0">
                <a:pos x="connsiteX2" y="connsiteY2"/>
              </a:cxn>
              <a:cxn ang="0">
                <a:pos x="connsiteX3" y="connsiteY3"/>
              </a:cxn>
            </a:cxnLst>
            <a:rect l="l" t="t" r="r" b="b"/>
            <a:pathLst>
              <a:path w="485901" h="128587">
                <a:moveTo>
                  <a:pt x="242951" y="128588"/>
                </a:moveTo>
                <a:lnTo>
                  <a:pt x="485901" y="0"/>
                </a:lnTo>
                <a:lnTo>
                  <a:pt x="0" y="0"/>
                </a:lnTo>
                <a:lnTo>
                  <a:pt x="242951" y="128588"/>
                </a:lnTo>
                <a:close/>
              </a:path>
            </a:pathLst>
          </a:custGeom>
          <a:gradFill>
            <a:gsLst>
              <a:gs pos="0">
                <a:srgbClr val="3368FF"/>
              </a:gs>
              <a:gs pos="74055">
                <a:srgbClr val="3368FF">
                  <a:alpha val="0"/>
                </a:srgbClr>
              </a:gs>
            </a:gsLst>
            <a:lin ang="16200000" scaled="1"/>
          </a:gradFill>
          <a:ln w="6350" cap="flat">
            <a:noFill/>
            <a:prstDash val="solid"/>
            <a:miter/>
          </a:ln>
        </p:spPr>
        <p:txBody>
          <a:bodyPr rtlCol="0" anchor="ctr" lIns="0" rIns="0" tIns="0" bIns="0">
            <a:noAutofit/>
          </a:bodyPr>
          <a:lstStyle/>
          <a:p>
            <a:pPr lvl="0" algn="l" defTabSz="457200">
              <a:buClrTx/>
              <a:buSzTx/>
              <a:buFontTx/>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68" name="熊大的PPT宝库27"/>
          <p:cNvSpPr/>
          <p:nvPr/>
        </p:nvSpPr>
        <p:spPr>
          <a:xfrm>
            <a:off x="10239343" y="4995545"/>
            <a:ext cx="483933" cy="295275"/>
          </a:xfrm>
          <a:custGeom>
            <a:avLst/>
            <a:gdLst>
              <a:gd name="connsiteX0" fmla="*/ 241967 w 483933"/>
              <a:gd name="connsiteY0" fmla="*/ 295275 h 295275"/>
              <a:gd name="connsiteX1" fmla="*/ 483934 w 483933"/>
              <a:gd name="connsiteY1" fmla="*/ 0 h 295275"/>
              <a:gd name="connsiteX2" fmla="*/ 0 w 483933"/>
              <a:gd name="connsiteY2" fmla="*/ 0 h 295275"/>
              <a:gd name="connsiteX3" fmla="*/ 241967 w 483933"/>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483933" h="295275">
                <a:moveTo>
                  <a:pt x="241967" y="295275"/>
                </a:moveTo>
                <a:lnTo>
                  <a:pt x="483934" y="0"/>
                </a:lnTo>
                <a:lnTo>
                  <a:pt x="0" y="0"/>
                </a:lnTo>
                <a:lnTo>
                  <a:pt x="241967" y="295275"/>
                </a:lnTo>
                <a:close/>
              </a:path>
            </a:pathLst>
          </a:custGeom>
          <a:gradFill>
            <a:gsLst>
              <a:gs pos="0">
                <a:srgbClr val="3368FF"/>
              </a:gs>
              <a:gs pos="62000">
                <a:srgbClr val="B3D4FE">
                  <a:alpha val="0"/>
                </a:srgbClr>
              </a:gs>
            </a:gsLst>
            <a:lin ang="16200000" scaled="1"/>
          </a:gradFill>
          <a:ln w="6350" cap="flat">
            <a:noFill/>
            <a:prstDash val="solid"/>
            <a:miter/>
          </a:ln>
        </p:spPr>
        <p:txBody>
          <a:bodyPr rtlCol="0" anchor="ctr" lIns="0" rIns="0" tIns="0" bIns="0"/>
          <a:lstStyle/>
          <a:p>
            <a:pPr defTabSz="457200">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73" name="熊大的PPT宝库51"/>
          <p:cNvSpPr txBox="1"/>
          <p:nvPr/>
        </p:nvSpPr>
        <p:spPr>
          <a:xfrm>
            <a:off x="4039801" y="3494284"/>
            <a:ext cx="538609" cy="196657"/>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家庭私宴</a:t>
            </a:r>
            <a:endParaRPr lang="zh-CN" altLang="en-US" sz="1050" dirty="0">
              <a:solidFill>
                <a:srgbClr val="383838"/>
              </a:solidFill>
              <a:latin typeface="微软雅黑"/>
              <a:ea typeface="微软雅黑"/>
              <a:cs typeface="微软雅黑"/>
            </a:endParaRPr>
          </a:p>
        </p:txBody>
      </p:sp>
      <p:sp>
        <p:nvSpPr>
          <p:cNvPr id="75" name="熊大的PPT宝库52"/>
          <p:cNvSpPr txBox="1"/>
          <p:nvPr/>
        </p:nvSpPr>
        <p:spPr>
          <a:xfrm>
            <a:off x="4039800" y="3783274"/>
            <a:ext cx="538609" cy="196657"/>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朋友聚餐</a:t>
            </a:r>
            <a:endParaRPr lang="zh-CN" altLang="en-US" sz="1050" dirty="0">
              <a:solidFill>
                <a:srgbClr val="383838"/>
              </a:solidFill>
              <a:latin typeface="微软雅黑"/>
              <a:ea typeface="微软雅黑"/>
              <a:cs typeface="微软雅黑"/>
            </a:endParaRPr>
          </a:p>
        </p:txBody>
      </p:sp>
      <p:sp>
        <p:nvSpPr>
          <p:cNvPr id="77" name="熊大的PPT宝库53"/>
          <p:cNvSpPr txBox="1"/>
          <p:nvPr/>
        </p:nvSpPr>
        <p:spPr>
          <a:xfrm>
            <a:off x="4039801" y="4072264"/>
            <a:ext cx="538609" cy="196657"/>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个人交际</a:t>
            </a:r>
            <a:endParaRPr lang="zh-CN" altLang="en-US" sz="1050" dirty="0">
              <a:solidFill>
                <a:srgbClr val="383838"/>
              </a:solidFill>
              <a:latin typeface="微软雅黑"/>
              <a:ea typeface="微软雅黑"/>
              <a:cs typeface="微软雅黑"/>
            </a:endParaRPr>
          </a:p>
        </p:txBody>
      </p:sp>
      <p:sp>
        <p:nvSpPr>
          <p:cNvPr id="79" name="熊大的PPT宝库54"/>
          <p:cNvSpPr txBox="1"/>
          <p:nvPr/>
        </p:nvSpPr>
        <p:spPr>
          <a:xfrm>
            <a:off x="4039801" y="4361254"/>
            <a:ext cx="538609" cy="196657"/>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a:solidFill>
                  <a:srgbClr val="383838"/>
                </a:solidFill>
                <a:latin typeface="微软雅黑"/>
                <a:ea typeface="微软雅黑"/>
                <a:cs typeface="微软雅黑"/>
              </a:rPr>
              <a:t>社交平台</a:t>
            </a:r>
            <a:endParaRPr lang="zh-CN" altLang="en-US" sz="1050" dirty="0">
              <a:solidFill>
                <a:srgbClr val="383838"/>
              </a:solidFill>
              <a:latin typeface="微软雅黑"/>
              <a:ea typeface="微软雅黑"/>
              <a:cs typeface="微软雅黑"/>
            </a:endParaRPr>
          </a:p>
        </p:txBody>
      </p:sp>
      <p:sp>
        <p:nvSpPr>
          <p:cNvPr id="116" name="熊大的PPT宝库77"/>
          <p:cNvSpPr/>
          <p:nvPr/>
        </p:nvSpPr>
        <p:spPr>
          <a:xfrm>
            <a:off x="5598795" y="3506470"/>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17" name="熊大的PPT宝库78"/>
          <p:cNvSpPr/>
          <p:nvPr/>
        </p:nvSpPr>
        <p:spPr>
          <a:xfrm>
            <a:off x="5598795" y="3791585"/>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18" name="熊大的PPT宝库79"/>
          <p:cNvSpPr/>
          <p:nvPr/>
        </p:nvSpPr>
        <p:spPr>
          <a:xfrm>
            <a:off x="5598795" y="4077335"/>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19" name="熊大的PPT宝库80"/>
          <p:cNvSpPr/>
          <p:nvPr/>
        </p:nvSpPr>
        <p:spPr>
          <a:xfrm>
            <a:off x="5598795" y="4362450"/>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25" name="熊大的PPT宝库55"/>
          <p:cNvSpPr txBox="1"/>
          <p:nvPr/>
        </p:nvSpPr>
        <p:spPr>
          <a:xfrm>
            <a:off x="5872480" y="3502660"/>
            <a:ext cx="538480" cy="1968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公司平台</a:t>
            </a:r>
            <a:endParaRPr lang="zh-CN" altLang="en-US" sz="1050" dirty="0">
              <a:solidFill>
                <a:srgbClr val="383838"/>
              </a:solidFill>
              <a:latin typeface="微软雅黑"/>
              <a:ea typeface="微软雅黑"/>
              <a:cs typeface="微软雅黑"/>
            </a:endParaRPr>
          </a:p>
        </p:txBody>
      </p:sp>
      <p:sp>
        <p:nvSpPr>
          <p:cNvPr id="126" name="熊大的PPT宝库56"/>
          <p:cNvSpPr txBox="1"/>
          <p:nvPr/>
        </p:nvSpPr>
        <p:spPr>
          <a:xfrm>
            <a:off x="5872480" y="3791585"/>
            <a:ext cx="538480" cy="1968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a:solidFill>
                  <a:srgbClr val="383838"/>
                </a:solidFill>
                <a:latin typeface="微软雅黑"/>
                <a:ea typeface="微软雅黑"/>
                <a:cs typeface="微软雅黑"/>
              </a:rPr>
              <a:t>社群营销</a:t>
            </a:r>
            <a:endParaRPr lang="zh-CN" altLang="en-US" sz="1050" dirty="0">
              <a:solidFill>
                <a:srgbClr val="383838"/>
              </a:solidFill>
              <a:latin typeface="微软雅黑"/>
              <a:ea typeface="微软雅黑"/>
              <a:cs typeface="微软雅黑"/>
            </a:endParaRPr>
          </a:p>
        </p:txBody>
      </p:sp>
      <p:sp>
        <p:nvSpPr>
          <p:cNvPr id="127" name="熊大的PPT宝库57"/>
          <p:cNvSpPr txBox="1"/>
          <p:nvPr/>
        </p:nvSpPr>
        <p:spPr>
          <a:xfrm>
            <a:off x="5872480" y="4080510"/>
            <a:ext cx="538480" cy="1968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好友介绍</a:t>
            </a:r>
            <a:endParaRPr lang="zh-CN" altLang="en-US" sz="1050" dirty="0">
              <a:solidFill>
                <a:srgbClr val="383838"/>
              </a:solidFill>
              <a:latin typeface="微软雅黑"/>
              <a:ea typeface="微软雅黑"/>
              <a:cs typeface="微软雅黑"/>
            </a:endParaRPr>
          </a:p>
        </p:txBody>
      </p:sp>
      <p:sp>
        <p:nvSpPr>
          <p:cNvPr id="128" name="熊大的PPT宝库58"/>
          <p:cNvSpPr txBox="1"/>
          <p:nvPr/>
        </p:nvSpPr>
        <p:spPr>
          <a:xfrm>
            <a:off x="5949950" y="4354195"/>
            <a:ext cx="382905" cy="1968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个人</a:t>
            </a:r>
            <a:r>
              <a:rPr lang="en-US" altLang="zh-CN" sz="1050" dirty="0">
                <a:solidFill>
                  <a:srgbClr val="383838"/>
                </a:solidFill>
                <a:latin typeface="微软雅黑"/>
                <a:ea typeface="微软雅黑"/>
                <a:cs typeface="微软雅黑"/>
              </a:rPr>
              <a:t>IP</a:t>
            </a:r>
            <a:endParaRPr lang="en-US" altLang="zh-CN" sz="1050" dirty="0">
              <a:solidFill>
                <a:srgbClr val="383838"/>
              </a:solidFill>
              <a:latin typeface="微软雅黑"/>
              <a:ea typeface="微软雅黑"/>
              <a:cs typeface="微软雅黑"/>
            </a:endParaRPr>
          </a:p>
        </p:txBody>
      </p:sp>
      <p:sp>
        <p:nvSpPr>
          <p:cNvPr id="134" name="熊大的PPT宝库77"/>
          <p:cNvSpPr/>
          <p:nvPr/>
        </p:nvSpPr>
        <p:spPr>
          <a:xfrm>
            <a:off x="7370445" y="3527425"/>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35" name="熊大的PPT宝库78"/>
          <p:cNvSpPr/>
          <p:nvPr/>
        </p:nvSpPr>
        <p:spPr>
          <a:xfrm>
            <a:off x="7370445" y="3812540"/>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36" name="熊大的PPT宝库79"/>
          <p:cNvSpPr/>
          <p:nvPr/>
        </p:nvSpPr>
        <p:spPr>
          <a:xfrm>
            <a:off x="7370445" y="4098290"/>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37" name="熊大的PPT宝库80"/>
          <p:cNvSpPr/>
          <p:nvPr/>
        </p:nvSpPr>
        <p:spPr>
          <a:xfrm>
            <a:off x="7370445" y="4383405"/>
            <a:ext cx="1080135" cy="241300"/>
          </a:xfrm>
          <a:prstGeom prst="roundRect">
            <a:avLst>
              <a:gd name="adj" fmla="val 50000"/>
            </a:avLst>
          </a:prstGeom>
          <a:noFill/>
          <a:ln>
            <a:solidFill>
              <a:srgbClr val="668EFF"/>
            </a:solidFill>
          </a:ln>
        </p:spPr>
        <p:txBody>
          <a:bodyPr wrap="square" lIns="0" tIns="0" rIns="0" bIns="0" rtlCol="0" anchor="t">
            <a:noAutofit/>
          </a:bodyPr>
          <a:lstStyle/>
          <a:p>
            <a:pPr algn="just" defTabSz="731520">
              <a:lnSpc>
                <a:spcPct val="130000"/>
              </a:lnSpc>
              <a:defRPr>
                <a:latin typeface="微软雅黑"/>
                <a:ea typeface="微软雅黑"/>
                <a:cs typeface="微软雅黑"/>
              </a:defRPr>
            </a:pPr>
            <a:endParaRPr lang="zh-CN" altLang="en-US" sz="1200" dirty="0">
              <a:solidFill>
                <a:srgbClr val="383838"/>
              </a:solidFill>
              <a:latin typeface="微软雅黑"/>
              <a:ea typeface="微软雅黑"/>
              <a:cs typeface="微软雅黑"/>
            </a:endParaRPr>
          </a:p>
        </p:txBody>
      </p:sp>
      <p:sp>
        <p:nvSpPr>
          <p:cNvPr id="138" name="熊大的PPT宝库55"/>
          <p:cNvSpPr txBox="1"/>
          <p:nvPr/>
        </p:nvSpPr>
        <p:spPr>
          <a:xfrm>
            <a:off x="7579995" y="3523615"/>
            <a:ext cx="666750" cy="2095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信息流广告</a:t>
            </a:r>
            <a:endParaRPr lang="zh-CN" altLang="en-US" sz="1050" dirty="0">
              <a:solidFill>
                <a:srgbClr val="383838"/>
              </a:solidFill>
              <a:latin typeface="微软雅黑"/>
              <a:ea typeface="微软雅黑"/>
              <a:cs typeface="微软雅黑"/>
            </a:endParaRPr>
          </a:p>
        </p:txBody>
      </p:sp>
      <p:sp>
        <p:nvSpPr>
          <p:cNvPr id="139" name="熊大的PPT宝库56"/>
          <p:cNvSpPr txBox="1"/>
          <p:nvPr/>
        </p:nvSpPr>
        <p:spPr>
          <a:xfrm>
            <a:off x="7649210" y="3812540"/>
            <a:ext cx="528320" cy="2095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en-US" altLang="zh-CN" sz="1050">
                <a:solidFill>
                  <a:srgbClr val="383838"/>
                </a:solidFill>
                <a:latin typeface="微软雅黑"/>
                <a:ea typeface="微软雅黑"/>
                <a:cs typeface="微软雅黑"/>
              </a:rPr>
              <a:t>KOL</a:t>
            </a:r>
            <a:r>
              <a:rPr lang="zh-CN" altLang="en-US" sz="1050">
                <a:solidFill>
                  <a:srgbClr val="383838"/>
                </a:solidFill>
                <a:latin typeface="微软雅黑"/>
                <a:ea typeface="微软雅黑"/>
                <a:cs typeface="微软雅黑"/>
              </a:rPr>
              <a:t>投放</a:t>
            </a:r>
            <a:endParaRPr lang="zh-CN" altLang="en-US" sz="1050" dirty="0">
              <a:solidFill>
                <a:srgbClr val="383838"/>
              </a:solidFill>
              <a:latin typeface="微软雅黑"/>
              <a:ea typeface="微软雅黑"/>
              <a:cs typeface="微软雅黑"/>
            </a:endParaRPr>
          </a:p>
        </p:txBody>
      </p:sp>
      <p:sp>
        <p:nvSpPr>
          <p:cNvPr id="140" name="熊大的PPT宝库57"/>
          <p:cNvSpPr txBox="1"/>
          <p:nvPr/>
        </p:nvSpPr>
        <p:spPr>
          <a:xfrm>
            <a:off x="7646670" y="4101465"/>
            <a:ext cx="533400" cy="2095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搜索广告</a:t>
            </a:r>
            <a:endParaRPr lang="zh-CN" altLang="en-US" sz="1050" dirty="0">
              <a:solidFill>
                <a:srgbClr val="383838"/>
              </a:solidFill>
              <a:latin typeface="微软雅黑"/>
              <a:ea typeface="微软雅黑"/>
              <a:cs typeface="微软雅黑"/>
            </a:endParaRPr>
          </a:p>
        </p:txBody>
      </p:sp>
      <p:sp>
        <p:nvSpPr>
          <p:cNvPr id="141" name="熊大的PPT宝库58"/>
          <p:cNvSpPr txBox="1"/>
          <p:nvPr/>
        </p:nvSpPr>
        <p:spPr>
          <a:xfrm>
            <a:off x="7646353" y="4375150"/>
            <a:ext cx="533400" cy="209550"/>
          </a:xfrm>
          <a:prstGeom prst="rect">
            <a:avLst/>
          </a:prstGeom>
          <a:noFill/>
        </p:spPr>
        <p:txBody>
          <a:bodyPr wrap="none" lIns="0" tIns="0" rIns="0" bIns="0" rtlCol="0">
            <a:spAutoFit/>
          </a:bodyPr>
          <a:lstStyle/>
          <a:p>
            <a:pPr algn="ctr" defTabSz="457200">
              <a:lnSpc>
                <a:spcPct val="130000"/>
              </a:lnSpc>
              <a:defRPr>
                <a:latin typeface="微软雅黑"/>
                <a:ea typeface="微软雅黑"/>
                <a:cs typeface="微软雅黑"/>
              </a:defRPr>
            </a:pPr>
            <a:r>
              <a:rPr lang="zh-CN" altLang="en-US" sz="1050" dirty="0">
                <a:solidFill>
                  <a:srgbClr val="383838"/>
                </a:solidFill>
                <a:latin typeface="微软雅黑"/>
                <a:ea typeface="微软雅黑"/>
                <a:cs typeface="微软雅黑"/>
              </a:rPr>
              <a:t>异业合作</a:t>
            </a:r>
            <a:endParaRPr lang="zh-CN" altLang="en-US" sz="1050" dirty="0">
              <a:solidFill>
                <a:srgbClr val="383838"/>
              </a:solidFill>
              <a:latin typeface="微软雅黑"/>
              <a:ea typeface="微软雅黑"/>
              <a:cs typeface="微软雅黑"/>
            </a:endParaRPr>
          </a:p>
        </p:txBody>
      </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rPr>
              <a:t>活动策划执行流程</a:t>
            </a:r>
            <a:endParaRPr sz="2500" b="0">
              <a:solidFill>
                <a:srgbClr val="383838"/>
              </a:solidFill>
              <a:effectLst/>
              <a:latin typeface="微软雅黑"/>
              <a:ea typeface="微软雅黑"/>
              <a:cs typeface="微软雅黑"/>
            </a:endParaRPr>
          </a:p>
        </p:txBody>
      </p:sp>
      <p:sp>
        <p:nvSpPr>
          <p:cNvPr id="8" name="Rounded Rectangle"/>
          <p:cNvSpPr/>
          <p:nvPr/>
        </p:nvSpPr>
        <p:spPr>
          <a:xfrm>
            <a:off x="1099751" y="3951821"/>
            <a:ext cx="10739012" cy="1224000"/>
          </a:xfrm>
          <a:prstGeom prst="roundRect">
            <a:avLst>
              <a:gd name="adj" fmla="val 0"/>
            </a:avLst>
          </a:prstGeom>
          <a:solidFill>
            <a:srgbClr val="FFFFFF">
              <a:alpha val="40000"/>
            </a:srgbClr>
          </a:solidFill>
          <a:ln w="12700">
            <a:miter lim="400000"/>
          </a:ln>
        </p:spPr>
        <p:txBody>
          <a:bodyPr lIns="0" tIns="0" rIns="0" bIns="0" anchor="ctr"/>
          <a:lstStyle/>
          <a:p>
            <a:pPr marL="0" marR="0" lvl="0" indent="0" algn="ctr" defTabSz="41275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sz="15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9" name="Rounded Rectangle"/>
          <p:cNvSpPr/>
          <p:nvPr/>
        </p:nvSpPr>
        <p:spPr>
          <a:xfrm>
            <a:off x="1099748" y="5308550"/>
            <a:ext cx="10739011" cy="1224000"/>
          </a:xfrm>
          <a:prstGeom prst="roundRect">
            <a:avLst>
              <a:gd name="adj" fmla="val 0"/>
            </a:avLst>
          </a:prstGeom>
          <a:solidFill>
            <a:srgbClr val="FFFFFF">
              <a:alpha val="40000"/>
            </a:srgbClr>
          </a:solidFill>
          <a:ln w="12700">
            <a:miter lim="400000"/>
          </a:ln>
        </p:spPr>
        <p:txBody>
          <a:bodyPr lIns="0" tIns="0" rIns="0" bIns="0" anchor="ctr">
            <a:noAutofit/>
          </a:bodyPr>
          <a:lstStyle/>
          <a:p>
            <a:pPr lvl="0" algn="ctr" defTabSz="412750" hangingPunct="0">
              <a:spcBef>
                <a:spcPts val="0"/>
              </a:spcBef>
              <a:spcAft>
                <a:spcPts val="0"/>
              </a:spcAft>
              <a:buClrTx/>
              <a:buSzTx/>
              <a:buFontTx/>
              <a:defRPr>
                <a:latin typeface="微软雅黑"/>
                <a:ea typeface="微软雅黑"/>
                <a:cs typeface="微软雅黑"/>
              </a:defRPr>
            </a:pPr>
            <a:endParaRPr sz="1500" kern="0" noProof="0">
              <a:ln>
                <a:noFill/>
              </a:ln>
              <a:solidFill>
                <a:srgbClr val="383838"/>
              </a:solidFill>
              <a:effectLst/>
              <a:uLnTx/>
              <a:uFillTx/>
              <a:latin typeface="微软雅黑"/>
              <a:ea typeface="微软雅黑"/>
              <a:cs typeface="微软雅黑"/>
              <a:sym typeface="微软雅黑"/>
            </a:endParaRPr>
          </a:p>
        </p:txBody>
      </p:sp>
      <p:sp>
        <p:nvSpPr>
          <p:cNvPr id="44" name="Rounded Rectangle"/>
          <p:cNvSpPr/>
          <p:nvPr/>
        </p:nvSpPr>
        <p:spPr>
          <a:xfrm>
            <a:off x="1099751" y="1238363"/>
            <a:ext cx="10739012" cy="1224000"/>
          </a:xfrm>
          <a:prstGeom prst="roundRect">
            <a:avLst>
              <a:gd name="adj" fmla="val 0"/>
            </a:avLst>
          </a:prstGeom>
          <a:solidFill>
            <a:srgbClr val="E6E6E6">
              <a:alpha val="40000"/>
            </a:srgbClr>
          </a:solidFill>
          <a:ln w="12700">
            <a:miter lim="400000"/>
          </a:ln>
        </p:spPr>
        <p:txBody>
          <a:bodyPr lIns="0" tIns="0" rIns="0" bIns="0" anchor="ctr"/>
          <a:lstStyle/>
          <a:p>
            <a:pPr marL="0" marR="0" lvl="0" indent="0" algn="ctr" defTabSz="412750" rtl="0" eaLnBrk="1"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sz="15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5" name="Rounded Rectangle"/>
          <p:cNvSpPr/>
          <p:nvPr/>
        </p:nvSpPr>
        <p:spPr>
          <a:xfrm>
            <a:off x="1099748" y="2595092"/>
            <a:ext cx="10739011" cy="1224000"/>
          </a:xfrm>
          <a:prstGeom prst="roundRect">
            <a:avLst>
              <a:gd name="adj" fmla="val 0"/>
            </a:avLst>
          </a:prstGeom>
          <a:solidFill>
            <a:srgbClr val="E6E6E6">
              <a:alpha val="40000"/>
            </a:srgbClr>
          </a:solidFill>
          <a:ln w="12700">
            <a:miter lim="400000"/>
          </a:ln>
        </p:spPr>
        <p:txBody>
          <a:bodyPr lIns="0" tIns="0" rIns="0" bIns="0" anchor="ctr">
            <a:noAutofit/>
          </a:bodyPr>
          <a:lstStyle/>
          <a:p>
            <a:pPr lvl="0" algn="ctr" defTabSz="412750" hangingPunct="0">
              <a:spcBef>
                <a:spcPts val="0"/>
              </a:spcBef>
              <a:spcAft>
                <a:spcPts val="0"/>
              </a:spcAft>
              <a:buClrTx/>
              <a:buSzTx/>
              <a:buFontTx/>
              <a:defRPr>
                <a:latin typeface="微软雅黑"/>
                <a:ea typeface="微软雅黑"/>
                <a:cs typeface="微软雅黑"/>
              </a:defRPr>
            </a:pPr>
            <a:endParaRPr sz="1500" kern="0" noProof="0">
              <a:ln>
                <a:noFill/>
              </a:ln>
              <a:solidFill>
                <a:srgbClr val="383838"/>
              </a:solidFill>
              <a:effectLst/>
              <a:uLnTx/>
              <a:uFillTx/>
              <a:latin typeface="微软雅黑"/>
              <a:ea typeface="微软雅黑"/>
              <a:cs typeface="微软雅黑"/>
              <a:sym typeface="微软雅黑"/>
            </a:endParaRPr>
          </a:p>
        </p:txBody>
      </p:sp>
      <p:sp>
        <p:nvSpPr>
          <p:cNvPr id="69" name="圆角矩形 68"/>
          <p:cNvSpPr/>
          <p:nvPr/>
        </p:nvSpPr>
        <p:spPr>
          <a:xfrm>
            <a:off x="1890360" y="1598364"/>
            <a:ext cx="1959533" cy="503999"/>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0" name="文本框 69"/>
          <p:cNvSpPr txBox="1"/>
          <p:nvPr/>
        </p:nvSpPr>
        <p:spPr>
          <a:xfrm>
            <a:off x="2251503" y="1696475"/>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平台获客</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2" name="菱形 1"/>
          <p:cNvSpPr/>
          <p:nvPr/>
        </p:nvSpPr>
        <p:spPr>
          <a:xfrm>
            <a:off x="4223394" y="1378728"/>
            <a:ext cx="885235" cy="943271"/>
          </a:xfrm>
          <a:prstGeom prst="diamond">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1" name="文本框 70"/>
          <p:cNvSpPr txBox="1"/>
          <p:nvPr/>
        </p:nvSpPr>
        <p:spPr>
          <a:xfrm>
            <a:off x="4297762" y="1696475"/>
            <a:ext cx="73649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导入</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73" name="直线箭头连接符 72"/>
          <p:cNvCxnSpPr>
            <a:stCxn id="69" idx="3"/>
            <a:endCxn id="2" idx="1"/>
          </p:cNvCxnSpPr>
          <p:nvPr/>
        </p:nvCxnSpPr>
        <p:spPr>
          <a:xfrm>
            <a:off x="3849893" y="1850364"/>
            <a:ext cx="373501" cy="0"/>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sp>
        <p:nvSpPr>
          <p:cNvPr id="74" name="矩形 73"/>
          <p:cNvSpPr/>
          <p:nvPr/>
        </p:nvSpPr>
        <p:spPr>
          <a:xfrm>
            <a:off x="5505305" y="1511809"/>
            <a:ext cx="1941032" cy="677108"/>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75" name="文本框 74"/>
          <p:cNvSpPr txBox="1"/>
          <p:nvPr/>
        </p:nvSpPr>
        <p:spPr>
          <a:xfrm>
            <a:off x="5857197" y="1696475"/>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培育线索池</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76" name="直线箭头连接符 75"/>
          <p:cNvCxnSpPr>
            <a:stCxn id="74" idx="3"/>
          </p:cNvCxnSpPr>
          <p:nvPr/>
        </p:nvCxnSpPr>
        <p:spPr>
          <a:xfrm>
            <a:off x="7446337" y="1850363"/>
            <a:ext cx="2200910" cy="0"/>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sp>
        <p:nvSpPr>
          <p:cNvPr id="79" name="文本框 78"/>
          <p:cNvSpPr txBox="1"/>
          <p:nvPr/>
        </p:nvSpPr>
        <p:spPr>
          <a:xfrm>
            <a:off x="5133650" y="1650906"/>
            <a:ext cx="287742"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rPr>
              <a:t>是</a:t>
            </a:r>
            <a:endPar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0" name="文本框 79"/>
          <p:cNvSpPr txBox="1"/>
          <p:nvPr/>
        </p:nvSpPr>
        <p:spPr>
          <a:xfrm>
            <a:off x="4683173" y="2265571"/>
            <a:ext cx="287742"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rPr>
              <a:t>否</a:t>
            </a:r>
            <a:endPar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6" name="菱形 85"/>
          <p:cNvSpPr/>
          <p:nvPr/>
        </p:nvSpPr>
        <p:spPr>
          <a:xfrm>
            <a:off x="4970914" y="2735457"/>
            <a:ext cx="885235" cy="943271"/>
          </a:xfrm>
          <a:prstGeom prst="diamond">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87" name="文本框 86"/>
          <p:cNvSpPr txBox="1"/>
          <p:nvPr/>
        </p:nvSpPr>
        <p:spPr>
          <a:xfrm>
            <a:off x="5045283" y="3053204"/>
            <a:ext cx="73649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领取</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89" name="矩形 88"/>
          <p:cNvSpPr/>
          <p:nvPr/>
        </p:nvSpPr>
        <p:spPr>
          <a:xfrm>
            <a:off x="6240216" y="2868538"/>
            <a:ext cx="1941032" cy="677108"/>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90" name="文本框 89"/>
          <p:cNvSpPr txBox="1"/>
          <p:nvPr/>
        </p:nvSpPr>
        <p:spPr>
          <a:xfrm>
            <a:off x="6592109" y="3053204"/>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有效线索</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92" name="圆角矩形 91"/>
          <p:cNvSpPr/>
          <p:nvPr/>
        </p:nvSpPr>
        <p:spPr>
          <a:xfrm>
            <a:off x="9715635" y="1598364"/>
            <a:ext cx="1959533" cy="503999"/>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93" name="文本框 92"/>
          <p:cNvSpPr txBox="1"/>
          <p:nvPr/>
        </p:nvSpPr>
        <p:spPr>
          <a:xfrm>
            <a:off x="10076778" y="1696475"/>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客户跟进</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94" name="圆角矩形 93"/>
          <p:cNvSpPr/>
          <p:nvPr/>
        </p:nvSpPr>
        <p:spPr>
          <a:xfrm>
            <a:off x="9715635" y="2955092"/>
            <a:ext cx="1959533" cy="503999"/>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95" name="文本框 94"/>
          <p:cNvSpPr txBox="1"/>
          <p:nvPr/>
        </p:nvSpPr>
        <p:spPr>
          <a:xfrm>
            <a:off x="10076778" y="3053203"/>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公海池</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96" name="圆角矩形 95"/>
          <p:cNvSpPr/>
          <p:nvPr/>
        </p:nvSpPr>
        <p:spPr>
          <a:xfrm>
            <a:off x="9715635" y="4311822"/>
            <a:ext cx="1959533" cy="503999"/>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97" name="文本框 96"/>
          <p:cNvSpPr txBox="1"/>
          <p:nvPr/>
        </p:nvSpPr>
        <p:spPr>
          <a:xfrm>
            <a:off x="10076778" y="4409933"/>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rPr>
              <a:t>签约合同</a:t>
            </a:r>
            <a:endPar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98" name="圆角矩形 97"/>
          <p:cNvSpPr/>
          <p:nvPr/>
        </p:nvSpPr>
        <p:spPr>
          <a:xfrm>
            <a:off x="9715635" y="5668551"/>
            <a:ext cx="1959533" cy="503999"/>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99" name="文本框 98"/>
          <p:cNvSpPr txBox="1"/>
          <p:nvPr/>
        </p:nvSpPr>
        <p:spPr>
          <a:xfrm>
            <a:off x="10076778" y="5766662"/>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rPr>
              <a:t>售后管理</a:t>
            </a:r>
            <a:endPar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0" name="椭圆 99"/>
          <p:cNvSpPr/>
          <p:nvPr/>
        </p:nvSpPr>
        <p:spPr>
          <a:xfrm>
            <a:off x="8289756" y="5488550"/>
            <a:ext cx="864000" cy="864000"/>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1" name="文本框 100"/>
          <p:cNvSpPr txBox="1"/>
          <p:nvPr/>
        </p:nvSpPr>
        <p:spPr>
          <a:xfrm>
            <a:off x="8360036" y="5766662"/>
            <a:ext cx="73649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rPr>
              <a:t>售后</a:t>
            </a:r>
            <a:endPar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02" name="页外连接符 101"/>
          <p:cNvSpPr/>
          <p:nvPr/>
        </p:nvSpPr>
        <p:spPr>
          <a:xfrm>
            <a:off x="8034231" y="4167821"/>
            <a:ext cx="1388108" cy="792000"/>
          </a:xfrm>
          <a:prstGeom prst="flowChartOffpageConnector">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3" name="菱形 102"/>
          <p:cNvSpPr/>
          <p:nvPr/>
        </p:nvSpPr>
        <p:spPr>
          <a:xfrm>
            <a:off x="6768115" y="4092186"/>
            <a:ext cx="885235" cy="943271"/>
          </a:xfrm>
          <a:prstGeom prst="diamond">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1"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04" name="文本框 103"/>
          <p:cNvSpPr txBox="1"/>
          <p:nvPr/>
        </p:nvSpPr>
        <p:spPr>
          <a:xfrm>
            <a:off x="6842483" y="4409933"/>
            <a:ext cx="73649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rPr>
              <a:t>转化</a:t>
            </a:r>
            <a:endParaRPr kumimoji="0" lang="en-US" altLang="en-US" sz="14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3" name="肘形连接符 2"/>
          <p:cNvCxnSpPr>
            <a:stCxn id="2" idx="2"/>
            <a:endCxn id="86" idx="1"/>
          </p:cNvCxnSpPr>
          <p:nvPr/>
        </p:nvCxnSpPr>
        <p:spPr>
          <a:xfrm rot="16200000" flipH="1">
            <a:off x="4375916" y="2612095"/>
            <a:ext cx="885094" cy="304902"/>
          </a:xfrm>
          <a:prstGeom prst="bentConnector2">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cxnSp>
        <p:nvCxnSpPr>
          <p:cNvPr id="4" name="直线箭头连接符 113"/>
          <p:cNvCxnSpPr>
            <a:stCxn id="86" idx="3"/>
            <a:endCxn id="89" idx="1"/>
          </p:cNvCxnSpPr>
          <p:nvPr/>
        </p:nvCxnSpPr>
        <p:spPr>
          <a:xfrm flipV="1">
            <a:off x="5856149" y="3207092"/>
            <a:ext cx="384067" cy="1"/>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cxnSp>
        <p:nvCxnSpPr>
          <p:cNvPr id="6" name="肘形连接符 5"/>
          <p:cNvCxnSpPr>
            <a:stCxn id="86" idx="2"/>
            <a:endCxn id="100" idx="2"/>
          </p:cNvCxnSpPr>
          <p:nvPr/>
        </p:nvCxnSpPr>
        <p:spPr>
          <a:xfrm rot="16200000" flipH="1">
            <a:off x="5730733" y="3361527"/>
            <a:ext cx="2241822" cy="2876224"/>
          </a:xfrm>
          <a:prstGeom prst="bentConnector2">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cxnSp>
        <p:nvCxnSpPr>
          <p:cNvPr id="7" name="直线箭头连接符 121"/>
          <p:cNvCxnSpPr>
            <a:stCxn id="89" idx="3"/>
          </p:cNvCxnSpPr>
          <p:nvPr/>
        </p:nvCxnSpPr>
        <p:spPr>
          <a:xfrm>
            <a:off x="8181248" y="3206457"/>
            <a:ext cx="1458595" cy="635"/>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sp>
        <p:nvSpPr>
          <p:cNvPr id="11" name="文本框 10"/>
          <p:cNvSpPr txBox="1"/>
          <p:nvPr/>
        </p:nvSpPr>
        <p:spPr>
          <a:xfrm>
            <a:off x="8107006" y="4409933"/>
            <a:ext cx="1237247" cy="307777"/>
          </a:xfrm>
          <a:prstGeom prst="rect">
            <a:avLst/>
          </a:prstGeom>
          <a:noFill/>
        </p:spPr>
        <p:txBody>
          <a:bodyPr wrap="square"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rPr>
              <a:t>签单过程</a:t>
            </a:r>
            <a:endParaRPr kumimoji="0" lang="en-US" altLang="en-US" sz="14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2" name="直线箭头连接符 125"/>
          <p:cNvCxnSpPr>
            <a:stCxn id="2" idx="3"/>
            <a:endCxn id="74" idx="1"/>
          </p:cNvCxnSpPr>
          <p:nvPr/>
        </p:nvCxnSpPr>
        <p:spPr>
          <a:xfrm flipV="1">
            <a:off x="5108629" y="1850363"/>
            <a:ext cx="396676" cy="1"/>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sp>
        <p:nvSpPr>
          <p:cNvPr id="13" name="文本框 12"/>
          <p:cNvSpPr txBox="1"/>
          <p:nvPr/>
        </p:nvSpPr>
        <p:spPr>
          <a:xfrm>
            <a:off x="5862992" y="3001708"/>
            <a:ext cx="287742"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rPr>
              <a:t>是</a:t>
            </a:r>
            <a:endPar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 name="文本框 13"/>
          <p:cNvSpPr txBox="1"/>
          <p:nvPr/>
        </p:nvSpPr>
        <p:spPr>
          <a:xfrm>
            <a:off x="5412515" y="3641102"/>
            <a:ext cx="287742"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rPr>
              <a:t>否</a:t>
            </a:r>
            <a:endPar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5" name="直线箭头连接符 130"/>
          <p:cNvCxnSpPr>
            <a:stCxn id="89" idx="2"/>
            <a:endCxn id="103" idx="0"/>
          </p:cNvCxnSpPr>
          <p:nvPr/>
        </p:nvCxnSpPr>
        <p:spPr>
          <a:xfrm>
            <a:off x="7210732" y="3545646"/>
            <a:ext cx="1" cy="546540"/>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cxnSp>
        <p:nvCxnSpPr>
          <p:cNvPr id="16" name="直线箭头连接符 133"/>
          <p:cNvCxnSpPr>
            <a:stCxn id="102" idx="3"/>
            <a:endCxn id="96" idx="1"/>
          </p:cNvCxnSpPr>
          <p:nvPr/>
        </p:nvCxnSpPr>
        <p:spPr>
          <a:xfrm>
            <a:off x="9422339" y="4563821"/>
            <a:ext cx="293296" cy="1"/>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cxnSp>
        <p:nvCxnSpPr>
          <p:cNvPr id="17" name="直线箭头连接符 137"/>
          <p:cNvCxnSpPr>
            <a:stCxn id="103" idx="3"/>
            <a:endCxn id="102" idx="1"/>
          </p:cNvCxnSpPr>
          <p:nvPr/>
        </p:nvCxnSpPr>
        <p:spPr>
          <a:xfrm flipV="1">
            <a:off x="7653350" y="4563821"/>
            <a:ext cx="380881" cy="1"/>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cxnSp>
        <p:nvCxnSpPr>
          <p:cNvPr id="18" name="肘形连接符 17"/>
          <p:cNvCxnSpPr>
            <a:stCxn id="103" idx="2"/>
            <a:endCxn id="100" idx="2"/>
          </p:cNvCxnSpPr>
          <p:nvPr/>
        </p:nvCxnSpPr>
        <p:spPr>
          <a:xfrm rot="16200000" flipH="1">
            <a:off x="7307698" y="4938491"/>
            <a:ext cx="885093" cy="1079023"/>
          </a:xfrm>
          <a:prstGeom prst="bentConnector2">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sp>
        <p:nvSpPr>
          <p:cNvPr id="19" name="文本框 18"/>
          <p:cNvSpPr txBox="1"/>
          <p:nvPr/>
        </p:nvSpPr>
        <p:spPr>
          <a:xfrm>
            <a:off x="7673198" y="4361149"/>
            <a:ext cx="287742"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rPr>
              <a:t>是</a:t>
            </a:r>
            <a:endPar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0" name="文本框 19"/>
          <p:cNvSpPr txBox="1"/>
          <p:nvPr/>
        </p:nvSpPr>
        <p:spPr>
          <a:xfrm>
            <a:off x="7222722" y="5000543"/>
            <a:ext cx="287742"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rPr>
              <a:t>否</a:t>
            </a:r>
            <a:endParaRPr kumimoji="0" lang="en-US"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1" name="直线箭头连接符 145"/>
          <p:cNvCxnSpPr>
            <a:stCxn id="100" idx="6"/>
            <a:endCxn id="98" idx="1"/>
          </p:cNvCxnSpPr>
          <p:nvPr/>
        </p:nvCxnSpPr>
        <p:spPr>
          <a:xfrm>
            <a:off x="9153756" y="5920550"/>
            <a:ext cx="561879" cy="1"/>
          </a:xfrm>
          <a:prstGeom prst="straightConnector1">
            <a:avLst/>
          </a:prstGeom>
          <a:ln>
            <a:solidFill>
              <a:srgbClr val="383838"/>
            </a:solidFill>
            <a:prstDash val="solid"/>
            <a:tailEnd type="triangle"/>
          </a:ln>
        </p:spPr>
        <p:style>
          <a:lnRef idx="1">
            <a:srgbClr val="0042FF"/>
          </a:lnRef>
          <a:fillRef idx="0">
            <a:srgbClr val="0042FF"/>
          </a:fillRef>
          <a:effectRef idx="0">
            <a:srgbClr val="0042FF"/>
          </a:effectRef>
          <a:fontRef idx="minor">
            <a:srgbClr val="383838"/>
          </a:fontRef>
        </p:style>
      </p:cxnSp>
      <p:sp>
        <p:nvSpPr>
          <p:cNvPr id="22" name="文本框 21"/>
          <p:cNvSpPr txBox="1"/>
          <p:nvPr/>
        </p:nvSpPr>
        <p:spPr>
          <a:xfrm flipH="1">
            <a:off x="1947979" y="5591479"/>
            <a:ext cx="1741933" cy="23852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550" b="0" i="0" u="none" strike="noStrike" kern="1200" cap="none" spc="0" normalizeH="0" baseline="0" noProof="0" dirty="0">
                <a:ln>
                  <a:noFill/>
                </a:ln>
                <a:solidFill>
                  <a:srgbClr val="0042FF"/>
                </a:solidFill>
                <a:effectLst/>
                <a:uLnTx/>
                <a:uFillTx/>
                <a:latin typeface="微软雅黑"/>
                <a:ea typeface="微软雅黑"/>
                <a:cs typeface="微软雅黑"/>
              </a:rPr>
              <a:t>快速提升阶段</a:t>
            </a:r>
            <a:endParaRPr kumimoji="0" lang="zh-CN" altLang="en-US" sz="155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3" name="文本框 22"/>
          <p:cNvSpPr txBox="1"/>
          <p:nvPr/>
        </p:nvSpPr>
        <p:spPr>
          <a:xfrm>
            <a:off x="1856600" y="5867127"/>
            <a:ext cx="2692934" cy="443198"/>
          </a:xfrm>
          <a:prstGeom prst="rect">
            <a:avLst/>
          </a:prstGeom>
          <a:noFill/>
        </p:spPr>
        <p:txBody>
          <a:bodyPr wrap="square" rtlCol="0" lIns="0" rIns="0" tIns="0" bIns="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项目、事业或企业进入高速增长和扩张的阶段，同时注意控制风险、为成熟稳定做准备。</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4" name="文本框 23"/>
          <p:cNvSpPr txBox="1"/>
          <p:nvPr/>
        </p:nvSpPr>
        <p:spPr>
          <a:xfrm flipH="1">
            <a:off x="1947979" y="4167265"/>
            <a:ext cx="1741933" cy="23852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550" b="0" i="0" u="none" strike="noStrike" kern="1200" cap="none" spc="0" normalizeH="0" baseline="0" noProof="0" dirty="0">
                <a:ln>
                  <a:noFill/>
                </a:ln>
                <a:solidFill>
                  <a:srgbClr val="0042FF"/>
                </a:solidFill>
                <a:effectLst/>
                <a:uLnTx/>
                <a:uFillTx/>
                <a:latin typeface="微软雅黑"/>
                <a:ea typeface="微软雅黑"/>
                <a:cs typeface="微软雅黑"/>
              </a:rPr>
              <a:t>稳步发展阶段</a:t>
            </a:r>
            <a:endParaRPr kumimoji="0" lang="zh-CN" altLang="en-US" sz="155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5" name="文本框 24"/>
          <p:cNvSpPr txBox="1"/>
          <p:nvPr/>
        </p:nvSpPr>
        <p:spPr>
          <a:xfrm>
            <a:off x="1856600" y="4442913"/>
            <a:ext cx="2692934" cy="443198"/>
          </a:xfrm>
          <a:prstGeom prst="rect">
            <a:avLst/>
          </a:prstGeom>
          <a:noFill/>
        </p:spPr>
        <p:txBody>
          <a:bodyPr wrap="square" rtlCol="0" lIns="0" rIns="0" tIns="0" bIns="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市场份额增加、运营效率提高、利润增长，需要加强管理、拓展市场、提高质量。</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6" name="文本框 25"/>
          <p:cNvSpPr txBox="1"/>
          <p:nvPr/>
        </p:nvSpPr>
        <p:spPr>
          <a:xfrm flipH="1">
            <a:off x="1947979" y="2861754"/>
            <a:ext cx="1741933" cy="23852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550" b="0" i="0" u="none" strike="noStrike" kern="1200" cap="none" spc="0" normalizeH="0" baseline="0" noProof="0" dirty="0">
                <a:ln>
                  <a:noFill/>
                </a:ln>
                <a:solidFill>
                  <a:srgbClr val="0042FF"/>
                </a:solidFill>
                <a:effectLst/>
                <a:uLnTx/>
                <a:uFillTx/>
                <a:latin typeface="微软雅黑"/>
                <a:ea typeface="微软雅黑"/>
                <a:cs typeface="微软雅黑"/>
              </a:rPr>
              <a:t>基础奠定阶段</a:t>
            </a:r>
            <a:endParaRPr kumimoji="0" lang="zh-CN" altLang="en-US" sz="155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7" name="文本框 26"/>
          <p:cNvSpPr txBox="1"/>
          <p:nvPr/>
        </p:nvSpPr>
        <p:spPr>
          <a:xfrm>
            <a:off x="1856600" y="3137402"/>
            <a:ext cx="2692934" cy="443198"/>
          </a:xfrm>
          <a:prstGeom prst="rect">
            <a:avLst/>
          </a:prstGeom>
          <a:noFill/>
        </p:spPr>
        <p:txBody>
          <a:bodyPr wrap="square" rtlCol="0" lIns="0" rIns="0" tIns="0" bIns="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基础奠定阶段是为新计划、项目或事业做准备和基础工作的阶段</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28" name="组合 27"/>
          <p:cNvGrpSpPr/>
          <p:nvPr/>
        </p:nvGrpSpPr>
        <p:grpSpPr>
          <a:xfrm rot="5400000">
            <a:off x="-1551702" y="3185786"/>
            <a:ext cx="5294185" cy="1399344"/>
            <a:chOff x="3025772" y="-1549631"/>
            <a:chExt cx="9633327" cy="1399344"/>
          </a:xfrm>
        </p:grpSpPr>
        <p:sp>
          <p:nvSpPr>
            <p:cNvPr id="72" name="任意形状 71"/>
            <p:cNvSpPr/>
            <p:nvPr/>
          </p:nvSpPr>
          <p:spPr>
            <a:xfrm>
              <a:off x="6840493" y="-1081293"/>
              <a:ext cx="1805503" cy="462666"/>
            </a:xfrm>
            <a:custGeom>
              <a:avLst/>
              <a:gdLst>
                <a:gd name="connsiteX0" fmla="*/ 0 w 648402"/>
                <a:gd name="connsiteY0" fmla="*/ 0 h 166155"/>
                <a:gd name="connsiteX1" fmla="*/ 0 w 648402"/>
                <a:gd name="connsiteY1" fmla="*/ 166156 h 166155"/>
                <a:gd name="connsiteX2" fmla="*/ 648402 w 648402"/>
                <a:gd name="connsiteY2" fmla="*/ 83078 h 166155"/>
              </a:gdLst>
              <a:ahLst/>
              <a:cxnLst>
                <a:cxn ang="0">
                  <a:pos x="connsiteX0" y="connsiteY0"/>
                </a:cxn>
                <a:cxn ang="0">
                  <a:pos x="connsiteX1" y="connsiteY1"/>
                </a:cxn>
                <a:cxn ang="0">
                  <a:pos x="connsiteX2" y="connsiteY2"/>
                </a:cxn>
              </a:cxnLst>
              <a:rect l="l" t="t" r="r" b="b"/>
              <a:pathLst>
                <a:path w="648402" h="166155">
                  <a:moveTo>
                    <a:pt x="0" y="0"/>
                  </a:moveTo>
                  <a:lnTo>
                    <a:pt x="0" y="166156"/>
                  </a:lnTo>
                  <a:lnTo>
                    <a:pt x="648402" y="83078"/>
                  </a:lnTo>
                  <a:close/>
                </a:path>
              </a:pathLst>
            </a:custGeom>
            <a:solidFill>
              <a:srgbClr val="3368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7" name="任意形状 76"/>
            <p:cNvSpPr/>
            <p:nvPr/>
          </p:nvSpPr>
          <p:spPr>
            <a:xfrm>
              <a:off x="6785821" y="-1081293"/>
              <a:ext cx="109341" cy="462666"/>
            </a:xfrm>
            <a:custGeom>
              <a:avLst/>
              <a:gdLst>
                <a:gd name="connsiteX0" fmla="*/ 39267 w 39267"/>
                <a:gd name="connsiteY0" fmla="*/ 83078 h 166155"/>
                <a:gd name="connsiteX1" fmla="*/ 19634 w 39267"/>
                <a:gd name="connsiteY1" fmla="*/ 166156 h 166155"/>
                <a:gd name="connsiteX2" fmla="*/ 0 w 39267"/>
                <a:gd name="connsiteY2" fmla="*/ 83078 h 166155"/>
                <a:gd name="connsiteX3" fmla="*/ 19634 w 39267"/>
                <a:gd name="connsiteY3" fmla="*/ 0 h 166155"/>
                <a:gd name="connsiteX4" fmla="*/ 39267 w 39267"/>
                <a:gd name="connsiteY4" fmla="*/ 83078 h 16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67" h="166155">
                  <a:moveTo>
                    <a:pt x="39267" y="83078"/>
                  </a:moveTo>
                  <a:cubicBezTo>
                    <a:pt x="39267" y="128960"/>
                    <a:pt x="30477" y="166156"/>
                    <a:pt x="19634" y="166156"/>
                  </a:cubicBezTo>
                  <a:cubicBezTo>
                    <a:pt x="8790" y="166156"/>
                    <a:pt x="0" y="128961"/>
                    <a:pt x="0" y="83078"/>
                  </a:cubicBezTo>
                  <a:cubicBezTo>
                    <a:pt x="0" y="37195"/>
                    <a:pt x="8790" y="0"/>
                    <a:pt x="19634" y="0"/>
                  </a:cubicBezTo>
                  <a:cubicBezTo>
                    <a:pt x="30477" y="0"/>
                    <a:pt x="39267" y="37195"/>
                    <a:pt x="39267" y="83078"/>
                  </a:cubicBezTo>
                  <a:close/>
                </a:path>
              </a:pathLst>
            </a:custGeom>
            <a:solidFill>
              <a:srgbClr val="0042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78" name="任意形状 77"/>
            <p:cNvSpPr/>
            <p:nvPr/>
          </p:nvSpPr>
          <p:spPr>
            <a:xfrm>
              <a:off x="5131173" y="-1300835"/>
              <a:ext cx="1660546" cy="901975"/>
            </a:xfrm>
            <a:custGeom>
              <a:avLst/>
              <a:gdLst>
                <a:gd name="connsiteX0" fmla="*/ 575896 w 596344"/>
                <a:gd name="connsiteY0" fmla="*/ 74933 h 323922"/>
                <a:gd name="connsiteX1" fmla="*/ 0 w 596344"/>
                <a:gd name="connsiteY1" fmla="*/ 0 h 323922"/>
                <a:gd name="connsiteX2" fmla="*/ 0 w 596344"/>
                <a:gd name="connsiteY2" fmla="*/ 323923 h 323922"/>
                <a:gd name="connsiteX3" fmla="*/ 575896 w 596344"/>
                <a:gd name="connsiteY3" fmla="*/ 248989 h 323922"/>
                <a:gd name="connsiteX4" fmla="*/ 596344 w 596344"/>
                <a:gd name="connsiteY4" fmla="*/ 162002 h 323922"/>
                <a:gd name="connsiteX5" fmla="*/ 575896 w 596344"/>
                <a:gd name="connsiteY5" fmla="*/ 74933 h 323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6344" h="323922">
                  <a:moveTo>
                    <a:pt x="575896" y="74933"/>
                  </a:moveTo>
                  <a:lnTo>
                    <a:pt x="0" y="0"/>
                  </a:lnTo>
                  <a:lnTo>
                    <a:pt x="0" y="323923"/>
                  </a:lnTo>
                  <a:lnTo>
                    <a:pt x="575896" y="248989"/>
                  </a:lnTo>
                  <a:cubicBezTo>
                    <a:pt x="587220" y="248989"/>
                    <a:pt x="596344" y="210057"/>
                    <a:pt x="596344" y="162002"/>
                  </a:cubicBezTo>
                  <a:cubicBezTo>
                    <a:pt x="596344" y="113947"/>
                    <a:pt x="587220" y="74933"/>
                    <a:pt x="575896" y="74933"/>
                  </a:cubicBezTo>
                  <a:close/>
                </a:path>
              </a:pathLst>
            </a:custGeom>
            <a:solidFill>
              <a:srgbClr val="3368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81" name="任意形状 80"/>
            <p:cNvSpPr/>
            <p:nvPr/>
          </p:nvSpPr>
          <p:spPr>
            <a:xfrm>
              <a:off x="5018881" y="-1300835"/>
              <a:ext cx="224582" cy="901746"/>
            </a:xfrm>
            <a:custGeom>
              <a:avLst/>
              <a:gdLst>
                <a:gd name="connsiteX0" fmla="*/ 80653 w 80653"/>
                <a:gd name="connsiteY0" fmla="*/ 161920 h 323840"/>
                <a:gd name="connsiteX1" fmla="*/ 40326 w 80653"/>
                <a:gd name="connsiteY1" fmla="*/ 323841 h 323840"/>
                <a:gd name="connsiteX2" fmla="*/ 0 w 80653"/>
                <a:gd name="connsiteY2" fmla="*/ 161920 h 323840"/>
                <a:gd name="connsiteX3" fmla="*/ 40326 w 80653"/>
                <a:gd name="connsiteY3" fmla="*/ 0 h 323840"/>
                <a:gd name="connsiteX4" fmla="*/ 80653 w 80653"/>
                <a:gd name="connsiteY4" fmla="*/ 161920 h 323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53" h="323840">
                  <a:moveTo>
                    <a:pt x="80653" y="161920"/>
                  </a:moveTo>
                  <a:cubicBezTo>
                    <a:pt x="80653" y="251347"/>
                    <a:pt x="62598" y="323841"/>
                    <a:pt x="40326" y="323841"/>
                  </a:cubicBezTo>
                  <a:cubicBezTo>
                    <a:pt x="18055" y="323841"/>
                    <a:pt x="0" y="251347"/>
                    <a:pt x="0" y="161920"/>
                  </a:cubicBezTo>
                  <a:cubicBezTo>
                    <a:pt x="0" y="72494"/>
                    <a:pt x="18054" y="0"/>
                    <a:pt x="40326" y="0"/>
                  </a:cubicBezTo>
                  <a:cubicBezTo>
                    <a:pt x="62598" y="0"/>
                    <a:pt x="80653" y="72494"/>
                    <a:pt x="80653" y="161920"/>
                  </a:cubicBezTo>
                  <a:close/>
                </a:path>
              </a:pathLst>
            </a:custGeom>
            <a:solidFill>
              <a:srgbClr val="0042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82" name="任意形状 81"/>
            <p:cNvSpPr/>
            <p:nvPr/>
          </p:nvSpPr>
          <p:spPr>
            <a:xfrm>
              <a:off x="3195231" y="-1549631"/>
              <a:ext cx="1882404" cy="1399344"/>
            </a:xfrm>
            <a:custGeom>
              <a:avLst/>
              <a:gdLst>
                <a:gd name="connsiteX0" fmla="*/ 633982 w 676019"/>
                <a:gd name="connsiteY0" fmla="*/ 81449 h 502540"/>
                <a:gd name="connsiteX1" fmla="*/ 0 w 676019"/>
                <a:gd name="connsiteY1" fmla="*/ 0 h 502540"/>
                <a:gd name="connsiteX2" fmla="*/ 0 w 676019"/>
                <a:gd name="connsiteY2" fmla="*/ 502540 h 502540"/>
                <a:gd name="connsiteX3" fmla="*/ 633982 w 676019"/>
                <a:gd name="connsiteY3" fmla="*/ 421091 h 502540"/>
                <a:gd name="connsiteX4" fmla="*/ 676020 w 676019"/>
                <a:gd name="connsiteY4" fmla="*/ 251270 h 502540"/>
                <a:gd name="connsiteX5" fmla="*/ 633982 w 676019"/>
                <a:gd name="connsiteY5" fmla="*/ 81449 h 502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6019" h="502540">
                  <a:moveTo>
                    <a:pt x="633982" y="81449"/>
                  </a:moveTo>
                  <a:lnTo>
                    <a:pt x="0" y="0"/>
                  </a:lnTo>
                  <a:lnTo>
                    <a:pt x="0" y="502540"/>
                  </a:lnTo>
                  <a:lnTo>
                    <a:pt x="633982" y="421091"/>
                  </a:lnTo>
                  <a:cubicBezTo>
                    <a:pt x="657201" y="421091"/>
                    <a:pt x="676020" y="345099"/>
                    <a:pt x="676020" y="251270"/>
                  </a:cubicBezTo>
                  <a:cubicBezTo>
                    <a:pt x="676020" y="157441"/>
                    <a:pt x="657282" y="81449"/>
                    <a:pt x="633982" y="81449"/>
                  </a:cubicBezTo>
                  <a:close/>
                </a:path>
              </a:pathLst>
            </a:custGeom>
            <a:solidFill>
              <a:srgbClr val="3368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83" name="任意形状 82"/>
            <p:cNvSpPr/>
            <p:nvPr/>
          </p:nvSpPr>
          <p:spPr>
            <a:xfrm>
              <a:off x="3025772" y="-1549631"/>
              <a:ext cx="339366" cy="1399342"/>
            </a:xfrm>
            <a:custGeom>
              <a:avLst/>
              <a:gdLst>
                <a:gd name="connsiteX0" fmla="*/ 121876 w 121875"/>
                <a:gd name="connsiteY0" fmla="*/ 251270 h 502539"/>
                <a:gd name="connsiteX1" fmla="*/ 60938 w 121875"/>
                <a:gd name="connsiteY1" fmla="*/ 502540 h 502539"/>
                <a:gd name="connsiteX2" fmla="*/ 0 w 121875"/>
                <a:gd name="connsiteY2" fmla="*/ 251270 h 502539"/>
                <a:gd name="connsiteX3" fmla="*/ 60938 w 121875"/>
                <a:gd name="connsiteY3" fmla="*/ 0 h 502539"/>
                <a:gd name="connsiteX4" fmla="*/ 121876 w 121875"/>
                <a:gd name="connsiteY4" fmla="*/ 251270 h 50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875" h="502539">
                  <a:moveTo>
                    <a:pt x="121876" y="251270"/>
                  </a:moveTo>
                  <a:cubicBezTo>
                    <a:pt x="121876" y="390043"/>
                    <a:pt x="94593" y="502540"/>
                    <a:pt x="60938" y="502540"/>
                  </a:cubicBezTo>
                  <a:cubicBezTo>
                    <a:pt x="27283" y="502540"/>
                    <a:pt x="0" y="390043"/>
                    <a:pt x="0" y="251270"/>
                  </a:cubicBezTo>
                  <a:cubicBezTo>
                    <a:pt x="0" y="112497"/>
                    <a:pt x="27283" y="0"/>
                    <a:pt x="60938" y="0"/>
                  </a:cubicBezTo>
                  <a:cubicBezTo>
                    <a:pt x="94593" y="0"/>
                    <a:pt x="121876" y="112497"/>
                    <a:pt x="121876" y="251270"/>
                  </a:cubicBezTo>
                  <a:close/>
                </a:path>
              </a:pathLst>
            </a:custGeom>
            <a:solidFill>
              <a:srgbClr val="0042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grpSp>
          <p:nvGrpSpPr>
            <p:cNvPr id="107" name="组合 106"/>
            <p:cNvGrpSpPr/>
            <p:nvPr/>
          </p:nvGrpSpPr>
          <p:grpSpPr>
            <a:xfrm flipH="1">
              <a:off x="9033901" y="-1081293"/>
              <a:ext cx="1860175" cy="462666"/>
              <a:chOff x="9778698" y="2497994"/>
              <a:chExt cx="1860175" cy="462666"/>
            </a:xfrm>
          </p:grpSpPr>
          <p:sp>
            <p:nvSpPr>
              <p:cNvPr id="108" name="任意形状 107"/>
              <p:cNvSpPr/>
              <p:nvPr/>
            </p:nvSpPr>
            <p:spPr>
              <a:xfrm>
                <a:off x="9833370" y="2497994"/>
                <a:ext cx="1805503" cy="462666"/>
              </a:xfrm>
              <a:custGeom>
                <a:avLst/>
                <a:gdLst>
                  <a:gd name="connsiteX0" fmla="*/ 0 w 648402"/>
                  <a:gd name="connsiteY0" fmla="*/ 0 h 166155"/>
                  <a:gd name="connsiteX1" fmla="*/ 0 w 648402"/>
                  <a:gd name="connsiteY1" fmla="*/ 166156 h 166155"/>
                  <a:gd name="connsiteX2" fmla="*/ 648402 w 648402"/>
                  <a:gd name="connsiteY2" fmla="*/ 83078 h 166155"/>
                </a:gdLst>
                <a:ahLst/>
                <a:cxnLst>
                  <a:cxn ang="0">
                    <a:pos x="connsiteX0" y="connsiteY0"/>
                  </a:cxn>
                  <a:cxn ang="0">
                    <a:pos x="connsiteX1" y="connsiteY1"/>
                  </a:cxn>
                  <a:cxn ang="0">
                    <a:pos x="connsiteX2" y="connsiteY2"/>
                  </a:cxn>
                </a:cxnLst>
                <a:rect l="l" t="t" r="r" b="b"/>
                <a:pathLst>
                  <a:path w="648402" h="166155">
                    <a:moveTo>
                      <a:pt x="0" y="0"/>
                    </a:moveTo>
                    <a:lnTo>
                      <a:pt x="0" y="166156"/>
                    </a:lnTo>
                    <a:lnTo>
                      <a:pt x="648402" y="83078"/>
                    </a:lnTo>
                    <a:close/>
                  </a:path>
                </a:pathLst>
              </a:custGeom>
              <a:solidFill>
                <a:srgbClr val="B3D4FE"/>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109" name="任意形状 108"/>
              <p:cNvSpPr/>
              <p:nvPr/>
            </p:nvSpPr>
            <p:spPr>
              <a:xfrm>
                <a:off x="9778698" y="2497994"/>
                <a:ext cx="109341" cy="462666"/>
              </a:xfrm>
              <a:custGeom>
                <a:avLst/>
                <a:gdLst>
                  <a:gd name="connsiteX0" fmla="*/ 39267 w 39267"/>
                  <a:gd name="connsiteY0" fmla="*/ 83078 h 166155"/>
                  <a:gd name="connsiteX1" fmla="*/ 19634 w 39267"/>
                  <a:gd name="connsiteY1" fmla="*/ 166156 h 166155"/>
                  <a:gd name="connsiteX2" fmla="*/ 0 w 39267"/>
                  <a:gd name="connsiteY2" fmla="*/ 83078 h 166155"/>
                  <a:gd name="connsiteX3" fmla="*/ 19634 w 39267"/>
                  <a:gd name="connsiteY3" fmla="*/ 0 h 166155"/>
                  <a:gd name="connsiteX4" fmla="*/ 39267 w 39267"/>
                  <a:gd name="connsiteY4" fmla="*/ 83078 h 16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67" h="166155">
                    <a:moveTo>
                      <a:pt x="39267" y="83078"/>
                    </a:moveTo>
                    <a:cubicBezTo>
                      <a:pt x="39267" y="128960"/>
                      <a:pt x="30477" y="166156"/>
                      <a:pt x="19634" y="166156"/>
                    </a:cubicBezTo>
                    <a:cubicBezTo>
                      <a:pt x="8790" y="166156"/>
                      <a:pt x="0" y="128961"/>
                      <a:pt x="0" y="83078"/>
                    </a:cubicBezTo>
                    <a:cubicBezTo>
                      <a:pt x="0" y="37195"/>
                      <a:pt x="8790" y="0"/>
                      <a:pt x="19634" y="0"/>
                    </a:cubicBezTo>
                    <a:cubicBezTo>
                      <a:pt x="30477" y="0"/>
                      <a:pt x="39267" y="37195"/>
                      <a:pt x="39267" y="83078"/>
                    </a:cubicBezTo>
                    <a:close/>
                  </a:path>
                </a:pathLst>
              </a:custGeom>
              <a:solidFill>
                <a:srgbClr val="3368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nvGrpSpPr>
            <p:cNvPr id="29" name="组合 28"/>
            <p:cNvGrpSpPr/>
            <p:nvPr/>
          </p:nvGrpSpPr>
          <p:grpSpPr>
            <a:xfrm flipH="1">
              <a:off x="10886261" y="-1300835"/>
              <a:ext cx="1772838" cy="901975"/>
              <a:chOff x="10727702" y="-1300835"/>
              <a:chExt cx="1772838" cy="901975"/>
            </a:xfrm>
          </p:grpSpPr>
          <p:sp>
            <p:nvSpPr>
              <p:cNvPr id="30" name="任意形状 114"/>
              <p:cNvSpPr/>
              <p:nvPr/>
            </p:nvSpPr>
            <p:spPr>
              <a:xfrm>
                <a:off x="10839994" y="-1300835"/>
                <a:ext cx="1660546" cy="901975"/>
              </a:xfrm>
              <a:custGeom>
                <a:avLst/>
                <a:gdLst>
                  <a:gd name="connsiteX0" fmla="*/ 575896 w 596344"/>
                  <a:gd name="connsiteY0" fmla="*/ 74933 h 323922"/>
                  <a:gd name="connsiteX1" fmla="*/ 0 w 596344"/>
                  <a:gd name="connsiteY1" fmla="*/ 0 h 323922"/>
                  <a:gd name="connsiteX2" fmla="*/ 0 w 596344"/>
                  <a:gd name="connsiteY2" fmla="*/ 323923 h 323922"/>
                  <a:gd name="connsiteX3" fmla="*/ 575896 w 596344"/>
                  <a:gd name="connsiteY3" fmla="*/ 248989 h 323922"/>
                  <a:gd name="connsiteX4" fmla="*/ 596344 w 596344"/>
                  <a:gd name="connsiteY4" fmla="*/ 162002 h 323922"/>
                  <a:gd name="connsiteX5" fmla="*/ 575896 w 596344"/>
                  <a:gd name="connsiteY5" fmla="*/ 74933 h 323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6344" h="323922">
                    <a:moveTo>
                      <a:pt x="575896" y="74933"/>
                    </a:moveTo>
                    <a:lnTo>
                      <a:pt x="0" y="0"/>
                    </a:lnTo>
                    <a:lnTo>
                      <a:pt x="0" y="323923"/>
                    </a:lnTo>
                    <a:lnTo>
                      <a:pt x="575896" y="248989"/>
                    </a:lnTo>
                    <a:cubicBezTo>
                      <a:pt x="587220" y="248989"/>
                      <a:pt x="596344" y="210057"/>
                      <a:pt x="596344" y="162002"/>
                    </a:cubicBezTo>
                    <a:cubicBezTo>
                      <a:pt x="596344" y="113947"/>
                      <a:pt x="587220" y="74933"/>
                      <a:pt x="575896" y="74933"/>
                    </a:cubicBezTo>
                    <a:close/>
                  </a:path>
                </a:pathLst>
              </a:custGeom>
              <a:solidFill>
                <a:srgbClr val="B3D4FE"/>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1" name="任意形状 115"/>
              <p:cNvSpPr/>
              <p:nvPr/>
            </p:nvSpPr>
            <p:spPr>
              <a:xfrm>
                <a:off x="10727702" y="-1300835"/>
                <a:ext cx="224582" cy="901746"/>
              </a:xfrm>
              <a:custGeom>
                <a:avLst/>
                <a:gdLst>
                  <a:gd name="connsiteX0" fmla="*/ 80653 w 80653"/>
                  <a:gd name="connsiteY0" fmla="*/ 161920 h 323840"/>
                  <a:gd name="connsiteX1" fmla="*/ 40326 w 80653"/>
                  <a:gd name="connsiteY1" fmla="*/ 323841 h 323840"/>
                  <a:gd name="connsiteX2" fmla="*/ 0 w 80653"/>
                  <a:gd name="connsiteY2" fmla="*/ 161920 h 323840"/>
                  <a:gd name="connsiteX3" fmla="*/ 40326 w 80653"/>
                  <a:gd name="connsiteY3" fmla="*/ 0 h 323840"/>
                  <a:gd name="connsiteX4" fmla="*/ 80653 w 80653"/>
                  <a:gd name="connsiteY4" fmla="*/ 161920 h 323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53" h="323840">
                    <a:moveTo>
                      <a:pt x="80653" y="161920"/>
                    </a:moveTo>
                    <a:cubicBezTo>
                      <a:pt x="80653" y="251347"/>
                      <a:pt x="62598" y="323841"/>
                      <a:pt x="40326" y="323841"/>
                    </a:cubicBezTo>
                    <a:cubicBezTo>
                      <a:pt x="18055" y="323841"/>
                      <a:pt x="0" y="251347"/>
                      <a:pt x="0" y="161920"/>
                    </a:cubicBezTo>
                    <a:cubicBezTo>
                      <a:pt x="0" y="72494"/>
                      <a:pt x="18054" y="0"/>
                      <a:pt x="40326" y="0"/>
                    </a:cubicBezTo>
                    <a:cubicBezTo>
                      <a:pt x="62598" y="0"/>
                      <a:pt x="80653" y="72494"/>
                      <a:pt x="80653" y="161920"/>
                    </a:cubicBezTo>
                    <a:close/>
                  </a:path>
                </a:pathLst>
              </a:custGeom>
              <a:solidFill>
                <a:srgbClr val="3368FF"/>
              </a:solidFill>
              <a:ln w="8132" cap="flat">
                <a:no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grpSp>
      </p:grpSp>
      <p:sp>
        <p:nvSpPr>
          <p:cNvPr id="32" name="椭圆 31"/>
          <p:cNvSpPr>
            <a:spLocks noChangeAspect="1"/>
          </p:cNvSpPr>
          <p:nvPr/>
        </p:nvSpPr>
        <p:spPr>
          <a:xfrm>
            <a:off x="771390" y="4150465"/>
            <a:ext cx="648000" cy="648000"/>
          </a:xfrm>
          <a:prstGeom prst="ellipse">
            <a:avLst/>
          </a:prstGeom>
          <a:gradFill>
            <a:gsLst>
              <a:gs pos="0">
                <a:srgbClr val="B3D4FE"/>
              </a:gs>
              <a:gs pos="82000">
                <a:srgbClr val="3368FF"/>
              </a:gs>
            </a:gsLst>
            <a:lin ang="0" scaled="0"/>
          </a:gra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33" name="flag-pole-with-black-flag_38306"/>
          <p:cNvSpPr>
            <a:spLocks noChangeAspect="1"/>
          </p:cNvSpPr>
          <p:nvPr/>
        </p:nvSpPr>
        <p:spPr>
          <a:xfrm>
            <a:off x="1003337" y="4361149"/>
            <a:ext cx="211694" cy="252000"/>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endParaRPr>
          </a:p>
        </p:txBody>
      </p:sp>
      <p:sp>
        <p:nvSpPr>
          <p:cNvPr id="34" name="文本框 33"/>
          <p:cNvSpPr txBox="1"/>
          <p:nvPr/>
        </p:nvSpPr>
        <p:spPr>
          <a:xfrm>
            <a:off x="981003" y="5739858"/>
            <a:ext cx="228774" cy="553720"/>
          </a:xfrm>
          <a:prstGeom prst="rect">
            <a:avLst/>
          </a:prstGeom>
          <a:noFill/>
          <a:effectLst/>
        </p:spPr>
        <p:txBody>
          <a:bodyPr wrap="square" lIns="0" tIns="0" rIns="0" bIns="0" rtlCol="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1200" u="none" strike="noStrike" cap="none" spc="0" normalizeH="0" baseline="0">
                <a:ln>
                  <a:noFill/>
                </a:ln>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en-US" b="1" i="0" u="none" strike="noStrike" kern="1200" cap="none" spc="0" normalizeH="0" baseline="0" noProof="0" dirty="0">
                <a:ln>
                  <a:noFill/>
                </a:ln>
                <a:solidFill>
                  <a:srgbClr val="383838"/>
                </a:solidFill>
                <a:effectLst/>
                <a:uLnTx/>
                <a:uFillTx/>
                <a:latin typeface="微软雅黑"/>
                <a:ea typeface="微软雅黑"/>
                <a:cs typeface="微软雅黑"/>
              </a:rPr>
              <a:t>实用性</a:t>
            </a:r>
            <a:endParaRPr kumimoji="0" lang="en-US" altLang="en-US"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5" name="文本框 34"/>
          <p:cNvSpPr txBox="1"/>
          <p:nvPr/>
        </p:nvSpPr>
        <p:spPr>
          <a:xfrm>
            <a:off x="981003" y="5012398"/>
            <a:ext cx="228774" cy="368935"/>
          </a:xfrm>
          <a:prstGeom prst="rect">
            <a:avLst/>
          </a:prstGeom>
          <a:noFill/>
          <a:effectLst/>
        </p:spPr>
        <p:txBody>
          <a:bodyPr wrap="square" lIns="0" tIns="0" rIns="0" bIns="0" rtlCol="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1200" u="none" strike="noStrike" cap="none" spc="0" normalizeH="0" baseline="0">
                <a:ln>
                  <a:noFill/>
                </a:ln>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b="1" i="0" u="none" strike="noStrike" kern="1200" cap="none" spc="0" normalizeH="0" baseline="0" noProof="0" dirty="0">
                <a:ln>
                  <a:noFill/>
                </a:ln>
                <a:solidFill>
                  <a:srgbClr val="383838"/>
                </a:solidFill>
                <a:effectLst/>
                <a:uLnTx/>
                <a:uFillTx/>
                <a:latin typeface="微软雅黑"/>
                <a:ea typeface="微软雅黑"/>
                <a:cs typeface="微软雅黑"/>
              </a:rPr>
              <a:t>市场</a:t>
            </a:r>
            <a:endParaRPr kumimoji="0" lang="zh-CN" altLang="en-US"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6" name="文本框 35"/>
          <p:cNvSpPr txBox="1"/>
          <p:nvPr/>
        </p:nvSpPr>
        <p:spPr>
          <a:xfrm>
            <a:off x="981003" y="2631544"/>
            <a:ext cx="228774" cy="461645"/>
          </a:xfrm>
          <a:prstGeom prst="rect">
            <a:avLst/>
          </a:prstGeom>
          <a:noFill/>
          <a:effectLst/>
        </p:spPr>
        <p:txBody>
          <a:bodyPr wrap="square" lIns="0" tIns="0" rIns="0" bIns="0" rtlCol="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1200" u="none" strike="noStrike" cap="none" spc="0" normalizeH="0" baseline="0">
                <a:ln>
                  <a:noFill/>
                </a:ln>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sz="1000" b="1" i="0" u="none" strike="noStrike" kern="1200" cap="none" spc="0" normalizeH="0" baseline="0" noProof="0" dirty="0">
                <a:ln>
                  <a:noFill/>
                </a:ln>
                <a:solidFill>
                  <a:srgbClr val="FFFFFF"/>
                </a:solidFill>
                <a:effectLst/>
                <a:uLnTx/>
                <a:uFillTx/>
                <a:latin typeface="微软雅黑"/>
                <a:ea typeface="微软雅黑"/>
                <a:cs typeface="微软雅黑"/>
              </a:rPr>
              <a:t>可能性</a:t>
            </a:r>
            <a:endParaRPr kumimoji="0" lang="en-US" altLang="en-US" sz="10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7" name="文本框 36"/>
          <p:cNvSpPr txBox="1"/>
          <p:nvPr/>
        </p:nvSpPr>
        <p:spPr>
          <a:xfrm>
            <a:off x="981003" y="1626854"/>
            <a:ext cx="228774" cy="553720"/>
          </a:xfrm>
          <a:prstGeom prst="rect">
            <a:avLst/>
          </a:prstGeom>
          <a:noFill/>
          <a:effectLst/>
        </p:spPr>
        <p:txBody>
          <a:bodyPr wrap="square" lIns="0" tIns="0" rIns="0" bIns="0" rtlCol="0">
            <a:spAutoFit/>
          </a:bodyPr>
          <a:lstStyle>
            <a:defPPr>
              <a:defRPr lang="zh-CN">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1200" u="none" strike="noStrike" cap="none" spc="0" normalizeH="0" baseline="0">
                <a:ln>
                  <a:noFill/>
                </a:ln>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b="0" i="0" u="none" strike="noStrike" kern="1200" cap="none" spc="0" normalizeH="0" baseline="0" noProof="0" dirty="0">
                <a:ln>
                  <a:noFill/>
                </a:ln>
                <a:solidFill>
                  <a:srgbClr val="FFFFFF"/>
                </a:solidFill>
                <a:effectLst/>
                <a:uLnTx/>
                <a:uFillTx/>
                <a:latin typeface="微软雅黑"/>
                <a:ea typeface="微软雅黑"/>
                <a:cs typeface="微软雅黑"/>
              </a:rPr>
              <a:t>广泛性</a:t>
            </a:r>
            <a:endParaRPr kumimoji="0" lang="en-US" altLang="en-US"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38" name="文本框 37"/>
          <p:cNvSpPr txBox="1"/>
          <p:nvPr/>
        </p:nvSpPr>
        <p:spPr>
          <a:xfrm>
            <a:off x="981003" y="3517859"/>
            <a:ext cx="228774" cy="368935"/>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marR="0" lvl="0" indent="0" algn="ctr" fontAlgn="auto">
              <a:lnSpc>
                <a:spcPct val="100000"/>
              </a:lnSpc>
              <a:spcBef>
                <a:spcPts val="0"/>
              </a:spcBef>
              <a:spcAft>
                <a:spcPts val="0"/>
              </a:spcAft>
              <a:buClrTx/>
              <a:buSzTx/>
              <a:buFontTx/>
              <a:buNone/>
              <a:defRPr kumimoji="0" sz="1200" u="none" strike="noStrike" cap="none" spc="0" normalizeH="0" baseline="0">
                <a:ln>
                  <a:noFill/>
                </a:ln>
                <a:solidFill>
                  <a:srgbClr val="FFFFFF"/>
                </a:solidFill>
                <a:effectLst/>
                <a:uLnTx/>
                <a:uFillTx/>
                <a:latin typeface="微软雅黑"/>
                <a:ea typeface="微软雅黑"/>
                <a:cs typeface="微软雅黑"/>
              </a:defRPr>
            </a:lvl1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en-US" b="1" i="0" u="none" strike="noStrike" kern="1200" cap="none" spc="0" normalizeH="0" baseline="0" noProof="0" dirty="0">
                <a:ln>
                  <a:noFill/>
                </a:ln>
                <a:solidFill>
                  <a:srgbClr val="FFFFFF"/>
                </a:solidFill>
                <a:effectLst/>
                <a:uLnTx/>
                <a:uFillTx/>
                <a:latin typeface="微软雅黑"/>
                <a:ea typeface="微软雅黑"/>
                <a:cs typeface="微软雅黑"/>
              </a:rPr>
              <a:t>用户</a:t>
            </a:r>
            <a:endParaRPr kumimoji="0" lang="en-US" altLang="en-US" b="1" i="0" u="none" strike="noStrike" kern="1200" cap="none" spc="0" normalizeH="0" baseline="0" noProof="0" dirty="0">
              <a:ln>
                <a:noFill/>
              </a:ln>
              <a:solidFill>
                <a:srgbClr val="FFFFFF"/>
              </a:solidFill>
              <a:effectLst/>
              <a:uLnTx/>
              <a:uFillTx/>
              <a:latin typeface="微软雅黑"/>
              <a:ea typeface="微软雅黑"/>
              <a:cs typeface="微软雅黑"/>
            </a:endParaRPr>
          </a:p>
        </p:txBody>
      </p:sp>
      <p:pic>
        <p:nvPicPr>
          <p:cNvPr id="39" name="图片 38"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1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0" name="组合 39"/>
          <p:cNvGrpSpPr/>
          <p:nvPr/>
        </p:nvGrpSpPr>
        <p:grpSpPr>
          <a:xfrm>
            <a:off x="8738235" y="348615"/>
            <a:ext cx="3219450" cy="332740"/>
            <a:chOff x="13761" y="549"/>
            <a:chExt cx="5070" cy="524"/>
          </a:xfrm>
        </p:grpSpPr>
        <p:pic>
          <p:nvPicPr>
            <p:cNvPr id="41" name="图片 40"/>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2" name="文本框 4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时间流程架构 | </a:t>
            </a:r>
            <a:r>
              <a:rPr lang="zh-CN" altLang="en-US" sz="2500">
                <a:solidFill>
                  <a:srgbClr val="0042FF"/>
                </a:solidFill>
                <a:latin typeface="微软雅黑"/>
                <a:ea typeface="微软雅黑"/>
                <a:cs typeface="微软雅黑"/>
              </a:rPr>
              <a:t>刻意练习学习法流程</a:t>
            </a:r>
            <a:endParaRPr lang="zh-CN" altLang="en-US" sz="2500">
              <a:solidFill>
                <a:srgbClr val="0042FF"/>
              </a:solidFill>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736" name="圆角矩形 735"/>
          <p:cNvSpPr/>
          <p:nvPr/>
        </p:nvSpPr>
        <p:spPr bwMode="auto">
          <a:xfrm>
            <a:off x="311785" y="1046480"/>
            <a:ext cx="1784985" cy="662940"/>
          </a:xfrm>
          <a:prstGeom prst="roundRect">
            <a:avLst/>
          </a:prstGeom>
          <a:solidFill>
            <a:srgbClr val="0042FF"/>
          </a:solidFill>
          <a:ln w="19050" cap="flat" cmpd="sng" algn="ctr">
            <a:solidFill>
              <a:srgbClr val="FFFFFF"/>
            </a:solidFill>
            <a:prstDash val="solid"/>
            <a:round/>
            <a:headEnd type="none" w="med" len="med"/>
            <a:tailEnd type="none" w="med" len="med"/>
          </a:ln>
          <a:effectLst>
            <a:outerShdw blurRad="50800" dist="38100" dir="2700000" algn="tl" rotWithShape="0">
              <a:prstClr val="black">
                <a:alpha val="40000"/>
              </a:prstClr>
            </a:outerShdw>
          </a:effectLst>
        </p:spPr>
        <p:txBody>
          <a:bodyPr wrap="none" lIns="0" tIns="0" rIns="0" bIns="0" rtlCol="0" anchor="ctr">
            <a:noAutofit/>
          </a:bodyPr>
          <a:lstStyle/>
          <a:p>
            <a:pPr lvl="0" algn="ctr" eaLnBrk="0" hangingPunct="0">
              <a:buClrTx/>
              <a:buSzTx/>
              <a:buFontTx/>
              <a:defRPr>
                <a:solidFill>
                  <a:srgbClr val="FFFFFF"/>
                </a:solidFill>
                <a:latin typeface="微软雅黑"/>
                <a:ea typeface="微软雅黑"/>
                <a:cs typeface="微软雅黑"/>
              </a:defRPr>
            </a:pPr>
            <a:r>
              <a:rPr lang="zh-CN" altLang="en-US" sz="1500" dirty="0">
                <a:solidFill>
                  <a:srgbClr val="FFFFFF"/>
                </a:solidFill>
                <a:latin typeface="微软雅黑"/>
                <a:ea typeface="微软雅黑"/>
                <a:cs typeface="微软雅黑"/>
                <a:sym typeface="微软雅黑"/>
              </a:rPr>
              <a:t>第四维</a:t>
            </a:r>
            <a:r>
              <a:rPr lang="en-US" altLang="zh-CN" sz="1500" dirty="0">
                <a:solidFill>
                  <a:srgbClr val="FFFFFF"/>
                </a:solidFill>
                <a:latin typeface="微软雅黑"/>
                <a:ea typeface="微软雅黑"/>
                <a:cs typeface="微软雅黑"/>
                <a:sym typeface="微软雅黑"/>
              </a:rPr>
              <a:t>-</a:t>
            </a:r>
            <a:r>
              <a:rPr lang="zh-CN" altLang="en-US" sz="1500" dirty="0">
                <a:solidFill>
                  <a:srgbClr val="FFFFFF"/>
                </a:solidFill>
                <a:latin typeface="微软雅黑"/>
                <a:ea typeface="微软雅黑"/>
                <a:cs typeface="微软雅黑"/>
                <a:sym typeface="微软雅黑"/>
              </a:rPr>
              <a:t>行动思维</a:t>
            </a:r>
            <a:endParaRPr lang="zh-CN" altLang="en-US" sz="1500" dirty="0">
              <a:solidFill>
                <a:srgbClr val="FFFFFF"/>
              </a:solidFill>
              <a:latin typeface="微软雅黑"/>
              <a:ea typeface="微软雅黑"/>
              <a:cs typeface="微软雅黑"/>
              <a:sym typeface="微软雅黑"/>
            </a:endParaRPr>
          </a:p>
          <a:p>
            <a:pPr lvl="0" algn="ctr" eaLnBrk="0" hangingPunct="0">
              <a:buClrTx/>
              <a:buSzTx/>
              <a:buFontTx/>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刻意练习</a:t>
            </a:r>
            <a:endParaRPr lang="zh-CN" altLang="en-US" sz="1500" b="1" dirty="0">
              <a:solidFill>
                <a:srgbClr val="FFFFFF"/>
              </a:solidFill>
              <a:latin typeface="微软雅黑"/>
              <a:ea typeface="微软雅黑"/>
              <a:cs typeface="微软雅黑"/>
              <a:sym typeface="微软雅黑"/>
            </a:endParaRPr>
          </a:p>
        </p:txBody>
      </p:sp>
      <p:sp>
        <p:nvSpPr>
          <p:cNvPr id="489" name="椭圆 488"/>
          <p:cNvSpPr/>
          <p:nvPr/>
        </p:nvSpPr>
        <p:spPr>
          <a:xfrm>
            <a:off x="9624060" y="2341880"/>
            <a:ext cx="1478915" cy="1479550"/>
          </a:xfrm>
          <a:prstGeom prst="ellipse">
            <a:avLst/>
          </a:prstGeom>
          <a:solidFill>
            <a:srgbClr val="FFFFFF">
              <a:alpha val="16000"/>
            </a:srgbClr>
          </a:solidFill>
          <a:ln w="6350" cap="flat">
            <a:solidFill>
              <a:srgbClr val="3368FF"/>
            </a:solidFill>
            <a:prstDash val="solid"/>
            <a:miter/>
          </a:ln>
        </p:spPr>
        <p:txBody>
          <a:bodyPr rtlCol="0" anchor="ctr" lIns="0" rIns="0" tIns="0" bIns="0"/>
          <a:lstStyle/>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1600" b="1" i="0" u="none" strike="noStrike" kern="1200" cap="none" spc="0" normalizeH="0" baseline="0" noProof="0" dirty="0">
                <a:ln>
                  <a:noFill/>
                </a:ln>
                <a:solidFill>
                  <a:srgbClr val="383838"/>
                </a:solidFill>
                <a:effectLst/>
                <a:uLnTx/>
                <a:uFillTx/>
                <a:latin typeface="微软雅黑"/>
                <a:ea typeface="微软雅黑"/>
                <a:cs typeface="微软雅黑"/>
              </a:rPr>
              <a:t>SMART</a:t>
            </a:r>
            <a:endParaRPr kumimoji="0" lang="en-US" sz="1600" b="1"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73152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rPr>
              <a:t>目标法</a:t>
            </a:r>
            <a:endPar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90" name="椭圆 489"/>
          <p:cNvSpPr/>
          <p:nvPr/>
        </p:nvSpPr>
        <p:spPr>
          <a:xfrm>
            <a:off x="10124440" y="2068195"/>
            <a:ext cx="492760" cy="49276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rPr>
              <a:t>S</a:t>
            </a:r>
            <a:endPar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92" name="椭圆 491"/>
          <p:cNvSpPr/>
          <p:nvPr/>
        </p:nvSpPr>
        <p:spPr>
          <a:xfrm>
            <a:off x="10803890" y="2618740"/>
            <a:ext cx="492760" cy="49276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rPr>
              <a:t>M</a:t>
            </a:r>
            <a:endPar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94" name="椭圆 493"/>
          <p:cNvSpPr/>
          <p:nvPr/>
        </p:nvSpPr>
        <p:spPr>
          <a:xfrm>
            <a:off x="10622280" y="3361690"/>
            <a:ext cx="492760" cy="49276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rPr>
              <a:t>A</a:t>
            </a:r>
            <a:endPar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95" name="椭圆 494"/>
          <p:cNvSpPr/>
          <p:nvPr/>
        </p:nvSpPr>
        <p:spPr>
          <a:xfrm>
            <a:off x="9698355" y="3401695"/>
            <a:ext cx="492760" cy="49276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rPr>
              <a:t>R</a:t>
            </a:r>
            <a:endPar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496" name="椭圆 495"/>
          <p:cNvSpPr/>
          <p:nvPr/>
        </p:nvSpPr>
        <p:spPr>
          <a:xfrm>
            <a:off x="9410065" y="2619375"/>
            <a:ext cx="492760" cy="492760"/>
          </a:xfrm>
          <a:prstGeom prst="ellipse">
            <a:avLst/>
          </a:prstGeom>
          <a:solidFill>
            <a:srgbClr val="3368FF"/>
          </a:soli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rPr>
              <a:t>T</a:t>
            </a:r>
            <a:endParaRPr kumimoji="0" lang="en-US" altLang="zh-CN" sz="24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21" name="矩形 120"/>
          <p:cNvSpPr/>
          <p:nvPr/>
        </p:nvSpPr>
        <p:spPr>
          <a:xfrm>
            <a:off x="923925" y="1927860"/>
            <a:ext cx="1447800" cy="404495"/>
          </a:xfrm>
          <a:prstGeom prst="rect">
            <a:avLst/>
          </a:prstGeom>
          <a:noFill/>
          <a:ln w="12700" cap="flat" cmpd="sng" algn="ctr">
            <a:solidFill>
              <a:srgbClr val="0042FF"/>
            </a:solidFill>
            <a:prstDash val="solid"/>
            <a:miter lim="800000"/>
          </a:ln>
          <a:effectLst/>
          <a:extLst>
            <a:ext uri="{909E8E84-426E-40DD-AFC4-6F175D3DCCD1}">
              <a14:hiddenFill xmlns:a14="http://schemas.microsoft.com/office/drawing/2010/main">
                <a:solidFill>
                  <a:srgbClr val="3368FF"/>
                </a:solidFill>
              </a14:hiddenFill>
            </a:ext>
          </a:extLst>
        </p:spPr>
        <p:txBody>
          <a:bodyPr rtlCol="0" anchor="ctr"/>
          <a:lstStyle/>
          <a:p>
            <a:pPr algn="ctr">
              <a:defRPr>
                <a:latin typeface="微软雅黑"/>
                <a:ea typeface="微软雅黑"/>
                <a:cs typeface="微软雅黑"/>
              </a:defRPr>
            </a:pPr>
            <a:r>
              <a:rPr lang="zh-CN" altLang="en-US" sz="1400">
                <a:solidFill>
                  <a:srgbClr val="0042FF"/>
                </a:solidFill>
                <a:latin typeface="微软雅黑"/>
                <a:ea typeface="微软雅黑"/>
                <a:cs typeface="微软雅黑"/>
              </a:rPr>
              <a:t>专注于做一件事</a:t>
            </a:r>
            <a:endParaRPr lang="zh-CN" altLang="en-US" sz="1400">
              <a:solidFill>
                <a:srgbClr val="0042FF"/>
              </a:solidFill>
              <a:latin typeface="微软雅黑"/>
              <a:ea typeface="微软雅黑"/>
              <a:cs typeface="微软雅黑"/>
            </a:endParaRPr>
          </a:p>
        </p:txBody>
      </p:sp>
      <p:sp>
        <p:nvSpPr>
          <p:cNvPr id="128" name="矩形 127"/>
          <p:cNvSpPr/>
          <p:nvPr/>
        </p:nvSpPr>
        <p:spPr>
          <a:xfrm>
            <a:off x="923925" y="2453005"/>
            <a:ext cx="1447800" cy="404495"/>
          </a:xfrm>
          <a:prstGeom prst="rect">
            <a:avLst/>
          </a:prstGeom>
          <a:noFill/>
          <a:ln w="12700" cap="flat" cmpd="sng" algn="ctr">
            <a:solidFill>
              <a:srgbClr val="0042FF"/>
            </a:solidFill>
            <a:prstDash val="solid"/>
            <a:miter lim="800000"/>
          </a:ln>
          <a:effectLst/>
          <a:extLst>
            <a:ext uri="{909E8E84-426E-40DD-AFC4-6F175D3DCCD1}">
              <a14:hiddenFill xmlns:a14="http://schemas.microsoft.com/office/drawing/2010/main">
                <a:solidFill>
                  <a:srgbClr val="3368FF"/>
                </a:solidFill>
              </a14:hiddenFill>
            </a:ext>
          </a:extLst>
        </p:spPr>
        <p:txBody>
          <a:bodyPr rtlCol="0" anchor="ctr"/>
          <a:lstStyle/>
          <a:p>
            <a:pPr algn="ctr">
              <a:defRPr>
                <a:latin typeface="微软雅黑"/>
                <a:ea typeface="微软雅黑"/>
                <a:cs typeface="微软雅黑"/>
              </a:defRPr>
            </a:pPr>
            <a:r>
              <a:rPr lang="zh-CN" altLang="en-US" sz="1400">
                <a:solidFill>
                  <a:srgbClr val="0042FF"/>
                </a:solidFill>
                <a:latin typeface="微软雅黑"/>
                <a:ea typeface="微软雅黑"/>
                <a:cs typeface="微软雅黑"/>
              </a:rPr>
              <a:t>安静的学习环境</a:t>
            </a:r>
            <a:endParaRPr lang="zh-CN" altLang="en-US" sz="1400">
              <a:solidFill>
                <a:srgbClr val="0042FF"/>
              </a:solidFill>
              <a:latin typeface="微软雅黑"/>
              <a:ea typeface="微软雅黑"/>
              <a:cs typeface="微软雅黑"/>
            </a:endParaRPr>
          </a:p>
        </p:txBody>
      </p:sp>
      <p:sp>
        <p:nvSpPr>
          <p:cNvPr id="129" name="矩形 128"/>
          <p:cNvSpPr/>
          <p:nvPr/>
        </p:nvSpPr>
        <p:spPr>
          <a:xfrm>
            <a:off x="923925" y="2978150"/>
            <a:ext cx="1447800" cy="404495"/>
          </a:xfrm>
          <a:prstGeom prst="rect">
            <a:avLst/>
          </a:prstGeom>
          <a:noFill/>
          <a:ln w="12700" cap="flat" cmpd="sng" algn="ctr">
            <a:solidFill>
              <a:srgbClr val="0042FF"/>
            </a:solidFill>
            <a:prstDash val="solid"/>
            <a:miter lim="800000"/>
          </a:ln>
          <a:effectLst/>
          <a:extLst>
            <a:ext uri="{909E8E84-426E-40DD-AFC4-6F175D3DCCD1}">
              <a14:hiddenFill xmlns:a14="http://schemas.microsoft.com/office/drawing/2010/main">
                <a:solidFill>
                  <a:srgbClr val="3368FF"/>
                </a:solidFill>
              </a14:hiddenFill>
            </a:ext>
          </a:extLst>
        </p:spPr>
        <p:txBody>
          <a:bodyPr rtlCol="0" anchor="ctr"/>
          <a:lstStyle/>
          <a:p>
            <a:pPr algn="ctr">
              <a:defRPr>
                <a:latin typeface="微软雅黑"/>
                <a:ea typeface="微软雅黑"/>
                <a:cs typeface="微软雅黑"/>
              </a:defRPr>
            </a:pPr>
            <a:r>
              <a:rPr lang="zh-CN" altLang="en-US" sz="1400">
                <a:solidFill>
                  <a:srgbClr val="0042FF"/>
                </a:solidFill>
                <a:latin typeface="微软雅黑"/>
                <a:ea typeface="微软雅黑"/>
                <a:cs typeface="微软雅黑"/>
              </a:rPr>
              <a:t>时间管理工具</a:t>
            </a:r>
            <a:endParaRPr lang="zh-CN" altLang="en-US" sz="1400">
              <a:solidFill>
                <a:srgbClr val="0042FF"/>
              </a:solidFill>
              <a:latin typeface="微软雅黑"/>
              <a:ea typeface="微软雅黑"/>
              <a:cs typeface="微软雅黑"/>
            </a:endParaRPr>
          </a:p>
        </p:txBody>
      </p:sp>
      <p:sp>
        <p:nvSpPr>
          <p:cNvPr id="130" name="矩形 129"/>
          <p:cNvSpPr/>
          <p:nvPr/>
        </p:nvSpPr>
        <p:spPr>
          <a:xfrm>
            <a:off x="923925" y="3503295"/>
            <a:ext cx="1447800" cy="404495"/>
          </a:xfrm>
          <a:prstGeom prst="rect">
            <a:avLst/>
          </a:prstGeom>
          <a:noFill/>
          <a:ln w="12700" cap="flat" cmpd="sng" algn="ctr">
            <a:solidFill>
              <a:srgbClr val="0042FF"/>
            </a:solidFill>
            <a:prstDash val="solid"/>
            <a:miter lim="800000"/>
          </a:ln>
          <a:effectLst/>
          <a:extLst>
            <a:ext uri="{909E8E84-426E-40DD-AFC4-6F175D3DCCD1}">
              <a14:hiddenFill xmlns:a14="http://schemas.microsoft.com/office/drawing/2010/main">
                <a:solidFill>
                  <a:srgbClr val="3368FF"/>
                </a:solidFill>
              </a14:hiddenFill>
            </a:ext>
          </a:extLst>
        </p:spPr>
        <p:txBody>
          <a:bodyPr rtlCol="0" anchor="ctr"/>
          <a:lstStyle/>
          <a:p>
            <a:pPr algn="ctr">
              <a:defRPr>
                <a:latin typeface="微软雅黑"/>
                <a:ea typeface="微软雅黑"/>
                <a:cs typeface="微软雅黑"/>
              </a:defRPr>
            </a:pPr>
            <a:r>
              <a:rPr lang="zh-CN" altLang="en-US" sz="1400">
                <a:solidFill>
                  <a:srgbClr val="0042FF"/>
                </a:solidFill>
                <a:latin typeface="微软雅黑"/>
                <a:ea typeface="微软雅黑"/>
                <a:cs typeface="微软雅黑"/>
              </a:rPr>
              <a:t>良好饮食和睡眠</a:t>
            </a:r>
            <a:endParaRPr lang="zh-CN" altLang="en-US" sz="1400">
              <a:solidFill>
                <a:srgbClr val="0042FF"/>
              </a:solidFill>
              <a:latin typeface="微软雅黑"/>
              <a:ea typeface="微软雅黑"/>
              <a:cs typeface="微软雅黑"/>
            </a:endParaRPr>
          </a:p>
        </p:txBody>
      </p:sp>
      <p:cxnSp>
        <p:nvCxnSpPr>
          <p:cNvPr id="140" name="连接符: 曲线 96"/>
          <p:cNvCxnSpPr>
            <a:endCxn id="121" idx="3"/>
          </p:cNvCxnSpPr>
          <p:nvPr/>
        </p:nvCxnSpPr>
        <p:spPr>
          <a:xfrm rot="16200000" flipV="1">
            <a:off x="2285365" y="2216785"/>
            <a:ext cx="660400" cy="487680"/>
          </a:xfrm>
          <a:prstGeom prst="curvedConnector2">
            <a:avLst/>
          </a:prstGeom>
          <a:noFill/>
          <a:ln w="19050" cap="flat">
            <a:solidFill>
              <a:srgbClr val="0042FF"/>
            </a:solidFill>
            <a:prstDash val="solid"/>
            <a:miter lim="800000"/>
            <a:tailEnd type="triangle"/>
          </a:ln>
          <a:effectLst/>
          <a:sp3d/>
        </p:spPr>
      </p:cxnSp>
      <p:cxnSp>
        <p:nvCxnSpPr>
          <p:cNvPr id="3" name="连接符: 曲线 96"/>
          <p:cNvCxnSpPr>
            <a:endCxn id="130" idx="3"/>
          </p:cNvCxnSpPr>
          <p:nvPr/>
        </p:nvCxnSpPr>
        <p:spPr>
          <a:xfrm rot="5400000">
            <a:off x="2247900" y="3094355"/>
            <a:ext cx="735330" cy="487680"/>
          </a:xfrm>
          <a:prstGeom prst="curvedConnector2">
            <a:avLst/>
          </a:prstGeom>
          <a:noFill/>
          <a:ln w="19050" cap="flat">
            <a:solidFill>
              <a:srgbClr val="0042FF"/>
            </a:solidFill>
            <a:prstDash val="solid"/>
            <a:miter lim="800000"/>
            <a:tailEnd type="triangle"/>
          </a:ln>
          <a:effectLst/>
          <a:sp3d/>
        </p:spPr>
      </p:cxnSp>
      <p:cxnSp>
        <p:nvCxnSpPr>
          <p:cNvPr id="134" name="连接符: 曲线 96"/>
          <p:cNvCxnSpPr>
            <a:endCxn id="129" idx="3"/>
          </p:cNvCxnSpPr>
          <p:nvPr/>
        </p:nvCxnSpPr>
        <p:spPr>
          <a:xfrm rot="10800000" flipV="1">
            <a:off x="2371090" y="2700655"/>
            <a:ext cx="757555" cy="480060"/>
          </a:xfrm>
          <a:prstGeom prst="curvedConnector3">
            <a:avLst>
              <a:gd name="adj1" fmla="val 41911"/>
            </a:avLst>
          </a:prstGeom>
          <a:noFill/>
          <a:ln w="19050" cap="flat">
            <a:solidFill>
              <a:srgbClr val="0042FF"/>
            </a:solidFill>
            <a:prstDash val="solid"/>
            <a:miter lim="800000"/>
            <a:tailEnd type="triangle"/>
          </a:ln>
          <a:effectLst/>
          <a:sp3d/>
        </p:spPr>
      </p:cxnSp>
      <p:cxnSp>
        <p:nvCxnSpPr>
          <p:cNvPr id="136" name="连接符: 曲线 96"/>
          <p:cNvCxnSpPr>
            <a:endCxn id="128" idx="3"/>
          </p:cNvCxnSpPr>
          <p:nvPr/>
        </p:nvCxnSpPr>
        <p:spPr>
          <a:xfrm rot="10800000">
            <a:off x="2371090" y="2655570"/>
            <a:ext cx="667385" cy="314960"/>
          </a:xfrm>
          <a:prstGeom prst="curvedConnector3">
            <a:avLst>
              <a:gd name="adj1" fmla="val 34538"/>
            </a:avLst>
          </a:prstGeom>
          <a:noFill/>
          <a:ln w="19050" cap="flat">
            <a:solidFill>
              <a:srgbClr val="0042FF"/>
            </a:solidFill>
            <a:prstDash val="solid"/>
            <a:miter lim="800000"/>
            <a:tailEnd type="triangle"/>
          </a:ln>
          <a:effectLst/>
          <a:sp3d/>
        </p:spPr>
      </p:cxnSp>
      <p:grpSp>
        <p:nvGrpSpPr>
          <p:cNvPr id="161" name="组合 160"/>
          <p:cNvGrpSpPr/>
          <p:nvPr/>
        </p:nvGrpSpPr>
        <p:grpSpPr>
          <a:xfrm rot="0">
            <a:off x="1059180" y="4606290"/>
            <a:ext cx="2091055" cy="2102485"/>
            <a:chOff x="10553" y="17340"/>
            <a:chExt cx="6884" cy="6922"/>
          </a:xfrm>
        </p:grpSpPr>
        <p:sp>
          <p:nvSpPr>
            <p:cNvPr id="137" name="任意多边形: 形状 57"/>
            <p:cNvSpPr>
              <a:spLocks noChangeAspect="1"/>
            </p:cNvSpPr>
            <p:nvPr/>
          </p:nvSpPr>
          <p:spPr>
            <a:xfrm>
              <a:off x="10553" y="17340"/>
              <a:ext cx="6884" cy="6922"/>
            </a:xfrm>
            <a:custGeom>
              <a:avLst/>
              <a:gdLst>
                <a:gd name="connsiteX0" fmla="*/ 0 w 1492405"/>
                <a:gd name="connsiteY0" fmla="*/ 746203 h 1492405"/>
                <a:gd name="connsiteX1" fmla="*/ 746203 w 1492405"/>
                <a:gd name="connsiteY1" fmla="*/ 0 h 1492405"/>
                <a:gd name="connsiteX2" fmla="*/ 1492406 w 1492405"/>
                <a:gd name="connsiteY2" fmla="*/ 746203 h 1492405"/>
                <a:gd name="connsiteX3" fmla="*/ 746203 w 1492405"/>
                <a:gd name="connsiteY3" fmla="*/ 1492406 h 1492405"/>
                <a:gd name="connsiteX4" fmla="*/ 0 w 1492405"/>
                <a:gd name="connsiteY4" fmla="*/ 746203 h 149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405" h="1492405">
                  <a:moveTo>
                    <a:pt x="0" y="746203"/>
                  </a:moveTo>
                  <a:cubicBezTo>
                    <a:pt x="0" y="334086"/>
                    <a:pt x="334086" y="0"/>
                    <a:pt x="746203" y="0"/>
                  </a:cubicBezTo>
                  <a:cubicBezTo>
                    <a:pt x="1158320" y="0"/>
                    <a:pt x="1492406" y="334086"/>
                    <a:pt x="1492406" y="746203"/>
                  </a:cubicBezTo>
                  <a:cubicBezTo>
                    <a:pt x="1492406" y="1158320"/>
                    <a:pt x="1158320" y="1492406"/>
                    <a:pt x="746203" y="1492406"/>
                  </a:cubicBezTo>
                  <a:cubicBezTo>
                    <a:pt x="334086" y="1492406"/>
                    <a:pt x="0" y="1158320"/>
                    <a:pt x="0" y="746203"/>
                  </a:cubicBezTo>
                  <a:close/>
                </a:path>
              </a:pathLst>
            </a:custGeom>
            <a:solidFill>
              <a:srgbClr val="0042FF"/>
            </a:solidFill>
            <a:ln w="12700" cap="flat" cmpd="sng" algn="ctr">
              <a:solidFill>
                <a:srgbClr val="FFFFFF"/>
              </a:solidFill>
              <a:prstDash val="solid"/>
              <a:miter lim="800000"/>
            </a:ln>
            <a:effectLst>
              <a:outerShdw blurRad="292100" dist="38100" dir="5400000" algn="t" rotWithShape="0">
                <a:prstClr val="black">
                  <a:alpha val="19000"/>
                </a:prstClr>
              </a:outerShdw>
            </a:effectLst>
          </p:spPr>
          <p:txBody>
            <a:bodyPr rtlCol="0" anchor="ctr"/>
            <a:lstStyle/>
            <a:p>
              <a:pPr algn="ctr">
                <a:defRPr>
                  <a:solidFill>
                    <a:srgbClr val="FFFFFF"/>
                  </a:solidFill>
                  <a:latin typeface="微软雅黑"/>
                  <a:ea typeface="微软雅黑"/>
                  <a:cs typeface="微软雅黑"/>
                </a:defRPr>
              </a:pPr>
              <a:endParaRPr lang="en-US" altLang="zh-CN" sz="1400" b="1" i="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力</a:t>
              </a:r>
              <a:endParaRPr lang="zh-CN" altLang="en-US" sz="1400" dirty="0">
                <a:solidFill>
                  <a:srgbClr val="FFFFFF"/>
                </a:solidFill>
                <a:latin typeface="微软雅黑"/>
                <a:ea typeface="微软雅黑"/>
                <a:cs typeface="微软雅黑"/>
              </a:endParaRPr>
            </a:p>
          </p:txBody>
        </p:sp>
        <p:sp>
          <p:nvSpPr>
            <p:cNvPr id="138" name="任意多边形: 形状 56"/>
            <p:cNvSpPr>
              <a:spLocks noChangeAspect="1"/>
            </p:cNvSpPr>
            <p:nvPr/>
          </p:nvSpPr>
          <p:spPr>
            <a:xfrm>
              <a:off x="11514" y="18305"/>
              <a:ext cx="4963" cy="4992"/>
            </a:xfrm>
            <a:custGeom>
              <a:avLst/>
              <a:gdLst>
                <a:gd name="connsiteX0" fmla="*/ 0 w 1492405"/>
                <a:gd name="connsiteY0" fmla="*/ 746203 h 1492405"/>
                <a:gd name="connsiteX1" fmla="*/ 746203 w 1492405"/>
                <a:gd name="connsiteY1" fmla="*/ 0 h 1492405"/>
                <a:gd name="connsiteX2" fmla="*/ 1492406 w 1492405"/>
                <a:gd name="connsiteY2" fmla="*/ 746203 h 1492405"/>
                <a:gd name="connsiteX3" fmla="*/ 746203 w 1492405"/>
                <a:gd name="connsiteY3" fmla="*/ 1492406 h 1492405"/>
                <a:gd name="connsiteX4" fmla="*/ 0 w 1492405"/>
                <a:gd name="connsiteY4" fmla="*/ 746203 h 149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405" h="1492405">
                  <a:moveTo>
                    <a:pt x="0" y="746203"/>
                  </a:moveTo>
                  <a:cubicBezTo>
                    <a:pt x="0" y="334086"/>
                    <a:pt x="334086" y="0"/>
                    <a:pt x="746203" y="0"/>
                  </a:cubicBezTo>
                  <a:cubicBezTo>
                    <a:pt x="1158320" y="0"/>
                    <a:pt x="1492406" y="334086"/>
                    <a:pt x="1492406" y="746203"/>
                  </a:cubicBezTo>
                  <a:cubicBezTo>
                    <a:pt x="1492406" y="1158320"/>
                    <a:pt x="1158320" y="1492406"/>
                    <a:pt x="746203" y="1492406"/>
                  </a:cubicBezTo>
                  <a:cubicBezTo>
                    <a:pt x="334086" y="1492406"/>
                    <a:pt x="0" y="1158320"/>
                    <a:pt x="0" y="746203"/>
                  </a:cubicBezTo>
                  <a:close/>
                </a:path>
              </a:pathLst>
            </a:custGeom>
            <a:solidFill>
              <a:srgbClr val="3368FF"/>
            </a:solidFill>
            <a:ln w="12700" cap="flat" cmpd="sng" algn="ctr">
              <a:solidFill>
                <a:srgbClr val="FFFFFF"/>
              </a:solidFill>
              <a:prstDash val="solid"/>
              <a:miter lim="800000"/>
            </a:ln>
            <a:effectLst>
              <a:outerShdw blurRad="292100" dist="38100" dir="5400000" algn="t" rotWithShape="0">
                <a:prstClr val="black">
                  <a:alpha val="19000"/>
                </a:prstClr>
              </a:outerShdw>
            </a:effectLst>
          </p:spPr>
          <p:txBody>
            <a:bodyPr rtlCol="0" anchor="ctr"/>
            <a:lstStyle/>
            <a:p>
              <a:pPr algn="ctr">
                <a:defRPr>
                  <a:solidFill>
                    <a:srgbClr val="FFFFFF"/>
                  </a:solidFill>
                  <a:latin typeface="微软雅黑"/>
                  <a:ea typeface="微软雅黑"/>
                  <a:cs typeface="微软雅黑"/>
                </a:defRPr>
              </a:pPr>
              <a:endParaRPr lang="en-US" altLang="zh-CN" sz="1400" b="1" i="1" dirty="0">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dirty="0">
                  <a:solidFill>
                    <a:srgbClr val="FFFFFF"/>
                  </a:solidFill>
                  <a:latin typeface="微软雅黑"/>
                  <a:ea typeface="微软雅黑"/>
                  <a:cs typeface="微软雅黑"/>
                </a:rPr>
                <a:t>力</a:t>
              </a:r>
              <a:endParaRPr lang="zh-CN" altLang="en-US" sz="1400" dirty="0">
                <a:solidFill>
                  <a:srgbClr val="FFFFFF"/>
                </a:solidFill>
                <a:latin typeface="微软雅黑"/>
                <a:ea typeface="微软雅黑"/>
                <a:cs typeface="微软雅黑"/>
              </a:endParaRPr>
            </a:p>
          </p:txBody>
        </p:sp>
        <p:sp>
          <p:nvSpPr>
            <p:cNvPr id="16" name="任意多边形: 形状 40"/>
            <p:cNvSpPr>
              <a:spLocks noChangeAspect="1"/>
            </p:cNvSpPr>
            <p:nvPr/>
          </p:nvSpPr>
          <p:spPr>
            <a:xfrm>
              <a:off x="12645" y="19401"/>
              <a:ext cx="2661" cy="2760"/>
            </a:xfrm>
            <a:custGeom>
              <a:avLst/>
              <a:gdLst>
                <a:gd name="connsiteX0" fmla="*/ 0 w 1492405"/>
                <a:gd name="connsiteY0" fmla="*/ 746203 h 1492405"/>
                <a:gd name="connsiteX1" fmla="*/ 746203 w 1492405"/>
                <a:gd name="connsiteY1" fmla="*/ 0 h 1492405"/>
                <a:gd name="connsiteX2" fmla="*/ 1492406 w 1492405"/>
                <a:gd name="connsiteY2" fmla="*/ 746203 h 1492405"/>
                <a:gd name="connsiteX3" fmla="*/ 746203 w 1492405"/>
                <a:gd name="connsiteY3" fmla="*/ 1492406 h 1492405"/>
                <a:gd name="connsiteX4" fmla="*/ 0 w 1492405"/>
                <a:gd name="connsiteY4" fmla="*/ 746203 h 149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405" h="1492405">
                  <a:moveTo>
                    <a:pt x="0" y="746203"/>
                  </a:moveTo>
                  <a:cubicBezTo>
                    <a:pt x="0" y="334086"/>
                    <a:pt x="334086" y="0"/>
                    <a:pt x="746203" y="0"/>
                  </a:cubicBezTo>
                  <a:cubicBezTo>
                    <a:pt x="1158320" y="0"/>
                    <a:pt x="1492406" y="334086"/>
                    <a:pt x="1492406" y="746203"/>
                  </a:cubicBezTo>
                  <a:cubicBezTo>
                    <a:pt x="1492406" y="1158320"/>
                    <a:pt x="1158320" y="1492406"/>
                    <a:pt x="746203" y="1492406"/>
                  </a:cubicBezTo>
                  <a:cubicBezTo>
                    <a:pt x="334086" y="1492406"/>
                    <a:pt x="0" y="1158320"/>
                    <a:pt x="0" y="746203"/>
                  </a:cubicBezTo>
                  <a:close/>
                </a:path>
              </a:pathLst>
            </a:custGeom>
            <a:solidFill>
              <a:srgbClr val="FFFFFF"/>
            </a:solidFill>
            <a:ln w="12700" cap="flat" cmpd="sng" algn="ctr">
              <a:solidFill>
                <a:srgbClr val="FFFFFF"/>
              </a:solidFill>
              <a:prstDash val="solid"/>
              <a:miter lim="800000"/>
            </a:ln>
            <a:effectLst>
              <a:outerShdw blurRad="292100" dist="38100" dir="5400000" algn="t" rotWithShape="0">
                <a:prstClr val="black">
                  <a:alpha val="19000"/>
                </a:prstClr>
              </a:outerShdw>
            </a:effectLst>
          </p:spPr>
          <p:txBody>
            <a:bodyPr rtlCol="0" anchor="ct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舒适区</a:t>
              </a:r>
              <a:endParaRPr lang="zh-CN" altLang="en-US" sz="1400" b="1" dirty="0">
                <a:solidFill>
                  <a:srgbClr val="0042FF"/>
                </a:solidFill>
                <a:latin typeface="微软雅黑"/>
                <a:ea typeface="微软雅黑"/>
                <a:cs typeface="微软雅黑"/>
              </a:endParaRPr>
            </a:p>
          </p:txBody>
        </p:sp>
      </p:grpSp>
      <p:cxnSp>
        <p:nvCxnSpPr>
          <p:cNvPr id="163" name="连接符: 曲线 96"/>
          <p:cNvCxnSpPr/>
          <p:nvPr/>
        </p:nvCxnSpPr>
        <p:spPr>
          <a:xfrm rot="16200000" flipV="1">
            <a:off x="923925" y="4364355"/>
            <a:ext cx="1169035" cy="1080135"/>
          </a:xfrm>
          <a:prstGeom prst="curvedConnector3">
            <a:avLst>
              <a:gd name="adj1" fmla="val 49973"/>
            </a:avLst>
          </a:prstGeom>
          <a:noFill/>
          <a:ln w="19050" cap="flat">
            <a:solidFill>
              <a:srgbClr val="3368FF"/>
            </a:solidFill>
            <a:prstDash val="solid"/>
            <a:miter lim="800000"/>
            <a:tailEnd type="triangle"/>
          </a:ln>
          <a:effectLst/>
          <a:sp3d/>
        </p:spPr>
      </p:cxnSp>
      <p:sp>
        <p:nvSpPr>
          <p:cNvPr id="164" name="文本框 163"/>
          <p:cNvSpPr txBox="1"/>
          <p:nvPr/>
        </p:nvSpPr>
        <p:spPr>
          <a:xfrm>
            <a:off x="1149350" y="4410075"/>
            <a:ext cx="584835" cy="245745"/>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sz="1600" dirty="0">
                <a:solidFill>
                  <a:srgbClr val="0042FF"/>
                </a:solidFill>
                <a:latin typeface="微软雅黑"/>
                <a:ea typeface="微软雅黑"/>
                <a:cs typeface="微软雅黑"/>
              </a:rPr>
              <a:t>突破</a:t>
            </a:r>
            <a:endParaRPr lang="zh-CN" altLang="en-US" sz="1600" dirty="0">
              <a:solidFill>
                <a:srgbClr val="0042FF"/>
              </a:solidFill>
              <a:latin typeface="微软雅黑"/>
              <a:ea typeface="微软雅黑"/>
              <a:cs typeface="微软雅黑"/>
            </a:endParaRPr>
          </a:p>
        </p:txBody>
      </p:sp>
      <p:sp>
        <p:nvSpPr>
          <p:cNvPr id="165" name="文本框 164"/>
          <p:cNvSpPr txBox="1"/>
          <p:nvPr/>
        </p:nvSpPr>
        <p:spPr>
          <a:xfrm>
            <a:off x="1623695" y="6083300"/>
            <a:ext cx="920750" cy="215265"/>
          </a:xfrm>
          <a:prstGeom prst="rect">
            <a:avLst/>
          </a:prstGeom>
          <a:noFill/>
        </p:spPr>
        <p:txBody>
          <a:bodyPr wrap="square" lIns="0" tIns="0" rIns="0" bIns="0" rtlCol="0">
            <a:sp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学习区</a:t>
            </a:r>
            <a:endParaRPr lang="zh-CN" altLang="en-US" sz="1400" b="1" dirty="0">
              <a:solidFill>
                <a:srgbClr val="FFFFFF"/>
              </a:solidFill>
              <a:latin typeface="微软雅黑"/>
              <a:ea typeface="微软雅黑"/>
              <a:cs typeface="微软雅黑"/>
            </a:endParaRPr>
          </a:p>
        </p:txBody>
      </p:sp>
      <p:sp>
        <p:nvSpPr>
          <p:cNvPr id="166" name="文本框 165"/>
          <p:cNvSpPr txBox="1"/>
          <p:nvPr/>
        </p:nvSpPr>
        <p:spPr>
          <a:xfrm>
            <a:off x="1623695" y="6440805"/>
            <a:ext cx="920750" cy="200660"/>
          </a:xfrm>
          <a:prstGeom prst="rect">
            <a:avLst/>
          </a:prstGeom>
          <a:noFill/>
        </p:spPr>
        <p:txBody>
          <a:bodyPr wrap="square" lIns="0" tIns="0" rIns="0" bIns="0" rtlCol="0">
            <a:noAutofit/>
          </a:body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困难区</a:t>
            </a:r>
            <a:endParaRPr lang="zh-CN" altLang="en-US" sz="1400" b="1" dirty="0">
              <a:solidFill>
                <a:srgbClr val="FFFFFF"/>
              </a:solidFill>
              <a:latin typeface="微软雅黑"/>
              <a:ea typeface="微软雅黑"/>
              <a:cs typeface="微软雅黑"/>
            </a:endParaRPr>
          </a:p>
        </p:txBody>
      </p:sp>
      <p:sp>
        <p:nvSpPr>
          <p:cNvPr id="167" name="矩形 166"/>
          <p:cNvSpPr/>
          <p:nvPr/>
        </p:nvSpPr>
        <p:spPr>
          <a:xfrm>
            <a:off x="9459595" y="4961255"/>
            <a:ext cx="1597025" cy="486410"/>
          </a:xfrm>
          <a:prstGeom prst="rect">
            <a:avLst/>
          </a:prstGeom>
          <a:solidFill>
            <a:srgbClr val="3368FF"/>
          </a:solidFill>
          <a:ln w="12700" cap="flat" cmpd="sng" algn="ctr">
            <a:solidFill>
              <a:srgbClr val="FFFFFF"/>
            </a:solidFill>
            <a:prstDash val="solid"/>
            <a:miter lim="800000"/>
          </a:ln>
          <a:effectLst/>
        </p:spPr>
        <p:txBody>
          <a:bodyPr rtlCol="0" anchor="ctr"/>
          <a:lstStyle/>
          <a:p>
            <a:pPr algn="ctr">
              <a:defRPr>
                <a:solidFill>
                  <a:srgbClr val="FFFFFF"/>
                </a:solidFill>
                <a:latin typeface="微软雅黑"/>
                <a:ea typeface="微软雅黑"/>
                <a:cs typeface="微软雅黑"/>
              </a:defRPr>
            </a:pPr>
            <a:r>
              <a:rPr lang="en-US" altLang="zh-CN" sz="1500">
                <a:solidFill>
                  <a:srgbClr val="FFFFFF"/>
                </a:solidFill>
                <a:latin typeface="微软雅黑"/>
                <a:ea typeface="微软雅黑"/>
                <a:cs typeface="微软雅黑"/>
              </a:rPr>
              <a:t>KISS</a:t>
            </a:r>
            <a:r>
              <a:rPr lang="zh-CN" altLang="en-US" sz="1500">
                <a:solidFill>
                  <a:srgbClr val="FFFFFF"/>
                </a:solidFill>
                <a:latin typeface="微软雅黑"/>
                <a:ea typeface="微软雅黑"/>
                <a:cs typeface="微软雅黑"/>
              </a:rPr>
              <a:t>复盘法</a:t>
            </a:r>
            <a:endParaRPr lang="zh-CN" altLang="en-US" sz="1500">
              <a:solidFill>
                <a:srgbClr val="FFFFFF"/>
              </a:solidFill>
              <a:latin typeface="微软雅黑"/>
              <a:ea typeface="微软雅黑"/>
              <a:cs typeface="微软雅黑"/>
            </a:endParaRPr>
          </a:p>
        </p:txBody>
      </p:sp>
      <p:sp>
        <p:nvSpPr>
          <p:cNvPr id="512" name="矩形: 圆角 4"/>
          <p:cNvSpPr/>
          <p:nvPr/>
        </p:nvSpPr>
        <p:spPr>
          <a:xfrm>
            <a:off x="9134475" y="4421505"/>
            <a:ext cx="1065530" cy="593090"/>
          </a:xfrm>
          <a:prstGeom prst="roundRect">
            <a:avLst/>
          </a:prstGeom>
          <a:solidFill>
            <a:srgbClr val="FFFFFF"/>
          </a:solidFill>
          <a:ln w="12700" cap="flat" cmpd="sng" algn="ctr">
            <a:solidFill>
              <a:srgbClr val="3368FF"/>
            </a:solidFill>
            <a:prstDash val="solid"/>
            <a:miter lim="800000"/>
          </a:ln>
          <a:effectLst>
            <a:outerShdw blurRad="50800" dist="38100" dir="2700000" algn="tl" rotWithShape="0">
              <a:srgbClr val="3368FF">
                <a:alpha val="40000"/>
              </a:srgbClr>
            </a:outerShdw>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200" b="0" i="0" u="none" strike="noStrike" kern="0" cap="none" spc="0" normalizeH="0" baseline="0" noProof="0">
              <a:ln>
                <a:noFill/>
              </a:ln>
              <a:solidFill>
                <a:prstClr val="white"/>
              </a:solidFill>
              <a:effectLst/>
              <a:uLnTx/>
              <a:uFillTx/>
              <a:latin typeface="微软雅黑"/>
              <a:ea typeface="微软雅黑"/>
              <a:cs typeface="微软雅黑"/>
            </a:endParaRPr>
          </a:p>
        </p:txBody>
      </p:sp>
      <p:sp>
        <p:nvSpPr>
          <p:cNvPr id="168" name="矩形: 圆角 4"/>
          <p:cNvSpPr/>
          <p:nvPr/>
        </p:nvSpPr>
        <p:spPr>
          <a:xfrm>
            <a:off x="10454005" y="4421505"/>
            <a:ext cx="1065530" cy="593090"/>
          </a:xfrm>
          <a:prstGeom prst="roundRect">
            <a:avLst/>
          </a:prstGeom>
          <a:solidFill>
            <a:srgbClr val="FFFFFF"/>
          </a:solidFill>
          <a:ln w="12700" cap="flat" cmpd="sng" algn="ctr">
            <a:solidFill>
              <a:srgbClr val="3368FF"/>
            </a:solidFill>
            <a:prstDash val="solid"/>
            <a:miter lim="800000"/>
          </a:ln>
          <a:effectLst>
            <a:outerShdw blurRad="50800" dist="38100" dir="2700000" algn="tl" rotWithShape="0">
              <a:srgbClr val="3368FF">
                <a:alpha val="40000"/>
              </a:srgbClr>
            </a:outerShdw>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200" kern="0" noProof="0">
              <a:ln>
                <a:noFill/>
              </a:ln>
              <a:solidFill>
                <a:prstClr val="white"/>
              </a:solidFill>
              <a:effectLst/>
              <a:uLnTx/>
              <a:uFillTx/>
              <a:latin typeface="微软雅黑"/>
              <a:ea typeface="微软雅黑"/>
              <a:cs typeface="微软雅黑"/>
              <a:sym typeface="微软雅黑"/>
            </a:endParaRPr>
          </a:p>
        </p:txBody>
      </p:sp>
      <p:sp>
        <p:nvSpPr>
          <p:cNvPr id="170" name="矩形: 圆角 4"/>
          <p:cNvSpPr/>
          <p:nvPr/>
        </p:nvSpPr>
        <p:spPr>
          <a:xfrm>
            <a:off x="9134475" y="5366385"/>
            <a:ext cx="1065530" cy="593090"/>
          </a:xfrm>
          <a:prstGeom prst="roundRect">
            <a:avLst/>
          </a:prstGeom>
          <a:solidFill>
            <a:srgbClr val="FFFFFF"/>
          </a:solidFill>
          <a:ln w="12700" cap="flat" cmpd="sng" algn="ctr">
            <a:solidFill>
              <a:srgbClr val="3368FF"/>
            </a:solidFill>
            <a:prstDash val="solid"/>
            <a:miter lim="800000"/>
          </a:ln>
          <a:effectLst>
            <a:outerShdw blurRad="50800" dist="38100" dir="2700000" algn="tl" rotWithShape="0">
              <a:srgbClr val="3368FF">
                <a:alpha val="40000"/>
              </a:srgbClr>
            </a:outerShdw>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200" kern="0" noProof="0">
              <a:ln>
                <a:noFill/>
              </a:ln>
              <a:solidFill>
                <a:prstClr val="white"/>
              </a:solidFill>
              <a:effectLst/>
              <a:uLnTx/>
              <a:uFillTx/>
              <a:latin typeface="微软雅黑"/>
              <a:ea typeface="微软雅黑"/>
              <a:cs typeface="微软雅黑"/>
              <a:sym typeface="微软雅黑"/>
            </a:endParaRPr>
          </a:p>
        </p:txBody>
      </p:sp>
      <p:sp>
        <p:nvSpPr>
          <p:cNvPr id="172" name="矩形: 圆角 4"/>
          <p:cNvSpPr/>
          <p:nvPr/>
        </p:nvSpPr>
        <p:spPr>
          <a:xfrm>
            <a:off x="10499090" y="5366385"/>
            <a:ext cx="1065530" cy="593090"/>
          </a:xfrm>
          <a:prstGeom prst="roundRect">
            <a:avLst/>
          </a:prstGeom>
          <a:solidFill>
            <a:srgbClr val="FFFFFF"/>
          </a:solidFill>
          <a:ln w="12700" cap="flat" cmpd="sng" algn="ctr">
            <a:solidFill>
              <a:srgbClr val="3368FF"/>
            </a:solidFill>
            <a:prstDash val="solid"/>
            <a:miter lim="800000"/>
          </a:ln>
          <a:effectLst>
            <a:outerShdw blurRad="50800" dist="38100" dir="2700000" algn="tl" rotWithShape="0">
              <a:srgbClr val="3368FF">
                <a:alpha val="40000"/>
              </a:srgbClr>
            </a:outerShdw>
          </a:effectLst>
        </p:spPr>
        <p:txBody>
          <a:bodyPr rtlCol="0" anchor="ctr"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sz="1200" kern="0" noProof="0">
              <a:ln>
                <a:noFill/>
              </a:ln>
              <a:solidFill>
                <a:prstClr val="white"/>
              </a:solidFill>
              <a:effectLst/>
              <a:uLnTx/>
              <a:uFillTx/>
              <a:latin typeface="微软雅黑"/>
              <a:ea typeface="微软雅黑"/>
              <a:cs typeface="微软雅黑"/>
              <a:sym typeface="微软雅黑"/>
            </a:endParaRPr>
          </a:p>
        </p:txBody>
      </p:sp>
      <p:sp>
        <p:nvSpPr>
          <p:cNvPr id="18" name="椭圆 17"/>
          <p:cNvSpPr>
            <a:spLocks noChangeAspect="1"/>
          </p:cNvSpPr>
          <p:nvPr/>
        </p:nvSpPr>
        <p:spPr>
          <a:xfrm>
            <a:off x="4464685" y="2609850"/>
            <a:ext cx="3088005" cy="3088005"/>
          </a:xfrm>
          <a:prstGeom prst="ellipse">
            <a:avLst/>
          </a:prstGeom>
          <a:solidFill>
            <a:srgbClr val="E6E6E6">
              <a:alpha val="50000"/>
            </a:srgbClr>
          </a:solidFill>
          <a:ln w="6350" cap="flat" cmpd="sng" algn="ctr">
            <a:solidFill>
              <a:srgbClr val="3368FF"/>
            </a:solidFill>
            <a:prstDash val="dash"/>
            <a:miter lim="800000"/>
          </a:ln>
          <a:effectLst/>
        </p:spPr>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77" name="椭圆 176"/>
          <p:cNvSpPr/>
          <p:nvPr/>
        </p:nvSpPr>
        <p:spPr>
          <a:xfrm>
            <a:off x="4341495" y="2487295"/>
            <a:ext cx="3333750" cy="3334385"/>
          </a:xfrm>
          <a:prstGeom prst="ellipse">
            <a:avLst/>
          </a:prstGeom>
          <a:noFill/>
          <a:ln w="9525" cap="flat" cmpd="sng" algn="ctr">
            <a:solidFill>
              <a:srgbClr val="0042FF"/>
            </a:solidFill>
            <a:prstDash val="solid"/>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80" name="椭圆 179"/>
          <p:cNvSpPr>
            <a:spLocks noChangeAspect="1"/>
          </p:cNvSpPr>
          <p:nvPr/>
        </p:nvSpPr>
        <p:spPr>
          <a:xfrm>
            <a:off x="5469255" y="5138420"/>
            <a:ext cx="1154430" cy="1155065"/>
          </a:xfrm>
          <a:prstGeom prst="ellipse">
            <a:avLst/>
          </a:prstGeom>
          <a:solidFill>
            <a:srgbClr val="3368FF"/>
          </a:solidFill>
          <a:ln w="15875" cap="flat" cmpd="sng" algn="ctr">
            <a:solidFill>
              <a:srgbClr val="3368FF"/>
            </a:solidFill>
            <a:prstDash val="solid"/>
            <a:miter lim="800000"/>
          </a:ln>
          <a:effectLst/>
        </p:spPr>
        <p:txBody>
          <a:bodyPr rot="0" spcFirstLastPara="0" vertOverflow="overflow" horzOverflow="overflow" vert="horz" wrap="square" lIns="0" tIns="0" rIns="0" bIns="0" numCol="1" spcCol="0" rtlCol="0" fromWordArt="0" anchor="ctr" anchorCtr="0" forceAA="0" compatLnSpc="1">
            <a:noAutofit/>
          </a:bodyPr>
          <a:lstStyle/>
          <a:p>
            <a:pPr algn="ctr">
              <a:defRPr>
                <a:solidFill>
                  <a:srgbClr val="FFFFFF"/>
                </a:solidFill>
                <a:latin typeface="微软雅黑"/>
                <a:ea typeface="微软雅黑"/>
                <a:cs typeface="微软雅黑"/>
              </a:defRPr>
            </a:pPr>
            <a:r>
              <a:rPr lang="zh-CN" altLang="en-US">
                <a:solidFill>
                  <a:srgbClr val="FFFFFF"/>
                </a:solidFill>
                <a:latin typeface="微软雅黑"/>
                <a:ea typeface="微软雅黑"/>
                <a:cs typeface="微软雅黑"/>
              </a:rPr>
              <a:t>技能水平</a:t>
            </a:r>
            <a:endParaRPr lang="zh-CN" altLang="en-US">
              <a:solidFill>
                <a:srgbClr val="FFFFFF"/>
              </a:solidFill>
              <a:latin typeface="微软雅黑"/>
              <a:ea typeface="微软雅黑"/>
              <a:cs typeface="微软雅黑"/>
            </a:endParaRPr>
          </a:p>
        </p:txBody>
      </p:sp>
      <p:sp>
        <p:nvSpPr>
          <p:cNvPr id="199" name="文本框 198"/>
          <p:cNvSpPr txBox="1"/>
          <p:nvPr/>
        </p:nvSpPr>
        <p:spPr>
          <a:xfrm>
            <a:off x="4921885" y="3921760"/>
            <a:ext cx="2279650" cy="339725"/>
          </a:xfrm>
          <a:prstGeom prst="rect">
            <a:avLst/>
          </a:prstGeom>
          <a:noFill/>
        </p:spPr>
        <p:txBody>
          <a:bodyPr wrap="square" rtlCol="0" lIns="0" rIns="0" tIns="0" bIns="0">
            <a:spAutoFit/>
          </a:bodyPr>
          <a:lstStyle/>
          <a:p>
            <a:pPr algn="ctr" fontAlgn="auto">
              <a:lnSpc>
                <a:spcPct val="90000"/>
              </a:lnSpc>
              <a:spcBef>
                <a:spcPts val="0"/>
              </a:spcBef>
              <a:spcAft>
                <a:spcPts val="0"/>
              </a:spcAft>
              <a:defRPr>
                <a:latin typeface="微软雅黑"/>
                <a:ea typeface="微软雅黑"/>
                <a:cs typeface="微软雅黑"/>
              </a:defRPr>
            </a:pPr>
            <a:r>
              <a:rPr lang="zh-CN" altLang="en-US" b="1" dirty="0">
                <a:solidFill>
                  <a:srgbClr val="0042FF"/>
                </a:solidFill>
                <a:latin typeface="微软雅黑"/>
                <a:ea typeface="微软雅黑"/>
                <a:cs typeface="微软雅黑"/>
              </a:rPr>
              <a:t>调节回路</a:t>
            </a:r>
            <a:r>
              <a:rPr lang="en-US" altLang="zh-CN" b="1" dirty="0">
                <a:solidFill>
                  <a:srgbClr val="0042FF"/>
                </a:solidFill>
                <a:latin typeface="微软雅黑"/>
                <a:ea typeface="微软雅黑"/>
                <a:cs typeface="微软雅黑"/>
              </a:rPr>
              <a:t>=</a:t>
            </a:r>
            <a:r>
              <a:rPr lang="zh-CN" altLang="en-US" b="1" dirty="0">
                <a:solidFill>
                  <a:srgbClr val="0042FF"/>
                </a:solidFill>
                <a:latin typeface="微软雅黑"/>
                <a:ea typeface="微软雅黑"/>
                <a:cs typeface="微软雅黑"/>
              </a:rPr>
              <a:t>刻意练习</a:t>
            </a:r>
            <a:endParaRPr lang="zh-CN" altLang="en-US" b="1" dirty="0">
              <a:solidFill>
                <a:srgbClr val="0042FF"/>
              </a:solidFill>
              <a:latin typeface="微软雅黑"/>
              <a:ea typeface="微软雅黑"/>
              <a:cs typeface="微软雅黑"/>
            </a:endParaRPr>
          </a:p>
        </p:txBody>
      </p:sp>
      <p:sp>
        <p:nvSpPr>
          <p:cNvPr id="211" name="文本框 210"/>
          <p:cNvSpPr txBox="1"/>
          <p:nvPr/>
        </p:nvSpPr>
        <p:spPr>
          <a:xfrm>
            <a:off x="4920615" y="4220210"/>
            <a:ext cx="2708275" cy="337185"/>
          </a:xfrm>
          <a:prstGeom prst="rect">
            <a:avLst/>
          </a:prstGeom>
          <a:noFill/>
        </p:spPr>
        <p:txBody>
          <a:bodyPr wrap="square" rtlCol="0">
            <a:spAutoFit/>
          </a:bodyPr>
          <a:lstStyle/>
          <a:p>
            <a:pPr>
              <a:defRPr>
                <a:latin typeface="微软雅黑"/>
                <a:ea typeface="微软雅黑"/>
                <a:cs typeface="微软雅黑"/>
              </a:defRPr>
            </a:pPr>
            <a:r>
              <a:rPr lang="zh-CN" altLang="en-US" sz="1600" dirty="0">
                <a:solidFill>
                  <a:srgbClr val="0042FF"/>
                </a:solidFill>
                <a:latin typeface="微软雅黑"/>
                <a:ea typeface="微软雅黑"/>
                <a:cs typeface="微软雅黑"/>
              </a:rPr>
              <a:t>不断修正自我以达成目标</a:t>
            </a:r>
            <a:endParaRPr lang="zh-CN" altLang="en-US" sz="1600" dirty="0">
              <a:solidFill>
                <a:srgbClr val="0042FF"/>
              </a:solidFill>
              <a:latin typeface="微软雅黑"/>
              <a:ea typeface="微软雅黑"/>
              <a:cs typeface="微软雅黑"/>
            </a:endParaRPr>
          </a:p>
        </p:txBody>
      </p:sp>
      <p:sp>
        <p:nvSpPr>
          <p:cNvPr id="213" name="文本框 212"/>
          <p:cNvSpPr txBox="1"/>
          <p:nvPr/>
        </p:nvSpPr>
        <p:spPr>
          <a:xfrm>
            <a:off x="7366635" y="3921760"/>
            <a:ext cx="892810" cy="398780"/>
          </a:xfrm>
          <a:prstGeom prst="rect">
            <a:avLst/>
          </a:prstGeom>
          <a:solidFill>
            <a:srgbClr val="FFFFFF"/>
          </a:solidFill>
        </p:spPr>
        <p:txBody>
          <a:bodyPr wrap="square" rtlCol="0">
            <a:spAutoFit/>
          </a:bodyPr>
          <a:lstStyle/>
          <a:p>
            <a:pPr>
              <a:defRPr>
                <a:latin typeface="微软雅黑"/>
                <a:ea typeface="微软雅黑"/>
                <a:cs typeface="微软雅黑"/>
              </a:defRPr>
            </a:pPr>
            <a:r>
              <a:rPr lang="zh-CN" altLang="en-US" sz="2000" b="1" dirty="0">
                <a:solidFill>
                  <a:srgbClr val="383838"/>
                </a:solidFill>
                <a:latin typeface="微软雅黑"/>
                <a:ea typeface="微软雅黑"/>
                <a:cs typeface="微软雅黑"/>
              </a:rPr>
              <a:t>差距</a:t>
            </a:r>
            <a:endParaRPr lang="zh-CN" altLang="en-US" sz="2000" b="1" dirty="0">
              <a:solidFill>
                <a:srgbClr val="383838"/>
              </a:solidFill>
              <a:latin typeface="微软雅黑"/>
              <a:ea typeface="微软雅黑"/>
              <a:cs typeface="微软雅黑"/>
            </a:endParaRPr>
          </a:p>
        </p:txBody>
      </p:sp>
      <p:sp>
        <p:nvSpPr>
          <p:cNvPr id="227" name="弧形 31"/>
          <p:cNvSpPr/>
          <p:nvPr/>
        </p:nvSpPr>
        <p:spPr>
          <a:xfrm rot="14460000">
            <a:off x="7449185" y="2263775"/>
            <a:ext cx="3352800" cy="2764155"/>
          </a:xfrm>
          <a:prstGeom prst="arc">
            <a:avLst>
              <a:gd name="adj1" fmla="val 17669362"/>
              <a:gd name="adj2" fmla="val 1291717"/>
            </a:avLst>
          </a:prstGeom>
          <a:noFill/>
          <a:ln w="19050" cap="flat">
            <a:solidFill>
              <a:srgbClr val="3368FF"/>
            </a:solidFill>
            <a:prstDash val="solid"/>
            <a:miter lim="800000"/>
            <a:headEnd type="triangle" w="med" len="med"/>
          </a:ln>
          <a:effectLst/>
          <a:sp3d/>
        </p:spPr>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zh-CN" altLang="en-US" sz="1800" b="1" u="none" strike="noStrike" cap="none" spc="0" normalizeH="0" baseline="0">
              <a:ln>
                <a:noFill/>
              </a:ln>
              <a:solidFill>
                <a:srgbClr val="383838"/>
              </a:solidFill>
              <a:effectLst/>
              <a:uFillTx/>
              <a:latin typeface="微软雅黑"/>
              <a:ea typeface="微软雅黑"/>
              <a:cs typeface="微软雅黑"/>
              <a:sym typeface="微软雅黑"/>
            </a:endParaRPr>
          </a:p>
        </p:txBody>
      </p:sp>
      <p:sp>
        <p:nvSpPr>
          <p:cNvPr id="228" name="文本框 227"/>
          <p:cNvSpPr txBox="1"/>
          <p:nvPr/>
        </p:nvSpPr>
        <p:spPr>
          <a:xfrm>
            <a:off x="8338820" y="1621790"/>
            <a:ext cx="1071245" cy="276860"/>
          </a:xfrm>
          <a:prstGeom prst="rect">
            <a:avLst/>
          </a:prstGeom>
          <a:noFill/>
        </p:spPr>
        <p:txBody>
          <a:bodyPr wrap="square" lIns="0" tIns="0" rIns="0" bIns="0" rtlCol="0">
            <a:spAutoFit/>
          </a:bodyPr>
          <a:lstStyle/>
          <a:p>
            <a:pPr algn="ctr">
              <a:defRPr>
                <a:latin typeface="微软雅黑"/>
                <a:ea typeface="微软雅黑"/>
                <a:cs typeface="微软雅黑"/>
              </a:defRPr>
            </a:pPr>
            <a:r>
              <a:rPr lang="zh-CN" altLang="en-US" b="1" dirty="0">
                <a:solidFill>
                  <a:srgbClr val="0042FF"/>
                </a:solidFill>
                <a:latin typeface="微软雅黑"/>
                <a:ea typeface="微软雅黑"/>
                <a:cs typeface="微软雅黑"/>
              </a:rPr>
              <a:t>目标</a:t>
            </a:r>
            <a:endParaRPr lang="zh-CN" altLang="en-US" b="1" dirty="0">
              <a:solidFill>
                <a:srgbClr val="0042FF"/>
              </a:solidFill>
              <a:latin typeface="微软雅黑"/>
              <a:ea typeface="微软雅黑"/>
              <a:cs typeface="微软雅黑"/>
            </a:endParaRPr>
          </a:p>
        </p:txBody>
      </p:sp>
      <p:sp>
        <p:nvSpPr>
          <p:cNvPr id="235" name="矩形 234"/>
          <p:cNvSpPr/>
          <p:nvPr/>
        </p:nvSpPr>
        <p:spPr>
          <a:xfrm>
            <a:off x="4065905" y="2291715"/>
            <a:ext cx="1407160" cy="960755"/>
          </a:xfrm>
          <a:prstGeom prst="rect">
            <a:avLst/>
          </a:prstGeom>
          <a:solidFill>
            <a:srgbClr val="FFFFFF"/>
          </a:solidFill>
          <a:ln w="12700" cap="flat" cmpd="sng" algn="ctr">
            <a:solidFill>
              <a:srgbClr val="0042FF"/>
            </a:solidFill>
            <a:prstDash val="solid"/>
            <a:miter lim="800000"/>
          </a:ln>
          <a:effectLst/>
        </p:spPr>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19" name="直接连接符 18"/>
          <p:cNvCxnSpPr/>
          <p:nvPr/>
        </p:nvCxnSpPr>
        <p:spPr>
          <a:xfrm>
            <a:off x="4058285" y="2644140"/>
            <a:ext cx="1414145" cy="0"/>
          </a:xfrm>
          <a:prstGeom prst="line">
            <a:avLst/>
          </a:prstGeom>
          <a:noFill/>
          <a:ln w="12700" cap="flat" cmpd="sng" algn="ctr">
            <a:solidFill>
              <a:srgbClr val="0042FF"/>
            </a:solidFill>
            <a:prstDash val="solid"/>
            <a:miter lim="800000"/>
          </a:ln>
          <a:effectLst/>
        </p:spPr>
      </p:cxnSp>
      <p:sp>
        <p:nvSpPr>
          <p:cNvPr id="27" name="矩形 26"/>
          <p:cNvSpPr/>
          <p:nvPr/>
        </p:nvSpPr>
        <p:spPr>
          <a:xfrm>
            <a:off x="4065905" y="3021965"/>
            <a:ext cx="1407160" cy="230505"/>
          </a:xfrm>
          <a:prstGeom prst="rect">
            <a:avLst/>
          </a:prstGeom>
          <a:solidFill>
            <a:srgbClr val="0042FF"/>
          </a:solidFill>
          <a:ln w="12700" cap="flat" cmpd="sng" algn="ctr">
            <a:solidFill>
              <a:srgbClr val="0042FF"/>
            </a:solidFill>
            <a:prstDash val="solid"/>
            <a:miter lim="800000"/>
          </a:ln>
          <a:effectLst/>
        </p:spPr>
        <p:txBody>
          <a:bodyPr rtlCol="0" anchor="ctr"/>
          <a:lstStyle/>
          <a:p>
            <a:pPr algn="ctr">
              <a:defRPr>
                <a:solidFill>
                  <a:srgbClr val="FFFFFF"/>
                </a:solidFill>
                <a:latin typeface="微软雅黑"/>
                <a:ea typeface="微软雅黑"/>
                <a:cs typeface="微软雅黑"/>
              </a:defRPr>
            </a:pPr>
            <a:r>
              <a:rPr lang="zh-CN" altLang="en-US" sz="1500">
                <a:solidFill>
                  <a:srgbClr val="FFFFFF"/>
                </a:solidFill>
                <a:latin typeface="微软雅黑"/>
                <a:ea typeface="微软雅黑"/>
                <a:cs typeface="微软雅黑"/>
              </a:rPr>
              <a:t>有效训练量</a:t>
            </a:r>
            <a:endParaRPr lang="zh-CN" altLang="en-US" sz="1500">
              <a:solidFill>
                <a:srgbClr val="FFFFFF"/>
              </a:solidFill>
              <a:latin typeface="微软雅黑"/>
              <a:ea typeface="微软雅黑"/>
              <a:cs typeface="微软雅黑"/>
            </a:endParaRPr>
          </a:p>
        </p:txBody>
      </p:sp>
      <p:cxnSp>
        <p:nvCxnSpPr>
          <p:cNvPr id="43" name="直接连接符 42"/>
          <p:cNvCxnSpPr>
            <a:stCxn id="235" idx="0"/>
          </p:cNvCxnSpPr>
          <p:nvPr/>
        </p:nvCxnSpPr>
        <p:spPr>
          <a:xfrm>
            <a:off x="4769485" y="2291715"/>
            <a:ext cx="0" cy="356235"/>
          </a:xfrm>
          <a:prstGeom prst="line">
            <a:avLst/>
          </a:prstGeom>
          <a:noFill/>
          <a:ln w="12700" cap="flat" cmpd="sng" algn="ctr">
            <a:solidFill>
              <a:srgbClr val="0042FF"/>
            </a:solidFill>
            <a:prstDash val="solid"/>
            <a:miter lim="800000"/>
          </a:ln>
          <a:effectLst/>
        </p:spPr>
      </p:cxnSp>
      <p:sp>
        <p:nvSpPr>
          <p:cNvPr id="44" name="文本框 43"/>
          <p:cNvSpPr txBox="1"/>
          <p:nvPr/>
        </p:nvSpPr>
        <p:spPr>
          <a:xfrm>
            <a:off x="4151630" y="2291715"/>
            <a:ext cx="589280" cy="337185"/>
          </a:xfrm>
          <a:prstGeom prst="rect">
            <a:avLst/>
          </a:prstGeom>
          <a:noFill/>
        </p:spPr>
        <p:txBody>
          <a:bodyPr wrap="square" rtlCol="0">
            <a:spAutoFit/>
          </a:bodyPr>
          <a:lstStyle/>
          <a:p>
            <a:pPr>
              <a:defRPr>
                <a:latin typeface="微软雅黑"/>
                <a:ea typeface="微软雅黑"/>
                <a:cs typeface="微软雅黑"/>
              </a:defRPr>
            </a:pPr>
            <a:r>
              <a:rPr lang="zh-CN" altLang="en-US" sz="1600" dirty="0">
                <a:solidFill>
                  <a:srgbClr val="0042FF"/>
                </a:solidFill>
                <a:latin typeface="微软雅黑"/>
                <a:ea typeface="微软雅黑"/>
                <a:cs typeface="微软雅黑"/>
              </a:rPr>
              <a:t>专注</a:t>
            </a:r>
            <a:endParaRPr lang="zh-CN" altLang="en-US" sz="1600" dirty="0">
              <a:solidFill>
                <a:srgbClr val="0042FF"/>
              </a:solidFill>
              <a:latin typeface="微软雅黑"/>
              <a:ea typeface="微软雅黑"/>
              <a:cs typeface="微软雅黑"/>
            </a:endParaRPr>
          </a:p>
        </p:txBody>
      </p:sp>
      <p:sp>
        <p:nvSpPr>
          <p:cNvPr id="45" name="文本框 44"/>
          <p:cNvSpPr txBox="1"/>
          <p:nvPr/>
        </p:nvSpPr>
        <p:spPr>
          <a:xfrm>
            <a:off x="4831080" y="2291715"/>
            <a:ext cx="589280" cy="337185"/>
          </a:xfrm>
          <a:prstGeom prst="rect">
            <a:avLst/>
          </a:prstGeom>
          <a:noFill/>
        </p:spPr>
        <p:txBody>
          <a:bodyPr wrap="square" rtlCol="0">
            <a:spAutoFit/>
          </a:bodyPr>
          <a:lstStyle/>
          <a:p>
            <a:pPr>
              <a:defRPr>
                <a:latin typeface="微软雅黑"/>
                <a:ea typeface="微软雅黑"/>
                <a:cs typeface="微软雅黑"/>
              </a:defRPr>
            </a:pPr>
            <a:r>
              <a:rPr lang="zh-CN" altLang="en-US" sz="1600" dirty="0">
                <a:solidFill>
                  <a:srgbClr val="0042FF"/>
                </a:solidFill>
                <a:latin typeface="微软雅黑"/>
                <a:ea typeface="微软雅黑"/>
                <a:cs typeface="微软雅黑"/>
              </a:rPr>
              <a:t>方法</a:t>
            </a:r>
            <a:endParaRPr lang="zh-CN" altLang="en-US" sz="1600" dirty="0">
              <a:solidFill>
                <a:srgbClr val="0042FF"/>
              </a:solidFill>
              <a:latin typeface="微软雅黑"/>
              <a:ea typeface="微软雅黑"/>
              <a:cs typeface="微软雅黑"/>
            </a:endParaRPr>
          </a:p>
        </p:txBody>
      </p:sp>
      <p:grpSp>
        <p:nvGrpSpPr>
          <p:cNvPr id="244" name="组合 243"/>
          <p:cNvGrpSpPr/>
          <p:nvPr/>
        </p:nvGrpSpPr>
        <p:grpSpPr>
          <a:xfrm rot="0">
            <a:off x="2767330" y="2610485"/>
            <a:ext cx="1092200" cy="461645"/>
            <a:chOff x="5534227" y="1692995"/>
            <a:chExt cx="1008735" cy="315637"/>
          </a:xfrm>
          <a:solidFill>
            <a:srgbClr val="0042FF"/>
          </a:solidFill>
        </p:grpSpPr>
        <p:sp>
          <p:nvSpPr>
            <p:cNvPr id="245" name="矩形: 圆角 213"/>
            <p:cNvSpPr/>
            <p:nvPr/>
          </p:nvSpPr>
          <p:spPr>
            <a:xfrm flipH="1">
              <a:off x="5534227" y="1692995"/>
              <a:ext cx="947155" cy="315637"/>
            </a:xfrm>
            <a:prstGeom prst="roundRect">
              <a:avLst>
                <a:gd name="adj" fmla="val 50000"/>
              </a:avLst>
            </a:prstGeom>
            <a:grpFill/>
            <a:ln w="9525" cap="flat" cmpd="sng" algn="ctr">
              <a:noFill/>
              <a:prstDash val="solid"/>
              <a:miter lim="800000"/>
            </a:ln>
            <a:effectLst/>
          </p:spPr>
          <p:txBody>
            <a:bodyPr lIns="0" tIns="0" rIns="0" bIns="0" rtlCol="0" anchor="ct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2565"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46" name="文本框 251"/>
            <p:cNvSpPr txBox="1"/>
            <p:nvPr/>
          </p:nvSpPr>
          <p:spPr>
            <a:xfrm flipH="1">
              <a:off x="5534227" y="1718611"/>
              <a:ext cx="1008735" cy="263104"/>
            </a:xfrm>
            <a:prstGeom prst="rect">
              <a:avLst/>
            </a:prstGeom>
            <a:noFill/>
            <a:effectLst/>
            <a:extLst>
              <a:ext uri="{909E8E84-426E-40DD-AFC4-6F175D3DCCD1}">
                <a14:hiddenFill xmlns:a14="http://schemas.microsoft.com/office/drawing/2010/main">
                  <a:grpFill/>
                </a14:hiddenFill>
              </a:ext>
            </a:extLst>
          </p:spPr>
          <p:txBody>
            <a:bodyPr wrap="square" lIns="0" tIns="0" rIns="0" bIns="0" rtlCol="0">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marL="0" marR="0" lvl="0" indent="0" algn="l" defTabSz="914400" rtl="0" eaLnBrk="1" fontAlgn="auto" latinLnBrk="0" hangingPunct="1">
                <a:lnSpc>
                  <a:spcPct val="110000"/>
                </a:lnSpc>
                <a:spcBef>
                  <a:spcPts val="0"/>
                </a:spcBef>
                <a:spcAft>
                  <a:spcPts val="0"/>
                </a:spcAft>
                <a:buClrTx/>
                <a:buSzTx/>
                <a:buFontTx/>
                <a:buNone/>
                <a:defRPr>
                  <a:solidFill>
                    <a:srgbClr val="FFFFFF"/>
                  </a:solidFill>
                  <a:latin typeface="微软雅黑"/>
                  <a:ea typeface="微软雅黑"/>
                  <a:cs typeface="微软雅黑"/>
                </a:defRPr>
              </a:pPr>
              <a:r>
                <a:rPr lang="zh-CN" sz="1400" b="1" dirty="0">
                  <a:solidFill>
                    <a:srgbClr val="FFFFFF"/>
                  </a:solidFill>
                  <a:latin typeface="微软雅黑"/>
                  <a:ea typeface="微软雅黑"/>
                  <a:cs typeface="微软雅黑"/>
                </a:rPr>
                <a:t>②持续专注</a:t>
              </a:r>
              <a:endParaRPr lang="zh-CN" sz="1400" b="1" dirty="0">
                <a:solidFill>
                  <a:srgbClr val="FFFFFF"/>
                </a:solidFill>
                <a:latin typeface="微软雅黑"/>
                <a:ea typeface="微软雅黑"/>
                <a:cs typeface="微软雅黑"/>
              </a:endParaRPr>
            </a:p>
          </p:txBody>
        </p:sp>
      </p:grpSp>
      <p:cxnSp>
        <p:nvCxnSpPr>
          <p:cNvPr id="247" name="直线连接符 158"/>
          <p:cNvCxnSpPr>
            <a:endCxn id="241" idx="1"/>
          </p:cNvCxnSpPr>
          <p:nvPr/>
        </p:nvCxnSpPr>
        <p:spPr>
          <a:xfrm flipV="1">
            <a:off x="3801110" y="2825750"/>
            <a:ext cx="265430" cy="5715"/>
          </a:xfrm>
          <a:prstGeom prst="line">
            <a:avLst/>
          </a:prstGeom>
          <a:noFill/>
          <a:ln w="12700" cap="flat" cmpd="sng" algn="ctr">
            <a:solidFill>
              <a:srgbClr val="0042FF"/>
            </a:solidFill>
            <a:prstDash val="sysDash"/>
            <a:miter lim="800000"/>
            <a:headEnd type="triangle"/>
          </a:ln>
          <a:effectLst/>
        </p:spPr>
      </p:cxnSp>
      <p:cxnSp>
        <p:nvCxnSpPr>
          <p:cNvPr id="252" name="直线连接符 158"/>
          <p:cNvCxnSpPr>
            <a:endCxn id="253" idx="1"/>
          </p:cNvCxnSpPr>
          <p:nvPr/>
        </p:nvCxnSpPr>
        <p:spPr>
          <a:xfrm flipV="1">
            <a:off x="3129280" y="4727575"/>
            <a:ext cx="899795" cy="537210"/>
          </a:xfrm>
          <a:prstGeom prst="line">
            <a:avLst/>
          </a:prstGeom>
          <a:noFill/>
          <a:ln w="12700" cap="flat" cmpd="sng" algn="ctr">
            <a:solidFill>
              <a:srgbClr val="0042FF"/>
            </a:solidFill>
            <a:prstDash val="sysDash"/>
            <a:miter lim="800000"/>
            <a:headEnd type="triangle"/>
          </a:ln>
          <a:effectLst/>
        </p:spPr>
      </p:cxnSp>
      <p:sp>
        <p:nvSpPr>
          <p:cNvPr id="253" name="矩形 252"/>
          <p:cNvSpPr/>
          <p:nvPr/>
        </p:nvSpPr>
        <p:spPr>
          <a:xfrm>
            <a:off x="4029075" y="4410075"/>
            <a:ext cx="920115" cy="635000"/>
          </a:xfrm>
          <a:prstGeom prst="rect">
            <a:avLst/>
          </a:prstGeom>
          <a:solidFill>
            <a:srgbClr val="FFFFFF"/>
          </a:solidFill>
          <a:ln w="12700" cap="flat" cmpd="sng" algn="ctr">
            <a:solidFill>
              <a:srgbClr val="0042FF"/>
            </a:solidFill>
            <a:prstDash val="sysDash"/>
            <a:miter lim="800000"/>
          </a:ln>
          <a:effectLst/>
        </p:spPr>
        <p:txBody>
          <a:bodyPr rtlCol="0" anchor="ctr"/>
          <a:lstStyle/>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③突破舒适区</a:t>
            </a:r>
            <a:endParaRPr lang="zh-CN" altLang="en-US" sz="1400" b="1">
              <a:solidFill>
                <a:srgbClr val="0042FF"/>
              </a:solidFill>
              <a:latin typeface="微软雅黑"/>
              <a:ea typeface="微软雅黑"/>
              <a:cs typeface="微软雅黑"/>
            </a:endParaRPr>
          </a:p>
        </p:txBody>
      </p:sp>
      <p:sp>
        <p:nvSpPr>
          <p:cNvPr id="254" name="文本框 253"/>
          <p:cNvSpPr txBox="1"/>
          <p:nvPr/>
        </p:nvSpPr>
        <p:spPr>
          <a:xfrm>
            <a:off x="5480685" y="1984375"/>
            <a:ext cx="513715" cy="411480"/>
          </a:xfrm>
          <a:prstGeom prst="rect">
            <a:avLst/>
          </a:prstGeom>
          <a:noFill/>
        </p:spPr>
        <p:txBody>
          <a:bodyPr wrap="square" rtlCol="0">
            <a:noAutofit/>
          </a:bodyPr>
          <a:lstStyle/>
          <a:p>
            <a:pPr>
              <a:defRPr>
                <a:latin typeface="微软雅黑"/>
                <a:ea typeface="微软雅黑"/>
                <a:cs typeface="微软雅黑"/>
              </a:defRPr>
            </a:pPr>
            <a:r>
              <a:rPr lang="zh-CN" altLang="en-US" sz="3000">
                <a:solidFill>
                  <a:srgbClr val="0042FF"/>
                </a:solidFill>
                <a:latin typeface="微软雅黑"/>
                <a:ea typeface="微软雅黑"/>
                <a:cs typeface="微软雅黑"/>
              </a:rPr>
              <a:t>＋</a:t>
            </a:r>
            <a:endParaRPr lang="zh-CN" altLang="en-US" sz="3000">
              <a:solidFill>
                <a:srgbClr val="0042FF"/>
              </a:solidFill>
              <a:latin typeface="微软雅黑"/>
              <a:ea typeface="微软雅黑"/>
              <a:cs typeface="微软雅黑"/>
            </a:endParaRPr>
          </a:p>
        </p:txBody>
      </p:sp>
      <p:sp>
        <p:nvSpPr>
          <p:cNvPr id="410" name="等腰三角形 237"/>
          <p:cNvSpPr/>
          <p:nvPr/>
        </p:nvSpPr>
        <p:spPr>
          <a:xfrm rot="15420000">
            <a:off x="5448935" y="2515235"/>
            <a:ext cx="135255" cy="98425"/>
          </a:xfrm>
          <a:prstGeom prst="triangle">
            <a:avLst/>
          </a:prstGeom>
          <a:solidFill>
            <a:srgbClr val="0042FF"/>
          </a:solidFill>
          <a:ln w="9525"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55" name="文本框 254"/>
          <p:cNvSpPr txBox="1"/>
          <p:nvPr/>
        </p:nvSpPr>
        <p:spPr>
          <a:xfrm>
            <a:off x="7266305" y="2794635"/>
            <a:ext cx="513715" cy="411480"/>
          </a:xfrm>
          <a:prstGeom prst="rect">
            <a:avLst/>
          </a:prstGeom>
          <a:noFill/>
        </p:spPr>
        <p:txBody>
          <a:bodyPr wrap="square" rtlCol="0">
            <a:noAutofit/>
          </a:bodyPr>
          <a:lstStyle/>
          <a:p>
            <a:pPr>
              <a:defRPr>
                <a:latin typeface="微软雅黑"/>
                <a:ea typeface="微软雅黑"/>
                <a:cs typeface="微软雅黑"/>
              </a:defRPr>
            </a:pPr>
            <a:r>
              <a:rPr lang="zh-CN" altLang="en-US" sz="3000">
                <a:solidFill>
                  <a:srgbClr val="0042FF"/>
                </a:solidFill>
                <a:latin typeface="微软雅黑"/>
                <a:ea typeface="微软雅黑"/>
                <a:cs typeface="微软雅黑"/>
              </a:rPr>
              <a:t>＋</a:t>
            </a:r>
            <a:endParaRPr lang="zh-CN" altLang="en-US" sz="3000">
              <a:solidFill>
                <a:srgbClr val="0042FF"/>
              </a:solidFill>
              <a:latin typeface="微软雅黑"/>
              <a:ea typeface="微软雅黑"/>
              <a:cs typeface="微软雅黑"/>
            </a:endParaRPr>
          </a:p>
        </p:txBody>
      </p:sp>
      <p:sp>
        <p:nvSpPr>
          <p:cNvPr id="256" name="文本框 255"/>
          <p:cNvSpPr txBox="1"/>
          <p:nvPr/>
        </p:nvSpPr>
        <p:spPr>
          <a:xfrm>
            <a:off x="7669530" y="4410075"/>
            <a:ext cx="513715" cy="411480"/>
          </a:xfrm>
          <a:prstGeom prst="rect">
            <a:avLst/>
          </a:prstGeom>
          <a:noFill/>
        </p:spPr>
        <p:txBody>
          <a:bodyPr wrap="square" rtlCol="0">
            <a:noAutofit/>
          </a:bodyPr>
          <a:lstStyle/>
          <a:p>
            <a:pPr>
              <a:defRPr>
                <a:latin typeface="微软雅黑"/>
                <a:ea typeface="微软雅黑"/>
                <a:cs typeface="微软雅黑"/>
              </a:defRPr>
            </a:pPr>
            <a:r>
              <a:rPr lang="zh-CN" altLang="en-US" sz="3000">
                <a:solidFill>
                  <a:srgbClr val="0042FF"/>
                </a:solidFill>
                <a:latin typeface="微软雅黑"/>
                <a:ea typeface="微软雅黑"/>
                <a:cs typeface="微软雅黑"/>
              </a:rPr>
              <a:t>－</a:t>
            </a:r>
            <a:endParaRPr lang="zh-CN" altLang="en-US" sz="3000">
              <a:solidFill>
                <a:srgbClr val="0042FF"/>
              </a:solidFill>
              <a:latin typeface="微软雅黑"/>
              <a:ea typeface="微软雅黑"/>
              <a:cs typeface="微软雅黑"/>
            </a:endParaRPr>
          </a:p>
        </p:txBody>
      </p:sp>
      <p:sp>
        <p:nvSpPr>
          <p:cNvPr id="257" name="矩形 256"/>
          <p:cNvSpPr/>
          <p:nvPr/>
        </p:nvSpPr>
        <p:spPr>
          <a:xfrm>
            <a:off x="6999605" y="4872990"/>
            <a:ext cx="920115" cy="635000"/>
          </a:xfrm>
          <a:prstGeom prst="rect">
            <a:avLst/>
          </a:prstGeom>
          <a:solidFill>
            <a:srgbClr val="FFFFFF"/>
          </a:solidFill>
          <a:ln w="12700" cap="flat" cmpd="sng" algn="ctr">
            <a:solidFill>
              <a:srgbClr val="3368FF"/>
            </a:solidFill>
            <a:prstDash val="sysDash"/>
            <a:miter lim="800000"/>
          </a:ln>
          <a:effectLst/>
        </p:spPr>
        <p:txBody>
          <a:bodyPr rtlCol="0" anchor="ctr"/>
          <a:lstStyle/>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④复盘反馈</a:t>
            </a:r>
            <a:endParaRPr lang="zh-CN" altLang="en-US" sz="1400" b="1">
              <a:solidFill>
                <a:srgbClr val="0042FF"/>
              </a:solidFill>
              <a:latin typeface="微软雅黑"/>
              <a:ea typeface="微软雅黑"/>
              <a:cs typeface="微软雅黑"/>
            </a:endParaRPr>
          </a:p>
        </p:txBody>
      </p:sp>
      <p:sp>
        <p:nvSpPr>
          <p:cNvPr id="258" name="等腰三角形 237"/>
          <p:cNvSpPr/>
          <p:nvPr/>
        </p:nvSpPr>
        <p:spPr>
          <a:xfrm rot="6660000">
            <a:off x="5381625" y="5678170"/>
            <a:ext cx="93980" cy="76200"/>
          </a:xfrm>
          <a:prstGeom prst="triangle">
            <a:avLst/>
          </a:prstGeom>
          <a:solidFill>
            <a:srgbClr val="0042FF"/>
          </a:solidFill>
          <a:ln w="9525"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59" name="等腰三角形 237"/>
          <p:cNvSpPr/>
          <p:nvPr/>
        </p:nvSpPr>
        <p:spPr>
          <a:xfrm rot="180000">
            <a:off x="7573010" y="4286250"/>
            <a:ext cx="167005" cy="121285"/>
          </a:xfrm>
          <a:prstGeom prst="triangle">
            <a:avLst/>
          </a:prstGeom>
          <a:solidFill>
            <a:srgbClr val="0042FF"/>
          </a:solidFill>
          <a:ln w="9525"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cxnSp>
        <p:nvCxnSpPr>
          <p:cNvPr id="260" name="直线连接符 158"/>
          <p:cNvCxnSpPr>
            <a:stCxn id="167" idx="1"/>
            <a:endCxn id="257" idx="3"/>
          </p:cNvCxnSpPr>
          <p:nvPr/>
        </p:nvCxnSpPr>
        <p:spPr>
          <a:xfrm flipH="1" flipV="1">
            <a:off x="7919720" y="5190490"/>
            <a:ext cx="1539875" cy="13970"/>
          </a:xfrm>
          <a:prstGeom prst="line">
            <a:avLst/>
          </a:prstGeom>
          <a:noFill/>
          <a:ln w="12700" cap="flat" cmpd="sng" algn="ctr">
            <a:solidFill>
              <a:srgbClr val="668EFF"/>
            </a:solidFill>
            <a:prstDash val="sysDash"/>
            <a:miter lim="800000"/>
            <a:headEnd type="triangle"/>
          </a:ln>
          <a:effectLst/>
        </p:spPr>
      </p:cxnSp>
      <p:sp>
        <p:nvSpPr>
          <p:cNvPr id="261" name="矩形 260"/>
          <p:cNvSpPr/>
          <p:nvPr/>
        </p:nvSpPr>
        <p:spPr>
          <a:xfrm>
            <a:off x="9785985" y="1535430"/>
            <a:ext cx="1087120" cy="448945"/>
          </a:xfrm>
          <a:prstGeom prst="rect">
            <a:avLst/>
          </a:prstGeom>
          <a:solidFill>
            <a:srgbClr val="FFFFFF"/>
          </a:solidFill>
          <a:ln w="12700" cap="flat" cmpd="sng" algn="ctr">
            <a:solidFill>
              <a:srgbClr val="3368FF"/>
            </a:solidFill>
            <a:prstDash val="sysDash"/>
            <a:miter lim="800000"/>
          </a:ln>
          <a:effectLst/>
        </p:spPr>
        <p:txBody>
          <a:bodyPr rtlCol="0" anchor="ctr"/>
          <a:lstStyle/>
          <a:p>
            <a:pPr algn="ctr">
              <a:defRPr>
                <a:latin typeface="微软雅黑"/>
                <a:ea typeface="微软雅黑"/>
                <a:cs typeface="微软雅黑"/>
              </a:defRPr>
            </a:pPr>
            <a:r>
              <a:rPr lang="zh-CN" altLang="en-US" sz="1400">
                <a:solidFill>
                  <a:srgbClr val="0042FF"/>
                </a:solidFill>
                <a:latin typeface="微软雅黑"/>
                <a:ea typeface="微软雅黑"/>
                <a:cs typeface="微软雅黑"/>
              </a:rPr>
              <a:t>①确定目标</a:t>
            </a:r>
            <a:endParaRPr lang="zh-CN" altLang="en-US" sz="1400">
              <a:solidFill>
                <a:srgbClr val="0042FF"/>
              </a:solidFill>
              <a:latin typeface="微软雅黑"/>
              <a:ea typeface="微软雅黑"/>
              <a:cs typeface="微软雅黑"/>
            </a:endParaRPr>
          </a:p>
        </p:txBody>
      </p:sp>
      <p:cxnSp>
        <p:nvCxnSpPr>
          <p:cNvPr id="262" name="直线连接符 158"/>
          <p:cNvCxnSpPr>
            <a:stCxn id="261" idx="1"/>
          </p:cNvCxnSpPr>
          <p:nvPr/>
        </p:nvCxnSpPr>
        <p:spPr>
          <a:xfrm flipH="1" flipV="1">
            <a:off x="9156065" y="1758950"/>
            <a:ext cx="629920" cy="1270"/>
          </a:xfrm>
          <a:prstGeom prst="line">
            <a:avLst/>
          </a:prstGeom>
          <a:noFill/>
          <a:ln w="12700" cap="flat" cmpd="sng" algn="ctr">
            <a:solidFill>
              <a:srgbClr val="3368FF"/>
            </a:solidFill>
            <a:prstDash val="sysDash"/>
            <a:miter lim="800000"/>
            <a:headEnd type="triangle"/>
          </a:ln>
          <a:effectLst/>
        </p:spPr>
      </p:cxnSp>
      <p:sp>
        <p:nvSpPr>
          <p:cNvPr id="4" name="文本框 3"/>
          <p:cNvSpPr txBox="1"/>
          <p:nvPr/>
        </p:nvSpPr>
        <p:spPr>
          <a:xfrm>
            <a:off x="4066540" y="2628900"/>
            <a:ext cx="1353820" cy="393065"/>
          </a:xfrm>
          <a:prstGeom prst="rect">
            <a:avLst/>
          </a:prstGeom>
          <a:noFill/>
        </p:spPr>
        <p:txBody>
          <a:bodyPr wrap="square" rtlCol="0" lIns="0" rIns="0" tIns="0" bIns="0">
            <a:noAutofit/>
          </a:bodyPr>
          <a:p>
            <a:pPr algn="ctr">
              <a:defRPr>
                <a:latin typeface="微软雅黑"/>
                <a:ea typeface="微软雅黑"/>
                <a:cs typeface="微软雅黑"/>
              </a:defRPr>
            </a:pPr>
            <a:r>
              <a:rPr lang="zh-CN" altLang="en-US" dirty="0">
                <a:solidFill>
                  <a:srgbClr val="0042FF"/>
                </a:solidFill>
                <a:latin typeface="微软雅黑"/>
                <a:ea typeface="微软雅黑"/>
                <a:cs typeface="微软雅黑"/>
              </a:rPr>
              <a:t>不断重复</a:t>
            </a:r>
            <a:endParaRPr lang="zh-CN" altLang="en-US" dirty="0">
              <a:solidFill>
                <a:srgbClr val="0042FF"/>
              </a:solidFill>
              <a:latin typeface="微软雅黑"/>
              <a:ea typeface="微软雅黑"/>
              <a:cs typeface="微软雅黑"/>
            </a:endParaRPr>
          </a:p>
        </p:txBody>
      </p:sp>
      <p:sp>
        <p:nvSpPr>
          <p:cNvPr id="2" name="文本框 1"/>
          <p:cNvSpPr txBox="1"/>
          <p:nvPr/>
        </p:nvSpPr>
        <p:spPr>
          <a:xfrm>
            <a:off x="9079230" y="4470400"/>
            <a:ext cx="1177925" cy="557530"/>
          </a:xfrm>
          <a:prstGeom prst="rect">
            <a:avLst/>
          </a:prstGeom>
          <a:noFill/>
        </p:spPr>
        <p:txBody>
          <a:bodyPr wrap="square" rtlCol="0" lIns="0" rIns="0" tIns="0" bIns="0">
            <a:no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1200" b="0" i="0" u="none" strike="noStrike" kern="1200" cap="none" spc="0" normalizeH="0" baseline="0" noProof="0" dirty="0">
                <a:ln>
                  <a:noFill/>
                </a:ln>
                <a:solidFill>
                  <a:srgbClr val="0042FF"/>
                </a:solidFill>
                <a:effectLst/>
                <a:uLnTx/>
                <a:uFillTx/>
                <a:latin typeface="微软雅黑"/>
                <a:ea typeface="微软雅黑"/>
                <a:cs typeface="微软雅黑"/>
              </a:rPr>
              <a:t>Keep</a:t>
            </a:r>
            <a:endParaRPr kumimoji="0" 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需要保持的</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6" name="文本框 5"/>
          <p:cNvSpPr txBox="1"/>
          <p:nvPr/>
        </p:nvSpPr>
        <p:spPr>
          <a:xfrm>
            <a:off x="10454005" y="4470400"/>
            <a:ext cx="1065530" cy="460375"/>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rPr>
              <a:t>Improve</a:t>
            </a:r>
            <a:endPar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需要改进的</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7" name="文本框 6"/>
          <p:cNvSpPr txBox="1"/>
          <p:nvPr/>
        </p:nvSpPr>
        <p:spPr>
          <a:xfrm>
            <a:off x="9140825" y="5423535"/>
            <a:ext cx="1019175" cy="460375"/>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rPr>
              <a:t>Stop</a:t>
            </a:r>
            <a:endParaRPr kumimoji="0" lang="en-US" altLang="zh-CN"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需要停止的</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8" name="文本框 7"/>
          <p:cNvSpPr txBox="1"/>
          <p:nvPr/>
        </p:nvSpPr>
        <p:spPr>
          <a:xfrm>
            <a:off x="10550525" y="5423535"/>
            <a:ext cx="993140" cy="460375"/>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1200" b="0" i="0" u="none" strike="noStrike" kern="1200" cap="none" spc="0" normalizeH="0" baseline="0" noProof="0" dirty="0">
                <a:ln>
                  <a:noFill/>
                </a:ln>
                <a:solidFill>
                  <a:srgbClr val="0042FF"/>
                </a:solidFill>
                <a:effectLst/>
                <a:uLnTx/>
                <a:uFillTx/>
                <a:latin typeface="微软雅黑"/>
                <a:ea typeface="微软雅黑"/>
                <a:cs typeface="微软雅黑"/>
              </a:rPr>
              <a:t>Start</a:t>
            </a:r>
            <a:endParaRPr kumimoji="0" 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rPr>
              <a:t>需要开始的</a:t>
            </a:r>
            <a:endParaRPr kumimoji="0" lang="zh-CN" altLang="en-US" sz="1200" b="0" i="0" u="none" strike="noStrike" kern="1200" cap="none" spc="0" normalizeH="0" baseline="0" noProof="0" dirty="0">
              <a:ln>
                <a:noFill/>
              </a:ln>
              <a:solidFill>
                <a:srgbClr val="0042FF"/>
              </a:solidFill>
              <a:effectLst/>
              <a:uLnTx/>
              <a:uFillTx/>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9" name="组合 8"/>
          <p:cNvGrpSpPr/>
          <p:nvPr/>
        </p:nvGrpSpPr>
        <p:grpSpPr>
          <a:xfrm>
            <a:off x="8738235" y="348615"/>
            <a:ext cx="3219450" cy="332740"/>
            <a:chOff x="13761" y="549"/>
            <a:chExt cx="5070" cy="524"/>
          </a:xfrm>
        </p:grpSpPr>
        <p:pic>
          <p:nvPicPr>
            <p:cNvPr id="11" name="图片 10"/>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bject 5"/>
          <p:cNvSpPr/>
          <p:nvPr/>
        </p:nvSpPr>
        <p:spPr>
          <a:xfrm>
            <a:off x="4731335" y="2616433"/>
            <a:ext cx="3117478" cy="3117241"/>
          </a:xfrm>
          <a:prstGeom prst="ellipse">
            <a:avLst/>
          </a:prstGeom>
          <a:solidFill>
            <a:srgbClr val="3368FF">
              <a:alpha val="1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cxnSp>
        <p:nvCxnSpPr>
          <p:cNvPr id="227" name="直接连接符 226"/>
          <p:cNvCxnSpPr>
            <a:stCxn id="186" idx="6"/>
          </p:cNvCxnSpPr>
          <p:nvPr/>
        </p:nvCxnSpPr>
        <p:spPr>
          <a:xfrm>
            <a:off x="4776470" y="4191000"/>
            <a:ext cx="3011805" cy="0"/>
          </a:xfrm>
          <a:prstGeom prst="line">
            <a:avLst/>
          </a:prstGeom>
          <a:ln>
            <a:solidFill>
              <a:srgbClr val="3368FF"/>
            </a:solidFill>
          </a:ln>
        </p:spPr>
        <p:style>
          <a:lnRef idx="2">
            <a:srgbClr val="0042FF"/>
          </a:lnRef>
          <a:fillRef idx="0">
            <a:srgbClr val="FFFFFF"/>
          </a:fillRef>
          <a:effectRef idx="0">
            <a:srgbClr val="FFFFFF"/>
          </a:effectRef>
          <a:fontRef idx="minor">
            <a:srgbClr val="383838"/>
          </a:fontRef>
        </p:style>
      </p:cxn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业务流程架构 | </a:t>
            </a:r>
            <a:r>
              <a:rPr sz="2500">
                <a:solidFill>
                  <a:srgbClr val="383838"/>
                </a:solidFill>
                <a:effectLst/>
                <a:latin typeface="微软雅黑"/>
                <a:ea typeface="微软雅黑"/>
                <a:cs typeface="微软雅黑"/>
                <a:sym typeface="微软雅黑"/>
              </a:rPr>
              <a:t>产品经理需求设计思路</a:t>
            </a:r>
            <a:endParaRPr sz="2500">
              <a:solidFill>
                <a:srgbClr val="383838"/>
              </a:solidFill>
              <a:effectLst/>
              <a:latin typeface="微软雅黑"/>
              <a:ea typeface="微软雅黑"/>
              <a:cs typeface="微软雅黑"/>
              <a:sym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Object 3"/>
          <p:cNvSpPr/>
          <p:nvPr/>
        </p:nvSpPr>
        <p:spPr>
          <a:xfrm>
            <a:off x="1612639" y="2616433"/>
            <a:ext cx="3117478" cy="3117241"/>
          </a:xfrm>
          <a:prstGeom prst="ellipse">
            <a:avLst/>
          </a:prstGeom>
          <a:solidFill>
            <a:srgbClr val="0042FF">
              <a:alpha val="5000"/>
            </a:srgbClr>
          </a:solidFill>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3" name="Object 6"/>
          <p:cNvSpPr/>
          <p:nvPr/>
        </p:nvSpPr>
        <p:spPr>
          <a:xfrm>
            <a:off x="7873365" y="4191000"/>
            <a:ext cx="3098800" cy="635"/>
          </a:xfrm>
          <a:prstGeom prst="line">
            <a:avLst/>
          </a:prstGeom>
          <a:solidFill>
            <a:srgbClr val="FFFFFF">
              <a:alpha val="0"/>
            </a:srgbClr>
          </a:solidFill>
          <a:ln w="12700">
            <a:solidFill>
              <a:srgbClr val="3368FF"/>
            </a:solidFill>
            <a:prstDash val="solid"/>
            <a:tailEnd type="arrow" w="med" len="sm"/>
          </a:ln>
        </p:spPr>
        <p:txBody>
          <a:bodyPr wrap="none"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8" name="Object 10"/>
          <p:cNvSpPr/>
          <p:nvPr/>
        </p:nvSpPr>
        <p:spPr>
          <a:xfrm>
            <a:off x="717750" y="4076311"/>
            <a:ext cx="457197" cy="228342"/>
          </a:xfrm>
          <a:prstGeom prst="rect">
            <a:avLst/>
          </a:prstGeom>
          <a:noFill/>
        </p:spPr>
        <p:txBody>
          <a:bodyPr wrap="none" lIns="0" tIns="0" rIns="0" bIns="0" rtlCol="0" anchor="ctr"/>
          <a:lstStyle/>
          <a:p>
            <a:pPr algn="ctr">
              <a:defRPr>
                <a:latin typeface="微软雅黑"/>
                <a:ea typeface="微软雅黑"/>
                <a:cs typeface="微软雅黑"/>
              </a:defRPr>
            </a:pPr>
            <a:r>
              <a:rPr lang="en-US" sz="2000" b="1" kern="0" dirty="0">
                <a:solidFill>
                  <a:srgbClr val="0042FF"/>
                </a:solidFill>
                <a:latin typeface="微软雅黑"/>
                <a:ea typeface="微软雅黑"/>
                <a:cs typeface="微软雅黑"/>
              </a:rPr>
              <a:t>需求</a:t>
            </a:r>
            <a:endParaRPr lang="en-US" sz="2000" b="1" kern="0" dirty="0">
              <a:solidFill>
                <a:srgbClr val="0042FF"/>
              </a:solidFill>
              <a:latin typeface="微软雅黑"/>
              <a:ea typeface="微软雅黑"/>
              <a:cs typeface="微软雅黑"/>
            </a:endParaRPr>
          </a:p>
        </p:txBody>
      </p:sp>
      <p:sp>
        <p:nvSpPr>
          <p:cNvPr id="19" name="Object 11"/>
          <p:cNvSpPr/>
          <p:nvPr/>
        </p:nvSpPr>
        <p:spPr>
          <a:xfrm>
            <a:off x="11182089" y="4076311"/>
            <a:ext cx="457197" cy="228342"/>
          </a:xfrm>
          <a:prstGeom prst="rect">
            <a:avLst/>
          </a:prstGeom>
          <a:noFill/>
        </p:spPr>
        <p:txBody>
          <a:bodyPr wrap="none" lIns="0" tIns="0" rIns="0" bIns="0" rtlCol="0" anchor="ctr"/>
          <a:lstStyle/>
          <a:p>
            <a:pPr algn="ctr">
              <a:defRPr>
                <a:latin typeface="微软雅黑"/>
                <a:ea typeface="微软雅黑"/>
                <a:cs typeface="微软雅黑"/>
              </a:defRPr>
            </a:pPr>
            <a:r>
              <a:rPr lang="en-US" sz="2000" b="1" kern="0" dirty="0">
                <a:solidFill>
                  <a:srgbClr val="0042FF"/>
                </a:solidFill>
                <a:latin typeface="微软雅黑"/>
                <a:ea typeface="微软雅黑"/>
                <a:cs typeface="微软雅黑"/>
              </a:rPr>
              <a:t>方案</a:t>
            </a:r>
            <a:endParaRPr lang="en-US" sz="2000" b="1" kern="0" dirty="0">
              <a:solidFill>
                <a:srgbClr val="0042FF"/>
              </a:solidFill>
              <a:latin typeface="微软雅黑"/>
              <a:ea typeface="微软雅黑"/>
              <a:cs typeface="微软雅黑"/>
            </a:endParaRPr>
          </a:p>
        </p:txBody>
      </p:sp>
      <p:sp>
        <p:nvSpPr>
          <p:cNvPr id="20" name="Object 13"/>
          <p:cNvSpPr/>
          <p:nvPr/>
        </p:nvSpPr>
        <p:spPr>
          <a:xfrm>
            <a:off x="2564828" y="1562496"/>
            <a:ext cx="1263085" cy="362055"/>
          </a:xfrm>
          <a:prstGeom prst="roundRect">
            <a:avLst>
              <a:gd name="adj" fmla="val 13889"/>
            </a:avLst>
          </a:prstGeom>
          <a:solidFill>
            <a:srgbClr val="0042FF"/>
          </a:solidFill>
          <a:ln w="12700">
            <a:noFill/>
            <a:prstDash val="solid"/>
          </a:ln>
          <a:effectLst>
            <a:outerShdw blurRad="444500" dist="127000" dir="5400000" algn="t" rotWithShape="0">
              <a:srgbClr val="FFFFFF">
                <a:alpha val="10000"/>
              </a:srgbClr>
            </a:outerShdw>
          </a:effectLst>
        </p:spPr>
        <p:txBody>
          <a:bodyPr wrap="none">
            <a:noAutofit/>
          </a:bodyPr>
          <a:lstStyle/>
          <a:p>
            <a:pPr lvl="0" algn="ctr">
              <a:buClrTx/>
              <a:buSzTx/>
              <a:buFontTx/>
              <a:defRPr>
                <a:solidFill>
                  <a:srgbClr val="FFFFFF"/>
                </a:solidFill>
                <a:latin typeface="微软雅黑"/>
                <a:ea typeface="微软雅黑"/>
                <a:cs typeface="微软雅黑"/>
              </a:defRPr>
            </a:pPr>
            <a:endParaRPr lang="zh-CN" altLang="en-US" sz="1400">
              <a:solidFill>
                <a:srgbClr val="FFFFFF"/>
              </a:solidFill>
              <a:latin typeface="微软雅黑"/>
              <a:ea typeface="微软雅黑"/>
              <a:cs typeface="微软雅黑"/>
              <a:sym typeface="微软雅黑"/>
            </a:endParaRPr>
          </a:p>
        </p:txBody>
      </p:sp>
      <p:sp>
        <p:nvSpPr>
          <p:cNvPr id="21" name="Object 14"/>
          <p:cNvSpPr/>
          <p:nvPr/>
        </p:nvSpPr>
        <p:spPr>
          <a:xfrm>
            <a:off x="2840975" y="1625924"/>
            <a:ext cx="710790" cy="235199"/>
          </a:xfrm>
          <a:prstGeom prst="rect">
            <a:avLst/>
          </a:prstGeom>
          <a:noFill/>
        </p:spPr>
        <p:txBody>
          <a:bodyPr wrap="none" lIns="0" tIns="0" rIns="0" bIns="0" rtlCol="0" anchor="ctr"/>
          <a:lstStyle/>
          <a:p>
            <a:pPr algn="ctr">
              <a:lnSpc>
                <a:spcPts val="1850"/>
              </a:lnSpc>
              <a:defRPr>
                <a:solidFill>
                  <a:srgbClr val="FFFFFF"/>
                </a:solidFill>
                <a:latin typeface="微软雅黑"/>
                <a:ea typeface="微软雅黑"/>
                <a:cs typeface="微软雅黑"/>
              </a:defRPr>
            </a:pPr>
            <a:r>
              <a:rPr lang="en-US" sz="1400" b="1" dirty="0" err="1">
                <a:solidFill>
                  <a:srgbClr val="FFFFFF"/>
                </a:solidFill>
                <a:latin typeface="微软雅黑"/>
                <a:ea typeface="微软雅黑"/>
                <a:cs typeface="微软雅黑"/>
              </a:rPr>
              <a:t>好的质量</a:t>
            </a:r>
            <a:endParaRPr lang="en-US" sz="1400" b="1" dirty="0" err="1">
              <a:solidFill>
                <a:srgbClr val="FFFFFF"/>
              </a:solidFill>
              <a:latin typeface="微软雅黑"/>
              <a:ea typeface="微软雅黑"/>
              <a:cs typeface="微软雅黑"/>
            </a:endParaRPr>
          </a:p>
        </p:txBody>
      </p:sp>
      <p:sp>
        <p:nvSpPr>
          <p:cNvPr id="37" name="Object 15"/>
          <p:cNvSpPr/>
          <p:nvPr/>
        </p:nvSpPr>
        <p:spPr>
          <a:xfrm>
            <a:off x="2203947" y="2051407"/>
            <a:ext cx="609597" cy="202971"/>
          </a:xfrm>
          <a:prstGeom prst="rect">
            <a:avLst/>
          </a:prstGeom>
          <a:noFill/>
        </p:spPr>
        <p:txBody>
          <a:bodyPr wrap="none" lIns="0" tIns="0" rIns="0" bIns="0" rtlCol="0" anchor="ctr">
            <a:noAutofit/>
          </a:bodyPr>
          <a:lstStyle/>
          <a:p>
            <a:pPr lvl="0" algn="ctr">
              <a:lnSpc>
                <a:spcPts val="1600"/>
              </a:lnSpc>
              <a:buClrTx/>
              <a:buSzTx/>
              <a:buFontTx/>
              <a:defRPr>
                <a:latin typeface="微软雅黑"/>
                <a:ea typeface="微软雅黑"/>
                <a:cs typeface="微软雅黑"/>
              </a:defRPr>
            </a:pPr>
            <a:r>
              <a:rPr lang="en-US" sz="1400" b="1" dirty="0" err="1">
                <a:solidFill>
                  <a:srgbClr val="0042FF"/>
                </a:solidFill>
                <a:latin typeface="微软雅黑"/>
                <a:ea typeface="微软雅黑"/>
                <a:cs typeface="微软雅黑"/>
                <a:sym typeface="微软雅黑"/>
              </a:rPr>
              <a:t>发现问题</a:t>
            </a:r>
            <a:endParaRPr lang="en-US" sz="1400" b="1" dirty="0" err="1">
              <a:solidFill>
                <a:srgbClr val="0042FF"/>
              </a:solidFill>
              <a:latin typeface="微软雅黑"/>
              <a:ea typeface="微软雅黑"/>
              <a:cs typeface="微软雅黑"/>
              <a:sym typeface="微软雅黑"/>
            </a:endParaRPr>
          </a:p>
        </p:txBody>
      </p:sp>
      <p:sp>
        <p:nvSpPr>
          <p:cNvPr id="38" name="Object 16"/>
          <p:cNvSpPr/>
          <p:nvPr/>
        </p:nvSpPr>
        <p:spPr>
          <a:xfrm>
            <a:off x="2146645" y="5981601"/>
            <a:ext cx="730297" cy="202971"/>
          </a:xfrm>
          <a:prstGeom prst="rect">
            <a:avLst/>
          </a:prstGeom>
          <a:noFill/>
        </p:spPr>
        <p:txBody>
          <a:bodyPr wrap="none" lIns="0" tIns="0" rIns="0" bIns="0" rtlCol="0" anchor="ctr"/>
          <a:lstStyle/>
          <a:p>
            <a:pPr algn="ctr">
              <a:lnSpc>
                <a:spcPts val="1600"/>
              </a:lnSpc>
              <a:defRPr>
                <a:latin typeface="微软雅黑"/>
                <a:ea typeface="微软雅黑"/>
                <a:cs typeface="微软雅黑"/>
              </a:defRPr>
            </a:pPr>
            <a:r>
              <a:rPr lang="en-US" sz="1200" b="1" dirty="0" err="1">
                <a:solidFill>
                  <a:srgbClr val="0042FF"/>
                </a:solidFill>
                <a:latin typeface="微软雅黑"/>
                <a:ea typeface="微软雅黑"/>
                <a:cs typeface="微软雅黑"/>
              </a:rPr>
              <a:t>质疑&amp;调研</a:t>
            </a:r>
            <a:endParaRPr lang="en-US" sz="1200" b="1" dirty="0" err="1">
              <a:solidFill>
                <a:srgbClr val="0042FF"/>
              </a:solidFill>
              <a:latin typeface="微软雅黑"/>
              <a:ea typeface="微软雅黑"/>
              <a:cs typeface="微软雅黑"/>
            </a:endParaRPr>
          </a:p>
        </p:txBody>
      </p:sp>
      <p:sp>
        <p:nvSpPr>
          <p:cNvPr id="39" name="Object 17"/>
          <p:cNvSpPr/>
          <p:nvPr/>
        </p:nvSpPr>
        <p:spPr>
          <a:xfrm>
            <a:off x="1771134" y="2654147"/>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000" b="1" dirty="0" err="1">
                <a:solidFill>
                  <a:srgbClr val="383838"/>
                </a:solidFill>
                <a:latin typeface="微软雅黑"/>
                <a:ea typeface="微软雅黑"/>
                <a:cs typeface="微软雅黑"/>
              </a:rPr>
              <a:t>发散</a:t>
            </a:r>
            <a:endParaRPr lang="en-US" sz="1000" b="1" dirty="0" err="1">
              <a:solidFill>
                <a:srgbClr val="383838"/>
              </a:solidFill>
              <a:latin typeface="微软雅黑"/>
              <a:ea typeface="微软雅黑"/>
              <a:cs typeface="微软雅黑"/>
            </a:endParaRPr>
          </a:p>
        </p:txBody>
      </p:sp>
      <p:sp>
        <p:nvSpPr>
          <p:cNvPr id="105" name="Object 18"/>
          <p:cNvSpPr/>
          <p:nvPr/>
        </p:nvSpPr>
        <p:spPr>
          <a:xfrm>
            <a:off x="1686560" y="4282440"/>
            <a:ext cx="338455" cy="171450"/>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000" b="1" dirty="0" err="1">
                <a:solidFill>
                  <a:srgbClr val="0042FF"/>
                </a:solidFill>
                <a:latin typeface="微软雅黑"/>
                <a:ea typeface="微软雅黑"/>
                <a:cs typeface="微软雅黑"/>
              </a:rPr>
              <a:t>战略</a:t>
            </a:r>
            <a:endParaRPr lang="en-US" sz="1000" b="1" dirty="0" err="1">
              <a:solidFill>
                <a:srgbClr val="0042FF"/>
              </a:solidFill>
              <a:latin typeface="微软雅黑"/>
              <a:ea typeface="微软雅黑"/>
              <a:cs typeface="微软雅黑"/>
            </a:endParaRPr>
          </a:p>
        </p:txBody>
      </p:sp>
      <p:sp>
        <p:nvSpPr>
          <p:cNvPr id="107" name="Object 19"/>
          <p:cNvSpPr/>
          <p:nvPr/>
        </p:nvSpPr>
        <p:spPr>
          <a:xfrm>
            <a:off x="4329430" y="4282440"/>
            <a:ext cx="400685" cy="171450"/>
          </a:xfrm>
          <a:prstGeom prst="rect">
            <a:avLst/>
          </a:prstGeom>
          <a:noFill/>
        </p:spPr>
        <p:txBody>
          <a:bodyPr wrap="none" lIns="0" tIns="0" rIns="0" bIns="0" rtlCol="0" anchor="ctr">
            <a:noAutofit/>
          </a:bodyPr>
          <a:lstStyle/>
          <a:p>
            <a:pPr lvl="0" algn="ctr">
              <a:lnSpc>
                <a:spcPts val="1350"/>
              </a:lnSpc>
              <a:buClrTx/>
              <a:buSzTx/>
              <a:buFontTx/>
              <a:defRPr>
                <a:latin typeface="微软雅黑"/>
                <a:ea typeface="微软雅黑"/>
                <a:cs typeface="微软雅黑"/>
              </a:defRPr>
            </a:pPr>
            <a:r>
              <a:rPr lang="en-US" sz="1000" b="1" dirty="0" err="1">
                <a:solidFill>
                  <a:srgbClr val="0042FF"/>
                </a:solidFill>
                <a:latin typeface="微软雅黑"/>
                <a:ea typeface="微软雅黑"/>
                <a:cs typeface="微软雅黑"/>
                <a:sym typeface="微软雅黑"/>
              </a:rPr>
              <a:t>范围</a:t>
            </a:r>
            <a:endParaRPr lang="en-US" sz="1000" b="1" dirty="0" err="1">
              <a:solidFill>
                <a:srgbClr val="0042FF"/>
              </a:solidFill>
              <a:latin typeface="微软雅黑"/>
              <a:ea typeface="微软雅黑"/>
              <a:cs typeface="微软雅黑"/>
              <a:sym typeface="微软雅黑"/>
            </a:endParaRPr>
          </a:p>
        </p:txBody>
      </p:sp>
      <p:sp>
        <p:nvSpPr>
          <p:cNvPr id="108" name="Object 20"/>
          <p:cNvSpPr/>
          <p:nvPr/>
        </p:nvSpPr>
        <p:spPr>
          <a:xfrm>
            <a:off x="5645731" y="4282440"/>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000" b="1" dirty="0" err="1">
                <a:solidFill>
                  <a:srgbClr val="0042FF"/>
                </a:solidFill>
                <a:latin typeface="微软雅黑"/>
                <a:ea typeface="微软雅黑"/>
                <a:cs typeface="微软雅黑"/>
              </a:rPr>
              <a:t>结构</a:t>
            </a:r>
            <a:endParaRPr lang="en-US" sz="1000" b="1" dirty="0" err="1">
              <a:solidFill>
                <a:srgbClr val="0042FF"/>
              </a:solidFill>
              <a:latin typeface="微软雅黑"/>
              <a:ea typeface="微软雅黑"/>
              <a:cs typeface="微软雅黑"/>
            </a:endParaRPr>
          </a:p>
        </p:txBody>
      </p:sp>
      <p:sp>
        <p:nvSpPr>
          <p:cNvPr id="111" name="Object 21"/>
          <p:cNvSpPr/>
          <p:nvPr/>
        </p:nvSpPr>
        <p:spPr>
          <a:xfrm>
            <a:off x="6686923" y="4282440"/>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000" b="1" dirty="0" err="1">
                <a:solidFill>
                  <a:srgbClr val="0042FF"/>
                </a:solidFill>
                <a:latin typeface="微软雅黑"/>
                <a:ea typeface="微软雅黑"/>
                <a:cs typeface="微软雅黑"/>
              </a:rPr>
              <a:t>框架</a:t>
            </a:r>
            <a:endParaRPr lang="en-US" sz="1000" b="1" dirty="0" err="1">
              <a:solidFill>
                <a:srgbClr val="0042FF"/>
              </a:solidFill>
              <a:latin typeface="微软雅黑"/>
              <a:ea typeface="微软雅黑"/>
              <a:cs typeface="微软雅黑"/>
            </a:endParaRPr>
          </a:p>
        </p:txBody>
      </p:sp>
      <p:sp>
        <p:nvSpPr>
          <p:cNvPr id="112" name="Object 22"/>
          <p:cNvSpPr/>
          <p:nvPr/>
        </p:nvSpPr>
        <p:spPr>
          <a:xfrm>
            <a:off x="7893773" y="4305131"/>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200" b="1" dirty="0" err="1">
                <a:solidFill>
                  <a:srgbClr val="0042FF"/>
                </a:solidFill>
                <a:latin typeface="微软雅黑"/>
                <a:ea typeface="微软雅黑"/>
                <a:cs typeface="微软雅黑"/>
              </a:rPr>
              <a:t>表现</a:t>
            </a:r>
            <a:endParaRPr lang="en-US" sz="1200" b="1" dirty="0" err="1">
              <a:solidFill>
                <a:srgbClr val="0042FF"/>
              </a:solidFill>
              <a:latin typeface="微软雅黑"/>
              <a:ea typeface="微软雅黑"/>
              <a:cs typeface="微软雅黑"/>
            </a:endParaRPr>
          </a:p>
        </p:txBody>
      </p:sp>
      <p:sp>
        <p:nvSpPr>
          <p:cNvPr id="113" name="Object 23"/>
          <p:cNvSpPr/>
          <p:nvPr/>
        </p:nvSpPr>
        <p:spPr>
          <a:xfrm>
            <a:off x="9200900" y="4305131"/>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200" b="1" dirty="0" err="1">
                <a:solidFill>
                  <a:srgbClr val="0042FF"/>
                </a:solidFill>
                <a:latin typeface="微软雅黑"/>
                <a:ea typeface="微软雅黑"/>
                <a:cs typeface="微软雅黑"/>
              </a:rPr>
              <a:t>研发</a:t>
            </a:r>
            <a:endParaRPr lang="en-US" sz="1200" b="1" dirty="0" err="1">
              <a:solidFill>
                <a:srgbClr val="0042FF"/>
              </a:solidFill>
              <a:latin typeface="微软雅黑"/>
              <a:ea typeface="微软雅黑"/>
              <a:cs typeface="微软雅黑"/>
            </a:endParaRPr>
          </a:p>
        </p:txBody>
      </p:sp>
      <p:sp>
        <p:nvSpPr>
          <p:cNvPr id="114" name="Object 24"/>
          <p:cNvSpPr/>
          <p:nvPr/>
        </p:nvSpPr>
        <p:spPr>
          <a:xfrm>
            <a:off x="10344504" y="4305131"/>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200" b="1" dirty="0" err="1">
                <a:solidFill>
                  <a:srgbClr val="0042FF"/>
                </a:solidFill>
                <a:latin typeface="微软雅黑"/>
                <a:ea typeface="微软雅黑"/>
                <a:cs typeface="微软雅黑"/>
              </a:rPr>
              <a:t>测试</a:t>
            </a:r>
            <a:endParaRPr lang="en-US" sz="1200" b="1" dirty="0" err="1">
              <a:solidFill>
                <a:srgbClr val="0042FF"/>
              </a:solidFill>
              <a:latin typeface="微软雅黑"/>
              <a:ea typeface="微软雅黑"/>
              <a:cs typeface="微软雅黑"/>
            </a:endParaRPr>
          </a:p>
        </p:txBody>
      </p:sp>
      <p:sp>
        <p:nvSpPr>
          <p:cNvPr id="115" name="Object 25"/>
          <p:cNvSpPr/>
          <p:nvPr/>
        </p:nvSpPr>
        <p:spPr>
          <a:xfrm>
            <a:off x="4819118" y="2654147"/>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000" b="1" dirty="0" err="1">
                <a:solidFill>
                  <a:srgbClr val="383838"/>
                </a:solidFill>
                <a:latin typeface="微软雅黑"/>
                <a:ea typeface="微软雅黑"/>
                <a:cs typeface="微软雅黑"/>
              </a:rPr>
              <a:t>发散</a:t>
            </a:r>
            <a:endParaRPr lang="en-US" sz="1000" b="1" dirty="0" err="1">
              <a:solidFill>
                <a:srgbClr val="383838"/>
              </a:solidFill>
              <a:latin typeface="微软雅黑"/>
              <a:ea typeface="微软雅黑"/>
              <a:cs typeface="微软雅黑"/>
            </a:endParaRPr>
          </a:p>
        </p:txBody>
      </p:sp>
      <p:sp>
        <p:nvSpPr>
          <p:cNvPr id="116" name="Object 26"/>
          <p:cNvSpPr/>
          <p:nvPr/>
        </p:nvSpPr>
        <p:spPr>
          <a:xfrm>
            <a:off x="4387524" y="2654147"/>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000" b="1" dirty="0" err="1">
                <a:solidFill>
                  <a:srgbClr val="383838"/>
                </a:solidFill>
                <a:latin typeface="微软雅黑"/>
                <a:ea typeface="微软雅黑"/>
                <a:cs typeface="微软雅黑"/>
              </a:rPr>
              <a:t>收拢</a:t>
            </a:r>
            <a:endParaRPr lang="en-US" sz="1000" b="1" dirty="0" err="1">
              <a:solidFill>
                <a:srgbClr val="383838"/>
              </a:solidFill>
              <a:latin typeface="微软雅黑"/>
              <a:ea typeface="微软雅黑"/>
              <a:cs typeface="微软雅黑"/>
            </a:endParaRPr>
          </a:p>
        </p:txBody>
      </p:sp>
      <p:sp>
        <p:nvSpPr>
          <p:cNvPr id="117" name="Object 27"/>
          <p:cNvSpPr/>
          <p:nvPr/>
        </p:nvSpPr>
        <p:spPr>
          <a:xfrm>
            <a:off x="7524509" y="2654147"/>
            <a:ext cx="253592" cy="171428"/>
          </a:xfrm>
          <a:prstGeom prst="rect">
            <a:avLst/>
          </a:prstGeom>
          <a:noFill/>
        </p:spPr>
        <p:txBody>
          <a:bodyPr wrap="none" lIns="0" tIns="0" rIns="0" bIns="0" rtlCol="0" anchor="ctr"/>
          <a:lstStyle/>
          <a:p>
            <a:pPr algn="ctr">
              <a:lnSpc>
                <a:spcPts val="1350"/>
              </a:lnSpc>
              <a:defRPr>
                <a:latin typeface="微软雅黑"/>
                <a:ea typeface="微软雅黑"/>
                <a:cs typeface="微软雅黑"/>
              </a:defRPr>
            </a:pPr>
            <a:r>
              <a:rPr lang="en-US" sz="1000" b="1" dirty="0" err="1">
                <a:solidFill>
                  <a:srgbClr val="383838"/>
                </a:solidFill>
                <a:latin typeface="微软雅黑"/>
                <a:ea typeface="微软雅黑"/>
                <a:cs typeface="微软雅黑"/>
              </a:rPr>
              <a:t>收拢</a:t>
            </a:r>
            <a:endParaRPr lang="en-US" sz="1000" b="1" dirty="0" err="1">
              <a:solidFill>
                <a:srgbClr val="383838"/>
              </a:solidFill>
              <a:latin typeface="微软雅黑"/>
              <a:ea typeface="微软雅黑"/>
              <a:cs typeface="微软雅黑"/>
            </a:endParaRPr>
          </a:p>
        </p:txBody>
      </p:sp>
      <p:sp>
        <p:nvSpPr>
          <p:cNvPr id="118" name="Object 28"/>
          <p:cNvSpPr/>
          <p:nvPr/>
        </p:nvSpPr>
        <p:spPr>
          <a:xfrm>
            <a:off x="5456515" y="2051407"/>
            <a:ext cx="609597" cy="202971"/>
          </a:xfrm>
          <a:prstGeom prst="rect">
            <a:avLst/>
          </a:prstGeom>
          <a:noFill/>
        </p:spPr>
        <p:txBody>
          <a:bodyPr wrap="none" lIns="0" tIns="0" rIns="0" bIns="0" rtlCol="0" anchor="ctr">
            <a:noAutofit/>
          </a:bodyPr>
          <a:lstStyle/>
          <a:p>
            <a:pPr lvl="0" algn="ctr">
              <a:lnSpc>
                <a:spcPts val="1600"/>
              </a:lnSpc>
              <a:buClrTx/>
              <a:buSzTx/>
              <a:buFontTx/>
              <a:defRPr>
                <a:latin typeface="微软雅黑"/>
                <a:ea typeface="微软雅黑"/>
                <a:cs typeface="微软雅黑"/>
              </a:defRPr>
            </a:pPr>
            <a:r>
              <a:rPr lang="en-US" sz="1400" b="1" dirty="0" err="1">
                <a:solidFill>
                  <a:srgbClr val="0042FF"/>
                </a:solidFill>
                <a:latin typeface="微软雅黑"/>
                <a:ea typeface="微软雅黑"/>
                <a:cs typeface="微软雅黑"/>
                <a:sym typeface="微软雅黑"/>
              </a:rPr>
              <a:t>构思方案</a:t>
            </a:r>
            <a:endParaRPr lang="en-US" sz="1400" b="1" dirty="0" err="1">
              <a:solidFill>
                <a:srgbClr val="0042FF"/>
              </a:solidFill>
              <a:latin typeface="微软雅黑"/>
              <a:ea typeface="微软雅黑"/>
              <a:cs typeface="微软雅黑"/>
              <a:sym typeface="微软雅黑"/>
            </a:endParaRPr>
          </a:p>
        </p:txBody>
      </p:sp>
      <p:sp>
        <p:nvSpPr>
          <p:cNvPr id="119" name="Object 29"/>
          <p:cNvSpPr/>
          <p:nvPr/>
        </p:nvSpPr>
        <p:spPr>
          <a:xfrm>
            <a:off x="5393117" y="5981601"/>
            <a:ext cx="736393" cy="202971"/>
          </a:xfrm>
          <a:prstGeom prst="rect">
            <a:avLst/>
          </a:prstGeom>
          <a:noFill/>
        </p:spPr>
        <p:txBody>
          <a:bodyPr wrap="none" lIns="0" tIns="0" rIns="0" bIns="0" rtlCol="0" anchor="ctr">
            <a:noAutofit/>
          </a:bodyPr>
          <a:lstStyle/>
          <a:p>
            <a:pPr lvl="0" algn="ctr">
              <a:lnSpc>
                <a:spcPts val="1600"/>
              </a:lnSpc>
              <a:buClrTx/>
              <a:buSzTx/>
              <a:buFontTx/>
              <a:defRPr>
                <a:latin typeface="微软雅黑"/>
                <a:ea typeface="微软雅黑"/>
                <a:cs typeface="微软雅黑"/>
              </a:defRPr>
            </a:pPr>
            <a:r>
              <a:rPr lang="en-US" sz="1400" b="1" dirty="0" err="1">
                <a:solidFill>
                  <a:srgbClr val="0042FF"/>
                </a:solidFill>
                <a:latin typeface="微软雅黑"/>
                <a:ea typeface="微软雅黑"/>
                <a:cs typeface="微软雅黑"/>
                <a:sym typeface="微软雅黑"/>
              </a:rPr>
              <a:t>发散&amp;构思</a:t>
            </a:r>
            <a:endParaRPr lang="en-US" sz="1400" b="1" dirty="0" err="1">
              <a:solidFill>
                <a:srgbClr val="0042FF"/>
              </a:solidFill>
              <a:latin typeface="微软雅黑"/>
              <a:ea typeface="微软雅黑"/>
              <a:cs typeface="微软雅黑"/>
              <a:sym typeface="微软雅黑"/>
            </a:endParaRPr>
          </a:p>
        </p:txBody>
      </p:sp>
      <p:sp>
        <p:nvSpPr>
          <p:cNvPr id="120" name="Object 30"/>
          <p:cNvSpPr/>
          <p:nvPr/>
        </p:nvSpPr>
        <p:spPr>
          <a:xfrm>
            <a:off x="3530430" y="2051407"/>
            <a:ext cx="609597" cy="202971"/>
          </a:xfrm>
          <a:prstGeom prst="rect">
            <a:avLst/>
          </a:prstGeom>
          <a:noFill/>
        </p:spPr>
        <p:txBody>
          <a:bodyPr wrap="none" lIns="0" tIns="0" rIns="0" bIns="0" rtlCol="0" anchor="ctr">
            <a:noAutofit/>
          </a:bodyPr>
          <a:lstStyle/>
          <a:p>
            <a:pPr lvl="0" algn="ctr">
              <a:lnSpc>
                <a:spcPts val="1600"/>
              </a:lnSpc>
              <a:buClrTx/>
              <a:buSzTx/>
              <a:buFontTx/>
              <a:defRPr>
                <a:latin typeface="微软雅黑"/>
                <a:ea typeface="微软雅黑"/>
                <a:cs typeface="微软雅黑"/>
              </a:defRPr>
            </a:pPr>
            <a:r>
              <a:rPr lang="en-US" sz="1400" b="1" dirty="0" err="1">
                <a:solidFill>
                  <a:srgbClr val="0042FF"/>
                </a:solidFill>
                <a:latin typeface="微软雅黑"/>
                <a:ea typeface="微软雅黑"/>
                <a:cs typeface="微软雅黑"/>
                <a:sym typeface="微软雅黑"/>
              </a:rPr>
              <a:t>定义问题</a:t>
            </a:r>
            <a:endParaRPr lang="en-US" sz="1400" b="1" dirty="0" err="1">
              <a:solidFill>
                <a:srgbClr val="0042FF"/>
              </a:solidFill>
              <a:latin typeface="微软雅黑"/>
              <a:ea typeface="微软雅黑"/>
              <a:cs typeface="微软雅黑"/>
              <a:sym typeface="微软雅黑"/>
            </a:endParaRPr>
          </a:p>
        </p:txBody>
      </p:sp>
      <p:sp>
        <p:nvSpPr>
          <p:cNvPr id="121" name="Object 31"/>
          <p:cNvSpPr/>
          <p:nvPr/>
        </p:nvSpPr>
        <p:spPr>
          <a:xfrm>
            <a:off x="3467032" y="5981601"/>
            <a:ext cx="730297" cy="202971"/>
          </a:xfrm>
          <a:prstGeom prst="rect">
            <a:avLst/>
          </a:prstGeom>
          <a:noFill/>
        </p:spPr>
        <p:txBody>
          <a:bodyPr wrap="none" lIns="0" tIns="0" rIns="0" bIns="0" rtlCol="0" anchor="ctr"/>
          <a:lstStyle/>
          <a:p>
            <a:pPr algn="ctr">
              <a:lnSpc>
                <a:spcPts val="1600"/>
              </a:lnSpc>
              <a:defRPr>
                <a:latin typeface="微软雅黑"/>
                <a:ea typeface="微软雅黑"/>
                <a:cs typeface="微软雅黑"/>
              </a:defRPr>
            </a:pPr>
            <a:r>
              <a:rPr lang="en-US" sz="1200" b="1" dirty="0" err="1">
                <a:solidFill>
                  <a:srgbClr val="0042FF"/>
                </a:solidFill>
                <a:latin typeface="微软雅黑"/>
                <a:ea typeface="微软雅黑"/>
                <a:cs typeface="微软雅黑"/>
              </a:rPr>
              <a:t>思考&amp;总结</a:t>
            </a:r>
            <a:endParaRPr lang="en-US" sz="1200" b="1" dirty="0" err="1">
              <a:solidFill>
                <a:srgbClr val="0042FF"/>
              </a:solidFill>
              <a:latin typeface="微软雅黑"/>
              <a:ea typeface="微软雅黑"/>
              <a:cs typeface="微软雅黑"/>
            </a:endParaRPr>
          </a:p>
        </p:txBody>
      </p:sp>
      <p:sp>
        <p:nvSpPr>
          <p:cNvPr id="122" name="Object 32"/>
          <p:cNvSpPr/>
          <p:nvPr/>
        </p:nvSpPr>
        <p:spPr>
          <a:xfrm>
            <a:off x="6522267" y="2051407"/>
            <a:ext cx="609597" cy="202971"/>
          </a:xfrm>
          <a:prstGeom prst="rect">
            <a:avLst/>
          </a:prstGeom>
          <a:noFill/>
        </p:spPr>
        <p:txBody>
          <a:bodyPr wrap="none" lIns="0" tIns="0" rIns="0" bIns="0" rtlCol="0" anchor="ctr">
            <a:noAutofit/>
          </a:bodyPr>
          <a:lstStyle/>
          <a:p>
            <a:pPr lvl="0" algn="ctr">
              <a:lnSpc>
                <a:spcPts val="1600"/>
              </a:lnSpc>
              <a:buClrTx/>
              <a:buSzTx/>
              <a:buFontTx/>
              <a:defRPr>
                <a:latin typeface="微软雅黑"/>
                <a:ea typeface="微软雅黑"/>
                <a:cs typeface="微软雅黑"/>
              </a:defRPr>
            </a:pPr>
            <a:r>
              <a:rPr lang="en-US" sz="1400" b="1" dirty="0" err="1">
                <a:solidFill>
                  <a:srgbClr val="0042FF"/>
                </a:solidFill>
                <a:latin typeface="微软雅黑"/>
                <a:ea typeface="微软雅黑"/>
                <a:cs typeface="微软雅黑"/>
                <a:sym typeface="微软雅黑"/>
              </a:rPr>
              <a:t>交付方案</a:t>
            </a:r>
            <a:endParaRPr lang="en-US" sz="1400" b="1" dirty="0" err="1">
              <a:solidFill>
                <a:srgbClr val="0042FF"/>
              </a:solidFill>
              <a:latin typeface="微软雅黑"/>
              <a:ea typeface="微软雅黑"/>
              <a:cs typeface="微软雅黑"/>
              <a:sym typeface="微软雅黑"/>
            </a:endParaRPr>
          </a:p>
        </p:txBody>
      </p:sp>
      <p:sp>
        <p:nvSpPr>
          <p:cNvPr id="123" name="Object 33"/>
          <p:cNvSpPr/>
          <p:nvPr/>
        </p:nvSpPr>
        <p:spPr>
          <a:xfrm>
            <a:off x="6458869" y="5981601"/>
            <a:ext cx="736393" cy="202971"/>
          </a:xfrm>
          <a:prstGeom prst="rect">
            <a:avLst/>
          </a:prstGeom>
          <a:noFill/>
        </p:spPr>
        <p:txBody>
          <a:bodyPr wrap="none" lIns="0" tIns="0" rIns="0" bIns="0" rtlCol="0" anchor="ctr">
            <a:noAutofit/>
          </a:bodyPr>
          <a:lstStyle/>
          <a:p>
            <a:pPr lvl="0" algn="ctr">
              <a:lnSpc>
                <a:spcPts val="1600"/>
              </a:lnSpc>
              <a:buClrTx/>
              <a:buSzTx/>
              <a:buFontTx/>
              <a:defRPr>
                <a:latin typeface="微软雅黑"/>
                <a:ea typeface="微软雅黑"/>
                <a:cs typeface="微软雅黑"/>
              </a:defRPr>
            </a:pPr>
            <a:r>
              <a:rPr lang="en-US" sz="1400" b="1" dirty="0" err="1">
                <a:solidFill>
                  <a:srgbClr val="0042FF"/>
                </a:solidFill>
                <a:latin typeface="微软雅黑"/>
                <a:ea typeface="微软雅黑"/>
                <a:cs typeface="微软雅黑"/>
                <a:sym typeface="微软雅黑"/>
              </a:rPr>
              <a:t>原型&amp;实现</a:t>
            </a:r>
            <a:endParaRPr lang="en-US" sz="1400" b="1" dirty="0" err="1">
              <a:solidFill>
                <a:srgbClr val="0042FF"/>
              </a:solidFill>
              <a:latin typeface="微软雅黑"/>
              <a:ea typeface="微软雅黑"/>
              <a:cs typeface="微软雅黑"/>
              <a:sym typeface="微软雅黑"/>
            </a:endParaRPr>
          </a:p>
        </p:txBody>
      </p:sp>
      <p:sp>
        <p:nvSpPr>
          <p:cNvPr id="124" name="Object 34"/>
          <p:cNvSpPr/>
          <p:nvPr/>
        </p:nvSpPr>
        <p:spPr>
          <a:xfrm>
            <a:off x="9254911" y="5981601"/>
            <a:ext cx="736393" cy="202971"/>
          </a:xfrm>
          <a:prstGeom prst="rect">
            <a:avLst/>
          </a:prstGeom>
          <a:noFill/>
        </p:spPr>
        <p:txBody>
          <a:bodyPr wrap="none" lIns="0" tIns="0" rIns="0" bIns="0" rtlCol="0" anchor="ctr"/>
          <a:lstStyle/>
          <a:p>
            <a:pPr algn="ctr">
              <a:lnSpc>
                <a:spcPts val="1600"/>
              </a:lnSpc>
              <a:defRPr>
                <a:latin typeface="微软雅黑"/>
                <a:ea typeface="微软雅黑"/>
                <a:cs typeface="微软雅黑"/>
              </a:defRPr>
            </a:pPr>
            <a:r>
              <a:rPr lang="en-US" sz="1600" b="1" dirty="0" err="1">
                <a:solidFill>
                  <a:srgbClr val="0042FF"/>
                </a:solidFill>
                <a:latin typeface="微软雅黑"/>
                <a:ea typeface="微软雅黑"/>
                <a:cs typeface="微软雅黑"/>
              </a:rPr>
              <a:t>研发&amp;实现</a:t>
            </a:r>
            <a:endParaRPr lang="en-US" sz="1600" b="1" dirty="0" err="1">
              <a:solidFill>
                <a:srgbClr val="0042FF"/>
              </a:solidFill>
              <a:latin typeface="微软雅黑"/>
              <a:ea typeface="微软雅黑"/>
              <a:cs typeface="微软雅黑"/>
            </a:endParaRPr>
          </a:p>
        </p:txBody>
      </p:sp>
      <p:sp>
        <p:nvSpPr>
          <p:cNvPr id="125" name="Object 35"/>
          <p:cNvSpPr/>
          <p:nvPr/>
        </p:nvSpPr>
        <p:spPr>
          <a:xfrm>
            <a:off x="9318309" y="2051407"/>
            <a:ext cx="609597" cy="202971"/>
          </a:xfrm>
          <a:prstGeom prst="rect">
            <a:avLst/>
          </a:prstGeom>
          <a:noFill/>
        </p:spPr>
        <p:txBody>
          <a:bodyPr wrap="none" lIns="0" tIns="0" rIns="0" bIns="0" rtlCol="0" anchor="ctr"/>
          <a:lstStyle/>
          <a:p>
            <a:pPr algn="ctr">
              <a:lnSpc>
                <a:spcPts val="1600"/>
              </a:lnSpc>
              <a:defRPr>
                <a:latin typeface="微软雅黑"/>
                <a:ea typeface="微软雅黑"/>
                <a:cs typeface="微软雅黑"/>
              </a:defRPr>
            </a:pPr>
            <a:r>
              <a:rPr lang="en-US" sz="1400" b="1" dirty="0" err="1">
                <a:solidFill>
                  <a:srgbClr val="0042FF"/>
                </a:solidFill>
                <a:latin typeface="微软雅黑"/>
                <a:ea typeface="微软雅黑"/>
                <a:cs typeface="微软雅黑"/>
              </a:rPr>
              <a:t>方案落地</a:t>
            </a:r>
            <a:endParaRPr lang="en-US" sz="1400" b="1" dirty="0" err="1">
              <a:solidFill>
                <a:srgbClr val="0042FF"/>
              </a:solidFill>
              <a:latin typeface="微软雅黑"/>
              <a:ea typeface="微软雅黑"/>
              <a:cs typeface="微软雅黑"/>
            </a:endParaRPr>
          </a:p>
        </p:txBody>
      </p:sp>
      <p:sp>
        <p:nvSpPr>
          <p:cNvPr id="126" name="Object 37"/>
          <p:cNvSpPr/>
          <p:nvPr/>
        </p:nvSpPr>
        <p:spPr>
          <a:xfrm>
            <a:off x="5677430" y="1562496"/>
            <a:ext cx="1270400" cy="362055"/>
          </a:xfrm>
          <a:prstGeom prst="roundRect">
            <a:avLst>
              <a:gd name="adj" fmla="val 13889"/>
            </a:avLst>
          </a:prstGeom>
          <a:solidFill>
            <a:srgbClr val="3368FF"/>
          </a:solidFill>
          <a:ln w="12700">
            <a:noFill/>
            <a:prstDash val="solid"/>
          </a:ln>
          <a:effectLst>
            <a:outerShdw blurRad="444500" dist="127000" dir="5400000" algn="t" rotWithShape="0">
              <a:srgbClr val="FFFFFF">
                <a:alpha val="10000"/>
              </a:srgbClr>
            </a:outerShdw>
          </a:effectLst>
        </p:spPr>
        <p:txBody>
          <a:bodyPr wrap="none">
            <a:noAutofit/>
          </a:bodyPr>
          <a:lstStyle/>
          <a:p>
            <a:pPr lvl="0" algn="ctr">
              <a:buClrTx/>
              <a:buSzTx/>
              <a:buFontTx/>
              <a:defRPr>
                <a:solidFill>
                  <a:srgbClr val="FFFFFF"/>
                </a:solidFill>
                <a:latin typeface="微软雅黑"/>
                <a:ea typeface="微软雅黑"/>
                <a:cs typeface="微软雅黑"/>
              </a:defRPr>
            </a:pPr>
            <a:endParaRPr lang="zh-CN" altLang="en-US" sz="1400">
              <a:solidFill>
                <a:srgbClr val="FFFFFF"/>
              </a:solidFill>
              <a:latin typeface="微软雅黑"/>
              <a:ea typeface="微软雅黑"/>
              <a:cs typeface="微软雅黑"/>
              <a:sym typeface="微软雅黑"/>
            </a:endParaRPr>
          </a:p>
        </p:txBody>
      </p:sp>
      <p:sp>
        <p:nvSpPr>
          <p:cNvPr id="127" name="Object 38"/>
          <p:cNvSpPr/>
          <p:nvPr/>
        </p:nvSpPr>
        <p:spPr>
          <a:xfrm>
            <a:off x="5956626" y="1625581"/>
            <a:ext cx="710790" cy="235199"/>
          </a:xfrm>
          <a:prstGeom prst="rect">
            <a:avLst/>
          </a:prstGeom>
          <a:noFill/>
        </p:spPr>
        <p:txBody>
          <a:bodyPr wrap="none" lIns="0" tIns="0" rIns="0" bIns="0" rtlCol="0" anchor="ctr"/>
          <a:lstStyle/>
          <a:p>
            <a:pPr algn="ctr">
              <a:lnSpc>
                <a:spcPts val="1850"/>
              </a:lnSpc>
              <a:defRPr>
                <a:solidFill>
                  <a:srgbClr val="FFFFFF"/>
                </a:solidFill>
                <a:latin typeface="微软雅黑"/>
                <a:ea typeface="微软雅黑"/>
                <a:cs typeface="微软雅黑"/>
              </a:defRPr>
            </a:pPr>
            <a:r>
              <a:rPr lang="en-US" sz="1400" b="1" dirty="0" err="1">
                <a:solidFill>
                  <a:srgbClr val="FFFFFF"/>
                </a:solidFill>
                <a:latin typeface="微软雅黑"/>
                <a:ea typeface="微软雅黑"/>
                <a:cs typeface="微软雅黑"/>
              </a:rPr>
              <a:t>对的方向</a:t>
            </a:r>
            <a:endParaRPr lang="en-US" sz="1400" b="1" dirty="0" err="1">
              <a:solidFill>
                <a:srgbClr val="FFFFFF"/>
              </a:solidFill>
              <a:latin typeface="微软雅黑"/>
              <a:ea typeface="微软雅黑"/>
              <a:cs typeface="微软雅黑"/>
            </a:endParaRPr>
          </a:p>
        </p:txBody>
      </p:sp>
      <p:sp>
        <p:nvSpPr>
          <p:cNvPr id="128" name="Object 40"/>
          <p:cNvSpPr/>
          <p:nvPr/>
        </p:nvSpPr>
        <p:spPr>
          <a:xfrm>
            <a:off x="8880475" y="1562496"/>
            <a:ext cx="1485265" cy="361950"/>
          </a:xfrm>
          <a:prstGeom prst="roundRect">
            <a:avLst>
              <a:gd name="adj" fmla="val 13889"/>
            </a:avLst>
          </a:prstGeom>
          <a:solidFill>
            <a:srgbClr val="3368FF"/>
          </a:solidFill>
          <a:ln w="12700">
            <a:noFill/>
            <a:prstDash val="solid"/>
          </a:ln>
          <a:effectLst>
            <a:outerShdw blurRad="444500" dist="127000" dir="5400000" algn="t" rotWithShape="0">
              <a:srgbClr val="FFFFFF">
                <a:alpha val="10000"/>
              </a:srgbClr>
            </a:outerShdw>
          </a:effectLst>
        </p:spPr>
        <p:txBody>
          <a:bodyPr wrap="none"/>
          <a:lstStyle/>
          <a:p>
            <a:pPr algn="ctr">
              <a:defRPr>
                <a:solidFill>
                  <a:srgbClr val="FFFFFF"/>
                </a:solidFill>
                <a:latin typeface="微软雅黑"/>
                <a:ea typeface="微软雅黑"/>
                <a:cs typeface="微软雅黑"/>
              </a:defRPr>
            </a:pPr>
            <a:endParaRPr lang="zh-CN" altLang="en-US" sz="1400">
              <a:solidFill>
                <a:srgbClr val="FFFFFF"/>
              </a:solidFill>
              <a:latin typeface="微软雅黑"/>
              <a:ea typeface="微软雅黑"/>
              <a:cs typeface="微软雅黑"/>
            </a:endParaRPr>
          </a:p>
        </p:txBody>
      </p:sp>
      <p:sp>
        <p:nvSpPr>
          <p:cNvPr id="129" name="Object 41"/>
          <p:cNvSpPr/>
          <p:nvPr/>
        </p:nvSpPr>
        <p:spPr>
          <a:xfrm>
            <a:off x="9041448" y="1625600"/>
            <a:ext cx="1163320" cy="234950"/>
          </a:xfrm>
          <a:prstGeom prst="rect">
            <a:avLst/>
          </a:prstGeom>
          <a:noFill/>
        </p:spPr>
        <p:txBody>
          <a:bodyPr wrap="none" lIns="0" tIns="0" rIns="0" bIns="0" rtlCol="0" anchor="ctr"/>
          <a:lstStyle/>
          <a:p>
            <a:pPr algn="ctr">
              <a:lnSpc>
                <a:spcPts val="1850"/>
              </a:lnSpc>
              <a:defRPr>
                <a:solidFill>
                  <a:srgbClr val="FFFFFF"/>
                </a:solidFill>
                <a:latin typeface="微软雅黑"/>
                <a:ea typeface="微软雅黑"/>
                <a:cs typeface="微软雅黑"/>
              </a:defRPr>
            </a:pPr>
            <a:r>
              <a:rPr lang="en-US" sz="1400" b="1" dirty="0" err="1">
                <a:solidFill>
                  <a:srgbClr val="FFFFFF"/>
                </a:solidFill>
                <a:latin typeface="微软雅黑"/>
                <a:ea typeface="微软雅黑"/>
                <a:cs typeface="微软雅黑"/>
              </a:rPr>
              <a:t>实现效果</a:t>
            </a:r>
            <a:endParaRPr lang="en-US" sz="1400" b="1" dirty="0" err="1">
              <a:solidFill>
                <a:srgbClr val="FFFFFF"/>
              </a:solidFill>
              <a:latin typeface="微软雅黑"/>
              <a:ea typeface="微软雅黑"/>
              <a:cs typeface="微软雅黑"/>
            </a:endParaRPr>
          </a:p>
        </p:txBody>
      </p:sp>
      <p:sp>
        <p:nvSpPr>
          <p:cNvPr id="131" name="Object 42"/>
          <p:cNvSpPr/>
          <p:nvPr/>
        </p:nvSpPr>
        <p:spPr>
          <a:xfrm>
            <a:off x="2692844" y="3492772"/>
            <a:ext cx="405992" cy="234841"/>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专家走</a:t>
            </a:r>
            <a:r>
              <a:rPr lang="en-US" sz="1000" kern="0" dirty="0">
                <a:solidFill>
                  <a:srgbClr val="383838">
                    <a:alpha val="100000"/>
                  </a:srgbClr>
                </a:solidFill>
                <a:latin typeface="微软雅黑"/>
                <a:ea typeface="微软雅黑"/>
                <a:cs typeface="微软雅黑"/>
              </a:rPr>
              <a:t>查</a:t>
            </a:r>
            <a:endParaRPr lang="en-US" sz="1000" kern="0" dirty="0">
              <a:solidFill>
                <a:srgbClr val="383838">
                  <a:alpha val="100000"/>
                </a:srgbClr>
              </a:solidFill>
              <a:latin typeface="微软雅黑"/>
              <a:ea typeface="微软雅黑"/>
              <a:cs typeface="微软雅黑"/>
            </a:endParaRPr>
          </a:p>
        </p:txBody>
      </p:sp>
      <p:sp>
        <p:nvSpPr>
          <p:cNvPr id="132" name="Object 43"/>
          <p:cNvSpPr/>
          <p:nvPr/>
        </p:nvSpPr>
        <p:spPr>
          <a:xfrm>
            <a:off x="5123916" y="3492772"/>
            <a:ext cx="405992" cy="234840"/>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alpha val="100000"/>
                  </a:srgbClr>
                </a:solidFill>
                <a:latin typeface="微软雅黑"/>
                <a:ea typeface="微软雅黑"/>
                <a:cs typeface="微软雅黑"/>
              </a:rPr>
              <a:t>头脑风暴</a:t>
            </a:r>
            <a:endParaRPr lang="en-US" sz="1000" kern="0" dirty="0">
              <a:solidFill>
                <a:srgbClr val="383838">
                  <a:alpha val="100000"/>
                </a:srgbClr>
              </a:solidFill>
              <a:latin typeface="微软雅黑"/>
              <a:ea typeface="微软雅黑"/>
              <a:cs typeface="微软雅黑"/>
            </a:endParaRPr>
          </a:p>
        </p:txBody>
      </p:sp>
      <p:sp>
        <p:nvSpPr>
          <p:cNvPr id="133" name="Object 44"/>
          <p:cNvSpPr/>
          <p:nvPr/>
        </p:nvSpPr>
        <p:spPr>
          <a:xfrm>
            <a:off x="2692844" y="3740313"/>
            <a:ext cx="405992" cy="234842"/>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竞品分析</a:t>
            </a:r>
            <a:endParaRPr lang="en-US" sz="1000" kern="0" dirty="0">
              <a:solidFill>
                <a:srgbClr val="383838"/>
              </a:solidFill>
              <a:latin typeface="微软雅黑"/>
              <a:ea typeface="微软雅黑"/>
              <a:cs typeface="微软雅黑"/>
            </a:endParaRPr>
          </a:p>
        </p:txBody>
      </p:sp>
      <p:sp>
        <p:nvSpPr>
          <p:cNvPr id="134" name="Object 45"/>
          <p:cNvSpPr/>
          <p:nvPr/>
        </p:nvSpPr>
        <p:spPr>
          <a:xfrm>
            <a:off x="4870324" y="3740312"/>
            <a:ext cx="660803" cy="234842"/>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场景/用户分析
</a:t>
            </a:r>
            <a:endParaRPr lang="en-US" sz="1000" kern="0" dirty="0">
              <a:solidFill>
                <a:srgbClr val="383838"/>
              </a:solidFill>
              <a:latin typeface="微软雅黑"/>
              <a:ea typeface="微软雅黑"/>
              <a:cs typeface="微软雅黑"/>
            </a:endParaRPr>
          </a:p>
        </p:txBody>
      </p:sp>
      <p:sp>
        <p:nvSpPr>
          <p:cNvPr id="135" name="Object 46"/>
          <p:cNvSpPr/>
          <p:nvPr/>
        </p:nvSpPr>
        <p:spPr>
          <a:xfrm>
            <a:off x="7073407" y="3740312"/>
            <a:ext cx="304798" cy="234843"/>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流程图
</a:t>
            </a:r>
            <a:endParaRPr lang="en-US" sz="1000" kern="0" dirty="0">
              <a:solidFill>
                <a:srgbClr val="383838"/>
              </a:solidFill>
              <a:latin typeface="微软雅黑"/>
              <a:ea typeface="微软雅黑"/>
              <a:cs typeface="微软雅黑"/>
            </a:endParaRPr>
          </a:p>
        </p:txBody>
      </p:sp>
      <p:sp>
        <p:nvSpPr>
          <p:cNvPr id="136" name="Object 47"/>
          <p:cNvSpPr/>
          <p:nvPr/>
        </p:nvSpPr>
        <p:spPr>
          <a:xfrm>
            <a:off x="3326824" y="3740312"/>
            <a:ext cx="405992" cy="234842"/>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四象限法
</a:t>
            </a:r>
            <a:endParaRPr lang="en-US" sz="1000" kern="0" dirty="0">
              <a:solidFill>
                <a:srgbClr val="383838"/>
              </a:solidFill>
              <a:latin typeface="微软雅黑"/>
              <a:ea typeface="微软雅黑"/>
              <a:cs typeface="微软雅黑"/>
            </a:endParaRPr>
          </a:p>
        </p:txBody>
      </p:sp>
      <p:sp>
        <p:nvSpPr>
          <p:cNvPr id="137" name="Object 48"/>
          <p:cNvSpPr/>
          <p:nvPr/>
        </p:nvSpPr>
        <p:spPr>
          <a:xfrm>
            <a:off x="2692844" y="3987855"/>
            <a:ext cx="405992" cy="304783"/>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运营数据</a:t>
            </a:r>
            <a:endParaRPr lang="en-US" sz="1000" kern="0" dirty="0">
              <a:solidFill>
                <a:srgbClr val="383838"/>
              </a:solidFill>
              <a:latin typeface="微软雅黑"/>
              <a:ea typeface="微软雅黑"/>
              <a:cs typeface="微软雅黑"/>
            </a:endParaRPr>
          </a:p>
        </p:txBody>
      </p:sp>
      <p:cxnSp>
        <p:nvCxnSpPr>
          <p:cNvPr id="139" name="直线连接符 88"/>
          <p:cNvCxnSpPr/>
          <p:nvPr/>
        </p:nvCxnSpPr>
        <p:spPr>
          <a:xfrm>
            <a:off x="3213100" y="2004060"/>
            <a:ext cx="0" cy="4031615"/>
          </a:xfrm>
          <a:prstGeom prst="line">
            <a:avLst/>
          </a:prstGeom>
          <a:solidFill>
            <a:srgbClr val="FFFFFF">
              <a:alpha val="20000"/>
            </a:srgbClr>
          </a:solidFill>
          <a:ln w="12700">
            <a:gradFill>
              <a:gsLst>
                <a:gs pos="50000">
                  <a:srgbClr val="0042FF"/>
                </a:gs>
                <a:gs pos="100000">
                  <a:srgbClr val="0042FF">
                    <a:alpha val="0"/>
                  </a:srgbClr>
                </a:gs>
                <a:gs pos="0">
                  <a:srgbClr val="0042FF">
                    <a:alpha val="0"/>
                  </a:srgbClr>
                </a:gs>
              </a:gsLst>
              <a:lin ang="5400000" scaled="1"/>
            </a:gradFill>
            <a:prstDash val="dash"/>
          </a:ln>
        </p:spPr>
      </p:cxnSp>
      <p:sp>
        <p:nvSpPr>
          <p:cNvPr id="143" name="Object 49"/>
          <p:cNvSpPr/>
          <p:nvPr/>
        </p:nvSpPr>
        <p:spPr>
          <a:xfrm>
            <a:off x="5123916" y="3987854"/>
            <a:ext cx="405992" cy="304784"/>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行业趋势
</a:t>
            </a:r>
            <a:endParaRPr lang="en-US" sz="1000" kern="0" dirty="0">
              <a:solidFill>
                <a:srgbClr val="383838"/>
              </a:solidFill>
              <a:latin typeface="微软雅黑"/>
              <a:ea typeface="微软雅黑"/>
              <a:cs typeface="微软雅黑"/>
            </a:endParaRPr>
          </a:p>
        </p:txBody>
      </p:sp>
      <p:sp>
        <p:nvSpPr>
          <p:cNvPr id="144" name="Object 50"/>
          <p:cNvSpPr/>
          <p:nvPr/>
        </p:nvSpPr>
        <p:spPr>
          <a:xfrm>
            <a:off x="7073407" y="3987855"/>
            <a:ext cx="405992" cy="304783"/>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信息设计</a:t>
            </a:r>
            <a:endParaRPr lang="en-US" sz="1000" kern="0" dirty="0">
              <a:solidFill>
                <a:srgbClr val="383838"/>
              </a:solidFill>
              <a:latin typeface="微软雅黑"/>
              <a:ea typeface="微软雅黑"/>
              <a:cs typeface="微软雅黑"/>
            </a:endParaRPr>
          </a:p>
        </p:txBody>
      </p:sp>
      <p:sp>
        <p:nvSpPr>
          <p:cNvPr id="146" name="Object 52"/>
          <p:cNvSpPr/>
          <p:nvPr/>
        </p:nvSpPr>
        <p:spPr>
          <a:xfrm>
            <a:off x="9756140" y="3935730"/>
            <a:ext cx="709930" cy="279400"/>
          </a:xfrm>
          <a:prstGeom prst="rect">
            <a:avLst/>
          </a:prstGeom>
          <a:noFill/>
        </p:spPr>
        <p:txBody>
          <a:bodyPr wrap="none" lIns="0" tIns="0" rIns="0" bIns="0" rtlCol="0" anchor="ctr"/>
          <a:lstStyle/>
          <a:p>
            <a:pPr algn="ctr">
              <a:lnSpc>
                <a:spcPts val="800"/>
              </a:lnSpc>
              <a:defRPr>
                <a:latin typeface="微软雅黑"/>
                <a:ea typeface="微软雅黑"/>
                <a:cs typeface="微软雅黑"/>
              </a:defRPr>
            </a:pPr>
            <a:r>
              <a:rPr lang="en-US" sz="1000" b="1" kern="0" dirty="0">
                <a:solidFill>
                  <a:srgbClr val="383838"/>
                </a:solidFill>
                <a:latin typeface="微软雅黑"/>
                <a:ea typeface="微软雅黑"/>
                <a:cs typeface="微软雅黑"/>
              </a:rPr>
              <a:t>交互走查</a:t>
            </a:r>
            <a:endParaRPr lang="en-US" sz="1000" b="1" kern="0" dirty="0">
              <a:solidFill>
                <a:srgbClr val="383838"/>
              </a:solidFill>
              <a:latin typeface="微软雅黑"/>
              <a:ea typeface="微软雅黑"/>
              <a:cs typeface="微软雅黑"/>
            </a:endParaRPr>
          </a:p>
        </p:txBody>
      </p:sp>
      <p:sp>
        <p:nvSpPr>
          <p:cNvPr id="147" name="Object 53"/>
          <p:cNvSpPr/>
          <p:nvPr/>
        </p:nvSpPr>
        <p:spPr>
          <a:xfrm>
            <a:off x="6000115" y="3935730"/>
            <a:ext cx="762635" cy="176530"/>
          </a:xfrm>
          <a:prstGeom prst="rect">
            <a:avLst/>
          </a:prstGeom>
          <a:noFill/>
        </p:spPr>
        <p:txBody>
          <a:bodyPr wrap="none" lIns="0" tIns="0" rIns="0" bIns="0" rtlCol="0" anchor="ctr" anchorCtr="0">
            <a:noAutofit/>
          </a:bodyPr>
          <a:lstStyle/>
          <a:p>
            <a:pPr lvl="0" algn="ctr">
              <a:lnSpc>
                <a:spcPts val="800"/>
              </a:lnSpc>
              <a:buClrTx/>
              <a:buSzTx/>
              <a:buFontTx/>
              <a:defRPr>
                <a:latin typeface="微软雅黑"/>
                <a:ea typeface="微软雅黑"/>
                <a:cs typeface="微软雅黑"/>
              </a:defRPr>
            </a:pPr>
            <a:r>
              <a:rPr lang="en-US" sz="1000" b="1" kern="0" dirty="0">
                <a:solidFill>
                  <a:srgbClr val="383838"/>
                </a:solidFill>
                <a:latin typeface="微软雅黑"/>
                <a:ea typeface="微软雅黑"/>
                <a:cs typeface="微软雅黑"/>
                <a:sym typeface="微软雅黑"/>
              </a:rPr>
              <a:t>信息架构</a:t>
            </a:r>
            <a:endParaRPr lang="en-US" sz="1000" b="1" kern="0" dirty="0">
              <a:solidFill>
                <a:srgbClr val="383838"/>
              </a:solidFill>
              <a:latin typeface="微软雅黑"/>
              <a:ea typeface="微软雅黑"/>
              <a:cs typeface="微软雅黑"/>
              <a:sym typeface="微软雅黑"/>
            </a:endParaRPr>
          </a:p>
        </p:txBody>
      </p:sp>
      <p:sp>
        <p:nvSpPr>
          <p:cNvPr id="148" name="Object 54"/>
          <p:cNvSpPr/>
          <p:nvPr/>
        </p:nvSpPr>
        <p:spPr>
          <a:xfrm>
            <a:off x="3326825" y="3987854"/>
            <a:ext cx="534007" cy="304784"/>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KANO模型
</a:t>
            </a:r>
            <a:endParaRPr lang="en-US" sz="1000" kern="0" dirty="0">
              <a:solidFill>
                <a:srgbClr val="383838"/>
              </a:solidFill>
              <a:latin typeface="微软雅黑"/>
              <a:ea typeface="微软雅黑"/>
              <a:cs typeface="微软雅黑"/>
            </a:endParaRPr>
          </a:p>
        </p:txBody>
      </p:sp>
      <p:sp>
        <p:nvSpPr>
          <p:cNvPr id="149" name="Object 55"/>
          <p:cNvSpPr/>
          <p:nvPr/>
        </p:nvSpPr>
        <p:spPr>
          <a:xfrm>
            <a:off x="2692844" y="4305338"/>
            <a:ext cx="405992" cy="234842"/>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用户访谈
</a:t>
            </a:r>
            <a:endParaRPr lang="en-US" sz="1000" kern="0" dirty="0">
              <a:solidFill>
                <a:srgbClr val="383838"/>
              </a:solidFill>
              <a:latin typeface="微软雅黑"/>
              <a:ea typeface="微软雅黑"/>
              <a:cs typeface="微软雅黑"/>
            </a:endParaRPr>
          </a:p>
        </p:txBody>
      </p:sp>
      <p:sp>
        <p:nvSpPr>
          <p:cNvPr id="150" name="Object 56"/>
          <p:cNvSpPr/>
          <p:nvPr/>
        </p:nvSpPr>
        <p:spPr>
          <a:xfrm>
            <a:off x="4927626" y="4305338"/>
            <a:ext cx="603501" cy="234842"/>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HWM分析法
</a:t>
            </a:r>
            <a:endParaRPr lang="en-US" sz="1000" kern="0" dirty="0">
              <a:solidFill>
                <a:srgbClr val="383838"/>
              </a:solidFill>
              <a:latin typeface="微软雅黑"/>
              <a:ea typeface="微软雅黑"/>
              <a:cs typeface="微软雅黑"/>
            </a:endParaRPr>
          </a:p>
        </p:txBody>
      </p:sp>
      <p:sp>
        <p:nvSpPr>
          <p:cNvPr id="151" name="Object 57"/>
          <p:cNvSpPr/>
          <p:nvPr/>
        </p:nvSpPr>
        <p:spPr>
          <a:xfrm>
            <a:off x="7073406" y="4305338"/>
            <a:ext cx="508404" cy="234841"/>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可用性测试
</a:t>
            </a:r>
            <a:endParaRPr lang="en-US" sz="1000" kern="0" dirty="0">
              <a:solidFill>
                <a:srgbClr val="383838"/>
              </a:solidFill>
              <a:latin typeface="微软雅黑"/>
              <a:ea typeface="微软雅黑"/>
              <a:cs typeface="微软雅黑"/>
            </a:endParaRPr>
          </a:p>
        </p:txBody>
      </p:sp>
      <p:sp>
        <p:nvSpPr>
          <p:cNvPr id="153" name="Object 59"/>
          <p:cNvSpPr/>
          <p:nvPr/>
        </p:nvSpPr>
        <p:spPr>
          <a:xfrm>
            <a:off x="3326824" y="4305338"/>
            <a:ext cx="609597" cy="234841"/>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用户体验地图
</a:t>
            </a:r>
            <a:endParaRPr lang="en-US" sz="1000" kern="0" dirty="0">
              <a:solidFill>
                <a:srgbClr val="383838"/>
              </a:solidFill>
              <a:latin typeface="微软雅黑"/>
              <a:ea typeface="微软雅黑"/>
              <a:cs typeface="微软雅黑"/>
            </a:endParaRPr>
          </a:p>
        </p:txBody>
      </p:sp>
      <p:sp>
        <p:nvSpPr>
          <p:cNvPr id="154" name="Object 60"/>
          <p:cNvSpPr/>
          <p:nvPr/>
        </p:nvSpPr>
        <p:spPr>
          <a:xfrm>
            <a:off x="2692844" y="4552880"/>
            <a:ext cx="405992" cy="234842"/>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意见反馈</a:t>
            </a:r>
            <a:endParaRPr lang="en-US" sz="1000" kern="0" dirty="0">
              <a:solidFill>
                <a:srgbClr val="383838"/>
              </a:solidFill>
              <a:latin typeface="微软雅黑"/>
              <a:ea typeface="微软雅黑"/>
              <a:cs typeface="微软雅黑"/>
            </a:endParaRPr>
          </a:p>
        </p:txBody>
      </p:sp>
      <p:sp>
        <p:nvSpPr>
          <p:cNvPr id="155" name="Object 61"/>
          <p:cNvSpPr/>
          <p:nvPr/>
        </p:nvSpPr>
        <p:spPr>
          <a:xfrm>
            <a:off x="5123916" y="4552880"/>
            <a:ext cx="405992" cy="313690"/>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目标分析</a:t>
            </a:r>
            <a:endParaRPr lang="en-US" sz="1000" kern="0" dirty="0">
              <a:solidFill>
                <a:srgbClr val="383838"/>
              </a:solidFill>
              <a:latin typeface="微软雅黑"/>
              <a:ea typeface="微软雅黑"/>
              <a:cs typeface="微软雅黑"/>
            </a:endParaRPr>
          </a:p>
        </p:txBody>
      </p:sp>
      <p:sp>
        <p:nvSpPr>
          <p:cNvPr id="156" name="Object 62"/>
          <p:cNvSpPr/>
          <p:nvPr/>
        </p:nvSpPr>
        <p:spPr>
          <a:xfrm>
            <a:off x="7073407" y="4552879"/>
            <a:ext cx="405992" cy="313690"/>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A/B测试
</a:t>
            </a:r>
            <a:endParaRPr lang="en-US" sz="1000" kern="0" dirty="0">
              <a:solidFill>
                <a:srgbClr val="383838"/>
              </a:solidFill>
              <a:latin typeface="微软雅黑"/>
              <a:ea typeface="微软雅黑"/>
              <a:cs typeface="微软雅黑"/>
            </a:endParaRPr>
          </a:p>
        </p:txBody>
      </p:sp>
      <p:sp>
        <p:nvSpPr>
          <p:cNvPr id="157" name="Object 63"/>
          <p:cNvSpPr/>
          <p:nvPr/>
        </p:nvSpPr>
        <p:spPr>
          <a:xfrm>
            <a:off x="3326824" y="4552879"/>
            <a:ext cx="546199" cy="313690"/>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alpha val="100000"/>
                  </a:srgbClr>
                </a:solidFill>
                <a:latin typeface="微软雅黑"/>
                <a:ea typeface="微软雅黑"/>
                <a:cs typeface="微软雅黑"/>
              </a:rPr>
              <a:t>SWOT分析
</a:t>
            </a:r>
            <a:endParaRPr lang="en-US" sz="1000" kern="0" dirty="0">
              <a:solidFill>
                <a:srgbClr val="383838">
                  <a:alpha val="100000"/>
                </a:srgbClr>
              </a:solidFill>
              <a:latin typeface="微软雅黑"/>
              <a:ea typeface="微软雅黑"/>
              <a:cs typeface="微软雅黑"/>
            </a:endParaRPr>
          </a:p>
        </p:txBody>
      </p:sp>
      <p:sp>
        <p:nvSpPr>
          <p:cNvPr id="158" name="Object 64"/>
          <p:cNvSpPr/>
          <p:nvPr/>
        </p:nvSpPr>
        <p:spPr>
          <a:xfrm>
            <a:off x="2692844" y="4800422"/>
            <a:ext cx="405992" cy="313690"/>
          </a:xfrm>
          <a:prstGeom prst="rect">
            <a:avLst/>
          </a:prstGeom>
          <a:noFill/>
        </p:spPr>
        <p:txBody>
          <a:bodyPr wrap="square" lIns="0" tIns="0" rIns="0" bIns="0" rtlCol="0" anchor="ctr">
            <a:noAutofit/>
          </a:bodyPr>
          <a:lstStyle/>
          <a:p>
            <a:pPr algn="ctr">
              <a:lnSpc>
                <a:spcPts val="1120"/>
              </a:lnSpc>
              <a:defRPr>
                <a:latin typeface="微软雅黑"/>
                <a:ea typeface="微软雅黑"/>
                <a:cs typeface="微软雅黑"/>
              </a:defRPr>
              <a:spcBef>
                <a:spcPts val="0"/>
              </a:spcBef>
              <a:spcAft>
                <a:spcPts val="0"/>
              </a:spcAft>
            </a:pPr>
            <a:r>
              <a:rPr lang="en-US" sz="1000" kern="0" dirty="0">
                <a:solidFill>
                  <a:srgbClr val="383838"/>
                </a:solidFill>
                <a:latin typeface="微软雅黑"/>
                <a:ea typeface="微软雅黑"/>
                <a:cs typeface="微软雅黑"/>
              </a:rPr>
              <a:t>目标导向</a:t>
            </a:r>
            <a:endParaRPr lang="en-US" sz="1000" kern="0" dirty="0">
              <a:solidFill>
                <a:srgbClr val="383838"/>
              </a:solidFill>
              <a:latin typeface="微软雅黑"/>
              <a:ea typeface="微软雅黑"/>
              <a:cs typeface="微软雅黑"/>
            </a:endParaRPr>
          </a:p>
        </p:txBody>
      </p:sp>
      <p:sp>
        <p:nvSpPr>
          <p:cNvPr id="185" name="弧 103"/>
          <p:cNvSpPr/>
          <p:nvPr/>
        </p:nvSpPr>
        <p:spPr>
          <a:xfrm rot="20139274">
            <a:off x="1496205" y="2499880"/>
            <a:ext cx="3350346" cy="3350346"/>
          </a:xfrm>
          <a:prstGeom prst="arc">
            <a:avLst/>
          </a:prstGeom>
          <a:ln w="12700">
            <a:gradFill>
              <a:gsLst>
                <a:gs pos="14000">
                  <a:srgbClr val="0042FF">
                    <a:alpha val="0"/>
                  </a:srgbClr>
                </a:gs>
                <a:gs pos="90000">
                  <a:srgbClr val="0042FF"/>
                </a:gs>
              </a:gsLst>
              <a:lin ang="5400000" scaled="1"/>
            </a:gradFill>
            <a:tailEnd type="arrow" w="med" len="sm"/>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86" name="Object 68"/>
          <p:cNvSpPr/>
          <p:nvPr/>
        </p:nvSpPr>
        <p:spPr>
          <a:xfrm>
            <a:off x="4672814" y="4139396"/>
            <a:ext cx="103632" cy="102857"/>
          </a:xfrm>
          <a:prstGeom prst="ellipse">
            <a:avLst/>
          </a:prstGeom>
          <a:solidFill>
            <a:srgbClr val="FFFFFF"/>
          </a:solidFill>
          <a:ln w="12700">
            <a:solidFill>
              <a:srgbClr val="0042FF"/>
            </a:solidFill>
          </a:ln>
        </p:spPr>
        <p:txBody>
          <a:bodyPr wrap="none"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95" name="Object 74"/>
          <p:cNvSpPr/>
          <p:nvPr/>
        </p:nvSpPr>
        <p:spPr>
          <a:xfrm>
            <a:off x="7790292" y="4139396"/>
            <a:ext cx="103632" cy="102857"/>
          </a:xfrm>
          <a:prstGeom prst="ellipse">
            <a:avLst/>
          </a:prstGeom>
          <a:solidFill>
            <a:srgbClr val="FFFFFF"/>
          </a:solidFill>
          <a:ln w="12700">
            <a:solidFill>
              <a:srgbClr val="3368FF"/>
            </a:solidFill>
          </a:ln>
        </p:spPr>
        <p:txBody>
          <a:bodyPr wrap="none" lIns="0" rIns="0" tIns="0" bIns="0">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196" name="Object 76"/>
          <p:cNvSpPr/>
          <p:nvPr/>
        </p:nvSpPr>
        <p:spPr>
          <a:xfrm>
            <a:off x="9276489" y="4139396"/>
            <a:ext cx="103632" cy="102857"/>
          </a:xfrm>
          <a:prstGeom prst="ellipse">
            <a:avLst/>
          </a:prstGeom>
          <a:solidFill>
            <a:srgbClr val="FFFFFF"/>
          </a:solidFill>
          <a:ln w="12700">
            <a:solidFill>
              <a:srgbClr val="3368FF"/>
            </a:solidFill>
          </a:ln>
        </p:spPr>
        <p:txBody>
          <a:bodyPr wrap="none"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97" name="Object 78"/>
          <p:cNvSpPr/>
          <p:nvPr/>
        </p:nvSpPr>
        <p:spPr>
          <a:xfrm>
            <a:off x="10420093" y="4139396"/>
            <a:ext cx="103632" cy="102857"/>
          </a:xfrm>
          <a:prstGeom prst="ellipse">
            <a:avLst/>
          </a:prstGeom>
          <a:solidFill>
            <a:srgbClr val="FFFFFF"/>
          </a:solidFill>
          <a:ln w="12700">
            <a:solidFill>
              <a:srgbClr val="3368FF"/>
            </a:solidFill>
          </a:ln>
        </p:spPr>
        <p:txBody>
          <a:bodyPr wrap="none"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02" name="Object 79"/>
          <p:cNvSpPr/>
          <p:nvPr/>
        </p:nvSpPr>
        <p:spPr>
          <a:xfrm rot="5400000">
            <a:off x="3193933" y="3321344"/>
            <a:ext cx="6096" cy="1733477"/>
          </a:xfrm>
          <a:prstGeom prst="line">
            <a:avLst/>
          </a:prstGeom>
          <a:solidFill>
            <a:srgbClr val="FFFFFF">
              <a:alpha val="0"/>
            </a:srgbClr>
          </a:solidFill>
          <a:ln w="25400">
            <a:solidFill>
              <a:srgbClr val="3368FF">
                <a:alpha val="0"/>
              </a:srgbClr>
            </a:solidFill>
            <a:prstDash val="solid"/>
          </a:ln>
        </p:spPr>
        <p:txBody>
          <a:bodyPr wrap="none"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210" name="弧 111"/>
          <p:cNvSpPr/>
          <p:nvPr/>
        </p:nvSpPr>
        <p:spPr>
          <a:xfrm rot="15639274">
            <a:off x="1496205" y="2499880"/>
            <a:ext cx="3350346" cy="3350346"/>
          </a:xfrm>
          <a:prstGeom prst="arc">
            <a:avLst/>
          </a:prstGeom>
          <a:ln w="12700">
            <a:gradFill>
              <a:gsLst>
                <a:gs pos="14000">
                  <a:srgbClr val="0042FF">
                    <a:alpha val="0"/>
                  </a:srgbClr>
                </a:gs>
                <a:gs pos="90000">
                  <a:srgbClr val="0042FF"/>
                </a:gs>
              </a:gsLst>
              <a:lin ang="5400000" scaled="1"/>
            </a:gradFill>
            <a:tailEnd type="arrow" w="med" len="sm"/>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211" name="弧 113"/>
          <p:cNvSpPr/>
          <p:nvPr/>
        </p:nvSpPr>
        <p:spPr>
          <a:xfrm rot="20329102">
            <a:off x="4614902" y="2499881"/>
            <a:ext cx="3350346" cy="3350346"/>
          </a:xfrm>
          <a:prstGeom prst="arc">
            <a:avLst/>
          </a:prstGeom>
          <a:ln w="12700">
            <a:gradFill>
              <a:gsLst>
                <a:gs pos="14000">
                  <a:srgbClr val="3368FF">
                    <a:alpha val="0"/>
                  </a:srgbClr>
                </a:gs>
                <a:gs pos="90000">
                  <a:srgbClr val="3368FF"/>
                </a:gs>
              </a:gsLst>
              <a:lin ang="5400000" scaled="1"/>
            </a:gradFill>
            <a:tailEnd type="arrow" w="med" len="sm"/>
          </a:ln>
        </p:spPr>
        <p:style>
          <a:lnRef idx="1">
            <a:srgbClr val="0042FF"/>
          </a:lnRef>
          <a:fillRef idx="0">
            <a:srgbClr val="0042FF"/>
          </a:fillRef>
          <a:effectRef idx="0">
            <a:srgbClr val="0042FF"/>
          </a:effectRef>
          <a:fontRef idx="minor">
            <a:srgbClr val="383838"/>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212" name="弧 114"/>
          <p:cNvSpPr/>
          <p:nvPr/>
        </p:nvSpPr>
        <p:spPr>
          <a:xfrm rot="15829102">
            <a:off x="4614902" y="2499881"/>
            <a:ext cx="3350346" cy="3350346"/>
          </a:xfrm>
          <a:prstGeom prst="arc">
            <a:avLst/>
          </a:prstGeom>
          <a:ln w="12700">
            <a:gradFill>
              <a:gsLst>
                <a:gs pos="14000">
                  <a:srgbClr val="3368FF">
                    <a:alpha val="0"/>
                  </a:srgbClr>
                </a:gs>
                <a:gs pos="90000">
                  <a:srgbClr val="3368FF"/>
                </a:gs>
              </a:gsLst>
              <a:lin ang="5400000" scaled="1"/>
            </a:gradFill>
            <a:tailEnd type="arrow" w="med" len="sm"/>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cxnSp>
        <p:nvCxnSpPr>
          <p:cNvPr id="269" name="直线连接符 93"/>
          <p:cNvCxnSpPr/>
          <p:nvPr/>
        </p:nvCxnSpPr>
        <p:spPr>
          <a:xfrm>
            <a:off x="6381750" y="2110740"/>
            <a:ext cx="0" cy="4281170"/>
          </a:xfrm>
          <a:prstGeom prst="line">
            <a:avLst/>
          </a:prstGeom>
          <a:solidFill>
            <a:srgbClr val="FFFFFF">
              <a:alpha val="20000"/>
            </a:srgbClr>
          </a:solidFill>
          <a:ln w="12700">
            <a:gradFill>
              <a:gsLst>
                <a:gs pos="50000">
                  <a:srgbClr val="3368FF"/>
                </a:gs>
                <a:gs pos="100000">
                  <a:srgbClr val="3368FF">
                    <a:alpha val="0"/>
                  </a:srgbClr>
                </a:gs>
                <a:gs pos="0">
                  <a:srgbClr val="3368FF">
                    <a:alpha val="0"/>
                  </a:srgbClr>
                </a:gs>
              </a:gsLst>
              <a:lin ang="5400000" scaled="1"/>
            </a:gradFill>
            <a:prstDash val="dash"/>
          </a:ln>
        </p:spPr>
      </p:cxnSp>
      <p:sp>
        <p:nvSpPr>
          <p:cNvPr id="279" name="Object 72"/>
          <p:cNvSpPr/>
          <p:nvPr/>
        </p:nvSpPr>
        <p:spPr>
          <a:xfrm>
            <a:off x="5719842" y="4141301"/>
            <a:ext cx="103632" cy="102857"/>
          </a:xfrm>
          <a:prstGeom prst="ellipse">
            <a:avLst/>
          </a:prstGeom>
          <a:solidFill>
            <a:srgbClr val="FFFFFF"/>
          </a:solidFill>
          <a:ln w="12700">
            <a:solidFill>
              <a:srgbClr val="3368FF"/>
            </a:solidFill>
          </a:ln>
        </p:spPr>
        <p:txBody>
          <a:bodyPr wrap="none"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281" name="Object 72"/>
          <p:cNvSpPr/>
          <p:nvPr/>
        </p:nvSpPr>
        <p:spPr>
          <a:xfrm>
            <a:off x="6762512" y="4139396"/>
            <a:ext cx="103632" cy="102857"/>
          </a:xfrm>
          <a:prstGeom prst="ellipse">
            <a:avLst/>
          </a:prstGeom>
          <a:solidFill>
            <a:srgbClr val="FFFFFF"/>
          </a:solidFill>
          <a:ln w="12700">
            <a:solidFill>
              <a:srgbClr val="3368FF"/>
            </a:solidFill>
          </a:ln>
        </p:spPr>
        <p:txBody>
          <a:bodyPr wrap="none" lIns="0" rIns="0" tIns="0" bIns="0">
            <a:noAutofit/>
          </a:bodyPr>
          <a:lstStyle/>
          <a:p>
            <a:pPr lvl="0" algn="ctr">
              <a:buClrTx/>
              <a:buSzTx/>
              <a:buFontTx/>
              <a:defRPr>
                <a:latin typeface="微软雅黑"/>
                <a:ea typeface="微软雅黑"/>
                <a:cs typeface="微软雅黑"/>
              </a:defRPr>
            </a:pPr>
            <a:endParaRPr lang="zh-CN" altLang="en-US" dirty="0">
              <a:solidFill>
                <a:srgbClr val="383838"/>
              </a:solidFill>
              <a:latin typeface="微软雅黑"/>
              <a:ea typeface="微软雅黑"/>
              <a:cs typeface="微软雅黑"/>
              <a:sym typeface="微软雅黑"/>
            </a:endParaRPr>
          </a:p>
        </p:txBody>
      </p:sp>
      <p:sp>
        <p:nvSpPr>
          <p:cNvPr id="282" name="Object 53"/>
          <p:cNvSpPr/>
          <p:nvPr/>
        </p:nvSpPr>
        <p:spPr>
          <a:xfrm>
            <a:off x="8399145" y="3935730"/>
            <a:ext cx="762635" cy="176530"/>
          </a:xfrm>
          <a:prstGeom prst="rect">
            <a:avLst/>
          </a:prstGeom>
          <a:noFill/>
        </p:spPr>
        <p:txBody>
          <a:bodyPr wrap="none" lIns="0" tIns="0" rIns="0" bIns="0" rtlCol="0" anchor="ctr" anchorCtr="0">
            <a:noAutofit/>
          </a:bodyPr>
          <a:lstStyle/>
          <a:p>
            <a:pPr lvl="0" algn="ctr">
              <a:lnSpc>
                <a:spcPts val="800"/>
              </a:lnSpc>
              <a:buClrTx/>
              <a:buSzTx/>
              <a:buFontTx/>
              <a:defRPr>
                <a:latin typeface="微软雅黑"/>
                <a:ea typeface="微软雅黑"/>
                <a:cs typeface="微软雅黑"/>
              </a:defRPr>
            </a:pPr>
            <a:r>
              <a:rPr lang="en-US" sz="1000" b="1" kern="0" dirty="0">
                <a:solidFill>
                  <a:srgbClr val="383838"/>
                </a:solidFill>
                <a:latin typeface="微软雅黑"/>
                <a:ea typeface="微软雅黑"/>
                <a:cs typeface="微软雅黑"/>
                <a:sym typeface="微软雅黑"/>
              </a:rPr>
              <a:t>沟通/走查</a:t>
            </a:r>
            <a:endParaRPr lang="en-US" sz="1000" b="1" kern="0" dirty="0">
              <a:solidFill>
                <a:srgbClr val="383838"/>
              </a:solidFill>
              <a:latin typeface="微软雅黑"/>
              <a:ea typeface="微软雅黑"/>
              <a:cs typeface="微软雅黑"/>
              <a:sym typeface="微软雅黑"/>
            </a:endParaRPr>
          </a:p>
        </p:txBody>
      </p:sp>
      <p:sp>
        <p:nvSpPr>
          <p:cNvPr id="285" name="Object 53"/>
          <p:cNvSpPr/>
          <p:nvPr/>
        </p:nvSpPr>
        <p:spPr>
          <a:xfrm>
            <a:off x="6000115" y="4310380"/>
            <a:ext cx="762635" cy="176530"/>
          </a:xfrm>
          <a:prstGeom prst="rect">
            <a:avLst/>
          </a:prstGeom>
          <a:noFill/>
        </p:spPr>
        <p:txBody>
          <a:bodyPr wrap="none" lIns="0" tIns="0" rIns="0" bIns="0" rtlCol="0" anchor="ctr" anchorCtr="0">
            <a:noAutofit/>
          </a:bodyPr>
          <a:lstStyle/>
          <a:p>
            <a:pPr lvl="0" algn="ctr">
              <a:lnSpc>
                <a:spcPts val="800"/>
              </a:lnSpc>
              <a:buClrTx/>
              <a:buSzTx/>
              <a:buFontTx/>
              <a:defRPr>
                <a:latin typeface="微软雅黑"/>
                <a:ea typeface="微软雅黑"/>
                <a:cs typeface="微软雅黑"/>
              </a:defRPr>
            </a:pPr>
            <a:r>
              <a:rPr lang="zh-CN" altLang="en-US" sz="1000" b="1" kern="0" dirty="0">
                <a:solidFill>
                  <a:srgbClr val="383838"/>
                </a:solidFill>
                <a:latin typeface="微软雅黑"/>
                <a:ea typeface="微软雅黑"/>
                <a:cs typeface="微软雅黑"/>
                <a:sym typeface="微软雅黑"/>
              </a:rPr>
              <a:t>导航设计</a:t>
            </a:r>
            <a:endParaRPr lang="zh-CN" altLang="en-US" sz="1000" b="1" kern="0" dirty="0">
              <a:solidFill>
                <a:srgbClr val="383838"/>
              </a:solidFill>
              <a:latin typeface="微软雅黑"/>
              <a:ea typeface="微软雅黑"/>
              <a:cs typeface="微软雅黑"/>
              <a:sym typeface="微软雅黑"/>
            </a:endParaRPr>
          </a:p>
        </p:txBody>
      </p:sp>
      <p:cxnSp>
        <p:nvCxnSpPr>
          <p:cNvPr id="288" name="直接连接符 287"/>
          <p:cNvCxnSpPr>
            <a:stCxn id="18" idx="3"/>
          </p:cNvCxnSpPr>
          <p:nvPr/>
        </p:nvCxnSpPr>
        <p:spPr>
          <a:xfrm flipV="1">
            <a:off x="1174750" y="4185285"/>
            <a:ext cx="3498215" cy="5080"/>
          </a:xfrm>
          <a:prstGeom prst="line">
            <a:avLst/>
          </a:prstGeom>
          <a:ln>
            <a:solidFill>
              <a:srgbClr val="0042FF"/>
            </a:solidFill>
          </a:ln>
        </p:spPr>
        <p:style>
          <a:lnRef idx="2">
            <a:srgbClr val="0042FF"/>
          </a:lnRef>
          <a:fillRef idx="0">
            <a:srgbClr val="FFFFFF"/>
          </a:fillRef>
          <a:effectRef idx="0">
            <a:srgbClr val="FFFFFF"/>
          </a:effectRef>
          <a:fontRef idx="minor">
            <a:srgbClr val="383838"/>
          </a:fontRef>
        </p:style>
      </p:cxnSp>
      <p:sp>
        <p:nvSpPr>
          <p:cNvPr id="289" name="Object 66"/>
          <p:cNvSpPr/>
          <p:nvPr/>
        </p:nvSpPr>
        <p:spPr>
          <a:xfrm>
            <a:off x="1564198" y="4139396"/>
            <a:ext cx="103632" cy="102857"/>
          </a:xfrm>
          <a:prstGeom prst="ellipse">
            <a:avLst/>
          </a:prstGeom>
          <a:solidFill>
            <a:srgbClr val="FFFFFF"/>
          </a:solidFill>
          <a:ln w="12700">
            <a:solidFill>
              <a:srgbClr val="0042FF"/>
            </a:solidFill>
          </a:ln>
        </p:spPr>
        <p:txBody>
          <a:bodyPr wrap="none"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4" name="直线连接符 93"/>
          <p:cNvCxnSpPr/>
          <p:nvPr/>
        </p:nvCxnSpPr>
        <p:spPr>
          <a:xfrm>
            <a:off x="9656445" y="1936115"/>
            <a:ext cx="0" cy="4281170"/>
          </a:xfrm>
          <a:prstGeom prst="line">
            <a:avLst/>
          </a:prstGeom>
          <a:solidFill>
            <a:srgbClr val="FFFFFF">
              <a:alpha val="20000"/>
            </a:srgbClr>
          </a:solidFill>
          <a:ln w="12700">
            <a:gradFill>
              <a:gsLst>
                <a:gs pos="50000">
                  <a:srgbClr val="3368FF"/>
                </a:gs>
                <a:gs pos="100000">
                  <a:srgbClr val="3368FF">
                    <a:alpha val="0"/>
                  </a:srgbClr>
                </a:gs>
                <a:gs pos="0">
                  <a:srgbClr val="3368FF">
                    <a:alpha val="0"/>
                  </a:srgbClr>
                </a:gs>
              </a:gsLst>
              <a:lin ang="5400000" scaled="1"/>
            </a:gradFill>
            <a:prstDash val="dash"/>
          </a:ln>
        </p:spPr>
      </p:cxn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7" name="组合 6"/>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20534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6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60">
                <a:solidFill>
                  <a:srgbClr val="0042FF"/>
                </a:solidFill>
                <a:effectLst/>
                <a:latin typeface="微软雅黑"/>
                <a:ea typeface="微软雅黑"/>
                <a:cs typeface="微软雅黑"/>
              </a:rPr>
              <a:t>业务框架</a:t>
            </a:r>
            <a:r>
              <a:rPr lang="en-US" altLang="zh-CN" sz="2460">
                <a:solidFill>
                  <a:srgbClr val="0042FF"/>
                </a:solidFill>
                <a:effectLst/>
                <a:latin typeface="微软雅黑"/>
                <a:ea typeface="微软雅黑"/>
                <a:cs typeface="微软雅黑"/>
              </a:rPr>
              <a:t>-</a:t>
            </a:r>
            <a:r>
              <a:rPr sz="2460">
                <a:solidFill>
                  <a:srgbClr val="0042FF"/>
                </a:solidFill>
                <a:effectLst/>
                <a:latin typeface="微软雅黑"/>
                <a:ea typeface="微软雅黑"/>
                <a:cs typeface="微软雅黑"/>
              </a:rPr>
              <a:t>多层平台架构 | </a:t>
            </a:r>
            <a:r>
              <a:rPr lang="zh-CN" altLang="en-US" sz="2460">
                <a:solidFill>
                  <a:srgbClr val="383838"/>
                </a:solidFill>
                <a:effectLst/>
                <a:latin typeface="微软雅黑"/>
                <a:ea typeface="微软雅黑"/>
                <a:cs typeface="微软雅黑"/>
              </a:rPr>
              <a:t>用户全链路行为营销优化</a:t>
            </a:r>
            <a:endParaRPr lang="zh-CN" altLang="en-US" sz="246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22" name="组合 21"/>
          <p:cNvGrpSpPr/>
          <p:nvPr/>
        </p:nvGrpSpPr>
        <p:grpSpPr>
          <a:xfrm>
            <a:off x="518160" y="963930"/>
            <a:ext cx="11353800" cy="815340"/>
            <a:chOff x="816" y="1518"/>
            <a:chExt cx="17880" cy="1284"/>
          </a:xfrm>
        </p:grpSpPr>
        <p:sp>
          <p:nvSpPr>
            <p:cNvPr id="2" name="矩形 1"/>
            <p:cNvSpPr/>
            <p:nvPr/>
          </p:nvSpPr>
          <p:spPr>
            <a:xfrm>
              <a:off x="816" y="1518"/>
              <a:ext cx="17880" cy="1284"/>
            </a:xfrm>
            <a:prstGeom prst="rect">
              <a:avLst/>
            </a:prstGeom>
            <a:solidFill>
              <a:srgbClr val="E6E6E6">
                <a:alpha val="40000"/>
              </a:srgbClr>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46" name="文本框 45"/>
            <p:cNvSpPr txBox="1"/>
            <p:nvPr/>
          </p:nvSpPr>
          <p:spPr>
            <a:xfrm>
              <a:off x="953" y="1701"/>
              <a:ext cx="17607" cy="919"/>
            </a:xfrm>
            <a:prstGeom prst="rect">
              <a:avLst/>
            </a:prstGeom>
            <a:noFill/>
          </p:spPr>
          <p:txBody>
            <a:bodyPr wrap="square" rtlCol="0">
              <a:spAutoFit/>
            </a:bodyPr>
            <a:p>
              <a:pPr>
                <a:defRPr>
                  <a:latin typeface="微软雅黑"/>
                  <a:ea typeface="微软雅黑"/>
                  <a:cs typeface="微软雅黑"/>
                </a:defRPr>
              </a:pPr>
              <a:r>
                <a:rPr lang="zh-CN" altLang="en-US" sz="1600">
                  <a:solidFill>
                    <a:srgbClr val="383838"/>
                  </a:solidFill>
                  <a:latin typeface="微软雅黑"/>
                  <a:ea typeface="微软雅黑"/>
                  <a:cs typeface="微软雅黑"/>
                </a:rPr>
                <a:t>对比品牌</a:t>
              </a:r>
              <a:r>
                <a:rPr lang="en-US" altLang="zh-CN" sz="1600">
                  <a:solidFill>
                    <a:srgbClr val="383838"/>
                  </a:solidFill>
                  <a:latin typeface="微软雅黑"/>
                  <a:ea typeface="微软雅黑"/>
                  <a:cs typeface="微软雅黑"/>
                </a:rPr>
                <a:t>/</a:t>
              </a:r>
              <a:r>
                <a:rPr lang="zh-CN" altLang="en-US" sz="1600">
                  <a:solidFill>
                    <a:srgbClr val="383838"/>
                  </a:solidFill>
                  <a:latin typeface="微软雅黑"/>
                  <a:ea typeface="微软雅黑"/>
                  <a:cs typeface="微软雅黑"/>
                </a:rPr>
                <a:t>车型连接用户关系分布于理想形状的差异，寻找用户结构优化发力点，针对同样品牌下的特定车型，在不同的触媒范围、产品生命周期的不同阶段，会有不同的推荐形状来帮助品牌定位营销症结，规划未来运营方向。</a:t>
              </a:r>
              <a:endParaRPr lang="zh-CN" altLang="en-US" sz="1600">
                <a:solidFill>
                  <a:srgbClr val="383838"/>
                </a:solidFill>
                <a:latin typeface="微软雅黑"/>
                <a:ea typeface="微软雅黑"/>
                <a:cs typeface="微软雅黑"/>
              </a:endParaRPr>
            </a:p>
          </p:txBody>
        </p:sp>
      </p:grpSp>
      <p:cxnSp>
        <p:nvCxnSpPr>
          <p:cNvPr id="11" name="直接连接符 10"/>
          <p:cNvCxnSpPr/>
          <p:nvPr/>
        </p:nvCxnSpPr>
        <p:spPr>
          <a:xfrm>
            <a:off x="8100060" y="2748915"/>
            <a:ext cx="5715" cy="2847975"/>
          </a:xfrm>
          <a:prstGeom prst="line">
            <a:avLst/>
          </a:prstGeom>
          <a:ln w="38100">
            <a:solidFill>
              <a:srgbClr val="3368FF">
                <a:alpha val="40000"/>
              </a:srgbClr>
            </a:solidFill>
          </a:ln>
        </p:spPr>
        <p:style>
          <a:lnRef idx="2">
            <a:srgbClr val="0042FF"/>
          </a:lnRef>
          <a:fillRef idx="0">
            <a:srgbClr val="FFFFFF"/>
          </a:fillRef>
          <a:effectRef idx="0">
            <a:srgbClr val="FFFFFF"/>
          </a:effectRef>
          <a:fontRef idx="minor">
            <a:srgbClr val="383838"/>
          </a:fontRef>
        </p:style>
      </p:cxnSp>
      <p:cxnSp>
        <p:nvCxnSpPr>
          <p:cNvPr id="15" name="直接连接符 14"/>
          <p:cNvCxnSpPr/>
          <p:nvPr/>
        </p:nvCxnSpPr>
        <p:spPr>
          <a:xfrm>
            <a:off x="6073140" y="4969510"/>
            <a:ext cx="3954780" cy="1249045"/>
          </a:xfrm>
          <a:prstGeom prst="line">
            <a:avLst/>
          </a:prstGeom>
          <a:ln w="38100">
            <a:solidFill>
              <a:srgbClr val="3368FF">
                <a:alpha val="40000"/>
              </a:srgbClr>
            </a:solidFill>
          </a:ln>
        </p:spPr>
        <p:style>
          <a:lnRef idx="2">
            <a:srgbClr val="0042FF"/>
          </a:lnRef>
          <a:fillRef idx="0">
            <a:srgbClr val="FFFFFF"/>
          </a:fillRef>
          <a:effectRef idx="0">
            <a:srgbClr val="FFFFFF"/>
          </a:effectRef>
          <a:fontRef idx="minor">
            <a:srgbClr val="383838"/>
          </a:fontRef>
        </p:style>
      </p:cxnSp>
      <p:cxnSp>
        <p:nvCxnSpPr>
          <p:cNvPr id="27" name="直接连接符 26"/>
          <p:cNvCxnSpPr/>
          <p:nvPr/>
        </p:nvCxnSpPr>
        <p:spPr>
          <a:xfrm>
            <a:off x="1395730" y="4265295"/>
            <a:ext cx="9521190" cy="635"/>
          </a:xfrm>
          <a:prstGeom prst="line">
            <a:avLst/>
          </a:prstGeom>
          <a:ln>
            <a:solidFill>
              <a:srgbClr val="3368FF"/>
            </a:solidFill>
            <a:prstDash val="sysDash"/>
          </a:ln>
        </p:spPr>
        <p:style>
          <a:lnRef idx="2">
            <a:srgbClr val="0042FF"/>
          </a:lnRef>
          <a:fillRef idx="0">
            <a:srgbClr val="FFFFFF"/>
          </a:fillRef>
          <a:effectRef idx="0">
            <a:srgbClr val="FFFFFF"/>
          </a:effectRef>
          <a:fontRef idx="minor">
            <a:srgbClr val="383838"/>
          </a:fontRef>
        </p:style>
      </p:cxnSp>
      <p:sp>
        <p:nvSpPr>
          <p:cNvPr id="35" name="文本框 34"/>
          <p:cNvSpPr txBox="1"/>
          <p:nvPr/>
        </p:nvSpPr>
        <p:spPr>
          <a:xfrm>
            <a:off x="1691640" y="3315335"/>
            <a:ext cx="911225" cy="675640"/>
          </a:xfrm>
          <a:prstGeom prst="rect">
            <a:avLst/>
          </a:prstGeom>
          <a:noFill/>
        </p:spPr>
        <p:txBody>
          <a:bodyPr wrap="square" rtlCol="0" lIns="0" rIns="0" tIns="0" bIns="0" anchor="t">
            <a:noAutofit/>
          </a:bodyPr>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广告曝光</a:t>
            </a:r>
            <a:endParaRPr lang="zh-CN" altLang="en-US"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浏览内容</a:t>
            </a:r>
            <a:endParaRPr lang="zh-CN" altLang="en-US"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观看视频</a:t>
            </a:r>
            <a:endParaRPr lang="zh-CN" altLang="en-US" sz="1000">
              <a:solidFill>
                <a:srgbClr val="383838"/>
              </a:solidFill>
              <a:latin typeface="微软雅黑"/>
              <a:ea typeface="微软雅黑"/>
              <a:cs typeface="微软雅黑"/>
            </a:endParaRPr>
          </a:p>
        </p:txBody>
      </p:sp>
      <p:sp>
        <p:nvSpPr>
          <p:cNvPr id="36" name="文本框 35"/>
          <p:cNvSpPr txBox="1"/>
          <p:nvPr/>
        </p:nvSpPr>
        <p:spPr>
          <a:xfrm>
            <a:off x="1644650" y="4564380"/>
            <a:ext cx="1005205" cy="45974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观看直播</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车型卡片曝光</a:t>
            </a:r>
            <a:endParaRPr lang="zh-CN" altLang="en-US" sz="1000">
              <a:solidFill>
                <a:srgbClr val="383838"/>
              </a:solidFill>
              <a:latin typeface="微软雅黑"/>
              <a:ea typeface="微软雅黑"/>
              <a:cs typeface="微软雅黑"/>
            </a:endParaRPr>
          </a:p>
        </p:txBody>
      </p:sp>
      <p:sp>
        <p:nvSpPr>
          <p:cNvPr id="39" name="文本框 38"/>
          <p:cNvSpPr txBox="1"/>
          <p:nvPr/>
        </p:nvSpPr>
        <p:spPr>
          <a:xfrm>
            <a:off x="5671185" y="3441065"/>
            <a:ext cx="911225" cy="675640"/>
          </a:xfrm>
          <a:prstGeom prst="rect">
            <a:avLst/>
          </a:prstGeom>
          <a:noFill/>
        </p:spPr>
        <p:txBody>
          <a:bodyPr wrap="square" rtlCol="0" lIns="0" rIns="0" tIns="0" bIns="0" anchor="t">
            <a:noAutofit/>
          </a:bodyPr>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访问</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车型页</a:t>
            </a:r>
            <a:endParaRPr lang="zh-CN" altLang="en-US"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访问</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车友圈</a:t>
            </a:r>
            <a:endParaRPr lang="zh-CN" altLang="en-US"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搜索车型</a:t>
            </a:r>
            <a:endParaRPr lang="zh-CN" altLang="en-US" sz="1000">
              <a:solidFill>
                <a:srgbClr val="383838"/>
              </a:solidFill>
              <a:latin typeface="微软雅黑"/>
              <a:ea typeface="微软雅黑"/>
              <a:cs typeface="微软雅黑"/>
            </a:endParaRPr>
          </a:p>
        </p:txBody>
      </p:sp>
      <p:sp>
        <p:nvSpPr>
          <p:cNvPr id="40" name="文本框 39"/>
          <p:cNvSpPr txBox="1"/>
          <p:nvPr/>
        </p:nvSpPr>
        <p:spPr>
          <a:xfrm>
            <a:off x="5599430" y="4568190"/>
            <a:ext cx="1041400" cy="460375"/>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关注</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车型</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参数</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对比</a:t>
            </a:r>
            <a:endParaRPr lang="zh-CN" altLang="en-US" sz="1000">
              <a:solidFill>
                <a:srgbClr val="383838"/>
              </a:solidFill>
              <a:latin typeface="微软雅黑"/>
              <a:ea typeface="微软雅黑"/>
              <a:cs typeface="微软雅黑"/>
            </a:endParaRPr>
          </a:p>
        </p:txBody>
      </p:sp>
      <p:sp>
        <p:nvSpPr>
          <p:cNvPr id="41" name="文本框 40"/>
          <p:cNvSpPr txBox="1"/>
          <p:nvPr/>
        </p:nvSpPr>
        <p:spPr>
          <a:xfrm>
            <a:off x="7581900" y="3427730"/>
            <a:ext cx="1041400" cy="521970"/>
          </a:xfrm>
          <a:prstGeom prst="rect">
            <a:avLst/>
          </a:prstGeom>
          <a:noFill/>
        </p:spPr>
        <p:txBody>
          <a:bodyPr wrap="square" rtlCol="0" lIns="0" rIns="0" tIns="0" bIns="0" anchor="t">
            <a:noAutofit/>
          </a:bodyPr>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拨打</a:t>
            </a:r>
            <a:r>
              <a:rPr lang="en-US" altLang="zh-CN" sz="1000">
                <a:solidFill>
                  <a:srgbClr val="383838"/>
                </a:solidFill>
                <a:latin typeface="微软雅黑"/>
                <a:ea typeface="微软雅黑"/>
                <a:cs typeface="微软雅黑"/>
              </a:rPr>
              <a:t>400</a:t>
            </a:r>
            <a:r>
              <a:rPr lang="zh-CN" altLang="en-US" sz="1000">
                <a:solidFill>
                  <a:srgbClr val="383838"/>
                </a:solidFill>
                <a:latin typeface="微软雅黑"/>
                <a:ea typeface="微软雅黑"/>
                <a:cs typeface="微软雅黑"/>
              </a:rPr>
              <a:t>电话</a:t>
            </a:r>
            <a:endParaRPr lang="zh-CN" altLang="en-US"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线上</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留资</a:t>
            </a:r>
            <a:endParaRPr lang="zh-CN" altLang="en-US" sz="1000">
              <a:solidFill>
                <a:srgbClr val="383838"/>
              </a:solidFill>
              <a:latin typeface="微软雅黑"/>
              <a:ea typeface="微软雅黑"/>
              <a:cs typeface="微软雅黑"/>
            </a:endParaRPr>
          </a:p>
        </p:txBody>
      </p:sp>
      <p:sp>
        <p:nvSpPr>
          <p:cNvPr id="42" name="文本框 41"/>
          <p:cNvSpPr txBox="1"/>
          <p:nvPr/>
        </p:nvSpPr>
        <p:spPr>
          <a:xfrm>
            <a:off x="7589520" y="4511040"/>
            <a:ext cx="1041400" cy="245110"/>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联系</a:t>
            </a:r>
            <a:r>
              <a:rPr lang="en-US" altLang="zh-CN" sz="1000">
                <a:solidFill>
                  <a:srgbClr val="383838"/>
                </a:solidFill>
                <a:latin typeface="微软雅黑"/>
                <a:ea typeface="微软雅黑"/>
                <a:cs typeface="微软雅黑"/>
              </a:rPr>
              <a:t> </a:t>
            </a:r>
            <a:r>
              <a:rPr lang="zh-CN" sz="1000">
                <a:solidFill>
                  <a:srgbClr val="383838"/>
                </a:solidFill>
                <a:latin typeface="微软雅黑"/>
                <a:ea typeface="微软雅黑"/>
                <a:cs typeface="微软雅黑"/>
              </a:rPr>
              <a:t>销售</a:t>
            </a:r>
            <a:endParaRPr lang="zh-CN" sz="1000">
              <a:solidFill>
                <a:srgbClr val="383838"/>
              </a:solidFill>
              <a:latin typeface="微软雅黑"/>
              <a:ea typeface="微软雅黑"/>
              <a:cs typeface="微软雅黑"/>
            </a:endParaRPr>
          </a:p>
        </p:txBody>
      </p:sp>
      <p:sp>
        <p:nvSpPr>
          <p:cNvPr id="43" name="文本框 42"/>
          <p:cNvSpPr txBox="1"/>
          <p:nvPr/>
        </p:nvSpPr>
        <p:spPr>
          <a:xfrm>
            <a:off x="9347200" y="3531235"/>
            <a:ext cx="1303655" cy="460375"/>
          </a:xfrm>
          <a:prstGeom prst="rect">
            <a:avLst/>
          </a:prstGeom>
          <a:noFill/>
        </p:spPr>
        <p:txBody>
          <a:bodyPr wrap="square" rtlCol="0" lIns="0" rIns="0" tIns="0" bIns="0" anchor="t">
            <a:noAutofit/>
          </a:bodyPr>
          <a:p>
            <a:pPr algn="ctr" eaLnBrk="1" latinLnBrk="0" marL="0" marR="0" indent="0">
              <a:lnSpc>
                <a:spcPts val="1140"/>
              </a:lnSpc>
              <a:spcBef>
                <a:spcPts val="0"/>
              </a:spcBef>
              <a:spcAft>
                <a:spcPts val="0"/>
              </a:spcAft>
              <a:defRPr>
                <a:latin typeface="微软雅黑"/>
                <a:ea typeface="微软雅黑"/>
                <a:cs typeface="微软雅黑"/>
              </a:defRPr>
            </a:pPr>
            <a:r>
              <a:rPr lang="zh-CN" sz="1000">
                <a:solidFill>
                  <a:srgbClr val="383838"/>
                </a:solidFill>
                <a:latin typeface="微软雅黑"/>
                <a:ea typeface="微软雅黑"/>
                <a:cs typeface="微软雅黑"/>
              </a:rPr>
              <a:t>认证车主</a:t>
            </a:r>
            <a:r>
              <a:rPr lang="en-US" altLang="zh-CN" sz="1000">
                <a:solidFill>
                  <a:srgbClr val="383838"/>
                </a:solidFill>
                <a:latin typeface="微软雅黑"/>
                <a:ea typeface="微软雅黑"/>
                <a:cs typeface="微软雅黑"/>
              </a:rPr>
              <a:t> </a:t>
            </a:r>
            <a:r>
              <a:rPr lang="zh-CN" sz="1000">
                <a:solidFill>
                  <a:srgbClr val="383838"/>
                </a:solidFill>
                <a:latin typeface="微软雅黑"/>
                <a:ea typeface="微软雅黑"/>
                <a:cs typeface="微软雅黑"/>
              </a:rPr>
              <a:t>非负评论</a:t>
            </a:r>
            <a:endParaRPr lang="zh-CN"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发布</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口碑</a:t>
            </a:r>
            <a:endParaRPr lang="zh-CN" altLang="en-US" sz="1000">
              <a:solidFill>
                <a:srgbClr val="383838"/>
              </a:solidFill>
              <a:latin typeface="微软雅黑"/>
              <a:ea typeface="微软雅黑"/>
              <a:cs typeface="微软雅黑"/>
            </a:endParaRPr>
          </a:p>
        </p:txBody>
      </p:sp>
      <p:sp>
        <p:nvSpPr>
          <p:cNvPr id="44" name="文本框 43"/>
          <p:cNvSpPr txBox="1"/>
          <p:nvPr/>
        </p:nvSpPr>
        <p:spPr>
          <a:xfrm>
            <a:off x="9357360" y="4511040"/>
            <a:ext cx="1303655" cy="460375"/>
          </a:xfrm>
          <a:prstGeom prst="rect">
            <a:avLst/>
          </a:prstGeom>
          <a:noFill/>
        </p:spPr>
        <p:txBody>
          <a:bodyPr wrap="square" rtlCol="0" lIns="0" rIns="0" tIns="0" bIns="0">
            <a:spAutoFit/>
          </a:bodyPr>
          <a:p>
            <a:pPr algn="ctr">
              <a:defRPr>
                <a:latin typeface="微软雅黑"/>
                <a:ea typeface="微软雅黑"/>
                <a:cs typeface="微软雅黑"/>
              </a:defRPr>
            </a:pPr>
            <a:r>
              <a:rPr lang="zh-CN" sz="1000">
                <a:solidFill>
                  <a:srgbClr val="383838"/>
                </a:solidFill>
                <a:latin typeface="微软雅黑"/>
                <a:ea typeface="微软雅黑"/>
                <a:cs typeface="微软雅黑"/>
              </a:rPr>
              <a:t>发布提</a:t>
            </a:r>
            <a:r>
              <a:rPr lang="en-US" altLang="zh-CN" sz="1000">
                <a:solidFill>
                  <a:srgbClr val="383838"/>
                </a:solidFill>
                <a:latin typeface="微软雅黑"/>
                <a:ea typeface="微软雅黑"/>
                <a:cs typeface="微软雅黑"/>
              </a:rPr>
              <a:t> </a:t>
            </a:r>
            <a:r>
              <a:rPr lang="zh-CN" sz="1000">
                <a:solidFill>
                  <a:srgbClr val="383838"/>
                </a:solidFill>
                <a:latin typeface="微软雅黑"/>
                <a:ea typeface="微软雅黑"/>
                <a:cs typeface="微软雅黑"/>
              </a:rPr>
              <a:t>车作业</a:t>
            </a: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endParaRPr lang="zh-CN"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发布</a:t>
            </a:r>
            <a:r>
              <a:rPr lang="en-US" altLang="zh-CN" sz="1000">
                <a:solidFill>
                  <a:srgbClr val="383838"/>
                </a:solidFill>
                <a:latin typeface="微软雅黑"/>
                <a:ea typeface="微软雅黑"/>
                <a:cs typeface="微软雅黑"/>
              </a:rPr>
              <a:t> </a:t>
            </a:r>
            <a:r>
              <a:rPr lang="zh-CN" altLang="en-US" sz="1000">
                <a:solidFill>
                  <a:srgbClr val="383838"/>
                </a:solidFill>
                <a:latin typeface="微软雅黑"/>
                <a:ea typeface="微软雅黑"/>
                <a:cs typeface="微软雅黑"/>
              </a:rPr>
              <a:t>用车</a:t>
            </a:r>
            <a:endParaRPr lang="zh-CN" altLang="en-US" sz="1000">
              <a:solidFill>
                <a:srgbClr val="383838"/>
              </a:solidFill>
              <a:latin typeface="微软雅黑"/>
              <a:ea typeface="微软雅黑"/>
              <a:cs typeface="微软雅黑"/>
            </a:endParaRPr>
          </a:p>
        </p:txBody>
      </p:sp>
      <p:cxnSp>
        <p:nvCxnSpPr>
          <p:cNvPr id="137" name="曲线连接符 136"/>
          <p:cNvCxnSpPr/>
          <p:nvPr/>
        </p:nvCxnSpPr>
        <p:spPr>
          <a:xfrm rot="16200000" flipH="1">
            <a:off x="6125210" y="-1501140"/>
            <a:ext cx="81280" cy="10521315"/>
          </a:xfrm>
          <a:prstGeom prst="curvedConnector3">
            <a:avLst>
              <a:gd name="adj1" fmla="val -1312890"/>
            </a:avLst>
          </a:prstGeom>
          <a:ln>
            <a:solidFill>
              <a:srgbClr val="383838"/>
            </a:solidFill>
            <a:prstDash val="sysDash"/>
          </a:ln>
        </p:spPr>
        <p:style>
          <a:lnRef idx="2">
            <a:srgbClr val="0042FF"/>
          </a:lnRef>
          <a:fillRef idx="0">
            <a:srgbClr val="FFFFFF"/>
          </a:fillRef>
          <a:effectRef idx="0">
            <a:srgbClr val="FFFFFF"/>
          </a:effectRef>
          <a:fontRef idx="minor">
            <a:srgbClr val="383838"/>
          </a:fontRef>
        </p:style>
      </p:cxnSp>
      <p:cxnSp>
        <p:nvCxnSpPr>
          <p:cNvPr id="8" name="直接连接符 7"/>
          <p:cNvCxnSpPr/>
          <p:nvPr/>
        </p:nvCxnSpPr>
        <p:spPr>
          <a:xfrm>
            <a:off x="4156075" y="2806065"/>
            <a:ext cx="6350" cy="2832735"/>
          </a:xfrm>
          <a:prstGeom prst="line">
            <a:avLst/>
          </a:prstGeom>
          <a:ln w="38100">
            <a:solidFill>
              <a:srgbClr val="3368FF">
                <a:alpha val="40000"/>
              </a:srgbClr>
            </a:solidFill>
          </a:ln>
        </p:spPr>
        <p:style>
          <a:lnRef idx="2">
            <a:srgbClr val="0042FF"/>
          </a:lnRef>
          <a:fillRef idx="0">
            <a:srgbClr val="FFFFFF"/>
          </a:fillRef>
          <a:effectRef idx="0">
            <a:srgbClr val="FFFFFF"/>
          </a:effectRef>
          <a:fontRef idx="minor">
            <a:srgbClr val="383838"/>
          </a:fontRef>
        </p:style>
      </p:cxnSp>
      <p:cxnSp>
        <p:nvCxnSpPr>
          <p:cNvPr id="12" name="直接连接符 11"/>
          <p:cNvCxnSpPr/>
          <p:nvPr/>
        </p:nvCxnSpPr>
        <p:spPr>
          <a:xfrm>
            <a:off x="9996170" y="2091690"/>
            <a:ext cx="6350" cy="4168775"/>
          </a:xfrm>
          <a:prstGeom prst="line">
            <a:avLst/>
          </a:prstGeom>
          <a:ln w="38100">
            <a:solidFill>
              <a:srgbClr val="3368FF">
                <a:alpha val="40000"/>
              </a:srgbClr>
            </a:solidFill>
          </a:ln>
        </p:spPr>
        <p:style>
          <a:lnRef idx="2">
            <a:srgbClr val="0042FF"/>
          </a:lnRef>
          <a:fillRef idx="0">
            <a:srgbClr val="FFFFFF"/>
          </a:fillRef>
          <a:effectRef idx="0">
            <a:srgbClr val="FFFFFF"/>
          </a:effectRef>
          <a:fontRef idx="minor">
            <a:srgbClr val="383838"/>
          </a:fontRef>
        </p:style>
      </p:cxnSp>
      <p:cxnSp>
        <p:nvCxnSpPr>
          <p:cNvPr id="14" name="直接连接符 13"/>
          <p:cNvCxnSpPr/>
          <p:nvPr/>
        </p:nvCxnSpPr>
        <p:spPr>
          <a:xfrm flipV="1">
            <a:off x="2164715" y="4966335"/>
            <a:ext cx="3938270" cy="1364615"/>
          </a:xfrm>
          <a:prstGeom prst="line">
            <a:avLst/>
          </a:prstGeom>
          <a:ln w="38100">
            <a:solidFill>
              <a:srgbClr val="3368FF">
                <a:alpha val="40000"/>
              </a:srgbClr>
            </a:solidFill>
          </a:ln>
        </p:spPr>
        <p:style>
          <a:lnRef idx="2">
            <a:srgbClr val="0042FF"/>
          </a:lnRef>
          <a:fillRef idx="0">
            <a:srgbClr val="FFFFFF"/>
          </a:fillRef>
          <a:effectRef idx="0">
            <a:srgbClr val="FFFFFF"/>
          </a:effectRef>
          <a:fontRef idx="minor">
            <a:srgbClr val="383838"/>
          </a:fontRef>
        </p:style>
      </p:cxnSp>
      <p:cxnSp>
        <p:nvCxnSpPr>
          <p:cNvPr id="20" name="直接连接符 19"/>
          <p:cNvCxnSpPr/>
          <p:nvPr/>
        </p:nvCxnSpPr>
        <p:spPr>
          <a:xfrm>
            <a:off x="2148205" y="2102485"/>
            <a:ext cx="3952240" cy="1363345"/>
          </a:xfrm>
          <a:prstGeom prst="line">
            <a:avLst/>
          </a:prstGeom>
          <a:ln w="38100">
            <a:solidFill>
              <a:srgbClr val="3368FF">
                <a:alpha val="40000"/>
              </a:srgbClr>
            </a:solidFill>
          </a:ln>
        </p:spPr>
        <p:style>
          <a:lnRef idx="2">
            <a:srgbClr val="0042FF"/>
          </a:lnRef>
          <a:fillRef idx="0">
            <a:srgbClr val="FFFFFF"/>
          </a:fillRef>
          <a:effectRef idx="0">
            <a:srgbClr val="FFFFFF"/>
          </a:effectRef>
          <a:fontRef idx="minor">
            <a:srgbClr val="383838"/>
          </a:fontRef>
        </p:style>
      </p:cxnSp>
      <p:cxnSp>
        <p:nvCxnSpPr>
          <p:cNvPr id="21" name="直接连接符 20"/>
          <p:cNvCxnSpPr/>
          <p:nvPr/>
        </p:nvCxnSpPr>
        <p:spPr>
          <a:xfrm flipV="1">
            <a:off x="6090920" y="2089150"/>
            <a:ext cx="3893820" cy="1368425"/>
          </a:xfrm>
          <a:prstGeom prst="line">
            <a:avLst/>
          </a:prstGeom>
          <a:ln w="38100">
            <a:solidFill>
              <a:srgbClr val="3368FF">
                <a:alpha val="40000"/>
              </a:srgbClr>
            </a:solidFill>
          </a:ln>
        </p:spPr>
        <p:style>
          <a:lnRef idx="2">
            <a:srgbClr val="0042FF"/>
          </a:lnRef>
          <a:fillRef idx="0">
            <a:srgbClr val="FFFFFF"/>
          </a:fillRef>
          <a:effectRef idx="0">
            <a:srgbClr val="FFFFFF"/>
          </a:effectRef>
          <a:fontRef idx="minor">
            <a:srgbClr val="383838"/>
          </a:fontRef>
        </p:style>
      </p:cxnSp>
      <p:cxnSp>
        <p:nvCxnSpPr>
          <p:cNvPr id="142" name="曲线连接符 141"/>
          <p:cNvCxnSpPr>
            <a:stCxn id="134" idx="4"/>
          </p:cNvCxnSpPr>
          <p:nvPr/>
        </p:nvCxnSpPr>
        <p:spPr>
          <a:xfrm rot="5400000" flipH="1" flipV="1">
            <a:off x="6148070" y="-598170"/>
            <a:ext cx="35560" cy="10521315"/>
          </a:xfrm>
          <a:prstGeom prst="curvedConnector3">
            <a:avLst>
              <a:gd name="adj1" fmla="val -3934821"/>
            </a:avLst>
          </a:prstGeom>
          <a:ln>
            <a:solidFill>
              <a:srgbClr val="383838"/>
            </a:solidFill>
            <a:prstDash val="sysDash"/>
          </a:ln>
        </p:spPr>
        <p:style>
          <a:lnRef idx="2">
            <a:srgbClr val="0042FF"/>
          </a:lnRef>
          <a:fillRef idx="0">
            <a:srgbClr val="FFFFFF"/>
          </a:fillRef>
          <a:effectRef idx="0">
            <a:srgbClr val="FFFFFF"/>
          </a:effectRef>
          <a:fontRef idx="minor">
            <a:srgbClr val="383838"/>
          </a:fontRef>
        </p:style>
      </p:cxnSp>
      <p:sp>
        <p:nvSpPr>
          <p:cNvPr id="144" name="等腰三角形 143"/>
          <p:cNvSpPr/>
          <p:nvPr/>
        </p:nvSpPr>
        <p:spPr>
          <a:xfrm rot="5400000">
            <a:off x="5947410" y="2586990"/>
            <a:ext cx="175895" cy="142875"/>
          </a:xfrm>
          <a:prstGeom prst="triangle">
            <a:avLst/>
          </a:prstGeom>
          <a:solidFill>
            <a:srgbClr val="383838"/>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45" name="等腰三角形 144"/>
          <p:cNvSpPr/>
          <p:nvPr/>
        </p:nvSpPr>
        <p:spPr>
          <a:xfrm rot="5400000">
            <a:off x="6045835" y="6016625"/>
            <a:ext cx="175895" cy="142875"/>
          </a:xfrm>
          <a:prstGeom prst="triangle">
            <a:avLst/>
          </a:prstGeom>
          <a:solidFill>
            <a:srgbClr val="383838"/>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46" name="等腰三角形 145"/>
          <p:cNvSpPr/>
          <p:nvPr/>
        </p:nvSpPr>
        <p:spPr>
          <a:xfrm rot="5400000">
            <a:off x="3052445" y="4194810"/>
            <a:ext cx="175895" cy="14287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47" name="等腰三角形 146"/>
          <p:cNvSpPr/>
          <p:nvPr/>
        </p:nvSpPr>
        <p:spPr>
          <a:xfrm rot="5400000">
            <a:off x="5089525" y="4194810"/>
            <a:ext cx="175895" cy="14287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48" name="等腰三角形 147"/>
          <p:cNvSpPr/>
          <p:nvPr/>
        </p:nvSpPr>
        <p:spPr>
          <a:xfrm rot="5400000">
            <a:off x="7100570" y="4194810"/>
            <a:ext cx="175895" cy="14287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49" name="等腰三角形 148"/>
          <p:cNvSpPr/>
          <p:nvPr/>
        </p:nvSpPr>
        <p:spPr>
          <a:xfrm rot="5400000">
            <a:off x="8956040" y="4194810"/>
            <a:ext cx="175895" cy="14287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55" name="文本框 154"/>
          <p:cNvSpPr txBox="1"/>
          <p:nvPr/>
        </p:nvSpPr>
        <p:spPr>
          <a:xfrm>
            <a:off x="3653790" y="4545330"/>
            <a:ext cx="1005205" cy="45974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转发内容</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a:solidFill>
                  <a:srgbClr val="383838"/>
                </a:solidFill>
                <a:latin typeface="微软雅黑"/>
                <a:ea typeface="微软雅黑"/>
                <a:cs typeface="微软雅黑"/>
              </a:rPr>
              <a:t>正向评论</a:t>
            </a:r>
            <a:endParaRPr lang="zh-CN" altLang="en-US" sz="1000">
              <a:solidFill>
                <a:srgbClr val="383838"/>
              </a:solidFill>
              <a:latin typeface="微软雅黑"/>
              <a:ea typeface="微软雅黑"/>
              <a:cs typeface="微软雅黑"/>
            </a:endParaRPr>
          </a:p>
        </p:txBody>
      </p:sp>
      <p:sp>
        <p:nvSpPr>
          <p:cNvPr id="156" name="文本框 155"/>
          <p:cNvSpPr txBox="1"/>
          <p:nvPr/>
        </p:nvSpPr>
        <p:spPr>
          <a:xfrm>
            <a:off x="3729355" y="3445510"/>
            <a:ext cx="911225" cy="675640"/>
          </a:xfrm>
          <a:prstGeom prst="rect">
            <a:avLst/>
          </a:prstGeom>
          <a:noFill/>
        </p:spPr>
        <p:txBody>
          <a:bodyPr wrap="square" rtlCol="0" lIns="0" rIns="0" tIns="0" bIns="0" anchor="t">
            <a:noAutofit/>
          </a:bodyPr>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点击广告</a:t>
            </a:r>
            <a:endParaRPr lang="zh-CN" altLang="en-US"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有效阅读</a:t>
            </a:r>
            <a:endParaRPr lang="zh-CN" altLang="en-US" sz="1000">
              <a:solidFill>
                <a:srgbClr val="383838"/>
              </a:solidFill>
              <a:latin typeface="微软雅黑"/>
              <a:ea typeface="微软雅黑"/>
              <a:cs typeface="微软雅黑"/>
            </a:endParaRPr>
          </a:p>
          <a:p>
            <a:pPr algn="ctr" eaLnBrk="1" latinLnBrk="0" marL="0" marR="0" indent="0">
              <a:lnSpc>
                <a:spcPts val="114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点赞内容</a:t>
            </a:r>
            <a:endParaRPr lang="zh-CN" altLang="en-US" sz="1000">
              <a:solidFill>
                <a:srgbClr val="383838"/>
              </a:solidFill>
              <a:latin typeface="微软雅黑"/>
              <a:ea typeface="微软雅黑"/>
              <a:cs typeface="微软雅黑"/>
            </a:endParaRPr>
          </a:p>
        </p:txBody>
      </p:sp>
      <p:grpSp>
        <p:nvGrpSpPr>
          <p:cNvPr id="163" name="组合 162"/>
          <p:cNvGrpSpPr/>
          <p:nvPr/>
        </p:nvGrpSpPr>
        <p:grpSpPr>
          <a:xfrm>
            <a:off x="2146935" y="2087880"/>
            <a:ext cx="7862570" cy="4247515"/>
            <a:chOff x="3273" y="2953"/>
            <a:chExt cx="12382" cy="6689"/>
          </a:xfrm>
        </p:grpSpPr>
        <p:cxnSp>
          <p:nvCxnSpPr>
            <p:cNvPr id="3" name="直接连接符 2"/>
            <p:cNvCxnSpPr/>
            <p:nvPr/>
          </p:nvCxnSpPr>
          <p:spPr>
            <a:xfrm>
              <a:off x="3278" y="2953"/>
              <a:ext cx="3157" cy="2574"/>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4" name="直接连接符 3"/>
            <p:cNvCxnSpPr/>
            <p:nvPr/>
          </p:nvCxnSpPr>
          <p:spPr>
            <a:xfrm flipV="1">
              <a:off x="6427" y="4507"/>
              <a:ext cx="3043" cy="1016"/>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6" name="直接连接符 5"/>
            <p:cNvCxnSpPr/>
            <p:nvPr/>
          </p:nvCxnSpPr>
          <p:spPr>
            <a:xfrm>
              <a:off x="9461" y="4505"/>
              <a:ext cx="3193" cy="1043"/>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7" name="直接连接符 6"/>
            <p:cNvCxnSpPr/>
            <p:nvPr/>
          </p:nvCxnSpPr>
          <p:spPr>
            <a:xfrm flipV="1">
              <a:off x="12649" y="4953"/>
              <a:ext cx="2998" cy="601"/>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9" name="直接连接符 8"/>
            <p:cNvCxnSpPr/>
            <p:nvPr/>
          </p:nvCxnSpPr>
          <p:spPr>
            <a:xfrm flipH="1">
              <a:off x="9457" y="4486"/>
              <a:ext cx="10" cy="3540"/>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3" name="直接连接符 12"/>
            <p:cNvCxnSpPr/>
            <p:nvPr/>
          </p:nvCxnSpPr>
          <p:spPr>
            <a:xfrm>
              <a:off x="3273" y="2953"/>
              <a:ext cx="19" cy="6689"/>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6" name="直接连接符 15"/>
            <p:cNvCxnSpPr/>
            <p:nvPr/>
          </p:nvCxnSpPr>
          <p:spPr>
            <a:xfrm flipV="1">
              <a:off x="3287" y="7243"/>
              <a:ext cx="3166" cy="2387"/>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7" name="直接连接符 16"/>
            <p:cNvCxnSpPr/>
            <p:nvPr/>
          </p:nvCxnSpPr>
          <p:spPr>
            <a:xfrm>
              <a:off x="6450" y="7227"/>
              <a:ext cx="2994" cy="768"/>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8" name="直接连接符 17"/>
            <p:cNvCxnSpPr/>
            <p:nvPr/>
          </p:nvCxnSpPr>
          <p:spPr>
            <a:xfrm flipV="1">
              <a:off x="9481" y="7121"/>
              <a:ext cx="3147" cy="864"/>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9" name="直接连接符 18"/>
            <p:cNvCxnSpPr/>
            <p:nvPr/>
          </p:nvCxnSpPr>
          <p:spPr>
            <a:xfrm>
              <a:off x="12628" y="7106"/>
              <a:ext cx="3013" cy="473"/>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57" name="直接连接符 156"/>
            <p:cNvCxnSpPr/>
            <p:nvPr/>
          </p:nvCxnSpPr>
          <p:spPr>
            <a:xfrm>
              <a:off x="6440" y="5548"/>
              <a:ext cx="3" cy="1685"/>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59" name="直接连接符 158"/>
            <p:cNvCxnSpPr/>
            <p:nvPr/>
          </p:nvCxnSpPr>
          <p:spPr>
            <a:xfrm>
              <a:off x="12657" y="5576"/>
              <a:ext cx="2" cy="1524"/>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cxnSp>
          <p:nvCxnSpPr>
            <p:cNvPr id="161" name="直接连接符 160"/>
            <p:cNvCxnSpPr/>
            <p:nvPr/>
          </p:nvCxnSpPr>
          <p:spPr>
            <a:xfrm>
              <a:off x="15629" y="4953"/>
              <a:ext cx="26" cy="2671"/>
            </a:xfrm>
            <a:prstGeom prst="line">
              <a:avLst/>
            </a:prstGeom>
            <a:ln w="38100">
              <a:solidFill>
                <a:srgbClr val="0042FF">
                  <a:alpha val="80000"/>
                </a:srgbClr>
              </a:solidFill>
            </a:ln>
          </p:spPr>
          <p:style>
            <a:lnRef idx="2">
              <a:srgbClr val="0042FF"/>
            </a:lnRef>
            <a:fillRef idx="0">
              <a:srgbClr val="FFFFFF"/>
            </a:fillRef>
            <a:effectRef idx="0">
              <a:srgbClr val="FFFFFF"/>
            </a:effectRef>
            <a:fontRef idx="minor">
              <a:srgbClr val="383838"/>
            </a:fontRef>
          </p:style>
        </p:cxnSp>
      </p:grpSp>
      <p:sp>
        <p:nvSpPr>
          <p:cNvPr id="165" name="矩形 164"/>
          <p:cNvSpPr/>
          <p:nvPr/>
        </p:nvSpPr>
        <p:spPr>
          <a:xfrm>
            <a:off x="1798955" y="4081780"/>
            <a:ext cx="756920" cy="412115"/>
          </a:xfrm>
          <a:prstGeom prst="rect">
            <a:avLst/>
          </a:prstGeom>
          <a:gradFill>
            <a:gsLst>
              <a:gs pos="0">
                <a:srgbClr val="B3D4FE"/>
              </a:gs>
              <a:gs pos="7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rtlCol="0" anchor="ctr"/>
          <a:p>
            <a:pPr algn="ctr">
              <a:defRPr>
                <a:solidFill>
                  <a:srgbClr val="FFFFFF"/>
                </a:solidFill>
                <a:latin typeface="微软雅黑"/>
                <a:ea typeface="微软雅黑"/>
                <a:cs typeface="微软雅黑"/>
              </a:defRPr>
            </a:pPr>
            <a:r>
              <a:rPr lang="zh-CN" altLang="en-US" sz="1200" b="1">
                <a:solidFill>
                  <a:srgbClr val="FFFFFF"/>
                </a:solidFill>
                <a:cs typeface="微软雅黑"/>
                <a:latin typeface="微软雅黑"/>
                <a:ea typeface="微软雅黑"/>
              </a:rPr>
              <a:t>感知</a:t>
            </a:r>
            <a:endParaRPr lang="zh-CN" altLang="en-US" sz="1200" b="1">
              <a:solidFill>
                <a:srgbClr val="FFFFFF"/>
              </a:solidFill>
              <a:cs typeface="微软雅黑"/>
              <a:latin typeface="微软雅黑"/>
              <a:ea typeface="微软雅黑"/>
            </a:endParaRPr>
          </a:p>
        </p:txBody>
      </p:sp>
      <p:sp>
        <p:nvSpPr>
          <p:cNvPr id="166" name="矩形 165"/>
          <p:cNvSpPr/>
          <p:nvPr/>
        </p:nvSpPr>
        <p:spPr>
          <a:xfrm>
            <a:off x="5711190" y="4108450"/>
            <a:ext cx="756920" cy="412115"/>
          </a:xfrm>
          <a:prstGeom prst="rect">
            <a:avLst/>
          </a:prstGeom>
          <a:gradFill>
            <a:gsLst>
              <a:gs pos="0">
                <a:srgbClr val="B3D4FE"/>
              </a:gs>
              <a:gs pos="7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b="1">
                <a:solidFill>
                  <a:srgbClr val="FFFFFF"/>
                </a:solidFill>
                <a:cs typeface="微软雅黑"/>
                <a:sym typeface="微软雅黑"/>
                <a:latin typeface="微软雅黑"/>
                <a:ea typeface="微软雅黑"/>
              </a:rPr>
              <a:t>询问</a:t>
            </a:r>
            <a:endParaRPr lang="zh-CN" altLang="en-US" sz="1200" b="1">
              <a:solidFill>
                <a:srgbClr val="FFFFFF"/>
              </a:solidFill>
              <a:cs typeface="微软雅黑"/>
              <a:sym typeface="微软雅黑"/>
              <a:latin typeface="微软雅黑"/>
              <a:ea typeface="微软雅黑"/>
            </a:endParaRPr>
          </a:p>
        </p:txBody>
      </p:sp>
      <p:sp>
        <p:nvSpPr>
          <p:cNvPr id="167" name="矩形 166"/>
          <p:cNvSpPr/>
          <p:nvPr/>
        </p:nvSpPr>
        <p:spPr>
          <a:xfrm>
            <a:off x="3827145" y="4102735"/>
            <a:ext cx="756920" cy="412115"/>
          </a:xfrm>
          <a:prstGeom prst="rect">
            <a:avLst/>
          </a:prstGeom>
          <a:gradFill>
            <a:gsLst>
              <a:gs pos="0">
                <a:srgbClr val="B3D4FE"/>
              </a:gs>
              <a:gs pos="7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b="1">
                <a:solidFill>
                  <a:srgbClr val="FFFFFF"/>
                </a:solidFill>
                <a:cs typeface="微软雅黑"/>
                <a:sym typeface="微软雅黑"/>
                <a:latin typeface="微软雅黑"/>
                <a:ea typeface="微软雅黑"/>
              </a:rPr>
              <a:t>好奇</a:t>
            </a:r>
            <a:endParaRPr lang="zh-CN" altLang="en-US" sz="1200" b="1">
              <a:solidFill>
                <a:srgbClr val="FFFFFF"/>
              </a:solidFill>
              <a:cs typeface="微软雅黑"/>
              <a:sym typeface="微软雅黑"/>
              <a:latin typeface="微软雅黑"/>
              <a:ea typeface="微软雅黑"/>
            </a:endParaRPr>
          </a:p>
        </p:txBody>
      </p:sp>
      <p:sp>
        <p:nvSpPr>
          <p:cNvPr id="168" name="矩形 167"/>
          <p:cNvSpPr/>
          <p:nvPr/>
        </p:nvSpPr>
        <p:spPr>
          <a:xfrm>
            <a:off x="7749540" y="4081780"/>
            <a:ext cx="756920" cy="412115"/>
          </a:xfrm>
          <a:prstGeom prst="rect">
            <a:avLst/>
          </a:prstGeom>
          <a:gradFill>
            <a:gsLst>
              <a:gs pos="0">
                <a:srgbClr val="B3D4FE"/>
              </a:gs>
              <a:gs pos="7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b="1">
                <a:solidFill>
                  <a:srgbClr val="FFFFFF"/>
                </a:solidFill>
                <a:cs typeface="微软雅黑"/>
                <a:sym typeface="微软雅黑"/>
                <a:latin typeface="微软雅黑"/>
                <a:ea typeface="微软雅黑"/>
              </a:rPr>
              <a:t>行动</a:t>
            </a:r>
            <a:endParaRPr lang="zh-CN" altLang="en-US" sz="1200" b="1">
              <a:solidFill>
                <a:srgbClr val="FFFFFF"/>
              </a:solidFill>
              <a:cs typeface="微软雅黑"/>
              <a:sym typeface="微软雅黑"/>
              <a:latin typeface="微软雅黑"/>
              <a:ea typeface="微软雅黑"/>
            </a:endParaRPr>
          </a:p>
        </p:txBody>
      </p:sp>
      <p:sp>
        <p:nvSpPr>
          <p:cNvPr id="169" name="矩形 168"/>
          <p:cNvSpPr/>
          <p:nvPr/>
        </p:nvSpPr>
        <p:spPr>
          <a:xfrm>
            <a:off x="9623425" y="4081780"/>
            <a:ext cx="756920" cy="412115"/>
          </a:xfrm>
          <a:prstGeom prst="rect">
            <a:avLst/>
          </a:prstGeom>
          <a:gradFill>
            <a:gsLst>
              <a:gs pos="0">
                <a:srgbClr val="B3D4FE"/>
              </a:gs>
              <a:gs pos="70000">
                <a:srgbClr val="3368FF"/>
              </a:gs>
            </a:gsLst>
            <a:lin ang="162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200" b="1">
                <a:solidFill>
                  <a:srgbClr val="FFFFFF"/>
                </a:solidFill>
                <a:cs typeface="微软雅黑"/>
                <a:sym typeface="微软雅黑"/>
                <a:latin typeface="微软雅黑"/>
                <a:ea typeface="微软雅黑"/>
              </a:rPr>
              <a:t>用户</a:t>
            </a:r>
            <a:endParaRPr lang="zh-CN" altLang="en-US" sz="1200" b="1">
              <a:solidFill>
                <a:srgbClr val="FFFFFF"/>
              </a:solidFill>
              <a:cs typeface="微软雅黑"/>
              <a:sym typeface="微软雅黑"/>
              <a:latin typeface="微软雅黑"/>
              <a:ea typeface="微软雅黑"/>
            </a:endParaRPr>
          </a:p>
        </p:txBody>
      </p:sp>
      <p:sp>
        <p:nvSpPr>
          <p:cNvPr id="23" name="椭圆 22"/>
          <p:cNvSpPr/>
          <p:nvPr/>
        </p:nvSpPr>
        <p:spPr>
          <a:xfrm>
            <a:off x="388620" y="3718560"/>
            <a:ext cx="962025" cy="962025"/>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24" name="椭圆 23"/>
          <p:cNvSpPr/>
          <p:nvPr/>
        </p:nvSpPr>
        <p:spPr>
          <a:xfrm>
            <a:off x="388620" y="3718560"/>
            <a:ext cx="962025" cy="962025"/>
          </a:xfrm>
          <a:prstGeom prst="ellipse">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pic>
        <p:nvPicPr>
          <p:cNvPr id="25" name="图片 24" descr="客户群组"/>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1343" y="3911283"/>
            <a:ext cx="576580" cy="576580"/>
          </a:xfrm>
          <a:prstGeom prst="rect">
            <a:avLst/>
          </a:prstGeom>
        </p:spPr>
      </p:pic>
      <p:sp>
        <p:nvSpPr>
          <p:cNvPr id="28" name="等腰三角形 27"/>
          <p:cNvSpPr/>
          <p:nvPr/>
        </p:nvSpPr>
        <p:spPr>
          <a:xfrm rot="5400000">
            <a:off x="10644505" y="4194810"/>
            <a:ext cx="175895" cy="14287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grpSp>
        <p:nvGrpSpPr>
          <p:cNvPr id="31" name="组合 30"/>
          <p:cNvGrpSpPr/>
          <p:nvPr/>
        </p:nvGrpSpPr>
        <p:grpSpPr>
          <a:xfrm>
            <a:off x="10916920" y="3800475"/>
            <a:ext cx="961390" cy="961390"/>
            <a:chOff x="17290" y="6653"/>
            <a:chExt cx="1514" cy="1514"/>
          </a:xfrm>
        </p:grpSpPr>
        <p:sp>
          <p:nvSpPr>
            <p:cNvPr id="26" name="椭圆 25"/>
            <p:cNvSpPr/>
            <p:nvPr/>
          </p:nvSpPr>
          <p:spPr>
            <a:xfrm>
              <a:off x="17290" y="6653"/>
              <a:ext cx="1515" cy="1515"/>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 name="椭圆 28"/>
            <p:cNvSpPr/>
            <p:nvPr/>
          </p:nvSpPr>
          <p:spPr>
            <a:xfrm>
              <a:off x="17290" y="6653"/>
              <a:ext cx="1515" cy="1515"/>
            </a:xfrm>
            <a:prstGeom prst="ellipse">
              <a:avLst/>
            </a:prstGeom>
            <a:solidFill>
              <a:srgbClr val="FFFFFF">
                <a:alpha val="2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pic>
          <p:nvPicPr>
            <p:cNvPr id="30" name="图片 29" descr="汽车"/>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7464" y="6826"/>
              <a:ext cx="1168" cy="1168"/>
            </a:xfrm>
            <a:prstGeom prst="rect">
              <a:avLst/>
            </a:prstGeom>
          </p:spPr>
        </p:pic>
      </p:grpSp>
      <p:cxnSp>
        <p:nvCxnSpPr>
          <p:cNvPr id="3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3" name="组合 32"/>
          <p:cNvGrpSpPr/>
          <p:nvPr/>
        </p:nvGrpSpPr>
        <p:grpSpPr>
          <a:xfrm>
            <a:off x="8738235" y="348615"/>
            <a:ext cx="3219450" cy="332740"/>
            <a:chOff x="13761" y="549"/>
            <a:chExt cx="5070" cy="524"/>
          </a:xfrm>
        </p:grpSpPr>
        <p:pic>
          <p:nvPicPr>
            <p:cNvPr id="34" name="图片 33"/>
            <p:cNvPicPr>
              <a:picLocks noChangeAspect="1"/>
            </p:cNvPicPr>
            <p:nvPr userDrawn="1"/>
          </p:nvPicPr>
          <p:blipFill>
            <a:blip r:embed="rId7"/>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 name="文本框 373"/>
          <p:cNvSpPr txBox="1"/>
          <p:nvPr/>
        </p:nvSpPr>
        <p:spPr>
          <a:xfrm>
            <a:off x="7350972" y="5657850"/>
            <a:ext cx="1803400" cy="8001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在投入生产之前，您是否看到了与更多供应商或合作伙伴接洽的机会？您是否有合适的团队和反馈回路来持续改进生产？</a:t>
            </a:r>
            <a:endParaRPr lang="zh-CN" altLang="en-US" sz="1000" dirty="0">
              <a:solidFill>
                <a:srgbClr val="383838"/>
              </a:solidFill>
              <a:latin typeface="微软雅黑"/>
              <a:ea typeface="微软雅黑"/>
              <a:cs typeface="微软雅黑"/>
            </a:endParaRPr>
          </a:p>
        </p:txBody>
      </p:sp>
      <p:sp>
        <p:nvSpPr>
          <p:cNvPr id="301" name="文本框 300"/>
          <p:cNvSpPr txBox="1"/>
          <p:nvPr/>
        </p:nvSpPr>
        <p:spPr>
          <a:xfrm>
            <a:off x="1505976" y="4505549"/>
            <a:ext cx="886969" cy="307777"/>
          </a:xfrm>
          <a:prstGeom prst="rect">
            <a:avLst/>
          </a:prstGeom>
          <a:noFill/>
        </p:spPr>
        <p:txBody>
          <a:bodyPr wrap="square" lIns="0" rIns="0" tIns="0" bIns="0" anchor="t">
            <a:noAutofit/>
          </a:bodyPr>
          <a:lstStyle>
            <a:defPPr>
              <a:defRPr lang="zh-CN">
                <a:latin typeface="微软雅黑"/>
                <a:ea typeface="微软雅黑"/>
                <a:cs typeface="微软雅黑"/>
              </a:defRPr>
            </a:defPPr>
            <a:lvl1pPr>
              <a:defRPr sz="1000" b="1">
                <a:latin typeface="微软雅黑"/>
                <a:ea typeface="微软雅黑"/>
                <a:cs typeface="微软雅黑"/>
              </a:defRPr>
            </a:lvl1pPr>
          </a:lstStyle>
          <a:p>
            <a:pPr eaLnBrk="1" latinLnBrk="0" marL="0" marR="0" indent="0">
              <a:lnSpc>
                <a:spcPts val="1100"/>
              </a:lnSpc>
              <a:spcBef>
                <a:spcPts val="0"/>
              </a:spcBef>
              <a:spcAft>
                <a:spcPts val="0"/>
              </a:spcAft>
              <a:defRPr>
                <a:latin typeface="微软雅黑"/>
                <a:ea typeface="微软雅黑"/>
                <a:cs typeface="微软雅黑"/>
              </a:defRPr>
            </a:pPr>
            <a:r>
              <a:rPr lang="zh-CN" altLang="en-US" dirty="0">
                <a:solidFill>
                  <a:srgbClr val="383838"/>
                </a:solidFill>
                <a:latin typeface="微软雅黑"/>
                <a:ea typeface="微软雅黑"/>
                <a:cs typeface="微软雅黑"/>
              </a:rPr>
              <a:t>构建devops环境和管道</a:t>
            </a:r>
            <a:endParaRPr lang="zh-CN" altLang="en-US" dirty="0">
              <a:solidFill>
                <a:srgbClr val="383838"/>
              </a:solidFill>
              <a:latin typeface="微软雅黑"/>
              <a:ea typeface="微软雅黑"/>
              <a:cs typeface="微软雅黑"/>
            </a:endParaRPr>
          </a:p>
        </p:txBody>
      </p:sp>
      <p:sp>
        <p:nvSpPr>
          <p:cNvPr id="398" name="文本框 397"/>
          <p:cNvSpPr txBox="1"/>
          <p:nvPr/>
        </p:nvSpPr>
        <p:spPr>
          <a:xfrm>
            <a:off x="10160000" y="3771900"/>
            <a:ext cx="1676400" cy="4699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获得批准</a:t>
            </a:r>
            <a:endParaRPr lang="en-US" altLang="zh-CN" sz="1000" b="1" dirty="0">
              <a:solidFill>
                <a:srgbClr val="383838"/>
              </a:solidFill>
              <a:latin typeface="微软雅黑"/>
              <a:ea typeface="微软雅黑"/>
              <a:cs typeface="微软雅黑"/>
            </a:endParaRPr>
          </a:p>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来自支持功能</a:t>
            </a:r>
            <a:endParaRPr lang="en-US" altLang="zh-CN" sz="1000" dirty="0">
              <a:solidFill>
                <a:srgbClr val="383838"/>
              </a:solidFill>
              <a:latin typeface="微软雅黑"/>
              <a:ea typeface="微软雅黑"/>
              <a:cs typeface="微软雅黑"/>
            </a:endParaRPr>
          </a:p>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（即风险、法律、安全）</a:t>
            </a:r>
            <a:endParaRPr lang="zh-CN" altLang="en-US" sz="1000" dirty="0">
              <a:solidFill>
                <a:srgbClr val="383838"/>
              </a:solidFill>
              <a:latin typeface="微软雅黑"/>
              <a:ea typeface="微软雅黑"/>
              <a:cs typeface="微软雅黑"/>
            </a:endParaRPr>
          </a:p>
        </p:txBody>
      </p:sp>
      <p:sp>
        <p:nvSpPr>
          <p:cNvPr id="401" name="文本框 400"/>
          <p:cNvSpPr txBox="1"/>
          <p:nvPr/>
        </p:nvSpPr>
        <p:spPr>
          <a:xfrm>
            <a:off x="8184288" y="3060700"/>
            <a:ext cx="1348442" cy="215900"/>
          </a:xfrm>
          <a:prstGeom prst="rect">
            <a:avLst/>
          </a:prstGeom>
          <a:noFill/>
        </p:spPr>
        <p:txBody>
          <a:bodyPr wrap="square" anchor="t" lIns="0" rIns="0" tIns="0" bIns="0">
            <a:noAutofit/>
          </a:bodyPr>
          <a:lstStyle/>
          <a:p>
            <a:pPr eaLnBrk="1" latinLnBrk="0" marL="0" marR="0" indent="0">
              <a:lnSpc>
                <a:spcPts val="1400"/>
              </a:lnSpc>
              <a:spcBef>
                <a:spcPts val="0"/>
              </a:spcBef>
              <a:spcAft>
                <a:spcPts val="0"/>
              </a:spcAft>
              <a:defRPr>
                <a:latin typeface="微软雅黑"/>
                <a:ea typeface="微软雅黑"/>
                <a:cs typeface="微软雅黑"/>
              </a:defRPr>
            </a:pPr>
            <a:r>
              <a:rPr lang="zh-CN" altLang="en-US" sz="1200" b="1" dirty="0">
                <a:solidFill>
                  <a:srgbClr val="0042FF"/>
                </a:solidFill>
                <a:latin typeface="微软雅黑"/>
                <a:ea typeface="微软雅黑"/>
                <a:cs typeface="微软雅黑"/>
              </a:rPr>
              <a:t>检查点#</a:t>
            </a:r>
            <a:r>
              <a:rPr lang="en-US" altLang="zh-CN" sz="1200" b="1" dirty="0">
                <a:solidFill>
                  <a:srgbClr val="0042FF"/>
                </a:solidFill>
                <a:latin typeface="微软雅黑"/>
                <a:ea typeface="微软雅黑"/>
                <a:cs typeface="微软雅黑"/>
              </a:rPr>
              <a:t>5</a:t>
            </a:r>
            <a:endParaRPr lang="en-US" altLang="zh-CN" sz="1200" b="1" dirty="0">
              <a:solidFill>
                <a:srgbClr val="0042FF"/>
              </a:solidFill>
              <a:latin typeface="微软雅黑"/>
              <a:ea typeface="微软雅黑"/>
              <a:cs typeface="微软雅黑"/>
            </a:endParaRPr>
          </a:p>
        </p:txBody>
      </p:sp>
      <p:sp>
        <p:nvSpPr>
          <p:cNvPr id="402" name="文本框 401"/>
          <p:cNvSpPr txBox="1"/>
          <p:nvPr/>
        </p:nvSpPr>
        <p:spPr>
          <a:xfrm>
            <a:off x="8184784" y="3276600"/>
            <a:ext cx="1511300" cy="546100"/>
          </a:xfrm>
          <a:prstGeom prst="rect">
            <a:avLst/>
          </a:prstGeom>
          <a:noFill/>
        </p:spPr>
        <p:txBody>
          <a:bodyPr wrap="square" lIns="0" rIns="0" tIns="0" bIns="0" anchor="t">
            <a:noAutofit/>
          </a:bodyPr>
          <a:lstStyle/>
          <a:p>
            <a:pPr eaLnBrk="1" latinLnBrk="0" marL="0" marR="0" indent="0">
              <a:lnSpc>
                <a:spcPts val="106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您是否更新了风险框架，以纳入针对错误结果的应急计划？谁对人工智能系统的决策负责？</a:t>
            </a:r>
            <a:endParaRPr lang="zh-CN" altLang="en-US" sz="1000" dirty="0">
              <a:solidFill>
                <a:srgbClr val="383838"/>
              </a:solidFill>
              <a:latin typeface="微软雅黑"/>
              <a:ea typeface="微软雅黑"/>
              <a:cs typeface="微软雅黑"/>
            </a:endParaRPr>
          </a:p>
        </p:txBody>
      </p:sp>
      <p:sp>
        <p:nvSpPr>
          <p:cNvPr id="266" name="文本框 265"/>
          <p:cNvSpPr txBox="1"/>
          <p:nvPr/>
        </p:nvSpPr>
        <p:spPr>
          <a:xfrm>
            <a:off x="3895611" y="1004389"/>
            <a:ext cx="1676400" cy="7874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制定数据战略</a:t>
            </a:r>
            <a:endParaRPr lang="en-US" altLang="zh-CN" sz="1000" b="1" dirty="0">
              <a:solidFill>
                <a:srgbClr val="383838"/>
              </a:solidFill>
              <a:latin typeface="微软雅黑"/>
              <a:ea typeface="微软雅黑"/>
              <a:cs typeface="微软雅黑"/>
            </a:endParaRPr>
          </a:p>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整理正确的数据以实现您想要的结果。然后确定如何将这些数据整合在一起，为您的人工智能战略提供动力</a:t>
            </a:r>
            <a:endParaRPr lang="zh-CN" altLang="en-US" sz="1000" dirty="0">
              <a:solidFill>
                <a:srgbClr val="383838"/>
              </a:solidFill>
              <a:latin typeface="微软雅黑"/>
              <a:ea typeface="微软雅黑"/>
              <a:cs typeface="微软雅黑"/>
            </a:endParaRPr>
          </a:p>
        </p:txBody>
      </p:sp>
      <p:sp>
        <p:nvSpPr>
          <p:cNvPr id="274" name="文本框 273"/>
          <p:cNvSpPr txBox="1"/>
          <p:nvPr/>
        </p:nvSpPr>
        <p:spPr>
          <a:xfrm>
            <a:off x="4667069" y="2082800"/>
            <a:ext cx="1003300" cy="6096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分析影响</a:t>
            </a:r>
            <a:endParaRPr lang="en-US" altLang="zh-CN" sz="1000" b="1" dirty="0">
              <a:solidFill>
                <a:srgbClr val="383838"/>
              </a:solidFill>
              <a:latin typeface="微软雅黑"/>
              <a:ea typeface="微软雅黑"/>
              <a:cs typeface="微软雅黑"/>
            </a:endParaRPr>
          </a:p>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审查战略和用例，并提供范围和时间表</a:t>
            </a:r>
            <a:r>
              <a:rPr lang="zh-CN" altLang="en-US" sz="1000" b="1" dirty="0">
                <a:solidFill>
                  <a:srgbClr val="383838"/>
                </a:solidFill>
                <a:latin typeface="微软雅黑"/>
                <a:ea typeface="微软雅黑"/>
                <a:cs typeface="微软雅黑"/>
              </a:rPr>
              <a:t>。</a:t>
            </a:r>
            <a:endParaRPr lang="zh-CN" altLang="en-US" sz="1000" b="1" dirty="0">
              <a:solidFill>
                <a:srgbClr val="383838"/>
              </a:solidFill>
              <a:latin typeface="微软雅黑"/>
              <a:ea typeface="微软雅黑"/>
              <a:cs typeface="微软雅黑"/>
            </a:endParaRPr>
          </a:p>
        </p:txBody>
      </p:sp>
      <p:sp>
        <p:nvSpPr>
          <p:cNvPr id="427" name="文本框 426"/>
          <p:cNvSpPr txBox="1"/>
          <p:nvPr/>
        </p:nvSpPr>
        <p:spPr>
          <a:xfrm>
            <a:off x="5705232" y="2390538"/>
            <a:ext cx="754711" cy="74041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用您的可重用特性支持额外的用例，从而使价值倍增</a:t>
            </a:r>
            <a:endParaRPr lang="zh-CN" altLang="en-US" sz="1000" dirty="0">
              <a:solidFill>
                <a:srgbClr val="383838"/>
              </a:solidFill>
              <a:latin typeface="微软雅黑"/>
              <a:ea typeface="微软雅黑"/>
              <a:cs typeface="微软雅黑"/>
            </a:endParaRPr>
          </a:p>
        </p:txBody>
      </p:sp>
      <p:sp>
        <p:nvSpPr>
          <p:cNvPr id="433" name="文本框 432"/>
          <p:cNvSpPr txBox="1"/>
          <p:nvPr/>
        </p:nvSpPr>
        <p:spPr>
          <a:xfrm>
            <a:off x="6396468" y="1168400"/>
            <a:ext cx="1676400" cy="711200"/>
          </a:xfrm>
          <a:prstGeom prst="rect">
            <a:avLst/>
          </a:prstGeom>
          <a:noFill/>
        </p:spPr>
        <p:txBody>
          <a:bodyPr wrap="square" lIns="0" rIns="0" tIns="0" bIns="0" anchor="t">
            <a:noAutofit/>
          </a:bodyPr>
          <a:lstStyle/>
          <a:p>
            <a:pPr eaLnBrk="1" latinLnBrk="0" marL="0" marR="0" indent="0">
              <a:lnSpc>
                <a:spcPts val="106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您是否能够重用您刚刚创建的功能，以针对其他优先级用例提供价值？如果没有，您可以进行哪些调整来扩展该功能的使用？</a:t>
            </a:r>
            <a:endParaRPr lang="zh-CN" altLang="en-US" sz="1000" dirty="0">
              <a:solidFill>
                <a:srgbClr val="383838"/>
              </a:solidFill>
              <a:latin typeface="微软雅黑"/>
              <a:ea typeface="微软雅黑"/>
              <a:cs typeface="微软雅黑"/>
            </a:endParaRPr>
          </a:p>
        </p:txBody>
      </p:sp>
      <p:sp>
        <p:nvSpPr>
          <p:cNvPr id="449" name="文本框 448"/>
          <p:cNvSpPr txBox="1"/>
          <p:nvPr/>
        </p:nvSpPr>
        <p:spPr>
          <a:xfrm>
            <a:off x="9489665" y="4555525"/>
            <a:ext cx="902112" cy="430887"/>
          </a:xfrm>
          <a:prstGeom prst="rect">
            <a:avLst/>
          </a:prstGeom>
          <a:noFill/>
        </p:spPr>
        <p:txBody>
          <a:bodyPr wrap="square">
            <a:spAutoFit/>
          </a:bodyPr>
          <a:lstStyle/>
          <a:p>
            <a:pPr>
              <a:defRPr>
                <a:latin typeface="微软雅黑"/>
                <a:ea typeface="微软雅黑"/>
                <a:cs typeface="微软雅黑"/>
              </a:defRPr>
            </a:pPr>
            <a:r>
              <a:rPr lang="zh-CN" altLang="en-US" sz="1100" dirty="0">
                <a:solidFill>
                  <a:srgbClr val="383838"/>
                </a:solidFill>
                <a:latin typeface="微软雅黑"/>
                <a:ea typeface="微软雅黑"/>
                <a:cs typeface="微软雅黑"/>
              </a:rPr>
              <a:t>超出冲刺</a:t>
            </a:r>
            <a:endParaRPr lang="en-US" altLang="zh-CN" sz="1100" dirty="0">
              <a:solidFill>
                <a:srgbClr val="383838"/>
              </a:solidFill>
              <a:latin typeface="微软雅黑"/>
              <a:ea typeface="微软雅黑"/>
              <a:cs typeface="微软雅黑"/>
            </a:endParaRPr>
          </a:p>
          <a:p>
            <a:pPr>
              <a:defRPr>
                <a:latin typeface="微软雅黑"/>
                <a:ea typeface="微软雅黑"/>
                <a:cs typeface="微软雅黑"/>
              </a:defRPr>
            </a:pPr>
            <a:r>
              <a:rPr lang="zh-CN" altLang="en-US" sz="1100" dirty="0">
                <a:solidFill>
                  <a:srgbClr val="383838"/>
                </a:solidFill>
                <a:latin typeface="微软雅黑"/>
                <a:ea typeface="微软雅黑"/>
                <a:cs typeface="微软雅黑"/>
              </a:rPr>
              <a:t>活动</a:t>
            </a:r>
            <a:endParaRPr lang="zh-CN" altLang="en-US" sz="1100" dirty="0">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多层平台架构 | </a:t>
            </a:r>
            <a:r>
              <a:rPr lang="en-US" altLang="zh-CN" sz="2500">
                <a:solidFill>
                  <a:srgbClr val="383838"/>
                </a:solidFill>
                <a:effectLst/>
                <a:latin typeface="微软雅黑"/>
                <a:ea typeface="微软雅黑"/>
                <a:cs typeface="微软雅黑"/>
              </a:rPr>
              <a:t>AI</a:t>
            </a:r>
            <a:r>
              <a:rPr sz="2500">
                <a:solidFill>
                  <a:srgbClr val="383838"/>
                </a:solidFill>
                <a:effectLst/>
                <a:latin typeface="微软雅黑"/>
                <a:ea typeface="微软雅黑"/>
                <a:cs typeface="微软雅黑"/>
              </a:rPr>
              <a:t>项目管理流程图</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428" name="直接连接符 427"/>
          <p:cNvCxnSpPr/>
          <p:nvPr/>
        </p:nvCxnSpPr>
        <p:spPr>
          <a:xfrm>
            <a:off x="6358569" y="956265"/>
            <a:ext cx="0" cy="1361548"/>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225" name="直接连接符 224"/>
          <p:cNvCxnSpPr/>
          <p:nvPr/>
        </p:nvCxnSpPr>
        <p:spPr>
          <a:xfrm>
            <a:off x="3719552" y="3908196"/>
            <a:ext cx="395995" cy="0"/>
          </a:xfrm>
          <a:prstGeom prst="line">
            <a:avLst/>
          </a:prstGeom>
          <a:ln w="53975" cap="rnd">
            <a:solidFill>
              <a:srgbClr val="0042FF"/>
            </a:solidFill>
          </a:ln>
        </p:spPr>
        <p:style>
          <a:lnRef idx="1">
            <a:srgbClr val="0042FF"/>
          </a:lnRef>
          <a:fillRef idx="0">
            <a:srgbClr val="0042FF"/>
          </a:fillRef>
          <a:effectRef idx="0">
            <a:srgbClr val="0042FF"/>
          </a:effectRef>
          <a:fontRef idx="minor">
            <a:srgbClr val="383838"/>
          </a:fontRef>
        </p:style>
      </p:cxnSp>
      <p:cxnSp>
        <p:nvCxnSpPr>
          <p:cNvPr id="231" name="直接连接符 230"/>
          <p:cNvCxnSpPr/>
          <p:nvPr/>
        </p:nvCxnSpPr>
        <p:spPr>
          <a:xfrm flipV="1">
            <a:off x="2231498" y="1174672"/>
            <a:ext cx="0" cy="1146377"/>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272" name="直接连接符 271"/>
          <p:cNvCxnSpPr/>
          <p:nvPr/>
        </p:nvCxnSpPr>
        <p:spPr>
          <a:xfrm flipV="1">
            <a:off x="4719398" y="2081826"/>
            <a:ext cx="0" cy="588757"/>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434" name="弧形 433"/>
          <p:cNvSpPr/>
          <p:nvPr/>
        </p:nvSpPr>
        <p:spPr>
          <a:xfrm flipH="1">
            <a:off x="6455648" y="1754739"/>
            <a:ext cx="2188278" cy="2163502"/>
          </a:xfrm>
          <a:prstGeom prst="arc">
            <a:avLst>
              <a:gd name="adj1" fmla="val 16200000"/>
              <a:gd name="adj2" fmla="val 4799109"/>
            </a:avLst>
          </a:prstGeom>
          <a:ln w="22225">
            <a:solidFill>
              <a:srgbClr val="383838"/>
            </a:soli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410" name="组合 409"/>
          <p:cNvGrpSpPr/>
          <p:nvPr/>
        </p:nvGrpSpPr>
        <p:grpSpPr>
          <a:xfrm>
            <a:off x="7786792" y="1419199"/>
            <a:ext cx="2934370" cy="1276354"/>
            <a:chOff x="7910584" y="1723964"/>
            <a:chExt cx="2828558" cy="1136623"/>
          </a:xfrm>
        </p:grpSpPr>
        <p:sp>
          <p:nvSpPr>
            <p:cNvPr id="411" name="泪滴形 410"/>
            <p:cNvSpPr/>
            <p:nvPr/>
          </p:nvSpPr>
          <p:spPr bwMode="gray">
            <a:xfrm rot="2854791">
              <a:off x="7910584" y="1723964"/>
              <a:ext cx="1133254" cy="1133254"/>
            </a:xfrm>
            <a:prstGeom prst="teardrop">
              <a:avLst>
                <a:gd name="adj" fmla="val 107560"/>
              </a:avLst>
            </a:prstGeom>
            <a:noFill/>
            <a:ln w="381000" algn="ctr">
              <a:solidFill>
                <a:srgbClr val="DCDCDC">
                  <a:alpha val="50000"/>
                </a:srgbClr>
              </a:solidFill>
              <a:miter lim="800000"/>
            </a:ln>
          </p:spPr>
          <p:txBody>
            <a:bodyPr wrap="square" lIns="88900" tIns="88900" rIns="88900" bIns="88900" rtlCol="0" anchor="ctr"/>
            <a:lstStyle/>
            <a:p>
              <a:pPr algn="ctr">
                <a:lnSpc>
                  <a:spcPct val="106000"/>
                </a:lnSpc>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412" name="泪滴形 411"/>
            <p:cNvSpPr/>
            <p:nvPr/>
          </p:nvSpPr>
          <p:spPr bwMode="gray">
            <a:xfrm rot="18745209" flipH="1">
              <a:off x="9605888" y="1727333"/>
              <a:ext cx="1133254" cy="1133254"/>
            </a:xfrm>
            <a:prstGeom prst="teardrop">
              <a:avLst>
                <a:gd name="adj" fmla="val 104441"/>
              </a:avLst>
            </a:prstGeom>
            <a:noFill/>
            <a:ln w="381000" algn="ctr">
              <a:solidFill>
                <a:srgbClr val="DCDCDC">
                  <a:alpha val="50000"/>
                </a:srgbClr>
              </a:solidFill>
              <a:miter lim="800000"/>
            </a:ln>
          </p:spPr>
          <p:txBody>
            <a:bodyPr wrap="square" lIns="88900" tIns="88900" rIns="88900" bIns="88900" rtlCol="0" anchor="ctr"/>
            <a:lstStyle/>
            <a:p>
              <a:pPr algn="ctr">
                <a:lnSpc>
                  <a:spcPct val="106000"/>
                </a:lnSpc>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sp>
        <p:nvSpPr>
          <p:cNvPr id="217" name="椭圆 216"/>
          <p:cNvSpPr/>
          <p:nvPr/>
        </p:nvSpPr>
        <p:spPr bwMode="gray">
          <a:xfrm>
            <a:off x="1148527" y="1914384"/>
            <a:ext cx="916310" cy="916310"/>
          </a:xfrm>
          <a:prstGeom prst="ellipse">
            <a:avLst/>
          </a:prstGeom>
          <a:solidFill>
            <a:srgbClr val="FFFFFF"/>
          </a:solidFill>
          <a:ln w="57150" algn="ctr">
            <a:solidFill>
              <a:srgbClr val="0042FF"/>
            </a:solidFill>
            <a:miter lim="800000"/>
          </a:ln>
        </p:spPr>
        <p:txBody>
          <a:bodyPr wrap="square" lIns="0" tIns="0" rIns="0" bIns="0" rtlCol="0" anchor="ctr"/>
          <a:lstStyle/>
          <a:p>
            <a:pPr algn="ctr">
              <a:lnSpc>
                <a:spcPct val="106000"/>
              </a:lnSpc>
              <a:buFont typeface="微软雅黑"/>
              <a:buNone/>
              <a:defRPr>
                <a:latin typeface="微软雅黑"/>
                <a:ea typeface="微软雅黑"/>
                <a:cs typeface="微软雅黑"/>
              </a:defRPr>
            </a:pPr>
            <a:r>
              <a:rPr lang="zh-CN" altLang="en-US" b="1" dirty="0">
                <a:solidFill>
                  <a:srgbClr val="0042FF"/>
                </a:solidFill>
                <a:latin typeface="微软雅黑"/>
                <a:ea typeface="微软雅黑"/>
                <a:cs typeface="微软雅黑"/>
              </a:rPr>
              <a:t>开始</a:t>
            </a:r>
            <a:endParaRPr lang="zh-CN" altLang="en-US" b="1" dirty="0">
              <a:solidFill>
                <a:srgbClr val="0042FF"/>
              </a:solidFill>
              <a:latin typeface="微软雅黑"/>
              <a:ea typeface="微软雅黑"/>
              <a:cs typeface="微软雅黑"/>
            </a:endParaRPr>
          </a:p>
        </p:txBody>
      </p:sp>
      <p:sp>
        <p:nvSpPr>
          <p:cNvPr id="218" name="椭圆 217"/>
          <p:cNvSpPr/>
          <p:nvPr/>
        </p:nvSpPr>
        <p:spPr bwMode="gray">
          <a:xfrm>
            <a:off x="1089632" y="1862261"/>
            <a:ext cx="1031828" cy="1031828"/>
          </a:xfrm>
          <a:prstGeom prst="ellipse">
            <a:avLst/>
          </a:prstGeom>
          <a:noFill/>
          <a:ln w="12700" algn="ctr">
            <a:solidFill>
              <a:srgbClr val="0042FF"/>
            </a:solidFill>
            <a:prstDash val="dash"/>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cxnSp>
        <p:nvCxnSpPr>
          <p:cNvPr id="220" name="直接连接符 219"/>
          <p:cNvCxnSpPr/>
          <p:nvPr/>
        </p:nvCxnSpPr>
        <p:spPr>
          <a:xfrm>
            <a:off x="2102515" y="2371567"/>
            <a:ext cx="1842556" cy="0"/>
          </a:xfrm>
          <a:prstGeom prst="line">
            <a:avLst/>
          </a:prstGeom>
          <a:ln w="53975" cap="rnd">
            <a:solidFill>
              <a:srgbClr val="0042FF"/>
            </a:solidFill>
          </a:ln>
        </p:spPr>
        <p:style>
          <a:lnRef idx="1">
            <a:srgbClr val="0042FF"/>
          </a:lnRef>
          <a:fillRef idx="0">
            <a:srgbClr val="0042FF"/>
          </a:fillRef>
          <a:effectRef idx="0">
            <a:srgbClr val="0042FF"/>
          </a:effectRef>
          <a:fontRef idx="minor">
            <a:srgbClr val="383838"/>
          </a:fontRef>
        </p:style>
      </p:cxnSp>
      <p:sp>
        <p:nvSpPr>
          <p:cNvPr id="226" name="弧形 225"/>
          <p:cNvSpPr/>
          <p:nvPr/>
        </p:nvSpPr>
        <p:spPr>
          <a:xfrm flipH="1">
            <a:off x="2510578" y="3888941"/>
            <a:ext cx="1591228" cy="1524165"/>
          </a:xfrm>
          <a:prstGeom prst="arc">
            <a:avLst>
              <a:gd name="adj1" fmla="val 15342646"/>
              <a:gd name="adj2" fmla="val 4977688"/>
            </a:avLst>
          </a:prstGeom>
          <a:ln w="53975" cap="rnd">
            <a:solidFill>
              <a:srgbClr val="3368FF"/>
            </a:soli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21" name="弧形 220"/>
          <p:cNvSpPr/>
          <p:nvPr/>
        </p:nvSpPr>
        <p:spPr>
          <a:xfrm>
            <a:off x="3242661" y="2371567"/>
            <a:ext cx="1591228" cy="1541393"/>
          </a:xfrm>
          <a:prstGeom prst="arc">
            <a:avLst>
              <a:gd name="adj1" fmla="val 15865825"/>
              <a:gd name="adj2" fmla="val 4977688"/>
            </a:avLst>
          </a:prstGeom>
          <a:ln w="53975" cap="rnd">
            <a:solidFill>
              <a:srgbClr val="0042FF"/>
            </a:soli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276" name="直接连接符 275"/>
          <p:cNvCxnSpPr/>
          <p:nvPr/>
        </p:nvCxnSpPr>
        <p:spPr>
          <a:xfrm flipV="1">
            <a:off x="4494349" y="2835074"/>
            <a:ext cx="838175" cy="2910"/>
          </a:xfrm>
          <a:prstGeom prst="line">
            <a:avLst/>
          </a:prstGeom>
          <a:ln w="53975" cap="sq">
            <a:solidFill>
              <a:srgbClr val="0042FF"/>
            </a:solidFill>
          </a:ln>
        </p:spPr>
        <p:style>
          <a:lnRef idx="1">
            <a:srgbClr val="0042FF"/>
          </a:lnRef>
          <a:fillRef idx="0">
            <a:srgbClr val="0042FF"/>
          </a:fillRef>
          <a:effectRef idx="0">
            <a:srgbClr val="0042FF"/>
          </a:effectRef>
          <a:fontRef idx="minor">
            <a:srgbClr val="383838"/>
          </a:fontRef>
        </p:style>
      </p:cxnSp>
      <p:cxnSp>
        <p:nvCxnSpPr>
          <p:cNvPr id="278" name="直接连接符 277"/>
          <p:cNvCxnSpPr/>
          <p:nvPr/>
        </p:nvCxnSpPr>
        <p:spPr>
          <a:xfrm flipV="1">
            <a:off x="4496347" y="3066580"/>
            <a:ext cx="838175" cy="2910"/>
          </a:xfrm>
          <a:prstGeom prst="line">
            <a:avLst/>
          </a:prstGeom>
          <a:ln w="53975" cap="sq">
            <a:solidFill>
              <a:srgbClr val="0042FF"/>
            </a:solidFill>
          </a:ln>
        </p:spPr>
        <p:style>
          <a:lnRef idx="1">
            <a:srgbClr val="0042FF"/>
          </a:lnRef>
          <a:fillRef idx="0">
            <a:srgbClr val="0042FF"/>
          </a:fillRef>
          <a:effectRef idx="0">
            <a:srgbClr val="0042FF"/>
          </a:effectRef>
          <a:fontRef idx="minor">
            <a:srgbClr val="383838"/>
          </a:fontRef>
        </p:style>
      </p:cxnSp>
      <p:sp>
        <p:nvSpPr>
          <p:cNvPr id="279" name="矩形 278"/>
          <p:cNvSpPr/>
          <p:nvPr/>
        </p:nvSpPr>
        <p:spPr bwMode="gray">
          <a:xfrm>
            <a:off x="4466822" y="2857069"/>
            <a:ext cx="891917" cy="190492"/>
          </a:xfrm>
          <a:prstGeom prst="rect">
            <a:avLst/>
          </a:prstGeom>
          <a:solidFill>
            <a:srgbClr val="FFFFFF"/>
          </a:solidFill>
          <a:ln w="19050" algn="ctr">
            <a:noFill/>
            <a:miter lim="800000"/>
          </a:ln>
        </p:spPr>
        <p:txBody>
          <a:bodyPr wrap="square" lIns="0" tIns="0" rIns="0" bIns="0" rtlCol="0" anchor="ctr"/>
          <a:lstStyle/>
          <a:p>
            <a:pPr algn="ctr">
              <a:lnSpc>
                <a:spcPct val="106000"/>
              </a:lnSpc>
              <a:buFont typeface="微软雅黑"/>
              <a:buNone/>
              <a:defRPr>
                <a:latin typeface="微软雅黑"/>
                <a:ea typeface="微软雅黑"/>
                <a:cs typeface="微软雅黑"/>
              </a:defRPr>
            </a:pPr>
            <a:r>
              <a:rPr lang="zh-CN" altLang="en-US" sz="1000" b="1" dirty="0">
                <a:solidFill>
                  <a:srgbClr val="0042FF"/>
                </a:solidFill>
                <a:latin typeface="微软雅黑"/>
                <a:ea typeface="微软雅黑"/>
                <a:cs typeface="微软雅黑"/>
              </a:rPr>
              <a:t>价值</a:t>
            </a:r>
            <a:r>
              <a:rPr lang="en-US" altLang="zh-CN" sz="1000" b="1" dirty="0">
                <a:solidFill>
                  <a:srgbClr val="0042FF"/>
                </a:solidFill>
                <a:latin typeface="微软雅黑"/>
                <a:ea typeface="微软雅黑"/>
                <a:cs typeface="微软雅黑"/>
              </a:rPr>
              <a:t>+</a:t>
            </a:r>
            <a:r>
              <a:rPr lang="zh-CN" altLang="en-US" sz="1000" b="1" dirty="0">
                <a:solidFill>
                  <a:srgbClr val="0042FF"/>
                </a:solidFill>
                <a:latin typeface="微软雅黑"/>
                <a:ea typeface="微软雅黑"/>
                <a:cs typeface="微软雅黑"/>
              </a:rPr>
              <a:t>战略</a:t>
            </a:r>
            <a:endParaRPr lang="zh-CN" altLang="en-US" sz="1000" b="1" dirty="0">
              <a:solidFill>
                <a:srgbClr val="0042FF"/>
              </a:solidFill>
              <a:latin typeface="微软雅黑"/>
              <a:ea typeface="微软雅黑"/>
              <a:cs typeface="微软雅黑"/>
            </a:endParaRPr>
          </a:p>
        </p:txBody>
      </p:sp>
      <p:sp>
        <p:nvSpPr>
          <p:cNvPr id="294" name="椭圆 293"/>
          <p:cNvSpPr/>
          <p:nvPr/>
        </p:nvSpPr>
        <p:spPr bwMode="gray">
          <a:xfrm>
            <a:off x="2575649" y="3944394"/>
            <a:ext cx="1402216" cy="1402216"/>
          </a:xfrm>
          <a:prstGeom prst="ellipse">
            <a:avLst/>
          </a:prstGeom>
          <a:solidFill>
            <a:srgbClr val="FFFFFF"/>
          </a:solidFill>
          <a:ln w="76200" algn="ctr">
            <a:solidFill>
              <a:srgbClr val="DCDCDC">
                <a:alpha val="50000"/>
              </a:srgbClr>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nvGrpSpPr>
          <p:cNvPr id="286" name="组合 285"/>
          <p:cNvGrpSpPr/>
          <p:nvPr/>
        </p:nvGrpSpPr>
        <p:grpSpPr>
          <a:xfrm>
            <a:off x="2532031" y="3894568"/>
            <a:ext cx="1532302" cy="1490371"/>
            <a:chOff x="2532031" y="4106703"/>
            <a:chExt cx="1532302" cy="1490371"/>
          </a:xfrm>
        </p:grpSpPr>
        <p:sp>
          <p:nvSpPr>
            <p:cNvPr id="256" name="弧形 255"/>
            <p:cNvSpPr/>
            <p:nvPr/>
          </p:nvSpPr>
          <p:spPr>
            <a:xfrm>
              <a:off x="2532031" y="4106703"/>
              <a:ext cx="1490371" cy="1490371"/>
            </a:xfrm>
            <a:prstGeom prst="arc">
              <a:avLst>
                <a:gd name="adj1" fmla="val 17506889"/>
                <a:gd name="adj2" fmla="val 4926171"/>
              </a:avLst>
            </a:prstGeom>
            <a:ln>
              <a:solidFill>
                <a:srgbClr val="383838"/>
              </a:solidFill>
              <a:prstDash val="dash"/>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57" name="等腰三角形 256"/>
            <p:cNvSpPr/>
            <p:nvPr/>
          </p:nvSpPr>
          <p:spPr bwMode="gray">
            <a:xfrm rot="18986560">
              <a:off x="3763210" y="4297178"/>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58" name="等腰三角形 257"/>
            <p:cNvSpPr/>
            <p:nvPr/>
          </p:nvSpPr>
          <p:spPr bwMode="gray">
            <a:xfrm rot="20289502">
              <a:off x="3923060" y="4563431"/>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59" name="等腰三角形 258"/>
            <p:cNvSpPr/>
            <p:nvPr/>
          </p:nvSpPr>
          <p:spPr bwMode="gray">
            <a:xfrm rot="240098">
              <a:off x="3960379" y="4884327"/>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60" name="等腰三角形 259"/>
            <p:cNvSpPr/>
            <p:nvPr/>
          </p:nvSpPr>
          <p:spPr bwMode="gray">
            <a:xfrm rot="1731429">
              <a:off x="3877863" y="5182854"/>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61" name="等腰三角形 260"/>
            <p:cNvSpPr/>
            <p:nvPr/>
          </p:nvSpPr>
          <p:spPr bwMode="gray">
            <a:xfrm rot="3303579">
              <a:off x="3670082" y="5414488"/>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cxnSp>
        <p:nvCxnSpPr>
          <p:cNvPr id="242" name="直接连接符 241"/>
          <p:cNvCxnSpPr/>
          <p:nvPr/>
        </p:nvCxnSpPr>
        <p:spPr>
          <a:xfrm flipV="1">
            <a:off x="3242661" y="5400367"/>
            <a:ext cx="4007867" cy="7892"/>
          </a:xfrm>
          <a:prstGeom prst="line">
            <a:avLst/>
          </a:prstGeom>
          <a:ln w="53975" cap="rnd">
            <a:solidFill>
              <a:srgbClr val="3368FF"/>
            </a:solidFill>
          </a:ln>
        </p:spPr>
        <p:style>
          <a:lnRef idx="1">
            <a:srgbClr val="0042FF"/>
          </a:lnRef>
          <a:fillRef idx="0">
            <a:srgbClr val="0042FF"/>
          </a:fillRef>
          <a:effectRef idx="0">
            <a:srgbClr val="0042FF"/>
          </a:effectRef>
          <a:fontRef idx="minor">
            <a:srgbClr val="383838"/>
          </a:fontRef>
        </p:style>
      </p:cxnSp>
      <p:sp>
        <p:nvSpPr>
          <p:cNvPr id="224" name="object 121"/>
          <p:cNvSpPr/>
          <p:nvPr/>
        </p:nvSpPr>
        <p:spPr>
          <a:xfrm>
            <a:off x="3415192" y="3666401"/>
            <a:ext cx="385473" cy="445309"/>
          </a:xfrm>
          <a:custGeom>
            <a:avLst/>
            <a:gdLst/>
            <a:ahLst/>
            <a:cxnLst/>
            <a:rect l="l" t="t" r="r" b="b"/>
            <a:pathLst>
              <a:path w="601345" h="694690">
                <a:moveTo>
                  <a:pt x="300659" y="0"/>
                </a:moveTo>
                <a:lnTo>
                  <a:pt x="0" y="173583"/>
                </a:lnTo>
                <a:lnTo>
                  <a:pt x="0" y="520750"/>
                </a:lnTo>
                <a:lnTo>
                  <a:pt x="300659" y="694347"/>
                </a:lnTo>
                <a:lnTo>
                  <a:pt x="601319" y="520750"/>
                </a:lnTo>
                <a:lnTo>
                  <a:pt x="601319" y="173583"/>
                </a:lnTo>
                <a:lnTo>
                  <a:pt x="300659" y="0"/>
                </a:lnTo>
                <a:close/>
              </a:path>
            </a:pathLst>
          </a:custGeom>
          <a:solidFill>
            <a:srgbClr val="FFFFFF"/>
          </a:solidFill>
          <a:ln>
            <a:solidFill>
              <a:srgbClr val="0042FF"/>
            </a:solidFill>
          </a:ln>
        </p:spPr>
        <p:txBody>
          <a:bodyPr wrap="square" lIns="0" tIns="0" rIns="0" bIns="0" rtlCol="0"/>
          <a:lstStyle/>
          <a:p>
            <a:pPr defTabSz="586105">
              <a:defRPr>
                <a:solidFill>
                  <a:srgbClr val="FFFFFF"/>
                </a:solidFill>
                <a:latin typeface="微软雅黑"/>
                <a:ea typeface="微软雅黑"/>
                <a:cs typeface="微软雅黑"/>
              </a:defRPr>
            </a:pPr>
            <a:endParaRPr sz="1155">
              <a:solidFill>
                <a:srgbClr val="FFFFFF"/>
              </a:solidFill>
              <a:latin typeface="微软雅黑"/>
              <a:ea typeface="微软雅黑"/>
              <a:cs typeface="微软雅黑"/>
            </a:endParaRPr>
          </a:p>
        </p:txBody>
      </p:sp>
      <p:sp>
        <p:nvSpPr>
          <p:cNvPr id="263" name="六边形 262"/>
          <p:cNvSpPr/>
          <p:nvPr/>
        </p:nvSpPr>
        <p:spPr bwMode="gray">
          <a:xfrm rot="5400000">
            <a:off x="3445864" y="3746793"/>
            <a:ext cx="324128" cy="284525"/>
          </a:xfrm>
          <a:prstGeom prst="hexagon">
            <a:avLst/>
          </a:prstGeom>
          <a:solidFill>
            <a:srgbClr val="0042FF"/>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229" name="椭圆 228"/>
          <p:cNvSpPr/>
          <p:nvPr/>
        </p:nvSpPr>
        <p:spPr bwMode="gray">
          <a:xfrm>
            <a:off x="2173762" y="230968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cxnSp>
        <p:nvCxnSpPr>
          <p:cNvPr id="236" name="直接连接符 235"/>
          <p:cNvCxnSpPr/>
          <p:nvPr/>
        </p:nvCxnSpPr>
        <p:spPr>
          <a:xfrm flipV="1">
            <a:off x="2700447" y="1670758"/>
            <a:ext cx="0" cy="649668"/>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238" name="文本框 237"/>
          <p:cNvSpPr txBox="1"/>
          <p:nvPr/>
        </p:nvSpPr>
        <p:spPr>
          <a:xfrm>
            <a:off x="2638363" y="1610232"/>
            <a:ext cx="1009197" cy="45593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促使高级利益相关者</a:t>
            </a:r>
            <a:r>
              <a:rPr lang="zh-CN" altLang="en-US" sz="1000" dirty="0">
                <a:solidFill>
                  <a:srgbClr val="383838"/>
                </a:solidFill>
                <a:latin typeface="微软雅黑"/>
                <a:ea typeface="微软雅黑"/>
                <a:cs typeface="微软雅黑"/>
              </a:rPr>
              <a:t>认同新的旅程</a:t>
            </a:r>
            <a:endParaRPr lang="zh-CN" altLang="en-US" sz="1000" dirty="0">
              <a:solidFill>
                <a:srgbClr val="383838"/>
              </a:solidFill>
              <a:latin typeface="微软雅黑"/>
              <a:ea typeface="微软雅黑"/>
              <a:cs typeface="微软雅黑"/>
            </a:endParaRPr>
          </a:p>
        </p:txBody>
      </p:sp>
      <p:sp>
        <p:nvSpPr>
          <p:cNvPr id="227" name="文本框 226"/>
          <p:cNvSpPr txBox="1"/>
          <p:nvPr/>
        </p:nvSpPr>
        <p:spPr>
          <a:xfrm>
            <a:off x="2255068" y="1118742"/>
            <a:ext cx="1160124" cy="47879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了解客户需求</a:t>
            </a:r>
            <a:endParaRPr lang="en-US" altLang="zh-CN" sz="1000" b="1" dirty="0">
              <a:solidFill>
                <a:srgbClr val="383838"/>
              </a:solidFill>
              <a:latin typeface="微软雅黑"/>
              <a:ea typeface="微软雅黑"/>
              <a:cs typeface="微软雅黑"/>
            </a:endParaRPr>
          </a:p>
          <a:p>
            <a:pPr eaLnBrk="1"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建立使用案例和业务效益</a:t>
            </a:r>
            <a:endParaRPr lang="zh-CN" altLang="en-US" sz="1000" dirty="0">
              <a:solidFill>
                <a:srgbClr val="383838"/>
              </a:solidFill>
              <a:latin typeface="微软雅黑"/>
              <a:ea typeface="微软雅黑"/>
              <a:cs typeface="微软雅黑"/>
            </a:endParaRPr>
          </a:p>
        </p:txBody>
      </p:sp>
      <p:cxnSp>
        <p:nvCxnSpPr>
          <p:cNvPr id="265" name="直接连接符 264"/>
          <p:cNvCxnSpPr/>
          <p:nvPr/>
        </p:nvCxnSpPr>
        <p:spPr>
          <a:xfrm flipV="1">
            <a:off x="3881384" y="1277936"/>
            <a:ext cx="0" cy="1033539"/>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271" name="椭圆 270"/>
          <p:cNvSpPr/>
          <p:nvPr/>
        </p:nvSpPr>
        <p:spPr bwMode="gray">
          <a:xfrm>
            <a:off x="4661662" y="2664002"/>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300" name="文本框 299"/>
          <p:cNvSpPr txBox="1"/>
          <p:nvPr/>
        </p:nvSpPr>
        <p:spPr>
          <a:xfrm>
            <a:off x="3917550" y="3454312"/>
            <a:ext cx="744148" cy="31369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创建数据基础</a:t>
            </a:r>
            <a:endParaRPr lang="zh-CN" altLang="en-US" sz="1000" b="1" dirty="0">
              <a:solidFill>
                <a:srgbClr val="383838"/>
              </a:solidFill>
              <a:latin typeface="微软雅黑"/>
              <a:ea typeface="微软雅黑"/>
              <a:cs typeface="微软雅黑"/>
            </a:endParaRPr>
          </a:p>
        </p:txBody>
      </p:sp>
      <p:sp>
        <p:nvSpPr>
          <p:cNvPr id="296" name="文本框 295"/>
          <p:cNvSpPr txBox="1"/>
          <p:nvPr/>
        </p:nvSpPr>
        <p:spPr>
          <a:xfrm>
            <a:off x="4954293" y="3183624"/>
            <a:ext cx="1358900" cy="7366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确保您的设计机构审查并批准</a:t>
            </a:r>
            <a:endParaRPr lang="en-US" altLang="zh-CN" sz="1000" b="1" dirty="0">
              <a:solidFill>
                <a:srgbClr val="383838"/>
              </a:solidFill>
              <a:latin typeface="微软雅黑"/>
              <a:ea typeface="微软雅黑"/>
              <a:cs typeface="微软雅黑"/>
            </a:endParaRPr>
          </a:p>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使用案例和功能，以及敏捷开发</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发布时间表</a:t>
            </a:r>
            <a:endParaRPr lang="zh-CN" altLang="en-US" sz="1000" dirty="0">
              <a:solidFill>
                <a:srgbClr val="383838"/>
              </a:solidFill>
              <a:latin typeface="微软雅黑"/>
              <a:ea typeface="微软雅黑"/>
              <a:cs typeface="微软雅黑"/>
            </a:endParaRPr>
          </a:p>
        </p:txBody>
      </p:sp>
      <p:grpSp>
        <p:nvGrpSpPr>
          <p:cNvPr id="267" name="组合 266"/>
          <p:cNvGrpSpPr/>
          <p:nvPr/>
        </p:nvGrpSpPr>
        <p:grpSpPr>
          <a:xfrm>
            <a:off x="4539723" y="3257591"/>
            <a:ext cx="422682" cy="494713"/>
            <a:chOff x="4539723" y="3469726"/>
            <a:chExt cx="422682" cy="494713"/>
          </a:xfrm>
        </p:grpSpPr>
        <p:cxnSp>
          <p:nvCxnSpPr>
            <p:cNvPr id="284" name="直接连接符 283"/>
            <p:cNvCxnSpPr/>
            <p:nvPr/>
          </p:nvCxnSpPr>
          <p:spPr>
            <a:xfrm flipH="1" flipV="1">
              <a:off x="4539723" y="3962175"/>
              <a:ext cx="422682" cy="1"/>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281" name="直接连接符 280"/>
            <p:cNvCxnSpPr/>
            <p:nvPr/>
          </p:nvCxnSpPr>
          <p:spPr>
            <a:xfrm flipV="1">
              <a:off x="4957469" y="3469726"/>
              <a:ext cx="0" cy="49471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sp>
        <p:nvSpPr>
          <p:cNvPr id="245" name="椭圆 244"/>
          <p:cNvSpPr/>
          <p:nvPr/>
        </p:nvSpPr>
        <p:spPr bwMode="gray">
          <a:xfrm>
            <a:off x="8065500" y="3951384"/>
            <a:ext cx="1402216" cy="1402216"/>
          </a:xfrm>
          <a:prstGeom prst="ellipse">
            <a:avLst/>
          </a:prstGeom>
          <a:solidFill>
            <a:srgbClr val="FFFFFF"/>
          </a:solidFill>
          <a:ln w="76200" algn="ctr">
            <a:solidFill>
              <a:srgbClr val="DCDCDC">
                <a:alpha val="50000"/>
              </a:srgbClr>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49" name="弧形 248"/>
          <p:cNvSpPr/>
          <p:nvPr/>
        </p:nvSpPr>
        <p:spPr>
          <a:xfrm flipH="1">
            <a:off x="6907018" y="2650928"/>
            <a:ext cx="1252293" cy="1262032"/>
          </a:xfrm>
          <a:prstGeom prst="arc">
            <a:avLst>
              <a:gd name="adj1" fmla="val 15865825"/>
              <a:gd name="adj2" fmla="val 4489777"/>
            </a:avLst>
          </a:prstGeom>
          <a:ln w="41275" cap="rnd">
            <a:solidFill>
              <a:srgbClr val="B3D4FE"/>
            </a:soli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409" name="组合 408"/>
          <p:cNvGrpSpPr/>
          <p:nvPr/>
        </p:nvGrpSpPr>
        <p:grpSpPr>
          <a:xfrm>
            <a:off x="7800603" y="1495972"/>
            <a:ext cx="2828558" cy="1136623"/>
            <a:chOff x="7910584" y="1723964"/>
            <a:chExt cx="2828558" cy="1136623"/>
          </a:xfrm>
        </p:grpSpPr>
        <p:sp>
          <p:nvSpPr>
            <p:cNvPr id="254" name="泪滴形 253"/>
            <p:cNvSpPr/>
            <p:nvPr/>
          </p:nvSpPr>
          <p:spPr bwMode="gray">
            <a:xfrm rot="2854791">
              <a:off x="7910584" y="1723964"/>
              <a:ext cx="1133254" cy="1133254"/>
            </a:xfrm>
            <a:prstGeom prst="teardrop">
              <a:avLst>
                <a:gd name="adj" fmla="val 107560"/>
              </a:avLst>
            </a:prstGeom>
            <a:noFill/>
            <a:ln w="41275" algn="ctr">
              <a:solidFill>
                <a:srgbClr val="B3D4FE"/>
              </a:solidFill>
              <a:miter lim="800000"/>
            </a:ln>
          </p:spPr>
          <p:txBody>
            <a:bodyPr wrap="square" lIns="88900" tIns="88900" rIns="88900" bIns="88900" rtlCol="0" anchor="ctr"/>
            <a:lstStyle/>
            <a:p>
              <a:pPr algn="ctr">
                <a:lnSpc>
                  <a:spcPct val="106000"/>
                </a:lnSpc>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55" name="泪滴形 254"/>
            <p:cNvSpPr/>
            <p:nvPr/>
          </p:nvSpPr>
          <p:spPr bwMode="gray">
            <a:xfrm rot="18745209" flipH="1">
              <a:off x="9605888" y="1727333"/>
              <a:ext cx="1133254" cy="1133254"/>
            </a:xfrm>
            <a:prstGeom prst="teardrop">
              <a:avLst>
                <a:gd name="adj" fmla="val 104441"/>
              </a:avLst>
            </a:prstGeom>
            <a:noFill/>
            <a:ln w="41275" algn="ctr">
              <a:solidFill>
                <a:srgbClr val="B3D4FE"/>
              </a:solidFill>
              <a:miter lim="800000"/>
            </a:ln>
          </p:spPr>
          <p:txBody>
            <a:bodyPr wrap="square" lIns="88900" tIns="88900" rIns="88900" bIns="88900" rtlCol="0" anchor="ctr"/>
            <a:lstStyle/>
            <a:p>
              <a:pPr algn="ctr">
                <a:lnSpc>
                  <a:spcPct val="106000"/>
                </a:lnSpc>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cxnSp>
        <p:nvCxnSpPr>
          <p:cNvPr id="247" name="直接连接符 246"/>
          <p:cNvCxnSpPr/>
          <p:nvPr/>
        </p:nvCxnSpPr>
        <p:spPr>
          <a:xfrm>
            <a:off x="7270937" y="5395168"/>
            <a:ext cx="2348294" cy="0"/>
          </a:xfrm>
          <a:prstGeom prst="line">
            <a:avLst/>
          </a:prstGeom>
          <a:ln w="53975" cap="rnd">
            <a:solidFill>
              <a:srgbClr val="3368FF"/>
            </a:solidFill>
          </a:ln>
        </p:spPr>
        <p:style>
          <a:lnRef idx="1">
            <a:srgbClr val="0042FF"/>
          </a:lnRef>
          <a:fillRef idx="0">
            <a:srgbClr val="0042FF"/>
          </a:fillRef>
          <a:effectRef idx="0">
            <a:srgbClr val="0042FF"/>
          </a:effectRef>
          <a:fontRef idx="minor">
            <a:srgbClr val="383838"/>
          </a:fontRef>
        </p:style>
      </p:cxnSp>
      <p:cxnSp>
        <p:nvCxnSpPr>
          <p:cNvPr id="248" name="直接连接符 247"/>
          <p:cNvCxnSpPr>
            <a:stCxn id="249" idx="2"/>
          </p:cNvCxnSpPr>
          <p:nvPr/>
        </p:nvCxnSpPr>
        <p:spPr>
          <a:xfrm flipV="1">
            <a:off x="7367600" y="3874025"/>
            <a:ext cx="2046605" cy="16510"/>
          </a:xfrm>
          <a:prstGeom prst="line">
            <a:avLst/>
          </a:prstGeom>
          <a:ln w="53975" cap="rnd">
            <a:solidFill>
              <a:srgbClr val="3368FF"/>
            </a:solidFill>
          </a:ln>
        </p:spPr>
        <p:style>
          <a:lnRef idx="1">
            <a:srgbClr val="0042FF"/>
          </a:lnRef>
          <a:fillRef idx="0">
            <a:srgbClr val="0042FF"/>
          </a:fillRef>
          <a:effectRef idx="0">
            <a:srgbClr val="0042FF"/>
          </a:effectRef>
          <a:fontRef idx="minor">
            <a:srgbClr val="383838"/>
          </a:fontRef>
        </p:style>
      </p:cxnSp>
      <p:sp>
        <p:nvSpPr>
          <p:cNvPr id="250" name="弧形 249"/>
          <p:cNvSpPr/>
          <p:nvPr/>
        </p:nvSpPr>
        <p:spPr>
          <a:xfrm>
            <a:off x="8675955" y="3870111"/>
            <a:ext cx="1591228" cy="1541393"/>
          </a:xfrm>
          <a:prstGeom prst="arc">
            <a:avLst>
              <a:gd name="adj1" fmla="val 15865825"/>
              <a:gd name="adj2" fmla="val 4759480"/>
            </a:avLst>
          </a:prstGeom>
          <a:ln w="53975" cap="rnd">
            <a:solidFill>
              <a:srgbClr val="3368FF"/>
            </a:soli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grpSp>
        <p:nvGrpSpPr>
          <p:cNvPr id="268" name="组合 267"/>
          <p:cNvGrpSpPr/>
          <p:nvPr/>
        </p:nvGrpSpPr>
        <p:grpSpPr>
          <a:xfrm flipH="1">
            <a:off x="2543781" y="2989523"/>
            <a:ext cx="946810" cy="750853"/>
            <a:chOff x="4532945" y="3474490"/>
            <a:chExt cx="424193" cy="494713"/>
          </a:xfrm>
        </p:grpSpPr>
        <p:cxnSp>
          <p:nvCxnSpPr>
            <p:cNvPr id="269" name="直接连接符 268"/>
            <p:cNvCxnSpPr/>
            <p:nvPr/>
          </p:nvCxnSpPr>
          <p:spPr>
            <a:xfrm flipH="1" flipV="1">
              <a:off x="4532945" y="3963991"/>
              <a:ext cx="422682" cy="1"/>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270" name="直接连接符 269"/>
            <p:cNvCxnSpPr/>
            <p:nvPr/>
          </p:nvCxnSpPr>
          <p:spPr>
            <a:xfrm flipV="1">
              <a:off x="4957138" y="3474490"/>
              <a:ext cx="0" cy="49471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sp>
        <p:nvSpPr>
          <p:cNvPr id="275" name="文本框 274"/>
          <p:cNvSpPr txBox="1"/>
          <p:nvPr/>
        </p:nvSpPr>
        <p:spPr>
          <a:xfrm>
            <a:off x="2510578" y="2894906"/>
            <a:ext cx="1348442" cy="276999"/>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检查点#1</a:t>
            </a:r>
            <a:endParaRPr lang="zh-CN" altLang="en-US" sz="1200" b="1" dirty="0">
              <a:solidFill>
                <a:srgbClr val="0042FF"/>
              </a:solidFill>
              <a:latin typeface="微软雅黑"/>
              <a:ea typeface="微软雅黑"/>
              <a:cs typeface="微软雅黑"/>
            </a:endParaRPr>
          </a:p>
        </p:txBody>
      </p:sp>
      <p:sp>
        <p:nvSpPr>
          <p:cNvPr id="282" name="文本框 281"/>
          <p:cNvSpPr txBox="1"/>
          <p:nvPr/>
        </p:nvSpPr>
        <p:spPr>
          <a:xfrm>
            <a:off x="2516018" y="3124200"/>
            <a:ext cx="1447800" cy="660400"/>
          </a:xfrm>
          <a:prstGeom prst="rect">
            <a:avLst/>
          </a:prstGeom>
          <a:noFill/>
        </p:spPr>
        <p:txBody>
          <a:bodyPr wrap="square" lIns="0" rIns="0" tIns="0" bIns="0" anchor="t">
            <a:noAutofit/>
          </a:bodyPr>
          <a:lstStyle>
            <a:defPPr>
              <a:defRPr lang="zh-CN">
                <a:latin typeface="微软雅黑"/>
                <a:ea typeface="微软雅黑"/>
                <a:cs typeface="微软雅黑"/>
              </a:defRPr>
            </a:defPPr>
            <a:lvl1pPr>
              <a:defRPr sz="1000" b="1">
                <a:latin typeface="微软雅黑"/>
                <a:ea typeface="微软雅黑"/>
                <a:cs typeface="微软雅黑"/>
              </a:defRPr>
            </a:lvl1pPr>
          </a:lstStyle>
          <a:p>
            <a:pPr eaLnBrk="1" latinLnBrk="0" marL="0" marR="0" indent="0">
              <a:lnSpc>
                <a:spcPts val="1130"/>
              </a:lnSpc>
              <a:spcBef>
                <a:spcPts val="0"/>
              </a:spcBef>
              <a:spcAft>
                <a:spcPts val="0"/>
              </a:spcAft>
              <a:defRPr>
                <a:latin typeface="微软雅黑"/>
                <a:ea typeface="微软雅黑"/>
                <a:cs typeface="微软雅黑"/>
              </a:defRPr>
            </a:pPr>
            <a:r>
              <a:rPr lang="zh-CN" altLang="en-US" b="0" dirty="0">
                <a:solidFill>
                  <a:srgbClr val="383838"/>
                </a:solidFill>
                <a:latin typeface="微软雅黑"/>
                <a:ea typeface="微软雅黑"/>
                <a:cs typeface="微软雅黑"/>
              </a:rPr>
              <a:t>你已经定义了你的数据和人工智能策略吗？你知道你期望实现什么价值吗？</a:t>
            </a:r>
            <a:endParaRPr lang="zh-CN" altLang="en-US" b="0" dirty="0">
              <a:solidFill>
                <a:srgbClr val="383838"/>
              </a:solidFill>
              <a:latin typeface="微软雅黑"/>
              <a:ea typeface="微软雅黑"/>
              <a:cs typeface="微软雅黑"/>
            </a:endParaRPr>
          </a:p>
        </p:txBody>
      </p:sp>
      <p:grpSp>
        <p:nvGrpSpPr>
          <p:cNvPr id="283" name="组合 282"/>
          <p:cNvGrpSpPr/>
          <p:nvPr/>
        </p:nvGrpSpPr>
        <p:grpSpPr>
          <a:xfrm flipH="1">
            <a:off x="1236568" y="3481304"/>
            <a:ext cx="1348443" cy="750853"/>
            <a:chOff x="4539723" y="3468118"/>
            <a:chExt cx="422682" cy="494713"/>
          </a:xfrm>
        </p:grpSpPr>
        <p:cxnSp>
          <p:nvCxnSpPr>
            <p:cNvPr id="285" name="直接连接符 284"/>
            <p:cNvCxnSpPr/>
            <p:nvPr/>
          </p:nvCxnSpPr>
          <p:spPr>
            <a:xfrm flipH="1" flipV="1">
              <a:off x="4539723" y="3962175"/>
              <a:ext cx="422682" cy="1"/>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287" name="直接连接符 286"/>
            <p:cNvCxnSpPr/>
            <p:nvPr/>
          </p:nvCxnSpPr>
          <p:spPr>
            <a:xfrm flipV="1">
              <a:off x="4962405" y="3468118"/>
              <a:ext cx="0" cy="49471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sp>
        <p:nvSpPr>
          <p:cNvPr id="288" name="椭圆 287"/>
          <p:cNvSpPr/>
          <p:nvPr/>
        </p:nvSpPr>
        <p:spPr bwMode="gray">
          <a:xfrm>
            <a:off x="2553918" y="4180066"/>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90" name="文本框 289"/>
          <p:cNvSpPr txBox="1"/>
          <p:nvPr/>
        </p:nvSpPr>
        <p:spPr>
          <a:xfrm>
            <a:off x="1267418" y="3478128"/>
            <a:ext cx="1149294" cy="62103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确定您的支持功能</a:t>
            </a:r>
            <a:endParaRPr lang="en-US" altLang="zh-CN" sz="1000" dirty="0">
              <a:solidFill>
                <a:srgbClr val="383838"/>
              </a:solidFill>
              <a:latin typeface="微软雅黑"/>
              <a:ea typeface="微软雅黑"/>
              <a:cs typeface="微软雅黑"/>
            </a:endParaRPr>
          </a:p>
          <a:p>
            <a:pPr eaLnBrk="1"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组织中谁需要参与（即风险、法律、受影响的系统）？</a:t>
            </a:r>
            <a:endParaRPr lang="zh-CN" altLang="en-US" sz="1000" dirty="0">
              <a:solidFill>
                <a:srgbClr val="383838"/>
              </a:solidFill>
              <a:latin typeface="微软雅黑"/>
              <a:ea typeface="微软雅黑"/>
              <a:cs typeface="微软雅黑"/>
            </a:endParaRPr>
          </a:p>
        </p:txBody>
      </p:sp>
      <p:grpSp>
        <p:nvGrpSpPr>
          <p:cNvPr id="292" name="组合 291"/>
          <p:cNvGrpSpPr/>
          <p:nvPr/>
        </p:nvGrpSpPr>
        <p:grpSpPr>
          <a:xfrm flipH="1" flipV="1">
            <a:off x="1463674" y="4469075"/>
            <a:ext cx="1029068" cy="308110"/>
            <a:chOff x="4539723" y="3474490"/>
            <a:chExt cx="422682" cy="494713"/>
          </a:xfrm>
        </p:grpSpPr>
        <p:cxnSp>
          <p:nvCxnSpPr>
            <p:cNvPr id="293" name="直接连接符 292"/>
            <p:cNvCxnSpPr/>
            <p:nvPr/>
          </p:nvCxnSpPr>
          <p:spPr>
            <a:xfrm flipH="1" flipV="1">
              <a:off x="4539723" y="3962175"/>
              <a:ext cx="422682" cy="1"/>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295" name="直接连接符 294"/>
            <p:cNvCxnSpPr/>
            <p:nvPr/>
          </p:nvCxnSpPr>
          <p:spPr>
            <a:xfrm flipV="1">
              <a:off x="4961702" y="3474490"/>
              <a:ext cx="0" cy="49471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sp>
        <p:nvSpPr>
          <p:cNvPr id="291" name="椭圆 290"/>
          <p:cNvSpPr/>
          <p:nvPr/>
        </p:nvSpPr>
        <p:spPr bwMode="gray">
          <a:xfrm>
            <a:off x="2471038" y="442233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nvGrpSpPr>
          <p:cNvPr id="302" name="组合 301"/>
          <p:cNvGrpSpPr/>
          <p:nvPr/>
        </p:nvGrpSpPr>
        <p:grpSpPr>
          <a:xfrm flipH="1" flipV="1">
            <a:off x="1102169" y="4907249"/>
            <a:ext cx="1395333" cy="964798"/>
            <a:chOff x="4539723" y="3468792"/>
            <a:chExt cx="422682" cy="494713"/>
          </a:xfrm>
        </p:grpSpPr>
        <p:cxnSp>
          <p:nvCxnSpPr>
            <p:cNvPr id="303" name="直接连接符 302"/>
            <p:cNvCxnSpPr/>
            <p:nvPr/>
          </p:nvCxnSpPr>
          <p:spPr>
            <a:xfrm flipH="1" flipV="1">
              <a:off x="4539723" y="3962175"/>
              <a:ext cx="422682" cy="1"/>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304" name="直接连接符 303"/>
            <p:cNvCxnSpPr/>
            <p:nvPr/>
          </p:nvCxnSpPr>
          <p:spPr>
            <a:xfrm flipV="1">
              <a:off x="4961467" y="3468792"/>
              <a:ext cx="0" cy="49471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sp>
        <p:nvSpPr>
          <p:cNvPr id="305" name="椭圆 304"/>
          <p:cNvSpPr/>
          <p:nvPr/>
        </p:nvSpPr>
        <p:spPr bwMode="gray">
          <a:xfrm>
            <a:off x="2498149" y="4851819"/>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306" name="文本框 305"/>
          <p:cNvSpPr txBox="1"/>
          <p:nvPr/>
        </p:nvSpPr>
        <p:spPr>
          <a:xfrm>
            <a:off x="1132180" y="5615664"/>
            <a:ext cx="1326156" cy="307777"/>
          </a:xfrm>
          <a:prstGeom prst="rect">
            <a:avLst/>
          </a:prstGeom>
          <a:noFill/>
        </p:spPr>
        <p:txBody>
          <a:bodyPr wrap="square" lIns="0" rIns="0" tIns="0" bIns="0" anchor="t">
            <a:noAutofit/>
          </a:bodyPr>
          <a:lstStyle>
            <a:defPPr>
              <a:defRPr lang="zh-CN">
                <a:latin typeface="微软雅黑"/>
                <a:ea typeface="微软雅黑"/>
                <a:cs typeface="微软雅黑"/>
              </a:defRPr>
            </a:defPPr>
            <a:lvl1pPr>
              <a:defRPr sz="1000" b="1">
                <a:latin typeface="微软雅黑"/>
                <a:ea typeface="微软雅黑"/>
                <a:cs typeface="微软雅黑"/>
              </a:defRPr>
            </a:lvl1pPr>
          </a:lstStyle>
          <a:p>
            <a:pPr eaLnBrk="1" latinLnBrk="0" marL="0" marR="0" indent="0">
              <a:lnSpc>
                <a:spcPts val="1100"/>
              </a:lnSpc>
              <a:spcBef>
                <a:spcPts val="0"/>
              </a:spcBef>
              <a:spcAft>
                <a:spcPts val="0"/>
              </a:spcAft>
              <a:defRPr>
                <a:latin typeface="微软雅黑"/>
                <a:ea typeface="微软雅黑"/>
                <a:cs typeface="微软雅黑"/>
              </a:defRPr>
            </a:pPr>
            <a:r>
              <a:rPr lang="zh-CN" altLang="en-US" dirty="0">
                <a:solidFill>
                  <a:srgbClr val="383838"/>
                </a:solidFill>
                <a:latin typeface="微软雅黑"/>
                <a:ea typeface="微软雅黑"/>
                <a:cs typeface="微软雅黑"/>
              </a:rPr>
              <a:t>让高级解决方案架构师根据业务战略的签署来审查旅程</a:t>
            </a:r>
            <a:endParaRPr lang="zh-CN" altLang="en-US" dirty="0">
              <a:solidFill>
                <a:srgbClr val="383838"/>
              </a:solidFill>
              <a:latin typeface="微软雅黑"/>
              <a:ea typeface="微软雅黑"/>
              <a:cs typeface="微软雅黑"/>
            </a:endParaRPr>
          </a:p>
        </p:txBody>
      </p:sp>
      <p:sp>
        <p:nvSpPr>
          <p:cNvPr id="311" name="文本框 310"/>
          <p:cNvSpPr txBox="1"/>
          <p:nvPr/>
        </p:nvSpPr>
        <p:spPr>
          <a:xfrm>
            <a:off x="4228281" y="4211411"/>
            <a:ext cx="913641" cy="33655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更新产品路线图</a:t>
            </a:r>
            <a:endParaRPr lang="en-US" altLang="zh-CN" sz="1000" dirty="0">
              <a:solidFill>
                <a:srgbClr val="383838"/>
              </a:solidFill>
              <a:latin typeface="微软雅黑"/>
              <a:ea typeface="微软雅黑"/>
              <a:cs typeface="微软雅黑"/>
            </a:endParaRPr>
          </a:p>
          <a:p>
            <a:pPr eaLnBrk="1" latinLnBrk="0" marL="0" marR="0" indent="0">
              <a:lnSpc>
                <a:spcPts val="110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以包括新功能</a:t>
            </a:r>
            <a:endParaRPr lang="zh-CN" altLang="en-US" sz="1000" b="1" dirty="0">
              <a:solidFill>
                <a:srgbClr val="383838"/>
              </a:solidFill>
              <a:latin typeface="微软雅黑"/>
              <a:ea typeface="微软雅黑"/>
              <a:cs typeface="微软雅黑"/>
            </a:endParaRPr>
          </a:p>
        </p:txBody>
      </p:sp>
      <p:sp>
        <p:nvSpPr>
          <p:cNvPr id="312" name="文本框 311"/>
          <p:cNvSpPr txBox="1"/>
          <p:nvPr/>
        </p:nvSpPr>
        <p:spPr>
          <a:xfrm>
            <a:off x="3551555" y="3781425"/>
            <a:ext cx="113030" cy="215265"/>
          </a:xfrm>
          <a:prstGeom prst="rect">
            <a:avLst/>
          </a:prstGeom>
          <a:noFill/>
        </p:spPr>
        <p:txBody>
          <a:bodyPr wrap="square" lIns="0" tIns="0" rIns="0" bIns="0" rtlCol="0">
            <a:spAutoFit/>
          </a:bodyPr>
          <a:lstStyle/>
          <a:p>
            <a:pPr>
              <a:spcBef>
                <a:spcPts val="600"/>
              </a:spcBef>
              <a:buSzPct val="100000"/>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1</a:t>
            </a:r>
            <a:endParaRPr lang="en-US" altLang="zh-CN" sz="1400" b="1" dirty="0">
              <a:solidFill>
                <a:srgbClr val="FFFFFF"/>
              </a:solidFill>
              <a:latin typeface="微软雅黑"/>
              <a:ea typeface="微软雅黑"/>
              <a:cs typeface="微软雅黑"/>
            </a:endParaRPr>
          </a:p>
        </p:txBody>
      </p:sp>
      <p:sp>
        <p:nvSpPr>
          <p:cNvPr id="314" name="文本框 313"/>
          <p:cNvSpPr txBox="1"/>
          <p:nvPr/>
        </p:nvSpPr>
        <p:spPr>
          <a:xfrm>
            <a:off x="2772228" y="4165600"/>
            <a:ext cx="990960" cy="381000"/>
          </a:xfrm>
          <a:prstGeom prst="rect">
            <a:avLst/>
          </a:prstGeom>
          <a:noFill/>
        </p:spPr>
        <p:txBody>
          <a:bodyPr wrap="square" anchor="t" lIns="0" rIns="0" tIns="0" bIns="0">
            <a:noAutofit/>
          </a:bodyPr>
          <a:lstStyle/>
          <a:p>
            <a:pPr algn="ctr" eaLnBrk="1" latinLnBrk="0" marL="0" marR="0" indent="0">
              <a:lnSpc>
                <a:spcPts val="1260"/>
              </a:lnSpc>
              <a:spcBef>
                <a:spcPts val="0"/>
              </a:spcBef>
              <a:spcAft>
                <a:spcPts val="0"/>
              </a:spcAft>
              <a:defRPr>
                <a:latin typeface="微软雅黑"/>
                <a:ea typeface="微软雅黑"/>
                <a:cs typeface="微软雅黑"/>
              </a:defRPr>
            </a:pPr>
            <a:r>
              <a:rPr lang="zh-CN" altLang="en-US" sz="1200" b="1" dirty="0">
                <a:solidFill>
                  <a:srgbClr val="383838"/>
                </a:solidFill>
                <a:latin typeface="微软雅黑"/>
                <a:ea typeface="微软雅黑"/>
                <a:cs typeface="微软雅黑"/>
              </a:rPr>
              <a:t>冲刺0</a:t>
            </a:r>
            <a:endParaRPr lang="en-US" altLang="zh-CN" sz="1200" b="1" dirty="0">
              <a:solidFill>
                <a:srgbClr val="383838"/>
              </a:solidFill>
              <a:latin typeface="微软雅黑"/>
              <a:ea typeface="微软雅黑"/>
              <a:cs typeface="微软雅黑"/>
            </a:endParaRPr>
          </a:p>
          <a:p>
            <a:pPr algn="ctr" eaLnBrk="1" latinLnBrk="0" marL="0" marR="0" indent="0">
              <a:lnSpc>
                <a:spcPts val="1260"/>
              </a:lnSpc>
              <a:spcBef>
                <a:spcPts val="0"/>
              </a:spcBef>
              <a:spcAft>
                <a:spcPts val="0"/>
              </a:spcAft>
              <a:defRPr>
                <a:latin typeface="微软雅黑"/>
                <a:ea typeface="微软雅黑"/>
                <a:cs typeface="微软雅黑"/>
              </a:defRPr>
            </a:pPr>
            <a:r>
              <a:rPr lang="zh-CN" altLang="en-US" sz="1200" dirty="0">
                <a:solidFill>
                  <a:srgbClr val="383838"/>
                </a:solidFill>
                <a:latin typeface="微软雅黑"/>
                <a:ea typeface="微软雅黑"/>
                <a:cs typeface="微软雅黑"/>
              </a:rPr>
              <a:t>2-3周</a:t>
            </a:r>
            <a:endParaRPr lang="zh-CN" altLang="en-US" sz="1200" dirty="0">
              <a:solidFill>
                <a:srgbClr val="383838"/>
              </a:solidFill>
              <a:latin typeface="微软雅黑"/>
              <a:ea typeface="微软雅黑"/>
              <a:cs typeface="微软雅黑"/>
            </a:endParaRPr>
          </a:p>
        </p:txBody>
      </p:sp>
      <p:sp>
        <p:nvSpPr>
          <p:cNvPr id="316" name="文本框 315"/>
          <p:cNvSpPr txBox="1"/>
          <p:nvPr/>
        </p:nvSpPr>
        <p:spPr>
          <a:xfrm>
            <a:off x="2628900" y="4559300"/>
            <a:ext cx="1422400" cy="723900"/>
          </a:xfrm>
          <a:prstGeom prst="rect">
            <a:avLst/>
          </a:prstGeom>
          <a:noFill/>
        </p:spPr>
        <p:txBody>
          <a:bodyPr wrap="square" lIns="0" rIns="0" tIns="0" bIns="0" anchor="t">
            <a:noAutofit/>
          </a:bodyPr>
          <a:lstStyle/>
          <a:p>
            <a:pPr algn="ctr" eaLnBrk="1" latinLnBrk="0" marL="0" marR="0" indent="0">
              <a:lnSpc>
                <a:spcPts val="106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计划和创建</a:t>
            </a:r>
            <a:endParaRPr lang="en-US" altLang="zh-CN" sz="1000" b="1" dirty="0">
              <a:solidFill>
                <a:srgbClr val="383838"/>
              </a:solidFill>
              <a:latin typeface="微软雅黑"/>
              <a:ea typeface="微软雅黑"/>
              <a:cs typeface="微软雅黑"/>
            </a:endParaRPr>
          </a:p>
          <a:p>
            <a:pPr algn="ctr" eaLnBrk="1" latinLnBrk="0" marL="0" marR="0" indent="0">
              <a:lnSpc>
                <a:spcPts val="106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史诗和用户故事</a:t>
            </a:r>
            <a:endParaRPr lang="en-US" altLang="zh-CN" sz="1000" b="1" dirty="0">
              <a:solidFill>
                <a:srgbClr val="383838"/>
              </a:solidFill>
              <a:latin typeface="微软雅黑"/>
              <a:ea typeface="微软雅黑"/>
              <a:cs typeface="微软雅黑"/>
            </a:endParaRPr>
          </a:p>
          <a:p>
            <a:pPr algn="ctr" eaLnBrk="1" latinLnBrk="0" marL="0" marR="0" indent="0">
              <a:lnSpc>
                <a:spcPts val="106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快速迭代版本、相关功能和史诗的高级设计</a:t>
            </a:r>
            <a:endParaRPr lang="zh-CN" altLang="en-US" sz="1000" dirty="0">
              <a:solidFill>
                <a:srgbClr val="383838"/>
              </a:solidFill>
              <a:latin typeface="微软雅黑"/>
              <a:ea typeface="微软雅黑"/>
              <a:cs typeface="微软雅黑"/>
            </a:endParaRPr>
          </a:p>
        </p:txBody>
      </p:sp>
      <p:sp>
        <p:nvSpPr>
          <p:cNvPr id="320" name="object 121"/>
          <p:cNvSpPr/>
          <p:nvPr/>
        </p:nvSpPr>
        <p:spPr>
          <a:xfrm>
            <a:off x="3043560" y="5206901"/>
            <a:ext cx="385473" cy="445309"/>
          </a:xfrm>
          <a:custGeom>
            <a:avLst/>
            <a:gdLst/>
            <a:ahLst/>
            <a:cxnLst/>
            <a:rect l="l" t="t" r="r" b="b"/>
            <a:pathLst>
              <a:path w="601345" h="694690">
                <a:moveTo>
                  <a:pt x="300659" y="0"/>
                </a:moveTo>
                <a:lnTo>
                  <a:pt x="0" y="173583"/>
                </a:lnTo>
                <a:lnTo>
                  <a:pt x="0" y="520750"/>
                </a:lnTo>
                <a:lnTo>
                  <a:pt x="300659" y="694347"/>
                </a:lnTo>
                <a:lnTo>
                  <a:pt x="601319" y="520750"/>
                </a:lnTo>
                <a:lnTo>
                  <a:pt x="601319" y="173583"/>
                </a:lnTo>
                <a:lnTo>
                  <a:pt x="300659" y="0"/>
                </a:lnTo>
                <a:close/>
              </a:path>
            </a:pathLst>
          </a:custGeom>
          <a:solidFill>
            <a:srgbClr val="FFFFFF"/>
          </a:solidFill>
          <a:ln>
            <a:solidFill>
              <a:srgbClr val="3368FF"/>
            </a:solidFill>
          </a:ln>
        </p:spPr>
        <p:txBody>
          <a:bodyPr wrap="square" lIns="0" tIns="0" rIns="0" bIns="0" rtlCol="0"/>
          <a:lstStyle/>
          <a:p>
            <a:pPr defTabSz="586105">
              <a:defRPr>
                <a:solidFill>
                  <a:srgbClr val="FFFFFF"/>
                </a:solidFill>
                <a:latin typeface="微软雅黑"/>
                <a:ea typeface="微软雅黑"/>
                <a:cs typeface="微软雅黑"/>
              </a:defRPr>
            </a:pPr>
            <a:endParaRPr sz="1155">
              <a:solidFill>
                <a:srgbClr val="FFFFFF"/>
              </a:solidFill>
              <a:latin typeface="微软雅黑"/>
              <a:ea typeface="微软雅黑"/>
              <a:cs typeface="微软雅黑"/>
            </a:endParaRPr>
          </a:p>
        </p:txBody>
      </p:sp>
      <p:sp>
        <p:nvSpPr>
          <p:cNvPr id="321" name="六边形 320"/>
          <p:cNvSpPr/>
          <p:nvPr/>
        </p:nvSpPr>
        <p:spPr bwMode="gray">
          <a:xfrm rot="5400000">
            <a:off x="3074232" y="5287293"/>
            <a:ext cx="324128" cy="284525"/>
          </a:xfrm>
          <a:prstGeom prst="hexagon">
            <a:avLst/>
          </a:prstGeom>
          <a:solidFill>
            <a:srgbClr val="3368FF"/>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322" name="文本框 321"/>
          <p:cNvSpPr txBox="1"/>
          <p:nvPr/>
        </p:nvSpPr>
        <p:spPr>
          <a:xfrm>
            <a:off x="3185000" y="5321833"/>
            <a:ext cx="102592" cy="215444"/>
          </a:xfrm>
          <a:prstGeom prst="rect">
            <a:avLst/>
          </a:prstGeom>
          <a:noFill/>
        </p:spPr>
        <p:txBody>
          <a:bodyPr wrap="none" lIns="0" tIns="0" rIns="0" bIns="0" rtlCol="0">
            <a:spAutoFit/>
          </a:bodyPr>
          <a:lstStyle/>
          <a:p>
            <a:pPr>
              <a:spcBef>
                <a:spcPts val="600"/>
              </a:spcBef>
              <a:buSzPct val="100000"/>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2</a:t>
            </a:r>
            <a:endParaRPr lang="en-US" altLang="zh-CN" sz="1400" b="1" dirty="0">
              <a:solidFill>
                <a:srgbClr val="FFFFFF"/>
              </a:solidFill>
              <a:latin typeface="微软雅黑"/>
              <a:ea typeface="微软雅黑"/>
              <a:cs typeface="微软雅黑"/>
            </a:endParaRPr>
          </a:p>
        </p:txBody>
      </p:sp>
      <p:cxnSp>
        <p:nvCxnSpPr>
          <p:cNvPr id="323" name="直接连接符 322"/>
          <p:cNvCxnSpPr/>
          <p:nvPr/>
        </p:nvCxnSpPr>
        <p:spPr>
          <a:xfrm>
            <a:off x="3235258" y="5652210"/>
            <a:ext cx="0" cy="911105"/>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325" name="文本框 324"/>
          <p:cNvSpPr txBox="1"/>
          <p:nvPr/>
        </p:nvSpPr>
        <p:spPr>
          <a:xfrm>
            <a:off x="3244220" y="5669480"/>
            <a:ext cx="1348442" cy="276999"/>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检查点#</a:t>
            </a:r>
            <a:r>
              <a:rPr lang="en-US" altLang="zh-CN" sz="1200" b="1" dirty="0">
                <a:solidFill>
                  <a:srgbClr val="0042FF"/>
                </a:solidFill>
                <a:latin typeface="微软雅黑"/>
                <a:ea typeface="微软雅黑"/>
                <a:cs typeface="微软雅黑"/>
              </a:rPr>
              <a:t>2</a:t>
            </a:r>
            <a:endParaRPr lang="en-US" altLang="zh-CN" sz="1200" b="1" dirty="0">
              <a:solidFill>
                <a:srgbClr val="0042FF"/>
              </a:solidFill>
              <a:latin typeface="微软雅黑"/>
              <a:ea typeface="微软雅黑"/>
              <a:cs typeface="微软雅黑"/>
            </a:endParaRPr>
          </a:p>
        </p:txBody>
      </p:sp>
      <p:sp>
        <p:nvSpPr>
          <p:cNvPr id="326" name="文本框 325"/>
          <p:cNvSpPr txBox="1"/>
          <p:nvPr/>
        </p:nvSpPr>
        <p:spPr>
          <a:xfrm>
            <a:off x="3310756" y="5905500"/>
            <a:ext cx="1422400" cy="838200"/>
          </a:xfrm>
          <a:prstGeom prst="rect">
            <a:avLst/>
          </a:prstGeom>
          <a:noFill/>
        </p:spPr>
        <p:txBody>
          <a:bodyPr wrap="square" lIns="0" rIns="0" tIns="0" bIns="0" anchor="t">
            <a:noAutofit/>
          </a:bodyPr>
          <a:lstStyle>
            <a:defPPr>
              <a:defRPr lang="zh-CN">
                <a:latin typeface="微软雅黑"/>
                <a:ea typeface="微软雅黑"/>
                <a:cs typeface="微软雅黑"/>
              </a:defRPr>
            </a:defPPr>
            <a:lvl1pPr>
              <a:defRPr sz="1000" b="1">
                <a:latin typeface="微软雅黑"/>
                <a:ea typeface="微软雅黑"/>
                <a:cs typeface="微软雅黑"/>
              </a:defRPr>
            </a:lvl1pPr>
          </a:lstStyle>
          <a:p>
            <a:pPr eaLnBrk="1" latinLnBrk="0" marL="0" marR="0" indent="0">
              <a:lnSpc>
                <a:spcPts val="1130"/>
              </a:lnSpc>
              <a:spcBef>
                <a:spcPts val="0"/>
              </a:spcBef>
              <a:spcAft>
                <a:spcPts val="0"/>
              </a:spcAft>
              <a:defRPr>
                <a:latin typeface="微软雅黑"/>
                <a:ea typeface="微软雅黑"/>
                <a:cs typeface="微软雅黑"/>
              </a:defRPr>
            </a:pPr>
            <a:r>
              <a:rPr lang="zh-CN" altLang="en-US" b="0" dirty="0">
                <a:solidFill>
                  <a:srgbClr val="383838"/>
                </a:solidFill>
                <a:latin typeface="微软雅黑"/>
                <a:ea typeface="微软雅黑"/>
                <a:cs typeface="微软雅黑"/>
              </a:rPr>
              <a:t>您当前使用的数据是否能够为您的用例提供预期结果？需要进行哪些调整？展望未来，您的功能是否可以扩展以支持其他用例？</a:t>
            </a:r>
            <a:endParaRPr lang="zh-CN" altLang="en-US" b="0" dirty="0">
              <a:solidFill>
                <a:srgbClr val="383838"/>
              </a:solidFill>
              <a:latin typeface="微软雅黑"/>
              <a:ea typeface="微软雅黑"/>
              <a:cs typeface="微软雅黑"/>
            </a:endParaRPr>
          </a:p>
        </p:txBody>
      </p:sp>
      <p:cxnSp>
        <p:nvCxnSpPr>
          <p:cNvPr id="329" name="直接连接符 328"/>
          <p:cNvCxnSpPr/>
          <p:nvPr/>
        </p:nvCxnSpPr>
        <p:spPr>
          <a:xfrm flipV="1">
            <a:off x="4876007" y="4697771"/>
            <a:ext cx="0" cy="649668"/>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332" name="直接连接符 331"/>
          <p:cNvCxnSpPr/>
          <p:nvPr/>
        </p:nvCxnSpPr>
        <p:spPr>
          <a:xfrm>
            <a:off x="4730771" y="5453663"/>
            <a:ext cx="0" cy="812162"/>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334" name="文本框 333"/>
          <p:cNvSpPr txBox="1"/>
          <p:nvPr/>
        </p:nvSpPr>
        <p:spPr>
          <a:xfrm>
            <a:off x="4900339" y="4686843"/>
            <a:ext cx="553900" cy="307777"/>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建立产品故事</a:t>
            </a:r>
            <a:endParaRPr lang="zh-CN" altLang="en-US" sz="1000" dirty="0">
              <a:solidFill>
                <a:srgbClr val="383838"/>
              </a:solidFill>
              <a:latin typeface="微软雅黑"/>
              <a:ea typeface="微软雅黑"/>
              <a:cs typeface="微软雅黑"/>
            </a:endParaRPr>
          </a:p>
        </p:txBody>
      </p:sp>
      <p:sp>
        <p:nvSpPr>
          <p:cNvPr id="335" name="文本框 334"/>
          <p:cNvSpPr txBox="1"/>
          <p:nvPr/>
        </p:nvSpPr>
        <p:spPr>
          <a:xfrm>
            <a:off x="4762109" y="5842888"/>
            <a:ext cx="1006979" cy="59817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包括设计和技术峰值。将您的资源集中在设计和实现新功能上。</a:t>
            </a:r>
            <a:endParaRPr lang="zh-CN" altLang="en-US" sz="1000" dirty="0">
              <a:solidFill>
                <a:srgbClr val="383838"/>
              </a:solidFill>
              <a:latin typeface="微软雅黑"/>
              <a:ea typeface="微软雅黑"/>
              <a:cs typeface="微软雅黑"/>
            </a:endParaRPr>
          </a:p>
        </p:txBody>
      </p:sp>
      <p:cxnSp>
        <p:nvCxnSpPr>
          <p:cNvPr id="338" name="直接连接符 337"/>
          <p:cNvCxnSpPr/>
          <p:nvPr/>
        </p:nvCxnSpPr>
        <p:spPr>
          <a:xfrm flipV="1">
            <a:off x="5395861" y="4066590"/>
            <a:ext cx="0" cy="1287010"/>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342" name="object 121"/>
          <p:cNvSpPr/>
          <p:nvPr/>
        </p:nvSpPr>
        <p:spPr>
          <a:xfrm>
            <a:off x="5010388" y="5184832"/>
            <a:ext cx="385473" cy="445309"/>
          </a:xfrm>
          <a:custGeom>
            <a:avLst/>
            <a:gdLst/>
            <a:ahLst/>
            <a:cxnLst/>
            <a:rect l="l" t="t" r="r" b="b"/>
            <a:pathLst>
              <a:path w="601345" h="694690">
                <a:moveTo>
                  <a:pt x="300659" y="0"/>
                </a:moveTo>
                <a:lnTo>
                  <a:pt x="0" y="173583"/>
                </a:lnTo>
                <a:lnTo>
                  <a:pt x="0" y="520750"/>
                </a:lnTo>
                <a:lnTo>
                  <a:pt x="300659" y="694347"/>
                </a:lnTo>
                <a:lnTo>
                  <a:pt x="601319" y="520750"/>
                </a:lnTo>
                <a:lnTo>
                  <a:pt x="601319" y="173583"/>
                </a:lnTo>
                <a:lnTo>
                  <a:pt x="300659" y="0"/>
                </a:lnTo>
                <a:close/>
              </a:path>
            </a:pathLst>
          </a:custGeom>
          <a:solidFill>
            <a:srgbClr val="FFFFFF"/>
          </a:solidFill>
          <a:ln>
            <a:solidFill>
              <a:srgbClr val="3368FF"/>
            </a:solidFill>
          </a:ln>
        </p:spPr>
        <p:txBody>
          <a:bodyPr wrap="square" lIns="0" tIns="0" rIns="0" bIns="0" rtlCol="0"/>
          <a:lstStyle/>
          <a:p>
            <a:pPr defTabSz="586105">
              <a:defRPr>
                <a:solidFill>
                  <a:srgbClr val="FFFFFF"/>
                </a:solidFill>
                <a:latin typeface="微软雅黑"/>
                <a:ea typeface="微软雅黑"/>
                <a:cs typeface="微软雅黑"/>
              </a:defRPr>
            </a:pPr>
            <a:endParaRPr sz="1155">
              <a:solidFill>
                <a:srgbClr val="FFFFFF"/>
              </a:solidFill>
              <a:latin typeface="微软雅黑"/>
              <a:ea typeface="微软雅黑"/>
              <a:cs typeface="微软雅黑"/>
            </a:endParaRPr>
          </a:p>
        </p:txBody>
      </p:sp>
      <p:sp>
        <p:nvSpPr>
          <p:cNvPr id="343" name="六边形 342"/>
          <p:cNvSpPr/>
          <p:nvPr/>
        </p:nvSpPr>
        <p:spPr bwMode="gray">
          <a:xfrm rot="5400000">
            <a:off x="5041060" y="5265224"/>
            <a:ext cx="324128" cy="284525"/>
          </a:xfrm>
          <a:prstGeom prst="hexagon">
            <a:avLst/>
          </a:prstGeom>
          <a:solidFill>
            <a:srgbClr val="3368FF"/>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344" name="文本框 343"/>
          <p:cNvSpPr txBox="1"/>
          <p:nvPr/>
        </p:nvSpPr>
        <p:spPr>
          <a:xfrm>
            <a:off x="5148622" y="5299764"/>
            <a:ext cx="109004" cy="215444"/>
          </a:xfrm>
          <a:prstGeom prst="rect">
            <a:avLst/>
          </a:prstGeom>
          <a:noFill/>
        </p:spPr>
        <p:txBody>
          <a:bodyPr wrap="none" lIns="0" tIns="0" rIns="0" bIns="0" rtlCol="0">
            <a:spAutoFit/>
          </a:bodyPr>
          <a:lstStyle/>
          <a:p>
            <a:pPr>
              <a:spcBef>
                <a:spcPts val="600"/>
              </a:spcBef>
              <a:buSzPct val="100000"/>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3</a:t>
            </a:r>
            <a:endParaRPr lang="en-US" altLang="zh-CN" sz="1400" b="1" dirty="0">
              <a:solidFill>
                <a:srgbClr val="FFFFFF"/>
              </a:solidFill>
              <a:latin typeface="微软雅黑"/>
              <a:ea typeface="微软雅黑"/>
              <a:cs typeface="微软雅黑"/>
            </a:endParaRPr>
          </a:p>
        </p:txBody>
      </p:sp>
      <p:sp>
        <p:nvSpPr>
          <p:cNvPr id="345" name="文本框 344"/>
          <p:cNvSpPr txBox="1"/>
          <p:nvPr/>
        </p:nvSpPr>
        <p:spPr>
          <a:xfrm>
            <a:off x="5650888" y="5041900"/>
            <a:ext cx="553900" cy="3175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支持参与的功能</a:t>
            </a:r>
            <a:endParaRPr lang="zh-CN" altLang="en-US" sz="1000" dirty="0">
              <a:solidFill>
                <a:srgbClr val="383838"/>
              </a:solidFill>
              <a:latin typeface="微软雅黑"/>
              <a:ea typeface="微软雅黑"/>
              <a:cs typeface="微软雅黑"/>
            </a:endParaRPr>
          </a:p>
        </p:txBody>
      </p:sp>
      <p:sp>
        <p:nvSpPr>
          <p:cNvPr id="346" name="文本框 345"/>
          <p:cNvSpPr txBox="1"/>
          <p:nvPr/>
        </p:nvSpPr>
        <p:spPr>
          <a:xfrm>
            <a:off x="5495764" y="3968880"/>
            <a:ext cx="1348442" cy="276999"/>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检查点#</a:t>
            </a:r>
            <a:r>
              <a:rPr lang="en-US" altLang="zh-CN" sz="1200" b="1" dirty="0">
                <a:solidFill>
                  <a:srgbClr val="0042FF"/>
                </a:solidFill>
                <a:latin typeface="微软雅黑"/>
                <a:ea typeface="微软雅黑"/>
                <a:cs typeface="微软雅黑"/>
              </a:rPr>
              <a:t>3</a:t>
            </a:r>
            <a:endParaRPr lang="en-US" altLang="zh-CN" sz="1200" b="1" dirty="0">
              <a:solidFill>
                <a:srgbClr val="0042FF"/>
              </a:solidFill>
              <a:latin typeface="微软雅黑"/>
              <a:ea typeface="微软雅黑"/>
              <a:cs typeface="微软雅黑"/>
            </a:endParaRPr>
          </a:p>
        </p:txBody>
      </p:sp>
      <p:sp>
        <p:nvSpPr>
          <p:cNvPr id="347" name="文本框 346"/>
          <p:cNvSpPr txBox="1"/>
          <p:nvPr/>
        </p:nvSpPr>
        <p:spPr>
          <a:xfrm>
            <a:off x="5509730" y="4118250"/>
            <a:ext cx="1371600" cy="7112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有什么调整吗</a:t>
            </a:r>
            <a:r>
              <a:rPr lang="en-US" altLang="zh-CN" sz="1000" b="1" dirty="0">
                <a:solidFill>
                  <a:srgbClr val="383838"/>
                </a:solidFill>
                <a:latin typeface="微软雅黑"/>
                <a:ea typeface="微软雅黑"/>
                <a:cs typeface="微软雅黑"/>
              </a:rPr>
              <a:t>?</a:t>
            </a:r>
            <a:endParaRPr lang="en-US" altLang="zh-CN" sz="1000" b="1" dirty="0">
              <a:solidFill>
                <a:srgbClr val="383838"/>
              </a:solidFill>
              <a:latin typeface="微软雅黑"/>
              <a:ea typeface="微软雅黑"/>
              <a:cs typeface="微软雅黑"/>
            </a:endParaRPr>
          </a:p>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你需要对你的运营模式进行调整，以优化这些专家如何合作？</a:t>
            </a:r>
            <a:endParaRPr lang="zh-CN" altLang="en-US" sz="1000" dirty="0">
              <a:solidFill>
                <a:srgbClr val="383838"/>
              </a:solidFill>
              <a:latin typeface="微软雅黑"/>
              <a:ea typeface="微软雅黑"/>
              <a:cs typeface="微软雅黑"/>
            </a:endParaRPr>
          </a:p>
        </p:txBody>
      </p:sp>
      <p:sp>
        <p:nvSpPr>
          <p:cNvPr id="348" name="文本框 347"/>
          <p:cNvSpPr txBox="1"/>
          <p:nvPr/>
        </p:nvSpPr>
        <p:spPr>
          <a:xfrm>
            <a:off x="6001284" y="5777230"/>
            <a:ext cx="1070069" cy="763270"/>
          </a:xfrm>
          <a:prstGeom prst="rect">
            <a:avLst/>
          </a:prstGeom>
          <a:noFill/>
        </p:spPr>
        <p:txBody>
          <a:bodyPr wrap="square" lIns="0" rIns="0" tIns="0" bIns="0" anchor="t">
            <a:noAutofit/>
          </a:bodyPr>
          <a:lstStyle/>
          <a:p>
            <a:pPr eaLnBrk="1" latinLnBrk="0" marL="0" marR="0" indent="0">
              <a:lnSpc>
                <a:spcPts val="110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完善冲刺计划</a:t>
            </a:r>
            <a:endParaRPr lang="en-US" altLang="zh-CN" sz="1000" b="1" dirty="0">
              <a:solidFill>
                <a:srgbClr val="383838"/>
              </a:solidFill>
              <a:latin typeface="微软雅黑"/>
              <a:ea typeface="微软雅黑"/>
              <a:cs typeface="微软雅黑"/>
            </a:endParaRPr>
          </a:p>
          <a:p>
            <a:pPr eaLnBrk="1" latinLnBrk="0" marL="0" marR="0" indent="0">
              <a:lnSpc>
                <a:spcPts val="110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微调并完成用户故事、视觉设计和线框。组织</a:t>
            </a:r>
            <a:r>
              <a:rPr lang="en-US" altLang="zh-CN" sz="1000" dirty="0">
                <a:solidFill>
                  <a:srgbClr val="383838"/>
                </a:solidFill>
                <a:latin typeface="微软雅黑"/>
                <a:ea typeface="微软雅黑"/>
                <a:cs typeface="微软雅黑"/>
              </a:rPr>
              <a:t>scrum</a:t>
            </a:r>
            <a:r>
              <a:rPr lang="zh-CN" altLang="en-US" sz="1000" dirty="0">
                <a:solidFill>
                  <a:srgbClr val="383838"/>
                </a:solidFill>
                <a:latin typeface="微软雅黑"/>
                <a:ea typeface="微软雅黑"/>
                <a:cs typeface="微软雅黑"/>
              </a:rPr>
              <a:t>仪式</a:t>
            </a:r>
            <a:endParaRPr lang="zh-CN" altLang="en-US" sz="1000" dirty="0">
              <a:solidFill>
                <a:srgbClr val="383838"/>
              </a:solidFill>
              <a:latin typeface="微软雅黑"/>
              <a:ea typeface="微软雅黑"/>
              <a:cs typeface="微软雅黑"/>
            </a:endParaRPr>
          </a:p>
        </p:txBody>
      </p:sp>
      <p:sp>
        <p:nvSpPr>
          <p:cNvPr id="349" name="文本框 348"/>
          <p:cNvSpPr txBox="1"/>
          <p:nvPr/>
        </p:nvSpPr>
        <p:spPr>
          <a:xfrm>
            <a:off x="6591158" y="4666806"/>
            <a:ext cx="1422400" cy="5969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培训并支持业务和客户</a:t>
            </a:r>
            <a:endParaRPr lang="en-US" altLang="zh-CN" sz="1000" b="1" dirty="0">
              <a:solidFill>
                <a:srgbClr val="383838"/>
              </a:solidFill>
              <a:latin typeface="微软雅黑"/>
              <a:ea typeface="微软雅黑"/>
              <a:cs typeface="微软雅黑"/>
            </a:endParaRPr>
          </a:p>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确保企业和客户准备好使用新功能。</a:t>
            </a:r>
            <a:endParaRPr lang="zh-CN" altLang="en-US" sz="1000" dirty="0">
              <a:solidFill>
                <a:srgbClr val="383838"/>
              </a:solidFill>
              <a:latin typeface="微软雅黑"/>
              <a:ea typeface="微软雅黑"/>
              <a:cs typeface="微软雅黑"/>
            </a:endParaRPr>
          </a:p>
        </p:txBody>
      </p:sp>
      <p:grpSp>
        <p:nvGrpSpPr>
          <p:cNvPr id="355" name="组合 354"/>
          <p:cNvGrpSpPr/>
          <p:nvPr/>
        </p:nvGrpSpPr>
        <p:grpSpPr>
          <a:xfrm>
            <a:off x="7777803" y="3681871"/>
            <a:ext cx="385473" cy="445309"/>
            <a:chOff x="7124982" y="5397739"/>
            <a:chExt cx="385473" cy="445309"/>
          </a:xfrm>
        </p:grpSpPr>
        <p:sp>
          <p:nvSpPr>
            <p:cNvPr id="356" name="object 121"/>
            <p:cNvSpPr/>
            <p:nvPr/>
          </p:nvSpPr>
          <p:spPr>
            <a:xfrm>
              <a:off x="7124982" y="5397739"/>
              <a:ext cx="385473" cy="445309"/>
            </a:xfrm>
            <a:custGeom>
              <a:avLst/>
              <a:gdLst/>
              <a:ahLst/>
              <a:cxnLst/>
              <a:rect l="l" t="t" r="r" b="b"/>
              <a:pathLst>
                <a:path w="601345" h="694690">
                  <a:moveTo>
                    <a:pt x="300659" y="0"/>
                  </a:moveTo>
                  <a:lnTo>
                    <a:pt x="0" y="173583"/>
                  </a:lnTo>
                  <a:lnTo>
                    <a:pt x="0" y="520750"/>
                  </a:lnTo>
                  <a:lnTo>
                    <a:pt x="300659" y="694347"/>
                  </a:lnTo>
                  <a:lnTo>
                    <a:pt x="601319" y="520750"/>
                  </a:lnTo>
                  <a:lnTo>
                    <a:pt x="601319" y="173583"/>
                  </a:lnTo>
                  <a:lnTo>
                    <a:pt x="300659" y="0"/>
                  </a:lnTo>
                  <a:close/>
                </a:path>
              </a:pathLst>
            </a:custGeom>
            <a:solidFill>
              <a:srgbClr val="FFFFFF"/>
            </a:solidFill>
            <a:ln>
              <a:solidFill>
                <a:srgbClr val="3368FF"/>
              </a:solidFill>
            </a:ln>
          </p:spPr>
          <p:txBody>
            <a:bodyPr wrap="square" lIns="0" tIns="0" rIns="0" bIns="0" rtlCol="0"/>
            <a:lstStyle/>
            <a:p>
              <a:pPr defTabSz="586105">
                <a:defRPr>
                  <a:solidFill>
                    <a:srgbClr val="FFFFFF"/>
                  </a:solidFill>
                  <a:latin typeface="微软雅黑"/>
                  <a:ea typeface="微软雅黑"/>
                  <a:cs typeface="微软雅黑"/>
                </a:defRPr>
              </a:pPr>
              <a:endParaRPr sz="1155">
                <a:solidFill>
                  <a:srgbClr val="FFFFFF"/>
                </a:solidFill>
                <a:latin typeface="微软雅黑"/>
                <a:ea typeface="微软雅黑"/>
                <a:cs typeface="微软雅黑"/>
              </a:endParaRPr>
            </a:p>
          </p:txBody>
        </p:sp>
        <p:sp>
          <p:nvSpPr>
            <p:cNvPr id="357" name="六边形 356"/>
            <p:cNvSpPr/>
            <p:nvPr/>
          </p:nvSpPr>
          <p:spPr bwMode="gray">
            <a:xfrm rot="5400000">
              <a:off x="7155654" y="5478131"/>
              <a:ext cx="324128" cy="284525"/>
            </a:xfrm>
            <a:prstGeom prst="hexagon">
              <a:avLst/>
            </a:prstGeom>
            <a:solidFill>
              <a:srgbClr val="3368FF"/>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358" name="文本框 357"/>
            <p:cNvSpPr txBox="1"/>
            <p:nvPr/>
          </p:nvSpPr>
          <p:spPr>
            <a:xfrm>
              <a:off x="7256804" y="5512671"/>
              <a:ext cx="117020" cy="215444"/>
            </a:xfrm>
            <a:prstGeom prst="rect">
              <a:avLst/>
            </a:prstGeom>
            <a:noFill/>
          </p:spPr>
          <p:txBody>
            <a:bodyPr wrap="none" lIns="0" tIns="0" rIns="0" bIns="0" rtlCol="0">
              <a:spAutoFit/>
            </a:bodyPr>
            <a:lstStyle/>
            <a:p>
              <a:pPr>
                <a:spcBef>
                  <a:spcPts val="600"/>
                </a:spcBef>
                <a:buSzPct val="100000"/>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5</a:t>
              </a:r>
              <a:endParaRPr lang="en-US" altLang="zh-CN" sz="1400" b="1" dirty="0">
                <a:solidFill>
                  <a:srgbClr val="FFFFFF"/>
                </a:solidFill>
                <a:latin typeface="微软雅黑"/>
                <a:ea typeface="微软雅黑"/>
                <a:cs typeface="微软雅黑"/>
              </a:endParaRPr>
            </a:p>
          </p:txBody>
        </p:sp>
      </p:grpSp>
      <p:sp>
        <p:nvSpPr>
          <p:cNvPr id="360" name="object 121"/>
          <p:cNvSpPr/>
          <p:nvPr/>
        </p:nvSpPr>
        <p:spPr>
          <a:xfrm>
            <a:off x="6358637" y="2199195"/>
            <a:ext cx="385473" cy="445309"/>
          </a:xfrm>
          <a:custGeom>
            <a:avLst/>
            <a:gdLst/>
            <a:ahLst/>
            <a:cxnLst/>
            <a:rect l="l" t="t" r="r" b="b"/>
            <a:pathLst>
              <a:path w="601345" h="694690">
                <a:moveTo>
                  <a:pt x="300659" y="0"/>
                </a:moveTo>
                <a:lnTo>
                  <a:pt x="0" y="173583"/>
                </a:lnTo>
                <a:lnTo>
                  <a:pt x="0" y="520750"/>
                </a:lnTo>
                <a:lnTo>
                  <a:pt x="300659" y="694347"/>
                </a:lnTo>
                <a:lnTo>
                  <a:pt x="601319" y="520750"/>
                </a:lnTo>
                <a:lnTo>
                  <a:pt x="601319" y="173583"/>
                </a:lnTo>
                <a:lnTo>
                  <a:pt x="300659" y="0"/>
                </a:lnTo>
                <a:close/>
              </a:path>
            </a:pathLst>
          </a:custGeom>
          <a:solidFill>
            <a:srgbClr val="FFFFFF"/>
          </a:solidFill>
          <a:ln>
            <a:solidFill>
              <a:srgbClr val="383838"/>
            </a:solidFill>
          </a:ln>
        </p:spPr>
        <p:txBody>
          <a:bodyPr wrap="square" lIns="0" tIns="0" rIns="0" bIns="0" rtlCol="0"/>
          <a:lstStyle/>
          <a:p>
            <a:pPr algn="ctr" defTabSz="586105">
              <a:defRPr>
                <a:solidFill>
                  <a:srgbClr val="FFFFFF"/>
                </a:solidFill>
                <a:latin typeface="微软雅黑"/>
                <a:ea typeface="微软雅黑"/>
                <a:cs typeface="微软雅黑"/>
              </a:defRPr>
            </a:pPr>
            <a:endParaRPr sz="1155">
              <a:solidFill>
                <a:srgbClr val="FFFFFF"/>
              </a:solidFill>
              <a:latin typeface="微软雅黑"/>
              <a:ea typeface="微软雅黑"/>
              <a:cs typeface="微软雅黑"/>
            </a:endParaRPr>
          </a:p>
        </p:txBody>
      </p:sp>
      <p:sp>
        <p:nvSpPr>
          <p:cNvPr id="361" name="六边形 360"/>
          <p:cNvSpPr/>
          <p:nvPr/>
        </p:nvSpPr>
        <p:spPr bwMode="gray">
          <a:xfrm rot="5400000">
            <a:off x="6389309" y="2279587"/>
            <a:ext cx="324128" cy="284525"/>
          </a:xfrm>
          <a:prstGeom prst="hexagon">
            <a:avLst/>
          </a:prstGeom>
          <a:solidFill>
            <a:srgbClr val="383838"/>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362" name="文本框 361"/>
          <p:cNvSpPr txBox="1"/>
          <p:nvPr/>
        </p:nvSpPr>
        <p:spPr>
          <a:xfrm>
            <a:off x="6427942" y="2314127"/>
            <a:ext cx="246862" cy="215444"/>
          </a:xfrm>
          <a:prstGeom prst="rect">
            <a:avLst/>
          </a:prstGeom>
          <a:noFill/>
        </p:spPr>
        <p:txBody>
          <a:bodyPr wrap="square" lIns="0" tIns="0" rIns="0" bIns="0" rtlCol="0">
            <a:spAutoFit/>
          </a:bodyPr>
          <a:lstStyle/>
          <a:p>
            <a:pPr algn="ctr">
              <a:spcBef>
                <a:spcPts val="600"/>
              </a:spcBef>
              <a:buSzPct val="100000"/>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6</a:t>
            </a:r>
            <a:r>
              <a:rPr lang="en-US" altLang="zh-CN" sz="1100" dirty="0">
                <a:solidFill>
                  <a:srgbClr val="FFFFFF"/>
                </a:solidFill>
                <a:latin typeface="微软雅黑"/>
                <a:ea typeface="微软雅黑"/>
                <a:cs typeface="微软雅黑"/>
              </a:rPr>
              <a:t>B</a:t>
            </a:r>
            <a:endParaRPr lang="en-US" altLang="zh-CN" sz="1100" dirty="0">
              <a:solidFill>
                <a:srgbClr val="FFFFFF"/>
              </a:solidFill>
              <a:latin typeface="微软雅黑"/>
              <a:ea typeface="微软雅黑"/>
              <a:cs typeface="微软雅黑"/>
            </a:endParaRPr>
          </a:p>
        </p:txBody>
      </p:sp>
      <p:cxnSp>
        <p:nvCxnSpPr>
          <p:cNvPr id="372" name="直接连接符 371"/>
          <p:cNvCxnSpPr/>
          <p:nvPr/>
        </p:nvCxnSpPr>
        <p:spPr>
          <a:xfrm>
            <a:off x="7317718" y="5508850"/>
            <a:ext cx="0" cy="916057"/>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nvGrpSpPr>
          <p:cNvPr id="354" name="组合 353"/>
          <p:cNvGrpSpPr/>
          <p:nvPr/>
        </p:nvGrpSpPr>
        <p:grpSpPr>
          <a:xfrm>
            <a:off x="7124982" y="5185604"/>
            <a:ext cx="385473" cy="445309"/>
            <a:chOff x="7124982" y="5397739"/>
            <a:chExt cx="385473" cy="445309"/>
          </a:xfrm>
        </p:grpSpPr>
        <p:sp>
          <p:nvSpPr>
            <p:cNvPr id="351" name="object 121"/>
            <p:cNvSpPr/>
            <p:nvPr/>
          </p:nvSpPr>
          <p:spPr>
            <a:xfrm>
              <a:off x="7124982" y="5397739"/>
              <a:ext cx="385473" cy="445309"/>
            </a:xfrm>
            <a:custGeom>
              <a:avLst/>
              <a:gdLst/>
              <a:ahLst/>
              <a:cxnLst/>
              <a:rect l="l" t="t" r="r" b="b"/>
              <a:pathLst>
                <a:path w="601345" h="694690">
                  <a:moveTo>
                    <a:pt x="300659" y="0"/>
                  </a:moveTo>
                  <a:lnTo>
                    <a:pt x="0" y="173583"/>
                  </a:lnTo>
                  <a:lnTo>
                    <a:pt x="0" y="520750"/>
                  </a:lnTo>
                  <a:lnTo>
                    <a:pt x="300659" y="694347"/>
                  </a:lnTo>
                  <a:lnTo>
                    <a:pt x="601319" y="520750"/>
                  </a:lnTo>
                  <a:lnTo>
                    <a:pt x="601319" y="173583"/>
                  </a:lnTo>
                  <a:lnTo>
                    <a:pt x="300659" y="0"/>
                  </a:lnTo>
                  <a:close/>
                </a:path>
              </a:pathLst>
            </a:custGeom>
            <a:solidFill>
              <a:srgbClr val="FFFFFF"/>
            </a:solidFill>
            <a:ln>
              <a:solidFill>
                <a:srgbClr val="3368FF"/>
              </a:solidFill>
            </a:ln>
          </p:spPr>
          <p:txBody>
            <a:bodyPr wrap="square" lIns="0" tIns="0" rIns="0" bIns="0" rtlCol="0"/>
            <a:lstStyle/>
            <a:p>
              <a:pPr defTabSz="586105">
                <a:defRPr>
                  <a:solidFill>
                    <a:srgbClr val="FFFFFF"/>
                  </a:solidFill>
                  <a:latin typeface="微软雅黑"/>
                  <a:ea typeface="微软雅黑"/>
                  <a:cs typeface="微软雅黑"/>
                </a:defRPr>
              </a:pPr>
              <a:endParaRPr sz="1155">
                <a:solidFill>
                  <a:srgbClr val="FFFFFF"/>
                </a:solidFill>
                <a:latin typeface="微软雅黑"/>
                <a:ea typeface="微软雅黑"/>
                <a:cs typeface="微软雅黑"/>
              </a:endParaRPr>
            </a:p>
          </p:txBody>
        </p:sp>
        <p:sp>
          <p:nvSpPr>
            <p:cNvPr id="352" name="六边形 351"/>
            <p:cNvSpPr/>
            <p:nvPr/>
          </p:nvSpPr>
          <p:spPr bwMode="gray">
            <a:xfrm rot="5400000">
              <a:off x="7155654" y="5478131"/>
              <a:ext cx="324128" cy="284525"/>
            </a:xfrm>
            <a:prstGeom prst="hexagon">
              <a:avLst/>
            </a:prstGeom>
            <a:solidFill>
              <a:srgbClr val="3368FF"/>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353" name="文本框 352"/>
            <p:cNvSpPr txBox="1"/>
            <p:nvPr/>
          </p:nvSpPr>
          <p:spPr>
            <a:xfrm>
              <a:off x="7256804" y="5512671"/>
              <a:ext cx="121828" cy="215444"/>
            </a:xfrm>
            <a:prstGeom prst="rect">
              <a:avLst/>
            </a:prstGeom>
            <a:noFill/>
          </p:spPr>
          <p:txBody>
            <a:bodyPr wrap="none" lIns="0" tIns="0" rIns="0" bIns="0" rtlCol="0">
              <a:spAutoFit/>
            </a:bodyPr>
            <a:lstStyle/>
            <a:p>
              <a:pPr>
                <a:spcBef>
                  <a:spcPts val="600"/>
                </a:spcBef>
                <a:buSzPct val="100000"/>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rPr>
                <a:t>4</a:t>
              </a:r>
              <a:endParaRPr lang="en-US" altLang="zh-CN" sz="1400" b="1" dirty="0">
                <a:solidFill>
                  <a:srgbClr val="FFFFFF"/>
                </a:solidFill>
                <a:latin typeface="微软雅黑"/>
                <a:ea typeface="微软雅黑"/>
                <a:cs typeface="微软雅黑"/>
              </a:endParaRPr>
            </a:p>
          </p:txBody>
        </p:sp>
      </p:grpSp>
      <p:sp>
        <p:nvSpPr>
          <p:cNvPr id="373" name="文本框 372"/>
          <p:cNvSpPr txBox="1"/>
          <p:nvPr/>
        </p:nvSpPr>
        <p:spPr>
          <a:xfrm>
            <a:off x="7337006" y="5683424"/>
            <a:ext cx="1348442" cy="276999"/>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检查点#</a:t>
            </a:r>
            <a:r>
              <a:rPr lang="en-US" altLang="zh-CN" sz="1200" b="1" dirty="0">
                <a:solidFill>
                  <a:srgbClr val="0042FF"/>
                </a:solidFill>
                <a:latin typeface="微软雅黑"/>
                <a:ea typeface="微软雅黑"/>
                <a:cs typeface="微软雅黑"/>
              </a:rPr>
              <a:t>4</a:t>
            </a:r>
            <a:endParaRPr lang="en-US" altLang="zh-CN" sz="1200" b="1" dirty="0">
              <a:solidFill>
                <a:srgbClr val="0042FF"/>
              </a:solidFill>
              <a:latin typeface="微软雅黑"/>
              <a:ea typeface="微软雅黑"/>
              <a:cs typeface="微软雅黑"/>
            </a:endParaRPr>
          </a:p>
        </p:txBody>
      </p:sp>
      <p:cxnSp>
        <p:nvCxnSpPr>
          <p:cNvPr id="377" name="直接连接符 376"/>
          <p:cNvCxnSpPr/>
          <p:nvPr/>
        </p:nvCxnSpPr>
        <p:spPr>
          <a:xfrm>
            <a:off x="9615662" y="5449955"/>
            <a:ext cx="0" cy="535858"/>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379" name="文本框 378"/>
          <p:cNvSpPr txBox="1"/>
          <p:nvPr/>
        </p:nvSpPr>
        <p:spPr>
          <a:xfrm>
            <a:off x="9571644" y="5715000"/>
            <a:ext cx="1739900" cy="3810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定义和分析非功能性需求（</a:t>
            </a:r>
            <a:r>
              <a:rPr lang="en-US" altLang="zh-CN" sz="1000" b="1" dirty="0">
                <a:solidFill>
                  <a:srgbClr val="383838"/>
                </a:solidFill>
                <a:latin typeface="微软雅黑"/>
                <a:ea typeface="微软雅黑"/>
                <a:cs typeface="微软雅黑"/>
              </a:rPr>
              <a:t>NFR</a:t>
            </a:r>
            <a:r>
              <a:rPr lang="zh-CN" altLang="en-US" sz="1000" b="1" dirty="0">
                <a:solidFill>
                  <a:srgbClr val="383838"/>
                </a:solidFill>
                <a:latin typeface="微软雅黑"/>
                <a:ea typeface="微软雅黑"/>
                <a:cs typeface="微软雅黑"/>
              </a:rPr>
              <a:t>）</a:t>
            </a:r>
            <a:endParaRPr lang="zh-CN" altLang="en-US" sz="1000" b="1" dirty="0">
              <a:solidFill>
                <a:srgbClr val="383838"/>
              </a:solidFill>
              <a:latin typeface="微软雅黑"/>
              <a:ea typeface="微软雅黑"/>
              <a:cs typeface="微软雅黑"/>
            </a:endParaRPr>
          </a:p>
        </p:txBody>
      </p:sp>
      <p:cxnSp>
        <p:nvCxnSpPr>
          <p:cNvPr id="382" name="直接连接符 381"/>
          <p:cNvCxnSpPr/>
          <p:nvPr/>
        </p:nvCxnSpPr>
        <p:spPr>
          <a:xfrm>
            <a:off x="10224739" y="4939683"/>
            <a:ext cx="0" cy="455485"/>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384" name="文本框 383"/>
          <p:cNvSpPr txBox="1"/>
          <p:nvPr/>
        </p:nvSpPr>
        <p:spPr>
          <a:xfrm>
            <a:off x="10252342" y="5102950"/>
            <a:ext cx="1587500" cy="5207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从架构师、设计工作组等处获得解决方案设计批准</a:t>
            </a:r>
            <a:endParaRPr lang="zh-CN" altLang="en-US" sz="1000" b="1" dirty="0">
              <a:solidFill>
                <a:srgbClr val="383838"/>
              </a:solidFill>
              <a:latin typeface="微软雅黑"/>
              <a:ea typeface="微软雅黑"/>
              <a:cs typeface="微软雅黑"/>
            </a:endParaRPr>
          </a:p>
        </p:txBody>
      </p:sp>
      <p:sp>
        <p:nvSpPr>
          <p:cNvPr id="385" name="文本框 384"/>
          <p:cNvSpPr txBox="1"/>
          <p:nvPr/>
        </p:nvSpPr>
        <p:spPr>
          <a:xfrm>
            <a:off x="8223922" y="4212599"/>
            <a:ext cx="990960" cy="461665"/>
          </a:xfrm>
          <a:prstGeom prst="rect">
            <a:avLst/>
          </a:prstGeom>
          <a:noFill/>
        </p:spPr>
        <p:txBody>
          <a:bodyPr wrap="square">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交付</a:t>
            </a:r>
            <a:endParaRPr lang="en-US" altLang="zh-CN" sz="12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dirty="0">
                <a:solidFill>
                  <a:srgbClr val="383838"/>
                </a:solidFill>
                <a:latin typeface="微软雅黑"/>
                <a:ea typeface="微软雅黑"/>
                <a:cs typeface="微软雅黑"/>
              </a:rPr>
              <a:t>冲刺</a:t>
            </a:r>
            <a:r>
              <a:rPr lang="en-US" altLang="zh-CN" sz="1200" dirty="0">
                <a:solidFill>
                  <a:srgbClr val="383838"/>
                </a:solidFill>
                <a:latin typeface="微软雅黑"/>
                <a:ea typeface="微软雅黑"/>
                <a:cs typeface="微软雅黑"/>
              </a:rPr>
              <a:t>1-N</a:t>
            </a:r>
            <a:endParaRPr lang="en-US" altLang="zh-CN" sz="1200" dirty="0">
              <a:solidFill>
                <a:srgbClr val="383838"/>
              </a:solidFill>
              <a:latin typeface="微软雅黑"/>
              <a:ea typeface="微软雅黑"/>
              <a:cs typeface="微软雅黑"/>
            </a:endParaRPr>
          </a:p>
        </p:txBody>
      </p:sp>
      <p:sp>
        <p:nvSpPr>
          <p:cNvPr id="386" name="文本框 385"/>
          <p:cNvSpPr txBox="1"/>
          <p:nvPr/>
        </p:nvSpPr>
        <p:spPr>
          <a:xfrm>
            <a:off x="8064500" y="4686300"/>
            <a:ext cx="1409700" cy="609600"/>
          </a:xfrm>
          <a:prstGeom prst="rect">
            <a:avLst/>
          </a:prstGeom>
          <a:noFill/>
        </p:spPr>
        <p:txBody>
          <a:bodyPr wrap="square" lIns="0" rIns="0" tIns="0" bIns="0" anchor="t">
            <a:noAutofit/>
          </a:bodyPr>
          <a:lstStyle/>
          <a:p>
            <a:pPr algn="ctr" eaLnBrk="1" latinLnBrk="0" marL="0" marR="0" indent="0">
              <a:lnSpc>
                <a:spcPts val="106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交付史诗和</a:t>
            </a:r>
            <a:endParaRPr lang="en-US" altLang="zh-CN" sz="1000" b="1" dirty="0">
              <a:solidFill>
                <a:srgbClr val="383838"/>
              </a:solidFill>
              <a:latin typeface="微软雅黑"/>
              <a:ea typeface="微软雅黑"/>
              <a:cs typeface="微软雅黑"/>
            </a:endParaRPr>
          </a:p>
          <a:p>
            <a:pPr algn="ctr" eaLnBrk="1" latinLnBrk="0" marL="0" marR="0" indent="0">
              <a:lnSpc>
                <a:spcPts val="1060"/>
              </a:lnSpc>
              <a:spcBef>
                <a:spcPts val="0"/>
              </a:spcBef>
              <a:spcAft>
                <a:spcPts val="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用户故事</a:t>
            </a:r>
            <a:endParaRPr lang="en-US" altLang="zh-CN" sz="1000" b="1" dirty="0">
              <a:solidFill>
                <a:srgbClr val="383838"/>
              </a:solidFill>
              <a:latin typeface="微软雅黑"/>
              <a:ea typeface="微软雅黑"/>
              <a:cs typeface="微软雅黑"/>
            </a:endParaRPr>
          </a:p>
          <a:p>
            <a:pPr algn="ctr" eaLnBrk="1" latinLnBrk="0" marL="0" marR="0" indent="0">
              <a:lnSpc>
                <a:spcPts val="106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详细迭代史诗和用户故事，并开始开发创建产品</a:t>
            </a:r>
            <a:endParaRPr lang="zh-CN" altLang="en-US" sz="1000" dirty="0">
              <a:solidFill>
                <a:srgbClr val="383838"/>
              </a:solidFill>
              <a:latin typeface="微软雅黑"/>
              <a:ea typeface="微软雅黑"/>
              <a:cs typeface="微软雅黑"/>
            </a:endParaRPr>
          </a:p>
        </p:txBody>
      </p:sp>
      <p:grpSp>
        <p:nvGrpSpPr>
          <p:cNvPr id="390" name="组合 389"/>
          <p:cNvGrpSpPr/>
          <p:nvPr/>
        </p:nvGrpSpPr>
        <p:grpSpPr>
          <a:xfrm>
            <a:off x="10004845" y="4295561"/>
            <a:ext cx="662253" cy="253668"/>
            <a:chOff x="1899863" y="5266644"/>
            <a:chExt cx="973874" cy="237914"/>
          </a:xfrm>
        </p:grpSpPr>
        <p:sp>
          <p:nvSpPr>
            <p:cNvPr id="393" name="矩形 392"/>
            <p:cNvSpPr/>
            <p:nvPr/>
          </p:nvSpPr>
          <p:spPr bwMode="gray">
            <a:xfrm>
              <a:off x="1899863" y="5288772"/>
              <a:ext cx="973865" cy="199800"/>
            </a:xfrm>
            <a:prstGeom prst="rect">
              <a:avLst/>
            </a:prstGeom>
            <a:solidFill>
              <a:srgbClr val="FFFFFF"/>
            </a:solidFill>
            <a:ln w="19050" algn="ctr">
              <a:noFill/>
              <a:miter lim="800000"/>
            </a:ln>
          </p:spPr>
          <p:txBody>
            <a:bodyPr wrap="square" lIns="0" tIns="0" rIns="0" bIns="0" rtlCol="0" anchor="ctr"/>
            <a:lstStyle/>
            <a:p>
              <a:pPr algn="ctr">
                <a:lnSpc>
                  <a:spcPct val="106000"/>
                </a:lnSpc>
                <a:buFont typeface="微软雅黑"/>
                <a:buNone/>
                <a:defRPr>
                  <a:latin typeface="微软雅黑"/>
                  <a:ea typeface="微软雅黑"/>
                  <a:cs typeface="微软雅黑"/>
                </a:defRPr>
              </a:pPr>
              <a:r>
                <a:rPr lang="zh-CN" altLang="en-US" sz="1000" b="1" dirty="0">
                  <a:solidFill>
                    <a:srgbClr val="0042FF"/>
                  </a:solidFill>
                  <a:latin typeface="微软雅黑"/>
                  <a:ea typeface="微软雅黑"/>
                  <a:cs typeface="微软雅黑"/>
                </a:rPr>
                <a:t>治理</a:t>
              </a:r>
              <a:endParaRPr lang="zh-CN" altLang="en-US" sz="1000" b="1" dirty="0">
                <a:solidFill>
                  <a:srgbClr val="0042FF"/>
                </a:solidFill>
                <a:latin typeface="微软雅黑"/>
                <a:ea typeface="微软雅黑"/>
                <a:cs typeface="微软雅黑"/>
              </a:endParaRPr>
            </a:p>
          </p:txBody>
        </p:sp>
        <p:cxnSp>
          <p:nvCxnSpPr>
            <p:cNvPr id="392" name="直接连接符 391"/>
            <p:cNvCxnSpPr/>
            <p:nvPr/>
          </p:nvCxnSpPr>
          <p:spPr>
            <a:xfrm>
              <a:off x="1899872" y="5504558"/>
              <a:ext cx="973865" cy="0"/>
            </a:xfrm>
            <a:prstGeom prst="line">
              <a:avLst/>
            </a:prstGeom>
            <a:ln w="53975" cap="sq">
              <a:solidFill>
                <a:srgbClr val="3368FF"/>
              </a:solidFill>
            </a:ln>
          </p:spPr>
          <p:style>
            <a:lnRef idx="1">
              <a:srgbClr val="0042FF"/>
            </a:lnRef>
            <a:fillRef idx="0">
              <a:srgbClr val="0042FF"/>
            </a:fillRef>
            <a:effectRef idx="0">
              <a:srgbClr val="0042FF"/>
            </a:effectRef>
            <a:fontRef idx="minor">
              <a:srgbClr val="383838"/>
            </a:fontRef>
          </p:style>
        </p:cxnSp>
        <p:cxnSp>
          <p:nvCxnSpPr>
            <p:cNvPr id="391" name="直接连接符 390"/>
            <p:cNvCxnSpPr/>
            <p:nvPr/>
          </p:nvCxnSpPr>
          <p:spPr>
            <a:xfrm>
              <a:off x="1899872" y="5266644"/>
              <a:ext cx="973865" cy="0"/>
            </a:xfrm>
            <a:prstGeom prst="line">
              <a:avLst/>
            </a:prstGeom>
            <a:ln w="53975" cap="sq">
              <a:solidFill>
                <a:srgbClr val="3368FF"/>
              </a:solidFill>
            </a:ln>
          </p:spPr>
          <p:style>
            <a:lnRef idx="1">
              <a:srgbClr val="0042FF"/>
            </a:lnRef>
            <a:fillRef idx="0">
              <a:srgbClr val="0042FF"/>
            </a:fillRef>
            <a:effectRef idx="0">
              <a:srgbClr val="0042FF"/>
            </a:effectRef>
            <a:fontRef idx="minor">
              <a:srgbClr val="383838"/>
            </a:fontRef>
          </p:style>
        </p:cxnSp>
      </p:grpSp>
      <p:cxnSp>
        <p:nvCxnSpPr>
          <p:cNvPr id="396" name="直接连接符 395"/>
          <p:cNvCxnSpPr/>
          <p:nvPr/>
        </p:nvCxnSpPr>
        <p:spPr>
          <a:xfrm flipV="1">
            <a:off x="10098692" y="3666401"/>
            <a:ext cx="0" cy="44904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399" name="直接连接符 398"/>
          <p:cNvCxnSpPr/>
          <p:nvPr/>
        </p:nvCxnSpPr>
        <p:spPr>
          <a:xfrm>
            <a:off x="8161267" y="3221629"/>
            <a:ext cx="0" cy="564468"/>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403" name="直接连接符 402"/>
          <p:cNvCxnSpPr/>
          <p:nvPr/>
        </p:nvCxnSpPr>
        <p:spPr>
          <a:xfrm flipH="1">
            <a:off x="7612439" y="2651599"/>
            <a:ext cx="699131" cy="0"/>
          </a:xfrm>
          <a:prstGeom prst="line">
            <a:avLst/>
          </a:prstGeom>
          <a:ln w="50800" cap="rnd">
            <a:solidFill>
              <a:srgbClr val="B3D4FE"/>
            </a:solidFill>
          </a:ln>
        </p:spPr>
        <p:style>
          <a:lnRef idx="1">
            <a:srgbClr val="0042FF"/>
          </a:lnRef>
          <a:fillRef idx="0">
            <a:srgbClr val="0042FF"/>
          </a:fillRef>
          <a:effectRef idx="0">
            <a:srgbClr val="0042FF"/>
          </a:effectRef>
          <a:fontRef idx="minor">
            <a:srgbClr val="383838"/>
          </a:fontRef>
        </p:style>
      </p:cxnSp>
      <p:sp>
        <p:nvSpPr>
          <p:cNvPr id="364" name="object 121"/>
          <p:cNvSpPr/>
          <p:nvPr/>
        </p:nvSpPr>
        <p:spPr>
          <a:xfrm>
            <a:off x="8308929" y="2431558"/>
            <a:ext cx="385473" cy="445309"/>
          </a:xfrm>
          <a:custGeom>
            <a:avLst/>
            <a:gdLst/>
            <a:ahLst/>
            <a:cxnLst/>
            <a:rect l="l" t="t" r="r" b="b"/>
            <a:pathLst>
              <a:path w="601345" h="694690">
                <a:moveTo>
                  <a:pt x="300659" y="0"/>
                </a:moveTo>
                <a:lnTo>
                  <a:pt x="0" y="173583"/>
                </a:lnTo>
                <a:lnTo>
                  <a:pt x="0" y="520750"/>
                </a:lnTo>
                <a:lnTo>
                  <a:pt x="300659" y="694347"/>
                </a:lnTo>
                <a:lnTo>
                  <a:pt x="601319" y="520750"/>
                </a:lnTo>
                <a:lnTo>
                  <a:pt x="601319" y="173583"/>
                </a:lnTo>
                <a:lnTo>
                  <a:pt x="300659" y="0"/>
                </a:lnTo>
                <a:close/>
              </a:path>
            </a:pathLst>
          </a:custGeom>
          <a:solidFill>
            <a:srgbClr val="FFFFFF"/>
          </a:solidFill>
          <a:ln>
            <a:solidFill>
              <a:srgbClr val="B3D4FE"/>
            </a:solidFill>
          </a:ln>
        </p:spPr>
        <p:txBody>
          <a:bodyPr wrap="square" lIns="0" tIns="0" rIns="0" bIns="0" rtlCol="0"/>
          <a:lstStyle/>
          <a:p>
            <a:pPr algn="ctr" defTabSz="586105">
              <a:defRPr>
                <a:latin typeface="微软雅黑"/>
                <a:ea typeface="微软雅黑"/>
                <a:cs typeface="微软雅黑"/>
              </a:defRPr>
            </a:pPr>
            <a:endParaRPr sz="1155">
              <a:solidFill>
                <a:srgbClr val="383838"/>
              </a:solidFill>
              <a:latin typeface="微软雅黑"/>
              <a:ea typeface="微软雅黑"/>
              <a:cs typeface="微软雅黑"/>
            </a:endParaRPr>
          </a:p>
        </p:txBody>
      </p:sp>
      <p:sp>
        <p:nvSpPr>
          <p:cNvPr id="365" name="六边形 364"/>
          <p:cNvSpPr/>
          <p:nvPr/>
        </p:nvSpPr>
        <p:spPr bwMode="gray">
          <a:xfrm rot="5400000">
            <a:off x="8339601" y="2511950"/>
            <a:ext cx="324128" cy="284525"/>
          </a:xfrm>
          <a:prstGeom prst="hexagon">
            <a:avLst/>
          </a:prstGeom>
          <a:solidFill>
            <a:srgbClr val="B3D4FE"/>
          </a:solidFill>
          <a:ln w="19050" algn="ctr">
            <a:no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366" name="文本框 365"/>
          <p:cNvSpPr txBox="1"/>
          <p:nvPr/>
        </p:nvSpPr>
        <p:spPr>
          <a:xfrm>
            <a:off x="8378234" y="2546490"/>
            <a:ext cx="246862" cy="215444"/>
          </a:xfrm>
          <a:prstGeom prst="rect">
            <a:avLst/>
          </a:prstGeom>
          <a:noFill/>
        </p:spPr>
        <p:txBody>
          <a:bodyPr wrap="square" lIns="0" tIns="0" rIns="0" bIns="0" rtlCol="0">
            <a:spAutoFit/>
          </a:bodyPr>
          <a:lstStyle/>
          <a:p>
            <a:pPr algn="ctr">
              <a:spcBef>
                <a:spcPts val="600"/>
              </a:spcBef>
              <a:buSzPct val="100000"/>
              <a:defRPr>
                <a:latin typeface="微软雅黑"/>
                <a:ea typeface="微软雅黑"/>
                <a:cs typeface="微软雅黑"/>
              </a:defRPr>
            </a:pPr>
            <a:r>
              <a:rPr lang="en-US" altLang="zh-CN" sz="1400" b="1" dirty="0">
                <a:solidFill>
                  <a:srgbClr val="383838"/>
                </a:solidFill>
                <a:latin typeface="微软雅黑"/>
                <a:ea typeface="微软雅黑"/>
                <a:cs typeface="微软雅黑"/>
              </a:rPr>
              <a:t>6</a:t>
            </a:r>
            <a:r>
              <a:rPr lang="en-US" altLang="zh-CN" sz="1100" dirty="0">
                <a:solidFill>
                  <a:srgbClr val="383838"/>
                </a:solidFill>
                <a:latin typeface="微软雅黑"/>
                <a:ea typeface="微软雅黑"/>
                <a:cs typeface="微软雅黑"/>
              </a:rPr>
              <a:t>A</a:t>
            </a:r>
            <a:endParaRPr lang="en-US" altLang="zh-CN" sz="1100" dirty="0">
              <a:solidFill>
                <a:srgbClr val="383838"/>
              </a:solidFill>
              <a:latin typeface="微软雅黑"/>
              <a:ea typeface="微软雅黑"/>
              <a:cs typeface="微软雅黑"/>
            </a:endParaRPr>
          </a:p>
        </p:txBody>
      </p:sp>
      <p:sp>
        <p:nvSpPr>
          <p:cNvPr id="406" name="等腰三角形 405"/>
          <p:cNvSpPr/>
          <p:nvPr/>
        </p:nvSpPr>
        <p:spPr bwMode="gray">
          <a:xfrm rot="5400000">
            <a:off x="7535545" y="2584450"/>
            <a:ext cx="134620" cy="115570"/>
          </a:xfrm>
          <a:prstGeom prst="triangle">
            <a:avLst/>
          </a:prstGeom>
          <a:solidFill>
            <a:srgbClr val="B3D4FE"/>
          </a:solidFill>
          <a:ln w="19050" algn="ctr">
            <a:no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nvGrpSpPr>
          <p:cNvPr id="413" name="组合 412"/>
          <p:cNvGrpSpPr/>
          <p:nvPr/>
        </p:nvGrpSpPr>
        <p:grpSpPr>
          <a:xfrm flipH="1">
            <a:off x="8485467" y="2880540"/>
            <a:ext cx="1243964" cy="161235"/>
            <a:chOff x="4539747" y="3474490"/>
            <a:chExt cx="419871" cy="494713"/>
          </a:xfrm>
        </p:grpSpPr>
        <p:cxnSp>
          <p:nvCxnSpPr>
            <p:cNvPr id="414" name="直接连接符 413"/>
            <p:cNvCxnSpPr/>
            <p:nvPr/>
          </p:nvCxnSpPr>
          <p:spPr>
            <a:xfrm flipH="1">
              <a:off x="4539747" y="3962176"/>
              <a:ext cx="419871" cy="0"/>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415" name="直接连接符 414"/>
            <p:cNvCxnSpPr/>
            <p:nvPr/>
          </p:nvCxnSpPr>
          <p:spPr>
            <a:xfrm flipV="1">
              <a:off x="4957138" y="3474490"/>
              <a:ext cx="0" cy="49471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sp>
        <p:nvSpPr>
          <p:cNvPr id="416" name="文本框 415"/>
          <p:cNvSpPr txBox="1"/>
          <p:nvPr/>
        </p:nvSpPr>
        <p:spPr>
          <a:xfrm>
            <a:off x="9750013" y="2858354"/>
            <a:ext cx="1348442" cy="276999"/>
          </a:xfrm>
          <a:prstGeom prst="rect">
            <a:avLst/>
          </a:prstGeom>
          <a:noFill/>
        </p:spPr>
        <p:txBody>
          <a:bodyPr wrap="square">
            <a:spAutoFit/>
          </a:bodyPr>
          <a:lstStyle/>
          <a:p>
            <a:pPr>
              <a:defRPr>
                <a:latin typeface="微软雅黑"/>
                <a:ea typeface="微软雅黑"/>
                <a:cs typeface="微软雅黑"/>
              </a:defRPr>
            </a:pPr>
            <a:r>
              <a:rPr lang="zh-CN" altLang="en-US" sz="1200" b="1" dirty="0">
                <a:solidFill>
                  <a:srgbClr val="0042FF"/>
                </a:solidFill>
                <a:latin typeface="微软雅黑"/>
                <a:ea typeface="微软雅黑"/>
                <a:cs typeface="微软雅黑"/>
              </a:rPr>
              <a:t>检查点#</a:t>
            </a:r>
            <a:r>
              <a:rPr lang="en-US" altLang="zh-CN" sz="1200" b="1" dirty="0">
                <a:solidFill>
                  <a:srgbClr val="0042FF"/>
                </a:solidFill>
                <a:latin typeface="微软雅黑"/>
                <a:ea typeface="微软雅黑"/>
                <a:cs typeface="微软雅黑"/>
              </a:rPr>
              <a:t>6A</a:t>
            </a:r>
            <a:endParaRPr lang="en-US" altLang="zh-CN" sz="1200" b="1" dirty="0">
              <a:solidFill>
                <a:srgbClr val="0042FF"/>
              </a:solidFill>
              <a:latin typeface="微软雅黑"/>
              <a:ea typeface="微软雅黑"/>
              <a:cs typeface="微软雅黑"/>
            </a:endParaRPr>
          </a:p>
        </p:txBody>
      </p:sp>
      <p:sp>
        <p:nvSpPr>
          <p:cNvPr id="417" name="文本框 416"/>
          <p:cNvSpPr txBox="1"/>
          <p:nvPr/>
        </p:nvSpPr>
        <p:spPr>
          <a:xfrm>
            <a:off x="9765114" y="3032044"/>
            <a:ext cx="1905000" cy="584200"/>
          </a:xfrm>
          <a:prstGeom prst="rect">
            <a:avLst/>
          </a:prstGeom>
          <a:noFill/>
        </p:spPr>
        <p:txBody>
          <a:bodyPr wrap="square" lIns="0" rIns="0" tIns="0" bIns="0" anchor="t">
            <a:noAutofit/>
          </a:bodyPr>
          <a:lstStyle/>
          <a:p>
            <a:pPr eaLnBrk="1" latinLnBrk="0" marL="0" marR="0" indent="0">
              <a:lnSpc>
                <a:spcPts val="1130"/>
              </a:lnSpc>
              <a:spcBef>
                <a:spcPts val="0"/>
              </a:spcBef>
              <a:spcAft>
                <a:spcPts val="0"/>
              </a:spcAft>
              <a:defRPr>
                <a:latin typeface="微软雅黑"/>
                <a:ea typeface="微软雅黑"/>
                <a:cs typeface="微软雅黑"/>
              </a:defRPr>
            </a:pPr>
            <a:r>
              <a:rPr lang="zh-CN" altLang="en-US" sz="1000" dirty="0">
                <a:solidFill>
                  <a:srgbClr val="383838"/>
                </a:solidFill>
                <a:latin typeface="微软雅黑"/>
                <a:ea typeface="微软雅黑"/>
                <a:cs typeface="微软雅黑"/>
              </a:rPr>
              <a:t>您是否实现了预期或预期的价值？你是怎么测量的？是否需要进行优化以实现最大化？</a:t>
            </a:r>
            <a:endParaRPr lang="zh-CN" altLang="en-US" sz="1000" dirty="0">
              <a:solidFill>
                <a:srgbClr val="383838"/>
              </a:solidFill>
              <a:latin typeface="微软雅黑"/>
              <a:ea typeface="微软雅黑"/>
              <a:cs typeface="微软雅黑"/>
            </a:endParaRPr>
          </a:p>
        </p:txBody>
      </p:sp>
      <p:grpSp>
        <p:nvGrpSpPr>
          <p:cNvPr id="423" name="组合 422"/>
          <p:cNvGrpSpPr/>
          <p:nvPr/>
        </p:nvGrpSpPr>
        <p:grpSpPr>
          <a:xfrm flipH="1">
            <a:off x="5657207" y="2455610"/>
            <a:ext cx="733109" cy="455866"/>
            <a:chOff x="4539723" y="3472767"/>
            <a:chExt cx="422682" cy="494713"/>
          </a:xfrm>
        </p:grpSpPr>
        <p:cxnSp>
          <p:nvCxnSpPr>
            <p:cNvPr id="424" name="直接连接符 423"/>
            <p:cNvCxnSpPr/>
            <p:nvPr/>
          </p:nvCxnSpPr>
          <p:spPr>
            <a:xfrm flipH="1" flipV="1">
              <a:off x="4539723" y="3962175"/>
              <a:ext cx="422682" cy="1"/>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cxnSp>
          <p:nvCxnSpPr>
            <p:cNvPr id="425" name="直接连接符 424"/>
            <p:cNvCxnSpPr/>
            <p:nvPr/>
          </p:nvCxnSpPr>
          <p:spPr>
            <a:xfrm flipV="1">
              <a:off x="4960800" y="3472767"/>
              <a:ext cx="0" cy="49471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grpSp>
      <p:sp>
        <p:nvSpPr>
          <p:cNvPr id="432" name="文本框 431"/>
          <p:cNvSpPr txBox="1"/>
          <p:nvPr/>
        </p:nvSpPr>
        <p:spPr>
          <a:xfrm>
            <a:off x="6381367" y="928243"/>
            <a:ext cx="1348442" cy="215900"/>
          </a:xfrm>
          <a:prstGeom prst="rect">
            <a:avLst/>
          </a:prstGeom>
          <a:noFill/>
        </p:spPr>
        <p:txBody>
          <a:bodyPr wrap="square" anchor="t" lIns="0" rIns="0" tIns="0" bIns="0">
            <a:noAutofit/>
          </a:bodyPr>
          <a:lstStyle/>
          <a:p>
            <a:pPr eaLnBrk="1" latinLnBrk="0" marL="0" marR="0" indent="0">
              <a:lnSpc>
                <a:spcPts val="1400"/>
              </a:lnSpc>
              <a:spcBef>
                <a:spcPts val="0"/>
              </a:spcBef>
              <a:spcAft>
                <a:spcPts val="0"/>
              </a:spcAft>
              <a:defRPr>
                <a:latin typeface="微软雅黑"/>
                <a:ea typeface="微软雅黑"/>
                <a:cs typeface="微软雅黑"/>
              </a:defRPr>
            </a:pPr>
            <a:r>
              <a:rPr lang="zh-CN" altLang="en-US" sz="1200" b="1" dirty="0">
                <a:solidFill>
                  <a:srgbClr val="383838"/>
                </a:solidFill>
                <a:latin typeface="微软雅黑"/>
                <a:ea typeface="微软雅黑"/>
                <a:cs typeface="微软雅黑"/>
              </a:rPr>
              <a:t>检查点#</a:t>
            </a:r>
            <a:r>
              <a:rPr lang="en-US" altLang="zh-CN" sz="1200" b="1" dirty="0">
                <a:solidFill>
                  <a:srgbClr val="383838"/>
                </a:solidFill>
                <a:latin typeface="微软雅黑"/>
                <a:ea typeface="微软雅黑"/>
                <a:cs typeface="微软雅黑"/>
              </a:rPr>
              <a:t>6B</a:t>
            </a:r>
            <a:endParaRPr lang="en-US" altLang="zh-CN" sz="1200" b="1" dirty="0">
              <a:solidFill>
                <a:srgbClr val="383838"/>
              </a:solidFill>
              <a:latin typeface="微软雅黑"/>
              <a:ea typeface="微软雅黑"/>
              <a:cs typeface="微软雅黑"/>
            </a:endParaRPr>
          </a:p>
        </p:txBody>
      </p:sp>
      <p:sp>
        <p:nvSpPr>
          <p:cNvPr id="435" name="等腰三角形 434"/>
          <p:cNvSpPr/>
          <p:nvPr/>
        </p:nvSpPr>
        <p:spPr bwMode="gray">
          <a:xfrm rot="3536722">
            <a:off x="7015998" y="1834816"/>
            <a:ext cx="86195" cy="74306"/>
          </a:xfrm>
          <a:prstGeom prst="triangle">
            <a:avLst/>
          </a:prstGeom>
          <a:solidFill>
            <a:srgbClr val="383838"/>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436" name="等腰三角形 435"/>
          <p:cNvSpPr/>
          <p:nvPr/>
        </p:nvSpPr>
        <p:spPr bwMode="gray">
          <a:xfrm rot="4993202">
            <a:off x="7291208" y="1744154"/>
            <a:ext cx="86195" cy="74306"/>
          </a:xfrm>
          <a:prstGeom prst="triangle">
            <a:avLst/>
          </a:prstGeom>
          <a:solidFill>
            <a:srgbClr val="383838"/>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437" name="等腰三角形 436"/>
          <p:cNvSpPr/>
          <p:nvPr/>
        </p:nvSpPr>
        <p:spPr bwMode="gray">
          <a:xfrm rot="5611188">
            <a:off x="7538442" y="1728895"/>
            <a:ext cx="86195" cy="68219"/>
          </a:xfrm>
          <a:prstGeom prst="triangle">
            <a:avLst/>
          </a:prstGeom>
          <a:solidFill>
            <a:srgbClr val="383838"/>
          </a:solidFill>
          <a:ln w="19050" algn="ctr">
            <a:noFill/>
            <a:miter lim="800000"/>
          </a:ln>
        </p:spPr>
        <p:txBody>
          <a:bodyPr wrap="square" lIns="88900" tIns="88900" rIns="88900" bIns="88900" rtlCol="0" anchor="ctr"/>
          <a:lstStyle/>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grpSp>
        <p:nvGrpSpPr>
          <p:cNvPr id="232" name="组合 231"/>
          <p:cNvGrpSpPr/>
          <p:nvPr/>
        </p:nvGrpSpPr>
        <p:grpSpPr>
          <a:xfrm flipH="1" flipV="1">
            <a:off x="7969296" y="3913212"/>
            <a:ext cx="1532302" cy="1490371"/>
            <a:chOff x="2532031" y="4106703"/>
            <a:chExt cx="1532302" cy="1490371"/>
          </a:xfrm>
        </p:grpSpPr>
        <p:sp>
          <p:nvSpPr>
            <p:cNvPr id="233" name="弧形 232"/>
            <p:cNvSpPr/>
            <p:nvPr/>
          </p:nvSpPr>
          <p:spPr>
            <a:xfrm>
              <a:off x="2532031" y="4106703"/>
              <a:ext cx="1490371" cy="1490371"/>
            </a:xfrm>
            <a:prstGeom prst="arc">
              <a:avLst>
                <a:gd name="adj1" fmla="val 17506889"/>
                <a:gd name="adj2" fmla="val 4926171"/>
              </a:avLst>
            </a:prstGeom>
            <a:ln>
              <a:solidFill>
                <a:srgbClr val="383838"/>
              </a:solidFill>
              <a:prstDash val="dash"/>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34" name="等腰三角形 233"/>
            <p:cNvSpPr/>
            <p:nvPr/>
          </p:nvSpPr>
          <p:spPr bwMode="gray">
            <a:xfrm rot="18986560">
              <a:off x="3763210" y="4297178"/>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37" name="等腰三角形 236"/>
            <p:cNvSpPr/>
            <p:nvPr/>
          </p:nvSpPr>
          <p:spPr bwMode="gray">
            <a:xfrm rot="20289502">
              <a:off x="3923060" y="4563431"/>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40" name="等腰三角形 239"/>
            <p:cNvSpPr/>
            <p:nvPr/>
          </p:nvSpPr>
          <p:spPr bwMode="gray">
            <a:xfrm rot="240098">
              <a:off x="3960379" y="4884327"/>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43" name="等腰三角形 242"/>
            <p:cNvSpPr/>
            <p:nvPr/>
          </p:nvSpPr>
          <p:spPr bwMode="gray">
            <a:xfrm rot="1731429">
              <a:off x="3877863" y="5182854"/>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44" name="等腰三角形 243"/>
            <p:cNvSpPr/>
            <p:nvPr/>
          </p:nvSpPr>
          <p:spPr bwMode="gray">
            <a:xfrm rot="3303579">
              <a:off x="3670082" y="5414488"/>
              <a:ext cx="103954" cy="84274"/>
            </a:xfrm>
            <a:prstGeom prst="triangle">
              <a:avLst/>
            </a:prstGeom>
            <a:solidFill>
              <a:srgbClr val="FFFFFF"/>
            </a:solidFill>
            <a:ln w="9525"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sp>
        <p:nvSpPr>
          <p:cNvPr id="426" name="椭圆 425"/>
          <p:cNvSpPr/>
          <p:nvPr/>
        </p:nvSpPr>
        <p:spPr bwMode="gray">
          <a:xfrm>
            <a:off x="6390963" y="2854586"/>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nvGrpSpPr>
          <p:cNvPr id="446" name="组合 445"/>
          <p:cNvGrpSpPr/>
          <p:nvPr/>
        </p:nvGrpSpPr>
        <p:grpSpPr>
          <a:xfrm>
            <a:off x="4145424" y="3828831"/>
            <a:ext cx="116956" cy="760043"/>
            <a:chOff x="4145424" y="3828831"/>
            <a:chExt cx="116956" cy="760043"/>
          </a:xfrm>
        </p:grpSpPr>
        <p:cxnSp>
          <p:nvCxnSpPr>
            <p:cNvPr id="310" name="直接连接符 309"/>
            <p:cNvCxnSpPr/>
            <p:nvPr/>
          </p:nvCxnSpPr>
          <p:spPr>
            <a:xfrm>
              <a:off x="4203902" y="3939206"/>
              <a:ext cx="0" cy="649668"/>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309" name="椭圆 308"/>
            <p:cNvSpPr/>
            <p:nvPr/>
          </p:nvSpPr>
          <p:spPr bwMode="gray">
            <a:xfrm flipV="1">
              <a:off x="4145424" y="382883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grpSp>
        <p:nvGrpSpPr>
          <p:cNvPr id="447" name="组合 446"/>
          <p:cNvGrpSpPr/>
          <p:nvPr/>
        </p:nvGrpSpPr>
        <p:grpSpPr>
          <a:xfrm>
            <a:off x="3934376" y="3473688"/>
            <a:ext cx="116956" cy="484048"/>
            <a:chOff x="3934376" y="3467336"/>
            <a:chExt cx="116956" cy="484048"/>
          </a:xfrm>
        </p:grpSpPr>
        <p:cxnSp>
          <p:nvCxnSpPr>
            <p:cNvPr id="298" name="直接连接符 297"/>
            <p:cNvCxnSpPr/>
            <p:nvPr/>
          </p:nvCxnSpPr>
          <p:spPr>
            <a:xfrm flipV="1">
              <a:off x="3992854" y="3467336"/>
              <a:ext cx="0" cy="373673"/>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297" name="椭圆 296"/>
            <p:cNvSpPr/>
            <p:nvPr/>
          </p:nvSpPr>
          <p:spPr bwMode="gray">
            <a:xfrm>
              <a:off x="3934376" y="3834428"/>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sp>
        <p:nvSpPr>
          <p:cNvPr id="331" name="椭圆 330"/>
          <p:cNvSpPr/>
          <p:nvPr/>
        </p:nvSpPr>
        <p:spPr bwMode="gray">
          <a:xfrm flipV="1">
            <a:off x="4673035" y="534637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328" name="椭圆 327"/>
          <p:cNvSpPr/>
          <p:nvPr/>
        </p:nvSpPr>
        <p:spPr bwMode="gray">
          <a:xfrm>
            <a:off x="4818271" y="534637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cxnSp>
        <p:nvCxnSpPr>
          <p:cNvPr id="369" name="直接连接符 368"/>
          <p:cNvCxnSpPr/>
          <p:nvPr/>
        </p:nvCxnSpPr>
        <p:spPr>
          <a:xfrm>
            <a:off x="6001251" y="5462259"/>
            <a:ext cx="0" cy="812162"/>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368" name="椭圆 367"/>
          <p:cNvSpPr/>
          <p:nvPr/>
        </p:nvSpPr>
        <p:spPr bwMode="gray">
          <a:xfrm flipV="1">
            <a:off x="5943515" y="534637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448" name="弧形 447"/>
          <p:cNvSpPr/>
          <p:nvPr/>
        </p:nvSpPr>
        <p:spPr>
          <a:xfrm>
            <a:off x="7941502" y="3878264"/>
            <a:ext cx="1591228" cy="1542326"/>
          </a:xfrm>
          <a:prstGeom prst="arc">
            <a:avLst>
              <a:gd name="adj1" fmla="val 16451546"/>
              <a:gd name="adj2" fmla="val 4529053"/>
            </a:avLst>
          </a:prstGeom>
          <a:ln w="53975" cap="rnd">
            <a:solidFill>
              <a:srgbClr val="3368FF"/>
            </a:soli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64" name="椭圆 263"/>
          <p:cNvSpPr/>
          <p:nvPr/>
        </p:nvSpPr>
        <p:spPr bwMode="gray">
          <a:xfrm>
            <a:off x="3823648" y="230968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35" name="椭圆 234"/>
          <p:cNvSpPr/>
          <p:nvPr/>
        </p:nvSpPr>
        <p:spPr bwMode="gray">
          <a:xfrm>
            <a:off x="2642711" y="230968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395" name="椭圆 394"/>
          <p:cNvSpPr/>
          <p:nvPr/>
        </p:nvSpPr>
        <p:spPr bwMode="gray">
          <a:xfrm>
            <a:off x="10040956" y="4108863"/>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381" name="椭圆 380"/>
          <p:cNvSpPr/>
          <p:nvPr/>
        </p:nvSpPr>
        <p:spPr bwMode="gray">
          <a:xfrm flipV="1">
            <a:off x="10167003" y="4829308"/>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376" name="椭圆 375"/>
          <p:cNvSpPr/>
          <p:nvPr/>
        </p:nvSpPr>
        <p:spPr bwMode="gray">
          <a:xfrm flipV="1">
            <a:off x="9557926" y="5339580"/>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80" name="椭圆 279"/>
          <p:cNvSpPr/>
          <p:nvPr/>
        </p:nvSpPr>
        <p:spPr bwMode="gray">
          <a:xfrm>
            <a:off x="4450449" y="3697610"/>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223" name="矩形 222"/>
          <p:cNvSpPr/>
          <p:nvPr/>
        </p:nvSpPr>
        <p:spPr bwMode="gray">
          <a:xfrm>
            <a:off x="1876305" y="5065293"/>
            <a:ext cx="1024437" cy="211143"/>
          </a:xfrm>
          <a:prstGeom prst="rect">
            <a:avLst/>
          </a:prstGeom>
          <a:solidFill>
            <a:srgbClr val="FFFFFF"/>
          </a:solidFill>
          <a:ln w="19050" algn="ctr">
            <a:noFill/>
            <a:miter lim="800000"/>
          </a:ln>
        </p:spPr>
        <p:txBody>
          <a:bodyPr wrap="square" lIns="0" tIns="0" rIns="0" bIns="0" rtlCol="0" anchor="ctr"/>
          <a:lstStyle/>
          <a:p>
            <a:pPr algn="ctr">
              <a:lnSpc>
                <a:spcPct val="106000"/>
              </a:lnSpc>
              <a:buFont typeface="微软雅黑"/>
              <a:buNone/>
              <a:defRPr>
                <a:latin typeface="微软雅黑"/>
                <a:ea typeface="微软雅黑"/>
                <a:cs typeface="微软雅黑"/>
              </a:defRPr>
            </a:pPr>
            <a:r>
              <a:rPr lang="zh-CN" altLang="en-US" sz="1000" b="1" dirty="0">
                <a:solidFill>
                  <a:srgbClr val="0042FF"/>
                </a:solidFill>
                <a:latin typeface="微软雅黑"/>
                <a:ea typeface="微软雅黑"/>
                <a:cs typeface="微软雅黑"/>
              </a:rPr>
              <a:t>人员</a:t>
            </a:r>
            <a:r>
              <a:rPr lang="en-US" altLang="zh-CN" sz="1000" b="1" dirty="0">
                <a:solidFill>
                  <a:srgbClr val="0042FF"/>
                </a:solidFill>
                <a:latin typeface="微软雅黑"/>
                <a:ea typeface="微软雅黑"/>
                <a:cs typeface="微软雅黑"/>
              </a:rPr>
              <a:t>+</a:t>
            </a:r>
            <a:r>
              <a:rPr lang="zh-CN" altLang="en-US" sz="1000" b="1" dirty="0">
                <a:solidFill>
                  <a:srgbClr val="0042FF"/>
                </a:solidFill>
                <a:latin typeface="微软雅黑"/>
                <a:ea typeface="微软雅黑"/>
                <a:cs typeface="微软雅黑"/>
              </a:rPr>
              <a:t>能力</a:t>
            </a:r>
            <a:endParaRPr lang="zh-CN" altLang="en-US" sz="1000" b="1" dirty="0">
              <a:solidFill>
                <a:srgbClr val="0042FF"/>
              </a:solidFill>
              <a:latin typeface="微软雅黑"/>
              <a:ea typeface="微软雅黑"/>
              <a:cs typeface="微软雅黑"/>
            </a:endParaRPr>
          </a:p>
        </p:txBody>
      </p:sp>
      <p:cxnSp>
        <p:nvCxnSpPr>
          <p:cNvPr id="241" name="直接连接符 240"/>
          <p:cNvCxnSpPr/>
          <p:nvPr/>
        </p:nvCxnSpPr>
        <p:spPr>
          <a:xfrm>
            <a:off x="1899872" y="5292423"/>
            <a:ext cx="973865" cy="0"/>
          </a:xfrm>
          <a:prstGeom prst="line">
            <a:avLst/>
          </a:prstGeom>
          <a:ln w="53975" cap="sq">
            <a:solidFill>
              <a:srgbClr val="3368FF"/>
            </a:solidFill>
          </a:ln>
        </p:spPr>
        <p:style>
          <a:lnRef idx="1">
            <a:srgbClr val="0042FF"/>
          </a:lnRef>
          <a:fillRef idx="0">
            <a:srgbClr val="0042FF"/>
          </a:fillRef>
          <a:effectRef idx="0">
            <a:srgbClr val="0042FF"/>
          </a:effectRef>
          <a:fontRef idx="minor">
            <a:srgbClr val="383838"/>
          </a:fontRef>
        </p:style>
      </p:cxnSp>
      <p:cxnSp>
        <p:nvCxnSpPr>
          <p:cNvPr id="239" name="直接连接符 238"/>
          <p:cNvCxnSpPr/>
          <p:nvPr/>
        </p:nvCxnSpPr>
        <p:spPr>
          <a:xfrm>
            <a:off x="1899872" y="5054509"/>
            <a:ext cx="973865" cy="0"/>
          </a:xfrm>
          <a:prstGeom prst="line">
            <a:avLst/>
          </a:prstGeom>
          <a:ln w="53975" cap="sq">
            <a:solidFill>
              <a:srgbClr val="3368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6231265" y="3104975"/>
            <a:ext cx="973874" cy="237914"/>
            <a:chOff x="6231265" y="3104975"/>
            <a:chExt cx="973874" cy="237914"/>
          </a:xfrm>
        </p:grpSpPr>
        <p:sp>
          <p:nvSpPr>
            <p:cNvPr id="422" name="矩形 421"/>
            <p:cNvSpPr/>
            <p:nvPr/>
          </p:nvSpPr>
          <p:spPr bwMode="gray">
            <a:xfrm>
              <a:off x="6231265" y="3120235"/>
              <a:ext cx="973865" cy="206667"/>
            </a:xfrm>
            <a:prstGeom prst="rect">
              <a:avLst/>
            </a:prstGeom>
            <a:solidFill>
              <a:srgbClr val="FFFFFF"/>
            </a:solidFill>
            <a:ln w="19050" algn="ctr">
              <a:noFill/>
              <a:miter lim="800000"/>
            </a:ln>
          </p:spPr>
          <p:txBody>
            <a:bodyPr wrap="square" lIns="0" tIns="0" rIns="0" bIns="0" rtlCol="0" anchor="ctr"/>
            <a:lstStyle/>
            <a:p>
              <a:pPr algn="ctr">
                <a:lnSpc>
                  <a:spcPct val="106000"/>
                </a:lnSpc>
                <a:buFont typeface="微软雅黑"/>
                <a:buNone/>
                <a:defRPr>
                  <a:latin typeface="微软雅黑"/>
                  <a:ea typeface="微软雅黑"/>
                  <a:cs typeface="微软雅黑"/>
                </a:defRPr>
              </a:pPr>
              <a:r>
                <a:rPr lang="zh-CN" altLang="en-US" sz="1000" b="1" dirty="0">
                  <a:solidFill>
                    <a:srgbClr val="0042FF"/>
                  </a:solidFill>
                  <a:latin typeface="微软雅黑"/>
                  <a:ea typeface="微软雅黑"/>
                  <a:cs typeface="微软雅黑"/>
                </a:rPr>
                <a:t>价值实现</a:t>
              </a:r>
              <a:endParaRPr lang="zh-CN" altLang="en-US" sz="1000" b="1" dirty="0">
                <a:solidFill>
                  <a:srgbClr val="0042FF"/>
                </a:solidFill>
                <a:latin typeface="微软雅黑"/>
                <a:ea typeface="微软雅黑"/>
                <a:cs typeface="微软雅黑"/>
              </a:endParaRPr>
            </a:p>
          </p:txBody>
        </p:sp>
        <p:cxnSp>
          <p:nvCxnSpPr>
            <p:cNvPr id="420" name="直接连接符 419"/>
            <p:cNvCxnSpPr/>
            <p:nvPr/>
          </p:nvCxnSpPr>
          <p:spPr>
            <a:xfrm>
              <a:off x="6231274" y="3104975"/>
              <a:ext cx="973865" cy="0"/>
            </a:xfrm>
            <a:prstGeom prst="line">
              <a:avLst/>
            </a:prstGeom>
            <a:ln w="53975" cap="sq">
              <a:solidFill>
                <a:srgbClr val="B3D4FE"/>
              </a:solidFill>
            </a:ln>
          </p:spPr>
          <p:style>
            <a:lnRef idx="1">
              <a:srgbClr val="0042FF"/>
            </a:lnRef>
            <a:fillRef idx="0">
              <a:srgbClr val="0042FF"/>
            </a:fillRef>
            <a:effectRef idx="0">
              <a:srgbClr val="0042FF"/>
            </a:effectRef>
            <a:fontRef idx="minor">
              <a:srgbClr val="383838"/>
            </a:fontRef>
          </p:style>
        </p:cxnSp>
        <p:cxnSp>
          <p:nvCxnSpPr>
            <p:cNvPr id="421" name="直接连接符 420"/>
            <p:cNvCxnSpPr/>
            <p:nvPr/>
          </p:nvCxnSpPr>
          <p:spPr>
            <a:xfrm>
              <a:off x="6231274" y="3342889"/>
              <a:ext cx="973865" cy="0"/>
            </a:xfrm>
            <a:prstGeom prst="line">
              <a:avLst/>
            </a:prstGeom>
            <a:ln w="53975" cap="sq">
              <a:solidFill>
                <a:srgbClr val="B3D4FE"/>
              </a:solidFill>
            </a:ln>
          </p:spPr>
          <p:style>
            <a:lnRef idx="1">
              <a:srgbClr val="0042FF"/>
            </a:lnRef>
            <a:fillRef idx="0">
              <a:srgbClr val="0042FF"/>
            </a:fillRef>
            <a:effectRef idx="0">
              <a:srgbClr val="0042FF"/>
            </a:effectRef>
            <a:fontRef idx="minor">
              <a:srgbClr val="383838"/>
            </a:fontRef>
          </p:style>
        </p:cxnSp>
      </p:grpSp>
      <p:grpSp>
        <p:nvGrpSpPr>
          <p:cNvPr id="4" name="组合 3"/>
          <p:cNvGrpSpPr/>
          <p:nvPr/>
        </p:nvGrpSpPr>
        <p:grpSpPr>
          <a:xfrm>
            <a:off x="6519708" y="4712660"/>
            <a:ext cx="116956" cy="741057"/>
            <a:chOff x="5810165" y="4722270"/>
            <a:chExt cx="116956" cy="741057"/>
          </a:xfrm>
        </p:grpSpPr>
        <p:cxnSp>
          <p:nvCxnSpPr>
            <p:cNvPr id="11" name="直接连接符 10"/>
            <p:cNvCxnSpPr/>
            <p:nvPr/>
          </p:nvCxnSpPr>
          <p:spPr>
            <a:xfrm flipV="1">
              <a:off x="5868643" y="4722270"/>
              <a:ext cx="0" cy="649668"/>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12" name="椭圆 11"/>
            <p:cNvSpPr/>
            <p:nvPr/>
          </p:nvSpPr>
          <p:spPr bwMode="gray">
            <a:xfrm flipV="1">
              <a:off x="5810165" y="534637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grpSp>
        <p:nvGrpSpPr>
          <p:cNvPr id="13" name="组合 12"/>
          <p:cNvGrpSpPr/>
          <p:nvPr/>
        </p:nvGrpSpPr>
        <p:grpSpPr>
          <a:xfrm>
            <a:off x="5568615" y="4851819"/>
            <a:ext cx="116956" cy="598444"/>
            <a:chOff x="5810165" y="4864883"/>
            <a:chExt cx="116956" cy="598444"/>
          </a:xfrm>
        </p:grpSpPr>
        <p:cxnSp>
          <p:nvCxnSpPr>
            <p:cNvPr id="14" name="直接连接符 13"/>
            <p:cNvCxnSpPr/>
            <p:nvPr/>
          </p:nvCxnSpPr>
          <p:spPr>
            <a:xfrm flipV="1">
              <a:off x="5868643" y="4864883"/>
              <a:ext cx="0" cy="507055"/>
            </a:xfrm>
            <a:prstGeom prst="line">
              <a:avLst/>
            </a:prstGeom>
            <a:ln>
              <a:solidFill>
                <a:srgbClr val="383838"/>
              </a:solidFill>
            </a:ln>
          </p:spPr>
          <p:style>
            <a:lnRef idx="1">
              <a:srgbClr val="0042FF"/>
            </a:lnRef>
            <a:fillRef idx="0">
              <a:srgbClr val="0042FF"/>
            </a:fillRef>
            <a:effectRef idx="0">
              <a:srgbClr val="0042FF"/>
            </a:effectRef>
            <a:fontRef idx="minor">
              <a:srgbClr val="383838"/>
            </a:fontRef>
          </p:style>
        </p:cxnSp>
        <p:sp>
          <p:nvSpPr>
            <p:cNvPr id="15" name="椭圆 14"/>
            <p:cNvSpPr/>
            <p:nvPr/>
          </p:nvSpPr>
          <p:spPr bwMode="gray">
            <a:xfrm flipV="1">
              <a:off x="5810165" y="5346371"/>
              <a:ext cx="116956" cy="116956"/>
            </a:xfrm>
            <a:prstGeom prst="ellipse">
              <a:avLst/>
            </a:prstGeom>
            <a:solidFill>
              <a:srgbClr val="FFFFFF"/>
            </a:solidFill>
            <a:ln w="6350" algn="ctr">
              <a:solidFill>
                <a:srgbClr val="383838"/>
              </a:solidFill>
              <a:miter lim="800000"/>
            </a:ln>
          </p:spPr>
          <p:txBody>
            <a:bodyPr wrap="square" lIns="88900" tIns="88900" rIns="88900" bIns="88900" rtlCol="0" anchor="ctr"/>
            <a:lstStyle/>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grpSp>
      <p:sp>
        <p:nvSpPr>
          <p:cNvPr id="19" name="Freeform 8"/>
          <p:cNvSpPr>
            <a:spLocks noEditPoints="1"/>
          </p:cNvSpPr>
          <p:nvPr/>
        </p:nvSpPr>
        <p:spPr bwMode="auto">
          <a:xfrm>
            <a:off x="8152808" y="1815882"/>
            <a:ext cx="431197" cy="430740"/>
          </a:xfrm>
          <a:custGeom>
            <a:avLst/>
            <a:gdLst>
              <a:gd name="T0" fmla="*/ 453 w 495"/>
              <a:gd name="T1" fmla="*/ 192 h 495"/>
              <a:gd name="T2" fmla="*/ 449 w 495"/>
              <a:gd name="T3" fmla="*/ 167 h 495"/>
              <a:gd name="T4" fmla="*/ 445 w 495"/>
              <a:gd name="T5" fmla="*/ 103 h 495"/>
              <a:gd name="T6" fmla="*/ 398 w 495"/>
              <a:gd name="T7" fmla="*/ 96 h 495"/>
              <a:gd name="T8" fmla="*/ 392 w 495"/>
              <a:gd name="T9" fmla="*/ 49 h 495"/>
              <a:gd name="T10" fmla="*/ 328 w 495"/>
              <a:gd name="T11" fmla="*/ 46 h 495"/>
              <a:gd name="T12" fmla="*/ 302 w 495"/>
              <a:gd name="T13" fmla="*/ 41 h 495"/>
              <a:gd name="T14" fmla="*/ 269 w 495"/>
              <a:gd name="T15" fmla="*/ 0 h 495"/>
              <a:gd name="T16" fmla="*/ 211 w 495"/>
              <a:gd name="T17" fmla="*/ 37 h 495"/>
              <a:gd name="T18" fmla="*/ 173 w 495"/>
              <a:gd name="T19" fmla="*/ 47 h 495"/>
              <a:gd name="T20" fmla="*/ 105 w 495"/>
              <a:gd name="T21" fmla="*/ 44 h 495"/>
              <a:gd name="T22" fmla="*/ 96 w 495"/>
              <a:gd name="T23" fmla="*/ 97 h 495"/>
              <a:gd name="T24" fmla="*/ 77 w 495"/>
              <a:gd name="T25" fmla="*/ 113 h 495"/>
              <a:gd name="T26" fmla="*/ 23 w 495"/>
              <a:gd name="T27" fmla="*/ 148 h 495"/>
              <a:gd name="T28" fmla="*/ 41 w 495"/>
              <a:gd name="T29" fmla="*/ 193 h 495"/>
              <a:gd name="T30" fmla="*/ 3 w 495"/>
              <a:gd name="T31" fmla="*/ 221 h 495"/>
              <a:gd name="T32" fmla="*/ 32 w 495"/>
              <a:gd name="T33" fmla="*/ 279 h 495"/>
              <a:gd name="T34" fmla="*/ 41 w 495"/>
              <a:gd name="T35" fmla="*/ 303 h 495"/>
              <a:gd name="T36" fmla="*/ 22 w 495"/>
              <a:gd name="T37" fmla="*/ 352 h 495"/>
              <a:gd name="T38" fmla="*/ 83 w 495"/>
              <a:gd name="T39" fmla="*/ 384 h 495"/>
              <a:gd name="T40" fmla="*/ 111 w 495"/>
              <a:gd name="T41" fmla="*/ 411 h 495"/>
              <a:gd name="T42" fmla="*/ 142 w 495"/>
              <a:gd name="T43" fmla="*/ 473 h 495"/>
              <a:gd name="T44" fmla="*/ 192 w 495"/>
              <a:gd name="T45" fmla="*/ 453 h 495"/>
              <a:gd name="T46" fmla="*/ 216 w 495"/>
              <a:gd name="T47" fmla="*/ 462 h 495"/>
              <a:gd name="T48" fmla="*/ 274 w 495"/>
              <a:gd name="T49" fmla="*/ 491 h 495"/>
              <a:gd name="T50" fmla="*/ 303 w 495"/>
              <a:gd name="T51" fmla="*/ 453 h 495"/>
              <a:gd name="T52" fmla="*/ 346 w 495"/>
              <a:gd name="T53" fmla="*/ 472 h 495"/>
              <a:gd name="T54" fmla="*/ 382 w 495"/>
              <a:gd name="T55" fmla="*/ 418 h 495"/>
              <a:gd name="T56" fmla="*/ 399 w 495"/>
              <a:gd name="T57" fmla="*/ 398 h 495"/>
              <a:gd name="T58" fmla="*/ 451 w 495"/>
              <a:gd name="T59" fmla="*/ 390 h 495"/>
              <a:gd name="T60" fmla="*/ 447 w 495"/>
              <a:gd name="T61" fmla="*/ 321 h 495"/>
              <a:gd name="T62" fmla="*/ 458 w 495"/>
              <a:gd name="T63" fmla="*/ 283 h 495"/>
              <a:gd name="T64" fmla="*/ 495 w 495"/>
              <a:gd name="T65" fmla="*/ 226 h 495"/>
              <a:gd name="T66" fmla="*/ 387 w 495"/>
              <a:gd name="T67" fmla="*/ 285 h 495"/>
              <a:gd name="T68" fmla="*/ 352 w 495"/>
              <a:gd name="T69" fmla="*/ 347 h 495"/>
              <a:gd name="T70" fmla="*/ 320 w 495"/>
              <a:gd name="T71" fmla="*/ 373 h 495"/>
              <a:gd name="T72" fmla="*/ 285 w 495"/>
              <a:gd name="T73" fmla="*/ 387 h 495"/>
              <a:gd name="T74" fmla="*/ 213 w 495"/>
              <a:gd name="T75" fmla="*/ 388 h 495"/>
              <a:gd name="T76" fmla="*/ 206 w 495"/>
              <a:gd name="T77" fmla="*/ 386 h 495"/>
              <a:gd name="T78" fmla="*/ 148 w 495"/>
              <a:gd name="T79" fmla="*/ 352 h 495"/>
              <a:gd name="T80" fmla="*/ 109 w 495"/>
              <a:gd name="T81" fmla="*/ 288 h 495"/>
              <a:gd name="T82" fmla="*/ 107 w 495"/>
              <a:gd name="T83" fmla="*/ 281 h 495"/>
              <a:gd name="T84" fmla="*/ 107 w 495"/>
              <a:gd name="T85" fmla="*/ 214 h 495"/>
              <a:gd name="T86" fmla="*/ 109 w 495"/>
              <a:gd name="T87" fmla="*/ 206 h 495"/>
              <a:gd name="T88" fmla="*/ 148 w 495"/>
              <a:gd name="T89" fmla="*/ 142 h 495"/>
              <a:gd name="T90" fmla="*/ 206 w 495"/>
              <a:gd name="T91" fmla="*/ 109 h 495"/>
              <a:gd name="T92" fmla="*/ 213 w 495"/>
              <a:gd name="T93" fmla="*/ 107 h 495"/>
              <a:gd name="T94" fmla="*/ 285 w 495"/>
              <a:gd name="T95" fmla="*/ 108 h 495"/>
              <a:gd name="T96" fmla="*/ 347 w 495"/>
              <a:gd name="T97" fmla="*/ 143 h 495"/>
              <a:gd name="T98" fmla="*/ 373 w 495"/>
              <a:gd name="T99" fmla="*/ 175 h 495"/>
              <a:gd name="T100" fmla="*/ 387 w 495"/>
              <a:gd name="T101" fmla="*/ 210 h 495"/>
              <a:gd name="T102" fmla="*/ 388 w 495"/>
              <a:gd name="T103" fmla="*/ 281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495">
                <a:moveTo>
                  <a:pt x="491" y="221"/>
                </a:moveTo>
                <a:cubicBezTo>
                  <a:pt x="462" y="216"/>
                  <a:pt x="462" y="216"/>
                  <a:pt x="462" y="216"/>
                </a:cubicBezTo>
                <a:cubicBezTo>
                  <a:pt x="460" y="216"/>
                  <a:pt x="458" y="214"/>
                  <a:pt x="458" y="211"/>
                </a:cubicBezTo>
                <a:cubicBezTo>
                  <a:pt x="456" y="205"/>
                  <a:pt x="455" y="198"/>
                  <a:pt x="453" y="192"/>
                </a:cubicBezTo>
                <a:cubicBezTo>
                  <a:pt x="453" y="192"/>
                  <a:pt x="453" y="192"/>
                  <a:pt x="453" y="192"/>
                </a:cubicBezTo>
                <a:cubicBezTo>
                  <a:pt x="453" y="192"/>
                  <a:pt x="453" y="192"/>
                  <a:pt x="453" y="192"/>
                </a:cubicBezTo>
                <a:cubicBezTo>
                  <a:pt x="452" y="186"/>
                  <a:pt x="450" y="180"/>
                  <a:pt x="447" y="173"/>
                </a:cubicBezTo>
                <a:cubicBezTo>
                  <a:pt x="447" y="171"/>
                  <a:pt x="447" y="169"/>
                  <a:pt x="449" y="167"/>
                </a:cubicBezTo>
                <a:cubicBezTo>
                  <a:pt x="472" y="148"/>
                  <a:pt x="472" y="148"/>
                  <a:pt x="472" y="148"/>
                </a:cubicBezTo>
                <a:cubicBezTo>
                  <a:pt x="474" y="147"/>
                  <a:pt x="474" y="144"/>
                  <a:pt x="473" y="142"/>
                </a:cubicBezTo>
                <a:cubicBezTo>
                  <a:pt x="451" y="105"/>
                  <a:pt x="451" y="105"/>
                  <a:pt x="451" y="105"/>
                </a:cubicBezTo>
                <a:cubicBezTo>
                  <a:pt x="450" y="103"/>
                  <a:pt x="448" y="102"/>
                  <a:pt x="445" y="103"/>
                </a:cubicBezTo>
                <a:cubicBezTo>
                  <a:pt x="418" y="113"/>
                  <a:pt x="418" y="113"/>
                  <a:pt x="418" y="113"/>
                </a:cubicBezTo>
                <a:cubicBezTo>
                  <a:pt x="415" y="114"/>
                  <a:pt x="413" y="113"/>
                  <a:pt x="411" y="111"/>
                </a:cubicBezTo>
                <a:cubicBezTo>
                  <a:pt x="407" y="106"/>
                  <a:pt x="403" y="101"/>
                  <a:pt x="398" y="97"/>
                </a:cubicBezTo>
                <a:cubicBezTo>
                  <a:pt x="398" y="96"/>
                  <a:pt x="398" y="96"/>
                  <a:pt x="398" y="96"/>
                </a:cubicBezTo>
                <a:cubicBezTo>
                  <a:pt x="398" y="96"/>
                  <a:pt x="398" y="96"/>
                  <a:pt x="398" y="96"/>
                </a:cubicBezTo>
                <a:cubicBezTo>
                  <a:pt x="393" y="92"/>
                  <a:pt x="389" y="87"/>
                  <a:pt x="384" y="83"/>
                </a:cubicBezTo>
                <a:cubicBezTo>
                  <a:pt x="382" y="82"/>
                  <a:pt x="381" y="79"/>
                  <a:pt x="382" y="77"/>
                </a:cubicBezTo>
                <a:cubicBezTo>
                  <a:pt x="392" y="49"/>
                  <a:pt x="392" y="49"/>
                  <a:pt x="392" y="49"/>
                </a:cubicBezTo>
                <a:cubicBezTo>
                  <a:pt x="393" y="47"/>
                  <a:pt x="392" y="45"/>
                  <a:pt x="390" y="44"/>
                </a:cubicBezTo>
                <a:cubicBezTo>
                  <a:pt x="352" y="22"/>
                  <a:pt x="352" y="22"/>
                  <a:pt x="352" y="22"/>
                </a:cubicBezTo>
                <a:cubicBezTo>
                  <a:pt x="350" y="21"/>
                  <a:pt x="348" y="21"/>
                  <a:pt x="346" y="23"/>
                </a:cubicBezTo>
                <a:cubicBezTo>
                  <a:pt x="328" y="46"/>
                  <a:pt x="328" y="46"/>
                  <a:pt x="328" y="46"/>
                </a:cubicBezTo>
                <a:cubicBezTo>
                  <a:pt x="326" y="47"/>
                  <a:pt x="324" y="48"/>
                  <a:pt x="321" y="47"/>
                </a:cubicBezTo>
                <a:cubicBezTo>
                  <a:pt x="315" y="45"/>
                  <a:pt x="309" y="43"/>
                  <a:pt x="303" y="41"/>
                </a:cubicBezTo>
                <a:cubicBezTo>
                  <a:pt x="302" y="41"/>
                  <a:pt x="302" y="41"/>
                  <a:pt x="302" y="41"/>
                </a:cubicBezTo>
                <a:cubicBezTo>
                  <a:pt x="302" y="41"/>
                  <a:pt x="302" y="41"/>
                  <a:pt x="302" y="41"/>
                </a:cubicBezTo>
                <a:cubicBezTo>
                  <a:pt x="296" y="40"/>
                  <a:pt x="290" y="38"/>
                  <a:pt x="283" y="37"/>
                </a:cubicBezTo>
                <a:cubicBezTo>
                  <a:pt x="281" y="37"/>
                  <a:pt x="279" y="35"/>
                  <a:pt x="279" y="33"/>
                </a:cubicBezTo>
                <a:cubicBezTo>
                  <a:pt x="274" y="3"/>
                  <a:pt x="274" y="3"/>
                  <a:pt x="274" y="3"/>
                </a:cubicBezTo>
                <a:cubicBezTo>
                  <a:pt x="273" y="1"/>
                  <a:pt x="271" y="0"/>
                  <a:pt x="269" y="0"/>
                </a:cubicBezTo>
                <a:cubicBezTo>
                  <a:pt x="225" y="0"/>
                  <a:pt x="225" y="0"/>
                  <a:pt x="225" y="0"/>
                </a:cubicBezTo>
                <a:cubicBezTo>
                  <a:pt x="223" y="0"/>
                  <a:pt x="221" y="1"/>
                  <a:pt x="221" y="3"/>
                </a:cubicBezTo>
                <a:cubicBezTo>
                  <a:pt x="216" y="33"/>
                  <a:pt x="216" y="33"/>
                  <a:pt x="216" y="33"/>
                </a:cubicBezTo>
                <a:cubicBezTo>
                  <a:pt x="216" y="35"/>
                  <a:pt x="214" y="37"/>
                  <a:pt x="211" y="37"/>
                </a:cubicBezTo>
                <a:cubicBezTo>
                  <a:pt x="205" y="38"/>
                  <a:pt x="198" y="40"/>
                  <a:pt x="192" y="41"/>
                </a:cubicBezTo>
                <a:cubicBezTo>
                  <a:pt x="192" y="41"/>
                  <a:pt x="192" y="41"/>
                  <a:pt x="192" y="41"/>
                </a:cubicBezTo>
                <a:cubicBezTo>
                  <a:pt x="192" y="41"/>
                  <a:pt x="192" y="41"/>
                  <a:pt x="192" y="41"/>
                </a:cubicBezTo>
                <a:cubicBezTo>
                  <a:pt x="186" y="43"/>
                  <a:pt x="179" y="45"/>
                  <a:pt x="173" y="47"/>
                </a:cubicBezTo>
                <a:cubicBezTo>
                  <a:pt x="171" y="48"/>
                  <a:pt x="169" y="47"/>
                  <a:pt x="167" y="46"/>
                </a:cubicBezTo>
                <a:cubicBezTo>
                  <a:pt x="148" y="23"/>
                  <a:pt x="148" y="23"/>
                  <a:pt x="148" y="23"/>
                </a:cubicBezTo>
                <a:cubicBezTo>
                  <a:pt x="147" y="21"/>
                  <a:pt x="144" y="21"/>
                  <a:pt x="142" y="22"/>
                </a:cubicBezTo>
                <a:cubicBezTo>
                  <a:pt x="105" y="44"/>
                  <a:pt x="105" y="44"/>
                  <a:pt x="105" y="44"/>
                </a:cubicBezTo>
                <a:cubicBezTo>
                  <a:pt x="103" y="45"/>
                  <a:pt x="102" y="47"/>
                  <a:pt x="102" y="49"/>
                </a:cubicBezTo>
                <a:cubicBezTo>
                  <a:pt x="113" y="77"/>
                  <a:pt x="113" y="77"/>
                  <a:pt x="113" y="77"/>
                </a:cubicBezTo>
                <a:cubicBezTo>
                  <a:pt x="114" y="79"/>
                  <a:pt x="113" y="82"/>
                  <a:pt x="111" y="83"/>
                </a:cubicBezTo>
                <a:cubicBezTo>
                  <a:pt x="106" y="87"/>
                  <a:pt x="101" y="92"/>
                  <a:pt x="96" y="97"/>
                </a:cubicBezTo>
                <a:cubicBezTo>
                  <a:pt x="96" y="97"/>
                  <a:pt x="96" y="97"/>
                  <a:pt x="96" y="97"/>
                </a:cubicBezTo>
                <a:cubicBezTo>
                  <a:pt x="96" y="97"/>
                  <a:pt x="96" y="97"/>
                  <a:pt x="96" y="97"/>
                </a:cubicBezTo>
                <a:cubicBezTo>
                  <a:pt x="92" y="101"/>
                  <a:pt x="87" y="106"/>
                  <a:pt x="83" y="111"/>
                </a:cubicBezTo>
                <a:cubicBezTo>
                  <a:pt x="82" y="113"/>
                  <a:pt x="79" y="114"/>
                  <a:pt x="77" y="113"/>
                </a:cubicBezTo>
                <a:cubicBezTo>
                  <a:pt x="49" y="103"/>
                  <a:pt x="49" y="103"/>
                  <a:pt x="49" y="103"/>
                </a:cubicBezTo>
                <a:cubicBezTo>
                  <a:pt x="47" y="102"/>
                  <a:pt x="45" y="103"/>
                  <a:pt x="44" y="105"/>
                </a:cubicBezTo>
                <a:cubicBezTo>
                  <a:pt x="22" y="142"/>
                  <a:pt x="22" y="142"/>
                  <a:pt x="22" y="142"/>
                </a:cubicBezTo>
                <a:cubicBezTo>
                  <a:pt x="21" y="144"/>
                  <a:pt x="21" y="147"/>
                  <a:pt x="23" y="148"/>
                </a:cubicBezTo>
                <a:cubicBezTo>
                  <a:pt x="46" y="167"/>
                  <a:pt x="46" y="167"/>
                  <a:pt x="46" y="167"/>
                </a:cubicBezTo>
                <a:cubicBezTo>
                  <a:pt x="47" y="169"/>
                  <a:pt x="48" y="171"/>
                  <a:pt x="47" y="173"/>
                </a:cubicBezTo>
                <a:cubicBezTo>
                  <a:pt x="45" y="180"/>
                  <a:pt x="43" y="186"/>
                  <a:pt x="41" y="192"/>
                </a:cubicBezTo>
                <a:cubicBezTo>
                  <a:pt x="41" y="193"/>
                  <a:pt x="41" y="193"/>
                  <a:pt x="41" y="193"/>
                </a:cubicBezTo>
                <a:cubicBezTo>
                  <a:pt x="41" y="193"/>
                  <a:pt x="41" y="193"/>
                  <a:pt x="41" y="193"/>
                </a:cubicBezTo>
                <a:cubicBezTo>
                  <a:pt x="40" y="199"/>
                  <a:pt x="38" y="205"/>
                  <a:pt x="37" y="211"/>
                </a:cubicBezTo>
                <a:cubicBezTo>
                  <a:pt x="37" y="214"/>
                  <a:pt x="35" y="216"/>
                  <a:pt x="32" y="216"/>
                </a:cubicBezTo>
                <a:cubicBezTo>
                  <a:pt x="3" y="221"/>
                  <a:pt x="3" y="221"/>
                  <a:pt x="3" y="221"/>
                </a:cubicBezTo>
                <a:cubicBezTo>
                  <a:pt x="1" y="221"/>
                  <a:pt x="0" y="223"/>
                  <a:pt x="0" y="226"/>
                </a:cubicBezTo>
                <a:cubicBezTo>
                  <a:pt x="0" y="269"/>
                  <a:pt x="0" y="269"/>
                  <a:pt x="0" y="269"/>
                </a:cubicBezTo>
                <a:cubicBezTo>
                  <a:pt x="0" y="271"/>
                  <a:pt x="1" y="273"/>
                  <a:pt x="3" y="274"/>
                </a:cubicBezTo>
                <a:cubicBezTo>
                  <a:pt x="32" y="279"/>
                  <a:pt x="32" y="279"/>
                  <a:pt x="32" y="279"/>
                </a:cubicBezTo>
                <a:cubicBezTo>
                  <a:pt x="35" y="279"/>
                  <a:pt x="37" y="281"/>
                  <a:pt x="37" y="283"/>
                </a:cubicBezTo>
                <a:cubicBezTo>
                  <a:pt x="38" y="290"/>
                  <a:pt x="40" y="296"/>
                  <a:pt x="41" y="303"/>
                </a:cubicBezTo>
                <a:cubicBezTo>
                  <a:pt x="41" y="303"/>
                  <a:pt x="41" y="303"/>
                  <a:pt x="41" y="303"/>
                </a:cubicBezTo>
                <a:cubicBezTo>
                  <a:pt x="41" y="303"/>
                  <a:pt x="41" y="303"/>
                  <a:pt x="41" y="303"/>
                </a:cubicBezTo>
                <a:cubicBezTo>
                  <a:pt x="43" y="309"/>
                  <a:pt x="45" y="315"/>
                  <a:pt x="47" y="321"/>
                </a:cubicBezTo>
                <a:cubicBezTo>
                  <a:pt x="48" y="324"/>
                  <a:pt x="47" y="326"/>
                  <a:pt x="46" y="328"/>
                </a:cubicBezTo>
                <a:cubicBezTo>
                  <a:pt x="23" y="347"/>
                  <a:pt x="23" y="347"/>
                  <a:pt x="23" y="347"/>
                </a:cubicBezTo>
                <a:cubicBezTo>
                  <a:pt x="21" y="348"/>
                  <a:pt x="21" y="350"/>
                  <a:pt x="22" y="352"/>
                </a:cubicBezTo>
                <a:cubicBezTo>
                  <a:pt x="44" y="390"/>
                  <a:pt x="44" y="390"/>
                  <a:pt x="44" y="390"/>
                </a:cubicBezTo>
                <a:cubicBezTo>
                  <a:pt x="45" y="392"/>
                  <a:pt x="47" y="393"/>
                  <a:pt x="49" y="392"/>
                </a:cubicBezTo>
                <a:cubicBezTo>
                  <a:pt x="77" y="382"/>
                  <a:pt x="77" y="382"/>
                  <a:pt x="77" y="382"/>
                </a:cubicBezTo>
                <a:cubicBezTo>
                  <a:pt x="79" y="381"/>
                  <a:pt x="82" y="382"/>
                  <a:pt x="83" y="384"/>
                </a:cubicBezTo>
                <a:cubicBezTo>
                  <a:pt x="87" y="389"/>
                  <a:pt x="92" y="394"/>
                  <a:pt x="96" y="398"/>
                </a:cubicBezTo>
                <a:cubicBezTo>
                  <a:pt x="97" y="399"/>
                  <a:pt x="97" y="399"/>
                  <a:pt x="97" y="399"/>
                </a:cubicBezTo>
                <a:cubicBezTo>
                  <a:pt x="97" y="399"/>
                  <a:pt x="97" y="399"/>
                  <a:pt x="97" y="399"/>
                </a:cubicBezTo>
                <a:cubicBezTo>
                  <a:pt x="101" y="403"/>
                  <a:pt x="106" y="407"/>
                  <a:pt x="111" y="411"/>
                </a:cubicBezTo>
                <a:cubicBezTo>
                  <a:pt x="113" y="413"/>
                  <a:pt x="114" y="416"/>
                  <a:pt x="113" y="418"/>
                </a:cubicBezTo>
                <a:cubicBezTo>
                  <a:pt x="102" y="445"/>
                  <a:pt x="102" y="445"/>
                  <a:pt x="102" y="445"/>
                </a:cubicBezTo>
                <a:cubicBezTo>
                  <a:pt x="102" y="448"/>
                  <a:pt x="103" y="450"/>
                  <a:pt x="105" y="451"/>
                </a:cubicBezTo>
                <a:cubicBezTo>
                  <a:pt x="142" y="473"/>
                  <a:pt x="142" y="473"/>
                  <a:pt x="142" y="473"/>
                </a:cubicBezTo>
                <a:cubicBezTo>
                  <a:pt x="144" y="474"/>
                  <a:pt x="147" y="474"/>
                  <a:pt x="148" y="472"/>
                </a:cubicBezTo>
                <a:cubicBezTo>
                  <a:pt x="167" y="449"/>
                  <a:pt x="167" y="449"/>
                  <a:pt x="167" y="449"/>
                </a:cubicBezTo>
                <a:cubicBezTo>
                  <a:pt x="169" y="447"/>
                  <a:pt x="171" y="447"/>
                  <a:pt x="173" y="447"/>
                </a:cubicBezTo>
                <a:cubicBezTo>
                  <a:pt x="179" y="450"/>
                  <a:pt x="186" y="452"/>
                  <a:pt x="192" y="453"/>
                </a:cubicBezTo>
                <a:cubicBezTo>
                  <a:pt x="193" y="454"/>
                  <a:pt x="193" y="454"/>
                  <a:pt x="193" y="454"/>
                </a:cubicBezTo>
                <a:cubicBezTo>
                  <a:pt x="193" y="454"/>
                  <a:pt x="193" y="454"/>
                  <a:pt x="193" y="454"/>
                </a:cubicBezTo>
                <a:cubicBezTo>
                  <a:pt x="199" y="455"/>
                  <a:pt x="205" y="457"/>
                  <a:pt x="211" y="458"/>
                </a:cubicBezTo>
                <a:cubicBezTo>
                  <a:pt x="214" y="458"/>
                  <a:pt x="216" y="460"/>
                  <a:pt x="216" y="462"/>
                </a:cubicBezTo>
                <a:cubicBezTo>
                  <a:pt x="221" y="491"/>
                  <a:pt x="221" y="491"/>
                  <a:pt x="221" y="491"/>
                </a:cubicBezTo>
                <a:cubicBezTo>
                  <a:pt x="221" y="494"/>
                  <a:pt x="223" y="495"/>
                  <a:pt x="225" y="495"/>
                </a:cubicBezTo>
                <a:cubicBezTo>
                  <a:pt x="269" y="495"/>
                  <a:pt x="269" y="495"/>
                  <a:pt x="269" y="495"/>
                </a:cubicBezTo>
                <a:cubicBezTo>
                  <a:pt x="271" y="495"/>
                  <a:pt x="273" y="494"/>
                  <a:pt x="274" y="491"/>
                </a:cubicBezTo>
                <a:cubicBezTo>
                  <a:pt x="279" y="462"/>
                  <a:pt x="279" y="462"/>
                  <a:pt x="279" y="462"/>
                </a:cubicBezTo>
                <a:cubicBezTo>
                  <a:pt x="279" y="460"/>
                  <a:pt x="281" y="458"/>
                  <a:pt x="283" y="458"/>
                </a:cubicBezTo>
                <a:cubicBezTo>
                  <a:pt x="290" y="457"/>
                  <a:pt x="296" y="455"/>
                  <a:pt x="303" y="453"/>
                </a:cubicBezTo>
                <a:cubicBezTo>
                  <a:pt x="303" y="453"/>
                  <a:pt x="303" y="453"/>
                  <a:pt x="303" y="453"/>
                </a:cubicBezTo>
                <a:cubicBezTo>
                  <a:pt x="303" y="453"/>
                  <a:pt x="303" y="453"/>
                  <a:pt x="303" y="453"/>
                </a:cubicBezTo>
                <a:cubicBezTo>
                  <a:pt x="309" y="452"/>
                  <a:pt x="315" y="450"/>
                  <a:pt x="321" y="447"/>
                </a:cubicBezTo>
                <a:cubicBezTo>
                  <a:pt x="324" y="447"/>
                  <a:pt x="326" y="447"/>
                  <a:pt x="328" y="449"/>
                </a:cubicBezTo>
                <a:cubicBezTo>
                  <a:pt x="346" y="472"/>
                  <a:pt x="346" y="472"/>
                  <a:pt x="346" y="472"/>
                </a:cubicBezTo>
                <a:cubicBezTo>
                  <a:pt x="348" y="474"/>
                  <a:pt x="350" y="474"/>
                  <a:pt x="352" y="473"/>
                </a:cubicBezTo>
                <a:cubicBezTo>
                  <a:pt x="390" y="451"/>
                  <a:pt x="390" y="451"/>
                  <a:pt x="390" y="451"/>
                </a:cubicBezTo>
                <a:cubicBezTo>
                  <a:pt x="392" y="450"/>
                  <a:pt x="393" y="448"/>
                  <a:pt x="392" y="445"/>
                </a:cubicBezTo>
                <a:cubicBezTo>
                  <a:pt x="382" y="418"/>
                  <a:pt x="382" y="418"/>
                  <a:pt x="382" y="418"/>
                </a:cubicBezTo>
                <a:cubicBezTo>
                  <a:pt x="381" y="416"/>
                  <a:pt x="382" y="413"/>
                  <a:pt x="384" y="412"/>
                </a:cubicBezTo>
                <a:cubicBezTo>
                  <a:pt x="389" y="407"/>
                  <a:pt x="394" y="403"/>
                  <a:pt x="398" y="398"/>
                </a:cubicBezTo>
                <a:cubicBezTo>
                  <a:pt x="399" y="398"/>
                  <a:pt x="399" y="398"/>
                  <a:pt x="399" y="398"/>
                </a:cubicBezTo>
                <a:cubicBezTo>
                  <a:pt x="399" y="398"/>
                  <a:pt x="399" y="398"/>
                  <a:pt x="399" y="398"/>
                </a:cubicBezTo>
                <a:cubicBezTo>
                  <a:pt x="403" y="393"/>
                  <a:pt x="407" y="389"/>
                  <a:pt x="411" y="384"/>
                </a:cubicBezTo>
                <a:cubicBezTo>
                  <a:pt x="413" y="382"/>
                  <a:pt x="415" y="381"/>
                  <a:pt x="418" y="382"/>
                </a:cubicBezTo>
                <a:cubicBezTo>
                  <a:pt x="445" y="392"/>
                  <a:pt x="445" y="392"/>
                  <a:pt x="445" y="392"/>
                </a:cubicBezTo>
                <a:cubicBezTo>
                  <a:pt x="447" y="393"/>
                  <a:pt x="450" y="392"/>
                  <a:pt x="451" y="390"/>
                </a:cubicBezTo>
                <a:cubicBezTo>
                  <a:pt x="473" y="352"/>
                  <a:pt x="473" y="352"/>
                  <a:pt x="473" y="352"/>
                </a:cubicBezTo>
                <a:cubicBezTo>
                  <a:pt x="474" y="350"/>
                  <a:pt x="474" y="348"/>
                  <a:pt x="472" y="347"/>
                </a:cubicBezTo>
                <a:cubicBezTo>
                  <a:pt x="449" y="328"/>
                  <a:pt x="449" y="328"/>
                  <a:pt x="449" y="328"/>
                </a:cubicBezTo>
                <a:cubicBezTo>
                  <a:pt x="447" y="326"/>
                  <a:pt x="447" y="324"/>
                  <a:pt x="447" y="321"/>
                </a:cubicBezTo>
                <a:cubicBezTo>
                  <a:pt x="450" y="315"/>
                  <a:pt x="452" y="309"/>
                  <a:pt x="453" y="303"/>
                </a:cubicBezTo>
                <a:cubicBezTo>
                  <a:pt x="454" y="302"/>
                  <a:pt x="454" y="302"/>
                  <a:pt x="454" y="302"/>
                </a:cubicBezTo>
                <a:cubicBezTo>
                  <a:pt x="454" y="302"/>
                  <a:pt x="454" y="302"/>
                  <a:pt x="454" y="302"/>
                </a:cubicBezTo>
                <a:cubicBezTo>
                  <a:pt x="455" y="296"/>
                  <a:pt x="456" y="290"/>
                  <a:pt x="458" y="283"/>
                </a:cubicBezTo>
                <a:cubicBezTo>
                  <a:pt x="458" y="281"/>
                  <a:pt x="460" y="279"/>
                  <a:pt x="462" y="279"/>
                </a:cubicBezTo>
                <a:cubicBezTo>
                  <a:pt x="491" y="274"/>
                  <a:pt x="491" y="274"/>
                  <a:pt x="491" y="274"/>
                </a:cubicBezTo>
                <a:cubicBezTo>
                  <a:pt x="493" y="273"/>
                  <a:pt x="495" y="271"/>
                  <a:pt x="495" y="269"/>
                </a:cubicBezTo>
                <a:cubicBezTo>
                  <a:pt x="495" y="226"/>
                  <a:pt x="495" y="226"/>
                  <a:pt x="495" y="226"/>
                </a:cubicBezTo>
                <a:cubicBezTo>
                  <a:pt x="495" y="223"/>
                  <a:pt x="493" y="221"/>
                  <a:pt x="491" y="221"/>
                </a:cubicBezTo>
                <a:close/>
                <a:moveTo>
                  <a:pt x="388" y="281"/>
                </a:moveTo>
                <a:cubicBezTo>
                  <a:pt x="387" y="285"/>
                  <a:pt x="387" y="285"/>
                  <a:pt x="387" y="285"/>
                </a:cubicBezTo>
                <a:cubicBezTo>
                  <a:pt x="387" y="285"/>
                  <a:pt x="387" y="285"/>
                  <a:pt x="387" y="285"/>
                </a:cubicBezTo>
                <a:cubicBezTo>
                  <a:pt x="386" y="289"/>
                  <a:pt x="386" y="289"/>
                  <a:pt x="386" y="289"/>
                </a:cubicBezTo>
                <a:cubicBezTo>
                  <a:pt x="386" y="288"/>
                  <a:pt x="386" y="288"/>
                  <a:pt x="386" y="288"/>
                </a:cubicBezTo>
                <a:cubicBezTo>
                  <a:pt x="383" y="299"/>
                  <a:pt x="378" y="310"/>
                  <a:pt x="373" y="320"/>
                </a:cubicBezTo>
                <a:cubicBezTo>
                  <a:pt x="367" y="330"/>
                  <a:pt x="360" y="339"/>
                  <a:pt x="352" y="347"/>
                </a:cubicBezTo>
                <a:cubicBezTo>
                  <a:pt x="352" y="347"/>
                  <a:pt x="352" y="347"/>
                  <a:pt x="352" y="347"/>
                </a:cubicBezTo>
                <a:cubicBezTo>
                  <a:pt x="347" y="352"/>
                  <a:pt x="347" y="352"/>
                  <a:pt x="347" y="352"/>
                </a:cubicBezTo>
                <a:cubicBezTo>
                  <a:pt x="347" y="352"/>
                  <a:pt x="347" y="352"/>
                  <a:pt x="347" y="352"/>
                </a:cubicBezTo>
                <a:cubicBezTo>
                  <a:pt x="339" y="360"/>
                  <a:pt x="330" y="367"/>
                  <a:pt x="320" y="373"/>
                </a:cubicBezTo>
                <a:cubicBezTo>
                  <a:pt x="310" y="378"/>
                  <a:pt x="299" y="383"/>
                  <a:pt x="288" y="386"/>
                </a:cubicBezTo>
                <a:cubicBezTo>
                  <a:pt x="289" y="386"/>
                  <a:pt x="289" y="386"/>
                  <a:pt x="289" y="386"/>
                </a:cubicBezTo>
                <a:cubicBezTo>
                  <a:pt x="285" y="387"/>
                  <a:pt x="285" y="387"/>
                  <a:pt x="285" y="387"/>
                </a:cubicBezTo>
                <a:cubicBezTo>
                  <a:pt x="285" y="387"/>
                  <a:pt x="285" y="387"/>
                  <a:pt x="285" y="387"/>
                </a:cubicBezTo>
                <a:cubicBezTo>
                  <a:pt x="281" y="388"/>
                  <a:pt x="281" y="388"/>
                  <a:pt x="281" y="388"/>
                </a:cubicBezTo>
                <a:cubicBezTo>
                  <a:pt x="281" y="388"/>
                  <a:pt x="281" y="388"/>
                  <a:pt x="281" y="388"/>
                </a:cubicBezTo>
                <a:cubicBezTo>
                  <a:pt x="270" y="391"/>
                  <a:pt x="259" y="392"/>
                  <a:pt x="247" y="392"/>
                </a:cubicBezTo>
                <a:cubicBezTo>
                  <a:pt x="236" y="392"/>
                  <a:pt x="225" y="391"/>
                  <a:pt x="213" y="388"/>
                </a:cubicBezTo>
                <a:cubicBezTo>
                  <a:pt x="214" y="388"/>
                  <a:pt x="214" y="388"/>
                  <a:pt x="214" y="388"/>
                </a:cubicBezTo>
                <a:cubicBezTo>
                  <a:pt x="210" y="387"/>
                  <a:pt x="210" y="387"/>
                  <a:pt x="210" y="387"/>
                </a:cubicBezTo>
                <a:cubicBezTo>
                  <a:pt x="210" y="387"/>
                  <a:pt x="210" y="387"/>
                  <a:pt x="210" y="387"/>
                </a:cubicBezTo>
                <a:cubicBezTo>
                  <a:pt x="206" y="386"/>
                  <a:pt x="206" y="386"/>
                  <a:pt x="206" y="386"/>
                </a:cubicBezTo>
                <a:cubicBezTo>
                  <a:pt x="206" y="386"/>
                  <a:pt x="206" y="386"/>
                  <a:pt x="206" y="386"/>
                </a:cubicBezTo>
                <a:cubicBezTo>
                  <a:pt x="195" y="383"/>
                  <a:pt x="185" y="378"/>
                  <a:pt x="175" y="373"/>
                </a:cubicBezTo>
                <a:cubicBezTo>
                  <a:pt x="165" y="367"/>
                  <a:pt x="156" y="360"/>
                  <a:pt x="148" y="352"/>
                </a:cubicBezTo>
                <a:cubicBezTo>
                  <a:pt x="148" y="352"/>
                  <a:pt x="148" y="352"/>
                  <a:pt x="148" y="352"/>
                </a:cubicBezTo>
                <a:cubicBezTo>
                  <a:pt x="142" y="347"/>
                  <a:pt x="142" y="347"/>
                  <a:pt x="142" y="347"/>
                </a:cubicBezTo>
                <a:cubicBezTo>
                  <a:pt x="142" y="347"/>
                  <a:pt x="142" y="347"/>
                  <a:pt x="142" y="347"/>
                </a:cubicBezTo>
                <a:cubicBezTo>
                  <a:pt x="135" y="339"/>
                  <a:pt x="128" y="330"/>
                  <a:pt x="122" y="320"/>
                </a:cubicBezTo>
                <a:cubicBezTo>
                  <a:pt x="116" y="310"/>
                  <a:pt x="112" y="299"/>
                  <a:pt x="109" y="288"/>
                </a:cubicBezTo>
                <a:cubicBezTo>
                  <a:pt x="109" y="289"/>
                  <a:pt x="109" y="289"/>
                  <a:pt x="109" y="289"/>
                </a:cubicBezTo>
                <a:cubicBezTo>
                  <a:pt x="108" y="285"/>
                  <a:pt x="108" y="285"/>
                  <a:pt x="108" y="285"/>
                </a:cubicBezTo>
                <a:cubicBezTo>
                  <a:pt x="108" y="285"/>
                  <a:pt x="108" y="285"/>
                  <a:pt x="108" y="285"/>
                </a:cubicBezTo>
                <a:cubicBezTo>
                  <a:pt x="107" y="281"/>
                  <a:pt x="107" y="281"/>
                  <a:pt x="107" y="281"/>
                </a:cubicBezTo>
                <a:cubicBezTo>
                  <a:pt x="107" y="281"/>
                  <a:pt x="107" y="281"/>
                  <a:pt x="107" y="281"/>
                </a:cubicBezTo>
                <a:cubicBezTo>
                  <a:pt x="104" y="270"/>
                  <a:pt x="103" y="259"/>
                  <a:pt x="103" y="247"/>
                </a:cubicBezTo>
                <a:cubicBezTo>
                  <a:pt x="103" y="236"/>
                  <a:pt x="104" y="225"/>
                  <a:pt x="107" y="214"/>
                </a:cubicBezTo>
                <a:cubicBezTo>
                  <a:pt x="107" y="214"/>
                  <a:pt x="107" y="214"/>
                  <a:pt x="107" y="214"/>
                </a:cubicBezTo>
                <a:cubicBezTo>
                  <a:pt x="108" y="210"/>
                  <a:pt x="108" y="210"/>
                  <a:pt x="108" y="210"/>
                </a:cubicBezTo>
                <a:cubicBezTo>
                  <a:pt x="108" y="210"/>
                  <a:pt x="108" y="210"/>
                  <a:pt x="108" y="210"/>
                </a:cubicBezTo>
                <a:cubicBezTo>
                  <a:pt x="109" y="206"/>
                  <a:pt x="109" y="206"/>
                  <a:pt x="109" y="206"/>
                </a:cubicBezTo>
                <a:cubicBezTo>
                  <a:pt x="109" y="206"/>
                  <a:pt x="109" y="206"/>
                  <a:pt x="109" y="206"/>
                </a:cubicBezTo>
                <a:cubicBezTo>
                  <a:pt x="112" y="195"/>
                  <a:pt x="116" y="185"/>
                  <a:pt x="122" y="175"/>
                </a:cubicBezTo>
                <a:cubicBezTo>
                  <a:pt x="128" y="165"/>
                  <a:pt x="135" y="156"/>
                  <a:pt x="142" y="148"/>
                </a:cubicBezTo>
                <a:cubicBezTo>
                  <a:pt x="142" y="148"/>
                  <a:pt x="142" y="148"/>
                  <a:pt x="142" y="148"/>
                </a:cubicBezTo>
                <a:cubicBezTo>
                  <a:pt x="148" y="142"/>
                  <a:pt x="148" y="142"/>
                  <a:pt x="148" y="142"/>
                </a:cubicBezTo>
                <a:cubicBezTo>
                  <a:pt x="148" y="143"/>
                  <a:pt x="148" y="143"/>
                  <a:pt x="148" y="143"/>
                </a:cubicBezTo>
                <a:cubicBezTo>
                  <a:pt x="156" y="135"/>
                  <a:pt x="165" y="128"/>
                  <a:pt x="175" y="122"/>
                </a:cubicBezTo>
                <a:cubicBezTo>
                  <a:pt x="185" y="116"/>
                  <a:pt x="195" y="112"/>
                  <a:pt x="206" y="109"/>
                </a:cubicBezTo>
                <a:cubicBezTo>
                  <a:pt x="206" y="109"/>
                  <a:pt x="206" y="109"/>
                  <a:pt x="206" y="109"/>
                </a:cubicBezTo>
                <a:cubicBezTo>
                  <a:pt x="210" y="108"/>
                  <a:pt x="210" y="108"/>
                  <a:pt x="210" y="108"/>
                </a:cubicBezTo>
                <a:cubicBezTo>
                  <a:pt x="210" y="108"/>
                  <a:pt x="210" y="108"/>
                  <a:pt x="210" y="108"/>
                </a:cubicBezTo>
                <a:cubicBezTo>
                  <a:pt x="214" y="107"/>
                  <a:pt x="214" y="107"/>
                  <a:pt x="214" y="107"/>
                </a:cubicBezTo>
                <a:cubicBezTo>
                  <a:pt x="213" y="107"/>
                  <a:pt x="213" y="107"/>
                  <a:pt x="213" y="107"/>
                </a:cubicBezTo>
                <a:cubicBezTo>
                  <a:pt x="236" y="101"/>
                  <a:pt x="259" y="101"/>
                  <a:pt x="281" y="107"/>
                </a:cubicBezTo>
                <a:cubicBezTo>
                  <a:pt x="281" y="107"/>
                  <a:pt x="281" y="107"/>
                  <a:pt x="281" y="107"/>
                </a:cubicBezTo>
                <a:cubicBezTo>
                  <a:pt x="285" y="108"/>
                  <a:pt x="285" y="108"/>
                  <a:pt x="285" y="108"/>
                </a:cubicBezTo>
                <a:cubicBezTo>
                  <a:pt x="285" y="108"/>
                  <a:pt x="285" y="108"/>
                  <a:pt x="285" y="108"/>
                </a:cubicBezTo>
                <a:cubicBezTo>
                  <a:pt x="289" y="109"/>
                  <a:pt x="289" y="109"/>
                  <a:pt x="289" y="109"/>
                </a:cubicBezTo>
                <a:cubicBezTo>
                  <a:pt x="288" y="109"/>
                  <a:pt x="288" y="109"/>
                  <a:pt x="288" y="109"/>
                </a:cubicBezTo>
                <a:cubicBezTo>
                  <a:pt x="299" y="112"/>
                  <a:pt x="310" y="116"/>
                  <a:pt x="320" y="122"/>
                </a:cubicBezTo>
                <a:cubicBezTo>
                  <a:pt x="330" y="128"/>
                  <a:pt x="339" y="135"/>
                  <a:pt x="347" y="143"/>
                </a:cubicBezTo>
                <a:cubicBezTo>
                  <a:pt x="347" y="142"/>
                  <a:pt x="347" y="142"/>
                  <a:pt x="347" y="142"/>
                </a:cubicBezTo>
                <a:cubicBezTo>
                  <a:pt x="352" y="148"/>
                  <a:pt x="352" y="148"/>
                  <a:pt x="352" y="148"/>
                </a:cubicBezTo>
                <a:cubicBezTo>
                  <a:pt x="352" y="148"/>
                  <a:pt x="352" y="148"/>
                  <a:pt x="352" y="148"/>
                </a:cubicBezTo>
                <a:cubicBezTo>
                  <a:pt x="360" y="156"/>
                  <a:pt x="367" y="165"/>
                  <a:pt x="373" y="175"/>
                </a:cubicBezTo>
                <a:cubicBezTo>
                  <a:pt x="378" y="185"/>
                  <a:pt x="383" y="195"/>
                  <a:pt x="386" y="206"/>
                </a:cubicBezTo>
                <a:cubicBezTo>
                  <a:pt x="386" y="206"/>
                  <a:pt x="386" y="206"/>
                  <a:pt x="386" y="206"/>
                </a:cubicBezTo>
                <a:cubicBezTo>
                  <a:pt x="387" y="210"/>
                  <a:pt x="387" y="210"/>
                  <a:pt x="387" y="210"/>
                </a:cubicBezTo>
                <a:cubicBezTo>
                  <a:pt x="387" y="210"/>
                  <a:pt x="387" y="210"/>
                  <a:pt x="387" y="210"/>
                </a:cubicBezTo>
                <a:cubicBezTo>
                  <a:pt x="388" y="214"/>
                  <a:pt x="388" y="214"/>
                  <a:pt x="388" y="214"/>
                </a:cubicBezTo>
                <a:cubicBezTo>
                  <a:pt x="388" y="214"/>
                  <a:pt x="388" y="214"/>
                  <a:pt x="388" y="214"/>
                </a:cubicBezTo>
                <a:cubicBezTo>
                  <a:pt x="391" y="225"/>
                  <a:pt x="392" y="236"/>
                  <a:pt x="392" y="247"/>
                </a:cubicBezTo>
                <a:cubicBezTo>
                  <a:pt x="392" y="259"/>
                  <a:pt x="391" y="270"/>
                  <a:pt x="388" y="281"/>
                </a:cubicBezTo>
                <a:close/>
              </a:path>
            </a:pathLst>
          </a:custGeom>
          <a:solidFill>
            <a:srgbClr val="B3D4FE"/>
          </a:solidFill>
          <a:ln>
            <a:noFill/>
          </a:ln>
        </p:spPr>
        <p:txBody>
          <a:bodyPr vert="horz" wrap="square" lIns="121920" tIns="60960" rIns="121920" bIns="60960" numCol="1" anchor="t" anchorCtr="0" compatLnSpc="1"/>
          <a:lstStyle/>
          <a:p>
            <a:pPr>
              <a:defRPr>
                <a:latin typeface="微软雅黑"/>
                <a:ea typeface="微软雅黑"/>
                <a:cs typeface="微软雅黑"/>
              </a:defRPr>
            </a:pPr>
            <a:endParaRPr lang="en-US" sz="2400" dirty="0">
              <a:solidFill>
                <a:srgbClr val="383838"/>
              </a:solidFill>
              <a:latin typeface="微软雅黑"/>
              <a:ea typeface="微软雅黑"/>
              <a:cs typeface="微软雅黑"/>
            </a:endParaRPr>
          </a:p>
        </p:txBody>
      </p:sp>
      <p:sp>
        <p:nvSpPr>
          <p:cNvPr id="20" name="Freeform 8"/>
          <p:cNvSpPr>
            <a:spLocks noEditPoints="1"/>
          </p:cNvSpPr>
          <p:nvPr/>
        </p:nvSpPr>
        <p:spPr bwMode="auto">
          <a:xfrm>
            <a:off x="9904771" y="1822402"/>
            <a:ext cx="431197" cy="430740"/>
          </a:xfrm>
          <a:custGeom>
            <a:avLst/>
            <a:gdLst>
              <a:gd name="T0" fmla="*/ 453 w 495"/>
              <a:gd name="T1" fmla="*/ 192 h 495"/>
              <a:gd name="T2" fmla="*/ 449 w 495"/>
              <a:gd name="T3" fmla="*/ 167 h 495"/>
              <a:gd name="T4" fmla="*/ 445 w 495"/>
              <a:gd name="T5" fmla="*/ 103 h 495"/>
              <a:gd name="T6" fmla="*/ 398 w 495"/>
              <a:gd name="T7" fmla="*/ 96 h 495"/>
              <a:gd name="T8" fmla="*/ 392 w 495"/>
              <a:gd name="T9" fmla="*/ 49 h 495"/>
              <a:gd name="T10" fmla="*/ 328 w 495"/>
              <a:gd name="T11" fmla="*/ 46 h 495"/>
              <a:gd name="T12" fmla="*/ 302 w 495"/>
              <a:gd name="T13" fmla="*/ 41 h 495"/>
              <a:gd name="T14" fmla="*/ 269 w 495"/>
              <a:gd name="T15" fmla="*/ 0 h 495"/>
              <a:gd name="T16" fmla="*/ 211 w 495"/>
              <a:gd name="T17" fmla="*/ 37 h 495"/>
              <a:gd name="T18" fmla="*/ 173 w 495"/>
              <a:gd name="T19" fmla="*/ 47 h 495"/>
              <a:gd name="T20" fmla="*/ 105 w 495"/>
              <a:gd name="T21" fmla="*/ 44 h 495"/>
              <a:gd name="T22" fmla="*/ 96 w 495"/>
              <a:gd name="T23" fmla="*/ 97 h 495"/>
              <a:gd name="T24" fmla="*/ 77 w 495"/>
              <a:gd name="T25" fmla="*/ 113 h 495"/>
              <a:gd name="T26" fmla="*/ 23 w 495"/>
              <a:gd name="T27" fmla="*/ 148 h 495"/>
              <a:gd name="T28" fmla="*/ 41 w 495"/>
              <a:gd name="T29" fmla="*/ 193 h 495"/>
              <a:gd name="T30" fmla="*/ 3 w 495"/>
              <a:gd name="T31" fmla="*/ 221 h 495"/>
              <a:gd name="T32" fmla="*/ 32 w 495"/>
              <a:gd name="T33" fmla="*/ 279 h 495"/>
              <a:gd name="T34" fmla="*/ 41 w 495"/>
              <a:gd name="T35" fmla="*/ 303 h 495"/>
              <a:gd name="T36" fmla="*/ 22 w 495"/>
              <a:gd name="T37" fmla="*/ 352 h 495"/>
              <a:gd name="T38" fmla="*/ 83 w 495"/>
              <a:gd name="T39" fmla="*/ 384 h 495"/>
              <a:gd name="T40" fmla="*/ 111 w 495"/>
              <a:gd name="T41" fmla="*/ 411 h 495"/>
              <a:gd name="T42" fmla="*/ 142 w 495"/>
              <a:gd name="T43" fmla="*/ 473 h 495"/>
              <a:gd name="T44" fmla="*/ 192 w 495"/>
              <a:gd name="T45" fmla="*/ 453 h 495"/>
              <a:gd name="T46" fmla="*/ 216 w 495"/>
              <a:gd name="T47" fmla="*/ 462 h 495"/>
              <a:gd name="T48" fmla="*/ 274 w 495"/>
              <a:gd name="T49" fmla="*/ 491 h 495"/>
              <a:gd name="T50" fmla="*/ 303 w 495"/>
              <a:gd name="T51" fmla="*/ 453 h 495"/>
              <a:gd name="T52" fmla="*/ 346 w 495"/>
              <a:gd name="T53" fmla="*/ 472 h 495"/>
              <a:gd name="T54" fmla="*/ 382 w 495"/>
              <a:gd name="T55" fmla="*/ 418 h 495"/>
              <a:gd name="T56" fmla="*/ 399 w 495"/>
              <a:gd name="T57" fmla="*/ 398 h 495"/>
              <a:gd name="T58" fmla="*/ 451 w 495"/>
              <a:gd name="T59" fmla="*/ 390 h 495"/>
              <a:gd name="T60" fmla="*/ 447 w 495"/>
              <a:gd name="T61" fmla="*/ 321 h 495"/>
              <a:gd name="T62" fmla="*/ 458 w 495"/>
              <a:gd name="T63" fmla="*/ 283 h 495"/>
              <a:gd name="T64" fmla="*/ 495 w 495"/>
              <a:gd name="T65" fmla="*/ 226 h 495"/>
              <a:gd name="T66" fmla="*/ 387 w 495"/>
              <a:gd name="T67" fmla="*/ 285 h 495"/>
              <a:gd name="T68" fmla="*/ 352 w 495"/>
              <a:gd name="T69" fmla="*/ 347 h 495"/>
              <a:gd name="T70" fmla="*/ 320 w 495"/>
              <a:gd name="T71" fmla="*/ 373 h 495"/>
              <a:gd name="T72" fmla="*/ 285 w 495"/>
              <a:gd name="T73" fmla="*/ 387 h 495"/>
              <a:gd name="T74" fmla="*/ 213 w 495"/>
              <a:gd name="T75" fmla="*/ 388 h 495"/>
              <a:gd name="T76" fmla="*/ 206 w 495"/>
              <a:gd name="T77" fmla="*/ 386 h 495"/>
              <a:gd name="T78" fmla="*/ 148 w 495"/>
              <a:gd name="T79" fmla="*/ 352 h 495"/>
              <a:gd name="T80" fmla="*/ 109 w 495"/>
              <a:gd name="T81" fmla="*/ 288 h 495"/>
              <a:gd name="T82" fmla="*/ 107 w 495"/>
              <a:gd name="T83" fmla="*/ 281 h 495"/>
              <a:gd name="T84" fmla="*/ 107 w 495"/>
              <a:gd name="T85" fmla="*/ 214 h 495"/>
              <a:gd name="T86" fmla="*/ 109 w 495"/>
              <a:gd name="T87" fmla="*/ 206 h 495"/>
              <a:gd name="T88" fmla="*/ 148 w 495"/>
              <a:gd name="T89" fmla="*/ 142 h 495"/>
              <a:gd name="T90" fmla="*/ 206 w 495"/>
              <a:gd name="T91" fmla="*/ 109 h 495"/>
              <a:gd name="T92" fmla="*/ 213 w 495"/>
              <a:gd name="T93" fmla="*/ 107 h 495"/>
              <a:gd name="T94" fmla="*/ 285 w 495"/>
              <a:gd name="T95" fmla="*/ 108 h 495"/>
              <a:gd name="T96" fmla="*/ 347 w 495"/>
              <a:gd name="T97" fmla="*/ 143 h 495"/>
              <a:gd name="T98" fmla="*/ 373 w 495"/>
              <a:gd name="T99" fmla="*/ 175 h 495"/>
              <a:gd name="T100" fmla="*/ 387 w 495"/>
              <a:gd name="T101" fmla="*/ 210 h 495"/>
              <a:gd name="T102" fmla="*/ 388 w 495"/>
              <a:gd name="T103" fmla="*/ 281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5" h="495">
                <a:moveTo>
                  <a:pt x="491" y="221"/>
                </a:moveTo>
                <a:cubicBezTo>
                  <a:pt x="462" y="216"/>
                  <a:pt x="462" y="216"/>
                  <a:pt x="462" y="216"/>
                </a:cubicBezTo>
                <a:cubicBezTo>
                  <a:pt x="460" y="216"/>
                  <a:pt x="458" y="214"/>
                  <a:pt x="458" y="211"/>
                </a:cubicBezTo>
                <a:cubicBezTo>
                  <a:pt x="456" y="205"/>
                  <a:pt x="455" y="198"/>
                  <a:pt x="453" y="192"/>
                </a:cubicBezTo>
                <a:cubicBezTo>
                  <a:pt x="453" y="192"/>
                  <a:pt x="453" y="192"/>
                  <a:pt x="453" y="192"/>
                </a:cubicBezTo>
                <a:cubicBezTo>
                  <a:pt x="453" y="192"/>
                  <a:pt x="453" y="192"/>
                  <a:pt x="453" y="192"/>
                </a:cubicBezTo>
                <a:cubicBezTo>
                  <a:pt x="452" y="186"/>
                  <a:pt x="450" y="180"/>
                  <a:pt x="447" y="173"/>
                </a:cubicBezTo>
                <a:cubicBezTo>
                  <a:pt x="447" y="171"/>
                  <a:pt x="447" y="169"/>
                  <a:pt x="449" y="167"/>
                </a:cubicBezTo>
                <a:cubicBezTo>
                  <a:pt x="472" y="148"/>
                  <a:pt x="472" y="148"/>
                  <a:pt x="472" y="148"/>
                </a:cubicBezTo>
                <a:cubicBezTo>
                  <a:pt x="474" y="147"/>
                  <a:pt x="474" y="144"/>
                  <a:pt x="473" y="142"/>
                </a:cubicBezTo>
                <a:cubicBezTo>
                  <a:pt x="451" y="105"/>
                  <a:pt x="451" y="105"/>
                  <a:pt x="451" y="105"/>
                </a:cubicBezTo>
                <a:cubicBezTo>
                  <a:pt x="450" y="103"/>
                  <a:pt x="448" y="102"/>
                  <a:pt x="445" y="103"/>
                </a:cubicBezTo>
                <a:cubicBezTo>
                  <a:pt x="418" y="113"/>
                  <a:pt x="418" y="113"/>
                  <a:pt x="418" y="113"/>
                </a:cubicBezTo>
                <a:cubicBezTo>
                  <a:pt x="415" y="114"/>
                  <a:pt x="413" y="113"/>
                  <a:pt x="411" y="111"/>
                </a:cubicBezTo>
                <a:cubicBezTo>
                  <a:pt x="407" y="106"/>
                  <a:pt x="403" y="101"/>
                  <a:pt x="398" y="97"/>
                </a:cubicBezTo>
                <a:cubicBezTo>
                  <a:pt x="398" y="96"/>
                  <a:pt x="398" y="96"/>
                  <a:pt x="398" y="96"/>
                </a:cubicBezTo>
                <a:cubicBezTo>
                  <a:pt x="398" y="96"/>
                  <a:pt x="398" y="96"/>
                  <a:pt x="398" y="96"/>
                </a:cubicBezTo>
                <a:cubicBezTo>
                  <a:pt x="393" y="92"/>
                  <a:pt x="389" y="87"/>
                  <a:pt x="384" y="83"/>
                </a:cubicBezTo>
                <a:cubicBezTo>
                  <a:pt x="382" y="82"/>
                  <a:pt x="381" y="79"/>
                  <a:pt x="382" y="77"/>
                </a:cubicBezTo>
                <a:cubicBezTo>
                  <a:pt x="392" y="49"/>
                  <a:pt x="392" y="49"/>
                  <a:pt x="392" y="49"/>
                </a:cubicBezTo>
                <a:cubicBezTo>
                  <a:pt x="393" y="47"/>
                  <a:pt x="392" y="45"/>
                  <a:pt x="390" y="44"/>
                </a:cubicBezTo>
                <a:cubicBezTo>
                  <a:pt x="352" y="22"/>
                  <a:pt x="352" y="22"/>
                  <a:pt x="352" y="22"/>
                </a:cubicBezTo>
                <a:cubicBezTo>
                  <a:pt x="350" y="21"/>
                  <a:pt x="348" y="21"/>
                  <a:pt x="346" y="23"/>
                </a:cubicBezTo>
                <a:cubicBezTo>
                  <a:pt x="328" y="46"/>
                  <a:pt x="328" y="46"/>
                  <a:pt x="328" y="46"/>
                </a:cubicBezTo>
                <a:cubicBezTo>
                  <a:pt x="326" y="47"/>
                  <a:pt x="324" y="48"/>
                  <a:pt x="321" y="47"/>
                </a:cubicBezTo>
                <a:cubicBezTo>
                  <a:pt x="315" y="45"/>
                  <a:pt x="309" y="43"/>
                  <a:pt x="303" y="41"/>
                </a:cubicBezTo>
                <a:cubicBezTo>
                  <a:pt x="302" y="41"/>
                  <a:pt x="302" y="41"/>
                  <a:pt x="302" y="41"/>
                </a:cubicBezTo>
                <a:cubicBezTo>
                  <a:pt x="302" y="41"/>
                  <a:pt x="302" y="41"/>
                  <a:pt x="302" y="41"/>
                </a:cubicBezTo>
                <a:cubicBezTo>
                  <a:pt x="296" y="40"/>
                  <a:pt x="290" y="38"/>
                  <a:pt x="283" y="37"/>
                </a:cubicBezTo>
                <a:cubicBezTo>
                  <a:pt x="281" y="37"/>
                  <a:pt x="279" y="35"/>
                  <a:pt x="279" y="33"/>
                </a:cubicBezTo>
                <a:cubicBezTo>
                  <a:pt x="274" y="3"/>
                  <a:pt x="274" y="3"/>
                  <a:pt x="274" y="3"/>
                </a:cubicBezTo>
                <a:cubicBezTo>
                  <a:pt x="273" y="1"/>
                  <a:pt x="271" y="0"/>
                  <a:pt x="269" y="0"/>
                </a:cubicBezTo>
                <a:cubicBezTo>
                  <a:pt x="225" y="0"/>
                  <a:pt x="225" y="0"/>
                  <a:pt x="225" y="0"/>
                </a:cubicBezTo>
                <a:cubicBezTo>
                  <a:pt x="223" y="0"/>
                  <a:pt x="221" y="1"/>
                  <a:pt x="221" y="3"/>
                </a:cubicBezTo>
                <a:cubicBezTo>
                  <a:pt x="216" y="33"/>
                  <a:pt x="216" y="33"/>
                  <a:pt x="216" y="33"/>
                </a:cubicBezTo>
                <a:cubicBezTo>
                  <a:pt x="216" y="35"/>
                  <a:pt x="214" y="37"/>
                  <a:pt x="211" y="37"/>
                </a:cubicBezTo>
                <a:cubicBezTo>
                  <a:pt x="205" y="38"/>
                  <a:pt x="198" y="40"/>
                  <a:pt x="192" y="41"/>
                </a:cubicBezTo>
                <a:cubicBezTo>
                  <a:pt x="192" y="41"/>
                  <a:pt x="192" y="41"/>
                  <a:pt x="192" y="41"/>
                </a:cubicBezTo>
                <a:cubicBezTo>
                  <a:pt x="192" y="41"/>
                  <a:pt x="192" y="41"/>
                  <a:pt x="192" y="41"/>
                </a:cubicBezTo>
                <a:cubicBezTo>
                  <a:pt x="186" y="43"/>
                  <a:pt x="179" y="45"/>
                  <a:pt x="173" y="47"/>
                </a:cubicBezTo>
                <a:cubicBezTo>
                  <a:pt x="171" y="48"/>
                  <a:pt x="169" y="47"/>
                  <a:pt x="167" y="46"/>
                </a:cubicBezTo>
                <a:cubicBezTo>
                  <a:pt x="148" y="23"/>
                  <a:pt x="148" y="23"/>
                  <a:pt x="148" y="23"/>
                </a:cubicBezTo>
                <a:cubicBezTo>
                  <a:pt x="147" y="21"/>
                  <a:pt x="144" y="21"/>
                  <a:pt x="142" y="22"/>
                </a:cubicBezTo>
                <a:cubicBezTo>
                  <a:pt x="105" y="44"/>
                  <a:pt x="105" y="44"/>
                  <a:pt x="105" y="44"/>
                </a:cubicBezTo>
                <a:cubicBezTo>
                  <a:pt x="103" y="45"/>
                  <a:pt x="102" y="47"/>
                  <a:pt x="102" y="49"/>
                </a:cubicBezTo>
                <a:cubicBezTo>
                  <a:pt x="113" y="77"/>
                  <a:pt x="113" y="77"/>
                  <a:pt x="113" y="77"/>
                </a:cubicBezTo>
                <a:cubicBezTo>
                  <a:pt x="114" y="79"/>
                  <a:pt x="113" y="82"/>
                  <a:pt x="111" y="83"/>
                </a:cubicBezTo>
                <a:cubicBezTo>
                  <a:pt x="106" y="87"/>
                  <a:pt x="101" y="92"/>
                  <a:pt x="96" y="97"/>
                </a:cubicBezTo>
                <a:cubicBezTo>
                  <a:pt x="96" y="97"/>
                  <a:pt x="96" y="97"/>
                  <a:pt x="96" y="97"/>
                </a:cubicBezTo>
                <a:cubicBezTo>
                  <a:pt x="96" y="97"/>
                  <a:pt x="96" y="97"/>
                  <a:pt x="96" y="97"/>
                </a:cubicBezTo>
                <a:cubicBezTo>
                  <a:pt x="92" y="101"/>
                  <a:pt x="87" y="106"/>
                  <a:pt x="83" y="111"/>
                </a:cubicBezTo>
                <a:cubicBezTo>
                  <a:pt x="82" y="113"/>
                  <a:pt x="79" y="114"/>
                  <a:pt x="77" y="113"/>
                </a:cubicBezTo>
                <a:cubicBezTo>
                  <a:pt x="49" y="103"/>
                  <a:pt x="49" y="103"/>
                  <a:pt x="49" y="103"/>
                </a:cubicBezTo>
                <a:cubicBezTo>
                  <a:pt x="47" y="102"/>
                  <a:pt x="45" y="103"/>
                  <a:pt x="44" y="105"/>
                </a:cubicBezTo>
                <a:cubicBezTo>
                  <a:pt x="22" y="142"/>
                  <a:pt x="22" y="142"/>
                  <a:pt x="22" y="142"/>
                </a:cubicBezTo>
                <a:cubicBezTo>
                  <a:pt x="21" y="144"/>
                  <a:pt x="21" y="147"/>
                  <a:pt x="23" y="148"/>
                </a:cubicBezTo>
                <a:cubicBezTo>
                  <a:pt x="46" y="167"/>
                  <a:pt x="46" y="167"/>
                  <a:pt x="46" y="167"/>
                </a:cubicBezTo>
                <a:cubicBezTo>
                  <a:pt x="47" y="169"/>
                  <a:pt x="48" y="171"/>
                  <a:pt x="47" y="173"/>
                </a:cubicBezTo>
                <a:cubicBezTo>
                  <a:pt x="45" y="180"/>
                  <a:pt x="43" y="186"/>
                  <a:pt x="41" y="192"/>
                </a:cubicBezTo>
                <a:cubicBezTo>
                  <a:pt x="41" y="193"/>
                  <a:pt x="41" y="193"/>
                  <a:pt x="41" y="193"/>
                </a:cubicBezTo>
                <a:cubicBezTo>
                  <a:pt x="41" y="193"/>
                  <a:pt x="41" y="193"/>
                  <a:pt x="41" y="193"/>
                </a:cubicBezTo>
                <a:cubicBezTo>
                  <a:pt x="40" y="199"/>
                  <a:pt x="38" y="205"/>
                  <a:pt x="37" y="211"/>
                </a:cubicBezTo>
                <a:cubicBezTo>
                  <a:pt x="37" y="214"/>
                  <a:pt x="35" y="216"/>
                  <a:pt x="32" y="216"/>
                </a:cubicBezTo>
                <a:cubicBezTo>
                  <a:pt x="3" y="221"/>
                  <a:pt x="3" y="221"/>
                  <a:pt x="3" y="221"/>
                </a:cubicBezTo>
                <a:cubicBezTo>
                  <a:pt x="1" y="221"/>
                  <a:pt x="0" y="223"/>
                  <a:pt x="0" y="226"/>
                </a:cubicBezTo>
                <a:cubicBezTo>
                  <a:pt x="0" y="269"/>
                  <a:pt x="0" y="269"/>
                  <a:pt x="0" y="269"/>
                </a:cubicBezTo>
                <a:cubicBezTo>
                  <a:pt x="0" y="271"/>
                  <a:pt x="1" y="273"/>
                  <a:pt x="3" y="274"/>
                </a:cubicBezTo>
                <a:cubicBezTo>
                  <a:pt x="32" y="279"/>
                  <a:pt x="32" y="279"/>
                  <a:pt x="32" y="279"/>
                </a:cubicBezTo>
                <a:cubicBezTo>
                  <a:pt x="35" y="279"/>
                  <a:pt x="37" y="281"/>
                  <a:pt x="37" y="283"/>
                </a:cubicBezTo>
                <a:cubicBezTo>
                  <a:pt x="38" y="290"/>
                  <a:pt x="40" y="296"/>
                  <a:pt x="41" y="303"/>
                </a:cubicBezTo>
                <a:cubicBezTo>
                  <a:pt x="41" y="303"/>
                  <a:pt x="41" y="303"/>
                  <a:pt x="41" y="303"/>
                </a:cubicBezTo>
                <a:cubicBezTo>
                  <a:pt x="41" y="303"/>
                  <a:pt x="41" y="303"/>
                  <a:pt x="41" y="303"/>
                </a:cubicBezTo>
                <a:cubicBezTo>
                  <a:pt x="43" y="309"/>
                  <a:pt x="45" y="315"/>
                  <a:pt x="47" y="321"/>
                </a:cubicBezTo>
                <a:cubicBezTo>
                  <a:pt x="48" y="324"/>
                  <a:pt x="47" y="326"/>
                  <a:pt x="46" y="328"/>
                </a:cubicBezTo>
                <a:cubicBezTo>
                  <a:pt x="23" y="347"/>
                  <a:pt x="23" y="347"/>
                  <a:pt x="23" y="347"/>
                </a:cubicBezTo>
                <a:cubicBezTo>
                  <a:pt x="21" y="348"/>
                  <a:pt x="21" y="350"/>
                  <a:pt x="22" y="352"/>
                </a:cubicBezTo>
                <a:cubicBezTo>
                  <a:pt x="44" y="390"/>
                  <a:pt x="44" y="390"/>
                  <a:pt x="44" y="390"/>
                </a:cubicBezTo>
                <a:cubicBezTo>
                  <a:pt x="45" y="392"/>
                  <a:pt x="47" y="393"/>
                  <a:pt x="49" y="392"/>
                </a:cubicBezTo>
                <a:cubicBezTo>
                  <a:pt x="77" y="382"/>
                  <a:pt x="77" y="382"/>
                  <a:pt x="77" y="382"/>
                </a:cubicBezTo>
                <a:cubicBezTo>
                  <a:pt x="79" y="381"/>
                  <a:pt x="82" y="382"/>
                  <a:pt x="83" y="384"/>
                </a:cubicBezTo>
                <a:cubicBezTo>
                  <a:pt x="87" y="389"/>
                  <a:pt x="92" y="394"/>
                  <a:pt x="96" y="398"/>
                </a:cubicBezTo>
                <a:cubicBezTo>
                  <a:pt x="97" y="399"/>
                  <a:pt x="97" y="399"/>
                  <a:pt x="97" y="399"/>
                </a:cubicBezTo>
                <a:cubicBezTo>
                  <a:pt x="97" y="399"/>
                  <a:pt x="97" y="399"/>
                  <a:pt x="97" y="399"/>
                </a:cubicBezTo>
                <a:cubicBezTo>
                  <a:pt x="101" y="403"/>
                  <a:pt x="106" y="407"/>
                  <a:pt x="111" y="411"/>
                </a:cubicBezTo>
                <a:cubicBezTo>
                  <a:pt x="113" y="413"/>
                  <a:pt x="114" y="416"/>
                  <a:pt x="113" y="418"/>
                </a:cubicBezTo>
                <a:cubicBezTo>
                  <a:pt x="102" y="445"/>
                  <a:pt x="102" y="445"/>
                  <a:pt x="102" y="445"/>
                </a:cubicBezTo>
                <a:cubicBezTo>
                  <a:pt x="102" y="448"/>
                  <a:pt x="103" y="450"/>
                  <a:pt x="105" y="451"/>
                </a:cubicBezTo>
                <a:cubicBezTo>
                  <a:pt x="142" y="473"/>
                  <a:pt x="142" y="473"/>
                  <a:pt x="142" y="473"/>
                </a:cubicBezTo>
                <a:cubicBezTo>
                  <a:pt x="144" y="474"/>
                  <a:pt x="147" y="474"/>
                  <a:pt x="148" y="472"/>
                </a:cubicBezTo>
                <a:cubicBezTo>
                  <a:pt x="167" y="449"/>
                  <a:pt x="167" y="449"/>
                  <a:pt x="167" y="449"/>
                </a:cubicBezTo>
                <a:cubicBezTo>
                  <a:pt x="169" y="447"/>
                  <a:pt x="171" y="447"/>
                  <a:pt x="173" y="447"/>
                </a:cubicBezTo>
                <a:cubicBezTo>
                  <a:pt x="179" y="450"/>
                  <a:pt x="186" y="452"/>
                  <a:pt x="192" y="453"/>
                </a:cubicBezTo>
                <a:cubicBezTo>
                  <a:pt x="193" y="454"/>
                  <a:pt x="193" y="454"/>
                  <a:pt x="193" y="454"/>
                </a:cubicBezTo>
                <a:cubicBezTo>
                  <a:pt x="193" y="454"/>
                  <a:pt x="193" y="454"/>
                  <a:pt x="193" y="454"/>
                </a:cubicBezTo>
                <a:cubicBezTo>
                  <a:pt x="199" y="455"/>
                  <a:pt x="205" y="457"/>
                  <a:pt x="211" y="458"/>
                </a:cubicBezTo>
                <a:cubicBezTo>
                  <a:pt x="214" y="458"/>
                  <a:pt x="216" y="460"/>
                  <a:pt x="216" y="462"/>
                </a:cubicBezTo>
                <a:cubicBezTo>
                  <a:pt x="221" y="491"/>
                  <a:pt x="221" y="491"/>
                  <a:pt x="221" y="491"/>
                </a:cubicBezTo>
                <a:cubicBezTo>
                  <a:pt x="221" y="494"/>
                  <a:pt x="223" y="495"/>
                  <a:pt x="225" y="495"/>
                </a:cubicBezTo>
                <a:cubicBezTo>
                  <a:pt x="269" y="495"/>
                  <a:pt x="269" y="495"/>
                  <a:pt x="269" y="495"/>
                </a:cubicBezTo>
                <a:cubicBezTo>
                  <a:pt x="271" y="495"/>
                  <a:pt x="273" y="494"/>
                  <a:pt x="274" y="491"/>
                </a:cubicBezTo>
                <a:cubicBezTo>
                  <a:pt x="279" y="462"/>
                  <a:pt x="279" y="462"/>
                  <a:pt x="279" y="462"/>
                </a:cubicBezTo>
                <a:cubicBezTo>
                  <a:pt x="279" y="460"/>
                  <a:pt x="281" y="458"/>
                  <a:pt x="283" y="458"/>
                </a:cubicBezTo>
                <a:cubicBezTo>
                  <a:pt x="290" y="457"/>
                  <a:pt x="296" y="455"/>
                  <a:pt x="303" y="453"/>
                </a:cubicBezTo>
                <a:cubicBezTo>
                  <a:pt x="303" y="453"/>
                  <a:pt x="303" y="453"/>
                  <a:pt x="303" y="453"/>
                </a:cubicBezTo>
                <a:cubicBezTo>
                  <a:pt x="303" y="453"/>
                  <a:pt x="303" y="453"/>
                  <a:pt x="303" y="453"/>
                </a:cubicBezTo>
                <a:cubicBezTo>
                  <a:pt x="309" y="452"/>
                  <a:pt x="315" y="450"/>
                  <a:pt x="321" y="447"/>
                </a:cubicBezTo>
                <a:cubicBezTo>
                  <a:pt x="324" y="447"/>
                  <a:pt x="326" y="447"/>
                  <a:pt x="328" y="449"/>
                </a:cubicBezTo>
                <a:cubicBezTo>
                  <a:pt x="346" y="472"/>
                  <a:pt x="346" y="472"/>
                  <a:pt x="346" y="472"/>
                </a:cubicBezTo>
                <a:cubicBezTo>
                  <a:pt x="348" y="474"/>
                  <a:pt x="350" y="474"/>
                  <a:pt x="352" y="473"/>
                </a:cubicBezTo>
                <a:cubicBezTo>
                  <a:pt x="390" y="451"/>
                  <a:pt x="390" y="451"/>
                  <a:pt x="390" y="451"/>
                </a:cubicBezTo>
                <a:cubicBezTo>
                  <a:pt x="392" y="450"/>
                  <a:pt x="393" y="448"/>
                  <a:pt x="392" y="445"/>
                </a:cubicBezTo>
                <a:cubicBezTo>
                  <a:pt x="382" y="418"/>
                  <a:pt x="382" y="418"/>
                  <a:pt x="382" y="418"/>
                </a:cubicBezTo>
                <a:cubicBezTo>
                  <a:pt x="381" y="416"/>
                  <a:pt x="382" y="413"/>
                  <a:pt x="384" y="412"/>
                </a:cubicBezTo>
                <a:cubicBezTo>
                  <a:pt x="389" y="407"/>
                  <a:pt x="394" y="403"/>
                  <a:pt x="398" y="398"/>
                </a:cubicBezTo>
                <a:cubicBezTo>
                  <a:pt x="399" y="398"/>
                  <a:pt x="399" y="398"/>
                  <a:pt x="399" y="398"/>
                </a:cubicBezTo>
                <a:cubicBezTo>
                  <a:pt x="399" y="398"/>
                  <a:pt x="399" y="398"/>
                  <a:pt x="399" y="398"/>
                </a:cubicBezTo>
                <a:cubicBezTo>
                  <a:pt x="403" y="393"/>
                  <a:pt x="407" y="389"/>
                  <a:pt x="411" y="384"/>
                </a:cubicBezTo>
                <a:cubicBezTo>
                  <a:pt x="413" y="382"/>
                  <a:pt x="415" y="381"/>
                  <a:pt x="418" y="382"/>
                </a:cubicBezTo>
                <a:cubicBezTo>
                  <a:pt x="445" y="392"/>
                  <a:pt x="445" y="392"/>
                  <a:pt x="445" y="392"/>
                </a:cubicBezTo>
                <a:cubicBezTo>
                  <a:pt x="447" y="393"/>
                  <a:pt x="450" y="392"/>
                  <a:pt x="451" y="390"/>
                </a:cubicBezTo>
                <a:cubicBezTo>
                  <a:pt x="473" y="352"/>
                  <a:pt x="473" y="352"/>
                  <a:pt x="473" y="352"/>
                </a:cubicBezTo>
                <a:cubicBezTo>
                  <a:pt x="474" y="350"/>
                  <a:pt x="474" y="348"/>
                  <a:pt x="472" y="347"/>
                </a:cubicBezTo>
                <a:cubicBezTo>
                  <a:pt x="449" y="328"/>
                  <a:pt x="449" y="328"/>
                  <a:pt x="449" y="328"/>
                </a:cubicBezTo>
                <a:cubicBezTo>
                  <a:pt x="447" y="326"/>
                  <a:pt x="447" y="324"/>
                  <a:pt x="447" y="321"/>
                </a:cubicBezTo>
                <a:cubicBezTo>
                  <a:pt x="450" y="315"/>
                  <a:pt x="452" y="309"/>
                  <a:pt x="453" y="303"/>
                </a:cubicBezTo>
                <a:cubicBezTo>
                  <a:pt x="454" y="302"/>
                  <a:pt x="454" y="302"/>
                  <a:pt x="454" y="302"/>
                </a:cubicBezTo>
                <a:cubicBezTo>
                  <a:pt x="454" y="302"/>
                  <a:pt x="454" y="302"/>
                  <a:pt x="454" y="302"/>
                </a:cubicBezTo>
                <a:cubicBezTo>
                  <a:pt x="455" y="296"/>
                  <a:pt x="456" y="290"/>
                  <a:pt x="458" y="283"/>
                </a:cubicBezTo>
                <a:cubicBezTo>
                  <a:pt x="458" y="281"/>
                  <a:pt x="460" y="279"/>
                  <a:pt x="462" y="279"/>
                </a:cubicBezTo>
                <a:cubicBezTo>
                  <a:pt x="491" y="274"/>
                  <a:pt x="491" y="274"/>
                  <a:pt x="491" y="274"/>
                </a:cubicBezTo>
                <a:cubicBezTo>
                  <a:pt x="493" y="273"/>
                  <a:pt x="495" y="271"/>
                  <a:pt x="495" y="269"/>
                </a:cubicBezTo>
                <a:cubicBezTo>
                  <a:pt x="495" y="226"/>
                  <a:pt x="495" y="226"/>
                  <a:pt x="495" y="226"/>
                </a:cubicBezTo>
                <a:cubicBezTo>
                  <a:pt x="495" y="223"/>
                  <a:pt x="493" y="221"/>
                  <a:pt x="491" y="221"/>
                </a:cubicBezTo>
                <a:close/>
                <a:moveTo>
                  <a:pt x="388" y="281"/>
                </a:moveTo>
                <a:cubicBezTo>
                  <a:pt x="387" y="285"/>
                  <a:pt x="387" y="285"/>
                  <a:pt x="387" y="285"/>
                </a:cubicBezTo>
                <a:cubicBezTo>
                  <a:pt x="387" y="285"/>
                  <a:pt x="387" y="285"/>
                  <a:pt x="387" y="285"/>
                </a:cubicBezTo>
                <a:cubicBezTo>
                  <a:pt x="386" y="289"/>
                  <a:pt x="386" y="289"/>
                  <a:pt x="386" y="289"/>
                </a:cubicBezTo>
                <a:cubicBezTo>
                  <a:pt x="386" y="288"/>
                  <a:pt x="386" y="288"/>
                  <a:pt x="386" y="288"/>
                </a:cubicBezTo>
                <a:cubicBezTo>
                  <a:pt x="383" y="299"/>
                  <a:pt x="378" y="310"/>
                  <a:pt x="373" y="320"/>
                </a:cubicBezTo>
                <a:cubicBezTo>
                  <a:pt x="367" y="330"/>
                  <a:pt x="360" y="339"/>
                  <a:pt x="352" y="347"/>
                </a:cubicBezTo>
                <a:cubicBezTo>
                  <a:pt x="352" y="347"/>
                  <a:pt x="352" y="347"/>
                  <a:pt x="352" y="347"/>
                </a:cubicBezTo>
                <a:cubicBezTo>
                  <a:pt x="347" y="352"/>
                  <a:pt x="347" y="352"/>
                  <a:pt x="347" y="352"/>
                </a:cubicBezTo>
                <a:cubicBezTo>
                  <a:pt x="347" y="352"/>
                  <a:pt x="347" y="352"/>
                  <a:pt x="347" y="352"/>
                </a:cubicBezTo>
                <a:cubicBezTo>
                  <a:pt x="339" y="360"/>
                  <a:pt x="330" y="367"/>
                  <a:pt x="320" y="373"/>
                </a:cubicBezTo>
                <a:cubicBezTo>
                  <a:pt x="310" y="378"/>
                  <a:pt x="299" y="383"/>
                  <a:pt x="288" y="386"/>
                </a:cubicBezTo>
                <a:cubicBezTo>
                  <a:pt x="289" y="386"/>
                  <a:pt x="289" y="386"/>
                  <a:pt x="289" y="386"/>
                </a:cubicBezTo>
                <a:cubicBezTo>
                  <a:pt x="285" y="387"/>
                  <a:pt x="285" y="387"/>
                  <a:pt x="285" y="387"/>
                </a:cubicBezTo>
                <a:cubicBezTo>
                  <a:pt x="285" y="387"/>
                  <a:pt x="285" y="387"/>
                  <a:pt x="285" y="387"/>
                </a:cubicBezTo>
                <a:cubicBezTo>
                  <a:pt x="281" y="388"/>
                  <a:pt x="281" y="388"/>
                  <a:pt x="281" y="388"/>
                </a:cubicBezTo>
                <a:cubicBezTo>
                  <a:pt x="281" y="388"/>
                  <a:pt x="281" y="388"/>
                  <a:pt x="281" y="388"/>
                </a:cubicBezTo>
                <a:cubicBezTo>
                  <a:pt x="270" y="391"/>
                  <a:pt x="259" y="392"/>
                  <a:pt x="247" y="392"/>
                </a:cubicBezTo>
                <a:cubicBezTo>
                  <a:pt x="236" y="392"/>
                  <a:pt x="225" y="391"/>
                  <a:pt x="213" y="388"/>
                </a:cubicBezTo>
                <a:cubicBezTo>
                  <a:pt x="214" y="388"/>
                  <a:pt x="214" y="388"/>
                  <a:pt x="214" y="388"/>
                </a:cubicBezTo>
                <a:cubicBezTo>
                  <a:pt x="210" y="387"/>
                  <a:pt x="210" y="387"/>
                  <a:pt x="210" y="387"/>
                </a:cubicBezTo>
                <a:cubicBezTo>
                  <a:pt x="210" y="387"/>
                  <a:pt x="210" y="387"/>
                  <a:pt x="210" y="387"/>
                </a:cubicBezTo>
                <a:cubicBezTo>
                  <a:pt x="206" y="386"/>
                  <a:pt x="206" y="386"/>
                  <a:pt x="206" y="386"/>
                </a:cubicBezTo>
                <a:cubicBezTo>
                  <a:pt x="206" y="386"/>
                  <a:pt x="206" y="386"/>
                  <a:pt x="206" y="386"/>
                </a:cubicBezTo>
                <a:cubicBezTo>
                  <a:pt x="195" y="383"/>
                  <a:pt x="185" y="378"/>
                  <a:pt x="175" y="373"/>
                </a:cubicBezTo>
                <a:cubicBezTo>
                  <a:pt x="165" y="367"/>
                  <a:pt x="156" y="360"/>
                  <a:pt x="148" y="352"/>
                </a:cubicBezTo>
                <a:cubicBezTo>
                  <a:pt x="148" y="352"/>
                  <a:pt x="148" y="352"/>
                  <a:pt x="148" y="352"/>
                </a:cubicBezTo>
                <a:cubicBezTo>
                  <a:pt x="142" y="347"/>
                  <a:pt x="142" y="347"/>
                  <a:pt x="142" y="347"/>
                </a:cubicBezTo>
                <a:cubicBezTo>
                  <a:pt x="142" y="347"/>
                  <a:pt x="142" y="347"/>
                  <a:pt x="142" y="347"/>
                </a:cubicBezTo>
                <a:cubicBezTo>
                  <a:pt x="135" y="339"/>
                  <a:pt x="128" y="330"/>
                  <a:pt x="122" y="320"/>
                </a:cubicBezTo>
                <a:cubicBezTo>
                  <a:pt x="116" y="310"/>
                  <a:pt x="112" y="299"/>
                  <a:pt x="109" y="288"/>
                </a:cubicBezTo>
                <a:cubicBezTo>
                  <a:pt x="109" y="289"/>
                  <a:pt x="109" y="289"/>
                  <a:pt x="109" y="289"/>
                </a:cubicBezTo>
                <a:cubicBezTo>
                  <a:pt x="108" y="285"/>
                  <a:pt x="108" y="285"/>
                  <a:pt x="108" y="285"/>
                </a:cubicBezTo>
                <a:cubicBezTo>
                  <a:pt x="108" y="285"/>
                  <a:pt x="108" y="285"/>
                  <a:pt x="108" y="285"/>
                </a:cubicBezTo>
                <a:cubicBezTo>
                  <a:pt x="107" y="281"/>
                  <a:pt x="107" y="281"/>
                  <a:pt x="107" y="281"/>
                </a:cubicBezTo>
                <a:cubicBezTo>
                  <a:pt x="107" y="281"/>
                  <a:pt x="107" y="281"/>
                  <a:pt x="107" y="281"/>
                </a:cubicBezTo>
                <a:cubicBezTo>
                  <a:pt x="104" y="270"/>
                  <a:pt x="103" y="259"/>
                  <a:pt x="103" y="247"/>
                </a:cubicBezTo>
                <a:cubicBezTo>
                  <a:pt x="103" y="236"/>
                  <a:pt x="104" y="225"/>
                  <a:pt x="107" y="214"/>
                </a:cubicBezTo>
                <a:cubicBezTo>
                  <a:pt x="107" y="214"/>
                  <a:pt x="107" y="214"/>
                  <a:pt x="107" y="214"/>
                </a:cubicBezTo>
                <a:cubicBezTo>
                  <a:pt x="108" y="210"/>
                  <a:pt x="108" y="210"/>
                  <a:pt x="108" y="210"/>
                </a:cubicBezTo>
                <a:cubicBezTo>
                  <a:pt x="108" y="210"/>
                  <a:pt x="108" y="210"/>
                  <a:pt x="108" y="210"/>
                </a:cubicBezTo>
                <a:cubicBezTo>
                  <a:pt x="109" y="206"/>
                  <a:pt x="109" y="206"/>
                  <a:pt x="109" y="206"/>
                </a:cubicBezTo>
                <a:cubicBezTo>
                  <a:pt x="109" y="206"/>
                  <a:pt x="109" y="206"/>
                  <a:pt x="109" y="206"/>
                </a:cubicBezTo>
                <a:cubicBezTo>
                  <a:pt x="112" y="195"/>
                  <a:pt x="116" y="185"/>
                  <a:pt x="122" y="175"/>
                </a:cubicBezTo>
                <a:cubicBezTo>
                  <a:pt x="128" y="165"/>
                  <a:pt x="135" y="156"/>
                  <a:pt x="142" y="148"/>
                </a:cubicBezTo>
                <a:cubicBezTo>
                  <a:pt x="142" y="148"/>
                  <a:pt x="142" y="148"/>
                  <a:pt x="142" y="148"/>
                </a:cubicBezTo>
                <a:cubicBezTo>
                  <a:pt x="148" y="142"/>
                  <a:pt x="148" y="142"/>
                  <a:pt x="148" y="142"/>
                </a:cubicBezTo>
                <a:cubicBezTo>
                  <a:pt x="148" y="143"/>
                  <a:pt x="148" y="143"/>
                  <a:pt x="148" y="143"/>
                </a:cubicBezTo>
                <a:cubicBezTo>
                  <a:pt x="156" y="135"/>
                  <a:pt x="165" y="128"/>
                  <a:pt x="175" y="122"/>
                </a:cubicBezTo>
                <a:cubicBezTo>
                  <a:pt x="185" y="116"/>
                  <a:pt x="195" y="112"/>
                  <a:pt x="206" y="109"/>
                </a:cubicBezTo>
                <a:cubicBezTo>
                  <a:pt x="206" y="109"/>
                  <a:pt x="206" y="109"/>
                  <a:pt x="206" y="109"/>
                </a:cubicBezTo>
                <a:cubicBezTo>
                  <a:pt x="210" y="108"/>
                  <a:pt x="210" y="108"/>
                  <a:pt x="210" y="108"/>
                </a:cubicBezTo>
                <a:cubicBezTo>
                  <a:pt x="210" y="108"/>
                  <a:pt x="210" y="108"/>
                  <a:pt x="210" y="108"/>
                </a:cubicBezTo>
                <a:cubicBezTo>
                  <a:pt x="214" y="107"/>
                  <a:pt x="214" y="107"/>
                  <a:pt x="214" y="107"/>
                </a:cubicBezTo>
                <a:cubicBezTo>
                  <a:pt x="213" y="107"/>
                  <a:pt x="213" y="107"/>
                  <a:pt x="213" y="107"/>
                </a:cubicBezTo>
                <a:cubicBezTo>
                  <a:pt x="236" y="101"/>
                  <a:pt x="259" y="101"/>
                  <a:pt x="281" y="107"/>
                </a:cubicBezTo>
                <a:cubicBezTo>
                  <a:pt x="281" y="107"/>
                  <a:pt x="281" y="107"/>
                  <a:pt x="281" y="107"/>
                </a:cubicBezTo>
                <a:cubicBezTo>
                  <a:pt x="285" y="108"/>
                  <a:pt x="285" y="108"/>
                  <a:pt x="285" y="108"/>
                </a:cubicBezTo>
                <a:cubicBezTo>
                  <a:pt x="285" y="108"/>
                  <a:pt x="285" y="108"/>
                  <a:pt x="285" y="108"/>
                </a:cubicBezTo>
                <a:cubicBezTo>
                  <a:pt x="289" y="109"/>
                  <a:pt x="289" y="109"/>
                  <a:pt x="289" y="109"/>
                </a:cubicBezTo>
                <a:cubicBezTo>
                  <a:pt x="288" y="109"/>
                  <a:pt x="288" y="109"/>
                  <a:pt x="288" y="109"/>
                </a:cubicBezTo>
                <a:cubicBezTo>
                  <a:pt x="299" y="112"/>
                  <a:pt x="310" y="116"/>
                  <a:pt x="320" y="122"/>
                </a:cubicBezTo>
                <a:cubicBezTo>
                  <a:pt x="330" y="128"/>
                  <a:pt x="339" y="135"/>
                  <a:pt x="347" y="143"/>
                </a:cubicBezTo>
                <a:cubicBezTo>
                  <a:pt x="347" y="142"/>
                  <a:pt x="347" y="142"/>
                  <a:pt x="347" y="142"/>
                </a:cubicBezTo>
                <a:cubicBezTo>
                  <a:pt x="352" y="148"/>
                  <a:pt x="352" y="148"/>
                  <a:pt x="352" y="148"/>
                </a:cubicBezTo>
                <a:cubicBezTo>
                  <a:pt x="352" y="148"/>
                  <a:pt x="352" y="148"/>
                  <a:pt x="352" y="148"/>
                </a:cubicBezTo>
                <a:cubicBezTo>
                  <a:pt x="360" y="156"/>
                  <a:pt x="367" y="165"/>
                  <a:pt x="373" y="175"/>
                </a:cubicBezTo>
                <a:cubicBezTo>
                  <a:pt x="378" y="185"/>
                  <a:pt x="383" y="195"/>
                  <a:pt x="386" y="206"/>
                </a:cubicBezTo>
                <a:cubicBezTo>
                  <a:pt x="386" y="206"/>
                  <a:pt x="386" y="206"/>
                  <a:pt x="386" y="206"/>
                </a:cubicBezTo>
                <a:cubicBezTo>
                  <a:pt x="387" y="210"/>
                  <a:pt x="387" y="210"/>
                  <a:pt x="387" y="210"/>
                </a:cubicBezTo>
                <a:cubicBezTo>
                  <a:pt x="387" y="210"/>
                  <a:pt x="387" y="210"/>
                  <a:pt x="387" y="210"/>
                </a:cubicBezTo>
                <a:cubicBezTo>
                  <a:pt x="388" y="214"/>
                  <a:pt x="388" y="214"/>
                  <a:pt x="388" y="214"/>
                </a:cubicBezTo>
                <a:cubicBezTo>
                  <a:pt x="388" y="214"/>
                  <a:pt x="388" y="214"/>
                  <a:pt x="388" y="214"/>
                </a:cubicBezTo>
                <a:cubicBezTo>
                  <a:pt x="391" y="225"/>
                  <a:pt x="392" y="236"/>
                  <a:pt x="392" y="247"/>
                </a:cubicBezTo>
                <a:cubicBezTo>
                  <a:pt x="392" y="259"/>
                  <a:pt x="391" y="270"/>
                  <a:pt x="388" y="281"/>
                </a:cubicBezTo>
                <a:close/>
              </a:path>
            </a:pathLst>
          </a:custGeom>
          <a:solidFill>
            <a:srgbClr val="B3D4FE"/>
          </a:solidFill>
          <a:ln>
            <a:noFill/>
          </a:ln>
        </p:spPr>
        <p:txBody>
          <a:bodyPr vert="horz" wrap="square" lIns="121920" tIns="60960" rIns="121920" bIns="60960" numCol="1" anchor="t" anchorCtr="0" compatLnSpc="1"/>
          <a:lstStyle/>
          <a:p>
            <a:pPr>
              <a:defRPr>
                <a:latin typeface="微软雅黑"/>
                <a:ea typeface="微软雅黑"/>
                <a:cs typeface="微软雅黑"/>
              </a:defRPr>
            </a:pPr>
            <a:endParaRPr lang="en-US" sz="2400" dirty="0">
              <a:solidFill>
                <a:srgbClr val="383838"/>
              </a:solidFill>
              <a:latin typeface="微软雅黑"/>
              <a:ea typeface="微软雅黑"/>
              <a:cs typeface="微软雅黑"/>
            </a:endParaRPr>
          </a:p>
        </p:txBody>
      </p:sp>
      <p:sp>
        <p:nvSpPr>
          <p:cNvPr id="6" name="等腰三角形 5"/>
          <p:cNvSpPr/>
          <p:nvPr/>
        </p:nvSpPr>
        <p:spPr bwMode="gray">
          <a:xfrm rot="1800000">
            <a:off x="7339965" y="3813810"/>
            <a:ext cx="134620" cy="115570"/>
          </a:xfrm>
          <a:prstGeom prst="triangle">
            <a:avLst/>
          </a:prstGeom>
          <a:solidFill>
            <a:srgbClr val="3368FF"/>
          </a:solidFill>
          <a:ln w="19050" algn="ctr">
            <a:noFill/>
            <a:miter lim="800000"/>
          </a:ln>
        </p:spPr>
        <p:txBody>
          <a:bodyPr wrap="square" lIns="88900" tIns="88900" rIns="88900" bIns="88900" rtlCol="0" anchor="ctr"/>
          <a:p>
            <a:pPr algn="ctr">
              <a:lnSpc>
                <a:spcPct val="106000"/>
              </a:lnSpc>
              <a:buFont typeface="微软雅黑"/>
              <a:buNone/>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7" name="等腰三角形 6"/>
          <p:cNvSpPr/>
          <p:nvPr/>
        </p:nvSpPr>
        <p:spPr bwMode="gray">
          <a:xfrm rot="5400000">
            <a:off x="7687945" y="2584450"/>
            <a:ext cx="134620" cy="115570"/>
          </a:xfrm>
          <a:prstGeom prst="triangle">
            <a:avLst/>
          </a:prstGeom>
          <a:solidFill>
            <a:srgbClr val="B3D4FE"/>
          </a:solidFill>
          <a:ln w="19050" algn="ctr">
            <a:noFill/>
            <a:miter lim="800000"/>
          </a:ln>
        </p:spPr>
        <p:txBody>
          <a:bodyPr wrap="square" lIns="88900" tIns="88900" rIns="88900" bIns="88900" rtlCol="0" anchor="ctr"/>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sp>
        <p:nvSpPr>
          <p:cNvPr id="8" name="等腰三角形 7"/>
          <p:cNvSpPr/>
          <p:nvPr/>
        </p:nvSpPr>
        <p:spPr bwMode="gray">
          <a:xfrm rot="5400000">
            <a:off x="7830820" y="2584450"/>
            <a:ext cx="134620" cy="115570"/>
          </a:xfrm>
          <a:prstGeom prst="triangle">
            <a:avLst/>
          </a:prstGeom>
          <a:solidFill>
            <a:srgbClr val="B3D4FE"/>
          </a:solidFill>
          <a:ln w="19050" algn="ctr">
            <a:noFill/>
            <a:miter lim="800000"/>
          </a:ln>
        </p:spPr>
        <p:txBody>
          <a:bodyPr wrap="square" lIns="88900" tIns="88900" rIns="88900" bIns="88900" rtlCol="0" anchor="ctr"/>
          <a:p>
            <a:pPr algn="ctr">
              <a:lnSpc>
                <a:spcPct val="106000"/>
              </a:lnSpc>
              <a:buFont typeface="微软雅黑"/>
              <a:buNone/>
              <a:defRPr>
                <a:latin typeface="微软雅黑"/>
                <a:ea typeface="微软雅黑"/>
                <a:cs typeface="微软雅黑"/>
              </a:defRPr>
            </a:pPr>
            <a:endParaRPr lang="zh-CN" altLang="en-US" sz="1600" b="1" dirty="0">
              <a:solidFill>
                <a:srgbClr val="383838"/>
              </a:solidFill>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44" name="图片 43"/>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天蝎PPT1"/>
          <p:cNvPicPr>
            <a:picLocks noChangeAspect="1"/>
          </p:cNvPicPr>
          <p:nvPr/>
        </p:nvPicPr>
        <p:blipFill rotWithShape="1">
          <a:blip r:embed="rId1" cstate="email"/>
          <a:srcRect/>
          <a:stretch>
            <a:fillRect/>
          </a:stretch>
        </p:blipFill>
        <p:spPr>
          <a:xfrm flipH="1">
            <a:off x="4431665" y="1270"/>
            <a:ext cx="7755825" cy="6858000"/>
          </a:xfrm>
          <a:prstGeom prst="rect">
            <a:avLst/>
          </a:prstGeom>
        </p:spPr>
      </p:pic>
      <p:sp>
        <p:nvSpPr>
          <p:cNvPr id="36" name="矩形 35"/>
          <p:cNvSpPr/>
          <p:nvPr/>
        </p:nvSpPr>
        <p:spPr>
          <a:xfrm>
            <a:off x="0" y="1270"/>
            <a:ext cx="12268200" cy="6858000"/>
          </a:xfrm>
          <a:prstGeom prst="rect">
            <a:avLst/>
          </a:prstGeom>
          <a:gradFill>
            <a:gsLst>
              <a:gs pos="0">
                <a:srgbClr val="FFFFFF"/>
              </a:gs>
              <a:gs pos="100000">
                <a:srgbClr val="DCDCDC">
                  <a:alpha val="50000"/>
                </a:srgbClr>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cs typeface="微软雅黑"/>
              <a:latin typeface="微软雅黑"/>
              <a:ea typeface="微软雅黑"/>
            </a:endParaRPr>
          </a:p>
        </p:txBody>
      </p:sp>
      <p:sp>
        <p:nvSpPr>
          <p:cNvPr id="3" name="矩形 2"/>
          <p:cNvSpPr/>
          <p:nvPr/>
        </p:nvSpPr>
        <p:spPr>
          <a:xfrm>
            <a:off x="0" y="-5080"/>
            <a:ext cx="5048250" cy="6865620"/>
          </a:xfrm>
          <a:prstGeom prst="rect">
            <a:avLst/>
          </a:prstGeom>
          <a:gradFill>
            <a:gsLst>
              <a:gs pos="0">
                <a:srgbClr val="E6E6E6"/>
              </a:gs>
              <a:gs pos="100000">
                <a:srgbClr val="E6E6E6"/>
              </a:gs>
            </a:gsLst>
            <a:lin ang="54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nvGrpSpPr>
          <p:cNvPr id="15" name="组合 14"/>
          <p:cNvGrpSpPr/>
          <p:nvPr/>
        </p:nvGrpSpPr>
        <p:grpSpPr>
          <a:xfrm>
            <a:off x="585470" y="1805940"/>
            <a:ext cx="3877310" cy="1181735"/>
            <a:chOff x="4274" y="7459"/>
            <a:chExt cx="6106" cy="1861"/>
          </a:xfrm>
        </p:grpSpPr>
        <p:sp>
          <p:nvSpPr>
            <p:cNvPr id="6" name="文本框 5"/>
            <p:cNvSpPr txBox="1"/>
            <p:nvPr/>
          </p:nvSpPr>
          <p:spPr>
            <a:xfrm>
              <a:off x="4274" y="7459"/>
              <a:ext cx="6106" cy="919"/>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zh-CN" sz="3200" b="1" spc="-150" noProof="0" dirty="0">
                  <a:ln>
                    <a:noFill/>
                  </a:ln>
                  <a:solidFill>
                    <a:srgbClr val="0042FF"/>
                  </a:solidFill>
                  <a:effectLst/>
                  <a:uLnTx/>
                  <a:uFillTx/>
                  <a:latin typeface="微软雅黑"/>
                  <a:ea typeface="微软雅黑"/>
                  <a:cs typeface="微软雅黑"/>
                  <a:sym typeface="微软雅黑"/>
                </a:rPr>
                <a:t>时间轴流程架构</a:t>
              </a:r>
              <a:endParaRPr lang="zh-CN" sz="3200" b="1" spc="-150" noProof="0" dirty="0">
                <a:ln>
                  <a:noFill/>
                </a:ln>
                <a:solidFill>
                  <a:srgbClr val="0042FF"/>
                </a:solidFill>
                <a:effectLst/>
                <a:uLnTx/>
                <a:uFillTx/>
                <a:latin typeface="微软雅黑"/>
                <a:ea typeface="微软雅黑"/>
                <a:cs typeface="微软雅黑"/>
                <a:sym typeface="微软雅黑"/>
              </a:endParaRPr>
            </a:p>
          </p:txBody>
        </p:sp>
        <p:sp>
          <p:nvSpPr>
            <p:cNvPr id="9" name="文本框 8"/>
            <p:cNvSpPr txBox="1"/>
            <p:nvPr/>
          </p:nvSpPr>
          <p:spPr>
            <a:xfrm>
              <a:off x="4294" y="8789"/>
              <a:ext cx="5370" cy="531"/>
            </a:xfrm>
            <a:prstGeom prst="rect">
              <a:avLst/>
            </a:prstGeom>
            <a:noFill/>
          </p:spPr>
          <p:txBody>
            <a:bodyPr wrap="square" rtlCol="0" anchor="ctr" anchorCtr="0">
              <a:spAutoFit/>
            </a:bodyPr>
            <a:lstStyle/>
            <a:p>
              <a:pPr algn="ctr" fontAlgn="ctr">
                <a:lnSpc>
                  <a:spcPct val="100000"/>
                </a:lnSpc>
                <a:defRPr>
                  <a:latin typeface="微软雅黑"/>
                  <a:ea typeface="微软雅黑"/>
                  <a:cs typeface="微软雅黑"/>
                </a:defRPr>
              </a:pPr>
              <a:r>
                <a:rPr lang="en-US" altLang="zh-CN" sz="1600">
                  <a:solidFill>
                    <a:srgbClr val="383838"/>
                  </a:solidFill>
                  <a:latin typeface="微软雅黑"/>
                  <a:ea typeface="微软雅黑"/>
                  <a:cs typeface="微软雅黑"/>
                  <a:sym typeface="微软雅黑"/>
                </a:rPr>
                <a:t>Time Process Framework</a:t>
              </a:r>
              <a:endParaRPr lang="en-US" altLang="zh-CN" sz="1600">
                <a:solidFill>
                  <a:srgbClr val="383838"/>
                </a:solidFill>
                <a:latin typeface="微软雅黑"/>
                <a:ea typeface="微软雅黑"/>
                <a:cs typeface="微软雅黑"/>
                <a:sym typeface="微软雅黑"/>
              </a:endParaRPr>
            </a:p>
          </p:txBody>
        </p:sp>
        <p:sp>
          <p:nvSpPr>
            <p:cNvPr id="12" name="矩形 11"/>
            <p:cNvSpPr/>
            <p:nvPr/>
          </p:nvSpPr>
          <p:spPr>
            <a:xfrm>
              <a:off x="5041" y="8400"/>
              <a:ext cx="624" cy="57"/>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pSp>
      <p:sp>
        <p:nvSpPr>
          <p:cNvPr id="30" name="文本框 29"/>
          <p:cNvSpPr txBox="1"/>
          <p:nvPr/>
        </p:nvSpPr>
        <p:spPr>
          <a:xfrm>
            <a:off x="2000885" y="833755"/>
            <a:ext cx="1046480" cy="860425"/>
          </a:xfrm>
          <a:prstGeom prst="rect">
            <a:avLst/>
          </a:prstGeom>
          <a:noFill/>
        </p:spPr>
        <p:txBody>
          <a:bodyPr wrap="square" rtlCol="0" anchor="ctr" anchorCtr="0">
            <a:spAutoFit/>
          </a:bodyPr>
          <a:lstStyle/>
          <a:p>
            <a:pPr lvl="0" algn="ctr" fontAlgn="ctr">
              <a:buClrTx/>
              <a:buSzTx/>
              <a:buFontTx/>
              <a:defRPr>
                <a:latin typeface="微软雅黑"/>
                <a:ea typeface="微软雅黑"/>
                <a:cs typeface="微软雅黑"/>
              </a:defRPr>
            </a:pPr>
            <a:r>
              <a:rPr lang="zh-CN" altLang="en-US" sz="5000" b="1">
                <a:solidFill>
                  <a:srgbClr val="383838"/>
                </a:solidFill>
                <a:latin typeface="微软雅黑"/>
                <a:ea typeface="微软雅黑"/>
                <a:cs typeface="微软雅黑"/>
                <a:sym typeface="微软雅黑"/>
              </a:rPr>
              <a:t>⑥</a:t>
            </a:r>
            <a:endParaRPr lang="zh-CN" altLang="en-US" sz="5000" b="1">
              <a:solidFill>
                <a:srgbClr val="383838"/>
              </a:solidFill>
              <a:latin typeface="微软雅黑"/>
              <a:ea typeface="微软雅黑"/>
              <a:cs typeface="微软雅黑"/>
              <a:sym typeface="微软雅黑"/>
            </a:endParaRPr>
          </a:p>
        </p:txBody>
      </p:sp>
      <p:sp>
        <p:nvSpPr>
          <p:cNvPr id="2" name="文本框 1"/>
          <p:cNvSpPr txBox="1"/>
          <p:nvPr/>
        </p:nvSpPr>
        <p:spPr>
          <a:xfrm>
            <a:off x="5887720" y="2181860"/>
            <a:ext cx="5712460" cy="1706880"/>
          </a:xfrm>
          <a:prstGeom prst="rect">
            <a:avLst/>
          </a:prstGeom>
          <a:noFill/>
        </p:spPr>
        <p:txBody>
          <a:bodyPr wrap="square" rtlCol="0">
            <a:spAutoFit/>
          </a:bodyPr>
          <a:lstStyle/>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设计元素：</a:t>
            </a:r>
            <a:r>
              <a:rPr lang="zh-CN" altLang="en-US" sz="1400">
                <a:solidFill>
                  <a:srgbClr val="383838"/>
                </a:solidFill>
                <a:latin typeface="微软雅黑"/>
                <a:ea typeface="微软雅黑"/>
                <a:cs typeface="微软雅黑"/>
              </a:rPr>
              <a:t>以具体业务为场景，分步构建流程逻辑，关键节点标注。</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383838"/>
                </a:solidFill>
                <a:latin typeface="微软雅黑"/>
                <a:ea typeface="微软雅黑"/>
                <a:cs typeface="微软雅黑"/>
              </a:rPr>
              <a:t>应用场景：</a:t>
            </a:r>
            <a:r>
              <a:rPr lang="zh-CN" altLang="en-US" sz="1400">
                <a:solidFill>
                  <a:srgbClr val="383838"/>
                </a:solidFill>
                <a:latin typeface="微软雅黑"/>
                <a:ea typeface="微软雅黑"/>
                <a:cs typeface="微软雅黑"/>
              </a:rPr>
              <a:t>主要应用如</a:t>
            </a:r>
            <a:r>
              <a:rPr lang="zh-CN" sz="1400">
                <a:solidFill>
                  <a:srgbClr val="383838"/>
                </a:solidFill>
                <a:latin typeface="微软雅黑"/>
                <a:ea typeface="微软雅黑"/>
                <a:cs typeface="微软雅黑"/>
              </a:rPr>
              <a:t>电商的流程优化、企业数字化改造的流程、企业战略汇报时的目标与执行路径，</a:t>
            </a:r>
            <a:r>
              <a:rPr lang="zh-CN" altLang="en-US" sz="1400">
                <a:solidFill>
                  <a:srgbClr val="383838"/>
                </a:solidFill>
                <a:latin typeface="微软雅黑"/>
                <a:ea typeface="微软雅黑"/>
                <a:cs typeface="微软雅黑"/>
              </a:rPr>
              <a:t>帮助您构建清晰、高效且可落地的业务流程图解。</a:t>
            </a:r>
            <a:endParaRPr lang="zh-CN" altLang="en-US" sz="1400">
              <a:solidFill>
                <a:srgbClr val="383838"/>
              </a:solidFill>
              <a:latin typeface="微软雅黑"/>
              <a:ea typeface="微软雅黑"/>
              <a:cs typeface="微软雅黑"/>
            </a:endParaRPr>
          </a:p>
          <a:p>
            <a:pPr indent="0" fontAlgn="auto">
              <a:lnSpc>
                <a:spcPct val="150000"/>
              </a:lnSpc>
              <a:defRPr>
                <a:latin typeface="微软雅黑"/>
                <a:ea typeface="微软雅黑"/>
                <a:cs typeface="微软雅黑"/>
              </a:defRPr>
            </a:pPr>
            <a:r>
              <a:rPr lang="zh-CN" altLang="en-US" sz="1400" b="1">
                <a:solidFill>
                  <a:srgbClr val="0042FF"/>
                </a:solidFill>
                <a:latin typeface="微软雅黑"/>
                <a:ea typeface="微软雅黑"/>
                <a:cs typeface="微软雅黑"/>
              </a:rPr>
              <a:t>核心关键词：</a:t>
            </a:r>
            <a:r>
              <a:rPr lang="zh-CN" altLang="en-US" sz="1400">
                <a:solidFill>
                  <a:srgbClr val="383838"/>
                </a:solidFill>
                <a:latin typeface="微软雅黑"/>
                <a:ea typeface="微软雅黑"/>
                <a:cs typeface="微软雅黑"/>
              </a:rPr>
              <a:t>「场景适配、主线流程构建、分层分模块扩展</a:t>
            </a: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a:t>
            </a:r>
            <a:endParaRPr lang="zh-CN" altLang="en-US" sz="1400">
              <a:solidFill>
                <a:srgbClr val="383838"/>
              </a:solidFill>
              <a:latin typeface="微软雅黑"/>
              <a:ea typeface="微软雅黑"/>
              <a:cs typeface="微软雅黑"/>
            </a:endParaRPr>
          </a:p>
        </p:txBody>
      </p:sp>
      <p:grpSp>
        <p:nvGrpSpPr>
          <p:cNvPr id="161" name="组合 160"/>
          <p:cNvGrpSpPr/>
          <p:nvPr>
            <p:custDataLst>
              <p:tags r:id="rId2"/>
            </p:custDataLst>
          </p:nvPr>
        </p:nvGrpSpPr>
        <p:grpSpPr>
          <a:xfrm>
            <a:off x="796925" y="3731895"/>
            <a:ext cx="3519805" cy="1737360"/>
            <a:chOff x="759" y="11416"/>
            <a:chExt cx="6502" cy="3209"/>
          </a:xfrm>
        </p:grpSpPr>
        <p:grpSp>
          <p:nvGrpSpPr>
            <p:cNvPr id="280" name="天蝎PPT原创©1"/>
            <p:cNvGrpSpPr/>
            <p:nvPr>
              <p:custDataLst>
                <p:tags r:id="rId3"/>
              </p:custDataLst>
            </p:nvPr>
          </p:nvGrpSpPr>
          <p:grpSpPr>
            <a:xfrm>
              <a:off x="760" y="11850"/>
              <a:ext cx="6496" cy="2138"/>
              <a:chOff x="371833" y="1813205"/>
              <a:chExt cx="11650653" cy="1175604"/>
            </a:xfrm>
            <a:solidFill>
              <a:srgbClr val="B3D4FE"/>
            </a:solidFill>
          </p:grpSpPr>
          <p:sp>
            <p:nvSpPr>
              <p:cNvPr id="281" name="天蝎PPT原创©1-1"/>
              <p:cNvSpPr/>
              <p:nvPr>
                <p:custDataLst>
                  <p:tags r:id="rId4"/>
                </p:custDataLst>
              </p:nvPr>
            </p:nvSpPr>
            <p:spPr>
              <a:xfrm>
                <a:off x="371833"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282" name="天蝎PPT原创©1-2"/>
              <p:cNvSpPr/>
              <p:nvPr>
                <p:custDataLst>
                  <p:tags r:id="rId5"/>
                </p:custDataLst>
              </p:nvPr>
            </p:nvSpPr>
            <p:spPr>
              <a:xfrm>
                <a:off x="3318233"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287" name="天蝎PPT原创©1-3"/>
              <p:cNvSpPr/>
              <p:nvPr>
                <p:custDataLst>
                  <p:tags r:id="rId6"/>
                </p:custDataLst>
              </p:nvPr>
            </p:nvSpPr>
            <p:spPr>
              <a:xfrm>
                <a:off x="6247699"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288" name="天蝎PPT原创©1-4"/>
              <p:cNvSpPr/>
              <p:nvPr>
                <p:custDataLst>
                  <p:tags r:id="rId7"/>
                </p:custDataLst>
              </p:nvPr>
            </p:nvSpPr>
            <p:spPr>
              <a:xfrm>
                <a:off x="9194099" y="1813205"/>
                <a:ext cx="2828387" cy="1175604"/>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grpSp>
        <p:sp>
          <p:nvSpPr>
            <p:cNvPr id="289" name="天蝎PPT原创©2-1"/>
            <p:cNvSpPr/>
            <p:nvPr>
              <p:custDataLst>
                <p:tags r:id="rId8"/>
              </p:custDataLst>
            </p:nvPr>
          </p:nvSpPr>
          <p:spPr>
            <a:xfrm>
              <a:off x="765" y="11850"/>
              <a:ext cx="1577" cy="551"/>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290" name="天蝎PPT原创©2-2"/>
            <p:cNvSpPr/>
            <p:nvPr>
              <p:custDataLst>
                <p:tags r:id="rId9"/>
              </p:custDataLst>
            </p:nvPr>
          </p:nvSpPr>
          <p:spPr>
            <a:xfrm>
              <a:off x="2408" y="11850"/>
              <a:ext cx="1577" cy="551"/>
            </a:xfrm>
            <a:prstGeom prst="rect">
              <a:avLst/>
            </a:prstGeom>
            <a:solidFill>
              <a:srgbClr val="3368FF"/>
            </a:solidFill>
            <a:ln>
              <a:noFill/>
            </a:ln>
          </p:spPr>
          <p:txBody>
            <a:bodyPr spcFirstLastPara="1" wrap="square" lIns="0" tIns="0" rIns="0" bIns="0" rtlCol="0" anchor="ctr" anchorCtr="0">
              <a:noAutofit/>
            </a:bodyPr>
            <a:lstStyle/>
            <a:p>
              <a:pPr lvl="0" algn="ctr">
                <a:buClr>
                  <a:srgbClr val="383838"/>
                </a:buClr>
                <a:buSzPts val="1100"/>
                <a:buFontTx/>
                <a:defRPr>
                  <a:solidFill>
                    <a:srgbClr val="FFFFFF"/>
                  </a:solidFill>
                  <a:latin typeface="微软雅黑"/>
                  <a:ea typeface="微软雅黑"/>
                  <a:cs typeface="微软雅黑"/>
                </a:defRPr>
              </a:pPr>
              <a:endParaRPr sz="1465">
                <a:solidFill>
                  <a:srgbClr val="FFFFFF"/>
                </a:solidFill>
                <a:latin typeface="微软雅黑"/>
                <a:ea typeface="微软雅黑"/>
                <a:cs typeface="微软雅黑"/>
                <a:sym typeface="微软雅黑"/>
              </a:endParaRPr>
            </a:p>
          </p:txBody>
        </p:sp>
        <p:sp>
          <p:nvSpPr>
            <p:cNvPr id="296" name="天蝎PPT原创©2-3"/>
            <p:cNvSpPr/>
            <p:nvPr>
              <p:custDataLst>
                <p:tags r:id="rId10"/>
              </p:custDataLst>
            </p:nvPr>
          </p:nvSpPr>
          <p:spPr>
            <a:xfrm>
              <a:off x="4042" y="11850"/>
              <a:ext cx="1577" cy="551"/>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297" name="天蝎PPT原创©2-4"/>
            <p:cNvSpPr/>
            <p:nvPr>
              <p:custDataLst>
                <p:tags r:id="rId11"/>
              </p:custDataLst>
            </p:nvPr>
          </p:nvSpPr>
          <p:spPr>
            <a:xfrm>
              <a:off x="5684" y="11850"/>
              <a:ext cx="1577" cy="551"/>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298" name="天蝎PPT原创©7"/>
            <p:cNvSpPr/>
            <p:nvPr>
              <p:custDataLst>
                <p:tags r:id="rId12"/>
              </p:custDataLst>
            </p:nvPr>
          </p:nvSpPr>
          <p:spPr>
            <a:xfrm>
              <a:off x="765" y="14069"/>
              <a:ext cx="1040" cy="556"/>
            </a:xfrm>
            <a:prstGeom prst="rect">
              <a:avLst/>
            </a:prstGeom>
            <a:solidFill>
              <a:srgbClr val="3368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99" name="天蝎PPT原创©8"/>
            <p:cNvSpPr/>
            <p:nvPr>
              <p:custDataLst>
                <p:tags r:id="rId13"/>
              </p:custDataLst>
            </p:nvPr>
          </p:nvSpPr>
          <p:spPr>
            <a:xfrm>
              <a:off x="1848" y="14069"/>
              <a:ext cx="5413" cy="556"/>
            </a:xfrm>
            <a:prstGeom prst="rect">
              <a:avLst/>
            </a:pr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algn="ctr">
                <a:defRPr>
                  <a:solidFill>
                    <a:srgbClr val="383838"/>
                  </a:solidFill>
                  <a:latin typeface="微软雅黑"/>
                  <a:ea typeface="微软雅黑"/>
                  <a:cs typeface="微软雅黑"/>
                </a:defRPr>
              </a:pPr>
              <a:endParaRPr kumimoji="1" lang="zh-CN" altLang="en-US" dirty="0">
                <a:solidFill>
                  <a:srgbClr val="383838"/>
                </a:solidFill>
                <a:latin typeface="微软雅黑"/>
                <a:ea typeface="微软雅黑"/>
                <a:cs typeface="微软雅黑"/>
                <a:sym typeface="微软雅黑"/>
              </a:endParaRPr>
            </a:p>
          </p:txBody>
        </p:sp>
        <p:sp>
          <p:nvSpPr>
            <p:cNvPr id="300" name="天蝎PPT原创©18"/>
            <p:cNvSpPr/>
            <p:nvPr>
              <p:custDataLst>
                <p:tags r:id="rId14"/>
              </p:custDataLst>
            </p:nvPr>
          </p:nvSpPr>
          <p:spPr>
            <a:xfrm rot="5400000">
              <a:off x="3849" y="8442"/>
              <a:ext cx="438" cy="6386"/>
            </a:xfrm>
            <a:custGeom>
              <a:avLst/>
              <a:gdLst>
                <a:gd name="connsiteX0" fmla="*/ 0 w 298898"/>
                <a:gd name="connsiteY0" fmla="*/ 257670 h 10698196"/>
                <a:gd name="connsiteX1" fmla="*/ 149449 w 298898"/>
                <a:gd name="connsiteY1" fmla="*/ 0 h 10698196"/>
                <a:gd name="connsiteX2" fmla="*/ 298898 w 298898"/>
                <a:gd name="connsiteY2" fmla="*/ 257670 h 10698196"/>
                <a:gd name="connsiteX3" fmla="*/ 213612 w 298898"/>
                <a:gd name="connsiteY3" fmla="*/ 257670 h 10698196"/>
                <a:gd name="connsiteX4" fmla="*/ 213612 w 298898"/>
                <a:gd name="connsiteY4" fmla="*/ 10698196 h 10698196"/>
                <a:gd name="connsiteX5" fmla="*/ 87002 w 298898"/>
                <a:gd name="connsiteY5" fmla="*/ 10698196 h 10698196"/>
                <a:gd name="connsiteX6" fmla="*/ 87002 w 298898"/>
                <a:gd name="connsiteY6" fmla="*/ 257670 h 10698196"/>
                <a:gd name="connsiteX0-1" fmla="*/ 0 w 270261"/>
                <a:gd name="connsiteY0-2" fmla="*/ 271117 h 10698196"/>
                <a:gd name="connsiteX1-3" fmla="*/ 120812 w 270261"/>
                <a:gd name="connsiteY1-4" fmla="*/ 0 h 10698196"/>
                <a:gd name="connsiteX2-5" fmla="*/ 270261 w 270261"/>
                <a:gd name="connsiteY2-6" fmla="*/ 257670 h 10698196"/>
                <a:gd name="connsiteX3-7" fmla="*/ 184975 w 270261"/>
                <a:gd name="connsiteY3-8" fmla="*/ 257670 h 10698196"/>
                <a:gd name="connsiteX4-9" fmla="*/ 184975 w 270261"/>
                <a:gd name="connsiteY4-10" fmla="*/ 10698196 h 10698196"/>
                <a:gd name="connsiteX5-11" fmla="*/ 58365 w 270261"/>
                <a:gd name="connsiteY5-12" fmla="*/ 10698196 h 10698196"/>
                <a:gd name="connsiteX6-13" fmla="*/ 58365 w 270261"/>
                <a:gd name="connsiteY6-14" fmla="*/ 257670 h 10698196"/>
                <a:gd name="connsiteX7" fmla="*/ 0 w 270261"/>
                <a:gd name="connsiteY7" fmla="*/ 271117 h 10698196"/>
                <a:gd name="connsiteX0-15" fmla="*/ 0 w 270261"/>
                <a:gd name="connsiteY0-16" fmla="*/ 432483 h 10859562"/>
                <a:gd name="connsiteX1-17" fmla="*/ 120813 w 270261"/>
                <a:gd name="connsiteY1-18" fmla="*/ 0 h 10859562"/>
                <a:gd name="connsiteX2-19" fmla="*/ 270261 w 270261"/>
                <a:gd name="connsiteY2-20" fmla="*/ 419036 h 10859562"/>
                <a:gd name="connsiteX3-21" fmla="*/ 184975 w 270261"/>
                <a:gd name="connsiteY3-22" fmla="*/ 419036 h 10859562"/>
                <a:gd name="connsiteX4-23" fmla="*/ 184975 w 270261"/>
                <a:gd name="connsiteY4-24" fmla="*/ 10859562 h 10859562"/>
                <a:gd name="connsiteX5-25" fmla="*/ 58365 w 270261"/>
                <a:gd name="connsiteY5-26" fmla="*/ 10859562 h 10859562"/>
                <a:gd name="connsiteX6-27" fmla="*/ 58365 w 270261"/>
                <a:gd name="connsiteY6-28" fmla="*/ 419036 h 10859562"/>
                <a:gd name="connsiteX7-29" fmla="*/ 0 w 270261"/>
                <a:gd name="connsiteY7-30" fmla="*/ 432483 h 10859562"/>
                <a:gd name="connsiteX0-31" fmla="*/ 0 w 237533"/>
                <a:gd name="connsiteY0-32" fmla="*/ 432483 h 10859562"/>
                <a:gd name="connsiteX1-33" fmla="*/ 120813 w 237533"/>
                <a:gd name="connsiteY1-34" fmla="*/ 0 h 10859562"/>
                <a:gd name="connsiteX2-35" fmla="*/ 237533 w 237533"/>
                <a:gd name="connsiteY2-36" fmla="*/ 405589 h 10859562"/>
                <a:gd name="connsiteX3-37" fmla="*/ 184975 w 237533"/>
                <a:gd name="connsiteY3-38" fmla="*/ 419036 h 10859562"/>
                <a:gd name="connsiteX4-39" fmla="*/ 184975 w 237533"/>
                <a:gd name="connsiteY4-40" fmla="*/ 10859562 h 10859562"/>
                <a:gd name="connsiteX5-41" fmla="*/ 58365 w 237533"/>
                <a:gd name="connsiteY5-42" fmla="*/ 10859562 h 10859562"/>
                <a:gd name="connsiteX6-43" fmla="*/ 58365 w 237533"/>
                <a:gd name="connsiteY6-44" fmla="*/ 419036 h 10859562"/>
                <a:gd name="connsiteX7-45" fmla="*/ 0 w 237533"/>
                <a:gd name="connsiteY7-46" fmla="*/ 432483 h 1085956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29" y="connsiteY7-30"/>
                </a:cxn>
              </a:cxnLst>
              <a:rect l="l" t="t" r="r" b="b"/>
              <a:pathLst>
                <a:path w="237533" h="10859562">
                  <a:moveTo>
                    <a:pt x="0" y="432483"/>
                  </a:moveTo>
                  <a:lnTo>
                    <a:pt x="120813" y="0"/>
                  </a:lnTo>
                  <a:lnTo>
                    <a:pt x="237533" y="405589"/>
                  </a:lnTo>
                  <a:lnTo>
                    <a:pt x="184975" y="419036"/>
                  </a:lnTo>
                  <a:lnTo>
                    <a:pt x="184975" y="10859562"/>
                  </a:lnTo>
                  <a:lnTo>
                    <a:pt x="58365" y="10859562"/>
                  </a:lnTo>
                  <a:lnTo>
                    <a:pt x="58365" y="419036"/>
                  </a:lnTo>
                  <a:cubicBezTo>
                    <a:pt x="29364" y="419036"/>
                    <a:pt x="29001" y="432483"/>
                    <a:pt x="0" y="432483"/>
                  </a:cubicBezTo>
                  <a:close/>
                </a:path>
              </a:pathLst>
            </a:custGeom>
            <a:solidFill>
              <a:srgbClr val="668EFF"/>
            </a:soli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301" name="天蝎PPT原创©25"/>
            <p:cNvSpPr/>
            <p:nvPr>
              <p:custDataLst>
                <p:tags r:id="rId15"/>
              </p:custDataLst>
            </p:nvPr>
          </p:nvSpPr>
          <p:spPr>
            <a:xfrm>
              <a:off x="2396"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306" name="天蝎PPT原创©27"/>
            <p:cNvSpPr/>
            <p:nvPr>
              <p:custDataLst>
                <p:tags r:id="rId16"/>
              </p:custDataLst>
            </p:nvPr>
          </p:nvSpPr>
          <p:spPr>
            <a:xfrm>
              <a:off x="4019"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307" name="天蝎PPT原创©29"/>
            <p:cNvSpPr/>
            <p:nvPr>
              <p:custDataLst>
                <p:tags r:id="rId17"/>
              </p:custDataLst>
            </p:nvPr>
          </p:nvSpPr>
          <p:spPr>
            <a:xfrm>
              <a:off x="5624"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308" name="天蝎PPT原创©17"/>
            <p:cNvSpPr/>
            <p:nvPr>
              <p:custDataLst>
                <p:tags r:id="rId18"/>
              </p:custDataLst>
            </p:nvPr>
          </p:nvSpPr>
          <p:spPr>
            <a:xfrm>
              <a:off x="759" y="11521"/>
              <a:ext cx="236" cy="236"/>
            </a:xfrm>
            <a:prstGeom prst="ellipse">
              <a:avLst/>
            </a:prstGeom>
            <a:solidFill>
              <a:srgbClr val="3368FF"/>
            </a:solidFill>
            <a:ln w="12700" cap="flat" cmpd="sng" algn="ctr">
              <a:noFill/>
              <a:prstDash val="solid"/>
              <a:miter lim="800000"/>
            </a:ln>
            <a:effectLst>
              <a:outerShdw blurRad="381000" dist="190500" dir="5400000" sx="90000" sy="90000" algn="ctr" rotWithShape="0">
                <a:srgbClr val="0042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gr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文本框 96"/>
          <p:cNvSpPr txBox="1"/>
          <p:nvPr/>
        </p:nvSpPr>
        <p:spPr>
          <a:xfrm rot="20820000">
            <a:off x="6416040" y="2844165"/>
            <a:ext cx="949960" cy="306705"/>
          </a:xfrm>
          <a:prstGeom prst="rect">
            <a:avLst/>
          </a:prstGeom>
          <a:noFill/>
        </p:spPr>
        <p:txBody>
          <a:bodyPr wrap="square" rtlCol="0">
            <a:spAutoFit/>
          </a:bodyPr>
          <a:p>
            <a:pPr>
              <a:defRPr>
                <a:latin typeface="微软雅黑"/>
                <a:ea typeface="微软雅黑"/>
                <a:cs typeface="微软雅黑"/>
              </a:defRPr>
            </a:pPr>
            <a:r>
              <a:rPr lang="zh-CN" altLang="en-US" sz="1400" b="1">
                <a:solidFill>
                  <a:srgbClr val="383838"/>
                </a:solidFill>
                <a:latin typeface="微软雅黑"/>
                <a:ea typeface="微软雅黑"/>
                <a:cs typeface="微软雅黑"/>
              </a:rPr>
              <a:t>近期目标</a:t>
            </a:r>
            <a:endParaRPr lang="zh-CN" altLang="en-US" sz="1400" b="1">
              <a:solidFill>
                <a:srgbClr val="383838"/>
              </a:solidFill>
              <a:latin typeface="微软雅黑"/>
              <a:ea typeface="微软雅黑"/>
              <a:cs typeface="微软雅黑"/>
            </a:endParaRPr>
          </a:p>
        </p:txBody>
      </p:sp>
      <p:sp>
        <p:nvSpPr>
          <p:cNvPr id="99" name="文本框 98"/>
          <p:cNvSpPr txBox="1"/>
          <p:nvPr/>
        </p:nvSpPr>
        <p:spPr>
          <a:xfrm rot="21000000">
            <a:off x="5031105" y="3418840"/>
            <a:ext cx="2781935" cy="30670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rPr>
              <a:t>数据治理，一直在路上</a:t>
            </a:r>
            <a:r>
              <a:rPr lang="en-US" altLang="zh-CN" sz="1400">
                <a:solidFill>
                  <a:srgbClr val="383838"/>
                </a:solidFill>
                <a:latin typeface="微软雅黑"/>
                <a:ea typeface="微软雅黑"/>
                <a:cs typeface="微软雅黑"/>
              </a:rPr>
              <a:t>……</a:t>
            </a:r>
            <a:endParaRPr lang="en-US" altLang="zh-CN" sz="1400">
              <a:solidFill>
                <a:srgbClr val="383838"/>
              </a:solidFill>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银行业数据资本化发展</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五边形 2"/>
          <p:cNvSpPr/>
          <p:nvPr/>
        </p:nvSpPr>
        <p:spPr>
          <a:xfrm>
            <a:off x="1008380" y="2491740"/>
            <a:ext cx="1903730" cy="409575"/>
          </a:xfrm>
          <a:prstGeom prst="homePlate">
            <a:avLst>
              <a:gd name="adj" fmla="val 43050"/>
            </a:avLst>
          </a:prstGeom>
          <a:gradFill>
            <a:gsLst>
              <a:gs pos="0">
                <a:srgbClr val="668EFF"/>
              </a:gs>
              <a:gs pos="42000">
                <a:srgbClr val="3368FF"/>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2" name="文本框 11"/>
          <p:cNvSpPr txBox="1"/>
          <p:nvPr/>
        </p:nvSpPr>
        <p:spPr>
          <a:xfrm>
            <a:off x="1245870" y="2527935"/>
            <a:ext cx="1111250" cy="33718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发展历程</a:t>
            </a:r>
            <a:endParaRPr lang="zh-CN" altLang="en-US" sz="1600" b="1">
              <a:solidFill>
                <a:srgbClr val="FFFFFF"/>
              </a:solidFill>
              <a:latin typeface="微软雅黑"/>
              <a:ea typeface="微软雅黑"/>
              <a:cs typeface="微软雅黑"/>
            </a:endParaRPr>
          </a:p>
        </p:txBody>
      </p:sp>
      <p:sp>
        <p:nvSpPr>
          <p:cNvPr id="14" name="任意多边形 13"/>
          <p:cNvSpPr/>
          <p:nvPr/>
        </p:nvSpPr>
        <p:spPr>
          <a:xfrm>
            <a:off x="2459990" y="2597150"/>
            <a:ext cx="223520" cy="198755"/>
          </a:xfrm>
          <a:custGeom>
            <a:avLst/>
            <a:gdLst>
              <a:gd name="adj" fmla="val 82692"/>
              <a:gd name="maxAdj" fmla="*/ 100000 w ss"/>
              <a:gd name="a" fmla="pin 0 adj maxAdj"/>
              <a:gd name="x1" fmla="*/ ss a 100000"/>
              <a:gd name="x2" fmla="+- r 0 x1"/>
              <a:gd name="x3" fmla="*/ x2 1 2"/>
              <a:gd name="dx" fmla="+- x2 0 x1"/>
              <a:gd name="il" fmla="?: dx x1 l"/>
              <a:gd name="ir" fmla="?: dx x2 r"/>
            </a:gdLst>
            <a:ahLst/>
            <a:cxnLst>
              <a:cxn ang="3">
                <a:pos x="x3" y="t"/>
              </a:cxn>
              <a:cxn ang="cd2">
                <a:pos x="x1" y="vc"/>
              </a:cxn>
              <a:cxn ang="cd4">
                <a:pos x="x3" y="b"/>
              </a:cxn>
              <a:cxn ang="0">
                <a:pos x="r" y="vc"/>
              </a:cxn>
            </a:cxnLst>
            <a:rect l="l" t="t" r="r" b="b"/>
            <a:pathLst>
              <a:path w="263" h="234">
                <a:moveTo>
                  <a:pt x="0" y="0"/>
                </a:moveTo>
                <a:lnTo>
                  <a:pt x="21" y="0"/>
                </a:lnTo>
                <a:lnTo>
                  <a:pt x="120" y="117"/>
                </a:lnTo>
                <a:lnTo>
                  <a:pt x="21" y="234"/>
                </a:lnTo>
                <a:lnTo>
                  <a:pt x="0" y="234"/>
                </a:lnTo>
                <a:lnTo>
                  <a:pt x="99" y="117"/>
                </a:lnTo>
                <a:lnTo>
                  <a:pt x="0" y="0"/>
                </a:lnTo>
                <a:close/>
                <a:moveTo>
                  <a:pt x="143" y="0"/>
                </a:moveTo>
                <a:lnTo>
                  <a:pt x="164" y="0"/>
                </a:lnTo>
                <a:lnTo>
                  <a:pt x="263" y="117"/>
                </a:lnTo>
                <a:lnTo>
                  <a:pt x="164" y="234"/>
                </a:lnTo>
                <a:lnTo>
                  <a:pt x="143" y="234"/>
                </a:lnTo>
                <a:lnTo>
                  <a:pt x="242" y="117"/>
                </a:lnTo>
                <a:lnTo>
                  <a:pt x="143" y="0"/>
                </a:lnTo>
                <a:close/>
              </a:path>
            </a:pathLst>
          </a:custGeom>
          <a:noFill/>
          <a:ln>
            <a:gradFill>
              <a:gsLst>
                <a:gs pos="0">
                  <a:srgbClr val="FFFFFF">
                    <a:alpha val="50000"/>
                  </a:srgbClr>
                </a:gs>
                <a:gs pos="100000">
                  <a:srgbClr val="FFFFFF"/>
                </a:gs>
              </a:gsLst>
              <a:lin ang="0" scaled="1"/>
            </a:gra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8" name="任意多边形 67"/>
          <p:cNvSpPr/>
          <p:nvPr/>
        </p:nvSpPr>
        <p:spPr>
          <a:xfrm>
            <a:off x="1063625" y="4069715"/>
            <a:ext cx="2476500" cy="8547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3900" h="1346">
                <a:moveTo>
                  <a:pt x="3329" y="215"/>
                </a:moveTo>
                <a:lnTo>
                  <a:pt x="3420" y="0"/>
                </a:lnTo>
                <a:lnTo>
                  <a:pt x="3515" y="228"/>
                </a:lnTo>
                <a:lnTo>
                  <a:pt x="3512" y="228"/>
                </a:lnTo>
                <a:lnTo>
                  <a:pt x="3900" y="1346"/>
                </a:lnTo>
                <a:lnTo>
                  <a:pt x="0" y="1346"/>
                </a:lnTo>
                <a:lnTo>
                  <a:pt x="0" y="215"/>
                </a:lnTo>
                <a:lnTo>
                  <a:pt x="3329" y="215"/>
                </a:lnTo>
                <a:close/>
              </a:path>
            </a:pathLst>
          </a:custGeom>
          <a:gradFill>
            <a:gsLst>
              <a:gs pos="0">
                <a:srgbClr val="E6E6E6"/>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sp>
        <p:nvSpPr>
          <p:cNvPr id="69" name="任意多边形 68"/>
          <p:cNvSpPr/>
          <p:nvPr/>
        </p:nvSpPr>
        <p:spPr>
          <a:xfrm>
            <a:off x="3399245" y="3900426"/>
            <a:ext cx="2624958" cy="1023999"/>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4134" h="1613">
                <a:moveTo>
                  <a:pt x="4134" y="1513"/>
                </a:moveTo>
                <a:lnTo>
                  <a:pt x="3854" y="1532"/>
                </a:lnTo>
                <a:lnTo>
                  <a:pt x="3481" y="1553"/>
                </a:lnTo>
                <a:lnTo>
                  <a:pt x="3105" y="1571"/>
                </a:lnTo>
                <a:lnTo>
                  <a:pt x="2726" y="1586"/>
                </a:lnTo>
                <a:lnTo>
                  <a:pt x="2344" y="1598"/>
                </a:lnTo>
                <a:lnTo>
                  <a:pt x="1960" y="1606"/>
                </a:lnTo>
                <a:lnTo>
                  <a:pt x="1573" y="1611"/>
                </a:lnTo>
                <a:lnTo>
                  <a:pt x="1183" y="1613"/>
                </a:lnTo>
                <a:lnTo>
                  <a:pt x="794" y="1611"/>
                </a:lnTo>
                <a:lnTo>
                  <a:pt x="457" y="1607"/>
                </a:lnTo>
                <a:lnTo>
                  <a:pt x="0" y="448"/>
                </a:lnTo>
                <a:lnTo>
                  <a:pt x="42" y="446"/>
                </a:lnTo>
                <a:lnTo>
                  <a:pt x="420" y="432"/>
                </a:lnTo>
                <a:lnTo>
                  <a:pt x="801" y="414"/>
                </a:lnTo>
                <a:lnTo>
                  <a:pt x="1181" y="392"/>
                </a:lnTo>
                <a:lnTo>
                  <a:pt x="1559" y="367"/>
                </a:lnTo>
                <a:lnTo>
                  <a:pt x="1933" y="338"/>
                </a:lnTo>
                <a:lnTo>
                  <a:pt x="2306" y="306"/>
                </a:lnTo>
                <a:lnTo>
                  <a:pt x="2675" y="270"/>
                </a:lnTo>
                <a:lnTo>
                  <a:pt x="3041" y="231"/>
                </a:lnTo>
                <a:lnTo>
                  <a:pt x="3157" y="217"/>
                </a:lnTo>
                <a:lnTo>
                  <a:pt x="3211" y="0"/>
                </a:lnTo>
                <a:lnTo>
                  <a:pt x="3341" y="210"/>
                </a:lnTo>
                <a:lnTo>
                  <a:pt x="3334" y="211"/>
                </a:lnTo>
                <a:lnTo>
                  <a:pt x="4134" y="1513"/>
                </a:lnTo>
                <a:close/>
              </a:path>
            </a:pathLst>
          </a:custGeom>
          <a:gradFill>
            <a:gsLst>
              <a:gs pos="0">
                <a:srgbClr val="3368FF"/>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70" name="任意多边形 69"/>
          <p:cNvSpPr/>
          <p:nvPr/>
        </p:nvSpPr>
        <p:spPr>
          <a:xfrm>
            <a:off x="8086133" y="2724693"/>
            <a:ext cx="3127633" cy="1784046"/>
          </a:xfrm>
          <a:custGeom>
            <a:avLst/>
            <a:gdLst>
              <a:gd name="idx" fmla="cos wd2 2700000"/>
              <a:gd name="idy" fmla="sin hd2 2700000"/>
              <a:gd name="il" fmla="+- hc 0 idx"/>
              <a:gd name="ir" fmla="+- hc idx 0"/>
              <a:gd name="it" fmla="+- vc 0 idy"/>
              <a:gd name="ib" fmla="+- vc idy 0"/>
            </a:gdLst>
            <a:ahLst/>
            <a:cxnLst>
              <a:cxn ang="3">
                <a:pos x="hc" y="t"/>
              </a:cxn>
              <a:cxn ang="3">
                <a:pos x="il" y="it"/>
              </a:cxn>
              <a:cxn ang="cd2">
                <a:pos x="l" y="vc"/>
              </a:cxn>
              <a:cxn ang="cd4">
                <a:pos x="il" y="ib"/>
              </a:cxn>
              <a:cxn ang="cd4">
                <a:pos x="hc" y="b"/>
              </a:cxn>
              <a:cxn ang="cd4">
                <a:pos x="ir" y="ib"/>
              </a:cxn>
              <a:cxn ang="0">
                <a:pos x="r" y="vc"/>
              </a:cxn>
              <a:cxn ang="3">
                <a:pos x="ir" y="it"/>
              </a:cxn>
            </a:cxnLst>
            <a:rect l="l" t="t" r="r" b="b"/>
            <a:pathLst>
              <a:path w="4925" h="2810">
                <a:moveTo>
                  <a:pt x="4925" y="1774"/>
                </a:moveTo>
                <a:lnTo>
                  <a:pt x="4687" y="1863"/>
                </a:lnTo>
                <a:lnTo>
                  <a:pt x="4437" y="1952"/>
                </a:lnTo>
                <a:lnTo>
                  <a:pt x="4181" y="2038"/>
                </a:lnTo>
                <a:lnTo>
                  <a:pt x="3919" y="2122"/>
                </a:lnTo>
                <a:lnTo>
                  <a:pt x="3650" y="2204"/>
                </a:lnTo>
                <a:lnTo>
                  <a:pt x="3376" y="2284"/>
                </a:lnTo>
                <a:lnTo>
                  <a:pt x="3096" y="2362"/>
                </a:lnTo>
                <a:lnTo>
                  <a:pt x="2811" y="2438"/>
                </a:lnTo>
                <a:lnTo>
                  <a:pt x="2520" y="2511"/>
                </a:lnTo>
                <a:lnTo>
                  <a:pt x="2223" y="2582"/>
                </a:lnTo>
                <a:lnTo>
                  <a:pt x="1921" y="2650"/>
                </a:lnTo>
                <a:lnTo>
                  <a:pt x="1614" y="2716"/>
                </a:lnTo>
                <a:lnTo>
                  <a:pt x="1302" y="2779"/>
                </a:lnTo>
                <a:lnTo>
                  <a:pt x="1145" y="2810"/>
                </a:lnTo>
                <a:lnTo>
                  <a:pt x="0" y="1315"/>
                </a:lnTo>
                <a:lnTo>
                  <a:pt x="85" y="1294"/>
                </a:lnTo>
                <a:lnTo>
                  <a:pt x="396" y="1214"/>
                </a:lnTo>
                <a:lnTo>
                  <a:pt x="702" y="1131"/>
                </a:lnTo>
                <a:lnTo>
                  <a:pt x="1002" y="1045"/>
                </a:lnTo>
                <a:lnTo>
                  <a:pt x="1298" y="957"/>
                </a:lnTo>
                <a:lnTo>
                  <a:pt x="1589" y="867"/>
                </a:lnTo>
                <a:lnTo>
                  <a:pt x="1874" y="774"/>
                </a:lnTo>
                <a:lnTo>
                  <a:pt x="2154" y="679"/>
                </a:lnTo>
                <a:lnTo>
                  <a:pt x="2429" y="581"/>
                </a:lnTo>
                <a:lnTo>
                  <a:pt x="2698" y="482"/>
                </a:lnTo>
                <a:lnTo>
                  <a:pt x="2961" y="380"/>
                </a:lnTo>
                <a:lnTo>
                  <a:pt x="3218" y="276"/>
                </a:lnTo>
                <a:lnTo>
                  <a:pt x="3308" y="238"/>
                </a:lnTo>
                <a:lnTo>
                  <a:pt x="3303" y="0"/>
                </a:lnTo>
                <a:lnTo>
                  <a:pt x="3483" y="169"/>
                </a:lnTo>
                <a:lnTo>
                  <a:pt x="3483" y="170"/>
                </a:lnTo>
                <a:lnTo>
                  <a:pt x="4925" y="1774"/>
                </a:lnTo>
                <a:close/>
              </a:path>
            </a:pathLst>
          </a:custGeom>
          <a:gradFill>
            <a:gsLst>
              <a:gs pos="0">
                <a:srgbClr val="B3D4FE"/>
              </a:gs>
              <a:gs pos="100000">
                <a:srgbClr val="3368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1" name="任意多边形 70"/>
          <p:cNvSpPr/>
          <p:nvPr/>
        </p:nvSpPr>
        <p:spPr>
          <a:xfrm rot="20700000">
            <a:off x="5759270" y="3627632"/>
            <a:ext cx="2789717" cy="1291859"/>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4393" h="2034">
                <a:moveTo>
                  <a:pt x="3498" y="302"/>
                </a:moveTo>
                <a:lnTo>
                  <a:pt x="3588" y="88"/>
                </a:lnTo>
                <a:lnTo>
                  <a:pt x="3684" y="316"/>
                </a:lnTo>
                <a:lnTo>
                  <a:pt x="3683" y="316"/>
                </a:lnTo>
                <a:lnTo>
                  <a:pt x="4393" y="2034"/>
                </a:lnTo>
                <a:lnTo>
                  <a:pt x="4136" y="2013"/>
                </a:lnTo>
                <a:lnTo>
                  <a:pt x="3807" y="1983"/>
                </a:lnTo>
                <a:lnTo>
                  <a:pt x="3473" y="1948"/>
                </a:lnTo>
                <a:lnTo>
                  <a:pt x="3136" y="1911"/>
                </a:lnTo>
                <a:lnTo>
                  <a:pt x="2796" y="1868"/>
                </a:lnTo>
                <a:lnTo>
                  <a:pt x="2452" y="1823"/>
                </a:lnTo>
                <a:lnTo>
                  <a:pt x="2105" y="1773"/>
                </a:lnTo>
                <a:lnTo>
                  <a:pt x="1755" y="1720"/>
                </a:lnTo>
                <a:lnTo>
                  <a:pt x="1402" y="1664"/>
                </a:lnTo>
                <a:lnTo>
                  <a:pt x="1046" y="1602"/>
                </a:lnTo>
                <a:lnTo>
                  <a:pt x="687" y="1538"/>
                </a:lnTo>
                <a:lnTo>
                  <a:pt x="443" y="1492"/>
                </a:lnTo>
                <a:lnTo>
                  <a:pt x="0" y="0"/>
                </a:lnTo>
                <a:lnTo>
                  <a:pt x="235" y="33"/>
                </a:lnTo>
                <a:lnTo>
                  <a:pt x="591" y="78"/>
                </a:lnTo>
                <a:lnTo>
                  <a:pt x="945" y="118"/>
                </a:lnTo>
                <a:lnTo>
                  <a:pt x="1296" y="156"/>
                </a:lnTo>
                <a:lnTo>
                  <a:pt x="1644" y="189"/>
                </a:lnTo>
                <a:lnTo>
                  <a:pt x="1990" y="219"/>
                </a:lnTo>
                <a:lnTo>
                  <a:pt x="2332" y="244"/>
                </a:lnTo>
                <a:lnTo>
                  <a:pt x="2671" y="265"/>
                </a:lnTo>
                <a:lnTo>
                  <a:pt x="3007" y="283"/>
                </a:lnTo>
                <a:lnTo>
                  <a:pt x="3339" y="297"/>
                </a:lnTo>
                <a:lnTo>
                  <a:pt x="3498" y="302"/>
                </a:lnTo>
                <a:close/>
              </a:path>
            </a:pathLst>
          </a:custGeom>
          <a:gradFill>
            <a:gsLst>
              <a:gs pos="0">
                <a:srgbClr val="FFFFFF"/>
              </a:gs>
              <a:gs pos="100000">
                <a:srgbClr val="B3D4FE"/>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3" name="椭圆 72"/>
          <p:cNvSpPr/>
          <p:nvPr>
            <p:custDataLst>
              <p:tags r:id="rId3"/>
            </p:custDataLst>
          </p:nvPr>
        </p:nvSpPr>
        <p:spPr>
          <a:xfrm>
            <a:off x="2025650" y="5813425"/>
            <a:ext cx="723900" cy="723900"/>
          </a:xfrm>
          <a:prstGeom prst="ellipse">
            <a:avLst/>
          </a:prstGeom>
          <a:solidFill>
            <a:srgbClr val="FFFFFF"/>
          </a:solidFill>
          <a:ln>
            <a:gradFill>
              <a:gsLst>
                <a:gs pos="0">
                  <a:srgbClr val="668EFF"/>
                </a:gs>
                <a:gs pos="10000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4" name="椭圆 73"/>
          <p:cNvSpPr/>
          <p:nvPr>
            <p:custDataLst>
              <p:tags r:id="rId4"/>
            </p:custDataLst>
          </p:nvPr>
        </p:nvSpPr>
        <p:spPr>
          <a:xfrm>
            <a:off x="4512945" y="5813425"/>
            <a:ext cx="723900" cy="723900"/>
          </a:xfrm>
          <a:prstGeom prst="ellipse">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5" name="椭圆 74"/>
          <p:cNvSpPr/>
          <p:nvPr>
            <p:custDataLst>
              <p:tags r:id="rId5"/>
            </p:custDataLst>
          </p:nvPr>
        </p:nvSpPr>
        <p:spPr>
          <a:xfrm>
            <a:off x="7000240" y="5813425"/>
            <a:ext cx="723900" cy="723900"/>
          </a:xfrm>
          <a:prstGeom prst="ellipse">
            <a:avLst/>
          </a:prstGeom>
          <a:solidFill>
            <a:srgbClr val="FFFFFF"/>
          </a:solidFill>
          <a:ln>
            <a:gradFill>
              <a:gsLst>
                <a:gs pos="0">
                  <a:srgbClr val="B3D4FE"/>
                </a:gs>
                <a:gs pos="100000">
                  <a:srgbClr val="B3D4FE"/>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6" name="椭圆 75"/>
          <p:cNvSpPr/>
          <p:nvPr>
            <p:custDataLst>
              <p:tags r:id="rId6"/>
            </p:custDataLst>
          </p:nvPr>
        </p:nvSpPr>
        <p:spPr>
          <a:xfrm>
            <a:off x="9487535" y="5813425"/>
            <a:ext cx="723900" cy="723900"/>
          </a:xfrm>
          <a:prstGeom prst="ellipse">
            <a:avLst/>
          </a:prstGeom>
          <a:solidFill>
            <a:srgbClr val="FFFFFF"/>
          </a:solidFill>
          <a:ln>
            <a:gradFill>
              <a:gsLst>
                <a:gs pos="0">
                  <a:srgbClr val="B3D4FE"/>
                </a:gs>
                <a:gs pos="100000">
                  <a:srgbClr val="3368FF"/>
                </a:gs>
              </a:gsLst>
              <a:lin ang="540000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7" name="燕尾形 76"/>
          <p:cNvSpPr/>
          <p:nvPr>
            <p:custDataLst>
              <p:tags r:id="rId7"/>
            </p:custDataLst>
          </p:nvPr>
        </p:nvSpPr>
        <p:spPr>
          <a:xfrm>
            <a:off x="3617595" y="5997575"/>
            <a:ext cx="207010" cy="351155"/>
          </a:xfrm>
          <a:prstGeom prst="chevron">
            <a:avLst>
              <a:gd name="adj" fmla="val 76415"/>
            </a:avLst>
          </a:prstGeom>
          <a:gradFill>
            <a:gsLst>
              <a:gs pos="0">
                <a:srgbClr val="668E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78" name="燕尾形 77"/>
          <p:cNvSpPr/>
          <p:nvPr>
            <p:custDataLst>
              <p:tags r:id="rId8"/>
            </p:custDataLst>
          </p:nvPr>
        </p:nvSpPr>
        <p:spPr>
          <a:xfrm>
            <a:off x="6096000" y="6040755"/>
            <a:ext cx="207010" cy="351155"/>
          </a:xfrm>
          <a:prstGeom prst="chevron">
            <a:avLst>
              <a:gd name="adj" fmla="val 76415"/>
            </a:avLst>
          </a:prstGeom>
          <a:gradFill>
            <a:gsLst>
              <a:gs pos="0">
                <a:srgbClr val="3368FF"/>
              </a:gs>
              <a:gs pos="100000">
                <a:srgbClr val="0042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lvl="0" algn="ctr">
              <a:buClrTx/>
              <a:buSzTx/>
              <a:buFontTx/>
              <a:defRPr>
                <a:solidFill>
                  <a:srgbClr val="383838"/>
                </a:solidFill>
                <a:latin typeface="微软雅黑"/>
                <a:ea typeface="微软雅黑"/>
                <a:cs typeface="微软雅黑"/>
              </a:defRPr>
            </a:pPr>
            <a:endParaRPr lang="zh-CN" altLang="en-US">
              <a:solidFill>
                <a:srgbClr val="383838"/>
              </a:solidFill>
              <a:cs typeface="微软雅黑"/>
              <a:sym typeface="微软雅黑"/>
              <a:latin typeface="微软雅黑"/>
              <a:ea typeface="微软雅黑"/>
            </a:endParaRPr>
          </a:p>
        </p:txBody>
      </p:sp>
      <p:sp>
        <p:nvSpPr>
          <p:cNvPr id="79" name="燕尾形 78"/>
          <p:cNvSpPr/>
          <p:nvPr>
            <p:custDataLst>
              <p:tags r:id="rId9"/>
            </p:custDataLst>
          </p:nvPr>
        </p:nvSpPr>
        <p:spPr>
          <a:xfrm>
            <a:off x="8574405" y="6040755"/>
            <a:ext cx="207010" cy="351155"/>
          </a:xfrm>
          <a:prstGeom prst="chevron">
            <a:avLst>
              <a:gd name="adj" fmla="val 76415"/>
            </a:avLst>
          </a:prstGeom>
          <a:gradFill>
            <a:gsLst>
              <a:gs pos="0">
                <a:srgbClr val="B3D4FE"/>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en-US">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cxnSp>
        <p:nvCxnSpPr>
          <p:cNvPr id="80" name="直接连接符 79"/>
          <p:cNvCxnSpPr/>
          <p:nvPr/>
        </p:nvCxnSpPr>
        <p:spPr>
          <a:xfrm>
            <a:off x="2389505" y="4953000"/>
            <a:ext cx="0" cy="163830"/>
          </a:xfrm>
          <a:prstGeom prst="line">
            <a:avLst/>
          </a:prstGeom>
          <a:ln>
            <a:gradFill>
              <a:gsLst>
                <a:gs pos="0">
                  <a:srgbClr val="668EFF"/>
                </a:gs>
                <a:gs pos="100000">
                  <a:srgbClr val="3368FF"/>
                </a:gs>
              </a:gsLst>
              <a:lin ang="5400000" scaled="1"/>
            </a:gradFill>
            <a:prstDash val="sysDash"/>
            <a:tailEnd type="oval"/>
          </a:ln>
        </p:spPr>
        <p:style>
          <a:lnRef idx="2">
            <a:srgbClr val="0042FF"/>
          </a:lnRef>
          <a:fillRef idx="0">
            <a:srgbClr val="FFFFFF"/>
          </a:fillRef>
          <a:effectRef idx="0">
            <a:srgbClr val="FFFFFF"/>
          </a:effectRef>
          <a:fontRef idx="minor">
            <a:srgbClr val="383838"/>
          </a:fontRef>
        </p:style>
      </p:cxnSp>
      <p:cxnSp>
        <p:nvCxnSpPr>
          <p:cNvPr id="81" name="直接连接符 80"/>
          <p:cNvCxnSpPr/>
          <p:nvPr/>
        </p:nvCxnSpPr>
        <p:spPr>
          <a:xfrm>
            <a:off x="4910455" y="4924425"/>
            <a:ext cx="0" cy="163830"/>
          </a:xfrm>
          <a:prstGeom prst="line">
            <a:avLst/>
          </a:prstGeom>
          <a:ln>
            <a:gradFill>
              <a:gsLst>
                <a:gs pos="0">
                  <a:srgbClr val="3368FF"/>
                </a:gs>
                <a:gs pos="100000">
                  <a:srgbClr val="0042FF"/>
                </a:gs>
              </a:gsLst>
              <a:lin ang="5400000" scaled="1"/>
            </a:gradFill>
            <a:prstDash val="sysDash"/>
            <a:tailEnd type="oval"/>
          </a:ln>
        </p:spPr>
        <p:style>
          <a:lnRef idx="2">
            <a:srgbClr val="0042FF"/>
          </a:lnRef>
          <a:fillRef idx="0">
            <a:srgbClr val="FFFFFF"/>
          </a:fillRef>
          <a:effectRef idx="0">
            <a:srgbClr val="FFFFFF"/>
          </a:effectRef>
          <a:fontRef idx="minor">
            <a:srgbClr val="383838"/>
          </a:fontRef>
        </p:style>
      </p:cxnSp>
      <p:cxnSp>
        <p:nvCxnSpPr>
          <p:cNvPr id="82" name="直接连接符 81"/>
          <p:cNvCxnSpPr/>
          <p:nvPr/>
        </p:nvCxnSpPr>
        <p:spPr>
          <a:xfrm>
            <a:off x="7447280" y="4722495"/>
            <a:ext cx="0" cy="398780"/>
          </a:xfrm>
          <a:prstGeom prst="line">
            <a:avLst/>
          </a:prstGeom>
          <a:ln>
            <a:gradFill>
              <a:gsLst>
                <a:gs pos="0">
                  <a:srgbClr val="B3D4FE"/>
                </a:gs>
                <a:gs pos="100000">
                  <a:srgbClr val="B3D4FE"/>
                </a:gs>
              </a:gsLst>
              <a:lin ang="5400000" scaled="1"/>
            </a:gradFill>
            <a:prstDash val="sysDash"/>
            <a:tailEnd type="oval"/>
          </a:ln>
        </p:spPr>
        <p:style>
          <a:lnRef idx="2">
            <a:srgbClr val="0042FF"/>
          </a:lnRef>
          <a:fillRef idx="0">
            <a:srgbClr val="FFFFFF"/>
          </a:fillRef>
          <a:effectRef idx="0">
            <a:srgbClr val="FFFFFF"/>
          </a:effectRef>
          <a:fontRef idx="minor">
            <a:srgbClr val="383838"/>
          </a:fontRef>
        </p:style>
      </p:cxnSp>
      <p:cxnSp>
        <p:nvCxnSpPr>
          <p:cNvPr id="83" name="直接连接符 82"/>
          <p:cNvCxnSpPr/>
          <p:nvPr/>
        </p:nvCxnSpPr>
        <p:spPr>
          <a:xfrm>
            <a:off x="9849485" y="4354195"/>
            <a:ext cx="14605" cy="767080"/>
          </a:xfrm>
          <a:prstGeom prst="line">
            <a:avLst/>
          </a:prstGeom>
          <a:ln>
            <a:gradFill>
              <a:gsLst>
                <a:gs pos="0">
                  <a:srgbClr val="B3D4FE"/>
                </a:gs>
                <a:gs pos="100000">
                  <a:srgbClr val="3368FF"/>
                </a:gs>
              </a:gsLst>
              <a:lin ang="5400000" scaled="1"/>
            </a:gradFill>
            <a:prstDash val="sysDash"/>
            <a:tailEnd type="oval"/>
          </a:ln>
        </p:spPr>
        <p:style>
          <a:lnRef idx="2">
            <a:srgbClr val="0042FF"/>
          </a:lnRef>
          <a:fillRef idx="0">
            <a:srgbClr val="FFFFFF"/>
          </a:fillRef>
          <a:effectRef idx="0">
            <a:srgbClr val="FFFFFF"/>
          </a:effectRef>
          <a:fontRef idx="minor">
            <a:srgbClr val="383838"/>
          </a:fontRef>
        </p:style>
      </p:cxnSp>
      <p:sp>
        <p:nvSpPr>
          <p:cNvPr id="84" name="文本框 83"/>
          <p:cNvSpPr txBox="1"/>
          <p:nvPr>
            <p:custDataLst>
              <p:tags r:id="rId10"/>
            </p:custDataLst>
          </p:nvPr>
        </p:nvSpPr>
        <p:spPr>
          <a:xfrm>
            <a:off x="9244965" y="5245735"/>
            <a:ext cx="1292225" cy="491490"/>
          </a:xfrm>
          <a:prstGeom prst="rect">
            <a:avLst/>
          </a:prstGeom>
          <a:noFill/>
        </p:spPr>
        <p:txBody>
          <a:bodyPr wrap="square" rtlCol="0">
            <a:spAutoFit/>
          </a:bodyPr>
          <a:p>
            <a:pPr>
              <a:defRPr>
                <a:latin typeface="微软雅黑"/>
                <a:ea typeface="微软雅黑"/>
                <a:cs typeface="微软雅黑"/>
              </a:defRPr>
            </a:pPr>
            <a:r>
              <a:rPr lang="zh-CN" altLang="en-US" sz="1300">
                <a:solidFill>
                  <a:srgbClr val="383838"/>
                </a:solidFill>
                <a:latin typeface="微软雅黑"/>
                <a:ea typeface="微软雅黑"/>
                <a:cs typeface="微软雅黑"/>
              </a:rPr>
              <a:t>数据要素流通，</a:t>
            </a:r>
            <a:endParaRPr lang="zh-CN" altLang="en-US" sz="1300">
              <a:solidFill>
                <a:srgbClr val="383838"/>
              </a:solidFill>
              <a:latin typeface="微软雅黑"/>
              <a:ea typeface="微软雅黑"/>
              <a:cs typeface="微软雅黑"/>
            </a:endParaRPr>
          </a:p>
          <a:p>
            <a:pPr>
              <a:defRPr>
                <a:latin typeface="微软雅黑"/>
                <a:ea typeface="微软雅黑"/>
                <a:cs typeface="微软雅黑"/>
              </a:defRPr>
            </a:pPr>
            <a:r>
              <a:rPr lang="en-US" altLang="zh-CN" sz="1300">
                <a:solidFill>
                  <a:srgbClr val="383838"/>
                </a:solidFill>
                <a:latin typeface="微软雅黑"/>
                <a:ea typeface="微软雅黑"/>
                <a:cs typeface="微软雅黑"/>
              </a:rPr>
              <a:t>  </a:t>
            </a:r>
            <a:r>
              <a:rPr lang="zh-CN" altLang="en-US" sz="1300">
                <a:solidFill>
                  <a:srgbClr val="383838"/>
                </a:solidFill>
                <a:latin typeface="微软雅黑"/>
                <a:ea typeface="微软雅黑"/>
                <a:cs typeface="微软雅黑"/>
              </a:rPr>
              <a:t>数据资产增值</a:t>
            </a:r>
            <a:endParaRPr lang="zh-CN" altLang="en-US" sz="1300">
              <a:solidFill>
                <a:srgbClr val="383838"/>
              </a:solidFill>
              <a:latin typeface="微软雅黑"/>
              <a:ea typeface="微软雅黑"/>
              <a:cs typeface="微软雅黑"/>
            </a:endParaRPr>
          </a:p>
        </p:txBody>
      </p:sp>
      <p:sp>
        <p:nvSpPr>
          <p:cNvPr id="87" name="文本框 86"/>
          <p:cNvSpPr txBox="1"/>
          <p:nvPr>
            <p:custDataLst>
              <p:tags r:id="rId11"/>
            </p:custDataLst>
          </p:nvPr>
        </p:nvSpPr>
        <p:spPr>
          <a:xfrm>
            <a:off x="6871335" y="5231130"/>
            <a:ext cx="1292225" cy="491490"/>
          </a:xfrm>
          <a:prstGeom prst="rect">
            <a:avLst/>
          </a:prstGeom>
          <a:noFill/>
        </p:spPr>
        <p:txBody>
          <a:bodyPr wrap="square" rtlCol="0">
            <a:spAutoFit/>
          </a:bodyPr>
          <a:p>
            <a:pPr>
              <a:defRPr>
                <a:latin typeface="微软雅黑"/>
                <a:ea typeface="微软雅黑"/>
                <a:cs typeface="微软雅黑"/>
              </a:defRPr>
            </a:pPr>
            <a:r>
              <a:rPr lang="zh-CN" altLang="en-US" sz="1300">
                <a:solidFill>
                  <a:srgbClr val="383838"/>
                </a:solidFill>
                <a:latin typeface="微软雅黑"/>
                <a:ea typeface="微软雅黑"/>
                <a:cs typeface="微软雅黑"/>
              </a:rPr>
              <a:t>经营数据资产，</a:t>
            </a:r>
            <a:endParaRPr lang="zh-CN" altLang="en-US" sz="1300">
              <a:solidFill>
                <a:srgbClr val="383838"/>
              </a:solidFill>
              <a:latin typeface="微软雅黑"/>
              <a:ea typeface="微软雅黑"/>
              <a:cs typeface="微软雅黑"/>
            </a:endParaRPr>
          </a:p>
          <a:p>
            <a:pPr>
              <a:defRPr>
                <a:latin typeface="微软雅黑"/>
                <a:ea typeface="微软雅黑"/>
                <a:cs typeface="微软雅黑"/>
              </a:defRPr>
            </a:pPr>
            <a:r>
              <a:rPr lang="en-US" altLang="zh-CN" sz="1300">
                <a:solidFill>
                  <a:srgbClr val="383838"/>
                </a:solidFill>
                <a:latin typeface="微软雅黑"/>
                <a:ea typeface="微软雅黑"/>
                <a:cs typeface="微软雅黑"/>
              </a:rPr>
              <a:t>  </a:t>
            </a:r>
            <a:r>
              <a:rPr lang="zh-CN" altLang="en-US" sz="1300">
                <a:solidFill>
                  <a:srgbClr val="383838"/>
                </a:solidFill>
                <a:latin typeface="微软雅黑"/>
                <a:ea typeface="微软雅黑"/>
                <a:cs typeface="微软雅黑"/>
              </a:rPr>
              <a:t>主张数据价值</a:t>
            </a:r>
            <a:endParaRPr lang="zh-CN" altLang="en-US" sz="1300">
              <a:solidFill>
                <a:srgbClr val="383838"/>
              </a:solidFill>
              <a:latin typeface="微软雅黑"/>
              <a:ea typeface="微软雅黑"/>
              <a:cs typeface="微软雅黑"/>
            </a:endParaRPr>
          </a:p>
        </p:txBody>
      </p:sp>
      <p:sp>
        <p:nvSpPr>
          <p:cNvPr id="88" name="文本框 87"/>
          <p:cNvSpPr txBox="1"/>
          <p:nvPr>
            <p:custDataLst>
              <p:tags r:id="rId12"/>
            </p:custDataLst>
          </p:nvPr>
        </p:nvSpPr>
        <p:spPr>
          <a:xfrm>
            <a:off x="4286885" y="5240655"/>
            <a:ext cx="1292225" cy="491490"/>
          </a:xfrm>
          <a:prstGeom prst="rect">
            <a:avLst/>
          </a:prstGeom>
          <a:noFill/>
        </p:spPr>
        <p:txBody>
          <a:bodyPr wrap="square" rtlCol="0">
            <a:spAutoFit/>
          </a:bodyPr>
          <a:p>
            <a:pPr>
              <a:defRPr>
                <a:latin typeface="微软雅黑"/>
                <a:ea typeface="微软雅黑"/>
                <a:cs typeface="微软雅黑"/>
              </a:defRPr>
            </a:pPr>
            <a:r>
              <a:rPr lang="zh-CN" altLang="en-US" sz="1300">
                <a:solidFill>
                  <a:srgbClr val="383838"/>
                </a:solidFill>
                <a:latin typeface="微软雅黑"/>
                <a:ea typeface="微软雅黑"/>
                <a:cs typeface="微软雅黑"/>
              </a:rPr>
              <a:t>面向业务需求，</a:t>
            </a:r>
            <a:endParaRPr lang="zh-CN" altLang="en-US" sz="1300">
              <a:solidFill>
                <a:srgbClr val="383838"/>
              </a:solidFill>
              <a:latin typeface="微软雅黑"/>
              <a:ea typeface="微软雅黑"/>
              <a:cs typeface="微软雅黑"/>
            </a:endParaRPr>
          </a:p>
          <a:p>
            <a:pPr>
              <a:defRPr>
                <a:latin typeface="微软雅黑"/>
                <a:ea typeface="微软雅黑"/>
                <a:cs typeface="微软雅黑"/>
              </a:defRPr>
            </a:pPr>
            <a:r>
              <a:rPr lang="en-US" altLang="zh-CN" sz="1300">
                <a:solidFill>
                  <a:srgbClr val="383838"/>
                </a:solidFill>
                <a:latin typeface="微软雅黑"/>
                <a:ea typeface="微软雅黑"/>
                <a:cs typeface="微软雅黑"/>
              </a:rPr>
              <a:t>  </a:t>
            </a:r>
            <a:r>
              <a:rPr lang="zh-CN" altLang="en-US" sz="1300">
                <a:solidFill>
                  <a:srgbClr val="383838"/>
                </a:solidFill>
                <a:latin typeface="微软雅黑"/>
                <a:ea typeface="微软雅黑"/>
                <a:cs typeface="微软雅黑"/>
              </a:rPr>
              <a:t>供应数据服务</a:t>
            </a:r>
            <a:endParaRPr lang="zh-CN" altLang="en-US" sz="1300">
              <a:solidFill>
                <a:srgbClr val="383838"/>
              </a:solidFill>
              <a:latin typeface="微软雅黑"/>
              <a:ea typeface="微软雅黑"/>
              <a:cs typeface="微软雅黑"/>
            </a:endParaRPr>
          </a:p>
        </p:txBody>
      </p:sp>
      <p:sp>
        <p:nvSpPr>
          <p:cNvPr id="89" name="文本框 88"/>
          <p:cNvSpPr txBox="1"/>
          <p:nvPr>
            <p:custDataLst>
              <p:tags r:id="rId13"/>
            </p:custDataLst>
          </p:nvPr>
        </p:nvSpPr>
        <p:spPr>
          <a:xfrm>
            <a:off x="1856740" y="5219700"/>
            <a:ext cx="1448435" cy="491490"/>
          </a:xfrm>
          <a:prstGeom prst="rect">
            <a:avLst/>
          </a:prstGeom>
          <a:noFill/>
        </p:spPr>
        <p:txBody>
          <a:bodyPr wrap="square" rtlCol="0">
            <a:spAutoFit/>
          </a:bodyPr>
          <a:p>
            <a:pPr>
              <a:defRPr>
                <a:latin typeface="微软雅黑"/>
                <a:ea typeface="微软雅黑"/>
                <a:cs typeface="微软雅黑"/>
              </a:defRPr>
            </a:pPr>
            <a:r>
              <a:rPr lang="zh-CN" altLang="en-US" sz="1300">
                <a:solidFill>
                  <a:srgbClr val="383838"/>
                </a:solidFill>
                <a:latin typeface="微软雅黑"/>
                <a:ea typeface="微软雅黑"/>
                <a:cs typeface="微软雅黑"/>
              </a:rPr>
              <a:t>建设业务信息化，</a:t>
            </a:r>
            <a:endParaRPr lang="zh-CN" altLang="en-US" sz="1300">
              <a:solidFill>
                <a:srgbClr val="383838"/>
              </a:solidFill>
              <a:latin typeface="微软雅黑"/>
              <a:ea typeface="微软雅黑"/>
              <a:cs typeface="微软雅黑"/>
            </a:endParaRPr>
          </a:p>
          <a:p>
            <a:pPr>
              <a:defRPr>
                <a:latin typeface="微软雅黑"/>
                <a:ea typeface="微软雅黑"/>
                <a:cs typeface="微软雅黑"/>
              </a:defRPr>
            </a:pPr>
            <a:r>
              <a:rPr lang="en-US" altLang="zh-CN" sz="1300">
                <a:solidFill>
                  <a:srgbClr val="383838"/>
                </a:solidFill>
                <a:latin typeface="微软雅黑"/>
                <a:ea typeface="微软雅黑"/>
                <a:cs typeface="微软雅黑"/>
              </a:rPr>
              <a:t>  </a:t>
            </a:r>
            <a:r>
              <a:rPr lang="zh-CN" altLang="en-US" sz="1300">
                <a:solidFill>
                  <a:srgbClr val="383838"/>
                </a:solidFill>
                <a:latin typeface="微软雅黑"/>
                <a:ea typeface="微软雅黑"/>
                <a:cs typeface="微软雅黑"/>
              </a:rPr>
              <a:t>积累数据资源</a:t>
            </a:r>
            <a:endParaRPr lang="zh-CN" altLang="en-US" sz="1300">
              <a:solidFill>
                <a:srgbClr val="383838"/>
              </a:solidFill>
              <a:latin typeface="微软雅黑"/>
              <a:ea typeface="微软雅黑"/>
              <a:cs typeface="微软雅黑"/>
            </a:endParaRPr>
          </a:p>
        </p:txBody>
      </p:sp>
      <p:sp>
        <p:nvSpPr>
          <p:cNvPr id="91" name="任意多边形 90"/>
          <p:cNvSpPr/>
          <p:nvPr/>
        </p:nvSpPr>
        <p:spPr>
          <a:xfrm>
            <a:off x="1585595" y="2492375"/>
            <a:ext cx="8478520" cy="1256665"/>
          </a:xfrm>
          <a:custGeom>
            <a:avLst/>
            <a:gdLst>
              <a:gd name="connisteX0" fmla="*/ 0 w 8478520"/>
              <a:gd name="connsiteY0" fmla="*/ 1255395 h 1256791"/>
              <a:gd name="connisteX1" fmla="*/ 3095625 w 8478520"/>
              <a:gd name="connsiteY1" fmla="*/ 1176020 h 1256791"/>
              <a:gd name="connisteX2" fmla="*/ 5808980 w 8478520"/>
              <a:gd name="connsiteY2" fmla="*/ 699770 h 1256791"/>
              <a:gd name="connisteX3" fmla="*/ 8478520 w 8478520"/>
              <a:gd name="connsiteY3" fmla="*/ 0 h 1256791"/>
              <a:gd name="connisteX4" fmla="*/ 8507730 w 8478520"/>
              <a:gd name="connsiteY4" fmla="*/ 107950 h 125679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8478520" h="1256792">
                <a:moveTo>
                  <a:pt x="0" y="1255395"/>
                </a:moveTo>
                <a:cubicBezTo>
                  <a:pt x="565150" y="1249045"/>
                  <a:pt x="1933575" y="1287145"/>
                  <a:pt x="3095625" y="1176020"/>
                </a:cubicBezTo>
                <a:cubicBezTo>
                  <a:pt x="4257675" y="1064895"/>
                  <a:pt x="4732655" y="934720"/>
                  <a:pt x="5808980" y="699770"/>
                </a:cubicBezTo>
                <a:cubicBezTo>
                  <a:pt x="6885305" y="464820"/>
                  <a:pt x="7938770" y="118110"/>
                  <a:pt x="8478520" y="0"/>
                </a:cubicBezTo>
              </a:path>
            </a:pathLst>
          </a:custGeom>
          <a:noFill/>
          <a:ln w="63500">
            <a:gradFill>
              <a:gsLst>
                <a:gs pos="0">
                  <a:srgbClr val="E6E6E6">
                    <a:alpha val="0"/>
                  </a:srgbClr>
                </a:gs>
                <a:gs pos="70000">
                  <a:srgbClr val="668EFF"/>
                </a:gs>
                <a:gs pos="100000">
                  <a:srgbClr val="3368FF"/>
                </a:gs>
              </a:gsLst>
              <a:lin ang="0" scaled="1"/>
            </a:gra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2" name="椭圆 91"/>
          <p:cNvSpPr/>
          <p:nvPr/>
        </p:nvSpPr>
        <p:spPr>
          <a:xfrm>
            <a:off x="3940175" y="3671570"/>
            <a:ext cx="99060" cy="99060"/>
          </a:xfrm>
          <a:prstGeom prst="ellipse">
            <a:avLst/>
          </a:prstGeom>
          <a:solidFill>
            <a:srgbClr val="FFFFFF"/>
          </a:solidFill>
          <a:ln w="25400">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93" name="椭圆 92"/>
          <p:cNvSpPr/>
          <p:nvPr/>
        </p:nvSpPr>
        <p:spPr>
          <a:xfrm>
            <a:off x="6909435" y="3226435"/>
            <a:ext cx="99060" cy="99060"/>
          </a:xfrm>
          <a:prstGeom prst="ellipse">
            <a:avLst/>
          </a:prstGeom>
          <a:solidFill>
            <a:srgbClr val="FFFFFF"/>
          </a:solidFill>
          <a:ln w="25400">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94" name="椭圆 93"/>
          <p:cNvSpPr/>
          <p:nvPr/>
        </p:nvSpPr>
        <p:spPr>
          <a:xfrm>
            <a:off x="8994775" y="2714625"/>
            <a:ext cx="99060" cy="99060"/>
          </a:xfrm>
          <a:prstGeom prst="ellipse">
            <a:avLst/>
          </a:prstGeom>
          <a:solidFill>
            <a:srgbClr val="FFFFFF"/>
          </a:solidFill>
          <a:ln w="25400">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pic>
        <p:nvPicPr>
          <p:cNvPr id="95" name="图片 94" descr="跑步"/>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20880000">
            <a:off x="4994275" y="2576830"/>
            <a:ext cx="898525" cy="898525"/>
          </a:xfrm>
          <a:prstGeom prst="rect">
            <a:avLst/>
          </a:prstGeom>
        </p:spPr>
      </p:pic>
      <p:sp>
        <p:nvSpPr>
          <p:cNvPr id="96" name="文本框 95"/>
          <p:cNvSpPr txBox="1"/>
          <p:nvPr/>
        </p:nvSpPr>
        <p:spPr>
          <a:xfrm rot="21420000">
            <a:off x="3402330" y="3272155"/>
            <a:ext cx="949960" cy="306705"/>
          </a:xfrm>
          <a:prstGeom prst="rect">
            <a:avLst/>
          </a:prstGeom>
          <a:noFill/>
        </p:spPr>
        <p:txBody>
          <a:bodyPr wrap="square" rtlCol="0">
            <a:spAutoFit/>
          </a:bodyPr>
          <a:p>
            <a:pPr>
              <a:defRPr>
                <a:latin typeface="微软雅黑"/>
                <a:ea typeface="微软雅黑"/>
                <a:cs typeface="微软雅黑"/>
              </a:defRPr>
            </a:pPr>
            <a:r>
              <a:rPr lang="zh-CN" altLang="en-US" sz="1400" b="1">
                <a:solidFill>
                  <a:srgbClr val="383838"/>
                </a:solidFill>
                <a:latin typeface="微软雅黑"/>
                <a:ea typeface="微软雅黑"/>
                <a:cs typeface="微软雅黑"/>
              </a:rPr>
              <a:t>当前阶段</a:t>
            </a:r>
            <a:endParaRPr lang="zh-CN" altLang="en-US" sz="1400" b="1">
              <a:solidFill>
                <a:srgbClr val="383838"/>
              </a:solidFill>
              <a:latin typeface="微软雅黑"/>
              <a:ea typeface="微软雅黑"/>
              <a:cs typeface="微软雅黑"/>
            </a:endParaRPr>
          </a:p>
        </p:txBody>
      </p:sp>
      <p:sp>
        <p:nvSpPr>
          <p:cNvPr id="98" name="文本框 97"/>
          <p:cNvSpPr txBox="1"/>
          <p:nvPr/>
        </p:nvSpPr>
        <p:spPr>
          <a:xfrm rot="20640000">
            <a:off x="8354695" y="2377440"/>
            <a:ext cx="1240155" cy="306705"/>
          </a:xfrm>
          <a:prstGeom prst="rect">
            <a:avLst/>
          </a:prstGeom>
          <a:noFill/>
        </p:spPr>
        <p:txBody>
          <a:bodyPr wrap="square" rtlCol="0">
            <a:spAutoFit/>
          </a:bodyPr>
          <a:p>
            <a:pPr>
              <a:defRPr>
                <a:latin typeface="微软雅黑"/>
                <a:ea typeface="微软雅黑"/>
                <a:cs typeface="微软雅黑"/>
              </a:defRPr>
            </a:pPr>
            <a:r>
              <a:rPr lang="zh-CN" altLang="en-US" sz="1400" b="1">
                <a:solidFill>
                  <a:srgbClr val="383838"/>
                </a:solidFill>
                <a:latin typeface="微软雅黑"/>
                <a:ea typeface="微软雅黑"/>
                <a:cs typeface="微软雅黑"/>
              </a:rPr>
              <a:t>中远期目标</a:t>
            </a:r>
            <a:endParaRPr lang="zh-CN" altLang="en-US" sz="1400" b="1">
              <a:solidFill>
                <a:srgbClr val="383838"/>
              </a:solidFill>
              <a:latin typeface="微软雅黑"/>
              <a:ea typeface="微软雅黑"/>
              <a:cs typeface="微软雅黑"/>
            </a:endParaRPr>
          </a:p>
        </p:txBody>
      </p:sp>
      <p:sp>
        <p:nvSpPr>
          <p:cNvPr id="100" name="文本框 99"/>
          <p:cNvSpPr txBox="1"/>
          <p:nvPr>
            <p:custDataLst>
              <p:tags r:id="rId16"/>
            </p:custDataLst>
          </p:nvPr>
        </p:nvSpPr>
        <p:spPr>
          <a:xfrm>
            <a:off x="1747520" y="4431030"/>
            <a:ext cx="1448435" cy="291465"/>
          </a:xfrm>
          <a:prstGeom prst="rect">
            <a:avLst/>
          </a:prstGeom>
          <a:noFill/>
        </p:spPr>
        <p:txBody>
          <a:bodyPr wrap="square" rtlCol="0">
            <a:spAutoFit/>
          </a:bodyPr>
          <a:p>
            <a:pPr>
              <a:defRPr>
                <a:solidFill>
                  <a:srgbClr val="383838"/>
                </a:solidFill>
                <a:latin typeface="微软雅黑"/>
                <a:ea typeface="微软雅黑"/>
                <a:cs typeface="微软雅黑"/>
              </a:defRPr>
            </a:pPr>
            <a:r>
              <a:rPr lang="en-US" sz="1300" b="1">
                <a:solidFill>
                  <a:srgbClr val="383838"/>
                </a:solidFill>
                <a:latin typeface="微软雅黑"/>
                <a:ea typeface="微软雅黑"/>
                <a:cs typeface="微软雅黑"/>
              </a:rPr>
              <a:t>1.0 </a:t>
            </a:r>
            <a:r>
              <a:rPr lang="zh-CN" altLang="en-US" sz="1300" b="1">
                <a:solidFill>
                  <a:srgbClr val="383838"/>
                </a:solidFill>
                <a:latin typeface="微软雅黑"/>
                <a:ea typeface="微软雅黑"/>
                <a:cs typeface="微软雅黑"/>
              </a:rPr>
              <a:t>数据资源化</a:t>
            </a:r>
            <a:endParaRPr lang="zh-CN" altLang="en-US" sz="1300" b="1">
              <a:solidFill>
                <a:srgbClr val="383838"/>
              </a:solidFill>
              <a:latin typeface="微软雅黑"/>
              <a:ea typeface="微软雅黑"/>
              <a:cs typeface="微软雅黑"/>
            </a:endParaRPr>
          </a:p>
        </p:txBody>
      </p:sp>
      <p:sp>
        <p:nvSpPr>
          <p:cNvPr id="101" name="文本框 100"/>
          <p:cNvSpPr txBox="1"/>
          <p:nvPr>
            <p:custDataLst>
              <p:tags r:id="rId17"/>
            </p:custDataLst>
          </p:nvPr>
        </p:nvSpPr>
        <p:spPr>
          <a:xfrm rot="21300000">
            <a:off x="4182110" y="4330700"/>
            <a:ext cx="1448435" cy="291465"/>
          </a:xfrm>
          <a:prstGeom prst="rect">
            <a:avLst/>
          </a:prstGeom>
          <a:noFill/>
        </p:spPr>
        <p:txBody>
          <a:bodyPr wrap="square" rtlCol="0">
            <a:spAutoFit/>
          </a:bodyPr>
          <a:p>
            <a:pPr>
              <a:defRPr>
                <a:solidFill>
                  <a:srgbClr val="FFFFFF"/>
                </a:solidFill>
                <a:latin typeface="微软雅黑"/>
                <a:ea typeface="微软雅黑"/>
                <a:cs typeface="微软雅黑"/>
              </a:defRPr>
            </a:pPr>
            <a:r>
              <a:rPr lang="en-US" sz="1300" b="1">
                <a:solidFill>
                  <a:srgbClr val="FFFFFF"/>
                </a:solidFill>
                <a:latin typeface="微软雅黑"/>
                <a:ea typeface="微软雅黑"/>
                <a:cs typeface="微软雅黑"/>
              </a:rPr>
              <a:t>2.0 </a:t>
            </a:r>
            <a:r>
              <a:rPr lang="zh-CN" altLang="en-US" sz="1300" b="1">
                <a:solidFill>
                  <a:srgbClr val="FFFFFF"/>
                </a:solidFill>
                <a:latin typeface="微软雅黑"/>
                <a:ea typeface="微软雅黑"/>
                <a:cs typeface="微软雅黑"/>
              </a:rPr>
              <a:t>数据产品化</a:t>
            </a:r>
            <a:endParaRPr lang="zh-CN" altLang="en-US" sz="1300" b="1">
              <a:solidFill>
                <a:srgbClr val="FFFFFF"/>
              </a:solidFill>
              <a:latin typeface="微软雅黑"/>
              <a:ea typeface="微软雅黑"/>
              <a:cs typeface="微软雅黑"/>
            </a:endParaRPr>
          </a:p>
        </p:txBody>
      </p:sp>
      <p:sp>
        <p:nvSpPr>
          <p:cNvPr id="102" name="文本框 101"/>
          <p:cNvSpPr txBox="1"/>
          <p:nvPr>
            <p:custDataLst>
              <p:tags r:id="rId18"/>
            </p:custDataLst>
          </p:nvPr>
        </p:nvSpPr>
        <p:spPr>
          <a:xfrm rot="21060000">
            <a:off x="6668135" y="4060825"/>
            <a:ext cx="1448435" cy="291465"/>
          </a:xfrm>
          <a:prstGeom prst="rect">
            <a:avLst/>
          </a:prstGeom>
          <a:noFill/>
        </p:spPr>
        <p:txBody>
          <a:bodyPr wrap="square" rtlCol="0">
            <a:spAutoFit/>
          </a:bodyPr>
          <a:p>
            <a:pPr>
              <a:defRPr>
                <a:latin typeface="微软雅黑"/>
                <a:ea typeface="微软雅黑"/>
                <a:cs typeface="微软雅黑"/>
              </a:defRPr>
            </a:pPr>
            <a:r>
              <a:rPr lang="en-US" sz="1300" b="1">
                <a:solidFill>
                  <a:srgbClr val="383838"/>
                </a:solidFill>
                <a:latin typeface="微软雅黑"/>
                <a:ea typeface="微软雅黑"/>
                <a:cs typeface="微软雅黑"/>
              </a:rPr>
              <a:t>3.0 </a:t>
            </a:r>
            <a:r>
              <a:rPr lang="zh-CN" altLang="en-US" sz="1300" b="1">
                <a:solidFill>
                  <a:srgbClr val="383838"/>
                </a:solidFill>
                <a:latin typeface="微软雅黑"/>
                <a:ea typeface="微软雅黑"/>
                <a:cs typeface="微软雅黑"/>
              </a:rPr>
              <a:t>数据资产化</a:t>
            </a:r>
            <a:endParaRPr lang="zh-CN" altLang="en-US" sz="1300" b="1">
              <a:solidFill>
                <a:srgbClr val="383838"/>
              </a:solidFill>
              <a:latin typeface="微软雅黑"/>
              <a:ea typeface="微软雅黑"/>
              <a:cs typeface="微软雅黑"/>
            </a:endParaRPr>
          </a:p>
        </p:txBody>
      </p:sp>
      <p:sp>
        <p:nvSpPr>
          <p:cNvPr id="103" name="文本框 102"/>
          <p:cNvSpPr txBox="1"/>
          <p:nvPr>
            <p:custDataLst>
              <p:tags r:id="rId19"/>
            </p:custDataLst>
          </p:nvPr>
        </p:nvSpPr>
        <p:spPr>
          <a:xfrm rot="20460000">
            <a:off x="9161780" y="3544570"/>
            <a:ext cx="1448435" cy="291465"/>
          </a:xfrm>
          <a:prstGeom prst="rect">
            <a:avLst/>
          </a:prstGeom>
          <a:noFill/>
        </p:spPr>
        <p:txBody>
          <a:bodyPr wrap="square" rtlCol="0">
            <a:spAutoFit/>
          </a:bodyPr>
          <a:p>
            <a:pPr>
              <a:defRPr>
                <a:latin typeface="微软雅黑"/>
                <a:ea typeface="微软雅黑"/>
                <a:cs typeface="微软雅黑"/>
              </a:defRPr>
            </a:pPr>
            <a:r>
              <a:rPr lang="en-US" sz="1300" b="1">
                <a:solidFill>
                  <a:srgbClr val="383838"/>
                </a:solidFill>
                <a:latin typeface="微软雅黑"/>
                <a:ea typeface="微软雅黑"/>
                <a:cs typeface="微软雅黑"/>
              </a:rPr>
              <a:t>4.0 </a:t>
            </a:r>
            <a:r>
              <a:rPr lang="zh-CN" altLang="en-US" sz="1300" b="1">
                <a:solidFill>
                  <a:srgbClr val="383838"/>
                </a:solidFill>
                <a:latin typeface="微软雅黑"/>
                <a:ea typeface="微软雅黑"/>
                <a:cs typeface="微软雅黑"/>
              </a:rPr>
              <a:t>数据资本化</a:t>
            </a:r>
            <a:endParaRPr lang="zh-CN" altLang="en-US" sz="1300" b="1">
              <a:solidFill>
                <a:srgbClr val="383838"/>
              </a:solidFill>
              <a:latin typeface="微软雅黑"/>
              <a:ea typeface="微软雅黑"/>
              <a:cs typeface="微软雅黑"/>
            </a:endParaRPr>
          </a:p>
        </p:txBody>
      </p:sp>
      <p:sp>
        <p:nvSpPr>
          <p:cNvPr id="104" name="椭圆 103"/>
          <p:cNvSpPr/>
          <p:nvPr>
            <p:custDataLst>
              <p:tags r:id="rId20"/>
            </p:custDataLst>
          </p:nvPr>
        </p:nvSpPr>
        <p:spPr>
          <a:xfrm>
            <a:off x="8781415" y="3770630"/>
            <a:ext cx="330200" cy="330200"/>
          </a:xfrm>
          <a:prstGeom prst="ellipse">
            <a:avLst/>
          </a:prstGeom>
          <a:solidFill>
            <a:srgbClr val="FFFFFF"/>
          </a:solidFill>
          <a:ln>
            <a:solidFill>
              <a:srgbClr val="FFFFFF"/>
            </a:solidFill>
          </a:ln>
          <a:effectLst>
            <a:glow rad="63500">
              <a:srgbClr val="FFFFFF">
                <a:alpha val="40000"/>
              </a:srgbClr>
            </a:glow>
            <a:outerShdw blurRad="50800" dist="12700" dir="2700000" algn="tl" rotWithShape="0">
              <a:srgbClr val="FFFF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5" name="椭圆 104"/>
          <p:cNvSpPr/>
          <p:nvPr>
            <p:custDataLst>
              <p:tags r:id="rId21"/>
            </p:custDataLst>
          </p:nvPr>
        </p:nvSpPr>
        <p:spPr>
          <a:xfrm>
            <a:off x="6256020" y="4178300"/>
            <a:ext cx="330200" cy="330200"/>
          </a:xfrm>
          <a:prstGeom prst="ellipse">
            <a:avLst/>
          </a:prstGeom>
          <a:solidFill>
            <a:srgbClr val="FFFFFF"/>
          </a:solidFill>
          <a:ln>
            <a:solidFill>
              <a:srgbClr val="FFFFFF"/>
            </a:solidFill>
          </a:ln>
          <a:effectLst>
            <a:glow rad="63500">
              <a:srgbClr val="B3D4FE">
                <a:alpha val="40000"/>
              </a:srgbClr>
            </a:glow>
            <a:outerShdw blurRad="50800" dist="12700" dir="2700000" algn="tl" rotWithShape="0">
              <a:srgbClr val="FFFF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6" name="椭圆 105"/>
          <p:cNvSpPr/>
          <p:nvPr>
            <p:custDataLst>
              <p:tags r:id="rId22"/>
            </p:custDataLst>
          </p:nvPr>
        </p:nvSpPr>
        <p:spPr>
          <a:xfrm>
            <a:off x="3824605" y="4354195"/>
            <a:ext cx="330200" cy="330200"/>
          </a:xfrm>
          <a:prstGeom prst="ellipse">
            <a:avLst/>
          </a:prstGeom>
          <a:solidFill>
            <a:srgbClr val="FFFFFF"/>
          </a:solidFill>
          <a:ln>
            <a:solidFill>
              <a:srgbClr val="FFFFFF"/>
            </a:solidFill>
          </a:ln>
          <a:effectLst>
            <a:glow rad="63500">
              <a:srgbClr val="668EFF">
                <a:alpha val="40000"/>
              </a:srgbClr>
            </a:glow>
            <a:outerShdw blurRad="50800" dist="12700" dir="2700000" algn="tl" rotWithShape="0">
              <a:srgbClr val="FFFF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07" name="椭圆 106"/>
          <p:cNvSpPr/>
          <p:nvPr>
            <p:custDataLst>
              <p:tags r:id="rId23"/>
            </p:custDataLst>
          </p:nvPr>
        </p:nvSpPr>
        <p:spPr>
          <a:xfrm>
            <a:off x="1341755" y="4354195"/>
            <a:ext cx="330200" cy="330200"/>
          </a:xfrm>
          <a:prstGeom prst="ellipse">
            <a:avLst/>
          </a:prstGeom>
          <a:solidFill>
            <a:srgbClr val="FFFFFF"/>
          </a:solidFill>
          <a:ln>
            <a:solidFill>
              <a:srgbClr val="FFFFFF"/>
            </a:solidFill>
          </a:ln>
          <a:effectLst>
            <a:glow rad="63500">
              <a:srgbClr val="668EFF">
                <a:alpha val="40000"/>
              </a:srgbClr>
            </a:glow>
            <a:outerShdw blurRad="50800" dist="12700" dir="2700000" algn="tl" rotWithShape="0">
              <a:srgbClr val="FFFF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138" name="矩形 137"/>
          <p:cNvSpPr/>
          <p:nvPr/>
        </p:nvSpPr>
        <p:spPr>
          <a:xfrm>
            <a:off x="372110" y="1058545"/>
            <a:ext cx="11417300" cy="781050"/>
          </a:xfrm>
          <a:prstGeom prst="rect">
            <a:avLst/>
          </a:prstGeom>
          <a:solidFill>
            <a:srgbClr val="E6E6E6">
              <a:alpha val="2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a:p>
            <a:pPr algn="l">
              <a:defRPr>
                <a:latin typeface="微软雅黑"/>
                <a:ea typeface="微软雅黑"/>
                <a:cs typeface="微软雅黑"/>
              </a:defRPr>
            </a:pPr>
            <a:endParaRPr lang="zh-CN" altLang="en-US" sz="1600">
              <a:solidFill>
                <a:srgbClr val="383838"/>
              </a:solidFill>
              <a:latin typeface="微软雅黑"/>
              <a:ea typeface="微软雅黑"/>
              <a:cs typeface="微软雅黑"/>
            </a:endParaRPr>
          </a:p>
        </p:txBody>
      </p:sp>
      <p:sp>
        <p:nvSpPr>
          <p:cNvPr id="2" name="文本框 1"/>
          <p:cNvSpPr txBox="1"/>
          <p:nvPr/>
        </p:nvSpPr>
        <p:spPr>
          <a:xfrm>
            <a:off x="474345" y="1157605"/>
            <a:ext cx="11212830" cy="583565"/>
          </a:xfrm>
          <a:prstGeom prst="rect">
            <a:avLst/>
          </a:prstGeom>
          <a:noFill/>
        </p:spPr>
        <p:txBody>
          <a:bodyPr wrap="square" rtlCol="0">
            <a:spAutoFit/>
          </a:bodyPr>
          <a:p>
            <a:pPr>
              <a:defRPr>
                <a:latin typeface="微软雅黑"/>
                <a:ea typeface="微软雅黑"/>
                <a:cs typeface="微软雅黑"/>
              </a:defRPr>
            </a:pPr>
            <a:r>
              <a:rPr lang="zh-CN" altLang="en-US" sz="1600" b="1">
                <a:solidFill>
                  <a:srgbClr val="383838"/>
                </a:solidFill>
                <a:latin typeface="微软雅黑"/>
                <a:ea typeface="微软雅黑"/>
                <a:cs typeface="微软雅黑"/>
              </a:rPr>
              <a:t>银行业数据管理与经营的发展历程：</a:t>
            </a:r>
            <a:r>
              <a:rPr lang="zh-CN" altLang="en-US" sz="1600">
                <a:solidFill>
                  <a:srgbClr val="383838"/>
                </a:solidFill>
                <a:latin typeface="微软雅黑"/>
                <a:ea typeface="微软雅黑"/>
                <a:cs typeface="微软雅黑"/>
              </a:rPr>
              <a:t>当前阶段是数据治理，近期目标为数据资源化，，中远期目标为数据资产化，经营数据资产并主张数据价值。</a:t>
            </a:r>
            <a:r>
              <a:rPr lang="zh-CN" altLang="en-US" sz="1600" b="1">
                <a:solidFill>
                  <a:srgbClr val="0042FF"/>
                </a:solidFill>
                <a:latin typeface="微软雅黑"/>
                <a:ea typeface="微软雅黑"/>
                <a:cs typeface="微软雅黑"/>
              </a:rPr>
              <a:t>最终实现数据资本化</a:t>
            </a:r>
            <a:r>
              <a:rPr lang="zh-CN" altLang="en-US" sz="1600">
                <a:solidFill>
                  <a:srgbClr val="383838"/>
                </a:solidFill>
                <a:latin typeface="微软雅黑"/>
                <a:ea typeface="微软雅黑"/>
                <a:cs typeface="微软雅黑"/>
              </a:rPr>
              <a:t>，推动数据要素流通和资产增值，以提升银行在资本市场的市值。</a:t>
            </a:r>
            <a:endParaRPr lang="zh-CN" altLang="en-US" sz="1600">
              <a:solidFill>
                <a:srgbClr val="383838"/>
              </a:solidFill>
              <a:latin typeface="微软雅黑"/>
              <a:ea typeface="微软雅黑"/>
              <a:cs typeface="微软雅黑"/>
            </a:endParaRPr>
          </a:p>
        </p:txBody>
      </p:sp>
      <p:sp>
        <p:nvSpPr>
          <p:cNvPr id="6" name="任意多边形 5"/>
          <p:cNvSpPr/>
          <p:nvPr/>
        </p:nvSpPr>
        <p:spPr>
          <a:xfrm rot="18600000">
            <a:off x="9898380" y="2133600"/>
            <a:ext cx="100330" cy="48768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58" h="740">
                <a:moveTo>
                  <a:pt x="0" y="633"/>
                </a:moveTo>
                <a:lnTo>
                  <a:pt x="73" y="0"/>
                </a:lnTo>
                <a:lnTo>
                  <a:pt x="158" y="740"/>
                </a:lnTo>
                <a:lnTo>
                  <a:pt x="0" y="633"/>
                </a:lnTo>
                <a:close/>
              </a:path>
            </a:pathLst>
          </a:custGeom>
          <a:solidFill>
            <a:srgbClr val="3368FF"/>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383838"/>
                </a:solidFill>
                <a:latin typeface="微软雅黑"/>
                <a:ea typeface="微软雅黑"/>
                <a:cs typeface="微软雅黑"/>
              </a:defRPr>
            </a:pPr>
            <a:endParaRPr lang="zh-CN" altLang="en-US">
              <a:solidFill>
                <a:srgbClr val="383838"/>
              </a:solidFill>
              <a:cs typeface="微软雅黑"/>
              <a:latin typeface="微软雅黑"/>
              <a:ea typeface="微软雅黑"/>
            </a:endParaRPr>
          </a:p>
        </p:txBody>
      </p:sp>
      <p:pic>
        <p:nvPicPr>
          <p:cNvPr id="8" name="图片 7" descr="数据资产"/>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1421765" y="4416425"/>
            <a:ext cx="192405" cy="192405"/>
          </a:xfrm>
          <a:prstGeom prst="rect">
            <a:avLst/>
          </a:prstGeom>
        </p:spPr>
      </p:pic>
      <p:pic>
        <p:nvPicPr>
          <p:cNvPr id="9" name="图片 8" descr="资产统计"/>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a:off x="3856355" y="4404995"/>
            <a:ext cx="266700" cy="266700"/>
          </a:xfrm>
          <a:prstGeom prst="rect">
            <a:avLst/>
          </a:prstGeom>
        </p:spPr>
      </p:pic>
      <p:pic>
        <p:nvPicPr>
          <p:cNvPr id="13" name="图片 12" descr="数据4"/>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6332220" y="4237990"/>
            <a:ext cx="210820" cy="210820"/>
          </a:xfrm>
          <a:prstGeom prst="rect">
            <a:avLst/>
          </a:prstGeom>
        </p:spPr>
      </p:pic>
      <p:pic>
        <p:nvPicPr>
          <p:cNvPr id="15" name="图片 14" descr="资产数字化"/>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8850630" y="3849370"/>
            <a:ext cx="191770" cy="191770"/>
          </a:xfrm>
          <a:prstGeom prst="rect">
            <a:avLst/>
          </a:prstGeom>
        </p:spPr>
      </p:pic>
      <p:pic>
        <p:nvPicPr>
          <p:cNvPr id="16" name="图片 15" descr="水资源_1"/>
          <p:cNvPicPr>
            <a:picLocks noChangeAspect="1"/>
          </p:cNvPicPr>
          <p:nvPr/>
        </p:nvPicPr>
        <p:blipFill>
          <a:blip r:embed="rId32">
            <a:extLst>
              <a:ext uri="{96DAC541-7B7A-43D3-8B79-37D633B846F1}">
                <asvg:svgBlip xmlns:asvg="http://schemas.microsoft.com/office/drawing/2016/SVG/main" r:embed="rId33"/>
              </a:ext>
            </a:extLst>
          </a:blip>
          <a:stretch>
            <a:fillRect/>
          </a:stretch>
        </p:blipFill>
        <p:spPr>
          <a:xfrm>
            <a:off x="2111693" y="5911215"/>
            <a:ext cx="551815" cy="528320"/>
          </a:xfrm>
          <a:prstGeom prst="rect">
            <a:avLst/>
          </a:prstGeom>
          <a:gradFill>
            <a:gsLst>
              <a:gs pos="0">
                <a:srgbClr val="E6E6E6"/>
              </a:gs>
              <a:gs pos="100000">
                <a:srgbClr val="3368FF"/>
              </a:gs>
            </a:gsLst>
            <a:lin ang="0" scaled="0"/>
          </a:gradFill>
        </p:spPr>
      </p:pic>
      <p:pic>
        <p:nvPicPr>
          <p:cNvPr id="17" name="图片 16" descr="上市审计"/>
          <p:cNvPicPr>
            <a:picLocks noChangeAspect="1"/>
          </p:cNvPicPr>
          <p:nvPr/>
        </p:nvPicPr>
        <p:blipFill>
          <a:blip r:embed="rId34">
            <a:extLst>
              <a:ext uri="{96DAC541-7B7A-43D3-8B79-37D633B846F1}">
                <asvg:svgBlip xmlns:asvg="http://schemas.microsoft.com/office/drawing/2016/SVG/main" r:embed="rId35"/>
              </a:ext>
            </a:extLst>
          </a:blip>
          <a:stretch>
            <a:fillRect/>
          </a:stretch>
        </p:blipFill>
        <p:spPr>
          <a:xfrm>
            <a:off x="9615805" y="5918835"/>
            <a:ext cx="480060" cy="480060"/>
          </a:xfrm>
          <a:prstGeom prst="rect">
            <a:avLst/>
          </a:prstGeom>
        </p:spPr>
      </p:pic>
      <p:pic>
        <p:nvPicPr>
          <p:cNvPr id="18" name="图片 17" descr="资产 (1)"/>
          <p:cNvPicPr>
            <a:picLocks noChangeAspect="1"/>
          </p:cNvPicPr>
          <p:nvPr/>
        </p:nvPicPr>
        <p:blipFill>
          <a:blip r:embed="rId36">
            <a:extLst>
              <a:ext uri="{96DAC541-7B7A-43D3-8B79-37D633B846F1}">
                <asvg:svgBlip xmlns:asvg="http://schemas.microsoft.com/office/drawing/2016/SVG/main" r:embed="rId37"/>
              </a:ext>
            </a:extLst>
          </a:blip>
          <a:stretch>
            <a:fillRect/>
          </a:stretch>
        </p:blipFill>
        <p:spPr>
          <a:xfrm>
            <a:off x="7097395" y="5875655"/>
            <a:ext cx="537210" cy="537210"/>
          </a:xfrm>
          <a:prstGeom prst="rect">
            <a:avLst/>
          </a:prstGeom>
        </p:spPr>
      </p:pic>
      <p:pic>
        <p:nvPicPr>
          <p:cNvPr id="19" name="图片 18" descr="irrigation_volume"/>
          <p:cNvPicPr>
            <a:picLocks noChangeAspect="1"/>
          </p:cNvPicPr>
          <p:nvPr/>
        </p:nvPicPr>
        <p:blipFill>
          <a:blip r:embed="rId38">
            <a:extLst>
              <a:ext uri="{96DAC541-7B7A-43D3-8B79-37D633B846F1}">
                <asvg:svgBlip xmlns:asvg="http://schemas.microsoft.com/office/drawing/2016/SVG/main" r:embed="rId39"/>
              </a:ext>
            </a:extLst>
          </a:blip>
          <a:stretch>
            <a:fillRect/>
          </a:stretch>
        </p:blipFill>
        <p:spPr>
          <a:xfrm>
            <a:off x="4677410" y="5970270"/>
            <a:ext cx="396875" cy="396875"/>
          </a:xfrm>
          <a:prstGeom prst="rect">
            <a:avLst/>
          </a:prstGeom>
        </p:spPr>
      </p:pic>
      <p:cxnSp>
        <p:nvCxnSpPr>
          <p:cNvPr id="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1" name="组合 10"/>
          <p:cNvGrpSpPr/>
          <p:nvPr/>
        </p:nvGrpSpPr>
        <p:grpSpPr>
          <a:xfrm>
            <a:off x="8738235" y="348615"/>
            <a:ext cx="3219450" cy="332740"/>
            <a:chOff x="13761" y="549"/>
            <a:chExt cx="5070" cy="524"/>
          </a:xfrm>
        </p:grpSpPr>
        <p:pic>
          <p:nvPicPr>
            <p:cNvPr id="20" name="图片 19"/>
            <p:cNvPicPr>
              <a:picLocks noChangeAspect="1"/>
            </p:cNvPicPr>
            <p:nvPr userDrawn="1"/>
          </p:nvPicPr>
          <p:blipFill>
            <a:blip r:embed="rId40"/>
            <a:srcRect l="17002" t="-1765" r="56499" b="-1176"/>
            <a:stretch>
              <a:fillRect/>
            </a:stretch>
          </p:blipFill>
          <p:spPr>
            <a:xfrm>
              <a:off x="13761" y="549"/>
              <a:ext cx="1582" cy="525"/>
            </a:xfrm>
            <a:prstGeom prst="rect">
              <a:avLst/>
            </a:prstGeom>
          </p:spPr>
        </p:pic>
        <p:sp>
          <p:nvSpPr>
            <p:cNvPr id="21" name="文本框 2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 name="图表 29"/>
          <p:cNvGraphicFramePr/>
          <p:nvPr/>
        </p:nvGraphicFramePr>
        <p:xfrm>
          <a:off x="703580" y="2051050"/>
          <a:ext cx="10796905" cy="4343400"/>
        </p:xfrm>
        <a:graphic>
          <a:graphicData uri="http://schemas.openxmlformats.org/drawingml/2006/chart">
            <c:chart xmlns:c="http://schemas.openxmlformats.org/drawingml/2006/chart" xmlns:r="http://schemas.openxmlformats.org/officeDocument/2006/relationships" r:id="rId1"/>
          </a:graphicData>
        </a:graphic>
      </p:graphicFrame>
      <p:sp>
        <p:nvSpPr>
          <p:cNvPr id="5" name="标题 2"/>
          <p:cNvSpPr>
            <a:spLocks noGrp="1"/>
          </p:cNvSpPr>
          <p:nvPr/>
        </p:nvSpPr>
        <p:spPr>
          <a:xfrm>
            <a:off x="1105535" y="348298"/>
            <a:ext cx="7271385"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78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490">
                <a:solidFill>
                  <a:srgbClr val="0042FF"/>
                </a:solidFill>
                <a:effectLst/>
                <a:latin typeface="微软雅黑"/>
                <a:ea typeface="微软雅黑"/>
                <a:cs typeface="微软雅黑"/>
              </a:rPr>
              <a:t>业务框架</a:t>
            </a:r>
            <a:r>
              <a:rPr lang="en-US" altLang="zh-CN" sz="2490">
                <a:solidFill>
                  <a:srgbClr val="0042FF"/>
                </a:solidFill>
                <a:effectLst/>
                <a:latin typeface="微软雅黑"/>
                <a:ea typeface="微软雅黑"/>
                <a:cs typeface="微软雅黑"/>
              </a:rPr>
              <a:t>-</a:t>
            </a:r>
            <a:r>
              <a:rPr sz="2490">
                <a:solidFill>
                  <a:srgbClr val="0042FF"/>
                </a:solidFill>
                <a:effectLst/>
                <a:latin typeface="微软雅黑"/>
                <a:ea typeface="微软雅黑"/>
                <a:cs typeface="微软雅黑"/>
              </a:rPr>
              <a:t>时间流程架构 | </a:t>
            </a:r>
            <a:r>
              <a:rPr sz="2490">
                <a:solidFill>
                  <a:srgbClr val="383838"/>
                </a:solidFill>
                <a:effectLst/>
                <a:latin typeface="微软雅黑"/>
                <a:ea typeface="微软雅黑"/>
                <a:cs typeface="微软雅黑"/>
              </a:rPr>
              <a:t>我国二手车市场</a:t>
            </a:r>
            <a:r>
              <a:rPr lang="zh-CN" altLang="en-US" sz="2490">
                <a:solidFill>
                  <a:srgbClr val="383838"/>
                </a:solidFill>
                <a:effectLst/>
                <a:latin typeface="微软雅黑"/>
                <a:ea typeface="微软雅黑"/>
                <a:cs typeface="微软雅黑"/>
              </a:rPr>
              <a:t>发展历程</a:t>
            </a:r>
            <a:endParaRPr lang="zh-CN" altLang="en-US" sz="249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5600" y="186055"/>
            <a:ext cx="549910" cy="549910"/>
          </a:xfrm>
          <a:prstGeom prst="rect">
            <a:avLst/>
          </a:prstGeom>
        </p:spPr>
      </p:pic>
      <p:sp>
        <p:nvSpPr>
          <p:cNvPr id="6" name="图形 12"/>
          <p:cNvSpPr/>
          <p:nvPr/>
        </p:nvSpPr>
        <p:spPr>
          <a:xfrm>
            <a:off x="650588" y="2611700"/>
            <a:ext cx="10849610" cy="2824222"/>
          </a:xfrm>
          <a:custGeom>
            <a:avLst/>
            <a:gdLst>
              <a:gd name="connsiteX0" fmla="*/ 0 w 17086"/>
              <a:gd name="connsiteY0" fmla="*/ 3312 h 4447"/>
              <a:gd name="connsiteX1" fmla="*/ 1757 w 17086"/>
              <a:gd name="connsiteY1" fmla="*/ 4437 h 4447"/>
              <a:gd name="connsiteX2" fmla="*/ 3137 w 17086"/>
              <a:gd name="connsiteY2" fmla="*/ 3799 h 4447"/>
              <a:gd name="connsiteX3" fmla="*/ 4492 w 17086"/>
              <a:gd name="connsiteY3" fmla="*/ 2718 h 4447"/>
              <a:gd name="connsiteX4" fmla="*/ 5821 w 17086"/>
              <a:gd name="connsiteY4" fmla="*/ 3419 h 4447"/>
              <a:gd name="connsiteX5" fmla="*/ 7321 w 17086"/>
              <a:gd name="connsiteY5" fmla="*/ 3585 h 4447"/>
              <a:gd name="connsiteX6" fmla="*/ 8667 w 17086"/>
              <a:gd name="connsiteY6" fmla="*/ 2333 h 4447"/>
              <a:gd name="connsiteX7" fmla="*/ 10045 w 17086"/>
              <a:gd name="connsiteY7" fmla="*/ 1739 h 4447"/>
              <a:gd name="connsiteX8" fmla="*/ 11417 w 17086"/>
              <a:gd name="connsiteY8" fmla="*/ 2310 h 4447"/>
              <a:gd name="connsiteX9" fmla="*/ 12797 w 17086"/>
              <a:gd name="connsiteY9" fmla="*/ 2522 h 4447"/>
              <a:gd name="connsiteX10" fmla="*/ 14177 w 17086"/>
              <a:gd name="connsiteY10" fmla="*/ 2097 h 4447"/>
              <a:gd name="connsiteX11" fmla="*/ 15557 w 17086"/>
              <a:gd name="connsiteY11" fmla="*/ 1459 h 4447"/>
              <a:gd name="connsiteX12" fmla="*/ 17086 w 17086"/>
              <a:gd name="connsiteY12" fmla="*/ 0 h 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86" h="4448">
                <a:moveTo>
                  <a:pt x="0" y="3312"/>
                </a:moveTo>
                <a:cubicBezTo>
                  <a:pt x="460" y="3595"/>
                  <a:pt x="1234" y="4356"/>
                  <a:pt x="1757" y="4437"/>
                </a:cubicBezTo>
                <a:cubicBezTo>
                  <a:pt x="2280" y="4518"/>
                  <a:pt x="2677" y="4118"/>
                  <a:pt x="3137" y="3799"/>
                </a:cubicBezTo>
                <a:cubicBezTo>
                  <a:pt x="3597" y="3480"/>
                  <a:pt x="4032" y="2789"/>
                  <a:pt x="4492" y="2718"/>
                </a:cubicBezTo>
                <a:cubicBezTo>
                  <a:pt x="4952" y="2648"/>
                  <a:pt x="5361" y="3242"/>
                  <a:pt x="5821" y="3419"/>
                </a:cubicBezTo>
                <a:cubicBezTo>
                  <a:pt x="6281" y="3596"/>
                  <a:pt x="6861" y="3762"/>
                  <a:pt x="7321" y="3585"/>
                </a:cubicBezTo>
                <a:cubicBezTo>
                  <a:pt x="7781" y="3408"/>
                  <a:pt x="8207" y="2652"/>
                  <a:pt x="8667" y="2333"/>
                </a:cubicBezTo>
                <a:cubicBezTo>
                  <a:pt x="9127" y="2014"/>
                  <a:pt x="9585" y="1739"/>
                  <a:pt x="10045" y="1739"/>
                </a:cubicBezTo>
                <a:cubicBezTo>
                  <a:pt x="10505" y="1739"/>
                  <a:pt x="10957" y="2168"/>
                  <a:pt x="11417" y="2310"/>
                </a:cubicBezTo>
                <a:cubicBezTo>
                  <a:pt x="11877" y="2452"/>
                  <a:pt x="12337" y="2558"/>
                  <a:pt x="12797" y="2522"/>
                </a:cubicBezTo>
                <a:cubicBezTo>
                  <a:pt x="13257" y="2487"/>
                  <a:pt x="13717" y="2274"/>
                  <a:pt x="14177" y="2097"/>
                </a:cubicBezTo>
                <a:cubicBezTo>
                  <a:pt x="14637" y="1920"/>
                  <a:pt x="15097" y="1778"/>
                  <a:pt x="15557" y="1459"/>
                </a:cubicBezTo>
                <a:cubicBezTo>
                  <a:pt x="16017" y="1140"/>
                  <a:pt x="16626" y="425"/>
                  <a:pt x="17086" y="0"/>
                </a:cubicBezTo>
              </a:path>
            </a:pathLst>
          </a:custGeom>
          <a:noFill/>
          <a:ln w="63500" cap="rnd">
            <a:gradFill>
              <a:gsLst>
                <a:gs pos="80000">
                  <a:srgbClr val="3368FF"/>
                </a:gs>
                <a:gs pos="84000">
                  <a:srgbClr val="B3D4FE"/>
                </a:gs>
              </a:gsLst>
              <a:lin ang="0" scaled="1"/>
            </a:gradFill>
            <a:prstDash val="solid"/>
            <a:round/>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 name="椭圆 1"/>
          <p:cNvSpPr/>
          <p:nvPr/>
        </p:nvSpPr>
        <p:spPr>
          <a:xfrm>
            <a:off x="754380" y="4771390"/>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 name="椭圆 2"/>
          <p:cNvSpPr/>
          <p:nvPr/>
        </p:nvSpPr>
        <p:spPr>
          <a:xfrm>
            <a:off x="1776095" y="5337810"/>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 name="椭圆 7"/>
          <p:cNvSpPr/>
          <p:nvPr/>
        </p:nvSpPr>
        <p:spPr>
          <a:xfrm>
            <a:off x="2717800" y="4784090"/>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9" name="椭圆 8"/>
          <p:cNvSpPr/>
          <p:nvPr/>
        </p:nvSpPr>
        <p:spPr>
          <a:xfrm>
            <a:off x="3540125" y="4258945"/>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1" name="椭圆 10"/>
          <p:cNvSpPr/>
          <p:nvPr/>
        </p:nvSpPr>
        <p:spPr>
          <a:xfrm>
            <a:off x="4386580" y="4709795"/>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3" name="椭圆 12"/>
          <p:cNvSpPr/>
          <p:nvPr/>
        </p:nvSpPr>
        <p:spPr>
          <a:xfrm>
            <a:off x="5094605" y="4836795"/>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4" name="椭圆 13"/>
          <p:cNvSpPr/>
          <p:nvPr/>
        </p:nvSpPr>
        <p:spPr>
          <a:xfrm>
            <a:off x="6045200" y="4011295"/>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5" name="椭圆 14"/>
          <p:cNvSpPr/>
          <p:nvPr/>
        </p:nvSpPr>
        <p:spPr>
          <a:xfrm>
            <a:off x="6948170" y="3620770"/>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7" name="椭圆 16"/>
          <p:cNvSpPr/>
          <p:nvPr/>
        </p:nvSpPr>
        <p:spPr>
          <a:xfrm>
            <a:off x="7903845" y="4011295"/>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8" name="椭圆 17"/>
          <p:cNvSpPr/>
          <p:nvPr/>
        </p:nvSpPr>
        <p:spPr>
          <a:xfrm>
            <a:off x="8721090" y="4085590"/>
            <a:ext cx="208915" cy="208915"/>
          </a:xfrm>
          <a:prstGeom prst="ellipse">
            <a:avLst/>
          </a:prstGeom>
          <a:solidFill>
            <a:srgbClr val="3368FF"/>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9" name="椭圆 18"/>
          <p:cNvSpPr/>
          <p:nvPr/>
        </p:nvSpPr>
        <p:spPr>
          <a:xfrm>
            <a:off x="9451340" y="3876675"/>
            <a:ext cx="208915" cy="208915"/>
          </a:xfrm>
          <a:prstGeom prst="ellipse">
            <a:avLst/>
          </a:prstGeom>
          <a:solidFill>
            <a:srgbClr val="B3D4FE"/>
          </a:solidFill>
          <a:ln w="38100">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solidFill>
                <a:srgbClr val="383838"/>
              </a:solidFill>
              <a:latin typeface="微软雅黑"/>
              <a:ea typeface="微软雅黑"/>
              <a:cs typeface="微软雅黑"/>
              <a:sym typeface="微软雅黑"/>
            </a:endParaRPr>
          </a:p>
        </p:txBody>
      </p:sp>
      <p:sp>
        <p:nvSpPr>
          <p:cNvPr id="20" name="椭圆 19"/>
          <p:cNvSpPr/>
          <p:nvPr/>
        </p:nvSpPr>
        <p:spPr>
          <a:xfrm>
            <a:off x="10695940" y="3187065"/>
            <a:ext cx="208915" cy="208915"/>
          </a:xfrm>
          <a:prstGeom prst="ellipse">
            <a:avLst/>
          </a:prstGeom>
          <a:solidFill>
            <a:srgbClr val="B3D4FE"/>
          </a:solidFill>
          <a:ln w="38100">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cxnSp>
        <p:nvCxnSpPr>
          <p:cNvPr id="21" name="直接连接符 20"/>
          <p:cNvCxnSpPr/>
          <p:nvPr/>
        </p:nvCxnSpPr>
        <p:spPr>
          <a:xfrm>
            <a:off x="630555" y="2446020"/>
            <a:ext cx="0" cy="2247900"/>
          </a:xfrm>
          <a:prstGeom prst="line">
            <a:avLst/>
          </a:prstGeom>
          <a:ln>
            <a:solidFill>
              <a:srgbClr val="383838">
                <a:alpha val="50000"/>
              </a:srgbClr>
            </a:solidFill>
            <a:prstDash val="sysDash"/>
          </a:ln>
        </p:spPr>
        <p:style>
          <a:lnRef idx="2">
            <a:srgbClr val="0042FF"/>
          </a:lnRef>
          <a:fillRef idx="0">
            <a:srgbClr val="FFFFFF"/>
          </a:fillRef>
          <a:effectRef idx="0">
            <a:srgbClr val="FFFFFF"/>
          </a:effectRef>
          <a:fontRef idx="minor">
            <a:srgbClr val="383838"/>
          </a:fontRef>
        </p:style>
      </p:cxnSp>
      <p:sp>
        <p:nvSpPr>
          <p:cNvPr id="22" name="矩形 21"/>
          <p:cNvSpPr/>
          <p:nvPr/>
        </p:nvSpPr>
        <p:spPr>
          <a:xfrm>
            <a:off x="630555" y="1968500"/>
            <a:ext cx="3860165" cy="411480"/>
          </a:xfrm>
          <a:prstGeom prst="rect">
            <a:avLst/>
          </a:prstGeom>
          <a:gradFill>
            <a:gsLst>
              <a:gs pos="0">
                <a:srgbClr val="3368FF"/>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sym typeface="微软雅黑"/>
              </a:rPr>
              <a:t>探索期</a:t>
            </a:r>
            <a:endParaRPr lang="zh-CN" altLang="en-US" sz="1400" b="1">
              <a:solidFill>
                <a:srgbClr val="FFFFFF"/>
              </a:solidFill>
              <a:latin typeface="微软雅黑"/>
              <a:ea typeface="微软雅黑"/>
              <a:cs typeface="微软雅黑"/>
              <a:sym typeface="微软雅黑"/>
            </a:endParaRPr>
          </a:p>
        </p:txBody>
      </p:sp>
      <p:cxnSp>
        <p:nvCxnSpPr>
          <p:cNvPr id="23" name="直接连接符 22"/>
          <p:cNvCxnSpPr>
            <a:endCxn id="45" idx="0"/>
          </p:cNvCxnSpPr>
          <p:nvPr/>
        </p:nvCxnSpPr>
        <p:spPr>
          <a:xfrm>
            <a:off x="4561840" y="2523490"/>
            <a:ext cx="0" cy="1097280"/>
          </a:xfrm>
          <a:prstGeom prst="line">
            <a:avLst/>
          </a:prstGeom>
          <a:ln>
            <a:solidFill>
              <a:srgbClr val="383838">
                <a:alpha val="50000"/>
              </a:srgbClr>
            </a:solidFill>
            <a:prstDash val="sysDash"/>
          </a:ln>
        </p:spPr>
        <p:style>
          <a:lnRef idx="2">
            <a:srgbClr val="0042FF"/>
          </a:lnRef>
          <a:fillRef idx="0">
            <a:srgbClr val="FFFFFF"/>
          </a:fillRef>
          <a:effectRef idx="0">
            <a:srgbClr val="FFFFFF"/>
          </a:effectRef>
          <a:fontRef idx="minor">
            <a:srgbClr val="383838"/>
          </a:fontRef>
        </p:style>
      </p:cxnSp>
      <p:cxnSp>
        <p:nvCxnSpPr>
          <p:cNvPr id="24" name="直接连接符 23"/>
          <p:cNvCxnSpPr/>
          <p:nvPr/>
        </p:nvCxnSpPr>
        <p:spPr>
          <a:xfrm>
            <a:off x="7076440" y="2498725"/>
            <a:ext cx="0" cy="922655"/>
          </a:xfrm>
          <a:prstGeom prst="line">
            <a:avLst/>
          </a:prstGeom>
          <a:ln>
            <a:solidFill>
              <a:srgbClr val="383838">
                <a:alpha val="50000"/>
              </a:srgbClr>
            </a:solidFill>
            <a:prstDash val="sysDash"/>
          </a:ln>
        </p:spPr>
        <p:style>
          <a:lnRef idx="2">
            <a:srgbClr val="0042FF"/>
          </a:lnRef>
          <a:fillRef idx="0">
            <a:srgbClr val="FFFFFF"/>
          </a:fillRef>
          <a:effectRef idx="0">
            <a:srgbClr val="FFFFFF"/>
          </a:effectRef>
          <a:fontRef idx="minor">
            <a:srgbClr val="383838"/>
          </a:fontRef>
        </p:style>
      </p:cxnSp>
      <p:cxnSp>
        <p:nvCxnSpPr>
          <p:cNvPr id="25" name="直接连接符 24"/>
          <p:cNvCxnSpPr/>
          <p:nvPr/>
        </p:nvCxnSpPr>
        <p:spPr>
          <a:xfrm>
            <a:off x="8673465" y="2414905"/>
            <a:ext cx="0" cy="1123950"/>
          </a:xfrm>
          <a:prstGeom prst="line">
            <a:avLst/>
          </a:prstGeom>
          <a:ln>
            <a:solidFill>
              <a:srgbClr val="383838">
                <a:alpha val="50000"/>
              </a:srgbClr>
            </a:solidFill>
            <a:prstDash val="sysDash"/>
          </a:ln>
        </p:spPr>
        <p:style>
          <a:lnRef idx="2">
            <a:srgbClr val="0042FF"/>
          </a:lnRef>
          <a:fillRef idx="0">
            <a:srgbClr val="FFFFFF"/>
          </a:fillRef>
          <a:effectRef idx="0">
            <a:srgbClr val="FFFFFF"/>
          </a:effectRef>
          <a:fontRef idx="minor">
            <a:srgbClr val="383838"/>
          </a:fontRef>
        </p:style>
      </p:cxnSp>
      <p:cxnSp>
        <p:nvCxnSpPr>
          <p:cNvPr id="26" name="直接连接符 25"/>
          <p:cNvCxnSpPr/>
          <p:nvPr/>
        </p:nvCxnSpPr>
        <p:spPr>
          <a:xfrm>
            <a:off x="11358880" y="2453005"/>
            <a:ext cx="0" cy="101600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27" name="直接连接符 26"/>
          <p:cNvCxnSpPr/>
          <p:nvPr/>
        </p:nvCxnSpPr>
        <p:spPr>
          <a:xfrm>
            <a:off x="10243185" y="2358390"/>
            <a:ext cx="0" cy="1016000"/>
          </a:xfrm>
          <a:prstGeom prst="line">
            <a:avLst/>
          </a:prstGeom>
          <a:ln>
            <a:solidFill>
              <a:srgbClr val="383838">
                <a:alpha val="50000"/>
              </a:srgbClr>
            </a:solidFill>
            <a:prstDash val="sysDash"/>
          </a:ln>
        </p:spPr>
        <p:style>
          <a:lnRef idx="2">
            <a:srgbClr val="0042FF"/>
          </a:lnRef>
          <a:fillRef idx="0">
            <a:srgbClr val="FFFFFF"/>
          </a:fillRef>
          <a:effectRef idx="0">
            <a:srgbClr val="FFFFFF"/>
          </a:effectRef>
          <a:fontRef idx="minor">
            <a:srgbClr val="383838"/>
          </a:fontRef>
        </p:style>
      </p:cxnSp>
      <p:sp>
        <p:nvSpPr>
          <p:cNvPr id="28" name="矩形 27"/>
          <p:cNvSpPr/>
          <p:nvPr/>
        </p:nvSpPr>
        <p:spPr>
          <a:xfrm>
            <a:off x="4576128" y="1968500"/>
            <a:ext cx="2449195" cy="411480"/>
          </a:xfrm>
          <a:prstGeom prst="rect">
            <a:avLst/>
          </a:prstGeom>
          <a:gradFill>
            <a:gsLst>
              <a:gs pos="0">
                <a:srgbClr val="3368FF"/>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sym typeface="微软雅黑"/>
              </a:rPr>
              <a:t>政策规范期</a:t>
            </a:r>
            <a:endParaRPr lang="zh-CN" altLang="en-US" sz="1400" b="1">
              <a:solidFill>
                <a:srgbClr val="FFFFFF"/>
              </a:solidFill>
              <a:latin typeface="微软雅黑"/>
              <a:ea typeface="微软雅黑"/>
              <a:cs typeface="微软雅黑"/>
              <a:sym typeface="微软雅黑"/>
            </a:endParaRPr>
          </a:p>
        </p:txBody>
      </p:sp>
      <p:sp>
        <p:nvSpPr>
          <p:cNvPr id="29" name="矩形 28"/>
          <p:cNvSpPr/>
          <p:nvPr/>
        </p:nvSpPr>
        <p:spPr>
          <a:xfrm>
            <a:off x="7157085" y="1968500"/>
            <a:ext cx="1456055" cy="411480"/>
          </a:xfrm>
          <a:prstGeom prst="rect">
            <a:avLst/>
          </a:prstGeom>
          <a:gradFill>
            <a:gsLst>
              <a:gs pos="0">
                <a:srgbClr val="3368FF"/>
              </a:gs>
              <a:gs pos="100000">
                <a:srgbClr val="0042FF"/>
              </a:gs>
            </a:gsLst>
            <a:lin ang="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sym typeface="微软雅黑"/>
              </a:rPr>
              <a:t>政策驱动期</a:t>
            </a:r>
            <a:endParaRPr lang="zh-CN" altLang="en-US" sz="1400" b="1">
              <a:solidFill>
                <a:srgbClr val="FFFFFF"/>
              </a:solidFill>
              <a:latin typeface="微软雅黑"/>
              <a:ea typeface="微软雅黑"/>
              <a:cs typeface="微软雅黑"/>
              <a:sym typeface="微软雅黑"/>
            </a:endParaRPr>
          </a:p>
        </p:txBody>
      </p:sp>
      <p:sp>
        <p:nvSpPr>
          <p:cNvPr id="31" name="矩形 30"/>
          <p:cNvSpPr/>
          <p:nvPr/>
        </p:nvSpPr>
        <p:spPr>
          <a:xfrm>
            <a:off x="8713470" y="1968500"/>
            <a:ext cx="1458595" cy="411480"/>
          </a:xfrm>
          <a:prstGeom prst="rect">
            <a:avLst/>
          </a:prstGeom>
          <a:gradFill>
            <a:gsLst>
              <a:gs pos="0">
                <a:srgbClr val="3368FF"/>
              </a:gs>
              <a:gs pos="10000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latin typeface="微软雅黑"/>
                <a:ea typeface="微软雅黑"/>
                <a:cs typeface="微软雅黑"/>
                <a:sym typeface="微软雅黑"/>
              </a:rPr>
              <a:t>市场爆发期</a:t>
            </a:r>
            <a:endParaRPr lang="zh-CN" altLang="en-US" sz="1400" b="1">
              <a:latin typeface="微软雅黑"/>
              <a:ea typeface="微软雅黑"/>
              <a:cs typeface="微软雅黑"/>
              <a:sym typeface="微软雅黑"/>
            </a:endParaRPr>
          </a:p>
        </p:txBody>
      </p:sp>
      <p:sp>
        <p:nvSpPr>
          <p:cNvPr id="32" name="矩形 31"/>
          <p:cNvSpPr/>
          <p:nvPr/>
        </p:nvSpPr>
        <p:spPr>
          <a:xfrm>
            <a:off x="10294620" y="1968500"/>
            <a:ext cx="1064895" cy="411480"/>
          </a:xfrm>
          <a:prstGeom prst="rect">
            <a:avLst/>
          </a:prstGeom>
          <a:gradFill>
            <a:gsLst>
              <a:gs pos="0">
                <a:srgbClr val="3368FF"/>
              </a:gs>
              <a:gs pos="10000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400" b="1">
                <a:latin typeface="微软雅黑"/>
                <a:ea typeface="微软雅黑"/>
                <a:cs typeface="微软雅黑"/>
                <a:sym typeface="微软雅黑"/>
              </a:rPr>
              <a:t>拓展期</a:t>
            </a:r>
            <a:endParaRPr lang="zh-CN" altLang="en-US" sz="1400" b="1">
              <a:latin typeface="微软雅黑"/>
              <a:ea typeface="微软雅黑"/>
              <a:cs typeface="微软雅黑"/>
              <a:sym typeface="微软雅黑"/>
            </a:endParaRPr>
          </a:p>
        </p:txBody>
      </p:sp>
      <p:sp>
        <p:nvSpPr>
          <p:cNvPr id="33" name="文本框 32"/>
          <p:cNvSpPr txBox="1"/>
          <p:nvPr/>
        </p:nvSpPr>
        <p:spPr>
          <a:xfrm>
            <a:off x="627380" y="5575300"/>
            <a:ext cx="1092835" cy="304800"/>
          </a:xfrm>
          <a:prstGeom prst="rect">
            <a:avLst/>
          </a:prstGeom>
          <a:noFill/>
        </p:spPr>
        <p:txBody>
          <a:bodyPr wrap="square" rtlCol="0" anchor="t" lIns="0" rIns="0" tIns="0" bIns="0">
            <a:noAutofit/>
          </a:bodyPr>
          <a:p>
            <a:pPr eaLnBrk="1" latinLnBrk="0" marL="0" marR="0" indent="0">
              <a:lnSpc>
                <a:spcPts val="1800"/>
              </a:lnSpc>
              <a:spcBef>
                <a:spcPts val="0"/>
              </a:spcBef>
              <a:spcAft>
                <a:spcPts val="0"/>
              </a:spcAft>
              <a:defRPr>
                <a:latin typeface="微软雅黑"/>
                <a:ea typeface="微软雅黑"/>
                <a:cs typeface="微软雅黑"/>
              </a:defRPr>
            </a:pPr>
            <a:r>
              <a:rPr lang="en-US" altLang="zh-CN" sz="1600" b="1">
                <a:solidFill>
                  <a:srgbClr val="0042FF"/>
                </a:solidFill>
                <a:latin typeface="微软雅黑"/>
                <a:ea typeface="微软雅黑"/>
                <a:cs typeface="微软雅黑"/>
              </a:rPr>
              <a:t>2005.08</a:t>
            </a:r>
            <a:endParaRPr lang="en-US" altLang="zh-CN" sz="1600" b="1">
              <a:solidFill>
                <a:srgbClr val="0042FF"/>
              </a:solidFill>
              <a:latin typeface="微软雅黑"/>
              <a:ea typeface="微软雅黑"/>
              <a:cs typeface="微软雅黑"/>
            </a:endParaRPr>
          </a:p>
        </p:txBody>
      </p:sp>
      <p:sp>
        <p:nvSpPr>
          <p:cNvPr id="34" name="文本框 33"/>
          <p:cNvSpPr txBox="1"/>
          <p:nvPr/>
        </p:nvSpPr>
        <p:spPr>
          <a:xfrm>
            <a:off x="627380" y="5829300"/>
            <a:ext cx="1473200" cy="92710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商务部等发布</a:t>
            </a:r>
            <a:r>
              <a:rPr lang="zh-CN" altLang="en-US" sz="1000" b="1">
                <a:solidFill>
                  <a:srgbClr val="383838"/>
                </a:solidFill>
                <a:latin typeface="微软雅黑"/>
                <a:ea typeface="微软雅黑"/>
                <a:cs typeface="微软雅黑"/>
              </a:rPr>
              <a:t>《二手车流通管理办法》</a:t>
            </a:r>
            <a:r>
              <a:rPr lang="zh-CN" altLang="en-US" sz="1000">
                <a:solidFill>
                  <a:srgbClr val="383838"/>
                </a:solidFill>
                <a:latin typeface="微软雅黑"/>
                <a:ea typeface="微软雅黑"/>
                <a:cs typeface="微软雅黑"/>
              </a:rPr>
              <a:t>，取消国企垄断，允许民营资本入场，确立交易市场备案制，推动</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散户车商</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向集群化经营转型。</a:t>
            </a:r>
            <a:endParaRPr lang="zh-CN" altLang="en-US" sz="1000">
              <a:solidFill>
                <a:srgbClr val="383838"/>
              </a:solidFill>
              <a:latin typeface="微软雅黑"/>
              <a:ea typeface="微软雅黑"/>
              <a:cs typeface="微软雅黑"/>
            </a:endParaRPr>
          </a:p>
        </p:txBody>
      </p:sp>
      <p:sp>
        <p:nvSpPr>
          <p:cNvPr id="35" name="文本框 34"/>
          <p:cNvSpPr txBox="1"/>
          <p:nvPr/>
        </p:nvSpPr>
        <p:spPr>
          <a:xfrm>
            <a:off x="2248535" y="5448300"/>
            <a:ext cx="1043305" cy="304800"/>
          </a:xfrm>
          <a:prstGeom prst="rect">
            <a:avLst/>
          </a:prstGeom>
          <a:noFill/>
        </p:spPr>
        <p:txBody>
          <a:bodyPr wrap="square" rtlCol="0" anchor="t" lIns="0" rIns="0" tIns="0" bIns="0">
            <a:noAutofit/>
          </a:bodyPr>
          <a:p>
            <a:pPr eaLnBrk="1" latinLnBrk="0" marL="0" marR="0" indent="0">
              <a:lnSpc>
                <a:spcPts val="1800"/>
              </a:lnSpc>
              <a:spcBef>
                <a:spcPts val="0"/>
              </a:spcBef>
              <a:spcAft>
                <a:spcPts val="0"/>
              </a:spcAft>
              <a:defRPr>
                <a:latin typeface="微软雅黑"/>
                <a:ea typeface="微软雅黑"/>
                <a:cs typeface="微软雅黑"/>
              </a:defRPr>
            </a:pPr>
            <a:r>
              <a:rPr lang="en-US" altLang="zh-CN" sz="1600" b="1">
                <a:solidFill>
                  <a:srgbClr val="0042FF"/>
                </a:solidFill>
                <a:latin typeface="微软雅黑"/>
                <a:ea typeface="微软雅黑"/>
                <a:cs typeface="微软雅黑"/>
              </a:rPr>
              <a:t>2011.01</a:t>
            </a:r>
            <a:endParaRPr lang="en-US" altLang="zh-CN" sz="1600" b="1">
              <a:solidFill>
                <a:srgbClr val="0042FF"/>
              </a:solidFill>
              <a:latin typeface="微软雅黑"/>
              <a:ea typeface="微软雅黑"/>
              <a:cs typeface="微软雅黑"/>
            </a:endParaRPr>
          </a:p>
        </p:txBody>
      </p:sp>
      <p:sp>
        <p:nvSpPr>
          <p:cNvPr id="36" name="文本框 35"/>
          <p:cNvSpPr txBox="1"/>
          <p:nvPr/>
        </p:nvSpPr>
        <p:spPr>
          <a:xfrm>
            <a:off x="2248535" y="5702300"/>
            <a:ext cx="1206500" cy="101600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b="1">
                <a:solidFill>
                  <a:srgbClr val="383838"/>
                </a:solidFill>
                <a:latin typeface="微软雅黑"/>
                <a:ea typeface="微软雅黑"/>
                <a:cs typeface="微软雅黑"/>
              </a:rPr>
              <a:t>北京限购政策实施，</a:t>
            </a:r>
            <a:r>
              <a:rPr lang="zh-CN" altLang="en-US" sz="1000">
                <a:solidFill>
                  <a:srgbClr val="383838"/>
                </a:solidFill>
                <a:latin typeface="微软雅黑"/>
                <a:ea typeface="微软雅黑"/>
                <a:cs typeface="微软雅黑"/>
              </a:rPr>
              <a:t>倒逼</a:t>
            </a: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店发力置换业务，主机厂认证二手车兴起（如别克诚新），催生集团拍卖平台（运通拍、广汇拍）。</a:t>
            </a:r>
            <a:endParaRPr lang="zh-CN" altLang="en-US" sz="1000">
              <a:solidFill>
                <a:srgbClr val="383838"/>
              </a:solidFill>
              <a:latin typeface="微软雅黑"/>
              <a:ea typeface="微软雅黑"/>
              <a:cs typeface="微软雅黑"/>
            </a:endParaRPr>
          </a:p>
        </p:txBody>
      </p:sp>
      <p:sp>
        <p:nvSpPr>
          <p:cNvPr id="37" name="文本框 36"/>
          <p:cNvSpPr txBox="1"/>
          <p:nvPr/>
        </p:nvSpPr>
        <p:spPr>
          <a:xfrm>
            <a:off x="3530600" y="5287645"/>
            <a:ext cx="1094740" cy="304800"/>
          </a:xfrm>
          <a:prstGeom prst="rect">
            <a:avLst/>
          </a:prstGeom>
          <a:noFill/>
        </p:spPr>
        <p:txBody>
          <a:bodyPr wrap="square" rtlCol="0" anchor="t" lIns="0" rIns="0" tIns="0" bIns="0">
            <a:noAutofit/>
          </a:bodyPr>
          <a:p>
            <a:pPr eaLnBrk="1" latinLnBrk="0" marL="0" marR="0" indent="0">
              <a:lnSpc>
                <a:spcPts val="1800"/>
              </a:lnSpc>
              <a:spcBef>
                <a:spcPts val="0"/>
              </a:spcBef>
              <a:spcAft>
                <a:spcPts val="0"/>
              </a:spcAft>
              <a:defRPr>
                <a:latin typeface="微软雅黑"/>
                <a:ea typeface="微软雅黑"/>
                <a:cs typeface="微软雅黑"/>
              </a:defRPr>
            </a:pPr>
            <a:r>
              <a:rPr lang="en-US" altLang="zh-CN" sz="1600" b="1">
                <a:solidFill>
                  <a:srgbClr val="0042FF"/>
                </a:solidFill>
                <a:latin typeface="微软雅黑"/>
                <a:ea typeface="微软雅黑"/>
                <a:cs typeface="微软雅黑"/>
              </a:rPr>
              <a:t>2011.06</a:t>
            </a:r>
            <a:endParaRPr lang="en-US" altLang="zh-CN" sz="1600" b="1">
              <a:solidFill>
                <a:srgbClr val="0042FF"/>
              </a:solidFill>
              <a:latin typeface="微软雅黑"/>
              <a:ea typeface="微软雅黑"/>
              <a:cs typeface="微软雅黑"/>
            </a:endParaRPr>
          </a:p>
        </p:txBody>
      </p:sp>
      <p:sp>
        <p:nvSpPr>
          <p:cNvPr id="38" name="文本框 37"/>
          <p:cNvSpPr txBox="1"/>
          <p:nvPr/>
        </p:nvSpPr>
        <p:spPr>
          <a:xfrm>
            <a:off x="3530600" y="5548630"/>
            <a:ext cx="1016000" cy="107950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优信拍、车易拍等</a:t>
            </a:r>
            <a:r>
              <a:rPr lang="en-US" altLang="zh-CN" sz="1000" b="1">
                <a:solidFill>
                  <a:srgbClr val="383838"/>
                </a:solidFill>
                <a:latin typeface="微软雅黑"/>
                <a:ea typeface="微软雅黑"/>
                <a:cs typeface="微软雅黑"/>
              </a:rPr>
              <a:t>B2B</a:t>
            </a:r>
            <a:r>
              <a:rPr lang="zh-CN" altLang="en-US" sz="1000" b="1">
                <a:solidFill>
                  <a:srgbClr val="383838"/>
                </a:solidFill>
                <a:latin typeface="微软雅黑"/>
                <a:ea typeface="微软雅黑"/>
                <a:cs typeface="微软雅黑"/>
              </a:rPr>
              <a:t>拍卖平台上线</a:t>
            </a:r>
            <a:r>
              <a:rPr lang="zh-CN" altLang="en-US" sz="1000">
                <a:solidFill>
                  <a:srgbClr val="383838"/>
                </a:solidFill>
                <a:latin typeface="微软雅黑"/>
                <a:ea typeface="微软雅黑"/>
                <a:cs typeface="微软雅黑"/>
              </a:rPr>
              <a:t>，引入互联网竞价机制，解决</a:t>
            </a:r>
            <a:r>
              <a:rPr lang="en-US" altLang="zh-CN" sz="1000">
                <a:solidFill>
                  <a:srgbClr val="383838"/>
                </a:solidFill>
                <a:latin typeface="微软雅黑"/>
                <a:ea typeface="微软雅黑"/>
                <a:cs typeface="微软雅黑"/>
              </a:rPr>
              <a:t>4S</a:t>
            </a:r>
            <a:r>
              <a:rPr lang="zh-CN" altLang="en-US" sz="1000">
                <a:solidFill>
                  <a:srgbClr val="383838"/>
                </a:solidFill>
                <a:latin typeface="微软雅黑"/>
                <a:ea typeface="微软雅黑"/>
                <a:cs typeface="微软雅黑"/>
              </a:rPr>
              <a:t>店车源处置需求（限购后置换量激增）。</a:t>
            </a:r>
            <a:endParaRPr lang="zh-CN" altLang="en-US" sz="1000">
              <a:solidFill>
                <a:srgbClr val="383838"/>
              </a:solidFill>
              <a:latin typeface="微软雅黑"/>
              <a:ea typeface="微软雅黑"/>
              <a:cs typeface="微软雅黑"/>
            </a:endParaRPr>
          </a:p>
        </p:txBody>
      </p:sp>
      <p:sp>
        <p:nvSpPr>
          <p:cNvPr id="39" name="文本框 38"/>
          <p:cNvSpPr txBox="1"/>
          <p:nvPr/>
        </p:nvSpPr>
        <p:spPr>
          <a:xfrm>
            <a:off x="4667250" y="5575300"/>
            <a:ext cx="1079500" cy="266700"/>
          </a:xfrm>
          <a:prstGeom prst="rect">
            <a:avLst/>
          </a:prstGeom>
          <a:noFill/>
        </p:spPr>
        <p:txBody>
          <a:bodyPr wrap="square" rtlCol="0" anchor="t" lIns="0" rIns="0" tIns="0" bIns="0">
            <a:noAutofit/>
          </a:bodyPr>
          <a:p>
            <a:pPr marL="0" marR="0" indent="0" algn="l" eaLnBrk="1" latinLnBrk="0">
              <a:lnSpc>
                <a:spcPts val="1800"/>
              </a:lnSpc>
              <a:spcBef>
                <a:spcPts val="0"/>
              </a:spcBef>
              <a:spcAft>
                <a:spcPts val="0"/>
              </a:spcAft>
              <a:defRPr>
                <a:latin typeface="微软雅黑"/>
                <a:ea typeface="微软雅黑"/>
                <a:cs typeface="微软雅黑"/>
              </a:defRPr>
            </a:pPr>
            <a:r>
              <a:rPr lang="en-US" altLang="zh-CN" sz="1600" b="1">
                <a:solidFill>
                  <a:srgbClr val="0042FF"/>
                </a:solidFill>
                <a:latin typeface="微软雅黑"/>
                <a:ea typeface="微软雅黑"/>
                <a:cs typeface="微软雅黑"/>
              </a:rPr>
              <a:t>2014.06</a:t>
            </a:r>
            <a:endParaRPr lang="en-US" altLang="zh-CN" sz="1600" b="1">
              <a:solidFill>
                <a:srgbClr val="0042FF"/>
              </a:solidFill>
              <a:latin typeface="微软雅黑"/>
              <a:ea typeface="微软雅黑"/>
              <a:cs typeface="微软雅黑"/>
            </a:endParaRPr>
          </a:p>
        </p:txBody>
      </p:sp>
      <p:sp>
        <p:nvSpPr>
          <p:cNvPr id="40" name="文本框 39"/>
          <p:cNvSpPr txBox="1"/>
          <p:nvPr/>
        </p:nvSpPr>
        <p:spPr>
          <a:xfrm>
            <a:off x="4667250" y="5854700"/>
            <a:ext cx="1282700" cy="914400"/>
          </a:xfrm>
          <a:prstGeom prst="rect">
            <a:avLst/>
          </a:prstGeom>
          <a:noFill/>
        </p:spPr>
        <p:txBody>
          <a:bodyPr wrap="square" rtlCol="0" lIns="0" rIns="0" tIns="0" bIns="0" anchor="t">
            <a:noAutofit/>
          </a:bodyPr>
          <a:p>
            <a:pPr eaLnBrk="1" latinLnBrk="0" marL="0" marR="0" indent="0" algn="l">
              <a:lnSpc>
                <a:spcPts val="108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《二手车鉴定评估技术规范》生效，</a:t>
            </a:r>
            <a:r>
              <a:rPr lang="zh-CN" altLang="en-US" sz="1000" b="1">
                <a:solidFill>
                  <a:srgbClr val="383838"/>
                </a:solidFill>
                <a:latin typeface="微软雅黑"/>
                <a:ea typeface="微软雅黑"/>
                <a:cs typeface="微软雅黑"/>
              </a:rPr>
              <a:t>首部评估国标实施</a:t>
            </a:r>
            <a:r>
              <a:rPr lang="zh-CN" altLang="en-US" sz="1000">
                <a:solidFill>
                  <a:srgbClr val="383838"/>
                </a:solidFill>
                <a:latin typeface="微软雅黑"/>
                <a:ea typeface="微软雅黑"/>
                <a:cs typeface="微软雅黑"/>
              </a:rPr>
              <a:t>，明确</a:t>
            </a:r>
            <a:r>
              <a:rPr lang="en-US" altLang="zh-CN" sz="1000">
                <a:solidFill>
                  <a:srgbClr val="383838"/>
                </a:solidFill>
                <a:latin typeface="微软雅黑"/>
                <a:ea typeface="微软雅黑"/>
                <a:cs typeface="微软雅黑"/>
              </a:rPr>
              <a:t>104</a:t>
            </a:r>
            <a:r>
              <a:rPr lang="zh-CN" altLang="en-US" sz="1000">
                <a:solidFill>
                  <a:srgbClr val="383838"/>
                </a:solidFill>
                <a:latin typeface="微软雅黑"/>
                <a:ea typeface="微软雅黑"/>
                <a:cs typeface="微软雅黑"/>
              </a:rPr>
              <a:t>项检测流程，推出</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行</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认证标识（拒收泡水</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火烧</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重大事故车）。</a:t>
            </a:r>
            <a:endParaRPr lang="zh-CN" altLang="en-US" sz="1000">
              <a:solidFill>
                <a:srgbClr val="383838"/>
              </a:solidFill>
              <a:latin typeface="微软雅黑"/>
              <a:ea typeface="微软雅黑"/>
              <a:cs typeface="微软雅黑"/>
            </a:endParaRPr>
          </a:p>
        </p:txBody>
      </p:sp>
      <p:sp>
        <p:nvSpPr>
          <p:cNvPr id="41" name="文本框 40"/>
          <p:cNvSpPr txBox="1"/>
          <p:nvPr/>
        </p:nvSpPr>
        <p:spPr>
          <a:xfrm>
            <a:off x="5715635" y="4853305"/>
            <a:ext cx="1079500" cy="266700"/>
          </a:xfrm>
          <a:prstGeom prst="rect">
            <a:avLst/>
          </a:prstGeom>
          <a:noFill/>
        </p:spPr>
        <p:txBody>
          <a:bodyPr wrap="square" rtlCol="0" anchor="t" lIns="0" rIns="0" tIns="0" bIns="0">
            <a:noAutofit/>
          </a:bodyPr>
          <a:p>
            <a:pPr marL="0" marR="0" indent="0" algn="l" eaLnBrk="1" latinLnBrk="0">
              <a:lnSpc>
                <a:spcPts val="1800"/>
              </a:lnSpc>
              <a:spcBef>
                <a:spcPts val="0"/>
              </a:spcBef>
              <a:spcAft>
                <a:spcPts val="0"/>
              </a:spcAft>
              <a:defRPr>
                <a:latin typeface="微软雅黑"/>
                <a:ea typeface="微软雅黑"/>
                <a:cs typeface="微软雅黑"/>
              </a:defRPr>
            </a:pPr>
            <a:r>
              <a:rPr lang="en-US" altLang="zh-CN" sz="1600" b="1">
                <a:solidFill>
                  <a:srgbClr val="0042FF"/>
                </a:solidFill>
                <a:latin typeface="微软雅黑"/>
                <a:ea typeface="微软雅黑"/>
                <a:cs typeface="微软雅黑"/>
              </a:rPr>
              <a:t>2016.03</a:t>
            </a:r>
            <a:endParaRPr lang="en-US" altLang="zh-CN" sz="1600" b="1">
              <a:solidFill>
                <a:srgbClr val="0042FF"/>
              </a:solidFill>
              <a:latin typeface="微软雅黑"/>
              <a:ea typeface="微软雅黑"/>
              <a:cs typeface="微软雅黑"/>
            </a:endParaRPr>
          </a:p>
        </p:txBody>
      </p:sp>
      <p:sp>
        <p:nvSpPr>
          <p:cNvPr id="42" name="文本框 41"/>
          <p:cNvSpPr txBox="1"/>
          <p:nvPr/>
        </p:nvSpPr>
        <p:spPr>
          <a:xfrm>
            <a:off x="5715635" y="5126990"/>
            <a:ext cx="1422400" cy="685800"/>
          </a:xfrm>
          <a:prstGeom prst="rect">
            <a:avLst/>
          </a:prstGeom>
          <a:noFill/>
        </p:spPr>
        <p:txBody>
          <a:bodyPr wrap="square" rtlCol="0" lIns="0" rIns="0" tIns="0" bIns="0" anchor="t">
            <a:noAutofit/>
          </a:bodyPr>
          <a:p>
            <a:pPr eaLnBrk="1" latinLnBrk="0" marL="0" marR="0" indent="0" algn="l">
              <a:lnSpc>
                <a:spcPts val="105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《关于促进二手车便利交易的若干意见》要求，</a:t>
            </a:r>
            <a:r>
              <a:rPr lang="zh-CN" altLang="en-US" sz="1000" b="1">
                <a:solidFill>
                  <a:srgbClr val="383838"/>
                </a:solidFill>
                <a:latin typeface="微软雅黑"/>
                <a:ea typeface="微软雅黑"/>
                <a:cs typeface="微软雅黑"/>
              </a:rPr>
              <a:t>国务院限迁破冰令，</a:t>
            </a:r>
            <a:r>
              <a:rPr lang="en-US" altLang="zh-CN" sz="1000">
                <a:solidFill>
                  <a:srgbClr val="383838"/>
                </a:solidFill>
                <a:latin typeface="微软雅黑"/>
                <a:ea typeface="微软雅黑"/>
                <a:cs typeface="微软雅黑"/>
              </a:rPr>
              <a:t>2016</a:t>
            </a:r>
            <a:r>
              <a:rPr lang="zh-CN" altLang="en-US" sz="1000">
                <a:solidFill>
                  <a:srgbClr val="383838"/>
                </a:solidFill>
                <a:latin typeface="微软雅黑"/>
                <a:ea typeface="微软雅黑"/>
                <a:cs typeface="微软雅黑"/>
              </a:rPr>
              <a:t>年</a:t>
            </a:r>
            <a:r>
              <a:rPr lang="en-US" altLang="zh-CN" sz="1000">
                <a:solidFill>
                  <a:srgbClr val="383838"/>
                </a:solidFill>
                <a:latin typeface="微软雅黑"/>
                <a:ea typeface="微软雅黑"/>
                <a:cs typeface="微软雅黑"/>
              </a:rPr>
              <a:t>5</a:t>
            </a:r>
            <a:r>
              <a:rPr lang="zh-CN" altLang="en-US" sz="1000">
                <a:solidFill>
                  <a:srgbClr val="383838"/>
                </a:solidFill>
                <a:latin typeface="微软雅黑"/>
                <a:ea typeface="微软雅黑"/>
                <a:cs typeface="微软雅黑"/>
              </a:rPr>
              <a:t>月底前取消非重点区域限迁。</a:t>
            </a:r>
            <a:endParaRPr lang="zh-CN" altLang="en-US" sz="1000">
              <a:solidFill>
                <a:srgbClr val="383838"/>
              </a:solidFill>
              <a:latin typeface="微软雅黑"/>
              <a:ea typeface="微软雅黑"/>
              <a:cs typeface="微软雅黑"/>
            </a:endParaRPr>
          </a:p>
        </p:txBody>
      </p:sp>
      <p:sp>
        <p:nvSpPr>
          <p:cNvPr id="43" name="文本框 42"/>
          <p:cNvSpPr txBox="1"/>
          <p:nvPr/>
        </p:nvSpPr>
        <p:spPr>
          <a:xfrm>
            <a:off x="1449705" y="4034790"/>
            <a:ext cx="1068705"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2009.03</a:t>
            </a:r>
            <a:endParaRPr lang="en-US" altLang="zh-CN" sz="1600" b="1">
              <a:solidFill>
                <a:srgbClr val="0042FF"/>
              </a:solidFill>
              <a:latin typeface="微软雅黑"/>
              <a:ea typeface="微软雅黑"/>
              <a:cs typeface="微软雅黑"/>
            </a:endParaRPr>
          </a:p>
        </p:txBody>
      </p:sp>
      <p:sp>
        <p:nvSpPr>
          <p:cNvPr id="44" name="文本框 43"/>
          <p:cNvSpPr txBox="1"/>
          <p:nvPr/>
        </p:nvSpPr>
        <p:spPr>
          <a:xfrm>
            <a:off x="1273175" y="4294505"/>
            <a:ext cx="1336040" cy="88265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b="1">
                <a:solidFill>
                  <a:srgbClr val="383838"/>
                </a:solidFill>
                <a:latin typeface="微软雅黑"/>
                <a:ea typeface="微软雅黑"/>
                <a:cs typeface="微软雅黑"/>
              </a:rPr>
              <a:t>《汽车产业调整振兴规划》</a:t>
            </a:r>
            <a:r>
              <a:rPr lang="zh-CN" altLang="en-US" sz="1000">
                <a:solidFill>
                  <a:srgbClr val="383838"/>
                </a:solidFill>
                <a:latin typeface="微软雅黑"/>
                <a:ea typeface="微软雅黑"/>
                <a:cs typeface="微软雅黑"/>
              </a:rPr>
              <a:t>发布，首次将二手车列入国家产业政策，要求</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完善二手车鉴定评估标准</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，推动市场硬件升级。</a:t>
            </a:r>
            <a:endParaRPr lang="zh-CN" altLang="en-US" sz="1000">
              <a:solidFill>
                <a:srgbClr val="383838"/>
              </a:solidFill>
              <a:latin typeface="微软雅黑"/>
              <a:ea typeface="微软雅黑"/>
              <a:cs typeface="微软雅黑"/>
            </a:endParaRPr>
          </a:p>
        </p:txBody>
      </p:sp>
      <p:sp>
        <p:nvSpPr>
          <p:cNvPr id="45" name="文本框 44"/>
          <p:cNvSpPr txBox="1"/>
          <p:nvPr/>
        </p:nvSpPr>
        <p:spPr>
          <a:xfrm>
            <a:off x="4029075" y="3620770"/>
            <a:ext cx="1065530"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2013.05</a:t>
            </a:r>
            <a:endParaRPr lang="en-US" altLang="zh-CN" sz="1600" b="1">
              <a:solidFill>
                <a:srgbClr val="0042FF"/>
              </a:solidFill>
              <a:latin typeface="微软雅黑"/>
              <a:ea typeface="微软雅黑"/>
              <a:cs typeface="微软雅黑"/>
            </a:endParaRPr>
          </a:p>
        </p:txBody>
      </p:sp>
      <p:sp>
        <p:nvSpPr>
          <p:cNvPr id="46" name="文本框 45"/>
          <p:cNvSpPr txBox="1"/>
          <p:nvPr/>
        </p:nvSpPr>
        <p:spPr>
          <a:xfrm>
            <a:off x="4029075" y="3881755"/>
            <a:ext cx="1336040" cy="59817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报废新规实施，取消私家车</a:t>
            </a:r>
            <a:r>
              <a:rPr lang="en-US" altLang="zh-CN" sz="1000">
                <a:solidFill>
                  <a:srgbClr val="383838"/>
                </a:solidFill>
                <a:latin typeface="微软雅黑"/>
                <a:ea typeface="微软雅黑"/>
                <a:cs typeface="微软雅黑"/>
              </a:rPr>
              <a:t>15</a:t>
            </a:r>
            <a:r>
              <a:rPr lang="zh-CN" altLang="en-US" sz="1000">
                <a:solidFill>
                  <a:srgbClr val="383838"/>
                </a:solidFill>
                <a:latin typeface="微软雅黑"/>
                <a:ea typeface="微软雅黑"/>
                <a:cs typeface="微软雅黑"/>
              </a:rPr>
              <a:t>年强制报废，改为行驶</a:t>
            </a:r>
            <a:r>
              <a:rPr lang="en-US" altLang="zh-CN" sz="1000">
                <a:solidFill>
                  <a:srgbClr val="383838"/>
                </a:solidFill>
                <a:latin typeface="微软雅黑"/>
                <a:ea typeface="微软雅黑"/>
                <a:cs typeface="微软雅黑"/>
              </a:rPr>
              <a:t>60</a:t>
            </a:r>
            <a:r>
              <a:rPr lang="zh-CN" altLang="en-US" sz="1000">
                <a:solidFill>
                  <a:srgbClr val="383838"/>
                </a:solidFill>
                <a:latin typeface="微软雅黑"/>
                <a:ea typeface="微软雅黑"/>
                <a:cs typeface="微软雅黑"/>
              </a:rPr>
              <a:t>万公里引导报废。</a:t>
            </a:r>
            <a:endParaRPr lang="zh-CN" altLang="en-US" sz="1000">
              <a:solidFill>
                <a:srgbClr val="383838"/>
              </a:solidFill>
              <a:latin typeface="微软雅黑"/>
              <a:ea typeface="微软雅黑"/>
              <a:cs typeface="微软雅黑"/>
            </a:endParaRPr>
          </a:p>
        </p:txBody>
      </p:sp>
      <p:sp>
        <p:nvSpPr>
          <p:cNvPr id="47" name="文本框 46"/>
          <p:cNvSpPr txBox="1"/>
          <p:nvPr/>
        </p:nvSpPr>
        <p:spPr>
          <a:xfrm>
            <a:off x="6711315" y="4356735"/>
            <a:ext cx="1061720"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2018.03</a:t>
            </a:r>
            <a:endParaRPr lang="en-US" altLang="zh-CN" sz="1600" b="1">
              <a:solidFill>
                <a:srgbClr val="0042FF"/>
              </a:solidFill>
              <a:latin typeface="微软雅黑"/>
              <a:ea typeface="微软雅黑"/>
              <a:cs typeface="微软雅黑"/>
            </a:endParaRPr>
          </a:p>
        </p:txBody>
      </p:sp>
      <p:sp>
        <p:nvSpPr>
          <p:cNvPr id="48" name="文本框 47"/>
          <p:cNvSpPr txBox="1"/>
          <p:nvPr/>
        </p:nvSpPr>
        <p:spPr>
          <a:xfrm>
            <a:off x="6711315" y="4617720"/>
            <a:ext cx="1336040" cy="45593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政府工作报告要求全面取消限迁，但地方执行滞后。</a:t>
            </a:r>
            <a:endParaRPr lang="zh-CN" altLang="en-US" sz="1000">
              <a:solidFill>
                <a:srgbClr val="383838"/>
              </a:solidFill>
              <a:latin typeface="微软雅黑"/>
              <a:ea typeface="微软雅黑"/>
              <a:cs typeface="微软雅黑"/>
            </a:endParaRPr>
          </a:p>
        </p:txBody>
      </p:sp>
      <p:sp>
        <p:nvSpPr>
          <p:cNvPr id="49" name="文本框 48"/>
          <p:cNvSpPr txBox="1"/>
          <p:nvPr/>
        </p:nvSpPr>
        <p:spPr>
          <a:xfrm>
            <a:off x="7506335" y="5403850"/>
            <a:ext cx="1106805"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2020.04</a:t>
            </a:r>
            <a:endParaRPr lang="en-US" altLang="zh-CN" sz="1600" b="1">
              <a:solidFill>
                <a:srgbClr val="0042FF"/>
              </a:solidFill>
              <a:latin typeface="微软雅黑"/>
              <a:ea typeface="微软雅黑"/>
              <a:cs typeface="微软雅黑"/>
            </a:endParaRPr>
          </a:p>
        </p:txBody>
      </p:sp>
      <p:sp>
        <p:nvSpPr>
          <p:cNvPr id="50" name="文本框 49"/>
          <p:cNvSpPr txBox="1"/>
          <p:nvPr/>
        </p:nvSpPr>
        <p:spPr>
          <a:xfrm>
            <a:off x="7506335" y="5664835"/>
            <a:ext cx="1336040" cy="74041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税收改革破冰，财政部、税务总局公告增值税由</a:t>
            </a:r>
            <a:r>
              <a:rPr lang="en-US" altLang="zh-CN" sz="1000">
                <a:solidFill>
                  <a:srgbClr val="383838"/>
                </a:solidFill>
                <a:latin typeface="微软雅黑"/>
                <a:ea typeface="微软雅黑"/>
                <a:cs typeface="微软雅黑"/>
              </a:rPr>
              <a:t>3%</a:t>
            </a:r>
            <a:r>
              <a:rPr lang="zh-CN" altLang="en-US" sz="1000">
                <a:solidFill>
                  <a:srgbClr val="383838"/>
                </a:solidFill>
                <a:latin typeface="微软雅黑"/>
                <a:ea typeface="微软雅黑"/>
                <a:cs typeface="微软雅黑"/>
              </a:rPr>
              <a:t>减按</a:t>
            </a:r>
            <a:r>
              <a:rPr lang="en-US" altLang="zh-CN" sz="1000">
                <a:solidFill>
                  <a:srgbClr val="383838"/>
                </a:solidFill>
                <a:latin typeface="微软雅黑"/>
                <a:ea typeface="微软雅黑"/>
                <a:cs typeface="微软雅黑"/>
              </a:rPr>
              <a:t>2%</a:t>
            </a:r>
            <a:r>
              <a:rPr lang="zh-CN" altLang="en-US" sz="1000">
                <a:solidFill>
                  <a:srgbClr val="383838"/>
                </a:solidFill>
                <a:latin typeface="微软雅黑"/>
                <a:ea typeface="微软雅黑"/>
                <a:cs typeface="微软雅黑"/>
              </a:rPr>
              <a:t>征收改为减按</a:t>
            </a:r>
            <a:r>
              <a:rPr lang="en-US" altLang="zh-CN" sz="1000">
                <a:solidFill>
                  <a:srgbClr val="383838"/>
                </a:solidFill>
                <a:latin typeface="微软雅黑"/>
                <a:ea typeface="微软雅黑"/>
                <a:cs typeface="微软雅黑"/>
              </a:rPr>
              <a:t>0.5%</a:t>
            </a:r>
            <a:r>
              <a:rPr lang="zh-CN" altLang="en-US" sz="1000">
                <a:solidFill>
                  <a:srgbClr val="383838"/>
                </a:solidFill>
                <a:latin typeface="微软雅黑"/>
                <a:ea typeface="微软雅黑"/>
                <a:cs typeface="微软雅黑"/>
              </a:rPr>
              <a:t>，经销商成本直降</a:t>
            </a:r>
            <a:r>
              <a:rPr lang="en-US" altLang="zh-CN" sz="1000">
                <a:solidFill>
                  <a:srgbClr val="383838"/>
                </a:solidFill>
                <a:latin typeface="微软雅黑"/>
                <a:ea typeface="微软雅黑"/>
                <a:cs typeface="微软雅黑"/>
              </a:rPr>
              <a:t>75%</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51" name="文本框 50"/>
          <p:cNvSpPr txBox="1"/>
          <p:nvPr/>
        </p:nvSpPr>
        <p:spPr>
          <a:xfrm>
            <a:off x="8507095" y="4980305"/>
            <a:ext cx="1100455"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2022.07</a:t>
            </a:r>
            <a:endParaRPr lang="en-US" altLang="zh-CN" sz="1600" b="1">
              <a:solidFill>
                <a:srgbClr val="0042FF"/>
              </a:solidFill>
              <a:latin typeface="微软雅黑"/>
              <a:ea typeface="微软雅黑"/>
              <a:cs typeface="微软雅黑"/>
            </a:endParaRPr>
          </a:p>
        </p:txBody>
      </p:sp>
      <p:sp>
        <p:nvSpPr>
          <p:cNvPr id="52" name="文本框 51"/>
          <p:cNvSpPr txBox="1"/>
          <p:nvPr/>
        </p:nvSpPr>
        <p:spPr>
          <a:xfrm>
            <a:off x="8507095" y="5241290"/>
            <a:ext cx="1336040" cy="45593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商务部等</a:t>
            </a:r>
            <a:r>
              <a:rPr lang="en-US" altLang="zh-CN" sz="1000">
                <a:solidFill>
                  <a:srgbClr val="383838"/>
                </a:solidFill>
                <a:latin typeface="微软雅黑"/>
                <a:ea typeface="微软雅黑"/>
                <a:cs typeface="微软雅黑"/>
              </a:rPr>
              <a:t>17</a:t>
            </a:r>
            <a:r>
              <a:rPr lang="zh-CN" altLang="en-US" sz="1000">
                <a:solidFill>
                  <a:srgbClr val="383838"/>
                </a:solidFill>
                <a:latin typeface="微软雅黑"/>
                <a:ea typeface="微软雅黑"/>
                <a:cs typeface="微软雅黑"/>
              </a:rPr>
              <a:t>部门发文全面取消国五限迁，解决全国流通壁垒。</a:t>
            </a:r>
            <a:endParaRPr lang="zh-CN" altLang="en-US" sz="1000">
              <a:solidFill>
                <a:srgbClr val="383838"/>
              </a:solidFill>
              <a:latin typeface="微软雅黑"/>
              <a:ea typeface="微软雅黑"/>
              <a:cs typeface="微软雅黑"/>
            </a:endParaRPr>
          </a:p>
        </p:txBody>
      </p:sp>
      <p:sp>
        <p:nvSpPr>
          <p:cNvPr id="53" name="文本框 52"/>
          <p:cNvSpPr txBox="1"/>
          <p:nvPr/>
        </p:nvSpPr>
        <p:spPr>
          <a:xfrm>
            <a:off x="9093200" y="4550410"/>
            <a:ext cx="1320800" cy="444500"/>
          </a:xfrm>
          <a:prstGeom prst="rect">
            <a:avLst/>
          </a:prstGeom>
          <a:noFill/>
        </p:spPr>
        <p:txBody>
          <a:bodyPr wrap="square" rtlCol="0" lIns="0" rIns="0" tIns="0" bIns="0" anchor="t">
            <a:noAutofit/>
          </a:bodyPr>
          <a:p>
            <a:pPr eaLnBrk="1" latinLnBrk="0" marL="0" marR="0" indent="0" algn="l">
              <a:lnSpc>
                <a:spcPts val="105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临时产权制度落地（单独签注</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临时号牌），确立二手车商品属性。</a:t>
            </a:r>
            <a:endParaRPr lang="zh-CN" altLang="en-US" sz="1000">
              <a:solidFill>
                <a:srgbClr val="383838"/>
              </a:solidFill>
              <a:latin typeface="微软雅黑"/>
              <a:ea typeface="微软雅黑"/>
              <a:cs typeface="微软雅黑"/>
            </a:endParaRPr>
          </a:p>
        </p:txBody>
      </p:sp>
      <p:cxnSp>
        <p:nvCxnSpPr>
          <p:cNvPr id="54" name="直接连接符 53"/>
          <p:cNvCxnSpPr/>
          <p:nvPr/>
        </p:nvCxnSpPr>
        <p:spPr>
          <a:xfrm>
            <a:off x="843915" y="4980305"/>
            <a:ext cx="0" cy="873125"/>
          </a:xfrm>
          <a:prstGeom prst="line">
            <a:avLst/>
          </a:prstGeom>
          <a:ln>
            <a:solidFill>
              <a:srgbClr val="3368FF"/>
            </a:solidFill>
            <a:prstDash val="sysDash"/>
          </a:ln>
        </p:spPr>
        <p:style>
          <a:lnRef idx="2">
            <a:srgbClr val="0042FF"/>
          </a:lnRef>
          <a:fillRef idx="0">
            <a:srgbClr val="FFFFFF"/>
          </a:fillRef>
          <a:effectRef idx="0">
            <a:srgbClr val="FFFFFF"/>
          </a:effectRef>
          <a:fontRef idx="minor">
            <a:srgbClr val="383838"/>
          </a:fontRef>
        </p:style>
      </p:cxnSp>
      <p:cxnSp>
        <p:nvCxnSpPr>
          <p:cNvPr id="55" name="直接连接符 54"/>
          <p:cNvCxnSpPr/>
          <p:nvPr/>
        </p:nvCxnSpPr>
        <p:spPr>
          <a:xfrm>
            <a:off x="1880870" y="4817745"/>
            <a:ext cx="0" cy="490855"/>
          </a:xfrm>
          <a:prstGeom prst="line">
            <a:avLst/>
          </a:prstGeom>
          <a:ln>
            <a:solidFill>
              <a:srgbClr val="3368FF"/>
            </a:solidFill>
            <a:prstDash val="sysDash"/>
          </a:ln>
        </p:spPr>
        <p:style>
          <a:lnRef idx="2">
            <a:srgbClr val="0042FF"/>
          </a:lnRef>
          <a:fillRef idx="0">
            <a:srgbClr val="FFFFFF"/>
          </a:fillRef>
          <a:effectRef idx="0">
            <a:srgbClr val="FFFFFF"/>
          </a:effectRef>
          <a:fontRef idx="minor">
            <a:srgbClr val="383838"/>
          </a:fontRef>
        </p:style>
      </p:cxnSp>
      <p:cxnSp>
        <p:nvCxnSpPr>
          <p:cNvPr id="56" name="直接连接符 55"/>
          <p:cNvCxnSpPr/>
          <p:nvPr/>
        </p:nvCxnSpPr>
        <p:spPr>
          <a:xfrm>
            <a:off x="2822575" y="4993005"/>
            <a:ext cx="0" cy="799465"/>
          </a:xfrm>
          <a:prstGeom prst="line">
            <a:avLst/>
          </a:prstGeom>
          <a:ln>
            <a:solidFill>
              <a:srgbClr val="3368FF"/>
            </a:solidFill>
            <a:prstDash val="sysDash"/>
          </a:ln>
        </p:spPr>
        <p:style>
          <a:lnRef idx="2">
            <a:srgbClr val="0042FF"/>
          </a:lnRef>
          <a:fillRef idx="0">
            <a:srgbClr val="FFFFFF"/>
          </a:fillRef>
          <a:effectRef idx="0">
            <a:srgbClr val="FFFFFF"/>
          </a:effectRef>
          <a:fontRef idx="minor">
            <a:srgbClr val="383838"/>
          </a:fontRef>
        </p:style>
      </p:cxnSp>
      <p:cxnSp>
        <p:nvCxnSpPr>
          <p:cNvPr id="57" name="直接连接符 56"/>
          <p:cNvCxnSpPr/>
          <p:nvPr/>
        </p:nvCxnSpPr>
        <p:spPr>
          <a:xfrm>
            <a:off x="3644900" y="4467860"/>
            <a:ext cx="0" cy="799465"/>
          </a:xfrm>
          <a:prstGeom prst="line">
            <a:avLst/>
          </a:prstGeom>
          <a:ln>
            <a:solidFill>
              <a:srgbClr val="3368FF"/>
            </a:solidFill>
            <a:prstDash val="sysDash"/>
          </a:ln>
        </p:spPr>
        <p:style>
          <a:lnRef idx="2">
            <a:srgbClr val="0042FF"/>
          </a:lnRef>
          <a:fillRef idx="0">
            <a:srgbClr val="FFFFFF"/>
          </a:fillRef>
          <a:effectRef idx="0">
            <a:srgbClr val="FFFFFF"/>
          </a:effectRef>
          <a:fontRef idx="minor">
            <a:srgbClr val="383838"/>
          </a:fontRef>
        </p:style>
      </p:cxnSp>
      <p:cxnSp>
        <p:nvCxnSpPr>
          <p:cNvPr id="58" name="直接连接符 57"/>
          <p:cNvCxnSpPr/>
          <p:nvPr/>
        </p:nvCxnSpPr>
        <p:spPr>
          <a:xfrm>
            <a:off x="4491355" y="4362450"/>
            <a:ext cx="0" cy="351790"/>
          </a:xfrm>
          <a:prstGeom prst="line">
            <a:avLst/>
          </a:prstGeom>
          <a:ln>
            <a:solidFill>
              <a:srgbClr val="3368FF"/>
            </a:solidFill>
            <a:prstDash val="sysDash"/>
          </a:ln>
        </p:spPr>
        <p:style>
          <a:lnRef idx="2">
            <a:srgbClr val="0042FF"/>
          </a:lnRef>
          <a:fillRef idx="0">
            <a:srgbClr val="FFFFFF"/>
          </a:fillRef>
          <a:effectRef idx="0">
            <a:srgbClr val="FFFFFF"/>
          </a:effectRef>
          <a:fontRef idx="minor">
            <a:srgbClr val="383838"/>
          </a:fontRef>
        </p:style>
      </p:cxnSp>
      <p:cxnSp>
        <p:nvCxnSpPr>
          <p:cNvPr id="59" name="直接连接符 58"/>
          <p:cNvCxnSpPr/>
          <p:nvPr/>
        </p:nvCxnSpPr>
        <p:spPr>
          <a:xfrm>
            <a:off x="5199380" y="5045710"/>
            <a:ext cx="0" cy="476250"/>
          </a:xfrm>
          <a:prstGeom prst="line">
            <a:avLst/>
          </a:prstGeom>
          <a:ln>
            <a:solidFill>
              <a:srgbClr val="3368FF"/>
            </a:solidFill>
            <a:prstDash val="sysDash"/>
          </a:ln>
        </p:spPr>
        <p:style>
          <a:lnRef idx="2">
            <a:srgbClr val="0042FF"/>
          </a:lnRef>
          <a:fillRef idx="0">
            <a:srgbClr val="FFFFFF"/>
          </a:fillRef>
          <a:effectRef idx="0">
            <a:srgbClr val="FFFFFF"/>
          </a:effectRef>
          <a:fontRef idx="minor">
            <a:srgbClr val="383838"/>
          </a:fontRef>
        </p:style>
      </p:cxnSp>
      <p:cxnSp>
        <p:nvCxnSpPr>
          <p:cNvPr id="7" name="直接连接符 6"/>
          <p:cNvCxnSpPr/>
          <p:nvPr/>
        </p:nvCxnSpPr>
        <p:spPr>
          <a:xfrm>
            <a:off x="6149975" y="4237990"/>
            <a:ext cx="0" cy="593090"/>
          </a:xfrm>
          <a:prstGeom prst="line">
            <a:avLst/>
          </a:prstGeom>
          <a:ln>
            <a:solidFill>
              <a:srgbClr val="0042FF"/>
            </a:solidFill>
            <a:prstDash val="sysDash"/>
          </a:ln>
        </p:spPr>
        <p:style>
          <a:lnRef idx="2">
            <a:srgbClr val="0042FF"/>
          </a:lnRef>
          <a:fillRef idx="0">
            <a:srgbClr val="FFFFFF"/>
          </a:fillRef>
          <a:effectRef idx="0">
            <a:srgbClr val="FFFFFF"/>
          </a:effectRef>
          <a:fontRef idx="minor">
            <a:srgbClr val="383838"/>
          </a:fontRef>
        </p:style>
      </p:cxnSp>
      <p:cxnSp>
        <p:nvCxnSpPr>
          <p:cNvPr id="60" name="直接连接符 59"/>
          <p:cNvCxnSpPr/>
          <p:nvPr/>
        </p:nvCxnSpPr>
        <p:spPr>
          <a:xfrm>
            <a:off x="7051675" y="3778885"/>
            <a:ext cx="0" cy="593090"/>
          </a:xfrm>
          <a:prstGeom prst="line">
            <a:avLst/>
          </a:prstGeom>
          <a:ln>
            <a:solidFill>
              <a:srgbClr val="0042FF"/>
            </a:solidFill>
            <a:prstDash val="sysDash"/>
          </a:ln>
        </p:spPr>
        <p:style>
          <a:lnRef idx="2">
            <a:srgbClr val="0042FF"/>
          </a:lnRef>
          <a:fillRef idx="0">
            <a:srgbClr val="FFFFFF"/>
          </a:fillRef>
          <a:effectRef idx="0">
            <a:srgbClr val="FFFFFF"/>
          </a:effectRef>
          <a:fontRef idx="minor">
            <a:srgbClr val="383838"/>
          </a:fontRef>
        </p:style>
      </p:cxnSp>
      <p:cxnSp>
        <p:nvCxnSpPr>
          <p:cNvPr id="61" name="直接连接符 60"/>
          <p:cNvCxnSpPr>
            <a:endCxn id="49" idx="0"/>
          </p:cNvCxnSpPr>
          <p:nvPr/>
        </p:nvCxnSpPr>
        <p:spPr>
          <a:xfrm>
            <a:off x="8058785" y="4220210"/>
            <a:ext cx="1270" cy="1183640"/>
          </a:xfrm>
          <a:prstGeom prst="line">
            <a:avLst/>
          </a:prstGeom>
          <a:ln>
            <a:solidFill>
              <a:srgbClr val="0042FF"/>
            </a:solidFill>
            <a:prstDash val="sysDash"/>
          </a:ln>
        </p:spPr>
        <p:style>
          <a:lnRef idx="2">
            <a:srgbClr val="0042FF"/>
          </a:lnRef>
          <a:fillRef idx="0">
            <a:srgbClr val="FFFFFF"/>
          </a:fillRef>
          <a:effectRef idx="0">
            <a:srgbClr val="FFFFFF"/>
          </a:effectRef>
          <a:fontRef idx="minor">
            <a:srgbClr val="383838"/>
          </a:fontRef>
        </p:style>
      </p:cxnSp>
      <p:cxnSp>
        <p:nvCxnSpPr>
          <p:cNvPr id="62" name="直接连接符 61"/>
          <p:cNvCxnSpPr/>
          <p:nvPr/>
        </p:nvCxnSpPr>
        <p:spPr>
          <a:xfrm>
            <a:off x="8825230" y="4294505"/>
            <a:ext cx="0" cy="661670"/>
          </a:xfrm>
          <a:prstGeom prst="line">
            <a:avLst/>
          </a:prstGeom>
          <a:ln>
            <a:solidFill>
              <a:srgbClr val="0042FF"/>
            </a:solidFill>
            <a:prstDash val="sysDash"/>
          </a:ln>
        </p:spPr>
        <p:style>
          <a:lnRef idx="2">
            <a:srgbClr val="0042FF"/>
          </a:lnRef>
          <a:fillRef idx="0">
            <a:srgbClr val="FFFFFF"/>
          </a:fillRef>
          <a:effectRef idx="0">
            <a:srgbClr val="FFFFFF"/>
          </a:effectRef>
          <a:fontRef idx="minor">
            <a:srgbClr val="383838"/>
          </a:fontRef>
        </p:style>
      </p:cxnSp>
      <p:sp>
        <p:nvSpPr>
          <p:cNvPr id="63" name="文本框 62"/>
          <p:cNvSpPr txBox="1"/>
          <p:nvPr/>
        </p:nvSpPr>
        <p:spPr>
          <a:xfrm>
            <a:off x="1626235" y="2432050"/>
            <a:ext cx="1868805" cy="306705"/>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2005-2013</a:t>
            </a:r>
            <a:endParaRPr lang="en-US" altLang="zh-CN" sz="1400" b="1">
              <a:solidFill>
                <a:srgbClr val="0042FF"/>
              </a:solidFill>
              <a:latin typeface="微软雅黑"/>
              <a:ea typeface="微软雅黑"/>
              <a:cs typeface="微软雅黑"/>
            </a:endParaRPr>
          </a:p>
        </p:txBody>
      </p:sp>
      <p:sp>
        <p:nvSpPr>
          <p:cNvPr id="64" name="文本框 63"/>
          <p:cNvSpPr txBox="1"/>
          <p:nvPr/>
        </p:nvSpPr>
        <p:spPr>
          <a:xfrm>
            <a:off x="885508" y="2726055"/>
            <a:ext cx="3350260" cy="398780"/>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首部法规出台，市场化转型启动</a:t>
            </a:r>
            <a:endParaRPr lang="zh-CN" altLang="en-US" sz="100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000" b="1">
                <a:solidFill>
                  <a:srgbClr val="0042FF"/>
                </a:solidFill>
                <a:latin typeface="微软雅黑"/>
                <a:ea typeface="微软雅黑"/>
                <a:cs typeface="微软雅黑"/>
              </a:rPr>
              <a:t>从政策破冰</a:t>
            </a:r>
            <a:r>
              <a:rPr lang="en-US" altLang="zh-CN" sz="1000" b="1">
                <a:solidFill>
                  <a:srgbClr val="0042FF"/>
                </a:solidFill>
                <a:latin typeface="微软雅黑"/>
                <a:ea typeface="微软雅黑"/>
                <a:cs typeface="微软雅黑"/>
              </a:rPr>
              <a:t>→</a:t>
            </a:r>
            <a:r>
              <a:rPr lang="zh-CN" altLang="en-US" sz="1000" b="1">
                <a:solidFill>
                  <a:srgbClr val="0042FF"/>
                </a:solidFill>
                <a:latin typeface="微软雅黑"/>
                <a:ea typeface="微软雅黑"/>
                <a:cs typeface="微软雅黑"/>
              </a:rPr>
              <a:t>模式分化，行业从零散化向集群化转型</a:t>
            </a:r>
            <a:endParaRPr lang="zh-CN" altLang="en-US" sz="1000" b="1">
              <a:solidFill>
                <a:srgbClr val="0042FF"/>
              </a:solidFill>
              <a:latin typeface="微软雅黑"/>
              <a:ea typeface="微软雅黑"/>
              <a:cs typeface="微软雅黑"/>
            </a:endParaRPr>
          </a:p>
        </p:txBody>
      </p:sp>
      <p:sp>
        <p:nvSpPr>
          <p:cNvPr id="66" name="文本框 65"/>
          <p:cNvSpPr txBox="1"/>
          <p:nvPr/>
        </p:nvSpPr>
        <p:spPr>
          <a:xfrm>
            <a:off x="4866323" y="2432050"/>
            <a:ext cx="1868805" cy="306705"/>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2014-2016</a:t>
            </a:r>
            <a:endParaRPr lang="en-US" altLang="zh-CN" sz="1400" b="1">
              <a:solidFill>
                <a:srgbClr val="0042FF"/>
              </a:solidFill>
              <a:latin typeface="微软雅黑"/>
              <a:ea typeface="微软雅黑"/>
              <a:cs typeface="微软雅黑"/>
            </a:endParaRPr>
          </a:p>
        </p:txBody>
      </p:sp>
      <p:sp>
        <p:nvSpPr>
          <p:cNvPr id="67" name="文本框 66"/>
          <p:cNvSpPr txBox="1"/>
          <p:nvPr/>
        </p:nvSpPr>
        <p:spPr>
          <a:xfrm>
            <a:off x="4613910" y="2726055"/>
            <a:ext cx="2334895" cy="553085"/>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首次构建全国统一政策框架</a:t>
            </a:r>
            <a:endParaRPr lang="en-US" altLang="zh-CN" sz="1000">
              <a:solidFill>
                <a:srgbClr val="383838"/>
              </a:solidFill>
              <a:latin typeface="微软雅黑"/>
              <a:ea typeface="微软雅黑"/>
              <a:cs typeface="微软雅黑"/>
            </a:endParaRPr>
          </a:p>
          <a:p>
            <a:pPr algn="ctr">
              <a:defRPr>
                <a:latin typeface="微软雅黑"/>
                <a:ea typeface="微软雅黑"/>
                <a:cs typeface="微软雅黑"/>
              </a:defRPr>
            </a:pPr>
            <a:r>
              <a:rPr lang="en-US" altLang="zh-CN" sz="1000" b="1">
                <a:solidFill>
                  <a:srgbClr val="0042FF"/>
                </a:solidFill>
                <a:latin typeface="微软雅黑"/>
                <a:ea typeface="微软雅黑"/>
                <a:cs typeface="微软雅黑"/>
              </a:rPr>
              <a:t>但“三座大山”（限迁/税收/产权）仅松动其一</a:t>
            </a:r>
            <a:r>
              <a:rPr lang="zh-CN" altLang="en-US" sz="1000" b="1">
                <a:solidFill>
                  <a:srgbClr val="0042FF"/>
                </a:solidFill>
                <a:latin typeface="微软雅黑"/>
                <a:ea typeface="微软雅黑"/>
                <a:cs typeface="微软雅黑"/>
              </a:rPr>
              <a:t>，政策仍需二次攻坚</a:t>
            </a:r>
            <a:r>
              <a:rPr lang="en-US" altLang="zh-CN" sz="1000" b="1">
                <a:solidFill>
                  <a:srgbClr val="0042FF"/>
                </a:solidFill>
                <a:latin typeface="微软雅黑"/>
                <a:ea typeface="微软雅黑"/>
                <a:cs typeface="微软雅黑"/>
              </a:rPr>
              <a:t>。</a:t>
            </a:r>
            <a:endParaRPr lang="en-US" altLang="zh-CN" sz="1000" b="1">
              <a:solidFill>
                <a:srgbClr val="0042FF"/>
              </a:solidFill>
              <a:latin typeface="微软雅黑"/>
              <a:ea typeface="微软雅黑"/>
              <a:cs typeface="微软雅黑"/>
            </a:endParaRPr>
          </a:p>
        </p:txBody>
      </p:sp>
      <p:sp>
        <p:nvSpPr>
          <p:cNvPr id="68" name="文本框 67"/>
          <p:cNvSpPr txBox="1"/>
          <p:nvPr/>
        </p:nvSpPr>
        <p:spPr>
          <a:xfrm>
            <a:off x="7138035" y="2432050"/>
            <a:ext cx="1475740" cy="306705"/>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0042FF"/>
                </a:solidFill>
                <a:latin typeface="微软雅黑"/>
                <a:ea typeface="微软雅黑"/>
                <a:cs typeface="微软雅黑"/>
                <a:sym typeface="微软雅黑"/>
              </a:rPr>
              <a:t>2016-2020</a:t>
            </a:r>
            <a:endParaRPr lang="en-US" altLang="zh-CN" sz="1400" b="1">
              <a:solidFill>
                <a:srgbClr val="0042FF"/>
              </a:solidFill>
              <a:latin typeface="微软雅黑"/>
              <a:ea typeface="微软雅黑"/>
              <a:cs typeface="微软雅黑"/>
              <a:sym typeface="微软雅黑"/>
            </a:endParaRPr>
          </a:p>
        </p:txBody>
      </p:sp>
      <p:sp>
        <p:nvSpPr>
          <p:cNvPr id="69" name="文本框 68"/>
          <p:cNvSpPr txBox="1"/>
          <p:nvPr/>
        </p:nvSpPr>
        <p:spPr>
          <a:xfrm>
            <a:off x="7051675" y="2726055"/>
            <a:ext cx="1680210" cy="553085"/>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a:solidFill>
                  <a:srgbClr val="383838"/>
                </a:solidFill>
                <a:latin typeface="微软雅黑"/>
                <a:ea typeface="微软雅黑"/>
                <a:cs typeface="微软雅黑"/>
              </a:rPr>
              <a:t>锁定</a:t>
            </a:r>
            <a:r>
              <a:rPr lang="zh-CN" altLang="en-US" sz="1000" b="1">
                <a:solidFill>
                  <a:srgbClr val="0042FF"/>
                </a:solidFill>
                <a:latin typeface="微软雅黑"/>
                <a:ea typeface="微软雅黑"/>
                <a:cs typeface="微软雅黑"/>
              </a:rPr>
              <a:t>税收改革突破</a:t>
            </a:r>
            <a:r>
              <a:rPr lang="zh-CN" altLang="en-US" sz="1000">
                <a:solidFill>
                  <a:srgbClr val="383838"/>
                </a:solidFill>
                <a:latin typeface="微软雅黑"/>
                <a:ea typeface="微软雅黑"/>
                <a:cs typeface="微软雅黑"/>
              </a:rPr>
              <a:t>与未</a:t>
            </a:r>
            <a:r>
              <a:rPr lang="zh-CN" altLang="en-US" sz="1000" b="1">
                <a:solidFill>
                  <a:srgbClr val="383838"/>
                </a:solidFill>
                <a:latin typeface="微软雅黑"/>
                <a:ea typeface="微软雅黑"/>
                <a:cs typeface="微软雅黑"/>
              </a:rPr>
              <a:t>解瓶颈（产权）</a:t>
            </a:r>
            <a:r>
              <a:rPr lang="zh-CN" altLang="en-US" sz="1000">
                <a:solidFill>
                  <a:srgbClr val="383838"/>
                </a:solidFill>
                <a:latin typeface="微软雅黑"/>
                <a:ea typeface="微软雅黑"/>
                <a:cs typeface="微软雅黑"/>
              </a:rPr>
              <a:t>，铺垫爆发期攻坚。</a:t>
            </a:r>
            <a:endParaRPr lang="zh-CN" altLang="en-US" sz="1000">
              <a:solidFill>
                <a:srgbClr val="383838"/>
              </a:solidFill>
              <a:latin typeface="微软雅黑"/>
              <a:ea typeface="微软雅黑"/>
              <a:cs typeface="微软雅黑"/>
            </a:endParaRPr>
          </a:p>
        </p:txBody>
      </p:sp>
      <p:sp>
        <p:nvSpPr>
          <p:cNvPr id="70" name="文本框 69"/>
          <p:cNvSpPr txBox="1"/>
          <p:nvPr/>
        </p:nvSpPr>
        <p:spPr>
          <a:xfrm>
            <a:off x="9255760" y="4276725"/>
            <a:ext cx="1038860"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2022.10</a:t>
            </a:r>
            <a:endParaRPr lang="en-US" altLang="zh-CN" sz="1600" b="1">
              <a:solidFill>
                <a:srgbClr val="0042FF"/>
              </a:solidFill>
              <a:latin typeface="微软雅黑"/>
              <a:ea typeface="微软雅黑"/>
              <a:cs typeface="微软雅黑"/>
            </a:endParaRPr>
          </a:p>
        </p:txBody>
      </p:sp>
      <p:sp>
        <p:nvSpPr>
          <p:cNvPr id="71" name="文本框 70"/>
          <p:cNvSpPr txBox="1"/>
          <p:nvPr/>
        </p:nvSpPr>
        <p:spPr>
          <a:xfrm>
            <a:off x="10419080" y="4146550"/>
            <a:ext cx="939800" cy="598170"/>
          </a:xfrm>
          <a:prstGeom prst="rect">
            <a:avLst/>
          </a:prstGeom>
          <a:noFill/>
        </p:spPr>
        <p:txBody>
          <a:bodyPr wrap="square" rtlCol="0" lIns="0" rIns="0" tIns="0" bIns="0" anchor="t">
            <a:noAutofit/>
          </a:bodyPr>
          <a:p>
            <a:pPr eaLnBrk="1" latinLnBrk="0" marL="0" marR="0" indent="0">
              <a:lnSpc>
                <a:spcPts val="1100"/>
              </a:lnSpc>
              <a:spcBef>
                <a:spcPts val="0"/>
              </a:spcBef>
              <a:spcAft>
                <a:spcPts val="0"/>
              </a:spcAft>
              <a:defRPr>
                <a:latin typeface="微软雅黑"/>
                <a:ea typeface="微软雅黑"/>
                <a:cs typeface="微软雅黑"/>
              </a:defRPr>
            </a:pPr>
            <a:r>
              <a:rPr lang="zh-CN" altLang="en-US" sz="1000">
                <a:solidFill>
                  <a:srgbClr val="383838"/>
                </a:solidFill>
                <a:latin typeface="微软雅黑"/>
                <a:ea typeface="微软雅黑"/>
                <a:cs typeface="微软雅黑"/>
              </a:rPr>
              <a:t>国务院推动以旧换新，要求</a:t>
            </a:r>
            <a:r>
              <a:rPr lang="en-US" altLang="zh-CN" sz="1000">
                <a:solidFill>
                  <a:srgbClr val="383838"/>
                </a:solidFill>
                <a:latin typeface="微软雅黑"/>
                <a:ea typeface="微软雅黑"/>
                <a:cs typeface="微软雅黑"/>
              </a:rPr>
              <a:t>2027</a:t>
            </a:r>
            <a:r>
              <a:rPr lang="zh-CN" altLang="en-US" sz="1000">
                <a:solidFill>
                  <a:srgbClr val="383838"/>
                </a:solidFill>
                <a:latin typeface="微软雅黑"/>
                <a:ea typeface="微软雅黑"/>
                <a:cs typeface="微软雅黑"/>
              </a:rPr>
              <a:t>年交易量较</a:t>
            </a:r>
            <a:r>
              <a:rPr lang="en-US" altLang="zh-CN" sz="1000">
                <a:solidFill>
                  <a:srgbClr val="383838"/>
                </a:solidFill>
                <a:latin typeface="微软雅黑"/>
                <a:ea typeface="微软雅黑"/>
                <a:cs typeface="微软雅黑"/>
              </a:rPr>
              <a:t>2023</a:t>
            </a:r>
            <a:r>
              <a:rPr lang="zh-CN" altLang="en-US" sz="1000">
                <a:solidFill>
                  <a:srgbClr val="383838"/>
                </a:solidFill>
                <a:latin typeface="微软雅黑"/>
                <a:ea typeface="微软雅黑"/>
                <a:cs typeface="微软雅黑"/>
              </a:rPr>
              <a:t>年增</a:t>
            </a:r>
            <a:r>
              <a:rPr lang="en-US" altLang="zh-CN" sz="1000">
                <a:solidFill>
                  <a:srgbClr val="383838"/>
                </a:solidFill>
                <a:latin typeface="微软雅黑"/>
                <a:ea typeface="微软雅黑"/>
                <a:cs typeface="微软雅黑"/>
              </a:rPr>
              <a:t>45%</a:t>
            </a:r>
            <a:r>
              <a:rPr lang="zh-CN" altLang="en-US" sz="1000">
                <a:solidFill>
                  <a:srgbClr val="383838"/>
                </a:solidFill>
                <a:latin typeface="微软雅黑"/>
                <a:ea typeface="微软雅黑"/>
                <a:cs typeface="微软雅黑"/>
              </a:rPr>
              <a:t>。</a:t>
            </a:r>
            <a:endParaRPr lang="zh-CN" altLang="en-US" sz="1000">
              <a:solidFill>
                <a:srgbClr val="383838"/>
              </a:solidFill>
              <a:latin typeface="微软雅黑"/>
              <a:ea typeface="微软雅黑"/>
              <a:cs typeface="微软雅黑"/>
            </a:endParaRPr>
          </a:p>
        </p:txBody>
      </p:sp>
      <p:sp>
        <p:nvSpPr>
          <p:cNvPr id="72" name="文本框 71"/>
          <p:cNvSpPr txBox="1"/>
          <p:nvPr/>
        </p:nvSpPr>
        <p:spPr>
          <a:xfrm>
            <a:off x="10418445" y="3876675"/>
            <a:ext cx="1022350"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2024.03</a:t>
            </a:r>
            <a:endParaRPr lang="en-US" altLang="zh-CN" sz="1600" b="1">
              <a:solidFill>
                <a:srgbClr val="0042FF"/>
              </a:solidFill>
              <a:latin typeface="微软雅黑"/>
              <a:ea typeface="微软雅黑"/>
              <a:cs typeface="微软雅黑"/>
            </a:endParaRPr>
          </a:p>
        </p:txBody>
      </p:sp>
      <p:sp>
        <p:nvSpPr>
          <p:cNvPr id="73" name="文本框 72"/>
          <p:cNvSpPr txBox="1"/>
          <p:nvPr/>
        </p:nvSpPr>
        <p:spPr>
          <a:xfrm>
            <a:off x="10262870" y="2738755"/>
            <a:ext cx="1063625" cy="398780"/>
          </a:xfrm>
          <a:prstGeom prst="rect">
            <a:avLst/>
          </a:prstGeom>
          <a:noFill/>
        </p:spPr>
        <p:txBody>
          <a:bodyPr wrap="square" rtlCol="0" lIns="0" rIns="0" tIns="0" bIns="0">
            <a:spAutoFit/>
          </a:bodyPr>
          <a:p>
            <a:pPr algn="l">
              <a:defRPr>
                <a:latin typeface="微软雅黑"/>
                <a:ea typeface="微软雅黑"/>
                <a:cs typeface="微软雅黑"/>
              </a:defRPr>
            </a:pPr>
            <a:r>
              <a:rPr lang="zh-CN" altLang="en-US" sz="1000">
                <a:solidFill>
                  <a:srgbClr val="383838"/>
                </a:solidFill>
                <a:latin typeface="微软雅黑"/>
                <a:ea typeface="微软雅黑"/>
                <a:cs typeface="微软雅黑"/>
              </a:rPr>
              <a:t>制度深化与模式创新</a:t>
            </a:r>
            <a:endParaRPr lang="zh-CN" altLang="en-US" sz="1000">
              <a:solidFill>
                <a:srgbClr val="383838"/>
              </a:solidFill>
              <a:latin typeface="微软雅黑"/>
              <a:ea typeface="微软雅黑"/>
              <a:cs typeface="微软雅黑"/>
            </a:endParaRPr>
          </a:p>
        </p:txBody>
      </p:sp>
      <p:sp>
        <p:nvSpPr>
          <p:cNvPr id="74" name="文本框 73"/>
          <p:cNvSpPr txBox="1"/>
          <p:nvPr/>
        </p:nvSpPr>
        <p:spPr>
          <a:xfrm>
            <a:off x="10262870" y="2432050"/>
            <a:ext cx="1059180" cy="306705"/>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0042FF"/>
                </a:solidFill>
                <a:latin typeface="微软雅黑"/>
                <a:ea typeface="微软雅黑"/>
                <a:cs typeface="微软雅黑"/>
                <a:sym typeface="微软雅黑"/>
              </a:rPr>
              <a:t>2022-</a:t>
            </a:r>
            <a:r>
              <a:rPr lang="zh-CN" altLang="en-US" sz="1400" b="1">
                <a:solidFill>
                  <a:srgbClr val="0042FF"/>
                </a:solidFill>
                <a:latin typeface="微软雅黑"/>
                <a:ea typeface="微软雅黑"/>
                <a:cs typeface="微软雅黑"/>
                <a:sym typeface="微软雅黑"/>
              </a:rPr>
              <a:t>至今</a:t>
            </a:r>
            <a:endParaRPr lang="zh-CN" altLang="en-US" sz="1400" b="1">
              <a:solidFill>
                <a:srgbClr val="0042FF"/>
              </a:solidFill>
              <a:latin typeface="微软雅黑"/>
              <a:ea typeface="微软雅黑"/>
              <a:cs typeface="微软雅黑"/>
              <a:sym typeface="微软雅黑"/>
            </a:endParaRPr>
          </a:p>
        </p:txBody>
      </p:sp>
      <p:sp>
        <p:nvSpPr>
          <p:cNvPr id="75" name="文本框 74"/>
          <p:cNvSpPr txBox="1"/>
          <p:nvPr/>
        </p:nvSpPr>
        <p:spPr>
          <a:xfrm>
            <a:off x="8740775" y="2432050"/>
            <a:ext cx="1475740" cy="306705"/>
          </a:xfrm>
          <a:prstGeom prst="rect">
            <a:avLst/>
          </a:prstGeom>
          <a:noFill/>
        </p:spPr>
        <p:txBody>
          <a:bodyPr wrap="square" rtlCol="0">
            <a:spAutoFit/>
          </a:bodyPr>
          <a:p>
            <a:pPr algn="ctr">
              <a:defRPr>
                <a:latin typeface="微软雅黑"/>
                <a:ea typeface="微软雅黑"/>
                <a:cs typeface="微软雅黑"/>
              </a:defRPr>
            </a:pPr>
            <a:r>
              <a:rPr lang="en-US" altLang="zh-CN" sz="1400" b="1">
                <a:solidFill>
                  <a:srgbClr val="0042FF"/>
                </a:solidFill>
                <a:latin typeface="微软雅黑"/>
                <a:ea typeface="微软雅黑"/>
                <a:cs typeface="微软雅黑"/>
                <a:sym typeface="微软雅黑"/>
              </a:rPr>
              <a:t>2020-2022</a:t>
            </a:r>
            <a:endParaRPr lang="en-US" altLang="zh-CN" sz="1400" b="1">
              <a:solidFill>
                <a:srgbClr val="0042FF"/>
              </a:solidFill>
              <a:latin typeface="微软雅黑"/>
              <a:ea typeface="微软雅黑"/>
              <a:cs typeface="微软雅黑"/>
              <a:sym typeface="微软雅黑"/>
            </a:endParaRPr>
          </a:p>
        </p:txBody>
      </p:sp>
      <p:sp>
        <p:nvSpPr>
          <p:cNvPr id="76" name="文本框 75"/>
          <p:cNvSpPr txBox="1"/>
          <p:nvPr/>
        </p:nvSpPr>
        <p:spPr>
          <a:xfrm>
            <a:off x="8713470" y="2726055"/>
            <a:ext cx="1503680" cy="553085"/>
          </a:xfrm>
          <a:prstGeom prst="rect">
            <a:avLst/>
          </a:prstGeom>
          <a:noFill/>
        </p:spPr>
        <p:txBody>
          <a:bodyPr wrap="square" rtlCol="0" lIns="0" rIns="0" tIns="0" bIns="0">
            <a:spAutoFit/>
          </a:bodyPr>
          <a:p>
            <a:pPr algn="ctr">
              <a:defRPr>
                <a:latin typeface="微软雅黑"/>
                <a:ea typeface="微软雅黑"/>
                <a:cs typeface="微软雅黑"/>
              </a:defRPr>
            </a:pPr>
            <a:r>
              <a:rPr lang="zh-CN" altLang="en-US" sz="1000" b="1">
                <a:solidFill>
                  <a:srgbClr val="0042FF"/>
                </a:solidFill>
                <a:latin typeface="微软雅黑"/>
                <a:ea typeface="微软雅黑"/>
                <a:cs typeface="微软雅黑"/>
              </a:rPr>
              <a:t>“三座大山移除”，</a:t>
            </a:r>
            <a:r>
              <a:rPr lang="en-US" altLang="zh-CN" sz="1000">
                <a:solidFill>
                  <a:srgbClr val="383838"/>
                </a:solidFill>
                <a:latin typeface="微软雅黑"/>
                <a:ea typeface="微软雅黑"/>
                <a:cs typeface="微软雅黑"/>
              </a:rPr>
              <a:t>2023</a:t>
            </a:r>
            <a:r>
              <a:rPr lang="zh-CN" altLang="en-US" sz="1000">
                <a:solidFill>
                  <a:srgbClr val="383838"/>
                </a:solidFill>
                <a:latin typeface="微软雅黑"/>
                <a:ea typeface="微软雅黑"/>
                <a:cs typeface="微软雅黑"/>
              </a:rPr>
              <a:t>年爆发交易量达：</a:t>
            </a:r>
            <a:r>
              <a:rPr lang="en-US" altLang="zh-CN" sz="1000">
                <a:solidFill>
                  <a:srgbClr val="383838"/>
                </a:solidFill>
                <a:latin typeface="微软雅黑"/>
                <a:ea typeface="微软雅黑"/>
                <a:cs typeface="微软雅黑"/>
              </a:rPr>
              <a:t>1841</a:t>
            </a:r>
            <a:r>
              <a:rPr lang="zh-CN" altLang="en-US" sz="1000">
                <a:solidFill>
                  <a:srgbClr val="383838"/>
                </a:solidFill>
                <a:latin typeface="微软雅黑"/>
                <a:ea typeface="微软雅黑"/>
                <a:cs typeface="微软雅黑"/>
              </a:rPr>
              <a:t>万辆交易量。</a:t>
            </a:r>
            <a:endParaRPr lang="zh-CN" altLang="en-US" sz="1000">
              <a:solidFill>
                <a:srgbClr val="383838"/>
              </a:solidFill>
              <a:latin typeface="微软雅黑"/>
              <a:ea typeface="微软雅黑"/>
              <a:cs typeface="微软雅黑"/>
            </a:endParaRPr>
          </a:p>
        </p:txBody>
      </p:sp>
      <p:cxnSp>
        <p:nvCxnSpPr>
          <p:cNvPr id="77" name="直接连接符 76"/>
          <p:cNvCxnSpPr/>
          <p:nvPr/>
        </p:nvCxnSpPr>
        <p:spPr>
          <a:xfrm>
            <a:off x="9558020" y="4109720"/>
            <a:ext cx="0" cy="191770"/>
          </a:xfrm>
          <a:prstGeom prst="line">
            <a:avLst/>
          </a:prstGeom>
          <a:ln>
            <a:solidFill>
              <a:srgbClr val="B3D4FE"/>
            </a:solidFill>
            <a:prstDash val="sysDash"/>
          </a:ln>
        </p:spPr>
        <p:style>
          <a:lnRef idx="2">
            <a:srgbClr val="0042FF"/>
          </a:lnRef>
          <a:fillRef idx="0">
            <a:srgbClr val="FFFFFF"/>
          </a:fillRef>
          <a:effectRef idx="0">
            <a:srgbClr val="FFFFFF"/>
          </a:effectRef>
          <a:fontRef idx="minor">
            <a:srgbClr val="383838"/>
          </a:fontRef>
        </p:style>
      </p:cxnSp>
      <p:cxnSp>
        <p:nvCxnSpPr>
          <p:cNvPr id="78" name="直接连接符 77"/>
          <p:cNvCxnSpPr/>
          <p:nvPr/>
        </p:nvCxnSpPr>
        <p:spPr>
          <a:xfrm>
            <a:off x="10800715" y="3421380"/>
            <a:ext cx="0" cy="449580"/>
          </a:xfrm>
          <a:prstGeom prst="line">
            <a:avLst/>
          </a:prstGeom>
          <a:ln>
            <a:solidFill>
              <a:srgbClr val="B3D4FE"/>
            </a:solidFill>
            <a:prstDash val="sysDash"/>
          </a:ln>
        </p:spPr>
        <p:style>
          <a:lnRef idx="2">
            <a:srgbClr val="0042FF"/>
          </a:lnRef>
          <a:fillRef idx="0">
            <a:srgbClr val="FFFFFF"/>
          </a:fillRef>
          <a:effectRef idx="0">
            <a:srgbClr val="FFFFFF"/>
          </a:effectRef>
          <a:fontRef idx="minor">
            <a:srgbClr val="383838"/>
          </a:fontRef>
        </p:style>
      </p:cxnSp>
      <p:sp>
        <p:nvSpPr>
          <p:cNvPr id="138" name="矩形 137"/>
          <p:cNvSpPr/>
          <p:nvPr/>
        </p:nvSpPr>
        <p:spPr>
          <a:xfrm>
            <a:off x="626745" y="1003935"/>
            <a:ext cx="10732770" cy="874395"/>
          </a:xfrm>
          <a:prstGeom prst="rect">
            <a:avLst/>
          </a:prstGeom>
          <a:solidFill>
            <a:srgbClr val="E6E6E6">
              <a:alpha val="2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a:p>
            <a:pPr algn="l">
              <a:defRPr>
                <a:latin typeface="微软雅黑"/>
                <a:ea typeface="微软雅黑"/>
                <a:cs typeface="微软雅黑"/>
              </a:defRPr>
            </a:pPr>
            <a:endParaRPr lang="zh-CN" altLang="en-US" sz="1600">
              <a:solidFill>
                <a:srgbClr val="383838"/>
              </a:solidFill>
              <a:latin typeface="微软雅黑"/>
              <a:ea typeface="微软雅黑"/>
              <a:cs typeface="微软雅黑"/>
            </a:endParaRPr>
          </a:p>
        </p:txBody>
      </p:sp>
      <p:sp>
        <p:nvSpPr>
          <p:cNvPr id="4" name="文本框 3"/>
          <p:cNvSpPr txBox="1"/>
          <p:nvPr/>
        </p:nvSpPr>
        <p:spPr>
          <a:xfrm>
            <a:off x="755015" y="1072515"/>
            <a:ext cx="10464800" cy="737235"/>
          </a:xfrm>
          <a:prstGeom prst="rect">
            <a:avLst/>
          </a:prstGeom>
          <a:noFill/>
        </p:spPr>
        <p:txBody>
          <a:bodyPr wrap="square" rtlCol="0">
            <a:spAutoFit/>
          </a:bodyPr>
          <a:p>
            <a:pPr>
              <a:defRPr>
                <a:latin typeface="微软雅黑"/>
                <a:ea typeface="微软雅黑"/>
                <a:cs typeface="微软雅黑"/>
              </a:defRPr>
            </a:pPr>
            <a:r>
              <a:rPr lang="zh-CN" altLang="en-US" sz="1400">
                <a:solidFill>
                  <a:srgbClr val="383838"/>
                </a:solidFill>
                <a:latin typeface="微软雅黑"/>
                <a:ea typeface="微软雅黑"/>
                <a:cs typeface="微软雅黑"/>
                <a:sym typeface="微软雅黑"/>
              </a:rPr>
              <a:t>我国自</a:t>
            </a:r>
            <a:r>
              <a:rPr lang="en-US" altLang="zh-CN" sz="1400">
                <a:solidFill>
                  <a:srgbClr val="383838"/>
                </a:solidFill>
                <a:latin typeface="微软雅黑"/>
                <a:ea typeface="微软雅黑"/>
                <a:cs typeface="微软雅黑"/>
                <a:sym typeface="微软雅黑"/>
              </a:rPr>
              <a:t>2014</a:t>
            </a:r>
            <a:r>
              <a:rPr lang="zh-CN" altLang="en-US" sz="1400">
                <a:solidFill>
                  <a:srgbClr val="383838"/>
                </a:solidFill>
                <a:latin typeface="微软雅黑"/>
                <a:ea typeface="微软雅黑"/>
                <a:cs typeface="微软雅黑"/>
                <a:sym typeface="微软雅黑"/>
              </a:rPr>
              <a:t>年二手车交易量</a:t>
            </a:r>
            <a:r>
              <a:rPr lang="en-US" altLang="zh-CN" sz="1400">
                <a:solidFill>
                  <a:srgbClr val="383838"/>
                </a:solidFill>
                <a:latin typeface="微软雅黑"/>
                <a:ea typeface="微软雅黑"/>
                <a:cs typeface="微软雅黑"/>
                <a:sym typeface="微软雅黑"/>
              </a:rPr>
              <a:t>605</a:t>
            </a:r>
            <a:r>
              <a:rPr lang="zh-CN" altLang="en-US" sz="1400">
                <a:solidFill>
                  <a:srgbClr val="383838"/>
                </a:solidFill>
                <a:latin typeface="微软雅黑"/>
                <a:ea typeface="微软雅黑"/>
                <a:cs typeface="微软雅黑"/>
                <a:sym typeface="微软雅黑"/>
              </a:rPr>
              <a:t>万辆起步，通过十年政策攻坚</a:t>
            </a:r>
            <a:r>
              <a:rPr lang="zh-CN" altLang="en-US" sz="1400" b="1">
                <a:solidFill>
                  <a:srgbClr val="0042FF"/>
                </a:solidFill>
                <a:latin typeface="微软雅黑"/>
                <a:ea typeface="微软雅黑"/>
                <a:cs typeface="微软雅黑"/>
                <a:sym typeface="微软雅黑"/>
              </a:rPr>
              <a:t>移除限迁、税收、产权</a:t>
            </a:r>
            <a:r>
              <a:rPr lang="en-US" altLang="zh-CN" sz="1400" b="1">
                <a:solidFill>
                  <a:srgbClr val="0042FF"/>
                </a:solidFill>
                <a:latin typeface="微软雅黑"/>
                <a:ea typeface="微软雅黑"/>
                <a:cs typeface="微软雅黑"/>
                <a:sym typeface="微软雅黑"/>
              </a:rPr>
              <a:t>“</a:t>
            </a:r>
            <a:r>
              <a:rPr lang="zh-CN" altLang="en-US" sz="1400" b="1">
                <a:solidFill>
                  <a:srgbClr val="0042FF"/>
                </a:solidFill>
                <a:latin typeface="微软雅黑"/>
                <a:ea typeface="微软雅黑"/>
                <a:cs typeface="微软雅黑"/>
                <a:sym typeface="微软雅黑"/>
              </a:rPr>
              <a:t>三座大山</a:t>
            </a:r>
            <a:r>
              <a:rPr lang="en-US" altLang="zh-CN" sz="1400" b="1">
                <a:solidFill>
                  <a:srgbClr val="0042FF"/>
                </a:solidFill>
                <a:latin typeface="微软雅黑"/>
                <a:ea typeface="微软雅黑"/>
                <a:cs typeface="微软雅黑"/>
                <a:sym typeface="微软雅黑"/>
              </a:rPr>
              <a:t>”</a:t>
            </a:r>
            <a:r>
              <a:rPr lang="zh-CN" altLang="en-US" sz="1400">
                <a:solidFill>
                  <a:srgbClr val="383838"/>
                </a:solidFill>
                <a:latin typeface="微软雅黑"/>
                <a:ea typeface="微软雅黑"/>
                <a:cs typeface="微软雅黑"/>
                <a:sym typeface="微软雅黑"/>
              </a:rPr>
              <a:t>（</a:t>
            </a:r>
            <a:r>
              <a:rPr lang="en-US" altLang="zh-CN" sz="1400">
                <a:solidFill>
                  <a:srgbClr val="383838"/>
                </a:solidFill>
                <a:latin typeface="微软雅黑"/>
                <a:ea typeface="微软雅黑"/>
                <a:cs typeface="微软雅黑"/>
                <a:sym typeface="微软雅黑"/>
              </a:rPr>
              <a:t>2016</a:t>
            </a:r>
            <a:r>
              <a:rPr lang="zh-CN" altLang="en-US" sz="1400">
                <a:solidFill>
                  <a:srgbClr val="383838"/>
                </a:solidFill>
                <a:latin typeface="微软雅黑"/>
                <a:ea typeface="微软雅黑"/>
                <a:cs typeface="微软雅黑"/>
                <a:sym typeface="微软雅黑"/>
              </a:rPr>
              <a:t>年限迁破冰启动、</a:t>
            </a:r>
            <a:r>
              <a:rPr lang="en-US" altLang="zh-CN" sz="1400">
                <a:solidFill>
                  <a:srgbClr val="383838"/>
                </a:solidFill>
                <a:latin typeface="微软雅黑"/>
                <a:ea typeface="微软雅黑"/>
                <a:cs typeface="微软雅黑"/>
                <a:sym typeface="微软雅黑"/>
              </a:rPr>
              <a:t>2020</a:t>
            </a:r>
            <a:r>
              <a:rPr lang="zh-CN" altLang="en-US" sz="1400">
                <a:solidFill>
                  <a:srgbClr val="383838"/>
                </a:solidFill>
                <a:latin typeface="微软雅黑"/>
                <a:ea typeface="微软雅黑"/>
                <a:cs typeface="微软雅黑"/>
                <a:sym typeface="微软雅黑"/>
              </a:rPr>
              <a:t>年增值税降至</a:t>
            </a:r>
            <a:r>
              <a:rPr lang="en-US" altLang="zh-CN" sz="1400">
                <a:solidFill>
                  <a:srgbClr val="383838"/>
                </a:solidFill>
                <a:latin typeface="微软雅黑"/>
                <a:ea typeface="微软雅黑"/>
                <a:cs typeface="微软雅黑"/>
                <a:sym typeface="微软雅黑"/>
              </a:rPr>
              <a:t>0.5%</a:t>
            </a:r>
            <a:r>
              <a:rPr lang="zh-CN" altLang="en-US" sz="1400">
                <a:solidFill>
                  <a:srgbClr val="383838"/>
                </a:solidFill>
                <a:latin typeface="微软雅黑"/>
                <a:ea typeface="微软雅黑"/>
                <a:cs typeface="微软雅黑"/>
                <a:sym typeface="微软雅黑"/>
              </a:rPr>
              <a:t>、</a:t>
            </a:r>
            <a:r>
              <a:rPr lang="en-US" altLang="zh-CN" sz="1400">
                <a:solidFill>
                  <a:srgbClr val="383838"/>
                </a:solidFill>
                <a:latin typeface="微软雅黑"/>
                <a:ea typeface="微软雅黑"/>
                <a:cs typeface="微软雅黑"/>
                <a:sym typeface="微软雅黑"/>
              </a:rPr>
              <a:t>2022</a:t>
            </a:r>
            <a:r>
              <a:rPr lang="zh-CN" altLang="en-US" sz="1400">
                <a:solidFill>
                  <a:srgbClr val="383838"/>
                </a:solidFill>
                <a:latin typeface="微软雅黑"/>
                <a:ea typeface="微软雅黑"/>
                <a:cs typeface="微软雅黑"/>
                <a:sym typeface="微软雅黑"/>
              </a:rPr>
              <a:t>年临时产权制落地），</a:t>
            </a:r>
            <a:r>
              <a:rPr lang="zh-CN" altLang="en-US" sz="1400" b="1">
                <a:solidFill>
                  <a:srgbClr val="383838"/>
                </a:solidFill>
                <a:latin typeface="微软雅黑"/>
                <a:ea typeface="微软雅黑"/>
                <a:cs typeface="微软雅黑"/>
                <a:sym typeface="微软雅黑"/>
              </a:rPr>
              <a:t>至</a:t>
            </a:r>
            <a:r>
              <a:rPr lang="en-US" altLang="zh-CN" sz="1400" b="1">
                <a:solidFill>
                  <a:srgbClr val="383838"/>
                </a:solidFill>
                <a:latin typeface="微软雅黑"/>
                <a:ea typeface="微软雅黑"/>
                <a:cs typeface="微软雅黑"/>
                <a:sym typeface="微软雅黑"/>
              </a:rPr>
              <a:t>2023</a:t>
            </a:r>
            <a:r>
              <a:rPr lang="zh-CN" altLang="en-US" sz="1400" b="1">
                <a:solidFill>
                  <a:srgbClr val="383838"/>
                </a:solidFill>
                <a:latin typeface="微软雅黑"/>
                <a:ea typeface="微软雅黑"/>
                <a:cs typeface="微软雅黑"/>
                <a:sym typeface="微软雅黑"/>
              </a:rPr>
              <a:t>年交易量跃升至</a:t>
            </a:r>
            <a:r>
              <a:rPr lang="en-US" altLang="zh-CN" sz="1400" b="1">
                <a:solidFill>
                  <a:srgbClr val="383838"/>
                </a:solidFill>
                <a:latin typeface="微软雅黑"/>
                <a:ea typeface="微软雅黑"/>
                <a:cs typeface="微软雅黑"/>
                <a:sym typeface="微软雅黑"/>
              </a:rPr>
              <a:t>1841</a:t>
            </a:r>
            <a:r>
              <a:rPr lang="zh-CN" altLang="en-US" sz="1400" b="1">
                <a:solidFill>
                  <a:srgbClr val="383838"/>
                </a:solidFill>
                <a:latin typeface="微软雅黑"/>
                <a:ea typeface="微软雅黑"/>
                <a:cs typeface="微软雅黑"/>
                <a:sym typeface="微软雅黑"/>
              </a:rPr>
              <a:t>万辆（十年增长</a:t>
            </a:r>
            <a:r>
              <a:rPr lang="en-US" altLang="zh-CN" sz="1400" b="1">
                <a:solidFill>
                  <a:srgbClr val="383838"/>
                </a:solidFill>
                <a:latin typeface="微软雅黑"/>
                <a:ea typeface="微软雅黑"/>
                <a:cs typeface="微软雅黑"/>
                <a:sym typeface="微软雅黑"/>
              </a:rPr>
              <a:t>3</a:t>
            </a:r>
            <a:r>
              <a:rPr lang="zh-CN" altLang="en-US" sz="1400" b="1">
                <a:solidFill>
                  <a:srgbClr val="383838"/>
                </a:solidFill>
                <a:latin typeface="微软雅黑"/>
                <a:ea typeface="微软雅黑"/>
                <a:cs typeface="微软雅黑"/>
                <a:sym typeface="微软雅黑"/>
              </a:rPr>
              <a:t>倍）</a:t>
            </a:r>
            <a:r>
              <a:rPr lang="zh-CN" altLang="en-US" sz="1400">
                <a:solidFill>
                  <a:srgbClr val="383838"/>
                </a:solidFill>
                <a:latin typeface="微软雅黑"/>
                <a:ea typeface="微软雅黑"/>
                <a:cs typeface="微软雅黑"/>
                <a:sym typeface="微软雅黑"/>
              </a:rPr>
              <a:t>，跨省流通率提升至</a:t>
            </a:r>
            <a:r>
              <a:rPr lang="en-US" altLang="zh-CN" sz="1400">
                <a:solidFill>
                  <a:srgbClr val="383838"/>
                </a:solidFill>
                <a:latin typeface="微软雅黑"/>
                <a:ea typeface="微软雅黑"/>
                <a:cs typeface="微软雅黑"/>
                <a:sym typeface="微软雅黑"/>
              </a:rPr>
              <a:t>27%</a:t>
            </a:r>
            <a:r>
              <a:rPr lang="zh-CN" altLang="en-US" sz="1400">
                <a:solidFill>
                  <a:srgbClr val="383838"/>
                </a:solidFill>
                <a:latin typeface="微软雅黑"/>
                <a:ea typeface="微软雅黑"/>
                <a:cs typeface="微软雅黑"/>
                <a:sym typeface="微软雅黑"/>
              </a:rPr>
              <a:t>，年交易额达</a:t>
            </a:r>
            <a:r>
              <a:rPr lang="en-US" altLang="zh-CN" sz="1400">
                <a:solidFill>
                  <a:srgbClr val="383838"/>
                </a:solidFill>
                <a:latin typeface="微软雅黑"/>
                <a:ea typeface="微软雅黑"/>
                <a:cs typeface="微软雅黑"/>
                <a:sym typeface="微软雅黑"/>
              </a:rPr>
              <a:t>11795</a:t>
            </a:r>
            <a:r>
              <a:rPr lang="zh-CN" altLang="en-US" sz="1400">
                <a:solidFill>
                  <a:srgbClr val="383838"/>
                </a:solidFill>
                <a:latin typeface="微软雅黑"/>
                <a:ea typeface="微软雅黑"/>
                <a:cs typeface="微软雅黑"/>
                <a:sym typeface="微软雅黑"/>
              </a:rPr>
              <a:t>亿元，旧新比突破</a:t>
            </a:r>
            <a:r>
              <a:rPr lang="en-US" altLang="zh-CN" sz="1400">
                <a:solidFill>
                  <a:srgbClr val="383838"/>
                </a:solidFill>
                <a:latin typeface="微软雅黑"/>
                <a:ea typeface="微软雅黑"/>
                <a:cs typeface="微软雅黑"/>
                <a:sym typeface="微软雅黑"/>
              </a:rPr>
              <a:t>0.6</a:t>
            </a:r>
            <a:r>
              <a:rPr lang="zh-CN" altLang="en-US" sz="1400">
                <a:solidFill>
                  <a:srgbClr val="383838"/>
                </a:solidFill>
                <a:latin typeface="微软雅黑"/>
                <a:ea typeface="微软雅黑"/>
                <a:cs typeface="微软雅黑"/>
                <a:sym typeface="微软雅黑"/>
              </a:rPr>
              <a:t>，为汽车循环经济奠定市场化基石。</a:t>
            </a:r>
            <a:endParaRPr lang="zh-CN" altLang="en-US" sz="1400">
              <a:solidFill>
                <a:srgbClr val="383838"/>
              </a:solidFill>
              <a:latin typeface="微软雅黑"/>
              <a:ea typeface="微软雅黑"/>
              <a:cs typeface="微软雅黑"/>
            </a:endParaRPr>
          </a:p>
        </p:txBody>
      </p:sp>
      <p:cxnSp>
        <p:nvCxnSpPr>
          <p:cNvPr id="1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6" name="组合 15"/>
          <p:cNvGrpSpPr/>
          <p:nvPr/>
        </p:nvGrpSpPr>
        <p:grpSpPr>
          <a:xfrm>
            <a:off x="8738235" y="348615"/>
            <a:ext cx="3219450" cy="332740"/>
            <a:chOff x="13761" y="549"/>
            <a:chExt cx="5070" cy="524"/>
          </a:xfrm>
        </p:grpSpPr>
        <p:pic>
          <p:nvPicPr>
            <p:cNvPr id="65" name="图片 64"/>
            <p:cNvPicPr>
              <a:picLocks noChangeAspect="1"/>
            </p:cNvPicPr>
            <p:nvPr userDrawn="1"/>
          </p:nvPicPr>
          <p:blipFill>
            <a:blip r:embed="rId4"/>
            <a:srcRect l="17002" t="-1765" r="56499" b="-1176"/>
            <a:stretch>
              <a:fillRect/>
            </a:stretch>
          </p:blipFill>
          <p:spPr>
            <a:xfrm>
              <a:off x="13761" y="549"/>
              <a:ext cx="1582" cy="525"/>
            </a:xfrm>
            <a:prstGeom prst="rect">
              <a:avLst/>
            </a:prstGeom>
          </p:spPr>
        </p:pic>
        <p:sp>
          <p:nvSpPr>
            <p:cNvPr id="79" name="文本框 7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年度</a:t>
            </a:r>
            <a:r>
              <a:rPr lang="zh-CN" altLang="en-US" sz="2500">
                <a:solidFill>
                  <a:srgbClr val="383838"/>
                </a:solidFill>
                <a:effectLst/>
                <a:latin typeface="微软雅黑"/>
                <a:ea typeface="微软雅黑"/>
                <a:cs typeface="微软雅黑"/>
              </a:rPr>
              <a:t>工作总结汇报</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37" name="组合 36"/>
          <p:cNvGrpSpPr/>
          <p:nvPr/>
        </p:nvGrpSpPr>
        <p:grpSpPr>
          <a:xfrm>
            <a:off x="397510" y="1157605"/>
            <a:ext cx="2895600" cy="355600"/>
            <a:chOff x="626" y="1823"/>
            <a:chExt cx="4560" cy="560"/>
          </a:xfrm>
          <a:gradFill>
            <a:gsLst>
              <a:gs pos="0">
                <a:srgbClr val="3368FF"/>
              </a:gs>
              <a:gs pos="100000">
                <a:srgbClr val="0042FF"/>
              </a:gs>
            </a:gsLst>
            <a:lin ang="0" scaled="0"/>
          </a:gradFill>
        </p:grpSpPr>
        <p:sp>
          <p:nvSpPr>
            <p:cNvPr id="7" name="箭头: 五边形 6"/>
            <p:cNvSpPr/>
            <p:nvPr/>
          </p:nvSpPr>
          <p:spPr>
            <a:xfrm>
              <a:off x="626" y="1823"/>
              <a:ext cx="1597" cy="561"/>
            </a:xfrm>
            <a:prstGeom prst="homePlate">
              <a:avLst>
                <a:gd name="adj" fmla="val 27952"/>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8" name="箭头: V 形 7"/>
            <p:cNvSpPr/>
            <p:nvPr/>
          </p:nvSpPr>
          <p:spPr>
            <a:xfrm>
              <a:off x="2108"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9" name="箭头: V 形 8"/>
            <p:cNvSpPr/>
            <p:nvPr/>
          </p:nvSpPr>
          <p:spPr>
            <a:xfrm>
              <a:off x="3590"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38" name="组合 37"/>
          <p:cNvGrpSpPr/>
          <p:nvPr/>
        </p:nvGrpSpPr>
        <p:grpSpPr>
          <a:xfrm>
            <a:off x="3220720" y="1157605"/>
            <a:ext cx="2896235" cy="355600"/>
            <a:chOff x="5072" y="1823"/>
            <a:chExt cx="4561" cy="560"/>
          </a:xfrm>
          <a:gradFill>
            <a:gsLst>
              <a:gs pos="16000">
                <a:srgbClr val="3368FF"/>
              </a:gs>
              <a:gs pos="100000">
                <a:srgbClr val="B3D4FE"/>
              </a:gs>
            </a:gsLst>
            <a:lin ang="10800000" scaled="0"/>
          </a:gradFill>
        </p:grpSpPr>
        <p:sp>
          <p:nvSpPr>
            <p:cNvPr id="6" name="箭头: V 形 9"/>
            <p:cNvSpPr/>
            <p:nvPr/>
          </p:nvSpPr>
          <p:spPr>
            <a:xfrm>
              <a:off x="5072"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1"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4" name="箭头: V 形 10"/>
            <p:cNvSpPr/>
            <p:nvPr/>
          </p:nvSpPr>
          <p:spPr>
            <a:xfrm>
              <a:off x="6555"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1"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5" name="箭头: V 形 11"/>
            <p:cNvSpPr/>
            <p:nvPr/>
          </p:nvSpPr>
          <p:spPr>
            <a:xfrm>
              <a:off x="8037"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1" i="0" u="none" strike="noStrike" kern="1200" cap="none" spc="0" normalizeH="0" baseline="0" noProof="0">
                <a:ln>
                  <a:noFill/>
                </a:ln>
                <a:solidFill>
                  <a:prstClr val="white"/>
                </a:solidFill>
                <a:effectLst/>
                <a:uLnTx/>
                <a:uFillTx/>
                <a:latin typeface="微软雅黑"/>
                <a:ea typeface="微软雅黑"/>
                <a:cs typeface="微软雅黑"/>
              </a:endParaRPr>
            </a:p>
          </p:txBody>
        </p:sp>
      </p:grpSp>
      <p:grpSp>
        <p:nvGrpSpPr>
          <p:cNvPr id="39" name="组合 38"/>
          <p:cNvGrpSpPr/>
          <p:nvPr/>
        </p:nvGrpSpPr>
        <p:grpSpPr>
          <a:xfrm>
            <a:off x="6044565" y="1157605"/>
            <a:ext cx="2896235" cy="355600"/>
            <a:chOff x="9519" y="1823"/>
            <a:chExt cx="4561" cy="560"/>
          </a:xfrm>
          <a:gradFill>
            <a:gsLst>
              <a:gs pos="16000">
                <a:srgbClr val="0042FF"/>
              </a:gs>
              <a:gs pos="100000">
                <a:srgbClr val="3368FF"/>
              </a:gs>
            </a:gsLst>
            <a:lin ang="10800000" scaled="0"/>
          </a:gradFill>
        </p:grpSpPr>
        <p:sp>
          <p:nvSpPr>
            <p:cNvPr id="19" name="箭头: V 形 12"/>
            <p:cNvSpPr/>
            <p:nvPr/>
          </p:nvSpPr>
          <p:spPr>
            <a:xfrm>
              <a:off x="9519"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2" name="箭头: V 形 13"/>
            <p:cNvSpPr/>
            <p:nvPr/>
          </p:nvSpPr>
          <p:spPr>
            <a:xfrm>
              <a:off x="11002"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24" name="箭头: V 形 14"/>
            <p:cNvSpPr/>
            <p:nvPr/>
          </p:nvSpPr>
          <p:spPr>
            <a:xfrm>
              <a:off x="12484"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1" i="0" u="none" strike="noStrike" kern="1200" cap="none" spc="0" normalizeH="0" baseline="0" noProof="0">
                <a:ln>
                  <a:noFill/>
                </a:ln>
                <a:solidFill>
                  <a:srgbClr val="FFFFFF"/>
                </a:solidFill>
                <a:effectLst/>
                <a:uLnTx/>
                <a:uFillTx/>
                <a:latin typeface="微软雅黑"/>
                <a:ea typeface="微软雅黑"/>
                <a:cs typeface="微软雅黑"/>
              </a:endParaRPr>
            </a:p>
          </p:txBody>
        </p:sp>
      </p:grpSp>
      <p:grpSp>
        <p:nvGrpSpPr>
          <p:cNvPr id="40" name="组合 39"/>
          <p:cNvGrpSpPr/>
          <p:nvPr/>
        </p:nvGrpSpPr>
        <p:grpSpPr>
          <a:xfrm>
            <a:off x="8868410" y="1157605"/>
            <a:ext cx="2896235" cy="355600"/>
            <a:chOff x="13966" y="1823"/>
            <a:chExt cx="4561" cy="560"/>
          </a:xfrm>
          <a:gradFill>
            <a:gsLst>
              <a:gs pos="16000">
                <a:srgbClr val="3368FF"/>
              </a:gs>
              <a:gs pos="100000">
                <a:srgbClr val="B3D4FE"/>
              </a:gs>
            </a:gsLst>
            <a:lin ang="10800000" scaled="0"/>
          </a:gradFill>
        </p:grpSpPr>
        <p:sp>
          <p:nvSpPr>
            <p:cNvPr id="25" name="箭头: V 形 15"/>
            <p:cNvSpPr/>
            <p:nvPr/>
          </p:nvSpPr>
          <p:spPr>
            <a:xfrm>
              <a:off x="13966"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1"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6" name="箭头: V 形 16"/>
            <p:cNvSpPr/>
            <p:nvPr/>
          </p:nvSpPr>
          <p:spPr>
            <a:xfrm>
              <a:off x="15449"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1"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27" name="箭头: V 形 17"/>
            <p:cNvSpPr/>
            <p:nvPr/>
          </p:nvSpPr>
          <p:spPr>
            <a:xfrm>
              <a:off x="16931" y="1823"/>
              <a:ext cx="1597" cy="561"/>
            </a:xfrm>
            <a:prstGeom prst="chevron">
              <a:avLst>
                <a:gd name="adj" fmla="val 27427"/>
              </a:avLst>
            </a:prstGeom>
            <a:grp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1" i="0" u="none" strike="noStrike" kern="1200" cap="none" spc="0" normalizeH="0" baseline="0" noProof="0">
                <a:ln>
                  <a:noFill/>
                </a:ln>
                <a:solidFill>
                  <a:prstClr val="white"/>
                </a:solidFill>
                <a:effectLst/>
                <a:uLnTx/>
                <a:uFillTx/>
                <a:latin typeface="微软雅黑"/>
                <a:ea typeface="微软雅黑"/>
                <a:cs typeface="微软雅黑"/>
              </a:endParaRPr>
            </a:p>
          </p:txBody>
        </p:sp>
      </p:grpSp>
      <p:sp>
        <p:nvSpPr>
          <p:cNvPr id="50" name="文本框 49"/>
          <p:cNvSpPr txBox="1"/>
          <p:nvPr/>
        </p:nvSpPr>
        <p:spPr>
          <a:xfrm>
            <a:off x="666750"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rPr>
              <a:t>1</a:t>
            </a: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1" name="文本框 50"/>
          <p:cNvSpPr txBox="1"/>
          <p:nvPr/>
        </p:nvSpPr>
        <p:spPr>
          <a:xfrm>
            <a:off x="1608455"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rPr>
              <a:t>2</a:t>
            </a: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2" name="文本框 51"/>
          <p:cNvSpPr txBox="1"/>
          <p:nvPr/>
        </p:nvSpPr>
        <p:spPr>
          <a:xfrm>
            <a:off x="2549525"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rPr>
              <a:t>3</a:t>
            </a: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3" name="文本框 52"/>
          <p:cNvSpPr txBox="1"/>
          <p:nvPr/>
        </p:nvSpPr>
        <p:spPr>
          <a:xfrm>
            <a:off x="3497580"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400" b="1" i="0" u="none" strike="noStrike" kern="1200" cap="none" spc="0" normalizeH="0" baseline="0" noProof="0" dirty="0">
                <a:ln>
                  <a:noFill/>
                </a:ln>
                <a:solidFill>
                  <a:prstClr val="white"/>
                </a:solidFill>
                <a:effectLst/>
                <a:uLnTx/>
                <a:uFillTx/>
                <a:latin typeface="微软雅黑"/>
                <a:ea typeface="微软雅黑"/>
                <a:cs typeface="微软雅黑"/>
              </a:rPr>
              <a:t>4</a:t>
            </a:r>
            <a:r>
              <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54" name="文本框 53"/>
          <p:cNvSpPr txBox="1"/>
          <p:nvPr/>
        </p:nvSpPr>
        <p:spPr>
          <a:xfrm>
            <a:off x="4439285"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400" b="1" i="0" u="none" strike="noStrike" kern="1200" cap="none" spc="0" normalizeH="0" baseline="0" noProof="0" dirty="0">
                <a:ln>
                  <a:noFill/>
                </a:ln>
                <a:solidFill>
                  <a:prstClr val="white"/>
                </a:solidFill>
                <a:effectLst/>
                <a:uLnTx/>
                <a:uFillTx/>
                <a:latin typeface="微软雅黑"/>
                <a:ea typeface="微软雅黑"/>
                <a:cs typeface="微软雅黑"/>
              </a:rPr>
              <a:t>5</a:t>
            </a:r>
            <a:r>
              <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55" name="文本框 54"/>
          <p:cNvSpPr txBox="1"/>
          <p:nvPr/>
        </p:nvSpPr>
        <p:spPr>
          <a:xfrm>
            <a:off x="5380355"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400" b="1" i="0" u="none" strike="noStrike" kern="1200" cap="none" spc="0" normalizeH="0" baseline="0" noProof="0" dirty="0">
                <a:ln>
                  <a:noFill/>
                </a:ln>
                <a:solidFill>
                  <a:prstClr val="white"/>
                </a:solidFill>
                <a:effectLst/>
                <a:uLnTx/>
                <a:uFillTx/>
                <a:latin typeface="微软雅黑"/>
                <a:ea typeface="微软雅黑"/>
                <a:cs typeface="微软雅黑"/>
              </a:rPr>
              <a:t>6</a:t>
            </a:r>
            <a:r>
              <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56" name="文本框 55"/>
          <p:cNvSpPr txBox="1"/>
          <p:nvPr/>
        </p:nvSpPr>
        <p:spPr>
          <a:xfrm>
            <a:off x="6329045"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rPr>
              <a:t>7</a:t>
            </a: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7" name="文本框 56"/>
          <p:cNvSpPr txBox="1"/>
          <p:nvPr/>
        </p:nvSpPr>
        <p:spPr>
          <a:xfrm>
            <a:off x="7270115"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rPr>
              <a:t>8</a:t>
            </a: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8" name="文本框 57"/>
          <p:cNvSpPr txBox="1"/>
          <p:nvPr/>
        </p:nvSpPr>
        <p:spPr>
          <a:xfrm>
            <a:off x="8211185" y="1176655"/>
            <a:ext cx="47498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400" b="1" i="0" u="none" strike="noStrike" kern="1200" cap="none" spc="0" normalizeH="0" baseline="0" noProof="0" dirty="0">
                <a:ln>
                  <a:noFill/>
                </a:ln>
                <a:solidFill>
                  <a:srgbClr val="FFFFFF"/>
                </a:solidFill>
                <a:effectLst/>
                <a:uLnTx/>
                <a:uFillTx/>
                <a:latin typeface="微软雅黑"/>
                <a:ea typeface="微软雅黑"/>
                <a:cs typeface="微软雅黑"/>
              </a:rPr>
              <a:t>9</a:t>
            </a:r>
            <a:r>
              <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9" name="文本框 58"/>
          <p:cNvSpPr txBox="1"/>
          <p:nvPr/>
        </p:nvSpPr>
        <p:spPr>
          <a:xfrm>
            <a:off x="9104630" y="1176655"/>
            <a:ext cx="58547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400" b="1" i="0" u="none" strike="noStrike" kern="1200" cap="none" spc="0" normalizeH="0" baseline="0" noProof="0" dirty="0">
                <a:ln>
                  <a:noFill/>
                </a:ln>
                <a:solidFill>
                  <a:prstClr val="white"/>
                </a:solidFill>
                <a:effectLst/>
                <a:uLnTx/>
                <a:uFillTx/>
                <a:latin typeface="微软雅黑"/>
                <a:ea typeface="微软雅黑"/>
                <a:cs typeface="微软雅黑"/>
              </a:rPr>
              <a:t>10</a:t>
            </a:r>
            <a:r>
              <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60" name="文本框 59"/>
          <p:cNvSpPr txBox="1"/>
          <p:nvPr/>
        </p:nvSpPr>
        <p:spPr>
          <a:xfrm>
            <a:off x="10045700" y="1176655"/>
            <a:ext cx="58547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400" b="1" i="0" u="none" strike="noStrike" kern="1200" cap="none" spc="0" normalizeH="0" baseline="0" noProof="0" dirty="0">
                <a:ln>
                  <a:noFill/>
                </a:ln>
                <a:solidFill>
                  <a:prstClr val="white"/>
                </a:solidFill>
                <a:effectLst/>
                <a:uLnTx/>
                <a:uFillTx/>
                <a:latin typeface="微软雅黑"/>
                <a:ea typeface="微软雅黑"/>
                <a:cs typeface="微软雅黑"/>
              </a:rPr>
              <a:t>11</a:t>
            </a:r>
            <a:r>
              <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61" name="文本框 60"/>
          <p:cNvSpPr txBox="1"/>
          <p:nvPr/>
        </p:nvSpPr>
        <p:spPr>
          <a:xfrm>
            <a:off x="10987405" y="1176655"/>
            <a:ext cx="585470" cy="307975"/>
          </a:xfrm>
          <a:prstGeom prst="rect">
            <a:avLst/>
          </a:prstGeom>
          <a:noFill/>
        </p:spPr>
        <p:txBody>
          <a:bodyPr wrap="none"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400" b="1" i="0" u="none" strike="noStrike" kern="1200" cap="none" spc="0" normalizeH="0" baseline="0" noProof="0" dirty="0">
                <a:ln>
                  <a:noFill/>
                </a:ln>
                <a:solidFill>
                  <a:prstClr val="white"/>
                </a:solidFill>
                <a:effectLst/>
                <a:uLnTx/>
                <a:uFillTx/>
                <a:latin typeface="微软雅黑"/>
                <a:ea typeface="微软雅黑"/>
                <a:cs typeface="微软雅黑"/>
              </a:rPr>
              <a:t>12</a:t>
            </a:r>
            <a:r>
              <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rPr>
              <a:t>月</a:t>
            </a:r>
            <a:endParaRPr kumimoji="0" lang="zh-CN" altLang="en-US" sz="1400" b="1"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nvGrpSpPr>
          <p:cNvPr id="45" name="组合 44"/>
          <p:cNvGrpSpPr/>
          <p:nvPr/>
        </p:nvGrpSpPr>
        <p:grpSpPr>
          <a:xfrm>
            <a:off x="397510" y="1513840"/>
            <a:ext cx="11276965" cy="4688840"/>
            <a:chOff x="626" y="2384"/>
            <a:chExt cx="17759" cy="7384"/>
          </a:xfrm>
        </p:grpSpPr>
        <p:sp>
          <p:nvSpPr>
            <p:cNvPr id="153" name="任意形状 152"/>
            <p:cNvSpPr/>
            <p:nvPr/>
          </p:nvSpPr>
          <p:spPr>
            <a:xfrm>
              <a:off x="626" y="2442"/>
              <a:ext cx="20" cy="7326"/>
            </a:xfrm>
            <a:custGeom>
              <a:avLst/>
              <a:gdLst>
                <a:gd name="connsiteX0" fmla="*/ 0 w 12700"/>
                <a:gd name="connsiteY0" fmla="*/ 0 h 3535680"/>
                <a:gd name="connsiteX1" fmla="*/ 0 w 12700"/>
                <a:gd name="connsiteY1" fmla="*/ 3535680 h 3535680"/>
              </a:gdLst>
              <a:ahLst/>
              <a:cxnLst>
                <a:cxn ang="0">
                  <a:pos x="connsiteX0" y="connsiteY0"/>
                </a:cxn>
                <a:cxn ang="0">
                  <a:pos x="connsiteX1" y="connsiteY1"/>
                </a:cxn>
              </a:cxnLst>
              <a:rect l="l" t="t" r="r" b="b"/>
              <a:pathLst>
                <a:path w="12700" h="3535680">
                  <a:moveTo>
                    <a:pt x="0" y="0"/>
                  </a:moveTo>
                  <a:lnTo>
                    <a:pt x="0" y="35356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1" name="任意形状 152"/>
            <p:cNvSpPr/>
            <p:nvPr/>
          </p:nvSpPr>
          <p:spPr>
            <a:xfrm>
              <a:off x="5072" y="2442"/>
              <a:ext cx="20" cy="7326"/>
            </a:xfrm>
            <a:custGeom>
              <a:avLst/>
              <a:gdLst>
                <a:gd name="connsiteX0" fmla="*/ 0 w 12700"/>
                <a:gd name="connsiteY0" fmla="*/ 0 h 3535680"/>
                <a:gd name="connsiteX1" fmla="*/ 0 w 12700"/>
                <a:gd name="connsiteY1" fmla="*/ 3535680 h 3535680"/>
              </a:gdLst>
              <a:ahLst/>
              <a:cxnLst>
                <a:cxn ang="0">
                  <a:pos x="connsiteX0" y="connsiteY0"/>
                </a:cxn>
                <a:cxn ang="0">
                  <a:pos x="connsiteX1" y="connsiteY1"/>
                </a:cxn>
              </a:cxnLst>
              <a:rect l="l" t="t" r="r" b="b"/>
              <a:pathLst>
                <a:path w="12700" h="3535680">
                  <a:moveTo>
                    <a:pt x="0" y="0"/>
                  </a:moveTo>
                  <a:lnTo>
                    <a:pt x="0" y="35356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2" name="任意形状 152"/>
            <p:cNvSpPr/>
            <p:nvPr/>
          </p:nvSpPr>
          <p:spPr>
            <a:xfrm>
              <a:off x="9518" y="2384"/>
              <a:ext cx="20" cy="7326"/>
            </a:xfrm>
            <a:custGeom>
              <a:avLst/>
              <a:gdLst>
                <a:gd name="connsiteX0" fmla="*/ 0 w 12700"/>
                <a:gd name="connsiteY0" fmla="*/ 0 h 3535680"/>
                <a:gd name="connsiteX1" fmla="*/ 0 w 12700"/>
                <a:gd name="connsiteY1" fmla="*/ 3535680 h 3535680"/>
              </a:gdLst>
              <a:ahLst/>
              <a:cxnLst>
                <a:cxn ang="0">
                  <a:pos x="connsiteX0" y="connsiteY0"/>
                </a:cxn>
                <a:cxn ang="0">
                  <a:pos x="connsiteX1" y="connsiteY1"/>
                </a:cxn>
              </a:cxnLst>
              <a:rect l="l" t="t" r="r" b="b"/>
              <a:pathLst>
                <a:path w="12700" h="3535680">
                  <a:moveTo>
                    <a:pt x="0" y="0"/>
                  </a:moveTo>
                  <a:lnTo>
                    <a:pt x="0" y="35356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3" name="任意形状 152"/>
            <p:cNvSpPr/>
            <p:nvPr/>
          </p:nvSpPr>
          <p:spPr>
            <a:xfrm>
              <a:off x="13942" y="2384"/>
              <a:ext cx="20" cy="7326"/>
            </a:xfrm>
            <a:custGeom>
              <a:avLst/>
              <a:gdLst>
                <a:gd name="connsiteX0" fmla="*/ 0 w 12700"/>
                <a:gd name="connsiteY0" fmla="*/ 0 h 3535680"/>
                <a:gd name="connsiteX1" fmla="*/ 0 w 12700"/>
                <a:gd name="connsiteY1" fmla="*/ 3535680 h 3535680"/>
              </a:gdLst>
              <a:ahLst/>
              <a:cxnLst>
                <a:cxn ang="0">
                  <a:pos x="connsiteX0" y="connsiteY0"/>
                </a:cxn>
                <a:cxn ang="0">
                  <a:pos x="connsiteX1" y="connsiteY1"/>
                </a:cxn>
              </a:cxnLst>
              <a:rect l="l" t="t" r="r" b="b"/>
              <a:pathLst>
                <a:path w="12700" h="3535680">
                  <a:moveTo>
                    <a:pt x="0" y="0"/>
                  </a:moveTo>
                  <a:lnTo>
                    <a:pt x="0" y="35356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4" name="任意形状 152"/>
            <p:cNvSpPr/>
            <p:nvPr/>
          </p:nvSpPr>
          <p:spPr>
            <a:xfrm>
              <a:off x="18365" y="2422"/>
              <a:ext cx="20" cy="7326"/>
            </a:xfrm>
            <a:custGeom>
              <a:avLst/>
              <a:gdLst>
                <a:gd name="connsiteX0" fmla="*/ 0 w 12700"/>
                <a:gd name="connsiteY0" fmla="*/ 0 h 3535680"/>
                <a:gd name="connsiteX1" fmla="*/ 0 w 12700"/>
                <a:gd name="connsiteY1" fmla="*/ 3535680 h 3535680"/>
              </a:gdLst>
              <a:ahLst/>
              <a:cxnLst>
                <a:cxn ang="0">
                  <a:pos x="connsiteX0" y="connsiteY0"/>
                </a:cxn>
                <a:cxn ang="0">
                  <a:pos x="connsiteX1" y="connsiteY1"/>
                </a:cxn>
              </a:cxnLst>
              <a:rect l="l" t="t" r="r" b="b"/>
              <a:pathLst>
                <a:path w="12700" h="3535680">
                  <a:moveTo>
                    <a:pt x="0" y="0"/>
                  </a:moveTo>
                  <a:lnTo>
                    <a:pt x="0" y="35356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sp>
        <p:nvSpPr>
          <p:cNvPr id="46" name="任意形状 19"/>
          <p:cNvSpPr/>
          <p:nvPr>
            <p:custDataLst>
              <p:tags r:id="rId3"/>
            </p:custDataLst>
          </p:nvPr>
        </p:nvSpPr>
        <p:spPr>
          <a:xfrm>
            <a:off x="397510" y="5855970"/>
            <a:ext cx="2818130" cy="609600"/>
          </a:xfrm>
          <a:custGeom>
            <a:avLst/>
            <a:gdLst>
              <a:gd name="connsiteX0" fmla="*/ 0 w 1962912"/>
              <a:gd name="connsiteY0" fmla="*/ 0 h 436625"/>
              <a:gd name="connsiteX1" fmla="*/ 1962912 w 1962912"/>
              <a:gd name="connsiteY1" fmla="*/ 0 h 436625"/>
              <a:gd name="connsiteX2" fmla="*/ 1962912 w 1962912"/>
              <a:gd name="connsiteY2" fmla="*/ 436626 h 436625"/>
              <a:gd name="connsiteX3" fmla="*/ 0 w 1962912"/>
              <a:gd name="connsiteY3" fmla="*/ 436626 h 436625"/>
            </a:gdLst>
            <a:ahLst/>
            <a:cxnLst>
              <a:cxn ang="0">
                <a:pos x="connsiteX0" y="connsiteY0"/>
              </a:cxn>
              <a:cxn ang="0">
                <a:pos x="connsiteX1" y="connsiteY1"/>
              </a:cxn>
              <a:cxn ang="0">
                <a:pos x="connsiteX2" y="connsiteY2"/>
              </a:cxn>
              <a:cxn ang="0">
                <a:pos x="connsiteX3" y="connsiteY3"/>
              </a:cxn>
            </a:cxnLst>
            <a:rect l="l" t="t" r="r" b="b"/>
            <a:pathLst>
              <a:path w="1962912" h="436625">
                <a:moveTo>
                  <a:pt x="0" y="0"/>
                </a:moveTo>
                <a:lnTo>
                  <a:pt x="1962912" y="0"/>
                </a:lnTo>
                <a:lnTo>
                  <a:pt x="1962912" y="436626"/>
                </a:lnTo>
                <a:lnTo>
                  <a:pt x="0" y="436626"/>
                </a:lnTo>
                <a:close/>
              </a:path>
            </a:pathLst>
          </a:custGeom>
          <a:gradFill>
            <a:gsLst>
              <a:gs pos="0">
                <a:srgbClr val="3368FF"/>
              </a:gs>
              <a:gs pos="87000">
                <a:srgbClr val="0042FF"/>
              </a:gs>
            </a:gsLst>
            <a:lin ang="0" scaled="0"/>
          </a:gra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47" name="任意形状 19"/>
          <p:cNvSpPr/>
          <p:nvPr>
            <p:custDataLst>
              <p:tags r:id="rId4"/>
            </p:custDataLst>
          </p:nvPr>
        </p:nvSpPr>
        <p:spPr>
          <a:xfrm>
            <a:off x="3220720" y="5855970"/>
            <a:ext cx="2835910" cy="609600"/>
          </a:xfrm>
          <a:custGeom>
            <a:avLst/>
            <a:gdLst>
              <a:gd name="connsiteX0" fmla="*/ 0 w 1962912"/>
              <a:gd name="connsiteY0" fmla="*/ 0 h 436625"/>
              <a:gd name="connsiteX1" fmla="*/ 1962912 w 1962912"/>
              <a:gd name="connsiteY1" fmla="*/ 0 h 436625"/>
              <a:gd name="connsiteX2" fmla="*/ 1962912 w 1962912"/>
              <a:gd name="connsiteY2" fmla="*/ 436626 h 436625"/>
              <a:gd name="connsiteX3" fmla="*/ 0 w 1962912"/>
              <a:gd name="connsiteY3" fmla="*/ 436626 h 436625"/>
            </a:gdLst>
            <a:ahLst/>
            <a:cxnLst>
              <a:cxn ang="0">
                <a:pos x="connsiteX0" y="connsiteY0"/>
              </a:cxn>
              <a:cxn ang="0">
                <a:pos x="connsiteX1" y="connsiteY1"/>
              </a:cxn>
              <a:cxn ang="0">
                <a:pos x="connsiteX2" y="connsiteY2"/>
              </a:cxn>
              <a:cxn ang="0">
                <a:pos x="connsiteX3" y="connsiteY3"/>
              </a:cxn>
            </a:cxnLst>
            <a:rect l="l" t="t" r="r" b="b"/>
            <a:pathLst>
              <a:path w="1962912" h="436625">
                <a:moveTo>
                  <a:pt x="0" y="0"/>
                </a:moveTo>
                <a:lnTo>
                  <a:pt x="1962912" y="0"/>
                </a:lnTo>
                <a:lnTo>
                  <a:pt x="1962912" y="436626"/>
                </a:lnTo>
                <a:lnTo>
                  <a:pt x="0" y="436626"/>
                </a:lnTo>
                <a:close/>
              </a:path>
            </a:pathLst>
          </a:custGeom>
          <a:gradFill>
            <a:gsLst>
              <a:gs pos="0">
                <a:srgbClr val="B3D4FE"/>
              </a:gs>
              <a:gs pos="87000">
                <a:srgbClr val="3368FF"/>
              </a:gs>
            </a:gsLst>
            <a:lin ang="0" scaled="0"/>
          </a:gradFill>
          <a:ln w="19050" cap="flat">
            <a:solidFill>
              <a:srgbClr val="FFFFFF"/>
            </a:solidFill>
            <a:prstDash val="solid"/>
            <a:miter/>
          </a:ln>
        </p:spPr>
        <p:txBody>
          <a:bodyPr rtlCol="0" anchor="ctr"/>
          <a:lstStyle/>
          <a:p>
            <a:pPr algn="ctr">
              <a:defRPr>
                <a:latin typeface="微软雅黑"/>
                <a:ea typeface="微软雅黑"/>
                <a:cs typeface="微软雅黑"/>
              </a:defRPr>
            </a:pPr>
            <a:endParaRPr kumimoji="0" lang="zh-CN" altLang="en-US" sz="12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8" name="任意形状 19"/>
          <p:cNvSpPr/>
          <p:nvPr>
            <p:custDataLst>
              <p:tags r:id="rId5"/>
            </p:custDataLst>
          </p:nvPr>
        </p:nvSpPr>
        <p:spPr>
          <a:xfrm>
            <a:off x="6061075" y="5855970"/>
            <a:ext cx="2789555" cy="609600"/>
          </a:xfrm>
          <a:custGeom>
            <a:avLst/>
            <a:gdLst>
              <a:gd name="connsiteX0" fmla="*/ 0 w 1962912"/>
              <a:gd name="connsiteY0" fmla="*/ 0 h 436625"/>
              <a:gd name="connsiteX1" fmla="*/ 1962912 w 1962912"/>
              <a:gd name="connsiteY1" fmla="*/ 0 h 436625"/>
              <a:gd name="connsiteX2" fmla="*/ 1962912 w 1962912"/>
              <a:gd name="connsiteY2" fmla="*/ 436626 h 436625"/>
              <a:gd name="connsiteX3" fmla="*/ 0 w 1962912"/>
              <a:gd name="connsiteY3" fmla="*/ 436626 h 436625"/>
            </a:gdLst>
            <a:ahLst/>
            <a:cxnLst>
              <a:cxn ang="0">
                <a:pos x="connsiteX0" y="connsiteY0"/>
              </a:cxn>
              <a:cxn ang="0">
                <a:pos x="connsiteX1" y="connsiteY1"/>
              </a:cxn>
              <a:cxn ang="0">
                <a:pos x="connsiteX2" y="connsiteY2"/>
              </a:cxn>
              <a:cxn ang="0">
                <a:pos x="connsiteX3" y="connsiteY3"/>
              </a:cxn>
            </a:cxnLst>
            <a:rect l="l" t="t" r="r" b="b"/>
            <a:pathLst>
              <a:path w="1962912" h="436625">
                <a:moveTo>
                  <a:pt x="0" y="0"/>
                </a:moveTo>
                <a:lnTo>
                  <a:pt x="1962912" y="0"/>
                </a:lnTo>
                <a:lnTo>
                  <a:pt x="1962912" y="436626"/>
                </a:lnTo>
                <a:lnTo>
                  <a:pt x="0" y="436626"/>
                </a:lnTo>
                <a:close/>
              </a:path>
            </a:pathLst>
          </a:custGeom>
          <a:gradFill>
            <a:gsLst>
              <a:gs pos="0">
                <a:srgbClr val="3368FF"/>
              </a:gs>
              <a:gs pos="87000">
                <a:srgbClr val="0042FF"/>
              </a:gs>
            </a:gsLst>
            <a:lin ang="0" scaled="0"/>
          </a:gradFill>
          <a:ln w="19050" cap="flat">
            <a:solidFill>
              <a:srgbClr val="FFFFFF"/>
            </a:solidFill>
            <a:prstDash val="solid"/>
            <a:miter/>
          </a:ln>
        </p:spPr>
        <p:txBody>
          <a:bodyPr rtlCol="0" anchor="ctr">
            <a:noAutofit/>
          </a:bodyPr>
          <a:lstStyle/>
          <a:p>
            <a:pPr lvl="0" algn="ctr">
              <a:buClrTx/>
              <a:buSzTx/>
              <a:buFontTx/>
              <a:defRPr>
                <a:solidFill>
                  <a:srgbClr val="FFFFFF"/>
                </a:solidFill>
                <a:latin typeface="微软雅黑"/>
                <a:ea typeface="微软雅黑"/>
                <a:cs typeface="微软雅黑"/>
              </a:defRPr>
            </a:pPr>
            <a:endParaRPr lang="zh-CN" altLang="en-US" sz="1200" noProof="0" dirty="0">
              <a:ln>
                <a:noFill/>
              </a:ln>
              <a:solidFill>
                <a:srgbClr val="FFFFFF"/>
              </a:solidFill>
              <a:effectLst/>
              <a:uLnTx/>
              <a:uFillTx/>
              <a:latin typeface="微软雅黑"/>
              <a:ea typeface="微软雅黑"/>
              <a:cs typeface="微软雅黑"/>
              <a:sym typeface="微软雅黑"/>
            </a:endParaRPr>
          </a:p>
        </p:txBody>
      </p:sp>
      <p:sp>
        <p:nvSpPr>
          <p:cNvPr id="49" name="任意形状 19"/>
          <p:cNvSpPr/>
          <p:nvPr>
            <p:custDataLst>
              <p:tags r:id="rId6"/>
            </p:custDataLst>
          </p:nvPr>
        </p:nvSpPr>
        <p:spPr>
          <a:xfrm>
            <a:off x="8854440" y="5855970"/>
            <a:ext cx="2822575" cy="609600"/>
          </a:xfrm>
          <a:custGeom>
            <a:avLst/>
            <a:gdLst>
              <a:gd name="connsiteX0" fmla="*/ 0 w 1962912"/>
              <a:gd name="connsiteY0" fmla="*/ 0 h 436625"/>
              <a:gd name="connsiteX1" fmla="*/ 1962912 w 1962912"/>
              <a:gd name="connsiteY1" fmla="*/ 0 h 436625"/>
              <a:gd name="connsiteX2" fmla="*/ 1962912 w 1962912"/>
              <a:gd name="connsiteY2" fmla="*/ 436626 h 436625"/>
              <a:gd name="connsiteX3" fmla="*/ 0 w 1962912"/>
              <a:gd name="connsiteY3" fmla="*/ 436626 h 436625"/>
            </a:gdLst>
            <a:ahLst/>
            <a:cxnLst>
              <a:cxn ang="0">
                <a:pos x="connsiteX0" y="connsiteY0"/>
              </a:cxn>
              <a:cxn ang="0">
                <a:pos x="connsiteX1" y="connsiteY1"/>
              </a:cxn>
              <a:cxn ang="0">
                <a:pos x="connsiteX2" y="connsiteY2"/>
              </a:cxn>
              <a:cxn ang="0">
                <a:pos x="connsiteX3" y="connsiteY3"/>
              </a:cxn>
            </a:cxnLst>
            <a:rect l="l" t="t" r="r" b="b"/>
            <a:pathLst>
              <a:path w="1962912" h="436625">
                <a:moveTo>
                  <a:pt x="0" y="0"/>
                </a:moveTo>
                <a:lnTo>
                  <a:pt x="1962912" y="0"/>
                </a:lnTo>
                <a:lnTo>
                  <a:pt x="1962912" y="436626"/>
                </a:lnTo>
                <a:lnTo>
                  <a:pt x="0" y="436626"/>
                </a:lnTo>
                <a:close/>
              </a:path>
            </a:pathLst>
          </a:custGeom>
          <a:gradFill>
            <a:gsLst>
              <a:gs pos="0">
                <a:srgbClr val="B3D4FE"/>
              </a:gs>
              <a:gs pos="87000">
                <a:srgbClr val="3368FF"/>
              </a:gs>
            </a:gsLst>
            <a:lin ang="0" scaled="0"/>
          </a:gradFill>
          <a:ln w="19050" cap="flat">
            <a:solidFill>
              <a:srgbClr val="FFFFFF"/>
            </a:solidFill>
            <a:prstDash val="solid"/>
            <a:miter/>
          </a:ln>
        </p:spPr>
        <p:txBody>
          <a:bodyPr rtlCol="0" anchor="ctr">
            <a:noAutofit/>
          </a:bodyPr>
          <a:lstStyle/>
          <a:p>
            <a:pPr lvl="0" algn="ctr">
              <a:buClrTx/>
              <a:buSzTx/>
              <a:buFontTx/>
              <a:defRPr>
                <a:latin typeface="微软雅黑"/>
                <a:ea typeface="微软雅黑"/>
                <a:cs typeface="微软雅黑"/>
              </a:defRPr>
            </a:pPr>
            <a:endParaRPr lang="zh-CN" altLang="en-US" sz="1200" noProof="0" dirty="0">
              <a:ln>
                <a:noFill/>
              </a:ln>
              <a:solidFill>
                <a:srgbClr val="383838"/>
              </a:solidFill>
              <a:effectLst/>
              <a:uLnTx/>
              <a:uFillTx/>
              <a:latin typeface="微软雅黑"/>
              <a:ea typeface="微软雅黑"/>
              <a:cs typeface="微软雅黑"/>
              <a:sym typeface="微软雅黑"/>
            </a:endParaRPr>
          </a:p>
        </p:txBody>
      </p:sp>
      <p:grpSp>
        <p:nvGrpSpPr>
          <p:cNvPr id="73" name="组合 72"/>
          <p:cNvGrpSpPr/>
          <p:nvPr/>
        </p:nvGrpSpPr>
        <p:grpSpPr>
          <a:xfrm>
            <a:off x="682216" y="5930347"/>
            <a:ext cx="2248718" cy="460375"/>
            <a:chOff x="658689" y="1468837"/>
            <a:chExt cx="2248718" cy="460375"/>
          </a:xfrm>
        </p:grpSpPr>
        <p:sp>
          <p:nvSpPr>
            <p:cNvPr id="74" name="文本框 73"/>
            <p:cNvSpPr txBox="1"/>
            <p:nvPr/>
          </p:nvSpPr>
          <p:spPr>
            <a:xfrm>
              <a:off x="658689" y="1468837"/>
              <a:ext cx="620395" cy="460375"/>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ja-JP" sz="2400" b="1" i="0" u="none" strike="noStrike" kern="1200" cap="none" spc="0" normalizeH="0" baseline="0" noProof="0" dirty="0">
                  <a:ln>
                    <a:noFill/>
                  </a:ln>
                  <a:solidFill>
                    <a:srgbClr val="FFFFFF"/>
                  </a:solidFill>
                  <a:effectLst/>
                  <a:uLnTx/>
                  <a:uFillTx/>
                  <a:latin typeface="微软雅黑"/>
                  <a:ea typeface="微软雅黑"/>
                  <a:cs typeface="微软雅黑"/>
                </a:rPr>
                <a:t>Q1</a:t>
              </a:r>
              <a:endParaRPr kumimoji="0" lang="en-US" altLang="ja-JP" sz="2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75" name="文本框 74"/>
            <p:cNvSpPr txBox="1"/>
            <p:nvPr/>
          </p:nvSpPr>
          <p:spPr>
            <a:xfrm>
              <a:off x="1352927" y="1561171"/>
              <a:ext cx="1554480" cy="275590"/>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ja-JP" sz="1200" b="1" i="0" u="none" strike="noStrike" kern="1200" cap="none" spc="0" normalizeH="0" baseline="0" noProof="0" dirty="0">
                  <a:ln>
                    <a:noFill/>
                  </a:ln>
                  <a:solidFill>
                    <a:srgbClr val="FFFFFF"/>
                  </a:solidFill>
                  <a:effectLst/>
                  <a:uLnTx/>
                  <a:uFillTx/>
                  <a:latin typeface="微软雅黑"/>
                  <a:ea typeface="微软雅黑"/>
                  <a:cs typeface="微软雅黑"/>
                </a:rPr>
                <a:t>策略规划与基础夯实</a:t>
              </a:r>
              <a:endParaRPr kumimoji="0" lang="zh-CN" altLang="ja-JP"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78" name="直接连接符 77"/>
            <p:cNvCxnSpPr/>
            <p:nvPr/>
          </p:nvCxnSpPr>
          <p:spPr>
            <a:xfrm>
              <a:off x="1308577" y="1603150"/>
              <a:ext cx="0" cy="193040"/>
            </a:xfrm>
            <a:prstGeom prst="line">
              <a:avLst/>
            </a:prstGeom>
            <a:ln w="12700">
              <a:solidFill>
                <a:srgbClr val="FFFFFF"/>
              </a:solidFill>
            </a:ln>
          </p:spPr>
          <p:style>
            <a:lnRef idx="2">
              <a:srgbClr val="0042FF"/>
            </a:lnRef>
            <a:fillRef idx="0">
              <a:srgbClr val="0042FF"/>
            </a:fillRef>
            <a:effectRef idx="1">
              <a:srgbClr val="0042FF"/>
            </a:effectRef>
            <a:fontRef idx="minor">
              <a:srgbClr val="383838"/>
            </a:fontRef>
          </p:style>
        </p:cxnSp>
      </p:grpSp>
      <p:sp>
        <p:nvSpPr>
          <p:cNvPr id="79" name="任意形状 30"/>
          <p:cNvSpPr/>
          <p:nvPr/>
        </p:nvSpPr>
        <p:spPr>
          <a:xfrm>
            <a:off x="518160" y="1669415"/>
            <a:ext cx="2590165" cy="801370"/>
          </a:xfrm>
          <a:custGeom>
            <a:avLst/>
            <a:gdLst>
              <a:gd name="connsiteX0" fmla="*/ 2417826 w 2506228"/>
              <a:gd name="connsiteY0" fmla="*/ 906018 h 906018"/>
              <a:gd name="connsiteX1" fmla="*/ 89154 w 2506228"/>
              <a:gd name="connsiteY1" fmla="*/ 906018 h 906018"/>
              <a:gd name="connsiteX2" fmla="*/ 0 w 2506228"/>
              <a:gd name="connsiteY2" fmla="*/ 816864 h 906018"/>
              <a:gd name="connsiteX3" fmla="*/ 0 w 2506228"/>
              <a:gd name="connsiteY3" fmla="*/ 89154 h 906018"/>
              <a:gd name="connsiteX4" fmla="*/ 89154 w 2506228"/>
              <a:gd name="connsiteY4" fmla="*/ 0 h 906018"/>
              <a:gd name="connsiteX5" fmla="*/ 2417064 w 2506228"/>
              <a:gd name="connsiteY5" fmla="*/ 0 h 906018"/>
              <a:gd name="connsiteX6" fmla="*/ 2506218 w 2506228"/>
              <a:gd name="connsiteY6" fmla="*/ 89154 h 906018"/>
              <a:gd name="connsiteX7" fmla="*/ 2506218 w 2506228"/>
              <a:gd name="connsiteY7" fmla="*/ 816864 h 906018"/>
              <a:gd name="connsiteX8" fmla="*/ 2417826 w 2506228"/>
              <a:gd name="connsiteY8" fmla="*/ 906018 h 90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06228" h="906018">
                <a:moveTo>
                  <a:pt x="2417826" y="906018"/>
                </a:moveTo>
                <a:lnTo>
                  <a:pt x="89154" y="906018"/>
                </a:lnTo>
                <a:cubicBezTo>
                  <a:pt x="39624" y="906018"/>
                  <a:pt x="0" y="866394"/>
                  <a:pt x="0" y="816864"/>
                </a:cubicBezTo>
                <a:lnTo>
                  <a:pt x="0" y="89154"/>
                </a:lnTo>
                <a:cubicBezTo>
                  <a:pt x="0" y="39624"/>
                  <a:pt x="39624" y="0"/>
                  <a:pt x="89154" y="0"/>
                </a:cubicBezTo>
                <a:lnTo>
                  <a:pt x="2417064" y="0"/>
                </a:lnTo>
                <a:cubicBezTo>
                  <a:pt x="2466594" y="0"/>
                  <a:pt x="2506218" y="39624"/>
                  <a:pt x="2506218" y="89154"/>
                </a:cubicBezTo>
                <a:lnTo>
                  <a:pt x="2506218" y="816864"/>
                </a:lnTo>
                <a:cubicBezTo>
                  <a:pt x="2506980" y="866394"/>
                  <a:pt x="2466594" y="906018"/>
                  <a:pt x="2417826" y="906018"/>
                </a:cubicBezTo>
                <a:close/>
              </a:path>
            </a:pathLst>
          </a:custGeom>
          <a:solidFill>
            <a:srgbClr val="E6E6E6">
              <a:alpha val="40000"/>
            </a:srgbClr>
          </a:solidFill>
          <a:ln w="1270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85" name="文本框 81"/>
          <p:cNvSpPr txBox="1"/>
          <p:nvPr/>
        </p:nvSpPr>
        <p:spPr>
          <a:xfrm>
            <a:off x="637223" y="1649730"/>
            <a:ext cx="2352040" cy="783590"/>
          </a:xfrm>
          <a:prstGeom prst="rect">
            <a:avLst/>
          </a:prstGeom>
          <a:noFill/>
          <a:ln>
            <a:noFill/>
          </a:ln>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100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核心目标：</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明确年度方向，修复</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优化过往遗留问题，确保春节期间业务稳定，完成</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Q1</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淡季蓄水。</a:t>
            </a:r>
            <a:endPar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4" name="任意形状 30"/>
          <p:cNvSpPr/>
          <p:nvPr/>
        </p:nvSpPr>
        <p:spPr>
          <a:xfrm>
            <a:off x="3343275" y="1669415"/>
            <a:ext cx="2590165" cy="800735"/>
          </a:xfrm>
          <a:custGeom>
            <a:avLst/>
            <a:gdLst>
              <a:gd name="connsiteX0" fmla="*/ 2417826 w 2506228"/>
              <a:gd name="connsiteY0" fmla="*/ 906018 h 906018"/>
              <a:gd name="connsiteX1" fmla="*/ 89154 w 2506228"/>
              <a:gd name="connsiteY1" fmla="*/ 906018 h 906018"/>
              <a:gd name="connsiteX2" fmla="*/ 0 w 2506228"/>
              <a:gd name="connsiteY2" fmla="*/ 816864 h 906018"/>
              <a:gd name="connsiteX3" fmla="*/ 0 w 2506228"/>
              <a:gd name="connsiteY3" fmla="*/ 89154 h 906018"/>
              <a:gd name="connsiteX4" fmla="*/ 89154 w 2506228"/>
              <a:gd name="connsiteY4" fmla="*/ 0 h 906018"/>
              <a:gd name="connsiteX5" fmla="*/ 2417064 w 2506228"/>
              <a:gd name="connsiteY5" fmla="*/ 0 h 906018"/>
              <a:gd name="connsiteX6" fmla="*/ 2506218 w 2506228"/>
              <a:gd name="connsiteY6" fmla="*/ 89154 h 906018"/>
              <a:gd name="connsiteX7" fmla="*/ 2506218 w 2506228"/>
              <a:gd name="connsiteY7" fmla="*/ 816864 h 906018"/>
              <a:gd name="connsiteX8" fmla="*/ 2417826 w 2506228"/>
              <a:gd name="connsiteY8" fmla="*/ 906018 h 90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06228" h="906018">
                <a:moveTo>
                  <a:pt x="2417826" y="906018"/>
                </a:moveTo>
                <a:lnTo>
                  <a:pt x="89154" y="906018"/>
                </a:lnTo>
                <a:cubicBezTo>
                  <a:pt x="39624" y="906018"/>
                  <a:pt x="0" y="866394"/>
                  <a:pt x="0" y="816864"/>
                </a:cubicBezTo>
                <a:lnTo>
                  <a:pt x="0" y="89154"/>
                </a:lnTo>
                <a:cubicBezTo>
                  <a:pt x="0" y="39624"/>
                  <a:pt x="39624" y="0"/>
                  <a:pt x="89154" y="0"/>
                </a:cubicBezTo>
                <a:lnTo>
                  <a:pt x="2417064" y="0"/>
                </a:lnTo>
                <a:cubicBezTo>
                  <a:pt x="2466594" y="0"/>
                  <a:pt x="2506218" y="39624"/>
                  <a:pt x="2506218" y="89154"/>
                </a:cubicBezTo>
                <a:lnTo>
                  <a:pt x="2506218" y="816864"/>
                </a:lnTo>
                <a:cubicBezTo>
                  <a:pt x="2506980" y="866394"/>
                  <a:pt x="2466594" y="906018"/>
                  <a:pt x="2417826" y="906018"/>
                </a:cubicBezTo>
                <a:close/>
              </a:path>
            </a:pathLst>
          </a:custGeom>
          <a:solidFill>
            <a:srgbClr val="FFFFFF">
              <a:alpha val="40000"/>
            </a:srgbClr>
          </a:solidFill>
          <a:ln w="1270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15" name="文本框 81"/>
          <p:cNvSpPr txBox="1"/>
          <p:nvPr/>
        </p:nvSpPr>
        <p:spPr>
          <a:xfrm>
            <a:off x="3462655" y="1649730"/>
            <a:ext cx="2352040" cy="783590"/>
          </a:xfrm>
          <a:prstGeom prst="rect">
            <a:avLst/>
          </a:prstGeom>
          <a:noFill/>
          <a:ln>
            <a:noFill/>
          </a:ln>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100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核心目标：</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抓住</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“618”</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等大促节点，通过多渠道投放和裂变玩法，实现用户量级与</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GMV</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的双重突破。</a:t>
            </a:r>
            <a:endPar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7" name="任意形状 30"/>
          <p:cNvSpPr/>
          <p:nvPr/>
        </p:nvSpPr>
        <p:spPr>
          <a:xfrm>
            <a:off x="6160135" y="1669415"/>
            <a:ext cx="2590165" cy="800735"/>
          </a:xfrm>
          <a:custGeom>
            <a:avLst/>
            <a:gdLst>
              <a:gd name="connsiteX0" fmla="*/ 2417826 w 2506228"/>
              <a:gd name="connsiteY0" fmla="*/ 906018 h 906018"/>
              <a:gd name="connsiteX1" fmla="*/ 89154 w 2506228"/>
              <a:gd name="connsiteY1" fmla="*/ 906018 h 906018"/>
              <a:gd name="connsiteX2" fmla="*/ 0 w 2506228"/>
              <a:gd name="connsiteY2" fmla="*/ 816864 h 906018"/>
              <a:gd name="connsiteX3" fmla="*/ 0 w 2506228"/>
              <a:gd name="connsiteY3" fmla="*/ 89154 h 906018"/>
              <a:gd name="connsiteX4" fmla="*/ 89154 w 2506228"/>
              <a:gd name="connsiteY4" fmla="*/ 0 h 906018"/>
              <a:gd name="connsiteX5" fmla="*/ 2417064 w 2506228"/>
              <a:gd name="connsiteY5" fmla="*/ 0 h 906018"/>
              <a:gd name="connsiteX6" fmla="*/ 2506218 w 2506228"/>
              <a:gd name="connsiteY6" fmla="*/ 89154 h 906018"/>
              <a:gd name="connsiteX7" fmla="*/ 2506218 w 2506228"/>
              <a:gd name="connsiteY7" fmla="*/ 816864 h 906018"/>
              <a:gd name="connsiteX8" fmla="*/ 2417826 w 2506228"/>
              <a:gd name="connsiteY8" fmla="*/ 906018 h 90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06228" h="906018">
                <a:moveTo>
                  <a:pt x="2417826" y="906018"/>
                </a:moveTo>
                <a:lnTo>
                  <a:pt x="89154" y="906018"/>
                </a:lnTo>
                <a:cubicBezTo>
                  <a:pt x="39624" y="906018"/>
                  <a:pt x="0" y="866394"/>
                  <a:pt x="0" y="816864"/>
                </a:cubicBezTo>
                <a:lnTo>
                  <a:pt x="0" y="89154"/>
                </a:lnTo>
                <a:cubicBezTo>
                  <a:pt x="0" y="39624"/>
                  <a:pt x="39624" y="0"/>
                  <a:pt x="89154" y="0"/>
                </a:cubicBezTo>
                <a:lnTo>
                  <a:pt x="2417064" y="0"/>
                </a:lnTo>
                <a:cubicBezTo>
                  <a:pt x="2466594" y="0"/>
                  <a:pt x="2506218" y="39624"/>
                  <a:pt x="2506218" y="89154"/>
                </a:cubicBezTo>
                <a:lnTo>
                  <a:pt x="2506218" y="816864"/>
                </a:lnTo>
                <a:cubicBezTo>
                  <a:pt x="2506980" y="866394"/>
                  <a:pt x="2466594" y="906018"/>
                  <a:pt x="2417826" y="906018"/>
                </a:cubicBezTo>
                <a:close/>
              </a:path>
            </a:pathLst>
          </a:custGeom>
          <a:solidFill>
            <a:srgbClr val="E6E6E6">
              <a:alpha val="40000"/>
            </a:srgbClr>
          </a:solidFill>
          <a:ln w="1270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18" name="文本框 81"/>
          <p:cNvSpPr txBox="1"/>
          <p:nvPr/>
        </p:nvSpPr>
        <p:spPr>
          <a:xfrm>
            <a:off x="6279515" y="1649730"/>
            <a:ext cx="2352040" cy="783590"/>
          </a:xfrm>
          <a:prstGeom prst="rect">
            <a:avLst/>
          </a:prstGeom>
          <a:noFill/>
          <a:ln>
            <a:noFill/>
          </a:ln>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100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核心目标：</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沉淀上半年流量，通过精细化手段提升用户生命周期价值（</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LTV</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），优化转化路径，降低流失率。</a:t>
            </a:r>
            <a:endPar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20" name="任意形状 30"/>
          <p:cNvSpPr/>
          <p:nvPr/>
        </p:nvSpPr>
        <p:spPr>
          <a:xfrm>
            <a:off x="8970010" y="1669415"/>
            <a:ext cx="2590165" cy="801370"/>
          </a:xfrm>
          <a:custGeom>
            <a:avLst/>
            <a:gdLst>
              <a:gd name="connsiteX0" fmla="*/ 2417826 w 2506228"/>
              <a:gd name="connsiteY0" fmla="*/ 906018 h 906018"/>
              <a:gd name="connsiteX1" fmla="*/ 89154 w 2506228"/>
              <a:gd name="connsiteY1" fmla="*/ 906018 h 906018"/>
              <a:gd name="connsiteX2" fmla="*/ 0 w 2506228"/>
              <a:gd name="connsiteY2" fmla="*/ 816864 h 906018"/>
              <a:gd name="connsiteX3" fmla="*/ 0 w 2506228"/>
              <a:gd name="connsiteY3" fmla="*/ 89154 h 906018"/>
              <a:gd name="connsiteX4" fmla="*/ 89154 w 2506228"/>
              <a:gd name="connsiteY4" fmla="*/ 0 h 906018"/>
              <a:gd name="connsiteX5" fmla="*/ 2417064 w 2506228"/>
              <a:gd name="connsiteY5" fmla="*/ 0 h 906018"/>
              <a:gd name="connsiteX6" fmla="*/ 2506218 w 2506228"/>
              <a:gd name="connsiteY6" fmla="*/ 89154 h 906018"/>
              <a:gd name="connsiteX7" fmla="*/ 2506218 w 2506228"/>
              <a:gd name="connsiteY7" fmla="*/ 816864 h 906018"/>
              <a:gd name="connsiteX8" fmla="*/ 2417826 w 2506228"/>
              <a:gd name="connsiteY8" fmla="*/ 906018 h 90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06228" h="906018">
                <a:moveTo>
                  <a:pt x="2417826" y="906018"/>
                </a:moveTo>
                <a:lnTo>
                  <a:pt x="89154" y="906018"/>
                </a:lnTo>
                <a:cubicBezTo>
                  <a:pt x="39624" y="906018"/>
                  <a:pt x="0" y="866394"/>
                  <a:pt x="0" y="816864"/>
                </a:cubicBezTo>
                <a:lnTo>
                  <a:pt x="0" y="89154"/>
                </a:lnTo>
                <a:cubicBezTo>
                  <a:pt x="0" y="39624"/>
                  <a:pt x="39624" y="0"/>
                  <a:pt x="89154" y="0"/>
                </a:cubicBezTo>
                <a:lnTo>
                  <a:pt x="2417064" y="0"/>
                </a:lnTo>
                <a:cubicBezTo>
                  <a:pt x="2466594" y="0"/>
                  <a:pt x="2506218" y="39624"/>
                  <a:pt x="2506218" y="89154"/>
                </a:cubicBezTo>
                <a:lnTo>
                  <a:pt x="2506218" y="816864"/>
                </a:lnTo>
                <a:cubicBezTo>
                  <a:pt x="2506980" y="866394"/>
                  <a:pt x="2466594" y="906018"/>
                  <a:pt x="2417826" y="906018"/>
                </a:cubicBezTo>
                <a:close/>
              </a:path>
            </a:pathLst>
          </a:custGeom>
          <a:solidFill>
            <a:srgbClr val="FFFFFF">
              <a:alpha val="40000"/>
            </a:srgbClr>
          </a:solidFill>
          <a:ln w="1270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21" name="文本框 81"/>
          <p:cNvSpPr txBox="1"/>
          <p:nvPr/>
        </p:nvSpPr>
        <p:spPr>
          <a:xfrm>
            <a:off x="9089390" y="1649730"/>
            <a:ext cx="2352040" cy="783590"/>
          </a:xfrm>
          <a:prstGeom prst="rect">
            <a:avLst/>
          </a:prstGeom>
          <a:noFill/>
          <a:ln>
            <a:noFill/>
          </a:ln>
        </p:spPr>
        <p:txBody>
          <a:bodyPr wrap="square" rtlCol="0" lIns="0" rIns="0" tIns="0" bIns="0">
            <a:sp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100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rPr>
              <a:t>核心目标：</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双</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11/</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双</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12</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大促爆发，完成年度</a:t>
            </a:r>
            <a:r>
              <a:rPr kumimoji="0" lang="en-US" altLang="zh-CN" sz="1000" i="0" u="none" strike="noStrike" kern="1200" cap="none" spc="0" normalizeH="0" baseline="0" noProof="0" dirty="0">
                <a:ln>
                  <a:noFill/>
                </a:ln>
                <a:solidFill>
                  <a:srgbClr val="0042FF"/>
                </a:solidFill>
                <a:effectLst/>
                <a:uLnTx/>
                <a:uFillTx/>
                <a:latin typeface="微软雅黑"/>
                <a:ea typeface="微软雅黑"/>
                <a:cs typeface="微软雅黑"/>
              </a:rPr>
              <a:t>KPI</a:t>
            </a:r>
            <a:r>
              <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rPr>
              <a:t>冲刺，并提前布局下一年度的战略方向。</a:t>
            </a:r>
            <a:endParaRPr kumimoji="0" lang="zh-CN" altLang="en-US" sz="1000"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24" name="组合 123"/>
          <p:cNvGrpSpPr/>
          <p:nvPr/>
        </p:nvGrpSpPr>
        <p:grpSpPr>
          <a:xfrm>
            <a:off x="3514316" y="5930347"/>
            <a:ext cx="2248718" cy="460375"/>
            <a:chOff x="658689" y="1468837"/>
            <a:chExt cx="2248718" cy="460375"/>
          </a:xfrm>
        </p:grpSpPr>
        <p:sp>
          <p:nvSpPr>
            <p:cNvPr id="125" name="文本框 124"/>
            <p:cNvSpPr txBox="1"/>
            <p:nvPr/>
          </p:nvSpPr>
          <p:spPr>
            <a:xfrm>
              <a:off x="658689" y="1468837"/>
              <a:ext cx="620395" cy="460375"/>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ja-JP" sz="2400" b="1" i="0" u="none" strike="noStrike" kern="1200" cap="none" spc="0" normalizeH="0" baseline="0" noProof="0" dirty="0">
                  <a:ln>
                    <a:noFill/>
                  </a:ln>
                  <a:solidFill>
                    <a:srgbClr val="383838"/>
                  </a:solidFill>
                  <a:effectLst/>
                  <a:uLnTx/>
                  <a:uFillTx/>
                  <a:latin typeface="微软雅黑"/>
                  <a:ea typeface="微软雅黑"/>
                  <a:cs typeface="微软雅黑"/>
                </a:rPr>
                <a:t>Q2</a:t>
              </a:r>
              <a:endParaRPr kumimoji="0" lang="en-US" altLang="ja-JP" sz="2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6" name="文本框 125"/>
            <p:cNvSpPr txBox="1"/>
            <p:nvPr/>
          </p:nvSpPr>
          <p:spPr>
            <a:xfrm>
              <a:off x="1352927" y="1561171"/>
              <a:ext cx="1554480" cy="275590"/>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流量引爆与规模扩张</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27" name="直接连接符 126"/>
            <p:cNvCxnSpPr/>
            <p:nvPr/>
          </p:nvCxnSpPr>
          <p:spPr>
            <a:xfrm>
              <a:off x="1308577" y="1603150"/>
              <a:ext cx="0" cy="193040"/>
            </a:xfrm>
            <a:prstGeom prst="line">
              <a:avLst/>
            </a:prstGeom>
            <a:ln w="12700">
              <a:solidFill>
                <a:srgbClr val="FFFFFF"/>
              </a:solidFill>
            </a:ln>
          </p:spPr>
          <p:style>
            <a:lnRef idx="2">
              <a:srgbClr val="0042FF"/>
            </a:lnRef>
            <a:fillRef idx="0">
              <a:srgbClr val="0042FF"/>
            </a:fillRef>
            <a:effectRef idx="1">
              <a:srgbClr val="0042FF"/>
            </a:effectRef>
            <a:fontRef idx="minor">
              <a:srgbClr val="383838"/>
            </a:fontRef>
          </p:style>
        </p:cxnSp>
      </p:grpSp>
      <p:grpSp>
        <p:nvGrpSpPr>
          <p:cNvPr id="128" name="组合 127"/>
          <p:cNvGrpSpPr/>
          <p:nvPr/>
        </p:nvGrpSpPr>
        <p:grpSpPr>
          <a:xfrm>
            <a:off x="6331494" y="5924632"/>
            <a:ext cx="2248718" cy="460375"/>
            <a:chOff x="658689" y="1468837"/>
            <a:chExt cx="2248718" cy="460375"/>
          </a:xfrm>
        </p:grpSpPr>
        <p:sp>
          <p:nvSpPr>
            <p:cNvPr id="129" name="文本框 128"/>
            <p:cNvSpPr txBox="1"/>
            <p:nvPr/>
          </p:nvSpPr>
          <p:spPr>
            <a:xfrm>
              <a:off x="658689" y="1468837"/>
              <a:ext cx="620395" cy="460375"/>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ja-JP" sz="2400" b="1" i="0" u="none" strike="noStrike" kern="1200" cap="none" spc="0" normalizeH="0" baseline="0" noProof="0" dirty="0">
                  <a:ln>
                    <a:noFill/>
                  </a:ln>
                  <a:solidFill>
                    <a:srgbClr val="FFFFFF"/>
                  </a:solidFill>
                  <a:effectLst/>
                  <a:uLnTx/>
                  <a:uFillTx/>
                  <a:latin typeface="微软雅黑"/>
                  <a:ea typeface="微软雅黑"/>
                  <a:cs typeface="微软雅黑"/>
                </a:rPr>
                <a:t>Q3</a:t>
              </a:r>
              <a:endParaRPr kumimoji="0" lang="en-US" altLang="ja-JP" sz="2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30" name="文本框 129"/>
            <p:cNvSpPr txBox="1"/>
            <p:nvPr/>
          </p:nvSpPr>
          <p:spPr>
            <a:xfrm>
              <a:off x="1352927" y="1561171"/>
              <a:ext cx="1554480" cy="275590"/>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rPr>
                <a:t>精细运营与效率优化</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cxnSp>
          <p:nvCxnSpPr>
            <p:cNvPr id="131" name="直接连接符 130"/>
            <p:cNvCxnSpPr/>
            <p:nvPr/>
          </p:nvCxnSpPr>
          <p:spPr>
            <a:xfrm>
              <a:off x="1308577" y="1603150"/>
              <a:ext cx="0" cy="193040"/>
            </a:xfrm>
            <a:prstGeom prst="line">
              <a:avLst/>
            </a:prstGeom>
            <a:ln w="12700">
              <a:solidFill>
                <a:srgbClr val="FFFFFF"/>
              </a:solidFill>
            </a:ln>
          </p:spPr>
          <p:style>
            <a:lnRef idx="2">
              <a:srgbClr val="0042FF"/>
            </a:lnRef>
            <a:fillRef idx="0">
              <a:srgbClr val="0042FF"/>
            </a:fillRef>
            <a:effectRef idx="1">
              <a:srgbClr val="0042FF"/>
            </a:effectRef>
            <a:fontRef idx="minor">
              <a:srgbClr val="383838"/>
            </a:fontRef>
          </p:style>
        </p:cxnSp>
      </p:grpSp>
      <p:grpSp>
        <p:nvGrpSpPr>
          <p:cNvPr id="132" name="组合 131"/>
          <p:cNvGrpSpPr/>
          <p:nvPr/>
        </p:nvGrpSpPr>
        <p:grpSpPr>
          <a:xfrm>
            <a:off x="9141369" y="5930583"/>
            <a:ext cx="2248718" cy="460375"/>
            <a:chOff x="658689" y="1468837"/>
            <a:chExt cx="2248718" cy="460375"/>
          </a:xfrm>
        </p:grpSpPr>
        <p:sp>
          <p:nvSpPr>
            <p:cNvPr id="133" name="文本框 132"/>
            <p:cNvSpPr txBox="1"/>
            <p:nvPr/>
          </p:nvSpPr>
          <p:spPr>
            <a:xfrm>
              <a:off x="658689" y="1468837"/>
              <a:ext cx="620395" cy="460375"/>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ja-JP" sz="2400" b="1" i="0" u="none" strike="noStrike" kern="1200" cap="none" spc="0" normalizeH="0" baseline="0" noProof="0" dirty="0">
                  <a:ln>
                    <a:noFill/>
                  </a:ln>
                  <a:solidFill>
                    <a:srgbClr val="383838"/>
                  </a:solidFill>
                  <a:effectLst/>
                  <a:uLnTx/>
                  <a:uFillTx/>
                  <a:latin typeface="微软雅黑"/>
                  <a:ea typeface="微软雅黑"/>
                  <a:cs typeface="微软雅黑"/>
                </a:rPr>
                <a:t>Q4</a:t>
              </a:r>
              <a:endParaRPr kumimoji="0" lang="en-US" altLang="ja-JP" sz="2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4" name="文本框 133"/>
            <p:cNvSpPr txBox="1"/>
            <p:nvPr/>
          </p:nvSpPr>
          <p:spPr>
            <a:xfrm>
              <a:off x="1352927" y="1561171"/>
              <a:ext cx="1554480" cy="275590"/>
            </a:xfrm>
            <a:prstGeom prst="rect">
              <a:avLst/>
            </a:prstGeom>
            <a:noFill/>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全力冲刺与年度收官</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135" name="直接连接符 134"/>
            <p:cNvCxnSpPr/>
            <p:nvPr/>
          </p:nvCxnSpPr>
          <p:spPr>
            <a:xfrm>
              <a:off x="1308577" y="1603150"/>
              <a:ext cx="0" cy="193040"/>
            </a:xfrm>
            <a:prstGeom prst="line">
              <a:avLst/>
            </a:prstGeom>
            <a:ln w="12700">
              <a:solidFill>
                <a:srgbClr val="FFFFFF"/>
              </a:solidFill>
            </a:ln>
          </p:spPr>
          <p:style>
            <a:lnRef idx="2">
              <a:srgbClr val="0042FF"/>
            </a:lnRef>
            <a:fillRef idx="0">
              <a:srgbClr val="0042FF"/>
            </a:fillRef>
            <a:effectRef idx="1">
              <a:srgbClr val="0042FF"/>
            </a:effectRef>
            <a:fontRef idx="minor">
              <a:srgbClr val="383838"/>
            </a:fontRef>
          </p:style>
        </p:cxnSp>
      </p:grpSp>
      <p:grpSp>
        <p:nvGrpSpPr>
          <p:cNvPr id="2" name="组合 1"/>
          <p:cNvGrpSpPr/>
          <p:nvPr/>
        </p:nvGrpSpPr>
        <p:grpSpPr>
          <a:xfrm>
            <a:off x="6249035" y="2650490"/>
            <a:ext cx="2521585" cy="3044190"/>
            <a:chOff x="871" y="4330"/>
            <a:chExt cx="3971" cy="4794"/>
          </a:xfrm>
        </p:grpSpPr>
        <p:grpSp>
          <p:nvGrpSpPr>
            <p:cNvPr id="137" name="组合 136"/>
            <p:cNvGrpSpPr/>
            <p:nvPr/>
          </p:nvGrpSpPr>
          <p:grpSpPr>
            <a:xfrm>
              <a:off x="895" y="4330"/>
              <a:ext cx="3892" cy="1167"/>
              <a:chOff x="2078" y="6586"/>
              <a:chExt cx="3892" cy="1167"/>
            </a:xfrm>
          </p:grpSpPr>
          <p:sp>
            <p:nvSpPr>
              <p:cNvPr id="184"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86"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87"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1</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88"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数据驱动</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89"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搭建数据看板，实现按日监控用户分群行为；针对高价值用户制定</a:t>
                </a:r>
                <a:r>
                  <a:rPr lang="en-US" altLang="zh-CN" sz="1000" dirty="0">
                    <a:solidFill>
                      <a:srgbClr val="383838"/>
                    </a:solidFill>
                    <a:latin typeface="微软雅黑"/>
                    <a:ea typeface="微软雅黑"/>
                    <a:cs typeface="微软雅黑"/>
                    <a:sym typeface="微软雅黑"/>
                  </a:rPr>
                  <a:t>1</a:t>
                </a:r>
                <a:r>
                  <a:rPr lang="zh-CN" altLang="en-US" sz="1000" dirty="0">
                    <a:solidFill>
                      <a:srgbClr val="383838"/>
                    </a:solidFill>
                    <a:latin typeface="微软雅黑"/>
                    <a:ea typeface="微软雅黑"/>
                    <a:cs typeface="微软雅黑"/>
                    <a:sym typeface="微软雅黑"/>
                  </a:rPr>
                  <a:t>对</a:t>
                </a:r>
                <a:r>
                  <a:rPr lang="en-US" altLang="zh-CN" sz="1000" dirty="0">
                    <a:solidFill>
                      <a:srgbClr val="383838"/>
                    </a:solidFill>
                    <a:latin typeface="微软雅黑"/>
                    <a:ea typeface="微软雅黑"/>
                    <a:cs typeface="微软雅黑"/>
                    <a:sym typeface="微软雅黑"/>
                  </a:rPr>
                  <a:t>1</a:t>
                </a:r>
                <a:r>
                  <a:rPr lang="zh-CN" altLang="en-US" sz="1000" dirty="0">
                    <a:solidFill>
                      <a:srgbClr val="383838"/>
                    </a:solidFill>
                    <a:latin typeface="微软雅黑"/>
                    <a:ea typeface="微软雅黑"/>
                    <a:cs typeface="微软雅黑"/>
                    <a:sym typeface="微软雅黑"/>
                  </a:rPr>
                  <a:t>维护策略。</a:t>
                </a:r>
                <a:endParaRPr lang="zh-CN" altLang="en-US" sz="1000" dirty="0">
                  <a:solidFill>
                    <a:srgbClr val="383838"/>
                  </a:solidFill>
                  <a:latin typeface="微软雅黑"/>
                  <a:ea typeface="微软雅黑"/>
                  <a:cs typeface="微软雅黑"/>
                  <a:sym typeface="微软雅黑"/>
                </a:endParaRPr>
              </a:p>
            </p:txBody>
          </p:sp>
        </p:grpSp>
        <p:grpSp>
          <p:nvGrpSpPr>
            <p:cNvPr id="138" name="组合 137"/>
            <p:cNvGrpSpPr/>
            <p:nvPr/>
          </p:nvGrpSpPr>
          <p:grpSpPr>
            <a:xfrm>
              <a:off x="895" y="5539"/>
              <a:ext cx="3892" cy="1167"/>
              <a:chOff x="2078" y="6586"/>
              <a:chExt cx="3892" cy="1167"/>
            </a:xfrm>
          </p:grpSpPr>
          <p:sp>
            <p:nvSpPr>
              <p:cNvPr id="139"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40"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41"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42"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用户留存</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43"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上线</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用户成长体系</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，启动</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流失预警</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召回机制（</a:t>
                </a:r>
                <a:r>
                  <a:rPr lang="en-US" altLang="zh-CN" sz="1000" dirty="0">
                    <a:solidFill>
                      <a:srgbClr val="383838"/>
                    </a:solidFill>
                    <a:latin typeface="微软雅黑"/>
                    <a:ea typeface="微软雅黑"/>
                    <a:cs typeface="微软雅黑"/>
                    <a:sym typeface="微软雅黑"/>
                  </a:rPr>
                  <a:t>Push/</a:t>
                </a:r>
                <a:r>
                  <a:rPr lang="zh-CN" altLang="en-US" sz="1000" dirty="0">
                    <a:solidFill>
                      <a:srgbClr val="383838"/>
                    </a:solidFill>
                    <a:latin typeface="微软雅黑"/>
                    <a:ea typeface="微软雅黑"/>
                    <a:cs typeface="微软雅黑"/>
                    <a:sym typeface="微软雅黑"/>
                  </a:rPr>
                  <a:t>短信</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人工外呼）。</a:t>
                </a:r>
                <a:endParaRPr lang="zh-CN" altLang="en-US" sz="1000" dirty="0">
                  <a:solidFill>
                    <a:srgbClr val="383838"/>
                  </a:solidFill>
                  <a:latin typeface="微软雅黑"/>
                  <a:ea typeface="微软雅黑"/>
                  <a:cs typeface="微软雅黑"/>
                  <a:sym typeface="微软雅黑"/>
                </a:endParaRPr>
              </a:p>
            </p:txBody>
          </p:sp>
        </p:grpSp>
        <p:grpSp>
          <p:nvGrpSpPr>
            <p:cNvPr id="144" name="组合 143"/>
            <p:cNvGrpSpPr/>
            <p:nvPr/>
          </p:nvGrpSpPr>
          <p:grpSpPr>
            <a:xfrm>
              <a:off x="871" y="6748"/>
              <a:ext cx="3892" cy="1167"/>
              <a:chOff x="2078" y="6586"/>
              <a:chExt cx="3892" cy="1167"/>
            </a:xfrm>
          </p:grpSpPr>
          <p:sp>
            <p:nvSpPr>
              <p:cNvPr id="145"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46"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47"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3</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48"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产品运营</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49"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针对用户反馈集中的功能进行迭代；上线</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新人专享</a:t>
                </a:r>
                <a:r>
                  <a:rPr lang="en-US" altLang="zh-CN" sz="1000" dirty="0">
                    <a:solidFill>
                      <a:srgbClr val="383838"/>
                    </a:solidFill>
                    <a:latin typeface="微软雅黑"/>
                    <a:ea typeface="微软雅黑"/>
                    <a:cs typeface="微软雅黑"/>
                    <a:sym typeface="微软雅黑"/>
                  </a:rPr>
                  <a:t>Banner”</a:t>
                </a:r>
                <a:r>
                  <a:rPr lang="zh-CN" altLang="en-US" sz="1000" dirty="0">
                    <a:solidFill>
                      <a:srgbClr val="383838"/>
                    </a:solidFill>
                    <a:latin typeface="微软雅黑"/>
                    <a:ea typeface="微软雅黑"/>
                    <a:cs typeface="微软雅黑"/>
                    <a:sym typeface="微软雅黑"/>
                  </a:rPr>
                  <a:t>及</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个性化推荐</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p:txBody>
          </p:sp>
        </p:grpSp>
        <p:grpSp>
          <p:nvGrpSpPr>
            <p:cNvPr id="150" name="组合 149"/>
            <p:cNvGrpSpPr/>
            <p:nvPr/>
          </p:nvGrpSpPr>
          <p:grpSpPr>
            <a:xfrm>
              <a:off x="950" y="7957"/>
              <a:ext cx="3892" cy="1167"/>
              <a:chOff x="2078" y="6586"/>
              <a:chExt cx="3892" cy="1167"/>
            </a:xfrm>
          </p:grpSpPr>
          <p:sp>
            <p:nvSpPr>
              <p:cNvPr id="151"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58"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59"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4</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60"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内容运营</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61"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打造</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行业大咖说</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系列直播</a:t>
                </a:r>
                <a:r>
                  <a:rPr lang="en-US" altLang="zh-CN" sz="1000" dirty="0">
                    <a:solidFill>
                      <a:srgbClr val="383838"/>
                    </a:solidFill>
                    <a:latin typeface="微软雅黑"/>
                    <a:ea typeface="微软雅黑"/>
                    <a:cs typeface="微软雅黑"/>
                    <a:sym typeface="微软雅黑"/>
                  </a:rPr>
                  <a:t>/IP</a:t>
                </a:r>
                <a:r>
                  <a:rPr lang="zh-CN" altLang="en-US" sz="1000" dirty="0">
                    <a:solidFill>
                      <a:srgbClr val="383838"/>
                    </a:solidFill>
                    <a:latin typeface="微软雅黑"/>
                    <a:ea typeface="微软雅黑"/>
                    <a:cs typeface="微软雅黑"/>
                    <a:sym typeface="微软雅黑"/>
                  </a:rPr>
                  <a:t>栏目；优化</a:t>
                </a:r>
                <a:r>
                  <a:rPr lang="en-US" altLang="zh-CN" sz="1000" dirty="0">
                    <a:solidFill>
                      <a:srgbClr val="383838"/>
                    </a:solidFill>
                    <a:latin typeface="微软雅黑"/>
                    <a:ea typeface="微软雅黑"/>
                    <a:cs typeface="微软雅黑"/>
                    <a:sym typeface="微软雅黑"/>
                  </a:rPr>
                  <a:t>SEO/SEM</a:t>
                </a:r>
                <a:r>
                  <a:rPr lang="zh-CN" altLang="en-US" sz="1000" dirty="0">
                    <a:solidFill>
                      <a:srgbClr val="383838"/>
                    </a:solidFill>
                    <a:latin typeface="微软雅黑"/>
                    <a:ea typeface="微软雅黑"/>
                    <a:cs typeface="微软雅黑"/>
                    <a:sym typeface="微软雅黑"/>
                  </a:rPr>
                  <a:t>关键词布局。</a:t>
                </a:r>
                <a:endParaRPr lang="zh-CN" altLang="en-US" sz="1000" dirty="0">
                  <a:solidFill>
                    <a:srgbClr val="383838"/>
                  </a:solidFill>
                  <a:latin typeface="微软雅黑"/>
                  <a:ea typeface="微软雅黑"/>
                  <a:cs typeface="微软雅黑"/>
                  <a:sym typeface="微软雅黑"/>
                </a:endParaRPr>
              </a:p>
            </p:txBody>
          </p:sp>
        </p:grpSp>
      </p:grpSp>
      <p:grpSp>
        <p:nvGrpSpPr>
          <p:cNvPr id="3" name="组合 2"/>
          <p:cNvGrpSpPr/>
          <p:nvPr/>
        </p:nvGrpSpPr>
        <p:grpSpPr>
          <a:xfrm>
            <a:off x="3411220" y="2650490"/>
            <a:ext cx="2521585" cy="3044190"/>
            <a:chOff x="871" y="4330"/>
            <a:chExt cx="3971" cy="4794"/>
          </a:xfrm>
        </p:grpSpPr>
        <p:grpSp>
          <p:nvGrpSpPr>
            <p:cNvPr id="4" name="组合 3"/>
            <p:cNvGrpSpPr/>
            <p:nvPr/>
          </p:nvGrpSpPr>
          <p:grpSpPr>
            <a:xfrm>
              <a:off x="895" y="4330"/>
              <a:ext cx="3892" cy="1167"/>
              <a:chOff x="2078" y="6586"/>
              <a:chExt cx="3892" cy="1167"/>
            </a:xfrm>
          </p:grpSpPr>
          <p:sp>
            <p:nvSpPr>
              <p:cNvPr id="11"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2"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3"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1</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6" name="子陵职场PPT55-4"/>
              <p:cNvSpPr txBox="1"/>
              <p:nvPr/>
            </p:nvSpPr>
            <p:spPr>
              <a:xfrm>
                <a:off x="2391" y="6609"/>
                <a:ext cx="12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渠道与投放</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7"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启动</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春季增长计划</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，重点拓展短视频（抖音</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视频号）及信息流广告投放</a:t>
                </a:r>
                <a:r>
                  <a:rPr lang="zh-CN" sz="1000" dirty="0">
                    <a:solidFill>
                      <a:srgbClr val="383838"/>
                    </a:solidFill>
                    <a:latin typeface="微软雅黑"/>
                    <a:ea typeface="微软雅黑"/>
                    <a:cs typeface="微软雅黑"/>
                    <a:sym typeface="微软雅黑"/>
                  </a:rPr>
                  <a:t>。</a:t>
                </a:r>
                <a:endParaRPr lang="zh-CN" sz="1000" dirty="0">
                  <a:solidFill>
                    <a:srgbClr val="383838"/>
                  </a:solidFill>
                  <a:latin typeface="微软雅黑"/>
                  <a:ea typeface="微软雅黑"/>
                  <a:cs typeface="微软雅黑"/>
                  <a:sym typeface="微软雅黑"/>
                </a:endParaRPr>
              </a:p>
            </p:txBody>
          </p:sp>
        </p:grpSp>
        <p:grpSp>
          <p:nvGrpSpPr>
            <p:cNvPr id="18" name="组合 17"/>
            <p:cNvGrpSpPr/>
            <p:nvPr/>
          </p:nvGrpSpPr>
          <p:grpSpPr>
            <a:xfrm>
              <a:off x="895" y="5539"/>
              <a:ext cx="3892" cy="1167"/>
              <a:chOff x="2078" y="6586"/>
              <a:chExt cx="3892" cy="1167"/>
            </a:xfrm>
          </p:grpSpPr>
          <p:sp>
            <p:nvSpPr>
              <p:cNvPr id="20"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21"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23"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28"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大促活动</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9"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主导</a:t>
                </a:r>
                <a:r>
                  <a:rPr lang="en-US" altLang="zh-CN" sz="1000" dirty="0">
                    <a:solidFill>
                      <a:srgbClr val="383838"/>
                    </a:solidFill>
                    <a:latin typeface="微软雅黑"/>
                    <a:ea typeface="微软雅黑"/>
                    <a:cs typeface="微软雅黑"/>
                    <a:sym typeface="微软雅黑"/>
                  </a:rPr>
                  <a:t>“618</a:t>
                </a:r>
                <a:r>
                  <a:rPr lang="zh-CN" altLang="en-US" sz="1000" dirty="0">
                    <a:solidFill>
                      <a:srgbClr val="383838"/>
                    </a:solidFill>
                    <a:latin typeface="微软雅黑"/>
                    <a:ea typeface="微软雅黑"/>
                    <a:cs typeface="微软雅黑"/>
                    <a:sym typeface="微软雅黑"/>
                  </a:rPr>
                  <a:t>年中大促</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，引入</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拼团秒杀</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与</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会员专享折上折</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玩法。</a:t>
                </a:r>
                <a:endParaRPr lang="zh-CN" altLang="en-US" sz="1000" dirty="0">
                  <a:solidFill>
                    <a:srgbClr val="383838"/>
                  </a:solidFill>
                  <a:latin typeface="微软雅黑"/>
                  <a:ea typeface="微软雅黑"/>
                  <a:cs typeface="微软雅黑"/>
                  <a:sym typeface="微软雅黑"/>
                </a:endParaRPr>
              </a:p>
            </p:txBody>
          </p:sp>
        </p:grpSp>
        <p:grpSp>
          <p:nvGrpSpPr>
            <p:cNvPr id="30" name="组合 29"/>
            <p:cNvGrpSpPr/>
            <p:nvPr/>
          </p:nvGrpSpPr>
          <p:grpSpPr>
            <a:xfrm>
              <a:off x="871" y="6748"/>
              <a:ext cx="3892" cy="1167"/>
              <a:chOff x="2078" y="6586"/>
              <a:chExt cx="3892" cy="1167"/>
            </a:xfrm>
          </p:grpSpPr>
          <p:sp>
            <p:nvSpPr>
              <p:cNvPr id="31"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32"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33"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3</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34"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品牌联动</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35"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与其他国际品牌开展跨界联名活动，联合推出限定产品</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服务。</a:t>
                </a:r>
                <a:endParaRPr lang="zh-CN" altLang="en-US" sz="1000" dirty="0">
                  <a:solidFill>
                    <a:srgbClr val="383838"/>
                  </a:solidFill>
                  <a:latin typeface="微软雅黑"/>
                  <a:ea typeface="微软雅黑"/>
                  <a:cs typeface="微软雅黑"/>
                  <a:sym typeface="微软雅黑"/>
                </a:endParaRPr>
              </a:p>
            </p:txBody>
          </p:sp>
        </p:grpSp>
        <p:grpSp>
          <p:nvGrpSpPr>
            <p:cNvPr id="36" name="组合 35"/>
            <p:cNvGrpSpPr/>
            <p:nvPr/>
          </p:nvGrpSpPr>
          <p:grpSpPr>
            <a:xfrm>
              <a:off x="950" y="7957"/>
              <a:ext cx="3892" cy="1167"/>
              <a:chOff x="2078" y="6586"/>
              <a:chExt cx="3892" cy="1167"/>
            </a:xfrm>
          </p:grpSpPr>
          <p:sp>
            <p:nvSpPr>
              <p:cNvPr id="62"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63"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64"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4</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5" name="子陵职场PPT55-4"/>
              <p:cNvSpPr txBox="1"/>
              <p:nvPr/>
            </p:nvSpPr>
            <p:spPr>
              <a:xfrm>
                <a:off x="2391" y="6609"/>
                <a:ext cx="14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社群私域运营</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66"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搭建私域流量池，建立企业微信社群</a:t>
                </a:r>
                <a:r>
                  <a:rPr lang="en-US" altLang="zh-CN" sz="1000" dirty="0">
                    <a:solidFill>
                      <a:srgbClr val="383838"/>
                    </a:solidFill>
                    <a:latin typeface="微软雅黑"/>
                    <a:ea typeface="微软雅黑"/>
                    <a:cs typeface="微软雅黑"/>
                    <a:sym typeface="微软雅黑"/>
                  </a:rPr>
                  <a:t>50</a:t>
                </a:r>
                <a:r>
                  <a:rPr lang="zh-CN" altLang="en-US" sz="1000" dirty="0">
                    <a:solidFill>
                      <a:srgbClr val="383838"/>
                    </a:solidFill>
                    <a:latin typeface="微软雅黑"/>
                    <a:ea typeface="微软雅黑"/>
                    <a:cs typeface="微软雅黑"/>
                    <a:sym typeface="微软雅黑"/>
                  </a:rPr>
                  <a:t>个，开展</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快闪群</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带货模式。</a:t>
                </a:r>
                <a:endParaRPr lang="zh-CN" altLang="en-US" sz="1000" dirty="0">
                  <a:solidFill>
                    <a:srgbClr val="383838"/>
                  </a:solidFill>
                  <a:latin typeface="微软雅黑"/>
                  <a:ea typeface="微软雅黑"/>
                  <a:cs typeface="微软雅黑"/>
                  <a:sym typeface="微软雅黑"/>
                </a:endParaRPr>
              </a:p>
            </p:txBody>
          </p:sp>
        </p:grpSp>
      </p:grpSp>
      <p:grpSp>
        <p:nvGrpSpPr>
          <p:cNvPr id="67" name="组合 66"/>
          <p:cNvGrpSpPr/>
          <p:nvPr/>
        </p:nvGrpSpPr>
        <p:grpSpPr>
          <a:xfrm>
            <a:off x="573405" y="2650490"/>
            <a:ext cx="2521585" cy="3043555"/>
            <a:chOff x="871" y="4330"/>
            <a:chExt cx="3971" cy="4793"/>
          </a:xfrm>
        </p:grpSpPr>
        <p:grpSp>
          <p:nvGrpSpPr>
            <p:cNvPr id="68" name="组合 67"/>
            <p:cNvGrpSpPr/>
            <p:nvPr/>
          </p:nvGrpSpPr>
          <p:grpSpPr>
            <a:xfrm>
              <a:off x="895" y="4330"/>
              <a:ext cx="3892" cy="1167"/>
              <a:chOff x="2078" y="6586"/>
              <a:chExt cx="3892" cy="1167"/>
            </a:xfrm>
          </p:grpSpPr>
          <p:sp>
            <p:nvSpPr>
              <p:cNvPr id="69"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70"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71"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1</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72" name="子陵职场PPT55-4"/>
              <p:cNvSpPr txBox="1"/>
              <p:nvPr/>
            </p:nvSpPr>
            <p:spPr>
              <a:xfrm>
                <a:off x="2391" y="6609"/>
                <a:ext cx="12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策略与规划</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76"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制定全年运营日历；完成竞品分析；确定</a:t>
                </a:r>
                <a:r>
                  <a:rPr lang="en-US" altLang="zh-CN" sz="1000" dirty="0">
                    <a:solidFill>
                      <a:srgbClr val="383838"/>
                    </a:solidFill>
                    <a:latin typeface="微软雅黑"/>
                    <a:ea typeface="微软雅黑"/>
                    <a:cs typeface="微软雅黑"/>
                    <a:sym typeface="微软雅黑"/>
                  </a:rPr>
                  <a:t>A/B test</a:t>
                </a:r>
                <a:r>
                  <a:rPr lang="zh-CN" altLang="en-US" sz="1000" dirty="0">
                    <a:solidFill>
                      <a:srgbClr val="383838"/>
                    </a:solidFill>
                    <a:latin typeface="微软雅黑"/>
                    <a:ea typeface="微软雅黑"/>
                    <a:cs typeface="微软雅黑"/>
                    <a:sym typeface="微软雅黑"/>
                  </a:rPr>
                  <a:t>框架及关键指标拆解。</a:t>
                </a:r>
                <a:endParaRPr lang="zh-CN" altLang="en-US" sz="1000" dirty="0">
                  <a:solidFill>
                    <a:srgbClr val="383838"/>
                  </a:solidFill>
                  <a:latin typeface="微软雅黑"/>
                  <a:ea typeface="微软雅黑"/>
                  <a:cs typeface="微软雅黑"/>
                  <a:sym typeface="微软雅黑"/>
                </a:endParaRPr>
              </a:p>
            </p:txBody>
          </p:sp>
        </p:grpSp>
        <p:grpSp>
          <p:nvGrpSpPr>
            <p:cNvPr id="77" name="组合 76"/>
            <p:cNvGrpSpPr/>
            <p:nvPr/>
          </p:nvGrpSpPr>
          <p:grpSpPr>
            <a:xfrm>
              <a:off x="895" y="5539"/>
              <a:ext cx="3892" cy="1167"/>
              <a:chOff x="2078" y="6586"/>
              <a:chExt cx="3892" cy="1167"/>
            </a:xfrm>
          </p:grpSpPr>
          <p:sp>
            <p:nvSpPr>
              <p:cNvPr id="80"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81"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82"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83" name="子陵职场PPT55-4"/>
              <p:cNvSpPr txBox="1"/>
              <p:nvPr/>
            </p:nvSpPr>
            <p:spPr>
              <a:xfrm>
                <a:off x="2391" y="6609"/>
                <a:ext cx="14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线上活动运营</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84"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开展</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新春不打烊</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活动；针对节后返工潮推出</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开工利是</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主题活动。</a:t>
                </a:r>
                <a:endParaRPr lang="zh-CN" altLang="en-US" sz="1000" dirty="0">
                  <a:solidFill>
                    <a:srgbClr val="383838"/>
                  </a:solidFill>
                  <a:latin typeface="微软雅黑"/>
                  <a:ea typeface="微软雅黑"/>
                  <a:cs typeface="微软雅黑"/>
                  <a:sym typeface="微软雅黑"/>
                </a:endParaRPr>
              </a:p>
            </p:txBody>
          </p:sp>
        </p:grpSp>
        <p:grpSp>
          <p:nvGrpSpPr>
            <p:cNvPr id="86" name="组合 85"/>
            <p:cNvGrpSpPr/>
            <p:nvPr/>
          </p:nvGrpSpPr>
          <p:grpSpPr>
            <a:xfrm>
              <a:off x="871" y="6748"/>
              <a:ext cx="3892" cy="1167"/>
              <a:chOff x="2078" y="6586"/>
              <a:chExt cx="3892" cy="1167"/>
            </a:xfrm>
          </p:grpSpPr>
          <p:sp>
            <p:nvSpPr>
              <p:cNvPr id="87"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88"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89"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3</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90"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用户运营</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91"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完成存量用户标签清洗；搭建新用户欢迎流（</a:t>
                </a:r>
                <a:r>
                  <a:rPr lang="en-US" altLang="zh-CN" sz="1000" dirty="0">
                    <a:solidFill>
                      <a:srgbClr val="383838"/>
                    </a:solidFill>
                    <a:latin typeface="微软雅黑"/>
                    <a:ea typeface="微软雅黑"/>
                    <a:cs typeface="微软雅黑"/>
                    <a:sym typeface="微软雅黑"/>
                  </a:rPr>
                  <a:t>Welcome Flow</a:t>
                </a:r>
                <a:r>
                  <a:rPr lang="zh-CN" altLang="en-US" sz="1000" dirty="0">
                    <a:solidFill>
                      <a:srgbClr val="383838"/>
                    </a:solidFill>
                    <a:latin typeface="微软雅黑"/>
                    <a:ea typeface="微软雅黑"/>
                    <a:cs typeface="微软雅黑"/>
                    <a:sym typeface="微软雅黑"/>
                  </a:rPr>
                  <a:t>）自动化触达体系。</a:t>
                </a:r>
                <a:endParaRPr lang="zh-CN" altLang="en-US" sz="1000" dirty="0">
                  <a:solidFill>
                    <a:srgbClr val="383838"/>
                  </a:solidFill>
                  <a:latin typeface="微软雅黑"/>
                  <a:ea typeface="微软雅黑"/>
                  <a:cs typeface="微软雅黑"/>
                  <a:sym typeface="微软雅黑"/>
                </a:endParaRPr>
              </a:p>
            </p:txBody>
          </p:sp>
        </p:grpSp>
        <p:grpSp>
          <p:nvGrpSpPr>
            <p:cNvPr id="92" name="组合 91"/>
            <p:cNvGrpSpPr/>
            <p:nvPr/>
          </p:nvGrpSpPr>
          <p:grpSpPr>
            <a:xfrm>
              <a:off x="950" y="7957"/>
              <a:ext cx="3892" cy="1167"/>
              <a:chOff x="2078" y="6586"/>
              <a:chExt cx="3892" cy="1167"/>
            </a:xfrm>
          </p:grpSpPr>
          <p:sp>
            <p:nvSpPr>
              <p:cNvPr id="93" name="子陵职场PPT55-1"/>
              <p:cNvSpPr/>
              <p:nvPr/>
            </p:nvSpPr>
            <p:spPr>
              <a:xfrm>
                <a:off x="2078" y="6586"/>
                <a:ext cx="3110" cy="432"/>
              </a:xfrm>
              <a:prstGeom prst="roundRect">
                <a:avLst>
                  <a:gd name="adj" fmla="val 50000"/>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95" name="子陵职场PPT55-2"/>
              <p:cNvSpPr/>
              <p:nvPr/>
            </p:nvSpPr>
            <p:spPr>
              <a:xfrm rot="16200000" flipH="1">
                <a:off x="2157" y="6661"/>
                <a:ext cx="285" cy="285"/>
              </a:xfrm>
              <a:prstGeom prst="ellipse">
                <a:avLst/>
              </a:prstGeom>
              <a:gradFill flip="none" rotWithShape="1">
                <a:gsLst>
                  <a:gs pos="0">
                    <a:srgbClr val="3368FF"/>
                  </a:gs>
                  <a:gs pos="100000">
                    <a:srgbClr val="0042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96"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4</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97" name="子陵职场PPT55-4"/>
              <p:cNvSpPr txBox="1"/>
              <p:nvPr/>
            </p:nvSpPr>
            <p:spPr>
              <a:xfrm>
                <a:off x="2391" y="6609"/>
                <a:ext cx="12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产品与内容</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98"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迭代核心功能模块</a:t>
                </a:r>
                <a:r>
                  <a:rPr lang="en-US" altLang="zh-CN" sz="1000" dirty="0">
                    <a:solidFill>
                      <a:srgbClr val="383838"/>
                    </a:solidFill>
                    <a:latin typeface="微软雅黑"/>
                    <a:ea typeface="微软雅黑"/>
                    <a:cs typeface="微软雅黑"/>
                    <a:sym typeface="微软雅黑"/>
                  </a:rPr>
                  <a:t>10</a:t>
                </a:r>
                <a:r>
                  <a:rPr lang="zh-CN" altLang="en-US" sz="1000" dirty="0">
                    <a:solidFill>
                      <a:srgbClr val="383838"/>
                    </a:solidFill>
                    <a:latin typeface="微软雅黑"/>
                    <a:ea typeface="微软雅黑"/>
                    <a:cs typeface="微软雅黑"/>
                    <a:sym typeface="微软雅黑"/>
                  </a:rPr>
                  <a:t>处；搭建内容素材库，产出</a:t>
                </a:r>
                <a:r>
                  <a:rPr lang="en-US" altLang="zh-CN" sz="1000" dirty="0">
                    <a:solidFill>
                      <a:srgbClr val="383838"/>
                    </a:solidFill>
                    <a:latin typeface="微软雅黑"/>
                    <a:ea typeface="微软雅黑"/>
                    <a:cs typeface="微软雅黑"/>
                    <a:sym typeface="微软雅黑"/>
                  </a:rPr>
                  <a:t>SOP</a:t>
                </a:r>
                <a:r>
                  <a:rPr lang="zh-CN" altLang="en-US" sz="1000" dirty="0">
                    <a:solidFill>
                      <a:srgbClr val="383838"/>
                    </a:solidFill>
                    <a:latin typeface="微软雅黑"/>
                    <a:ea typeface="微软雅黑"/>
                    <a:cs typeface="微软雅黑"/>
                    <a:sym typeface="微软雅黑"/>
                  </a:rPr>
                  <a:t>标准操作流程</a:t>
                </a:r>
                <a:r>
                  <a:rPr lang="en-US" altLang="zh-CN" sz="1000" dirty="0">
                    <a:solidFill>
                      <a:srgbClr val="383838"/>
                    </a:solidFill>
                    <a:latin typeface="微软雅黑"/>
                    <a:ea typeface="微软雅黑"/>
                    <a:cs typeface="微软雅黑"/>
                    <a:sym typeface="微软雅黑"/>
                  </a:rPr>
                  <a:t>20</a:t>
                </a:r>
                <a:r>
                  <a:rPr lang="zh-CN" altLang="en-US" sz="1000" dirty="0">
                    <a:solidFill>
                      <a:srgbClr val="383838"/>
                    </a:solidFill>
                    <a:latin typeface="微软雅黑"/>
                    <a:ea typeface="微软雅黑"/>
                    <a:cs typeface="微软雅黑"/>
                    <a:sym typeface="微软雅黑"/>
                  </a:rPr>
                  <a:t>套。</a:t>
                </a:r>
                <a:endParaRPr lang="zh-CN" altLang="en-US" sz="1000" dirty="0">
                  <a:solidFill>
                    <a:srgbClr val="383838"/>
                  </a:solidFill>
                  <a:latin typeface="微软雅黑"/>
                  <a:ea typeface="微软雅黑"/>
                  <a:cs typeface="微软雅黑"/>
                  <a:sym typeface="微软雅黑"/>
                </a:endParaRPr>
              </a:p>
            </p:txBody>
          </p:sp>
        </p:grpSp>
      </p:grpSp>
      <p:grpSp>
        <p:nvGrpSpPr>
          <p:cNvPr id="99" name="组合 98"/>
          <p:cNvGrpSpPr/>
          <p:nvPr/>
        </p:nvGrpSpPr>
        <p:grpSpPr>
          <a:xfrm>
            <a:off x="9086850" y="2650490"/>
            <a:ext cx="2521585" cy="3044190"/>
            <a:chOff x="871" y="4330"/>
            <a:chExt cx="3971" cy="4794"/>
          </a:xfrm>
        </p:grpSpPr>
        <p:grpSp>
          <p:nvGrpSpPr>
            <p:cNvPr id="100" name="组合 99"/>
            <p:cNvGrpSpPr/>
            <p:nvPr/>
          </p:nvGrpSpPr>
          <p:grpSpPr>
            <a:xfrm>
              <a:off x="895" y="4330"/>
              <a:ext cx="3892" cy="1167"/>
              <a:chOff x="2078" y="6586"/>
              <a:chExt cx="3892" cy="1167"/>
            </a:xfrm>
          </p:grpSpPr>
          <p:sp>
            <p:nvSpPr>
              <p:cNvPr id="101"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102"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03"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1</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04"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年终大促</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05"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统筹</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双</a:t>
                </a:r>
                <a:r>
                  <a:rPr lang="en-US" altLang="zh-CN" sz="1000" dirty="0">
                    <a:solidFill>
                      <a:srgbClr val="383838"/>
                    </a:solidFill>
                    <a:latin typeface="微软雅黑"/>
                    <a:ea typeface="微软雅黑"/>
                    <a:cs typeface="微软雅黑"/>
                    <a:sym typeface="微软雅黑"/>
                  </a:rPr>
                  <a:t>11”</a:t>
                </a:r>
                <a:r>
                  <a:rPr lang="zh-CN" altLang="en-US" sz="1000" dirty="0">
                    <a:solidFill>
                      <a:srgbClr val="383838"/>
                    </a:solidFill>
                    <a:latin typeface="微软雅黑"/>
                    <a:ea typeface="微软雅黑"/>
                    <a:cs typeface="微软雅黑"/>
                    <a:sym typeface="微软雅黑"/>
                  </a:rPr>
                  <a:t>、</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双</a:t>
                </a:r>
                <a:r>
                  <a:rPr lang="en-US" altLang="zh-CN" sz="1000" dirty="0">
                    <a:solidFill>
                      <a:srgbClr val="383838"/>
                    </a:solidFill>
                    <a:latin typeface="微软雅黑"/>
                    <a:ea typeface="微软雅黑"/>
                    <a:cs typeface="微软雅黑"/>
                    <a:sym typeface="微软雅黑"/>
                  </a:rPr>
                  <a:t>12”</a:t>
                </a:r>
                <a:r>
                  <a:rPr lang="zh-CN" altLang="en-US" sz="1000" dirty="0">
                    <a:solidFill>
                      <a:srgbClr val="383838"/>
                    </a:solidFill>
                    <a:latin typeface="微软雅黑"/>
                    <a:ea typeface="微软雅黑"/>
                    <a:cs typeface="微软雅黑"/>
                    <a:sym typeface="微软雅黑"/>
                  </a:rPr>
                  <a:t>、</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年货节</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三大战役。联合明星</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头部主播直播带货。</a:t>
                </a:r>
                <a:endParaRPr lang="zh-CN" altLang="en-US" sz="1000" dirty="0">
                  <a:solidFill>
                    <a:srgbClr val="383838"/>
                  </a:solidFill>
                  <a:latin typeface="微软雅黑"/>
                  <a:ea typeface="微软雅黑"/>
                  <a:cs typeface="微软雅黑"/>
                  <a:sym typeface="微软雅黑"/>
                </a:endParaRPr>
              </a:p>
            </p:txBody>
          </p:sp>
        </p:grpSp>
        <p:grpSp>
          <p:nvGrpSpPr>
            <p:cNvPr id="106" name="组合 105"/>
            <p:cNvGrpSpPr/>
            <p:nvPr/>
          </p:nvGrpSpPr>
          <p:grpSpPr>
            <a:xfrm>
              <a:off x="895" y="5539"/>
              <a:ext cx="3892" cy="986"/>
              <a:chOff x="2078" y="6586"/>
              <a:chExt cx="3892" cy="986"/>
            </a:xfrm>
          </p:grpSpPr>
          <p:sp>
            <p:nvSpPr>
              <p:cNvPr id="107"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08"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09"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10"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用户沉淀</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11" name="子陵职场PPT55-5"/>
              <p:cNvSpPr txBox="1"/>
              <p:nvPr/>
            </p:nvSpPr>
            <p:spPr>
              <a:xfrm>
                <a:off x="2078" y="7028"/>
                <a:ext cx="3892" cy="544"/>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推出年度会员</a:t>
                </a:r>
                <a:r>
                  <a:rPr lang="en-US" altLang="zh-CN"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付费会员卡（</a:t>
                </a:r>
                <a:r>
                  <a:rPr lang="en-US" altLang="zh-CN" sz="1000" dirty="0">
                    <a:solidFill>
                      <a:srgbClr val="383838"/>
                    </a:solidFill>
                    <a:latin typeface="微软雅黑"/>
                    <a:ea typeface="微软雅黑"/>
                    <a:cs typeface="微软雅黑"/>
                    <a:sym typeface="微软雅黑"/>
                  </a:rPr>
                  <a:t>VIP</a:t>
                </a:r>
                <a:r>
                  <a:rPr lang="zh-CN" altLang="en-US" sz="1000" dirty="0">
                    <a:solidFill>
                      <a:srgbClr val="383838"/>
                    </a:solidFill>
                    <a:latin typeface="微软雅黑"/>
                    <a:ea typeface="微软雅黑"/>
                    <a:cs typeface="微软雅黑"/>
                    <a:sym typeface="微软雅黑"/>
                  </a:rPr>
                  <a:t>）体系；进行年度用户答谢与积分清零活动。</a:t>
                </a:r>
                <a:endParaRPr lang="zh-CN" altLang="en-US" sz="1000" dirty="0">
                  <a:solidFill>
                    <a:srgbClr val="383838"/>
                  </a:solidFill>
                  <a:latin typeface="微软雅黑"/>
                  <a:ea typeface="微软雅黑"/>
                  <a:cs typeface="微软雅黑"/>
                  <a:sym typeface="微软雅黑"/>
                </a:endParaRPr>
              </a:p>
            </p:txBody>
          </p:sp>
        </p:grpSp>
        <p:grpSp>
          <p:nvGrpSpPr>
            <p:cNvPr id="112" name="组合 111"/>
            <p:cNvGrpSpPr/>
            <p:nvPr/>
          </p:nvGrpSpPr>
          <p:grpSpPr>
            <a:xfrm>
              <a:off x="871" y="6748"/>
              <a:ext cx="3892" cy="1167"/>
              <a:chOff x="2078" y="6586"/>
              <a:chExt cx="3892" cy="1167"/>
            </a:xfrm>
          </p:grpSpPr>
          <p:sp>
            <p:nvSpPr>
              <p:cNvPr id="122"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23"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36"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3</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52"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团队建设</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54"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复盘全年数据，沉淀方法论（</a:t>
                </a:r>
                <a:r>
                  <a:rPr lang="en-US" altLang="zh-CN" sz="1000" dirty="0">
                    <a:solidFill>
                      <a:srgbClr val="383838"/>
                    </a:solidFill>
                    <a:latin typeface="微软雅黑"/>
                    <a:ea typeface="微软雅黑"/>
                    <a:cs typeface="微软雅黑"/>
                    <a:sym typeface="微软雅黑"/>
                  </a:rPr>
                  <a:t>SOP</a:t>
                </a:r>
                <a:r>
                  <a:rPr lang="zh-CN" altLang="en-US" sz="1000" dirty="0">
                    <a:solidFill>
                      <a:srgbClr val="383838"/>
                    </a:solidFill>
                    <a:latin typeface="微软雅黑"/>
                    <a:ea typeface="微软雅黑"/>
                    <a:cs typeface="微软雅黑"/>
                    <a:sym typeface="微软雅黑"/>
                  </a:rPr>
                  <a:t>）；优化运营工具链；制定人才盘点与预算。</a:t>
                </a:r>
                <a:endParaRPr lang="zh-CN" altLang="en-US" sz="1000" dirty="0">
                  <a:solidFill>
                    <a:srgbClr val="383838"/>
                  </a:solidFill>
                  <a:latin typeface="微软雅黑"/>
                  <a:ea typeface="微软雅黑"/>
                  <a:cs typeface="微软雅黑"/>
                  <a:sym typeface="微软雅黑"/>
                </a:endParaRPr>
              </a:p>
            </p:txBody>
          </p:sp>
        </p:grpSp>
        <p:grpSp>
          <p:nvGrpSpPr>
            <p:cNvPr id="155" name="组合 154"/>
            <p:cNvGrpSpPr/>
            <p:nvPr/>
          </p:nvGrpSpPr>
          <p:grpSpPr>
            <a:xfrm>
              <a:off x="950" y="7957"/>
              <a:ext cx="3892" cy="1167"/>
              <a:chOff x="2078" y="6586"/>
              <a:chExt cx="3892" cy="1167"/>
            </a:xfrm>
          </p:grpSpPr>
          <p:sp>
            <p:nvSpPr>
              <p:cNvPr id="156" name="子陵职场PPT55-1"/>
              <p:cNvSpPr/>
              <p:nvPr/>
            </p:nvSpPr>
            <p:spPr>
              <a:xfrm>
                <a:off x="2078" y="6586"/>
                <a:ext cx="3110" cy="432"/>
              </a:xfrm>
              <a:prstGeom prst="roundRect">
                <a:avLst>
                  <a:gd name="adj" fmla="val 50000"/>
                </a:avLst>
              </a:prstGeom>
              <a:gradFill>
                <a:gsLst>
                  <a:gs pos="0">
                    <a:srgbClr val="FFFFFF"/>
                  </a:gs>
                  <a:gs pos="88000">
                    <a:srgbClr val="FFFFFF">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157" name="子陵职场PPT55-2"/>
              <p:cNvSpPr/>
              <p:nvPr/>
            </p:nvSpPr>
            <p:spPr>
              <a:xfrm rot="16200000" flipH="1">
                <a:off x="2157" y="6661"/>
                <a:ext cx="285" cy="285"/>
              </a:xfrm>
              <a:prstGeom prst="ellipse">
                <a:avLst/>
              </a:prstGeom>
              <a:gradFill flip="none" rotWithShape="1">
                <a:gsLst>
                  <a:gs pos="0">
                    <a:srgbClr val="B3D4FE"/>
                  </a:gs>
                  <a:gs pos="100000">
                    <a:srgbClr val="3368FF"/>
                  </a:gs>
                </a:gsLst>
                <a:path path="circle">
                  <a:fillToRect t="100000" r="100000"/>
                </a:path>
                <a:tileRect l="-100000" b="-100000"/>
              </a:gradFill>
              <a:ln w="38100">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945" b="0" i="0" u="none" strike="noStrike" kern="1200" cap="none" spc="0" normalizeH="0" baseline="0" noProof="0">
                  <a:ln>
                    <a:noFill/>
                  </a:ln>
                  <a:solidFill>
                    <a:srgbClr val="FFFFFF"/>
                  </a:solidFill>
                  <a:effectLst>
                    <a:outerShdw blurRad="137160" dist="41148" dir="2699997" algn="tl">
                      <a:srgbClr val="383838">
                        <a:alpha val="40000"/>
                      </a:srgbClr>
                    </a:outerShdw>
                  </a:effectLst>
                  <a:uLnTx/>
                  <a:uFillTx/>
                  <a:latin typeface="微软雅黑"/>
                  <a:ea typeface="微软雅黑"/>
                  <a:cs typeface="微软雅黑"/>
                  <a:sym typeface="微软雅黑"/>
                </a:endParaRPr>
              </a:p>
            </p:txBody>
          </p:sp>
          <p:sp>
            <p:nvSpPr>
              <p:cNvPr id="162" name="子陵职场PPT55-3"/>
              <p:cNvSpPr txBox="1"/>
              <p:nvPr/>
            </p:nvSpPr>
            <p:spPr>
              <a:xfrm>
                <a:off x="2157" y="6702"/>
                <a:ext cx="285" cy="270"/>
              </a:xfrm>
              <a:prstGeom prst="rect">
                <a:avLst/>
              </a:prstGeom>
              <a:noFill/>
            </p:spPr>
            <p:txBody>
              <a:bodyPr wrap="square" rtlCol="0" anchor="ctr" anchorCtr="1" lIns="0" rIns="0" tIns="0" bIns="0">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4</a:t>
                </a:r>
                <a:endParaRPr kumimoji="0" lang="en-US" altLang="zh-CN"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63" name="子陵职场PPT55-4"/>
              <p:cNvSpPr txBox="1"/>
              <p:nvPr/>
            </p:nvSpPr>
            <p:spPr>
              <a:xfrm>
                <a:off x="2391" y="6609"/>
                <a:ext cx="1088" cy="386"/>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收官布局</a:t>
                </a:r>
                <a:endParaRPr kumimoji="0" lang="zh-CN" altLang="en-US" sz="1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164" name="子陵职场PPT55-5"/>
              <p:cNvSpPr txBox="1"/>
              <p:nvPr/>
            </p:nvSpPr>
            <p:spPr>
              <a:xfrm>
                <a:off x="2078" y="7028"/>
                <a:ext cx="3892" cy="725"/>
              </a:xfrm>
              <a:prstGeom prst="rect">
                <a:avLst/>
              </a:prstGeom>
              <a:noFill/>
            </p:spPr>
            <p:txBody>
              <a:bodyPr wrap="square" lIns="0" rIns="0" tIns="0" bIns="0">
                <a:spAutoFit/>
              </a:bodyPr>
              <a:lstStyle/>
              <a:p>
                <a:pPr>
                  <a:lnSpc>
                    <a:spcPct val="120000"/>
                  </a:lnSpc>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发布年度用户报告（</a:t>
                </a:r>
                <a:r>
                  <a:rPr lang="en-US" altLang="zh-CN" sz="1000" dirty="0">
                    <a:solidFill>
                      <a:srgbClr val="383838"/>
                    </a:solidFill>
                    <a:latin typeface="微软雅黑"/>
                    <a:ea typeface="微软雅黑"/>
                    <a:cs typeface="微软雅黑"/>
                    <a:sym typeface="微软雅黑"/>
                  </a:rPr>
                  <a:t>H5</a:t>
                </a:r>
                <a:r>
                  <a:rPr lang="zh-CN" altLang="en-US" sz="1000" dirty="0">
                    <a:solidFill>
                      <a:srgbClr val="383838"/>
                    </a:solidFill>
                    <a:latin typeface="微软雅黑"/>
                    <a:ea typeface="微软雅黑"/>
                    <a:cs typeface="微软雅黑"/>
                    <a:sym typeface="微软雅黑"/>
                  </a:rPr>
                  <a:t>），制造社交裂变；进行跨部门年终复盘会。</a:t>
                </a:r>
                <a:endParaRPr lang="zh-CN" altLang="en-US" sz="1000" dirty="0">
                  <a:solidFill>
                    <a:srgbClr val="383838"/>
                  </a:solidFill>
                  <a:latin typeface="微软雅黑"/>
                  <a:ea typeface="微软雅黑"/>
                  <a:cs typeface="微软雅黑"/>
                  <a:sym typeface="微软雅黑"/>
                </a:endParaRPr>
              </a:p>
            </p:txBody>
          </p:sp>
        </p:grpSp>
      </p:grpSp>
      <p:cxnSp>
        <p:nvCxnSpPr>
          <p:cNvPr id="9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13" name="组合 112"/>
          <p:cNvGrpSpPr/>
          <p:nvPr/>
        </p:nvGrpSpPr>
        <p:grpSpPr>
          <a:xfrm>
            <a:off x="8738235" y="348615"/>
            <a:ext cx="3219450" cy="332740"/>
            <a:chOff x="13761" y="549"/>
            <a:chExt cx="5070" cy="524"/>
          </a:xfrm>
        </p:grpSpPr>
        <p:pic>
          <p:nvPicPr>
            <p:cNvPr id="116" name="图片 115"/>
            <p:cNvPicPr>
              <a:picLocks noChangeAspect="1"/>
            </p:cNvPicPr>
            <p:nvPr userDrawn="1"/>
          </p:nvPicPr>
          <p:blipFill>
            <a:blip r:embed="rId7"/>
            <a:srcRect l="17002" t="-1765" r="56499" b="-1176"/>
            <a:stretch>
              <a:fillRect/>
            </a:stretch>
          </p:blipFill>
          <p:spPr>
            <a:xfrm>
              <a:off x="13761" y="549"/>
              <a:ext cx="1582" cy="525"/>
            </a:xfrm>
            <a:prstGeom prst="rect">
              <a:avLst/>
            </a:prstGeom>
          </p:spPr>
        </p:pic>
        <p:sp>
          <p:nvSpPr>
            <p:cNvPr id="119" name="文本框 11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分季度重点工作回顾</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6" name="紫荆的职场Point1"/>
          <p:cNvCxnSpPr/>
          <p:nvPr/>
        </p:nvCxnSpPr>
        <p:spPr>
          <a:xfrm>
            <a:off x="3515080" y="1770201"/>
            <a:ext cx="0" cy="4465499"/>
          </a:xfrm>
          <a:prstGeom prst="line">
            <a:avLst/>
          </a:prstGeom>
          <a:ln w="12700">
            <a:solidFill>
              <a:srgbClr val="DCDCDC"/>
            </a:solidFill>
            <a:prstDash val="dash"/>
          </a:ln>
        </p:spPr>
        <p:style>
          <a:lnRef idx="2">
            <a:srgbClr val="0042FF"/>
          </a:lnRef>
          <a:fillRef idx="0">
            <a:srgbClr val="0042FF"/>
          </a:fillRef>
          <a:effectRef idx="1">
            <a:srgbClr val="0042FF"/>
          </a:effectRef>
          <a:fontRef idx="minor">
            <a:srgbClr val="383838"/>
          </a:fontRef>
        </p:style>
      </p:cxnSp>
      <p:cxnSp>
        <p:nvCxnSpPr>
          <p:cNvPr id="8" name="紫荆的职场Point2"/>
          <p:cNvCxnSpPr/>
          <p:nvPr/>
        </p:nvCxnSpPr>
        <p:spPr>
          <a:xfrm>
            <a:off x="6369760" y="1770201"/>
            <a:ext cx="0" cy="4465499"/>
          </a:xfrm>
          <a:prstGeom prst="line">
            <a:avLst/>
          </a:prstGeom>
          <a:ln w="12700">
            <a:solidFill>
              <a:srgbClr val="DCDCDC"/>
            </a:solidFill>
            <a:prstDash val="dash"/>
          </a:ln>
        </p:spPr>
        <p:style>
          <a:lnRef idx="2">
            <a:srgbClr val="0042FF"/>
          </a:lnRef>
          <a:fillRef idx="0">
            <a:srgbClr val="0042FF"/>
          </a:fillRef>
          <a:effectRef idx="1">
            <a:srgbClr val="0042FF"/>
          </a:effectRef>
          <a:fontRef idx="minor">
            <a:srgbClr val="383838"/>
          </a:fontRef>
        </p:style>
      </p:cxnSp>
      <p:cxnSp>
        <p:nvCxnSpPr>
          <p:cNvPr id="48" name="紫荆的职场Point3"/>
          <p:cNvCxnSpPr/>
          <p:nvPr/>
        </p:nvCxnSpPr>
        <p:spPr>
          <a:xfrm>
            <a:off x="9224439" y="1770201"/>
            <a:ext cx="0" cy="4465499"/>
          </a:xfrm>
          <a:prstGeom prst="line">
            <a:avLst/>
          </a:prstGeom>
          <a:ln w="12700">
            <a:solidFill>
              <a:srgbClr val="DCDCDC"/>
            </a:solidFill>
            <a:prstDash val="dash"/>
          </a:ln>
        </p:spPr>
        <p:style>
          <a:lnRef idx="2">
            <a:srgbClr val="0042FF"/>
          </a:lnRef>
          <a:fillRef idx="0">
            <a:srgbClr val="0042FF"/>
          </a:fillRef>
          <a:effectRef idx="1">
            <a:srgbClr val="0042FF"/>
          </a:effectRef>
          <a:fontRef idx="minor">
            <a:srgbClr val="383838"/>
          </a:fontRef>
        </p:style>
      </p:cxnSp>
      <p:cxnSp>
        <p:nvCxnSpPr>
          <p:cNvPr id="50" name="紫荆的职场Point4"/>
          <p:cNvCxnSpPr/>
          <p:nvPr/>
        </p:nvCxnSpPr>
        <p:spPr>
          <a:xfrm>
            <a:off x="660400" y="1770201"/>
            <a:ext cx="0" cy="4465499"/>
          </a:xfrm>
          <a:prstGeom prst="line">
            <a:avLst/>
          </a:prstGeom>
          <a:ln w="12700">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51" name="紫荆的职场Point6"/>
          <p:cNvSpPr/>
          <p:nvPr/>
        </p:nvSpPr>
        <p:spPr>
          <a:xfrm>
            <a:off x="330202" y="1028700"/>
            <a:ext cx="2970080" cy="828976"/>
          </a:xfrm>
          <a:custGeom>
            <a:avLst/>
            <a:gdLst>
              <a:gd name="connsiteX0" fmla="*/ 0 w 2970080"/>
              <a:gd name="connsiteY0" fmla="*/ 0 h 828976"/>
              <a:gd name="connsiteX1" fmla="*/ 2659641 w 2970080"/>
              <a:gd name="connsiteY1" fmla="*/ 0 h 828976"/>
              <a:gd name="connsiteX2" fmla="*/ 2970080 w 2970080"/>
              <a:gd name="connsiteY2" fmla="*/ 414488 h 828976"/>
              <a:gd name="connsiteX3" fmla="*/ 2659641 w 2970080"/>
              <a:gd name="connsiteY3" fmla="*/ 828976 h 828976"/>
              <a:gd name="connsiteX4" fmla="*/ 0 w 2970080"/>
              <a:gd name="connsiteY4" fmla="*/ 828976 h 828976"/>
              <a:gd name="connsiteX5" fmla="*/ 311057 w 2970080"/>
              <a:gd name="connsiteY5" fmla="*/ 414488 h 828976"/>
              <a:gd name="connsiteX6" fmla="*/ 0 w 2970080"/>
              <a:gd name="connsiteY6" fmla="*/ 0 h 82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0080" h="828976">
                <a:moveTo>
                  <a:pt x="0" y="0"/>
                </a:moveTo>
                <a:lnTo>
                  <a:pt x="2659641" y="0"/>
                </a:lnTo>
                <a:lnTo>
                  <a:pt x="2970080" y="414488"/>
                </a:lnTo>
                <a:lnTo>
                  <a:pt x="2659641" y="828976"/>
                </a:lnTo>
                <a:lnTo>
                  <a:pt x="0" y="828976"/>
                </a:lnTo>
                <a:lnTo>
                  <a:pt x="311057" y="414488"/>
                </a:lnTo>
                <a:lnTo>
                  <a:pt x="0" y="0"/>
                </a:lnTo>
                <a:close/>
              </a:path>
            </a:pathLst>
          </a:custGeom>
          <a:gradFill>
            <a:gsLst>
              <a:gs pos="0">
                <a:srgbClr val="3368FF"/>
              </a:gs>
              <a:gs pos="87000">
                <a:srgbClr val="0042FF"/>
              </a:gs>
            </a:gsLst>
            <a:lin ang="0" scaled="0"/>
          </a:gradFill>
          <a:ln w="19050" cap="flat">
            <a:solidFill>
              <a:srgbClr val="FFFFFF"/>
            </a:solidFill>
            <a:prstDash val="solid"/>
            <a:miter/>
          </a:ln>
        </p:spPr>
        <p:txBody>
          <a:bodyPr vert="horz" wrap="square" lIns="91440" tIns="45720" rIns="91440" bIns="45720"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endParaRPr lang="zh-CN" altLang="en-US" sz="1200" noProof="0" dirty="0">
              <a:ln>
                <a:noFill/>
              </a:ln>
              <a:solidFill>
                <a:srgbClr val="FFFFFF"/>
              </a:solidFill>
              <a:effectLst/>
              <a:uLnTx/>
              <a:uFillTx/>
              <a:latin typeface="微软雅黑"/>
              <a:ea typeface="微软雅黑"/>
              <a:cs typeface="微软雅黑"/>
              <a:sym typeface="微软雅黑"/>
            </a:endParaRPr>
          </a:p>
        </p:txBody>
      </p:sp>
      <p:sp>
        <p:nvSpPr>
          <p:cNvPr id="52" name="紫荆的职场Point7"/>
          <p:cNvSpPr/>
          <p:nvPr/>
        </p:nvSpPr>
        <p:spPr>
          <a:xfrm>
            <a:off x="3189516" y="1028700"/>
            <a:ext cx="2969370" cy="828976"/>
          </a:xfrm>
          <a:custGeom>
            <a:avLst/>
            <a:gdLst>
              <a:gd name="connsiteX0" fmla="*/ 0 w 2969370"/>
              <a:gd name="connsiteY0" fmla="*/ 0 h 828976"/>
              <a:gd name="connsiteX1" fmla="*/ 2658931 w 2969370"/>
              <a:gd name="connsiteY1" fmla="*/ 0 h 828976"/>
              <a:gd name="connsiteX2" fmla="*/ 2969370 w 2969370"/>
              <a:gd name="connsiteY2" fmla="*/ 414488 h 828976"/>
              <a:gd name="connsiteX3" fmla="*/ 2658931 w 2969370"/>
              <a:gd name="connsiteY3" fmla="*/ 828976 h 828976"/>
              <a:gd name="connsiteX4" fmla="*/ 0 w 2969370"/>
              <a:gd name="connsiteY4" fmla="*/ 828976 h 828976"/>
              <a:gd name="connsiteX5" fmla="*/ 310439 w 2969370"/>
              <a:gd name="connsiteY5" fmla="*/ 414488 h 828976"/>
              <a:gd name="connsiteX6" fmla="*/ 0 w 2969370"/>
              <a:gd name="connsiteY6" fmla="*/ 0 h 82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9370" h="828976">
                <a:moveTo>
                  <a:pt x="0" y="0"/>
                </a:moveTo>
                <a:lnTo>
                  <a:pt x="2658931" y="0"/>
                </a:lnTo>
                <a:lnTo>
                  <a:pt x="2969370" y="414488"/>
                </a:lnTo>
                <a:lnTo>
                  <a:pt x="2658931" y="828976"/>
                </a:lnTo>
                <a:lnTo>
                  <a:pt x="0" y="828976"/>
                </a:lnTo>
                <a:lnTo>
                  <a:pt x="310439" y="414488"/>
                </a:lnTo>
                <a:lnTo>
                  <a:pt x="0" y="0"/>
                </a:lnTo>
                <a:close/>
              </a:path>
            </a:pathLst>
          </a:custGeom>
          <a:gradFill>
            <a:gsLst>
              <a:gs pos="0">
                <a:srgbClr val="B3D4FE"/>
              </a:gs>
              <a:gs pos="87000">
                <a:srgbClr val="3368FF"/>
              </a:gs>
            </a:gsLst>
            <a:lin ang="0" scaled="0"/>
          </a:gradFill>
          <a:ln w="19050" cap="flat">
            <a:solidFill>
              <a:srgbClr val="FFFFFF"/>
            </a:solidFill>
            <a:prstDash val="solid"/>
            <a:miter/>
          </a:ln>
        </p:spPr>
        <p:txBody>
          <a:bodyPr spcFirstLastPara="0" wrap="square" lIns="91440" tIns="45720" rIns="91440" bIns="45720" rtlCol="0" anchor="ctr" anchorCtr="0">
            <a:noAutofit/>
          </a:bodyPr>
          <a:lstStyle/>
          <a:p>
            <a:pPr lvl="0" algn="ctr">
              <a:buClrTx/>
              <a:buSzTx/>
              <a:buFontTx/>
              <a:defRPr>
                <a:latin typeface="微软雅黑"/>
                <a:ea typeface="微软雅黑"/>
                <a:cs typeface="微软雅黑"/>
              </a:defRPr>
            </a:pPr>
            <a:endParaRPr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53" name="紫荆的职场Point8"/>
          <p:cNvSpPr/>
          <p:nvPr/>
        </p:nvSpPr>
        <p:spPr>
          <a:xfrm>
            <a:off x="6048120" y="1028700"/>
            <a:ext cx="2969370" cy="828976"/>
          </a:xfrm>
          <a:custGeom>
            <a:avLst/>
            <a:gdLst>
              <a:gd name="connsiteX0" fmla="*/ 0 w 2969370"/>
              <a:gd name="connsiteY0" fmla="*/ 0 h 828976"/>
              <a:gd name="connsiteX1" fmla="*/ 2658931 w 2969370"/>
              <a:gd name="connsiteY1" fmla="*/ 0 h 828976"/>
              <a:gd name="connsiteX2" fmla="*/ 2969370 w 2969370"/>
              <a:gd name="connsiteY2" fmla="*/ 414488 h 828976"/>
              <a:gd name="connsiteX3" fmla="*/ 2658931 w 2969370"/>
              <a:gd name="connsiteY3" fmla="*/ 828976 h 828976"/>
              <a:gd name="connsiteX4" fmla="*/ 0 w 2969370"/>
              <a:gd name="connsiteY4" fmla="*/ 828976 h 828976"/>
              <a:gd name="connsiteX5" fmla="*/ 310439 w 2969370"/>
              <a:gd name="connsiteY5" fmla="*/ 414488 h 828976"/>
              <a:gd name="connsiteX6" fmla="*/ 0 w 2969370"/>
              <a:gd name="connsiteY6" fmla="*/ 0 h 82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9370" h="828976">
                <a:moveTo>
                  <a:pt x="0" y="0"/>
                </a:moveTo>
                <a:lnTo>
                  <a:pt x="2658931" y="0"/>
                </a:lnTo>
                <a:lnTo>
                  <a:pt x="2969370" y="414488"/>
                </a:lnTo>
                <a:lnTo>
                  <a:pt x="2658931" y="828976"/>
                </a:lnTo>
                <a:lnTo>
                  <a:pt x="0" y="828976"/>
                </a:lnTo>
                <a:lnTo>
                  <a:pt x="310439" y="414488"/>
                </a:lnTo>
                <a:lnTo>
                  <a:pt x="0" y="0"/>
                </a:lnTo>
                <a:close/>
              </a:path>
            </a:pathLst>
          </a:custGeom>
          <a:gradFill>
            <a:gsLst>
              <a:gs pos="0">
                <a:srgbClr val="3368FF"/>
              </a:gs>
              <a:gs pos="87000">
                <a:srgbClr val="0042FF"/>
              </a:gs>
            </a:gsLst>
            <a:lin ang="0" scaled="0"/>
          </a:gradFill>
          <a:ln w="19050" cap="flat">
            <a:solidFill>
              <a:srgbClr val="FFFFFF"/>
            </a:solidFill>
            <a:prstDash val="solid"/>
            <a:miter/>
          </a:ln>
        </p:spPr>
        <p:txBody>
          <a:bodyPr vert="horz" wrap="square" lIns="91440" tIns="45720" rIns="91440" bIns="45720" numCol="1" spcCol="0" rtlCol="0" fromWordArt="0" anchor="ctr" anchorCtr="0" forceAA="0" compatLnSpc="0">
            <a:noAutofit/>
          </a:bodyPr>
          <a:lstStyle/>
          <a:p>
            <a:pPr lvl="0" algn="ctr">
              <a:buClrTx/>
              <a:buSzTx/>
              <a:buFontTx/>
              <a:defRPr>
                <a:solidFill>
                  <a:srgbClr val="FFFFFF"/>
                </a:solidFill>
                <a:latin typeface="微软雅黑"/>
                <a:ea typeface="微软雅黑"/>
                <a:cs typeface="微软雅黑"/>
              </a:defRPr>
            </a:pPr>
            <a:endParaRPr lang="zh-CN" altLang="en-US" sz="1200" noProof="0" dirty="0">
              <a:ln>
                <a:noFill/>
              </a:ln>
              <a:solidFill>
                <a:srgbClr val="FFFFFF"/>
              </a:solidFill>
              <a:effectLst/>
              <a:uLnTx/>
              <a:uFillTx/>
              <a:latin typeface="微软雅黑"/>
              <a:ea typeface="微软雅黑"/>
              <a:cs typeface="微软雅黑"/>
              <a:sym typeface="微软雅黑"/>
            </a:endParaRPr>
          </a:p>
        </p:txBody>
      </p:sp>
      <p:sp>
        <p:nvSpPr>
          <p:cNvPr id="54" name="紫荆的职场Point9"/>
          <p:cNvSpPr/>
          <p:nvPr/>
        </p:nvSpPr>
        <p:spPr>
          <a:xfrm>
            <a:off x="8906724" y="1028700"/>
            <a:ext cx="2972009" cy="828976"/>
          </a:xfrm>
          <a:custGeom>
            <a:avLst/>
            <a:gdLst>
              <a:gd name="connsiteX0" fmla="*/ 0 w 2972009"/>
              <a:gd name="connsiteY0" fmla="*/ 0 h 828976"/>
              <a:gd name="connsiteX1" fmla="*/ 2660952 w 2972009"/>
              <a:gd name="connsiteY1" fmla="*/ 0 h 828976"/>
              <a:gd name="connsiteX2" fmla="*/ 2972009 w 2972009"/>
              <a:gd name="connsiteY2" fmla="*/ 414488 h 828976"/>
              <a:gd name="connsiteX3" fmla="*/ 2660952 w 2972009"/>
              <a:gd name="connsiteY3" fmla="*/ 828976 h 828976"/>
              <a:gd name="connsiteX4" fmla="*/ 0 w 2972009"/>
              <a:gd name="connsiteY4" fmla="*/ 828976 h 828976"/>
              <a:gd name="connsiteX5" fmla="*/ 310439 w 2972009"/>
              <a:gd name="connsiteY5" fmla="*/ 414488 h 828976"/>
              <a:gd name="connsiteX6" fmla="*/ 0 w 2972009"/>
              <a:gd name="connsiteY6" fmla="*/ 0 h 82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2009" h="828976">
                <a:moveTo>
                  <a:pt x="0" y="0"/>
                </a:moveTo>
                <a:lnTo>
                  <a:pt x="2660952" y="0"/>
                </a:lnTo>
                <a:lnTo>
                  <a:pt x="2972009" y="414488"/>
                </a:lnTo>
                <a:lnTo>
                  <a:pt x="2660952" y="828976"/>
                </a:lnTo>
                <a:lnTo>
                  <a:pt x="0" y="828976"/>
                </a:lnTo>
                <a:lnTo>
                  <a:pt x="310439" y="414488"/>
                </a:lnTo>
                <a:lnTo>
                  <a:pt x="0" y="0"/>
                </a:lnTo>
                <a:close/>
              </a:path>
            </a:pathLst>
          </a:custGeom>
          <a:gradFill>
            <a:gsLst>
              <a:gs pos="0">
                <a:srgbClr val="B3D4FE"/>
              </a:gs>
              <a:gs pos="87000">
                <a:srgbClr val="3368FF"/>
              </a:gs>
            </a:gsLst>
            <a:lin ang="0" scaled="0"/>
          </a:gradFill>
          <a:ln w="19050" cap="flat">
            <a:solidFill>
              <a:srgbClr val="FFFFFF"/>
            </a:solidFill>
            <a:prstDash val="solid"/>
            <a:miter/>
          </a:ln>
        </p:spPr>
        <p:txBody>
          <a:bodyPr spcFirstLastPara="0" vert="horz" wrap="square" lIns="91440" tIns="45720" rIns="91440" bIns="45720" numCol="1" spcCol="0" rtlCol="0" fromWordArt="0" anchor="ctr" anchorCtr="0" forceAA="0" compatLnSpc="0">
            <a:noAutofit/>
          </a:bodyPr>
          <a:lstStyle/>
          <a:p>
            <a:pPr lvl="0" algn="ctr">
              <a:buClrTx/>
              <a:buSzTx/>
              <a:buFontTx/>
              <a:defRPr>
                <a:latin typeface="微软雅黑"/>
                <a:ea typeface="微软雅黑"/>
                <a:cs typeface="微软雅黑"/>
              </a:defRPr>
            </a:pPr>
            <a:endParaRPr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55" name="紫荆的职场Point10"/>
          <p:cNvSpPr txBox="1"/>
          <p:nvPr/>
        </p:nvSpPr>
        <p:spPr>
          <a:xfrm>
            <a:off x="809402" y="1147596"/>
            <a:ext cx="2011680" cy="591185"/>
          </a:xfrm>
          <a:prstGeom prst="rect">
            <a:avLst/>
          </a:prstGeom>
          <a:noFill/>
        </p:spPr>
        <p:txBody>
          <a:bodyPr wrap="none" lIns="0" rIns="0" tIns="0" bIns="0">
            <a:spAutoFit/>
          </a:bodyPr>
          <a:lstStyle/>
          <a:p>
            <a:pPr algn="ctr">
              <a:spcAft>
                <a:spcPts val="300"/>
              </a:spcAft>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第一季度工作重点</a:t>
            </a:r>
            <a:endParaRPr lang="en-US" altLang="zh-CN" b="1" dirty="0">
              <a:solidFill>
                <a:srgbClr val="FFFFFF"/>
              </a:solidFill>
              <a:latin typeface="微软雅黑"/>
              <a:ea typeface="微软雅黑"/>
              <a:cs typeface="微软雅黑"/>
            </a:endParaRPr>
          </a:p>
          <a:p>
            <a:pPr algn="ctr">
              <a:spcAft>
                <a:spcPts val="300"/>
              </a:spcAft>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2026</a:t>
            </a:r>
            <a:r>
              <a:rPr lang="zh-CN" altLang="en-US" sz="1200" dirty="0">
                <a:solidFill>
                  <a:srgbClr val="FFFFFF"/>
                </a:solidFill>
                <a:latin typeface="微软雅黑"/>
                <a:ea typeface="微软雅黑"/>
                <a:cs typeface="微软雅黑"/>
              </a:rPr>
              <a:t>年</a:t>
            </a:r>
            <a:r>
              <a:rPr lang="en-US" altLang="zh-CN" sz="1200" dirty="0">
                <a:solidFill>
                  <a:srgbClr val="FFFFFF"/>
                </a:solidFill>
                <a:latin typeface="微软雅黑"/>
                <a:ea typeface="微软雅黑"/>
                <a:cs typeface="微软雅黑"/>
              </a:rPr>
              <a:t>1</a:t>
            </a:r>
            <a:r>
              <a:rPr lang="zh-CN" altLang="en-US" sz="1200" dirty="0">
                <a:solidFill>
                  <a:srgbClr val="FFFFFF"/>
                </a:solidFill>
                <a:latin typeface="微软雅黑"/>
                <a:ea typeface="微软雅黑"/>
                <a:cs typeface="微软雅黑"/>
              </a:rPr>
              <a:t>月</a:t>
            </a:r>
            <a:r>
              <a:rPr lang="en-US" altLang="zh-CN" sz="1200" dirty="0">
                <a:solidFill>
                  <a:srgbClr val="FFFFFF"/>
                </a:solidFill>
                <a:latin typeface="微软雅黑"/>
                <a:ea typeface="微软雅黑"/>
                <a:cs typeface="微软雅黑"/>
              </a:rPr>
              <a:t>-2026</a:t>
            </a:r>
            <a:r>
              <a:rPr lang="zh-CN" altLang="en-US" sz="1200" dirty="0">
                <a:solidFill>
                  <a:srgbClr val="FFFFFF"/>
                </a:solidFill>
                <a:latin typeface="微软雅黑"/>
                <a:ea typeface="微软雅黑"/>
                <a:cs typeface="微软雅黑"/>
              </a:rPr>
              <a:t>年</a:t>
            </a:r>
            <a:r>
              <a:rPr lang="en-US" altLang="zh-CN" sz="1200" dirty="0">
                <a:solidFill>
                  <a:srgbClr val="FFFFFF"/>
                </a:solidFill>
                <a:latin typeface="微软雅黑"/>
                <a:ea typeface="微软雅黑"/>
                <a:cs typeface="微软雅黑"/>
              </a:rPr>
              <a:t>3</a:t>
            </a:r>
            <a:r>
              <a:rPr lang="zh-CN" altLang="en-US" sz="1200" dirty="0">
                <a:solidFill>
                  <a:srgbClr val="FFFFFF"/>
                </a:solidFill>
                <a:latin typeface="微软雅黑"/>
                <a:ea typeface="微软雅黑"/>
                <a:cs typeface="微软雅黑"/>
              </a:rPr>
              <a:t>月</a:t>
            </a:r>
            <a:endParaRPr lang="zh-CN" altLang="en-US" sz="1200" dirty="0">
              <a:solidFill>
                <a:srgbClr val="FFFFFF"/>
              </a:solidFill>
              <a:latin typeface="微软雅黑"/>
              <a:ea typeface="微软雅黑"/>
              <a:cs typeface="微软雅黑"/>
            </a:endParaRPr>
          </a:p>
        </p:txBody>
      </p:sp>
      <p:sp>
        <p:nvSpPr>
          <p:cNvPr id="56" name="紫荆的职场Point11"/>
          <p:cNvSpPr txBox="1"/>
          <p:nvPr/>
        </p:nvSpPr>
        <p:spPr>
          <a:xfrm>
            <a:off x="3668361" y="1147596"/>
            <a:ext cx="2011680" cy="591185"/>
          </a:xfrm>
          <a:prstGeom prst="rect">
            <a:avLst/>
          </a:prstGeom>
          <a:noFill/>
        </p:spPr>
        <p:txBody>
          <a:bodyPr wrap="none" lIns="0" rIns="0" tIns="0" bIns="0">
            <a:spAutoFit/>
          </a:bodyPr>
          <a:lstStyle/>
          <a:p>
            <a:pPr algn="ctr">
              <a:spcAft>
                <a:spcPts val="300"/>
              </a:spcAft>
              <a:defRPr>
                <a:latin typeface="微软雅黑"/>
                <a:ea typeface="微软雅黑"/>
                <a:cs typeface="微软雅黑"/>
              </a:defRPr>
            </a:pPr>
            <a:r>
              <a:rPr lang="zh-CN" altLang="en-US" b="1" dirty="0">
                <a:solidFill>
                  <a:srgbClr val="383838"/>
                </a:solidFill>
                <a:latin typeface="微软雅黑"/>
                <a:ea typeface="微软雅黑"/>
                <a:cs typeface="微软雅黑"/>
              </a:rPr>
              <a:t>第二季度工作重点</a:t>
            </a:r>
            <a:endParaRPr lang="en-US" altLang="zh-CN" b="1" dirty="0">
              <a:solidFill>
                <a:srgbClr val="383838"/>
              </a:solidFill>
              <a:latin typeface="微软雅黑"/>
              <a:ea typeface="微软雅黑"/>
              <a:cs typeface="微软雅黑"/>
            </a:endParaRPr>
          </a:p>
          <a:p>
            <a:pPr algn="ctr">
              <a:spcAft>
                <a:spcPts val="300"/>
              </a:spcAft>
              <a:defRPr>
                <a:latin typeface="微软雅黑"/>
                <a:ea typeface="微软雅黑"/>
                <a:cs typeface="微软雅黑"/>
              </a:defRPr>
            </a:pPr>
            <a:r>
              <a:rPr lang="en-US" altLang="zh-CN" sz="1200" dirty="0">
                <a:solidFill>
                  <a:srgbClr val="383838"/>
                </a:solidFill>
                <a:latin typeface="微软雅黑"/>
                <a:ea typeface="微软雅黑"/>
                <a:cs typeface="微软雅黑"/>
              </a:rPr>
              <a:t>2026</a:t>
            </a:r>
            <a:r>
              <a:rPr lang="zh-CN" altLang="en-US" sz="1200" dirty="0">
                <a:solidFill>
                  <a:srgbClr val="383838"/>
                </a:solidFill>
                <a:latin typeface="微软雅黑"/>
                <a:ea typeface="微软雅黑"/>
                <a:cs typeface="微软雅黑"/>
              </a:rPr>
              <a:t>年</a:t>
            </a:r>
            <a:r>
              <a:rPr lang="en-US" altLang="zh-CN" sz="1200" dirty="0">
                <a:solidFill>
                  <a:srgbClr val="383838"/>
                </a:solidFill>
                <a:latin typeface="微软雅黑"/>
                <a:ea typeface="微软雅黑"/>
                <a:cs typeface="微软雅黑"/>
              </a:rPr>
              <a:t>4</a:t>
            </a:r>
            <a:r>
              <a:rPr lang="zh-CN" altLang="en-US" sz="1200" dirty="0">
                <a:solidFill>
                  <a:srgbClr val="383838"/>
                </a:solidFill>
                <a:latin typeface="微软雅黑"/>
                <a:ea typeface="微软雅黑"/>
                <a:cs typeface="微软雅黑"/>
              </a:rPr>
              <a:t>月</a:t>
            </a:r>
            <a:r>
              <a:rPr lang="en-US" altLang="zh-CN" sz="1200" dirty="0">
                <a:solidFill>
                  <a:srgbClr val="383838"/>
                </a:solidFill>
                <a:latin typeface="微软雅黑"/>
                <a:ea typeface="微软雅黑"/>
                <a:cs typeface="微软雅黑"/>
              </a:rPr>
              <a:t>-2026</a:t>
            </a:r>
            <a:r>
              <a:rPr lang="zh-CN" altLang="en-US" sz="1200" dirty="0">
                <a:solidFill>
                  <a:srgbClr val="383838"/>
                </a:solidFill>
                <a:latin typeface="微软雅黑"/>
                <a:ea typeface="微软雅黑"/>
                <a:cs typeface="微软雅黑"/>
              </a:rPr>
              <a:t>年</a:t>
            </a:r>
            <a:r>
              <a:rPr lang="en-US" altLang="zh-CN" sz="1200" dirty="0">
                <a:solidFill>
                  <a:srgbClr val="383838"/>
                </a:solidFill>
                <a:latin typeface="微软雅黑"/>
                <a:ea typeface="微软雅黑"/>
                <a:cs typeface="微软雅黑"/>
              </a:rPr>
              <a:t>6</a:t>
            </a:r>
            <a:r>
              <a:rPr lang="zh-CN" altLang="en-US" sz="1200" dirty="0">
                <a:solidFill>
                  <a:srgbClr val="383838"/>
                </a:solidFill>
                <a:latin typeface="微软雅黑"/>
                <a:ea typeface="微软雅黑"/>
                <a:cs typeface="微软雅黑"/>
              </a:rPr>
              <a:t>月</a:t>
            </a:r>
            <a:endParaRPr lang="zh-CN" altLang="en-US" sz="1200" dirty="0">
              <a:solidFill>
                <a:srgbClr val="383838"/>
              </a:solidFill>
              <a:latin typeface="微软雅黑"/>
              <a:ea typeface="微软雅黑"/>
              <a:cs typeface="微软雅黑"/>
            </a:endParaRPr>
          </a:p>
        </p:txBody>
      </p:sp>
      <p:sp>
        <p:nvSpPr>
          <p:cNvPr id="57" name="紫荆的职场Point12"/>
          <p:cNvSpPr txBox="1"/>
          <p:nvPr/>
        </p:nvSpPr>
        <p:spPr>
          <a:xfrm>
            <a:off x="6526965" y="1147596"/>
            <a:ext cx="2011680" cy="591185"/>
          </a:xfrm>
          <a:prstGeom prst="rect">
            <a:avLst/>
          </a:prstGeom>
          <a:noFill/>
        </p:spPr>
        <p:txBody>
          <a:bodyPr wrap="none" lIns="0" rIns="0" tIns="0" bIns="0">
            <a:spAutoFit/>
          </a:bodyPr>
          <a:lstStyle/>
          <a:p>
            <a:pPr algn="ctr">
              <a:spcAft>
                <a:spcPts val="300"/>
              </a:spcAft>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rPr>
              <a:t>第三季度工作重点</a:t>
            </a:r>
            <a:endParaRPr lang="en-US" altLang="zh-CN" sz="2000" b="1" dirty="0">
              <a:solidFill>
                <a:srgbClr val="FFFFFF"/>
              </a:solidFill>
              <a:latin typeface="微软雅黑"/>
              <a:ea typeface="微软雅黑"/>
              <a:cs typeface="微软雅黑"/>
            </a:endParaRPr>
          </a:p>
          <a:p>
            <a:pPr algn="ctr">
              <a:spcAft>
                <a:spcPts val="300"/>
              </a:spcAft>
              <a:defRPr>
                <a:solidFill>
                  <a:srgbClr val="FFFFFF"/>
                </a:solidFill>
                <a:latin typeface="微软雅黑"/>
                <a:ea typeface="微软雅黑"/>
                <a:cs typeface="微软雅黑"/>
              </a:defRPr>
            </a:pPr>
            <a:r>
              <a:rPr lang="en-US" altLang="zh-CN" sz="1200" dirty="0">
                <a:solidFill>
                  <a:srgbClr val="FFFFFF"/>
                </a:solidFill>
                <a:latin typeface="微软雅黑"/>
                <a:ea typeface="微软雅黑"/>
                <a:cs typeface="微软雅黑"/>
              </a:rPr>
              <a:t>2026</a:t>
            </a:r>
            <a:r>
              <a:rPr lang="zh-CN" altLang="en-US" sz="1200" dirty="0">
                <a:solidFill>
                  <a:srgbClr val="FFFFFF"/>
                </a:solidFill>
                <a:latin typeface="微软雅黑"/>
                <a:ea typeface="微软雅黑"/>
                <a:cs typeface="微软雅黑"/>
              </a:rPr>
              <a:t>年</a:t>
            </a:r>
            <a:r>
              <a:rPr lang="en-US" altLang="zh-CN" sz="1200" dirty="0">
                <a:solidFill>
                  <a:srgbClr val="FFFFFF"/>
                </a:solidFill>
                <a:latin typeface="微软雅黑"/>
                <a:ea typeface="微软雅黑"/>
                <a:cs typeface="微软雅黑"/>
              </a:rPr>
              <a:t>7</a:t>
            </a:r>
            <a:r>
              <a:rPr lang="zh-CN" altLang="en-US" sz="1200" dirty="0">
                <a:solidFill>
                  <a:srgbClr val="FFFFFF"/>
                </a:solidFill>
                <a:latin typeface="微软雅黑"/>
                <a:ea typeface="微软雅黑"/>
                <a:cs typeface="微软雅黑"/>
              </a:rPr>
              <a:t>月</a:t>
            </a:r>
            <a:r>
              <a:rPr lang="en-US" altLang="zh-CN" sz="1200" dirty="0">
                <a:solidFill>
                  <a:srgbClr val="FFFFFF"/>
                </a:solidFill>
                <a:latin typeface="微软雅黑"/>
                <a:ea typeface="微软雅黑"/>
                <a:cs typeface="微软雅黑"/>
              </a:rPr>
              <a:t>-2026</a:t>
            </a:r>
            <a:r>
              <a:rPr lang="zh-CN" altLang="en-US" sz="1200" dirty="0">
                <a:solidFill>
                  <a:srgbClr val="FFFFFF"/>
                </a:solidFill>
                <a:latin typeface="微软雅黑"/>
                <a:ea typeface="微软雅黑"/>
                <a:cs typeface="微软雅黑"/>
              </a:rPr>
              <a:t>年</a:t>
            </a:r>
            <a:r>
              <a:rPr lang="en-US" altLang="zh-CN" sz="1200" dirty="0">
                <a:solidFill>
                  <a:srgbClr val="FFFFFF"/>
                </a:solidFill>
                <a:latin typeface="微软雅黑"/>
                <a:ea typeface="微软雅黑"/>
                <a:cs typeface="微软雅黑"/>
              </a:rPr>
              <a:t>9</a:t>
            </a:r>
            <a:r>
              <a:rPr lang="zh-CN" altLang="en-US" sz="1200" dirty="0">
                <a:solidFill>
                  <a:srgbClr val="FFFFFF"/>
                </a:solidFill>
                <a:latin typeface="微软雅黑"/>
                <a:ea typeface="微软雅黑"/>
                <a:cs typeface="微软雅黑"/>
              </a:rPr>
              <a:t>月</a:t>
            </a:r>
            <a:endParaRPr lang="zh-CN" altLang="en-US" sz="1200" dirty="0">
              <a:solidFill>
                <a:srgbClr val="FFFFFF"/>
              </a:solidFill>
              <a:latin typeface="微软雅黑"/>
              <a:ea typeface="微软雅黑"/>
              <a:cs typeface="微软雅黑"/>
            </a:endParaRPr>
          </a:p>
        </p:txBody>
      </p:sp>
      <p:sp>
        <p:nvSpPr>
          <p:cNvPr id="58" name="紫荆的职场Point13"/>
          <p:cNvSpPr txBox="1"/>
          <p:nvPr/>
        </p:nvSpPr>
        <p:spPr>
          <a:xfrm>
            <a:off x="9386889" y="1147596"/>
            <a:ext cx="2011680" cy="591185"/>
          </a:xfrm>
          <a:prstGeom prst="rect">
            <a:avLst/>
          </a:prstGeom>
          <a:noFill/>
        </p:spPr>
        <p:txBody>
          <a:bodyPr wrap="none" lIns="0" rIns="0" tIns="0" bIns="0">
            <a:spAutoFit/>
          </a:bodyPr>
          <a:lstStyle/>
          <a:p>
            <a:pPr algn="ctr">
              <a:spcAft>
                <a:spcPts val="300"/>
              </a:spcAft>
              <a:defRPr>
                <a:latin typeface="微软雅黑"/>
                <a:ea typeface="微软雅黑"/>
                <a:cs typeface="微软雅黑"/>
              </a:defRPr>
            </a:pPr>
            <a:r>
              <a:rPr lang="zh-CN" altLang="en-US" b="1" dirty="0">
                <a:solidFill>
                  <a:srgbClr val="383838"/>
                </a:solidFill>
                <a:latin typeface="微软雅黑"/>
                <a:ea typeface="微软雅黑"/>
                <a:cs typeface="微软雅黑"/>
              </a:rPr>
              <a:t>第四季度工作重点</a:t>
            </a:r>
            <a:endParaRPr lang="en-US" altLang="zh-CN" b="1" dirty="0">
              <a:solidFill>
                <a:srgbClr val="383838"/>
              </a:solidFill>
              <a:latin typeface="微软雅黑"/>
              <a:ea typeface="微软雅黑"/>
              <a:cs typeface="微软雅黑"/>
            </a:endParaRPr>
          </a:p>
          <a:p>
            <a:pPr algn="ctr">
              <a:spcAft>
                <a:spcPts val="300"/>
              </a:spcAft>
              <a:defRPr>
                <a:latin typeface="微软雅黑"/>
                <a:ea typeface="微软雅黑"/>
                <a:cs typeface="微软雅黑"/>
              </a:defRPr>
            </a:pPr>
            <a:r>
              <a:rPr lang="en-US" altLang="zh-CN" sz="1200" dirty="0">
                <a:solidFill>
                  <a:srgbClr val="383838"/>
                </a:solidFill>
                <a:latin typeface="微软雅黑"/>
                <a:ea typeface="微软雅黑"/>
                <a:cs typeface="微软雅黑"/>
              </a:rPr>
              <a:t>2026</a:t>
            </a:r>
            <a:r>
              <a:rPr lang="zh-CN" altLang="en-US" sz="1200" dirty="0">
                <a:solidFill>
                  <a:srgbClr val="383838"/>
                </a:solidFill>
                <a:latin typeface="微软雅黑"/>
                <a:ea typeface="微软雅黑"/>
                <a:cs typeface="微软雅黑"/>
              </a:rPr>
              <a:t>年</a:t>
            </a:r>
            <a:r>
              <a:rPr lang="en-US" altLang="zh-CN" sz="1200" dirty="0">
                <a:solidFill>
                  <a:srgbClr val="383838"/>
                </a:solidFill>
                <a:latin typeface="微软雅黑"/>
                <a:ea typeface="微软雅黑"/>
                <a:cs typeface="微软雅黑"/>
              </a:rPr>
              <a:t>10</a:t>
            </a:r>
            <a:r>
              <a:rPr lang="zh-CN" altLang="en-US" sz="1200" dirty="0">
                <a:solidFill>
                  <a:srgbClr val="383838"/>
                </a:solidFill>
                <a:latin typeface="微软雅黑"/>
                <a:ea typeface="微软雅黑"/>
                <a:cs typeface="微软雅黑"/>
              </a:rPr>
              <a:t>月</a:t>
            </a:r>
            <a:r>
              <a:rPr lang="en-US" altLang="zh-CN" sz="1200" dirty="0">
                <a:solidFill>
                  <a:srgbClr val="383838"/>
                </a:solidFill>
                <a:latin typeface="微软雅黑"/>
                <a:ea typeface="微软雅黑"/>
                <a:cs typeface="微软雅黑"/>
              </a:rPr>
              <a:t>-2026</a:t>
            </a:r>
            <a:r>
              <a:rPr lang="zh-CN" altLang="en-US" sz="1200" dirty="0">
                <a:solidFill>
                  <a:srgbClr val="383838"/>
                </a:solidFill>
                <a:latin typeface="微软雅黑"/>
                <a:ea typeface="微软雅黑"/>
                <a:cs typeface="微软雅黑"/>
              </a:rPr>
              <a:t>年</a:t>
            </a:r>
            <a:r>
              <a:rPr lang="en-US" altLang="zh-CN" sz="1200" dirty="0">
                <a:solidFill>
                  <a:srgbClr val="383838"/>
                </a:solidFill>
                <a:latin typeface="微软雅黑"/>
                <a:ea typeface="微软雅黑"/>
                <a:cs typeface="微软雅黑"/>
              </a:rPr>
              <a:t>12</a:t>
            </a:r>
            <a:r>
              <a:rPr lang="zh-CN" altLang="en-US" sz="1200" dirty="0">
                <a:solidFill>
                  <a:srgbClr val="383838"/>
                </a:solidFill>
                <a:latin typeface="微软雅黑"/>
                <a:ea typeface="微软雅黑"/>
                <a:cs typeface="微软雅黑"/>
              </a:rPr>
              <a:t>月</a:t>
            </a:r>
            <a:endParaRPr lang="zh-CN" altLang="en-US" sz="1200" dirty="0">
              <a:solidFill>
                <a:srgbClr val="383838"/>
              </a:solidFill>
              <a:latin typeface="微软雅黑"/>
              <a:ea typeface="微软雅黑"/>
              <a:cs typeface="微软雅黑"/>
            </a:endParaRPr>
          </a:p>
        </p:txBody>
      </p:sp>
      <p:cxnSp>
        <p:nvCxnSpPr>
          <p:cNvPr id="59" name="紫荆的职场Point14"/>
          <p:cNvCxnSpPr/>
          <p:nvPr/>
        </p:nvCxnSpPr>
        <p:spPr>
          <a:xfrm>
            <a:off x="660400" y="2882349"/>
            <a:ext cx="11127409" cy="0"/>
          </a:xfrm>
          <a:prstGeom prst="line">
            <a:avLst/>
          </a:prstGeom>
          <a:ln w="12700">
            <a:solidFill>
              <a:srgbClr val="DCDCDC"/>
            </a:solidFill>
            <a:prstDash val="dash"/>
          </a:ln>
        </p:spPr>
        <p:style>
          <a:lnRef idx="2">
            <a:srgbClr val="0042FF"/>
          </a:lnRef>
          <a:fillRef idx="0">
            <a:srgbClr val="0042FF"/>
          </a:fillRef>
          <a:effectRef idx="1">
            <a:srgbClr val="0042FF"/>
          </a:effectRef>
          <a:fontRef idx="minor">
            <a:srgbClr val="383838"/>
          </a:fontRef>
        </p:style>
      </p:cxnSp>
      <p:cxnSp>
        <p:nvCxnSpPr>
          <p:cNvPr id="61" name="紫荆的职场Point15"/>
          <p:cNvCxnSpPr/>
          <p:nvPr/>
        </p:nvCxnSpPr>
        <p:spPr>
          <a:xfrm>
            <a:off x="660400" y="4000133"/>
            <a:ext cx="11127409" cy="0"/>
          </a:xfrm>
          <a:prstGeom prst="line">
            <a:avLst/>
          </a:prstGeom>
          <a:ln w="12700">
            <a:solidFill>
              <a:srgbClr val="DCDCDC"/>
            </a:solidFill>
            <a:prstDash val="dash"/>
          </a:ln>
        </p:spPr>
        <p:style>
          <a:lnRef idx="2">
            <a:srgbClr val="0042FF"/>
          </a:lnRef>
          <a:fillRef idx="0">
            <a:srgbClr val="0042FF"/>
          </a:fillRef>
          <a:effectRef idx="1">
            <a:srgbClr val="0042FF"/>
          </a:effectRef>
          <a:fontRef idx="minor">
            <a:srgbClr val="383838"/>
          </a:fontRef>
        </p:style>
      </p:cxnSp>
      <p:cxnSp>
        <p:nvCxnSpPr>
          <p:cNvPr id="62" name="紫荆的职场Point16"/>
          <p:cNvCxnSpPr/>
          <p:nvPr/>
        </p:nvCxnSpPr>
        <p:spPr>
          <a:xfrm>
            <a:off x="660400" y="5117917"/>
            <a:ext cx="11127409" cy="0"/>
          </a:xfrm>
          <a:prstGeom prst="line">
            <a:avLst/>
          </a:prstGeom>
          <a:ln w="12700">
            <a:solidFill>
              <a:srgbClr val="DCDCDC"/>
            </a:solidFill>
            <a:prstDash val="dash"/>
          </a:ln>
        </p:spPr>
        <p:style>
          <a:lnRef idx="2">
            <a:srgbClr val="0042FF"/>
          </a:lnRef>
          <a:fillRef idx="0">
            <a:srgbClr val="0042FF"/>
          </a:fillRef>
          <a:effectRef idx="1">
            <a:srgbClr val="0042FF"/>
          </a:effectRef>
          <a:fontRef idx="minor">
            <a:srgbClr val="383838"/>
          </a:fontRef>
        </p:style>
      </p:cxnSp>
      <p:cxnSp>
        <p:nvCxnSpPr>
          <p:cNvPr id="64" name="紫荆的职场Point17"/>
          <p:cNvCxnSpPr/>
          <p:nvPr/>
        </p:nvCxnSpPr>
        <p:spPr>
          <a:xfrm>
            <a:off x="182880" y="6235700"/>
            <a:ext cx="11604929" cy="0"/>
          </a:xfrm>
          <a:prstGeom prst="line">
            <a:avLst/>
          </a:prstGeom>
          <a:noFill/>
          <a:ln w="41275">
            <a:gradFill flip="none" rotWithShape="1">
              <a:gsLst>
                <a:gs pos="46000">
                  <a:srgbClr val="0042FF"/>
                </a:gs>
                <a:gs pos="100000">
                  <a:srgbClr val="0042FF">
                    <a:alpha val="0"/>
                  </a:srgbClr>
                </a:gs>
              </a:gsLst>
              <a:lin ang="10800000" scaled="1"/>
              <a:tileRect/>
            </a:gradFill>
            <a:tailEnd type="arrow" w="med" len="sm"/>
          </a:ln>
          <a:effectLst/>
        </p:spPr>
        <p:style>
          <a:lnRef idx="2">
            <a:srgbClr val="0042FF"/>
          </a:lnRef>
          <a:fillRef idx="1">
            <a:srgbClr val="0042FF"/>
          </a:fillRef>
          <a:effectRef idx="0">
            <a:srgbClr val="0042FF"/>
          </a:effectRef>
          <a:fontRef idx="minor">
            <a:srgbClr val="FFFFFF"/>
          </a:fontRef>
        </p:style>
      </p:cxnSp>
      <p:sp>
        <p:nvSpPr>
          <p:cNvPr id="65" name="紫荆的职场Point18"/>
          <p:cNvSpPr>
            <a:spLocks noChangeAspect="1"/>
          </p:cNvSpPr>
          <p:nvPr/>
        </p:nvSpPr>
        <p:spPr>
          <a:xfrm>
            <a:off x="573509" y="2239007"/>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66" name="紫荆的职场Point19"/>
          <p:cNvSpPr>
            <a:spLocks noChangeAspect="1"/>
          </p:cNvSpPr>
          <p:nvPr/>
        </p:nvSpPr>
        <p:spPr>
          <a:xfrm>
            <a:off x="573509" y="3345692"/>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1" name="紫荆的职场Point21"/>
          <p:cNvSpPr>
            <a:spLocks noChangeAspect="1"/>
          </p:cNvSpPr>
          <p:nvPr/>
        </p:nvSpPr>
        <p:spPr>
          <a:xfrm>
            <a:off x="573509" y="5559062"/>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2" name="紫荆的职场Point22"/>
          <p:cNvSpPr>
            <a:spLocks noChangeAspect="1"/>
          </p:cNvSpPr>
          <p:nvPr/>
        </p:nvSpPr>
        <p:spPr>
          <a:xfrm>
            <a:off x="3425079" y="2239007"/>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3" name="紫荆的职场Point23"/>
          <p:cNvSpPr>
            <a:spLocks noChangeAspect="1"/>
          </p:cNvSpPr>
          <p:nvPr/>
        </p:nvSpPr>
        <p:spPr>
          <a:xfrm>
            <a:off x="3425079" y="3345692"/>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4" name="紫荆的职场Point24"/>
          <p:cNvSpPr>
            <a:spLocks noChangeAspect="1"/>
          </p:cNvSpPr>
          <p:nvPr/>
        </p:nvSpPr>
        <p:spPr>
          <a:xfrm>
            <a:off x="3425079" y="4452377"/>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5" name="紫荆的职场Point25"/>
          <p:cNvSpPr>
            <a:spLocks noChangeAspect="1"/>
          </p:cNvSpPr>
          <p:nvPr/>
        </p:nvSpPr>
        <p:spPr>
          <a:xfrm>
            <a:off x="3425079" y="5559062"/>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6" name="紫荆的职场Point26"/>
          <p:cNvSpPr>
            <a:spLocks noChangeAspect="1"/>
          </p:cNvSpPr>
          <p:nvPr/>
        </p:nvSpPr>
        <p:spPr>
          <a:xfrm>
            <a:off x="6276649" y="2239007"/>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7" name="紫荆的职场Point27"/>
          <p:cNvSpPr>
            <a:spLocks noChangeAspect="1"/>
          </p:cNvSpPr>
          <p:nvPr/>
        </p:nvSpPr>
        <p:spPr>
          <a:xfrm>
            <a:off x="6276649" y="3345692"/>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78" name="紫荆的职场Point28"/>
          <p:cNvSpPr>
            <a:spLocks noChangeAspect="1"/>
          </p:cNvSpPr>
          <p:nvPr/>
        </p:nvSpPr>
        <p:spPr>
          <a:xfrm>
            <a:off x="6276649" y="4452377"/>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80" name="紫荆的职场Point30"/>
          <p:cNvSpPr>
            <a:spLocks noChangeAspect="1"/>
          </p:cNvSpPr>
          <p:nvPr/>
        </p:nvSpPr>
        <p:spPr>
          <a:xfrm>
            <a:off x="9128219" y="2239007"/>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81" name="紫荆的职场Point31"/>
          <p:cNvSpPr>
            <a:spLocks noChangeAspect="1"/>
          </p:cNvSpPr>
          <p:nvPr/>
        </p:nvSpPr>
        <p:spPr>
          <a:xfrm>
            <a:off x="9128219" y="3345692"/>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82" name="紫荆的职场Point32"/>
          <p:cNvSpPr>
            <a:spLocks noChangeAspect="1"/>
          </p:cNvSpPr>
          <p:nvPr/>
        </p:nvSpPr>
        <p:spPr>
          <a:xfrm>
            <a:off x="9128219" y="4452377"/>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83" name="紫荆的职场Point33"/>
          <p:cNvSpPr>
            <a:spLocks noChangeAspect="1"/>
          </p:cNvSpPr>
          <p:nvPr/>
        </p:nvSpPr>
        <p:spPr>
          <a:xfrm>
            <a:off x="9128219" y="5559062"/>
            <a:ext cx="180000" cy="180000"/>
          </a:xfrm>
          <a:prstGeom prst="ellipse">
            <a:avLst/>
          </a:prstGeom>
          <a:gradFill flip="none" rotWithShape="1">
            <a:gsLst>
              <a:gs pos="80000">
                <a:srgbClr val="3368FF"/>
              </a:gs>
              <a:gs pos="20000">
                <a:srgbClr val="B3D4FE"/>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154" name="紫荆的职场Point23"/>
          <p:cNvSpPr>
            <a:spLocks noChangeAspect="1"/>
          </p:cNvSpPr>
          <p:nvPr/>
        </p:nvSpPr>
        <p:spPr>
          <a:xfrm>
            <a:off x="554244" y="4452497"/>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sp>
        <p:nvSpPr>
          <p:cNvPr id="155" name="紫荆的职场Point23"/>
          <p:cNvSpPr>
            <a:spLocks noChangeAspect="1"/>
          </p:cNvSpPr>
          <p:nvPr/>
        </p:nvSpPr>
        <p:spPr>
          <a:xfrm>
            <a:off x="6276864" y="5559937"/>
            <a:ext cx="180000" cy="180000"/>
          </a:xfrm>
          <a:prstGeom prst="ellipse">
            <a:avLst/>
          </a:prstGeom>
          <a:gradFill flip="none" rotWithShape="1">
            <a:gsLst>
              <a:gs pos="80000">
                <a:srgbClr val="0042FF"/>
              </a:gs>
              <a:gs pos="20000">
                <a:srgbClr val="3368FF"/>
              </a:gs>
            </a:gsLst>
            <a:path path="circle">
              <a:fillToRect r="100000" b="100000"/>
            </a:path>
            <a:tileRect l="-100000" t="-100000"/>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2000" b="1" dirty="0">
              <a:solidFill>
                <a:srgbClr val="FFFFFF"/>
              </a:solidFill>
              <a:latin typeface="微软雅黑"/>
              <a:ea typeface="微软雅黑"/>
              <a:cs typeface="微软雅黑"/>
              <a:sym typeface="微软雅黑"/>
            </a:endParaRPr>
          </a:p>
        </p:txBody>
      </p:sp>
      <p:grpSp>
        <p:nvGrpSpPr>
          <p:cNvPr id="12" name="组合 11"/>
          <p:cNvGrpSpPr/>
          <p:nvPr/>
        </p:nvGrpSpPr>
        <p:grpSpPr>
          <a:xfrm>
            <a:off x="859155" y="1994535"/>
            <a:ext cx="2386330" cy="4077335"/>
            <a:chOff x="1353" y="3141"/>
            <a:chExt cx="3758" cy="6421"/>
          </a:xfrm>
        </p:grpSpPr>
        <p:sp>
          <p:nvSpPr>
            <p:cNvPr id="85" name="紫荆的职场Point34-1"/>
            <p:cNvSpPr txBox="1"/>
            <p:nvPr/>
          </p:nvSpPr>
          <p:spPr>
            <a:xfrm>
              <a:off x="1353" y="3141"/>
              <a:ext cx="2303"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战略规划定盘 </a:t>
              </a:r>
              <a:endParaRPr lang="zh-CN" altLang="en-US" sz="1600" b="1" dirty="0">
                <a:solidFill>
                  <a:srgbClr val="0042FF"/>
                </a:solidFill>
                <a:latin typeface="微软雅黑"/>
                <a:ea typeface="微软雅黑"/>
                <a:cs typeface="微软雅黑"/>
              </a:endParaRPr>
            </a:p>
          </p:txBody>
        </p:sp>
        <p:sp>
          <p:nvSpPr>
            <p:cNvPr id="86" name="紫荆的职场Point34-2"/>
            <p:cNvSpPr txBox="1"/>
            <p:nvPr/>
          </p:nvSpPr>
          <p:spPr>
            <a:xfrm>
              <a:off x="1353" y="3587"/>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明确年度核心目标与关键任务，完成资源盘点与预算编制，确立各部门协同机制与考核标准。</a:t>
              </a:r>
              <a:endParaRPr lang="zh-CN" altLang="en-US" sz="1000" dirty="0">
                <a:solidFill>
                  <a:srgbClr val="383838"/>
                </a:solidFill>
                <a:latin typeface="微软雅黑"/>
                <a:ea typeface="微软雅黑"/>
                <a:cs typeface="微软雅黑"/>
              </a:endParaRPr>
            </a:p>
          </p:txBody>
        </p:sp>
        <p:sp>
          <p:nvSpPr>
            <p:cNvPr id="2" name="紫荆的职场Point34-1"/>
            <p:cNvSpPr txBox="1"/>
            <p:nvPr/>
          </p:nvSpPr>
          <p:spPr>
            <a:xfrm>
              <a:off x="1353" y="481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市场开疆拓土</a:t>
              </a:r>
              <a:endParaRPr lang="zh-CN" altLang="en-US" sz="1600" b="1" dirty="0">
                <a:solidFill>
                  <a:srgbClr val="0042FF"/>
                </a:solidFill>
                <a:latin typeface="微软雅黑"/>
                <a:ea typeface="微软雅黑"/>
                <a:cs typeface="微软雅黑"/>
              </a:endParaRPr>
            </a:p>
          </p:txBody>
        </p:sp>
        <p:sp>
          <p:nvSpPr>
            <p:cNvPr id="3" name="紫荆的职场Point34-2"/>
            <p:cNvSpPr txBox="1"/>
            <p:nvPr/>
          </p:nvSpPr>
          <p:spPr>
            <a:xfrm>
              <a:off x="1353" y="525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聚焦重点区域与高价值客户，完成首轮渠道铺排与商务谈判，实现新增签约项目落地。</a:t>
              </a:r>
              <a:endParaRPr lang="en-US" altLang="zh-CN" sz="1000" dirty="0">
                <a:solidFill>
                  <a:srgbClr val="383838"/>
                </a:solidFill>
                <a:latin typeface="微软雅黑"/>
                <a:ea typeface="微软雅黑"/>
                <a:cs typeface="微软雅黑"/>
              </a:endParaRPr>
            </a:p>
          </p:txBody>
        </p:sp>
        <p:sp>
          <p:nvSpPr>
            <p:cNvPr id="4" name="紫荆的职场Point34-1"/>
            <p:cNvSpPr txBox="1"/>
            <p:nvPr/>
          </p:nvSpPr>
          <p:spPr>
            <a:xfrm>
              <a:off x="1353" y="657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团队整训到位</a:t>
              </a:r>
              <a:endParaRPr lang="zh-CN" altLang="en-US" sz="1600" b="1" dirty="0">
                <a:solidFill>
                  <a:srgbClr val="0042FF"/>
                </a:solidFill>
                <a:latin typeface="微软雅黑"/>
                <a:ea typeface="微软雅黑"/>
                <a:cs typeface="微软雅黑"/>
              </a:endParaRPr>
            </a:p>
          </p:txBody>
        </p:sp>
        <p:sp>
          <p:nvSpPr>
            <p:cNvPr id="7" name="紫荆的职场Point34-2"/>
            <p:cNvSpPr txBox="1"/>
            <p:nvPr/>
          </p:nvSpPr>
          <p:spPr>
            <a:xfrm>
              <a:off x="1353" y="701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开展全员技能培训与人才盘点，优化组织架构与岗位配置，确保关键岗位人员到岗率达标。</a:t>
              </a:r>
              <a:endParaRPr lang="zh-CN" altLang="en-US" sz="1000" dirty="0">
                <a:solidFill>
                  <a:srgbClr val="383838"/>
                </a:solidFill>
                <a:latin typeface="微软雅黑"/>
                <a:ea typeface="微软雅黑"/>
                <a:cs typeface="微软雅黑"/>
              </a:endParaRPr>
            </a:p>
          </p:txBody>
        </p:sp>
        <p:sp>
          <p:nvSpPr>
            <p:cNvPr id="9" name="紫荆的职场Point34-1"/>
            <p:cNvSpPr txBox="1"/>
            <p:nvPr/>
          </p:nvSpPr>
          <p:spPr>
            <a:xfrm>
              <a:off x="1353" y="8245"/>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流程体系贯通</a:t>
              </a:r>
              <a:endParaRPr lang="zh-CN" altLang="en-US" sz="1600" b="1" dirty="0">
                <a:solidFill>
                  <a:srgbClr val="0042FF"/>
                </a:solidFill>
                <a:latin typeface="微软雅黑"/>
                <a:ea typeface="微软雅黑"/>
                <a:cs typeface="微软雅黑"/>
              </a:endParaRPr>
            </a:p>
          </p:txBody>
        </p:sp>
        <p:sp>
          <p:nvSpPr>
            <p:cNvPr id="11" name="紫荆的职场Point34-2"/>
            <p:cNvSpPr txBox="1"/>
            <p:nvPr/>
          </p:nvSpPr>
          <p:spPr>
            <a:xfrm>
              <a:off x="1353" y="8691"/>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梳理跨部门协作的各个堵点，升级信息化审批流程，完成制度宣贯与首轮合规性检查。</a:t>
              </a:r>
              <a:endParaRPr lang="zh-CN" altLang="en-US" sz="1000" dirty="0">
                <a:solidFill>
                  <a:srgbClr val="383838"/>
                </a:solidFill>
                <a:latin typeface="微软雅黑"/>
                <a:ea typeface="微软雅黑"/>
                <a:cs typeface="微软雅黑"/>
              </a:endParaRPr>
            </a:p>
          </p:txBody>
        </p:sp>
      </p:grpSp>
      <p:grpSp>
        <p:nvGrpSpPr>
          <p:cNvPr id="13" name="组合 12"/>
          <p:cNvGrpSpPr/>
          <p:nvPr/>
        </p:nvGrpSpPr>
        <p:grpSpPr>
          <a:xfrm>
            <a:off x="3706495" y="1994535"/>
            <a:ext cx="2386330" cy="4077335"/>
            <a:chOff x="1341" y="3141"/>
            <a:chExt cx="3758" cy="6421"/>
          </a:xfrm>
        </p:grpSpPr>
        <p:sp>
          <p:nvSpPr>
            <p:cNvPr id="14" name="紫荆的职场Point34-1"/>
            <p:cNvSpPr txBox="1"/>
            <p:nvPr/>
          </p:nvSpPr>
          <p:spPr>
            <a:xfrm>
              <a:off x="1341" y="3141"/>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产品迭代提速</a:t>
              </a:r>
              <a:endParaRPr lang="zh-CN" altLang="en-US" sz="1600" b="1" dirty="0">
                <a:solidFill>
                  <a:srgbClr val="0042FF"/>
                </a:solidFill>
                <a:latin typeface="微软雅黑"/>
                <a:ea typeface="微软雅黑"/>
                <a:cs typeface="微软雅黑"/>
              </a:endParaRPr>
            </a:p>
          </p:txBody>
        </p:sp>
        <p:sp>
          <p:nvSpPr>
            <p:cNvPr id="15" name="紫荆的职场Point34-2"/>
            <p:cNvSpPr txBox="1"/>
            <p:nvPr/>
          </p:nvSpPr>
          <p:spPr>
            <a:xfrm>
              <a:off x="1341" y="3587"/>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根据市场反馈快速完成核心产品功能升级，缩短研发测试周期，确保二季度新版上线。</a:t>
              </a:r>
              <a:endParaRPr lang="zh-CN" altLang="en-US" sz="1000" dirty="0">
                <a:solidFill>
                  <a:srgbClr val="383838"/>
                </a:solidFill>
                <a:latin typeface="微软雅黑"/>
                <a:ea typeface="微软雅黑"/>
                <a:cs typeface="微软雅黑"/>
              </a:endParaRPr>
            </a:p>
          </p:txBody>
        </p:sp>
        <p:sp>
          <p:nvSpPr>
            <p:cNvPr id="16" name="紫荆的职场Point34-1"/>
            <p:cNvSpPr txBox="1"/>
            <p:nvPr/>
          </p:nvSpPr>
          <p:spPr>
            <a:xfrm>
              <a:off x="1341" y="481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重大项目破局</a:t>
              </a:r>
              <a:endParaRPr lang="zh-CN" altLang="en-US" sz="1600" b="1" dirty="0">
                <a:solidFill>
                  <a:srgbClr val="0042FF"/>
                </a:solidFill>
                <a:latin typeface="微软雅黑"/>
                <a:ea typeface="微软雅黑"/>
                <a:cs typeface="微软雅黑"/>
              </a:endParaRPr>
            </a:p>
          </p:txBody>
        </p:sp>
        <p:sp>
          <p:nvSpPr>
            <p:cNvPr id="17" name="紫荆的职场Point34-2"/>
            <p:cNvSpPr txBox="1"/>
            <p:nvPr/>
          </p:nvSpPr>
          <p:spPr>
            <a:xfrm>
              <a:off x="1341" y="525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集中优势资源攻克多个标杆项目，完成关键节点的验收，形成可复制的解决方案模板。</a:t>
              </a:r>
              <a:endParaRPr lang="zh-CN" altLang="en-US" sz="1000" dirty="0">
                <a:solidFill>
                  <a:srgbClr val="383838"/>
                </a:solidFill>
                <a:latin typeface="微软雅黑"/>
                <a:ea typeface="微软雅黑"/>
                <a:cs typeface="微软雅黑"/>
              </a:endParaRPr>
            </a:p>
          </p:txBody>
        </p:sp>
        <p:sp>
          <p:nvSpPr>
            <p:cNvPr id="18" name="紫荆的职场Point34-1"/>
            <p:cNvSpPr txBox="1"/>
            <p:nvPr/>
          </p:nvSpPr>
          <p:spPr>
            <a:xfrm>
              <a:off x="1341" y="657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效能指标优化</a:t>
              </a:r>
              <a:endParaRPr lang="zh-CN" altLang="en-US" sz="1600" b="1" dirty="0">
                <a:solidFill>
                  <a:srgbClr val="0042FF"/>
                </a:solidFill>
                <a:latin typeface="微软雅黑"/>
                <a:ea typeface="微软雅黑"/>
                <a:cs typeface="微软雅黑"/>
              </a:endParaRPr>
            </a:p>
          </p:txBody>
        </p:sp>
        <p:sp>
          <p:nvSpPr>
            <p:cNvPr id="19" name="紫荆的职场Point34-2"/>
            <p:cNvSpPr txBox="1"/>
            <p:nvPr/>
          </p:nvSpPr>
          <p:spPr>
            <a:xfrm>
              <a:off x="1341" y="701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通过精益管理降低运营成本，提升人效与设备利用率，关键效能指标环比提升</a:t>
              </a:r>
              <a:r>
                <a:rPr lang="en-US" altLang="zh-CN" sz="1000" dirty="0">
                  <a:solidFill>
                    <a:srgbClr val="383838"/>
                  </a:solidFill>
                  <a:latin typeface="微软雅黑"/>
                  <a:ea typeface="微软雅黑"/>
                  <a:cs typeface="微软雅黑"/>
                </a:rPr>
                <a:t>10%</a:t>
              </a:r>
              <a:r>
                <a:rPr lang="zh-CN" altLang="en-US" sz="1000" dirty="0">
                  <a:solidFill>
                    <a:srgbClr val="383838"/>
                  </a:solidFill>
                  <a:latin typeface="微软雅黑"/>
                  <a:ea typeface="微软雅黑"/>
                  <a:cs typeface="微软雅黑"/>
                </a:rPr>
                <a:t>以上。</a:t>
              </a:r>
              <a:endParaRPr lang="zh-CN" altLang="en-US" sz="1000" dirty="0">
                <a:solidFill>
                  <a:srgbClr val="383838"/>
                </a:solidFill>
                <a:latin typeface="微软雅黑"/>
                <a:ea typeface="微软雅黑"/>
                <a:cs typeface="微软雅黑"/>
              </a:endParaRPr>
            </a:p>
          </p:txBody>
        </p:sp>
        <p:sp>
          <p:nvSpPr>
            <p:cNvPr id="20" name="紫荆的职场Point34-1"/>
            <p:cNvSpPr txBox="1"/>
            <p:nvPr/>
          </p:nvSpPr>
          <p:spPr>
            <a:xfrm>
              <a:off x="1341" y="8245"/>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风险隐患清零</a:t>
              </a:r>
              <a:endParaRPr lang="zh-CN" altLang="en-US" sz="1600" b="1" dirty="0">
                <a:solidFill>
                  <a:srgbClr val="0042FF"/>
                </a:solidFill>
                <a:latin typeface="微软雅黑"/>
                <a:ea typeface="微软雅黑"/>
                <a:cs typeface="微软雅黑"/>
              </a:endParaRPr>
            </a:p>
          </p:txBody>
        </p:sp>
        <p:sp>
          <p:nvSpPr>
            <p:cNvPr id="21" name="紫荆的职场Point34-2"/>
            <p:cNvSpPr txBox="1"/>
            <p:nvPr/>
          </p:nvSpPr>
          <p:spPr>
            <a:xfrm>
              <a:off x="1341" y="8691"/>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开展安全质量专项排查工作，整改历史遗留问题，进一步完善应急预案并组织实战演练。</a:t>
              </a:r>
              <a:endParaRPr lang="zh-CN" altLang="en-US" sz="1000" dirty="0">
                <a:solidFill>
                  <a:srgbClr val="383838"/>
                </a:solidFill>
                <a:latin typeface="微软雅黑"/>
                <a:ea typeface="微软雅黑"/>
                <a:cs typeface="微软雅黑"/>
              </a:endParaRPr>
            </a:p>
          </p:txBody>
        </p:sp>
      </p:grpSp>
      <p:grpSp>
        <p:nvGrpSpPr>
          <p:cNvPr id="22" name="组合 21"/>
          <p:cNvGrpSpPr/>
          <p:nvPr/>
        </p:nvGrpSpPr>
        <p:grpSpPr>
          <a:xfrm>
            <a:off x="6572885" y="1994535"/>
            <a:ext cx="2386330" cy="4077335"/>
            <a:chOff x="1329" y="3141"/>
            <a:chExt cx="3758" cy="6421"/>
          </a:xfrm>
        </p:grpSpPr>
        <p:sp>
          <p:nvSpPr>
            <p:cNvPr id="23" name="紫荆的职场Point34-1"/>
            <p:cNvSpPr txBox="1"/>
            <p:nvPr/>
          </p:nvSpPr>
          <p:spPr>
            <a:xfrm>
              <a:off x="1329" y="3141"/>
              <a:ext cx="2303"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质量体系夯实 </a:t>
              </a:r>
              <a:endParaRPr lang="zh-CN" altLang="en-US" sz="1600" b="1" dirty="0">
                <a:solidFill>
                  <a:srgbClr val="0042FF"/>
                </a:solidFill>
                <a:latin typeface="微软雅黑"/>
                <a:ea typeface="微软雅黑"/>
                <a:cs typeface="微软雅黑"/>
              </a:endParaRPr>
            </a:p>
          </p:txBody>
        </p:sp>
        <p:sp>
          <p:nvSpPr>
            <p:cNvPr id="24" name="紫荆的职场Point34-2"/>
            <p:cNvSpPr txBox="1"/>
            <p:nvPr/>
          </p:nvSpPr>
          <p:spPr>
            <a:xfrm>
              <a:off x="1329" y="3587"/>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推进全流程质量管控，完善供应商评估与过程抽检机制，产品合格率稳定在</a:t>
              </a:r>
              <a:r>
                <a:rPr lang="en-US" altLang="zh-CN" sz="1000" dirty="0">
                  <a:solidFill>
                    <a:srgbClr val="383838"/>
                  </a:solidFill>
                  <a:latin typeface="微软雅黑"/>
                  <a:ea typeface="微软雅黑"/>
                  <a:cs typeface="微软雅黑"/>
                </a:rPr>
                <a:t>99.5%</a:t>
              </a:r>
              <a:r>
                <a:rPr lang="zh-CN" altLang="en-US" sz="1000" dirty="0">
                  <a:solidFill>
                    <a:srgbClr val="383838"/>
                  </a:solidFill>
                  <a:latin typeface="微软雅黑"/>
                  <a:ea typeface="微软雅黑"/>
                  <a:cs typeface="微软雅黑"/>
                </a:rPr>
                <a:t>以上。</a:t>
              </a:r>
              <a:endParaRPr lang="zh-CN" altLang="en-US" sz="1000" dirty="0">
                <a:solidFill>
                  <a:srgbClr val="383838"/>
                </a:solidFill>
                <a:latin typeface="微软雅黑"/>
                <a:ea typeface="微软雅黑"/>
                <a:cs typeface="微软雅黑"/>
              </a:endParaRPr>
            </a:p>
          </p:txBody>
        </p:sp>
        <p:sp>
          <p:nvSpPr>
            <p:cNvPr id="25" name="紫荆的职场Point34-1"/>
            <p:cNvSpPr txBox="1"/>
            <p:nvPr/>
          </p:nvSpPr>
          <p:spPr>
            <a:xfrm>
              <a:off x="1329" y="481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客户价值深耕</a:t>
              </a:r>
              <a:endParaRPr lang="zh-CN" altLang="en-US" sz="1600" b="1" dirty="0">
                <a:solidFill>
                  <a:srgbClr val="0042FF"/>
                </a:solidFill>
                <a:latin typeface="微软雅黑"/>
                <a:ea typeface="微软雅黑"/>
                <a:cs typeface="微软雅黑"/>
              </a:endParaRPr>
            </a:p>
          </p:txBody>
        </p:sp>
        <p:sp>
          <p:nvSpPr>
            <p:cNvPr id="26" name="紫荆的职场Point34-2"/>
            <p:cNvSpPr txBox="1"/>
            <p:nvPr/>
          </p:nvSpPr>
          <p:spPr>
            <a:xfrm>
              <a:off x="1329" y="525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实施重点客户回访计划，挖掘存量需求以提升复购率，客户满意度进一步提升，评分创历史新高。</a:t>
              </a:r>
              <a:endParaRPr lang="zh-CN" altLang="en-US" sz="1000" dirty="0">
                <a:solidFill>
                  <a:srgbClr val="383838"/>
                </a:solidFill>
                <a:latin typeface="微软雅黑"/>
                <a:ea typeface="微软雅黑"/>
                <a:cs typeface="微软雅黑"/>
              </a:endParaRPr>
            </a:p>
          </p:txBody>
        </p:sp>
        <p:sp>
          <p:nvSpPr>
            <p:cNvPr id="27" name="紫荆的职场Point34-1"/>
            <p:cNvSpPr txBox="1"/>
            <p:nvPr/>
          </p:nvSpPr>
          <p:spPr>
            <a:xfrm>
              <a:off x="1329" y="657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数字转型落地</a:t>
              </a:r>
              <a:endParaRPr lang="zh-CN" altLang="en-US" sz="1600" b="1" dirty="0">
                <a:solidFill>
                  <a:srgbClr val="0042FF"/>
                </a:solidFill>
                <a:latin typeface="微软雅黑"/>
                <a:ea typeface="微软雅黑"/>
                <a:cs typeface="微软雅黑"/>
              </a:endParaRPr>
            </a:p>
          </p:txBody>
        </p:sp>
        <p:sp>
          <p:nvSpPr>
            <p:cNvPr id="28" name="紫荆的职场Point34-2"/>
            <p:cNvSpPr txBox="1"/>
            <p:nvPr/>
          </p:nvSpPr>
          <p:spPr>
            <a:xfrm>
              <a:off x="1329" y="701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上线智能管理平台，实现数据实时监控与分析预警，关键业务线上化率达到</a:t>
              </a:r>
              <a:r>
                <a:rPr lang="en-US" altLang="zh-CN" sz="1000" dirty="0">
                  <a:solidFill>
                    <a:srgbClr val="383838"/>
                  </a:solidFill>
                  <a:latin typeface="微软雅黑"/>
                  <a:ea typeface="微软雅黑"/>
                  <a:cs typeface="微软雅黑"/>
                </a:rPr>
                <a:t>80%</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sp>
          <p:nvSpPr>
            <p:cNvPr id="29" name="紫荆的职场Point34-1"/>
            <p:cNvSpPr txBox="1"/>
            <p:nvPr/>
          </p:nvSpPr>
          <p:spPr>
            <a:xfrm>
              <a:off x="1329" y="8245"/>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成本精细管控</a:t>
              </a:r>
              <a:endParaRPr lang="zh-CN" altLang="en-US" sz="1600" b="1" dirty="0">
                <a:solidFill>
                  <a:srgbClr val="0042FF"/>
                </a:solidFill>
                <a:latin typeface="微软雅黑"/>
                <a:ea typeface="微软雅黑"/>
                <a:cs typeface="微软雅黑"/>
              </a:endParaRPr>
            </a:p>
          </p:txBody>
        </p:sp>
        <p:sp>
          <p:nvSpPr>
            <p:cNvPr id="30" name="紫荆的职场Point34-2"/>
            <p:cNvSpPr txBox="1"/>
            <p:nvPr/>
          </p:nvSpPr>
          <p:spPr>
            <a:xfrm>
              <a:off x="1329" y="8691"/>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推行预算动态监控与降本专项行动，通过集采与工艺优化，最终实现成本同比下降</a:t>
              </a:r>
              <a:r>
                <a:rPr lang="en-US" altLang="zh-CN" sz="1000" dirty="0">
                  <a:solidFill>
                    <a:srgbClr val="383838"/>
                  </a:solidFill>
                  <a:latin typeface="微软雅黑"/>
                  <a:ea typeface="微软雅黑"/>
                  <a:cs typeface="微软雅黑"/>
                </a:rPr>
                <a:t>8%</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grpSp>
      <p:grpSp>
        <p:nvGrpSpPr>
          <p:cNvPr id="31" name="组合 30"/>
          <p:cNvGrpSpPr/>
          <p:nvPr/>
        </p:nvGrpSpPr>
        <p:grpSpPr>
          <a:xfrm>
            <a:off x="9412605" y="1994535"/>
            <a:ext cx="2386330" cy="3923030"/>
            <a:chOff x="1353" y="3141"/>
            <a:chExt cx="3758" cy="6178"/>
          </a:xfrm>
        </p:grpSpPr>
        <p:sp>
          <p:nvSpPr>
            <p:cNvPr id="32" name="紫荆的职场Point34-1"/>
            <p:cNvSpPr txBox="1"/>
            <p:nvPr/>
          </p:nvSpPr>
          <p:spPr>
            <a:xfrm>
              <a:off x="1353" y="3141"/>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目标硬账硬结</a:t>
              </a:r>
              <a:endParaRPr lang="zh-CN" altLang="en-US" sz="1600" b="1" dirty="0">
                <a:solidFill>
                  <a:srgbClr val="0042FF"/>
                </a:solidFill>
                <a:latin typeface="微软雅黑"/>
                <a:ea typeface="微软雅黑"/>
                <a:cs typeface="微软雅黑"/>
              </a:endParaRPr>
            </a:p>
          </p:txBody>
        </p:sp>
        <p:sp>
          <p:nvSpPr>
            <p:cNvPr id="33" name="紫荆的职场Point34-2"/>
            <p:cNvSpPr txBox="1"/>
            <p:nvPr/>
          </p:nvSpPr>
          <p:spPr>
            <a:xfrm>
              <a:off x="1353" y="3587"/>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对照年度考核指标逐项清点，全力冲刺营收与利润目标，确保主要经营指标全面达成。</a:t>
              </a:r>
              <a:endParaRPr lang="zh-CN" altLang="en-US" sz="1000" dirty="0">
                <a:solidFill>
                  <a:srgbClr val="383838"/>
                </a:solidFill>
                <a:latin typeface="微软雅黑"/>
                <a:ea typeface="微软雅黑"/>
                <a:cs typeface="微软雅黑"/>
              </a:endParaRPr>
            </a:p>
          </p:txBody>
        </p:sp>
        <p:sp>
          <p:nvSpPr>
            <p:cNvPr id="34" name="紫荆的职场Point34-1"/>
            <p:cNvSpPr txBox="1"/>
            <p:nvPr/>
          </p:nvSpPr>
          <p:spPr>
            <a:xfrm>
              <a:off x="1353" y="481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标杆经验固化</a:t>
              </a:r>
              <a:endParaRPr lang="zh-CN" altLang="en-US" sz="1600" b="1" dirty="0">
                <a:solidFill>
                  <a:srgbClr val="0042FF"/>
                </a:solidFill>
                <a:latin typeface="微软雅黑"/>
                <a:ea typeface="微软雅黑"/>
                <a:cs typeface="微软雅黑"/>
              </a:endParaRPr>
            </a:p>
          </p:txBody>
        </p:sp>
        <p:sp>
          <p:nvSpPr>
            <p:cNvPr id="35" name="紫荆的职场Point34-2"/>
            <p:cNvSpPr txBox="1"/>
            <p:nvPr/>
          </p:nvSpPr>
          <p:spPr>
            <a:xfrm>
              <a:off x="1353" y="525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总结重大项目的成功经验，形成标准化</a:t>
              </a:r>
              <a:r>
                <a:rPr lang="en-US" altLang="zh-CN" sz="1000" dirty="0">
                  <a:solidFill>
                    <a:srgbClr val="383838"/>
                  </a:solidFill>
                  <a:latin typeface="微软雅黑"/>
                  <a:ea typeface="微软雅黑"/>
                  <a:cs typeface="微软雅黑"/>
                </a:rPr>
                <a:t>SOP</a:t>
              </a:r>
              <a:r>
                <a:rPr lang="zh-CN" altLang="en-US" sz="1000" dirty="0">
                  <a:solidFill>
                    <a:srgbClr val="383838"/>
                  </a:solidFill>
                  <a:latin typeface="微软雅黑"/>
                  <a:ea typeface="微软雅黑"/>
                  <a:cs typeface="微软雅黑"/>
                </a:rPr>
                <a:t>作业手册，为明年规模化复制推广奠定基础。</a:t>
              </a:r>
              <a:endParaRPr lang="zh-CN" altLang="en-US" sz="1000" dirty="0">
                <a:solidFill>
                  <a:srgbClr val="383838"/>
                </a:solidFill>
                <a:latin typeface="微软雅黑"/>
                <a:ea typeface="微软雅黑"/>
                <a:cs typeface="微软雅黑"/>
              </a:endParaRPr>
            </a:p>
          </p:txBody>
        </p:sp>
        <p:sp>
          <p:nvSpPr>
            <p:cNvPr id="36" name="紫荆的职场Point34-1"/>
            <p:cNvSpPr txBox="1"/>
            <p:nvPr/>
          </p:nvSpPr>
          <p:spPr>
            <a:xfrm>
              <a:off x="1353" y="6573"/>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人才梯队建设</a:t>
              </a:r>
              <a:endParaRPr lang="zh-CN" altLang="en-US" sz="1600" b="1" dirty="0">
                <a:solidFill>
                  <a:srgbClr val="0042FF"/>
                </a:solidFill>
                <a:latin typeface="微软雅黑"/>
                <a:ea typeface="微软雅黑"/>
                <a:cs typeface="微软雅黑"/>
              </a:endParaRPr>
            </a:p>
          </p:txBody>
        </p:sp>
        <p:sp>
          <p:nvSpPr>
            <p:cNvPr id="37" name="紫荆的职场Point34-2"/>
            <p:cNvSpPr txBox="1"/>
            <p:nvPr/>
          </p:nvSpPr>
          <p:spPr>
            <a:xfrm>
              <a:off x="1353" y="7019"/>
              <a:ext cx="3758" cy="871"/>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完成高潜人才盘点与晋升评审，建立关键岗位的人才后备库，培训覆盖率达</a:t>
              </a:r>
              <a:r>
                <a:rPr lang="en-US" altLang="zh-CN" sz="1000" dirty="0">
                  <a:solidFill>
                    <a:srgbClr val="383838"/>
                  </a:solidFill>
                  <a:latin typeface="微软雅黑"/>
                  <a:ea typeface="微软雅黑"/>
                  <a:cs typeface="微软雅黑"/>
                </a:rPr>
                <a:t>100%</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sp>
          <p:nvSpPr>
            <p:cNvPr id="38" name="紫荆的职场Point34-1"/>
            <p:cNvSpPr txBox="1"/>
            <p:nvPr/>
          </p:nvSpPr>
          <p:spPr>
            <a:xfrm>
              <a:off x="1353" y="8245"/>
              <a:ext cx="2208" cy="531"/>
            </a:xfrm>
            <a:prstGeom prst="rect">
              <a:avLst/>
            </a:prstGeom>
            <a:noFill/>
          </p:spPr>
          <p:txBody>
            <a:bodyPr wrap="none" rtlCol="0">
              <a:spAutoFit/>
            </a:bodyPr>
            <a:lstStyle/>
            <a:p>
              <a:pPr algn="l">
                <a:defRPr>
                  <a:latin typeface="微软雅黑"/>
                  <a:ea typeface="微软雅黑"/>
                  <a:cs typeface="微软雅黑"/>
                </a:defRPr>
              </a:pPr>
              <a:r>
                <a:rPr lang="zh-CN" altLang="en-US" sz="1600" b="1" dirty="0">
                  <a:solidFill>
                    <a:srgbClr val="0042FF"/>
                  </a:solidFill>
                  <a:latin typeface="微软雅黑"/>
                  <a:ea typeface="微软雅黑"/>
                  <a:cs typeface="微软雅黑"/>
                </a:rPr>
                <a:t>明年谋篇启动</a:t>
              </a:r>
              <a:endParaRPr lang="zh-CN" altLang="en-US" sz="1600" b="1" dirty="0">
                <a:solidFill>
                  <a:srgbClr val="0042FF"/>
                </a:solidFill>
                <a:latin typeface="微软雅黑"/>
                <a:ea typeface="微软雅黑"/>
                <a:cs typeface="微软雅黑"/>
              </a:endParaRPr>
            </a:p>
          </p:txBody>
        </p:sp>
        <p:sp>
          <p:nvSpPr>
            <p:cNvPr id="39" name="紫荆的职场Point34-2"/>
            <p:cNvSpPr txBox="1"/>
            <p:nvPr/>
          </p:nvSpPr>
          <p:spPr>
            <a:xfrm>
              <a:off x="1353" y="8691"/>
              <a:ext cx="3758" cy="628"/>
            </a:xfrm>
            <a:prstGeom prst="rect">
              <a:avLst/>
            </a:prstGeom>
            <a:noFill/>
          </p:spPr>
          <p:txBody>
            <a:bodyPr wrap="square" lIns="0" rIns="0" tIns="0" bIns="0">
              <a:spAutoFit/>
            </a:bodyPr>
            <a:lstStyle/>
            <a:p>
              <a:pPr>
                <a:defRPr>
                  <a:latin typeface="微软雅黑"/>
                  <a:ea typeface="微软雅黑"/>
                  <a:cs typeface="微软雅黑"/>
                </a:defRPr>
              </a:pPr>
              <a:r>
                <a:rPr lang="zh-CN" altLang="en-US" sz="1000" dirty="0">
                  <a:solidFill>
                    <a:srgbClr val="383838"/>
                  </a:solidFill>
                  <a:latin typeface="微软雅黑"/>
                  <a:ea typeface="微软雅黑"/>
                  <a:cs typeface="微软雅黑"/>
                </a:rPr>
                <a:t>启动下年度战略规划工作，完成市场预研与资源预排，确保新旧年度无缝衔接。</a:t>
              </a:r>
              <a:endParaRPr lang="zh-CN" altLang="en-US" sz="1000" dirty="0">
                <a:solidFill>
                  <a:srgbClr val="383838"/>
                </a:solidFill>
                <a:latin typeface="微软雅黑"/>
                <a:ea typeface="微软雅黑"/>
                <a:cs typeface="微软雅黑"/>
              </a:endParaRPr>
            </a:p>
          </p:txBody>
        </p:sp>
      </p:grpSp>
      <p:cxnSp>
        <p:nvCxnSpPr>
          <p:cNvPr id="40"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1" name="组合 40"/>
          <p:cNvGrpSpPr/>
          <p:nvPr/>
        </p:nvGrpSpPr>
        <p:grpSpPr>
          <a:xfrm>
            <a:off x="8738235" y="348615"/>
            <a:ext cx="3219450" cy="332740"/>
            <a:chOff x="13761" y="549"/>
            <a:chExt cx="5070" cy="524"/>
          </a:xfrm>
        </p:grpSpPr>
        <p:pic>
          <p:nvPicPr>
            <p:cNvPr id="42" name="图片 4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43" name="文本框 4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latin typeface="微软雅黑"/>
                <a:ea typeface="微软雅黑"/>
                <a:cs typeface="微软雅黑"/>
              </a:rPr>
              <a:t>项目流程汇报图</a:t>
            </a:r>
            <a:endParaRPr sz="2500" b="0">
              <a:solidFill>
                <a:srgbClr val="383838"/>
              </a:solidFill>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610" name="YOYOON1"/>
          <p:cNvSpPr/>
          <p:nvPr/>
        </p:nvSpPr>
        <p:spPr>
          <a:xfrm>
            <a:off x="438150" y="1280160"/>
            <a:ext cx="830580" cy="591820"/>
          </a:xfrm>
          <a:custGeom>
            <a:avLst/>
            <a:gdLst/>
            <a:ahLst/>
            <a:cxnLst>
              <a:cxn ang="0">
                <a:pos x="wd2" y="hd2"/>
              </a:cxn>
              <a:cxn ang="5400000">
                <a:pos x="wd2" y="hd2"/>
              </a:cxn>
              <a:cxn ang="10800000">
                <a:pos x="wd2" y="hd2"/>
              </a:cxn>
              <a:cxn ang="16200000">
                <a:pos x="wd2" y="hd2"/>
              </a:cxn>
            </a:cxnLst>
            <a:rect l="0" t="0" r="r" b="b"/>
            <a:pathLst>
              <a:path w="21600" h="21600" extrusionOk="0">
                <a:moveTo>
                  <a:pt x="16771" y="0"/>
                </a:moveTo>
                <a:lnTo>
                  <a:pt x="0" y="0"/>
                </a:lnTo>
                <a:lnTo>
                  <a:pt x="0" y="21600"/>
                </a:lnTo>
                <a:lnTo>
                  <a:pt x="21600" y="21600"/>
                </a:lnTo>
                <a:lnTo>
                  <a:pt x="16771" y="0"/>
                </a:lnTo>
                <a:close/>
              </a:path>
            </a:pathLst>
          </a:custGeom>
          <a:gradFill>
            <a:gsLst>
              <a:gs pos="0">
                <a:srgbClr val="0042FF"/>
              </a:gs>
              <a:gs pos="100000">
                <a:srgbClr val="3368FF"/>
              </a:gs>
            </a:gsLst>
            <a:lin ang="2700000" scaled="0"/>
          </a:gradFill>
          <a:ln w="12700">
            <a:miter lim="400000"/>
          </a:ln>
        </p:spPr>
        <p:txBody>
          <a:bodyPr lIns="0" tIns="0" rIns="0" bIns="0" anchor="ctr">
            <a:noAutofit/>
          </a:bodyPr>
          <a:lstStyle/>
          <a:p>
            <a:pPr lvl="0" algn="l" defTabSz="1828165">
              <a:buClrTx/>
              <a:buSzTx/>
              <a:buFontTx/>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11" name="YOYOON2"/>
          <p:cNvSpPr/>
          <p:nvPr/>
        </p:nvSpPr>
        <p:spPr>
          <a:xfrm>
            <a:off x="435610" y="1972310"/>
            <a:ext cx="1280160" cy="1353820"/>
          </a:xfrm>
          <a:custGeom>
            <a:avLst/>
            <a:gdLst/>
            <a:ahLst/>
            <a:cxnLst>
              <a:cxn ang="0">
                <a:pos x="wd2" y="hd2"/>
              </a:cxn>
              <a:cxn ang="5400000">
                <a:pos x="wd2" y="hd2"/>
              </a:cxn>
              <a:cxn ang="10800000">
                <a:pos x="wd2" y="hd2"/>
              </a:cxn>
              <a:cxn ang="16200000">
                <a:pos x="wd2" y="hd2"/>
              </a:cxn>
            </a:cxnLst>
            <a:rect l="0" t="0" r="r" b="b"/>
            <a:pathLst>
              <a:path w="21600" h="21600" extrusionOk="0">
                <a:moveTo>
                  <a:pt x="14510" y="0"/>
                </a:moveTo>
                <a:lnTo>
                  <a:pt x="0" y="0"/>
                </a:lnTo>
                <a:lnTo>
                  <a:pt x="0" y="21600"/>
                </a:lnTo>
                <a:lnTo>
                  <a:pt x="21600" y="21600"/>
                </a:lnTo>
                <a:lnTo>
                  <a:pt x="14510" y="0"/>
                </a:lnTo>
                <a:close/>
              </a:path>
            </a:pathLst>
          </a:custGeom>
          <a:noFill/>
          <a:ln w="12700">
            <a:solidFill>
              <a:srgbClr val="0042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2" name="YOYOON3"/>
          <p:cNvSpPr/>
          <p:nvPr/>
        </p:nvSpPr>
        <p:spPr>
          <a:xfrm>
            <a:off x="435610" y="3421380"/>
            <a:ext cx="1517015" cy="1381760"/>
          </a:xfrm>
          <a:custGeom>
            <a:avLst/>
            <a:gdLst/>
            <a:ahLst/>
            <a:cxnLst>
              <a:cxn ang="0">
                <a:pos x="wd2" y="hd2"/>
              </a:cxn>
              <a:cxn ang="5400000">
                <a:pos x="wd2" y="hd2"/>
              </a:cxn>
              <a:cxn ang="10800000">
                <a:pos x="wd2" y="hd2"/>
              </a:cxn>
              <a:cxn ang="16200000">
                <a:pos x="wd2" y="hd2"/>
              </a:cxn>
            </a:cxnLst>
            <a:rect l="0" t="0" r="r" b="b"/>
            <a:pathLst>
              <a:path w="21600" h="21600" extrusionOk="0">
                <a:moveTo>
                  <a:pt x="28" y="0"/>
                </a:moveTo>
                <a:lnTo>
                  <a:pt x="18656" y="0"/>
                </a:lnTo>
                <a:lnTo>
                  <a:pt x="21600" y="10538"/>
                </a:lnTo>
                <a:lnTo>
                  <a:pt x="18478" y="21600"/>
                </a:lnTo>
                <a:lnTo>
                  <a:pt x="0" y="21586"/>
                </a:lnTo>
                <a:lnTo>
                  <a:pt x="28" y="0"/>
                </a:lnTo>
                <a:close/>
              </a:path>
            </a:pathLst>
          </a:custGeom>
          <a:noFill/>
          <a:ln w="12700">
            <a:solidFill>
              <a:srgbClr val="0042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3" name="YOYOON4"/>
          <p:cNvSpPr/>
          <p:nvPr/>
        </p:nvSpPr>
        <p:spPr>
          <a:xfrm>
            <a:off x="435610" y="4901565"/>
            <a:ext cx="1266190" cy="1416685"/>
          </a:xfrm>
          <a:custGeom>
            <a:avLst/>
            <a:gdLst/>
            <a:ahLst/>
            <a:cxnLst>
              <a:cxn ang="0">
                <a:pos x="wd2" y="hd2"/>
              </a:cxn>
              <a:cxn ang="5400000">
                <a:pos x="wd2" y="hd2"/>
              </a:cxn>
              <a:cxn ang="10800000">
                <a:pos x="wd2" y="hd2"/>
              </a:cxn>
              <a:cxn ang="16200000">
                <a:pos x="wd2" y="hd2"/>
              </a:cxn>
            </a:cxnLst>
            <a:rect l="0" t="0" r="r" b="b"/>
            <a:pathLst>
              <a:path w="21600" h="21600" extrusionOk="0">
                <a:moveTo>
                  <a:pt x="21600" y="1"/>
                </a:moveTo>
                <a:lnTo>
                  <a:pt x="66" y="0"/>
                </a:lnTo>
                <a:lnTo>
                  <a:pt x="0" y="21600"/>
                </a:lnTo>
                <a:lnTo>
                  <a:pt x="13912" y="21553"/>
                </a:lnTo>
                <a:lnTo>
                  <a:pt x="21600" y="1"/>
                </a:lnTo>
                <a:close/>
              </a:path>
            </a:pathLst>
          </a:custGeom>
          <a:noFill/>
          <a:ln w="12700">
            <a:solidFill>
              <a:srgbClr val="0042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614" name="YOYOON5"/>
          <p:cNvSpPr/>
          <p:nvPr/>
        </p:nvSpPr>
        <p:spPr>
          <a:xfrm>
            <a:off x="1192530" y="1277620"/>
            <a:ext cx="2192655" cy="593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807" y="0"/>
                </a:lnTo>
                <a:lnTo>
                  <a:pt x="21600" y="21600"/>
                </a:lnTo>
                <a:lnTo>
                  <a:pt x="1785" y="21600"/>
                </a:lnTo>
                <a:lnTo>
                  <a:pt x="0" y="0"/>
                </a:lnTo>
                <a:close/>
              </a:path>
            </a:pathLst>
          </a:custGeom>
          <a:gradFill>
            <a:gsLst>
              <a:gs pos="0">
                <a:srgbClr val="0042FF"/>
              </a:gs>
              <a:gs pos="100000">
                <a:srgbClr val="3368FF"/>
              </a:gs>
            </a:gsLst>
            <a:lin ang="2700000" scaled="0"/>
          </a:gradFill>
          <a:ln w="12700">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15" name="YOYOON6"/>
          <p:cNvSpPr/>
          <p:nvPr/>
        </p:nvSpPr>
        <p:spPr>
          <a:xfrm>
            <a:off x="1405890" y="1969453"/>
            <a:ext cx="2426335"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900" y="0"/>
                </a:lnTo>
                <a:lnTo>
                  <a:pt x="21600" y="21600"/>
                </a:lnTo>
                <a:lnTo>
                  <a:pt x="3703" y="21599"/>
                </a:lnTo>
                <a:lnTo>
                  <a:pt x="0"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6" name="YOYOON7"/>
          <p:cNvSpPr/>
          <p:nvPr/>
        </p:nvSpPr>
        <p:spPr>
          <a:xfrm>
            <a:off x="1840230" y="3421063"/>
            <a:ext cx="2232660" cy="1384300"/>
          </a:xfrm>
          <a:custGeom>
            <a:avLst/>
            <a:gdLst/>
            <a:ahLst/>
            <a:cxnLst>
              <a:cxn ang="0">
                <a:pos x="wd2" y="hd2"/>
              </a:cxn>
              <a:cxn ang="5400000">
                <a:pos x="wd2" y="hd2"/>
              </a:cxn>
              <a:cxn ang="10800000">
                <a:pos x="wd2" y="hd2"/>
              </a:cxn>
              <a:cxn ang="16200000">
                <a:pos x="wd2" y="hd2"/>
              </a:cxn>
            </a:cxnLst>
            <a:rect l="0" t="0" r="r" b="b"/>
            <a:pathLst>
              <a:path w="21600" h="21600" extrusionOk="0">
                <a:moveTo>
                  <a:pt x="19565" y="0"/>
                </a:moveTo>
                <a:lnTo>
                  <a:pt x="103" y="0"/>
                </a:lnTo>
                <a:lnTo>
                  <a:pt x="2148" y="10629"/>
                </a:lnTo>
                <a:lnTo>
                  <a:pt x="0" y="21565"/>
                </a:lnTo>
                <a:lnTo>
                  <a:pt x="19438" y="21600"/>
                </a:lnTo>
                <a:lnTo>
                  <a:pt x="21600" y="10586"/>
                </a:lnTo>
                <a:lnTo>
                  <a:pt x="19565"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7" name="YOYOON8"/>
          <p:cNvSpPr/>
          <p:nvPr/>
        </p:nvSpPr>
        <p:spPr>
          <a:xfrm>
            <a:off x="1357630" y="4902200"/>
            <a:ext cx="2462530" cy="1414145"/>
          </a:xfrm>
          <a:custGeom>
            <a:avLst/>
            <a:gdLst/>
            <a:ahLst/>
            <a:cxnLst>
              <a:cxn ang="0">
                <a:pos x="wd2" y="hd2"/>
              </a:cxn>
              <a:cxn ang="5400000">
                <a:pos x="wd2" y="hd2"/>
              </a:cxn>
              <a:cxn ang="10800000">
                <a:pos x="wd2" y="hd2"/>
              </a:cxn>
              <a:cxn ang="16200000">
                <a:pos x="wd2" y="hd2"/>
              </a:cxn>
            </a:cxnLst>
            <a:rect l="0" t="0" r="r" b="b"/>
            <a:pathLst>
              <a:path w="21600" h="21600" extrusionOk="0">
                <a:moveTo>
                  <a:pt x="3946" y="0"/>
                </a:moveTo>
                <a:lnTo>
                  <a:pt x="21600" y="0"/>
                </a:lnTo>
                <a:lnTo>
                  <a:pt x="17669" y="21600"/>
                </a:lnTo>
                <a:lnTo>
                  <a:pt x="0" y="21585"/>
                </a:lnTo>
                <a:lnTo>
                  <a:pt x="3946"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8" name="YOYOON9"/>
          <p:cNvSpPr/>
          <p:nvPr/>
        </p:nvSpPr>
        <p:spPr>
          <a:xfrm>
            <a:off x="3308985" y="1278890"/>
            <a:ext cx="2194560" cy="593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817" y="0"/>
                </a:lnTo>
                <a:lnTo>
                  <a:pt x="21600" y="21571"/>
                </a:lnTo>
                <a:lnTo>
                  <a:pt x="1821" y="21600"/>
                </a:lnTo>
                <a:lnTo>
                  <a:pt x="0" y="0"/>
                </a:lnTo>
                <a:close/>
              </a:path>
            </a:pathLst>
          </a:custGeom>
          <a:gradFill>
            <a:gsLst>
              <a:gs pos="0">
                <a:srgbClr val="0042FF"/>
              </a:gs>
              <a:gs pos="100000">
                <a:srgbClr val="3368FF"/>
              </a:gs>
            </a:gsLst>
            <a:lin ang="2700000" scaled="0"/>
          </a:gradFill>
          <a:ln w="12700">
            <a:miter lim="400000"/>
          </a:ln>
        </p:spPr>
        <p:txBody>
          <a:bodyPr lIns="0" tIns="0" rIns="0" bIns="0" anchor="ctr">
            <a:noAutofit/>
          </a:bodyPr>
          <a:lstStyle/>
          <a:p>
            <a:pPr lvl="0" algn="l" defTabSz="1828165">
              <a:buClrTx/>
              <a:buSzTx/>
              <a:buFontTx/>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19" name="YOYOON10"/>
          <p:cNvSpPr/>
          <p:nvPr/>
        </p:nvSpPr>
        <p:spPr>
          <a:xfrm>
            <a:off x="3522980" y="1969453"/>
            <a:ext cx="2428240"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23"/>
                </a:moveTo>
                <a:lnTo>
                  <a:pt x="3710" y="21600"/>
                </a:lnTo>
                <a:lnTo>
                  <a:pt x="21600" y="21600"/>
                </a:lnTo>
                <a:lnTo>
                  <a:pt x="17884" y="0"/>
                </a:lnTo>
                <a:lnTo>
                  <a:pt x="0" y="23"/>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0" name="YOYOON11"/>
          <p:cNvSpPr/>
          <p:nvPr/>
        </p:nvSpPr>
        <p:spPr>
          <a:xfrm>
            <a:off x="3959225" y="3422015"/>
            <a:ext cx="2232660" cy="1382395"/>
          </a:xfrm>
          <a:custGeom>
            <a:avLst/>
            <a:gdLst/>
            <a:ahLst/>
            <a:cxnLst>
              <a:cxn ang="0">
                <a:pos x="wd2" y="hd2"/>
              </a:cxn>
              <a:cxn ang="5400000">
                <a:pos x="wd2" y="hd2"/>
              </a:cxn>
              <a:cxn ang="10800000">
                <a:pos x="wd2" y="hd2"/>
              </a:cxn>
              <a:cxn ang="16200000">
                <a:pos x="wd2" y="hd2"/>
              </a:cxn>
            </a:cxnLst>
            <a:rect l="0" t="0" r="r" b="b"/>
            <a:pathLst>
              <a:path w="21600" h="21600" extrusionOk="0">
                <a:moveTo>
                  <a:pt x="107" y="6"/>
                </a:moveTo>
                <a:lnTo>
                  <a:pt x="2118" y="10541"/>
                </a:lnTo>
                <a:lnTo>
                  <a:pt x="0" y="21600"/>
                </a:lnTo>
                <a:lnTo>
                  <a:pt x="19442" y="21600"/>
                </a:lnTo>
                <a:lnTo>
                  <a:pt x="21600" y="10594"/>
                </a:lnTo>
                <a:lnTo>
                  <a:pt x="19572" y="0"/>
                </a:lnTo>
                <a:lnTo>
                  <a:pt x="107" y="6"/>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1" name="YOYOON12"/>
          <p:cNvSpPr/>
          <p:nvPr/>
        </p:nvSpPr>
        <p:spPr>
          <a:xfrm>
            <a:off x="3481070" y="4901883"/>
            <a:ext cx="2455545" cy="141478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3917" y="0"/>
                </a:lnTo>
                <a:lnTo>
                  <a:pt x="0" y="21588"/>
                </a:lnTo>
                <a:lnTo>
                  <a:pt x="17687" y="21600"/>
                </a:lnTo>
                <a:lnTo>
                  <a:pt x="21600"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2" name="YOYOON13"/>
          <p:cNvSpPr/>
          <p:nvPr/>
        </p:nvSpPr>
        <p:spPr>
          <a:xfrm>
            <a:off x="5597525" y="4902835"/>
            <a:ext cx="2458720" cy="1413510"/>
          </a:xfrm>
          <a:custGeom>
            <a:avLst/>
            <a:gdLst/>
            <a:ahLst/>
            <a:cxnLst>
              <a:cxn ang="0">
                <a:pos x="wd2" y="hd2"/>
              </a:cxn>
              <a:cxn ang="5400000">
                <a:pos x="wd2" y="hd2"/>
              </a:cxn>
              <a:cxn ang="10800000">
                <a:pos x="wd2" y="hd2"/>
              </a:cxn>
              <a:cxn ang="16200000">
                <a:pos x="wd2" y="hd2"/>
              </a:cxn>
            </a:cxnLst>
            <a:rect l="0" t="0" r="r" b="b"/>
            <a:pathLst>
              <a:path w="21600" h="21600" extrusionOk="0">
                <a:moveTo>
                  <a:pt x="3943" y="0"/>
                </a:moveTo>
                <a:lnTo>
                  <a:pt x="0" y="21588"/>
                </a:lnTo>
                <a:lnTo>
                  <a:pt x="17676" y="21600"/>
                </a:lnTo>
                <a:lnTo>
                  <a:pt x="21600" y="7"/>
                </a:lnTo>
                <a:lnTo>
                  <a:pt x="3943" y="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3" name="YOYOON14"/>
          <p:cNvSpPr/>
          <p:nvPr/>
        </p:nvSpPr>
        <p:spPr>
          <a:xfrm>
            <a:off x="6075680" y="3422015"/>
            <a:ext cx="2236470" cy="1381760"/>
          </a:xfrm>
          <a:custGeom>
            <a:avLst/>
            <a:gdLst/>
            <a:ahLst/>
            <a:cxnLst>
              <a:cxn ang="0">
                <a:pos x="wd2" y="hd2"/>
              </a:cxn>
              <a:cxn ang="5400000">
                <a:pos x="wd2" y="hd2"/>
              </a:cxn>
              <a:cxn ang="10800000">
                <a:pos x="wd2" y="hd2"/>
              </a:cxn>
              <a:cxn ang="16200000">
                <a:pos x="wd2" y="hd2"/>
              </a:cxn>
            </a:cxnLst>
            <a:rect l="0" t="0" r="r" b="b"/>
            <a:pathLst>
              <a:path w="21600" h="21600" extrusionOk="0">
                <a:moveTo>
                  <a:pt x="129" y="0"/>
                </a:moveTo>
                <a:lnTo>
                  <a:pt x="19591" y="0"/>
                </a:lnTo>
                <a:lnTo>
                  <a:pt x="21600" y="10601"/>
                </a:lnTo>
                <a:lnTo>
                  <a:pt x="19436" y="21600"/>
                </a:lnTo>
                <a:lnTo>
                  <a:pt x="0" y="21596"/>
                </a:lnTo>
                <a:lnTo>
                  <a:pt x="2172" y="10613"/>
                </a:lnTo>
                <a:lnTo>
                  <a:pt x="129" y="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4" name="YOYOON15"/>
          <p:cNvSpPr/>
          <p:nvPr/>
        </p:nvSpPr>
        <p:spPr>
          <a:xfrm>
            <a:off x="5641975" y="1970405"/>
            <a:ext cx="2430145" cy="135318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876" y="0"/>
                </a:lnTo>
                <a:lnTo>
                  <a:pt x="21600" y="21589"/>
                </a:lnTo>
                <a:lnTo>
                  <a:pt x="3712" y="21600"/>
                </a:lnTo>
                <a:lnTo>
                  <a:pt x="0" y="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5" name="YOYOON16"/>
          <p:cNvSpPr/>
          <p:nvPr/>
        </p:nvSpPr>
        <p:spPr>
          <a:xfrm>
            <a:off x="5431155" y="1280160"/>
            <a:ext cx="2193290" cy="593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773" y="0"/>
                </a:lnTo>
                <a:lnTo>
                  <a:pt x="21600" y="21600"/>
                </a:lnTo>
                <a:lnTo>
                  <a:pt x="1784" y="21585"/>
                </a:lnTo>
                <a:lnTo>
                  <a:pt x="0" y="0"/>
                </a:lnTo>
                <a:close/>
              </a:path>
            </a:pathLst>
          </a:custGeom>
          <a:gradFill>
            <a:gsLst>
              <a:gs pos="0">
                <a:srgbClr val="3368FF"/>
              </a:gs>
              <a:gs pos="100000">
                <a:srgbClr val="B3D4FE"/>
              </a:gs>
            </a:gsLst>
            <a:lin ang="2700000" scaled="0"/>
          </a:gradFill>
          <a:ln w="12700">
            <a:miter lim="400000"/>
          </a:ln>
        </p:spPr>
        <p:txBody>
          <a:bodyPr lIns="0" tIns="0" rIns="0" bIns="0" anchor="ctr">
            <a:noAutofit/>
          </a:bodyPr>
          <a:lstStyle/>
          <a:p>
            <a:pPr lvl="0" algn="l" defTabSz="1828165">
              <a:buClrTx/>
              <a:buSzTx/>
              <a:buFontTx/>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6" name="YOYOON17"/>
          <p:cNvSpPr/>
          <p:nvPr/>
        </p:nvSpPr>
        <p:spPr>
          <a:xfrm>
            <a:off x="7549515" y="1279525"/>
            <a:ext cx="2192020" cy="59436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815" y="0"/>
                </a:lnTo>
                <a:lnTo>
                  <a:pt x="21600" y="21545"/>
                </a:lnTo>
                <a:lnTo>
                  <a:pt x="1774" y="21600"/>
                </a:lnTo>
                <a:lnTo>
                  <a:pt x="0" y="0"/>
                </a:lnTo>
                <a:close/>
              </a:path>
            </a:pathLst>
          </a:custGeom>
          <a:gradFill>
            <a:gsLst>
              <a:gs pos="0">
                <a:srgbClr val="3368FF"/>
              </a:gs>
              <a:gs pos="100000">
                <a:srgbClr val="B3D4FE"/>
              </a:gs>
            </a:gsLst>
            <a:lin ang="2700000" scaled="0"/>
          </a:gradFill>
          <a:ln w="12700">
            <a:miter lim="400000"/>
          </a:ln>
        </p:spPr>
        <p:txBody>
          <a:bodyPr lIns="0" tIns="0" rIns="0" bIns="0" anchor="ctr">
            <a:noAutofit/>
          </a:bodyPr>
          <a:lstStyle/>
          <a:p>
            <a:pPr lvl="0" algn="l" defTabSz="1828165">
              <a:buClrTx/>
              <a:buSzTx/>
              <a:buFontTx/>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7" name="YOYOON18"/>
          <p:cNvSpPr/>
          <p:nvPr/>
        </p:nvSpPr>
        <p:spPr>
          <a:xfrm>
            <a:off x="7761605" y="1969770"/>
            <a:ext cx="2428240" cy="135445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903" y="0"/>
                </a:lnTo>
                <a:lnTo>
                  <a:pt x="21600" y="21600"/>
                </a:lnTo>
                <a:lnTo>
                  <a:pt x="3706" y="21581"/>
                </a:lnTo>
                <a:lnTo>
                  <a:pt x="0" y="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8" name="YOYOON19"/>
          <p:cNvSpPr/>
          <p:nvPr/>
        </p:nvSpPr>
        <p:spPr>
          <a:xfrm>
            <a:off x="8197215" y="3422015"/>
            <a:ext cx="2232660" cy="1381760"/>
          </a:xfrm>
          <a:custGeom>
            <a:avLst/>
            <a:gdLst/>
            <a:ahLst/>
            <a:cxnLst>
              <a:cxn ang="0">
                <a:pos x="wd2" y="hd2"/>
              </a:cxn>
              <a:cxn ang="5400000">
                <a:pos x="wd2" y="hd2"/>
              </a:cxn>
              <a:cxn ang="10800000">
                <a:pos x="wd2" y="hd2"/>
              </a:cxn>
              <a:cxn ang="16200000">
                <a:pos x="wd2" y="hd2"/>
              </a:cxn>
            </a:cxnLst>
            <a:rect l="0" t="0" r="r" b="b"/>
            <a:pathLst>
              <a:path w="21600" h="21600" extrusionOk="0">
                <a:moveTo>
                  <a:pt x="122" y="0"/>
                </a:moveTo>
                <a:lnTo>
                  <a:pt x="19589" y="0"/>
                </a:lnTo>
                <a:lnTo>
                  <a:pt x="21600" y="10640"/>
                </a:lnTo>
                <a:lnTo>
                  <a:pt x="19444" y="21600"/>
                </a:lnTo>
                <a:lnTo>
                  <a:pt x="0" y="21594"/>
                </a:lnTo>
                <a:lnTo>
                  <a:pt x="2137" y="10617"/>
                </a:lnTo>
                <a:lnTo>
                  <a:pt x="122" y="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9" name="YOYOON20"/>
          <p:cNvSpPr/>
          <p:nvPr/>
        </p:nvSpPr>
        <p:spPr>
          <a:xfrm>
            <a:off x="7718425" y="4902200"/>
            <a:ext cx="2457450" cy="1412240"/>
          </a:xfrm>
          <a:custGeom>
            <a:avLst/>
            <a:gdLst/>
            <a:ahLst/>
            <a:cxnLst>
              <a:cxn ang="0">
                <a:pos x="wd2" y="hd2"/>
              </a:cxn>
              <a:cxn ang="5400000">
                <a:pos x="wd2" y="hd2"/>
              </a:cxn>
              <a:cxn ang="10800000">
                <a:pos x="wd2" y="hd2"/>
              </a:cxn>
              <a:cxn ang="16200000">
                <a:pos x="wd2" y="hd2"/>
              </a:cxn>
            </a:cxnLst>
            <a:rect l="0" t="0" r="r" b="b"/>
            <a:pathLst>
              <a:path w="21600" h="21600" extrusionOk="0">
                <a:moveTo>
                  <a:pt x="17669" y="21600"/>
                </a:moveTo>
                <a:lnTo>
                  <a:pt x="0" y="21599"/>
                </a:lnTo>
                <a:lnTo>
                  <a:pt x="3928" y="0"/>
                </a:lnTo>
                <a:lnTo>
                  <a:pt x="21600" y="22"/>
                </a:lnTo>
                <a:lnTo>
                  <a:pt x="17669" y="2160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30" name="YOYOON21"/>
          <p:cNvSpPr/>
          <p:nvPr/>
        </p:nvSpPr>
        <p:spPr>
          <a:xfrm>
            <a:off x="9836150" y="4902200"/>
            <a:ext cx="1948815" cy="1414780"/>
          </a:xfrm>
          <a:custGeom>
            <a:avLst/>
            <a:gdLst/>
            <a:ahLst/>
            <a:cxnLst>
              <a:cxn ang="0">
                <a:pos x="wd2" y="hd2"/>
              </a:cxn>
              <a:cxn ang="5400000">
                <a:pos x="wd2" y="hd2"/>
              </a:cxn>
              <a:cxn ang="10800000">
                <a:pos x="wd2" y="hd2"/>
              </a:cxn>
              <a:cxn ang="16200000">
                <a:pos x="wd2" y="hd2"/>
              </a:cxn>
            </a:cxnLst>
            <a:rect l="0" t="0" r="r" b="b"/>
            <a:pathLst>
              <a:path w="21600" h="21600" extrusionOk="0">
                <a:moveTo>
                  <a:pt x="4959" y="0"/>
                </a:moveTo>
                <a:lnTo>
                  <a:pt x="21596" y="0"/>
                </a:lnTo>
                <a:lnTo>
                  <a:pt x="21600" y="21588"/>
                </a:lnTo>
                <a:lnTo>
                  <a:pt x="0" y="21600"/>
                </a:lnTo>
                <a:lnTo>
                  <a:pt x="4959" y="0"/>
                </a:lnTo>
                <a:close/>
              </a:path>
            </a:pathLst>
          </a:custGeom>
          <a:noFill/>
          <a:ln w="12700">
            <a:solidFill>
              <a:srgbClr val="3368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31" name="YOYOON22"/>
          <p:cNvSpPr/>
          <p:nvPr/>
        </p:nvSpPr>
        <p:spPr>
          <a:xfrm>
            <a:off x="10314940" y="3420110"/>
            <a:ext cx="1470025" cy="1385570"/>
          </a:xfrm>
          <a:custGeom>
            <a:avLst/>
            <a:gdLst/>
            <a:ahLst/>
            <a:cxnLst>
              <a:cxn ang="0">
                <a:pos x="wd2" y="hd2"/>
              </a:cxn>
              <a:cxn ang="5400000">
                <a:pos x="wd2" y="hd2"/>
              </a:cxn>
              <a:cxn ang="10800000">
                <a:pos x="wd2" y="hd2"/>
              </a:cxn>
              <a:cxn ang="16200000">
                <a:pos x="wd2" y="hd2"/>
              </a:cxn>
            </a:cxnLst>
            <a:rect l="0" t="0" r="r" b="b"/>
            <a:pathLst>
              <a:path w="21600" h="21600" extrusionOk="0">
                <a:moveTo>
                  <a:pt x="21594" y="0"/>
                </a:moveTo>
                <a:lnTo>
                  <a:pt x="177" y="0"/>
                </a:lnTo>
                <a:lnTo>
                  <a:pt x="3292" y="10651"/>
                </a:lnTo>
                <a:lnTo>
                  <a:pt x="0" y="21600"/>
                </a:lnTo>
                <a:lnTo>
                  <a:pt x="21600" y="21600"/>
                </a:lnTo>
                <a:lnTo>
                  <a:pt x="21594" y="0"/>
                </a:lnTo>
                <a:close/>
              </a:path>
            </a:pathLst>
          </a:custGeom>
          <a:noFill/>
          <a:ln w="12700">
            <a:solidFill>
              <a:srgbClr val="3368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632" name="YOYOON23"/>
          <p:cNvSpPr/>
          <p:nvPr/>
        </p:nvSpPr>
        <p:spPr>
          <a:xfrm>
            <a:off x="9881235" y="1971040"/>
            <a:ext cx="1904365" cy="13531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4735" y="21581"/>
                </a:lnTo>
                <a:lnTo>
                  <a:pt x="21593" y="21600"/>
                </a:lnTo>
                <a:lnTo>
                  <a:pt x="21600" y="0"/>
                </a:lnTo>
                <a:close/>
              </a:path>
            </a:pathLst>
          </a:custGeom>
          <a:noFill/>
          <a:ln w="12700">
            <a:solidFill>
              <a:srgbClr val="3368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33" name="YOYOON24"/>
          <p:cNvSpPr/>
          <p:nvPr/>
        </p:nvSpPr>
        <p:spPr>
          <a:xfrm>
            <a:off x="9667240" y="1278255"/>
            <a:ext cx="2117725" cy="59499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1864" y="21572"/>
                </a:lnTo>
                <a:lnTo>
                  <a:pt x="0" y="0"/>
                </a:lnTo>
                <a:close/>
              </a:path>
            </a:pathLst>
          </a:custGeom>
          <a:gradFill>
            <a:gsLst>
              <a:gs pos="0">
                <a:srgbClr val="3368FF"/>
              </a:gs>
              <a:gs pos="100000">
                <a:srgbClr val="B3D4FE"/>
              </a:gs>
            </a:gsLst>
            <a:lin ang="2700000" scaled="0"/>
          </a:gradFill>
          <a:ln w="12700">
            <a:miter lim="400000"/>
          </a:ln>
        </p:spPr>
        <p:txBody>
          <a:bodyPr lIns="0" tIns="0" rIns="0" bIns="0" anchor="ctr">
            <a:noAutofit/>
          </a:bodyPr>
          <a:lstStyle/>
          <a:p>
            <a:pPr lvl="0" algn="l" defTabSz="1828165">
              <a:buClrTx/>
              <a:buSzTx/>
              <a:buFontTx/>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37" name="YOYOON25"/>
          <p:cNvSpPr txBox="1"/>
          <p:nvPr/>
        </p:nvSpPr>
        <p:spPr>
          <a:xfrm>
            <a:off x="10220325" y="2136140"/>
            <a:ext cx="1465580" cy="869950"/>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核心</a:t>
            </a:r>
            <a:r>
              <a:rPr lang="en-US" altLang="zh-CN" sz="1000" dirty="0">
                <a:solidFill>
                  <a:srgbClr val="383838"/>
                </a:solidFill>
                <a:latin typeface="微软雅黑"/>
                <a:ea typeface="微软雅黑"/>
                <a:cs typeface="微软雅黑"/>
                <a:sym typeface="微软雅黑"/>
              </a:rPr>
              <a:t>KPI</a:t>
            </a:r>
            <a:r>
              <a:rPr lang="zh-CN" altLang="en-US" sz="1000" dirty="0">
                <a:solidFill>
                  <a:srgbClr val="383838"/>
                </a:solidFill>
                <a:latin typeface="微软雅黑"/>
                <a:ea typeface="微软雅黑"/>
                <a:cs typeface="微软雅黑"/>
                <a:sym typeface="微软雅黑"/>
              </a:rPr>
              <a:t>达成率</a:t>
            </a:r>
            <a:r>
              <a:rPr lang="en-US" altLang="zh-CN" sz="1000" dirty="0">
                <a:solidFill>
                  <a:srgbClr val="383838"/>
                </a:solidFill>
                <a:latin typeface="微软雅黑"/>
                <a:ea typeface="微软雅黑"/>
                <a:cs typeface="微软雅黑"/>
                <a:sym typeface="微软雅黑"/>
              </a:rPr>
              <a:t>≥95%</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关键过程指标偏差控制在</a:t>
            </a:r>
            <a:r>
              <a:rPr lang="en-US" altLang="en-US" sz="1000" dirty="0">
                <a:solidFill>
                  <a:srgbClr val="383838"/>
                </a:solidFill>
                <a:latin typeface="微软雅黑"/>
                <a:ea typeface="微软雅黑"/>
                <a:cs typeface="微软雅黑"/>
                <a:sym typeface="微软雅黑"/>
              </a:rPr>
              <a:t>±</a:t>
            </a:r>
            <a:r>
              <a:rPr lang="en-US" altLang="zh-CN" sz="1000" dirty="0">
                <a:solidFill>
                  <a:srgbClr val="383838"/>
                </a:solidFill>
                <a:latin typeface="微软雅黑"/>
                <a:ea typeface="微软雅黑"/>
                <a:cs typeface="微软雅黑"/>
                <a:sym typeface="微软雅黑"/>
              </a:rPr>
              <a:t>10%</a:t>
            </a:r>
            <a:r>
              <a:rPr lang="zh-CN" altLang="en-US" sz="1000" dirty="0">
                <a:solidFill>
                  <a:srgbClr val="383838"/>
                </a:solidFill>
                <a:latin typeface="微软雅黑"/>
                <a:ea typeface="微软雅黑"/>
                <a:cs typeface="微软雅黑"/>
                <a:sym typeface="微软雅黑"/>
              </a:rPr>
              <a:t>以内；</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策略有效性验证</a:t>
            </a:r>
            <a:r>
              <a:rPr lang="en-US" altLang="zh-CN" sz="1000" dirty="0">
                <a:solidFill>
                  <a:srgbClr val="383838"/>
                </a:solidFill>
                <a:latin typeface="微软雅黑"/>
                <a:ea typeface="微软雅黑"/>
                <a:cs typeface="微软雅黑"/>
                <a:sym typeface="微软雅黑"/>
              </a:rPr>
              <a:t>≥2</a:t>
            </a:r>
            <a:r>
              <a:rPr lang="zh-CN" altLang="en-US" sz="1000" dirty="0">
                <a:solidFill>
                  <a:srgbClr val="383838"/>
                </a:solidFill>
                <a:latin typeface="微软雅黑"/>
                <a:ea typeface="微软雅黑"/>
                <a:cs typeface="微软雅黑"/>
                <a:sym typeface="微软雅黑"/>
              </a:rPr>
              <a:t>次。</a:t>
            </a:r>
            <a:endParaRPr lang="zh-CN" altLang="en-US" sz="1000" dirty="0">
              <a:solidFill>
                <a:srgbClr val="383838"/>
              </a:solidFill>
              <a:latin typeface="微软雅黑"/>
              <a:ea typeface="微软雅黑"/>
              <a:cs typeface="微软雅黑"/>
              <a:sym typeface="微软雅黑"/>
            </a:endParaRPr>
          </a:p>
        </p:txBody>
      </p:sp>
      <p:sp>
        <p:nvSpPr>
          <p:cNvPr id="1640" name="YOYOON28"/>
          <p:cNvSpPr txBox="1"/>
          <p:nvPr/>
        </p:nvSpPr>
        <p:spPr>
          <a:xfrm>
            <a:off x="1405890" y="1356360"/>
            <a:ext cx="1759585" cy="433705"/>
          </a:xfrm>
          <a:prstGeom prst="rect">
            <a:avLst/>
          </a:prstGeom>
          <a:ln w="12700">
            <a:miter lim="400000"/>
          </a:ln>
        </p:spPr>
        <p:txBody>
          <a:bodyPr wrap="square" lIns="0" tIns="0" rIns="0" bIns="0">
            <a:spAutoFit/>
          </a:bodyPr>
          <a:lstStyle>
            <a:lvl1pPr algn="l">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第一阶段：启动</a:t>
            </a:r>
            <a:endParaRPr lang="zh-CN" altLang="en-US" sz="15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a:t>
            </a:r>
            <a:r>
              <a:rPr lang="en-US" altLang="zh-CN" sz="1000" b="1" dirty="0">
                <a:solidFill>
                  <a:srgbClr val="FFFFFF"/>
                </a:solidFill>
                <a:latin typeface="微软雅黑"/>
                <a:ea typeface="微软雅黑"/>
                <a:cs typeface="微软雅黑"/>
                <a:sym typeface="微软雅黑"/>
              </a:rPr>
              <a:t>2025.1-2025.6</a:t>
            </a:r>
            <a:r>
              <a:rPr lang="zh-CN" altLang="en-US" sz="1000" b="1" dirty="0">
                <a:solidFill>
                  <a:srgbClr val="FFFFFF"/>
                </a:solidFill>
                <a:latin typeface="微软雅黑"/>
                <a:ea typeface="微软雅黑"/>
                <a:cs typeface="微软雅黑"/>
                <a:sym typeface="微软雅黑"/>
              </a:rPr>
              <a:t>）</a:t>
            </a:r>
            <a:endParaRPr lang="zh-CN" altLang="en-US" sz="1000" b="1" dirty="0">
              <a:solidFill>
                <a:srgbClr val="FFFFFF"/>
              </a:solidFill>
              <a:latin typeface="微软雅黑"/>
              <a:ea typeface="微软雅黑"/>
              <a:cs typeface="微软雅黑"/>
              <a:sym typeface="微软雅黑"/>
            </a:endParaRPr>
          </a:p>
        </p:txBody>
      </p:sp>
      <p:sp>
        <p:nvSpPr>
          <p:cNvPr id="1645" name="YOYOON33"/>
          <p:cNvSpPr txBox="1"/>
          <p:nvPr/>
        </p:nvSpPr>
        <p:spPr>
          <a:xfrm>
            <a:off x="559435" y="1448435"/>
            <a:ext cx="464185" cy="280035"/>
          </a:xfrm>
          <a:prstGeom prst="rect">
            <a:avLst/>
          </a:prstGeom>
          <a:ln w="12700">
            <a:miter lim="400000"/>
          </a:ln>
        </p:spPr>
        <p:txBody>
          <a:bodyPr wrap="square" lIns="25398" tIns="25398" rIns="25398" bIns="25398">
            <a:spAutoFit/>
          </a:bodyPr>
          <a:lstStyle>
            <a:lvl1pPr algn="l">
              <a:defRPr sz="2000" b="0">
                <a:solidFill>
                  <a:srgbClr val="FFFF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立项</a:t>
            </a:r>
            <a:endParaRPr lang="zh-CN" altLang="en-US" sz="1500" b="1" dirty="0">
              <a:solidFill>
                <a:srgbClr val="FFFFFF"/>
              </a:solidFill>
              <a:latin typeface="微软雅黑"/>
              <a:ea typeface="微软雅黑"/>
              <a:cs typeface="微软雅黑"/>
              <a:sym typeface="微软雅黑"/>
            </a:endParaRPr>
          </a:p>
        </p:txBody>
      </p:sp>
      <p:grpSp>
        <p:nvGrpSpPr>
          <p:cNvPr id="1604" name="YOYOON34"/>
          <p:cNvGrpSpPr/>
          <p:nvPr/>
        </p:nvGrpSpPr>
        <p:grpSpPr>
          <a:xfrm rot="0">
            <a:off x="2215515" y="3722987"/>
            <a:ext cx="1517650" cy="780452"/>
            <a:chOff x="2383158" y="2987644"/>
            <a:chExt cx="1474651" cy="650187"/>
          </a:xfrm>
        </p:grpSpPr>
        <p:sp>
          <p:nvSpPr>
            <p:cNvPr id="1672" name="YOYOON1"/>
            <p:cNvSpPr txBox="1"/>
            <p:nvPr/>
          </p:nvSpPr>
          <p:spPr>
            <a:xfrm>
              <a:off x="2383158" y="32119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分析竞品与用户需求，组建项目小组，输出包含背景与预算的立项草案。</a:t>
              </a:r>
              <a:endParaRPr lang="zh-CN" altLang="en-US" sz="1000" dirty="0">
                <a:solidFill>
                  <a:srgbClr val="383838"/>
                </a:solidFill>
                <a:latin typeface="微软雅黑"/>
                <a:ea typeface="微软雅黑"/>
                <a:cs typeface="微软雅黑"/>
                <a:sym typeface="微软雅黑"/>
              </a:endParaRPr>
            </a:p>
          </p:txBody>
        </p:sp>
        <p:sp>
          <p:nvSpPr>
            <p:cNvPr id="1673" name="YOYOON2"/>
            <p:cNvSpPr txBox="1"/>
            <p:nvPr/>
          </p:nvSpPr>
          <p:spPr>
            <a:xfrm>
              <a:off x="2386003" y="2987644"/>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调研立项</a:t>
              </a:r>
              <a:endParaRPr lang="zh-CN" altLang="en-US" sz="1200" b="1" dirty="0">
                <a:solidFill>
                  <a:srgbClr val="0042FF"/>
                </a:solidFill>
                <a:latin typeface="微软雅黑"/>
                <a:ea typeface="微软雅黑"/>
                <a:cs typeface="微软雅黑"/>
                <a:sym typeface="微软雅黑"/>
              </a:endParaRPr>
            </a:p>
          </p:txBody>
        </p:sp>
      </p:grpSp>
      <p:grpSp>
        <p:nvGrpSpPr>
          <p:cNvPr id="3" name="YOYOON35"/>
          <p:cNvGrpSpPr/>
          <p:nvPr/>
        </p:nvGrpSpPr>
        <p:grpSpPr>
          <a:xfrm rot="0">
            <a:off x="1840230" y="2263130"/>
            <a:ext cx="1640840" cy="765194"/>
            <a:chOff x="2535558" y="3152740"/>
            <a:chExt cx="1474651" cy="637520"/>
          </a:xfrm>
        </p:grpSpPr>
        <p:sp>
          <p:nvSpPr>
            <p:cNvPr id="4" name="YOYOON3"/>
            <p:cNvSpPr txBox="1"/>
            <p:nvPr/>
          </p:nvSpPr>
          <p:spPr>
            <a:xfrm>
              <a:off x="2535558" y="3364376"/>
              <a:ext cx="1474651" cy="425884"/>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将北极星指标（如</a:t>
              </a:r>
              <a:r>
                <a:rPr lang="en-US" altLang="zh-CN" sz="1000" dirty="0">
                  <a:solidFill>
                    <a:srgbClr val="383838"/>
                  </a:solidFill>
                  <a:latin typeface="微软雅黑"/>
                  <a:ea typeface="微软雅黑"/>
                  <a:cs typeface="微软雅黑"/>
                  <a:sym typeface="微软雅黑"/>
                </a:rPr>
                <a:t>GMV</a:t>
              </a:r>
              <a:r>
                <a:rPr lang="zh-CN" altLang="en-US" sz="1000" dirty="0">
                  <a:solidFill>
                    <a:srgbClr val="383838"/>
                  </a:solidFill>
                  <a:latin typeface="微软雅黑"/>
                  <a:ea typeface="微软雅黑"/>
                  <a:cs typeface="微软雅黑"/>
                  <a:sym typeface="微软雅黑"/>
                </a:rPr>
                <a:t>）拆解为流量</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转化率</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客单价，明确核心玩法与策略方向。</a:t>
              </a:r>
              <a:endParaRPr lang="zh-CN" altLang="en-US" sz="1000" dirty="0">
                <a:solidFill>
                  <a:srgbClr val="383838"/>
                </a:solidFill>
                <a:latin typeface="微软雅黑"/>
                <a:ea typeface="微软雅黑"/>
                <a:cs typeface="微软雅黑"/>
                <a:sym typeface="微软雅黑"/>
              </a:endParaRPr>
            </a:p>
          </p:txBody>
        </p:sp>
        <p:sp>
          <p:nvSpPr>
            <p:cNvPr id="29" name="YOYOON4"/>
            <p:cNvSpPr txBox="1"/>
            <p:nvPr/>
          </p:nvSpPr>
          <p:spPr>
            <a:xfrm>
              <a:off x="2538403" y="3152740"/>
              <a:ext cx="1364259" cy="194690"/>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目标拆解</a:t>
              </a:r>
              <a:endParaRPr lang="zh-CN" altLang="en-US" sz="1200" b="1" dirty="0">
                <a:solidFill>
                  <a:srgbClr val="0042FF"/>
                </a:solidFill>
                <a:latin typeface="微软雅黑"/>
                <a:ea typeface="微软雅黑"/>
                <a:cs typeface="微软雅黑"/>
                <a:sym typeface="微软雅黑"/>
              </a:endParaRPr>
            </a:p>
          </p:txBody>
        </p:sp>
      </p:grpSp>
      <p:grpSp>
        <p:nvGrpSpPr>
          <p:cNvPr id="30" name="YOYOON36"/>
          <p:cNvGrpSpPr/>
          <p:nvPr/>
        </p:nvGrpSpPr>
        <p:grpSpPr>
          <a:xfrm rot="0">
            <a:off x="4020185" y="2186286"/>
            <a:ext cx="1517650" cy="918882"/>
            <a:chOff x="2535558" y="3152740"/>
            <a:chExt cx="1474651" cy="765512"/>
          </a:xfrm>
        </p:grpSpPr>
        <p:sp>
          <p:nvSpPr>
            <p:cNvPr id="31" name="YOYOON5"/>
            <p:cNvSpPr txBox="1"/>
            <p:nvPr/>
          </p:nvSpPr>
          <p:spPr>
            <a:xfrm>
              <a:off x="2535558" y="3364376"/>
              <a:ext cx="1474651" cy="553876"/>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将北极星指标拆解为过程指标（如</a:t>
              </a:r>
              <a:r>
                <a:rPr lang="en-US" altLang="zh-CN" sz="1000" dirty="0">
                  <a:solidFill>
                    <a:srgbClr val="383838"/>
                  </a:solidFill>
                  <a:latin typeface="微软雅黑"/>
                  <a:ea typeface="微软雅黑"/>
                  <a:cs typeface="微软雅黑"/>
                  <a:sym typeface="微软雅黑"/>
                </a:rPr>
                <a:t>GMV=</a:t>
              </a:r>
              <a:r>
                <a:rPr lang="zh-CN" altLang="en-US" sz="1000" dirty="0">
                  <a:solidFill>
                    <a:srgbClr val="383838"/>
                  </a:solidFill>
                  <a:latin typeface="微软雅黑"/>
                  <a:ea typeface="微软雅黑"/>
                  <a:cs typeface="微软雅黑"/>
                  <a:sym typeface="微软雅黑"/>
                </a:rPr>
                <a:t>流量</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转化率</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客单价），并细化文案视觉策略。</a:t>
              </a:r>
              <a:endParaRPr lang="zh-CN" altLang="en-US" sz="1000" dirty="0">
                <a:solidFill>
                  <a:srgbClr val="383838"/>
                </a:solidFill>
                <a:latin typeface="微软雅黑"/>
                <a:ea typeface="微软雅黑"/>
                <a:cs typeface="微软雅黑"/>
                <a:sym typeface="微软雅黑"/>
              </a:endParaRPr>
            </a:p>
          </p:txBody>
        </p:sp>
        <p:sp>
          <p:nvSpPr>
            <p:cNvPr id="32" name="YOYOON6"/>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sz="1200" b="1" dirty="0">
                  <a:solidFill>
                    <a:srgbClr val="0042FF"/>
                  </a:solidFill>
                  <a:latin typeface="微软雅黑"/>
                  <a:ea typeface="微软雅黑"/>
                  <a:cs typeface="微软雅黑"/>
                  <a:sym typeface="微软雅黑"/>
                </a:rPr>
                <a:t>细化指标</a:t>
              </a:r>
              <a:endParaRPr lang="zh-CN" sz="1200" b="1" dirty="0">
                <a:solidFill>
                  <a:srgbClr val="0042FF"/>
                </a:solidFill>
                <a:latin typeface="微软雅黑"/>
                <a:ea typeface="微软雅黑"/>
                <a:cs typeface="微软雅黑"/>
                <a:sym typeface="微软雅黑"/>
              </a:endParaRPr>
            </a:p>
          </p:txBody>
        </p:sp>
      </p:grpSp>
      <p:grpSp>
        <p:nvGrpSpPr>
          <p:cNvPr id="57" name="YOYOON39"/>
          <p:cNvGrpSpPr/>
          <p:nvPr/>
        </p:nvGrpSpPr>
        <p:grpSpPr>
          <a:xfrm rot="0">
            <a:off x="1922780" y="5226685"/>
            <a:ext cx="1438910" cy="765175"/>
            <a:chOff x="2535558" y="3152740"/>
            <a:chExt cx="1398142" cy="637460"/>
          </a:xfrm>
        </p:grpSpPr>
        <p:sp>
          <p:nvSpPr>
            <p:cNvPr id="58" name="YOYOON11"/>
            <p:cNvSpPr txBox="1"/>
            <p:nvPr/>
          </p:nvSpPr>
          <p:spPr>
            <a:xfrm>
              <a:off x="2535558" y="3364345"/>
              <a:ext cx="1398142"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产出含目标、预算的正式文档，并明确项目是否继续推进的关键决策。</a:t>
              </a:r>
              <a:endParaRPr lang="zh-CN" altLang="en-US" sz="1000" dirty="0">
                <a:solidFill>
                  <a:srgbClr val="383838"/>
                </a:solidFill>
                <a:latin typeface="微软雅黑"/>
                <a:ea typeface="微软雅黑"/>
                <a:cs typeface="微软雅黑"/>
                <a:sym typeface="微软雅黑"/>
              </a:endParaRPr>
            </a:p>
          </p:txBody>
        </p:sp>
        <p:sp>
          <p:nvSpPr>
            <p:cNvPr id="60" name="YOYOON12"/>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立项说明书与决策</a:t>
              </a:r>
              <a:endParaRPr lang="zh-CN" altLang="en-US" sz="1200" b="1" dirty="0">
                <a:solidFill>
                  <a:srgbClr val="0042FF"/>
                </a:solidFill>
                <a:latin typeface="微软雅黑"/>
                <a:ea typeface="微软雅黑"/>
                <a:cs typeface="微软雅黑"/>
                <a:sym typeface="微软雅黑"/>
              </a:endParaRPr>
            </a:p>
          </p:txBody>
        </p:sp>
      </p:grpSp>
      <p:grpSp>
        <p:nvGrpSpPr>
          <p:cNvPr id="61" name="YOYOON40"/>
          <p:cNvGrpSpPr/>
          <p:nvPr/>
        </p:nvGrpSpPr>
        <p:grpSpPr>
          <a:xfrm rot="0">
            <a:off x="4053205" y="5226685"/>
            <a:ext cx="1439545" cy="765176"/>
            <a:chOff x="2535558" y="3152740"/>
            <a:chExt cx="1398759" cy="637460"/>
          </a:xfrm>
        </p:grpSpPr>
        <p:sp>
          <p:nvSpPr>
            <p:cNvPr id="62" name="YOYOON13"/>
            <p:cNvSpPr txBox="1"/>
            <p:nvPr/>
          </p:nvSpPr>
          <p:spPr>
            <a:xfrm>
              <a:off x="2535558" y="3364345"/>
              <a:ext cx="1398759"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输出详细时间排期表，列出所有需设计的海报、</a:t>
              </a:r>
              <a:r>
                <a:rPr lang="en-US" altLang="zh-CN" sz="1000" dirty="0">
                  <a:solidFill>
                    <a:srgbClr val="383838"/>
                  </a:solidFill>
                  <a:latin typeface="微软雅黑"/>
                  <a:ea typeface="微软雅黑"/>
                  <a:cs typeface="微软雅黑"/>
                  <a:sym typeface="微软雅黑"/>
                </a:rPr>
                <a:t>H5</a:t>
              </a:r>
              <a:r>
                <a:rPr lang="zh-CN" altLang="en-US" sz="1000" dirty="0">
                  <a:solidFill>
                    <a:srgbClr val="383838"/>
                  </a:solidFill>
                  <a:latin typeface="微软雅黑"/>
                  <a:ea typeface="微软雅黑"/>
                  <a:cs typeface="微软雅黑"/>
                  <a:sym typeface="微软雅黑"/>
                </a:rPr>
                <a:t>、文案清单。</a:t>
              </a:r>
              <a:endParaRPr lang="zh-CN" altLang="en-US" sz="1000" dirty="0">
                <a:solidFill>
                  <a:srgbClr val="383838"/>
                </a:solidFill>
                <a:latin typeface="微软雅黑"/>
                <a:ea typeface="微软雅黑"/>
                <a:cs typeface="微软雅黑"/>
                <a:sym typeface="微软雅黑"/>
              </a:endParaRPr>
            </a:p>
          </p:txBody>
        </p:sp>
        <p:sp>
          <p:nvSpPr>
            <p:cNvPr id="63" name="YOYOON14"/>
            <p:cNvSpPr txBox="1"/>
            <p:nvPr/>
          </p:nvSpPr>
          <p:spPr>
            <a:xfrm>
              <a:off x="2538403" y="3152740"/>
              <a:ext cx="1364259" cy="194676"/>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进度表与物料清单</a:t>
              </a:r>
              <a:endParaRPr lang="zh-CN" altLang="en-US" sz="1200" b="1" dirty="0">
                <a:solidFill>
                  <a:srgbClr val="0042FF"/>
                </a:solidFill>
                <a:latin typeface="微软雅黑"/>
                <a:ea typeface="微软雅黑"/>
                <a:cs typeface="微软雅黑"/>
                <a:sym typeface="微软雅黑"/>
              </a:endParaRPr>
            </a:p>
          </p:txBody>
        </p:sp>
      </p:grpSp>
      <p:grpSp>
        <p:nvGrpSpPr>
          <p:cNvPr id="84" name="YOYOON43"/>
          <p:cNvGrpSpPr/>
          <p:nvPr/>
        </p:nvGrpSpPr>
        <p:grpSpPr>
          <a:xfrm rot="0">
            <a:off x="4410075" y="3730606"/>
            <a:ext cx="1517650" cy="765212"/>
            <a:chOff x="2535558" y="3152740"/>
            <a:chExt cx="1474651" cy="637491"/>
          </a:xfrm>
        </p:grpSpPr>
        <p:sp>
          <p:nvSpPr>
            <p:cNvPr id="85" name="YOYOON19"/>
            <p:cNvSpPr txBox="1"/>
            <p:nvPr/>
          </p:nvSpPr>
          <p:spPr>
            <a:xfrm>
              <a:off x="2535558" y="33643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制定甘特图明确时间节点与责任人，锁定推广位、预算及技术资源。</a:t>
              </a:r>
              <a:endParaRPr lang="zh-CN" altLang="en-US" sz="1000" dirty="0">
                <a:solidFill>
                  <a:srgbClr val="383838"/>
                </a:solidFill>
                <a:latin typeface="微软雅黑"/>
                <a:ea typeface="微软雅黑"/>
                <a:cs typeface="微软雅黑"/>
                <a:sym typeface="微软雅黑"/>
              </a:endParaRPr>
            </a:p>
          </p:txBody>
        </p:sp>
        <p:sp>
          <p:nvSpPr>
            <p:cNvPr id="86" name="YOYOON20"/>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排期协调</a:t>
              </a:r>
              <a:endParaRPr lang="zh-CN" altLang="en-US" sz="1200" b="1" dirty="0">
                <a:solidFill>
                  <a:srgbClr val="0042FF"/>
                </a:solidFill>
                <a:latin typeface="微软雅黑"/>
                <a:ea typeface="微软雅黑"/>
                <a:cs typeface="微软雅黑"/>
                <a:sym typeface="微软雅黑"/>
              </a:endParaRPr>
            </a:p>
          </p:txBody>
        </p:sp>
      </p:grpSp>
      <p:grpSp>
        <p:nvGrpSpPr>
          <p:cNvPr id="1607" name="YOYOON46"/>
          <p:cNvGrpSpPr/>
          <p:nvPr/>
        </p:nvGrpSpPr>
        <p:grpSpPr>
          <a:xfrm rot="0">
            <a:off x="518979" y="2292317"/>
            <a:ext cx="831482" cy="713806"/>
            <a:chOff x="764929" y="1839769"/>
            <a:chExt cx="807936" cy="594805"/>
          </a:xfrm>
        </p:grpSpPr>
        <p:sp>
          <p:nvSpPr>
            <p:cNvPr id="1634" name="YOYOON25"/>
            <p:cNvSpPr txBox="1"/>
            <p:nvPr/>
          </p:nvSpPr>
          <p:spPr>
            <a:xfrm>
              <a:off x="764929" y="2085873"/>
              <a:ext cx="807319" cy="348701"/>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目标策略</a:t>
              </a:r>
              <a:endParaRPr lang="zh-CN" altLang="en-US" sz="1200" dirty="0">
                <a:solidFill>
                  <a:srgbClr val="383838"/>
                </a:solidFill>
                <a:latin typeface="微软雅黑"/>
                <a:ea typeface="微软雅黑"/>
                <a:cs typeface="微软雅黑"/>
                <a:sym typeface="微软雅黑"/>
              </a:endParaRPr>
            </a:p>
            <a:p>
              <a:pPr algn="ctr" defTabSz="1828165">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（做什么）</a:t>
              </a:r>
              <a:endParaRPr lang="zh-CN" sz="1200" dirty="0">
                <a:solidFill>
                  <a:srgbClr val="383838"/>
                </a:solidFill>
                <a:latin typeface="微软雅黑"/>
                <a:ea typeface="微软雅黑"/>
                <a:cs typeface="微软雅黑"/>
                <a:sym typeface="微软雅黑"/>
              </a:endParaRPr>
            </a:p>
          </p:txBody>
        </p:sp>
        <p:sp>
          <p:nvSpPr>
            <p:cNvPr id="1605" name="YOYOON26"/>
            <p:cNvSpPr txBox="1"/>
            <p:nvPr/>
          </p:nvSpPr>
          <p:spPr>
            <a:xfrm>
              <a:off x="765546" y="1839769"/>
              <a:ext cx="807319" cy="246049"/>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en-US" altLang="zh-CN" sz="1600" b="1" dirty="0">
                  <a:solidFill>
                    <a:srgbClr val="0042FF"/>
                  </a:solidFill>
                  <a:latin typeface="微软雅黑"/>
                  <a:ea typeface="微软雅黑"/>
                  <a:cs typeface="微软雅黑"/>
                  <a:sym typeface="微软雅黑"/>
                </a:rPr>
                <a:t>01</a:t>
              </a:r>
              <a:endParaRPr sz="1600" b="1" dirty="0">
                <a:solidFill>
                  <a:srgbClr val="0042FF"/>
                </a:solidFill>
                <a:latin typeface="微软雅黑"/>
                <a:ea typeface="微软雅黑"/>
                <a:cs typeface="微软雅黑"/>
                <a:sym typeface="微软雅黑"/>
              </a:endParaRPr>
            </a:p>
          </p:txBody>
        </p:sp>
      </p:grpSp>
      <p:sp>
        <p:nvSpPr>
          <p:cNvPr id="90" name="YOYOON28"/>
          <p:cNvSpPr txBox="1"/>
          <p:nvPr/>
        </p:nvSpPr>
        <p:spPr>
          <a:xfrm>
            <a:off x="3522980" y="1356360"/>
            <a:ext cx="1759585" cy="433705"/>
          </a:xfrm>
          <a:prstGeom prst="rect">
            <a:avLst/>
          </a:prstGeom>
          <a:ln w="12700">
            <a:miter lim="400000"/>
          </a:ln>
        </p:spPr>
        <p:txBody>
          <a:bodyPr wrap="square" lIns="0" tIns="0" rIns="0" bIns="0">
            <a:spAutoFit/>
          </a:bodyPr>
          <a:lstStyle>
            <a:lvl1pPr algn="l">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第二阶段：规划</a:t>
            </a:r>
            <a:endParaRPr lang="zh-CN" altLang="en-US" sz="15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a:t>
            </a:r>
            <a:r>
              <a:rPr lang="en-US" altLang="zh-CN" sz="1000" b="1" dirty="0">
                <a:solidFill>
                  <a:srgbClr val="FFFFFF"/>
                </a:solidFill>
                <a:latin typeface="微软雅黑"/>
                <a:ea typeface="微软雅黑"/>
                <a:cs typeface="微软雅黑"/>
                <a:sym typeface="微软雅黑"/>
              </a:rPr>
              <a:t>2025.7-2026.2</a:t>
            </a:r>
            <a:r>
              <a:rPr lang="zh-CN" altLang="en-US" sz="1000" b="1" dirty="0">
                <a:solidFill>
                  <a:srgbClr val="FFFFFF"/>
                </a:solidFill>
                <a:latin typeface="微软雅黑"/>
                <a:ea typeface="微软雅黑"/>
                <a:cs typeface="微软雅黑"/>
                <a:sym typeface="微软雅黑"/>
              </a:rPr>
              <a:t>）</a:t>
            </a:r>
            <a:endParaRPr lang="zh-CN" altLang="en-US" sz="1000" b="1" dirty="0">
              <a:solidFill>
                <a:srgbClr val="FFFFFF"/>
              </a:solidFill>
              <a:latin typeface="微软雅黑"/>
              <a:ea typeface="微软雅黑"/>
              <a:cs typeface="微软雅黑"/>
              <a:sym typeface="微软雅黑"/>
            </a:endParaRPr>
          </a:p>
        </p:txBody>
      </p:sp>
      <p:sp>
        <p:nvSpPr>
          <p:cNvPr id="91" name="YOYOON28"/>
          <p:cNvSpPr txBox="1"/>
          <p:nvPr/>
        </p:nvSpPr>
        <p:spPr>
          <a:xfrm>
            <a:off x="5641975" y="1356360"/>
            <a:ext cx="1759585" cy="433705"/>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第三阶段：执行</a:t>
            </a:r>
            <a:endParaRPr lang="zh-CN" altLang="en-US" sz="15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a:t>
            </a:r>
            <a:r>
              <a:rPr lang="en-US" altLang="zh-CN" sz="1000" b="1" dirty="0">
                <a:solidFill>
                  <a:srgbClr val="383838"/>
                </a:solidFill>
                <a:latin typeface="微软雅黑"/>
                <a:ea typeface="微软雅黑"/>
                <a:cs typeface="微软雅黑"/>
                <a:sym typeface="微软雅黑"/>
              </a:rPr>
              <a:t>2026.3-2026.8</a:t>
            </a:r>
            <a:r>
              <a:rPr lang="zh-CN" altLang="en-US" sz="1000" b="1" dirty="0">
                <a:solidFill>
                  <a:srgbClr val="383838"/>
                </a:solidFill>
                <a:latin typeface="微软雅黑"/>
                <a:ea typeface="微软雅黑"/>
                <a:cs typeface="微软雅黑"/>
                <a:sym typeface="微软雅黑"/>
              </a:rPr>
              <a:t>）</a:t>
            </a:r>
            <a:endParaRPr lang="zh-CN" altLang="en-US" sz="1000" b="1" dirty="0">
              <a:solidFill>
                <a:srgbClr val="383838"/>
              </a:solidFill>
              <a:latin typeface="微软雅黑"/>
              <a:ea typeface="微软雅黑"/>
              <a:cs typeface="微软雅黑"/>
              <a:sym typeface="微软雅黑"/>
            </a:endParaRPr>
          </a:p>
        </p:txBody>
      </p:sp>
      <p:sp>
        <p:nvSpPr>
          <p:cNvPr id="92" name="YOYOON28"/>
          <p:cNvSpPr txBox="1"/>
          <p:nvPr/>
        </p:nvSpPr>
        <p:spPr>
          <a:xfrm>
            <a:off x="7761605" y="1356360"/>
            <a:ext cx="1759585" cy="433705"/>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第四阶段：复盘</a:t>
            </a:r>
            <a:endParaRPr lang="zh-CN" altLang="en-US" sz="15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a:t>
            </a:r>
            <a:r>
              <a:rPr lang="en-US" altLang="zh-CN" sz="1000" b="1" dirty="0">
                <a:solidFill>
                  <a:srgbClr val="383838"/>
                </a:solidFill>
                <a:latin typeface="微软雅黑"/>
                <a:ea typeface="微软雅黑"/>
                <a:cs typeface="微软雅黑"/>
                <a:sym typeface="微软雅黑"/>
              </a:rPr>
              <a:t>2026.9-2026.12</a:t>
            </a:r>
            <a:r>
              <a:rPr lang="zh-CN" altLang="en-US" sz="1000" b="1" dirty="0">
                <a:solidFill>
                  <a:srgbClr val="383838"/>
                </a:solidFill>
                <a:latin typeface="微软雅黑"/>
                <a:ea typeface="微软雅黑"/>
                <a:cs typeface="微软雅黑"/>
                <a:sym typeface="微软雅黑"/>
              </a:rPr>
              <a:t>）</a:t>
            </a:r>
            <a:endParaRPr lang="zh-CN" altLang="en-US" sz="1000" b="1" dirty="0">
              <a:solidFill>
                <a:srgbClr val="383838"/>
              </a:solidFill>
              <a:latin typeface="微软雅黑"/>
              <a:ea typeface="微软雅黑"/>
              <a:cs typeface="微软雅黑"/>
              <a:sym typeface="微软雅黑"/>
            </a:endParaRPr>
          </a:p>
        </p:txBody>
      </p:sp>
      <p:sp>
        <p:nvSpPr>
          <p:cNvPr id="93" name="YOYOON33"/>
          <p:cNvSpPr txBox="1"/>
          <p:nvPr/>
        </p:nvSpPr>
        <p:spPr>
          <a:xfrm>
            <a:off x="10382250" y="1448435"/>
            <a:ext cx="935990" cy="280035"/>
          </a:xfrm>
          <a:prstGeom prst="rect">
            <a:avLst/>
          </a:prstGeom>
          <a:ln w="12700">
            <a:miter lim="400000"/>
          </a:ln>
        </p:spPr>
        <p:txBody>
          <a:bodyPr wrap="square"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成果预期</a:t>
            </a:r>
            <a:endParaRPr lang="zh-CN" altLang="en-US" sz="1500" b="1" dirty="0">
              <a:solidFill>
                <a:srgbClr val="383838"/>
              </a:solidFill>
              <a:latin typeface="微软雅黑"/>
              <a:ea typeface="微软雅黑"/>
              <a:cs typeface="微软雅黑"/>
              <a:sym typeface="微软雅黑"/>
            </a:endParaRPr>
          </a:p>
        </p:txBody>
      </p:sp>
      <p:grpSp>
        <p:nvGrpSpPr>
          <p:cNvPr id="2" name="YOYOON46"/>
          <p:cNvGrpSpPr/>
          <p:nvPr/>
        </p:nvGrpSpPr>
        <p:grpSpPr>
          <a:xfrm rot="0">
            <a:off x="671379" y="3755357"/>
            <a:ext cx="831482" cy="713806"/>
            <a:chOff x="764929" y="1839769"/>
            <a:chExt cx="807936" cy="594805"/>
          </a:xfrm>
        </p:grpSpPr>
        <p:sp>
          <p:nvSpPr>
            <p:cNvPr id="6" name="YOYOON25"/>
            <p:cNvSpPr txBox="1"/>
            <p:nvPr/>
          </p:nvSpPr>
          <p:spPr>
            <a:xfrm>
              <a:off x="764929" y="2085873"/>
              <a:ext cx="807319" cy="348701"/>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执行过程</a:t>
              </a:r>
              <a:endParaRPr lang="zh-CN" altLang="en-US" sz="1200" dirty="0">
                <a:solidFill>
                  <a:srgbClr val="383838"/>
                </a:solidFill>
                <a:latin typeface="微软雅黑"/>
                <a:ea typeface="微软雅黑"/>
                <a:cs typeface="微软雅黑"/>
                <a:sym typeface="微软雅黑"/>
              </a:endParaRPr>
            </a:p>
            <a:p>
              <a:pPr algn="ctr" defTabSz="1828165">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（怎么做）</a:t>
              </a:r>
              <a:endParaRPr lang="zh-CN" sz="1200" dirty="0">
                <a:solidFill>
                  <a:srgbClr val="383838"/>
                </a:solidFill>
                <a:latin typeface="微软雅黑"/>
                <a:ea typeface="微软雅黑"/>
                <a:cs typeface="微软雅黑"/>
                <a:sym typeface="微软雅黑"/>
              </a:endParaRPr>
            </a:p>
          </p:txBody>
        </p:sp>
        <p:sp>
          <p:nvSpPr>
            <p:cNvPr id="7" name="YOYOON26"/>
            <p:cNvSpPr txBox="1"/>
            <p:nvPr/>
          </p:nvSpPr>
          <p:spPr>
            <a:xfrm>
              <a:off x="765546" y="1839769"/>
              <a:ext cx="807319" cy="246049"/>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en-US" altLang="zh-CN" sz="1600" b="1" dirty="0">
                  <a:solidFill>
                    <a:srgbClr val="0042FF"/>
                  </a:solidFill>
                  <a:latin typeface="微软雅黑"/>
                  <a:ea typeface="微软雅黑"/>
                  <a:cs typeface="微软雅黑"/>
                  <a:sym typeface="微软雅黑"/>
                </a:rPr>
                <a:t>02</a:t>
              </a:r>
              <a:endParaRPr sz="1600" b="1" dirty="0">
                <a:solidFill>
                  <a:srgbClr val="0042FF"/>
                </a:solidFill>
                <a:latin typeface="微软雅黑"/>
                <a:ea typeface="微软雅黑"/>
                <a:cs typeface="微软雅黑"/>
                <a:sym typeface="微软雅黑"/>
              </a:endParaRPr>
            </a:p>
          </p:txBody>
        </p:sp>
      </p:grpSp>
      <p:grpSp>
        <p:nvGrpSpPr>
          <p:cNvPr id="8" name="YOYOON46"/>
          <p:cNvGrpSpPr/>
          <p:nvPr/>
        </p:nvGrpSpPr>
        <p:grpSpPr>
          <a:xfrm rot="0">
            <a:off x="526599" y="5176487"/>
            <a:ext cx="831482" cy="713806"/>
            <a:chOff x="764929" y="1839769"/>
            <a:chExt cx="807936" cy="594805"/>
          </a:xfrm>
        </p:grpSpPr>
        <p:sp>
          <p:nvSpPr>
            <p:cNvPr id="9" name="YOYOON25"/>
            <p:cNvSpPr txBox="1"/>
            <p:nvPr/>
          </p:nvSpPr>
          <p:spPr>
            <a:xfrm>
              <a:off x="764929" y="2085873"/>
              <a:ext cx="807319" cy="348701"/>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结果沉淀</a:t>
              </a:r>
              <a:endParaRPr lang="zh-CN" altLang="en-US" sz="1200" dirty="0">
                <a:solidFill>
                  <a:srgbClr val="383838"/>
                </a:solidFill>
                <a:latin typeface="微软雅黑"/>
                <a:ea typeface="微软雅黑"/>
                <a:cs typeface="微软雅黑"/>
                <a:sym typeface="微软雅黑"/>
              </a:endParaRPr>
            </a:p>
            <a:p>
              <a:pPr algn="ctr" defTabSz="1828165">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（产出什么）</a:t>
              </a:r>
              <a:endParaRPr lang="zh-CN" sz="1200" dirty="0">
                <a:solidFill>
                  <a:srgbClr val="383838"/>
                </a:solidFill>
                <a:latin typeface="微软雅黑"/>
                <a:ea typeface="微软雅黑"/>
                <a:cs typeface="微软雅黑"/>
                <a:sym typeface="微软雅黑"/>
              </a:endParaRPr>
            </a:p>
          </p:txBody>
        </p:sp>
        <p:sp>
          <p:nvSpPr>
            <p:cNvPr id="11" name="YOYOON26"/>
            <p:cNvSpPr txBox="1"/>
            <p:nvPr/>
          </p:nvSpPr>
          <p:spPr>
            <a:xfrm>
              <a:off x="765546" y="1839769"/>
              <a:ext cx="807319" cy="246049"/>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en-US" altLang="zh-CN" sz="1600" b="1" dirty="0">
                  <a:solidFill>
                    <a:srgbClr val="0042FF"/>
                  </a:solidFill>
                  <a:latin typeface="微软雅黑"/>
                  <a:ea typeface="微软雅黑"/>
                  <a:cs typeface="微软雅黑"/>
                  <a:sym typeface="微软雅黑"/>
                </a:rPr>
                <a:t>03</a:t>
              </a:r>
              <a:endParaRPr sz="1600" b="1" dirty="0">
                <a:solidFill>
                  <a:srgbClr val="0042FF"/>
                </a:solidFill>
                <a:latin typeface="微软雅黑"/>
                <a:ea typeface="微软雅黑"/>
                <a:cs typeface="微软雅黑"/>
                <a:sym typeface="微软雅黑"/>
              </a:endParaRPr>
            </a:p>
          </p:txBody>
        </p:sp>
      </p:grpSp>
      <p:grpSp>
        <p:nvGrpSpPr>
          <p:cNvPr id="35" name="YOYOON34"/>
          <p:cNvGrpSpPr/>
          <p:nvPr/>
        </p:nvGrpSpPr>
        <p:grpSpPr>
          <a:xfrm rot="0">
            <a:off x="6484620" y="3722987"/>
            <a:ext cx="1517650" cy="780452"/>
            <a:chOff x="2383158" y="2987644"/>
            <a:chExt cx="1474651" cy="650187"/>
          </a:xfrm>
        </p:grpSpPr>
        <p:sp>
          <p:nvSpPr>
            <p:cNvPr id="36" name="YOYOON1"/>
            <p:cNvSpPr txBox="1"/>
            <p:nvPr/>
          </p:nvSpPr>
          <p:spPr>
            <a:xfrm>
              <a:off x="2383158" y="32119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小范围灰度验证后按节奏全面推广，同时监控舆情及时处理客诉。</a:t>
              </a:r>
              <a:endParaRPr lang="zh-CN" altLang="en-US" sz="1000" dirty="0">
                <a:solidFill>
                  <a:srgbClr val="383838"/>
                </a:solidFill>
                <a:latin typeface="微软雅黑"/>
                <a:ea typeface="微软雅黑"/>
                <a:cs typeface="微软雅黑"/>
                <a:sym typeface="微软雅黑"/>
              </a:endParaRPr>
            </a:p>
          </p:txBody>
        </p:sp>
        <p:sp>
          <p:nvSpPr>
            <p:cNvPr id="37" name="YOYOON2"/>
            <p:cNvSpPr txBox="1"/>
            <p:nvPr/>
          </p:nvSpPr>
          <p:spPr>
            <a:xfrm>
              <a:off x="2386003" y="2987644"/>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宣发与风控</a:t>
              </a:r>
              <a:endParaRPr lang="zh-CN" altLang="en-US" sz="1200" b="1" dirty="0">
                <a:solidFill>
                  <a:srgbClr val="0042FF"/>
                </a:solidFill>
                <a:latin typeface="微软雅黑"/>
                <a:ea typeface="微软雅黑"/>
                <a:cs typeface="微软雅黑"/>
                <a:sym typeface="微软雅黑"/>
              </a:endParaRPr>
            </a:p>
          </p:txBody>
        </p:sp>
      </p:grpSp>
      <p:grpSp>
        <p:nvGrpSpPr>
          <p:cNvPr id="38" name="YOYOON35"/>
          <p:cNvGrpSpPr/>
          <p:nvPr/>
        </p:nvGrpSpPr>
        <p:grpSpPr>
          <a:xfrm rot="0">
            <a:off x="6109335" y="2263130"/>
            <a:ext cx="1640840" cy="765195"/>
            <a:chOff x="2535558" y="3152740"/>
            <a:chExt cx="1474651" cy="637521"/>
          </a:xfrm>
        </p:grpSpPr>
        <p:sp>
          <p:nvSpPr>
            <p:cNvPr id="39" name="YOYOON3"/>
            <p:cNvSpPr txBox="1"/>
            <p:nvPr/>
          </p:nvSpPr>
          <p:spPr>
            <a:xfrm>
              <a:off x="2535558" y="3364376"/>
              <a:ext cx="1474651" cy="42588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每日监控数据看板，根据实时反馈快速</a:t>
              </a:r>
              <a:r>
                <a:rPr lang="en-US" altLang="zh-CN" sz="1000" dirty="0">
                  <a:solidFill>
                    <a:srgbClr val="383838"/>
                  </a:solidFill>
                  <a:latin typeface="微软雅黑"/>
                  <a:ea typeface="微软雅黑"/>
                  <a:cs typeface="微软雅黑"/>
                  <a:sym typeface="微软雅黑"/>
                </a:rPr>
                <a:t>A/B</a:t>
              </a:r>
              <a:r>
                <a:rPr lang="zh-CN" altLang="en-US" sz="1000" dirty="0">
                  <a:solidFill>
                    <a:srgbClr val="383838"/>
                  </a:solidFill>
                  <a:latin typeface="微软雅黑"/>
                  <a:ea typeface="微软雅黑"/>
                  <a:cs typeface="微软雅黑"/>
                  <a:sym typeface="微软雅黑"/>
                </a:rPr>
                <a:t>测试，优化素材话术确保不偏离目标。</a:t>
              </a:r>
              <a:endParaRPr lang="zh-CN" altLang="en-US" sz="1000" dirty="0">
                <a:solidFill>
                  <a:srgbClr val="383838"/>
                </a:solidFill>
                <a:latin typeface="微软雅黑"/>
                <a:ea typeface="微软雅黑"/>
                <a:cs typeface="微软雅黑"/>
                <a:sym typeface="微软雅黑"/>
              </a:endParaRPr>
            </a:p>
          </p:txBody>
        </p:sp>
        <p:sp>
          <p:nvSpPr>
            <p:cNvPr id="40" name="YOYOON4"/>
            <p:cNvSpPr txBox="1"/>
            <p:nvPr/>
          </p:nvSpPr>
          <p:spPr>
            <a:xfrm>
              <a:off x="2538403" y="3152740"/>
              <a:ext cx="1364259" cy="194690"/>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目标校准</a:t>
              </a:r>
              <a:endParaRPr lang="zh-CN" altLang="en-US" sz="1200" b="1" dirty="0">
                <a:solidFill>
                  <a:srgbClr val="0042FF"/>
                </a:solidFill>
                <a:latin typeface="微软雅黑"/>
                <a:ea typeface="微软雅黑"/>
                <a:cs typeface="微软雅黑"/>
                <a:sym typeface="微软雅黑"/>
              </a:endParaRPr>
            </a:p>
          </p:txBody>
        </p:sp>
      </p:grpSp>
      <p:grpSp>
        <p:nvGrpSpPr>
          <p:cNvPr id="41" name="YOYOON36"/>
          <p:cNvGrpSpPr/>
          <p:nvPr/>
        </p:nvGrpSpPr>
        <p:grpSpPr>
          <a:xfrm rot="0">
            <a:off x="8289290" y="2186286"/>
            <a:ext cx="1517650" cy="918882"/>
            <a:chOff x="2535558" y="3152740"/>
            <a:chExt cx="1474651" cy="765512"/>
          </a:xfrm>
        </p:grpSpPr>
        <p:sp>
          <p:nvSpPr>
            <p:cNvPr id="42" name="YOYOON5"/>
            <p:cNvSpPr txBox="1"/>
            <p:nvPr/>
          </p:nvSpPr>
          <p:spPr>
            <a:xfrm>
              <a:off x="2535558" y="3364376"/>
              <a:ext cx="1474651" cy="553876"/>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对比结果与目标评估策略有效性，深入分析成功或失败的核心原因（渠道、文案等）。</a:t>
              </a:r>
              <a:endParaRPr lang="zh-CN" altLang="en-US" sz="1000" dirty="0">
                <a:solidFill>
                  <a:srgbClr val="383838"/>
                </a:solidFill>
                <a:latin typeface="微软雅黑"/>
                <a:ea typeface="微软雅黑"/>
                <a:cs typeface="微软雅黑"/>
                <a:sym typeface="微软雅黑"/>
              </a:endParaRPr>
            </a:p>
          </p:txBody>
        </p:sp>
        <p:sp>
          <p:nvSpPr>
            <p:cNvPr id="43" name="YOYOON6"/>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sz="1200" b="1" dirty="0">
                  <a:solidFill>
                    <a:srgbClr val="0042FF"/>
                  </a:solidFill>
                  <a:latin typeface="微软雅黑"/>
                  <a:ea typeface="微软雅黑"/>
                  <a:cs typeface="微软雅黑"/>
                  <a:sym typeface="微软雅黑"/>
                </a:rPr>
                <a:t>目标验证</a:t>
              </a:r>
              <a:endParaRPr lang="zh-CN" sz="1200" b="1" dirty="0">
                <a:solidFill>
                  <a:srgbClr val="0042FF"/>
                </a:solidFill>
                <a:latin typeface="微软雅黑"/>
                <a:ea typeface="微软雅黑"/>
                <a:cs typeface="微软雅黑"/>
                <a:sym typeface="微软雅黑"/>
              </a:endParaRPr>
            </a:p>
          </p:txBody>
        </p:sp>
      </p:grpSp>
      <p:grpSp>
        <p:nvGrpSpPr>
          <p:cNvPr id="44" name="YOYOON39"/>
          <p:cNvGrpSpPr/>
          <p:nvPr/>
        </p:nvGrpSpPr>
        <p:grpSpPr>
          <a:xfrm rot="0">
            <a:off x="6191885" y="5226685"/>
            <a:ext cx="1438910" cy="765175"/>
            <a:chOff x="2535558" y="3152740"/>
            <a:chExt cx="1398142" cy="637460"/>
          </a:xfrm>
        </p:grpSpPr>
        <p:sp>
          <p:nvSpPr>
            <p:cNvPr id="45" name="YOYOON11"/>
            <p:cNvSpPr txBox="1"/>
            <p:nvPr/>
          </p:nvSpPr>
          <p:spPr>
            <a:xfrm>
              <a:off x="2535558" y="3364345"/>
              <a:ext cx="1398142"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每日记录核心数据波动及原因，收集用户真实声音供复盘。</a:t>
              </a:r>
              <a:endParaRPr lang="zh-CN" altLang="en-US" sz="1000" dirty="0">
                <a:solidFill>
                  <a:srgbClr val="383838"/>
                </a:solidFill>
                <a:latin typeface="微软雅黑"/>
                <a:ea typeface="微软雅黑"/>
                <a:cs typeface="微软雅黑"/>
                <a:sym typeface="微软雅黑"/>
              </a:endParaRPr>
            </a:p>
          </p:txBody>
        </p:sp>
        <p:sp>
          <p:nvSpPr>
            <p:cNvPr id="46" name="YOYOON12"/>
            <p:cNvSpPr txBox="1"/>
            <p:nvPr/>
          </p:nvSpPr>
          <p:spPr>
            <a:xfrm>
              <a:off x="2538403" y="3152740"/>
              <a:ext cx="1364259" cy="348619"/>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用户数据与反馈</a:t>
              </a:r>
              <a:endParaRPr lang="zh-CN" altLang="en-US" sz="1200" b="1" dirty="0">
                <a:solidFill>
                  <a:srgbClr val="0042FF"/>
                </a:solidFill>
                <a:latin typeface="微软雅黑"/>
                <a:ea typeface="微软雅黑"/>
                <a:cs typeface="微软雅黑"/>
                <a:sym typeface="微软雅黑"/>
              </a:endParaRPr>
            </a:p>
            <a:p>
              <a:pPr defTabSz="1828165">
                <a:defRPr>
                  <a:latin typeface="微软雅黑"/>
                  <a:ea typeface="微软雅黑"/>
                  <a:cs typeface="微软雅黑"/>
                </a:defRPr>
              </a:pPr>
              <a:endParaRPr lang="zh-CN" altLang="en-US" sz="1200" b="1" dirty="0">
                <a:solidFill>
                  <a:srgbClr val="0042FF"/>
                </a:solidFill>
                <a:latin typeface="微软雅黑"/>
                <a:ea typeface="微软雅黑"/>
                <a:cs typeface="微软雅黑"/>
                <a:sym typeface="微软雅黑"/>
              </a:endParaRPr>
            </a:p>
          </p:txBody>
        </p:sp>
      </p:grpSp>
      <p:grpSp>
        <p:nvGrpSpPr>
          <p:cNvPr id="47" name="YOYOON40"/>
          <p:cNvGrpSpPr/>
          <p:nvPr/>
        </p:nvGrpSpPr>
        <p:grpSpPr>
          <a:xfrm rot="0">
            <a:off x="8322310" y="5226685"/>
            <a:ext cx="1439545" cy="918845"/>
            <a:chOff x="2535558" y="3152740"/>
            <a:chExt cx="1398759" cy="765480"/>
          </a:xfrm>
        </p:grpSpPr>
        <p:sp>
          <p:nvSpPr>
            <p:cNvPr id="48" name="YOYOON13"/>
            <p:cNvSpPr txBox="1"/>
            <p:nvPr/>
          </p:nvSpPr>
          <p:spPr>
            <a:xfrm>
              <a:off x="2535558" y="3364345"/>
              <a:ext cx="1398759" cy="55387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复盘报告与</a:t>
              </a:r>
              <a:r>
                <a:rPr lang="en-US" altLang="zh-CN" sz="1000" dirty="0">
                  <a:solidFill>
                    <a:srgbClr val="383838"/>
                  </a:solidFill>
                  <a:latin typeface="微软雅黑"/>
                  <a:ea typeface="微软雅黑"/>
                  <a:cs typeface="微软雅黑"/>
                  <a:sym typeface="微软雅黑"/>
                </a:rPr>
                <a:t>SOP</a:t>
              </a:r>
              <a:r>
                <a:rPr lang="zh-CN" altLang="en-US" sz="1000" dirty="0">
                  <a:solidFill>
                    <a:srgbClr val="383838"/>
                  </a:solidFill>
                  <a:latin typeface="微软雅黑"/>
                  <a:ea typeface="微软雅黑"/>
                  <a:cs typeface="微软雅黑"/>
                  <a:sym typeface="微软雅黑"/>
                </a:rPr>
                <a:t>更新：输出含数据总结、经验教训的报告，将踩坑或验证的方法固化。</a:t>
              </a:r>
              <a:endParaRPr lang="zh-CN" altLang="en-US" sz="1000" dirty="0">
                <a:solidFill>
                  <a:srgbClr val="383838"/>
                </a:solidFill>
                <a:latin typeface="微软雅黑"/>
                <a:ea typeface="微软雅黑"/>
                <a:cs typeface="微软雅黑"/>
                <a:sym typeface="微软雅黑"/>
              </a:endParaRPr>
            </a:p>
          </p:txBody>
        </p:sp>
        <p:sp>
          <p:nvSpPr>
            <p:cNvPr id="49" name="YOYOON14"/>
            <p:cNvSpPr txBox="1"/>
            <p:nvPr/>
          </p:nvSpPr>
          <p:spPr>
            <a:xfrm>
              <a:off x="2538403" y="3152740"/>
              <a:ext cx="1364259" cy="194676"/>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结果沉淀</a:t>
              </a:r>
              <a:endParaRPr lang="zh-CN" altLang="en-US" sz="1200" b="1" dirty="0">
                <a:solidFill>
                  <a:srgbClr val="0042FF"/>
                </a:solidFill>
                <a:latin typeface="微软雅黑"/>
                <a:ea typeface="微软雅黑"/>
                <a:cs typeface="微软雅黑"/>
                <a:sym typeface="微软雅黑"/>
              </a:endParaRPr>
            </a:p>
          </p:txBody>
        </p:sp>
      </p:grpSp>
      <p:grpSp>
        <p:nvGrpSpPr>
          <p:cNvPr id="50" name="YOYOON43"/>
          <p:cNvGrpSpPr/>
          <p:nvPr/>
        </p:nvGrpSpPr>
        <p:grpSpPr>
          <a:xfrm rot="0">
            <a:off x="8679180" y="3730606"/>
            <a:ext cx="1517650" cy="765212"/>
            <a:chOff x="2535558" y="3152740"/>
            <a:chExt cx="1474651" cy="637491"/>
          </a:xfrm>
        </p:grpSpPr>
        <p:sp>
          <p:nvSpPr>
            <p:cNvPr id="54" name="YOYOON19"/>
            <p:cNvSpPr txBox="1"/>
            <p:nvPr/>
          </p:nvSpPr>
          <p:spPr>
            <a:xfrm>
              <a:off x="2535558" y="33643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漏斗分析各环节转化率，组织</a:t>
              </a:r>
              <a:r>
                <a:rPr lang="en-US" altLang="zh-CN" sz="1000" dirty="0">
                  <a:solidFill>
                    <a:srgbClr val="383838"/>
                  </a:solidFill>
                  <a:latin typeface="微软雅黑"/>
                  <a:ea typeface="微软雅黑"/>
                  <a:cs typeface="微软雅黑"/>
                  <a:sym typeface="微软雅黑"/>
                </a:rPr>
                <a:t>KISS</a:t>
              </a:r>
              <a:r>
                <a:rPr lang="zh-CN" altLang="en-US" sz="1000" dirty="0">
                  <a:solidFill>
                    <a:srgbClr val="383838"/>
                  </a:solidFill>
                  <a:latin typeface="微软雅黑"/>
                  <a:ea typeface="微软雅黑"/>
                  <a:cs typeface="微软雅黑"/>
                  <a:sym typeface="微软雅黑"/>
                </a:rPr>
                <a:t>模型复盘会梳理流程。</a:t>
              </a:r>
              <a:endParaRPr lang="zh-CN" altLang="en-US" sz="1000" dirty="0">
                <a:solidFill>
                  <a:srgbClr val="383838"/>
                </a:solidFill>
                <a:latin typeface="微软雅黑"/>
                <a:ea typeface="微软雅黑"/>
                <a:cs typeface="微软雅黑"/>
                <a:sym typeface="微软雅黑"/>
              </a:endParaRPr>
            </a:p>
          </p:txBody>
        </p:sp>
        <p:sp>
          <p:nvSpPr>
            <p:cNvPr id="59" name="YOYOON20"/>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数据复盘与团队会</a:t>
              </a:r>
              <a:endParaRPr lang="zh-CN" altLang="en-US" sz="1200" b="1" dirty="0">
                <a:solidFill>
                  <a:srgbClr val="0042FF"/>
                </a:solidFill>
                <a:latin typeface="微软雅黑"/>
                <a:ea typeface="微软雅黑"/>
                <a:cs typeface="微软雅黑"/>
                <a:sym typeface="微软雅黑"/>
              </a:endParaRPr>
            </a:p>
          </p:txBody>
        </p:sp>
      </p:grpSp>
      <p:sp>
        <p:nvSpPr>
          <p:cNvPr id="66" name="YOYOON25"/>
          <p:cNvSpPr txBox="1"/>
          <p:nvPr/>
        </p:nvSpPr>
        <p:spPr>
          <a:xfrm>
            <a:off x="10542270" y="3616960"/>
            <a:ext cx="1217295" cy="1075055"/>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交付率</a:t>
            </a:r>
            <a:r>
              <a:rPr lang="en-US" altLang="zh-CN" sz="1000" dirty="0">
                <a:solidFill>
                  <a:srgbClr val="383838"/>
                </a:solidFill>
                <a:latin typeface="微软雅黑"/>
                <a:ea typeface="微软雅黑"/>
                <a:cs typeface="微软雅黑"/>
                <a:sym typeface="微软雅黑"/>
              </a:rPr>
              <a:t>100%</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预算执行偏差率</a:t>
            </a:r>
            <a:r>
              <a:rPr lang="en-US" altLang="zh-CN" sz="1000" dirty="0">
                <a:solidFill>
                  <a:srgbClr val="383838"/>
                </a:solidFill>
                <a:latin typeface="微软雅黑"/>
                <a:ea typeface="微软雅黑"/>
                <a:cs typeface="微软雅黑"/>
                <a:sym typeface="微软雅黑"/>
              </a:rPr>
              <a:t>≤5%</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舆情处理满意度</a:t>
            </a:r>
            <a:r>
              <a:rPr lang="en-US" altLang="zh-CN" sz="1000" dirty="0">
                <a:solidFill>
                  <a:srgbClr val="383838"/>
                </a:solidFill>
                <a:latin typeface="微软雅黑"/>
                <a:ea typeface="微软雅黑"/>
                <a:cs typeface="微软雅黑"/>
                <a:sym typeface="微软雅黑"/>
              </a:rPr>
              <a:t>≥90%</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p:txBody>
      </p:sp>
      <p:sp>
        <p:nvSpPr>
          <p:cNvPr id="67" name="YOYOON25"/>
          <p:cNvSpPr txBox="1"/>
          <p:nvPr/>
        </p:nvSpPr>
        <p:spPr>
          <a:xfrm>
            <a:off x="10314940" y="5174615"/>
            <a:ext cx="1217295" cy="869950"/>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输出复盘报告</a:t>
            </a:r>
            <a:r>
              <a:rPr lang="en-US" altLang="zh-CN" sz="1000" dirty="0">
                <a:solidFill>
                  <a:srgbClr val="383838"/>
                </a:solidFill>
                <a:latin typeface="微软雅黑"/>
                <a:ea typeface="微软雅黑"/>
                <a:cs typeface="微软雅黑"/>
                <a:sym typeface="微软雅黑"/>
              </a:rPr>
              <a:t>1</a:t>
            </a:r>
            <a:r>
              <a:rPr lang="zh-CN" altLang="en-US" sz="1000" dirty="0">
                <a:solidFill>
                  <a:srgbClr val="383838"/>
                </a:solidFill>
                <a:latin typeface="微软雅黑"/>
                <a:ea typeface="微软雅黑"/>
                <a:cs typeface="微软雅黑"/>
                <a:sym typeface="微软雅黑"/>
              </a:rPr>
              <a:t>份</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sz="1000" dirty="0">
                <a:solidFill>
                  <a:srgbClr val="383838"/>
                </a:solidFill>
                <a:latin typeface="微软雅黑"/>
                <a:ea typeface="微软雅黑"/>
                <a:cs typeface="微软雅黑"/>
                <a:sym typeface="微软雅黑"/>
              </a:rPr>
              <a:t>沉淀案例库</a:t>
            </a:r>
            <a:r>
              <a:rPr lang="en-US" altLang="zh-CN" sz="1000" dirty="0">
                <a:solidFill>
                  <a:srgbClr val="383838"/>
                </a:solidFill>
                <a:latin typeface="微软雅黑"/>
                <a:ea typeface="微软雅黑"/>
                <a:cs typeface="微软雅黑"/>
                <a:sym typeface="微软雅黑"/>
              </a:rPr>
              <a:t>≥3</a:t>
            </a:r>
            <a:r>
              <a:rPr lang="zh-CN" altLang="en-US" sz="1000" dirty="0">
                <a:solidFill>
                  <a:srgbClr val="383838"/>
                </a:solidFill>
                <a:latin typeface="微软雅黑"/>
                <a:ea typeface="微软雅黑"/>
                <a:cs typeface="微软雅黑"/>
                <a:sym typeface="微软雅黑"/>
              </a:rPr>
              <a:t>个</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团队能力提升评估</a:t>
            </a:r>
            <a:r>
              <a:rPr lang="en-US" altLang="zh-CN" sz="1000" dirty="0">
                <a:solidFill>
                  <a:srgbClr val="383838"/>
                </a:solidFill>
                <a:latin typeface="微软雅黑"/>
                <a:ea typeface="微软雅黑"/>
                <a:cs typeface="微软雅黑"/>
                <a:sym typeface="微软雅黑"/>
              </a:rPr>
              <a:t>≥85</a:t>
            </a:r>
            <a:r>
              <a:rPr lang="zh-CN" altLang="en-US" sz="1000" dirty="0">
                <a:solidFill>
                  <a:srgbClr val="383838"/>
                </a:solidFill>
                <a:latin typeface="微软雅黑"/>
                <a:ea typeface="微软雅黑"/>
                <a:cs typeface="微软雅黑"/>
                <a:sym typeface="微软雅黑"/>
              </a:rPr>
              <a:t>分</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2" name="图片 1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3" name="文本框 1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latin typeface="微软雅黑"/>
                <a:ea typeface="微软雅黑"/>
                <a:cs typeface="微软雅黑"/>
              </a:rPr>
              <a:t>项目流程汇报图</a:t>
            </a:r>
            <a:endParaRPr sz="2500" b="0">
              <a:solidFill>
                <a:srgbClr val="383838"/>
              </a:solidFill>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610" name="YOYOON1"/>
          <p:cNvSpPr/>
          <p:nvPr/>
        </p:nvSpPr>
        <p:spPr>
          <a:xfrm>
            <a:off x="438150" y="1280160"/>
            <a:ext cx="830580" cy="591820"/>
          </a:xfrm>
          <a:custGeom>
            <a:avLst/>
            <a:gdLst/>
            <a:ahLst/>
            <a:cxnLst>
              <a:cxn ang="0">
                <a:pos x="wd2" y="hd2"/>
              </a:cxn>
              <a:cxn ang="5400000">
                <a:pos x="wd2" y="hd2"/>
              </a:cxn>
              <a:cxn ang="10800000">
                <a:pos x="wd2" y="hd2"/>
              </a:cxn>
              <a:cxn ang="16200000">
                <a:pos x="wd2" y="hd2"/>
              </a:cxn>
            </a:cxnLst>
            <a:rect l="0" t="0" r="r" b="b"/>
            <a:pathLst>
              <a:path w="21600" h="21600" extrusionOk="0">
                <a:moveTo>
                  <a:pt x="16771" y="0"/>
                </a:moveTo>
                <a:lnTo>
                  <a:pt x="0" y="0"/>
                </a:lnTo>
                <a:lnTo>
                  <a:pt x="0" y="21600"/>
                </a:lnTo>
                <a:lnTo>
                  <a:pt x="21600" y="21600"/>
                </a:lnTo>
                <a:lnTo>
                  <a:pt x="16771" y="0"/>
                </a:lnTo>
                <a:close/>
              </a:path>
            </a:pathLst>
          </a:custGeom>
          <a:gradFill>
            <a:gsLst>
              <a:gs pos="0">
                <a:srgbClr val="0042FF"/>
              </a:gs>
              <a:gs pos="100000">
                <a:srgbClr val="3368FF"/>
              </a:gs>
            </a:gsLst>
            <a:lin ang="2700000" scaled="0"/>
          </a:gradFill>
          <a:ln w="12700">
            <a:miter lim="400000"/>
          </a:ln>
        </p:spPr>
        <p:txBody>
          <a:bodyPr lIns="0" tIns="0" rIns="0" bIns="0" anchor="ctr">
            <a:noAutofit/>
          </a:bodyPr>
          <a:lstStyle/>
          <a:p>
            <a:pPr lvl="0" algn="l" defTabSz="1828165">
              <a:buClrTx/>
              <a:buSzTx/>
              <a:buFontTx/>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11" name="YOYOON2"/>
          <p:cNvSpPr/>
          <p:nvPr/>
        </p:nvSpPr>
        <p:spPr>
          <a:xfrm>
            <a:off x="435610" y="1972310"/>
            <a:ext cx="1280160" cy="1353820"/>
          </a:xfrm>
          <a:custGeom>
            <a:avLst/>
            <a:gdLst/>
            <a:ahLst/>
            <a:cxnLst>
              <a:cxn ang="0">
                <a:pos x="wd2" y="hd2"/>
              </a:cxn>
              <a:cxn ang="5400000">
                <a:pos x="wd2" y="hd2"/>
              </a:cxn>
              <a:cxn ang="10800000">
                <a:pos x="wd2" y="hd2"/>
              </a:cxn>
              <a:cxn ang="16200000">
                <a:pos x="wd2" y="hd2"/>
              </a:cxn>
            </a:cxnLst>
            <a:rect l="0" t="0" r="r" b="b"/>
            <a:pathLst>
              <a:path w="21600" h="21600" extrusionOk="0">
                <a:moveTo>
                  <a:pt x="14510" y="0"/>
                </a:moveTo>
                <a:lnTo>
                  <a:pt x="0" y="0"/>
                </a:lnTo>
                <a:lnTo>
                  <a:pt x="0" y="21600"/>
                </a:lnTo>
                <a:lnTo>
                  <a:pt x="21600" y="21600"/>
                </a:lnTo>
                <a:lnTo>
                  <a:pt x="14510" y="0"/>
                </a:lnTo>
                <a:close/>
              </a:path>
            </a:pathLst>
          </a:custGeom>
          <a:noFill/>
          <a:ln w="12700">
            <a:solidFill>
              <a:srgbClr val="0042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2" name="YOYOON3"/>
          <p:cNvSpPr/>
          <p:nvPr/>
        </p:nvSpPr>
        <p:spPr>
          <a:xfrm>
            <a:off x="435610" y="3421380"/>
            <a:ext cx="1517015" cy="1381760"/>
          </a:xfrm>
          <a:custGeom>
            <a:avLst/>
            <a:gdLst/>
            <a:ahLst/>
            <a:cxnLst>
              <a:cxn ang="0">
                <a:pos x="wd2" y="hd2"/>
              </a:cxn>
              <a:cxn ang="5400000">
                <a:pos x="wd2" y="hd2"/>
              </a:cxn>
              <a:cxn ang="10800000">
                <a:pos x="wd2" y="hd2"/>
              </a:cxn>
              <a:cxn ang="16200000">
                <a:pos x="wd2" y="hd2"/>
              </a:cxn>
            </a:cxnLst>
            <a:rect l="0" t="0" r="r" b="b"/>
            <a:pathLst>
              <a:path w="21600" h="21600" extrusionOk="0">
                <a:moveTo>
                  <a:pt x="28" y="0"/>
                </a:moveTo>
                <a:lnTo>
                  <a:pt x="18656" y="0"/>
                </a:lnTo>
                <a:lnTo>
                  <a:pt x="21600" y="10538"/>
                </a:lnTo>
                <a:lnTo>
                  <a:pt x="18478" y="21600"/>
                </a:lnTo>
                <a:lnTo>
                  <a:pt x="0" y="21586"/>
                </a:lnTo>
                <a:lnTo>
                  <a:pt x="28" y="0"/>
                </a:lnTo>
                <a:close/>
              </a:path>
            </a:pathLst>
          </a:custGeom>
          <a:noFill/>
          <a:ln w="12700">
            <a:solidFill>
              <a:srgbClr val="0042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3" name="YOYOON4"/>
          <p:cNvSpPr/>
          <p:nvPr/>
        </p:nvSpPr>
        <p:spPr>
          <a:xfrm>
            <a:off x="435610" y="4901565"/>
            <a:ext cx="1266190" cy="1416685"/>
          </a:xfrm>
          <a:custGeom>
            <a:avLst/>
            <a:gdLst/>
            <a:ahLst/>
            <a:cxnLst>
              <a:cxn ang="0">
                <a:pos x="wd2" y="hd2"/>
              </a:cxn>
              <a:cxn ang="5400000">
                <a:pos x="wd2" y="hd2"/>
              </a:cxn>
              <a:cxn ang="10800000">
                <a:pos x="wd2" y="hd2"/>
              </a:cxn>
              <a:cxn ang="16200000">
                <a:pos x="wd2" y="hd2"/>
              </a:cxn>
            </a:cxnLst>
            <a:rect l="0" t="0" r="r" b="b"/>
            <a:pathLst>
              <a:path w="21600" h="21600" extrusionOk="0">
                <a:moveTo>
                  <a:pt x="21600" y="1"/>
                </a:moveTo>
                <a:lnTo>
                  <a:pt x="66" y="0"/>
                </a:lnTo>
                <a:lnTo>
                  <a:pt x="0" y="21600"/>
                </a:lnTo>
                <a:lnTo>
                  <a:pt x="13912" y="21553"/>
                </a:lnTo>
                <a:lnTo>
                  <a:pt x="21600" y="1"/>
                </a:lnTo>
                <a:close/>
              </a:path>
            </a:pathLst>
          </a:custGeom>
          <a:noFill/>
          <a:ln w="12700">
            <a:solidFill>
              <a:srgbClr val="0042FF"/>
            </a:solidFill>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14" name="YOYOON5"/>
          <p:cNvSpPr/>
          <p:nvPr/>
        </p:nvSpPr>
        <p:spPr>
          <a:xfrm>
            <a:off x="1192530" y="1277620"/>
            <a:ext cx="2192655" cy="593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807" y="0"/>
                </a:lnTo>
                <a:lnTo>
                  <a:pt x="21600" y="21600"/>
                </a:lnTo>
                <a:lnTo>
                  <a:pt x="1785" y="21600"/>
                </a:lnTo>
                <a:lnTo>
                  <a:pt x="0" y="0"/>
                </a:lnTo>
                <a:close/>
              </a:path>
            </a:pathLst>
          </a:custGeom>
          <a:gradFill>
            <a:gsLst>
              <a:gs pos="0">
                <a:srgbClr val="0042FF"/>
              </a:gs>
              <a:gs pos="100000">
                <a:srgbClr val="3368FF"/>
              </a:gs>
            </a:gsLst>
            <a:lin ang="2700000" scaled="0"/>
          </a:gradFill>
          <a:ln w="12700">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15" name="YOYOON6"/>
          <p:cNvSpPr/>
          <p:nvPr/>
        </p:nvSpPr>
        <p:spPr>
          <a:xfrm>
            <a:off x="1405890" y="1969453"/>
            <a:ext cx="2426335"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900" y="0"/>
                </a:lnTo>
                <a:lnTo>
                  <a:pt x="21600" y="21600"/>
                </a:lnTo>
                <a:lnTo>
                  <a:pt x="3703" y="21599"/>
                </a:lnTo>
                <a:lnTo>
                  <a:pt x="0"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6" name="YOYOON7"/>
          <p:cNvSpPr/>
          <p:nvPr/>
        </p:nvSpPr>
        <p:spPr>
          <a:xfrm>
            <a:off x="1840230" y="3421063"/>
            <a:ext cx="2232660" cy="1384300"/>
          </a:xfrm>
          <a:custGeom>
            <a:avLst/>
            <a:gdLst/>
            <a:ahLst/>
            <a:cxnLst>
              <a:cxn ang="0">
                <a:pos x="wd2" y="hd2"/>
              </a:cxn>
              <a:cxn ang="5400000">
                <a:pos x="wd2" y="hd2"/>
              </a:cxn>
              <a:cxn ang="10800000">
                <a:pos x="wd2" y="hd2"/>
              </a:cxn>
              <a:cxn ang="16200000">
                <a:pos x="wd2" y="hd2"/>
              </a:cxn>
            </a:cxnLst>
            <a:rect l="0" t="0" r="r" b="b"/>
            <a:pathLst>
              <a:path w="21600" h="21600" extrusionOk="0">
                <a:moveTo>
                  <a:pt x="19565" y="0"/>
                </a:moveTo>
                <a:lnTo>
                  <a:pt x="103" y="0"/>
                </a:lnTo>
                <a:lnTo>
                  <a:pt x="2148" y="10629"/>
                </a:lnTo>
                <a:lnTo>
                  <a:pt x="0" y="21565"/>
                </a:lnTo>
                <a:lnTo>
                  <a:pt x="19438" y="21600"/>
                </a:lnTo>
                <a:lnTo>
                  <a:pt x="21600" y="10586"/>
                </a:lnTo>
                <a:lnTo>
                  <a:pt x="19565"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7" name="YOYOON8"/>
          <p:cNvSpPr/>
          <p:nvPr/>
        </p:nvSpPr>
        <p:spPr>
          <a:xfrm>
            <a:off x="1357630" y="4902200"/>
            <a:ext cx="2462530" cy="1414145"/>
          </a:xfrm>
          <a:custGeom>
            <a:avLst/>
            <a:gdLst/>
            <a:ahLst/>
            <a:cxnLst>
              <a:cxn ang="0">
                <a:pos x="wd2" y="hd2"/>
              </a:cxn>
              <a:cxn ang="5400000">
                <a:pos x="wd2" y="hd2"/>
              </a:cxn>
              <a:cxn ang="10800000">
                <a:pos x="wd2" y="hd2"/>
              </a:cxn>
              <a:cxn ang="16200000">
                <a:pos x="wd2" y="hd2"/>
              </a:cxn>
            </a:cxnLst>
            <a:rect l="0" t="0" r="r" b="b"/>
            <a:pathLst>
              <a:path w="21600" h="21600" extrusionOk="0">
                <a:moveTo>
                  <a:pt x="3946" y="0"/>
                </a:moveTo>
                <a:lnTo>
                  <a:pt x="21600" y="0"/>
                </a:lnTo>
                <a:lnTo>
                  <a:pt x="17669" y="21600"/>
                </a:lnTo>
                <a:lnTo>
                  <a:pt x="0" y="21585"/>
                </a:lnTo>
                <a:lnTo>
                  <a:pt x="3946" y="0"/>
                </a:lnTo>
                <a:close/>
              </a:path>
            </a:pathLst>
          </a:custGeom>
          <a:solidFill>
            <a:srgbClr val="E6E6E6">
              <a:alpha val="50000"/>
            </a:srgbClr>
          </a:solidFill>
          <a:ln w="12700">
            <a:noFill/>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18" name="YOYOON9"/>
          <p:cNvSpPr/>
          <p:nvPr/>
        </p:nvSpPr>
        <p:spPr>
          <a:xfrm>
            <a:off x="3308985" y="1278890"/>
            <a:ext cx="2194560" cy="593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817" y="0"/>
                </a:lnTo>
                <a:lnTo>
                  <a:pt x="21600" y="21571"/>
                </a:lnTo>
                <a:lnTo>
                  <a:pt x="1821" y="21600"/>
                </a:lnTo>
                <a:lnTo>
                  <a:pt x="0" y="0"/>
                </a:lnTo>
                <a:close/>
              </a:path>
            </a:pathLst>
          </a:custGeom>
          <a:gradFill>
            <a:gsLst>
              <a:gs pos="0">
                <a:srgbClr val="3368FF"/>
              </a:gs>
              <a:gs pos="100000">
                <a:srgbClr val="B3D4FE"/>
              </a:gs>
            </a:gsLst>
            <a:lin ang="2700000" scaled="0"/>
          </a:gradFill>
          <a:ln w="12700">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19" name="YOYOON10"/>
          <p:cNvSpPr/>
          <p:nvPr/>
        </p:nvSpPr>
        <p:spPr>
          <a:xfrm>
            <a:off x="3522980" y="1969453"/>
            <a:ext cx="2428240"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23"/>
                </a:moveTo>
                <a:lnTo>
                  <a:pt x="3710" y="21600"/>
                </a:lnTo>
                <a:lnTo>
                  <a:pt x="21600" y="21600"/>
                </a:lnTo>
                <a:lnTo>
                  <a:pt x="17884" y="0"/>
                </a:lnTo>
                <a:lnTo>
                  <a:pt x="0" y="23"/>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0" name="YOYOON11"/>
          <p:cNvSpPr/>
          <p:nvPr/>
        </p:nvSpPr>
        <p:spPr>
          <a:xfrm>
            <a:off x="3959225" y="3422015"/>
            <a:ext cx="2232660" cy="1382395"/>
          </a:xfrm>
          <a:custGeom>
            <a:avLst/>
            <a:gdLst/>
            <a:ahLst/>
            <a:cxnLst>
              <a:cxn ang="0">
                <a:pos x="wd2" y="hd2"/>
              </a:cxn>
              <a:cxn ang="5400000">
                <a:pos x="wd2" y="hd2"/>
              </a:cxn>
              <a:cxn ang="10800000">
                <a:pos x="wd2" y="hd2"/>
              </a:cxn>
              <a:cxn ang="16200000">
                <a:pos x="wd2" y="hd2"/>
              </a:cxn>
            </a:cxnLst>
            <a:rect l="0" t="0" r="r" b="b"/>
            <a:pathLst>
              <a:path w="21600" h="21600" extrusionOk="0">
                <a:moveTo>
                  <a:pt x="107" y="6"/>
                </a:moveTo>
                <a:lnTo>
                  <a:pt x="2118" y="10541"/>
                </a:lnTo>
                <a:lnTo>
                  <a:pt x="0" y="21600"/>
                </a:lnTo>
                <a:lnTo>
                  <a:pt x="19442" y="21600"/>
                </a:lnTo>
                <a:lnTo>
                  <a:pt x="21600" y="10594"/>
                </a:lnTo>
                <a:lnTo>
                  <a:pt x="19572" y="0"/>
                </a:lnTo>
                <a:lnTo>
                  <a:pt x="107" y="6"/>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1" name="YOYOON12"/>
          <p:cNvSpPr/>
          <p:nvPr/>
        </p:nvSpPr>
        <p:spPr>
          <a:xfrm>
            <a:off x="3481070" y="4901883"/>
            <a:ext cx="2455545" cy="141478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3917" y="0"/>
                </a:lnTo>
                <a:lnTo>
                  <a:pt x="0" y="21588"/>
                </a:lnTo>
                <a:lnTo>
                  <a:pt x="17687" y="21600"/>
                </a:lnTo>
                <a:lnTo>
                  <a:pt x="21600" y="0"/>
                </a:lnTo>
                <a:close/>
              </a:path>
            </a:pathLst>
          </a:custGeom>
          <a:solidFill>
            <a:srgbClr val="FFFFFF">
              <a:alpha val="50000"/>
            </a:srgbClr>
          </a:solidFill>
          <a:ln w="12700">
            <a:noFill/>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22" name="YOYOON13"/>
          <p:cNvSpPr/>
          <p:nvPr/>
        </p:nvSpPr>
        <p:spPr>
          <a:xfrm>
            <a:off x="5597525" y="4902835"/>
            <a:ext cx="2458720" cy="1413510"/>
          </a:xfrm>
          <a:custGeom>
            <a:avLst/>
            <a:gdLst/>
            <a:ahLst/>
            <a:cxnLst>
              <a:cxn ang="0">
                <a:pos x="wd2" y="hd2"/>
              </a:cxn>
              <a:cxn ang="5400000">
                <a:pos x="wd2" y="hd2"/>
              </a:cxn>
              <a:cxn ang="10800000">
                <a:pos x="wd2" y="hd2"/>
              </a:cxn>
              <a:cxn ang="16200000">
                <a:pos x="wd2" y="hd2"/>
              </a:cxn>
            </a:cxnLst>
            <a:rect l="0" t="0" r="r" b="b"/>
            <a:pathLst>
              <a:path w="21600" h="21600" extrusionOk="0">
                <a:moveTo>
                  <a:pt x="3943" y="0"/>
                </a:moveTo>
                <a:lnTo>
                  <a:pt x="0" y="21588"/>
                </a:lnTo>
                <a:lnTo>
                  <a:pt x="17676" y="21600"/>
                </a:lnTo>
                <a:lnTo>
                  <a:pt x="21600" y="7"/>
                </a:lnTo>
                <a:lnTo>
                  <a:pt x="3943" y="0"/>
                </a:lnTo>
                <a:close/>
              </a:path>
            </a:pathLst>
          </a:custGeom>
          <a:solidFill>
            <a:srgbClr val="E6E6E6">
              <a:alpha val="50000"/>
            </a:srgbClr>
          </a:solidFill>
          <a:ln w="12700">
            <a:noFill/>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23" name="YOYOON14"/>
          <p:cNvSpPr/>
          <p:nvPr/>
        </p:nvSpPr>
        <p:spPr>
          <a:xfrm>
            <a:off x="6075680" y="3422015"/>
            <a:ext cx="2236470" cy="1381760"/>
          </a:xfrm>
          <a:custGeom>
            <a:avLst/>
            <a:gdLst/>
            <a:ahLst/>
            <a:cxnLst>
              <a:cxn ang="0">
                <a:pos x="wd2" y="hd2"/>
              </a:cxn>
              <a:cxn ang="5400000">
                <a:pos x="wd2" y="hd2"/>
              </a:cxn>
              <a:cxn ang="10800000">
                <a:pos x="wd2" y="hd2"/>
              </a:cxn>
              <a:cxn ang="16200000">
                <a:pos x="wd2" y="hd2"/>
              </a:cxn>
            </a:cxnLst>
            <a:rect l="0" t="0" r="r" b="b"/>
            <a:pathLst>
              <a:path w="21600" h="21600" extrusionOk="0">
                <a:moveTo>
                  <a:pt x="129" y="0"/>
                </a:moveTo>
                <a:lnTo>
                  <a:pt x="19591" y="0"/>
                </a:lnTo>
                <a:lnTo>
                  <a:pt x="21600" y="10601"/>
                </a:lnTo>
                <a:lnTo>
                  <a:pt x="19436" y="21600"/>
                </a:lnTo>
                <a:lnTo>
                  <a:pt x="0" y="21596"/>
                </a:lnTo>
                <a:lnTo>
                  <a:pt x="2172" y="10613"/>
                </a:lnTo>
                <a:lnTo>
                  <a:pt x="129"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4" name="YOYOON15"/>
          <p:cNvSpPr/>
          <p:nvPr/>
        </p:nvSpPr>
        <p:spPr>
          <a:xfrm>
            <a:off x="5641975" y="1970405"/>
            <a:ext cx="2430145" cy="135318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876" y="0"/>
                </a:lnTo>
                <a:lnTo>
                  <a:pt x="21600" y="21589"/>
                </a:lnTo>
                <a:lnTo>
                  <a:pt x="3712" y="21600"/>
                </a:lnTo>
                <a:lnTo>
                  <a:pt x="0" y="0"/>
                </a:lnTo>
                <a:close/>
              </a:path>
            </a:pathLst>
          </a:custGeom>
          <a:solidFill>
            <a:srgbClr val="E6E6E6">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5" name="YOYOON16"/>
          <p:cNvSpPr/>
          <p:nvPr/>
        </p:nvSpPr>
        <p:spPr>
          <a:xfrm>
            <a:off x="5431155" y="1280160"/>
            <a:ext cx="2193290" cy="593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773" y="0"/>
                </a:lnTo>
                <a:lnTo>
                  <a:pt x="21600" y="21600"/>
                </a:lnTo>
                <a:lnTo>
                  <a:pt x="1784" y="21585"/>
                </a:lnTo>
                <a:lnTo>
                  <a:pt x="0" y="0"/>
                </a:lnTo>
                <a:close/>
              </a:path>
            </a:pathLst>
          </a:custGeom>
          <a:gradFill>
            <a:gsLst>
              <a:gs pos="0">
                <a:srgbClr val="0042FF"/>
              </a:gs>
              <a:gs pos="100000">
                <a:srgbClr val="3368FF"/>
              </a:gs>
            </a:gsLst>
            <a:lin ang="2700000" scaled="0"/>
          </a:gradFill>
          <a:ln w="12700">
            <a:miter lim="400000"/>
          </a:ln>
        </p:spPr>
        <p:txBody>
          <a:bodyPr lIns="0" tIns="0" rIns="0" bIns="0" anchor="ctr">
            <a:noAutofit/>
          </a:bodyPr>
          <a:lstStyle/>
          <a:p>
            <a:pPr lvl="0" algn="l" defTabSz="1828165">
              <a:buClrTx/>
              <a:buSzTx/>
              <a:buFontTx/>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26" name="YOYOON17"/>
          <p:cNvSpPr/>
          <p:nvPr/>
        </p:nvSpPr>
        <p:spPr>
          <a:xfrm>
            <a:off x="7549515" y="1279525"/>
            <a:ext cx="2192020" cy="59436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815" y="0"/>
                </a:lnTo>
                <a:lnTo>
                  <a:pt x="21600" y="21545"/>
                </a:lnTo>
                <a:lnTo>
                  <a:pt x="1774" y="21600"/>
                </a:lnTo>
                <a:lnTo>
                  <a:pt x="0" y="0"/>
                </a:lnTo>
                <a:close/>
              </a:path>
            </a:pathLst>
          </a:custGeom>
          <a:gradFill>
            <a:gsLst>
              <a:gs pos="0">
                <a:srgbClr val="3368FF"/>
              </a:gs>
              <a:gs pos="100000">
                <a:srgbClr val="B3D4FE"/>
              </a:gs>
            </a:gsLst>
            <a:lin ang="2700000" scaled="0"/>
          </a:gradFill>
          <a:ln w="12700">
            <a:miter lim="400000"/>
          </a:ln>
        </p:spPr>
        <p:txBody>
          <a:bodyPr lIns="0" tIns="0" rIns="0" bIns="0" anchor="ctr">
            <a:noAutofit/>
          </a:bodyPr>
          <a:lstStyle/>
          <a:p>
            <a:pPr lvl="0" algn="l" defTabSz="1828165">
              <a:buClrTx/>
              <a:buSzTx/>
              <a:buFontTx/>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7" name="YOYOON18"/>
          <p:cNvSpPr/>
          <p:nvPr/>
        </p:nvSpPr>
        <p:spPr>
          <a:xfrm>
            <a:off x="7761605" y="1969770"/>
            <a:ext cx="2428240" cy="135445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903" y="0"/>
                </a:lnTo>
                <a:lnTo>
                  <a:pt x="21600" y="21600"/>
                </a:lnTo>
                <a:lnTo>
                  <a:pt x="3706" y="21581"/>
                </a:lnTo>
                <a:lnTo>
                  <a:pt x="0" y="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8" name="YOYOON19"/>
          <p:cNvSpPr/>
          <p:nvPr/>
        </p:nvSpPr>
        <p:spPr>
          <a:xfrm>
            <a:off x="8197215" y="3422015"/>
            <a:ext cx="2232660" cy="1381760"/>
          </a:xfrm>
          <a:custGeom>
            <a:avLst/>
            <a:gdLst/>
            <a:ahLst/>
            <a:cxnLst>
              <a:cxn ang="0">
                <a:pos x="wd2" y="hd2"/>
              </a:cxn>
              <a:cxn ang="5400000">
                <a:pos x="wd2" y="hd2"/>
              </a:cxn>
              <a:cxn ang="10800000">
                <a:pos x="wd2" y="hd2"/>
              </a:cxn>
              <a:cxn ang="16200000">
                <a:pos x="wd2" y="hd2"/>
              </a:cxn>
            </a:cxnLst>
            <a:rect l="0" t="0" r="r" b="b"/>
            <a:pathLst>
              <a:path w="21600" h="21600" extrusionOk="0">
                <a:moveTo>
                  <a:pt x="122" y="0"/>
                </a:moveTo>
                <a:lnTo>
                  <a:pt x="19589" y="0"/>
                </a:lnTo>
                <a:lnTo>
                  <a:pt x="21600" y="10640"/>
                </a:lnTo>
                <a:lnTo>
                  <a:pt x="19444" y="21600"/>
                </a:lnTo>
                <a:lnTo>
                  <a:pt x="0" y="21594"/>
                </a:lnTo>
                <a:lnTo>
                  <a:pt x="2137" y="10617"/>
                </a:lnTo>
                <a:lnTo>
                  <a:pt x="122" y="0"/>
                </a:lnTo>
                <a:close/>
              </a:path>
            </a:pathLst>
          </a:custGeom>
          <a:solidFill>
            <a:srgbClr val="FFFFFF">
              <a:alpha val="50000"/>
            </a:srgbClr>
          </a:solidFill>
          <a:ln w="12700">
            <a:no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29" name="YOYOON20"/>
          <p:cNvSpPr/>
          <p:nvPr/>
        </p:nvSpPr>
        <p:spPr>
          <a:xfrm>
            <a:off x="7718425" y="4902200"/>
            <a:ext cx="2457450" cy="1412240"/>
          </a:xfrm>
          <a:custGeom>
            <a:avLst/>
            <a:gdLst/>
            <a:ahLst/>
            <a:cxnLst>
              <a:cxn ang="0">
                <a:pos x="wd2" y="hd2"/>
              </a:cxn>
              <a:cxn ang="5400000">
                <a:pos x="wd2" y="hd2"/>
              </a:cxn>
              <a:cxn ang="10800000">
                <a:pos x="wd2" y="hd2"/>
              </a:cxn>
              <a:cxn ang="16200000">
                <a:pos x="wd2" y="hd2"/>
              </a:cxn>
            </a:cxnLst>
            <a:rect l="0" t="0" r="r" b="b"/>
            <a:pathLst>
              <a:path w="21600" h="21600" extrusionOk="0">
                <a:moveTo>
                  <a:pt x="17669" y="21600"/>
                </a:moveTo>
                <a:lnTo>
                  <a:pt x="0" y="21599"/>
                </a:lnTo>
                <a:lnTo>
                  <a:pt x="3928" y="0"/>
                </a:lnTo>
                <a:lnTo>
                  <a:pt x="21600" y="22"/>
                </a:lnTo>
                <a:lnTo>
                  <a:pt x="17669" y="21600"/>
                </a:lnTo>
                <a:close/>
              </a:path>
            </a:pathLst>
          </a:custGeom>
          <a:solidFill>
            <a:srgbClr val="FFFFFF">
              <a:alpha val="50000"/>
            </a:srgbClr>
          </a:solidFill>
          <a:ln w="12700">
            <a:noFill/>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30" name="YOYOON21"/>
          <p:cNvSpPr/>
          <p:nvPr/>
        </p:nvSpPr>
        <p:spPr>
          <a:xfrm>
            <a:off x="9836150" y="4902200"/>
            <a:ext cx="1948815" cy="1414780"/>
          </a:xfrm>
          <a:custGeom>
            <a:avLst/>
            <a:gdLst/>
            <a:ahLst/>
            <a:cxnLst>
              <a:cxn ang="0">
                <a:pos x="wd2" y="hd2"/>
              </a:cxn>
              <a:cxn ang="5400000">
                <a:pos x="wd2" y="hd2"/>
              </a:cxn>
              <a:cxn ang="10800000">
                <a:pos x="wd2" y="hd2"/>
              </a:cxn>
              <a:cxn ang="16200000">
                <a:pos x="wd2" y="hd2"/>
              </a:cxn>
            </a:cxnLst>
            <a:rect l="0" t="0" r="r" b="b"/>
            <a:pathLst>
              <a:path w="21600" h="21600" extrusionOk="0">
                <a:moveTo>
                  <a:pt x="4959" y="0"/>
                </a:moveTo>
                <a:lnTo>
                  <a:pt x="21596" y="0"/>
                </a:lnTo>
                <a:lnTo>
                  <a:pt x="21600" y="21588"/>
                </a:lnTo>
                <a:lnTo>
                  <a:pt x="0" y="21600"/>
                </a:lnTo>
                <a:lnTo>
                  <a:pt x="4959" y="0"/>
                </a:lnTo>
                <a:close/>
              </a:path>
            </a:pathLst>
          </a:custGeom>
          <a:noFill/>
          <a:ln w="12700">
            <a:solidFill>
              <a:srgbClr val="0042FF"/>
            </a:solidFill>
            <a:miter lim="400000"/>
          </a:ln>
        </p:spPr>
        <p:txBody>
          <a:bodyPr lIns="0" tIns="0" rIns="0" bIns="0" anchor="ctr"/>
          <a:lstStyle/>
          <a:p>
            <a:pPr defTabSz="1828165">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31" name="YOYOON22"/>
          <p:cNvSpPr/>
          <p:nvPr/>
        </p:nvSpPr>
        <p:spPr>
          <a:xfrm>
            <a:off x="10314940" y="3420110"/>
            <a:ext cx="1470025" cy="1385570"/>
          </a:xfrm>
          <a:custGeom>
            <a:avLst/>
            <a:gdLst/>
            <a:ahLst/>
            <a:cxnLst>
              <a:cxn ang="0">
                <a:pos x="wd2" y="hd2"/>
              </a:cxn>
              <a:cxn ang="5400000">
                <a:pos x="wd2" y="hd2"/>
              </a:cxn>
              <a:cxn ang="10800000">
                <a:pos x="wd2" y="hd2"/>
              </a:cxn>
              <a:cxn ang="16200000">
                <a:pos x="wd2" y="hd2"/>
              </a:cxn>
            </a:cxnLst>
            <a:rect l="0" t="0" r="r" b="b"/>
            <a:pathLst>
              <a:path w="21600" h="21600" extrusionOk="0">
                <a:moveTo>
                  <a:pt x="21594" y="0"/>
                </a:moveTo>
                <a:lnTo>
                  <a:pt x="177" y="0"/>
                </a:lnTo>
                <a:lnTo>
                  <a:pt x="3292" y="10651"/>
                </a:lnTo>
                <a:lnTo>
                  <a:pt x="0" y="21600"/>
                </a:lnTo>
                <a:lnTo>
                  <a:pt x="21600" y="21600"/>
                </a:lnTo>
                <a:lnTo>
                  <a:pt x="21594" y="0"/>
                </a:lnTo>
                <a:close/>
              </a:path>
            </a:pathLst>
          </a:custGeom>
          <a:noFill/>
          <a:ln w="12700">
            <a:solidFill>
              <a:srgbClr val="0042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solidFill>
                <a:srgbClr val="383838"/>
              </a:solidFill>
              <a:latin typeface="微软雅黑"/>
              <a:ea typeface="微软雅黑"/>
              <a:cs typeface="微软雅黑"/>
              <a:sym typeface="微软雅黑"/>
            </a:endParaRPr>
          </a:p>
        </p:txBody>
      </p:sp>
      <p:sp>
        <p:nvSpPr>
          <p:cNvPr id="1632" name="YOYOON23"/>
          <p:cNvSpPr/>
          <p:nvPr/>
        </p:nvSpPr>
        <p:spPr>
          <a:xfrm>
            <a:off x="9881235" y="1971040"/>
            <a:ext cx="1904365" cy="13531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4735" y="21581"/>
                </a:lnTo>
                <a:lnTo>
                  <a:pt x="21593" y="21600"/>
                </a:lnTo>
                <a:lnTo>
                  <a:pt x="21600" y="0"/>
                </a:lnTo>
                <a:close/>
              </a:path>
            </a:pathLst>
          </a:custGeom>
          <a:noFill/>
          <a:ln w="12700">
            <a:solidFill>
              <a:srgbClr val="0042FF"/>
            </a:solidFill>
            <a:miter lim="400000"/>
          </a:ln>
        </p:spPr>
        <p:txBody>
          <a:bodyPr lIns="0" tIns="0" rIns="0" bIns="0" anchor="ctr"/>
          <a:lstStyle/>
          <a:p>
            <a:pPr defTabSz="1828165">
              <a:defRPr sz="3200" b="0">
                <a:solidFill>
                  <a:srgbClr val="383838"/>
                </a:solidFill>
                <a:latin typeface="微软雅黑"/>
                <a:ea typeface="微软雅黑"/>
                <a:cs typeface="微软雅黑"/>
                <a:sym typeface="微软雅黑"/>
              </a:defRPr>
            </a:pPr>
            <a:endParaRPr sz="1600">
              <a:latin typeface="微软雅黑"/>
              <a:ea typeface="微软雅黑"/>
              <a:cs typeface="微软雅黑"/>
              <a:sym typeface="微软雅黑"/>
            </a:endParaRPr>
          </a:p>
        </p:txBody>
      </p:sp>
      <p:sp>
        <p:nvSpPr>
          <p:cNvPr id="1633" name="YOYOON24"/>
          <p:cNvSpPr/>
          <p:nvPr/>
        </p:nvSpPr>
        <p:spPr>
          <a:xfrm>
            <a:off x="9667240" y="1278255"/>
            <a:ext cx="2117725" cy="59499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1864" y="21572"/>
                </a:lnTo>
                <a:lnTo>
                  <a:pt x="0" y="0"/>
                </a:lnTo>
                <a:close/>
              </a:path>
            </a:pathLst>
          </a:custGeom>
          <a:gradFill>
            <a:gsLst>
              <a:gs pos="0">
                <a:srgbClr val="0042FF"/>
              </a:gs>
              <a:gs pos="100000">
                <a:srgbClr val="3368FF"/>
              </a:gs>
            </a:gsLst>
            <a:lin ang="2700000" scaled="0"/>
          </a:gradFill>
          <a:ln w="12700">
            <a:miter lim="400000"/>
          </a:ln>
        </p:spPr>
        <p:txBody>
          <a:bodyPr lIns="0" tIns="0" rIns="0" bIns="0" anchor="ctr">
            <a:noAutofit/>
          </a:bodyPr>
          <a:lstStyle/>
          <a:p>
            <a:pPr lvl="0" algn="l" defTabSz="1828165">
              <a:buClrTx/>
              <a:buSzTx/>
              <a:buFontTx/>
              <a:defRPr sz="3200" b="0">
                <a:solidFill>
                  <a:srgbClr val="FFFFFF"/>
                </a:solidFill>
                <a:latin typeface="微软雅黑"/>
                <a:ea typeface="微软雅黑"/>
                <a:cs typeface="微软雅黑"/>
                <a:sym typeface="微软雅黑"/>
              </a:defRPr>
            </a:pPr>
            <a:endParaRPr sz="1600">
              <a:solidFill>
                <a:srgbClr val="FFFFFF"/>
              </a:solidFill>
              <a:latin typeface="微软雅黑"/>
              <a:ea typeface="微软雅黑"/>
              <a:cs typeface="微软雅黑"/>
              <a:sym typeface="微软雅黑"/>
            </a:endParaRPr>
          </a:p>
        </p:txBody>
      </p:sp>
      <p:sp>
        <p:nvSpPr>
          <p:cNvPr id="1637" name="YOYOON25"/>
          <p:cNvSpPr txBox="1"/>
          <p:nvPr/>
        </p:nvSpPr>
        <p:spPr>
          <a:xfrm>
            <a:off x="10220325" y="2136140"/>
            <a:ext cx="1465580" cy="869950"/>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核心</a:t>
            </a:r>
            <a:r>
              <a:rPr lang="en-US" altLang="zh-CN" sz="1000" dirty="0">
                <a:solidFill>
                  <a:srgbClr val="383838"/>
                </a:solidFill>
                <a:latin typeface="微软雅黑"/>
                <a:ea typeface="微软雅黑"/>
                <a:cs typeface="微软雅黑"/>
                <a:sym typeface="微软雅黑"/>
              </a:rPr>
              <a:t>KPI</a:t>
            </a:r>
            <a:r>
              <a:rPr lang="zh-CN" altLang="en-US" sz="1000" dirty="0">
                <a:solidFill>
                  <a:srgbClr val="383838"/>
                </a:solidFill>
                <a:latin typeface="微软雅黑"/>
                <a:ea typeface="微软雅黑"/>
                <a:cs typeface="微软雅黑"/>
                <a:sym typeface="微软雅黑"/>
              </a:rPr>
              <a:t>达成率</a:t>
            </a:r>
            <a:r>
              <a:rPr lang="en-US" altLang="zh-CN" sz="1000" dirty="0">
                <a:solidFill>
                  <a:srgbClr val="383838"/>
                </a:solidFill>
                <a:latin typeface="微软雅黑"/>
                <a:ea typeface="微软雅黑"/>
                <a:cs typeface="微软雅黑"/>
                <a:sym typeface="微软雅黑"/>
              </a:rPr>
              <a:t>≥95%</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关键过程指标偏差控制在</a:t>
            </a:r>
            <a:r>
              <a:rPr lang="en-US" altLang="en-US" sz="1000" dirty="0">
                <a:solidFill>
                  <a:srgbClr val="383838"/>
                </a:solidFill>
                <a:latin typeface="微软雅黑"/>
                <a:ea typeface="微软雅黑"/>
                <a:cs typeface="微软雅黑"/>
                <a:sym typeface="微软雅黑"/>
              </a:rPr>
              <a:t>±</a:t>
            </a:r>
            <a:r>
              <a:rPr lang="en-US" altLang="zh-CN" sz="1000" dirty="0">
                <a:solidFill>
                  <a:srgbClr val="383838"/>
                </a:solidFill>
                <a:latin typeface="微软雅黑"/>
                <a:ea typeface="微软雅黑"/>
                <a:cs typeface="微软雅黑"/>
                <a:sym typeface="微软雅黑"/>
              </a:rPr>
              <a:t>10%</a:t>
            </a:r>
            <a:r>
              <a:rPr lang="zh-CN" altLang="en-US" sz="1000" dirty="0">
                <a:solidFill>
                  <a:srgbClr val="383838"/>
                </a:solidFill>
                <a:latin typeface="微软雅黑"/>
                <a:ea typeface="微软雅黑"/>
                <a:cs typeface="微软雅黑"/>
                <a:sym typeface="微软雅黑"/>
              </a:rPr>
              <a:t>以内；</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策略有效性验证</a:t>
            </a:r>
            <a:r>
              <a:rPr lang="en-US" altLang="zh-CN" sz="1000" dirty="0">
                <a:solidFill>
                  <a:srgbClr val="383838"/>
                </a:solidFill>
                <a:latin typeface="微软雅黑"/>
                <a:ea typeface="微软雅黑"/>
                <a:cs typeface="微软雅黑"/>
                <a:sym typeface="微软雅黑"/>
              </a:rPr>
              <a:t>≥2</a:t>
            </a:r>
            <a:r>
              <a:rPr lang="zh-CN" altLang="en-US" sz="1000" dirty="0">
                <a:solidFill>
                  <a:srgbClr val="383838"/>
                </a:solidFill>
                <a:latin typeface="微软雅黑"/>
                <a:ea typeface="微软雅黑"/>
                <a:cs typeface="微软雅黑"/>
                <a:sym typeface="微软雅黑"/>
              </a:rPr>
              <a:t>次。</a:t>
            </a:r>
            <a:endParaRPr lang="zh-CN" altLang="en-US" sz="1000" dirty="0">
              <a:solidFill>
                <a:srgbClr val="383838"/>
              </a:solidFill>
              <a:latin typeface="微软雅黑"/>
              <a:ea typeface="微软雅黑"/>
              <a:cs typeface="微软雅黑"/>
              <a:sym typeface="微软雅黑"/>
            </a:endParaRPr>
          </a:p>
        </p:txBody>
      </p:sp>
      <p:sp>
        <p:nvSpPr>
          <p:cNvPr id="1640" name="YOYOON28"/>
          <p:cNvSpPr txBox="1"/>
          <p:nvPr/>
        </p:nvSpPr>
        <p:spPr>
          <a:xfrm>
            <a:off x="1405890" y="1356360"/>
            <a:ext cx="1759585" cy="433705"/>
          </a:xfrm>
          <a:prstGeom prst="rect">
            <a:avLst/>
          </a:prstGeom>
          <a:ln w="12700">
            <a:miter lim="400000"/>
          </a:ln>
        </p:spPr>
        <p:txBody>
          <a:bodyPr wrap="square" lIns="0" tIns="0" rIns="0" bIns="0">
            <a:spAutoFit/>
          </a:bodyPr>
          <a:lstStyle>
            <a:lvl1pPr algn="l">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第一阶段：启动</a:t>
            </a:r>
            <a:endParaRPr lang="zh-CN" altLang="en-US" sz="15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a:t>
            </a:r>
            <a:r>
              <a:rPr lang="en-US" altLang="zh-CN" sz="1000" b="1" dirty="0">
                <a:solidFill>
                  <a:srgbClr val="FFFFFF"/>
                </a:solidFill>
                <a:latin typeface="微软雅黑"/>
                <a:ea typeface="微软雅黑"/>
                <a:cs typeface="微软雅黑"/>
                <a:sym typeface="微软雅黑"/>
              </a:rPr>
              <a:t>2025.1-2025.6</a:t>
            </a:r>
            <a:r>
              <a:rPr lang="zh-CN" altLang="en-US" sz="1000" b="1" dirty="0">
                <a:solidFill>
                  <a:srgbClr val="FFFFFF"/>
                </a:solidFill>
                <a:latin typeface="微软雅黑"/>
                <a:ea typeface="微软雅黑"/>
                <a:cs typeface="微软雅黑"/>
                <a:sym typeface="微软雅黑"/>
              </a:rPr>
              <a:t>）</a:t>
            </a:r>
            <a:endParaRPr lang="zh-CN" altLang="en-US" sz="1000" b="1" dirty="0">
              <a:solidFill>
                <a:srgbClr val="FFFFFF"/>
              </a:solidFill>
              <a:latin typeface="微软雅黑"/>
              <a:ea typeface="微软雅黑"/>
              <a:cs typeface="微软雅黑"/>
              <a:sym typeface="微软雅黑"/>
            </a:endParaRPr>
          </a:p>
        </p:txBody>
      </p:sp>
      <p:sp>
        <p:nvSpPr>
          <p:cNvPr id="1645" name="YOYOON33"/>
          <p:cNvSpPr txBox="1"/>
          <p:nvPr/>
        </p:nvSpPr>
        <p:spPr>
          <a:xfrm>
            <a:off x="559435" y="1448435"/>
            <a:ext cx="464185" cy="280035"/>
          </a:xfrm>
          <a:prstGeom prst="rect">
            <a:avLst/>
          </a:prstGeom>
          <a:ln w="12700">
            <a:miter lim="400000"/>
          </a:ln>
        </p:spPr>
        <p:txBody>
          <a:bodyPr wrap="square" lIns="25398" tIns="25398" rIns="25398" bIns="25398">
            <a:spAutoFit/>
          </a:bodyPr>
          <a:lstStyle>
            <a:lvl1pPr algn="l">
              <a:defRPr sz="2000" b="0">
                <a:solidFill>
                  <a:srgbClr val="FFFF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立项</a:t>
            </a:r>
            <a:endParaRPr lang="zh-CN" altLang="en-US" sz="1500" b="1" dirty="0">
              <a:solidFill>
                <a:srgbClr val="FFFFFF"/>
              </a:solidFill>
              <a:latin typeface="微软雅黑"/>
              <a:ea typeface="微软雅黑"/>
              <a:cs typeface="微软雅黑"/>
              <a:sym typeface="微软雅黑"/>
            </a:endParaRPr>
          </a:p>
        </p:txBody>
      </p:sp>
      <p:grpSp>
        <p:nvGrpSpPr>
          <p:cNvPr id="1604" name="YOYOON34"/>
          <p:cNvGrpSpPr/>
          <p:nvPr/>
        </p:nvGrpSpPr>
        <p:grpSpPr>
          <a:xfrm rot="0">
            <a:off x="2215515" y="3722987"/>
            <a:ext cx="1517650" cy="780452"/>
            <a:chOff x="2383158" y="2987644"/>
            <a:chExt cx="1474651" cy="650187"/>
          </a:xfrm>
        </p:grpSpPr>
        <p:sp>
          <p:nvSpPr>
            <p:cNvPr id="1672" name="YOYOON1"/>
            <p:cNvSpPr txBox="1"/>
            <p:nvPr/>
          </p:nvSpPr>
          <p:spPr>
            <a:xfrm>
              <a:off x="2383158" y="32119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分析竞品与用户需求，组建项目小组，输出包含背景与预算的立项草案。</a:t>
              </a:r>
              <a:endParaRPr lang="zh-CN" altLang="en-US" sz="1000" dirty="0">
                <a:solidFill>
                  <a:srgbClr val="383838"/>
                </a:solidFill>
                <a:latin typeface="微软雅黑"/>
                <a:ea typeface="微软雅黑"/>
                <a:cs typeface="微软雅黑"/>
                <a:sym typeface="微软雅黑"/>
              </a:endParaRPr>
            </a:p>
          </p:txBody>
        </p:sp>
        <p:sp>
          <p:nvSpPr>
            <p:cNvPr id="1673" name="YOYOON2"/>
            <p:cNvSpPr txBox="1"/>
            <p:nvPr/>
          </p:nvSpPr>
          <p:spPr>
            <a:xfrm>
              <a:off x="2386003" y="2987644"/>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调研立项</a:t>
              </a:r>
              <a:endParaRPr lang="zh-CN" altLang="en-US" sz="1200" b="1" dirty="0">
                <a:solidFill>
                  <a:srgbClr val="0042FF"/>
                </a:solidFill>
                <a:latin typeface="微软雅黑"/>
                <a:ea typeface="微软雅黑"/>
                <a:cs typeface="微软雅黑"/>
                <a:sym typeface="微软雅黑"/>
              </a:endParaRPr>
            </a:p>
          </p:txBody>
        </p:sp>
      </p:grpSp>
      <p:grpSp>
        <p:nvGrpSpPr>
          <p:cNvPr id="3" name="YOYOON35"/>
          <p:cNvGrpSpPr/>
          <p:nvPr/>
        </p:nvGrpSpPr>
        <p:grpSpPr>
          <a:xfrm rot="0">
            <a:off x="1840230" y="2263130"/>
            <a:ext cx="1640840" cy="765194"/>
            <a:chOff x="2535558" y="3152740"/>
            <a:chExt cx="1474651" cy="637520"/>
          </a:xfrm>
        </p:grpSpPr>
        <p:sp>
          <p:nvSpPr>
            <p:cNvPr id="4" name="YOYOON3"/>
            <p:cNvSpPr txBox="1"/>
            <p:nvPr/>
          </p:nvSpPr>
          <p:spPr>
            <a:xfrm>
              <a:off x="2535558" y="3364376"/>
              <a:ext cx="1474651" cy="425884"/>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将北极星指标（如</a:t>
              </a:r>
              <a:r>
                <a:rPr lang="en-US" altLang="zh-CN" sz="1000" dirty="0">
                  <a:solidFill>
                    <a:srgbClr val="383838"/>
                  </a:solidFill>
                  <a:latin typeface="微软雅黑"/>
                  <a:ea typeface="微软雅黑"/>
                  <a:cs typeface="微软雅黑"/>
                  <a:sym typeface="微软雅黑"/>
                </a:rPr>
                <a:t>GMV</a:t>
              </a:r>
              <a:r>
                <a:rPr lang="zh-CN" altLang="en-US" sz="1000" dirty="0">
                  <a:solidFill>
                    <a:srgbClr val="383838"/>
                  </a:solidFill>
                  <a:latin typeface="微软雅黑"/>
                  <a:ea typeface="微软雅黑"/>
                  <a:cs typeface="微软雅黑"/>
                  <a:sym typeface="微软雅黑"/>
                </a:rPr>
                <a:t>）拆解为流量</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转化率</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客单价，明确核心玩法与策略方向。</a:t>
              </a:r>
              <a:endParaRPr lang="zh-CN" altLang="en-US" sz="1000" dirty="0">
                <a:solidFill>
                  <a:srgbClr val="383838"/>
                </a:solidFill>
                <a:latin typeface="微软雅黑"/>
                <a:ea typeface="微软雅黑"/>
                <a:cs typeface="微软雅黑"/>
                <a:sym typeface="微软雅黑"/>
              </a:endParaRPr>
            </a:p>
          </p:txBody>
        </p:sp>
        <p:sp>
          <p:nvSpPr>
            <p:cNvPr id="29" name="YOYOON4"/>
            <p:cNvSpPr txBox="1"/>
            <p:nvPr/>
          </p:nvSpPr>
          <p:spPr>
            <a:xfrm>
              <a:off x="2538403" y="3152740"/>
              <a:ext cx="1364259" cy="194690"/>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目标拆解</a:t>
              </a:r>
              <a:endParaRPr lang="zh-CN" altLang="en-US" sz="1200" b="1" dirty="0">
                <a:solidFill>
                  <a:srgbClr val="0042FF"/>
                </a:solidFill>
                <a:latin typeface="微软雅黑"/>
                <a:ea typeface="微软雅黑"/>
                <a:cs typeface="微软雅黑"/>
                <a:sym typeface="微软雅黑"/>
              </a:endParaRPr>
            </a:p>
          </p:txBody>
        </p:sp>
      </p:grpSp>
      <p:grpSp>
        <p:nvGrpSpPr>
          <p:cNvPr id="30" name="YOYOON36"/>
          <p:cNvGrpSpPr/>
          <p:nvPr/>
        </p:nvGrpSpPr>
        <p:grpSpPr>
          <a:xfrm rot="0">
            <a:off x="4020185" y="2186286"/>
            <a:ext cx="1517650" cy="918882"/>
            <a:chOff x="2535558" y="3152740"/>
            <a:chExt cx="1474651" cy="765512"/>
          </a:xfrm>
        </p:grpSpPr>
        <p:sp>
          <p:nvSpPr>
            <p:cNvPr id="31" name="YOYOON5"/>
            <p:cNvSpPr txBox="1"/>
            <p:nvPr/>
          </p:nvSpPr>
          <p:spPr>
            <a:xfrm>
              <a:off x="2535558" y="3364376"/>
              <a:ext cx="1474651" cy="553876"/>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将北极星指标拆解为过程指标（如</a:t>
              </a:r>
              <a:r>
                <a:rPr lang="en-US" altLang="zh-CN" sz="1000" dirty="0">
                  <a:solidFill>
                    <a:srgbClr val="383838"/>
                  </a:solidFill>
                  <a:latin typeface="微软雅黑"/>
                  <a:ea typeface="微软雅黑"/>
                  <a:cs typeface="微软雅黑"/>
                  <a:sym typeface="微软雅黑"/>
                </a:rPr>
                <a:t>GMV=</a:t>
              </a:r>
              <a:r>
                <a:rPr lang="zh-CN" altLang="en-US" sz="1000" dirty="0">
                  <a:solidFill>
                    <a:srgbClr val="383838"/>
                  </a:solidFill>
                  <a:latin typeface="微软雅黑"/>
                  <a:ea typeface="微软雅黑"/>
                  <a:cs typeface="微软雅黑"/>
                  <a:sym typeface="微软雅黑"/>
                </a:rPr>
                <a:t>流量</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转化率</a:t>
              </a:r>
              <a:r>
                <a:rPr lang="en-US" altLang="en-US" sz="1000" dirty="0">
                  <a:solidFill>
                    <a:srgbClr val="383838"/>
                  </a:solidFill>
                  <a:latin typeface="微软雅黑"/>
                  <a:ea typeface="微软雅黑"/>
                  <a:cs typeface="微软雅黑"/>
                  <a:sym typeface="微软雅黑"/>
                </a:rPr>
                <a:t>×</a:t>
              </a:r>
              <a:r>
                <a:rPr lang="zh-CN" altLang="en-US" sz="1000" dirty="0">
                  <a:solidFill>
                    <a:srgbClr val="383838"/>
                  </a:solidFill>
                  <a:latin typeface="微软雅黑"/>
                  <a:ea typeface="微软雅黑"/>
                  <a:cs typeface="微软雅黑"/>
                  <a:sym typeface="微软雅黑"/>
                </a:rPr>
                <a:t>客单价），并细化文案视觉策略。</a:t>
              </a:r>
              <a:endParaRPr lang="zh-CN" altLang="en-US" sz="1000" dirty="0">
                <a:solidFill>
                  <a:srgbClr val="383838"/>
                </a:solidFill>
                <a:latin typeface="微软雅黑"/>
                <a:ea typeface="微软雅黑"/>
                <a:cs typeface="微软雅黑"/>
                <a:sym typeface="微软雅黑"/>
              </a:endParaRPr>
            </a:p>
          </p:txBody>
        </p:sp>
        <p:sp>
          <p:nvSpPr>
            <p:cNvPr id="32" name="YOYOON6"/>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sz="1200" b="1" dirty="0">
                  <a:solidFill>
                    <a:srgbClr val="0042FF"/>
                  </a:solidFill>
                  <a:latin typeface="微软雅黑"/>
                  <a:ea typeface="微软雅黑"/>
                  <a:cs typeface="微软雅黑"/>
                  <a:sym typeface="微软雅黑"/>
                </a:rPr>
                <a:t>细化指标</a:t>
              </a:r>
              <a:endParaRPr lang="zh-CN" sz="1200" b="1" dirty="0">
                <a:solidFill>
                  <a:srgbClr val="0042FF"/>
                </a:solidFill>
                <a:latin typeface="微软雅黑"/>
                <a:ea typeface="微软雅黑"/>
                <a:cs typeface="微软雅黑"/>
                <a:sym typeface="微软雅黑"/>
              </a:endParaRPr>
            </a:p>
          </p:txBody>
        </p:sp>
      </p:grpSp>
      <p:grpSp>
        <p:nvGrpSpPr>
          <p:cNvPr id="57" name="YOYOON39"/>
          <p:cNvGrpSpPr/>
          <p:nvPr/>
        </p:nvGrpSpPr>
        <p:grpSpPr>
          <a:xfrm rot="0">
            <a:off x="1922780" y="5226685"/>
            <a:ext cx="1438910" cy="765175"/>
            <a:chOff x="2535558" y="3152740"/>
            <a:chExt cx="1398142" cy="637460"/>
          </a:xfrm>
        </p:grpSpPr>
        <p:sp>
          <p:nvSpPr>
            <p:cNvPr id="58" name="YOYOON11"/>
            <p:cNvSpPr txBox="1"/>
            <p:nvPr/>
          </p:nvSpPr>
          <p:spPr>
            <a:xfrm>
              <a:off x="2535558" y="3364345"/>
              <a:ext cx="1398142"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产出含目标、预算的正式文档，并明确项目是否继续推进的关键决策。</a:t>
              </a:r>
              <a:endParaRPr lang="zh-CN" altLang="en-US" sz="1000" dirty="0">
                <a:solidFill>
                  <a:srgbClr val="FFFFFF"/>
                </a:solidFill>
                <a:latin typeface="微软雅黑"/>
                <a:ea typeface="微软雅黑"/>
                <a:cs typeface="微软雅黑"/>
                <a:sym typeface="微软雅黑"/>
              </a:endParaRPr>
            </a:p>
          </p:txBody>
        </p:sp>
        <p:sp>
          <p:nvSpPr>
            <p:cNvPr id="60" name="YOYOON12"/>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立项说明书与决策</a:t>
              </a:r>
              <a:endParaRPr lang="zh-CN" altLang="en-US" sz="1200" b="1" dirty="0">
                <a:solidFill>
                  <a:srgbClr val="FFFFFF"/>
                </a:solidFill>
                <a:latin typeface="微软雅黑"/>
                <a:ea typeface="微软雅黑"/>
                <a:cs typeface="微软雅黑"/>
                <a:sym typeface="微软雅黑"/>
              </a:endParaRPr>
            </a:p>
          </p:txBody>
        </p:sp>
      </p:grpSp>
      <p:grpSp>
        <p:nvGrpSpPr>
          <p:cNvPr id="61" name="YOYOON40"/>
          <p:cNvGrpSpPr/>
          <p:nvPr/>
        </p:nvGrpSpPr>
        <p:grpSpPr>
          <a:xfrm rot="0">
            <a:off x="4053205" y="5226685"/>
            <a:ext cx="1439545" cy="765176"/>
            <a:chOff x="2535558" y="3152740"/>
            <a:chExt cx="1398759" cy="637460"/>
          </a:xfrm>
        </p:grpSpPr>
        <p:sp>
          <p:nvSpPr>
            <p:cNvPr id="62" name="YOYOON13"/>
            <p:cNvSpPr txBox="1"/>
            <p:nvPr/>
          </p:nvSpPr>
          <p:spPr>
            <a:xfrm>
              <a:off x="2535558" y="3364345"/>
              <a:ext cx="1398759"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输出详细时间排期表，列出所有需设计的海报、</a:t>
              </a:r>
              <a:r>
                <a:rPr lang="en-US" altLang="zh-CN" sz="1000" dirty="0">
                  <a:solidFill>
                    <a:srgbClr val="FFFFFF"/>
                  </a:solidFill>
                  <a:latin typeface="微软雅黑"/>
                  <a:ea typeface="微软雅黑"/>
                  <a:cs typeface="微软雅黑"/>
                  <a:sym typeface="微软雅黑"/>
                </a:rPr>
                <a:t>H5</a:t>
              </a:r>
              <a:r>
                <a:rPr lang="zh-CN" altLang="en-US" sz="1000" dirty="0">
                  <a:solidFill>
                    <a:srgbClr val="FFFFFF"/>
                  </a:solidFill>
                  <a:latin typeface="微软雅黑"/>
                  <a:ea typeface="微软雅黑"/>
                  <a:cs typeface="微软雅黑"/>
                  <a:sym typeface="微软雅黑"/>
                </a:rPr>
                <a:t>、文案清单。</a:t>
              </a:r>
              <a:endParaRPr lang="zh-CN" altLang="en-US" sz="1000" dirty="0">
                <a:solidFill>
                  <a:srgbClr val="FFFFFF"/>
                </a:solidFill>
                <a:latin typeface="微软雅黑"/>
                <a:ea typeface="微软雅黑"/>
                <a:cs typeface="微软雅黑"/>
                <a:sym typeface="微软雅黑"/>
              </a:endParaRPr>
            </a:p>
          </p:txBody>
        </p:sp>
        <p:sp>
          <p:nvSpPr>
            <p:cNvPr id="63" name="YOYOON14"/>
            <p:cNvSpPr txBox="1"/>
            <p:nvPr/>
          </p:nvSpPr>
          <p:spPr>
            <a:xfrm>
              <a:off x="2538403" y="3152740"/>
              <a:ext cx="1364259" cy="194676"/>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进度表与物料清单</a:t>
              </a:r>
              <a:endParaRPr lang="zh-CN" altLang="en-US" sz="1200" b="1" dirty="0">
                <a:solidFill>
                  <a:srgbClr val="FFFFFF"/>
                </a:solidFill>
                <a:latin typeface="微软雅黑"/>
                <a:ea typeface="微软雅黑"/>
                <a:cs typeface="微软雅黑"/>
                <a:sym typeface="微软雅黑"/>
              </a:endParaRPr>
            </a:p>
          </p:txBody>
        </p:sp>
      </p:grpSp>
      <p:grpSp>
        <p:nvGrpSpPr>
          <p:cNvPr id="84" name="YOYOON43"/>
          <p:cNvGrpSpPr/>
          <p:nvPr/>
        </p:nvGrpSpPr>
        <p:grpSpPr>
          <a:xfrm rot="0">
            <a:off x="4410075" y="3730606"/>
            <a:ext cx="1517650" cy="765212"/>
            <a:chOff x="2535558" y="3152740"/>
            <a:chExt cx="1474651" cy="637491"/>
          </a:xfrm>
        </p:grpSpPr>
        <p:sp>
          <p:nvSpPr>
            <p:cNvPr id="85" name="YOYOON19"/>
            <p:cNvSpPr txBox="1"/>
            <p:nvPr/>
          </p:nvSpPr>
          <p:spPr>
            <a:xfrm>
              <a:off x="2535558" y="33643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制定甘特图明确时间节点与责任人，锁定推广位、预算及技术资源。</a:t>
              </a:r>
              <a:endParaRPr lang="zh-CN" altLang="en-US" sz="1000" dirty="0">
                <a:solidFill>
                  <a:srgbClr val="383838"/>
                </a:solidFill>
                <a:latin typeface="微软雅黑"/>
                <a:ea typeface="微软雅黑"/>
                <a:cs typeface="微软雅黑"/>
                <a:sym typeface="微软雅黑"/>
              </a:endParaRPr>
            </a:p>
          </p:txBody>
        </p:sp>
        <p:sp>
          <p:nvSpPr>
            <p:cNvPr id="86" name="YOYOON20"/>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排期协调</a:t>
              </a:r>
              <a:endParaRPr lang="zh-CN" altLang="en-US" sz="1200" b="1" dirty="0">
                <a:solidFill>
                  <a:srgbClr val="0042FF"/>
                </a:solidFill>
                <a:latin typeface="微软雅黑"/>
                <a:ea typeface="微软雅黑"/>
                <a:cs typeface="微软雅黑"/>
                <a:sym typeface="微软雅黑"/>
              </a:endParaRPr>
            </a:p>
          </p:txBody>
        </p:sp>
      </p:grpSp>
      <p:grpSp>
        <p:nvGrpSpPr>
          <p:cNvPr id="1607" name="YOYOON46"/>
          <p:cNvGrpSpPr/>
          <p:nvPr/>
        </p:nvGrpSpPr>
        <p:grpSpPr>
          <a:xfrm rot="0">
            <a:off x="518979" y="2292317"/>
            <a:ext cx="831482" cy="713806"/>
            <a:chOff x="764929" y="1839769"/>
            <a:chExt cx="807936" cy="594805"/>
          </a:xfrm>
        </p:grpSpPr>
        <p:sp>
          <p:nvSpPr>
            <p:cNvPr id="1634" name="YOYOON25"/>
            <p:cNvSpPr txBox="1"/>
            <p:nvPr/>
          </p:nvSpPr>
          <p:spPr>
            <a:xfrm>
              <a:off x="764929" y="2085873"/>
              <a:ext cx="807319" cy="348701"/>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目标策略</a:t>
              </a:r>
              <a:endParaRPr lang="zh-CN" altLang="en-US" sz="1200" dirty="0">
                <a:solidFill>
                  <a:srgbClr val="383838"/>
                </a:solidFill>
                <a:latin typeface="微软雅黑"/>
                <a:ea typeface="微软雅黑"/>
                <a:cs typeface="微软雅黑"/>
                <a:sym typeface="微软雅黑"/>
              </a:endParaRPr>
            </a:p>
            <a:p>
              <a:pPr algn="ctr" defTabSz="1828165">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（做什么）</a:t>
              </a:r>
              <a:endParaRPr lang="zh-CN" sz="1200" dirty="0">
                <a:solidFill>
                  <a:srgbClr val="383838"/>
                </a:solidFill>
                <a:latin typeface="微软雅黑"/>
                <a:ea typeface="微软雅黑"/>
                <a:cs typeface="微软雅黑"/>
                <a:sym typeface="微软雅黑"/>
              </a:endParaRPr>
            </a:p>
          </p:txBody>
        </p:sp>
        <p:sp>
          <p:nvSpPr>
            <p:cNvPr id="1605" name="YOYOON26"/>
            <p:cNvSpPr txBox="1"/>
            <p:nvPr/>
          </p:nvSpPr>
          <p:spPr>
            <a:xfrm>
              <a:off x="765546" y="1839769"/>
              <a:ext cx="807319" cy="246049"/>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en-US" altLang="zh-CN" sz="1600" b="1" dirty="0">
                  <a:solidFill>
                    <a:srgbClr val="0042FF"/>
                  </a:solidFill>
                  <a:latin typeface="微软雅黑"/>
                  <a:ea typeface="微软雅黑"/>
                  <a:cs typeface="微软雅黑"/>
                  <a:sym typeface="微软雅黑"/>
                </a:rPr>
                <a:t>01</a:t>
              </a:r>
              <a:endParaRPr sz="1600" b="1" dirty="0">
                <a:solidFill>
                  <a:srgbClr val="0042FF"/>
                </a:solidFill>
                <a:latin typeface="微软雅黑"/>
                <a:ea typeface="微软雅黑"/>
                <a:cs typeface="微软雅黑"/>
                <a:sym typeface="微软雅黑"/>
              </a:endParaRPr>
            </a:p>
          </p:txBody>
        </p:sp>
      </p:grpSp>
      <p:sp>
        <p:nvSpPr>
          <p:cNvPr id="90" name="YOYOON28"/>
          <p:cNvSpPr txBox="1"/>
          <p:nvPr/>
        </p:nvSpPr>
        <p:spPr>
          <a:xfrm>
            <a:off x="3522980" y="1356360"/>
            <a:ext cx="1759585" cy="433705"/>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第二阶段：规划</a:t>
            </a:r>
            <a:endParaRPr lang="zh-CN" altLang="en-US" sz="15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a:t>
            </a:r>
            <a:r>
              <a:rPr lang="en-US" altLang="zh-CN" sz="1000" b="1" dirty="0">
                <a:solidFill>
                  <a:srgbClr val="383838"/>
                </a:solidFill>
                <a:latin typeface="微软雅黑"/>
                <a:ea typeface="微软雅黑"/>
                <a:cs typeface="微软雅黑"/>
                <a:sym typeface="微软雅黑"/>
              </a:rPr>
              <a:t>2025.7-2026.2</a:t>
            </a:r>
            <a:r>
              <a:rPr lang="zh-CN" altLang="en-US" sz="1000" b="1" dirty="0">
                <a:solidFill>
                  <a:srgbClr val="383838"/>
                </a:solidFill>
                <a:latin typeface="微软雅黑"/>
                <a:ea typeface="微软雅黑"/>
                <a:cs typeface="微软雅黑"/>
                <a:sym typeface="微软雅黑"/>
              </a:rPr>
              <a:t>）</a:t>
            </a:r>
            <a:endParaRPr lang="zh-CN" altLang="en-US" sz="1000" b="1" dirty="0">
              <a:solidFill>
                <a:srgbClr val="383838"/>
              </a:solidFill>
              <a:latin typeface="微软雅黑"/>
              <a:ea typeface="微软雅黑"/>
              <a:cs typeface="微软雅黑"/>
              <a:sym typeface="微软雅黑"/>
            </a:endParaRPr>
          </a:p>
        </p:txBody>
      </p:sp>
      <p:sp>
        <p:nvSpPr>
          <p:cNvPr id="91" name="YOYOON28"/>
          <p:cNvSpPr txBox="1"/>
          <p:nvPr/>
        </p:nvSpPr>
        <p:spPr>
          <a:xfrm>
            <a:off x="5641975" y="1356360"/>
            <a:ext cx="1759585" cy="433705"/>
          </a:xfrm>
          <a:prstGeom prst="rect">
            <a:avLst/>
          </a:prstGeom>
          <a:ln w="12700">
            <a:miter lim="400000"/>
          </a:ln>
        </p:spPr>
        <p:txBody>
          <a:bodyPr wrap="square" lIns="0" tIns="0" rIns="0" bIns="0">
            <a:spAutoFit/>
          </a:bodyPr>
          <a:lstStyle>
            <a:lvl1pPr algn="l">
              <a:defRPr sz="20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第三阶段：执行</a:t>
            </a:r>
            <a:endParaRPr lang="zh-CN" altLang="en-US" sz="1500" b="1" dirty="0">
              <a:solidFill>
                <a:srgbClr val="FFFFFF"/>
              </a:solidFill>
              <a:latin typeface="微软雅黑"/>
              <a:ea typeface="微软雅黑"/>
              <a:cs typeface="微软雅黑"/>
              <a:sym typeface="微软雅黑"/>
            </a:endParaRPr>
          </a:p>
          <a:p>
            <a:pPr algn="ctr">
              <a:defRPr>
                <a:solidFill>
                  <a:srgbClr val="FFFFFF"/>
                </a:solidFill>
                <a:latin typeface="微软雅黑"/>
                <a:ea typeface="微软雅黑"/>
                <a:cs typeface="微软雅黑"/>
              </a:defRPr>
            </a:pPr>
            <a:r>
              <a:rPr lang="zh-CN" altLang="en-US" sz="1000" b="1" dirty="0">
                <a:solidFill>
                  <a:srgbClr val="FFFFFF"/>
                </a:solidFill>
                <a:latin typeface="微软雅黑"/>
                <a:ea typeface="微软雅黑"/>
                <a:cs typeface="微软雅黑"/>
                <a:sym typeface="微软雅黑"/>
              </a:rPr>
              <a:t>（</a:t>
            </a:r>
            <a:r>
              <a:rPr lang="en-US" altLang="zh-CN" sz="1000" b="1" dirty="0">
                <a:solidFill>
                  <a:srgbClr val="FFFFFF"/>
                </a:solidFill>
                <a:latin typeface="微软雅黑"/>
                <a:ea typeface="微软雅黑"/>
                <a:cs typeface="微软雅黑"/>
                <a:sym typeface="微软雅黑"/>
              </a:rPr>
              <a:t>2026.3-2026.8</a:t>
            </a:r>
            <a:r>
              <a:rPr lang="zh-CN" altLang="en-US" sz="1000" b="1" dirty="0">
                <a:solidFill>
                  <a:srgbClr val="FFFFFF"/>
                </a:solidFill>
                <a:latin typeface="微软雅黑"/>
                <a:ea typeface="微软雅黑"/>
                <a:cs typeface="微软雅黑"/>
                <a:sym typeface="微软雅黑"/>
              </a:rPr>
              <a:t>）</a:t>
            </a:r>
            <a:endParaRPr lang="zh-CN" altLang="en-US" sz="1000" b="1" dirty="0">
              <a:solidFill>
                <a:srgbClr val="FFFFFF"/>
              </a:solidFill>
              <a:latin typeface="微软雅黑"/>
              <a:ea typeface="微软雅黑"/>
              <a:cs typeface="微软雅黑"/>
              <a:sym typeface="微软雅黑"/>
            </a:endParaRPr>
          </a:p>
        </p:txBody>
      </p:sp>
      <p:sp>
        <p:nvSpPr>
          <p:cNvPr id="92" name="YOYOON28"/>
          <p:cNvSpPr txBox="1"/>
          <p:nvPr/>
        </p:nvSpPr>
        <p:spPr>
          <a:xfrm>
            <a:off x="7761605" y="1356360"/>
            <a:ext cx="1759585" cy="433705"/>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algn="ctr">
              <a:defRPr>
                <a:latin typeface="微软雅黑"/>
                <a:ea typeface="微软雅黑"/>
                <a:cs typeface="微软雅黑"/>
              </a:defRPr>
            </a:pPr>
            <a:r>
              <a:rPr lang="zh-CN" altLang="en-US" sz="1500" b="1" dirty="0">
                <a:solidFill>
                  <a:srgbClr val="383838"/>
                </a:solidFill>
                <a:latin typeface="微软雅黑"/>
                <a:ea typeface="微软雅黑"/>
                <a:cs typeface="微软雅黑"/>
                <a:sym typeface="微软雅黑"/>
              </a:rPr>
              <a:t>第四阶段：复盘</a:t>
            </a:r>
            <a:endParaRPr lang="zh-CN" altLang="en-US" sz="15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000" b="1" dirty="0">
                <a:solidFill>
                  <a:srgbClr val="383838"/>
                </a:solidFill>
                <a:latin typeface="微软雅黑"/>
                <a:ea typeface="微软雅黑"/>
                <a:cs typeface="微软雅黑"/>
                <a:sym typeface="微软雅黑"/>
              </a:rPr>
              <a:t>（</a:t>
            </a:r>
            <a:r>
              <a:rPr lang="en-US" altLang="zh-CN" sz="1000" b="1" dirty="0">
                <a:solidFill>
                  <a:srgbClr val="383838"/>
                </a:solidFill>
                <a:latin typeface="微软雅黑"/>
                <a:ea typeface="微软雅黑"/>
                <a:cs typeface="微软雅黑"/>
                <a:sym typeface="微软雅黑"/>
              </a:rPr>
              <a:t>2026.9-2026.12</a:t>
            </a:r>
            <a:r>
              <a:rPr lang="zh-CN" altLang="en-US" sz="1000" b="1" dirty="0">
                <a:solidFill>
                  <a:srgbClr val="383838"/>
                </a:solidFill>
                <a:latin typeface="微软雅黑"/>
                <a:ea typeface="微软雅黑"/>
                <a:cs typeface="微软雅黑"/>
                <a:sym typeface="微软雅黑"/>
              </a:rPr>
              <a:t>）</a:t>
            </a:r>
            <a:endParaRPr lang="zh-CN" altLang="en-US" sz="1000" b="1" dirty="0">
              <a:solidFill>
                <a:srgbClr val="383838"/>
              </a:solidFill>
              <a:latin typeface="微软雅黑"/>
              <a:ea typeface="微软雅黑"/>
              <a:cs typeface="微软雅黑"/>
              <a:sym typeface="微软雅黑"/>
            </a:endParaRPr>
          </a:p>
        </p:txBody>
      </p:sp>
      <p:sp>
        <p:nvSpPr>
          <p:cNvPr id="93" name="YOYOON33"/>
          <p:cNvSpPr txBox="1"/>
          <p:nvPr/>
        </p:nvSpPr>
        <p:spPr>
          <a:xfrm>
            <a:off x="10382250" y="1448435"/>
            <a:ext cx="935990" cy="280035"/>
          </a:xfrm>
          <a:prstGeom prst="rect">
            <a:avLst/>
          </a:prstGeom>
          <a:ln w="12700">
            <a:miter lim="400000"/>
          </a:ln>
        </p:spPr>
        <p:txBody>
          <a:bodyPr wrap="square" lIns="25398" tIns="25398" rIns="25398" bIns="25398">
            <a:spAutoFit/>
          </a:bodyPr>
          <a:lstStyle>
            <a:lvl1pPr algn="l">
              <a:defRPr sz="2000" b="0">
                <a:solidFill>
                  <a:srgbClr val="FFFF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500" b="1" dirty="0">
                <a:solidFill>
                  <a:srgbClr val="FFFFFF"/>
                </a:solidFill>
                <a:latin typeface="微软雅黑"/>
                <a:ea typeface="微软雅黑"/>
                <a:cs typeface="微软雅黑"/>
                <a:sym typeface="微软雅黑"/>
              </a:rPr>
              <a:t>成果预期</a:t>
            </a:r>
            <a:endParaRPr lang="zh-CN" altLang="en-US" sz="1500" b="1" dirty="0">
              <a:solidFill>
                <a:srgbClr val="FFFFFF"/>
              </a:solidFill>
              <a:latin typeface="微软雅黑"/>
              <a:ea typeface="微软雅黑"/>
              <a:cs typeface="微软雅黑"/>
              <a:sym typeface="微软雅黑"/>
            </a:endParaRPr>
          </a:p>
        </p:txBody>
      </p:sp>
      <p:grpSp>
        <p:nvGrpSpPr>
          <p:cNvPr id="2" name="YOYOON46"/>
          <p:cNvGrpSpPr/>
          <p:nvPr/>
        </p:nvGrpSpPr>
        <p:grpSpPr>
          <a:xfrm rot="0">
            <a:off x="671379" y="3755357"/>
            <a:ext cx="831482" cy="713806"/>
            <a:chOff x="764929" y="1839769"/>
            <a:chExt cx="807936" cy="594805"/>
          </a:xfrm>
        </p:grpSpPr>
        <p:sp>
          <p:nvSpPr>
            <p:cNvPr id="6" name="YOYOON25"/>
            <p:cNvSpPr txBox="1"/>
            <p:nvPr/>
          </p:nvSpPr>
          <p:spPr>
            <a:xfrm>
              <a:off x="764929" y="2085873"/>
              <a:ext cx="807319" cy="348701"/>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执行过程</a:t>
              </a:r>
              <a:endParaRPr lang="zh-CN" altLang="en-US" sz="1200" dirty="0">
                <a:solidFill>
                  <a:srgbClr val="383838"/>
                </a:solidFill>
                <a:latin typeface="微软雅黑"/>
                <a:ea typeface="微软雅黑"/>
                <a:cs typeface="微软雅黑"/>
                <a:sym typeface="微软雅黑"/>
              </a:endParaRPr>
            </a:p>
            <a:p>
              <a:pPr algn="ctr" defTabSz="1828165">
                <a:defRPr>
                  <a:latin typeface="微软雅黑"/>
                  <a:ea typeface="微软雅黑"/>
                  <a:cs typeface="微软雅黑"/>
                </a:defRPr>
              </a:pPr>
              <a:r>
                <a:rPr lang="zh-CN" sz="1200" dirty="0">
                  <a:solidFill>
                    <a:srgbClr val="383838"/>
                  </a:solidFill>
                  <a:latin typeface="微软雅黑"/>
                  <a:ea typeface="微软雅黑"/>
                  <a:cs typeface="微软雅黑"/>
                  <a:sym typeface="微软雅黑"/>
                </a:rPr>
                <a:t>（怎么做）</a:t>
              </a:r>
              <a:endParaRPr lang="zh-CN" sz="1200" dirty="0">
                <a:solidFill>
                  <a:srgbClr val="383838"/>
                </a:solidFill>
                <a:latin typeface="微软雅黑"/>
                <a:ea typeface="微软雅黑"/>
                <a:cs typeface="微软雅黑"/>
                <a:sym typeface="微软雅黑"/>
              </a:endParaRPr>
            </a:p>
          </p:txBody>
        </p:sp>
        <p:sp>
          <p:nvSpPr>
            <p:cNvPr id="7" name="YOYOON26"/>
            <p:cNvSpPr txBox="1"/>
            <p:nvPr/>
          </p:nvSpPr>
          <p:spPr>
            <a:xfrm>
              <a:off x="765546" y="1839769"/>
              <a:ext cx="807319" cy="246049"/>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latin typeface="微软雅黑"/>
                  <a:ea typeface="微软雅黑"/>
                  <a:cs typeface="微软雅黑"/>
                </a:defRPr>
              </a:pPr>
              <a:r>
                <a:rPr lang="en-US" altLang="zh-CN" sz="1600" b="1" dirty="0">
                  <a:solidFill>
                    <a:srgbClr val="0042FF"/>
                  </a:solidFill>
                  <a:latin typeface="微软雅黑"/>
                  <a:ea typeface="微软雅黑"/>
                  <a:cs typeface="微软雅黑"/>
                  <a:sym typeface="微软雅黑"/>
                </a:rPr>
                <a:t>02</a:t>
              </a:r>
              <a:endParaRPr sz="1600" b="1" dirty="0">
                <a:solidFill>
                  <a:srgbClr val="0042FF"/>
                </a:solidFill>
                <a:latin typeface="微软雅黑"/>
                <a:ea typeface="微软雅黑"/>
                <a:cs typeface="微软雅黑"/>
                <a:sym typeface="微软雅黑"/>
              </a:endParaRPr>
            </a:p>
          </p:txBody>
        </p:sp>
      </p:grpSp>
      <p:grpSp>
        <p:nvGrpSpPr>
          <p:cNvPr id="8" name="YOYOON46"/>
          <p:cNvGrpSpPr/>
          <p:nvPr/>
        </p:nvGrpSpPr>
        <p:grpSpPr>
          <a:xfrm rot="0">
            <a:off x="526599" y="5176487"/>
            <a:ext cx="831482" cy="713806"/>
            <a:chOff x="764929" y="1839769"/>
            <a:chExt cx="807936" cy="594805"/>
          </a:xfrm>
        </p:grpSpPr>
        <p:sp>
          <p:nvSpPr>
            <p:cNvPr id="9" name="YOYOON25"/>
            <p:cNvSpPr txBox="1"/>
            <p:nvPr/>
          </p:nvSpPr>
          <p:spPr>
            <a:xfrm>
              <a:off x="764929" y="2085873"/>
              <a:ext cx="807319" cy="348701"/>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solidFill>
                    <a:srgbClr val="FFFFFF"/>
                  </a:solidFill>
                  <a:latin typeface="微软雅黑"/>
                  <a:ea typeface="微软雅黑"/>
                  <a:cs typeface="微软雅黑"/>
                </a:defRPr>
              </a:pPr>
              <a:r>
                <a:rPr lang="zh-CN" altLang="en-US" sz="1200" dirty="0">
                  <a:solidFill>
                    <a:srgbClr val="FFFFFF"/>
                  </a:solidFill>
                  <a:latin typeface="微软雅黑"/>
                  <a:ea typeface="微软雅黑"/>
                  <a:cs typeface="微软雅黑"/>
                  <a:sym typeface="微软雅黑"/>
                </a:rPr>
                <a:t>结果沉淀</a:t>
              </a:r>
              <a:endParaRPr lang="zh-CN" altLang="en-US" sz="1200" dirty="0">
                <a:solidFill>
                  <a:srgbClr val="FFFFFF"/>
                </a:solidFill>
                <a:latin typeface="微软雅黑"/>
                <a:ea typeface="微软雅黑"/>
                <a:cs typeface="微软雅黑"/>
                <a:sym typeface="微软雅黑"/>
              </a:endParaRPr>
            </a:p>
            <a:p>
              <a:pPr algn="ctr" defTabSz="1828165">
                <a:defRPr>
                  <a:solidFill>
                    <a:srgbClr val="FFFFFF"/>
                  </a:solidFill>
                  <a:latin typeface="微软雅黑"/>
                  <a:ea typeface="微软雅黑"/>
                  <a:cs typeface="微软雅黑"/>
                </a:defRPr>
              </a:pPr>
              <a:r>
                <a:rPr lang="zh-CN" sz="1200" dirty="0">
                  <a:solidFill>
                    <a:srgbClr val="FFFFFF"/>
                  </a:solidFill>
                  <a:latin typeface="微软雅黑"/>
                  <a:ea typeface="微软雅黑"/>
                  <a:cs typeface="微软雅黑"/>
                  <a:sym typeface="微软雅黑"/>
                </a:rPr>
                <a:t>（产出什么）</a:t>
              </a:r>
              <a:endParaRPr lang="zh-CN" sz="1200" dirty="0">
                <a:solidFill>
                  <a:srgbClr val="FFFFFF"/>
                </a:solidFill>
                <a:latin typeface="微软雅黑"/>
                <a:ea typeface="微软雅黑"/>
                <a:cs typeface="微软雅黑"/>
                <a:sym typeface="微软雅黑"/>
              </a:endParaRPr>
            </a:p>
          </p:txBody>
        </p:sp>
        <p:sp>
          <p:nvSpPr>
            <p:cNvPr id="11" name="YOYOON26"/>
            <p:cNvSpPr txBox="1"/>
            <p:nvPr/>
          </p:nvSpPr>
          <p:spPr>
            <a:xfrm>
              <a:off x="765546" y="1839769"/>
              <a:ext cx="807319" cy="246049"/>
            </a:xfrm>
            <a:prstGeom prst="rect">
              <a:avLst/>
            </a:prstGeom>
            <a:ln w="12700">
              <a:miter lim="400000"/>
            </a:ln>
          </p:spPr>
          <p:txBody>
            <a:bodyPr lIns="25398" tIns="25398" rIns="25398" bIns="25398">
              <a:spAutoFit/>
            </a:bodyPr>
            <a:lstStyle>
              <a:lvl1pPr algn="l">
                <a:defRPr sz="2000" b="0">
                  <a:solidFill>
                    <a:srgbClr val="383838"/>
                  </a:solidFill>
                  <a:latin typeface="微软雅黑"/>
                  <a:ea typeface="微软雅黑"/>
                  <a:cs typeface="微软雅黑"/>
                  <a:sym typeface="微软雅黑"/>
                </a:defRPr>
              </a:lvl1pPr>
            </a:lstStyle>
            <a:p>
              <a:pPr algn="ctr" defTabSz="1828165">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sym typeface="微软雅黑"/>
                </a:rPr>
                <a:t>03</a:t>
              </a:r>
              <a:endParaRPr sz="1600" b="1" dirty="0">
                <a:solidFill>
                  <a:srgbClr val="FFFFFF"/>
                </a:solidFill>
                <a:latin typeface="微软雅黑"/>
                <a:ea typeface="微软雅黑"/>
                <a:cs typeface="微软雅黑"/>
                <a:sym typeface="微软雅黑"/>
              </a:endParaRPr>
            </a:p>
          </p:txBody>
        </p:sp>
      </p:grpSp>
      <p:grpSp>
        <p:nvGrpSpPr>
          <p:cNvPr id="35" name="YOYOON34"/>
          <p:cNvGrpSpPr/>
          <p:nvPr/>
        </p:nvGrpSpPr>
        <p:grpSpPr>
          <a:xfrm rot="0">
            <a:off x="6484620" y="3722987"/>
            <a:ext cx="1517650" cy="780452"/>
            <a:chOff x="2383158" y="2987644"/>
            <a:chExt cx="1474651" cy="650187"/>
          </a:xfrm>
        </p:grpSpPr>
        <p:sp>
          <p:nvSpPr>
            <p:cNvPr id="36" name="YOYOON1"/>
            <p:cNvSpPr txBox="1"/>
            <p:nvPr/>
          </p:nvSpPr>
          <p:spPr>
            <a:xfrm>
              <a:off x="2383158" y="32119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小范围灰度验证后按节奏全面推广，同时监控舆情及时处理客诉。</a:t>
              </a:r>
              <a:endParaRPr lang="zh-CN" altLang="en-US" sz="1000" dirty="0">
                <a:solidFill>
                  <a:srgbClr val="383838"/>
                </a:solidFill>
                <a:latin typeface="微软雅黑"/>
                <a:ea typeface="微软雅黑"/>
                <a:cs typeface="微软雅黑"/>
                <a:sym typeface="微软雅黑"/>
              </a:endParaRPr>
            </a:p>
          </p:txBody>
        </p:sp>
        <p:sp>
          <p:nvSpPr>
            <p:cNvPr id="37" name="YOYOON2"/>
            <p:cNvSpPr txBox="1"/>
            <p:nvPr/>
          </p:nvSpPr>
          <p:spPr>
            <a:xfrm>
              <a:off x="2386003" y="2987644"/>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宣发与风控</a:t>
              </a:r>
              <a:endParaRPr lang="zh-CN" altLang="en-US" sz="1200" b="1" dirty="0">
                <a:solidFill>
                  <a:srgbClr val="0042FF"/>
                </a:solidFill>
                <a:latin typeface="微软雅黑"/>
                <a:ea typeface="微软雅黑"/>
                <a:cs typeface="微软雅黑"/>
                <a:sym typeface="微软雅黑"/>
              </a:endParaRPr>
            </a:p>
          </p:txBody>
        </p:sp>
      </p:grpSp>
      <p:grpSp>
        <p:nvGrpSpPr>
          <p:cNvPr id="38" name="YOYOON35"/>
          <p:cNvGrpSpPr/>
          <p:nvPr/>
        </p:nvGrpSpPr>
        <p:grpSpPr>
          <a:xfrm rot="0">
            <a:off x="6109335" y="2263130"/>
            <a:ext cx="1640840" cy="765195"/>
            <a:chOff x="2535558" y="3152740"/>
            <a:chExt cx="1474651" cy="637521"/>
          </a:xfrm>
        </p:grpSpPr>
        <p:sp>
          <p:nvSpPr>
            <p:cNvPr id="39" name="YOYOON3"/>
            <p:cNvSpPr txBox="1"/>
            <p:nvPr/>
          </p:nvSpPr>
          <p:spPr>
            <a:xfrm>
              <a:off x="2535558" y="3364376"/>
              <a:ext cx="1474651" cy="42588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每日监控数据看板，根据实时反馈快速</a:t>
              </a:r>
              <a:r>
                <a:rPr lang="en-US" altLang="zh-CN" sz="1000" dirty="0">
                  <a:solidFill>
                    <a:srgbClr val="383838"/>
                  </a:solidFill>
                  <a:latin typeface="微软雅黑"/>
                  <a:ea typeface="微软雅黑"/>
                  <a:cs typeface="微软雅黑"/>
                  <a:sym typeface="微软雅黑"/>
                </a:rPr>
                <a:t>A/B</a:t>
              </a:r>
              <a:r>
                <a:rPr lang="zh-CN" altLang="en-US" sz="1000" dirty="0">
                  <a:solidFill>
                    <a:srgbClr val="383838"/>
                  </a:solidFill>
                  <a:latin typeface="微软雅黑"/>
                  <a:ea typeface="微软雅黑"/>
                  <a:cs typeface="微软雅黑"/>
                  <a:sym typeface="微软雅黑"/>
                </a:rPr>
                <a:t>测试，优化素材话术确保不偏离目标。</a:t>
              </a:r>
              <a:endParaRPr lang="zh-CN" altLang="en-US" sz="1000" dirty="0">
                <a:solidFill>
                  <a:srgbClr val="383838"/>
                </a:solidFill>
                <a:latin typeface="微软雅黑"/>
                <a:ea typeface="微软雅黑"/>
                <a:cs typeface="微软雅黑"/>
                <a:sym typeface="微软雅黑"/>
              </a:endParaRPr>
            </a:p>
          </p:txBody>
        </p:sp>
        <p:sp>
          <p:nvSpPr>
            <p:cNvPr id="40" name="YOYOON4"/>
            <p:cNvSpPr txBox="1"/>
            <p:nvPr/>
          </p:nvSpPr>
          <p:spPr>
            <a:xfrm>
              <a:off x="2538403" y="3152740"/>
              <a:ext cx="1364259" cy="194690"/>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目标校准</a:t>
              </a:r>
              <a:endParaRPr lang="en-US" altLang="zh-CN" sz="1200" b="1" dirty="0">
                <a:solidFill>
                  <a:srgbClr val="0042FF"/>
                </a:solidFill>
                <a:latin typeface="微软雅黑"/>
                <a:ea typeface="微软雅黑"/>
                <a:cs typeface="微软雅黑"/>
                <a:sym typeface="微软雅黑"/>
              </a:endParaRPr>
            </a:p>
          </p:txBody>
        </p:sp>
      </p:grpSp>
      <p:grpSp>
        <p:nvGrpSpPr>
          <p:cNvPr id="41" name="YOYOON36"/>
          <p:cNvGrpSpPr/>
          <p:nvPr/>
        </p:nvGrpSpPr>
        <p:grpSpPr>
          <a:xfrm rot="0">
            <a:off x="8289290" y="2186286"/>
            <a:ext cx="1517650" cy="918882"/>
            <a:chOff x="2535558" y="3152740"/>
            <a:chExt cx="1474651" cy="765512"/>
          </a:xfrm>
        </p:grpSpPr>
        <p:sp>
          <p:nvSpPr>
            <p:cNvPr id="42" name="YOYOON5"/>
            <p:cNvSpPr txBox="1"/>
            <p:nvPr/>
          </p:nvSpPr>
          <p:spPr>
            <a:xfrm>
              <a:off x="2535558" y="3364376"/>
              <a:ext cx="1474651" cy="553876"/>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对比结果与目标评估策略有效性，深入分析成功或失败的核心原因（渠道、文案等）。</a:t>
              </a:r>
              <a:endParaRPr lang="zh-CN" altLang="en-US" sz="1000" dirty="0">
                <a:solidFill>
                  <a:srgbClr val="383838"/>
                </a:solidFill>
                <a:latin typeface="微软雅黑"/>
                <a:ea typeface="微软雅黑"/>
                <a:cs typeface="微软雅黑"/>
                <a:sym typeface="微软雅黑"/>
              </a:endParaRPr>
            </a:p>
          </p:txBody>
        </p:sp>
        <p:sp>
          <p:nvSpPr>
            <p:cNvPr id="43" name="YOYOON6"/>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sz="1200" b="1" dirty="0">
                  <a:solidFill>
                    <a:srgbClr val="0042FF"/>
                  </a:solidFill>
                  <a:latin typeface="微软雅黑"/>
                  <a:ea typeface="微软雅黑"/>
                  <a:cs typeface="微软雅黑"/>
                  <a:sym typeface="微软雅黑"/>
                </a:rPr>
                <a:t>目标验证</a:t>
              </a:r>
              <a:endParaRPr lang="zh-CN" sz="1200" b="1" dirty="0">
                <a:solidFill>
                  <a:srgbClr val="0042FF"/>
                </a:solidFill>
                <a:latin typeface="微软雅黑"/>
                <a:ea typeface="微软雅黑"/>
                <a:cs typeface="微软雅黑"/>
                <a:sym typeface="微软雅黑"/>
              </a:endParaRPr>
            </a:p>
          </p:txBody>
        </p:sp>
      </p:grpSp>
      <p:grpSp>
        <p:nvGrpSpPr>
          <p:cNvPr id="44" name="YOYOON39"/>
          <p:cNvGrpSpPr/>
          <p:nvPr/>
        </p:nvGrpSpPr>
        <p:grpSpPr>
          <a:xfrm rot="0">
            <a:off x="6191885" y="5226685"/>
            <a:ext cx="1438910" cy="765175"/>
            <a:chOff x="2535558" y="3152740"/>
            <a:chExt cx="1398142" cy="637460"/>
          </a:xfrm>
        </p:grpSpPr>
        <p:sp>
          <p:nvSpPr>
            <p:cNvPr id="45" name="YOYOON11"/>
            <p:cNvSpPr txBox="1"/>
            <p:nvPr/>
          </p:nvSpPr>
          <p:spPr>
            <a:xfrm>
              <a:off x="2535558" y="3364345"/>
              <a:ext cx="1398142"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每日记录核心数据波动及原因，收集用户真实声音供复盘。</a:t>
              </a:r>
              <a:endParaRPr lang="zh-CN" altLang="en-US" sz="1000" dirty="0">
                <a:solidFill>
                  <a:srgbClr val="FFFFFF"/>
                </a:solidFill>
                <a:latin typeface="微软雅黑"/>
                <a:ea typeface="微软雅黑"/>
                <a:cs typeface="微软雅黑"/>
                <a:sym typeface="微软雅黑"/>
              </a:endParaRPr>
            </a:p>
          </p:txBody>
        </p:sp>
        <p:sp>
          <p:nvSpPr>
            <p:cNvPr id="46" name="YOYOON12"/>
            <p:cNvSpPr txBox="1"/>
            <p:nvPr/>
          </p:nvSpPr>
          <p:spPr>
            <a:xfrm>
              <a:off x="2538403" y="3152740"/>
              <a:ext cx="1364259" cy="348619"/>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用户数据与反馈</a:t>
              </a:r>
              <a:endParaRPr lang="zh-CN" altLang="en-US" sz="1200" b="1" dirty="0">
                <a:solidFill>
                  <a:srgbClr val="FFFFFF"/>
                </a:solidFill>
                <a:latin typeface="微软雅黑"/>
                <a:ea typeface="微软雅黑"/>
                <a:cs typeface="微软雅黑"/>
                <a:sym typeface="微软雅黑"/>
              </a:endParaRPr>
            </a:p>
            <a:p>
              <a:pPr defTabSz="1828165">
                <a:defRPr>
                  <a:solidFill>
                    <a:srgbClr val="FFFFFF"/>
                  </a:solidFill>
                  <a:latin typeface="微软雅黑"/>
                  <a:ea typeface="微软雅黑"/>
                  <a:cs typeface="微软雅黑"/>
                </a:defRPr>
              </a:pPr>
              <a:endParaRPr lang="zh-CN" altLang="en-US" sz="1200" b="1" dirty="0">
                <a:solidFill>
                  <a:srgbClr val="FFFFFF"/>
                </a:solidFill>
                <a:latin typeface="微软雅黑"/>
                <a:ea typeface="微软雅黑"/>
                <a:cs typeface="微软雅黑"/>
                <a:sym typeface="微软雅黑"/>
              </a:endParaRPr>
            </a:p>
          </p:txBody>
        </p:sp>
      </p:grpSp>
      <p:grpSp>
        <p:nvGrpSpPr>
          <p:cNvPr id="47" name="YOYOON40"/>
          <p:cNvGrpSpPr/>
          <p:nvPr/>
        </p:nvGrpSpPr>
        <p:grpSpPr>
          <a:xfrm rot="0">
            <a:off x="8322310" y="5226685"/>
            <a:ext cx="1439545" cy="918845"/>
            <a:chOff x="2535558" y="3152740"/>
            <a:chExt cx="1398759" cy="765480"/>
          </a:xfrm>
        </p:grpSpPr>
        <p:sp>
          <p:nvSpPr>
            <p:cNvPr id="48" name="YOYOON13"/>
            <p:cNvSpPr txBox="1"/>
            <p:nvPr/>
          </p:nvSpPr>
          <p:spPr>
            <a:xfrm>
              <a:off x="2535558" y="3364345"/>
              <a:ext cx="1398759" cy="55387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复盘报告与</a:t>
              </a:r>
              <a:r>
                <a:rPr lang="en-US" altLang="zh-CN" sz="1000" dirty="0">
                  <a:solidFill>
                    <a:srgbClr val="FFFFFF"/>
                  </a:solidFill>
                  <a:latin typeface="微软雅黑"/>
                  <a:ea typeface="微软雅黑"/>
                  <a:cs typeface="微软雅黑"/>
                  <a:sym typeface="微软雅黑"/>
                </a:rPr>
                <a:t>SOP</a:t>
              </a:r>
              <a:r>
                <a:rPr lang="zh-CN" altLang="en-US" sz="1000" dirty="0">
                  <a:solidFill>
                    <a:srgbClr val="FFFFFF"/>
                  </a:solidFill>
                  <a:latin typeface="微软雅黑"/>
                  <a:ea typeface="微软雅黑"/>
                  <a:cs typeface="微软雅黑"/>
                  <a:sym typeface="微软雅黑"/>
                </a:rPr>
                <a:t>更新：输出含数据总结、经验教训的报告，将踩坑或验证的方法固化。</a:t>
              </a:r>
              <a:endParaRPr lang="zh-CN" altLang="en-US" sz="1000" dirty="0">
                <a:solidFill>
                  <a:srgbClr val="FFFFFF"/>
                </a:solidFill>
                <a:latin typeface="微软雅黑"/>
                <a:ea typeface="微软雅黑"/>
                <a:cs typeface="微软雅黑"/>
                <a:sym typeface="微软雅黑"/>
              </a:endParaRPr>
            </a:p>
          </p:txBody>
        </p:sp>
        <p:sp>
          <p:nvSpPr>
            <p:cNvPr id="49" name="YOYOON14"/>
            <p:cNvSpPr txBox="1"/>
            <p:nvPr/>
          </p:nvSpPr>
          <p:spPr>
            <a:xfrm>
              <a:off x="2538403" y="3152740"/>
              <a:ext cx="1364259" cy="194676"/>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solidFill>
                    <a:srgbClr val="FFFFFF"/>
                  </a:solidFill>
                  <a:latin typeface="微软雅黑"/>
                  <a:ea typeface="微软雅黑"/>
                  <a:cs typeface="微软雅黑"/>
                </a:defRPr>
              </a:pPr>
              <a:r>
                <a:rPr lang="zh-CN" altLang="en-US" sz="1200" b="1" dirty="0">
                  <a:solidFill>
                    <a:srgbClr val="FFFFFF"/>
                  </a:solidFill>
                  <a:latin typeface="微软雅黑"/>
                  <a:ea typeface="微软雅黑"/>
                  <a:cs typeface="微软雅黑"/>
                  <a:sym typeface="微软雅黑"/>
                </a:rPr>
                <a:t>结果沉淀</a:t>
              </a:r>
              <a:endParaRPr lang="zh-CN" altLang="en-US" sz="1200" b="1" dirty="0">
                <a:solidFill>
                  <a:srgbClr val="FFFFFF"/>
                </a:solidFill>
                <a:latin typeface="微软雅黑"/>
                <a:ea typeface="微软雅黑"/>
                <a:cs typeface="微软雅黑"/>
                <a:sym typeface="微软雅黑"/>
              </a:endParaRPr>
            </a:p>
          </p:txBody>
        </p:sp>
      </p:grpSp>
      <p:grpSp>
        <p:nvGrpSpPr>
          <p:cNvPr id="50" name="YOYOON43"/>
          <p:cNvGrpSpPr/>
          <p:nvPr/>
        </p:nvGrpSpPr>
        <p:grpSpPr>
          <a:xfrm rot="0">
            <a:off x="8679180" y="3730606"/>
            <a:ext cx="1517650" cy="765212"/>
            <a:chOff x="2535558" y="3152740"/>
            <a:chExt cx="1474651" cy="637491"/>
          </a:xfrm>
        </p:grpSpPr>
        <p:sp>
          <p:nvSpPr>
            <p:cNvPr id="54" name="YOYOON19"/>
            <p:cNvSpPr txBox="1"/>
            <p:nvPr/>
          </p:nvSpPr>
          <p:spPr>
            <a:xfrm>
              <a:off x="2535558" y="3364376"/>
              <a:ext cx="1474651" cy="425855"/>
            </a:xfrm>
            <a:prstGeom prst="rect">
              <a:avLst/>
            </a:prstGeom>
            <a:noFill/>
            <a:ln w="12700" cap="flat">
              <a:noFill/>
              <a:miter lim="400000"/>
            </a:ln>
            <a:effectLst/>
          </p:spPr>
          <p:txBody>
            <a:bodyPr wrap="square" lIns="0" tIns="0" rIns="0" bIns="0"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漏斗分析各环节转化率，组织</a:t>
              </a:r>
              <a:r>
                <a:rPr lang="en-US" altLang="zh-CN" sz="1000" dirty="0">
                  <a:solidFill>
                    <a:srgbClr val="383838"/>
                  </a:solidFill>
                  <a:latin typeface="微软雅黑"/>
                  <a:ea typeface="微软雅黑"/>
                  <a:cs typeface="微软雅黑"/>
                  <a:sym typeface="微软雅黑"/>
                </a:rPr>
                <a:t>KISS</a:t>
              </a:r>
              <a:r>
                <a:rPr lang="zh-CN" altLang="en-US" sz="1000" dirty="0">
                  <a:solidFill>
                    <a:srgbClr val="383838"/>
                  </a:solidFill>
                  <a:latin typeface="微软雅黑"/>
                  <a:ea typeface="微软雅黑"/>
                  <a:cs typeface="微软雅黑"/>
                  <a:sym typeface="微软雅黑"/>
                </a:rPr>
                <a:t>模型复盘会梳理流程。</a:t>
              </a:r>
              <a:endParaRPr lang="zh-CN" altLang="en-US" sz="1000" dirty="0">
                <a:solidFill>
                  <a:srgbClr val="383838"/>
                </a:solidFill>
                <a:latin typeface="微软雅黑"/>
                <a:ea typeface="微软雅黑"/>
                <a:cs typeface="微软雅黑"/>
                <a:sym typeface="微软雅黑"/>
              </a:endParaRPr>
            </a:p>
          </p:txBody>
        </p:sp>
        <p:sp>
          <p:nvSpPr>
            <p:cNvPr id="59" name="YOYOON20"/>
            <p:cNvSpPr txBox="1"/>
            <p:nvPr/>
          </p:nvSpPr>
          <p:spPr>
            <a:xfrm>
              <a:off x="2538403" y="3152740"/>
              <a:ext cx="1364259" cy="194677"/>
            </a:xfrm>
            <a:prstGeom prst="rect">
              <a:avLst/>
            </a:prstGeom>
            <a:noFill/>
            <a:ln w="12700" cap="flat">
              <a:noFill/>
              <a:miter lim="400000"/>
            </a:ln>
            <a:effectLst/>
          </p:spPr>
          <p:txBody>
            <a:bodyPr wrap="square" lIns="25398" tIns="25398" rIns="25398" bIns="25398" numCol="1" anchor="t">
              <a:spAutoFit/>
            </a:bodyPr>
            <a:lstStyle>
              <a:lvl1pPr algn="l">
                <a:defRPr sz="2000" b="0">
                  <a:solidFill>
                    <a:srgbClr val="0042FF"/>
                  </a:solidFill>
                  <a:latin typeface="微软雅黑"/>
                  <a:ea typeface="微软雅黑"/>
                  <a:cs typeface="微软雅黑"/>
                  <a:sym typeface="微软雅黑"/>
                </a:defRPr>
              </a:lvl1pPr>
            </a:lstStyle>
            <a:p>
              <a:pPr defTabSz="1828165">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数据复盘与团队会</a:t>
              </a:r>
              <a:endParaRPr lang="zh-CN" altLang="en-US" sz="1200" b="1" dirty="0">
                <a:solidFill>
                  <a:srgbClr val="0042FF"/>
                </a:solidFill>
                <a:latin typeface="微软雅黑"/>
                <a:ea typeface="微软雅黑"/>
                <a:cs typeface="微软雅黑"/>
                <a:sym typeface="微软雅黑"/>
              </a:endParaRPr>
            </a:p>
          </p:txBody>
        </p:sp>
      </p:grpSp>
      <p:sp>
        <p:nvSpPr>
          <p:cNvPr id="66" name="YOYOON25"/>
          <p:cNvSpPr txBox="1"/>
          <p:nvPr/>
        </p:nvSpPr>
        <p:spPr>
          <a:xfrm>
            <a:off x="10542270" y="3616960"/>
            <a:ext cx="1217295" cy="1075055"/>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交付率</a:t>
            </a:r>
            <a:r>
              <a:rPr lang="en-US" altLang="zh-CN" sz="1000" dirty="0">
                <a:solidFill>
                  <a:srgbClr val="383838"/>
                </a:solidFill>
                <a:latin typeface="微软雅黑"/>
                <a:ea typeface="微软雅黑"/>
                <a:cs typeface="微软雅黑"/>
                <a:sym typeface="微软雅黑"/>
              </a:rPr>
              <a:t>100%</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预算执行偏差率</a:t>
            </a:r>
            <a:r>
              <a:rPr lang="en-US" altLang="zh-CN" sz="1000" dirty="0">
                <a:solidFill>
                  <a:srgbClr val="383838"/>
                </a:solidFill>
                <a:latin typeface="微软雅黑"/>
                <a:ea typeface="微软雅黑"/>
                <a:cs typeface="微软雅黑"/>
                <a:sym typeface="微软雅黑"/>
              </a:rPr>
              <a:t>≤5%</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a:p>
            <a:pPr marL="171450" indent="-171450" algn="l" defTabSz="1828165" fontAlgn="auto">
              <a:lnSpc>
                <a:spcPts val="1600"/>
              </a:lnSpc>
              <a:buFont typeface="微软雅黑"/>
              <a:buChar char="✓"/>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舆情处理满意度</a:t>
            </a:r>
            <a:r>
              <a:rPr lang="en-US" altLang="zh-CN" sz="1000" dirty="0">
                <a:solidFill>
                  <a:srgbClr val="383838"/>
                </a:solidFill>
                <a:latin typeface="微软雅黑"/>
                <a:ea typeface="微软雅黑"/>
                <a:cs typeface="微软雅黑"/>
                <a:sym typeface="微软雅黑"/>
              </a:rPr>
              <a:t>≥90%</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p:txBody>
      </p:sp>
      <p:sp>
        <p:nvSpPr>
          <p:cNvPr id="67" name="YOYOON25"/>
          <p:cNvSpPr txBox="1"/>
          <p:nvPr/>
        </p:nvSpPr>
        <p:spPr>
          <a:xfrm>
            <a:off x="10314940" y="5174615"/>
            <a:ext cx="1217295" cy="869950"/>
          </a:xfrm>
          <a:prstGeom prst="rect">
            <a:avLst/>
          </a:prstGeom>
          <a:ln w="12700">
            <a:miter lim="400000"/>
          </a:ln>
        </p:spPr>
        <p:txBody>
          <a:bodyPr wrap="square" lIns="0" tIns="0" rIns="0" bIns="0">
            <a:spAutoFit/>
          </a:bodyPr>
          <a:lstStyle>
            <a:lvl1pPr algn="l">
              <a:defRPr sz="2000" b="0">
                <a:solidFill>
                  <a:srgbClr val="383838"/>
                </a:solidFill>
                <a:latin typeface="微软雅黑"/>
                <a:ea typeface="微软雅黑"/>
                <a:cs typeface="微软雅黑"/>
                <a:sym typeface="微软雅黑"/>
              </a:defRPr>
            </a:lvl1pPr>
          </a:lstStyle>
          <a:p>
            <a:pPr marL="171450" indent="-171450" algn="l" defTabSz="1828165" fontAlgn="auto">
              <a:lnSpc>
                <a:spcPts val="1600"/>
              </a:lnSpc>
              <a:buFont typeface="微软雅黑"/>
              <a:buChar cha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输出复盘报告</a:t>
            </a:r>
            <a:r>
              <a:rPr lang="en-US" altLang="zh-CN" sz="1000" dirty="0">
                <a:solidFill>
                  <a:srgbClr val="FFFFFF"/>
                </a:solidFill>
                <a:latin typeface="微软雅黑"/>
                <a:ea typeface="微软雅黑"/>
                <a:cs typeface="微软雅黑"/>
                <a:sym typeface="微软雅黑"/>
              </a:rPr>
              <a:t>1</a:t>
            </a:r>
            <a:r>
              <a:rPr lang="zh-CN" altLang="en-US" sz="1000" dirty="0">
                <a:solidFill>
                  <a:srgbClr val="FFFFFF"/>
                </a:solidFill>
                <a:latin typeface="微软雅黑"/>
                <a:ea typeface="微软雅黑"/>
                <a:cs typeface="微软雅黑"/>
                <a:sym typeface="微软雅黑"/>
              </a:rPr>
              <a:t>份</a:t>
            </a:r>
            <a:r>
              <a:rPr lang="zh-CN" altLang="en-US" sz="1000" dirty="0">
                <a:solidFill>
                  <a:srgbClr val="FFFFFF"/>
                </a:solidFill>
                <a:latin typeface="微软雅黑"/>
                <a:ea typeface="微软雅黑"/>
                <a:cs typeface="微软雅黑"/>
                <a:sym typeface="微软雅黑"/>
              </a:rPr>
              <a:t>；</a:t>
            </a:r>
            <a:endParaRPr lang="zh-CN" altLang="en-US" sz="1000" dirty="0">
              <a:solidFill>
                <a:srgbClr val="FFFFFF"/>
              </a:solidFill>
              <a:latin typeface="微软雅黑"/>
              <a:ea typeface="微软雅黑"/>
              <a:cs typeface="微软雅黑"/>
              <a:sym typeface="微软雅黑"/>
            </a:endParaRPr>
          </a:p>
          <a:p>
            <a:pPr marL="171450" indent="-171450" algn="l" defTabSz="1828165" fontAlgn="auto">
              <a:lnSpc>
                <a:spcPts val="1600"/>
              </a:lnSpc>
              <a:buFont typeface="微软雅黑"/>
              <a:buChar char="✓"/>
              <a:defRPr>
                <a:solidFill>
                  <a:srgbClr val="FFFFFF"/>
                </a:solidFill>
                <a:latin typeface="微软雅黑"/>
                <a:ea typeface="微软雅黑"/>
                <a:cs typeface="微软雅黑"/>
              </a:defRPr>
            </a:pPr>
            <a:r>
              <a:rPr lang="zh-CN" sz="1000" dirty="0">
                <a:solidFill>
                  <a:srgbClr val="FFFFFF"/>
                </a:solidFill>
                <a:latin typeface="微软雅黑"/>
                <a:ea typeface="微软雅黑"/>
                <a:cs typeface="微软雅黑"/>
                <a:sym typeface="微软雅黑"/>
              </a:rPr>
              <a:t>沉淀案例库</a:t>
            </a:r>
            <a:r>
              <a:rPr lang="en-US" altLang="zh-CN" sz="1000" dirty="0">
                <a:solidFill>
                  <a:srgbClr val="FFFFFF"/>
                </a:solidFill>
                <a:latin typeface="微软雅黑"/>
                <a:ea typeface="微软雅黑"/>
                <a:cs typeface="微软雅黑"/>
                <a:sym typeface="微软雅黑"/>
              </a:rPr>
              <a:t>≥3</a:t>
            </a:r>
            <a:r>
              <a:rPr lang="zh-CN" altLang="en-US" sz="1000" dirty="0">
                <a:solidFill>
                  <a:srgbClr val="FFFFFF"/>
                </a:solidFill>
                <a:latin typeface="微软雅黑"/>
                <a:ea typeface="微软雅黑"/>
                <a:cs typeface="微软雅黑"/>
                <a:sym typeface="微软雅黑"/>
              </a:rPr>
              <a:t>个</a:t>
            </a:r>
            <a:r>
              <a:rPr lang="zh-CN" altLang="en-US" sz="1000" dirty="0">
                <a:solidFill>
                  <a:srgbClr val="FFFFFF"/>
                </a:solidFill>
                <a:latin typeface="微软雅黑"/>
                <a:ea typeface="微软雅黑"/>
                <a:cs typeface="微软雅黑"/>
                <a:sym typeface="微软雅黑"/>
              </a:rPr>
              <a:t>；</a:t>
            </a:r>
            <a:endParaRPr lang="zh-CN" altLang="en-US" sz="1000" dirty="0">
              <a:solidFill>
                <a:srgbClr val="FFFFFF"/>
              </a:solidFill>
              <a:latin typeface="微软雅黑"/>
              <a:ea typeface="微软雅黑"/>
              <a:cs typeface="微软雅黑"/>
              <a:sym typeface="微软雅黑"/>
            </a:endParaRPr>
          </a:p>
          <a:p>
            <a:pPr marL="171450" indent="-171450" algn="l" defTabSz="1828165" fontAlgn="auto">
              <a:lnSpc>
                <a:spcPts val="1600"/>
              </a:lnSpc>
              <a:buFont typeface="微软雅黑"/>
              <a:buChar char="✓"/>
              <a:defRPr>
                <a:solidFill>
                  <a:srgbClr val="FFFFFF"/>
                </a:solidFill>
                <a:latin typeface="微软雅黑"/>
                <a:ea typeface="微软雅黑"/>
                <a:cs typeface="微软雅黑"/>
              </a:defRPr>
            </a:pPr>
            <a:r>
              <a:rPr lang="zh-CN" altLang="en-US" sz="1000" dirty="0">
                <a:solidFill>
                  <a:srgbClr val="FFFFFF"/>
                </a:solidFill>
                <a:latin typeface="微软雅黑"/>
                <a:ea typeface="微软雅黑"/>
                <a:cs typeface="微软雅黑"/>
                <a:sym typeface="微软雅黑"/>
              </a:rPr>
              <a:t>团队能力提升评估</a:t>
            </a:r>
            <a:r>
              <a:rPr lang="en-US" altLang="zh-CN" sz="1000" dirty="0">
                <a:solidFill>
                  <a:srgbClr val="FFFFFF"/>
                </a:solidFill>
                <a:latin typeface="微软雅黑"/>
                <a:ea typeface="微软雅黑"/>
                <a:cs typeface="微软雅黑"/>
                <a:sym typeface="微软雅黑"/>
              </a:rPr>
              <a:t>≥85</a:t>
            </a:r>
            <a:r>
              <a:rPr lang="zh-CN" altLang="en-US" sz="1000" dirty="0">
                <a:solidFill>
                  <a:srgbClr val="FFFFFF"/>
                </a:solidFill>
                <a:latin typeface="微软雅黑"/>
                <a:ea typeface="微软雅黑"/>
                <a:cs typeface="微软雅黑"/>
                <a:sym typeface="微软雅黑"/>
              </a:rPr>
              <a:t>分</a:t>
            </a:r>
            <a:r>
              <a:rPr lang="zh-CN" altLang="en-US" sz="1000" dirty="0">
                <a:solidFill>
                  <a:srgbClr val="FFFFFF"/>
                </a:solidFill>
                <a:latin typeface="微软雅黑"/>
                <a:ea typeface="微软雅黑"/>
                <a:cs typeface="微软雅黑"/>
                <a:sym typeface="微软雅黑"/>
              </a:rPr>
              <a:t>。</a:t>
            </a:r>
            <a:endParaRPr lang="zh-CN" altLang="en-US" sz="1000" dirty="0">
              <a:solidFill>
                <a:srgbClr val="FFFFFF"/>
              </a:solidFill>
              <a:latin typeface="微软雅黑"/>
              <a:ea typeface="微软雅黑"/>
              <a:cs typeface="微软雅黑"/>
              <a:sym typeface="微软雅黑"/>
            </a:endParaRPr>
          </a:p>
        </p:txBody>
      </p:sp>
      <p:sp>
        <p:nvSpPr>
          <p:cNvPr id="19" name="矩形 18"/>
          <p:cNvSpPr/>
          <p:nvPr/>
        </p:nvSpPr>
        <p:spPr>
          <a:xfrm>
            <a:off x="0" y="4959350"/>
            <a:ext cx="12192000" cy="1898650"/>
          </a:xfrm>
          <a:prstGeom prst="rect">
            <a:avLst/>
          </a:prstGeom>
          <a:solidFill>
            <a:srgbClr val="0042FF">
              <a:alpha val="80000"/>
            </a:srgbClr>
          </a:solidFill>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20" name="©显眼包PPT16"/>
          <p:cNvSpPr txBox="1"/>
          <p:nvPr/>
        </p:nvSpPr>
        <p:spPr>
          <a:xfrm>
            <a:off x="1898650" y="5447030"/>
            <a:ext cx="7307580" cy="923290"/>
          </a:xfrm>
          <a:prstGeom prst="rect">
            <a:avLst/>
          </a:prstGeom>
          <a:noFill/>
          <a:extLst>
            <a:ext uri="{909E8E84-426E-40DD-AFC4-6F175D3DCCD1}">
              <a14:hiddenFill xmlns:a14="http://schemas.microsoft.com/office/drawing/2010/main">
                <a:solidFill>
                  <a:srgbClr val="FFFFFF"/>
                </a:solidFill>
              </a14:hiddenFill>
            </a:ext>
          </a:ex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另一个配色效果供选择，删除本框即可！</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rPr>
              <a:t>本页不计入页面数量</a:t>
            </a:r>
            <a:endParaRPr kumimoji="0" lang="zh-CN" sz="3000" b="1" i="0" u="none" strike="noStrike" kern="1200" cap="none" spc="0" normalizeH="0" baseline="0" noProof="0" dirty="0">
              <a:ln w="3175">
                <a:noFill/>
              </a:ln>
              <a:solidFill>
                <a:srgbClr val="FFFFFF"/>
              </a:solidFill>
              <a:effectLst/>
              <a:uLnTx/>
              <a:uFillTx/>
              <a:latin typeface="微软雅黑"/>
              <a:ea typeface="微软雅黑"/>
              <a:cs typeface="微软雅黑"/>
              <a:sym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2" name="图片 1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3" name="文本框 1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项目规划管理流程图</a:t>
            </a:r>
            <a:endParaRPr lang="en-US" altLang="zh-CN"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69" name="直接连接符 68"/>
          <p:cNvCxnSpPr/>
          <p:nvPr/>
        </p:nvCxnSpPr>
        <p:spPr>
          <a:xfrm>
            <a:off x="719455" y="1899920"/>
            <a:ext cx="8525510" cy="0"/>
          </a:xfrm>
          <a:prstGeom prst="line">
            <a:avLst/>
          </a:prstGeom>
          <a:ln w="273050">
            <a:gradFill>
              <a:gsLst>
                <a:gs pos="0">
                  <a:srgbClr val="3368FF"/>
                </a:gs>
                <a:gs pos="100000">
                  <a:srgbClr val="0042FF"/>
                </a:gs>
              </a:gsLst>
              <a:lin ang="0" scaled="1"/>
              <a:tileRect/>
            </a:gradFill>
          </a:ln>
        </p:spPr>
        <p:style>
          <a:lnRef idx="1">
            <a:srgbClr val="0042FF"/>
          </a:lnRef>
          <a:fillRef idx="0">
            <a:srgbClr val="0042FF"/>
          </a:fillRef>
          <a:effectRef idx="0">
            <a:srgbClr val="0042FF"/>
          </a:effectRef>
          <a:fontRef idx="minor">
            <a:srgbClr val="383838"/>
          </a:fontRef>
        </p:style>
      </p:cxnSp>
      <p:sp>
        <p:nvSpPr>
          <p:cNvPr id="71" name="弧形 70"/>
          <p:cNvSpPr/>
          <p:nvPr/>
        </p:nvSpPr>
        <p:spPr>
          <a:xfrm flipV="1">
            <a:off x="8286115" y="1899920"/>
            <a:ext cx="1898015" cy="1907540"/>
          </a:xfrm>
          <a:prstGeom prst="arc">
            <a:avLst>
              <a:gd name="adj1" fmla="val 16200000"/>
              <a:gd name="adj2" fmla="val 5392708"/>
            </a:avLst>
          </a:prstGeom>
          <a:ln w="273050">
            <a:gradFill>
              <a:gsLst>
                <a:gs pos="86000">
                  <a:srgbClr val="3368FF"/>
                </a:gs>
                <a:gs pos="13000">
                  <a:srgbClr val="0042FF"/>
                </a:gs>
              </a:gsLst>
              <a:lin ang="16200000" scaled="1"/>
              <a:tileRect/>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cxnSp>
        <p:nvCxnSpPr>
          <p:cNvPr id="72" name="直接连接符 71"/>
          <p:cNvCxnSpPr/>
          <p:nvPr/>
        </p:nvCxnSpPr>
        <p:spPr>
          <a:xfrm flipV="1">
            <a:off x="4907280" y="3807460"/>
            <a:ext cx="4337685" cy="0"/>
          </a:xfrm>
          <a:prstGeom prst="line">
            <a:avLst/>
          </a:prstGeom>
          <a:ln w="273050">
            <a:gradFill>
              <a:gsLst>
                <a:gs pos="0">
                  <a:srgbClr val="B3D4FE"/>
                </a:gs>
                <a:gs pos="42000">
                  <a:srgbClr val="B3D4FE"/>
                </a:gs>
                <a:gs pos="59000">
                  <a:srgbClr val="668EFF"/>
                </a:gs>
                <a:gs pos="100000">
                  <a:srgbClr val="3368FF"/>
                </a:gs>
              </a:gsLst>
              <a:lin ang="0" scaled="1"/>
              <a:tileRect/>
            </a:gradFill>
          </a:ln>
        </p:spPr>
        <p:style>
          <a:lnRef idx="1">
            <a:srgbClr val="0042FF"/>
          </a:lnRef>
          <a:fillRef idx="0">
            <a:srgbClr val="0042FF"/>
          </a:fillRef>
          <a:effectRef idx="0">
            <a:srgbClr val="0042FF"/>
          </a:effectRef>
          <a:fontRef idx="minor">
            <a:srgbClr val="383838"/>
          </a:fontRef>
        </p:style>
      </p:cxnSp>
      <p:sp>
        <p:nvSpPr>
          <p:cNvPr id="74" name="弧形 73"/>
          <p:cNvSpPr/>
          <p:nvPr/>
        </p:nvSpPr>
        <p:spPr>
          <a:xfrm flipH="1" flipV="1">
            <a:off x="3961765" y="3806190"/>
            <a:ext cx="1905000" cy="1915160"/>
          </a:xfrm>
          <a:prstGeom prst="arc">
            <a:avLst>
              <a:gd name="adj1" fmla="val 16103491"/>
              <a:gd name="adj2" fmla="val 5392708"/>
            </a:avLst>
          </a:prstGeom>
          <a:ln w="273050">
            <a:gradFill>
              <a:gsLst>
                <a:gs pos="0">
                  <a:srgbClr val="B3D4FE"/>
                </a:gs>
                <a:gs pos="100000">
                  <a:srgbClr val="B3D4FE"/>
                </a:gs>
              </a:gsLst>
              <a:path path="shape">
                <a:fillToRect l="50000" t="50000" r="50000" b="50000"/>
              </a:path>
              <a:tileRect/>
            </a:gradFill>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cxnSp>
        <p:nvCxnSpPr>
          <p:cNvPr id="75" name="直接连接符 74"/>
          <p:cNvCxnSpPr/>
          <p:nvPr/>
        </p:nvCxnSpPr>
        <p:spPr>
          <a:xfrm>
            <a:off x="4926330" y="5720715"/>
            <a:ext cx="5924550" cy="0"/>
          </a:xfrm>
          <a:prstGeom prst="line">
            <a:avLst/>
          </a:prstGeom>
          <a:ln w="273050">
            <a:gradFill>
              <a:gsLst>
                <a:gs pos="0">
                  <a:srgbClr val="B3D4FE"/>
                </a:gs>
                <a:gs pos="100000">
                  <a:srgbClr val="3368FF"/>
                </a:gs>
              </a:gsLst>
              <a:lin ang="0" scaled="1"/>
              <a:tileRect/>
            </a:gradFill>
            <a:tailEnd type="triangle" w="sm" len="sm"/>
          </a:ln>
        </p:spPr>
        <p:style>
          <a:lnRef idx="1">
            <a:srgbClr val="0042FF"/>
          </a:lnRef>
          <a:fillRef idx="0">
            <a:srgbClr val="0042FF"/>
          </a:fillRef>
          <a:effectRef idx="0">
            <a:srgbClr val="0042FF"/>
          </a:effectRef>
          <a:fontRef idx="minor">
            <a:srgbClr val="383838"/>
          </a:fontRef>
        </p:style>
      </p:cxnSp>
      <p:sp>
        <p:nvSpPr>
          <p:cNvPr id="93" name="椭圆 92"/>
          <p:cNvSpPr/>
          <p:nvPr/>
        </p:nvSpPr>
        <p:spPr>
          <a:xfrm>
            <a:off x="10118568" y="2725982"/>
            <a:ext cx="132798" cy="133497"/>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nvGrpSpPr>
          <p:cNvPr id="128" name="组合 127"/>
          <p:cNvGrpSpPr/>
          <p:nvPr/>
        </p:nvGrpSpPr>
        <p:grpSpPr>
          <a:xfrm>
            <a:off x="1678940" y="1205230"/>
            <a:ext cx="1309370" cy="1585595"/>
            <a:chOff x="2200" y="1770"/>
            <a:chExt cx="2062" cy="2497"/>
          </a:xfrm>
        </p:grpSpPr>
        <p:sp>
          <p:nvSpPr>
            <p:cNvPr id="3" name="椭圆 2"/>
            <p:cNvSpPr/>
            <p:nvPr/>
          </p:nvSpPr>
          <p:spPr>
            <a:xfrm>
              <a:off x="3127" y="2759"/>
              <a:ext cx="209" cy="210"/>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nvGrpSpPr>
            <p:cNvPr id="9" name="组合 8"/>
            <p:cNvGrpSpPr/>
            <p:nvPr/>
          </p:nvGrpSpPr>
          <p:grpSpPr>
            <a:xfrm rot="0">
              <a:off x="2367" y="1770"/>
              <a:ext cx="1729" cy="736"/>
              <a:chOff x="1797" y="8377"/>
              <a:chExt cx="1729" cy="736"/>
            </a:xfrm>
          </p:grpSpPr>
          <p:sp>
            <p:nvSpPr>
              <p:cNvPr id="8"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0042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20" name="文本框 119"/>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altLang="en-US" sz="1200" kern="1200" dirty="0">
                    <a:solidFill>
                      <a:srgbClr val="0042FF"/>
                    </a:solidFill>
                    <a:latin typeface="微软雅黑"/>
                    <a:ea typeface="微软雅黑"/>
                    <a:cs typeface="微软雅黑"/>
                  </a:rPr>
                  <a:t>①</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项目立项</a:t>
                </a:r>
                <a:endParaRPr lang="zh-CN" altLang="en-US" sz="1200" kern="1200" dirty="0">
                  <a:solidFill>
                    <a:srgbClr val="0042FF"/>
                  </a:solidFill>
                  <a:latin typeface="微软雅黑"/>
                  <a:ea typeface="微软雅黑"/>
                  <a:cs typeface="微软雅黑"/>
                </a:endParaRPr>
              </a:p>
            </p:txBody>
          </p:sp>
        </p:grpSp>
        <p:sp>
          <p:nvSpPr>
            <p:cNvPr id="70" name="紫荆的职场Point36"/>
            <p:cNvSpPr txBox="1"/>
            <p:nvPr/>
          </p:nvSpPr>
          <p:spPr>
            <a:xfrm>
              <a:off x="2200" y="3167"/>
              <a:ext cx="2063" cy="1101"/>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明确项目目标，获取正式授权，任命项目经理。</a:t>
              </a:r>
              <a:endParaRPr lang="zh-CN" altLang="en-US" sz="1200" dirty="0">
                <a:solidFill>
                  <a:srgbClr val="383838"/>
                </a:solidFill>
                <a:latin typeface="微软雅黑"/>
                <a:ea typeface="微软雅黑"/>
                <a:cs typeface="微软雅黑"/>
              </a:endParaRPr>
            </a:p>
          </p:txBody>
        </p:sp>
      </p:grpSp>
      <p:sp>
        <p:nvSpPr>
          <p:cNvPr id="27" name="椭圆 26"/>
          <p:cNvSpPr/>
          <p:nvPr/>
        </p:nvSpPr>
        <p:spPr>
          <a:xfrm>
            <a:off x="3910808" y="4643682"/>
            <a:ext cx="132798" cy="133497"/>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129" name="组合 128"/>
          <p:cNvGrpSpPr/>
          <p:nvPr/>
        </p:nvGrpSpPr>
        <p:grpSpPr>
          <a:xfrm>
            <a:off x="3724275" y="1205230"/>
            <a:ext cx="1309370" cy="1585595"/>
            <a:chOff x="5197" y="1770"/>
            <a:chExt cx="2062" cy="2497"/>
          </a:xfrm>
        </p:grpSpPr>
        <p:sp>
          <p:nvSpPr>
            <p:cNvPr id="4" name="椭圆 3"/>
            <p:cNvSpPr/>
            <p:nvPr/>
          </p:nvSpPr>
          <p:spPr>
            <a:xfrm>
              <a:off x="6124" y="2759"/>
              <a:ext cx="209" cy="210"/>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nvGrpSpPr>
            <p:cNvPr id="11" name="组合 10"/>
            <p:cNvGrpSpPr/>
            <p:nvPr/>
          </p:nvGrpSpPr>
          <p:grpSpPr>
            <a:xfrm rot="0">
              <a:off x="5364" y="1770"/>
              <a:ext cx="1729" cy="736"/>
              <a:chOff x="1797" y="8377"/>
              <a:chExt cx="1729" cy="736"/>
            </a:xfrm>
          </p:grpSpPr>
          <p:sp>
            <p:nvSpPr>
              <p:cNvPr id="12"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0042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3" name="文本框 12"/>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sz="1200" kern="1200" dirty="0">
                    <a:solidFill>
                      <a:srgbClr val="0042FF"/>
                    </a:solidFill>
                    <a:latin typeface="微软雅黑"/>
                    <a:ea typeface="微软雅黑"/>
                    <a:cs typeface="微软雅黑"/>
                  </a:rPr>
                  <a:t>②</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组建团队</a:t>
                </a:r>
                <a:endParaRPr lang="zh-CN" altLang="en-US" sz="1200" kern="1200" dirty="0">
                  <a:solidFill>
                    <a:srgbClr val="0042FF"/>
                  </a:solidFill>
                  <a:latin typeface="微软雅黑"/>
                  <a:ea typeface="微软雅黑"/>
                  <a:cs typeface="微软雅黑"/>
                </a:endParaRPr>
              </a:p>
            </p:txBody>
          </p:sp>
        </p:grpSp>
        <p:sp>
          <p:nvSpPr>
            <p:cNvPr id="34" name="紫荆的职场Point36"/>
            <p:cNvSpPr txBox="1"/>
            <p:nvPr/>
          </p:nvSpPr>
          <p:spPr>
            <a:xfrm>
              <a:off x="5197" y="3167"/>
              <a:ext cx="2063" cy="1101"/>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搭配合适人员，明确角色职责，建立沟通机制。</a:t>
              </a:r>
              <a:endParaRPr lang="zh-CN" altLang="en-US" sz="1200" dirty="0">
                <a:solidFill>
                  <a:srgbClr val="383838"/>
                </a:solidFill>
                <a:latin typeface="微软雅黑"/>
                <a:ea typeface="微软雅黑"/>
                <a:cs typeface="微软雅黑"/>
              </a:endParaRPr>
            </a:p>
          </p:txBody>
        </p:sp>
      </p:grpSp>
      <p:grpSp>
        <p:nvGrpSpPr>
          <p:cNvPr id="130" name="组合 129"/>
          <p:cNvGrpSpPr/>
          <p:nvPr/>
        </p:nvGrpSpPr>
        <p:grpSpPr>
          <a:xfrm>
            <a:off x="5769610" y="1205230"/>
            <a:ext cx="1392555" cy="1586230"/>
            <a:chOff x="8278" y="1770"/>
            <a:chExt cx="2193" cy="2498"/>
          </a:xfrm>
        </p:grpSpPr>
        <p:sp>
          <p:nvSpPr>
            <p:cNvPr id="7" name="椭圆 6"/>
            <p:cNvSpPr/>
            <p:nvPr/>
          </p:nvSpPr>
          <p:spPr>
            <a:xfrm>
              <a:off x="9150" y="2759"/>
              <a:ext cx="209" cy="210"/>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nvGrpSpPr>
            <p:cNvPr id="14" name="组合 13"/>
            <p:cNvGrpSpPr/>
            <p:nvPr/>
          </p:nvGrpSpPr>
          <p:grpSpPr>
            <a:xfrm rot="0">
              <a:off x="8390" y="1770"/>
              <a:ext cx="1729" cy="736"/>
              <a:chOff x="1797" y="8377"/>
              <a:chExt cx="1729" cy="736"/>
            </a:xfrm>
          </p:grpSpPr>
          <p:sp>
            <p:nvSpPr>
              <p:cNvPr id="15"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0042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6" name="文本框 15"/>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sz="1200" kern="1200" dirty="0">
                    <a:solidFill>
                      <a:srgbClr val="0042FF"/>
                    </a:solidFill>
                    <a:latin typeface="微软雅黑"/>
                    <a:ea typeface="微软雅黑"/>
                    <a:cs typeface="微软雅黑"/>
                  </a:rPr>
                  <a:t>③</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界定范围</a:t>
                </a:r>
                <a:endParaRPr lang="zh-CN" altLang="en-US" sz="1200" kern="1200" dirty="0">
                  <a:solidFill>
                    <a:srgbClr val="0042FF"/>
                  </a:solidFill>
                  <a:latin typeface="微软雅黑"/>
                  <a:ea typeface="微软雅黑"/>
                  <a:cs typeface="微软雅黑"/>
                </a:endParaRPr>
              </a:p>
            </p:txBody>
          </p:sp>
        </p:grpSp>
        <p:sp>
          <p:nvSpPr>
            <p:cNvPr id="35" name="紫荆的职场Point36"/>
            <p:cNvSpPr txBox="1"/>
            <p:nvPr/>
          </p:nvSpPr>
          <p:spPr>
            <a:xfrm>
              <a:off x="8278" y="3167"/>
              <a:ext cx="2193" cy="1101"/>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确认工作边界，明确做什么，形成范围说明书。</a:t>
              </a:r>
              <a:endParaRPr lang="zh-CN" altLang="en-US" sz="1200" dirty="0">
                <a:solidFill>
                  <a:srgbClr val="383838"/>
                </a:solidFill>
                <a:latin typeface="微软雅黑"/>
                <a:ea typeface="微软雅黑"/>
                <a:cs typeface="微软雅黑"/>
              </a:endParaRPr>
            </a:p>
          </p:txBody>
        </p:sp>
      </p:grpSp>
      <p:grpSp>
        <p:nvGrpSpPr>
          <p:cNvPr id="131" name="组合 130"/>
          <p:cNvGrpSpPr/>
          <p:nvPr/>
        </p:nvGrpSpPr>
        <p:grpSpPr>
          <a:xfrm>
            <a:off x="7898130" y="1205230"/>
            <a:ext cx="1414780" cy="1585595"/>
            <a:chOff x="11357" y="1770"/>
            <a:chExt cx="2228" cy="2497"/>
          </a:xfrm>
        </p:grpSpPr>
        <p:sp>
          <p:nvSpPr>
            <p:cNvPr id="6" name="椭圆 5"/>
            <p:cNvSpPr/>
            <p:nvPr/>
          </p:nvSpPr>
          <p:spPr>
            <a:xfrm>
              <a:off x="12367" y="2759"/>
              <a:ext cx="209" cy="210"/>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nvGrpSpPr>
            <p:cNvPr id="17" name="组合 16"/>
            <p:cNvGrpSpPr/>
            <p:nvPr/>
          </p:nvGrpSpPr>
          <p:grpSpPr>
            <a:xfrm rot="0">
              <a:off x="11607" y="1770"/>
              <a:ext cx="1729" cy="736"/>
              <a:chOff x="1797" y="8377"/>
              <a:chExt cx="1729" cy="736"/>
            </a:xfrm>
          </p:grpSpPr>
          <p:sp>
            <p:nvSpPr>
              <p:cNvPr id="18"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0042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9" name="文本框 18"/>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sz="1200" kern="1200" dirty="0">
                    <a:solidFill>
                      <a:srgbClr val="0042FF"/>
                    </a:solidFill>
                    <a:latin typeface="微软雅黑"/>
                    <a:ea typeface="微软雅黑"/>
                    <a:cs typeface="微软雅黑"/>
                  </a:rPr>
                  <a:t>④</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需求确认</a:t>
                </a:r>
                <a:endParaRPr lang="zh-CN" altLang="en-US" sz="1200" kern="1200" dirty="0">
                  <a:solidFill>
                    <a:srgbClr val="0042FF"/>
                  </a:solidFill>
                  <a:latin typeface="微软雅黑"/>
                  <a:ea typeface="微软雅黑"/>
                  <a:cs typeface="微软雅黑"/>
                </a:endParaRPr>
              </a:p>
            </p:txBody>
          </p:sp>
        </p:grpSp>
        <p:sp>
          <p:nvSpPr>
            <p:cNvPr id="36" name="紫荆的职场Point36"/>
            <p:cNvSpPr txBox="1"/>
            <p:nvPr/>
          </p:nvSpPr>
          <p:spPr>
            <a:xfrm>
              <a:off x="11357" y="3167"/>
              <a:ext cx="2228" cy="1101"/>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细化用户需求，分析功能列表，确保双方理解一致。</a:t>
              </a:r>
              <a:endParaRPr lang="zh-CN" altLang="en-US" sz="1200" dirty="0">
                <a:solidFill>
                  <a:srgbClr val="383838"/>
                </a:solidFill>
                <a:latin typeface="微软雅黑"/>
                <a:ea typeface="微软雅黑"/>
                <a:cs typeface="微软雅黑"/>
              </a:endParaRPr>
            </a:p>
          </p:txBody>
        </p:sp>
      </p:grpSp>
      <p:sp>
        <p:nvSpPr>
          <p:cNvPr id="53" name="紫荆的职场Point36"/>
          <p:cNvSpPr txBox="1"/>
          <p:nvPr/>
        </p:nvSpPr>
        <p:spPr>
          <a:xfrm>
            <a:off x="10312400" y="3096895"/>
            <a:ext cx="1590675" cy="699135"/>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分解工作任务（</a:t>
            </a:r>
            <a:r>
              <a:rPr lang="en-US" altLang="zh-CN" sz="1200" dirty="0">
                <a:solidFill>
                  <a:srgbClr val="383838"/>
                </a:solidFill>
                <a:latin typeface="微软雅黑"/>
                <a:ea typeface="微软雅黑"/>
                <a:cs typeface="微软雅黑"/>
              </a:rPr>
              <a:t>WBS</a:t>
            </a:r>
            <a:r>
              <a:rPr lang="zh-CN" altLang="en-US" sz="1200" dirty="0">
                <a:solidFill>
                  <a:srgbClr val="383838"/>
                </a:solidFill>
                <a:latin typeface="微软雅黑"/>
                <a:ea typeface="微软雅黑"/>
                <a:cs typeface="微软雅黑"/>
              </a:rPr>
              <a:t>），评估工时，制定进度计划。</a:t>
            </a:r>
            <a:endParaRPr lang="zh-CN" altLang="en-US" sz="1200" dirty="0">
              <a:solidFill>
                <a:srgbClr val="383838"/>
              </a:solidFill>
              <a:latin typeface="微软雅黑"/>
              <a:ea typeface="微软雅黑"/>
              <a:cs typeface="微软雅黑"/>
            </a:endParaRPr>
          </a:p>
        </p:txBody>
      </p:sp>
      <p:grpSp>
        <p:nvGrpSpPr>
          <p:cNvPr id="148" name="组合 147"/>
          <p:cNvGrpSpPr/>
          <p:nvPr/>
        </p:nvGrpSpPr>
        <p:grpSpPr>
          <a:xfrm>
            <a:off x="6600190" y="3096895"/>
            <a:ext cx="1422400" cy="1442720"/>
            <a:chOff x="9636" y="4749"/>
            <a:chExt cx="2240" cy="2272"/>
          </a:xfrm>
        </p:grpSpPr>
        <p:sp>
          <p:nvSpPr>
            <p:cNvPr id="28" name="椭圆 27"/>
            <p:cNvSpPr/>
            <p:nvPr/>
          </p:nvSpPr>
          <p:spPr>
            <a:xfrm>
              <a:off x="10516" y="5766"/>
              <a:ext cx="209" cy="210"/>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37" name="组合 36"/>
            <p:cNvGrpSpPr/>
            <p:nvPr/>
          </p:nvGrpSpPr>
          <p:grpSpPr>
            <a:xfrm rot="0">
              <a:off x="9756" y="4749"/>
              <a:ext cx="1729" cy="736"/>
              <a:chOff x="1797" y="8377"/>
              <a:chExt cx="1729" cy="736"/>
            </a:xfrm>
          </p:grpSpPr>
          <p:sp>
            <p:nvSpPr>
              <p:cNvPr id="38"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39" name="文本框 38"/>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sz="1200" kern="1200" dirty="0">
                    <a:solidFill>
                      <a:srgbClr val="0042FF"/>
                    </a:solidFill>
                    <a:latin typeface="微软雅黑"/>
                    <a:ea typeface="微软雅黑"/>
                    <a:cs typeface="微软雅黑"/>
                  </a:rPr>
                  <a:t>⑦</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资源调配</a:t>
                </a:r>
                <a:endParaRPr lang="zh-CN" altLang="en-US" sz="1200" kern="1200" dirty="0">
                  <a:solidFill>
                    <a:srgbClr val="0042FF"/>
                  </a:solidFill>
                  <a:latin typeface="微软雅黑"/>
                  <a:ea typeface="微软雅黑"/>
                  <a:cs typeface="微软雅黑"/>
                </a:endParaRPr>
              </a:p>
            </p:txBody>
          </p:sp>
        </p:grpSp>
        <p:sp>
          <p:nvSpPr>
            <p:cNvPr id="57" name="紫荆的职场Point36"/>
            <p:cNvSpPr txBox="1"/>
            <p:nvPr/>
          </p:nvSpPr>
          <p:spPr>
            <a:xfrm>
              <a:off x="9636" y="6239"/>
              <a:ext cx="2240" cy="782"/>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合理分配人钱物，确保资源到位。</a:t>
              </a:r>
              <a:endParaRPr lang="zh-CN" altLang="en-US" sz="1200" dirty="0">
                <a:solidFill>
                  <a:srgbClr val="383838"/>
                </a:solidFill>
                <a:latin typeface="微软雅黑"/>
                <a:ea typeface="微软雅黑"/>
                <a:cs typeface="微软雅黑"/>
              </a:endParaRPr>
            </a:p>
          </p:txBody>
        </p:sp>
      </p:grpSp>
      <p:grpSp>
        <p:nvGrpSpPr>
          <p:cNvPr id="86" name="组合 85"/>
          <p:cNvGrpSpPr/>
          <p:nvPr/>
        </p:nvGrpSpPr>
        <p:grpSpPr>
          <a:xfrm>
            <a:off x="2537460" y="4492625"/>
            <a:ext cx="1160780" cy="437515"/>
            <a:chOff x="13904" y="4021"/>
            <a:chExt cx="1828" cy="689"/>
          </a:xfrm>
        </p:grpSpPr>
        <p:sp>
          <p:nvSpPr>
            <p:cNvPr id="209" name="任意多边形: 形状 43"/>
            <p:cNvSpPr/>
            <p:nvPr/>
          </p:nvSpPr>
          <p:spPr>
            <a:xfrm rot="5400000">
              <a:off x="14473" y="3451"/>
              <a:ext cx="689" cy="1828"/>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 name="connsiteX0-1" fmla="*/ 3155148 w 3316934"/>
                <a:gd name="connsiteY0-2" fmla="*/ 3497246 h 3497246"/>
                <a:gd name="connsiteX1-3" fmla="*/ 161786 w 3316934"/>
                <a:gd name="connsiteY1-4" fmla="*/ 3497246 h 3497246"/>
                <a:gd name="connsiteX2-5" fmla="*/ 0 w 3316934"/>
                <a:gd name="connsiteY2-6" fmla="*/ 3335460 h 3497246"/>
                <a:gd name="connsiteX3-7" fmla="*/ 0 w 3316934"/>
                <a:gd name="connsiteY3-8" fmla="*/ 356601 h 3497246"/>
                <a:gd name="connsiteX4-9" fmla="*/ 161786 w 3316934"/>
                <a:gd name="connsiteY4-10" fmla="*/ 194815 h 3497246"/>
                <a:gd name="connsiteX5-11" fmla="*/ 1568591 w 3316934"/>
                <a:gd name="connsiteY5-12" fmla="*/ 194815 h 3497246"/>
                <a:gd name="connsiteX6-13" fmla="*/ 1728150 w 3316934"/>
                <a:gd name="connsiteY6-14" fmla="*/ 0 h 3497246"/>
                <a:gd name="connsiteX7-15" fmla="*/ 1926547 w 3316934"/>
                <a:gd name="connsiteY7-16" fmla="*/ 194815 h 3497246"/>
                <a:gd name="connsiteX8-17" fmla="*/ 3155148 w 3316934"/>
                <a:gd name="connsiteY8-18" fmla="*/ 194815 h 3497246"/>
                <a:gd name="connsiteX9-19" fmla="*/ 3316934 w 3316934"/>
                <a:gd name="connsiteY9-20" fmla="*/ 356601 h 3497246"/>
                <a:gd name="connsiteX10-21" fmla="*/ 3316934 w 3316934"/>
                <a:gd name="connsiteY10-22" fmla="*/ 3335460 h 3497246"/>
                <a:gd name="connsiteX11-23" fmla="*/ 3155148 w 3316934"/>
                <a:gd name="connsiteY11-24" fmla="*/ 3497246 h 3497246"/>
                <a:gd name="connsiteX0-25" fmla="*/ 3155148 w 3316934"/>
                <a:gd name="connsiteY0-26" fmla="*/ 3497246 h 3497246"/>
                <a:gd name="connsiteX1-27" fmla="*/ 161786 w 3316934"/>
                <a:gd name="connsiteY1-28" fmla="*/ 3497246 h 3497246"/>
                <a:gd name="connsiteX2-29" fmla="*/ 0 w 3316934"/>
                <a:gd name="connsiteY2-30" fmla="*/ 3335460 h 3497246"/>
                <a:gd name="connsiteX3-31" fmla="*/ 0 w 3316934"/>
                <a:gd name="connsiteY3-32" fmla="*/ 356601 h 3497246"/>
                <a:gd name="connsiteX4-33" fmla="*/ 161786 w 3316934"/>
                <a:gd name="connsiteY4-34" fmla="*/ 194815 h 3497246"/>
                <a:gd name="connsiteX5-35" fmla="*/ 1568591 w 3316934"/>
                <a:gd name="connsiteY5-36" fmla="*/ 194815 h 3497246"/>
                <a:gd name="connsiteX6-37" fmla="*/ 1728150 w 3316934"/>
                <a:gd name="connsiteY6-38" fmla="*/ 0 h 3497246"/>
                <a:gd name="connsiteX7-39" fmla="*/ 1926547 w 3316934"/>
                <a:gd name="connsiteY7-40" fmla="*/ 194815 h 3497246"/>
                <a:gd name="connsiteX8-41" fmla="*/ 3155148 w 3316934"/>
                <a:gd name="connsiteY8-42" fmla="*/ 194815 h 3497246"/>
                <a:gd name="connsiteX9-43" fmla="*/ 3316931 w 3316934"/>
                <a:gd name="connsiteY9-44" fmla="*/ 311103 h 3497246"/>
                <a:gd name="connsiteX10-45" fmla="*/ 3316934 w 3316934"/>
                <a:gd name="connsiteY10-46" fmla="*/ 3335460 h 3497246"/>
                <a:gd name="connsiteX11-47" fmla="*/ 3155148 w 3316934"/>
                <a:gd name="connsiteY11-48" fmla="*/ 3497246 h 3497246"/>
                <a:gd name="connsiteX0-49" fmla="*/ 3155148 w 3316934"/>
                <a:gd name="connsiteY0-50" fmla="*/ 3497246 h 3497246"/>
                <a:gd name="connsiteX1-51" fmla="*/ 161786 w 3316934"/>
                <a:gd name="connsiteY1-52" fmla="*/ 3497246 h 3497246"/>
                <a:gd name="connsiteX2-53" fmla="*/ 0 w 3316934"/>
                <a:gd name="connsiteY2-54" fmla="*/ 3335460 h 3497246"/>
                <a:gd name="connsiteX3-55" fmla="*/ 0 w 3316934"/>
                <a:gd name="connsiteY3-56" fmla="*/ 356601 h 3497246"/>
                <a:gd name="connsiteX4-57" fmla="*/ 161786 w 3316934"/>
                <a:gd name="connsiteY4-58" fmla="*/ 194815 h 3497246"/>
                <a:gd name="connsiteX5-59" fmla="*/ 1568591 w 3316934"/>
                <a:gd name="connsiteY5-60" fmla="*/ 194815 h 3497246"/>
                <a:gd name="connsiteX6-61" fmla="*/ 1728150 w 3316934"/>
                <a:gd name="connsiteY6-62" fmla="*/ 0 h 3497246"/>
                <a:gd name="connsiteX7-63" fmla="*/ 2062473 w 3316934"/>
                <a:gd name="connsiteY7-64" fmla="*/ 194822 h 3497246"/>
                <a:gd name="connsiteX8-65" fmla="*/ 3155148 w 3316934"/>
                <a:gd name="connsiteY8-66" fmla="*/ 194815 h 3497246"/>
                <a:gd name="connsiteX9-67" fmla="*/ 3316931 w 3316934"/>
                <a:gd name="connsiteY9-68" fmla="*/ 311103 h 3497246"/>
                <a:gd name="connsiteX10-69" fmla="*/ 3316934 w 3316934"/>
                <a:gd name="connsiteY10-70" fmla="*/ 3335460 h 3497246"/>
                <a:gd name="connsiteX11-71" fmla="*/ 3155148 w 3316934"/>
                <a:gd name="connsiteY11-72" fmla="*/ 3497246 h 3497246"/>
                <a:gd name="connsiteX0-73" fmla="*/ 3155148 w 3316934"/>
                <a:gd name="connsiteY0-74" fmla="*/ 3497246 h 3497246"/>
                <a:gd name="connsiteX1-75" fmla="*/ 161786 w 3316934"/>
                <a:gd name="connsiteY1-76" fmla="*/ 3497246 h 3497246"/>
                <a:gd name="connsiteX2-77" fmla="*/ 0 w 3316934"/>
                <a:gd name="connsiteY2-78" fmla="*/ 3335460 h 3497246"/>
                <a:gd name="connsiteX3-79" fmla="*/ 0 w 3316934"/>
                <a:gd name="connsiteY3-80" fmla="*/ 356601 h 3497246"/>
                <a:gd name="connsiteX4-81" fmla="*/ 161786 w 3316934"/>
                <a:gd name="connsiteY4-82" fmla="*/ 194815 h 3497246"/>
                <a:gd name="connsiteX5-83" fmla="*/ 1393822 w 3316934"/>
                <a:gd name="connsiteY5-84" fmla="*/ 187237 h 3497246"/>
                <a:gd name="connsiteX6-85" fmla="*/ 1728150 w 3316934"/>
                <a:gd name="connsiteY6-86" fmla="*/ 0 h 3497246"/>
                <a:gd name="connsiteX7-87" fmla="*/ 2062473 w 3316934"/>
                <a:gd name="connsiteY7-88" fmla="*/ 194822 h 3497246"/>
                <a:gd name="connsiteX8-89" fmla="*/ 3155148 w 3316934"/>
                <a:gd name="connsiteY8-90" fmla="*/ 194815 h 3497246"/>
                <a:gd name="connsiteX9-91" fmla="*/ 3316931 w 3316934"/>
                <a:gd name="connsiteY9-92" fmla="*/ 311103 h 3497246"/>
                <a:gd name="connsiteX10-93" fmla="*/ 3316934 w 3316934"/>
                <a:gd name="connsiteY10-94" fmla="*/ 3335460 h 3497246"/>
                <a:gd name="connsiteX11-95" fmla="*/ 3155148 w 3316934"/>
                <a:gd name="connsiteY11-96" fmla="*/ 3497246 h 3497246"/>
                <a:gd name="connsiteX0-97" fmla="*/ 3155148 w 3316934"/>
                <a:gd name="connsiteY0-98" fmla="*/ 3466902 h 3466902"/>
                <a:gd name="connsiteX1-99" fmla="*/ 161786 w 3316934"/>
                <a:gd name="connsiteY1-100" fmla="*/ 3466902 h 3466902"/>
                <a:gd name="connsiteX2-101" fmla="*/ 0 w 3316934"/>
                <a:gd name="connsiteY2-102" fmla="*/ 3305116 h 3466902"/>
                <a:gd name="connsiteX3-103" fmla="*/ 0 w 3316934"/>
                <a:gd name="connsiteY3-104" fmla="*/ 326257 h 3466902"/>
                <a:gd name="connsiteX4-105" fmla="*/ 161786 w 3316934"/>
                <a:gd name="connsiteY4-106" fmla="*/ 164471 h 3466902"/>
                <a:gd name="connsiteX5-107" fmla="*/ 1393822 w 3316934"/>
                <a:gd name="connsiteY5-108" fmla="*/ 156893 h 3466902"/>
                <a:gd name="connsiteX6-109" fmla="*/ 1708727 w 3316934"/>
                <a:gd name="connsiteY6-110" fmla="*/ -1 h 3466902"/>
                <a:gd name="connsiteX7-111" fmla="*/ 2062473 w 3316934"/>
                <a:gd name="connsiteY7-112" fmla="*/ 164478 h 3466902"/>
                <a:gd name="connsiteX8-113" fmla="*/ 3155148 w 3316934"/>
                <a:gd name="connsiteY8-114" fmla="*/ 164471 h 3466902"/>
                <a:gd name="connsiteX9-115" fmla="*/ 3316931 w 3316934"/>
                <a:gd name="connsiteY9-116" fmla="*/ 280759 h 3466902"/>
                <a:gd name="connsiteX10-117" fmla="*/ 3316934 w 3316934"/>
                <a:gd name="connsiteY10-118" fmla="*/ 3305116 h 3466902"/>
                <a:gd name="connsiteX11-119" fmla="*/ 3155148 w 3316934"/>
                <a:gd name="connsiteY11-120" fmla="*/ 3466902 h 3466902"/>
                <a:gd name="connsiteX0-121" fmla="*/ 3155146 w 3316934"/>
                <a:gd name="connsiteY0-122" fmla="*/ 3436568 h 3466902"/>
                <a:gd name="connsiteX1-123" fmla="*/ 161786 w 3316934"/>
                <a:gd name="connsiteY1-124" fmla="*/ 3466902 h 3466902"/>
                <a:gd name="connsiteX2-125" fmla="*/ 0 w 3316934"/>
                <a:gd name="connsiteY2-126" fmla="*/ 3305116 h 3466902"/>
                <a:gd name="connsiteX3-127" fmla="*/ 0 w 3316934"/>
                <a:gd name="connsiteY3-128" fmla="*/ 326257 h 3466902"/>
                <a:gd name="connsiteX4-129" fmla="*/ 161786 w 3316934"/>
                <a:gd name="connsiteY4-130" fmla="*/ 164471 h 3466902"/>
                <a:gd name="connsiteX5-131" fmla="*/ 1393822 w 3316934"/>
                <a:gd name="connsiteY5-132" fmla="*/ 156893 h 3466902"/>
                <a:gd name="connsiteX6-133" fmla="*/ 1708727 w 3316934"/>
                <a:gd name="connsiteY6-134" fmla="*/ -1 h 3466902"/>
                <a:gd name="connsiteX7-135" fmla="*/ 2062473 w 3316934"/>
                <a:gd name="connsiteY7-136" fmla="*/ 164478 h 3466902"/>
                <a:gd name="connsiteX8-137" fmla="*/ 3155148 w 3316934"/>
                <a:gd name="connsiteY8-138" fmla="*/ 164471 h 3466902"/>
                <a:gd name="connsiteX9-139" fmla="*/ 3316931 w 3316934"/>
                <a:gd name="connsiteY9-140" fmla="*/ 280759 h 3466902"/>
                <a:gd name="connsiteX10-141" fmla="*/ 3316934 w 3316934"/>
                <a:gd name="connsiteY10-142" fmla="*/ 3305116 h 3466902"/>
                <a:gd name="connsiteX11-143" fmla="*/ 3155146 w 3316934"/>
                <a:gd name="connsiteY11-144" fmla="*/ 3436568 h 3466902"/>
                <a:gd name="connsiteX0-145" fmla="*/ 3155146 w 3316934"/>
                <a:gd name="connsiteY0-146" fmla="*/ 3436568 h 3436567"/>
                <a:gd name="connsiteX1-147" fmla="*/ 142368 w 3316934"/>
                <a:gd name="connsiteY1-148" fmla="*/ 3421401 h 3436567"/>
                <a:gd name="connsiteX2-149" fmla="*/ 0 w 3316934"/>
                <a:gd name="connsiteY2-150" fmla="*/ 3305116 h 3436567"/>
                <a:gd name="connsiteX3-151" fmla="*/ 0 w 3316934"/>
                <a:gd name="connsiteY3-152" fmla="*/ 326257 h 3436567"/>
                <a:gd name="connsiteX4-153" fmla="*/ 161786 w 3316934"/>
                <a:gd name="connsiteY4-154" fmla="*/ 164471 h 3436567"/>
                <a:gd name="connsiteX5-155" fmla="*/ 1393822 w 3316934"/>
                <a:gd name="connsiteY5-156" fmla="*/ 156893 h 3436567"/>
                <a:gd name="connsiteX6-157" fmla="*/ 1708727 w 3316934"/>
                <a:gd name="connsiteY6-158" fmla="*/ -1 h 3436567"/>
                <a:gd name="connsiteX7-159" fmla="*/ 2062473 w 3316934"/>
                <a:gd name="connsiteY7-160" fmla="*/ 164478 h 3436567"/>
                <a:gd name="connsiteX8-161" fmla="*/ 3155148 w 3316934"/>
                <a:gd name="connsiteY8-162" fmla="*/ 164471 h 3436567"/>
                <a:gd name="connsiteX9-163" fmla="*/ 3316931 w 3316934"/>
                <a:gd name="connsiteY9-164" fmla="*/ 280759 h 3436567"/>
                <a:gd name="connsiteX10-165" fmla="*/ 3316934 w 3316934"/>
                <a:gd name="connsiteY10-166" fmla="*/ 3305116 h 3436567"/>
                <a:gd name="connsiteX11-167" fmla="*/ 3155146 w 3316934"/>
                <a:gd name="connsiteY11-168" fmla="*/ 3436568 h 343656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Lst>
              <a:rect l="l" t="t" r="r" b="b"/>
              <a:pathLst>
                <a:path w="3316934" h="3436567">
                  <a:moveTo>
                    <a:pt x="3155146" y="3436568"/>
                  </a:moveTo>
                  <a:lnTo>
                    <a:pt x="142368" y="3421401"/>
                  </a:lnTo>
                  <a:cubicBezTo>
                    <a:pt x="53016" y="3421401"/>
                    <a:pt x="0" y="3394468"/>
                    <a:pt x="0" y="3305116"/>
                  </a:cubicBezTo>
                  <a:lnTo>
                    <a:pt x="0" y="326257"/>
                  </a:lnTo>
                  <a:cubicBezTo>
                    <a:pt x="0" y="236905"/>
                    <a:pt x="72434" y="164471"/>
                    <a:pt x="161786" y="164471"/>
                  </a:cubicBezTo>
                  <a:lnTo>
                    <a:pt x="1393822" y="156893"/>
                  </a:lnTo>
                  <a:lnTo>
                    <a:pt x="1708727" y="-1"/>
                  </a:lnTo>
                  <a:lnTo>
                    <a:pt x="2062473" y="164478"/>
                  </a:lnTo>
                  <a:lnTo>
                    <a:pt x="3155148" y="164471"/>
                  </a:lnTo>
                  <a:cubicBezTo>
                    <a:pt x="3244500" y="164471"/>
                    <a:pt x="3316931" y="191407"/>
                    <a:pt x="3316931" y="280759"/>
                  </a:cubicBezTo>
                  <a:lnTo>
                    <a:pt x="3316934" y="3305116"/>
                  </a:lnTo>
                  <a:cubicBezTo>
                    <a:pt x="3316934" y="3394468"/>
                    <a:pt x="3244498" y="3436568"/>
                    <a:pt x="3155146" y="3436568"/>
                  </a:cubicBezTo>
                  <a:close/>
                </a:path>
              </a:pathLst>
            </a:custGeom>
            <a:no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85" name="文本框 84"/>
            <p:cNvSpPr txBox="1"/>
            <p:nvPr/>
          </p:nvSpPr>
          <p:spPr>
            <a:xfrm>
              <a:off x="14011" y="4166"/>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altLang="en-US" sz="1200" kern="1200" dirty="0">
                  <a:solidFill>
                    <a:srgbClr val="0042FF"/>
                  </a:solidFill>
                  <a:latin typeface="微软雅黑"/>
                  <a:ea typeface="微软雅黑"/>
                  <a:cs typeface="微软雅黑"/>
                </a:rPr>
                <a:t>⑨</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监控跟踪</a:t>
              </a:r>
              <a:endParaRPr lang="zh-CN" altLang="en-US" sz="1200" kern="1200" dirty="0">
                <a:solidFill>
                  <a:srgbClr val="0042FF"/>
                </a:solidFill>
                <a:latin typeface="微软雅黑"/>
                <a:ea typeface="微软雅黑"/>
                <a:cs typeface="微软雅黑"/>
              </a:endParaRPr>
            </a:p>
          </p:txBody>
        </p:sp>
      </p:grpSp>
      <p:grpSp>
        <p:nvGrpSpPr>
          <p:cNvPr id="147" name="组合 146"/>
          <p:cNvGrpSpPr/>
          <p:nvPr/>
        </p:nvGrpSpPr>
        <p:grpSpPr>
          <a:xfrm>
            <a:off x="8023225" y="3096895"/>
            <a:ext cx="1753870" cy="1442720"/>
            <a:chOff x="12647" y="4749"/>
            <a:chExt cx="2762" cy="2272"/>
          </a:xfrm>
        </p:grpSpPr>
        <p:sp>
          <p:nvSpPr>
            <p:cNvPr id="89" name="椭圆 88"/>
            <p:cNvSpPr/>
            <p:nvPr/>
          </p:nvSpPr>
          <p:spPr>
            <a:xfrm>
              <a:off x="13924" y="5766"/>
              <a:ext cx="209" cy="210"/>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nvGrpSpPr>
            <p:cNvPr id="90" name="组合 89"/>
            <p:cNvGrpSpPr/>
            <p:nvPr/>
          </p:nvGrpSpPr>
          <p:grpSpPr>
            <a:xfrm rot="0">
              <a:off x="13164" y="4749"/>
              <a:ext cx="1729" cy="736"/>
              <a:chOff x="1797" y="8377"/>
              <a:chExt cx="1729" cy="736"/>
            </a:xfrm>
          </p:grpSpPr>
          <p:sp>
            <p:nvSpPr>
              <p:cNvPr id="91"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0042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92" name="文本框 91"/>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sz="1200" kern="1200" dirty="0">
                    <a:solidFill>
                      <a:srgbClr val="0042FF"/>
                    </a:solidFill>
                    <a:latin typeface="微软雅黑"/>
                    <a:ea typeface="微软雅黑"/>
                    <a:cs typeface="微软雅黑"/>
                  </a:rPr>
                  <a:t>⑥</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风险应对</a:t>
                </a:r>
                <a:endParaRPr lang="zh-CN" altLang="en-US" sz="1200" kern="1200" dirty="0">
                  <a:solidFill>
                    <a:srgbClr val="0042FF"/>
                  </a:solidFill>
                  <a:latin typeface="微软雅黑"/>
                  <a:ea typeface="微软雅黑"/>
                  <a:cs typeface="微软雅黑"/>
                </a:endParaRPr>
              </a:p>
            </p:txBody>
          </p:sp>
        </p:grpSp>
        <p:sp>
          <p:nvSpPr>
            <p:cNvPr id="94" name="紫荆的职场Point36"/>
            <p:cNvSpPr txBox="1"/>
            <p:nvPr/>
          </p:nvSpPr>
          <p:spPr>
            <a:xfrm>
              <a:off x="12647" y="6239"/>
              <a:ext cx="2762" cy="782"/>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识别潜在风险，评估影响等级，制定预案。</a:t>
              </a:r>
              <a:endParaRPr lang="zh-CN" altLang="en-US" sz="1200" dirty="0">
                <a:solidFill>
                  <a:srgbClr val="383838"/>
                </a:solidFill>
                <a:latin typeface="微软雅黑"/>
                <a:ea typeface="微软雅黑"/>
                <a:cs typeface="微软雅黑"/>
              </a:endParaRPr>
            </a:p>
          </p:txBody>
        </p:sp>
      </p:grpSp>
      <p:sp>
        <p:nvSpPr>
          <p:cNvPr id="98" name="紫荆的职场Point36"/>
          <p:cNvSpPr txBox="1"/>
          <p:nvPr/>
        </p:nvSpPr>
        <p:spPr>
          <a:xfrm>
            <a:off x="2372995" y="5022215"/>
            <a:ext cx="1490345" cy="699135"/>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跟踪进度与成本，对比计划基线，发现偏差。</a:t>
            </a:r>
            <a:endParaRPr lang="zh-CN" altLang="en-US" sz="1200" dirty="0">
              <a:solidFill>
                <a:srgbClr val="383838"/>
              </a:solidFill>
              <a:latin typeface="微软雅黑"/>
              <a:ea typeface="微软雅黑"/>
              <a:cs typeface="微软雅黑"/>
              <a:sym typeface="微软雅黑"/>
            </a:endParaRPr>
          </a:p>
        </p:txBody>
      </p:sp>
      <p:grpSp>
        <p:nvGrpSpPr>
          <p:cNvPr id="136" name="组合 135"/>
          <p:cNvGrpSpPr/>
          <p:nvPr/>
        </p:nvGrpSpPr>
        <p:grpSpPr>
          <a:xfrm>
            <a:off x="5052060" y="5022215"/>
            <a:ext cx="1549400" cy="1631315"/>
            <a:chOff x="10453" y="7781"/>
            <a:chExt cx="2440" cy="2569"/>
          </a:xfrm>
        </p:grpSpPr>
        <p:sp>
          <p:nvSpPr>
            <p:cNvPr id="104" name="椭圆 103"/>
            <p:cNvSpPr/>
            <p:nvPr/>
          </p:nvSpPr>
          <p:spPr>
            <a:xfrm>
              <a:off x="11569" y="8785"/>
              <a:ext cx="209" cy="210"/>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zh-CN" altLang="en-US" dirty="0">
                <a:latin typeface="微软雅黑"/>
                <a:ea typeface="微软雅黑"/>
                <a:cs typeface="微软雅黑"/>
                <a:sym typeface="微软雅黑"/>
              </a:endParaRPr>
            </a:p>
          </p:txBody>
        </p:sp>
        <p:grpSp>
          <p:nvGrpSpPr>
            <p:cNvPr id="105" name="组合 104"/>
            <p:cNvGrpSpPr/>
            <p:nvPr/>
          </p:nvGrpSpPr>
          <p:grpSpPr>
            <a:xfrm rot="0">
              <a:off x="10809" y="7781"/>
              <a:ext cx="1729" cy="736"/>
              <a:chOff x="1797" y="8377"/>
              <a:chExt cx="1729" cy="736"/>
            </a:xfrm>
          </p:grpSpPr>
          <p:sp>
            <p:nvSpPr>
              <p:cNvPr id="106"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07" name="文本框 106"/>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sz="1200" kern="1200" dirty="0">
                    <a:solidFill>
                      <a:srgbClr val="0042FF"/>
                    </a:solidFill>
                    <a:latin typeface="微软雅黑"/>
                    <a:ea typeface="微软雅黑"/>
                    <a:cs typeface="微软雅黑"/>
                  </a:rPr>
                  <a:t>⑩</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沟通协调</a:t>
                </a:r>
                <a:endParaRPr lang="zh-CN" altLang="en-US" sz="1200" kern="1200" dirty="0">
                  <a:solidFill>
                    <a:srgbClr val="0042FF"/>
                  </a:solidFill>
                  <a:latin typeface="微软雅黑"/>
                  <a:ea typeface="微软雅黑"/>
                  <a:cs typeface="微软雅黑"/>
                </a:endParaRPr>
              </a:p>
            </p:txBody>
          </p:sp>
        </p:grpSp>
        <p:sp>
          <p:nvSpPr>
            <p:cNvPr id="108" name="紫荆的职场Point36"/>
            <p:cNvSpPr txBox="1"/>
            <p:nvPr/>
          </p:nvSpPr>
          <p:spPr>
            <a:xfrm>
              <a:off x="10453" y="9250"/>
              <a:ext cx="2441" cy="1101"/>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同步项目状态，协调解决问题，管理干系人期望。</a:t>
              </a:r>
              <a:endParaRPr lang="zh-CN" altLang="en-US" sz="1200" dirty="0">
                <a:solidFill>
                  <a:srgbClr val="383838"/>
                </a:solidFill>
                <a:latin typeface="微软雅黑"/>
                <a:ea typeface="微软雅黑"/>
                <a:cs typeface="微软雅黑"/>
              </a:endParaRPr>
            </a:p>
          </p:txBody>
        </p:sp>
      </p:grpSp>
      <p:grpSp>
        <p:nvGrpSpPr>
          <p:cNvPr id="137" name="组合 136"/>
          <p:cNvGrpSpPr/>
          <p:nvPr/>
        </p:nvGrpSpPr>
        <p:grpSpPr>
          <a:xfrm>
            <a:off x="7018655" y="5022215"/>
            <a:ext cx="1398270" cy="1631315"/>
            <a:chOff x="13194" y="7781"/>
            <a:chExt cx="2202" cy="2569"/>
          </a:xfrm>
        </p:grpSpPr>
        <p:sp>
          <p:nvSpPr>
            <p:cNvPr id="109" name="椭圆 108"/>
            <p:cNvSpPr/>
            <p:nvPr/>
          </p:nvSpPr>
          <p:spPr>
            <a:xfrm>
              <a:off x="14038" y="8785"/>
              <a:ext cx="209" cy="210"/>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110" name="组合 109"/>
            <p:cNvGrpSpPr/>
            <p:nvPr/>
          </p:nvGrpSpPr>
          <p:grpSpPr>
            <a:xfrm rot="0">
              <a:off x="13278" y="7781"/>
              <a:ext cx="1729" cy="736"/>
              <a:chOff x="1797" y="8377"/>
              <a:chExt cx="1729" cy="736"/>
            </a:xfrm>
          </p:grpSpPr>
          <p:sp>
            <p:nvSpPr>
              <p:cNvPr id="111"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12" name="文本框 111"/>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en-US" altLang="zh-CN" sz="1200">
                    <a:solidFill>
                      <a:srgbClr val="0042FF"/>
                    </a:solidFill>
                    <a:latin typeface="微软雅黑"/>
                    <a:ea typeface="微软雅黑"/>
                    <a:cs typeface="微软雅黑"/>
                    <a:sym typeface="微软雅黑"/>
                  </a:rPr>
                  <a:t>⑪ </a:t>
                </a:r>
                <a:r>
                  <a:rPr lang="zh-CN" altLang="en-US" sz="1200">
                    <a:solidFill>
                      <a:srgbClr val="0042FF"/>
                    </a:solidFill>
                    <a:latin typeface="微软雅黑"/>
                    <a:ea typeface="微软雅黑"/>
                    <a:cs typeface="微软雅黑"/>
                    <a:sym typeface="微软雅黑"/>
                  </a:rPr>
                  <a:t>变更控制</a:t>
                </a:r>
                <a:r>
                  <a:rPr lang="en-US" altLang="zh-CN" sz="1200">
                    <a:solidFill>
                      <a:srgbClr val="0042FF"/>
                    </a:solidFill>
                    <a:latin typeface="微软雅黑"/>
                    <a:ea typeface="微软雅黑"/>
                    <a:cs typeface="微软雅黑"/>
                    <a:sym typeface="微软雅黑"/>
                  </a:rPr>
                  <a:t> </a:t>
                </a:r>
                <a:endParaRPr lang="en-US" altLang="zh-CN" sz="1200" kern="1200" dirty="0">
                  <a:solidFill>
                    <a:srgbClr val="0042FF"/>
                  </a:solidFill>
                  <a:latin typeface="微软雅黑"/>
                  <a:ea typeface="微软雅黑"/>
                  <a:cs typeface="微软雅黑"/>
                  <a:sym typeface="微软雅黑"/>
                </a:endParaRPr>
              </a:p>
            </p:txBody>
          </p:sp>
        </p:grpSp>
        <p:sp>
          <p:nvSpPr>
            <p:cNvPr id="113" name="紫荆的职场Point36"/>
            <p:cNvSpPr txBox="1"/>
            <p:nvPr/>
          </p:nvSpPr>
          <p:spPr>
            <a:xfrm>
              <a:off x="13194" y="9250"/>
              <a:ext cx="2202" cy="1101"/>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估变更影响，按流程审批，调整后续计划。</a:t>
              </a:r>
              <a:endParaRPr lang="zh-CN" altLang="en-US" sz="1200" dirty="0">
                <a:solidFill>
                  <a:srgbClr val="383838"/>
                </a:solidFill>
                <a:latin typeface="微软雅黑"/>
                <a:ea typeface="微软雅黑"/>
                <a:cs typeface="微软雅黑"/>
              </a:endParaRPr>
            </a:p>
          </p:txBody>
        </p:sp>
      </p:grpSp>
      <p:grpSp>
        <p:nvGrpSpPr>
          <p:cNvPr id="138" name="组合 137"/>
          <p:cNvGrpSpPr/>
          <p:nvPr/>
        </p:nvGrpSpPr>
        <p:grpSpPr>
          <a:xfrm>
            <a:off x="8834120" y="5022215"/>
            <a:ext cx="1255395" cy="1631315"/>
            <a:chOff x="15736" y="7781"/>
            <a:chExt cx="1977" cy="2569"/>
          </a:xfrm>
        </p:grpSpPr>
        <p:sp>
          <p:nvSpPr>
            <p:cNvPr id="114" name="椭圆 113"/>
            <p:cNvSpPr/>
            <p:nvPr/>
          </p:nvSpPr>
          <p:spPr>
            <a:xfrm>
              <a:off x="16496" y="8770"/>
              <a:ext cx="209" cy="210"/>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115" name="组合 114"/>
            <p:cNvGrpSpPr/>
            <p:nvPr/>
          </p:nvGrpSpPr>
          <p:grpSpPr>
            <a:xfrm rot="0">
              <a:off x="15736" y="7781"/>
              <a:ext cx="1729" cy="736"/>
              <a:chOff x="1797" y="8377"/>
              <a:chExt cx="1729" cy="736"/>
            </a:xfrm>
          </p:grpSpPr>
          <p:sp>
            <p:nvSpPr>
              <p:cNvPr id="116"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17" name="文本框 116"/>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en-US" altLang="zh-CN" sz="1200">
                    <a:solidFill>
                      <a:srgbClr val="0042FF"/>
                    </a:solidFill>
                    <a:latin typeface="微软雅黑"/>
                    <a:ea typeface="微软雅黑"/>
                    <a:cs typeface="微软雅黑"/>
                    <a:sym typeface="微软雅黑"/>
                  </a:rPr>
                  <a:t>⑫ </a:t>
                </a:r>
                <a:r>
                  <a:rPr lang="zh-CN" altLang="en-US" sz="1200">
                    <a:solidFill>
                      <a:srgbClr val="0042FF"/>
                    </a:solidFill>
                    <a:latin typeface="微软雅黑"/>
                    <a:ea typeface="微软雅黑"/>
                    <a:cs typeface="微软雅黑"/>
                    <a:sym typeface="微软雅黑"/>
                  </a:rPr>
                  <a:t>验收总结</a:t>
                </a:r>
                <a:endParaRPr lang="zh-CN" altLang="en-US" sz="1200" kern="1200" dirty="0">
                  <a:solidFill>
                    <a:srgbClr val="0042FF"/>
                  </a:solidFill>
                  <a:latin typeface="微软雅黑"/>
                  <a:ea typeface="微软雅黑"/>
                  <a:cs typeface="微软雅黑"/>
                  <a:sym typeface="微软雅黑"/>
                </a:endParaRPr>
              </a:p>
            </p:txBody>
          </p:sp>
        </p:grpSp>
        <p:sp>
          <p:nvSpPr>
            <p:cNvPr id="119" name="紫荆的职场Point36"/>
            <p:cNvSpPr txBox="1"/>
            <p:nvPr/>
          </p:nvSpPr>
          <p:spPr>
            <a:xfrm>
              <a:off x="15737" y="9250"/>
              <a:ext cx="1977" cy="1101"/>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rPr>
                <a:t>交付成果验收，总结项目经验，归档项目文件。</a:t>
              </a:r>
              <a:endParaRPr lang="zh-CN" altLang="en-US" sz="1200" dirty="0">
                <a:solidFill>
                  <a:srgbClr val="383838"/>
                </a:solidFill>
                <a:latin typeface="微软雅黑"/>
                <a:ea typeface="微软雅黑"/>
                <a:cs typeface="微软雅黑"/>
              </a:endParaRPr>
            </a:p>
          </p:txBody>
        </p:sp>
      </p:grpSp>
      <p:grpSp>
        <p:nvGrpSpPr>
          <p:cNvPr id="125" name="紫荆的职场Point6"/>
          <p:cNvGrpSpPr/>
          <p:nvPr/>
        </p:nvGrpSpPr>
        <p:grpSpPr>
          <a:xfrm>
            <a:off x="355600" y="1537335"/>
            <a:ext cx="750570" cy="748665"/>
            <a:chOff x="2968911" y="1833417"/>
            <a:chExt cx="431528" cy="430332"/>
          </a:xfrm>
        </p:grpSpPr>
        <p:sp>
          <p:nvSpPr>
            <p:cNvPr id="126" name="紫荆的职场Point6-1"/>
            <p:cNvSpPr>
              <a:spLocks noChangeAspect="1"/>
            </p:cNvSpPr>
            <p:nvPr/>
          </p:nvSpPr>
          <p:spPr>
            <a:xfrm>
              <a:off x="2969033" y="1833417"/>
              <a:ext cx="430332" cy="430332"/>
            </a:xfrm>
            <a:prstGeom prst="ellipse">
              <a:avLst/>
            </a:prstGeom>
            <a:gradFill flip="none" rotWithShape="1">
              <a:gsLst>
                <a:gs pos="70000">
                  <a:srgbClr val="3368FF"/>
                </a:gs>
                <a:gs pos="99000">
                  <a:srgbClr val="E6E6E6"/>
                </a:gs>
                <a:gs pos="7000">
                  <a:srgbClr val="0042FF"/>
                </a:gs>
              </a:gsLst>
              <a:path path="circle">
                <a:fillToRect r="100000" b="100000"/>
              </a:path>
              <a:tileRect l="-100000" t="-100000"/>
            </a:gradFill>
            <a:ln w="12700" cap="flat" cmpd="sng" algn="ctr">
              <a:solidFill>
                <a:srgbClr val="FFFFFF"/>
              </a:solidFill>
              <a:prstDash val="solid"/>
              <a:miter lim="800000"/>
            </a:ln>
            <a:effectLst>
              <a:outerShdw blurRad="152400" dist="76200" dir="5400000" algn="t" rotWithShape="0">
                <a:srgbClr val="0042FF">
                  <a:alpha val="23000"/>
                </a:srgbClr>
              </a:outerShdw>
            </a:effectLst>
          </p:spPr>
          <p:txBody>
            <a:bodyPr wrap="square" rtlCol="0" anchor="ctr">
              <a:noAutofit/>
            </a:bodyPr>
            <a:lstStyle/>
            <a:p>
              <a:pPr algn="ctr">
                <a:defRPr>
                  <a:solidFill>
                    <a:srgbClr val="383838"/>
                  </a:solidFill>
                  <a:latin typeface="微软雅黑"/>
                  <a:ea typeface="微软雅黑"/>
                  <a:cs typeface="微软雅黑"/>
                </a:defRPr>
              </a:pPr>
              <a:endParaRPr lang="zh-CN" altLang="en-US" sz="1715" kern="0" dirty="0">
                <a:solidFill>
                  <a:srgbClr val="383838"/>
                </a:solidFill>
                <a:latin typeface="微软雅黑"/>
                <a:ea typeface="微软雅黑"/>
                <a:cs typeface="微软雅黑"/>
              </a:endParaRPr>
            </a:p>
          </p:txBody>
        </p:sp>
        <p:sp>
          <p:nvSpPr>
            <p:cNvPr id="127" name="紫荆的职场Point6-2"/>
            <p:cNvSpPr txBox="1"/>
            <p:nvPr/>
          </p:nvSpPr>
          <p:spPr>
            <a:xfrm>
              <a:off x="2968911" y="1912565"/>
              <a:ext cx="431528" cy="264623"/>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项目</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启动</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32" name="组合 131"/>
          <p:cNvGrpSpPr/>
          <p:nvPr/>
        </p:nvGrpSpPr>
        <p:grpSpPr>
          <a:xfrm>
            <a:off x="10396220" y="2572385"/>
            <a:ext cx="1172210" cy="441325"/>
            <a:chOff x="16452" y="4021"/>
            <a:chExt cx="1846" cy="695"/>
          </a:xfrm>
        </p:grpSpPr>
        <p:sp>
          <p:nvSpPr>
            <p:cNvPr id="133" name="任意多边形: 形状 43"/>
            <p:cNvSpPr/>
            <p:nvPr/>
          </p:nvSpPr>
          <p:spPr>
            <a:xfrm rot="16200000">
              <a:off x="17027" y="3445"/>
              <a:ext cx="695" cy="184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 name="connsiteX0-1" fmla="*/ 3155148 w 3316934"/>
                <a:gd name="connsiteY0-2" fmla="*/ 3497246 h 3497246"/>
                <a:gd name="connsiteX1-3" fmla="*/ 161786 w 3316934"/>
                <a:gd name="connsiteY1-4" fmla="*/ 3497246 h 3497246"/>
                <a:gd name="connsiteX2-5" fmla="*/ 0 w 3316934"/>
                <a:gd name="connsiteY2-6" fmla="*/ 3335460 h 3497246"/>
                <a:gd name="connsiteX3-7" fmla="*/ 0 w 3316934"/>
                <a:gd name="connsiteY3-8" fmla="*/ 356601 h 3497246"/>
                <a:gd name="connsiteX4-9" fmla="*/ 161786 w 3316934"/>
                <a:gd name="connsiteY4-10" fmla="*/ 194815 h 3497246"/>
                <a:gd name="connsiteX5-11" fmla="*/ 1568591 w 3316934"/>
                <a:gd name="connsiteY5-12" fmla="*/ 194815 h 3497246"/>
                <a:gd name="connsiteX6-13" fmla="*/ 1728150 w 3316934"/>
                <a:gd name="connsiteY6-14" fmla="*/ 0 h 3497246"/>
                <a:gd name="connsiteX7-15" fmla="*/ 1926547 w 3316934"/>
                <a:gd name="connsiteY7-16" fmla="*/ 194815 h 3497246"/>
                <a:gd name="connsiteX8-17" fmla="*/ 3155148 w 3316934"/>
                <a:gd name="connsiteY8-18" fmla="*/ 194815 h 3497246"/>
                <a:gd name="connsiteX9-19" fmla="*/ 3316934 w 3316934"/>
                <a:gd name="connsiteY9-20" fmla="*/ 356601 h 3497246"/>
                <a:gd name="connsiteX10-21" fmla="*/ 3316934 w 3316934"/>
                <a:gd name="connsiteY10-22" fmla="*/ 3335460 h 3497246"/>
                <a:gd name="connsiteX11-23" fmla="*/ 3155148 w 3316934"/>
                <a:gd name="connsiteY11-24" fmla="*/ 3497246 h 3497246"/>
                <a:gd name="connsiteX0-25" fmla="*/ 3155148 w 3316934"/>
                <a:gd name="connsiteY0-26" fmla="*/ 3497246 h 3497246"/>
                <a:gd name="connsiteX1-27" fmla="*/ 161786 w 3316934"/>
                <a:gd name="connsiteY1-28" fmla="*/ 3497246 h 3497246"/>
                <a:gd name="connsiteX2-29" fmla="*/ 0 w 3316934"/>
                <a:gd name="connsiteY2-30" fmla="*/ 3335460 h 3497246"/>
                <a:gd name="connsiteX3-31" fmla="*/ 0 w 3316934"/>
                <a:gd name="connsiteY3-32" fmla="*/ 356601 h 3497246"/>
                <a:gd name="connsiteX4-33" fmla="*/ 161786 w 3316934"/>
                <a:gd name="connsiteY4-34" fmla="*/ 194815 h 3497246"/>
                <a:gd name="connsiteX5-35" fmla="*/ 1568591 w 3316934"/>
                <a:gd name="connsiteY5-36" fmla="*/ 194815 h 3497246"/>
                <a:gd name="connsiteX6-37" fmla="*/ 1728150 w 3316934"/>
                <a:gd name="connsiteY6-38" fmla="*/ 0 h 3497246"/>
                <a:gd name="connsiteX7-39" fmla="*/ 1926547 w 3316934"/>
                <a:gd name="connsiteY7-40" fmla="*/ 194815 h 3497246"/>
                <a:gd name="connsiteX8-41" fmla="*/ 3155148 w 3316934"/>
                <a:gd name="connsiteY8-42" fmla="*/ 194815 h 3497246"/>
                <a:gd name="connsiteX9-43" fmla="*/ 3316931 w 3316934"/>
                <a:gd name="connsiteY9-44" fmla="*/ 311103 h 3497246"/>
                <a:gd name="connsiteX10-45" fmla="*/ 3316934 w 3316934"/>
                <a:gd name="connsiteY10-46" fmla="*/ 3335460 h 3497246"/>
                <a:gd name="connsiteX11-47" fmla="*/ 3155148 w 3316934"/>
                <a:gd name="connsiteY11-48" fmla="*/ 3497246 h 3497246"/>
                <a:gd name="connsiteX0-49" fmla="*/ 3155148 w 3316934"/>
                <a:gd name="connsiteY0-50" fmla="*/ 3497246 h 3497246"/>
                <a:gd name="connsiteX1-51" fmla="*/ 161786 w 3316934"/>
                <a:gd name="connsiteY1-52" fmla="*/ 3497246 h 3497246"/>
                <a:gd name="connsiteX2-53" fmla="*/ 0 w 3316934"/>
                <a:gd name="connsiteY2-54" fmla="*/ 3335460 h 3497246"/>
                <a:gd name="connsiteX3-55" fmla="*/ 0 w 3316934"/>
                <a:gd name="connsiteY3-56" fmla="*/ 356601 h 3497246"/>
                <a:gd name="connsiteX4-57" fmla="*/ 161786 w 3316934"/>
                <a:gd name="connsiteY4-58" fmla="*/ 194815 h 3497246"/>
                <a:gd name="connsiteX5-59" fmla="*/ 1568591 w 3316934"/>
                <a:gd name="connsiteY5-60" fmla="*/ 194815 h 3497246"/>
                <a:gd name="connsiteX6-61" fmla="*/ 1728150 w 3316934"/>
                <a:gd name="connsiteY6-62" fmla="*/ 0 h 3497246"/>
                <a:gd name="connsiteX7-63" fmla="*/ 2062473 w 3316934"/>
                <a:gd name="connsiteY7-64" fmla="*/ 194822 h 3497246"/>
                <a:gd name="connsiteX8-65" fmla="*/ 3155148 w 3316934"/>
                <a:gd name="connsiteY8-66" fmla="*/ 194815 h 3497246"/>
                <a:gd name="connsiteX9-67" fmla="*/ 3316931 w 3316934"/>
                <a:gd name="connsiteY9-68" fmla="*/ 311103 h 3497246"/>
                <a:gd name="connsiteX10-69" fmla="*/ 3316934 w 3316934"/>
                <a:gd name="connsiteY10-70" fmla="*/ 3335460 h 3497246"/>
                <a:gd name="connsiteX11-71" fmla="*/ 3155148 w 3316934"/>
                <a:gd name="connsiteY11-72" fmla="*/ 3497246 h 3497246"/>
                <a:gd name="connsiteX0-73" fmla="*/ 3155148 w 3316934"/>
                <a:gd name="connsiteY0-74" fmla="*/ 3497246 h 3497246"/>
                <a:gd name="connsiteX1-75" fmla="*/ 161786 w 3316934"/>
                <a:gd name="connsiteY1-76" fmla="*/ 3497246 h 3497246"/>
                <a:gd name="connsiteX2-77" fmla="*/ 0 w 3316934"/>
                <a:gd name="connsiteY2-78" fmla="*/ 3335460 h 3497246"/>
                <a:gd name="connsiteX3-79" fmla="*/ 0 w 3316934"/>
                <a:gd name="connsiteY3-80" fmla="*/ 356601 h 3497246"/>
                <a:gd name="connsiteX4-81" fmla="*/ 161786 w 3316934"/>
                <a:gd name="connsiteY4-82" fmla="*/ 194815 h 3497246"/>
                <a:gd name="connsiteX5-83" fmla="*/ 1393822 w 3316934"/>
                <a:gd name="connsiteY5-84" fmla="*/ 187237 h 3497246"/>
                <a:gd name="connsiteX6-85" fmla="*/ 1728150 w 3316934"/>
                <a:gd name="connsiteY6-86" fmla="*/ 0 h 3497246"/>
                <a:gd name="connsiteX7-87" fmla="*/ 2062473 w 3316934"/>
                <a:gd name="connsiteY7-88" fmla="*/ 194822 h 3497246"/>
                <a:gd name="connsiteX8-89" fmla="*/ 3155148 w 3316934"/>
                <a:gd name="connsiteY8-90" fmla="*/ 194815 h 3497246"/>
                <a:gd name="connsiteX9-91" fmla="*/ 3316931 w 3316934"/>
                <a:gd name="connsiteY9-92" fmla="*/ 311103 h 3497246"/>
                <a:gd name="connsiteX10-93" fmla="*/ 3316934 w 3316934"/>
                <a:gd name="connsiteY10-94" fmla="*/ 3335460 h 3497246"/>
                <a:gd name="connsiteX11-95" fmla="*/ 3155148 w 3316934"/>
                <a:gd name="connsiteY11-96" fmla="*/ 3497246 h 3497246"/>
                <a:gd name="connsiteX0-97" fmla="*/ 3155148 w 3316934"/>
                <a:gd name="connsiteY0-98" fmla="*/ 3466902 h 3466902"/>
                <a:gd name="connsiteX1-99" fmla="*/ 161786 w 3316934"/>
                <a:gd name="connsiteY1-100" fmla="*/ 3466902 h 3466902"/>
                <a:gd name="connsiteX2-101" fmla="*/ 0 w 3316934"/>
                <a:gd name="connsiteY2-102" fmla="*/ 3305116 h 3466902"/>
                <a:gd name="connsiteX3-103" fmla="*/ 0 w 3316934"/>
                <a:gd name="connsiteY3-104" fmla="*/ 326257 h 3466902"/>
                <a:gd name="connsiteX4-105" fmla="*/ 161786 w 3316934"/>
                <a:gd name="connsiteY4-106" fmla="*/ 164471 h 3466902"/>
                <a:gd name="connsiteX5-107" fmla="*/ 1393822 w 3316934"/>
                <a:gd name="connsiteY5-108" fmla="*/ 156893 h 3466902"/>
                <a:gd name="connsiteX6-109" fmla="*/ 1708727 w 3316934"/>
                <a:gd name="connsiteY6-110" fmla="*/ -1 h 3466902"/>
                <a:gd name="connsiteX7-111" fmla="*/ 2062473 w 3316934"/>
                <a:gd name="connsiteY7-112" fmla="*/ 164478 h 3466902"/>
                <a:gd name="connsiteX8-113" fmla="*/ 3155148 w 3316934"/>
                <a:gd name="connsiteY8-114" fmla="*/ 164471 h 3466902"/>
                <a:gd name="connsiteX9-115" fmla="*/ 3316931 w 3316934"/>
                <a:gd name="connsiteY9-116" fmla="*/ 280759 h 3466902"/>
                <a:gd name="connsiteX10-117" fmla="*/ 3316934 w 3316934"/>
                <a:gd name="connsiteY10-118" fmla="*/ 3305116 h 3466902"/>
                <a:gd name="connsiteX11-119" fmla="*/ 3155148 w 3316934"/>
                <a:gd name="connsiteY11-120" fmla="*/ 3466902 h 3466902"/>
                <a:gd name="connsiteX0-121" fmla="*/ 3155146 w 3316934"/>
                <a:gd name="connsiteY0-122" fmla="*/ 3436568 h 3466902"/>
                <a:gd name="connsiteX1-123" fmla="*/ 161786 w 3316934"/>
                <a:gd name="connsiteY1-124" fmla="*/ 3466902 h 3466902"/>
                <a:gd name="connsiteX2-125" fmla="*/ 0 w 3316934"/>
                <a:gd name="connsiteY2-126" fmla="*/ 3305116 h 3466902"/>
                <a:gd name="connsiteX3-127" fmla="*/ 0 w 3316934"/>
                <a:gd name="connsiteY3-128" fmla="*/ 326257 h 3466902"/>
                <a:gd name="connsiteX4-129" fmla="*/ 161786 w 3316934"/>
                <a:gd name="connsiteY4-130" fmla="*/ 164471 h 3466902"/>
                <a:gd name="connsiteX5-131" fmla="*/ 1393822 w 3316934"/>
                <a:gd name="connsiteY5-132" fmla="*/ 156893 h 3466902"/>
                <a:gd name="connsiteX6-133" fmla="*/ 1708727 w 3316934"/>
                <a:gd name="connsiteY6-134" fmla="*/ -1 h 3466902"/>
                <a:gd name="connsiteX7-135" fmla="*/ 2062473 w 3316934"/>
                <a:gd name="connsiteY7-136" fmla="*/ 164478 h 3466902"/>
                <a:gd name="connsiteX8-137" fmla="*/ 3155148 w 3316934"/>
                <a:gd name="connsiteY8-138" fmla="*/ 164471 h 3466902"/>
                <a:gd name="connsiteX9-139" fmla="*/ 3316931 w 3316934"/>
                <a:gd name="connsiteY9-140" fmla="*/ 280759 h 3466902"/>
                <a:gd name="connsiteX10-141" fmla="*/ 3316934 w 3316934"/>
                <a:gd name="connsiteY10-142" fmla="*/ 3305116 h 3466902"/>
                <a:gd name="connsiteX11-143" fmla="*/ 3155146 w 3316934"/>
                <a:gd name="connsiteY11-144" fmla="*/ 3436568 h 3466902"/>
                <a:gd name="connsiteX0-145" fmla="*/ 3155146 w 3316934"/>
                <a:gd name="connsiteY0-146" fmla="*/ 3436568 h 3436567"/>
                <a:gd name="connsiteX1-147" fmla="*/ 142368 w 3316934"/>
                <a:gd name="connsiteY1-148" fmla="*/ 3421401 h 3436567"/>
                <a:gd name="connsiteX2-149" fmla="*/ 0 w 3316934"/>
                <a:gd name="connsiteY2-150" fmla="*/ 3305116 h 3436567"/>
                <a:gd name="connsiteX3-151" fmla="*/ 0 w 3316934"/>
                <a:gd name="connsiteY3-152" fmla="*/ 326257 h 3436567"/>
                <a:gd name="connsiteX4-153" fmla="*/ 161786 w 3316934"/>
                <a:gd name="connsiteY4-154" fmla="*/ 164471 h 3436567"/>
                <a:gd name="connsiteX5-155" fmla="*/ 1393822 w 3316934"/>
                <a:gd name="connsiteY5-156" fmla="*/ 156893 h 3436567"/>
                <a:gd name="connsiteX6-157" fmla="*/ 1708727 w 3316934"/>
                <a:gd name="connsiteY6-158" fmla="*/ -1 h 3436567"/>
                <a:gd name="connsiteX7-159" fmla="*/ 2062473 w 3316934"/>
                <a:gd name="connsiteY7-160" fmla="*/ 164478 h 3436567"/>
                <a:gd name="connsiteX8-161" fmla="*/ 3155148 w 3316934"/>
                <a:gd name="connsiteY8-162" fmla="*/ 164471 h 3436567"/>
                <a:gd name="connsiteX9-163" fmla="*/ 3316931 w 3316934"/>
                <a:gd name="connsiteY9-164" fmla="*/ 280759 h 3436567"/>
                <a:gd name="connsiteX10-165" fmla="*/ 3316934 w 3316934"/>
                <a:gd name="connsiteY10-166" fmla="*/ 3305116 h 3436567"/>
                <a:gd name="connsiteX11-167" fmla="*/ 3155146 w 3316934"/>
                <a:gd name="connsiteY11-168" fmla="*/ 3436568 h 343656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Lst>
              <a:rect l="l" t="t" r="r" b="b"/>
              <a:pathLst>
                <a:path w="3316934" h="3436567">
                  <a:moveTo>
                    <a:pt x="3155146" y="3436568"/>
                  </a:moveTo>
                  <a:lnTo>
                    <a:pt x="142368" y="3421401"/>
                  </a:lnTo>
                  <a:cubicBezTo>
                    <a:pt x="53016" y="3421401"/>
                    <a:pt x="0" y="3394468"/>
                    <a:pt x="0" y="3305116"/>
                  </a:cubicBezTo>
                  <a:lnTo>
                    <a:pt x="0" y="326257"/>
                  </a:lnTo>
                  <a:cubicBezTo>
                    <a:pt x="0" y="236905"/>
                    <a:pt x="72434" y="164471"/>
                    <a:pt x="161786" y="164471"/>
                  </a:cubicBezTo>
                  <a:lnTo>
                    <a:pt x="1393822" y="156893"/>
                  </a:lnTo>
                  <a:lnTo>
                    <a:pt x="1708727" y="-1"/>
                  </a:lnTo>
                  <a:lnTo>
                    <a:pt x="2062473" y="164478"/>
                  </a:lnTo>
                  <a:lnTo>
                    <a:pt x="3155148" y="164471"/>
                  </a:lnTo>
                  <a:cubicBezTo>
                    <a:pt x="3244500" y="164471"/>
                    <a:pt x="3316931" y="191407"/>
                    <a:pt x="3316931" y="280759"/>
                  </a:cubicBezTo>
                  <a:lnTo>
                    <a:pt x="3316934" y="3305116"/>
                  </a:lnTo>
                  <a:cubicBezTo>
                    <a:pt x="3316934" y="3394468"/>
                    <a:pt x="3244498" y="3436568"/>
                    <a:pt x="3155146" y="3436568"/>
                  </a:cubicBezTo>
                  <a:close/>
                </a:path>
              </a:pathLst>
            </a:custGeom>
            <a:noFill/>
            <a:ln>
              <a:solidFill>
                <a:srgbClr val="0042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34" name="文本框 133"/>
            <p:cNvSpPr txBox="1"/>
            <p:nvPr/>
          </p:nvSpPr>
          <p:spPr>
            <a:xfrm>
              <a:off x="16568" y="4166"/>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sz="1200" kern="1200" dirty="0">
                  <a:solidFill>
                    <a:srgbClr val="0042FF"/>
                  </a:solidFill>
                  <a:latin typeface="微软雅黑"/>
                  <a:ea typeface="微软雅黑"/>
                  <a:cs typeface="微软雅黑"/>
                </a:rPr>
                <a:t>⑤</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制定计划</a:t>
              </a:r>
              <a:endParaRPr lang="zh-CN" altLang="en-US" sz="1200" kern="1200" dirty="0">
                <a:solidFill>
                  <a:srgbClr val="0042FF"/>
                </a:solidFill>
                <a:latin typeface="微软雅黑"/>
                <a:ea typeface="微软雅黑"/>
                <a:cs typeface="微软雅黑"/>
              </a:endParaRPr>
            </a:p>
          </p:txBody>
        </p:sp>
      </p:grpSp>
      <p:grpSp>
        <p:nvGrpSpPr>
          <p:cNvPr id="139" name="紫荆的职场Point6"/>
          <p:cNvGrpSpPr/>
          <p:nvPr/>
        </p:nvGrpSpPr>
        <p:grpSpPr>
          <a:xfrm>
            <a:off x="10904220" y="5299075"/>
            <a:ext cx="750570" cy="748665"/>
            <a:chOff x="2968911" y="1833417"/>
            <a:chExt cx="431528" cy="430332"/>
          </a:xfrm>
        </p:grpSpPr>
        <p:sp>
          <p:nvSpPr>
            <p:cNvPr id="140" name="紫荆的职场Point6-1"/>
            <p:cNvSpPr>
              <a:spLocks noChangeAspect="1"/>
            </p:cNvSpPr>
            <p:nvPr/>
          </p:nvSpPr>
          <p:spPr>
            <a:xfrm>
              <a:off x="2969033" y="1833417"/>
              <a:ext cx="430332" cy="430332"/>
            </a:xfrm>
            <a:prstGeom prst="ellipse">
              <a:avLst/>
            </a:prstGeom>
            <a:gradFill flip="none" rotWithShape="1">
              <a:gsLst>
                <a:gs pos="70000">
                  <a:srgbClr val="B3D4FE"/>
                </a:gs>
                <a:gs pos="99000">
                  <a:srgbClr val="FFFFFF"/>
                </a:gs>
                <a:gs pos="19000">
                  <a:srgbClr val="3368FF"/>
                </a:gs>
              </a:gsLst>
              <a:path path="circle">
                <a:fillToRect r="100000" b="100000"/>
              </a:path>
              <a:tileRect l="-100000" t="-100000"/>
            </a:gradFill>
            <a:ln w="12700" cap="flat" cmpd="sng" algn="ctr">
              <a:solidFill>
                <a:srgbClr val="FFFFFF"/>
              </a:solidFill>
              <a:prstDash val="solid"/>
              <a:miter lim="800000"/>
            </a:ln>
            <a:effectLst>
              <a:outerShdw blurRad="152400" dist="76200" dir="5400000" algn="t" rotWithShape="0">
                <a:srgbClr val="3368FF">
                  <a:alpha val="23000"/>
                </a:srgbClr>
              </a:outerShdw>
            </a:effectLst>
          </p:spPr>
          <p:txBody>
            <a:bodyPr wrap="square" rtlCol="0" anchor="ctr">
              <a:noAutofit/>
            </a:bodyPr>
            <a:lstStyle/>
            <a:p>
              <a:pPr algn="ctr">
                <a:defRPr>
                  <a:latin typeface="微软雅黑"/>
                  <a:ea typeface="微软雅黑"/>
                  <a:cs typeface="微软雅黑"/>
                </a:defRPr>
              </a:pPr>
              <a:endParaRPr lang="zh-CN" altLang="en-US" sz="1715" kern="0" dirty="0">
                <a:solidFill>
                  <a:srgbClr val="383838"/>
                </a:solidFill>
                <a:latin typeface="微软雅黑"/>
                <a:ea typeface="微软雅黑"/>
                <a:cs typeface="微软雅黑"/>
              </a:endParaRPr>
            </a:p>
          </p:txBody>
        </p:sp>
        <p:sp>
          <p:nvSpPr>
            <p:cNvPr id="141" name="紫荆的职场Point6-2"/>
            <p:cNvSpPr txBox="1"/>
            <p:nvPr/>
          </p:nvSpPr>
          <p:spPr>
            <a:xfrm>
              <a:off x="2968911" y="1912565"/>
              <a:ext cx="431528" cy="264623"/>
            </a:xfrm>
            <a:prstGeom prst="rect">
              <a:avLst/>
            </a:prstGeom>
            <a:noFill/>
          </p:spPr>
          <p:txBody>
            <a:bodyPr wrap="square" rtlCol="0" lIns="0" rIns="0" tIns="0" bIns="0">
              <a:spAutoFit/>
            </a:bodyPr>
            <a:lstStyle/>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项目</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交付</a:t>
              </a:r>
              <a:endParaRPr kumimoji="1"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49" name="组合 148"/>
          <p:cNvGrpSpPr/>
          <p:nvPr/>
        </p:nvGrpSpPr>
        <p:grpSpPr>
          <a:xfrm>
            <a:off x="4780915" y="3088640"/>
            <a:ext cx="1422400" cy="1450975"/>
            <a:chOff x="7265" y="4736"/>
            <a:chExt cx="2240" cy="2285"/>
          </a:xfrm>
        </p:grpSpPr>
        <p:sp>
          <p:nvSpPr>
            <p:cNvPr id="142" name="椭圆 141"/>
            <p:cNvSpPr/>
            <p:nvPr/>
          </p:nvSpPr>
          <p:spPr>
            <a:xfrm>
              <a:off x="8287" y="5753"/>
              <a:ext cx="209" cy="210"/>
            </a:xfrm>
            <a:prstGeom prst="ellipse">
              <a:avLst/>
            </a:prstGeom>
            <a:solidFill>
              <a:srgbClr val="B3D4FE"/>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143" name="组合 142"/>
            <p:cNvGrpSpPr/>
            <p:nvPr/>
          </p:nvGrpSpPr>
          <p:grpSpPr>
            <a:xfrm rot="0">
              <a:off x="7527" y="4736"/>
              <a:ext cx="1729" cy="736"/>
              <a:chOff x="1797" y="8377"/>
              <a:chExt cx="1729" cy="736"/>
            </a:xfrm>
          </p:grpSpPr>
          <p:sp>
            <p:nvSpPr>
              <p:cNvPr id="144" name="任意多边形: 形状 43"/>
              <p:cNvSpPr/>
              <p:nvPr/>
            </p:nvSpPr>
            <p:spPr>
              <a:xfrm rot="10800000">
                <a:off x="1797" y="8377"/>
                <a:ext cx="1729" cy="736"/>
              </a:xfrm>
              <a:custGeom>
                <a:avLst/>
                <a:gdLst>
                  <a:gd name="connsiteX0" fmla="*/ 3155148 w 3316934"/>
                  <a:gd name="connsiteY0" fmla="*/ 3611012 h 3611012"/>
                  <a:gd name="connsiteX1" fmla="*/ 161786 w 3316934"/>
                  <a:gd name="connsiteY1" fmla="*/ 3611012 h 3611012"/>
                  <a:gd name="connsiteX2" fmla="*/ 0 w 3316934"/>
                  <a:gd name="connsiteY2" fmla="*/ 3449226 h 3611012"/>
                  <a:gd name="connsiteX3" fmla="*/ 0 w 3316934"/>
                  <a:gd name="connsiteY3" fmla="*/ 470367 h 3611012"/>
                  <a:gd name="connsiteX4" fmla="*/ 161786 w 3316934"/>
                  <a:gd name="connsiteY4" fmla="*/ 308581 h 3611012"/>
                  <a:gd name="connsiteX5" fmla="*/ 1568591 w 3316934"/>
                  <a:gd name="connsiteY5" fmla="*/ 308581 h 3611012"/>
                  <a:gd name="connsiteX6" fmla="*/ 1747569 w 3316934"/>
                  <a:gd name="connsiteY6" fmla="*/ 0 h 3611012"/>
                  <a:gd name="connsiteX7" fmla="*/ 1926547 w 3316934"/>
                  <a:gd name="connsiteY7" fmla="*/ 308581 h 3611012"/>
                  <a:gd name="connsiteX8" fmla="*/ 3155148 w 3316934"/>
                  <a:gd name="connsiteY8" fmla="*/ 308581 h 3611012"/>
                  <a:gd name="connsiteX9" fmla="*/ 3316934 w 3316934"/>
                  <a:gd name="connsiteY9" fmla="*/ 470367 h 3611012"/>
                  <a:gd name="connsiteX10" fmla="*/ 3316934 w 3316934"/>
                  <a:gd name="connsiteY10" fmla="*/ 3449226 h 3611012"/>
                  <a:gd name="connsiteX11" fmla="*/ 3155148 w 3316934"/>
                  <a:gd name="connsiteY11" fmla="*/ 3611012 h 361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6934" h="3611012">
                    <a:moveTo>
                      <a:pt x="3155148" y="3611012"/>
                    </a:moveTo>
                    <a:lnTo>
                      <a:pt x="161786" y="3611012"/>
                    </a:lnTo>
                    <a:cubicBezTo>
                      <a:pt x="72434" y="3611012"/>
                      <a:pt x="0" y="3538578"/>
                      <a:pt x="0" y="3449226"/>
                    </a:cubicBezTo>
                    <a:lnTo>
                      <a:pt x="0" y="470367"/>
                    </a:lnTo>
                    <a:cubicBezTo>
                      <a:pt x="0" y="381015"/>
                      <a:pt x="72434" y="308581"/>
                      <a:pt x="161786" y="308581"/>
                    </a:cubicBezTo>
                    <a:lnTo>
                      <a:pt x="1568591" y="308581"/>
                    </a:lnTo>
                    <a:lnTo>
                      <a:pt x="1747569" y="0"/>
                    </a:lnTo>
                    <a:lnTo>
                      <a:pt x="1926547" y="308581"/>
                    </a:lnTo>
                    <a:lnTo>
                      <a:pt x="3155148" y="308581"/>
                    </a:lnTo>
                    <a:cubicBezTo>
                      <a:pt x="3244500" y="308581"/>
                      <a:pt x="3316934" y="381015"/>
                      <a:pt x="3316934" y="470367"/>
                    </a:cubicBezTo>
                    <a:lnTo>
                      <a:pt x="3316934" y="3449226"/>
                    </a:lnTo>
                    <a:cubicBezTo>
                      <a:pt x="3316934" y="3538578"/>
                      <a:pt x="3244500" y="3611012"/>
                      <a:pt x="3155148" y="3611012"/>
                    </a:cubicBezTo>
                    <a:close/>
                  </a:path>
                </a:pathLst>
              </a:custGeom>
              <a:no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lang="zh-CN" altLang="en-US" sz="1200" dirty="0">
                  <a:latin typeface="微软雅黑"/>
                  <a:ea typeface="微软雅黑"/>
                  <a:cs typeface="微软雅黑"/>
                </a:endParaRPr>
              </a:p>
            </p:txBody>
          </p:sp>
          <p:sp>
            <p:nvSpPr>
              <p:cNvPr id="145" name="文本框 144"/>
              <p:cNvSpPr txBox="1"/>
              <p:nvPr/>
            </p:nvSpPr>
            <p:spPr>
              <a:xfrm>
                <a:off x="1855" y="8495"/>
                <a:ext cx="1613" cy="405"/>
              </a:xfrm>
              <a:prstGeom prst="rect">
                <a:avLst/>
              </a:prstGeom>
              <a:noFill/>
            </p:spPr>
            <p:txBody>
              <a:bodyPr wrap="square">
                <a:spAutoFit/>
              </a:bodyPr>
              <a:lstStyle/>
              <a:p>
                <a:pPr marL="0" lvl="0" indent="0" defTabSz="666750">
                  <a:lnSpc>
                    <a:spcPct val="90000"/>
                  </a:lnSpc>
                  <a:spcBef>
                    <a:spcPct val="0"/>
                  </a:spcBef>
                  <a:spcAft>
                    <a:spcPct val="35000"/>
                  </a:spcAft>
                  <a:buNone/>
                  <a:defRPr>
                    <a:latin typeface="微软雅黑"/>
                    <a:ea typeface="微软雅黑"/>
                    <a:cs typeface="微软雅黑"/>
                  </a:defRPr>
                </a:pPr>
                <a:r>
                  <a:rPr lang="zh-CN" altLang="en-US" sz="1200" kern="1200" dirty="0">
                    <a:solidFill>
                      <a:srgbClr val="0042FF"/>
                    </a:solidFill>
                    <a:latin typeface="微软雅黑"/>
                    <a:ea typeface="微软雅黑"/>
                    <a:cs typeface="微软雅黑"/>
                  </a:rPr>
                  <a:t>⑧</a:t>
                </a:r>
                <a:r>
                  <a:rPr lang="en-US" altLang="zh-CN" sz="1200" kern="1200" dirty="0">
                    <a:solidFill>
                      <a:srgbClr val="0042FF"/>
                    </a:solidFill>
                    <a:latin typeface="微软雅黑"/>
                    <a:ea typeface="微软雅黑"/>
                    <a:cs typeface="微软雅黑"/>
                  </a:rPr>
                  <a:t> </a:t>
                </a:r>
                <a:r>
                  <a:rPr lang="zh-CN" altLang="en-US" sz="1200" kern="1200" dirty="0">
                    <a:solidFill>
                      <a:srgbClr val="0042FF"/>
                    </a:solidFill>
                    <a:latin typeface="微软雅黑"/>
                    <a:ea typeface="微软雅黑"/>
                    <a:cs typeface="微软雅黑"/>
                  </a:rPr>
                  <a:t>执行计划</a:t>
                </a:r>
                <a:endParaRPr lang="zh-CN" altLang="en-US" sz="1200" kern="1200" dirty="0">
                  <a:solidFill>
                    <a:srgbClr val="0042FF"/>
                  </a:solidFill>
                  <a:latin typeface="微软雅黑"/>
                  <a:ea typeface="微软雅黑"/>
                  <a:cs typeface="微软雅黑"/>
                </a:endParaRPr>
              </a:p>
            </p:txBody>
          </p:sp>
        </p:grpSp>
        <p:sp>
          <p:nvSpPr>
            <p:cNvPr id="146" name="紫荆的职场Point36"/>
            <p:cNvSpPr txBox="1"/>
            <p:nvPr/>
          </p:nvSpPr>
          <p:spPr>
            <a:xfrm>
              <a:off x="7265" y="6239"/>
              <a:ext cx="2240" cy="782"/>
            </a:xfrm>
            <a:prstGeom prst="rect">
              <a:avLst/>
            </a:prstGeom>
            <a:noFill/>
          </p:spPr>
          <p:txBody>
            <a:bodyPr wrap="square">
              <a:spAutoFit/>
            </a:bodyPr>
            <a:lstStyle/>
            <a:p>
              <a:pPr algn="ctr" hangingPunct="0">
                <a:lnSpc>
                  <a:spcPct val="110000"/>
                </a:lnSpc>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按计划开展工作，产出可交付成果。</a:t>
              </a:r>
              <a:endParaRPr lang="zh-CN" altLang="en-US" sz="1200" dirty="0">
                <a:solidFill>
                  <a:srgbClr val="383838"/>
                </a:solidFill>
                <a:latin typeface="微软雅黑"/>
                <a:ea typeface="微软雅黑"/>
                <a:cs typeface="微软雅黑"/>
                <a:sym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0" name="组合 19"/>
          <p:cNvGrpSpPr/>
          <p:nvPr/>
        </p:nvGrpSpPr>
        <p:grpSpPr>
          <a:xfrm>
            <a:off x="8738235" y="348615"/>
            <a:ext cx="3219450" cy="332740"/>
            <a:chOff x="13761" y="549"/>
            <a:chExt cx="5070" cy="524"/>
          </a:xfrm>
        </p:grpSpPr>
        <p:pic>
          <p:nvPicPr>
            <p:cNvPr id="21" name="图片 20"/>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22" name="文本框 2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Shape 1433"/>
          <p:cNvSpPr/>
          <p:nvPr>
            <p:custDataLst>
              <p:tags r:id="rId1"/>
            </p:custDataLst>
          </p:nvPr>
        </p:nvSpPr>
        <p:spPr bwMode="auto">
          <a:xfrm rot="7500000">
            <a:off x="9644698" y="1767523"/>
            <a:ext cx="2934970" cy="1720215"/>
          </a:xfrm>
          <a:custGeom>
            <a:avLst/>
            <a:gdLst>
              <a:gd name="connsiteX0" fmla="*/ 0 w 2486541"/>
              <a:gd name="connsiteY0" fmla="*/ 248816 h 1447917"/>
              <a:gd name="connsiteX1" fmla="*/ 430962 w 2486541"/>
              <a:gd name="connsiteY1" fmla="*/ 0 h 1447917"/>
              <a:gd name="connsiteX2" fmla="*/ 2486541 w 2486541"/>
              <a:gd name="connsiteY2" fmla="*/ 1200087 h 1447917"/>
              <a:gd name="connsiteX3" fmla="*/ 2057288 w 2486541"/>
              <a:gd name="connsiteY3" fmla="*/ 1447917 h 1447917"/>
            </a:gdLst>
            <a:ahLst/>
            <a:cxnLst>
              <a:cxn ang="0">
                <a:pos x="connsiteX0" y="connsiteY0"/>
              </a:cxn>
              <a:cxn ang="0">
                <a:pos x="connsiteX1" y="connsiteY1"/>
              </a:cxn>
              <a:cxn ang="0">
                <a:pos x="connsiteX2" y="connsiteY2"/>
              </a:cxn>
              <a:cxn ang="0">
                <a:pos x="connsiteX3" y="connsiteY3"/>
              </a:cxn>
            </a:cxnLst>
            <a:rect l="l" t="t" r="r" b="b"/>
            <a:pathLst>
              <a:path w="2486541" h="1447917">
                <a:moveTo>
                  <a:pt x="0" y="248816"/>
                </a:moveTo>
                <a:lnTo>
                  <a:pt x="430962" y="0"/>
                </a:lnTo>
                <a:lnTo>
                  <a:pt x="2486541" y="1200087"/>
                </a:lnTo>
                <a:lnTo>
                  <a:pt x="2057288" y="1447917"/>
                </a:lnTo>
                <a:close/>
              </a:path>
            </a:pathLst>
          </a:custGeom>
          <a:solidFill>
            <a:srgbClr val="DCDCDC"/>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en-US" dirty="0">
              <a:latin typeface="微软雅黑"/>
              <a:ea typeface="微软雅黑"/>
              <a:cs typeface="微软雅黑"/>
            </a:endParaRPr>
          </a:p>
        </p:txBody>
      </p:sp>
      <p:sp>
        <p:nvSpPr>
          <p:cNvPr id="4" name="Freeform 1228"/>
          <p:cNvSpPr/>
          <p:nvPr/>
        </p:nvSpPr>
        <p:spPr bwMode="auto">
          <a:xfrm rot="300000">
            <a:off x="1755140" y="2558415"/>
            <a:ext cx="7844155" cy="6374765"/>
          </a:xfrm>
          <a:custGeom>
            <a:avLst/>
            <a:gdLst>
              <a:gd name="T0" fmla="*/ 63 w 4128"/>
              <a:gd name="T1" fmla="*/ 1950 h 3377"/>
              <a:gd name="T2" fmla="*/ 4 w 4128"/>
              <a:gd name="T3" fmla="*/ 1822 h 3377"/>
              <a:gd name="T4" fmla="*/ 13 w 4128"/>
              <a:gd name="T5" fmla="*/ 1704 h 3377"/>
              <a:gd name="T6" fmla="*/ 93 w 4128"/>
              <a:gd name="T7" fmla="*/ 1581 h 3377"/>
              <a:gd name="T8" fmla="*/ 335 w 4128"/>
              <a:gd name="T9" fmla="*/ 1445 h 3377"/>
              <a:gd name="T10" fmla="*/ 682 w 4128"/>
              <a:gd name="T11" fmla="*/ 1406 h 3377"/>
              <a:gd name="T12" fmla="*/ 1056 w 4128"/>
              <a:gd name="T13" fmla="*/ 1507 h 3377"/>
              <a:gd name="T14" fmla="*/ 1295 w 4128"/>
              <a:gd name="T15" fmla="*/ 1600 h 3377"/>
              <a:gd name="T16" fmla="*/ 1459 w 4128"/>
              <a:gd name="T17" fmla="*/ 1544 h 3377"/>
              <a:gd name="T18" fmla="*/ 1459 w 4128"/>
              <a:gd name="T19" fmla="*/ 1490 h 3377"/>
              <a:gd name="T20" fmla="*/ 1222 w 4128"/>
              <a:gd name="T21" fmla="*/ 1328 h 3377"/>
              <a:gd name="T22" fmla="*/ 1140 w 4128"/>
              <a:gd name="T23" fmla="*/ 1207 h 3377"/>
              <a:gd name="T24" fmla="*/ 1131 w 4128"/>
              <a:gd name="T25" fmla="*/ 1091 h 3377"/>
              <a:gd name="T26" fmla="*/ 1187 w 4128"/>
              <a:gd name="T27" fmla="*/ 961 h 3377"/>
              <a:gd name="T28" fmla="*/ 1362 w 4128"/>
              <a:gd name="T29" fmla="*/ 829 h 3377"/>
              <a:gd name="T30" fmla="*/ 1749 w 4128"/>
              <a:gd name="T31" fmla="*/ 749 h 3377"/>
              <a:gd name="T32" fmla="*/ 2086 w 4128"/>
              <a:gd name="T33" fmla="*/ 808 h 3377"/>
              <a:gd name="T34" fmla="*/ 2383 w 4128"/>
              <a:gd name="T35" fmla="*/ 944 h 3377"/>
              <a:gd name="T36" fmla="*/ 2554 w 4128"/>
              <a:gd name="T37" fmla="*/ 916 h 3377"/>
              <a:gd name="T38" fmla="*/ 2595 w 4128"/>
              <a:gd name="T39" fmla="*/ 855 h 3377"/>
              <a:gd name="T40" fmla="*/ 2403 w 4128"/>
              <a:gd name="T41" fmla="*/ 721 h 3377"/>
              <a:gd name="T42" fmla="*/ 2282 w 4128"/>
              <a:gd name="T43" fmla="*/ 590 h 3377"/>
              <a:gd name="T44" fmla="*/ 2254 w 4128"/>
              <a:gd name="T45" fmla="*/ 475 h 3377"/>
              <a:gd name="T46" fmla="*/ 2291 w 4128"/>
              <a:gd name="T47" fmla="*/ 341 h 3377"/>
              <a:gd name="T48" fmla="*/ 2442 w 4128"/>
              <a:gd name="T49" fmla="*/ 199 h 3377"/>
              <a:gd name="T50" fmla="*/ 2755 w 4128"/>
              <a:gd name="T51" fmla="*/ 102 h 3377"/>
              <a:gd name="T52" fmla="*/ 3107 w 4128"/>
              <a:gd name="T53" fmla="*/ 121 h 3377"/>
              <a:gd name="T54" fmla="*/ 3441 w 4128"/>
              <a:gd name="T55" fmla="*/ 274 h 3377"/>
              <a:gd name="T56" fmla="*/ 3651 w 4128"/>
              <a:gd name="T57" fmla="*/ 274 h 3377"/>
              <a:gd name="T58" fmla="*/ 3869 w 4128"/>
              <a:gd name="T59" fmla="*/ 462 h 3377"/>
              <a:gd name="T60" fmla="*/ 3547 w 4128"/>
              <a:gd name="T61" fmla="*/ 529 h 3377"/>
              <a:gd name="T62" fmla="*/ 3353 w 4128"/>
              <a:gd name="T63" fmla="*/ 505 h 3377"/>
              <a:gd name="T64" fmla="*/ 3059 w 4128"/>
              <a:gd name="T65" fmla="*/ 369 h 3377"/>
              <a:gd name="T66" fmla="*/ 2874 w 4128"/>
              <a:gd name="T67" fmla="*/ 331 h 3377"/>
              <a:gd name="T68" fmla="*/ 2714 w 4128"/>
              <a:gd name="T69" fmla="*/ 359 h 3377"/>
              <a:gd name="T70" fmla="*/ 2617 w 4128"/>
              <a:gd name="T71" fmla="*/ 423 h 3377"/>
              <a:gd name="T72" fmla="*/ 2604 w 4128"/>
              <a:gd name="T73" fmla="*/ 499 h 3377"/>
              <a:gd name="T74" fmla="*/ 2776 w 4128"/>
              <a:gd name="T75" fmla="*/ 626 h 3377"/>
              <a:gd name="T76" fmla="*/ 2899 w 4128"/>
              <a:gd name="T77" fmla="*/ 734 h 3377"/>
              <a:gd name="T78" fmla="*/ 2943 w 4128"/>
              <a:gd name="T79" fmla="*/ 862 h 3377"/>
              <a:gd name="T80" fmla="*/ 2902 w 4128"/>
              <a:gd name="T81" fmla="*/ 989 h 3377"/>
              <a:gd name="T82" fmla="*/ 2703 w 4128"/>
              <a:gd name="T83" fmla="*/ 1134 h 3377"/>
              <a:gd name="T84" fmla="*/ 2422 w 4128"/>
              <a:gd name="T85" fmla="*/ 1183 h 3377"/>
              <a:gd name="T86" fmla="*/ 2098 w 4128"/>
              <a:gd name="T87" fmla="*/ 1116 h 3377"/>
              <a:gd name="T88" fmla="*/ 1861 w 4128"/>
              <a:gd name="T89" fmla="*/ 998 h 3377"/>
              <a:gd name="T90" fmla="*/ 1693 w 4128"/>
              <a:gd name="T91" fmla="*/ 989 h 3377"/>
              <a:gd name="T92" fmla="*/ 1544 w 4128"/>
              <a:gd name="T93" fmla="*/ 1034 h 3377"/>
              <a:gd name="T94" fmla="*/ 1475 w 4128"/>
              <a:gd name="T95" fmla="*/ 1114 h 3377"/>
              <a:gd name="T96" fmla="*/ 1503 w 4128"/>
              <a:gd name="T97" fmla="*/ 1188 h 3377"/>
              <a:gd name="T98" fmla="*/ 1690 w 4128"/>
              <a:gd name="T99" fmla="*/ 1306 h 3377"/>
              <a:gd name="T100" fmla="*/ 1813 w 4128"/>
              <a:gd name="T101" fmla="*/ 1481 h 3377"/>
              <a:gd name="T102" fmla="*/ 1794 w 4128"/>
              <a:gd name="T103" fmla="*/ 1611 h 3377"/>
              <a:gd name="T104" fmla="*/ 1656 w 4128"/>
              <a:gd name="T105" fmla="*/ 1749 h 3377"/>
              <a:gd name="T106" fmla="*/ 1397 w 4128"/>
              <a:gd name="T107" fmla="*/ 1831 h 3377"/>
              <a:gd name="T108" fmla="*/ 1101 w 4128"/>
              <a:gd name="T109" fmla="*/ 1814 h 3377"/>
              <a:gd name="T110" fmla="*/ 807 w 4128"/>
              <a:gd name="T111" fmla="*/ 1678 h 3377"/>
              <a:gd name="T112" fmla="*/ 624 w 4128"/>
              <a:gd name="T113" fmla="*/ 1639 h 3377"/>
              <a:gd name="T114" fmla="*/ 462 w 4128"/>
              <a:gd name="T115" fmla="*/ 1667 h 3377"/>
              <a:gd name="T116" fmla="*/ 365 w 4128"/>
              <a:gd name="T117" fmla="*/ 1734 h 3377"/>
              <a:gd name="T118" fmla="*/ 352 w 4128"/>
              <a:gd name="T119" fmla="*/ 1807 h 3377"/>
              <a:gd name="T120" fmla="*/ 2990 w 4128"/>
              <a:gd name="T121" fmla="*/ 3377 h 3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28" h="3377">
                <a:moveTo>
                  <a:pt x="194" y="2058"/>
                </a:moveTo>
                <a:lnTo>
                  <a:pt x="194" y="2058"/>
                </a:lnTo>
                <a:lnTo>
                  <a:pt x="149" y="2030"/>
                </a:lnTo>
                <a:lnTo>
                  <a:pt x="110" y="1999"/>
                </a:lnTo>
                <a:lnTo>
                  <a:pt x="93" y="1984"/>
                </a:lnTo>
                <a:lnTo>
                  <a:pt x="78" y="1967"/>
                </a:lnTo>
                <a:lnTo>
                  <a:pt x="63" y="1950"/>
                </a:lnTo>
                <a:lnTo>
                  <a:pt x="50" y="1933"/>
                </a:lnTo>
                <a:lnTo>
                  <a:pt x="39" y="1915"/>
                </a:lnTo>
                <a:lnTo>
                  <a:pt x="28" y="1898"/>
                </a:lnTo>
                <a:lnTo>
                  <a:pt x="22" y="1879"/>
                </a:lnTo>
                <a:lnTo>
                  <a:pt x="13" y="1859"/>
                </a:lnTo>
                <a:lnTo>
                  <a:pt x="9" y="1842"/>
                </a:lnTo>
                <a:lnTo>
                  <a:pt x="4" y="1822"/>
                </a:lnTo>
                <a:lnTo>
                  <a:pt x="2" y="1801"/>
                </a:lnTo>
                <a:lnTo>
                  <a:pt x="0" y="1781"/>
                </a:lnTo>
                <a:lnTo>
                  <a:pt x="0" y="1781"/>
                </a:lnTo>
                <a:lnTo>
                  <a:pt x="2" y="1762"/>
                </a:lnTo>
                <a:lnTo>
                  <a:pt x="4" y="1743"/>
                </a:lnTo>
                <a:lnTo>
                  <a:pt x="9" y="1723"/>
                </a:lnTo>
                <a:lnTo>
                  <a:pt x="13" y="1704"/>
                </a:lnTo>
                <a:lnTo>
                  <a:pt x="19" y="1686"/>
                </a:lnTo>
                <a:lnTo>
                  <a:pt x="28" y="1667"/>
                </a:lnTo>
                <a:lnTo>
                  <a:pt x="39" y="1650"/>
                </a:lnTo>
                <a:lnTo>
                  <a:pt x="50" y="1632"/>
                </a:lnTo>
                <a:lnTo>
                  <a:pt x="63" y="1615"/>
                </a:lnTo>
                <a:lnTo>
                  <a:pt x="78" y="1598"/>
                </a:lnTo>
                <a:lnTo>
                  <a:pt x="93" y="1581"/>
                </a:lnTo>
                <a:lnTo>
                  <a:pt x="110" y="1566"/>
                </a:lnTo>
                <a:lnTo>
                  <a:pt x="147" y="1535"/>
                </a:lnTo>
                <a:lnTo>
                  <a:pt x="190" y="1507"/>
                </a:lnTo>
                <a:lnTo>
                  <a:pt x="190" y="1507"/>
                </a:lnTo>
                <a:lnTo>
                  <a:pt x="235" y="1483"/>
                </a:lnTo>
                <a:lnTo>
                  <a:pt x="285" y="1464"/>
                </a:lnTo>
                <a:lnTo>
                  <a:pt x="335" y="1445"/>
                </a:lnTo>
                <a:lnTo>
                  <a:pt x="389" y="1429"/>
                </a:lnTo>
                <a:lnTo>
                  <a:pt x="445" y="1419"/>
                </a:lnTo>
                <a:lnTo>
                  <a:pt x="503" y="1410"/>
                </a:lnTo>
                <a:lnTo>
                  <a:pt x="561" y="1406"/>
                </a:lnTo>
                <a:lnTo>
                  <a:pt x="622" y="1404"/>
                </a:lnTo>
                <a:lnTo>
                  <a:pt x="622" y="1404"/>
                </a:lnTo>
                <a:lnTo>
                  <a:pt x="682" y="1406"/>
                </a:lnTo>
                <a:lnTo>
                  <a:pt x="743" y="1410"/>
                </a:lnTo>
                <a:lnTo>
                  <a:pt x="801" y="1419"/>
                </a:lnTo>
                <a:lnTo>
                  <a:pt x="857" y="1429"/>
                </a:lnTo>
                <a:lnTo>
                  <a:pt x="911" y="1445"/>
                </a:lnTo>
                <a:lnTo>
                  <a:pt x="961" y="1464"/>
                </a:lnTo>
                <a:lnTo>
                  <a:pt x="1010" y="1483"/>
                </a:lnTo>
                <a:lnTo>
                  <a:pt x="1056" y="1507"/>
                </a:lnTo>
                <a:lnTo>
                  <a:pt x="1161" y="1570"/>
                </a:lnTo>
                <a:lnTo>
                  <a:pt x="1161" y="1570"/>
                </a:lnTo>
                <a:lnTo>
                  <a:pt x="1190" y="1583"/>
                </a:lnTo>
                <a:lnTo>
                  <a:pt x="1222" y="1591"/>
                </a:lnTo>
                <a:lnTo>
                  <a:pt x="1259" y="1598"/>
                </a:lnTo>
                <a:lnTo>
                  <a:pt x="1295" y="1600"/>
                </a:lnTo>
                <a:lnTo>
                  <a:pt x="1295" y="1600"/>
                </a:lnTo>
                <a:lnTo>
                  <a:pt x="1332" y="1598"/>
                </a:lnTo>
                <a:lnTo>
                  <a:pt x="1369" y="1591"/>
                </a:lnTo>
                <a:lnTo>
                  <a:pt x="1401" y="1583"/>
                </a:lnTo>
                <a:lnTo>
                  <a:pt x="1429" y="1570"/>
                </a:lnTo>
                <a:lnTo>
                  <a:pt x="1429" y="1570"/>
                </a:lnTo>
                <a:lnTo>
                  <a:pt x="1446" y="1557"/>
                </a:lnTo>
                <a:lnTo>
                  <a:pt x="1459" y="1544"/>
                </a:lnTo>
                <a:lnTo>
                  <a:pt x="1468" y="1529"/>
                </a:lnTo>
                <a:lnTo>
                  <a:pt x="1470" y="1522"/>
                </a:lnTo>
                <a:lnTo>
                  <a:pt x="1470" y="1516"/>
                </a:lnTo>
                <a:lnTo>
                  <a:pt x="1470" y="1516"/>
                </a:lnTo>
                <a:lnTo>
                  <a:pt x="1470" y="1509"/>
                </a:lnTo>
                <a:lnTo>
                  <a:pt x="1468" y="1503"/>
                </a:lnTo>
                <a:lnTo>
                  <a:pt x="1459" y="1490"/>
                </a:lnTo>
                <a:lnTo>
                  <a:pt x="1446" y="1477"/>
                </a:lnTo>
                <a:lnTo>
                  <a:pt x="1427" y="1464"/>
                </a:lnTo>
                <a:lnTo>
                  <a:pt x="1319" y="1401"/>
                </a:lnTo>
                <a:lnTo>
                  <a:pt x="1319" y="1401"/>
                </a:lnTo>
                <a:lnTo>
                  <a:pt x="1276" y="1373"/>
                </a:lnTo>
                <a:lnTo>
                  <a:pt x="1239" y="1345"/>
                </a:lnTo>
                <a:lnTo>
                  <a:pt x="1222" y="1328"/>
                </a:lnTo>
                <a:lnTo>
                  <a:pt x="1205" y="1313"/>
                </a:lnTo>
                <a:lnTo>
                  <a:pt x="1192" y="1296"/>
                </a:lnTo>
                <a:lnTo>
                  <a:pt x="1179" y="1278"/>
                </a:lnTo>
                <a:lnTo>
                  <a:pt x="1166" y="1261"/>
                </a:lnTo>
                <a:lnTo>
                  <a:pt x="1157" y="1244"/>
                </a:lnTo>
                <a:lnTo>
                  <a:pt x="1149" y="1224"/>
                </a:lnTo>
                <a:lnTo>
                  <a:pt x="1140" y="1207"/>
                </a:lnTo>
                <a:lnTo>
                  <a:pt x="1136" y="1188"/>
                </a:lnTo>
                <a:lnTo>
                  <a:pt x="1131" y="1168"/>
                </a:lnTo>
                <a:lnTo>
                  <a:pt x="1129" y="1149"/>
                </a:lnTo>
                <a:lnTo>
                  <a:pt x="1127" y="1129"/>
                </a:lnTo>
                <a:lnTo>
                  <a:pt x="1127" y="1129"/>
                </a:lnTo>
                <a:lnTo>
                  <a:pt x="1129" y="1110"/>
                </a:lnTo>
                <a:lnTo>
                  <a:pt x="1131" y="1091"/>
                </a:lnTo>
                <a:lnTo>
                  <a:pt x="1133" y="1071"/>
                </a:lnTo>
                <a:lnTo>
                  <a:pt x="1140" y="1052"/>
                </a:lnTo>
                <a:lnTo>
                  <a:pt x="1146" y="1032"/>
                </a:lnTo>
                <a:lnTo>
                  <a:pt x="1155" y="1015"/>
                </a:lnTo>
                <a:lnTo>
                  <a:pt x="1164" y="996"/>
                </a:lnTo>
                <a:lnTo>
                  <a:pt x="1177" y="978"/>
                </a:lnTo>
                <a:lnTo>
                  <a:pt x="1187" y="961"/>
                </a:lnTo>
                <a:lnTo>
                  <a:pt x="1203" y="944"/>
                </a:lnTo>
                <a:lnTo>
                  <a:pt x="1218" y="926"/>
                </a:lnTo>
                <a:lnTo>
                  <a:pt x="1235" y="911"/>
                </a:lnTo>
                <a:lnTo>
                  <a:pt x="1274" y="881"/>
                </a:lnTo>
                <a:lnTo>
                  <a:pt x="1317" y="853"/>
                </a:lnTo>
                <a:lnTo>
                  <a:pt x="1317" y="853"/>
                </a:lnTo>
                <a:lnTo>
                  <a:pt x="1362" y="829"/>
                </a:lnTo>
                <a:lnTo>
                  <a:pt x="1410" y="808"/>
                </a:lnTo>
                <a:lnTo>
                  <a:pt x="1462" y="790"/>
                </a:lnTo>
                <a:lnTo>
                  <a:pt x="1516" y="775"/>
                </a:lnTo>
                <a:lnTo>
                  <a:pt x="1572" y="765"/>
                </a:lnTo>
                <a:lnTo>
                  <a:pt x="1628" y="756"/>
                </a:lnTo>
                <a:lnTo>
                  <a:pt x="1688" y="752"/>
                </a:lnTo>
                <a:lnTo>
                  <a:pt x="1749" y="749"/>
                </a:lnTo>
                <a:lnTo>
                  <a:pt x="1749" y="749"/>
                </a:lnTo>
                <a:lnTo>
                  <a:pt x="1809" y="752"/>
                </a:lnTo>
                <a:lnTo>
                  <a:pt x="1867" y="756"/>
                </a:lnTo>
                <a:lnTo>
                  <a:pt x="1926" y="765"/>
                </a:lnTo>
                <a:lnTo>
                  <a:pt x="1982" y="775"/>
                </a:lnTo>
                <a:lnTo>
                  <a:pt x="2036" y="790"/>
                </a:lnTo>
                <a:lnTo>
                  <a:pt x="2086" y="808"/>
                </a:lnTo>
                <a:lnTo>
                  <a:pt x="2135" y="829"/>
                </a:lnTo>
                <a:lnTo>
                  <a:pt x="2180" y="853"/>
                </a:lnTo>
                <a:lnTo>
                  <a:pt x="2286" y="916"/>
                </a:lnTo>
                <a:lnTo>
                  <a:pt x="2286" y="916"/>
                </a:lnTo>
                <a:lnTo>
                  <a:pt x="2314" y="929"/>
                </a:lnTo>
                <a:lnTo>
                  <a:pt x="2347" y="937"/>
                </a:lnTo>
                <a:lnTo>
                  <a:pt x="2383" y="944"/>
                </a:lnTo>
                <a:lnTo>
                  <a:pt x="2420" y="946"/>
                </a:lnTo>
                <a:lnTo>
                  <a:pt x="2420" y="946"/>
                </a:lnTo>
                <a:lnTo>
                  <a:pt x="2459" y="944"/>
                </a:lnTo>
                <a:lnTo>
                  <a:pt x="2494" y="937"/>
                </a:lnTo>
                <a:lnTo>
                  <a:pt x="2526" y="929"/>
                </a:lnTo>
                <a:lnTo>
                  <a:pt x="2554" y="916"/>
                </a:lnTo>
                <a:lnTo>
                  <a:pt x="2554" y="916"/>
                </a:lnTo>
                <a:lnTo>
                  <a:pt x="2571" y="903"/>
                </a:lnTo>
                <a:lnTo>
                  <a:pt x="2586" y="890"/>
                </a:lnTo>
                <a:lnTo>
                  <a:pt x="2593" y="875"/>
                </a:lnTo>
                <a:lnTo>
                  <a:pt x="2595" y="868"/>
                </a:lnTo>
                <a:lnTo>
                  <a:pt x="2597" y="862"/>
                </a:lnTo>
                <a:lnTo>
                  <a:pt x="2597" y="862"/>
                </a:lnTo>
                <a:lnTo>
                  <a:pt x="2595" y="855"/>
                </a:lnTo>
                <a:lnTo>
                  <a:pt x="2593" y="849"/>
                </a:lnTo>
                <a:lnTo>
                  <a:pt x="2584" y="836"/>
                </a:lnTo>
                <a:lnTo>
                  <a:pt x="2571" y="823"/>
                </a:lnTo>
                <a:lnTo>
                  <a:pt x="2554" y="810"/>
                </a:lnTo>
                <a:lnTo>
                  <a:pt x="2446" y="747"/>
                </a:lnTo>
                <a:lnTo>
                  <a:pt x="2446" y="747"/>
                </a:lnTo>
                <a:lnTo>
                  <a:pt x="2403" y="721"/>
                </a:lnTo>
                <a:lnTo>
                  <a:pt x="2364" y="691"/>
                </a:lnTo>
                <a:lnTo>
                  <a:pt x="2347" y="674"/>
                </a:lnTo>
                <a:lnTo>
                  <a:pt x="2332" y="659"/>
                </a:lnTo>
                <a:lnTo>
                  <a:pt x="2317" y="641"/>
                </a:lnTo>
                <a:lnTo>
                  <a:pt x="2304" y="624"/>
                </a:lnTo>
                <a:lnTo>
                  <a:pt x="2293" y="607"/>
                </a:lnTo>
                <a:lnTo>
                  <a:pt x="2282" y="590"/>
                </a:lnTo>
                <a:lnTo>
                  <a:pt x="2273" y="570"/>
                </a:lnTo>
                <a:lnTo>
                  <a:pt x="2267" y="553"/>
                </a:lnTo>
                <a:lnTo>
                  <a:pt x="2260" y="534"/>
                </a:lnTo>
                <a:lnTo>
                  <a:pt x="2256" y="514"/>
                </a:lnTo>
                <a:lnTo>
                  <a:pt x="2254" y="495"/>
                </a:lnTo>
                <a:lnTo>
                  <a:pt x="2254" y="475"/>
                </a:lnTo>
                <a:lnTo>
                  <a:pt x="2254" y="475"/>
                </a:lnTo>
                <a:lnTo>
                  <a:pt x="2254" y="456"/>
                </a:lnTo>
                <a:lnTo>
                  <a:pt x="2256" y="436"/>
                </a:lnTo>
                <a:lnTo>
                  <a:pt x="2260" y="417"/>
                </a:lnTo>
                <a:lnTo>
                  <a:pt x="2265" y="398"/>
                </a:lnTo>
                <a:lnTo>
                  <a:pt x="2271" y="378"/>
                </a:lnTo>
                <a:lnTo>
                  <a:pt x="2280" y="361"/>
                </a:lnTo>
                <a:lnTo>
                  <a:pt x="2291" y="341"/>
                </a:lnTo>
                <a:lnTo>
                  <a:pt x="2301" y="324"/>
                </a:lnTo>
                <a:lnTo>
                  <a:pt x="2314" y="307"/>
                </a:lnTo>
                <a:lnTo>
                  <a:pt x="2327" y="290"/>
                </a:lnTo>
                <a:lnTo>
                  <a:pt x="2345" y="274"/>
                </a:lnTo>
                <a:lnTo>
                  <a:pt x="2360" y="257"/>
                </a:lnTo>
                <a:lnTo>
                  <a:pt x="2399" y="227"/>
                </a:lnTo>
                <a:lnTo>
                  <a:pt x="2442" y="199"/>
                </a:lnTo>
                <a:lnTo>
                  <a:pt x="2442" y="199"/>
                </a:lnTo>
                <a:lnTo>
                  <a:pt x="2487" y="175"/>
                </a:lnTo>
                <a:lnTo>
                  <a:pt x="2537" y="154"/>
                </a:lnTo>
                <a:lnTo>
                  <a:pt x="2586" y="136"/>
                </a:lnTo>
                <a:lnTo>
                  <a:pt x="2640" y="121"/>
                </a:lnTo>
                <a:lnTo>
                  <a:pt x="2696" y="110"/>
                </a:lnTo>
                <a:lnTo>
                  <a:pt x="2755" y="102"/>
                </a:lnTo>
                <a:lnTo>
                  <a:pt x="2813" y="97"/>
                </a:lnTo>
                <a:lnTo>
                  <a:pt x="2874" y="95"/>
                </a:lnTo>
                <a:lnTo>
                  <a:pt x="2874" y="95"/>
                </a:lnTo>
                <a:lnTo>
                  <a:pt x="2934" y="97"/>
                </a:lnTo>
                <a:lnTo>
                  <a:pt x="2992" y="102"/>
                </a:lnTo>
                <a:lnTo>
                  <a:pt x="3051" y="110"/>
                </a:lnTo>
                <a:lnTo>
                  <a:pt x="3107" y="121"/>
                </a:lnTo>
                <a:lnTo>
                  <a:pt x="3161" y="136"/>
                </a:lnTo>
                <a:lnTo>
                  <a:pt x="3212" y="154"/>
                </a:lnTo>
                <a:lnTo>
                  <a:pt x="3260" y="175"/>
                </a:lnTo>
                <a:lnTo>
                  <a:pt x="3305" y="199"/>
                </a:lnTo>
                <a:lnTo>
                  <a:pt x="3413" y="262"/>
                </a:lnTo>
                <a:lnTo>
                  <a:pt x="3413" y="262"/>
                </a:lnTo>
                <a:lnTo>
                  <a:pt x="3441" y="274"/>
                </a:lnTo>
                <a:lnTo>
                  <a:pt x="3474" y="283"/>
                </a:lnTo>
                <a:lnTo>
                  <a:pt x="3508" y="290"/>
                </a:lnTo>
                <a:lnTo>
                  <a:pt x="3547" y="292"/>
                </a:lnTo>
                <a:lnTo>
                  <a:pt x="3547" y="292"/>
                </a:lnTo>
                <a:lnTo>
                  <a:pt x="3584" y="290"/>
                </a:lnTo>
                <a:lnTo>
                  <a:pt x="3618" y="283"/>
                </a:lnTo>
                <a:lnTo>
                  <a:pt x="3651" y="274"/>
                </a:lnTo>
                <a:lnTo>
                  <a:pt x="3679" y="262"/>
                </a:lnTo>
                <a:lnTo>
                  <a:pt x="4128" y="0"/>
                </a:lnTo>
                <a:lnTo>
                  <a:pt x="4128" y="313"/>
                </a:lnTo>
                <a:lnTo>
                  <a:pt x="4091" y="335"/>
                </a:lnTo>
                <a:lnTo>
                  <a:pt x="3908" y="441"/>
                </a:lnTo>
                <a:lnTo>
                  <a:pt x="3908" y="441"/>
                </a:lnTo>
                <a:lnTo>
                  <a:pt x="3869" y="462"/>
                </a:lnTo>
                <a:lnTo>
                  <a:pt x="3830" y="480"/>
                </a:lnTo>
                <a:lnTo>
                  <a:pt x="3787" y="495"/>
                </a:lnTo>
                <a:lnTo>
                  <a:pt x="3741" y="505"/>
                </a:lnTo>
                <a:lnTo>
                  <a:pt x="3696" y="516"/>
                </a:lnTo>
                <a:lnTo>
                  <a:pt x="3646" y="523"/>
                </a:lnTo>
                <a:lnTo>
                  <a:pt x="3597" y="527"/>
                </a:lnTo>
                <a:lnTo>
                  <a:pt x="3547" y="529"/>
                </a:lnTo>
                <a:lnTo>
                  <a:pt x="3547" y="529"/>
                </a:lnTo>
                <a:lnTo>
                  <a:pt x="3547" y="529"/>
                </a:lnTo>
                <a:lnTo>
                  <a:pt x="3547" y="529"/>
                </a:lnTo>
                <a:lnTo>
                  <a:pt x="3497" y="527"/>
                </a:lnTo>
                <a:lnTo>
                  <a:pt x="3448" y="523"/>
                </a:lnTo>
                <a:lnTo>
                  <a:pt x="3398" y="516"/>
                </a:lnTo>
                <a:lnTo>
                  <a:pt x="3353" y="505"/>
                </a:lnTo>
                <a:lnTo>
                  <a:pt x="3307" y="495"/>
                </a:lnTo>
                <a:lnTo>
                  <a:pt x="3264" y="480"/>
                </a:lnTo>
                <a:lnTo>
                  <a:pt x="3223" y="462"/>
                </a:lnTo>
                <a:lnTo>
                  <a:pt x="3187" y="441"/>
                </a:lnTo>
                <a:lnTo>
                  <a:pt x="3079" y="380"/>
                </a:lnTo>
                <a:lnTo>
                  <a:pt x="3079" y="380"/>
                </a:lnTo>
                <a:lnTo>
                  <a:pt x="3059" y="369"/>
                </a:lnTo>
                <a:lnTo>
                  <a:pt x="3035" y="359"/>
                </a:lnTo>
                <a:lnTo>
                  <a:pt x="3012" y="350"/>
                </a:lnTo>
                <a:lnTo>
                  <a:pt x="2986" y="344"/>
                </a:lnTo>
                <a:lnTo>
                  <a:pt x="2960" y="339"/>
                </a:lnTo>
                <a:lnTo>
                  <a:pt x="2932" y="335"/>
                </a:lnTo>
                <a:lnTo>
                  <a:pt x="2904" y="333"/>
                </a:lnTo>
                <a:lnTo>
                  <a:pt x="2874" y="331"/>
                </a:lnTo>
                <a:lnTo>
                  <a:pt x="2874" y="331"/>
                </a:lnTo>
                <a:lnTo>
                  <a:pt x="2845" y="333"/>
                </a:lnTo>
                <a:lnTo>
                  <a:pt x="2817" y="335"/>
                </a:lnTo>
                <a:lnTo>
                  <a:pt x="2789" y="339"/>
                </a:lnTo>
                <a:lnTo>
                  <a:pt x="2763" y="344"/>
                </a:lnTo>
                <a:lnTo>
                  <a:pt x="2737" y="350"/>
                </a:lnTo>
                <a:lnTo>
                  <a:pt x="2714" y="359"/>
                </a:lnTo>
                <a:lnTo>
                  <a:pt x="2690" y="369"/>
                </a:lnTo>
                <a:lnTo>
                  <a:pt x="2671" y="380"/>
                </a:lnTo>
                <a:lnTo>
                  <a:pt x="2671" y="380"/>
                </a:lnTo>
                <a:lnTo>
                  <a:pt x="2653" y="391"/>
                </a:lnTo>
                <a:lnTo>
                  <a:pt x="2638" y="402"/>
                </a:lnTo>
                <a:lnTo>
                  <a:pt x="2627" y="413"/>
                </a:lnTo>
                <a:lnTo>
                  <a:pt x="2617" y="423"/>
                </a:lnTo>
                <a:lnTo>
                  <a:pt x="2608" y="436"/>
                </a:lnTo>
                <a:lnTo>
                  <a:pt x="2604" y="449"/>
                </a:lnTo>
                <a:lnTo>
                  <a:pt x="2599" y="460"/>
                </a:lnTo>
                <a:lnTo>
                  <a:pt x="2599" y="473"/>
                </a:lnTo>
                <a:lnTo>
                  <a:pt x="2599" y="473"/>
                </a:lnTo>
                <a:lnTo>
                  <a:pt x="2599" y="486"/>
                </a:lnTo>
                <a:lnTo>
                  <a:pt x="2604" y="499"/>
                </a:lnTo>
                <a:lnTo>
                  <a:pt x="2610" y="512"/>
                </a:lnTo>
                <a:lnTo>
                  <a:pt x="2617" y="523"/>
                </a:lnTo>
                <a:lnTo>
                  <a:pt x="2627" y="536"/>
                </a:lnTo>
                <a:lnTo>
                  <a:pt x="2640" y="546"/>
                </a:lnTo>
                <a:lnTo>
                  <a:pt x="2655" y="557"/>
                </a:lnTo>
                <a:lnTo>
                  <a:pt x="2671" y="568"/>
                </a:lnTo>
                <a:lnTo>
                  <a:pt x="2776" y="626"/>
                </a:lnTo>
                <a:lnTo>
                  <a:pt x="2776" y="626"/>
                </a:lnTo>
                <a:lnTo>
                  <a:pt x="2779" y="629"/>
                </a:lnTo>
                <a:lnTo>
                  <a:pt x="2779" y="629"/>
                </a:lnTo>
                <a:lnTo>
                  <a:pt x="2815" y="652"/>
                </a:lnTo>
                <a:lnTo>
                  <a:pt x="2848" y="678"/>
                </a:lnTo>
                <a:lnTo>
                  <a:pt x="2876" y="704"/>
                </a:lnTo>
                <a:lnTo>
                  <a:pt x="2899" y="734"/>
                </a:lnTo>
                <a:lnTo>
                  <a:pt x="2917" y="765"/>
                </a:lnTo>
                <a:lnTo>
                  <a:pt x="2930" y="795"/>
                </a:lnTo>
                <a:lnTo>
                  <a:pt x="2936" y="812"/>
                </a:lnTo>
                <a:lnTo>
                  <a:pt x="2938" y="827"/>
                </a:lnTo>
                <a:lnTo>
                  <a:pt x="2940" y="844"/>
                </a:lnTo>
                <a:lnTo>
                  <a:pt x="2943" y="862"/>
                </a:lnTo>
                <a:lnTo>
                  <a:pt x="2943" y="862"/>
                </a:lnTo>
                <a:lnTo>
                  <a:pt x="2940" y="877"/>
                </a:lnTo>
                <a:lnTo>
                  <a:pt x="2940" y="894"/>
                </a:lnTo>
                <a:lnTo>
                  <a:pt x="2936" y="911"/>
                </a:lnTo>
                <a:lnTo>
                  <a:pt x="2932" y="926"/>
                </a:lnTo>
                <a:lnTo>
                  <a:pt x="2925" y="944"/>
                </a:lnTo>
                <a:lnTo>
                  <a:pt x="2919" y="959"/>
                </a:lnTo>
                <a:lnTo>
                  <a:pt x="2902" y="989"/>
                </a:lnTo>
                <a:lnTo>
                  <a:pt x="2878" y="1019"/>
                </a:lnTo>
                <a:lnTo>
                  <a:pt x="2850" y="1045"/>
                </a:lnTo>
                <a:lnTo>
                  <a:pt x="2817" y="1071"/>
                </a:lnTo>
                <a:lnTo>
                  <a:pt x="2781" y="1095"/>
                </a:lnTo>
                <a:lnTo>
                  <a:pt x="2781" y="1095"/>
                </a:lnTo>
                <a:lnTo>
                  <a:pt x="2744" y="1116"/>
                </a:lnTo>
                <a:lnTo>
                  <a:pt x="2703" y="1134"/>
                </a:lnTo>
                <a:lnTo>
                  <a:pt x="2662" y="1149"/>
                </a:lnTo>
                <a:lnTo>
                  <a:pt x="2617" y="1160"/>
                </a:lnTo>
                <a:lnTo>
                  <a:pt x="2569" y="1170"/>
                </a:lnTo>
                <a:lnTo>
                  <a:pt x="2522" y="1177"/>
                </a:lnTo>
                <a:lnTo>
                  <a:pt x="2472" y="1181"/>
                </a:lnTo>
                <a:lnTo>
                  <a:pt x="2422" y="1183"/>
                </a:lnTo>
                <a:lnTo>
                  <a:pt x="2422" y="1183"/>
                </a:lnTo>
                <a:lnTo>
                  <a:pt x="2370" y="1181"/>
                </a:lnTo>
                <a:lnTo>
                  <a:pt x="2321" y="1177"/>
                </a:lnTo>
                <a:lnTo>
                  <a:pt x="2273" y="1170"/>
                </a:lnTo>
                <a:lnTo>
                  <a:pt x="2226" y="1160"/>
                </a:lnTo>
                <a:lnTo>
                  <a:pt x="2183" y="1149"/>
                </a:lnTo>
                <a:lnTo>
                  <a:pt x="2139" y="1134"/>
                </a:lnTo>
                <a:lnTo>
                  <a:pt x="2098" y="1116"/>
                </a:lnTo>
                <a:lnTo>
                  <a:pt x="2062" y="1095"/>
                </a:lnTo>
                <a:lnTo>
                  <a:pt x="1954" y="1034"/>
                </a:lnTo>
                <a:lnTo>
                  <a:pt x="1954" y="1034"/>
                </a:lnTo>
                <a:lnTo>
                  <a:pt x="1932" y="1024"/>
                </a:lnTo>
                <a:lnTo>
                  <a:pt x="1911" y="1013"/>
                </a:lnTo>
                <a:lnTo>
                  <a:pt x="1887" y="1004"/>
                </a:lnTo>
                <a:lnTo>
                  <a:pt x="1861" y="998"/>
                </a:lnTo>
                <a:lnTo>
                  <a:pt x="1833" y="993"/>
                </a:lnTo>
                <a:lnTo>
                  <a:pt x="1805" y="989"/>
                </a:lnTo>
                <a:lnTo>
                  <a:pt x="1777" y="987"/>
                </a:lnTo>
                <a:lnTo>
                  <a:pt x="1749" y="985"/>
                </a:lnTo>
                <a:lnTo>
                  <a:pt x="1749" y="985"/>
                </a:lnTo>
                <a:lnTo>
                  <a:pt x="1721" y="987"/>
                </a:lnTo>
                <a:lnTo>
                  <a:pt x="1693" y="989"/>
                </a:lnTo>
                <a:lnTo>
                  <a:pt x="1665" y="993"/>
                </a:lnTo>
                <a:lnTo>
                  <a:pt x="1636" y="998"/>
                </a:lnTo>
                <a:lnTo>
                  <a:pt x="1613" y="1004"/>
                </a:lnTo>
                <a:lnTo>
                  <a:pt x="1587" y="1013"/>
                </a:lnTo>
                <a:lnTo>
                  <a:pt x="1565" y="1024"/>
                </a:lnTo>
                <a:lnTo>
                  <a:pt x="1544" y="1034"/>
                </a:lnTo>
                <a:lnTo>
                  <a:pt x="1544" y="1034"/>
                </a:lnTo>
                <a:lnTo>
                  <a:pt x="1529" y="1045"/>
                </a:lnTo>
                <a:lnTo>
                  <a:pt x="1513" y="1056"/>
                </a:lnTo>
                <a:lnTo>
                  <a:pt x="1500" y="1067"/>
                </a:lnTo>
                <a:lnTo>
                  <a:pt x="1492" y="1078"/>
                </a:lnTo>
                <a:lnTo>
                  <a:pt x="1483" y="1091"/>
                </a:lnTo>
                <a:lnTo>
                  <a:pt x="1477" y="1103"/>
                </a:lnTo>
                <a:lnTo>
                  <a:pt x="1475" y="1114"/>
                </a:lnTo>
                <a:lnTo>
                  <a:pt x="1472" y="1127"/>
                </a:lnTo>
                <a:lnTo>
                  <a:pt x="1472" y="1127"/>
                </a:lnTo>
                <a:lnTo>
                  <a:pt x="1475" y="1140"/>
                </a:lnTo>
                <a:lnTo>
                  <a:pt x="1479" y="1153"/>
                </a:lnTo>
                <a:lnTo>
                  <a:pt x="1483" y="1164"/>
                </a:lnTo>
                <a:lnTo>
                  <a:pt x="1492" y="1177"/>
                </a:lnTo>
                <a:lnTo>
                  <a:pt x="1503" y="1188"/>
                </a:lnTo>
                <a:lnTo>
                  <a:pt x="1513" y="1201"/>
                </a:lnTo>
                <a:lnTo>
                  <a:pt x="1529" y="1211"/>
                </a:lnTo>
                <a:lnTo>
                  <a:pt x="1546" y="1220"/>
                </a:lnTo>
                <a:lnTo>
                  <a:pt x="1548" y="1222"/>
                </a:lnTo>
                <a:lnTo>
                  <a:pt x="1654" y="1283"/>
                </a:lnTo>
                <a:lnTo>
                  <a:pt x="1654" y="1283"/>
                </a:lnTo>
                <a:lnTo>
                  <a:pt x="1690" y="1306"/>
                </a:lnTo>
                <a:lnTo>
                  <a:pt x="1723" y="1332"/>
                </a:lnTo>
                <a:lnTo>
                  <a:pt x="1751" y="1358"/>
                </a:lnTo>
                <a:lnTo>
                  <a:pt x="1775" y="1388"/>
                </a:lnTo>
                <a:lnTo>
                  <a:pt x="1792" y="1419"/>
                </a:lnTo>
                <a:lnTo>
                  <a:pt x="1805" y="1449"/>
                </a:lnTo>
                <a:lnTo>
                  <a:pt x="1809" y="1466"/>
                </a:lnTo>
                <a:lnTo>
                  <a:pt x="1813" y="1481"/>
                </a:lnTo>
                <a:lnTo>
                  <a:pt x="1816" y="1499"/>
                </a:lnTo>
                <a:lnTo>
                  <a:pt x="1816" y="1516"/>
                </a:lnTo>
                <a:lnTo>
                  <a:pt x="1816" y="1516"/>
                </a:lnTo>
                <a:lnTo>
                  <a:pt x="1816" y="1531"/>
                </a:lnTo>
                <a:lnTo>
                  <a:pt x="1813" y="1548"/>
                </a:lnTo>
                <a:lnTo>
                  <a:pt x="1807" y="1581"/>
                </a:lnTo>
                <a:lnTo>
                  <a:pt x="1794" y="1611"/>
                </a:lnTo>
                <a:lnTo>
                  <a:pt x="1777" y="1641"/>
                </a:lnTo>
                <a:lnTo>
                  <a:pt x="1755" y="1669"/>
                </a:lnTo>
                <a:lnTo>
                  <a:pt x="1729" y="1697"/>
                </a:lnTo>
                <a:lnTo>
                  <a:pt x="1697" y="1723"/>
                </a:lnTo>
                <a:lnTo>
                  <a:pt x="1660" y="1747"/>
                </a:lnTo>
                <a:lnTo>
                  <a:pt x="1660" y="1747"/>
                </a:lnTo>
                <a:lnTo>
                  <a:pt x="1656" y="1749"/>
                </a:lnTo>
                <a:lnTo>
                  <a:pt x="1656" y="1749"/>
                </a:lnTo>
                <a:lnTo>
                  <a:pt x="1619" y="1768"/>
                </a:lnTo>
                <a:lnTo>
                  <a:pt x="1578" y="1788"/>
                </a:lnTo>
                <a:lnTo>
                  <a:pt x="1535" y="1801"/>
                </a:lnTo>
                <a:lnTo>
                  <a:pt x="1490" y="1814"/>
                </a:lnTo>
                <a:lnTo>
                  <a:pt x="1444" y="1825"/>
                </a:lnTo>
                <a:lnTo>
                  <a:pt x="1397" y="1831"/>
                </a:lnTo>
                <a:lnTo>
                  <a:pt x="1347" y="1835"/>
                </a:lnTo>
                <a:lnTo>
                  <a:pt x="1295" y="1838"/>
                </a:lnTo>
                <a:lnTo>
                  <a:pt x="1295" y="1838"/>
                </a:lnTo>
                <a:lnTo>
                  <a:pt x="1246" y="1835"/>
                </a:lnTo>
                <a:lnTo>
                  <a:pt x="1196" y="1831"/>
                </a:lnTo>
                <a:lnTo>
                  <a:pt x="1149" y="1825"/>
                </a:lnTo>
                <a:lnTo>
                  <a:pt x="1101" y="1814"/>
                </a:lnTo>
                <a:lnTo>
                  <a:pt x="1056" y="1801"/>
                </a:lnTo>
                <a:lnTo>
                  <a:pt x="1015" y="1788"/>
                </a:lnTo>
                <a:lnTo>
                  <a:pt x="974" y="1771"/>
                </a:lnTo>
                <a:lnTo>
                  <a:pt x="935" y="1749"/>
                </a:lnTo>
                <a:lnTo>
                  <a:pt x="829" y="1689"/>
                </a:lnTo>
                <a:lnTo>
                  <a:pt x="829" y="1689"/>
                </a:lnTo>
                <a:lnTo>
                  <a:pt x="807" y="1678"/>
                </a:lnTo>
                <a:lnTo>
                  <a:pt x="786" y="1667"/>
                </a:lnTo>
                <a:lnTo>
                  <a:pt x="762" y="1660"/>
                </a:lnTo>
                <a:lnTo>
                  <a:pt x="736" y="1652"/>
                </a:lnTo>
                <a:lnTo>
                  <a:pt x="708" y="1648"/>
                </a:lnTo>
                <a:lnTo>
                  <a:pt x="680" y="1643"/>
                </a:lnTo>
                <a:lnTo>
                  <a:pt x="652" y="1641"/>
                </a:lnTo>
                <a:lnTo>
                  <a:pt x="624" y="1639"/>
                </a:lnTo>
                <a:lnTo>
                  <a:pt x="624" y="1639"/>
                </a:lnTo>
                <a:lnTo>
                  <a:pt x="594" y="1641"/>
                </a:lnTo>
                <a:lnTo>
                  <a:pt x="566" y="1643"/>
                </a:lnTo>
                <a:lnTo>
                  <a:pt x="538" y="1648"/>
                </a:lnTo>
                <a:lnTo>
                  <a:pt x="512" y="1652"/>
                </a:lnTo>
                <a:lnTo>
                  <a:pt x="486" y="1660"/>
                </a:lnTo>
                <a:lnTo>
                  <a:pt x="462" y="1667"/>
                </a:lnTo>
                <a:lnTo>
                  <a:pt x="438" y="1678"/>
                </a:lnTo>
                <a:lnTo>
                  <a:pt x="419" y="1689"/>
                </a:lnTo>
                <a:lnTo>
                  <a:pt x="419" y="1689"/>
                </a:lnTo>
                <a:lnTo>
                  <a:pt x="402" y="1699"/>
                </a:lnTo>
                <a:lnTo>
                  <a:pt x="386" y="1710"/>
                </a:lnTo>
                <a:lnTo>
                  <a:pt x="376" y="1721"/>
                </a:lnTo>
                <a:lnTo>
                  <a:pt x="365" y="1734"/>
                </a:lnTo>
                <a:lnTo>
                  <a:pt x="356" y="1745"/>
                </a:lnTo>
                <a:lnTo>
                  <a:pt x="350" y="1758"/>
                </a:lnTo>
                <a:lnTo>
                  <a:pt x="348" y="1771"/>
                </a:lnTo>
                <a:lnTo>
                  <a:pt x="345" y="1781"/>
                </a:lnTo>
                <a:lnTo>
                  <a:pt x="345" y="1781"/>
                </a:lnTo>
                <a:lnTo>
                  <a:pt x="348" y="1794"/>
                </a:lnTo>
                <a:lnTo>
                  <a:pt x="352" y="1807"/>
                </a:lnTo>
                <a:lnTo>
                  <a:pt x="356" y="1820"/>
                </a:lnTo>
                <a:lnTo>
                  <a:pt x="365" y="1833"/>
                </a:lnTo>
                <a:lnTo>
                  <a:pt x="376" y="1844"/>
                </a:lnTo>
                <a:lnTo>
                  <a:pt x="389" y="1855"/>
                </a:lnTo>
                <a:lnTo>
                  <a:pt x="404" y="1868"/>
                </a:lnTo>
                <a:lnTo>
                  <a:pt x="419" y="1876"/>
                </a:lnTo>
                <a:lnTo>
                  <a:pt x="2990" y="3377"/>
                </a:lnTo>
                <a:lnTo>
                  <a:pt x="2457" y="3377"/>
                </a:lnTo>
                <a:lnTo>
                  <a:pt x="194" y="2058"/>
                </a:lnTo>
                <a:close/>
              </a:path>
            </a:pathLst>
          </a:custGeom>
          <a:solidFill>
            <a:srgbClr val="DCDCDC"/>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44" name="Freeform 1228"/>
          <p:cNvSpPr/>
          <p:nvPr/>
        </p:nvSpPr>
        <p:spPr bwMode="auto">
          <a:xfrm rot="300000">
            <a:off x="1696720" y="2472690"/>
            <a:ext cx="7844155" cy="6374765"/>
          </a:xfrm>
          <a:custGeom>
            <a:avLst/>
            <a:gdLst>
              <a:gd name="T0" fmla="*/ 63 w 4128"/>
              <a:gd name="T1" fmla="*/ 1950 h 3377"/>
              <a:gd name="T2" fmla="*/ 4 w 4128"/>
              <a:gd name="T3" fmla="*/ 1822 h 3377"/>
              <a:gd name="T4" fmla="*/ 13 w 4128"/>
              <a:gd name="T5" fmla="*/ 1704 h 3377"/>
              <a:gd name="T6" fmla="*/ 93 w 4128"/>
              <a:gd name="T7" fmla="*/ 1581 h 3377"/>
              <a:gd name="T8" fmla="*/ 335 w 4128"/>
              <a:gd name="T9" fmla="*/ 1445 h 3377"/>
              <a:gd name="T10" fmla="*/ 682 w 4128"/>
              <a:gd name="T11" fmla="*/ 1406 h 3377"/>
              <a:gd name="T12" fmla="*/ 1056 w 4128"/>
              <a:gd name="T13" fmla="*/ 1507 h 3377"/>
              <a:gd name="T14" fmla="*/ 1295 w 4128"/>
              <a:gd name="T15" fmla="*/ 1600 h 3377"/>
              <a:gd name="T16" fmla="*/ 1459 w 4128"/>
              <a:gd name="T17" fmla="*/ 1544 h 3377"/>
              <a:gd name="T18" fmla="*/ 1459 w 4128"/>
              <a:gd name="T19" fmla="*/ 1490 h 3377"/>
              <a:gd name="T20" fmla="*/ 1222 w 4128"/>
              <a:gd name="T21" fmla="*/ 1328 h 3377"/>
              <a:gd name="T22" fmla="*/ 1140 w 4128"/>
              <a:gd name="T23" fmla="*/ 1207 h 3377"/>
              <a:gd name="T24" fmla="*/ 1131 w 4128"/>
              <a:gd name="T25" fmla="*/ 1091 h 3377"/>
              <a:gd name="T26" fmla="*/ 1187 w 4128"/>
              <a:gd name="T27" fmla="*/ 961 h 3377"/>
              <a:gd name="T28" fmla="*/ 1362 w 4128"/>
              <a:gd name="T29" fmla="*/ 829 h 3377"/>
              <a:gd name="T30" fmla="*/ 1749 w 4128"/>
              <a:gd name="T31" fmla="*/ 749 h 3377"/>
              <a:gd name="T32" fmla="*/ 2086 w 4128"/>
              <a:gd name="T33" fmla="*/ 808 h 3377"/>
              <a:gd name="T34" fmla="*/ 2383 w 4128"/>
              <a:gd name="T35" fmla="*/ 944 h 3377"/>
              <a:gd name="T36" fmla="*/ 2554 w 4128"/>
              <a:gd name="T37" fmla="*/ 916 h 3377"/>
              <a:gd name="T38" fmla="*/ 2595 w 4128"/>
              <a:gd name="T39" fmla="*/ 855 h 3377"/>
              <a:gd name="T40" fmla="*/ 2403 w 4128"/>
              <a:gd name="T41" fmla="*/ 721 h 3377"/>
              <a:gd name="T42" fmla="*/ 2282 w 4128"/>
              <a:gd name="T43" fmla="*/ 590 h 3377"/>
              <a:gd name="T44" fmla="*/ 2254 w 4128"/>
              <a:gd name="T45" fmla="*/ 475 h 3377"/>
              <a:gd name="T46" fmla="*/ 2291 w 4128"/>
              <a:gd name="T47" fmla="*/ 341 h 3377"/>
              <a:gd name="T48" fmla="*/ 2442 w 4128"/>
              <a:gd name="T49" fmla="*/ 199 h 3377"/>
              <a:gd name="T50" fmla="*/ 2755 w 4128"/>
              <a:gd name="T51" fmla="*/ 102 h 3377"/>
              <a:gd name="T52" fmla="*/ 3107 w 4128"/>
              <a:gd name="T53" fmla="*/ 121 h 3377"/>
              <a:gd name="T54" fmla="*/ 3441 w 4128"/>
              <a:gd name="T55" fmla="*/ 274 h 3377"/>
              <a:gd name="T56" fmla="*/ 3651 w 4128"/>
              <a:gd name="T57" fmla="*/ 274 h 3377"/>
              <a:gd name="T58" fmla="*/ 3869 w 4128"/>
              <a:gd name="T59" fmla="*/ 462 h 3377"/>
              <a:gd name="T60" fmla="*/ 3547 w 4128"/>
              <a:gd name="T61" fmla="*/ 529 h 3377"/>
              <a:gd name="T62" fmla="*/ 3353 w 4128"/>
              <a:gd name="T63" fmla="*/ 505 h 3377"/>
              <a:gd name="T64" fmla="*/ 3059 w 4128"/>
              <a:gd name="T65" fmla="*/ 369 h 3377"/>
              <a:gd name="T66" fmla="*/ 2874 w 4128"/>
              <a:gd name="T67" fmla="*/ 331 h 3377"/>
              <a:gd name="T68" fmla="*/ 2714 w 4128"/>
              <a:gd name="T69" fmla="*/ 359 h 3377"/>
              <a:gd name="T70" fmla="*/ 2617 w 4128"/>
              <a:gd name="T71" fmla="*/ 423 h 3377"/>
              <a:gd name="T72" fmla="*/ 2604 w 4128"/>
              <a:gd name="T73" fmla="*/ 499 h 3377"/>
              <a:gd name="T74" fmla="*/ 2776 w 4128"/>
              <a:gd name="T75" fmla="*/ 626 h 3377"/>
              <a:gd name="T76" fmla="*/ 2899 w 4128"/>
              <a:gd name="T77" fmla="*/ 734 h 3377"/>
              <a:gd name="T78" fmla="*/ 2943 w 4128"/>
              <a:gd name="T79" fmla="*/ 862 h 3377"/>
              <a:gd name="T80" fmla="*/ 2902 w 4128"/>
              <a:gd name="T81" fmla="*/ 989 h 3377"/>
              <a:gd name="T82" fmla="*/ 2703 w 4128"/>
              <a:gd name="T83" fmla="*/ 1134 h 3377"/>
              <a:gd name="T84" fmla="*/ 2422 w 4128"/>
              <a:gd name="T85" fmla="*/ 1183 h 3377"/>
              <a:gd name="T86" fmla="*/ 2098 w 4128"/>
              <a:gd name="T87" fmla="*/ 1116 h 3377"/>
              <a:gd name="T88" fmla="*/ 1861 w 4128"/>
              <a:gd name="T89" fmla="*/ 998 h 3377"/>
              <a:gd name="T90" fmla="*/ 1693 w 4128"/>
              <a:gd name="T91" fmla="*/ 989 h 3377"/>
              <a:gd name="T92" fmla="*/ 1544 w 4128"/>
              <a:gd name="T93" fmla="*/ 1034 h 3377"/>
              <a:gd name="T94" fmla="*/ 1475 w 4128"/>
              <a:gd name="T95" fmla="*/ 1114 h 3377"/>
              <a:gd name="T96" fmla="*/ 1503 w 4128"/>
              <a:gd name="T97" fmla="*/ 1188 h 3377"/>
              <a:gd name="T98" fmla="*/ 1690 w 4128"/>
              <a:gd name="T99" fmla="*/ 1306 h 3377"/>
              <a:gd name="T100" fmla="*/ 1813 w 4128"/>
              <a:gd name="T101" fmla="*/ 1481 h 3377"/>
              <a:gd name="T102" fmla="*/ 1794 w 4128"/>
              <a:gd name="T103" fmla="*/ 1611 h 3377"/>
              <a:gd name="T104" fmla="*/ 1656 w 4128"/>
              <a:gd name="T105" fmla="*/ 1749 h 3377"/>
              <a:gd name="T106" fmla="*/ 1397 w 4128"/>
              <a:gd name="T107" fmla="*/ 1831 h 3377"/>
              <a:gd name="T108" fmla="*/ 1101 w 4128"/>
              <a:gd name="T109" fmla="*/ 1814 h 3377"/>
              <a:gd name="T110" fmla="*/ 807 w 4128"/>
              <a:gd name="T111" fmla="*/ 1678 h 3377"/>
              <a:gd name="T112" fmla="*/ 624 w 4128"/>
              <a:gd name="T113" fmla="*/ 1639 h 3377"/>
              <a:gd name="T114" fmla="*/ 462 w 4128"/>
              <a:gd name="T115" fmla="*/ 1667 h 3377"/>
              <a:gd name="T116" fmla="*/ 365 w 4128"/>
              <a:gd name="T117" fmla="*/ 1734 h 3377"/>
              <a:gd name="T118" fmla="*/ 352 w 4128"/>
              <a:gd name="T119" fmla="*/ 1807 h 3377"/>
              <a:gd name="T120" fmla="*/ 2990 w 4128"/>
              <a:gd name="T121" fmla="*/ 3377 h 3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28" h="3377">
                <a:moveTo>
                  <a:pt x="194" y="2058"/>
                </a:moveTo>
                <a:lnTo>
                  <a:pt x="194" y="2058"/>
                </a:lnTo>
                <a:lnTo>
                  <a:pt x="149" y="2030"/>
                </a:lnTo>
                <a:lnTo>
                  <a:pt x="110" y="1999"/>
                </a:lnTo>
                <a:lnTo>
                  <a:pt x="93" y="1984"/>
                </a:lnTo>
                <a:lnTo>
                  <a:pt x="78" y="1967"/>
                </a:lnTo>
                <a:lnTo>
                  <a:pt x="63" y="1950"/>
                </a:lnTo>
                <a:lnTo>
                  <a:pt x="50" y="1933"/>
                </a:lnTo>
                <a:lnTo>
                  <a:pt x="39" y="1915"/>
                </a:lnTo>
                <a:lnTo>
                  <a:pt x="28" y="1898"/>
                </a:lnTo>
                <a:lnTo>
                  <a:pt x="22" y="1879"/>
                </a:lnTo>
                <a:lnTo>
                  <a:pt x="13" y="1859"/>
                </a:lnTo>
                <a:lnTo>
                  <a:pt x="9" y="1842"/>
                </a:lnTo>
                <a:lnTo>
                  <a:pt x="4" y="1822"/>
                </a:lnTo>
                <a:lnTo>
                  <a:pt x="2" y="1801"/>
                </a:lnTo>
                <a:lnTo>
                  <a:pt x="0" y="1781"/>
                </a:lnTo>
                <a:lnTo>
                  <a:pt x="0" y="1781"/>
                </a:lnTo>
                <a:lnTo>
                  <a:pt x="2" y="1762"/>
                </a:lnTo>
                <a:lnTo>
                  <a:pt x="4" y="1743"/>
                </a:lnTo>
                <a:lnTo>
                  <a:pt x="9" y="1723"/>
                </a:lnTo>
                <a:lnTo>
                  <a:pt x="13" y="1704"/>
                </a:lnTo>
                <a:lnTo>
                  <a:pt x="19" y="1686"/>
                </a:lnTo>
                <a:lnTo>
                  <a:pt x="28" y="1667"/>
                </a:lnTo>
                <a:lnTo>
                  <a:pt x="39" y="1650"/>
                </a:lnTo>
                <a:lnTo>
                  <a:pt x="50" y="1632"/>
                </a:lnTo>
                <a:lnTo>
                  <a:pt x="63" y="1615"/>
                </a:lnTo>
                <a:lnTo>
                  <a:pt x="78" y="1598"/>
                </a:lnTo>
                <a:lnTo>
                  <a:pt x="93" y="1581"/>
                </a:lnTo>
                <a:lnTo>
                  <a:pt x="110" y="1566"/>
                </a:lnTo>
                <a:lnTo>
                  <a:pt x="147" y="1535"/>
                </a:lnTo>
                <a:lnTo>
                  <a:pt x="190" y="1507"/>
                </a:lnTo>
                <a:lnTo>
                  <a:pt x="190" y="1507"/>
                </a:lnTo>
                <a:lnTo>
                  <a:pt x="235" y="1483"/>
                </a:lnTo>
                <a:lnTo>
                  <a:pt x="285" y="1464"/>
                </a:lnTo>
                <a:lnTo>
                  <a:pt x="335" y="1445"/>
                </a:lnTo>
                <a:lnTo>
                  <a:pt x="389" y="1429"/>
                </a:lnTo>
                <a:lnTo>
                  <a:pt x="445" y="1419"/>
                </a:lnTo>
                <a:lnTo>
                  <a:pt x="503" y="1410"/>
                </a:lnTo>
                <a:lnTo>
                  <a:pt x="561" y="1406"/>
                </a:lnTo>
                <a:lnTo>
                  <a:pt x="622" y="1404"/>
                </a:lnTo>
                <a:lnTo>
                  <a:pt x="622" y="1404"/>
                </a:lnTo>
                <a:lnTo>
                  <a:pt x="682" y="1406"/>
                </a:lnTo>
                <a:lnTo>
                  <a:pt x="743" y="1410"/>
                </a:lnTo>
                <a:lnTo>
                  <a:pt x="801" y="1419"/>
                </a:lnTo>
                <a:lnTo>
                  <a:pt x="857" y="1429"/>
                </a:lnTo>
                <a:lnTo>
                  <a:pt x="911" y="1445"/>
                </a:lnTo>
                <a:lnTo>
                  <a:pt x="961" y="1464"/>
                </a:lnTo>
                <a:lnTo>
                  <a:pt x="1010" y="1483"/>
                </a:lnTo>
                <a:lnTo>
                  <a:pt x="1056" y="1507"/>
                </a:lnTo>
                <a:lnTo>
                  <a:pt x="1161" y="1570"/>
                </a:lnTo>
                <a:lnTo>
                  <a:pt x="1161" y="1570"/>
                </a:lnTo>
                <a:lnTo>
                  <a:pt x="1190" y="1583"/>
                </a:lnTo>
                <a:lnTo>
                  <a:pt x="1222" y="1591"/>
                </a:lnTo>
                <a:lnTo>
                  <a:pt x="1259" y="1598"/>
                </a:lnTo>
                <a:lnTo>
                  <a:pt x="1295" y="1600"/>
                </a:lnTo>
                <a:lnTo>
                  <a:pt x="1295" y="1600"/>
                </a:lnTo>
                <a:lnTo>
                  <a:pt x="1332" y="1598"/>
                </a:lnTo>
                <a:lnTo>
                  <a:pt x="1369" y="1591"/>
                </a:lnTo>
                <a:lnTo>
                  <a:pt x="1401" y="1583"/>
                </a:lnTo>
                <a:lnTo>
                  <a:pt x="1429" y="1570"/>
                </a:lnTo>
                <a:lnTo>
                  <a:pt x="1429" y="1570"/>
                </a:lnTo>
                <a:lnTo>
                  <a:pt x="1446" y="1557"/>
                </a:lnTo>
                <a:lnTo>
                  <a:pt x="1459" y="1544"/>
                </a:lnTo>
                <a:lnTo>
                  <a:pt x="1468" y="1529"/>
                </a:lnTo>
                <a:lnTo>
                  <a:pt x="1470" y="1522"/>
                </a:lnTo>
                <a:lnTo>
                  <a:pt x="1470" y="1516"/>
                </a:lnTo>
                <a:lnTo>
                  <a:pt x="1470" y="1516"/>
                </a:lnTo>
                <a:lnTo>
                  <a:pt x="1470" y="1509"/>
                </a:lnTo>
                <a:lnTo>
                  <a:pt x="1468" y="1503"/>
                </a:lnTo>
                <a:lnTo>
                  <a:pt x="1459" y="1490"/>
                </a:lnTo>
                <a:lnTo>
                  <a:pt x="1446" y="1477"/>
                </a:lnTo>
                <a:lnTo>
                  <a:pt x="1427" y="1464"/>
                </a:lnTo>
                <a:lnTo>
                  <a:pt x="1319" y="1401"/>
                </a:lnTo>
                <a:lnTo>
                  <a:pt x="1319" y="1401"/>
                </a:lnTo>
                <a:lnTo>
                  <a:pt x="1276" y="1373"/>
                </a:lnTo>
                <a:lnTo>
                  <a:pt x="1239" y="1345"/>
                </a:lnTo>
                <a:lnTo>
                  <a:pt x="1222" y="1328"/>
                </a:lnTo>
                <a:lnTo>
                  <a:pt x="1205" y="1313"/>
                </a:lnTo>
                <a:lnTo>
                  <a:pt x="1192" y="1296"/>
                </a:lnTo>
                <a:lnTo>
                  <a:pt x="1179" y="1278"/>
                </a:lnTo>
                <a:lnTo>
                  <a:pt x="1166" y="1261"/>
                </a:lnTo>
                <a:lnTo>
                  <a:pt x="1157" y="1244"/>
                </a:lnTo>
                <a:lnTo>
                  <a:pt x="1149" y="1224"/>
                </a:lnTo>
                <a:lnTo>
                  <a:pt x="1140" y="1207"/>
                </a:lnTo>
                <a:lnTo>
                  <a:pt x="1136" y="1188"/>
                </a:lnTo>
                <a:lnTo>
                  <a:pt x="1131" y="1168"/>
                </a:lnTo>
                <a:lnTo>
                  <a:pt x="1129" y="1149"/>
                </a:lnTo>
                <a:lnTo>
                  <a:pt x="1127" y="1129"/>
                </a:lnTo>
                <a:lnTo>
                  <a:pt x="1127" y="1129"/>
                </a:lnTo>
                <a:lnTo>
                  <a:pt x="1129" y="1110"/>
                </a:lnTo>
                <a:lnTo>
                  <a:pt x="1131" y="1091"/>
                </a:lnTo>
                <a:lnTo>
                  <a:pt x="1133" y="1071"/>
                </a:lnTo>
                <a:lnTo>
                  <a:pt x="1140" y="1052"/>
                </a:lnTo>
                <a:lnTo>
                  <a:pt x="1146" y="1032"/>
                </a:lnTo>
                <a:lnTo>
                  <a:pt x="1155" y="1015"/>
                </a:lnTo>
                <a:lnTo>
                  <a:pt x="1164" y="996"/>
                </a:lnTo>
                <a:lnTo>
                  <a:pt x="1177" y="978"/>
                </a:lnTo>
                <a:lnTo>
                  <a:pt x="1187" y="961"/>
                </a:lnTo>
                <a:lnTo>
                  <a:pt x="1203" y="944"/>
                </a:lnTo>
                <a:lnTo>
                  <a:pt x="1218" y="926"/>
                </a:lnTo>
                <a:lnTo>
                  <a:pt x="1235" y="911"/>
                </a:lnTo>
                <a:lnTo>
                  <a:pt x="1274" y="881"/>
                </a:lnTo>
                <a:lnTo>
                  <a:pt x="1317" y="853"/>
                </a:lnTo>
                <a:lnTo>
                  <a:pt x="1317" y="853"/>
                </a:lnTo>
                <a:lnTo>
                  <a:pt x="1362" y="829"/>
                </a:lnTo>
                <a:lnTo>
                  <a:pt x="1410" y="808"/>
                </a:lnTo>
                <a:lnTo>
                  <a:pt x="1462" y="790"/>
                </a:lnTo>
                <a:lnTo>
                  <a:pt x="1516" y="775"/>
                </a:lnTo>
                <a:lnTo>
                  <a:pt x="1572" y="765"/>
                </a:lnTo>
                <a:lnTo>
                  <a:pt x="1628" y="756"/>
                </a:lnTo>
                <a:lnTo>
                  <a:pt x="1688" y="752"/>
                </a:lnTo>
                <a:lnTo>
                  <a:pt x="1749" y="749"/>
                </a:lnTo>
                <a:lnTo>
                  <a:pt x="1749" y="749"/>
                </a:lnTo>
                <a:lnTo>
                  <a:pt x="1809" y="752"/>
                </a:lnTo>
                <a:lnTo>
                  <a:pt x="1867" y="756"/>
                </a:lnTo>
                <a:lnTo>
                  <a:pt x="1926" y="765"/>
                </a:lnTo>
                <a:lnTo>
                  <a:pt x="1982" y="775"/>
                </a:lnTo>
                <a:lnTo>
                  <a:pt x="2036" y="790"/>
                </a:lnTo>
                <a:lnTo>
                  <a:pt x="2086" y="808"/>
                </a:lnTo>
                <a:lnTo>
                  <a:pt x="2135" y="829"/>
                </a:lnTo>
                <a:lnTo>
                  <a:pt x="2180" y="853"/>
                </a:lnTo>
                <a:lnTo>
                  <a:pt x="2286" y="916"/>
                </a:lnTo>
                <a:lnTo>
                  <a:pt x="2286" y="916"/>
                </a:lnTo>
                <a:lnTo>
                  <a:pt x="2314" y="929"/>
                </a:lnTo>
                <a:lnTo>
                  <a:pt x="2347" y="937"/>
                </a:lnTo>
                <a:lnTo>
                  <a:pt x="2383" y="944"/>
                </a:lnTo>
                <a:lnTo>
                  <a:pt x="2420" y="946"/>
                </a:lnTo>
                <a:lnTo>
                  <a:pt x="2420" y="946"/>
                </a:lnTo>
                <a:lnTo>
                  <a:pt x="2459" y="944"/>
                </a:lnTo>
                <a:lnTo>
                  <a:pt x="2494" y="937"/>
                </a:lnTo>
                <a:lnTo>
                  <a:pt x="2526" y="929"/>
                </a:lnTo>
                <a:lnTo>
                  <a:pt x="2554" y="916"/>
                </a:lnTo>
                <a:lnTo>
                  <a:pt x="2554" y="916"/>
                </a:lnTo>
                <a:lnTo>
                  <a:pt x="2571" y="903"/>
                </a:lnTo>
                <a:lnTo>
                  <a:pt x="2586" y="890"/>
                </a:lnTo>
                <a:lnTo>
                  <a:pt x="2593" y="875"/>
                </a:lnTo>
                <a:lnTo>
                  <a:pt x="2595" y="868"/>
                </a:lnTo>
                <a:lnTo>
                  <a:pt x="2597" y="862"/>
                </a:lnTo>
                <a:lnTo>
                  <a:pt x="2597" y="862"/>
                </a:lnTo>
                <a:lnTo>
                  <a:pt x="2595" y="855"/>
                </a:lnTo>
                <a:lnTo>
                  <a:pt x="2593" y="849"/>
                </a:lnTo>
                <a:lnTo>
                  <a:pt x="2584" y="836"/>
                </a:lnTo>
                <a:lnTo>
                  <a:pt x="2571" y="823"/>
                </a:lnTo>
                <a:lnTo>
                  <a:pt x="2554" y="810"/>
                </a:lnTo>
                <a:lnTo>
                  <a:pt x="2446" y="747"/>
                </a:lnTo>
                <a:lnTo>
                  <a:pt x="2446" y="747"/>
                </a:lnTo>
                <a:lnTo>
                  <a:pt x="2403" y="721"/>
                </a:lnTo>
                <a:lnTo>
                  <a:pt x="2364" y="691"/>
                </a:lnTo>
                <a:lnTo>
                  <a:pt x="2347" y="674"/>
                </a:lnTo>
                <a:lnTo>
                  <a:pt x="2332" y="659"/>
                </a:lnTo>
                <a:lnTo>
                  <a:pt x="2317" y="641"/>
                </a:lnTo>
                <a:lnTo>
                  <a:pt x="2304" y="624"/>
                </a:lnTo>
                <a:lnTo>
                  <a:pt x="2293" y="607"/>
                </a:lnTo>
                <a:lnTo>
                  <a:pt x="2282" y="590"/>
                </a:lnTo>
                <a:lnTo>
                  <a:pt x="2273" y="570"/>
                </a:lnTo>
                <a:lnTo>
                  <a:pt x="2267" y="553"/>
                </a:lnTo>
                <a:lnTo>
                  <a:pt x="2260" y="534"/>
                </a:lnTo>
                <a:lnTo>
                  <a:pt x="2256" y="514"/>
                </a:lnTo>
                <a:lnTo>
                  <a:pt x="2254" y="495"/>
                </a:lnTo>
                <a:lnTo>
                  <a:pt x="2254" y="475"/>
                </a:lnTo>
                <a:lnTo>
                  <a:pt x="2254" y="475"/>
                </a:lnTo>
                <a:lnTo>
                  <a:pt x="2254" y="456"/>
                </a:lnTo>
                <a:lnTo>
                  <a:pt x="2256" y="436"/>
                </a:lnTo>
                <a:lnTo>
                  <a:pt x="2260" y="417"/>
                </a:lnTo>
                <a:lnTo>
                  <a:pt x="2265" y="398"/>
                </a:lnTo>
                <a:lnTo>
                  <a:pt x="2271" y="378"/>
                </a:lnTo>
                <a:lnTo>
                  <a:pt x="2280" y="361"/>
                </a:lnTo>
                <a:lnTo>
                  <a:pt x="2291" y="341"/>
                </a:lnTo>
                <a:lnTo>
                  <a:pt x="2301" y="324"/>
                </a:lnTo>
                <a:lnTo>
                  <a:pt x="2314" y="307"/>
                </a:lnTo>
                <a:lnTo>
                  <a:pt x="2327" y="290"/>
                </a:lnTo>
                <a:lnTo>
                  <a:pt x="2345" y="274"/>
                </a:lnTo>
                <a:lnTo>
                  <a:pt x="2360" y="257"/>
                </a:lnTo>
                <a:lnTo>
                  <a:pt x="2399" y="227"/>
                </a:lnTo>
                <a:lnTo>
                  <a:pt x="2442" y="199"/>
                </a:lnTo>
                <a:lnTo>
                  <a:pt x="2442" y="199"/>
                </a:lnTo>
                <a:lnTo>
                  <a:pt x="2487" y="175"/>
                </a:lnTo>
                <a:lnTo>
                  <a:pt x="2537" y="154"/>
                </a:lnTo>
                <a:lnTo>
                  <a:pt x="2586" y="136"/>
                </a:lnTo>
                <a:lnTo>
                  <a:pt x="2640" y="121"/>
                </a:lnTo>
                <a:lnTo>
                  <a:pt x="2696" y="110"/>
                </a:lnTo>
                <a:lnTo>
                  <a:pt x="2755" y="102"/>
                </a:lnTo>
                <a:lnTo>
                  <a:pt x="2813" y="97"/>
                </a:lnTo>
                <a:lnTo>
                  <a:pt x="2874" y="95"/>
                </a:lnTo>
                <a:lnTo>
                  <a:pt x="2874" y="95"/>
                </a:lnTo>
                <a:lnTo>
                  <a:pt x="2934" y="97"/>
                </a:lnTo>
                <a:lnTo>
                  <a:pt x="2992" y="102"/>
                </a:lnTo>
                <a:lnTo>
                  <a:pt x="3051" y="110"/>
                </a:lnTo>
                <a:lnTo>
                  <a:pt x="3107" y="121"/>
                </a:lnTo>
                <a:lnTo>
                  <a:pt x="3161" y="136"/>
                </a:lnTo>
                <a:lnTo>
                  <a:pt x="3212" y="154"/>
                </a:lnTo>
                <a:lnTo>
                  <a:pt x="3260" y="175"/>
                </a:lnTo>
                <a:lnTo>
                  <a:pt x="3305" y="199"/>
                </a:lnTo>
                <a:lnTo>
                  <a:pt x="3413" y="262"/>
                </a:lnTo>
                <a:lnTo>
                  <a:pt x="3413" y="262"/>
                </a:lnTo>
                <a:lnTo>
                  <a:pt x="3441" y="274"/>
                </a:lnTo>
                <a:lnTo>
                  <a:pt x="3474" y="283"/>
                </a:lnTo>
                <a:lnTo>
                  <a:pt x="3508" y="290"/>
                </a:lnTo>
                <a:lnTo>
                  <a:pt x="3547" y="292"/>
                </a:lnTo>
                <a:lnTo>
                  <a:pt x="3547" y="292"/>
                </a:lnTo>
                <a:lnTo>
                  <a:pt x="3584" y="290"/>
                </a:lnTo>
                <a:lnTo>
                  <a:pt x="3618" y="283"/>
                </a:lnTo>
                <a:lnTo>
                  <a:pt x="3651" y="274"/>
                </a:lnTo>
                <a:lnTo>
                  <a:pt x="3679" y="262"/>
                </a:lnTo>
                <a:lnTo>
                  <a:pt x="4128" y="0"/>
                </a:lnTo>
                <a:lnTo>
                  <a:pt x="4128" y="313"/>
                </a:lnTo>
                <a:lnTo>
                  <a:pt x="4091" y="335"/>
                </a:lnTo>
                <a:lnTo>
                  <a:pt x="3908" y="441"/>
                </a:lnTo>
                <a:lnTo>
                  <a:pt x="3908" y="441"/>
                </a:lnTo>
                <a:lnTo>
                  <a:pt x="3869" y="462"/>
                </a:lnTo>
                <a:lnTo>
                  <a:pt x="3830" y="480"/>
                </a:lnTo>
                <a:lnTo>
                  <a:pt x="3787" y="495"/>
                </a:lnTo>
                <a:lnTo>
                  <a:pt x="3741" y="505"/>
                </a:lnTo>
                <a:lnTo>
                  <a:pt x="3696" y="516"/>
                </a:lnTo>
                <a:lnTo>
                  <a:pt x="3646" y="523"/>
                </a:lnTo>
                <a:lnTo>
                  <a:pt x="3597" y="527"/>
                </a:lnTo>
                <a:lnTo>
                  <a:pt x="3547" y="529"/>
                </a:lnTo>
                <a:lnTo>
                  <a:pt x="3547" y="529"/>
                </a:lnTo>
                <a:lnTo>
                  <a:pt x="3547" y="529"/>
                </a:lnTo>
                <a:lnTo>
                  <a:pt x="3547" y="529"/>
                </a:lnTo>
                <a:lnTo>
                  <a:pt x="3497" y="527"/>
                </a:lnTo>
                <a:lnTo>
                  <a:pt x="3448" y="523"/>
                </a:lnTo>
                <a:lnTo>
                  <a:pt x="3398" y="516"/>
                </a:lnTo>
                <a:lnTo>
                  <a:pt x="3353" y="505"/>
                </a:lnTo>
                <a:lnTo>
                  <a:pt x="3307" y="495"/>
                </a:lnTo>
                <a:lnTo>
                  <a:pt x="3264" y="480"/>
                </a:lnTo>
                <a:lnTo>
                  <a:pt x="3223" y="462"/>
                </a:lnTo>
                <a:lnTo>
                  <a:pt x="3187" y="441"/>
                </a:lnTo>
                <a:lnTo>
                  <a:pt x="3079" y="380"/>
                </a:lnTo>
                <a:lnTo>
                  <a:pt x="3079" y="380"/>
                </a:lnTo>
                <a:lnTo>
                  <a:pt x="3059" y="369"/>
                </a:lnTo>
                <a:lnTo>
                  <a:pt x="3035" y="359"/>
                </a:lnTo>
                <a:lnTo>
                  <a:pt x="3012" y="350"/>
                </a:lnTo>
                <a:lnTo>
                  <a:pt x="2986" y="344"/>
                </a:lnTo>
                <a:lnTo>
                  <a:pt x="2960" y="339"/>
                </a:lnTo>
                <a:lnTo>
                  <a:pt x="2932" y="335"/>
                </a:lnTo>
                <a:lnTo>
                  <a:pt x="2904" y="333"/>
                </a:lnTo>
                <a:lnTo>
                  <a:pt x="2874" y="331"/>
                </a:lnTo>
                <a:lnTo>
                  <a:pt x="2874" y="331"/>
                </a:lnTo>
                <a:lnTo>
                  <a:pt x="2845" y="333"/>
                </a:lnTo>
                <a:lnTo>
                  <a:pt x="2817" y="335"/>
                </a:lnTo>
                <a:lnTo>
                  <a:pt x="2789" y="339"/>
                </a:lnTo>
                <a:lnTo>
                  <a:pt x="2763" y="344"/>
                </a:lnTo>
                <a:lnTo>
                  <a:pt x="2737" y="350"/>
                </a:lnTo>
                <a:lnTo>
                  <a:pt x="2714" y="359"/>
                </a:lnTo>
                <a:lnTo>
                  <a:pt x="2690" y="369"/>
                </a:lnTo>
                <a:lnTo>
                  <a:pt x="2671" y="380"/>
                </a:lnTo>
                <a:lnTo>
                  <a:pt x="2671" y="380"/>
                </a:lnTo>
                <a:lnTo>
                  <a:pt x="2653" y="391"/>
                </a:lnTo>
                <a:lnTo>
                  <a:pt x="2638" y="402"/>
                </a:lnTo>
                <a:lnTo>
                  <a:pt x="2627" y="413"/>
                </a:lnTo>
                <a:lnTo>
                  <a:pt x="2617" y="423"/>
                </a:lnTo>
                <a:lnTo>
                  <a:pt x="2608" y="436"/>
                </a:lnTo>
                <a:lnTo>
                  <a:pt x="2604" y="449"/>
                </a:lnTo>
                <a:lnTo>
                  <a:pt x="2599" y="460"/>
                </a:lnTo>
                <a:lnTo>
                  <a:pt x="2599" y="473"/>
                </a:lnTo>
                <a:lnTo>
                  <a:pt x="2599" y="473"/>
                </a:lnTo>
                <a:lnTo>
                  <a:pt x="2599" y="486"/>
                </a:lnTo>
                <a:lnTo>
                  <a:pt x="2604" y="499"/>
                </a:lnTo>
                <a:lnTo>
                  <a:pt x="2610" y="512"/>
                </a:lnTo>
                <a:lnTo>
                  <a:pt x="2617" y="523"/>
                </a:lnTo>
                <a:lnTo>
                  <a:pt x="2627" y="536"/>
                </a:lnTo>
                <a:lnTo>
                  <a:pt x="2640" y="546"/>
                </a:lnTo>
                <a:lnTo>
                  <a:pt x="2655" y="557"/>
                </a:lnTo>
                <a:lnTo>
                  <a:pt x="2671" y="568"/>
                </a:lnTo>
                <a:lnTo>
                  <a:pt x="2776" y="626"/>
                </a:lnTo>
                <a:lnTo>
                  <a:pt x="2776" y="626"/>
                </a:lnTo>
                <a:lnTo>
                  <a:pt x="2779" y="629"/>
                </a:lnTo>
                <a:lnTo>
                  <a:pt x="2779" y="629"/>
                </a:lnTo>
                <a:lnTo>
                  <a:pt x="2815" y="652"/>
                </a:lnTo>
                <a:lnTo>
                  <a:pt x="2848" y="678"/>
                </a:lnTo>
                <a:lnTo>
                  <a:pt x="2876" y="704"/>
                </a:lnTo>
                <a:lnTo>
                  <a:pt x="2899" y="734"/>
                </a:lnTo>
                <a:lnTo>
                  <a:pt x="2917" y="765"/>
                </a:lnTo>
                <a:lnTo>
                  <a:pt x="2930" y="795"/>
                </a:lnTo>
                <a:lnTo>
                  <a:pt x="2936" y="812"/>
                </a:lnTo>
                <a:lnTo>
                  <a:pt x="2938" y="827"/>
                </a:lnTo>
                <a:lnTo>
                  <a:pt x="2940" y="844"/>
                </a:lnTo>
                <a:lnTo>
                  <a:pt x="2943" y="862"/>
                </a:lnTo>
                <a:lnTo>
                  <a:pt x="2943" y="862"/>
                </a:lnTo>
                <a:lnTo>
                  <a:pt x="2940" y="877"/>
                </a:lnTo>
                <a:lnTo>
                  <a:pt x="2940" y="894"/>
                </a:lnTo>
                <a:lnTo>
                  <a:pt x="2936" y="911"/>
                </a:lnTo>
                <a:lnTo>
                  <a:pt x="2932" y="926"/>
                </a:lnTo>
                <a:lnTo>
                  <a:pt x="2925" y="944"/>
                </a:lnTo>
                <a:lnTo>
                  <a:pt x="2919" y="959"/>
                </a:lnTo>
                <a:lnTo>
                  <a:pt x="2902" y="989"/>
                </a:lnTo>
                <a:lnTo>
                  <a:pt x="2878" y="1019"/>
                </a:lnTo>
                <a:lnTo>
                  <a:pt x="2850" y="1045"/>
                </a:lnTo>
                <a:lnTo>
                  <a:pt x="2817" y="1071"/>
                </a:lnTo>
                <a:lnTo>
                  <a:pt x="2781" y="1095"/>
                </a:lnTo>
                <a:lnTo>
                  <a:pt x="2781" y="1095"/>
                </a:lnTo>
                <a:lnTo>
                  <a:pt x="2744" y="1116"/>
                </a:lnTo>
                <a:lnTo>
                  <a:pt x="2703" y="1134"/>
                </a:lnTo>
                <a:lnTo>
                  <a:pt x="2662" y="1149"/>
                </a:lnTo>
                <a:lnTo>
                  <a:pt x="2617" y="1160"/>
                </a:lnTo>
                <a:lnTo>
                  <a:pt x="2569" y="1170"/>
                </a:lnTo>
                <a:lnTo>
                  <a:pt x="2522" y="1177"/>
                </a:lnTo>
                <a:lnTo>
                  <a:pt x="2472" y="1181"/>
                </a:lnTo>
                <a:lnTo>
                  <a:pt x="2422" y="1183"/>
                </a:lnTo>
                <a:lnTo>
                  <a:pt x="2422" y="1183"/>
                </a:lnTo>
                <a:lnTo>
                  <a:pt x="2370" y="1181"/>
                </a:lnTo>
                <a:lnTo>
                  <a:pt x="2321" y="1177"/>
                </a:lnTo>
                <a:lnTo>
                  <a:pt x="2273" y="1170"/>
                </a:lnTo>
                <a:lnTo>
                  <a:pt x="2226" y="1160"/>
                </a:lnTo>
                <a:lnTo>
                  <a:pt x="2183" y="1149"/>
                </a:lnTo>
                <a:lnTo>
                  <a:pt x="2139" y="1134"/>
                </a:lnTo>
                <a:lnTo>
                  <a:pt x="2098" y="1116"/>
                </a:lnTo>
                <a:lnTo>
                  <a:pt x="2062" y="1095"/>
                </a:lnTo>
                <a:lnTo>
                  <a:pt x="1954" y="1034"/>
                </a:lnTo>
                <a:lnTo>
                  <a:pt x="1954" y="1034"/>
                </a:lnTo>
                <a:lnTo>
                  <a:pt x="1932" y="1024"/>
                </a:lnTo>
                <a:lnTo>
                  <a:pt x="1911" y="1013"/>
                </a:lnTo>
                <a:lnTo>
                  <a:pt x="1887" y="1004"/>
                </a:lnTo>
                <a:lnTo>
                  <a:pt x="1861" y="998"/>
                </a:lnTo>
                <a:lnTo>
                  <a:pt x="1833" y="993"/>
                </a:lnTo>
                <a:lnTo>
                  <a:pt x="1805" y="989"/>
                </a:lnTo>
                <a:lnTo>
                  <a:pt x="1777" y="987"/>
                </a:lnTo>
                <a:lnTo>
                  <a:pt x="1749" y="985"/>
                </a:lnTo>
                <a:lnTo>
                  <a:pt x="1749" y="985"/>
                </a:lnTo>
                <a:lnTo>
                  <a:pt x="1721" y="987"/>
                </a:lnTo>
                <a:lnTo>
                  <a:pt x="1693" y="989"/>
                </a:lnTo>
                <a:lnTo>
                  <a:pt x="1665" y="993"/>
                </a:lnTo>
                <a:lnTo>
                  <a:pt x="1636" y="998"/>
                </a:lnTo>
                <a:lnTo>
                  <a:pt x="1613" y="1004"/>
                </a:lnTo>
                <a:lnTo>
                  <a:pt x="1587" y="1013"/>
                </a:lnTo>
                <a:lnTo>
                  <a:pt x="1565" y="1024"/>
                </a:lnTo>
                <a:lnTo>
                  <a:pt x="1544" y="1034"/>
                </a:lnTo>
                <a:lnTo>
                  <a:pt x="1544" y="1034"/>
                </a:lnTo>
                <a:lnTo>
                  <a:pt x="1529" y="1045"/>
                </a:lnTo>
                <a:lnTo>
                  <a:pt x="1513" y="1056"/>
                </a:lnTo>
                <a:lnTo>
                  <a:pt x="1500" y="1067"/>
                </a:lnTo>
                <a:lnTo>
                  <a:pt x="1492" y="1078"/>
                </a:lnTo>
                <a:lnTo>
                  <a:pt x="1483" y="1091"/>
                </a:lnTo>
                <a:lnTo>
                  <a:pt x="1477" y="1103"/>
                </a:lnTo>
                <a:lnTo>
                  <a:pt x="1475" y="1114"/>
                </a:lnTo>
                <a:lnTo>
                  <a:pt x="1472" y="1127"/>
                </a:lnTo>
                <a:lnTo>
                  <a:pt x="1472" y="1127"/>
                </a:lnTo>
                <a:lnTo>
                  <a:pt x="1475" y="1140"/>
                </a:lnTo>
                <a:lnTo>
                  <a:pt x="1479" y="1153"/>
                </a:lnTo>
                <a:lnTo>
                  <a:pt x="1483" y="1164"/>
                </a:lnTo>
                <a:lnTo>
                  <a:pt x="1492" y="1177"/>
                </a:lnTo>
                <a:lnTo>
                  <a:pt x="1503" y="1188"/>
                </a:lnTo>
                <a:lnTo>
                  <a:pt x="1513" y="1201"/>
                </a:lnTo>
                <a:lnTo>
                  <a:pt x="1529" y="1211"/>
                </a:lnTo>
                <a:lnTo>
                  <a:pt x="1546" y="1220"/>
                </a:lnTo>
                <a:lnTo>
                  <a:pt x="1548" y="1222"/>
                </a:lnTo>
                <a:lnTo>
                  <a:pt x="1654" y="1283"/>
                </a:lnTo>
                <a:lnTo>
                  <a:pt x="1654" y="1283"/>
                </a:lnTo>
                <a:lnTo>
                  <a:pt x="1690" y="1306"/>
                </a:lnTo>
                <a:lnTo>
                  <a:pt x="1723" y="1332"/>
                </a:lnTo>
                <a:lnTo>
                  <a:pt x="1751" y="1358"/>
                </a:lnTo>
                <a:lnTo>
                  <a:pt x="1775" y="1388"/>
                </a:lnTo>
                <a:lnTo>
                  <a:pt x="1792" y="1419"/>
                </a:lnTo>
                <a:lnTo>
                  <a:pt x="1805" y="1449"/>
                </a:lnTo>
                <a:lnTo>
                  <a:pt x="1809" y="1466"/>
                </a:lnTo>
                <a:lnTo>
                  <a:pt x="1813" y="1481"/>
                </a:lnTo>
                <a:lnTo>
                  <a:pt x="1816" y="1499"/>
                </a:lnTo>
                <a:lnTo>
                  <a:pt x="1816" y="1516"/>
                </a:lnTo>
                <a:lnTo>
                  <a:pt x="1816" y="1516"/>
                </a:lnTo>
                <a:lnTo>
                  <a:pt x="1816" y="1531"/>
                </a:lnTo>
                <a:lnTo>
                  <a:pt x="1813" y="1548"/>
                </a:lnTo>
                <a:lnTo>
                  <a:pt x="1807" y="1581"/>
                </a:lnTo>
                <a:lnTo>
                  <a:pt x="1794" y="1611"/>
                </a:lnTo>
                <a:lnTo>
                  <a:pt x="1777" y="1641"/>
                </a:lnTo>
                <a:lnTo>
                  <a:pt x="1755" y="1669"/>
                </a:lnTo>
                <a:lnTo>
                  <a:pt x="1729" y="1697"/>
                </a:lnTo>
                <a:lnTo>
                  <a:pt x="1697" y="1723"/>
                </a:lnTo>
                <a:lnTo>
                  <a:pt x="1660" y="1747"/>
                </a:lnTo>
                <a:lnTo>
                  <a:pt x="1660" y="1747"/>
                </a:lnTo>
                <a:lnTo>
                  <a:pt x="1656" y="1749"/>
                </a:lnTo>
                <a:lnTo>
                  <a:pt x="1656" y="1749"/>
                </a:lnTo>
                <a:lnTo>
                  <a:pt x="1619" y="1768"/>
                </a:lnTo>
                <a:lnTo>
                  <a:pt x="1578" y="1788"/>
                </a:lnTo>
                <a:lnTo>
                  <a:pt x="1535" y="1801"/>
                </a:lnTo>
                <a:lnTo>
                  <a:pt x="1490" y="1814"/>
                </a:lnTo>
                <a:lnTo>
                  <a:pt x="1444" y="1825"/>
                </a:lnTo>
                <a:lnTo>
                  <a:pt x="1397" y="1831"/>
                </a:lnTo>
                <a:lnTo>
                  <a:pt x="1347" y="1835"/>
                </a:lnTo>
                <a:lnTo>
                  <a:pt x="1295" y="1838"/>
                </a:lnTo>
                <a:lnTo>
                  <a:pt x="1295" y="1838"/>
                </a:lnTo>
                <a:lnTo>
                  <a:pt x="1246" y="1835"/>
                </a:lnTo>
                <a:lnTo>
                  <a:pt x="1196" y="1831"/>
                </a:lnTo>
                <a:lnTo>
                  <a:pt x="1149" y="1825"/>
                </a:lnTo>
                <a:lnTo>
                  <a:pt x="1101" y="1814"/>
                </a:lnTo>
                <a:lnTo>
                  <a:pt x="1056" y="1801"/>
                </a:lnTo>
                <a:lnTo>
                  <a:pt x="1015" y="1788"/>
                </a:lnTo>
                <a:lnTo>
                  <a:pt x="974" y="1771"/>
                </a:lnTo>
                <a:lnTo>
                  <a:pt x="935" y="1749"/>
                </a:lnTo>
                <a:lnTo>
                  <a:pt x="829" y="1689"/>
                </a:lnTo>
                <a:lnTo>
                  <a:pt x="829" y="1689"/>
                </a:lnTo>
                <a:lnTo>
                  <a:pt x="807" y="1678"/>
                </a:lnTo>
                <a:lnTo>
                  <a:pt x="786" y="1667"/>
                </a:lnTo>
                <a:lnTo>
                  <a:pt x="762" y="1660"/>
                </a:lnTo>
                <a:lnTo>
                  <a:pt x="736" y="1652"/>
                </a:lnTo>
                <a:lnTo>
                  <a:pt x="708" y="1648"/>
                </a:lnTo>
                <a:lnTo>
                  <a:pt x="680" y="1643"/>
                </a:lnTo>
                <a:lnTo>
                  <a:pt x="652" y="1641"/>
                </a:lnTo>
                <a:lnTo>
                  <a:pt x="624" y="1639"/>
                </a:lnTo>
                <a:lnTo>
                  <a:pt x="624" y="1639"/>
                </a:lnTo>
                <a:lnTo>
                  <a:pt x="594" y="1641"/>
                </a:lnTo>
                <a:lnTo>
                  <a:pt x="566" y="1643"/>
                </a:lnTo>
                <a:lnTo>
                  <a:pt x="538" y="1648"/>
                </a:lnTo>
                <a:lnTo>
                  <a:pt x="512" y="1652"/>
                </a:lnTo>
                <a:lnTo>
                  <a:pt x="486" y="1660"/>
                </a:lnTo>
                <a:lnTo>
                  <a:pt x="462" y="1667"/>
                </a:lnTo>
                <a:lnTo>
                  <a:pt x="438" y="1678"/>
                </a:lnTo>
                <a:lnTo>
                  <a:pt x="419" y="1689"/>
                </a:lnTo>
                <a:lnTo>
                  <a:pt x="419" y="1689"/>
                </a:lnTo>
                <a:lnTo>
                  <a:pt x="402" y="1699"/>
                </a:lnTo>
                <a:lnTo>
                  <a:pt x="386" y="1710"/>
                </a:lnTo>
                <a:lnTo>
                  <a:pt x="376" y="1721"/>
                </a:lnTo>
                <a:lnTo>
                  <a:pt x="365" y="1734"/>
                </a:lnTo>
                <a:lnTo>
                  <a:pt x="356" y="1745"/>
                </a:lnTo>
                <a:lnTo>
                  <a:pt x="350" y="1758"/>
                </a:lnTo>
                <a:lnTo>
                  <a:pt x="348" y="1771"/>
                </a:lnTo>
                <a:lnTo>
                  <a:pt x="345" y="1781"/>
                </a:lnTo>
                <a:lnTo>
                  <a:pt x="345" y="1781"/>
                </a:lnTo>
                <a:lnTo>
                  <a:pt x="348" y="1794"/>
                </a:lnTo>
                <a:lnTo>
                  <a:pt x="352" y="1807"/>
                </a:lnTo>
                <a:lnTo>
                  <a:pt x="356" y="1820"/>
                </a:lnTo>
                <a:lnTo>
                  <a:pt x="365" y="1833"/>
                </a:lnTo>
                <a:lnTo>
                  <a:pt x="376" y="1844"/>
                </a:lnTo>
                <a:lnTo>
                  <a:pt x="389" y="1855"/>
                </a:lnTo>
                <a:lnTo>
                  <a:pt x="404" y="1868"/>
                </a:lnTo>
                <a:lnTo>
                  <a:pt x="419" y="1876"/>
                </a:lnTo>
                <a:lnTo>
                  <a:pt x="2990" y="3377"/>
                </a:lnTo>
                <a:lnTo>
                  <a:pt x="2457" y="3377"/>
                </a:lnTo>
                <a:lnTo>
                  <a:pt x="194" y="2058"/>
                </a:lnTo>
                <a:close/>
              </a:path>
            </a:pathLst>
          </a:custGeom>
          <a:gradFill>
            <a:gsLst>
              <a:gs pos="0">
                <a:srgbClr val="668EFF"/>
              </a:gs>
              <a:gs pos="100000">
                <a:srgbClr val="E6E6E6"/>
              </a:gs>
            </a:gsLst>
            <a:lin ang="0" scaled="0"/>
          </a:gra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grpSp>
        <p:nvGrpSpPr>
          <p:cNvPr id="345" name="Group 149"/>
          <p:cNvGrpSpPr/>
          <p:nvPr>
            <p:custDataLst>
              <p:tags r:id="rId2"/>
            </p:custDataLst>
          </p:nvPr>
        </p:nvGrpSpPr>
        <p:grpSpPr>
          <a:xfrm rot="300000">
            <a:off x="10188575" y="1070610"/>
            <a:ext cx="1720215" cy="2934970"/>
            <a:chOff x="10452880" y="-124430"/>
            <a:chExt cx="1447917" cy="2486541"/>
          </a:xfrm>
        </p:grpSpPr>
        <p:sp>
          <p:nvSpPr>
            <p:cNvPr id="346" name="Freeform 1267"/>
            <p:cNvSpPr/>
            <p:nvPr>
              <p:custDataLst>
                <p:tags r:id="rId3"/>
              </p:custDataLst>
            </p:nvPr>
          </p:nvSpPr>
          <p:spPr bwMode="auto">
            <a:xfrm rot="7200000">
              <a:off x="11540251" y="1559694"/>
              <a:ext cx="44779" cy="23989"/>
            </a:xfrm>
            <a:custGeom>
              <a:avLst/>
              <a:gdLst>
                <a:gd name="T0" fmla="*/ 0 w 28"/>
                <a:gd name="T1" fmla="*/ 6 h 15"/>
                <a:gd name="T2" fmla="*/ 17 w 28"/>
                <a:gd name="T3" fmla="*/ 15 h 15"/>
                <a:gd name="T4" fmla="*/ 28 w 28"/>
                <a:gd name="T5" fmla="*/ 10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10"/>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47" name="Freeform 1268"/>
            <p:cNvSpPr/>
            <p:nvPr>
              <p:custDataLst>
                <p:tags r:id="rId4"/>
              </p:custDataLst>
            </p:nvPr>
          </p:nvSpPr>
          <p:spPr bwMode="auto">
            <a:xfrm rot="7200000">
              <a:off x="11452751" y="1608895"/>
              <a:ext cx="44779" cy="23989"/>
            </a:xfrm>
            <a:custGeom>
              <a:avLst/>
              <a:gdLst>
                <a:gd name="T0" fmla="*/ 0 w 28"/>
                <a:gd name="T1" fmla="*/ 6 h 15"/>
                <a:gd name="T2" fmla="*/ 17 w 28"/>
                <a:gd name="T3" fmla="*/ 15 h 15"/>
                <a:gd name="T4" fmla="*/ 28 w 28"/>
                <a:gd name="T5" fmla="*/ 9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9"/>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48" name="Freeform: Shape 1433"/>
            <p:cNvSpPr/>
            <p:nvPr>
              <p:custDataLst>
                <p:tags r:id="rId5"/>
              </p:custDataLst>
            </p:nvPr>
          </p:nvSpPr>
          <p:spPr bwMode="auto">
            <a:xfrm rot="7200000">
              <a:off x="9933568" y="394882"/>
              <a:ext cx="2486541" cy="1447917"/>
            </a:xfrm>
            <a:custGeom>
              <a:avLst/>
              <a:gdLst>
                <a:gd name="connsiteX0" fmla="*/ 0 w 2486541"/>
                <a:gd name="connsiteY0" fmla="*/ 248816 h 1447917"/>
                <a:gd name="connsiteX1" fmla="*/ 430962 w 2486541"/>
                <a:gd name="connsiteY1" fmla="*/ 0 h 1447917"/>
                <a:gd name="connsiteX2" fmla="*/ 2486541 w 2486541"/>
                <a:gd name="connsiteY2" fmla="*/ 1200087 h 1447917"/>
                <a:gd name="connsiteX3" fmla="*/ 2057288 w 2486541"/>
                <a:gd name="connsiteY3" fmla="*/ 1447917 h 1447917"/>
              </a:gdLst>
              <a:ahLst/>
              <a:cxnLst>
                <a:cxn ang="0">
                  <a:pos x="connsiteX0" y="connsiteY0"/>
                </a:cxn>
                <a:cxn ang="0">
                  <a:pos x="connsiteX1" y="connsiteY1"/>
                </a:cxn>
                <a:cxn ang="0">
                  <a:pos x="connsiteX2" y="connsiteY2"/>
                </a:cxn>
                <a:cxn ang="0">
                  <a:pos x="connsiteX3" y="connsiteY3"/>
                </a:cxn>
              </a:cxnLst>
              <a:rect l="l" t="t" r="r" b="b"/>
              <a:pathLst>
                <a:path w="2486541" h="1447917">
                  <a:moveTo>
                    <a:pt x="0" y="248816"/>
                  </a:moveTo>
                  <a:lnTo>
                    <a:pt x="430962" y="0"/>
                  </a:lnTo>
                  <a:lnTo>
                    <a:pt x="2486541" y="1200087"/>
                  </a:lnTo>
                  <a:lnTo>
                    <a:pt x="2057288" y="1447917"/>
                  </a:lnTo>
                  <a:close/>
                </a:path>
              </a:pathLst>
            </a:custGeom>
            <a:solidFill>
              <a:srgbClr val="E6E6E6"/>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noAutofit/>
            </a:bodyPr>
            <a:lstStyle/>
            <a:p>
              <a:pPr>
                <a:defRPr>
                  <a:latin typeface="微软雅黑"/>
                  <a:ea typeface="微软雅黑"/>
                  <a:cs typeface="微软雅黑"/>
                </a:defRPr>
              </a:pPr>
              <a:endParaRPr lang="en-US" dirty="0">
                <a:latin typeface="微软雅黑"/>
                <a:ea typeface="微软雅黑"/>
                <a:cs typeface="微软雅黑"/>
              </a:endParaRPr>
            </a:p>
          </p:txBody>
        </p:sp>
      </p:gr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个人发展</a:t>
            </a:r>
            <a:r>
              <a:rPr lang="zh-CN" altLang="en-US" sz="2500">
                <a:solidFill>
                  <a:srgbClr val="383838"/>
                </a:solidFill>
                <a:effectLst/>
                <a:latin typeface="微软雅黑"/>
                <a:ea typeface="微软雅黑"/>
                <a:cs typeface="微软雅黑"/>
              </a:rPr>
              <a:t>五年规划</a:t>
            </a:r>
            <a:endParaRPr lang="zh-CN" altLang="en-US" sz="2500">
              <a:solidFill>
                <a:srgbClr val="383838"/>
              </a:solidFill>
              <a:effectLst/>
              <a:latin typeface="微软雅黑"/>
              <a:ea typeface="微软雅黑"/>
              <a:cs typeface="微软雅黑"/>
            </a:endParaRPr>
          </a:p>
        </p:txBody>
      </p:sp>
      <p:grpSp>
        <p:nvGrpSpPr>
          <p:cNvPr id="342" name="组合 341"/>
          <p:cNvGrpSpPr/>
          <p:nvPr>
            <p:custDataLst>
              <p:tags r:id="rId6"/>
            </p:custDataLst>
          </p:nvPr>
        </p:nvGrpSpPr>
        <p:grpSpPr>
          <a:xfrm>
            <a:off x="1976755" y="2323465"/>
            <a:ext cx="9441180" cy="5522595"/>
            <a:chOff x="3113" y="2843"/>
            <a:chExt cx="14868" cy="8697"/>
          </a:xfrm>
        </p:grpSpPr>
        <p:sp>
          <p:nvSpPr>
            <p:cNvPr id="22" name="Freeform 1229"/>
            <p:cNvSpPr/>
            <p:nvPr>
              <p:custDataLst>
                <p:tags r:id="rId7"/>
              </p:custDataLst>
            </p:nvPr>
          </p:nvSpPr>
          <p:spPr bwMode="auto">
            <a:xfrm rot="300000">
              <a:off x="4225" y="8978"/>
              <a:ext cx="84" cy="45"/>
            </a:xfrm>
            <a:custGeom>
              <a:avLst/>
              <a:gdLst>
                <a:gd name="T0" fmla="*/ 28 w 28"/>
                <a:gd name="T1" fmla="*/ 11 h 15"/>
                <a:gd name="T2" fmla="*/ 10 w 28"/>
                <a:gd name="T3" fmla="*/ 0 h 15"/>
                <a:gd name="T4" fmla="*/ 0 w 28"/>
                <a:gd name="T5" fmla="*/ 7 h 15"/>
                <a:gd name="T6" fmla="*/ 17 w 28"/>
                <a:gd name="T7" fmla="*/ 15 h 15"/>
                <a:gd name="T8" fmla="*/ 28 w 28"/>
                <a:gd name="T9" fmla="*/ 11 h 15"/>
              </a:gdLst>
              <a:ahLst/>
              <a:cxnLst>
                <a:cxn ang="0">
                  <a:pos x="T0" y="T1"/>
                </a:cxn>
                <a:cxn ang="0">
                  <a:pos x="T2" y="T3"/>
                </a:cxn>
                <a:cxn ang="0">
                  <a:pos x="T4" y="T5"/>
                </a:cxn>
                <a:cxn ang="0">
                  <a:pos x="T6" y="T7"/>
                </a:cxn>
                <a:cxn ang="0">
                  <a:pos x="T8" y="T9"/>
                </a:cxn>
              </a:cxnLst>
              <a:rect l="0" t="0" r="r" b="b"/>
              <a:pathLst>
                <a:path w="28" h="15">
                  <a:moveTo>
                    <a:pt x="28" y="11"/>
                  </a:moveTo>
                  <a:lnTo>
                    <a:pt x="10" y="0"/>
                  </a:lnTo>
                  <a:lnTo>
                    <a:pt x="0" y="7"/>
                  </a:lnTo>
                  <a:lnTo>
                    <a:pt x="17" y="15"/>
                  </a:lnTo>
                  <a:lnTo>
                    <a:pt x="28"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3" name="Freeform 1230"/>
            <p:cNvSpPr/>
            <p:nvPr>
              <p:custDataLst>
                <p:tags r:id="rId8"/>
              </p:custDataLst>
            </p:nvPr>
          </p:nvSpPr>
          <p:spPr bwMode="auto">
            <a:xfrm rot="300000">
              <a:off x="4395" y="9097"/>
              <a:ext cx="84" cy="51"/>
            </a:xfrm>
            <a:custGeom>
              <a:avLst/>
              <a:gdLst>
                <a:gd name="T0" fmla="*/ 0 w 28"/>
                <a:gd name="T1" fmla="*/ 6 h 17"/>
                <a:gd name="T2" fmla="*/ 17 w 28"/>
                <a:gd name="T3" fmla="*/ 17 h 17"/>
                <a:gd name="T4" fmla="*/ 28 w 28"/>
                <a:gd name="T5" fmla="*/ 11 h 17"/>
                <a:gd name="T6" fmla="*/ 11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1"/>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4" name="Freeform 1231"/>
            <p:cNvSpPr/>
            <p:nvPr/>
          </p:nvSpPr>
          <p:spPr bwMode="auto">
            <a:xfrm rot="300000">
              <a:off x="4553" y="9207"/>
              <a:ext cx="84" cy="45"/>
            </a:xfrm>
            <a:custGeom>
              <a:avLst/>
              <a:gdLst>
                <a:gd name="T0" fmla="*/ 0 w 28"/>
                <a:gd name="T1" fmla="*/ 7 h 15"/>
                <a:gd name="T2" fmla="*/ 17 w 28"/>
                <a:gd name="T3" fmla="*/ 15 h 15"/>
                <a:gd name="T4" fmla="*/ 28 w 28"/>
                <a:gd name="T5" fmla="*/ 11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7" y="15"/>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0" name="Freeform 1269"/>
            <p:cNvSpPr/>
            <p:nvPr>
              <p:custDataLst>
                <p:tags r:id="rId9"/>
              </p:custDataLst>
            </p:nvPr>
          </p:nvSpPr>
          <p:spPr bwMode="auto">
            <a:xfrm rot="300000">
              <a:off x="4052" y="8862"/>
              <a:ext cx="84" cy="45"/>
            </a:xfrm>
            <a:custGeom>
              <a:avLst/>
              <a:gdLst>
                <a:gd name="T0" fmla="*/ 0 w 28"/>
                <a:gd name="T1" fmla="*/ 6 h 15"/>
                <a:gd name="T2" fmla="*/ 17 w 28"/>
                <a:gd name="T3" fmla="*/ 15 h 15"/>
                <a:gd name="T4" fmla="*/ 28 w 28"/>
                <a:gd name="T5" fmla="*/ 8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8"/>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1" name="Freeform 1270"/>
            <p:cNvSpPr/>
            <p:nvPr>
              <p:custDataLst>
                <p:tags r:id="rId10"/>
              </p:custDataLst>
            </p:nvPr>
          </p:nvSpPr>
          <p:spPr bwMode="auto">
            <a:xfrm rot="300000">
              <a:off x="3709" y="8626"/>
              <a:ext cx="84" cy="45"/>
            </a:xfrm>
            <a:custGeom>
              <a:avLst/>
              <a:gdLst>
                <a:gd name="T0" fmla="*/ 28 w 28"/>
                <a:gd name="T1" fmla="*/ 8 h 15"/>
                <a:gd name="T2" fmla="*/ 11 w 28"/>
                <a:gd name="T3" fmla="*/ 0 h 15"/>
                <a:gd name="T4" fmla="*/ 0 w 28"/>
                <a:gd name="T5" fmla="*/ 4 h 15"/>
                <a:gd name="T6" fmla="*/ 17 w 28"/>
                <a:gd name="T7" fmla="*/ 15 h 15"/>
                <a:gd name="T8" fmla="*/ 28 w 28"/>
                <a:gd name="T9" fmla="*/ 8 h 15"/>
              </a:gdLst>
              <a:ahLst/>
              <a:cxnLst>
                <a:cxn ang="0">
                  <a:pos x="T0" y="T1"/>
                </a:cxn>
                <a:cxn ang="0">
                  <a:pos x="T2" y="T3"/>
                </a:cxn>
                <a:cxn ang="0">
                  <a:pos x="T4" y="T5"/>
                </a:cxn>
                <a:cxn ang="0">
                  <a:pos x="T6" y="T7"/>
                </a:cxn>
                <a:cxn ang="0">
                  <a:pos x="T8" y="T9"/>
                </a:cxn>
              </a:cxnLst>
              <a:rect l="0" t="0" r="r" b="b"/>
              <a:pathLst>
                <a:path w="28" h="15">
                  <a:moveTo>
                    <a:pt x="28" y="8"/>
                  </a:moveTo>
                  <a:lnTo>
                    <a:pt x="11" y="0"/>
                  </a:lnTo>
                  <a:lnTo>
                    <a:pt x="0" y="4"/>
                  </a:lnTo>
                  <a:lnTo>
                    <a:pt x="17" y="15"/>
                  </a:lnTo>
                  <a:lnTo>
                    <a:pt x="28"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2" name="Freeform 1271"/>
            <p:cNvSpPr/>
            <p:nvPr>
              <p:custDataLst>
                <p:tags r:id="rId11"/>
              </p:custDataLst>
            </p:nvPr>
          </p:nvSpPr>
          <p:spPr bwMode="auto">
            <a:xfrm rot="300000">
              <a:off x="3882" y="8742"/>
              <a:ext cx="84" cy="45"/>
            </a:xfrm>
            <a:custGeom>
              <a:avLst/>
              <a:gdLst>
                <a:gd name="T0" fmla="*/ 28 w 28"/>
                <a:gd name="T1" fmla="*/ 9 h 15"/>
                <a:gd name="T2" fmla="*/ 10 w 28"/>
                <a:gd name="T3" fmla="*/ 0 h 15"/>
                <a:gd name="T4" fmla="*/ 0 w 28"/>
                <a:gd name="T5" fmla="*/ 4 h 15"/>
                <a:gd name="T6" fmla="*/ 17 w 28"/>
                <a:gd name="T7" fmla="*/ 15 h 15"/>
                <a:gd name="T8" fmla="*/ 28 w 28"/>
                <a:gd name="T9" fmla="*/ 9 h 15"/>
              </a:gdLst>
              <a:ahLst/>
              <a:cxnLst>
                <a:cxn ang="0">
                  <a:pos x="T0" y="T1"/>
                </a:cxn>
                <a:cxn ang="0">
                  <a:pos x="T2" y="T3"/>
                </a:cxn>
                <a:cxn ang="0">
                  <a:pos x="T4" y="T5"/>
                </a:cxn>
                <a:cxn ang="0">
                  <a:pos x="T6" y="T7"/>
                </a:cxn>
                <a:cxn ang="0">
                  <a:pos x="T8" y="T9"/>
                </a:cxn>
              </a:cxnLst>
              <a:rect l="0" t="0" r="r" b="b"/>
              <a:pathLst>
                <a:path w="28" h="15">
                  <a:moveTo>
                    <a:pt x="28" y="9"/>
                  </a:moveTo>
                  <a:lnTo>
                    <a:pt x="10" y="0"/>
                  </a:lnTo>
                  <a:lnTo>
                    <a:pt x="0" y="4"/>
                  </a:lnTo>
                  <a:lnTo>
                    <a:pt x="17" y="15"/>
                  </a:lnTo>
                  <a:lnTo>
                    <a:pt x="28" y="9"/>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3" name="Freeform 1272"/>
            <p:cNvSpPr/>
            <p:nvPr>
              <p:custDataLst>
                <p:tags r:id="rId12"/>
              </p:custDataLst>
            </p:nvPr>
          </p:nvSpPr>
          <p:spPr bwMode="auto">
            <a:xfrm rot="300000">
              <a:off x="3540" y="8500"/>
              <a:ext cx="84" cy="51"/>
            </a:xfrm>
            <a:custGeom>
              <a:avLst/>
              <a:gdLst>
                <a:gd name="T0" fmla="*/ 0 w 28"/>
                <a:gd name="T1" fmla="*/ 6 h 17"/>
                <a:gd name="T2" fmla="*/ 17 w 28"/>
                <a:gd name="T3" fmla="*/ 17 h 17"/>
                <a:gd name="T4" fmla="*/ 28 w 28"/>
                <a:gd name="T5" fmla="*/ 11 h 17"/>
                <a:gd name="T6" fmla="*/ 11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1"/>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4" name="Freeform 1273"/>
            <p:cNvSpPr/>
            <p:nvPr>
              <p:custDataLst>
                <p:tags r:id="rId13"/>
              </p:custDataLst>
            </p:nvPr>
          </p:nvSpPr>
          <p:spPr bwMode="auto">
            <a:xfrm rot="300000">
              <a:off x="3243" y="8247"/>
              <a:ext cx="72" cy="54"/>
            </a:xfrm>
            <a:custGeom>
              <a:avLst/>
              <a:gdLst>
                <a:gd name="T0" fmla="*/ 24 w 24"/>
                <a:gd name="T1" fmla="*/ 13 h 18"/>
                <a:gd name="T2" fmla="*/ 11 w 24"/>
                <a:gd name="T3" fmla="*/ 0 h 18"/>
                <a:gd name="T4" fmla="*/ 0 w 24"/>
                <a:gd name="T5" fmla="*/ 5 h 18"/>
                <a:gd name="T6" fmla="*/ 11 w 24"/>
                <a:gd name="T7" fmla="*/ 18 h 18"/>
                <a:gd name="T8" fmla="*/ 24 w 24"/>
                <a:gd name="T9" fmla="*/ 13 h 18"/>
              </a:gdLst>
              <a:ahLst/>
              <a:cxnLst>
                <a:cxn ang="0">
                  <a:pos x="T0" y="T1"/>
                </a:cxn>
                <a:cxn ang="0">
                  <a:pos x="T2" y="T3"/>
                </a:cxn>
                <a:cxn ang="0">
                  <a:pos x="T4" y="T5"/>
                </a:cxn>
                <a:cxn ang="0">
                  <a:pos x="T6" y="T7"/>
                </a:cxn>
                <a:cxn ang="0">
                  <a:pos x="T8" y="T9"/>
                </a:cxn>
              </a:cxnLst>
              <a:rect l="0" t="0" r="r" b="b"/>
              <a:pathLst>
                <a:path w="24" h="18">
                  <a:moveTo>
                    <a:pt x="24" y="13"/>
                  </a:moveTo>
                  <a:lnTo>
                    <a:pt x="11" y="0"/>
                  </a:lnTo>
                  <a:lnTo>
                    <a:pt x="0" y="5"/>
                  </a:lnTo>
                  <a:lnTo>
                    <a:pt x="11" y="18"/>
                  </a:lnTo>
                  <a:lnTo>
                    <a:pt x="24"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5" name="Freeform 1274"/>
            <p:cNvSpPr/>
            <p:nvPr>
              <p:custDataLst>
                <p:tags r:id="rId14"/>
              </p:custDataLst>
            </p:nvPr>
          </p:nvSpPr>
          <p:spPr bwMode="auto">
            <a:xfrm rot="300000">
              <a:off x="3373" y="8381"/>
              <a:ext cx="78" cy="45"/>
            </a:xfrm>
            <a:custGeom>
              <a:avLst/>
              <a:gdLst>
                <a:gd name="T0" fmla="*/ 26 w 26"/>
                <a:gd name="T1" fmla="*/ 9 h 15"/>
                <a:gd name="T2" fmla="*/ 26 w 26"/>
                <a:gd name="T3" fmla="*/ 9 h 15"/>
                <a:gd name="T4" fmla="*/ 11 w 26"/>
                <a:gd name="T5" fmla="*/ 0 h 15"/>
                <a:gd name="T6" fmla="*/ 0 w 26"/>
                <a:gd name="T7" fmla="*/ 5 h 15"/>
                <a:gd name="T8" fmla="*/ 0 w 26"/>
                <a:gd name="T9" fmla="*/ 5 h 15"/>
                <a:gd name="T10" fmla="*/ 16 w 26"/>
                <a:gd name="T11" fmla="*/ 15 h 15"/>
                <a:gd name="T12" fmla="*/ 26 w 26"/>
                <a:gd name="T13" fmla="*/ 9 h 15"/>
              </a:gdLst>
              <a:ahLst/>
              <a:cxnLst>
                <a:cxn ang="0">
                  <a:pos x="T0" y="T1"/>
                </a:cxn>
                <a:cxn ang="0">
                  <a:pos x="T2" y="T3"/>
                </a:cxn>
                <a:cxn ang="0">
                  <a:pos x="T4" y="T5"/>
                </a:cxn>
                <a:cxn ang="0">
                  <a:pos x="T6" y="T7"/>
                </a:cxn>
                <a:cxn ang="0">
                  <a:pos x="T8" y="T9"/>
                </a:cxn>
                <a:cxn ang="0">
                  <a:pos x="T10" y="T11"/>
                </a:cxn>
                <a:cxn ang="0">
                  <a:pos x="T12" y="T13"/>
                </a:cxn>
              </a:cxnLst>
              <a:rect l="0" t="0" r="r" b="b"/>
              <a:pathLst>
                <a:path w="26" h="15">
                  <a:moveTo>
                    <a:pt x="26" y="9"/>
                  </a:moveTo>
                  <a:lnTo>
                    <a:pt x="26" y="9"/>
                  </a:lnTo>
                  <a:lnTo>
                    <a:pt x="11" y="0"/>
                  </a:lnTo>
                  <a:lnTo>
                    <a:pt x="0" y="5"/>
                  </a:lnTo>
                  <a:lnTo>
                    <a:pt x="0" y="5"/>
                  </a:lnTo>
                  <a:lnTo>
                    <a:pt x="16" y="15"/>
                  </a:lnTo>
                  <a:lnTo>
                    <a:pt x="26" y="9"/>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6" name="Freeform 1275"/>
            <p:cNvSpPr/>
            <p:nvPr>
              <p:custDataLst>
                <p:tags r:id="rId15"/>
              </p:custDataLst>
            </p:nvPr>
          </p:nvSpPr>
          <p:spPr bwMode="auto">
            <a:xfrm rot="300000">
              <a:off x="3151" y="8105"/>
              <a:ext cx="66" cy="51"/>
            </a:xfrm>
            <a:custGeom>
              <a:avLst/>
              <a:gdLst>
                <a:gd name="T0" fmla="*/ 22 w 22"/>
                <a:gd name="T1" fmla="*/ 13 h 17"/>
                <a:gd name="T2" fmla="*/ 13 w 22"/>
                <a:gd name="T3" fmla="*/ 0 h 17"/>
                <a:gd name="T4" fmla="*/ 0 w 22"/>
                <a:gd name="T5" fmla="*/ 4 h 17"/>
                <a:gd name="T6" fmla="*/ 9 w 22"/>
                <a:gd name="T7" fmla="*/ 17 h 17"/>
                <a:gd name="T8" fmla="*/ 22 w 22"/>
                <a:gd name="T9" fmla="*/ 13 h 17"/>
              </a:gdLst>
              <a:ahLst/>
              <a:cxnLst>
                <a:cxn ang="0">
                  <a:pos x="T0" y="T1"/>
                </a:cxn>
                <a:cxn ang="0">
                  <a:pos x="T2" y="T3"/>
                </a:cxn>
                <a:cxn ang="0">
                  <a:pos x="T4" y="T5"/>
                </a:cxn>
                <a:cxn ang="0">
                  <a:pos x="T6" y="T7"/>
                </a:cxn>
                <a:cxn ang="0">
                  <a:pos x="T8" y="T9"/>
                </a:cxn>
              </a:cxnLst>
              <a:rect l="0" t="0" r="r" b="b"/>
              <a:pathLst>
                <a:path w="22" h="17">
                  <a:moveTo>
                    <a:pt x="22" y="13"/>
                  </a:moveTo>
                  <a:lnTo>
                    <a:pt x="13" y="0"/>
                  </a:lnTo>
                  <a:lnTo>
                    <a:pt x="0" y="4"/>
                  </a:lnTo>
                  <a:lnTo>
                    <a:pt x="9" y="17"/>
                  </a:lnTo>
                  <a:lnTo>
                    <a:pt x="22"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7" name="Freeform 1276"/>
            <p:cNvSpPr/>
            <p:nvPr>
              <p:custDataLst>
                <p:tags r:id="rId16"/>
              </p:custDataLst>
            </p:nvPr>
          </p:nvSpPr>
          <p:spPr bwMode="auto">
            <a:xfrm rot="300000">
              <a:off x="3113" y="7817"/>
              <a:ext cx="51" cy="39"/>
            </a:xfrm>
            <a:custGeom>
              <a:avLst/>
              <a:gdLst>
                <a:gd name="T0" fmla="*/ 0 w 17"/>
                <a:gd name="T1" fmla="*/ 13 h 13"/>
                <a:gd name="T2" fmla="*/ 15 w 17"/>
                <a:gd name="T3" fmla="*/ 13 h 13"/>
                <a:gd name="T4" fmla="*/ 17 w 17"/>
                <a:gd name="T5" fmla="*/ 0 h 13"/>
                <a:gd name="T6" fmla="*/ 2 w 17"/>
                <a:gd name="T7" fmla="*/ 0 h 13"/>
                <a:gd name="T8" fmla="*/ 0 w 17"/>
                <a:gd name="T9" fmla="*/ 13 h 13"/>
              </a:gdLst>
              <a:ahLst/>
              <a:cxnLst>
                <a:cxn ang="0">
                  <a:pos x="T0" y="T1"/>
                </a:cxn>
                <a:cxn ang="0">
                  <a:pos x="T2" y="T3"/>
                </a:cxn>
                <a:cxn ang="0">
                  <a:pos x="T4" y="T5"/>
                </a:cxn>
                <a:cxn ang="0">
                  <a:pos x="T6" y="T7"/>
                </a:cxn>
                <a:cxn ang="0">
                  <a:pos x="T8" y="T9"/>
                </a:cxn>
              </a:cxnLst>
              <a:rect l="0" t="0" r="r" b="b"/>
              <a:pathLst>
                <a:path w="17" h="13">
                  <a:moveTo>
                    <a:pt x="0" y="13"/>
                  </a:moveTo>
                  <a:lnTo>
                    <a:pt x="15" y="13"/>
                  </a:lnTo>
                  <a:lnTo>
                    <a:pt x="17" y="0"/>
                  </a:lnTo>
                  <a:lnTo>
                    <a:pt x="2"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8" name="Freeform 1277"/>
            <p:cNvSpPr/>
            <p:nvPr>
              <p:custDataLst>
                <p:tags r:id="rId17"/>
              </p:custDataLst>
            </p:nvPr>
          </p:nvSpPr>
          <p:spPr bwMode="auto">
            <a:xfrm rot="300000">
              <a:off x="3113" y="7957"/>
              <a:ext cx="51" cy="48"/>
            </a:xfrm>
            <a:custGeom>
              <a:avLst/>
              <a:gdLst>
                <a:gd name="T0" fmla="*/ 2 w 17"/>
                <a:gd name="T1" fmla="*/ 16 h 16"/>
                <a:gd name="T2" fmla="*/ 17 w 17"/>
                <a:gd name="T3" fmla="*/ 16 h 16"/>
                <a:gd name="T4" fmla="*/ 13 w 17"/>
                <a:gd name="T5" fmla="*/ 0 h 16"/>
                <a:gd name="T6" fmla="*/ 0 w 17"/>
                <a:gd name="T7" fmla="*/ 3 h 16"/>
                <a:gd name="T8" fmla="*/ 2 w 17"/>
                <a:gd name="T9" fmla="*/ 16 h 16"/>
              </a:gdLst>
              <a:ahLst/>
              <a:cxnLst>
                <a:cxn ang="0">
                  <a:pos x="T0" y="T1"/>
                </a:cxn>
                <a:cxn ang="0">
                  <a:pos x="T2" y="T3"/>
                </a:cxn>
                <a:cxn ang="0">
                  <a:pos x="T4" y="T5"/>
                </a:cxn>
                <a:cxn ang="0">
                  <a:pos x="T6" y="T7"/>
                </a:cxn>
                <a:cxn ang="0">
                  <a:pos x="T8" y="T9"/>
                </a:cxn>
              </a:cxnLst>
              <a:rect l="0" t="0" r="r" b="b"/>
              <a:pathLst>
                <a:path w="17" h="16">
                  <a:moveTo>
                    <a:pt x="2" y="16"/>
                  </a:moveTo>
                  <a:lnTo>
                    <a:pt x="17" y="16"/>
                  </a:lnTo>
                  <a:lnTo>
                    <a:pt x="13" y="0"/>
                  </a:lnTo>
                  <a:lnTo>
                    <a:pt x="0" y="3"/>
                  </a:lnTo>
                  <a:lnTo>
                    <a:pt x="2" y="1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59" name="Freeform 1278"/>
            <p:cNvSpPr/>
            <p:nvPr>
              <p:custDataLst>
                <p:tags r:id="rId18"/>
              </p:custDataLst>
            </p:nvPr>
          </p:nvSpPr>
          <p:spPr bwMode="auto">
            <a:xfrm rot="300000">
              <a:off x="3159" y="7672"/>
              <a:ext cx="57" cy="45"/>
            </a:xfrm>
            <a:custGeom>
              <a:avLst/>
              <a:gdLst>
                <a:gd name="T0" fmla="*/ 0 w 19"/>
                <a:gd name="T1" fmla="*/ 13 h 15"/>
                <a:gd name="T2" fmla="*/ 15 w 19"/>
                <a:gd name="T3" fmla="*/ 15 h 15"/>
                <a:gd name="T4" fmla="*/ 19 w 19"/>
                <a:gd name="T5" fmla="*/ 2 h 15"/>
                <a:gd name="T6" fmla="*/ 6 w 19"/>
                <a:gd name="T7" fmla="*/ 0 h 15"/>
                <a:gd name="T8" fmla="*/ 0 w 19"/>
                <a:gd name="T9" fmla="*/ 13 h 15"/>
              </a:gdLst>
              <a:ahLst/>
              <a:cxnLst>
                <a:cxn ang="0">
                  <a:pos x="T0" y="T1"/>
                </a:cxn>
                <a:cxn ang="0">
                  <a:pos x="T2" y="T3"/>
                </a:cxn>
                <a:cxn ang="0">
                  <a:pos x="T4" y="T5"/>
                </a:cxn>
                <a:cxn ang="0">
                  <a:pos x="T6" y="T7"/>
                </a:cxn>
                <a:cxn ang="0">
                  <a:pos x="T8" y="T9"/>
                </a:cxn>
              </a:cxnLst>
              <a:rect l="0" t="0" r="r" b="b"/>
              <a:pathLst>
                <a:path w="19" h="15">
                  <a:moveTo>
                    <a:pt x="0" y="13"/>
                  </a:moveTo>
                  <a:lnTo>
                    <a:pt x="15" y="15"/>
                  </a:lnTo>
                  <a:lnTo>
                    <a:pt x="19" y="2"/>
                  </a:lnTo>
                  <a:lnTo>
                    <a:pt x="6"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0" name="Freeform 1279"/>
            <p:cNvSpPr/>
            <p:nvPr>
              <p:custDataLst>
                <p:tags r:id="rId19"/>
              </p:custDataLst>
            </p:nvPr>
          </p:nvSpPr>
          <p:spPr bwMode="auto">
            <a:xfrm rot="300000">
              <a:off x="3381" y="7430"/>
              <a:ext cx="75" cy="45"/>
            </a:xfrm>
            <a:custGeom>
              <a:avLst/>
              <a:gdLst>
                <a:gd name="T0" fmla="*/ 25 w 25"/>
                <a:gd name="T1" fmla="*/ 4 h 15"/>
                <a:gd name="T2" fmla="*/ 12 w 25"/>
                <a:gd name="T3" fmla="*/ 0 h 15"/>
                <a:gd name="T4" fmla="*/ 0 w 25"/>
                <a:gd name="T5" fmla="*/ 11 h 15"/>
                <a:gd name="T6" fmla="*/ 10 w 25"/>
                <a:gd name="T7" fmla="*/ 15 h 15"/>
                <a:gd name="T8" fmla="*/ 25 w 25"/>
                <a:gd name="T9" fmla="*/ 4 h 15"/>
              </a:gdLst>
              <a:ahLst/>
              <a:cxnLst>
                <a:cxn ang="0">
                  <a:pos x="T0" y="T1"/>
                </a:cxn>
                <a:cxn ang="0">
                  <a:pos x="T2" y="T3"/>
                </a:cxn>
                <a:cxn ang="0">
                  <a:pos x="T4" y="T5"/>
                </a:cxn>
                <a:cxn ang="0">
                  <a:pos x="T6" y="T7"/>
                </a:cxn>
                <a:cxn ang="0">
                  <a:pos x="T8" y="T9"/>
                </a:cxn>
              </a:cxnLst>
              <a:rect l="0" t="0" r="r" b="b"/>
              <a:pathLst>
                <a:path w="25" h="15">
                  <a:moveTo>
                    <a:pt x="25" y="4"/>
                  </a:moveTo>
                  <a:lnTo>
                    <a:pt x="12" y="0"/>
                  </a:lnTo>
                  <a:lnTo>
                    <a:pt x="0" y="11"/>
                  </a:lnTo>
                  <a:lnTo>
                    <a:pt x="10" y="15"/>
                  </a:lnTo>
                  <a:lnTo>
                    <a:pt x="25"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61" name="Freeform 1280"/>
            <p:cNvSpPr/>
            <p:nvPr>
              <p:custDataLst>
                <p:tags r:id="rId20"/>
              </p:custDataLst>
            </p:nvPr>
          </p:nvSpPr>
          <p:spPr bwMode="auto">
            <a:xfrm rot="300000">
              <a:off x="3245" y="7540"/>
              <a:ext cx="72" cy="51"/>
            </a:xfrm>
            <a:custGeom>
              <a:avLst/>
              <a:gdLst>
                <a:gd name="T0" fmla="*/ 0 w 24"/>
                <a:gd name="T1" fmla="*/ 13 h 17"/>
                <a:gd name="T2" fmla="*/ 13 w 24"/>
                <a:gd name="T3" fmla="*/ 17 h 17"/>
                <a:gd name="T4" fmla="*/ 24 w 24"/>
                <a:gd name="T5" fmla="*/ 4 h 17"/>
                <a:gd name="T6" fmla="*/ 11 w 24"/>
                <a:gd name="T7" fmla="*/ 0 h 17"/>
                <a:gd name="T8" fmla="*/ 0 w 24"/>
                <a:gd name="T9" fmla="*/ 13 h 17"/>
              </a:gdLst>
              <a:ahLst/>
              <a:cxnLst>
                <a:cxn ang="0">
                  <a:pos x="T0" y="T1"/>
                </a:cxn>
                <a:cxn ang="0">
                  <a:pos x="T2" y="T3"/>
                </a:cxn>
                <a:cxn ang="0">
                  <a:pos x="T4" y="T5"/>
                </a:cxn>
                <a:cxn ang="0">
                  <a:pos x="T6" y="T7"/>
                </a:cxn>
                <a:cxn ang="0">
                  <a:pos x="T8" y="T9"/>
                </a:cxn>
              </a:cxnLst>
              <a:rect l="0" t="0" r="r" b="b"/>
              <a:pathLst>
                <a:path w="24" h="17">
                  <a:moveTo>
                    <a:pt x="0" y="13"/>
                  </a:moveTo>
                  <a:lnTo>
                    <a:pt x="13" y="17"/>
                  </a:lnTo>
                  <a:lnTo>
                    <a:pt x="24" y="4"/>
                  </a:lnTo>
                  <a:lnTo>
                    <a:pt x="11"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2" name="Freeform 1281"/>
            <p:cNvSpPr/>
            <p:nvPr>
              <p:custDataLst>
                <p:tags r:id="rId21"/>
              </p:custDataLst>
            </p:nvPr>
          </p:nvSpPr>
          <p:spPr bwMode="auto">
            <a:xfrm rot="300000">
              <a:off x="3549" y="7335"/>
              <a:ext cx="87" cy="45"/>
            </a:xfrm>
            <a:custGeom>
              <a:avLst/>
              <a:gdLst>
                <a:gd name="T0" fmla="*/ 11 w 29"/>
                <a:gd name="T1" fmla="*/ 15 h 15"/>
                <a:gd name="T2" fmla="*/ 11 w 29"/>
                <a:gd name="T3" fmla="*/ 15 h 15"/>
                <a:gd name="T4" fmla="*/ 29 w 29"/>
                <a:gd name="T5" fmla="*/ 4 h 15"/>
                <a:gd name="T6" fmla="*/ 18 w 29"/>
                <a:gd name="T7" fmla="*/ 0 h 15"/>
                <a:gd name="T8" fmla="*/ 18 w 29"/>
                <a:gd name="T9" fmla="*/ 0 h 15"/>
                <a:gd name="T10" fmla="*/ 0 w 29"/>
                <a:gd name="T11" fmla="*/ 9 h 15"/>
                <a:gd name="T12" fmla="*/ 0 w 29"/>
                <a:gd name="T13" fmla="*/ 9 h 15"/>
                <a:gd name="T14" fmla="*/ 11 w 29"/>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5">
                  <a:moveTo>
                    <a:pt x="11" y="15"/>
                  </a:moveTo>
                  <a:lnTo>
                    <a:pt x="11" y="15"/>
                  </a:lnTo>
                  <a:lnTo>
                    <a:pt x="29" y="4"/>
                  </a:lnTo>
                  <a:lnTo>
                    <a:pt x="18" y="0"/>
                  </a:lnTo>
                  <a:lnTo>
                    <a:pt x="18" y="0"/>
                  </a:lnTo>
                  <a:lnTo>
                    <a:pt x="0" y="9"/>
                  </a:lnTo>
                  <a:lnTo>
                    <a:pt x="0" y="9"/>
                  </a:lnTo>
                  <a:lnTo>
                    <a:pt x="11"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63" name="Freeform 1282"/>
            <p:cNvSpPr/>
            <p:nvPr>
              <p:custDataLst>
                <p:tags r:id="rId22"/>
              </p:custDataLst>
            </p:nvPr>
          </p:nvSpPr>
          <p:spPr bwMode="auto">
            <a:xfrm rot="300000">
              <a:off x="3989" y="7217"/>
              <a:ext cx="78" cy="39"/>
            </a:xfrm>
            <a:custGeom>
              <a:avLst/>
              <a:gdLst>
                <a:gd name="T0" fmla="*/ 26 w 26"/>
                <a:gd name="T1" fmla="*/ 7 h 13"/>
                <a:gd name="T2" fmla="*/ 22 w 26"/>
                <a:gd name="T3" fmla="*/ 0 h 13"/>
                <a:gd name="T4" fmla="*/ 11 w 26"/>
                <a:gd name="T5" fmla="*/ 2 h 13"/>
                <a:gd name="T6" fmla="*/ 11 w 26"/>
                <a:gd name="T7" fmla="*/ 2 h 13"/>
                <a:gd name="T8" fmla="*/ 0 w 26"/>
                <a:gd name="T9" fmla="*/ 5 h 13"/>
                <a:gd name="T10" fmla="*/ 4 w 26"/>
                <a:gd name="T11" fmla="*/ 13 h 13"/>
                <a:gd name="T12" fmla="*/ 4 w 26"/>
                <a:gd name="T13" fmla="*/ 13 h 13"/>
                <a:gd name="T14" fmla="*/ 15 w 26"/>
                <a:gd name="T15" fmla="*/ 9 h 13"/>
                <a:gd name="T16" fmla="*/ 26 w 26"/>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3">
                  <a:moveTo>
                    <a:pt x="26" y="7"/>
                  </a:moveTo>
                  <a:lnTo>
                    <a:pt x="22" y="0"/>
                  </a:lnTo>
                  <a:lnTo>
                    <a:pt x="11" y="2"/>
                  </a:lnTo>
                  <a:lnTo>
                    <a:pt x="11" y="2"/>
                  </a:lnTo>
                  <a:lnTo>
                    <a:pt x="0" y="5"/>
                  </a:lnTo>
                  <a:lnTo>
                    <a:pt x="4" y="13"/>
                  </a:lnTo>
                  <a:lnTo>
                    <a:pt x="4" y="13"/>
                  </a:lnTo>
                  <a:lnTo>
                    <a:pt x="15" y="9"/>
                  </a:lnTo>
                  <a:lnTo>
                    <a:pt x="26"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4" name="Freeform 1283"/>
            <p:cNvSpPr/>
            <p:nvPr>
              <p:custDataLst>
                <p:tags r:id="rId23"/>
              </p:custDataLst>
            </p:nvPr>
          </p:nvSpPr>
          <p:spPr bwMode="auto">
            <a:xfrm rot="300000">
              <a:off x="3756" y="7263"/>
              <a:ext cx="84" cy="39"/>
            </a:xfrm>
            <a:custGeom>
              <a:avLst/>
              <a:gdLst>
                <a:gd name="T0" fmla="*/ 20 w 28"/>
                <a:gd name="T1" fmla="*/ 0 h 13"/>
                <a:gd name="T2" fmla="*/ 20 w 28"/>
                <a:gd name="T3" fmla="*/ 0 h 13"/>
                <a:gd name="T4" fmla="*/ 0 w 28"/>
                <a:gd name="T5" fmla="*/ 6 h 13"/>
                <a:gd name="T6" fmla="*/ 9 w 28"/>
                <a:gd name="T7" fmla="*/ 13 h 13"/>
                <a:gd name="T8" fmla="*/ 9 w 28"/>
                <a:gd name="T9" fmla="*/ 13 h 13"/>
                <a:gd name="T10" fmla="*/ 28 w 28"/>
                <a:gd name="T11" fmla="*/ 6 h 13"/>
                <a:gd name="T12" fmla="*/ 20 w 28"/>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8" h="13">
                  <a:moveTo>
                    <a:pt x="20" y="0"/>
                  </a:moveTo>
                  <a:lnTo>
                    <a:pt x="20" y="0"/>
                  </a:lnTo>
                  <a:lnTo>
                    <a:pt x="0" y="6"/>
                  </a:lnTo>
                  <a:lnTo>
                    <a:pt x="9" y="13"/>
                  </a:lnTo>
                  <a:lnTo>
                    <a:pt x="9" y="13"/>
                  </a:lnTo>
                  <a:lnTo>
                    <a:pt x="28" y="6"/>
                  </a:lnTo>
                  <a:lnTo>
                    <a:pt x="20"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5" name="Freeform 1284"/>
            <p:cNvSpPr/>
            <p:nvPr>
              <p:custDataLst>
                <p:tags r:id="rId24"/>
              </p:custDataLst>
            </p:nvPr>
          </p:nvSpPr>
          <p:spPr bwMode="auto">
            <a:xfrm rot="300000">
              <a:off x="4237" y="7200"/>
              <a:ext cx="78" cy="33"/>
            </a:xfrm>
            <a:custGeom>
              <a:avLst/>
              <a:gdLst>
                <a:gd name="T0" fmla="*/ 24 w 26"/>
                <a:gd name="T1" fmla="*/ 0 h 11"/>
                <a:gd name="T2" fmla="*/ 24 w 26"/>
                <a:gd name="T3" fmla="*/ 0 h 11"/>
                <a:gd name="T4" fmla="*/ 11 w 26"/>
                <a:gd name="T5" fmla="*/ 0 h 11"/>
                <a:gd name="T6" fmla="*/ 0 w 26"/>
                <a:gd name="T7" fmla="*/ 2 h 11"/>
                <a:gd name="T8" fmla="*/ 2 w 26"/>
                <a:gd name="T9" fmla="*/ 11 h 11"/>
                <a:gd name="T10" fmla="*/ 13 w 26"/>
                <a:gd name="T11" fmla="*/ 9 h 11"/>
                <a:gd name="T12" fmla="*/ 13 w 26"/>
                <a:gd name="T13" fmla="*/ 9 h 11"/>
                <a:gd name="T14" fmla="*/ 26 w 26"/>
                <a:gd name="T15" fmla="*/ 7 h 11"/>
                <a:gd name="T16" fmla="*/ 24 w 26"/>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1">
                  <a:moveTo>
                    <a:pt x="24" y="0"/>
                  </a:moveTo>
                  <a:lnTo>
                    <a:pt x="24" y="0"/>
                  </a:lnTo>
                  <a:lnTo>
                    <a:pt x="11" y="0"/>
                  </a:lnTo>
                  <a:lnTo>
                    <a:pt x="0" y="2"/>
                  </a:lnTo>
                  <a:lnTo>
                    <a:pt x="2" y="11"/>
                  </a:lnTo>
                  <a:lnTo>
                    <a:pt x="13" y="9"/>
                  </a:lnTo>
                  <a:lnTo>
                    <a:pt x="13" y="9"/>
                  </a:lnTo>
                  <a:lnTo>
                    <a:pt x="26" y="7"/>
                  </a:lnTo>
                  <a:lnTo>
                    <a:pt x="24"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6" name="Freeform 1285"/>
            <p:cNvSpPr/>
            <p:nvPr>
              <p:custDataLst>
                <p:tags r:id="rId25"/>
              </p:custDataLst>
            </p:nvPr>
          </p:nvSpPr>
          <p:spPr bwMode="auto">
            <a:xfrm rot="300000">
              <a:off x="4738" y="7238"/>
              <a:ext cx="78" cy="33"/>
            </a:xfrm>
            <a:custGeom>
              <a:avLst/>
              <a:gdLst>
                <a:gd name="T0" fmla="*/ 24 w 26"/>
                <a:gd name="T1" fmla="*/ 11 h 11"/>
                <a:gd name="T2" fmla="*/ 26 w 26"/>
                <a:gd name="T3" fmla="*/ 4 h 11"/>
                <a:gd name="T4" fmla="*/ 26 w 26"/>
                <a:gd name="T5" fmla="*/ 4 h 11"/>
                <a:gd name="T6" fmla="*/ 3 w 26"/>
                <a:gd name="T7" fmla="*/ 0 h 11"/>
                <a:gd name="T8" fmla="*/ 0 w 26"/>
                <a:gd name="T9" fmla="*/ 9 h 11"/>
                <a:gd name="T10" fmla="*/ 0 w 26"/>
                <a:gd name="T11" fmla="*/ 9 h 11"/>
                <a:gd name="T12" fmla="*/ 24 w 26"/>
                <a:gd name="T13" fmla="*/ 11 h 11"/>
                <a:gd name="T14" fmla="*/ 24 w 26"/>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4" y="11"/>
                  </a:moveTo>
                  <a:lnTo>
                    <a:pt x="26" y="4"/>
                  </a:lnTo>
                  <a:lnTo>
                    <a:pt x="26" y="4"/>
                  </a:lnTo>
                  <a:lnTo>
                    <a:pt x="3" y="0"/>
                  </a:lnTo>
                  <a:lnTo>
                    <a:pt x="0" y="9"/>
                  </a:lnTo>
                  <a:lnTo>
                    <a:pt x="0" y="9"/>
                  </a:lnTo>
                  <a:lnTo>
                    <a:pt x="24" y="11"/>
                  </a:lnTo>
                  <a:lnTo>
                    <a:pt x="24"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7" name="Freeform 1286"/>
            <p:cNvSpPr/>
            <p:nvPr>
              <p:custDataLst>
                <p:tags r:id="rId26"/>
              </p:custDataLst>
            </p:nvPr>
          </p:nvSpPr>
          <p:spPr bwMode="auto">
            <a:xfrm rot="300000">
              <a:off x="4489" y="7210"/>
              <a:ext cx="78" cy="27"/>
            </a:xfrm>
            <a:custGeom>
              <a:avLst/>
              <a:gdLst>
                <a:gd name="T0" fmla="*/ 26 w 26"/>
                <a:gd name="T1" fmla="*/ 0 h 9"/>
                <a:gd name="T2" fmla="*/ 26 w 26"/>
                <a:gd name="T3" fmla="*/ 0 h 9"/>
                <a:gd name="T4" fmla="*/ 13 w 26"/>
                <a:gd name="T5" fmla="*/ 0 h 9"/>
                <a:gd name="T6" fmla="*/ 0 w 26"/>
                <a:gd name="T7" fmla="*/ 0 h 9"/>
                <a:gd name="T8" fmla="*/ 2 w 26"/>
                <a:gd name="T9" fmla="*/ 9 h 9"/>
                <a:gd name="T10" fmla="*/ 13 w 26"/>
                <a:gd name="T11" fmla="*/ 9 h 9"/>
                <a:gd name="T12" fmla="*/ 13 w 26"/>
                <a:gd name="T13" fmla="*/ 9 h 9"/>
                <a:gd name="T14" fmla="*/ 24 w 26"/>
                <a:gd name="T15" fmla="*/ 9 h 9"/>
                <a:gd name="T16" fmla="*/ 26 w 2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9">
                  <a:moveTo>
                    <a:pt x="26" y="0"/>
                  </a:moveTo>
                  <a:lnTo>
                    <a:pt x="26" y="0"/>
                  </a:lnTo>
                  <a:lnTo>
                    <a:pt x="13" y="0"/>
                  </a:lnTo>
                  <a:lnTo>
                    <a:pt x="0" y="0"/>
                  </a:lnTo>
                  <a:lnTo>
                    <a:pt x="2" y="9"/>
                  </a:lnTo>
                  <a:lnTo>
                    <a:pt x="13" y="9"/>
                  </a:lnTo>
                  <a:lnTo>
                    <a:pt x="13" y="9"/>
                  </a:lnTo>
                  <a:lnTo>
                    <a:pt x="24" y="9"/>
                  </a:lnTo>
                  <a:lnTo>
                    <a:pt x="26"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8" name="Freeform 1287"/>
            <p:cNvSpPr/>
            <p:nvPr>
              <p:custDataLst>
                <p:tags r:id="rId27"/>
              </p:custDataLst>
            </p:nvPr>
          </p:nvSpPr>
          <p:spPr bwMode="auto">
            <a:xfrm rot="300000">
              <a:off x="4979" y="7298"/>
              <a:ext cx="78" cy="39"/>
            </a:xfrm>
            <a:custGeom>
              <a:avLst/>
              <a:gdLst>
                <a:gd name="T0" fmla="*/ 22 w 26"/>
                <a:gd name="T1" fmla="*/ 13 h 13"/>
                <a:gd name="T2" fmla="*/ 26 w 26"/>
                <a:gd name="T3" fmla="*/ 7 h 13"/>
                <a:gd name="T4" fmla="*/ 26 w 26"/>
                <a:gd name="T5" fmla="*/ 7 h 13"/>
                <a:gd name="T6" fmla="*/ 5 w 26"/>
                <a:gd name="T7" fmla="*/ 0 h 13"/>
                <a:gd name="T8" fmla="*/ 0 w 26"/>
                <a:gd name="T9" fmla="*/ 9 h 13"/>
                <a:gd name="T10" fmla="*/ 0 w 26"/>
                <a:gd name="T11" fmla="*/ 9 h 13"/>
                <a:gd name="T12" fmla="*/ 22 w 26"/>
                <a:gd name="T13" fmla="*/ 13 h 13"/>
                <a:gd name="T14" fmla="*/ 22 w 26"/>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3">
                  <a:moveTo>
                    <a:pt x="22" y="13"/>
                  </a:moveTo>
                  <a:lnTo>
                    <a:pt x="26" y="7"/>
                  </a:lnTo>
                  <a:lnTo>
                    <a:pt x="26" y="7"/>
                  </a:lnTo>
                  <a:lnTo>
                    <a:pt x="5" y="0"/>
                  </a:lnTo>
                  <a:lnTo>
                    <a:pt x="0" y="9"/>
                  </a:lnTo>
                  <a:lnTo>
                    <a:pt x="0" y="9"/>
                  </a:lnTo>
                  <a:lnTo>
                    <a:pt x="22" y="13"/>
                  </a:lnTo>
                  <a:lnTo>
                    <a:pt x="22"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69" name="Freeform 1288"/>
            <p:cNvSpPr/>
            <p:nvPr>
              <p:custDataLst>
                <p:tags r:id="rId28"/>
              </p:custDataLst>
            </p:nvPr>
          </p:nvSpPr>
          <p:spPr bwMode="auto">
            <a:xfrm rot="300000">
              <a:off x="5392" y="7490"/>
              <a:ext cx="84" cy="45"/>
            </a:xfrm>
            <a:custGeom>
              <a:avLst/>
              <a:gdLst>
                <a:gd name="T0" fmla="*/ 17 w 28"/>
                <a:gd name="T1" fmla="*/ 15 h 15"/>
                <a:gd name="T2" fmla="*/ 28 w 28"/>
                <a:gd name="T3" fmla="*/ 9 h 15"/>
                <a:gd name="T4" fmla="*/ 9 w 28"/>
                <a:gd name="T5" fmla="*/ 0 h 15"/>
                <a:gd name="T6" fmla="*/ 0 w 28"/>
                <a:gd name="T7" fmla="*/ 6 h 15"/>
                <a:gd name="T8" fmla="*/ 17 w 28"/>
                <a:gd name="T9" fmla="*/ 15 h 15"/>
              </a:gdLst>
              <a:ahLst/>
              <a:cxnLst>
                <a:cxn ang="0">
                  <a:pos x="T0" y="T1"/>
                </a:cxn>
                <a:cxn ang="0">
                  <a:pos x="T2" y="T3"/>
                </a:cxn>
                <a:cxn ang="0">
                  <a:pos x="T4" y="T5"/>
                </a:cxn>
                <a:cxn ang="0">
                  <a:pos x="T6" y="T7"/>
                </a:cxn>
                <a:cxn ang="0">
                  <a:pos x="T8" y="T9"/>
                </a:cxn>
              </a:cxnLst>
              <a:rect l="0" t="0" r="r" b="b"/>
              <a:pathLst>
                <a:path w="28" h="15">
                  <a:moveTo>
                    <a:pt x="17" y="15"/>
                  </a:moveTo>
                  <a:lnTo>
                    <a:pt x="28" y="9"/>
                  </a:lnTo>
                  <a:lnTo>
                    <a:pt x="9" y="0"/>
                  </a:lnTo>
                  <a:lnTo>
                    <a:pt x="0" y="6"/>
                  </a:lnTo>
                  <a:lnTo>
                    <a:pt x="17"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0" name="Freeform 1289"/>
            <p:cNvSpPr/>
            <p:nvPr>
              <p:custDataLst>
                <p:tags r:id="rId29"/>
              </p:custDataLst>
            </p:nvPr>
          </p:nvSpPr>
          <p:spPr bwMode="auto">
            <a:xfrm rot="300000">
              <a:off x="5200" y="7383"/>
              <a:ext cx="84" cy="45"/>
            </a:xfrm>
            <a:custGeom>
              <a:avLst/>
              <a:gdLst>
                <a:gd name="T0" fmla="*/ 19 w 28"/>
                <a:gd name="T1" fmla="*/ 15 h 15"/>
                <a:gd name="T2" fmla="*/ 28 w 28"/>
                <a:gd name="T3" fmla="*/ 8 h 15"/>
                <a:gd name="T4" fmla="*/ 28 w 28"/>
                <a:gd name="T5" fmla="*/ 8 h 15"/>
                <a:gd name="T6" fmla="*/ 6 w 28"/>
                <a:gd name="T7" fmla="*/ 0 h 15"/>
                <a:gd name="T8" fmla="*/ 0 w 28"/>
                <a:gd name="T9" fmla="*/ 8 h 15"/>
                <a:gd name="T10" fmla="*/ 0 w 28"/>
                <a:gd name="T11" fmla="*/ 8 h 15"/>
                <a:gd name="T12" fmla="*/ 19 w 28"/>
                <a:gd name="T13" fmla="*/ 15 h 15"/>
                <a:gd name="T14" fmla="*/ 19 w 2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5">
                  <a:moveTo>
                    <a:pt x="19" y="15"/>
                  </a:moveTo>
                  <a:lnTo>
                    <a:pt x="28" y="8"/>
                  </a:lnTo>
                  <a:lnTo>
                    <a:pt x="28" y="8"/>
                  </a:lnTo>
                  <a:lnTo>
                    <a:pt x="6" y="0"/>
                  </a:lnTo>
                  <a:lnTo>
                    <a:pt x="0" y="8"/>
                  </a:lnTo>
                  <a:lnTo>
                    <a:pt x="0" y="8"/>
                  </a:lnTo>
                  <a:lnTo>
                    <a:pt x="19" y="15"/>
                  </a:lnTo>
                  <a:lnTo>
                    <a:pt x="19"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1" name="Freeform 1290"/>
            <p:cNvSpPr/>
            <p:nvPr>
              <p:custDataLst>
                <p:tags r:id="rId30"/>
              </p:custDataLst>
            </p:nvPr>
          </p:nvSpPr>
          <p:spPr bwMode="auto">
            <a:xfrm rot="300000">
              <a:off x="5561" y="7606"/>
              <a:ext cx="84" cy="48"/>
            </a:xfrm>
            <a:custGeom>
              <a:avLst/>
              <a:gdLst>
                <a:gd name="T0" fmla="*/ 18 w 28"/>
                <a:gd name="T1" fmla="*/ 16 h 16"/>
                <a:gd name="T2" fmla="*/ 28 w 28"/>
                <a:gd name="T3" fmla="*/ 9 h 16"/>
                <a:gd name="T4" fmla="*/ 11 w 28"/>
                <a:gd name="T5" fmla="*/ 0 h 16"/>
                <a:gd name="T6" fmla="*/ 0 w 28"/>
                <a:gd name="T7" fmla="*/ 7 h 16"/>
                <a:gd name="T8" fmla="*/ 18 w 28"/>
                <a:gd name="T9" fmla="*/ 16 h 16"/>
              </a:gdLst>
              <a:ahLst/>
              <a:cxnLst>
                <a:cxn ang="0">
                  <a:pos x="T0" y="T1"/>
                </a:cxn>
                <a:cxn ang="0">
                  <a:pos x="T2" y="T3"/>
                </a:cxn>
                <a:cxn ang="0">
                  <a:pos x="T4" y="T5"/>
                </a:cxn>
                <a:cxn ang="0">
                  <a:pos x="T6" y="T7"/>
                </a:cxn>
                <a:cxn ang="0">
                  <a:pos x="T8" y="T9"/>
                </a:cxn>
              </a:cxnLst>
              <a:rect l="0" t="0" r="r" b="b"/>
              <a:pathLst>
                <a:path w="28" h="16">
                  <a:moveTo>
                    <a:pt x="18" y="16"/>
                  </a:moveTo>
                  <a:lnTo>
                    <a:pt x="28" y="9"/>
                  </a:lnTo>
                  <a:lnTo>
                    <a:pt x="11" y="0"/>
                  </a:lnTo>
                  <a:lnTo>
                    <a:pt x="0" y="7"/>
                  </a:lnTo>
                  <a:lnTo>
                    <a:pt x="18" y="1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2" name="Freeform 1291"/>
            <p:cNvSpPr/>
            <p:nvPr>
              <p:custDataLst>
                <p:tags r:id="rId31"/>
              </p:custDataLst>
            </p:nvPr>
          </p:nvSpPr>
          <p:spPr bwMode="auto">
            <a:xfrm rot="300000">
              <a:off x="5932" y="7832"/>
              <a:ext cx="84" cy="45"/>
            </a:xfrm>
            <a:custGeom>
              <a:avLst/>
              <a:gdLst>
                <a:gd name="T0" fmla="*/ 22 w 28"/>
                <a:gd name="T1" fmla="*/ 15 h 15"/>
                <a:gd name="T2" fmla="*/ 28 w 28"/>
                <a:gd name="T3" fmla="*/ 7 h 15"/>
                <a:gd name="T4" fmla="*/ 6 w 28"/>
                <a:gd name="T5" fmla="*/ 0 h 15"/>
                <a:gd name="T6" fmla="*/ 0 w 28"/>
                <a:gd name="T7" fmla="*/ 7 h 15"/>
                <a:gd name="T8" fmla="*/ 22 w 28"/>
                <a:gd name="T9" fmla="*/ 15 h 15"/>
              </a:gdLst>
              <a:ahLst/>
              <a:cxnLst>
                <a:cxn ang="0">
                  <a:pos x="T0" y="T1"/>
                </a:cxn>
                <a:cxn ang="0">
                  <a:pos x="T2" y="T3"/>
                </a:cxn>
                <a:cxn ang="0">
                  <a:pos x="T4" y="T5"/>
                </a:cxn>
                <a:cxn ang="0">
                  <a:pos x="T6" y="T7"/>
                </a:cxn>
                <a:cxn ang="0">
                  <a:pos x="T8" y="T9"/>
                </a:cxn>
              </a:cxnLst>
              <a:rect l="0" t="0" r="r" b="b"/>
              <a:pathLst>
                <a:path w="28" h="15">
                  <a:moveTo>
                    <a:pt x="22" y="15"/>
                  </a:moveTo>
                  <a:lnTo>
                    <a:pt x="28" y="7"/>
                  </a:lnTo>
                  <a:lnTo>
                    <a:pt x="6" y="0"/>
                  </a:lnTo>
                  <a:lnTo>
                    <a:pt x="0" y="7"/>
                  </a:lnTo>
                  <a:lnTo>
                    <a:pt x="22"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3" name="Freeform 1292"/>
            <p:cNvSpPr/>
            <p:nvPr>
              <p:custDataLst>
                <p:tags r:id="rId32"/>
              </p:custDataLst>
            </p:nvPr>
          </p:nvSpPr>
          <p:spPr bwMode="auto">
            <a:xfrm rot="300000">
              <a:off x="5734" y="7726"/>
              <a:ext cx="84" cy="45"/>
            </a:xfrm>
            <a:custGeom>
              <a:avLst/>
              <a:gdLst>
                <a:gd name="T0" fmla="*/ 0 w 28"/>
                <a:gd name="T1" fmla="*/ 6 h 15"/>
                <a:gd name="T2" fmla="*/ 0 w 28"/>
                <a:gd name="T3" fmla="*/ 6 h 15"/>
                <a:gd name="T4" fmla="*/ 2 w 28"/>
                <a:gd name="T5" fmla="*/ 6 h 15"/>
                <a:gd name="T6" fmla="*/ 2 w 28"/>
                <a:gd name="T7" fmla="*/ 6 h 15"/>
                <a:gd name="T8" fmla="*/ 19 w 28"/>
                <a:gd name="T9" fmla="*/ 15 h 15"/>
                <a:gd name="T10" fmla="*/ 28 w 28"/>
                <a:gd name="T11" fmla="*/ 9 h 15"/>
                <a:gd name="T12" fmla="*/ 28 w 28"/>
                <a:gd name="T13" fmla="*/ 9 h 15"/>
                <a:gd name="T14" fmla="*/ 11 w 28"/>
                <a:gd name="T15" fmla="*/ 0 h 15"/>
                <a:gd name="T16" fmla="*/ 11 w 28"/>
                <a:gd name="T17" fmla="*/ 0 h 15"/>
                <a:gd name="T18" fmla="*/ 11 w 28"/>
                <a:gd name="T19" fmla="*/ 0 h 15"/>
                <a:gd name="T20" fmla="*/ 0 w 28"/>
                <a:gd name="T2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5">
                  <a:moveTo>
                    <a:pt x="0" y="6"/>
                  </a:moveTo>
                  <a:lnTo>
                    <a:pt x="0" y="6"/>
                  </a:lnTo>
                  <a:lnTo>
                    <a:pt x="2" y="6"/>
                  </a:lnTo>
                  <a:lnTo>
                    <a:pt x="2" y="6"/>
                  </a:lnTo>
                  <a:lnTo>
                    <a:pt x="19" y="15"/>
                  </a:lnTo>
                  <a:lnTo>
                    <a:pt x="28" y="9"/>
                  </a:lnTo>
                  <a:lnTo>
                    <a:pt x="28" y="9"/>
                  </a:lnTo>
                  <a:lnTo>
                    <a:pt x="11" y="0"/>
                  </a:lnTo>
                  <a:lnTo>
                    <a:pt x="11" y="0"/>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4" name="Freeform 1293"/>
            <p:cNvSpPr/>
            <p:nvPr>
              <p:custDataLst>
                <p:tags r:id="rId33"/>
              </p:custDataLst>
            </p:nvPr>
          </p:nvSpPr>
          <p:spPr bwMode="auto">
            <a:xfrm rot="300000">
              <a:off x="6166" y="7918"/>
              <a:ext cx="78" cy="33"/>
            </a:xfrm>
            <a:custGeom>
              <a:avLst/>
              <a:gdLst>
                <a:gd name="T0" fmla="*/ 24 w 26"/>
                <a:gd name="T1" fmla="*/ 11 h 11"/>
                <a:gd name="T2" fmla="*/ 26 w 26"/>
                <a:gd name="T3" fmla="*/ 2 h 11"/>
                <a:gd name="T4" fmla="*/ 26 w 26"/>
                <a:gd name="T5" fmla="*/ 2 h 11"/>
                <a:gd name="T6" fmla="*/ 4 w 26"/>
                <a:gd name="T7" fmla="*/ 0 h 11"/>
                <a:gd name="T8" fmla="*/ 0 w 26"/>
                <a:gd name="T9" fmla="*/ 6 h 11"/>
                <a:gd name="T10" fmla="*/ 0 w 26"/>
                <a:gd name="T11" fmla="*/ 6 h 11"/>
                <a:gd name="T12" fmla="*/ 24 w 26"/>
                <a:gd name="T13" fmla="*/ 11 h 11"/>
                <a:gd name="T14" fmla="*/ 24 w 26"/>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4" y="11"/>
                  </a:moveTo>
                  <a:lnTo>
                    <a:pt x="26" y="2"/>
                  </a:lnTo>
                  <a:lnTo>
                    <a:pt x="26" y="2"/>
                  </a:lnTo>
                  <a:lnTo>
                    <a:pt x="4" y="0"/>
                  </a:lnTo>
                  <a:lnTo>
                    <a:pt x="0" y="6"/>
                  </a:lnTo>
                  <a:lnTo>
                    <a:pt x="0" y="6"/>
                  </a:lnTo>
                  <a:lnTo>
                    <a:pt x="24" y="11"/>
                  </a:lnTo>
                  <a:lnTo>
                    <a:pt x="24"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5" name="Freeform 1294"/>
            <p:cNvSpPr/>
            <p:nvPr>
              <p:custDataLst>
                <p:tags r:id="rId34"/>
              </p:custDataLst>
            </p:nvPr>
          </p:nvSpPr>
          <p:spPr bwMode="auto">
            <a:xfrm rot="300000">
              <a:off x="6672" y="7968"/>
              <a:ext cx="78" cy="33"/>
            </a:xfrm>
            <a:custGeom>
              <a:avLst/>
              <a:gdLst>
                <a:gd name="T0" fmla="*/ 26 w 26"/>
                <a:gd name="T1" fmla="*/ 9 h 11"/>
                <a:gd name="T2" fmla="*/ 22 w 26"/>
                <a:gd name="T3" fmla="*/ 0 h 11"/>
                <a:gd name="T4" fmla="*/ 22 w 26"/>
                <a:gd name="T5" fmla="*/ 0 h 11"/>
                <a:gd name="T6" fmla="*/ 0 w 26"/>
                <a:gd name="T7" fmla="*/ 4 h 11"/>
                <a:gd name="T8" fmla="*/ 3 w 26"/>
                <a:gd name="T9" fmla="*/ 11 h 11"/>
                <a:gd name="T10" fmla="*/ 3 w 26"/>
                <a:gd name="T11" fmla="*/ 11 h 11"/>
                <a:gd name="T12" fmla="*/ 26 w 26"/>
                <a:gd name="T13" fmla="*/ 9 h 11"/>
                <a:gd name="T14" fmla="*/ 26 w 26"/>
                <a:gd name="T15" fmla="*/ 9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6" y="9"/>
                  </a:moveTo>
                  <a:lnTo>
                    <a:pt x="22" y="0"/>
                  </a:lnTo>
                  <a:lnTo>
                    <a:pt x="22" y="0"/>
                  </a:lnTo>
                  <a:lnTo>
                    <a:pt x="0" y="4"/>
                  </a:lnTo>
                  <a:lnTo>
                    <a:pt x="3" y="11"/>
                  </a:lnTo>
                  <a:lnTo>
                    <a:pt x="3" y="11"/>
                  </a:lnTo>
                  <a:lnTo>
                    <a:pt x="26" y="9"/>
                  </a:lnTo>
                  <a:lnTo>
                    <a:pt x="26" y="9"/>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6" name="Freeform 1295"/>
            <p:cNvSpPr/>
            <p:nvPr>
              <p:custDataLst>
                <p:tags r:id="rId35"/>
              </p:custDataLst>
            </p:nvPr>
          </p:nvSpPr>
          <p:spPr bwMode="auto">
            <a:xfrm rot="300000">
              <a:off x="6420" y="7964"/>
              <a:ext cx="72" cy="27"/>
            </a:xfrm>
            <a:custGeom>
              <a:avLst/>
              <a:gdLst>
                <a:gd name="T0" fmla="*/ 0 w 24"/>
                <a:gd name="T1" fmla="*/ 9 h 9"/>
                <a:gd name="T2" fmla="*/ 0 w 24"/>
                <a:gd name="T3" fmla="*/ 9 h 9"/>
                <a:gd name="T4" fmla="*/ 24 w 24"/>
                <a:gd name="T5" fmla="*/ 9 h 9"/>
                <a:gd name="T6" fmla="*/ 24 w 24"/>
                <a:gd name="T7" fmla="*/ 0 h 9"/>
                <a:gd name="T8" fmla="*/ 24 w 24"/>
                <a:gd name="T9" fmla="*/ 0 h 9"/>
                <a:gd name="T10" fmla="*/ 0 w 24"/>
                <a:gd name="T11" fmla="*/ 0 h 9"/>
                <a:gd name="T12" fmla="*/ 0 w 24"/>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4" h="9">
                  <a:moveTo>
                    <a:pt x="0" y="9"/>
                  </a:moveTo>
                  <a:lnTo>
                    <a:pt x="0" y="9"/>
                  </a:lnTo>
                  <a:lnTo>
                    <a:pt x="24" y="9"/>
                  </a:lnTo>
                  <a:lnTo>
                    <a:pt x="24" y="0"/>
                  </a:lnTo>
                  <a:lnTo>
                    <a:pt x="24" y="0"/>
                  </a:lnTo>
                  <a:lnTo>
                    <a:pt x="0" y="0"/>
                  </a:lnTo>
                  <a:lnTo>
                    <a:pt x="0" y="9"/>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7" name="Freeform 1296"/>
            <p:cNvSpPr/>
            <p:nvPr>
              <p:custDataLst>
                <p:tags r:id="rId36"/>
              </p:custDataLst>
            </p:nvPr>
          </p:nvSpPr>
          <p:spPr bwMode="auto">
            <a:xfrm rot="300000">
              <a:off x="6915" y="7939"/>
              <a:ext cx="84" cy="39"/>
            </a:xfrm>
            <a:custGeom>
              <a:avLst/>
              <a:gdLst>
                <a:gd name="T0" fmla="*/ 28 w 28"/>
                <a:gd name="T1" fmla="*/ 8 h 13"/>
                <a:gd name="T2" fmla="*/ 22 w 28"/>
                <a:gd name="T3" fmla="*/ 0 h 13"/>
                <a:gd name="T4" fmla="*/ 22 w 28"/>
                <a:gd name="T5" fmla="*/ 0 h 13"/>
                <a:gd name="T6" fmla="*/ 0 w 28"/>
                <a:gd name="T7" fmla="*/ 6 h 13"/>
                <a:gd name="T8" fmla="*/ 7 w 28"/>
                <a:gd name="T9" fmla="*/ 13 h 13"/>
                <a:gd name="T10" fmla="*/ 7 w 28"/>
                <a:gd name="T11" fmla="*/ 13 h 13"/>
                <a:gd name="T12" fmla="*/ 28 w 28"/>
                <a:gd name="T13" fmla="*/ 8 h 13"/>
                <a:gd name="T14" fmla="*/ 28 w 28"/>
                <a:gd name="T15" fmla="*/ 8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3">
                  <a:moveTo>
                    <a:pt x="28" y="8"/>
                  </a:moveTo>
                  <a:lnTo>
                    <a:pt x="22" y="0"/>
                  </a:lnTo>
                  <a:lnTo>
                    <a:pt x="22" y="0"/>
                  </a:lnTo>
                  <a:lnTo>
                    <a:pt x="0" y="6"/>
                  </a:lnTo>
                  <a:lnTo>
                    <a:pt x="7" y="13"/>
                  </a:lnTo>
                  <a:lnTo>
                    <a:pt x="7" y="13"/>
                  </a:lnTo>
                  <a:lnTo>
                    <a:pt x="28" y="8"/>
                  </a:lnTo>
                  <a:lnTo>
                    <a:pt x="28"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8" name="Freeform 1297"/>
            <p:cNvSpPr/>
            <p:nvPr>
              <p:custDataLst>
                <p:tags r:id="rId37"/>
              </p:custDataLst>
            </p:nvPr>
          </p:nvSpPr>
          <p:spPr bwMode="auto">
            <a:xfrm rot="300000">
              <a:off x="7319" y="7780"/>
              <a:ext cx="78" cy="45"/>
            </a:xfrm>
            <a:custGeom>
              <a:avLst/>
              <a:gdLst>
                <a:gd name="T0" fmla="*/ 26 w 26"/>
                <a:gd name="T1" fmla="*/ 4 h 15"/>
                <a:gd name="T2" fmla="*/ 15 w 26"/>
                <a:gd name="T3" fmla="*/ 0 h 15"/>
                <a:gd name="T4" fmla="*/ 0 w 26"/>
                <a:gd name="T5" fmla="*/ 11 h 15"/>
                <a:gd name="T6" fmla="*/ 13 w 26"/>
                <a:gd name="T7" fmla="*/ 15 h 15"/>
                <a:gd name="T8" fmla="*/ 26 w 26"/>
                <a:gd name="T9" fmla="*/ 4 h 15"/>
              </a:gdLst>
              <a:ahLst/>
              <a:cxnLst>
                <a:cxn ang="0">
                  <a:pos x="T0" y="T1"/>
                </a:cxn>
                <a:cxn ang="0">
                  <a:pos x="T2" y="T3"/>
                </a:cxn>
                <a:cxn ang="0">
                  <a:pos x="T4" y="T5"/>
                </a:cxn>
                <a:cxn ang="0">
                  <a:pos x="T6" y="T7"/>
                </a:cxn>
                <a:cxn ang="0">
                  <a:pos x="T8" y="T9"/>
                </a:cxn>
              </a:cxnLst>
              <a:rect l="0" t="0" r="r" b="b"/>
              <a:pathLst>
                <a:path w="26" h="15">
                  <a:moveTo>
                    <a:pt x="26" y="4"/>
                  </a:moveTo>
                  <a:lnTo>
                    <a:pt x="15" y="0"/>
                  </a:lnTo>
                  <a:lnTo>
                    <a:pt x="0" y="11"/>
                  </a:lnTo>
                  <a:lnTo>
                    <a:pt x="13" y="15"/>
                  </a:lnTo>
                  <a:lnTo>
                    <a:pt x="26"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79" name="Freeform 1298"/>
            <p:cNvSpPr/>
            <p:nvPr>
              <p:custDataLst>
                <p:tags r:id="rId38"/>
              </p:custDataLst>
            </p:nvPr>
          </p:nvSpPr>
          <p:spPr bwMode="auto">
            <a:xfrm rot="300000">
              <a:off x="7133" y="7875"/>
              <a:ext cx="87" cy="45"/>
            </a:xfrm>
            <a:custGeom>
              <a:avLst/>
              <a:gdLst>
                <a:gd name="T0" fmla="*/ 29 w 29"/>
                <a:gd name="T1" fmla="*/ 6 h 15"/>
                <a:gd name="T2" fmla="*/ 18 w 29"/>
                <a:gd name="T3" fmla="*/ 0 h 15"/>
                <a:gd name="T4" fmla="*/ 18 w 29"/>
                <a:gd name="T5" fmla="*/ 0 h 15"/>
                <a:gd name="T6" fmla="*/ 0 w 29"/>
                <a:gd name="T7" fmla="*/ 8 h 15"/>
                <a:gd name="T8" fmla="*/ 9 w 29"/>
                <a:gd name="T9" fmla="*/ 15 h 15"/>
                <a:gd name="T10" fmla="*/ 9 w 29"/>
                <a:gd name="T11" fmla="*/ 15 h 15"/>
                <a:gd name="T12" fmla="*/ 29 w 29"/>
                <a:gd name="T13" fmla="*/ 6 h 15"/>
                <a:gd name="T14" fmla="*/ 29 w 29"/>
                <a:gd name="T15" fmla="*/ 6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5">
                  <a:moveTo>
                    <a:pt x="29" y="6"/>
                  </a:moveTo>
                  <a:lnTo>
                    <a:pt x="18" y="0"/>
                  </a:lnTo>
                  <a:lnTo>
                    <a:pt x="18" y="0"/>
                  </a:lnTo>
                  <a:lnTo>
                    <a:pt x="0" y="8"/>
                  </a:lnTo>
                  <a:lnTo>
                    <a:pt x="9" y="15"/>
                  </a:lnTo>
                  <a:lnTo>
                    <a:pt x="9" y="15"/>
                  </a:lnTo>
                  <a:lnTo>
                    <a:pt x="29" y="6"/>
                  </a:lnTo>
                  <a:lnTo>
                    <a:pt x="29"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0" name="Freeform 1299"/>
            <p:cNvSpPr/>
            <p:nvPr>
              <p:custDataLst>
                <p:tags r:id="rId39"/>
              </p:custDataLst>
            </p:nvPr>
          </p:nvSpPr>
          <p:spPr bwMode="auto">
            <a:xfrm rot="300000">
              <a:off x="7458" y="7664"/>
              <a:ext cx="66" cy="45"/>
            </a:xfrm>
            <a:custGeom>
              <a:avLst/>
              <a:gdLst>
                <a:gd name="T0" fmla="*/ 17 w 22"/>
                <a:gd name="T1" fmla="*/ 8 h 15"/>
                <a:gd name="T2" fmla="*/ 22 w 22"/>
                <a:gd name="T3" fmla="*/ 2 h 15"/>
                <a:gd name="T4" fmla="*/ 9 w 22"/>
                <a:gd name="T5" fmla="*/ 0 h 15"/>
                <a:gd name="T6" fmla="*/ 4 w 22"/>
                <a:gd name="T7" fmla="*/ 6 h 15"/>
                <a:gd name="T8" fmla="*/ 4 w 22"/>
                <a:gd name="T9" fmla="*/ 6 h 15"/>
                <a:gd name="T10" fmla="*/ 0 w 22"/>
                <a:gd name="T11" fmla="*/ 13 h 15"/>
                <a:gd name="T12" fmla="*/ 13 w 22"/>
                <a:gd name="T13" fmla="*/ 15 h 15"/>
                <a:gd name="T14" fmla="*/ 13 w 22"/>
                <a:gd name="T15" fmla="*/ 15 h 15"/>
                <a:gd name="T16" fmla="*/ 17 w 22"/>
                <a:gd name="T17" fmla="*/ 8 h 15"/>
                <a:gd name="T18" fmla="*/ 17 w 22"/>
                <a:gd name="T1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5">
                  <a:moveTo>
                    <a:pt x="17" y="8"/>
                  </a:moveTo>
                  <a:lnTo>
                    <a:pt x="22" y="2"/>
                  </a:lnTo>
                  <a:lnTo>
                    <a:pt x="9" y="0"/>
                  </a:lnTo>
                  <a:lnTo>
                    <a:pt x="4" y="6"/>
                  </a:lnTo>
                  <a:lnTo>
                    <a:pt x="4" y="6"/>
                  </a:lnTo>
                  <a:lnTo>
                    <a:pt x="0" y="13"/>
                  </a:lnTo>
                  <a:lnTo>
                    <a:pt x="13" y="15"/>
                  </a:lnTo>
                  <a:lnTo>
                    <a:pt x="13" y="15"/>
                  </a:lnTo>
                  <a:lnTo>
                    <a:pt x="17" y="8"/>
                  </a:lnTo>
                  <a:lnTo>
                    <a:pt x="17"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1" name="Freeform 1300"/>
            <p:cNvSpPr/>
            <p:nvPr>
              <p:custDataLst>
                <p:tags r:id="rId40"/>
              </p:custDataLst>
            </p:nvPr>
          </p:nvSpPr>
          <p:spPr bwMode="auto">
            <a:xfrm rot="300000">
              <a:off x="7555" y="7382"/>
              <a:ext cx="51" cy="45"/>
            </a:xfrm>
            <a:custGeom>
              <a:avLst/>
              <a:gdLst>
                <a:gd name="T0" fmla="*/ 17 w 17"/>
                <a:gd name="T1" fmla="*/ 13 h 15"/>
                <a:gd name="T2" fmla="*/ 17 w 17"/>
                <a:gd name="T3" fmla="*/ 13 h 15"/>
                <a:gd name="T4" fmla="*/ 17 w 17"/>
                <a:gd name="T5" fmla="*/ 6 h 15"/>
                <a:gd name="T6" fmla="*/ 15 w 17"/>
                <a:gd name="T7" fmla="*/ 0 h 15"/>
                <a:gd name="T8" fmla="*/ 0 w 17"/>
                <a:gd name="T9" fmla="*/ 0 h 15"/>
                <a:gd name="T10" fmla="*/ 0 w 17"/>
                <a:gd name="T11" fmla="*/ 0 h 15"/>
                <a:gd name="T12" fmla="*/ 4 w 17"/>
                <a:gd name="T13" fmla="*/ 15 h 15"/>
                <a:gd name="T14" fmla="*/ 17 w 17"/>
                <a:gd name="T15" fmla="*/ 1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17" y="13"/>
                  </a:moveTo>
                  <a:lnTo>
                    <a:pt x="17" y="13"/>
                  </a:lnTo>
                  <a:lnTo>
                    <a:pt x="17" y="6"/>
                  </a:lnTo>
                  <a:lnTo>
                    <a:pt x="15" y="0"/>
                  </a:lnTo>
                  <a:lnTo>
                    <a:pt x="0" y="0"/>
                  </a:lnTo>
                  <a:lnTo>
                    <a:pt x="0" y="0"/>
                  </a:lnTo>
                  <a:lnTo>
                    <a:pt x="4" y="15"/>
                  </a:lnTo>
                  <a:lnTo>
                    <a:pt x="17"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2" name="Freeform 1301"/>
            <p:cNvSpPr/>
            <p:nvPr>
              <p:custDataLst>
                <p:tags r:id="rId41"/>
              </p:custDataLst>
            </p:nvPr>
          </p:nvSpPr>
          <p:spPr bwMode="auto">
            <a:xfrm rot="300000">
              <a:off x="7542" y="7527"/>
              <a:ext cx="51" cy="45"/>
            </a:xfrm>
            <a:custGeom>
              <a:avLst/>
              <a:gdLst>
                <a:gd name="T0" fmla="*/ 17 w 17"/>
                <a:gd name="T1" fmla="*/ 0 h 15"/>
                <a:gd name="T2" fmla="*/ 4 w 17"/>
                <a:gd name="T3" fmla="*/ 0 h 15"/>
                <a:gd name="T4" fmla="*/ 0 w 17"/>
                <a:gd name="T5" fmla="*/ 13 h 15"/>
                <a:gd name="T6" fmla="*/ 15 w 17"/>
                <a:gd name="T7" fmla="*/ 15 h 15"/>
                <a:gd name="T8" fmla="*/ 17 w 17"/>
                <a:gd name="T9" fmla="*/ 0 h 15"/>
              </a:gdLst>
              <a:ahLst/>
              <a:cxnLst>
                <a:cxn ang="0">
                  <a:pos x="T0" y="T1"/>
                </a:cxn>
                <a:cxn ang="0">
                  <a:pos x="T2" y="T3"/>
                </a:cxn>
                <a:cxn ang="0">
                  <a:pos x="T4" y="T5"/>
                </a:cxn>
                <a:cxn ang="0">
                  <a:pos x="T6" y="T7"/>
                </a:cxn>
                <a:cxn ang="0">
                  <a:pos x="T8" y="T9"/>
                </a:cxn>
              </a:cxnLst>
              <a:rect l="0" t="0" r="r" b="b"/>
              <a:pathLst>
                <a:path w="17" h="15">
                  <a:moveTo>
                    <a:pt x="17" y="0"/>
                  </a:moveTo>
                  <a:lnTo>
                    <a:pt x="4" y="0"/>
                  </a:lnTo>
                  <a:lnTo>
                    <a:pt x="0" y="13"/>
                  </a:lnTo>
                  <a:lnTo>
                    <a:pt x="15" y="15"/>
                  </a:lnTo>
                  <a:lnTo>
                    <a:pt x="17"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3" name="Freeform 1302"/>
            <p:cNvSpPr/>
            <p:nvPr>
              <p:custDataLst>
                <p:tags r:id="rId42"/>
              </p:custDataLst>
            </p:nvPr>
          </p:nvSpPr>
          <p:spPr bwMode="auto">
            <a:xfrm rot="300000">
              <a:off x="7502" y="7229"/>
              <a:ext cx="66" cy="51"/>
            </a:xfrm>
            <a:custGeom>
              <a:avLst/>
              <a:gdLst>
                <a:gd name="T0" fmla="*/ 0 w 22"/>
                <a:gd name="T1" fmla="*/ 4 h 17"/>
                <a:gd name="T2" fmla="*/ 9 w 22"/>
                <a:gd name="T3" fmla="*/ 17 h 17"/>
                <a:gd name="T4" fmla="*/ 22 w 22"/>
                <a:gd name="T5" fmla="*/ 13 h 17"/>
                <a:gd name="T6" fmla="*/ 13 w 22"/>
                <a:gd name="T7" fmla="*/ 0 h 17"/>
                <a:gd name="T8" fmla="*/ 0 w 22"/>
                <a:gd name="T9" fmla="*/ 4 h 17"/>
              </a:gdLst>
              <a:ahLst/>
              <a:cxnLst>
                <a:cxn ang="0">
                  <a:pos x="T0" y="T1"/>
                </a:cxn>
                <a:cxn ang="0">
                  <a:pos x="T2" y="T3"/>
                </a:cxn>
                <a:cxn ang="0">
                  <a:pos x="T4" y="T5"/>
                </a:cxn>
                <a:cxn ang="0">
                  <a:pos x="T6" y="T7"/>
                </a:cxn>
                <a:cxn ang="0">
                  <a:pos x="T8" y="T9"/>
                </a:cxn>
              </a:cxnLst>
              <a:rect l="0" t="0" r="r" b="b"/>
              <a:pathLst>
                <a:path w="22" h="17">
                  <a:moveTo>
                    <a:pt x="0" y="4"/>
                  </a:moveTo>
                  <a:lnTo>
                    <a:pt x="9" y="17"/>
                  </a:lnTo>
                  <a:lnTo>
                    <a:pt x="22" y="13"/>
                  </a:lnTo>
                  <a:lnTo>
                    <a:pt x="13"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4" name="Freeform 1303"/>
            <p:cNvSpPr/>
            <p:nvPr>
              <p:custDataLst>
                <p:tags r:id="rId43"/>
              </p:custDataLst>
            </p:nvPr>
          </p:nvSpPr>
          <p:spPr bwMode="auto">
            <a:xfrm rot="300000">
              <a:off x="7234" y="6967"/>
              <a:ext cx="78" cy="45"/>
            </a:xfrm>
            <a:custGeom>
              <a:avLst/>
              <a:gdLst>
                <a:gd name="T0" fmla="*/ 9 w 26"/>
                <a:gd name="T1" fmla="*/ 0 h 15"/>
                <a:gd name="T2" fmla="*/ 0 w 26"/>
                <a:gd name="T3" fmla="*/ 4 h 15"/>
                <a:gd name="T4" fmla="*/ 15 w 26"/>
                <a:gd name="T5" fmla="*/ 15 h 15"/>
                <a:gd name="T6" fmla="*/ 26 w 26"/>
                <a:gd name="T7" fmla="*/ 9 h 15"/>
                <a:gd name="T8" fmla="*/ 9 w 26"/>
                <a:gd name="T9" fmla="*/ 0 h 15"/>
              </a:gdLst>
              <a:ahLst/>
              <a:cxnLst>
                <a:cxn ang="0">
                  <a:pos x="T0" y="T1"/>
                </a:cxn>
                <a:cxn ang="0">
                  <a:pos x="T2" y="T3"/>
                </a:cxn>
                <a:cxn ang="0">
                  <a:pos x="T4" y="T5"/>
                </a:cxn>
                <a:cxn ang="0">
                  <a:pos x="T6" y="T7"/>
                </a:cxn>
                <a:cxn ang="0">
                  <a:pos x="T8" y="T9"/>
                </a:cxn>
              </a:cxnLst>
              <a:rect l="0" t="0" r="r" b="b"/>
              <a:pathLst>
                <a:path w="26" h="15">
                  <a:moveTo>
                    <a:pt x="9" y="0"/>
                  </a:moveTo>
                  <a:lnTo>
                    <a:pt x="0" y="4"/>
                  </a:lnTo>
                  <a:lnTo>
                    <a:pt x="15" y="15"/>
                  </a:lnTo>
                  <a:lnTo>
                    <a:pt x="26" y="9"/>
                  </a:lnTo>
                  <a:lnTo>
                    <a:pt x="9"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5" name="Freeform 1304"/>
            <p:cNvSpPr/>
            <p:nvPr>
              <p:custDataLst>
                <p:tags r:id="rId44"/>
              </p:custDataLst>
            </p:nvPr>
          </p:nvSpPr>
          <p:spPr bwMode="auto">
            <a:xfrm rot="300000">
              <a:off x="7391" y="7091"/>
              <a:ext cx="78" cy="45"/>
            </a:xfrm>
            <a:custGeom>
              <a:avLst/>
              <a:gdLst>
                <a:gd name="T0" fmla="*/ 13 w 26"/>
                <a:gd name="T1" fmla="*/ 15 h 15"/>
                <a:gd name="T2" fmla="*/ 26 w 26"/>
                <a:gd name="T3" fmla="*/ 11 h 15"/>
                <a:gd name="T4" fmla="*/ 26 w 26"/>
                <a:gd name="T5" fmla="*/ 11 h 15"/>
                <a:gd name="T6" fmla="*/ 11 w 26"/>
                <a:gd name="T7" fmla="*/ 0 h 15"/>
                <a:gd name="T8" fmla="*/ 0 w 26"/>
                <a:gd name="T9" fmla="*/ 4 h 15"/>
                <a:gd name="T10" fmla="*/ 0 w 26"/>
                <a:gd name="T11" fmla="*/ 4 h 15"/>
                <a:gd name="T12" fmla="*/ 13 w 26"/>
                <a:gd name="T13" fmla="*/ 15 h 15"/>
                <a:gd name="T14" fmla="*/ 13 w 26"/>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
                  <a:moveTo>
                    <a:pt x="13" y="15"/>
                  </a:moveTo>
                  <a:lnTo>
                    <a:pt x="26" y="11"/>
                  </a:lnTo>
                  <a:lnTo>
                    <a:pt x="26" y="11"/>
                  </a:lnTo>
                  <a:lnTo>
                    <a:pt x="11" y="0"/>
                  </a:lnTo>
                  <a:lnTo>
                    <a:pt x="0" y="4"/>
                  </a:lnTo>
                  <a:lnTo>
                    <a:pt x="0" y="4"/>
                  </a:lnTo>
                  <a:lnTo>
                    <a:pt x="13" y="15"/>
                  </a:lnTo>
                  <a:lnTo>
                    <a:pt x="13"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6" name="Freeform 1305"/>
            <p:cNvSpPr/>
            <p:nvPr>
              <p:custDataLst>
                <p:tags r:id="rId45"/>
              </p:custDataLst>
            </p:nvPr>
          </p:nvSpPr>
          <p:spPr bwMode="auto">
            <a:xfrm rot="300000">
              <a:off x="7055" y="6841"/>
              <a:ext cx="84" cy="54"/>
            </a:xfrm>
            <a:custGeom>
              <a:avLst/>
              <a:gdLst>
                <a:gd name="T0" fmla="*/ 28 w 28"/>
                <a:gd name="T1" fmla="*/ 11 h 18"/>
                <a:gd name="T2" fmla="*/ 11 w 28"/>
                <a:gd name="T3" fmla="*/ 0 h 18"/>
                <a:gd name="T4" fmla="*/ 0 w 28"/>
                <a:gd name="T5" fmla="*/ 7 h 18"/>
                <a:gd name="T6" fmla="*/ 18 w 28"/>
                <a:gd name="T7" fmla="*/ 18 h 18"/>
                <a:gd name="T8" fmla="*/ 28 w 28"/>
                <a:gd name="T9" fmla="*/ 11 h 18"/>
              </a:gdLst>
              <a:ahLst/>
              <a:cxnLst>
                <a:cxn ang="0">
                  <a:pos x="T0" y="T1"/>
                </a:cxn>
                <a:cxn ang="0">
                  <a:pos x="T2" y="T3"/>
                </a:cxn>
                <a:cxn ang="0">
                  <a:pos x="T4" y="T5"/>
                </a:cxn>
                <a:cxn ang="0">
                  <a:pos x="T6" y="T7"/>
                </a:cxn>
                <a:cxn ang="0">
                  <a:pos x="T8" y="T9"/>
                </a:cxn>
              </a:cxnLst>
              <a:rect l="0" t="0" r="r" b="b"/>
              <a:pathLst>
                <a:path w="28" h="18">
                  <a:moveTo>
                    <a:pt x="28" y="11"/>
                  </a:moveTo>
                  <a:lnTo>
                    <a:pt x="11" y="0"/>
                  </a:lnTo>
                  <a:lnTo>
                    <a:pt x="0" y="7"/>
                  </a:lnTo>
                  <a:lnTo>
                    <a:pt x="18" y="18"/>
                  </a:lnTo>
                  <a:lnTo>
                    <a:pt x="28"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7" name="Freeform 1306"/>
            <p:cNvSpPr/>
            <p:nvPr>
              <p:custDataLst>
                <p:tags r:id="rId46"/>
              </p:custDataLst>
            </p:nvPr>
          </p:nvSpPr>
          <p:spPr bwMode="auto">
            <a:xfrm rot="300000">
              <a:off x="6762" y="6591"/>
              <a:ext cx="69" cy="45"/>
            </a:xfrm>
            <a:custGeom>
              <a:avLst/>
              <a:gdLst>
                <a:gd name="T0" fmla="*/ 13 w 23"/>
                <a:gd name="T1" fmla="*/ 15 h 15"/>
                <a:gd name="T2" fmla="*/ 23 w 23"/>
                <a:gd name="T3" fmla="*/ 11 h 15"/>
                <a:gd name="T4" fmla="*/ 23 w 23"/>
                <a:gd name="T5" fmla="*/ 11 h 15"/>
                <a:gd name="T6" fmla="*/ 13 w 23"/>
                <a:gd name="T7" fmla="*/ 0 h 15"/>
                <a:gd name="T8" fmla="*/ 0 w 23"/>
                <a:gd name="T9" fmla="*/ 4 h 15"/>
                <a:gd name="T10" fmla="*/ 0 w 23"/>
                <a:gd name="T11" fmla="*/ 4 h 15"/>
                <a:gd name="T12" fmla="*/ 13 w 23"/>
                <a:gd name="T13" fmla="*/ 15 h 15"/>
                <a:gd name="T14" fmla="*/ 13 w 23"/>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5">
                  <a:moveTo>
                    <a:pt x="13" y="15"/>
                  </a:moveTo>
                  <a:lnTo>
                    <a:pt x="23" y="11"/>
                  </a:lnTo>
                  <a:lnTo>
                    <a:pt x="23" y="11"/>
                  </a:lnTo>
                  <a:lnTo>
                    <a:pt x="13" y="0"/>
                  </a:lnTo>
                  <a:lnTo>
                    <a:pt x="0" y="4"/>
                  </a:lnTo>
                  <a:lnTo>
                    <a:pt x="0" y="4"/>
                  </a:lnTo>
                  <a:lnTo>
                    <a:pt x="13" y="15"/>
                  </a:lnTo>
                  <a:lnTo>
                    <a:pt x="13"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8" name="Freeform 1307"/>
            <p:cNvSpPr/>
            <p:nvPr>
              <p:custDataLst>
                <p:tags r:id="rId47"/>
              </p:custDataLst>
            </p:nvPr>
          </p:nvSpPr>
          <p:spPr bwMode="auto">
            <a:xfrm rot="300000">
              <a:off x="6891" y="6725"/>
              <a:ext cx="78" cy="45"/>
            </a:xfrm>
            <a:custGeom>
              <a:avLst/>
              <a:gdLst>
                <a:gd name="T0" fmla="*/ 26 w 26"/>
                <a:gd name="T1" fmla="*/ 11 h 15"/>
                <a:gd name="T2" fmla="*/ 26 w 26"/>
                <a:gd name="T3" fmla="*/ 11 h 15"/>
                <a:gd name="T4" fmla="*/ 11 w 26"/>
                <a:gd name="T5" fmla="*/ 0 h 15"/>
                <a:gd name="T6" fmla="*/ 0 w 26"/>
                <a:gd name="T7" fmla="*/ 4 h 15"/>
                <a:gd name="T8" fmla="*/ 0 w 26"/>
                <a:gd name="T9" fmla="*/ 4 h 15"/>
                <a:gd name="T10" fmla="*/ 15 w 26"/>
                <a:gd name="T11" fmla="*/ 15 h 15"/>
                <a:gd name="T12" fmla="*/ 26 w 26"/>
                <a:gd name="T13" fmla="*/ 11 h 15"/>
              </a:gdLst>
              <a:ahLst/>
              <a:cxnLst>
                <a:cxn ang="0">
                  <a:pos x="T0" y="T1"/>
                </a:cxn>
                <a:cxn ang="0">
                  <a:pos x="T2" y="T3"/>
                </a:cxn>
                <a:cxn ang="0">
                  <a:pos x="T4" y="T5"/>
                </a:cxn>
                <a:cxn ang="0">
                  <a:pos x="T6" y="T7"/>
                </a:cxn>
                <a:cxn ang="0">
                  <a:pos x="T8" y="T9"/>
                </a:cxn>
                <a:cxn ang="0">
                  <a:pos x="T10" y="T11"/>
                </a:cxn>
                <a:cxn ang="0">
                  <a:pos x="T12" y="T13"/>
                </a:cxn>
              </a:cxnLst>
              <a:rect l="0" t="0" r="r" b="b"/>
              <a:pathLst>
                <a:path w="26" h="15">
                  <a:moveTo>
                    <a:pt x="26" y="11"/>
                  </a:moveTo>
                  <a:lnTo>
                    <a:pt x="26" y="11"/>
                  </a:lnTo>
                  <a:lnTo>
                    <a:pt x="11" y="0"/>
                  </a:lnTo>
                  <a:lnTo>
                    <a:pt x="0" y="4"/>
                  </a:lnTo>
                  <a:lnTo>
                    <a:pt x="0" y="4"/>
                  </a:lnTo>
                  <a:lnTo>
                    <a:pt x="15" y="15"/>
                  </a:lnTo>
                  <a:lnTo>
                    <a:pt x="26"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89" name="Freeform 1308"/>
            <p:cNvSpPr/>
            <p:nvPr>
              <p:custDataLst>
                <p:tags r:id="rId48"/>
              </p:custDataLst>
            </p:nvPr>
          </p:nvSpPr>
          <p:spPr bwMode="auto">
            <a:xfrm rot="300000">
              <a:off x="6675" y="6446"/>
              <a:ext cx="66" cy="48"/>
            </a:xfrm>
            <a:custGeom>
              <a:avLst/>
              <a:gdLst>
                <a:gd name="T0" fmla="*/ 22 w 22"/>
                <a:gd name="T1" fmla="*/ 13 h 16"/>
                <a:gd name="T2" fmla="*/ 22 w 22"/>
                <a:gd name="T3" fmla="*/ 13 h 16"/>
                <a:gd name="T4" fmla="*/ 13 w 22"/>
                <a:gd name="T5" fmla="*/ 0 h 16"/>
                <a:gd name="T6" fmla="*/ 0 w 22"/>
                <a:gd name="T7" fmla="*/ 3 h 16"/>
                <a:gd name="T8" fmla="*/ 0 w 22"/>
                <a:gd name="T9" fmla="*/ 3 h 16"/>
                <a:gd name="T10" fmla="*/ 9 w 22"/>
                <a:gd name="T11" fmla="*/ 16 h 16"/>
                <a:gd name="T12" fmla="*/ 22 w 22"/>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22" h="16">
                  <a:moveTo>
                    <a:pt x="22" y="13"/>
                  </a:moveTo>
                  <a:lnTo>
                    <a:pt x="22" y="13"/>
                  </a:lnTo>
                  <a:lnTo>
                    <a:pt x="13" y="0"/>
                  </a:lnTo>
                  <a:lnTo>
                    <a:pt x="0" y="3"/>
                  </a:lnTo>
                  <a:lnTo>
                    <a:pt x="0" y="3"/>
                  </a:lnTo>
                  <a:lnTo>
                    <a:pt x="9" y="16"/>
                  </a:lnTo>
                  <a:lnTo>
                    <a:pt x="22"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0" name="Freeform 1309"/>
            <p:cNvSpPr/>
            <p:nvPr>
              <p:custDataLst>
                <p:tags r:id="rId49"/>
              </p:custDataLst>
            </p:nvPr>
          </p:nvSpPr>
          <p:spPr bwMode="auto">
            <a:xfrm rot="300000">
              <a:off x="6650" y="6160"/>
              <a:ext cx="45" cy="39"/>
            </a:xfrm>
            <a:custGeom>
              <a:avLst/>
              <a:gdLst>
                <a:gd name="T0" fmla="*/ 0 w 15"/>
                <a:gd name="T1" fmla="*/ 13 h 13"/>
                <a:gd name="T2" fmla="*/ 13 w 15"/>
                <a:gd name="T3" fmla="*/ 13 h 13"/>
                <a:gd name="T4" fmla="*/ 15 w 15"/>
                <a:gd name="T5" fmla="*/ 0 h 13"/>
                <a:gd name="T6" fmla="*/ 0 w 15"/>
                <a:gd name="T7" fmla="*/ 0 h 13"/>
                <a:gd name="T8" fmla="*/ 0 w 15"/>
                <a:gd name="T9" fmla="*/ 13 h 13"/>
              </a:gdLst>
              <a:ahLst/>
              <a:cxnLst>
                <a:cxn ang="0">
                  <a:pos x="T0" y="T1"/>
                </a:cxn>
                <a:cxn ang="0">
                  <a:pos x="T2" y="T3"/>
                </a:cxn>
                <a:cxn ang="0">
                  <a:pos x="T4" y="T5"/>
                </a:cxn>
                <a:cxn ang="0">
                  <a:pos x="T6" y="T7"/>
                </a:cxn>
                <a:cxn ang="0">
                  <a:pos x="T8" y="T9"/>
                </a:cxn>
              </a:cxnLst>
              <a:rect l="0" t="0" r="r" b="b"/>
              <a:pathLst>
                <a:path w="15" h="13">
                  <a:moveTo>
                    <a:pt x="0" y="13"/>
                  </a:moveTo>
                  <a:lnTo>
                    <a:pt x="13" y="13"/>
                  </a:lnTo>
                  <a:lnTo>
                    <a:pt x="15" y="0"/>
                  </a:lnTo>
                  <a:lnTo>
                    <a:pt x="0"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1" name="Freeform 1310"/>
            <p:cNvSpPr/>
            <p:nvPr>
              <p:custDataLst>
                <p:tags r:id="rId50"/>
              </p:custDataLst>
            </p:nvPr>
          </p:nvSpPr>
          <p:spPr bwMode="auto">
            <a:xfrm rot="300000">
              <a:off x="6637" y="6302"/>
              <a:ext cx="57" cy="45"/>
            </a:xfrm>
            <a:custGeom>
              <a:avLst/>
              <a:gdLst>
                <a:gd name="T0" fmla="*/ 19 w 19"/>
                <a:gd name="T1" fmla="*/ 13 h 15"/>
                <a:gd name="T2" fmla="*/ 19 w 19"/>
                <a:gd name="T3" fmla="*/ 13 h 15"/>
                <a:gd name="T4" fmla="*/ 15 w 19"/>
                <a:gd name="T5" fmla="*/ 0 h 15"/>
                <a:gd name="T6" fmla="*/ 0 w 19"/>
                <a:gd name="T7" fmla="*/ 2 h 15"/>
                <a:gd name="T8" fmla="*/ 0 w 19"/>
                <a:gd name="T9" fmla="*/ 2 h 15"/>
                <a:gd name="T10" fmla="*/ 4 w 19"/>
                <a:gd name="T11" fmla="*/ 15 h 15"/>
                <a:gd name="T12" fmla="*/ 19 w 19"/>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19" h="15">
                  <a:moveTo>
                    <a:pt x="19" y="13"/>
                  </a:moveTo>
                  <a:lnTo>
                    <a:pt x="19" y="13"/>
                  </a:lnTo>
                  <a:lnTo>
                    <a:pt x="15" y="0"/>
                  </a:lnTo>
                  <a:lnTo>
                    <a:pt x="0" y="2"/>
                  </a:lnTo>
                  <a:lnTo>
                    <a:pt x="0" y="2"/>
                  </a:lnTo>
                  <a:lnTo>
                    <a:pt x="4" y="15"/>
                  </a:lnTo>
                  <a:lnTo>
                    <a:pt x="19"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2" name="Freeform 1311"/>
            <p:cNvSpPr/>
            <p:nvPr>
              <p:custDataLst>
                <p:tags r:id="rId51"/>
              </p:custDataLst>
            </p:nvPr>
          </p:nvSpPr>
          <p:spPr bwMode="auto">
            <a:xfrm rot="300000">
              <a:off x="6695" y="6018"/>
              <a:ext cx="57" cy="45"/>
            </a:xfrm>
            <a:custGeom>
              <a:avLst/>
              <a:gdLst>
                <a:gd name="T0" fmla="*/ 0 w 19"/>
                <a:gd name="T1" fmla="*/ 13 h 15"/>
                <a:gd name="T2" fmla="*/ 13 w 19"/>
                <a:gd name="T3" fmla="*/ 15 h 15"/>
                <a:gd name="T4" fmla="*/ 19 w 19"/>
                <a:gd name="T5" fmla="*/ 2 h 15"/>
                <a:gd name="T6" fmla="*/ 4 w 19"/>
                <a:gd name="T7" fmla="*/ 0 h 15"/>
                <a:gd name="T8" fmla="*/ 0 w 19"/>
                <a:gd name="T9" fmla="*/ 13 h 15"/>
              </a:gdLst>
              <a:ahLst/>
              <a:cxnLst>
                <a:cxn ang="0">
                  <a:pos x="T0" y="T1"/>
                </a:cxn>
                <a:cxn ang="0">
                  <a:pos x="T2" y="T3"/>
                </a:cxn>
                <a:cxn ang="0">
                  <a:pos x="T4" y="T5"/>
                </a:cxn>
                <a:cxn ang="0">
                  <a:pos x="T6" y="T7"/>
                </a:cxn>
                <a:cxn ang="0">
                  <a:pos x="T8" y="T9"/>
                </a:cxn>
              </a:cxnLst>
              <a:rect l="0" t="0" r="r" b="b"/>
              <a:pathLst>
                <a:path w="19" h="15">
                  <a:moveTo>
                    <a:pt x="0" y="13"/>
                  </a:moveTo>
                  <a:lnTo>
                    <a:pt x="13" y="15"/>
                  </a:lnTo>
                  <a:lnTo>
                    <a:pt x="19" y="2"/>
                  </a:lnTo>
                  <a:lnTo>
                    <a:pt x="4"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3" name="Freeform 1312"/>
            <p:cNvSpPr/>
            <p:nvPr>
              <p:custDataLst>
                <p:tags r:id="rId52"/>
              </p:custDataLst>
            </p:nvPr>
          </p:nvSpPr>
          <p:spPr bwMode="auto">
            <a:xfrm rot="300000">
              <a:off x="6924" y="5773"/>
              <a:ext cx="78" cy="45"/>
            </a:xfrm>
            <a:custGeom>
              <a:avLst/>
              <a:gdLst>
                <a:gd name="T0" fmla="*/ 26 w 26"/>
                <a:gd name="T1" fmla="*/ 5 h 15"/>
                <a:gd name="T2" fmla="*/ 13 w 26"/>
                <a:gd name="T3" fmla="*/ 0 h 15"/>
                <a:gd name="T4" fmla="*/ 0 w 26"/>
                <a:gd name="T5" fmla="*/ 11 h 15"/>
                <a:gd name="T6" fmla="*/ 11 w 26"/>
                <a:gd name="T7" fmla="*/ 15 h 15"/>
                <a:gd name="T8" fmla="*/ 26 w 26"/>
                <a:gd name="T9" fmla="*/ 5 h 15"/>
              </a:gdLst>
              <a:ahLst/>
              <a:cxnLst>
                <a:cxn ang="0">
                  <a:pos x="T0" y="T1"/>
                </a:cxn>
                <a:cxn ang="0">
                  <a:pos x="T2" y="T3"/>
                </a:cxn>
                <a:cxn ang="0">
                  <a:pos x="T4" y="T5"/>
                </a:cxn>
                <a:cxn ang="0">
                  <a:pos x="T6" y="T7"/>
                </a:cxn>
                <a:cxn ang="0">
                  <a:pos x="T8" y="T9"/>
                </a:cxn>
              </a:cxnLst>
              <a:rect l="0" t="0" r="r" b="b"/>
              <a:pathLst>
                <a:path w="26" h="15">
                  <a:moveTo>
                    <a:pt x="26" y="5"/>
                  </a:moveTo>
                  <a:lnTo>
                    <a:pt x="13" y="0"/>
                  </a:lnTo>
                  <a:lnTo>
                    <a:pt x="0" y="11"/>
                  </a:lnTo>
                  <a:lnTo>
                    <a:pt x="11" y="15"/>
                  </a:lnTo>
                  <a:lnTo>
                    <a:pt x="26" y="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94" name="Freeform 1313"/>
            <p:cNvSpPr/>
            <p:nvPr>
              <p:custDataLst>
                <p:tags r:id="rId53"/>
              </p:custDataLst>
            </p:nvPr>
          </p:nvSpPr>
          <p:spPr bwMode="auto">
            <a:xfrm rot="300000">
              <a:off x="6784" y="5883"/>
              <a:ext cx="69" cy="54"/>
            </a:xfrm>
            <a:custGeom>
              <a:avLst/>
              <a:gdLst>
                <a:gd name="T0" fmla="*/ 0 w 23"/>
                <a:gd name="T1" fmla="*/ 13 h 18"/>
                <a:gd name="T2" fmla="*/ 13 w 23"/>
                <a:gd name="T3" fmla="*/ 18 h 18"/>
                <a:gd name="T4" fmla="*/ 23 w 23"/>
                <a:gd name="T5" fmla="*/ 5 h 18"/>
                <a:gd name="T6" fmla="*/ 10 w 23"/>
                <a:gd name="T7" fmla="*/ 0 h 18"/>
                <a:gd name="T8" fmla="*/ 0 w 23"/>
                <a:gd name="T9" fmla="*/ 13 h 18"/>
              </a:gdLst>
              <a:ahLst/>
              <a:cxnLst>
                <a:cxn ang="0">
                  <a:pos x="T0" y="T1"/>
                </a:cxn>
                <a:cxn ang="0">
                  <a:pos x="T2" y="T3"/>
                </a:cxn>
                <a:cxn ang="0">
                  <a:pos x="T4" y="T5"/>
                </a:cxn>
                <a:cxn ang="0">
                  <a:pos x="T6" y="T7"/>
                </a:cxn>
                <a:cxn ang="0">
                  <a:pos x="T8" y="T9"/>
                </a:cxn>
              </a:cxnLst>
              <a:rect l="0" t="0" r="r" b="b"/>
              <a:pathLst>
                <a:path w="23" h="18">
                  <a:moveTo>
                    <a:pt x="0" y="13"/>
                  </a:moveTo>
                  <a:lnTo>
                    <a:pt x="13" y="18"/>
                  </a:lnTo>
                  <a:lnTo>
                    <a:pt x="23" y="5"/>
                  </a:lnTo>
                  <a:lnTo>
                    <a:pt x="10"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5" name="Freeform 1314"/>
            <p:cNvSpPr/>
            <p:nvPr>
              <p:custDataLst>
                <p:tags r:id="rId54"/>
              </p:custDataLst>
            </p:nvPr>
          </p:nvSpPr>
          <p:spPr bwMode="auto">
            <a:xfrm rot="300000">
              <a:off x="7100" y="5681"/>
              <a:ext cx="78" cy="45"/>
            </a:xfrm>
            <a:custGeom>
              <a:avLst/>
              <a:gdLst>
                <a:gd name="T0" fmla="*/ 26 w 26"/>
                <a:gd name="T1" fmla="*/ 6 h 15"/>
                <a:gd name="T2" fmla="*/ 17 w 26"/>
                <a:gd name="T3" fmla="*/ 0 h 15"/>
                <a:gd name="T4" fmla="*/ 0 w 26"/>
                <a:gd name="T5" fmla="*/ 8 h 15"/>
                <a:gd name="T6" fmla="*/ 9 w 26"/>
                <a:gd name="T7" fmla="*/ 15 h 15"/>
                <a:gd name="T8" fmla="*/ 26 w 26"/>
                <a:gd name="T9" fmla="*/ 6 h 15"/>
              </a:gdLst>
              <a:ahLst/>
              <a:cxnLst>
                <a:cxn ang="0">
                  <a:pos x="T0" y="T1"/>
                </a:cxn>
                <a:cxn ang="0">
                  <a:pos x="T2" y="T3"/>
                </a:cxn>
                <a:cxn ang="0">
                  <a:pos x="T4" y="T5"/>
                </a:cxn>
                <a:cxn ang="0">
                  <a:pos x="T6" y="T7"/>
                </a:cxn>
                <a:cxn ang="0">
                  <a:pos x="T8" y="T9"/>
                </a:cxn>
              </a:cxnLst>
              <a:rect l="0" t="0" r="r" b="b"/>
              <a:pathLst>
                <a:path w="26" h="15">
                  <a:moveTo>
                    <a:pt x="26" y="6"/>
                  </a:moveTo>
                  <a:lnTo>
                    <a:pt x="17" y="0"/>
                  </a:lnTo>
                  <a:lnTo>
                    <a:pt x="0" y="8"/>
                  </a:lnTo>
                  <a:lnTo>
                    <a:pt x="9" y="15"/>
                  </a:lnTo>
                  <a:lnTo>
                    <a:pt x="26"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96" name="Freeform 1315"/>
            <p:cNvSpPr/>
            <p:nvPr>
              <p:custDataLst>
                <p:tags r:id="rId55"/>
              </p:custDataLst>
            </p:nvPr>
          </p:nvSpPr>
          <p:spPr bwMode="auto">
            <a:xfrm rot="300000">
              <a:off x="7537" y="5571"/>
              <a:ext cx="84" cy="33"/>
            </a:xfrm>
            <a:custGeom>
              <a:avLst/>
              <a:gdLst>
                <a:gd name="T0" fmla="*/ 22 w 28"/>
                <a:gd name="T1" fmla="*/ 0 h 11"/>
                <a:gd name="T2" fmla="*/ 22 w 28"/>
                <a:gd name="T3" fmla="*/ 0 h 11"/>
                <a:gd name="T4" fmla="*/ 0 w 28"/>
                <a:gd name="T5" fmla="*/ 4 h 11"/>
                <a:gd name="T6" fmla="*/ 5 w 28"/>
                <a:gd name="T7" fmla="*/ 11 h 11"/>
                <a:gd name="T8" fmla="*/ 5 w 28"/>
                <a:gd name="T9" fmla="*/ 11 h 11"/>
                <a:gd name="T10" fmla="*/ 28 w 28"/>
                <a:gd name="T11" fmla="*/ 6 h 11"/>
                <a:gd name="T12" fmla="*/ 22 w 28"/>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8" h="11">
                  <a:moveTo>
                    <a:pt x="22" y="0"/>
                  </a:moveTo>
                  <a:lnTo>
                    <a:pt x="22" y="0"/>
                  </a:lnTo>
                  <a:lnTo>
                    <a:pt x="0" y="4"/>
                  </a:lnTo>
                  <a:lnTo>
                    <a:pt x="5" y="11"/>
                  </a:lnTo>
                  <a:lnTo>
                    <a:pt x="5" y="11"/>
                  </a:lnTo>
                  <a:lnTo>
                    <a:pt x="28" y="6"/>
                  </a:lnTo>
                  <a:lnTo>
                    <a:pt x="22"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7" name="Freeform 1316"/>
            <p:cNvSpPr/>
            <p:nvPr>
              <p:custDataLst>
                <p:tags r:id="rId56"/>
              </p:custDataLst>
            </p:nvPr>
          </p:nvSpPr>
          <p:spPr bwMode="auto">
            <a:xfrm rot="300000">
              <a:off x="7307" y="5607"/>
              <a:ext cx="84" cy="48"/>
            </a:xfrm>
            <a:custGeom>
              <a:avLst/>
              <a:gdLst>
                <a:gd name="T0" fmla="*/ 19 w 28"/>
                <a:gd name="T1" fmla="*/ 0 h 16"/>
                <a:gd name="T2" fmla="*/ 0 w 28"/>
                <a:gd name="T3" fmla="*/ 9 h 16"/>
                <a:gd name="T4" fmla="*/ 6 w 28"/>
                <a:gd name="T5" fmla="*/ 16 h 16"/>
                <a:gd name="T6" fmla="*/ 28 w 28"/>
                <a:gd name="T7" fmla="*/ 9 h 16"/>
                <a:gd name="T8" fmla="*/ 19 w 28"/>
                <a:gd name="T9" fmla="*/ 0 h 16"/>
              </a:gdLst>
              <a:ahLst/>
              <a:cxnLst>
                <a:cxn ang="0">
                  <a:pos x="T0" y="T1"/>
                </a:cxn>
                <a:cxn ang="0">
                  <a:pos x="T2" y="T3"/>
                </a:cxn>
                <a:cxn ang="0">
                  <a:pos x="T4" y="T5"/>
                </a:cxn>
                <a:cxn ang="0">
                  <a:pos x="T6" y="T7"/>
                </a:cxn>
                <a:cxn ang="0">
                  <a:pos x="T8" y="T9"/>
                </a:cxn>
              </a:cxnLst>
              <a:rect l="0" t="0" r="r" b="b"/>
              <a:pathLst>
                <a:path w="28" h="16">
                  <a:moveTo>
                    <a:pt x="19" y="0"/>
                  </a:moveTo>
                  <a:lnTo>
                    <a:pt x="0" y="9"/>
                  </a:lnTo>
                  <a:lnTo>
                    <a:pt x="6" y="16"/>
                  </a:lnTo>
                  <a:lnTo>
                    <a:pt x="28" y="9"/>
                  </a:lnTo>
                  <a:lnTo>
                    <a:pt x="19"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8" name="Freeform 1317"/>
            <p:cNvSpPr/>
            <p:nvPr>
              <p:custDataLst>
                <p:tags r:id="rId57"/>
              </p:custDataLst>
            </p:nvPr>
          </p:nvSpPr>
          <p:spPr bwMode="auto">
            <a:xfrm rot="300000">
              <a:off x="7784" y="5553"/>
              <a:ext cx="78" cy="33"/>
            </a:xfrm>
            <a:custGeom>
              <a:avLst/>
              <a:gdLst>
                <a:gd name="T0" fmla="*/ 3 w 26"/>
                <a:gd name="T1" fmla="*/ 11 h 11"/>
                <a:gd name="T2" fmla="*/ 3 w 26"/>
                <a:gd name="T3" fmla="*/ 11 h 11"/>
                <a:gd name="T4" fmla="*/ 26 w 26"/>
                <a:gd name="T5" fmla="*/ 9 h 11"/>
                <a:gd name="T6" fmla="*/ 24 w 26"/>
                <a:gd name="T7" fmla="*/ 0 h 11"/>
                <a:gd name="T8" fmla="*/ 24 w 26"/>
                <a:gd name="T9" fmla="*/ 0 h 11"/>
                <a:gd name="T10" fmla="*/ 0 w 26"/>
                <a:gd name="T11" fmla="*/ 2 h 11"/>
                <a:gd name="T12" fmla="*/ 3 w 26"/>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26" h="11">
                  <a:moveTo>
                    <a:pt x="3" y="11"/>
                  </a:moveTo>
                  <a:lnTo>
                    <a:pt x="3" y="11"/>
                  </a:lnTo>
                  <a:lnTo>
                    <a:pt x="26" y="9"/>
                  </a:lnTo>
                  <a:lnTo>
                    <a:pt x="24" y="0"/>
                  </a:lnTo>
                  <a:lnTo>
                    <a:pt x="24" y="0"/>
                  </a:lnTo>
                  <a:lnTo>
                    <a:pt x="0" y="2"/>
                  </a:lnTo>
                  <a:lnTo>
                    <a:pt x="3"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9" name="Freeform 1318"/>
            <p:cNvSpPr/>
            <p:nvPr>
              <p:custDataLst>
                <p:tags r:id="rId58"/>
              </p:custDataLst>
            </p:nvPr>
          </p:nvSpPr>
          <p:spPr bwMode="auto">
            <a:xfrm rot="300000">
              <a:off x="8294" y="5604"/>
              <a:ext cx="78" cy="33"/>
            </a:xfrm>
            <a:custGeom>
              <a:avLst/>
              <a:gdLst>
                <a:gd name="T0" fmla="*/ 2 w 26"/>
                <a:gd name="T1" fmla="*/ 0 h 11"/>
                <a:gd name="T2" fmla="*/ 0 w 26"/>
                <a:gd name="T3" fmla="*/ 9 h 11"/>
                <a:gd name="T4" fmla="*/ 4 w 26"/>
                <a:gd name="T5" fmla="*/ 9 h 11"/>
                <a:gd name="T6" fmla="*/ 11 w 26"/>
                <a:gd name="T7" fmla="*/ 9 h 11"/>
                <a:gd name="T8" fmla="*/ 22 w 26"/>
                <a:gd name="T9" fmla="*/ 11 h 11"/>
                <a:gd name="T10" fmla="*/ 26 w 26"/>
                <a:gd name="T11" fmla="*/ 2 h 11"/>
                <a:gd name="T12" fmla="*/ 13 w 26"/>
                <a:gd name="T13" fmla="*/ 0 h 11"/>
                <a:gd name="T14" fmla="*/ 6 w 26"/>
                <a:gd name="T15" fmla="*/ 0 h 11"/>
                <a:gd name="T16" fmla="*/ 2 w 26"/>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1">
                  <a:moveTo>
                    <a:pt x="2" y="0"/>
                  </a:moveTo>
                  <a:lnTo>
                    <a:pt x="0" y="9"/>
                  </a:lnTo>
                  <a:lnTo>
                    <a:pt x="4" y="9"/>
                  </a:lnTo>
                  <a:lnTo>
                    <a:pt x="11" y="9"/>
                  </a:lnTo>
                  <a:lnTo>
                    <a:pt x="22" y="11"/>
                  </a:lnTo>
                  <a:lnTo>
                    <a:pt x="26" y="2"/>
                  </a:lnTo>
                  <a:lnTo>
                    <a:pt x="13" y="0"/>
                  </a:lnTo>
                  <a:lnTo>
                    <a:pt x="6" y="0"/>
                  </a:lnTo>
                  <a:lnTo>
                    <a:pt x="2"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0" name="Freeform 1319"/>
            <p:cNvSpPr/>
            <p:nvPr>
              <p:custDataLst>
                <p:tags r:id="rId59"/>
              </p:custDataLst>
            </p:nvPr>
          </p:nvSpPr>
          <p:spPr bwMode="auto">
            <a:xfrm rot="300000">
              <a:off x="8045" y="5570"/>
              <a:ext cx="72" cy="24"/>
            </a:xfrm>
            <a:custGeom>
              <a:avLst/>
              <a:gdLst>
                <a:gd name="T0" fmla="*/ 24 w 24"/>
                <a:gd name="T1" fmla="*/ 8 h 8"/>
                <a:gd name="T2" fmla="*/ 24 w 24"/>
                <a:gd name="T3" fmla="*/ 0 h 8"/>
                <a:gd name="T4" fmla="*/ 24 w 24"/>
                <a:gd name="T5" fmla="*/ 0 h 8"/>
                <a:gd name="T6" fmla="*/ 0 w 24"/>
                <a:gd name="T7" fmla="*/ 0 h 8"/>
                <a:gd name="T8" fmla="*/ 0 w 24"/>
                <a:gd name="T9" fmla="*/ 8 h 8"/>
                <a:gd name="T10" fmla="*/ 0 w 24"/>
                <a:gd name="T11" fmla="*/ 8 h 8"/>
                <a:gd name="T12" fmla="*/ 24 w 24"/>
                <a:gd name="T13" fmla="*/ 8 h 8"/>
                <a:gd name="T14" fmla="*/ 24 w 24"/>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8">
                  <a:moveTo>
                    <a:pt x="24" y="8"/>
                  </a:moveTo>
                  <a:lnTo>
                    <a:pt x="24" y="0"/>
                  </a:lnTo>
                  <a:lnTo>
                    <a:pt x="24" y="0"/>
                  </a:lnTo>
                  <a:lnTo>
                    <a:pt x="0" y="0"/>
                  </a:lnTo>
                  <a:lnTo>
                    <a:pt x="0" y="8"/>
                  </a:lnTo>
                  <a:lnTo>
                    <a:pt x="0" y="8"/>
                  </a:lnTo>
                  <a:lnTo>
                    <a:pt x="24" y="8"/>
                  </a:lnTo>
                  <a:lnTo>
                    <a:pt x="24"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1" name="Freeform 1320"/>
            <p:cNvSpPr/>
            <p:nvPr>
              <p:custDataLst>
                <p:tags r:id="rId60"/>
              </p:custDataLst>
            </p:nvPr>
          </p:nvSpPr>
          <p:spPr bwMode="auto">
            <a:xfrm rot="300000">
              <a:off x="8529" y="5663"/>
              <a:ext cx="78" cy="39"/>
            </a:xfrm>
            <a:custGeom>
              <a:avLst/>
              <a:gdLst>
                <a:gd name="T0" fmla="*/ 21 w 26"/>
                <a:gd name="T1" fmla="*/ 13 h 13"/>
                <a:gd name="T2" fmla="*/ 26 w 26"/>
                <a:gd name="T3" fmla="*/ 7 h 13"/>
                <a:gd name="T4" fmla="*/ 26 w 26"/>
                <a:gd name="T5" fmla="*/ 7 h 13"/>
                <a:gd name="T6" fmla="*/ 4 w 26"/>
                <a:gd name="T7" fmla="*/ 0 h 13"/>
                <a:gd name="T8" fmla="*/ 0 w 26"/>
                <a:gd name="T9" fmla="*/ 9 h 13"/>
                <a:gd name="T10" fmla="*/ 0 w 26"/>
                <a:gd name="T11" fmla="*/ 9 h 13"/>
                <a:gd name="T12" fmla="*/ 21 w 26"/>
                <a:gd name="T13" fmla="*/ 13 h 13"/>
                <a:gd name="T14" fmla="*/ 21 w 26"/>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3">
                  <a:moveTo>
                    <a:pt x="21" y="13"/>
                  </a:moveTo>
                  <a:lnTo>
                    <a:pt x="26" y="7"/>
                  </a:lnTo>
                  <a:lnTo>
                    <a:pt x="26" y="7"/>
                  </a:lnTo>
                  <a:lnTo>
                    <a:pt x="4" y="0"/>
                  </a:lnTo>
                  <a:lnTo>
                    <a:pt x="0" y="9"/>
                  </a:lnTo>
                  <a:lnTo>
                    <a:pt x="0" y="9"/>
                  </a:lnTo>
                  <a:lnTo>
                    <a:pt x="21" y="13"/>
                  </a:lnTo>
                  <a:lnTo>
                    <a:pt x="21"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2" name="Freeform 1321"/>
            <p:cNvSpPr/>
            <p:nvPr>
              <p:custDataLst>
                <p:tags r:id="rId61"/>
              </p:custDataLst>
            </p:nvPr>
          </p:nvSpPr>
          <p:spPr bwMode="auto">
            <a:xfrm rot="300000">
              <a:off x="8932" y="5854"/>
              <a:ext cx="84" cy="51"/>
            </a:xfrm>
            <a:custGeom>
              <a:avLst/>
              <a:gdLst>
                <a:gd name="T0" fmla="*/ 0 w 28"/>
                <a:gd name="T1" fmla="*/ 6 h 17"/>
                <a:gd name="T2" fmla="*/ 0 w 28"/>
                <a:gd name="T3" fmla="*/ 6 h 17"/>
                <a:gd name="T4" fmla="*/ 15 w 28"/>
                <a:gd name="T5" fmla="*/ 15 h 17"/>
                <a:gd name="T6" fmla="*/ 15 w 28"/>
                <a:gd name="T7" fmla="*/ 15 h 17"/>
                <a:gd name="T8" fmla="*/ 17 w 28"/>
                <a:gd name="T9" fmla="*/ 17 h 17"/>
                <a:gd name="T10" fmla="*/ 28 w 28"/>
                <a:gd name="T11" fmla="*/ 11 h 17"/>
                <a:gd name="T12" fmla="*/ 28 w 28"/>
                <a:gd name="T13" fmla="*/ 11 h 17"/>
                <a:gd name="T14" fmla="*/ 26 w 28"/>
                <a:gd name="T15" fmla="*/ 9 h 17"/>
                <a:gd name="T16" fmla="*/ 26 w 28"/>
                <a:gd name="T17" fmla="*/ 9 h 17"/>
                <a:gd name="T18" fmla="*/ 11 w 28"/>
                <a:gd name="T19" fmla="*/ 0 h 17"/>
                <a:gd name="T20" fmla="*/ 0 w 28"/>
                <a:gd name="T2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7">
                  <a:moveTo>
                    <a:pt x="0" y="6"/>
                  </a:moveTo>
                  <a:lnTo>
                    <a:pt x="0" y="6"/>
                  </a:lnTo>
                  <a:lnTo>
                    <a:pt x="15" y="15"/>
                  </a:lnTo>
                  <a:lnTo>
                    <a:pt x="15" y="15"/>
                  </a:lnTo>
                  <a:lnTo>
                    <a:pt x="17" y="17"/>
                  </a:lnTo>
                  <a:lnTo>
                    <a:pt x="28" y="11"/>
                  </a:lnTo>
                  <a:lnTo>
                    <a:pt x="28" y="11"/>
                  </a:lnTo>
                  <a:lnTo>
                    <a:pt x="26" y="9"/>
                  </a:lnTo>
                  <a:lnTo>
                    <a:pt x="26" y="9"/>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3" name="Freeform 1322"/>
            <p:cNvSpPr/>
            <p:nvPr>
              <p:custDataLst>
                <p:tags r:id="rId62"/>
              </p:custDataLst>
            </p:nvPr>
          </p:nvSpPr>
          <p:spPr bwMode="auto">
            <a:xfrm rot="300000">
              <a:off x="8746" y="5748"/>
              <a:ext cx="78" cy="45"/>
            </a:xfrm>
            <a:custGeom>
              <a:avLst/>
              <a:gdLst>
                <a:gd name="T0" fmla="*/ 0 w 26"/>
                <a:gd name="T1" fmla="*/ 8 h 15"/>
                <a:gd name="T2" fmla="*/ 0 w 26"/>
                <a:gd name="T3" fmla="*/ 8 h 15"/>
                <a:gd name="T4" fmla="*/ 9 w 26"/>
                <a:gd name="T5" fmla="*/ 11 h 15"/>
                <a:gd name="T6" fmla="*/ 18 w 26"/>
                <a:gd name="T7" fmla="*/ 15 h 15"/>
                <a:gd name="T8" fmla="*/ 26 w 26"/>
                <a:gd name="T9" fmla="*/ 8 h 15"/>
                <a:gd name="T10" fmla="*/ 18 w 26"/>
                <a:gd name="T11" fmla="*/ 4 h 15"/>
                <a:gd name="T12" fmla="*/ 18 w 26"/>
                <a:gd name="T13" fmla="*/ 4 h 15"/>
                <a:gd name="T14" fmla="*/ 7 w 26"/>
                <a:gd name="T15" fmla="*/ 0 h 15"/>
                <a:gd name="T16" fmla="*/ 0 w 26"/>
                <a:gd name="T1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5">
                  <a:moveTo>
                    <a:pt x="0" y="8"/>
                  </a:moveTo>
                  <a:lnTo>
                    <a:pt x="0" y="8"/>
                  </a:lnTo>
                  <a:lnTo>
                    <a:pt x="9" y="11"/>
                  </a:lnTo>
                  <a:lnTo>
                    <a:pt x="18" y="15"/>
                  </a:lnTo>
                  <a:lnTo>
                    <a:pt x="26" y="8"/>
                  </a:lnTo>
                  <a:lnTo>
                    <a:pt x="18" y="4"/>
                  </a:lnTo>
                  <a:lnTo>
                    <a:pt x="18" y="4"/>
                  </a:lnTo>
                  <a:lnTo>
                    <a:pt x="7" y="0"/>
                  </a:lnTo>
                  <a:lnTo>
                    <a:pt x="0"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4" name="Freeform 1323"/>
            <p:cNvSpPr/>
            <p:nvPr>
              <p:custDataLst>
                <p:tags r:id="rId63"/>
              </p:custDataLst>
            </p:nvPr>
          </p:nvSpPr>
          <p:spPr bwMode="auto">
            <a:xfrm rot="300000">
              <a:off x="9104" y="5979"/>
              <a:ext cx="84" cy="45"/>
            </a:xfrm>
            <a:custGeom>
              <a:avLst/>
              <a:gdLst>
                <a:gd name="T0" fmla="*/ 17 w 28"/>
                <a:gd name="T1" fmla="*/ 15 h 15"/>
                <a:gd name="T2" fmla="*/ 28 w 28"/>
                <a:gd name="T3" fmla="*/ 8 h 15"/>
                <a:gd name="T4" fmla="*/ 10 w 28"/>
                <a:gd name="T5" fmla="*/ 0 h 15"/>
                <a:gd name="T6" fmla="*/ 0 w 28"/>
                <a:gd name="T7" fmla="*/ 4 h 15"/>
                <a:gd name="T8" fmla="*/ 17 w 28"/>
                <a:gd name="T9" fmla="*/ 15 h 15"/>
              </a:gdLst>
              <a:ahLst/>
              <a:cxnLst>
                <a:cxn ang="0">
                  <a:pos x="T0" y="T1"/>
                </a:cxn>
                <a:cxn ang="0">
                  <a:pos x="T2" y="T3"/>
                </a:cxn>
                <a:cxn ang="0">
                  <a:pos x="T4" y="T5"/>
                </a:cxn>
                <a:cxn ang="0">
                  <a:pos x="T6" y="T7"/>
                </a:cxn>
                <a:cxn ang="0">
                  <a:pos x="T8" y="T9"/>
                </a:cxn>
              </a:cxnLst>
              <a:rect l="0" t="0" r="r" b="b"/>
              <a:pathLst>
                <a:path w="28" h="15">
                  <a:moveTo>
                    <a:pt x="17" y="15"/>
                  </a:moveTo>
                  <a:lnTo>
                    <a:pt x="28" y="8"/>
                  </a:lnTo>
                  <a:lnTo>
                    <a:pt x="10" y="0"/>
                  </a:lnTo>
                  <a:lnTo>
                    <a:pt x="0" y="4"/>
                  </a:lnTo>
                  <a:lnTo>
                    <a:pt x="17"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5" name="Freeform 1324"/>
            <p:cNvSpPr/>
            <p:nvPr>
              <p:custDataLst>
                <p:tags r:id="rId64"/>
              </p:custDataLst>
            </p:nvPr>
          </p:nvSpPr>
          <p:spPr bwMode="auto">
            <a:xfrm rot="300000">
              <a:off x="9479" y="6197"/>
              <a:ext cx="84" cy="45"/>
            </a:xfrm>
            <a:custGeom>
              <a:avLst/>
              <a:gdLst>
                <a:gd name="T0" fmla="*/ 22 w 28"/>
                <a:gd name="T1" fmla="*/ 15 h 15"/>
                <a:gd name="T2" fmla="*/ 28 w 28"/>
                <a:gd name="T3" fmla="*/ 7 h 15"/>
                <a:gd name="T4" fmla="*/ 28 w 28"/>
                <a:gd name="T5" fmla="*/ 7 h 15"/>
                <a:gd name="T6" fmla="*/ 7 w 28"/>
                <a:gd name="T7" fmla="*/ 0 h 15"/>
                <a:gd name="T8" fmla="*/ 0 w 28"/>
                <a:gd name="T9" fmla="*/ 9 h 15"/>
                <a:gd name="T10" fmla="*/ 0 w 28"/>
                <a:gd name="T11" fmla="*/ 9 h 15"/>
                <a:gd name="T12" fmla="*/ 22 w 28"/>
                <a:gd name="T13" fmla="*/ 15 h 15"/>
                <a:gd name="T14" fmla="*/ 22 w 2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5">
                  <a:moveTo>
                    <a:pt x="22" y="15"/>
                  </a:moveTo>
                  <a:lnTo>
                    <a:pt x="28" y="7"/>
                  </a:lnTo>
                  <a:lnTo>
                    <a:pt x="28" y="7"/>
                  </a:lnTo>
                  <a:lnTo>
                    <a:pt x="7" y="0"/>
                  </a:lnTo>
                  <a:lnTo>
                    <a:pt x="0" y="9"/>
                  </a:lnTo>
                  <a:lnTo>
                    <a:pt x="0" y="9"/>
                  </a:lnTo>
                  <a:lnTo>
                    <a:pt x="22" y="15"/>
                  </a:lnTo>
                  <a:lnTo>
                    <a:pt x="22"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6" name="Freeform 1325"/>
            <p:cNvSpPr/>
            <p:nvPr>
              <p:custDataLst>
                <p:tags r:id="rId65"/>
              </p:custDataLst>
            </p:nvPr>
          </p:nvSpPr>
          <p:spPr bwMode="auto">
            <a:xfrm rot="300000">
              <a:off x="9280" y="6096"/>
              <a:ext cx="78" cy="45"/>
            </a:xfrm>
            <a:custGeom>
              <a:avLst/>
              <a:gdLst>
                <a:gd name="T0" fmla="*/ 18 w 26"/>
                <a:gd name="T1" fmla="*/ 15 h 15"/>
                <a:gd name="T2" fmla="*/ 26 w 26"/>
                <a:gd name="T3" fmla="*/ 9 h 15"/>
                <a:gd name="T4" fmla="*/ 9 w 26"/>
                <a:gd name="T5" fmla="*/ 0 h 15"/>
                <a:gd name="T6" fmla="*/ 0 w 26"/>
                <a:gd name="T7" fmla="*/ 7 h 15"/>
                <a:gd name="T8" fmla="*/ 18 w 26"/>
                <a:gd name="T9" fmla="*/ 15 h 15"/>
              </a:gdLst>
              <a:ahLst/>
              <a:cxnLst>
                <a:cxn ang="0">
                  <a:pos x="T0" y="T1"/>
                </a:cxn>
                <a:cxn ang="0">
                  <a:pos x="T2" y="T3"/>
                </a:cxn>
                <a:cxn ang="0">
                  <a:pos x="T4" y="T5"/>
                </a:cxn>
                <a:cxn ang="0">
                  <a:pos x="T6" y="T7"/>
                </a:cxn>
                <a:cxn ang="0">
                  <a:pos x="T8" y="T9"/>
                </a:cxn>
              </a:cxnLst>
              <a:rect l="0" t="0" r="r" b="b"/>
              <a:pathLst>
                <a:path w="26" h="15">
                  <a:moveTo>
                    <a:pt x="18" y="15"/>
                  </a:moveTo>
                  <a:lnTo>
                    <a:pt x="26" y="9"/>
                  </a:lnTo>
                  <a:lnTo>
                    <a:pt x="9" y="0"/>
                  </a:lnTo>
                  <a:lnTo>
                    <a:pt x="0" y="7"/>
                  </a:lnTo>
                  <a:lnTo>
                    <a:pt x="18"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7" name="Freeform 1326"/>
            <p:cNvSpPr/>
            <p:nvPr>
              <p:custDataLst>
                <p:tags r:id="rId66"/>
              </p:custDataLst>
            </p:nvPr>
          </p:nvSpPr>
          <p:spPr bwMode="auto">
            <a:xfrm rot="300000">
              <a:off x="9712" y="6277"/>
              <a:ext cx="78" cy="39"/>
            </a:xfrm>
            <a:custGeom>
              <a:avLst/>
              <a:gdLst>
                <a:gd name="T0" fmla="*/ 24 w 26"/>
                <a:gd name="T1" fmla="*/ 13 h 13"/>
                <a:gd name="T2" fmla="*/ 26 w 26"/>
                <a:gd name="T3" fmla="*/ 4 h 13"/>
                <a:gd name="T4" fmla="*/ 5 w 26"/>
                <a:gd name="T5" fmla="*/ 0 h 13"/>
                <a:gd name="T6" fmla="*/ 0 w 26"/>
                <a:gd name="T7" fmla="*/ 8 h 13"/>
                <a:gd name="T8" fmla="*/ 24 w 26"/>
                <a:gd name="T9" fmla="*/ 13 h 13"/>
              </a:gdLst>
              <a:ahLst/>
              <a:cxnLst>
                <a:cxn ang="0">
                  <a:pos x="T0" y="T1"/>
                </a:cxn>
                <a:cxn ang="0">
                  <a:pos x="T2" y="T3"/>
                </a:cxn>
                <a:cxn ang="0">
                  <a:pos x="T4" y="T5"/>
                </a:cxn>
                <a:cxn ang="0">
                  <a:pos x="T6" y="T7"/>
                </a:cxn>
                <a:cxn ang="0">
                  <a:pos x="T8" y="T9"/>
                </a:cxn>
              </a:cxnLst>
              <a:rect l="0" t="0" r="r" b="b"/>
              <a:pathLst>
                <a:path w="26" h="13">
                  <a:moveTo>
                    <a:pt x="24" y="13"/>
                  </a:moveTo>
                  <a:lnTo>
                    <a:pt x="26" y="4"/>
                  </a:lnTo>
                  <a:lnTo>
                    <a:pt x="5" y="0"/>
                  </a:lnTo>
                  <a:lnTo>
                    <a:pt x="0" y="8"/>
                  </a:lnTo>
                  <a:lnTo>
                    <a:pt x="24"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8" name="Freeform 1327"/>
            <p:cNvSpPr/>
            <p:nvPr>
              <p:custDataLst>
                <p:tags r:id="rId67"/>
              </p:custDataLst>
            </p:nvPr>
          </p:nvSpPr>
          <p:spPr bwMode="auto">
            <a:xfrm rot="300000">
              <a:off x="10222" y="6327"/>
              <a:ext cx="78" cy="33"/>
            </a:xfrm>
            <a:custGeom>
              <a:avLst/>
              <a:gdLst>
                <a:gd name="T0" fmla="*/ 26 w 26"/>
                <a:gd name="T1" fmla="*/ 6 h 11"/>
                <a:gd name="T2" fmla="*/ 24 w 26"/>
                <a:gd name="T3" fmla="*/ 0 h 11"/>
                <a:gd name="T4" fmla="*/ 0 w 26"/>
                <a:gd name="T5" fmla="*/ 2 h 11"/>
                <a:gd name="T6" fmla="*/ 2 w 26"/>
                <a:gd name="T7" fmla="*/ 11 h 11"/>
                <a:gd name="T8" fmla="*/ 26 w 26"/>
                <a:gd name="T9" fmla="*/ 6 h 11"/>
              </a:gdLst>
              <a:ahLst/>
              <a:cxnLst>
                <a:cxn ang="0">
                  <a:pos x="T0" y="T1"/>
                </a:cxn>
                <a:cxn ang="0">
                  <a:pos x="T2" y="T3"/>
                </a:cxn>
                <a:cxn ang="0">
                  <a:pos x="T4" y="T5"/>
                </a:cxn>
                <a:cxn ang="0">
                  <a:pos x="T6" y="T7"/>
                </a:cxn>
                <a:cxn ang="0">
                  <a:pos x="T8" y="T9"/>
                </a:cxn>
              </a:cxnLst>
              <a:rect l="0" t="0" r="r" b="b"/>
              <a:pathLst>
                <a:path w="26" h="11">
                  <a:moveTo>
                    <a:pt x="26" y="6"/>
                  </a:moveTo>
                  <a:lnTo>
                    <a:pt x="24" y="0"/>
                  </a:lnTo>
                  <a:lnTo>
                    <a:pt x="0" y="2"/>
                  </a:lnTo>
                  <a:lnTo>
                    <a:pt x="2" y="11"/>
                  </a:lnTo>
                  <a:lnTo>
                    <a:pt x="26"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09" name="Freeform 1328"/>
            <p:cNvSpPr/>
            <p:nvPr>
              <p:custDataLst>
                <p:tags r:id="rId68"/>
              </p:custDataLst>
            </p:nvPr>
          </p:nvSpPr>
          <p:spPr bwMode="auto">
            <a:xfrm rot="300000">
              <a:off x="9970" y="6323"/>
              <a:ext cx="69" cy="27"/>
            </a:xfrm>
            <a:custGeom>
              <a:avLst/>
              <a:gdLst>
                <a:gd name="T0" fmla="*/ 0 w 23"/>
                <a:gd name="T1" fmla="*/ 0 h 9"/>
                <a:gd name="T2" fmla="*/ 0 w 23"/>
                <a:gd name="T3" fmla="*/ 9 h 9"/>
                <a:gd name="T4" fmla="*/ 13 w 23"/>
                <a:gd name="T5" fmla="*/ 9 h 9"/>
                <a:gd name="T6" fmla="*/ 13 w 23"/>
                <a:gd name="T7" fmla="*/ 9 h 9"/>
                <a:gd name="T8" fmla="*/ 23 w 23"/>
                <a:gd name="T9" fmla="*/ 9 h 9"/>
                <a:gd name="T10" fmla="*/ 23 w 23"/>
                <a:gd name="T11" fmla="*/ 0 h 9"/>
                <a:gd name="T12" fmla="*/ 23 w 23"/>
                <a:gd name="T13" fmla="*/ 0 h 9"/>
                <a:gd name="T14" fmla="*/ 13 w 23"/>
                <a:gd name="T15" fmla="*/ 0 h 9"/>
                <a:gd name="T16" fmla="*/ 0 w 2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9">
                  <a:moveTo>
                    <a:pt x="0" y="0"/>
                  </a:moveTo>
                  <a:lnTo>
                    <a:pt x="0" y="9"/>
                  </a:lnTo>
                  <a:lnTo>
                    <a:pt x="13" y="9"/>
                  </a:lnTo>
                  <a:lnTo>
                    <a:pt x="13" y="9"/>
                  </a:lnTo>
                  <a:lnTo>
                    <a:pt x="23" y="9"/>
                  </a:lnTo>
                  <a:lnTo>
                    <a:pt x="23" y="0"/>
                  </a:lnTo>
                  <a:lnTo>
                    <a:pt x="23" y="0"/>
                  </a:lnTo>
                  <a:lnTo>
                    <a:pt x="13" y="0"/>
                  </a:lnTo>
                  <a:lnTo>
                    <a:pt x="0"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0" name="Freeform 1329"/>
            <p:cNvSpPr/>
            <p:nvPr>
              <p:custDataLst>
                <p:tags r:id="rId69"/>
              </p:custDataLst>
            </p:nvPr>
          </p:nvSpPr>
          <p:spPr bwMode="auto">
            <a:xfrm rot="300000">
              <a:off x="10465" y="6289"/>
              <a:ext cx="84" cy="39"/>
            </a:xfrm>
            <a:custGeom>
              <a:avLst/>
              <a:gdLst>
                <a:gd name="T0" fmla="*/ 0 w 28"/>
                <a:gd name="T1" fmla="*/ 7 h 13"/>
                <a:gd name="T2" fmla="*/ 6 w 28"/>
                <a:gd name="T3" fmla="*/ 13 h 13"/>
                <a:gd name="T4" fmla="*/ 17 w 28"/>
                <a:gd name="T5" fmla="*/ 11 h 13"/>
                <a:gd name="T6" fmla="*/ 28 w 28"/>
                <a:gd name="T7" fmla="*/ 7 h 13"/>
                <a:gd name="T8" fmla="*/ 19 w 28"/>
                <a:gd name="T9" fmla="*/ 0 h 13"/>
                <a:gd name="T10" fmla="*/ 10 w 28"/>
                <a:gd name="T11" fmla="*/ 5 h 13"/>
                <a:gd name="T12" fmla="*/ 0 w 28"/>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28" h="13">
                  <a:moveTo>
                    <a:pt x="0" y="7"/>
                  </a:moveTo>
                  <a:lnTo>
                    <a:pt x="6" y="13"/>
                  </a:lnTo>
                  <a:lnTo>
                    <a:pt x="17" y="11"/>
                  </a:lnTo>
                  <a:lnTo>
                    <a:pt x="28" y="7"/>
                  </a:lnTo>
                  <a:lnTo>
                    <a:pt x="19" y="0"/>
                  </a:lnTo>
                  <a:lnTo>
                    <a:pt x="10" y="5"/>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1" name="Freeform 1330"/>
            <p:cNvSpPr/>
            <p:nvPr>
              <p:custDataLst>
                <p:tags r:id="rId70"/>
              </p:custDataLst>
            </p:nvPr>
          </p:nvSpPr>
          <p:spPr bwMode="auto">
            <a:xfrm rot="300000">
              <a:off x="10861" y="6124"/>
              <a:ext cx="78" cy="54"/>
            </a:xfrm>
            <a:custGeom>
              <a:avLst/>
              <a:gdLst>
                <a:gd name="T0" fmla="*/ 19 w 26"/>
                <a:gd name="T1" fmla="*/ 11 h 18"/>
                <a:gd name="T2" fmla="*/ 22 w 26"/>
                <a:gd name="T3" fmla="*/ 9 h 18"/>
                <a:gd name="T4" fmla="*/ 26 w 26"/>
                <a:gd name="T5" fmla="*/ 5 h 18"/>
                <a:gd name="T6" fmla="*/ 13 w 26"/>
                <a:gd name="T7" fmla="*/ 0 h 18"/>
                <a:gd name="T8" fmla="*/ 11 w 26"/>
                <a:gd name="T9" fmla="*/ 5 h 18"/>
                <a:gd name="T10" fmla="*/ 7 w 26"/>
                <a:gd name="T11" fmla="*/ 7 h 18"/>
                <a:gd name="T12" fmla="*/ 0 w 26"/>
                <a:gd name="T13" fmla="*/ 11 h 18"/>
                <a:gd name="T14" fmla="*/ 11 w 26"/>
                <a:gd name="T15" fmla="*/ 18 h 18"/>
                <a:gd name="T16" fmla="*/ 19 w 26"/>
                <a:gd name="T1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9" y="11"/>
                  </a:moveTo>
                  <a:lnTo>
                    <a:pt x="22" y="9"/>
                  </a:lnTo>
                  <a:lnTo>
                    <a:pt x="26" y="5"/>
                  </a:lnTo>
                  <a:lnTo>
                    <a:pt x="13" y="0"/>
                  </a:lnTo>
                  <a:lnTo>
                    <a:pt x="11" y="5"/>
                  </a:lnTo>
                  <a:lnTo>
                    <a:pt x="7" y="7"/>
                  </a:lnTo>
                  <a:lnTo>
                    <a:pt x="0" y="11"/>
                  </a:lnTo>
                  <a:lnTo>
                    <a:pt x="11" y="18"/>
                  </a:lnTo>
                  <a:lnTo>
                    <a:pt x="19"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2" name="Freeform 1331"/>
            <p:cNvSpPr/>
            <p:nvPr>
              <p:custDataLst>
                <p:tags r:id="rId71"/>
              </p:custDataLst>
            </p:nvPr>
          </p:nvSpPr>
          <p:spPr bwMode="auto">
            <a:xfrm rot="300000">
              <a:off x="10684" y="6225"/>
              <a:ext cx="78" cy="45"/>
            </a:xfrm>
            <a:custGeom>
              <a:avLst/>
              <a:gdLst>
                <a:gd name="T0" fmla="*/ 26 w 26"/>
                <a:gd name="T1" fmla="*/ 5 h 15"/>
                <a:gd name="T2" fmla="*/ 17 w 26"/>
                <a:gd name="T3" fmla="*/ 0 h 15"/>
                <a:gd name="T4" fmla="*/ 0 w 26"/>
                <a:gd name="T5" fmla="*/ 9 h 15"/>
                <a:gd name="T6" fmla="*/ 9 w 26"/>
                <a:gd name="T7" fmla="*/ 15 h 15"/>
                <a:gd name="T8" fmla="*/ 26 w 26"/>
                <a:gd name="T9" fmla="*/ 5 h 15"/>
              </a:gdLst>
              <a:ahLst/>
              <a:cxnLst>
                <a:cxn ang="0">
                  <a:pos x="T0" y="T1"/>
                </a:cxn>
                <a:cxn ang="0">
                  <a:pos x="T2" y="T3"/>
                </a:cxn>
                <a:cxn ang="0">
                  <a:pos x="T4" y="T5"/>
                </a:cxn>
                <a:cxn ang="0">
                  <a:pos x="T6" y="T7"/>
                </a:cxn>
                <a:cxn ang="0">
                  <a:pos x="T8" y="T9"/>
                </a:cxn>
              </a:cxnLst>
              <a:rect l="0" t="0" r="r" b="b"/>
              <a:pathLst>
                <a:path w="26" h="15">
                  <a:moveTo>
                    <a:pt x="26" y="5"/>
                  </a:moveTo>
                  <a:lnTo>
                    <a:pt x="17" y="0"/>
                  </a:lnTo>
                  <a:lnTo>
                    <a:pt x="0" y="9"/>
                  </a:lnTo>
                  <a:lnTo>
                    <a:pt x="9" y="15"/>
                  </a:lnTo>
                  <a:lnTo>
                    <a:pt x="26" y="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3" name="Freeform 1332"/>
            <p:cNvSpPr/>
            <p:nvPr>
              <p:custDataLst>
                <p:tags r:id="rId72"/>
              </p:custDataLst>
            </p:nvPr>
          </p:nvSpPr>
          <p:spPr bwMode="auto">
            <a:xfrm rot="300000">
              <a:off x="10994" y="6007"/>
              <a:ext cx="66" cy="45"/>
            </a:xfrm>
            <a:custGeom>
              <a:avLst/>
              <a:gdLst>
                <a:gd name="T0" fmla="*/ 22 w 22"/>
                <a:gd name="T1" fmla="*/ 2 h 15"/>
                <a:gd name="T2" fmla="*/ 9 w 22"/>
                <a:gd name="T3" fmla="*/ 0 h 15"/>
                <a:gd name="T4" fmla="*/ 9 w 22"/>
                <a:gd name="T5" fmla="*/ 0 h 15"/>
                <a:gd name="T6" fmla="*/ 0 w 22"/>
                <a:gd name="T7" fmla="*/ 13 h 15"/>
                <a:gd name="T8" fmla="*/ 13 w 22"/>
                <a:gd name="T9" fmla="*/ 15 h 15"/>
                <a:gd name="T10" fmla="*/ 13 w 22"/>
                <a:gd name="T11" fmla="*/ 15 h 15"/>
                <a:gd name="T12" fmla="*/ 22 w 22"/>
                <a:gd name="T13" fmla="*/ 2 h 15"/>
                <a:gd name="T14" fmla="*/ 22 w 22"/>
                <a:gd name="T15" fmla="*/ 2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5">
                  <a:moveTo>
                    <a:pt x="22" y="2"/>
                  </a:moveTo>
                  <a:lnTo>
                    <a:pt x="9" y="0"/>
                  </a:lnTo>
                  <a:lnTo>
                    <a:pt x="9" y="0"/>
                  </a:lnTo>
                  <a:lnTo>
                    <a:pt x="0" y="13"/>
                  </a:lnTo>
                  <a:lnTo>
                    <a:pt x="13" y="15"/>
                  </a:lnTo>
                  <a:lnTo>
                    <a:pt x="13" y="15"/>
                  </a:lnTo>
                  <a:lnTo>
                    <a:pt x="22" y="2"/>
                  </a:lnTo>
                  <a:lnTo>
                    <a:pt x="22" y="2"/>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4" name="Freeform 1333"/>
            <p:cNvSpPr/>
            <p:nvPr>
              <p:custDataLst>
                <p:tags r:id="rId73"/>
              </p:custDataLst>
            </p:nvPr>
          </p:nvSpPr>
          <p:spPr bwMode="auto">
            <a:xfrm rot="300000">
              <a:off x="11076" y="5724"/>
              <a:ext cx="54" cy="39"/>
            </a:xfrm>
            <a:custGeom>
              <a:avLst/>
              <a:gdLst>
                <a:gd name="T0" fmla="*/ 18 w 18"/>
                <a:gd name="T1" fmla="*/ 13 h 13"/>
                <a:gd name="T2" fmla="*/ 16 w 18"/>
                <a:gd name="T3" fmla="*/ 0 h 13"/>
                <a:gd name="T4" fmla="*/ 0 w 18"/>
                <a:gd name="T5" fmla="*/ 0 h 13"/>
                <a:gd name="T6" fmla="*/ 5 w 18"/>
                <a:gd name="T7" fmla="*/ 13 h 13"/>
                <a:gd name="T8" fmla="*/ 18 w 18"/>
                <a:gd name="T9" fmla="*/ 13 h 13"/>
              </a:gdLst>
              <a:ahLst/>
              <a:cxnLst>
                <a:cxn ang="0">
                  <a:pos x="T0" y="T1"/>
                </a:cxn>
                <a:cxn ang="0">
                  <a:pos x="T2" y="T3"/>
                </a:cxn>
                <a:cxn ang="0">
                  <a:pos x="T4" y="T5"/>
                </a:cxn>
                <a:cxn ang="0">
                  <a:pos x="T6" y="T7"/>
                </a:cxn>
                <a:cxn ang="0">
                  <a:pos x="T8" y="T9"/>
                </a:cxn>
              </a:cxnLst>
              <a:rect l="0" t="0" r="r" b="b"/>
              <a:pathLst>
                <a:path w="18" h="13">
                  <a:moveTo>
                    <a:pt x="18" y="13"/>
                  </a:moveTo>
                  <a:lnTo>
                    <a:pt x="16" y="0"/>
                  </a:lnTo>
                  <a:lnTo>
                    <a:pt x="0" y="0"/>
                  </a:lnTo>
                  <a:lnTo>
                    <a:pt x="5" y="13"/>
                  </a:lnTo>
                  <a:lnTo>
                    <a:pt x="18"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5" name="Freeform 1334"/>
            <p:cNvSpPr/>
            <p:nvPr>
              <p:custDataLst>
                <p:tags r:id="rId74"/>
              </p:custDataLst>
            </p:nvPr>
          </p:nvSpPr>
          <p:spPr bwMode="auto">
            <a:xfrm rot="300000">
              <a:off x="11072" y="5873"/>
              <a:ext cx="51" cy="39"/>
            </a:xfrm>
            <a:custGeom>
              <a:avLst/>
              <a:gdLst>
                <a:gd name="T0" fmla="*/ 17 w 17"/>
                <a:gd name="T1" fmla="*/ 0 h 13"/>
                <a:gd name="T2" fmla="*/ 2 w 17"/>
                <a:gd name="T3" fmla="*/ 0 h 13"/>
                <a:gd name="T4" fmla="*/ 2 w 17"/>
                <a:gd name="T5" fmla="*/ 0 h 13"/>
                <a:gd name="T6" fmla="*/ 2 w 17"/>
                <a:gd name="T7" fmla="*/ 6 h 13"/>
                <a:gd name="T8" fmla="*/ 0 w 17"/>
                <a:gd name="T9" fmla="*/ 13 h 13"/>
                <a:gd name="T10" fmla="*/ 15 w 17"/>
                <a:gd name="T11" fmla="*/ 13 h 13"/>
                <a:gd name="T12" fmla="*/ 15 w 17"/>
                <a:gd name="T13" fmla="*/ 13 h 13"/>
                <a:gd name="T14" fmla="*/ 15 w 17"/>
                <a:gd name="T15" fmla="*/ 6 h 13"/>
                <a:gd name="T16" fmla="*/ 17 w 17"/>
                <a:gd name="T17" fmla="*/ 0 h 13"/>
                <a:gd name="T18" fmla="*/ 17 w 1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3">
                  <a:moveTo>
                    <a:pt x="17" y="0"/>
                  </a:moveTo>
                  <a:lnTo>
                    <a:pt x="2" y="0"/>
                  </a:lnTo>
                  <a:lnTo>
                    <a:pt x="2" y="0"/>
                  </a:lnTo>
                  <a:lnTo>
                    <a:pt x="2" y="6"/>
                  </a:lnTo>
                  <a:lnTo>
                    <a:pt x="0" y="13"/>
                  </a:lnTo>
                  <a:lnTo>
                    <a:pt x="15" y="13"/>
                  </a:lnTo>
                  <a:lnTo>
                    <a:pt x="15" y="13"/>
                  </a:lnTo>
                  <a:lnTo>
                    <a:pt x="15" y="6"/>
                  </a:lnTo>
                  <a:lnTo>
                    <a:pt x="17" y="0"/>
                  </a:lnTo>
                  <a:lnTo>
                    <a:pt x="17"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6" name="Freeform 1335"/>
            <p:cNvSpPr/>
            <p:nvPr>
              <p:custDataLst>
                <p:tags r:id="rId75"/>
              </p:custDataLst>
            </p:nvPr>
          </p:nvSpPr>
          <p:spPr bwMode="auto">
            <a:xfrm rot="300000">
              <a:off x="11020" y="5573"/>
              <a:ext cx="63" cy="45"/>
            </a:xfrm>
            <a:custGeom>
              <a:avLst/>
              <a:gdLst>
                <a:gd name="T0" fmla="*/ 0 w 21"/>
                <a:gd name="T1" fmla="*/ 4 h 15"/>
                <a:gd name="T2" fmla="*/ 0 w 21"/>
                <a:gd name="T3" fmla="*/ 4 h 15"/>
                <a:gd name="T4" fmla="*/ 8 w 21"/>
                <a:gd name="T5" fmla="*/ 15 h 15"/>
                <a:gd name="T6" fmla="*/ 21 w 21"/>
                <a:gd name="T7" fmla="*/ 12 h 15"/>
                <a:gd name="T8" fmla="*/ 21 w 21"/>
                <a:gd name="T9" fmla="*/ 12 h 15"/>
                <a:gd name="T10" fmla="*/ 13 w 21"/>
                <a:gd name="T11" fmla="*/ 0 h 15"/>
                <a:gd name="T12" fmla="*/ 0 w 21"/>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21" h="15">
                  <a:moveTo>
                    <a:pt x="0" y="4"/>
                  </a:moveTo>
                  <a:lnTo>
                    <a:pt x="0" y="4"/>
                  </a:lnTo>
                  <a:lnTo>
                    <a:pt x="8" y="15"/>
                  </a:lnTo>
                  <a:lnTo>
                    <a:pt x="21" y="12"/>
                  </a:lnTo>
                  <a:lnTo>
                    <a:pt x="21" y="12"/>
                  </a:lnTo>
                  <a:lnTo>
                    <a:pt x="13"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7" name="Freeform 1336"/>
            <p:cNvSpPr/>
            <p:nvPr>
              <p:custDataLst>
                <p:tags r:id="rId76"/>
              </p:custDataLst>
            </p:nvPr>
          </p:nvSpPr>
          <p:spPr bwMode="auto">
            <a:xfrm rot="300000">
              <a:off x="10737" y="5310"/>
              <a:ext cx="78" cy="45"/>
            </a:xfrm>
            <a:custGeom>
              <a:avLst/>
              <a:gdLst>
                <a:gd name="T0" fmla="*/ 26 w 26"/>
                <a:gd name="T1" fmla="*/ 8 h 15"/>
                <a:gd name="T2" fmla="*/ 11 w 26"/>
                <a:gd name="T3" fmla="*/ 0 h 15"/>
                <a:gd name="T4" fmla="*/ 0 w 26"/>
                <a:gd name="T5" fmla="*/ 6 h 15"/>
                <a:gd name="T6" fmla="*/ 18 w 26"/>
                <a:gd name="T7" fmla="*/ 15 h 15"/>
                <a:gd name="T8" fmla="*/ 26 w 26"/>
                <a:gd name="T9" fmla="*/ 8 h 15"/>
              </a:gdLst>
              <a:ahLst/>
              <a:cxnLst>
                <a:cxn ang="0">
                  <a:pos x="T0" y="T1"/>
                </a:cxn>
                <a:cxn ang="0">
                  <a:pos x="T2" y="T3"/>
                </a:cxn>
                <a:cxn ang="0">
                  <a:pos x="T4" y="T5"/>
                </a:cxn>
                <a:cxn ang="0">
                  <a:pos x="T6" y="T7"/>
                </a:cxn>
                <a:cxn ang="0">
                  <a:pos x="T8" y="T9"/>
                </a:cxn>
              </a:cxnLst>
              <a:rect l="0" t="0" r="r" b="b"/>
              <a:pathLst>
                <a:path w="26" h="15">
                  <a:moveTo>
                    <a:pt x="26" y="8"/>
                  </a:moveTo>
                  <a:lnTo>
                    <a:pt x="11" y="0"/>
                  </a:lnTo>
                  <a:lnTo>
                    <a:pt x="0" y="6"/>
                  </a:lnTo>
                  <a:lnTo>
                    <a:pt x="18" y="15"/>
                  </a:lnTo>
                  <a:lnTo>
                    <a:pt x="26"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8" name="Freeform 1337"/>
            <p:cNvSpPr/>
            <p:nvPr>
              <p:custDataLst>
                <p:tags r:id="rId77"/>
              </p:custDataLst>
            </p:nvPr>
          </p:nvSpPr>
          <p:spPr bwMode="auto">
            <a:xfrm rot="300000">
              <a:off x="10904" y="5432"/>
              <a:ext cx="75" cy="45"/>
            </a:xfrm>
            <a:custGeom>
              <a:avLst/>
              <a:gdLst>
                <a:gd name="T0" fmla="*/ 0 w 25"/>
                <a:gd name="T1" fmla="*/ 5 h 15"/>
                <a:gd name="T2" fmla="*/ 13 w 25"/>
                <a:gd name="T3" fmla="*/ 15 h 15"/>
                <a:gd name="T4" fmla="*/ 25 w 25"/>
                <a:gd name="T5" fmla="*/ 11 h 15"/>
                <a:gd name="T6" fmla="*/ 10 w 25"/>
                <a:gd name="T7" fmla="*/ 0 h 15"/>
                <a:gd name="T8" fmla="*/ 0 w 25"/>
                <a:gd name="T9" fmla="*/ 5 h 15"/>
              </a:gdLst>
              <a:ahLst/>
              <a:cxnLst>
                <a:cxn ang="0">
                  <a:pos x="T0" y="T1"/>
                </a:cxn>
                <a:cxn ang="0">
                  <a:pos x="T2" y="T3"/>
                </a:cxn>
                <a:cxn ang="0">
                  <a:pos x="T4" y="T5"/>
                </a:cxn>
                <a:cxn ang="0">
                  <a:pos x="T6" y="T7"/>
                </a:cxn>
                <a:cxn ang="0">
                  <a:pos x="T8" y="T9"/>
                </a:cxn>
              </a:cxnLst>
              <a:rect l="0" t="0" r="r" b="b"/>
              <a:pathLst>
                <a:path w="25" h="15">
                  <a:moveTo>
                    <a:pt x="0" y="5"/>
                  </a:moveTo>
                  <a:lnTo>
                    <a:pt x="13" y="15"/>
                  </a:lnTo>
                  <a:lnTo>
                    <a:pt x="25" y="11"/>
                  </a:lnTo>
                  <a:lnTo>
                    <a:pt x="10" y="0"/>
                  </a:lnTo>
                  <a:lnTo>
                    <a:pt x="0" y="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19" name="Freeform 1338"/>
            <p:cNvSpPr/>
            <p:nvPr>
              <p:custDataLst>
                <p:tags r:id="rId78"/>
              </p:custDataLst>
            </p:nvPr>
          </p:nvSpPr>
          <p:spPr bwMode="auto">
            <a:xfrm rot="300000">
              <a:off x="10567" y="5191"/>
              <a:ext cx="78" cy="45"/>
            </a:xfrm>
            <a:custGeom>
              <a:avLst/>
              <a:gdLst>
                <a:gd name="T0" fmla="*/ 8 w 26"/>
                <a:gd name="T1" fmla="*/ 0 h 15"/>
                <a:gd name="T2" fmla="*/ 0 w 26"/>
                <a:gd name="T3" fmla="*/ 7 h 15"/>
                <a:gd name="T4" fmla="*/ 17 w 26"/>
                <a:gd name="T5" fmla="*/ 15 h 15"/>
                <a:gd name="T6" fmla="*/ 26 w 26"/>
                <a:gd name="T7" fmla="*/ 9 h 15"/>
                <a:gd name="T8" fmla="*/ 8 w 26"/>
                <a:gd name="T9" fmla="*/ 0 h 15"/>
              </a:gdLst>
              <a:ahLst/>
              <a:cxnLst>
                <a:cxn ang="0">
                  <a:pos x="T0" y="T1"/>
                </a:cxn>
                <a:cxn ang="0">
                  <a:pos x="T2" y="T3"/>
                </a:cxn>
                <a:cxn ang="0">
                  <a:pos x="T4" y="T5"/>
                </a:cxn>
                <a:cxn ang="0">
                  <a:pos x="T6" y="T7"/>
                </a:cxn>
                <a:cxn ang="0">
                  <a:pos x="T8" y="T9"/>
                </a:cxn>
              </a:cxnLst>
              <a:rect l="0" t="0" r="r" b="b"/>
              <a:pathLst>
                <a:path w="26" h="15">
                  <a:moveTo>
                    <a:pt x="8" y="0"/>
                  </a:moveTo>
                  <a:lnTo>
                    <a:pt x="0" y="7"/>
                  </a:lnTo>
                  <a:lnTo>
                    <a:pt x="17" y="15"/>
                  </a:lnTo>
                  <a:lnTo>
                    <a:pt x="26" y="9"/>
                  </a:lnTo>
                  <a:lnTo>
                    <a:pt x="8"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20" name="Freeform 1339"/>
            <p:cNvSpPr/>
            <p:nvPr>
              <p:custDataLst>
                <p:tags r:id="rId79"/>
              </p:custDataLst>
            </p:nvPr>
          </p:nvSpPr>
          <p:spPr bwMode="auto">
            <a:xfrm rot="300000">
              <a:off x="10277" y="4932"/>
              <a:ext cx="72" cy="54"/>
            </a:xfrm>
            <a:custGeom>
              <a:avLst/>
              <a:gdLst>
                <a:gd name="T0" fmla="*/ 11 w 24"/>
                <a:gd name="T1" fmla="*/ 18 h 18"/>
                <a:gd name="T2" fmla="*/ 24 w 24"/>
                <a:gd name="T3" fmla="*/ 13 h 18"/>
                <a:gd name="T4" fmla="*/ 24 w 24"/>
                <a:gd name="T5" fmla="*/ 13 h 18"/>
                <a:gd name="T6" fmla="*/ 17 w 24"/>
                <a:gd name="T7" fmla="*/ 7 h 18"/>
                <a:gd name="T8" fmla="*/ 13 w 24"/>
                <a:gd name="T9" fmla="*/ 0 h 18"/>
                <a:gd name="T10" fmla="*/ 0 w 24"/>
                <a:gd name="T11" fmla="*/ 5 h 18"/>
                <a:gd name="T12" fmla="*/ 5 w 24"/>
                <a:gd name="T13" fmla="*/ 11 h 18"/>
                <a:gd name="T14" fmla="*/ 5 w 24"/>
                <a:gd name="T15" fmla="*/ 11 h 18"/>
                <a:gd name="T16" fmla="*/ 11 w 24"/>
                <a:gd name="T17" fmla="*/ 18 h 18"/>
                <a:gd name="T18" fmla="*/ 11 w 24"/>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8">
                  <a:moveTo>
                    <a:pt x="11" y="18"/>
                  </a:moveTo>
                  <a:lnTo>
                    <a:pt x="24" y="13"/>
                  </a:lnTo>
                  <a:lnTo>
                    <a:pt x="24" y="13"/>
                  </a:lnTo>
                  <a:lnTo>
                    <a:pt x="17" y="7"/>
                  </a:lnTo>
                  <a:lnTo>
                    <a:pt x="13" y="0"/>
                  </a:lnTo>
                  <a:lnTo>
                    <a:pt x="0" y="5"/>
                  </a:lnTo>
                  <a:lnTo>
                    <a:pt x="5" y="11"/>
                  </a:lnTo>
                  <a:lnTo>
                    <a:pt x="5" y="11"/>
                  </a:lnTo>
                  <a:lnTo>
                    <a:pt x="11" y="18"/>
                  </a:lnTo>
                  <a:lnTo>
                    <a:pt x="11" y="1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21" name="Freeform 1340"/>
            <p:cNvSpPr/>
            <p:nvPr>
              <p:custDataLst>
                <p:tags r:id="rId80"/>
              </p:custDataLst>
            </p:nvPr>
          </p:nvSpPr>
          <p:spPr bwMode="auto">
            <a:xfrm rot="300000">
              <a:off x="10404" y="5066"/>
              <a:ext cx="75" cy="45"/>
            </a:xfrm>
            <a:custGeom>
              <a:avLst/>
              <a:gdLst>
                <a:gd name="T0" fmla="*/ 15 w 25"/>
                <a:gd name="T1" fmla="*/ 15 h 15"/>
                <a:gd name="T2" fmla="*/ 25 w 25"/>
                <a:gd name="T3" fmla="*/ 11 h 15"/>
                <a:gd name="T4" fmla="*/ 25 w 25"/>
                <a:gd name="T5" fmla="*/ 11 h 15"/>
                <a:gd name="T6" fmla="*/ 17 w 25"/>
                <a:gd name="T7" fmla="*/ 7 h 15"/>
                <a:gd name="T8" fmla="*/ 10 w 25"/>
                <a:gd name="T9" fmla="*/ 0 h 15"/>
                <a:gd name="T10" fmla="*/ 0 w 25"/>
                <a:gd name="T11" fmla="*/ 5 h 15"/>
                <a:gd name="T12" fmla="*/ 6 w 25"/>
                <a:gd name="T13" fmla="*/ 11 h 15"/>
                <a:gd name="T14" fmla="*/ 6 w 25"/>
                <a:gd name="T15" fmla="*/ 11 h 15"/>
                <a:gd name="T16" fmla="*/ 15 w 25"/>
                <a:gd name="T17" fmla="*/ 15 h 15"/>
                <a:gd name="T18" fmla="*/ 15 w 25"/>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15" y="15"/>
                  </a:moveTo>
                  <a:lnTo>
                    <a:pt x="25" y="11"/>
                  </a:lnTo>
                  <a:lnTo>
                    <a:pt x="25" y="11"/>
                  </a:lnTo>
                  <a:lnTo>
                    <a:pt x="17" y="7"/>
                  </a:lnTo>
                  <a:lnTo>
                    <a:pt x="10" y="0"/>
                  </a:lnTo>
                  <a:lnTo>
                    <a:pt x="0" y="5"/>
                  </a:lnTo>
                  <a:lnTo>
                    <a:pt x="6" y="11"/>
                  </a:lnTo>
                  <a:lnTo>
                    <a:pt x="6" y="11"/>
                  </a:lnTo>
                  <a:lnTo>
                    <a:pt x="15" y="15"/>
                  </a:lnTo>
                  <a:lnTo>
                    <a:pt x="15"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22" name="Freeform 1341"/>
            <p:cNvSpPr/>
            <p:nvPr>
              <p:custDataLst>
                <p:tags r:id="rId81"/>
              </p:custDataLst>
            </p:nvPr>
          </p:nvSpPr>
          <p:spPr bwMode="auto">
            <a:xfrm rot="300000">
              <a:off x="10194" y="4790"/>
              <a:ext cx="63" cy="45"/>
            </a:xfrm>
            <a:custGeom>
              <a:avLst/>
              <a:gdLst>
                <a:gd name="T0" fmla="*/ 8 w 21"/>
                <a:gd name="T1" fmla="*/ 15 h 15"/>
                <a:gd name="T2" fmla="*/ 21 w 21"/>
                <a:gd name="T3" fmla="*/ 13 h 15"/>
                <a:gd name="T4" fmla="*/ 17 w 21"/>
                <a:gd name="T5" fmla="*/ 6 h 15"/>
                <a:gd name="T6" fmla="*/ 17 w 21"/>
                <a:gd name="T7" fmla="*/ 6 h 15"/>
                <a:gd name="T8" fmla="*/ 15 w 21"/>
                <a:gd name="T9" fmla="*/ 0 h 15"/>
                <a:gd name="T10" fmla="*/ 0 w 21"/>
                <a:gd name="T11" fmla="*/ 2 h 15"/>
                <a:gd name="T12" fmla="*/ 0 w 21"/>
                <a:gd name="T13" fmla="*/ 2 h 15"/>
                <a:gd name="T14" fmla="*/ 4 w 21"/>
                <a:gd name="T15" fmla="*/ 9 h 15"/>
                <a:gd name="T16" fmla="*/ 8 w 21"/>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5">
                  <a:moveTo>
                    <a:pt x="8" y="15"/>
                  </a:moveTo>
                  <a:lnTo>
                    <a:pt x="21" y="13"/>
                  </a:lnTo>
                  <a:lnTo>
                    <a:pt x="17" y="6"/>
                  </a:lnTo>
                  <a:lnTo>
                    <a:pt x="17" y="6"/>
                  </a:lnTo>
                  <a:lnTo>
                    <a:pt x="15" y="0"/>
                  </a:lnTo>
                  <a:lnTo>
                    <a:pt x="0" y="2"/>
                  </a:lnTo>
                  <a:lnTo>
                    <a:pt x="0" y="2"/>
                  </a:lnTo>
                  <a:lnTo>
                    <a:pt x="4" y="9"/>
                  </a:lnTo>
                  <a:lnTo>
                    <a:pt x="8"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23" name="Freeform 1342"/>
            <p:cNvSpPr/>
            <p:nvPr>
              <p:custDataLst>
                <p:tags r:id="rId82"/>
              </p:custDataLst>
            </p:nvPr>
          </p:nvSpPr>
          <p:spPr bwMode="auto">
            <a:xfrm rot="300000">
              <a:off x="10174" y="4499"/>
              <a:ext cx="45" cy="45"/>
            </a:xfrm>
            <a:custGeom>
              <a:avLst/>
              <a:gdLst>
                <a:gd name="T0" fmla="*/ 0 w 15"/>
                <a:gd name="T1" fmla="*/ 15 h 15"/>
                <a:gd name="T2" fmla="*/ 15 w 15"/>
                <a:gd name="T3" fmla="*/ 15 h 15"/>
                <a:gd name="T4" fmla="*/ 15 w 15"/>
                <a:gd name="T5" fmla="*/ 15 h 15"/>
                <a:gd name="T6" fmla="*/ 15 w 15"/>
                <a:gd name="T7" fmla="*/ 2 h 15"/>
                <a:gd name="T8" fmla="*/ 2 w 15"/>
                <a:gd name="T9" fmla="*/ 0 h 15"/>
                <a:gd name="T10" fmla="*/ 2 w 15"/>
                <a:gd name="T11" fmla="*/ 0 h 15"/>
                <a:gd name="T12" fmla="*/ 0 w 15"/>
                <a:gd name="T13" fmla="*/ 15 h 15"/>
                <a:gd name="T14" fmla="*/ 0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0" y="15"/>
                  </a:moveTo>
                  <a:lnTo>
                    <a:pt x="15" y="15"/>
                  </a:lnTo>
                  <a:lnTo>
                    <a:pt x="15" y="15"/>
                  </a:lnTo>
                  <a:lnTo>
                    <a:pt x="15" y="2"/>
                  </a:lnTo>
                  <a:lnTo>
                    <a:pt x="2" y="0"/>
                  </a:lnTo>
                  <a:lnTo>
                    <a:pt x="2" y="0"/>
                  </a:lnTo>
                  <a:lnTo>
                    <a:pt x="0" y="15"/>
                  </a:lnTo>
                  <a:lnTo>
                    <a:pt x="0"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24" name="Freeform 1343"/>
            <p:cNvSpPr/>
            <p:nvPr>
              <p:custDataLst>
                <p:tags r:id="rId83"/>
              </p:custDataLst>
            </p:nvPr>
          </p:nvSpPr>
          <p:spPr bwMode="auto">
            <a:xfrm rot="300000">
              <a:off x="10161" y="4647"/>
              <a:ext cx="51" cy="45"/>
            </a:xfrm>
            <a:custGeom>
              <a:avLst/>
              <a:gdLst>
                <a:gd name="T0" fmla="*/ 0 w 17"/>
                <a:gd name="T1" fmla="*/ 0 h 15"/>
                <a:gd name="T2" fmla="*/ 0 w 17"/>
                <a:gd name="T3" fmla="*/ 0 h 15"/>
                <a:gd name="T4" fmla="*/ 4 w 17"/>
                <a:gd name="T5" fmla="*/ 15 h 15"/>
                <a:gd name="T6" fmla="*/ 17 w 17"/>
                <a:gd name="T7" fmla="*/ 12 h 15"/>
                <a:gd name="T8" fmla="*/ 17 w 17"/>
                <a:gd name="T9" fmla="*/ 12 h 15"/>
                <a:gd name="T10" fmla="*/ 15 w 17"/>
                <a:gd name="T11" fmla="*/ 0 h 15"/>
                <a:gd name="T12" fmla="*/ 0 w 17"/>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0" y="0"/>
                  </a:moveTo>
                  <a:lnTo>
                    <a:pt x="0" y="0"/>
                  </a:lnTo>
                  <a:lnTo>
                    <a:pt x="4" y="15"/>
                  </a:lnTo>
                  <a:lnTo>
                    <a:pt x="17" y="12"/>
                  </a:lnTo>
                  <a:lnTo>
                    <a:pt x="17" y="12"/>
                  </a:lnTo>
                  <a:lnTo>
                    <a:pt x="15" y="0"/>
                  </a:lnTo>
                  <a:lnTo>
                    <a:pt x="0"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0" name="Freeform 1356"/>
            <p:cNvSpPr/>
            <p:nvPr>
              <p:custDataLst>
                <p:tags r:id="rId84"/>
              </p:custDataLst>
            </p:nvPr>
          </p:nvSpPr>
          <p:spPr bwMode="auto">
            <a:xfrm rot="300000">
              <a:off x="12645" y="4343"/>
              <a:ext cx="84" cy="51"/>
            </a:xfrm>
            <a:custGeom>
              <a:avLst/>
              <a:gdLst>
                <a:gd name="T0" fmla="*/ 17 w 28"/>
                <a:gd name="T1" fmla="*/ 17 h 17"/>
                <a:gd name="T2" fmla="*/ 28 w 28"/>
                <a:gd name="T3" fmla="*/ 10 h 17"/>
                <a:gd name="T4" fmla="*/ 11 w 28"/>
                <a:gd name="T5" fmla="*/ 0 h 17"/>
                <a:gd name="T6" fmla="*/ 0 w 28"/>
                <a:gd name="T7" fmla="*/ 6 h 17"/>
                <a:gd name="T8" fmla="*/ 17 w 28"/>
                <a:gd name="T9" fmla="*/ 17 h 17"/>
              </a:gdLst>
              <a:ahLst/>
              <a:cxnLst>
                <a:cxn ang="0">
                  <a:pos x="T0" y="T1"/>
                </a:cxn>
                <a:cxn ang="0">
                  <a:pos x="T2" y="T3"/>
                </a:cxn>
                <a:cxn ang="0">
                  <a:pos x="T4" y="T5"/>
                </a:cxn>
                <a:cxn ang="0">
                  <a:pos x="T6" y="T7"/>
                </a:cxn>
                <a:cxn ang="0">
                  <a:pos x="T8" y="T9"/>
                </a:cxn>
              </a:cxnLst>
              <a:rect l="0" t="0" r="r" b="b"/>
              <a:pathLst>
                <a:path w="28" h="17">
                  <a:moveTo>
                    <a:pt x="17" y="17"/>
                  </a:moveTo>
                  <a:lnTo>
                    <a:pt x="28" y="10"/>
                  </a:lnTo>
                  <a:lnTo>
                    <a:pt x="11" y="0"/>
                  </a:lnTo>
                  <a:lnTo>
                    <a:pt x="0" y="6"/>
                  </a:lnTo>
                  <a:lnTo>
                    <a:pt x="17" y="1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1" name="Freeform 1357"/>
            <p:cNvSpPr/>
            <p:nvPr>
              <p:custDataLst>
                <p:tags r:id="rId85"/>
              </p:custDataLst>
            </p:nvPr>
          </p:nvSpPr>
          <p:spPr bwMode="auto">
            <a:xfrm rot="300000">
              <a:off x="13028" y="4568"/>
              <a:ext cx="84" cy="39"/>
            </a:xfrm>
            <a:custGeom>
              <a:avLst/>
              <a:gdLst>
                <a:gd name="T0" fmla="*/ 21 w 28"/>
                <a:gd name="T1" fmla="*/ 13 h 13"/>
                <a:gd name="T2" fmla="*/ 28 w 28"/>
                <a:gd name="T3" fmla="*/ 5 h 13"/>
                <a:gd name="T4" fmla="*/ 28 w 28"/>
                <a:gd name="T5" fmla="*/ 5 h 13"/>
                <a:gd name="T6" fmla="*/ 6 w 28"/>
                <a:gd name="T7" fmla="*/ 0 h 13"/>
                <a:gd name="T8" fmla="*/ 0 w 28"/>
                <a:gd name="T9" fmla="*/ 7 h 13"/>
                <a:gd name="T10" fmla="*/ 0 w 28"/>
                <a:gd name="T11" fmla="*/ 7 h 13"/>
                <a:gd name="T12" fmla="*/ 21 w 28"/>
                <a:gd name="T13" fmla="*/ 13 h 13"/>
                <a:gd name="T14" fmla="*/ 21 w 28"/>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3">
                  <a:moveTo>
                    <a:pt x="21" y="13"/>
                  </a:moveTo>
                  <a:lnTo>
                    <a:pt x="28" y="5"/>
                  </a:lnTo>
                  <a:lnTo>
                    <a:pt x="28" y="5"/>
                  </a:lnTo>
                  <a:lnTo>
                    <a:pt x="6" y="0"/>
                  </a:lnTo>
                  <a:lnTo>
                    <a:pt x="0" y="7"/>
                  </a:lnTo>
                  <a:lnTo>
                    <a:pt x="0" y="7"/>
                  </a:lnTo>
                  <a:lnTo>
                    <a:pt x="21" y="13"/>
                  </a:lnTo>
                  <a:lnTo>
                    <a:pt x="21"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2" name="Freeform 1358"/>
            <p:cNvSpPr/>
            <p:nvPr>
              <p:custDataLst>
                <p:tags r:id="rId86"/>
              </p:custDataLst>
            </p:nvPr>
          </p:nvSpPr>
          <p:spPr bwMode="auto">
            <a:xfrm rot="300000">
              <a:off x="12824" y="4461"/>
              <a:ext cx="84" cy="51"/>
            </a:xfrm>
            <a:custGeom>
              <a:avLst/>
              <a:gdLst>
                <a:gd name="T0" fmla="*/ 17 w 28"/>
                <a:gd name="T1" fmla="*/ 17 h 17"/>
                <a:gd name="T2" fmla="*/ 28 w 28"/>
                <a:gd name="T3" fmla="*/ 11 h 17"/>
                <a:gd name="T4" fmla="*/ 8 w 28"/>
                <a:gd name="T5" fmla="*/ 0 h 17"/>
                <a:gd name="T6" fmla="*/ 0 w 28"/>
                <a:gd name="T7" fmla="*/ 7 h 17"/>
                <a:gd name="T8" fmla="*/ 17 w 28"/>
                <a:gd name="T9" fmla="*/ 17 h 17"/>
              </a:gdLst>
              <a:ahLst/>
              <a:cxnLst>
                <a:cxn ang="0">
                  <a:pos x="T0" y="T1"/>
                </a:cxn>
                <a:cxn ang="0">
                  <a:pos x="T2" y="T3"/>
                </a:cxn>
                <a:cxn ang="0">
                  <a:pos x="T4" y="T5"/>
                </a:cxn>
                <a:cxn ang="0">
                  <a:pos x="T6" y="T7"/>
                </a:cxn>
                <a:cxn ang="0">
                  <a:pos x="T8" y="T9"/>
                </a:cxn>
              </a:cxnLst>
              <a:rect l="0" t="0" r="r" b="b"/>
              <a:pathLst>
                <a:path w="28" h="17">
                  <a:moveTo>
                    <a:pt x="17" y="17"/>
                  </a:moveTo>
                  <a:lnTo>
                    <a:pt x="28" y="11"/>
                  </a:lnTo>
                  <a:lnTo>
                    <a:pt x="8" y="0"/>
                  </a:lnTo>
                  <a:lnTo>
                    <a:pt x="0" y="7"/>
                  </a:lnTo>
                  <a:lnTo>
                    <a:pt x="17" y="1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3" name="Freeform 1359"/>
            <p:cNvSpPr/>
            <p:nvPr>
              <p:custDataLst>
                <p:tags r:id="rId87"/>
              </p:custDataLst>
            </p:nvPr>
          </p:nvSpPr>
          <p:spPr bwMode="auto">
            <a:xfrm rot="300000">
              <a:off x="13262" y="4642"/>
              <a:ext cx="84" cy="30"/>
            </a:xfrm>
            <a:custGeom>
              <a:avLst/>
              <a:gdLst>
                <a:gd name="T0" fmla="*/ 23 w 28"/>
                <a:gd name="T1" fmla="*/ 10 h 10"/>
                <a:gd name="T2" fmla="*/ 28 w 28"/>
                <a:gd name="T3" fmla="*/ 4 h 10"/>
                <a:gd name="T4" fmla="*/ 4 w 28"/>
                <a:gd name="T5" fmla="*/ 0 h 10"/>
                <a:gd name="T6" fmla="*/ 0 w 28"/>
                <a:gd name="T7" fmla="*/ 8 h 10"/>
                <a:gd name="T8" fmla="*/ 23 w 28"/>
                <a:gd name="T9" fmla="*/ 10 h 10"/>
              </a:gdLst>
              <a:ahLst/>
              <a:cxnLst>
                <a:cxn ang="0">
                  <a:pos x="T0" y="T1"/>
                </a:cxn>
                <a:cxn ang="0">
                  <a:pos x="T2" y="T3"/>
                </a:cxn>
                <a:cxn ang="0">
                  <a:pos x="T4" y="T5"/>
                </a:cxn>
                <a:cxn ang="0">
                  <a:pos x="T6" y="T7"/>
                </a:cxn>
                <a:cxn ang="0">
                  <a:pos x="T8" y="T9"/>
                </a:cxn>
              </a:cxnLst>
              <a:rect l="0" t="0" r="r" b="b"/>
              <a:pathLst>
                <a:path w="28" h="10">
                  <a:moveTo>
                    <a:pt x="23" y="10"/>
                  </a:moveTo>
                  <a:lnTo>
                    <a:pt x="28" y="4"/>
                  </a:lnTo>
                  <a:lnTo>
                    <a:pt x="4" y="0"/>
                  </a:lnTo>
                  <a:lnTo>
                    <a:pt x="0" y="8"/>
                  </a:lnTo>
                  <a:lnTo>
                    <a:pt x="23" y="1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4" name="Freeform 1360"/>
            <p:cNvSpPr/>
            <p:nvPr>
              <p:custDataLst>
                <p:tags r:id="rId88"/>
              </p:custDataLst>
            </p:nvPr>
          </p:nvSpPr>
          <p:spPr bwMode="auto">
            <a:xfrm rot="300000">
              <a:off x="13770" y="4680"/>
              <a:ext cx="84" cy="30"/>
            </a:xfrm>
            <a:custGeom>
              <a:avLst/>
              <a:gdLst>
                <a:gd name="T0" fmla="*/ 5 w 28"/>
                <a:gd name="T1" fmla="*/ 10 h 10"/>
                <a:gd name="T2" fmla="*/ 5 w 28"/>
                <a:gd name="T3" fmla="*/ 10 h 10"/>
                <a:gd name="T4" fmla="*/ 28 w 28"/>
                <a:gd name="T5" fmla="*/ 8 h 10"/>
                <a:gd name="T6" fmla="*/ 24 w 28"/>
                <a:gd name="T7" fmla="*/ 0 h 10"/>
                <a:gd name="T8" fmla="*/ 24 w 28"/>
                <a:gd name="T9" fmla="*/ 0 h 10"/>
                <a:gd name="T10" fmla="*/ 0 w 28"/>
                <a:gd name="T11" fmla="*/ 4 h 10"/>
                <a:gd name="T12" fmla="*/ 5 w 2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5" y="10"/>
                  </a:moveTo>
                  <a:lnTo>
                    <a:pt x="5" y="10"/>
                  </a:lnTo>
                  <a:lnTo>
                    <a:pt x="28" y="8"/>
                  </a:lnTo>
                  <a:lnTo>
                    <a:pt x="24" y="0"/>
                  </a:lnTo>
                  <a:lnTo>
                    <a:pt x="24" y="0"/>
                  </a:lnTo>
                  <a:lnTo>
                    <a:pt x="0" y="4"/>
                  </a:lnTo>
                  <a:lnTo>
                    <a:pt x="5" y="1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5" name="Freeform 1361"/>
            <p:cNvSpPr/>
            <p:nvPr>
              <p:custDataLst>
                <p:tags r:id="rId89"/>
              </p:custDataLst>
            </p:nvPr>
          </p:nvSpPr>
          <p:spPr bwMode="auto">
            <a:xfrm rot="300000">
              <a:off x="13523" y="4682"/>
              <a:ext cx="72" cy="27"/>
            </a:xfrm>
            <a:custGeom>
              <a:avLst/>
              <a:gdLst>
                <a:gd name="T0" fmla="*/ 0 w 24"/>
                <a:gd name="T1" fmla="*/ 0 h 9"/>
                <a:gd name="T2" fmla="*/ 0 w 24"/>
                <a:gd name="T3" fmla="*/ 9 h 9"/>
                <a:gd name="T4" fmla="*/ 0 w 24"/>
                <a:gd name="T5" fmla="*/ 9 h 9"/>
                <a:gd name="T6" fmla="*/ 24 w 24"/>
                <a:gd name="T7" fmla="*/ 9 h 9"/>
                <a:gd name="T8" fmla="*/ 24 w 24"/>
                <a:gd name="T9" fmla="*/ 0 h 9"/>
                <a:gd name="T10" fmla="*/ 24 w 24"/>
                <a:gd name="T11" fmla="*/ 0 h 9"/>
                <a:gd name="T12" fmla="*/ 0 w 24"/>
                <a:gd name="T13" fmla="*/ 0 h 9"/>
                <a:gd name="T14" fmla="*/ 0 w 2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9">
                  <a:moveTo>
                    <a:pt x="0" y="0"/>
                  </a:moveTo>
                  <a:lnTo>
                    <a:pt x="0" y="9"/>
                  </a:lnTo>
                  <a:lnTo>
                    <a:pt x="0" y="9"/>
                  </a:lnTo>
                  <a:lnTo>
                    <a:pt x="24" y="9"/>
                  </a:lnTo>
                  <a:lnTo>
                    <a:pt x="24" y="0"/>
                  </a:lnTo>
                  <a:lnTo>
                    <a:pt x="24"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6" name="Freeform 1362"/>
            <p:cNvSpPr/>
            <p:nvPr>
              <p:custDataLst>
                <p:tags r:id="rId90"/>
              </p:custDataLst>
            </p:nvPr>
          </p:nvSpPr>
          <p:spPr bwMode="auto">
            <a:xfrm rot="300000">
              <a:off x="14013" y="4642"/>
              <a:ext cx="84" cy="39"/>
            </a:xfrm>
            <a:custGeom>
              <a:avLst/>
              <a:gdLst>
                <a:gd name="T0" fmla="*/ 7 w 28"/>
                <a:gd name="T1" fmla="*/ 13 h 13"/>
                <a:gd name="T2" fmla="*/ 7 w 28"/>
                <a:gd name="T3" fmla="*/ 13 h 13"/>
                <a:gd name="T4" fmla="*/ 28 w 28"/>
                <a:gd name="T5" fmla="*/ 7 h 13"/>
                <a:gd name="T6" fmla="*/ 20 w 28"/>
                <a:gd name="T7" fmla="*/ 0 h 13"/>
                <a:gd name="T8" fmla="*/ 20 w 28"/>
                <a:gd name="T9" fmla="*/ 0 h 13"/>
                <a:gd name="T10" fmla="*/ 0 w 28"/>
                <a:gd name="T11" fmla="*/ 7 h 13"/>
                <a:gd name="T12" fmla="*/ 7 w 2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8" h="13">
                  <a:moveTo>
                    <a:pt x="7" y="13"/>
                  </a:moveTo>
                  <a:lnTo>
                    <a:pt x="7" y="13"/>
                  </a:lnTo>
                  <a:lnTo>
                    <a:pt x="28" y="7"/>
                  </a:lnTo>
                  <a:lnTo>
                    <a:pt x="20" y="0"/>
                  </a:lnTo>
                  <a:lnTo>
                    <a:pt x="20" y="0"/>
                  </a:lnTo>
                  <a:lnTo>
                    <a:pt x="0" y="7"/>
                  </a:lnTo>
                  <a:lnTo>
                    <a:pt x="7"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7" name="Freeform 1363"/>
            <p:cNvSpPr/>
            <p:nvPr>
              <p:custDataLst>
                <p:tags r:id="rId91"/>
              </p:custDataLst>
            </p:nvPr>
          </p:nvSpPr>
          <p:spPr bwMode="auto">
            <a:xfrm rot="300000">
              <a:off x="14417" y="4483"/>
              <a:ext cx="78" cy="45"/>
            </a:xfrm>
            <a:custGeom>
              <a:avLst/>
              <a:gdLst>
                <a:gd name="T0" fmla="*/ 17 w 26"/>
                <a:gd name="T1" fmla="*/ 0 h 15"/>
                <a:gd name="T2" fmla="*/ 0 w 26"/>
                <a:gd name="T3" fmla="*/ 9 h 15"/>
                <a:gd name="T4" fmla="*/ 10 w 26"/>
                <a:gd name="T5" fmla="*/ 15 h 15"/>
                <a:gd name="T6" fmla="*/ 26 w 26"/>
                <a:gd name="T7" fmla="*/ 7 h 15"/>
                <a:gd name="T8" fmla="*/ 26 w 26"/>
                <a:gd name="T9" fmla="*/ 7 h 15"/>
                <a:gd name="T10" fmla="*/ 17 w 26"/>
                <a:gd name="T11" fmla="*/ 0 h 15"/>
              </a:gdLst>
              <a:ahLst/>
              <a:cxnLst>
                <a:cxn ang="0">
                  <a:pos x="T0" y="T1"/>
                </a:cxn>
                <a:cxn ang="0">
                  <a:pos x="T2" y="T3"/>
                </a:cxn>
                <a:cxn ang="0">
                  <a:pos x="T4" y="T5"/>
                </a:cxn>
                <a:cxn ang="0">
                  <a:pos x="T6" y="T7"/>
                </a:cxn>
                <a:cxn ang="0">
                  <a:pos x="T8" y="T9"/>
                </a:cxn>
                <a:cxn ang="0">
                  <a:pos x="T10" y="T11"/>
                </a:cxn>
              </a:cxnLst>
              <a:rect l="0" t="0" r="r" b="b"/>
              <a:pathLst>
                <a:path w="26" h="15">
                  <a:moveTo>
                    <a:pt x="17" y="0"/>
                  </a:moveTo>
                  <a:lnTo>
                    <a:pt x="0" y="9"/>
                  </a:lnTo>
                  <a:lnTo>
                    <a:pt x="10" y="15"/>
                  </a:lnTo>
                  <a:lnTo>
                    <a:pt x="26" y="7"/>
                  </a:lnTo>
                  <a:lnTo>
                    <a:pt x="26" y="7"/>
                  </a:lnTo>
                  <a:lnTo>
                    <a:pt x="17"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8" name="Freeform 1364"/>
            <p:cNvSpPr/>
            <p:nvPr>
              <p:custDataLst>
                <p:tags r:id="rId92"/>
              </p:custDataLst>
            </p:nvPr>
          </p:nvSpPr>
          <p:spPr bwMode="auto">
            <a:xfrm rot="300000">
              <a:off x="14226" y="4571"/>
              <a:ext cx="84" cy="45"/>
            </a:xfrm>
            <a:custGeom>
              <a:avLst/>
              <a:gdLst>
                <a:gd name="T0" fmla="*/ 9 w 28"/>
                <a:gd name="T1" fmla="*/ 15 h 15"/>
                <a:gd name="T2" fmla="*/ 28 w 28"/>
                <a:gd name="T3" fmla="*/ 6 h 15"/>
                <a:gd name="T4" fmla="*/ 17 w 28"/>
                <a:gd name="T5" fmla="*/ 0 h 15"/>
                <a:gd name="T6" fmla="*/ 0 w 28"/>
                <a:gd name="T7" fmla="*/ 9 h 15"/>
                <a:gd name="T8" fmla="*/ 9 w 28"/>
                <a:gd name="T9" fmla="*/ 15 h 15"/>
              </a:gdLst>
              <a:ahLst/>
              <a:cxnLst>
                <a:cxn ang="0">
                  <a:pos x="T0" y="T1"/>
                </a:cxn>
                <a:cxn ang="0">
                  <a:pos x="T2" y="T3"/>
                </a:cxn>
                <a:cxn ang="0">
                  <a:pos x="T4" y="T5"/>
                </a:cxn>
                <a:cxn ang="0">
                  <a:pos x="T6" y="T7"/>
                </a:cxn>
                <a:cxn ang="0">
                  <a:pos x="T8" y="T9"/>
                </a:cxn>
              </a:cxnLst>
              <a:rect l="0" t="0" r="r" b="b"/>
              <a:pathLst>
                <a:path w="28" h="15">
                  <a:moveTo>
                    <a:pt x="9" y="15"/>
                  </a:moveTo>
                  <a:lnTo>
                    <a:pt x="28" y="6"/>
                  </a:lnTo>
                  <a:lnTo>
                    <a:pt x="17" y="0"/>
                  </a:lnTo>
                  <a:lnTo>
                    <a:pt x="0" y="9"/>
                  </a:lnTo>
                  <a:lnTo>
                    <a:pt x="9" y="1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9" name="Freeform 1365"/>
            <p:cNvSpPr/>
            <p:nvPr>
              <p:custDataLst>
                <p:tags r:id="rId93"/>
              </p:custDataLst>
            </p:nvPr>
          </p:nvSpPr>
          <p:spPr bwMode="auto">
            <a:xfrm rot="300000">
              <a:off x="14605" y="4398"/>
              <a:ext cx="78" cy="45"/>
            </a:xfrm>
            <a:custGeom>
              <a:avLst/>
              <a:gdLst>
                <a:gd name="T0" fmla="*/ 17 w 26"/>
                <a:gd name="T1" fmla="*/ 0 h 15"/>
                <a:gd name="T2" fmla="*/ 0 w 26"/>
                <a:gd name="T3" fmla="*/ 8 h 15"/>
                <a:gd name="T4" fmla="*/ 11 w 26"/>
                <a:gd name="T5" fmla="*/ 15 h 15"/>
                <a:gd name="T6" fmla="*/ 26 w 26"/>
                <a:gd name="T7" fmla="*/ 4 h 15"/>
                <a:gd name="T8" fmla="*/ 26 w 26"/>
                <a:gd name="T9" fmla="*/ 4 h 15"/>
                <a:gd name="T10" fmla="*/ 17 w 26"/>
                <a:gd name="T11" fmla="*/ 0 h 15"/>
              </a:gdLst>
              <a:ahLst/>
              <a:cxnLst>
                <a:cxn ang="0">
                  <a:pos x="T0" y="T1"/>
                </a:cxn>
                <a:cxn ang="0">
                  <a:pos x="T2" y="T3"/>
                </a:cxn>
                <a:cxn ang="0">
                  <a:pos x="T4" y="T5"/>
                </a:cxn>
                <a:cxn ang="0">
                  <a:pos x="T6" y="T7"/>
                </a:cxn>
                <a:cxn ang="0">
                  <a:pos x="T8" y="T9"/>
                </a:cxn>
                <a:cxn ang="0">
                  <a:pos x="T10" y="T11"/>
                </a:cxn>
              </a:cxnLst>
              <a:rect l="0" t="0" r="r" b="b"/>
              <a:pathLst>
                <a:path w="26" h="15">
                  <a:moveTo>
                    <a:pt x="17" y="0"/>
                  </a:moveTo>
                  <a:lnTo>
                    <a:pt x="0" y="8"/>
                  </a:lnTo>
                  <a:lnTo>
                    <a:pt x="11" y="15"/>
                  </a:lnTo>
                  <a:lnTo>
                    <a:pt x="26" y="4"/>
                  </a:lnTo>
                  <a:lnTo>
                    <a:pt x="26" y="4"/>
                  </a:lnTo>
                  <a:lnTo>
                    <a:pt x="17"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40" name="Freeform 1366"/>
            <p:cNvSpPr/>
            <p:nvPr>
              <p:custDataLst>
                <p:tags r:id="rId94"/>
              </p:custDataLst>
            </p:nvPr>
          </p:nvSpPr>
          <p:spPr bwMode="auto">
            <a:xfrm rot="300000">
              <a:off x="14984" y="4220"/>
              <a:ext cx="78" cy="45"/>
            </a:xfrm>
            <a:custGeom>
              <a:avLst/>
              <a:gdLst>
                <a:gd name="T0" fmla="*/ 0 w 26"/>
                <a:gd name="T1" fmla="*/ 10 h 15"/>
                <a:gd name="T2" fmla="*/ 9 w 26"/>
                <a:gd name="T3" fmla="*/ 15 h 15"/>
                <a:gd name="T4" fmla="*/ 26 w 26"/>
                <a:gd name="T5" fmla="*/ 6 h 15"/>
                <a:gd name="T6" fmla="*/ 15 w 26"/>
                <a:gd name="T7" fmla="*/ 0 h 15"/>
                <a:gd name="T8" fmla="*/ 0 w 26"/>
                <a:gd name="T9" fmla="*/ 10 h 15"/>
              </a:gdLst>
              <a:ahLst/>
              <a:cxnLst>
                <a:cxn ang="0">
                  <a:pos x="T0" y="T1"/>
                </a:cxn>
                <a:cxn ang="0">
                  <a:pos x="T2" y="T3"/>
                </a:cxn>
                <a:cxn ang="0">
                  <a:pos x="T4" y="T5"/>
                </a:cxn>
                <a:cxn ang="0">
                  <a:pos x="T6" y="T7"/>
                </a:cxn>
                <a:cxn ang="0">
                  <a:pos x="T8" y="T9"/>
                </a:cxn>
              </a:cxnLst>
              <a:rect l="0" t="0" r="r" b="b"/>
              <a:pathLst>
                <a:path w="26" h="15">
                  <a:moveTo>
                    <a:pt x="0" y="10"/>
                  </a:moveTo>
                  <a:lnTo>
                    <a:pt x="9" y="15"/>
                  </a:lnTo>
                  <a:lnTo>
                    <a:pt x="26" y="6"/>
                  </a:lnTo>
                  <a:lnTo>
                    <a:pt x="15" y="0"/>
                  </a:lnTo>
                  <a:lnTo>
                    <a:pt x="0" y="1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41" name="Freeform 1367"/>
            <p:cNvSpPr/>
            <p:nvPr>
              <p:custDataLst>
                <p:tags r:id="rId95"/>
              </p:custDataLst>
            </p:nvPr>
          </p:nvSpPr>
          <p:spPr bwMode="auto">
            <a:xfrm rot="300000">
              <a:off x="15153" y="4136"/>
              <a:ext cx="78" cy="45"/>
            </a:xfrm>
            <a:custGeom>
              <a:avLst/>
              <a:gdLst>
                <a:gd name="T0" fmla="*/ 0 w 26"/>
                <a:gd name="T1" fmla="*/ 11 h 15"/>
                <a:gd name="T2" fmla="*/ 11 w 26"/>
                <a:gd name="T3" fmla="*/ 15 h 15"/>
                <a:gd name="T4" fmla="*/ 26 w 26"/>
                <a:gd name="T5" fmla="*/ 7 h 15"/>
                <a:gd name="T6" fmla="*/ 17 w 26"/>
                <a:gd name="T7" fmla="*/ 0 h 15"/>
                <a:gd name="T8" fmla="*/ 0 w 26"/>
                <a:gd name="T9" fmla="*/ 11 h 15"/>
              </a:gdLst>
              <a:ahLst/>
              <a:cxnLst>
                <a:cxn ang="0">
                  <a:pos x="T0" y="T1"/>
                </a:cxn>
                <a:cxn ang="0">
                  <a:pos x="T2" y="T3"/>
                </a:cxn>
                <a:cxn ang="0">
                  <a:pos x="T4" y="T5"/>
                </a:cxn>
                <a:cxn ang="0">
                  <a:pos x="T6" y="T7"/>
                </a:cxn>
                <a:cxn ang="0">
                  <a:pos x="T8" y="T9"/>
                </a:cxn>
              </a:cxnLst>
              <a:rect l="0" t="0" r="r" b="b"/>
              <a:pathLst>
                <a:path w="26" h="15">
                  <a:moveTo>
                    <a:pt x="0" y="11"/>
                  </a:moveTo>
                  <a:lnTo>
                    <a:pt x="11" y="15"/>
                  </a:lnTo>
                  <a:lnTo>
                    <a:pt x="26" y="7"/>
                  </a:lnTo>
                  <a:lnTo>
                    <a:pt x="17" y="0"/>
                  </a:lnTo>
                  <a:lnTo>
                    <a:pt x="0"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42" name="Freeform 1368"/>
            <p:cNvSpPr/>
            <p:nvPr>
              <p:custDataLst>
                <p:tags r:id="rId96"/>
              </p:custDataLst>
            </p:nvPr>
          </p:nvSpPr>
          <p:spPr bwMode="auto">
            <a:xfrm rot="300000">
              <a:off x="15323" y="4055"/>
              <a:ext cx="84" cy="45"/>
            </a:xfrm>
            <a:custGeom>
              <a:avLst/>
              <a:gdLst>
                <a:gd name="T0" fmla="*/ 0 w 28"/>
                <a:gd name="T1" fmla="*/ 11 h 15"/>
                <a:gd name="T2" fmla="*/ 11 w 28"/>
                <a:gd name="T3" fmla="*/ 15 h 15"/>
                <a:gd name="T4" fmla="*/ 28 w 28"/>
                <a:gd name="T5" fmla="*/ 6 h 15"/>
                <a:gd name="T6" fmla="*/ 17 w 28"/>
                <a:gd name="T7" fmla="*/ 0 h 15"/>
                <a:gd name="T8" fmla="*/ 0 w 28"/>
                <a:gd name="T9" fmla="*/ 11 h 15"/>
              </a:gdLst>
              <a:ahLst/>
              <a:cxnLst>
                <a:cxn ang="0">
                  <a:pos x="T0" y="T1"/>
                </a:cxn>
                <a:cxn ang="0">
                  <a:pos x="T2" y="T3"/>
                </a:cxn>
                <a:cxn ang="0">
                  <a:pos x="T4" y="T5"/>
                </a:cxn>
                <a:cxn ang="0">
                  <a:pos x="T6" y="T7"/>
                </a:cxn>
                <a:cxn ang="0">
                  <a:pos x="T8" y="T9"/>
                </a:cxn>
              </a:cxnLst>
              <a:rect l="0" t="0" r="r" b="b"/>
              <a:pathLst>
                <a:path w="28" h="15">
                  <a:moveTo>
                    <a:pt x="0" y="11"/>
                  </a:moveTo>
                  <a:lnTo>
                    <a:pt x="11" y="15"/>
                  </a:lnTo>
                  <a:lnTo>
                    <a:pt x="28" y="6"/>
                  </a:lnTo>
                  <a:lnTo>
                    <a:pt x="17" y="0"/>
                  </a:lnTo>
                  <a:lnTo>
                    <a:pt x="0"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43" name="Freeform 1369"/>
            <p:cNvSpPr/>
            <p:nvPr>
              <p:custDataLst>
                <p:tags r:id="rId97"/>
              </p:custDataLst>
            </p:nvPr>
          </p:nvSpPr>
          <p:spPr bwMode="auto">
            <a:xfrm rot="300000">
              <a:off x="14796" y="4304"/>
              <a:ext cx="75" cy="51"/>
            </a:xfrm>
            <a:custGeom>
              <a:avLst/>
              <a:gdLst>
                <a:gd name="T0" fmla="*/ 8 w 25"/>
                <a:gd name="T1" fmla="*/ 17 h 17"/>
                <a:gd name="T2" fmla="*/ 25 w 25"/>
                <a:gd name="T3" fmla="*/ 7 h 17"/>
                <a:gd name="T4" fmla="*/ 17 w 25"/>
                <a:gd name="T5" fmla="*/ 0 h 17"/>
                <a:gd name="T6" fmla="*/ 0 w 25"/>
                <a:gd name="T7" fmla="*/ 11 h 17"/>
                <a:gd name="T8" fmla="*/ 8 w 25"/>
                <a:gd name="T9" fmla="*/ 17 h 17"/>
              </a:gdLst>
              <a:ahLst/>
              <a:cxnLst>
                <a:cxn ang="0">
                  <a:pos x="T0" y="T1"/>
                </a:cxn>
                <a:cxn ang="0">
                  <a:pos x="T2" y="T3"/>
                </a:cxn>
                <a:cxn ang="0">
                  <a:pos x="T4" y="T5"/>
                </a:cxn>
                <a:cxn ang="0">
                  <a:pos x="T6" y="T7"/>
                </a:cxn>
                <a:cxn ang="0">
                  <a:pos x="T8" y="T9"/>
                </a:cxn>
              </a:cxnLst>
              <a:rect l="0" t="0" r="r" b="b"/>
              <a:pathLst>
                <a:path w="25" h="17">
                  <a:moveTo>
                    <a:pt x="8" y="17"/>
                  </a:moveTo>
                  <a:lnTo>
                    <a:pt x="25" y="7"/>
                  </a:lnTo>
                  <a:lnTo>
                    <a:pt x="17" y="0"/>
                  </a:lnTo>
                  <a:lnTo>
                    <a:pt x="0" y="11"/>
                  </a:lnTo>
                  <a:lnTo>
                    <a:pt x="8" y="1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44" name="Freeform 1788"/>
            <p:cNvSpPr/>
            <p:nvPr>
              <p:custDataLst>
                <p:tags r:id="rId98"/>
              </p:custDataLst>
            </p:nvPr>
          </p:nvSpPr>
          <p:spPr bwMode="auto">
            <a:xfrm rot="300000">
              <a:off x="6179" y="7845"/>
              <a:ext cx="18"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E6E6E6"/>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45" name="Freeform 1832"/>
            <p:cNvSpPr/>
            <p:nvPr/>
          </p:nvSpPr>
          <p:spPr bwMode="auto">
            <a:xfrm rot="300000">
              <a:off x="6293" y="788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6E6E6"/>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46" name="Freeform 1232"/>
            <p:cNvSpPr/>
            <p:nvPr>
              <p:custDataLst>
                <p:tags r:id="rId99"/>
              </p:custDataLst>
            </p:nvPr>
          </p:nvSpPr>
          <p:spPr bwMode="auto">
            <a:xfrm rot="300000" flipH="1">
              <a:off x="11899" y="3559"/>
              <a:ext cx="84" cy="45"/>
            </a:xfrm>
            <a:custGeom>
              <a:avLst/>
              <a:gdLst>
                <a:gd name="T0" fmla="*/ 0 w 28"/>
                <a:gd name="T1" fmla="*/ 6 h 15"/>
                <a:gd name="T2" fmla="*/ 17 w 28"/>
                <a:gd name="T3" fmla="*/ 15 h 15"/>
                <a:gd name="T4" fmla="*/ 28 w 28"/>
                <a:gd name="T5" fmla="*/ 8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8"/>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49" name="Freeform 1308"/>
            <p:cNvSpPr/>
            <p:nvPr>
              <p:custDataLst>
                <p:tags r:id="rId100"/>
              </p:custDataLst>
            </p:nvPr>
          </p:nvSpPr>
          <p:spPr bwMode="auto">
            <a:xfrm rot="300000">
              <a:off x="10191" y="4798"/>
              <a:ext cx="66" cy="48"/>
            </a:xfrm>
            <a:custGeom>
              <a:avLst/>
              <a:gdLst>
                <a:gd name="T0" fmla="*/ 22 w 22"/>
                <a:gd name="T1" fmla="*/ 13 h 16"/>
                <a:gd name="T2" fmla="*/ 22 w 22"/>
                <a:gd name="T3" fmla="*/ 13 h 16"/>
                <a:gd name="T4" fmla="*/ 13 w 22"/>
                <a:gd name="T5" fmla="*/ 0 h 16"/>
                <a:gd name="T6" fmla="*/ 0 w 22"/>
                <a:gd name="T7" fmla="*/ 3 h 16"/>
                <a:gd name="T8" fmla="*/ 0 w 22"/>
                <a:gd name="T9" fmla="*/ 3 h 16"/>
                <a:gd name="T10" fmla="*/ 9 w 22"/>
                <a:gd name="T11" fmla="*/ 16 h 16"/>
                <a:gd name="T12" fmla="*/ 22 w 22"/>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22" h="16">
                  <a:moveTo>
                    <a:pt x="22" y="13"/>
                  </a:moveTo>
                  <a:lnTo>
                    <a:pt x="22" y="13"/>
                  </a:lnTo>
                  <a:lnTo>
                    <a:pt x="13" y="0"/>
                  </a:lnTo>
                  <a:lnTo>
                    <a:pt x="0" y="3"/>
                  </a:lnTo>
                  <a:lnTo>
                    <a:pt x="0" y="3"/>
                  </a:lnTo>
                  <a:lnTo>
                    <a:pt x="9" y="16"/>
                  </a:lnTo>
                  <a:lnTo>
                    <a:pt x="22"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0" name="Freeform 1309"/>
            <p:cNvSpPr/>
            <p:nvPr>
              <p:custDataLst>
                <p:tags r:id="rId101"/>
              </p:custDataLst>
            </p:nvPr>
          </p:nvSpPr>
          <p:spPr bwMode="auto">
            <a:xfrm rot="300000">
              <a:off x="10166" y="4511"/>
              <a:ext cx="45" cy="39"/>
            </a:xfrm>
            <a:custGeom>
              <a:avLst/>
              <a:gdLst>
                <a:gd name="T0" fmla="*/ 0 w 15"/>
                <a:gd name="T1" fmla="*/ 13 h 13"/>
                <a:gd name="T2" fmla="*/ 13 w 15"/>
                <a:gd name="T3" fmla="*/ 13 h 13"/>
                <a:gd name="T4" fmla="*/ 15 w 15"/>
                <a:gd name="T5" fmla="*/ 0 h 13"/>
                <a:gd name="T6" fmla="*/ 0 w 15"/>
                <a:gd name="T7" fmla="*/ 0 h 13"/>
                <a:gd name="T8" fmla="*/ 0 w 15"/>
                <a:gd name="T9" fmla="*/ 13 h 13"/>
              </a:gdLst>
              <a:ahLst/>
              <a:cxnLst>
                <a:cxn ang="0">
                  <a:pos x="T0" y="T1"/>
                </a:cxn>
                <a:cxn ang="0">
                  <a:pos x="T2" y="T3"/>
                </a:cxn>
                <a:cxn ang="0">
                  <a:pos x="T4" y="T5"/>
                </a:cxn>
                <a:cxn ang="0">
                  <a:pos x="T6" y="T7"/>
                </a:cxn>
                <a:cxn ang="0">
                  <a:pos x="T8" y="T9"/>
                </a:cxn>
              </a:cxnLst>
              <a:rect l="0" t="0" r="r" b="b"/>
              <a:pathLst>
                <a:path w="15" h="13">
                  <a:moveTo>
                    <a:pt x="0" y="13"/>
                  </a:moveTo>
                  <a:lnTo>
                    <a:pt x="13" y="13"/>
                  </a:lnTo>
                  <a:lnTo>
                    <a:pt x="15" y="0"/>
                  </a:lnTo>
                  <a:lnTo>
                    <a:pt x="0"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1" name="Freeform 1310"/>
            <p:cNvSpPr/>
            <p:nvPr>
              <p:custDataLst>
                <p:tags r:id="rId102"/>
              </p:custDataLst>
            </p:nvPr>
          </p:nvSpPr>
          <p:spPr bwMode="auto">
            <a:xfrm rot="300000">
              <a:off x="10153" y="4654"/>
              <a:ext cx="57" cy="45"/>
            </a:xfrm>
            <a:custGeom>
              <a:avLst/>
              <a:gdLst>
                <a:gd name="T0" fmla="*/ 19 w 19"/>
                <a:gd name="T1" fmla="*/ 13 h 15"/>
                <a:gd name="T2" fmla="*/ 19 w 19"/>
                <a:gd name="T3" fmla="*/ 13 h 15"/>
                <a:gd name="T4" fmla="*/ 15 w 19"/>
                <a:gd name="T5" fmla="*/ 0 h 15"/>
                <a:gd name="T6" fmla="*/ 0 w 19"/>
                <a:gd name="T7" fmla="*/ 2 h 15"/>
                <a:gd name="T8" fmla="*/ 0 w 19"/>
                <a:gd name="T9" fmla="*/ 2 h 15"/>
                <a:gd name="T10" fmla="*/ 4 w 19"/>
                <a:gd name="T11" fmla="*/ 15 h 15"/>
                <a:gd name="T12" fmla="*/ 19 w 19"/>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19" h="15">
                  <a:moveTo>
                    <a:pt x="19" y="13"/>
                  </a:moveTo>
                  <a:lnTo>
                    <a:pt x="19" y="13"/>
                  </a:lnTo>
                  <a:lnTo>
                    <a:pt x="15" y="0"/>
                  </a:lnTo>
                  <a:lnTo>
                    <a:pt x="0" y="2"/>
                  </a:lnTo>
                  <a:lnTo>
                    <a:pt x="0" y="2"/>
                  </a:lnTo>
                  <a:lnTo>
                    <a:pt x="4" y="15"/>
                  </a:lnTo>
                  <a:lnTo>
                    <a:pt x="19"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2" name="Freeform 1311"/>
            <p:cNvSpPr/>
            <p:nvPr>
              <p:custDataLst>
                <p:tags r:id="rId103"/>
              </p:custDataLst>
            </p:nvPr>
          </p:nvSpPr>
          <p:spPr bwMode="auto">
            <a:xfrm rot="300000">
              <a:off x="10211" y="4369"/>
              <a:ext cx="57" cy="45"/>
            </a:xfrm>
            <a:custGeom>
              <a:avLst/>
              <a:gdLst>
                <a:gd name="T0" fmla="*/ 0 w 19"/>
                <a:gd name="T1" fmla="*/ 13 h 15"/>
                <a:gd name="T2" fmla="*/ 13 w 19"/>
                <a:gd name="T3" fmla="*/ 15 h 15"/>
                <a:gd name="T4" fmla="*/ 19 w 19"/>
                <a:gd name="T5" fmla="*/ 2 h 15"/>
                <a:gd name="T6" fmla="*/ 4 w 19"/>
                <a:gd name="T7" fmla="*/ 0 h 15"/>
                <a:gd name="T8" fmla="*/ 0 w 19"/>
                <a:gd name="T9" fmla="*/ 13 h 15"/>
              </a:gdLst>
              <a:ahLst/>
              <a:cxnLst>
                <a:cxn ang="0">
                  <a:pos x="T0" y="T1"/>
                </a:cxn>
                <a:cxn ang="0">
                  <a:pos x="T2" y="T3"/>
                </a:cxn>
                <a:cxn ang="0">
                  <a:pos x="T4" y="T5"/>
                </a:cxn>
                <a:cxn ang="0">
                  <a:pos x="T6" y="T7"/>
                </a:cxn>
                <a:cxn ang="0">
                  <a:pos x="T8" y="T9"/>
                </a:cxn>
              </a:cxnLst>
              <a:rect l="0" t="0" r="r" b="b"/>
              <a:pathLst>
                <a:path w="19" h="15">
                  <a:moveTo>
                    <a:pt x="0" y="13"/>
                  </a:moveTo>
                  <a:lnTo>
                    <a:pt x="13" y="15"/>
                  </a:lnTo>
                  <a:lnTo>
                    <a:pt x="19" y="2"/>
                  </a:lnTo>
                  <a:lnTo>
                    <a:pt x="4"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3" name="Freeform 1312"/>
            <p:cNvSpPr/>
            <p:nvPr>
              <p:custDataLst>
                <p:tags r:id="rId104"/>
              </p:custDataLst>
            </p:nvPr>
          </p:nvSpPr>
          <p:spPr bwMode="auto">
            <a:xfrm rot="300000">
              <a:off x="10440" y="4124"/>
              <a:ext cx="78" cy="45"/>
            </a:xfrm>
            <a:custGeom>
              <a:avLst/>
              <a:gdLst>
                <a:gd name="T0" fmla="*/ 26 w 26"/>
                <a:gd name="T1" fmla="*/ 5 h 15"/>
                <a:gd name="T2" fmla="*/ 13 w 26"/>
                <a:gd name="T3" fmla="*/ 0 h 15"/>
                <a:gd name="T4" fmla="*/ 0 w 26"/>
                <a:gd name="T5" fmla="*/ 11 h 15"/>
                <a:gd name="T6" fmla="*/ 11 w 26"/>
                <a:gd name="T7" fmla="*/ 15 h 15"/>
                <a:gd name="T8" fmla="*/ 26 w 26"/>
                <a:gd name="T9" fmla="*/ 5 h 15"/>
              </a:gdLst>
              <a:ahLst/>
              <a:cxnLst>
                <a:cxn ang="0">
                  <a:pos x="T0" y="T1"/>
                </a:cxn>
                <a:cxn ang="0">
                  <a:pos x="T2" y="T3"/>
                </a:cxn>
                <a:cxn ang="0">
                  <a:pos x="T4" y="T5"/>
                </a:cxn>
                <a:cxn ang="0">
                  <a:pos x="T6" y="T7"/>
                </a:cxn>
                <a:cxn ang="0">
                  <a:pos x="T8" y="T9"/>
                </a:cxn>
              </a:cxnLst>
              <a:rect l="0" t="0" r="r" b="b"/>
              <a:pathLst>
                <a:path w="26" h="15">
                  <a:moveTo>
                    <a:pt x="26" y="5"/>
                  </a:moveTo>
                  <a:lnTo>
                    <a:pt x="13" y="0"/>
                  </a:lnTo>
                  <a:lnTo>
                    <a:pt x="0" y="11"/>
                  </a:lnTo>
                  <a:lnTo>
                    <a:pt x="11" y="15"/>
                  </a:lnTo>
                  <a:lnTo>
                    <a:pt x="26" y="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4" name="Freeform 1313"/>
            <p:cNvSpPr/>
            <p:nvPr>
              <p:custDataLst>
                <p:tags r:id="rId105"/>
              </p:custDataLst>
            </p:nvPr>
          </p:nvSpPr>
          <p:spPr bwMode="auto">
            <a:xfrm rot="300000">
              <a:off x="10301" y="4234"/>
              <a:ext cx="69" cy="54"/>
            </a:xfrm>
            <a:custGeom>
              <a:avLst/>
              <a:gdLst>
                <a:gd name="T0" fmla="*/ 0 w 23"/>
                <a:gd name="T1" fmla="*/ 13 h 18"/>
                <a:gd name="T2" fmla="*/ 13 w 23"/>
                <a:gd name="T3" fmla="*/ 18 h 18"/>
                <a:gd name="T4" fmla="*/ 23 w 23"/>
                <a:gd name="T5" fmla="*/ 5 h 18"/>
                <a:gd name="T6" fmla="*/ 10 w 23"/>
                <a:gd name="T7" fmla="*/ 0 h 18"/>
                <a:gd name="T8" fmla="*/ 0 w 23"/>
                <a:gd name="T9" fmla="*/ 13 h 18"/>
              </a:gdLst>
              <a:ahLst/>
              <a:cxnLst>
                <a:cxn ang="0">
                  <a:pos x="T0" y="T1"/>
                </a:cxn>
                <a:cxn ang="0">
                  <a:pos x="T2" y="T3"/>
                </a:cxn>
                <a:cxn ang="0">
                  <a:pos x="T4" y="T5"/>
                </a:cxn>
                <a:cxn ang="0">
                  <a:pos x="T6" y="T7"/>
                </a:cxn>
                <a:cxn ang="0">
                  <a:pos x="T8" y="T9"/>
                </a:cxn>
              </a:cxnLst>
              <a:rect l="0" t="0" r="r" b="b"/>
              <a:pathLst>
                <a:path w="23" h="18">
                  <a:moveTo>
                    <a:pt x="0" y="13"/>
                  </a:moveTo>
                  <a:lnTo>
                    <a:pt x="13" y="18"/>
                  </a:lnTo>
                  <a:lnTo>
                    <a:pt x="23" y="5"/>
                  </a:lnTo>
                  <a:lnTo>
                    <a:pt x="10" y="0"/>
                  </a:lnTo>
                  <a:lnTo>
                    <a:pt x="0"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5" name="Freeform 1314"/>
            <p:cNvSpPr/>
            <p:nvPr>
              <p:custDataLst>
                <p:tags r:id="rId106"/>
              </p:custDataLst>
            </p:nvPr>
          </p:nvSpPr>
          <p:spPr bwMode="auto">
            <a:xfrm rot="300000">
              <a:off x="10616" y="4032"/>
              <a:ext cx="78" cy="45"/>
            </a:xfrm>
            <a:custGeom>
              <a:avLst/>
              <a:gdLst>
                <a:gd name="T0" fmla="*/ 26 w 26"/>
                <a:gd name="T1" fmla="*/ 6 h 15"/>
                <a:gd name="T2" fmla="*/ 17 w 26"/>
                <a:gd name="T3" fmla="*/ 0 h 15"/>
                <a:gd name="T4" fmla="*/ 0 w 26"/>
                <a:gd name="T5" fmla="*/ 8 h 15"/>
                <a:gd name="T6" fmla="*/ 9 w 26"/>
                <a:gd name="T7" fmla="*/ 15 h 15"/>
                <a:gd name="T8" fmla="*/ 26 w 26"/>
                <a:gd name="T9" fmla="*/ 6 h 15"/>
              </a:gdLst>
              <a:ahLst/>
              <a:cxnLst>
                <a:cxn ang="0">
                  <a:pos x="T0" y="T1"/>
                </a:cxn>
                <a:cxn ang="0">
                  <a:pos x="T2" y="T3"/>
                </a:cxn>
                <a:cxn ang="0">
                  <a:pos x="T4" y="T5"/>
                </a:cxn>
                <a:cxn ang="0">
                  <a:pos x="T6" y="T7"/>
                </a:cxn>
                <a:cxn ang="0">
                  <a:pos x="T8" y="T9"/>
                </a:cxn>
              </a:cxnLst>
              <a:rect l="0" t="0" r="r" b="b"/>
              <a:pathLst>
                <a:path w="26" h="15">
                  <a:moveTo>
                    <a:pt x="26" y="6"/>
                  </a:moveTo>
                  <a:lnTo>
                    <a:pt x="17" y="0"/>
                  </a:lnTo>
                  <a:lnTo>
                    <a:pt x="0" y="8"/>
                  </a:lnTo>
                  <a:lnTo>
                    <a:pt x="9" y="15"/>
                  </a:lnTo>
                  <a:lnTo>
                    <a:pt x="26"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6" name="Freeform 1315"/>
            <p:cNvSpPr/>
            <p:nvPr>
              <p:custDataLst>
                <p:tags r:id="rId107"/>
              </p:custDataLst>
            </p:nvPr>
          </p:nvSpPr>
          <p:spPr bwMode="auto">
            <a:xfrm rot="300000">
              <a:off x="11053" y="3922"/>
              <a:ext cx="84" cy="33"/>
            </a:xfrm>
            <a:custGeom>
              <a:avLst/>
              <a:gdLst>
                <a:gd name="T0" fmla="*/ 22 w 28"/>
                <a:gd name="T1" fmla="*/ 0 h 11"/>
                <a:gd name="T2" fmla="*/ 22 w 28"/>
                <a:gd name="T3" fmla="*/ 0 h 11"/>
                <a:gd name="T4" fmla="*/ 0 w 28"/>
                <a:gd name="T5" fmla="*/ 4 h 11"/>
                <a:gd name="T6" fmla="*/ 5 w 28"/>
                <a:gd name="T7" fmla="*/ 11 h 11"/>
                <a:gd name="T8" fmla="*/ 5 w 28"/>
                <a:gd name="T9" fmla="*/ 11 h 11"/>
                <a:gd name="T10" fmla="*/ 28 w 28"/>
                <a:gd name="T11" fmla="*/ 6 h 11"/>
                <a:gd name="T12" fmla="*/ 22 w 28"/>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8" h="11">
                  <a:moveTo>
                    <a:pt x="22" y="0"/>
                  </a:moveTo>
                  <a:lnTo>
                    <a:pt x="22" y="0"/>
                  </a:lnTo>
                  <a:lnTo>
                    <a:pt x="0" y="4"/>
                  </a:lnTo>
                  <a:lnTo>
                    <a:pt x="5" y="11"/>
                  </a:lnTo>
                  <a:lnTo>
                    <a:pt x="5" y="11"/>
                  </a:lnTo>
                  <a:lnTo>
                    <a:pt x="28" y="6"/>
                  </a:lnTo>
                  <a:lnTo>
                    <a:pt x="22"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7" name="Freeform 1316"/>
            <p:cNvSpPr/>
            <p:nvPr>
              <p:custDataLst>
                <p:tags r:id="rId108"/>
              </p:custDataLst>
            </p:nvPr>
          </p:nvSpPr>
          <p:spPr bwMode="auto">
            <a:xfrm rot="300000">
              <a:off x="10824" y="3958"/>
              <a:ext cx="84" cy="48"/>
            </a:xfrm>
            <a:custGeom>
              <a:avLst/>
              <a:gdLst>
                <a:gd name="T0" fmla="*/ 19 w 28"/>
                <a:gd name="T1" fmla="*/ 0 h 16"/>
                <a:gd name="T2" fmla="*/ 0 w 28"/>
                <a:gd name="T3" fmla="*/ 9 h 16"/>
                <a:gd name="T4" fmla="*/ 6 w 28"/>
                <a:gd name="T5" fmla="*/ 16 h 16"/>
                <a:gd name="T6" fmla="*/ 28 w 28"/>
                <a:gd name="T7" fmla="*/ 9 h 16"/>
                <a:gd name="T8" fmla="*/ 19 w 28"/>
                <a:gd name="T9" fmla="*/ 0 h 16"/>
              </a:gdLst>
              <a:ahLst/>
              <a:cxnLst>
                <a:cxn ang="0">
                  <a:pos x="T0" y="T1"/>
                </a:cxn>
                <a:cxn ang="0">
                  <a:pos x="T2" y="T3"/>
                </a:cxn>
                <a:cxn ang="0">
                  <a:pos x="T4" y="T5"/>
                </a:cxn>
                <a:cxn ang="0">
                  <a:pos x="T6" y="T7"/>
                </a:cxn>
                <a:cxn ang="0">
                  <a:pos x="T8" y="T9"/>
                </a:cxn>
              </a:cxnLst>
              <a:rect l="0" t="0" r="r" b="b"/>
              <a:pathLst>
                <a:path w="28" h="16">
                  <a:moveTo>
                    <a:pt x="19" y="0"/>
                  </a:moveTo>
                  <a:lnTo>
                    <a:pt x="0" y="9"/>
                  </a:lnTo>
                  <a:lnTo>
                    <a:pt x="6" y="16"/>
                  </a:lnTo>
                  <a:lnTo>
                    <a:pt x="28" y="9"/>
                  </a:lnTo>
                  <a:lnTo>
                    <a:pt x="19"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8" name="Freeform 1317"/>
            <p:cNvSpPr/>
            <p:nvPr>
              <p:custDataLst>
                <p:tags r:id="rId109"/>
              </p:custDataLst>
            </p:nvPr>
          </p:nvSpPr>
          <p:spPr bwMode="auto">
            <a:xfrm rot="300000">
              <a:off x="11301" y="3904"/>
              <a:ext cx="78" cy="33"/>
            </a:xfrm>
            <a:custGeom>
              <a:avLst/>
              <a:gdLst>
                <a:gd name="T0" fmla="*/ 3 w 26"/>
                <a:gd name="T1" fmla="*/ 11 h 11"/>
                <a:gd name="T2" fmla="*/ 3 w 26"/>
                <a:gd name="T3" fmla="*/ 11 h 11"/>
                <a:gd name="T4" fmla="*/ 26 w 26"/>
                <a:gd name="T5" fmla="*/ 9 h 11"/>
                <a:gd name="T6" fmla="*/ 24 w 26"/>
                <a:gd name="T7" fmla="*/ 0 h 11"/>
                <a:gd name="T8" fmla="*/ 24 w 26"/>
                <a:gd name="T9" fmla="*/ 0 h 11"/>
                <a:gd name="T10" fmla="*/ 0 w 26"/>
                <a:gd name="T11" fmla="*/ 2 h 11"/>
                <a:gd name="T12" fmla="*/ 3 w 26"/>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26" h="11">
                  <a:moveTo>
                    <a:pt x="3" y="11"/>
                  </a:moveTo>
                  <a:lnTo>
                    <a:pt x="3" y="11"/>
                  </a:lnTo>
                  <a:lnTo>
                    <a:pt x="26" y="9"/>
                  </a:lnTo>
                  <a:lnTo>
                    <a:pt x="24" y="0"/>
                  </a:lnTo>
                  <a:lnTo>
                    <a:pt x="24" y="0"/>
                  </a:lnTo>
                  <a:lnTo>
                    <a:pt x="0" y="2"/>
                  </a:lnTo>
                  <a:lnTo>
                    <a:pt x="3" y="11"/>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59" name="Freeform 1318"/>
            <p:cNvSpPr/>
            <p:nvPr>
              <p:custDataLst>
                <p:tags r:id="rId110"/>
              </p:custDataLst>
            </p:nvPr>
          </p:nvSpPr>
          <p:spPr bwMode="auto">
            <a:xfrm rot="300000">
              <a:off x="11810" y="3955"/>
              <a:ext cx="78" cy="33"/>
            </a:xfrm>
            <a:custGeom>
              <a:avLst/>
              <a:gdLst>
                <a:gd name="T0" fmla="*/ 2 w 26"/>
                <a:gd name="T1" fmla="*/ 0 h 11"/>
                <a:gd name="T2" fmla="*/ 0 w 26"/>
                <a:gd name="T3" fmla="*/ 9 h 11"/>
                <a:gd name="T4" fmla="*/ 4 w 26"/>
                <a:gd name="T5" fmla="*/ 9 h 11"/>
                <a:gd name="T6" fmla="*/ 11 w 26"/>
                <a:gd name="T7" fmla="*/ 9 h 11"/>
                <a:gd name="T8" fmla="*/ 22 w 26"/>
                <a:gd name="T9" fmla="*/ 11 h 11"/>
                <a:gd name="T10" fmla="*/ 26 w 26"/>
                <a:gd name="T11" fmla="*/ 2 h 11"/>
                <a:gd name="T12" fmla="*/ 13 w 26"/>
                <a:gd name="T13" fmla="*/ 0 h 11"/>
                <a:gd name="T14" fmla="*/ 6 w 26"/>
                <a:gd name="T15" fmla="*/ 0 h 11"/>
                <a:gd name="T16" fmla="*/ 2 w 26"/>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1">
                  <a:moveTo>
                    <a:pt x="2" y="0"/>
                  </a:moveTo>
                  <a:lnTo>
                    <a:pt x="0" y="9"/>
                  </a:lnTo>
                  <a:lnTo>
                    <a:pt x="4" y="9"/>
                  </a:lnTo>
                  <a:lnTo>
                    <a:pt x="11" y="9"/>
                  </a:lnTo>
                  <a:lnTo>
                    <a:pt x="22" y="11"/>
                  </a:lnTo>
                  <a:lnTo>
                    <a:pt x="26" y="2"/>
                  </a:lnTo>
                  <a:lnTo>
                    <a:pt x="13" y="0"/>
                  </a:lnTo>
                  <a:lnTo>
                    <a:pt x="6" y="0"/>
                  </a:lnTo>
                  <a:lnTo>
                    <a:pt x="2" y="0"/>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60" name="Freeform 1319"/>
            <p:cNvSpPr/>
            <p:nvPr>
              <p:custDataLst>
                <p:tags r:id="rId111"/>
              </p:custDataLst>
            </p:nvPr>
          </p:nvSpPr>
          <p:spPr bwMode="auto">
            <a:xfrm rot="300000">
              <a:off x="11561" y="3921"/>
              <a:ext cx="72" cy="24"/>
            </a:xfrm>
            <a:custGeom>
              <a:avLst/>
              <a:gdLst>
                <a:gd name="T0" fmla="*/ 24 w 24"/>
                <a:gd name="T1" fmla="*/ 8 h 8"/>
                <a:gd name="T2" fmla="*/ 24 w 24"/>
                <a:gd name="T3" fmla="*/ 0 h 8"/>
                <a:gd name="T4" fmla="*/ 24 w 24"/>
                <a:gd name="T5" fmla="*/ 0 h 8"/>
                <a:gd name="T6" fmla="*/ 0 w 24"/>
                <a:gd name="T7" fmla="*/ 0 h 8"/>
                <a:gd name="T8" fmla="*/ 0 w 24"/>
                <a:gd name="T9" fmla="*/ 8 h 8"/>
                <a:gd name="T10" fmla="*/ 0 w 24"/>
                <a:gd name="T11" fmla="*/ 8 h 8"/>
                <a:gd name="T12" fmla="*/ 24 w 24"/>
                <a:gd name="T13" fmla="*/ 8 h 8"/>
                <a:gd name="T14" fmla="*/ 24 w 24"/>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8">
                  <a:moveTo>
                    <a:pt x="24" y="8"/>
                  </a:moveTo>
                  <a:lnTo>
                    <a:pt x="24" y="0"/>
                  </a:lnTo>
                  <a:lnTo>
                    <a:pt x="24" y="0"/>
                  </a:lnTo>
                  <a:lnTo>
                    <a:pt x="0" y="0"/>
                  </a:lnTo>
                  <a:lnTo>
                    <a:pt x="0" y="8"/>
                  </a:lnTo>
                  <a:lnTo>
                    <a:pt x="0" y="8"/>
                  </a:lnTo>
                  <a:lnTo>
                    <a:pt x="24" y="8"/>
                  </a:lnTo>
                  <a:lnTo>
                    <a:pt x="24"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61" name="Freeform 1320"/>
            <p:cNvSpPr/>
            <p:nvPr>
              <p:custDataLst>
                <p:tags r:id="rId112"/>
              </p:custDataLst>
            </p:nvPr>
          </p:nvSpPr>
          <p:spPr bwMode="auto">
            <a:xfrm rot="300000">
              <a:off x="12045" y="4014"/>
              <a:ext cx="78" cy="39"/>
            </a:xfrm>
            <a:custGeom>
              <a:avLst/>
              <a:gdLst>
                <a:gd name="T0" fmla="*/ 21 w 26"/>
                <a:gd name="T1" fmla="*/ 13 h 13"/>
                <a:gd name="T2" fmla="*/ 26 w 26"/>
                <a:gd name="T3" fmla="*/ 7 h 13"/>
                <a:gd name="T4" fmla="*/ 26 w 26"/>
                <a:gd name="T5" fmla="*/ 7 h 13"/>
                <a:gd name="T6" fmla="*/ 4 w 26"/>
                <a:gd name="T7" fmla="*/ 0 h 13"/>
                <a:gd name="T8" fmla="*/ 0 w 26"/>
                <a:gd name="T9" fmla="*/ 9 h 13"/>
                <a:gd name="T10" fmla="*/ 0 w 26"/>
                <a:gd name="T11" fmla="*/ 9 h 13"/>
                <a:gd name="T12" fmla="*/ 21 w 26"/>
                <a:gd name="T13" fmla="*/ 13 h 13"/>
                <a:gd name="T14" fmla="*/ 21 w 26"/>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3">
                  <a:moveTo>
                    <a:pt x="21" y="13"/>
                  </a:moveTo>
                  <a:lnTo>
                    <a:pt x="26" y="7"/>
                  </a:lnTo>
                  <a:lnTo>
                    <a:pt x="26" y="7"/>
                  </a:lnTo>
                  <a:lnTo>
                    <a:pt x="4" y="0"/>
                  </a:lnTo>
                  <a:lnTo>
                    <a:pt x="0" y="9"/>
                  </a:lnTo>
                  <a:lnTo>
                    <a:pt x="0" y="9"/>
                  </a:lnTo>
                  <a:lnTo>
                    <a:pt x="21" y="13"/>
                  </a:lnTo>
                  <a:lnTo>
                    <a:pt x="21" y="13"/>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62" name="Freeform 1321"/>
            <p:cNvSpPr/>
            <p:nvPr>
              <p:custDataLst>
                <p:tags r:id="rId113"/>
              </p:custDataLst>
            </p:nvPr>
          </p:nvSpPr>
          <p:spPr bwMode="auto">
            <a:xfrm rot="300000">
              <a:off x="12448" y="4205"/>
              <a:ext cx="84" cy="51"/>
            </a:xfrm>
            <a:custGeom>
              <a:avLst/>
              <a:gdLst>
                <a:gd name="T0" fmla="*/ 0 w 28"/>
                <a:gd name="T1" fmla="*/ 6 h 17"/>
                <a:gd name="T2" fmla="*/ 0 w 28"/>
                <a:gd name="T3" fmla="*/ 6 h 17"/>
                <a:gd name="T4" fmla="*/ 15 w 28"/>
                <a:gd name="T5" fmla="*/ 15 h 17"/>
                <a:gd name="T6" fmla="*/ 15 w 28"/>
                <a:gd name="T7" fmla="*/ 15 h 17"/>
                <a:gd name="T8" fmla="*/ 17 w 28"/>
                <a:gd name="T9" fmla="*/ 17 h 17"/>
                <a:gd name="T10" fmla="*/ 28 w 28"/>
                <a:gd name="T11" fmla="*/ 11 h 17"/>
                <a:gd name="T12" fmla="*/ 28 w 28"/>
                <a:gd name="T13" fmla="*/ 11 h 17"/>
                <a:gd name="T14" fmla="*/ 26 w 28"/>
                <a:gd name="T15" fmla="*/ 9 h 17"/>
                <a:gd name="T16" fmla="*/ 26 w 28"/>
                <a:gd name="T17" fmla="*/ 9 h 17"/>
                <a:gd name="T18" fmla="*/ 11 w 28"/>
                <a:gd name="T19" fmla="*/ 0 h 17"/>
                <a:gd name="T20" fmla="*/ 0 w 28"/>
                <a:gd name="T2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7">
                  <a:moveTo>
                    <a:pt x="0" y="6"/>
                  </a:moveTo>
                  <a:lnTo>
                    <a:pt x="0" y="6"/>
                  </a:lnTo>
                  <a:lnTo>
                    <a:pt x="15" y="15"/>
                  </a:lnTo>
                  <a:lnTo>
                    <a:pt x="15" y="15"/>
                  </a:lnTo>
                  <a:lnTo>
                    <a:pt x="17" y="17"/>
                  </a:lnTo>
                  <a:lnTo>
                    <a:pt x="28" y="11"/>
                  </a:lnTo>
                  <a:lnTo>
                    <a:pt x="28" y="11"/>
                  </a:lnTo>
                  <a:lnTo>
                    <a:pt x="26" y="9"/>
                  </a:lnTo>
                  <a:lnTo>
                    <a:pt x="26" y="9"/>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63" name="Freeform 1322"/>
            <p:cNvSpPr/>
            <p:nvPr>
              <p:custDataLst>
                <p:tags r:id="rId114"/>
              </p:custDataLst>
            </p:nvPr>
          </p:nvSpPr>
          <p:spPr bwMode="auto">
            <a:xfrm rot="300000">
              <a:off x="12262" y="4099"/>
              <a:ext cx="78" cy="45"/>
            </a:xfrm>
            <a:custGeom>
              <a:avLst/>
              <a:gdLst>
                <a:gd name="T0" fmla="*/ 0 w 26"/>
                <a:gd name="T1" fmla="*/ 8 h 15"/>
                <a:gd name="T2" fmla="*/ 0 w 26"/>
                <a:gd name="T3" fmla="*/ 8 h 15"/>
                <a:gd name="T4" fmla="*/ 9 w 26"/>
                <a:gd name="T5" fmla="*/ 11 h 15"/>
                <a:gd name="T6" fmla="*/ 18 w 26"/>
                <a:gd name="T7" fmla="*/ 15 h 15"/>
                <a:gd name="T8" fmla="*/ 26 w 26"/>
                <a:gd name="T9" fmla="*/ 8 h 15"/>
                <a:gd name="T10" fmla="*/ 18 w 26"/>
                <a:gd name="T11" fmla="*/ 4 h 15"/>
                <a:gd name="T12" fmla="*/ 18 w 26"/>
                <a:gd name="T13" fmla="*/ 4 h 15"/>
                <a:gd name="T14" fmla="*/ 7 w 26"/>
                <a:gd name="T15" fmla="*/ 0 h 15"/>
                <a:gd name="T16" fmla="*/ 0 w 26"/>
                <a:gd name="T1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5">
                  <a:moveTo>
                    <a:pt x="0" y="8"/>
                  </a:moveTo>
                  <a:lnTo>
                    <a:pt x="0" y="8"/>
                  </a:lnTo>
                  <a:lnTo>
                    <a:pt x="9" y="11"/>
                  </a:lnTo>
                  <a:lnTo>
                    <a:pt x="18" y="15"/>
                  </a:lnTo>
                  <a:lnTo>
                    <a:pt x="26" y="8"/>
                  </a:lnTo>
                  <a:lnTo>
                    <a:pt x="18" y="4"/>
                  </a:lnTo>
                  <a:lnTo>
                    <a:pt x="18" y="4"/>
                  </a:lnTo>
                  <a:lnTo>
                    <a:pt x="7" y="0"/>
                  </a:lnTo>
                  <a:lnTo>
                    <a:pt x="0" y="8"/>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64" name="Freeform 1244"/>
            <p:cNvSpPr/>
            <p:nvPr>
              <p:custDataLst>
                <p:tags r:id="rId115"/>
              </p:custDataLst>
            </p:nvPr>
          </p:nvSpPr>
          <p:spPr bwMode="auto">
            <a:xfrm rot="7500000">
              <a:off x="17543" y="3039"/>
              <a:ext cx="83" cy="45"/>
            </a:xfrm>
            <a:custGeom>
              <a:avLst/>
              <a:gdLst>
                <a:gd name="T0" fmla="*/ 0 w 28"/>
                <a:gd name="T1" fmla="*/ 6 h 15"/>
                <a:gd name="T2" fmla="*/ 17 w 28"/>
                <a:gd name="T3" fmla="*/ 15 h 15"/>
                <a:gd name="T4" fmla="*/ 28 w 28"/>
                <a:gd name="T5" fmla="*/ 8 h 15"/>
                <a:gd name="T6" fmla="*/ 10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8"/>
                  </a:lnTo>
                  <a:lnTo>
                    <a:pt x="10"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65" name="Freeform 1245"/>
            <p:cNvSpPr/>
            <p:nvPr>
              <p:custDataLst>
                <p:tags r:id="rId116"/>
              </p:custDataLst>
            </p:nvPr>
          </p:nvSpPr>
          <p:spPr bwMode="auto">
            <a:xfrm rot="7500000">
              <a:off x="17369" y="3121"/>
              <a:ext cx="83" cy="45"/>
            </a:xfrm>
            <a:custGeom>
              <a:avLst/>
              <a:gdLst>
                <a:gd name="T0" fmla="*/ 0 w 28"/>
                <a:gd name="T1" fmla="*/ 4 h 15"/>
                <a:gd name="T2" fmla="*/ 17 w 28"/>
                <a:gd name="T3" fmla="*/ 15 h 15"/>
                <a:gd name="T4" fmla="*/ 28 w 28"/>
                <a:gd name="T5" fmla="*/ 9 h 15"/>
                <a:gd name="T6" fmla="*/ 11 w 28"/>
                <a:gd name="T7" fmla="*/ 0 h 15"/>
                <a:gd name="T8" fmla="*/ 0 w 28"/>
                <a:gd name="T9" fmla="*/ 4 h 15"/>
              </a:gdLst>
              <a:ahLst/>
              <a:cxnLst>
                <a:cxn ang="0">
                  <a:pos x="T0" y="T1"/>
                </a:cxn>
                <a:cxn ang="0">
                  <a:pos x="T2" y="T3"/>
                </a:cxn>
                <a:cxn ang="0">
                  <a:pos x="T4" y="T5"/>
                </a:cxn>
                <a:cxn ang="0">
                  <a:pos x="T6" y="T7"/>
                </a:cxn>
                <a:cxn ang="0">
                  <a:pos x="T8" y="T9"/>
                </a:cxn>
              </a:cxnLst>
              <a:rect l="0" t="0" r="r" b="b"/>
              <a:pathLst>
                <a:path w="28" h="15">
                  <a:moveTo>
                    <a:pt x="0" y="4"/>
                  </a:moveTo>
                  <a:lnTo>
                    <a:pt x="17" y="15"/>
                  </a:lnTo>
                  <a:lnTo>
                    <a:pt x="28" y="9"/>
                  </a:lnTo>
                  <a:lnTo>
                    <a:pt x="11"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66" name="Freeform 1246"/>
            <p:cNvSpPr/>
            <p:nvPr>
              <p:custDataLst>
                <p:tags r:id="rId117"/>
              </p:custDataLst>
            </p:nvPr>
          </p:nvSpPr>
          <p:spPr bwMode="auto">
            <a:xfrm rot="7500000">
              <a:off x="17199" y="3194"/>
              <a:ext cx="83" cy="54"/>
            </a:xfrm>
            <a:custGeom>
              <a:avLst/>
              <a:gdLst>
                <a:gd name="T0" fmla="*/ 0 w 28"/>
                <a:gd name="T1" fmla="*/ 7 h 18"/>
                <a:gd name="T2" fmla="*/ 17 w 28"/>
                <a:gd name="T3" fmla="*/ 18 h 18"/>
                <a:gd name="T4" fmla="*/ 28 w 28"/>
                <a:gd name="T5" fmla="*/ 11 h 18"/>
                <a:gd name="T6" fmla="*/ 11 w 28"/>
                <a:gd name="T7" fmla="*/ 0 h 18"/>
                <a:gd name="T8" fmla="*/ 0 w 28"/>
                <a:gd name="T9" fmla="*/ 7 h 18"/>
              </a:gdLst>
              <a:ahLst/>
              <a:cxnLst>
                <a:cxn ang="0">
                  <a:pos x="T0" y="T1"/>
                </a:cxn>
                <a:cxn ang="0">
                  <a:pos x="T2" y="T3"/>
                </a:cxn>
                <a:cxn ang="0">
                  <a:pos x="T4" y="T5"/>
                </a:cxn>
                <a:cxn ang="0">
                  <a:pos x="T6" y="T7"/>
                </a:cxn>
                <a:cxn ang="0">
                  <a:pos x="T8" y="T9"/>
                </a:cxn>
              </a:cxnLst>
              <a:rect l="0" t="0" r="r" b="b"/>
              <a:pathLst>
                <a:path w="28" h="18">
                  <a:moveTo>
                    <a:pt x="0" y="7"/>
                  </a:moveTo>
                  <a:lnTo>
                    <a:pt x="17" y="18"/>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267" name="Freeform 1247"/>
            <p:cNvSpPr/>
            <p:nvPr>
              <p:custDataLst>
                <p:tags r:id="rId118"/>
              </p:custDataLst>
            </p:nvPr>
          </p:nvSpPr>
          <p:spPr bwMode="auto">
            <a:xfrm rot="7500000">
              <a:off x="17026" y="3281"/>
              <a:ext cx="83" cy="45"/>
            </a:xfrm>
            <a:custGeom>
              <a:avLst/>
              <a:gdLst>
                <a:gd name="T0" fmla="*/ 0 w 28"/>
                <a:gd name="T1" fmla="*/ 6 h 15"/>
                <a:gd name="T2" fmla="*/ 17 w 28"/>
                <a:gd name="T3" fmla="*/ 15 h 15"/>
                <a:gd name="T4" fmla="*/ 28 w 28"/>
                <a:gd name="T5" fmla="*/ 10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10"/>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68" name="Freeform 1248"/>
            <p:cNvSpPr/>
            <p:nvPr>
              <p:custDataLst>
                <p:tags r:id="rId119"/>
              </p:custDataLst>
            </p:nvPr>
          </p:nvSpPr>
          <p:spPr bwMode="auto">
            <a:xfrm rot="7500000">
              <a:off x="16855" y="3358"/>
              <a:ext cx="83" cy="45"/>
            </a:xfrm>
            <a:custGeom>
              <a:avLst/>
              <a:gdLst>
                <a:gd name="T0" fmla="*/ 0 w 28"/>
                <a:gd name="T1" fmla="*/ 6 h 15"/>
                <a:gd name="T2" fmla="*/ 17 w 28"/>
                <a:gd name="T3" fmla="*/ 15 h 15"/>
                <a:gd name="T4" fmla="*/ 28 w 28"/>
                <a:gd name="T5" fmla="*/ 9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9"/>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69" name="Freeform 1249"/>
            <p:cNvSpPr/>
            <p:nvPr>
              <p:custDataLst>
                <p:tags r:id="rId120"/>
              </p:custDataLst>
            </p:nvPr>
          </p:nvSpPr>
          <p:spPr bwMode="auto">
            <a:xfrm rot="7500000">
              <a:off x="16679" y="3438"/>
              <a:ext cx="83" cy="48"/>
            </a:xfrm>
            <a:custGeom>
              <a:avLst/>
              <a:gdLst>
                <a:gd name="T0" fmla="*/ 0 w 28"/>
                <a:gd name="T1" fmla="*/ 5 h 16"/>
                <a:gd name="T2" fmla="*/ 17 w 28"/>
                <a:gd name="T3" fmla="*/ 16 h 16"/>
                <a:gd name="T4" fmla="*/ 28 w 28"/>
                <a:gd name="T5" fmla="*/ 9 h 16"/>
                <a:gd name="T6" fmla="*/ 11 w 28"/>
                <a:gd name="T7" fmla="*/ 0 h 16"/>
                <a:gd name="T8" fmla="*/ 0 w 28"/>
                <a:gd name="T9" fmla="*/ 5 h 16"/>
              </a:gdLst>
              <a:ahLst/>
              <a:cxnLst>
                <a:cxn ang="0">
                  <a:pos x="T0" y="T1"/>
                </a:cxn>
                <a:cxn ang="0">
                  <a:pos x="T2" y="T3"/>
                </a:cxn>
                <a:cxn ang="0">
                  <a:pos x="T4" y="T5"/>
                </a:cxn>
                <a:cxn ang="0">
                  <a:pos x="T6" y="T7"/>
                </a:cxn>
                <a:cxn ang="0">
                  <a:pos x="T8" y="T9"/>
                </a:cxn>
              </a:cxnLst>
              <a:rect l="0" t="0" r="r" b="b"/>
              <a:pathLst>
                <a:path w="28" h="16">
                  <a:moveTo>
                    <a:pt x="0" y="5"/>
                  </a:moveTo>
                  <a:lnTo>
                    <a:pt x="17" y="16"/>
                  </a:lnTo>
                  <a:lnTo>
                    <a:pt x="28" y="9"/>
                  </a:lnTo>
                  <a:lnTo>
                    <a:pt x="11" y="0"/>
                  </a:lnTo>
                  <a:lnTo>
                    <a:pt x="0" y="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0" name="Freeform 1250"/>
            <p:cNvSpPr/>
            <p:nvPr>
              <p:custDataLst>
                <p:tags r:id="rId121"/>
              </p:custDataLst>
            </p:nvPr>
          </p:nvSpPr>
          <p:spPr bwMode="auto">
            <a:xfrm rot="7500000">
              <a:off x="16509" y="3514"/>
              <a:ext cx="83" cy="51"/>
            </a:xfrm>
            <a:custGeom>
              <a:avLst/>
              <a:gdLst>
                <a:gd name="T0" fmla="*/ 0 w 28"/>
                <a:gd name="T1" fmla="*/ 6 h 17"/>
                <a:gd name="T2" fmla="*/ 17 w 28"/>
                <a:gd name="T3" fmla="*/ 17 h 17"/>
                <a:gd name="T4" fmla="*/ 28 w 28"/>
                <a:gd name="T5" fmla="*/ 10 h 17"/>
                <a:gd name="T6" fmla="*/ 11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0"/>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1" name="Freeform 1251"/>
            <p:cNvSpPr/>
            <p:nvPr>
              <p:custDataLst>
                <p:tags r:id="rId122"/>
              </p:custDataLst>
            </p:nvPr>
          </p:nvSpPr>
          <p:spPr bwMode="auto">
            <a:xfrm rot="7500000">
              <a:off x="16337" y="3600"/>
              <a:ext cx="83" cy="45"/>
            </a:xfrm>
            <a:custGeom>
              <a:avLst/>
              <a:gdLst>
                <a:gd name="T0" fmla="*/ 0 w 28"/>
                <a:gd name="T1" fmla="*/ 6 h 15"/>
                <a:gd name="T2" fmla="*/ 17 w 28"/>
                <a:gd name="T3" fmla="*/ 15 h 15"/>
                <a:gd name="T4" fmla="*/ 28 w 28"/>
                <a:gd name="T5" fmla="*/ 11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11"/>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2" name="Freeform 1252"/>
            <p:cNvSpPr/>
            <p:nvPr>
              <p:custDataLst>
                <p:tags r:id="rId123"/>
              </p:custDataLst>
            </p:nvPr>
          </p:nvSpPr>
          <p:spPr bwMode="auto">
            <a:xfrm rot="7500000">
              <a:off x="16166" y="3677"/>
              <a:ext cx="83" cy="45"/>
            </a:xfrm>
            <a:custGeom>
              <a:avLst/>
              <a:gdLst>
                <a:gd name="T0" fmla="*/ 0 w 28"/>
                <a:gd name="T1" fmla="*/ 7 h 15"/>
                <a:gd name="T2" fmla="*/ 17 w 28"/>
                <a:gd name="T3" fmla="*/ 15 h 15"/>
                <a:gd name="T4" fmla="*/ 28 w 28"/>
                <a:gd name="T5" fmla="*/ 9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7" y="15"/>
                  </a:lnTo>
                  <a:lnTo>
                    <a:pt x="28" y="9"/>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3" name="Freeform 1253"/>
            <p:cNvSpPr/>
            <p:nvPr>
              <p:custDataLst>
                <p:tags r:id="rId124"/>
              </p:custDataLst>
            </p:nvPr>
          </p:nvSpPr>
          <p:spPr bwMode="auto">
            <a:xfrm rot="7500000">
              <a:off x="15989" y="3757"/>
              <a:ext cx="83" cy="45"/>
            </a:xfrm>
            <a:custGeom>
              <a:avLst/>
              <a:gdLst>
                <a:gd name="T0" fmla="*/ 0 w 28"/>
                <a:gd name="T1" fmla="*/ 4 h 15"/>
                <a:gd name="T2" fmla="*/ 18 w 28"/>
                <a:gd name="T3" fmla="*/ 15 h 15"/>
                <a:gd name="T4" fmla="*/ 28 w 28"/>
                <a:gd name="T5" fmla="*/ 8 h 15"/>
                <a:gd name="T6" fmla="*/ 11 w 28"/>
                <a:gd name="T7" fmla="*/ 0 h 15"/>
                <a:gd name="T8" fmla="*/ 0 w 28"/>
                <a:gd name="T9" fmla="*/ 4 h 15"/>
              </a:gdLst>
              <a:ahLst/>
              <a:cxnLst>
                <a:cxn ang="0">
                  <a:pos x="T0" y="T1"/>
                </a:cxn>
                <a:cxn ang="0">
                  <a:pos x="T2" y="T3"/>
                </a:cxn>
                <a:cxn ang="0">
                  <a:pos x="T4" y="T5"/>
                </a:cxn>
                <a:cxn ang="0">
                  <a:pos x="T6" y="T7"/>
                </a:cxn>
                <a:cxn ang="0">
                  <a:pos x="T8" y="T9"/>
                </a:cxn>
              </a:cxnLst>
              <a:rect l="0" t="0" r="r" b="b"/>
              <a:pathLst>
                <a:path w="28" h="15">
                  <a:moveTo>
                    <a:pt x="0" y="4"/>
                  </a:moveTo>
                  <a:lnTo>
                    <a:pt x="18" y="15"/>
                  </a:lnTo>
                  <a:lnTo>
                    <a:pt x="28" y="8"/>
                  </a:lnTo>
                  <a:lnTo>
                    <a:pt x="11"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4" name="Freeform 1254"/>
            <p:cNvSpPr/>
            <p:nvPr>
              <p:custDataLst>
                <p:tags r:id="rId125"/>
              </p:custDataLst>
            </p:nvPr>
          </p:nvSpPr>
          <p:spPr bwMode="auto">
            <a:xfrm rot="7500000">
              <a:off x="15820" y="3833"/>
              <a:ext cx="83" cy="51"/>
            </a:xfrm>
            <a:custGeom>
              <a:avLst/>
              <a:gdLst>
                <a:gd name="T0" fmla="*/ 0 w 28"/>
                <a:gd name="T1" fmla="*/ 6 h 17"/>
                <a:gd name="T2" fmla="*/ 17 w 28"/>
                <a:gd name="T3" fmla="*/ 17 h 17"/>
                <a:gd name="T4" fmla="*/ 28 w 28"/>
                <a:gd name="T5" fmla="*/ 11 h 17"/>
                <a:gd name="T6" fmla="*/ 11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1"/>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5" name="Freeform 1255"/>
            <p:cNvSpPr/>
            <p:nvPr>
              <p:custDataLst>
                <p:tags r:id="rId126"/>
              </p:custDataLst>
            </p:nvPr>
          </p:nvSpPr>
          <p:spPr bwMode="auto">
            <a:xfrm rot="7500000">
              <a:off x="15648" y="3919"/>
              <a:ext cx="83" cy="45"/>
            </a:xfrm>
            <a:custGeom>
              <a:avLst/>
              <a:gdLst>
                <a:gd name="T0" fmla="*/ 0 w 28"/>
                <a:gd name="T1" fmla="*/ 7 h 15"/>
                <a:gd name="T2" fmla="*/ 18 w 28"/>
                <a:gd name="T3" fmla="*/ 15 h 15"/>
                <a:gd name="T4" fmla="*/ 28 w 28"/>
                <a:gd name="T5" fmla="*/ 11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8" y="15"/>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6" name="Freeform 1256"/>
            <p:cNvSpPr/>
            <p:nvPr>
              <p:custDataLst>
                <p:tags r:id="rId127"/>
              </p:custDataLst>
            </p:nvPr>
          </p:nvSpPr>
          <p:spPr bwMode="auto">
            <a:xfrm rot="7500000">
              <a:off x="15475" y="3994"/>
              <a:ext cx="83" cy="45"/>
            </a:xfrm>
            <a:custGeom>
              <a:avLst/>
              <a:gdLst>
                <a:gd name="T0" fmla="*/ 0 w 28"/>
                <a:gd name="T1" fmla="*/ 6 h 15"/>
                <a:gd name="T2" fmla="*/ 18 w 28"/>
                <a:gd name="T3" fmla="*/ 15 h 15"/>
                <a:gd name="T4" fmla="*/ 28 w 28"/>
                <a:gd name="T5" fmla="*/ 8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8" y="15"/>
                  </a:lnTo>
                  <a:lnTo>
                    <a:pt x="28" y="8"/>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8" name="Freeform 1242"/>
            <p:cNvSpPr/>
            <p:nvPr>
              <p:custDataLst>
                <p:tags r:id="rId128"/>
              </p:custDataLst>
            </p:nvPr>
          </p:nvSpPr>
          <p:spPr bwMode="auto">
            <a:xfrm rot="7500000">
              <a:off x="17915" y="2859"/>
              <a:ext cx="83" cy="51"/>
            </a:xfrm>
            <a:custGeom>
              <a:avLst/>
              <a:gdLst>
                <a:gd name="T0" fmla="*/ 0 w 28"/>
                <a:gd name="T1" fmla="*/ 6 h 17"/>
                <a:gd name="T2" fmla="*/ 17 w 28"/>
                <a:gd name="T3" fmla="*/ 17 h 17"/>
                <a:gd name="T4" fmla="*/ 28 w 28"/>
                <a:gd name="T5" fmla="*/ 11 h 17"/>
                <a:gd name="T6" fmla="*/ 10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1"/>
                  </a:lnTo>
                  <a:lnTo>
                    <a:pt x="10"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279" name="Freeform 1243"/>
            <p:cNvSpPr/>
            <p:nvPr>
              <p:custDataLst>
                <p:tags r:id="rId129"/>
              </p:custDataLst>
            </p:nvPr>
          </p:nvSpPr>
          <p:spPr bwMode="auto">
            <a:xfrm rot="7500000">
              <a:off x="17745" y="2944"/>
              <a:ext cx="83" cy="45"/>
            </a:xfrm>
            <a:custGeom>
              <a:avLst/>
              <a:gdLst>
                <a:gd name="T0" fmla="*/ 0 w 28"/>
                <a:gd name="T1" fmla="*/ 7 h 15"/>
                <a:gd name="T2" fmla="*/ 17 w 28"/>
                <a:gd name="T3" fmla="*/ 15 h 15"/>
                <a:gd name="T4" fmla="*/ 28 w 28"/>
                <a:gd name="T5" fmla="*/ 11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7" y="15"/>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300" name="Freeform 1244"/>
            <p:cNvSpPr/>
            <p:nvPr/>
          </p:nvSpPr>
          <p:spPr bwMode="auto">
            <a:xfrm rot="300000">
              <a:off x="4703" y="9322"/>
              <a:ext cx="84" cy="45"/>
            </a:xfrm>
            <a:custGeom>
              <a:avLst/>
              <a:gdLst>
                <a:gd name="T0" fmla="*/ 0 w 28"/>
                <a:gd name="T1" fmla="*/ 6 h 15"/>
                <a:gd name="T2" fmla="*/ 17 w 28"/>
                <a:gd name="T3" fmla="*/ 15 h 15"/>
                <a:gd name="T4" fmla="*/ 28 w 28"/>
                <a:gd name="T5" fmla="*/ 8 h 15"/>
                <a:gd name="T6" fmla="*/ 10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8"/>
                  </a:lnTo>
                  <a:lnTo>
                    <a:pt x="10"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1" name="Freeform 1245"/>
            <p:cNvSpPr/>
            <p:nvPr/>
          </p:nvSpPr>
          <p:spPr bwMode="auto">
            <a:xfrm rot="300000">
              <a:off x="4862" y="9432"/>
              <a:ext cx="84" cy="45"/>
            </a:xfrm>
            <a:custGeom>
              <a:avLst/>
              <a:gdLst>
                <a:gd name="T0" fmla="*/ 0 w 28"/>
                <a:gd name="T1" fmla="*/ 4 h 15"/>
                <a:gd name="T2" fmla="*/ 17 w 28"/>
                <a:gd name="T3" fmla="*/ 15 h 15"/>
                <a:gd name="T4" fmla="*/ 28 w 28"/>
                <a:gd name="T5" fmla="*/ 9 h 15"/>
                <a:gd name="T6" fmla="*/ 11 w 28"/>
                <a:gd name="T7" fmla="*/ 0 h 15"/>
                <a:gd name="T8" fmla="*/ 0 w 28"/>
                <a:gd name="T9" fmla="*/ 4 h 15"/>
              </a:gdLst>
              <a:ahLst/>
              <a:cxnLst>
                <a:cxn ang="0">
                  <a:pos x="T0" y="T1"/>
                </a:cxn>
                <a:cxn ang="0">
                  <a:pos x="T2" y="T3"/>
                </a:cxn>
                <a:cxn ang="0">
                  <a:pos x="T4" y="T5"/>
                </a:cxn>
                <a:cxn ang="0">
                  <a:pos x="T6" y="T7"/>
                </a:cxn>
                <a:cxn ang="0">
                  <a:pos x="T8" y="T9"/>
                </a:cxn>
              </a:cxnLst>
              <a:rect l="0" t="0" r="r" b="b"/>
              <a:pathLst>
                <a:path w="28" h="15">
                  <a:moveTo>
                    <a:pt x="0" y="4"/>
                  </a:moveTo>
                  <a:lnTo>
                    <a:pt x="17" y="15"/>
                  </a:lnTo>
                  <a:lnTo>
                    <a:pt x="28" y="9"/>
                  </a:lnTo>
                  <a:lnTo>
                    <a:pt x="11"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2" name="Freeform 1246"/>
            <p:cNvSpPr/>
            <p:nvPr/>
          </p:nvSpPr>
          <p:spPr bwMode="auto">
            <a:xfrm rot="300000">
              <a:off x="5015" y="9535"/>
              <a:ext cx="84" cy="54"/>
            </a:xfrm>
            <a:custGeom>
              <a:avLst/>
              <a:gdLst>
                <a:gd name="T0" fmla="*/ 0 w 28"/>
                <a:gd name="T1" fmla="*/ 7 h 18"/>
                <a:gd name="T2" fmla="*/ 17 w 28"/>
                <a:gd name="T3" fmla="*/ 18 h 18"/>
                <a:gd name="T4" fmla="*/ 28 w 28"/>
                <a:gd name="T5" fmla="*/ 11 h 18"/>
                <a:gd name="T6" fmla="*/ 11 w 28"/>
                <a:gd name="T7" fmla="*/ 0 h 18"/>
                <a:gd name="T8" fmla="*/ 0 w 28"/>
                <a:gd name="T9" fmla="*/ 7 h 18"/>
              </a:gdLst>
              <a:ahLst/>
              <a:cxnLst>
                <a:cxn ang="0">
                  <a:pos x="T0" y="T1"/>
                </a:cxn>
                <a:cxn ang="0">
                  <a:pos x="T2" y="T3"/>
                </a:cxn>
                <a:cxn ang="0">
                  <a:pos x="T4" y="T5"/>
                </a:cxn>
                <a:cxn ang="0">
                  <a:pos x="T6" y="T7"/>
                </a:cxn>
                <a:cxn ang="0">
                  <a:pos x="T8" y="T9"/>
                </a:cxn>
              </a:cxnLst>
              <a:rect l="0" t="0" r="r" b="b"/>
              <a:pathLst>
                <a:path w="28" h="18">
                  <a:moveTo>
                    <a:pt x="0" y="7"/>
                  </a:moveTo>
                  <a:lnTo>
                    <a:pt x="17" y="18"/>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3" name="Freeform 1247"/>
            <p:cNvSpPr/>
            <p:nvPr/>
          </p:nvSpPr>
          <p:spPr bwMode="auto">
            <a:xfrm rot="300000">
              <a:off x="5174" y="9647"/>
              <a:ext cx="84" cy="45"/>
            </a:xfrm>
            <a:custGeom>
              <a:avLst/>
              <a:gdLst>
                <a:gd name="T0" fmla="*/ 0 w 28"/>
                <a:gd name="T1" fmla="*/ 6 h 15"/>
                <a:gd name="T2" fmla="*/ 17 w 28"/>
                <a:gd name="T3" fmla="*/ 15 h 15"/>
                <a:gd name="T4" fmla="*/ 28 w 28"/>
                <a:gd name="T5" fmla="*/ 10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10"/>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4" name="Freeform 1248"/>
            <p:cNvSpPr/>
            <p:nvPr/>
          </p:nvSpPr>
          <p:spPr bwMode="auto">
            <a:xfrm rot="300000">
              <a:off x="5326" y="9756"/>
              <a:ext cx="84" cy="45"/>
            </a:xfrm>
            <a:custGeom>
              <a:avLst/>
              <a:gdLst>
                <a:gd name="T0" fmla="*/ 0 w 28"/>
                <a:gd name="T1" fmla="*/ 6 h 15"/>
                <a:gd name="T2" fmla="*/ 17 w 28"/>
                <a:gd name="T3" fmla="*/ 15 h 15"/>
                <a:gd name="T4" fmla="*/ 28 w 28"/>
                <a:gd name="T5" fmla="*/ 9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9"/>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5" name="Freeform 1249"/>
            <p:cNvSpPr/>
            <p:nvPr/>
          </p:nvSpPr>
          <p:spPr bwMode="auto">
            <a:xfrm rot="300000">
              <a:off x="5485" y="9865"/>
              <a:ext cx="84" cy="48"/>
            </a:xfrm>
            <a:custGeom>
              <a:avLst/>
              <a:gdLst>
                <a:gd name="T0" fmla="*/ 0 w 28"/>
                <a:gd name="T1" fmla="*/ 5 h 16"/>
                <a:gd name="T2" fmla="*/ 17 w 28"/>
                <a:gd name="T3" fmla="*/ 16 h 16"/>
                <a:gd name="T4" fmla="*/ 28 w 28"/>
                <a:gd name="T5" fmla="*/ 9 h 16"/>
                <a:gd name="T6" fmla="*/ 11 w 28"/>
                <a:gd name="T7" fmla="*/ 0 h 16"/>
                <a:gd name="T8" fmla="*/ 0 w 28"/>
                <a:gd name="T9" fmla="*/ 5 h 16"/>
              </a:gdLst>
              <a:ahLst/>
              <a:cxnLst>
                <a:cxn ang="0">
                  <a:pos x="T0" y="T1"/>
                </a:cxn>
                <a:cxn ang="0">
                  <a:pos x="T2" y="T3"/>
                </a:cxn>
                <a:cxn ang="0">
                  <a:pos x="T4" y="T5"/>
                </a:cxn>
                <a:cxn ang="0">
                  <a:pos x="T6" y="T7"/>
                </a:cxn>
                <a:cxn ang="0">
                  <a:pos x="T8" y="T9"/>
                </a:cxn>
              </a:cxnLst>
              <a:rect l="0" t="0" r="r" b="b"/>
              <a:pathLst>
                <a:path w="28" h="16">
                  <a:moveTo>
                    <a:pt x="0" y="5"/>
                  </a:moveTo>
                  <a:lnTo>
                    <a:pt x="17" y="16"/>
                  </a:lnTo>
                  <a:lnTo>
                    <a:pt x="28" y="9"/>
                  </a:lnTo>
                  <a:lnTo>
                    <a:pt x="11" y="0"/>
                  </a:lnTo>
                  <a:lnTo>
                    <a:pt x="0" y="5"/>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6" name="Freeform 1250"/>
            <p:cNvSpPr/>
            <p:nvPr/>
          </p:nvSpPr>
          <p:spPr bwMode="auto">
            <a:xfrm rot="300000">
              <a:off x="5638" y="9971"/>
              <a:ext cx="84" cy="51"/>
            </a:xfrm>
            <a:custGeom>
              <a:avLst/>
              <a:gdLst>
                <a:gd name="T0" fmla="*/ 0 w 28"/>
                <a:gd name="T1" fmla="*/ 6 h 17"/>
                <a:gd name="T2" fmla="*/ 17 w 28"/>
                <a:gd name="T3" fmla="*/ 17 h 17"/>
                <a:gd name="T4" fmla="*/ 28 w 28"/>
                <a:gd name="T5" fmla="*/ 10 h 17"/>
                <a:gd name="T6" fmla="*/ 11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0"/>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7" name="Freeform 1251"/>
            <p:cNvSpPr/>
            <p:nvPr/>
          </p:nvSpPr>
          <p:spPr bwMode="auto">
            <a:xfrm rot="300000">
              <a:off x="5797" y="10080"/>
              <a:ext cx="84" cy="45"/>
            </a:xfrm>
            <a:custGeom>
              <a:avLst/>
              <a:gdLst>
                <a:gd name="T0" fmla="*/ 0 w 28"/>
                <a:gd name="T1" fmla="*/ 6 h 15"/>
                <a:gd name="T2" fmla="*/ 17 w 28"/>
                <a:gd name="T3" fmla="*/ 15 h 15"/>
                <a:gd name="T4" fmla="*/ 28 w 28"/>
                <a:gd name="T5" fmla="*/ 11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11"/>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8" name="Freeform 1252"/>
            <p:cNvSpPr/>
            <p:nvPr/>
          </p:nvSpPr>
          <p:spPr bwMode="auto">
            <a:xfrm rot="300000">
              <a:off x="5949" y="10189"/>
              <a:ext cx="84" cy="45"/>
            </a:xfrm>
            <a:custGeom>
              <a:avLst/>
              <a:gdLst>
                <a:gd name="T0" fmla="*/ 0 w 28"/>
                <a:gd name="T1" fmla="*/ 7 h 15"/>
                <a:gd name="T2" fmla="*/ 17 w 28"/>
                <a:gd name="T3" fmla="*/ 15 h 15"/>
                <a:gd name="T4" fmla="*/ 28 w 28"/>
                <a:gd name="T5" fmla="*/ 9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7" y="15"/>
                  </a:lnTo>
                  <a:lnTo>
                    <a:pt x="28" y="9"/>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09" name="Freeform 1253"/>
            <p:cNvSpPr/>
            <p:nvPr/>
          </p:nvSpPr>
          <p:spPr bwMode="auto">
            <a:xfrm rot="300000">
              <a:off x="6108" y="10302"/>
              <a:ext cx="84" cy="45"/>
            </a:xfrm>
            <a:custGeom>
              <a:avLst/>
              <a:gdLst>
                <a:gd name="T0" fmla="*/ 0 w 28"/>
                <a:gd name="T1" fmla="*/ 4 h 15"/>
                <a:gd name="T2" fmla="*/ 18 w 28"/>
                <a:gd name="T3" fmla="*/ 15 h 15"/>
                <a:gd name="T4" fmla="*/ 28 w 28"/>
                <a:gd name="T5" fmla="*/ 8 h 15"/>
                <a:gd name="T6" fmla="*/ 11 w 28"/>
                <a:gd name="T7" fmla="*/ 0 h 15"/>
                <a:gd name="T8" fmla="*/ 0 w 28"/>
                <a:gd name="T9" fmla="*/ 4 h 15"/>
              </a:gdLst>
              <a:ahLst/>
              <a:cxnLst>
                <a:cxn ang="0">
                  <a:pos x="T0" y="T1"/>
                </a:cxn>
                <a:cxn ang="0">
                  <a:pos x="T2" y="T3"/>
                </a:cxn>
                <a:cxn ang="0">
                  <a:pos x="T4" y="T5"/>
                </a:cxn>
                <a:cxn ang="0">
                  <a:pos x="T6" y="T7"/>
                </a:cxn>
                <a:cxn ang="0">
                  <a:pos x="T8" y="T9"/>
                </a:cxn>
              </a:cxnLst>
              <a:rect l="0" t="0" r="r" b="b"/>
              <a:pathLst>
                <a:path w="28" h="15">
                  <a:moveTo>
                    <a:pt x="0" y="4"/>
                  </a:moveTo>
                  <a:lnTo>
                    <a:pt x="18" y="15"/>
                  </a:lnTo>
                  <a:lnTo>
                    <a:pt x="28" y="8"/>
                  </a:lnTo>
                  <a:lnTo>
                    <a:pt x="11"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0" name="Freeform 1254"/>
            <p:cNvSpPr/>
            <p:nvPr/>
          </p:nvSpPr>
          <p:spPr bwMode="auto">
            <a:xfrm rot="300000">
              <a:off x="6261" y="10405"/>
              <a:ext cx="84" cy="51"/>
            </a:xfrm>
            <a:custGeom>
              <a:avLst/>
              <a:gdLst>
                <a:gd name="T0" fmla="*/ 0 w 28"/>
                <a:gd name="T1" fmla="*/ 6 h 17"/>
                <a:gd name="T2" fmla="*/ 17 w 28"/>
                <a:gd name="T3" fmla="*/ 17 h 17"/>
                <a:gd name="T4" fmla="*/ 28 w 28"/>
                <a:gd name="T5" fmla="*/ 11 h 17"/>
                <a:gd name="T6" fmla="*/ 11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1"/>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1" name="Freeform 1255"/>
            <p:cNvSpPr/>
            <p:nvPr/>
          </p:nvSpPr>
          <p:spPr bwMode="auto">
            <a:xfrm rot="300000">
              <a:off x="6420" y="10514"/>
              <a:ext cx="84" cy="45"/>
            </a:xfrm>
            <a:custGeom>
              <a:avLst/>
              <a:gdLst>
                <a:gd name="T0" fmla="*/ 0 w 28"/>
                <a:gd name="T1" fmla="*/ 7 h 15"/>
                <a:gd name="T2" fmla="*/ 18 w 28"/>
                <a:gd name="T3" fmla="*/ 15 h 15"/>
                <a:gd name="T4" fmla="*/ 28 w 28"/>
                <a:gd name="T5" fmla="*/ 11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8" y="15"/>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2" name="Freeform 1256"/>
            <p:cNvSpPr/>
            <p:nvPr/>
          </p:nvSpPr>
          <p:spPr bwMode="auto">
            <a:xfrm rot="300000">
              <a:off x="6572" y="10626"/>
              <a:ext cx="84" cy="45"/>
            </a:xfrm>
            <a:custGeom>
              <a:avLst/>
              <a:gdLst>
                <a:gd name="T0" fmla="*/ 0 w 28"/>
                <a:gd name="T1" fmla="*/ 6 h 15"/>
                <a:gd name="T2" fmla="*/ 18 w 28"/>
                <a:gd name="T3" fmla="*/ 15 h 15"/>
                <a:gd name="T4" fmla="*/ 28 w 28"/>
                <a:gd name="T5" fmla="*/ 8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8" y="15"/>
                  </a:lnTo>
                  <a:lnTo>
                    <a:pt x="28" y="8"/>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3" name="Freeform 1257"/>
            <p:cNvSpPr/>
            <p:nvPr/>
          </p:nvSpPr>
          <p:spPr bwMode="auto">
            <a:xfrm rot="300000">
              <a:off x="6731" y="10735"/>
              <a:ext cx="87" cy="45"/>
            </a:xfrm>
            <a:custGeom>
              <a:avLst/>
              <a:gdLst>
                <a:gd name="T0" fmla="*/ 0 w 29"/>
                <a:gd name="T1" fmla="*/ 4 h 15"/>
                <a:gd name="T2" fmla="*/ 18 w 29"/>
                <a:gd name="T3" fmla="*/ 15 h 15"/>
                <a:gd name="T4" fmla="*/ 29 w 29"/>
                <a:gd name="T5" fmla="*/ 9 h 15"/>
                <a:gd name="T6" fmla="*/ 11 w 29"/>
                <a:gd name="T7" fmla="*/ 0 h 15"/>
                <a:gd name="T8" fmla="*/ 0 w 29"/>
                <a:gd name="T9" fmla="*/ 4 h 15"/>
              </a:gdLst>
              <a:ahLst/>
              <a:cxnLst>
                <a:cxn ang="0">
                  <a:pos x="T0" y="T1"/>
                </a:cxn>
                <a:cxn ang="0">
                  <a:pos x="T2" y="T3"/>
                </a:cxn>
                <a:cxn ang="0">
                  <a:pos x="T4" y="T5"/>
                </a:cxn>
                <a:cxn ang="0">
                  <a:pos x="T6" y="T7"/>
                </a:cxn>
                <a:cxn ang="0">
                  <a:pos x="T8" y="T9"/>
                </a:cxn>
              </a:cxnLst>
              <a:rect l="0" t="0" r="r" b="b"/>
              <a:pathLst>
                <a:path w="29" h="15">
                  <a:moveTo>
                    <a:pt x="0" y="4"/>
                  </a:moveTo>
                  <a:lnTo>
                    <a:pt x="18" y="15"/>
                  </a:lnTo>
                  <a:lnTo>
                    <a:pt x="29" y="9"/>
                  </a:lnTo>
                  <a:lnTo>
                    <a:pt x="11"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4" name="Freeform 1258"/>
            <p:cNvSpPr/>
            <p:nvPr/>
          </p:nvSpPr>
          <p:spPr bwMode="auto">
            <a:xfrm rot="300000">
              <a:off x="6883" y="10838"/>
              <a:ext cx="84" cy="54"/>
            </a:xfrm>
            <a:custGeom>
              <a:avLst/>
              <a:gdLst>
                <a:gd name="T0" fmla="*/ 0 w 28"/>
                <a:gd name="T1" fmla="*/ 7 h 18"/>
                <a:gd name="T2" fmla="*/ 18 w 28"/>
                <a:gd name="T3" fmla="*/ 18 h 18"/>
                <a:gd name="T4" fmla="*/ 28 w 28"/>
                <a:gd name="T5" fmla="*/ 11 h 18"/>
                <a:gd name="T6" fmla="*/ 11 w 28"/>
                <a:gd name="T7" fmla="*/ 0 h 18"/>
                <a:gd name="T8" fmla="*/ 0 w 28"/>
                <a:gd name="T9" fmla="*/ 7 h 18"/>
              </a:gdLst>
              <a:ahLst/>
              <a:cxnLst>
                <a:cxn ang="0">
                  <a:pos x="T0" y="T1"/>
                </a:cxn>
                <a:cxn ang="0">
                  <a:pos x="T2" y="T3"/>
                </a:cxn>
                <a:cxn ang="0">
                  <a:pos x="T4" y="T5"/>
                </a:cxn>
                <a:cxn ang="0">
                  <a:pos x="T6" y="T7"/>
                </a:cxn>
                <a:cxn ang="0">
                  <a:pos x="T8" y="T9"/>
                </a:cxn>
              </a:cxnLst>
              <a:rect l="0" t="0" r="r" b="b"/>
              <a:pathLst>
                <a:path w="28" h="18">
                  <a:moveTo>
                    <a:pt x="0" y="7"/>
                  </a:moveTo>
                  <a:lnTo>
                    <a:pt x="18" y="18"/>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5" name="Freeform 1259"/>
            <p:cNvSpPr/>
            <p:nvPr/>
          </p:nvSpPr>
          <p:spPr bwMode="auto">
            <a:xfrm rot="300000">
              <a:off x="7045" y="10951"/>
              <a:ext cx="84" cy="45"/>
            </a:xfrm>
            <a:custGeom>
              <a:avLst/>
              <a:gdLst>
                <a:gd name="T0" fmla="*/ 0 w 28"/>
                <a:gd name="T1" fmla="*/ 6 h 15"/>
                <a:gd name="T2" fmla="*/ 17 w 28"/>
                <a:gd name="T3" fmla="*/ 15 h 15"/>
                <a:gd name="T4" fmla="*/ 28 w 28"/>
                <a:gd name="T5" fmla="*/ 11 h 15"/>
                <a:gd name="T6" fmla="*/ 10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11"/>
                  </a:lnTo>
                  <a:lnTo>
                    <a:pt x="10"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6" name="Freeform 1260"/>
            <p:cNvSpPr/>
            <p:nvPr/>
          </p:nvSpPr>
          <p:spPr bwMode="auto">
            <a:xfrm rot="300000">
              <a:off x="7198" y="11059"/>
              <a:ext cx="84" cy="45"/>
            </a:xfrm>
            <a:custGeom>
              <a:avLst/>
              <a:gdLst>
                <a:gd name="T0" fmla="*/ 0 w 28"/>
                <a:gd name="T1" fmla="*/ 7 h 15"/>
                <a:gd name="T2" fmla="*/ 17 w 28"/>
                <a:gd name="T3" fmla="*/ 15 h 15"/>
                <a:gd name="T4" fmla="*/ 28 w 28"/>
                <a:gd name="T5" fmla="*/ 9 h 15"/>
                <a:gd name="T6" fmla="*/ 10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7" y="15"/>
                  </a:lnTo>
                  <a:lnTo>
                    <a:pt x="28" y="9"/>
                  </a:lnTo>
                  <a:lnTo>
                    <a:pt x="10"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7" name="Freeform 1261"/>
            <p:cNvSpPr/>
            <p:nvPr/>
          </p:nvSpPr>
          <p:spPr bwMode="auto">
            <a:xfrm rot="300000">
              <a:off x="7356" y="11172"/>
              <a:ext cx="84" cy="45"/>
            </a:xfrm>
            <a:custGeom>
              <a:avLst/>
              <a:gdLst>
                <a:gd name="T0" fmla="*/ 0 w 28"/>
                <a:gd name="T1" fmla="*/ 4 h 15"/>
                <a:gd name="T2" fmla="*/ 17 w 28"/>
                <a:gd name="T3" fmla="*/ 15 h 15"/>
                <a:gd name="T4" fmla="*/ 28 w 28"/>
                <a:gd name="T5" fmla="*/ 8 h 15"/>
                <a:gd name="T6" fmla="*/ 10 w 28"/>
                <a:gd name="T7" fmla="*/ 0 h 15"/>
                <a:gd name="T8" fmla="*/ 0 w 28"/>
                <a:gd name="T9" fmla="*/ 4 h 15"/>
              </a:gdLst>
              <a:ahLst/>
              <a:cxnLst>
                <a:cxn ang="0">
                  <a:pos x="T0" y="T1"/>
                </a:cxn>
                <a:cxn ang="0">
                  <a:pos x="T2" y="T3"/>
                </a:cxn>
                <a:cxn ang="0">
                  <a:pos x="T4" y="T5"/>
                </a:cxn>
                <a:cxn ang="0">
                  <a:pos x="T6" y="T7"/>
                </a:cxn>
                <a:cxn ang="0">
                  <a:pos x="T8" y="T9"/>
                </a:cxn>
              </a:cxnLst>
              <a:rect l="0" t="0" r="r" b="b"/>
              <a:pathLst>
                <a:path w="28" h="15">
                  <a:moveTo>
                    <a:pt x="0" y="4"/>
                  </a:moveTo>
                  <a:lnTo>
                    <a:pt x="17" y="15"/>
                  </a:lnTo>
                  <a:lnTo>
                    <a:pt x="28" y="8"/>
                  </a:lnTo>
                  <a:lnTo>
                    <a:pt x="10"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8" name="Freeform 1262"/>
            <p:cNvSpPr/>
            <p:nvPr/>
          </p:nvSpPr>
          <p:spPr bwMode="auto">
            <a:xfrm rot="300000">
              <a:off x="7509" y="11275"/>
              <a:ext cx="84" cy="51"/>
            </a:xfrm>
            <a:custGeom>
              <a:avLst/>
              <a:gdLst>
                <a:gd name="T0" fmla="*/ 0 w 28"/>
                <a:gd name="T1" fmla="*/ 6 h 17"/>
                <a:gd name="T2" fmla="*/ 17 w 28"/>
                <a:gd name="T3" fmla="*/ 17 h 17"/>
                <a:gd name="T4" fmla="*/ 28 w 28"/>
                <a:gd name="T5" fmla="*/ 11 h 17"/>
                <a:gd name="T6" fmla="*/ 10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1"/>
                  </a:lnTo>
                  <a:lnTo>
                    <a:pt x="10"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19" name="Freeform 1263"/>
            <p:cNvSpPr/>
            <p:nvPr/>
          </p:nvSpPr>
          <p:spPr bwMode="auto">
            <a:xfrm rot="300000">
              <a:off x="7668" y="11384"/>
              <a:ext cx="84" cy="45"/>
            </a:xfrm>
            <a:custGeom>
              <a:avLst/>
              <a:gdLst>
                <a:gd name="T0" fmla="*/ 0 w 28"/>
                <a:gd name="T1" fmla="*/ 7 h 15"/>
                <a:gd name="T2" fmla="*/ 17 w 28"/>
                <a:gd name="T3" fmla="*/ 15 h 15"/>
                <a:gd name="T4" fmla="*/ 28 w 28"/>
                <a:gd name="T5" fmla="*/ 11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7" y="15"/>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20" name="Freeform 1264"/>
            <p:cNvSpPr/>
            <p:nvPr/>
          </p:nvSpPr>
          <p:spPr bwMode="auto">
            <a:xfrm rot="300000">
              <a:off x="7821" y="11496"/>
              <a:ext cx="84" cy="45"/>
            </a:xfrm>
            <a:custGeom>
              <a:avLst/>
              <a:gdLst>
                <a:gd name="T0" fmla="*/ 0 w 28"/>
                <a:gd name="T1" fmla="*/ 6 h 15"/>
                <a:gd name="T2" fmla="*/ 17 w 28"/>
                <a:gd name="T3" fmla="*/ 15 h 15"/>
                <a:gd name="T4" fmla="*/ 28 w 28"/>
                <a:gd name="T5" fmla="*/ 8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8"/>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grpSp>
      <p:grpSp>
        <p:nvGrpSpPr>
          <p:cNvPr id="361" name="组合 360"/>
          <p:cNvGrpSpPr/>
          <p:nvPr>
            <p:custDataLst>
              <p:tags r:id="rId130"/>
            </p:custDataLst>
          </p:nvPr>
        </p:nvGrpSpPr>
        <p:grpSpPr>
          <a:xfrm>
            <a:off x="11495405" y="2011045"/>
            <a:ext cx="594360" cy="318135"/>
            <a:chOff x="17245" y="3043"/>
            <a:chExt cx="936" cy="501"/>
          </a:xfrm>
        </p:grpSpPr>
        <p:sp>
          <p:nvSpPr>
            <p:cNvPr id="355" name="Freeform 1244"/>
            <p:cNvSpPr/>
            <p:nvPr>
              <p:custDataLst>
                <p:tags r:id="rId131"/>
              </p:custDataLst>
            </p:nvPr>
          </p:nvSpPr>
          <p:spPr bwMode="auto">
            <a:xfrm rot="7500000">
              <a:off x="17743" y="3239"/>
              <a:ext cx="83" cy="45"/>
            </a:xfrm>
            <a:custGeom>
              <a:avLst/>
              <a:gdLst>
                <a:gd name="T0" fmla="*/ 0 w 28"/>
                <a:gd name="T1" fmla="*/ 6 h 15"/>
                <a:gd name="T2" fmla="*/ 17 w 28"/>
                <a:gd name="T3" fmla="*/ 15 h 15"/>
                <a:gd name="T4" fmla="*/ 28 w 28"/>
                <a:gd name="T5" fmla="*/ 8 h 15"/>
                <a:gd name="T6" fmla="*/ 10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8"/>
                  </a:lnTo>
                  <a:lnTo>
                    <a:pt x="10"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56" name="Freeform 1245"/>
            <p:cNvSpPr/>
            <p:nvPr>
              <p:custDataLst>
                <p:tags r:id="rId132"/>
              </p:custDataLst>
            </p:nvPr>
          </p:nvSpPr>
          <p:spPr bwMode="auto">
            <a:xfrm rot="7500000">
              <a:off x="17569" y="3321"/>
              <a:ext cx="83" cy="45"/>
            </a:xfrm>
            <a:custGeom>
              <a:avLst/>
              <a:gdLst>
                <a:gd name="T0" fmla="*/ 0 w 28"/>
                <a:gd name="T1" fmla="*/ 4 h 15"/>
                <a:gd name="T2" fmla="*/ 17 w 28"/>
                <a:gd name="T3" fmla="*/ 15 h 15"/>
                <a:gd name="T4" fmla="*/ 28 w 28"/>
                <a:gd name="T5" fmla="*/ 9 h 15"/>
                <a:gd name="T6" fmla="*/ 11 w 28"/>
                <a:gd name="T7" fmla="*/ 0 h 15"/>
                <a:gd name="T8" fmla="*/ 0 w 28"/>
                <a:gd name="T9" fmla="*/ 4 h 15"/>
              </a:gdLst>
              <a:ahLst/>
              <a:cxnLst>
                <a:cxn ang="0">
                  <a:pos x="T0" y="T1"/>
                </a:cxn>
                <a:cxn ang="0">
                  <a:pos x="T2" y="T3"/>
                </a:cxn>
                <a:cxn ang="0">
                  <a:pos x="T4" y="T5"/>
                </a:cxn>
                <a:cxn ang="0">
                  <a:pos x="T6" y="T7"/>
                </a:cxn>
                <a:cxn ang="0">
                  <a:pos x="T8" y="T9"/>
                </a:cxn>
              </a:cxnLst>
              <a:rect l="0" t="0" r="r" b="b"/>
              <a:pathLst>
                <a:path w="28" h="15">
                  <a:moveTo>
                    <a:pt x="0" y="4"/>
                  </a:moveTo>
                  <a:lnTo>
                    <a:pt x="17" y="15"/>
                  </a:lnTo>
                  <a:lnTo>
                    <a:pt x="28" y="9"/>
                  </a:lnTo>
                  <a:lnTo>
                    <a:pt x="11" y="0"/>
                  </a:lnTo>
                  <a:lnTo>
                    <a:pt x="0" y="4"/>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57" name="Freeform 1246"/>
            <p:cNvSpPr/>
            <p:nvPr>
              <p:custDataLst>
                <p:tags r:id="rId133"/>
              </p:custDataLst>
            </p:nvPr>
          </p:nvSpPr>
          <p:spPr bwMode="auto">
            <a:xfrm rot="7500000">
              <a:off x="17399" y="3394"/>
              <a:ext cx="83" cy="54"/>
            </a:xfrm>
            <a:custGeom>
              <a:avLst/>
              <a:gdLst>
                <a:gd name="T0" fmla="*/ 0 w 28"/>
                <a:gd name="T1" fmla="*/ 7 h 18"/>
                <a:gd name="T2" fmla="*/ 17 w 28"/>
                <a:gd name="T3" fmla="*/ 18 h 18"/>
                <a:gd name="T4" fmla="*/ 28 w 28"/>
                <a:gd name="T5" fmla="*/ 11 h 18"/>
                <a:gd name="T6" fmla="*/ 11 w 28"/>
                <a:gd name="T7" fmla="*/ 0 h 18"/>
                <a:gd name="T8" fmla="*/ 0 w 28"/>
                <a:gd name="T9" fmla="*/ 7 h 18"/>
              </a:gdLst>
              <a:ahLst/>
              <a:cxnLst>
                <a:cxn ang="0">
                  <a:pos x="T0" y="T1"/>
                </a:cxn>
                <a:cxn ang="0">
                  <a:pos x="T2" y="T3"/>
                </a:cxn>
                <a:cxn ang="0">
                  <a:pos x="T4" y="T5"/>
                </a:cxn>
                <a:cxn ang="0">
                  <a:pos x="T6" y="T7"/>
                </a:cxn>
                <a:cxn ang="0">
                  <a:pos x="T8" y="T9"/>
                </a:cxn>
              </a:cxnLst>
              <a:rect l="0" t="0" r="r" b="b"/>
              <a:pathLst>
                <a:path w="28" h="18">
                  <a:moveTo>
                    <a:pt x="0" y="7"/>
                  </a:moveTo>
                  <a:lnTo>
                    <a:pt x="17" y="18"/>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58" name="Freeform 1247"/>
            <p:cNvSpPr/>
            <p:nvPr>
              <p:custDataLst>
                <p:tags r:id="rId134"/>
              </p:custDataLst>
            </p:nvPr>
          </p:nvSpPr>
          <p:spPr bwMode="auto">
            <a:xfrm rot="7500000">
              <a:off x="17226" y="3481"/>
              <a:ext cx="83" cy="45"/>
            </a:xfrm>
            <a:custGeom>
              <a:avLst/>
              <a:gdLst>
                <a:gd name="T0" fmla="*/ 0 w 28"/>
                <a:gd name="T1" fmla="*/ 6 h 15"/>
                <a:gd name="T2" fmla="*/ 17 w 28"/>
                <a:gd name="T3" fmla="*/ 15 h 15"/>
                <a:gd name="T4" fmla="*/ 28 w 28"/>
                <a:gd name="T5" fmla="*/ 10 h 15"/>
                <a:gd name="T6" fmla="*/ 11 w 28"/>
                <a:gd name="T7" fmla="*/ 0 h 15"/>
                <a:gd name="T8" fmla="*/ 0 w 28"/>
                <a:gd name="T9" fmla="*/ 6 h 15"/>
              </a:gdLst>
              <a:ahLst/>
              <a:cxnLst>
                <a:cxn ang="0">
                  <a:pos x="T0" y="T1"/>
                </a:cxn>
                <a:cxn ang="0">
                  <a:pos x="T2" y="T3"/>
                </a:cxn>
                <a:cxn ang="0">
                  <a:pos x="T4" y="T5"/>
                </a:cxn>
                <a:cxn ang="0">
                  <a:pos x="T6" y="T7"/>
                </a:cxn>
                <a:cxn ang="0">
                  <a:pos x="T8" y="T9"/>
                </a:cxn>
              </a:cxnLst>
              <a:rect l="0" t="0" r="r" b="b"/>
              <a:pathLst>
                <a:path w="28" h="15">
                  <a:moveTo>
                    <a:pt x="0" y="6"/>
                  </a:moveTo>
                  <a:lnTo>
                    <a:pt x="17" y="15"/>
                  </a:lnTo>
                  <a:lnTo>
                    <a:pt x="28" y="10"/>
                  </a:lnTo>
                  <a:lnTo>
                    <a:pt x="11"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59" name="Freeform 1242"/>
            <p:cNvSpPr/>
            <p:nvPr>
              <p:custDataLst>
                <p:tags r:id="rId135"/>
              </p:custDataLst>
            </p:nvPr>
          </p:nvSpPr>
          <p:spPr bwMode="auto">
            <a:xfrm rot="7500000">
              <a:off x="18115" y="3059"/>
              <a:ext cx="83" cy="51"/>
            </a:xfrm>
            <a:custGeom>
              <a:avLst/>
              <a:gdLst>
                <a:gd name="T0" fmla="*/ 0 w 28"/>
                <a:gd name="T1" fmla="*/ 6 h 17"/>
                <a:gd name="T2" fmla="*/ 17 w 28"/>
                <a:gd name="T3" fmla="*/ 17 h 17"/>
                <a:gd name="T4" fmla="*/ 28 w 28"/>
                <a:gd name="T5" fmla="*/ 11 h 17"/>
                <a:gd name="T6" fmla="*/ 10 w 28"/>
                <a:gd name="T7" fmla="*/ 0 h 17"/>
                <a:gd name="T8" fmla="*/ 0 w 28"/>
                <a:gd name="T9" fmla="*/ 6 h 17"/>
              </a:gdLst>
              <a:ahLst/>
              <a:cxnLst>
                <a:cxn ang="0">
                  <a:pos x="T0" y="T1"/>
                </a:cxn>
                <a:cxn ang="0">
                  <a:pos x="T2" y="T3"/>
                </a:cxn>
                <a:cxn ang="0">
                  <a:pos x="T4" y="T5"/>
                </a:cxn>
                <a:cxn ang="0">
                  <a:pos x="T6" y="T7"/>
                </a:cxn>
                <a:cxn ang="0">
                  <a:pos x="T8" y="T9"/>
                </a:cxn>
              </a:cxnLst>
              <a:rect l="0" t="0" r="r" b="b"/>
              <a:pathLst>
                <a:path w="28" h="17">
                  <a:moveTo>
                    <a:pt x="0" y="6"/>
                  </a:moveTo>
                  <a:lnTo>
                    <a:pt x="17" y="17"/>
                  </a:lnTo>
                  <a:lnTo>
                    <a:pt x="28" y="11"/>
                  </a:lnTo>
                  <a:lnTo>
                    <a:pt x="10" y="0"/>
                  </a:lnTo>
                  <a:lnTo>
                    <a:pt x="0" y="6"/>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60" name="Freeform 1243"/>
            <p:cNvSpPr/>
            <p:nvPr>
              <p:custDataLst>
                <p:tags r:id="rId136"/>
              </p:custDataLst>
            </p:nvPr>
          </p:nvSpPr>
          <p:spPr bwMode="auto">
            <a:xfrm rot="7500000">
              <a:off x="17945" y="3144"/>
              <a:ext cx="83" cy="45"/>
            </a:xfrm>
            <a:custGeom>
              <a:avLst/>
              <a:gdLst>
                <a:gd name="T0" fmla="*/ 0 w 28"/>
                <a:gd name="T1" fmla="*/ 7 h 15"/>
                <a:gd name="T2" fmla="*/ 17 w 28"/>
                <a:gd name="T3" fmla="*/ 15 h 15"/>
                <a:gd name="T4" fmla="*/ 28 w 28"/>
                <a:gd name="T5" fmla="*/ 11 h 15"/>
                <a:gd name="T6" fmla="*/ 11 w 28"/>
                <a:gd name="T7" fmla="*/ 0 h 15"/>
                <a:gd name="T8" fmla="*/ 0 w 28"/>
                <a:gd name="T9" fmla="*/ 7 h 15"/>
              </a:gdLst>
              <a:ahLst/>
              <a:cxnLst>
                <a:cxn ang="0">
                  <a:pos x="T0" y="T1"/>
                </a:cxn>
                <a:cxn ang="0">
                  <a:pos x="T2" y="T3"/>
                </a:cxn>
                <a:cxn ang="0">
                  <a:pos x="T4" y="T5"/>
                </a:cxn>
                <a:cxn ang="0">
                  <a:pos x="T6" y="T7"/>
                </a:cxn>
                <a:cxn ang="0">
                  <a:pos x="T8" y="T9"/>
                </a:cxn>
              </a:cxnLst>
              <a:rect l="0" t="0" r="r" b="b"/>
              <a:pathLst>
                <a:path w="28" h="15">
                  <a:moveTo>
                    <a:pt x="0" y="7"/>
                  </a:moveTo>
                  <a:lnTo>
                    <a:pt x="17" y="15"/>
                  </a:lnTo>
                  <a:lnTo>
                    <a:pt x="28" y="11"/>
                  </a:lnTo>
                  <a:lnTo>
                    <a:pt x="11" y="0"/>
                  </a:lnTo>
                  <a:lnTo>
                    <a:pt x="0" y="7"/>
                  </a:lnTo>
                  <a:close/>
                </a:path>
              </a:pathLst>
            </a:custGeom>
            <a:solidFill>
              <a:srgbClr val="FFFFFF"/>
            </a:solidFill>
            <a:ln>
              <a:noFill/>
            </a:ln>
            <a:extLst>
              <a:ext uri="{91240B29-F687-4F45-9708-019B960494DF}">
                <a14:hiddenLine xmlns:a14="http://schemas.microsoft.com/office/drawing/2010/main" w="9525">
                  <a:solidFill>
                    <a:srgbClr val="383838"/>
                  </a:solidFill>
                  <a:round/>
                </a14:hiddenLine>
              </a:ext>
            </a:extLst>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grpSp>
      <p:sp>
        <p:nvSpPr>
          <p:cNvPr id="395" name="子陵职场PPT7"/>
          <p:cNvSpPr txBox="1"/>
          <p:nvPr>
            <p:custDataLst>
              <p:tags r:id="rId137"/>
            </p:custDataLst>
          </p:nvPr>
        </p:nvSpPr>
        <p:spPr>
          <a:xfrm>
            <a:off x="1068388" y="3242945"/>
            <a:ext cx="1426210" cy="305435"/>
          </a:xfrm>
          <a:prstGeom prst="rect">
            <a:avLst/>
          </a:prstGeom>
          <a:noFill/>
        </p:spPr>
        <p:txBody>
          <a:bodyPr wrap="square" lIns="0" tIns="0" rIns="0" bIns="0" rtlCol="0" anchor="b" anchorCtr="0">
            <a:noAutofit/>
          </a:bodyPr>
          <a:lstStyle/>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明确长期愿景</a:t>
            </a:r>
            <a:endParaRPr lang="zh-CN" altLang="en-US" sz="1600" b="1">
              <a:solidFill>
                <a:srgbClr val="383838"/>
              </a:solidFill>
              <a:latin typeface="微软雅黑"/>
              <a:ea typeface="微软雅黑"/>
              <a:cs typeface="微软雅黑"/>
            </a:endParaRPr>
          </a:p>
        </p:txBody>
      </p:sp>
      <p:sp>
        <p:nvSpPr>
          <p:cNvPr id="396" name="子陵职场PPT8"/>
          <p:cNvSpPr txBox="1"/>
          <p:nvPr>
            <p:custDataLst>
              <p:tags r:id="rId138"/>
            </p:custDataLst>
          </p:nvPr>
        </p:nvSpPr>
        <p:spPr>
          <a:xfrm>
            <a:off x="617220" y="3583305"/>
            <a:ext cx="2328545" cy="810260"/>
          </a:xfrm>
          <a:prstGeom prst="rect">
            <a:avLst/>
          </a:prstGeom>
          <a:noFill/>
        </p:spPr>
        <p:txBody>
          <a:bodyPr wrap="square" lIns="0" tIns="0" rIns="0" bIns="0" rtlCol="0">
            <a:noAutofit/>
          </a:bodyPr>
          <a:lstStyle/>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确立未来发展方向和目标，确保与公司的方向一致。</a:t>
            </a:r>
            <a:endParaRPr lang="zh-CN" altLang="en-US" sz="1000" kern="0" dirty="0">
              <a:ln>
                <a:noFill/>
                <a:prstDash val="sysDot"/>
              </a:ln>
              <a:solidFill>
                <a:srgbClr val="383838"/>
              </a:solidFill>
              <a:latin typeface="微软雅黑"/>
              <a:ea typeface="微软雅黑"/>
              <a:cs typeface="微软雅黑"/>
              <a:sym typeface="微软雅黑"/>
            </a:endParaRPr>
          </a:p>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将长期目标分解为第一年可实现的短期目标，技能提升、团队协作等方面。</a:t>
            </a:r>
            <a:endParaRPr lang="zh-CN" altLang="en-US" sz="1000" kern="0" dirty="0">
              <a:ln>
                <a:noFill/>
                <a:prstDash val="sysDot"/>
              </a:ln>
              <a:solidFill>
                <a:srgbClr val="383838"/>
              </a:solidFill>
              <a:latin typeface="微软雅黑"/>
              <a:ea typeface="微软雅黑"/>
              <a:cs typeface="微软雅黑"/>
              <a:sym typeface="微软雅黑"/>
            </a:endParaRPr>
          </a:p>
          <a:p>
            <a:pPr marL="171450" indent="-171450" algn="just" fontAlgn="auto">
              <a:lnSpc>
                <a:spcPct val="140000"/>
              </a:lnSpc>
              <a:buFont typeface="微软雅黑"/>
              <a:buChar char="•"/>
              <a:defRPr>
                <a:latin typeface="微软雅黑"/>
                <a:ea typeface="微软雅黑"/>
                <a:cs typeface="微软雅黑"/>
              </a:defRPr>
            </a:pPr>
            <a:endParaRPr lang="zh-CN" altLang="en-US" sz="1000" kern="0" dirty="0">
              <a:ln>
                <a:noFill/>
                <a:prstDash val="sysDot"/>
              </a:ln>
              <a:solidFill>
                <a:srgbClr val="383838"/>
              </a:solidFill>
              <a:latin typeface="微软雅黑"/>
              <a:ea typeface="微软雅黑"/>
              <a:cs typeface="微软雅黑"/>
              <a:sym typeface="微软雅黑"/>
            </a:endParaRPr>
          </a:p>
        </p:txBody>
      </p:sp>
      <p:sp>
        <p:nvSpPr>
          <p:cNvPr id="405" name="子陵职场PPT7"/>
          <p:cNvSpPr txBox="1"/>
          <p:nvPr>
            <p:custDataLst>
              <p:tags r:id="rId139"/>
            </p:custDataLst>
          </p:nvPr>
        </p:nvSpPr>
        <p:spPr>
          <a:xfrm>
            <a:off x="3705543" y="1687195"/>
            <a:ext cx="1426210" cy="305435"/>
          </a:xfrm>
          <a:prstGeom prst="rect">
            <a:avLst/>
          </a:prstGeom>
          <a:noFill/>
        </p:spPr>
        <p:txBody>
          <a:bodyPr wrap="square" lIns="0" tIns="0" rIns="0" bIns="0" rtlCol="0" anchor="b" anchorCtr="0">
            <a:no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专业技能深化</a:t>
            </a:r>
            <a:endParaRPr lang="zh-CN" altLang="en-US" sz="1600" b="1">
              <a:solidFill>
                <a:srgbClr val="0042FF"/>
              </a:solidFill>
              <a:latin typeface="微软雅黑"/>
              <a:ea typeface="微软雅黑"/>
              <a:cs typeface="微软雅黑"/>
            </a:endParaRPr>
          </a:p>
        </p:txBody>
      </p:sp>
      <p:sp>
        <p:nvSpPr>
          <p:cNvPr id="406" name="子陵职场PPT8"/>
          <p:cNvSpPr txBox="1"/>
          <p:nvPr>
            <p:custDataLst>
              <p:tags r:id="rId140"/>
            </p:custDataLst>
          </p:nvPr>
        </p:nvSpPr>
        <p:spPr>
          <a:xfrm>
            <a:off x="3284220" y="2027555"/>
            <a:ext cx="2268855" cy="810260"/>
          </a:xfrm>
          <a:prstGeom prst="rect">
            <a:avLst/>
          </a:prstGeom>
          <a:noFill/>
        </p:spPr>
        <p:txBody>
          <a:bodyPr wrap="square" lIns="0" tIns="0" rIns="0" bIns="0" rtlCol="0">
            <a:noAutofit/>
          </a:bodyPr>
          <a:lstStyle/>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通过参加培训、阅读书籍、深化在核心领域的专业技能。</a:t>
            </a:r>
            <a:endParaRPr lang="zh-CN" altLang="en-US" sz="1000" kern="0" dirty="0">
              <a:ln>
                <a:noFill/>
                <a:prstDash val="sysDot"/>
              </a:ln>
              <a:solidFill>
                <a:srgbClr val="383838"/>
              </a:solidFill>
              <a:latin typeface="微软雅黑"/>
              <a:ea typeface="微软雅黑"/>
              <a:cs typeface="微软雅黑"/>
              <a:sym typeface="微软雅黑"/>
            </a:endParaRPr>
          </a:p>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探索并学习与本职工作相关的其他领域知识，拓宽视野，提升综合能力。</a:t>
            </a:r>
            <a:endParaRPr lang="zh-CN" altLang="en-US" sz="1000" kern="0" dirty="0">
              <a:ln>
                <a:noFill/>
                <a:prstDash val="sysDot"/>
              </a:ln>
              <a:solidFill>
                <a:srgbClr val="383838"/>
              </a:solidFill>
              <a:latin typeface="微软雅黑"/>
              <a:ea typeface="微软雅黑"/>
              <a:cs typeface="微软雅黑"/>
              <a:sym typeface="微软雅黑"/>
            </a:endParaRPr>
          </a:p>
          <a:p>
            <a:pPr marL="171450" indent="-171450" algn="just" fontAlgn="auto">
              <a:lnSpc>
                <a:spcPct val="140000"/>
              </a:lnSpc>
              <a:buFont typeface="微软雅黑"/>
              <a:buChar char="•"/>
              <a:defRPr>
                <a:latin typeface="微软雅黑"/>
                <a:ea typeface="微软雅黑"/>
                <a:cs typeface="微软雅黑"/>
              </a:defRPr>
            </a:pPr>
            <a:endParaRPr lang="zh-CN" altLang="en-US" sz="1000" kern="0" dirty="0">
              <a:ln>
                <a:noFill/>
                <a:prstDash val="sysDot"/>
              </a:ln>
              <a:solidFill>
                <a:srgbClr val="383838"/>
              </a:solidFill>
              <a:latin typeface="微软雅黑"/>
              <a:ea typeface="微软雅黑"/>
              <a:cs typeface="微软雅黑"/>
              <a:sym typeface="微软雅黑"/>
            </a:endParaRPr>
          </a:p>
        </p:txBody>
      </p:sp>
      <p:grpSp>
        <p:nvGrpSpPr>
          <p:cNvPr id="410" name="组合 409"/>
          <p:cNvGrpSpPr/>
          <p:nvPr>
            <p:custDataLst>
              <p:tags r:id="rId141"/>
            </p:custDataLst>
          </p:nvPr>
        </p:nvGrpSpPr>
        <p:grpSpPr>
          <a:xfrm>
            <a:off x="782320" y="4693920"/>
            <a:ext cx="841375" cy="405130"/>
            <a:chOff x="1283" y="6588"/>
            <a:chExt cx="1325" cy="638"/>
          </a:xfrm>
        </p:grpSpPr>
        <p:sp>
          <p:nvSpPr>
            <p:cNvPr id="408" name="圆角矩形标注 407"/>
            <p:cNvSpPr/>
            <p:nvPr>
              <p:custDataLst>
                <p:tags r:id="rId142"/>
              </p:custDataLst>
            </p:nvPr>
          </p:nvSpPr>
          <p:spPr>
            <a:xfrm>
              <a:off x="1283" y="6588"/>
              <a:ext cx="1309" cy="638"/>
            </a:xfrm>
            <a:prstGeom prst="wedgeRoundRectCallout">
              <a:avLst>
                <a:gd name="adj1" fmla="val 82614"/>
                <a:gd name="adj2" fmla="val 42500"/>
                <a:gd name="adj3" fmla="val 16667"/>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09" name="文本框 408"/>
            <p:cNvSpPr txBox="1"/>
            <p:nvPr>
              <p:custDataLst>
                <p:tags r:id="rId143"/>
              </p:custDataLst>
            </p:nvPr>
          </p:nvSpPr>
          <p:spPr>
            <a:xfrm>
              <a:off x="1296" y="6656"/>
              <a:ext cx="1313" cy="483"/>
            </a:xfrm>
            <a:prstGeom prst="rect">
              <a:avLst/>
            </a:prstGeom>
            <a:noFill/>
          </p:spPr>
          <p:txBody>
            <a:bodyPr wrap="square" rtlCol="0">
              <a:spAutoFit/>
            </a:bodyPr>
            <a:p>
              <a:pPr>
                <a:defRPr>
                  <a:latin typeface="微软雅黑"/>
                  <a:ea typeface="微软雅黑"/>
                  <a:cs typeface="微软雅黑"/>
                </a:defRPr>
              </a:pPr>
              <a:r>
                <a:rPr lang="en-US" altLang="zh-CN" sz="1400" b="1">
                  <a:solidFill>
                    <a:srgbClr val="0042FF"/>
                  </a:solidFill>
                  <a:latin typeface="微软雅黑"/>
                  <a:ea typeface="微软雅黑"/>
                  <a:cs typeface="微软雅黑"/>
                </a:rPr>
                <a:t>2025</a:t>
              </a:r>
              <a:r>
                <a:rPr lang="zh-CN" altLang="en-US" sz="1400" b="1">
                  <a:solidFill>
                    <a:srgbClr val="0042FF"/>
                  </a:solidFill>
                  <a:latin typeface="微软雅黑"/>
                  <a:ea typeface="微软雅黑"/>
                  <a:cs typeface="微软雅黑"/>
                </a:rPr>
                <a:t>年</a:t>
              </a:r>
              <a:endParaRPr lang="zh-CN" altLang="en-US" sz="1400" b="1">
                <a:solidFill>
                  <a:srgbClr val="0042FF"/>
                </a:solidFill>
                <a:latin typeface="微软雅黑"/>
                <a:ea typeface="微软雅黑"/>
                <a:cs typeface="微软雅黑"/>
              </a:endParaRPr>
            </a:p>
          </p:txBody>
        </p:sp>
      </p:grpSp>
      <p:grpSp>
        <p:nvGrpSpPr>
          <p:cNvPr id="418" name="组合 417"/>
          <p:cNvGrpSpPr/>
          <p:nvPr>
            <p:custDataLst>
              <p:tags r:id="rId144"/>
            </p:custDataLst>
          </p:nvPr>
        </p:nvGrpSpPr>
        <p:grpSpPr>
          <a:xfrm>
            <a:off x="1975485" y="4728210"/>
            <a:ext cx="560070" cy="577215"/>
            <a:chOff x="10221" y="10970"/>
            <a:chExt cx="882" cy="909"/>
          </a:xfrm>
        </p:grpSpPr>
        <p:sp>
          <p:nvSpPr>
            <p:cNvPr id="415" name="任意多边形 414"/>
            <p:cNvSpPr/>
            <p:nvPr>
              <p:custDataLst>
                <p:tags r:id="rId145"/>
              </p:custDataLst>
            </p:nvPr>
          </p:nvSpPr>
          <p:spPr>
            <a:xfrm>
              <a:off x="10221" y="11088"/>
              <a:ext cx="882" cy="791"/>
            </a:xfrm>
            <a:custGeom>
              <a:avLst/>
              <a:gdLst/>
              <a:ahLst/>
              <a:cxnLst>
                <a:cxn ang="3">
                  <a:pos x="hc" y="t"/>
                </a:cxn>
                <a:cxn ang="cd2">
                  <a:pos x="l" y="vc"/>
                </a:cxn>
                <a:cxn ang="cd4">
                  <a:pos x="hc" y="b"/>
                </a:cxn>
                <a:cxn ang="0">
                  <a:pos x="r" y="vc"/>
                </a:cxn>
              </a:cxnLst>
              <a:rect l="l" t="t" r="r" b="b"/>
              <a:pathLst>
                <a:path w="882" h="791">
                  <a:moveTo>
                    <a:pt x="0" y="0"/>
                  </a:moveTo>
                  <a:lnTo>
                    <a:pt x="882" y="0"/>
                  </a:lnTo>
                  <a:lnTo>
                    <a:pt x="882" y="657"/>
                  </a:lnTo>
                  <a:lnTo>
                    <a:pt x="882" y="657"/>
                  </a:lnTo>
                  <a:cubicBezTo>
                    <a:pt x="883" y="732"/>
                    <a:pt x="659" y="793"/>
                    <a:pt x="441" y="791"/>
                  </a:cubicBezTo>
                  <a:cubicBezTo>
                    <a:pt x="198" y="794"/>
                    <a:pt x="0" y="724"/>
                    <a:pt x="0" y="657"/>
                  </a:cubicBezTo>
                  <a:lnTo>
                    <a:pt x="0" y="657"/>
                  </a:lnTo>
                  <a:lnTo>
                    <a:pt x="0" y="0"/>
                  </a:lnTo>
                  <a:close/>
                </a:path>
              </a:pathLst>
            </a:custGeom>
            <a:gradFill>
              <a:gsLst>
                <a:gs pos="0">
                  <a:srgbClr val="3368FF">
                    <a:alpha val="90000"/>
                  </a:srgbClr>
                </a:gs>
                <a:gs pos="100000">
                  <a:srgbClr val="B3D4FE">
                    <a:alpha val="90000"/>
                  </a:srgbClr>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en-US" altLang="zh-CN">
                <a:latin typeface="微软雅黑"/>
                <a:ea typeface="微软雅黑"/>
                <a:cs typeface="微软雅黑"/>
              </a:endParaRPr>
            </a:p>
          </p:txBody>
        </p:sp>
        <p:sp>
          <p:nvSpPr>
            <p:cNvPr id="417" name="椭圆 416"/>
            <p:cNvSpPr/>
            <p:nvPr>
              <p:custDataLst>
                <p:tags r:id="rId146"/>
              </p:custDataLst>
            </p:nvPr>
          </p:nvSpPr>
          <p:spPr>
            <a:xfrm>
              <a:off x="10221" y="10970"/>
              <a:ext cx="882" cy="247"/>
            </a:xfrm>
            <a:prstGeom prst="ellipse">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419" name="组合 418"/>
          <p:cNvGrpSpPr/>
          <p:nvPr>
            <p:custDataLst>
              <p:tags r:id="rId147"/>
            </p:custDataLst>
          </p:nvPr>
        </p:nvGrpSpPr>
        <p:grpSpPr>
          <a:xfrm>
            <a:off x="4148455" y="3427095"/>
            <a:ext cx="490220" cy="843280"/>
            <a:chOff x="10221" y="10970"/>
            <a:chExt cx="882" cy="909"/>
          </a:xfrm>
        </p:grpSpPr>
        <p:sp>
          <p:nvSpPr>
            <p:cNvPr id="420" name="任意多边形 419"/>
            <p:cNvSpPr/>
            <p:nvPr>
              <p:custDataLst>
                <p:tags r:id="rId148"/>
              </p:custDataLst>
            </p:nvPr>
          </p:nvSpPr>
          <p:spPr>
            <a:xfrm>
              <a:off x="10221" y="11088"/>
              <a:ext cx="882" cy="791"/>
            </a:xfrm>
            <a:custGeom>
              <a:avLst/>
              <a:gdLst/>
              <a:ahLst/>
              <a:cxnLst>
                <a:cxn ang="3">
                  <a:pos x="hc" y="t"/>
                </a:cxn>
                <a:cxn ang="cd2">
                  <a:pos x="l" y="vc"/>
                </a:cxn>
                <a:cxn ang="cd4">
                  <a:pos x="hc" y="b"/>
                </a:cxn>
                <a:cxn ang="0">
                  <a:pos x="r" y="vc"/>
                </a:cxn>
              </a:cxnLst>
              <a:rect l="l" t="t" r="r" b="b"/>
              <a:pathLst>
                <a:path w="882" h="791">
                  <a:moveTo>
                    <a:pt x="0" y="0"/>
                  </a:moveTo>
                  <a:lnTo>
                    <a:pt x="882" y="0"/>
                  </a:lnTo>
                  <a:lnTo>
                    <a:pt x="882" y="657"/>
                  </a:lnTo>
                  <a:lnTo>
                    <a:pt x="882" y="657"/>
                  </a:lnTo>
                  <a:cubicBezTo>
                    <a:pt x="883" y="732"/>
                    <a:pt x="659" y="793"/>
                    <a:pt x="441" y="791"/>
                  </a:cubicBezTo>
                  <a:cubicBezTo>
                    <a:pt x="198" y="794"/>
                    <a:pt x="0" y="724"/>
                    <a:pt x="0" y="657"/>
                  </a:cubicBezTo>
                  <a:lnTo>
                    <a:pt x="0" y="657"/>
                  </a:lnTo>
                  <a:lnTo>
                    <a:pt x="0" y="0"/>
                  </a:lnTo>
                  <a:close/>
                </a:path>
              </a:pathLst>
            </a:custGeom>
            <a:gradFill>
              <a:gsLst>
                <a:gs pos="0">
                  <a:srgbClr val="0042FF">
                    <a:alpha val="90000"/>
                  </a:srgbClr>
                </a:gs>
                <a:gs pos="100000">
                  <a:srgbClr val="3368FF">
                    <a:alpha val="90000"/>
                  </a:srgbClr>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21" name="椭圆 420"/>
            <p:cNvSpPr/>
            <p:nvPr>
              <p:custDataLst>
                <p:tags r:id="rId149"/>
              </p:custDataLst>
            </p:nvPr>
          </p:nvSpPr>
          <p:spPr>
            <a:xfrm>
              <a:off x="10221" y="10970"/>
              <a:ext cx="882" cy="190"/>
            </a:xfrm>
            <a:prstGeom prst="ellipse">
              <a:avLst/>
            </a:prstGeom>
            <a:solidFill>
              <a:srgbClr val="668E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422" name="组合 421"/>
          <p:cNvGrpSpPr/>
          <p:nvPr>
            <p:custDataLst>
              <p:tags r:id="rId150"/>
            </p:custDataLst>
          </p:nvPr>
        </p:nvGrpSpPr>
        <p:grpSpPr>
          <a:xfrm flipH="1">
            <a:off x="4822825" y="3058795"/>
            <a:ext cx="842010" cy="405130"/>
            <a:chOff x="1283" y="6588"/>
            <a:chExt cx="1326" cy="638"/>
          </a:xfrm>
        </p:grpSpPr>
        <p:sp>
          <p:nvSpPr>
            <p:cNvPr id="423" name="圆角矩形标注 422"/>
            <p:cNvSpPr/>
            <p:nvPr>
              <p:custDataLst>
                <p:tags r:id="rId151"/>
              </p:custDataLst>
            </p:nvPr>
          </p:nvSpPr>
          <p:spPr>
            <a:xfrm>
              <a:off x="1283" y="6588"/>
              <a:ext cx="1309" cy="638"/>
            </a:xfrm>
            <a:prstGeom prst="wedgeRoundRectCallout">
              <a:avLst>
                <a:gd name="adj1" fmla="val 82614"/>
                <a:gd name="adj2" fmla="val 42500"/>
                <a:gd name="adj3" fmla="val 16667"/>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24" name="文本框 423"/>
            <p:cNvSpPr txBox="1"/>
            <p:nvPr>
              <p:custDataLst>
                <p:tags r:id="rId152"/>
              </p:custDataLst>
            </p:nvPr>
          </p:nvSpPr>
          <p:spPr>
            <a:xfrm>
              <a:off x="1296" y="6656"/>
              <a:ext cx="1313" cy="483"/>
            </a:xfrm>
            <a:prstGeom prst="rect">
              <a:avLst/>
            </a:prstGeom>
            <a:noFill/>
          </p:spPr>
          <p:txBody>
            <a:bodyPr wrap="square" rtlCol="0">
              <a:spAutoFit/>
            </a:bodyPr>
            <a:p>
              <a:pPr>
                <a:defRPr>
                  <a:latin typeface="微软雅黑"/>
                  <a:ea typeface="微软雅黑"/>
                  <a:cs typeface="微软雅黑"/>
                </a:defRPr>
              </a:pPr>
              <a:r>
                <a:rPr lang="en-US" altLang="zh-CN" sz="1400" b="1">
                  <a:solidFill>
                    <a:srgbClr val="0042FF"/>
                  </a:solidFill>
                  <a:latin typeface="微软雅黑"/>
                  <a:ea typeface="微软雅黑"/>
                  <a:cs typeface="微软雅黑"/>
                </a:rPr>
                <a:t>2026</a:t>
              </a:r>
              <a:r>
                <a:rPr lang="zh-CN" altLang="en-US" sz="1400" b="1">
                  <a:solidFill>
                    <a:srgbClr val="0042FF"/>
                  </a:solidFill>
                  <a:latin typeface="微软雅黑"/>
                  <a:ea typeface="微软雅黑"/>
                  <a:cs typeface="微软雅黑"/>
                </a:rPr>
                <a:t>年</a:t>
              </a:r>
              <a:endParaRPr lang="zh-CN" altLang="en-US" sz="1400" b="1">
                <a:solidFill>
                  <a:srgbClr val="0042FF"/>
                </a:solidFill>
                <a:latin typeface="微软雅黑"/>
                <a:ea typeface="微软雅黑"/>
                <a:cs typeface="微软雅黑"/>
              </a:endParaRPr>
            </a:p>
          </p:txBody>
        </p:sp>
      </p:grpSp>
      <p:grpSp>
        <p:nvGrpSpPr>
          <p:cNvPr id="425" name="组合 424"/>
          <p:cNvGrpSpPr/>
          <p:nvPr>
            <p:custDataLst>
              <p:tags r:id="rId153"/>
            </p:custDataLst>
          </p:nvPr>
        </p:nvGrpSpPr>
        <p:grpSpPr>
          <a:xfrm>
            <a:off x="6506210" y="4101465"/>
            <a:ext cx="562610" cy="619125"/>
            <a:chOff x="10221" y="10970"/>
            <a:chExt cx="882" cy="909"/>
          </a:xfrm>
        </p:grpSpPr>
        <p:sp>
          <p:nvSpPr>
            <p:cNvPr id="426" name="任意多边形 425"/>
            <p:cNvSpPr/>
            <p:nvPr>
              <p:custDataLst>
                <p:tags r:id="rId154"/>
              </p:custDataLst>
            </p:nvPr>
          </p:nvSpPr>
          <p:spPr>
            <a:xfrm>
              <a:off x="10221" y="11088"/>
              <a:ext cx="882" cy="791"/>
            </a:xfrm>
            <a:custGeom>
              <a:avLst/>
              <a:gdLst/>
              <a:ahLst/>
              <a:cxnLst>
                <a:cxn ang="3">
                  <a:pos x="hc" y="t"/>
                </a:cxn>
                <a:cxn ang="cd2">
                  <a:pos x="l" y="vc"/>
                </a:cxn>
                <a:cxn ang="cd4">
                  <a:pos x="hc" y="b"/>
                </a:cxn>
                <a:cxn ang="0">
                  <a:pos x="r" y="vc"/>
                </a:cxn>
              </a:cxnLst>
              <a:rect l="l" t="t" r="r" b="b"/>
              <a:pathLst>
                <a:path w="882" h="791">
                  <a:moveTo>
                    <a:pt x="0" y="0"/>
                  </a:moveTo>
                  <a:lnTo>
                    <a:pt x="882" y="0"/>
                  </a:lnTo>
                  <a:lnTo>
                    <a:pt x="882" y="657"/>
                  </a:lnTo>
                  <a:lnTo>
                    <a:pt x="882" y="657"/>
                  </a:lnTo>
                  <a:cubicBezTo>
                    <a:pt x="883" y="732"/>
                    <a:pt x="659" y="793"/>
                    <a:pt x="441" y="791"/>
                  </a:cubicBezTo>
                  <a:cubicBezTo>
                    <a:pt x="198" y="794"/>
                    <a:pt x="0" y="724"/>
                    <a:pt x="0" y="657"/>
                  </a:cubicBezTo>
                  <a:lnTo>
                    <a:pt x="0" y="657"/>
                  </a:lnTo>
                  <a:lnTo>
                    <a:pt x="0" y="0"/>
                  </a:lnTo>
                  <a:close/>
                </a:path>
              </a:pathLst>
            </a:custGeom>
            <a:gradFill>
              <a:gsLst>
                <a:gs pos="0">
                  <a:srgbClr val="3368FF">
                    <a:alpha val="90000"/>
                  </a:srgbClr>
                </a:gs>
                <a:gs pos="100000">
                  <a:srgbClr val="B3D4FE">
                    <a:alpha val="90000"/>
                  </a:srgbClr>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latin typeface="微软雅黑"/>
                <a:ea typeface="微软雅黑"/>
                <a:cs typeface="微软雅黑"/>
              </a:endParaRPr>
            </a:p>
          </p:txBody>
        </p:sp>
        <p:sp>
          <p:nvSpPr>
            <p:cNvPr id="427" name="椭圆 426"/>
            <p:cNvSpPr/>
            <p:nvPr>
              <p:custDataLst>
                <p:tags r:id="rId155"/>
              </p:custDataLst>
            </p:nvPr>
          </p:nvSpPr>
          <p:spPr>
            <a:xfrm>
              <a:off x="10221" y="10970"/>
              <a:ext cx="882" cy="234"/>
            </a:xfrm>
            <a:prstGeom prst="ellipse">
              <a:avLst/>
            </a:prstGeom>
            <a:solidFill>
              <a:srgbClr val="B3D4FE"/>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grpSp>
        <p:nvGrpSpPr>
          <p:cNvPr id="428" name="组合 427"/>
          <p:cNvGrpSpPr/>
          <p:nvPr>
            <p:custDataLst>
              <p:tags r:id="rId156"/>
            </p:custDataLst>
          </p:nvPr>
        </p:nvGrpSpPr>
        <p:grpSpPr>
          <a:xfrm flipH="1">
            <a:off x="7376795" y="4128770"/>
            <a:ext cx="842010" cy="405130"/>
            <a:chOff x="1283" y="6588"/>
            <a:chExt cx="1326" cy="638"/>
          </a:xfrm>
        </p:grpSpPr>
        <p:sp>
          <p:nvSpPr>
            <p:cNvPr id="429" name="圆角矩形标注 428"/>
            <p:cNvSpPr/>
            <p:nvPr>
              <p:custDataLst>
                <p:tags r:id="rId157"/>
              </p:custDataLst>
            </p:nvPr>
          </p:nvSpPr>
          <p:spPr>
            <a:xfrm>
              <a:off x="1283" y="6588"/>
              <a:ext cx="1309" cy="638"/>
            </a:xfrm>
            <a:prstGeom prst="wedgeRoundRectCallout">
              <a:avLst>
                <a:gd name="adj1" fmla="val 82620"/>
                <a:gd name="adj2" fmla="val -2664"/>
                <a:gd name="adj3" fmla="val 16667"/>
              </a:avLst>
            </a:prstGeom>
            <a:solidFill>
              <a:srgbClr val="FFFFFF"/>
            </a:solidFill>
            <a:ln>
              <a:solidFill>
                <a:srgbClr val="B3D4FE"/>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30" name="文本框 429"/>
            <p:cNvSpPr txBox="1"/>
            <p:nvPr>
              <p:custDataLst>
                <p:tags r:id="rId158"/>
              </p:custDataLst>
            </p:nvPr>
          </p:nvSpPr>
          <p:spPr>
            <a:xfrm>
              <a:off x="1296" y="6656"/>
              <a:ext cx="1313" cy="483"/>
            </a:xfrm>
            <a:prstGeom prst="rect">
              <a:avLst/>
            </a:prstGeom>
            <a:noFill/>
          </p:spPr>
          <p:txBody>
            <a:bodyPr wrap="square" rtlCol="0">
              <a:spAutoFit/>
            </a:bodyPr>
            <a:p>
              <a:pPr>
                <a:defRPr>
                  <a:latin typeface="微软雅黑"/>
                  <a:ea typeface="微软雅黑"/>
                  <a:cs typeface="微软雅黑"/>
                </a:defRPr>
              </a:pPr>
              <a:r>
                <a:rPr lang="en-US" altLang="zh-CN" sz="1400" b="1">
                  <a:solidFill>
                    <a:srgbClr val="0042FF"/>
                  </a:solidFill>
                  <a:latin typeface="微软雅黑"/>
                  <a:ea typeface="微软雅黑"/>
                  <a:cs typeface="微软雅黑"/>
                </a:rPr>
                <a:t>2027</a:t>
              </a:r>
              <a:r>
                <a:rPr lang="zh-CN" altLang="en-US" sz="1400" b="1">
                  <a:solidFill>
                    <a:srgbClr val="0042FF"/>
                  </a:solidFill>
                  <a:latin typeface="微软雅黑"/>
                  <a:ea typeface="微软雅黑"/>
                  <a:cs typeface="微软雅黑"/>
                </a:rPr>
                <a:t>年</a:t>
              </a:r>
              <a:endParaRPr lang="zh-CN" altLang="en-US" sz="1400" b="1">
                <a:solidFill>
                  <a:srgbClr val="0042FF"/>
                </a:solidFill>
                <a:latin typeface="微软雅黑"/>
                <a:ea typeface="微软雅黑"/>
                <a:cs typeface="微软雅黑"/>
              </a:endParaRPr>
            </a:p>
          </p:txBody>
        </p:sp>
      </p:grpSp>
      <p:sp>
        <p:nvSpPr>
          <p:cNvPr id="431" name="子陵职场PPT7"/>
          <p:cNvSpPr txBox="1"/>
          <p:nvPr>
            <p:custDataLst>
              <p:tags r:id="rId159"/>
            </p:custDataLst>
          </p:nvPr>
        </p:nvSpPr>
        <p:spPr>
          <a:xfrm>
            <a:off x="6198235" y="4961890"/>
            <a:ext cx="1670685" cy="305435"/>
          </a:xfrm>
          <a:prstGeom prst="rect">
            <a:avLst/>
          </a:prstGeom>
          <a:noFill/>
        </p:spPr>
        <p:txBody>
          <a:bodyPr wrap="square" lIns="0" tIns="0" rIns="0" bIns="0" rtlCol="0" anchor="b" anchorCtr="0">
            <a:noAutofit/>
          </a:bodyPr>
          <a:lstStyle/>
          <a:p>
            <a:pPr algn="ctr">
              <a:defRPr>
                <a:latin typeface="微软雅黑"/>
                <a:ea typeface="微软雅黑"/>
                <a:cs typeface="微软雅黑"/>
              </a:defRPr>
            </a:pPr>
            <a:r>
              <a:rPr lang="zh-CN" altLang="en-US" sz="1600" b="1">
                <a:solidFill>
                  <a:srgbClr val="383838"/>
                </a:solidFill>
                <a:latin typeface="微软雅黑"/>
                <a:ea typeface="微软雅黑"/>
                <a:cs typeface="微软雅黑"/>
              </a:rPr>
              <a:t>项目主导与积累</a:t>
            </a:r>
            <a:endParaRPr lang="zh-CN" altLang="en-US" sz="1600" b="1">
              <a:solidFill>
                <a:srgbClr val="383838"/>
              </a:solidFill>
              <a:latin typeface="微软雅黑"/>
              <a:ea typeface="微软雅黑"/>
              <a:cs typeface="微软雅黑"/>
            </a:endParaRPr>
          </a:p>
        </p:txBody>
      </p:sp>
      <p:sp>
        <p:nvSpPr>
          <p:cNvPr id="432" name="子陵职场PPT8"/>
          <p:cNvSpPr txBox="1"/>
          <p:nvPr>
            <p:custDataLst>
              <p:tags r:id="rId160"/>
            </p:custDataLst>
          </p:nvPr>
        </p:nvSpPr>
        <p:spPr>
          <a:xfrm>
            <a:off x="5869305" y="5241290"/>
            <a:ext cx="2328545" cy="1032510"/>
          </a:xfrm>
          <a:prstGeom prst="rect">
            <a:avLst/>
          </a:prstGeom>
          <a:noFill/>
        </p:spPr>
        <p:txBody>
          <a:bodyPr wrap="square" lIns="0" tIns="0" rIns="0" bIns="0" rtlCol="0" anchor="ctr" anchorCtr="0">
            <a:noAutofit/>
          </a:bodyPr>
          <a:lstStyle/>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主导或参与重要项目，负责项目的规划，积累项目经验。</a:t>
            </a:r>
            <a:endParaRPr lang="zh-CN" altLang="en-US" sz="1000" kern="0" dirty="0">
              <a:ln>
                <a:noFill/>
                <a:prstDash val="sysDot"/>
              </a:ln>
              <a:solidFill>
                <a:srgbClr val="383838"/>
              </a:solidFill>
              <a:latin typeface="微软雅黑"/>
              <a:ea typeface="微软雅黑"/>
              <a:cs typeface="微软雅黑"/>
              <a:sym typeface="微软雅黑"/>
            </a:endParaRPr>
          </a:p>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通过项目成果展示、报告撰写等方式，总结项目经验，提升个人影响力。</a:t>
            </a:r>
            <a:endParaRPr lang="zh-CN" altLang="en-US" sz="1000" kern="0" dirty="0">
              <a:ln>
                <a:noFill/>
                <a:prstDash val="sysDot"/>
              </a:ln>
              <a:solidFill>
                <a:srgbClr val="383838"/>
              </a:solidFill>
              <a:latin typeface="微软雅黑"/>
              <a:ea typeface="微软雅黑"/>
              <a:cs typeface="微软雅黑"/>
              <a:sym typeface="微软雅黑"/>
            </a:endParaRPr>
          </a:p>
        </p:txBody>
      </p:sp>
      <p:grpSp>
        <p:nvGrpSpPr>
          <p:cNvPr id="436" name="组合 435"/>
          <p:cNvGrpSpPr/>
          <p:nvPr>
            <p:custDataLst>
              <p:tags r:id="rId161"/>
            </p:custDataLst>
          </p:nvPr>
        </p:nvGrpSpPr>
        <p:grpSpPr>
          <a:xfrm>
            <a:off x="8271510" y="2728595"/>
            <a:ext cx="625475" cy="807085"/>
            <a:chOff x="10221" y="10970"/>
            <a:chExt cx="882" cy="909"/>
          </a:xfrm>
        </p:grpSpPr>
        <p:sp>
          <p:nvSpPr>
            <p:cNvPr id="437" name="任意多边形 436"/>
            <p:cNvSpPr/>
            <p:nvPr>
              <p:custDataLst>
                <p:tags r:id="rId162"/>
              </p:custDataLst>
            </p:nvPr>
          </p:nvSpPr>
          <p:spPr>
            <a:xfrm>
              <a:off x="10221" y="11088"/>
              <a:ext cx="882" cy="791"/>
            </a:xfrm>
            <a:custGeom>
              <a:avLst/>
              <a:gdLst/>
              <a:ahLst/>
              <a:cxnLst>
                <a:cxn ang="3">
                  <a:pos x="hc" y="t"/>
                </a:cxn>
                <a:cxn ang="cd2">
                  <a:pos x="l" y="vc"/>
                </a:cxn>
                <a:cxn ang="cd4">
                  <a:pos x="hc" y="b"/>
                </a:cxn>
                <a:cxn ang="0">
                  <a:pos x="r" y="vc"/>
                </a:cxn>
              </a:cxnLst>
              <a:rect l="l" t="t" r="r" b="b"/>
              <a:pathLst>
                <a:path w="882" h="791">
                  <a:moveTo>
                    <a:pt x="0" y="0"/>
                  </a:moveTo>
                  <a:lnTo>
                    <a:pt x="882" y="0"/>
                  </a:lnTo>
                  <a:lnTo>
                    <a:pt x="882" y="657"/>
                  </a:lnTo>
                  <a:lnTo>
                    <a:pt x="882" y="657"/>
                  </a:lnTo>
                  <a:cubicBezTo>
                    <a:pt x="883" y="732"/>
                    <a:pt x="659" y="793"/>
                    <a:pt x="441" y="791"/>
                  </a:cubicBezTo>
                  <a:cubicBezTo>
                    <a:pt x="198" y="794"/>
                    <a:pt x="0" y="724"/>
                    <a:pt x="0" y="657"/>
                  </a:cubicBezTo>
                  <a:lnTo>
                    <a:pt x="0" y="657"/>
                  </a:lnTo>
                  <a:lnTo>
                    <a:pt x="0" y="0"/>
                  </a:lnTo>
                  <a:close/>
                </a:path>
              </a:pathLst>
            </a:custGeom>
            <a:gradFill>
              <a:gsLst>
                <a:gs pos="0">
                  <a:srgbClr val="0042FF">
                    <a:alpha val="90000"/>
                  </a:srgbClr>
                </a:gs>
                <a:gs pos="100000">
                  <a:srgbClr val="3368FF">
                    <a:alpha val="90000"/>
                  </a:srgbClr>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38" name="椭圆 437"/>
            <p:cNvSpPr/>
            <p:nvPr>
              <p:custDataLst>
                <p:tags r:id="rId163"/>
              </p:custDataLst>
            </p:nvPr>
          </p:nvSpPr>
          <p:spPr>
            <a:xfrm>
              <a:off x="10221" y="10970"/>
              <a:ext cx="882" cy="248"/>
            </a:xfrm>
            <a:prstGeom prst="ellipse">
              <a:avLst/>
            </a:prstGeom>
            <a:solidFill>
              <a:srgbClr val="668E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grpSp>
        <p:nvGrpSpPr>
          <p:cNvPr id="439" name="组合 438"/>
          <p:cNvGrpSpPr/>
          <p:nvPr>
            <p:custDataLst>
              <p:tags r:id="rId164"/>
            </p:custDataLst>
          </p:nvPr>
        </p:nvGrpSpPr>
        <p:grpSpPr>
          <a:xfrm flipH="1">
            <a:off x="9046210" y="2378710"/>
            <a:ext cx="842010" cy="405130"/>
            <a:chOff x="1283" y="6588"/>
            <a:chExt cx="1326" cy="638"/>
          </a:xfrm>
        </p:grpSpPr>
        <p:sp>
          <p:nvSpPr>
            <p:cNvPr id="440" name="圆角矩形标注 439"/>
            <p:cNvSpPr/>
            <p:nvPr>
              <p:custDataLst>
                <p:tags r:id="rId165"/>
              </p:custDataLst>
            </p:nvPr>
          </p:nvSpPr>
          <p:spPr>
            <a:xfrm>
              <a:off x="1283" y="6588"/>
              <a:ext cx="1309" cy="638"/>
            </a:xfrm>
            <a:prstGeom prst="wedgeRoundRectCallout">
              <a:avLst>
                <a:gd name="adj1" fmla="val 82614"/>
                <a:gd name="adj2" fmla="val 42500"/>
                <a:gd name="adj3" fmla="val 16667"/>
              </a:avLst>
            </a:prstGeom>
            <a:solidFill>
              <a:srgbClr val="FFFFFF"/>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41" name="文本框 440"/>
            <p:cNvSpPr txBox="1"/>
            <p:nvPr>
              <p:custDataLst>
                <p:tags r:id="rId166"/>
              </p:custDataLst>
            </p:nvPr>
          </p:nvSpPr>
          <p:spPr>
            <a:xfrm>
              <a:off x="1296" y="6656"/>
              <a:ext cx="1313" cy="483"/>
            </a:xfrm>
            <a:prstGeom prst="rect">
              <a:avLst/>
            </a:prstGeom>
            <a:noFill/>
          </p:spPr>
          <p:txBody>
            <a:bodyPr wrap="square" rtlCol="0">
              <a:spAutoFit/>
            </a:bodyPr>
            <a:p>
              <a:pPr>
                <a:defRPr>
                  <a:latin typeface="微软雅黑"/>
                  <a:ea typeface="微软雅黑"/>
                  <a:cs typeface="微软雅黑"/>
                </a:defRPr>
              </a:pPr>
              <a:r>
                <a:rPr lang="en-US" altLang="zh-CN" sz="1400" b="1">
                  <a:solidFill>
                    <a:srgbClr val="0042FF"/>
                  </a:solidFill>
                  <a:latin typeface="微软雅黑"/>
                  <a:ea typeface="微软雅黑"/>
                  <a:cs typeface="微软雅黑"/>
                </a:rPr>
                <a:t>2028</a:t>
              </a:r>
              <a:r>
                <a:rPr lang="zh-CN" altLang="en-US" sz="1400" b="1">
                  <a:solidFill>
                    <a:srgbClr val="0042FF"/>
                  </a:solidFill>
                  <a:latin typeface="微软雅黑"/>
                  <a:ea typeface="微软雅黑"/>
                  <a:cs typeface="微软雅黑"/>
                </a:rPr>
                <a:t>年</a:t>
              </a:r>
              <a:endParaRPr lang="zh-CN" altLang="en-US" sz="1400" b="1">
                <a:solidFill>
                  <a:srgbClr val="0042FF"/>
                </a:solidFill>
                <a:latin typeface="微软雅黑"/>
                <a:ea typeface="微软雅黑"/>
                <a:cs typeface="微软雅黑"/>
              </a:endParaRPr>
            </a:p>
          </p:txBody>
        </p:sp>
      </p:grpSp>
      <p:sp>
        <p:nvSpPr>
          <p:cNvPr id="442" name="子陵职场PPT7"/>
          <p:cNvSpPr txBox="1"/>
          <p:nvPr>
            <p:custDataLst>
              <p:tags r:id="rId167"/>
            </p:custDataLst>
          </p:nvPr>
        </p:nvSpPr>
        <p:spPr>
          <a:xfrm>
            <a:off x="6972300" y="1272540"/>
            <a:ext cx="1877060" cy="305435"/>
          </a:xfrm>
          <a:prstGeom prst="rect">
            <a:avLst/>
          </a:prstGeom>
          <a:noFill/>
        </p:spPr>
        <p:txBody>
          <a:bodyPr wrap="square" lIns="0" tIns="0" rIns="0" bIns="0" rtlCol="0" anchor="b" anchorCtr="0">
            <a:no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领导力与团队建设</a:t>
            </a:r>
            <a:endParaRPr lang="zh-CN" altLang="en-US" sz="1600" b="1">
              <a:solidFill>
                <a:srgbClr val="0042FF"/>
              </a:solidFill>
              <a:latin typeface="微软雅黑"/>
              <a:ea typeface="微软雅黑"/>
              <a:cs typeface="微软雅黑"/>
            </a:endParaRPr>
          </a:p>
        </p:txBody>
      </p:sp>
      <p:sp>
        <p:nvSpPr>
          <p:cNvPr id="443" name="子陵职场PPT8"/>
          <p:cNvSpPr txBox="1"/>
          <p:nvPr>
            <p:custDataLst>
              <p:tags r:id="rId168"/>
            </p:custDataLst>
          </p:nvPr>
        </p:nvSpPr>
        <p:spPr>
          <a:xfrm>
            <a:off x="6708775" y="1612900"/>
            <a:ext cx="2268855" cy="810260"/>
          </a:xfrm>
          <a:prstGeom prst="rect">
            <a:avLst/>
          </a:prstGeom>
          <a:noFill/>
        </p:spPr>
        <p:txBody>
          <a:bodyPr wrap="square" lIns="0" tIns="0" rIns="0" bIns="0" rtlCol="0">
            <a:noAutofit/>
          </a:bodyPr>
          <a:lstStyle/>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通过带领团队、指导新员工等方式，培养领导力。</a:t>
            </a:r>
            <a:endParaRPr lang="zh-CN" altLang="en-US" sz="1000" kern="0" dirty="0">
              <a:ln>
                <a:noFill/>
                <a:prstDash val="sysDot"/>
              </a:ln>
              <a:solidFill>
                <a:srgbClr val="383838"/>
              </a:solidFill>
              <a:latin typeface="微软雅黑"/>
              <a:ea typeface="微软雅黑"/>
              <a:cs typeface="微软雅黑"/>
              <a:sym typeface="微软雅黑"/>
            </a:endParaRPr>
          </a:p>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参与或主导团队文化建设，营造积极向上的工作氛围，增强团队凝聚力。</a:t>
            </a:r>
            <a:endParaRPr lang="zh-CN" altLang="en-US" sz="1000" kern="0" dirty="0">
              <a:ln>
                <a:noFill/>
                <a:prstDash val="sysDot"/>
              </a:ln>
              <a:solidFill>
                <a:srgbClr val="383838"/>
              </a:solidFill>
              <a:latin typeface="微软雅黑"/>
              <a:ea typeface="微软雅黑"/>
              <a:cs typeface="微软雅黑"/>
              <a:sym typeface="微软雅黑"/>
            </a:endParaRPr>
          </a:p>
        </p:txBody>
      </p:sp>
      <p:grpSp>
        <p:nvGrpSpPr>
          <p:cNvPr id="447" name="组合 446"/>
          <p:cNvGrpSpPr/>
          <p:nvPr>
            <p:custDataLst>
              <p:tags r:id="rId169"/>
            </p:custDataLst>
          </p:nvPr>
        </p:nvGrpSpPr>
        <p:grpSpPr>
          <a:xfrm>
            <a:off x="10864850" y="1844675"/>
            <a:ext cx="490220" cy="843280"/>
            <a:chOff x="10221" y="10970"/>
            <a:chExt cx="882" cy="909"/>
          </a:xfrm>
        </p:grpSpPr>
        <p:sp>
          <p:nvSpPr>
            <p:cNvPr id="448" name="任意多边形 447"/>
            <p:cNvSpPr/>
            <p:nvPr>
              <p:custDataLst>
                <p:tags r:id="rId170"/>
              </p:custDataLst>
            </p:nvPr>
          </p:nvSpPr>
          <p:spPr>
            <a:xfrm>
              <a:off x="10221" y="11088"/>
              <a:ext cx="882" cy="791"/>
            </a:xfrm>
            <a:custGeom>
              <a:avLst/>
              <a:gdLst/>
              <a:ahLst/>
              <a:cxnLst>
                <a:cxn ang="3">
                  <a:pos x="hc" y="t"/>
                </a:cxn>
                <a:cxn ang="cd2">
                  <a:pos x="l" y="vc"/>
                </a:cxn>
                <a:cxn ang="cd4">
                  <a:pos x="hc" y="b"/>
                </a:cxn>
                <a:cxn ang="0">
                  <a:pos x="r" y="vc"/>
                </a:cxn>
              </a:cxnLst>
              <a:rect l="l" t="t" r="r" b="b"/>
              <a:pathLst>
                <a:path w="882" h="791">
                  <a:moveTo>
                    <a:pt x="0" y="0"/>
                  </a:moveTo>
                  <a:lnTo>
                    <a:pt x="882" y="0"/>
                  </a:lnTo>
                  <a:lnTo>
                    <a:pt x="882" y="657"/>
                  </a:lnTo>
                  <a:lnTo>
                    <a:pt x="882" y="657"/>
                  </a:lnTo>
                  <a:cubicBezTo>
                    <a:pt x="883" y="732"/>
                    <a:pt x="659" y="793"/>
                    <a:pt x="441" y="791"/>
                  </a:cubicBezTo>
                  <a:cubicBezTo>
                    <a:pt x="198" y="794"/>
                    <a:pt x="0" y="724"/>
                    <a:pt x="0" y="657"/>
                  </a:cubicBezTo>
                  <a:lnTo>
                    <a:pt x="0" y="657"/>
                  </a:lnTo>
                  <a:lnTo>
                    <a:pt x="0" y="0"/>
                  </a:lnTo>
                  <a:close/>
                </a:path>
              </a:pathLst>
            </a:custGeom>
            <a:gradFill>
              <a:gsLst>
                <a:gs pos="0">
                  <a:srgbClr val="0042FF">
                    <a:alpha val="90000"/>
                  </a:srgbClr>
                </a:gs>
                <a:gs pos="100000">
                  <a:srgbClr val="3368FF">
                    <a:alpha val="90000"/>
                  </a:srgbClr>
                </a:gs>
              </a:gsLst>
              <a:lin ang="162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solidFill>
                    <a:srgbClr val="FFFFFF"/>
                  </a:solidFill>
                  <a:latin typeface="微软雅黑"/>
                  <a:ea typeface="微软雅黑"/>
                  <a:cs typeface="微软雅黑"/>
                </a:defRPr>
              </a:pPr>
              <a:endParaRPr lang="en-US" altLang="zh-CN">
                <a:solidFill>
                  <a:srgbClr val="FFFFFF"/>
                </a:solidFill>
                <a:latin typeface="微软雅黑"/>
                <a:ea typeface="微软雅黑"/>
                <a:cs typeface="微软雅黑"/>
              </a:endParaRPr>
            </a:p>
          </p:txBody>
        </p:sp>
        <p:sp>
          <p:nvSpPr>
            <p:cNvPr id="449" name="椭圆 448"/>
            <p:cNvSpPr/>
            <p:nvPr>
              <p:custDataLst>
                <p:tags r:id="rId171"/>
              </p:custDataLst>
            </p:nvPr>
          </p:nvSpPr>
          <p:spPr>
            <a:xfrm>
              <a:off x="10221" y="10970"/>
              <a:ext cx="882" cy="190"/>
            </a:xfrm>
            <a:prstGeom prst="ellipse">
              <a:avLst/>
            </a:prstGeom>
            <a:solidFill>
              <a:srgbClr val="668EFF"/>
            </a:solidFill>
            <a:ln>
              <a:solidFill>
                <a:srgbClr val="FFFF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grpSp>
      <p:sp>
        <p:nvSpPr>
          <p:cNvPr id="450" name="子陵职场PPT7"/>
          <p:cNvSpPr txBox="1"/>
          <p:nvPr>
            <p:custDataLst>
              <p:tags r:id="rId172"/>
            </p:custDataLst>
          </p:nvPr>
        </p:nvSpPr>
        <p:spPr>
          <a:xfrm>
            <a:off x="10198418" y="3493135"/>
            <a:ext cx="1426210" cy="305435"/>
          </a:xfrm>
          <a:prstGeom prst="rect">
            <a:avLst/>
          </a:prstGeom>
          <a:noFill/>
        </p:spPr>
        <p:txBody>
          <a:bodyPr wrap="square" lIns="0" tIns="0" rIns="0" bIns="0" rtlCol="0" anchor="b" anchorCtr="0">
            <a:noAutofit/>
          </a:bodyPr>
          <a:lstStyle/>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战略规划发展</a:t>
            </a:r>
            <a:endParaRPr lang="zh-CN" altLang="en-US" sz="1600" b="1">
              <a:solidFill>
                <a:srgbClr val="0042FF"/>
              </a:solidFill>
              <a:latin typeface="微软雅黑"/>
              <a:ea typeface="微软雅黑"/>
              <a:cs typeface="微软雅黑"/>
            </a:endParaRPr>
          </a:p>
        </p:txBody>
      </p:sp>
      <p:sp>
        <p:nvSpPr>
          <p:cNvPr id="451" name="子陵职场PPT8"/>
          <p:cNvSpPr txBox="1"/>
          <p:nvPr>
            <p:custDataLst>
              <p:tags r:id="rId173"/>
            </p:custDataLst>
          </p:nvPr>
        </p:nvSpPr>
        <p:spPr>
          <a:xfrm>
            <a:off x="9777095" y="3833495"/>
            <a:ext cx="2268855" cy="810260"/>
          </a:xfrm>
          <a:prstGeom prst="rect">
            <a:avLst/>
          </a:prstGeom>
          <a:noFill/>
        </p:spPr>
        <p:txBody>
          <a:bodyPr wrap="square" lIns="0" tIns="0" rIns="0" bIns="0" rtlCol="0">
            <a:noAutofit/>
          </a:bodyPr>
          <a:lstStyle/>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结合公司战略方向，制定未来一到两年的职业发展规划。</a:t>
            </a:r>
            <a:endParaRPr lang="zh-CN" altLang="en-US" sz="1000" kern="0" dirty="0">
              <a:ln>
                <a:noFill/>
                <a:prstDash val="sysDot"/>
              </a:ln>
              <a:solidFill>
                <a:srgbClr val="383838"/>
              </a:solidFill>
              <a:latin typeface="微软雅黑"/>
              <a:ea typeface="微软雅黑"/>
              <a:cs typeface="微软雅黑"/>
              <a:sym typeface="微软雅黑"/>
            </a:endParaRPr>
          </a:p>
          <a:p>
            <a:pPr marL="171450" indent="-171450" algn="just" fontAlgn="auto">
              <a:lnSpc>
                <a:spcPct val="140000"/>
              </a:lnSpc>
              <a:buFont typeface="微软雅黑"/>
              <a:buChar char="•"/>
              <a:defRPr>
                <a:latin typeface="微软雅黑"/>
                <a:ea typeface="微软雅黑"/>
                <a:cs typeface="微软雅黑"/>
              </a:defRPr>
            </a:pPr>
            <a:r>
              <a:rPr lang="zh-CN" altLang="en-US" sz="1000" kern="0" dirty="0">
                <a:ln>
                  <a:noFill/>
                  <a:prstDash val="sysDot"/>
                </a:ln>
                <a:solidFill>
                  <a:srgbClr val="383838"/>
                </a:solidFill>
                <a:latin typeface="微软雅黑"/>
                <a:ea typeface="微软雅黑"/>
                <a:cs typeface="微软雅黑"/>
                <a:sym typeface="微软雅黑"/>
              </a:rPr>
              <a:t>通过参与高层决策、跨部门协作等方式，为晋升至更高职位做好准备。</a:t>
            </a:r>
            <a:endParaRPr lang="zh-CN" altLang="en-US" sz="1000" kern="0" dirty="0">
              <a:ln>
                <a:noFill/>
                <a:prstDash val="sysDot"/>
              </a:ln>
              <a:solidFill>
                <a:srgbClr val="383838"/>
              </a:solidFill>
              <a:latin typeface="微软雅黑"/>
              <a:ea typeface="微软雅黑"/>
              <a:cs typeface="微软雅黑"/>
              <a:sym typeface="微软雅黑"/>
            </a:endParaRPr>
          </a:p>
        </p:txBody>
      </p:sp>
      <p:grpSp>
        <p:nvGrpSpPr>
          <p:cNvPr id="452" name="组合 451"/>
          <p:cNvGrpSpPr/>
          <p:nvPr>
            <p:custDataLst>
              <p:tags r:id="rId174"/>
            </p:custDataLst>
          </p:nvPr>
        </p:nvGrpSpPr>
        <p:grpSpPr>
          <a:xfrm>
            <a:off x="9695815" y="1624330"/>
            <a:ext cx="842010" cy="405130"/>
            <a:chOff x="1283" y="6588"/>
            <a:chExt cx="1326" cy="638"/>
          </a:xfrm>
        </p:grpSpPr>
        <p:sp>
          <p:nvSpPr>
            <p:cNvPr id="453" name="圆角矩形标注 452"/>
            <p:cNvSpPr/>
            <p:nvPr>
              <p:custDataLst>
                <p:tags r:id="rId175"/>
              </p:custDataLst>
            </p:nvPr>
          </p:nvSpPr>
          <p:spPr>
            <a:xfrm>
              <a:off x="1283" y="6588"/>
              <a:ext cx="1309" cy="638"/>
            </a:xfrm>
            <a:prstGeom prst="wedgeRoundRectCallout">
              <a:avLst>
                <a:gd name="adj1" fmla="val 82614"/>
                <a:gd name="adj2" fmla="val 42500"/>
                <a:gd name="adj3" fmla="val 16667"/>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454" name="文本框 453"/>
            <p:cNvSpPr txBox="1"/>
            <p:nvPr>
              <p:custDataLst>
                <p:tags r:id="rId176"/>
              </p:custDataLst>
            </p:nvPr>
          </p:nvSpPr>
          <p:spPr>
            <a:xfrm>
              <a:off x="1296" y="6656"/>
              <a:ext cx="1313" cy="483"/>
            </a:xfrm>
            <a:prstGeom prst="rect">
              <a:avLst/>
            </a:prstGeom>
            <a:noFill/>
          </p:spPr>
          <p:txBody>
            <a:bodyPr wrap="square" rtlCol="0">
              <a:spAutoFit/>
            </a:bodyPr>
            <a:p>
              <a:pPr>
                <a:defRPr>
                  <a:latin typeface="微软雅黑"/>
                  <a:ea typeface="微软雅黑"/>
                  <a:cs typeface="微软雅黑"/>
                </a:defRPr>
              </a:pPr>
              <a:r>
                <a:rPr lang="en-US" altLang="zh-CN" sz="1400" b="1">
                  <a:solidFill>
                    <a:srgbClr val="0042FF"/>
                  </a:solidFill>
                  <a:latin typeface="微软雅黑"/>
                  <a:ea typeface="微软雅黑"/>
                  <a:cs typeface="微软雅黑"/>
                </a:rPr>
                <a:t>2029</a:t>
              </a:r>
              <a:r>
                <a:rPr lang="zh-CN" altLang="en-US" sz="1400" b="1">
                  <a:solidFill>
                    <a:srgbClr val="0042FF"/>
                  </a:solidFill>
                  <a:latin typeface="微软雅黑"/>
                  <a:ea typeface="微软雅黑"/>
                  <a:cs typeface="微软雅黑"/>
                </a:rPr>
                <a:t>年</a:t>
              </a:r>
              <a:endParaRPr lang="zh-CN" altLang="en-US" sz="1400" b="1">
                <a:solidFill>
                  <a:srgbClr val="0042FF"/>
                </a:solidFill>
                <a:latin typeface="微软雅黑"/>
                <a:ea typeface="微软雅黑"/>
                <a:cs typeface="微软雅黑"/>
              </a:endParaRPr>
            </a:p>
          </p:txBody>
        </p:sp>
      </p:grpSp>
      <p:pic>
        <p:nvPicPr>
          <p:cNvPr id="2" name="图片 1" descr="屋顶资源管理"/>
          <p:cNvPicPr>
            <a:picLocks noChangeAspect="1"/>
          </p:cNvPicPr>
          <p:nvPr/>
        </p:nvPicPr>
        <p:blipFill>
          <a:blip r:embed="rId177">
            <a:extLst>
              <a:ext uri="{96DAC541-7B7A-43D3-8B79-37D633B846F1}">
                <asvg:svgBlip xmlns:asvg="http://schemas.microsoft.com/office/drawing/2016/SVG/main" r:embed="rId178"/>
              </a:ext>
            </a:extLst>
          </a:blip>
          <a:stretch>
            <a:fillRect/>
          </a:stretch>
        </p:blipFill>
        <p:spPr>
          <a:xfrm>
            <a:off x="355600" y="186055"/>
            <a:ext cx="549910" cy="549910"/>
          </a:xfrm>
          <a:prstGeom prst="rect">
            <a:avLst/>
          </a:prstGeom>
        </p:spPr>
      </p:pic>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179"/>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8298"/>
            <a:ext cx="738251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互联网产品研发创新规划</a:t>
            </a:r>
            <a:endParaRPr sz="250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4" name="Group 2"/>
          <p:cNvGrpSpPr/>
          <p:nvPr/>
        </p:nvGrpSpPr>
        <p:grpSpPr>
          <a:xfrm rot="0">
            <a:off x="3377565" y="2427605"/>
            <a:ext cx="6146165" cy="4436745"/>
            <a:chOff x="3412706" y="2723052"/>
            <a:chExt cx="5728758" cy="4134948"/>
          </a:xfrm>
        </p:grpSpPr>
        <p:sp>
          <p:nvSpPr>
            <p:cNvPr id="30" name="Freeform 29"/>
            <p:cNvSpPr/>
            <p:nvPr/>
          </p:nvSpPr>
          <p:spPr bwMode="auto">
            <a:xfrm>
              <a:off x="3423821" y="2768607"/>
              <a:ext cx="5689333" cy="4089393"/>
            </a:xfrm>
            <a:custGeom>
              <a:avLst/>
              <a:gdLst>
                <a:gd name="connsiteX0" fmla="*/ 2829517 w 6198260"/>
                <a:gd name="connsiteY0" fmla="*/ 0 h 4455201"/>
                <a:gd name="connsiteX1" fmla="*/ 2862597 w 6198260"/>
                <a:gd name="connsiteY1" fmla="*/ 0 h 4455201"/>
                <a:gd name="connsiteX2" fmla="*/ 2772177 w 6198260"/>
                <a:gd name="connsiteY2" fmla="*/ 303091 h 4455201"/>
                <a:gd name="connsiteX3" fmla="*/ 2478862 w 6198260"/>
                <a:gd name="connsiteY3" fmla="*/ 502956 h 4455201"/>
                <a:gd name="connsiteX4" fmla="*/ 2332205 w 6198260"/>
                <a:gd name="connsiteY4" fmla="*/ 574336 h 4455201"/>
                <a:gd name="connsiteX5" fmla="*/ 2255017 w 6198260"/>
                <a:gd name="connsiteY5" fmla="*/ 635833 h 4455201"/>
                <a:gd name="connsiteX6" fmla="*/ 2557153 w 6198260"/>
                <a:gd name="connsiteY6" fmla="*/ 786280 h 4455201"/>
                <a:gd name="connsiteX7" fmla="*/ 3074313 w 6198260"/>
                <a:gd name="connsiteY7" fmla="*/ 854366 h 4455201"/>
                <a:gd name="connsiteX8" fmla="*/ 3979620 w 6198260"/>
                <a:gd name="connsiteY8" fmla="*/ 1032268 h 4455201"/>
                <a:gd name="connsiteX9" fmla="*/ 4621384 w 6198260"/>
                <a:gd name="connsiteY9" fmla="*/ 1486905 h 4455201"/>
                <a:gd name="connsiteX10" fmla="*/ 4549709 w 6198260"/>
                <a:gd name="connsiteY10" fmla="*/ 2015118 h 4455201"/>
                <a:gd name="connsiteX11" fmla="*/ 4331377 w 6198260"/>
                <a:gd name="connsiteY11" fmla="*/ 2172154 h 4455201"/>
                <a:gd name="connsiteX12" fmla="*/ 4014906 w 6198260"/>
                <a:gd name="connsiteY12" fmla="*/ 2280872 h 4455201"/>
                <a:gd name="connsiteX13" fmla="*/ 3289337 w 6198260"/>
                <a:gd name="connsiteY13" fmla="*/ 2399473 h 4455201"/>
                <a:gd name="connsiteX14" fmla="*/ 2618903 w 6198260"/>
                <a:gd name="connsiteY14" fmla="*/ 2452184 h 4455201"/>
                <a:gd name="connsiteX15" fmla="*/ 2205396 w 6198260"/>
                <a:gd name="connsiteY15" fmla="*/ 2485129 h 4455201"/>
                <a:gd name="connsiteX16" fmla="*/ 1848125 w 6198260"/>
                <a:gd name="connsiteY16" fmla="*/ 2545528 h 4455201"/>
                <a:gd name="connsiteX17" fmla="*/ 1721316 w 6198260"/>
                <a:gd name="connsiteY17" fmla="*/ 2590552 h 4455201"/>
                <a:gd name="connsiteX18" fmla="*/ 1657360 w 6198260"/>
                <a:gd name="connsiteY18" fmla="*/ 2641067 h 4455201"/>
                <a:gd name="connsiteX19" fmla="*/ 1730137 w 6198260"/>
                <a:gd name="connsiteY19" fmla="*/ 2728920 h 4455201"/>
                <a:gd name="connsiteX20" fmla="*/ 1981550 w 6198260"/>
                <a:gd name="connsiteY20" fmla="*/ 2798104 h 4455201"/>
                <a:gd name="connsiteX21" fmla="*/ 2296919 w 6198260"/>
                <a:gd name="connsiteY21" fmla="*/ 2847521 h 4455201"/>
                <a:gd name="connsiteX22" fmla="*/ 2709324 w 6198260"/>
                <a:gd name="connsiteY22" fmla="*/ 2889251 h 4455201"/>
                <a:gd name="connsiteX23" fmla="*/ 3310288 w 6198260"/>
                <a:gd name="connsiteY23" fmla="*/ 2971613 h 4455201"/>
                <a:gd name="connsiteX24" fmla="*/ 4004982 w 6198260"/>
                <a:gd name="connsiteY24" fmla="*/ 3088017 h 4455201"/>
                <a:gd name="connsiteX25" fmla="*/ 4427311 w 6198260"/>
                <a:gd name="connsiteY25" fmla="*/ 3185753 h 4455201"/>
                <a:gd name="connsiteX26" fmla="*/ 4899261 w 6198260"/>
                <a:gd name="connsiteY26" fmla="*/ 3330710 h 4455201"/>
                <a:gd name="connsiteX27" fmla="*/ 5455016 w 6198260"/>
                <a:gd name="connsiteY27" fmla="*/ 3588777 h 4455201"/>
                <a:gd name="connsiteX28" fmla="*/ 5944608 w 6198260"/>
                <a:gd name="connsiteY28" fmla="*/ 3989604 h 4455201"/>
                <a:gd name="connsiteX29" fmla="*/ 6186821 w 6198260"/>
                <a:gd name="connsiteY29" fmla="*/ 4412429 h 4455201"/>
                <a:gd name="connsiteX30" fmla="*/ 6198260 w 6198260"/>
                <a:gd name="connsiteY30" fmla="*/ 4455201 h 4455201"/>
                <a:gd name="connsiteX31" fmla="*/ 2876491 w 6198260"/>
                <a:gd name="connsiteY31" fmla="*/ 4455201 h 4455201"/>
                <a:gd name="connsiteX32" fmla="*/ 2874727 w 6198260"/>
                <a:gd name="connsiteY32" fmla="*/ 4450556 h 4455201"/>
                <a:gd name="connsiteX33" fmla="*/ 2784307 w 6198260"/>
                <a:gd name="connsiteY33" fmla="*/ 4345407 h 4455201"/>
                <a:gd name="connsiteX34" fmla="*/ 2568180 w 6198260"/>
                <a:gd name="connsiteY34" fmla="*/ 4229002 h 4455201"/>
                <a:gd name="connsiteX35" fmla="*/ 2027863 w 6198260"/>
                <a:gd name="connsiteY35" fmla="*/ 4055494 h 4455201"/>
                <a:gd name="connsiteX36" fmla="*/ 1408153 w 6198260"/>
                <a:gd name="connsiteY36" fmla="*/ 3883083 h 4455201"/>
                <a:gd name="connsiteX37" fmla="*/ 832550 w 6198260"/>
                <a:gd name="connsiteY37" fmla="*/ 3695298 h 4455201"/>
                <a:gd name="connsiteX38" fmla="*/ 276795 w 6198260"/>
                <a:gd name="connsiteY38" fmla="*/ 3385618 h 4455201"/>
                <a:gd name="connsiteX39" fmla="*/ 34204 w 6198260"/>
                <a:gd name="connsiteY39" fmla="*/ 3046287 h 4455201"/>
                <a:gd name="connsiteX40" fmla="*/ 31999 w 6198260"/>
                <a:gd name="connsiteY40" fmla="*/ 2678405 h 4455201"/>
                <a:gd name="connsiteX41" fmla="*/ 329724 w 6198260"/>
                <a:gd name="connsiteY41" fmla="*/ 2319307 h 4455201"/>
                <a:gd name="connsiteX42" fmla="*/ 954948 w 6198260"/>
                <a:gd name="connsiteY42" fmla="*/ 2023903 h 4455201"/>
                <a:gd name="connsiteX43" fmla="*/ 1609944 w 6198260"/>
                <a:gd name="connsiteY43" fmla="*/ 1869063 h 4455201"/>
                <a:gd name="connsiteX44" fmla="*/ 2326691 w 6198260"/>
                <a:gd name="connsiteY44" fmla="*/ 1764738 h 4455201"/>
                <a:gd name="connsiteX45" fmla="*/ 2860392 w 6198260"/>
                <a:gd name="connsiteY45" fmla="*/ 1717518 h 4455201"/>
                <a:gd name="connsiteX46" fmla="*/ 3434892 w 6198260"/>
                <a:gd name="connsiteY46" fmla="*/ 1682377 h 4455201"/>
                <a:gd name="connsiteX47" fmla="*/ 3759082 w 6198260"/>
                <a:gd name="connsiteY47" fmla="*/ 1596720 h 4455201"/>
                <a:gd name="connsiteX48" fmla="*/ 3828552 w 6198260"/>
                <a:gd name="connsiteY48" fmla="*/ 1514359 h 4455201"/>
                <a:gd name="connsiteX49" fmla="*/ 3760185 w 6198260"/>
                <a:gd name="connsiteY49" fmla="*/ 1418819 h 4455201"/>
                <a:gd name="connsiteX50" fmla="*/ 3485616 w 6198260"/>
                <a:gd name="connsiteY50" fmla="*/ 1315592 h 4455201"/>
                <a:gd name="connsiteX51" fmla="*/ 3129448 w 6198260"/>
                <a:gd name="connsiteY51" fmla="*/ 1244212 h 4455201"/>
                <a:gd name="connsiteX52" fmla="*/ 2406085 w 6198260"/>
                <a:gd name="connsiteY52" fmla="*/ 1097059 h 4455201"/>
                <a:gd name="connsiteX53" fmla="*/ 2053225 w 6198260"/>
                <a:gd name="connsiteY53" fmla="*/ 975163 h 4455201"/>
                <a:gd name="connsiteX54" fmla="*/ 1835995 w 6198260"/>
                <a:gd name="connsiteY54" fmla="*/ 849974 h 4455201"/>
                <a:gd name="connsiteX55" fmla="*/ 1759910 w 6198260"/>
                <a:gd name="connsiteY55" fmla="*/ 725882 h 4455201"/>
                <a:gd name="connsiteX56" fmla="*/ 1815044 w 6198260"/>
                <a:gd name="connsiteY56" fmla="*/ 593005 h 4455201"/>
                <a:gd name="connsiteX57" fmla="*/ 2031171 w 6198260"/>
                <a:gd name="connsiteY57" fmla="*/ 459030 h 4455201"/>
                <a:gd name="connsiteX58" fmla="*/ 2377415 w 6198260"/>
                <a:gd name="connsiteY58" fmla="*/ 337134 h 4455201"/>
                <a:gd name="connsiteX59" fmla="*/ 2620006 w 6198260"/>
                <a:gd name="connsiteY59" fmla="*/ 232809 h 4455201"/>
                <a:gd name="connsiteX60" fmla="*/ 2761150 w 6198260"/>
                <a:gd name="connsiteY60" fmla="*/ 126288 h 4455201"/>
                <a:gd name="connsiteX61" fmla="*/ 2829517 w 6198260"/>
                <a:gd name="connsiteY61" fmla="*/ 0 h 445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198260" h="4455201">
                  <a:moveTo>
                    <a:pt x="2829517" y="0"/>
                  </a:moveTo>
                  <a:lnTo>
                    <a:pt x="2862597" y="0"/>
                  </a:lnTo>
                  <a:cubicBezTo>
                    <a:pt x="2889062" y="113110"/>
                    <a:pt x="2848262" y="219632"/>
                    <a:pt x="2772177" y="303091"/>
                  </a:cubicBezTo>
                  <a:cubicBezTo>
                    <a:pt x="2690578" y="389846"/>
                    <a:pt x="2584720" y="451343"/>
                    <a:pt x="2478862" y="502956"/>
                  </a:cubicBezTo>
                  <a:cubicBezTo>
                    <a:pt x="2430344" y="527115"/>
                    <a:pt x="2379620" y="547980"/>
                    <a:pt x="2332205" y="574336"/>
                  </a:cubicBezTo>
                  <a:cubicBezTo>
                    <a:pt x="2304637" y="589710"/>
                    <a:pt x="2271557" y="608379"/>
                    <a:pt x="2255017" y="635833"/>
                  </a:cubicBezTo>
                  <a:cubicBezTo>
                    <a:pt x="2189958" y="737962"/>
                    <a:pt x="2511943" y="778593"/>
                    <a:pt x="2557153" y="786280"/>
                  </a:cubicBezTo>
                  <a:cubicBezTo>
                    <a:pt x="2729172" y="813734"/>
                    <a:pt x="2902294" y="829109"/>
                    <a:pt x="3074313" y="854366"/>
                  </a:cubicBezTo>
                  <a:cubicBezTo>
                    <a:pt x="3380860" y="898292"/>
                    <a:pt x="3684099" y="937826"/>
                    <a:pt x="3979620" y="1032268"/>
                  </a:cubicBezTo>
                  <a:cubicBezTo>
                    <a:pt x="4220006" y="1110237"/>
                    <a:pt x="4498986" y="1246408"/>
                    <a:pt x="4621384" y="1486905"/>
                  </a:cubicBezTo>
                  <a:cubicBezTo>
                    <a:pt x="4707394" y="1658217"/>
                    <a:pt x="4672108" y="1870161"/>
                    <a:pt x="4549709" y="2015118"/>
                  </a:cubicBezTo>
                  <a:cubicBezTo>
                    <a:pt x="4491267" y="2085400"/>
                    <a:pt x="4411873" y="2133719"/>
                    <a:pt x="4331377" y="2172154"/>
                  </a:cubicBezTo>
                  <a:cubicBezTo>
                    <a:pt x="4229930" y="2219375"/>
                    <a:pt x="4122969" y="2253418"/>
                    <a:pt x="4014906" y="2280872"/>
                  </a:cubicBezTo>
                  <a:cubicBezTo>
                    <a:pt x="3777828" y="2342369"/>
                    <a:pt x="3533031" y="2375313"/>
                    <a:pt x="3289337" y="2399473"/>
                  </a:cubicBezTo>
                  <a:cubicBezTo>
                    <a:pt x="3066595" y="2422534"/>
                    <a:pt x="2842749" y="2439007"/>
                    <a:pt x="2618903" y="2452184"/>
                  </a:cubicBezTo>
                  <a:cubicBezTo>
                    <a:pt x="2481067" y="2460970"/>
                    <a:pt x="2343232" y="2470853"/>
                    <a:pt x="2205396" y="2485129"/>
                  </a:cubicBezTo>
                  <a:cubicBezTo>
                    <a:pt x="2085203" y="2498307"/>
                    <a:pt x="1965010" y="2513681"/>
                    <a:pt x="1848125" y="2545528"/>
                  </a:cubicBezTo>
                  <a:cubicBezTo>
                    <a:pt x="1805120" y="2556509"/>
                    <a:pt x="1762115" y="2570785"/>
                    <a:pt x="1721316" y="2590552"/>
                  </a:cubicBezTo>
                  <a:cubicBezTo>
                    <a:pt x="1699262" y="2602632"/>
                    <a:pt x="1669490" y="2616908"/>
                    <a:pt x="1657360" y="2641067"/>
                  </a:cubicBezTo>
                  <a:cubicBezTo>
                    <a:pt x="1634204" y="2684994"/>
                    <a:pt x="1700365" y="2715742"/>
                    <a:pt x="1730137" y="2728920"/>
                  </a:cubicBezTo>
                  <a:cubicBezTo>
                    <a:pt x="1809531" y="2764061"/>
                    <a:pt x="1896643" y="2781632"/>
                    <a:pt x="1981550" y="2798104"/>
                  </a:cubicBezTo>
                  <a:cubicBezTo>
                    <a:pt x="2086305" y="2818969"/>
                    <a:pt x="2191061" y="2834343"/>
                    <a:pt x="2296919" y="2847521"/>
                  </a:cubicBezTo>
                  <a:cubicBezTo>
                    <a:pt x="2434755" y="2863993"/>
                    <a:pt x="2572591" y="2871680"/>
                    <a:pt x="2709324" y="2889251"/>
                  </a:cubicBezTo>
                  <a:cubicBezTo>
                    <a:pt x="2910013" y="2913410"/>
                    <a:pt x="3109599" y="2941962"/>
                    <a:pt x="3310288" y="2971613"/>
                  </a:cubicBezTo>
                  <a:cubicBezTo>
                    <a:pt x="3541853" y="3006754"/>
                    <a:pt x="3773417" y="3044091"/>
                    <a:pt x="4004982" y="3088017"/>
                  </a:cubicBezTo>
                  <a:cubicBezTo>
                    <a:pt x="4146126" y="3115471"/>
                    <a:pt x="4287270" y="3149514"/>
                    <a:pt x="4427311" y="3185753"/>
                  </a:cubicBezTo>
                  <a:cubicBezTo>
                    <a:pt x="4586098" y="3227483"/>
                    <a:pt x="4743782" y="3273606"/>
                    <a:pt x="4899261" y="3330710"/>
                  </a:cubicBezTo>
                  <a:cubicBezTo>
                    <a:pt x="5091129" y="3399894"/>
                    <a:pt x="5278586" y="3484452"/>
                    <a:pt x="5455016" y="3588777"/>
                  </a:cubicBezTo>
                  <a:cubicBezTo>
                    <a:pt x="5635856" y="3696396"/>
                    <a:pt x="5806772" y="3828175"/>
                    <a:pt x="5944608" y="3989604"/>
                  </a:cubicBezTo>
                  <a:cubicBezTo>
                    <a:pt x="6050466" y="4114794"/>
                    <a:pt x="6133995" y="4257898"/>
                    <a:pt x="6186821" y="4412429"/>
                  </a:cubicBezTo>
                  <a:lnTo>
                    <a:pt x="6198260" y="4455201"/>
                  </a:lnTo>
                  <a:lnTo>
                    <a:pt x="2876491" y="4455201"/>
                  </a:lnTo>
                  <a:lnTo>
                    <a:pt x="2874727" y="4450556"/>
                  </a:lnTo>
                  <a:cubicBezTo>
                    <a:pt x="2854603" y="4409924"/>
                    <a:pt x="2825106" y="4371763"/>
                    <a:pt x="2784307" y="4345407"/>
                  </a:cubicBezTo>
                  <a:cubicBezTo>
                    <a:pt x="2693886" y="4286107"/>
                    <a:pt x="2667422" y="4269634"/>
                    <a:pt x="2568180" y="4229002"/>
                  </a:cubicBezTo>
                  <a:cubicBezTo>
                    <a:pt x="2386236" y="4154328"/>
                    <a:pt x="2216422" y="4109303"/>
                    <a:pt x="2027863" y="4055494"/>
                  </a:cubicBezTo>
                  <a:cubicBezTo>
                    <a:pt x="1821660" y="3996193"/>
                    <a:pt x="1614355" y="3941285"/>
                    <a:pt x="1408153" y="3883083"/>
                  </a:cubicBezTo>
                  <a:cubicBezTo>
                    <a:pt x="1212977" y="3827077"/>
                    <a:pt x="1022212" y="3765580"/>
                    <a:pt x="832550" y="3695298"/>
                  </a:cubicBezTo>
                  <a:cubicBezTo>
                    <a:pt x="631861" y="3619525"/>
                    <a:pt x="437788" y="3530575"/>
                    <a:pt x="276795" y="3385618"/>
                  </a:cubicBezTo>
                  <a:cubicBezTo>
                    <a:pt x="173143" y="3292274"/>
                    <a:pt x="82722" y="3179164"/>
                    <a:pt x="34204" y="3046287"/>
                  </a:cubicBezTo>
                  <a:cubicBezTo>
                    <a:pt x="-9903" y="2927686"/>
                    <a:pt x="-12109" y="2797006"/>
                    <a:pt x="31999" y="2678405"/>
                  </a:cubicBezTo>
                  <a:cubicBezTo>
                    <a:pt x="87133" y="2529055"/>
                    <a:pt x="202915" y="2410455"/>
                    <a:pt x="329724" y="2319307"/>
                  </a:cubicBezTo>
                  <a:cubicBezTo>
                    <a:pt x="517181" y="2182038"/>
                    <a:pt x="736616" y="2093087"/>
                    <a:pt x="954948" y="2023903"/>
                  </a:cubicBezTo>
                  <a:cubicBezTo>
                    <a:pt x="1169972" y="1955818"/>
                    <a:pt x="1388304" y="1908597"/>
                    <a:pt x="1609944" y="1869063"/>
                  </a:cubicBezTo>
                  <a:cubicBezTo>
                    <a:pt x="1847022" y="1826235"/>
                    <a:pt x="2086305" y="1792192"/>
                    <a:pt x="2326691" y="1764738"/>
                  </a:cubicBezTo>
                  <a:cubicBezTo>
                    <a:pt x="2504224" y="1744971"/>
                    <a:pt x="2681757" y="1729597"/>
                    <a:pt x="2860392" y="1717518"/>
                  </a:cubicBezTo>
                  <a:cubicBezTo>
                    <a:pt x="3052260" y="1704340"/>
                    <a:pt x="3244127" y="1701045"/>
                    <a:pt x="3434892" y="1682377"/>
                  </a:cubicBezTo>
                  <a:cubicBezTo>
                    <a:pt x="3545161" y="1671395"/>
                    <a:pt x="3662046" y="1654923"/>
                    <a:pt x="3759082" y="1596720"/>
                  </a:cubicBezTo>
                  <a:cubicBezTo>
                    <a:pt x="3788855" y="1579150"/>
                    <a:pt x="3824141" y="1551696"/>
                    <a:pt x="3828552" y="1514359"/>
                  </a:cubicBezTo>
                  <a:cubicBezTo>
                    <a:pt x="3834065" y="1470432"/>
                    <a:pt x="3792163" y="1438586"/>
                    <a:pt x="3760185" y="1418819"/>
                  </a:cubicBezTo>
                  <a:cubicBezTo>
                    <a:pt x="3677483" y="1367206"/>
                    <a:pt x="3579344" y="1339752"/>
                    <a:pt x="3485616" y="1315592"/>
                  </a:cubicBezTo>
                  <a:cubicBezTo>
                    <a:pt x="3367628" y="1287040"/>
                    <a:pt x="3248538" y="1266175"/>
                    <a:pt x="3129448" y="1244212"/>
                  </a:cubicBezTo>
                  <a:cubicBezTo>
                    <a:pt x="2887959" y="1200286"/>
                    <a:pt x="2644265" y="1158556"/>
                    <a:pt x="2406085" y="1097059"/>
                  </a:cubicBezTo>
                  <a:cubicBezTo>
                    <a:pt x="2285892" y="1066311"/>
                    <a:pt x="2167904" y="1024581"/>
                    <a:pt x="2053225" y="975163"/>
                  </a:cubicBezTo>
                  <a:cubicBezTo>
                    <a:pt x="1977139" y="941121"/>
                    <a:pt x="1899951" y="902685"/>
                    <a:pt x="1835995" y="849974"/>
                  </a:cubicBezTo>
                  <a:cubicBezTo>
                    <a:pt x="1797401" y="818127"/>
                    <a:pt x="1764321" y="776397"/>
                    <a:pt x="1759910" y="725882"/>
                  </a:cubicBezTo>
                  <a:cubicBezTo>
                    <a:pt x="1755499" y="674268"/>
                    <a:pt x="1781964" y="629244"/>
                    <a:pt x="1815044" y="593005"/>
                  </a:cubicBezTo>
                  <a:cubicBezTo>
                    <a:pt x="1873487" y="531508"/>
                    <a:pt x="1953983" y="491974"/>
                    <a:pt x="2031171" y="459030"/>
                  </a:cubicBezTo>
                  <a:cubicBezTo>
                    <a:pt x="2143645" y="411809"/>
                    <a:pt x="2262735" y="379962"/>
                    <a:pt x="2377415" y="337134"/>
                  </a:cubicBezTo>
                  <a:cubicBezTo>
                    <a:pt x="2460116" y="307484"/>
                    <a:pt x="2542818" y="275638"/>
                    <a:pt x="2620006" y="232809"/>
                  </a:cubicBezTo>
                  <a:cubicBezTo>
                    <a:pt x="2671832" y="205355"/>
                    <a:pt x="2721453" y="171313"/>
                    <a:pt x="2761150" y="126288"/>
                  </a:cubicBezTo>
                  <a:cubicBezTo>
                    <a:pt x="2793128" y="90049"/>
                    <a:pt x="2815182" y="46123"/>
                    <a:pt x="2829517" y="0"/>
                  </a:cubicBezTo>
                  <a:close/>
                </a:path>
              </a:pathLst>
            </a:custGeom>
            <a:solidFill>
              <a:srgbClr val="E6E6E6"/>
            </a:solidFill>
            <a:ln w="3175" cap="flat">
              <a:noFill/>
              <a:prstDash val="solid"/>
              <a:miter lim="800000"/>
            </a:ln>
          </p:spPr>
          <p:txBody>
            <a:bodyPr vert="horz" wrap="square" lIns="0" tIns="0" rIns="0" bIns="0" numCol="1" anchor="t" anchorCtr="0" compatLnSpc="1">
              <a:noAutofit/>
            </a:bodyPr>
            <a:lstStyle/>
            <a:p>
              <a:pPr>
                <a:defRPr>
                  <a:latin typeface="微软雅黑"/>
                  <a:ea typeface="微软雅黑"/>
                  <a:cs typeface="微软雅黑"/>
                </a:defRPr>
              </a:pPr>
              <a:endParaRPr lang="en-US">
                <a:latin typeface="微软雅黑"/>
                <a:ea typeface="微软雅黑"/>
                <a:cs typeface="微软雅黑"/>
              </a:endParaRPr>
            </a:p>
          </p:txBody>
        </p:sp>
        <p:sp>
          <p:nvSpPr>
            <p:cNvPr id="7" name="Freeform 17"/>
            <p:cNvSpPr/>
            <p:nvPr/>
          </p:nvSpPr>
          <p:spPr bwMode="auto">
            <a:xfrm>
              <a:off x="3412706" y="2723052"/>
              <a:ext cx="5728758" cy="4134314"/>
            </a:xfrm>
            <a:custGeom>
              <a:avLst/>
              <a:gdLst>
                <a:gd name="T0" fmla="*/ 2607 w 5660"/>
                <a:gd name="T1" fmla="*/ 0 h 4101"/>
                <a:gd name="T2" fmla="*/ 2525 w 5660"/>
                <a:gd name="T3" fmla="*/ 272 h 4101"/>
                <a:gd name="T4" fmla="*/ 2259 w 5660"/>
                <a:gd name="T5" fmla="*/ 452 h 4101"/>
                <a:gd name="T6" fmla="*/ 2126 w 5660"/>
                <a:gd name="T7" fmla="*/ 515 h 4101"/>
                <a:gd name="T8" fmla="*/ 2056 w 5660"/>
                <a:gd name="T9" fmla="*/ 571 h 4101"/>
                <a:gd name="T10" fmla="*/ 2330 w 5660"/>
                <a:gd name="T11" fmla="*/ 705 h 4101"/>
                <a:gd name="T12" fmla="*/ 2799 w 5660"/>
                <a:gd name="T13" fmla="*/ 767 h 4101"/>
                <a:gd name="T14" fmla="*/ 3620 w 5660"/>
                <a:gd name="T15" fmla="*/ 927 h 4101"/>
                <a:gd name="T16" fmla="*/ 4202 w 5660"/>
                <a:gd name="T17" fmla="*/ 1335 h 4101"/>
                <a:gd name="T18" fmla="*/ 4137 w 5660"/>
                <a:gd name="T19" fmla="*/ 1809 h 4101"/>
                <a:gd name="T20" fmla="*/ 3939 w 5660"/>
                <a:gd name="T21" fmla="*/ 1949 h 4101"/>
                <a:gd name="T22" fmla="*/ 3652 w 5660"/>
                <a:gd name="T23" fmla="*/ 2047 h 4101"/>
                <a:gd name="T24" fmla="*/ 2994 w 5660"/>
                <a:gd name="T25" fmla="*/ 2153 h 4101"/>
                <a:gd name="T26" fmla="*/ 2386 w 5660"/>
                <a:gd name="T27" fmla="*/ 2201 h 4101"/>
                <a:gd name="T28" fmla="*/ 2011 w 5660"/>
                <a:gd name="T29" fmla="*/ 2230 h 4101"/>
                <a:gd name="T30" fmla="*/ 1687 w 5660"/>
                <a:gd name="T31" fmla="*/ 2284 h 4101"/>
                <a:gd name="T32" fmla="*/ 1572 w 5660"/>
                <a:gd name="T33" fmla="*/ 2325 h 4101"/>
                <a:gd name="T34" fmla="*/ 1514 w 5660"/>
                <a:gd name="T35" fmla="*/ 2370 h 4101"/>
                <a:gd name="T36" fmla="*/ 1580 w 5660"/>
                <a:gd name="T37" fmla="*/ 2449 h 4101"/>
                <a:gd name="T38" fmla="*/ 1808 w 5660"/>
                <a:gd name="T39" fmla="*/ 2511 h 4101"/>
                <a:gd name="T40" fmla="*/ 2094 w 5660"/>
                <a:gd name="T41" fmla="*/ 2555 h 4101"/>
                <a:gd name="T42" fmla="*/ 2468 w 5660"/>
                <a:gd name="T43" fmla="*/ 2592 h 4101"/>
                <a:gd name="T44" fmla="*/ 3013 w 5660"/>
                <a:gd name="T45" fmla="*/ 2667 h 4101"/>
                <a:gd name="T46" fmla="*/ 3643 w 5660"/>
                <a:gd name="T47" fmla="*/ 2771 h 4101"/>
                <a:gd name="T48" fmla="*/ 4026 w 5660"/>
                <a:gd name="T49" fmla="*/ 2859 h 4101"/>
                <a:gd name="T50" fmla="*/ 4454 w 5660"/>
                <a:gd name="T51" fmla="*/ 2988 h 4101"/>
                <a:gd name="T52" fmla="*/ 4958 w 5660"/>
                <a:gd name="T53" fmla="*/ 3220 h 4101"/>
                <a:gd name="T54" fmla="*/ 5402 w 5660"/>
                <a:gd name="T55" fmla="*/ 3580 h 4101"/>
                <a:gd name="T56" fmla="*/ 5660 w 5660"/>
                <a:gd name="T57" fmla="*/ 4101 h 4101"/>
                <a:gd name="T58" fmla="*/ 2709 w 5660"/>
                <a:gd name="T59" fmla="*/ 4101 h 4101"/>
                <a:gd name="T60" fmla="*/ 2612 w 5660"/>
                <a:gd name="T61" fmla="*/ 3949 h 4101"/>
                <a:gd name="T62" fmla="*/ 2360 w 5660"/>
                <a:gd name="T63" fmla="*/ 3803 h 4101"/>
                <a:gd name="T64" fmla="*/ 1850 w 5660"/>
                <a:gd name="T65" fmla="*/ 3639 h 4101"/>
                <a:gd name="T66" fmla="*/ 1288 w 5660"/>
                <a:gd name="T67" fmla="*/ 3484 h 4101"/>
                <a:gd name="T68" fmla="*/ 766 w 5660"/>
                <a:gd name="T69" fmla="*/ 3316 h 4101"/>
                <a:gd name="T70" fmla="*/ 262 w 5660"/>
                <a:gd name="T71" fmla="*/ 3038 h 4101"/>
                <a:gd name="T72" fmla="*/ 42 w 5660"/>
                <a:gd name="T73" fmla="*/ 2733 h 4101"/>
                <a:gd name="T74" fmla="*/ 40 w 5660"/>
                <a:gd name="T75" fmla="*/ 2403 h 4101"/>
                <a:gd name="T76" fmla="*/ 310 w 5660"/>
                <a:gd name="T77" fmla="*/ 2081 h 4101"/>
                <a:gd name="T78" fmla="*/ 877 w 5660"/>
                <a:gd name="T79" fmla="*/ 1816 h 4101"/>
                <a:gd name="T80" fmla="*/ 1471 w 5660"/>
                <a:gd name="T81" fmla="*/ 1677 h 4101"/>
                <a:gd name="T82" fmla="*/ 2121 w 5660"/>
                <a:gd name="T83" fmla="*/ 1584 h 4101"/>
                <a:gd name="T84" fmla="*/ 2605 w 5660"/>
                <a:gd name="T85" fmla="*/ 1541 h 4101"/>
                <a:gd name="T86" fmla="*/ 3126 w 5660"/>
                <a:gd name="T87" fmla="*/ 1510 h 4101"/>
                <a:gd name="T88" fmla="*/ 3420 w 5660"/>
                <a:gd name="T89" fmla="*/ 1433 h 4101"/>
                <a:gd name="T90" fmla="*/ 3483 w 5660"/>
                <a:gd name="T91" fmla="*/ 1359 h 4101"/>
                <a:gd name="T92" fmla="*/ 3421 w 5660"/>
                <a:gd name="T93" fmla="*/ 1273 h 4101"/>
                <a:gd name="T94" fmla="*/ 3172 w 5660"/>
                <a:gd name="T95" fmla="*/ 1181 h 4101"/>
                <a:gd name="T96" fmla="*/ 2849 w 5660"/>
                <a:gd name="T97" fmla="*/ 1116 h 4101"/>
                <a:gd name="T98" fmla="*/ 2193 w 5660"/>
                <a:gd name="T99" fmla="*/ 985 h 4101"/>
                <a:gd name="T100" fmla="*/ 1873 w 5660"/>
                <a:gd name="T101" fmla="*/ 875 h 4101"/>
                <a:gd name="T102" fmla="*/ 1676 w 5660"/>
                <a:gd name="T103" fmla="*/ 762 h 4101"/>
                <a:gd name="T104" fmla="*/ 1607 w 5660"/>
                <a:gd name="T105" fmla="*/ 651 h 4101"/>
                <a:gd name="T106" fmla="*/ 1657 w 5660"/>
                <a:gd name="T107" fmla="*/ 532 h 4101"/>
                <a:gd name="T108" fmla="*/ 1853 w 5660"/>
                <a:gd name="T109" fmla="*/ 412 h 4101"/>
                <a:gd name="T110" fmla="*/ 2167 w 5660"/>
                <a:gd name="T111" fmla="*/ 303 h 4101"/>
                <a:gd name="T112" fmla="*/ 2387 w 5660"/>
                <a:gd name="T113" fmla="*/ 209 h 4101"/>
                <a:gd name="T114" fmla="*/ 2515 w 5660"/>
                <a:gd name="T115" fmla="*/ 114 h 4101"/>
                <a:gd name="T116" fmla="*/ 2577 w 5660"/>
                <a:gd name="T117" fmla="*/ 0 h 4101"/>
                <a:gd name="T118" fmla="*/ 2607 w 5660"/>
                <a:gd name="T119" fmla="*/ 0 h 4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60" h="4101">
                  <a:moveTo>
                    <a:pt x="2607" y="0"/>
                  </a:moveTo>
                  <a:cubicBezTo>
                    <a:pt x="2631" y="101"/>
                    <a:pt x="2594" y="197"/>
                    <a:pt x="2525" y="272"/>
                  </a:cubicBezTo>
                  <a:cubicBezTo>
                    <a:pt x="2451" y="350"/>
                    <a:pt x="2355" y="405"/>
                    <a:pt x="2259" y="452"/>
                  </a:cubicBezTo>
                  <a:cubicBezTo>
                    <a:pt x="2215" y="473"/>
                    <a:pt x="2169" y="491"/>
                    <a:pt x="2126" y="515"/>
                  </a:cubicBezTo>
                  <a:cubicBezTo>
                    <a:pt x="2101" y="529"/>
                    <a:pt x="2071" y="546"/>
                    <a:pt x="2056" y="571"/>
                  </a:cubicBezTo>
                  <a:cubicBezTo>
                    <a:pt x="1997" y="662"/>
                    <a:pt x="2289" y="699"/>
                    <a:pt x="2330" y="705"/>
                  </a:cubicBezTo>
                  <a:cubicBezTo>
                    <a:pt x="2486" y="730"/>
                    <a:pt x="2643" y="744"/>
                    <a:pt x="2799" y="767"/>
                  </a:cubicBezTo>
                  <a:cubicBezTo>
                    <a:pt x="3077" y="806"/>
                    <a:pt x="3352" y="841"/>
                    <a:pt x="3620" y="927"/>
                  </a:cubicBezTo>
                  <a:cubicBezTo>
                    <a:pt x="3838" y="996"/>
                    <a:pt x="4091" y="1118"/>
                    <a:pt x="4202" y="1335"/>
                  </a:cubicBezTo>
                  <a:cubicBezTo>
                    <a:pt x="4280" y="1488"/>
                    <a:pt x="4248" y="1679"/>
                    <a:pt x="4137" y="1809"/>
                  </a:cubicBezTo>
                  <a:cubicBezTo>
                    <a:pt x="4084" y="1871"/>
                    <a:pt x="4012" y="1914"/>
                    <a:pt x="3939" y="1949"/>
                  </a:cubicBezTo>
                  <a:cubicBezTo>
                    <a:pt x="3847" y="1992"/>
                    <a:pt x="3750" y="2022"/>
                    <a:pt x="3652" y="2047"/>
                  </a:cubicBezTo>
                  <a:cubicBezTo>
                    <a:pt x="3437" y="2102"/>
                    <a:pt x="3215" y="2131"/>
                    <a:pt x="2994" y="2153"/>
                  </a:cubicBezTo>
                  <a:cubicBezTo>
                    <a:pt x="2792" y="2174"/>
                    <a:pt x="2589" y="2188"/>
                    <a:pt x="2386" y="2201"/>
                  </a:cubicBezTo>
                  <a:cubicBezTo>
                    <a:pt x="2261" y="2209"/>
                    <a:pt x="2136" y="2217"/>
                    <a:pt x="2011" y="2230"/>
                  </a:cubicBezTo>
                  <a:cubicBezTo>
                    <a:pt x="1902" y="2242"/>
                    <a:pt x="1793" y="2256"/>
                    <a:pt x="1687" y="2284"/>
                  </a:cubicBezTo>
                  <a:cubicBezTo>
                    <a:pt x="1648" y="2294"/>
                    <a:pt x="1609" y="2306"/>
                    <a:pt x="1572" y="2325"/>
                  </a:cubicBezTo>
                  <a:cubicBezTo>
                    <a:pt x="1552" y="2335"/>
                    <a:pt x="1525" y="2348"/>
                    <a:pt x="1514" y="2370"/>
                  </a:cubicBezTo>
                  <a:cubicBezTo>
                    <a:pt x="1493" y="2409"/>
                    <a:pt x="1553" y="2437"/>
                    <a:pt x="1580" y="2449"/>
                  </a:cubicBezTo>
                  <a:cubicBezTo>
                    <a:pt x="1652" y="2480"/>
                    <a:pt x="1731" y="2496"/>
                    <a:pt x="1808" y="2511"/>
                  </a:cubicBezTo>
                  <a:cubicBezTo>
                    <a:pt x="1903" y="2529"/>
                    <a:pt x="1998" y="2543"/>
                    <a:pt x="2094" y="2555"/>
                  </a:cubicBezTo>
                  <a:cubicBezTo>
                    <a:pt x="2219" y="2570"/>
                    <a:pt x="2344" y="2577"/>
                    <a:pt x="2468" y="2592"/>
                  </a:cubicBezTo>
                  <a:cubicBezTo>
                    <a:pt x="2650" y="2614"/>
                    <a:pt x="2831" y="2640"/>
                    <a:pt x="3013" y="2667"/>
                  </a:cubicBezTo>
                  <a:cubicBezTo>
                    <a:pt x="3223" y="2698"/>
                    <a:pt x="3433" y="2731"/>
                    <a:pt x="3643" y="2771"/>
                  </a:cubicBezTo>
                  <a:cubicBezTo>
                    <a:pt x="3771" y="2796"/>
                    <a:pt x="3899" y="2826"/>
                    <a:pt x="4026" y="2859"/>
                  </a:cubicBezTo>
                  <a:cubicBezTo>
                    <a:pt x="4170" y="2896"/>
                    <a:pt x="4313" y="2938"/>
                    <a:pt x="4454" y="2988"/>
                  </a:cubicBezTo>
                  <a:cubicBezTo>
                    <a:pt x="4628" y="3051"/>
                    <a:pt x="4798" y="3126"/>
                    <a:pt x="4958" y="3220"/>
                  </a:cubicBezTo>
                  <a:cubicBezTo>
                    <a:pt x="5122" y="3317"/>
                    <a:pt x="5277" y="3435"/>
                    <a:pt x="5402" y="3580"/>
                  </a:cubicBezTo>
                  <a:cubicBezTo>
                    <a:pt x="5530" y="3730"/>
                    <a:pt x="5622" y="3907"/>
                    <a:pt x="5660" y="4101"/>
                  </a:cubicBezTo>
                  <a:cubicBezTo>
                    <a:pt x="2709" y="4101"/>
                    <a:pt x="2709" y="4101"/>
                    <a:pt x="2709" y="4101"/>
                  </a:cubicBezTo>
                  <a:cubicBezTo>
                    <a:pt x="2703" y="4040"/>
                    <a:pt x="2656" y="3988"/>
                    <a:pt x="2612" y="3949"/>
                  </a:cubicBezTo>
                  <a:cubicBezTo>
                    <a:pt x="2539" y="3885"/>
                    <a:pt x="2450" y="3839"/>
                    <a:pt x="2360" y="3803"/>
                  </a:cubicBezTo>
                  <a:cubicBezTo>
                    <a:pt x="2195" y="3736"/>
                    <a:pt x="2021" y="3687"/>
                    <a:pt x="1850" y="3639"/>
                  </a:cubicBezTo>
                  <a:cubicBezTo>
                    <a:pt x="1663" y="3586"/>
                    <a:pt x="1475" y="3536"/>
                    <a:pt x="1288" y="3484"/>
                  </a:cubicBezTo>
                  <a:cubicBezTo>
                    <a:pt x="1111" y="3434"/>
                    <a:pt x="938" y="3379"/>
                    <a:pt x="766" y="3316"/>
                  </a:cubicBezTo>
                  <a:cubicBezTo>
                    <a:pt x="584" y="3248"/>
                    <a:pt x="408" y="3168"/>
                    <a:pt x="262" y="3038"/>
                  </a:cubicBezTo>
                  <a:cubicBezTo>
                    <a:pt x="168" y="2954"/>
                    <a:pt x="86" y="2852"/>
                    <a:pt x="42" y="2733"/>
                  </a:cubicBezTo>
                  <a:cubicBezTo>
                    <a:pt x="2" y="2627"/>
                    <a:pt x="0" y="2510"/>
                    <a:pt x="40" y="2403"/>
                  </a:cubicBezTo>
                  <a:cubicBezTo>
                    <a:pt x="90" y="2269"/>
                    <a:pt x="195" y="2163"/>
                    <a:pt x="310" y="2081"/>
                  </a:cubicBezTo>
                  <a:cubicBezTo>
                    <a:pt x="480" y="1958"/>
                    <a:pt x="679" y="1878"/>
                    <a:pt x="877" y="1816"/>
                  </a:cubicBezTo>
                  <a:cubicBezTo>
                    <a:pt x="1072" y="1755"/>
                    <a:pt x="1270" y="1712"/>
                    <a:pt x="1471" y="1677"/>
                  </a:cubicBezTo>
                  <a:cubicBezTo>
                    <a:pt x="1686" y="1639"/>
                    <a:pt x="1903" y="1608"/>
                    <a:pt x="2121" y="1584"/>
                  </a:cubicBezTo>
                  <a:cubicBezTo>
                    <a:pt x="2282" y="1566"/>
                    <a:pt x="2443" y="1552"/>
                    <a:pt x="2605" y="1541"/>
                  </a:cubicBezTo>
                  <a:cubicBezTo>
                    <a:pt x="2779" y="1529"/>
                    <a:pt x="2953" y="1527"/>
                    <a:pt x="3126" y="1510"/>
                  </a:cubicBezTo>
                  <a:cubicBezTo>
                    <a:pt x="3226" y="1500"/>
                    <a:pt x="3332" y="1485"/>
                    <a:pt x="3420" y="1433"/>
                  </a:cubicBezTo>
                  <a:cubicBezTo>
                    <a:pt x="3447" y="1417"/>
                    <a:pt x="3479" y="1392"/>
                    <a:pt x="3483" y="1359"/>
                  </a:cubicBezTo>
                  <a:cubicBezTo>
                    <a:pt x="3488" y="1320"/>
                    <a:pt x="3450" y="1291"/>
                    <a:pt x="3421" y="1273"/>
                  </a:cubicBezTo>
                  <a:cubicBezTo>
                    <a:pt x="3346" y="1227"/>
                    <a:pt x="3257" y="1202"/>
                    <a:pt x="3172" y="1181"/>
                  </a:cubicBezTo>
                  <a:cubicBezTo>
                    <a:pt x="3065" y="1155"/>
                    <a:pt x="2957" y="1136"/>
                    <a:pt x="2849" y="1116"/>
                  </a:cubicBezTo>
                  <a:cubicBezTo>
                    <a:pt x="2630" y="1077"/>
                    <a:pt x="2409" y="1040"/>
                    <a:pt x="2193" y="985"/>
                  </a:cubicBezTo>
                  <a:cubicBezTo>
                    <a:pt x="2084" y="956"/>
                    <a:pt x="1977" y="920"/>
                    <a:pt x="1873" y="875"/>
                  </a:cubicBezTo>
                  <a:cubicBezTo>
                    <a:pt x="1804" y="844"/>
                    <a:pt x="1734" y="809"/>
                    <a:pt x="1676" y="762"/>
                  </a:cubicBezTo>
                  <a:cubicBezTo>
                    <a:pt x="1641" y="734"/>
                    <a:pt x="1611" y="697"/>
                    <a:pt x="1607" y="651"/>
                  </a:cubicBezTo>
                  <a:cubicBezTo>
                    <a:pt x="1603" y="605"/>
                    <a:pt x="1627" y="564"/>
                    <a:pt x="1657" y="532"/>
                  </a:cubicBezTo>
                  <a:cubicBezTo>
                    <a:pt x="1710" y="477"/>
                    <a:pt x="1783" y="441"/>
                    <a:pt x="1853" y="412"/>
                  </a:cubicBezTo>
                  <a:cubicBezTo>
                    <a:pt x="1955" y="369"/>
                    <a:pt x="2063" y="340"/>
                    <a:pt x="2167" y="303"/>
                  </a:cubicBezTo>
                  <a:cubicBezTo>
                    <a:pt x="2242" y="276"/>
                    <a:pt x="2317" y="247"/>
                    <a:pt x="2387" y="209"/>
                  </a:cubicBezTo>
                  <a:cubicBezTo>
                    <a:pt x="2434" y="184"/>
                    <a:pt x="2479" y="154"/>
                    <a:pt x="2515" y="114"/>
                  </a:cubicBezTo>
                  <a:cubicBezTo>
                    <a:pt x="2544" y="81"/>
                    <a:pt x="2564" y="42"/>
                    <a:pt x="2577" y="0"/>
                  </a:cubicBezTo>
                  <a:lnTo>
                    <a:pt x="2607" y="0"/>
                  </a:lnTo>
                  <a:close/>
                </a:path>
              </a:pathLst>
            </a:custGeom>
            <a:gradFill>
              <a:gsLst>
                <a:gs pos="0">
                  <a:srgbClr val="3368FF"/>
                </a:gs>
                <a:gs pos="100000">
                  <a:srgbClr val="0042FF"/>
                </a:gs>
              </a:gsLst>
              <a:lin ang="5400000" scaled="0"/>
            </a:gradFill>
            <a:ln w="3175" cap="flat">
              <a:noFill/>
              <a:prstDash val="solid"/>
              <a:miter lim="800000"/>
            </a:ln>
          </p:spPr>
          <p:txBody>
            <a:bodyPr vert="horz" wrap="square" lIns="0" tIns="0" rIns="0" bIns="0" numCol="1" anchor="t" anchorCtr="0" compatLnSpc="1">
              <a:noAutofit/>
            </a:bodyPr>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8" name="Freeform 19"/>
            <p:cNvSpPr/>
            <p:nvPr/>
          </p:nvSpPr>
          <p:spPr bwMode="auto">
            <a:xfrm>
              <a:off x="4883500" y="2724235"/>
              <a:ext cx="4208268" cy="4133131"/>
            </a:xfrm>
            <a:custGeom>
              <a:avLst/>
              <a:gdLst>
                <a:gd name="T0" fmla="*/ 1100 w 4158"/>
                <a:gd name="T1" fmla="*/ 205 h 4100"/>
                <a:gd name="T2" fmla="*/ 852 w 4158"/>
                <a:gd name="T3" fmla="*/ 402 h 4100"/>
                <a:gd name="T4" fmla="*/ 707 w 4158"/>
                <a:gd name="T5" fmla="*/ 472 h 4100"/>
                <a:gd name="T6" fmla="*/ 579 w 4158"/>
                <a:gd name="T7" fmla="*/ 568 h 4100"/>
                <a:gd name="T8" fmla="*/ 575 w 4158"/>
                <a:gd name="T9" fmla="*/ 585 h 4100"/>
                <a:gd name="T10" fmla="*/ 608 w 4158"/>
                <a:gd name="T11" fmla="*/ 650 h 4100"/>
                <a:gd name="T12" fmla="*/ 958 w 4158"/>
                <a:gd name="T13" fmla="*/ 741 h 4100"/>
                <a:gd name="T14" fmla="*/ 1532 w 4158"/>
                <a:gd name="T15" fmla="*/ 823 h 4100"/>
                <a:gd name="T16" fmla="*/ 1960 w 4158"/>
                <a:gd name="T17" fmla="*/ 901 h 4100"/>
                <a:gd name="T18" fmla="*/ 2606 w 4158"/>
                <a:gd name="T19" fmla="*/ 1202 h 4100"/>
                <a:gd name="T20" fmla="*/ 2718 w 4158"/>
                <a:gd name="T21" fmla="*/ 1351 h 4100"/>
                <a:gd name="T22" fmla="*/ 2693 w 4158"/>
                <a:gd name="T23" fmla="*/ 1728 h 4100"/>
                <a:gd name="T24" fmla="*/ 2552 w 4158"/>
                <a:gd name="T25" fmla="*/ 1863 h 4100"/>
                <a:gd name="T26" fmla="*/ 1983 w 4158"/>
                <a:gd name="T27" fmla="*/ 2044 h 4100"/>
                <a:gd name="T28" fmla="*/ 1384 w 4158"/>
                <a:gd name="T29" fmla="*/ 2112 h 4100"/>
                <a:gd name="T30" fmla="*/ 381 w 4158"/>
                <a:gd name="T31" fmla="*/ 2193 h 4100"/>
                <a:gd name="T32" fmla="*/ 111 w 4158"/>
                <a:gd name="T33" fmla="*/ 2263 h 4100"/>
                <a:gd name="T34" fmla="*/ 9 w 4158"/>
                <a:gd name="T35" fmla="*/ 2344 h 4100"/>
                <a:gd name="T36" fmla="*/ 69 w 4158"/>
                <a:gd name="T37" fmla="*/ 2483 h 4100"/>
                <a:gd name="T38" fmla="*/ 503 w 4158"/>
                <a:gd name="T39" fmla="*/ 2596 h 4100"/>
                <a:gd name="T40" fmla="*/ 652 w 4158"/>
                <a:gd name="T41" fmla="*/ 2617 h 4100"/>
                <a:gd name="T42" fmla="*/ 1096 w 4158"/>
                <a:gd name="T43" fmla="*/ 2668 h 4100"/>
                <a:gd name="T44" fmla="*/ 1832 w 4158"/>
                <a:gd name="T45" fmla="*/ 2779 h 4100"/>
                <a:gd name="T46" fmla="*/ 1979 w 4158"/>
                <a:gd name="T47" fmla="*/ 2804 h 4100"/>
                <a:gd name="T48" fmla="*/ 2597 w 4158"/>
                <a:gd name="T49" fmla="*/ 2941 h 4100"/>
                <a:gd name="T50" fmla="*/ 2704 w 4158"/>
                <a:gd name="T51" fmla="*/ 2971 h 4100"/>
                <a:gd name="T52" fmla="*/ 3640 w 4158"/>
                <a:gd name="T53" fmla="*/ 3405 h 4100"/>
                <a:gd name="T54" fmla="*/ 4122 w 4158"/>
                <a:gd name="T55" fmla="*/ 4100 h 4100"/>
                <a:gd name="T56" fmla="*/ 3885 w 4158"/>
                <a:gd name="T57" fmla="*/ 3579 h 4100"/>
                <a:gd name="T58" fmla="*/ 2712 w 4158"/>
                <a:gd name="T59" fmla="*/ 2941 h 4100"/>
                <a:gd name="T60" fmla="*/ 2604 w 4158"/>
                <a:gd name="T61" fmla="*/ 2911 h 4100"/>
                <a:gd name="T62" fmla="*/ 1984 w 4158"/>
                <a:gd name="T63" fmla="*/ 2776 h 4100"/>
                <a:gd name="T64" fmla="*/ 1837 w 4158"/>
                <a:gd name="T65" fmla="*/ 2751 h 4100"/>
                <a:gd name="T66" fmla="*/ 1099 w 4158"/>
                <a:gd name="T67" fmla="*/ 2642 h 4100"/>
                <a:gd name="T68" fmla="*/ 655 w 4158"/>
                <a:gd name="T69" fmla="*/ 2592 h 4100"/>
                <a:gd name="T70" fmla="*/ 508 w 4158"/>
                <a:gd name="T71" fmla="*/ 2572 h 4100"/>
                <a:gd name="T72" fmla="*/ 81 w 4158"/>
                <a:gd name="T73" fmla="*/ 2462 h 4100"/>
                <a:gd name="T74" fmla="*/ 30 w 4158"/>
                <a:gd name="T75" fmla="*/ 2355 h 4100"/>
                <a:gd name="T76" fmla="*/ 98 w 4158"/>
                <a:gd name="T77" fmla="*/ 2294 h 4100"/>
                <a:gd name="T78" fmla="*/ 189 w 4158"/>
                <a:gd name="T79" fmla="*/ 2258 h 4100"/>
                <a:gd name="T80" fmla="*/ 1185 w 4158"/>
                <a:gd name="T81" fmla="*/ 2147 h 4100"/>
                <a:gd name="T82" fmla="*/ 1586 w 4158"/>
                <a:gd name="T83" fmla="*/ 2116 h 4100"/>
                <a:gd name="T84" fmla="*/ 2377 w 4158"/>
                <a:gd name="T85" fmla="*/ 1963 h 4100"/>
                <a:gd name="T86" fmla="*/ 2642 w 4158"/>
                <a:gd name="T87" fmla="*/ 1816 h 4100"/>
                <a:gd name="T88" fmla="*/ 2731 w 4158"/>
                <a:gd name="T89" fmla="*/ 1344 h 4100"/>
                <a:gd name="T90" fmla="*/ 2709 w 4158"/>
                <a:gd name="T91" fmla="*/ 1305 h 4100"/>
                <a:gd name="T92" fmla="*/ 2616 w 4158"/>
                <a:gd name="T93" fmla="*/ 1192 h 4100"/>
                <a:gd name="T94" fmla="*/ 1962 w 4158"/>
                <a:gd name="T95" fmla="*/ 889 h 4100"/>
                <a:gd name="T96" fmla="*/ 1534 w 4158"/>
                <a:gd name="T97" fmla="*/ 812 h 4100"/>
                <a:gd name="T98" fmla="*/ 960 w 4158"/>
                <a:gd name="T99" fmla="*/ 732 h 4100"/>
                <a:gd name="T100" fmla="*/ 613 w 4158"/>
                <a:gd name="T101" fmla="*/ 643 h 4100"/>
                <a:gd name="T102" fmla="*/ 583 w 4158"/>
                <a:gd name="T103" fmla="*/ 586 h 4100"/>
                <a:gd name="T104" fmla="*/ 587 w 4158"/>
                <a:gd name="T105" fmla="*/ 571 h 4100"/>
                <a:gd name="T106" fmla="*/ 711 w 4158"/>
                <a:gd name="T107" fmla="*/ 479 h 4100"/>
                <a:gd name="T108" fmla="*/ 856 w 4158"/>
                <a:gd name="T109" fmla="*/ 408 h 4100"/>
                <a:gd name="T110" fmla="*/ 1035 w 4158"/>
                <a:gd name="T111" fmla="*/ 289 h 4100"/>
                <a:gd name="T112" fmla="*/ 1145 w 4158"/>
                <a:gd name="T113" fmla="*/ 0 h 4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8" h="4100">
                  <a:moveTo>
                    <a:pt x="1139" y="2"/>
                  </a:moveTo>
                  <a:cubicBezTo>
                    <a:pt x="1147" y="36"/>
                    <a:pt x="1148" y="72"/>
                    <a:pt x="1141" y="107"/>
                  </a:cubicBezTo>
                  <a:cubicBezTo>
                    <a:pt x="1134" y="142"/>
                    <a:pt x="1119" y="175"/>
                    <a:pt x="1100" y="205"/>
                  </a:cubicBezTo>
                  <a:cubicBezTo>
                    <a:pt x="1061" y="264"/>
                    <a:pt x="1005" y="310"/>
                    <a:pt x="945" y="349"/>
                  </a:cubicBezTo>
                  <a:cubicBezTo>
                    <a:pt x="930" y="358"/>
                    <a:pt x="915" y="368"/>
                    <a:pt x="900" y="377"/>
                  </a:cubicBezTo>
                  <a:cubicBezTo>
                    <a:pt x="884" y="386"/>
                    <a:pt x="868" y="393"/>
                    <a:pt x="852" y="402"/>
                  </a:cubicBezTo>
                  <a:cubicBezTo>
                    <a:pt x="805" y="426"/>
                    <a:pt x="805" y="426"/>
                    <a:pt x="805" y="426"/>
                  </a:cubicBezTo>
                  <a:cubicBezTo>
                    <a:pt x="756" y="449"/>
                    <a:pt x="756" y="449"/>
                    <a:pt x="756" y="449"/>
                  </a:cubicBezTo>
                  <a:cubicBezTo>
                    <a:pt x="740" y="456"/>
                    <a:pt x="723" y="463"/>
                    <a:pt x="707" y="472"/>
                  </a:cubicBezTo>
                  <a:cubicBezTo>
                    <a:pt x="660" y="496"/>
                    <a:pt x="660" y="496"/>
                    <a:pt x="660" y="496"/>
                  </a:cubicBezTo>
                  <a:cubicBezTo>
                    <a:pt x="644" y="504"/>
                    <a:pt x="628" y="513"/>
                    <a:pt x="614" y="525"/>
                  </a:cubicBezTo>
                  <a:cubicBezTo>
                    <a:pt x="599" y="537"/>
                    <a:pt x="587" y="551"/>
                    <a:pt x="579" y="568"/>
                  </a:cubicBezTo>
                  <a:cubicBezTo>
                    <a:pt x="579" y="568"/>
                    <a:pt x="579" y="568"/>
                    <a:pt x="579" y="568"/>
                  </a:cubicBezTo>
                  <a:cubicBezTo>
                    <a:pt x="579" y="568"/>
                    <a:pt x="579" y="568"/>
                    <a:pt x="579" y="568"/>
                  </a:cubicBezTo>
                  <a:cubicBezTo>
                    <a:pt x="578" y="573"/>
                    <a:pt x="575" y="579"/>
                    <a:pt x="575" y="585"/>
                  </a:cubicBezTo>
                  <a:cubicBezTo>
                    <a:pt x="575" y="585"/>
                    <a:pt x="575" y="585"/>
                    <a:pt x="575" y="585"/>
                  </a:cubicBezTo>
                  <a:cubicBezTo>
                    <a:pt x="573" y="598"/>
                    <a:pt x="576" y="611"/>
                    <a:pt x="583" y="622"/>
                  </a:cubicBezTo>
                  <a:cubicBezTo>
                    <a:pt x="589" y="634"/>
                    <a:pt x="598" y="643"/>
                    <a:pt x="608" y="650"/>
                  </a:cubicBezTo>
                  <a:cubicBezTo>
                    <a:pt x="628" y="665"/>
                    <a:pt x="651" y="675"/>
                    <a:pt x="674" y="683"/>
                  </a:cubicBezTo>
                  <a:cubicBezTo>
                    <a:pt x="720" y="700"/>
                    <a:pt x="767" y="710"/>
                    <a:pt x="815" y="719"/>
                  </a:cubicBezTo>
                  <a:cubicBezTo>
                    <a:pt x="863" y="727"/>
                    <a:pt x="910" y="735"/>
                    <a:pt x="958" y="741"/>
                  </a:cubicBezTo>
                  <a:cubicBezTo>
                    <a:pt x="1102" y="761"/>
                    <a:pt x="1102" y="761"/>
                    <a:pt x="1102" y="761"/>
                  </a:cubicBezTo>
                  <a:cubicBezTo>
                    <a:pt x="1389" y="800"/>
                    <a:pt x="1389" y="800"/>
                    <a:pt x="1389" y="800"/>
                  </a:cubicBezTo>
                  <a:cubicBezTo>
                    <a:pt x="1437" y="806"/>
                    <a:pt x="1485" y="815"/>
                    <a:pt x="1532" y="823"/>
                  </a:cubicBezTo>
                  <a:cubicBezTo>
                    <a:pt x="1676" y="846"/>
                    <a:pt x="1676" y="846"/>
                    <a:pt x="1676" y="846"/>
                  </a:cubicBezTo>
                  <a:cubicBezTo>
                    <a:pt x="1723" y="854"/>
                    <a:pt x="1771" y="861"/>
                    <a:pt x="1818" y="870"/>
                  </a:cubicBezTo>
                  <a:cubicBezTo>
                    <a:pt x="1866" y="880"/>
                    <a:pt x="1913" y="890"/>
                    <a:pt x="1960" y="901"/>
                  </a:cubicBezTo>
                  <a:cubicBezTo>
                    <a:pt x="2053" y="924"/>
                    <a:pt x="2146" y="950"/>
                    <a:pt x="2236" y="984"/>
                  </a:cubicBezTo>
                  <a:cubicBezTo>
                    <a:pt x="2326" y="1018"/>
                    <a:pt x="2414" y="1059"/>
                    <a:pt x="2494" y="1113"/>
                  </a:cubicBezTo>
                  <a:cubicBezTo>
                    <a:pt x="2534" y="1139"/>
                    <a:pt x="2572" y="1169"/>
                    <a:pt x="2606" y="1202"/>
                  </a:cubicBezTo>
                  <a:cubicBezTo>
                    <a:pt x="2641" y="1235"/>
                    <a:pt x="2671" y="1273"/>
                    <a:pt x="2697" y="1313"/>
                  </a:cubicBezTo>
                  <a:cubicBezTo>
                    <a:pt x="2696" y="1313"/>
                    <a:pt x="2696" y="1313"/>
                    <a:pt x="2696" y="1313"/>
                  </a:cubicBezTo>
                  <a:cubicBezTo>
                    <a:pt x="2718" y="1351"/>
                    <a:pt x="2718" y="1351"/>
                    <a:pt x="2718" y="1351"/>
                  </a:cubicBezTo>
                  <a:cubicBezTo>
                    <a:pt x="2718" y="1350"/>
                    <a:pt x="2718" y="1350"/>
                    <a:pt x="2718" y="1350"/>
                  </a:cubicBezTo>
                  <a:cubicBezTo>
                    <a:pt x="2747" y="1410"/>
                    <a:pt x="2759" y="1476"/>
                    <a:pt x="2754" y="1542"/>
                  </a:cubicBezTo>
                  <a:cubicBezTo>
                    <a:pt x="2749" y="1607"/>
                    <a:pt x="2727" y="1672"/>
                    <a:pt x="2693" y="1728"/>
                  </a:cubicBezTo>
                  <a:cubicBezTo>
                    <a:pt x="2675" y="1756"/>
                    <a:pt x="2655" y="1782"/>
                    <a:pt x="2631" y="1804"/>
                  </a:cubicBezTo>
                  <a:cubicBezTo>
                    <a:pt x="2619" y="1816"/>
                    <a:pt x="2606" y="1826"/>
                    <a:pt x="2594" y="1836"/>
                  </a:cubicBezTo>
                  <a:cubicBezTo>
                    <a:pt x="2580" y="1845"/>
                    <a:pt x="2566" y="1855"/>
                    <a:pt x="2552" y="1863"/>
                  </a:cubicBezTo>
                  <a:cubicBezTo>
                    <a:pt x="2495" y="1898"/>
                    <a:pt x="2434" y="1924"/>
                    <a:pt x="2371" y="1947"/>
                  </a:cubicBezTo>
                  <a:cubicBezTo>
                    <a:pt x="2308" y="1969"/>
                    <a:pt x="2244" y="1987"/>
                    <a:pt x="2179" y="2003"/>
                  </a:cubicBezTo>
                  <a:cubicBezTo>
                    <a:pt x="2114" y="2019"/>
                    <a:pt x="2048" y="2032"/>
                    <a:pt x="1983" y="2044"/>
                  </a:cubicBezTo>
                  <a:cubicBezTo>
                    <a:pt x="1851" y="2067"/>
                    <a:pt x="1718" y="2083"/>
                    <a:pt x="1585" y="2097"/>
                  </a:cubicBezTo>
                  <a:cubicBezTo>
                    <a:pt x="1551" y="2100"/>
                    <a:pt x="1518" y="2103"/>
                    <a:pt x="1485" y="2105"/>
                  </a:cubicBezTo>
                  <a:cubicBezTo>
                    <a:pt x="1384" y="2112"/>
                    <a:pt x="1384" y="2112"/>
                    <a:pt x="1384" y="2112"/>
                  </a:cubicBezTo>
                  <a:cubicBezTo>
                    <a:pt x="1184" y="2127"/>
                    <a:pt x="1184" y="2127"/>
                    <a:pt x="1184" y="2127"/>
                  </a:cubicBezTo>
                  <a:cubicBezTo>
                    <a:pt x="782" y="2156"/>
                    <a:pt x="782" y="2156"/>
                    <a:pt x="782" y="2156"/>
                  </a:cubicBezTo>
                  <a:cubicBezTo>
                    <a:pt x="649" y="2165"/>
                    <a:pt x="514" y="2172"/>
                    <a:pt x="381" y="2193"/>
                  </a:cubicBezTo>
                  <a:cubicBezTo>
                    <a:pt x="314" y="2203"/>
                    <a:pt x="248" y="2217"/>
                    <a:pt x="183" y="2236"/>
                  </a:cubicBezTo>
                  <a:cubicBezTo>
                    <a:pt x="165" y="2241"/>
                    <a:pt x="151" y="2247"/>
                    <a:pt x="135" y="2253"/>
                  </a:cubicBezTo>
                  <a:cubicBezTo>
                    <a:pt x="125" y="2256"/>
                    <a:pt x="119" y="2259"/>
                    <a:pt x="111" y="2263"/>
                  </a:cubicBezTo>
                  <a:cubicBezTo>
                    <a:pt x="102" y="2266"/>
                    <a:pt x="95" y="2270"/>
                    <a:pt x="88" y="2274"/>
                  </a:cubicBezTo>
                  <a:cubicBezTo>
                    <a:pt x="57" y="2289"/>
                    <a:pt x="25" y="2310"/>
                    <a:pt x="9" y="2345"/>
                  </a:cubicBezTo>
                  <a:cubicBezTo>
                    <a:pt x="9" y="2344"/>
                    <a:pt x="9" y="2344"/>
                    <a:pt x="9" y="2344"/>
                  </a:cubicBezTo>
                  <a:cubicBezTo>
                    <a:pt x="2" y="2358"/>
                    <a:pt x="0" y="2372"/>
                    <a:pt x="0" y="2386"/>
                  </a:cubicBezTo>
                  <a:cubicBezTo>
                    <a:pt x="1" y="2401"/>
                    <a:pt x="5" y="2415"/>
                    <a:pt x="11" y="2427"/>
                  </a:cubicBezTo>
                  <a:cubicBezTo>
                    <a:pt x="24" y="2452"/>
                    <a:pt x="46" y="2470"/>
                    <a:pt x="69" y="2483"/>
                  </a:cubicBezTo>
                  <a:cubicBezTo>
                    <a:pt x="114" y="2508"/>
                    <a:pt x="161" y="2524"/>
                    <a:pt x="210" y="2538"/>
                  </a:cubicBezTo>
                  <a:cubicBezTo>
                    <a:pt x="258" y="2552"/>
                    <a:pt x="307" y="2562"/>
                    <a:pt x="356" y="2571"/>
                  </a:cubicBezTo>
                  <a:cubicBezTo>
                    <a:pt x="406" y="2581"/>
                    <a:pt x="454" y="2588"/>
                    <a:pt x="503" y="2596"/>
                  </a:cubicBezTo>
                  <a:cubicBezTo>
                    <a:pt x="540" y="2603"/>
                    <a:pt x="540" y="2603"/>
                    <a:pt x="540" y="2603"/>
                  </a:cubicBezTo>
                  <a:cubicBezTo>
                    <a:pt x="554" y="2605"/>
                    <a:pt x="565" y="2606"/>
                    <a:pt x="578" y="2608"/>
                  </a:cubicBezTo>
                  <a:cubicBezTo>
                    <a:pt x="652" y="2617"/>
                    <a:pt x="652" y="2617"/>
                    <a:pt x="652" y="2617"/>
                  </a:cubicBezTo>
                  <a:cubicBezTo>
                    <a:pt x="726" y="2626"/>
                    <a:pt x="726" y="2626"/>
                    <a:pt x="726" y="2626"/>
                  </a:cubicBezTo>
                  <a:cubicBezTo>
                    <a:pt x="800" y="2633"/>
                    <a:pt x="800" y="2633"/>
                    <a:pt x="800" y="2633"/>
                  </a:cubicBezTo>
                  <a:cubicBezTo>
                    <a:pt x="899" y="2643"/>
                    <a:pt x="997" y="2652"/>
                    <a:pt x="1096" y="2668"/>
                  </a:cubicBezTo>
                  <a:cubicBezTo>
                    <a:pt x="1391" y="2710"/>
                    <a:pt x="1391" y="2710"/>
                    <a:pt x="1391" y="2710"/>
                  </a:cubicBezTo>
                  <a:cubicBezTo>
                    <a:pt x="1489" y="2725"/>
                    <a:pt x="1587" y="2738"/>
                    <a:pt x="1685" y="2755"/>
                  </a:cubicBezTo>
                  <a:cubicBezTo>
                    <a:pt x="1832" y="2779"/>
                    <a:pt x="1832" y="2779"/>
                    <a:pt x="1832" y="2779"/>
                  </a:cubicBezTo>
                  <a:cubicBezTo>
                    <a:pt x="1906" y="2791"/>
                    <a:pt x="1906" y="2791"/>
                    <a:pt x="1906" y="2791"/>
                  </a:cubicBezTo>
                  <a:cubicBezTo>
                    <a:pt x="1918" y="2793"/>
                    <a:pt x="1931" y="2795"/>
                    <a:pt x="1942" y="2797"/>
                  </a:cubicBezTo>
                  <a:cubicBezTo>
                    <a:pt x="1979" y="2804"/>
                    <a:pt x="1979" y="2804"/>
                    <a:pt x="1979" y="2804"/>
                  </a:cubicBezTo>
                  <a:cubicBezTo>
                    <a:pt x="2272" y="2861"/>
                    <a:pt x="2272" y="2861"/>
                    <a:pt x="2272" y="2861"/>
                  </a:cubicBezTo>
                  <a:cubicBezTo>
                    <a:pt x="2561" y="2932"/>
                    <a:pt x="2561" y="2932"/>
                    <a:pt x="2561" y="2932"/>
                  </a:cubicBezTo>
                  <a:cubicBezTo>
                    <a:pt x="2597" y="2941"/>
                    <a:pt x="2597" y="2941"/>
                    <a:pt x="2597" y="2941"/>
                  </a:cubicBezTo>
                  <a:cubicBezTo>
                    <a:pt x="2614" y="2945"/>
                    <a:pt x="2614" y="2945"/>
                    <a:pt x="2614" y="2945"/>
                  </a:cubicBezTo>
                  <a:cubicBezTo>
                    <a:pt x="2632" y="2950"/>
                    <a:pt x="2632" y="2950"/>
                    <a:pt x="2632" y="2950"/>
                  </a:cubicBezTo>
                  <a:cubicBezTo>
                    <a:pt x="2704" y="2971"/>
                    <a:pt x="2704" y="2971"/>
                    <a:pt x="2704" y="2971"/>
                  </a:cubicBezTo>
                  <a:cubicBezTo>
                    <a:pt x="2751" y="2985"/>
                    <a:pt x="2799" y="2999"/>
                    <a:pt x="2846" y="3015"/>
                  </a:cubicBezTo>
                  <a:cubicBezTo>
                    <a:pt x="3034" y="3077"/>
                    <a:pt x="3218" y="3151"/>
                    <a:pt x="3391" y="3246"/>
                  </a:cubicBezTo>
                  <a:cubicBezTo>
                    <a:pt x="3478" y="3293"/>
                    <a:pt x="3562" y="3346"/>
                    <a:pt x="3640" y="3405"/>
                  </a:cubicBezTo>
                  <a:cubicBezTo>
                    <a:pt x="3719" y="3464"/>
                    <a:pt x="3793" y="3530"/>
                    <a:pt x="3859" y="3602"/>
                  </a:cubicBezTo>
                  <a:cubicBezTo>
                    <a:pt x="3925" y="3675"/>
                    <a:pt x="3982" y="3755"/>
                    <a:pt x="4027" y="3842"/>
                  </a:cubicBezTo>
                  <a:cubicBezTo>
                    <a:pt x="4072" y="3929"/>
                    <a:pt x="4104" y="4004"/>
                    <a:pt x="4122" y="4100"/>
                  </a:cubicBezTo>
                  <a:cubicBezTo>
                    <a:pt x="4158" y="4100"/>
                    <a:pt x="4158" y="4100"/>
                    <a:pt x="4158" y="4100"/>
                  </a:cubicBezTo>
                  <a:cubicBezTo>
                    <a:pt x="4139" y="4002"/>
                    <a:pt x="4104" y="3915"/>
                    <a:pt x="4058" y="3826"/>
                  </a:cubicBezTo>
                  <a:cubicBezTo>
                    <a:pt x="4011" y="3736"/>
                    <a:pt x="3952" y="3654"/>
                    <a:pt x="3885" y="3579"/>
                  </a:cubicBezTo>
                  <a:cubicBezTo>
                    <a:pt x="3749" y="3430"/>
                    <a:pt x="3582" y="3313"/>
                    <a:pt x="3407" y="3217"/>
                  </a:cubicBezTo>
                  <a:cubicBezTo>
                    <a:pt x="3231" y="3121"/>
                    <a:pt x="3045" y="3047"/>
                    <a:pt x="2855" y="2985"/>
                  </a:cubicBezTo>
                  <a:cubicBezTo>
                    <a:pt x="2808" y="2970"/>
                    <a:pt x="2760" y="2955"/>
                    <a:pt x="2712" y="2941"/>
                  </a:cubicBezTo>
                  <a:cubicBezTo>
                    <a:pt x="2640" y="2921"/>
                    <a:pt x="2640" y="2921"/>
                    <a:pt x="2640" y="2921"/>
                  </a:cubicBezTo>
                  <a:cubicBezTo>
                    <a:pt x="2622" y="2916"/>
                    <a:pt x="2622" y="2916"/>
                    <a:pt x="2622" y="2916"/>
                  </a:cubicBezTo>
                  <a:cubicBezTo>
                    <a:pt x="2604" y="2911"/>
                    <a:pt x="2604" y="2911"/>
                    <a:pt x="2604" y="2911"/>
                  </a:cubicBezTo>
                  <a:cubicBezTo>
                    <a:pt x="2568" y="2902"/>
                    <a:pt x="2568" y="2902"/>
                    <a:pt x="2568" y="2902"/>
                  </a:cubicBezTo>
                  <a:cubicBezTo>
                    <a:pt x="2277" y="2832"/>
                    <a:pt x="2277" y="2832"/>
                    <a:pt x="2277" y="2832"/>
                  </a:cubicBezTo>
                  <a:cubicBezTo>
                    <a:pt x="1984" y="2776"/>
                    <a:pt x="1984" y="2776"/>
                    <a:pt x="1984" y="2776"/>
                  </a:cubicBezTo>
                  <a:cubicBezTo>
                    <a:pt x="1948" y="2769"/>
                    <a:pt x="1948" y="2769"/>
                    <a:pt x="1948" y="2769"/>
                  </a:cubicBezTo>
                  <a:cubicBezTo>
                    <a:pt x="1935" y="2767"/>
                    <a:pt x="1923" y="2765"/>
                    <a:pt x="1911" y="2763"/>
                  </a:cubicBezTo>
                  <a:cubicBezTo>
                    <a:pt x="1837" y="2751"/>
                    <a:pt x="1837" y="2751"/>
                    <a:pt x="1837" y="2751"/>
                  </a:cubicBezTo>
                  <a:cubicBezTo>
                    <a:pt x="1690" y="2727"/>
                    <a:pt x="1690" y="2727"/>
                    <a:pt x="1690" y="2727"/>
                  </a:cubicBezTo>
                  <a:cubicBezTo>
                    <a:pt x="1592" y="2711"/>
                    <a:pt x="1493" y="2698"/>
                    <a:pt x="1395" y="2683"/>
                  </a:cubicBezTo>
                  <a:cubicBezTo>
                    <a:pt x="1099" y="2642"/>
                    <a:pt x="1099" y="2642"/>
                    <a:pt x="1099" y="2642"/>
                  </a:cubicBezTo>
                  <a:cubicBezTo>
                    <a:pt x="1001" y="2627"/>
                    <a:pt x="901" y="2617"/>
                    <a:pt x="803" y="2608"/>
                  </a:cubicBezTo>
                  <a:cubicBezTo>
                    <a:pt x="728" y="2601"/>
                    <a:pt x="728" y="2601"/>
                    <a:pt x="728" y="2601"/>
                  </a:cubicBezTo>
                  <a:cubicBezTo>
                    <a:pt x="655" y="2592"/>
                    <a:pt x="655" y="2592"/>
                    <a:pt x="655" y="2592"/>
                  </a:cubicBezTo>
                  <a:cubicBezTo>
                    <a:pt x="581" y="2583"/>
                    <a:pt x="581" y="2583"/>
                    <a:pt x="581" y="2583"/>
                  </a:cubicBezTo>
                  <a:cubicBezTo>
                    <a:pt x="569" y="2581"/>
                    <a:pt x="556" y="2580"/>
                    <a:pt x="544" y="2578"/>
                  </a:cubicBezTo>
                  <a:cubicBezTo>
                    <a:pt x="508" y="2572"/>
                    <a:pt x="508" y="2572"/>
                    <a:pt x="508" y="2572"/>
                  </a:cubicBezTo>
                  <a:cubicBezTo>
                    <a:pt x="459" y="2564"/>
                    <a:pt x="409" y="2556"/>
                    <a:pt x="361" y="2547"/>
                  </a:cubicBezTo>
                  <a:cubicBezTo>
                    <a:pt x="312" y="2538"/>
                    <a:pt x="264" y="2528"/>
                    <a:pt x="216" y="2515"/>
                  </a:cubicBezTo>
                  <a:cubicBezTo>
                    <a:pt x="169" y="2502"/>
                    <a:pt x="122" y="2486"/>
                    <a:pt x="81" y="2462"/>
                  </a:cubicBezTo>
                  <a:cubicBezTo>
                    <a:pt x="60" y="2451"/>
                    <a:pt x="42" y="2436"/>
                    <a:pt x="32" y="2416"/>
                  </a:cubicBezTo>
                  <a:cubicBezTo>
                    <a:pt x="27" y="2407"/>
                    <a:pt x="24" y="2396"/>
                    <a:pt x="24" y="2386"/>
                  </a:cubicBezTo>
                  <a:cubicBezTo>
                    <a:pt x="23" y="2375"/>
                    <a:pt x="25" y="2364"/>
                    <a:pt x="30" y="2355"/>
                  </a:cubicBezTo>
                  <a:cubicBezTo>
                    <a:pt x="30" y="2355"/>
                    <a:pt x="30" y="2355"/>
                    <a:pt x="30" y="2355"/>
                  </a:cubicBezTo>
                  <a:cubicBezTo>
                    <a:pt x="30" y="2355"/>
                    <a:pt x="30" y="2355"/>
                    <a:pt x="30" y="2355"/>
                  </a:cubicBezTo>
                  <a:cubicBezTo>
                    <a:pt x="42" y="2328"/>
                    <a:pt x="69" y="2308"/>
                    <a:pt x="98" y="2294"/>
                  </a:cubicBezTo>
                  <a:cubicBezTo>
                    <a:pt x="105" y="2291"/>
                    <a:pt x="113" y="2286"/>
                    <a:pt x="120" y="2284"/>
                  </a:cubicBezTo>
                  <a:cubicBezTo>
                    <a:pt x="127" y="2280"/>
                    <a:pt x="136" y="2276"/>
                    <a:pt x="143" y="2274"/>
                  </a:cubicBezTo>
                  <a:cubicBezTo>
                    <a:pt x="158" y="2269"/>
                    <a:pt x="175" y="2262"/>
                    <a:pt x="189" y="2258"/>
                  </a:cubicBezTo>
                  <a:cubicBezTo>
                    <a:pt x="254" y="2239"/>
                    <a:pt x="318" y="2225"/>
                    <a:pt x="384" y="2215"/>
                  </a:cubicBezTo>
                  <a:cubicBezTo>
                    <a:pt x="516" y="2194"/>
                    <a:pt x="650" y="2186"/>
                    <a:pt x="784" y="2177"/>
                  </a:cubicBezTo>
                  <a:cubicBezTo>
                    <a:pt x="1185" y="2147"/>
                    <a:pt x="1185" y="2147"/>
                    <a:pt x="1185" y="2147"/>
                  </a:cubicBezTo>
                  <a:cubicBezTo>
                    <a:pt x="1386" y="2132"/>
                    <a:pt x="1386" y="2132"/>
                    <a:pt x="1386" y="2132"/>
                  </a:cubicBezTo>
                  <a:cubicBezTo>
                    <a:pt x="1486" y="2124"/>
                    <a:pt x="1486" y="2124"/>
                    <a:pt x="1486" y="2124"/>
                  </a:cubicBezTo>
                  <a:cubicBezTo>
                    <a:pt x="1519" y="2122"/>
                    <a:pt x="1553" y="2119"/>
                    <a:pt x="1586" y="2116"/>
                  </a:cubicBezTo>
                  <a:cubicBezTo>
                    <a:pt x="1720" y="2102"/>
                    <a:pt x="1853" y="2085"/>
                    <a:pt x="1986" y="2062"/>
                  </a:cubicBezTo>
                  <a:cubicBezTo>
                    <a:pt x="2052" y="2050"/>
                    <a:pt x="2118" y="2036"/>
                    <a:pt x="2183" y="2020"/>
                  </a:cubicBezTo>
                  <a:cubicBezTo>
                    <a:pt x="2248" y="2004"/>
                    <a:pt x="2313" y="1986"/>
                    <a:pt x="2377" y="1963"/>
                  </a:cubicBezTo>
                  <a:cubicBezTo>
                    <a:pt x="2440" y="1940"/>
                    <a:pt x="2502" y="1913"/>
                    <a:pt x="2561" y="1877"/>
                  </a:cubicBezTo>
                  <a:cubicBezTo>
                    <a:pt x="2575" y="1868"/>
                    <a:pt x="2589" y="1859"/>
                    <a:pt x="2603" y="1849"/>
                  </a:cubicBezTo>
                  <a:cubicBezTo>
                    <a:pt x="2617" y="1839"/>
                    <a:pt x="2630" y="1828"/>
                    <a:pt x="2642" y="1816"/>
                  </a:cubicBezTo>
                  <a:cubicBezTo>
                    <a:pt x="2667" y="1792"/>
                    <a:pt x="2688" y="1765"/>
                    <a:pt x="2706" y="1736"/>
                  </a:cubicBezTo>
                  <a:cubicBezTo>
                    <a:pt x="2742" y="1678"/>
                    <a:pt x="2764" y="1611"/>
                    <a:pt x="2769" y="1543"/>
                  </a:cubicBezTo>
                  <a:cubicBezTo>
                    <a:pt x="2774" y="1475"/>
                    <a:pt x="2761" y="1405"/>
                    <a:pt x="2731" y="1344"/>
                  </a:cubicBezTo>
                  <a:cubicBezTo>
                    <a:pt x="2731" y="1344"/>
                    <a:pt x="2731" y="1344"/>
                    <a:pt x="2731" y="1344"/>
                  </a:cubicBezTo>
                  <a:cubicBezTo>
                    <a:pt x="2731" y="1344"/>
                    <a:pt x="2731" y="1344"/>
                    <a:pt x="2731" y="1344"/>
                  </a:cubicBezTo>
                  <a:cubicBezTo>
                    <a:pt x="2709" y="1305"/>
                    <a:pt x="2709" y="1305"/>
                    <a:pt x="2709" y="1305"/>
                  </a:cubicBezTo>
                  <a:cubicBezTo>
                    <a:pt x="2709" y="1305"/>
                    <a:pt x="2709" y="1305"/>
                    <a:pt x="2709" y="1305"/>
                  </a:cubicBezTo>
                  <a:cubicBezTo>
                    <a:pt x="2709" y="1305"/>
                    <a:pt x="2709" y="1305"/>
                    <a:pt x="2709" y="1305"/>
                  </a:cubicBezTo>
                  <a:cubicBezTo>
                    <a:pt x="2682" y="1264"/>
                    <a:pt x="2651" y="1226"/>
                    <a:pt x="2616" y="1192"/>
                  </a:cubicBezTo>
                  <a:cubicBezTo>
                    <a:pt x="2581" y="1158"/>
                    <a:pt x="2542" y="1128"/>
                    <a:pt x="2502" y="1101"/>
                  </a:cubicBezTo>
                  <a:cubicBezTo>
                    <a:pt x="2420" y="1047"/>
                    <a:pt x="2332" y="1006"/>
                    <a:pt x="2241" y="972"/>
                  </a:cubicBezTo>
                  <a:cubicBezTo>
                    <a:pt x="2150" y="938"/>
                    <a:pt x="2057" y="912"/>
                    <a:pt x="1962" y="889"/>
                  </a:cubicBezTo>
                  <a:cubicBezTo>
                    <a:pt x="1915" y="878"/>
                    <a:pt x="1868" y="868"/>
                    <a:pt x="1821" y="859"/>
                  </a:cubicBezTo>
                  <a:cubicBezTo>
                    <a:pt x="1773" y="849"/>
                    <a:pt x="1725" y="842"/>
                    <a:pt x="1677" y="835"/>
                  </a:cubicBezTo>
                  <a:cubicBezTo>
                    <a:pt x="1534" y="812"/>
                    <a:pt x="1534" y="812"/>
                    <a:pt x="1534" y="812"/>
                  </a:cubicBezTo>
                  <a:cubicBezTo>
                    <a:pt x="1487" y="804"/>
                    <a:pt x="1439" y="796"/>
                    <a:pt x="1391" y="790"/>
                  </a:cubicBezTo>
                  <a:cubicBezTo>
                    <a:pt x="1103" y="751"/>
                    <a:pt x="1103" y="751"/>
                    <a:pt x="1103" y="751"/>
                  </a:cubicBezTo>
                  <a:cubicBezTo>
                    <a:pt x="960" y="732"/>
                    <a:pt x="960" y="732"/>
                    <a:pt x="960" y="732"/>
                  </a:cubicBezTo>
                  <a:cubicBezTo>
                    <a:pt x="912" y="725"/>
                    <a:pt x="864" y="718"/>
                    <a:pt x="817" y="710"/>
                  </a:cubicBezTo>
                  <a:cubicBezTo>
                    <a:pt x="769" y="702"/>
                    <a:pt x="722" y="691"/>
                    <a:pt x="677" y="675"/>
                  </a:cubicBezTo>
                  <a:cubicBezTo>
                    <a:pt x="654" y="667"/>
                    <a:pt x="632" y="658"/>
                    <a:pt x="613" y="643"/>
                  </a:cubicBezTo>
                  <a:cubicBezTo>
                    <a:pt x="604" y="636"/>
                    <a:pt x="596" y="628"/>
                    <a:pt x="590" y="618"/>
                  </a:cubicBezTo>
                  <a:cubicBezTo>
                    <a:pt x="585" y="609"/>
                    <a:pt x="581" y="597"/>
                    <a:pt x="583" y="586"/>
                  </a:cubicBezTo>
                  <a:cubicBezTo>
                    <a:pt x="583" y="586"/>
                    <a:pt x="583" y="586"/>
                    <a:pt x="583" y="586"/>
                  </a:cubicBezTo>
                  <a:cubicBezTo>
                    <a:pt x="583" y="586"/>
                    <a:pt x="583" y="586"/>
                    <a:pt x="583" y="586"/>
                  </a:cubicBezTo>
                  <a:cubicBezTo>
                    <a:pt x="583" y="581"/>
                    <a:pt x="585" y="577"/>
                    <a:pt x="587" y="571"/>
                  </a:cubicBezTo>
                  <a:cubicBezTo>
                    <a:pt x="587" y="571"/>
                    <a:pt x="587" y="571"/>
                    <a:pt x="587" y="571"/>
                  </a:cubicBezTo>
                  <a:cubicBezTo>
                    <a:pt x="594" y="555"/>
                    <a:pt x="606" y="542"/>
                    <a:pt x="619" y="531"/>
                  </a:cubicBezTo>
                  <a:cubicBezTo>
                    <a:pt x="632" y="520"/>
                    <a:pt x="647" y="511"/>
                    <a:pt x="663" y="503"/>
                  </a:cubicBezTo>
                  <a:cubicBezTo>
                    <a:pt x="711" y="479"/>
                    <a:pt x="711" y="479"/>
                    <a:pt x="711" y="479"/>
                  </a:cubicBezTo>
                  <a:cubicBezTo>
                    <a:pt x="727" y="470"/>
                    <a:pt x="743" y="463"/>
                    <a:pt x="759" y="456"/>
                  </a:cubicBezTo>
                  <a:cubicBezTo>
                    <a:pt x="808" y="433"/>
                    <a:pt x="808" y="433"/>
                    <a:pt x="808" y="433"/>
                  </a:cubicBezTo>
                  <a:cubicBezTo>
                    <a:pt x="856" y="408"/>
                    <a:pt x="856" y="408"/>
                    <a:pt x="856" y="408"/>
                  </a:cubicBezTo>
                  <a:cubicBezTo>
                    <a:pt x="872" y="400"/>
                    <a:pt x="888" y="392"/>
                    <a:pt x="903" y="383"/>
                  </a:cubicBezTo>
                  <a:cubicBezTo>
                    <a:pt x="919" y="374"/>
                    <a:pt x="934" y="365"/>
                    <a:pt x="949" y="355"/>
                  </a:cubicBezTo>
                  <a:cubicBezTo>
                    <a:pt x="979" y="335"/>
                    <a:pt x="1008" y="314"/>
                    <a:pt x="1035" y="289"/>
                  </a:cubicBezTo>
                  <a:cubicBezTo>
                    <a:pt x="1062" y="265"/>
                    <a:pt x="1086" y="239"/>
                    <a:pt x="1106" y="208"/>
                  </a:cubicBezTo>
                  <a:cubicBezTo>
                    <a:pt x="1125" y="178"/>
                    <a:pt x="1140" y="144"/>
                    <a:pt x="1147" y="108"/>
                  </a:cubicBezTo>
                  <a:cubicBezTo>
                    <a:pt x="1154" y="73"/>
                    <a:pt x="1153" y="36"/>
                    <a:pt x="1145" y="0"/>
                  </a:cubicBezTo>
                  <a:lnTo>
                    <a:pt x="1139" y="2"/>
                  </a:lnTo>
                  <a:close/>
                </a:path>
              </a:pathLst>
            </a:custGeom>
            <a:solidFill>
              <a:srgbClr val="FFFFFF"/>
            </a:solidFill>
            <a:ln>
              <a:noFill/>
            </a:ln>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9" name="Freeform 20"/>
            <p:cNvSpPr/>
            <p:nvPr/>
          </p:nvSpPr>
          <p:spPr bwMode="auto">
            <a:xfrm>
              <a:off x="3473644" y="2726009"/>
              <a:ext cx="3507777" cy="4131356"/>
            </a:xfrm>
            <a:custGeom>
              <a:avLst/>
              <a:gdLst>
                <a:gd name="T0" fmla="*/ 2513 w 3466"/>
                <a:gd name="T1" fmla="*/ 32 h 4098"/>
                <a:gd name="T2" fmla="*/ 2163 w 3466"/>
                <a:gd name="T3" fmla="*/ 288 h 4098"/>
                <a:gd name="T4" fmla="*/ 1580 w 3466"/>
                <a:gd name="T5" fmla="*/ 572 h 4098"/>
                <a:gd name="T6" fmla="*/ 1648 w 3466"/>
                <a:gd name="T7" fmla="*/ 766 h 4098"/>
                <a:gd name="T8" fmla="*/ 1737 w 3466"/>
                <a:gd name="T9" fmla="*/ 819 h 4098"/>
                <a:gd name="T10" fmla="*/ 3164 w 3466"/>
                <a:gd name="T11" fmla="*/ 1166 h 4098"/>
                <a:gd name="T12" fmla="*/ 3450 w 3466"/>
                <a:gd name="T13" fmla="*/ 1348 h 4098"/>
                <a:gd name="T14" fmla="*/ 3445 w 3466"/>
                <a:gd name="T15" fmla="*/ 1376 h 4098"/>
                <a:gd name="T16" fmla="*/ 3379 w 3466"/>
                <a:gd name="T17" fmla="*/ 1449 h 4098"/>
                <a:gd name="T18" fmla="*/ 3321 w 3466"/>
                <a:gd name="T19" fmla="*/ 1480 h 4098"/>
                <a:gd name="T20" fmla="*/ 2596 w 3466"/>
                <a:gd name="T21" fmla="*/ 1567 h 4098"/>
                <a:gd name="T22" fmla="*/ 1621 w 3466"/>
                <a:gd name="T23" fmla="*/ 1678 h 4098"/>
                <a:gd name="T24" fmla="*/ 68 w 3466"/>
                <a:gd name="T25" fmla="*/ 2332 h 4098"/>
                <a:gd name="T26" fmla="*/ 31 w 3466"/>
                <a:gd name="T27" fmla="*/ 2407 h 4098"/>
                <a:gd name="T28" fmla="*/ 673 w 3466"/>
                <a:gd name="T29" fmla="*/ 3238 h 4098"/>
                <a:gd name="T30" fmla="*/ 1140 w 3466"/>
                <a:gd name="T31" fmla="*/ 3391 h 4098"/>
                <a:gd name="T32" fmla="*/ 1771 w 3466"/>
                <a:gd name="T33" fmla="*/ 3563 h 4098"/>
                <a:gd name="T34" fmla="*/ 2163 w 3466"/>
                <a:gd name="T35" fmla="*/ 3677 h 4098"/>
                <a:gd name="T36" fmla="*/ 2462 w 3466"/>
                <a:gd name="T37" fmla="*/ 3799 h 4098"/>
                <a:gd name="T38" fmla="*/ 2531 w 3466"/>
                <a:gd name="T39" fmla="*/ 3842 h 4098"/>
                <a:gd name="T40" fmla="*/ 2706 w 3466"/>
                <a:gd name="T41" fmla="*/ 4033 h 4098"/>
                <a:gd name="T42" fmla="*/ 2716 w 3466"/>
                <a:gd name="T43" fmla="*/ 4066 h 4098"/>
                <a:gd name="T44" fmla="*/ 2720 w 3466"/>
                <a:gd name="T45" fmla="*/ 4098 h 4098"/>
                <a:gd name="T46" fmla="*/ 2756 w 3466"/>
                <a:gd name="T47" fmla="*/ 4098 h 4098"/>
                <a:gd name="T48" fmla="*/ 2755 w 3466"/>
                <a:gd name="T49" fmla="*/ 4098 h 4098"/>
                <a:gd name="T50" fmla="*/ 2750 w 3466"/>
                <a:gd name="T51" fmla="*/ 4052 h 4098"/>
                <a:gd name="T52" fmla="*/ 2736 w 3466"/>
                <a:gd name="T53" fmla="*/ 4011 h 4098"/>
                <a:gd name="T54" fmla="*/ 2609 w 3466"/>
                <a:gd name="T55" fmla="*/ 3856 h 4098"/>
                <a:gd name="T56" fmla="*/ 2568 w 3466"/>
                <a:gd name="T57" fmla="*/ 3824 h 4098"/>
                <a:gd name="T58" fmla="*/ 2550 w 3466"/>
                <a:gd name="T59" fmla="*/ 3812 h 4098"/>
                <a:gd name="T60" fmla="*/ 2479 w 3466"/>
                <a:gd name="T61" fmla="*/ 3769 h 4098"/>
                <a:gd name="T62" fmla="*/ 2174 w 3466"/>
                <a:gd name="T63" fmla="*/ 3645 h 4098"/>
                <a:gd name="T64" fmla="*/ 1780 w 3466"/>
                <a:gd name="T65" fmla="*/ 3531 h 4098"/>
                <a:gd name="T66" fmla="*/ 1149 w 3466"/>
                <a:gd name="T67" fmla="*/ 3361 h 4098"/>
                <a:gd name="T68" fmla="*/ 683 w 3466"/>
                <a:gd name="T69" fmla="*/ 3210 h 4098"/>
                <a:gd name="T70" fmla="*/ 29 w 3466"/>
                <a:gd name="T71" fmla="*/ 2572 h 4098"/>
                <a:gd name="T72" fmla="*/ 1624 w 3466"/>
                <a:gd name="T73" fmla="*/ 1699 h 4098"/>
                <a:gd name="T74" fmla="*/ 2598 w 3466"/>
                <a:gd name="T75" fmla="*/ 1586 h 4098"/>
                <a:gd name="T76" fmla="*/ 3328 w 3466"/>
                <a:gd name="T77" fmla="*/ 1495 h 4098"/>
                <a:gd name="T78" fmla="*/ 3387 w 3466"/>
                <a:gd name="T79" fmla="*/ 1464 h 4098"/>
                <a:gd name="T80" fmla="*/ 3461 w 3466"/>
                <a:gd name="T81" fmla="*/ 1380 h 4098"/>
                <a:gd name="T82" fmla="*/ 3466 w 3466"/>
                <a:gd name="T83" fmla="*/ 1348 h 4098"/>
                <a:gd name="T84" fmla="*/ 3167 w 3466"/>
                <a:gd name="T85" fmla="*/ 1152 h 4098"/>
                <a:gd name="T86" fmla="*/ 1742 w 3466"/>
                <a:gd name="T87" fmla="*/ 809 h 4098"/>
                <a:gd name="T88" fmla="*/ 1655 w 3466"/>
                <a:gd name="T89" fmla="*/ 758 h 4098"/>
                <a:gd name="T90" fmla="*/ 1589 w 3466"/>
                <a:gd name="T91" fmla="*/ 577 h 4098"/>
                <a:gd name="T92" fmla="*/ 2165 w 3466"/>
                <a:gd name="T93" fmla="*/ 296 h 4098"/>
                <a:gd name="T94" fmla="*/ 2519 w 3466"/>
                <a:gd name="T95" fmla="*/ 35 h 4098"/>
                <a:gd name="T96" fmla="*/ 2526 w 3466"/>
                <a:gd name="T97"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6" h="4098">
                  <a:moveTo>
                    <a:pt x="2526" y="0"/>
                  </a:moveTo>
                  <a:cubicBezTo>
                    <a:pt x="2524" y="5"/>
                    <a:pt x="2524" y="5"/>
                    <a:pt x="2524" y="5"/>
                  </a:cubicBezTo>
                  <a:cubicBezTo>
                    <a:pt x="2521" y="14"/>
                    <a:pt x="2521" y="14"/>
                    <a:pt x="2521" y="14"/>
                  </a:cubicBezTo>
                  <a:cubicBezTo>
                    <a:pt x="2518" y="20"/>
                    <a:pt x="2515" y="26"/>
                    <a:pt x="2513" y="32"/>
                  </a:cubicBezTo>
                  <a:cubicBezTo>
                    <a:pt x="2507" y="45"/>
                    <a:pt x="2501" y="57"/>
                    <a:pt x="2494" y="69"/>
                  </a:cubicBezTo>
                  <a:cubicBezTo>
                    <a:pt x="2481" y="92"/>
                    <a:pt x="2466" y="115"/>
                    <a:pt x="2447" y="134"/>
                  </a:cubicBezTo>
                  <a:cubicBezTo>
                    <a:pt x="2408" y="172"/>
                    <a:pt x="2360" y="198"/>
                    <a:pt x="2312" y="223"/>
                  </a:cubicBezTo>
                  <a:cubicBezTo>
                    <a:pt x="2263" y="248"/>
                    <a:pt x="2213" y="269"/>
                    <a:pt x="2163" y="288"/>
                  </a:cubicBezTo>
                  <a:cubicBezTo>
                    <a:pt x="2112" y="307"/>
                    <a:pt x="2060" y="325"/>
                    <a:pt x="2008" y="343"/>
                  </a:cubicBezTo>
                  <a:cubicBezTo>
                    <a:pt x="1906" y="378"/>
                    <a:pt x="1800" y="410"/>
                    <a:pt x="1704" y="464"/>
                  </a:cubicBezTo>
                  <a:cubicBezTo>
                    <a:pt x="1680" y="477"/>
                    <a:pt x="1657" y="493"/>
                    <a:pt x="1636" y="510"/>
                  </a:cubicBezTo>
                  <a:cubicBezTo>
                    <a:pt x="1615" y="528"/>
                    <a:pt x="1595" y="548"/>
                    <a:pt x="1580" y="572"/>
                  </a:cubicBezTo>
                  <a:cubicBezTo>
                    <a:pt x="1565" y="595"/>
                    <a:pt x="1557" y="624"/>
                    <a:pt x="1561" y="653"/>
                  </a:cubicBezTo>
                  <a:cubicBezTo>
                    <a:pt x="1566" y="681"/>
                    <a:pt x="1581" y="707"/>
                    <a:pt x="1601" y="727"/>
                  </a:cubicBezTo>
                  <a:cubicBezTo>
                    <a:pt x="1610" y="737"/>
                    <a:pt x="1621" y="746"/>
                    <a:pt x="1632" y="754"/>
                  </a:cubicBezTo>
                  <a:cubicBezTo>
                    <a:pt x="1648" y="766"/>
                    <a:pt x="1648" y="766"/>
                    <a:pt x="1648" y="766"/>
                  </a:cubicBezTo>
                  <a:cubicBezTo>
                    <a:pt x="1666" y="777"/>
                    <a:pt x="1666" y="777"/>
                    <a:pt x="1666" y="777"/>
                  </a:cubicBezTo>
                  <a:cubicBezTo>
                    <a:pt x="1701" y="799"/>
                    <a:pt x="1701" y="799"/>
                    <a:pt x="1701" y="799"/>
                  </a:cubicBezTo>
                  <a:cubicBezTo>
                    <a:pt x="1707" y="802"/>
                    <a:pt x="1712" y="806"/>
                    <a:pt x="1719" y="810"/>
                  </a:cubicBezTo>
                  <a:cubicBezTo>
                    <a:pt x="1737" y="819"/>
                    <a:pt x="1737" y="819"/>
                    <a:pt x="1737" y="819"/>
                  </a:cubicBezTo>
                  <a:cubicBezTo>
                    <a:pt x="1786" y="844"/>
                    <a:pt x="1836" y="865"/>
                    <a:pt x="1887" y="885"/>
                  </a:cubicBezTo>
                  <a:cubicBezTo>
                    <a:pt x="1989" y="924"/>
                    <a:pt x="2094" y="956"/>
                    <a:pt x="2201" y="980"/>
                  </a:cubicBezTo>
                  <a:cubicBezTo>
                    <a:pt x="2413" y="1029"/>
                    <a:pt x="2629" y="1063"/>
                    <a:pt x="2844" y="1101"/>
                  </a:cubicBezTo>
                  <a:cubicBezTo>
                    <a:pt x="2951" y="1119"/>
                    <a:pt x="3058" y="1139"/>
                    <a:pt x="3164" y="1166"/>
                  </a:cubicBezTo>
                  <a:cubicBezTo>
                    <a:pt x="3216" y="1180"/>
                    <a:pt x="3268" y="1195"/>
                    <a:pt x="3317" y="1218"/>
                  </a:cubicBezTo>
                  <a:cubicBezTo>
                    <a:pt x="3342" y="1229"/>
                    <a:pt x="3365" y="1242"/>
                    <a:pt x="3387" y="1257"/>
                  </a:cubicBezTo>
                  <a:cubicBezTo>
                    <a:pt x="3409" y="1271"/>
                    <a:pt x="3429" y="1289"/>
                    <a:pt x="3441" y="1312"/>
                  </a:cubicBezTo>
                  <a:cubicBezTo>
                    <a:pt x="3446" y="1323"/>
                    <a:pt x="3450" y="1336"/>
                    <a:pt x="3450" y="1348"/>
                  </a:cubicBezTo>
                  <a:cubicBezTo>
                    <a:pt x="3450" y="1351"/>
                    <a:pt x="3450" y="1355"/>
                    <a:pt x="3449" y="1357"/>
                  </a:cubicBezTo>
                  <a:cubicBezTo>
                    <a:pt x="3449" y="1359"/>
                    <a:pt x="3449" y="1360"/>
                    <a:pt x="3449" y="1362"/>
                  </a:cubicBezTo>
                  <a:cubicBezTo>
                    <a:pt x="3448" y="1366"/>
                    <a:pt x="3448" y="1366"/>
                    <a:pt x="3448" y="1366"/>
                  </a:cubicBezTo>
                  <a:cubicBezTo>
                    <a:pt x="3445" y="1376"/>
                    <a:pt x="3445" y="1376"/>
                    <a:pt x="3445" y="1376"/>
                  </a:cubicBezTo>
                  <a:cubicBezTo>
                    <a:pt x="3445" y="1378"/>
                    <a:pt x="3443" y="1382"/>
                    <a:pt x="3442" y="1384"/>
                  </a:cubicBezTo>
                  <a:cubicBezTo>
                    <a:pt x="3432" y="1408"/>
                    <a:pt x="3413" y="1426"/>
                    <a:pt x="3391" y="1441"/>
                  </a:cubicBezTo>
                  <a:cubicBezTo>
                    <a:pt x="3383" y="1447"/>
                    <a:pt x="3383" y="1447"/>
                    <a:pt x="3383" y="1447"/>
                  </a:cubicBezTo>
                  <a:cubicBezTo>
                    <a:pt x="3379" y="1449"/>
                    <a:pt x="3379" y="1449"/>
                    <a:pt x="3379" y="1449"/>
                  </a:cubicBezTo>
                  <a:cubicBezTo>
                    <a:pt x="3375" y="1452"/>
                    <a:pt x="3375" y="1452"/>
                    <a:pt x="3375" y="1452"/>
                  </a:cubicBezTo>
                  <a:cubicBezTo>
                    <a:pt x="3357" y="1462"/>
                    <a:pt x="3357" y="1462"/>
                    <a:pt x="3357" y="1462"/>
                  </a:cubicBezTo>
                  <a:cubicBezTo>
                    <a:pt x="3351" y="1465"/>
                    <a:pt x="3345" y="1469"/>
                    <a:pt x="3339" y="1471"/>
                  </a:cubicBezTo>
                  <a:cubicBezTo>
                    <a:pt x="3333" y="1474"/>
                    <a:pt x="3327" y="1477"/>
                    <a:pt x="3321" y="1480"/>
                  </a:cubicBezTo>
                  <a:cubicBezTo>
                    <a:pt x="3296" y="1490"/>
                    <a:pt x="3271" y="1499"/>
                    <a:pt x="3245" y="1506"/>
                  </a:cubicBezTo>
                  <a:cubicBezTo>
                    <a:pt x="3193" y="1520"/>
                    <a:pt x="3139" y="1527"/>
                    <a:pt x="3085" y="1534"/>
                  </a:cubicBezTo>
                  <a:cubicBezTo>
                    <a:pt x="3031" y="1540"/>
                    <a:pt x="2977" y="1543"/>
                    <a:pt x="2923" y="1547"/>
                  </a:cubicBezTo>
                  <a:cubicBezTo>
                    <a:pt x="2814" y="1555"/>
                    <a:pt x="2705" y="1561"/>
                    <a:pt x="2596" y="1567"/>
                  </a:cubicBezTo>
                  <a:cubicBezTo>
                    <a:pt x="2569" y="1569"/>
                    <a:pt x="2542" y="1570"/>
                    <a:pt x="2514" y="1573"/>
                  </a:cubicBezTo>
                  <a:cubicBezTo>
                    <a:pt x="2433" y="1580"/>
                    <a:pt x="2433" y="1580"/>
                    <a:pt x="2433" y="1580"/>
                  </a:cubicBezTo>
                  <a:cubicBezTo>
                    <a:pt x="2270" y="1595"/>
                    <a:pt x="2270" y="1595"/>
                    <a:pt x="2270" y="1595"/>
                  </a:cubicBezTo>
                  <a:cubicBezTo>
                    <a:pt x="2053" y="1614"/>
                    <a:pt x="1836" y="1643"/>
                    <a:pt x="1621" y="1678"/>
                  </a:cubicBezTo>
                  <a:cubicBezTo>
                    <a:pt x="1405" y="1713"/>
                    <a:pt x="1190" y="1752"/>
                    <a:pt x="979" y="1810"/>
                  </a:cubicBezTo>
                  <a:cubicBezTo>
                    <a:pt x="769" y="1869"/>
                    <a:pt x="560" y="1940"/>
                    <a:pt x="371" y="2054"/>
                  </a:cubicBezTo>
                  <a:cubicBezTo>
                    <a:pt x="278" y="2111"/>
                    <a:pt x="188" y="2178"/>
                    <a:pt x="117" y="2264"/>
                  </a:cubicBezTo>
                  <a:cubicBezTo>
                    <a:pt x="99" y="2286"/>
                    <a:pt x="83" y="2308"/>
                    <a:pt x="68" y="2332"/>
                  </a:cubicBezTo>
                  <a:cubicBezTo>
                    <a:pt x="58" y="2350"/>
                    <a:pt x="58" y="2350"/>
                    <a:pt x="58" y="2350"/>
                  </a:cubicBezTo>
                  <a:cubicBezTo>
                    <a:pt x="48" y="2369"/>
                    <a:pt x="48" y="2369"/>
                    <a:pt x="48" y="2369"/>
                  </a:cubicBezTo>
                  <a:cubicBezTo>
                    <a:pt x="45" y="2376"/>
                    <a:pt x="42" y="2381"/>
                    <a:pt x="39" y="2388"/>
                  </a:cubicBezTo>
                  <a:cubicBezTo>
                    <a:pt x="36" y="2394"/>
                    <a:pt x="33" y="2401"/>
                    <a:pt x="31" y="2407"/>
                  </a:cubicBezTo>
                  <a:cubicBezTo>
                    <a:pt x="10" y="2459"/>
                    <a:pt x="0" y="2516"/>
                    <a:pt x="3" y="2573"/>
                  </a:cubicBezTo>
                  <a:cubicBezTo>
                    <a:pt x="6" y="2686"/>
                    <a:pt x="58" y="2792"/>
                    <a:pt x="127" y="2878"/>
                  </a:cubicBezTo>
                  <a:cubicBezTo>
                    <a:pt x="197" y="2965"/>
                    <a:pt x="282" y="3037"/>
                    <a:pt x="376" y="3095"/>
                  </a:cubicBezTo>
                  <a:cubicBezTo>
                    <a:pt x="470" y="3154"/>
                    <a:pt x="571" y="3198"/>
                    <a:pt x="673" y="3238"/>
                  </a:cubicBezTo>
                  <a:cubicBezTo>
                    <a:pt x="724" y="3257"/>
                    <a:pt x="776" y="3275"/>
                    <a:pt x="827" y="3293"/>
                  </a:cubicBezTo>
                  <a:cubicBezTo>
                    <a:pt x="853" y="3302"/>
                    <a:pt x="878" y="3311"/>
                    <a:pt x="905" y="3319"/>
                  </a:cubicBezTo>
                  <a:cubicBezTo>
                    <a:pt x="984" y="3343"/>
                    <a:pt x="984" y="3343"/>
                    <a:pt x="984" y="3343"/>
                  </a:cubicBezTo>
                  <a:cubicBezTo>
                    <a:pt x="1140" y="3391"/>
                    <a:pt x="1140" y="3391"/>
                    <a:pt x="1140" y="3391"/>
                  </a:cubicBezTo>
                  <a:cubicBezTo>
                    <a:pt x="1166" y="3398"/>
                    <a:pt x="1192" y="3407"/>
                    <a:pt x="1219" y="3414"/>
                  </a:cubicBezTo>
                  <a:cubicBezTo>
                    <a:pt x="1298" y="3435"/>
                    <a:pt x="1298" y="3435"/>
                    <a:pt x="1298" y="3435"/>
                  </a:cubicBezTo>
                  <a:cubicBezTo>
                    <a:pt x="1614" y="3520"/>
                    <a:pt x="1614" y="3520"/>
                    <a:pt x="1614" y="3520"/>
                  </a:cubicBezTo>
                  <a:cubicBezTo>
                    <a:pt x="1771" y="3563"/>
                    <a:pt x="1771" y="3563"/>
                    <a:pt x="1771" y="3563"/>
                  </a:cubicBezTo>
                  <a:cubicBezTo>
                    <a:pt x="1798" y="3570"/>
                    <a:pt x="1825" y="3577"/>
                    <a:pt x="1850" y="3584"/>
                  </a:cubicBezTo>
                  <a:cubicBezTo>
                    <a:pt x="1928" y="3607"/>
                    <a:pt x="1928" y="3607"/>
                    <a:pt x="1928" y="3607"/>
                  </a:cubicBezTo>
                  <a:cubicBezTo>
                    <a:pt x="2085" y="3654"/>
                    <a:pt x="2085" y="3654"/>
                    <a:pt x="2085" y="3654"/>
                  </a:cubicBezTo>
                  <a:cubicBezTo>
                    <a:pt x="2111" y="3661"/>
                    <a:pt x="2138" y="3669"/>
                    <a:pt x="2163" y="3677"/>
                  </a:cubicBezTo>
                  <a:cubicBezTo>
                    <a:pt x="2240" y="3704"/>
                    <a:pt x="2240" y="3704"/>
                    <a:pt x="2240" y="3704"/>
                  </a:cubicBezTo>
                  <a:cubicBezTo>
                    <a:pt x="2316" y="3732"/>
                    <a:pt x="2316" y="3732"/>
                    <a:pt x="2316" y="3732"/>
                  </a:cubicBezTo>
                  <a:cubicBezTo>
                    <a:pt x="2341" y="3742"/>
                    <a:pt x="2366" y="3752"/>
                    <a:pt x="2391" y="3763"/>
                  </a:cubicBezTo>
                  <a:cubicBezTo>
                    <a:pt x="2415" y="3774"/>
                    <a:pt x="2439" y="3786"/>
                    <a:pt x="2462" y="3799"/>
                  </a:cubicBezTo>
                  <a:cubicBezTo>
                    <a:pt x="2470" y="3804"/>
                    <a:pt x="2470" y="3804"/>
                    <a:pt x="2470" y="3804"/>
                  </a:cubicBezTo>
                  <a:cubicBezTo>
                    <a:pt x="2479" y="3809"/>
                    <a:pt x="2479" y="3809"/>
                    <a:pt x="2479" y="3809"/>
                  </a:cubicBezTo>
                  <a:cubicBezTo>
                    <a:pt x="2496" y="3820"/>
                    <a:pt x="2496" y="3820"/>
                    <a:pt x="2496" y="3820"/>
                  </a:cubicBezTo>
                  <a:cubicBezTo>
                    <a:pt x="2531" y="3842"/>
                    <a:pt x="2531" y="3842"/>
                    <a:pt x="2531" y="3842"/>
                  </a:cubicBezTo>
                  <a:cubicBezTo>
                    <a:pt x="2574" y="3871"/>
                    <a:pt x="2617" y="3905"/>
                    <a:pt x="2651" y="3945"/>
                  </a:cubicBezTo>
                  <a:cubicBezTo>
                    <a:pt x="2668" y="3964"/>
                    <a:pt x="2683" y="3985"/>
                    <a:pt x="2695" y="4008"/>
                  </a:cubicBezTo>
                  <a:cubicBezTo>
                    <a:pt x="2698" y="4014"/>
                    <a:pt x="2701" y="4020"/>
                    <a:pt x="2703" y="4025"/>
                  </a:cubicBezTo>
                  <a:cubicBezTo>
                    <a:pt x="2706" y="4033"/>
                    <a:pt x="2706" y="4033"/>
                    <a:pt x="2706" y="4033"/>
                  </a:cubicBezTo>
                  <a:cubicBezTo>
                    <a:pt x="2709" y="4043"/>
                    <a:pt x="2709" y="4043"/>
                    <a:pt x="2709" y="4043"/>
                  </a:cubicBezTo>
                  <a:cubicBezTo>
                    <a:pt x="2715" y="4063"/>
                    <a:pt x="2715" y="4063"/>
                    <a:pt x="2715" y="4063"/>
                  </a:cubicBezTo>
                  <a:cubicBezTo>
                    <a:pt x="2716" y="4065"/>
                    <a:pt x="2715" y="4062"/>
                    <a:pt x="2716" y="4063"/>
                  </a:cubicBezTo>
                  <a:cubicBezTo>
                    <a:pt x="2716" y="4066"/>
                    <a:pt x="2716" y="4066"/>
                    <a:pt x="2716" y="4066"/>
                  </a:cubicBezTo>
                  <a:cubicBezTo>
                    <a:pt x="2717" y="4098"/>
                    <a:pt x="2717" y="4098"/>
                    <a:pt x="2717" y="4098"/>
                  </a:cubicBezTo>
                  <a:cubicBezTo>
                    <a:pt x="2719" y="4098"/>
                    <a:pt x="2719" y="4098"/>
                    <a:pt x="2719" y="4098"/>
                  </a:cubicBezTo>
                  <a:cubicBezTo>
                    <a:pt x="2719" y="4098"/>
                    <a:pt x="2719" y="4098"/>
                    <a:pt x="2719" y="4098"/>
                  </a:cubicBezTo>
                  <a:cubicBezTo>
                    <a:pt x="2720" y="4098"/>
                    <a:pt x="2720" y="4098"/>
                    <a:pt x="2720" y="4098"/>
                  </a:cubicBezTo>
                  <a:cubicBezTo>
                    <a:pt x="2720" y="4098"/>
                    <a:pt x="2720" y="4098"/>
                    <a:pt x="2720" y="4098"/>
                  </a:cubicBezTo>
                  <a:cubicBezTo>
                    <a:pt x="2721" y="4098"/>
                    <a:pt x="2721" y="4098"/>
                    <a:pt x="2721" y="4098"/>
                  </a:cubicBezTo>
                  <a:cubicBezTo>
                    <a:pt x="2757" y="4098"/>
                    <a:pt x="2757" y="4098"/>
                    <a:pt x="2757" y="4098"/>
                  </a:cubicBezTo>
                  <a:cubicBezTo>
                    <a:pt x="2756" y="4098"/>
                    <a:pt x="2756" y="4098"/>
                    <a:pt x="2756" y="4098"/>
                  </a:cubicBezTo>
                  <a:cubicBezTo>
                    <a:pt x="2756" y="4098"/>
                    <a:pt x="2756" y="4098"/>
                    <a:pt x="2756" y="4098"/>
                  </a:cubicBezTo>
                  <a:cubicBezTo>
                    <a:pt x="2756" y="4098"/>
                    <a:pt x="2756" y="4098"/>
                    <a:pt x="2756" y="4098"/>
                  </a:cubicBezTo>
                  <a:cubicBezTo>
                    <a:pt x="2754" y="4098"/>
                    <a:pt x="2754" y="4098"/>
                    <a:pt x="2754" y="4098"/>
                  </a:cubicBezTo>
                  <a:cubicBezTo>
                    <a:pt x="2755" y="4098"/>
                    <a:pt x="2755" y="4098"/>
                    <a:pt x="2755" y="4098"/>
                  </a:cubicBezTo>
                  <a:cubicBezTo>
                    <a:pt x="2754" y="4094"/>
                    <a:pt x="2753" y="4067"/>
                    <a:pt x="2752" y="4063"/>
                  </a:cubicBezTo>
                  <a:cubicBezTo>
                    <a:pt x="2751" y="4058"/>
                    <a:pt x="2751" y="4058"/>
                    <a:pt x="2751" y="4058"/>
                  </a:cubicBezTo>
                  <a:cubicBezTo>
                    <a:pt x="2751" y="4056"/>
                    <a:pt x="2751" y="4056"/>
                    <a:pt x="2751" y="4056"/>
                  </a:cubicBezTo>
                  <a:cubicBezTo>
                    <a:pt x="2751" y="4055"/>
                    <a:pt x="2749" y="4051"/>
                    <a:pt x="2750" y="4052"/>
                  </a:cubicBezTo>
                  <a:cubicBezTo>
                    <a:pt x="2743" y="4032"/>
                    <a:pt x="2743" y="4032"/>
                    <a:pt x="2743" y="4032"/>
                  </a:cubicBezTo>
                  <a:cubicBezTo>
                    <a:pt x="2740" y="4022"/>
                    <a:pt x="2740" y="4022"/>
                    <a:pt x="2740" y="4022"/>
                  </a:cubicBezTo>
                  <a:cubicBezTo>
                    <a:pt x="2738" y="4016"/>
                    <a:pt x="2738" y="4016"/>
                    <a:pt x="2738" y="4016"/>
                  </a:cubicBezTo>
                  <a:cubicBezTo>
                    <a:pt x="2736" y="4011"/>
                    <a:pt x="2736" y="4011"/>
                    <a:pt x="2736" y="4011"/>
                  </a:cubicBezTo>
                  <a:cubicBezTo>
                    <a:pt x="2733" y="4005"/>
                    <a:pt x="2730" y="3998"/>
                    <a:pt x="2727" y="3992"/>
                  </a:cubicBezTo>
                  <a:cubicBezTo>
                    <a:pt x="2713" y="3966"/>
                    <a:pt x="2696" y="3943"/>
                    <a:pt x="2678" y="3921"/>
                  </a:cubicBezTo>
                  <a:cubicBezTo>
                    <a:pt x="2659" y="3900"/>
                    <a:pt x="2638" y="3881"/>
                    <a:pt x="2617" y="3862"/>
                  </a:cubicBezTo>
                  <a:cubicBezTo>
                    <a:pt x="2609" y="3856"/>
                    <a:pt x="2609" y="3856"/>
                    <a:pt x="2609" y="3856"/>
                  </a:cubicBezTo>
                  <a:cubicBezTo>
                    <a:pt x="2605" y="3852"/>
                    <a:pt x="2605" y="3852"/>
                    <a:pt x="2605" y="3852"/>
                  </a:cubicBezTo>
                  <a:cubicBezTo>
                    <a:pt x="2601" y="3849"/>
                    <a:pt x="2601" y="3849"/>
                    <a:pt x="2601" y="3849"/>
                  </a:cubicBezTo>
                  <a:cubicBezTo>
                    <a:pt x="2584" y="3837"/>
                    <a:pt x="2584" y="3837"/>
                    <a:pt x="2584" y="3837"/>
                  </a:cubicBezTo>
                  <a:cubicBezTo>
                    <a:pt x="2568" y="3824"/>
                    <a:pt x="2568" y="3824"/>
                    <a:pt x="2568" y="3824"/>
                  </a:cubicBezTo>
                  <a:cubicBezTo>
                    <a:pt x="2568" y="3824"/>
                    <a:pt x="2565" y="3822"/>
                    <a:pt x="2565" y="3822"/>
                  </a:cubicBezTo>
                  <a:cubicBezTo>
                    <a:pt x="2563" y="3821"/>
                    <a:pt x="2563" y="3821"/>
                    <a:pt x="2563" y="3821"/>
                  </a:cubicBezTo>
                  <a:cubicBezTo>
                    <a:pt x="2558" y="3818"/>
                    <a:pt x="2558" y="3818"/>
                    <a:pt x="2558" y="3818"/>
                  </a:cubicBezTo>
                  <a:cubicBezTo>
                    <a:pt x="2550" y="3812"/>
                    <a:pt x="2550" y="3812"/>
                    <a:pt x="2550" y="3812"/>
                  </a:cubicBezTo>
                  <a:cubicBezTo>
                    <a:pt x="2515" y="3791"/>
                    <a:pt x="2515" y="3791"/>
                    <a:pt x="2515" y="3791"/>
                  </a:cubicBezTo>
                  <a:cubicBezTo>
                    <a:pt x="2498" y="3780"/>
                    <a:pt x="2498" y="3780"/>
                    <a:pt x="2498" y="3780"/>
                  </a:cubicBezTo>
                  <a:cubicBezTo>
                    <a:pt x="2489" y="3774"/>
                    <a:pt x="2489" y="3774"/>
                    <a:pt x="2489" y="3774"/>
                  </a:cubicBezTo>
                  <a:cubicBezTo>
                    <a:pt x="2479" y="3769"/>
                    <a:pt x="2479" y="3769"/>
                    <a:pt x="2479" y="3769"/>
                  </a:cubicBezTo>
                  <a:cubicBezTo>
                    <a:pt x="2455" y="3755"/>
                    <a:pt x="2430" y="3743"/>
                    <a:pt x="2405" y="3732"/>
                  </a:cubicBezTo>
                  <a:cubicBezTo>
                    <a:pt x="2380" y="3720"/>
                    <a:pt x="2354" y="3710"/>
                    <a:pt x="2329" y="3700"/>
                  </a:cubicBezTo>
                  <a:cubicBezTo>
                    <a:pt x="2251" y="3672"/>
                    <a:pt x="2251" y="3672"/>
                    <a:pt x="2251" y="3672"/>
                  </a:cubicBezTo>
                  <a:cubicBezTo>
                    <a:pt x="2174" y="3645"/>
                    <a:pt x="2174" y="3645"/>
                    <a:pt x="2174" y="3645"/>
                  </a:cubicBezTo>
                  <a:cubicBezTo>
                    <a:pt x="2146" y="3636"/>
                    <a:pt x="2121" y="3629"/>
                    <a:pt x="2095" y="3621"/>
                  </a:cubicBezTo>
                  <a:cubicBezTo>
                    <a:pt x="1938" y="3576"/>
                    <a:pt x="1938" y="3576"/>
                    <a:pt x="1938" y="3576"/>
                  </a:cubicBezTo>
                  <a:cubicBezTo>
                    <a:pt x="1859" y="3553"/>
                    <a:pt x="1859" y="3553"/>
                    <a:pt x="1859" y="3553"/>
                  </a:cubicBezTo>
                  <a:cubicBezTo>
                    <a:pt x="1832" y="3545"/>
                    <a:pt x="1806" y="3539"/>
                    <a:pt x="1780" y="3531"/>
                  </a:cubicBezTo>
                  <a:cubicBezTo>
                    <a:pt x="1622" y="3489"/>
                    <a:pt x="1622" y="3489"/>
                    <a:pt x="1622" y="3489"/>
                  </a:cubicBezTo>
                  <a:cubicBezTo>
                    <a:pt x="1306" y="3405"/>
                    <a:pt x="1306" y="3405"/>
                    <a:pt x="1306" y="3405"/>
                  </a:cubicBezTo>
                  <a:cubicBezTo>
                    <a:pt x="1227" y="3384"/>
                    <a:pt x="1227" y="3384"/>
                    <a:pt x="1227" y="3384"/>
                  </a:cubicBezTo>
                  <a:cubicBezTo>
                    <a:pt x="1202" y="3377"/>
                    <a:pt x="1175" y="3369"/>
                    <a:pt x="1149" y="3361"/>
                  </a:cubicBezTo>
                  <a:cubicBezTo>
                    <a:pt x="992" y="3314"/>
                    <a:pt x="992" y="3314"/>
                    <a:pt x="992" y="3314"/>
                  </a:cubicBezTo>
                  <a:cubicBezTo>
                    <a:pt x="914" y="3290"/>
                    <a:pt x="914" y="3290"/>
                    <a:pt x="914" y="3290"/>
                  </a:cubicBezTo>
                  <a:cubicBezTo>
                    <a:pt x="889" y="3282"/>
                    <a:pt x="863" y="3273"/>
                    <a:pt x="837" y="3265"/>
                  </a:cubicBezTo>
                  <a:cubicBezTo>
                    <a:pt x="785" y="3247"/>
                    <a:pt x="734" y="3229"/>
                    <a:pt x="683" y="3210"/>
                  </a:cubicBezTo>
                  <a:cubicBezTo>
                    <a:pt x="582" y="3171"/>
                    <a:pt x="483" y="3128"/>
                    <a:pt x="391" y="3071"/>
                  </a:cubicBezTo>
                  <a:cubicBezTo>
                    <a:pt x="300" y="3014"/>
                    <a:pt x="216" y="2944"/>
                    <a:pt x="149" y="2861"/>
                  </a:cubicBezTo>
                  <a:cubicBezTo>
                    <a:pt x="116" y="2819"/>
                    <a:pt x="86" y="2774"/>
                    <a:pt x="65" y="2725"/>
                  </a:cubicBezTo>
                  <a:cubicBezTo>
                    <a:pt x="44" y="2676"/>
                    <a:pt x="31" y="2624"/>
                    <a:pt x="29" y="2572"/>
                  </a:cubicBezTo>
                  <a:cubicBezTo>
                    <a:pt x="24" y="2465"/>
                    <a:pt x="69" y="2363"/>
                    <a:pt x="137" y="2281"/>
                  </a:cubicBezTo>
                  <a:cubicBezTo>
                    <a:pt x="205" y="2198"/>
                    <a:pt x="292" y="2132"/>
                    <a:pt x="384" y="2075"/>
                  </a:cubicBezTo>
                  <a:cubicBezTo>
                    <a:pt x="569" y="1963"/>
                    <a:pt x="777" y="1891"/>
                    <a:pt x="985" y="1832"/>
                  </a:cubicBezTo>
                  <a:cubicBezTo>
                    <a:pt x="1195" y="1775"/>
                    <a:pt x="1409" y="1735"/>
                    <a:pt x="1624" y="1699"/>
                  </a:cubicBezTo>
                  <a:cubicBezTo>
                    <a:pt x="1839" y="1664"/>
                    <a:pt x="2055" y="1634"/>
                    <a:pt x="2272" y="1614"/>
                  </a:cubicBezTo>
                  <a:cubicBezTo>
                    <a:pt x="2435" y="1599"/>
                    <a:pt x="2435" y="1599"/>
                    <a:pt x="2435" y="1599"/>
                  </a:cubicBezTo>
                  <a:cubicBezTo>
                    <a:pt x="2516" y="1591"/>
                    <a:pt x="2516" y="1591"/>
                    <a:pt x="2516" y="1591"/>
                  </a:cubicBezTo>
                  <a:cubicBezTo>
                    <a:pt x="2598" y="1586"/>
                    <a:pt x="2598" y="1586"/>
                    <a:pt x="2598" y="1586"/>
                  </a:cubicBezTo>
                  <a:cubicBezTo>
                    <a:pt x="2706" y="1579"/>
                    <a:pt x="2815" y="1573"/>
                    <a:pt x="2924" y="1565"/>
                  </a:cubicBezTo>
                  <a:cubicBezTo>
                    <a:pt x="2978" y="1561"/>
                    <a:pt x="3033" y="1557"/>
                    <a:pt x="3087" y="1551"/>
                  </a:cubicBezTo>
                  <a:cubicBezTo>
                    <a:pt x="3141" y="1544"/>
                    <a:pt x="3196" y="1536"/>
                    <a:pt x="3249" y="1522"/>
                  </a:cubicBezTo>
                  <a:cubicBezTo>
                    <a:pt x="3276" y="1515"/>
                    <a:pt x="3302" y="1506"/>
                    <a:pt x="3328" y="1495"/>
                  </a:cubicBezTo>
                  <a:cubicBezTo>
                    <a:pt x="3334" y="1492"/>
                    <a:pt x="3340" y="1489"/>
                    <a:pt x="3346" y="1486"/>
                  </a:cubicBezTo>
                  <a:cubicBezTo>
                    <a:pt x="3353" y="1483"/>
                    <a:pt x="3359" y="1479"/>
                    <a:pt x="3365" y="1476"/>
                  </a:cubicBezTo>
                  <a:cubicBezTo>
                    <a:pt x="3383" y="1466"/>
                    <a:pt x="3383" y="1466"/>
                    <a:pt x="3383" y="1466"/>
                  </a:cubicBezTo>
                  <a:cubicBezTo>
                    <a:pt x="3387" y="1464"/>
                    <a:pt x="3387" y="1464"/>
                    <a:pt x="3387" y="1464"/>
                  </a:cubicBezTo>
                  <a:cubicBezTo>
                    <a:pt x="3392" y="1461"/>
                    <a:pt x="3392" y="1461"/>
                    <a:pt x="3392" y="1461"/>
                  </a:cubicBezTo>
                  <a:cubicBezTo>
                    <a:pt x="3401" y="1455"/>
                    <a:pt x="3401" y="1455"/>
                    <a:pt x="3401" y="1455"/>
                  </a:cubicBezTo>
                  <a:cubicBezTo>
                    <a:pt x="3423" y="1439"/>
                    <a:pt x="3445" y="1418"/>
                    <a:pt x="3457" y="1391"/>
                  </a:cubicBezTo>
                  <a:cubicBezTo>
                    <a:pt x="3458" y="1387"/>
                    <a:pt x="3459" y="1385"/>
                    <a:pt x="3461" y="1380"/>
                  </a:cubicBezTo>
                  <a:cubicBezTo>
                    <a:pt x="3463" y="1370"/>
                    <a:pt x="3463" y="1370"/>
                    <a:pt x="3463" y="1370"/>
                  </a:cubicBezTo>
                  <a:cubicBezTo>
                    <a:pt x="3464" y="1365"/>
                    <a:pt x="3464" y="1365"/>
                    <a:pt x="3464" y="1365"/>
                  </a:cubicBezTo>
                  <a:cubicBezTo>
                    <a:pt x="3465" y="1363"/>
                    <a:pt x="3465" y="1360"/>
                    <a:pt x="3465" y="1359"/>
                  </a:cubicBezTo>
                  <a:cubicBezTo>
                    <a:pt x="3466" y="1355"/>
                    <a:pt x="3466" y="1351"/>
                    <a:pt x="3466" y="1348"/>
                  </a:cubicBezTo>
                  <a:cubicBezTo>
                    <a:pt x="3465" y="1333"/>
                    <a:pt x="3461" y="1318"/>
                    <a:pt x="3455" y="1305"/>
                  </a:cubicBezTo>
                  <a:cubicBezTo>
                    <a:pt x="3442" y="1279"/>
                    <a:pt x="3419" y="1259"/>
                    <a:pt x="3396" y="1244"/>
                  </a:cubicBezTo>
                  <a:cubicBezTo>
                    <a:pt x="3373" y="1229"/>
                    <a:pt x="3348" y="1215"/>
                    <a:pt x="3323" y="1204"/>
                  </a:cubicBezTo>
                  <a:cubicBezTo>
                    <a:pt x="3273" y="1181"/>
                    <a:pt x="3220" y="1165"/>
                    <a:pt x="3167" y="1152"/>
                  </a:cubicBezTo>
                  <a:cubicBezTo>
                    <a:pt x="3061" y="1124"/>
                    <a:pt x="2954" y="1105"/>
                    <a:pt x="2846" y="1087"/>
                  </a:cubicBezTo>
                  <a:cubicBezTo>
                    <a:pt x="2631" y="1050"/>
                    <a:pt x="2416" y="1017"/>
                    <a:pt x="2204" y="968"/>
                  </a:cubicBezTo>
                  <a:cubicBezTo>
                    <a:pt x="2097" y="944"/>
                    <a:pt x="1993" y="913"/>
                    <a:pt x="1891" y="874"/>
                  </a:cubicBezTo>
                  <a:cubicBezTo>
                    <a:pt x="1841" y="855"/>
                    <a:pt x="1790" y="834"/>
                    <a:pt x="1742" y="809"/>
                  </a:cubicBezTo>
                  <a:cubicBezTo>
                    <a:pt x="1724" y="800"/>
                    <a:pt x="1724" y="800"/>
                    <a:pt x="1724" y="800"/>
                  </a:cubicBezTo>
                  <a:cubicBezTo>
                    <a:pt x="1719" y="797"/>
                    <a:pt x="1712" y="793"/>
                    <a:pt x="1707" y="790"/>
                  </a:cubicBezTo>
                  <a:cubicBezTo>
                    <a:pt x="1672" y="768"/>
                    <a:pt x="1672" y="768"/>
                    <a:pt x="1672" y="768"/>
                  </a:cubicBezTo>
                  <a:cubicBezTo>
                    <a:pt x="1655" y="758"/>
                    <a:pt x="1655" y="758"/>
                    <a:pt x="1655" y="758"/>
                  </a:cubicBezTo>
                  <a:cubicBezTo>
                    <a:pt x="1639" y="746"/>
                    <a:pt x="1639" y="746"/>
                    <a:pt x="1639" y="746"/>
                  </a:cubicBezTo>
                  <a:cubicBezTo>
                    <a:pt x="1627" y="737"/>
                    <a:pt x="1617" y="729"/>
                    <a:pt x="1608" y="720"/>
                  </a:cubicBezTo>
                  <a:cubicBezTo>
                    <a:pt x="1590" y="700"/>
                    <a:pt x="1575" y="677"/>
                    <a:pt x="1571" y="651"/>
                  </a:cubicBezTo>
                  <a:cubicBezTo>
                    <a:pt x="1567" y="626"/>
                    <a:pt x="1575" y="599"/>
                    <a:pt x="1589" y="577"/>
                  </a:cubicBezTo>
                  <a:cubicBezTo>
                    <a:pt x="1602" y="554"/>
                    <a:pt x="1622" y="535"/>
                    <a:pt x="1642" y="518"/>
                  </a:cubicBezTo>
                  <a:cubicBezTo>
                    <a:pt x="1663" y="501"/>
                    <a:pt x="1685" y="485"/>
                    <a:pt x="1709" y="472"/>
                  </a:cubicBezTo>
                  <a:cubicBezTo>
                    <a:pt x="1804" y="419"/>
                    <a:pt x="1908" y="386"/>
                    <a:pt x="2011" y="351"/>
                  </a:cubicBezTo>
                  <a:cubicBezTo>
                    <a:pt x="2063" y="333"/>
                    <a:pt x="2114" y="315"/>
                    <a:pt x="2165" y="296"/>
                  </a:cubicBezTo>
                  <a:cubicBezTo>
                    <a:pt x="2216" y="276"/>
                    <a:pt x="2267" y="255"/>
                    <a:pt x="2315" y="229"/>
                  </a:cubicBezTo>
                  <a:cubicBezTo>
                    <a:pt x="2364" y="205"/>
                    <a:pt x="2413" y="178"/>
                    <a:pt x="2452" y="139"/>
                  </a:cubicBezTo>
                  <a:cubicBezTo>
                    <a:pt x="2472" y="119"/>
                    <a:pt x="2486" y="96"/>
                    <a:pt x="2500" y="72"/>
                  </a:cubicBezTo>
                  <a:cubicBezTo>
                    <a:pt x="2507" y="60"/>
                    <a:pt x="2513" y="48"/>
                    <a:pt x="2519" y="35"/>
                  </a:cubicBezTo>
                  <a:cubicBezTo>
                    <a:pt x="2522" y="29"/>
                    <a:pt x="2524" y="23"/>
                    <a:pt x="2527" y="16"/>
                  </a:cubicBezTo>
                  <a:cubicBezTo>
                    <a:pt x="2531" y="7"/>
                    <a:pt x="2531" y="7"/>
                    <a:pt x="2531" y="7"/>
                  </a:cubicBezTo>
                  <a:cubicBezTo>
                    <a:pt x="2532" y="2"/>
                    <a:pt x="2532" y="2"/>
                    <a:pt x="2532" y="2"/>
                  </a:cubicBezTo>
                  <a:lnTo>
                    <a:pt x="2526" y="0"/>
                  </a:lnTo>
                  <a:close/>
                </a:path>
              </a:pathLst>
            </a:custGeom>
            <a:solidFill>
              <a:srgbClr val="FFFFFF"/>
            </a:solidFill>
            <a:ln w="9525">
              <a:noFill/>
              <a:round/>
            </a:ln>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34" name="Freeform 21"/>
            <p:cNvSpPr>
              <a:spLocks noEditPoints="1"/>
            </p:cNvSpPr>
            <p:nvPr/>
          </p:nvSpPr>
          <p:spPr bwMode="auto">
            <a:xfrm>
              <a:off x="4079474" y="2794047"/>
              <a:ext cx="3855656" cy="4063318"/>
            </a:xfrm>
            <a:custGeom>
              <a:avLst/>
              <a:gdLst>
                <a:gd name="T0" fmla="*/ 3809 w 3809"/>
                <a:gd name="T1" fmla="*/ 4031 h 4031"/>
                <a:gd name="T2" fmla="*/ 3402 w 3809"/>
                <a:gd name="T3" fmla="*/ 3683 h 4031"/>
                <a:gd name="T4" fmla="*/ 3243 w 3809"/>
                <a:gd name="T5" fmla="*/ 3486 h 4031"/>
                <a:gd name="T6" fmla="*/ 2758 w 3809"/>
                <a:gd name="T7" fmla="*/ 3276 h 4031"/>
                <a:gd name="T8" fmla="*/ 2456 w 3809"/>
                <a:gd name="T9" fmla="*/ 3180 h 4031"/>
                <a:gd name="T10" fmla="*/ 1825 w 3809"/>
                <a:gd name="T11" fmla="*/ 2888 h 4031"/>
                <a:gd name="T12" fmla="*/ 1108 w 3809"/>
                <a:gd name="T13" fmla="*/ 2750 h 4031"/>
                <a:gd name="T14" fmla="*/ 1407 w 3809"/>
                <a:gd name="T15" fmla="*/ 2806 h 4031"/>
                <a:gd name="T16" fmla="*/ 302 w 3809"/>
                <a:gd name="T17" fmla="*/ 2646 h 4031"/>
                <a:gd name="T18" fmla="*/ 479 w 3809"/>
                <a:gd name="T19" fmla="*/ 2608 h 4031"/>
                <a:gd name="T20" fmla="*/ 157 w 3809"/>
                <a:gd name="T21" fmla="*/ 2366 h 4031"/>
                <a:gd name="T22" fmla="*/ 39 w 3809"/>
                <a:gd name="T23" fmla="*/ 2187 h 4031"/>
                <a:gd name="T24" fmla="*/ 171 w 3809"/>
                <a:gd name="T25" fmla="*/ 2062 h 4031"/>
                <a:gd name="T26" fmla="*/ 737 w 3809"/>
                <a:gd name="T27" fmla="*/ 1943 h 4031"/>
                <a:gd name="T28" fmla="*/ 549 w 3809"/>
                <a:gd name="T29" fmla="*/ 1991 h 4031"/>
                <a:gd name="T30" fmla="*/ 1129 w 3809"/>
                <a:gd name="T31" fmla="*/ 1794 h 4031"/>
                <a:gd name="T32" fmla="*/ 1369 w 3809"/>
                <a:gd name="T33" fmla="*/ 1762 h 4031"/>
                <a:gd name="T34" fmla="*/ 1569 w 3809"/>
                <a:gd name="T35" fmla="*/ 1735 h 4031"/>
                <a:gd name="T36" fmla="*/ 1821 w 3809"/>
                <a:gd name="T37" fmla="*/ 1778 h 4031"/>
                <a:gd name="T38" fmla="*/ 1779 w 3809"/>
                <a:gd name="T39" fmla="*/ 1716 h 4031"/>
                <a:gd name="T40" fmla="*/ 2422 w 3809"/>
                <a:gd name="T41" fmla="*/ 1722 h 4031"/>
                <a:gd name="T42" fmla="*/ 2590 w 3809"/>
                <a:gd name="T43" fmla="*/ 1643 h 4031"/>
                <a:gd name="T44" fmla="*/ 2764 w 3809"/>
                <a:gd name="T45" fmla="*/ 1613 h 4031"/>
                <a:gd name="T46" fmla="*/ 3167 w 3809"/>
                <a:gd name="T47" fmla="*/ 1505 h 4031"/>
                <a:gd name="T48" fmla="*/ 3018 w 3809"/>
                <a:gd name="T49" fmla="*/ 1602 h 4031"/>
                <a:gd name="T50" fmla="*/ 3207 w 3809"/>
                <a:gd name="T51" fmla="*/ 1303 h 4031"/>
                <a:gd name="T52" fmla="*/ 3165 w 3809"/>
                <a:gd name="T53" fmla="*/ 1210 h 4031"/>
                <a:gd name="T54" fmla="*/ 3070 w 3809"/>
                <a:gd name="T55" fmla="*/ 1128 h 4031"/>
                <a:gd name="T56" fmla="*/ 3025 w 3809"/>
                <a:gd name="T57" fmla="*/ 1041 h 4031"/>
                <a:gd name="T58" fmla="*/ 2963 w 3809"/>
                <a:gd name="T59" fmla="*/ 1073 h 4031"/>
                <a:gd name="T60" fmla="*/ 2690 w 3809"/>
                <a:gd name="T61" fmla="*/ 990 h 4031"/>
                <a:gd name="T62" fmla="*/ 2443 w 3809"/>
                <a:gd name="T63" fmla="*/ 885 h 4031"/>
                <a:gd name="T64" fmla="*/ 2384 w 3809"/>
                <a:gd name="T65" fmla="*/ 923 h 4031"/>
                <a:gd name="T66" fmla="*/ 1924 w 3809"/>
                <a:gd name="T67" fmla="*/ 835 h 4031"/>
                <a:gd name="T68" fmla="*/ 1976 w 3809"/>
                <a:gd name="T69" fmla="*/ 802 h 4031"/>
                <a:gd name="T70" fmla="*/ 1805 w 3809"/>
                <a:gd name="T71" fmla="*/ 812 h 4031"/>
                <a:gd name="T72" fmla="*/ 1476 w 3809"/>
                <a:gd name="T73" fmla="*/ 707 h 4031"/>
                <a:gd name="T74" fmla="*/ 1608 w 3809"/>
                <a:gd name="T75" fmla="*/ 732 h 4031"/>
                <a:gd name="T76" fmla="*/ 1231 w 3809"/>
                <a:gd name="T77" fmla="*/ 656 h 4031"/>
                <a:gd name="T78" fmla="*/ 1291 w 3809"/>
                <a:gd name="T79" fmla="*/ 640 h 4031"/>
                <a:gd name="T80" fmla="*/ 1132 w 3809"/>
                <a:gd name="T81" fmla="*/ 538 h 4031"/>
                <a:gd name="T82" fmla="*/ 1154 w 3809"/>
                <a:gd name="T83" fmla="*/ 482 h 4031"/>
                <a:gd name="T84" fmla="*/ 1233 w 3809"/>
                <a:gd name="T85" fmla="*/ 421 h 4031"/>
                <a:gd name="T86" fmla="*/ 1432 w 3809"/>
                <a:gd name="T87" fmla="*/ 356 h 4031"/>
                <a:gd name="T88" fmla="*/ 1360 w 3809"/>
                <a:gd name="T89" fmla="*/ 393 h 4031"/>
                <a:gd name="T90" fmla="*/ 1560 w 3809"/>
                <a:gd name="T91" fmla="*/ 276 h 4031"/>
                <a:gd name="T92" fmla="*/ 1686 w 3809"/>
                <a:gd name="T93" fmla="*/ 258 h 4031"/>
                <a:gd name="T94" fmla="*/ 1621 w 3809"/>
                <a:gd name="T95" fmla="*/ 248 h 4031"/>
                <a:gd name="T96" fmla="*/ 1830 w 3809"/>
                <a:gd name="T97" fmla="*/ 161 h 4031"/>
                <a:gd name="T98" fmla="*/ 1790 w 3809"/>
                <a:gd name="T99" fmla="*/ 198 h 4031"/>
                <a:gd name="T100" fmla="*/ 1853 w 3809"/>
                <a:gd name="T101" fmla="*/ 101 h 4031"/>
                <a:gd name="T102" fmla="*/ 1897 w 3809"/>
                <a:gd name="T103" fmla="*/ 81 h 4031"/>
                <a:gd name="T104" fmla="*/ 1872 w 3809"/>
                <a:gd name="T105" fmla="*/ 75 h 4031"/>
                <a:gd name="T106" fmla="*/ 1927 w 3809"/>
                <a:gd name="T107" fmla="*/ 5 h 4031"/>
                <a:gd name="T108" fmla="*/ 1923 w 3809"/>
                <a:gd name="T109" fmla="*/ 29 h 4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09" h="4031">
                  <a:moveTo>
                    <a:pt x="3501" y="3996"/>
                  </a:moveTo>
                  <a:cubicBezTo>
                    <a:pt x="3798" y="3996"/>
                    <a:pt x="3798" y="3996"/>
                    <a:pt x="3798" y="3996"/>
                  </a:cubicBezTo>
                  <a:cubicBezTo>
                    <a:pt x="3809" y="4031"/>
                    <a:pt x="3809" y="4031"/>
                    <a:pt x="3809" y="4031"/>
                  </a:cubicBezTo>
                  <a:cubicBezTo>
                    <a:pt x="3509" y="4031"/>
                    <a:pt x="3509" y="4031"/>
                    <a:pt x="3509" y="4031"/>
                  </a:cubicBezTo>
                  <a:lnTo>
                    <a:pt x="3501" y="3996"/>
                  </a:lnTo>
                  <a:close/>
                  <a:moveTo>
                    <a:pt x="3402" y="3683"/>
                  </a:moveTo>
                  <a:cubicBezTo>
                    <a:pt x="3670" y="3664"/>
                    <a:pt x="3670" y="3664"/>
                    <a:pt x="3670" y="3664"/>
                  </a:cubicBezTo>
                  <a:cubicBezTo>
                    <a:pt x="3616" y="3520"/>
                    <a:pt x="3439" y="3423"/>
                    <a:pt x="3439" y="3423"/>
                  </a:cubicBezTo>
                  <a:cubicBezTo>
                    <a:pt x="3243" y="3486"/>
                    <a:pt x="3243" y="3486"/>
                    <a:pt x="3243" y="3486"/>
                  </a:cubicBezTo>
                  <a:cubicBezTo>
                    <a:pt x="3373" y="3590"/>
                    <a:pt x="3402" y="3683"/>
                    <a:pt x="3402" y="3683"/>
                  </a:cubicBezTo>
                  <a:close/>
                  <a:moveTo>
                    <a:pt x="2456" y="3180"/>
                  </a:moveTo>
                  <a:cubicBezTo>
                    <a:pt x="2594" y="3215"/>
                    <a:pt x="2758" y="3276"/>
                    <a:pt x="2758" y="3276"/>
                  </a:cubicBezTo>
                  <a:cubicBezTo>
                    <a:pt x="2984" y="3203"/>
                    <a:pt x="2984" y="3203"/>
                    <a:pt x="2984" y="3203"/>
                  </a:cubicBezTo>
                  <a:cubicBezTo>
                    <a:pt x="2951" y="3168"/>
                    <a:pt x="2618" y="3083"/>
                    <a:pt x="2618" y="3083"/>
                  </a:cubicBezTo>
                  <a:lnTo>
                    <a:pt x="2456" y="3180"/>
                  </a:lnTo>
                  <a:close/>
                  <a:moveTo>
                    <a:pt x="2026" y="3068"/>
                  </a:moveTo>
                  <a:cubicBezTo>
                    <a:pt x="2193" y="2967"/>
                    <a:pt x="2193" y="2967"/>
                    <a:pt x="2193" y="2967"/>
                  </a:cubicBezTo>
                  <a:cubicBezTo>
                    <a:pt x="2124" y="2940"/>
                    <a:pt x="1825" y="2888"/>
                    <a:pt x="1825" y="2888"/>
                  </a:cubicBezTo>
                  <a:cubicBezTo>
                    <a:pt x="1696" y="2990"/>
                    <a:pt x="1696" y="2990"/>
                    <a:pt x="1696" y="2990"/>
                  </a:cubicBezTo>
                  <a:cubicBezTo>
                    <a:pt x="1857" y="3023"/>
                    <a:pt x="2026" y="3068"/>
                    <a:pt x="2026" y="3068"/>
                  </a:cubicBezTo>
                  <a:close/>
                  <a:moveTo>
                    <a:pt x="1108" y="2750"/>
                  </a:moveTo>
                  <a:cubicBezTo>
                    <a:pt x="960" y="2839"/>
                    <a:pt x="960" y="2839"/>
                    <a:pt x="960" y="2839"/>
                  </a:cubicBezTo>
                  <a:cubicBezTo>
                    <a:pt x="960" y="2839"/>
                    <a:pt x="1221" y="2887"/>
                    <a:pt x="1282" y="2903"/>
                  </a:cubicBezTo>
                  <a:cubicBezTo>
                    <a:pt x="1282" y="2903"/>
                    <a:pt x="1374" y="2832"/>
                    <a:pt x="1407" y="2806"/>
                  </a:cubicBezTo>
                  <a:cubicBezTo>
                    <a:pt x="1407" y="2806"/>
                    <a:pt x="1228" y="2764"/>
                    <a:pt x="1108" y="2750"/>
                  </a:cubicBezTo>
                  <a:close/>
                  <a:moveTo>
                    <a:pt x="479" y="2608"/>
                  </a:moveTo>
                  <a:cubicBezTo>
                    <a:pt x="302" y="2646"/>
                    <a:pt x="302" y="2646"/>
                    <a:pt x="302" y="2646"/>
                  </a:cubicBezTo>
                  <a:cubicBezTo>
                    <a:pt x="302" y="2646"/>
                    <a:pt x="413" y="2719"/>
                    <a:pt x="606" y="2762"/>
                  </a:cubicBezTo>
                  <a:cubicBezTo>
                    <a:pt x="606" y="2762"/>
                    <a:pt x="702" y="2710"/>
                    <a:pt x="742" y="2682"/>
                  </a:cubicBezTo>
                  <a:cubicBezTo>
                    <a:pt x="742" y="2682"/>
                    <a:pt x="592" y="2656"/>
                    <a:pt x="479" y="2608"/>
                  </a:cubicBezTo>
                  <a:close/>
                  <a:moveTo>
                    <a:pt x="77" y="2501"/>
                  </a:moveTo>
                  <a:cubicBezTo>
                    <a:pt x="79" y="2502"/>
                    <a:pt x="228" y="2471"/>
                    <a:pt x="228" y="2471"/>
                  </a:cubicBezTo>
                  <a:cubicBezTo>
                    <a:pt x="228" y="2471"/>
                    <a:pt x="155" y="2402"/>
                    <a:pt x="157" y="2366"/>
                  </a:cubicBezTo>
                  <a:cubicBezTo>
                    <a:pt x="0" y="2360"/>
                    <a:pt x="0" y="2360"/>
                    <a:pt x="0" y="2360"/>
                  </a:cubicBezTo>
                  <a:cubicBezTo>
                    <a:pt x="0" y="2360"/>
                    <a:pt x="11" y="2447"/>
                    <a:pt x="77" y="2501"/>
                  </a:cubicBezTo>
                  <a:close/>
                  <a:moveTo>
                    <a:pt x="39" y="2187"/>
                  </a:moveTo>
                  <a:cubicBezTo>
                    <a:pt x="192" y="2197"/>
                    <a:pt x="192" y="2197"/>
                    <a:pt x="192" y="2197"/>
                  </a:cubicBezTo>
                  <a:cubicBezTo>
                    <a:pt x="192" y="2197"/>
                    <a:pt x="212" y="2158"/>
                    <a:pt x="296" y="2102"/>
                  </a:cubicBezTo>
                  <a:cubicBezTo>
                    <a:pt x="171" y="2062"/>
                    <a:pt x="171" y="2062"/>
                    <a:pt x="171" y="2062"/>
                  </a:cubicBezTo>
                  <a:cubicBezTo>
                    <a:pt x="171" y="2062"/>
                    <a:pt x="70" y="2130"/>
                    <a:pt x="39" y="2187"/>
                  </a:cubicBezTo>
                  <a:close/>
                  <a:moveTo>
                    <a:pt x="549" y="1991"/>
                  </a:moveTo>
                  <a:cubicBezTo>
                    <a:pt x="596" y="1973"/>
                    <a:pt x="737" y="1943"/>
                    <a:pt x="737" y="1943"/>
                  </a:cubicBezTo>
                  <a:cubicBezTo>
                    <a:pt x="633" y="1881"/>
                    <a:pt x="633" y="1881"/>
                    <a:pt x="633" y="1881"/>
                  </a:cubicBezTo>
                  <a:cubicBezTo>
                    <a:pt x="498" y="1907"/>
                    <a:pt x="407" y="1952"/>
                    <a:pt x="407" y="1952"/>
                  </a:cubicBezTo>
                  <a:lnTo>
                    <a:pt x="549" y="1991"/>
                  </a:lnTo>
                  <a:close/>
                  <a:moveTo>
                    <a:pt x="1018" y="1890"/>
                  </a:moveTo>
                  <a:cubicBezTo>
                    <a:pt x="1086" y="1878"/>
                    <a:pt x="1201" y="1860"/>
                    <a:pt x="1201" y="1860"/>
                  </a:cubicBezTo>
                  <a:cubicBezTo>
                    <a:pt x="1129" y="1794"/>
                    <a:pt x="1129" y="1794"/>
                    <a:pt x="1129" y="1794"/>
                  </a:cubicBezTo>
                  <a:cubicBezTo>
                    <a:pt x="913" y="1827"/>
                    <a:pt x="913" y="1827"/>
                    <a:pt x="913" y="1827"/>
                  </a:cubicBezTo>
                  <a:lnTo>
                    <a:pt x="1018" y="1890"/>
                  </a:lnTo>
                  <a:close/>
                  <a:moveTo>
                    <a:pt x="1369" y="1762"/>
                  </a:moveTo>
                  <a:cubicBezTo>
                    <a:pt x="1438" y="1830"/>
                    <a:pt x="1438" y="1830"/>
                    <a:pt x="1438" y="1830"/>
                  </a:cubicBezTo>
                  <a:cubicBezTo>
                    <a:pt x="1438" y="1830"/>
                    <a:pt x="1547" y="1806"/>
                    <a:pt x="1619" y="1804"/>
                  </a:cubicBezTo>
                  <a:cubicBezTo>
                    <a:pt x="1569" y="1735"/>
                    <a:pt x="1569" y="1735"/>
                    <a:pt x="1569" y="1735"/>
                  </a:cubicBezTo>
                  <a:cubicBezTo>
                    <a:pt x="1569" y="1735"/>
                    <a:pt x="1439" y="1745"/>
                    <a:pt x="1369" y="1762"/>
                  </a:cubicBezTo>
                  <a:close/>
                  <a:moveTo>
                    <a:pt x="1779" y="1716"/>
                  </a:moveTo>
                  <a:cubicBezTo>
                    <a:pt x="1821" y="1778"/>
                    <a:pt x="1821" y="1778"/>
                    <a:pt x="1821" y="1778"/>
                  </a:cubicBezTo>
                  <a:cubicBezTo>
                    <a:pt x="1821" y="1778"/>
                    <a:pt x="1966" y="1760"/>
                    <a:pt x="2017" y="1756"/>
                  </a:cubicBezTo>
                  <a:cubicBezTo>
                    <a:pt x="1972" y="1693"/>
                    <a:pt x="1972" y="1693"/>
                    <a:pt x="1972" y="1693"/>
                  </a:cubicBezTo>
                  <a:cubicBezTo>
                    <a:pt x="1972" y="1693"/>
                    <a:pt x="1856" y="1699"/>
                    <a:pt x="1779" y="1716"/>
                  </a:cubicBezTo>
                  <a:close/>
                  <a:moveTo>
                    <a:pt x="2186" y="1676"/>
                  </a:moveTo>
                  <a:cubicBezTo>
                    <a:pt x="2229" y="1735"/>
                    <a:pt x="2229" y="1735"/>
                    <a:pt x="2229" y="1735"/>
                  </a:cubicBezTo>
                  <a:cubicBezTo>
                    <a:pt x="2229" y="1735"/>
                    <a:pt x="2341" y="1725"/>
                    <a:pt x="2422" y="1722"/>
                  </a:cubicBezTo>
                  <a:cubicBezTo>
                    <a:pt x="2370" y="1663"/>
                    <a:pt x="2370" y="1663"/>
                    <a:pt x="2370" y="1663"/>
                  </a:cubicBezTo>
                  <a:cubicBezTo>
                    <a:pt x="2370" y="1663"/>
                    <a:pt x="2233" y="1667"/>
                    <a:pt x="2186" y="1676"/>
                  </a:cubicBezTo>
                  <a:close/>
                  <a:moveTo>
                    <a:pt x="2590" y="1643"/>
                  </a:moveTo>
                  <a:cubicBezTo>
                    <a:pt x="2639" y="1695"/>
                    <a:pt x="2639" y="1695"/>
                    <a:pt x="2639" y="1695"/>
                  </a:cubicBezTo>
                  <a:cubicBezTo>
                    <a:pt x="2639" y="1695"/>
                    <a:pt x="2762" y="1685"/>
                    <a:pt x="2833" y="1658"/>
                  </a:cubicBezTo>
                  <a:cubicBezTo>
                    <a:pt x="2764" y="1613"/>
                    <a:pt x="2764" y="1613"/>
                    <a:pt x="2764" y="1613"/>
                  </a:cubicBezTo>
                  <a:cubicBezTo>
                    <a:pt x="2764" y="1613"/>
                    <a:pt x="2703" y="1629"/>
                    <a:pt x="2590" y="1643"/>
                  </a:cubicBezTo>
                  <a:close/>
                  <a:moveTo>
                    <a:pt x="3018" y="1602"/>
                  </a:moveTo>
                  <a:cubicBezTo>
                    <a:pt x="3120" y="1560"/>
                    <a:pt x="3167" y="1505"/>
                    <a:pt x="3167" y="1505"/>
                  </a:cubicBezTo>
                  <a:cubicBezTo>
                    <a:pt x="3154" y="1505"/>
                    <a:pt x="3085" y="1486"/>
                    <a:pt x="3085" y="1486"/>
                  </a:cubicBezTo>
                  <a:cubicBezTo>
                    <a:pt x="3046" y="1524"/>
                    <a:pt x="2950" y="1561"/>
                    <a:pt x="2950" y="1561"/>
                  </a:cubicBezTo>
                  <a:lnTo>
                    <a:pt x="3018" y="1602"/>
                  </a:lnTo>
                  <a:close/>
                  <a:moveTo>
                    <a:pt x="3256" y="1400"/>
                  </a:moveTo>
                  <a:cubicBezTo>
                    <a:pt x="3286" y="1346"/>
                    <a:pt x="3269" y="1295"/>
                    <a:pt x="3269" y="1295"/>
                  </a:cubicBezTo>
                  <a:cubicBezTo>
                    <a:pt x="3207" y="1303"/>
                    <a:pt x="3207" y="1303"/>
                    <a:pt x="3207" y="1303"/>
                  </a:cubicBezTo>
                  <a:cubicBezTo>
                    <a:pt x="3212" y="1343"/>
                    <a:pt x="3185" y="1379"/>
                    <a:pt x="3185" y="1379"/>
                  </a:cubicBezTo>
                  <a:lnTo>
                    <a:pt x="3256" y="1400"/>
                  </a:lnTo>
                  <a:close/>
                  <a:moveTo>
                    <a:pt x="3165" y="1210"/>
                  </a:moveTo>
                  <a:cubicBezTo>
                    <a:pt x="3241" y="1198"/>
                    <a:pt x="3241" y="1198"/>
                    <a:pt x="3241" y="1198"/>
                  </a:cubicBezTo>
                  <a:cubicBezTo>
                    <a:pt x="3210" y="1148"/>
                    <a:pt x="3133" y="1104"/>
                    <a:pt x="3133" y="1104"/>
                  </a:cubicBezTo>
                  <a:cubicBezTo>
                    <a:pt x="3070" y="1128"/>
                    <a:pt x="3070" y="1128"/>
                    <a:pt x="3070" y="1128"/>
                  </a:cubicBezTo>
                  <a:cubicBezTo>
                    <a:pt x="3114" y="1151"/>
                    <a:pt x="3165" y="1210"/>
                    <a:pt x="3165" y="1210"/>
                  </a:cubicBezTo>
                  <a:close/>
                  <a:moveTo>
                    <a:pt x="2963" y="1073"/>
                  </a:moveTo>
                  <a:cubicBezTo>
                    <a:pt x="3025" y="1041"/>
                    <a:pt x="3025" y="1041"/>
                    <a:pt x="3025" y="1041"/>
                  </a:cubicBezTo>
                  <a:cubicBezTo>
                    <a:pt x="3025" y="1041"/>
                    <a:pt x="2952" y="1004"/>
                    <a:pt x="2883" y="982"/>
                  </a:cubicBezTo>
                  <a:cubicBezTo>
                    <a:pt x="2824" y="1018"/>
                    <a:pt x="2824" y="1018"/>
                    <a:pt x="2824" y="1018"/>
                  </a:cubicBezTo>
                  <a:cubicBezTo>
                    <a:pt x="2824" y="1018"/>
                    <a:pt x="2893" y="1036"/>
                    <a:pt x="2963" y="1073"/>
                  </a:cubicBezTo>
                  <a:close/>
                  <a:moveTo>
                    <a:pt x="2576" y="912"/>
                  </a:moveTo>
                  <a:cubicBezTo>
                    <a:pt x="2515" y="949"/>
                    <a:pt x="2515" y="949"/>
                    <a:pt x="2515" y="949"/>
                  </a:cubicBezTo>
                  <a:cubicBezTo>
                    <a:pt x="2515" y="949"/>
                    <a:pt x="2621" y="968"/>
                    <a:pt x="2690" y="990"/>
                  </a:cubicBezTo>
                  <a:cubicBezTo>
                    <a:pt x="2760" y="951"/>
                    <a:pt x="2760" y="951"/>
                    <a:pt x="2760" y="951"/>
                  </a:cubicBezTo>
                  <a:cubicBezTo>
                    <a:pt x="2760" y="951"/>
                    <a:pt x="2611" y="916"/>
                    <a:pt x="2576" y="912"/>
                  </a:cubicBezTo>
                  <a:close/>
                  <a:moveTo>
                    <a:pt x="2443" y="885"/>
                  </a:moveTo>
                  <a:cubicBezTo>
                    <a:pt x="2267" y="857"/>
                    <a:pt x="2267" y="857"/>
                    <a:pt x="2267" y="857"/>
                  </a:cubicBezTo>
                  <a:cubicBezTo>
                    <a:pt x="2216" y="890"/>
                    <a:pt x="2216" y="890"/>
                    <a:pt x="2216" y="890"/>
                  </a:cubicBezTo>
                  <a:cubicBezTo>
                    <a:pt x="2384" y="923"/>
                    <a:pt x="2384" y="923"/>
                    <a:pt x="2384" y="923"/>
                  </a:cubicBezTo>
                  <a:lnTo>
                    <a:pt x="2443" y="885"/>
                  </a:lnTo>
                  <a:close/>
                  <a:moveTo>
                    <a:pt x="1976" y="802"/>
                  </a:moveTo>
                  <a:cubicBezTo>
                    <a:pt x="1976" y="802"/>
                    <a:pt x="1922" y="835"/>
                    <a:pt x="1924" y="835"/>
                  </a:cubicBezTo>
                  <a:cubicBezTo>
                    <a:pt x="1926" y="834"/>
                    <a:pt x="2080" y="868"/>
                    <a:pt x="2080" y="868"/>
                  </a:cubicBezTo>
                  <a:cubicBezTo>
                    <a:pt x="2136" y="829"/>
                    <a:pt x="2136" y="829"/>
                    <a:pt x="2136" y="829"/>
                  </a:cubicBezTo>
                  <a:lnTo>
                    <a:pt x="1976" y="802"/>
                  </a:lnTo>
                  <a:close/>
                  <a:moveTo>
                    <a:pt x="1720" y="757"/>
                  </a:moveTo>
                  <a:cubicBezTo>
                    <a:pt x="1672" y="786"/>
                    <a:pt x="1672" y="786"/>
                    <a:pt x="1672" y="786"/>
                  </a:cubicBezTo>
                  <a:cubicBezTo>
                    <a:pt x="1805" y="812"/>
                    <a:pt x="1805" y="812"/>
                    <a:pt x="1805" y="812"/>
                  </a:cubicBezTo>
                  <a:cubicBezTo>
                    <a:pt x="1859" y="776"/>
                    <a:pt x="1859" y="776"/>
                    <a:pt x="1859" y="776"/>
                  </a:cubicBezTo>
                  <a:lnTo>
                    <a:pt x="1720" y="757"/>
                  </a:lnTo>
                  <a:close/>
                  <a:moveTo>
                    <a:pt x="1476" y="707"/>
                  </a:moveTo>
                  <a:cubicBezTo>
                    <a:pt x="1425" y="734"/>
                    <a:pt x="1425" y="734"/>
                    <a:pt x="1425" y="734"/>
                  </a:cubicBezTo>
                  <a:cubicBezTo>
                    <a:pt x="1558" y="766"/>
                    <a:pt x="1558" y="766"/>
                    <a:pt x="1558" y="766"/>
                  </a:cubicBezTo>
                  <a:cubicBezTo>
                    <a:pt x="1558" y="766"/>
                    <a:pt x="1611" y="733"/>
                    <a:pt x="1608" y="732"/>
                  </a:cubicBezTo>
                  <a:cubicBezTo>
                    <a:pt x="1605" y="731"/>
                    <a:pt x="1476" y="707"/>
                    <a:pt x="1476" y="707"/>
                  </a:cubicBezTo>
                  <a:close/>
                  <a:moveTo>
                    <a:pt x="1291" y="640"/>
                  </a:moveTo>
                  <a:cubicBezTo>
                    <a:pt x="1231" y="656"/>
                    <a:pt x="1231" y="656"/>
                    <a:pt x="1231" y="656"/>
                  </a:cubicBezTo>
                  <a:cubicBezTo>
                    <a:pt x="1325" y="707"/>
                    <a:pt x="1325" y="707"/>
                    <a:pt x="1325" y="707"/>
                  </a:cubicBezTo>
                  <a:cubicBezTo>
                    <a:pt x="1383" y="680"/>
                    <a:pt x="1383" y="680"/>
                    <a:pt x="1383" y="680"/>
                  </a:cubicBezTo>
                  <a:cubicBezTo>
                    <a:pt x="1383" y="680"/>
                    <a:pt x="1348" y="666"/>
                    <a:pt x="1291" y="640"/>
                  </a:cubicBezTo>
                  <a:close/>
                  <a:moveTo>
                    <a:pt x="1231" y="596"/>
                  </a:moveTo>
                  <a:cubicBezTo>
                    <a:pt x="1185" y="571"/>
                    <a:pt x="1195" y="534"/>
                    <a:pt x="1195" y="534"/>
                  </a:cubicBezTo>
                  <a:cubicBezTo>
                    <a:pt x="1132" y="538"/>
                    <a:pt x="1132" y="538"/>
                    <a:pt x="1132" y="538"/>
                  </a:cubicBezTo>
                  <a:cubicBezTo>
                    <a:pt x="1120" y="575"/>
                    <a:pt x="1165" y="614"/>
                    <a:pt x="1165" y="614"/>
                  </a:cubicBezTo>
                  <a:lnTo>
                    <a:pt x="1231" y="596"/>
                  </a:lnTo>
                  <a:close/>
                  <a:moveTo>
                    <a:pt x="1154" y="482"/>
                  </a:moveTo>
                  <a:cubicBezTo>
                    <a:pt x="1219" y="485"/>
                    <a:pt x="1219" y="485"/>
                    <a:pt x="1219" y="485"/>
                  </a:cubicBezTo>
                  <a:cubicBezTo>
                    <a:pt x="1219" y="485"/>
                    <a:pt x="1231" y="462"/>
                    <a:pt x="1280" y="432"/>
                  </a:cubicBezTo>
                  <a:cubicBezTo>
                    <a:pt x="1233" y="421"/>
                    <a:pt x="1233" y="421"/>
                    <a:pt x="1233" y="421"/>
                  </a:cubicBezTo>
                  <a:cubicBezTo>
                    <a:pt x="1233" y="421"/>
                    <a:pt x="1172" y="455"/>
                    <a:pt x="1154" y="482"/>
                  </a:cubicBezTo>
                  <a:close/>
                  <a:moveTo>
                    <a:pt x="1360" y="393"/>
                  </a:moveTo>
                  <a:cubicBezTo>
                    <a:pt x="1432" y="356"/>
                    <a:pt x="1432" y="356"/>
                    <a:pt x="1432" y="356"/>
                  </a:cubicBezTo>
                  <a:cubicBezTo>
                    <a:pt x="1382" y="345"/>
                    <a:pt x="1382" y="345"/>
                    <a:pt x="1382" y="345"/>
                  </a:cubicBezTo>
                  <a:cubicBezTo>
                    <a:pt x="1306" y="381"/>
                    <a:pt x="1306" y="381"/>
                    <a:pt x="1306" y="381"/>
                  </a:cubicBezTo>
                  <a:lnTo>
                    <a:pt x="1360" y="393"/>
                  </a:lnTo>
                  <a:close/>
                  <a:moveTo>
                    <a:pt x="1535" y="320"/>
                  </a:moveTo>
                  <a:cubicBezTo>
                    <a:pt x="1619" y="286"/>
                    <a:pt x="1619" y="286"/>
                    <a:pt x="1619" y="286"/>
                  </a:cubicBezTo>
                  <a:cubicBezTo>
                    <a:pt x="1560" y="276"/>
                    <a:pt x="1560" y="276"/>
                    <a:pt x="1560" y="276"/>
                  </a:cubicBezTo>
                  <a:cubicBezTo>
                    <a:pt x="1560" y="276"/>
                    <a:pt x="1482" y="306"/>
                    <a:pt x="1479" y="307"/>
                  </a:cubicBezTo>
                  <a:lnTo>
                    <a:pt x="1535" y="320"/>
                  </a:lnTo>
                  <a:close/>
                  <a:moveTo>
                    <a:pt x="1686" y="258"/>
                  </a:moveTo>
                  <a:cubicBezTo>
                    <a:pt x="1715" y="244"/>
                    <a:pt x="1745" y="223"/>
                    <a:pt x="1745" y="223"/>
                  </a:cubicBezTo>
                  <a:cubicBezTo>
                    <a:pt x="1692" y="215"/>
                    <a:pt x="1692" y="215"/>
                    <a:pt x="1692" y="215"/>
                  </a:cubicBezTo>
                  <a:cubicBezTo>
                    <a:pt x="1667" y="229"/>
                    <a:pt x="1621" y="248"/>
                    <a:pt x="1621" y="248"/>
                  </a:cubicBezTo>
                  <a:lnTo>
                    <a:pt x="1686" y="258"/>
                  </a:lnTo>
                  <a:close/>
                  <a:moveTo>
                    <a:pt x="1790" y="198"/>
                  </a:moveTo>
                  <a:cubicBezTo>
                    <a:pt x="1805" y="188"/>
                    <a:pt x="1830" y="161"/>
                    <a:pt x="1830" y="161"/>
                  </a:cubicBezTo>
                  <a:cubicBezTo>
                    <a:pt x="1789" y="154"/>
                    <a:pt x="1789" y="154"/>
                    <a:pt x="1789" y="154"/>
                  </a:cubicBezTo>
                  <a:cubicBezTo>
                    <a:pt x="1768" y="170"/>
                    <a:pt x="1737" y="187"/>
                    <a:pt x="1737" y="187"/>
                  </a:cubicBezTo>
                  <a:lnTo>
                    <a:pt x="1790" y="198"/>
                  </a:lnTo>
                  <a:close/>
                  <a:moveTo>
                    <a:pt x="1859" y="135"/>
                  </a:moveTo>
                  <a:cubicBezTo>
                    <a:pt x="1870" y="121"/>
                    <a:pt x="1878" y="106"/>
                    <a:pt x="1878" y="106"/>
                  </a:cubicBezTo>
                  <a:cubicBezTo>
                    <a:pt x="1853" y="101"/>
                    <a:pt x="1853" y="101"/>
                    <a:pt x="1853" y="101"/>
                  </a:cubicBezTo>
                  <a:cubicBezTo>
                    <a:pt x="1840" y="113"/>
                    <a:pt x="1819" y="129"/>
                    <a:pt x="1819" y="129"/>
                  </a:cubicBezTo>
                  <a:lnTo>
                    <a:pt x="1859" y="135"/>
                  </a:lnTo>
                  <a:close/>
                  <a:moveTo>
                    <a:pt x="1897" y="81"/>
                  </a:moveTo>
                  <a:cubicBezTo>
                    <a:pt x="1902" y="75"/>
                    <a:pt x="1915" y="49"/>
                    <a:pt x="1915" y="49"/>
                  </a:cubicBezTo>
                  <a:cubicBezTo>
                    <a:pt x="1896" y="46"/>
                    <a:pt x="1896" y="46"/>
                    <a:pt x="1896" y="46"/>
                  </a:cubicBezTo>
                  <a:cubicBezTo>
                    <a:pt x="1872" y="75"/>
                    <a:pt x="1872" y="75"/>
                    <a:pt x="1872" y="75"/>
                  </a:cubicBezTo>
                  <a:lnTo>
                    <a:pt x="1897" y="81"/>
                  </a:lnTo>
                  <a:close/>
                  <a:moveTo>
                    <a:pt x="1923" y="29"/>
                  </a:moveTo>
                  <a:cubicBezTo>
                    <a:pt x="1927" y="5"/>
                    <a:pt x="1927" y="5"/>
                    <a:pt x="1927" y="5"/>
                  </a:cubicBezTo>
                  <a:cubicBezTo>
                    <a:pt x="1918" y="0"/>
                    <a:pt x="1918" y="0"/>
                    <a:pt x="1918" y="0"/>
                  </a:cubicBezTo>
                  <a:cubicBezTo>
                    <a:pt x="1905" y="24"/>
                    <a:pt x="1905" y="24"/>
                    <a:pt x="1905" y="24"/>
                  </a:cubicBezTo>
                  <a:lnTo>
                    <a:pt x="1923" y="29"/>
                  </a:lnTo>
                  <a:close/>
                </a:path>
              </a:pathLst>
            </a:custGeom>
            <a:solidFill>
              <a:srgbClr val="FFFFFF"/>
            </a:solidFill>
            <a:ln w="3175" cap="flat">
              <a:noFill/>
              <a:prstDash val="solid"/>
              <a:miter lim="800000"/>
            </a:ln>
          </p:spPr>
          <p:txBody>
            <a:bodyPr vert="horz" wrap="square" lIns="0" tIns="0" rIns="0" bIns="0" numCol="1" anchor="t" anchorCtr="0" compatLnSpc="1"/>
            <a:lstStyle/>
            <a:p>
              <a:pP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grpSp>
      <p:grpSp>
        <p:nvGrpSpPr>
          <p:cNvPr id="10" name="Group 1"/>
          <p:cNvGrpSpPr/>
          <p:nvPr/>
        </p:nvGrpSpPr>
        <p:grpSpPr>
          <a:xfrm rot="0">
            <a:off x="6136005" y="1491615"/>
            <a:ext cx="760095" cy="945515"/>
            <a:chOff x="5983936" y="1642734"/>
            <a:chExt cx="908149" cy="1128551"/>
          </a:xfrm>
          <a:gradFill>
            <a:gsLst>
              <a:gs pos="0">
                <a:srgbClr val="3368FF"/>
              </a:gs>
              <a:gs pos="100000">
                <a:srgbClr val="B3D4FE"/>
              </a:gs>
            </a:gsLst>
            <a:lin ang="2700000" scaled="0"/>
          </a:gradFill>
        </p:grpSpPr>
        <p:sp>
          <p:nvSpPr>
            <p:cNvPr id="11" name="Freeform 25"/>
            <p:cNvSpPr/>
            <p:nvPr/>
          </p:nvSpPr>
          <p:spPr bwMode="auto">
            <a:xfrm>
              <a:off x="6524091" y="1974047"/>
              <a:ext cx="367994" cy="395209"/>
            </a:xfrm>
            <a:custGeom>
              <a:avLst/>
              <a:gdLst>
                <a:gd name="T0" fmla="*/ 364 w 364"/>
                <a:gd name="T1" fmla="*/ 392 h 392"/>
                <a:gd name="T2" fmla="*/ 337 w 364"/>
                <a:gd name="T3" fmla="*/ 90 h 392"/>
                <a:gd name="T4" fmla="*/ 225 w 364"/>
                <a:gd name="T5" fmla="*/ 57 h 392"/>
                <a:gd name="T6" fmla="*/ 122 w 364"/>
                <a:gd name="T7" fmla="*/ 0 h 392"/>
                <a:gd name="T8" fmla="*/ 0 w 364"/>
                <a:gd name="T9" fmla="*/ 311 h 392"/>
                <a:gd name="T10" fmla="*/ 159 w 364"/>
                <a:gd name="T11" fmla="*/ 361 h 392"/>
                <a:gd name="T12" fmla="*/ 364 w 364"/>
                <a:gd name="T13" fmla="*/ 392 h 392"/>
              </a:gdLst>
              <a:ahLst/>
              <a:cxnLst>
                <a:cxn ang="0">
                  <a:pos x="T0" y="T1"/>
                </a:cxn>
                <a:cxn ang="0">
                  <a:pos x="T2" y="T3"/>
                </a:cxn>
                <a:cxn ang="0">
                  <a:pos x="T4" y="T5"/>
                </a:cxn>
                <a:cxn ang="0">
                  <a:pos x="T6" y="T7"/>
                </a:cxn>
                <a:cxn ang="0">
                  <a:pos x="T8" y="T9"/>
                </a:cxn>
                <a:cxn ang="0">
                  <a:pos x="T10" y="T11"/>
                </a:cxn>
                <a:cxn ang="0">
                  <a:pos x="T12" y="T13"/>
                </a:cxn>
              </a:cxnLst>
              <a:rect l="0" t="0" r="r" b="b"/>
              <a:pathLst>
                <a:path w="364" h="392">
                  <a:moveTo>
                    <a:pt x="364" y="392"/>
                  </a:moveTo>
                  <a:cubicBezTo>
                    <a:pt x="361" y="240"/>
                    <a:pt x="337" y="90"/>
                    <a:pt x="337" y="90"/>
                  </a:cubicBezTo>
                  <a:cubicBezTo>
                    <a:pt x="318" y="45"/>
                    <a:pt x="247" y="55"/>
                    <a:pt x="225" y="57"/>
                  </a:cubicBezTo>
                  <a:cubicBezTo>
                    <a:pt x="202" y="58"/>
                    <a:pt x="151" y="57"/>
                    <a:pt x="122" y="0"/>
                  </a:cubicBezTo>
                  <a:cubicBezTo>
                    <a:pt x="0" y="311"/>
                    <a:pt x="0" y="311"/>
                    <a:pt x="0" y="311"/>
                  </a:cubicBezTo>
                  <a:cubicBezTo>
                    <a:pt x="0" y="311"/>
                    <a:pt x="19" y="381"/>
                    <a:pt x="159" y="361"/>
                  </a:cubicBezTo>
                  <a:cubicBezTo>
                    <a:pt x="316" y="339"/>
                    <a:pt x="364" y="392"/>
                    <a:pt x="364" y="392"/>
                  </a:cubicBezTo>
                  <a:close/>
                </a:path>
              </a:pathLst>
            </a:custGeom>
            <a:grpFill/>
            <a:ln w="3175" cap="flat">
              <a:noFill/>
              <a:prstDash val="solid"/>
              <a:miter lim="800000"/>
            </a:ln>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36" name="Line 22"/>
            <p:cNvSpPr>
              <a:spLocks noChangeShapeType="1"/>
            </p:cNvSpPr>
            <p:nvPr/>
          </p:nvSpPr>
          <p:spPr bwMode="auto">
            <a:xfrm>
              <a:off x="6038954" y="1648651"/>
              <a:ext cx="0" cy="1060202"/>
            </a:xfrm>
            <a:prstGeom prst="line">
              <a:avLst/>
            </a:prstGeom>
            <a:grpFill/>
            <a:ln w="25400" cap="rnd">
              <a:solidFill>
                <a:srgbClr val="0042FF"/>
              </a:solidFill>
              <a:prstDash val="solid"/>
              <a:round/>
            </a:ln>
            <a:extLst>
              <a:ext uri="{909E8E84-426E-40DD-AFC4-6F175D3DCCD1}">
                <a14:hiddenFill xmlns:a14="http://schemas.microsoft.com/office/drawing/2010/main">
                  <a:noFill/>
                </a14:hiddenFill>
              </a:ext>
            </a:extLst>
          </p:spPr>
          <p:txBody>
            <a:bodyPr vert="horz" wrap="square" lIns="0" tIns="0" rIns="0" bIns="0" numCol="1" anchor="t" anchorCtr="0" compatLnSpc="1"/>
            <a:lstStyle/>
            <a:p>
              <a:pPr>
                <a:defRPr>
                  <a:latin typeface="微软雅黑"/>
                  <a:ea typeface="微软雅黑"/>
                  <a:cs typeface="微软雅黑"/>
                </a:defRPr>
              </a:pPr>
              <a:endParaRPr lang="en-US">
                <a:ea typeface="微软雅黑"/>
                <a:cs typeface="微软雅黑"/>
                <a:latin typeface="微软雅黑"/>
              </a:endParaRPr>
            </a:p>
          </p:txBody>
        </p:sp>
        <p:sp>
          <p:nvSpPr>
            <p:cNvPr id="12" name="Freeform 24"/>
            <p:cNvSpPr/>
            <p:nvPr/>
          </p:nvSpPr>
          <p:spPr bwMode="auto">
            <a:xfrm>
              <a:off x="6524091" y="2075216"/>
              <a:ext cx="155599" cy="212396"/>
            </a:xfrm>
            <a:custGeom>
              <a:avLst/>
              <a:gdLst>
                <a:gd name="T0" fmla="*/ 148 w 154"/>
                <a:gd name="T1" fmla="*/ 162 h 211"/>
                <a:gd name="T2" fmla="*/ 87 w 154"/>
                <a:gd name="T3" fmla="*/ 190 h 211"/>
                <a:gd name="T4" fmla="*/ 0 w 154"/>
                <a:gd name="T5" fmla="*/ 211 h 211"/>
                <a:gd name="T6" fmla="*/ 30 w 154"/>
                <a:gd name="T7" fmla="*/ 0 h 211"/>
                <a:gd name="T8" fmla="*/ 148 w 154"/>
                <a:gd name="T9" fmla="*/ 162 h 211"/>
              </a:gdLst>
              <a:ahLst/>
              <a:cxnLst>
                <a:cxn ang="0">
                  <a:pos x="T0" y="T1"/>
                </a:cxn>
                <a:cxn ang="0">
                  <a:pos x="T2" y="T3"/>
                </a:cxn>
                <a:cxn ang="0">
                  <a:pos x="T4" y="T5"/>
                </a:cxn>
                <a:cxn ang="0">
                  <a:pos x="T6" y="T7"/>
                </a:cxn>
                <a:cxn ang="0">
                  <a:pos x="T8" y="T9"/>
                </a:cxn>
              </a:cxnLst>
              <a:rect l="0" t="0" r="r" b="b"/>
              <a:pathLst>
                <a:path w="154" h="211">
                  <a:moveTo>
                    <a:pt x="148" y="162"/>
                  </a:moveTo>
                  <a:cubicBezTo>
                    <a:pt x="148" y="162"/>
                    <a:pt x="154" y="198"/>
                    <a:pt x="87" y="190"/>
                  </a:cubicBezTo>
                  <a:cubicBezTo>
                    <a:pt x="21" y="182"/>
                    <a:pt x="8" y="190"/>
                    <a:pt x="0" y="211"/>
                  </a:cubicBezTo>
                  <a:cubicBezTo>
                    <a:pt x="0" y="211"/>
                    <a:pt x="35" y="102"/>
                    <a:pt x="30" y="0"/>
                  </a:cubicBezTo>
                  <a:cubicBezTo>
                    <a:pt x="30" y="0"/>
                    <a:pt x="132" y="101"/>
                    <a:pt x="148" y="162"/>
                  </a:cubicBezTo>
                  <a:close/>
                </a:path>
              </a:pathLst>
            </a:custGeom>
            <a:grpFill/>
            <a:ln w="3175" cap="flat">
              <a:noFill/>
              <a:prstDash val="solid"/>
              <a:miter lim="800000"/>
            </a:ln>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3" name="Freeform 23"/>
            <p:cNvSpPr/>
            <p:nvPr/>
          </p:nvSpPr>
          <p:spPr bwMode="auto">
            <a:xfrm>
              <a:off x="6027122" y="1642734"/>
              <a:ext cx="673867" cy="595772"/>
            </a:xfrm>
            <a:custGeom>
              <a:avLst/>
              <a:gdLst>
                <a:gd name="T0" fmla="*/ 0 w 666"/>
                <a:gd name="T1" fmla="*/ 532 h 591"/>
                <a:gd name="T2" fmla="*/ 0 w 666"/>
                <a:gd name="T3" fmla="*/ 19 h 591"/>
                <a:gd name="T4" fmla="*/ 666 w 666"/>
                <a:gd name="T5" fmla="*/ 198 h 591"/>
                <a:gd name="T6" fmla="*/ 639 w 666"/>
                <a:gd name="T7" fmla="*/ 591 h 591"/>
                <a:gd name="T8" fmla="*/ 0 w 666"/>
                <a:gd name="T9" fmla="*/ 532 h 591"/>
              </a:gdLst>
              <a:ahLst/>
              <a:cxnLst>
                <a:cxn ang="0">
                  <a:pos x="T0" y="T1"/>
                </a:cxn>
                <a:cxn ang="0">
                  <a:pos x="T2" y="T3"/>
                </a:cxn>
                <a:cxn ang="0">
                  <a:pos x="T4" y="T5"/>
                </a:cxn>
                <a:cxn ang="0">
                  <a:pos x="T6" y="T7"/>
                </a:cxn>
                <a:cxn ang="0">
                  <a:pos x="T8" y="T9"/>
                </a:cxn>
              </a:cxnLst>
              <a:rect l="0" t="0" r="r" b="b"/>
              <a:pathLst>
                <a:path w="666" h="591">
                  <a:moveTo>
                    <a:pt x="0" y="532"/>
                  </a:moveTo>
                  <a:cubicBezTo>
                    <a:pt x="102" y="249"/>
                    <a:pt x="0" y="19"/>
                    <a:pt x="0" y="19"/>
                  </a:cubicBezTo>
                  <a:cubicBezTo>
                    <a:pt x="249" y="0"/>
                    <a:pt x="642" y="15"/>
                    <a:pt x="666" y="198"/>
                  </a:cubicBezTo>
                  <a:cubicBezTo>
                    <a:pt x="666" y="198"/>
                    <a:pt x="601" y="330"/>
                    <a:pt x="639" y="591"/>
                  </a:cubicBezTo>
                  <a:cubicBezTo>
                    <a:pt x="589" y="499"/>
                    <a:pt x="529" y="430"/>
                    <a:pt x="0" y="532"/>
                  </a:cubicBezTo>
                  <a:close/>
                </a:path>
              </a:pathLst>
            </a:custGeom>
            <a:grpFill/>
            <a:ln w="3175" cap="flat">
              <a:noFill/>
              <a:prstDash val="solid"/>
              <a:miter lim="800000"/>
            </a:ln>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sp>
          <p:nvSpPr>
            <p:cNvPr id="16" name="Oval 34"/>
            <p:cNvSpPr>
              <a:spLocks noChangeArrowheads="1"/>
            </p:cNvSpPr>
            <p:nvPr/>
          </p:nvSpPr>
          <p:spPr bwMode="auto">
            <a:xfrm>
              <a:off x="5983936" y="2660830"/>
              <a:ext cx="113149" cy="110455"/>
            </a:xfrm>
            <a:prstGeom prst="ellipse">
              <a:avLst/>
            </a:prstGeom>
            <a:grpFill/>
            <a:ln w="3175" cap="flat">
              <a:noFill/>
              <a:prstDash val="solid"/>
              <a:miter lim="800000"/>
            </a:ln>
          </p:spPr>
          <p:txBody>
            <a:bodyPr vert="horz" wrap="square" lIns="0" tIns="0" rIns="0" bIns="0" numCol="1" anchor="t" anchorCtr="0" compatLnSpc="1"/>
            <a:lstStyle/>
            <a:p>
              <a:pPr>
                <a:defRPr>
                  <a:latin typeface="微软雅黑"/>
                  <a:ea typeface="微软雅黑"/>
                  <a:cs typeface="微软雅黑"/>
                </a:defRPr>
              </a:pPr>
              <a:endParaRPr lang="en-US">
                <a:latin typeface="微软雅黑"/>
                <a:ea typeface="微软雅黑"/>
                <a:cs typeface="微软雅黑"/>
              </a:endParaRPr>
            </a:p>
          </p:txBody>
        </p:sp>
      </p:grpSp>
      <p:sp>
        <p:nvSpPr>
          <p:cNvPr id="22" name="Freeform 51"/>
          <p:cNvSpPr/>
          <p:nvPr/>
        </p:nvSpPr>
        <p:spPr>
          <a:xfrm>
            <a:off x="4433570" y="1458595"/>
            <a:ext cx="685800" cy="1064895"/>
          </a:xfrm>
          <a:custGeom>
            <a:avLst/>
            <a:gdLst>
              <a:gd name="connsiteX0" fmla="*/ 740228 w 740228"/>
              <a:gd name="connsiteY0" fmla="*/ 290286 h 290286"/>
              <a:gd name="connsiteX1" fmla="*/ 449942 w 740228"/>
              <a:gd name="connsiteY1" fmla="*/ 0 h 290286"/>
              <a:gd name="connsiteX2" fmla="*/ 0 w 740228"/>
              <a:gd name="connsiteY2" fmla="*/ 0 h 290286"/>
            </a:gdLst>
            <a:ahLst/>
            <a:cxnLst>
              <a:cxn ang="0">
                <a:pos x="connsiteX0" y="connsiteY0"/>
              </a:cxn>
              <a:cxn ang="0">
                <a:pos x="connsiteX1" y="connsiteY1"/>
              </a:cxn>
              <a:cxn ang="0">
                <a:pos x="connsiteX2" y="connsiteY2"/>
              </a:cxn>
            </a:cxnLst>
            <a:rect l="l" t="t" r="r" b="b"/>
            <a:pathLst>
              <a:path w="740228" h="290286">
                <a:moveTo>
                  <a:pt x="740228" y="290286"/>
                </a:moveTo>
                <a:lnTo>
                  <a:pt x="449942" y="0"/>
                </a:lnTo>
                <a:lnTo>
                  <a:pt x="0" y="0"/>
                </a:lnTo>
              </a:path>
            </a:pathLst>
          </a:custGeom>
          <a:noFill/>
          <a:ln>
            <a:solidFill>
              <a:srgbClr val="383838"/>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4" name="Freeform 52"/>
          <p:cNvSpPr/>
          <p:nvPr/>
        </p:nvSpPr>
        <p:spPr>
          <a:xfrm>
            <a:off x="2945765" y="3729990"/>
            <a:ext cx="775335" cy="630555"/>
          </a:xfrm>
          <a:custGeom>
            <a:avLst/>
            <a:gdLst>
              <a:gd name="connsiteX0" fmla="*/ 740228 w 740228"/>
              <a:gd name="connsiteY0" fmla="*/ 290286 h 290286"/>
              <a:gd name="connsiteX1" fmla="*/ 449942 w 740228"/>
              <a:gd name="connsiteY1" fmla="*/ 0 h 290286"/>
              <a:gd name="connsiteX2" fmla="*/ 0 w 740228"/>
              <a:gd name="connsiteY2" fmla="*/ 0 h 290286"/>
            </a:gdLst>
            <a:ahLst/>
            <a:cxnLst>
              <a:cxn ang="0">
                <a:pos x="connsiteX0" y="connsiteY0"/>
              </a:cxn>
              <a:cxn ang="0">
                <a:pos x="connsiteX1" y="connsiteY1"/>
              </a:cxn>
              <a:cxn ang="0">
                <a:pos x="connsiteX2" y="connsiteY2"/>
              </a:cxn>
            </a:cxnLst>
            <a:rect l="l" t="t" r="r" b="b"/>
            <a:pathLst>
              <a:path w="740228" h="290286">
                <a:moveTo>
                  <a:pt x="740228" y="290286"/>
                </a:moveTo>
                <a:lnTo>
                  <a:pt x="449942" y="0"/>
                </a:lnTo>
                <a:lnTo>
                  <a:pt x="0" y="0"/>
                </a:lnTo>
              </a:path>
            </a:pathLst>
          </a:custGeom>
          <a:noFill/>
          <a:ln>
            <a:solidFill>
              <a:srgbClr val="383838"/>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26" name="Freeform 53"/>
          <p:cNvSpPr/>
          <p:nvPr/>
        </p:nvSpPr>
        <p:spPr>
          <a:xfrm flipH="1">
            <a:off x="8560435" y="4610100"/>
            <a:ext cx="626110" cy="435610"/>
          </a:xfrm>
          <a:custGeom>
            <a:avLst/>
            <a:gdLst>
              <a:gd name="connsiteX0" fmla="*/ 740228 w 740228"/>
              <a:gd name="connsiteY0" fmla="*/ 290286 h 290286"/>
              <a:gd name="connsiteX1" fmla="*/ 449942 w 740228"/>
              <a:gd name="connsiteY1" fmla="*/ 0 h 290286"/>
              <a:gd name="connsiteX2" fmla="*/ 0 w 740228"/>
              <a:gd name="connsiteY2" fmla="*/ 0 h 290286"/>
            </a:gdLst>
            <a:ahLst/>
            <a:cxnLst>
              <a:cxn ang="0">
                <a:pos x="connsiteX0" y="connsiteY0"/>
              </a:cxn>
              <a:cxn ang="0">
                <a:pos x="connsiteX1" y="connsiteY1"/>
              </a:cxn>
              <a:cxn ang="0">
                <a:pos x="connsiteX2" y="connsiteY2"/>
              </a:cxn>
            </a:cxnLst>
            <a:rect l="l" t="t" r="r" b="b"/>
            <a:pathLst>
              <a:path w="740228" h="290286">
                <a:moveTo>
                  <a:pt x="740228" y="290286"/>
                </a:moveTo>
                <a:lnTo>
                  <a:pt x="449942" y="0"/>
                </a:lnTo>
                <a:lnTo>
                  <a:pt x="0" y="0"/>
                </a:lnTo>
              </a:path>
            </a:pathLst>
          </a:custGeom>
          <a:noFill/>
          <a:ln>
            <a:solidFill>
              <a:srgbClr val="383838"/>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55" name="Freeform 54"/>
          <p:cNvSpPr/>
          <p:nvPr/>
        </p:nvSpPr>
        <p:spPr>
          <a:xfrm flipH="1">
            <a:off x="7910195" y="2202180"/>
            <a:ext cx="729615" cy="875665"/>
          </a:xfrm>
          <a:custGeom>
            <a:avLst/>
            <a:gdLst>
              <a:gd name="connsiteX0" fmla="*/ 740228 w 740228"/>
              <a:gd name="connsiteY0" fmla="*/ 290286 h 290286"/>
              <a:gd name="connsiteX1" fmla="*/ 449942 w 740228"/>
              <a:gd name="connsiteY1" fmla="*/ 0 h 290286"/>
              <a:gd name="connsiteX2" fmla="*/ 0 w 740228"/>
              <a:gd name="connsiteY2" fmla="*/ 0 h 290286"/>
            </a:gdLst>
            <a:ahLst/>
            <a:cxnLst>
              <a:cxn ang="0">
                <a:pos x="connsiteX0" y="connsiteY0"/>
              </a:cxn>
              <a:cxn ang="0">
                <a:pos x="connsiteX1" y="connsiteY1"/>
              </a:cxn>
              <a:cxn ang="0">
                <a:pos x="connsiteX2" y="connsiteY2"/>
              </a:cxn>
            </a:cxnLst>
            <a:rect l="l" t="t" r="r" b="b"/>
            <a:pathLst>
              <a:path w="740228" h="290286">
                <a:moveTo>
                  <a:pt x="740228" y="290286"/>
                </a:moveTo>
                <a:lnTo>
                  <a:pt x="449942" y="0"/>
                </a:lnTo>
                <a:lnTo>
                  <a:pt x="0" y="0"/>
                </a:lnTo>
              </a:path>
            </a:pathLst>
          </a:custGeom>
          <a:noFill/>
          <a:ln>
            <a:solidFill>
              <a:srgbClr val="383838"/>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lang="en-US">
              <a:solidFill>
                <a:srgbClr val="383838"/>
              </a:solidFill>
              <a:latin typeface="微软雅黑"/>
              <a:ea typeface="微软雅黑"/>
              <a:cs typeface="微软雅黑"/>
              <a:sym typeface="微软雅黑"/>
            </a:endParaRPr>
          </a:p>
        </p:txBody>
      </p:sp>
      <p:sp>
        <p:nvSpPr>
          <p:cNvPr id="58" name="TextBox 57"/>
          <p:cNvSpPr txBox="1"/>
          <p:nvPr/>
        </p:nvSpPr>
        <p:spPr>
          <a:xfrm>
            <a:off x="1816100" y="3524885"/>
            <a:ext cx="1107440" cy="337185"/>
          </a:xfrm>
          <a:prstGeom prst="rect">
            <a:avLst/>
          </a:prstGeom>
          <a:noFill/>
        </p:spPr>
        <p:txBody>
          <a:bodyPr wrap="square" rtlCol="0">
            <a:spAutoFit/>
          </a:bodyPr>
          <a:lstStyle/>
          <a:p>
            <a:pPr lvl="0" algn="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原型开发</a:t>
            </a:r>
            <a:endParaRPr lang="zh-CN" altLang="en-US" sz="1600" b="1" dirty="0">
              <a:solidFill>
                <a:srgbClr val="383838"/>
              </a:solidFill>
              <a:latin typeface="微软雅黑"/>
              <a:ea typeface="微软雅黑"/>
              <a:cs typeface="微软雅黑"/>
              <a:sym typeface="微软雅黑"/>
            </a:endParaRPr>
          </a:p>
        </p:txBody>
      </p:sp>
      <p:sp>
        <p:nvSpPr>
          <p:cNvPr id="62" name="TextBox 61"/>
          <p:cNvSpPr txBox="1"/>
          <p:nvPr/>
        </p:nvSpPr>
        <p:spPr>
          <a:xfrm>
            <a:off x="9304020" y="4229735"/>
            <a:ext cx="1583055" cy="337185"/>
          </a:xfrm>
          <a:prstGeom prst="rect">
            <a:avLst/>
          </a:prstGeom>
          <a:noFill/>
        </p:spPr>
        <p:txBody>
          <a:bodyPr wrap="square" rtlCol="0">
            <a:spAutoFit/>
          </a:bodyPr>
          <a:lstStyle/>
          <a:p>
            <a:pPr>
              <a:defRPr>
                <a:latin typeface="微软雅黑"/>
                <a:ea typeface="微软雅黑"/>
                <a:cs typeface="微软雅黑"/>
              </a:defRPr>
            </a:pPr>
            <a:r>
              <a:rPr lang="zh-CN" altLang="en-US" sz="1600" b="1" dirty="0">
                <a:solidFill>
                  <a:srgbClr val="383838"/>
                </a:solidFill>
                <a:latin typeface="微软雅黑"/>
                <a:ea typeface="微软雅黑"/>
                <a:cs typeface="微软雅黑"/>
              </a:rPr>
              <a:t>技术预研</a:t>
            </a:r>
            <a:endParaRPr lang="zh-CN" altLang="en-US" sz="1600" b="1" dirty="0">
              <a:solidFill>
                <a:srgbClr val="383838"/>
              </a:solidFill>
              <a:latin typeface="微软雅黑"/>
              <a:ea typeface="微软雅黑"/>
              <a:cs typeface="微软雅黑"/>
            </a:endParaRPr>
          </a:p>
        </p:txBody>
      </p:sp>
      <p:grpSp>
        <p:nvGrpSpPr>
          <p:cNvPr id="54" name="组合 53"/>
          <p:cNvGrpSpPr/>
          <p:nvPr/>
        </p:nvGrpSpPr>
        <p:grpSpPr>
          <a:xfrm>
            <a:off x="3377565" y="4029710"/>
            <a:ext cx="924560" cy="873760"/>
            <a:chOff x="5319" y="6645"/>
            <a:chExt cx="1456" cy="1376"/>
          </a:xfrm>
        </p:grpSpPr>
        <p:sp>
          <p:nvSpPr>
            <p:cNvPr id="19" name="Oval 31"/>
            <p:cNvSpPr>
              <a:spLocks noChangeArrowheads="1"/>
            </p:cNvSpPr>
            <p:nvPr/>
          </p:nvSpPr>
          <p:spPr bwMode="auto">
            <a:xfrm>
              <a:off x="5359" y="6645"/>
              <a:ext cx="1376" cy="1376"/>
            </a:xfrm>
            <a:prstGeom prst="ellipse">
              <a:avLst/>
            </a:prstGeom>
            <a:gradFill>
              <a:gsLst>
                <a:gs pos="23000">
                  <a:srgbClr val="3368FF"/>
                </a:gs>
                <a:gs pos="100000">
                  <a:srgbClr val="B3D4FE"/>
                </a:gs>
              </a:gsLst>
              <a:lin ang="2700000" scaled="0"/>
            </a:gradFill>
            <a:ln>
              <a:solidFill>
                <a:srgbClr val="FFFFFF"/>
              </a:solidFill>
            </a:ln>
            <a:effectLst>
              <a:outerShdw dist="63500" dir="5400000" sx="90000" sy="-19000" rotWithShape="0">
                <a:srgbClr val="FFFF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68" name="TextBox 67"/>
            <p:cNvSpPr txBox="1"/>
            <p:nvPr/>
          </p:nvSpPr>
          <p:spPr>
            <a:xfrm>
              <a:off x="5319" y="6874"/>
              <a:ext cx="1456" cy="919"/>
            </a:xfrm>
            <a:prstGeom prst="rect">
              <a:avLst/>
            </a:prstGeom>
            <a:noFill/>
          </p:spPr>
          <p:txBody>
            <a:bodyPr wrap="square" rtlCol="0">
              <a:spAutoFit/>
            </a:bodyPr>
            <a:lstStyle/>
            <a:p>
              <a:pPr lvl="0" algn="ct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第二</a:t>
              </a:r>
              <a:endParaRPr lang="zh-CN" altLang="en-US" sz="1600" b="1" dirty="0">
                <a:solidFill>
                  <a:srgbClr val="383838"/>
                </a:solidFill>
                <a:latin typeface="微软雅黑"/>
                <a:ea typeface="微软雅黑"/>
                <a:cs typeface="微软雅黑"/>
                <a:sym typeface="微软雅黑"/>
              </a:endParaRPr>
            </a:p>
            <a:p>
              <a:pPr lvl="0" algn="ct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季度</a:t>
              </a:r>
              <a:endParaRPr lang="zh-CN" altLang="en-US" sz="1600" b="1" dirty="0">
                <a:solidFill>
                  <a:srgbClr val="383838"/>
                </a:solidFill>
                <a:latin typeface="微软雅黑"/>
                <a:ea typeface="微软雅黑"/>
                <a:cs typeface="微软雅黑"/>
                <a:sym typeface="微软雅黑"/>
              </a:endParaRPr>
            </a:p>
          </p:txBody>
        </p:sp>
      </p:grpSp>
      <p:grpSp>
        <p:nvGrpSpPr>
          <p:cNvPr id="57" name="组合 56"/>
          <p:cNvGrpSpPr/>
          <p:nvPr/>
        </p:nvGrpSpPr>
        <p:grpSpPr>
          <a:xfrm>
            <a:off x="7265670" y="3020060"/>
            <a:ext cx="831850" cy="831850"/>
            <a:chOff x="11431" y="4807"/>
            <a:chExt cx="1310" cy="1310"/>
          </a:xfrm>
        </p:grpSpPr>
        <p:sp>
          <p:nvSpPr>
            <p:cNvPr id="49" name="Oval 32"/>
            <p:cNvSpPr>
              <a:spLocks noChangeArrowheads="1"/>
            </p:cNvSpPr>
            <p:nvPr/>
          </p:nvSpPr>
          <p:spPr bwMode="auto">
            <a:xfrm>
              <a:off x="11431" y="4807"/>
              <a:ext cx="1311" cy="1311"/>
            </a:xfrm>
            <a:prstGeom prst="ellipse">
              <a:avLst/>
            </a:prstGeom>
            <a:gradFill>
              <a:gsLst>
                <a:gs pos="23000">
                  <a:srgbClr val="3368FF"/>
                </a:gs>
                <a:gs pos="100000">
                  <a:srgbClr val="B3D4FE"/>
                </a:gs>
              </a:gsLst>
              <a:lin ang="2700000" scaled="0"/>
            </a:gradFill>
            <a:ln>
              <a:solidFill>
                <a:srgbClr val="FFFFFF"/>
              </a:solidFill>
            </a:ln>
            <a:effectLst>
              <a:outerShdw dist="63500" dir="5400000" sx="90000" sy="-19000" rotWithShape="0">
                <a:srgbClr val="FFFF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69" name="TextBox 68"/>
            <p:cNvSpPr txBox="1"/>
            <p:nvPr/>
          </p:nvSpPr>
          <p:spPr>
            <a:xfrm>
              <a:off x="11440" y="5052"/>
              <a:ext cx="1292" cy="822"/>
            </a:xfrm>
            <a:prstGeom prst="rect">
              <a:avLst/>
            </a:prstGeom>
            <a:noFill/>
          </p:spPr>
          <p:txBody>
            <a:bodyPr wrap="square" rtlCol="0">
              <a:spAutoFit/>
            </a:bodyPr>
            <a:lstStyle/>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rPr>
                <a:t>第三</a:t>
              </a:r>
              <a:endParaRPr lang="zh-CN" altLang="en-US" sz="14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b="1" dirty="0">
                  <a:solidFill>
                    <a:srgbClr val="383838"/>
                  </a:solidFill>
                  <a:latin typeface="微软雅黑"/>
                  <a:ea typeface="微软雅黑"/>
                  <a:cs typeface="微软雅黑"/>
                </a:rPr>
                <a:t>季度</a:t>
              </a:r>
              <a:endParaRPr lang="zh-CN" altLang="en-US" sz="1400" b="1" dirty="0">
                <a:solidFill>
                  <a:srgbClr val="383838"/>
                </a:solidFill>
                <a:latin typeface="微软雅黑"/>
                <a:ea typeface="微软雅黑"/>
                <a:cs typeface="微软雅黑"/>
              </a:endParaRPr>
            </a:p>
          </p:txBody>
        </p:sp>
      </p:grpSp>
      <p:grpSp>
        <p:nvGrpSpPr>
          <p:cNvPr id="64" name="组合 63"/>
          <p:cNvGrpSpPr/>
          <p:nvPr/>
        </p:nvGrpSpPr>
        <p:grpSpPr>
          <a:xfrm>
            <a:off x="4985385" y="2466340"/>
            <a:ext cx="633730" cy="574040"/>
            <a:chOff x="7804" y="3942"/>
            <a:chExt cx="998" cy="904"/>
          </a:xfrm>
        </p:grpSpPr>
        <p:sp>
          <p:nvSpPr>
            <p:cNvPr id="20" name="Oval 33"/>
            <p:cNvSpPr>
              <a:spLocks noChangeArrowheads="1"/>
            </p:cNvSpPr>
            <p:nvPr/>
          </p:nvSpPr>
          <p:spPr bwMode="auto">
            <a:xfrm>
              <a:off x="7851" y="3942"/>
              <a:ext cx="905" cy="905"/>
            </a:xfrm>
            <a:prstGeom prst="ellipse">
              <a:avLst/>
            </a:prstGeom>
            <a:gradFill>
              <a:gsLst>
                <a:gs pos="23000">
                  <a:srgbClr val="3368FF"/>
                </a:gs>
                <a:gs pos="100000">
                  <a:srgbClr val="B3D4FE"/>
                </a:gs>
              </a:gsLst>
              <a:lin ang="2700000" scaled="0"/>
            </a:gradFill>
            <a:ln>
              <a:solidFill>
                <a:srgbClr val="FFFFFF"/>
              </a:solidFill>
            </a:ln>
            <a:effectLst>
              <a:outerShdw dist="63500" dir="5400000" sx="90000" sy="-19000" rotWithShape="0">
                <a:srgbClr val="FFFFFF">
                  <a:alpha val="15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lang="en-US">
                <a:latin typeface="微软雅黑"/>
                <a:ea typeface="微软雅黑"/>
                <a:cs typeface="微软雅黑"/>
                <a:sym typeface="微软雅黑"/>
              </a:endParaRPr>
            </a:p>
          </p:txBody>
        </p:sp>
        <p:sp>
          <p:nvSpPr>
            <p:cNvPr id="70" name="TextBox 69"/>
            <p:cNvSpPr txBox="1"/>
            <p:nvPr/>
          </p:nvSpPr>
          <p:spPr>
            <a:xfrm>
              <a:off x="7804" y="4032"/>
              <a:ext cx="999" cy="725"/>
            </a:xfrm>
            <a:prstGeom prst="rect">
              <a:avLst/>
            </a:prstGeom>
            <a:noFill/>
          </p:spPr>
          <p:txBody>
            <a:bodyPr wrap="square" rtlCol="0">
              <a:spAutoFit/>
            </a:bodyPr>
            <a:lstStyle/>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第四</a:t>
              </a:r>
              <a:endParaRPr lang="zh-CN" altLang="en-US" sz="1200"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200" b="1" dirty="0">
                  <a:solidFill>
                    <a:srgbClr val="383838"/>
                  </a:solidFill>
                  <a:latin typeface="微软雅黑"/>
                  <a:ea typeface="微软雅黑"/>
                  <a:cs typeface="微软雅黑"/>
                </a:rPr>
                <a:t>季度</a:t>
              </a:r>
              <a:endParaRPr lang="zh-CN" altLang="en-US" sz="1200" b="1" dirty="0">
                <a:solidFill>
                  <a:srgbClr val="383838"/>
                </a:solidFill>
                <a:latin typeface="微软雅黑"/>
                <a:ea typeface="微软雅黑"/>
                <a:cs typeface="微软雅黑"/>
              </a:endParaRPr>
            </a:p>
          </p:txBody>
        </p:sp>
      </p:grpSp>
      <p:sp>
        <p:nvSpPr>
          <p:cNvPr id="320" name="PPT11"/>
          <p:cNvSpPr txBox="1"/>
          <p:nvPr/>
        </p:nvSpPr>
        <p:spPr>
          <a:xfrm>
            <a:off x="9506939" y="4690284"/>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前沿探索</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21" name="PPT12"/>
          <p:cNvSpPr/>
          <p:nvPr/>
        </p:nvSpPr>
        <p:spPr>
          <a:xfrm>
            <a:off x="9420948" y="4642431"/>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18" name="PPT13"/>
          <p:cNvSpPr txBox="1"/>
          <p:nvPr/>
        </p:nvSpPr>
        <p:spPr>
          <a:xfrm>
            <a:off x="10308912" y="4690284"/>
            <a:ext cx="512961" cy="153888"/>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专利布局</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19" name="PPT14"/>
          <p:cNvSpPr/>
          <p:nvPr/>
        </p:nvSpPr>
        <p:spPr>
          <a:xfrm>
            <a:off x="10222921" y="4642431"/>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16" name="PPT15"/>
          <p:cNvSpPr txBox="1"/>
          <p:nvPr/>
        </p:nvSpPr>
        <p:spPr>
          <a:xfrm>
            <a:off x="11110885" y="4690284"/>
            <a:ext cx="512961" cy="153888"/>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设备升级</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17" name="PPT16"/>
          <p:cNvSpPr/>
          <p:nvPr/>
        </p:nvSpPr>
        <p:spPr>
          <a:xfrm>
            <a:off x="11024894" y="4642431"/>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09" name="PPT17"/>
          <p:cNvSpPr txBox="1"/>
          <p:nvPr/>
        </p:nvSpPr>
        <p:spPr>
          <a:xfrm>
            <a:off x="9420949" y="5007398"/>
            <a:ext cx="2288890" cy="1107440"/>
          </a:xfrm>
          <a:prstGeom prst="rect">
            <a:avLst/>
          </a:prstGeom>
          <a:noFill/>
        </p:spPr>
        <p:txBody>
          <a:bodyPr wrap="square" lIns="0" tIns="0" rIns="0" bIns="0">
            <a:spAutoFit/>
          </a:bodyPr>
          <a:lstStyle/>
          <a:p>
            <a:pPr marL="171450" marR="0" lvl="0" indent="-171450" algn="just" defTabSz="914400" rtl="0" eaLnBrk="1" fontAlgn="auto" latinLnBrk="0" hangingPunct="1">
              <a:lnSpc>
                <a:spcPct val="120000"/>
              </a:lnSpc>
              <a:spcBef>
                <a:spcPts val="0"/>
              </a:spcBef>
              <a:spcAft>
                <a:spcPts val="0"/>
              </a:spcAft>
              <a:buClrTx/>
              <a:buSzTx/>
              <a:buFont typeface="微软雅黑"/>
              <a:buChar char="✓"/>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完成</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5</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项新兴技术可行性分析，锁定</a:t>
            </a: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rPr>
              <a:t>3</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个重点方向；</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eaLnBrk="1" fontAlgn="auto" latinLnBrk="0" hangingPunct="1">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申请核心发明专利</a:t>
            </a:r>
            <a:r>
              <a:rPr lang="en-US" altLang="zh-CN" sz="1000" noProof="0" dirty="0">
                <a:ln>
                  <a:noFill/>
                </a:ln>
                <a:solidFill>
                  <a:srgbClr val="383838"/>
                </a:solidFill>
                <a:effectLst/>
                <a:uLnTx/>
                <a:uFillTx/>
                <a:latin typeface="微软雅黑"/>
                <a:ea typeface="微软雅黑"/>
                <a:cs typeface="微软雅黑"/>
                <a:sym typeface="微软雅黑"/>
              </a:rPr>
              <a:t>8</a:t>
            </a:r>
            <a:r>
              <a:rPr lang="zh-CN" altLang="en-US" sz="1000" noProof="0" dirty="0">
                <a:ln>
                  <a:noFill/>
                </a:ln>
                <a:solidFill>
                  <a:srgbClr val="383838"/>
                </a:solidFill>
                <a:effectLst/>
                <a:uLnTx/>
                <a:uFillTx/>
                <a:latin typeface="微软雅黑"/>
                <a:ea typeface="微软雅黑"/>
                <a:cs typeface="微软雅黑"/>
                <a:sym typeface="微软雅黑"/>
              </a:rPr>
              <a:t>项，其中</a:t>
            </a:r>
            <a:r>
              <a:rPr lang="en-US" altLang="zh-CN" sz="1000" noProof="0" dirty="0">
                <a:ln>
                  <a:noFill/>
                </a:ln>
                <a:solidFill>
                  <a:srgbClr val="383838"/>
                </a:solidFill>
                <a:effectLst/>
                <a:uLnTx/>
                <a:uFillTx/>
                <a:latin typeface="微软雅黑"/>
                <a:ea typeface="微软雅黑"/>
                <a:cs typeface="微软雅黑"/>
                <a:sym typeface="微软雅黑"/>
              </a:rPr>
              <a:t>AI</a:t>
            </a:r>
            <a:r>
              <a:rPr lang="zh-CN" altLang="en-US" sz="1000" noProof="0" dirty="0">
                <a:ln>
                  <a:noFill/>
                </a:ln>
                <a:solidFill>
                  <a:srgbClr val="383838"/>
                </a:solidFill>
                <a:effectLst/>
                <a:uLnTx/>
                <a:uFillTx/>
                <a:latin typeface="微软雅黑"/>
                <a:ea typeface="微软雅黑"/>
                <a:cs typeface="微软雅黑"/>
                <a:sym typeface="微软雅黑"/>
              </a:rPr>
              <a:t>相关技术占比</a:t>
            </a:r>
            <a:r>
              <a:rPr lang="en-US" altLang="zh-CN" sz="1000" noProof="0" dirty="0">
                <a:ln>
                  <a:noFill/>
                </a:ln>
                <a:solidFill>
                  <a:srgbClr val="383838"/>
                </a:solidFill>
                <a:effectLst/>
                <a:uLnTx/>
                <a:uFillTx/>
                <a:latin typeface="微软雅黑"/>
                <a:ea typeface="微软雅黑"/>
                <a:cs typeface="微软雅黑"/>
                <a:sym typeface="微软雅黑"/>
              </a:rPr>
              <a:t>60%</a:t>
            </a:r>
            <a:r>
              <a:rPr lang="zh-CN" altLang="en-US" sz="1000" noProof="0" dirty="0">
                <a:ln>
                  <a:noFill/>
                </a:ln>
                <a:solidFill>
                  <a:srgbClr val="383838"/>
                </a:solidFill>
                <a:effectLst/>
                <a:uLnTx/>
                <a:uFillTx/>
                <a:latin typeface="微软雅黑"/>
                <a:ea typeface="微软雅黑"/>
                <a:cs typeface="微软雅黑"/>
                <a:sym typeface="微软雅黑"/>
              </a:rPr>
              <a:t>；</a:t>
            </a:r>
            <a:endParaRPr lang="zh-CN" altLang="en-US" sz="1000" noProof="0" dirty="0">
              <a:ln>
                <a:noFill/>
              </a:ln>
              <a:solidFill>
                <a:srgbClr val="383838"/>
              </a:solidFill>
              <a:effectLst/>
              <a:uLnTx/>
              <a:uFillTx/>
              <a:latin typeface="微软雅黑"/>
              <a:ea typeface="微软雅黑"/>
              <a:cs typeface="微软雅黑"/>
              <a:sym typeface="微软雅黑"/>
            </a:endParaRPr>
          </a:p>
          <a:p>
            <a:pPr marL="171450" marR="0" lvl="0" indent="-171450" algn="just" defTabSz="914400" rtl="0" eaLnBrk="1" fontAlgn="auto" latinLnBrk="0" hangingPunct="1">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投入</a:t>
            </a:r>
            <a:r>
              <a:rPr lang="en-US" altLang="zh-CN" sz="1000" noProof="0" dirty="0">
                <a:ln>
                  <a:noFill/>
                </a:ln>
                <a:solidFill>
                  <a:srgbClr val="383838"/>
                </a:solidFill>
                <a:effectLst/>
                <a:uLnTx/>
                <a:uFillTx/>
                <a:latin typeface="微软雅黑"/>
                <a:ea typeface="微软雅黑"/>
                <a:cs typeface="微软雅黑"/>
                <a:sym typeface="微软雅黑"/>
              </a:rPr>
              <a:t>200</a:t>
            </a:r>
            <a:r>
              <a:rPr lang="zh-CN" altLang="en-US" sz="1000" noProof="0" dirty="0">
                <a:ln>
                  <a:noFill/>
                </a:ln>
                <a:solidFill>
                  <a:srgbClr val="383838"/>
                </a:solidFill>
                <a:effectLst/>
                <a:uLnTx/>
                <a:uFillTx/>
                <a:latin typeface="微软雅黑"/>
                <a:ea typeface="微软雅黑"/>
                <a:cs typeface="微软雅黑"/>
                <a:sym typeface="微软雅黑"/>
              </a:rPr>
              <a:t>万更新实验设备，测试效率提升</a:t>
            </a:r>
            <a:r>
              <a:rPr lang="en-US" altLang="zh-CN" sz="1000" noProof="0" dirty="0">
                <a:ln>
                  <a:noFill/>
                </a:ln>
                <a:solidFill>
                  <a:srgbClr val="383838"/>
                </a:solidFill>
                <a:effectLst/>
                <a:uLnTx/>
                <a:uFillTx/>
                <a:latin typeface="微软雅黑"/>
                <a:ea typeface="微软雅黑"/>
                <a:cs typeface="微软雅黑"/>
                <a:sym typeface="微软雅黑"/>
              </a:rPr>
              <a:t>40%</a:t>
            </a:r>
            <a:r>
              <a:rPr lang="zh-CN" altLang="en-US" sz="1000" noProof="0" dirty="0">
                <a:ln>
                  <a:noFill/>
                </a:ln>
                <a:solidFill>
                  <a:srgbClr val="383838"/>
                </a:solidFill>
                <a:effectLst/>
                <a:uLnTx/>
                <a:uFillTx/>
                <a:latin typeface="微软雅黑"/>
                <a:ea typeface="微软雅黑"/>
                <a:cs typeface="微软雅黑"/>
                <a:sym typeface="微软雅黑"/>
              </a:rPr>
              <a:t>。</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5" name="PPT11"/>
          <p:cNvSpPr txBox="1"/>
          <p:nvPr/>
        </p:nvSpPr>
        <p:spPr>
          <a:xfrm>
            <a:off x="635354" y="3975909"/>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核心突破</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8" name="PPT12"/>
          <p:cNvSpPr/>
          <p:nvPr/>
        </p:nvSpPr>
        <p:spPr>
          <a:xfrm>
            <a:off x="549363" y="3928056"/>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1" name="PPT13"/>
          <p:cNvSpPr txBox="1"/>
          <p:nvPr/>
        </p:nvSpPr>
        <p:spPr>
          <a:xfrm>
            <a:off x="1437327" y="3975909"/>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敏捷迭代</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 name="PPT14"/>
          <p:cNvSpPr/>
          <p:nvPr/>
        </p:nvSpPr>
        <p:spPr>
          <a:xfrm>
            <a:off x="1351336" y="3928056"/>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5" name="PPT15"/>
          <p:cNvSpPr txBox="1"/>
          <p:nvPr/>
        </p:nvSpPr>
        <p:spPr>
          <a:xfrm>
            <a:off x="2239300" y="3975909"/>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成本优化</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7" name="PPT16"/>
          <p:cNvSpPr/>
          <p:nvPr/>
        </p:nvSpPr>
        <p:spPr>
          <a:xfrm>
            <a:off x="2153309" y="3928056"/>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29" name="PPT17"/>
          <p:cNvSpPr txBox="1"/>
          <p:nvPr/>
        </p:nvSpPr>
        <p:spPr>
          <a:xfrm>
            <a:off x="549364" y="4326043"/>
            <a:ext cx="2288890" cy="1107440"/>
          </a:xfrm>
          <a:prstGeom prst="rect">
            <a:avLst/>
          </a:prstGeom>
          <a:noFill/>
        </p:spPr>
        <p:txBody>
          <a:bodyPr wrap="square" lIns="0" tIns="0" rIns="0" bIns="0">
            <a:spAutoFit/>
          </a:bodyPr>
          <a:lstStyle/>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攻克分布式系统性能瓶颈，实现毫秒级延迟响应；</a:t>
            </a:r>
            <a:endParaRPr lang="zh-CN" altLang="en-US" sz="1000" noProof="0" dirty="0">
              <a:ln>
                <a:noFill/>
              </a:ln>
              <a:solidFill>
                <a:srgbClr val="383838"/>
              </a:solidFill>
              <a:effectLst/>
              <a:uLnTx/>
              <a:uFillTx/>
              <a:latin typeface="微软雅黑"/>
              <a:ea typeface="微软雅黑"/>
              <a:cs typeface="微软雅黑"/>
              <a:sym typeface="微软雅黑"/>
            </a:endParaRPr>
          </a:p>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高效完成</a:t>
            </a:r>
            <a:r>
              <a:rPr lang="zh-CN" altLang="en-US" sz="1000" noProof="0" dirty="0">
                <a:ln>
                  <a:noFill/>
                </a:ln>
                <a:solidFill>
                  <a:srgbClr val="383838"/>
                </a:solidFill>
                <a:effectLst/>
                <a:uLnTx/>
                <a:uFillTx/>
                <a:latin typeface="微软雅黑"/>
                <a:ea typeface="微软雅黑"/>
                <a:cs typeface="微软雅黑"/>
                <a:sym typeface="微软雅黑"/>
              </a:rPr>
              <a:t>3</a:t>
            </a:r>
            <a:r>
              <a:rPr lang="zh-CN" altLang="en-US" sz="1000" noProof="0" dirty="0">
                <a:ln>
                  <a:noFill/>
                </a:ln>
                <a:solidFill>
                  <a:srgbClr val="383838"/>
                </a:solidFill>
                <a:effectLst/>
                <a:uLnTx/>
                <a:uFillTx/>
                <a:latin typeface="微软雅黑"/>
                <a:ea typeface="微软雅黑"/>
                <a:cs typeface="微软雅黑"/>
                <a:sym typeface="微软雅黑"/>
              </a:rPr>
              <a:t>轮快速原型验证测试，关键指标达标率</a:t>
            </a:r>
            <a:r>
              <a:rPr lang="zh-CN" altLang="en-US" sz="1000" noProof="0" dirty="0">
                <a:ln>
                  <a:noFill/>
                </a:ln>
                <a:solidFill>
                  <a:srgbClr val="383838"/>
                </a:solidFill>
                <a:effectLst/>
                <a:uLnTx/>
                <a:uFillTx/>
                <a:latin typeface="微软雅黑"/>
                <a:ea typeface="微软雅黑"/>
                <a:cs typeface="微软雅黑"/>
                <a:sym typeface="微软雅黑"/>
              </a:rPr>
              <a:t>100%</a:t>
            </a:r>
            <a:r>
              <a:rPr lang="zh-CN" altLang="en-US" sz="1000" noProof="0" dirty="0">
                <a:ln>
                  <a:noFill/>
                </a:ln>
                <a:solidFill>
                  <a:srgbClr val="383838"/>
                </a:solidFill>
                <a:effectLst/>
                <a:uLnTx/>
                <a:uFillTx/>
                <a:latin typeface="微软雅黑"/>
                <a:ea typeface="微软雅黑"/>
                <a:cs typeface="微软雅黑"/>
                <a:sym typeface="微软雅黑"/>
              </a:rPr>
              <a:t>；</a:t>
            </a:r>
            <a:endParaRPr lang="zh-CN" altLang="en-US" sz="1000" noProof="0" dirty="0">
              <a:ln>
                <a:noFill/>
              </a:ln>
              <a:solidFill>
                <a:srgbClr val="383838"/>
              </a:solidFill>
              <a:effectLst/>
              <a:uLnTx/>
              <a:uFillTx/>
              <a:latin typeface="微软雅黑"/>
              <a:ea typeface="微软雅黑"/>
              <a:cs typeface="微软雅黑"/>
              <a:sym typeface="微软雅黑"/>
            </a:endParaRPr>
          </a:p>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通过云原生架构重构优化，硬件成本降低</a:t>
            </a:r>
            <a:r>
              <a:rPr lang="zh-CN" altLang="en-US" sz="1000" noProof="0" dirty="0">
                <a:ln>
                  <a:noFill/>
                </a:ln>
                <a:solidFill>
                  <a:srgbClr val="383838"/>
                </a:solidFill>
                <a:effectLst/>
                <a:uLnTx/>
                <a:uFillTx/>
                <a:latin typeface="微软雅黑"/>
                <a:ea typeface="微软雅黑"/>
                <a:cs typeface="微软雅黑"/>
                <a:sym typeface="微软雅黑"/>
              </a:rPr>
              <a:t>35%</a:t>
            </a:r>
            <a:r>
              <a:rPr lang="zh-CN" altLang="en-US" sz="1000" noProof="0" dirty="0">
                <a:ln>
                  <a:noFill/>
                </a:ln>
                <a:solidFill>
                  <a:srgbClr val="383838"/>
                </a:solidFill>
                <a:effectLst/>
                <a:uLnTx/>
                <a:uFillTx/>
                <a:latin typeface="微软雅黑"/>
                <a:ea typeface="微软雅黑"/>
                <a:cs typeface="微软雅黑"/>
                <a:sym typeface="微软雅黑"/>
              </a:rPr>
              <a:t>。</a:t>
            </a:r>
            <a:endParaRPr lang="zh-CN" altLang="en-US" sz="1000" noProof="0" dirty="0">
              <a:ln>
                <a:noFill/>
              </a:ln>
              <a:solidFill>
                <a:srgbClr val="383838"/>
              </a:solidFill>
              <a:effectLst/>
              <a:uLnTx/>
              <a:uFillTx/>
              <a:latin typeface="微软雅黑"/>
              <a:ea typeface="微软雅黑"/>
              <a:cs typeface="微软雅黑"/>
              <a:sym typeface="微软雅黑"/>
            </a:endParaRPr>
          </a:p>
        </p:txBody>
      </p:sp>
      <p:sp>
        <p:nvSpPr>
          <p:cNvPr id="31" name="TextBox 61"/>
          <p:cNvSpPr txBox="1"/>
          <p:nvPr/>
        </p:nvSpPr>
        <p:spPr>
          <a:xfrm>
            <a:off x="8706485" y="1812290"/>
            <a:ext cx="1583055" cy="337185"/>
          </a:xfrm>
          <a:prstGeom prst="rect">
            <a:avLst/>
          </a:prstGeom>
          <a:noFill/>
        </p:spPr>
        <p:txBody>
          <a:bodyPr wrap="square" rtlCol="0">
            <a:spAutoFit/>
          </a:bodyPr>
          <a:lstStyle/>
          <a:p>
            <a:pPr>
              <a:defRPr>
                <a:latin typeface="微软雅黑"/>
                <a:ea typeface="微软雅黑"/>
                <a:cs typeface="微软雅黑"/>
              </a:defRPr>
            </a:pPr>
            <a:r>
              <a:rPr lang="zh-CN" altLang="en-US" sz="1600" b="1" dirty="0">
                <a:solidFill>
                  <a:srgbClr val="383838"/>
                </a:solidFill>
                <a:latin typeface="微软雅黑"/>
                <a:ea typeface="微软雅黑"/>
                <a:cs typeface="微软雅黑"/>
              </a:rPr>
              <a:t>产品化落地</a:t>
            </a:r>
            <a:endParaRPr lang="zh-CN" altLang="en-US" sz="1600" b="1" dirty="0">
              <a:solidFill>
                <a:srgbClr val="383838"/>
              </a:solidFill>
              <a:latin typeface="微软雅黑"/>
              <a:ea typeface="微软雅黑"/>
              <a:cs typeface="微软雅黑"/>
            </a:endParaRPr>
          </a:p>
        </p:txBody>
      </p:sp>
      <p:sp>
        <p:nvSpPr>
          <p:cNvPr id="32" name="PPT11"/>
          <p:cNvSpPr txBox="1"/>
          <p:nvPr/>
        </p:nvSpPr>
        <p:spPr>
          <a:xfrm>
            <a:off x="8909404" y="2272839"/>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体验优化</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3" name="PPT12"/>
          <p:cNvSpPr/>
          <p:nvPr/>
        </p:nvSpPr>
        <p:spPr>
          <a:xfrm>
            <a:off x="8823413" y="2224986"/>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5" name="PPT13"/>
          <p:cNvSpPr txBox="1"/>
          <p:nvPr/>
        </p:nvSpPr>
        <p:spPr>
          <a:xfrm>
            <a:off x="9711377" y="2272839"/>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首版发布</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7" name="PPT14"/>
          <p:cNvSpPr/>
          <p:nvPr/>
        </p:nvSpPr>
        <p:spPr>
          <a:xfrm>
            <a:off x="9625386" y="2224986"/>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38" name="PPT15"/>
          <p:cNvSpPr txBox="1"/>
          <p:nvPr/>
        </p:nvSpPr>
        <p:spPr>
          <a:xfrm>
            <a:off x="10513350" y="2272839"/>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效能提升</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9" name="PPT16"/>
          <p:cNvSpPr/>
          <p:nvPr/>
        </p:nvSpPr>
        <p:spPr>
          <a:xfrm>
            <a:off x="10427359" y="2224986"/>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0" name="PPT17"/>
          <p:cNvSpPr txBox="1"/>
          <p:nvPr/>
        </p:nvSpPr>
        <p:spPr>
          <a:xfrm>
            <a:off x="8823325" y="2590165"/>
            <a:ext cx="2814955" cy="1107440"/>
          </a:xfrm>
          <a:prstGeom prst="rect">
            <a:avLst/>
          </a:prstGeom>
          <a:noFill/>
        </p:spPr>
        <p:txBody>
          <a:bodyPr wrap="square" lIns="0" tIns="0" rIns="0" bIns="0">
            <a:spAutoFit/>
          </a:bodyPr>
          <a:lstStyle/>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全球首发企业级智能</a:t>
            </a:r>
            <a:r>
              <a:rPr lang="zh-CN" altLang="en-US" sz="1000" noProof="0" dirty="0">
                <a:ln>
                  <a:noFill/>
                </a:ln>
                <a:solidFill>
                  <a:srgbClr val="383838"/>
                </a:solidFill>
                <a:effectLst/>
                <a:uLnTx/>
                <a:uFillTx/>
                <a:latin typeface="微软雅黑"/>
                <a:ea typeface="微软雅黑"/>
                <a:cs typeface="微软雅黑"/>
                <a:sym typeface="微软雅黑"/>
              </a:rPr>
              <a:t>SaaS</a:t>
            </a:r>
            <a:r>
              <a:rPr lang="zh-CN" altLang="en-US" sz="1000" noProof="0" dirty="0">
                <a:ln>
                  <a:noFill/>
                </a:ln>
                <a:solidFill>
                  <a:srgbClr val="383838"/>
                </a:solidFill>
                <a:effectLst/>
                <a:uLnTx/>
                <a:uFillTx/>
                <a:latin typeface="微软雅黑"/>
                <a:ea typeface="微软雅黑"/>
                <a:cs typeface="微软雅黑"/>
                <a:sym typeface="微软雅黑"/>
              </a:rPr>
              <a:t>解决方案，累计签约客户</a:t>
            </a:r>
            <a:r>
              <a:rPr lang="zh-CN" altLang="en-US" sz="1000" noProof="0" dirty="0">
                <a:ln>
                  <a:noFill/>
                </a:ln>
                <a:solidFill>
                  <a:srgbClr val="383838"/>
                </a:solidFill>
                <a:effectLst/>
                <a:uLnTx/>
                <a:uFillTx/>
                <a:latin typeface="微软雅黑"/>
                <a:ea typeface="微软雅黑"/>
                <a:cs typeface="微软雅黑"/>
                <a:sym typeface="微软雅黑"/>
              </a:rPr>
              <a:t>23</a:t>
            </a:r>
            <a:r>
              <a:rPr lang="zh-CN" altLang="en-US" sz="1000" noProof="0" dirty="0">
                <a:ln>
                  <a:noFill/>
                </a:ln>
                <a:solidFill>
                  <a:srgbClr val="383838"/>
                </a:solidFill>
                <a:effectLst/>
                <a:uLnTx/>
                <a:uFillTx/>
                <a:latin typeface="微软雅黑"/>
                <a:ea typeface="微软雅黑"/>
                <a:cs typeface="微软雅黑"/>
                <a:sym typeface="微软雅黑"/>
              </a:rPr>
              <a:t>家；</a:t>
            </a:r>
            <a:endParaRPr lang="zh-CN" altLang="en-US" sz="1000" noProof="0" dirty="0">
              <a:ln>
                <a:noFill/>
              </a:ln>
              <a:solidFill>
                <a:srgbClr val="383838"/>
              </a:solidFill>
              <a:effectLst/>
              <a:uLnTx/>
              <a:uFillTx/>
              <a:latin typeface="微软雅黑"/>
              <a:ea typeface="微软雅黑"/>
              <a:cs typeface="微软雅黑"/>
              <a:sym typeface="微软雅黑"/>
            </a:endParaRPr>
          </a:p>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深度基于</a:t>
            </a:r>
            <a:r>
              <a:rPr lang="zh-CN" altLang="en-US" sz="1000" noProof="0" dirty="0">
                <a:ln>
                  <a:noFill/>
                </a:ln>
                <a:solidFill>
                  <a:srgbClr val="383838"/>
                </a:solidFill>
                <a:effectLst/>
                <a:uLnTx/>
                <a:uFillTx/>
                <a:latin typeface="微软雅黑"/>
                <a:ea typeface="微软雅黑"/>
                <a:cs typeface="微软雅黑"/>
                <a:sym typeface="微软雅黑"/>
              </a:rPr>
              <a:t>300+</a:t>
            </a:r>
            <a:r>
              <a:rPr lang="zh-CN" altLang="en-US" sz="1000" noProof="0" dirty="0">
                <a:ln>
                  <a:noFill/>
                </a:ln>
                <a:solidFill>
                  <a:srgbClr val="383838"/>
                </a:solidFill>
                <a:effectLst/>
                <a:uLnTx/>
                <a:uFillTx/>
                <a:latin typeface="微软雅黑"/>
                <a:ea typeface="微软雅黑"/>
                <a:cs typeface="微软雅黑"/>
                <a:sym typeface="微软雅黑"/>
              </a:rPr>
              <a:t>用户真实反馈迭代</a:t>
            </a:r>
            <a:r>
              <a:rPr lang="zh-CN" altLang="en-US" sz="1000" noProof="0" dirty="0">
                <a:ln>
                  <a:noFill/>
                </a:ln>
                <a:solidFill>
                  <a:srgbClr val="383838"/>
                </a:solidFill>
                <a:effectLst/>
                <a:uLnTx/>
                <a:uFillTx/>
                <a:latin typeface="微软雅黑"/>
                <a:ea typeface="微软雅黑"/>
                <a:cs typeface="微软雅黑"/>
                <a:sym typeface="微软雅黑"/>
              </a:rPr>
              <a:t>UI/UX</a:t>
            </a:r>
            <a:r>
              <a:rPr lang="zh-CN" altLang="en-US" sz="1000" noProof="0" dirty="0">
                <a:ln>
                  <a:noFill/>
                </a:ln>
                <a:solidFill>
                  <a:srgbClr val="383838"/>
                </a:solidFill>
                <a:effectLst/>
                <a:uLnTx/>
                <a:uFillTx/>
                <a:latin typeface="微软雅黑"/>
                <a:ea typeface="微软雅黑"/>
                <a:cs typeface="微软雅黑"/>
                <a:sym typeface="微软雅黑"/>
              </a:rPr>
              <a:t>，</a:t>
            </a:r>
            <a:r>
              <a:rPr lang="zh-CN" altLang="en-US" sz="1000" noProof="0" dirty="0">
                <a:ln>
                  <a:noFill/>
                </a:ln>
                <a:solidFill>
                  <a:srgbClr val="383838"/>
                </a:solidFill>
                <a:effectLst/>
                <a:uLnTx/>
                <a:uFillTx/>
                <a:latin typeface="微软雅黑"/>
                <a:ea typeface="微软雅黑"/>
                <a:cs typeface="微软雅黑"/>
                <a:sym typeface="微软雅黑"/>
              </a:rPr>
              <a:t>NPS</a:t>
            </a:r>
            <a:r>
              <a:rPr lang="zh-CN" altLang="en-US" sz="1000" noProof="0" dirty="0">
                <a:ln>
                  <a:noFill/>
                </a:ln>
                <a:solidFill>
                  <a:srgbClr val="383838"/>
                </a:solidFill>
                <a:effectLst/>
                <a:uLnTx/>
                <a:uFillTx/>
                <a:latin typeface="微软雅黑"/>
                <a:ea typeface="微软雅黑"/>
                <a:cs typeface="微软雅黑"/>
                <a:sym typeface="微软雅黑"/>
              </a:rPr>
              <a:t>值提升至</a:t>
            </a:r>
            <a:r>
              <a:rPr lang="zh-CN" altLang="en-US" sz="1000" noProof="0" dirty="0">
                <a:ln>
                  <a:noFill/>
                </a:ln>
                <a:solidFill>
                  <a:srgbClr val="383838"/>
                </a:solidFill>
                <a:effectLst/>
                <a:uLnTx/>
                <a:uFillTx/>
                <a:latin typeface="微软雅黑"/>
                <a:ea typeface="微软雅黑"/>
                <a:cs typeface="微软雅黑"/>
                <a:sym typeface="微软雅黑"/>
              </a:rPr>
              <a:t>72</a:t>
            </a:r>
            <a:r>
              <a:rPr lang="zh-CN" altLang="en-US" sz="1000" noProof="0" dirty="0">
                <a:ln>
                  <a:noFill/>
                </a:ln>
                <a:solidFill>
                  <a:srgbClr val="383838"/>
                </a:solidFill>
                <a:effectLst/>
                <a:uLnTx/>
                <a:uFillTx/>
                <a:latin typeface="微软雅黑"/>
                <a:ea typeface="微软雅黑"/>
                <a:cs typeface="微软雅黑"/>
                <a:sym typeface="微软雅黑"/>
              </a:rPr>
              <a:t>；</a:t>
            </a:r>
            <a:endParaRPr lang="zh-CN" altLang="en-US" sz="1000" noProof="0" dirty="0">
              <a:ln>
                <a:noFill/>
              </a:ln>
              <a:solidFill>
                <a:srgbClr val="383838"/>
              </a:solidFill>
              <a:effectLst/>
              <a:uLnTx/>
              <a:uFillTx/>
              <a:latin typeface="微软雅黑"/>
              <a:ea typeface="微软雅黑"/>
              <a:cs typeface="微软雅黑"/>
              <a:sym typeface="微软雅黑"/>
            </a:endParaRPr>
          </a:p>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持续集成与持续交付（</a:t>
            </a:r>
            <a:r>
              <a:rPr lang="zh-CN" altLang="en-US" sz="1000" noProof="0" dirty="0">
                <a:ln>
                  <a:noFill/>
                </a:ln>
                <a:solidFill>
                  <a:srgbClr val="383838"/>
                </a:solidFill>
                <a:effectLst/>
                <a:uLnTx/>
                <a:uFillTx/>
                <a:latin typeface="微软雅黑"/>
                <a:ea typeface="微软雅黑"/>
                <a:cs typeface="微软雅黑"/>
                <a:sym typeface="微软雅黑"/>
              </a:rPr>
              <a:t>CI/CD</a:t>
            </a:r>
            <a:r>
              <a:rPr lang="zh-CN" altLang="en-US" sz="1000" noProof="0" dirty="0">
                <a:ln>
                  <a:noFill/>
                </a:ln>
                <a:solidFill>
                  <a:srgbClr val="383838"/>
                </a:solidFill>
                <a:effectLst/>
                <a:uLnTx/>
                <a:uFillTx/>
                <a:latin typeface="微软雅黑"/>
                <a:ea typeface="微软雅黑"/>
                <a:cs typeface="微软雅黑"/>
                <a:sym typeface="微软雅黑"/>
              </a:rPr>
              <a:t>）自动化测试覆盖率大幅提升至</a:t>
            </a:r>
            <a:r>
              <a:rPr lang="zh-CN" altLang="en-US" sz="1000" noProof="0" dirty="0">
                <a:ln>
                  <a:noFill/>
                </a:ln>
                <a:solidFill>
                  <a:srgbClr val="383838"/>
                </a:solidFill>
                <a:effectLst/>
                <a:uLnTx/>
                <a:uFillTx/>
                <a:latin typeface="微软雅黑"/>
                <a:ea typeface="微软雅黑"/>
                <a:cs typeface="微软雅黑"/>
                <a:sym typeface="微软雅黑"/>
              </a:rPr>
              <a:t>85%</a:t>
            </a:r>
            <a:r>
              <a:rPr lang="zh-CN" altLang="en-US" sz="1000" noProof="0" dirty="0">
                <a:ln>
                  <a:noFill/>
                </a:ln>
                <a:solidFill>
                  <a:srgbClr val="383838"/>
                </a:solidFill>
                <a:effectLst/>
                <a:uLnTx/>
                <a:uFillTx/>
                <a:latin typeface="微软雅黑"/>
                <a:ea typeface="微软雅黑"/>
                <a:cs typeface="微软雅黑"/>
                <a:sym typeface="微软雅黑"/>
              </a:rPr>
              <a:t>。</a:t>
            </a:r>
            <a:endParaRPr lang="zh-CN" altLang="en-US" sz="1000" noProof="0" dirty="0">
              <a:ln>
                <a:noFill/>
              </a:ln>
              <a:solidFill>
                <a:srgbClr val="383838"/>
              </a:solidFill>
              <a:effectLst/>
              <a:uLnTx/>
              <a:uFillTx/>
              <a:latin typeface="微软雅黑"/>
              <a:ea typeface="微软雅黑"/>
              <a:cs typeface="微软雅黑"/>
              <a:sym typeface="微软雅黑"/>
            </a:endParaRPr>
          </a:p>
        </p:txBody>
      </p:sp>
      <p:sp>
        <p:nvSpPr>
          <p:cNvPr id="41" name="TextBox 57"/>
          <p:cNvSpPr txBox="1"/>
          <p:nvPr/>
        </p:nvSpPr>
        <p:spPr>
          <a:xfrm>
            <a:off x="2813050" y="1159510"/>
            <a:ext cx="1583055" cy="337185"/>
          </a:xfrm>
          <a:prstGeom prst="rect">
            <a:avLst/>
          </a:prstGeom>
          <a:noFill/>
        </p:spPr>
        <p:txBody>
          <a:bodyPr wrap="square" rtlCol="0">
            <a:spAutoFit/>
          </a:bodyPr>
          <a:lstStyle/>
          <a:p>
            <a:pPr lvl="0" algn="r">
              <a:buClrTx/>
              <a:buSzTx/>
              <a:buFontTx/>
              <a:defRPr>
                <a:latin typeface="微软雅黑"/>
                <a:ea typeface="微软雅黑"/>
                <a:cs typeface="微软雅黑"/>
              </a:defRPr>
            </a:pPr>
            <a:r>
              <a:rPr lang="zh-CN" altLang="en-US" sz="1600" b="1" dirty="0">
                <a:solidFill>
                  <a:srgbClr val="383838"/>
                </a:solidFill>
                <a:latin typeface="微软雅黑"/>
                <a:ea typeface="微软雅黑"/>
                <a:cs typeface="微软雅黑"/>
                <a:sym typeface="微软雅黑"/>
              </a:rPr>
              <a:t>规模化推广</a:t>
            </a:r>
            <a:endParaRPr lang="zh-CN" altLang="en-US" sz="1600" b="1" dirty="0">
              <a:solidFill>
                <a:srgbClr val="383838"/>
              </a:solidFill>
              <a:latin typeface="微软雅黑"/>
              <a:ea typeface="微软雅黑"/>
              <a:cs typeface="微软雅黑"/>
              <a:sym typeface="微软雅黑"/>
            </a:endParaRPr>
          </a:p>
        </p:txBody>
      </p:sp>
      <p:sp>
        <p:nvSpPr>
          <p:cNvPr id="42" name="PPT11"/>
          <p:cNvSpPr txBox="1"/>
          <p:nvPr/>
        </p:nvSpPr>
        <p:spPr>
          <a:xfrm>
            <a:off x="2107919" y="1610534"/>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商业变现</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3" name="PPT12"/>
          <p:cNvSpPr/>
          <p:nvPr/>
        </p:nvSpPr>
        <p:spPr>
          <a:xfrm>
            <a:off x="2021928" y="1562681"/>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4" name="PPT13"/>
          <p:cNvSpPr txBox="1"/>
          <p:nvPr/>
        </p:nvSpPr>
        <p:spPr>
          <a:xfrm>
            <a:off x="2909892" y="1610534"/>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标准输出</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5" name="PPT14"/>
          <p:cNvSpPr/>
          <p:nvPr/>
        </p:nvSpPr>
        <p:spPr>
          <a:xfrm>
            <a:off x="2823901" y="1562681"/>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6" name="PPT15"/>
          <p:cNvSpPr txBox="1"/>
          <p:nvPr/>
        </p:nvSpPr>
        <p:spPr>
          <a:xfrm>
            <a:off x="3711865" y="1610534"/>
            <a:ext cx="508000" cy="153670"/>
          </a:xfrm>
          <a:prstGeom prst="rect">
            <a:avLst/>
          </a:prstGeom>
          <a:noFill/>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rPr>
              <a:t>技术展望</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7" name="PPT16"/>
          <p:cNvSpPr/>
          <p:nvPr/>
        </p:nvSpPr>
        <p:spPr>
          <a:xfrm>
            <a:off x="3625874" y="1562681"/>
            <a:ext cx="684944" cy="249595"/>
          </a:xfrm>
          <a:prstGeom prst="rect">
            <a:avLst/>
          </a:prstGeom>
          <a:noFill/>
          <a:ln w="9525">
            <a:solidFill>
              <a:srgbClr val="383838"/>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endParaRPr>
          </a:p>
        </p:txBody>
      </p:sp>
      <p:sp>
        <p:nvSpPr>
          <p:cNvPr id="48" name="PPT17"/>
          <p:cNvSpPr txBox="1"/>
          <p:nvPr/>
        </p:nvSpPr>
        <p:spPr>
          <a:xfrm>
            <a:off x="1617980" y="1960880"/>
            <a:ext cx="2693035" cy="1107440"/>
          </a:xfrm>
          <a:prstGeom prst="rect">
            <a:avLst/>
          </a:prstGeom>
          <a:noFill/>
        </p:spPr>
        <p:txBody>
          <a:bodyPr wrap="square" lIns="0" tIns="0" rIns="0" bIns="0">
            <a:spAutoFit/>
          </a:bodyPr>
          <a:lstStyle/>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全年累计实现创新产品营收</a:t>
            </a:r>
            <a:r>
              <a:rPr lang="zh-CN" altLang="en-US" sz="1000" noProof="0" dirty="0">
                <a:ln>
                  <a:noFill/>
                </a:ln>
                <a:solidFill>
                  <a:srgbClr val="383838"/>
                </a:solidFill>
                <a:effectLst/>
                <a:uLnTx/>
                <a:uFillTx/>
                <a:latin typeface="微软雅黑"/>
                <a:ea typeface="微软雅黑"/>
                <a:cs typeface="微软雅黑"/>
                <a:sym typeface="微软雅黑"/>
              </a:rPr>
              <a:t>5000</a:t>
            </a:r>
            <a:r>
              <a:rPr lang="zh-CN" altLang="en-US" sz="1000" noProof="0" dirty="0">
                <a:ln>
                  <a:noFill/>
                </a:ln>
                <a:solidFill>
                  <a:srgbClr val="383838"/>
                </a:solidFill>
                <a:effectLst/>
                <a:uLnTx/>
                <a:uFillTx/>
                <a:latin typeface="微软雅黑"/>
                <a:ea typeface="微软雅黑"/>
                <a:cs typeface="微软雅黑"/>
                <a:sym typeface="微软雅黑"/>
              </a:rPr>
              <a:t>万元，超额完成年度</a:t>
            </a:r>
            <a:r>
              <a:rPr lang="zh-CN" altLang="en-US" sz="1000" noProof="0" dirty="0">
                <a:ln>
                  <a:noFill/>
                </a:ln>
                <a:solidFill>
                  <a:srgbClr val="383838"/>
                </a:solidFill>
                <a:effectLst/>
                <a:uLnTx/>
                <a:uFillTx/>
                <a:latin typeface="微软雅黑"/>
                <a:ea typeface="微软雅黑"/>
                <a:cs typeface="微软雅黑"/>
                <a:sym typeface="微软雅黑"/>
              </a:rPr>
              <a:t>KPI 30%</a:t>
            </a:r>
            <a:endParaRPr lang="zh-CN" altLang="en-US" sz="1000" noProof="0" dirty="0">
              <a:ln>
                <a:noFill/>
              </a:ln>
              <a:solidFill>
                <a:srgbClr val="383838"/>
              </a:solidFill>
              <a:effectLst/>
              <a:uLnTx/>
              <a:uFillTx/>
              <a:latin typeface="微软雅黑"/>
              <a:ea typeface="微软雅黑"/>
              <a:cs typeface="微软雅黑"/>
              <a:sym typeface="微软雅黑"/>
            </a:endParaRPr>
          </a:p>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牵头主导编制并发布行业权威技术白皮书正式版</a:t>
            </a:r>
            <a:r>
              <a:rPr lang="zh-CN" altLang="en-US" sz="1000" noProof="0" dirty="0">
                <a:ln>
                  <a:noFill/>
                </a:ln>
                <a:solidFill>
                  <a:srgbClr val="383838"/>
                </a:solidFill>
                <a:effectLst/>
                <a:uLnTx/>
                <a:uFillTx/>
                <a:latin typeface="微软雅黑"/>
                <a:ea typeface="微软雅黑"/>
                <a:cs typeface="微软雅黑"/>
                <a:sym typeface="微软雅黑"/>
              </a:rPr>
              <a:t>1</a:t>
            </a:r>
            <a:r>
              <a:rPr lang="zh-CN" altLang="en-US" sz="1000" noProof="0" dirty="0">
                <a:ln>
                  <a:noFill/>
                </a:ln>
                <a:solidFill>
                  <a:srgbClr val="383838"/>
                </a:solidFill>
                <a:effectLst/>
                <a:uLnTx/>
                <a:uFillTx/>
                <a:latin typeface="微软雅黑"/>
                <a:ea typeface="微软雅黑"/>
                <a:cs typeface="微软雅黑"/>
                <a:sym typeface="微软雅黑"/>
              </a:rPr>
              <a:t>部</a:t>
            </a:r>
            <a:endParaRPr lang="zh-CN" altLang="en-US" sz="1000" noProof="0" dirty="0">
              <a:ln>
                <a:noFill/>
              </a:ln>
              <a:solidFill>
                <a:srgbClr val="383838"/>
              </a:solidFill>
              <a:effectLst/>
              <a:uLnTx/>
              <a:uFillTx/>
              <a:latin typeface="微软雅黑"/>
              <a:ea typeface="微软雅黑"/>
              <a:cs typeface="微软雅黑"/>
              <a:sym typeface="微软雅黑"/>
            </a:endParaRPr>
          </a:p>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正式启动下一代智能边缘计算架构联合预研项目</a:t>
            </a:r>
            <a:endParaRPr lang="zh-CN" altLang="en-US" sz="1000" noProof="0" dirty="0">
              <a:ln>
                <a:noFill/>
              </a:ln>
              <a:solidFill>
                <a:srgbClr val="383838"/>
              </a:solidFill>
              <a:effectLst/>
              <a:uLnTx/>
              <a:uFillTx/>
              <a:latin typeface="微软雅黑"/>
              <a:ea typeface="微软雅黑"/>
              <a:cs typeface="微软雅黑"/>
              <a:sym typeface="微软雅黑"/>
            </a:endParaRPr>
          </a:p>
        </p:txBody>
      </p:sp>
      <p:grpSp>
        <p:nvGrpSpPr>
          <p:cNvPr id="53" name="组合 52"/>
          <p:cNvGrpSpPr/>
          <p:nvPr/>
        </p:nvGrpSpPr>
        <p:grpSpPr>
          <a:xfrm>
            <a:off x="7713980" y="4999990"/>
            <a:ext cx="1193800" cy="1084580"/>
            <a:chOff x="12148" y="7874"/>
            <a:chExt cx="1880" cy="1708"/>
          </a:xfrm>
        </p:grpSpPr>
        <p:sp>
          <p:nvSpPr>
            <p:cNvPr id="51" name="Oval 6"/>
            <p:cNvSpPr/>
            <p:nvPr/>
          </p:nvSpPr>
          <p:spPr>
            <a:xfrm flipH="1">
              <a:off x="12234" y="7874"/>
              <a:ext cx="1708" cy="1708"/>
            </a:xfrm>
            <a:prstGeom prst="ellipse">
              <a:avLst/>
            </a:prstGeom>
            <a:gradFill>
              <a:gsLst>
                <a:gs pos="23000">
                  <a:srgbClr val="3368FF"/>
                </a:gs>
                <a:gs pos="100000">
                  <a:srgbClr val="B3D4FE"/>
                </a:gs>
              </a:gsLst>
              <a:lin ang="2700000" scaled="0"/>
            </a:gradFill>
            <a:ln>
              <a:solidFill>
                <a:srgbClr val="FFFFFF"/>
              </a:solidFill>
            </a:ln>
            <a:effectLst>
              <a:outerShdw dist="63500" dir="5400000" sx="90000" sy="-19000" rotWithShape="0">
                <a:srgbClr val="FFFFFF">
                  <a:alpha val="1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endParaRPr>
            </a:p>
          </p:txBody>
        </p:sp>
        <p:sp>
          <p:nvSpPr>
            <p:cNvPr id="52" name="TextBox 49"/>
            <p:cNvSpPr txBox="1"/>
            <p:nvPr/>
          </p:nvSpPr>
          <p:spPr>
            <a:xfrm>
              <a:off x="12148" y="8220"/>
              <a:ext cx="1880" cy="1016"/>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b="1" dirty="0">
                  <a:solidFill>
                    <a:srgbClr val="383838"/>
                  </a:solidFill>
                  <a:latin typeface="微软雅黑"/>
                  <a:ea typeface="微软雅黑"/>
                  <a:cs typeface="微软雅黑"/>
                </a:rPr>
                <a:t>第一</a:t>
              </a:r>
              <a:endParaRPr lang="zh-CN" altLang="en-US" b="1" dirty="0">
                <a:solidFill>
                  <a:srgbClr val="383838"/>
                </a:solidFill>
                <a:latin typeface="微软雅黑"/>
                <a:ea typeface="微软雅黑"/>
                <a:cs typeface="微软雅黑"/>
              </a:endParaRPr>
            </a:p>
            <a:p>
              <a:pPr algn="ctr">
                <a:defRPr>
                  <a:latin typeface="微软雅黑"/>
                  <a:ea typeface="微软雅黑"/>
                  <a:cs typeface="微软雅黑"/>
                </a:defRPr>
              </a:pPr>
              <a:r>
                <a:rPr lang="zh-CN" altLang="en-US" b="1" dirty="0">
                  <a:solidFill>
                    <a:srgbClr val="383838"/>
                  </a:solidFill>
                  <a:latin typeface="微软雅黑"/>
                  <a:ea typeface="微软雅黑"/>
                  <a:cs typeface="微软雅黑"/>
                </a:rPr>
                <a:t>季度</a:t>
              </a:r>
              <a:endParaRPr lang="zh-CN" altLang="en-US" b="1" dirty="0">
                <a:solidFill>
                  <a:srgbClr val="383838"/>
                </a:solidFill>
                <a:latin typeface="微软雅黑"/>
                <a:ea typeface="微软雅黑"/>
                <a:cs typeface="微软雅黑"/>
              </a:endParaRPr>
            </a:p>
          </p:txBody>
        </p:sp>
      </p:gr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4" name="文本框 1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任意形状 71"/>
          <p:cNvSpPr/>
          <p:nvPr/>
        </p:nvSpPr>
        <p:spPr>
          <a:xfrm rot="19412956" flipV="1">
            <a:off x="8535324" y="2779400"/>
            <a:ext cx="1501965" cy="1467501"/>
          </a:xfrm>
          <a:custGeom>
            <a:avLst/>
            <a:gdLst>
              <a:gd name="connsiteX0" fmla="*/ 6017425 w 6017425"/>
              <a:gd name="connsiteY0" fmla="*/ 187800 h 2133172"/>
              <a:gd name="connsiteX1" fmla="*/ 4764887 w 6017425"/>
              <a:gd name="connsiteY1" fmla="*/ 0 h 2133172"/>
              <a:gd name="connsiteX2" fmla="*/ 4954951 w 6017425"/>
              <a:gd name="connsiteY2" fmla="*/ 318908 h 2133172"/>
              <a:gd name="connsiteX3" fmla="*/ 0 w 6017425"/>
              <a:gd name="connsiteY3" fmla="*/ 1749564 h 2133172"/>
              <a:gd name="connsiteX4" fmla="*/ 5404033 w 6017425"/>
              <a:gd name="connsiteY4" fmla="*/ 1072876 h 2133172"/>
              <a:gd name="connsiteX5" fmla="*/ 5586528 w 6017425"/>
              <a:gd name="connsiteY5" fmla="*/ 1379136 h 2133172"/>
              <a:gd name="connsiteX6" fmla="*/ 6017425 w 6017425"/>
              <a:gd name="connsiteY6" fmla="*/ 187800 h 21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5" h="2311">
                <a:moveTo>
                  <a:pt x="2365" y="309"/>
                </a:moveTo>
                <a:lnTo>
                  <a:pt x="0" y="0"/>
                </a:lnTo>
                <a:lnTo>
                  <a:pt x="1243" y="1882"/>
                </a:lnTo>
                <a:lnTo>
                  <a:pt x="1536" y="2311"/>
                </a:lnTo>
                <a:lnTo>
                  <a:pt x="2365" y="309"/>
                </a:lnTo>
                <a:close/>
              </a:path>
            </a:pathLst>
          </a:custGeom>
          <a:gradFill>
            <a:gsLst>
              <a:gs pos="100000">
                <a:srgbClr val="E6E6E6"/>
              </a:gs>
              <a:gs pos="0">
                <a:srgbClr val="3368FF"/>
              </a:gs>
            </a:gsLst>
            <a:lin ang="8100000" scaled="0"/>
          </a:gradFill>
          <a:ln w="9231" cap="flat">
            <a:noFill/>
            <a:prstDash val="solid"/>
            <a:miter/>
          </a:ln>
        </p:spPr>
        <p:txBody>
          <a:bodyPr wrap="square" rtlCol="0" anchor="ctr" lIns="0" rIns="0" tIns="0" bIns="0">
            <a:noAutofit/>
          </a:bodyPr>
          <a:lstStyle/>
          <a:p>
            <a:pPr>
              <a:defRPr>
                <a:solidFill>
                  <a:srgbClr val="FFFFFF"/>
                </a:solidFill>
                <a:latin typeface="微软雅黑"/>
                <a:ea typeface="微软雅黑"/>
                <a:cs typeface="微软雅黑"/>
              </a:defRPr>
            </a:pPr>
            <a:endParaRPr lang="en-US" altLang="zh-CN" dirty="0">
              <a:solidFill>
                <a:srgbClr val="FFFFFF"/>
              </a:solidFill>
              <a:cs typeface="微软雅黑"/>
              <a:latin typeface="微软雅黑"/>
              <a:ea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年度工作项目规划</a:t>
            </a:r>
            <a:endParaRPr sz="2500">
              <a:solidFill>
                <a:srgbClr val="383838"/>
              </a:solidFill>
              <a:effectLst/>
              <a:latin typeface="微软雅黑"/>
              <a:ea typeface="微软雅黑"/>
              <a:cs typeface="微软雅黑"/>
            </a:endParaRPr>
          </a:p>
        </p:txBody>
      </p:sp>
      <p:sp>
        <p:nvSpPr>
          <p:cNvPr id="72" name="任意形状 71"/>
          <p:cNvSpPr/>
          <p:nvPr/>
        </p:nvSpPr>
        <p:spPr>
          <a:xfrm rot="19412956" flipV="1">
            <a:off x="3226435" y="3796665"/>
            <a:ext cx="6981190" cy="2158365"/>
          </a:xfrm>
          <a:custGeom>
            <a:avLst/>
            <a:gdLst>
              <a:gd name="connsiteX0" fmla="*/ 6017425 w 6017425"/>
              <a:gd name="connsiteY0" fmla="*/ 187800 h 2133172"/>
              <a:gd name="connsiteX1" fmla="*/ 4764887 w 6017425"/>
              <a:gd name="connsiteY1" fmla="*/ 0 h 2133172"/>
              <a:gd name="connsiteX2" fmla="*/ 4954951 w 6017425"/>
              <a:gd name="connsiteY2" fmla="*/ 318908 h 2133172"/>
              <a:gd name="connsiteX3" fmla="*/ 0 w 6017425"/>
              <a:gd name="connsiteY3" fmla="*/ 1749564 h 2133172"/>
              <a:gd name="connsiteX4" fmla="*/ 5404033 w 6017425"/>
              <a:gd name="connsiteY4" fmla="*/ 1072876 h 2133172"/>
              <a:gd name="connsiteX5" fmla="*/ 5586528 w 6017425"/>
              <a:gd name="connsiteY5" fmla="*/ 1379136 h 2133172"/>
              <a:gd name="connsiteX6" fmla="*/ 6017425 w 6017425"/>
              <a:gd name="connsiteY6" fmla="*/ 187800 h 21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7425" h="2133172">
                <a:moveTo>
                  <a:pt x="6017425" y="187800"/>
                </a:moveTo>
                <a:lnTo>
                  <a:pt x="4764887" y="0"/>
                </a:lnTo>
                <a:lnTo>
                  <a:pt x="4954951" y="318908"/>
                </a:lnTo>
                <a:cubicBezTo>
                  <a:pt x="3423826" y="1491317"/>
                  <a:pt x="2013901" y="1817981"/>
                  <a:pt x="0" y="1749564"/>
                </a:cubicBezTo>
                <a:cubicBezTo>
                  <a:pt x="1667743" y="2379995"/>
                  <a:pt x="3706383" y="2285818"/>
                  <a:pt x="5404033" y="1072876"/>
                </a:cubicBezTo>
                <a:lnTo>
                  <a:pt x="5586528" y="1379136"/>
                </a:lnTo>
                <a:lnTo>
                  <a:pt x="6017425" y="187800"/>
                </a:lnTo>
                <a:close/>
              </a:path>
            </a:pathLst>
          </a:custGeom>
          <a:gradFill>
            <a:gsLst>
              <a:gs pos="0">
                <a:srgbClr val="E6E6E6"/>
              </a:gs>
              <a:gs pos="100000">
                <a:srgbClr val="0042FF"/>
              </a:gs>
            </a:gsLst>
            <a:lin ang="0" scaled="0"/>
          </a:gradFill>
          <a:ln w="9231" cap="flat">
            <a:solidFill>
              <a:srgbClr val="FFFFFF"/>
            </a:solidFill>
            <a:prstDash val="solid"/>
            <a:miter/>
          </a:ln>
        </p:spPr>
        <p:txBody>
          <a:bodyPr rtlCol="0" anchor="ctr" lIns="0" rIns="0" tIns="0" bIns="0"/>
          <a:lstStyle/>
          <a:p>
            <a:pPr>
              <a:defRPr>
                <a:latin typeface="微软雅黑"/>
                <a:ea typeface="微软雅黑"/>
                <a:cs typeface="微软雅黑"/>
              </a:defRPr>
            </a:pPr>
            <a:endParaRPr lang="zh-CN" altLang="en-US" dirty="0">
              <a:cs typeface="微软雅黑"/>
              <a:latin typeface="微软雅黑"/>
              <a:ea typeface="微软雅黑"/>
            </a:endParaRPr>
          </a:p>
        </p:txBody>
      </p:sp>
      <p:sp>
        <p:nvSpPr>
          <p:cNvPr id="14" name="椭圆 13"/>
          <p:cNvSpPr/>
          <p:nvPr/>
        </p:nvSpPr>
        <p:spPr>
          <a:xfrm>
            <a:off x="8099425" y="4688205"/>
            <a:ext cx="311150" cy="311150"/>
          </a:xfrm>
          <a:prstGeom prst="ellipse">
            <a:avLst/>
          </a:prstGeom>
          <a:solidFill>
            <a:srgbClr val="FFFFFF">
              <a:alpha val="7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4</a:t>
            </a:r>
            <a:endParaRPr lang="en-US" altLang="zh-CN" sz="1400" b="1">
              <a:solidFill>
                <a:srgbClr val="0042FF"/>
              </a:solidFill>
              <a:latin typeface="微软雅黑"/>
              <a:ea typeface="微软雅黑"/>
              <a:cs typeface="微软雅黑"/>
            </a:endParaRPr>
          </a:p>
        </p:txBody>
      </p:sp>
      <p:sp>
        <p:nvSpPr>
          <p:cNvPr id="15" name="文本框 14"/>
          <p:cNvSpPr txBox="1"/>
          <p:nvPr/>
        </p:nvSpPr>
        <p:spPr>
          <a:xfrm>
            <a:off x="876300" y="4725670"/>
            <a:ext cx="3147060" cy="1198880"/>
          </a:xfrm>
          <a:prstGeom prst="rect">
            <a:avLst/>
          </a:prstGeom>
          <a:noFill/>
        </p:spPr>
        <p:txBody>
          <a:bodyPr wrap="square" rtlCol="0" lIns="0" rIns="0" tIns="0" bIns="0">
            <a:spAutoFit/>
          </a:bodyPr>
          <a:lstStyle/>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制定计划方案：</a:t>
            </a:r>
            <a:r>
              <a:rPr kumimoji="1" lang="zh-CN" altLang="en-US" sz="1200" dirty="0">
                <a:solidFill>
                  <a:srgbClr val="383838"/>
                </a:solidFill>
                <a:latin typeface="微软雅黑"/>
                <a:ea typeface="微软雅黑"/>
                <a:cs typeface="微软雅黑"/>
                <a:sym typeface="微软雅黑"/>
              </a:rPr>
              <a:t>制定一个项目总体时间表，标出关键的时间节点和里程碑。估算项目的预算，包括成本，如人力、设备等。</a:t>
            </a:r>
            <a:endParaRPr kumimoji="1" lang="zh-CN" altLang="en-US" sz="1200" dirty="0">
              <a:solidFill>
                <a:srgbClr val="383838"/>
              </a:solidFill>
              <a:latin typeface="微软雅黑"/>
              <a:ea typeface="微软雅黑"/>
              <a:cs typeface="微软雅黑"/>
              <a:sym typeface="微软雅黑"/>
            </a:endParaRPr>
          </a:p>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1" lang="zh-CN" altLang="en-US" sz="1200" b="1" dirty="0">
                <a:solidFill>
                  <a:srgbClr val="0042FF"/>
                </a:solidFill>
                <a:latin typeface="微软雅黑"/>
                <a:ea typeface="微软雅黑"/>
                <a:cs typeface="微软雅黑"/>
              </a:rPr>
              <a:t>组建项目团队：</a:t>
            </a:r>
            <a:r>
              <a:rPr kumimoji="1" lang="zh-CN" altLang="en-US" sz="1200" dirty="0">
                <a:solidFill>
                  <a:srgbClr val="383838"/>
                </a:solidFill>
                <a:latin typeface="微软雅黑"/>
                <a:ea typeface="微软雅黑"/>
                <a:cs typeface="微软雅黑"/>
                <a:sym typeface="微软雅黑"/>
              </a:rPr>
              <a:t>确定核心团队成员，明确每个人的角色和责任。考虑项目是否需要外部供应商或顾问支持。</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41" name="组合 40"/>
          <p:cNvGrpSpPr/>
          <p:nvPr/>
        </p:nvGrpSpPr>
        <p:grpSpPr>
          <a:xfrm>
            <a:off x="1765300" y="4091940"/>
            <a:ext cx="2108200" cy="570230"/>
            <a:chOff x="1591" y="6595"/>
            <a:chExt cx="3320" cy="898"/>
          </a:xfrm>
        </p:grpSpPr>
        <p:sp>
          <p:nvSpPr>
            <p:cNvPr id="127" name="文本框 126"/>
            <p:cNvSpPr txBox="1"/>
            <p:nvPr/>
          </p:nvSpPr>
          <p:spPr>
            <a:xfrm>
              <a:off x="1591" y="6595"/>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第一阶段：项目启动</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8" name="文本框 17"/>
            <p:cNvSpPr txBox="1"/>
            <p:nvPr/>
          </p:nvSpPr>
          <p:spPr>
            <a:xfrm>
              <a:off x="1888" y="7059"/>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1</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-3</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21" name="文本框 20"/>
          <p:cNvSpPr txBox="1"/>
          <p:nvPr/>
        </p:nvSpPr>
        <p:spPr>
          <a:xfrm>
            <a:off x="1486535" y="2553335"/>
            <a:ext cx="3658235" cy="1014730"/>
          </a:xfrm>
          <a:prstGeom prst="rect">
            <a:avLst/>
          </a:prstGeom>
          <a:noFill/>
        </p:spPr>
        <p:txBody>
          <a:bodyPr wrap="square" rtlCol="0" lIns="0" rIns="0" tIns="0" bIns="0">
            <a:spAutoFit/>
          </a:bodyPr>
          <a:lstStyle/>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完善项目计划：</a:t>
            </a:r>
            <a:r>
              <a:rPr kumimoji="1" lang="zh-CN" altLang="en-US" sz="1200" dirty="0">
                <a:solidFill>
                  <a:srgbClr val="383838"/>
                </a:solidFill>
                <a:latin typeface="微软雅黑"/>
                <a:ea typeface="微软雅黑"/>
                <a:cs typeface="微软雅黑"/>
                <a:sym typeface="微软雅黑"/>
              </a:rPr>
              <a:t>在项目总体框架的基础上，细化每个任务的执行步骤和时间安排。</a:t>
            </a:r>
            <a:endParaRPr kumimoji="1" lang="zh-CN" altLang="en-US" sz="1200" dirty="0">
              <a:solidFill>
                <a:srgbClr val="383838"/>
              </a:solidFill>
              <a:latin typeface="微软雅黑"/>
              <a:ea typeface="微软雅黑"/>
              <a:cs typeface="微软雅黑"/>
              <a:sym typeface="微软雅黑"/>
            </a:endParaRPr>
          </a:p>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1" lang="zh-CN" altLang="en-US" sz="1200" b="1" dirty="0">
                <a:solidFill>
                  <a:srgbClr val="0042FF"/>
                </a:solidFill>
                <a:latin typeface="微软雅黑"/>
                <a:ea typeface="微软雅黑"/>
                <a:cs typeface="微软雅黑"/>
              </a:rPr>
              <a:t>资源分配与调配：</a:t>
            </a:r>
            <a:r>
              <a:rPr kumimoji="1" lang="zh-CN" altLang="en-US" sz="1200" i="0" u="none" strike="noStrike" kern="1200" cap="none" spc="0" normalizeH="0" baseline="0" dirty="0">
                <a:solidFill>
                  <a:srgbClr val="383838"/>
                </a:solidFill>
                <a:latin typeface="微软雅黑"/>
                <a:ea typeface="微软雅黑"/>
                <a:cs typeface="微软雅黑"/>
              </a:rPr>
              <a:t>确定项目所需的资源，包括人力、物资、技术支持等。确保每项资源得到合理分配，避免资源短缺或浪费。</a:t>
            </a:r>
            <a:endParaRPr kumimoji="1" lang="zh-CN" altLang="en-US" sz="1200" i="0" u="none" strike="noStrike" kern="1200" cap="none" spc="0" normalizeH="0" baseline="0" dirty="0">
              <a:solidFill>
                <a:srgbClr val="383838"/>
              </a:solidFill>
              <a:latin typeface="微软雅黑"/>
              <a:ea typeface="微软雅黑"/>
              <a:cs typeface="微软雅黑"/>
            </a:endParaRPr>
          </a:p>
        </p:txBody>
      </p:sp>
      <p:grpSp>
        <p:nvGrpSpPr>
          <p:cNvPr id="46" name="组合 45"/>
          <p:cNvGrpSpPr/>
          <p:nvPr/>
        </p:nvGrpSpPr>
        <p:grpSpPr>
          <a:xfrm>
            <a:off x="3139440" y="1943735"/>
            <a:ext cx="2108200" cy="570230"/>
            <a:chOff x="2745" y="2451"/>
            <a:chExt cx="3320" cy="898"/>
          </a:xfrm>
        </p:grpSpPr>
        <p:sp>
          <p:nvSpPr>
            <p:cNvPr id="23" name="文本框 22"/>
            <p:cNvSpPr txBox="1"/>
            <p:nvPr/>
          </p:nvSpPr>
          <p:spPr>
            <a:xfrm>
              <a:off x="2745" y="2451"/>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第二阶段：项目规划</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25" name="文本框 24"/>
            <p:cNvSpPr txBox="1"/>
            <p:nvPr/>
          </p:nvSpPr>
          <p:spPr>
            <a:xfrm>
              <a:off x="3042" y="2915"/>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4</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27" name="文本框 26"/>
          <p:cNvSpPr txBox="1"/>
          <p:nvPr/>
        </p:nvSpPr>
        <p:spPr>
          <a:xfrm>
            <a:off x="6877050" y="1919605"/>
            <a:ext cx="4396105" cy="829945"/>
          </a:xfrm>
          <a:prstGeom prst="rect">
            <a:avLst/>
          </a:prstGeom>
          <a:noFill/>
        </p:spPr>
        <p:txBody>
          <a:bodyPr wrap="square" rtlCol="0" lIns="0" rIns="0" tIns="0" bIns="0">
            <a:spAutoFit/>
          </a:bodyPr>
          <a:lstStyle/>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rPr>
              <a:t>团队管理与协调：</a:t>
            </a:r>
            <a:r>
              <a:rPr kumimoji="1" lang="zh-CN" altLang="en-US" sz="1200" dirty="0">
                <a:solidFill>
                  <a:srgbClr val="383838"/>
                </a:solidFill>
                <a:latin typeface="微软雅黑"/>
                <a:ea typeface="微软雅黑"/>
                <a:cs typeface="微软雅黑"/>
                <a:sym typeface="微软雅黑"/>
              </a:rPr>
              <a:t>对团队成员工作进行监督与支持，确保协同作业顺利进行。解决团队中出现的任何冲突或问题。</a:t>
            </a:r>
            <a:endParaRPr kumimoji="1" lang="zh-CN" altLang="en-US" sz="1200" dirty="0">
              <a:solidFill>
                <a:srgbClr val="383838"/>
              </a:solidFill>
              <a:latin typeface="微软雅黑"/>
              <a:ea typeface="微软雅黑"/>
              <a:cs typeface="微软雅黑"/>
              <a:sym typeface="微软雅黑"/>
            </a:endParaRPr>
          </a:p>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1" lang="zh-CN" altLang="en-US" sz="1200" b="1" dirty="0">
                <a:solidFill>
                  <a:srgbClr val="0042FF"/>
                </a:solidFill>
                <a:latin typeface="微软雅黑"/>
                <a:ea typeface="微软雅黑"/>
                <a:cs typeface="微软雅黑"/>
              </a:rPr>
              <a:t>监控与调整进度：</a:t>
            </a:r>
            <a:r>
              <a:rPr kumimoji="1" lang="zh-CN" altLang="en-US" sz="1200" i="0" u="none" strike="noStrike" kern="1200" cap="none" spc="0" normalizeH="0" baseline="0" dirty="0">
                <a:solidFill>
                  <a:srgbClr val="383838"/>
                </a:solidFill>
                <a:latin typeface="微软雅黑"/>
                <a:ea typeface="微软雅黑"/>
                <a:cs typeface="微软雅黑"/>
              </a:rPr>
              <a:t>跟踪项目进展，任务按时完成。发现偏差时及时调整项目进度，确保不会影响总体目标。</a:t>
            </a:r>
            <a:endParaRPr kumimoji="1" lang="zh-CN" altLang="en-US" sz="1200" i="0" u="none" strike="noStrike" kern="1200" cap="none" spc="0" normalizeH="0" baseline="0" dirty="0">
              <a:solidFill>
                <a:srgbClr val="383838"/>
              </a:solidFill>
              <a:latin typeface="微软雅黑"/>
              <a:ea typeface="微软雅黑"/>
              <a:cs typeface="微软雅黑"/>
            </a:endParaRPr>
          </a:p>
        </p:txBody>
      </p:sp>
      <p:sp>
        <p:nvSpPr>
          <p:cNvPr id="29" name="文本框 28"/>
          <p:cNvSpPr txBox="1"/>
          <p:nvPr/>
        </p:nvSpPr>
        <p:spPr>
          <a:xfrm>
            <a:off x="6952615" y="1327785"/>
            <a:ext cx="2108200" cy="337185"/>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第三阶段：项目执行</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1" name="文本框 30"/>
          <p:cNvSpPr txBox="1"/>
          <p:nvPr/>
        </p:nvSpPr>
        <p:spPr>
          <a:xfrm>
            <a:off x="6987540" y="1622425"/>
            <a:ext cx="1731010" cy="275590"/>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7</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-9</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32" name="组合 31"/>
          <p:cNvGrpSpPr/>
          <p:nvPr/>
        </p:nvGrpSpPr>
        <p:grpSpPr>
          <a:xfrm>
            <a:off x="7900670" y="4665345"/>
            <a:ext cx="3147060" cy="1819910"/>
            <a:chOff x="692" y="6595"/>
            <a:chExt cx="4956" cy="2866"/>
          </a:xfrm>
        </p:grpSpPr>
        <p:sp>
          <p:nvSpPr>
            <p:cNvPr id="33" name="文本框 32"/>
            <p:cNvSpPr txBox="1"/>
            <p:nvPr/>
          </p:nvSpPr>
          <p:spPr>
            <a:xfrm>
              <a:off x="692" y="7573"/>
              <a:ext cx="4956" cy="1888"/>
            </a:xfrm>
            <a:prstGeom prst="rect">
              <a:avLst/>
            </a:prstGeom>
            <a:noFill/>
          </p:spPr>
          <p:txBody>
            <a:bodyPr wrap="square" rtlCol="0" lIns="0" rIns="0" tIns="0" bIns="0">
              <a:spAutoFit/>
            </a:bodyPr>
            <a:lstStyle/>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rPr>
                <a:t>总结项目表现：</a:t>
              </a:r>
              <a:r>
                <a:rPr kumimoji="1" lang="zh-CN" altLang="en-US" sz="1200" dirty="0">
                  <a:solidFill>
                    <a:srgbClr val="383838"/>
                  </a:solidFill>
                  <a:latin typeface="微软雅黑"/>
                  <a:ea typeface="微软雅黑"/>
                  <a:cs typeface="微软雅黑"/>
                  <a:sym typeface="微软雅黑"/>
                </a:rPr>
                <a:t>对项目进行全面回顾，总结项目的优点和不足。分析项目中遇到的挑战与成功经验，为未来项目积累知识。</a:t>
              </a:r>
              <a:endParaRPr kumimoji="1" lang="zh-CN" altLang="en-US" sz="1200" dirty="0">
                <a:solidFill>
                  <a:srgbClr val="383838"/>
                </a:solidFill>
                <a:latin typeface="微软雅黑"/>
                <a:ea typeface="微软雅黑"/>
                <a:cs typeface="微软雅黑"/>
                <a:sym typeface="微软雅黑"/>
              </a:endParaRPr>
            </a:p>
            <a:p>
              <a:pPr marL="171450" marR="0" lvl="0" indent="-171450" algn="just" defTabSz="914400" rtl="0" eaLnBrk="1" fontAlgn="auto" latinLnBrk="0" hangingPunct="1">
                <a:lnSpc>
                  <a:spcPct val="100000"/>
                </a:lnSpc>
                <a:spcBef>
                  <a:spcPts val="0"/>
                </a:spcBef>
                <a:spcAft>
                  <a:spcPts val="0"/>
                </a:spcAft>
                <a:buClrTx/>
                <a:buSzTx/>
                <a:buFont typeface="微软雅黑"/>
                <a:buChar char="➢"/>
                <a:defRPr>
                  <a:latin typeface="微软雅黑"/>
                  <a:ea typeface="微软雅黑"/>
                  <a:cs typeface="微软雅黑"/>
                </a:defRPr>
              </a:pPr>
              <a:r>
                <a:rPr kumimoji="1" lang="zh-CN" altLang="en-US" sz="1200" b="1" dirty="0">
                  <a:solidFill>
                    <a:srgbClr val="383838"/>
                  </a:solidFill>
                  <a:latin typeface="微软雅黑"/>
                  <a:ea typeface="微软雅黑"/>
                  <a:cs typeface="微软雅黑"/>
                </a:rPr>
                <a:t>整理项目文档：</a:t>
              </a:r>
              <a:r>
                <a:rPr kumimoji="1" lang="zh-CN" altLang="en-US" sz="1200" i="0" u="none" strike="noStrike" kern="1200" cap="none" spc="0" normalizeH="0" baseline="0" dirty="0">
                  <a:solidFill>
                    <a:srgbClr val="383838"/>
                  </a:solidFill>
                  <a:latin typeface="微软雅黑"/>
                  <a:ea typeface="微软雅黑"/>
                  <a:cs typeface="微软雅黑"/>
                </a:rPr>
                <a:t>确保项目所有相关文件、报告和资料都整理完善，并按照规范归档。提供详细的操作手册、技术文档。</a:t>
              </a:r>
              <a:endParaRPr kumimoji="1" lang="zh-CN" altLang="en-US" sz="1200" i="0" u="none" strike="noStrike" kern="1200" cap="none" spc="0" normalizeH="0" baseline="0" dirty="0">
                <a:solidFill>
                  <a:srgbClr val="383838"/>
                </a:solidFill>
                <a:latin typeface="微软雅黑"/>
                <a:ea typeface="微软雅黑"/>
                <a:cs typeface="微软雅黑"/>
              </a:endParaRPr>
            </a:p>
          </p:txBody>
        </p:sp>
        <p:sp>
          <p:nvSpPr>
            <p:cNvPr id="35" name="文本框 34"/>
            <p:cNvSpPr txBox="1"/>
            <p:nvPr/>
          </p:nvSpPr>
          <p:spPr>
            <a:xfrm>
              <a:off x="1591" y="6595"/>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rPr>
                <a:t>第四阶段：项目交付</a:t>
              </a:r>
              <a:endPar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37" name="文本框 36"/>
            <p:cNvSpPr txBox="1"/>
            <p:nvPr/>
          </p:nvSpPr>
          <p:spPr>
            <a:xfrm>
              <a:off x="1646" y="7059"/>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10</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-12</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cxnSp>
        <p:nvCxnSpPr>
          <p:cNvPr id="38" name="直接连接符 37"/>
          <p:cNvCxnSpPr>
            <a:stCxn id="9" idx="4"/>
            <a:endCxn id="14" idx="0"/>
          </p:cNvCxnSpPr>
          <p:nvPr/>
        </p:nvCxnSpPr>
        <p:spPr>
          <a:xfrm flipH="1">
            <a:off x="8255000" y="3841115"/>
            <a:ext cx="635" cy="847090"/>
          </a:xfrm>
          <a:prstGeom prst="line">
            <a:avLst/>
          </a:prstGeom>
          <a:ln>
            <a:solidFill>
              <a:srgbClr val="B3D4FE"/>
            </a:solidFill>
            <a:prstDash val="solid"/>
          </a:ln>
        </p:spPr>
        <p:style>
          <a:lnRef idx="2">
            <a:srgbClr val="0042FF"/>
          </a:lnRef>
          <a:fillRef idx="0">
            <a:srgbClr val="FFFFFF"/>
          </a:fillRef>
          <a:effectRef idx="0">
            <a:srgbClr val="FFFFFF"/>
          </a:effectRef>
          <a:fontRef idx="minor">
            <a:srgbClr val="383838"/>
          </a:fontRef>
        </p:style>
      </p:cxnSp>
      <p:sp>
        <p:nvSpPr>
          <p:cNvPr id="39" name="椭圆 38"/>
          <p:cNvSpPr/>
          <p:nvPr/>
        </p:nvSpPr>
        <p:spPr>
          <a:xfrm>
            <a:off x="6543040" y="1538605"/>
            <a:ext cx="311150" cy="311150"/>
          </a:xfrm>
          <a:prstGeom prst="ellipse">
            <a:avLst/>
          </a:prstGeom>
          <a:solidFill>
            <a:srgbClr val="E6E6E6">
              <a:alpha val="70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3</a:t>
            </a:r>
            <a:endParaRPr lang="en-US" altLang="zh-CN" sz="1400" b="1">
              <a:solidFill>
                <a:srgbClr val="0042FF"/>
              </a:solidFill>
              <a:latin typeface="微软雅黑"/>
              <a:ea typeface="微软雅黑"/>
              <a:cs typeface="微软雅黑"/>
            </a:endParaRPr>
          </a:p>
        </p:txBody>
      </p:sp>
      <p:cxnSp>
        <p:nvCxnSpPr>
          <p:cNvPr id="40" name="直接连接符 39"/>
          <p:cNvCxnSpPr/>
          <p:nvPr/>
        </p:nvCxnSpPr>
        <p:spPr>
          <a:xfrm>
            <a:off x="6698298" y="1849755"/>
            <a:ext cx="635" cy="2242185"/>
          </a:xfrm>
          <a:prstGeom prst="line">
            <a:avLst/>
          </a:prstGeom>
          <a:ln>
            <a:solidFill>
              <a:srgbClr val="3368FF"/>
            </a:solidFill>
            <a:prstDash val="solid"/>
          </a:ln>
        </p:spPr>
        <p:style>
          <a:lnRef idx="2">
            <a:srgbClr val="0042FF"/>
          </a:lnRef>
          <a:fillRef idx="0">
            <a:srgbClr val="FFFFFF"/>
          </a:fillRef>
          <a:effectRef idx="0">
            <a:srgbClr val="FFFFFF"/>
          </a:effectRef>
          <a:fontRef idx="minor">
            <a:srgbClr val="383838"/>
          </a:fontRef>
        </p:style>
      </p:cxnSp>
      <p:sp>
        <p:nvSpPr>
          <p:cNvPr id="42" name="椭圆 41"/>
          <p:cNvSpPr/>
          <p:nvPr/>
        </p:nvSpPr>
        <p:spPr>
          <a:xfrm>
            <a:off x="3921125" y="4117975"/>
            <a:ext cx="311150" cy="311150"/>
          </a:xfrm>
          <a:prstGeom prst="ellipse">
            <a:avLst/>
          </a:prstGeom>
          <a:solidFill>
            <a:srgbClr val="E6E6E6">
              <a:alpha val="70000"/>
            </a:srgbClr>
          </a:solidFill>
          <a:ln>
            <a:solidFill>
              <a:srgbClr val="0042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1</a:t>
            </a:r>
            <a:endParaRPr lang="en-US" altLang="zh-CN" sz="1400" b="1">
              <a:solidFill>
                <a:srgbClr val="0042FF"/>
              </a:solidFill>
              <a:latin typeface="微软雅黑"/>
              <a:ea typeface="微软雅黑"/>
              <a:cs typeface="微软雅黑"/>
            </a:endParaRPr>
          </a:p>
        </p:txBody>
      </p:sp>
      <p:cxnSp>
        <p:nvCxnSpPr>
          <p:cNvPr id="43" name="直接连接符 42"/>
          <p:cNvCxnSpPr/>
          <p:nvPr/>
        </p:nvCxnSpPr>
        <p:spPr>
          <a:xfrm>
            <a:off x="4076700" y="4429125"/>
            <a:ext cx="0" cy="1363980"/>
          </a:xfrm>
          <a:prstGeom prst="line">
            <a:avLst/>
          </a:prstGeom>
          <a:ln>
            <a:solidFill>
              <a:srgbClr val="3368FF"/>
            </a:solidFill>
            <a:prstDash val="solid"/>
          </a:ln>
        </p:spPr>
        <p:style>
          <a:lnRef idx="2">
            <a:srgbClr val="0042FF"/>
          </a:lnRef>
          <a:fillRef idx="0">
            <a:srgbClr val="FFFFFF"/>
          </a:fillRef>
          <a:effectRef idx="0">
            <a:srgbClr val="FFFFFF"/>
          </a:effectRef>
          <a:fontRef idx="minor">
            <a:srgbClr val="383838"/>
          </a:fontRef>
        </p:style>
      </p:cxnSp>
      <p:sp>
        <p:nvSpPr>
          <p:cNvPr id="45" name="椭圆 44"/>
          <p:cNvSpPr/>
          <p:nvPr/>
        </p:nvSpPr>
        <p:spPr>
          <a:xfrm>
            <a:off x="5294630" y="2308225"/>
            <a:ext cx="311150" cy="311150"/>
          </a:xfrm>
          <a:prstGeom prst="ellipse">
            <a:avLst/>
          </a:prstGeom>
          <a:solidFill>
            <a:srgbClr val="FFFFFF">
              <a:alpha val="7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2</a:t>
            </a:r>
            <a:endParaRPr lang="en-US" altLang="zh-CN" sz="1400" b="1">
              <a:solidFill>
                <a:srgbClr val="0042FF"/>
              </a:solidFill>
              <a:latin typeface="微软雅黑"/>
              <a:ea typeface="微软雅黑"/>
              <a:cs typeface="微软雅黑"/>
            </a:endParaRPr>
          </a:p>
        </p:txBody>
      </p:sp>
      <p:cxnSp>
        <p:nvCxnSpPr>
          <p:cNvPr id="47" name="直接连接符 46"/>
          <p:cNvCxnSpPr/>
          <p:nvPr/>
        </p:nvCxnSpPr>
        <p:spPr>
          <a:xfrm>
            <a:off x="5450205" y="2613660"/>
            <a:ext cx="0" cy="2117090"/>
          </a:xfrm>
          <a:prstGeom prst="line">
            <a:avLst/>
          </a:prstGeom>
          <a:ln>
            <a:solidFill>
              <a:srgbClr val="B3D4FE"/>
            </a:solidFill>
            <a:prstDash val="solid"/>
          </a:ln>
        </p:spPr>
        <p:style>
          <a:lnRef idx="2">
            <a:srgbClr val="0042FF"/>
          </a:lnRef>
          <a:fillRef idx="0">
            <a:srgbClr val="FFFFFF"/>
          </a:fillRef>
          <a:effectRef idx="0">
            <a:srgbClr val="FFFFFF"/>
          </a:effectRef>
          <a:fontRef idx="minor">
            <a:srgbClr val="383838"/>
          </a:fontRef>
        </p:style>
      </p:cxnSp>
      <p:sp>
        <p:nvSpPr>
          <p:cNvPr id="51" name="Oval 28"/>
          <p:cNvSpPr/>
          <p:nvPr/>
        </p:nvSpPr>
        <p:spPr>
          <a:xfrm>
            <a:off x="6610521" y="4087702"/>
            <a:ext cx="175897" cy="173258"/>
          </a:xfrm>
          <a:prstGeom prst="ellipse">
            <a:avLst/>
          </a:prstGeom>
          <a:solidFill>
            <a:srgbClr val="FFFFFF"/>
          </a:solidFill>
          <a:ln w="38100" cap="flat">
            <a:solidFill>
              <a:srgbClr val="E6E6E6"/>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spAutoFit/>
          </a:bodyPr>
          <a:lstStyle/>
          <a:p>
            <a:pPr marL="0" marR="0" indent="0" algn="ctr" defTabSz="584200" rtl="0" eaLnBrk="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en-US" sz="1000" b="0" i="0" u="none" strike="noStrike" cap="none" spc="0" normalizeH="0" baseline="0">
              <a:ln>
                <a:noFill/>
              </a:ln>
              <a:solidFill>
                <a:srgbClr val="383838"/>
              </a:solidFill>
              <a:effectLst>
                <a:outerShdw blurRad="38100" dist="12700" dir="5400000" rotWithShape="0">
                  <a:srgbClr val="383838">
                    <a:alpha val="50000"/>
                  </a:srgbClr>
                </a:outerShdw>
              </a:effectLst>
              <a:uFillTx/>
              <a:latin typeface="微软雅黑"/>
              <a:ea typeface="微软雅黑"/>
              <a:cs typeface="微软雅黑"/>
              <a:sym typeface="微软雅黑"/>
            </a:endParaRPr>
          </a:p>
        </p:txBody>
      </p:sp>
      <p:sp>
        <p:nvSpPr>
          <p:cNvPr id="52" name="Oval 28"/>
          <p:cNvSpPr/>
          <p:nvPr/>
        </p:nvSpPr>
        <p:spPr>
          <a:xfrm>
            <a:off x="5375275" y="4725670"/>
            <a:ext cx="150495" cy="148590"/>
          </a:xfrm>
          <a:prstGeom prst="ellipse">
            <a:avLst/>
          </a:prstGeom>
          <a:solidFill>
            <a:srgbClr val="FFFFFF"/>
          </a:solidFill>
          <a:ln w="25400" cap="flat">
            <a:solidFill>
              <a:srgbClr val="FFFFFF"/>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584200" rtl="0" eaLnBrk="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en-US" sz="1000" b="0" i="0" u="none" strike="noStrike" cap="none" spc="0" normalizeH="0" baseline="0">
              <a:ln>
                <a:noFill/>
              </a:ln>
              <a:solidFill>
                <a:srgbClr val="383838"/>
              </a:solidFill>
              <a:effectLst>
                <a:outerShdw blurRad="38100" dist="12700" dir="5400000" rotWithShape="0">
                  <a:srgbClr val="383838">
                    <a:alpha val="50000"/>
                  </a:srgbClr>
                </a:outerShdw>
              </a:effectLst>
              <a:uFillTx/>
              <a:latin typeface="微软雅黑"/>
              <a:ea typeface="微软雅黑"/>
              <a:cs typeface="微软雅黑"/>
              <a:sym typeface="微软雅黑"/>
            </a:endParaRPr>
          </a:p>
        </p:txBody>
      </p:sp>
      <p:sp>
        <p:nvSpPr>
          <p:cNvPr id="53" name="Oval 28"/>
          <p:cNvSpPr/>
          <p:nvPr/>
        </p:nvSpPr>
        <p:spPr>
          <a:xfrm>
            <a:off x="4028123" y="5780405"/>
            <a:ext cx="97155" cy="95885"/>
          </a:xfrm>
          <a:prstGeom prst="ellipse">
            <a:avLst/>
          </a:prstGeom>
          <a:solidFill>
            <a:srgbClr val="FFFFFF"/>
          </a:solidFill>
          <a:ln w="25400" cap="flat">
            <a:solidFill>
              <a:srgbClr val="3368FF"/>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584200" rtl="0" eaLnBrk="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en-US" sz="1000" b="0" i="0" u="none" strike="noStrike" cap="none" spc="0" normalizeH="0" baseline="0">
              <a:ln>
                <a:noFill/>
              </a:ln>
              <a:solidFill>
                <a:srgbClr val="383838"/>
              </a:solidFill>
              <a:effectLst>
                <a:outerShdw blurRad="38100" dist="12700" dir="5400000" rotWithShape="0">
                  <a:srgbClr val="383838">
                    <a:alpha val="50000"/>
                  </a:srgbClr>
                </a:outerShdw>
              </a:effectLst>
              <a:uFillTx/>
              <a:latin typeface="微软雅黑"/>
              <a:ea typeface="微软雅黑"/>
              <a:cs typeface="微软雅黑"/>
              <a:sym typeface="微软雅黑"/>
            </a:endParaRPr>
          </a:p>
        </p:txBody>
      </p:sp>
      <p:sp>
        <p:nvSpPr>
          <p:cNvPr id="54" name="Oval 28"/>
          <p:cNvSpPr/>
          <p:nvPr/>
        </p:nvSpPr>
        <p:spPr>
          <a:xfrm>
            <a:off x="8099425" y="3625850"/>
            <a:ext cx="302260" cy="297815"/>
          </a:xfrm>
          <a:prstGeom prst="ellipse">
            <a:avLst/>
          </a:prstGeom>
          <a:solidFill>
            <a:srgbClr val="FFFFFF"/>
          </a:solidFill>
          <a:ln w="38100" cap="flat">
            <a:solidFill>
              <a:srgbClr val="FFFFFF"/>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0" tIns="0" rIns="0" bIns="0" numCol="1" spcCol="38100" rtlCol="0" anchor="ctr">
            <a:noAutofit/>
          </a:bodyPr>
          <a:lstStyle/>
          <a:p>
            <a:pPr marL="0" marR="0" indent="0" algn="ctr" defTabSz="584200" rtl="0" eaLnBrk="0" fontAlgn="auto" latinLnBrk="0" hangingPunct="0">
              <a:lnSpc>
                <a:spcPct val="100000"/>
              </a:lnSpc>
              <a:spcBef>
                <a:spcPts val="0"/>
              </a:spcBef>
              <a:spcAft>
                <a:spcPts val="0"/>
              </a:spcAft>
              <a:buClrTx/>
              <a:buSzTx/>
              <a:buFontTx/>
              <a:buNone/>
              <a:defRPr>
                <a:latin typeface="微软雅黑"/>
                <a:ea typeface="微软雅黑"/>
                <a:cs typeface="微软雅黑"/>
              </a:defRPr>
            </a:pPr>
            <a:endParaRPr kumimoji="0" lang="en-US" sz="1000" b="0" i="0" u="none" strike="noStrike" cap="none" spc="0" normalizeH="0" baseline="0">
              <a:ln>
                <a:noFill/>
              </a:ln>
              <a:solidFill>
                <a:srgbClr val="383838"/>
              </a:solidFill>
              <a:effectLst>
                <a:outerShdw blurRad="38100" dist="12700" dir="5400000" rotWithShape="0">
                  <a:srgbClr val="383838">
                    <a:alpha val="50000"/>
                  </a:srgbClr>
                </a:outerShdw>
              </a:effectLst>
              <a:uFillTx/>
              <a:latin typeface="微软雅黑"/>
              <a:ea typeface="微软雅黑"/>
              <a:cs typeface="微软雅黑"/>
              <a:sym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年度项目</a:t>
            </a:r>
            <a:r>
              <a:rPr sz="2500">
                <a:solidFill>
                  <a:srgbClr val="383838"/>
                </a:solidFill>
                <a:effectLst/>
                <a:latin typeface="微软雅黑"/>
                <a:ea typeface="微软雅黑"/>
                <a:cs typeface="微软雅黑"/>
                <a:sym typeface="微软雅黑"/>
              </a:rPr>
              <a:t>工作</a:t>
            </a:r>
            <a:r>
              <a:rPr sz="2500">
                <a:solidFill>
                  <a:srgbClr val="383838"/>
                </a:solidFill>
                <a:effectLst/>
                <a:latin typeface="微软雅黑"/>
                <a:ea typeface="微软雅黑"/>
                <a:cs typeface="微软雅黑"/>
              </a:rPr>
              <a:t>规划</a:t>
            </a:r>
            <a:endParaRPr sz="250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101" name="Group 100"/>
          <p:cNvGrpSpPr/>
          <p:nvPr>
            <p:custDataLst>
              <p:tags r:id="rId3"/>
            </p:custDataLst>
          </p:nvPr>
        </p:nvGrpSpPr>
        <p:grpSpPr>
          <a:xfrm>
            <a:off x="374217" y="2356767"/>
            <a:ext cx="10914812" cy="3797092"/>
            <a:chOff x="452334" y="1483137"/>
            <a:chExt cx="7358918" cy="2560052"/>
          </a:xfrm>
        </p:grpSpPr>
        <p:sp>
          <p:nvSpPr>
            <p:cNvPr id="123" name="Freeform 122"/>
            <p:cNvSpPr/>
            <p:nvPr>
              <p:custDataLst>
                <p:tags r:id="rId4"/>
              </p:custDataLst>
            </p:nvPr>
          </p:nvSpPr>
          <p:spPr bwMode="auto">
            <a:xfrm>
              <a:off x="452334" y="1483137"/>
              <a:ext cx="7320948" cy="2560052"/>
            </a:xfrm>
            <a:custGeom>
              <a:avLst/>
              <a:gdLst>
                <a:gd name="connsiteX0" fmla="*/ 5961105 w 7320948"/>
                <a:gd name="connsiteY0" fmla="*/ 0 h 2560052"/>
                <a:gd name="connsiteX1" fmla="*/ 7320948 w 7320948"/>
                <a:gd name="connsiteY1" fmla="*/ 669261 h 2560052"/>
                <a:gd name="connsiteX2" fmla="*/ 7022260 w 7320948"/>
                <a:gd name="connsiteY2" fmla="*/ 658097 h 2560052"/>
                <a:gd name="connsiteX3" fmla="*/ 4161673 w 7320948"/>
                <a:gd name="connsiteY3" fmla="*/ 751858 h 2560052"/>
                <a:gd name="connsiteX4" fmla="*/ 19080 w 7320948"/>
                <a:gd name="connsiteY4" fmla="*/ 2525635 h 2560052"/>
                <a:gd name="connsiteX5" fmla="*/ 0 w 7320948"/>
                <a:gd name="connsiteY5" fmla="*/ 2560052 h 2560052"/>
                <a:gd name="connsiteX6" fmla="*/ 6309 w 7320948"/>
                <a:gd name="connsiteY6" fmla="*/ 2515058 h 2560052"/>
                <a:gd name="connsiteX7" fmla="*/ 13880 w 7320948"/>
                <a:gd name="connsiteY7" fmla="*/ 2461066 h 2560052"/>
                <a:gd name="connsiteX8" fmla="*/ 32622 w 7320948"/>
                <a:gd name="connsiteY8" fmla="*/ 2387886 h 2560052"/>
                <a:gd name="connsiteX9" fmla="*/ 273343 w 7320948"/>
                <a:gd name="connsiteY9" fmla="*/ 1942140 h 2560052"/>
                <a:gd name="connsiteX10" fmla="*/ 550236 w 7320948"/>
                <a:gd name="connsiteY10" fmla="*/ 1662595 h 2560052"/>
                <a:gd name="connsiteX11" fmla="*/ 949860 w 7320948"/>
                <a:gd name="connsiteY11" fmla="*/ 1375821 h 2560052"/>
                <a:gd name="connsiteX12" fmla="*/ 2085523 w 7320948"/>
                <a:gd name="connsiteY12" fmla="*/ 869613 h 2560052"/>
                <a:gd name="connsiteX13" fmla="*/ 3447815 w 7320948"/>
                <a:gd name="connsiteY13" fmla="*/ 536580 h 2560052"/>
                <a:gd name="connsiteX14" fmla="*/ 4716097 w 7320948"/>
                <a:gd name="connsiteY14" fmla="*/ 368323 h 2560052"/>
                <a:gd name="connsiteX15" fmla="*/ 5618604 w 7320948"/>
                <a:gd name="connsiteY15" fmla="*/ 300935 h 2560052"/>
                <a:gd name="connsiteX16" fmla="*/ 5958961 w 7320948"/>
                <a:gd name="connsiteY16" fmla="*/ 283371 h 2560052"/>
                <a:gd name="connsiteX17" fmla="*/ 5961075 w 7320948"/>
                <a:gd name="connsiteY17" fmla="*/ 3935 h 2560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20948" h="2560052">
                  <a:moveTo>
                    <a:pt x="5961105" y="0"/>
                  </a:moveTo>
                  <a:lnTo>
                    <a:pt x="7320948" y="669261"/>
                  </a:lnTo>
                  <a:lnTo>
                    <a:pt x="7022260" y="658097"/>
                  </a:lnTo>
                  <a:cubicBezTo>
                    <a:pt x="6211590" y="633890"/>
                    <a:pt x="5203836" y="637832"/>
                    <a:pt x="4161673" y="751858"/>
                  </a:cubicBezTo>
                  <a:cubicBezTo>
                    <a:pt x="2242899" y="961234"/>
                    <a:pt x="310179" y="1491553"/>
                    <a:pt x="19080" y="2525635"/>
                  </a:cubicBezTo>
                  <a:cubicBezTo>
                    <a:pt x="6835" y="2547724"/>
                    <a:pt x="0" y="2560052"/>
                    <a:pt x="0" y="2560052"/>
                  </a:cubicBezTo>
                  <a:cubicBezTo>
                    <a:pt x="0" y="2560052"/>
                    <a:pt x="2082" y="2544772"/>
                    <a:pt x="6309" y="2515058"/>
                  </a:cubicBezTo>
                  <a:cubicBezTo>
                    <a:pt x="8454" y="2500624"/>
                    <a:pt x="10630" y="2482296"/>
                    <a:pt x="13880" y="2461066"/>
                  </a:cubicBezTo>
                  <a:cubicBezTo>
                    <a:pt x="18397" y="2439473"/>
                    <a:pt x="25954" y="2415279"/>
                    <a:pt x="32622" y="2387886"/>
                  </a:cubicBezTo>
                  <a:cubicBezTo>
                    <a:pt x="63156" y="2278066"/>
                    <a:pt x="130279" y="2121454"/>
                    <a:pt x="273343" y="1942140"/>
                  </a:cubicBezTo>
                  <a:cubicBezTo>
                    <a:pt x="348170" y="1853263"/>
                    <a:pt x="437088" y="1758174"/>
                    <a:pt x="550236" y="1662595"/>
                  </a:cubicBezTo>
                  <a:cubicBezTo>
                    <a:pt x="663732" y="1567347"/>
                    <a:pt x="796201" y="1470529"/>
                    <a:pt x="949860" y="1375821"/>
                  </a:cubicBezTo>
                  <a:cubicBezTo>
                    <a:pt x="1255913" y="1186771"/>
                    <a:pt x="1651323" y="1011316"/>
                    <a:pt x="2085523" y="869613"/>
                  </a:cubicBezTo>
                  <a:cubicBezTo>
                    <a:pt x="2520292" y="726882"/>
                    <a:pt x="2992867" y="617755"/>
                    <a:pt x="3447815" y="536580"/>
                  </a:cubicBezTo>
                  <a:cubicBezTo>
                    <a:pt x="3902477" y="455920"/>
                    <a:pt x="4340149" y="403031"/>
                    <a:pt x="4716097" y="368323"/>
                  </a:cubicBezTo>
                  <a:cubicBezTo>
                    <a:pt x="5090082" y="333316"/>
                    <a:pt x="5401170" y="313807"/>
                    <a:pt x="5618604" y="300935"/>
                  </a:cubicBezTo>
                  <a:cubicBezTo>
                    <a:pt x="5835752" y="288577"/>
                    <a:pt x="5958961" y="283371"/>
                    <a:pt x="5958961" y="283371"/>
                  </a:cubicBezTo>
                  <a:cubicBezTo>
                    <a:pt x="5960169" y="123693"/>
                    <a:pt x="5960773" y="43854"/>
                    <a:pt x="5961075" y="3935"/>
                  </a:cubicBezTo>
                  <a:close/>
                </a:path>
              </a:pathLst>
            </a:custGeom>
            <a:gradFill>
              <a:gsLst>
                <a:gs pos="0">
                  <a:srgbClr val="E6E6E6"/>
                </a:gs>
                <a:gs pos="100000">
                  <a:srgbClr val="668EFF"/>
                </a:gs>
              </a:gsLst>
              <a:lin ang="2700000" scaled="0"/>
            </a:gradFill>
            <a:ln w="9525">
              <a:noFill/>
              <a:round/>
            </a:ln>
          </p:spPr>
          <p:txBody>
            <a:bodyPr vert="horz" wrap="square" lIns="121920" tIns="60960" rIns="121920" bIns="60960" numCol="1" rtlCol="0" anchor="t" anchorCtr="0" compatLnSpc="1"/>
            <a:lstStyle/>
            <a:p>
              <a:pPr algn="ctr">
                <a:defRPr>
                  <a:latin typeface="微软雅黑"/>
                  <a:ea typeface="微软雅黑"/>
                  <a:cs typeface="微软雅黑"/>
                </a:defRPr>
              </a:pPr>
              <a:endParaRPr lang="en-US" sz="3200">
                <a:ea typeface="微软雅黑"/>
                <a:cs typeface="微软雅黑"/>
                <a:latin typeface="微软雅黑"/>
              </a:endParaRPr>
            </a:p>
          </p:txBody>
        </p:sp>
        <p:sp>
          <p:nvSpPr>
            <p:cNvPr id="125" name="Freeform 124"/>
            <p:cNvSpPr/>
            <p:nvPr>
              <p:custDataLst>
                <p:tags r:id="rId5"/>
              </p:custDataLst>
            </p:nvPr>
          </p:nvSpPr>
          <p:spPr bwMode="auto">
            <a:xfrm>
              <a:off x="471540" y="2129240"/>
              <a:ext cx="7339712" cy="1879215"/>
            </a:xfrm>
            <a:custGeom>
              <a:avLst/>
              <a:gdLst>
                <a:gd name="connsiteX0" fmla="*/ 5928827 w 7339712"/>
                <a:gd name="connsiteY0" fmla="*/ 775585 h 1879215"/>
                <a:gd name="connsiteX1" fmla="*/ 5939008 w 7339712"/>
                <a:gd name="connsiteY1" fmla="*/ 775585 h 1879215"/>
                <a:gd name="connsiteX2" fmla="*/ 5928800 w 7339712"/>
                <a:gd name="connsiteY2" fmla="*/ 779191 h 1879215"/>
                <a:gd name="connsiteX3" fmla="*/ 6493371 w 7339712"/>
                <a:gd name="connsiteY3" fmla="*/ 1491 h 1879215"/>
                <a:gd name="connsiteX4" fmla="*/ 7002058 w 7339712"/>
                <a:gd name="connsiteY4" fmla="*/ 11998 h 1879215"/>
                <a:gd name="connsiteX5" fmla="*/ 7301855 w 7339712"/>
                <a:gd name="connsiteY5" fmla="*/ 23213 h 1879215"/>
                <a:gd name="connsiteX6" fmla="*/ 7339712 w 7339712"/>
                <a:gd name="connsiteY6" fmla="*/ 41845 h 1879215"/>
                <a:gd name="connsiteX7" fmla="*/ 5929122 w 7339712"/>
                <a:gd name="connsiteY7" fmla="*/ 736081 h 1879215"/>
                <a:gd name="connsiteX8" fmla="*/ 5929586 w 7339712"/>
                <a:gd name="connsiteY8" fmla="*/ 673783 h 1879215"/>
                <a:gd name="connsiteX9" fmla="*/ 5931180 w 7339712"/>
                <a:gd name="connsiteY9" fmla="*/ 459851 h 1879215"/>
                <a:gd name="connsiteX10" fmla="*/ 5620552 w 7339712"/>
                <a:gd name="connsiteY10" fmla="*/ 442096 h 1879215"/>
                <a:gd name="connsiteX11" fmla="*/ 4807981 w 7339712"/>
                <a:gd name="connsiteY11" fmla="*/ 413676 h 1879215"/>
                <a:gd name="connsiteX12" fmla="*/ 3678085 w 7339712"/>
                <a:gd name="connsiteY12" fmla="*/ 437217 h 1879215"/>
                <a:gd name="connsiteX13" fmla="*/ 2420205 w 7339712"/>
                <a:gd name="connsiteY13" fmla="*/ 590827 h 1879215"/>
                <a:gd name="connsiteX14" fmla="*/ 1276613 w 7339712"/>
                <a:gd name="connsiteY14" fmla="*/ 916669 h 1879215"/>
                <a:gd name="connsiteX15" fmla="*/ 821793 w 7339712"/>
                <a:gd name="connsiteY15" fmla="*/ 1131229 h 1879215"/>
                <a:gd name="connsiteX16" fmla="*/ 470382 w 7339712"/>
                <a:gd name="connsiteY16" fmla="*/ 1357069 h 1879215"/>
                <a:gd name="connsiteX17" fmla="*/ 79181 w 7339712"/>
                <a:gd name="connsiteY17" fmla="*/ 1749795 h 1879215"/>
                <a:gd name="connsiteX18" fmla="*/ 32959 w 7339712"/>
                <a:gd name="connsiteY18" fmla="*/ 1818787 h 1879215"/>
                <a:gd name="connsiteX19" fmla="*/ 4839 w 7339712"/>
                <a:gd name="connsiteY19" fmla="*/ 1870483 h 1879215"/>
                <a:gd name="connsiteX20" fmla="*/ 0 w 7339712"/>
                <a:gd name="connsiteY20" fmla="*/ 1879215 h 1879215"/>
                <a:gd name="connsiteX21" fmla="*/ 4141850 w 7339712"/>
                <a:gd name="connsiteY21" fmla="*/ 105662 h 1879215"/>
                <a:gd name="connsiteX22" fmla="*/ 6493371 w 7339712"/>
                <a:gd name="connsiteY22" fmla="*/ 1491 h 1879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39712" h="1879215">
                  <a:moveTo>
                    <a:pt x="5928827" y="775585"/>
                  </a:moveTo>
                  <a:lnTo>
                    <a:pt x="5939008" y="775585"/>
                  </a:lnTo>
                  <a:lnTo>
                    <a:pt x="5928800" y="779191"/>
                  </a:lnTo>
                  <a:close/>
                  <a:moveTo>
                    <a:pt x="6493371" y="1491"/>
                  </a:moveTo>
                  <a:cubicBezTo>
                    <a:pt x="6669948" y="3431"/>
                    <a:pt x="6839944" y="7152"/>
                    <a:pt x="7002058" y="11998"/>
                  </a:cubicBezTo>
                  <a:lnTo>
                    <a:pt x="7301855" y="23213"/>
                  </a:lnTo>
                  <a:lnTo>
                    <a:pt x="7339712" y="41845"/>
                  </a:lnTo>
                  <a:lnTo>
                    <a:pt x="5929122" y="736081"/>
                  </a:lnTo>
                  <a:lnTo>
                    <a:pt x="5929586" y="673783"/>
                  </a:lnTo>
                  <a:cubicBezTo>
                    <a:pt x="5931180" y="459851"/>
                    <a:pt x="5931180" y="459851"/>
                    <a:pt x="5931180" y="459851"/>
                  </a:cubicBezTo>
                  <a:cubicBezTo>
                    <a:pt x="5931180" y="459851"/>
                    <a:pt x="5818050" y="452659"/>
                    <a:pt x="5620552" y="442096"/>
                  </a:cubicBezTo>
                  <a:cubicBezTo>
                    <a:pt x="5423749" y="432196"/>
                    <a:pt x="5142291" y="419439"/>
                    <a:pt x="4807981" y="413676"/>
                  </a:cubicBezTo>
                  <a:cubicBezTo>
                    <a:pt x="4475635" y="408211"/>
                    <a:pt x="4089298" y="411797"/>
                    <a:pt x="3678085" y="437217"/>
                  </a:cubicBezTo>
                  <a:cubicBezTo>
                    <a:pt x="3268549" y="463449"/>
                    <a:pt x="2835055" y="510821"/>
                    <a:pt x="2420205" y="590827"/>
                  </a:cubicBezTo>
                  <a:cubicBezTo>
                    <a:pt x="2005007" y="670503"/>
                    <a:pt x="1611206" y="780726"/>
                    <a:pt x="1276613" y="916669"/>
                  </a:cubicBezTo>
                  <a:cubicBezTo>
                    <a:pt x="1110266" y="984368"/>
                    <a:pt x="957573" y="1057207"/>
                    <a:pt x="821793" y="1131229"/>
                  </a:cubicBezTo>
                  <a:cubicBezTo>
                    <a:pt x="686708" y="1205913"/>
                    <a:pt x="571547" y="1283072"/>
                    <a:pt x="470382" y="1357069"/>
                  </a:cubicBezTo>
                  <a:cubicBezTo>
                    <a:pt x="273372" y="1506989"/>
                    <a:pt x="150432" y="1648130"/>
                    <a:pt x="79181" y="1749795"/>
                  </a:cubicBezTo>
                  <a:cubicBezTo>
                    <a:pt x="61716" y="1775543"/>
                    <a:pt x="45327" y="1798390"/>
                    <a:pt x="32959" y="1818787"/>
                  </a:cubicBezTo>
                  <a:cubicBezTo>
                    <a:pt x="21856" y="1838819"/>
                    <a:pt x="12177" y="1856283"/>
                    <a:pt x="4839" y="1870483"/>
                  </a:cubicBezTo>
                  <a:cubicBezTo>
                    <a:pt x="2498" y="1873747"/>
                    <a:pt x="1075" y="1876315"/>
                    <a:pt x="0" y="1879215"/>
                  </a:cubicBezTo>
                  <a:cubicBezTo>
                    <a:pt x="290939" y="845195"/>
                    <a:pt x="2223347" y="314965"/>
                    <a:pt x="4141850" y="105662"/>
                  </a:cubicBezTo>
                  <a:cubicBezTo>
                    <a:pt x="4975463" y="14473"/>
                    <a:pt x="5787065" y="-6268"/>
                    <a:pt x="6493371" y="1491"/>
                  </a:cubicBezTo>
                  <a:close/>
                </a:path>
              </a:pathLst>
            </a:custGeom>
            <a:gradFill>
              <a:gsLst>
                <a:gs pos="0">
                  <a:srgbClr val="3368FF"/>
                </a:gs>
                <a:gs pos="77000">
                  <a:srgbClr val="0042FF"/>
                </a:gs>
              </a:gsLst>
              <a:lin ang="2700000" scaled="0"/>
            </a:gradFill>
            <a:ln w="9525">
              <a:noFill/>
              <a:round/>
            </a:ln>
          </p:spPr>
          <p:txBody>
            <a:bodyPr vert="horz" wrap="square" lIns="121920" tIns="60960" rIns="121920" bIns="60960" numCol="1" rtlCol="0" anchor="t" anchorCtr="0" compatLnSpc="1"/>
            <a:lstStyle/>
            <a:p>
              <a:pPr algn="ctr">
                <a:defRPr>
                  <a:solidFill>
                    <a:srgbClr val="383838"/>
                  </a:solidFill>
                  <a:latin typeface="微软雅黑"/>
                  <a:ea typeface="微软雅黑"/>
                  <a:cs typeface="微软雅黑"/>
                </a:defRPr>
              </a:pPr>
              <a:endParaRPr lang="en-US" sz="3200">
                <a:solidFill>
                  <a:srgbClr val="383838"/>
                </a:solidFill>
                <a:ea typeface="微软雅黑"/>
                <a:cs typeface="微软雅黑"/>
                <a:latin typeface="微软雅黑"/>
              </a:endParaRPr>
            </a:p>
          </p:txBody>
        </p:sp>
      </p:grpSp>
      <p:sp>
        <p:nvSpPr>
          <p:cNvPr id="71" name="Oval 70"/>
          <p:cNvSpPr/>
          <p:nvPr>
            <p:custDataLst>
              <p:tags r:id="rId6"/>
            </p:custDataLst>
          </p:nvPr>
        </p:nvSpPr>
        <p:spPr bwMode="auto">
          <a:xfrm>
            <a:off x="1079447" y="4827926"/>
            <a:ext cx="330808" cy="330806"/>
          </a:xfrm>
          <a:prstGeom prst="ellipse">
            <a:avLst/>
          </a:prstGeom>
          <a:gradFill>
            <a:gsLst>
              <a:gs pos="100000">
                <a:srgbClr val="3368FF"/>
              </a:gs>
              <a:gs pos="52000">
                <a:srgbClr val="0042FF"/>
              </a:gs>
            </a:gsLst>
            <a:lin ang="2700000" scaled="0"/>
          </a:gradFill>
          <a:ln w="12700">
            <a:solidFill>
              <a:srgbClr val="FFFFFF"/>
            </a:solidFill>
            <a:round/>
          </a:ln>
        </p:spPr>
        <p:txBody>
          <a:bodyPr vert="horz" wrap="square" lIns="0" tIns="0" rIns="0" bIns="0" numCol="1" rtlCol="0" anchor="ctr" anchorCtr="0" compatLnSpc="1"/>
          <a:lstStyle/>
          <a:p>
            <a:pPr algn="ctr">
              <a:defRPr>
                <a:solidFill>
                  <a:srgbClr val="FFFFFF"/>
                </a:solidFill>
                <a:latin typeface="微软雅黑"/>
                <a:ea typeface="微软雅黑"/>
                <a:cs typeface="微软雅黑"/>
              </a:defRPr>
            </a:pPr>
            <a:r>
              <a:rPr lang="en-US" sz="1400" b="1" dirty="0">
                <a:solidFill>
                  <a:srgbClr val="FFFFFF"/>
                </a:solidFill>
                <a:ea typeface="微软雅黑"/>
                <a:cs typeface="微软雅黑"/>
                <a:latin typeface="微软雅黑"/>
              </a:rPr>
              <a:t>1</a:t>
            </a:r>
            <a:endParaRPr lang="en-US" sz="1400" b="1" dirty="0">
              <a:solidFill>
                <a:srgbClr val="FFFFFF"/>
              </a:solidFill>
              <a:ea typeface="微软雅黑"/>
              <a:cs typeface="微软雅黑"/>
              <a:latin typeface="微软雅黑"/>
            </a:endParaRPr>
          </a:p>
        </p:txBody>
      </p:sp>
      <p:sp>
        <p:nvSpPr>
          <p:cNvPr id="103" name="Oval 102"/>
          <p:cNvSpPr/>
          <p:nvPr>
            <p:custDataLst>
              <p:tags r:id="rId7"/>
            </p:custDataLst>
          </p:nvPr>
        </p:nvSpPr>
        <p:spPr bwMode="auto">
          <a:xfrm>
            <a:off x="3061773" y="3814818"/>
            <a:ext cx="441044" cy="441044"/>
          </a:xfrm>
          <a:prstGeom prst="ellipse">
            <a:avLst/>
          </a:prstGeom>
          <a:solidFill>
            <a:srgbClr val="3368FF"/>
          </a:solidFill>
          <a:ln w="12700">
            <a:solidFill>
              <a:srgbClr val="FFFFFF"/>
            </a:solidFill>
            <a:round/>
          </a:ln>
        </p:spPr>
        <p:txBody>
          <a:bodyPr vert="horz" wrap="square" lIns="0" tIns="0" rIns="0" bIns="0" numCol="1" rtlCol="0" anchor="ctr" anchorCtr="0" compatLnSpc="1"/>
          <a:lstStyle/>
          <a:p>
            <a:pPr algn="ctr">
              <a:defRPr>
                <a:solidFill>
                  <a:srgbClr val="FFFFFF"/>
                </a:solidFill>
                <a:latin typeface="微软雅黑"/>
                <a:ea typeface="微软雅黑"/>
                <a:cs typeface="微软雅黑"/>
              </a:defRPr>
            </a:pPr>
            <a:r>
              <a:rPr lang="en-US" sz="1600" b="1" dirty="0">
                <a:solidFill>
                  <a:srgbClr val="FFFFFF"/>
                </a:solidFill>
                <a:ea typeface="微软雅黑"/>
                <a:cs typeface="微软雅黑"/>
                <a:latin typeface="微软雅黑"/>
              </a:rPr>
              <a:t>2</a:t>
            </a:r>
            <a:endParaRPr lang="en-US" sz="1600" b="1" dirty="0">
              <a:solidFill>
                <a:srgbClr val="FFFFFF"/>
              </a:solidFill>
              <a:ea typeface="微软雅黑"/>
              <a:cs typeface="微软雅黑"/>
              <a:latin typeface="微软雅黑"/>
            </a:endParaRPr>
          </a:p>
        </p:txBody>
      </p:sp>
      <p:sp>
        <p:nvSpPr>
          <p:cNvPr id="107" name="Oval 106"/>
          <p:cNvSpPr/>
          <p:nvPr>
            <p:custDataLst>
              <p:tags r:id="rId8"/>
            </p:custDataLst>
          </p:nvPr>
        </p:nvSpPr>
        <p:spPr bwMode="auto">
          <a:xfrm>
            <a:off x="5039370" y="3334140"/>
            <a:ext cx="589788" cy="589788"/>
          </a:xfrm>
          <a:prstGeom prst="ellipse">
            <a:avLst/>
          </a:prstGeom>
          <a:solidFill>
            <a:srgbClr val="668EFF"/>
          </a:solidFill>
          <a:ln w="12700">
            <a:solidFill>
              <a:srgbClr val="FFFFFF"/>
            </a:solidFill>
            <a:round/>
          </a:ln>
        </p:spPr>
        <p:txBody>
          <a:bodyPr vert="horz" wrap="square" lIns="0" tIns="0" rIns="0" bIns="0" numCol="1" rtlCol="0" anchor="ctr" anchorCtr="0" compatLnSpc="1"/>
          <a:lstStyle/>
          <a:p>
            <a:pPr algn="ctr">
              <a:defRPr>
                <a:solidFill>
                  <a:srgbClr val="383838"/>
                </a:solidFill>
                <a:latin typeface="微软雅黑"/>
                <a:ea typeface="微软雅黑"/>
                <a:cs typeface="微软雅黑"/>
              </a:defRPr>
            </a:pPr>
            <a:r>
              <a:rPr lang="en-US" sz="2000" b="1" dirty="0">
                <a:solidFill>
                  <a:srgbClr val="383838"/>
                </a:solidFill>
                <a:ea typeface="微软雅黑"/>
                <a:cs typeface="微软雅黑"/>
                <a:latin typeface="微软雅黑"/>
              </a:rPr>
              <a:t>3</a:t>
            </a:r>
            <a:endParaRPr lang="en-US" sz="2000" b="1" dirty="0">
              <a:solidFill>
                <a:srgbClr val="383838"/>
              </a:solidFill>
              <a:ea typeface="微软雅黑"/>
              <a:cs typeface="微软雅黑"/>
              <a:latin typeface="微软雅黑"/>
            </a:endParaRPr>
          </a:p>
        </p:txBody>
      </p:sp>
      <p:sp>
        <p:nvSpPr>
          <p:cNvPr id="111" name="Oval 110"/>
          <p:cNvSpPr/>
          <p:nvPr>
            <p:custDataLst>
              <p:tags r:id="rId9"/>
            </p:custDataLst>
          </p:nvPr>
        </p:nvSpPr>
        <p:spPr bwMode="auto">
          <a:xfrm>
            <a:off x="7058410" y="3053177"/>
            <a:ext cx="741004" cy="741002"/>
          </a:xfrm>
          <a:prstGeom prst="ellipse">
            <a:avLst/>
          </a:prstGeom>
          <a:solidFill>
            <a:srgbClr val="B3D4FE"/>
          </a:solidFill>
          <a:ln w="12700">
            <a:solidFill>
              <a:srgbClr val="FFFFFF"/>
            </a:solidFill>
            <a:round/>
          </a:ln>
        </p:spPr>
        <p:txBody>
          <a:bodyPr vert="horz" wrap="square" lIns="0" tIns="0" rIns="0" bIns="0" numCol="1" rtlCol="0" anchor="ctr" anchorCtr="0" compatLnSpc="1"/>
          <a:lstStyle/>
          <a:p>
            <a:pPr algn="ctr">
              <a:defRPr>
                <a:latin typeface="微软雅黑"/>
                <a:ea typeface="微软雅黑"/>
                <a:cs typeface="微软雅黑"/>
              </a:defRPr>
            </a:pPr>
            <a:r>
              <a:rPr lang="en-US" sz="3200" b="1" dirty="0">
                <a:solidFill>
                  <a:srgbClr val="383838"/>
                </a:solidFill>
                <a:ea typeface="微软雅黑"/>
                <a:cs typeface="微软雅黑"/>
                <a:latin typeface="微软雅黑"/>
              </a:rPr>
              <a:t>4</a:t>
            </a:r>
            <a:endParaRPr lang="en-US" sz="3200" b="1" dirty="0">
              <a:solidFill>
                <a:srgbClr val="383838"/>
              </a:solidFill>
              <a:ea typeface="微软雅黑"/>
              <a:cs typeface="微软雅黑"/>
              <a:latin typeface="微软雅黑"/>
            </a:endParaRPr>
          </a:p>
        </p:txBody>
      </p:sp>
      <p:sp>
        <p:nvSpPr>
          <p:cNvPr id="119" name="Oval 118"/>
          <p:cNvSpPr/>
          <p:nvPr>
            <p:custDataLst>
              <p:tags r:id="rId10"/>
            </p:custDataLst>
          </p:nvPr>
        </p:nvSpPr>
        <p:spPr bwMode="auto">
          <a:xfrm>
            <a:off x="9180221" y="2910820"/>
            <a:ext cx="984628" cy="984628"/>
          </a:xfrm>
          <a:prstGeom prst="ellipse">
            <a:avLst/>
          </a:prstGeom>
          <a:solidFill>
            <a:srgbClr val="3368FF"/>
          </a:solidFill>
          <a:ln w="12700">
            <a:solidFill>
              <a:srgbClr val="FFFFFF"/>
            </a:solidFill>
            <a:round/>
          </a:ln>
        </p:spPr>
        <p:txBody>
          <a:bodyPr vert="horz" wrap="square" lIns="0" tIns="0" rIns="0" bIns="0" numCol="1" rtlCol="0" anchor="ctr" anchorCtr="0" compatLnSpc="1"/>
          <a:lstStyle/>
          <a:p>
            <a:pPr algn="ctr">
              <a:defRPr>
                <a:solidFill>
                  <a:srgbClr val="FFFFFF"/>
                </a:solidFill>
                <a:latin typeface="微软雅黑"/>
                <a:ea typeface="微软雅黑"/>
                <a:cs typeface="微软雅黑"/>
              </a:defRPr>
            </a:pPr>
            <a:r>
              <a:rPr lang="en-US" sz="3200" b="1" dirty="0">
                <a:solidFill>
                  <a:srgbClr val="FFFFFF"/>
                </a:solidFill>
                <a:ea typeface="微软雅黑"/>
                <a:cs typeface="微软雅黑"/>
                <a:latin typeface="微软雅黑"/>
              </a:rPr>
              <a:t>5</a:t>
            </a:r>
            <a:endParaRPr lang="en-US" sz="3200" b="1" dirty="0">
              <a:solidFill>
                <a:srgbClr val="FFFFFF"/>
              </a:solidFill>
              <a:ea typeface="微软雅黑"/>
              <a:cs typeface="微软雅黑"/>
              <a:latin typeface="微软雅黑"/>
            </a:endParaRPr>
          </a:p>
        </p:txBody>
      </p:sp>
      <p:sp>
        <p:nvSpPr>
          <p:cNvPr id="15" name="文本框 14"/>
          <p:cNvSpPr txBox="1"/>
          <p:nvPr>
            <p:custDataLst>
              <p:tags r:id="rId11"/>
            </p:custDataLst>
          </p:nvPr>
        </p:nvSpPr>
        <p:spPr>
          <a:xfrm>
            <a:off x="1443990" y="2531745"/>
            <a:ext cx="2464435" cy="808990"/>
          </a:xfrm>
          <a:prstGeom prst="rect">
            <a:avLst/>
          </a:prstGeom>
          <a:noFill/>
        </p:spPr>
        <p:txBody>
          <a:bodyPr wrap="square" rtlCol="0" lIns="0" rIns="0" tIns="0" bIns="0">
            <a:spAutoFit/>
          </a:bodyPr>
          <a:lstStyle/>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制定项目总体方案：</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明确项目目标，制定初步时间表，标出关键里程碑</a:t>
            </a:r>
            <a:r>
              <a:rPr kumimoji="0" lang="zh-CN" sz="100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组建项目团队：</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确定核心团队成员，明确每个人的角色和责任；</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41" name="组合 40"/>
          <p:cNvGrpSpPr/>
          <p:nvPr>
            <p:custDataLst>
              <p:tags r:id="rId12"/>
            </p:custDataLst>
          </p:nvPr>
        </p:nvGrpSpPr>
        <p:grpSpPr>
          <a:xfrm>
            <a:off x="1506855" y="1961515"/>
            <a:ext cx="2108200" cy="570230"/>
            <a:chOff x="1591" y="6595"/>
            <a:chExt cx="3320" cy="898"/>
          </a:xfrm>
        </p:grpSpPr>
        <p:sp>
          <p:nvSpPr>
            <p:cNvPr id="127" name="文本框 126"/>
            <p:cNvSpPr txBox="1"/>
            <p:nvPr>
              <p:custDataLst>
                <p:tags r:id="rId13"/>
              </p:custDataLst>
            </p:nvPr>
          </p:nvSpPr>
          <p:spPr>
            <a:xfrm>
              <a:off x="1591" y="6595"/>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第一阶段：项目启动</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8" name="文本框 17"/>
            <p:cNvSpPr txBox="1"/>
            <p:nvPr>
              <p:custDataLst>
                <p:tags r:id="rId14"/>
              </p:custDataLst>
            </p:nvPr>
          </p:nvSpPr>
          <p:spPr>
            <a:xfrm>
              <a:off x="1888" y="7059"/>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1</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-3</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6" name="任意形状 1"/>
          <p:cNvSpPr/>
          <p:nvPr>
            <p:custDataLst>
              <p:tags r:id="rId15"/>
            </p:custDataLst>
          </p:nvPr>
        </p:nvSpPr>
        <p:spPr>
          <a:xfrm>
            <a:off x="1062910" y="1965621"/>
            <a:ext cx="391160" cy="391160"/>
          </a:xfrm>
          <a:custGeom>
            <a:avLst/>
            <a:gdLst>
              <a:gd name="connsiteX0" fmla="*/ 391160 w 391160"/>
              <a:gd name="connsiteY0" fmla="*/ 195580 h 391160"/>
              <a:gd name="connsiteX1" fmla="*/ 195580 w 391160"/>
              <a:gd name="connsiteY1" fmla="*/ 391160 h 391160"/>
              <a:gd name="connsiteX2" fmla="*/ 0 w 391160"/>
              <a:gd name="connsiteY2" fmla="*/ 195580 h 391160"/>
              <a:gd name="connsiteX3" fmla="*/ 195580 w 391160"/>
              <a:gd name="connsiteY3" fmla="*/ 0 h 391160"/>
              <a:gd name="connsiteX4" fmla="*/ 391160 w 391160"/>
              <a:gd name="connsiteY4" fmla="*/ 195580 h 391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0" h="391160">
                <a:moveTo>
                  <a:pt x="391160" y="195580"/>
                </a:moveTo>
                <a:cubicBezTo>
                  <a:pt x="391160" y="303596"/>
                  <a:pt x="303596" y="391160"/>
                  <a:pt x="195580" y="391160"/>
                </a:cubicBezTo>
                <a:cubicBezTo>
                  <a:pt x="87564" y="391160"/>
                  <a:pt x="0" y="303596"/>
                  <a:pt x="0" y="195580"/>
                </a:cubicBezTo>
                <a:cubicBezTo>
                  <a:pt x="0" y="87564"/>
                  <a:pt x="87564" y="0"/>
                  <a:pt x="195580" y="0"/>
                </a:cubicBezTo>
                <a:cubicBezTo>
                  <a:pt x="303596" y="0"/>
                  <a:pt x="391160" y="87564"/>
                  <a:pt x="391160" y="195580"/>
                </a:cubicBezTo>
                <a:close/>
              </a:path>
            </a:pathLst>
          </a:custGeom>
          <a:solidFill>
            <a:srgbClr val="FFFFFF"/>
          </a:solidFill>
          <a:ln w="15875" cap="flat">
            <a:solidFill>
              <a:srgbClr val="0042FF"/>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0" name="任意形状 7"/>
          <p:cNvSpPr/>
          <p:nvPr>
            <p:custDataLst>
              <p:tags r:id="rId16"/>
            </p:custDataLst>
          </p:nvPr>
        </p:nvSpPr>
        <p:spPr>
          <a:xfrm>
            <a:off x="1256030" y="2356485"/>
            <a:ext cx="76200" cy="2458085"/>
          </a:xfrm>
          <a:custGeom>
            <a:avLst/>
            <a:gdLst>
              <a:gd name="connsiteX0" fmla="*/ 0 w 12700"/>
              <a:gd name="connsiteY0" fmla="*/ 1291590 h 1291589"/>
              <a:gd name="connsiteX1" fmla="*/ 0 w 12700"/>
              <a:gd name="connsiteY1" fmla="*/ 0 h 1291589"/>
            </a:gdLst>
            <a:ahLst/>
            <a:cxnLst>
              <a:cxn ang="0">
                <a:pos x="connsiteX0" y="connsiteY0"/>
              </a:cxn>
              <a:cxn ang="0">
                <a:pos x="connsiteX1" y="connsiteY1"/>
              </a:cxn>
            </a:cxnLst>
            <a:rect l="l" t="t" r="r" b="b"/>
            <a:pathLst>
              <a:path w="12700" h="1291589">
                <a:moveTo>
                  <a:pt x="0" y="1291590"/>
                </a:moveTo>
                <a:lnTo>
                  <a:pt x="0" y="0"/>
                </a:lnTo>
              </a:path>
            </a:pathLst>
          </a:custGeom>
          <a:ln w="15875" cap="flat">
            <a:solidFill>
              <a:srgbClr val="0042FF"/>
            </a:solidFill>
            <a:prstDash val="dash"/>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1" name="任意形状 7"/>
          <p:cNvSpPr/>
          <p:nvPr>
            <p:custDataLst>
              <p:tags r:id="rId17"/>
            </p:custDataLst>
          </p:nvPr>
        </p:nvSpPr>
        <p:spPr>
          <a:xfrm>
            <a:off x="3295015" y="4255770"/>
            <a:ext cx="76200" cy="1962150"/>
          </a:xfrm>
          <a:custGeom>
            <a:avLst/>
            <a:gdLst>
              <a:gd name="connsiteX0" fmla="*/ 0 w 12700"/>
              <a:gd name="connsiteY0" fmla="*/ 1291590 h 1291589"/>
              <a:gd name="connsiteX1" fmla="*/ 0 w 12700"/>
              <a:gd name="connsiteY1" fmla="*/ 0 h 1291589"/>
            </a:gdLst>
            <a:ahLst/>
            <a:cxnLst>
              <a:cxn ang="0">
                <a:pos x="connsiteX0" y="connsiteY0"/>
              </a:cxn>
              <a:cxn ang="0">
                <a:pos x="connsiteX1" y="connsiteY1"/>
              </a:cxn>
            </a:cxnLst>
            <a:rect l="l" t="t" r="r" b="b"/>
            <a:pathLst>
              <a:path w="12700" h="1291589">
                <a:moveTo>
                  <a:pt x="0" y="1291590"/>
                </a:moveTo>
                <a:lnTo>
                  <a:pt x="0" y="0"/>
                </a:lnTo>
              </a:path>
            </a:pathLst>
          </a:custGeom>
          <a:ln w="15875" cap="flat">
            <a:solidFill>
              <a:srgbClr val="0042FF"/>
            </a:solidFill>
            <a:prstDash val="dash"/>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2" name="任意形状 1"/>
          <p:cNvSpPr/>
          <p:nvPr>
            <p:custDataLst>
              <p:tags r:id="rId18"/>
            </p:custDataLst>
          </p:nvPr>
        </p:nvSpPr>
        <p:spPr>
          <a:xfrm>
            <a:off x="3104435" y="6168051"/>
            <a:ext cx="391160" cy="391160"/>
          </a:xfrm>
          <a:custGeom>
            <a:avLst/>
            <a:gdLst>
              <a:gd name="connsiteX0" fmla="*/ 391160 w 391160"/>
              <a:gd name="connsiteY0" fmla="*/ 195580 h 391160"/>
              <a:gd name="connsiteX1" fmla="*/ 195580 w 391160"/>
              <a:gd name="connsiteY1" fmla="*/ 391160 h 391160"/>
              <a:gd name="connsiteX2" fmla="*/ 0 w 391160"/>
              <a:gd name="connsiteY2" fmla="*/ 195580 h 391160"/>
              <a:gd name="connsiteX3" fmla="*/ 195580 w 391160"/>
              <a:gd name="connsiteY3" fmla="*/ 0 h 391160"/>
              <a:gd name="connsiteX4" fmla="*/ 391160 w 391160"/>
              <a:gd name="connsiteY4" fmla="*/ 195580 h 391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0" h="391160">
                <a:moveTo>
                  <a:pt x="391160" y="195580"/>
                </a:moveTo>
                <a:cubicBezTo>
                  <a:pt x="391160" y="303596"/>
                  <a:pt x="303596" y="391160"/>
                  <a:pt x="195580" y="391160"/>
                </a:cubicBezTo>
                <a:cubicBezTo>
                  <a:pt x="87564" y="391160"/>
                  <a:pt x="0" y="303596"/>
                  <a:pt x="0" y="195580"/>
                </a:cubicBezTo>
                <a:cubicBezTo>
                  <a:pt x="0" y="87564"/>
                  <a:pt x="87564" y="0"/>
                  <a:pt x="195580" y="0"/>
                </a:cubicBezTo>
                <a:cubicBezTo>
                  <a:pt x="303596" y="0"/>
                  <a:pt x="391160" y="87564"/>
                  <a:pt x="391160" y="195580"/>
                </a:cubicBezTo>
                <a:close/>
              </a:path>
            </a:pathLst>
          </a:custGeom>
          <a:solidFill>
            <a:srgbClr val="FFFFFF"/>
          </a:solidFill>
          <a:ln w="15875" cap="flat">
            <a:solidFill>
              <a:srgbClr val="0042FF"/>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2" name="文本框 21"/>
          <p:cNvSpPr txBox="1"/>
          <p:nvPr>
            <p:custDataLst>
              <p:tags r:id="rId19"/>
            </p:custDataLst>
          </p:nvPr>
        </p:nvSpPr>
        <p:spPr>
          <a:xfrm>
            <a:off x="3553460" y="5809615"/>
            <a:ext cx="2464435" cy="808990"/>
          </a:xfrm>
          <a:prstGeom prst="rect">
            <a:avLst/>
          </a:prstGeom>
          <a:noFill/>
        </p:spPr>
        <p:txBody>
          <a:bodyPr wrap="square" rtlCol="0" lIns="0" rIns="0" tIns="0" bIns="0">
            <a:spAutoFit/>
          </a:bodyPr>
          <a:lstStyle/>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完善项目计划：</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在总体框架基础上，制定详细的项目计划。</a:t>
            </a:r>
            <a:endPar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资源分配与调配：</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确定项目所需的资源，确保每项资源得到合理分配。</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23" name="组合 22"/>
          <p:cNvGrpSpPr/>
          <p:nvPr>
            <p:custDataLst>
              <p:tags r:id="rId20"/>
            </p:custDataLst>
          </p:nvPr>
        </p:nvGrpSpPr>
        <p:grpSpPr>
          <a:xfrm>
            <a:off x="3616325" y="5239385"/>
            <a:ext cx="2108200" cy="570230"/>
            <a:chOff x="1591" y="6595"/>
            <a:chExt cx="3320" cy="898"/>
          </a:xfrm>
        </p:grpSpPr>
        <p:sp>
          <p:nvSpPr>
            <p:cNvPr id="25" name="文本框 24"/>
            <p:cNvSpPr txBox="1"/>
            <p:nvPr>
              <p:custDataLst>
                <p:tags r:id="rId21"/>
              </p:custDataLst>
            </p:nvPr>
          </p:nvSpPr>
          <p:spPr>
            <a:xfrm>
              <a:off x="1591" y="6595"/>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rPr>
                <a:t>第二阶段：项目规划</a:t>
              </a:r>
              <a:endPar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7" name="文本框 26"/>
            <p:cNvSpPr txBox="1"/>
            <p:nvPr>
              <p:custDataLst>
                <p:tags r:id="rId22"/>
              </p:custDataLst>
            </p:nvPr>
          </p:nvSpPr>
          <p:spPr>
            <a:xfrm>
              <a:off x="1888" y="7059"/>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solidFill>
                    <a:srgbClr val="383838"/>
                  </a:solidFill>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3</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-4</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28" name="文本框 27"/>
          <p:cNvSpPr txBox="1"/>
          <p:nvPr>
            <p:custDataLst>
              <p:tags r:id="rId23"/>
            </p:custDataLst>
          </p:nvPr>
        </p:nvSpPr>
        <p:spPr>
          <a:xfrm>
            <a:off x="5534025" y="1881505"/>
            <a:ext cx="2464435" cy="808990"/>
          </a:xfrm>
          <a:prstGeom prst="rect">
            <a:avLst/>
          </a:prstGeom>
          <a:noFill/>
        </p:spPr>
        <p:txBody>
          <a:bodyPr wrap="square" rtlCol="0" lIns="0" rIns="0" tIns="0" bIns="0">
            <a:spAutoFit/>
          </a:bodyPr>
          <a:lstStyle/>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任务实施：</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按照计划开展各项任务，产出项目成果，确保工作按进度推进。</a:t>
            </a:r>
            <a:endPar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团队管理与协调：</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对团队成员工作进行监督与支持，确保协同顺利进行。</a:t>
            </a:r>
            <a:endPar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29" name="组合 28"/>
          <p:cNvGrpSpPr/>
          <p:nvPr>
            <p:custDataLst>
              <p:tags r:id="rId24"/>
            </p:custDataLst>
          </p:nvPr>
        </p:nvGrpSpPr>
        <p:grpSpPr>
          <a:xfrm>
            <a:off x="5596890" y="1311275"/>
            <a:ext cx="2108200" cy="570230"/>
            <a:chOff x="1591" y="6595"/>
            <a:chExt cx="3320" cy="898"/>
          </a:xfrm>
        </p:grpSpPr>
        <p:sp>
          <p:nvSpPr>
            <p:cNvPr id="30" name="文本框 29"/>
            <p:cNvSpPr txBox="1"/>
            <p:nvPr>
              <p:custDataLst>
                <p:tags r:id="rId25"/>
              </p:custDataLst>
            </p:nvPr>
          </p:nvSpPr>
          <p:spPr>
            <a:xfrm>
              <a:off x="1591" y="6595"/>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第三阶段：项目执行</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31" name="文本框 30"/>
            <p:cNvSpPr txBox="1"/>
            <p:nvPr>
              <p:custDataLst>
                <p:tags r:id="rId26"/>
              </p:custDataLst>
            </p:nvPr>
          </p:nvSpPr>
          <p:spPr>
            <a:xfrm>
              <a:off x="1888" y="7059"/>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5</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-7</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35" name="任意形状 7"/>
          <p:cNvSpPr/>
          <p:nvPr>
            <p:custDataLst>
              <p:tags r:id="rId27"/>
            </p:custDataLst>
          </p:nvPr>
        </p:nvSpPr>
        <p:spPr>
          <a:xfrm>
            <a:off x="7437755" y="3815080"/>
            <a:ext cx="89535" cy="2313940"/>
          </a:xfrm>
          <a:custGeom>
            <a:avLst/>
            <a:gdLst>
              <a:gd name="connsiteX0" fmla="*/ 0 w 12700"/>
              <a:gd name="connsiteY0" fmla="*/ 1291590 h 1291589"/>
              <a:gd name="connsiteX1" fmla="*/ 0 w 12700"/>
              <a:gd name="connsiteY1" fmla="*/ 0 h 1291589"/>
            </a:gdLst>
            <a:ahLst/>
            <a:cxnLst>
              <a:cxn ang="0">
                <a:pos x="connsiteX0" y="connsiteY0"/>
              </a:cxn>
              <a:cxn ang="0">
                <a:pos x="connsiteX1" y="connsiteY1"/>
              </a:cxn>
            </a:cxnLst>
            <a:rect l="l" t="t" r="r" b="b"/>
            <a:pathLst>
              <a:path w="12700" h="1291589">
                <a:moveTo>
                  <a:pt x="0" y="1291590"/>
                </a:moveTo>
                <a:lnTo>
                  <a:pt x="0" y="0"/>
                </a:lnTo>
              </a:path>
            </a:pathLst>
          </a:custGeom>
          <a:ln w="15875" cap="flat">
            <a:solidFill>
              <a:srgbClr val="3368FF"/>
            </a:solidFill>
            <a:prstDash val="dash"/>
            <a:miter/>
          </a:ln>
        </p:spPr>
        <p:txBody>
          <a:bodyPr rtlCol="0" anchor="ctr" lIns="0" rIns="0" tIns="0" bIns="0"/>
          <a:lstStyle/>
          <a:p>
            <a:pP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36" name="任意形状 1"/>
          <p:cNvSpPr/>
          <p:nvPr>
            <p:custDataLst>
              <p:tags r:id="rId28"/>
            </p:custDataLst>
          </p:nvPr>
        </p:nvSpPr>
        <p:spPr>
          <a:xfrm>
            <a:off x="7240190" y="6154081"/>
            <a:ext cx="391160" cy="391160"/>
          </a:xfrm>
          <a:custGeom>
            <a:avLst/>
            <a:gdLst>
              <a:gd name="connsiteX0" fmla="*/ 391160 w 391160"/>
              <a:gd name="connsiteY0" fmla="*/ 195580 h 391160"/>
              <a:gd name="connsiteX1" fmla="*/ 195580 w 391160"/>
              <a:gd name="connsiteY1" fmla="*/ 391160 h 391160"/>
              <a:gd name="connsiteX2" fmla="*/ 0 w 391160"/>
              <a:gd name="connsiteY2" fmla="*/ 195580 h 391160"/>
              <a:gd name="connsiteX3" fmla="*/ 195580 w 391160"/>
              <a:gd name="connsiteY3" fmla="*/ 0 h 391160"/>
              <a:gd name="connsiteX4" fmla="*/ 391160 w 391160"/>
              <a:gd name="connsiteY4" fmla="*/ 195580 h 391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0" h="391160">
                <a:moveTo>
                  <a:pt x="391160" y="195580"/>
                </a:moveTo>
                <a:cubicBezTo>
                  <a:pt x="391160" y="303596"/>
                  <a:pt x="303596" y="391160"/>
                  <a:pt x="195580" y="391160"/>
                </a:cubicBezTo>
                <a:cubicBezTo>
                  <a:pt x="87564" y="391160"/>
                  <a:pt x="0" y="303596"/>
                  <a:pt x="0" y="195580"/>
                </a:cubicBezTo>
                <a:cubicBezTo>
                  <a:pt x="0" y="87564"/>
                  <a:pt x="87564" y="0"/>
                  <a:pt x="195580" y="0"/>
                </a:cubicBezTo>
                <a:cubicBezTo>
                  <a:pt x="303596" y="0"/>
                  <a:pt x="391160" y="87564"/>
                  <a:pt x="391160" y="195580"/>
                </a:cubicBezTo>
                <a:close/>
              </a:path>
            </a:pathLst>
          </a:custGeom>
          <a:solidFill>
            <a:srgbClr val="FFFFFF"/>
          </a:solidFill>
          <a:ln w="15875" cap="flat">
            <a:solidFill>
              <a:srgbClr val="3368FF"/>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38" name="文本框 37"/>
          <p:cNvSpPr txBox="1"/>
          <p:nvPr>
            <p:custDataLst>
              <p:tags r:id="rId29"/>
            </p:custDataLst>
          </p:nvPr>
        </p:nvSpPr>
        <p:spPr>
          <a:xfrm>
            <a:off x="7723505" y="5694045"/>
            <a:ext cx="2464435" cy="808990"/>
          </a:xfrm>
          <a:prstGeom prst="rect">
            <a:avLst/>
          </a:prstGeom>
          <a:noFill/>
        </p:spPr>
        <p:txBody>
          <a:bodyPr wrap="square" rtlCol="0" lIns="0" rIns="0" tIns="0" bIns="0">
            <a:spAutoFit/>
          </a:bodyPr>
          <a:lstStyle/>
          <a:p>
            <a:pPr marL="171450" marR="0" lvl="0" indent="-171450" algn="just" defTabSz="914400" rtl="0" fontAlgn="auto">
              <a:lnSpc>
                <a:spcPts val="1400"/>
              </a:lnSpc>
              <a:spcBef>
                <a:spcPts val="0"/>
              </a:spcBef>
              <a:spcAft>
                <a:spcPts val="0"/>
              </a:spcAft>
              <a:buClrTx/>
              <a:buSzTx/>
              <a:buFont typeface="微软雅黑"/>
              <a:buChar char="➢"/>
              <a:defRPr>
                <a:solidFill>
                  <a:srgbClr val="383838"/>
                </a:solidFill>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监控与调整进度：</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跟踪项目进展，确保任务按时完成。</a:t>
            </a:r>
            <a:endPar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400"/>
              </a:lnSpc>
              <a:spcBef>
                <a:spcPts val="0"/>
              </a:spcBef>
              <a:spcAft>
                <a:spcPts val="0"/>
              </a:spcAft>
              <a:buClrTx/>
              <a:buSzTx/>
              <a:buFont typeface="微软雅黑"/>
              <a:buChar char="➢"/>
              <a:defRPr>
                <a:solidFill>
                  <a:srgbClr val="383838"/>
                </a:solidFill>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质量控制：</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对项目成果进行质量检查，确保符合要求，必要时采取纠正措施。</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39" name="组合 38"/>
          <p:cNvGrpSpPr/>
          <p:nvPr>
            <p:custDataLst>
              <p:tags r:id="rId30"/>
            </p:custDataLst>
          </p:nvPr>
        </p:nvGrpSpPr>
        <p:grpSpPr>
          <a:xfrm>
            <a:off x="7786370" y="5123815"/>
            <a:ext cx="2108200" cy="570230"/>
            <a:chOff x="1591" y="6595"/>
            <a:chExt cx="3320" cy="898"/>
          </a:xfrm>
        </p:grpSpPr>
        <p:sp>
          <p:nvSpPr>
            <p:cNvPr id="40" name="文本框 39"/>
            <p:cNvSpPr txBox="1"/>
            <p:nvPr>
              <p:custDataLst>
                <p:tags r:id="rId31"/>
              </p:custDataLst>
            </p:nvPr>
          </p:nvSpPr>
          <p:spPr>
            <a:xfrm>
              <a:off x="1591" y="6595"/>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rPr>
                <a:t>第四阶段：项目监控</a:t>
              </a:r>
              <a:endPar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44" name="文本框 43"/>
            <p:cNvSpPr txBox="1"/>
            <p:nvPr>
              <p:custDataLst>
                <p:tags r:id="rId32"/>
              </p:custDataLst>
            </p:nvPr>
          </p:nvSpPr>
          <p:spPr>
            <a:xfrm>
              <a:off x="1888" y="7059"/>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solidFill>
                    <a:srgbClr val="383838"/>
                  </a:solidFill>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8</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-9</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45" name="文本框 44"/>
          <p:cNvSpPr txBox="1"/>
          <p:nvPr>
            <p:custDataLst>
              <p:tags r:id="rId33"/>
            </p:custDataLst>
          </p:nvPr>
        </p:nvSpPr>
        <p:spPr>
          <a:xfrm>
            <a:off x="9843770" y="1663065"/>
            <a:ext cx="1990090" cy="988695"/>
          </a:xfrm>
          <a:prstGeom prst="rect">
            <a:avLst/>
          </a:prstGeom>
          <a:noFill/>
        </p:spPr>
        <p:txBody>
          <a:bodyPr wrap="square" rtlCol="0" lIns="0" rIns="0" tIns="0" bIns="0">
            <a:spAutoFit/>
          </a:bodyPr>
          <a:lstStyle/>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总结项目表现：</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对项目进行全面回顾，总结优点和不足；</a:t>
            </a:r>
            <a:endPar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40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整理项目文档：</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按照规范归档，提供详细的操作手册和技术文档。</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nvGrpSpPr>
          <p:cNvPr id="46" name="组合 45"/>
          <p:cNvGrpSpPr/>
          <p:nvPr>
            <p:custDataLst>
              <p:tags r:id="rId34"/>
            </p:custDataLst>
          </p:nvPr>
        </p:nvGrpSpPr>
        <p:grpSpPr>
          <a:xfrm>
            <a:off x="9906635" y="1092835"/>
            <a:ext cx="2108200" cy="570230"/>
            <a:chOff x="1591" y="6595"/>
            <a:chExt cx="3320" cy="898"/>
          </a:xfrm>
        </p:grpSpPr>
        <p:sp>
          <p:nvSpPr>
            <p:cNvPr id="47" name="文本框 46"/>
            <p:cNvSpPr txBox="1"/>
            <p:nvPr>
              <p:custDataLst>
                <p:tags r:id="rId35"/>
              </p:custDataLst>
            </p:nvPr>
          </p:nvSpPr>
          <p:spPr>
            <a:xfrm>
              <a:off x="1591" y="6595"/>
              <a:ext cx="3320"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第五阶段：项目收尾</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48" name="文本框 47"/>
            <p:cNvSpPr txBox="1"/>
            <p:nvPr>
              <p:custDataLst>
                <p:tags r:id="rId36"/>
              </p:custDataLst>
            </p:nvPr>
          </p:nvSpPr>
          <p:spPr>
            <a:xfrm>
              <a:off x="1888" y="7059"/>
              <a:ext cx="2726" cy="434"/>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10</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200" i="0" u="none" strike="noStrike" kern="1200" cap="none" spc="0" normalizeH="0" baseline="0" noProof="0" dirty="0">
                  <a:ln>
                    <a:noFill/>
                  </a:ln>
                  <a:solidFill>
                    <a:srgbClr val="383838"/>
                  </a:solidFill>
                  <a:effectLst/>
                  <a:uLnTx/>
                  <a:uFillTx/>
                  <a:latin typeface="微软雅黑"/>
                  <a:ea typeface="微软雅黑"/>
                  <a:cs typeface="微软雅黑"/>
                </a:rPr>
                <a:t>-12</a:t>
              </a:r>
              <a:r>
                <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2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49" name="任意形状 1"/>
          <p:cNvSpPr/>
          <p:nvPr>
            <p:custDataLst>
              <p:tags r:id="rId37"/>
            </p:custDataLst>
          </p:nvPr>
        </p:nvSpPr>
        <p:spPr>
          <a:xfrm>
            <a:off x="9442370" y="1096941"/>
            <a:ext cx="391160" cy="391160"/>
          </a:xfrm>
          <a:custGeom>
            <a:avLst/>
            <a:gdLst>
              <a:gd name="connsiteX0" fmla="*/ 391160 w 391160"/>
              <a:gd name="connsiteY0" fmla="*/ 195580 h 391160"/>
              <a:gd name="connsiteX1" fmla="*/ 195580 w 391160"/>
              <a:gd name="connsiteY1" fmla="*/ 391160 h 391160"/>
              <a:gd name="connsiteX2" fmla="*/ 0 w 391160"/>
              <a:gd name="connsiteY2" fmla="*/ 195580 h 391160"/>
              <a:gd name="connsiteX3" fmla="*/ 195580 w 391160"/>
              <a:gd name="connsiteY3" fmla="*/ 0 h 391160"/>
              <a:gd name="connsiteX4" fmla="*/ 391160 w 391160"/>
              <a:gd name="connsiteY4" fmla="*/ 195580 h 391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0" h="391160">
                <a:moveTo>
                  <a:pt x="391160" y="195580"/>
                </a:moveTo>
                <a:cubicBezTo>
                  <a:pt x="391160" y="303596"/>
                  <a:pt x="303596" y="391160"/>
                  <a:pt x="195580" y="391160"/>
                </a:cubicBezTo>
                <a:cubicBezTo>
                  <a:pt x="87564" y="391160"/>
                  <a:pt x="0" y="303596"/>
                  <a:pt x="0" y="195580"/>
                </a:cubicBezTo>
                <a:cubicBezTo>
                  <a:pt x="0" y="87564"/>
                  <a:pt x="87564" y="0"/>
                  <a:pt x="195580" y="0"/>
                </a:cubicBezTo>
                <a:cubicBezTo>
                  <a:pt x="303596" y="0"/>
                  <a:pt x="391160" y="87564"/>
                  <a:pt x="391160" y="195580"/>
                </a:cubicBezTo>
                <a:close/>
              </a:path>
            </a:pathLst>
          </a:custGeom>
          <a:solidFill>
            <a:srgbClr val="FFFFFF"/>
          </a:solidFill>
          <a:ln w="15875" cap="flat">
            <a:solidFill>
              <a:srgbClr val="3368FF"/>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1" name="任意形状 7"/>
          <p:cNvSpPr/>
          <p:nvPr>
            <p:custDataLst>
              <p:tags r:id="rId38"/>
            </p:custDataLst>
          </p:nvPr>
        </p:nvSpPr>
        <p:spPr>
          <a:xfrm>
            <a:off x="9663430" y="1487805"/>
            <a:ext cx="76200" cy="1423035"/>
          </a:xfrm>
          <a:custGeom>
            <a:avLst/>
            <a:gdLst>
              <a:gd name="connsiteX0" fmla="*/ 0 w 12700"/>
              <a:gd name="connsiteY0" fmla="*/ 1291590 h 1291589"/>
              <a:gd name="connsiteX1" fmla="*/ 0 w 12700"/>
              <a:gd name="connsiteY1" fmla="*/ 0 h 1291589"/>
            </a:gdLst>
            <a:ahLst/>
            <a:cxnLst>
              <a:cxn ang="0">
                <a:pos x="connsiteX0" y="connsiteY0"/>
              </a:cxn>
              <a:cxn ang="0">
                <a:pos x="connsiteX1" y="connsiteY1"/>
              </a:cxn>
            </a:cxnLst>
            <a:rect l="l" t="t" r="r" b="b"/>
            <a:pathLst>
              <a:path w="12700" h="1291589">
                <a:moveTo>
                  <a:pt x="0" y="1291590"/>
                </a:moveTo>
                <a:lnTo>
                  <a:pt x="0" y="0"/>
                </a:lnTo>
              </a:path>
            </a:pathLst>
          </a:custGeom>
          <a:ln w="15875" cap="flat">
            <a:solidFill>
              <a:srgbClr val="3368FF"/>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2" name="任意形状 1"/>
          <p:cNvSpPr/>
          <p:nvPr>
            <p:custDataLst>
              <p:tags r:id="rId39"/>
            </p:custDataLst>
          </p:nvPr>
        </p:nvSpPr>
        <p:spPr>
          <a:xfrm>
            <a:off x="5141515" y="1338241"/>
            <a:ext cx="391160" cy="391160"/>
          </a:xfrm>
          <a:custGeom>
            <a:avLst/>
            <a:gdLst>
              <a:gd name="connsiteX0" fmla="*/ 391160 w 391160"/>
              <a:gd name="connsiteY0" fmla="*/ 195580 h 391160"/>
              <a:gd name="connsiteX1" fmla="*/ 195580 w 391160"/>
              <a:gd name="connsiteY1" fmla="*/ 391160 h 391160"/>
              <a:gd name="connsiteX2" fmla="*/ 0 w 391160"/>
              <a:gd name="connsiteY2" fmla="*/ 195580 h 391160"/>
              <a:gd name="connsiteX3" fmla="*/ 195580 w 391160"/>
              <a:gd name="connsiteY3" fmla="*/ 0 h 391160"/>
              <a:gd name="connsiteX4" fmla="*/ 391160 w 391160"/>
              <a:gd name="connsiteY4" fmla="*/ 195580 h 391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0" h="391160">
                <a:moveTo>
                  <a:pt x="391160" y="195580"/>
                </a:moveTo>
                <a:cubicBezTo>
                  <a:pt x="391160" y="303596"/>
                  <a:pt x="303596" y="391160"/>
                  <a:pt x="195580" y="391160"/>
                </a:cubicBezTo>
                <a:cubicBezTo>
                  <a:pt x="87564" y="391160"/>
                  <a:pt x="0" y="303596"/>
                  <a:pt x="0" y="195580"/>
                </a:cubicBezTo>
                <a:cubicBezTo>
                  <a:pt x="0" y="87564"/>
                  <a:pt x="87564" y="0"/>
                  <a:pt x="195580" y="0"/>
                </a:cubicBezTo>
                <a:cubicBezTo>
                  <a:pt x="303596" y="0"/>
                  <a:pt x="391160" y="87564"/>
                  <a:pt x="391160" y="195580"/>
                </a:cubicBezTo>
                <a:close/>
              </a:path>
            </a:pathLst>
          </a:custGeom>
          <a:solidFill>
            <a:srgbClr val="FFFFFF"/>
          </a:solidFill>
          <a:ln w="15875" cap="flat">
            <a:solidFill>
              <a:srgbClr val="0042FF"/>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5" name="任意形状 7"/>
          <p:cNvSpPr/>
          <p:nvPr>
            <p:custDataLst>
              <p:tags r:id="rId40"/>
            </p:custDataLst>
          </p:nvPr>
        </p:nvSpPr>
        <p:spPr>
          <a:xfrm>
            <a:off x="5327015" y="1729105"/>
            <a:ext cx="76200" cy="1611630"/>
          </a:xfrm>
          <a:custGeom>
            <a:avLst/>
            <a:gdLst>
              <a:gd name="connsiteX0" fmla="*/ 0 w 12700"/>
              <a:gd name="connsiteY0" fmla="*/ 1291590 h 1291589"/>
              <a:gd name="connsiteX1" fmla="*/ 0 w 12700"/>
              <a:gd name="connsiteY1" fmla="*/ 0 h 1291589"/>
            </a:gdLst>
            <a:ahLst/>
            <a:cxnLst>
              <a:cxn ang="0">
                <a:pos x="connsiteX0" y="connsiteY0"/>
              </a:cxn>
              <a:cxn ang="0">
                <a:pos x="connsiteX1" y="connsiteY1"/>
              </a:cxn>
            </a:cxnLst>
            <a:rect l="l" t="t" r="r" b="b"/>
            <a:pathLst>
              <a:path w="12700" h="1291589">
                <a:moveTo>
                  <a:pt x="0" y="1291590"/>
                </a:moveTo>
                <a:lnTo>
                  <a:pt x="0" y="0"/>
                </a:lnTo>
              </a:path>
            </a:pathLst>
          </a:custGeom>
          <a:ln w="15875" cap="flat">
            <a:solidFill>
              <a:srgbClr val="0042FF"/>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pic>
        <p:nvPicPr>
          <p:cNvPr id="59" name="图片 58" descr="启动"/>
          <p:cNvPicPr>
            <a:picLocks noChangeAspect="1"/>
          </p:cNvPicPr>
          <p:nvPr>
            <p:custDataLst>
              <p:tags r:id="rId41"/>
            </p:custDataLst>
          </p:nvPr>
        </p:nvPicPr>
        <p:blipFill>
          <a:blip r:embed="rId42">
            <a:extLst>
              <a:ext uri="{96DAC541-7B7A-43D3-8B79-37D633B846F1}">
                <asvg:svgBlip xmlns:asvg="http://schemas.microsoft.com/office/drawing/2016/SVG/main" r:embed="rId43"/>
              </a:ext>
            </a:extLst>
          </a:blip>
          <a:stretch>
            <a:fillRect/>
          </a:stretch>
        </p:blipFill>
        <p:spPr>
          <a:xfrm>
            <a:off x="1154430" y="2058670"/>
            <a:ext cx="205105" cy="205105"/>
          </a:xfrm>
          <a:prstGeom prst="rect">
            <a:avLst/>
          </a:prstGeom>
        </p:spPr>
      </p:pic>
      <p:pic>
        <p:nvPicPr>
          <p:cNvPr id="60" name="图片 59" descr="目标规划"/>
          <p:cNvPicPr>
            <a:picLocks noChangeAspect="1"/>
          </p:cNvPicPr>
          <p:nvPr>
            <p:custDataLst>
              <p:tags r:id="rId44"/>
            </p:custDataLst>
          </p:nvPr>
        </p:nvPicPr>
        <p:blipFill>
          <a:blip r:embed="rId45">
            <a:extLst>
              <a:ext uri="{96DAC541-7B7A-43D3-8B79-37D633B846F1}">
                <asvg:svgBlip xmlns:asvg="http://schemas.microsoft.com/office/drawing/2016/SVG/main" r:embed="rId46"/>
              </a:ext>
            </a:extLst>
          </a:blip>
          <a:stretch>
            <a:fillRect/>
          </a:stretch>
        </p:blipFill>
        <p:spPr>
          <a:xfrm>
            <a:off x="3187065" y="6243320"/>
            <a:ext cx="227965" cy="227965"/>
          </a:xfrm>
          <a:prstGeom prst="rect">
            <a:avLst/>
          </a:prstGeom>
        </p:spPr>
      </p:pic>
      <p:pic>
        <p:nvPicPr>
          <p:cNvPr id="62" name="图片 61" descr="执行文件"/>
          <p:cNvPicPr>
            <a:picLocks noChangeAspect="1"/>
          </p:cNvPicPr>
          <p:nvPr>
            <p:custDataLst>
              <p:tags r:id="rId47"/>
            </p:custDataLst>
          </p:nvPr>
        </p:nvPicPr>
        <p:blipFill>
          <a:blip r:embed="rId48">
            <a:extLst>
              <a:ext uri="{96DAC541-7B7A-43D3-8B79-37D633B846F1}">
                <asvg:svgBlip xmlns:asvg="http://schemas.microsoft.com/office/drawing/2016/SVG/main" r:embed="rId49"/>
              </a:ext>
            </a:extLst>
          </a:blip>
          <a:stretch>
            <a:fillRect/>
          </a:stretch>
        </p:blipFill>
        <p:spPr>
          <a:xfrm>
            <a:off x="5218430" y="1398270"/>
            <a:ext cx="261620" cy="261620"/>
          </a:xfrm>
          <a:prstGeom prst="rect">
            <a:avLst/>
          </a:prstGeom>
        </p:spPr>
      </p:pic>
      <p:pic>
        <p:nvPicPr>
          <p:cNvPr id="63" name="图片 62" descr="KHCFDC_监控"/>
          <p:cNvPicPr>
            <a:picLocks noChangeAspect="1"/>
          </p:cNvPicPr>
          <p:nvPr>
            <p:custDataLst>
              <p:tags r:id="rId50"/>
            </p:custDataLst>
          </p:nvPr>
        </p:nvPicPr>
        <p:blipFill>
          <a:blip r:embed="rId51">
            <a:extLst>
              <a:ext uri="{96DAC541-7B7A-43D3-8B79-37D633B846F1}">
                <asvg:svgBlip xmlns:asvg="http://schemas.microsoft.com/office/drawing/2016/SVG/main" r:embed="rId52"/>
              </a:ext>
            </a:extLst>
          </a:blip>
          <a:stretch>
            <a:fillRect/>
          </a:stretch>
        </p:blipFill>
        <p:spPr>
          <a:xfrm>
            <a:off x="7320280" y="6248400"/>
            <a:ext cx="231140" cy="202565"/>
          </a:xfrm>
          <a:prstGeom prst="rect">
            <a:avLst/>
          </a:prstGeom>
        </p:spPr>
      </p:pic>
      <p:pic>
        <p:nvPicPr>
          <p:cNvPr id="64" name="图片 63" descr="项目收尾"/>
          <p:cNvPicPr>
            <a:picLocks noChangeAspect="1"/>
          </p:cNvPicPr>
          <p:nvPr>
            <p:custDataLst>
              <p:tags r:id="rId53"/>
            </p:custDataLst>
          </p:nvPr>
        </p:nvPicPr>
        <p:blipFill>
          <a:blip r:embed="rId54">
            <a:extLst>
              <a:ext uri="{96DAC541-7B7A-43D3-8B79-37D633B846F1}">
                <asvg:svgBlip xmlns:asvg="http://schemas.microsoft.com/office/drawing/2016/SVG/main" r:embed="rId55"/>
              </a:ext>
            </a:extLst>
          </a:blip>
          <a:stretch>
            <a:fillRect/>
          </a:stretch>
        </p:blipFill>
        <p:spPr>
          <a:xfrm>
            <a:off x="9526905" y="1176020"/>
            <a:ext cx="222250" cy="222250"/>
          </a:xfrm>
          <a:prstGeom prst="rect">
            <a:avLst/>
          </a:prstGeom>
        </p:spPr>
      </p:pic>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 name="组合 1"/>
          <p:cNvGrpSpPr/>
          <p:nvPr/>
        </p:nvGrpSpPr>
        <p:grpSpPr>
          <a:xfrm>
            <a:off x="8738235" y="348615"/>
            <a:ext cx="3219450" cy="332740"/>
            <a:chOff x="13761" y="549"/>
            <a:chExt cx="5070" cy="524"/>
          </a:xfrm>
        </p:grpSpPr>
        <p:pic>
          <p:nvPicPr>
            <p:cNvPr id="4" name="图片 3"/>
            <p:cNvPicPr>
              <a:picLocks noChangeAspect="1"/>
            </p:cNvPicPr>
            <p:nvPr userDrawn="1"/>
          </p:nvPicPr>
          <p:blipFill>
            <a:blip r:embed="rId56"/>
            <a:srcRect l="17002" t="-1765" r="56499" b="-1176"/>
            <a:stretch>
              <a:fillRect/>
            </a:stretch>
          </p:blipFill>
          <p:spPr>
            <a:xfrm>
              <a:off x="13761" y="549"/>
              <a:ext cx="1582" cy="525"/>
            </a:xfrm>
            <a:prstGeom prst="rect">
              <a:avLst/>
            </a:prstGeom>
          </p:spPr>
        </p:pic>
        <p:sp>
          <p:nvSpPr>
            <p:cNvPr id="7" name="文本框 6"/>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年度工作项目规划</a:t>
            </a:r>
            <a:endParaRPr sz="250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60" name="组合 59"/>
          <p:cNvGrpSpPr/>
          <p:nvPr/>
        </p:nvGrpSpPr>
        <p:grpSpPr>
          <a:xfrm>
            <a:off x="2361565" y="2230755"/>
            <a:ext cx="9406890" cy="5246363"/>
            <a:chOff x="2269" y="2834"/>
            <a:chExt cx="14814" cy="8262"/>
          </a:xfrm>
        </p:grpSpPr>
        <p:sp>
          <p:nvSpPr>
            <p:cNvPr id="26" name="任意多边形: 形状 30"/>
            <p:cNvSpPr/>
            <p:nvPr/>
          </p:nvSpPr>
          <p:spPr>
            <a:xfrm rot="2754681">
              <a:off x="4464" y="2830"/>
              <a:ext cx="6071" cy="10461"/>
            </a:xfrm>
            <a:custGeom>
              <a:avLst/>
              <a:gdLst>
                <a:gd name="connsiteX0" fmla="*/ 3861035 w 5254542"/>
                <a:gd name="connsiteY0" fmla="*/ 0 h 8448519"/>
                <a:gd name="connsiteX1" fmla="*/ 5254542 w 5254542"/>
                <a:gd name="connsiteY1" fmla="*/ 1801267 h 8448519"/>
                <a:gd name="connsiteX2" fmla="*/ 4557802 w 5254542"/>
                <a:gd name="connsiteY2" fmla="*/ 1801267 h 8448519"/>
                <a:gd name="connsiteX3" fmla="*/ 4556310 w 5254542"/>
                <a:gd name="connsiteY3" fmla="*/ 1847578 h 8448519"/>
                <a:gd name="connsiteX4" fmla="*/ 0 w 5254542"/>
                <a:gd name="connsiteY4" fmla="*/ 8448519 h 8448519"/>
                <a:gd name="connsiteX5" fmla="*/ 3154303 w 5254542"/>
                <a:gd name="connsiteY5" fmla="*/ 1864235 h 8448519"/>
                <a:gd name="connsiteX6" fmla="*/ 3159431 w 5254542"/>
                <a:gd name="connsiteY6" fmla="*/ 1801267 h 8448519"/>
                <a:gd name="connsiteX7" fmla="*/ 2399638 w 5254542"/>
                <a:gd name="connsiteY7" fmla="*/ 1801267 h 8448519"/>
                <a:gd name="connsiteX0-1" fmla="*/ 3682277 w 5075784"/>
                <a:gd name="connsiteY0-2" fmla="*/ 0 h 8796527"/>
                <a:gd name="connsiteX1-3" fmla="*/ 5075784 w 5075784"/>
                <a:gd name="connsiteY1-4" fmla="*/ 1801267 h 8796527"/>
                <a:gd name="connsiteX2-5" fmla="*/ 4379044 w 5075784"/>
                <a:gd name="connsiteY2-6" fmla="*/ 1801267 h 8796527"/>
                <a:gd name="connsiteX3-7" fmla="*/ 4377552 w 5075784"/>
                <a:gd name="connsiteY3-8" fmla="*/ 1847578 h 8796527"/>
                <a:gd name="connsiteX4-9" fmla="*/ 0 w 5075784"/>
                <a:gd name="connsiteY4-10" fmla="*/ 8796527 h 8796527"/>
                <a:gd name="connsiteX5-11" fmla="*/ 2975545 w 5075784"/>
                <a:gd name="connsiteY5-12" fmla="*/ 1864235 h 8796527"/>
                <a:gd name="connsiteX6-13" fmla="*/ 2980673 w 5075784"/>
                <a:gd name="connsiteY6-14" fmla="*/ 1801267 h 8796527"/>
                <a:gd name="connsiteX7-15" fmla="*/ 2220880 w 5075784"/>
                <a:gd name="connsiteY7-16" fmla="*/ 1801267 h 8796527"/>
                <a:gd name="connsiteX8" fmla="*/ 3682277 w 5075784"/>
                <a:gd name="connsiteY8" fmla="*/ 0 h 8796527"/>
                <a:gd name="connsiteX0-17" fmla="*/ 3696925 w 5090432"/>
                <a:gd name="connsiteY0-18" fmla="*/ 0 h 8975533"/>
                <a:gd name="connsiteX1-19" fmla="*/ 5090432 w 5090432"/>
                <a:gd name="connsiteY1-20" fmla="*/ 1801267 h 8975533"/>
                <a:gd name="connsiteX2-21" fmla="*/ 4393692 w 5090432"/>
                <a:gd name="connsiteY2-22" fmla="*/ 1801267 h 8975533"/>
                <a:gd name="connsiteX3-23" fmla="*/ 4392200 w 5090432"/>
                <a:gd name="connsiteY3-24" fmla="*/ 1847578 h 8975533"/>
                <a:gd name="connsiteX4-25" fmla="*/ 0 w 5090432"/>
                <a:gd name="connsiteY4-26" fmla="*/ 8975533 h 8975533"/>
                <a:gd name="connsiteX5-27" fmla="*/ 2990193 w 5090432"/>
                <a:gd name="connsiteY5-28" fmla="*/ 1864235 h 8975533"/>
                <a:gd name="connsiteX6-29" fmla="*/ 2995321 w 5090432"/>
                <a:gd name="connsiteY6-30" fmla="*/ 1801267 h 8975533"/>
                <a:gd name="connsiteX7-31" fmla="*/ 2235528 w 5090432"/>
                <a:gd name="connsiteY7-32" fmla="*/ 1801267 h 8975533"/>
                <a:gd name="connsiteX8-33" fmla="*/ 3696925 w 5090432"/>
                <a:gd name="connsiteY8-34" fmla="*/ 0 h 8975533"/>
                <a:gd name="connsiteX0-35" fmla="*/ 3816048 w 5209555"/>
                <a:gd name="connsiteY0-36" fmla="*/ 0 h 9109950"/>
                <a:gd name="connsiteX1-37" fmla="*/ 5209555 w 5209555"/>
                <a:gd name="connsiteY1-38" fmla="*/ 1801267 h 9109950"/>
                <a:gd name="connsiteX2-39" fmla="*/ 4512815 w 5209555"/>
                <a:gd name="connsiteY2-40" fmla="*/ 1801267 h 9109950"/>
                <a:gd name="connsiteX3-41" fmla="*/ 4511323 w 5209555"/>
                <a:gd name="connsiteY3-42" fmla="*/ 1847578 h 9109950"/>
                <a:gd name="connsiteX4-43" fmla="*/ 0 w 5209555"/>
                <a:gd name="connsiteY4-44" fmla="*/ 9109950 h 9109950"/>
                <a:gd name="connsiteX5-45" fmla="*/ 3109316 w 5209555"/>
                <a:gd name="connsiteY5-46" fmla="*/ 1864235 h 9109950"/>
                <a:gd name="connsiteX6-47" fmla="*/ 3114444 w 5209555"/>
                <a:gd name="connsiteY6-48" fmla="*/ 1801267 h 9109950"/>
                <a:gd name="connsiteX7-49" fmla="*/ 2354651 w 5209555"/>
                <a:gd name="connsiteY7-50" fmla="*/ 1801267 h 9109950"/>
                <a:gd name="connsiteX8-51" fmla="*/ 3816048 w 5209555"/>
                <a:gd name="connsiteY8-52" fmla="*/ 0 h 9109950"/>
                <a:gd name="connsiteX0-53" fmla="*/ 3845096 w 5238603"/>
                <a:gd name="connsiteY0-54" fmla="*/ 0 h 9134604"/>
                <a:gd name="connsiteX1-55" fmla="*/ 5238603 w 5238603"/>
                <a:gd name="connsiteY1-56" fmla="*/ 1801267 h 9134604"/>
                <a:gd name="connsiteX2-57" fmla="*/ 4541863 w 5238603"/>
                <a:gd name="connsiteY2-58" fmla="*/ 1801267 h 9134604"/>
                <a:gd name="connsiteX3-59" fmla="*/ 4540371 w 5238603"/>
                <a:gd name="connsiteY3-60" fmla="*/ 1847578 h 9134604"/>
                <a:gd name="connsiteX4-61" fmla="*/ 0 w 5238603"/>
                <a:gd name="connsiteY4-62" fmla="*/ 9134604 h 9134604"/>
                <a:gd name="connsiteX5-63" fmla="*/ 3138364 w 5238603"/>
                <a:gd name="connsiteY5-64" fmla="*/ 1864235 h 9134604"/>
                <a:gd name="connsiteX6-65" fmla="*/ 3143492 w 5238603"/>
                <a:gd name="connsiteY6-66" fmla="*/ 1801267 h 9134604"/>
                <a:gd name="connsiteX7-67" fmla="*/ 2383699 w 5238603"/>
                <a:gd name="connsiteY7-68" fmla="*/ 1801267 h 9134604"/>
                <a:gd name="connsiteX8-69" fmla="*/ 3845096 w 5238603"/>
                <a:gd name="connsiteY8-70" fmla="*/ 0 h 9134604"/>
                <a:gd name="connsiteX0-71" fmla="*/ 3868856 w 5262363"/>
                <a:gd name="connsiteY0-72" fmla="*/ 0 h 9204742"/>
                <a:gd name="connsiteX1-73" fmla="*/ 5262363 w 5262363"/>
                <a:gd name="connsiteY1-74" fmla="*/ 1801267 h 9204742"/>
                <a:gd name="connsiteX2-75" fmla="*/ 4565623 w 5262363"/>
                <a:gd name="connsiteY2-76" fmla="*/ 1801267 h 9204742"/>
                <a:gd name="connsiteX3-77" fmla="*/ 4564131 w 5262363"/>
                <a:gd name="connsiteY3-78" fmla="*/ 1847578 h 9204742"/>
                <a:gd name="connsiteX4-79" fmla="*/ 0 w 5262363"/>
                <a:gd name="connsiteY4-80" fmla="*/ 9204742 h 9204742"/>
                <a:gd name="connsiteX5-81" fmla="*/ 3162124 w 5262363"/>
                <a:gd name="connsiteY5-82" fmla="*/ 1864235 h 9204742"/>
                <a:gd name="connsiteX6-83" fmla="*/ 3167252 w 5262363"/>
                <a:gd name="connsiteY6-84" fmla="*/ 1801267 h 9204742"/>
                <a:gd name="connsiteX7-85" fmla="*/ 2407459 w 5262363"/>
                <a:gd name="connsiteY7-86" fmla="*/ 1801267 h 9204742"/>
                <a:gd name="connsiteX8-87" fmla="*/ 3868856 w 5262363"/>
                <a:gd name="connsiteY8-88" fmla="*/ 0 h 9204742"/>
                <a:gd name="connsiteX0-89" fmla="*/ 3868856 w 5262363"/>
                <a:gd name="connsiteY0-90" fmla="*/ 0 h 9204742"/>
                <a:gd name="connsiteX1-91" fmla="*/ 5262363 w 5262363"/>
                <a:gd name="connsiteY1-92" fmla="*/ 1801267 h 9204742"/>
                <a:gd name="connsiteX2-93" fmla="*/ 4565623 w 5262363"/>
                <a:gd name="connsiteY2-94" fmla="*/ 1801267 h 9204742"/>
                <a:gd name="connsiteX3-95" fmla="*/ 4564131 w 5262363"/>
                <a:gd name="connsiteY3-96" fmla="*/ 1847578 h 9204742"/>
                <a:gd name="connsiteX4-97" fmla="*/ 0 w 5262363"/>
                <a:gd name="connsiteY4-98" fmla="*/ 9204742 h 9204742"/>
                <a:gd name="connsiteX5-99" fmla="*/ 3162124 w 5262363"/>
                <a:gd name="connsiteY5-100" fmla="*/ 1864235 h 9204742"/>
                <a:gd name="connsiteX6-101" fmla="*/ 3167252 w 5262363"/>
                <a:gd name="connsiteY6-102" fmla="*/ 1801267 h 9204742"/>
                <a:gd name="connsiteX7-103" fmla="*/ 2407459 w 5262363"/>
                <a:gd name="connsiteY7-104" fmla="*/ 1801267 h 9204742"/>
                <a:gd name="connsiteX8-105" fmla="*/ 3868856 w 5262363"/>
                <a:gd name="connsiteY8-106" fmla="*/ 0 h 9204742"/>
                <a:gd name="connsiteX0-107" fmla="*/ 3868856 w 5262363"/>
                <a:gd name="connsiteY0-108" fmla="*/ 0 h 9204742"/>
                <a:gd name="connsiteX1-109" fmla="*/ 5262363 w 5262363"/>
                <a:gd name="connsiteY1-110" fmla="*/ 1801267 h 9204742"/>
                <a:gd name="connsiteX2-111" fmla="*/ 4565623 w 5262363"/>
                <a:gd name="connsiteY2-112" fmla="*/ 1801267 h 9204742"/>
                <a:gd name="connsiteX3-113" fmla="*/ 4564131 w 5262363"/>
                <a:gd name="connsiteY3-114" fmla="*/ 1847578 h 9204742"/>
                <a:gd name="connsiteX4-115" fmla="*/ 0 w 5262363"/>
                <a:gd name="connsiteY4-116" fmla="*/ 9204742 h 9204742"/>
                <a:gd name="connsiteX5-117" fmla="*/ 3162124 w 5262363"/>
                <a:gd name="connsiteY5-118" fmla="*/ 1864235 h 9204742"/>
                <a:gd name="connsiteX6-119" fmla="*/ 3167252 w 5262363"/>
                <a:gd name="connsiteY6-120" fmla="*/ 1801267 h 9204742"/>
                <a:gd name="connsiteX7-121" fmla="*/ 2407459 w 5262363"/>
                <a:gd name="connsiteY7-122" fmla="*/ 1801267 h 9204742"/>
                <a:gd name="connsiteX8-123" fmla="*/ 3868856 w 5262363"/>
                <a:gd name="connsiteY8-124" fmla="*/ 0 h 9204742"/>
                <a:gd name="connsiteX0-125" fmla="*/ 3828264 w 5221771"/>
                <a:gd name="connsiteY0-126" fmla="*/ 0 h 9299503"/>
                <a:gd name="connsiteX1-127" fmla="*/ 5221771 w 5221771"/>
                <a:gd name="connsiteY1-128" fmla="*/ 1801267 h 9299503"/>
                <a:gd name="connsiteX2-129" fmla="*/ 4525031 w 5221771"/>
                <a:gd name="connsiteY2-130" fmla="*/ 1801267 h 9299503"/>
                <a:gd name="connsiteX3-131" fmla="*/ 4523539 w 5221771"/>
                <a:gd name="connsiteY3-132" fmla="*/ 1847578 h 9299503"/>
                <a:gd name="connsiteX4-133" fmla="*/ -1 w 5221771"/>
                <a:gd name="connsiteY4-134" fmla="*/ 9299502 h 9299503"/>
                <a:gd name="connsiteX5-135" fmla="*/ 3121532 w 5221771"/>
                <a:gd name="connsiteY5-136" fmla="*/ 1864235 h 9299503"/>
                <a:gd name="connsiteX6-137" fmla="*/ 3126660 w 5221771"/>
                <a:gd name="connsiteY6-138" fmla="*/ 1801267 h 9299503"/>
                <a:gd name="connsiteX7-139" fmla="*/ 2366867 w 5221771"/>
                <a:gd name="connsiteY7-140" fmla="*/ 1801267 h 9299503"/>
                <a:gd name="connsiteX8-141" fmla="*/ 3828264 w 5221771"/>
                <a:gd name="connsiteY8-142" fmla="*/ 0 h 9299503"/>
                <a:gd name="connsiteX0-143" fmla="*/ 3828265 w 5221772"/>
                <a:gd name="connsiteY0-144" fmla="*/ 0 h 9299502"/>
                <a:gd name="connsiteX1-145" fmla="*/ 5221772 w 5221772"/>
                <a:gd name="connsiteY1-146" fmla="*/ 1801267 h 9299502"/>
                <a:gd name="connsiteX2-147" fmla="*/ 4525032 w 5221772"/>
                <a:gd name="connsiteY2-148" fmla="*/ 1801267 h 9299502"/>
                <a:gd name="connsiteX3-149" fmla="*/ 4523540 w 5221772"/>
                <a:gd name="connsiteY3-150" fmla="*/ 1847578 h 9299502"/>
                <a:gd name="connsiteX4-151" fmla="*/ 0 w 5221772"/>
                <a:gd name="connsiteY4-152" fmla="*/ 9299502 h 9299502"/>
                <a:gd name="connsiteX5-153" fmla="*/ 3121533 w 5221772"/>
                <a:gd name="connsiteY5-154" fmla="*/ 1864235 h 9299502"/>
                <a:gd name="connsiteX6-155" fmla="*/ 3126661 w 5221772"/>
                <a:gd name="connsiteY6-156" fmla="*/ 1801267 h 9299502"/>
                <a:gd name="connsiteX7-157" fmla="*/ 2366868 w 5221772"/>
                <a:gd name="connsiteY7-158" fmla="*/ 1801267 h 9299502"/>
                <a:gd name="connsiteX8-159" fmla="*/ 3828265 w 5221772"/>
                <a:gd name="connsiteY8-160" fmla="*/ 0 h 9299502"/>
                <a:gd name="connsiteX0-161" fmla="*/ 3828265 w 5221772"/>
                <a:gd name="connsiteY0-162" fmla="*/ 0 h 9299502"/>
                <a:gd name="connsiteX1-163" fmla="*/ 5221772 w 5221772"/>
                <a:gd name="connsiteY1-164" fmla="*/ 1801267 h 9299502"/>
                <a:gd name="connsiteX2-165" fmla="*/ 4525032 w 5221772"/>
                <a:gd name="connsiteY2-166" fmla="*/ 1801267 h 9299502"/>
                <a:gd name="connsiteX3-167" fmla="*/ 4523540 w 5221772"/>
                <a:gd name="connsiteY3-168" fmla="*/ 1847578 h 9299502"/>
                <a:gd name="connsiteX4-169" fmla="*/ 0 w 5221772"/>
                <a:gd name="connsiteY4-170" fmla="*/ 9299502 h 9299502"/>
                <a:gd name="connsiteX5-171" fmla="*/ 3121533 w 5221772"/>
                <a:gd name="connsiteY5-172" fmla="*/ 1864235 h 9299502"/>
                <a:gd name="connsiteX6-173" fmla="*/ 3126661 w 5221772"/>
                <a:gd name="connsiteY6-174" fmla="*/ 1801267 h 9299502"/>
                <a:gd name="connsiteX7-175" fmla="*/ 2366868 w 5221772"/>
                <a:gd name="connsiteY7-176" fmla="*/ 1801267 h 9299502"/>
                <a:gd name="connsiteX8-177" fmla="*/ 3828265 w 5221772"/>
                <a:gd name="connsiteY8-178" fmla="*/ 0 h 9299502"/>
                <a:gd name="connsiteX0-179" fmla="*/ 3828265 w 5221772"/>
                <a:gd name="connsiteY0-180" fmla="*/ 0 h 9299502"/>
                <a:gd name="connsiteX1-181" fmla="*/ 5221772 w 5221772"/>
                <a:gd name="connsiteY1-182" fmla="*/ 1801267 h 9299502"/>
                <a:gd name="connsiteX2-183" fmla="*/ 4525032 w 5221772"/>
                <a:gd name="connsiteY2-184" fmla="*/ 1801267 h 9299502"/>
                <a:gd name="connsiteX3-185" fmla="*/ 4523540 w 5221772"/>
                <a:gd name="connsiteY3-186" fmla="*/ 1847578 h 9299502"/>
                <a:gd name="connsiteX4-187" fmla="*/ 0 w 5221772"/>
                <a:gd name="connsiteY4-188" fmla="*/ 9299502 h 9299502"/>
                <a:gd name="connsiteX5-189" fmla="*/ 3121533 w 5221772"/>
                <a:gd name="connsiteY5-190" fmla="*/ 1864235 h 9299502"/>
                <a:gd name="connsiteX6-191" fmla="*/ 3126661 w 5221772"/>
                <a:gd name="connsiteY6-192" fmla="*/ 1801267 h 9299502"/>
                <a:gd name="connsiteX7-193" fmla="*/ 2366868 w 5221772"/>
                <a:gd name="connsiteY7-194" fmla="*/ 1801267 h 9299502"/>
                <a:gd name="connsiteX8-195" fmla="*/ 3828265 w 5221772"/>
                <a:gd name="connsiteY8-196" fmla="*/ 0 h 9299502"/>
                <a:gd name="connsiteX0-197" fmla="*/ 3828265 w 5221772"/>
                <a:gd name="connsiteY0-198" fmla="*/ 0 h 9299502"/>
                <a:gd name="connsiteX1-199" fmla="*/ 5221772 w 5221772"/>
                <a:gd name="connsiteY1-200" fmla="*/ 1801267 h 9299502"/>
                <a:gd name="connsiteX2-201" fmla="*/ 4525032 w 5221772"/>
                <a:gd name="connsiteY2-202" fmla="*/ 1801267 h 9299502"/>
                <a:gd name="connsiteX3-203" fmla="*/ 4523540 w 5221772"/>
                <a:gd name="connsiteY3-204" fmla="*/ 1847578 h 9299502"/>
                <a:gd name="connsiteX4-205" fmla="*/ 0 w 5221772"/>
                <a:gd name="connsiteY4-206" fmla="*/ 9299502 h 9299502"/>
                <a:gd name="connsiteX5-207" fmla="*/ 3121533 w 5221772"/>
                <a:gd name="connsiteY5-208" fmla="*/ 1864235 h 9299502"/>
                <a:gd name="connsiteX6-209" fmla="*/ 3126661 w 5221772"/>
                <a:gd name="connsiteY6-210" fmla="*/ 1801267 h 9299502"/>
                <a:gd name="connsiteX7-211" fmla="*/ 2366868 w 5221772"/>
                <a:gd name="connsiteY7-212" fmla="*/ 1801267 h 9299502"/>
                <a:gd name="connsiteX8-213" fmla="*/ 3828265 w 5221772"/>
                <a:gd name="connsiteY8-214" fmla="*/ 0 h 9299502"/>
                <a:gd name="connsiteX0-215" fmla="*/ 3828265 w 5221772"/>
                <a:gd name="connsiteY0-216" fmla="*/ 0 h 9299502"/>
                <a:gd name="connsiteX1-217" fmla="*/ 5221772 w 5221772"/>
                <a:gd name="connsiteY1-218" fmla="*/ 1801267 h 9299502"/>
                <a:gd name="connsiteX2-219" fmla="*/ 4525032 w 5221772"/>
                <a:gd name="connsiteY2-220" fmla="*/ 1801267 h 9299502"/>
                <a:gd name="connsiteX3-221" fmla="*/ 4523540 w 5221772"/>
                <a:gd name="connsiteY3-222" fmla="*/ 1847578 h 9299502"/>
                <a:gd name="connsiteX4-223" fmla="*/ 0 w 5221772"/>
                <a:gd name="connsiteY4-224" fmla="*/ 9299502 h 9299502"/>
                <a:gd name="connsiteX5-225" fmla="*/ 3121533 w 5221772"/>
                <a:gd name="connsiteY5-226" fmla="*/ 1864235 h 9299502"/>
                <a:gd name="connsiteX6-227" fmla="*/ 3126661 w 5221772"/>
                <a:gd name="connsiteY6-228" fmla="*/ 1801267 h 9299502"/>
                <a:gd name="connsiteX7-229" fmla="*/ 2366868 w 5221772"/>
                <a:gd name="connsiteY7-230" fmla="*/ 1801267 h 9299502"/>
                <a:gd name="connsiteX8-231" fmla="*/ 3828265 w 5221772"/>
                <a:gd name="connsiteY8-232" fmla="*/ 0 h 9299502"/>
                <a:gd name="connsiteX0-233" fmla="*/ 4239505 w 5633012"/>
                <a:gd name="connsiteY0-234" fmla="*/ 0 h 10063093"/>
                <a:gd name="connsiteX1-235" fmla="*/ 5633012 w 5633012"/>
                <a:gd name="connsiteY1-236" fmla="*/ 1801267 h 10063093"/>
                <a:gd name="connsiteX2-237" fmla="*/ 4936272 w 5633012"/>
                <a:gd name="connsiteY2-238" fmla="*/ 1801267 h 10063093"/>
                <a:gd name="connsiteX3-239" fmla="*/ 4934780 w 5633012"/>
                <a:gd name="connsiteY3-240" fmla="*/ 1847578 h 10063093"/>
                <a:gd name="connsiteX4-241" fmla="*/ 0 w 5633012"/>
                <a:gd name="connsiteY4-242" fmla="*/ 10063093 h 10063093"/>
                <a:gd name="connsiteX5-243" fmla="*/ 3532773 w 5633012"/>
                <a:gd name="connsiteY5-244" fmla="*/ 1864235 h 10063093"/>
                <a:gd name="connsiteX6-245" fmla="*/ 3537901 w 5633012"/>
                <a:gd name="connsiteY6-246" fmla="*/ 1801267 h 10063093"/>
                <a:gd name="connsiteX7-247" fmla="*/ 2778108 w 5633012"/>
                <a:gd name="connsiteY7-248" fmla="*/ 1801267 h 10063093"/>
                <a:gd name="connsiteX8-249" fmla="*/ 4239505 w 5633012"/>
                <a:gd name="connsiteY8-250" fmla="*/ 0 h 10063093"/>
                <a:gd name="connsiteX0-251" fmla="*/ 4344521 w 5738028"/>
                <a:gd name="connsiteY0-252" fmla="*/ 0 h 10143555"/>
                <a:gd name="connsiteX1-253" fmla="*/ 5738028 w 5738028"/>
                <a:gd name="connsiteY1-254" fmla="*/ 1801267 h 10143555"/>
                <a:gd name="connsiteX2-255" fmla="*/ 5041288 w 5738028"/>
                <a:gd name="connsiteY2-256" fmla="*/ 1801267 h 10143555"/>
                <a:gd name="connsiteX3-257" fmla="*/ 5039796 w 5738028"/>
                <a:gd name="connsiteY3-258" fmla="*/ 1847578 h 10143555"/>
                <a:gd name="connsiteX4-259" fmla="*/ 0 w 5738028"/>
                <a:gd name="connsiteY4-260" fmla="*/ 10143555 h 10143555"/>
                <a:gd name="connsiteX5-261" fmla="*/ 3637789 w 5738028"/>
                <a:gd name="connsiteY5-262" fmla="*/ 1864235 h 10143555"/>
                <a:gd name="connsiteX6-263" fmla="*/ 3642917 w 5738028"/>
                <a:gd name="connsiteY6-264" fmla="*/ 1801267 h 10143555"/>
                <a:gd name="connsiteX7-265" fmla="*/ 2883124 w 5738028"/>
                <a:gd name="connsiteY7-266" fmla="*/ 1801267 h 10143555"/>
                <a:gd name="connsiteX8-267" fmla="*/ 4344521 w 5738028"/>
                <a:gd name="connsiteY8-268" fmla="*/ 0 h 1014355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33" y="connsiteY8-34"/>
                </a:cxn>
              </a:cxnLst>
              <a:rect l="l" t="t" r="r" b="b"/>
              <a:pathLst>
                <a:path w="6071" h="10462">
                  <a:moveTo>
                    <a:pt x="6071" y="89"/>
                  </a:moveTo>
                  <a:lnTo>
                    <a:pt x="6011" y="260"/>
                  </a:lnTo>
                  <a:lnTo>
                    <a:pt x="5943" y="449"/>
                  </a:lnTo>
                  <a:lnTo>
                    <a:pt x="5871" y="644"/>
                  </a:lnTo>
                  <a:lnTo>
                    <a:pt x="5797" y="843"/>
                  </a:lnTo>
                  <a:lnTo>
                    <a:pt x="5719" y="1047"/>
                  </a:lnTo>
                  <a:lnTo>
                    <a:pt x="5638" y="1255"/>
                  </a:lnTo>
                  <a:lnTo>
                    <a:pt x="5554" y="1467"/>
                  </a:lnTo>
                  <a:lnTo>
                    <a:pt x="5466" y="1683"/>
                  </a:lnTo>
                  <a:lnTo>
                    <a:pt x="5376" y="1903"/>
                  </a:lnTo>
                  <a:lnTo>
                    <a:pt x="5282" y="2126"/>
                  </a:lnTo>
                  <a:lnTo>
                    <a:pt x="5185" y="2352"/>
                  </a:lnTo>
                  <a:lnTo>
                    <a:pt x="5086" y="2581"/>
                  </a:lnTo>
                  <a:lnTo>
                    <a:pt x="4983" y="2812"/>
                  </a:lnTo>
                  <a:lnTo>
                    <a:pt x="4878" y="3046"/>
                  </a:lnTo>
                  <a:lnTo>
                    <a:pt x="4770" y="3282"/>
                  </a:lnTo>
                  <a:lnTo>
                    <a:pt x="4658" y="3520"/>
                  </a:lnTo>
                  <a:lnTo>
                    <a:pt x="4544" y="3759"/>
                  </a:lnTo>
                  <a:lnTo>
                    <a:pt x="4428" y="4000"/>
                  </a:lnTo>
                  <a:lnTo>
                    <a:pt x="4308" y="4242"/>
                  </a:lnTo>
                  <a:lnTo>
                    <a:pt x="4186" y="4485"/>
                  </a:lnTo>
                  <a:lnTo>
                    <a:pt x="4061" y="4728"/>
                  </a:lnTo>
                  <a:lnTo>
                    <a:pt x="3934" y="4972"/>
                  </a:lnTo>
                  <a:lnTo>
                    <a:pt x="3804" y="5216"/>
                  </a:lnTo>
                  <a:lnTo>
                    <a:pt x="3671" y="5460"/>
                  </a:lnTo>
                  <a:lnTo>
                    <a:pt x="3536" y="5703"/>
                  </a:lnTo>
                  <a:lnTo>
                    <a:pt x="3398" y="5946"/>
                  </a:lnTo>
                  <a:lnTo>
                    <a:pt x="3258" y="6188"/>
                  </a:lnTo>
                  <a:lnTo>
                    <a:pt x="3116" y="6429"/>
                  </a:lnTo>
                  <a:lnTo>
                    <a:pt x="2971" y="6668"/>
                  </a:lnTo>
                  <a:lnTo>
                    <a:pt x="2824" y="6906"/>
                  </a:lnTo>
                  <a:lnTo>
                    <a:pt x="2674" y="7142"/>
                  </a:lnTo>
                  <a:lnTo>
                    <a:pt x="2523" y="7376"/>
                  </a:lnTo>
                  <a:lnTo>
                    <a:pt x="2369" y="7607"/>
                  </a:lnTo>
                  <a:lnTo>
                    <a:pt x="2213" y="7836"/>
                  </a:lnTo>
                  <a:lnTo>
                    <a:pt x="2054" y="8062"/>
                  </a:lnTo>
                  <a:lnTo>
                    <a:pt x="1894" y="8285"/>
                  </a:lnTo>
                  <a:lnTo>
                    <a:pt x="1731" y="8504"/>
                  </a:lnTo>
                  <a:lnTo>
                    <a:pt x="1567" y="8720"/>
                  </a:lnTo>
                  <a:lnTo>
                    <a:pt x="1400" y="8932"/>
                  </a:lnTo>
                  <a:lnTo>
                    <a:pt x="1232" y="9141"/>
                  </a:lnTo>
                  <a:lnTo>
                    <a:pt x="1061" y="9344"/>
                  </a:lnTo>
                  <a:lnTo>
                    <a:pt x="889" y="9543"/>
                  </a:lnTo>
                  <a:lnTo>
                    <a:pt x="715" y="9738"/>
                  </a:lnTo>
                  <a:lnTo>
                    <a:pt x="539" y="9927"/>
                  </a:lnTo>
                  <a:lnTo>
                    <a:pt x="361" y="10111"/>
                  </a:lnTo>
                  <a:lnTo>
                    <a:pt x="181" y="10289"/>
                  </a:lnTo>
                  <a:lnTo>
                    <a:pt x="0" y="10461"/>
                  </a:lnTo>
                  <a:lnTo>
                    <a:pt x="136" y="10287"/>
                  </a:lnTo>
                  <a:lnTo>
                    <a:pt x="270" y="10108"/>
                  </a:lnTo>
                  <a:lnTo>
                    <a:pt x="403" y="9923"/>
                  </a:lnTo>
                  <a:lnTo>
                    <a:pt x="534" y="9732"/>
                  </a:lnTo>
                  <a:lnTo>
                    <a:pt x="663" y="9537"/>
                  </a:lnTo>
                  <a:lnTo>
                    <a:pt x="791" y="9338"/>
                  </a:lnTo>
                  <a:lnTo>
                    <a:pt x="917" y="9134"/>
                  </a:lnTo>
                  <a:lnTo>
                    <a:pt x="1041" y="8925"/>
                  </a:lnTo>
                  <a:lnTo>
                    <a:pt x="1164" y="8713"/>
                  </a:lnTo>
                  <a:lnTo>
                    <a:pt x="1285" y="8497"/>
                  </a:lnTo>
                  <a:lnTo>
                    <a:pt x="1404" y="8278"/>
                  </a:lnTo>
                  <a:lnTo>
                    <a:pt x="1521" y="8055"/>
                  </a:lnTo>
                  <a:lnTo>
                    <a:pt x="1636" y="7830"/>
                  </a:lnTo>
                  <a:lnTo>
                    <a:pt x="1750" y="7602"/>
                  </a:lnTo>
                  <a:lnTo>
                    <a:pt x="1862" y="7371"/>
                  </a:lnTo>
                  <a:lnTo>
                    <a:pt x="1972" y="7138"/>
                  </a:lnTo>
                  <a:lnTo>
                    <a:pt x="2080" y="6903"/>
                  </a:lnTo>
                  <a:lnTo>
                    <a:pt x="2187" y="6666"/>
                  </a:lnTo>
                  <a:lnTo>
                    <a:pt x="2291" y="6428"/>
                  </a:lnTo>
                  <a:lnTo>
                    <a:pt x="2394" y="6189"/>
                  </a:lnTo>
                  <a:lnTo>
                    <a:pt x="2494" y="5948"/>
                  </a:lnTo>
                  <a:lnTo>
                    <a:pt x="2593" y="5707"/>
                  </a:lnTo>
                  <a:lnTo>
                    <a:pt x="2690" y="5465"/>
                  </a:lnTo>
                  <a:lnTo>
                    <a:pt x="2784" y="5223"/>
                  </a:lnTo>
                  <a:lnTo>
                    <a:pt x="2877" y="4980"/>
                  </a:lnTo>
                  <a:lnTo>
                    <a:pt x="2968" y="4738"/>
                  </a:lnTo>
                  <a:lnTo>
                    <a:pt x="3057" y="4497"/>
                  </a:lnTo>
                  <a:lnTo>
                    <a:pt x="3144" y="4255"/>
                  </a:lnTo>
                  <a:lnTo>
                    <a:pt x="3228" y="4015"/>
                  </a:lnTo>
                  <a:lnTo>
                    <a:pt x="3311" y="3776"/>
                  </a:lnTo>
                  <a:lnTo>
                    <a:pt x="3392" y="3538"/>
                  </a:lnTo>
                  <a:lnTo>
                    <a:pt x="3470" y="3302"/>
                  </a:lnTo>
                  <a:lnTo>
                    <a:pt x="3546" y="3068"/>
                  </a:lnTo>
                  <a:lnTo>
                    <a:pt x="3621" y="2836"/>
                  </a:lnTo>
                  <a:lnTo>
                    <a:pt x="3693" y="2606"/>
                  </a:lnTo>
                  <a:lnTo>
                    <a:pt x="3763" y="2378"/>
                  </a:lnTo>
                  <a:lnTo>
                    <a:pt x="3831" y="2154"/>
                  </a:lnTo>
                  <a:lnTo>
                    <a:pt x="3896" y="1932"/>
                  </a:lnTo>
                  <a:lnTo>
                    <a:pt x="3960" y="1714"/>
                  </a:lnTo>
                  <a:lnTo>
                    <a:pt x="4021" y="1499"/>
                  </a:lnTo>
                  <a:lnTo>
                    <a:pt x="4080" y="1288"/>
                  </a:lnTo>
                  <a:lnTo>
                    <a:pt x="4137" y="1081"/>
                  </a:lnTo>
                  <a:cubicBezTo>
                    <a:pt x="4250" y="673"/>
                    <a:pt x="4422" y="-26"/>
                    <a:pt x="4414" y="0"/>
                  </a:cubicBezTo>
                  <a:lnTo>
                    <a:pt x="6071" y="89"/>
                  </a:lnTo>
                  <a:close/>
                </a:path>
              </a:pathLst>
            </a:custGeom>
            <a:gradFill flip="none" rotWithShape="1">
              <a:gsLst>
                <a:gs pos="23000">
                  <a:srgbClr val="0042FF"/>
                </a:gs>
                <a:gs pos="100000">
                  <a:srgbClr val="3368FF"/>
                </a:gs>
              </a:gsLst>
              <a:lin ang="0"/>
            </a:gradFill>
            <a:ln w="38100">
              <a:noFill/>
            </a:ln>
            <a:effectLst>
              <a:outerShdw blurRad="411480" dist="123444" dir="5400000" sx="108000" sy="108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8" name="任意多边形: 形状 30"/>
            <p:cNvSpPr/>
            <p:nvPr/>
          </p:nvSpPr>
          <p:spPr>
            <a:xfrm rot="2754681">
              <a:off x="12856" y="2360"/>
              <a:ext cx="3753" cy="4701"/>
            </a:xfrm>
            <a:custGeom>
              <a:avLst/>
              <a:gdLst>
                <a:gd name="connsiteX0" fmla="*/ 3861035 w 5254542"/>
                <a:gd name="connsiteY0" fmla="*/ 0 h 8448519"/>
                <a:gd name="connsiteX1" fmla="*/ 5254542 w 5254542"/>
                <a:gd name="connsiteY1" fmla="*/ 1801267 h 8448519"/>
                <a:gd name="connsiteX2" fmla="*/ 4557802 w 5254542"/>
                <a:gd name="connsiteY2" fmla="*/ 1801267 h 8448519"/>
                <a:gd name="connsiteX3" fmla="*/ 4556310 w 5254542"/>
                <a:gd name="connsiteY3" fmla="*/ 1847578 h 8448519"/>
                <a:gd name="connsiteX4" fmla="*/ 0 w 5254542"/>
                <a:gd name="connsiteY4" fmla="*/ 8448519 h 8448519"/>
                <a:gd name="connsiteX5" fmla="*/ 3154303 w 5254542"/>
                <a:gd name="connsiteY5" fmla="*/ 1864235 h 8448519"/>
                <a:gd name="connsiteX6" fmla="*/ 3159431 w 5254542"/>
                <a:gd name="connsiteY6" fmla="*/ 1801267 h 8448519"/>
                <a:gd name="connsiteX7" fmla="*/ 2399638 w 5254542"/>
                <a:gd name="connsiteY7" fmla="*/ 1801267 h 8448519"/>
                <a:gd name="connsiteX0-1" fmla="*/ 3682277 w 5075784"/>
                <a:gd name="connsiteY0-2" fmla="*/ 0 h 8796527"/>
                <a:gd name="connsiteX1-3" fmla="*/ 5075784 w 5075784"/>
                <a:gd name="connsiteY1-4" fmla="*/ 1801267 h 8796527"/>
                <a:gd name="connsiteX2-5" fmla="*/ 4379044 w 5075784"/>
                <a:gd name="connsiteY2-6" fmla="*/ 1801267 h 8796527"/>
                <a:gd name="connsiteX3-7" fmla="*/ 4377552 w 5075784"/>
                <a:gd name="connsiteY3-8" fmla="*/ 1847578 h 8796527"/>
                <a:gd name="connsiteX4-9" fmla="*/ 0 w 5075784"/>
                <a:gd name="connsiteY4-10" fmla="*/ 8796527 h 8796527"/>
                <a:gd name="connsiteX5-11" fmla="*/ 2975545 w 5075784"/>
                <a:gd name="connsiteY5-12" fmla="*/ 1864235 h 8796527"/>
                <a:gd name="connsiteX6-13" fmla="*/ 2980673 w 5075784"/>
                <a:gd name="connsiteY6-14" fmla="*/ 1801267 h 8796527"/>
                <a:gd name="connsiteX7-15" fmla="*/ 2220880 w 5075784"/>
                <a:gd name="connsiteY7-16" fmla="*/ 1801267 h 8796527"/>
                <a:gd name="connsiteX8" fmla="*/ 3682277 w 5075784"/>
                <a:gd name="connsiteY8" fmla="*/ 0 h 8796527"/>
                <a:gd name="connsiteX0-17" fmla="*/ 3696925 w 5090432"/>
                <a:gd name="connsiteY0-18" fmla="*/ 0 h 8975533"/>
                <a:gd name="connsiteX1-19" fmla="*/ 5090432 w 5090432"/>
                <a:gd name="connsiteY1-20" fmla="*/ 1801267 h 8975533"/>
                <a:gd name="connsiteX2-21" fmla="*/ 4393692 w 5090432"/>
                <a:gd name="connsiteY2-22" fmla="*/ 1801267 h 8975533"/>
                <a:gd name="connsiteX3-23" fmla="*/ 4392200 w 5090432"/>
                <a:gd name="connsiteY3-24" fmla="*/ 1847578 h 8975533"/>
                <a:gd name="connsiteX4-25" fmla="*/ 0 w 5090432"/>
                <a:gd name="connsiteY4-26" fmla="*/ 8975533 h 8975533"/>
                <a:gd name="connsiteX5-27" fmla="*/ 2990193 w 5090432"/>
                <a:gd name="connsiteY5-28" fmla="*/ 1864235 h 8975533"/>
                <a:gd name="connsiteX6-29" fmla="*/ 2995321 w 5090432"/>
                <a:gd name="connsiteY6-30" fmla="*/ 1801267 h 8975533"/>
                <a:gd name="connsiteX7-31" fmla="*/ 2235528 w 5090432"/>
                <a:gd name="connsiteY7-32" fmla="*/ 1801267 h 8975533"/>
                <a:gd name="connsiteX8-33" fmla="*/ 3696925 w 5090432"/>
                <a:gd name="connsiteY8-34" fmla="*/ 0 h 8975533"/>
                <a:gd name="connsiteX0-35" fmla="*/ 3816048 w 5209555"/>
                <a:gd name="connsiteY0-36" fmla="*/ 0 h 9109950"/>
                <a:gd name="connsiteX1-37" fmla="*/ 5209555 w 5209555"/>
                <a:gd name="connsiteY1-38" fmla="*/ 1801267 h 9109950"/>
                <a:gd name="connsiteX2-39" fmla="*/ 4512815 w 5209555"/>
                <a:gd name="connsiteY2-40" fmla="*/ 1801267 h 9109950"/>
                <a:gd name="connsiteX3-41" fmla="*/ 4511323 w 5209555"/>
                <a:gd name="connsiteY3-42" fmla="*/ 1847578 h 9109950"/>
                <a:gd name="connsiteX4-43" fmla="*/ 0 w 5209555"/>
                <a:gd name="connsiteY4-44" fmla="*/ 9109950 h 9109950"/>
                <a:gd name="connsiteX5-45" fmla="*/ 3109316 w 5209555"/>
                <a:gd name="connsiteY5-46" fmla="*/ 1864235 h 9109950"/>
                <a:gd name="connsiteX6-47" fmla="*/ 3114444 w 5209555"/>
                <a:gd name="connsiteY6-48" fmla="*/ 1801267 h 9109950"/>
                <a:gd name="connsiteX7-49" fmla="*/ 2354651 w 5209555"/>
                <a:gd name="connsiteY7-50" fmla="*/ 1801267 h 9109950"/>
                <a:gd name="connsiteX8-51" fmla="*/ 3816048 w 5209555"/>
                <a:gd name="connsiteY8-52" fmla="*/ 0 h 9109950"/>
                <a:gd name="connsiteX0-53" fmla="*/ 3845096 w 5238603"/>
                <a:gd name="connsiteY0-54" fmla="*/ 0 h 9134604"/>
                <a:gd name="connsiteX1-55" fmla="*/ 5238603 w 5238603"/>
                <a:gd name="connsiteY1-56" fmla="*/ 1801267 h 9134604"/>
                <a:gd name="connsiteX2-57" fmla="*/ 4541863 w 5238603"/>
                <a:gd name="connsiteY2-58" fmla="*/ 1801267 h 9134604"/>
                <a:gd name="connsiteX3-59" fmla="*/ 4540371 w 5238603"/>
                <a:gd name="connsiteY3-60" fmla="*/ 1847578 h 9134604"/>
                <a:gd name="connsiteX4-61" fmla="*/ 0 w 5238603"/>
                <a:gd name="connsiteY4-62" fmla="*/ 9134604 h 9134604"/>
                <a:gd name="connsiteX5-63" fmla="*/ 3138364 w 5238603"/>
                <a:gd name="connsiteY5-64" fmla="*/ 1864235 h 9134604"/>
                <a:gd name="connsiteX6-65" fmla="*/ 3143492 w 5238603"/>
                <a:gd name="connsiteY6-66" fmla="*/ 1801267 h 9134604"/>
                <a:gd name="connsiteX7-67" fmla="*/ 2383699 w 5238603"/>
                <a:gd name="connsiteY7-68" fmla="*/ 1801267 h 9134604"/>
                <a:gd name="connsiteX8-69" fmla="*/ 3845096 w 5238603"/>
                <a:gd name="connsiteY8-70" fmla="*/ 0 h 9134604"/>
                <a:gd name="connsiteX0-71" fmla="*/ 3868856 w 5262363"/>
                <a:gd name="connsiteY0-72" fmla="*/ 0 h 9204742"/>
                <a:gd name="connsiteX1-73" fmla="*/ 5262363 w 5262363"/>
                <a:gd name="connsiteY1-74" fmla="*/ 1801267 h 9204742"/>
                <a:gd name="connsiteX2-75" fmla="*/ 4565623 w 5262363"/>
                <a:gd name="connsiteY2-76" fmla="*/ 1801267 h 9204742"/>
                <a:gd name="connsiteX3-77" fmla="*/ 4564131 w 5262363"/>
                <a:gd name="connsiteY3-78" fmla="*/ 1847578 h 9204742"/>
                <a:gd name="connsiteX4-79" fmla="*/ 0 w 5262363"/>
                <a:gd name="connsiteY4-80" fmla="*/ 9204742 h 9204742"/>
                <a:gd name="connsiteX5-81" fmla="*/ 3162124 w 5262363"/>
                <a:gd name="connsiteY5-82" fmla="*/ 1864235 h 9204742"/>
                <a:gd name="connsiteX6-83" fmla="*/ 3167252 w 5262363"/>
                <a:gd name="connsiteY6-84" fmla="*/ 1801267 h 9204742"/>
                <a:gd name="connsiteX7-85" fmla="*/ 2407459 w 5262363"/>
                <a:gd name="connsiteY7-86" fmla="*/ 1801267 h 9204742"/>
                <a:gd name="connsiteX8-87" fmla="*/ 3868856 w 5262363"/>
                <a:gd name="connsiteY8-88" fmla="*/ 0 h 9204742"/>
                <a:gd name="connsiteX0-89" fmla="*/ 3868856 w 5262363"/>
                <a:gd name="connsiteY0-90" fmla="*/ 0 h 9204742"/>
                <a:gd name="connsiteX1-91" fmla="*/ 5262363 w 5262363"/>
                <a:gd name="connsiteY1-92" fmla="*/ 1801267 h 9204742"/>
                <a:gd name="connsiteX2-93" fmla="*/ 4565623 w 5262363"/>
                <a:gd name="connsiteY2-94" fmla="*/ 1801267 h 9204742"/>
                <a:gd name="connsiteX3-95" fmla="*/ 4564131 w 5262363"/>
                <a:gd name="connsiteY3-96" fmla="*/ 1847578 h 9204742"/>
                <a:gd name="connsiteX4-97" fmla="*/ 0 w 5262363"/>
                <a:gd name="connsiteY4-98" fmla="*/ 9204742 h 9204742"/>
                <a:gd name="connsiteX5-99" fmla="*/ 3162124 w 5262363"/>
                <a:gd name="connsiteY5-100" fmla="*/ 1864235 h 9204742"/>
                <a:gd name="connsiteX6-101" fmla="*/ 3167252 w 5262363"/>
                <a:gd name="connsiteY6-102" fmla="*/ 1801267 h 9204742"/>
                <a:gd name="connsiteX7-103" fmla="*/ 2407459 w 5262363"/>
                <a:gd name="connsiteY7-104" fmla="*/ 1801267 h 9204742"/>
                <a:gd name="connsiteX8-105" fmla="*/ 3868856 w 5262363"/>
                <a:gd name="connsiteY8-106" fmla="*/ 0 h 9204742"/>
                <a:gd name="connsiteX0-107" fmla="*/ 3868856 w 5262363"/>
                <a:gd name="connsiteY0-108" fmla="*/ 0 h 9204742"/>
                <a:gd name="connsiteX1-109" fmla="*/ 5262363 w 5262363"/>
                <a:gd name="connsiteY1-110" fmla="*/ 1801267 h 9204742"/>
                <a:gd name="connsiteX2-111" fmla="*/ 4565623 w 5262363"/>
                <a:gd name="connsiteY2-112" fmla="*/ 1801267 h 9204742"/>
                <a:gd name="connsiteX3-113" fmla="*/ 4564131 w 5262363"/>
                <a:gd name="connsiteY3-114" fmla="*/ 1847578 h 9204742"/>
                <a:gd name="connsiteX4-115" fmla="*/ 0 w 5262363"/>
                <a:gd name="connsiteY4-116" fmla="*/ 9204742 h 9204742"/>
                <a:gd name="connsiteX5-117" fmla="*/ 3162124 w 5262363"/>
                <a:gd name="connsiteY5-118" fmla="*/ 1864235 h 9204742"/>
                <a:gd name="connsiteX6-119" fmla="*/ 3167252 w 5262363"/>
                <a:gd name="connsiteY6-120" fmla="*/ 1801267 h 9204742"/>
                <a:gd name="connsiteX7-121" fmla="*/ 2407459 w 5262363"/>
                <a:gd name="connsiteY7-122" fmla="*/ 1801267 h 9204742"/>
                <a:gd name="connsiteX8-123" fmla="*/ 3868856 w 5262363"/>
                <a:gd name="connsiteY8-124" fmla="*/ 0 h 9204742"/>
                <a:gd name="connsiteX0-125" fmla="*/ 3828264 w 5221771"/>
                <a:gd name="connsiteY0-126" fmla="*/ 0 h 9299503"/>
                <a:gd name="connsiteX1-127" fmla="*/ 5221771 w 5221771"/>
                <a:gd name="connsiteY1-128" fmla="*/ 1801267 h 9299503"/>
                <a:gd name="connsiteX2-129" fmla="*/ 4525031 w 5221771"/>
                <a:gd name="connsiteY2-130" fmla="*/ 1801267 h 9299503"/>
                <a:gd name="connsiteX3-131" fmla="*/ 4523539 w 5221771"/>
                <a:gd name="connsiteY3-132" fmla="*/ 1847578 h 9299503"/>
                <a:gd name="connsiteX4-133" fmla="*/ -1 w 5221771"/>
                <a:gd name="connsiteY4-134" fmla="*/ 9299502 h 9299503"/>
                <a:gd name="connsiteX5-135" fmla="*/ 3121532 w 5221771"/>
                <a:gd name="connsiteY5-136" fmla="*/ 1864235 h 9299503"/>
                <a:gd name="connsiteX6-137" fmla="*/ 3126660 w 5221771"/>
                <a:gd name="connsiteY6-138" fmla="*/ 1801267 h 9299503"/>
                <a:gd name="connsiteX7-139" fmla="*/ 2366867 w 5221771"/>
                <a:gd name="connsiteY7-140" fmla="*/ 1801267 h 9299503"/>
                <a:gd name="connsiteX8-141" fmla="*/ 3828264 w 5221771"/>
                <a:gd name="connsiteY8-142" fmla="*/ 0 h 9299503"/>
                <a:gd name="connsiteX0-143" fmla="*/ 3828265 w 5221772"/>
                <a:gd name="connsiteY0-144" fmla="*/ 0 h 9299502"/>
                <a:gd name="connsiteX1-145" fmla="*/ 5221772 w 5221772"/>
                <a:gd name="connsiteY1-146" fmla="*/ 1801267 h 9299502"/>
                <a:gd name="connsiteX2-147" fmla="*/ 4525032 w 5221772"/>
                <a:gd name="connsiteY2-148" fmla="*/ 1801267 h 9299502"/>
                <a:gd name="connsiteX3-149" fmla="*/ 4523540 w 5221772"/>
                <a:gd name="connsiteY3-150" fmla="*/ 1847578 h 9299502"/>
                <a:gd name="connsiteX4-151" fmla="*/ 0 w 5221772"/>
                <a:gd name="connsiteY4-152" fmla="*/ 9299502 h 9299502"/>
                <a:gd name="connsiteX5-153" fmla="*/ 3121533 w 5221772"/>
                <a:gd name="connsiteY5-154" fmla="*/ 1864235 h 9299502"/>
                <a:gd name="connsiteX6-155" fmla="*/ 3126661 w 5221772"/>
                <a:gd name="connsiteY6-156" fmla="*/ 1801267 h 9299502"/>
                <a:gd name="connsiteX7-157" fmla="*/ 2366868 w 5221772"/>
                <a:gd name="connsiteY7-158" fmla="*/ 1801267 h 9299502"/>
                <a:gd name="connsiteX8-159" fmla="*/ 3828265 w 5221772"/>
                <a:gd name="connsiteY8-160" fmla="*/ 0 h 9299502"/>
                <a:gd name="connsiteX0-161" fmla="*/ 3828265 w 5221772"/>
                <a:gd name="connsiteY0-162" fmla="*/ 0 h 9299502"/>
                <a:gd name="connsiteX1-163" fmla="*/ 5221772 w 5221772"/>
                <a:gd name="connsiteY1-164" fmla="*/ 1801267 h 9299502"/>
                <a:gd name="connsiteX2-165" fmla="*/ 4525032 w 5221772"/>
                <a:gd name="connsiteY2-166" fmla="*/ 1801267 h 9299502"/>
                <a:gd name="connsiteX3-167" fmla="*/ 4523540 w 5221772"/>
                <a:gd name="connsiteY3-168" fmla="*/ 1847578 h 9299502"/>
                <a:gd name="connsiteX4-169" fmla="*/ 0 w 5221772"/>
                <a:gd name="connsiteY4-170" fmla="*/ 9299502 h 9299502"/>
                <a:gd name="connsiteX5-171" fmla="*/ 3121533 w 5221772"/>
                <a:gd name="connsiteY5-172" fmla="*/ 1864235 h 9299502"/>
                <a:gd name="connsiteX6-173" fmla="*/ 3126661 w 5221772"/>
                <a:gd name="connsiteY6-174" fmla="*/ 1801267 h 9299502"/>
                <a:gd name="connsiteX7-175" fmla="*/ 2366868 w 5221772"/>
                <a:gd name="connsiteY7-176" fmla="*/ 1801267 h 9299502"/>
                <a:gd name="connsiteX8-177" fmla="*/ 3828265 w 5221772"/>
                <a:gd name="connsiteY8-178" fmla="*/ 0 h 9299502"/>
                <a:gd name="connsiteX0-179" fmla="*/ 3828265 w 5221772"/>
                <a:gd name="connsiteY0-180" fmla="*/ 0 h 9299502"/>
                <a:gd name="connsiteX1-181" fmla="*/ 5221772 w 5221772"/>
                <a:gd name="connsiteY1-182" fmla="*/ 1801267 h 9299502"/>
                <a:gd name="connsiteX2-183" fmla="*/ 4525032 w 5221772"/>
                <a:gd name="connsiteY2-184" fmla="*/ 1801267 h 9299502"/>
                <a:gd name="connsiteX3-185" fmla="*/ 4523540 w 5221772"/>
                <a:gd name="connsiteY3-186" fmla="*/ 1847578 h 9299502"/>
                <a:gd name="connsiteX4-187" fmla="*/ 0 w 5221772"/>
                <a:gd name="connsiteY4-188" fmla="*/ 9299502 h 9299502"/>
                <a:gd name="connsiteX5-189" fmla="*/ 3121533 w 5221772"/>
                <a:gd name="connsiteY5-190" fmla="*/ 1864235 h 9299502"/>
                <a:gd name="connsiteX6-191" fmla="*/ 3126661 w 5221772"/>
                <a:gd name="connsiteY6-192" fmla="*/ 1801267 h 9299502"/>
                <a:gd name="connsiteX7-193" fmla="*/ 2366868 w 5221772"/>
                <a:gd name="connsiteY7-194" fmla="*/ 1801267 h 9299502"/>
                <a:gd name="connsiteX8-195" fmla="*/ 3828265 w 5221772"/>
                <a:gd name="connsiteY8-196" fmla="*/ 0 h 9299502"/>
                <a:gd name="connsiteX0-197" fmla="*/ 3828265 w 5221772"/>
                <a:gd name="connsiteY0-198" fmla="*/ 0 h 9299502"/>
                <a:gd name="connsiteX1-199" fmla="*/ 5221772 w 5221772"/>
                <a:gd name="connsiteY1-200" fmla="*/ 1801267 h 9299502"/>
                <a:gd name="connsiteX2-201" fmla="*/ 4525032 w 5221772"/>
                <a:gd name="connsiteY2-202" fmla="*/ 1801267 h 9299502"/>
                <a:gd name="connsiteX3-203" fmla="*/ 4523540 w 5221772"/>
                <a:gd name="connsiteY3-204" fmla="*/ 1847578 h 9299502"/>
                <a:gd name="connsiteX4-205" fmla="*/ 0 w 5221772"/>
                <a:gd name="connsiteY4-206" fmla="*/ 9299502 h 9299502"/>
                <a:gd name="connsiteX5-207" fmla="*/ 3121533 w 5221772"/>
                <a:gd name="connsiteY5-208" fmla="*/ 1864235 h 9299502"/>
                <a:gd name="connsiteX6-209" fmla="*/ 3126661 w 5221772"/>
                <a:gd name="connsiteY6-210" fmla="*/ 1801267 h 9299502"/>
                <a:gd name="connsiteX7-211" fmla="*/ 2366868 w 5221772"/>
                <a:gd name="connsiteY7-212" fmla="*/ 1801267 h 9299502"/>
                <a:gd name="connsiteX8-213" fmla="*/ 3828265 w 5221772"/>
                <a:gd name="connsiteY8-214" fmla="*/ 0 h 9299502"/>
                <a:gd name="connsiteX0-215" fmla="*/ 3828265 w 5221772"/>
                <a:gd name="connsiteY0-216" fmla="*/ 0 h 9299502"/>
                <a:gd name="connsiteX1-217" fmla="*/ 5221772 w 5221772"/>
                <a:gd name="connsiteY1-218" fmla="*/ 1801267 h 9299502"/>
                <a:gd name="connsiteX2-219" fmla="*/ 4525032 w 5221772"/>
                <a:gd name="connsiteY2-220" fmla="*/ 1801267 h 9299502"/>
                <a:gd name="connsiteX3-221" fmla="*/ 4523540 w 5221772"/>
                <a:gd name="connsiteY3-222" fmla="*/ 1847578 h 9299502"/>
                <a:gd name="connsiteX4-223" fmla="*/ 0 w 5221772"/>
                <a:gd name="connsiteY4-224" fmla="*/ 9299502 h 9299502"/>
                <a:gd name="connsiteX5-225" fmla="*/ 3121533 w 5221772"/>
                <a:gd name="connsiteY5-226" fmla="*/ 1864235 h 9299502"/>
                <a:gd name="connsiteX6-227" fmla="*/ 3126661 w 5221772"/>
                <a:gd name="connsiteY6-228" fmla="*/ 1801267 h 9299502"/>
                <a:gd name="connsiteX7-229" fmla="*/ 2366868 w 5221772"/>
                <a:gd name="connsiteY7-230" fmla="*/ 1801267 h 9299502"/>
                <a:gd name="connsiteX8-231" fmla="*/ 3828265 w 5221772"/>
                <a:gd name="connsiteY8-232" fmla="*/ 0 h 9299502"/>
                <a:gd name="connsiteX0-233" fmla="*/ 4239505 w 5633012"/>
                <a:gd name="connsiteY0-234" fmla="*/ 0 h 10063093"/>
                <a:gd name="connsiteX1-235" fmla="*/ 5633012 w 5633012"/>
                <a:gd name="connsiteY1-236" fmla="*/ 1801267 h 10063093"/>
                <a:gd name="connsiteX2-237" fmla="*/ 4936272 w 5633012"/>
                <a:gd name="connsiteY2-238" fmla="*/ 1801267 h 10063093"/>
                <a:gd name="connsiteX3-239" fmla="*/ 4934780 w 5633012"/>
                <a:gd name="connsiteY3-240" fmla="*/ 1847578 h 10063093"/>
                <a:gd name="connsiteX4-241" fmla="*/ 0 w 5633012"/>
                <a:gd name="connsiteY4-242" fmla="*/ 10063093 h 10063093"/>
                <a:gd name="connsiteX5-243" fmla="*/ 3532773 w 5633012"/>
                <a:gd name="connsiteY5-244" fmla="*/ 1864235 h 10063093"/>
                <a:gd name="connsiteX6-245" fmla="*/ 3537901 w 5633012"/>
                <a:gd name="connsiteY6-246" fmla="*/ 1801267 h 10063093"/>
                <a:gd name="connsiteX7-247" fmla="*/ 2778108 w 5633012"/>
                <a:gd name="connsiteY7-248" fmla="*/ 1801267 h 10063093"/>
                <a:gd name="connsiteX8-249" fmla="*/ 4239505 w 5633012"/>
                <a:gd name="connsiteY8-250" fmla="*/ 0 h 10063093"/>
                <a:gd name="connsiteX0-251" fmla="*/ 4344521 w 5738028"/>
                <a:gd name="connsiteY0-252" fmla="*/ 0 h 10143555"/>
                <a:gd name="connsiteX1-253" fmla="*/ 5738028 w 5738028"/>
                <a:gd name="connsiteY1-254" fmla="*/ 1801267 h 10143555"/>
                <a:gd name="connsiteX2-255" fmla="*/ 5041288 w 5738028"/>
                <a:gd name="connsiteY2-256" fmla="*/ 1801267 h 10143555"/>
                <a:gd name="connsiteX3-257" fmla="*/ 5039796 w 5738028"/>
                <a:gd name="connsiteY3-258" fmla="*/ 1847578 h 10143555"/>
                <a:gd name="connsiteX4-259" fmla="*/ 0 w 5738028"/>
                <a:gd name="connsiteY4-260" fmla="*/ 10143555 h 10143555"/>
                <a:gd name="connsiteX5-261" fmla="*/ 3637789 w 5738028"/>
                <a:gd name="connsiteY5-262" fmla="*/ 1864235 h 10143555"/>
                <a:gd name="connsiteX6-263" fmla="*/ 3642917 w 5738028"/>
                <a:gd name="connsiteY6-264" fmla="*/ 1801267 h 10143555"/>
                <a:gd name="connsiteX7-265" fmla="*/ 2883124 w 5738028"/>
                <a:gd name="connsiteY7-266" fmla="*/ 1801267 h 10143555"/>
                <a:gd name="connsiteX8-267" fmla="*/ 4344521 w 5738028"/>
                <a:gd name="connsiteY8-268" fmla="*/ 0 h 1014355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33" y="connsiteY8-34"/>
                </a:cxn>
              </a:cxnLst>
              <a:rect l="l" t="t" r="r" b="b"/>
              <a:pathLst>
                <a:path w="3753" h="4676">
                  <a:moveTo>
                    <a:pt x="1921" y="0"/>
                  </a:moveTo>
                  <a:lnTo>
                    <a:pt x="3753" y="2693"/>
                  </a:lnTo>
                  <a:lnTo>
                    <a:pt x="2837" y="2693"/>
                  </a:lnTo>
                  <a:cubicBezTo>
                    <a:pt x="2837" y="2704"/>
                    <a:pt x="2837" y="2719"/>
                    <a:pt x="2836" y="2728"/>
                  </a:cubicBezTo>
                  <a:cubicBezTo>
                    <a:pt x="2836" y="2739"/>
                    <a:pt x="2836" y="2753"/>
                    <a:pt x="2835" y="2762"/>
                  </a:cubicBezTo>
                  <a:cubicBezTo>
                    <a:pt x="2866" y="2949"/>
                    <a:pt x="2481" y="4238"/>
                    <a:pt x="2321" y="4676"/>
                  </a:cubicBezTo>
                  <a:lnTo>
                    <a:pt x="652" y="4586"/>
                  </a:lnTo>
                  <a:cubicBezTo>
                    <a:pt x="860" y="3727"/>
                    <a:pt x="1005" y="2877"/>
                    <a:pt x="999" y="2693"/>
                  </a:cubicBezTo>
                  <a:lnTo>
                    <a:pt x="0" y="2693"/>
                  </a:lnTo>
                  <a:lnTo>
                    <a:pt x="1921" y="0"/>
                  </a:lnTo>
                  <a:close/>
                </a:path>
              </a:pathLst>
            </a:custGeom>
            <a:gradFill flip="none" rotWithShape="1">
              <a:gsLst>
                <a:gs pos="23000">
                  <a:srgbClr val="3368FF"/>
                </a:gs>
                <a:gs pos="100000">
                  <a:srgbClr val="B3D4FE"/>
                </a:gs>
              </a:gsLst>
              <a:lin ang="2700000"/>
            </a:gradFill>
            <a:ln w="38100">
              <a:noFill/>
            </a:ln>
            <a:effectLst>
              <a:outerShdw blurRad="411480" dist="123444" dir="5400000" sx="108000" sy="108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sz="1945">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20" name="不完整圆 235"/>
            <p:cNvSpPr/>
            <p:nvPr/>
          </p:nvSpPr>
          <p:spPr>
            <a:xfrm rot="2427399">
              <a:off x="5102" y="8509"/>
              <a:ext cx="1959" cy="562"/>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a:gsLst>
                <a:gs pos="0">
                  <a:srgbClr val="FFFFFF">
                    <a:alpha val="0"/>
                  </a:srgbClr>
                </a:gs>
                <a:gs pos="100000">
                  <a:srgbClr val="FFFFFF">
                    <a:alpha val="20000"/>
                  </a:srgbClr>
                </a:gs>
              </a:gsLst>
              <a:lin ang="5400000" scaled="1"/>
            </a:gradFill>
            <a:ln w="57150">
              <a:gradFill flip="none" rotWithShape="1">
                <a:gsLst>
                  <a:gs pos="0">
                    <a:srgbClr val="3368FF">
                      <a:alpha val="0"/>
                    </a:srgbClr>
                  </a:gs>
                  <a:gs pos="100000">
                    <a:srgbClr val="3368FF"/>
                  </a:gs>
                </a:gsLst>
                <a:lin ang="5400000" scaled="1"/>
                <a:tileRect/>
              </a:gradFill>
              <a:prstDash val="solid"/>
            </a:ln>
            <a:effectLst>
              <a:outerShdw blurRad="63500" sx="102000" sy="102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7" name="不完整圆 235"/>
            <p:cNvSpPr/>
            <p:nvPr/>
          </p:nvSpPr>
          <p:spPr>
            <a:xfrm rot="2506533">
              <a:off x="7461" y="7599"/>
              <a:ext cx="2436" cy="799"/>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a:gsLst>
                <a:gs pos="0">
                  <a:srgbClr val="FFFFFF">
                    <a:alpha val="0"/>
                  </a:srgbClr>
                </a:gs>
                <a:gs pos="100000">
                  <a:srgbClr val="FFFFFF">
                    <a:alpha val="20000"/>
                  </a:srgbClr>
                </a:gs>
              </a:gsLst>
              <a:lin ang="5400000" scaled="1"/>
            </a:gradFill>
            <a:ln w="57150">
              <a:gradFill flip="none" rotWithShape="1">
                <a:gsLst>
                  <a:gs pos="0">
                    <a:srgbClr val="3368FF">
                      <a:alpha val="0"/>
                    </a:srgbClr>
                  </a:gs>
                  <a:gs pos="100000">
                    <a:srgbClr val="3368FF"/>
                  </a:gs>
                </a:gsLst>
                <a:lin ang="5400000" scaled="1"/>
                <a:tileRect/>
              </a:gradFill>
              <a:prstDash val="solid"/>
            </a:ln>
            <a:effectLst>
              <a:outerShdw blurRad="63500" sx="102000" sy="102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22" name="不完整圆 235"/>
            <p:cNvSpPr/>
            <p:nvPr/>
          </p:nvSpPr>
          <p:spPr>
            <a:xfrm rot="2653453">
              <a:off x="9281" y="6536"/>
              <a:ext cx="3098" cy="114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a:gsLst>
                <a:gs pos="0">
                  <a:srgbClr val="FFFFFF">
                    <a:alpha val="0"/>
                  </a:srgbClr>
                </a:gs>
                <a:gs pos="100000">
                  <a:srgbClr val="FFFFFF">
                    <a:alpha val="20000"/>
                  </a:srgbClr>
                </a:gs>
              </a:gsLst>
              <a:lin ang="5400000" scaled="1"/>
            </a:gradFill>
            <a:ln w="57150">
              <a:gradFill flip="none" rotWithShape="1">
                <a:gsLst>
                  <a:gs pos="0">
                    <a:srgbClr val="3368FF">
                      <a:alpha val="0"/>
                    </a:srgbClr>
                  </a:gs>
                  <a:gs pos="100000">
                    <a:srgbClr val="3368FF"/>
                  </a:gs>
                </a:gsLst>
                <a:lin ang="5400000" scaled="1"/>
                <a:tileRect/>
              </a:gradFill>
              <a:prstDash val="solid"/>
            </a:ln>
            <a:effectLst>
              <a:outerShdw blurRad="63500" sx="102000" sy="102000" algn="ctr"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lvl="0" algn="ctr">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6" name="文本框 5"/>
            <p:cNvSpPr txBox="1"/>
            <p:nvPr/>
          </p:nvSpPr>
          <p:spPr>
            <a:xfrm rot="20700000">
              <a:off x="3537" y="8860"/>
              <a:ext cx="2162" cy="483"/>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1400" b="1" dirty="0">
                  <a:solidFill>
                    <a:srgbClr val="FFFFFF"/>
                  </a:solidFill>
                  <a:latin typeface="微软雅黑"/>
                  <a:ea typeface="微软雅黑"/>
                  <a:cs typeface="微软雅黑"/>
                </a:rPr>
                <a:t>第一阶段</a:t>
              </a:r>
              <a:endParaRPr kumimoji="1" lang="zh-CN" altLang="en-US" sz="1400" b="1" dirty="0">
                <a:solidFill>
                  <a:srgbClr val="FFFFFF"/>
                </a:solidFill>
                <a:latin typeface="微软雅黑"/>
                <a:ea typeface="微软雅黑"/>
                <a:cs typeface="微软雅黑"/>
              </a:endParaRPr>
            </a:p>
          </p:txBody>
        </p:sp>
        <p:sp>
          <p:nvSpPr>
            <p:cNvPr id="8" name="文本框 7"/>
            <p:cNvSpPr txBox="1"/>
            <p:nvPr/>
          </p:nvSpPr>
          <p:spPr>
            <a:xfrm rot="20460000">
              <a:off x="5998" y="8124"/>
              <a:ext cx="2162" cy="483"/>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1400" b="1" dirty="0">
                  <a:solidFill>
                    <a:srgbClr val="FFFFFF"/>
                  </a:solidFill>
                  <a:latin typeface="微软雅黑"/>
                  <a:ea typeface="微软雅黑"/>
                  <a:cs typeface="微软雅黑"/>
                </a:rPr>
                <a:t>第二阶段</a:t>
              </a:r>
              <a:endParaRPr kumimoji="1" lang="zh-CN" altLang="en-US" sz="1400" b="1" dirty="0">
                <a:solidFill>
                  <a:srgbClr val="FFFFFF"/>
                </a:solidFill>
                <a:latin typeface="微软雅黑"/>
                <a:ea typeface="微软雅黑"/>
                <a:cs typeface="微软雅黑"/>
              </a:endParaRPr>
            </a:p>
          </p:txBody>
        </p:sp>
        <p:sp>
          <p:nvSpPr>
            <p:cNvPr id="10" name="文本框 9"/>
            <p:cNvSpPr txBox="1"/>
            <p:nvPr/>
          </p:nvSpPr>
          <p:spPr>
            <a:xfrm rot="20340000">
              <a:off x="8195" y="7395"/>
              <a:ext cx="2162" cy="483"/>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1400" b="1" dirty="0">
                  <a:solidFill>
                    <a:srgbClr val="FFFFFF"/>
                  </a:solidFill>
                  <a:latin typeface="微软雅黑"/>
                  <a:ea typeface="微软雅黑"/>
                  <a:cs typeface="微软雅黑"/>
                </a:rPr>
                <a:t>第三阶段</a:t>
              </a:r>
              <a:endParaRPr kumimoji="1" lang="zh-CN" altLang="en-US" sz="1400" b="1" dirty="0">
                <a:solidFill>
                  <a:srgbClr val="FFFFFF"/>
                </a:solidFill>
                <a:latin typeface="微软雅黑"/>
                <a:ea typeface="微软雅黑"/>
                <a:cs typeface="微软雅黑"/>
              </a:endParaRPr>
            </a:p>
          </p:txBody>
        </p:sp>
        <p:sp>
          <p:nvSpPr>
            <p:cNvPr id="11" name="文本框 10"/>
            <p:cNvSpPr txBox="1"/>
            <p:nvPr/>
          </p:nvSpPr>
          <p:spPr>
            <a:xfrm rot="20160000">
              <a:off x="10158" y="6516"/>
              <a:ext cx="2162" cy="483"/>
            </a:xfrm>
            <a:prstGeom prst="rect">
              <a:avLst/>
            </a:prstGeom>
            <a:noFill/>
          </p:spPr>
          <p:txBody>
            <a:bodyPr wrap="square" rtlCol="0">
              <a:spAutoFit/>
            </a:bodyPr>
            <a:lstStyle/>
            <a:p>
              <a:pPr algn="ctr">
                <a:defRPr>
                  <a:solidFill>
                    <a:srgbClr val="FFFFFF"/>
                  </a:solidFill>
                  <a:latin typeface="微软雅黑"/>
                  <a:ea typeface="微软雅黑"/>
                  <a:cs typeface="微软雅黑"/>
                </a:defRPr>
              </a:pPr>
              <a:r>
                <a:rPr kumimoji="1" lang="zh-CN" altLang="en-US" sz="1400" b="1" dirty="0">
                  <a:solidFill>
                    <a:srgbClr val="FFFFFF"/>
                  </a:solidFill>
                  <a:latin typeface="微软雅黑"/>
                  <a:ea typeface="微软雅黑"/>
                  <a:cs typeface="微软雅黑"/>
                </a:rPr>
                <a:t>第四阶段</a:t>
              </a:r>
              <a:endParaRPr kumimoji="1" lang="zh-CN" altLang="en-US" sz="1400" b="1" dirty="0">
                <a:solidFill>
                  <a:srgbClr val="FFFFFF"/>
                </a:solidFill>
                <a:latin typeface="微软雅黑"/>
                <a:ea typeface="微软雅黑"/>
                <a:cs typeface="微软雅黑"/>
              </a:endParaRPr>
            </a:p>
          </p:txBody>
        </p:sp>
        <p:sp>
          <p:nvSpPr>
            <p:cNvPr id="17" name="文本框 16"/>
            <p:cNvSpPr txBox="1"/>
            <p:nvPr/>
          </p:nvSpPr>
          <p:spPr>
            <a:xfrm rot="19980000">
              <a:off x="12973" y="5003"/>
              <a:ext cx="2162" cy="531"/>
            </a:xfrm>
            <a:prstGeom prst="rect">
              <a:avLst/>
            </a:prstGeom>
            <a:noFill/>
          </p:spPr>
          <p:txBody>
            <a:bodyPr wrap="square" rtlCol="0">
              <a:spAutoFit/>
            </a:bodyPr>
            <a:lstStyle/>
            <a:p>
              <a:pPr algn="ctr">
                <a:defRPr>
                  <a:latin typeface="微软雅黑"/>
                  <a:ea typeface="微软雅黑"/>
                  <a:cs typeface="微软雅黑"/>
                </a:defRPr>
              </a:pPr>
              <a:r>
                <a:rPr kumimoji="1" lang="zh-CN" altLang="en-US" sz="1600" b="1" dirty="0">
                  <a:solidFill>
                    <a:srgbClr val="383838"/>
                  </a:solidFill>
                  <a:latin typeface="微软雅黑"/>
                  <a:ea typeface="微软雅黑"/>
                  <a:cs typeface="微软雅黑"/>
                </a:rPr>
                <a:t>第五阶段</a:t>
              </a:r>
              <a:endParaRPr kumimoji="1" lang="zh-CN" altLang="en-US" sz="1600" b="1" dirty="0">
                <a:solidFill>
                  <a:srgbClr val="383838"/>
                </a:solidFill>
                <a:latin typeface="微软雅黑"/>
                <a:ea typeface="微软雅黑"/>
                <a:cs typeface="微软雅黑"/>
              </a:endParaRPr>
            </a:p>
          </p:txBody>
        </p:sp>
        <p:sp>
          <p:nvSpPr>
            <p:cNvPr id="27" name="不完整圆 235"/>
            <p:cNvSpPr/>
            <p:nvPr/>
          </p:nvSpPr>
          <p:spPr>
            <a:xfrm rot="2653453">
              <a:off x="11519" y="5042"/>
              <a:ext cx="3774" cy="1395"/>
            </a:xfrm>
            <a:custGeom>
              <a:avLst/>
              <a:gdLst>
                <a:gd name="connsiteX0" fmla="*/ 5903762 w 7865462"/>
                <a:gd name="connsiteY0" fmla="*/ 108533 h 1611954"/>
                <a:gd name="connsiteX1" fmla="*/ 4523377 w 7865462"/>
                <a:gd name="connsiteY1" fmla="*/ 1602812 h 1611954"/>
                <a:gd name="connsiteX2" fmla="*/ 3345359 w 7865462"/>
                <a:gd name="connsiteY2" fmla="*/ 1602914 h 1611954"/>
                <a:gd name="connsiteX3" fmla="*/ 1948886 w 7865462"/>
                <a:gd name="connsiteY3" fmla="*/ 110061 h 1611954"/>
                <a:gd name="connsiteX4" fmla="*/ 3932731 w 7865462"/>
                <a:gd name="connsiteY4" fmla="*/ 805977 h 1611954"/>
                <a:gd name="connsiteX5" fmla="*/ 5903762 w 7865462"/>
                <a:gd name="connsiteY5" fmla="*/ 108533 h 1611954"/>
                <a:gd name="connsiteX0-1" fmla="*/ 3935506 w 7870963"/>
                <a:gd name="connsiteY0-2" fmla="*/ 697444 h 1503420"/>
                <a:gd name="connsiteX1-3" fmla="*/ 5906537 w 7870963"/>
                <a:gd name="connsiteY1-4" fmla="*/ 0 h 1503420"/>
                <a:gd name="connsiteX2-5" fmla="*/ 4526152 w 7870963"/>
                <a:gd name="connsiteY2-6" fmla="*/ 1494279 h 1503420"/>
                <a:gd name="connsiteX3-7" fmla="*/ 3348134 w 7870963"/>
                <a:gd name="connsiteY3-8" fmla="*/ 1494381 h 1503420"/>
                <a:gd name="connsiteX4-9" fmla="*/ 1951661 w 7870963"/>
                <a:gd name="connsiteY4-10" fmla="*/ 1528 h 1503420"/>
                <a:gd name="connsiteX5-11" fmla="*/ 4026946 w 7870963"/>
                <a:gd name="connsiteY5-12" fmla="*/ 788884 h 1503420"/>
                <a:gd name="connsiteX0-13" fmla="*/ 3935506 w 7870963"/>
                <a:gd name="connsiteY0-14" fmla="*/ 697444 h 1503420"/>
                <a:gd name="connsiteX1-15" fmla="*/ 5906537 w 7870963"/>
                <a:gd name="connsiteY1-16" fmla="*/ 0 h 1503420"/>
                <a:gd name="connsiteX2-17" fmla="*/ 4526152 w 7870963"/>
                <a:gd name="connsiteY2-18" fmla="*/ 1494279 h 1503420"/>
                <a:gd name="connsiteX3-19" fmla="*/ 3348134 w 7870963"/>
                <a:gd name="connsiteY3-20" fmla="*/ 1494381 h 1503420"/>
                <a:gd name="connsiteX4-21" fmla="*/ 1951661 w 7870963"/>
                <a:gd name="connsiteY4-22" fmla="*/ 1528 h 1503420"/>
                <a:gd name="connsiteX0-23" fmla="*/ 5906537 w 7870963"/>
                <a:gd name="connsiteY0-24" fmla="*/ 0 h 1503420"/>
                <a:gd name="connsiteX1-25" fmla="*/ 4526152 w 7870963"/>
                <a:gd name="connsiteY1-26" fmla="*/ 1494279 h 1503420"/>
                <a:gd name="connsiteX2-27" fmla="*/ 3348134 w 7870963"/>
                <a:gd name="connsiteY2-28" fmla="*/ 1494381 h 1503420"/>
                <a:gd name="connsiteX3-29" fmla="*/ 1951661 w 7870963"/>
                <a:gd name="connsiteY3-30" fmla="*/ 1528 h 1503420"/>
              </a:gdLst>
              <a:ahLst/>
              <a:cxnLst>
                <a:cxn ang="0">
                  <a:pos x="connsiteX0-1" y="connsiteY0-2"/>
                </a:cxn>
                <a:cxn ang="0">
                  <a:pos x="connsiteX1-3" y="connsiteY1-4"/>
                </a:cxn>
                <a:cxn ang="0">
                  <a:pos x="connsiteX2-5" y="connsiteY2-6"/>
                </a:cxn>
                <a:cxn ang="0">
                  <a:pos x="connsiteX3-7" y="connsiteY3-8"/>
                </a:cxn>
              </a:cxnLst>
              <a:rect l="l" t="t" r="r" b="b"/>
              <a:pathLst>
                <a:path w="7870963" h="1503420">
                  <a:moveTo>
                    <a:pt x="5906537" y="0"/>
                  </a:moveTo>
                  <a:cubicBezTo>
                    <a:pt x="9121776" y="381640"/>
                    <a:pt x="8199590" y="1379915"/>
                    <a:pt x="4526152" y="1494279"/>
                  </a:cubicBezTo>
                  <a:cubicBezTo>
                    <a:pt x="4135731" y="1506434"/>
                    <a:pt x="3738605" y="1506468"/>
                    <a:pt x="3348134" y="1494381"/>
                  </a:cubicBezTo>
                  <a:cubicBezTo>
                    <a:pt x="-320076" y="1380828"/>
                    <a:pt x="-1251561" y="385054"/>
                    <a:pt x="1951661" y="1528"/>
                  </a:cubicBezTo>
                </a:path>
              </a:pathLst>
            </a:custGeom>
            <a:gradFill>
              <a:gsLst>
                <a:gs pos="0">
                  <a:srgbClr val="FFFFFF">
                    <a:alpha val="0"/>
                  </a:srgbClr>
                </a:gs>
                <a:gs pos="100000">
                  <a:srgbClr val="FFFFFF">
                    <a:alpha val="20000"/>
                  </a:srgbClr>
                </a:gs>
              </a:gsLst>
              <a:lin ang="5400000" scaled="1"/>
            </a:gradFill>
            <a:ln w="57150">
              <a:gradFill flip="none" rotWithShape="1">
                <a:gsLst>
                  <a:gs pos="0">
                    <a:srgbClr val="B3D4FE">
                      <a:alpha val="0"/>
                    </a:srgbClr>
                  </a:gs>
                  <a:gs pos="100000">
                    <a:srgbClr val="B3D4FE"/>
                  </a:gs>
                </a:gsLst>
                <a:lin ang="5400000" scaled="1"/>
                <a:tileRect/>
              </a:gradFill>
              <a:prstDash val="solid"/>
            </a:ln>
            <a:effectLst>
              <a:outerShdw blurRad="63500" sx="102000" sy="102000" algn="ctr" rotWithShape="0">
                <a:srgbClr val="B3D4FE">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dirty="0">
                <a:latin typeface="微软雅黑"/>
                <a:ea typeface="微软雅黑"/>
                <a:cs typeface="微软雅黑"/>
              </a:endParaRPr>
            </a:p>
          </p:txBody>
        </p:sp>
      </p:grpSp>
      <p:grpSp>
        <p:nvGrpSpPr>
          <p:cNvPr id="144" name="组合 143"/>
          <p:cNvGrpSpPr/>
          <p:nvPr/>
        </p:nvGrpSpPr>
        <p:grpSpPr>
          <a:xfrm>
            <a:off x="1828800" y="5918200"/>
            <a:ext cx="1085215" cy="405765"/>
            <a:chOff x="4637" y="6748"/>
            <a:chExt cx="1709" cy="639"/>
          </a:xfrm>
        </p:grpSpPr>
        <p:sp>
          <p:nvSpPr>
            <p:cNvPr id="272" name="任意多边形: 形状 271"/>
            <p:cNvSpPr/>
            <p:nvPr/>
          </p:nvSpPr>
          <p:spPr>
            <a:xfrm>
              <a:off x="4637" y="6748"/>
              <a:ext cx="1603" cy="548"/>
            </a:xfrm>
            <a:custGeom>
              <a:avLst/>
              <a:gdLst>
                <a:gd name="connsiteX0" fmla="*/ 1400537 w 1400537"/>
                <a:gd name="connsiteY0" fmla="*/ 243069 h 243069"/>
                <a:gd name="connsiteX1" fmla="*/ 0 w 1400537"/>
                <a:gd name="connsiteY1" fmla="*/ 243069 h 243069"/>
                <a:gd name="connsiteX2" fmla="*/ 0 w 1400537"/>
                <a:gd name="connsiteY2" fmla="*/ 0 h 243069"/>
              </a:gdLst>
              <a:ahLst/>
              <a:cxnLst>
                <a:cxn ang="0">
                  <a:pos x="connsiteX0" y="connsiteY0"/>
                </a:cxn>
                <a:cxn ang="0">
                  <a:pos x="connsiteX1" y="connsiteY1"/>
                </a:cxn>
                <a:cxn ang="0">
                  <a:pos x="connsiteX2" y="connsiteY2"/>
                </a:cxn>
              </a:cxnLst>
              <a:rect l="l" t="t" r="r" b="b"/>
              <a:pathLst>
                <a:path w="1400537" h="243069">
                  <a:moveTo>
                    <a:pt x="1400537" y="243069"/>
                  </a:moveTo>
                  <a:lnTo>
                    <a:pt x="0" y="243069"/>
                  </a:lnTo>
                  <a:lnTo>
                    <a:pt x="0" y="0"/>
                  </a:lnTo>
                </a:path>
              </a:pathLst>
            </a:custGeom>
            <a:noFill/>
            <a:ln w="11938">
              <a:solidFill>
                <a:srgbClr val="DCDCDC"/>
              </a:solidFill>
              <a:prstDash val="sysDash"/>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grpSp>
          <p:nvGrpSpPr>
            <p:cNvPr id="286" name="组合 285"/>
            <p:cNvGrpSpPr/>
            <p:nvPr/>
          </p:nvGrpSpPr>
          <p:grpSpPr>
            <a:xfrm rot="0">
              <a:off x="6170" y="7197"/>
              <a:ext cx="176" cy="190"/>
              <a:chOff x="4021244" y="6097130"/>
              <a:chExt cx="236123" cy="236123"/>
            </a:xfrm>
          </p:grpSpPr>
          <p:sp>
            <p:nvSpPr>
              <p:cNvPr id="284" name="椭圆 283"/>
              <p:cNvSpPr/>
              <p:nvPr/>
            </p:nvSpPr>
            <p:spPr>
              <a:xfrm>
                <a:off x="4021244" y="6097130"/>
                <a:ext cx="236123" cy="236123"/>
              </a:xfrm>
              <a:prstGeom prst="ellipse">
                <a:avLst/>
              </a:prstGeom>
              <a:solidFill>
                <a:srgbClr val="0042FF">
                  <a:alpha val="73000"/>
                </a:srgbClr>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endParaRPr lang="zh-CN" altLang="en-US" sz="1695">
                  <a:solidFill>
                    <a:srgbClr val="FFFFFF"/>
                  </a:solidFill>
                  <a:latin typeface="微软雅黑"/>
                  <a:ea typeface="微软雅黑"/>
                  <a:cs typeface="微软雅黑"/>
                </a:endParaRPr>
              </a:p>
            </p:txBody>
          </p:sp>
          <p:sp>
            <p:nvSpPr>
              <p:cNvPr id="285" name="椭圆 284"/>
              <p:cNvSpPr/>
              <p:nvPr/>
            </p:nvSpPr>
            <p:spPr>
              <a:xfrm>
                <a:off x="4094922" y="6170806"/>
                <a:ext cx="88761" cy="887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grpSp>
      </p:grpSp>
      <p:grpSp>
        <p:nvGrpSpPr>
          <p:cNvPr id="145" name="组合 144"/>
          <p:cNvGrpSpPr/>
          <p:nvPr/>
        </p:nvGrpSpPr>
        <p:grpSpPr>
          <a:xfrm>
            <a:off x="1106170" y="4263390"/>
            <a:ext cx="1466215" cy="1653540"/>
            <a:chOff x="820" y="1695"/>
            <a:chExt cx="2309" cy="2604"/>
          </a:xfrm>
        </p:grpSpPr>
        <p:sp>
          <p:nvSpPr>
            <p:cNvPr id="268" name="矩形 267"/>
            <p:cNvSpPr/>
            <p:nvPr>
              <p:custDataLst>
                <p:tags r:id="rId3"/>
              </p:custDataLst>
            </p:nvPr>
          </p:nvSpPr>
          <p:spPr>
            <a:xfrm>
              <a:off x="820" y="1695"/>
              <a:ext cx="2262" cy="2605"/>
            </a:xfrm>
            <a:prstGeom prst="rect">
              <a:avLst/>
            </a:prstGeom>
            <a:solidFill>
              <a:srgbClr val="E6E6E6">
                <a:alpha val="10000"/>
              </a:srgbClr>
            </a:solidFill>
            <a:ln>
              <a:solidFill>
                <a:srgbClr val="0042FF">
                  <a:alpha val="50000"/>
                </a:srgbClr>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269" name="矩形 268"/>
            <p:cNvSpPr/>
            <p:nvPr>
              <p:custDataLst>
                <p:tags r:id="rId4"/>
              </p:custDataLst>
            </p:nvPr>
          </p:nvSpPr>
          <p:spPr>
            <a:xfrm>
              <a:off x="820" y="1697"/>
              <a:ext cx="2262" cy="661"/>
            </a:xfrm>
            <a:prstGeom prst="rect">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endParaRPr lang="zh-CN" altLang="en-US" sz="1695">
                <a:solidFill>
                  <a:srgbClr val="FFFFFF"/>
                </a:solidFill>
                <a:latin typeface="微软雅黑"/>
                <a:ea typeface="微软雅黑"/>
                <a:cs typeface="微软雅黑"/>
              </a:endParaRPr>
            </a:p>
          </p:txBody>
        </p:sp>
        <p:sp>
          <p:nvSpPr>
            <p:cNvPr id="271" name="文本框 64"/>
            <p:cNvSpPr txBox="1"/>
            <p:nvPr/>
          </p:nvSpPr>
          <p:spPr>
            <a:xfrm>
              <a:off x="869" y="1755"/>
              <a:ext cx="2261" cy="545"/>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r>
                <a:rPr lang="zh-CN" altLang="en-US" sz="1695" b="1" dirty="0">
                  <a:solidFill>
                    <a:srgbClr val="FFFFFF"/>
                  </a:solidFill>
                  <a:latin typeface="微软雅黑"/>
                  <a:ea typeface="微软雅黑"/>
                  <a:cs typeface="微软雅黑"/>
                </a:rPr>
                <a:t>项目启动</a:t>
              </a:r>
              <a:endParaRPr lang="zh-CN" altLang="en-US" sz="1695" b="1" dirty="0">
                <a:solidFill>
                  <a:srgbClr val="FFFFFF"/>
                </a:solidFill>
                <a:latin typeface="微软雅黑"/>
                <a:ea typeface="微软雅黑"/>
                <a:cs typeface="微软雅黑"/>
              </a:endParaRPr>
            </a:p>
          </p:txBody>
        </p:sp>
        <p:sp>
          <p:nvSpPr>
            <p:cNvPr id="142" name="文本框 141"/>
            <p:cNvSpPr txBox="1"/>
            <p:nvPr>
              <p:custDataLst>
                <p:tags r:id="rId5"/>
              </p:custDataLst>
            </p:nvPr>
          </p:nvSpPr>
          <p:spPr>
            <a:xfrm>
              <a:off x="838" y="2810"/>
              <a:ext cx="2190" cy="1650"/>
            </a:xfrm>
            <a:prstGeom prst="rect">
              <a:avLst/>
            </a:prstGeom>
            <a:noFill/>
          </p:spPr>
          <p:txBody>
            <a:bodyPr wrap="square" rtlCol="0" lIns="0" rIns="0" tIns="0" bIns="0" anchor="t">
              <a:noAutofit/>
            </a:bodyPr>
            <a:lstStyle/>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制定项目总体方案：</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明确项目目标，制定初步时间表，标关键里程碑</a:t>
              </a:r>
              <a:r>
                <a:rPr kumimoji="0" lang="zh-CN" sz="100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组建项目团队：</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确定核心团队成员，明确每个人的角色和责任；</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43" name="文本框 142"/>
            <p:cNvSpPr txBox="1"/>
            <p:nvPr>
              <p:custDataLst>
                <p:tags r:id="rId6"/>
              </p:custDataLst>
            </p:nvPr>
          </p:nvSpPr>
          <p:spPr>
            <a:xfrm>
              <a:off x="893" y="2424"/>
              <a:ext cx="2117" cy="386"/>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rPr>
                <a:t>1</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rPr>
                <a:t>-3</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46" name="组合 145"/>
          <p:cNvGrpSpPr/>
          <p:nvPr/>
        </p:nvGrpSpPr>
        <p:grpSpPr>
          <a:xfrm>
            <a:off x="2839720" y="3660775"/>
            <a:ext cx="1466850" cy="1654175"/>
            <a:chOff x="820" y="1695"/>
            <a:chExt cx="2310" cy="2605"/>
          </a:xfrm>
        </p:grpSpPr>
        <p:sp>
          <p:nvSpPr>
            <p:cNvPr id="147" name="矩形 146"/>
            <p:cNvSpPr/>
            <p:nvPr>
              <p:custDataLst>
                <p:tags r:id="rId7"/>
              </p:custDataLst>
            </p:nvPr>
          </p:nvSpPr>
          <p:spPr>
            <a:xfrm>
              <a:off x="820" y="1695"/>
              <a:ext cx="2262" cy="2605"/>
            </a:xfrm>
            <a:prstGeom prst="rect">
              <a:avLst/>
            </a:prstGeom>
            <a:solidFill>
              <a:srgbClr val="E6E6E6">
                <a:alpha val="10000"/>
              </a:srgbClr>
            </a:solidFill>
            <a:ln>
              <a:solidFill>
                <a:srgbClr val="3368FF">
                  <a:alpha val="50000"/>
                </a:srgbClr>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148" name="矩形 147"/>
            <p:cNvSpPr/>
            <p:nvPr>
              <p:custDataLst>
                <p:tags r:id="rId8"/>
              </p:custDataLst>
            </p:nvPr>
          </p:nvSpPr>
          <p:spPr>
            <a:xfrm>
              <a:off x="820" y="1697"/>
              <a:ext cx="2262" cy="661"/>
            </a:xfrm>
            <a:prstGeom prst="rect">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endParaRPr lang="zh-CN" altLang="en-US" sz="1695">
                <a:solidFill>
                  <a:srgbClr val="FFFFFF"/>
                </a:solidFill>
                <a:latin typeface="微软雅黑"/>
                <a:ea typeface="微软雅黑"/>
                <a:cs typeface="微软雅黑"/>
              </a:endParaRPr>
            </a:p>
          </p:txBody>
        </p:sp>
        <p:sp>
          <p:nvSpPr>
            <p:cNvPr id="149" name="文本框 64"/>
            <p:cNvSpPr txBox="1"/>
            <p:nvPr/>
          </p:nvSpPr>
          <p:spPr>
            <a:xfrm>
              <a:off x="869" y="1755"/>
              <a:ext cx="2261" cy="545"/>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r>
                <a:rPr lang="zh-CN" altLang="en-US" sz="1695" b="1" dirty="0">
                  <a:solidFill>
                    <a:srgbClr val="FFFFFF"/>
                  </a:solidFill>
                  <a:latin typeface="微软雅黑"/>
                  <a:ea typeface="微软雅黑"/>
                  <a:cs typeface="微软雅黑"/>
                </a:rPr>
                <a:t>项目规划</a:t>
              </a:r>
              <a:endParaRPr lang="zh-CN" altLang="en-US" sz="1695" b="1" dirty="0">
                <a:solidFill>
                  <a:srgbClr val="FFFFFF"/>
                </a:solidFill>
                <a:latin typeface="微软雅黑"/>
                <a:ea typeface="微软雅黑"/>
                <a:cs typeface="微软雅黑"/>
              </a:endParaRPr>
            </a:p>
          </p:txBody>
        </p:sp>
        <p:sp>
          <p:nvSpPr>
            <p:cNvPr id="150" name="文本框 149"/>
            <p:cNvSpPr txBox="1"/>
            <p:nvPr>
              <p:custDataLst>
                <p:tags r:id="rId9"/>
              </p:custDataLst>
            </p:nvPr>
          </p:nvSpPr>
          <p:spPr>
            <a:xfrm>
              <a:off x="838" y="2810"/>
              <a:ext cx="2190" cy="1650"/>
            </a:xfrm>
            <a:prstGeom prst="rect">
              <a:avLst/>
            </a:prstGeom>
            <a:noFill/>
          </p:spPr>
          <p:txBody>
            <a:bodyPr wrap="square" rtlCol="0" lIns="0" rIns="0" tIns="0" bIns="0" anchor="t">
              <a:noAutofit/>
            </a:bodyPr>
            <a:lstStyle/>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完善项目计划：</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在总体框架基础上，制定详细的项目计划。</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资源分配与调配：</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确定项目所需的资源，确保每项资源得到合理分配。</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1" name="文本框 150"/>
            <p:cNvSpPr txBox="1"/>
            <p:nvPr>
              <p:custDataLst>
                <p:tags r:id="rId10"/>
              </p:custDataLst>
            </p:nvPr>
          </p:nvSpPr>
          <p:spPr>
            <a:xfrm>
              <a:off x="893" y="2424"/>
              <a:ext cx="2117" cy="386"/>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a:t>
              </a:r>
              <a:r>
                <a:rPr lang="en-US" altLang="zh-CN" sz="1000" noProof="0" dirty="0">
                  <a:ln>
                    <a:noFill/>
                  </a:ln>
                  <a:solidFill>
                    <a:srgbClr val="383838"/>
                  </a:solidFill>
                  <a:effectLst/>
                  <a:uLnTx/>
                  <a:uFillTx/>
                  <a:latin typeface="微软雅黑"/>
                  <a:ea typeface="微软雅黑"/>
                  <a:cs typeface="微软雅黑"/>
                  <a:sym typeface="微软雅黑"/>
                </a:rPr>
                <a:t>2026</a:t>
              </a:r>
              <a:r>
                <a:rPr lang="zh-CN" altLang="en-US" sz="1000" noProof="0" dirty="0">
                  <a:ln>
                    <a:noFill/>
                  </a:ln>
                  <a:solidFill>
                    <a:srgbClr val="383838"/>
                  </a:solidFill>
                  <a:effectLst/>
                  <a:uLnTx/>
                  <a:uFillTx/>
                  <a:latin typeface="微软雅黑"/>
                  <a:ea typeface="微软雅黑"/>
                  <a:cs typeface="微软雅黑"/>
                  <a:sym typeface="微软雅黑"/>
                </a:rPr>
                <a:t>年</a:t>
              </a:r>
              <a:r>
                <a:rPr lang="en-US" altLang="zh-CN" sz="1000" noProof="0" dirty="0">
                  <a:ln>
                    <a:noFill/>
                  </a:ln>
                  <a:solidFill>
                    <a:srgbClr val="383838"/>
                  </a:solidFill>
                  <a:effectLst/>
                  <a:uLnTx/>
                  <a:uFillTx/>
                  <a:latin typeface="微软雅黑"/>
                  <a:ea typeface="微软雅黑"/>
                  <a:cs typeface="微软雅黑"/>
                  <a:sym typeface="微软雅黑"/>
                </a:rPr>
                <a:t>3</a:t>
              </a:r>
              <a:r>
                <a:rPr lang="zh-CN" altLang="en-US" sz="1000" noProof="0" dirty="0">
                  <a:ln>
                    <a:noFill/>
                  </a:ln>
                  <a:solidFill>
                    <a:srgbClr val="383838"/>
                  </a:solidFill>
                  <a:effectLst/>
                  <a:uLnTx/>
                  <a:uFillTx/>
                  <a:latin typeface="微软雅黑"/>
                  <a:ea typeface="微软雅黑"/>
                  <a:cs typeface="微软雅黑"/>
                  <a:sym typeface="微软雅黑"/>
                </a:rPr>
                <a:t>月</a:t>
              </a:r>
              <a:r>
                <a:rPr lang="en-US" altLang="zh-CN" sz="1000" noProof="0" dirty="0">
                  <a:ln>
                    <a:noFill/>
                  </a:ln>
                  <a:solidFill>
                    <a:srgbClr val="383838"/>
                  </a:solidFill>
                  <a:effectLst/>
                  <a:uLnTx/>
                  <a:uFillTx/>
                  <a:latin typeface="微软雅黑"/>
                  <a:ea typeface="微软雅黑"/>
                  <a:cs typeface="微软雅黑"/>
                  <a:sym typeface="微软雅黑"/>
                </a:rPr>
                <a:t>-4</a:t>
              </a:r>
              <a:r>
                <a:rPr lang="zh-CN" altLang="en-US" sz="1000" noProof="0" dirty="0">
                  <a:ln>
                    <a:noFill/>
                  </a:ln>
                  <a:solidFill>
                    <a:srgbClr val="383838"/>
                  </a:solidFill>
                  <a:effectLst/>
                  <a:uLnTx/>
                  <a:uFillTx/>
                  <a:latin typeface="微软雅黑"/>
                  <a:ea typeface="微软雅黑"/>
                  <a:cs typeface="微软雅黑"/>
                  <a:sym typeface="微软雅黑"/>
                </a:rPr>
                <a:t>月）</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52" name="组合 151"/>
          <p:cNvGrpSpPr/>
          <p:nvPr/>
        </p:nvGrpSpPr>
        <p:grpSpPr>
          <a:xfrm>
            <a:off x="4573905" y="2885440"/>
            <a:ext cx="1466850" cy="1696720"/>
            <a:chOff x="820" y="1695"/>
            <a:chExt cx="2310" cy="2672"/>
          </a:xfrm>
        </p:grpSpPr>
        <p:sp>
          <p:nvSpPr>
            <p:cNvPr id="153" name="矩形 152"/>
            <p:cNvSpPr/>
            <p:nvPr>
              <p:custDataLst>
                <p:tags r:id="rId11"/>
              </p:custDataLst>
            </p:nvPr>
          </p:nvSpPr>
          <p:spPr>
            <a:xfrm>
              <a:off x="820" y="1695"/>
              <a:ext cx="2262" cy="2605"/>
            </a:xfrm>
            <a:prstGeom prst="rect">
              <a:avLst/>
            </a:prstGeom>
            <a:solidFill>
              <a:srgbClr val="E6E6E6">
                <a:alpha val="10000"/>
              </a:srgbClr>
            </a:solidFill>
            <a:ln>
              <a:solidFill>
                <a:srgbClr val="0042FF">
                  <a:alpha val="50000"/>
                </a:srgbClr>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154" name="矩形 153"/>
            <p:cNvSpPr/>
            <p:nvPr>
              <p:custDataLst>
                <p:tags r:id="rId12"/>
              </p:custDataLst>
            </p:nvPr>
          </p:nvSpPr>
          <p:spPr>
            <a:xfrm>
              <a:off x="820" y="1697"/>
              <a:ext cx="2262" cy="661"/>
            </a:xfrm>
            <a:prstGeom prst="rect">
              <a:avLst/>
            </a:prstGeom>
            <a:solidFill>
              <a:srgbClr val="0042FF"/>
            </a:solidFill>
            <a:ln>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endParaRPr lang="zh-CN" altLang="en-US" sz="1695">
                <a:solidFill>
                  <a:srgbClr val="FFFFFF"/>
                </a:solidFill>
                <a:latin typeface="微软雅黑"/>
                <a:ea typeface="微软雅黑"/>
                <a:cs typeface="微软雅黑"/>
              </a:endParaRPr>
            </a:p>
          </p:txBody>
        </p:sp>
        <p:sp>
          <p:nvSpPr>
            <p:cNvPr id="155" name="文本框 64"/>
            <p:cNvSpPr txBox="1"/>
            <p:nvPr/>
          </p:nvSpPr>
          <p:spPr>
            <a:xfrm>
              <a:off x="869" y="1755"/>
              <a:ext cx="2261" cy="545"/>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r>
                <a:rPr lang="zh-CN" altLang="en-US" sz="1695" b="1" dirty="0">
                  <a:solidFill>
                    <a:srgbClr val="FFFFFF"/>
                  </a:solidFill>
                  <a:latin typeface="微软雅黑"/>
                  <a:ea typeface="微软雅黑"/>
                  <a:cs typeface="微软雅黑"/>
                </a:rPr>
                <a:t>项目执行</a:t>
              </a:r>
              <a:endParaRPr lang="zh-CN" altLang="en-US" sz="1695" b="1" dirty="0">
                <a:solidFill>
                  <a:srgbClr val="FFFFFF"/>
                </a:solidFill>
                <a:latin typeface="微软雅黑"/>
                <a:ea typeface="微软雅黑"/>
                <a:cs typeface="微软雅黑"/>
              </a:endParaRPr>
            </a:p>
          </p:txBody>
        </p:sp>
        <p:sp>
          <p:nvSpPr>
            <p:cNvPr id="156" name="文本框 155"/>
            <p:cNvSpPr txBox="1"/>
            <p:nvPr>
              <p:custDataLst>
                <p:tags r:id="rId13"/>
              </p:custDataLst>
            </p:nvPr>
          </p:nvSpPr>
          <p:spPr>
            <a:xfrm>
              <a:off x="838" y="2810"/>
              <a:ext cx="2190" cy="1557"/>
            </a:xfrm>
            <a:prstGeom prst="rect">
              <a:avLst/>
            </a:prstGeom>
            <a:noFill/>
          </p:spPr>
          <p:txBody>
            <a:bodyPr wrap="square" rtlCol="0" lIns="0" rIns="0" tIns="0" bIns="0" anchor="t">
              <a:noAutofit/>
            </a:bodyPr>
            <a:lstStyle/>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任务实施：</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按照计划开展各项任务，产出项目成果，确保进度推进。</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团队管理与协调：</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对团队工作进行监督与支持，确保协同顺利进行。</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57" name="文本框 156"/>
            <p:cNvSpPr txBox="1"/>
            <p:nvPr>
              <p:custDataLst>
                <p:tags r:id="rId14"/>
              </p:custDataLst>
            </p:nvPr>
          </p:nvSpPr>
          <p:spPr>
            <a:xfrm>
              <a:off x="893" y="2424"/>
              <a:ext cx="2117" cy="386"/>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a:t>
              </a:r>
              <a:r>
                <a:rPr lang="en-US" altLang="zh-CN" sz="1000" noProof="0" dirty="0">
                  <a:ln>
                    <a:noFill/>
                  </a:ln>
                  <a:solidFill>
                    <a:srgbClr val="383838"/>
                  </a:solidFill>
                  <a:effectLst/>
                  <a:uLnTx/>
                  <a:uFillTx/>
                  <a:latin typeface="微软雅黑"/>
                  <a:ea typeface="微软雅黑"/>
                  <a:cs typeface="微软雅黑"/>
                  <a:sym typeface="微软雅黑"/>
                </a:rPr>
                <a:t>2026</a:t>
              </a:r>
              <a:r>
                <a:rPr lang="zh-CN" altLang="en-US" sz="1000" noProof="0" dirty="0">
                  <a:ln>
                    <a:noFill/>
                  </a:ln>
                  <a:solidFill>
                    <a:srgbClr val="383838"/>
                  </a:solidFill>
                  <a:effectLst/>
                  <a:uLnTx/>
                  <a:uFillTx/>
                  <a:latin typeface="微软雅黑"/>
                  <a:ea typeface="微软雅黑"/>
                  <a:cs typeface="微软雅黑"/>
                  <a:sym typeface="微软雅黑"/>
                </a:rPr>
                <a:t>年</a:t>
              </a:r>
              <a:r>
                <a:rPr lang="en-US" altLang="zh-CN" sz="1000" noProof="0" dirty="0">
                  <a:ln>
                    <a:noFill/>
                  </a:ln>
                  <a:solidFill>
                    <a:srgbClr val="383838"/>
                  </a:solidFill>
                  <a:effectLst/>
                  <a:uLnTx/>
                  <a:uFillTx/>
                  <a:latin typeface="微软雅黑"/>
                  <a:ea typeface="微软雅黑"/>
                  <a:cs typeface="微软雅黑"/>
                  <a:sym typeface="微软雅黑"/>
                </a:rPr>
                <a:t>5</a:t>
              </a:r>
              <a:r>
                <a:rPr lang="zh-CN" altLang="en-US" sz="1000" noProof="0" dirty="0">
                  <a:ln>
                    <a:noFill/>
                  </a:ln>
                  <a:solidFill>
                    <a:srgbClr val="383838"/>
                  </a:solidFill>
                  <a:effectLst/>
                  <a:uLnTx/>
                  <a:uFillTx/>
                  <a:latin typeface="微软雅黑"/>
                  <a:ea typeface="微软雅黑"/>
                  <a:cs typeface="微软雅黑"/>
                  <a:sym typeface="微软雅黑"/>
                </a:rPr>
                <a:t>月</a:t>
              </a:r>
              <a:r>
                <a:rPr lang="en-US" altLang="zh-CN" sz="1000" noProof="0" dirty="0">
                  <a:ln>
                    <a:noFill/>
                  </a:ln>
                  <a:solidFill>
                    <a:srgbClr val="383838"/>
                  </a:solidFill>
                  <a:effectLst/>
                  <a:uLnTx/>
                  <a:uFillTx/>
                  <a:latin typeface="微软雅黑"/>
                  <a:ea typeface="微软雅黑"/>
                  <a:cs typeface="微软雅黑"/>
                  <a:sym typeface="微软雅黑"/>
                </a:rPr>
                <a:t>-7</a:t>
              </a:r>
              <a:r>
                <a:rPr lang="zh-CN" altLang="en-US" sz="1000" noProof="0" dirty="0">
                  <a:ln>
                    <a:noFill/>
                  </a:ln>
                  <a:solidFill>
                    <a:srgbClr val="383838"/>
                  </a:solidFill>
                  <a:effectLst/>
                  <a:uLnTx/>
                  <a:uFillTx/>
                  <a:latin typeface="微软雅黑"/>
                  <a:ea typeface="微软雅黑"/>
                  <a:cs typeface="微软雅黑"/>
                  <a:sym typeface="微软雅黑"/>
                </a:rPr>
                <a:t>月）</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58" name="组合 157"/>
          <p:cNvGrpSpPr/>
          <p:nvPr/>
        </p:nvGrpSpPr>
        <p:grpSpPr>
          <a:xfrm>
            <a:off x="6308090" y="2110105"/>
            <a:ext cx="1679575" cy="1483360"/>
            <a:chOff x="820" y="1695"/>
            <a:chExt cx="2645" cy="2336"/>
          </a:xfrm>
        </p:grpSpPr>
        <p:sp>
          <p:nvSpPr>
            <p:cNvPr id="159" name="矩形 158"/>
            <p:cNvSpPr/>
            <p:nvPr>
              <p:custDataLst>
                <p:tags r:id="rId15"/>
              </p:custDataLst>
            </p:nvPr>
          </p:nvSpPr>
          <p:spPr>
            <a:xfrm>
              <a:off x="820" y="1695"/>
              <a:ext cx="2645" cy="2336"/>
            </a:xfrm>
            <a:prstGeom prst="rect">
              <a:avLst/>
            </a:prstGeom>
            <a:solidFill>
              <a:srgbClr val="E6E6E6">
                <a:alpha val="10000"/>
              </a:srgbClr>
            </a:solidFill>
            <a:ln>
              <a:solidFill>
                <a:srgbClr val="3368FF">
                  <a:alpha val="50000"/>
                </a:srgbClr>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160" name="矩形 159"/>
            <p:cNvSpPr/>
            <p:nvPr>
              <p:custDataLst>
                <p:tags r:id="rId16"/>
              </p:custDataLst>
            </p:nvPr>
          </p:nvSpPr>
          <p:spPr>
            <a:xfrm>
              <a:off x="820" y="1697"/>
              <a:ext cx="2645" cy="661"/>
            </a:xfrm>
            <a:prstGeom prst="rect">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endParaRPr lang="zh-CN" altLang="en-US" sz="1695">
                <a:solidFill>
                  <a:srgbClr val="FFFFFF"/>
                </a:solidFill>
                <a:latin typeface="微软雅黑"/>
                <a:ea typeface="微软雅黑"/>
                <a:cs typeface="微软雅黑"/>
              </a:endParaRPr>
            </a:p>
          </p:txBody>
        </p:sp>
        <p:sp>
          <p:nvSpPr>
            <p:cNvPr id="161" name="文本框 64"/>
            <p:cNvSpPr txBox="1"/>
            <p:nvPr/>
          </p:nvSpPr>
          <p:spPr>
            <a:xfrm>
              <a:off x="1012" y="1755"/>
              <a:ext cx="2261" cy="545"/>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r>
                <a:rPr lang="zh-CN" altLang="en-US" sz="1695" b="1" dirty="0">
                  <a:solidFill>
                    <a:srgbClr val="FFFFFF"/>
                  </a:solidFill>
                  <a:latin typeface="微软雅黑"/>
                  <a:ea typeface="微软雅黑"/>
                  <a:cs typeface="微软雅黑"/>
                </a:rPr>
                <a:t>项目监控</a:t>
              </a:r>
              <a:endParaRPr lang="zh-CN" altLang="en-US" sz="1695" b="1" dirty="0">
                <a:solidFill>
                  <a:srgbClr val="FFFFFF"/>
                </a:solidFill>
                <a:latin typeface="微软雅黑"/>
                <a:ea typeface="微软雅黑"/>
                <a:cs typeface="微软雅黑"/>
              </a:endParaRPr>
            </a:p>
          </p:txBody>
        </p:sp>
        <p:sp>
          <p:nvSpPr>
            <p:cNvPr id="162" name="文本框 161"/>
            <p:cNvSpPr txBox="1"/>
            <p:nvPr>
              <p:custDataLst>
                <p:tags r:id="rId17"/>
              </p:custDataLst>
            </p:nvPr>
          </p:nvSpPr>
          <p:spPr>
            <a:xfrm>
              <a:off x="903" y="2810"/>
              <a:ext cx="2480" cy="1202"/>
            </a:xfrm>
            <a:prstGeom prst="rect">
              <a:avLst/>
            </a:prstGeom>
            <a:noFill/>
          </p:spPr>
          <p:txBody>
            <a:bodyPr wrap="square" rtlCol="0" lIns="0" rIns="0" tIns="0" bIns="0" anchor="t">
              <a:noAutofit/>
            </a:bodyPr>
            <a:lstStyle/>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监控与调整进度：跟踪项目进展，确保任务按时完成。</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质量控制：对项目成果进行质量检查，确保符合要求，必要时采取纠正措施。</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3" name="文本框 162"/>
            <p:cNvSpPr txBox="1"/>
            <p:nvPr>
              <p:custDataLst>
                <p:tags r:id="rId18"/>
              </p:custDataLst>
            </p:nvPr>
          </p:nvSpPr>
          <p:spPr>
            <a:xfrm>
              <a:off x="1084" y="2424"/>
              <a:ext cx="2117" cy="386"/>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a:t>
              </a:r>
              <a:r>
                <a:rPr lang="en-US" altLang="zh-CN" sz="1000" noProof="0" dirty="0">
                  <a:ln>
                    <a:noFill/>
                  </a:ln>
                  <a:solidFill>
                    <a:srgbClr val="383838"/>
                  </a:solidFill>
                  <a:effectLst/>
                  <a:uLnTx/>
                  <a:uFillTx/>
                  <a:latin typeface="微软雅黑"/>
                  <a:ea typeface="微软雅黑"/>
                  <a:cs typeface="微软雅黑"/>
                  <a:sym typeface="微软雅黑"/>
                </a:rPr>
                <a:t>2026</a:t>
              </a:r>
              <a:r>
                <a:rPr lang="zh-CN" altLang="en-US" sz="1000" noProof="0" dirty="0">
                  <a:ln>
                    <a:noFill/>
                  </a:ln>
                  <a:solidFill>
                    <a:srgbClr val="383838"/>
                  </a:solidFill>
                  <a:effectLst/>
                  <a:uLnTx/>
                  <a:uFillTx/>
                  <a:latin typeface="微软雅黑"/>
                  <a:ea typeface="微软雅黑"/>
                  <a:cs typeface="微软雅黑"/>
                  <a:sym typeface="微软雅黑"/>
                </a:rPr>
                <a:t>年</a:t>
              </a:r>
              <a:r>
                <a:rPr lang="en-US" altLang="zh-CN" sz="1000" noProof="0" dirty="0">
                  <a:ln>
                    <a:noFill/>
                  </a:ln>
                  <a:solidFill>
                    <a:srgbClr val="383838"/>
                  </a:solidFill>
                  <a:effectLst/>
                  <a:uLnTx/>
                  <a:uFillTx/>
                  <a:latin typeface="微软雅黑"/>
                  <a:ea typeface="微软雅黑"/>
                  <a:cs typeface="微软雅黑"/>
                  <a:sym typeface="微软雅黑"/>
                </a:rPr>
                <a:t>8</a:t>
              </a:r>
              <a:r>
                <a:rPr lang="zh-CN" altLang="en-US" sz="1000" noProof="0" dirty="0">
                  <a:ln>
                    <a:noFill/>
                  </a:ln>
                  <a:solidFill>
                    <a:srgbClr val="383838"/>
                  </a:solidFill>
                  <a:effectLst/>
                  <a:uLnTx/>
                  <a:uFillTx/>
                  <a:latin typeface="微软雅黑"/>
                  <a:ea typeface="微软雅黑"/>
                  <a:cs typeface="微软雅黑"/>
                  <a:sym typeface="微软雅黑"/>
                </a:rPr>
                <a:t>月</a:t>
              </a:r>
              <a:r>
                <a:rPr lang="en-US" altLang="zh-CN" sz="1000" noProof="0" dirty="0">
                  <a:ln>
                    <a:noFill/>
                  </a:ln>
                  <a:solidFill>
                    <a:srgbClr val="383838"/>
                  </a:solidFill>
                  <a:effectLst/>
                  <a:uLnTx/>
                  <a:uFillTx/>
                  <a:latin typeface="微软雅黑"/>
                  <a:ea typeface="微软雅黑"/>
                  <a:cs typeface="微软雅黑"/>
                  <a:sym typeface="微软雅黑"/>
                </a:rPr>
                <a:t>-9</a:t>
              </a:r>
              <a:r>
                <a:rPr lang="zh-CN" altLang="en-US" sz="1000" noProof="0" dirty="0">
                  <a:ln>
                    <a:noFill/>
                  </a:ln>
                  <a:solidFill>
                    <a:srgbClr val="383838"/>
                  </a:solidFill>
                  <a:effectLst/>
                  <a:uLnTx/>
                  <a:uFillTx/>
                  <a:latin typeface="微软雅黑"/>
                  <a:ea typeface="微软雅黑"/>
                  <a:cs typeface="微软雅黑"/>
                  <a:sym typeface="微软雅黑"/>
                </a:rPr>
                <a:t>月）</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164" name="组合 163"/>
          <p:cNvGrpSpPr/>
          <p:nvPr/>
        </p:nvGrpSpPr>
        <p:grpSpPr>
          <a:xfrm>
            <a:off x="8255000" y="1054100"/>
            <a:ext cx="2049780" cy="1440180"/>
            <a:chOff x="820" y="1695"/>
            <a:chExt cx="3228" cy="2268"/>
          </a:xfrm>
        </p:grpSpPr>
        <p:sp>
          <p:nvSpPr>
            <p:cNvPr id="165" name="矩形 164"/>
            <p:cNvSpPr/>
            <p:nvPr>
              <p:custDataLst>
                <p:tags r:id="rId19"/>
              </p:custDataLst>
            </p:nvPr>
          </p:nvSpPr>
          <p:spPr>
            <a:xfrm>
              <a:off x="820" y="1695"/>
              <a:ext cx="3228" cy="2222"/>
            </a:xfrm>
            <a:prstGeom prst="rect">
              <a:avLst/>
            </a:prstGeom>
            <a:solidFill>
              <a:srgbClr val="FFFFFF">
                <a:alpha val="10000"/>
              </a:srgbClr>
            </a:solidFill>
            <a:ln>
              <a:solidFill>
                <a:srgbClr val="3368FF">
                  <a:alpha val="50000"/>
                </a:srgbClr>
              </a:solid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166" name="矩形 165"/>
            <p:cNvSpPr/>
            <p:nvPr>
              <p:custDataLst>
                <p:tags r:id="rId20"/>
              </p:custDataLst>
            </p:nvPr>
          </p:nvSpPr>
          <p:spPr>
            <a:xfrm>
              <a:off x="820" y="1697"/>
              <a:ext cx="3228" cy="661"/>
            </a:xfrm>
            <a:prstGeom prst="rect">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endParaRPr lang="zh-CN" altLang="en-US" sz="1695">
                <a:solidFill>
                  <a:srgbClr val="FFFFFF"/>
                </a:solidFill>
                <a:latin typeface="微软雅黑"/>
                <a:ea typeface="微软雅黑"/>
                <a:cs typeface="微软雅黑"/>
              </a:endParaRPr>
            </a:p>
          </p:txBody>
        </p:sp>
        <p:sp>
          <p:nvSpPr>
            <p:cNvPr id="167" name="文本框 64"/>
            <p:cNvSpPr txBox="1"/>
            <p:nvPr/>
          </p:nvSpPr>
          <p:spPr>
            <a:xfrm>
              <a:off x="1304" y="1755"/>
              <a:ext cx="2261" cy="545"/>
            </a:xfrm>
            <a:prstGeom prst="rect">
              <a:avLst/>
            </a:prstGeom>
            <a:noFill/>
            <a:effectLst/>
          </p:spPr>
          <p:txBody>
            <a:bodyPr wrap="square" lIns="0" tIns="0" rIns="0" bIns="0" rtlCol="0">
              <a:sp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FFFFFF"/>
                  </a:solidFill>
                  <a:latin typeface="微软雅黑"/>
                  <a:ea typeface="微软雅黑"/>
                  <a:cs typeface="微软雅黑"/>
                </a:defRPr>
              </a:pPr>
              <a:r>
                <a:rPr lang="zh-CN" altLang="en-US" sz="1695" b="1" dirty="0">
                  <a:solidFill>
                    <a:srgbClr val="FFFFFF"/>
                  </a:solidFill>
                  <a:latin typeface="微软雅黑"/>
                  <a:ea typeface="微软雅黑"/>
                  <a:cs typeface="微软雅黑"/>
                </a:rPr>
                <a:t>项目收尾</a:t>
              </a:r>
              <a:endParaRPr lang="zh-CN" altLang="en-US" sz="1695" b="1" dirty="0">
                <a:solidFill>
                  <a:srgbClr val="FFFFFF"/>
                </a:solidFill>
                <a:latin typeface="微软雅黑"/>
                <a:ea typeface="微软雅黑"/>
                <a:cs typeface="微软雅黑"/>
              </a:endParaRPr>
            </a:p>
          </p:txBody>
        </p:sp>
        <p:sp>
          <p:nvSpPr>
            <p:cNvPr id="168" name="文本框 167"/>
            <p:cNvSpPr txBox="1"/>
            <p:nvPr>
              <p:custDataLst>
                <p:tags r:id="rId21"/>
              </p:custDataLst>
            </p:nvPr>
          </p:nvSpPr>
          <p:spPr>
            <a:xfrm>
              <a:off x="887" y="2810"/>
              <a:ext cx="3094" cy="1153"/>
            </a:xfrm>
            <a:prstGeom prst="rect">
              <a:avLst/>
            </a:prstGeom>
            <a:noFill/>
          </p:spPr>
          <p:txBody>
            <a:bodyPr wrap="square" rtlCol="0" lIns="0" rIns="0" tIns="0" bIns="0" anchor="t">
              <a:noAutofit/>
            </a:bodyPr>
            <a:lstStyle/>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总结项目表现：</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对项目进行全面回顾，总结优点和不足；</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solidFill>
                  <a:effectLst/>
                  <a:uLnTx/>
                  <a:uFillTx/>
                  <a:latin typeface="微软雅黑"/>
                  <a:ea typeface="微软雅黑"/>
                  <a:cs typeface="微软雅黑"/>
                </a:rPr>
                <a:t>整理项目文档：</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按照规范归档，提供详细的操作手册和技术文档。</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a:p>
              <a:pPr marL="171450" marR="0" lvl="0" indent="-171450" algn="just" defTabSz="914400" rtl="0" fontAlgn="auto">
                <a:lnSpc>
                  <a:spcPts val="1120"/>
                </a:lnSpc>
                <a:spcBef>
                  <a:spcPts val="0"/>
                </a:spcBef>
                <a:spcAft>
                  <a:spcPts val="0"/>
                </a:spcAft>
                <a:buClrTx/>
                <a:buSzTx/>
                <a:buFont typeface="微软雅黑"/>
                <a:buChar char="➢"/>
                <a:defRPr>
                  <a:latin typeface="微软雅黑"/>
                  <a:ea typeface="微软雅黑"/>
                  <a:cs typeface="微软雅黑"/>
                </a:defRPr>
              </a:pP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69" name="文本框 168"/>
            <p:cNvSpPr txBox="1"/>
            <p:nvPr>
              <p:custDataLst>
                <p:tags r:id="rId22"/>
              </p:custDataLst>
            </p:nvPr>
          </p:nvSpPr>
          <p:spPr>
            <a:xfrm>
              <a:off x="1376" y="2424"/>
              <a:ext cx="2117" cy="386"/>
            </a:xfrm>
            <a:prstGeom prst="rect">
              <a:avLst/>
            </a:prstGeom>
            <a:noFill/>
          </p:spPr>
          <p:txBody>
            <a:bodyPr wrap="square" rtlCol="0" lIns="0" rIns="0" tIns="0" bIns="0">
              <a:spAutoFit/>
            </a:bodyPr>
            <a:lstStyle/>
            <a:p>
              <a:pPr marR="0" lvl="0" indent="0" algn="just" defTabSz="914400" rtl="0" eaLnBrk="1" fontAlgn="auto" latinLnBrk="0" hangingPunct="1">
                <a:lnSpc>
                  <a:spcPct val="100000"/>
                </a:lnSpc>
                <a:spcBef>
                  <a:spcPts val="0"/>
                </a:spcBef>
                <a:spcAft>
                  <a:spcPts val="0"/>
                </a:spcAft>
                <a:buClrTx/>
                <a:buSzTx/>
                <a:buFont typeface="微软雅黑"/>
                <a:buNone/>
                <a:defRPr>
                  <a:latin typeface="微软雅黑"/>
                  <a:ea typeface="微软雅黑"/>
                  <a:cs typeface="微软雅黑"/>
                </a:defRPr>
              </a:pP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a:t>
              </a:r>
              <a:r>
                <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年</a:t>
              </a:r>
              <a:r>
                <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rPr>
                <a:t>10</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月</a:t>
              </a:r>
              <a:r>
                <a:rPr kumimoji="0" lang="en-US" altLang="zh-CN" sz="1000" i="0" u="none" strike="noStrike" kern="1200" cap="none" spc="0" normalizeH="0" baseline="0" noProof="0" dirty="0">
                  <a:ln>
                    <a:noFill/>
                  </a:ln>
                  <a:solidFill>
                    <a:srgbClr val="383838"/>
                  </a:solidFill>
                  <a:effectLst/>
                  <a:uLnTx/>
                  <a:uFillTx/>
                  <a:latin typeface="微软雅黑"/>
                  <a:ea typeface="微软雅黑"/>
                  <a:cs typeface="微软雅黑"/>
                </a:rPr>
                <a:t>-12</a:t>
              </a:r>
              <a:r>
                <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rPr>
                <a:t>月）</a:t>
              </a:r>
              <a:endParaRPr kumimoji="0" lang="zh-CN" altLang="en-US" sz="1000"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72" name="任意多边形: 形状 271"/>
          <p:cNvSpPr/>
          <p:nvPr/>
        </p:nvSpPr>
        <p:spPr>
          <a:xfrm flipH="1">
            <a:off x="8955405" y="2465070"/>
            <a:ext cx="279400" cy="590550"/>
          </a:xfrm>
          <a:custGeom>
            <a:avLst/>
            <a:gdLst>
              <a:gd name="connsiteX0" fmla="*/ 1400537 w 1400537"/>
              <a:gd name="connsiteY0" fmla="*/ 243069 h 243069"/>
              <a:gd name="connsiteX1" fmla="*/ 0 w 1400537"/>
              <a:gd name="connsiteY1" fmla="*/ 243069 h 243069"/>
              <a:gd name="connsiteX2" fmla="*/ 0 w 1400537"/>
              <a:gd name="connsiteY2" fmla="*/ 0 h 243069"/>
            </a:gdLst>
            <a:ahLst/>
            <a:cxnLst>
              <a:cxn ang="0">
                <a:pos x="connsiteX0" y="connsiteY0"/>
              </a:cxn>
              <a:cxn ang="0">
                <a:pos x="connsiteX1" y="connsiteY1"/>
              </a:cxn>
              <a:cxn ang="0">
                <a:pos x="connsiteX2" y="connsiteY2"/>
              </a:cxn>
            </a:cxnLst>
            <a:rect l="l" t="t" r="r" b="b"/>
            <a:pathLst>
              <a:path w="1400537" h="243069">
                <a:moveTo>
                  <a:pt x="1400537" y="243069"/>
                </a:moveTo>
                <a:lnTo>
                  <a:pt x="0" y="243069"/>
                </a:lnTo>
                <a:lnTo>
                  <a:pt x="0" y="0"/>
                </a:lnTo>
              </a:path>
            </a:pathLst>
          </a:custGeom>
          <a:noFill/>
          <a:ln w="11938">
            <a:solidFill>
              <a:srgbClr val="DCDCDC"/>
            </a:solidFill>
            <a:prstDash val="sysDash"/>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182" name="任意多边形: 形状 271"/>
          <p:cNvSpPr/>
          <p:nvPr/>
        </p:nvSpPr>
        <p:spPr>
          <a:xfrm>
            <a:off x="3668395" y="5314950"/>
            <a:ext cx="553720" cy="347980"/>
          </a:xfrm>
          <a:custGeom>
            <a:avLst/>
            <a:gdLst>
              <a:gd name="connsiteX0" fmla="*/ 1400537 w 1400537"/>
              <a:gd name="connsiteY0" fmla="*/ 243069 h 243069"/>
              <a:gd name="connsiteX1" fmla="*/ 0 w 1400537"/>
              <a:gd name="connsiteY1" fmla="*/ 243069 h 243069"/>
              <a:gd name="connsiteX2" fmla="*/ 0 w 1400537"/>
              <a:gd name="connsiteY2" fmla="*/ 0 h 243069"/>
            </a:gdLst>
            <a:ahLst/>
            <a:cxnLst>
              <a:cxn ang="0">
                <a:pos x="connsiteX0" y="connsiteY0"/>
              </a:cxn>
              <a:cxn ang="0">
                <a:pos x="connsiteX1" y="connsiteY1"/>
              </a:cxn>
              <a:cxn ang="0">
                <a:pos x="connsiteX2" y="connsiteY2"/>
              </a:cxn>
            </a:cxnLst>
            <a:rect l="l" t="t" r="r" b="b"/>
            <a:pathLst>
              <a:path w="1400537" h="243069">
                <a:moveTo>
                  <a:pt x="1400537" y="243069"/>
                </a:moveTo>
                <a:lnTo>
                  <a:pt x="0" y="243069"/>
                </a:lnTo>
                <a:lnTo>
                  <a:pt x="0" y="0"/>
                </a:lnTo>
              </a:path>
            </a:pathLst>
          </a:custGeom>
          <a:noFill/>
          <a:ln w="11938">
            <a:solidFill>
              <a:srgbClr val="DCDCDC"/>
            </a:solidFill>
            <a:prstDash val="sysDash"/>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383838"/>
                </a:solidFill>
                <a:latin typeface="微软雅黑"/>
                <a:ea typeface="微软雅黑"/>
                <a:cs typeface="微软雅黑"/>
              </a:defRPr>
            </a:pPr>
            <a:endParaRPr lang="zh-CN" altLang="en-US" sz="1695">
              <a:solidFill>
                <a:srgbClr val="383838"/>
              </a:solidFill>
              <a:latin typeface="微软雅黑"/>
              <a:ea typeface="微软雅黑"/>
              <a:cs typeface="微软雅黑"/>
            </a:endParaRPr>
          </a:p>
        </p:txBody>
      </p:sp>
      <p:grpSp>
        <p:nvGrpSpPr>
          <p:cNvPr id="183" name="组合 182"/>
          <p:cNvGrpSpPr/>
          <p:nvPr/>
        </p:nvGrpSpPr>
        <p:grpSpPr>
          <a:xfrm rot="0">
            <a:off x="4145280" y="5600700"/>
            <a:ext cx="111760" cy="120650"/>
            <a:chOff x="4021244" y="6097130"/>
            <a:chExt cx="236123" cy="236123"/>
          </a:xfrm>
        </p:grpSpPr>
        <p:sp>
          <p:nvSpPr>
            <p:cNvPr id="184" name="椭圆 183"/>
            <p:cNvSpPr/>
            <p:nvPr/>
          </p:nvSpPr>
          <p:spPr>
            <a:xfrm>
              <a:off x="4021244" y="6097130"/>
              <a:ext cx="236123" cy="236123"/>
            </a:xfrm>
            <a:prstGeom prst="ellipse">
              <a:avLst/>
            </a:prstGeom>
            <a:solidFill>
              <a:srgbClr val="3368FF">
                <a:alpha val="73000"/>
              </a:srgbClr>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solidFill>
                    <a:srgbClr val="383838"/>
                  </a:solidFill>
                  <a:latin typeface="微软雅黑"/>
                  <a:ea typeface="微软雅黑"/>
                  <a:cs typeface="微软雅黑"/>
                </a:defRPr>
              </a:pPr>
              <a:endParaRPr lang="zh-CN" altLang="en-US" sz="1695">
                <a:solidFill>
                  <a:srgbClr val="383838"/>
                </a:solidFill>
                <a:latin typeface="微软雅黑"/>
                <a:ea typeface="微软雅黑"/>
                <a:cs typeface="微软雅黑"/>
              </a:endParaRPr>
            </a:p>
          </p:txBody>
        </p:sp>
        <p:sp>
          <p:nvSpPr>
            <p:cNvPr id="185" name="椭圆 184"/>
            <p:cNvSpPr/>
            <p:nvPr/>
          </p:nvSpPr>
          <p:spPr>
            <a:xfrm>
              <a:off x="4094922" y="6170806"/>
              <a:ext cx="88761" cy="887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grpSp>
      <p:sp>
        <p:nvSpPr>
          <p:cNvPr id="186" name="任意多边形: 形状 271"/>
          <p:cNvSpPr/>
          <p:nvPr/>
        </p:nvSpPr>
        <p:spPr>
          <a:xfrm>
            <a:off x="5273675" y="4543425"/>
            <a:ext cx="553720" cy="347980"/>
          </a:xfrm>
          <a:custGeom>
            <a:avLst/>
            <a:gdLst>
              <a:gd name="connsiteX0" fmla="*/ 1400537 w 1400537"/>
              <a:gd name="connsiteY0" fmla="*/ 243069 h 243069"/>
              <a:gd name="connsiteX1" fmla="*/ 0 w 1400537"/>
              <a:gd name="connsiteY1" fmla="*/ 243069 h 243069"/>
              <a:gd name="connsiteX2" fmla="*/ 0 w 1400537"/>
              <a:gd name="connsiteY2" fmla="*/ 0 h 243069"/>
            </a:gdLst>
            <a:ahLst/>
            <a:cxnLst>
              <a:cxn ang="0">
                <a:pos x="connsiteX0" y="connsiteY0"/>
              </a:cxn>
              <a:cxn ang="0">
                <a:pos x="connsiteX1" y="connsiteY1"/>
              </a:cxn>
              <a:cxn ang="0">
                <a:pos x="connsiteX2" y="connsiteY2"/>
              </a:cxn>
            </a:cxnLst>
            <a:rect l="l" t="t" r="r" b="b"/>
            <a:pathLst>
              <a:path w="1400537" h="243069">
                <a:moveTo>
                  <a:pt x="1400537" y="243069"/>
                </a:moveTo>
                <a:lnTo>
                  <a:pt x="0" y="243069"/>
                </a:lnTo>
                <a:lnTo>
                  <a:pt x="0" y="0"/>
                </a:lnTo>
              </a:path>
            </a:pathLst>
          </a:custGeom>
          <a:noFill/>
          <a:ln w="11938">
            <a:solidFill>
              <a:srgbClr val="DCDCDC"/>
            </a:solidFill>
            <a:prstDash val="sysDash"/>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383838"/>
                </a:solidFill>
                <a:latin typeface="微软雅黑"/>
                <a:ea typeface="微软雅黑"/>
                <a:cs typeface="微软雅黑"/>
              </a:defRPr>
            </a:pPr>
            <a:endParaRPr lang="zh-CN" altLang="en-US" sz="1695">
              <a:solidFill>
                <a:srgbClr val="383838"/>
              </a:solidFill>
              <a:latin typeface="微软雅黑"/>
              <a:ea typeface="微软雅黑"/>
              <a:cs typeface="微软雅黑"/>
            </a:endParaRPr>
          </a:p>
        </p:txBody>
      </p:sp>
      <p:grpSp>
        <p:nvGrpSpPr>
          <p:cNvPr id="187" name="组合 186"/>
          <p:cNvGrpSpPr/>
          <p:nvPr/>
        </p:nvGrpSpPr>
        <p:grpSpPr>
          <a:xfrm rot="0">
            <a:off x="5750560" y="4829175"/>
            <a:ext cx="111760" cy="120650"/>
            <a:chOff x="4021244" y="6097130"/>
            <a:chExt cx="236123" cy="236123"/>
          </a:xfrm>
        </p:grpSpPr>
        <p:sp>
          <p:nvSpPr>
            <p:cNvPr id="188" name="椭圆 187"/>
            <p:cNvSpPr/>
            <p:nvPr/>
          </p:nvSpPr>
          <p:spPr>
            <a:xfrm>
              <a:off x="4021244" y="6097130"/>
              <a:ext cx="236123" cy="236123"/>
            </a:xfrm>
            <a:prstGeom prst="ellipse">
              <a:avLst/>
            </a:prstGeom>
            <a:solidFill>
              <a:srgbClr val="3368FF">
                <a:alpha val="73000"/>
              </a:srgbClr>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solidFill>
                    <a:srgbClr val="383838"/>
                  </a:solidFill>
                  <a:latin typeface="微软雅黑"/>
                  <a:ea typeface="微软雅黑"/>
                  <a:cs typeface="微软雅黑"/>
                </a:defRPr>
              </a:pPr>
              <a:endParaRPr lang="zh-CN" altLang="en-US" sz="1695">
                <a:solidFill>
                  <a:srgbClr val="383838"/>
                </a:solidFill>
                <a:latin typeface="微软雅黑"/>
                <a:ea typeface="微软雅黑"/>
                <a:cs typeface="微软雅黑"/>
              </a:endParaRPr>
            </a:p>
          </p:txBody>
        </p:sp>
        <p:sp>
          <p:nvSpPr>
            <p:cNvPr id="189" name="椭圆 188"/>
            <p:cNvSpPr/>
            <p:nvPr/>
          </p:nvSpPr>
          <p:spPr>
            <a:xfrm>
              <a:off x="4094922" y="6170806"/>
              <a:ext cx="88761" cy="88761"/>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grpSp>
      <p:sp>
        <p:nvSpPr>
          <p:cNvPr id="191" name="椭圆 190"/>
          <p:cNvSpPr/>
          <p:nvPr/>
        </p:nvSpPr>
        <p:spPr>
          <a:xfrm>
            <a:off x="7092315" y="4027805"/>
            <a:ext cx="111760" cy="120650"/>
          </a:xfrm>
          <a:prstGeom prst="ellipse">
            <a:avLst/>
          </a:prstGeom>
          <a:solidFill>
            <a:srgbClr val="3368FF">
              <a:alpha val="73000"/>
            </a:srgbClr>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solidFill>
                  <a:srgbClr val="383838"/>
                </a:solidFill>
                <a:latin typeface="微软雅黑"/>
                <a:ea typeface="微软雅黑"/>
                <a:cs typeface="微软雅黑"/>
              </a:defRPr>
            </a:pPr>
            <a:endParaRPr lang="zh-CN" altLang="en-US" sz="1695">
              <a:solidFill>
                <a:srgbClr val="383838"/>
              </a:solidFill>
              <a:latin typeface="微软雅黑"/>
              <a:ea typeface="微软雅黑"/>
              <a:cs typeface="微软雅黑"/>
            </a:endParaRPr>
          </a:p>
        </p:txBody>
      </p:sp>
      <p:sp>
        <p:nvSpPr>
          <p:cNvPr id="192" name="椭圆 191"/>
          <p:cNvSpPr/>
          <p:nvPr/>
        </p:nvSpPr>
        <p:spPr>
          <a:xfrm>
            <a:off x="7127188" y="4065451"/>
            <a:ext cx="42012" cy="45354"/>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193" name="椭圆 192"/>
          <p:cNvSpPr/>
          <p:nvPr/>
        </p:nvSpPr>
        <p:spPr>
          <a:xfrm>
            <a:off x="8878570" y="2990850"/>
            <a:ext cx="111760" cy="120650"/>
          </a:xfrm>
          <a:prstGeom prst="ellipse">
            <a:avLst/>
          </a:prstGeom>
          <a:solidFill>
            <a:srgbClr val="3368FF">
              <a:alpha val="73000"/>
            </a:srgbClr>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383838"/>
                </a:solidFill>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solidFill>
                  <a:srgbClr val="383838"/>
                </a:solidFill>
                <a:latin typeface="微软雅黑"/>
                <a:ea typeface="微软雅黑"/>
                <a:cs typeface="微软雅黑"/>
              </a:defRPr>
            </a:pPr>
            <a:endParaRPr lang="zh-CN" altLang="en-US" sz="1695">
              <a:solidFill>
                <a:srgbClr val="383838"/>
              </a:solidFill>
              <a:latin typeface="微软雅黑"/>
              <a:ea typeface="微软雅黑"/>
              <a:cs typeface="微软雅黑"/>
            </a:endParaRPr>
          </a:p>
        </p:txBody>
      </p:sp>
      <p:sp>
        <p:nvSpPr>
          <p:cNvPr id="194" name="椭圆 193"/>
          <p:cNvSpPr/>
          <p:nvPr/>
        </p:nvSpPr>
        <p:spPr>
          <a:xfrm>
            <a:off x="8913443" y="3028496"/>
            <a:ext cx="42012" cy="45354"/>
          </a:xfrm>
          <a:prstGeom prst="ellipse">
            <a:avLst/>
          </a:prstGeom>
          <a:solidFill>
            <a:srgbClr val="FFFFFF"/>
          </a:solidFill>
          <a:ln>
            <a:noFill/>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defTabSz="685800">
              <a:defRPr>
                <a:latin typeface="微软雅黑"/>
                <a:ea typeface="微软雅黑"/>
                <a:cs typeface="微软雅黑"/>
              </a:defRPr>
            </a:pPr>
            <a:endParaRPr lang="zh-CN" altLang="en-US" sz="1695">
              <a:solidFill>
                <a:prstClr val="white"/>
              </a:solidFill>
              <a:latin typeface="微软雅黑"/>
              <a:ea typeface="微软雅黑"/>
              <a:cs typeface="微软雅黑"/>
            </a:endParaRPr>
          </a:p>
        </p:txBody>
      </p:sp>
      <p:sp>
        <p:nvSpPr>
          <p:cNvPr id="195" name="任意多边形: 形状 271"/>
          <p:cNvSpPr/>
          <p:nvPr/>
        </p:nvSpPr>
        <p:spPr>
          <a:xfrm>
            <a:off x="6950710" y="3583305"/>
            <a:ext cx="141605" cy="501015"/>
          </a:xfrm>
          <a:custGeom>
            <a:avLst/>
            <a:gdLst>
              <a:gd name="connsiteX0" fmla="*/ 1400537 w 1400537"/>
              <a:gd name="connsiteY0" fmla="*/ 243069 h 243069"/>
              <a:gd name="connsiteX1" fmla="*/ 0 w 1400537"/>
              <a:gd name="connsiteY1" fmla="*/ 243069 h 243069"/>
              <a:gd name="connsiteX2" fmla="*/ 0 w 1400537"/>
              <a:gd name="connsiteY2" fmla="*/ 0 h 243069"/>
            </a:gdLst>
            <a:ahLst/>
            <a:cxnLst>
              <a:cxn ang="0">
                <a:pos x="connsiteX0" y="connsiteY0"/>
              </a:cxn>
              <a:cxn ang="0">
                <a:pos x="connsiteX1" y="connsiteY1"/>
              </a:cxn>
              <a:cxn ang="0">
                <a:pos x="connsiteX2" y="connsiteY2"/>
              </a:cxn>
            </a:cxnLst>
            <a:rect l="l" t="t" r="r" b="b"/>
            <a:pathLst>
              <a:path w="1400537" h="243069">
                <a:moveTo>
                  <a:pt x="1400537" y="243069"/>
                </a:moveTo>
                <a:lnTo>
                  <a:pt x="0" y="243069"/>
                </a:lnTo>
                <a:lnTo>
                  <a:pt x="0" y="0"/>
                </a:lnTo>
              </a:path>
            </a:pathLst>
          </a:custGeom>
          <a:noFill/>
          <a:ln w="11938">
            <a:solidFill>
              <a:srgbClr val="DCDCDC"/>
            </a:solidFill>
            <a:prstDash val="sysDash"/>
          </a:ln>
          <a:effectLst/>
        </p:spPr>
        <p:style>
          <a:lnRef idx="2">
            <a:srgbClr val="0042FF"/>
          </a:lnRef>
          <a:fillRef idx="1">
            <a:srgbClr val="0042FF"/>
          </a:fillRef>
          <a:effectRef idx="0">
            <a:srgbClr val="0042FF"/>
          </a:effectRef>
          <a:fontRef idx="minor">
            <a:srgbClr val="FFFFFF"/>
          </a:fontRef>
        </p:style>
        <p:txBody>
          <a:bodyPr lIns="0" tIns="0" rIns="0" bIns="0" rtlCol="0" anchor="ct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defTabSz="685800">
              <a:defRPr>
                <a:solidFill>
                  <a:srgbClr val="383838"/>
                </a:solidFill>
                <a:latin typeface="微软雅黑"/>
                <a:ea typeface="微软雅黑"/>
                <a:cs typeface="微软雅黑"/>
              </a:defRPr>
            </a:pPr>
            <a:endParaRPr lang="zh-CN" altLang="en-US" sz="1695">
              <a:solidFill>
                <a:srgbClr val="383838"/>
              </a:solidFill>
              <a:latin typeface="微软雅黑"/>
              <a:ea typeface="微软雅黑"/>
              <a:cs typeface="微软雅黑"/>
            </a:endParaRPr>
          </a:p>
        </p:txBody>
      </p:sp>
      <p:sp>
        <p:nvSpPr>
          <p:cNvPr id="196" name="五边形 195"/>
          <p:cNvSpPr/>
          <p:nvPr/>
        </p:nvSpPr>
        <p:spPr>
          <a:xfrm>
            <a:off x="1232535" y="1226185"/>
            <a:ext cx="5481320" cy="623570"/>
          </a:xfrm>
          <a:prstGeom prst="homePlate">
            <a:avLst/>
          </a:prstGeom>
          <a:gradFill>
            <a:gsLst>
              <a:gs pos="0">
                <a:srgbClr val="3368FF"/>
              </a:gs>
              <a:gs pos="100000">
                <a:srgbClr val="B3D4FE"/>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97" name="椭圆 196"/>
          <p:cNvSpPr/>
          <p:nvPr/>
        </p:nvSpPr>
        <p:spPr>
          <a:xfrm>
            <a:off x="728991" y="1124561"/>
            <a:ext cx="826188" cy="826188"/>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98" name="TextBox 50"/>
          <p:cNvSpPr txBox="1"/>
          <p:nvPr/>
        </p:nvSpPr>
        <p:spPr>
          <a:xfrm>
            <a:off x="1505585" y="1950720"/>
            <a:ext cx="4244975" cy="283210"/>
          </a:xfrm>
          <a:prstGeom prst="rect">
            <a:avLst/>
          </a:prstGeom>
          <a:noFill/>
        </p:spPr>
        <p:txBody>
          <a:bodyPr wrap="square" rtlCol="0" lIns="0" rIns="0" tIns="0" bIns="0">
            <a:spAutoFit/>
          </a:bodyPr>
          <a:lstStyle>
            <a:defPPr>
              <a:defRPr lang="zh-CN">
                <a:latin typeface="微软雅黑"/>
                <a:ea typeface="微软雅黑"/>
                <a:cs typeface="微软雅黑"/>
              </a:defRPr>
            </a:defPPr>
            <a:lvl1pPr>
              <a:lnSpc>
                <a:spcPct val="120000"/>
              </a:lnSpc>
              <a:defRPr sz="1200">
                <a:latin typeface="微软雅黑"/>
                <a:ea typeface="微软雅黑"/>
                <a:cs typeface="微软雅黑"/>
              </a:defRPr>
            </a:lvl1p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000" b="1" i="0" u="none" strike="noStrike" kern="1200" cap="none" spc="0" normalizeH="0" baseline="0" noProof="0" dirty="0">
                <a:ln>
                  <a:noFill/>
                </a:ln>
                <a:solidFill>
                  <a:srgbClr val="383838">
                    <a:alpha val="70000"/>
                  </a:srgbClr>
                </a:solidFill>
                <a:effectLst/>
                <a:uLnTx/>
                <a:uFillTx/>
                <a:latin typeface="微软雅黑"/>
                <a:ea typeface="微软雅黑"/>
                <a:cs typeface="微软雅黑"/>
              </a:rPr>
              <a:t>核心思路：</a:t>
            </a:r>
            <a:r>
              <a:rPr kumimoji="0" lang="zh-CN" altLang="en-US"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全年运营工作围绕</a:t>
            </a:r>
            <a:r>
              <a:rPr kumimoji="0" lang="en-US" altLang="zh-CN"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用户增长</a:t>
            </a:r>
            <a:r>
              <a:rPr kumimoji="0" lang="en-US" altLang="zh-CN"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与</a:t>
            </a:r>
            <a:r>
              <a:rPr kumimoji="0" lang="en-US" altLang="zh-CN"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商业变现</a:t>
            </a:r>
            <a:r>
              <a:rPr kumimoji="0" lang="en-US" altLang="zh-CN"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a:t>
            </a:r>
            <a:r>
              <a:rPr kumimoji="0" lang="zh-CN" altLang="en-US"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rPr>
              <a:t>双核心展开。</a:t>
            </a:r>
            <a:endParaRPr kumimoji="0" lang="zh-CN" altLang="en-US" sz="1000" b="0" i="0" u="none" strike="noStrike" kern="1200" cap="none" spc="0" normalizeH="0" baseline="0" noProof="0" dirty="0">
              <a:ln>
                <a:noFill/>
              </a:ln>
              <a:solidFill>
                <a:srgbClr val="383838">
                  <a:alpha val="70000"/>
                </a:srgbClr>
              </a:solidFill>
              <a:effectLst/>
              <a:uLnTx/>
              <a:uFillTx/>
              <a:latin typeface="微软雅黑"/>
              <a:ea typeface="微软雅黑"/>
              <a:cs typeface="微软雅黑"/>
            </a:endParaRPr>
          </a:p>
        </p:txBody>
      </p:sp>
      <p:sp>
        <p:nvSpPr>
          <p:cNvPr id="199" name="TextBox 50"/>
          <p:cNvSpPr txBox="1"/>
          <p:nvPr/>
        </p:nvSpPr>
        <p:spPr>
          <a:xfrm>
            <a:off x="1615788" y="1329906"/>
            <a:ext cx="4574540" cy="414020"/>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sz="2100" b="1" i="0" u="none" strike="noStrike" kern="1200" cap="none" spc="0" normalizeH="0" baseline="0" noProof="0" dirty="0">
                <a:ln>
                  <a:noFill/>
                </a:ln>
                <a:solidFill>
                  <a:srgbClr val="383838"/>
                </a:solidFill>
                <a:effectLst/>
                <a:uLnTx/>
                <a:uFillTx/>
                <a:latin typeface="微软雅黑"/>
                <a:ea typeface="微软雅黑"/>
                <a:cs typeface="微软雅黑"/>
              </a:rPr>
              <a:t>2026</a:t>
            </a:r>
            <a:r>
              <a:rPr kumimoji="0" lang="zh-CN" altLang="en-US" sz="2100" b="1" i="0" u="none" strike="noStrike" kern="1200" cap="none" spc="0" normalizeH="0" baseline="0" noProof="0" dirty="0">
                <a:ln>
                  <a:noFill/>
                </a:ln>
                <a:solidFill>
                  <a:srgbClr val="383838"/>
                </a:solidFill>
                <a:effectLst/>
                <a:uLnTx/>
                <a:uFillTx/>
                <a:latin typeface="微软雅黑"/>
                <a:ea typeface="微软雅黑"/>
                <a:cs typeface="微软雅黑"/>
              </a:rPr>
              <a:t>年年度重点工作梳理及规划蓝图</a:t>
            </a:r>
            <a:endParaRPr kumimoji="0" lang="zh-CN" altLang="en-US" sz="21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pic>
        <p:nvPicPr>
          <p:cNvPr id="202" name="图片 201" descr="启动"/>
          <p:cNvPicPr>
            <a:picLocks noChangeAspect="1"/>
          </p:cNvPicPr>
          <p:nvPr>
            <p:custDataLst>
              <p:tags r:id="rId23"/>
            </p:custDataLst>
          </p:nvPr>
        </p:nvPicPr>
        <p:blipFill>
          <a:blip r:embed="rId24">
            <a:extLst>
              <a:ext uri="{96DAC541-7B7A-43D3-8B79-37D633B846F1}">
                <asvg:svgBlip xmlns:asvg="http://schemas.microsoft.com/office/drawing/2016/SVG/main" r:embed="rId25"/>
              </a:ext>
            </a:extLst>
          </a:blip>
          <a:stretch>
            <a:fillRect/>
          </a:stretch>
        </p:blipFill>
        <p:spPr>
          <a:xfrm>
            <a:off x="964565" y="1362075"/>
            <a:ext cx="352425" cy="352425"/>
          </a:xfrm>
          <a:prstGeom prst="rect">
            <a:avLst/>
          </a:prstGeom>
        </p:spPr>
      </p:pic>
      <p:sp>
        <p:nvSpPr>
          <p:cNvPr id="203" name="矩形 202"/>
          <p:cNvSpPr/>
          <p:nvPr/>
        </p:nvSpPr>
        <p:spPr>
          <a:xfrm>
            <a:off x="1616075" y="2265680"/>
            <a:ext cx="873760" cy="228600"/>
          </a:xfrm>
          <a:prstGeom prst="rect">
            <a:avLst/>
          </a:prstGeom>
          <a:noFill/>
          <a:ln w="9525">
            <a:solidFill>
              <a:srgbClr val="383838">
                <a:alpha val="70000"/>
              </a:srgbClr>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latin typeface="微软雅黑"/>
                <a:ea typeface="微软雅黑"/>
                <a:cs typeface="微软雅黑"/>
              </a:rPr>
              <a:t>夯实基础</a:t>
            </a:r>
            <a:endParaRPr lang="zh-CN" altLang="en-US" sz="1000">
              <a:solidFill>
                <a:srgbClr val="383838"/>
              </a:solidFill>
              <a:latin typeface="微软雅黑"/>
              <a:ea typeface="微软雅黑"/>
              <a:cs typeface="微软雅黑"/>
            </a:endParaRPr>
          </a:p>
        </p:txBody>
      </p:sp>
      <p:sp>
        <p:nvSpPr>
          <p:cNvPr id="204" name="矩形 203"/>
          <p:cNvSpPr/>
          <p:nvPr/>
        </p:nvSpPr>
        <p:spPr>
          <a:xfrm>
            <a:off x="2654935" y="2265680"/>
            <a:ext cx="873760" cy="228600"/>
          </a:xfrm>
          <a:prstGeom prst="rect">
            <a:avLst/>
          </a:prstGeom>
          <a:noFill/>
          <a:ln w="9525">
            <a:solidFill>
              <a:srgbClr val="383838">
                <a:alpha val="70000"/>
              </a:srgbClr>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r>
              <a:rPr lang="zh-CN" altLang="en-US" sz="1000">
                <a:solidFill>
                  <a:srgbClr val="383838"/>
                </a:solidFill>
                <a:latin typeface="微软雅黑"/>
                <a:ea typeface="微软雅黑"/>
                <a:cs typeface="微软雅黑"/>
              </a:rPr>
              <a:t>爆发式增长</a:t>
            </a:r>
            <a:endParaRPr lang="zh-CN" altLang="en-US" sz="1000">
              <a:solidFill>
                <a:srgbClr val="383838"/>
              </a:solidFill>
              <a:latin typeface="微软雅黑"/>
              <a:ea typeface="微软雅黑"/>
              <a:cs typeface="微软雅黑"/>
            </a:endParaRPr>
          </a:p>
        </p:txBody>
      </p:sp>
      <p:sp>
        <p:nvSpPr>
          <p:cNvPr id="205" name="矩形 204"/>
          <p:cNvSpPr/>
          <p:nvPr/>
        </p:nvSpPr>
        <p:spPr>
          <a:xfrm>
            <a:off x="3693795" y="2265680"/>
            <a:ext cx="873760" cy="228600"/>
          </a:xfrm>
          <a:prstGeom prst="rect">
            <a:avLst/>
          </a:prstGeom>
          <a:noFill/>
          <a:ln w="9525">
            <a:solidFill>
              <a:srgbClr val="383838">
                <a:alpha val="70000"/>
              </a:srgbClr>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优化效率</a:t>
            </a:r>
            <a:endParaRPr lang="zh-CN" altLang="en-US" sz="1000">
              <a:solidFill>
                <a:srgbClr val="383838"/>
              </a:solidFill>
              <a:latin typeface="微软雅黑"/>
              <a:ea typeface="微软雅黑"/>
              <a:cs typeface="微软雅黑"/>
            </a:endParaRPr>
          </a:p>
        </p:txBody>
      </p:sp>
      <p:sp>
        <p:nvSpPr>
          <p:cNvPr id="206" name="矩形 205"/>
          <p:cNvSpPr/>
          <p:nvPr/>
        </p:nvSpPr>
        <p:spPr>
          <a:xfrm>
            <a:off x="4732655" y="2265680"/>
            <a:ext cx="873760" cy="228600"/>
          </a:xfrm>
          <a:prstGeom prst="rect">
            <a:avLst/>
          </a:prstGeom>
          <a:noFill/>
          <a:ln w="9525">
            <a:solidFill>
              <a:srgbClr val="383838">
                <a:alpha val="70000"/>
              </a:srgbClr>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r>
              <a:rPr lang="zh-CN" altLang="en-US" sz="1000">
                <a:solidFill>
                  <a:srgbClr val="383838"/>
                </a:solidFill>
                <a:latin typeface="微软雅黑"/>
                <a:ea typeface="微软雅黑"/>
                <a:cs typeface="微软雅黑"/>
              </a:rPr>
              <a:t>战略性突破</a:t>
            </a:r>
            <a:endParaRPr lang="zh-CN" altLang="en-US" sz="1000">
              <a:solidFill>
                <a:srgbClr val="383838"/>
              </a:solidFill>
              <a:latin typeface="微软雅黑"/>
              <a:ea typeface="微软雅黑"/>
              <a:cs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2" name="组合 11"/>
          <p:cNvGrpSpPr/>
          <p:nvPr/>
        </p:nvGrpSpPr>
        <p:grpSpPr>
          <a:xfrm>
            <a:off x="8738235" y="348615"/>
            <a:ext cx="3219450" cy="332740"/>
            <a:chOff x="13761" y="549"/>
            <a:chExt cx="5070" cy="524"/>
          </a:xfrm>
        </p:grpSpPr>
        <p:pic>
          <p:nvPicPr>
            <p:cNvPr id="14" name="图片 13"/>
            <p:cNvPicPr>
              <a:picLocks noChangeAspect="1"/>
            </p:cNvPicPr>
            <p:nvPr userDrawn="1"/>
          </p:nvPicPr>
          <p:blipFill>
            <a:blip r:embed="rId26"/>
            <a:srcRect l="17002" t="-1765" r="56499" b="-1176"/>
            <a:stretch>
              <a:fillRect/>
            </a:stretch>
          </p:blipFill>
          <p:spPr>
            <a:xfrm>
              <a:off x="13761" y="549"/>
              <a:ext cx="1582" cy="525"/>
            </a:xfrm>
            <a:prstGeom prst="rect">
              <a:avLst/>
            </a:prstGeom>
          </p:spPr>
        </p:pic>
        <p:sp>
          <p:nvSpPr>
            <p:cNvPr id="19" name="文本框 1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effectLst/>
                <a:latin typeface="微软雅黑"/>
                <a:ea typeface="微软雅黑"/>
                <a:cs typeface="微软雅黑"/>
                <a:sym typeface="微软雅黑"/>
              </a:rPr>
              <a:t>业务框架</a:t>
            </a:r>
            <a:r>
              <a:rPr lang="en-US" altLang="zh-CN" sz="2500">
                <a:effectLst/>
                <a:latin typeface="微软雅黑"/>
                <a:ea typeface="微软雅黑"/>
                <a:cs typeface="微软雅黑"/>
                <a:sym typeface="微软雅黑"/>
              </a:rPr>
              <a:t>-</a:t>
            </a:r>
            <a:r>
              <a:rPr sz="2500">
                <a:effectLst/>
                <a:latin typeface="微软雅黑"/>
                <a:ea typeface="微软雅黑"/>
                <a:cs typeface="微软雅黑"/>
                <a:sym typeface="微软雅黑"/>
              </a:rPr>
              <a:t>时间流程架构 | </a:t>
            </a:r>
            <a:r>
              <a:rPr sz="2500">
                <a:solidFill>
                  <a:srgbClr val="383838"/>
                </a:solidFill>
                <a:effectLst/>
                <a:latin typeface="微软雅黑"/>
                <a:ea typeface="微软雅黑"/>
                <a:cs typeface="微软雅黑"/>
              </a:rPr>
              <a:t>企业发展阶段及里程碑</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 name="燕尾形 3"/>
          <p:cNvSpPr/>
          <p:nvPr>
            <p:custDataLst>
              <p:tags r:id="rId3"/>
            </p:custDataLst>
          </p:nvPr>
        </p:nvSpPr>
        <p:spPr>
          <a:xfrm>
            <a:off x="2811780" y="1280160"/>
            <a:ext cx="2811780" cy="446405"/>
          </a:xfrm>
          <a:prstGeom prst="chevron">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7" name="燕尾形 6"/>
          <p:cNvSpPr/>
          <p:nvPr>
            <p:custDataLst>
              <p:tags r:id="rId4"/>
            </p:custDataLst>
          </p:nvPr>
        </p:nvSpPr>
        <p:spPr>
          <a:xfrm>
            <a:off x="991870" y="1300480"/>
            <a:ext cx="1866900" cy="446405"/>
          </a:xfrm>
          <a:prstGeom prst="chevron">
            <a:avLst/>
          </a:prstGeom>
          <a:noFill/>
          <a:ln>
            <a:solidFill>
              <a:srgbClr val="0042FF"/>
            </a:solidFill>
            <a:prstDash val="sysDash"/>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 name="椭圆 7"/>
          <p:cNvSpPr/>
          <p:nvPr>
            <p:custDataLst>
              <p:tags r:id="rId5"/>
            </p:custDataLst>
          </p:nvPr>
        </p:nvSpPr>
        <p:spPr>
          <a:xfrm>
            <a:off x="818198" y="1243330"/>
            <a:ext cx="560070" cy="560070"/>
          </a:xfrm>
          <a:prstGeom prst="ellipse">
            <a:avLst/>
          </a:prstGeom>
          <a:gradFill>
            <a:gsLst>
              <a:gs pos="0">
                <a:srgbClr val="0042FF"/>
              </a:gs>
              <a:gs pos="100000">
                <a:srgbClr val="3368FF"/>
              </a:gs>
            </a:gsLst>
            <a:lin ang="2700000" scaled="0"/>
          </a:gradFill>
          <a:ln>
            <a:solidFill>
              <a:srgbClr val="FFFF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9" name="椭圆 8"/>
          <p:cNvSpPr/>
          <p:nvPr>
            <p:custDataLst>
              <p:tags r:id="rId6"/>
            </p:custDataLst>
          </p:nvPr>
        </p:nvSpPr>
        <p:spPr>
          <a:xfrm>
            <a:off x="2957513" y="1226185"/>
            <a:ext cx="560070" cy="560070"/>
          </a:xfrm>
          <a:prstGeom prst="ellipse">
            <a:avLst/>
          </a:prstGeom>
          <a:solidFill>
            <a:srgbClr val="FFFFFF"/>
          </a:solidFill>
          <a:ln>
            <a:solidFill>
              <a:srgbClr val="0042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1" name="燕尾形 10"/>
          <p:cNvSpPr/>
          <p:nvPr>
            <p:custDataLst>
              <p:tags r:id="rId7"/>
            </p:custDataLst>
          </p:nvPr>
        </p:nvSpPr>
        <p:spPr>
          <a:xfrm>
            <a:off x="5727065" y="1297305"/>
            <a:ext cx="2949575" cy="446405"/>
          </a:xfrm>
          <a:prstGeom prst="chevron">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12" name="椭圆 11"/>
          <p:cNvSpPr/>
          <p:nvPr>
            <p:custDataLst>
              <p:tags r:id="rId8"/>
            </p:custDataLst>
          </p:nvPr>
        </p:nvSpPr>
        <p:spPr>
          <a:xfrm>
            <a:off x="5866130" y="1243330"/>
            <a:ext cx="560070" cy="560070"/>
          </a:xfrm>
          <a:prstGeom prst="ellipse">
            <a:avLst/>
          </a:prstGeom>
          <a:solidFill>
            <a:srgbClr val="FFFFFF"/>
          </a:solidFill>
          <a:ln>
            <a:solidFill>
              <a:srgbClr val="0042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13" name="燕尾形 12"/>
          <p:cNvSpPr/>
          <p:nvPr>
            <p:custDataLst>
              <p:tags r:id="rId9"/>
            </p:custDataLst>
          </p:nvPr>
        </p:nvSpPr>
        <p:spPr>
          <a:xfrm>
            <a:off x="8716645" y="1297305"/>
            <a:ext cx="2811780" cy="446405"/>
          </a:xfrm>
          <a:prstGeom prst="chevron">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14" name="椭圆 13"/>
          <p:cNvSpPr/>
          <p:nvPr>
            <p:custDataLst>
              <p:tags r:id="rId10"/>
            </p:custDataLst>
          </p:nvPr>
        </p:nvSpPr>
        <p:spPr>
          <a:xfrm>
            <a:off x="8860155" y="1243330"/>
            <a:ext cx="560070" cy="560070"/>
          </a:xfrm>
          <a:prstGeom prst="ellipse">
            <a:avLst/>
          </a:prstGeom>
          <a:solidFill>
            <a:srgbClr val="FFFFFF"/>
          </a:solidFill>
          <a:ln>
            <a:solidFill>
              <a:srgbClr val="0042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cxnSp>
        <p:nvCxnSpPr>
          <p:cNvPr id="34" name="直接连接符 33"/>
          <p:cNvCxnSpPr/>
          <p:nvPr/>
        </p:nvCxnSpPr>
        <p:spPr>
          <a:xfrm>
            <a:off x="2435225" y="3155315"/>
            <a:ext cx="0" cy="1888490"/>
          </a:xfrm>
          <a:prstGeom prst="line">
            <a:avLst/>
          </a:prstGeom>
          <a:ln w="28575" cmpd="sng">
            <a:gradFill>
              <a:gsLst>
                <a:gs pos="0">
                  <a:srgbClr val="B3D4FE">
                    <a:alpha val="0"/>
                  </a:srgbClr>
                </a:gs>
                <a:gs pos="100000">
                  <a:srgbClr val="B3D4FE"/>
                </a:gs>
              </a:gsLst>
              <a:lin ang="5400000" scaled="1"/>
            </a:gradFill>
            <a:prstDash val="sysDot"/>
            <a:tailEnd type="diamond" w="lg" len="lg"/>
          </a:ln>
        </p:spPr>
        <p:style>
          <a:lnRef idx="2">
            <a:srgbClr val="0042FF"/>
          </a:lnRef>
          <a:fillRef idx="0">
            <a:srgbClr val="FFFFFF"/>
          </a:fillRef>
          <a:effectRef idx="0">
            <a:srgbClr val="FFFFFF"/>
          </a:effectRef>
          <a:fontRef idx="minor">
            <a:srgbClr val="383838"/>
          </a:fontRef>
        </p:style>
      </p:cxnSp>
      <p:cxnSp>
        <p:nvCxnSpPr>
          <p:cNvPr id="35" name="直接连接符 34"/>
          <p:cNvCxnSpPr/>
          <p:nvPr/>
        </p:nvCxnSpPr>
        <p:spPr>
          <a:xfrm>
            <a:off x="5514975" y="3037205"/>
            <a:ext cx="0" cy="2006600"/>
          </a:xfrm>
          <a:prstGeom prst="line">
            <a:avLst/>
          </a:prstGeom>
          <a:ln w="28575" cmpd="sng">
            <a:gradFill>
              <a:gsLst>
                <a:gs pos="0">
                  <a:srgbClr val="B3D4FE">
                    <a:alpha val="0"/>
                  </a:srgbClr>
                </a:gs>
                <a:gs pos="100000">
                  <a:srgbClr val="B3D4FE"/>
                </a:gs>
              </a:gsLst>
              <a:lin ang="5400000" scaled="1"/>
            </a:gradFill>
            <a:prstDash val="sysDot"/>
            <a:tailEnd type="diamond" w="lg" len="lg"/>
          </a:ln>
        </p:spPr>
        <p:style>
          <a:lnRef idx="2">
            <a:srgbClr val="0042FF"/>
          </a:lnRef>
          <a:fillRef idx="0">
            <a:srgbClr val="FFFFFF"/>
          </a:fillRef>
          <a:effectRef idx="0">
            <a:srgbClr val="FFFFFF"/>
          </a:effectRef>
          <a:fontRef idx="minor">
            <a:srgbClr val="383838"/>
          </a:fontRef>
        </p:style>
      </p:cxnSp>
      <p:cxnSp>
        <p:nvCxnSpPr>
          <p:cNvPr id="36" name="直接连接符 35"/>
          <p:cNvCxnSpPr/>
          <p:nvPr/>
        </p:nvCxnSpPr>
        <p:spPr>
          <a:xfrm>
            <a:off x="8568055" y="3037205"/>
            <a:ext cx="0" cy="2006600"/>
          </a:xfrm>
          <a:prstGeom prst="line">
            <a:avLst/>
          </a:prstGeom>
          <a:ln w="28575" cmpd="sng">
            <a:gradFill>
              <a:gsLst>
                <a:gs pos="0">
                  <a:srgbClr val="B3D4FE">
                    <a:alpha val="0"/>
                  </a:srgbClr>
                </a:gs>
                <a:gs pos="100000">
                  <a:srgbClr val="B3D4FE"/>
                </a:gs>
              </a:gsLst>
              <a:lin ang="5400000" scaled="1"/>
            </a:gradFill>
            <a:prstDash val="sysDot"/>
            <a:tailEnd type="diamond" w="lg" len="lg"/>
          </a:ln>
        </p:spPr>
        <p:style>
          <a:lnRef idx="2">
            <a:srgbClr val="0042FF"/>
          </a:lnRef>
          <a:fillRef idx="0">
            <a:srgbClr val="FFFFFF"/>
          </a:fillRef>
          <a:effectRef idx="0">
            <a:srgbClr val="FFFFFF"/>
          </a:effectRef>
          <a:fontRef idx="minor">
            <a:srgbClr val="383838"/>
          </a:fontRef>
        </p:style>
      </p:cxnSp>
      <p:sp>
        <p:nvSpPr>
          <p:cNvPr id="37" name="矩形 36"/>
          <p:cNvSpPr/>
          <p:nvPr/>
        </p:nvSpPr>
        <p:spPr>
          <a:xfrm>
            <a:off x="2622550" y="3317875"/>
            <a:ext cx="495300" cy="1680210"/>
          </a:xfrm>
          <a:prstGeom prst="rect">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38" name="矩形 37"/>
          <p:cNvSpPr/>
          <p:nvPr/>
        </p:nvSpPr>
        <p:spPr>
          <a:xfrm>
            <a:off x="5734685" y="3092450"/>
            <a:ext cx="495300" cy="1800225"/>
          </a:xfrm>
          <a:prstGeom prst="rect">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39" name="矩形 38"/>
          <p:cNvSpPr/>
          <p:nvPr/>
        </p:nvSpPr>
        <p:spPr>
          <a:xfrm>
            <a:off x="8716645" y="2908300"/>
            <a:ext cx="495300" cy="1701800"/>
          </a:xfrm>
          <a:prstGeom prst="rect">
            <a:avLst/>
          </a:prstGeom>
          <a:gradFill>
            <a:gsLst>
              <a:gs pos="0">
                <a:srgbClr val="E6E6E6"/>
              </a:gs>
              <a:gs pos="88000">
                <a:srgbClr val="E6E6E6">
                  <a:alpha val="0"/>
                </a:srgbClr>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40" name="圆角矩形 39"/>
          <p:cNvSpPr/>
          <p:nvPr/>
        </p:nvSpPr>
        <p:spPr>
          <a:xfrm>
            <a:off x="2692400" y="2346325"/>
            <a:ext cx="2635250" cy="844550"/>
          </a:xfrm>
          <a:prstGeom prst="roundRect">
            <a:avLst/>
          </a:prstGeom>
          <a:gradFill>
            <a:gsLst>
              <a:gs pos="0">
                <a:srgbClr val="3368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1" name="圆角矩形 40"/>
          <p:cNvSpPr/>
          <p:nvPr/>
        </p:nvSpPr>
        <p:spPr>
          <a:xfrm>
            <a:off x="5730875" y="2155825"/>
            <a:ext cx="2635250" cy="844550"/>
          </a:xfrm>
          <a:prstGeom prst="roundRect">
            <a:avLst/>
          </a:prstGeom>
          <a:gradFill>
            <a:gsLst>
              <a:gs pos="0">
                <a:srgbClr val="3368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42" name="圆角矩形 41"/>
          <p:cNvSpPr/>
          <p:nvPr/>
        </p:nvSpPr>
        <p:spPr>
          <a:xfrm>
            <a:off x="8764270" y="1933575"/>
            <a:ext cx="2635250" cy="844550"/>
          </a:xfrm>
          <a:prstGeom prst="roundRect">
            <a:avLst/>
          </a:prstGeom>
          <a:gradFill>
            <a:gsLst>
              <a:gs pos="0">
                <a:srgbClr val="3368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cs typeface="微软雅黑"/>
              <a:sym typeface="微软雅黑"/>
              <a:latin typeface="微软雅黑"/>
              <a:ea typeface="微软雅黑"/>
            </a:endParaRPr>
          </a:p>
        </p:txBody>
      </p:sp>
      <p:sp>
        <p:nvSpPr>
          <p:cNvPr id="2" name="文本框 1"/>
          <p:cNvSpPr txBox="1"/>
          <p:nvPr>
            <p:custDataLst>
              <p:tags r:id="rId11"/>
            </p:custDataLst>
          </p:nvPr>
        </p:nvSpPr>
        <p:spPr>
          <a:xfrm>
            <a:off x="818198" y="1303973"/>
            <a:ext cx="560070" cy="438785"/>
          </a:xfrm>
          <a:prstGeom prst="rect">
            <a:avLst/>
          </a:prstGeom>
          <a:noFill/>
        </p:spPr>
        <p:txBody>
          <a:bodyPr wrap="square" rtlCol="0">
            <a:noAutofit/>
          </a:bodyPr>
          <a:p>
            <a:pPr algn="ctr">
              <a:defRPr>
                <a:solidFill>
                  <a:srgbClr val="FFFFFF"/>
                </a:solidFill>
                <a:latin typeface="微软雅黑"/>
                <a:ea typeface="微软雅黑"/>
                <a:cs typeface="微软雅黑"/>
              </a:defRPr>
            </a:pPr>
            <a:r>
              <a:rPr lang="zh-CN" altLang="en-US" sz="1200" b="1">
                <a:solidFill>
                  <a:srgbClr val="FFFFFF"/>
                </a:solidFill>
                <a:latin typeface="微软雅黑"/>
                <a:ea typeface="微软雅黑"/>
                <a:cs typeface="微软雅黑"/>
              </a:rPr>
              <a:t>阶段</a:t>
            </a:r>
            <a:endParaRPr lang="zh-CN" altLang="en-US" sz="12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en-US" altLang="zh-CN" sz="1200" b="1">
                <a:solidFill>
                  <a:srgbClr val="FFFFFF"/>
                </a:solidFill>
                <a:latin typeface="微软雅黑"/>
                <a:ea typeface="微软雅黑"/>
                <a:cs typeface="微软雅黑"/>
              </a:rPr>
              <a:t>0.0</a:t>
            </a:r>
            <a:endParaRPr lang="en-US" altLang="zh-CN" sz="1200" b="1">
              <a:solidFill>
                <a:srgbClr val="FFFFFF"/>
              </a:solidFill>
              <a:latin typeface="微软雅黑"/>
              <a:ea typeface="微软雅黑"/>
              <a:cs typeface="微软雅黑"/>
            </a:endParaRPr>
          </a:p>
        </p:txBody>
      </p:sp>
      <p:sp>
        <p:nvSpPr>
          <p:cNvPr id="3" name="文本框 2"/>
          <p:cNvSpPr txBox="1"/>
          <p:nvPr>
            <p:custDataLst>
              <p:tags r:id="rId12"/>
            </p:custDataLst>
          </p:nvPr>
        </p:nvSpPr>
        <p:spPr>
          <a:xfrm>
            <a:off x="1374775" y="1350010"/>
            <a:ext cx="128524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商业化试验</a:t>
            </a:r>
            <a:endParaRPr lang="zh-CN" altLang="en-US" sz="1400" b="1">
              <a:solidFill>
                <a:srgbClr val="0042FF"/>
              </a:solidFill>
              <a:latin typeface="微软雅黑"/>
              <a:ea typeface="微软雅黑"/>
              <a:cs typeface="微软雅黑"/>
            </a:endParaRPr>
          </a:p>
        </p:txBody>
      </p:sp>
      <p:sp>
        <p:nvSpPr>
          <p:cNvPr id="16" name="文本框 15"/>
          <p:cNvSpPr txBox="1"/>
          <p:nvPr>
            <p:custDataLst>
              <p:tags r:id="rId13"/>
            </p:custDataLst>
          </p:nvPr>
        </p:nvSpPr>
        <p:spPr>
          <a:xfrm>
            <a:off x="2957513" y="1286828"/>
            <a:ext cx="560070" cy="438785"/>
          </a:xfrm>
          <a:prstGeom prst="rect">
            <a:avLst/>
          </a:prstGeom>
          <a:noFill/>
        </p:spPr>
        <p:txBody>
          <a:bodyPr wrap="square" rtlCol="0">
            <a:no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阶段</a:t>
            </a:r>
            <a:endParaRPr lang="zh-CN" altLang="en-US" sz="1200" b="1">
              <a:solidFill>
                <a:srgbClr val="0042FF"/>
              </a:solidFill>
              <a:latin typeface="微软雅黑"/>
              <a:ea typeface="微软雅黑"/>
              <a:cs typeface="微软雅黑"/>
            </a:endParaRPr>
          </a:p>
          <a:p>
            <a:pPr algn="ctr">
              <a:defRPr>
                <a:latin typeface="微软雅黑"/>
                <a:ea typeface="微软雅黑"/>
                <a:cs typeface="微软雅黑"/>
              </a:defRPr>
            </a:pPr>
            <a:r>
              <a:rPr lang="en-US" altLang="zh-CN" sz="1200" b="1">
                <a:solidFill>
                  <a:srgbClr val="0042FF"/>
                </a:solidFill>
                <a:latin typeface="微软雅黑"/>
                <a:ea typeface="微软雅黑"/>
                <a:cs typeface="微软雅黑"/>
              </a:rPr>
              <a:t>1.0</a:t>
            </a:r>
            <a:endParaRPr lang="en-US" altLang="zh-CN" sz="1200" b="1">
              <a:solidFill>
                <a:srgbClr val="0042FF"/>
              </a:solidFill>
              <a:latin typeface="微软雅黑"/>
              <a:ea typeface="微软雅黑"/>
              <a:cs typeface="微软雅黑"/>
            </a:endParaRPr>
          </a:p>
        </p:txBody>
      </p:sp>
      <p:sp>
        <p:nvSpPr>
          <p:cNvPr id="18" name="文本框 17"/>
          <p:cNvSpPr txBox="1"/>
          <p:nvPr>
            <p:custDataLst>
              <p:tags r:id="rId14"/>
            </p:custDataLst>
          </p:nvPr>
        </p:nvSpPr>
        <p:spPr>
          <a:xfrm>
            <a:off x="3579495" y="1350010"/>
            <a:ext cx="1831975" cy="30670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蓬勃发展，多点开花</a:t>
            </a:r>
            <a:endParaRPr lang="zh-CN" altLang="en-US" sz="1400" b="1">
              <a:solidFill>
                <a:srgbClr val="FFFFFF"/>
              </a:solidFill>
              <a:latin typeface="微软雅黑"/>
              <a:ea typeface="微软雅黑"/>
              <a:cs typeface="微软雅黑"/>
            </a:endParaRPr>
          </a:p>
        </p:txBody>
      </p:sp>
      <p:sp>
        <p:nvSpPr>
          <p:cNvPr id="19" name="文本框 18"/>
          <p:cNvSpPr txBox="1"/>
          <p:nvPr>
            <p:custDataLst>
              <p:tags r:id="rId15"/>
            </p:custDataLst>
          </p:nvPr>
        </p:nvSpPr>
        <p:spPr>
          <a:xfrm>
            <a:off x="5866130" y="1303973"/>
            <a:ext cx="560070" cy="438785"/>
          </a:xfrm>
          <a:prstGeom prst="rect">
            <a:avLst/>
          </a:prstGeom>
          <a:noFill/>
        </p:spPr>
        <p:txBody>
          <a:bodyPr wrap="square" rtlCol="0">
            <a:no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阶段</a:t>
            </a:r>
            <a:endParaRPr lang="zh-CN" altLang="en-US" sz="1200" b="1">
              <a:solidFill>
                <a:srgbClr val="0042FF"/>
              </a:solidFill>
              <a:latin typeface="微软雅黑"/>
              <a:ea typeface="微软雅黑"/>
              <a:cs typeface="微软雅黑"/>
            </a:endParaRPr>
          </a:p>
          <a:p>
            <a:pPr algn="ctr">
              <a:defRPr>
                <a:latin typeface="微软雅黑"/>
                <a:ea typeface="微软雅黑"/>
                <a:cs typeface="微软雅黑"/>
              </a:defRPr>
            </a:pPr>
            <a:r>
              <a:rPr lang="en-US" altLang="zh-CN" sz="1200" b="1">
                <a:solidFill>
                  <a:srgbClr val="0042FF"/>
                </a:solidFill>
                <a:latin typeface="微软雅黑"/>
                <a:ea typeface="微软雅黑"/>
                <a:cs typeface="微软雅黑"/>
              </a:rPr>
              <a:t>2.0</a:t>
            </a:r>
            <a:endParaRPr lang="en-US" altLang="zh-CN" sz="1200" b="1">
              <a:solidFill>
                <a:srgbClr val="0042FF"/>
              </a:solidFill>
              <a:latin typeface="微软雅黑"/>
              <a:ea typeface="微软雅黑"/>
              <a:cs typeface="微软雅黑"/>
            </a:endParaRPr>
          </a:p>
        </p:txBody>
      </p:sp>
      <p:sp>
        <p:nvSpPr>
          <p:cNvPr id="27" name="文本框 26"/>
          <p:cNvSpPr txBox="1"/>
          <p:nvPr>
            <p:custDataLst>
              <p:tags r:id="rId16"/>
            </p:custDataLst>
          </p:nvPr>
        </p:nvSpPr>
        <p:spPr>
          <a:xfrm>
            <a:off x="6534150" y="1350010"/>
            <a:ext cx="183197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规模发展，效益向好</a:t>
            </a:r>
            <a:endParaRPr lang="zh-CN" altLang="en-US" sz="1400" b="1">
              <a:solidFill>
                <a:srgbClr val="FFFFFF"/>
              </a:solidFill>
              <a:latin typeface="微软雅黑"/>
              <a:ea typeface="微软雅黑"/>
              <a:cs typeface="微软雅黑"/>
            </a:endParaRPr>
          </a:p>
        </p:txBody>
      </p:sp>
      <p:sp>
        <p:nvSpPr>
          <p:cNvPr id="43" name="文本框 42"/>
          <p:cNvSpPr txBox="1"/>
          <p:nvPr>
            <p:custDataLst>
              <p:tags r:id="rId17"/>
            </p:custDataLst>
          </p:nvPr>
        </p:nvSpPr>
        <p:spPr>
          <a:xfrm>
            <a:off x="8860155" y="1303973"/>
            <a:ext cx="560070" cy="438785"/>
          </a:xfrm>
          <a:prstGeom prst="rect">
            <a:avLst/>
          </a:prstGeom>
          <a:noFill/>
        </p:spPr>
        <p:txBody>
          <a:bodyPr wrap="square" rtlCol="0">
            <a:noAutofit/>
          </a:bodyPr>
          <a:p>
            <a:pPr algn="ctr">
              <a:defRPr>
                <a:latin typeface="微软雅黑"/>
                <a:ea typeface="微软雅黑"/>
                <a:cs typeface="微软雅黑"/>
              </a:defRPr>
            </a:pPr>
            <a:r>
              <a:rPr lang="zh-CN" altLang="en-US" sz="1200" b="1">
                <a:solidFill>
                  <a:srgbClr val="0042FF"/>
                </a:solidFill>
                <a:latin typeface="微软雅黑"/>
                <a:ea typeface="微软雅黑"/>
                <a:cs typeface="微软雅黑"/>
              </a:rPr>
              <a:t>阶段</a:t>
            </a:r>
            <a:endParaRPr lang="zh-CN" altLang="en-US" sz="1200" b="1">
              <a:solidFill>
                <a:srgbClr val="0042FF"/>
              </a:solidFill>
              <a:latin typeface="微软雅黑"/>
              <a:ea typeface="微软雅黑"/>
              <a:cs typeface="微软雅黑"/>
            </a:endParaRPr>
          </a:p>
          <a:p>
            <a:pPr algn="ctr">
              <a:defRPr>
                <a:latin typeface="微软雅黑"/>
                <a:ea typeface="微软雅黑"/>
                <a:cs typeface="微软雅黑"/>
              </a:defRPr>
            </a:pPr>
            <a:r>
              <a:rPr lang="en-US" altLang="zh-CN" sz="1200" b="1">
                <a:solidFill>
                  <a:srgbClr val="0042FF"/>
                </a:solidFill>
                <a:latin typeface="微软雅黑"/>
                <a:ea typeface="微软雅黑"/>
                <a:cs typeface="微软雅黑"/>
              </a:rPr>
              <a:t>3.0</a:t>
            </a:r>
            <a:endParaRPr lang="en-US" altLang="zh-CN" sz="1200" b="1">
              <a:solidFill>
                <a:srgbClr val="0042FF"/>
              </a:solidFill>
              <a:latin typeface="微软雅黑"/>
              <a:ea typeface="微软雅黑"/>
              <a:cs typeface="微软雅黑"/>
            </a:endParaRPr>
          </a:p>
        </p:txBody>
      </p:sp>
      <p:sp>
        <p:nvSpPr>
          <p:cNvPr id="44" name="文本框 43"/>
          <p:cNvSpPr txBox="1"/>
          <p:nvPr>
            <p:custDataLst>
              <p:tags r:id="rId18"/>
            </p:custDataLst>
          </p:nvPr>
        </p:nvSpPr>
        <p:spPr>
          <a:xfrm>
            <a:off x="9455150" y="1350010"/>
            <a:ext cx="183197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成熟稳定，精细运作</a:t>
            </a:r>
            <a:endParaRPr lang="zh-CN" altLang="en-US" sz="1400" b="1">
              <a:solidFill>
                <a:srgbClr val="FFFFFF"/>
              </a:solidFill>
              <a:latin typeface="微软雅黑"/>
              <a:ea typeface="微软雅黑"/>
              <a:cs typeface="微软雅黑"/>
            </a:endParaRPr>
          </a:p>
        </p:txBody>
      </p:sp>
      <p:sp>
        <p:nvSpPr>
          <p:cNvPr id="49" name="Freeform 32"/>
          <p:cNvSpPr/>
          <p:nvPr/>
        </p:nvSpPr>
        <p:spPr bwMode="gray">
          <a:xfrm rot="16980000">
            <a:off x="5240655" y="1929130"/>
            <a:ext cx="659765" cy="758190"/>
          </a:xfrm>
          <a:custGeom>
            <a:avLst/>
            <a:gdLst>
              <a:gd name="T0" fmla="*/ 2147483647 w 395"/>
              <a:gd name="T1" fmla="*/ 2147483647 h 316"/>
              <a:gd name="T2" fmla="*/ 2147483647 w 395"/>
              <a:gd name="T3" fmla="*/ 2147483647 h 316"/>
              <a:gd name="T4" fmla="*/ 2147483647 w 395"/>
              <a:gd name="T5" fmla="*/ 2147483647 h 316"/>
              <a:gd name="T6" fmla="*/ 2147483647 w 395"/>
              <a:gd name="T7" fmla="*/ 2147483647 h 316"/>
              <a:gd name="T8" fmla="*/ 2147483647 w 395"/>
              <a:gd name="T9" fmla="*/ 2147483647 h 316"/>
              <a:gd name="T10" fmla="*/ 2147483647 w 395"/>
              <a:gd name="T11" fmla="*/ 2147483647 h 316"/>
              <a:gd name="T12" fmla="*/ 2147483647 w 395"/>
              <a:gd name="T13" fmla="*/ 2147483647 h 316"/>
              <a:gd name="T14" fmla="*/ 2147483647 w 395"/>
              <a:gd name="T15" fmla="*/ 2147483647 h 316"/>
              <a:gd name="T16" fmla="*/ 2147483647 w 395"/>
              <a:gd name="T17" fmla="*/ 2147483647 h 316"/>
              <a:gd name="T18" fmla="*/ 2147483647 w 395"/>
              <a:gd name="T19" fmla="*/ 2147483647 h 316"/>
              <a:gd name="T20" fmla="*/ 2147483647 w 395"/>
              <a:gd name="T21" fmla="*/ 2147483647 h 316"/>
              <a:gd name="T22" fmla="*/ 2147483647 w 395"/>
              <a:gd name="T23" fmla="*/ 2147483647 h 316"/>
              <a:gd name="T24" fmla="*/ 2147483647 w 395"/>
              <a:gd name="T25" fmla="*/ 2147483647 h 316"/>
              <a:gd name="T26" fmla="*/ 2147483647 w 395"/>
              <a:gd name="T27" fmla="*/ 2147483647 h 316"/>
              <a:gd name="T28" fmla="*/ 2147483647 w 395"/>
              <a:gd name="T29" fmla="*/ 2147483647 h 316"/>
              <a:gd name="T30" fmla="*/ 2147483647 w 395"/>
              <a:gd name="T31" fmla="*/ 2147483647 h 316"/>
              <a:gd name="T32" fmla="*/ 2147483647 w 395"/>
              <a:gd name="T33" fmla="*/ 2147483647 h 316"/>
              <a:gd name="T34" fmla="*/ 2147483647 w 395"/>
              <a:gd name="T35" fmla="*/ 2147483647 h 316"/>
              <a:gd name="T36" fmla="*/ 2147483647 w 395"/>
              <a:gd name="T37" fmla="*/ 2147483647 h 316"/>
              <a:gd name="T38" fmla="*/ 2147483647 w 395"/>
              <a:gd name="T39" fmla="*/ 2147483647 h 316"/>
              <a:gd name="T40" fmla="*/ 2147483647 w 395"/>
              <a:gd name="T41" fmla="*/ 2147483647 h 316"/>
              <a:gd name="T42" fmla="*/ 2147483647 w 395"/>
              <a:gd name="T43" fmla="*/ 2147483647 h 316"/>
              <a:gd name="T44" fmla="*/ 2147483647 w 395"/>
              <a:gd name="T45" fmla="*/ 2147483647 h 316"/>
              <a:gd name="T46" fmla="*/ 2147483647 w 395"/>
              <a:gd name="T47" fmla="*/ 2147483647 h 316"/>
              <a:gd name="T48" fmla="*/ 2147483647 w 395"/>
              <a:gd name="T49" fmla="*/ 2147483647 h 316"/>
              <a:gd name="T50" fmla="*/ 2147483647 w 395"/>
              <a:gd name="T51" fmla="*/ 2147483647 h 316"/>
              <a:gd name="T52" fmla="*/ 2147483647 w 395"/>
              <a:gd name="T53" fmla="*/ 2147483647 h 316"/>
              <a:gd name="T54" fmla="*/ 2147483647 w 395"/>
              <a:gd name="T55" fmla="*/ 2147483647 h 316"/>
              <a:gd name="T56" fmla="*/ 2147483647 w 395"/>
              <a:gd name="T57" fmla="*/ 2147483647 h 316"/>
              <a:gd name="T58" fmla="*/ 2147483647 w 395"/>
              <a:gd name="T59" fmla="*/ 2147483647 h 316"/>
              <a:gd name="T60" fmla="*/ 2147483647 w 395"/>
              <a:gd name="T61" fmla="*/ 2147483647 h 316"/>
              <a:gd name="T62" fmla="*/ 2147483647 w 395"/>
              <a:gd name="T63" fmla="*/ 2147483647 h 316"/>
              <a:gd name="T64" fmla="*/ 2147483647 w 395"/>
              <a:gd name="T65" fmla="*/ 2147483647 h 316"/>
              <a:gd name="T66" fmla="*/ 2147483647 w 395"/>
              <a:gd name="T67" fmla="*/ 2147483647 h 316"/>
              <a:gd name="T68" fmla="*/ 2147483647 w 395"/>
              <a:gd name="T69" fmla="*/ 2147483647 h 316"/>
              <a:gd name="T70" fmla="*/ 2147483647 w 395"/>
              <a:gd name="T71" fmla="*/ 2147483647 h 316"/>
              <a:gd name="T72" fmla="*/ 0 w 395"/>
              <a:gd name="T73" fmla="*/ 2147483647 h 316"/>
              <a:gd name="T74" fmla="*/ 0 w 395"/>
              <a:gd name="T75" fmla="*/ 2147483647 h 316"/>
              <a:gd name="T76" fmla="*/ 0 w 395"/>
              <a:gd name="T77" fmla="*/ 2147483647 h 316"/>
              <a:gd name="T78" fmla="*/ 0 w 395"/>
              <a:gd name="T79" fmla="*/ 2147483647 h 316"/>
              <a:gd name="T80" fmla="*/ 0 w 395"/>
              <a:gd name="T81" fmla="*/ 0 h 316"/>
              <a:gd name="T82" fmla="*/ 2147483647 w 395"/>
              <a:gd name="T83" fmla="*/ 0 h 316"/>
              <a:gd name="T84" fmla="*/ 2147483647 w 395"/>
              <a:gd name="T85" fmla="*/ 0 h 316"/>
              <a:gd name="T86" fmla="*/ 2147483647 w 395"/>
              <a:gd name="T87" fmla="*/ 2147483647 h 316"/>
              <a:gd name="T88" fmla="*/ 2147483647 w 395"/>
              <a:gd name="T89" fmla="*/ 2147483647 h 316"/>
              <a:gd name="T90" fmla="*/ 2147483647 w 395"/>
              <a:gd name="T91" fmla="*/ 2147483647 h 316"/>
              <a:gd name="T92" fmla="*/ 2147483647 w 395"/>
              <a:gd name="T93" fmla="*/ 2147483647 h 316"/>
              <a:gd name="T94" fmla="*/ 2147483647 w 395"/>
              <a:gd name="T95" fmla="*/ 2147483647 h 316"/>
              <a:gd name="T96" fmla="*/ 2147483647 w 395"/>
              <a:gd name="T97" fmla="*/ 2147483647 h 316"/>
              <a:gd name="T98" fmla="*/ 2147483647 w 395"/>
              <a:gd name="T99" fmla="*/ 2147483647 h 316"/>
              <a:gd name="T100" fmla="*/ 2147483647 w 395"/>
              <a:gd name="T101" fmla="*/ 2147483647 h 316"/>
              <a:gd name="T102" fmla="*/ 2147483647 w 395"/>
              <a:gd name="T103" fmla="*/ 2147483647 h 316"/>
              <a:gd name="T104" fmla="*/ 2147483647 w 395"/>
              <a:gd name="T105" fmla="*/ 2147483647 h 316"/>
              <a:gd name="T106" fmla="*/ 2147483647 w 395"/>
              <a:gd name="T107" fmla="*/ 2147483647 h 316"/>
              <a:gd name="T108" fmla="*/ 2147483647 w 395"/>
              <a:gd name="T109" fmla="*/ 2147483647 h 3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95" h="316">
                <a:moveTo>
                  <a:pt x="357" y="190"/>
                </a:moveTo>
                <a:lnTo>
                  <a:pt x="357" y="194"/>
                </a:lnTo>
                <a:lnTo>
                  <a:pt x="358" y="197"/>
                </a:lnTo>
                <a:lnTo>
                  <a:pt x="359" y="200"/>
                </a:lnTo>
                <a:lnTo>
                  <a:pt x="359" y="202"/>
                </a:lnTo>
                <a:lnTo>
                  <a:pt x="360" y="205"/>
                </a:lnTo>
                <a:lnTo>
                  <a:pt x="360" y="207"/>
                </a:lnTo>
                <a:lnTo>
                  <a:pt x="361" y="209"/>
                </a:lnTo>
                <a:lnTo>
                  <a:pt x="361" y="211"/>
                </a:lnTo>
                <a:lnTo>
                  <a:pt x="362" y="212"/>
                </a:lnTo>
                <a:lnTo>
                  <a:pt x="362" y="214"/>
                </a:lnTo>
                <a:lnTo>
                  <a:pt x="362" y="215"/>
                </a:lnTo>
                <a:lnTo>
                  <a:pt x="362" y="216"/>
                </a:lnTo>
                <a:lnTo>
                  <a:pt x="363" y="217"/>
                </a:lnTo>
                <a:lnTo>
                  <a:pt x="363" y="218"/>
                </a:lnTo>
                <a:lnTo>
                  <a:pt x="364" y="218"/>
                </a:lnTo>
                <a:lnTo>
                  <a:pt x="365" y="218"/>
                </a:lnTo>
                <a:lnTo>
                  <a:pt x="366" y="218"/>
                </a:lnTo>
                <a:lnTo>
                  <a:pt x="367" y="218"/>
                </a:lnTo>
                <a:lnTo>
                  <a:pt x="368" y="218"/>
                </a:lnTo>
                <a:lnTo>
                  <a:pt x="369" y="218"/>
                </a:lnTo>
                <a:lnTo>
                  <a:pt x="370" y="218"/>
                </a:lnTo>
                <a:lnTo>
                  <a:pt x="372" y="218"/>
                </a:lnTo>
                <a:lnTo>
                  <a:pt x="373" y="218"/>
                </a:lnTo>
                <a:lnTo>
                  <a:pt x="375" y="218"/>
                </a:lnTo>
                <a:lnTo>
                  <a:pt x="376" y="218"/>
                </a:lnTo>
                <a:lnTo>
                  <a:pt x="378" y="218"/>
                </a:lnTo>
                <a:lnTo>
                  <a:pt x="380" y="218"/>
                </a:lnTo>
                <a:lnTo>
                  <a:pt x="382" y="218"/>
                </a:lnTo>
                <a:lnTo>
                  <a:pt x="384" y="218"/>
                </a:lnTo>
                <a:lnTo>
                  <a:pt x="385" y="218"/>
                </a:lnTo>
                <a:lnTo>
                  <a:pt x="387" y="218"/>
                </a:lnTo>
                <a:lnTo>
                  <a:pt x="388" y="218"/>
                </a:lnTo>
                <a:lnTo>
                  <a:pt x="389" y="218"/>
                </a:lnTo>
                <a:lnTo>
                  <a:pt x="390" y="218"/>
                </a:lnTo>
                <a:lnTo>
                  <a:pt x="391" y="218"/>
                </a:lnTo>
                <a:lnTo>
                  <a:pt x="392" y="218"/>
                </a:lnTo>
                <a:lnTo>
                  <a:pt x="393" y="218"/>
                </a:lnTo>
                <a:lnTo>
                  <a:pt x="394" y="218"/>
                </a:lnTo>
                <a:lnTo>
                  <a:pt x="393" y="218"/>
                </a:lnTo>
                <a:lnTo>
                  <a:pt x="393" y="219"/>
                </a:lnTo>
                <a:lnTo>
                  <a:pt x="391" y="221"/>
                </a:lnTo>
                <a:lnTo>
                  <a:pt x="390" y="222"/>
                </a:lnTo>
                <a:lnTo>
                  <a:pt x="388" y="224"/>
                </a:lnTo>
                <a:lnTo>
                  <a:pt x="386" y="227"/>
                </a:lnTo>
                <a:lnTo>
                  <a:pt x="384" y="230"/>
                </a:lnTo>
                <a:lnTo>
                  <a:pt x="381" y="233"/>
                </a:lnTo>
                <a:lnTo>
                  <a:pt x="378" y="237"/>
                </a:lnTo>
                <a:lnTo>
                  <a:pt x="375" y="241"/>
                </a:lnTo>
                <a:lnTo>
                  <a:pt x="371" y="245"/>
                </a:lnTo>
                <a:lnTo>
                  <a:pt x="367" y="250"/>
                </a:lnTo>
                <a:lnTo>
                  <a:pt x="363" y="255"/>
                </a:lnTo>
                <a:lnTo>
                  <a:pt x="358" y="261"/>
                </a:lnTo>
                <a:lnTo>
                  <a:pt x="353" y="266"/>
                </a:lnTo>
                <a:lnTo>
                  <a:pt x="348" y="272"/>
                </a:lnTo>
                <a:lnTo>
                  <a:pt x="344" y="278"/>
                </a:lnTo>
                <a:lnTo>
                  <a:pt x="340" y="283"/>
                </a:lnTo>
                <a:lnTo>
                  <a:pt x="336" y="288"/>
                </a:lnTo>
                <a:lnTo>
                  <a:pt x="332" y="292"/>
                </a:lnTo>
                <a:lnTo>
                  <a:pt x="329" y="296"/>
                </a:lnTo>
                <a:lnTo>
                  <a:pt x="326" y="300"/>
                </a:lnTo>
                <a:lnTo>
                  <a:pt x="323" y="303"/>
                </a:lnTo>
                <a:lnTo>
                  <a:pt x="321" y="306"/>
                </a:lnTo>
                <a:lnTo>
                  <a:pt x="318" y="309"/>
                </a:lnTo>
                <a:lnTo>
                  <a:pt x="317" y="311"/>
                </a:lnTo>
                <a:lnTo>
                  <a:pt x="315" y="312"/>
                </a:lnTo>
                <a:lnTo>
                  <a:pt x="314" y="314"/>
                </a:lnTo>
                <a:lnTo>
                  <a:pt x="313" y="315"/>
                </a:lnTo>
                <a:lnTo>
                  <a:pt x="312" y="315"/>
                </a:lnTo>
                <a:lnTo>
                  <a:pt x="311" y="314"/>
                </a:lnTo>
                <a:lnTo>
                  <a:pt x="310" y="312"/>
                </a:lnTo>
                <a:lnTo>
                  <a:pt x="309" y="311"/>
                </a:lnTo>
                <a:lnTo>
                  <a:pt x="307" y="309"/>
                </a:lnTo>
                <a:lnTo>
                  <a:pt x="305" y="306"/>
                </a:lnTo>
                <a:lnTo>
                  <a:pt x="303" y="303"/>
                </a:lnTo>
                <a:lnTo>
                  <a:pt x="300" y="300"/>
                </a:lnTo>
                <a:lnTo>
                  <a:pt x="297" y="296"/>
                </a:lnTo>
                <a:lnTo>
                  <a:pt x="294" y="292"/>
                </a:lnTo>
                <a:lnTo>
                  <a:pt x="290" y="288"/>
                </a:lnTo>
                <a:lnTo>
                  <a:pt x="286" y="283"/>
                </a:lnTo>
                <a:lnTo>
                  <a:pt x="282" y="278"/>
                </a:lnTo>
                <a:lnTo>
                  <a:pt x="277" y="272"/>
                </a:lnTo>
                <a:lnTo>
                  <a:pt x="272" y="266"/>
                </a:lnTo>
                <a:lnTo>
                  <a:pt x="267" y="261"/>
                </a:lnTo>
                <a:lnTo>
                  <a:pt x="263" y="255"/>
                </a:lnTo>
                <a:lnTo>
                  <a:pt x="258" y="250"/>
                </a:lnTo>
                <a:lnTo>
                  <a:pt x="254" y="245"/>
                </a:lnTo>
                <a:lnTo>
                  <a:pt x="251" y="241"/>
                </a:lnTo>
                <a:lnTo>
                  <a:pt x="247" y="237"/>
                </a:lnTo>
                <a:lnTo>
                  <a:pt x="244" y="233"/>
                </a:lnTo>
                <a:lnTo>
                  <a:pt x="242" y="230"/>
                </a:lnTo>
                <a:lnTo>
                  <a:pt x="239" y="227"/>
                </a:lnTo>
                <a:lnTo>
                  <a:pt x="237" y="224"/>
                </a:lnTo>
                <a:lnTo>
                  <a:pt x="235" y="222"/>
                </a:lnTo>
                <a:lnTo>
                  <a:pt x="234" y="221"/>
                </a:lnTo>
                <a:lnTo>
                  <a:pt x="233" y="219"/>
                </a:lnTo>
                <a:lnTo>
                  <a:pt x="232" y="218"/>
                </a:lnTo>
                <a:lnTo>
                  <a:pt x="233" y="218"/>
                </a:lnTo>
                <a:lnTo>
                  <a:pt x="234" y="218"/>
                </a:lnTo>
                <a:lnTo>
                  <a:pt x="235" y="218"/>
                </a:lnTo>
                <a:lnTo>
                  <a:pt x="236" y="218"/>
                </a:lnTo>
                <a:lnTo>
                  <a:pt x="237" y="218"/>
                </a:lnTo>
                <a:lnTo>
                  <a:pt x="239" y="218"/>
                </a:lnTo>
                <a:lnTo>
                  <a:pt x="240" y="218"/>
                </a:lnTo>
                <a:lnTo>
                  <a:pt x="242" y="218"/>
                </a:lnTo>
                <a:lnTo>
                  <a:pt x="244" y="218"/>
                </a:lnTo>
                <a:lnTo>
                  <a:pt x="246" y="218"/>
                </a:lnTo>
                <a:lnTo>
                  <a:pt x="248" y="218"/>
                </a:lnTo>
                <a:lnTo>
                  <a:pt x="250" y="218"/>
                </a:lnTo>
                <a:lnTo>
                  <a:pt x="253" y="218"/>
                </a:lnTo>
                <a:lnTo>
                  <a:pt x="255" y="218"/>
                </a:lnTo>
                <a:lnTo>
                  <a:pt x="257" y="218"/>
                </a:lnTo>
                <a:lnTo>
                  <a:pt x="258" y="218"/>
                </a:lnTo>
                <a:lnTo>
                  <a:pt x="260" y="218"/>
                </a:lnTo>
                <a:lnTo>
                  <a:pt x="262" y="218"/>
                </a:lnTo>
                <a:lnTo>
                  <a:pt x="263" y="218"/>
                </a:lnTo>
                <a:lnTo>
                  <a:pt x="264" y="218"/>
                </a:lnTo>
                <a:lnTo>
                  <a:pt x="265" y="218"/>
                </a:lnTo>
                <a:lnTo>
                  <a:pt x="266" y="218"/>
                </a:lnTo>
                <a:lnTo>
                  <a:pt x="267" y="218"/>
                </a:lnTo>
                <a:lnTo>
                  <a:pt x="268" y="218"/>
                </a:lnTo>
                <a:lnTo>
                  <a:pt x="269" y="218"/>
                </a:lnTo>
                <a:lnTo>
                  <a:pt x="269" y="217"/>
                </a:lnTo>
                <a:lnTo>
                  <a:pt x="269" y="216"/>
                </a:lnTo>
                <a:lnTo>
                  <a:pt x="269" y="215"/>
                </a:lnTo>
                <a:lnTo>
                  <a:pt x="268" y="213"/>
                </a:lnTo>
                <a:lnTo>
                  <a:pt x="268" y="212"/>
                </a:lnTo>
                <a:lnTo>
                  <a:pt x="268" y="211"/>
                </a:lnTo>
                <a:lnTo>
                  <a:pt x="268" y="209"/>
                </a:lnTo>
                <a:lnTo>
                  <a:pt x="268" y="207"/>
                </a:lnTo>
                <a:lnTo>
                  <a:pt x="267" y="205"/>
                </a:lnTo>
                <a:lnTo>
                  <a:pt x="267" y="203"/>
                </a:lnTo>
                <a:lnTo>
                  <a:pt x="267" y="201"/>
                </a:lnTo>
                <a:lnTo>
                  <a:pt x="266" y="199"/>
                </a:lnTo>
                <a:lnTo>
                  <a:pt x="266" y="196"/>
                </a:lnTo>
                <a:lnTo>
                  <a:pt x="265" y="193"/>
                </a:lnTo>
                <a:lnTo>
                  <a:pt x="265" y="190"/>
                </a:lnTo>
                <a:lnTo>
                  <a:pt x="265" y="188"/>
                </a:lnTo>
                <a:lnTo>
                  <a:pt x="264" y="185"/>
                </a:lnTo>
                <a:lnTo>
                  <a:pt x="264" y="182"/>
                </a:lnTo>
                <a:lnTo>
                  <a:pt x="263" y="180"/>
                </a:lnTo>
                <a:lnTo>
                  <a:pt x="263" y="177"/>
                </a:lnTo>
                <a:lnTo>
                  <a:pt x="262" y="174"/>
                </a:lnTo>
                <a:lnTo>
                  <a:pt x="261" y="171"/>
                </a:lnTo>
                <a:lnTo>
                  <a:pt x="261" y="169"/>
                </a:lnTo>
                <a:lnTo>
                  <a:pt x="260" y="166"/>
                </a:lnTo>
                <a:lnTo>
                  <a:pt x="259" y="163"/>
                </a:lnTo>
                <a:lnTo>
                  <a:pt x="259" y="161"/>
                </a:lnTo>
                <a:lnTo>
                  <a:pt x="258" y="158"/>
                </a:lnTo>
                <a:lnTo>
                  <a:pt x="257" y="155"/>
                </a:lnTo>
                <a:lnTo>
                  <a:pt x="257" y="152"/>
                </a:lnTo>
                <a:lnTo>
                  <a:pt x="256" y="150"/>
                </a:lnTo>
                <a:lnTo>
                  <a:pt x="255" y="147"/>
                </a:lnTo>
                <a:lnTo>
                  <a:pt x="254" y="144"/>
                </a:lnTo>
                <a:lnTo>
                  <a:pt x="253" y="142"/>
                </a:lnTo>
                <a:lnTo>
                  <a:pt x="252" y="139"/>
                </a:lnTo>
                <a:lnTo>
                  <a:pt x="250" y="136"/>
                </a:lnTo>
                <a:lnTo>
                  <a:pt x="249" y="133"/>
                </a:lnTo>
                <a:lnTo>
                  <a:pt x="248" y="131"/>
                </a:lnTo>
                <a:lnTo>
                  <a:pt x="247" y="128"/>
                </a:lnTo>
                <a:lnTo>
                  <a:pt x="245" y="125"/>
                </a:lnTo>
                <a:lnTo>
                  <a:pt x="243" y="123"/>
                </a:lnTo>
                <a:lnTo>
                  <a:pt x="242" y="120"/>
                </a:lnTo>
                <a:lnTo>
                  <a:pt x="240" y="117"/>
                </a:lnTo>
                <a:lnTo>
                  <a:pt x="238" y="114"/>
                </a:lnTo>
                <a:lnTo>
                  <a:pt x="237" y="112"/>
                </a:lnTo>
                <a:lnTo>
                  <a:pt x="235" y="109"/>
                </a:lnTo>
                <a:lnTo>
                  <a:pt x="233" y="106"/>
                </a:lnTo>
                <a:lnTo>
                  <a:pt x="230" y="104"/>
                </a:lnTo>
                <a:lnTo>
                  <a:pt x="228" y="101"/>
                </a:lnTo>
                <a:lnTo>
                  <a:pt x="226" y="98"/>
                </a:lnTo>
                <a:lnTo>
                  <a:pt x="223" y="95"/>
                </a:lnTo>
                <a:lnTo>
                  <a:pt x="220" y="93"/>
                </a:lnTo>
                <a:lnTo>
                  <a:pt x="217" y="90"/>
                </a:lnTo>
                <a:lnTo>
                  <a:pt x="214" y="87"/>
                </a:lnTo>
                <a:lnTo>
                  <a:pt x="211" y="85"/>
                </a:lnTo>
                <a:lnTo>
                  <a:pt x="208" y="82"/>
                </a:lnTo>
                <a:lnTo>
                  <a:pt x="204" y="79"/>
                </a:lnTo>
                <a:lnTo>
                  <a:pt x="201" y="76"/>
                </a:lnTo>
                <a:lnTo>
                  <a:pt x="197" y="74"/>
                </a:lnTo>
                <a:lnTo>
                  <a:pt x="193" y="71"/>
                </a:lnTo>
                <a:lnTo>
                  <a:pt x="189" y="68"/>
                </a:lnTo>
                <a:lnTo>
                  <a:pt x="185" y="66"/>
                </a:lnTo>
                <a:lnTo>
                  <a:pt x="180" y="63"/>
                </a:lnTo>
                <a:lnTo>
                  <a:pt x="176" y="60"/>
                </a:lnTo>
                <a:lnTo>
                  <a:pt x="172" y="58"/>
                </a:lnTo>
                <a:lnTo>
                  <a:pt x="167" y="55"/>
                </a:lnTo>
                <a:lnTo>
                  <a:pt x="163" y="53"/>
                </a:lnTo>
                <a:lnTo>
                  <a:pt x="158" y="50"/>
                </a:lnTo>
                <a:lnTo>
                  <a:pt x="154" y="48"/>
                </a:lnTo>
                <a:lnTo>
                  <a:pt x="149" y="45"/>
                </a:lnTo>
                <a:lnTo>
                  <a:pt x="145" y="43"/>
                </a:lnTo>
                <a:lnTo>
                  <a:pt x="140" y="41"/>
                </a:lnTo>
                <a:lnTo>
                  <a:pt x="136" y="38"/>
                </a:lnTo>
                <a:lnTo>
                  <a:pt x="131" y="36"/>
                </a:lnTo>
                <a:lnTo>
                  <a:pt x="127" y="34"/>
                </a:lnTo>
                <a:lnTo>
                  <a:pt x="122" y="32"/>
                </a:lnTo>
                <a:lnTo>
                  <a:pt x="117" y="30"/>
                </a:lnTo>
                <a:lnTo>
                  <a:pt x="113" y="28"/>
                </a:lnTo>
                <a:lnTo>
                  <a:pt x="108" y="26"/>
                </a:lnTo>
                <a:lnTo>
                  <a:pt x="103" y="24"/>
                </a:lnTo>
                <a:lnTo>
                  <a:pt x="99" y="22"/>
                </a:lnTo>
                <a:lnTo>
                  <a:pt x="94" y="20"/>
                </a:lnTo>
                <a:lnTo>
                  <a:pt x="89" y="19"/>
                </a:lnTo>
                <a:lnTo>
                  <a:pt x="85" y="18"/>
                </a:lnTo>
                <a:lnTo>
                  <a:pt x="80" y="16"/>
                </a:lnTo>
                <a:lnTo>
                  <a:pt x="75" y="15"/>
                </a:lnTo>
                <a:lnTo>
                  <a:pt x="71" y="14"/>
                </a:lnTo>
                <a:lnTo>
                  <a:pt x="66" y="14"/>
                </a:lnTo>
                <a:lnTo>
                  <a:pt x="61" y="13"/>
                </a:lnTo>
                <a:lnTo>
                  <a:pt x="57" y="12"/>
                </a:lnTo>
                <a:lnTo>
                  <a:pt x="52" y="12"/>
                </a:lnTo>
                <a:lnTo>
                  <a:pt x="47" y="11"/>
                </a:lnTo>
                <a:lnTo>
                  <a:pt x="42" y="11"/>
                </a:lnTo>
                <a:lnTo>
                  <a:pt x="38" y="11"/>
                </a:lnTo>
                <a:lnTo>
                  <a:pt x="33" y="11"/>
                </a:lnTo>
                <a:lnTo>
                  <a:pt x="29" y="11"/>
                </a:lnTo>
                <a:lnTo>
                  <a:pt x="25" y="11"/>
                </a:lnTo>
                <a:lnTo>
                  <a:pt x="21" y="11"/>
                </a:lnTo>
                <a:lnTo>
                  <a:pt x="18" y="11"/>
                </a:lnTo>
                <a:lnTo>
                  <a:pt x="15" y="11"/>
                </a:lnTo>
                <a:lnTo>
                  <a:pt x="12" y="11"/>
                </a:lnTo>
                <a:lnTo>
                  <a:pt x="10" y="11"/>
                </a:lnTo>
                <a:lnTo>
                  <a:pt x="7" y="11"/>
                </a:lnTo>
                <a:lnTo>
                  <a:pt x="6" y="11"/>
                </a:lnTo>
                <a:lnTo>
                  <a:pt x="4" y="11"/>
                </a:lnTo>
                <a:lnTo>
                  <a:pt x="3" y="11"/>
                </a:lnTo>
                <a:lnTo>
                  <a:pt x="2" y="11"/>
                </a:lnTo>
                <a:lnTo>
                  <a:pt x="1" y="11"/>
                </a:lnTo>
                <a:lnTo>
                  <a:pt x="0" y="11"/>
                </a:lnTo>
                <a:lnTo>
                  <a:pt x="0" y="10"/>
                </a:lnTo>
                <a:lnTo>
                  <a:pt x="0" y="9"/>
                </a:lnTo>
                <a:lnTo>
                  <a:pt x="0" y="8"/>
                </a:lnTo>
                <a:lnTo>
                  <a:pt x="0" y="7"/>
                </a:lnTo>
                <a:lnTo>
                  <a:pt x="0" y="6"/>
                </a:lnTo>
                <a:lnTo>
                  <a:pt x="0" y="5"/>
                </a:lnTo>
                <a:lnTo>
                  <a:pt x="0" y="4"/>
                </a:lnTo>
                <a:lnTo>
                  <a:pt x="0" y="3"/>
                </a:lnTo>
                <a:lnTo>
                  <a:pt x="0" y="2"/>
                </a:lnTo>
                <a:lnTo>
                  <a:pt x="0" y="1"/>
                </a:lnTo>
                <a:lnTo>
                  <a:pt x="0" y="0"/>
                </a:lnTo>
                <a:lnTo>
                  <a:pt x="1" y="0"/>
                </a:lnTo>
                <a:lnTo>
                  <a:pt x="2" y="0"/>
                </a:lnTo>
                <a:lnTo>
                  <a:pt x="3" y="0"/>
                </a:lnTo>
                <a:lnTo>
                  <a:pt x="4" y="0"/>
                </a:lnTo>
                <a:lnTo>
                  <a:pt x="6" y="0"/>
                </a:lnTo>
                <a:lnTo>
                  <a:pt x="8" y="0"/>
                </a:lnTo>
                <a:lnTo>
                  <a:pt x="10" y="0"/>
                </a:lnTo>
                <a:lnTo>
                  <a:pt x="13" y="0"/>
                </a:lnTo>
                <a:lnTo>
                  <a:pt x="16" y="0"/>
                </a:lnTo>
                <a:lnTo>
                  <a:pt x="19" y="0"/>
                </a:lnTo>
                <a:lnTo>
                  <a:pt x="23" y="0"/>
                </a:lnTo>
                <a:lnTo>
                  <a:pt x="27" y="0"/>
                </a:lnTo>
                <a:lnTo>
                  <a:pt x="31" y="0"/>
                </a:lnTo>
                <a:lnTo>
                  <a:pt x="36" y="0"/>
                </a:lnTo>
                <a:lnTo>
                  <a:pt x="41" y="0"/>
                </a:lnTo>
                <a:lnTo>
                  <a:pt x="46" y="0"/>
                </a:lnTo>
                <a:lnTo>
                  <a:pt x="51" y="0"/>
                </a:lnTo>
                <a:lnTo>
                  <a:pt x="56" y="1"/>
                </a:lnTo>
                <a:lnTo>
                  <a:pt x="61" y="1"/>
                </a:lnTo>
                <a:lnTo>
                  <a:pt x="66" y="1"/>
                </a:lnTo>
                <a:lnTo>
                  <a:pt x="71" y="1"/>
                </a:lnTo>
                <a:lnTo>
                  <a:pt x="76" y="1"/>
                </a:lnTo>
                <a:lnTo>
                  <a:pt x="81" y="2"/>
                </a:lnTo>
                <a:lnTo>
                  <a:pt x="86" y="2"/>
                </a:lnTo>
                <a:lnTo>
                  <a:pt x="90" y="2"/>
                </a:lnTo>
                <a:lnTo>
                  <a:pt x="95" y="3"/>
                </a:lnTo>
                <a:lnTo>
                  <a:pt x="100" y="3"/>
                </a:lnTo>
                <a:lnTo>
                  <a:pt x="105" y="4"/>
                </a:lnTo>
                <a:lnTo>
                  <a:pt x="110" y="5"/>
                </a:lnTo>
                <a:lnTo>
                  <a:pt x="114" y="5"/>
                </a:lnTo>
                <a:lnTo>
                  <a:pt x="119" y="6"/>
                </a:lnTo>
                <a:lnTo>
                  <a:pt x="124" y="7"/>
                </a:lnTo>
                <a:lnTo>
                  <a:pt x="128" y="7"/>
                </a:lnTo>
                <a:lnTo>
                  <a:pt x="133" y="8"/>
                </a:lnTo>
                <a:lnTo>
                  <a:pt x="138" y="9"/>
                </a:lnTo>
                <a:lnTo>
                  <a:pt x="142" y="10"/>
                </a:lnTo>
                <a:lnTo>
                  <a:pt x="147" y="11"/>
                </a:lnTo>
                <a:lnTo>
                  <a:pt x="152" y="13"/>
                </a:lnTo>
                <a:lnTo>
                  <a:pt x="157" y="14"/>
                </a:lnTo>
                <a:lnTo>
                  <a:pt x="161" y="15"/>
                </a:lnTo>
                <a:lnTo>
                  <a:pt x="166" y="17"/>
                </a:lnTo>
                <a:lnTo>
                  <a:pt x="171" y="18"/>
                </a:lnTo>
                <a:lnTo>
                  <a:pt x="175" y="20"/>
                </a:lnTo>
                <a:lnTo>
                  <a:pt x="180" y="22"/>
                </a:lnTo>
                <a:lnTo>
                  <a:pt x="185" y="24"/>
                </a:lnTo>
                <a:lnTo>
                  <a:pt x="189" y="26"/>
                </a:lnTo>
                <a:lnTo>
                  <a:pt x="194" y="28"/>
                </a:lnTo>
                <a:lnTo>
                  <a:pt x="199" y="30"/>
                </a:lnTo>
                <a:lnTo>
                  <a:pt x="203" y="32"/>
                </a:lnTo>
                <a:lnTo>
                  <a:pt x="208" y="34"/>
                </a:lnTo>
                <a:lnTo>
                  <a:pt x="213" y="36"/>
                </a:lnTo>
                <a:lnTo>
                  <a:pt x="218" y="39"/>
                </a:lnTo>
                <a:lnTo>
                  <a:pt x="223" y="41"/>
                </a:lnTo>
                <a:lnTo>
                  <a:pt x="227" y="44"/>
                </a:lnTo>
                <a:lnTo>
                  <a:pt x="232" y="47"/>
                </a:lnTo>
                <a:lnTo>
                  <a:pt x="237" y="49"/>
                </a:lnTo>
                <a:lnTo>
                  <a:pt x="242" y="52"/>
                </a:lnTo>
                <a:lnTo>
                  <a:pt x="247" y="55"/>
                </a:lnTo>
                <a:lnTo>
                  <a:pt x="252" y="58"/>
                </a:lnTo>
                <a:lnTo>
                  <a:pt x="257" y="61"/>
                </a:lnTo>
                <a:lnTo>
                  <a:pt x="262" y="64"/>
                </a:lnTo>
                <a:lnTo>
                  <a:pt x="267" y="68"/>
                </a:lnTo>
                <a:lnTo>
                  <a:pt x="272" y="71"/>
                </a:lnTo>
                <a:lnTo>
                  <a:pt x="277" y="74"/>
                </a:lnTo>
                <a:lnTo>
                  <a:pt x="282" y="78"/>
                </a:lnTo>
                <a:lnTo>
                  <a:pt x="287" y="81"/>
                </a:lnTo>
                <a:lnTo>
                  <a:pt x="291" y="85"/>
                </a:lnTo>
                <a:lnTo>
                  <a:pt x="295" y="88"/>
                </a:lnTo>
                <a:lnTo>
                  <a:pt x="300" y="92"/>
                </a:lnTo>
                <a:lnTo>
                  <a:pt x="303" y="96"/>
                </a:lnTo>
                <a:lnTo>
                  <a:pt x="307" y="99"/>
                </a:lnTo>
                <a:lnTo>
                  <a:pt x="311" y="103"/>
                </a:lnTo>
                <a:lnTo>
                  <a:pt x="314" y="107"/>
                </a:lnTo>
                <a:lnTo>
                  <a:pt x="318" y="111"/>
                </a:lnTo>
                <a:lnTo>
                  <a:pt x="321" y="115"/>
                </a:lnTo>
                <a:lnTo>
                  <a:pt x="324" y="119"/>
                </a:lnTo>
                <a:lnTo>
                  <a:pt x="326" y="123"/>
                </a:lnTo>
                <a:lnTo>
                  <a:pt x="329" y="127"/>
                </a:lnTo>
                <a:lnTo>
                  <a:pt x="332" y="131"/>
                </a:lnTo>
                <a:lnTo>
                  <a:pt x="334" y="135"/>
                </a:lnTo>
                <a:lnTo>
                  <a:pt x="336" y="139"/>
                </a:lnTo>
                <a:lnTo>
                  <a:pt x="338" y="143"/>
                </a:lnTo>
                <a:lnTo>
                  <a:pt x="340" y="147"/>
                </a:lnTo>
                <a:lnTo>
                  <a:pt x="342" y="151"/>
                </a:lnTo>
                <a:lnTo>
                  <a:pt x="344" y="154"/>
                </a:lnTo>
                <a:lnTo>
                  <a:pt x="346" y="158"/>
                </a:lnTo>
                <a:lnTo>
                  <a:pt x="347" y="162"/>
                </a:lnTo>
                <a:lnTo>
                  <a:pt x="349" y="166"/>
                </a:lnTo>
                <a:lnTo>
                  <a:pt x="350" y="169"/>
                </a:lnTo>
                <a:lnTo>
                  <a:pt x="351" y="173"/>
                </a:lnTo>
                <a:lnTo>
                  <a:pt x="353" y="177"/>
                </a:lnTo>
                <a:lnTo>
                  <a:pt x="354" y="180"/>
                </a:lnTo>
                <a:lnTo>
                  <a:pt x="355" y="184"/>
                </a:lnTo>
                <a:lnTo>
                  <a:pt x="356" y="187"/>
                </a:lnTo>
                <a:lnTo>
                  <a:pt x="357" y="190"/>
                </a:lnTo>
                <a:close/>
              </a:path>
            </a:pathLst>
          </a:custGeom>
          <a:solidFill>
            <a:srgbClr val="3368FF"/>
          </a:solidFill>
          <a:ln w="25400">
            <a:solidFill>
              <a:srgbClr val="FFFFFF"/>
            </a:solidFill>
          </a:ln>
          <a:effectLst/>
        </p:spPr>
        <p:txBody>
          <a:bodyPr wrap="none" anchor="ctr"/>
          <a:p>
            <a:pPr eaLnBrk="0" fontAlgn="base" hangingPunct="0">
              <a:spcBef>
                <a:spcPct val="0"/>
              </a:spcBef>
              <a:spcAft>
                <a:spcPct val="0"/>
              </a:spcAft>
              <a:defRPr>
                <a:solidFill>
                  <a:srgbClr val="383838"/>
                </a:solidFill>
                <a:latin typeface="微软雅黑"/>
                <a:ea typeface="微软雅黑"/>
                <a:cs typeface="微软雅黑"/>
              </a:defRPr>
            </a:pPr>
            <a:endParaRPr lang="en-GB" sz="1335">
              <a:solidFill>
                <a:srgbClr val="383838"/>
              </a:solidFill>
              <a:latin typeface="微软雅黑"/>
              <a:ea typeface="微软雅黑"/>
              <a:cs typeface="微软雅黑"/>
            </a:endParaRPr>
          </a:p>
        </p:txBody>
      </p:sp>
      <p:sp>
        <p:nvSpPr>
          <p:cNvPr id="45" name="Freeform 32"/>
          <p:cNvSpPr/>
          <p:nvPr/>
        </p:nvSpPr>
        <p:spPr bwMode="gray">
          <a:xfrm rot="16980000">
            <a:off x="8187055" y="1727200"/>
            <a:ext cx="659765" cy="758190"/>
          </a:xfrm>
          <a:custGeom>
            <a:avLst/>
            <a:gdLst>
              <a:gd name="T0" fmla="*/ 2147483647 w 395"/>
              <a:gd name="T1" fmla="*/ 2147483647 h 316"/>
              <a:gd name="T2" fmla="*/ 2147483647 w 395"/>
              <a:gd name="T3" fmla="*/ 2147483647 h 316"/>
              <a:gd name="T4" fmla="*/ 2147483647 w 395"/>
              <a:gd name="T5" fmla="*/ 2147483647 h 316"/>
              <a:gd name="T6" fmla="*/ 2147483647 w 395"/>
              <a:gd name="T7" fmla="*/ 2147483647 h 316"/>
              <a:gd name="T8" fmla="*/ 2147483647 w 395"/>
              <a:gd name="T9" fmla="*/ 2147483647 h 316"/>
              <a:gd name="T10" fmla="*/ 2147483647 w 395"/>
              <a:gd name="T11" fmla="*/ 2147483647 h 316"/>
              <a:gd name="T12" fmla="*/ 2147483647 w 395"/>
              <a:gd name="T13" fmla="*/ 2147483647 h 316"/>
              <a:gd name="T14" fmla="*/ 2147483647 w 395"/>
              <a:gd name="T15" fmla="*/ 2147483647 h 316"/>
              <a:gd name="T16" fmla="*/ 2147483647 w 395"/>
              <a:gd name="T17" fmla="*/ 2147483647 h 316"/>
              <a:gd name="T18" fmla="*/ 2147483647 w 395"/>
              <a:gd name="T19" fmla="*/ 2147483647 h 316"/>
              <a:gd name="T20" fmla="*/ 2147483647 w 395"/>
              <a:gd name="T21" fmla="*/ 2147483647 h 316"/>
              <a:gd name="T22" fmla="*/ 2147483647 w 395"/>
              <a:gd name="T23" fmla="*/ 2147483647 h 316"/>
              <a:gd name="T24" fmla="*/ 2147483647 w 395"/>
              <a:gd name="T25" fmla="*/ 2147483647 h 316"/>
              <a:gd name="T26" fmla="*/ 2147483647 w 395"/>
              <a:gd name="T27" fmla="*/ 2147483647 h 316"/>
              <a:gd name="T28" fmla="*/ 2147483647 w 395"/>
              <a:gd name="T29" fmla="*/ 2147483647 h 316"/>
              <a:gd name="T30" fmla="*/ 2147483647 w 395"/>
              <a:gd name="T31" fmla="*/ 2147483647 h 316"/>
              <a:gd name="T32" fmla="*/ 2147483647 w 395"/>
              <a:gd name="T33" fmla="*/ 2147483647 h 316"/>
              <a:gd name="T34" fmla="*/ 2147483647 w 395"/>
              <a:gd name="T35" fmla="*/ 2147483647 h 316"/>
              <a:gd name="T36" fmla="*/ 2147483647 w 395"/>
              <a:gd name="T37" fmla="*/ 2147483647 h 316"/>
              <a:gd name="T38" fmla="*/ 2147483647 w 395"/>
              <a:gd name="T39" fmla="*/ 2147483647 h 316"/>
              <a:gd name="T40" fmla="*/ 2147483647 w 395"/>
              <a:gd name="T41" fmla="*/ 2147483647 h 316"/>
              <a:gd name="T42" fmla="*/ 2147483647 w 395"/>
              <a:gd name="T43" fmla="*/ 2147483647 h 316"/>
              <a:gd name="T44" fmla="*/ 2147483647 w 395"/>
              <a:gd name="T45" fmla="*/ 2147483647 h 316"/>
              <a:gd name="T46" fmla="*/ 2147483647 w 395"/>
              <a:gd name="T47" fmla="*/ 2147483647 h 316"/>
              <a:gd name="T48" fmla="*/ 2147483647 w 395"/>
              <a:gd name="T49" fmla="*/ 2147483647 h 316"/>
              <a:gd name="T50" fmla="*/ 2147483647 w 395"/>
              <a:gd name="T51" fmla="*/ 2147483647 h 316"/>
              <a:gd name="T52" fmla="*/ 2147483647 w 395"/>
              <a:gd name="T53" fmla="*/ 2147483647 h 316"/>
              <a:gd name="T54" fmla="*/ 2147483647 w 395"/>
              <a:gd name="T55" fmla="*/ 2147483647 h 316"/>
              <a:gd name="T56" fmla="*/ 2147483647 w 395"/>
              <a:gd name="T57" fmla="*/ 2147483647 h 316"/>
              <a:gd name="T58" fmla="*/ 2147483647 w 395"/>
              <a:gd name="T59" fmla="*/ 2147483647 h 316"/>
              <a:gd name="T60" fmla="*/ 2147483647 w 395"/>
              <a:gd name="T61" fmla="*/ 2147483647 h 316"/>
              <a:gd name="T62" fmla="*/ 2147483647 w 395"/>
              <a:gd name="T63" fmla="*/ 2147483647 h 316"/>
              <a:gd name="T64" fmla="*/ 2147483647 w 395"/>
              <a:gd name="T65" fmla="*/ 2147483647 h 316"/>
              <a:gd name="T66" fmla="*/ 2147483647 w 395"/>
              <a:gd name="T67" fmla="*/ 2147483647 h 316"/>
              <a:gd name="T68" fmla="*/ 2147483647 w 395"/>
              <a:gd name="T69" fmla="*/ 2147483647 h 316"/>
              <a:gd name="T70" fmla="*/ 2147483647 w 395"/>
              <a:gd name="T71" fmla="*/ 2147483647 h 316"/>
              <a:gd name="T72" fmla="*/ 0 w 395"/>
              <a:gd name="T73" fmla="*/ 2147483647 h 316"/>
              <a:gd name="T74" fmla="*/ 0 w 395"/>
              <a:gd name="T75" fmla="*/ 2147483647 h 316"/>
              <a:gd name="T76" fmla="*/ 0 w 395"/>
              <a:gd name="T77" fmla="*/ 2147483647 h 316"/>
              <a:gd name="T78" fmla="*/ 0 w 395"/>
              <a:gd name="T79" fmla="*/ 2147483647 h 316"/>
              <a:gd name="T80" fmla="*/ 0 w 395"/>
              <a:gd name="T81" fmla="*/ 0 h 316"/>
              <a:gd name="T82" fmla="*/ 2147483647 w 395"/>
              <a:gd name="T83" fmla="*/ 0 h 316"/>
              <a:gd name="T84" fmla="*/ 2147483647 w 395"/>
              <a:gd name="T85" fmla="*/ 0 h 316"/>
              <a:gd name="T86" fmla="*/ 2147483647 w 395"/>
              <a:gd name="T87" fmla="*/ 2147483647 h 316"/>
              <a:gd name="T88" fmla="*/ 2147483647 w 395"/>
              <a:gd name="T89" fmla="*/ 2147483647 h 316"/>
              <a:gd name="T90" fmla="*/ 2147483647 w 395"/>
              <a:gd name="T91" fmla="*/ 2147483647 h 316"/>
              <a:gd name="T92" fmla="*/ 2147483647 w 395"/>
              <a:gd name="T93" fmla="*/ 2147483647 h 316"/>
              <a:gd name="T94" fmla="*/ 2147483647 w 395"/>
              <a:gd name="T95" fmla="*/ 2147483647 h 316"/>
              <a:gd name="T96" fmla="*/ 2147483647 w 395"/>
              <a:gd name="T97" fmla="*/ 2147483647 h 316"/>
              <a:gd name="T98" fmla="*/ 2147483647 w 395"/>
              <a:gd name="T99" fmla="*/ 2147483647 h 316"/>
              <a:gd name="T100" fmla="*/ 2147483647 w 395"/>
              <a:gd name="T101" fmla="*/ 2147483647 h 316"/>
              <a:gd name="T102" fmla="*/ 2147483647 w 395"/>
              <a:gd name="T103" fmla="*/ 2147483647 h 316"/>
              <a:gd name="T104" fmla="*/ 2147483647 w 395"/>
              <a:gd name="T105" fmla="*/ 2147483647 h 316"/>
              <a:gd name="T106" fmla="*/ 2147483647 w 395"/>
              <a:gd name="T107" fmla="*/ 2147483647 h 316"/>
              <a:gd name="T108" fmla="*/ 2147483647 w 395"/>
              <a:gd name="T109" fmla="*/ 2147483647 h 3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95" h="316">
                <a:moveTo>
                  <a:pt x="357" y="190"/>
                </a:moveTo>
                <a:lnTo>
                  <a:pt x="357" y="194"/>
                </a:lnTo>
                <a:lnTo>
                  <a:pt x="358" y="197"/>
                </a:lnTo>
                <a:lnTo>
                  <a:pt x="359" y="200"/>
                </a:lnTo>
                <a:lnTo>
                  <a:pt x="359" y="202"/>
                </a:lnTo>
                <a:lnTo>
                  <a:pt x="360" y="205"/>
                </a:lnTo>
                <a:lnTo>
                  <a:pt x="360" y="207"/>
                </a:lnTo>
                <a:lnTo>
                  <a:pt x="361" y="209"/>
                </a:lnTo>
                <a:lnTo>
                  <a:pt x="361" y="211"/>
                </a:lnTo>
                <a:lnTo>
                  <a:pt x="362" y="212"/>
                </a:lnTo>
                <a:lnTo>
                  <a:pt x="362" y="214"/>
                </a:lnTo>
                <a:lnTo>
                  <a:pt x="362" y="215"/>
                </a:lnTo>
                <a:lnTo>
                  <a:pt x="362" y="216"/>
                </a:lnTo>
                <a:lnTo>
                  <a:pt x="363" y="217"/>
                </a:lnTo>
                <a:lnTo>
                  <a:pt x="363" y="218"/>
                </a:lnTo>
                <a:lnTo>
                  <a:pt x="364" y="218"/>
                </a:lnTo>
                <a:lnTo>
                  <a:pt x="365" y="218"/>
                </a:lnTo>
                <a:lnTo>
                  <a:pt x="366" y="218"/>
                </a:lnTo>
                <a:lnTo>
                  <a:pt x="367" y="218"/>
                </a:lnTo>
                <a:lnTo>
                  <a:pt x="368" y="218"/>
                </a:lnTo>
                <a:lnTo>
                  <a:pt x="369" y="218"/>
                </a:lnTo>
                <a:lnTo>
                  <a:pt x="370" y="218"/>
                </a:lnTo>
                <a:lnTo>
                  <a:pt x="372" y="218"/>
                </a:lnTo>
                <a:lnTo>
                  <a:pt x="373" y="218"/>
                </a:lnTo>
                <a:lnTo>
                  <a:pt x="375" y="218"/>
                </a:lnTo>
                <a:lnTo>
                  <a:pt x="376" y="218"/>
                </a:lnTo>
                <a:lnTo>
                  <a:pt x="378" y="218"/>
                </a:lnTo>
                <a:lnTo>
                  <a:pt x="380" y="218"/>
                </a:lnTo>
                <a:lnTo>
                  <a:pt x="382" y="218"/>
                </a:lnTo>
                <a:lnTo>
                  <a:pt x="384" y="218"/>
                </a:lnTo>
                <a:lnTo>
                  <a:pt x="385" y="218"/>
                </a:lnTo>
                <a:lnTo>
                  <a:pt x="387" y="218"/>
                </a:lnTo>
                <a:lnTo>
                  <a:pt x="388" y="218"/>
                </a:lnTo>
                <a:lnTo>
                  <a:pt x="389" y="218"/>
                </a:lnTo>
                <a:lnTo>
                  <a:pt x="390" y="218"/>
                </a:lnTo>
                <a:lnTo>
                  <a:pt x="391" y="218"/>
                </a:lnTo>
                <a:lnTo>
                  <a:pt x="392" y="218"/>
                </a:lnTo>
                <a:lnTo>
                  <a:pt x="393" y="218"/>
                </a:lnTo>
                <a:lnTo>
                  <a:pt x="394" y="218"/>
                </a:lnTo>
                <a:lnTo>
                  <a:pt x="393" y="218"/>
                </a:lnTo>
                <a:lnTo>
                  <a:pt x="393" y="219"/>
                </a:lnTo>
                <a:lnTo>
                  <a:pt x="391" y="221"/>
                </a:lnTo>
                <a:lnTo>
                  <a:pt x="390" y="222"/>
                </a:lnTo>
                <a:lnTo>
                  <a:pt x="388" y="224"/>
                </a:lnTo>
                <a:lnTo>
                  <a:pt x="386" y="227"/>
                </a:lnTo>
                <a:lnTo>
                  <a:pt x="384" y="230"/>
                </a:lnTo>
                <a:lnTo>
                  <a:pt x="381" y="233"/>
                </a:lnTo>
                <a:lnTo>
                  <a:pt x="378" y="237"/>
                </a:lnTo>
                <a:lnTo>
                  <a:pt x="375" y="241"/>
                </a:lnTo>
                <a:lnTo>
                  <a:pt x="371" y="245"/>
                </a:lnTo>
                <a:lnTo>
                  <a:pt x="367" y="250"/>
                </a:lnTo>
                <a:lnTo>
                  <a:pt x="363" y="255"/>
                </a:lnTo>
                <a:lnTo>
                  <a:pt x="358" y="261"/>
                </a:lnTo>
                <a:lnTo>
                  <a:pt x="353" y="266"/>
                </a:lnTo>
                <a:lnTo>
                  <a:pt x="348" y="272"/>
                </a:lnTo>
                <a:lnTo>
                  <a:pt x="344" y="278"/>
                </a:lnTo>
                <a:lnTo>
                  <a:pt x="340" y="283"/>
                </a:lnTo>
                <a:lnTo>
                  <a:pt x="336" y="288"/>
                </a:lnTo>
                <a:lnTo>
                  <a:pt x="332" y="292"/>
                </a:lnTo>
                <a:lnTo>
                  <a:pt x="329" y="296"/>
                </a:lnTo>
                <a:lnTo>
                  <a:pt x="326" y="300"/>
                </a:lnTo>
                <a:lnTo>
                  <a:pt x="323" y="303"/>
                </a:lnTo>
                <a:lnTo>
                  <a:pt x="321" y="306"/>
                </a:lnTo>
                <a:lnTo>
                  <a:pt x="318" y="309"/>
                </a:lnTo>
                <a:lnTo>
                  <a:pt x="317" y="311"/>
                </a:lnTo>
                <a:lnTo>
                  <a:pt x="315" y="312"/>
                </a:lnTo>
                <a:lnTo>
                  <a:pt x="314" y="314"/>
                </a:lnTo>
                <a:lnTo>
                  <a:pt x="313" y="315"/>
                </a:lnTo>
                <a:lnTo>
                  <a:pt x="312" y="315"/>
                </a:lnTo>
                <a:lnTo>
                  <a:pt x="311" y="314"/>
                </a:lnTo>
                <a:lnTo>
                  <a:pt x="310" y="312"/>
                </a:lnTo>
                <a:lnTo>
                  <a:pt x="309" y="311"/>
                </a:lnTo>
                <a:lnTo>
                  <a:pt x="307" y="309"/>
                </a:lnTo>
                <a:lnTo>
                  <a:pt x="305" y="306"/>
                </a:lnTo>
                <a:lnTo>
                  <a:pt x="303" y="303"/>
                </a:lnTo>
                <a:lnTo>
                  <a:pt x="300" y="300"/>
                </a:lnTo>
                <a:lnTo>
                  <a:pt x="297" y="296"/>
                </a:lnTo>
                <a:lnTo>
                  <a:pt x="294" y="292"/>
                </a:lnTo>
                <a:lnTo>
                  <a:pt x="290" y="288"/>
                </a:lnTo>
                <a:lnTo>
                  <a:pt x="286" y="283"/>
                </a:lnTo>
                <a:lnTo>
                  <a:pt x="282" y="278"/>
                </a:lnTo>
                <a:lnTo>
                  <a:pt x="277" y="272"/>
                </a:lnTo>
                <a:lnTo>
                  <a:pt x="272" y="266"/>
                </a:lnTo>
                <a:lnTo>
                  <a:pt x="267" y="261"/>
                </a:lnTo>
                <a:lnTo>
                  <a:pt x="263" y="255"/>
                </a:lnTo>
                <a:lnTo>
                  <a:pt x="258" y="250"/>
                </a:lnTo>
                <a:lnTo>
                  <a:pt x="254" y="245"/>
                </a:lnTo>
                <a:lnTo>
                  <a:pt x="251" y="241"/>
                </a:lnTo>
                <a:lnTo>
                  <a:pt x="247" y="237"/>
                </a:lnTo>
                <a:lnTo>
                  <a:pt x="244" y="233"/>
                </a:lnTo>
                <a:lnTo>
                  <a:pt x="242" y="230"/>
                </a:lnTo>
                <a:lnTo>
                  <a:pt x="239" y="227"/>
                </a:lnTo>
                <a:lnTo>
                  <a:pt x="237" y="224"/>
                </a:lnTo>
                <a:lnTo>
                  <a:pt x="235" y="222"/>
                </a:lnTo>
                <a:lnTo>
                  <a:pt x="234" y="221"/>
                </a:lnTo>
                <a:lnTo>
                  <a:pt x="233" y="219"/>
                </a:lnTo>
                <a:lnTo>
                  <a:pt x="232" y="218"/>
                </a:lnTo>
                <a:lnTo>
                  <a:pt x="233" y="218"/>
                </a:lnTo>
                <a:lnTo>
                  <a:pt x="234" y="218"/>
                </a:lnTo>
                <a:lnTo>
                  <a:pt x="235" y="218"/>
                </a:lnTo>
                <a:lnTo>
                  <a:pt x="236" y="218"/>
                </a:lnTo>
                <a:lnTo>
                  <a:pt x="237" y="218"/>
                </a:lnTo>
                <a:lnTo>
                  <a:pt x="239" y="218"/>
                </a:lnTo>
                <a:lnTo>
                  <a:pt x="240" y="218"/>
                </a:lnTo>
                <a:lnTo>
                  <a:pt x="242" y="218"/>
                </a:lnTo>
                <a:lnTo>
                  <a:pt x="244" y="218"/>
                </a:lnTo>
                <a:lnTo>
                  <a:pt x="246" y="218"/>
                </a:lnTo>
                <a:lnTo>
                  <a:pt x="248" y="218"/>
                </a:lnTo>
                <a:lnTo>
                  <a:pt x="250" y="218"/>
                </a:lnTo>
                <a:lnTo>
                  <a:pt x="253" y="218"/>
                </a:lnTo>
                <a:lnTo>
                  <a:pt x="255" y="218"/>
                </a:lnTo>
                <a:lnTo>
                  <a:pt x="257" y="218"/>
                </a:lnTo>
                <a:lnTo>
                  <a:pt x="258" y="218"/>
                </a:lnTo>
                <a:lnTo>
                  <a:pt x="260" y="218"/>
                </a:lnTo>
                <a:lnTo>
                  <a:pt x="262" y="218"/>
                </a:lnTo>
                <a:lnTo>
                  <a:pt x="263" y="218"/>
                </a:lnTo>
                <a:lnTo>
                  <a:pt x="264" y="218"/>
                </a:lnTo>
                <a:lnTo>
                  <a:pt x="265" y="218"/>
                </a:lnTo>
                <a:lnTo>
                  <a:pt x="266" y="218"/>
                </a:lnTo>
                <a:lnTo>
                  <a:pt x="267" y="218"/>
                </a:lnTo>
                <a:lnTo>
                  <a:pt x="268" y="218"/>
                </a:lnTo>
                <a:lnTo>
                  <a:pt x="269" y="218"/>
                </a:lnTo>
                <a:lnTo>
                  <a:pt x="269" y="217"/>
                </a:lnTo>
                <a:lnTo>
                  <a:pt x="269" y="216"/>
                </a:lnTo>
                <a:lnTo>
                  <a:pt x="269" y="215"/>
                </a:lnTo>
                <a:lnTo>
                  <a:pt x="268" y="213"/>
                </a:lnTo>
                <a:lnTo>
                  <a:pt x="268" y="212"/>
                </a:lnTo>
                <a:lnTo>
                  <a:pt x="268" y="211"/>
                </a:lnTo>
                <a:lnTo>
                  <a:pt x="268" y="209"/>
                </a:lnTo>
                <a:lnTo>
                  <a:pt x="268" y="207"/>
                </a:lnTo>
                <a:lnTo>
                  <a:pt x="267" y="205"/>
                </a:lnTo>
                <a:lnTo>
                  <a:pt x="267" y="203"/>
                </a:lnTo>
                <a:lnTo>
                  <a:pt x="267" y="201"/>
                </a:lnTo>
                <a:lnTo>
                  <a:pt x="266" y="199"/>
                </a:lnTo>
                <a:lnTo>
                  <a:pt x="266" y="196"/>
                </a:lnTo>
                <a:lnTo>
                  <a:pt x="265" y="193"/>
                </a:lnTo>
                <a:lnTo>
                  <a:pt x="265" y="190"/>
                </a:lnTo>
                <a:lnTo>
                  <a:pt x="265" y="188"/>
                </a:lnTo>
                <a:lnTo>
                  <a:pt x="264" y="185"/>
                </a:lnTo>
                <a:lnTo>
                  <a:pt x="264" y="182"/>
                </a:lnTo>
                <a:lnTo>
                  <a:pt x="263" y="180"/>
                </a:lnTo>
                <a:lnTo>
                  <a:pt x="263" y="177"/>
                </a:lnTo>
                <a:lnTo>
                  <a:pt x="262" y="174"/>
                </a:lnTo>
                <a:lnTo>
                  <a:pt x="261" y="171"/>
                </a:lnTo>
                <a:lnTo>
                  <a:pt x="261" y="169"/>
                </a:lnTo>
                <a:lnTo>
                  <a:pt x="260" y="166"/>
                </a:lnTo>
                <a:lnTo>
                  <a:pt x="259" y="163"/>
                </a:lnTo>
                <a:lnTo>
                  <a:pt x="259" y="161"/>
                </a:lnTo>
                <a:lnTo>
                  <a:pt x="258" y="158"/>
                </a:lnTo>
                <a:lnTo>
                  <a:pt x="257" y="155"/>
                </a:lnTo>
                <a:lnTo>
                  <a:pt x="257" y="152"/>
                </a:lnTo>
                <a:lnTo>
                  <a:pt x="256" y="150"/>
                </a:lnTo>
                <a:lnTo>
                  <a:pt x="255" y="147"/>
                </a:lnTo>
                <a:lnTo>
                  <a:pt x="254" y="144"/>
                </a:lnTo>
                <a:lnTo>
                  <a:pt x="253" y="142"/>
                </a:lnTo>
                <a:lnTo>
                  <a:pt x="252" y="139"/>
                </a:lnTo>
                <a:lnTo>
                  <a:pt x="250" y="136"/>
                </a:lnTo>
                <a:lnTo>
                  <a:pt x="249" y="133"/>
                </a:lnTo>
                <a:lnTo>
                  <a:pt x="248" y="131"/>
                </a:lnTo>
                <a:lnTo>
                  <a:pt x="247" y="128"/>
                </a:lnTo>
                <a:lnTo>
                  <a:pt x="245" y="125"/>
                </a:lnTo>
                <a:lnTo>
                  <a:pt x="243" y="123"/>
                </a:lnTo>
                <a:lnTo>
                  <a:pt x="242" y="120"/>
                </a:lnTo>
                <a:lnTo>
                  <a:pt x="240" y="117"/>
                </a:lnTo>
                <a:lnTo>
                  <a:pt x="238" y="114"/>
                </a:lnTo>
                <a:lnTo>
                  <a:pt x="237" y="112"/>
                </a:lnTo>
                <a:lnTo>
                  <a:pt x="235" y="109"/>
                </a:lnTo>
                <a:lnTo>
                  <a:pt x="233" y="106"/>
                </a:lnTo>
                <a:lnTo>
                  <a:pt x="230" y="104"/>
                </a:lnTo>
                <a:lnTo>
                  <a:pt x="228" y="101"/>
                </a:lnTo>
                <a:lnTo>
                  <a:pt x="226" y="98"/>
                </a:lnTo>
                <a:lnTo>
                  <a:pt x="223" y="95"/>
                </a:lnTo>
                <a:lnTo>
                  <a:pt x="220" y="93"/>
                </a:lnTo>
                <a:lnTo>
                  <a:pt x="217" y="90"/>
                </a:lnTo>
                <a:lnTo>
                  <a:pt x="214" y="87"/>
                </a:lnTo>
                <a:lnTo>
                  <a:pt x="211" y="85"/>
                </a:lnTo>
                <a:lnTo>
                  <a:pt x="208" y="82"/>
                </a:lnTo>
                <a:lnTo>
                  <a:pt x="204" y="79"/>
                </a:lnTo>
                <a:lnTo>
                  <a:pt x="201" y="76"/>
                </a:lnTo>
                <a:lnTo>
                  <a:pt x="197" y="74"/>
                </a:lnTo>
                <a:lnTo>
                  <a:pt x="193" y="71"/>
                </a:lnTo>
                <a:lnTo>
                  <a:pt x="189" y="68"/>
                </a:lnTo>
                <a:lnTo>
                  <a:pt x="185" y="66"/>
                </a:lnTo>
                <a:lnTo>
                  <a:pt x="180" y="63"/>
                </a:lnTo>
                <a:lnTo>
                  <a:pt x="176" y="60"/>
                </a:lnTo>
                <a:lnTo>
                  <a:pt x="172" y="58"/>
                </a:lnTo>
                <a:lnTo>
                  <a:pt x="167" y="55"/>
                </a:lnTo>
                <a:lnTo>
                  <a:pt x="163" y="53"/>
                </a:lnTo>
                <a:lnTo>
                  <a:pt x="158" y="50"/>
                </a:lnTo>
                <a:lnTo>
                  <a:pt x="154" y="48"/>
                </a:lnTo>
                <a:lnTo>
                  <a:pt x="149" y="45"/>
                </a:lnTo>
                <a:lnTo>
                  <a:pt x="145" y="43"/>
                </a:lnTo>
                <a:lnTo>
                  <a:pt x="140" y="41"/>
                </a:lnTo>
                <a:lnTo>
                  <a:pt x="136" y="38"/>
                </a:lnTo>
                <a:lnTo>
                  <a:pt x="131" y="36"/>
                </a:lnTo>
                <a:lnTo>
                  <a:pt x="127" y="34"/>
                </a:lnTo>
                <a:lnTo>
                  <a:pt x="122" y="32"/>
                </a:lnTo>
                <a:lnTo>
                  <a:pt x="117" y="30"/>
                </a:lnTo>
                <a:lnTo>
                  <a:pt x="113" y="28"/>
                </a:lnTo>
                <a:lnTo>
                  <a:pt x="108" y="26"/>
                </a:lnTo>
                <a:lnTo>
                  <a:pt x="103" y="24"/>
                </a:lnTo>
                <a:lnTo>
                  <a:pt x="99" y="22"/>
                </a:lnTo>
                <a:lnTo>
                  <a:pt x="94" y="20"/>
                </a:lnTo>
                <a:lnTo>
                  <a:pt x="89" y="19"/>
                </a:lnTo>
                <a:lnTo>
                  <a:pt x="85" y="18"/>
                </a:lnTo>
                <a:lnTo>
                  <a:pt x="80" y="16"/>
                </a:lnTo>
                <a:lnTo>
                  <a:pt x="75" y="15"/>
                </a:lnTo>
                <a:lnTo>
                  <a:pt x="71" y="14"/>
                </a:lnTo>
                <a:lnTo>
                  <a:pt x="66" y="14"/>
                </a:lnTo>
                <a:lnTo>
                  <a:pt x="61" y="13"/>
                </a:lnTo>
                <a:lnTo>
                  <a:pt x="57" y="12"/>
                </a:lnTo>
                <a:lnTo>
                  <a:pt x="52" y="12"/>
                </a:lnTo>
                <a:lnTo>
                  <a:pt x="47" y="11"/>
                </a:lnTo>
                <a:lnTo>
                  <a:pt x="42" y="11"/>
                </a:lnTo>
                <a:lnTo>
                  <a:pt x="38" y="11"/>
                </a:lnTo>
                <a:lnTo>
                  <a:pt x="33" y="11"/>
                </a:lnTo>
                <a:lnTo>
                  <a:pt x="29" y="11"/>
                </a:lnTo>
                <a:lnTo>
                  <a:pt x="25" y="11"/>
                </a:lnTo>
                <a:lnTo>
                  <a:pt x="21" y="11"/>
                </a:lnTo>
                <a:lnTo>
                  <a:pt x="18" y="11"/>
                </a:lnTo>
                <a:lnTo>
                  <a:pt x="15" y="11"/>
                </a:lnTo>
                <a:lnTo>
                  <a:pt x="12" y="11"/>
                </a:lnTo>
                <a:lnTo>
                  <a:pt x="10" y="11"/>
                </a:lnTo>
                <a:lnTo>
                  <a:pt x="7" y="11"/>
                </a:lnTo>
                <a:lnTo>
                  <a:pt x="6" y="11"/>
                </a:lnTo>
                <a:lnTo>
                  <a:pt x="4" y="11"/>
                </a:lnTo>
                <a:lnTo>
                  <a:pt x="3" y="11"/>
                </a:lnTo>
                <a:lnTo>
                  <a:pt x="2" y="11"/>
                </a:lnTo>
                <a:lnTo>
                  <a:pt x="1" y="11"/>
                </a:lnTo>
                <a:lnTo>
                  <a:pt x="0" y="11"/>
                </a:lnTo>
                <a:lnTo>
                  <a:pt x="0" y="10"/>
                </a:lnTo>
                <a:lnTo>
                  <a:pt x="0" y="9"/>
                </a:lnTo>
                <a:lnTo>
                  <a:pt x="0" y="8"/>
                </a:lnTo>
                <a:lnTo>
                  <a:pt x="0" y="7"/>
                </a:lnTo>
                <a:lnTo>
                  <a:pt x="0" y="6"/>
                </a:lnTo>
                <a:lnTo>
                  <a:pt x="0" y="5"/>
                </a:lnTo>
                <a:lnTo>
                  <a:pt x="0" y="4"/>
                </a:lnTo>
                <a:lnTo>
                  <a:pt x="0" y="3"/>
                </a:lnTo>
                <a:lnTo>
                  <a:pt x="0" y="2"/>
                </a:lnTo>
                <a:lnTo>
                  <a:pt x="0" y="1"/>
                </a:lnTo>
                <a:lnTo>
                  <a:pt x="0" y="0"/>
                </a:lnTo>
                <a:lnTo>
                  <a:pt x="1" y="0"/>
                </a:lnTo>
                <a:lnTo>
                  <a:pt x="2" y="0"/>
                </a:lnTo>
                <a:lnTo>
                  <a:pt x="3" y="0"/>
                </a:lnTo>
                <a:lnTo>
                  <a:pt x="4" y="0"/>
                </a:lnTo>
                <a:lnTo>
                  <a:pt x="6" y="0"/>
                </a:lnTo>
                <a:lnTo>
                  <a:pt x="8" y="0"/>
                </a:lnTo>
                <a:lnTo>
                  <a:pt x="10" y="0"/>
                </a:lnTo>
                <a:lnTo>
                  <a:pt x="13" y="0"/>
                </a:lnTo>
                <a:lnTo>
                  <a:pt x="16" y="0"/>
                </a:lnTo>
                <a:lnTo>
                  <a:pt x="19" y="0"/>
                </a:lnTo>
                <a:lnTo>
                  <a:pt x="23" y="0"/>
                </a:lnTo>
                <a:lnTo>
                  <a:pt x="27" y="0"/>
                </a:lnTo>
                <a:lnTo>
                  <a:pt x="31" y="0"/>
                </a:lnTo>
                <a:lnTo>
                  <a:pt x="36" y="0"/>
                </a:lnTo>
                <a:lnTo>
                  <a:pt x="41" y="0"/>
                </a:lnTo>
                <a:lnTo>
                  <a:pt x="46" y="0"/>
                </a:lnTo>
                <a:lnTo>
                  <a:pt x="51" y="0"/>
                </a:lnTo>
                <a:lnTo>
                  <a:pt x="56" y="1"/>
                </a:lnTo>
                <a:lnTo>
                  <a:pt x="61" y="1"/>
                </a:lnTo>
                <a:lnTo>
                  <a:pt x="66" y="1"/>
                </a:lnTo>
                <a:lnTo>
                  <a:pt x="71" y="1"/>
                </a:lnTo>
                <a:lnTo>
                  <a:pt x="76" y="1"/>
                </a:lnTo>
                <a:lnTo>
                  <a:pt x="81" y="2"/>
                </a:lnTo>
                <a:lnTo>
                  <a:pt x="86" y="2"/>
                </a:lnTo>
                <a:lnTo>
                  <a:pt x="90" y="2"/>
                </a:lnTo>
                <a:lnTo>
                  <a:pt x="95" y="3"/>
                </a:lnTo>
                <a:lnTo>
                  <a:pt x="100" y="3"/>
                </a:lnTo>
                <a:lnTo>
                  <a:pt x="105" y="4"/>
                </a:lnTo>
                <a:lnTo>
                  <a:pt x="110" y="5"/>
                </a:lnTo>
                <a:lnTo>
                  <a:pt x="114" y="5"/>
                </a:lnTo>
                <a:lnTo>
                  <a:pt x="119" y="6"/>
                </a:lnTo>
                <a:lnTo>
                  <a:pt x="124" y="7"/>
                </a:lnTo>
                <a:lnTo>
                  <a:pt x="128" y="7"/>
                </a:lnTo>
                <a:lnTo>
                  <a:pt x="133" y="8"/>
                </a:lnTo>
                <a:lnTo>
                  <a:pt x="138" y="9"/>
                </a:lnTo>
                <a:lnTo>
                  <a:pt x="142" y="10"/>
                </a:lnTo>
                <a:lnTo>
                  <a:pt x="147" y="11"/>
                </a:lnTo>
                <a:lnTo>
                  <a:pt x="152" y="13"/>
                </a:lnTo>
                <a:lnTo>
                  <a:pt x="157" y="14"/>
                </a:lnTo>
                <a:lnTo>
                  <a:pt x="161" y="15"/>
                </a:lnTo>
                <a:lnTo>
                  <a:pt x="166" y="17"/>
                </a:lnTo>
                <a:lnTo>
                  <a:pt x="171" y="18"/>
                </a:lnTo>
                <a:lnTo>
                  <a:pt x="175" y="20"/>
                </a:lnTo>
                <a:lnTo>
                  <a:pt x="180" y="22"/>
                </a:lnTo>
                <a:lnTo>
                  <a:pt x="185" y="24"/>
                </a:lnTo>
                <a:lnTo>
                  <a:pt x="189" y="26"/>
                </a:lnTo>
                <a:lnTo>
                  <a:pt x="194" y="28"/>
                </a:lnTo>
                <a:lnTo>
                  <a:pt x="199" y="30"/>
                </a:lnTo>
                <a:lnTo>
                  <a:pt x="203" y="32"/>
                </a:lnTo>
                <a:lnTo>
                  <a:pt x="208" y="34"/>
                </a:lnTo>
                <a:lnTo>
                  <a:pt x="213" y="36"/>
                </a:lnTo>
                <a:lnTo>
                  <a:pt x="218" y="39"/>
                </a:lnTo>
                <a:lnTo>
                  <a:pt x="223" y="41"/>
                </a:lnTo>
                <a:lnTo>
                  <a:pt x="227" y="44"/>
                </a:lnTo>
                <a:lnTo>
                  <a:pt x="232" y="47"/>
                </a:lnTo>
                <a:lnTo>
                  <a:pt x="237" y="49"/>
                </a:lnTo>
                <a:lnTo>
                  <a:pt x="242" y="52"/>
                </a:lnTo>
                <a:lnTo>
                  <a:pt x="247" y="55"/>
                </a:lnTo>
                <a:lnTo>
                  <a:pt x="252" y="58"/>
                </a:lnTo>
                <a:lnTo>
                  <a:pt x="257" y="61"/>
                </a:lnTo>
                <a:lnTo>
                  <a:pt x="262" y="64"/>
                </a:lnTo>
                <a:lnTo>
                  <a:pt x="267" y="68"/>
                </a:lnTo>
                <a:lnTo>
                  <a:pt x="272" y="71"/>
                </a:lnTo>
                <a:lnTo>
                  <a:pt x="277" y="74"/>
                </a:lnTo>
                <a:lnTo>
                  <a:pt x="282" y="78"/>
                </a:lnTo>
                <a:lnTo>
                  <a:pt x="287" y="81"/>
                </a:lnTo>
                <a:lnTo>
                  <a:pt x="291" y="85"/>
                </a:lnTo>
                <a:lnTo>
                  <a:pt x="295" y="88"/>
                </a:lnTo>
                <a:lnTo>
                  <a:pt x="300" y="92"/>
                </a:lnTo>
                <a:lnTo>
                  <a:pt x="303" y="96"/>
                </a:lnTo>
                <a:lnTo>
                  <a:pt x="307" y="99"/>
                </a:lnTo>
                <a:lnTo>
                  <a:pt x="311" y="103"/>
                </a:lnTo>
                <a:lnTo>
                  <a:pt x="314" y="107"/>
                </a:lnTo>
                <a:lnTo>
                  <a:pt x="318" y="111"/>
                </a:lnTo>
                <a:lnTo>
                  <a:pt x="321" y="115"/>
                </a:lnTo>
                <a:lnTo>
                  <a:pt x="324" y="119"/>
                </a:lnTo>
                <a:lnTo>
                  <a:pt x="326" y="123"/>
                </a:lnTo>
                <a:lnTo>
                  <a:pt x="329" y="127"/>
                </a:lnTo>
                <a:lnTo>
                  <a:pt x="332" y="131"/>
                </a:lnTo>
                <a:lnTo>
                  <a:pt x="334" y="135"/>
                </a:lnTo>
                <a:lnTo>
                  <a:pt x="336" y="139"/>
                </a:lnTo>
                <a:lnTo>
                  <a:pt x="338" y="143"/>
                </a:lnTo>
                <a:lnTo>
                  <a:pt x="340" y="147"/>
                </a:lnTo>
                <a:lnTo>
                  <a:pt x="342" y="151"/>
                </a:lnTo>
                <a:lnTo>
                  <a:pt x="344" y="154"/>
                </a:lnTo>
                <a:lnTo>
                  <a:pt x="346" y="158"/>
                </a:lnTo>
                <a:lnTo>
                  <a:pt x="347" y="162"/>
                </a:lnTo>
                <a:lnTo>
                  <a:pt x="349" y="166"/>
                </a:lnTo>
                <a:lnTo>
                  <a:pt x="350" y="169"/>
                </a:lnTo>
                <a:lnTo>
                  <a:pt x="351" y="173"/>
                </a:lnTo>
                <a:lnTo>
                  <a:pt x="353" y="177"/>
                </a:lnTo>
                <a:lnTo>
                  <a:pt x="354" y="180"/>
                </a:lnTo>
                <a:lnTo>
                  <a:pt x="355" y="184"/>
                </a:lnTo>
                <a:lnTo>
                  <a:pt x="356" y="187"/>
                </a:lnTo>
                <a:lnTo>
                  <a:pt x="357" y="190"/>
                </a:lnTo>
                <a:close/>
              </a:path>
            </a:pathLst>
          </a:custGeom>
          <a:solidFill>
            <a:srgbClr val="3368FF"/>
          </a:solidFill>
          <a:ln w="25400">
            <a:solidFill>
              <a:srgbClr val="FFFFFF"/>
            </a:solidFill>
          </a:ln>
          <a:effectLst/>
        </p:spPr>
        <p:txBody>
          <a:bodyPr wrap="none" anchor="ctr"/>
          <a:p>
            <a:pPr eaLnBrk="0" fontAlgn="base" hangingPunct="0">
              <a:spcBef>
                <a:spcPct val="0"/>
              </a:spcBef>
              <a:spcAft>
                <a:spcPct val="0"/>
              </a:spcAft>
              <a:defRPr>
                <a:solidFill>
                  <a:srgbClr val="383838"/>
                </a:solidFill>
                <a:latin typeface="微软雅黑"/>
                <a:ea typeface="微软雅黑"/>
                <a:cs typeface="微软雅黑"/>
              </a:defRPr>
            </a:pPr>
            <a:endParaRPr lang="en-GB" sz="1335">
              <a:solidFill>
                <a:srgbClr val="383838"/>
              </a:solidFill>
              <a:latin typeface="微软雅黑"/>
              <a:ea typeface="微软雅黑"/>
              <a:cs typeface="微软雅黑"/>
            </a:endParaRPr>
          </a:p>
        </p:txBody>
      </p:sp>
      <p:sp>
        <p:nvSpPr>
          <p:cNvPr id="46" name="文本框 45"/>
          <p:cNvSpPr txBox="1"/>
          <p:nvPr>
            <p:custDataLst>
              <p:tags r:id="rId19"/>
            </p:custDataLst>
          </p:nvPr>
        </p:nvSpPr>
        <p:spPr>
          <a:xfrm>
            <a:off x="2788920" y="2418715"/>
            <a:ext cx="2204720" cy="737235"/>
          </a:xfrm>
          <a:prstGeom prst="rect">
            <a:avLst/>
          </a:prstGeom>
          <a:noFill/>
        </p:spPr>
        <p:txBody>
          <a:bodyPr wrap="square" rtlCol="0">
            <a:spAutoFit/>
          </a:bodyPr>
          <a:p>
            <a:pPr algn="l">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算法精进技术成熟，无人驾驶达到安全稳定为主要任务。</a:t>
            </a:r>
            <a:endParaRPr lang="zh-CN" altLang="en-US" sz="1400">
              <a:solidFill>
                <a:srgbClr val="FFFFFF"/>
              </a:solidFill>
              <a:latin typeface="微软雅黑"/>
              <a:ea typeface="微软雅黑"/>
              <a:cs typeface="微软雅黑"/>
            </a:endParaRPr>
          </a:p>
        </p:txBody>
      </p:sp>
      <p:sp>
        <p:nvSpPr>
          <p:cNvPr id="47" name="文本框 46"/>
          <p:cNvSpPr txBox="1"/>
          <p:nvPr>
            <p:custDataLst>
              <p:tags r:id="rId20"/>
            </p:custDataLst>
          </p:nvPr>
        </p:nvSpPr>
        <p:spPr>
          <a:xfrm>
            <a:off x="5870575" y="2320290"/>
            <a:ext cx="2204720" cy="521970"/>
          </a:xfrm>
          <a:prstGeom prst="rect">
            <a:avLst/>
          </a:prstGeom>
          <a:noFill/>
        </p:spPr>
        <p:txBody>
          <a:bodyPr wrap="square" rtlCol="0">
            <a:spAutoFit/>
          </a:bodyPr>
          <a:p>
            <a:pPr algn="l">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造车和运营成本双线下降，实现大规模商业运作。</a:t>
            </a:r>
            <a:endParaRPr lang="zh-CN" altLang="en-US" sz="1400">
              <a:solidFill>
                <a:srgbClr val="FFFFFF"/>
              </a:solidFill>
              <a:latin typeface="微软雅黑"/>
              <a:ea typeface="微软雅黑"/>
              <a:cs typeface="微软雅黑"/>
            </a:endParaRPr>
          </a:p>
        </p:txBody>
      </p:sp>
      <p:sp>
        <p:nvSpPr>
          <p:cNvPr id="48" name="文本框 47"/>
          <p:cNvSpPr txBox="1"/>
          <p:nvPr>
            <p:custDataLst>
              <p:tags r:id="rId21"/>
            </p:custDataLst>
          </p:nvPr>
        </p:nvSpPr>
        <p:spPr>
          <a:xfrm>
            <a:off x="8960485" y="2018665"/>
            <a:ext cx="2159635" cy="737235"/>
          </a:xfrm>
          <a:prstGeom prst="rect">
            <a:avLst/>
          </a:prstGeom>
          <a:noFill/>
        </p:spPr>
        <p:txBody>
          <a:bodyPr wrap="square" rtlCol="0">
            <a:spAutoFit/>
          </a:bodyPr>
          <a:p>
            <a:pPr algn="l">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运营优化，使用高效便捷成为极具竞争力的出行方式。</a:t>
            </a:r>
            <a:endParaRPr lang="zh-CN" altLang="en-US" sz="1400">
              <a:solidFill>
                <a:srgbClr val="FFFFFF"/>
              </a:solidFill>
              <a:latin typeface="微软雅黑"/>
              <a:ea typeface="微软雅黑"/>
              <a:cs typeface="微软雅黑"/>
            </a:endParaRPr>
          </a:p>
        </p:txBody>
      </p:sp>
      <p:pic>
        <p:nvPicPr>
          <p:cNvPr id="50" name="图片 49" descr="算法"/>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4892040" y="2778125"/>
            <a:ext cx="314325" cy="314325"/>
          </a:xfrm>
          <a:prstGeom prst="rect">
            <a:avLst/>
          </a:prstGeom>
        </p:spPr>
      </p:pic>
      <p:pic>
        <p:nvPicPr>
          <p:cNvPr id="51" name="图片 50" descr="精细化预报智能平台3"/>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11010900" y="2381250"/>
            <a:ext cx="276225" cy="276225"/>
          </a:xfrm>
          <a:prstGeom prst="rect">
            <a:avLst/>
          </a:prstGeom>
        </p:spPr>
      </p:pic>
      <p:pic>
        <p:nvPicPr>
          <p:cNvPr id="52" name="图片 51" descr="成本管理"/>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a:off x="7905750" y="2616835"/>
            <a:ext cx="290830" cy="290830"/>
          </a:xfrm>
          <a:prstGeom prst="rect">
            <a:avLst/>
          </a:prstGeom>
        </p:spPr>
      </p:pic>
      <p:sp>
        <p:nvSpPr>
          <p:cNvPr id="53" name="文本框 52"/>
          <p:cNvSpPr txBox="1"/>
          <p:nvPr>
            <p:custDataLst>
              <p:tags r:id="rId28"/>
            </p:custDataLst>
          </p:nvPr>
        </p:nvSpPr>
        <p:spPr>
          <a:xfrm>
            <a:off x="2577465" y="3784600"/>
            <a:ext cx="575310" cy="706755"/>
          </a:xfrm>
          <a:prstGeom prst="rect">
            <a:avLst/>
          </a:prstGeom>
          <a:noFill/>
        </p:spPr>
        <p:txBody>
          <a:bodyPr wrap="square" rtlCol="0">
            <a:spAutoFit/>
          </a:bodyPr>
          <a:p>
            <a:pPr algn="ctr">
              <a:defRPr>
                <a:latin typeface="微软雅黑"/>
                <a:ea typeface="微软雅黑"/>
                <a:cs typeface="微软雅黑"/>
              </a:defRPr>
            </a:pPr>
            <a:r>
              <a:rPr lang="zh-CN" altLang="en-US" sz="2000" b="1">
                <a:gradFill>
                  <a:gsLst>
                    <a:gs pos="0">
                      <a:srgbClr val="0042FF"/>
                    </a:gs>
                    <a:gs pos="100000">
                      <a:srgbClr val="0042FF"/>
                    </a:gs>
                  </a:gsLst>
                  <a:lin ang="5400000" scaled="0"/>
                </a:gradFill>
                <a:effectLst>
                  <a:outerShdw blurRad="50800" dist="38100" dir="2700000" algn="tl" rotWithShape="0">
                    <a:srgbClr val="FFFFFF">
                      <a:alpha val="100000"/>
                    </a:srgbClr>
                  </a:outerShdw>
                </a:effectLst>
                <a:latin typeface="微软雅黑"/>
                <a:ea typeface="微软雅黑"/>
                <a:cs typeface="微软雅黑"/>
              </a:rPr>
              <a:t>状态</a:t>
            </a:r>
            <a:endParaRPr lang="zh-CN" altLang="en-US" sz="2000" b="1">
              <a:gradFill>
                <a:gsLst>
                  <a:gs pos="0">
                    <a:srgbClr val="0042FF"/>
                  </a:gs>
                  <a:gs pos="100000">
                    <a:srgbClr val="0042FF"/>
                  </a:gs>
                </a:gsLst>
                <a:lin ang="5400000" scaled="0"/>
              </a:gradFill>
              <a:effectLst>
                <a:outerShdw blurRad="50800" dist="38100" dir="2700000" algn="tl" rotWithShape="0">
                  <a:srgbClr val="FFFFFF">
                    <a:alpha val="100000"/>
                  </a:srgbClr>
                </a:outerShdw>
              </a:effectLst>
              <a:latin typeface="微软雅黑"/>
              <a:ea typeface="微软雅黑"/>
              <a:cs typeface="微软雅黑"/>
            </a:endParaRPr>
          </a:p>
        </p:txBody>
      </p:sp>
      <p:sp>
        <p:nvSpPr>
          <p:cNvPr id="54" name="文本框 53"/>
          <p:cNvSpPr txBox="1"/>
          <p:nvPr>
            <p:custDataLst>
              <p:tags r:id="rId29"/>
            </p:custDataLst>
          </p:nvPr>
        </p:nvSpPr>
        <p:spPr>
          <a:xfrm>
            <a:off x="3155315" y="3345815"/>
            <a:ext cx="2204720" cy="1652905"/>
          </a:xfrm>
          <a:prstGeom prst="rect">
            <a:avLst/>
          </a:prstGeom>
          <a:noFill/>
        </p:spPr>
        <p:txBody>
          <a:bodyPr wrap="square" rtlCol="0">
            <a:spAutoFit/>
          </a:bodyPr>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技术升级，解决绝大多数场景</a:t>
            </a:r>
            <a:endParaRPr lang="zh-CN" altLang="en-US"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探索运营服务体系，运营数据反哺技术进步</a:t>
            </a:r>
            <a:endParaRPr lang="zh-CN" altLang="en-US"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后装</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前装解决方案落地</a:t>
            </a:r>
            <a:endParaRPr lang="zh-CN" altLang="en-US"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逐步取消车上安全员角色</a:t>
            </a:r>
            <a:endParaRPr lang="zh-CN" altLang="en-US"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逐步培养用户认知</a:t>
            </a:r>
            <a:endParaRPr lang="zh-CN" altLang="en-US" sz="1200">
              <a:solidFill>
                <a:srgbClr val="383838"/>
              </a:solidFill>
              <a:latin typeface="微软雅黑"/>
              <a:ea typeface="微软雅黑"/>
              <a:cs typeface="微软雅黑"/>
            </a:endParaRPr>
          </a:p>
        </p:txBody>
      </p:sp>
      <p:sp>
        <p:nvSpPr>
          <p:cNvPr id="55" name="文本框 54"/>
          <p:cNvSpPr txBox="1"/>
          <p:nvPr>
            <p:custDataLst>
              <p:tags r:id="rId30"/>
            </p:custDataLst>
          </p:nvPr>
        </p:nvSpPr>
        <p:spPr>
          <a:xfrm>
            <a:off x="5694680" y="3535045"/>
            <a:ext cx="575310" cy="706755"/>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2000" b="1">
                <a:gradFill>
                  <a:gsLst>
                    <a:gs pos="0">
                      <a:srgbClr val="0042FF"/>
                    </a:gs>
                    <a:gs pos="100000">
                      <a:srgbClr val="0042FF"/>
                    </a:gs>
                  </a:gsLst>
                  <a:lin ang="5400000" scaled="0"/>
                </a:gradFill>
                <a:effectLst>
                  <a:outerShdw blurRad="50800" dist="38100" dir="2700000" algn="tl" rotWithShape="0">
                    <a:srgbClr val="FFFFFF">
                      <a:alpha val="100000"/>
                    </a:srgbClr>
                  </a:outerShdw>
                </a:effectLst>
                <a:latin typeface="微软雅黑"/>
                <a:ea typeface="微软雅黑"/>
                <a:cs typeface="微软雅黑"/>
                <a:sym typeface="微软雅黑"/>
              </a:rPr>
              <a:t>状态</a:t>
            </a:r>
            <a:endParaRPr lang="zh-CN" altLang="en-US" sz="2000" b="1">
              <a:gradFill>
                <a:gsLst>
                  <a:gs pos="0">
                    <a:srgbClr val="0042FF"/>
                  </a:gs>
                  <a:gs pos="100000">
                    <a:srgbClr val="0042FF"/>
                  </a:gs>
                </a:gsLst>
                <a:lin ang="5400000" scaled="0"/>
              </a:gradFill>
              <a:effectLst>
                <a:outerShdw blurRad="50800" dist="38100" dir="2700000" algn="tl" rotWithShape="0">
                  <a:srgbClr val="FFFFFF">
                    <a:alpha val="100000"/>
                  </a:srgbClr>
                </a:outerShdw>
              </a:effectLst>
              <a:latin typeface="微软雅黑"/>
              <a:ea typeface="微软雅黑"/>
              <a:cs typeface="微软雅黑"/>
              <a:sym typeface="微软雅黑"/>
            </a:endParaRPr>
          </a:p>
        </p:txBody>
      </p:sp>
      <p:sp>
        <p:nvSpPr>
          <p:cNvPr id="56" name="文本框 55"/>
          <p:cNvSpPr txBox="1"/>
          <p:nvPr>
            <p:custDataLst>
              <p:tags r:id="rId31"/>
            </p:custDataLst>
          </p:nvPr>
        </p:nvSpPr>
        <p:spPr>
          <a:xfrm>
            <a:off x="8676640" y="3405823"/>
            <a:ext cx="575310" cy="706755"/>
          </a:xfrm>
          <a:prstGeom prst="rect">
            <a:avLst/>
          </a:prstGeom>
          <a:noFill/>
        </p:spPr>
        <p:txBody>
          <a:bodyPr wrap="square" rtlCol="0">
            <a:spAutoFit/>
          </a:bodyPr>
          <a:p>
            <a:pPr lvl="0" algn="ctr">
              <a:buClrTx/>
              <a:buSzTx/>
              <a:buFontTx/>
              <a:defRPr>
                <a:latin typeface="微软雅黑"/>
                <a:ea typeface="微软雅黑"/>
                <a:cs typeface="微软雅黑"/>
              </a:defRPr>
            </a:pPr>
            <a:r>
              <a:rPr lang="zh-CN" altLang="en-US" sz="2000" b="1">
                <a:gradFill>
                  <a:gsLst>
                    <a:gs pos="0">
                      <a:srgbClr val="0042FF"/>
                    </a:gs>
                    <a:gs pos="100000">
                      <a:srgbClr val="0042FF"/>
                    </a:gs>
                  </a:gsLst>
                  <a:lin ang="5400000" scaled="0"/>
                </a:gradFill>
                <a:effectLst>
                  <a:outerShdw blurRad="50800" dist="38100" dir="2700000" algn="tl" rotWithShape="0">
                    <a:srgbClr val="FFFFFF">
                      <a:alpha val="100000"/>
                    </a:srgbClr>
                  </a:outerShdw>
                </a:effectLst>
                <a:latin typeface="微软雅黑"/>
                <a:ea typeface="微软雅黑"/>
                <a:cs typeface="微软雅黑"/>
                <a:sym typeface="微软雅黑"/>
              </a:rPr>
              <a:t>状态</a:t>
            </a:r>
            <a:endParaRPr lang="zh-CN" altLang="en-US" sz="2000" b="1">
              <a:gradFill>
                <a:gsLst>
                  <a:gs pos="0">
                    <a:srgbClr val="0042FF"/>
                  </a:gs>
                  <a:gs pos="100000">
                    <a:srgbClr val="0042FF"/>
                  </a:gs>
                </a:gsLst>
                <a:lin ang="5400000" scaled="0"/>
              </a:gradFill>
              <a:effectLst>
                <a:outerShdw blurRad="50800" dist="38100" dir="2700000" algn="tl" rotWithShape="0">
                  <a:srgbClr val="FFFFFF">
                    <a:alpha val="100000"/>
                  </a:srgbClr>
                </a:outerShdw>
              </a:effectLst>
              <a:latin typeface="微软雅黑"/>
              <a:ea typeface="微软雅黑"/>
              <a:cs typeface="微软雅黑"/>
              <a:sym typeface="微软雅黑"/>
            </a:endParaRPr>
          </a:p>
        </p:txBody>
      </p:sp>
      <p:sp>
        <p:nvSpPr>
          <p:cNvPr id="57" name="文本框 56"/>
          <p:cNvSpPr txBox="1"/>
          <p:nvPr>
            <p:custDataLst>
              <p:tags r:id="rId32"/>
            </p:custDataLst>
          </p:nvPr>
        </p:nvSpPr>
        <p:spPr>
          <a:xfrm>
            <a:off x="6207125" y="3141345"/>
            <a:ext cx="2302510" cy="2099310"/>
          </a:xfrm>
          <a:prstGeom prst="rect">
            <a:avLst/>
          </a:prstGeom>
          <a:noFill/>
        </p:spPr>
        <p:txBody>
          <a:bodyPr wrap="square" rtlCol="0">
            <a:spAutoFit/>
          </a:bodyPr>
          <a:p>
            <a:pPr marL="179705" indent="-179705" algn="l" fontAlgn="auto">
              <a:lnSpc>
                <a:spcPts val="1740"/>
              </a:lnSpc>
              <a:buFont typeface="微软雅黑"/>
              <a:buChar char="●"/>
              <a:defRPr>
                <a:latin typeface="微软雅黑"/>
                <a:ea typeface="微软雅黑"/>
                <a:cs typeface="微软雅黑"/>
              </a:defRPr>
            </a:pPr>
            <a:r>
              <a:rPr lang="zh-CN" sz="1200">
                <a:solidFill>
                  <a:srgbClr val="383838"/>
                </a:solidFill>
                <a:latin typeface="微软雅黑"/>
                <a:ea typeface="微软雅黑"/>
                <a:cs typeface="微软雅黑"/>
              </a:rPr>
              <a:t>技术突破，算力和软硬件达到车规水平，长尾问题有效解决</a:t>
            </a:r>
            <a:endParaRPr lang="zh-CN"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sz="1200">
                <a:solidFill>
                  <a:srgbClr val="383838"/>
                </a:solidFill>
                <a:latin typeface="微软雅黑"/>
                <a:ea typeface="微软雅黑"/>
                <a:cs typeface="微软雅黑"/>
              </a:rPr>
              <a:t>前装规模量产，实现快速复制，整车制造成本下降</a:t>
            </a:r>
            <a:endParaRPr lang="zh-CN"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sz="1200">
                <a:solidFill>
                  <a:srgbClr val="383838"/>
                </a:solidFill>
                <a:latin typeface="微软雅黑"/>
                <a:ea typeface="微软雅黑"/>
                <a:cs typeface="微软雅黑"/>
              </a:rPr>
              <a:t>优化运营模式和服务体系，提高各项运营指标</a:t>
            </a:r>
            <a:endParaRPr lang="zh-CN"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sz="1200">
                <a:solidFill>
                  <a:srgbClr val="383838"/>
                </a:solidFill>
                <a:latin typeface="微软雅黑"/>
                <a:ea typeface="微软雅黑"/>
                <a:cs typeface="微软雅黑"/>
              </a:rPr>
              <a:t>运行区域内大众接受度提高</a:t>
            </a:r>
            <a:endParaRPr lang="zh-CN"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endParaRPr lang="en-US" altLang="zh-CN" sz="1200">
              <a:solidFill>
                <a:srgbClr val="383838"/>
              </a:solidFill>
              <a:latin typeface="微软雅黑"/>
              <a:ea typeface="微软雅黑"/>
              <a:cs typeface="微软雅黑"/>
            </a:endParaRPr>
          </a:p>
        </p:txBody>
      </p:sp>
      <p:sp>
        <p:nvSpPr>
          <p:cNvPr id="58" name="文本框 57"/>
          <p:cNvSpPr txBox="1"/>
          <p:nvPr>
            <p:custDataLst>
              <p:tags r:id="rId33"/>
            </p:custDataLst>
          </p:nvPr>
        </p:nvSpPr>
        <p:spPr>
          <a:xfrm>
            <a:off x="9251950" y="2920365"/>
            <a:ext cx="2302510" cy="1652905"/>
          </a:xfrm>
          <a:prstGeom prst="rect">
            <a:avLst/>
          </a:prstGeom>
          <a:noFill/>
        </p:spPr>
        <p:txBody>
          <a:bodyPr wrap="square" rtlCol="0">
            <a:spAutoFit/>
          </a:bodyPr>
          <a:p>
            <a:pPr marL="179705" indent="-179705" algn="l" fontAlgn="auto">
              <a:lnSpc>
                <a:spcPts val="1740"/>
              </a:lnSpc>
              <a:buFont typeface="微软雅黑"/>
              <a:buChar char="●"/>
              <a:defRPr>
                <a:latin typeface="微软雅黑"/>
                <a:ea typeface="微软雅黑"/>
                <a:cs typeface="微软雅黑"/>
              </a:defRPr>
            </a:pPr>
            <a:r>
              <a:rPr lang="zh-CN" sz="1200">
                <a:solidFill>
                  <a:srgbClr val="383838"/>
                </a:solidFill>
                <a:latin typeface="微软雅黑"/>
                <a:ea typeface="微软雅黑"/>
                <a:cs typeface="微软雅黑"/>
              </a:rPr>
              <a:t>技术成熟，实现规模化量产</a:t>
            </a:r>
            <a:endParaRPr lang="zh-CN"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精细化运营提升运营效率，优化运营成本</a:t>
            </a:r>
            <a:endParaRPr lang="zh-CN" altLang="en-US"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盈利性向好，吸引更多参与者提高市场活力</a:t>
            </a:r>
            <a:endParaRPr lang="zh-CN" altLang="en-US" sz="1200">
              <a:solidFill>
                <a:srgbClr val="383838"/>
              </a:solidFill>
              <a:latin typeface="微软雅黑"/>
              <a:ea typeface="微软雅黑"/>
              <a:cs typeface="微软雅黑"/>
            </a:endParaRPr>
          </a:p>
          <a:p>
            <a:pPr marL="179705" indent="-179705" algn="l" fontAlgn="auto">
              <a:lnSpc>
                <a:spcPts val="1740"/>
              </a:lnSpc>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区域大规模开放，成为居民常用的主要出行方式之一。</a:t>
            </a:r>
            <a:endParaRPr lang="zh-CN" altLang="en-US" sz="1200">
              <a:solidFill>
                <a:srgbClr val="383838"/>
              </a:solidFill>
              <a:latin typeface="微软雅黑"/>
              <a:ea typeface="微软雅黑"/>
              <a:cs typeface="微软雅黑"/>
            </a:endParaRPr>
          </a:p>
        </p:txBody>
      </p:sp>
      <p:grpSp>
        <p:nvGrpSpPr>
          <p:cNvPr id="67" name="组合 66"/>
          <p:cNvGrpSpPr/>
          <p:nvPr/>
        </p:nvGrpSpPr>
        <p:grpSpPr>
          <a:xfrm>
            <a:off x="2009775" y="5172075"/>
            <a:ext cx="2689225" cy="1402715"/>
            <a:chOff x="3165" y="8145"/>
            <a:chExt cx="4235" cy="2209"/>
          </a:xfrm>
        </p:grpSpPr>
        <p:sp>
          <p:nvSpPr>
            <p:cNvPr id="31" name="圆角矩形 30"/>
            <p:cNvSpPr/>
            <p:nvPr/>
          </p:nvSpPr>
          <p:spPr>
            <a:xfrm>
              <a:off x="3287" y="8404"/>
              <a:ext cx="4113" cy="1950"/>
            </a:xfrm>
            <a:prstGeom prst="roundRect">
              <a:avLst/>
            </a:prstGeom>
            <a:solidFill>
              <a:srgbClr val="FFFF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29" name="直角三角形 28"/>
            <p:cNvSpPr/>
            <p:nvPr/>
          </p:nvSpPr>
          <p:spPr>
            <a:xfrm flipH="1" flipV="1">
              <a:off x="3165" y="8629"/>
              <a:ext cx="121" cy="205"/>
            </a:xfrm>
            <a:prstGeom prst="r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59" name="任意多边形 58"/>
            <p:cNvSpPr/>
            <p:nvPr/>
          </p:nvSpPr>
          <p:spPr>
            <a:xfrm>
              <a:off x="3244" y="8145"/>
              <a:ext cx="1606" cy="489"/>
            </a:xfrm>
            <a:custGeom>
              <a:avLst/>
              <a:gdLst/>
              <a:ahLst/>
              <a:cxnLst>
                <a:cxn ang="3">
                  <a:pos x="hc" y="t"/>
                </a:cxn>
                <a:cxn ang="cd2">
                  <a:pos x="l" y="vc"/>
                </a:cxn>
                <a:cxn ang="cd4">
                  <a:pos x="hc" y="b"/>
                </a:cxn>
                <a:cxn ang="0">
                  <a:pos x="r" y="vc"/>
                </a:cxn>
              </a:cxnLst>
              <a:rect l="l" t="t" r="r" b="b"/>
              <a:pathLst>
                <a:path w="1606" h="489">
                  <a:moveTo>
                    <a:pt x="0" y="0"/>
                  </a:moveTo>
                  <a:lnTo>
                    <a:pt x="1606" y="0"/>
                  </a:lnTo>
                  <a:lnTo>
                    <a:pt x="1606" y="0"/>
                  </a:lnTo>
                  <a:lnTo>
                    <a:pt x="1417" y="244"/>
                  </a:lnTo>
                  <a:lnTo>
                    <a:pt x="1606" y="488"/>
                  </a:lnTo>
                  <a:lnTo>
                    <a:pt x="1605" y="488"/>
                  </a:lnTo>
                  <a:lnTo>
                    <a:pt x="1606" y="489"/>
                  </a:lnTo>
                  <a:lnTo>
                    <a:pt x="716" y="489"/>
                  </a:lnTo>
                  <a:lnTo>
                    <a:pt x="715" y="488"/>
                  </a:lnTo>
                  <a:lnTo>
                    <a:pt x="0" y="488"/>
                  </a:lnTo>
                  <a:lnTo>
                    <a:pt x="0" y="0"/>
                  </a:lnTo>
                  <a:close/>
                </a:path>
              </a:pathLst>
            </a:custGeom>
            <a:solidFill>
              <a:srgbClr val="B3D4FE"/>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60" name="任意多边形 59"/>
            <p:cNvSpPr/>
            <p:nvPr/>
          </p:nvSpPr>
          <p:spPr>
            <a:xfrm>
              <a:off x="3165" y="8145"/>
              <a:ext cx="1606" cy="489"/>
            </a:xfrm>
            <a:custGeom>
              <a:avLst/>
              <a:gdLst/>
              <a:ahLst/>
              <a:cxnLst>
                <a:cxn ang="3">
                  <a:pos x="hc" y="t"/>
                </a:cxn>
                <a:cxn ang="cd2">
                  <a:pos x="l" y="vc"/>
                </a:cxn>
                <a:cxn ang="cd4">
                  <a:pos x="hc" y="b"/>
                </a:cxn>
                <a:cxn ang="0">
                  <a:pos x="r" y="vc"/>
                </a:cxn>
              </a:cxnLst>
              <a:rect l="l" t="t" r="r" b="b"/>
              <a:pathLst>
                <a:path w="1606" h="489">
                  <a:moveTo>
                    <a:pt x="0" y="0"/>
                  </a:moveTo>
                  <a:lnTo>
                    <a:pt x="1606" y="0"/>
                  </a:lnTo>
                  <a:lnTo>
                    <a:pt x="1606" y="0"/>
                  </a:lnTo>
                  <a:lnTo>
                    <a:pt x="1417" y="244"/>
                  </a:lnTo>
                  <a:lnTo>
                    <a:pt x="1606" y="488"/>
                  </a:lnTo>
                  <a:lnTo>
                    <a:pt x="1605" y="488"/>
                  </a:lnTo>
                  <a:lnTo>
                    <a:pt x="1606" y="489"/>
                  </a:lnTo>
                  <a:lnTo>
                    <a:pt x="716" y="489"/>
                  </a:lnTo>
                  <a:lnTo>
                    <a:pt x="715" y="488"/>
                  </a:lnTo>
                  <a:lnTo>
                    <a:pt x="0" y="488"/>
                  </a:lnTo>
                  <a:lnTo>
                    <a:pt x="0" y="0"/>
                  </a:lnTo>
                  <a:close/>
                </a:path>
              </a:pathLst>
            </a:custGeom>
            <a:gradFill>
              <a:gsLst>
                <a:gs pos="0">
                  <a:srgbClr val="3368FF"/>
                </a:gs>
                <a:gs pos="10000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63" name="文本框 62"/>
            <p:cNvSpPr txBox="1"/>
            <p:nvPr>
              <p:custDataLst>
                <p:tags r:id="rId34"/>
              </p:custDataLst>
            </p:nvPr>
          </p:nvSpPr>
          <p:spPr>
            <a:xfrm>
              <a:off x="3730" y="8782"/>
              <a:ext cx="3581" cy="1549"/>
            </a:xfrm>
            <a:prstGeom prst="rect">
              <a:avLst/>
            </a:prstGeom>
            <a:noFill/>
          </p:spPr>
          <p:txBody>
            <a:bodyPr wrap="square" rtlCol="0">
              <a:spAutoFit/>
            </a:bodyPr>
            <a:p>
              <a:pPr indent="0" algn="l" fontAlgn="auto">
                <a:lnSpc>
                  <a:spcPts val="1740"/>
                </a:lnSpc>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自动驾驶技术公司和出行服务运营商证明技术和运营可行性，推动政策放开，具备商业化试点条件。</a:t>
              </a:r>
              <a:endParaRPr lang="zh-CN" altLang="en-US" sz="1200">
                <a:solidFill>
                  <a:srgbClr val="383838"/>
                </a:solidFill>
                <a:latin typeface="微软雅黑"/>
                <a:ea typeface="微软雅黑"/>
                <a:cs typeface="微软雅黑"/>
              </a:endParaRPr>
            </a:p>
          </p:txBody>
        </p:sp>
        <p:grpSp>
          <p:nvGrpSpPr>
            <p:cNvPr id="65" name="组合 64"/>
            <p:cNvGrpSpPr/>
            <p:nvPr/>
          </p:nvGrpSpPr>
          <p:grpSpPr>
            <a:xfrm>
              <a:off x="3331" y="8876"/>
              <a:ext cx="435" cy="284"/>
              <a:chOff x="1927" y="7664"/>
              <a:chExt cx="597" cy="390"/>
            </a:xfrm>
          </p:grpSpPr>
          <p:sp>
            <p:nvSpPr>
              <p:cNvPr id="118" name="菱形 117"/>
              <p:cNvSpPr/>
              <p:nvPr/>
            </p:nvSpPr>
            <p:spPr>
              <a:xfrm flipH="1" flipV="1">
                <a:off x="1927" y="7664"/>
                <a:ext cx="475" cy="391"/>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64" name="菱形 63"/>
              <p:cNvSpPr/>
              <p:nvPr/>
            </p:nvSpPr>
            <p:spPr>
              <a:xfrm flipH="1" flipV="1">
                <a:off x="2050" y="7664"/>
                <a:ext cx="475" cy="391"/>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sp>
        <p:nvSpPr>
          <p:cNvPr id="69" name="圆角矩形 68"/>
          <p:cNvSpPr/>
          <p:nvPr/>
        </p:nvSpPr>
        <p:spPr>
          <a:xfrm>
            <a:off x="5453380" y="5336540"/>
            <a:ext cx="2611755" cy="1238250"/>
          </a:xfrm>
          <a:prstGeom prst="roundRect">
            <a:avLst/>
          </a:prstGeom>
          <a:solidFill>
            <a:srgbClr val="FFFF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70" name="直角三角形 69"/>
          <p:cNvSpPr/>
          <p:nvPr/>
        </p:nvSpPr>
        <p:spPr>
          <a:xfrm flipH="1" flipV="1">
            <a:off x="5375910" y="5479415"/>
            <a:ext cx="76835" cy="130175"/>
          </a:xfrm>
          <a:prstGeom prst="r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1" name="任意多边形 70"/>
          <p:cNvSpPr/>
          <p:nvPr/>
        </p:nvSpPr>
        <p:spPr>
          <a:xfrm>
            <a:off x="5426075" y="5172075"/>
            <a:ext cx="1019810" cy="310515"/>
          </a:xfrm>
          <a:custGeom>
            <a:avLst/>
            <a:gdLst/>
            <a:ahLst/>
            <a:cxnLst>
              <a:cxn ang="3">
                <a:pos x="hc" y="t"/>
              </a:cxn>
              <a:cxn ang="cd2">
                <a:pos x="l" y="vc"/>
              </a:cxn>
              <a:cxn ang="cd4">
                <a:pos x="hc" y="b"/>
              </a:cxn>
              <a:cxn ang="0">
                <a:pos x="r" y="vc"/>
              </a:cxn>
            </a:cxnLst>
            <a:rect l="l" t="t" r="r" b="b"/>
            <a:pathLst>
              <a:path w="1606" h="489">
                <a:moveTo>
                  <a:pt x="0" y="0"/>
                </a:moveTo>
                <a:lnTo>
                  <a:pt x="1606" y="0"/>
                </a:lnTo>
                <a:lnTo>
                  <a:pt x="1606" y="0"/>
                </a:lnTo>
                <a:lnTo>
                  <a:pt x="1417" y="244"/>
                </a:lnTo>
                <a:lnTo>
                  <a:pt x="1606" y="488"/>
                </a:lnTo>
                <a:lnTo>
                  <a:pt x="1605" y="488"/>
                </a:lnTo>
                <a:lnTo>
                  <a:pt x="1606" y="489"/>
                </a:lnTo>
                <a:lnTo>
                  <a:pt x="716" y="489"/>
                </a:lnTo>
                <a:lnTo>
                  <a:pt x="715" y="488"/>
                </a:lnTo>
                <a:lnTo>
                  <a:pt x="0" y="488"/>
                </a:lnTo>
                <a:lnTo>
                  <a:pt x="0" y="0"/>
                </a:lnTo>
                <a:close/>
              </a:path>
            </a:pathLst>
          </a:custGeom>
          <a:solidFill>
            <a:srgbClr val="B3D4FE"/>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72" name="任意多边形 71"/>
          <p:cNvSpPr/>
          <p:nvPr/>
        </p:nvSpPr>
        <p:spPr>
          <a:xfrm>
            <a:off x="5375910" y="5172075"/>
            <a:ext cx="1019810" cy="310515"/>
          </a:xfrm>
          <a:custGeom>
            <a:avLst/>
            <a:gdLst/>
            <a:ahLst/>
            <a:cxnLst>
              <a:cxn ang="3">
                <a:pos x="hc" y="t"/>
              </a:cxn>
              <a:cxn ang="cd2">
                <a:pos x="l" y="vc"/>
              </a:cxn>
              <a:cxn ang="cd4">
                <a:pos x="hc" y="b"/>
              </a:cxn>
              <a:cxn ang="0">
                <a:pos x="r" y="vc"/>
              </a:cxn>
            </a:cxnLst>
            <a:rect l="l" t="t" r="r" b="b"/>
            <a:pathLst>
              <a:path w="1606" h="489">
                <a:moveTo>
                  <a:pt x="0" y="0"/>
                </a:moveTo>
                <a:lnTo>
                  <a:pt x="1606" y="0"/>
                </a:lnTo>
                <a:lnTo>
                  <a:pt x="1606" y="0"/>
                </a:lnTo>
                <a:lnTo>
                  <a:pt x="1417" y="244"/>
                </a:lnTo>
                <a:lnTo>
                  <a:pt x="1606" y="488"/>
                </a:lnTo>
                <a:lnTo>
                  <a:pt x="1605" y="488"/>
                </a:lnTo>
                <a:lnTo>
                  <a:pt x="1606" y="489"/>
                </a:lnTo>
                <a:lnTo>
                  <a:pt x="716" y="489"/>
                </a:lnTo>
                <a:lnTo>
                  <a:pt x="715" y="488"/>
                </a:lnTo>
                <a:lnTo>
                  <a:pt x="0" y="488"/>
                </a:lnTo>
                <a:lnTo>
                  <a:pt x="0" y="0"/>
                </a:lnTo>
                <a:close/>
              </a:path>
            </a:pathLst>
          </a:custGeom>
          <a:gradFill>
            <a:gsLst>
              <a:gs pos="0">
                <a:srgbClr val="3368FF"/>
              </a:gs>
              <a:gs pos="10000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73" name="文本框 72"/>
          <p:cNvSpPr txBox="1"/>
          <p:nvPr>
            <p:custDataLst>
              <p:tags r:id="rId35"/>
            </p:custDataLst>
          </p:nvPr>
        </p:nvSpPr>
        <p:spPr>
          <a:xfrm>
            <a:off x="5734685" y="5687060"/>
            <a:ext cx="2273935" cy="537210"/>
          </a:xfrm>
          <a:prstGeom prst="rect">
            <a:avLst/>
          </a:prstGeom>
          <a:noFill/>
        </p:spPr>
        <p:txBody>
          <a:bodyPr wrap="square" rtlCol="0">
            <a:spAutoFit/>
          </a:bodyPr>
          <a:p>
            <a:pPr indent="0" algn="l" fontAlgn="auto">
              <a:lnSpc>
                <a:spcPts val="1740"/>
              </a:lnSpc>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技术成熟，实现无人化，具备规模化量产和运营前提</a:t>
            </a:r>
            <a:endParaRPr lang="zh-CN" altLang="en-US" sz="1200">
              <a:solidFill>
                <a:srgbClr val="383838"/>
              </a:solidFill>
              <a:latin typeface="微软雅黑"/>
              <a:ea typeface="微软雅黑"/>
              <a:cs typeface="微软雅黑"/>
            </a:endParaRPr>
          </a:p>
        </p:txBody>
      </p:sp>
      <p:grpSp>
        <p:nvGrpSpPr>
          <p:cNvPr id="74" name="组合 73"/>
          <p:cNvGrpSpPr/>
          <p:nvPr/>
        </p:nvGrpSpPr>
        <p:grpSpPr>
          <a:xfrm rot="0">
            <a:off x="5481320" y="5746750"/>
            <a:ext cx="276225" cy="180340"/>
            <a:chOff x="1927" y="7664"/>
            <a:chExt cx="597" cy="390"/>
          </a:xfrm>
        </p:grpSpPr>
        <p:sp>
          <p:nvSpPr>
            <p:cNvPr id="75" name="菱形 74"/>
            <p:cNvSpPr/>
            <p:nvPr/>
          </p:nvSpPr>
          <p:spPr>
            <a:xfrm flipH="1" flipV="1">
              <a:off x="1927" y="7664"/>
              <a:ext cx="475" cy="391"/>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76" name="菱形 75"/>
            <p:cNvSpPr/>
            <p:nvPr/>
          </p:nvSpPr>
          <p:spPr>
            <a:xfrm flipH="1" flipV="1">
              <a:off x="2050" y="7664"/>
              <a:ext cx="475" cy="391"/>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nvGrpSpPr>
          <p:cNvPr id="78" name="组合 77"/>
          <p:cNvGrpSpPr/>
          <p:nvPr/>
        </p:nvGrpSpPr>
        <p:grpSpPr>
          <a:xfrm>
            <a:off x="8601710" y="5172075"/>
            <a:ext cx="2689225" cy="1402715"/>
            <a:chOff x="3165" y="8145"/>
            <a:chExt cx="4235" cy="2209"/>
          </a:xfrm>
        </p:grpSpPr>
        <p:sp>
          <p:nvSpPr>
            <p:cNvPr id="79" name="圆角矩形 78"/>
            <p:cNvSpPr/>
            <p:nvPr/>
          </p:nvSpPr>
          <p:spPr>
            <a:xfrm>
              <a:off x="3287" y="8404"/>
              <a:ext cx="4113" cy="1950"/>
            </a:xfrm>
            <a:prstGeom prst="roundRect">
              <a:avLst/>
            </a:prstGeom>
            <a:solidFill>
              <a:srgbClr val="FFFFFF">
                <a:alpha val="10000"/>
              </a:srgbClr>
            </a:solidFill>
            <a:ln>
              <a:solidFill>
                <a:srgbClr val="3368FF">
                  <a:alpha val="50000"/>
                </a:srgbClr>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sp>
          <p:nvSpPr>
            <p:cNvPr id="80" name="直角三角形 79"/>
            <p:cNvSpPr/>
            <p:nvPr/>
          </p:nvSpPr>
          <p:spPr>
            <a:xfrm flipH="1" flipV="1">
              <a:off x="3165" y="8629"/>
              <a:ext cx="121" cy="205"/>
            </a:xfrm>
            <a:prstGeom prst="r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1" name="任意多边形 80"/>
            <p:cNvSpPr/>
            <p:nvPr/>
          </p:nvSpPr>
          <p:spPr>
            <a:xfrm>
              <a:off x="3244" y="8145"/>
              <a:ext cx="1606" cy="489"/>
            </a:xfrm>
            <a:custGeom>
              <a:avLst/>
              <a:gdLst/>
              <a:ahLst/>
              <a:cxnLst>
                <a:cxn ang="3">
                  <a:pos x="hc" y="t"/>
                </a:cxn>
                <a:cxn ang="cd2">
                  <a:pos x="l" y="vc"/>
                </a:cxn>
                <a:cxn ang="cd4">
                  <a:pos x="hc" y="b"/>
                </a:cxn>
                <a:cxn ang="0">
                  <a:pos x="r" y="vc"/>
                </a:cxn>
              </a:cxnLst>
              <a:rect l="l" t="t" r="r" b="b"/>
              <a:pathLst>
                <a:path w="1606" h="489">
                  <a:moveTo>
                    <a:pt x="0" y="0"/>
                  </a:moveTo>
                  <a:lnTo>
                    <a:pt x="1606" y="0"/>
                  </a:lnTo>
                  <a:lnTo>
                    <a:pt x="1606" y="0"/>
                  </a:lnTo>
                  <a:lnTo>
                    <a:pt x="1417" y="244"/>
                  </a:lnTo>
                  <a:lnTo>
                    <a:pt x="1606" y="488"/>
                  </a:lnTo>
                  <a:lnTo>
                    <a:pt x="1605" y="488"/>
                  </a:lnTo>
                  <a:lnTo>
                    <a:pt x="1606" y="489"/>
                  </a:lnTo>
                  <a:lnTo>
                    <a:pt x="716" y="489"/>
                  </a:lnTo>
                  <a:lnTo>
                    <a:pt x="715" y="488"/>
                  </a:lnTo>
                  <a:lnTo>
                    <a:pt x="0" y="488"/>
                  </a:lnTo>
                  <a:lnTo>
                    <a:pt x="0" y="0"/>
                  </a:lnTo>
                  <a:close/>
                </a:path>
              </a:pathLst>
            </a:custGeom>
            <a:solidFill>
              <a:srgbClr val="B3D4FE"/>
            </a:soli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p>
              <a:pPr algn="ctr">
                <a:defRPr>
                  <a:latin typeface="微软雅黑"/>
                  <a:ea typeface="微软雅黑"/>
                  <a:cs typeface="微软雅黑"/>
                </a:defRPr>
              </a:pPr>
              <a:endParaRPr lang="zh-CN" altLang="en-US">
                <a:cs typeface="微软雅黑"/>
                <a:latin typeface="微软雅黑"/>
                <a:ea typeface="微软雅黑"/>
              </a:endParaRPr>
            </a:p>
          </p:txBody>
        </p:sp>
        <p:sp>
          <p:nvSpPr>
            <p:cNvPr id="82" name="任意多边形 81"/>
            <p:cNvSpPr/>
            <p:nvPr/>
          </p:nvSpPr>
          <p:spPr>
            <a:xfrm>
              <a:off x="3165" y="8145"/>
              <a:ext cx="1606" cy="489"/>
            </a:xfrm>
            <a:custGeom>
              <a:avLst/>
              <a:gdLst/>
              <a:ahLst/>
              <a:cxnLst>
                <a:cxn ang="3">
                  <a:pos x="hc" y="t"/>
                </a:cxn>
                <a:cxn ang="cd2">
                  <a:pos x="l" y="vc"/>
                </a:cxn>
                <a:cxn ang="cd4">
                  <a:pos x="hc" y="b"/>
                </a:cxn>
                <a:cxn ang="0">
                  <a:pos x="r" y="vc"/>
                </a:cxn>
              </a:cxnLst>
              <a:rect l="l" t="t" r="r" b="b"/>
              <a:pathLst>
                <a:path w="1606" h="489">
                  <a:moveTo>
                    <a:pt x="0" y="0"/>
                  </a:moveTo>
                  <a:lnTo>
                    <a:pt x="1606" y="0"/>
                  </a:lnTo>
                  <a:lnTo>
                    <a:pt x="1606" y="0"/>
                  </a:lnTo>
                  <a:lnTo>
                    <a:pt x="1417" y="244"/>
                  </a:lnTo>
                  <a:lnTo>
                    <a:pt x="1606" y="488"/>
                  </a:lnTo>
                  <a:lnTo>
                    <a:pt x="1605" y="488"/>
                  </a:lnTo>
                  <a:lnTo>
                    <a:pt x="1606" y="489"/>
                  </a:lnTo>
                  <a:lnTo>
                    <a:pt x="716" y="489"/>
                  </a:lnTo>
                  <a:lnTo>
                    <a:pt x="715" y="488"/>
                  </a:lnTo>
                  <a:lnTo>
                    <a:pt x="0" y="488"/>
                  </a:lnTo>
                  <a:lnTo>
                    <a:pt x="0" y="0"/>
                  </a:lnTo>
                  <a:close/>
                </a:path>
              </a:pathLst>
            </a:custGeom>
            <a:gradFill>
              <a:gsLst>
                <a:gs pos="0">
                  <a:srgbClr val="3368FF"/>
                </a:gs>
                <a:gs pos="10000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cs typeface="微软雅黑"/>
                <a:sym typeface="微软雅黑"/>
                <a:latin typeface="微软雅黑"/>
                <a:ea typeface="微软雅黑"/>
              </a:endParaRPr>
            </a:p>
          </p:txBody>
        </p:sp>
        <p:sp>
          <p:nvSpPr>
            <p:cNvPr id="83" name="文本框 82"/>
            <p:cNvSpPr txBox="1"/>
            <p:nvPr>
              <p:custDataLst>
                <p:tags r:id="rId36"/>
              </p:custDataLst>
            </p:nvPr>
          </p:nvSpPr>
          <p:spPr>
            <a:xfrm>
              <a:off x="3730" y="8782"/>
              <a:ext cx="3581" cy="1549"/>
            </a:xfrm>
            <a:prstGeom prst="rect">
              <a:avLst/>
            </a:prstGeom>
            <a:noFill/>
          </p:spPr>
          <p:txBody>
            <a:bodyPr wrap="square" rtlCol="0">
              <a:spAutoFit/>
            </a:bodyPr>
            <a:p>
              <a:pPr indent="0" algn="l" fontAlgn="auto">
                <a:lnSpc>
                  <a:spcPts val="1740"/>
                </a:lnSpc>
                <a:buFont typeface="微软雅黑"/>
                <a:buNone/>
                <a:defRPr>
                  <a:latin typeface="微软雅黑"/>
                  <a:ea typeface="微软雅黑"/>
                  <a:cs typeface="微软雅黑"/>
                </a:defRPr>
              </a:pPr>
              <a:r>
                <a:rPr lang="zh-CN" altLang="en-US" sz="1200">
                  <a:solidFill>
                    <a:srgbClr val="383838"/>
                  </a:solidFill>
                  <a:latin typeface="微软雅黑"/>
                  <a:ea typeface="微软雅黑"/>
                  <a:cs typeface="微软雅黑"/>
                </a:rPr>
                <a:t>相比于网约车经济效益更优，无人车运力的增加带来单位服务成本的优化，头部企业形成盈利预期。</a:t>
              </a:r>
              <a:endParaRPr lang="zh-CN" altLang="en-US" sz="1200">
                <a:solidFill>
                  <a:srgbClr val="383838"/>
                </a:solidFill>
                <a:latin typeface="微软雅黑"/>
                <a:ea typeface="微软雅黑"/>
                <a:cs typeface="微软雅黑"/>
              </a:endParaRPr>
            </a:p>
          </p:txBody>
        </p:sp>
        <p:grpSp>
          <p:nvGrpSpPr>
            <p:cNvPr id="84" name="组合 83"/>
            <p:cNvGrpSpPr/>
            <p:nvPr/>
          </p:nvGrpSpPr>
          <p:grpSpPr>
            <a:xfrm>
              <a:off x="3331" y="8876"/>
              <a:ext cx="435" cy="284"/>
              <a:chOff x="1927" y="7664"/>
              <a:chExt cx="597" cy="390"/>
            </a:xfrm>
          </p:grpSpPr>
          <p:sp>
            <p:nvSpPr>
              <p:cNvPr id="85" name="菱形 84"/>
              <p:cNvSpPr/>
              <p:nvPr/>
            </p:nvSpPr>
            <p:spPr>
              <a:xfrm flipH="1" flipV="1">
                <a:off x="1927" y="7664"/>
                <a:ext cx="475" cy="391"/>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86" name="菱形 85"/>
              <p:cNvSpPr/>
              <p:nvPr/>
            </p:nvSpPr>
            <p:spPr>
              <a:xfrm flipH="1" flipV="1">
                <a:off x="2050" y="7664"/>
                <a:ext cx="475" cy="391"/>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sp>
        <p:nvSpPr>
          <p:cNvPr id="17" name="文本框 16"/>
          <p:cNvSpPr txBox="1"/>
          <p:nvPr>
            <p:custDataLst>
              <p:tags r:id="rId37"/>
            </p:custDataLst>
          </p:nvPr>
        </p:nvSpPr>
        <p:spPr>
          <a:xfrm>
            <a:off x="1835150" y="5175885"/>
            <a:ext cx="128524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里程碑</a:t>
            </a:r>
            <a:endParaRPr lang="zh-CN" altLang="en-US" sz="1400" b="1">
              <a:solidFill>
                <a:srgbClr val="383838"/>
              </a:solidFill>
              <a:latin typeface="微软雅黑"/>
              <a:ea typeface="微软雅黑"/>
              <a:cs typeface="微软雅黑"/>
            </a:endParaRPr>
          </a:p>
        </p:txBody>
      </p:sp>
      <p:sp>
        <p:nvSpPr>
          <p:cNvPr id="21" name="文本框 20"/>
          <p:cNvSpPr txBox="1"/>
          <p:nvPr>
            <p:custDataLst>
              <p:tags r:id="rId38"/>
            </p:custDataLst>
          </p:nvPr>
        </p:nvSpPr>
        <p:spPr>
          <a:xfrm>
            <a:off x="5201285" y="5175885"/>
            <a:ext cx="128524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里程碑</a:t>
            </a:r>
            <a:endParaRPr lang="zh-CN" altLang="en-US" sz="1400" b="1">
              <a:solidFill>
                <a:srgbClr val="383838"/>
              </a:solidFill>
              <a:latin typeface="微软雅黑"/>
              <a:ea typeface="微软雅黑"/>
              <a:cs typeface="微软雅黑"/>
            </a:endParaRPr>
          </a:p>
        </p:txBody>
      </p:sp>
      <p:sp>
        <p:nvSpPr>
          <p:cNvPr id="22" name="文本框 21"/>
          <p:cNvSpPr txBox="1"/>
          <p:nvPr>
            <p:custDataLst>
              <p:tags r:id="rId39"/>
            </p:custDataLst>
          </p:nvPr>
        </p:nvSpPr>
        <p:spPr>
          <a:xfrm>
            <a:off x="8441055" y="5175885"/>
            <a:ext cx="1285240"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里程碑</a:t>
            </a:r>
            <a:endParaRPr lang="zh-CN" altLang="en-US" sz="1400" b="1">
              <a:solidFill>
                <a:srgbClr val="383838"/>
              </a:solidFill>
              <a:latin typeface="微软雅黑"/>
              <a:ea typeface="微软雅黑"/>
              <a:cs typeface="微软雅黑"/>
            </a:endParaRPr>
          </a:p>
        </p:txBody>
      </p:sp>
      <p:cxnSp>
        <p:nvCxnSpPr>
          <p:cNvPr id="15"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0" name="组合 19"/>
          <p:cNvGrpSpPr/>
          <p:nvPr/>
        </p:nvGrpSpPr>
        <p:grpSpPr>
          <a:xfrm>
            <a:off x="8738235" y="348615"/>
            <a:ext cx="3219450" cy="332740"/>
            <a:chOff x="13761" y="549"/>
            <a:chExt cx="5070" cy="524"/>
          </a:xfrm>
        </p:grpSpPr>
        <p:pic>
          <p:nvPicPr>
            <p:cNvPr id="23" name="图片 22"/>
            <p:cNvPicPr>
              <a:picLocks noChangeAspect="1"/>
            </p:cNvPicPr>
            <p:nvPr userDrawn="1"/>
          </p:nvPicPr>
          <p:blipFill>
            <a:blip r:embed="rId40"/>
            <a:srcRect l="17002" t="-1765" r="56499" b="-1176"/>
            <a:stretch>
              <a:fillRect/>
            </a:stretch>
          </p:blipFill>
          <p:spPr>
            <a:xfrm>
              <a:off x="13761" y="549"/>
              <a:ext cx="1582" cy="525"/>
            </a:xfrm>
            <a:prstGeom prst="rect">
              <a:avLst/>
            </a:prstGeom>
          </p:spPr>
        </p:pic>
        <p:sp>
          <p:nvSpPr>
            <p:cNvPr id="24" name="文本框 2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形状1231"/>
          <p:cNvSpPr/>
          <p:nvPr/>
        </p:nvSpPr>
        <p:spPr bwMode="auto">
          <a:xfrm rot="20054798" flipV="1">
            <a:off x="1264920" y="1658620"/>
            <a:ext cx="9745345" cy="2524760"/>
          </a:xfrm>
          <a:custGeom>
            <a:avLst/>
            <a:gdLst>
              <a:gd name="T0" fmla="*/ 0 w 21336"/>
              <a:gd name="T1" fmla="*/ 13336 h 13336"/>
              <a:gd name="T2" fmla="*/ 18002 w 21336"/>
              <a:gd name="T3" fmla="*/ 1667 h 13336"/>
              <a:gd name="T4" fmla="*/ 17815 w 21336"/>
              <a:gd name="T5" fmla="*/ 0 h 13336"/>
              <a:gd name="T6" fmla="*/ 21336 w 21336"/>
              <a:gd name="T7" fmla="*/ 2668 h 13336"/>
              <a:gd name="T8" fmla="*/ 18566 w 21336"/>
              <a:gd name="T9" fmla="*/ 6668 h 13336"/>
              <a:gd name="T10" fmla="*/ 18378 w 21336"/>
              <a:gd name="T11" fmla="*/ 5001 h 13336"/>
              <a:gd name="T12" fmla="*/ 0 w 21336"/>
              <a:gd name="T13" fmla="*/ 13336 h 13336"/>
            </a:gdLst>
            <a:ahLst/>
            <a:cxnLst>
              <a:cxn ang="0">
                <a:pos x="T0" y="T1"/>
              </a:cxn>
              <a:cxn ang="0">
                <a:pos x="T2" y="T3"/>
              </a:cxn>
              <a:cxn ang="0">
                <a:pos x="T4" y="T5"/>
              </a:cxn>
              <a:cxn ang="0">
                <a:pos x="T6" y="T7"/>
              </a:cxn>
              <a:cxn ang="0">
                <a:pos x="T8" y="T9"/>
              </a:cxn>
              <a:cxn ang="0">
                <a:pos x="T10" y="T11"/>
              </a:cxn>
              <a:cxn ang="0">
                <a:pos x="T12" y="T13"/>
              </a:cxn>
            </a:cxnLst>
            <a:rect l="0" t="0" r="r" b="b"/>
            <a:pathLst>
              <a:path w="21336" h="13336">
                <a:moveTo>
                  <a:pt x="0" y="13336"/>
                </a:moveTo>
                <a:cubicBezTo>
                  <a:pt x="2371" y="7409"/>
                  <a:pt x="8372" y="3520"/>
                  <a:pt x="18002" y="1667"/>
                </a:cubicBezTo>
                <a:lnTo>
                  <a:pt x="17815" y="0"/>
                </a:lnTo>
                <a:lnTo>
                  <a:pt x="21336" y="2668"/>
                </a:lnTo>
                <a:lnTo>
                  <a:pt x="18566" y="6668"/>
                </a:lnTo>
                <a:lnTo>
                  <a:pt x="18378" y="5001"/>
                </a:lnTo>
                <a:cubicBezTo>
                  <a:pt x="9682" y="5742"/>
                  <a:pt x="3556" y="8521"/>
                  <a:pt x="0" y="13336"/>
                </a:cubicBezTo>
                <a:close/>
              </a:path>
            </a:pathLst>
          </a:custGeom>
          <a:solidFill>
            <a:srgbClr val="E6E6E6">
              <a:alpha val="56000"/>
            </a:srgbClr>
          </a:solidFill>
          <a:ln>
            <a:noFill/>
          </a:ln>
          <a:effectLst/>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p>
            <a:pPr marL="0" marR="0" lvl="0" indent="0" algn="ctr" defTabSz="4572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en-US" altLang="zh-CN" sz="2500">
                <a:solidFill>
                  <a:srgbClr val="383838"/>
                </a:solidFill>
                <a:effectLst/>
                <a:latin typeface="微软雅黑"/>
                <a:ea typeface="微软雅黑"/>
                <a:cs typeface="微软雅黑"/>
              </a:rPr>
              <a:t>AI</a:t>
            </a:r>
            <a:r>
              <a:rPr sz="2500">
                <a:solidFill>
                  <a:srgbClr val="383838"/>
                </a:solidFill>
                <a:effectLst/>
                <a:latin typeface="微软雅黑"/>
                <a:ea typeface="微软雅黑"/>
                <a:cs typeface="微软雅黑"/>
              </a:rPr>
              <a:t>糖筛未来的发展趋势</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 name="圆角矩形 3"/>
          <p:cNvSpPr/>
          <p:nvPr/>
        </p:nvSpPr>
        <p:spPr>
          <a:xfrm>
            <a:off x="1051560" y="1644650"/>
            <a:ext cx="5320665" cy="1090930"/>
          </a:xfrm>
          <a:prstGeom prst="roundRect">
            <a:avLst/>
          </a:prstGeom>
          <a:solidFill>
            <a:srgbClr val="FFFFFF">
              <a:alpha val="50000"/>
            </a:srgbClr>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6" name="矩形 5"/>
          <p:cNvSpPr/>
          <p:nvPr/>
        </p:nvSpPr>
        <p:spPr>
          <a:xfrm>
            <a:off x="1330325" y="1729105"/>
            <a:ext cx="1047750" cy="25527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200">
                <a:solidFill>
                  <a:srgbClr val="0042FF"/>
                </a:solidFill>
                <a:latin typeface="微软雅黑"/>
                <a:ea typeface="微软雅黑"/>
                <a:cs typeface="微软雅黑"/>
              </a:rPr>
              <a:t>需求旺盛</a:t>
            </a:r>
            <a:endParaRPr lang="zh-CN" altLang="en-US" sz="1200">
              <a:solidFill>
                <a:srgbClr val="0042FF"/>
              </a:solidFill>
              <a:latin typeface="微软雅黑"/>
              <a:ea typeface="微软雅黑"/>
              <a:cs typeface="微软雅黑"/>
            </a:endParaRPr>
          </a:p>
        </p:txBody>
      </p:sp>
      <p:sp>
        <p:nvSpPr>
          <p:cNvPr id="7" name="矩形 6"/>
          <p:cNvSpPr/>
          <p:nvPr/>
        </p:nvSpPr>
        <p:spPr>
          <a:xfrm>
            <a:off x="1330325" y="2061845"/>
            <a:ext cx="1047750" cy="25527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latin typeface="微软雅黑"/>
                <a:ea typeface="微软雅黑"/>
                <a:cs typeface="微软雅黑"/>
                <a:sym typeface="微软雅黑"/>
              </a:rPr>
              <a:t>政策支持</a:t>
            </a:r>
            <a:endParaRPr lang="zh-CN" altLang="en-US" sz="1200">
              <a:solidFill>
                <a:srgbClr val="0042FF"/>
              </a:solidFill>
              <a:latin typeface="微软雅黑"/>
              <a:ea typeface="微软雅黑"/>
              <a:cs typeface="微软雅黑"/>
              <a:sym typeface="微软雅黑"/>
            </a:endParaRPr>
          </a:p>
        </p:txBody>
      </p:sp>
      <p:sp>
        <p:nvSpPr>
          <p:cNvPr id="8" name="矩形 7"/>
          <p:cNvSpPr/>
          <p:nvPr/>
        </p:nvSpPr>
        <p:spPr>
          <a:xfrm>
            <a:off x="1330325" y="2394585"/>
            <a:ext cx="1047750" cy="25527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latin typeface="微软雅黑"/>
                <a:ea typeface="微软雅黑"/>
                <a:cs typeface="微软雅黑"/>
                <a:sym typeface="微软雅黑"/>
              </a:rPr>
              <a:t>技术进步</a:t>
            </a:r>
            <a:endParaRPr lang="zh-CN" altLang="en-US" sz="1200">
              <a:solidFill>
                <a:srgbClr val="0042FF"/>
              </a:solidFill>
              <a:latin typeface="微软雅黑"/>
              <a:ea typeface="微软雅黑"/>
              <a:cs typeface="微软雅黑"/>
              <a:sym typeface="微软雅黑"/>
            </a:endParaRPr>
          </a:p>
        </p:txBody>
      </p:sp>
      <p:sp>
        <p:nvSpPr>
          <p:cNvPr id="9" name="矩形 8"/>
          <p:cNvSpPr/>
          <p:nvPr/>
        </p:nvSpPr>
        <p:spPr>
          <a:xfrm>
            <a:off x="2463165" y="1866265"/>
            <a:ext cx="1047750" cy="25527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latin typeface="微软雅黑"/>
                <a:ea typeface="微软雅黑"/>
                <a:cs typeface="微软雅黑"/>
                <a:sym typeface="微软雅黑"/>
              </a:rPr>
              <a:t>项目落地</a:t>
            </a:r>
            <a:endParaRPr lang="zh-CN" altLang="en-US" sz="1200">
              <a:solidFill>
                <a:srgbClr val="0042FF"/>
              </a:solidFill>
              <a:latin typeface="微软雅黑"/>
              <a:ea typeface="微软雅黑"/>
              <a:cs typeface="微软雅黑"/>
              <a:sym typeface="微软雅黑"/>
            </a:endParaRPr>
          </a:p>
        </p:txBody>
      </p:sp>
      <p:sp>
        <p:nvSpPr>
          <p:cNvPr id="11" name="矩形 10"/>
          <p:cNvSpPr/>
          <p:nvPr/>
        </p:nvSpPr>
        <p:spPr>
          <a:xfrm>
            <a:off x="2463165" y="2248535"/>
            <a:ext cx="1047750" cy="255270"/>
          </a:xfrm>
          <a:prstGeom prst="rect">
            <a:avLst/>
          </a:prstGeom>
          <a:solidFill>
            <a:srgbClr val="FFFFFF"/>
          </a:solidFill>
          <a:ln>
            <a:solidFill>
              <a:srgbClr val="3368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200">
                <a:solidFill>
                  <a:srgbClr val="0042FF"/>
                </a:solidFill>
                <a:latin typeface="微软雅黑"/>
                <a:ea typeface="微软雅黑"/>
                <a:cs typeface="微软雅黑"/>
                <a:sym typeface="微软雅黑"/>
              </a:rPr>
              <a:t>产品成熟</a:t>
            </a:r>
            <a:endParaRPr lang="zh-CN" altLang="en-US" sz="1200">
              <a:solidFill>
                <a:srgbClr val="0042FF"/>
              </a:solidFill>
              <a:latin typeface="微软雅黑"/>
              <a:ea typeface="微软雅黑"/>
              <a:cs typeface="微软雅黑"/>
              <a:sym typeface="微软雅黑"/>
            </a:endParaRPr>
          </a:p>
        </p:txBody>
      </p:sp>
      <p:sp>
        <p:nvSpPr>
          <p:cNvPr id="13" name="等腰三角形 12"/>
          <p:cNvSpPr/>
          <p:nvPr/>
        </p:nvSpPr>
        <p:spPr>
          <a:xfrm rot="5400000">
            <a:off x="3376930" y="2136140"/>
            <a:ext cx="807720" cy="164465"/>
          </a:xfrm>
          <a:prstGeom prst="triangle">
            <a:avLst>
              <a:gd name="adj" fmla="val 48584"/>
            </a:avLst>
          </a:prstGeom>
          <a:gradFill>
            <a:gsLst>
              <a:gs pos="0">
                <a:srgbClr val="3368FF"/>
              </a:gs>
              <a:gs pos="100000">
                <a:srgbClr val="3368FF">
                  <a:alpha val="0"/>
                </a:srgbClr>
              </a:gs>
            </a:gsLst>
            <a:lin ang="5400000" scaled="0"/>
          </a:gra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15" name="文本框 14"/>
          <p:cNvSpPr txBox="1"/>
          <p:nvPr/>
        </p:nvSpPr>
        <p:spPr>
          <a:xfrm>
            <a:off x="4658360" y="1753235"/>
            <a:ext cx="939800" cy="337185"/>
          </a:xfrm>
          <a:prstGeom prst="rect">
            <a:avLst/>
          </a:prstGeom>
          <a:noFill/>
        </p:spPr>
        <p:txBody>
          <a:bodyPr wrap="square" rtlCol="0">
            <a:spAutoFit/>
          </a:bodyPr>
          <a:p>
            <a:pPr>
              <a:defRPr>
                <a:latin typeface="微软雅黑"/>
                <a:ea typeface="微软雅黑"/>
                <a:cs typeface="微软雅黑"/>
              </a:defRPr>
            </a:pPr>
            <a:r>
              <a:rPr lang="en-US" altLang="zh-CN" sz="1600" b="1">
                <a:solidFill>
                  <a:srgbClr val="0042FF"/>
                </a:solidFill>
                <a:latin typeface="微软雅黑"/>
                <a:ea typeface="微软雅黑"/>
                <a:cs typeface="微软雅黑"/>
              </a:rPr>
              <a:t>2030</a:t>
            </a:r>
            <a:r>
              <a:rPr lang="zh-CN" altLang="en-US" sz="1600" b="1">
                <a:solidFill>
                  <a:srgbClr val="0042FF"/>
                </a:solidFill>
                <a:latin typeface="微软雅黑"/>
                <a:ea typeface="微软雅黑"/>
                <a:cs typeface="微软雅黑"/>
              </a:rPr>
              <a:t>年</a:t>
            </a:r>
            <a:endParaRPr lang="zh-CN" altLang="en-US" sz="1600" b="1">
              <a:solidFill>
                <a:srgbClr val="0042FF"/>
              </a:solidFill>
              <a:latin typeface="微软雅黑"/>
              <a:ea typeface="微软雅黑"/>
              <a:cs typeface="微软雅黑"/>
            </a:endParaRPr>
          </a:p>
        </p:txBody>
      </p:sp>
      <p:sp>
        <p:nvSpPr>
          <p:cNvPr id="16" name="五边形 15"/>
          <p:cNvSpPr/>
          <p:nvPr/>
        </p:nvSpPr>
        <p:spPr>
          <a:xfrm>
            <a:off x="1111250" y="6244590"/>
            <a:ext cx="2145665" cy="292100"/>
          </a:xfrm>
          <a:prstGeom prst="homePlate">
            <a:avLst/>
          </a:prstGeom>
          <a:noFill/>
          <a:ln w="25400">
            <a:gradFill>
              <a:gsLst>
                <a:gs pos="0">
                  <a:srgbClr val="FFFFFF"/>
                </a:gs>
                <a:gs pos="35000">
                  <a:srgbClr val="0042FF"/>
                </a:gs>
              </a:gsLst>
              <a:lin ang="0" scaled="1"/>
            </a:grad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en-US" altLang="zh-CN" sz="1400" b="1">
                <a:solidFill>
                  <a:srgbClr val="0042FF"/>
                </a:solidFill>
                <a:latin typeface="微软雅黑"/>
                <a:ea typeface="微软雅黑"/>
                <a:cs typeface="微软雅黑"/>
              </a:rPr>
              <a:t>2022</a:t>
            </a:r>
            <a:r>
              <a:rPr lang="zh-CN" altLang="en-US" sz="1400" b="1">
                <a:solidFill>
                  <a:srgbClr val="0042FF"/>
                </a:solidFill>
                <a:latin typeface="微软雅黑"/>
                <a:ea typeface="微软雅黑"/>
                <a:cs typeface="微软雅黑"/>
              </a:rPr>
              <a:t>年以前</a:t>
            </a:r>
            <a:endParaRPr lang="zh-CN" altLang="en-US" sz="1400" b="1">
              <a:solidFill>
                <a:srgbClr val="0042FF"/>
              </a:solidFill>
              <a:latin typeface="微软雅黑"/>
              <a:ea typeface="微软雅黑"/>
              <a:cs typeface="微软雅黑"/>
            </a:endParaRPr>
          </a:p>
        </p:txBody>
      </p:sp>
      <p:sp>
        <p:nvSpPr>
          <p:cNvPr id="17" name="五边形 16"/>
          <p:cNvSpPr/>
          <p:nvPr/>
        </p:nvSpPr>
        <p:spPr>
          <a:xfrm>
            <a:off x="3429000" y="6244590"/>
            <a:ext cx="2843530" cy="292100"/>
          </a:xfrm>
          <a:prstGeom prst="homePlate">
            <a:avLst/>
          </a:prstGeom>
          <a:noFill/>
          <a:ln w="25400">
            <a:gradFill>
              <a:gsLst>
                <a:gs pos="0">
                  <a:srgbClr val="FFFFFF"/>
                </a:gs>
                <a:gs pos="35000">
                  <a:srgbClr val="0042FF"/>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en-US" altLang="zh-CN" sz="1400" b="1">
                <a:solidFill>
                  <a:srgbClr val="0042FF"/>
                </a:solidFill>
                <a:latin typeface="微软雅黑"/>
                <a:ea typeface="微软雅黑"/>
                <a:cs typeface="微软雅黑"/>
                <a:sym typeface="微软雅黑"/>
              </a:rPr>
              <a:t>2022-2025</a:t>
            </a:r>
            <a:r>
              <a:rPr lang="en-US" altLang="zh-CN" sz="1400" b="1">
                <a:solidFill>
                  <a:srgbClr val="0042FF"/>
                </a:solidFill>
                <a:latin typeface="微软雅黑"/>
                <a:ea typeface="微软雅黑"/>
                <a:cs typeface="微软雅黑"/>
                <a:sym typeface="微软雅黑"/>
              </a:rPr>
              <a:t>年</a:t>
            </a:r>
            <a:endParaRPr lang="en-US" altLang="zh-CN" sz="1400" b="1">
              <a:solidFill>
                <a:srgbClr val="0042FF"/>
              </a:solidFill>
              <a:latin typeface="微软雅黑"/>
              <a:ea typeface="微软雅黑"/>
              <a:cs typeface="微软雅黑"/>
              <a:sym typeface="微软雅黑"/>
            </a:endParaRPr>
          </a:p>
        </p:txBody>
      </p:sp>
      <p:sp>
        <p:nvSpPr>
          <p:cNvPr id="18" name="五边形 17"/>
          <p:cNvSpPr/>
          <p:nvPr/>
        </p:nvSpPr>
        <p:spPr>
          <a:xfrm>
            <a:off x="6392545" y="6244590"/>
            <a:ext cx="2195830" cy="292100"/>
          </a:xfrm>
          <a:prstGeom prst="homePlate">
            <a:avLst/>
          </a:prstGeom>
          <a:noFill/>
          <a:ln w="25400">
            <a:gradFill>
              <a:gsLst>
                <a:gs pos="0">
                  <a:srgbClr val="FFFFFF"/>
                </a:gs>
                <a:gs pos="35000">
                  <a:srgbClr val="0042FF"/>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en-US" altLang="zh-CN" sz="1400" b="1">
                <a:solidFill>
                  <a:srgbClr val="0042FF"/>
                </a:solidFill>
                <a:latin typeface="微软雅黑"/>
                <a:ea typeface="微软雅黑"/>
                <a:cs typeface="微软雅黑"/>
                <a:sym typeface="微软雅黑"/>
              </a:rPr>
              <a:t>2025-2030</a:t>
            </a:r>
            <a:r>
              <a:rPr lang="en-US" altLang="zh-CN" sz="1400" b="1">
                <a:solidFill>
                  <a:srgbClr val="0042FF"/>
                </a:solidFill>
                <a:latin typeface="微软雅黑"/>
                <a:ea typeface="微软雅黑"/>
                <a:cs typeface="微软雅黑"/>
                <a:sym typeface="微软雅黑"/>
              </a:rPr>
              <a:t>年</a:t>
            </a:r>
            <a:endParaRPr lang="en-US" altLang="zh-CN" sz="1400" b="1">
              <a:solidFill>
                <a:srgbClr val="0042FF"/>
              </a:solidFill>
              <a:latin typeface="微软雅黑"/>
              <a:ea typeface="微软雅黑"/>
              <a:cs typeface="微软雅黑"/>
              <a:sym typeface="微软雅黑"/>
            </a:endParaRPr>
          </a:p>
        </p:txBody>
      </p:sp>
      <p:sp>
        <p:nvSpPr>
          <p:cNvPr id="19" name="五边形 18"/>
          <p:cNvSpPr/>
          <p:nvPr/>
        </p:nvSpPr>
        <p:spPr>
          <a:xfrm>
            <a:off x="8708390" y="6244590"/>
            <a:ext cx="2336165" cy="292100"/>
          </a:xfrm>
          <a:prstGeom prst="homePlate">
            <a:avLst/>
          </a:prstGeom>
          <a:noFill/>
          <a:ln w="25400">
            <a:gradFill>
              <a:gsLst>
                <a:gs pos="0">
                  <a:srgbClr val="FFFFFF"/>
                </a:gs>
                <a:gs pos="35000">
                  <a:srgbClr val="0042FF"/>
                </a:gs>
              </a:gsLst>
              <a:lin ang="0" scaled="1"/>
            </a:gra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en-US" altLang="zh-CN" sz="1400" b="1">
                <a:solidFill>
                  <a:srgbClr val="0042FF"/>
                </a:solidFill>
                <a:latin typeface="微软雅黑"/>
                <a:ea typeface="微软雅黑"/>
                <a:cs typeface="微软雅黑"/>
                <a:sym typeface="微软雅黑"/>
              </a:rPr>
              <a:t>2030</a:t>
            </a:r>
            <a:r>
              <a:rPr lang="en-US" altLang="zh-CN" sz="1400" b="1">
                <a:solidFill>
                  <a:srgbClr val="0042FF"/>
                </a:solidFill>
                <a:latin typeface="微软雅黑"/>
                <a:ea typeface="微软雅黑"/>
                <a:cs typeface="微软雅黑"/>
                <a:sym typeface="微软雅黑"/>
              </a:rPr>
              <a:t>年以后</a:t>
            </a:r>
            <a:endParaRPr lang="en-US" altLang="zh-CN" sz="1400" b="1">
              <a:solidFill>
                <a:srgbClr val="0042FF"/>
              </a:solidFill>
              <a:latin typeface="微软雅黑"/>
              <a:ea typeface="微软雅黑"/>
              <a:cs typeface="微软雅黑"/>
              <a:sym typeface="微软雅黑"/>
            </a:endParaRPr>
          </a:p>
        </p:txBody>
      </p:sp>
      <p:sp>
        <p:nvSpPr>
          <p:cNvPr id="20" name="矩形 19"/>
          <p:cNvSpPr/>
          <p:nvPr/>
        </p:nvSpPr>
        <p:spPr>
          <a:xfrm>
            <a:off x="1035050" y="4447540"/>
            <a:ext cx="2114550" cy="533400"/>
          </a:xfrm>
          <a:prstGeom prst="rect">
            <a:avLst/>
          </a:prstGeom>
          <a:gradFill>
            <a:gsLst>
              <a:gs pos="0">
                <a:srgbClr val="3368FF"/>
              </a:gs>
              <a:gs pos="88000">
                <a:srgbClr val="0042FF"/>
              </a:gs>
            </a:gsLst>
            <a:lin ang="0" scaled="0"/>
          </a:gra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1" name="矩形 20"/>
          <p:cNvSpPr/>
          <p:nvPr/>
        </p:nvSpPr>
        <p:spPr>
          <a:xfrm>
            <a:off x="3429000" y="3803015"/>
            <a:ext cx="2761615" cy="342900"/>
          </a:xfrm>
          <a:prstGeom prst="rect">
            <a:avLst/>
          </a:prstGeom>
          <a:gradFill>
            <a:gsLst>
              <a:gs pos="0">
                <a:srgbClr val="3368FF"/>
              </a:gs>
              <a:gs pos="88000">
                <a:srgbClr val="0042FF"/>
              </a:gs>
            </a:gsLst>
            <a:lin ang="0" scaled="0"/>
          </a:gra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2" name="矩形 21"/>
          <p:cNvSpPr/>
          <p:nvPr/>
        </p:nvSpPr>
        <p:spPr>
          <a:xfrm>
            <a:off x="6457950" y="3460115"/>
            <a:ext cx="2196465" cy="342900"/>
          </a:xfrm>
          <a:prstGeom prst="rect">
            <a:avLst/>
          </a:prstGeom>
          <a:gradFill>
            <a:gsLst>
              <a:gs pos="0">
                <a:srgbClr val="3368FF"/>
              </a:gs>
              <a:gs pos="88000">
                <a:srgbClr val="0042FF"/>
              </a:gs>
            </a:gsLst>
            <a:lin ang="0" scaled="0"/>
          </a:gradFill>
          <a:ln>
            <a:noFill/>
          </a:ln>
          <a:effectLst>
            <a:outerShdw blurRad="50800" dist="38100" dir="2700000" algn="tl" rotWithShape="0">
              <a:srgbClr val="3368FF">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23" name="矩形 22"/>
          <p:cNvSpPr/>
          <p:nvPr/>
        </p:nvSpPr>
        <p:spPr>
          <a:xfrm>
            <a:off x="8708390" y="2827020"/>
            <a:ext cx="2336800" cy="533400"/>
          </a:xfrm>
          <a:prstGeom prst="rect">
            <a:avLst/>
          </a:prstGeom>
          <a:gradFill>
            <a:gsLst>
              <a:gs pos="0">
                <a:srgbClr val="B3D4FE"/>
              </a:gs>
              <a:gs pos="88000">
                <a:srgbClr val="3368FF"/>
              </a:gs>
            </a:gsLst>
            <a:lin ang="0" scaled="0"/>
          </a:gradFill>
          <a:ln>
            <a:noFill/>
          </a:ln>
          <a:effectLst>
            <a:outerShdw blurRad="50800" dist="38100" dir="2700000" algn="tl" rotWithShape="0">
              <a:srgbClr val="B3D4FE">
                <a:alpha val="40000"/>
              </a:srgbClr>
            </a:outerShdw>
          </a:effec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cxnSp>
        <p:nvCxnSpPr>
          <p:cNvPr id="32" name="曲线连接符 31"/>
          <p:cNvCxnSpPr/>
          <p:nvPr/>
        </p:nvCxnSpPr>
        <p:spPr>
          <a:xfrm rot="16200000">
            <a:off x="2898140" y="2849880"/>
            <a:ext cx="675005" cy="2341880"/>
          </a:xfrm>
          <a:prstGeom prst="curvedConnector3">
            <a:avLst>
              <a:gd name="adj1" fmla="val 115192"/>
            </a:avLst>
          </a:prstGeom>
          <a:ln>
            <a:solidFill>
              <a:srgbClr val="DCDCDC"/>
            </a:solidFill>
            <a:headEnd type="oval"/>
            <a:tailEnd type="triangle" w="med" len="med"/>
          </a:ln>
        </p:spPr>
        <p:style>
          <a:lnRef idx="2">
            <a:srgbClr val="0042FF"/>
          </a:lnRef>
          <a:fillRef idx="0">
            <a:srgbClr val="FFFFFF"/>
          </a:fillRef>
          <a:effectRef idx="0">
            <a:srgbClr val="FFFFFF"/>
          </a:effectRef>
          <a:fontRef idx="minor">
            <a:srgbClr val="383838"/>
          </a:fontRef>
        </p:style>
      </p:cxnSp>
      <p:cxnSp>
        <p:nvCxnSpPr>
          <p:cNvPr id="33" name="曲线连接符 32"/>
          <p:cNvCxnSpPr/>
          <p:nvPr/>
        </p:nvCxnSpPr>
        <p:spPr>
          <a:xfrm rot="16200000">
            <a:off x="5920740" y="2585085"/>
            <a:ext cx="344170" cy="2015490"/>
          </a:xfrm>
          <a:prstGeom prst="curvedConnector3">
            <a:avLst>
              <a:gd name="adj1" fmla="val 150184"/>
            </a:avLst>
          </a:prstGeom>
          <a:ln>
            <a:solidFill>
              <a:srgbClr val="DCDCDC"/>
            </a:solidFill>
            <a:headEnd type="oval"/>
            <a:tailEnd type="triangle" w="med" len="med"/>
          </a:ln>
        </p:spPr>
        <p:style>
          <a:lnRef idx="2">
            <a:srgbClr val="0042FF"/>
          </a:lnRef>
          <a:fillRef idx="0">
            <a:srgbClr val="FFFFFF"/>
          </a:fillRef>
          <a:effectRef idx="0">
            <a:srgbClr val="FFFFFF"/>
          </a:effectRef>
          <a:fontRef idx="minor">
            <a:srgbClr val="383838"/>
          </a:fontRef>
        </p:style>
      </p:cxnSp>
      <p:cxnSp>
        <p:nvCxnSpPr>
          <p:cNvPr id="34" name="曲线连接符 33"/>
          <p:cNvCxnSpPr/>
          <p:nvPr/>
        </p:nvCxnSpPr>
        <p:spPr>
          <a:xfrm rot="16200000">
            <a:off x="8529320" y="1985010"/>
            <a:ext cx="673100" cy="2174240"/>
          </a:xfrm>
          <a:prstGeom prst="curvedConnector3">
            <a:avLst>
              <a:gd name="adj1" fmla="val 115754"/>
            </a:avLst>
          </a:prstGeom>
          <a:ln>
            <a:solidFill>
              <a:srgbClr val="DCDCDC"/>
            </a:solidFill>
            <a:headEnd type="oval"/>
            <a:tailEnd type="triangle" w="med" len="med"/>
          </a:ln>
        </p:spPr>
        <p:style>
          <a:lnRef idx="2">
            <a:srgbClr val="0042FF"/>
          </a:lnRef>
          <a:fillRef idx="0">
            <a:srgbClr val="FFFFFF"/>
          </a:fillRef>
          <a:effectRef idx="0">
            <a:srgbClr val="FFFFFF"/>
          </a:effectRef>
          <a:fontRef idx="minor">
            <a:srgbClr val="383838"/>
          </a:fontRef>
        </p:style>
      </p:cxnSp>
      <p:cxnSp>
        <p:nvCxnSpPr>
          <p:cNvPr id="35" name="直接连接符 34"/>
          <p:cNvCxnSpPr/>
          <p:nvPr/>
        </p:nvCxnSpPr>
        <p:spPr>
          <a:xfrm>
            <a:off x="6392545" y="2218690"/>
            <a:ext cx="1991995" cy="0"/>
          </a:xfrm>
          <a:prstGeom prst="line">
            <a:avLst/>
          </a:prstGeom>
          <a:ln>
            <a:solidFill>
              <a:srgbClr val="3368FF"/>
            </a:solidFill>
            <a:tailEnd type="oval"/>
          </a:ln>
        </p:spPr>
        <p:style>
          <a:lnRef idx="2">
            <a:srgbClr val="0042FF"/>
          </a:lnRef>
          <a:fillRef idx="0">
            <a:srgbClr val="FFFFFF"/>
          </a:fillRef>
          <a:effectRef idx="0">
            <a:srgbClr val="FFFFFF"/>
          </a:effectRef>
          <a:fontRef idx="minor">
            <a:srgbClr val="383838"/>
          </a:fontRef>
        </p:style>
      </p:cxnSp>
      <p:pic>
        <p:nvPicPr>
          <p:cNvPr id="37" name="图片 36" descr="跑步"/>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04415" y="3098165"/>
            <a:ext cx="1124585" cy="1124585"/>
          </a:xfrm>
          <a:prstGeom prst="rect">
            <a:avLst/>
          </a:prstGeom>
        </p:spPr>
      </p:pic>
      <p:sp>
        <p:nvSpPr>
          <p:cNvPr id="38" name="文本框 37"/>
          <p:cNvSpPr txBox="1"/>
          <p:nvPr/>
        </p:nvSpPr>
        <p:spPr>
          <a:xfrm>
            <a:off x="3937000" y="2072005"/>
            <a:ext cx="2400935" cy="460375"/>
          </a:xfrm>
          <a:prstGeom prst="rect">
            <a:avLst/>
          </a:prstGeom>
          <a:noFill/>
        </p:spPr>
        <p:txBody>
          <a:bodyPr wrap="square" rtlCol="0">
            <a:spAutoFit/>
          </a:bodyPr>
          <a:p>
            <a:pPr marL="179705" indent="-179705" fontAlgn="auto">
              <a:buFont typeface="微软雅黑"/>
              <a:buChar char="●"/>
              <a:defRPr>
                <a:latin typeface="微软雅黑"/>
                <a:ea typeface="微软雅黑"/>
                <a:cs typeface="微软雅黑"/>
              </a:defRPr>
            </a:pPr>
            <a:r>
              <a:rPr lang="en-US" altLang="zh-CN" sz="1200">
                <a:solidFill>
                  <a:srgbClr val="383838"/>
                </a:solidFill>
                <a:latin typeface="微软雅黑"/>
                <a:ea typeface="微软雅黑"/>
                <a:cs typeface="微软雅黑"/>
              </a:rPr>
              <a:t>AI</a:t>
            </a:r>
            <a:r>
              <a:rPr lang="zh-CN" altLang="en-US" sz="1200">
                <a:solidFill>
                  <a:srgbClr val="383838"/>
                </a:solidFill>
                <a:latin typeface="微软雅黑"/>
                <a:ea typeface="微软雅黑"/>
                <a:cs typeface="微软雅黑"/>
              </a:rPr>
              <a:t>眼底筛查率提升至</a:t>
            </a:r>
            <a:r>
              <a:rPr lang="en-US" altLang="zh-CN" sz="1200" b="1">
                <a:solidFill>
                  <a:srgbClr val="0042FF"/>
                </a:solidFill>
                <a:latin typeface="微软雅黑"/>
                <a:ea typeface="微软雅黑"/>
                <a:cs typeface="微软雅黑"/>
              </a:rPr>
              <a:t>80%</a:t>
            </a:r>
            <a:endParaRPr lang="en-US" altLang="zh-CN" sz="1200" b="1">
              <a:solidFill>
                <a:srgbClr val="0042FF"/>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en-US" altLang="zh-CN" sz="1200">
                <a:solidFill>
                  <a:srgbClr val="383838"/>
                </a:solidFill>
                <a:latin typeface="微软雅黑"/>
                <a:ea typeface="微软雅黑"/>
                <a:cs typeface="微软雅黑"/>
              </a:rPr>
              <a:t>AI</a:t>
            </a:r>
            <a:r>
              <a:rPr lang="zh-CN" altLang="en-US" sz="1200">
                <a:solidFill>
                  <a:srgbClr val="383838"/>
                </a:solidFill>
                <a:latin typeface="微软雅黑"/>
                <a:ea typeface="微软雅黑"/>
                <a:cs typeface="微软雅黑"/>
              </a:rPr>
              <a:t>眼底筛查频次达</a:t>
            </a:r>
            <a:r>
              <a:rPr lang="en-US" altLang="zh-CN" sz="1200" b="1">
                <a:solidFill>
                  <a:srgbClr val="0042FF"/>
                </a:solidFill>
                <a:latin typeface="微软雅黑"/>
                <a:ea typeface="微软雅黑"/>
                <a:cs typeface="微软雅黑"/>
              </a:rPr>
              <a:t>1.6</a:t>
            </a:r>
            <a:r>
              <a:rPr lang="zh-CN" altLang="en-US" sz="1200" b="1">
                <a:solidFill>
                  <a:srgbClr val="0042FF"/>
                </a:solidFill>
                <a:latin typeface="微软雅黑"/>
                <a:ea typeface="微软雅黑"/>
                <a:cs typeface="微软雅黑"/>
              </a:rPr>
              <a:t>亿次</a:t>
            </a:r>
            <a:r>
              <a:rPr lang="en-US" altLang="zh-CN" sz="1200" b="1">
                <a:solidFill>
                  <a:srgbClr val="0042FF"/>
                </a:solidFill>
                <a:latin typeface="微软雅黑"/>
                <a:ea typeface="微软雅黑"/>
                <a:cs typeface="微软雅黑"/>
              </a:rPr>
              <a:t>/</a:t>
            </a:r>
            <a:r>
              <a:rPr lang="zh-CN" altLang="en-US" sz="1200" b="1">
                <a:solidFill>
                  <a:srgbClr val="0042FF"/>
                </a:solidFill>
                <a:latin typeface="微软雅黑"/>
                <a:ea typeface="微软雅黑"/>
                <a:cs typeface="微软雅黑"/>
              </a:rPr>
              <a:t>年</a:t>
            </a:r>
            <a:endParaRPr lang="zh-CN" altLang="en-US" sz="1200" b="1">
              <a:solidFill>
                <a:srgbClr val="0042FF"/>
              </a:solidFill>
              <a:latin typeface="微软雅黑"/>
              <a:ea typeface="微软雅黑"/>
              <a:cs typeface="微软雅黑"/>
            </a:endParaRPr>
          </a:p>
        </p:txBody>
      </p:sp>
      <p:sp>
        <p:nvSpPr>
          <p:cNvPr id="40" name="文本框 39"/>
          <p:cNvSpPr txBox="1"/>
          <p:nvPr/>
        </p:nvSpPr>
        <p:spPr>
          <a:xfrm>
            <a:off x="1051560" y="5102860"/>
            <a:ext cx="2313940" cy="1014730"/>
          </a:xfrm>
          <a:prstGeom prst="rect">
            <a:avLst/>
          </a:prstGeom>
          <a:noFill/>
        </p:spPr>
        <p:txBody>
          <a:bodyPr wrap="square" rtlCol="0">
            <a:spAutoFit/>
          </a:bodyPr>
          <a:p>
            <a:pPr marL="179705" indent="-179705" fontAlgn="auto">
              <a:buFont typeface="微软雅黑"/>
              <a:buChar char="●"/>
              <a:defRPr>
                <a:latin typeface="微软雅黑"/>
                <a:ea typeface="微软雅黑"/>
                <a:cs typeface="微软雅黑"/>
              </a:defRPr>
            </a:pPr>
            <a:r>
              <a:rPr lang="en-US" altLang="zh-CN" sz="1200">
                <a:solidFill>
                  <a:srgbClr val="383838"/>
                </a:solidFill>
                <a:latin typeface="微软雅黑"/>
                <a:ea typeface="微软雅黑"/>
                <a:cs typeface="微软雅黑"/>
              </a:rPr>
              <a:t>AI</a:t>
            </a:r>
            <a:r>
              <a:rPr lang="zh-CN" altLang="en-US" sz="1200">
                <a:solidFill>
                  <a:srgbClr val="383838"/>
                </a:solidFill>
                <a:latin typeface="微软雅黑"/>
                <a:ea typeface="微软雅黑"/>
                <a:cs typeface="微软雅黑"/>
              </a:rPr>
              <a:t>糖网筛查解决方案覆盖范围：</a:t>
            </a:r>
            <a:r>
              <a:rPr lang="zh-CN" altLang="en-US" sz="1200" b="1">
                <a:solidFill>
                  <a:srgbClr val="0042FF"/>
                </a:solidFill>
                <a:latin typeface="微软雅黑"/>
                <a:ea typeface="微软雅黑"/>
                <a:cs typeface="微软雅黑"/>
              </a:rPr>
              <a:t>近千家</a:t>
            </a:r>
            <a:r>
              <a:rPr lang="zh-CN" altLang="en-US" sz="1200">
                <a:solidFill>
                  <a:srgbClr val="383838"/>
                </a:solidFill>
                <a:latin typeface="微软雅黑"/>
                <a:ea typeface="微软雅黑"/>
                <a:cs typeface="微软雅黑"/>
              </a:rPr>
              <a:t>医院、</a:t>
            </a:r>
            <a:r>
              <a:rPr lang="zh-CN" altLang="en-US" sz="1200" b="1">
                <a:solidFill>
                  <a:srgbClr val="0042FF"/>
                </a:solidFill>
                <a:latin typeface="微软雅黑"/>
                <a:ea typeface="微软雅黑"/>
                <a:cs typeface="微软雅黑"/>
              </a:rPr>
              <a:t>近千家</a:t>
            </a:r>
            <a:r>
              <a:rPr lang="zh-CN" altLang="en-US" sz="1200">
                <a:solidFill>
                  <a:srgbClr val="383838"/>
                </a:solidFill>
                <a:latin typeface="微软雅黑"/>
                <a:ea typeface="微软雅黑"/>
                <a:cs typeface="微软雅黑"/>
              </a:rPr>
              <a:t>社区卫生服务中心</a:t>
            </a:r>
            <a:endParaRPr lang="zh-CN" altLang="en-US" sz="1200">
              <a:solidFill>
                <a:srgbClr val="383838"/>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全年龄阶段的眼底数据已至</a:t>
            </a:r>
            <a:r>
              <a:rPr lang="zh-CN" altLang="en-US" sz="1200" b="1">
                <a:solidFill>
                  <a:srgbClr val="0042FF"/>
                </a:solidFill>
                <a:latin typeface="微软雅黑"/>
                <a:ea typeface="微软雅黑"/>
                <a:cs typeface="微软雅黑"/>
              </a:rPr>
              <a:t>【千万级】</a:t>
            </a:r>
            <a:endParaRPr lang="zh-CN" altLang="en-US" sz="1200" b="1">
              <a:solidFill>
                <a:srgbClr val="0042FF"/>
              </a:solidFill>
              <a:latin typeface="微软雅黑"/>
              <a:ea typeface="微软雅黑"/>
              <a:cs typeface="微软雅黑"/>
            </a:endParaRPr>
          </a:p>
        </p:txBody>
      </p:sp>
      <p:sp>
        <p:nvSpPr>
          <p:cNvPr id="41" name="文本框 40"/>
          <p:cNvSpPr txBox="1"/>
          <p:nvPr/>
        </p:nvSpPr>
        <p:spPr>
          <a:xfrm>
            <a:off x="3365500" y="4215130"/>
            <a:ext cx="2825750" cy="1853565"/>
          </a:xfrm>
          <a:prstGeom prst="rect">
            <a:avLst/>
          </a:prstGeom>
          <a:noFill/>
        </p:spPr>
        <p:txBody>
          <a:bodyPr wrap="square" rtlCol="0">
            <a:noAutofit/>
          </a:bodyPr>
          <a:p>
            <a:pPr marL="179705" indent="-179705" fontAlgn="auto">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医院：</a:t>
            </a:r>
            <a:r>
              <a:rPr lang="zh-CN" altLang="en-US" sz="1200">
                <a:solidFill>
                  <a:srgbClr val="383838"/>
                </a:solidFill>
                <a:latin typeface="微软雅黑"/>
                <a:ea typeface="微软雅黑"/>
                <a:cs typeface="微软雅黑"/>
              </a:rPr>
              <a:t>提高内分泌和体格科医生筛查效率</a:t>
            </a:r>
            <a:endParaRPr lang="en-US" altLang="zh-CN" sz="1200" b="1">
              <a:solidFill>
                <a:srgbClr val="0042FF"/>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基层医疗机构：</a:t>
            </a:r>
            <a:r>
              <a:rPr lang="zh-CN" altLang="en-US" sz="1200">
                <a:solidFill>
                  <a:srgbClr val="383838"/>
                </a:solidFill>
                <a:latin typeface="微软雅黑"/>
                <a:ea typeface="微软雅黑"/>
                <a:cs typeface="微软雅黑"/>
              </a:rPr>
              <a:t>辅助筛查，缓解基层眼科医生短缺问题，提升健康管理质量</a:t>
            </a:r>
            <a:endParaRPr lang="zh-CN" altLang="en-US" sz="1200">
              <a:solidFill>
                <a:srgbClr val="383838"/>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药企：</a:t>
            </a:r>
            <a:r>
              <a:rPr lang="zh-CN" altLang="en-US" sz="1200">
                <a:solidFill>
                  <a:srgbClr val="383838"/>
                </a:solidFill>
                <a:latin typeface="微软雅黑"/>
                <a:ea typeface="微软雅黑"/>
                <a:cs typeface="微软雅黑"/>
              </a:rPr>
              <a:t>帮助药企监测患者用药效果，为药企提供真实世界数据</a:t>
            </a:r>
            <a:endParaRPr lang="en-US" altLang="zh-CN" sz="1200" b="1">
              <a:solidFill>
                <a:srgbClr val="0042FF"/>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药店：</a:t>
            </a:r>
            <a:r>
              <a:rPr lang="zh-CN" altLang="en-US" sz="1200">
                <a:solidFill>
                  <a:srgbClr val="383838"/>
                </a:solidFill>
                <a:latin typeface="微软雅黑"/>
                <a:ea typeface="微软雅黑"/>
                <a:cs typeface="微软雅黑"/>
              </a:rPr>
              <a:t>助力用药监测和健康管理</a:t>
            </a:r>
            <a:endParaRPr lang="en-US" altLang="zh-CN" sz="1200" b="1">
              <a:solidFill>
                <a:srgbClr val="0042FF"/>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en-US" altLang="zh-CN" sz="1200" b="1">
                <a:solidFill>
                  <a:srgbClr val="0042FF"/>
                </a:solidFill>
                <a:latin typeface="微软雅黑"/>
                <a:ea typeface="微软雅黑"/>
                <a:cs typeface="微软雅黑"/>
              </a:rPr>
              <a:t>ESG</a:t>
            </a:r>
            <a:r>
              <a:rPr lang="zh-CN" altLang="en-US" sz="1200" b="1">
                <a:solidFill>
                  <a:srgbClr val="0042FF"/>
                </a:solidFill>
                <a:latin typeface="微软雅黑"/>
                <a:ea typeface="微软雅黑"/>
                <a:cs typeface="微软雅黑"/>
              </a:rPr>
              <a:t>公益项目：</a:t>
            </a:r>
            <a:r>
              <a:rPr lang="zh-CN" altLang="en-US" sz="1200">
                <a:solidFill>
                  <a:srgbClr val="383838"/>
                </a:solidFill>
                <a:latin typeface="微软雅黑"/>
                <a:ea typeface="微软雅黑"/>
                <a:cs typeface="微软雅黑"/>
              </a:rPr>
              <a:t>联合举办社区糖网筛查等活动，增强社会责任感</a:t>
            </a:r>
            <a:endParaRPr lang="zh-CN" altLang="en-US" sz="1200">
              <a:solidFill>
                <a:srgbClr val="383838"/>
              </a:solidFill>
              <a:latin typeface="微软雅黑"/>
              <a:ea typeface="微软雅黑"/>
              <a:cs typeface="微软雅黑"/>
            </a:endParaRPr>
          </a:p>
        </p:txBody>
      </p:sp>
      <p:sp>
        <p:nvSpPr>
          <p:cNvPr id="44" name="文本框 43"/>
          <p:cNvSpPr txBox="1"/>
          <p:nvPr/>
        </p:nvSpPr>
        <p:spPr>
          <a:xfrm>
            <a:off x="6407150" y="3954145"/>
            <a:ext cx="2273300" cy="1853565"/>
          </a:xfrm>
          <a:prstGeom prst="rect">
            <a:avLst/>
          </a:prstGeom>
          <a:noFill/>
        </p:spPr>
        <p:txBody>
          <a:bodyPr wrap="square" rtlCol="0">
            <a:noAutofit/>
          </a:bodyPr>
          <a:p>
            <a:pPr marL="179705" indent="-179705" fontAlgn="auto">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战略重点场景：</a:t>
            </a:r>
            <a:r>
              <a:rPr lang="zh-CN" altLang="en-US" sz="1200">
                <a:solidFill>
                  <a:srgbClr val="383838"/>
                </a:solidFill>
                <a:latin typeface="微软雅黑"/>
                <a:ea typeface="微软雅黑"/>
                <a:cs typeface="微软雅黑"/>
              </a:rPr>
              <a:t>医院、基层医疗机构、药企、药店覆盖目标达成</a:t>
            </a:r>
            <a:endParaRPr lang="zh-CN" altLang="en-US" sz="1200">
              <a:solidFill>
                <a:srgbClr val="383838"/>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endParaRPr lang="en-US" altLang="zh-CN" sz="1200">
              <a:solidFill>
                <a:srgbClr val="383838"/>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zh-CN" altLang="en-US" sz="1200" b="1">
                <a:solidFill>
                  <a:srgbClr val="0042FF"/>
                </a:solidFill>
                <a:latin typeface="微软雅黑"/>
                <a:ea typeface="微软雅黑"/>
                <a:cs typeface="微软雅黑"/>
              </a:rPr>
              <a:t>其他覆盖场景应用不断延伸：</a:t>
            </a:r>
            <a:endParaRPr lang="en-US" altLang="zh-CN" sz="1200" b="1">
              <a:solidFill>
                <a:srgbClr val="0042FF"/>
              </a:solidFill>
              <a:latin typeface="微软雅黑"/>
              <a:ea typeface="微软雅黑"/>
              <a:cs typeface="微软雅黑"/>
            </a:endParaRPr>
          </a:p>
          <a:p>
            <a:pPr marL="431800" lvl="1" indent="-179705" fontAlgn="auto">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保险机构</a:t>
            </a:r>
            <a:endParaRPr lang="en-US" altLang="zh-CN" sz="1200">
              <a:solidFill>
                <a:srgbClr val="383838"/>
              </a:solidFill>
              <a:latin typeface="微软雅黑"/>
              <a:ea typeface="微软雅黑"/>
              <a:cs typeface="微软雅黑"/>
            </a:endParaRPr>
          </a:p>
          <a:p>
            <a:pPr marL="431800" lvl="1" indent="-179705" fontAlgn="auto">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养老机构</a:t>
            </a:r>
            <a:endParaRPr lang="en-US" altLang="zh-CN" sz="1200">
              <a:solidFill>
                <a:srgbClr val="383838"/>
              </a:solidFill>
              <a:latin typeface="微软雅黑"/>
              <a:ea typeface="微软雅黑"/>
              <a:cs typeface="微软雅黑"/>
            </a:endParaRPr>
          </a:p>
          <a:p>
            <a:pPr marL="431800" lvl="1" indent="-179705" fontAlgn="auto">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视光中心</a:t>
            </a:r>
            <a:endParaRPr lang="en-US" altLang="zh-CN" sz="1200">
              <a:solidFill>
                <a:srgbClr val="383838"/>
              </a:solidFill>
              <a:latin typeface="微软雅黑"/>
              <a:ea typeface="微软雅黑"/>
              <a:cs typeface="微软雅黑"/>
            </a:endParaRPr>
          </a:p>
          <a:p>
            <a:pPr marL="431800" lvl="1" indent="-179705" fontAlgn="auto">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中医院</a:t>
            </a:r>
            <a:endParaRPr lang="en-US" altLang="zh-CN" sz="1200">
              <a:solidFill>
                <a:srgbClr val="383838"/>
              </a:solidFill>
              <a:latin typeface="微软雅黑"/>
              <a:ea typeface="微软雅黑"/>
              <a:cs typeface="微软雅黑"/>
            </a:endParaRPr>
          </a:p>
          <a:p>
            <a:pPr marL="431800" lvl="1" indent="-179705" fontAlgn="auto">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养老机构</a:t>
            </a:r>
            <a:endParaRPr lang="zh-CN" altLang="en-US" sz="1200">
              <a:solidFill>
                <a:srgbClr val="383838"/>
              </a:solidFill>
              <a:latin typeface="微软雅黑"/>
              <a:ea typeface="微软雅黑"/>
              <a:cs typeface="微软雅黑"/>
            </a:endParaRPr>
          </a:p>
        </p:txBody>
      </p:sp>
      <p:sp>
        <p:nvSpPr>
          <p:cNvPr id="46" name="文本框 45"/>
          <p:cNvSpPr txBox="1"/>
          <p:nvPr/>
        </p:nvSpPr>
        <p:spPr>
          <a:xfrm>
            <a:off x="8771890" y="3517900"/>
            <a:ext cx="2273300" cy="1853565"/>
          </a:xfrm>
          <a:prstGeom prst="rect">
            <a:avLst/>
          </a:prstGeom>
          <a:noFill/>
        </p:spPr>
        <p:txBody>
          <a:bodyPr wrap="square" rtlCol="0" lIns="0" rIns="0" tIns="0" bIns="0">
            <a:noAutofit/>
          </a:bodyPr>
          <a:p>
            <a:pPr marL="179705" indent="-179705" fontAlgn="auto">
              <a:buFont typeface="微软雅黑"/>
              <a:buChar char="●"/>
              <a:defRPr>
                <a:latin typeface="微软雅黑"/>
                <a:ea typeface="微软雅黑"/>
                <a:cs typeface="微软雅黑"/>
              </a:defRPr>
            </a:pPr>
            <a:r>
              <a:rPr lang="en-US" altLang="zh-CN" sz="1200">
                <a:solidFill>
                  <a:srgbClr val="383838"/>
                </a:solidFill>
                <a:latin typeface="微软雅黑"/>
                <a:ea typeface="微软雅黑"/>
                <a:cs typeface="微软雅黑"/>
              </a:rPr>
              <a:t>AI</a:t>
            </a:r>
            <a:r>
              <a:rPr lang="zh-CN" altLang="en-US" sz="1200">
                <a:solidFill>
                  <a:srgbClr val="383838"/>
                </a:solidFill>
                <a:latin typeface="微软雅黑"/>
                <a:ea typeface="微软雅黑"/>
                <a:cs typeface="微软雅黑"/>
              </a:rPr>
              <a:t>糖网筛查解决方案应用场景多元，</a:t>
            </a:r>
            <a:r>
              <a:rPr lang="zh-CN" altLang="en-US" sz="1200" b="1">
                <a:solidFill>
                  <a:srgbClr val="0042FF"/>
                </a:solidFill>
                <a:latin typeface="微软雅黑"/>
                <a:ea typeface="微软雅黑"/>
                <a:cs typeface="微软雅黑"/>
              </a:rPr>
              <a:t>产品遍布全国各地</a:t>
            </a:r>
            <a:endParaRPr lang="zh-CN" altLang="en-US" sz="1200" b="1">
              <a:solidFill>
                <a:srgbClr val="0042FF"/>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endParaRPr lang="en-US" altLang="zh-CN" sz="1000">
              <a:solidFill>
                <a:srgbClr val="383838"/>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zh-CN" altLang="en-US" sz="1200">
                <a:solidFill>
                  <a:srgbClr val="383838"/>
                </a:solidFill>
                <a:latin typeface="微软雅黑"/>
                <a:ea typeface="微软雅黑"/>
                <a:cs typeface="微软雅黑"/>
              </a:rPr>
              <a:t>糖网早筛早治已成为</a:t>
            </a:r>
            <a:r>
              <a:rPr lang="zh-CN" altLang="en-US" sz="1200" b="1">
                <a:solidFill>
                  <a:srgbClr val="0042FF"/>
                </a:solidFill>
                <a:latin typeface="微软雅黑"/>
                <a:ea typeface="微软雅黑"/>
                <a:cs typeface="微软雅黑"/>
              </a:rPr>
              <a:t>糖尿病患者共识</a:t>
            </a:r>
            <a:r>
              <a:rPr lang="zh-CN" altLang="en-US" sz="1200">
                <a:solidFill>
                  <a:srgbClr val="383838"/>
                </a:solidFill>
                <a:latin typeface="微软雅黑"/>
                <a:ea typeface="微软雅黑"/>
                <a:cs typeface="微软雅黑"/>
              </a:rPr>
              <a:t>，</a:t>
            </a:r>
            <a:r>
              <a:rPr lang="en-US" altLang="zh-CN" sz="1200">
                <a:solidFill>
                  <a:srgbClr val="383838"/>
                </a:solidFill>
                <a:latin typeface="微软雅黑"/>
                <a:ea typeface="微软雅黑"/>
                <a:cs typeface="微软雅黑"/>
              </a:rPr>
              <a:t>AI</a:t>
            </a:r>
            <a:r>
              <a:rPr lang="zh-CN" altLang="en-US" sz="1200">
                <a:solidFill>
                  <a:srgbClr val="383838"/>
                </a:solidFill>
                <a:latin typeface="微软雅黑"/>
                <a:ea typeface="微软雅黑"/>
                <a:cs typeface="微软雅黑"/>
              </a:rPr>
              <a:t>糖网筛查解决方案渗透到每位患者之中</a:t>
            </a:r>
            <a:endParaRPr lang="zh-CN" altLang="en-US" sz="1200">
              <a:solidFill>
                <a:srgbClr val="383838"/>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endParaRPr lang="en-US" altLang="zh-CN" sz="1000">
              <a:solidFill>
                <a:srgbClr val="383838"/>
              </a:solidFill>
              <a:latin typeface="微软雅黑"/>
              <a:ea typeface="微软雅黑"/>
              <a:cs typeface="微软雅黑"/>
            </a:endParaRPr>
          </a:p>
          <a:p>
            <a:pPr marL="179705" indent="-179705" fontAlgn="auto">
              <a:buFont typeface="微软雅黑"/>
              <a:buChar char="●"/>
              <a:defRPr>
                <a:latin typeface="微软雅黑"/>
                <a:ea typeface="微软雅黑"/>
                <a:cs typeface="微软雅黑"/>
              </a:defRPr>
            </a:pPr>
            <a:r>
              <a:rPr lang="en-US" altLang="zh-CN" sz="1200" b="1">
                <a:solidFill>
                  <a:srgbClr val="0042FF"/>
                </a:solidFill>
                <a:latin typeface="微软雅黑"/>
                <a:ea typeface="微软雅黑"/>
                <a:cs typeface="微软雅黑"/>
              </a:rPr>
              <a:t>2022-2030</a:t>
            </a:r>
            <a:r>
              <a:rPr lang="zh-CN" altLang="en-US" sz="1200" b="1">
                <a:solidFill>
                  <a:srgbClr val="0042FF"/>
                </a:solidFill>
                <a:latin typeface="微软雅黑"/>
                <a:ea typeface="微软雅黑"/>
                <a:cs typeface="微软雅黑"/>
              </a:rPr>
              <a:t>年</a:t>
            </a:r>
            <a:r>
              <a:rPr lang="en-US" altLang="zh-CN" sz="1200" b="1">
                <a:solidFill>
                  <a:srgbClr val="0042FF"/>
                </a:solidFill>
                <a:latin typeface="微软雅黑"/>
                <a:ea typeface="微软雅黑"/>
                <a:cs typeface="微软雅黑"/>
              </a:rPr>
              <a:t>ESG</a:t>
            </a:r>
            <a:r>
              <a:rPr lang="zh-CN" altLang="en-US" sz="1200" b="1">
                <a:solidFill>
                  <a:srgbClr val="0042FF"/>
                </a:solidFill>
                <a:latin typeface="微软雅黑"/>
                <a:ea typeface="微软雅黑"/>
                <a:cs typeface="微软雅黑"/>
              </a:rPr>
              <a:t>指标成效：</a:t>
            </a:r>
            <a:r>
              <a:rPr lang="en-US" altLang="zh-CN" sz="1200">
                <a:solidFill>
                  <a:srgbClr val="0042FF"/>
                </a:solidFill>
                <a:latin typeface="微软雅黑"/>
                <a:ea typeface="微软雅黑"/>
                <a:cs typeface="微软雅黑"/>
              </a:rPr>
              <a:t> </a:t>
            </a:r>
            <a:r>
              <a:rPr lang="en-US" altLang="zh-CN" sz="1200">
                <a:solidFill>
                  <a:srgbClr val="383838"/>
                </a:solidFill>
                <a:latin typeface="微软雅黑"/>
                <a:ea typeface="微软雅黑"/>
                <a:cs typeface="微软雅黑"/>
              </a:rPr>
              <a:t>AI</a:t>
            </a:r>
            <a:r>
              <a:rPr lang="zh-CN" altLang="en-US" sz="1200">
                <a:solidFill>
                  <a:srgbClr val="383838"/>
                </a:solidFill>
                <a:latin typeface="微软雅黑"/>
                <a:ea typeface="微软雅黑"/>
                <a:cs typeface="微软雅黑"/>
              </a:rPr>
              <a:t>医疗器械企业发展与</a:t>
            </a:r>
            <a:r>
              <a:rPr lang="en-US" altLang="zh-CN" sz="1200">
                <a:solidFill>
                  <a:srgbClr val="383838"/>
                </a:solidFill>
                <a:latin typeface="微软雅黑"/>
                <a:ea typeface="微软雅黑"/>
                <a:cs typeface="微软雅黑"/>
              </a:rPr>
              <a:t>ESG</a:t>
            </a:r>
            <a:r>
              <a:rPr lang="zh-CN" altLang="en-US" sz="1200">
                <a:solidFill>
                  <a:srgbClr val="383838"/>
                </a:solidFill>
                <a:latin typeface="微软雅黑"/>
                <a:ea typeface="微软雅黑"/>
                <a:cs typeface="微软雅黑"/>
              </a:rPr>
              <a:t>理念相结合，积极强化</a:t>
            </a:r>
            <a:r>
              <a:rPr lang="en-US" altLang="zh-CN" sz="1200">
                <a:solidFill>
                  <a:srgbClr val="383838"/>
                </a:solidFill>
                <a:latin typeface="微软雅黑"/>
                <a:ea typeface="微软雅黑"/>
                <a:cs typeface="微软雅黑"/>
              </a:rPr>
              <a:t>ESG</a:t>
            </a:r>
            <a:r>
              <a:rPr lang="zh-CN" altLang="en-US" sz="1200">
                <a:solidFill>
                  <a:srgbClr val="383838"/>
                </a:solidFill>
                <a:latin typeface="微软雅黑"/>
                <a:ea typeface="微软雅黑"/>
                <a:cs typeface="微软雅黑"/>
              </a:rPr>
              <a:t>风险管理与主动披露</a:t>
            </a:r>
            <a:r>
              <a:rPr lang="en-US" altLang="zh-CN" sz="1200">
                <a:solidFill>
                  <a:srgbClr val="383838"/>
                </a:solidFill>
                <a:latin typeface="微软雅黑"/>
                <a:ea typeface="微软雅黑"/>
                <a:cs typeface="微软雅黑"/>
              </a:rPr>
              <a:t>ESG</a:t>
            </a:r>
            <a:r>
              <a:rPr lang="zh-CN" altLang="en-US" sz="1200">
                <a:solidFill>
                  <a:srgbClr val="383838"/>
                </a:solidFill>
                <a:latin typeface="微软雅黑"/>
                <a:ea typeface="微软雅黑"/>
                <a:cs typeface="微软雅黑"/>
              </a:rPr>
              <a:t>信息数据，助力医疗行业可持续发展。</a:t>
            </a:r>
            <a:endParaRPr lang="zh-CN" altLang="en-US" sz="1200">
              <a:solidFill>
                <a:srgbClr val="383838"/>
              </a:solidFill>
              <a:latin typeface="微软雅黑"/>
              <a:ea typeface="微软雅黑"/>
              <a:cs typeface="微软雅黑"/>
            </a:endParaRPr>
          </a:p>
        </p:txBody>
      </p:sp>
      <p:sp>
        <p:nvSpPr>
          <p:cNvPr id="48" name="文本框 47"/>
          <p:cNvSpPr txBox="1"/>
          <p:nvPr/>
        </p:nvSpPr>
        <p:spPr>
          <a:xfrm rot="20220000">
            <a:off x="6617970" y="2379345"/>
            <a:ext cx="3054350" cy="306705"/>
          </a:xfrm>
          <a:prstGeom prst="rect">
            <a:avLst/>
          </a:prstGeom>
          <a:noFill/>
        </p:spPr>
        <p:txBody>
          <a:bodyPr wrap="square" rtlCol="0">
            <a:spAutoFit/>
          </a:bodyPr>
          <a:p>
            <a:pPr algn="ctr">
              <a:defRPr>
                <a:latin typeface="微软雅黑"/>
                <a:ea typeface="微软雅黑"/>
                <a:cs typeface="微软雅黑"/>
              </a:defRPr>
            </a:pPr>
            <a:r>
              <a:rPr lang="zh-CN" sz="1400">
                <a:solidFill>
                  <a:srgbClr val="0042FF"/>
                </a:solidFill>
                <a:latin typeface="微软雅黑"/>
                <a:ea typeface="微软雅黑"/>
                <a:cs typeface="微软雅黑"/>
              </a:rPr>
              <a:t>经济效益与社会效益共同提升</a:t>
            </a:r>
            <a:endParaRPr lang="zh-CN" sz="1400">
              <a:solidFill>
                <a:srgbClr val="0042FF"/>
              </a:solidFill>
              <a:latin typeface="微软雅黑"/>
              <a:ea typeface="微软雅黑"/>
              <a:cs typeface="微软雅黑"/>
            </a:endParaRPr>
          </a:p>
        </p:txBody>
      </p:sp>
      <p:sp>
        <p:nvSpPr>
          <p:cNvPr id="2" name="文本框 1"/>
          <p:cNvSpPr txBox="1"/>
          <p:nvPr/>
        </p:nvSpPr>
        <p:spPr>
          <a:xfrm>
            <a:off x="1051560" y="4469765"/>
            <a:ext cx="2220595"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筛查频次</a:t>
            </a:r>
            <a:r>
              <a:rPr lang="en-US" altLang="zh-CN" sz="1400" b="1">
                <a:solidFill>
                  <a:srgbClr val="FFFFFF"/>
                </a:solidFill>
                <a:latin typeface="微软雅黑"/>
                <a:ea typeface="微软雅黑"/>
                <a:cs typeface="微软雅黑"/>
              </a:rPr>
              <a:t>1733</a:t>
            </a:r>
            <a:r>
              <a:rPr lang="zh-CN" altLang="en-US" sz="1400" b="1">
                <a:solidFill>
                  <a:srgbClr val="FFFFFF"/>
                </a:solidFill>
                <a:latin typeface="微软雅黑"/>
                <a:ea typeface="微软雅黑"/>
                <a:cs typeface="微软雅黑"/>
              </a:rPr>
              <a:t>万次</a:t>
            </a:r>
            <a:r>
              <a:rPr lang="en-US" altLang="zh-CN" sz="1400" b="1">
                <a:solidFill>
                  <a:srgbClr val="FFFFFF"/>
                </a:solidFill>
                <a:latin typeface="微软雅黑"/>
                <a:ea typeface="微软雅黑"/>
                <a:cs typeface="微软雅黑"/>
              </a:rPr>
              <a:t>/</a:t>
            </a:r>
            <a:r>
              <a:rPr lang="zh-CN" altLang="en-US" sz="1400" b="1">
                <a:solidFill>
                  <a:srgbClr val="FFFFFF"/>
                </a:solidFill>
                <a:latin typeface="微软雅黑"/>
                <a:ea typeface="微软雅黑"/>
                <a:cs typeface="微软雅黑"/>
              </a:rPr>
              <a:t>年</a:t>
            </a:r>
            <a:endParaRPr lang="zh-CN" altLang="en-US" sz="14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a:t>
            </a:r>
            <a:r>
              <a:rPr lang="en-US" altLang="zh-CN" sz="1400">
                <a:solidFill>
                  <a:srgbClr val="FFFFFF"/>
                </a:solidFill>
                <a:latin typeface="微软雅黑"/>
                <a:ea typeface="微软雅黑"/>
                <a:cs typeface="微软雅黑"/>
              </a:rPr>
              <a:t>10%</a:t>
            </a:r>
            <a:r>
              <a:rPr lang="zh-CN" altLang="en-US" sz="1400">
                <a:solidFill>
                  <a:srgbClr val="FFFFFF"/>
                </a:solidFill>
                <a:latin typeface="微软雅黑"/>
                <a:ea typeface="微软雅黑"/>
                <a:cs typeface="微软雅黑"/>
              </a:rPr>
              <a:t>）</a:t>
            </a:r>
            <a:endParaRPr lang="zh-CN" altLang="en-US" sz="1400">
              <a:solidFill>
                <a:srgbClr val="FFFFFF"/>
              </a:solidFill>
              <a:latin typeface="微软雅黑"/>
              <a:ea typeface="微软雅黑"/>
              <a:cs typeface="微软雅黑"/>
            </a:endParaRPr>
          </a:p>
        </p:txBody>
      </p:sp>
      <p:sp>
        <p:nvSpPr>
          <p:cNvPr id="3" name="文本框 2"/>
          <p:cNvSpPr txBox="1"/>
          <p:nvPr/>
        </p:nvSpPr>
        <p:spPr>
          <a:xfrm>
            <a:off x="3510915" y="3836670"/>
            <a:ext cx="262572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400" b="1">
                <a:solidFill>
                  <a:srgbClr val="FFFFFF"/>
                </a:solidFill>
                <a:latin typeface="微软雅黑"/>
                <a:ea typeface="微软雅黑"/>
                <a:cs typeface="微软雅黑"/>
              </a:rPr>
              <a:t>覆盖场景【当前战略重点】</a:t>
            </a:r>
            <a:endParaRPr lang="zh-CN" sz="1400" b="1">
              <a:solidFill>
                <a:srgbClr val="FFFFFF"/>
              </a:solidFill>
              <a:latin typeface="微软雅黑"/>
              <a:ea typeface="微软雅黑"/>
              <a:cs typeface="微软雅黑"/>
            </a:endParaRPr>
          </a:p>
        </p:txBody>
      </p:sp>
      <p:sp>
        <p:nvSpPr>
          <p:cNvPr id="12" name="文本框 11"/>
          <p:cNvSpPr txBox="1"/>
          <p:nvPr/>
        </p:nvSpPr>
        <p:spPr>
          <a:xfrm>
            <a:off x="6457950" y="3489960"/>
            <a:ext cx="2196465" cy="30670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sz="1400" b="1">
                <a:solidFill>
                  <a:srgbClr val="FFFFFF"/>
                </a:solidFill>
                <a:latin typeface="微软雅黑"/>
                <a:ea typeface="微软雅黑"/>
                <a:cs typeface="微软雅黑"/>
              </a:rPr>
              <a:t>未来覆盖场景多元化</a:t>
            </a:r>
            <a:endParaRPr lang="zh-CN" sz="1400" b="1">
              <a:solidFill>
                <a:srgbClr val="FFFFFF"/>
              </a:solidFill>
              <a:latin typeface="微软雅黑"/>
              <a:ea typeface="微软雅黑"/>
              <a:cs typeface="微软雅黑"/>
            </a:endParaRPr>
          </a:p>
        </p:txBody>
      </p:sp>
      <p:sp>
        <p:nvSpPr>
          <p:cNvPr id="14" name="文本框 13"/>
          <p:cNvSpPr txBox="1"/>
          <p:nvPr/>
        </p:nvSpPr>
        <p:spPr>
          <a:xfrm>
            <a:off x="8750300" y="2827020"/>
            <a:ext cx="2220595" cy="521970"/>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383838"/>
                </a:solidFill>
                <a:latin typeface="微软雅黑"/>
                <a:ea typeface="微软雅黑"/>
                <a:cs typeface="微软雅黑"/>
              </a:rPr>
              <a:t>预计筛查频次</a:t>
            </a:r>
            <a:r>
              <a:rPr lang="en-US" altLang="zh-CN" sz="1400" b="1">
                <a:solidFill>
                  <a:srgbClr val="383838"/>
                </a:solidFill>
                <a:latin typeface="微软雅黑"/>
                <a:ea typeface="微软雅黑"/>
                <a:cs typeface="微软雅黑"/>
              </a:rPr>
              <a:t>1.6</a:t>
            </a:r>
            <a:r>
              <a:rPr lang="zh-CN" altLang="en-US" sz="1400" b="1">
                <a:solidFill>
                  <a:srgbClr val="383838"/>
                </a:solidFill>
                <a:latin typeface="微软雅黑"/>
                <a:ea typeface="微软雅黑"/>
                <a:cs typeface="微软雅黑"/>
              </a:rPr>
              <a:t>亿次</a:t>
            </a:r>
            <a:r>
              <a:rPr lang="en-US" altLang="zh-CN" sz="1400" b="1">
                <a:solidFill>
                  <a:srgbClr val="383838"/>
                </a:solidFill>
                <a:latin typeface="微软雅黑"/>
                <a:ea typeface="微软雅黑"/>
                <a:cs typeface="微软雅黑"/>
              </a:rPr>
              <a:t>/</a:t>
            </a:r>
            <a:r>
              <a:rPr lang="zh-CN" altLang="en-US" sz="1400" b="1">
                <a:solidFill>
                  <a:srgbClr val="383838"/>
                </a:solidFill>
                <a:latin typeface="微软雅黑"/>
                <a:ea typeface="微软雅黑"/>
                <a:cs typeface="微软雅黑"/>
              </a:rPr>
              <a:t>年</a:t>
            </a:r>
            <a:endParaRPr lang="zh-CN" altLang="en-US" sz="1400" b="1">
              <a:solidFill>
                <a:srgbClr val="383838"/>
              </a:solidFill>
              <a:latin typeface="微软雅黑"/>
              <a:ea typeface="微软雅黑"/>
              <a:cs typeface="微软雅黑"/>
            </a:endParaRPr>
          </a:p>
          <a:p>
            <a:pPr algn="ctr">
              <a:defRPr>
                <a:latin typeface="微软雅黑"/>
                <a:ea typeface="微软雅黑"/>
                <a:cs typeface="微软雅黑"/>
              </a:defRPr>
            </a:pPr>
            <a:r>
              <a:rPr lang="zh-CN" altLang="en-US" sz="1400">
                <a:solidFill>
                  <a:srgbClr val="383838"/>
                </a:solidFill>
                <a:latin typeface="微软雅黑"/>
                <a:ea typeface="微软雅黑"/>
                <a:cs typeface="微软雅黑"/>
              </a:rPr>
              <a:t>（</a:t>
            </a:r>
            <a:r>
              <a:rPr lang="en-US" altLang="zh-CN" sz="1400">
                <a:solidFill>
                  <a:srgbClr val="383838"/>
                </a:solidFill>
                <a:latin typeface="微软雅黑"/>
                <a:ea typeface="微软雅黑"/>
                <a:cs typeface="微软雅黑"/>
              </a:rPr>
              <a:t>80%</a:t>
            </a:r>
            <a:r>
              <a:rPr lang="zh-CN" altLang="en-US" sz="1400">
                <a:solidFill>
                  <a:srgbClr val="383838"/>
                </a:solidFill>
                <a:latin typeface="微软雅黑"/>
                <a:ea typeface="微软雅黑"/>
                <a:cs typeface="微软雅黑"/>
              </a:rPr>
              <a:t>）</a:t>
            </a:r>
            <a:endParaRPr lang="zh-CN" altLang="en-US" sz="1400">
              <a:solidFill>
                <a:srgbClr val="383838"/>
              </a:solidFill>
              <a:latin typeface="微软雅黑"/>
              <a:ea typeface="微软雅黑"/>
              <a:cs typeface="微软雅黑"/>
            </a:endParaRPr>
          </a:p>
        </p:txBody>
      </p:sp>
      <p:grpSp>
        <p:nvGrpSpPr>
          <p:cNvPr id="25" name="组合 24"/>
          <p:cNvGrpSpPr/>
          <p:nvPr/>
        </p:nvGrpSpPr>
        <p:grpSpPr>
          <a:xfrm rot="360000">
            <a:off x="9534525" y="1658620"/>
            <a:ext cx="731520" cy="363220"/>
            <a:chOff x="15015" y="2612"/>
            <a:chExt cx="1152" cy="572"/>
          </a:xfrm>
        </p:grpSpPr>
        <p:sp>
          <p:nvSpPr>
            <p:cNvPr id="47" name="文本框 46"/>
            <p:cNvSpPr txBox="1"/>
            <p:nvPr/>
          </p:nvSpPr>
          <p:spPr>
            <a:xfrm rot="19500000">
              <a:off x="15015" y="2612"/>
              <a:ext cx="1153" cy="521"/>
            </a:xfrm>
            <a:prstGeom prst="rect">
              <a:avLst/>
            </a:prstGeom>
            <a:noFill/>
            <a:ln>
              <a:noFill/>
            </a:ln>
          </p:spPr>
          <p:txBody>
            <a:bodyPr wrap="square" rtlCol="0">
              <a:noAutofit/>
            </a:bodyPr>
            <a:p>
              <a:pPr algn="ctr">
                <a:defRPr>
                  <a:latin typeface="微软雅黑"/>
                  <a:ea typeface="微软雅黑"/>
                  <a:cs typeface="微软雅黑"/>
                </a:defRPr>
              </a:pPr>
              <a:r>
                <a:rPr lang="en-US" sz="2000" b="1">
                  <a:solidFill>
                    <a:srgbClr val="0042FF"/>
                  </a:solidFill>
                  <a:latin typeface="微软雅黑"/>
                  <a:ea typeface="微软雅黑"/>
                  <a:cs typeface="微软雅黑"/>
                </a:rPr>
                <a:t>ESG</a:t>
              </a:r>
              <a:endParaRPr lang="en-US" sz="2000" b="1">
                <a:solidFill>
                  <a:srgbClr val="0042FF"/>
                </a:solidFill>
                <a:latin typeface="微软雅黑"/>
                <a:ea typeface="微软雅黑"/>
                <a:cs typeface="微软雅黑"/>
              </a:endParaRPr>
            </a:p>
          </p:txBody>
        </p:sp>
        <p:sp>
          <p:nvSpPr>
            <p:cNvPr id="24" name="矩形 23"/>
            <p:cNvSpPr/>
            <p:nvPr/>
          </p:nvSpPr>
          <p:spPr>
            <a:xfrm rot="19500000">
              <a:off x="15132" y="2616"/>
              <a:ext cx="1004" cy="568"/>
            </a:xfrm>
            <a:prstGeom prst="rect">
              <a:avLst/>
            </a:prstGeom>
            <a:noFill/>
            <a:ln>
              <a:solidFill>
                <a:srgbClr val="0042FF"/>
              </a:solidFill>
              <a:prstDash val="sysDash"/>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cs typeface="微软雅黑"/>
                <a:latin typeface="微软雅黑"/>
                <a:ea typeface="微软雅黑"/>
              </a:endParaRPr>
            </a:p>
          </p:txBody>
        </p:sp>
      </p:grpSp>
      <p:cxnSp>
        <p:nvCxnSpPr>
          <p:cNvPr id="26"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7" name="组合 26"/>
          <p:cNvGrpSpPr/>
          <p:nvPr/>
        </p:nvGrpSpPr>
        <p:grpSpPr>
          <a:xfrm>
            <a:off x="8738235" y="348615"/>
            <a:ext cx="3219450" cy="332740"/>
            <a:chOff x="13761" y="549"/>
            <a:chExt cx="5070" cy="524"/>
          </a:xfrm>
        </p:grpSpPr>
        <p:pic>
          <p:nvPicPr>
            <p:cNvPr id="28" name="图片 27"/>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29" name="文本框 2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8" name="直接连接符 187"/>
          <p:cNvCxnSpPr/>
          <p:nvPr/>
        </p:nvCxnSpPr>
        <p:spPr>
          <a:xfrm flipV="1">
            <a:off x="10053320" y="1827530"/>
            <a:ext cx="0" cy="1282700"/>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82" name="直接连接符 181"/>
          <p:cNvCxnSpPr/>
          <p:nvPr/>
        </p:nvCxnSpPr>
        <p:spPr>
          <a:xfrm flipV="1">
            <a:off x="7477760" y="1752600"/>
            <a:ext cx="0" cy="1282700"/>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76" name="直接连接符 175"/>
          <p:cNvCxnSpPr>
            <a:stCxn id="94" idx="0"/>
            <a:endCxn id="13" idx="2"/>
          </p:cNvCxnSpPr>
          <p:nvPr/>
        </p:nvCxnSpPr>
        <p:spPr>
          <a:xfrm flipH="1" flipV="1">
            <a:off x="4857115" y="1845310"/>
            <a:ext cx="1905" cy="1316355"/>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a:t>
            </a:r>
            <a:r>
              <a:rPr sz="2500">
                <a:solidFill>
                  <a:srgbClr val="0042FF"/>
                </a:solidFill>
                <a:latin typeface="微软雅黑"/>
                <a:ea typeface="微软雅黑"/>
                <a:cs typeface="微软雅黑"/>
              </a:rPr>
              <a:t> </a:t>
            </a:r>
            <a:r>
              <a:rPr sz="2500">
                <a:solidFill>
                  <a:srgbClr val="383838"/>
                </a:solidFill>
                <a:effectLst/>
                <a:latin typeface="微软雅黑"/>
                <a:ea typeface="微软雅黑"/>
                <a:cs typeface="微软雅黑"/>
              </a:rPr>
              <a:t>时间竞品分析流程</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6" name="圆角矩形 27"/>
          <p:cNvSpPr/>
          <p:nvPr/>
        </p:nvSpPr>
        <p:spPr>
          <a:xfrm>
            <a:off x="898583" y="1719119"/>
            <a:ext cx="10367600" cy="2425670"/>
          </a:xfrm>
          <a:prstGeom prst="roundRect">
            <a:avLst>
              <a:gd name="adj" fmla="val 1481"/>
            </a:avLst>
          </a:prstGeom>
          <a:noFill/>
          <a:ln w="12700" cap="flat" cmpd="sng" algn="ctr">
            <a:solidFill>
              <a:srgbClr val="0042FF">
                <a:alpha val="50000"/>
              </a:srgbClr>
            </a:solidFill>
            <a:prstDash val="solid"/>
            <a:miter lim="800000"/>
          </a:ln>
          <a:effectLst/>
        </p:spPr>
        <p:txBody>
          <a:bodyPr wrap="square" rtlCol="0" anchor="ctr" lIns="0" rIns="0" tIns="0" bIns="0">
            <a:noAutofit/>
          </a:bodyPr>
          <a:lstStyle/>
          <a:p>
            <a:pPr marL="0" marR="0" lvl="0" indent="0" algn="ctr" defTabSz="91440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altLang="zh-CN" sz="1200" u="none" strike="noStrike" kern="0" cap="none" spc="0" normalizeH="0" baseline="0" noProof="0" dirty="0">
              <a:ln>
                <a:noFill/>
              </a:ln>
              <a:solidFill>
                <a:srgbClr val="383838"/>
              </a:solidFill>
              <a:effectLst/>
              <a:uLnTx/>
              <a:uFillTx/>
              <a:latin typeface="微软雅黑"/>
              <a:ea typeface="微软雅黑"/>
              <a:cs typeface="微软雅黑"/>
              <a:sym typeface="微软雅黑"/>
            </a:endParaRPr>
          </a:p>
        </p:txBody>
      </p:sp>
      <p:grpSp>
        <p:nvGrpSpPr>
          <p:cNvPr id="8" name="组合 7"/>
          <p:cNvGrpSpPr/>
          <p:nvPr/>
        </p:nvGrpSpPr>
        <p:grpSpPr>
          <a:xfrm>
            <a:off x="1731382" y="1504586"/>
            <a:ext cx="1046480" cy="340995"/>
            <a:chOff x="990399" y="2902414"/>
            <a:chExt cx="1046480" cy="340995"/>
          </a:xfrm>
        </p:grpSpPr>
        <p:sp>
          <p:nvSpPr>
            <p:cNvPr id="12" name="圆角矩形 27+"/>
            <p:cNvSpPr/>
            <p:nvPr/>
          </p:nvSpPr>
          <p:spPr>
            <a:xfrm>
              <a:off x="990399" y="2902414"/>
              <a:ext cx="1046480" cy="340995"/>
            </a:xfrm>
            <a:prstGeom prst="roundRect">
              <a:avLst>
                <a:gd name="adj" fmla="val 5000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en-US" altLang="zh-CN" sz="1400" dirty="0">
                <a:solidFill>
                  <a:srgbClr val="FFFFFF"/>
                </a:solidFill>
                <a:latin typeface="微软雅黑"/>
                <a:ea typeface="微软雅黑"/>
                <a:cs typeface="微软雅黑"/>
                <a:sym typeface="微软雅黑"/>
              </a:endParaRPr>
            </a:p>
          </p:txBody>
        </p:sp>
        <p:sp>
          <p:nvSpPr>
            <p:cNvPr id="48" name="文本框 47"/>
            <p:cNvSpPr txBox="1"/>
            <p:nvPr/>
          </p:nvSpPr>
          <p:spPr>
            <a:xfrm>
              <a:off x="1279007" y="2965279"/>
              <a:ext cx="469265" cy="215265"/>
            </a:xfrm>
            <a:prstGeom prst="rect">
              <a:avLst/>
            </a:prstGeom>
            <a:noFill/>
          </p:spPr>
          <p:txBody>
            <a:bodyPr wrap="none" lIns="0" tIns="0" rIns="0" bIns="0" rtlCol="0">
              <a:spAutoFit/>
            </a:bodyPr>
            <a:lstStyle/>
            <a:p>
              <a:pP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rPr>
                <a:t>1-2</a:t>
              </a:r>
              <a:r>
                <a:rPr lang="zh-CN" altLang="en-US" sz="1400" dirty="0">
                  <a:solidFill>
                    <a:srgbClr val="FFFFFF"/>
                  </a:solidFill>
                  <a:latin typeface="微软雅黑"/>
                  <a:ea typeface="微软雅黑"/>
                  <a:cs typeface="微软雅黑"/>
                </a:rPr>
                <a:t>月</a:t>
              </a:r>
              <a:endParaRPr lang="zh-CN" altLang="en-US" sz="1400" dirty="0">
                <a:solidFill>
                  <a:srgbClr val="FFFFFF"/>
                </a:solidFill>
                <a:latin typeface="微软雅黑"/>
                <a:ea typeface="微软雅黑"/>
                <a:cs typeface="微软雅黑"/>
              </a:endParaRPr>
            </a:p>
          </p:txBody>
        </p:sp>
      </p:grpSp>
      <p:grpSp>
        <p:nvGrpSpPr>
          <p:cNvPr id="74" name="组合 73"/>
          <p:cNvGrpSpPr/>
          <p:nvPr/>
        </p:nvGrpSpPr>
        <p:grpSpPr>
          <a:xfrm>
            <a:off x="1592545" y="3885416"/>
            <a:ext cx="1197590" cy="575094"/>
            <a:chOff x="3245375" y="4112425"/>
            <a:chExt cx="1197590" cy="575094"/>
          </a:xfrm>
          <a:solidFill>
            <a:srgbClr val="3368FF"/>
          </a:solidFill>
        </p:grpSpPr>
        <p:sp>
          <p:nvSpPr>
            <p:cNvPr id="75" name="Object 5" descr="preencoded.png"/>
            <p:cNvSpPr/>
            <p:nvPr/>
          </p:nvSpPr>
          <p:spPr>
            <a:xfrm>
              <a:off x="3245375" y="4112425"/>
              <a:ext cx="1197590" cy="575094"/>
            </a:xfrm>
            <a:prstGeom prst="roundRect">
              <a:avLst/>
            </a:prstGeom>
            <a:solidFill>
              <a:srgbClr val="0042FF"/>
            </a:solidFill>
            <a:ln w="7620"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76" name="Object26"/>
            <p:cNvSpPr/>
            <p:nvPr/>
          </p:nvSpPr>
          <p:spPr>
            <a:xfrm>
              <a:off x="3536393" y="4156131"/>
              <a:ext cx="615553" cy="471091"/>
            </a:xfrm>
            <a:prstGeom prst="rect">
              <a:avLst/>
            </a:prstGeom>
            <a:noFill/>
            <a:extLst>
              <a:ext uri="{909E8E84-426E-40DD-AFC4-6F175D3DCCD1}">
                <a14:hiddenFill xmlns:a14="http://schemas.microsoft.com/office/drawing/2010/main">
                  <a:grpFill/>
                </a14:hiddenFill>
              </a:ext>
            </a:extLst>
          </p:spPr>
          <p:txBody>
            <a:bodyPr wrap="none" lIns="0" tIns="0" rIns="0" bIns="0" rtlCol="0" anchor="t">
              <a:spAutoFit/>
            </a:bodyPr>
            <a:lstStyle/>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精准扫描</a:t>
              </a:r>
              <a:endParaRPr lang="en-US" sz="1200" dirty="0">
                <a:solidFill>
                  <a:srgbClr val="FFFFFF"/>
                </a:solidFill>
                <a:latin typeface="微软雅黑"/>
                <a:ea typeface="微软雅黑"/>
                <a:cs typeface="微软雅黑"/>
                <a:sym typeface="微软雅黑"/>
              </a:endParaRPr>
            </a:p>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商业地图</a:t>
              </a:r>
              <a:endParaRPr kumimoji="0" 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sp>
        <p:nvSpPr>
          <p:cNvPr id="78" name="Object 5" descr="preencoded.png"/>
          <p:cNvSpPr/>
          <p:nvPr/>
        </p:nvSpPr>
        <p:spPr>
          <a:xfrm>
            <a:off x="3181350" y="3883025"/>
            <a:ext cx="1197610" cy="575310"/>
          </a:xfrm>
          <a:prstGeom prst="roundRect">
            <a:avLst/>
          </a:prstGeom>
          <a:solidFill>
            <a:srgbClr val="0042FF"/>
          </a:solidFill>
          <a:ln w="7620"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80" name="Object26"/>
          <p:cNvSpPr/>
          <p:nvPr/>
        </p:nvSpPr>
        <p:spPr>
          <a:xfrm>
            <a:off x="3395345" y="3926840"/>
            <a:ext cx="769620" cy="471170"/>
          </a:xfrm>
          <a:prstGeom prst="rect">
            <a:avLst/>
          </a:prstGeom>
          <a:noFill/>
          <a:extLst>
            <a:ext uri="{909E8E84-426E-40DD-AFC4-6F175D3DCCD1}">
              <a14:hiddenFill xmlns:a14="http://schemas.microsoft.com/office/drawing/2010/main">
                <a:solidFill>
                  <a:srgbClr val="3368FF"/>
                </a:solidFill>
              </a14:hiddenFill>
            </a:ext>
          </a:extLst>
        </p:spPr>
        <p:txBody>
          <a:bodyPr wrap="none" lIns="0" tIns="0" rIns="0" bIns="0" rtlCol="0" anchor="t">
            <a:spAutoFit/>
          </a:bodyPr>
          <a:lstStyle/>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精准定级</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差异化宣传</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81" name="圆角矩形 27+"/>
          <p:cNvSpPr/>
          <p:nvPr/>
        </p:nvSpPr>
        <p:spPr>
          <a:xfrm>
            <a:off x="1713145" y="3146171"/>
            <a:ext cx="1080000" cy="340712"/>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品牌介绍</a:t>
            </a:r>
            <a:endParaRPr lang="zh-CN" altLang="en-US" sz="1200" dirty="0">
              <a:solidFill>
                <a:srgbClr val="383838"/>
              </a:solidFill>
              <a:latin typeface="微软雅黑"/>
              <a:ea typeface="微软雅黑"/>
              <a:cs typeface="微软雅黑"/>
              <a:sym typeface="微软雅黑"/>
            </a:endParaRPr>
          </a:p>
        </p:txBody>
      </p:sp>
      <p:cxnSp>
        <p:nvCxnSpPr>
          <p:cNvPr id="83" name="直接连接符 82"/>
          <p:cNvCxnSpPr/>
          <p:nvPr/>
        </p:nvCxnSpPr>
        <p:spPr>
          <a:xfrm flipV="1">
            <a:off x="2243455" y="1844675"/>
            <a:ext cx="0" cy="1282700"/>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88" name="Object 5" descr="preencoded.png"/>
          <p:cNvSpPr/>
          <p:nvPr/>
        </p:nvSpPr>
        <p:spPr>
          <a:xfrm>
            <a:off x="4770755" y="3882390"/>
            <a:ext cx="1197610" cy="575310"/>
          </a:xfrm>
          <a:prstGeom prst="roundRect">
            <a:avLst/>
          </a:prstGeom>
          <a:solidFill>
            <a:srgbClr val="0042FF"/>
          </a:solidFill>
          <a:ln w="7620"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89" name="Object26"/>
          <p:cNvSpPr/>
          <p:nvPr/>
        </p:nvSpPr>
        <p:spPr>
          <a:xfrm>
            <a:off x="4907280" y="3926205"/>
            <a:ext cx="923290" cy="471170"/>
          </a:xfrm>
          <a:prstGeom prst="rect">
            <a:avLst/>
          </a:prstGeom>
          <a:noFill/>
          <a:extLst>
            <a:ext uri="{909E8E84-426E-40DD-AFC4-6F175D3DCCD1}">
              <a14:hiddenFill xmlns:a14="http://schemas.microsoft.com/office/drawing/2010/main">
                <a:solidFill>
                  <a:srgbClr val="3368FF"/>
                </a:solidFill>
              </a14:hiddenFill>
            </a:ext>
          </a:extLst>
        </p:spPr>
        <p:txBody>
          <a:bodyPr wrap="none" lIns="0" tIns="0" rIns="0" bIns="0" rtlCol="0" anchor="t">
            <a:spAutoFit/>
          </a:bodyPr>
          <a:lstStyle/>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精准宣导</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雇主品牌包装</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91" name="圆角矩形 27+"/>
          <p:cNvSpPr/>
          <p:nvPr/>
        </p:nvSpPr>
        <p:spPr>
          <a:xfrm>
            <a:off x="3677920" y="2639695"/>
            <a:ext cx="909320" cy="335915"/>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企业合作</a:t>
            </a:r>
            <a:endParaRPr lang="zh-CN" altLang="en-US" sz="1200" dirty="0">
              <a:solidFill>
                <a:srgbClr val="383838"/>
              </a:solidFill>
              <a:latin typeface="微软雅黑"/>
              <a:ea typeface="微软雅黑"/>
              <a:cs typeface="微软雅黑"/>
              <a:sym typeface="微软雅黑"/>
            </a:endParaRPr>
          </a:p>
        </p:txBody>
      </p:sp>
      <p:sp>
        <p:nvSpPr>
          <p:cNvPr id="92" name="圆角矩形 27+"/>
          <p:cNvSpPr/>
          <p:nvPr/>
        </p:nvSpPr>
        <p:spPr>
          <a:xfrm>
            <a:off x="2595245" y="2622550"/>
            <a:ext cx="979805" cy="340995"/>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主打产品</a:t>
            </a:r>
            <a:endParaRPr lang="zh-CN" altLang="en-US" sz="1200" dirty="0">
              <a:solidFill>
                <a:srgbClr val="383838"/>
              </a:solidFill>
              <a:latin typeface="微软雅黑"/>
              <a:ea typeface="微软雅黑"/>
              <a:cs typeface="微软雅黑"/>
              <a:sym typeface="微软雅黑"/>
            </a:endParaRPr>
          </a:p>
        </p:txBody>
      </p:sp>
      <p:sp>
        <p:nvSpPr>
          <p:cNvPr id="94" name="圆角矩形 27+"/>
          <p:cNvSpPr/>
          <p:nvPr/>
        </p:nvSpPr>
        <p:spPr>
          <a:xfrm>
            <a:off x="4318186" y="3161665"/>
            <a:ext cx="1081405" cy="340995"/>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营销方案</a:t>
            </a:r>
            <a:endParaRPr lang="zh-CN" altLang="en-US" sz="1200" dirty="0">
              <a:solidFill>
                <a:srgbClr val="383838"/>
              </a:solidFill>
              <a:latin typeface="微软雅黑"/>
              <a:ea typeface="微软雅黑"/>
              <a:cs typeface="微软雅黑"/>
              <a:sym typeface="微软雅黑"/>
            </a:endParaRPr>
          </a:p>
        </p:txBody>
      </p:sp>
      <p:sp>
        <p:nvSpPr>
          <p:cNvPr id="95" name="圆角矩形 27+"/>
          <p:cNvSpPr/>
          <p:nvPr/>
        </p:nvSpPr>
        <p:spPr>
          <a:xfrm>
            <a:off x="5631815" y="2613025"/>
            <a:ext cx="1078230" cy="340995"/>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重点提前</a:t>
            </a:r>
            <a:endParaRPr lang="zh-CN" altLang="en-US" sz="1200" dirty="0">
              <a:solidFill>
                <a:srgbClr val="383838"/>
              </a:solidFill>
              <a:latin typeface="微软雅黑"/>
              <a:ea typeface="微软雅黑"/>
              <a:cs typeface="微软雅黑"/>
              <a:sym typeface="微软雅黑"/>
            </a:endParaRPr>
          </a:p>
        </p:txBody>
      </p:sp>
      <p:sp>
        <p:nvSpPr>
          <p:cNvPr id="96" name="圆角矩形 27+"/>
          <p:cNvSpPr/>
          <p:nvPr/>
        </p:nvSpPr>
        <p:spPr>
          <a:xfrm>
            <a:off x="6782025" y="3064161"/>
            <a:ext cx="1390980" cy="340712"/>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差异化品牌宣传</a:t>
            </a:r>
            <a:endParaRPr lang="zh-CN" altLang="en-US" sz="1200" dirty="0">
              <a:solidFill>
                <a:srgbClr val="383838"/>
              </a:solidFill>
              <a:latin typeface="微软雅黑"/>
              <a:ea typeface="微软雅黑"/>
              <a:cs typeface="微软雅黑"/>
              <a:sym typeface="微软雅黑"/>
            </a:endParaRPr>
          </a:p>
        </p:txBody>
      </p:sp>
      <p:sp>
        <p:nvSpPr>
          <p:cNvPr id="97" name="圆角矩形 27+"/>
          <p:cNvSpPr/>
          <p:nvPr/>
        </p:nvSpPr>
        <p:spPr>
          <a:xfrm>
            <a:off x="9436158" y="3144566"/>
            <a:ext cx="1233968" cy="340712"/>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计划总结</a:t>
            </a:r>
            <a:endParaRPr lang="zh-CN" altLang="en-US" sz="1200" dirty="0">
              <a:solidFill>
                <a:srgbClr val="383838"/>
              </a:solidFill>
              <a:latin typeface="微软雅黑"/>
              <a:ea typeface="微软雅黑"/>
              <a:cs typeface="微软雅黑"/>
              <a:sym typeface="微软雅黑"/>
            </a:endParaRPr>
          </a:p>
        </p:txBody>
      </p:sp>
      <p:sp>
        <p:nvSpPr>
          <p:cNvPr id="98" name="圆角矩形 27+"/>
          <p:cNvSpPr/>
          <p:nvPr/>
        </p:nvSpPr>
        <p:spPr>
          <a:xfrm>
            <a:off x="8163008" y="2601472"/>
            <a:ext cx="1233968" cy="340712"/>
          </a:xfrm>
          <a:prstGeom prst="roundRect">
            <a:avLst>
              <a:gd name="adj" fmla="val 50000"/>
            </a:avLst>
          </a:prstGeom>
          <a:solidFill>
            <a:srgbClr val="E6E6E6"/>
          </a:solidFill>
          <a:ln>
            <a:noFill/>
            <a:prstDash val="dash"/>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sz="1200" dirty="0">
                <a:solidFill>
                  <a:srgbClr val="383838"/>
                </a:solidFill>
                <a:latin typeface="微软雅黑"/>
                <a:ea typeface="微软雅黑"/>
                <a:cs typeface="微软雅黑"/>
                <a:sym typeface="微软雅黑"/>
              </a:rPr>
              <a:t>推广活动</a:t>
            </a:r>
            <a:endParaRPr lang="zh-CN" altLang="en-US" sz="1200" dirty="0">
              <a:solidFill>
                <a:srgbClr val="383838"/>
              </a:solidFill>
              <a:latin typeface="微软雅黑"/>
              <a:ea typeface="微软雅黑"/>
              <a:cs typeface="微软雅黑"/>
              <a:sym typeface="微软雅黑"/>
            </a:endParaRPr>
          </a:p>
        </p:txBody>
      </p:sp>
      <p:grpSp>
        <p:nvGrpSpPr>
          <p:cNvPr id="116" name="组合 115"/>
          <p:cNvGrpSpPr/>
          <p:nvPr/>
        </p:nvGrpSpPr>
        <p:grpSpPr>
          <a:xfrm>
            <a:off x="433670" y="2210173"/>
            <a:ext cx="975542" cy="976368"/>
            <a:chOff x="415003" y="4019481"/>
            <a:chExt cx="975542" cy="976368"/>
          </a:xfrm>
        </p:grpSpPr>
        <p:sp>
          <p:nvSpPr>
            <p:cNvPr id="118" name="Object 5" descr="preencoded.png"/>
            <p:cNvSpPr/>
            <p:nvPr/>
          </p:nvSpPr>
          <p:spPr>
            <a:xfrm>
              <a:off x="415003" y="4019481"/>
              <a:ext cx="975542" cy="976368"/>
            </a:xfrm>
            <a:prstGeom prst="ellipse">
              <a:avLst/>
            </a:prstGeom>
            <a:solidFill>
              <a:srgbClr val="3368FF"/>
            </a:solidFill>
            <a:ln w="7620" cap="flat">
              <a:noFill/>
              <a:prstDash val="solid"/>
              <a:miter/>
            </a:ln>
            <a:effectLst>
              <a:outerShdw blurRad="50800" dist="38100" dir="2700000" algn="tl" rotWithShape="0">
                <a:prstClr val="black">
                  <a:alpha val="40000"/>
                </a:prstClr>
              </a:outerShdw>
            </a:effectLst>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sym typeface="微软雅黑"/>
              </a:endParaRPr>
            </a:p>
          </p:txBody>
        </p:sp>
        <p:sp>
          <p:nvSpPr>
            <p:cNvPr id="119" name="文本框 118"/>
            <p:cNvSpPr txBox="1"/>
            <p:nvPr/>
          </p:nvSpPr>
          <p:spPr>
            <a:xfrm>
              <a:off x="543702" y="4256154"/>
              <a:ext cx="718145" cy="504497"/>
            </a:xfrm>
            <a:prstGeom prst="rect">
              <a:avLst/>
            </a:prstGeom>
            <a:noFill/>
          </p:spPr>
          <p:txBody>
            <a:bodyPr wrap="none" lIns="0" tIns="0" rIns="0" bIns="0" rtlCol="0">
              <a:spAutoFit/>
            </a:bodyPr>
            <a:lstStyle/>
            <a:p>
              <a:pPr algn="ctr">
                <a:lnSpc>
                  <a:spcPct val="120000"/>
                </a:lnSpc>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人才扫描</a:t>
              </a:r>
              <a:endParaRPr lang="zh-CN" altLang="en-US" sz="1400" b="1" dirty="0">
                <a:solidFill>
                  <a:srgbClr val="FFFFFF"/>
                </a:solidFill>
                <a:latin typeface="微软雅黑"/>
                <a:ea typeface="微软雅黑"/>
                <a:cs typeface="微软雅黑"/>
              </a:endParaRPr>
            </a:p>
            <a:p>
              <a:pPr algn="ctr">
                <a:lnSpc>
                  <a:spcPct val="120000"/>
                </a:lnSpc>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营销方案</a:t>
              </a:r>
              <a:endParaRPr lang="zh-CN" altLang="en-US" sz="1400" b="1" dirty="0">
                <a:solidFill>
                  <a:srgbClr val="FFFFFF"/>
                </a:solidFill>
                <a:latin typeface="微软雅黑"/>
                <a:ea typeface="微软雅黑"/>
                <a:cs typeface="微软雅黑"/>
              </a:endParaRPr>
            </a:p>
          </p:txBody>
        </p:sp>
      </p:grpSp>
      <p:grpSp>
        <p:nvGrpSpPr>
          <p:cNvPr id="120" name="组合 119"/>
          <p:cNvGrpSpPr/>
          <p:nvPr/>
        </p:nvGrpSpPr>
        <p:grpSpPr>
          <a:xfrm>
            <a:off x="10782787" y="2210173"/>
            <a:ext cx="975542" cy="976368"/>
            <a:chOff x="10764120" y="4019481"/>
            <a:chExt cx="975542" cy="976368"/>
          </a:xfrm>
        </p:grpSpPr>
        <p:sp>
          <p:nvSpPr>
            <p:cNvPr id="121" name="Object 5" descr="preencoded.png"/>
            <p:cNvSpPr/>
            <p:nvPr/>
          </p:nvSpPr>
          <p:spPr>
            <a:xfrm>
              <a:off x="10764120" y="4019481"/>
              <a:ext cx="975542" cy="976368"/>
            </a:xfrm>
            <a:prstGeom prst="ellipse">
              <a:avLst/>
            </a:prstGeom>
            <a:solidFill>
              <a:srgbClr val="3368FF"/>
            </a:solidFill>
            <a:ln w="7620" cap="flat">
              <a:noFill/>
              <a:prstDash val="solid"/>
              <a:miter/>
            </a:ln>
            <a:effectLst>
              <a:outerShdw blurRad="50800" dist="38100" dir="2700000" algn="tl" rotWithShape="0">
                <a:prstClr val="black">
                  <a:alpha val="40000"/>
                </a:prstClr>
              </a:outerShdw>
            </a:effectLst>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FFFFFF"/>
                  </a:solidFill>
                  <a:latin typeface="微软雅黑"/>
                  <a:ea typeface="微软雅黑"/>
                  <a:cs typeface="微软雅黑"/>
                </a:defRPr>
              </a:pPr>
              <a:endParaRPr lang="zh-CN" altLang="en-US" b="1" dirty="0">
                <a:solidFill>
                  <a:srgbClr val="FFFFFF"/>
                </a:solidFill>
                <a:latin typeface="微软雅黑"/>
                <a:ea typeface="微软雅黑"/>
                <a:cs typeface="微软雅黑"/>
                <a:sym typeface="微软雅黑"/>
              </a:endParaRPr>
            </a:p>
          </p:txBody>
        </p:sp>
        <p:sp>
          <p:nvSpPr>
            <p:cNvPr id="122" name="文本框 121"/>
            <p:cNvSpPr txBox="1"/>
            <p:nvPr/>
          </p:nvSpPr>
          <p:spPr>
            <a:xfrm>
              <a:off x="10892819" y="4385420"/>
              <a:ext cx="718145" cy="245965"/>
            </a:xfrm>
            <a:prstGeom prst="rect">
              <a:avLst/>
            </a:prstGeom>
            <a:noFill/>
          </p:spPr>
          <p:txBody>
            <a:bodyPr wrap="none" lIns="0" tIns="0" rIns="0" bIns="0" rtlCol="0">
              <a:spAutoFit/>
            </a:bodyPr>
            <a:lstStyle/>
            <a:p>
              <a:pPr algn="ctr">
                <a:lnSpc>
                  <a:spcPct val="120000"/>
                </a:lnSpc>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品牌介绍</a:t>
              </a:r>
              <a:endParaRPr lang="zh-CN" altLang="en-US" sz="1400" b="1" dirty="0">
                <a:solidFill>
                  <a:srgbClr val="FFFFFF"/>
                </a:solidFill>
                <a:latin typeface="微软雅黑"/>
                <a:ea typeface="微软雅黑"/>
                <a:cs typeface="微软雅黑"/>
              </a:endParaRPr>
            </a:p>
          </p:txBody>
        </p:sp>
      </p:grpSp>
      <p:sp>
        <p:nvSpPr>
          <p:cNvPr id="123" name="文本框 122"/>
          <p:cNvSpPr txBox="1"/>
          <p:nvPr/>
        </p:nvSpPr>
        <p:spPr>
          <a:xfrm>
            <a:off x="621667" y="4173819"/>
            <a:ext cx="827151" cy="245965"/>
          </a:xfrm>
          <a:prstGeom prst="rect">
            <a:avLst/>
          </a:prstGeom>
          <a:noFill/>
        </p:spPr>
        <p:txBody>
          <a:bodyPr wrap="none" lIns="0" tIns="0" rIns="0" bIns="0" rtlCol="0">
            <a:spAutoFit/>
          </a:bodyPr>
          <a:lstStyle/>
          <a:p>
            <a:pPr algn="ctr">
              <a:lnSpc>
                <a:spcPct val="120000"/>
              </a:lnSpc>
              <a:defRPr>
                <a:latin typeface="微软雅黑"/>
                <a:ea typeface="微软雅黑"/>
                <a:cs typeface="微软雅黑"/>
              </a:defRPr>
            </a:pPr>
            <a:r>
              <a:rPr lang="zh-CN" altLang="en-US" sz="1400" dirty="0">
                <a:solidFill>
                  <a:srgbClr val="0042FF"/>
                </a:solidFill>
                <a:latin typeface="微软雅黑"/>
                <a:ea typeface="微软雅黑"/>
                <a:cs typeface="微软雅黑"/>
              </a:rPr>
              <a:t>裂变</a:t>
            </a:r>
            <a:r>
              <a:rPr lang="en-US" altLang="zh-CN" sz="1400" dirty="0">
                <a:solidFill>
                  <a:srgbClr val="0042FF"/>
                </a:solidFill>
                <a:latin typeface="微软雅黑"/>
                <a:ea typeface="微软雅黑"/>
                <a:cs typeface="微软雅黑"/>
              </a:rPr>
              <a:t>+</a:t>
            </a:r>
            <a:r>
              <a:rPr lang="zh-CN" altLang="en-US" sz="1400" dirty="0">
                <a:solidFill>
                  <a:srgbClr val="0042FF"/>
                </a:solidFill>
                <a:latin typeface="微软雅黑"/>
                <a:ea typeface="微软雅黑"/>
                <a:cs typeface="微软雅黑"/>
              </a:rPr>
              <a:t>精准</a:t>
            </a:r>
            <a:endParaRPr lang="zh-CN" altLang="en-US" sz="1400" dirty="0">
              <a:solidFill>
                <a:srgbClr val="0042FF"/>
              </a:solidFill>
              <a:latin typeface="微软雅黑"/>
              <a:ea typeface="微软雅黑"/>
              <a:cs typeface="微软雅黑"/>
            </a:endParaRPr>
          </a:p>
        </p:txBody>
      </p:sp>
      <p:sp>
        <p:nvSpPr>
          <p:cNvPr id="125" name="Object 5" descr="preencoded.png"/>
          <p:cNvSpPr/>
          <p:nvPr/>
        </p:nvSpPr>
        <p:spPr>
          <a:xfrm>
            <a:off x="6359525" y="3884930"/>
            <a:ext cx="1197610" cy="575310"/>
          </a:xfrm>
          <a:prstGeom prst="roundRect">
            <a:avLst/>
          </a:prstGeom>
          <a:solidFill>
            <a:srgbClr val="0042FF"/>
          </a:solidFill>
          <a:ln w="7620"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27" name="Object26"/>
          <p:cNvSpPr/>
          <p:nvPr/>
        </p:nvSpPr>
        <p:spPr>
          <a:xfrm>
            <a:off x="6496685" y="3928745"/>
            <a:ext cx="923290" cy="471170"/>
          </a:xfrm>
          <a:prstGeom prst="rect">
            <a:avLst/>
          </a:prstGeom>
          <a:noFill/>
        </p:spPr>
        <p:txBody>
          <a:bodyPr wrap="none" lIns="0" tIns="0" rIns="0" bIns="0" rtlCol="0" anchor="t">
            <a:spAutoFit/>
          </a:bodyPr>
          <a:lstStyle/>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部门人员精简</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合理优化</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41" name="Object 5" descr="preencoded.png"/>
          <p:cNvSpPr/>
          <p:nvPr/>
        </p:nvSpPr>
        <p:spPr>
          <a:xfrm>
            <a:off x="7948295" y="3883660"/>
            <a:ext cx="1197610" cy="575310"/>
          </a:xfrm>
          <a:prstGeom prst="roundRect">
            <a:avLst/>
          </a:prstGeom>
          <a:solidFill>
            <a:srgbClr val="0042FF"/>
          </a:solidFill>
          <a:ln w="7620"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44" name="Object26"/>
          <p:cNvSpPr/>
          <p:nvPr/>
        </p:nvSpPr>
        <p:spPr>
          <a:xfrm>
            <a:off x="8085455" y="3927475"/>
            <a:ext cx="923290" cy="471170"/>
          </a:xfrm>
          <a:prstGeom prst="rect">
            <a:avLst/>
          </a:prstGeom>
          <a:noFill/>
        </p:spPr>
        <p:txBody>
          <a:bodyPr wrap="none" lIns="0" tIns="0" rIns="0" bIns="0" rtlCol="0" anchor="t">
            <a:spAutoFit/>
          </a:bodyPr>
          <a:lstStyle/>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线下营销</a:t>
            </a:r>
            <a:endParaRPr kumimoji="0" lang="en-US" altLang="zh-CN"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实现用户增长</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46" name="Object 5" descr="preencoded.png"/>
          <p:cNvSpPr/>
          <p:nvPr/>
        </p:nvSpPr>
        <p:spPr>
          <a:xfrm>
            <a:off x="9537065" y="3884295"/>
            <a:ext cx="1197610" cy="575310"/>
          </a:xfrm>
          <a:prstGeom prst="roundRect">
            <a:avLst/>
          </a:prstGeom>
          <a:solidFill>
            <a:srgbClr val="0042FF"/>
          </a:solidFill>
          <a:ln w="7620"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lvl="0" algn="l">
              <a:buClrTx/>
              <a:buSzTx/>
              <a:buFontTx/>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sp>
        <p:nvSpPr>
          <p:cNvPr id="147" name="Object26"/>
          <p:cNvSpPr/>
          <p:nvPr/>
        </p:nvSpPr>
        <p:spPr>
          <a:xfrm>
            <a:off x="9674225" y="3928110"/>
            <a:ext cx="923290" cy="471170"/>
          </a:xfrm>
          <a:prstGeom prst="rect">
            <a:avLst/>
          </a:prstGeom>
          <a:noFill/>
        </p:spPr>
        <p:txBody>
          <a:bodyPr wrap="none" lIns="0" tIns="0" rIns="0" bIns="0" rtlCol="0" anchor="t">
            <a:spAutoFit/>
          </a:bodyPr>
          <a:lstStyle/>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线上营销</a:t>
            </a:r>
            <a:endParaRPr kumimoji="0" lang="en-US" altLang="zh-CN"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731520" rtl="0" eaLnBrk="1" fontAlgn="auto" latinLnBrk="0" hangingPunct="1">
              <a:lnSpc>
                <a:spcPts val="192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rPr>
              <a:t>实现用户增长</a:t>
            </a:r>
            <a:endParaRPr kumimoji="0" lang="zh-CN" altLang="en-US" sz="120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48" name="文本框 147"/>
          <p:cNvSpPr txBox="1"/>
          <p:nvPr/>
        </p:nvSpPr>
        <p:spPr>
          <a:xfrm>
            <a:off x="10864831" y="4153275"/>
            <a:ext cx="827151" cy="245965"/>
          </a:xfrm>
          <a:prstGeom prst="rect">
            <a:avLst/>
          </a:prstGeom>
          <a:noFill/>
        </p:spPr>
        <p:txBody>
          <a:bodyPr wrap="none" lIns="0" tIns="0" rIns="0" bIns="0" rtlCol="0">
            <a:spAutoFit/>
          </a:bodyPr>
          <a:lstStyle/>
          <a:p>
            <a:pPr algn="ctr">
              <a:lnSpc>
                <a:spcPct val="120000"/>
              </a:lnSpc>
              <a:defRPr>
                <a:latin typeface="微软雅黑"/>
                <a:ea typeface="微软雅黑"/>
                <a:cs typeface="微软雅黑"/>
              </a:defRPr>
            </a:pPr>
            <a:r>
              <a:rPr lang="zh-CN" altLang="en-US" sz="1400" dirty="0">
                <a:solidFill>
                  <a:srgbClr val="0042FF"/>
                </a:solidFill>
                <a:latin typeface="微软雅黑"/>
                <a:ea typeface="微软雅黑"/>
                <a:cs typeface="微软雅黑"/>
              </a:rPr>
              <a:t>内推</a:t>
            </a:r>
            <a:r>
              <a:rPr lang="en-US" altLang="zh-CN" sz="1400" dirty="0">
                <a:solidFill>
                  <a:srgbClr val="0042FF"/>
                </a:solidFill>
                <a:latin typeface="微软雅黑"/>
                <a:ea typeface="微软雅黑"/>
                <a:cs typeface="微软雅黑"/>
              </a:rPr>
              <a:t>+</a:t>
            </a:r>
            <a:r>
              <a:rPr lang="zh-CN" altLang="en-US" sz="1400" dirty="0">
                <a:solidFill>
                  <a:srgbClr val="0042FF"/>
                </a:solidFill>
                <a:latin typeface="微软雅黑"/>
                <a:ea typeface="微软雅黑"/>
                <a:cs typeface="微软雅黑"/>
              </a:rPr>
              <a:t>口碑</a:t>
            </a:r>
            <a:endParaRPr lang="zh-CN" altLang="en-US" sz="1400" dirty="0">
              <a:solidFill>
                <a:srgbClr val="0042FF"/>
              </a:solidFill>
              <a:latin typeface="微软雅黑"/>
              <a:ea typeface="微软雅黑"/>
              <a:cs typeface="微软雅黑"/>
            </a:endParaRPr>
          </a:p>
        </p:txBody>
      </p:sp>
      <p:sp>
        <p:nvSpPr>
          <p:cNvPr id="149" name="右大括号 148"/>
          <p:cNvSpPr/>
          <p:nvPr/>
        </p:nvSpPr>
        <p:spPr>
          <a:xfrm rot="16200000" flipV="1">
            <a:off x="3511561" y="1858742"/>
            <a:ext cx="136248" cy="1356188"/>
          </a:xfrm>
          <a:prstGeom prst="rightBrace">
            <a:avLst>
              <a:gd name="adj1" fmla="val 45711"/>
              <a:gd name="adj2" fmla="val 50244"/>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cxnSp>
        <p:nvCxnSpPr>
          <p:cNvPr id="151" name="直接连接符 150"/>
          <p:cNvCxnSpPr>
            <a:stCxn id="149" idx="1"/>
          </p:cNvCxnSpPr>
          <p:nvPr/>
        </p:nvCxnSpPr>
        <p:spPr>
          <a:xfrm flipV="1">
            <a:off x="3576320" y="1911985"/>
            <a:ext cx="2540" cy="556260"/>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155" name="任意多边形: 形状 82"/>
          <p:cNvSpPr/>
          <p:nvPr/>
        </p:nvSpPr>
        <p:spPr>
          <a:xfrm rot="16200000">
            <a:off x="3646170" y="1649095"/>
            <a:ext cx="149860" cy="127000"/>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668EFF"/>
          </a:solidFill>
          <a:ln>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1400" dirty="0">
              <a:solidFill>
                <a:srgbClr val="FFFFFF"/>
              </a:solidFill>
              <a:latin typeface="微软雅黑"/>
              <a:ea typeface="微软雅黑"/>
              <a:cs typeface="微软雅黑"/>
            </a:endParaRPr>
          </a:p>
        </p:txBody>
      </p:sp>
      <p:sp>
        <p:nvSpPr>
          <p:cNvPr id="157" name="任意多边形: 形状 84"/>
          <p:cNvSpPr/>
          <p:nvPr/>
        </p:nvSpPr>
        <p:spPr>
          <a:xfrm rot="16200000">
            <a:off x="8397240" y="1649095"/>
            <a:ext cx="149860" cy="127000"/>
          </a:xfrm>
          <a:custGeom>
            <a:avLst/>
            <a:gdLst>
              <a:gd name="connsiteX0" fmla="*/ 180975 w 361950"/>
              <a:gd name="connsiteY0" fmla="*/ 269780 h 269780"/>
              <a:gd name="connsiteX1" fmla="*/ 0 w 361950"/>
              <a:gd name="connsiteY1" fmla="*/ 115379 h 269780"/>
              <a:gd name="connsiteX2" fmla="*/ 0 w 361950"/>
              <a:gd name="connsiteY2" fmla="*/ 0 h 269780"/>
              <a:gd name="connsiteX3" fmla="*/ 180975 w 361950"/>
              <a:gd name="connsiteY3" fmla="*/ 154401 h 269780"/>
              <a:gd name="connsiteX4" fmla="*/ 361950 w 361950"/>
              <a:gd name="connsiteY4" fmla="*/ 0 h 269780"/>
              <a:gd name="connsiteX5" fmla="*/ 361950 w 361950"/>
              <a:gd name="connsiteY5" fmla="*/ 115379 h 269780"/>
              <a:gd name="connsiteX6" fmla="*/ 180975 w 361950"/>
              <a:gd name="connsiteY6" fmla="*/ 269780 h 26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9780">
                <a:moveTo>
                  <a:pt x="180975" y="269780"/>
                </a:moveTo>
                <a:lnTo>
                  <a:pt x="0" y="115379"/>
                </a:lnTo>
                <a:lnTo>
                  <a:pt x="0" y="0"/>
                </a:lnTo>
                <a:lnTo>
                  <a:pt x="180975" y="154401"/>
                </a:lnTo>
                <a:lnTo>
                  <a:pt x="361950" y="0"/>
                </a:lnTo>
                <a:lnTo>
                  <a:pt x="361950" y="115379"/>
                </a:lnTo>
                <a:lnTo>
                  <a:pt x="180975" y="269780"/>
                </a:lnTo>
                <a:close/>
              </a:path>
            </a:pathLst>
          </a:custGeom>
          <a:solidFill>
            <a:srgbClr val="668EFF"/>
          </a:solidFill>
          <a:ln>
            <a:noFill/>
          </a:ln>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endParaRPr lang="zh-CN" altLang="en-US" sz="1400" dirty="0">
              <a:solidFill>
                <a:srgbClr val="FFFFFF"/>
              </a:solidFill>
              <a:latin typeface="微软雅黑"/>
              <a:ea typeface="微软雅黑"/>
              <a:cs typeface="微软雅黑"/>
            </a:endParaRPr>
          </a:p>
        </p:txBody>
      </p:sp>
      <p:sp>
        <p:nvSpPr>
          <p:cNvPr id="165" name="矩形: 圆角 92"/>
          <p:cNvSpPr/>
          <p:nvPr/>
        </p:nvSpPr>
        <p:spPr>
          <a:xfrm>
            <a:off x="882266" y="4878582"/>
            <a:ext cx="10396140" cy="1531341"/>
          </a:xfrm>
          <a:prstGeom prst="roundRect">
            <a:avLst>
              <a:gd name="adj" fmla="val 3817"/>
            </a:avLst>
          </a:prstGeom>
          <a:solidFill>
            <a:srgbClr val="FFFFFF">
              <a:alpha val="20000"/>
            </a:srgbClr>
          </a:solidFill>
          <a:ln>
            <a:solidFill>
              <a:srgbClr val="3368FF"/>
            </a:solidFill>
            <a:prstDash val="dash"/>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grpSp>
        <p:nvGrpSpPr>
          <p:cNvPr id="166" name="组合 165"/>
          <p:cNvGrpSpPr/>
          <p:nvPr/>
        </p:nvGrpSpPr>
        <p:grpSpPr>
          <a:xfrm>
            <a:off x="1493866" y="5165988"/>
            <a:ext cx="9366648" cy="983647"/>
            <a:chOff x="1114878" y="5165988"/>
            <a:chExt cx="9366648" cy="983647"/>
          </a:xfrm>
        </p:grpSpPr>
        <p:grpSp>
          <p:nvGrpSpPr>
            <p:cNvPr id="167" name="组合 166"/>
            <p:cNvGrpSpPr/>
            <p:nvPr/>
          </p:nvGrpSpPr>
          <p:grpSpPr>
            <a:xfrm>
              <a:off x="2518797" y="5165988"/>
              <a:ext cx="7962729" cy="983647"/>
              <a:chOff x="2518797" y="5165988"/>
              <a:chExt cx="7962729" cy="983647"/>
            </a:xfrm>
          </p:grpSpPr>
          <p:sp>
            <p:nvSpPr>
              <p:cNvPr id="168" name="文本框 167"/>
              <p:cNvSpPr txBox="1"/>
              <p:nvPr/>
            </p:nvSpPr>
            <p:spPr>
              <a:xfrm>
                <a:off x="2518797" y="5552805"/>
                <a:ext cx="7962729" cy="596830"/>
              </a:xfrm>
              <a:prstGeom prst="rect">
                <a:avLst/>
              </a:prstGeom>
              <a:noFill/>
            </p:spPr>
            <p:txBody>
              <a:bodyPr wrap="square">
                <a:spAutoFit/>
              </a:bodyPr>
              <a:lstStyle/>
              <a:p>
                <a:pPr algn="just">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rPr>
                  <a:t>包含官网建设、搜索引擎优化、软文营销等线上营销工作。包括合作伙伴会、新品发布会、技术培训会等线下营销工作，进行部门岗位架构优化调整，明确各岗位分工，协调作战。</a:t>
                </a:r>
                <a:endParaRPr lang="zh-CN" altLang="en-US" sz="1400" dirty="0">
                  <a:solidFill>
                    <a:srgbClr val="383838"/>
                  </a:solidFill>
                  <a:latin typeface="微软雅黑"/>
                  <a:ea typeface="微软雅黑"/>
                  <a:cs typeface="微软雅黑"/>
                </a:endParaRPr>
              </a:p>
            </p:txBody>
          </p:sp>
          <p:sp>
            <p:nvSpPr>
              <p:cNvPr id="169" name="文本框 168"/>
              <p:cNvSpPr txBox="1"/>
              <p:nvPr/>
            </p:nvSpPr>
            <p:spPr>
              <a:xfrm>
                <a:off x="2518797" y="5165988"/>
                <a:ext cx="3071354" cy="307777"/>
              </a:xfrm>
              <a:prstGeom prst="rect">
                <a:avLst/>
              </a:prstGeom>
              <a:noFill/>
            </p:spPr>
            <p:txBody>
              <a:bodyPr wrap="none" lIns="0" tIns="0" rIns="0" bIns="0">
                <a:spAutoFit/>
              </a:bodyPr>
              <a:lstStyle/>
              <a:p>
                <a:pPr>
                  <a:defRPr>
                    <a:latin typeface="微软雅黑"/>
                    <a:ea typeface="微软雅黑"/>
                    <a:cs typeface="微软雅黑"/>
                  </a:defRPr>
                </a:pPr>
                <a:r>
                  <a:rPr lang="zh-CN" altLang="en-US" sz="2000" b="1" dirty="0">
                    <a:solidFill>
                      <a:srgbClr val="0042FF"/>
                    </a:solidFill>
                    <a:latin typeface="微软雅黑"/>
                    <a:ea typeface="微软雅黑"/>
                    <a:cs typeface="微软雅黑"/>
                  </a:rPr>
                  <a:t>“线上营销，提升效率质量”</a:t>
                </a:r>
                <a:endParaRPr lang="zh-CN" altLang="en-US" sz="2000" b="1" dirty="0">
                  <a:solidFill>
                    <a:srgbClr val="0042FF"/>
                  </a:solidFill>
                  <a:latin typeface="微软雅黑"/>
                  <a:ea typeface="微软雅黑"/>
                  <a:cs typeface="微软雅黑"/>
                </a:endParaRPr>
              </a:p>
            </p:txBody>
          </p:sp>
        </p:grpSp>
        <p:grpSp>
          <p:nvGrpSpPr>
            <p:cNvPr id="170" name="组合 169"/>
            <p:cNvGrpSpPr/>
            <p:nvPr/>
          </p:nvGrpSpPr>
          <p:grpSpPr>
            <a:xfrm>
              <a:off x="1114878" y="5168890"/>
              <a:ext cx="975542" cy="976368"/>
              <a:chOff x="1114878" y="5100350"/>
              <a:chExt cx="975542" cy="976368"/>
            </a:xfrm>
          </p:grpSpPr>
          <p:sp>
            <p:nvSpPr>
              <p:cNvPr id="171" name="Object 5" descr="preencoded.png"/>
              <p:cNvSpPr/>
              <p:nvPr/>
            </p:nvSpPr>
            <p:spPr>
              <a:xfrm>
                <a:off x="1114878" y="5100350"/>
                <a:ext cx="975542" cy="976368"/>
              </a:xfrm>
              <a:prstGeom prst="ellipse">
                <a:avLst/>
              </a:prstGeom>
              <a:solidFill>
                <a:srgbClr val="3368FF"/>
              </a:solidFill>
              <a:ln w="7620" cap="flat">
                <a:noFill/>
                <a:prstDash val="solid"/>
                <a:miter/>
              </a:ln>
              <a:effectLst/>
            </p:spPr>
            <p:txBody>
              <a:bodyPr rot="0" spcFirstLastPara="0" vertOverflow="overflow" horzOverflow="overflow" vert="horz" wrap="square" lIns="0" tIns="0" rIns="0" bIns="0" numCol="1" spcCol="0" rtlCol="0" fromWordArt="0" anchor="ctr" anchorCtr="0" forceAA="0" compatLnSpc="1">
                <a:noAutofit/>
              </a:bodyPr>
              <a:lstStyle/>
              <a:p>
                <a:pP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sym typeface="微软雅黑"/>
                </a:endParaRPr>
              </a:p>
            </p:txBody>
          </p:sp>
          <p:pic>
            <p:nvPicPr>
              <p:cNvPr id="172" name="图形 97"/>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34150" y="5294557"/>
                <a:ext cx="530116" cy="510232"/>
              </a:xfrm>
              <a:prstGeom prst="rect">
                <a:avLst/>
              </a:prstGeom>
            </p:spPr>
          </p:pic>
        </p:grpSp>
      </p:grpSp>
      <p:cxnSp>
        <p:nvCxnSpPr>
          <p:cNvPr id="179" name="直接连接符 178"/>
          <p:cNvCxnSpPr/>
          <p:nvPr/>
        </p:nvCxnSpPr>
        <p:spPr>
          <a:xfrm flipV="1">
            <a:off x="6167755" y="1844675"/>
            <a:ext cx="0" cy="759460"/>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cxnSp>
        <p:nvCxnSpPr>
          <p:cNvPr id="185" name="直接连接符 184"/>
          <p:cNvCxnSpPr>
            <a:stCxn id="98" idx="0"/>
          </p:cNvCxnSpPr>
          <p:nvPr/>
        </p:nvCxnSpPr>
        <p:spPr>
          <a:xfrm flipV="1">
            <a:off x="8780145" y="1845310"/>
            <a:ext cx="0" cy="756285"/>
          </a:xfrm>
          <a:prstGeom prst="line">
            <a:avLst/>
          </a:prstGeom>
          <a:ln w="12700">
            <a:solidFill>
              <a:srgbClr val="DCDCDC"/>
            </a:solidFill>
            <a:prstDash val="dash"/>
          </a:ln>
        </p:spPr>
        <p:style>
          <a:lnRef idx="1">
            <a:srgbClr val="0042FF"/>
          </a:lnRef>
          <a:fillRef idx="0">
            <a:srgbClr val="0042FF"/>
          </a:fillRef>
          <a:effectRef idx="0">
            <a:srgbClr val="0042FF"/>
          </a:effectRef>
          <a:fontRef idx="minor">
            <a:srgbClr val="383838"/>
          </a:fontRef>
        </p:style>
      </p:cxnSp>
      <p:sp>
        <p:nvSpPr>
          <p:cNvPr id="9" name="圆角矩形 27+"/>
          <p:cNvSpPr/>
          <p:nvPr/>
        </p:nvSpPr>
        <p:spPr>
          <a:xfrm>
            <a:off x="3032497" y="1504586"/>
            <a:ext cx="1046480" cy="340995"/>
          </a:xfrm>
          <a:prstGeom prst="roundRect">
            <a:avLst>
              <a:gd name="adj" fmla="val 5000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sym typeface="微软雅黑"/>
              </a:rPr>
              <a:t>3-4</a:t>
            </a:r>
            <a:r>
              <a:rPr lang="zh-CN" altLang="en-US" sz="1400" dirty="0">
                <a:solidFill>
                  <a:srgbClr val="FFFFFF"/>
                </a:solidFill>
                <a:latin typeface="微软雅黑"/>
                <a:ea typeface="微软雅黑"/>
                <a:cs typeface="微软雅黑"/>
                <a:sym typeface="微软雅黑"/>
              </a:rPr>
              <a:t>月</a:t>
            </a:r>
            <a:endParaRPr lang="zh-CN" altLang="en-US" sz="1400" dirty="0">
              <a:solidFill>
                <a:srgbClr val="FFFFFF"/>
              </a:solidFill>
              <a:latin typeface="微软雅黑"/>
              <a:ea typeface="微软雅黑"/>
              <a:cs typeface="微软雅黑"/>
              <a:sym typeface="微软雅黑"/>
            </a:endParaRPr>
          </a:p>
        </p:txBody>
      </p:sp>
      <p:sp>
        <p:nvSpPr>
          <p:cNvPr id="13" name="圆角矩形 27+"/>
          <p:cNvSpPr/>
          <p:nvPr/>
        </p:nvSpPr>
        <p:spPr>
          <a:xfrm>
            <a:off x="4333612" y="1504586"/>
            <a:ext cx="1046480" cy="340995"/>
          </a:xfrm>
          <a:prstGeom prst="roundRect">
            <a:avLst>
              <a:gd name="adj" fmla="val 5000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sym typeface="微软雅黑"/>
              </a:rPr>
              <a:t>5-6</a:t>
            </a:r>
            <a:r>
              <a:rPr lang="zh-CN" altLang="en-US" sz="1400" dirty="0">
                <a:solidFill>
                  <a:srgbClr val="FFFFFF"/>
                </a:solidFill>
                <a:latin typeface="微软雅黑"/>
                <a:ea typeface="微软雅黑"/>
                <a:cs typeface="微软雅黑"/>
                <a:sym typeface="微软雅黑"/>
              </a:rPr>
              <a:t>月</a:t>
            </a:r>
            <a:endParaRPr lang="zh-CN" altLang="en-US" sz="1400" dirty="0">
              <a:solidFill>
                <a:srgbClr val="FFFFFF"/>
              </a:solidFill>
              <a:latin typeface="微软雅黑"/>
              <a:ea typeface="微软雅黑"/>
              <a:cs typeface="微软雅黑"/>
              <a:sym typeface="微软雅黑"/>
            </a:endParaRPr>
          </a:p>
        </p:txBody>
      </p:sp>
      <p:sp>
        <p:nvSpPr>
          <p:cNvPr id="15" name="圆角矩形 27+"/>
          <p:cNvSpPr/>
          <p:nvPr/>
        </p:nvSpPr>
        <p:spPr>
          <a:xfrm>
            <a:off x="5647690" y="1504586"/>
            <a:ext cx="1046480" cy="340995"/>
          </a:xfrm>
          <a:prstGeom prst="roundRect">
            <a:avLst>
              <a:gd name="adj" fmla="val 5000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sym typeface="微软雅黑"/>
              </a:rPr>
              <a:t>7-8</a:t>
            </a:r>
            <a:r>
              <a:rPr lang="zh-CN" altLang="en-US" sz="1400" dirty="0">
                <a:solidFill>
                  <a:srgbClr val="FFFFFF"/>
                </a:solidFill>
                <a:latin typeface="微软雅黑"/>
                <a:ea typeface="微软雅黑"/>
                <a:cs typeface="微软雅黑"/>
                <a:sym typeface="微软雅黑"/>
              </a:rPr>
              <a:t>月</a:t>
            </a:r>
            <a:endParaRPr lang="zh-CN" altLang="en-US" sz="1400" dirty="0">
              <a:solidFill>
                <a:srgbClr val="FFFFFF"/>
              </a:solidFill>
              <a:latin typeface="微软雅黑"/>
              <a:ea typeface="微软雅黑"/>
              <a:cs typeface="微软雅黑"/>
              <a:sym typeface="微软雅黑"/>
            </a:endParaRPr>
          </a:p>
        </p:txBody>
      </p:sp>
      <p:sp>
        <p:nvSpPr>
          <p:cNvPr id="17" name="圆角矩形 27+"/>
          <p:cNvSpPr/>
          <p:nvPr/>
        </p:nvSpPr>
        <p:spPr>
          <a:xfrm>
            <a:off x="6935842" y="1504586"/>
            <a:ext cx="1046480" cy="340995"/>
          </a:xfrm>
          <a:prstGeom prst="roundRect">
            <a:avLst>
              <a:gd name="adj" fmla="val 5000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sym typeface="微软雅黑"/>
              </a:rPr>
              <a:t>8-9</a:t>
            </a:r>
            <a:r>
              <a:rPr lang="zh-CN" altLang="en-US" sz="1400" dirty="0">
                <a:solidFill>
                  <a:srgbClr val="FFFFFF"/>
                </a:solidFill>
                <a:latin typeface="微软雅黑"/>
                <a:ea typeface="微软雅黑"/>
                <a:cs typeface="微软雅黑"/>
                <a:sym typeface="微软雅黑"/>
              </a:rPr>
              <a:t>月</a:t>
            </a:r>
            <a:endParaRPr lang="zh-CN" altLang="en-US" sz="1400" dirty="0">
              <a:solidFill>
                <a:srgbClr val="FFFFFF"/>
              </a:solidFill>
              <a:latin typeface="微软雅黑"/>
              <a:ea typeface="微软雅黑"/>
              <a:cs typeface="微软雅黑"/>
              <a:sym typeface="微软雅黑"/>
            </a:endParaRPr>
          </a:p>
        </p:txBody>
      </p:sp>
      <p:sp>
        <p:nvSpPr>
          <p:cNvPr id="19" name="圆角矩形 27+"/>
          <p:cNvSpPr/>
          <p:nvPr/>
        </p:nvSpPr>
        <p:spPr>
          <a:xfrm>
            <a:off x="8236957" y="1504586"/>
            <a:ext cx="1046480" cy="340995"/>
          </a:xfrm>
          <a:prstGeom prst="roundRect">
            <a:avLst>
              <a:gd name="adj" fmla="val 5000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sym typeface="微软雅黑"/>
              </a:rPr>
              <a:t>10-11</a:t>
            </a:r>
            <a:r>
              <a:rPr lang="zh-CN" altLang="en-US" sz="1400" dirty="0">
                <a:solidFill>
                  <a:srgbClr val="FFFFFF"/>
                </a:solidFill>
                <a:latin typeface="微软雅黑"/>
                <a:ea typeface="微软雅黑"/>
                <a:cs typeface="微软雅黑"/>
                <a:sym typeface="微软雅黑"/>
              </a:rPr>
              <a:t>月</a:t>
            </a:r>
            <a:endParaRPr lang="zh-CN" altLang="en-US" sz="1400" dirty="0">
              <a:solidFill>
                <a:srgbClr val="FFFFFF"/>
              </a:solidFill>
              <a:latin typeface="微软雅黑"/>
              <a:ea typeface="微软雅黑"/>
              <a:cs typeface="微软雅黑"/>
              <a:sym typeface="微软雅黑"/>
            </a:endParaRPr>
          </a:p>
        </p:txBody>
      </p:sp>
      <p:sp>
        <p:nvSpPr>
          <p:cNvPr id="23" name="圆角矩形 27+"/>
          <p:cNvSpPr/>
          <p:nvPr/>
        </p:nvSpPr>
        <p:spPr>
          <a:xfrm>
            <a:off x="9538072" y="1504586"/>
            <a:ext cx="1046480" cy="340995"/>
          </a:xfrm>
          <a:prstGeom prst="roundRect">
            <a:avLst>
              <a:gd name="adj" fmla="val 50000"/>
            </a:avLst>
          </a:prstGeom>
          <a:solidFill>
            <a:srgbClr val="3368FF"/>
          </a:solidFill>
          <a:ln>
            <a:noFill/>
          </a:ln>
          <a:effectLst/>
        </p:spPr>
        <p:style>
          <a:lnRef idx="2">
            <a:srgbClr val="0042FF"/>
          </a:lnRef>
          <a:fillRef idx="1">
            <a:srgbClr val="0042FF"/>
          </a:fillRef>
          <a:effectRef idx="0">
            <a:srgbClr val="0042FF"/>
          </a:effectRef>
          <a:fontRef idx="minor">
            <a:srgbClr val="FFFFFF"/>
          </a:fontRef>
        </p:style>
        <p:txBody>
          <a:bodyPr wrap="square" rtlCol="0" anchor="ctr">
            <a:noAutofit/>
          </a:bodyPr>
          <a:lstStyle/>
          <a:p>
            <a:pPr algn="ctr">
              <a:defRPr>
                <a:solidFill>
                  <a:srgbClr val="FFFFFF"/>
                </a:solidFill>
                <a:latin typeface="微软雅黑"/>
                <a:ea typeface="微软雅黑"/>
                <a:cs typeface="微软雅黑"/>
              </a:defRPr>
            </a:pPr>
            <a:r>
              <a:rPr lang="en-US" altLang="zh-CN" sz="1400" dirty="0">
                <a:solidFill>
                  <a:srgbClr val="FFFFFF"/>
                </a:solidFill>
                <a:latin typeface="微软雅黑"/>
                <a:ea typeface="微软雅黑"/>
                <a:cs typeface="微软雅黑"/>
                <a:sym typeface="微软雅黑"/>
              </a:rPr>
              <a:t>11-12</a:t>
            </a:r>
            <a:r>
              <a:rPr lang="zh-CN" altLang="en-US" sz="1400" dirty="0">
                <a:solidFill>
                  <a:srgbClr val="FFFFFF"/>
                </a:solidFill>
                <a:latin typeface="微软雅黑"/>
                <a:ea typeface="微软雅黑"/>
                <a:cs typeface="微软雅黑"/>
                <a:sym typeface="微软雅黑"/>
              </a:rPr>
              <a:t>月</a:t>
            </a:r>
            <a:endParaRPr lang="zh-CN" altLang="en-US" sz="1400" dirty="0">
              <a:solidFill>
                <a:srgbClr val="FFFFFF"/>
              </a:solidFill>
              <a:latin typeface="微软雅黑"/>
              <a:ea typeface="微软雅黑"/>
              <a:cs typeface="微软雅黑"/>
              <a:sym typeface="微软雅黑"/>
            </a:endParaRPr>
          </a:p>
        </p:txBody>
      </p:sp>
      <p:sp>
        <p:nvSpPr>
          <p:cNvPr id="24" name="椭圆 23"/>
          <p:cNvSpPr/>
          <p:nvPr/>
        </p:nvSpPr>
        <p:spPr>
          <a:xfrm>
            <a:off x="2218055" y="3092450"/>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0042FF"/>
              </a:solidFill>
              <a:latin typeface="微软雅黑"/>
              <a:ea typeface="微软雅黑"/>
              <a:cs typeface="微软雅黑"/>
              <a:sym typeface="微软雅黑"/>
            </a:endParaRPr>
          </a:p>
        </p:txBody>
      </p:sp>
      <p:sp>
        <p:nvSpPr>
          <p:cNvPr id="25" name="椭圆 24"/>
          <p:cNvSpPr/>
          <p:nvPr/>
        </p:nvSpPr>
        <p:spPr>
          <a:xfrm>
            <a:off x="2879090" y="2585720"/>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lang="zh-CN" altLang="en-US" sz="1945" dirty="0">
              <a:solidFill>
                <a:srgbClr val="383838"/>
              </a:solidFill>
              <a:latin typeface="微软雅黑"/>
              <a:ea typeface="微软雅黑"/>
              <a:cs typeface="微软雅黑"/>
              <a:sym typeface="微软雅黑"/>
            </a:endParaRPr>
          </a:p>
        </p:txBody>
      </p:sp>
      <p:sp>
        <p:nvSpPr>
          <p:cNvPr id="26" name="椭圆 25"/>
          <p:cNvSpPr/>
          <p:nvPr/>
        </p:nvSpPr>
        <p:spPr>
          <a:xfrm>
            <a:off x="4232275" y="2601595"/>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0042FF"/>
              </a:solidFill>
              <a:latin typeface="微软雅黑"/>
              <a:ea typeface="微软雅黑"/>
              <a:cs typeface="微软雅黑"/>
              <a:sym typeface="微软雅黑"/>
            </a:endParaRPr>
          </a:p>
        </p:txBody>
      </p:sp>
      <p:sp>
        <p:nvSpPr>
          <p:cNvPr id="27" name="椭圆 26"/>
          <p:cNvSpPr/>
          <p:nvPr/>
        </p:nvSpPr>
        <p:spPr>
          <a:xfrm>
            <a:off x="4831715" y="3127375"/>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latin typeface="微软雅黑"/>
              <a:ea typeface="微软雅黑"/>
              <a:cs typeface="微软雅黑"/>
              <a:sym typeface="微软雅黑"/>
            </a:endParaRPr>
          </a:p>
        </p:txBody>
      </p:sp>
      <p:sp>
        <p:nvSpPr>
          <p:cNvPr id="28" name="椭圆 27"/>
          <p:cNvSpPr/>
          <p:nvPr/>
        </p:nvSpPr>
        <p:spPr>
          <a:xfrm>
            <a:off x="6143930" y="2568575"/>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0042FF"/>
              </a:solidFill>
              <a:latin typeface="微软雅黑"/>
              <a:ea typeface="微软雅黑"/>
              <a:cs typeface="微软雅黑"/>
              <a:sym typeface="微软雅黑"/>
            </a:endParaRPr>
          </a:p>
        </p:txBody>
      </p:sp>
      <p:sp>
        <p:nvSpPr>
          <p:cNvPr id="29" name="椭圆 28"/>
          <p:cNvSpPr/>
          <p:nvPr/>
        </p:nvSpPr>
        <p:spPr>
          <a:xfrm>
            <a:off x="7450455" y="3027680"/>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0042FF"/>
              </a:solidFill>
              <a:latin typeface="微软雅黑"/>
              <a:ea typeface="微软雅黑"/>
              <a:cs typeface="微软雅黑"/>
              <a:sym typeface="微软雅黑"/>
            </a:endParaRPr>
          </a:p>
        </p:txBody>
      </p:sp>
      <p:sp>
        <p:nvSpPr>
          <p:cNvPr id="30" name="椭圆 29"/>
          <p:cNvSpPr/>
          <p:nvPr/>
        </p:nvSpPr>
        <p:spPr>
          <a:xfrm>
            <a:off x="8753475" y="2568575"/>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0042FF"/>
              </a:solidFill>
              <a:latin typeface="微软雅黑"/>
              <a:ea typeface="微软雅黑"/>
              <a:cs typeface="微软雅黑"/>
              <a:sym typeface="微软雅黑"/>
            </a:endParaRPr>
          </a:p>
        </p:txBody>
      </p:sp>
      <p:sp>
        <p:nvSpPr>
          <p:cNvPr id="31" name="椭圆 30"/>
          <p:cNvSpPr/>
          <p:nvPr/>
        </p:nvSpPr>
        <p:spPr>
          <a:xfrm>
            <a:off x="10026015" y="3107690"/>
            <a:ext cx="54000" cy="54000"/>
          </a:xfrm>
          <a:prstGeom prst="ellipse">
            <a:avLst/>
          </a:prstGeom>
          <a:solidFill>
            <a:srgbClr val="FFFFFF"/>
          </a:solidFill>
          <a:ln>
            <a:solidFill>
              <a:srgbClr val="3368FF"/>
            </a:solidFill>
          </a:ln>
          <a:effectLst>
            <a:outerShdw blurRad="50800" dist="38100" dir="2700000" algn="tl" rotWithShape="0">
              <a:prstClr val="black">
                <a:alpha val="40000"/>
              </a:prst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945" dirty="0">
              <a:solidFill>
                <a:srgbClr val="0042FF"/>
              </a:solidFill>
              <a:latin typeface="微软雅黑"/>
              <a:ea typeface="微软雅黑"/>
              <a:cs typeface="微软雅黑"/>
              <a:sym typeface="微软雅黑"/>
            </a:endParaRPr>
          </a:p>
        </p:txBody>
      </p:sp>
      <p:sp>
        <p:nvSpPr>
          <p:cNvPr id="38" name="等腰三角形 37"/>
          <p:cNvSpPr/>
          <p:nvPr/>
        </p:nvSpPr>
        <p:spPr>
          <a:xfrm rot="5400000">
            <a:off x="1370330" y="1664335"/>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39" name="等腰三角形 38"/>
          <p:cNvSpPr/>
          <p:nvPr/>
        </p:nvSpPr>
        <p:spPr>
          <a:xfrm rot="5400000">
            <a:off x="2865120" y="1661478"/>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0" name="等腰三角形 39"/>
          <p:cNvSpPr/>
          <p:nvPr/>
        </p:nvSpPr>
        <p:spPr>
          <a:xfrm rot="5400000">
            <a:off x="4164965" y="1661478"/>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1" name="等腰三角形 40"/>
          <p:cNvSpPr/>
          <p:nvPr/>
        </p:nvSpPr>
        <p:spPr>
          <a:xfrm rot="5400000">
            <a:off x="5464810" y="1661478"/>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2" name="等腰三角形 41"/>
          <p:cNvSpPr/>
          <p:nvPr/>
        </p:nvSpPr>
        <p:spPr>
          <a:xfrm rot="5400000">
            <a:off x="6764655" y="1661478"/>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3" name="等腰三角形 42"/>
          <p:cNvSpPr/>
          <p:nvPr/>
        </p:nvSpPr>
        <p:spPr>
          <a:xfrm rot="5400000">
            <a:off x="8064500" y="1661478"/>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4" name="等腰三角形 43"/>
          <p:cNvSpPr/>
          <p:nvPr/>
        </p:nvSpPr>
        <p:spPr>
          <a:xfrm rot="5400000">
            <a:off x="9364345" y="1661478"/>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5" name="等腰三角形 44"/>
          <p:cNvSpPr/>
          <p:nvPr/>
        </p:nvSpPr>
        <p:spPr>
          <a:xfrm rot="5400000">
            <a:off x="10741025" y="1661478"/>
            <a:ext cx="137795" cy="109855"/>
          </a:xfrm>
          <a:prstGeom prst="triangl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6" name="等腰三角形 45"/>
          <p:cNvSpPr/>
          <p:nvPr/>
        </p:nvSpPr>
        <p:spPr>
          <a:xfrm rot="16200000" flipH="1">
            <a:off x="2908935" y="4091305"/>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7" name="等腰三角形 46"/>
          <p:cNvSpPr/>
          <p:nvPr/>
        </p:nvSpPr>
        <p:spPr>
          <a:xfrm rot="16200000" flipH="1">
            <a:off x="4512310" y="4091305"/>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49" name="等腰三角形 48"/>
          <p:cNvSpPr/>
          <p:nvPr/>
        </p:nvSpPr>
        <p:spPr>
          <a:xfrm rot="16200000" flipH="1">
            <a:off x="6098540" y="4091305"/>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67" name="等腰三角形 66"/>
          <p:cNvSpPr/>
          <p:nvPr/>
        </p:nvSpPr>
        <p:spPr>
          <a:xfrm rot="16200000" flipH="1">
            <a:off x="7680325" y="4091305"/>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7" name="等腰三角形 76"/>
          <p:cNvSpPr/>
          <p:nvPr/>
        </p:nvSpPr>
        <p:spPr>
          <a:xfrm rot="16200000" flipH="1">
            <a:off x="6352540" y="4338320"/>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79" name="等腰三角形 78"/>
          <p:cNvSpPr/>
          <p:nvPr/>
        </p:nvSpPr>
        <p:spPr>
          <a:xfrm rot="16200000" flipH="1">
            <a:off x="9312275" y="4091305"/>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4" name="等腰三角形 83"/>
          <p:cNvSpPr/>
          <p:nvPr/>
        </p:nvSpPr>
        <p:spPr>
          <a:xfrm rot="10800000">
            <a:off x="11201400" y="3588385"/>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sp>
        <p:nvSpPr>
          <p:cNvPr id="86" name="等腰三角形 85"/>
          <p:cNvSpPr/>
          <p:nvPr/>
        </p:nvSpPr>
        <p:spPr>
          <a:xfrm flipH="1">
            <a:off x="833120" y="3582035"/>
            <a:ext cx="137795" cy="109855"/>
          </a:xfrm>
          <a:prstGeom prst="triangle">
            <a:avLst/>
          </a:prstGeom>
          <a:solidFill>
            <a:srgbClr val="0042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cs typeface="微软雅黑"/>
              <a:latin typeface="微软雅黑"/>
              <a:ea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3" name="图片 2"/>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任意多边形 202"/>
          <p:cNvSpPr/>
          <p:nvPr/>
        </p:nvSpPr>
        <p:spPr>
          <a:xfrm>
            <a:off x="142240" y="2405698"/>
            <a:ext cx="11352848" cy="1308418"/>
          </a:xfrm>
          <a:custGeom>
            <a:avLst/>
            <a:gdLst/>
            <a:ahLst/>
            <a:cxnLst>
              <a:cxn ang="3">
                <a:pos x="hc" y="t"/>
              </a:cxn>
              <a:cxn ang="cd2">
                <a:pos x="l" y="vc"/>
              </a:cxn>
              <a:cxn ang="cd4">
                <a:pos x="hc" y="b"/>
              </a:cxn>
              <a:cxn ang="0">
                <a:pos x="r" y="vc"/>
              </a:cxn>
            </a:cxnLst>
            <a:rect l="l" t="t" r="r" b="b"/>
            <a:pathLst>
              <a:path w="17879" h="2061">
                <a:moveTo>
                  <a:pt x="0" y="1493"/>
                </a:moveTo>
                <a:lnTo>
                  <a:pt x="3653" y="1493"/>
                </a:lnTo>
                <a:lnTo>
                  <a:pt x="5006" y="230"/>
                </a:lnTo>
                <a:cubicBezTo>
                  <a:pt x="5024" y="213"/>
                  <a:pt x="5052" y="205"/>
                  <a:pt x="5071" y="205"/>
                </a:cubicBezTo>
                <a:cubicBezTo>
                  <a:pt x="5080" y="205"/>
                  <a:pt x="5095" y="208"/>
                  <a:pt x="5100" y="210"/>
                </a:cubicBezTo>
                <a:lnTo>
                  <a:pt x="5100" y="202"/>
                </a:lnTo>
                <a:lnTo>
                  <a:pt x="16948" y="202"/>
                </a:lnTo>
                <a:lnTo>
                  <a:pt x="16948" y="0"/>
                </a:lnTo>
                <a:lnTo>
                  <a:pt x="17879" y="485"/>
                </a:lnTo>
                <a:lnTo>
                  <a:pt x="16948" y="970"/>
                </a:lnTo>
                <a:lnTo>
                  <a:pt x="16948" y="770"/>
                </a:lnTo>
                <a:lnTo>
                  <a:pt x="5260" y="770"/>
                </a:lnTo>
                <a:lnTo>
                  <a:pt x="3913" y="2026"/>
                </a:lnTo>
                <a:cubicBezTo>
                  <a:pt x="3895" y="2043"/>
                  <a:pt x="3867" y="2051"/>
                  <a:pt x="3848" y="2051"/>
                </a:cubicBezTo>
                <a:lnTo>
                  <a:pt x="3846" y="2051"/>
                </a:lnTo>
                <a:lnTo>
                  <a:pt x="3845" y="2051"/>
                </a:lnTo>
                <a:lnTo>
                  <a:pt x="3845" y="2061"/>
                </a:lnTo>
                <a:lnTo>
                  <a:pt x="0" y="2061"/>
                </a:lnTo>
                <a:lnTo>
                  <a:pt x="0" y="1493"/>
                </a:lnTo>
                <a:close/>
              </a:path>
            </a:pathLst>
          </a:custGeom>
          <a:gradFill>
            <a:gsLst>
              <a:gs pos="0">
                <a:srgbClr val="0042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sp>
        <p:nvSpPr>
          <p:cNvPr id="242" name="任意多边形 241"/>
          <p:cNvSpPr/>
          <p:nvPr/>
        </p:nvSpPr>
        <p:spPr>
          <a:xfrm flipV="1">
            <a:off x="146685" y="3706813"/>
            <a:ext cx="11352848" cy="1308418"/>
          </a:xfrm>
          <a:custGeom>
            <a:avLst/>
            <a:gdLst/>
            <a:ahLst/>
            <a:cxnLst>
              <a:cxn ang="3">
                <a:pos x="hc" y="t"/>
              </a:cxn>
              <a:cxn ang="cd2">
                <a:pos x="l" y="vc"/>
              </a:cxn>
              <a:cxn ang="cd4">
                <a:pos x="hc" y="b"/>
              </a:cxn>
              <a:cxn ang="0">
                <a:pos x="r" y="vc"/>
              </a:cxn>
            </a:cxnLst>
            <a:rect l="l" t="t" r="r" b="b"/>
            <a:pathLst>
              <a:path w="17879" h="2061">
                <a:moveTo>
                  <a:pt x="0" y="1493"/>
                </a:moveTo>
                <a:lnTo>
                  <a:pt x="3653" y="1493"/>
                </a:lnTo>
                <a:lnTo>
                  <a:pt x="5006" y="230"/>
                </a:lnTo>
                <a:cubicBezTo>
                  <a:pt x="5024" y="213"/>
                  <a:pt x="5052" y="205"/>
                  <a:pt x="5071" y="205"/>
                </a:cubicBezTo>
                <a:cubicBezTo>
                  <a:pt x="5080" y="205"/>
                  <a:pt x="5095" y="208"/>
                  <a:pt x="5100" y="210"/>
                </a:cubicBezTo>
                <a:lnTo>
                  <a:pt x="5100" y="202"/>
                </a:lnTo>
                <a:lnTo>
                  <a:pt x="16948" y="202"/>
                </a:lnTo>
                <a:lnTo>
                  <a:pt x="16948" y="0"/>
                </a:lnTo>
                <a:lnTo>
                  <a:pt x="17879" y="485"/>
                </a:lnTo>
                <a:lnTo>
                  <a:pt x="16948" y="970"/>
                </a:lnTo>
                <a:lnTo>
                  <a:pt x="16948" y="770"/>
                </a:lnTo>
                <a:lnTo>
                  <a:pt x="5260" y="770"/>
                </a:lnTo>
                <a:lnTo>
                  <a:pt x="3913" y="2026"/>
                </a:lnTo>
                <a:cubicBezTo>
                  <a:pt x="3895" y="2043"/>
                  <a:pt x="3867" y="2051"/>
                  <a:pt x="3848" y="2051"/>
                </a:cubicBezTo>
                <a:lnTo>
                  <a:pt x="3846" y="2051"/>
                </a:lnTo>
                <a:lnTo>
                  <a:pt x="3845" y="2051"/>
                </a:lnTo>
                <a:lnTo>
                  <a:pt x="3845" y="2061"/>
                </a:lnTo>
                <a:lnTo>
                  <a:pt x="0" y="2061"/>
                </a:lnTo>
                <a:lnTo>
                  <a:pt x="0" y="1493"/>
                </a:lnTo>
                <a:close/>
              </a:path>
            </a:pathLst>
          </a:custGeom>
          <a:gradFill>
            <a:gsLst>
              <a:gs pos="0">
                <a:srgbClr val="3368FF"/>
              </a:gs>
              <a:gs pos="100000">
                <a:srgbClr val="B3D4FE"/>
              </a:gs>
            </a:gsLst>
            <a:lin ang="5400000" scaled="0"/>
          </a:gradFill>
          <a:ln>
            <a:noFill/>
          </a:ln>
        </p:spPr>
        <p:style>
          <a:lnRef idx="2">
            <a:srgbClr val="0042FF"/>
          </a:lnRef>
          <a:fillRef idx="1">
            <a:srgbClr val="0042FF"/>
          </a:fillRef>
          <a:effectRef idx="0">
            <a:srgbClr val="FFFF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二拆时间</a:t>
            </a:r>
            <a:r>
              <a:rPr lang="en-US" altLang="zh-CN" sz="2500">
                <a:solidFill>
                  <a:srgbClr val="383838"/>
                </a:solidFill>
                <a:effectLst/>
                <a:latin typeface="微软雅黑"/>
                <a:ea typeface="微软雅黑"/>
                <a:cs typeface="微软雅黑"/>
              </a:rPr>
              <a:t>/</a:t>
            </a:r>
            <a:r>
              <a:rPr sz="2500">
                <a:solidFill>
                  <a:srgbClr val="383838"/>
                </a:solidFill>
                <a:effectLst/>
                <a:latin typeface="微软雅黑"/>
                <a:ea typeface="微软雅黑"/>
                <a:cs typeface="微软雅黑"/>
              </a:rPr>
              <a:t>项目</a:t>
            </a:r>
            <a:r>
              <a:rPr lang="zh-CN" altLang="en-US" sz="2500">
                <a:solidFill>
                  <a:srgbClr val="383838"/>
                </a:solidFill>
                <a:effectLst/>
                <a:latin typeface="微软雅黑"/>
                <a:ea typeface="微软雅黑"/>
                <a:cs typeface="微软雅黑"/>
              </a:rPr>
              <a:t>轴</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1673" name="Google Shape;1673;p34"/>
          <p:cNvCxnSpPr/>
          <p:nvPr/>
        </p:nvCxnSpPr>
        <p:spPr>
          <a:xfrm>
            <a:off x="3774440" y="1062355"/>
            <a:ext cx="0" cy="4161790"/>
          </a:xfrm>
          <a:prstGeom prst="straightConnector1">
            <a:avLst/>
          </a:prstGeom>
          <a:noFill/>
          <a:ln w="12700" cap="flat" cmpd="sng">
            <a:solidFill>
              <a:srgbClr val="DCDCDC"/>
            </a:solidFill>
            <a:prstDash val="dash"/>
            <a:miter lim="400000"/>
            <a:headEnd type="none" w="sm" len="sm"/>
            <a:tailEnd type="none" w="sm" len="sm"/>
          </a:ln>
        </p:spPr>
      </p:cxnSp>
      <p:cxnSp>
        <p:nvCxnSpPr>
          <p:cNvPr id="1674" name="Google Shape;1674;p34"/>
          <p:cNvCxnSpPr/>
          <p:nvPr/>
        </p:nvCxnSpPr>
        <p:spPr>
          <a:xfrm>
            <a:off x="5076190" y="1075690"/>
            <a:ext cx="0" cy="4148455"/>
          </a:xfrm>
          <a:prstGeom prst="straightConnector1">
            <a:avLst/>
          </a:prstGeom>
          <a:noFill/>
          <a:ln w="12700" cap="flat" cmpd="sng">
            <a:solidFill>
              <a:srgbClr val="DCDCDC"/>
            </a:solidFill>
            <a:prstDash val="dash"/>
            <a:miter lim="400000"/>
            <a:headEnd type="none" w="sm" len="sm"/>
            <a:tailEnd type="none" w="sm" len="sm"/>
          </a:ln>
        </p:spPr>
      </p:cxnSp>
      <p:cxnSp>
        <p:nvCxnSpPr>
          <p:cNvPr id="1675" name="Google Shape;1675;p34"/>
          <p:cNvCxnSpPr/>
          <p:nvPr/>
        </p:nvCxnSpPr>
        <p:spPr>
          <a:xfrm>
            <a:off x="6386195" y="996315"/>
            <a:ext cx="0" cy="4234815"/>
          </a:xfrm>
          <a:prstGeom prst="straightConnector1">
            <a:avLst/>
          </a:prstGeom>
          <a:noFill/>
          <a:ln w="12700" cap="flat" cmpd="sng">
            <a:solidFill>
              <a:srgbClr val="DCDCDC"/>
            </a:solidFill>
            <a:prstDash val="dash"/>
            <a:miter lim="400000"/>
            <a:headEnd type="none" w="sm" len="sm"/>
            <a:tailEnd type="none" w="sm" len="sm"/>
          </a:ln>
        </p:spPr>
      </p:cxnSp>
      <p:cxnSp>
        <p:nvCxnSpPr>
          <p:cNvPr id="1676" name="Google Shape;1676;p34"/>
          <p:cNvCxnSpPr/>
          <p:nvPr/>
        </p:nvCxnSpPr>
        <p:spPr>
          <a:xfrm>
            <a:off x="7681595" y="989330"/>
            <a:ext cx="0" cy="4255770"/>
          </a:xfrm>
          <a:prstGeom prst="straightConnector1">
            <a:avLst/>
          </a:prstGeom>
          <a:noFill/>
          <a:ln w="12700" cap="flat" cmpd="sng">
            <a:solidFill>
              <a:srgbClr val="DCDCDC"/>
            </a:solidFill>
            <a:prstDash val="dash"/>
            <a:miter lim="400000"/>
            <a:headEnd type="none" w="sm" len="sm"/>
            <a:tailEnd type="none" w="sm" len="sm"/>
          </a:ln>
        </p:spPr>
      </p:cxnSp>
      <p:cxnSp>
        <p:nvCxnSpPr>
          <p:cNvPr id="1677" name="Google Shape;1677;p34"/>
          <p:cNvCxnSpPr/>
          <p:nvPr/>
        </p:nvCxnSpPr>
        <p:spPr>
          <a:xfrm>
            <a:off x="8999855" y="1010920"/>
            <a:ext cx="0" cy="4268470"/>
          </a:xfrm>
          <a:prstGeom prst="straightConnector1">
            <a:avLst/>
          </a:prstGeom>
          <a:noFill/>
          <a:ln w="12700" cap="flat" cmpd="sng">
            <a:solidFill>
              <a:srgbClr val="DCDCDC"/>
            </a:solidFill>
            <a:prstDash val="dash"/>
            <a:miter lim="400000"/>
            <a:headEnd type="none" w="sm" len="sm"/>
            <a:tailEnd type="none" w="sm" len="sm"/>
          </a:ln>
        </p:spPr>
      </p:cxnSp>
      <p:cxnSp>
        <p:nvCxnSpPr>
          <p:cNvPr id="1678" name="Google Shape;1678;p34"/>
          <p:cNvCxnSpPr/>
          <p:nvPr/>
        </p:nvCxnSpPr>
        <p:spPr>
          <a:xfrm>
            <a:off x="10301605" y="1003300"/>
            <a:ext cx="0" cy="4290060"/>
          </a:xfrm>
          <a:prstGeom prst="straightConnector1">
            <a:avLst/>
          </a:prstGeom>
          <a:noFill/>
          <a:ln w="12700" cap="flat" cmpd="sng">
            <a:solidFill>
              <a:srgbClr val="DCDCDC"/>
            </a:solidFill>
            <a:prstDash val="dash"/>
            <a:miter lim="400000"/>
            <a:headEnd type="none" w="sm" len="sm"/>
            <a:tailEnd type="none" w="sm" len="sm"/>
          </a:ln>
        </p:spPr>
      </p:cxnSp>
      <p:sp>
        <p:nvSpPr>
          <p:cNvPr id="1680" name="Google Shape;1680;p34"/>
          <p:cNvSpPr txBox="1"/>
          <p:nvPr/>
        </p:nvSpPr>
        <p:spPr>
          <a:xfrm>
            <a:off x="3829050" y="3402965"/>
            <a:ext cx="1135380" cy="81978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lang="zh-CN" altLang="en-US" sz="1000" dirty="0">
                <a:solidFill>
                  <a:srgbClr val="383838"/>
                </a:solidFill>
                <a:latin typeface="微软雅黑"/>
                <a:ea typeface="微软雅黑"/>
                <a:cs typeface="微软雅黑"/>
                <a:sym typeface="微软雅黑"/>
              </a:rPr>
              <a:t>通过收集用户反馈和市场调研，了解用户真实需求和市场趋势，为优化方向提供依据。</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681" name="Google Shape;1681;p34"/>
          <p:cNvSpPr txBox="1"/>
          <p:nvPr/>
        </p:nvSpPr>
        <p:spPr>
          <a:xfrm>
            <a:off x="3832225" y="3138805"/>
            <a:ext cx="1119505" cy="23495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prstClr val="black"/>
              </a:buClr>
              <a:buSzPts val="1000"/>
              <a:buFontTx/>
              <a:buNone/>
              <a:defRPr>
                <a:solidFill>
                  <a:srgbClr val="383838"/>
                </a:solidFill>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需求分析</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709" name="Google Shape;1709;p34"/>
          <p:cNvSpPr/>
          <p:nvPr/>
        </p:nvSpPr>
        <p:spPr>
          <a:xfrm>
            <a:off x="3528060" y="2001520"/>
            <a:ext cx="495935" cy="269875"/>
          </a:xfrm>
          <a:prstGeom prst="roundRect">
            <a:avLst>
              <a:gd name="adj" fmla="val 50000"/>
            </a:avLst>
          </a:prstGeom>
          <a:solidFill>
            <a:srgbClr val="0042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1"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710" name="Google Shape;1710;p34"/>
          <p:cNvSpPr/>
          <p:nvPr/>
        </p:nvSpPr>
        <p:spPr>
          <a:xfrm>
            <a:off x="3591560" y="2023745"/>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0042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01</a:t>
            </a:r>
            <a:endPar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12" name="Google Shape;1712;p34"/>
          <p:cNvSpPr/>
          <p:nvPr/>
        </p:nvSpPr>
        <p:spPr>
          <a:xfrm>
            <a:off x="4832985" y="2001520"/>
            <a:ext cx="495935" cy="269875"/>
          </a:xfrm>
          <a:prstGeom prst="roundRect">
            <a:avLst>
              <a:gd name="adj" fmla="val 50000"/>
            </a:avLst>
          </a:prstGeom>
          <a:solidFill>
            <a:srgbClr val="0042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1"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713" name="Google Shape;1713;p34"/>
          <p:cNvSpPr/>
          <p:nvPr/>
        </p:nvSpPr>
        <p:spPr>
          <a:xfrm>
            <a:off x="4896485" y="2023745"/>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0042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02</a:t>
            </a:r>
            <a:endPar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15" name="Google Shape;1715;p34"/>
          <p:cNvSpPr/>
          <p:nvPr/>
        </p:nvSpPr>
        <p:spPr>
          <a:xfrm>
            <a:off x="6138545" y="2001520"/>
            <a:ext cx="495935" cy="269875"/>
          </a:xfrm>
          <a:prstGeom prst="roundRect">
            <a:avLst>
              <a:gd name="adj" fmla="val 50000"/>
            </a:avLst>
          </a:prstGeom>
          <a:solidFill>
            <a:srgbClr val="0042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1"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716" name="Google Shape;1716;p34"/>
          <p:cNvSpPr/>
          <p:nvPr/>
        </p:nvSpPr>
        <p:spPr>
          <a:xfrm>
            <a:off x="6201410" y="2023745"/>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0042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03</a:t>
            </a:r>
            <a:endPar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18" name="Google Shape;1718;p34"/>
          <p:cNvSpPr/>
          <p:nvPr/>
        </p:nvSpPr>
        <p:spPr>
          <a:xfrm>
            <a:off x="7443470" y="2001520"/>
            <a:ext cx="495935" cy="269875"/>
          </a:xfrm>
          <a:prstGeom prst="roundRect">
            <a:avLst>
              <a:gd name="adj" fmla="val 50000"/>
            </a:avLst>
          </a:prstGeom>
          <a:solidFill>
            <a:srgbClr val="0042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19" name="Google Shape;1719;p34"/>
          <p:cNvSpPr/>
          <p:nvPr/>
        </p:nvSpPr>
        <p:spPr>
          <a:xfrm>
            <a:off x="7506335" y="2023745"/>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0042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04</a:t>
            </a:r>
            <a:endPar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21" name="Google Shape;1721;p34"/>
          <p:cNvSpPr/>
          <p:nvPr/>
        </p:nvSpPr>
        <p:spPr>
          <a:xfrm>
            <a:off x="8748395" y="2001520"/>
            <a:ext cx="495935" cy="269875"/>
          </a:xfrm>
          <a:prstGeom prst="roundRect">
            <a:avLst>
              <a:gd name="adj" fmla="val 50000"/>
            </a:avLst>
          </a:prstGeom>
          <a:solidFill>
            <a:srgbClr val="0042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1"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722" name="Google Shape;1722;p34"/>
          <p:cNvSpPr/>
          <p:nvPr/>
        </p:nvSpPr>
        <p:spPr>
          <a:xfrm>
            <a:off x="8811895" y="2023745"/>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0042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05</a:t>
            </a:r>
            <a:endPar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24" name="Google Shape;1724;p34"/>
          <p:cNvSpPr/>
          <p:nvPr/>
        </p:nvSpPr>
        <p:spPr>
          <a:xfrm>
            <a:off x="10053320" y="2001520"/>
            <a:ext cx="495935" cy="269875"/>
          </a:xfrm>
          <a:prstGeom prst="roundRect">
            <a:avLst>
              <a:gd name="adj" fmla="val 50000"/>
            </a:avLst>
          </a:prstGeom>
          <a:solidFill>
            <a:srgbClr val="0042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1"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1725" name="Google Shape;1725;p34"/>
          <p:cNvSpPr/>
          <p:nvPr/>
        </p:nvSpPr>
        <p:spPr>
          <a:xfrm>
            <a:off x="10116820" y="2023745"/>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0042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06</a:t>
            </a:r>
            <a:endParaRPr kumimoji="0" lang="en-US" alt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726" name="Google Shape;1726;p34"/>
          <p:cNvSpPr/>
          <p:nvPr/>
        </p:nvSpPr>
        <p:spPr>
          <a:xfrm>
            <a:off x="3650615" y="259524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27" name="Google Shape;1727;p34"/>
          <p:cNvSpPr/>
          <p:nvPr/>
        </p:nvSpPr>
        <p:spPr>
          <a:xfrm>
            <a:off x="4954905" y="259524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28" name="Google Shape;1728;p34"/>
          <p:cNvSpPr/>
          <p:nvPr/>
        </p:nvSpPr>
        <p:spPr>
          <a:xfrm>
            <a:off x="7558405" y="259524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29" name="Google Shape;1729;p34"/>
          <p:cNvSpPr/>
          <p:nvPr/>
        </p:nvSpPr>
        <p:spPr>
          <a:xfrm>
            <a:off x="6259830" y="259524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0" name="Google Shape;1730;p34"/>
          <p:cNvSpPr/>
          <p:nvPr/>
        </p:nvSpPr>
        <p:spPr>
          <a:xfrm>
            <a:off x="8869680" y="259524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1" name="Google Shape;1731;p34"/>
          <p:cNvSpPr/>
          <p:nvPr/>
        </p:nvSpPr>
        <p:spPr>
          <a:xfrm>
            <a:off x="10174605" y="259524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2" name="Google Shape;1732;p34"/>
          <p:cNvSpPr/>
          <p:nvPr/>
        </p:nvSpPr>
        <p:spPr>
          <a:xfrm>
            <a:off x="3654425" y="458152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3" name="Google Shape;1733;p34"/>
          <p:cNvSpPr/>
          <p:nvPr/>
        </p:nvSpPr>
        <p:spPr>
          <a:xfrm>
            <a:off x="4959350" y="458152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4" name="Google Shape;1734;p34"/>
          <p:cNvSpPr/>
          <p:nvPr/>
        </p:nvSpPr>
        <p:spPr>
          <a:xfrm>
            <a:off x="7562850" y="458152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5" name="Google Shape;1735;p34"/>
          <p:cNvSpPr/>
          <p:nvPr/>
        </p:nvSpPr>
        <p:spPr>
          <a:xfrm>
            <a:off x="6264275" y="458152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6" name="Google Shape;1736;p34"/>
          <p:cNvSpPr/>
          <p:nvPr/>
        </p:nvSpPr>
        <p:spPr>
          <a:xfrm>
            <a:off x="8874125" y="458152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737" name="Google Shape;1737;p34"/>
          <p:cNvSpPr/>
          <p:nvPr/>
        </p:nvSpPr>
        <p:spPr>
          <a:xfrm>
            <a:off x="10178415" y="4581525"/>
            <a:ext cx="252095" cy="252095"/>
          </a:xfrm>
          <a:custGeom>
            <a:avLst/>
            <a:gdLst/>
            <a:ahLst/>
            <a:cxnLst/>
            <a:rect l="l" t="t" r="r" b="b"/>
            <a:pathLst>
              <a:path w="21600" h="21600" extrusionOk="0">
                <a:moveTo>
                  <a:pt x="12764" y="1178"/>
                </a:moveTo>
                <a:lnTo>
                  <a:pt x="12764" y="3191"/>
                </a:lnTo>
                <a:cubicBezTo>
                  <a:pt x="15533" y="3905"/>
                  <a:pt x="17695" y="6067"/>
                  <a:pt x="18409" y="8836"/>
                </a:cubicBezTo>
                <a:lnTo>
                  <a:pt x="20422" y="8836"/>
                </a:lnTo>
                <a:cubicBezTo>
                  <a:pt x="19635" y="4979"/>
                  <a:pt x="16621" y="1965"/>
                  <a:pt x="12764" y="1178"/>
                </a:cubicBezTo>
                <a:close/>
                <a:moveTo>
                  <a:pt x="1178" y="8836"/>
                </a:moveTo>
                <a:lnTo>
                  <a:pt x="3191" y="8836"/>
                </a:lnTo>
                <a:cubicBezTo>
                  <a:pt x="3905" y="6067"/>
                  <a:pt x="6067" y="3905"/>
                  <a:pt x="8836" y="3191"/>
                </a:cubicBezTo>
                <a:lnTo>
                  <a:pt x="8836" y="1227"/>
                </a:lnTo>
                <a:cubicBezTo>
                  <a:pt x="4993" y="2007"/>
                  <a:pt x="1982" y="4998"/>
                  <a:pt x="1178" y="8836"/>
                </a:cubicBezTo>
                <a:close/>
                <a:moveTo>
                  <a:pt x="18409" y="12764"/>
                </a:moveTo>
                <a:cubicBezTo>
                  <a:pt x="17695" y="15533"/>
                  <a:pt x="15533" y="17695"/>
                  <a:pt x="12764" y="18409"/>
                </a:cubicBezTo>
                <a:lnTo>
                  <a:pt x="12764" y="20422"/>
                </a:lnTo>
                <a:cubicBezTo>
                  <a:pt x="16621" y="19635"/>
                  <a:pt x="19635" y="16621"/>
                  <a:pt x="20422" y="12764"/>
                </a:cubicBezTo>
                <a:close/>
                <a:moveTo>
                  <a:pt x="3191" y="12764"/>
                </a:moveTo>
                <a:lnTo>
                  <a:pt x="1227" y="12764"/>
                </a:lnTo>
                <a:cubicBezTo>
                  <a:pt x="2007" y="16607"/>
                  <a:pt x="4998" y="19618"/>
                  <a:pt x="8836" y="20422"/>
                </a:cubicBezTo>
                <a:lnTo>
                  <a:pt x="8836" y="18409"/>
                </a:lnTo>
                <a:cubicBezTo>
                  <a:pt x="6067" y="17695"/>
                  <a:pt x="3905" y="15533"/>
                  <a:pt x="3191" y="12764"/>
                </a:cubicBezTo>
                <a:close/>
                <a:moveTo>
                  <a:pt x="3927" y="11782"/>
                </a:moveTo>
                <a:lnTo>
                  <a:pt x="0" y="11782"/>
                </a:lnTo>
                <a:lnTo>
                  <a:pt x="0" y="9818"/>
                </a:lnTo>
                <a:lnTo>
                  <a:pt x="3927" y="9818"/>
                </a:lnTo>
                <a:close/>
                <a:moveTo>
                  <a:pt x="11782" y="3927"/>
                </a:moveTo>
                <a:lnTo>
                  <a:pt x="9818" y="3927"/>
                </a:lnTo>
                <a:lnTo>
                  <a:pt x="9818" y="0"/>
                </a:lnTo>
                <a:lnTo>
                  <a:pt x="11782" y="0"/>
                </a:lnTo>
                <a:close/>
                <a:moveTo>
                  <a:pt x="11782" y="21600"/>
                </a:moveTo>
                <a:lnTo>
                  <a:pt x="9818" y="21600"/>
                </a:lnTo>
                <a:lnTo>
                  <a:pt x="9818" y="17673"/>
                </a:lnTo>
                <a:lnTo>
                  <a:pt x="11782" y="17673"/>
                </a:lnTo>
                <a:close/>
                <a:moveTo>
                  <a:pt x="21600" y="11782"/>
                </a:moveTo>
                <a:lnTo>
                  <a:pt x="17673" y="11782"/>
                </a:lnTo>
                <a:lnTo>
                  <a:pt x="17673" y="9818"/>
                </a:lnTo>
                <a:lnTo>
                  <a:pt x="21600" y="9818"/>
                </a:lnTo>
                <a:close/>
                <a:moveTo>
                  <a:pt x="15709" y="10800"/>
                </a:moveTo>
                <a:cubicBezTo>
                  <a:pt x="15709" y="13511"/>
                  <a:pt x="13511" y="15709"/>
                  <a:pt x="10800" y="15709"/>
                </a:cubicBezTo>
                <a:cubicBezTo>
                  <a:pt x="8089" y="15709"/>
                  <a:pt x="5891" y="13511"/>
                  <a:pt x="5891" y="10800"/>
                </a:cubicBezTo>
                <a:cubicBezTo>
                  <a:pt x="5891" y="8089"/>
                  <a:pt x="8089" y="5891"/>
                  <a:pt x="10800" y="5891"/>
                </a:cubicBezTo>
                <a:cubicBezTo>
                  <a:pt x="13511" y="5891"/>
                  <a:pt x="15709" y="8089"/>
                  <a:pt x="15709" y="10800"/>
                </a:cubicBezTo>
                <a:close/>
              </a:path>
            </a:pathLst>
          </a:custGeom>
          <a:solidFill>
            <a:srgbClr val="FFFFFF"/>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4" name="Google Shape;1709;p34"/>
          <p:cNvSpPr/>
          <p:nvPr/>
        </p:nvSpPr>
        <p:spPr>
          <a:xfrm>
            <a:off x="3549650" y="5179695"/>
            <a:ext cx="495935" cy="269875"/>
          </a:xfrm>
          <a:prstGeom prst="roundRect">
            <a:avLst>
              <a:gd name="adj" fmla="val 50000"/>
            </a:avLst>
          </a:prstGeom>
          <a:solidFill>
            <a:srgbClr val="3368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45" name="Google Shape;1710;p34"/>
          <p:cNvSpPr/>
          <p:nvPr/>
        </p:nvSpPr>
        <p:spPr>
          <a:xfrm>
            <a:off x="3612515" y="5201920"/>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3368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A</a:t>
            </a:r>
            <a:endPar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47" name="Google Shape;1712;p34"/>
          <p:cNvSpPr/>
          <p:nvPr/>
        </p:nvSpPr>
        <p:spPr>
          <a:xfrm>
            <a:off x="4854575" y="5179695"/>
            <a:ext cx="495935" cy="269875"/>
          </a:xfrm>
          <a:prstGeom prst="roundRect">
            <a:avLst>
              <a:gd name="adj" fmla="val 50000"/>
            </a:avLst>
          </a:prstGeom>
          <a:solidFill>
            <a:srgbClr val="3368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48" name="Google Shape;1713;p34"/>
          <p:cNvSpPr/>
          <p:nvPr/>
        </p:nvSpPr>
        <p:spPr>
          <a:xfrm>
            <a:off x="4918075" y="5201920"/>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3368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B</a:t>
            </a:r>
            <a:endPar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49" name="Google Shape;1715;p34"/>
          <p:cNvSpPr/>
          <p:nvPr/>
        </p:nvSpPr>
        <p:spPr>
          <a:xfrm>
            <a:off x="6159500" y="5179695"/>
            <a:ext cx="495935" cy="269875"/>
          </a:xfrm>
          <a:prstGeom prst="roundRect">
            <a:avLst>
              <a:gd name="adj" fmla="val 50000"/>
            </a:avLst>
          </a:prstGeom>
          <a:solidFill>
            <a:srgbClr val="3368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50" name="Google Shape;1716;p34"/>
          <p:cNvSpPr/>
          <p:nvPr/>
        </p:nvSpPr>
        <p:spPr>
          <a:xfrm>
            <a:off x="6223000" y="5201920"/>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3368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C</a:t>
            </a:r>
            <a:endPar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51" name="Google Shape;1718;p34"/>
          <p:cNvSpPr/>
          <p:nvPr/>
        </p:nvSpPr>
        <p:spPr>
          <a:xfrm>
            <a:off x="7464425" y="5179695"/>
            <a:ext cx="495935" cy="269875"/>
          </a:xfrm>
          <a:prstGeom prst="roundRect">
            <a:avLst>
              <a:gd name="adj" fmla="val 50000"/>
            </a:avLst>
          </a:prstGeom>
          <a:solidFill>
            <a:srgbClr val="3368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55" name="Google Shape;1719;p34"/>
          <p:cNvSpPr/>
          <p:nvPr/>
        </p:nvSpPr>
        <p:spPr>
          <a:xfrm>
            <a:off x="7527925" y="5201920"/>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3368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D</a:t>
            </a:r>
            <a:endPar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1" name="Google Shape;1721;p34"/>
          <p:cNvSpPr/>
          <p:nvPr/>
        </p:nvSpPr>
        <p:spPr>
          <a:xfrm>
            <a:off x="8769985" y="5179695"/>
            <a:ext cx="495935" cy="269875"/>
          </a:xfrm>
          <a:prstGeom prst="roundRect">
            <a:avLst>
              <a:gd name="adj" fmla="val 50000"/>
            </a:avLst>
          </a:prstGeom>
          <a:solidFill>
            <a:srgbClr val="3368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62" name="Google Shape;1722;p34"/>
          <p:cNvSpPr/>
          <p:nvPr/>
        </p:nvSpPr>
        <p:spPr>
          <a:xfrm>
            <a:off x="8832850" y="5201920"/>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3368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E</a:t>
            </a:r>
            <a:endPar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4" name="Google Shape;1724;p34"/>
          <p:cNvSpPr/>
          <p:nvPr/>
        </p:nvSpPr>
        <p:spPr>
          <a:xfrm>
            <a:off x="10074910" y="5179695"/>
            <a:ext cx="495935" cy="269875"/>
          </a:xfrm>
          <a:prstGeom prst="roundRect">
            <a:avLst>
              <a:gd name="adj" fmla="val 50000"/>
            </a:avLst>
          </a:prstGeom>
          <a:solidFill>
            <a:srgbClr val="3368FF"/>
          </a:solidFill>
          <a:ln>
            <a:noFill/>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383838"/>
              </a:buClr>
              <a:buSzPts val="1100"/>
              <a:buFontTx/>
              <a:buNone/>
              <a:defRPr>
                <a:solidFill>
                  <a:srgbClr val="FFFFFF"/>
                </a:solidFill>
                <a:latin typeface="微软雅黑"/>
                <a:ea typeface="微软雅黑"/>
                <a:cs typeface="微软雅黑"/>
              </a:defRPr>
            </a:pPr>
            <a:endParaRPr kumimoji="0" sz="1465"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65" name="Google Shape;1725;p34"/>
          <p:cNvSpPr/>
          <p:nvPr/>
        </p:nvSpPr>
        <p:spPr>
          <a:xfrm>
            <a:off x="10137775" y="5201920"/>
            <a:ext cx="369570" cy="193040"/>
          </a:xfrm>
          <a:custGeom>
            <a:avLst/>
            <a:gdLst/>
            <a:ahLst/>
            <a:cxnLst/>
            <a:rect l="l" t="t" r="r" b="b"/>
            <a:pathLst>
              <a:path w="21600" h="120000" extrusionOk="0">
                <a:moveTo>
                  <a:pt x="0" y="0"/>
                </a:moveTo>
                <a:lnTo>
                  <a:pt x="21600" y="0"/>
                </a:lnTo>
                <a:lnTo>
                  <a:pt x="21600" y="0"/>
                </a:lnTo>
                <a:lnTo>
                  <a:pt x="0" y="0"/>
                </a:lnTo>
                <a:close/>
              </a:path>
            </a:pathLst>
          </a:custGeom>
          <a:noFill/>
          <a:ln>
            <a:noFill/>
          </a:ln>
          <a:extLst>
            <a:ext uri="{909E8E84-426E-40DD-AFC4-6F175D3DCCD1}">
              <a14:hiddenFill xmlns:a14="http://schemas.microsoft.com/office/drawing/2010/main">
                <a:solidFill>
                  <a:srgbClr val="3368FF"/>
                </a:solidFill>
              </a14:hiddenFill>
            </a:ext>
          </a:extLst>
        </p:spPr>
        <p:txBody>
          <a:bodyPr spcFirstLastPara="1" wrap="square" lIns="0" tIns="0" rIns="0" bIns="0" anchor="t" anchorCtr="0">
            <a:noAutofit/>
          </a:bodyPr>
          <a:lstStyle/>
          <a:p>
            <a:pPr marL="0" marR="0" lvl="0" indent="0" algn="ctr" defTabSz="914400" rtl="0" eaLnBrk="1" fontAlgn="auto" latinLnBrk="0" hangingPunct="1">
              <a:lnSpc>
                <a:spcPts val="1120"/>
              </a:lnSpc>
              <a:spcBef>
                <a:spcPts val="0"/>
              </a:spcBef>
              <a:spcAft>
                <a:spcPts val="0"/>
              </a:spcAft>
              <a:buClr>
                <a:prstClr val="white"/>
              </a:buClr>
              <a:buSzPts val="1000"/>
              <a:buFontTx/>
              <a:buNone/>
              <a:defRPr>
                <a:solidFill>
                  <a:srgbClr val="FFFFFF"/>
                </a:solidFill>
                <a:latin typeface="微软雅黑"/>
                <a:ea typeface="微软雅黑"/>
                <a:cs typeface="微软雅黑"/>
              </a:defRPr>
            </a:pPr>
            <a:r>
              <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F</a:t>
            </a:r>
            <a:endParaRPr kumimoji="0" lang="en-GB" sz="1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6" name="箭头: 燕尾形 29"/>
          <p:cNvSpPr/>
          <p:nvPr/>
        </p:nvSpPr>
        <p:spPr>
          <a:xfrm>
            <a:off x="2724150" y="1925955"/>
            <a:ext cx="541655" cy="393700"/>
          </a:xfrm>
          <a:prstGeom prst="notchedRightArrow">
            <a:avLst/>
          </a:prstGeom>
          <a:solidFill>
            <a:srgbClr val="0042FF"/>
          </a:solidFill>
          <a:ln>
            <a:noFill/>
          </a:ln>
        </p:spPr>
        <p:txBody>
          <a:bodyPr spcFirstLastPara="1" wrap="square" lIns="0" tIns="0" rIns="0" bIns="0" rtlCol="0" anchor="ctr" anchorCtr="0">
            <a:noAutofit/>
          </a:bodyPr>
          <a:lstStyle/>
          <a:p>
            <a:pPr lvl="0" algn="ctr">
              <a:spcBef>
                <a:spcPts val="0"/>
              </a:spcBef>
              <a:spcAft>
                <a:spcPts val="0"/>
              </a:spcAft>
              <a:buClr>
                <a:srgbClr val="383838"/>
              </a:buClr>
              <a:buSzPts val="1100"/>
              <a:buFontTx/>
              <a:defRPr>
                <a:solidFill>
                  <a:srgbClr val="FFFFFF"/>
                </a:solidFill>
                <a:latin typeface="微软雅黑"/>
                <a:ea typeface="微软雅黑"/>
                <a:cs typeface="微软雅黑"/>
              </a:defRPr>
            </a:pPr>
            <a:endParaRPr sz="1465" b="1" noProof="0">
              <a:ln>
                <a:noFill/>
              </a:ln>
              <a:solidFill>
                <a:srgbClr val="FFFFFF"/>
              </a:solidFill>
              <a:effectLst/>
              <a:uLnTx/>
              <a:uFillTx/>
              <a:latin typeface="微软雅黑"/>
              <a:ea typeface="微软雅黑"/>
              <a:cs typeface="微软雅黑"/>
              <a:sym typeface="微软雅黑"/>
            </a:endParaRPr>
          </a:p>
        </p:txBody>
      </p:sp>
      <p:sp>
        <p:nvSpPr>
          <p:cNvPr id="1666" name="箭头: 燕尾形 1665"/>
          <p:cNvSpPr/>
          <p:nvPr/>
        </p:nvSpPr>
        <p:spPr>
          <a:xfrm>
            <a:off x="2720340" y="5126355"/>
            <a:ext cx="541655" cy="393700"/>
          </a:xfrm>
          <a:prstGeom prst="notchedRightArrow">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80" name="Venn diagram"/>
          <p:cNvSpPr txBox="1"/>
          <p:nvPr/>
        </p:nvSpPr>
        <p:spPr>
          <a:xfrm rot="16200000">
            <a:off x="3456940" y="1413510"/>
            <a:ext cx="932815" cy="242570"/>
          </a:xfrm>
          <a:prstGeom prst="rect">
            <a:avLst/>
          </a:prstGeom>
          <a:ln w="12700">
            <a:miter lim="400000"/>
          </a:ln>
        </p:spPr>
        <p:txBody>
          <a:bodyPr lIns="25400" tIns="25400" rIns="25400" bIns="25400">
            <a:spAutoFit/>
          </a:bodyPr>
          <a:lstStyle>
            <a:lvl1pPr algn="r">
              <a:defRPr sz="25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250" dirty="0">
                <a:solidFill>
                  <a:srgbClr val="383838"/>
                </a:solidFill>
                <a:latin typeface="微软雅黑"/>
                <a:ea typeface="微软雅黑"/>
                <a:cs typeface="微软雅黑"/>
                <a:sym typeface="微软雅黑"/>
              </a:rPr>
              <a:t>2025</a:t>
            </a:r>
            <a:r>
              <a:rPr lang="zh-CN" altLang="en-US" sz="1250" dirty="0">
                <a:solidFill>
                  <a:srgbClr val="383838"/>
                </a:solidFill>
                <a:latin typeface="微软雅黑"/>
                <a:ea typeface="微软雅黑"/>
                <a:cs typeface="微软雅黑"/>
                <a:sym typeface="微软雅黑"/>
              </a:rPr>
              <a:t>年</a:t>
            </a:r>
            <a:r>
              <a:rPr lang="en-US" altLang="zh-CN" sz="1250" dirty="0">
                <a:solidFill>
                  <a:srgbClr val="383838"/>
                </a:solidFill>
                <a:latin typeface="微软雅黑"/>
                <a:ea typeface="微软雅黑"/>
                <a:cs typeface="微软雅黑"/>
                <a:sym typeface="微软雅黑"/>
              </a:rPr>
              <a:t>1</a:t>
            </a:r>
            <a:r>
              <a:rPr lang="zh-CN" altLang="en-US" sz="1250" dirty="0">
                <a:solidFill>
                  <a:srgbClr val="383838"/>
                </a:solidFill>
                <a:latin typeface="微软雅黑"/>
                <a:ea typeface="微软雅黑"/>
                <a:cs typeface="微软雅黑"/>
                <a:sym typeface="微软雅黑"/>
              </a:rPr>
              <a:t>月</a:t>
            </a:r>
            <a:endParaRPr lang="zh-CN" altLang="en-US" sz="1250" dirty="0">
              <a:solidFill>
                <a:srgbClr val="383838"/>
              </a:solidFill>
              <a:latin typeface="微软雅黑"/>
              <a:ea typeface="微软雅黑"/>
              <a:cs typeface="微软雅黑"/>
              <a:sym typeface="微软雅黑"/>
            </a:endParaRPr>
          </a:p>
        </p:txBody>
      </p:sp>
      <p:sp>
        <p:nvSpPr>
          <p:cNvPr id="181" name="Venn diagram"/>
          <p:cNvSpPr txBox="1"/>
          <p:nvPr/>
        </p:nvSpPr>
        <p:spPr>
          <a:xfrm rot="16200000">
            <a:off x="4761865" y="1413510"/>
            <a:ext cx="932815" cy="242570"/>
          </a:xfrm>
          <a:prstGeom prst="rect">
            <a:avLst/>
          </a:prstGeom>
          <a:ln w="12700">
            <a:miter lim="400000"/>
          </a:ln>
        </p:spPr>
        <p:txBody>
          <a:bodyPr lIns="25400" tIns="25400" rIns="25400" bIns="25400">
            <a:spAutoFit/>
          </a:bodyPr>
          <a:lstStyle>
            <a:lvl1pPr algn="r">
              <a:defRPr sz="25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250" dirty="0">
                <a:solidFill>
                  <a:srgbClr val="383838"/>
                </a:solidFill>
                <a:latin typeface="微软雅黑"/>
                <a:ea typeface="微软雅黑"/>
                <a:cs typeface="微软雅黑"/>
                <a:sym typeface="微软雅黑"/>
              </a:rPr>
              <a:t>2025</a:t>
            </a:r>
            <a:r>
              <a:rPr lang="zh-CN" altLang="en-US" sz="1250" dirty="0">
                <a:solidFill>
                  <a:srgbClr val="383838"/>
                </a:solidFill>
                <a:latin typeface="微软雅黑"/>
                <a:ea typeface="微软雅黑"/>
                <a:cs typeface="微软雅黑"/>
                <a:sym typeface="微软雅黑"/>
              </a:rPr>
              <a:t>年</a:t>
            </a:r>
            <a:r>
              <a:rPr lang="en-US" altLang="zh-CN" sz="1250" dirty="0">
                <a:solidFill>
                  <a:srgbClr val="383838"/>
                </a:solidFill>
                <a:latin typeface="微软雅黑"/>
                <a:ea typeface="微软雅黑"/>
                <a:cs typeface="微软雅黑"/>
                <a:sym typeface="微软雅黑"/>
              </a:rPr>
              <a:t>2</a:t>
            </a:r>
            <a:r>
              <a:rPr lang="zh-CN" altLang="en-US" sz="1250" dirty="0">
                <a:solidFill>
                  <a:srgbClr val="383838"/>
                </a:solidFill>
                <a:latin typeface="微软雅黑"/>
                <a:ea typeface="微软雅黑"/>
                <a:cs typeface="微软雅黑"/>
                <a:sym typeface="微软雅黑"/>
              </a:rPr>
              <a:t>月</a:t>
            </a:r>
            <a:endParaRPr lang="zh-CN" altLang="en-US" sz="1250" dirty="0">
              <a:solidFill>
                <a:srgbClr val="383838"/>
              </a:solidFill>
              <a:latin typeface="微软雅黑"/>
              <a:ea typeface="微软雅黑"/>
              <a:cs typeface="微软雅黑"/>
              <a:sym typeface="微软雅黑"/>
            </a:endParaRPr>
          </a:p>
        </p:txBody>
      </p:sp>
      <p:sp>
        <p:nvSpPr>
          <p:cNvPr id="182" name="Venn diagram"/>
          <p:cNvSpPr txBox="1"/>
          <p:nvPr/>
        </p:nvSpPr>
        <p:spPr>
          <a:xfrm rot="16200000">
            <a:off x="7371715" y="1413510"/>
            <a:ext cx="932815" cy="242570"/>
          </a:xfrm>
          <a:prstGeom prst="rect">
            <a:avLst/>
          </a:prstGeom>
          <a:ln w="12700">
            <a:miter lim="400000"/>
          </a:ln>
        </p:spPr>
        <p:txBody>
          <a:bodyPr lIns="25400" tIns="25400" rIns="25400" bIns="25400">
            <a:spAutoFit/>
          </a:bodyPr>
          <a:lstStyle>
            <a:lvl1pPr algn="r">
              <a:defRPr sz="25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250" dirty="0">
                <a:solidFill>
                  <a:srgbClr val="383838"/>
                </a:solidFill>
                <a:latin typeface="微软雅黑"/>
                <a:ea typeface="微软雅黑"/>
                <a:cs typeface="微软雅黑"/>
                <a:sym typeface="微软雅黑"/>
              </a:rPr>
              <a:t>2025</a:t>
            </a:r>
            <a:r>
              <a:rPr lang="zh-CN" altLang="en-US" sz="1250" dirty="0">
                <a:solidFill>
                  <a:srgbClr val="383838"/>
                </a:solidFill>
                <a:latin typeface="微软雅黑"/>
                <a:ea typeface="微软雅黑"/>
                <a:cs typeface="微软雅黑"/>
                <a:sym typeface="微软雅黑"/>
              </a:rPr>
              <a:t>年</a:t>
            </a:r>
            <a:r>
              <a:rPr lang="en-US" altLang="zh-CN" sz="1250" dirty="0">
                <a:solidFill>
                  <a:srgbClr val="383838"/>
                </a:solidFill>
                <a:latin typeface="微软雅黑"/>
                <a:ea typeface="微软雅黑"/>
                <a:cs typeface="微软雅黑"/>
                <a:sym typeface="微软雅黑"/>
              </a:rPr>
              <a:t>4</a:t>
            </a:r>
            <a:r>
              <a:rPr lang="zh-CN" altLang="en-US" sz="1250" dirty="0">
                <a:solidFill>
                  <a:srgbClr val="383838"/>
                </a:solidFill>
                <a:latin typeface="微软雅黑"/>
                <a:ea typeface="微软雅黑"/>
                <a:cs typeface="微软雅黑"/>
                <a:sym typeface="微软雅黑"/>
              </a:rPr>
              <a:t>月</a:t>
            </a:r>
            <a:endParaRPr lang="zh-CN" altLang="en-US" sz="1250" dirty="0">
              <a:solidFill>
                <a:srgbClr val="383838"/>
              </a:solidFill>
              <a:latin typeface="微软雅黑"/>
              <a:ea typeface="微软雅黑"/>
              <a:cs typeface="微软雅黑"/>
              <a:sym typeface="微软雅黑"/>
            </a:endParaRPr>
          </a:p>
        </p:txBody>
      </p:sp>
      <p:sp>
        <p:nvSpPr>
          <p:cNvPr id="187" name="Venn diagram"/>
          <p:cNvSpPr txBox="1"/>
          <p:nvPr/>
        </p:nvSpPr>
        <p:spPr>
          <a:xfrm rot="16200000">
            <a:off x="6066790" y="1413510"/>
            <a:ext cx="932815" cy="242570"/>
          </a:xfrm>
          <a:prstGeom prst="rect">
            <a:avLst/>
          </a:prstGeom>
          <a:ln w="12700">
            <a:miter lim="400000"/>
          </a:ln>
        </p:spPr>
        <p:txBody>
          <a:bodyPr lIns="25400" tIns="25400" rIns="25400" bIns="25400">
            <a:spAutoFit/>
          </a:bodyPr>
          <a:lstStyle>
            <a:lvl1pPr algn="r">
              <a:defRPr sz="25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250" dirty="0">
                <a:solidFill>
                  <a:srgbClr val="383838"/>
                </a:solidFill>
                <a:latin typeface="微软雅黑"/>
                <a:ea typeface="微软雅黑"/>
                <a:cs typeface="微软雅黑"/>
                <a:sym typeface="微软雅黑"/>
              </a:rPr>
              <a:t>2025</a:t>
            </a:r>
            <a:r>
              <a:rPr lang="zh-CN" altLang="en-US" sz="1250" dirty="0">
                <a:solidFill>
                  <a:srgbClr val="383838"/>
                </a:solidFill>
                <a:latin typeface="微软雅黑"/>
                <a:ea typeface="微软雅黑"/>
                <a:cs typeface="微软雅黑"/>
                <a:sym typeface="微软雅黑"/>
              </a:rPr>
              <a:t>年</a:t>
            </a:r>
            <a:r>
              <a:rPr lang="en-US" altLang="zh-CN" sz="1250" dirty="0">
                <a:solidFill>
                  <a:srgbClr val="383838"/>
                </a:solidFill>
                <a:latin typeface="微软雅黑"/>
                <a:ea typeface="微软雅黑"/>
                <a:cs typeface="微软雅黑"/>
                <a:sym typeface="微软雅黑"/>
              </a:rPr>
              <a:t>3</a:t>
            </a:r>
            <a:r>
              <a:rPr lang="zh-CN" altLang="en-US" sz="1250" dirty="0">
                <a:solidFill>
                  <a:srgbClr val="383838"/>
                </a:solidFill>
                <a:latin typeface="微软雅黑"/>
                <a:ea typeface="微软雅黑"/>
                <a:cs typeface="微软雅黑"/>
                <a:sym typeface="微软雅黑"/>
              </a:rPr>
              <a:t>月</a:t>
            </a:r>
            <a:endParaRPr lang="zh-CN" altLang="en-US" sz="1250" dirty="0">
              <a:solidFill>
                <a:srgbClr val="383838"/>
              </a:solidFill>
              <a:latin typeface="微软雅黑"/>
              <a:ea typeface="微软雅黑"/>
              <a:cs typeface="微软雅黑"/>
              <a:sym typeface="微软雅黑"/>
            </a:endParaRPr>
          </a:p>
        </p:txBody>
      </p:sp>
      <p:sp>
        <p:nvSpPr>
          <p:cNvPr id="189" name="Venn diagram"/>
          <p:cNvSpPr txBox="1"/>
          <p:nvPr/>
        </p:nvSpPr>
        <p:spPr>
          <a:xfrm rot="16200000">
            <a:off x="8676640" y="1413510"/>
            <a:ext cx="932815" cy="242570"/>
          </a:xfrm>
          <a:prstGeom prst="rect">
            <a:avLst/>
          </a:prstGeom>
          <a:ln w="12700">
            <a:miter lim="400000"/>
          </a:ln>
        </p:spPr>
        <p:txBody>
          <a:bodyPr lIns="25400" tIns="25400" rIns="25400" bIns="25400">
            <a:spAutoFit/>
          </a:bodyPr>
          <a:lstStyle>
            <a:lvl1pPr algn="r">
              <a:defRPr sz="25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250" dirty="0">
                <a:solidFill>
                  <a:srgbClr val="383838"/>
                </a:solidFill>
                <a:latin typeface="微软雅黑"/>
                <a:ea typeface="微软雅黑"/>
                <a:cs typeface="微软雅黑"/>
                <a:sym typeface="微软雅黑"/>
              </a:rPr>
              <a:t>2025</a:t>
            </a:r>
            <a:r>
              <a:rPr lang="zh-CN" altLang="en-US" sz="1250" dirty="0">
                <a:solidFill>
                  <a:srgbClr val="383838"/>
                </a:solidFill>
                <a:latin typeface="微软雅黑"/>
                <a:ea typeface="微软雅黑"/>
                <a:cs typeface="微软雅黑"/>
                <a:sym typeface="微软雅黑"/>
              </a:rPr>
              <a:t>年</a:t>
            </a:r>
            <a:r>
              <a:rPr lang="en-US" altLang="zh-CN" sz="1250" dirty="0">
                <a:solidFill>
                  <a:srgbClr val="383838"/>
                </a:solidFill>
                <a:latin typeface="微软雅黑"/>
                <a:ea typeface="微软雅黑"/>
                <a:cs typeface="微软雅黑"/>
                <a:sym typeface="微软雅黑"/>
              </a:rPr>
              <a:t>5</a:t>
            </a:r>
            <a:r>
              <a:rPr lang="zh-CN" altLang="en-US" sz="1250" dirty="0">
                <a:solidFill>
                  <a:srgbClr val="383838"/>
                </a:solidFill>
                <a:latin typeface="微软雅黑"/>
                <a:ea typeface="微软雅黑"/>
                <a:cs typeface="微软雅黑"/>
                <a:sym typeface="微软雅黑"/>
              </a:rPr>
              <a:t>月</a:t>
            </a:r>
            <a:endParaRPr lang="zh-CN" altLang="en-US" sz="1250" dirty="0">
              <a:solidFill>
                <a:srgbClr val="383838"/>
              </a:solidFill>
              <a:latin typeface="微软雅黑"/>
              <a:ea typeface="微软雅黑"/>
              <a:cs typeface="微软雅黑"/>
              <a:sym typeface="微软雅黑"/>
            </a:endParaRPr>
          </a:p>
        </p:txBody>
      </p:sp>
      <p:sp>
        <p:nvSpPr>
          <p:cNvPr id="190" name="Venn diagram"/>
          <p:cNvSpPr txBox="1"/>
          <p:nvPr/>
        </p:nvSpPr>
        <p:spPr>
          <a:xfrm rot="16200000">
            <a:off x="9981565" y="1413510"/>
            <a:ext cx="932815" cy="242570"/>
          </a:xfrm>
          <a:prstGeom prst="rect">
            <a:avLst/>
          </a:prstGeom>
          <a:ln w="12700">
            <a:miter lim="400000"/>
          </a:ln>
        </p:spPr>
        <p:txBody>
          <a:bodyPr lIns="25400" tIns="25400" rIns="25400" bIns="25400">
            <a:spAutoFit/>
          </a:bodyPr>
          <a:lstStyle>
            <a:lvl1pPr algn="r">
              <a:defRPr sz="25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en-US" altLang="zh-CN" sz="1250" dirty="0">
                <a:solidFill>
                  <a:srgbClr val="383838"/>
                </a:solidFill>
                <a:latin typeface="微软雅黑"/>
                <a:ea typeface="微软雅黑"/>
                <a:cs typeface="微软雅黑"/>
                <a:sym typeface="微软雅黑"/>
              </a:rPr>
              <a:t>2025</a:t>
            </a:r>
            <a:r>
              <a:rPr lang="zh-CN" altLang="en-US" sz="1250" dirty="0">
                <a:solidFill>
                  <a:srgbClr val="383838"/>
                </a:solidFill>
                <a:latin typeface="微软雅黑"/>
                <a:ea typeface="微软雅黑"/>
                <a:cs typeface="微软雅黑"/>
                <a:sym typeface="微软雅黑"/>
              </a:rPr>
              <a:t>年</a:t>
            </a:r>
            <a:r>
              <a:rPr lang="en-US" altLang="zh-CN" sz="1250" dirty="0">
                <a:solidFill>
                  <a:srgbClr val="383838"/>
                </a:solidFill>
                <a:latin typeface="微软雅黑"/>
                <a:ea typeface="微软雅黑"/>
                <a:cs typeface="微软雅黑"/>
                <a:sym typeface="微软雅黑"/>
              </a:rPr>
              <a:t>6</a:t>
            </a:r>
            <a:r>
              <a:rPr lang="zh-CN" altLang="en-US" sz="1250" dirty="0">
                <a:solidFill>
                  <a:srgbClr val="383838"/>
                </a:solidFill>
                <a:latin typeface="微软雅黑"/>
                <a:ea typeface="微软雅黑"/>
                <a:cs typeface="微软雅黑"/>
                <a:sym typeface="微软雅黑"/>
              </a:rPr>
              <a:t>月</a:t>
            </a:r>
            <a:endParaRPr lang="zh-CN" altLang="en-US" sz="1250" dirty="0">
              <a:solidFill>
                <a:srgbClr val="383838"/>
              </a:solidFill>
              <a:latin typeface="微软雅黑"/>
              <a:ea typeface="微软雅黑"/>
              <a:cs typeface="微软雅黑"/>
              <a:sym typeface="微软雅黑"/>
            </a:endParaRPr>
          </a:p>
        </p:txBody>
      </p:sp>
      <p:sp>
        <p:nvSpPr>
          <p:cNvPr id="191" name="Google Shape;1680;p34"/>
          <p:cNvSpPr txBox="1"/>
          <p:nvPr/>
        </p:nvSpPr>
        <p:spPr>
          <a:xfrm>
            <a:off x="5139690" y="3402965"/>
            <a:ext cx="1135380" cy="81978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优化产品的界面设计、功能架构、交互流程等，以提升用户体验和易用性。</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92" name="Google Shape;1681;p34"/>
          <p:cNvSpPr txBox="1"/>
          <p:nvPr/>
        </p:nvSpPr>
        <p:spPr>
          <a:xfrm>
            <a:off x="5142865" y="3138805"/>
            <a:ext cx="1119505" cy="23495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prstClr val="black"/>
              </a:buClr>
              <a:buSzPts val="1000"/>
              <a:buFontTx/>
              <a:buNone/>
              <a:defRPr>
                <a:solidFill>
                  <a:srgbClr val="383838"/>
                </a:solidFill>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设计优化</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94" name="Google Shape;1680;p34"/>
          <p:cNvSpPr txBox="1"/>
          <p:nvPr/>
        </p:nvSpPr>
        <p:spPr>
          <a:xfrm>
            <a:off x="6494780" y="3402965"/>
            <a:ext cx="1135380" cy="97409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优化产品的技术架构、性能、安全性等方面，确保产品在运行和扩展上的效率和可靠性。</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95" name="Google Shape;1681;p34"/>
          <p:cNvSpPr txBox="1"/>
          <p:nvPr/>
        </p:nvSpPr>
        <p:spPr>
          <a:xfrm>
            <a:off x="6497955" y="3138805"/>
            <a:ext cx="1119505" cy="23495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prstClr val="black"/>
              </a:buClr>
              <a:buSzPts val="1000"/>
              <a:buFontTx/>
              <a:buNone/>
              <a:defRPr>
                <a:solidFill>
                  <a:srgbClr val="383838"/>
                </a:solidFill>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技术优化</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96" name="Google Shape;1680;p34"/>
          <p:cNvSpPr txBox="1"/>
          <p:nvPr/>
        </p:nvSpPr>
        <p:spPr>
          <a:xfrm>
            <a:off x="7810500" y="3402965"/>
            <a:ext cx="1135380" cy="66611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进行全面的功能测试、性能测试和用户验收测试，确保产品质量和稳定性。</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97" name="Google Shape;1681;p34"/>
          <p:cNvSpPr txBox="1"/>
          <p:nvPr/>
        </p:nvSpPr>
        <p:spPr>
          <a:xfrm>
            <a:off x="7813675" y="3138805"/>
            <a:ext cx="1119505" cy="23495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prstClr val="black"/>
              </a:buClr>
              <a:buSzPts val="1000"/>
              <a:buFontTx/>
              <a:buNone/>
              <a:defRPr>
                <a:solidFill>
                  <a:srgbClr val="383838"/>
                </a:solidFill>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测试验证</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98" name="Google Shape;1680;p34"/>
          <p:cNvSpPr txBox="1"/>
          <p:nvPr/>
        </p:nvSpPr>
        <p:spPr>
          <a:xfrm>
            <a:off x="9126220" y="3402965"/>
            <a:ext cx="1135380" cy="81978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将优化后产品发布到市场，监测用户使用情况和反馈，解决新版本可能存在的问题。</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99" name="Google Shape;1681;p34"/>
          <p:cNvSpPr txBox="1"/>
          <p:nvPr/>
        </p:nvSpPr>
        <p:spPr>
          <a:xfrm>
            <a:off x="9129395" y="3138805"/>
            <a:ext cx="1119505" cy="23495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prstClr val="black"/>
              </a:buClr>
              <a:buSzPts val="1000"/>
              <a:buFontTx/>
              <a:buNone/>
              <a:defRPr>
                <a:solidFill>
                  <a:srgbClr val="383838"/>
                </a:solidFill>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反馈收集</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01" name="Google Shape;1680;p34"/>
          <p:cNvSpPr txBox="1"/>
          <p:nvPr/>
        </p:nvSpPr>
        <p:spPr>
          <a:xfrm>
            <a:off x="10507345" y="3402965"/>
            <a:ext cx="1135380" cy="81978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基于收集到的用户反馈和市场数据，持续优化产品，以适应市场和用户需求的变化。</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02" name="Google Shape;1681;p34"/>
          <p:cNvSpPr txBox="1"/>
          <p:nvPr/>
        </p:nvSpPr>
        <p:spPr>
          <a:xfrm>
            <a:off x="10510520" y="3138805"/>
            <a:ext cx="1119505" cy="23495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prstClr val="black"/>
              </a:buClr>
              <a:buSzPts val="1000"/>
              <a:buFontTx/>
              <a:buNone/>
              <a:defRPr>
                <a:solidFill>
                  <a:srgbClr val="383838"/>
                </a:solidFill>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持续改进</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43" name="Google Shape;1704;p34"/>
          <p:cNvSpPr txBox="1"/>
          <p:nvPr/>
        </p:nvSpPr>
        <p:spPr>
          <a:xfrm>
            <a:off x="661670" y="3418205"/>
            <a:ext cx="1379220"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时间轴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244" name="Google Shape;1704;p34"/>
          <p:cNvSpPr txBox="1"/>
          <p:nvPr/>
        </p:nvSpPr>
        <p:spPr>
          <a:xfrm>
            <a:off x="663575" y="3754755"/>
            <a:ext cx="1379220"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项目轴</a:t>
            </a:r>
            <a:endParaRPr kumimoji="0" lang="zh-CN" altLang="en-US" sz="12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45" name="Google Shape;1705;p34"/>
          <p:cNvSpPr/>
          <p:nvPr/>
        </p:nvSpPr>
        <p:spPr>
          <a:xfrm>
            <a:off x="2040890" y="3432175"/>
            <a:ext cx="191770" cy="163195"/>
          </a:xfrm>
          <a:custGeom>
            <a:avLst/>
            <a:gdLst/>
            <a:ahLst/>
            <a:cxnLst/>
            <a:rect l="l" t="t" r="r" b="b"/>
            <a:pathLst>
              <a:path w="21600" h="21600" extrusionOk="0">
                <a:moveTo>
                  <a:pt x="1093" y="0"/>
                </a:moveTo>
                <a:cubicBezTo>
                  <a:pt x="499" y="0"/>
                  <a:pt x="0" y="584"/>
                  <a:pt x="0" y="1283"/>
                </a:cubicBezTo>
                <a:cubicBezTo>
                  <a:pt x="0" y="1537"/>
                  <a:pt x="86" y="1788"/>
                  <a:pt x="205" y="1978"/>
                </a:cubicBezTo>
                <a:lnTo>
                  <a:pt x="5189" y="10800"/>
                </a:lnTo>
                <a:lnTo>
                  <a:pt x="205" y="19649"/>
                </a:lnTo>
                <a:cubicBezTo>
                  <a:pt x="86" y="19839"/>
                  <a:pt x="0" y="20089"/>
                  <a:pt x="0" y="20344"/>
                </a:cubicBezTo>
                <a:cubicBezTo>
                  <a:pt x="0" y="21042"/>
                  <a:pt x="499" y="21600"/>
                  <a:pt x="1093" y="21600"/>
                </a:cubicBezTo>
                <a:lnTo>
                  <a:pt x="4325" y="21600"/>
                </a:lnTo>
                <a:cubicBezTo>
                  <a:pt x="4702" y="21600"/>
                  <a:pt x="5041" y="21382"/>
                  <a:pt x="5235" y="21039"/>
                </a:cubicBezTo>
                <a:lnTo>
                  <a:pt x="10629" y="11495"/>
                </a:lnTo>
                <a:cubicBezTo>
                  <a:pt x="10748" y="11304"/>
                  <a:pt x="10811" y="11054"/>
                  <a:pt x="10811" y="10800"/>
                </a:cubicBezTo>
                <a:cubicBezTo>
                  <a:pt x="10811" y="10546"/>
                  <a:pt x="10748" y="10296"/>
                  <a:pt x="10629" y="10105"/>
                </a:cubicBezTo>
                <a:lnTo>
                  <a:pt x="5235" y="588"/>
                </a:lnTo>
                <a:cubicBezTo>
                  <a:pt x="5041" y="245"/>
                  <a:pt x="4702" y="0"/>
                  <a:pt x="4325" y="0"/>
                </a:cubicBezTo>
                <a:lnTo>
                  <a:pt x="1093" y="0"/>
                </a:lnTo>
                <a:close/>
                <a:moveTo>
                  <a:pt x="11881" y="0"/>
                </a:moveTo>
                <a:cubicBezTo>
                  <a:pt x="11287" y="0"/>
                  <a:pt x="10811" y="584"/>
                  <a:pt x="10811" y="1283"/>
                </a:cubicBezTo>
                <a:cubicBezTo>
                  <a:pt x="10811" y="1537"/>
                  <a:pt x="10875" y="1788"/>
                  <a:pt x="10993" y="1978"/>
                </a:cubicBezTo>
                <a:lnTo>
                  <a:pt x="15978" y="10800"/>
                </a:lnTo>
                <a:lnTo>
                  <a:pt x="10993" y="19649"/>
                </a:lnTo>
                <a:cubicBezTo>
                  <a:pt x="10875" y="19839"/>
                  <a:pt x="10811" y="20089"/>
                  <a:pt x="10811" y="20344"/>
                </a:cubicBezTo>
                <a:cubicBezTo>
                  <a:pt x="10811" y="21042"/>
                  <a:pt x="11287" y="21600"/>
                  <a:pt x="11881" y="21600"/>
                </a:cubicBezTo>
                <a:lnTo>
                  <a:pt x="15113" y="21600"/>
                </a:lnTo>
                <a:cubicBezTo>
                  <a:pt x="15491" y="21600"/>
                  <a:pt x="15829" y="21382"/>
                  <a:pt x="16024" y="21039"/>
                </a:cubicBezTo>
                <a:lnTo>
                  <a:pt x="21418" y="11495"/>
                </a:lnTo>
                <a:cubicBezTo>
                  <a:pt x="21537" y="11304"/>
                  <a:pt x="21600" y="11054"/>
                  <a:pt x="21600" y="10800"/>
                </a:cubicBezTo>
                <a:cubicBezTo>
                  <a:pt x="21600" y="10546"/>
                  <a:pt x="21537" y="10296"/>
                  <a:pt x="21418" y="10105"/>
                </a:cubicBezTo>
                <a:lnTo>
                  <a:pt x="16024" y="588"/>
                </a:lnTo>
                <a:cubicBezTo>
                  <a:pt x="15829" y="245"/>
                  <a:pt x="15491" y="0"/>
                  <a:pt x="15113" y="0"/>
                </a:cubicBezTo>
                <a:lnTo>
                  <a:pt x="11881" y="0"/>
                </a:lnTo>
                <a:close/>
              </a:path>
            </a:pathLst>
          </a:custGeom>
          <a:solidFill>
            <a:srgbClr val="E6E6E6"/>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48" name="Google Shape;1705;p34"/>
          <p:cNvSpPr/>
          <p:nvPr/>
        </p:nvSpPr>
        <p:spPr>
          <a:xfrm>
            <a:off x="2040890" y="3788410"/>
            <a:ext cx="191770" cy="163195"/>
          </a:xfrm>
          <a:custGeom>
            <a:avLst/>
            <a:gdLst/>
            <a:ahLst/>
            <a:cxnLst/>
            <a:rect l="l" t="t" r="r" b="b"/>
            <a:pathLst>
              <a:path w="21600" h="21600" extrusionOk="0">
                <a:moveTo>
                  <a:pt x="1093" y="0"/>
                </a:moveTo>
                <a:cubicBezTo>
                  <a:pt x="499" y="0"/>
                  <a:pt x="0" y="584"/>
                  <a:pt x="0" y="1283"/>
                </a:cubicBezTo>
                <a:cubicBezTo>
                  <a:pt x="0" y="1537"/>
                  <a:pt x="86" y="1788"/>
                  <a:pt x="205" y="1978"/>
                </a:cubicBezTo>
                <a:lnTo>
                  <a:pt x="5189" y="10800"/>
                </a:lnTo>
                <a:lnTo>
                  <a:pt x="205" y="19649"/>
                </a:lnTo>
                <a:cubicBezTo>
                  <a:pt x="86" y="19839"/>
                  <a:pt x="0" y="20089"/>
                  <a:pt x="0" y="20344"/>
                </a:cubicBezTo>
                <a:cubicBezTo>
                  <a:pt x="0" y="21042"/>
                  <a:pt x="499" y="21600"/>
                  <a:pt x="1093" y="21600"/>
                </a:cubicBezTo>
                <a:lnTo>
                  <a:pt x="4325" y="21600"/>
                </a:lnTo>
                <a:cubicBezTo>
                  <a:pt x="4702" y="21600"/>
                  <a:pt x="5041" y="21382"/>
                  <a:pt x="5235" y="21039"/>
                </a:cubicBezTo>
                <a:lnTo>
                  <a:pt x="10629" y="11495"/>
                </a:lnTo>
                <a:cubicBezTo>
                  <a:pt x="10748" y="11304"/>
                  <a:pt x="10811" y="11054"/>
                  <a:pt x="10811" y="10800"/>
                </a:cubicBezTo>
                <a:cubicBezTo>
                  <a:pt x="10811" y="10546"/>
                  <a:pt x="10748" y="10296"/>
                  <a:pt x="10629" y="10105"/>
                </a:cubicBezTo>
                <a:lnTo>
                  <a:pt x="5235" y="588"/>
                </a:lnTo>
                <a:cubicBezTo>
                  <a:pt x="5041" y="245"/>
                  <a:pt x="4702" y="0"/>
                  <a:pt x="4325" y="0"/>
                </a:cubicBezTo>
                <a:lnTo>
                  <a:pt x="1093" y="0"/>
                </a:lnTo>
                <a:close/>
                <a:moveTo>
                  <a:pt x="11881" y="0"/>
                </a:moveTo>
                <a:cubicBezTo>
                  <a:pt x="11287" y="0"/>
                  <a:pt x="10811" y="584"/>
                  <a:pt x="10811" y="1283"/>
                </a:cubicBezTo>
                <a:cubicBezTo>
                  <a:pt x="10811" y="1537"/>
                  <a:pt x="10875" y="1788"/>
                  <a:pt x="10993" y="1978"/>
                </a:cubicBezTo>
                <a:lnTo>
                  <a:pt x="15978" y="10800"/>
                </a:lnTo>
                <a:lnTo>
                  <a:pt x="10993" y="19649"/>
                </a:lnTo>
                <a:cubicBezTo>
                  <a:pt x="10875" y="19839"/>
                  <a:pt x="10811" y="20089"/>
                  <a:pt x="10811" y="20344"/>
                </a:cubicBezTo>
                <a:cubicBezTo>
                  <a:pt x="10811" y="21042"/>
                  <a:pt x="11287" y="21600"/>
                  <a:pt x="11881" y="21600"/>
                </a:cubicBezTo>
                <a:lnTo>
                  <a:pt x="15113" y="21600"/>
                </a:lnTo>
                <a:cubicBezTo>
                  <a:pt x="15491" y="21600"/>
                  <a:pt x="15829" y="21382"/>
                  <a:pt x="16024" y="21039"/>
                </a:cubicBezTo>
                <a:lnTo>
                  <a:pt x="21418" y="11495"/>
                </a:lnTo>
                <a:cubicBezTo>
                  <a:pt x="21537" y="11304"/>
                  <a:pt x="21600" y="11054"/>
                  <a:pt x="21600" y="10800"/>
                </a:cubicBezTo>
                <a:cubicBezTo>
                  <a:pt x="21600" y="10546"/>
                  <a:pt x="21537" y="10296"/>
                  <a:pt x="21418" y="10105"/>
                </a:cubicBezTo>
                <a:lnTo>
                  <a:pt x="16024" y="588"/>
                </a:lnTo>
                <a:cubicBezTo>
                  <a:pt x="15829" y="245"/>
                  <a:pt x="15491" y="0"/>
                  <a:pt x="15113" y="0"/>
                </a:cubicBezTo>
                <a:lnTo>
                  <a:pt x="11881" y="0"/>
                </a:lnTo>
                <a:close/>
              </a:path>
            </a:pathLst>
          </a:custGeom>
          <a:solidFill>
            <a:srgbClr val="E6E6E6"/>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383838"/>
              </a:buClr>
              <a:buSzPts val="1100"/>
              <a:buFontTx/>
              <a:buNone/>
              <a:defRPr>
                <a:latin typeface="微软雅黑"/>
                <a:ea typeface="微软雅黑"/>
                <a:cs typeface="微软雅黑"/>
              </a:defRPr>
            </a:pPr>
            <a:endParaRPr kumimoji="0" sz="1465"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49" name="Google Shape;1680;p34"/>
          <p:cNvSpPr txBox="1"/>
          <p:nvPr/>
        </p:nvSpPr>
        <p:spPr>
          <a:xfrm>
            <a:off x="3262630" y="5849620"/>
            <a:ext cx="1135380" cy="666115"/>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分析目标市场的特征、竞争对手。确定目标市场细分和目标客户群体。</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50" name="Google Shape;1681;p34"/>
          <p:cNvSpPr txBox="1"/>
          <p:nvPr/>
        </p:nvSpPr>
        <p:spPr>
          <a:xfrm>
            <a:off x="3265805" y="5585460"/>
            <a:ext cx="111950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市场分析</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51" name="文本框 250"/>
          <p:cNvSpPr txBox="1"/>
          <p:nvPr/>
        </p:nvSpPr>
        <p:spPr>
          <a:xfrm>
            <a:off x="229235" y="1421130"/>
            <a:ext cx="2144395" cy="307975"/>
          </a:xfrm>
          <a:prstGeom prst="rect">
            <a:avLst/>
          </a:prstGeom>
          <a:noFill/>
        </p:spPr>
        <p:txBody>
          <a:bodyPr wrap="square" rtlCol="0">
            <a:spAutoFit/>
          </a:bodyPr>
          <a:lstStyle/>
          <a:p>
            <a:pPr algn="l">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重点工作</a:t>
            </a:r>
            <a:r>
              <a:rPr kumimoji="1" lang="en-US" altLang="zh-CN" sz="1400" b="1" dirty="0">
                <a:solidFill>
                  <a:srgbClr val="0042FF"/>
                </a:solidFill>
                <a:latin typeface="微软雅黑"/>
                <a:ea typeface="微软雅黑"/>
                <a:cs typeface="微软雅黑"/>
              </a:rPr>
              <a:t>-</a:t>
            </a:r>
            <a:r>
              <a:rPr kumimoji="1" lang="zh-CN" altLang="en-US" sz="1400" b="1" dirty="0">
                <a:solidFill>
                  <a:srgbClr val="0042FF"/>
                </a:solidFill>
                <a:latin typeface="微软雅黑"/>
                <a:ea typeface="微软雅黑"/>
                <a:cs typeface="微软雅黑"/>
              </a:rPr>
              <a:t>产品优化</a:t>
            </a:r>
            <a:endParaRPr kumimoji="1" lang="zh-CN" altLang="en-US" sz="1400" b="1" dirty="0">
              <a:solidFill>
                <a:srgbClr val="0042FF"/>
              </a:solidFill>
              <a:latin typeface="微软雅黑"/>
              <a:ea typeface="微软雅黑"/>
              <a:cs typeface="微软雅黑"/>
            </a:endParaRPr>
          </a:p>
        </p:txBody>
      </p:sp>
      <p:sp>
        <p:nvSpPr>
          <p:cNvPr id="252" name="文本框 251"/>
          <p:cNvSpPr txBox="1"/>
          <p:nvPr/>
        </p:nvSpPr>
        <p:spPr>
          <a:xfrm>
            <a:off x="260350" y="1723390"/>
            <a:ext cx="2280285" cy="988695"/>
          </a:xfrm>
          <a:prstGeom prst="rect">
            <a:avLst/>
          </a:prstGeom>
          <a:noFill/>
        </p:spPr>
        <p:txBody>
          <a:bodyPr wrap="square" rtlCol="0" lIns="0" rIns="0" tIns="0" bIns="0">
            <a:spAutoFit/>
          </a:bodyPr>
          <a:lstStyle/>
          <a:p>
            <a:pPr algn="l">
              <a:lnSpc>
                <a:spcPct val="150000"/>
              </a:lnSpc>
              <a:defRPr>
                <a:latin typeface="微软雅黑"/>
                <a:ea typeface="微软雅黑"/>
                <a:cs typeface="微软雅黑"/>
              </a:defRPr>
            </a:pPr>
            <a:r>
              <a:rPr kumimoji="1" lang="zh-CN" altLang="en-US" sz="1000" dirty="0">
                <a:solidFill>
                  <a:srgbClr val="383838"/>
                </a:solidFill>
                <a:latin typeface="微软雅黑"/>
                <a:ea typeface="微软雅黑"/>
                <a:cs typeface="微软雅黑"/>
              </a:rPr>
              <a:t>对现有产品的各个方面进行优化，以提升其市场竞争力，旨在使产品更符合用户需求、更有效地解决问题，并增强其在市场上的表现和吸引力。</a:t>
            </a:r>
            <a:endParaRPr kumimoji="1" lang="zh-CN" altLang="en-US" sz="1000" dirty="0">
              <a:solidFill>
                <a:srgbClr val="383838"/>
              </a:solidFill>
              <a:latin typeface="微软雅黑"/>
              <a:ea typeface="微软雅黑"/>
              <a:cs typeface="微软雅黑"/>
            </a:endParaRPr>
          </a:p>
        </p:txBody>
      </p:sp>
      <p:sp>
        <p:nvSpPr>
          <p:cNvPr id="253" name="文本框 252"/>
          <p:cNvSpPr txBox="1"/>
          <p:nvPr/>
        </p:nvSpPr>
        <p:spPr>
          <a:xfrm>
            <a:off x="260350" y="4833620"/>
            <a:ext cx="2144395" cy="307975"/>
          </a:xfrm>
          <a:prstGeom prst="rect">
            <a:avLst/>
          </a:prstGeom>
          <a:noFill/>
        </p:spPr>
        <p:txBody>
          <a:bodyPr wrap="square" rtlCol="0">
            <a:spAutoFit/>
          </a:bodyPr>
          <a:lstStyle/>
          <a:p>
            <a:pPr>
              <a:defRPr>
                <a:latin typeface="微软雅黑"/>
                <a:ea typeface="微软雅黑"/>
                <a:cs typeface="微软雅黑"/>
              </a:defRPr>
            </a:pPr>
            <a:r>
              <a:rPr kumimoji="1" lang="zh-CN" altLang="en-US" sz="1400" b="1" dirty="0">
                <a:solidFill>
                  <a:srgbClr val="383838"/>
                </a:solidFill>
                <a:latin typeface="微软雅黑"/>
                <a:ea typeface="微软雅黑"/>
                <a:cs typeface="微软雅黑"/>
              </a:rPr>
              <a:t>重点工作</a:t>
            </a:r>
            <a:r>
              <a:rPr kumimoji="1" lang="en-US" altLang="zh-CN" sz="1400" b="1" dirty="0">
                <a:solidFill>
                  <a:srgbClr val="383838"/>
                </a:solidFill>
                <a:latin typeface="微软雅黑"/>
                <a:ea typeface="微软雅黑"/>
                <a:cs typeface="微软雅黑"/>
              </a:rPr>
              <a:t>-</a:t>
            </a:r>
            <a:r>
              <a:rPr kumimoji="1" lang="zh-CN" altLang="en-US" sz="1400" b="1" dirty="0">
                <a:solidFill>
                  <a:srgbClr val="383838"/>
                </a:solidFill>
                <a:latin typeface="微软雅黑"/>
                <a:ea typeface="微软雅黑"/>
                <a:cs typeface="微软雅黑"/>
              </a:rPr>
              <a:t>营销推广</a:t>
            </a:r>
            <a:endParaRPr kumimoji="1" lang="zh-CN" altLang="en-US" sz="1400" b="1" dirty="0">
              <a:solidFill>
                <a:srgbClr val="383838"/>
              </a:solidFill>
              <a:latin typeface="微软雅黑"/>
              <a:ea typeface="微软雅黑"/>
              <a:cs typeface="微软雅黑"/>
            </a:endParaRPr>
          </a:p>
        </p:txBody>
      </p:sp>
      <p:sp>
        <p:nvSpPr>
          <p:cNvPr id="254" name="文本框 253"/>
          <p:cNvSpPr txBox="1"/>
          <p:nvPr/>
        </p:nvSpPr>
        <p:spPr>
          <a:xfrm>
            <a:off x="260350" y="5136515"/>
            <a:ext cx="2280285" cy="988695"/>
          </a:xfrm>
          <a:prstGeom prst="rect">
            <a:avLst/>
          </a:prstGeom>
          <a:noFill/>
        </p:spPr>
        <p:txBody>
          <a:bodyPr wrap="square" rtlCol="0" lIns="0" rIns="0" tIns="0" bIns="0">
            <a:spAutoFit/>
          </a:bodyPr>
          <a:lstStyle/>
          <a:p>
            <a:pPr>
              <a:lnSpc>
                <a:spcPct val="150000"/>
              </a:lnSpc>
              <a:defRPr>
                <a:latin typeface="微软雅黑"/>
                <a:ea typeface="微软雅黑"/>
                <a:cs typeface="微软雅黑"/>
              </a:defRPr>
            </a:pPr>
            <a:r>
              <a:rPr kumimoji="1" lang="zh-CN" altLang="en-US" sz="1000" dirty="0">
                <a:solidFill>
                  <a:srgbClr val="383838"/>
                </a:solidFill>
                <a:latin typeface="微软雅黑"/>
                <a:ea typeface="微软雅黑"/>
                <a:cs typeface="微软雅黑"/>
              </a:rPr>
              <a:t>通过多种手段和渠道，向目标受众传播和推广产品或服务，以达到销售增长、品牌认知提升和市场占有率增长等商业目标的过程。</a:t>
            </a:r>
            <a:endParaRPr kumimoji="1" lang="zh-CN" altLang="en-US" sz="1000" dirty="0">
              <a:solidFill>
                <a:srgbClr val="383838"/>
              </a:solidFill>
              <a:latin typeface="微软雅黑"/>
              <a:ea typeface="微软雅黑"/>
              <a:cs typeface="微软雅黑"/>
            </a:endParaRPr>
          </a:p>
        </p:txBody>
      </p:sp>
      <p:sp>
        <p:nvSpPr>
          <p:cNvPr id="255" name="Google Shape;1680;p34"/>
          <p:cNvSpPr txBox="1"/>
          <p:nvPr/>
        </p:nvSpPr>
        <p:spPr>
          <a:xfrm>
            <a:off x="4628515" y="5849620"/>
            <a:ext cx="1135380" cy="97409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设定营销目标和销售目标。确定营销策略和方法。确定营销活动的预算和资源分配。</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l" defTabSz="914400" rtl="0" eaLnBrk="1" fontAlgn="auto" latinLnBrk="0" hangingPunct="1">
              <a:lnSpc>
                <a:spcPct val="100000"/>
              </a:lnSpc>
              <a:spcBef>
                <a:spcPts val="0"/>
              </a:spcBef>
              <a:spcAft>
                <a:spcPts val="0"/>
              </a:spcAft>
              <a:buClr>
                <a:srgbClr val="0042FF"/>
              </a:buClr>
              <a:buSzPts val="1000"/>
              <a:buFontTx/>
              <a:buNone/>
              <a:defRPr>
                <a:latin typeface="微软雅黑"/>
                <a:ea typeface="微软雅黑"/>
                <a:cs typeface="微软雅黑"/>
              </a:defRPr>
            </a:pP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56" name="Google Shape;1681;p34"/>
          <p:cNvSpPr txBox="1"/>
          <p:nvPr/>
        </p:nvSpPr>
        <p:spPr>
          <a:xfrm>
            <a:off x="4602480" y="5585460"/>
            <a:ext cx="1016000"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营销策略</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57" name="Google Shape;1680;p34"/>
          <p:cNvSpPr txBox="1"/>
          <p:nvPr/>
        </p:nvSpPr>
        <p:spPr>
          <a:xfrm>
            <a:off x="6040755" y="5849620"/>
            <a:ext cx="1135380" cy="1204595"/>
          </a:xfrm>
          <a:prstGeom prst="rect">
            <a:avLst/>
          </a:prstGeom>
          <a:noFill/>
          <a:ln>
            <a:noFill/>
          </a:ln>
        </p:spPr>
        <p:txBody>
          <a:bodyPr spcFirstLastPara="1" wrap="square" lIns="0" tIns="0" rIns="0" bIns="0" anchor="t" anchorCtr="0">
            <a:spAutoFit/>
          </a:bodyPr>
          <a:lstStyle/>
          <a:p>
            <a:pPr lvl="0" algn="l">
              <a:spcBef>
                <a:spcPts val="0"/>
              </a:spcBef>
              <a:spcAft>
                <a:spcPts val="0"/>
              </a:spcAft>
              <a:buClr>
                <a:srgbClr val="0042FF"/>
              </a:buClr>
              <a:buSzPts val="1000"/>
              <a:buFontTx/>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具体规划营销活动时间表和内容。确定营销渠道，如广告、公关等具体实施方案。</a:t>
            </a:r>
            <a:endParaRPr lang="zh-CN" altLang="en-US" sz="1000" noProof="0" dirty="0">
              <a:ln>
                <a:noFill/>
              </a:ln>
              <a:solidFill>
                <a:srgbClr val="383838"/>
              </a:solidFill>
              <a:effectLst/>
              <a:uLnTx/>
              <a:uFillTx/>
              <a:latin typeface="微软雅黑"/>
              <a:ea typeface="微软雅黑"/>
              <a:cs typeface="微软雅黑"/>
              <a:sym typeface="微软雅黑"/>
            </a:endParaRPr>
          </a:p>
        </p:txBody>
      </p:sp>
      <p:sp>
        <p:nvSpPr>
          <p:cNvPr id="258" name="Google Shape;1681;p34"/>
          <p:cNvSpPr txBox="1"/>
          <p:nvPr/>
        </p:nvSpPr>
        <p:spPr>
          <a:xfrm>
            <a:off x="5939155" y="5585460"/>
            <a:ext cx="1023620"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营销计划</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59" name="Google Shape;1680;p34"/>
          <p:cNvSpPr txBox="1"/>
          <p:nvPr/>
        </p:nvSpPr>
        <p:spPr>
          <a:xfrm>
            <a:off x="7286625" y="5849620"/>
            <a:ext cx="1135380" cy="1204595"/>
          </a:xfrm>
          <a:prstGeom prst="rect">
            <a:avLst/>
          </a:prstGeom>
          <a:noFill/>
          <a:ln>
            <a:noFill/>
          </a:ln>
        </p:spPr>
        <p:txBody>
          <a:bodyPr spcFirstLastPara="1" wrap="square" lIns="0" tIns="0" rIns="0" bIns="0" anchor="t" anchorCtr="0">
            <a:spAutoFit/>
          </a:bodyPr>
          <a:lstStyle/>
          <a:p>
            <a:pPr lvl="0" algn="l">
              <a:spcBef>
                <a:spcPts val="0"/>
              </a:spcBef>
              <a:spcAft>
                <a:spcPts val="0"/>
              </a:spcAft>
              <a:buClr>
                <a:srgbClr val="0042FF"/>
              </a:buClr>
              <a:buSzPts val="1000"/>
              <a:buFontTx/>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进行广告投放、促销活动等具体实施。确保各项活动按计划推进，并监控实施效果。</a:t>
            </a:r>
            <a:endParaRPr lang="zh-CN" altLang="en-US" sz="1000" noProof="0" dirty="0">
              <a:ln>
                <a:noFill/>
              </a:ln>
              <a:solidFill>
                <a:srgbClr val="383838"/>
              </a:solidFill>
              <a:effectLst/>
              <a:uLnTx/>
              <a:uFillTx/>
              <a:latin typeface="微软雅黑"/>
              <a:ea typeface="微软雅黑"/>
              <a:cs typeface="微软雅黑"/>
              <a:sym typeface="微软雅黑"/>
            </a:endParaRPr>
          </a:p>
        </p:txBody>
      </p:sp>
      <p:sp>
        <p:nvSpPr>
          <p:cNvPr id="260" name="Google Shape;1681;p34"/>
          <p:cNvSpPr txBox="1"/>
          <p:nvPr/>
        </p:nvSpPr>
        <p:spPr>
          <a:xfrm>
            <a:off x="7275830" y="5585460"/>
            <a:ext cx="966470"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营销活动</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61" name="Google Shape;1680;p34"/>
          <p:cNvSpPr txBox="1"/>
          <p:nvPr/>
        </p:nvSpPr>
        <p:spPr>
          <a:xfrm>
            <a:off x="8683625" y="5849620"/>
            <a:ext cx="1135380" cy="1204595"/>
          </a:xfrm>
          <a:prstGeom prst="rect">
            <a:avLst/>
          </a:prstGeom>
          <a:noFill/>
          <a:ln>
            <a:noFill/>
          </a:ln>
        </p:spPr>
        <p:txBody>
          <a:bodyPr spcFirstLastPara="1" wrap="square" lIns="0" tIns="0" rIns="0" bIns="0" anchor="t" anchorCtr="0">
            <a:spAutoFit/>
          </a:bodyPr>
          <a:lstStyle/>
          <a:p>
            <a:pPr lvl="0" algn="l">
              <a:spcBef>
                <a:spcPts val="0"/>
              </a:spcBef>
              <a:spcAft>
                <a:spcPts val="0"/>
              </a:spcAft>
              <a:buClr>
                <a:srgbClr val="0042FF"/>
              </a:buClr>
              <a:buSzPts val="1000"/>
              <a:buFontTx/>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评估各项营销活动的成效。根据反馈数据，优化营销策略和活动，提高效率和效果。</a:t>
            </a:r>
            <a:endParaRPr lang="zh-CN" altLang="en-US" sz="1000" noProof="0" dirty="0">
              <a:ln>
                <a:noFill/>
              </a:ln>
              <a:solidFill>
                <a:srgbClr val="383838"/>
              </a:solidFill>
              <a:effectLst/>
              <a:uLnTx/>
              <a:uFillTx/>
              <a:latin typeface="微软雅黑"/>
              <a:ea typeface="微软雅黑"/>
              <a:cs typeface="微软雅黑"/>
              <a:sym typeface="微软雅黑"/>
            </a:endParaRPr>
          </a:p>
        </p:txBody>
      </p:sp>
      <p:sp>
        <p:nvSpPr>
          <p:cNvPr id="262" name="Google Shape;1681;p34"/>
          <p:cNvSpPr txBox="1"/>
          <p:nvPr/>
        </p:nvSpPr>
        <p:spPr>
          <a:xfrm>
            <a:off x="8612505" y="5585460"/>
            <a:ext cx="9124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评估调整</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63" name="Google Shape;1680;p34"/>
          <p:cNvSpPr txBox="1"/>
          <p:nvPr/>
        </p:nvSpPr>
        <p:spPr>
          <a:xfrm>
            <a:off x="9946005" y="5849620"/>
            <a:ext cx="1135380" cy="1204595"/>
          </a:xfrm>
          <a:prstGeom prst="rect">
            <a:avLst/>
          </a:prstGeom>
          <a:noFill/>
          <a:ln>
            <a:noFill/>
          </a:ln>
        </p:spPr>
        <p:txBody>
          <a:bodyPr spcFirstLastPara="1" wrap="square" lIns="0" tIns="0" rIns="0" bIns="0" anchor="t" anchorCtr="0">
            <a:spAutoFit/>
          </a:bodyPr>
          <a:lstStyle/>
          <a:p>
            <a:pPr lvl="0" algn="l">
              <a:spcBef>
                <a:spcPts val="0"/>
              </a:spcBef>
              <a:spcAft>
                <a:spcPts val="0"/>
              </a:spcAft>
              <a:buClr>
                <a:srgbClr val="0042FF"/>
              </a:buClr>
              <a:buSzPts val="1000"/>
              <a:buFontTx/>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汇总数据，进行总结分析。向管理层汇报营销成果。制定下一阶段营销计划和策略。</a:t>
            </a:r>
            <a:endParaRPr lang="zh-CN" altLang="en-US" sz="1000" noProof="0" dirty="0">
              <a:ln>
                <a:noFill/>
              </a:ln>
              <a:solidFill>
                <a:srgbClr val="383838"/>
              </a:solidFill>
              <a:effectLst/>
              <a:uLnTx/>
              <a:uFillTx/>
              <a:latin typeface="微软雅黑"/>
              <a:ea typeface="微软雅黑"/>
              <a:cs typeface="微软雅黑"/>
              <a:sym typeface="微软雅黑"/>
            </a:endParaRPr>
          </a:p>
        </p:txBody>
      </p:sp>
      <p:sp>
        <p:nvSpPr>
          <p:cNvPr id="264" name="Google Shape;1681;p34"/>
          <p:cNvSpPr txBox="1"/>
          <p:nvPr/>
        </p:nvSpPr>
        <p:spPr>
          <a:xfrm>
            <a:off x="9949180" y="5585460"/>
            <a:ext cx="85788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总结报告</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2" name="图片 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下半年能力提升规划</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Rounded Rectangle"/>
          <p:cNvSpPr/>
          <p:nvPr>
            <p:custDataLst>
              <p:tags r:id="rId3"/>
            </p:custDataLst>
          </p:nvPr>
        </p:nvSpPr>
        <p:spPr>
          <a:xfrm>
            <a:off x="4462706" y="6133062"/>
            <a:ext cx="1571924" cy="335321"/>
          </a:xfrm>
          <a:prstGeom prst="roundRect">
            <a:avLst>
              <a:gd name="adj" fmla="val 8232"/>
            </a:avLst>
          </a:prstGeom>
          <a:solidFill>
            <a:srgbClr val="3368FF"/>
          </a:solidFill>
          <a:ln w="12700" cap="flat">
            <a:noFill/>
            <a:miter lim="400000"/>
          </a:ln>
          <a:effectLst/>
        </p:spPr>
        <p:txBody>
          <a:bodyPr wrap="square" lIns="0" tIns="0" rIns="0" bIns="0" numCol="1" anchor="ctr">
            <a:noAutofit/>
          </a:bodyPr>
          <a:lstStyle/>
          <a:p>
            <a:pPr>
              <a:spcAft>
                <a:spcPts val="500"/>
              </a:spcAft>
              <a:defRPr>
                <a:solidFill>
                  <a:srgbClr val="FFFFFF"/>
                </a:solidFill>
                <a:latin typeface="微软雅黑"/>
                <a:ea typeface="微软雅黑"/>
                <a:cs typeface="微软雅黑"/>
              </a:defRPr>
            </a:pPr>
            <a:endParaRPr sz="1000">
              <a:solidFill>
                <a:srgbClr val="FFFFFF"/>
              </a:solidFill>
              <a:latin typeface="微软雅黑"/>
              <a:ea typeface="微软雅黑"/>
              <a:cs typeface="微软雅黑"/>
            </a:endParaRPr>
          </a:p>
        </p:txBody>
      </p:sp>
      <p:grpSp>
        <p:nvGrpSpPr>
          <p:cNvPr id="7" name="Group"/>
          <p:cNvGrpSpPr/>
          <p:nvPr>
            <p:custDataLst>
              <p:tags r:id="rId4"/>
            </p:custDataLst>
          </p:nvPr>
        </p:nvGrpSpPr>
        <p:grpSpPr>
          <a:xfrm>
            <a:off x="2563134" y="6133062"/>
            <a:ext cx="1770915" cy="335321"/>
            <a:chOff x="0" y="0"/>
            <a:chExt cx="3313478" cy="643398"/>
          </a:xfrm>
          <a:solidFill>
            <a:srgbClr val="668EFF"/>
          </a:solidFill>
        </p:grpSpPr>
        <p:sp>
          <p:nvSpPr>
            <p:cNvPr id="9" name="Rounded Rectangle"/>
            <p:cNvSpPr/>
            <p:nvPr>
              <p:custDataLst>
                <p:tags r:id="rId5"/>
              </p:custDataLst>
            </p:nvPr>
          </p:nvSpPr>
          <p:spPr>
            <a:xfrm>
              <a:off x="0" y="0"/>
              <a:ext cx="3313478" cy="643398"/>
            </a:xfrm>
            <a:prstGeom prst="roundRect">
              <a:avLst>
                <a:gd name="adj" fmla="val 8232"/>
              </a:avLst>
            </a:prstGeom>
            <a:solidFill>
              <a:srgbClr val="3368FF"/>
            </a:solidFill>
            <a:ln w="12700" cap="flat">
              <a:noFill/>
              <a:miter lim="400000"/>
            </a:ln>
            <a:effectLst/>
          </p:spPr>
          <p:txBody>
            <a:bodyPr wrap="square" lIns="0" tIns="0" rIns="0" bIns="0" numCol="1" anchor="ctr">
              <a:noAutofit/>
            </a:bodyPr>
            <a:lstStyle/>
            <a:p>
              <a:pPr>
                <a:spcAft>
                  <a:spcPts val="500"/>
                </a:spcAft>
                <a:defRPr>
                  <a:solidFill>
                    <a:srgbClr val="FFFFFF"/>
                  </a:solidFill>
                  <a:latin typeface="微软雅黑"/>
                  <a:ea typeface="微软雅黑"/>
                  <a:cs typeface="微软雅黑"/>
                </a:defRPr>
              </a:pPr>
              <a:endParaRPr sz="1000" dirty="0">
                <a:solidFill>
                  <a:srgbClr val="FFFFFF"/>
                </a:solidFill>
                <a:latin typeface="微软雅黑"/>
                <a:ea typeface="微软雅黑"/>
                <a:cs typeface="微软雅黑"/>
              </a:endParaRPr>
            </a:p>
          </p:txBody>
        </p:sp>
        <p:sp>
          <p:nvSpPr>
            <p:cNvPr id="3" name="Venn diagram"/>
            <p:cNvSpPr/>
            <p:nvPr>
              <p:custDataLst>
                <p:tags r:id="rId6"/>
              </p:custDataLst>
            </p:nvPr>
          </p:nvSpPr>
          <p:spPr>
            <a:xfrm>
              <a:off x="639734" y="118498"/>
              <a:ext cx="2034012" cy="393697"/>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grpFill/>
            <a:ln w="12700" cap="flat">
              <a:noFill/>
              <a:miter lim="400000"/>
            </a:ln>
            <a:effectLst/>
          </p:spPr>
          <p:txBody>
            <a:bodyPr wrap="square" lIns="0" tIns="0" rIns="0" bIns="0" numCol="1" anchor="t">
              <a:spAutoFit/>
            </a:bodyPr>
            <a:lstStyle>
              <a:lvl1pPr>
                <a:defRPr sz="2000">
                  <a:solidFill>
                    <a:srgbClr val="383838"/>
                  </a:solidFill>
                  <a:latin typeface="微软雅黑"/>
                  <a:ea typeface="微软雅黑"/>
                  <a:cs typeface="微软雅黑"/>
                  <a:sym typeface="微软雅黑"/>
                </a:defRPr>
              </a:lvl1pPr>
            </a:lstStyle>
            <a:p>
              <a:pPr>
                <a:spcAft>
                  <a:spcPts val="500"/>
                </a:spcAft>
                <a:defRPr>
                  <a:solidFill>
                    <a:srgbClr val="FFFFFF"/>
                  </a:solidFill>
                  <a:latin typeface="微软雅黑"/>
                  <a:ea typeface="微软雅黑"/>
                  <a:cs typeface="微软雅黑"/>
                </a:defRPr>
              </a:pPr>
              <a:endParaRPr sz="1000" dirty="0">
                <a:solidFill>
                  <a:srgbClr val="FFFFFF"/>
                </a:solidFill>
                <a:latin typeface="微软雅黑"/>
                <a:ea typeface="微软雅黑"/>
                <a:cs typeface="微软雅黑"/>
                <a:sym typeface="微软雅黑"/>
              </a:endParaRPr>
            </a:p>
          </p:txBody>
        </p:sp>
      </p:grpSp>
      <p:sp>
        <p:nvSpPr>
          <p:cNvPr id="6" name="Rounded Rectangle"/>
          <p:cNvSpPr/>
          <p:nvPr>
            <p:custDataLst>
              <p:tags r:id="rId7"/>
            </p:custDataLst>
          </p:nvPr>
        </p:nvSpPr>
        <p:spPr>
          <a:xfrm>
            <a:off x="6239510" y="1189990"/>
            <a:ext cx="1885315" cy="5278120"/>
          </a:xfrm>
          <a:prstGeom prst="roundRect">
            <a:avLst>
              <a:gd name="adj" fmla="val 1647"/>
            </a:avLst>
          </a:prstGeom>
          <a:pattFill prst="divot">
            <a:fgClr>
              <a:srgbClr val="FFFFFF"/>
            </a:fgClr>
            <a:bgClr>
              <a:srgbClr val="FFFFFF"/>
            </a:bgClr>
          </a:pattFill>
          <a:ln w="18097" cap="flat" cmpd="sng">
            <a:solidFill>
              <a:srgbClr val="3368FF"/>
            </a:solidFill>
            <a:prstDash val="solid"/>
            <a:round/>
            <a:headEnd type="none" w="sm" len="sm"/>
            <a:tailEnd type="none" w="sm" len="sm"/>
          </a:ln>
          <a:effectLst/>
        </p:spPr>
        <p:txBody>
          <a:bodyPr spcFirstLastPara="1" wrap="square" lIns="0" tIns="0" rIns="0" bIns="0" anchor="ctr" anchorCtr="0">
            <a:noAutofit/>
          </a:bodyPr>
          <a:lstStyle/>
          <a:p>
            <a:pPr lvl="0" algn="ctr">
              <a:buClr>
                <a:srgbClr val="383838"/>
              </a:buClr>
              <a:buSzPts val="1100"/>
              <a:buFontTx/>
              <a:defRPr>
                <a:latin typeface="微软雅黑"/>
                <a:ea typeface="微软雅黑"/>
                <a:cs typeface="微软雅黑"/>
              </a:defRPr>
            </a:pPr>
            <a:endParaRPr sz="1395">
              <a:solidFill>
                <a:srgbClr val="383838"/>
              </a:solidFill>
              <a:latin typeface="微软雅黑"/>
              <a:ea typeface="微软雅黑"/>
              <a:cs typeface="微软雅黑"/>
              <a:sym typeface="微软雅黑"/>
            </a:endParaRPr>
          </a:p>
        </p:txBody>
      </p:sp>
      <p:sp>
        <p:nvSpPr>
          <p:cNvPr id="8" name="Shape"/>
          <p:cNvSpPr/>
          <p:nvPr>
            <p:custDataLst>
              <p:tags r:id="rId8"/>
            </p:custDataLst>
          </p:nvPr>
        </p:nvSpPr>
        <p:spPr>
          <a:xfrm>
            <a:off x="-10633" y="3139505"/>
            <a:ext cx="11934083" cy="2202639"/>
          </a:xfrm>
          <a:custGeom>
            <a:avLst/>
            <a:gdLst/>
            <a:ahLst/>
            <a:cxnLst>
              <a:cxn ang="0">
                <a:pos x="wd2" y="hd2"/>
              </a:cxn>
              <a:cxn ang="5400000">
                <a:pos x="wd2" y="hd2"/>
              </a:cxn>
              <a:cxn ang="10800000">
                <a:pos x="wd2" y="hd2"/>
              </a:cxn>
              <a:cxn ang="16200000">
                <a:pos x="wd2" y="hd2"/>
              </a:cxn>
            </a:cxnLst>
            <a:rect l="0" t="0" r="r" b="b"/>
            <a:pathLst>
              <a:path w="21600" h="21600" extrusionOk="0">
                <a:moveTo>
                  <a:pt x="1" y="15093"/>
                </a:moveTo>
                <a:lnTo>
                  <a:pt x="7852" y="15083"/>
                </a:lnTo>
                <a:lnTo>
                  <a:pt x="19611" y="1853"/>
                </a:lnTo>
                <a:lnTo>
                  <a:pt x="19542" y="0"/>
                </a:lnTo>
                <a:lnTo>
                  <a:pt x="21600" y="2934"/>
                </a:lnTo>
                <a:lnTo>
                  <a:pt x="19925" y="10041"/>
                </a:lnTo>
                <a:lnTo>
                  <a:pt x="19858" y="8206"/>
                </a:lnTo>
                <a:lnTo>
                  <a:pt x="7954" y="21600"/>
                </a:lnTo>
                <a:lnTo>
                  <a:pt x="0" y="21590"/>
                </a:lnTo>
                <a:lnTo>
                  <a:pt x="1" y="15093"/>
                </a:lnTo>
                <a:close/>
              </a:path>
            </a:pathLst>
          </a:custGeom>
          <a:gradFill>
            <a:gsLst>
              <a:gs pos="0">
                <a:srgbClr val="3368FF"/>
              </a:gs>
              <a:gs pos="88000">
                <a:srgbClr val="0042FF"/>
              </a:gs>
            </a:gsLst>
            <a:lin ang="0" scaled="0"/>
          </a:gradFill>
          <a:ln w="12700">
            <a:miter lim="400000"/>
          </a:ln>
        </p:spPr>
        <p:txBody>
          <a:bodyPr lIns="0" tIns="0" rIns="0" bIns="0"/>
          <a:lstStyle/>
          <a:p>
            <a:pPr>
              <a:spcAft>
                <a:spcPts val="500"/>
              </a:spcAft>
              <a:defRPr>
                <a:solidFill>
                  <a:srgbClr val="383838"/>
                </a:solidFill>
                <a:latin typeface="微软雅黑"/>
                <a:ea typeface="微软雅黑"/>
                <a:cs typeface="微软雅黑"/>
              </a:defRPr>
            </a:pPr>
            <a:endParaRPr sz="1000" dirty="0">
              <a:solidFill>
                <a:srgbClr val="383838"/>
              </a:solidFill>
              <a:latin typeface="微软雅黑"/>
              <a:ea typeface="微软雅黑"/>
              <a:cs typeface="微软雅黑"/>
            </a:endParaRPr>
          </a:p>
        </p:txBody>
      </p:sp>
      <p:sp>
        <p:nvSpPr>
          <p:cNvPr id="16" name="Line"/>
          <p:cNvSpPr/>
          <p:nvPr>
            <p:custDataLst>
              <p:tags r:id="rId9"/>
            </p:custDataLst>
          </p:nvPr>
        </p:nvSpPr>
        <p:spPr>
          <a:xfrm flipH="1">
            <a:off x="467898" y="2813950"/>
            <a:ext cx="0" cy="3680995"/>
          </a:xfrm>
          <a:prstGeom prst="line">
            <a:avLst/>
          </a:prstGeom>
          <a:ln w="19050">
            <a:solidFill>
              <a:srgbClr val="E6E6E6"/>
            </a:solidFill>
            <a:custDash>
              <a:ds d="200000" sp="200000"/>
            </a:custDash>
            <a:miter lim="400000"/>
          </a:ln>
        </p:spPr>
        <p:txBody>
          <a:bodyPr lIns="0" tIns="0" rIns="0" bIns="0"/>
          <a:lstStyle/>
          <a:p>
            <a:pPr>
              <a:spcAft>
                <a:spcPts val="500"/>
              </a:spcAft>
              <a:defRPr>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7" name="Line"/>
          <p:cNvSpPr/>
          <p:nvPr>
            <p:custDataLst>
              <p:tags r:id="rId10"/>
            </p:custDataLst>
          </p:nvPr>
        </p:nvSpPr>
        <p:spPr>
          <a:xfrm flipH="1">
            <a:off x="2474273" y="2801896"/>
            <a:ext cx="0" cy="3695801"/>
          </a:xfrm>
          <a:prstGeom prst="line">
            <a:avLst/>
          </a:prstGeom>
          <a:ln w="19050">
            <a:solidFill>
              <a:srgbClr val="E6E6E6"/>
            </a:solidFill>
            <a:custDash>
              <a:ds d="200000" sp="200000"/>
            </a:custDash>
            <a:miter lim="400000"/>
          </a:ln>
        </p:spPr>
        <p:txBody>
          <a:bodyPr lIns="0" tIns="0" rIns="0" bIns="0"/>
          <a:lstStyle/>
          <a:p>
            <a:pPr>
              <a:spcAft>
                <a:spcPts val="500"/>
              </a:spcAft>
              <a:defRPr>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22" name="Line"/>
          <p:cNvSpPr/>
          <p:nvPr>
            <p:custDataLst>
              <p:tags r:id="rId11"/>
            </p:custDataLst>
          </p:nvPr>
        </p:nvSpPr>
        <p:spPr>
          <a:xfrm flipH="1">
            <a:off x="4398377" y="2813950"/>
            <a:ext cx="0" cy="3683747"/>
          </a:xfrm>
          <a:prstGeom prst="line">
            <a:avLst/>
          </a:prstGeom>
          <a:ln w="19050">
            <a:solidFill>
              <a:srgbClr val="E6E6E6"/>
            </a:solidFill>
            <a:custDash>
              <a:ds d="200000" sp="200000"/>
            </a:custDash>
            <a:miter lim="400000"/>
          </a:ln>
        </p:spPr>
        <p:txBody>
          <a:bodyPr lIns="0" tIns="0" rIns="0" bIns="0"/>
          <a:lstStyle/>
          <a:p>
            <a:pPr>
              <a:spcAft>
                <a:spcPts val="500"/>
              </a:spcAft>
              <a:defRPr>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23" name="Line"/>
          <p:cNvSpPr/>
          <p:nvPr>
            <p:custDataLst>
              <p:tags r:id="rId12"/>
            </p:custDataLst>
          </p:nvPr>
        </p:nvSpPr>
        <p:spPr>
          <a:xfrm flipH="1">
            <a:off x="6117266" y="1190004"/>
            <a:ext cx="0" cy="5307693"/>
          </a:xfrm>
          <a:prstGeom prst="line">
            <a:avLst/>
          </a:prstGeom>
          <a:ln w="19050">
            <a:solidFill>
              <a:srgbClr val="E6E6E6"/>
            </a:solidFill>
            <a:custDash>
              <a:ds d="200000" sp="200000"/>
            </a:custDash>
            <a:miter lim="400000"/>
          </a:ln>
        </p:spPr>
        <p:txBody>
          <a:bodyPr lIns="0" tIns="0" rIns="0" bIns="0"/>
          <a:lstStyle/>
          <a:p>
            <a:pPr>
              <a:spcAft>
                <a:spcPts val="500"/>
              </a:spcAft>
              <a:defRPr>
                <a:latin typeface="微软雅黑"/>
                <a:ea typeface="微软雅黑"/>
                <a:cs typeface="微软雅黑"/>
                <a:sym typeface="微软雅黑"/>
              </a:defRPr>
            </a:pPr>
            <a:endParaRPr sz="1000">
              <a:latin typeface="微软雅黑"/>
              <a:ea typeface="微软雅黑"/>
              <a:cs typeface="微软雅黑"/>
              <a:sym typeface="微软雅黑"/>
            </a:endParaRPr>
          </a:p>
        </p:txBody>
      </p:sp>
      <p:sp>
        <p:nvSpPr>
          <p:cNvPr id="24" name="Line"/>
          <p:cNvSpPr/>
          <p:nvPr>
            <p:custDataLst>
              <p:tags r:id="rId13"/>
            </p:custDataLst>
          </p:nvPr>
        </p:nvSpPr>
        <p:spPr>
          <a:xfrm flipH="1">
            <a:off x="8201396" y="1190004"/>
            <a:ext cx="0" cy="5307693"/>
          </a:xfrm>
          <a:prstGeom prst="line">
            <a:avLst/>
          </a:prstGeom>
          <a:ln w="19050">
            <a:solidFill>
              <a:srgbClr val="E6E6E6"/>
            </a:solidFill>
            <a:custDash>
              <a:ds d="200000" sp="200000"/>
            </a:custDash>
            <a:miter lim="400000"/>
          </a:ln>
        </p:spPr>
        <p:txBody>
          <a:bodyPr lIns="0" tIns="0" rIns="0" bIns="0"/>
          <a:lstStyle/>
          <a:p>
            <a:pPr>
              <a:spcAft>
                <a:spcPts val="500"/>
              </a:spcAft>
              <a:defRPr>
                <a:latin typeface="微软雅黑"/>
                <a:ea typeface="微软雅黑"/>
                <a:cs typeface="微软雅黑"/>
                <a:sym typeface="微软雅黑"/>
              </a:defRPr>
            </a:pPr>
            <a:endParaRPr sz="1000">
              <a:latin typeface="微软雅黑"/>
              <a:ea typeface="微软雅黑"/>
              <a:cs typeface="微软雅黑"/>
              <a:sym typeface="微软雅黑"/>
            </a:endParaRPr>
          </a:p>
        </p:txBody>
      </p:sp>
      <p:sp>
        <p:nvSpPr>
          <p:cNvPr id="25" name="Line"/>
          <p:cNvSpPr/>
          <p:nvPr>
            <p:custDataLst>
              <p:tags r:id="rId14"/>
            </p:custDataLst>
          </p:nvPr>
        </p:nvSpPr>
        <p:spPr>
          <a:xfrm flipH="1">
            <a:off x="10022960" y="1190004"/>
            <a:ext cx="0" cy="5307693"/>
          </a:xfrm>
          <a:prstGeom prst="line">
            <a:avLst/>
          </a:prstGeom>
          <a:ln w="19050">
            <a:solidFill>
              <a:srgbClr val="E6E6E6"/>
            </a:solidFill>
            <a:custDash>
              <a:ds d="200000" sp="200000"/>
            </a:custDash>
            <a:miter lim="400000"/>
          </a:ln>
        </p:spPr>
        <p:txBody>
          <a:bodyPr lIns="0" tIns="0" rIns="0" bIns="0"/>
          <a:lstStyle/>
          <a:p>
            <a:pPr>
              <a:spcAft>
                <a:spcPts val="500"/>
              </a:spcAft>
              <a:defRPr>
                <a:latin typeface="微软雅黑"/>
                <a:ea typeface="微软雅黑"/>
                <a:cs typeface="微软雅黑"/>
                <a:sym typeface="微软雅黑"/>
              </a:defRPr>
            </a:pPr>
            <a:endParaRPr sz="1000">
              <a:latin typeface="微软雅黑"/>
              <a:ea typeface="微软雅黑"/>
              <a:cs typeface="微软雅黑"/>
              <a:sym typeface="微软雅黑"/>
            </a:endParaRPr>
          </a:p>
        </p:txBody>
      </p:sp>
      <p:sp>
        <p:nvSpPr>
          <p:cNvPr id="26" name="Line"/>
          <p:cNvSpPr/>
          <p:nvPr>
            <p:custDataLst>
              <p:tags r:id="rId15"/>
            </p:custDataLst>
          </p:nvPr>
        </p:nvSpPr>
        <p:spPr>
          <a:xfrm>
            <a:off x="0" y="3429590"/>
            <a:ext cx="11905069" cy="156129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7925" y="21600"/>
                </a:lnTo>
                <a:lnTo>
                  <a:pt x="21600" y="0"/>
                </a:lnTo>
              </a:path>
            </a:pathLst>
          </a:custGeom>
          <a:ln w="25400">
            <a:solidFill>
              <a:srgbClr val="FFFFFF"/>
            </a:solidFill>
            <a:prstDash val="dash"/>
          </a:ln>
        </p:spPr>
        <p:txBody>
          <a:bodyPr lIns="0" tIns="0" rIns="0" bIns="0"/>
          <a:lstStyle/>
          <a:p>
            <a:pPr>
              <a:spcAft>
                <a:spcPts val="500"/>
              </a:spcAft>
              <a:defRPr>
                <a:solidFill>
                  <a:srgbClr val="383838"/>
                </a:solidFill>
                <a:latin typeface="微软雅黑"/>
                <a:ea typeface="微软雅黑"/>
                <a:cs typeface="微软雅黑"/>
              </a:defRPr>
            </a:pPr>
            <a:endParaRPr sz="1000">
              <a:solidFill>
                <a:srgbClr val="383838"/>
              </a:solidFill>
              <a:latin typeface="微软雅黑"/>
              <a:ea typeface="微软雅黑"/>
              <a:cs typeface="微软雅黑"/>
            </a:endParaRPr>
          </a:p>
        </p:txBody>
      </p:sp>
      <p:sp>
        <p:nvSpPr>
          <p:cNvPr id="27" name="Rounded Rectangle"/>
          <p:cNvSpPr/>
          <p:nvPr>
            <p:custDataLst>
              <p:tags r:id="rId16"/>
            </p:custDataLst>
          </p:nvPr>
        </p:nvSpPr>
        <p:spPr>
          <a:xfrm>
            <a:off x="6336673" y="5626547"/>
            <a:ext cx="1690988" cy="335321"/>
          </a:xfrm>
          <a:prstGeom prst="roundRect">
            <a:avLst>
              <a:gd name="adj" fmla="val 8232"/>
            </a:avLst>
          </a:prstGeom>
          <a:solidFill>
            <a:srgbClr val="3368FF"/>
          </a:solidFill>
          <a:ln w="12700" cap="flat">
            <a:noFill/>
            <a:miter lim="400000"/>
          </a:ln>
          <a:effectLst/>
        </p:spPr>
        <p:txBody>
          <a:bodyPr wrap="square" lIns="0" tIns="0" rIns="0" bIns="0" numCol="1" anchor="ctr">
            <a:noAutofit/>
          </a:bodyPr>
          <a:lstStyle/>
          <a:p>
            <a:pPr algn="ctr">
              <a:spcAft>
                <a:spcPts val="500"/>
              </a:spcAft>
              <a:defRPr>
                <a:solidFill>
                  <a:srgbClr val="FFFFFF"/>
                </a:solidFill>
                <a:latin typeface="微软雅黑"/>
                <a:ea typeface="微软雅黑"/>
                <a:cs typeface="微软雅黑"/>
              </a:defRPr>
            </a:pPr>
            <a:endParaRPr sz="1000">
              <a:solidFill>
                <a:srgbClr val="FFFFFF"/>
              </a:solidFill>
              <a:latin typeface="微软雅黑"/>
              <a:ea typeface="微软雅黑"/>
              <a:cs typeface="微软雅黑"/>
            </a:endParaRPr>
          </a:p>
        </p:txBody>
      </p:sp>
      <p:sp>
        <p:nvSpPr>
          <p:cNvPr id="28" name="Rounded Rectangle"/>
          <p:cNvSpPr/>
          <p:nvPr>
            <p:custDataLst>
              <p:tags r:id="rId17"/>
            </p:custDataLst>
          </p:nvPr>
        </p:nvSpPr>
        <p:spPr>
          <a:xfrm>
            <a:off x="522815" y="6133062"/>
            <a:ext cx="1896542" cy="335321"/>
          </a:xfrm>
          <a:prstGeom prst="roundRect">
            <a:avLst>
              <a:gd name="adj" fmla="val 8232"/>
            </a:avLst>
          </a:prstGeom>
          <a:solidFill>
            <a:srgbClr val="3368FF"/>
          </a:solidFill>
          <a:ln w="12700" cap="flat">
            <a:noFill/>
            <a:miter lim="400000"/>
          </a:ln>
          <a:effectLst/>
        </p:spPr>
        <p:txBody>
          <a:bodyPr wrap="square" lIns="0" tIns="0" rIns="0" bIns="0" numCol="1" anchor="ctr">
            <a:noAutofit/>
          </a:bodyPr>
          <a:lstStyle/>
          <a:p>
            <a:pPr>
              <a:spcAft>
                <a:spcPts val="500"/>
              </a:spcAft>
              <a:defRPr>
                <a:solidFill>
                  <a:srgbClr val="FFFFFF"/>
                </a:solidFill>
                <a:latin typeface="微软雅黑"/>
                <a:ea typeface="微软雅黑"/>
                <a:cs typeface="微软雅黑"/>
              </a:defRPr>
            </a:pPr>
            <a:endParaRPr sz="1000" dirty="0">
              <a:solidFill>
                <a:srgbClr val="FFFFFF"/>
              </a:solidFill>
              <a:latin typeface="微软雅黑"/>
              <a:ea typeface="微软雅黑"/>
              <a:cs typeface="微软雅黑"/>
            </a:endParaRPr>
          </a:p>
        </p:txBody>
      </p:sp>
      <p:sp>
        <p:nvSpPr>
          <p:cNvPr id="29" name="Venn diagram"/>
          <p:cNvSpPr/>
          <p:nvPr>
            <p:custDataLst>
              <p:tags r:id="rId18"/>
            </p:custDataLst>
          </p:nvPr>
        </p:nvSpPr>
        <p:spPr>
          <a:xfrm>
            <a:off x="991713" y="6167352"/>
            <a:ext cx="1124162" cy="266065"/>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defRPr sz="2000">
                <a:solidFill>
                  <a:srgbClr val="FFFFFF"/>
                </a:solidFill>
                <a:latin typeface="微软雅黑"/>
                <a:ea typeface="微软雅黑"/>
                <a:cs typeface="微软雅黑"/>
                <a:sym typeface="微软雅黑"/>
              </a:defRPr>
            </a:lvl1pPr>
          </a:lstStyle>
          <a:p>
            <a:pPr>
              <a:spcAft>
                <a:spcPts val="500"/>
              </a:spcAft>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2026</a:t>
            </a:r>
            <a:r>
              <a:rPr lang="zh-CN" altLang="en-US" sz="1400" b="1" dirty="0">
                <a:solidFill>
                  <a:srgbClr val="FFFFFF"/>
                </a:solidFill>
                <a:latin typeface="微软雅黑"/>
                <a:ea typeface="微软雅黑"/>
                <a:cs typeface="微软雅黑"/>
                <a:sym typeface="微软雅黑"/>
              </a:rPr>
              <a:t>年</a:t>
            </a:r>
            <a:r>
              <a:rPr lang="en-US" altLang="zh-CN" sz="1400" b="1" dirty="0">
                <a:solidFill>
                  <a:srgbClr val="FFFFFF"/>
                </a:solidFill>
                <a:latin typeface="微软雅黑"/>
                <a:ea typeface="微软雅黑"/>
                <a:cs typeface="微软雅黑"/>
                <a:sym typeface="微软雅黑"/>
              </a:rPr>
              <a:t>7</a:t>
            </a:r>
            <a:r>
              <a:rPr lang="zh-CN" altLang="en-US" sz="1400" b="1" dirty="0">
                <a:solidFill>
                  <a:srgbClr val="FFFFFF"/>
                </a:solidFill>
                <a:latin typeface="微软雅黑"/>
                <a:ea typeface="微软雅黑"/>
                <a:cs typeface="微软雅黑"/>
                <a:sym typeface="微软雅黑"/>
              </a:rPr>
              <a:t>月</a:t>
            </a:r>
            <a:endParaRPr sz="1400" b="1" dirty="0">
              <a:solidFill>
                <a:srgbClr val="FFFFFF"/>
              </a:solidFill>
              <a:latin typeface="微软雅黑"/>
              <a:ea typeface="微软雅黑"/>
              <a:cs typeface="微软雅黑"/>
              <a:sym typeface="微软雅黑"/>
            </a:endParaRPr>
          </a:p>
        </p:txBody>
      </p:sp>
      <p:sp>
        <p:nvSpPr>
          <p:cNvPr id="30" name="Venn diagram"/>
          <p:cNvSpPr/>
          <p:nvPr>
            <p:custDataLst>
              <p:tags r:id="rId19"/>
            </p:custDataLst>
          </p:nvPr>
        </p:nvSpPr>
        <p:spPr>
          <a:xfrm>
            <a:off x="2937472" y="6167352"/>
            <a:ext cx="1114915" cy="266065"/>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defRPr sz="2000">
                <a:solidFill>
                  <a:srgbClr val="383838"/>
                </a:solidFill>
                <a:latin typeface="微软雅黑"/>
                <a:ea typeface="微软雅黑"/>
                <a:cs typeface="微软雅黑"/>
                <a:sym typeface="微软雅黑"/>
              </a:defRPr>
            </a:lvl1pPr>
          </a:lstStyle>
          <a:p>
            <a:pPr>
              <a:spcAft>
                <a:spcPts val="500"/>
              </a:spcAft>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2026</a:t>
            </a:r>
            <a:r>
              <a:rPr lang="zh-CN" altLang="en-US" sz="1400" b="1" dirty="0">
                <a:solidFill>
                  <a:srgbClr val="FFFFFF"/>
                </a:solidFill>
                <a:latin typeface="微软雅黑"/>
                <a:ea typeface="微软雅黑"/>
                <a:cs typeface="微软雅黑"/>
                <a:sym typeface="微软雅黑"/>
              </a:rPr>
              <a:t>年</a:t>
            </a:r>
            <a:r>
              <a:rPr lang="en-US" altLang="zh-CN" sz="1400" b="1" dirty="0">
                <a:solidFill>
                  <a:srgbClr val="FFFFFF"/>
                </a:solidFill>
                <a:latin typeface="微软雅黑"/>
                <a:ea typeface="微软雅黑"/>
                <a:cs typeface="微软雅黑"/>
                <a:sym typeface="微软雅黑"/>
              </a:rPr>
              <a:t>8</a:t>
            </a:r>
            <a:r>
              <a:rPr lang="zh-CN" altLang="en-US" sz="1400" b="1" dirty="0">
                <a:solidFill>
                  <a:srgbClr val="FFFFFF"/>
                </a:solidFill>
                <a:latin typeface="微软雅黑"/>
                <a:ea typeface="微软雅黑"/>
                <a:cs typeface="微软雅黑"/>
                <a:sym typeface="微软雅黑"/>
              </a:rPr>
              <a:t>月</a:t>
            </a:r>
            <a:endParaRPr sz="1400" b="1" dirty="0">
              <a:solidFill>
                <a:srgbClr val="FFFFFF"/>
              </a:solidFill>
              <a:latin typeface="微软雅黑"/>
              <a:ea typeface="微软雅黑"/>
              <a:cs typeface="微软雅黑"/>
              <a:sym typeface="微软雅黑"/>
            </a:endParaRPr>
          </a:p>
        </p:txBody>
      </p:sp>
      <p:sp>
        <p:nvSpPr>
          <p:cNvPr id="31" name="Venn diagram"/>
          <p:cNvSpPr/>
          <p:nvPr>
            <p:custDataLst>
              <p:tags r:id="rId20"/>
            </p:custDataLst>
          </p:nvPr>
        </p:nvSpPr>
        <p:spPr>
          <a:xfrm>
            <a:off x="4755636" y="6167352"/>
            <a:ext cx="1069321" cy="266065"/>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defRPr sz="2000">
                <a:solidFill>
                  <a:srgbClr val="FFFFFF"/>
                </a:solidFill>
                <a:latin typeface="微软雅黑"/>
                <a:ea typeface="微软雅黑"/>
                <a:cs typeface="微软雅黑"/>
                <a:sym typeface="微软雅黑"/>
              </a:defRPr>
            </a:lvl1pPr>
          </a:lstStyle>
          <a:p>
            <a:pPr>
              <a:spcAft>
                <a:spcPts val="500"/>
              </a:spcAft>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2026</a:t>
            </a:r>
            <a:r>
              <a:rPr lang="zh-CN" altLang="en-US" sz="1400" b="1" dirty="0">
                <a:solidFill>
                  <a:srgbClr val="FFFFFF"/>
                </a:solidFill>
                <a:latin typeface="微软雅黑"/>
                <a:ea typeface="微软雅黑"/>
                <a:cs typeface="微软雅黑"/>
                <a:sym typeface="微软雅黑"/>
              </a:rPr>
              <a:t>年</a:t>
            </a:r>
            <a:r>
              <a:rPr lang="en-US" altLang="zh-CN" sz="1400" b="1" dirty="0">
                <a:solidFill>
                  <a:srgbClr val="FFFFFF"/>
                </a:solidFill>
                <a:latin typeface="微软雅黑"/>
                <a:ea typeface="微软雅黑"/>
                <a:cs typeface="微软雅黑"/>
                <a:sym typeface="微软雅黑"/>
              </a:rPr>
              <a:t>9</a:t>
            </a:r>
            <a:r>
              <a:rPr lang="zh-CN" altLang="en-US" sz="1400" b="1" dirty="0">
                <a:solidFill>
                  <a:srgbClr val="FFFFFF"/>
                </a:solidFill>
                <a:latin typeface="微软雅黑"/>
                <a:ea typeface="微软雅黑"/>
                <a:cs typeface="微软雅黑"/>
                <a:sym typeface="微软雅黑"/>
              </a:rPr>
              <a:t>月</a:t>
            </a:r>
            <a:endParaRPr sz="1400" b="1" dirty="0">
              <a:solidFill>
                <a:srgbClr val="FFFFFF"/>
              </a:solidFill>
              <a:latin typeface="微软雅黑"/>
              <a:ea typeface="微软雅黑"/>
              <a:cs typeface="微软雅黑"/>
              <a:sym typeface="微软雅黑"/>
            </a:endParaRPr>
          </a:p>
        </p:txBody>
      </p:sp>
      <p:sp>
        <p:nvSpPr>
          <p:cNvPr id="32" name="Venn diagram"/>
          <p:cNvSpPr/>
          <p:nvPr>
            <p:custDataLst>
              <p:tags r:id="rId21"/>
            </p:custDataLst>
          </p:nvPr>
        </p:nvSpPr>
        <p:spPr>
          <a:xfrm>
            <a:off x="6540411" y="5652311"/>
            <a:ext cx="1283513" cy="266065"/>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defRPr sz="2000">
                <a:solidFill>
                  <a:srgbClr val="FFFFFF"/>
                </a:solidFill>
                <a:latin typeface="微软雅黑"/>
                <a:ea typeface="微软雅黑"/>
                <a:cs typeface="微软雅黑"/>
                <a:sym typeface="微软雅黑"/>
              </a:defRPr>
            </a:lvl1pPr>
          </a:lstStyle>
          <a:p>
            <a:pPr algn="ctr">
              <a:spcAft>
                <a:spcPts val="500"/>
              </a:spcAft>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2026</a:t>
            </a:r>
            <a:r>
              <a:rPr lang="zh-CN" altLang="en-US" sz="1400" b="1" dirty="0">
                <a:solidFill>
                  <a:srgbClr val="FFFFFF"/>
                </a:solidFill>
                <a:latin typeface="微软雅黑"/>
                <a:ea typeface="微软雅黑"/>
                <a:cs typeface="微软雅黑"/>
                <a:sym typeface="微软雅黑"/>
              </a:rPr>
              <a:t>年</a:t>
            </a:r>
            <a:r>
              <a:rPr lang="en-US" altLang="zh-CN" sz="1400" b="1" dirty="0">
                <a:solidFill>
                  <a:srgbClr val="FFFFFF"/>
                </a:solidFill>
                <a:latin typeface="微软雅黑"/>
                <a:ea typeface="微软雅黑"/>
                <a:cs typeface="微软雅黑"/>
                <a:sym typeface="微软雅黑"/>
              </a:rPr>
              <a:t>10</a:t>
            </a:r>
            <a:r>
              <a:rPr lang="zh-CN" altLang="en-US" sz="1400" b="1" dirty="0">
                <a:solidFill>
                  <a:srgbClr val="FFFFFF"/>
                </a:solidFill>
                <a:latin typeface="微软雅黑"/>
                <a:ea typeface="微软雅黑"/>
                <a:cs typeface="微软雅黑"/>
                <a:sym typeface="微软雅黑"/>
              </a:rPr>
              <a:t>月</a:t>
            </a:r>
            <a:endParaRPr sz="1400" b="1" dirty="0">
              <a:solidFill>
                <a:srgbClr val="FFFFFF"/>
              </a:solidFill>
              <a:latin typeface="微软雅黑"/>
              <a:ea typeface="微软雅黑"/>
              <a:cs typeface="微软雅黑"/>
              <a:sym typeface="微软雅黑"/>
            </a:endParaRPr>
          </a:p>
        </p:txBody>
      </p:sp>
      <p:grpSp>
        <p:nvGrpSpPr>
          <p:cNvPr id="33" name="Group"/>
          <p:cNvGrpSpPr/>
          <p:nvPr>
            <p:custDataLst>
              <p:tags r:id="rId22"/>
            </p:custDataLst>
          </p:nvPr>
        </p:nvGrpSpPr>
        <p:grpSpPr>
          <a:xfrm>
            <a:off x="8293515" y="6133062"/>
            <a:ext cx="1648823" cy="335321"/>
            <a:chOff x="0" y="0"/>
            <a:chExt cx="3313478" cy="643398"/>
          </a:xfrm>
          <a:solidFill>
            <a:srgbClr val="668EFF"/>
          </a:solidFill>
        </p:grpSpPr>
        <p:sp>
          <p:nvSpPr>
            <p:cNvPr id="34" name="Rounded Rectangle"/>
            <p:cNvSpPr/>
            <p:nvPr>
              <p:custDataLst>
                <p:tags r:id="rId23"/>
              </p:custDataLst>
            </p:nvPr>
          </p:nvSpPr>
          <p:spPr>
            <a:xfrm>
              <a:off x="0" y="0"/>
              <a:ext cx="3313478" cy="643398"/>
            </a:xfrm>
            <a:prstGeom prst="roundRect">
              <a:avLst>
                <a:gd name="adj" fmla="val 8232"/>
              </a:avLst>
            </a:prstGeom>
            <a:solidFill>
              <a:srgbClr val="0042FF"/>
            </a:solidFill>
            <a:ln w="12700" cap="flat">
              <a:noFill/>
              <a:miter lim="400000"/>
            </a:ln>
            <a:effectLst/>
          </p:spPr>
          <p:txBody>
            <a:bodyPr wrap="square" lIns="0" tIns="0" rIns="0" bIns="0" numCol="1" anchor="ctr">
              <a:noAutofit/>
            </a:bodyPr>
            <a:lstStyle/>
            <a:p>
              <a:pPr>
                <a:spcAft>
                  <a:spcPts val="500"/>
                </a:spcAft>
                <a:defRPr>
                  <a:solidFill>
                    <a:srgbClr val="FFFFFF"/>
                  </a:solidFill>
                  <a:latin typeface="微软雅黑"/>
                  <a:ea typeface="微软雅黑"/>
                  <a:cs typeface="微软雅黑"/>
                </a:defRPr>
              </a:pPr>
              <a:endParaRPr sz="1000">
                <a:solidFill>
                  <a:srgbClr val="FFFFFF"/>
                </a:solidFill>
                <a:latin typeface="微软雅黑"/>
                <a:ea typeface="微软雅黑"/>
                <a:cs typeface="微软雅黑"/>
              </a:endParaRPr>
            </a:p>
          </p:txBody>
        </p:sp>
        <p:sp>
          <p:nvSpPr>
            <p:cNvPr id="35" name="Venn diagram"/>
            <p:cNvSpPr/>
            <p:nvPr>
              <p:custDataLst>
                <p:tags r:id="rId24"/>
              </p:custDataLst>
            </p:nvPr>
          </p:nvSpPr>
          <p:spPr>
            <a:xfrm>
              <a:off x="638766" y="77694"/>
              <a:ext cx="2318614" cy="510513"/>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grpFill/>
            <a:ln w="12700" cap="flat">
              <a:noFill/>
              <a:miter lim="400000"/>
            </a:ln>
            <a:effectLst/>
          </p:spPr>
          <p:txBody>
            <a:bodyPr wrap="square" lIns="25400" tIns="25400" rIns="25400" bIns="25400" numCol="1" anchor="t">
              <a:spAutoFit/>
            </a:bodyPr>
            <a:lstStyle>
              <a:lvl1pPr>
                <a:defRPr sz="2000">
                  <a:solidFill>
                    <a:srgbClr val="383838"/>
                  </a:solidFill>
                  <a:latin typeface="微软雅黑"/>
                  <a:ea typeface="微软雅黑"/>
                  <a:cs typeface="微软雅黑"/>
                  <a:sym typeface="微软雅黑"/>
                </a:defRPr>
              </a:lvl1pPr>
            </a:lstStyle>
            <a:p>
              <a:pPr>
                <a:spcAft>
                  <a:spcPts val="500"/>
                </a:spcAft>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2026</a:t>
              </a:r>
              <a:r>
                <a:rPr lang="zh-CN" altLang="en-US" sz="1400" b="1" dirty="0">
                  <a:solidFill>
                    <a:srgbClr val="FFFFFF"/>
                  </a:solidFill>
                  <a:latin typeface="微软雅黑"/>
                  <a:ea typeface="微软雅黑"/>
                  <a:cs typeface="微软雅黑"/>
                  <a:sym typeface="微软雅黑"/>
                </a:rPr>
                <a:t>年</a:t>
              </a:r>
              <a:r>
                <a:rPr lang="en-US" altLang="zh-CN" sz="1400" b="1" dirty="0">
                  <a:solidFill>
                    <a:srgbClr val="FFFFFF"/>
                  </a:solidFill>
                  <a:latin typeface="微软雅黑"/>
                  <a:ea typeface="微软雅黑"/>
                  <a:cs typeface="微软雅黑"/>
                  <a:sym typeface="微软雅黑"/>
                </a:rPr>
                <a:t>11</a:t>
              </a:r>
              <a:r>
                <a:rPr lang="zh-CN" altLang="en-US" sz="1400" b="1" dirty="0">
                  <a:solidFill>
                    <a:srgbClr val="FFFFFF"/>
                  </a:solidFill>
                  <a:latin typeface="微软雅黑"/>
                  <a:ea typeface="微软雅黑"/>
                  <a:cs typeface="微软雅黑"/>
                  <a:sym typeface="微软雅黑"/>
                </a:rPr>
                <a:t>月</a:t>
              </a:r>
              <a:endParaRPr sz="1400" b="1" dirty="0">
                <a:solidFill>
                  <a:srgbClr val="FFFFFF"/>
                </a:solidFill>
                <a:latin typeface="微软雅黑"/>
                <a:ea typeface="微软雅黑"/>
                <a:cs typeface="微软雅黑"/>
                <a:sym typeface="微软雅黑"/>
              </a:endParaRPr>
            </a:p>
          </p:txBody>
        </p:sp>
      </p:grpSp>
      <p:grpSp>
        <p:nvGrpSpPr>
          <p:cNvPr id="36" name="Group"/>
          <p:cNvGrpSpPr/>
          <p:nvPr>
            <p:custDataLst>
              <p:tags r:id="rId25"/>
            </p:custDataLst>
          </p:nvPr>
        </p:nvGrpSpPr>
        <p:grpSpPr>
          <a:xfrm>
            <a:off x="10107170" y="6133062"/>
            <a:ext cx="1726886" cy="335321"/>
            <a:chOff x="0" y="0"/>
            <a:chExt cx="3313478" cy="643398"/>
          </a:xfrm>
          <a:solidFill>
            <a:srgbClr val="0042FF"/>
          </a:solidFill>
        </p:grpSpPr>
        <p:sp>
          <p:nvSpPr>
            <p:cNvPr id="37" name="Rounded Rectangle"/>
            <p:cNvSpPr/>
            <p:nvPr>
              <p:custDataLst>
                <p:tags r:id="rId26"/>
              </p:custDataLst>
            </p:nvPr>
          </p:nvSpPr>
          <p:spPr>
            <a:xfrm>
              <a:off x="0" y="0"/>
              <a:ext cx="3313478" cy="643398"/>
            </a:xfrm>
            <a:prstGeom prst="roundRect">
              <a:avLst>
                <a:gd name="adj" fmla="val 8232"/>
              </a:avLst>
            </a:prstGeom>
            <a:grpFill/>
            <a:ln w="12700" cap="flat">
              <a:noFill/>
              <a:miter lim="400000"/>
            </a:ln>
            <a:effectLst/>
          </p:spPr>
          <p:txBody>
            <a:bodyPr wrap="square" lIns="0" tIns="0" rIns="0" bIns="0" numCol="1" anchor="ctr">
              <a:noAutofit/>
            </a:bodyPr>
            <a:lstStyle/>
            <a:p>
              <a:pPr>
                <a:spcAft>
                  <a:spcPts val="500"/>
                </a:spcAft>
                <a:defRPr>
                  <a:solidFill>
                    <a:srgbClr val="FFFFFF"/>
                  </a:solidFill>
                  <a:latin typeface="微软雅黑"/>
                  <a:ea typeface="微软雅黑"/>
                  <a:cs typeface="微软雅黑"/>
                </a:defRPr>
              </a:pPr>
              <a:endParaRPr sz="1000">
                <a:solidFill>
                  <a:srgbClr val="FFFFFF"/>
                </a:solidFill>
                <a:latin typeface="微软雅黑"/>
                <a:ea typeface="微软雅黑"/>
                <a:cs typeface="微软雅黑"/>
              </a:endParaRPr>
            </a:p>
          </p:txBody>
        </p:sp>
        <p:sp>
          <p:nvSpPr>
            <p:cNvPr id="38" name="Venn diagram"/>
            <p:cNvSpPr/>
            <p:nvPr>
              <p:custDataLst>
                <p:tags r:id="rId27"/>
              </p:custDataLst>
            </p:nvPr>
          </p:nvSpPr>
          <p:spPr>
            <a:xfrm>
              <a:off x="660134" y="77694"/>
              <a:ext cx="2613244" cy="510513"/>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grpFill/>
            <a:ln w="12700" cap="flat">
              <a:noFill/>
              <a:miter lim="400000"/>
            </a:ln>
            <a:effectLst/>
          </p:spPr>
          <p:txBody>
            <a:bodyPr wrap="square" lIns="25400" tIns="25400" rIns="25400" bIns="25400" numCol="1" anchor="t">
              <a:spAutoFit/>
            </a:bodyPr>
            <a:lstStyle>
              <a:lvl1pPr>
                <a:defRPr sz="2000">
                  <a:solidFill>
                    <a:srgbClr val="FFFFFF"/>
                  </a:solidFill>
                  <a:latin typeface="微软雅黑"/>
                  <a:ea typeface="微软雅黑"/>
                  <a:cs typeface="微软雅黑"/>
                  <a:sym typeface="微软雅黑"/>
                </a:defRPr>
              </a:lvl1pPr>
            </a:lstStyle>
            <a:p>
              <a:pPr>
                <a:spcAft>
                  <a:spcPts val="500"/>
                </a:spcAft>
                <a:defRPr>
                  <a:solidFill>
                    <a:srgbClr val="FFFFFF"/>
                  </a:solidFill>
                  <a:latin typeface="微软雅黑"/>
                  <a:ea typeface="微软雅黑"/>
                  <a:cs typeface="微软雅黑"/>
                </a:defRPr>
              </a:pPr>
              <a:r>
                <a:rPr lang="en-US" altLang="zh-CN" sz="1400" b="1" dirty="0">
                  <a:solidFill>
                    <a:srgbClr val="FFFFFF"/>
                  </a:solidFill>
                  <a:latin typeface="微软雅黑"/>
                  <a:ea typeface="微软雅黑"/>
                  <a:cs typeface="微软雅黑"/>
                  <a:sym typeface="微软雅黑"/>
                </a:rPr>
                <a:t>2026</a:t>
              </a:r>
              <a:r>
                <a:rPr lang="zh-CN" altLang="en-US" sz="1400" b="1" dirty="0">
                  <a:solidFill>
                    <a:srgbClr val="FFFFFF"/>
                  </a:solidFill>
                  <a:latin typeface="微软雅黑"/>
                  <a:ea typeface="微软雅黑"/>
                  <a:cs typeface="微软雅黑"/>
                  <a:sym typeface="微软雅黑"/>
                </a:rPr>
                <a:t>年</a:t>
              </a:r>
              <a:r>
                <a:rPr lang="en-US" altLang="zh-CN" sz="1400" b="1" dirty="0">
                  <a:solidFill>
                    <a:srgbClr val="FFFFFF"/>
                  </a:solidFill>
                  <a:latin typeface="微软雅黑"/>
                  <a:ea typeface="微软雅黑"/>
                  <a:cs typeface="微软雅黑"/>
                  <a:sym typeface="微软雅黑"/>
                </a:rPr>
                <a:t>12</a:t>
              </a:r>
              <a:r>
                <a:rPr lang="zh-CN" altLang="en-US" sz="1400" b="1" dirty="0">
                  <a:solidFill>
                    <a:srgbClr val="FFFFFF"/>
                  </a:solidFill>
                  <a:latin typeface="微软雅黑"/>
                  <a:ea typeface="微软雅黑"/>
                  <a:cs typeface="微软雅黑"/>
                  <a:sym typeface="微软雅黑"/>
                </a:rPr>
                <a:t>月</a:t>
              </a:r>
              <a:endParaRPr sz="1400" b="1" dirty="0">
                <a:solidFill>
                  <a:srgbClr val="FFFFFF"/>
                </a:solidFill>
                <a:latin typeface="微软雅黑"/>
                <a:ea typeface="微软雅黑"/>
                <a:cs typeface="微软雅黑"/>
                <a:sym typeface="微软雅黑"/>
              </a:endParaRPr>
            </a:p>
          </p:txBody>
        </p:sp>
      </p:grpSp>
      <p:sp>
        <p:nvSpPr>
          <p:cNvPr id="39"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28"/>
            </p:custDataLst>
          </p:nvPr>
        </p:nvSpPr>
        <p:spPr>
          <a:xfrm>
            <a:off x="6455472" y="2097344"/>
            <a:ext cx="1453391" cy="1409104"/>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spAutoFit/>
          </a:bodyPr>
          <a:lstStyle>
            <a:lvl1pPr>
              <a:defRPr sz="2000">
                <a:solidFill>
                  <a:srgbClr val="383838"/>
                </a:solidFill>
                <a:latin typeface="微软雅黑"/>
                <a:ea typeface="微软雅黑"/>
                <a:cs typeface="微软雅黑"/>
                <a:sym typeface="微软雅黑"/>
              </a:defRPr>
            </a:lvl1pPr>
          </a:lstStyle>
          <a:p>
            <a:pPr algn="ctr">
              <a:lnSpc>
                <a:spcPct val="150000"/>
              </a:lnSpc>
              <a:spcAft>
                <a:spcPts val="500"/>
              </a:spcAft>
              <a:defRPr>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sym typeface="微软雅黑"/>
              </a:rPr>
              <a:t>每季度回顾个人和团队的表现，识别成功的实践和改进的机会。积极寻求领导和同事的反馈，了解自己的盲点和提升空间，持续改进和成长。</a:t>
            </a:r>
            <a:endParaRPr lang="zh-CN" altLang="en-US" sz="1000" u="none" strike="noStrike" dirty="0">
              <a:solidFill>
                <a:srgbClr val="383838"/>
              </a:solidFill>
              <a:effectLst/>
              <a:latin typeface="微软雅黑"/>
              <a:ea typeface="微软雅黑"/>
              <a:cs typeface="微软雅黑"/>
              <a:sym typeface="微软雅黑"/>
            </a:endParaRPr>
          </a:p>
        </p:txBody>
      </p:sp>
      <p:sp>
        <p:nvSpPr>
          <p:cNvPr id="40"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29"/>
            </p:custDataLst>
          </p:nvPr>
        </p:nvSpPr>
        <p:spPr>
          <a:xfrm>
            <a:off x="6371184" y="1597118"/>
            <a:ext cx="1621967" cy="282129"/>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defRPr sz="2400">
                <a:solidFill>
                  <a:srgbClr val="383838"/>
                </a:solidFill>
                <a:latin typeface="微软雅黑"/>
                <a:ea typeface="微软雅黑"/>
                <a:cs typeface="微软雅黑"/>
                <a:sym typeface="微软雅黑"/>
              </a:defRPr>
            </a:lvl1pPr>
          </a:lstStyle>
          <a:p>
            <a:pPr algn="ctr">
              <a:spcAft>
                <a:spcPts val="500"/>
              </a:spcAft>
              <a:defRPr>
                <a:latin typeface="微软雅黑"/>
                <a:ea typeface="微软雅黑"/>
                <a:cs typeface="微软雅黑"/>
              </a:defRPr>
            </a:pPr>
            <a:r>
              <a:rPr kumimoji="1" lang="zh-CN" altLang="en-US" sz="1500" b="1" dirty="0">
                <a:solidFill>
                  <a:srgbClr val="0042FF"/>
                </a:solidFill>
                <a:latin typeface="微软雅黑"/>
                <a:ea typeface="微软雅黑"/>
                <a:cs typeface="微软雅黑"/>
                <a:sym typeface="微软雅黑"/>
              </a:rPr>
              <a:t>自我认知提升</a:t>
            </a:r>
            <a:endParaRPr kumimoji="1" lang="zh-CN" altLang="en-US" sz="1500" b="1" dirty="0">
              <a:solidFill>
                <a:srgbClr val="0042FF"/>
              </a:solidFill>
              <a:latin typeface="微软雅黑"/>
              <a:ea typeface="微软雅黑"/>
              <a:cs typeface="微软雅黑"/>
              <a:sym typeface="微软雅黑"/>
            </a:endParaRPr>
          </a:p>
        </p:txBody>
      </p:sp>
      <p:sp>
        <p:nvSpPr>
          <p:cNvPr id="41"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30"/>
            </p:custDataLst>
          </p:nvPr>
        </p:nvSpPr>
        <p:spPr>
          <a:xfrm>
            <a:off x="8317198" y="2097344"/>
            <a:ext cx="1613611" cy="947439"/>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spAutoFit/>
          </a:bodyPr>
          <a:lstStyle>
            <a:lvl1pPr>
              <a:defRPr sz="2000">
                <a:solidFill>
                  <a:srgbClr val="383838"/>
                </a:solidFill>
                <a:latin typeface="微软雅黑"/>
                <a:ea typeface="微软雅黑"/>
                <a:cs typeface="微软雅黑"/>
                <a:sym typeface="微软雅黑"/>
              </a:defRPr>
            </a:lvl1pPr>
          </a:lstStyle>
          <a:p>
            <a:pPr>
              <a:lnSpc>
                <a:spcPct val="150000"/>
              </a:lnSpc>
              <a:spcAft>
                <a:spcPts val="500"/>
              </a:spcAft>
              <a:defRPr>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sym typeface="微软雅黑"/>
              </a:rPr>
              <a:t>根据个人能力和公司需求，制定未来</a:t>
            </a:r>
            <a:r>
              <a:rPr lang="en-US" altLang="zh-CN" sz="1000" u="none" strike="noStrike" dirty="0">
                <a:solidFill>
                  <a:srgbClr val="383838"/>
                </a:solidFill>
                <a:effectLst/>
                <a:latin typeface="微软雅黑"/>
                <a:ea typeface="微软雅黑"/>
                <a:cs typeface="微软雅黑"/>
                <a:sym typeface="微软雅黑"/>
              </a:rPr>
              <a:t>1</a:t>
            </a:r>
            <a:r>
              <a:rPr lang="zh-CN" altLang="en-US" sz="1000" u="none" strike="noStrike" dirty="0">
                <a:solidFill>
                  <a:srgbClr val="383838"/>
                </a:solidFill>
                <a:effectLst/>
                <a:latin typeface="微软雅黑"/>
                <a:ea typeface="微软雅黑"/>
                <a:cs typeface="微软雅黑"/>
                <a:sym typeface="微软雅黑"/>
              </a:rPr>
              <a:t>至</a:t>
            </a:r>
            <a:r>
              <a:rPr lang="en-US" altLang="zh-CN" sz="1000" u="none" strike="noStrike" dirty="0">
                <a:solidFill>
                  <a:srgbClr val="383838"/>
                </a:solidFill>
                <a:effectLst/>
                <a:latin typeface="微软雅黑"/>
                <a:ea typeface="微软雅黑"/>
                <a:cs typeface="微软雅黑"/>
                <a:sym typeface="微软雅黑"/>
              </a:rPr>
              <a:t>3</a:t>
            </a:r>
            <a:r>
              <a:rPr lang="zh-CN" altLang="en-US" sz="1000" u="none" strike="noStrike" dirty="0">
                <a:solidFill>
                  <a:srgbClr val="383838"/>
                </a:solidFill>
                <a:effectLst/>
                <a:latin typeface="微软雅黑"/>
                <a:ea typeface="微软雅黑"/>
                <a:cs typeface="微软雅黑"/>
                <a:sym typeface="微软雅黑"/>
              </a:rPr>
              <a:t>年的职业发展路径，包括晋升到更高级别的销售管理或战略规划职位。</a:t>
            </a:r>
            <a:endParaRPr lang="zh-CN" altLang="en-US" sz="1000" u="none" strike="noStrike" dirty="0">
              <a:solidFill>
                <a:srgbClr val="383838"/>
              </a:solidFill>
              <a:effectLst/>
              <a:latin typeface="微软雅黑"/>
              <a:ea typeface="微软雅黑"/>
              <a:cs typeface="微软雅黑"/>
              <a:sym typeface="微软雅黑"/>
            </a:endParaRPr>
          </a:p>
        </p:txBody>
      </p:sp>
      <p:sp>
        <p:nvSpPr>
          <p:cNvPr id="42"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31"/>
            </p:custDataLst>
          </p:nvPr>
        </p:nvSpPr>
        <p:spPr>
          <a:xfrm>
            <a:off x="8295640" y="1597025"/>
            <a:ext cx="1726565" cy="266065"/>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defRPr sz="2400">
                <a:solidFill>
                  <a:srgbClr val="383838"/>
                </a:solidFill>
                <a:latin typeface="微软雅黑"/>
                <a:ea typeface="微软雅黑"/>
                <a:cs typeface="微软雅黑"/>
                <a:sym typeface="微软雅黑"/>
              </a:defRPr>
            </a:lvl1pPr>
          </a:lstStyle>
          <a:p>
            <a:pPr algn="ctr">
              <a:spcAft>
                <a:spcPts val="5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sym typeface="微软雅黑"/>
              </a:rPr>
              <a:t>明确晋升路径</a:t>
            </a:r>
            <a:endParaRPr kumimoji="1" lang="zh-CN" altLang="en-US" sz="1400" b="1" dirty="0">
              <a:solidFill>
                <a:srgbClr val="0042FF"/>
              </a:solidFill>
              <a:latin typeface="微软雅黑"/>
              <a:ea typeface="微软雅黑"/>
              <a:cs typeface="微软雅黑"/>
              <a:sym typeface="微软雅黑"/>
            </a:endParaRPr>
          </a:p>
        </p:txBody>
      </p:sp>
      <p:sp>
        <p:nvSpPr>
          <p:cNvPr id="43"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32"/>
            </p:custDataLst>
          </p:nvPr>
        </p:nvSpPr>
        <p:spPr>
          <a:xfrm>
            <a:off x="10143165" y="2097344"/>
            <a:ext cx="1761901" cy="716606"/>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spAutoFit/>
          </a:bodyPr>
          <a:lstStyle>
            <a:lvl1pPr>
              <a:defRPr sz="2000">
                <a:solidFill>
                  <a:srgbClr val="383838"/>
                </a:solidFill>
                <a:latin typeface="微软雅黑"/>
                <a:ea typeface="微软雅黑"/>
                <a:cs typeface="微软雅黑"/>
                <a:sym typeface="微软雅黑"/>
              </a:defRPr>
            </a:lvl1pPr>
          </a:lstStyle>
          <a:p>
            <a:pPr>
              <a:lnSpc>
                <a:spcPct val="150000"/>
              </a:lnSpc>
              <a:spcAft>
                <a:spcPts val="500"/>
              </a:spcAft>
              <a:defRPr>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sym typeface="微软雅黑"/>
              </a:rPr>
              <a:t>关注身心健康，保持良好的工作与生活平衡，提高工作效率和工作满意度。</a:t>
            </a:r>
            <a:endParaRPr lang="zh-CN" altLang="en-US" sz="1000" u="none" strike="noStrike" dirty="0">
              <a:solidFill>
                <a:srgbClr val="383838"/>
              </a:solidFill>
              <a:effectLst/>
              <a:latin typeface="微软雅黑"/>
              <a:ea typeface="微软雅黑"/>
              <a:cs typeface="微软雅黑"/>
              <a:sym typeface="微软雅黑"/>
            </a:endParaRPr>
          </a:p>
        </p:txBody>
      </p:sp>
      <p:sp>
        <p:nvSpPr>
          <p:cNvPr id="44"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33"/>
            </p:custDataLst>
          </p:nvPr>
        </p:nvSpPr>
        <p:spPr>
          <a:xfrm>
            <a:off x="10121900" y="1597118"/>
            <a:ext cx="1887456" cy="282129"/>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defRPr sz="2400">
                <a:solidFill>
                  <a:srgbClr val="383838"/>
                </a:solidFill>
                <a:latin typeface="微软雅黑"/>
                <a:ea typeface="微软雅黑"/>
                <a:cs typeface="微软雅黑"/>
                <a:sym typeface="微软雅黑"/>
              </a:defRPr>
            </a:lvl1pPr>
          </a:lstStyle>
          <a:p>
            <a:pPr algn="ctr">
              <a:spcAft>
                <a:spcPts val="500"/>
              </a:spcAft>
              <a:defRPr>
                <a:latin typeface="微软雅黑"/>
                <a:ea typeface="微软雅黑"/>
                <a:cs typeface="微软雅黑"/>
              </a:defRPr>
            </a:pPr>
            <a:r>
              <a:rPr kumimoji="1" lang="zh-CN" altLang="en-US" sz="1500" b="1" dirty="0">
                <a:solidFill>
                  <a:srgbClr val="0042FF"/>
                </a:solidFill>
                <a:latin typeface="微软雅黑"/>
                <a:ea typeface="微软雅黑"/>
                <a:cs typeface="微软雅黑"/>
                <a:sym typeface="微软雅黑"/>
              </a:rPr>
              <a:t>综合素质提升</a:t>
            </a:r>
            <a:endParaRPr kumimoji="1" lang="zh-CN" altLang="en-US" sz="1500" b="1" dirty="0">
              <a:solidFill>
                <a:srgbClr val="0042FF"/>
              </a:solidFill>
              <a:latin typeface="微软雅黑"/>
              <a:ea typeface="微软雅黑"/>
              <a:cs typeface="微软雅黑"/>
              <a:sym typeface="微软雅黑"/>
            </a:endParaRPr>
          </a:p>
        </p:txBody>
      </p:sp>
      <p:sp>
        <p:nvSpPr>
          <p:cNvPr id="52" name="文本框 51"/>
          <p:cNvSpPr txBox="1"/>
          <p:nvPr>
            <p:custDataLst>
              <p:tags r:id="rId34"/>
            </p:custDataLst>
          </p:nvPr>
        </p:nvSpPr>
        <p:spPr>
          <a:xfrm>
            <a:off x="2566749" y="3167832"/>
            <a:ext cx="1742768" cy="1750672"/>
          </a:xfrm>
          <a:prstGeom prst="rect">
            <a:avLst/>
          </a:prstGeom>
          <a:noFill/>
        </p:spPr>
        <p:txBody>
          <a:bodyPr wrap="square" rtlCol="0" lIns="0" rIns="0" tIns="0" bIns="0">
            <a:spAutoFit/>
          </a:bodyPr>
          <a:lstStyle/>
          <a:p>
            <a:pPr algn="l">
              <a:lnSpc>
                <a:spcPct val="150000"/>
              </a:lnSpc>
              <a:spcAft>
                <a:spcPts val="500"/>
              </a:spcAft>
              <a:defRPr>
                <a:solidFill>
                  <a:srgbClr val="383838"/>
                </a:solidFill>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rPr>
              <a:t>积极参与行业会议、网络社区，并分享专业见解和经验，扩展个人在行业内的影响力。主动承担项目领导或团队协调角色，锻炼领导团队能力。</a:t>
            </a:r>
            <a:endParaRPr lang="zh-CN" altLang="en-US" sz="1000" u="none" strike="noStrike" dirty="0">
              <a:solidFill>
                <a:srgbClr val="383838"/>
              </a:solidFill>
              <a:effectLst/>
              <a:latin typeface="微软雅黑"/>
              <a:ea typeface="微软雅黑"/>
              <a:cs typeface="微软雅黑"/>
            </a:endParaRPr>
          </a:p>
          <a:p>
            <a:pPr>
              <a:lnSpc>
                <a:spcPct val="150000"/>
              </a:lnSpc>
              <a:spcAft>
                <a:spcPts val="500"/>
              </a:spcAft>
              <a:defRPr>
                <a:solidFill>
                  <a:srgbClr val="383838"/>
                </a:solidFill>
                <a:latin typeface="微软雅黑"/>
                <a:ea typeface="微软雅黑"/>
                <a:cs typeface="微软雅黑"/>
              </a:defRPr>
            </a:pPr>
            <a:br>
              <a:rPr lang="zh-CN" altLang="en-US" sz="1000" dirty="0">
                <a:solidFill>
                  <a:srgbClr val="FFFFFF"/>
                </a:solidFill>
                <a:latin typeface="微软雅黑"/>
                <a:ea typeface="微软雅黑"/>
                <a:cs typeface="微软雅黑"/>
              </a:rPr>
            </a:br>
            <a:endParaRPr kumimoji="1" lang="zh-CN" altLang="en-US" sz="1000" dirty="0">
              <a:solidFill>
                <a:srgbClr val="383838"/>
              </a:solidFill>
              <a:latin typeface="微软雅黑"/>
              <a:ea typeface="微软雅黑"/>
              <a:cs typeface="微软雅黑"/>
            </a:endParaRPr>
          </a:p>
        </p:txBody>
      </p:sp>
      <p:sp>
        <p:nvSpPr>
          <p:cNvPr id="54" name="文本框 53"/>
          <p:cNvSpPr txBox="1"/>
          <p:nvPr>
            <p:custDataLst>
              <p:tags r:id="rId35"/>
            </p:custDataLst>
          </p:nvPr>
        </p:nvSpPr>
        <p:spPr>
          <a:xfrm>
            <a:off x="2577790" y="2769451"/>
            <a:ext cx="1683078" cy="323165"/>
          </a:xfrm>
          <a:prstGeom prst="rect">
            <a:avLst/>
          </a:prstGeom>
          <a:noFill/>
        </p:spPr>
        <p:txBody>
          <a:bodyPr wrap="square" rtlCol="0">
            <a:spAutoFit/>
          </a:bodyPr>
          <a:lstStyle/>
          <a:p>
            <a:pPr algn="ctr">
              <a:spcAft>
                <a:spcPts val="500"/>
              </a:spcAft>
              <a:defRPr>
                <a:latin typeface="微软雅黑"/>
                <a:ea typeface="微软雅黑"/>
                <a:cs typeface="微软雅黑"/>
              </a:defRPr>
            </a:pPr>
            <a:r>
              <a:rPr kumimoji="1" lang="zh-CN" altLang="en-US" sz="1500" b="1" dirty="0">
                <a:solidFill>
                  <a:srgbClr val="0042FF"/>
                </a:solidFill>
                <a:latin typeface="微软雅黑"/>
                <a:ea typeface="微软雅黑"/>
                <a:cs typeface="微软雅黑"/>
              </a:rPr>
              <a:t>领导能力提升</a:t>
            </a:r>
            <a:endParaRPr kumimoji="1" lang="zh-CN" altLang="en-US" sz="1500" b="1" dirty="0">
              <a:solidFill>
                <a:srgbClr val="0042FF"/>
              </a:solidFill>
              <a:latin typeface="微软雅黑"/>
              <a:ea typeface="微软雅黑"/>
              <a:cs typeface="微软雅黑"/>
            </a:endParaRPr>
          </a:p>
        </p:txBody>
      </p:sp>
      <p:sp>
        <p:nvSpPr>
          <p:cNvPr id="55" name="文本框 54"/>
          <p:cNvSpPr txBox="1"/>
          <p:nvPr>
            <p:custDataLst>
              <p:tags r:id="rId36"/>
            </p:custDataLst>
          </p:nvPr>
        </p:nvSpPr>
        <p:spPr>
          <a:xfrm>
            <a:off x="4469975" y="3167832"/>
            <a:ext cx="1610083" cy="988476"/>
          </a:xfrm>
          <a:prstGeom prst="rect">
            <a:avLst/>
          </a:prstGeom>
          <a:noFill/>
        </p:spPr>
        <p:txBody>
          <a:bodyPr wrap="square" rtlCol="0" lIns="0" rIns="0" tIns="0" bIns="0">
            <a:spAutoFit/>
          </a:bodyPr>
          <a:lstStyle/>
          <a:p>
            <a:pPr algn="just">
              <a:lnSpc>
                <a:spcPct val="150000"/>
              </a:lnSpc>
              <a:spcAft>
                <a:spcPts val="500"/>
              </a:spcAft>
              <a:defRPr>
                <a:solidFill>
                  <a:srgbClr val="383838"/>
                </a:solidFill>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rPr>
              <a:t>定期与现有客户沟通，建立稳固的关系，了解客户需求，提供定制化的解决方案。</a:t>
            </a:r>
            <a:endParaRPr kumimoji="1" lang="zh-CN" altLang="en-US" sz="1000" u="none" strike="noStrike" dirty="0">
              <a:solidFill>
                <a:srgbClr val="383838"/>
              </a:solidFill>
              <a:effectLst/>
              <a:latin typeface="微软雅黑"/>
              <a:ea typeface="微软雅黑"/>
              <a:cs typeface="微软雅黑"/>
            </a:endParaRPr>
          </a:p>
        </p:txBody>
      </p:sp>
      <p:sp>
        <p:nvSpPr>
          <p:cNvPr id="56" name="文本框 55"/>
          <p:cNvSpPr txBox="1"/>
          <p:nvPr>
            <p:custDataLst>
              <p:tags r:id="rId37"/>
            </p:custDataLst>
          </p:nvPr>
        </p:nvSpPr>
        <p:spPr>
          <a:xfrm>
            <a:off x="4481195" y="2769235"/>
            <a:ext cx="1553845" cy="321945"/>
          </a:xfrm>
          <a:prstGeom prst="rect">
            <a:avLst/>
          </a:prstGeom>
          <a:noFill/>
        </p:spPr>
        <p:txBody>
          <a:bodyPr wrap="square" rtlCol="0">
            <a:spAutoFit/>
          </a:bodyPr>
          <a:lstStyle/>
          <a:p>
            <a:pPr algn="ctr">
              <a:spcAft>
                <a:spcPts val="500"/>
              </a:spcAft>
              <a:defRPr>
                <a:latin typeface="微软雅黑"/>
                <a:ea typeface="微软雅黑"/>
                <a:cs typeface="微软雅黑"/>
              </a:defRPr>
            </a:pPr>
            <a:r>
              <a:rPr kumimoji="1" lang="zh-CN" altLang="en-US" sz="1500" b="1" dirty="0">
                <a:solidFill>
                  <a:srgbClr val="0042FF"/>
                </a:solidFill>
                <a:latin typeface="微软雅黑"/>
                <a:ea typeface="微软雅黑"/>
                <a:cs typeface="微软雅黑"/>
              </a:rPr>
              <a:t>客户关系提升</a:t>
            </a:r>
            <a:endParaRPr kumimoji="1" lang="zh-CN" altLang="en-US" sz="1500" b="1" dirty="0">
              <a:solidFill>
                <a:srgbClr val="0042FF"/>
              </a:solidFill>
              <a:latin typeface="微软雅黑"/>
              <a:ea typeface="微软雅黑"/>
              <a:cs typeface="微软雅黑"/>
            </a:endParaRPr>
          </a:p>
        </p:txBody>
      </p:sp>
      <p:sp>
        <p:nvSpPr>
          <p:cNvPr id="57"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38"/>
            </p:custDataLst>
          </p:nvPr>
        </p:nvSpPr>
        <p:spPr>
          <a:xfrm>
            <a:off x="8317198" y="4775048"/>
            <a:ext cx="1613611" cy="947439"/>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spAutoFit/>
          </a:bodyPr>
          <a:lstStyle>
            <a:lvl1pPr>
              <a:defRPr sz="2000">
                <a:solidFill>
                  <a:srgbClr val="FFFFFF"/>
                </a:solidFill>
                <a:latin typeface="微软雅黑"/>
                <a:ea typeface="微软雅黑"/>
                <a:cs typeface="微软雅黑"/>
                <a:sym typeface="微软雅黑"/>
              </a:defRPr>
            </a:lvl1pPr>
          </a:lstStyle>
          <a:p>
            <a:pPr>
              <a:lnSpc>
                <a:spcPct val="150000"/>
              </a:lnSpc>
              <a:spcAft>
                <a:spcPts val="500"/>
              </a:spcAft>
              <a:defRPr>
                <a:solidFill>
                  <a:srgbClr val="383838"/>
                </a:solidFill>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sym typeface="微软雅黑"/>
              </a:rPr>
              <a:t>与上级领导沟通，制定实现职业目标的发展计划，包括技能培训、项目经验积累和跨部门协作等。</a:t>
            </a:r>
            <a:endParaRPr lang="zh-CN" altLang="en-US" sz="1000" u="none" strike="noStrike" dirty="0">
              <a:solidFill>
                <a:srgbClr val="383838"/>
              </a:solidFill>
              <a:effectLst/>
              <a:latin typeface="微软雅黑"/>
              <a:ea typeface="微软雅黑"/>
              <a:cs typeface="微软雅黑"/>
              <a:sym typeface="微软雅黑"/>
            </a:endParaRPr>
          </a:p>
        </p:txBody>
      </p:sp>
      <p:sp>
        <p:nvSpPr>
          <p:cNvPr id="58" name="Lorem Ipsum is simply dummy text of the printing and typesetting industry. Lorem Ipsum has been the industry's standard dummy text ever since the 1500s, when an unknown printer took a galley of type and scrambled it to make a type specimen book. It has s"/>
          <p:cNvSpPr/>
          <p:nvPr>
            <p:custDataLst>
              <p:tags r:id="rId39"/>
            </p:custDataLst>
          </p:nvPr>
        </p:nvSpPr>
        <p:spPr>
          <a:xfrm>
            <a:off x="10143165" y="4763451"/>
            <a:ext cx="1761901" cy="947439"/>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spAutoFit/>
          </a:bodyPr>
          <a:lstStyle>
            <a:lvl1pPr>
              <a:defRPr sz="2000">
                <a:solidFill>
                  <a:srgbClr val="FFFFFF"/>
                </a:solidFill>
                <a:latin typeface="微软雅黑"/>
                <a:ea typeface="微软雅黑"/>
                <a:cs typeface="微软雅黑"/>
                <a:sym typeface="微软雅黑"/>
              </a:defRPr>
            </a:lvl1pPr>
          </a:lstStyle>
          <a:p>
            <a:pPr>
              <a:lnSpc>
                <a:spcPct val="150000"/>
              </a:lnSpc>
              <a:spcAft>
                <a:spcPts val="500"/>
              </a:spcAft>
              <a:defRPr>
                <a:solidFill>
                  <a:srgbClr val="383838"/>
                </a:solidFill>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sym typeface="微软雅黑"/>
              </a:rPr>
              <a:t>每天开始前列出任务并根据重要性排序，确保首先完成最重要的任务。将工作时间划分成小块，集中精力进行工作。</a:t>
            </a:r>
            <a:endParaRPr lang="zh-CN" altLang="en-US" sz="1000" u="none" strike="noStrike" dirty="0">
              <a:solidFill>
                <a:srgbClr val="383838"/>
              </a:solidFill>
              <a:effectLst/>
              <a:latin typeface="微软雅黑"/>
              <a:ea typeface="微软雅黑"/>
              <a:cs typeface="微软雅黑"/>
              <a:sym typeface="微软雅黑"/>
            </a:endParaRPr>
          </a:p>
        </p:txBody>
      </p:sp>
      <p:grpSp>
        <p:nvGrpSpPr>
          <p:cNvPr id="67" name="组合 66"/>
          <p:cNvGrpSpPr/>
          <p:nvPr>
            <p:custDataLst>
              <p:tags r:id="rId40"/>
            </p:custDataLst>
          </p:nvPr>
        </p:nvGrpSpPr>
        <p:grpSpPr>
          <a:xfrm>
            <a:off x="5033721" y="4550578"/>
            <a:ext cx="479931" cy="482065"/>
            <a:chOff x="264440" y="4782841"/>
            <a:chExt cx="505710" cy="507958"/>
          </a:xfrm>
        </p:grpSpPr>
        <p:sp>
          <p:nvSpPr>
            <p:cNvPr id="71" name="椭圆 70"/>
            <p:cNvSpPr/>
            <p:nvPr>
              <p:custDataLst>
                <p:tags r:id="rId41"/>
              </p:custDataLst>
            </p:nvPr>
          </p:nvSpPr>
          <p:spPr>
            <a:xfrm>
              <a:off x="264440" y="4787564"/>
              <a:ext cx="503235" cy="50323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spcAft>
                  <a:spcPts val="500"/>
                </a:spcAft>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pic>
          <p:nvPicPr>
            <p:cNvPr id="88" name="图形 55" descr="徽章勾号 1 纯色填充"/>
            <p:cNvPicPr>
              <a:picLocks noChangeAspect="1"/>
            </p:cNvPicPr>
            <p:nvPr>
              <p:custDataLst>
                <p:tags r:id="rId42"/>
              </p:custDataLst>
            </p:nvPr>
          </p:nvPicPr>
          <p:blipFill>
            <a:blip r:embed="rId43">
              <a:extLst>
                <a:ext uri="{96DAC541-7B7A-43D3-8B79-37D633B846F1}">
                  <asvg:svgBlip xmlns:asvg="http://schemas.microsoft.com/office/drawing/2016/SVG/main" r:embed="rId44"/>
                </a:ext>
              </a:extLst>
            </a:blip>
            <a:stretch>
              <a:fillRect/>
            </a:stretch>
          </p:blipFill>
          <p:spPr>
            <a:xfrm>
              <a:off x="266914" y="4782841"/>
              <a:ext cx="503236" cy="503236"/>
            </a:xfrm>
            <a:prstGeom prst="rect">
              <a:avLst/>
            </a:prstGeom>
          </p:spPr>
        </p:pic>
      </p:grpSp>
      <p:grpSp>
        <p:nvGrpSpPr>
          <p:cNvPr id="89" name="组合 88"/>
          <p:cNvGrpSpPr/>
          <p:nvPr>
            <p:custDataLst>
              <p:tags r:id="rId45"/>
            </p:custDataLst>
          </p:nvPr>
        </p:nvGrpSpPr>
        <p:grpSpPr>
          <a:xfrm>
            <a:off x="6925219" y="4200100"/>
            <a:ext cx="479931" cy="482065"/>
            <a:chOff x="264440" y="4782841"/>
            <a:chExt cx="505710" cy="507958"/>
          </a:xfrm>
        </p:grpSpPr>
        <p:sp>
          <p:nvSpPr>
            <p:cNvPr id="90" name="椭圆 89"/>
            <p:cNvSpPr/>
            <p:nvPr>
              <p:custDataLst>
                <p:tags r:id="rId46"/>
              </p:custDataLst>
            </p:nvPr>
          </p:nvSpPr>
          <p:spPr>
            <a:xfrm>
              <a:off x="264440" y="4787564"/>
              <a:ext cx="503235" cy="50323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spcAft>
                  <a:spcPts val="500"/>
                </a:spcAft>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pic>
          <p:nvPicPr>
            <p:cNvPr id="91" name="图形 58" descr="徽章勾号 1 纯色填充"/>
            <p:cNvPicPr>
              <a:picLocks noChangeAspect="1"/>
            </p:cNvPicPr>
            <p:nvPr>
              <p:custDataLst>
                <p:tags r:id="rId47"/>
              </p:custDataLst>
            </p:nvPr>
          </p:nvPicPr>
          <p:blipFill>
            <a:blip r:embed="rId48">
              <a:extLst>
                <a:ext uri="{96DAC541-7B7A-43D3-8B79-37D633B846F1}">
                  <asvg:svgBlip xmlns:asvg="http://schemas.microsoft.com/office/drawing/2016/SVG/main" r:embed="rId49"/>
                </a:ext>
              </a:extLst>
            </a:blip>
            <a:stretch>
              <a:fillRect/>
            </a:stretch>
          </p:blipFill>
          <p:spPr>
            <a:xfrm>
              <a:off x="266914" y="4782841"/>
              <a:ext cx="503236" cy="503236"/>
            </a:xfrm>
            <a:prstGeom prst="rect">
              <a:avLst/>
            </a:prstGeom>
          </p:spPr>
        </p:pic>
      </p:grpSp>
      <p:grpSp>
        <p:nvGrpSpPr>
          <p:cNvPr id="92" name="组合 91"/>
          <p:cNvGrpSpPr/>
          <p:nvPr>
            <p:custDataLst>
              <p:tags r:id="rId50"/>
            </p:custDataLst>
          </p:nvPr>
        </p:nvGrpSpPr>
        <p:grpSpPr>
          <a:xfrm>
            <a:off x="8882350" y="3804260"/>
            <a:ext cx="479931" cy="482065"/>
            <a:chOff x="264440" y="4782841"/>
            <a:chExt cx="505710" cy="507958"/>
          </a:xfrm>
        </p:grpSpPr>
        <p:sp>
          <p:nvSpPr>
            <p:cNvPr id="93" name="椭圆 92"/>
            <p:cNvSpPr/>
            <p:nvPr>
              <p:custDataLst>
                <p:tags r:id="rId51"/>
              </p:custDataLst>
            </p:nvPr>
          </p:nvSpPr>
          <p:spPr>
            <a:xfrm>
              <a:off x="264440" y="4787564"/>
              <a:ext cx="503235" cy="50323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spcAft>
                  <a:spcPts val="500"/>
                </a:spcAft>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pic>
          <p:nvPicPr>
            <p:cNvPr id="94" name="图形 61" descr="徽章勾号 1 纯色填充"/>
            <p:cNvPicPr>
              <a:picLocks noChangeAspect="1"/>
            </p:cNvPicPr>
            <p:nvPr>
              <p:custDataLst>
                <p:tags r:id="rId52"/>
              </p:custDataLst>
            </p:nvPr>
          </p:nvPicPr>
          <p:blipFill>
            <a:blip r:embed="rId53">
              <a:extLst>
                <a:ext uri="{96DAC541-7B7A-43D3-8B79-37D633B846F1}">
                  <asvg:svgBlip xmlns:asvg="http://schemas.microsoft.com/office/drawing/2016/SVG/main" r:embed="rId54"/>
                </a:ext>
              </a:extLst>
            </a:blip>
            <a:stretch>
              <a:fillRect/>
            </a:stretch>
          </p:blipFill>
          <p:spPr>
            <a:xfrm>
              <a:off x="266914" y="4782841"/>
              <a:ext cx="503236" cy="503236"/>
            </a:xfrm>
            <a:prstGeom prst="rect">
              <a:avLst/>
            </a:prstGeom>
          </p:spPr>
        </p:pic>
      </p:grpSp>
      <p:grpSp>
        <p:nvGrpSpPr>
          <p:cNvPr id="95" name="组合 94"/>
          <p:cNvGrpSpPr/>
          <p:nvPr>
            <p:custDataLst>
              <p:tags r:id="rId55"/>
            </p:custDataLst>
          </p:nvPr>
        </p:nvGrpSpPr>
        <p:grpSpPr>
          <a:xfrm>
            <a:off x="10578705" y="3429106"/>
            <a:ext cx="479931" cy="482065"/>
            <a:chOff x="264440" y="4782841"/>
            <a:chExt cx="505710" cy="507958"/>
          </a:xfrm>
        </p:grpSpPr>
        <p:sp>
          <p:nvSpPr>
            <p:cNvPr id="96" name="椭圆 95"/>
            <p:cNvSpPr/>
            <p:nvPr>
              <p:custDataLst>
                <p:tags r:id="rId56"/>
              </p:custDataLst>
            </p:nvPr>
          </p:nvSpPr>
          <p:spPr>
            <a:xfrm>
              <a:off x="264440" y="4787564"/>
              <a:ext cx="503235" cy="50323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spcAft>
                  <a:spcPts val="500"/>
                </a:spcAft>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pic>
          <p:nvPicPr>
            <p:cNvPr id="97" name="图形 64" descr="徽章勾号 1 纯色填充"/>
            <p:cNvPicPr>
              <a:picLocks noChangeAspect="1"/>
            </p:cNvPicPr>
            <p:nvPr>
              <p:custDataLst>
                <p:tags r:id="rId57"/>
              </p:custDataLst>
            </p:nvPr>
          </p:nvPicPr>
          <p:blipFill>
            <a:blip r:embed="rId53">
              <a:extLst>
                <a:ext uri="{96DAC541-7B7A-43D3-8B79-37D633B846F1}">
                  <asvg:svgBlip xmlns:asvg="http://schemas.microsoft.com/office/drawing/2016/SVG/main" r:embed="rId58"/>
                </a:ext>
              </a:extLst>
            </a:blip>
            <a:stretch>
              <a:fillRect/>
            </a:stretch>
          </p:blipFill>
          <p:spPr>
            <a:xfrm>
              <a:off x="266914" y="4782841"/>
              <a:ext cx="503236" cy="503236"/>
            </a:xfrm>
            <a:prstGeom prst="rect">
              <a:avLst/>
            </a:prstGeom>
          </p:spPr>
        </p:pic>
      </p:grpSp>
      <p:grpSp>
        <p:nvGrpSpPr>
          <p:cNvPr id="20" name="组合 19"/>
          <p:cNvGrpSpPr/>
          <p:nvPr>
            <p:custDataLst>
              <p:tags r:id="rId59"/>
            </p:custDataLst>
          </p:nvPr>
        </p:nvGrpSpPr>
        <p:grpSpPr>
          <a:xfrm>
            <a:off x="3207273" y="4785815"/>
            <a:ext cx="479931" cy="482065"/>
            <a:chOff x="264440" y="4782841"/>
            <a:chExt cx="505710" cy="507958"/>
          </a:xfrm>
        </p:grpSpPr>
        <p:sp>
          <p:nvSpPr>
            <p:cNvPr id="21" name="椭圆 20"/>
            <p:cNvSpPr/>
            <p:nvPr>
              <p:custDataLst>
                <p:tags r:id="rId60"/>
              </p:custDataLst>
            </p:nvPr>
          </p:nvSpPr>
          <p:spPr>
            <a:xfrm>
              <a:off x="264440" y="4787564"/>
              <a:ext cx="503235" cy="50323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spcAft>
                  <a:spcPts val="500"/>
                </a:spcAft>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pic>
          <p:nvPicPr>
            <p:cNvPr id="45" name="图形 52" descr="徽章勾号 1 纯色填充"/>
            <p:cNvPicPr>
              <a:picLocks noChangeAspect="1"/>
            </p:cNvPicPr>
            <p:nvPr>
              <p:custDataLst>
                <p:tags r:id="rId61"/>
              </p:custDataLst>
            </p:nvPr>
          </p:nvPicPr>
          <p:blipFill>
            <a:blip r:embed="rId43">
              <a:extLst>
                <a:ext uri="{96DAC541-7B7A-43D3-8B79-37D633B846F1}">
                  <asvg:svgBlip xmlns:asvg="http://schemas.microsoft.com/office/drawing/2016/SVG/main" r:embed="rId62"/>
                </a:ext>
              </a:extLst>
            </a:blip>
            <a:stretch>
              <a:fillRect/>
            </a:stretch>
          </p:blipFill>
          <p:spPr>
            <a:xfrm>
              <a:off x="266914" y="4782841"/>
              <a:ext cx="503236" cy="503236"/>
            </a:xfrm>
            <a:prstGeom prst="rect">
              <a:avLst/>
            </a:prstGeom>
          </p:spPr>
        </p:pic>
      </p:grpSp>
      <p:grpSp>
        <p:nvGrpSpPr>
          <p:cNvPr id="46" name="组合 45"/>
          <p:cNvGrpSpPr/>
          <p:nvPr>
            <p:custDataLst>
              <p:tags r:id="rId63"/>
            </p:custDataLst>
          </p:nvPr>
        </p:nvGrpSpPr>
        <p:grpSpPr>
          <a:xfrm>
            <a:off x="1229436" y="4785815"/>
            <a:ext cx="479931" cy="482065"/>
            <a:chOff x="264440" y="4782841"/>
            <a:chExt cx="505710" cy="507958"/>
          </a:xfrm>
        </p:grpSpPr>
        <p:sp>
          <p:nvSpPr>
            <p:cNvPr id="49" name="椭圆 48"/>
            <p:cNvSpPr/>
            <p:nvPr>
              <p:custDataLst>
                <p:tags r:id="rId64"/>
              </p:custDataLst>
            </p:nvPr>
          </p:nvSpPr>
          <p:spPr>
            <a:xfrm>
              <a:off x="264440" y="4787564"/>
              <a:ext cx="503235" cy="50323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spcAft>
                  <a:spcPts val="500"/>
                </a:spcAft>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pic>
          <p:nvPicPr>
            <p:cNvPr id="50" name="图形 55" descr="徽章勾号 1 纯色填充"/>
            <p:cNvPicPr>
              <a:picLocks noChangeAspect="1"/>
            </p:cNvPicPr>
            <p:nvPr>
              <p:custDataLst>
                <p:tags r:id="rId65"/>
              </p:custDataLst>
            </p:nvPr>
          </p:nvPicPr>
          <p:blipFill>
            <a:blip r:embed="rId43">
              <a:extLst>
                <a:ext uri="{96DAC541-7B7A-43D3-8B79-37D633B846F1}">
                  <asvg:svgBlip xmlns:asvg="http://schemas.microsoft.com/office/drawing/2016/SVG/main" r:embed="rId66"/>
                </a:ext>
              </a:extLst>
            </a:blip>
            <a:stretch>
              <a:fillRect/>
            </a:stretch>
          </p:blipFill>
          <p:spPr>
            <a:xfrm>
              <a:off x="266914" y="4782841"/>
              <a:ext cx="503236" cy="503236"/>
            </a:xfrm>
            <a:prstGeom prst="rect">
              <a:avLst/>
            </a:prstGeom>
          </p:spPr>
        </p:pic>
      </p:grpSp>
      <p:sp>
        <p:nvSpPr>
          <p:cNvPr id="53" name="文本框 52"/>
          <p:cNvSpPr txBox="1"/>
          <p:nvPr>
            <p:custDataLst>
              <p:tags r:id="rId67"/>
            </p:custDataLst>
          </p:nvPr>
        </p:nvSpPr>
        <p:spPr>
          <a:xfrm>
            <a:off x="522814" y="3167832"/>
            <a:ext cx="1896543" cy="1618392"/>
          </a:xfrm>
          <a:prstGeom prst="rect">
            <a:avLst/>
          </a:prstGeom>
          <a:noFill/>
        </p:spPr>
        <p:txBody>
          <a:bodyPr wrap="square" rtlCol="0" lIns="0" rIns="0" tIns="0" bIns="0">
            <a:spAutoFit/>
          </a:bodyPr>
          <a:lstStyle/>
          <a:p>
            <a:pPr algn="just">
              <a:lnSpc>
                <a:spcPct val="150000"/>
              </a:lnSpc>
              <a:spcAft>
                <a:spcPts val="500"/>
              </a:spcAft>
              <a:defRPr>
                <a:solidFill>
                  <a:srgbClr val="383838"/>
                </a:solidFill>
                <a:latin typeface="微软雅黑"/>
                <a:ea typeface="微软雅黑"/>
                <a:cs typeface="微软雅黑"/>
              </a:defRPr>
            </a:pPr>
            <a:r>
              <a:rPr lang="zh-CN" altLang="en-US" sz="1000" u="none" strike="noStrike" dirty="0">
                <a:solidFill>
                  <a:srgbClr val="383838"/>
                </a:solidFill>
                <a:effectLst/>
                <a:latin typeface="微软雅黑"/>
                <a:ea typeface="微软雅黑"/>
                <a:cs typeface="微软雅黑"/>
              </a:rPr>
              <a:t>参与内部和外部的销售培训课程，如产品知识、销售技巧、市场趋势等。通过实战演练、角色扮演和导师指导等方式，不断提升销售谈判。</a:t>
            </a:r>
            <a:endParaRPr lang="zh-CN" altLang="en-US" sz="1000" u="none" strike="noStrike" dirty="0">
              <a:solidFill>
                <a:srgbClr val="383838"/>
              </a:solidFill>
              <a:effectLst/>
              <a:latin typeface="微软雅黑"/>
              <a:ea typeface="微软雅黑"/>
              <a:cs typeface="微软雅黑"/>
            </a:endParaRPr>
          </a:p>
          <a:p>
            <a:pPr>
              <a:spcAft>
                <a:spcPts val="500"/>
              </a:spcAft>
              <a:defRPr>
                <a:solidFill>
                  <a:srgbClr val="383838"/>
                </a:solidFill>
                <a:latin typeface="微软雅黑"/>
                <a:ea typeface="微软雅黑"/>
                <a:cs typeface="微软雅黑"/>
              </a:defRPr>
            </a:pPr>
            <a:br>
              <a:rPr lang="zh-CN" altLang="en-US" sz="1000" dirty="0">
                <a:solidFill>
                  <a:srgbClr val="FFFFFF"/>
                </a:solidFill>
                <a:latin typeface="微软雅黑"/>
                <a:ea typeface="微软雅黑"/>
                <a:cs typeface="微软雅黑"/>
              </a:rPr>
            </a:br>
            <a:endParaRPr kumimoji="1" lang="zh-CN" altLang="en-US" sz="1000" dirty="0">
              <a:solidFill>
                <a:srgbClr val="383838"/>
              </a:solidFill>
              <a:latin typeface="微软雅黑"/>
              <a:ea typeface="微软雅黑"/>
              <a:cs typeface="微软雅黑"/>
            </a:endParaRPr>
          </a:p>
        </p:txBody>
      </p:sp>
      <p:sp>
        <p:nvSpPr>
          <p:cNvPr id="60" name="文本框 59"/>
          <p:cNvSpPr txBox="1"/>
          <p:nvPr>
            <p:custDataLst>
              <p:tags r:id="rId68"/>
            </p:custDataLst>
          </p:nvPr>
        </p:nvSpPr>
        <p:spPr>
          <a:xfrm>
            <a:off x="549910" y="2769235"/>
            <a:ext cx="1924050" cy="321945"/>
          </a:xfrm>
          <a:prstGeom prst="rect">
            <a:avLst/>
          </a:prstGeom>
          <a:noFill/>
        </p:spPr>
        <p:txBody>
          <a:bodyPr wrap="square" rtlCol="0">
            <a:spAutoFit/>
          </a:bodyPr>
          <a:lstStyle/>
          <a:p>
            <a:pPr algn="ctr">
              <a:spcAft>
                <a:spcPts val="500"/>
              </a:spcAft>
              <a:defRPr>
                <a:latin typeface="微软雅黑"/>
                <a:ea typeface="微软雅黑"/>
                <a:cs typeface="微软雅黑"/>
              </a:defRPr>
            </a:pPr>
            <a:r>
              <a:rPr kumimoji="1" lang="zh-CN" altLang="en-US" sz="1500" b="1" dirty="0">
                <a:solidFill>
                  <a:srgbClr val="0042FF"/>
                </a:solidFill>
                <a:latin typeface="微软雅黑"/>
                <a:ea typeface="微软雅黑"/>
                <a:cs typeface="微软雅黑"/>
              </a:rPr>
              <a:t>销售能力提升</a:t>
            </a:r>
            <a:endParaRPr kumimoji="1" lang="zh-CN" altLang="en-US" sz="1500" b="1" dirty="0">
              <a:solidFill>
                <a:srgbClr val="0042FF"/>
              </a:solidFill>
              <a:latin typeface="微软雅黑"/>
              <a:ea typeface="微软雅黑"/>
              <a:cs typeface="微软雅黑"/>
            </a:endParaRPr>
          </a:p>
        </p:txBody>
      </p:sp>
      <p:sp>
        <p:nvSpPr>
          <p:cNvPr id="1611" name="子陵职场PPT1"/>
          <p:cNvSpPr/>
          <p:nvPr/>
        </p:nvSpPr>
        <p:spPr>
          <a:xfrm flipH="1">
            <a:off x="381000" y="1179195"/>
            <a:ext cx="5546725" cy="1323340"/>
          </a:xfrm>
          <a:custGeom>
            <a:avLst/>
            <a:gdLst>
              <a:gd name="connsiteX0" fmla="*/ 160 w 11153"/>
              <a:gd name="connsiteY0" fmla="*/ 0 h 1576"/>
              <a:gd name="connsiteX1" fmla="*/ 0 w 11153"/>
              <a:gd name="connsiteY1" fmla="*/ 89 h 1576"/>
              <a:gd name="connsiteX2" fmla="*/ 0 w 11153"/>
              <a:gd name="connsiteY2" fmla="*/ 1185 h 1576"/>
              <a:gd name="connsiteX3" fmla="*/ 118 w 11153"/>
              <a:gd name="connsiteY3" fmla="*/ 1270 h 1576"/>
              <a:gd name="connsiteX4" fmla="*/ 9660 w 11153"/>
              <a:gd name="connsiteY4" fmla="*/ 1261 h 1576"/>
              <a:gd name="connsiteX5" fmla="*/ 10106 w 11153"/>
              <a:gd name="connsiteY5" fmla="*/ 1576 h 1576"/>
              <a:gd name="connsiteX6" fmla="*/ 10605 w 11153"/>
              <a:gd name="connsiteY6" fmla="*/ 1286 h 1576"/>
              <a:gd name="connsiteX7" fmla="*/ 11149 w 11153"/>
              <a:gd name="connsiteY7" fmla="*/ 1270 h 1576"/>
              <a:gd name="connsiteX8" fmla="*/ 11153 w 11153"/>
              <a:gd name="connsiteY8" fmla="*/ 89 h 1576"/>
              <a:gd name="connsiteX9" fmla="*/ 11049 w 11153"/>
              <a:gd name="connsiteY9" fmla="*/ 6 h 1576"/>
              <a:gd name="connsiteX10" fmla="*/ 160 w 11153"/>
              <a:gd name="connsiteY10" fmla="*/ 0 h 1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53" h="1576" extrusionOk="0">
                <a:moveTo>
                  <a:pt x="160" y="0"/>
                </a:moveTo>
                <a:cubicBezTo>
                  <a:pt x="-1" y="0"/>
                  <a:pt x="0" y="50"/>
                  <a:pt x="0" y="89"/>
                </a:cubicBezTo>
                <a:lnTo>
                  <a:pt x="0" y="1185"/>
                </a:lnTo>
                <a:cubicBezTo>
                  <a:pt x="0" y="1225"/>
                  <a:pt x="3" y="1270"/>
                  <a:pt x="118" y="1270"/>
                </a:cubicBezTo>
                <a:lnTo>
                  <a:pt x="9660" y="1261"/>
                </a:lnTo>
                <a:lnTo>
                  <a:pt x="10106" y="1576"/>
                </a:lnTo>
                <a:lnTo>
                  <a:pt x="10605" y="1286"/>
                </a:lnTo>
                <a:lnTo>
                  <a:pt x="11149" y="1270"/>
                </a:lnTo>
                <a:lnTo>
                  <a:pt x="11153" y="89"/>
                </a:lnTo>
                <a:cubicBezTo>
                  <a:pt x="11152" y="50"/>
                  <a:pt x="11156" y="-8"/>
                  <a:pt x="11049" y="6"/>
                </a:cubicBezTo>
                <a:lnTo>
                  <a:pt x="160" y="0"/>
                </a:lnTo>
                <a:close/>
              </a:path>
            </a:pathLst>
          </a:custGeom>
          <a:solidFill>
            <a:srgbClr val="E6E6E6">
              <a:alpha val="10000"/>
            </a:srgbClr>
          </a:solidFill>
          <a:ln>
            <a:solidFill>
              <a:srgbClr val="3368FF"/>
            </a:solid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spcBef>
                <a:spcPts val="0"/>
              </a:spcBef>
              <a:spcAft>
                <a:spcPts val="0"/>
              </a:spcAft>
              <a:buClrTx/>
              <a:buSzTx/>
              <a:buFontTx/>
              <a:defRPr>
                <a:latin typeface="微软雅黑"/>
                <a:ea typeface="微软雅黑"/>
                <a:cs typeface="微软雅黑"/>
              </a:defRPr>
            </a:pPr>
            <a:endParaRPr lang="zh-CN" altLang="en-US" noProof="0" dirty="0">
              <a:ln>
                <a:noFill/>
              </a:ln>
              <a:solidFill>
                <a:srgbClr val="383838"/>
              </a:solidFill>
              <a:effectLst/>
              <a:uLnTx/>
              <a:uFillTx/>
              <a:latin typeface="微软雅黑"/>
              <a:ea typeface="微软雅黑"/>
              <a:cs typeface="微软雅黑"/>
              <a:sym typeface="微软雅黑"/>
            </a:endParaRPr>
          </a:p>
        </p:txBody>
      </p:sp>
      <p:sp>
        <p:nvSpPr>
          <p:cNvPr id="68" name="文本框 67"/>
          <p:cNvSpPr txBox="1"/>
          <p:nvPr/>
        </p:nvSpPr>
        <p:spPr>
          <a:xfrm>
            <a:off x="522605" y="1213485"/>
            <a:ext cx="5165725" cy="922020"/>
          </a:xfrm>
          <a:prstGeom prst="rect">
            <a:avLst/>
          </a:prstGeom>
          <a:noFill/>
        </p:spPr>
        <p:txBody>
          <a:bodyPr wrap="square" rtlCol="0">
            <a:spAutoFit/>
          </a:bodyPr>
          <a:lstStyle/>
          <a:p>
            <a:pPr>
              <a:lnSpc>
                <a:spcPct val="150000"/>
              </a:lnSpc>
              <a:spcAft>
                <a:spcPts val="500"/>
              </a:spcAft>
              <a:defRPr>
                <a:latin typeface="微软雅黑"/>
                <a:ea typeface="微软雅黑"/>
                <a:cs typeface="微软雅黑"/>
              </a:defRPr>
            </a:pPr>
            <a:r>
              <a:rPr kumimoji="1" lang="zh-CN" altLang="en-US" sz="1200" dirty="0">
                <a:solidFill>
                  <a:srgbClr val="383838"/>
                </a:solidFill>
                <a:latin typeface="微软雅黑"/>
                <a:ea typeface="微软雅黑"/>
                <a:cs typeface="微软雅黑"/>
              </a:rPr>
              <a:t>为了在职场中取得更好表现和职业发展，帮助自身定义和实现职业目标和职业生涯路径。通过制定和执行职业能力提升计划，有效地提升职业竞争力、实现职业目标，并在职场中获得更多的成就和满足感。</a:t>
            </a:r>
            <a:endParaRPr kumimoji="1" lang="zh-CN" altLang="en-US" sz="1200" dirty="0">
              <a:solidFill>
                <a:srgbClr val="383838"/>
              </a:solidFill>
              <a:latin typeface="微软雅黑"/>
              <a:ea typeface="微软雅黑"/>
              <a:cs typeface="微软雅黑"/>
            </a:endParaRPr>
          </a:p>
        </p:txBody>
      </p:sp>
      <p:cxnSp>
        <p:nvCxnSpPr>
          <p:cNvPr id="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1" name="图片 10"/>
            <p:cNvPicPr>
              <a:picLocks noChangeAspect="1"/>
            </p:cNvPicPr>
            <p:nvPr userDrawn="1"/>
          </p:nvPicPr>
          <p:blipFill>
            <a:blip r:embed="rId69"/>
            <a:srcRect l="17002" t="-1765" r="56499" b="-1176"/>
            <a:stretch>
              <a:fillRect/>
            </a:stretch>
          </p:blipFill>
          <p:spPr>
            <a:xfrm>
              <a:off x="13761" y="549"/>
              <a:ext cx="1582" cy="525"/>
            </a:xfrm>
            <a:prstGeom prst="rect">
              <a:avLst/>
            </a:prstGeom>
          </p:spPr>
        </p:pic>
        <p:sp>
          <p:nvSpPr>
            <p:cNvPr id="12" name="文本框 11"/>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工作汇报时间轴</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61" name="任意形状 160"/>
          <p:cNvSpPr>
            <a:spLocks noChangeArrowheads="1"/>
          </p:cNvSpPr>
          <p:nvPr/>
        </p:nvSpPr>
        <p:spPr bwMode="auto">
          <a:xfrm>
            <a:off x="454763" y="4092727"/>
            <a:ext cx="2239576" cy="281749"/>
          </a:xfrm>
          <a:custGeom>
            <a:avLst/>
            <a:gdLst>
              <a:gd name="connsiteX0" fmla="*/ 144458 w 2239576"/>
              <a:gd name="connsiteY0" fmla="*/ 0 h 281749"/>
              <a:gd name="connsiteX1" fmla="*/ 2239576 w 2239576"/>
              <a:gd name="connsiteY1" fmla="*/ 0 h 281749"/>
              <a:gd name="connsiteX2" fmla="*/ 2095117 w 2239576"/>
              <a:gd name="connsiteY2" fmla="*/ 281749 h 281749"/>
              <a:gd name="connsiteX3" fmla="*/ 0 w 2239576"/>
              <a:gd name="connsiteY3" fmla="*/ 281749 h 281749"/>
              <a:gd name="connsiteX4" fmla="*/ 144458 w 2239576"/>
              <a:gd name="connsiteY4" fmla="*/ 0 h 281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76" h="281749">
                <a:moveTo>
                  <a:pt x="144458" y="0"/>
                </a:moveTo>
                <a:lnTo>
                  <a:pt x="2239576" y="0"/>
                </a:lnTo>
                <a:lnTo>
                  <a:pt x="2095117" y="281749"/>
                </a:lnTo>
                <a:lnTo>
                  <a:pt x="0" y="281749"/>
                </a:lnTo>
                <a:lnTo>
                  <a:pt x="144458" y="0"/>
                </a:lnTo>
                <a:close/>
              </a:path>
            </a:pathLst>
          </a:custGeom>
          <a:solidFill>
            <a:srgbClr val="668EFF"/>
          </a:solidFill>
          <a:ln w="19050">
            <a:solidFill>
              <a:srgbClr val="FFFFFF"/>
            </a:solidFill>
          </a:ln>
        </p:spPr>
        <p:txBody>
          <a:bodyPr wrap="square" lIns="38100" tIns="38100" rIns="38100" bIns="38100" anchor="ctr">
            <a:noAutofit/>
          </a:bodyPr>
          <a:lstStyle/>
          <a:p>
            <a:pPr algn="ctr" eaLnBrk="1">
              <a:defRPr>
                <a:solidFill>
                  <a:srgbClr val="383838"/>
                </a:solidFill>
                <a:latin typeface="微软雅黑"/>
                <a:ea typeface="微软雅黑"/>
                <a:cs typeface="微软雅黑"/>
              </a:defRPr>
            </a:pPr>
            <a:r>
              <a:rPr lang="en-US" altLang="zh-CN" sz="1200" dirty="0">
                <a:solidFill>
                  <a:srgbClr val="383838"/>
                </a:solidFill>
                <a:latin typeface="微软雅黑"/>
                <a:ea typeface="微软雅黑"/>
                <a:cs typeface="微软雅黑"/>
              </a:rPr>
              <a:t>2024.3-2024.4</a:t>
            </a:r>
            <a:endParaRPr lang="en-US" altLang="zh-CN" sz="1200" dirty="0">
              <a:solidFill>
                <a:srgbClr val="383838"/>
              </a:solidFill>
              <a:latin typeface="微软雅黑"/>
              <a:ea typeface="微软雅黑"/>
              <a:cs typeface="微软雅黑"/>
            </a:endParaRPr>
          </a:p>
        </p:txBody>
      </p:sp>
      <p:sp>
        <p:nvSpPr>
          <p:cNvPr id="160" name="任意形状 159"/>
          <p:cNvSpPr>
            <a:spLocks noChangeArrowheads="1"/>
          </p:cNvSpPr>
          <p:nvPr/>
        </p:nvSpPr>
        <p:spPr bwMode="auto">
          <a:xfrm>
            <a:off x="2667069" y="4092727"/>
            <a:ext cx="2239576" cy="281749"/>
          </a:xfrm>
          <a:custGeom>
            <a:avLst/>
            <a:gdLst>
              <a:gd name="connsiteX0" fmla="*/ 144459 w 2239576"/>
              <a:gd name="connsiteY0" fmla="*/ 0 h 281749"/>
              <a:gd name="connsiteX1" fmla="*/ 2239576 w 2239576"/>
              <a:gd name="connsiteY1" fmla="*/ 0 h 281749"/>
              <a:gd name="connsiteX2" fmla="*/ 2095117 w 2239576"/>
              <a:gd name="connsiteY2" fmla="*/ 281749 h 281749"/>
              <a:gd name="connsiteX3" fmla="*/ 0 w 2239576"/>
              <a:gd name="connsiteY3" fmla="*/ 281749 h 281749"/>
              <a:gd name="connsiteX4" fmla="*/ 144459 w 2239576"/>
              <a:gd name="connsiteY4" fmla="*/ 0 h 281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76" h="281749">
                <a:moveTo>
                  <a:pt x="144459" y="0"/>
                </a:moveTo>
                <a:lnTo>
                  <a:pt x="2239576" y="0"/>
                </a:lnTo>
                <a:lnTo>
                  <a:pt x="2095117" y="281749"/>
                </a:lnTo>
                <a:lnTo>
                  <a:pt x="0" y="281749"/>
                </a:lnTo>
                <a:lnTo>
                  <a:pt x="144459" y="0"/>
                </a:lnTo>
                <a:close/>
              </a:path>
            </a:pathLst>
          </a:custGeom>
          <a:solidFill>
            <a:srgbClr val="B3D4FE"/>
          </a:solidFill>
          <a:ln w="19050">
            <a:solidFill>
              <a:srgbClr val="FFFFFF"/>
            </a:solidFill>
          </a:ln>
        </p:spPr>
        <p:txBody>
          <a:bodyPr wrap="square" lIns="38100" tIns="38100" rIns="38100" bIns="38100" anchor="ctr">
            <a:noAutofit/>
          </a:bodyPr>
          <a:lstStyle/>
          <a:p>
            <a:pPr lvl="0" algn="ctr">
              <a:buClrTx/>
              <a:buSzTx/>
              <a:buFontTx/>
              <a:defRPr>
                <a:latin typeface="微软雅黑"/>
                <a:ea typeface="微软雅黑"/>
                <a:cs typeface="微软雅黑"/>
              </a:defRPr>
            </a:pPr>
            <a:r>
              <a:rPr lang="en-US" altLang="zh-CN" sz="1200" dirty="0">
                <a:solidFill>
                  <a:srgbClr val="383838"/>
                </a:solidFill>
                <a:latin typeface="微软雅黑"/>
                <a:ea typeface="微软雅黑"/>
                <a:cs typeface="微软雅黑"/>
                <a:sym typeface="微软雅黑"/>
              </a:rPr>
              <a:t>2024.5-2024.6</a:t>
            </a:r>
            <a:endParaRPr lang="en-US" altLang="zh-CN" sz="1200" dirty="0">
              <a:solidFill>
                <a:srgbClr val="383838"/>
              </a:solidFill>
              <a:latin typeface="微软雅黑"/>
              <a:ea typeface="微软雅黑"/>
              <a:cs typeface="微软雅黑"/>
              <a:sym typeface="微软雅黑"/>
            </a:endParaRPr>
          </a:p>
        </p:txBody>
      </p:sp>
      <p:sp>
        <p:nvSpPr>
          <p:cNvPr id="159" name="任意形状 158"/>
          <p:cNvSpPr>
            <a:spLocks noChangeArrowheads="1"/>
          </p:cNvSpPr>
          <p:nvPr/>
        </p:nvSpPr>
        <p:spPr bwMode="auto">
          <a:xfrm>
            <a:off x="4899342" y="4092727"/>
            <a:ext cx="2239576" cy="281749"/>
          </a:xfrm>
          <a:custGeom>
            <a:avLst/>
            <a:gdLst>
              <a:gd name="connsiteX0" fmla="*/ 144459 w 2239576"/>
              <a:gd name="connsiteY0" fmla="*/ 0 h 281749"/>
              <a:gd name="connsiteX1" fmla="*/ 2239576 w 2239576"/>
              <a:gd name="connsiteY1" fmla="*/ 0 h 281749"/>
              <a:gd name="connsiteX2" fmla="*/ 2095117 w 2239576"/>
              <a:gd name="connsiteY2" fmla="*/ 281749 h 281749"/>
              <a:gd name="connsiteX3" fmla="*/ 0 w 2239576"/>
              <a:gd name="connsiteY3" fmla="*/ 281749 h 281749"/>
              <a:gd name="connsiteX4" fmla="*/ 144459 w 2239576"/>
              <a:gd name="connsiteY4" fmla="*/ 0 h 281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76" h="281749">
                <a:moveTo>
                  <a:pt x="144459" y="0"/>
                </a:moveTo>
                <a:lnTo>
                  <a:pt x="2239576" y="0"/>
                </a:lnTo>
                <a:lnTo>
                  <a:pt x="2095117" y="281749"/>
                </a:lnTo>
                <a:lnTo>
                  <a:pt x="0" y="281749"/>
                </a:lnTo>
                <a:lnTo>
                  <a:pt x="144459" y="0"/>
                </a:lnTo>
                <a:close/>
              </a:path>
            </a:pathLst>
          </a:custGeom>
          <a:solidFill>
            <a:srgbClr val="668EFF"/>
          </a:solidFill>
          <a:ln w="19050">
            <a:solidFill>
              <a:srgbClr val="FFFFFF"/>
            </a:solidFill>
          </a:ln>
        </p:spPr>
        <p:txBody>
          <a:bodyPr wrap="square" lIns="38100" tIns="38100" rIns="38100" bIns="38100" anchor="ctr">
            <a:noAutofit/>
          </a:bodyPr>
          <a:lstStyle/>
          <a:p>
            <a:pPr lvl="0" algn="ctr">
              <a:buClrTx/>
              <a:buSzTx/>
              <a:buFontTx/>
              <a:defRPr>
                <a:solidFill>
                  <a:srgbClr val="383838"/>
                </a:solidFill>
                <a:latin typeface="微软雅黑"/>
                <a:ea typeface="微软雅黑"/>
                <a:cs typeface="微软雅黑"/>
              </a:defRPr>
            </a:pPr>
            <a:r>
              <a:rPr lang="en-US" altLang="zh-CN" sz="1200" dirty="0">
                <a:solidFill>
                  <a:srgbClr val="383838"/>
                </a:solidFill>
                <a:latin typeface="微软雅黑"/>
                <a:ea typeface="微软雅黑"/>
                <a:cs typeface="微软雅黑"/>
                <a:sym typeface="微软雅黑"/>
              </a:rPr>
              <a:t>2024.7-2024.8</a:t>
            </a:r>
            <a:endParaRPr lang="en-US" altLang="zh-CN" sz="1200" dirty="0">
              <a:solidFill>
                <a:srgbClr val="383838"/>
              </a:solidFill>
              <a:latin typeface="微软雅黑"/>
              <a:ea typeface="微软雅黑"/>
              <a:cs typeface="微软雅黑"/>
              <a:sym typeface="微软雅黑"/>
            </a:endParaRPr>
          </a:p>
        </p:txBody>
      </p:sp>
      <p:sp>
        <p:nvSpPr>
          <p:cNvPr id="158" name="任意形状 157"/>
          <p:cNvSpPr>
            <a:spLocks noChangeArrowheads="1"/>
          </p:cNvSpPr>
          <p:nvPr/>
        </p:nvSpPr>
        <p:spPr bwMode="auto">
          <a:xfrm>
            <a:off x="7128800" y="4092727"/>
            <a:ext cx="2239575" cy="281749"/>
          </a:xfrm>
          <a:custGeom>
            <a:avLst/>
            <a:gdLst>
              <a:gd name="connsiteX0" fmla="*/ 144459 w 2239575"/>
              <a:gd name="connsiteY0" fmla="*/ 0 h 281749"/>
              <a:gd name="connsiteX1" fmla="*/ 2239575 w 2239575"/>
              <a:gd name="connsiteY1" fmla="*/ 0 h 281749"/>
              <a:gd name="connsiteX2" fmla="*/ 2095117 w 2239575"/>
              <a:gd name="connsiteY2" fmla="*/ 281749 h 281749"/>
              <a:gd name="connsiteX3" fmla="*/ 0 w 2239575"/>
              <a:gd name="connsiteY3" fmla="*/ 281749 h 281749"/>
              <a:gd name="connsiteX4" fmla="*/ 144459 w 2239575"/>
              <a:gd name="connsiteY4" fmla="*/ 0 h 281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75" h="281749">
                <a:moveTo>
                  <a:pt x="144459" y="0"/>
                </a:moveTo>
                <a:lnTo>
                  <a:pt x="2239575" y="0"/>
                </a:lnTo>
                <a:lnTo>
                  <a:pt x="2095117" y="281749"/>
                </a:lnTo>
                <a:lnTo>
                  <a:pt x="0" y="281749"/>
                </a:lnTo>
                <a:lnTo>
                  <a:pt x="144459" y="0"/>
                </a:lnTo>
                <a:close/>
              </a:path>
            </a:pathLst>
          </a:custGeom>
          <a:solidFill>
            <a:srgbClr val="B3D4FE"/>
          </a:solidFill>
          <a:ln w="19050">
            <a:solidFill>
              <a:srgbClr val="FFFFFF"/>
            </a:solidFill>
          </a:ln>
        </p:spPr>
        <p:txBody>
          <a:bodyPr wrap="square" lIns="38100" tIns="38100" rIns="38100" bIns="38100" anchor="ctr">
            <a:noAutofit/>
          </a:bodyPr>
          <a:lstStyle/>
          <a:p>
            <a:pPr lvl="0" algn="ctr">
              <a:buClrTx/>
              <a:buSzTx/>
              <a:buFontTx/>
              <a:defRPr>
                <a:latin typeface="微软雅黑"/>
                <a:ea typeface="微软雅黑"/>
                <a:cs typeface="微软雅黑"/>
              </a:defRPr>
            </a:pPr>
            <a:r>
              <a:rPr lang="en-US" altLang="zh-CN" sz="1200" dirty="0">
                <a:solidFill>
                  <a:srgbClr val="383838"/>
                </a:solidFill>
                <a:latin typeface="微软雅黑"/>
                <a:ea typeface="微软雅黑"/>
                <a:cs typeface="微软雅黑"/>
                <a:sym typeface="微软雅黑"/>
              </a:rPr>
              <a:t>2024.9-2024.10</a:t>
            </a:r>
            <a:endParaRPr lang="en-US" altLang="zh-CN" sz="1200" dirty="0">
              <a:solidFill>
                <a:srgbClr val="383838"/>
              </a:solidFill>
              <a:latin typeface="微软雅黑"/>
              <a:ea typeface="微软雅黑"/>
              <a:cs typeface="微软雅黑"/>
              <a:sym typeface="微软雅黑"/>
            </a:endParaRPr>
          </a:p>
        </p:txBody>
      </p:sp>
      <p:sp>
        <p:nvSpPr>
          <p:cNvPr id="157" name="任意形状 156"/>
          <p:cNvSpPr>
            <a:spLocks noChangeArrowheads="1"/>
          </p:cNvSpPr>
          <p:nvPr/>
        </p:nvSpPr>
        <p:spPr bwMode="auto">
          <a:xfrm>
            <a:off x="9358259" y="4092727"/>
            <a:ext cx="2239575" cy="281749"/>
          </a:xfrm>
          <a:custGeom>
            <a:avLst/>
            <a:gdLst>
              <a:gd name="connsiteX0" fmla="*/ 144458 w 2239575"/>
              <a:gd name="connsiteY0" fmla="*/ 0 h 281749"/>
              <a:gd name="connsiteX1" fmla="*/ 2239575 w 2239575"/>
              <a:gd name="connsiteY1" fmla="*/ 0 h 281749"/>
              <a:gd name="connsiteX2" fmla="*/ 2095117 w 2239575"/>
              <a:gd name="connsiteY2" fmla="*/ 281749 h 281749"/>
              <a:gd name="connsiteX3" fmla="*/ 0 w 2239575"/>
              <a:gd name="connsiteY3" fmla="*/ 281749 h 281749"/>
              <a:gd name="connsiteX4" fmla="*/ 144458 w 2239575"/>
              <a:gd name="connsiteY4" fmla="*/ 0 h 281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75" h="281749">
                <a:moveTo>
                  <a:pt x="144458" y="0"/>
                </a:moveTo>
                <a:lnTo>
                  <a:pt x="2239575" y="0"/>
                </a:lnTo>
                <a:lnTo>
                  <a:pt x="2095117" y="281749"/>
                </a:lnTo>
                <a:lnTo>
                  <a:pt x="0" y="281749"/>
                </a:lnTo>
                <a:lnTo>
                  <a:pt x="144458" y="0"/>
                </a:lnTo>
                <a:close/>
              </a:path>
            </a:pathLst>
          </a:custGeom>
          <a:solidFill>
            <a:srgbClr val="668EFF"/>
          </a:solidFill>
          <a:ln w="19050">
            <a:solidFill>
              <a:srgbClr val="FFFFFF"/>
            </a:solidFill>
          </a:ln>
        </p:spPr>
        <p:txBody>
          <a:bodyPr wrap="square" lIns="38100" tIns="38100" rIns="38100" bIns="38100" anchor="ctr">
            <a:noAutofit/>
          </a:bodyPr>
          <a:lstStyle/>
          <a:p>
            <a:pPr lvl="0" algn="ctr">
              <a:buClrTx/>
              <a:buSzTx/>
              <a:buFontTx/>
              <a:defRPr>
                <a:solidFill>
                  <a:srgbClr val="383838"/>
                </a:solidFill>
                <a:latin typeface="微软雅黑"/>
                <a:ea typeface="微软雅黑"/>
                <a:cs typeface="微软雅黑"/>
              </a:defRPr>
            </a:pPr>
            <a:r>
              <a:rPr lang="en-US" altLang="zh-CN" sz="1200" dirty="0">
                <a:solidFill>
                  <a:srgbClr val="383838"/>
                </a:solidFill>
                <a:latin typeface="微软雅黑"/>
                <a:ea typeface="微软雅黑"/>
                <a:cs typeface="微软雅黑"/>
                <a:sym typeface="微软雅黑"/>
              </a:rPr>
              <a:t>2024.11-2024.12</a:t>
            </a:r>
            <a:endParaRPr lang="en-US" altLang="zh-CN" sz="1200" dirty="0">
              <a:solidFill>
                <a:srgbClr val="383838"/>
              </a:solidFill>
              <a:latin typeface="微软雅黑"/>
              <a:ea typeface="微软雅黑"/>
              <a:cs typeface="微软雅黑"/>
              <a:sym typeface="微软雅黑"/>
            </a:endParaRPr>
          </a:p>
        </p:txBody>
      </p:sp>
      <p:sp>
        <p:nvSpPr>
          <p:cNvPr id="156" name="任意形状 155"/>
          <p:cNvSpPr>
            <a:spLocks noChangeArrowheads="1"/>
          </p:cNvSpPr>
          <p:nvPr/>
        </p:nvSpPr>
        <p:spPr bwMode="auto">
          <a:xfrm>
            <a:off x="454763" y="3267197"/>
            <a:ext cx="2378979" cy="825530"/>
          </a:xfrm>
          <a:custGeom>
            <a:avLst/>
            <a:gdLst>
              <a:gd name="connsiteX0" fmla="*/ 0 w 2378979"/>
              <a:gd name="connsiteY0" fmla="*/ 0 h 825530"/>
              <a:gd name="connsiteX1" fmla="*/ 2095117 w 2378979"/>
              <a:gd name="connsiteY1" fmla="*/ 0 h 825530"/>
              <a:gd name="connsiteX2" fmla="*/ 2378979 w 2378979"/>
              <a:gd name="connsiteY2" fmla="*/ 553640 h 825530"/>
              <a:gd name="connsiteX3" fmla="*/ 2239576 w 2378979"/>
              <a:gd name="connsiteY3" fmla="*/ 825530 h 825530"/>
              <a:gd name="connsiteX4" fmla="*/ 144458 w 2378979"/>
              <a:gd name="connsiteY4" fmla="*/ 825530 h 825530"/>
              <a:gd name="connsiteX5" fmla="*/ 283862 w 2378979"/>
              <a:gd name="connsiteY5" fmla="*/ 553640 h 825530"/>
              <a:gd name="connsiteX6" fmla="*/ 0 w 2378979"/>
              <a:gd name="connsiteY6" fmla="*/ 0 h 82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79" h="825530">
                <a:moveTo>
                  <a:pt x="0" y="0"/>
                </a:moveTo>
                <a:lnTo>
                  <a:pt x="2095117" y="0"/>
                </a:lnTo>
                <a:lnTo>
                  <a:pt x="2378979" y="553640"/>
                </a:lnTo>
                <a:lnTo>
                  <a:pt x="2239576" y="825530"/>
                </a:lnTo>
                <a:lnTo>
                  <a:pt x="144458" y="825530"/>
                </a:lnTo>
                <a:lnTo>
                  <a:pt x="283862" y="553640"/>
                </a:lnTo>
                <a:lnTo>
                  <a:pt x="0" y="0"/>
                </a:lnTo>
                <a:close/>
              </a:path>
            </a:pathLst>
          </a:custGeom>
          <a:gradFill flip="none" rotWithShape="1">
            <a:gsLst>
              <a:gs pos="73000">
                <a:srgbClr val="0042FF"/>
              </a:gs>
              <a:gs pos="17000">
                <a:srgbClr val="3368FF"/>
              </a:gs>
            </a:gsLst>
            <a:lin ang="13500000" scaled="1"/>
            <a:tileRect/>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155" name="任意形状 154"/>
          <p:cNvSpPr>
            <a:spLocks noChangeArrowheads="1"/>
          </p:cNvSpPr>
          <p:nvPr/>
        </p:nvSpPr>
        <p:spPr bwMode="auto">
          <a:xfrm>
            <a:off x="2662715" y="3267197"/>
            <a:ext cx="2378979" cy="825530"/>
          </a:xfrm>
          <a:custGeom>
            <a:avLst/>
            <a:gdLst>
              <a:gd name="connsiteX0" fmla="*/ 0 w 2378979"/>
              <a:gd name="connsiteY0" fmla="*/ 0 h 825530"/>
              <a:gd name="connsiteX1" fmla="*/ 2095117 w 2378979"/>
              <a:gd name="connsiteY1" fmla="*/ 0 h 825530"/>
              <a:gd name="connsiteX2" fmla="*/ 2378979 w 2378979"/>
              <a:gd name="connsiteY2" fmla="*/ 553640 h 825530"/>
              <a:gd name="connsiteX3" fmla="*/ 2239576 w 2378979"/>
              <a:gd name="connsiteY3" fmla="*/ 825530 h 825530"/>
              <a:gd name="connsiteX4" fmla="*/ 144459 w 2378979"/>
              <a:gd name="connsiteY4" fmla="*/ 825530 h 825530"/>
              <a:gd name="connsiteX5" fmla="*/ 283862 w 2378979"/>
              <a:gd name="connsiteY5" fmla="*/ 553640 h 825530"/>
              <a:gd name="connsiteX6" fmla="*/ 0 w 2378979"/>
              <a:gd name="connsiteY6" fmla="*/ 0 h 82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79" h="825530">
                <a:moveTo>
                  <a:pt x="0" y="0"/>
                </a:moveTo>
                <a:lnTo>
                  <a:pt x="2095117" y="0"/>
                </a:lnTo>
                <a:lnTo>
                  <a:pt x="2378979" y="553640"/>
                </a:lnTo>
                <a:lnTo>
                  <a:pt x="2239576" y="825530"/>
                </a:lnTo>
                <a:lnTo>
                  <a:pt x="144459" y="825530"/>
                </a:lnTo>
                <a:lnTo>
                  <a:pt x="283862" y="553640"/>
                </a:lnTo>
                <a:lnTo>
                  <a:pt x="0" y="0"/>
                </a:lnTo>
                <a:close/>
              </a:path>
            </a:pathLst>
          </a:custGeom>
          <a:gradFill flip="none" rotWithShape="1">
            <a:gsLst>
              <a:gs pos="73000">
                <a:srgbClr val="3368FF"/>
              </a:gs>
              <a:gs pos="17000">
                <a:srgbClr val="B3D4FE"/>
              </a:gs>
            </a:gsLst>
            <a:lin ang="13500000" scaled="1"/>
            <a:tileRect/>
          </a:gradFill>
          <a:ln>
            <a:solidFill>
              <a:srgbClr val="FFFFFF"/>
            </a:solid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en-US">
              <a:latin typeface="微软雅黑"/>
              <a:ea typeface="微软雅黑"/>
              <a:cs typeface="微软雅黑"/>
              <a:sym typeface="微软雅黑"/>
            </a:endParaRPr>
          </a:p>
        </p:txBody>
      </p:sp>
      <p:sp>
        <p:nvSpPr>
          <p:cNvPr id="154" name="任意形状 153"/>
          <p:cNvSpPr>
            <a:spLocks noChangeArrowheads="1"/>
          </p:cNvSpPr>
          <p:nvPr/>
        </p:nvSpPr>
        <p:spPr bwMode="auto">
          <a:xfrm>
            <a:off x="4899342" y="3267197"/>
            <a:ext cx="2378979" cy="825530"/>
          </a:xfrm>
          <a:custGeom>
            <a:avLst/>
            <a:gdLst>
              <a:gd name="connsiteX0" fmla="*/ 0 w 2378979"/>
              <a:gd name="connsiteY0" fmla="*/ 0 h 825530"/>
              <a:gd name="connsiteX1" fmla="*/ 2095117 w 2378979"/>
              <a:gd name="connsiteY1" fmla="*/ 0 h 825530"/>
              <a:gd name="connsiteX2" fmla="*/ 2378979 w 2378979"/>
              <a:gd name="connsiteY2" fmla="*/ 553640 h 825530"/>
              <a:gd name="connsiteX3" fmla="*/ 2239576 w 2378979"/>
              <a:gd name="connsiteY3" fmla="*/ 825530 h 825530"/>
              <a:gd name="connsiteX4" fmla="*/ 144459 w 2378979"/>
              <a:gd name="connsiteY4" fmla="*/ 825530 h 825530"/>
              <a:gd name="connsiteX5" fmla="*/ 283862 w 2378979"/>
              <a:gd name="connsiteY5" fmla="*/ 553640 h 825530"/>
              <a:gd name="connsiteX6" fmla="*/ 0 w 2378979"/>
              <a:gd name="connsiteY6" fmla="*/ 0 h 82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79" h="825530">
                <a:moveTo>
                  <a:pt x="0" y="0"/>
                </a:moveTo>
                <a:lnTo>
                  <a:pt x="2095117" y="0"/>
                </a:lnTo>
                <a:lnTo>
                  <a:pt x="2378979" y="553640"/>
                </a:lnTo>
                <a:lnTo>
                  <a:pt x="2239576" y="825530"/>
                </a:lnTo>
                <a:lnTo>
                  <a:pt x="144459" y="825530"/>
                </a:lnTo>
                <a:lnTo>
                  <a:pt x="283862" y="553640"/>
                </a:lnTo>
                <a:lnTo>
                  <a:pt x="0" y="0"/>
                </a:lnTo>
                <a:close/>
              </a:path>
            </a:pathLst>
          </a:custGeom>
          <a:gradFill flip="none" rotWithShape="1">
            <a:gsLst>
              <a:gs pos="73000">
                <a:srgbClr val="0042FF"/>
              </a:gs>
              <a:gs pos="17000">
                <a:srgbClr val="3368FF"/>
              </a:gs>
            </a:gsLst>
            <a:lin ang="13500000" scaled="1"/>
            <a:tileRect/>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153" name="任意形状 152"/>
          <p:cNvSpPr>
            <a:spLocks noChangeArrowheads="1"/>
          </p:cNvSpPr>
          <p:nvPr/>
        </p:nvSpPr>
        <p:spPr bwMode="auto">
          <a:xfrm>
            <a:off x="7128800" y="3267197"/>
            <a:ext cx="2378979" cy="825530"/>
          </a:xfrm>
          <a:custGeom>
            <a:avLst/>
            <a:gdLst>
              <a:gd name="connsiteX0" fmla="*/ 0 w 2378979"/>
              <a:gd name="connsiteY0" fmla="*/ 0 h 825530"/>
              <a:gd name="connsiteX1" fmla="*/ 2095117 w 2378979"/>
              <a:gd name="connsiteY1" fmla="*/ 0 h 825530"/>
              <a:gd name="connsiteX2" fmla="*/ 2378979 w 2378979"/>
              <a:gd name="connsiteY2" fmla="*/ 553640 h 825530"/>
              <a:gd name="connsiteX3" fmla="*/ 2239575 w 2378979"/>
              <a:gd name="connsiteY3" fmla="*/ 825530 h 825530"/>
              <a:gd name="connsiteX4" fmla="*/ 144459 w 2378979"/>
              <a:gd name="connsiteY4" fmla="*/ 825530 h 825530"/>
              <a:gd name="connsiteX5" fmla="*/ 283862 w 2378979"/>
              <a:gd name="connsiteY5" fmla="*/ 553640 h 825530"/>
              <a:gd name="connsiteX6" fmla="*/ 0 w 2378979"/>
              <a:gd name="connsiteY6" fmla="*/ 0 h 82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79" h="825530">
                <a:moveTo>
                  <a:pt x="0" y="0"/>
                </a:moveTo>
                <a:lnTo>
                  <a:pt x="2095117" y="0"/>
                </a:lnTo>
                <a:lnTo>
                  <a:pt x="2378979" y="553640"/>
                </a:lnTo>
                <a:lnTo>
                  <a:pt x="2239575" y="825530"/>
                </a:lnTo>
                <a:lnTo>
                  <a:pt x="144459" y="825530"/>
                </a:lnTo>
                <a:lnTo>
                  <a:pt x="283862" y="553640"/>
                </a:lnTo>
                <a:lnTo>
                  <a:pt x="0" y="0"/>
                </a:lnTo>
                <a:close/>
              </a:path>
            </a:pathLst>
          </a:custGeom>
          <a:gradFill flip="none" rotWithShape="1">
            <a:gsLst>
              <a:gs pos="73000">
                <a:srgbClr val="3368FF"/>
              </a:gs>
              <a:gs pos="17000">
                <a:srgbClr val="B3D4FE"/>
              </a:gs>
            </a:gsLst>
            <a:lin ang="13500000" scaled="1"/>
            <a:tileRect/>
          </a:gradFill>
          <a:ln>
            <a:solidFill>
              <a:srgbClr val="FFFFFF"/>
            </a:solid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en-US">
              <a:latin typeface="微软雅黑"/>
              <a:ea typeface="微软雅黑"/>
              <a:cs typeface="微软雅黑"/>
              <a:sym typeface="微软雅黑"/>
            </a:endParaRPr>
          </a:p>
        </p:txBody>
      </p:sp>
      <p:sp>
        <p:nvSpPr>
          <p:cNvPr id="152" name="任意形状 151"/>
          <p:cNvSpPr>
            <a:spLocks noChangeArrowheads="1"/>
          </p:cNvSpPr>
          <p:nvPr/>
        </p:nvSpPr>
        <p:spPr bwMode="auto">
          <a:xfrm>
            <a:off x="9358259" y="3267197"/>
            <a:ext cx="2378979" cy="825530"/>
          </a:xfrm>
          <a:custGeom>
            <a:avLst/>
            <a:gdLst>
              <a:gd name="connsiteX0" fmla="*/ 0 w 2378979"/>
              <a:gd name="connsiteY0" fmla="*/ 0 h 825530"/>
              <a:gd name="connsiteX1" fmla="*/ 2095117 w 2378979"/>
              <a:gd name="connsiteY1" fmla="*/ 0 h 825530"/>
              <a:gd name="connsiteX2" fmla="*/ 2378979 w 2378979"/>
              <a:gd name="connsiteY2" fmla="*/ 553640 h 825530"/>
              <a:gd name="connsiteX3" fmla="*/ 2239575 w 2378979"/>
              <a:gd name="connsiteY3" fmla="*/ 825530 h 825530"/>
              <a:gd name="connsiteX4" fmla="*/ 144458 w 2378979"/>
              <a:gd name="connsiteY4" fmla="*/ 825530 h 825530"/>
              <a:gd name="connsiteX5" fmla="*/ 283862 w 2378979"/>
              <a:gd name="connsiteY5" fmla="*/ 553640 h 825530"/>
              <a:gd name="connsiteX6" fmla="*/ 0 w 2378979"/>
              <a:gd name="connsiteY6" fmla="*/ 0 h 82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79" h="825530">
                <a:moveTo>
                  <a:pt x="0" y="0"/>
                </a:moveTo>
                <a:lnTo>
                  <a:pt x="2095117" y="0"/>
                </a:lnTo>
                <a:lnTo>
                  <a:pt x="2378979" y="553640"/>
                </a:lnTo>
                <a:lnTo>
                  <a:pt x="2239575" y="825530"/>
                </a:lnTo>
                <a:lnTo>
                  <a:pt x="144458" y="825530"/>
                </a:lnTo>
                <a:lnTo>
                  <a:pt x="283862" y="553640"/>
                </a:lnTo>
                <a:lnTo>
                  <a:pt x="0" y="0"/>
                </a:lnTo>
                <a:close/>
              </a:path>
            </a:pathLst>
          </a:custGeom>
          <a:gradFill flip="none" rotWithShape="1">
            <a:gsLst>
              <a:gs pos="73000">
                <a:srgbClr val="0042FF"/>
              </a:gs>
              <a:gs pos="17000">
                <a:srgbClr val="3368FF"/>
              </a:gs>
            </a:gsLst>
            <a:lin ang="13500000" scaled="1"/>
            <a:tileRect/>
          </a:gradFill>
          <a:ln>
            <a:solidFill>
              <a:srgbClr val="FFFFFF"/>
            </a:solid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80" name="文本框 79"/>
          <p:cNvSpPr txBox="1"/>
          <p:nvPr/>
        </p:nvSpPr>
        <p:spPr>
          <a:xfrm>
            <a:off x="1416685" y="3370580"/>
            <a:ext cx="1320800" cy="578485"/>
          </a:xfrm>
          <a:prstGeom prst="rect">
            <a:avLst/>
          </a:prstGeom>
          <a:noFill/>
        </p:spPr>
        <p:txBody>
          <a:bodyPr wrap="square" rtlCol="0" lIns="0" rIns="0" tIns="0" bIns="0" anchor="t">
            <a:noAutofit/>
          </a:bodyPr>
          <a:lstStyle/>
          <a:p>
            <a:pPr algn="just">
              <a:lnSpc>
                <a:spcPts val="1568"/>
              </a:lnSpc>
              <a:defRPr>
                <a:solidFill>
                  <a:srgbClr val="FFFFFF"/>
                </a:solidFill>
                <a:latin typeface="微软雅黑"/>
                <a:ea typeface="微软雅黑"/>
                <a:cs typeface="微软雅黑"/>
              </a:defRPr>
              <a:spcBef>
                <a:spcPts val="0"/>
              </a:spcBef>
              <a:spcAft>
                <a:spcPts val="0"/>
              </a:spcAft>
            </a:pPr>
            <a:r>
              <a:rPr kumimoji="1" lang="zh-CN" altLang="en-US" sz="1400" b="1" dirty="0">
                <a:solidFill>
                  <a:srgbClr val="FFFFFF"/>
                </a:solidFill>
                <a:latin typeface="微软雅黑"/>
                <a:ea typeface="微软雅黑"/>
                <a:cs typeface="微软雅黑"/>
              </a:rPr>
              <a:t>市场调研</a:t>
            </a:r>
            <a:endParaRPr kumimoji="1" lang="en-US" altLang="zh-CN" sz="1400" b="1" dirty="0">
              <a:solidFill>
                <a:srgbClr val="FFFFFF"/>
              </a:solidFill>
              <a:latin typeface="微软雅黑"/>
              <a:ea typeface="微软雅黑"/>
              <a:cs typeface="微软雅黑"/>
            </a:endParaRPr>
          </a:p>
          <a:p>
            <a:pPr algn="just">
              <a:lnSpc>
                <a:spcPts val="1568"/>
              </a:lnSpc>
              <a:defRPr>
                <a:solidFill>
                  <a:srgbClr val="FFFFFF"/>
                </a:solidFill>
                <a:latin typeface="微软雅黑"/>
                <a:ea typeface="微软雅黑"/>
                <a:cs typeface="微软雅黑"/>
              </a:defRPr>
              <a:spcBef>
                <a:spcPts val="0"/>
              </a:spcBef>
              <a:spcAft>
                <a:spcPts val="0"/>
              </a:spcAft>
            </a:pPr>
            <a:r>
              <a:rPr kumimoji="1" lang="en-US" altLang="zh-CN" sz="1000" b="1" cap="all" dirty="0">
                <a:solidFill>
                  <a:srgbClr val="FFFFFF"/>
                </a:solidFill>
                <a:latin typeface="微软雅黑"/>
                <a:ea typeface="微软雅黑"/>
                <a:cs typeface="微软雅黑"/>
              </a:rPr>
              <a:t>Market research</a:t>
            </a:r>
            <a:endParaRPr kumimoji="1" lang="zh-CN" altLang="en-US" sz="1000" b="1" cap="all" dirty="0">
              <a:solidFill>
                <a:srgbClr val="FFFFFF"/>
              </a:solidFill>
              <a:latin typeface="微软雅黑"/>
              <a:ea typeface="微软雅黑"/>
              <a:cs typeface="微软雅黑"/>
            </a:endParaRPr>
          </a:p>
        </p:txBody>
      </p:sp>
      <p:sp>
        <p:nvSpPr>
          <p:cNvPr id="94" name="文本框 93"/>
          <p:cNvSpPr txBox="1"/>
          <p:nvPr/>
        </p:nvSpPr>
        <p:spPr>
          <a:xfrm>
            <a:off x="3642360" y="3370580"/>
            <a:ext cx="1320800" cy="578485"/>
          </a:xfrm>
          <a:prstGeom prst="rect">
            <a:avLst/>
          </a:prstGeom>
          <a:noFill/>
        </p:spPr>
        <p:txBody>
          <a:bodyPr wrap="square" rtlCol="0" lIns="0" rIns="0" tIns="0" bIns="0" anchor="t">
            <a:noAutofit/>
          </a:bodyPr>
          <a:lstStyle/>
          <a:p>
            <a:pPr algn="just">
              <a:lnSpc>
                <a:spcPts val="1568"/>
              </a:lnSpc>
              <a:defRPr>
                <a:latin typeface="微软雅黑"/>
                <a:ea typeface="微软雅黑"/>
                <a:cs typeface="微软雅黑"/>
              </a:defRPr>
              <a:spcBef>
                <a:spcPts val="0"/>
              </a:spcBef>
              <a:spcAft>
                <a:spcPts val="0"/>
              </a:spcAft>
            </a:pPr>
            <a:r>
              <a:rPr kumimoji="1" lang="zh-CN" altLang="en-US" sz="1400" b="1" dirty="0">
                <a:solidFill>
                  <a:srgbClr val="383838"/>
                </a:solidFill>
                <a:latin typeface="微软雅黑"/>
                <a:ea typeface="微软雅黑"/>
                <a:cs typeface="微软雅黑"/>
              </a:rPr>
              <a:t>品牌策划</a:t>
            </a:r>
            <a:endParaRPr kumimoji="1" lang="en-US" altLang="zh-CN" sz="1400" b="1" dirty="0">
              <a:solidFill>
                <a:srgbClr val="383838"/>
              </a:solidFill>
              <a:latin typeface="微软雅黑"/>
              <a:ea typeface="微软雅黑"/>
              <a:cs typeface="微软雅黑"/>
            </a:endParaRPr>
          </a:p>
          <a:p>
            <a:pPr algn="just">
              <a:lnSpc>
                <a:spcPts val="1568"/>
              </a:lnSpc>
              <a:defRPr>
                <a:latin typeface="微软雅黑"/>
                <a:ea typeface="微软雅黑"/>
                <a:cs typeface="微软雅黑"/>
              </a:defRPr>
              <a:spcBef>
                <a:spcPts val="0"/>
              </a:spcBef>
              <a:spcAft>
                <a:spcPts val="0"/>
              </a:spcAft>
            </a:pPr>
            <a:r>
              <a:rPr kumimoji="1" lang="en-GB" altLang="zh-CN" sz="1000" b="1" dirty="0">
                <a:solidFill>
                  <a:srgbClr val="383838"/>
                </a:solidFill>
                <a:latin typeface="微软雅黑"/>
                <a:ea typeface="微软雅黑"/>
                <a:cs typeface="微软雅黑"/>
              </a:rPr>
              <a:t>BRAND PLANNING</a:t>
            </a:r>
            <a:endParaRPr kumimoji="1" lang="zh-CN" altLang="en-US" sz="1000" b="1" dirty="0">
              <a:solidFill>
                <a:srgbClr val="383838"/>
              </a:solidFill>
              <a:latin typeface="微软雅黑"/>
              <a:ea typeface="微软雅黑"/>
              <a:cs typeface="微软雅黑"/>
            </a:endParaRPr>
          </a:p>
        </p:txBody>
      </p:sp>
      <p:sp>
        <p:nvSpPr>
          <p:cNvPr id="97" name="文本框 96"/>
          <p:cNvSpPr txBox="1"/>
          <p:nvPr/>
        </p:nvSpPr>
        <p:spPr>
          <a:xfrm>
            <a:off x="5853430" y="3370580"/>
            <a:ext cx="1320800" cy="578485"/>
          </a:xfrm>
          <a:prstGeom prst="rect">
            <a:avLst/>
          </a:prstGeom>
          <a:noFill/>
        </p:spPr>
        <p:txBody>
          <a:bodyPr wrap="square" rtlCol="0" lIns="0" rIns="0" tIns="0" bIns="0" anchor="t">
            <a:noAutofit/>
          </a:bodyPr>
          <a:lstStyle/>
          <a:p>
            <a:pPr algn="just">
              <a:lnSpc>
                <a:spcPts val="1568"/>
              </a:lnSpc>
              <a:defRPr>
                <a:solidFill>
                  <a:srgbClr val="FFFFFF"/>
                </a:solidFill>
                <a:latin typeface="微软雅黑"/>
                <a:ea typeface="微软雅黑"/>
                <a:cs typeface="微软雅黑"/>
              </a:defRPr>
              <a:spcBef>
                <a:spcPts val="0"/>
              </a:spcBef>
              <a:spcAft>
                <a:spcPts val="0"/>
              </a:spcAft>
            </a:pPr>
            <a:r>
              <a:rPr kumimoji="1" lang="zh-CN" altLang="en-US" sz="1400" b="1" dirty="0">
                <a:solidFill>
                  <a:srgbClr val="FFFFFF"/>
                </a:solidFill>
                <a:latin typeface="微软雅黑"/>
                <a:ea typeface="微软雅黑"/>
                <a:cs typeface="微软雅黑"/>
              </a:rPr>
              <a:t>品牌设计</a:t>
            </a:r>
            <a:endParaRPr kumimoji="1" lang="en-US" altLang="zh-CN" sz="1400" b="1" dirty="0">
              <a:solidFill>
                <a:srgbClr val="FFFFFF"/>
              </a:solidFill>
              <a:latin typeface="微软雅黑"/>
              <a:ea typeface="微软雅黑"/>
              <a:cs typeface="微软雅黑"/>
            </a:endParaRPr>
          </a:p>
          <a:p>
            <a:pPr algn="just">
              <a:lnSpc>
                <a:spcPts val="1568"/>
              </a:lnSpc>
              <a:defRPr>
                <a:solidFill>
                  <a:srgbClr val="FFFFFF"/>
                </a:solidFill>
                <a:latin typeface="微软雅黑"/>
                <a:ea typeface="微软雅黑"/>
                <a:cs typeface="微软雅黑"/>
              </a:defRPr>
              <a:spcBef>
                <a:spcPts val="0"/>
              </a:spcBef>
              <a:spcAft>
                <a:spcPts val="0"/>
              </a:spcAft>
            </a:pPr>
            <a:r>
              <a:rPr kumimoji="1" lang="en-US" altLang="zh-CN" sz="1000" b="1" cap="all" dirty="0">
                <a:solidFill>
                  <a:srgbClr val="FFFFFF"/>
                </a:solidFill>
                <a:latin typeface="微软雅黑"/>
                <a:ea typeface="微软雅黑"/>
                <a:cs typeface="微软雅黑"/>
              </a:rPr>
              <a:t>Brand design</a:t>
            </a:r>
            <a:endParaRPr kumimoji="1" lang="zh-CN" altLang="en-US" sz="1000" b="1" cap="all" dirty="0">
              <a:solidFill>
                <a:srgbClr val="FFFFFF"/>
              </a:solidFill>
              <a:latin typeface="微软雅黑"/>
              <a:ea typeface="微软雅黑"/>
              <a:cs typeface="微软雅黑"/>
            </a:endParaRPr>
          </a:p>
        </p:txBody>
      </p:sp>
      <p:sp>
        <p:nvSpPr>
          <p:cNvPr id="100" name="文本框 99"/>
          <p:cNvSpPr txBox="1"/>
          <p:nvPr/>
        </p:nvSpPr>
        <p:spPr>
          <a:xfrm>
            <a:off x="8087360" y="3370580"/>
            <a:ext cx="1320800" cy="578485"/>
          </a:xfrm>
          <a:prstGeom prst="rect">
            <a:avLst/>
          </a:prstGeom>
          <a:noFill/>
        </p:spPr>
        <p:txBody>
          <a:bodyPr wrap="square" rtlCol="0" lIns="0" rIns="0" tIns="0" bIns="0" anchor="t">
            <a:noAutofit/>
          </a:bodyPr>
          <a:lstStyle/>
          <a:p>
            <a:pPr algn="just">
              <a:lnSpc>
                <a:spcPts val="1568"/>
              </a:lnSpc>
              <a:defRPr>
                <a:latin typeface="微软雅黑"/>
                <a:ea typeface="微软雅黑"/>
                <a:cs typeface="微软雅黑"/>
              </a:defRPr>
              <a:spcBef>
                <a:spcPts val="0"/>
              </a:spcBef>
              <a:spcAft>
                <a:spcPts val="0"/>
              </a:spcAft>
            </a:pPr>
            <a:r>
              <a:rPr kumimoji="1" lang="zh-CN" altLang="en-US" sz="1400" b="1" dirty="0">
                <a:solidFill>
                  <a:srgbClr val="383838"/>
                </a:solidFill>
                <a:latin typeface="微软雅黑"/>
                <a:ea typeface="微软雅黑"/>
                <a:cs typeface="微软雅黑"/>
              </a:rPr>
              <a:t>市场投放</a:t>
            </a:r>
            <a:endParaRPr kumimoji="1" lang="en-US" altLang="zh-CN" sz="1400" b="1" dirty="0">
              <a:solidFill>
                <a:srgbClr val="383838"/>
              </a:solidFill>
              <a:latin typeface="微软雅黑"/>
              <a:ea typeface="微软雅黑"/>
              <a:cs typeface="微软雅黑"/>
            </a:endParaRPr>
          </a:p>
          <a:p>
            <a:pPr algn="just">
              <a:lnSpc>
                <a:spcPts val="1568"/>
              </a:lnSpc>
              <a:defRPr>
                <a:latin typeface="微软雅黑"/>
                <a:ea typeface="微软雅黑"/>
                <a:cs typeface="微软雅黑"/>
              </a:defRPr>
              <a:spcBef>
                <a:spcPts val="0"/>
              </a:spcBef>
              <a:spcAft>
                <a:spcPts val="0"/>
              </a:spcAft>
            </a:pPr>
            <a:r>
              <a:rPr kumimoji="1" lang="en-US" altLang="zh-CN" sz="1000" b="1" cap="all" dirty="0">
                <a:solidFill>
                  <a:srgbClr val="383838"/>
                </a:solidFill>
                <a:latin typeface="微软雅黑"/>
                <a:ea typeface="微软雅黑"/>
                <a:cs typeface="微软雅黑"/>
              </a:rPr>
              <a:t>Market launch</a:t>
            </a:r>
            <a:endParaRPr kumimoji="1" lang="zh-CN" altLang="en-US" sz="1000" b="1" cap="all" dirty="0">
              <a:solidFill>
                <a:srgbClr val="383838"/>
              </a:solidFill>
              <a:latin typeface="微软雅黑"/>
              <a:ea typeface="微软雅黑"/>
              <a:cs typeface="微软雅黑"/>
            </a:endParaRPr>
          </a:p>
        </p:txBody>
      </p:sp>
      <p:sp>
        <p:nvSpPr>
          <p:cNvPr id="9" name="文本框 8"/>
          <p:cNvSpPr txBox="1"/>
          <p:nvPr/>
        </p:nvSpPr>
        <p:spPr>
          <a:xfrm>
            <a:off x="10343515" y="3370580"/>
            <a:ext cx="1320800" cy="578485"/>
          </a:xfrm>
          <a:prstGeom prst="rect">
            <a:avLst/>
          </a:prstGeom>
          <a:noFill/>
        </p:spPr>
        <p:txBody>
          <a:bodyPr wrap="square" rtlCol="0" lIns="0" rIns="0" tIns="0" bIns="0" anchor="t">
            <a:noAutofit/>
          </a:bodyPr>
          <a:lstStyle/>
          <a:p>
            <a:pPr algn="just">
              <a:lnSpc>
                <a:spcPts val="1568"/>
              </a:lnSpc>
              <a:defRPr>
                <a:solidFill>
                  <a:srgbClr val="FFFFFF"/>
                </a:solidFill>
                <a:latin typeface="微软雅黑"/>
                <a:ea typeface="微软雅黑"/>
                <a:cs typeface="微软雅黑"/>
              </a:defRPr>
              <a:spcBef>
                <a:spcPts val="0"/>
              </a:spcBef>
              <a:spcAft>
                <a:spcPts val="0"/>
              </a:spcAft>
            </a:pPr>
            <a:r>
              <a:rPr kumimoji="1" lang="zh-CN" altLang="en-US" sz="1400" b="1" dirty="0">
                <a:solidFill>
                  <a:srgbClr val="FFFFFF"/>
                </a:solidFill>
                <a:latin typeface="微软雅黑"/>
                <a:ea typeface="微软雅黑"/>
                <a:cs typeface="微软雅黑"/>
              </a:rPr>
              <a:t>用户反馈</a:t>
            </a:r>
            <a:endParaRPr kumimoji="1" lang="en-US" altLang="zh-CN" sz="1400" b="1" dirty="0">
              <a:solidFill>
                <a:srgbClr val="FFFFFF"/>
              </a:solidFill>
              <a:latin typeface="微软雅黑"/>
              <a:ea typeface="微软雅黑"/>
              <a:cs typeface="微软雅黑"/>
            </a:endParaRPr>
          </a:p>
          <a:p>
            <a:pPr algn="just">
              <a:lnSpc>
                <a:spcPts val="1568"/>
              </a:lnSpc>
              <a:defRPr>
                <a:solidFill>
                  <a:srgbClr val="FFFFFF"/>
                </a:solidFill>
                <a:latin typeface="微软雅黑"/>
                <a:ea typeface="微软雅黑"/>
                <a:cs typeface="微软雅黑"/>
              </a:defRPr>
              <a:spcBef>
                <a:spcPts val="0"/>
              </a:spcBef>
              <a:spcAft>
                <a:spcPts val="0"/>
              </a:spcAft>
            </a:pPr>
            <a:r>
              <a:rPr lang="en-US" altLang="zh-CN" sz="1000" b="1" cap="all" dirty="0">
                <a:solidFill>
                  <a:srgbClr val="FFFFFF"/>
                </a:solidFill>
                <a:latin typeface="微软雅黑"/>
                <a:ea typeface="微软雅黑"/>
                <a:cs typeface="微软雅黑"/>
              </a:rPr>
              <a:t>User feedback</a:t>
            </a:r>
            <a:endParaRPr kumimoji="1" lang="zh-CN" altLang="en-US" sz="1000" b="1" cap="all" dirty="0">
              <a:solidFill>
                <a:srgbClr val="FFFFFF"/>
              </a:solidFill>
              <a:latin typeface="微软雅黑"/>
              <a:ea typeface="微软雅黑"/>
              <a:cs typeface="微软雅黑"/>
            </a:endParaRPr>
          </a:p>
        </p:txBody>
      </p:sp>
      <p:sp>
        <p:nvSpPr>
          <p:cNvPr id="11" name="圆角矩形 10"/>
          <p:cNvSpPr/>
          <p:nvPr/>
        </p:nvSpPr>
        <p:spPr>
          <a:xfrm>
            <a:off x="1221470" y="1184697"/>
            <a:ext cx="2058608" cy="260305"/>
          </a:xfrm>
          <a:prstGeom prst="roundRect">
            <a:avLst>
              <a:gd name="adj" fmla="val 35179"/>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2" name="This is a sample text. Insert your description here."/>
          <p:cNvSpPr/>
          <p:nvPr/>
        </p:nvSpPr>
        <p:spPr>
          <a:xfrm>
            <a:off x="604105" y="1497697"/>
            <a:ext cx="3293338" cy="583558"/>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企业或组织为了了解市场环境、市场需求和消费者行为而进行的系统性数据收集、分析和解释的过程。它是企业制定市场的战略和决策的重要依据之一。</a:t>
            </a:r>
            <a:endParaRPr lang="zh-CN" altLang="en-US" sz="1000" dirty="0">
              <a:solidFill>
                <a:srgbClr val="383838"/>
              </a:solidFill>
              <a:latin typeface="微软雅黑"/>
              <a:ea typeface="微软雅黑"/>
              <a:cs typeface="微软雅黑"/>
              <a:sym typeface="微软雅黑"/>
            </a:endParaRPr>
          </a:p>
        </p:txBody>
      </p:sp>
      <p:sp>
        <p:nvSpPr>
          <p:cNvPr id="15" name="This is a sample text."/>
          <p:cNvSpPr/>
          <p:nvPr/>
        </p:nvSpPr>
        <p:spPr>
          <a:xfrm>
            <a:off x="1259693" y="1204563"/>
            <a:ext cx="1982163" cy="220573"/>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lgn="l">
              <a:defRPr sz="25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市场调研 </a:t>
            </a:r>
            <a:r>
              <a:rPr lang="en-US" altLang="zh-CN" sz="1100" b="1" dirty="0">
                <a:solidFill>
                  <a:srgbClr val="FFFFFF"/>
                </a:solidFill>
                <a:latin typeface="微软雅黑"/>
                <a:ea typeface="微软雅黑"/>
                <a:cs typeface="微软雅黑"/>
                <a:sym typeface="微软雅黑"/>
              </a:rPr>
              <a:t>Market research</a:t>
            </a:r>
            <a:endParaRPr sz="1100" b="1" dirty="0">
              <a:solidFill>
                <a:srgbClr val="FFFFFF"/>
              </a:solidFill>
              <a:latin typeface="微软雅黑"/>
              <a:ea typeface="微软雅黑"/>
              <a:cs typeface="微软雅黑"/>
              <a:sym typeface="微软雅黑"/>
            </a:endParaRPr>
          </a:p>
        </p:txBody>
      </p:sp>
      <p:grpSp>
        <p:nvGrpSpPr>
          <p:cNvPr id="70" name="组合 69"/>
          <p:cNvGrpSpPr/>
          <p:nvPr/>
        </p:nvGrpSpPr>
        <p:grpSpPr>
          <a:xfrm>
            <a:off x="5041900" y="1164590"/>
            <a:ext cx="2058670" cy="260350"/>
            <a:chOff x="7061" y="1866"/>
            <a:chExt cx="3242" cy="410"/>
          </a:xfrm>
        </p:grpSpPr>
        <p:sp>
          <p:nvSpPr>
            <p:cNvPr id="19" name="圆角矩形 18"/>
            <p:cNvSpPr/>
            <p:nvPr/>
          </p:nvSpPr>
          <p:spPr>
            <a:xfrm>
              <a:off x="7061" y="1866"/>
              <a:ext cx="3242" cy="410"/>
            </a:xfrm>
            <a:prstGeom prst="roundRect">
              <a:avLst>
                <a:gd name="adj" fmla="val 35179"/>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20" name="This is a sample text."/>
            <p:cNvSpPr/>
            <p:nvPr/>
          </p:nvSpPr>
          <p:spPr>
            <a:xfrm>
              <a:off x="7122" y="1897"/>
              <a:ext cx="3122" cy="347"/>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lgn="l">
                <a:defRPr sz="25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品牌设计 </a:t>
              </a:r>
              <a:r>
                <a:rPr lang="en-US" altLang="zh-CN" sz="1100" b="1" dirty="0">
                  <a:solidFill>
                    <a:srgbClr val="FFFFFF"/>
                  </a:solidFill>
                  <a:latin typeface="微软雅黑"/>
                  <a:ea typeface="微软雅黑"/>
                  <a:cs typeface="微软雅黑"/>
                  <a:sym typeface="微软雅黑"/>
                </a:rPr>
                <a:t>Brand design</a:t>
              </a:r>
              <a:endParaRPr sz="1100" b="1" dirty="0">
                <a:solidFill>
                  <a:srgbClr val="FFFFFF"/>
                </a:solidFill>
                <a:latin typeface="微软雅黑"/>
                <a:ea typeface="微软雅黑"/>
                <a:cs typeface="微软雅黑"/>
                <a:sym typeface="微软雅黑"/>
              </a:endParaRPr>
            </a:p>
          </p:txBody>
        </p:sp>
      </p:grpSp>
      <p:sp>
        <p:nvSpPr>
          <p:cNvPr id="24" name="This is a sample text. Insert your description here."/>
          <p:cNvSpPr/>
          <p:nvPr/>
        </p:nvSpPr>
        <p:spPr>
          <a:xfrm>
            <a:off x="8346483" y="1497697"/>
            <a:ext cx="3293338" cy="598170"/>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用户反馈指的是用户对产品、服务或品牌的意见、建议、评价或体验反馈。有效管理和利用用户反馈可以帮助企业更好地理解市场需求，提升产品和服务的质量和竞争力，增强品牌在市场中的地位和影响力。</a:t>
            </a:r>
            <a:endParaRPr lang="zh-CN" altLang="en-US" sz="1000" dirty="0">
              <a:solidFill>
                <a:srgbClr val="383838"/>
              </a:solidFill>
              <a:latin typeface="微软雅黑"/>
              <a:ea typeface="微软雅黑"/>
              <a:cs typeface="微软雅黑"/>
              <a:sym typeface="微软雅黑"/>
            </a:endParaRPr>
          </a:p>
        </p:txBody>
      </p:sp>
      <p:grpSp>
        <p:nvGrpSpPr>
          <p:cNvPr id="63" name="组合 62"/>
          <p:cNvGrpSpPr/>
          <p:nvPr/>
        </p:nvGrpSpPr>
        <p:grpSpPr>
          <a:xfrm>
            <a:off x="8963817" y="1184910"/>
            <a:ext cx="2058670" cy="260350"/>
            <a:chOff x="13144" y="1866"/>
            <a:chExt cx="3242" cy="410"/>
          </a:xfrm>
        </p:grpSpPr>
        <p:sp>
          <p:nvSpPr>
            <p:cNvPr id="22" name="圆角矩形 21"/>
            <p:cNvSpPr/>
            <p:nvPr/>
          </p:nvSpPr>
          <p:spPr>
            <a:xfrm>
              <a:off x="13144" y="1866"/>
              <a:ext cx="3242" cy="410"/>
            </a:xfrm>
            <a:prstGeom prst="roundRect">
              <a:avLst>
                <a:gd name="adj" fmla="val 35179"/>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25" name="This is a sample text."/>
            <p:cNvSpPr/>
            <p:nvPr/>
          </p:nvSpPr>
          <p:spPr>
            <a:xfrm>
              <a:off x="13378" y="1904"/>
              <a:ext cx="2774" cy="346"/>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lgn="l">
                <a:defRPr sz="25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用户反馈 </a:t>
              </a:r>
              <a:r>
                <a:rPr lang="en-US" altLang="zh-CN" sz="1100" b="1" dirty="0">
                  <a:solidFill>
                    <a:srgbClr val="FFFFFF"/>
                  </a:solidFill>
                  <a:latin typeface="微软雅黑"/>
                  <a:ea typeface="微软雅黑"/>
                  <a:cs typeface="微软雅黑"/>
                  <a:sym typeface="微软雅黑"/>
                </a:rPr>
                <a:t>User feedback</a:t>
              </a:r>
              <a:endParaRPr sz="1100" b="1" dirty="0">
                <a:solidFill>
                  <a:srgbClr val="FFFFFF"/>
                </a:solidFill>
                <a:latin typeface="微软雅黑"/>
                <a:ea typeface="微软雅黑"/>
                <a:cs typeface="微软雅黑"/>
                <a:sym typeface="微软雅黑"/>
              </a:endParaRPr>
            </a:p>
          </p:txBody>
        </p:sp>
      </p:grpSp>
      <p:graphicFrame>
        <p:nvGraphicFramePr>
          <p:cNvPr id="26" name="图示 25"/>
          <p:cNvGraphicFramePr/>
          <p:nvPr/>
        </p:nvGraphicFramePr>
        <p:xfrm>
          <a:off x="8171899" y="-200793"/>
          <a:ext cx="3237207" cy="36725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7" name="This is a sample text. Insert your description here."/>
          <p:cNvSpPr/>
          <p:nvPr/>
        </p:nvSpPr>
        <p:spPr>
          <a:xfrm>
            <a:off x="4508500" y="1887220"/>
            <a:ext cx="778510" cy="740410"/>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品牌的标志</a:t>
            </a:r>
            <a:r>
              <a:rPr lang="en-US" altLang="zh-CN" sz="1000" dirty="0">
                <a:solidFill>
                  <a:srgbClr val="383838"/>
                </a:solidFill>
                <a:latin typeface="微软雅黑"/>
                <a:ea typeface="微软雅黑"/>
                <a:cs typeface="微软雅黑"/>
                <a:sym typeface="微软雅黑"/>
              </a:rPr>
              <a:t>Logo</a:t>
            </a:r>
            <a:r>
              <a:rPr lang="zh-CN" altLang="en-US" sz="1000" dirty="0">
                <a:solidFill>
                  <a:srgbClr val="383838"/>
                </a:solidFill>
                <a:latin typeface="微软雅黑"/>
                <a:ea typeface="微软雅黑"/>
                <a:cs typeface="微软雅黑"/>
                <a:sym typeface="微软雅黑"/>
              </a:rPr>
              <a:t>是品牌设计的核心，它是品牌视觉识别的基础。</a:t>
            </a:r>
            <a:endParaRPr lang="zh-CN" altLang="en-US" sz="1000" dirty="0">
              <a:solidFill>
                <a:srgbClr val="383838"/>
              </a:solidFill>
              <a:latin typeface="微软雅黑"/>
              <a:ea typeface="微软雅黑"/>
              <a:cs typeface="微软雅黑"/>
              <a:sym typeface="微软雅黑"/>
            </a:endParaRPr>
          </a:p>
        </p:txBody>
      </p:sp>
      <p:sp>
        <p:nvSpPr>
          <p:cNvPr id="28" name="This is a sample text. Insert your description here."/>
          <p:cNvSpPr/>
          <p:nvPr/>
        </p:nvSpPr>
        <p:spPr>
          <a:xfrm>
            <a:off x="5382895" y="1887220"/>
            <a:ext cx="757555" cy="882650"/>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选择适合品牌风格和目标市场的色彩，建立品牌的视觉识别特征。</a:t>
            </a:r>
            <a:endParaRPr lang="zh-CN" altLang="en-US" sz="1000" dirty="0">
              <a:solidFill>
                <a:srgbClr val="383838"/>
              </a:solidFill>
              <a:latin typeface="微软雅黑"/>
              <a:ea typeface="微软雅黑"/>
              <a:cs typeface="微软雅黑"/>
              <a:sym typeface="微软雅黑"/>
            </a:endParaRPr>
          </a:p>
        </p:txBody>
      </p:sp>
      <p:sp>
        <p:nvSpPr>
          <p:cNvPr id="29" name="This is a sample text. Insert your description here."/>
          <p:cNvSpPr/>
          <p:nvPr/>
        </p:nvSpPr>
        <p:spPr>
          <a:xfrm>
            <a:off x="6191885" y="1887220"/>
            <a:ext cx="768350" cy="740410"/>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选择适合品牌的字体和排版，确保在不同媒介的一致性和可读性。</a:t>
            </a:r>
            <a:endParaRPr lang="zh-CN" altLang="en-US" sz="1000" dirty="0">
              <a:solidFill>
                <a:srgbClr val="383838"/>
              </a:solidFill>
              <a:latin typeface="微软雅黑"/>
              <a:ea typeface="微软雅黑"/>
              <a:cs typeface="微软雅黑"/>
              <a:sym typeface="微软雅黑"/>
            </a:endParaRPr>
          </a:p>
        </p:txBody>
      </p:sp>
      <p:sp>
        <p:nvSpPr>
          <p:cNvPr id="30" name="This is a sample text. Insert your description here."/>
          <p:cNvSpPr/>
          <p:nvPr/>
        </p:nvSpPr>
        <p:spPr>
          <a:xfrm>
            <a:off x="7023735" y="1887220"/>
            <a:ext cx="766445" cy="740410"/>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设计和使用适当图形元素和图案，以丰富品牌的视觉语言和风格。</a:t>
            </a:r>
            <a:endParaRPr lang="zh-CN" altLang="en-US" sz="1000" dirty="0">
              <a:solidFill>
                <a:srgbClr val="383838"/>
              </a:solidFill>
              <a:latin typeface="微软雅黑"/>
              <a:ea typeface="微软雅黑"/>
              <a:cs typeface="微软雅黑"/>
              <a:sym typeface="微软雅黑"/>
            </a:endParaRPr>
          </a:p>
        </p:txBody>
      </p:sp>
      <p:sp>
        <p:nvSpPr>
          <p:cNvPr id="36" name="圆角矩形 35"/>
          <p:cNvSpPr/>
          <p:nvPr/>
        </p:nvSpPr>
        <p:spPr>
          <a:xfrm>
            <a:off x="2757553" y="5008312"/>
            <a:ext cx="2058608" cy="260305"/>
          </a:xfrm>
          <a:prstGeom prst="roundRect">
            <a:avLst>
              <a:gd name="adj" fmla="val 35179"/>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37" name="This is a sample text. Insert your description here."/>
          <p:cNvSpPr/>
          <p:nvPr/>
        </p:nvSpPr>
        <p:spPr>
          <a:xfrm>
            <a:off x="2140188" y="5321312"/>
            <a:ext cx="3293338" cy="768224"/>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品牌策划就是使企业形象和产品品牌在消费者脑海中形成一种个性化的区隔，并使消费者与企业品牌和产品品牌之间形成统一的价值观，注重意识形态和心理描述，即对消费者的心理市场进行规划、引导和激发，通过科学手段把人们对品牌的模糊认识清晰化的过程。</a:t>
            </a:r>
            <a:endParaRPr lang="zh-CN" altLang="en-US" sz="1000" dirty="0">
              <a:solidFill>
                <a:srgbClr val="383838"/>
              </a:solidFill>
              <a:latin typeface="微软雅黑"/>
              <a:ea typeface="微软雅黑"/>
              <a:cs typeface="微软雅黑"/>
              <a:sym typeface="微软雅黑"/>
            </a:endParaRPr>
          </a:p>
        </p:txBody>
      </p:sp>
      <p:sp>
        <p:nvSpPr>
          <p:cNvPr id="38" name="This is a sample text."/>
          <p:cNvSpPr/>
          <p:nvPr/>
        </p:nvSpPr>
        <p:spPr>
          <a:xfrm>
            <a:off x="2795775" y="5028178"/>
            <a:ext cx="1982163" cy="220573"/>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lgn="l">
              <a:defRPr sz="25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品牌策划 </a:t>
            </a:r>
            <a:r>
              <a:rPr lang="en-GB" altLang="zh-CN" sz="1100" b="1" dirty="0">
                <a:solidFill>
                  <a:srgbClr val="FFFFFF"/>
                </a:solidFill>
                <a:latin typeface="微软雅黑"/>
                <a:ea typeface="微软雅黑"/>
                <a:cs typeface="微软雅黑"/>
                <a:sym typeface="微软雅黑"/>
              </a:rPr>
              <a:t>Brand planning</a:t>
            </a:r>
            <a:endParaRPr sz="1100" b="1" dirty="0">
              <a:solidFill>
                <a:srgbClr val="FFFFFF"/>
              </a:solidFill>
              <a:latin typeface="微软雅黑"/>
              <a:ea typeface="微软雅黑"/>
              <a:cs typeface="微软雅黑"/>
              <a:sym typeface="微软雅黑"/>
            </a:endParaRPr>
          </a:p>
        </p:txBody>
      </p:sp>
      <p:sp>
        <p:nvSpPr>
          <p:cNvPr id="128" name="圆角矩形 127"/>
          <p:cNvSpPr/>
          <p:nvPr/>
        </p:nvSpPr>
        <p:spPr>
          <a:xfrm>
            <a:off x="2140190" y="6194560"/>
            <a:ext cx="1002271" cy="260305"/>
          </a:xfrm>
          <a:prstGeom prst="roundRect">
            <a:avLst>
              <a:gd name="adj" fmla="val 35179"/>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kumimoji="1" lang="zh-CN" altLang="en-US" sz="1000" b="1" dirty="0">
                <a:solidFill>
                  <a:srgbClr val="0042FF"/>
                </a:solidFill>
                <a:latin typeface="微软雅黑"/>
                <a:ea typeface="微软雅黑"/>
                <a:cs typeface="微软雅黑"/>
              </a:rPr>
              <a:t>品牌定位</a:t>
            </a:r>
            <a:endParaRPr kumimoji="1" lang="zh-CN" altLang="en-US" sz="1000" b="1" dirty="0">
              <a:solidFill>
                <a:srgbClr val="0042FF"/>
              </a:solidFill>
              <a:latin typeface="微软雅黑"/>
              <a:ea typeface="微软雅黑"/>
              <a:cs typeface="微软雅黑"/>
            </a:endParaRPr>
          </a:p>
        </p:txBody>
      </p:sp>
      <p:sp>
        <p:nvSpPr>
          <p:cNvPr id="129" name="圆角矩形 128"/>
          <p:cNvSpPr/>
          <p:nvPr/>
        </p:nvSpPr>
        <p:spPr>
          <a:xfrm>
            <a:off x="3227585" y="6194560"/>
            <a:ext cx="1002271" cy="260305"/>
          </a:xfrm>
          <a:prstGeom prst="roundRect">
            <a:avLst>
              <a:gd name="adj" fmla="val 35179"/>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kumimoji="1" lang="zh-CN" altLang="en-US" sz="1000" b="1" dirty="0">
                <a:solidFill>
                  <a:srgbClr val="0042FF"/>
                </a:solidFill>
                <a:latin typeface="微软雅黑"/>
                <a:ea typeface="微软雅黑"/>
                <a:cs typeface="微软雅黑"/>
              </a:rPr>
              <a:t>视觉风格</a:t>
            </a:r>
            <a:endParaRPr kumimoji="1" lang="zh-CN" altLang="en-US" sz="1000" b="1" dirty="0">
              <a:solidFill>
                <a:srgbClr val="0042FF"/>
              </a:solidFill>
              <a:latin typeface="微软雅黑"/>
              <a:ea typeface="微软雅黑"/>
              <a:cs typeface="微软雅黑"/>
            </a:endParaRPr>
          </a:p>
        </p:txBody>
      </p:sp>
      <p:sp>
        <p:nvSpPr>
          <p:cNvPr id="39" name="圆角矩形 38"/>
          <p:cNvSpPr/>
          <p:nvPr/>
        </p:nvSpPr>
        <p:spPr>
          <a:xfrm>
            <a:off x="4314980" y="6194560"/>
            <a:ext cx="1002271" cy="260305"/>
          </a:xfrm>
          <a:prstGeom prst="roundRect">
            <a:avLst>
              <a:gd name="adj" fmla="val 35179"/>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wrap="square">
            <a:noAutofit/>
          </a:bodyPr>
          <a:lstStyle/>
          <a:p>
            <a:pPr algn="ctr">
              <a:defRPr>
                <a:latin typeface="微软雅黑"/>
                <a:ea typeface="微软雅黑"/>
                <a:cs typeface="微软雅黑"/>
              </a:defRPr>
              <a:lnSpc>
                <a:spcPts val="1120"/>
              </a:lnSpc>
              <a:spcBef>
                <a:spcPts val="0"/>
              </a:spcBef>
              <a:spcAft>
                <a:spcPts val="0"/>
              </a:spcAft>
            </a:pPr>
            <a:r>
              <a:rPr kumimoji="1" lang="zh-CN" altLang="en-US" sz="1000" b="1" dirty="0">
                <a:solidFill>
                  <a:srgbClr val="0042FF"/>
                </a:solidFill>
                <a:latin typeface="微软雅黑"/>
                <a:ea typeface="微软雅黑"/>
                <a:cs typeface="微软雅黑"/>
              </a:rPr>
              <a:t>品牌推广</a:t>
            </a:r>
            <a:endParaRPr kumimoji="1" lang="zh-CN" altLang="en-US" sz="1000" b="1" dirty="0">
              <a:solidFill>
                <a:srgbClr val="0042FF"/>
              </a:solidFill>
              <a:latin typeface="微软雅黑"/>
              <a:ea typeface="微软雅黑"/>
              <a:cs typeface="微软雅黑"/>
            </a:endParaRPr>
          </a:p>
        </p:txBody>
      </p:sp>
      <p:grpSp>
        <p:nvGrpSpPr>
          <p:cNvPr id="62" name="组合 61"/>
          <p:cNvGrpSpPr/>
          <p:nvPr/>
        </p:nvGrpSpPr>
        <p:grpSpPr>
          <a:xfrm>
            <a:off x="6602095" y="5008245"/>
            <a:ext cx="3293110" cy="1446530"/>
            <a:chOff x="10962" y="7878"/>
            <a:chExt cx="5186" cy="2278"/>
          </a:xfrm>
        </p:grpSpPr>
        <p:sp>
          <p:nvSpPr>
            <p:cNvPr id="40" name="圆角矩形 39"/>
            <p:cNvSpPr/>
            <p:nvPr/>
          </p:nvSpPr>
          <p:spPr>
            <a:xfrm>
              <a:off x="11934" y="7878"/>
              <a:ext cx="3242" cy="410"/>
            </a:xfrm>
            <a:prstGeom prst="roundRect">
              <a:avLst>
                <a:gd name="adj" fmla="val 35179"/>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41" name="This is a sample text. Insert your description here."/>
            <p:cNvSpPr/>
            <p:nvPr/>
          </p:nvSpPr>
          <p:spPr>
            <a:xfrm>
              <a:off x="10962" y="8371"/>
              <a:ext cx="5186" cy="1210"/>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0" tIns="0" rIns="0" bIns="0" numCol="1" anchor="t">
              <a:noAutofit/>
            </a:bodyPr>
            <a:lstStyle>
              <a:lvl1pPr algn="l">
                <a:defRPr sz="2500" b="0">
                  <a:solidFill>
                    <a:srgbClr val="383838"/>
                  </a:solidFill>
                  <a:latin typeface="微软雅黑"/>
                  <a:ea typeface="微软雅黑"/>
                  <a:cs typeface="微软雅黑"/>
                  <a:sym typeface="微软雅黑"/>
                </a:defRPr>
              </a:lvl1pPr>
            </a:lstStyle>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sym typeface="微软雅黑"/>
                </a:rPr>
                <a:t>市场投放是指企业或品牌将其产品或服务推向市场，通过各种营销手段和渠道向目标消费者进行推广和销售的过程。市场投放是营销战略的一个重要组成部分，旨在将产品或服务有效地推向消费者，并促使他们进行购买或采取其他所需的行动。</a:t>
              </a:r>
              <a:endParaRPr lang="zh-CN" altLang="en-US" sz="1000" dirty="0">
                <a:solidFill>
                  <a:srgbClr val="383838"/>
                </a:solidFill>
                <a:latin typeface="微软雅黑"/>
                <a:ea typeface="微软雅黑"/>
                <a:cs typeface="微软雅黑"/>
                <a:sym typeface="微软雅黑"/>
              </a:endParaRPr>
            </a:p>
          </p:txBody>
        </p:sp>
        <p:sp>
          <p:nvSpPr>
            <p:cNvPr id="133" name="This is a sample text."/>
            <p:cNvSpPr/>
            <p:nvPr/>
          </p:nvSpPr>
          <p:spPr>
            <a:xfrm>
              <a:off x="11994" y="7909"/>
              <a:ext cx="3122" cy="347"/>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5400" tIns="25400" rIns="25400" bIns="25400" numCol="1" anchor="t">
              <a:spAutoFit/>
            </a:bodyPr>
            <a:lstStyle>
              <a:lvl1pPr algn="l">
                <a:defRPr sz="2500" b="0">
                  <a:solidFill>
                    <a:srgbClr val="FFFFFF"/>
                  </a:solidFill>
                  <a:latin typeface="微软雅黑"/>
                  <a:ea typeface="微软雅黑"/>
                  <a:cs typeface="微软雅黑"/>
                  <a:sym typeface="微软雅黑"/>
                </a:defRPr>
              </a:lvl1pPr>
            </a:lstStyle>
            <a:p>
              <a:pPr algn="ctr">
                <a:defRPr>
                  <a:solidFill>
                    <a:srgbClr val="FFFFFF"/>
                  </a:solidFill>
                  <a:latin typeface="微软雅黑"/>
                  <a:ea typeface="微软雅黑"/>
                  <a:cs typeface="微软雅黑"/>
                </a:defRPr>
              </a:pPr>
              <a:r>
                <a:rPr lang="zh-CN" altLang="en-US" sz="1100" b="1" dirty="0">
                  <a:solidFill>
                    <a:srgbClr val="FFFFFF"/>
                  </a:solidFill>
                  <a:latin typeface="微软雅黑"/>
                  <a:ea typeface="微软雅黑"/>
                  <a:cs typeface="微软雅黑"/>
                  <a:sym typeface="微软雅黑"/>
                </a:rPr>
                <a:t>市场投放 </a:t>
              </a:r>
              <a:r>
                <a:rPr lang="en-US" altLang="zh-CN" sz="1100" b="1" dirty="0">
                  <a:solidFill>
                    <a:srgbClr val="FFFFFF"/>
                  </a:solidFill>
                  <a:latin typeface="微软雅黑"/>
                  <a:ea typeface="微软雅黑"/>
                  <a:cs typeface="微软雅黑"/>
                  <a:sym typeface="微软雅黑"/>
                </a:rPr>
                <a:t>Market launch</a:t>
              </a:r>
              <a:endParaRPr sz="1100" b="1" dirty="0">
                <a:solidFill>
                  <a:srgbClr val="FFFFFF"/>
                </a:solidFill>
                <a:latin typeface="微软雅黑"/>
                <a:ea typeface="微软雅黑"/>
                <a:cs typeface="微软雅黑"/>
                <a:sym typeface="微软雅黑"/>
              </a:endParaRPr>
            </a:p>
          </p:txBody>
        </p:sp>
        <p:sp>
          <p:nvSpPr>
            <p:cNvPr id="134" name="圆角矩形 133"/>
            <p:cNvSpPr/>
            <p:nvPr/>
          </p:nvSpPr>
          <p:spPr>
            <a:xfrm>
              <a:off x="10962" y="9746"/>
              <a:ext cx="1578" cy="410"/>
            </a:xfrm>
            <a:prstGeom prst="roundRect">
              <a:avLst>
                <a:gd name="adj" fmla="val 35179"/>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kumimoji="1" lang="zh-CN" altLang="en-US" sz="1000" b="1" dirty="0">
                  <a:solidFill>
                    <a:srgbClr val="0042FF"/>
                  </a:solidFill>
                  <a:latin typeface="微软雅黑"/>
                  <a:ea typeface="微软雅黑"/>
                  <a:cs typeface="微软雅黑"/>
                  <a:sym typeface="微软雅黑"/>
                </a:rPr>
                <a:t>广告促销</a:t>
              </a:r>
              <a:endParaRPr kumimoji="1" lang="zh-CN" altLang="en-US" sz="1000" b="1" dirty="0">
                <a:solidFill>
                  <a:srgbClr val="0042FF"/>
                </a:solidFill>
                <a:latin typeface="微软雅黑"/>
                <a:ea typeface="微软雅黑"/>
                <a:cs typeface="微软雅黑"/>
                <a:sym typeface="微软雅黑"/>
              </a:endParaRPr>
            </a:p>
          </p:txBody>
        </p:sp>
        <p:sp>
          <p:nvSpPr>
            <p:cNvPr id="42" name="圆角矩形 41"/>
            <p:cNvSpPr/>
            <p:nvPr/>
          </p:nvSpPr>
          <p:spPr>
            <a:xfrm>
              <a:off x="12674" y="9746"/>
              <a:ext cx="1578" cy="410"/>
            </a:xfrm>
            <a:prstGeom prst="roundRect">
              <a:avLst>
                <a:gd name="adj" fmla="val 35179"/>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kumimoji="1" lang="zh-CN" altLang="en-US" sz="1000" b="1" dirty="0">
                  <a:solidFill>
                    <a:srgbClr val="0042FF"/>
                  </a:solidFill>
                  <a:latin typeface="微软雅黑"/>
                  <a:ea typeface="微软雅黑"/>
                  <a:cs typeface="微软雅黑"/>
                  <a:sym typeface="微软雅黑"/>
                </a:rPr>
                <a:t>渠道管理</a:t>
              </a:r>
              <a:endParaRPr kumimoji="1" lang="zh-CN" altLang="en-US" sz="1000" b="1" dirty="0">
                <a:solidFill>
                  <a:srgbClr val="0042FF"/>
                </a:solidFill>
                <a:latin typeface="微软雅黑"/>
                <a:ea typeface="微软雅黑"/>
                <a:cs typeface="微软雅黑"/>
                <a:sym typeface="微软雅黑"/>
              </a:endParaRPr>
            </a:p>
          </p:txBody>
        </p:sp>
        <p:sp>
          <p:nvSpPr>
            <p:cNvPr id="44" name="圆角矩形 43"/>
            <p:cNvSpPr/>
            <p:nvPr/>
          </p:nvSpPr>
          <p:spPr>
            <a:xfrm>
              <a:off x="14387" y="9746"/>
              <a:ext cx="1578" cy="410"/>
            </a:xfrm>
            <a:prstGeom prst="roundRect">
              <a:avLst>
                <a:gd name="adj" fmla="val 35179"/>
              </a:avLst>
            </a:prstGeom>
            <a:no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lnSpc>
                  <a:spcPts val="1120"/>
                </a:lnSpc>
                <a:spcBef>
                  <a:spcPts val="0"/>
                </a:spcBef>
                <a:spcAft>
                  <a:spcPts val="0"/>
                </a:spcAft>
              </a:pPr>
              <a:r>
                <a:rPr kumimoji="1" lang="zh-CN" altLang="en-US" sz="1000" b="1" dirty="0">
                  <a:solidFill>
                    <a:srgbClr val="0042FF"/>
                  </a:solidFill>
                  <a:latin typeface="微软雅黑"/>
                  <a:ea typeface="微软雅黑"/>
                  <a:cs typeface="微软雅黑"/>
                  <a:sym typeface="微软雅黑"/>
                </a:rPr>
                <a:t>品牌传播</a:t>
              </a:r>
              <a:endParaRPr kumimoji="1" lang="zh-CN" altLang="en-US" sz="1000" b="1" dirty="0">
                <a:solidFill>
                  <a:srgbClr val="0042FF"/>
                </a:solidFill>
                <a:latin typeface="微软雅黑"/>
                <a:ea typeface="微软雅黑"/>
                <a:cs typeface="微软雅黑"/>
                <a:sym typeface="微软雅黑"/>
              </a:endParaRPr>
            </a:p>
          </p:txBody>
        </p:sp>
      </p:grpSp>
      <p:cxnSp>
        <p:nvCxnSpPr>
          <p:cNvPr id="140" name="直线箭头连接符 139"/>
          <p:cNvCxnSpPr/>
          <p:nvPr/>
        </p:nvCxnSpPr>
        <p:spPr>
          <a:xfrm>
            <a:off x="3796665" y="4374515"/>
            <a:ext cx="0" cy="556260"/>
          </a:xfrm>
          <a:prstGeom prst="straightConnector1">
            <a:avLst/>
          </a:prstGeom>
          <a:ln>
            <a:solidFill>
              <a:srgbClr val="3368FF"/>
            </a:solidFill>
            <a:tailEnd type="triangle"/>
          </a:ln>
        </p:spPr>
        <p:style>
          <a:lnRef idx="2">
            <a:srgbClr val="0042FF"/>
          </a:lnRef>
          <a:fillRef idx="0">
            <a:srgbClr val="0042FF"/>
          </a:fillRef>
          <a:effectRef idx="1">
            <a:srgbClr val="0042FF"/>
          </a:effectRef>
          <a:fontRef idx="minor">
            <a:srgbClr val="383838"/>
          </a:fontRef>
        </p:style>
      </p:cxnSp>
      <p:cxnSp>
        <p:nvCxnSpPr>
          <p:cNvPr id="141" name="直线箭头连接符 140"/>
          <p:cNvCxnSpPr/>
          <p:nvPr/>
        </p:nvCxnSpPr>
        <p:spPr>
          <a:xfrm>
            <a:off x="8248650" y="4374515"/>
            <a:ext cx="0" cy="556260"/>
          </a:xfrm>
          <a:prstGeom prst="straightConnector1">
            <a:avLst/>
          </a:prstGeom>
          <a:ln>
            <a:solidFill>
              <a:srgbClr val="3368FF"/>
            </a:solidFill>
            <a:tailEnd type="triangle"/>
          </a:ln>
        </p:spPr>
        <p:style>
          <a:lnRef idx="2">
            <a:srgbClr val="0042FF"/>
          </a:lnRef>
          <a:fillRef idx="0">
            <a:srgbClr val="0042FF"/>
          </a:fillRef>
          <a:effectRef idx="1">
            <a:srgbClr val="0042FF"/>
          </a:effectRef>
          <a:fontRef idx="minor">
            <a:srgbClr val="383838"/>
          </a:fontRef>
        </p:style>
      </p:cxnSp>
      <p:cxnSp>
        <p:nvCxnSpPr>
          <p:cNvPr id="142" name="直线箭头连接符 141"/>
          <p:cNvCxnSpPr/>
          <p:nvPr/>
        </p:nvCxnSpPr>
        <p:spPr>
          <a:xfrm flipV="1">
            <a:off x="1916430" y="2719705"/>
            <a:ext cx="0" cy="546735"/>
          </a:xfrm>
          <a:prstGeom prst="straightConnector1">
            <a:avLst/>
          </a:prstGeom>
          <a:ln>
            <a:solidFill>
              <a:srgbClr val="0042FF"/>
            </a:solidFill>
            <a:tailEnd type="triangle"/>
          </a:ln>
        </p:spPr>
        <p:style>
          <a:lnRef idx="2">
            <a:srgbClr val="0042FF"/>
          </a:lnRef>
          <a:fillRef idx="0">
            <a:srgbClr val="0042FF"/>
          </a:fillRef>
          <a:effectRef idx="1">
            <a:srgbClr val="0042FF"/>
          </a:effectRef>
          <a:fontRef idx="minor">
            <a:srgbClr val="383838"/>
          </a:fontRef>
        </p:style>
      </p:cxnSp>
      <p:cxnSp>
        <p:nvCxnSpPr>
          <p:cNvPr id="47" name="直线连接符 6"/>
          <p:cNvCxnSpPr/>
          <p:nvPr/>
        </p:nvCxnSpPr>
        <p:spPr>
          <a:xfrm>
            <a:off x="4178808" y="1184697"/>
            <a:ext cx="0" cy="1425932"/>
          </a:xfrm>
          <a:prstGeom prst="line">
            <a:avLst/>
          </a:prstGeom>
          <a:ln>
            <a:solidFill>
              <a:srgbClr val="DCDCDC"/>
            </a:solidFill>
            <a:prstDash val="sysDash"/>
          </a:ln>
        </p:spPr>
        <p:style>
          <a:lnRef idx="2">
            <a:srgbClr val="0042FF"/>
          </a:lnRef>
          <a:fillRef idx="0">
            <a:srgbClr val="0042FF"/>
          </a:fillRef>
          <a:effectRef idx="1">
            <a:srgbClr val="0042FF"/>
          </a:effectRef>
          <a:fontRef idx="minor">
            <a:srgbClr val="383838"/>
          </a:fontRef>
        </p:style>
      </p:cxnSp>
      <p:cxnSp>
        <p:nvCxnSpPr>
          <p:cNvPr id="48" name="直线连接符 8"/>
          <p:cNvCxnSpPr/>
          <p:nvPr/>
        </p:nvCxnSpPr>
        <p:spPr>
          <a:xfrm>
            <a:off x="8037576" y="1184697"/>
            <a:ext cx="0" cy="1425932"/>
          </a:xfrm>
          <a:prstGeom prst="line">
            <a:avLst/>
          </a:prstGeom>
          <a:ln>
            <a:solidFill>
              <a:srgbClr val="DCDCDC"/>
            </a:solidFill>
            <a:prstDash val="sysDash"/>
          </a:ln>
        </p:spPr>
        <p:style>
          <a:lnRef idx="2">
            <a:srgbClr val="0042FF"/>
          </a:lnRef>
          <a:fillRef idx="0">
            <a:srgbClr val="0042FF"/>
          </a:fillRef>
          <a:effectRef idx="1">
            <a:srgbClr val="0042FF"/>
          </a:effectRef>
          <a:fontRef idx="minor">
            <a:srgbClr val="383838"/>
          </a:fontRef>
        </p:style>
      </p:cxnSp>
      <p:cxnSp>
        <p:nvCxnSpPr>
          <p:cNvPr id="49" name="直线连接符 9"/>
          <p:cNvCxnSpPr/>
          <p:nvPr/>
        </p:nvCxnSpPr>
        <p:spPr>
          <a:xfrm>
            <a:off x="6096254" y="5097059"/>
            <a:ext cx="0" cy="1425932"/>
          </a:xfrm>
          <a:prstGeom prst="line">
            <a:avLst/>
          </a:prstGeom>
          <a:ln>
            <a:solidFill>
              <a:srgbClr val="DCDCDC"/>
            </a:solidFill>
            <a:prstDash val="sysDash"/>
          </a:ln>
        </p:spPr>
        <p:style>
          <a:lnRef idx="2">
            <a:srgbClr val="0042FF"/>
          </a:lnRef>
          <a:fillRef idx="0">
            <a:srgbClr val="0042FF"/>
          </a:fillRef>
          <a:effectRef idx="1">
            <a:srgbClr val="0042FF"/>
          </a:effectRef>
          <a:fontRef idx="minor">
            <a:srgbClr val="383838"/>
          </a:fontRef>
        </p:style>
      </p:cxnSp>
      <p:grpSp>
        <p:nvGrpSpPr>
          <p:cNvPr id="53" name="组合 52"/>
          <p:cNvGrpSpPr/>
          <p:nvPr/>
        </p:nvGrpSpPr>
        <p:grpSpPr>
          <a:xfrm>
            <a:off x="500380" y="2220595"/>
            <a:ext cx="730250" cy="367030"/>
            <a:chOff x="788" y="3451"/>
            <a:chExt cx="1150" cy="578"/>
          </a:xfrm>
        </p:grpSpPr>
        <p:sp>
          <p:nvSpPr>
            <p:cNvPr id="50" name="圆角矩形 49"/>
            <p:cNvSpPr/>
            <p:nvPr/>
          </p:nvSpPr>
          <p:spPr>
            <a:xfrm>
              <a:off x="859" y="3451"/>
              <a:ext cx="1009" cy="578"/>
            </a:xfrm>
            <a:prstGeom prst="roundRect">
              <a:avLst>
                <a:gd name="adj" fmla="val 8650"/>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latin typeface="微软雅黑"/>
                <a:ea typeface="微软雅黑"/>
                <a:cs typeface="微软雅黑"/>
              </a:endParaRPr>
            </a:p>
          </p:txBody>
        </p:sp>
        <p:sp>
          <p:nvSpPr>
            <p:cNvPr id="52"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effectLst/>
                  <a:latin typeface="微软雅黑"/>
                  <a:ea typeface="微软雅黑"/>
                  <a:cs typeface="微软雅黑"/>
                </a:rPr>
                <a:t>需求分析</a:t>
              </a:r>
              <a:endParaRPr lang="zh-CN" altLang="en-US" sz="1000">
                <a:solidFill>
                  <a:srgbClr val="0042FF"/>
                </a:solidFill>
                <a:effectLst/>
                <a:latin typeface="微软雅黑"/>
                <a:ea typeface="微软雅黑"/>
                <a:cs typeface="微软雅黑"/>
              </a:endParaRPr>
            </a:p>
          </p:txBody>
        </p:sp>
      </p:grpSp>
      <p:grpSp>
        <p:nvGrpSpPr>
          <p:cNvPr id="54" name="组合 53"/>
          <p:cNvGrpSpPr/>
          <p:nvPr/>
        </p:nvGrpSpPr>
        <p:grpSpPr>
          <a:xfrm>
            <a:off x="1355725" y="2220595"/>
            <a:ext cx="730250" cy="367030"/>
            <a:chOff x="788" y="3451"/>
            <a:chExt cx="1150" cy="578"/>
          </a:xfrm>
        </p:grpSpPr>
        <p:sp>
          <p:nvSpPr>
            <p:cNvPr id="64" name="圆角矩形 63"/>
            <p:cNvSpPr/>
            <p:nvPr/>
          </p:nvSpPr>
          <p:spPr>
            <a:xfrm>
              <a:off x="859" y="3451"/>
              <a:ext cx="1009" cy="578"/>
            </a:xfrm>
            <a:prstGeom prst="roundRect">
              <a:avLst>
                <a:gd name="adj" fmla="val 8650"/>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latin typeface="微软雅黑"/>
                <a:ea typeface="微软雅黑"/>
                <a:cs typeface="微软雅黑"/>
              </a:endParaRPr>
            </a:p>
          </p:txBody>
        </p:sp>
        <p:sp>
          <p:nvSpPr>
            <p:cNvPr id="65"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latin typeface="微软雅黑"/>
                  <a:ea typeface="微软雅黑"/>
                  <a:cs typeface="微软雅黑"/>
                </a:rPr>
                <a:t>竞品分析</a:t>
              </a:r>
              <a:endParaRPr lang="zh-CN" altLang="en-US" sz="1000">
                <a:solidFill>
                  <a:srgbClr val="0042FF"/>
                </a:solidFill>
                <a:latin typeface="微软雅黑"/>
                <a:ea typeface="微软雅黑"/>
                <a:cs typeface="微软雅黑"/>
              </a:endParaRPr>
            </a:p>
          </p:txBody>
        </p:sp>
      </p:grpSp>
      <p:grpSp>
        <p:nvGrpSpPr>
          <p:cNvPr id="66" name="组合 65"/>
          <p:cNvGrpSpPr/>
          <p:nvPr/>
        </p:nvGrpSpPr>
        <p:grpSpPr>
          <a:xfrm>
            <a:off x="2211070" y="2220595"/>
            <a:ext cx="730250" cy="367030"/>
            <a:chOff x="788" y="3451"/>
            <a:chExt cx="1150" cy="578"/>
          </a:xfrm>
        </p:grpSpPr>
        <p:sp>
          <p:nvSpPr>
            <p:cNvPr id="67" name="圆角矩形 66"/>
            <p:cNvSpPr/>
            <p:nvPr/>
          </p:nvSpPr>
          <p:spPr>
            <a:xfrm>
              <a:off x="859" y="3451"/>
              <a:ext cx="1009" cy="578"/>
            </a:xfrm>
            <a:prstGeom prst="roundRect">
              <a:avLst>
                <a:gd name="adj" fmla="val 8650"/>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solidFill>
                  <a:srgbClr val="383838"/>
                </a:solidFill>
                <a:latin typeface="微软雅黑"/>
                <a:ea typeface="微软雅黑"/>
                <a:cs typeface="微软雅黑"/>
              </a:endParaRPr>
            </a:p>
          </p:txBody>
        </p:sp>
        <p:sp>
          <p:nvSpPr>
            <p:cNvPr id="71"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latin typeface="微软雅黑"/>
                  <a:ea typeface="微软雅黑"/>
                  <a:cs typeface="微软雅黑"/>
                </a:rPr>
                <a:t>数据收集</a:t>
              </a:r>
              <a:endParaRPr lang="zh-CN" altLang="en-US" sz="1000">
                <a:solidFill>
                  <a:srgbClr val="0042FF"/>
                </a:solidFill>
                <a:latin typeface="微软雅黑"/>
                <a:ea typeface="微软雅黑"/>
                <a:cs typeface="微软雅黑"/>
              </a:endParaRPr>
            </a:p>
          </p:txBody>
        </p:sp>
      </p:grpSp>
      <p:grpSp>
        <p:nvGrpSpPr>
          <p:cNvPr id="72" name="组合 71"/>
          <p:cNvGrpSpPr/>
          <p:nvPr/>
        </p:nvGrpSpPr>
        <p:grpSpPr>
          <a:xfrm>
            <a:off x="3066415" y="2220595"/>
            <a:ext cx="730250" cy="367030"/>
            <a:chOff x="788" y="3451"/>
            <a:chExt cx="1150" cy="578"/>
          </a:xfrm>
        </p:grpSpPr>
        <p:sp>
          <p:nvSpPr>
            <p:cNvPr id="73" name="圆角矩形 72"/>
            <p:cNvSpPr/>
            <p:nvPr/>
          </p:nvSpPr>
          <p:spPr>
            <a:xfrm>
              <a:off x="859" y="3451"/>
              <a:ext cx="1009" cy="578"/>
            </a:xfrm>
            <a:prstGeom prst="roundRect">
              <a:avLst>
                <a:gd name="adj" fmla="val 8650"/>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latin typeface="微软雅黑"/>
                <a:ea typeface="微软雅黑"/>
                <a:cs typeface="微软雅黑"/>
              </a:endParaRPr>
            </a:p>
          </p:txBody>
        </p:sp>
        <p:sp>
          <p:nvSpPr>
            <p:cNvPr id="74"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latin typeface="微软雅黑"/>
                  <a:ea typeface="微软雅黑"/>
                  <a:cs typeface="微软雅黑"/>
                </a:rPr>
                <a:t>调研报告</a:t>
              </a:r>
              <a:endParaRPr lang="zh-CN" altLang="en-US" sz="1000">
                <a:solidFill>
                  <a:srgbClr val="0042FF"/>
                </a:solidFill>
                <a:latin typeface="微软雅黑"/>
                <a:ea typeface="微软雅黑"/>
                <a:cs typeface="微软雅黑"/>
              </a:endParaRPr>
            </a:p>
          </p:txBody>
        </p:sp>
      </p:grpSp>
      <p:sp>
        <p:nvSpPr>
          <p:cNvPr id="85" name="右箭头 84"/>
          <p:cNvSpPr/>
          <p:nvPr/>
        </p:nvSpPr>
        <p:spPr>
          <a:xfrm>
            <a:off x="1219200" y="2317750"/>
            <a:ext cx="164465" cy="194945"/>
          </a:xfrm>
          <a:prstGeom prst="rightArrow">
            <a:avLst/>
          </a:prstGeom>
          <a:gradFill flip="none" rotWithShape="1">
            <a:gsLst>
              <a:gs pos="0">
                <a:srgbClr val="0042FF"/>
              </a:gs>
              <a:gs pos="98000">
                <a:srgbClr val="0042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86" name="右箭头 85"/>
          <p:cNvSpPr/>
          <p:nvPr/>
        </p:nvSpPr>
        <p:spPr>
          <a:xfrm>
            <a:off x="2074545" y="2317750"/>
            <a:ext cx="164465" cy="194945"/>
          </a:xfrm>
          <a:prstGeom prst="rightArrow">
            <a:avLst/>
          </a:prstGeom>
          <a:gradFill flip="none" rotWithShape="1">
            <a:gsLst>
              <a:gs pos="0">
                <a:srgbClr val="0042FF"/>
              </a:gs>
              <a:gs pos="98000">
                <a:srgbClr val="0042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87" name="右箭头 86"/>
          <p:cNvSpPr/>
          <p:nvPr/>
        </p:nvSpPr>
        <p:spPr>
          <a:xfrm>
            <a:off x="2927350" y="2317750"/>
            <a:ext cx="164465" cy="194945"/>
          </a:xfrm>
          <a:prstGeom prst="rightArrow">
            <a:avLst/>
          </a:prstGeom>
          <a:gradFill flip="none" rotWithShape="1">
            <a:gsLst>
              <a:gs pos="0">
                <a:srgbClr val="0042FF"/>
              </a:gs>
              <a:gs pos="98000">
                <a:srgbClr val="0042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93" name="Shape"/>
          <p:cNvSpPr/>
          <p:nvPr/>
        </p:nvSpPr>
        <p:spPr>
          <a:xfrm>
            <a:off x="4488815" y="1560830"/>
            <a:ext cx="962025" cy="253365"/>
          </a:xfrm>
          <a:custGeom>
            <a:avLst/>
            <a:gdLst>
              <a:gd name="connsiteX0" fmla="*/ 1306 w 1515"/>
              <a:gd name="connsiteY0" fmla="*/ 399 h 399"/>
              <a:gd name="connsiteX1" fmla="*/ 1306 w 1515"/>
              <a:gd name="connsiteY1" fmla="*/ 399 h 399"/>
              <a:gd name="connsiteX2" fmla="*/ 1515 w 1515"/>
              <a:gd name="connsiteY2" fmla="*/ 200 h 399"/>
              <a:gd name="connsiteX3" fmla="*/ 1306 w 1515"/>
              <a:gd name="connsiteY3" fmla="*/ 0 h 399"/>
              <a:gd name="connsiteX4" fmla="*/ 1306 w 1515"/>
              <a:gd name="connsiteY4" fmla="*/ 0 h 399"/>
              <a:gd name="connsiteX5" fmla="*/ 0 w 1515"/>
              <a:gd name="connsiteY5" fmla="*/ 0 h 399"/>
              <a:gd name="connsiteX6" fmla="*/ 0 w 1515"/>
              <a:gd name="connsiteY6" fmla="*/ 399 h 399"/>
              <a:gd name="connsiteX7" fmla="*/ 1306 w 1515"/>
              <a:gd name="connsiteY7" fmla="*/ 399 h 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5" h="399" extrusionOk="0">
                <a:moveTo>
                  <a:pt x="1306" y="399"/>
                </a:moveTo>
                <a:lnTo>
                  <a:pt x="1306" y="399"/>
                </a:lnTo>
                <a:lnTo>
                  <a:pt x="1515" y="200"/>
                </a:lnTo>
                <a:lnTo>
                  <a:pt x="1306" y="0"/>
                </a:lnTo>
                <a:lnTo>
                  <a:pt x="1306" y="0"/>
                </a:lnTo>
                <a:lnTo>
                  <a:pt x="0" y="0"/>
                </a:lnTo>
                <a:lnTo>
                  <a:pt x="0" y="399"/>
                </a:lnTo>
                <a:lnTo>
                  <a:pt x="1306" y="399"/>
                </a:lnTo>
                <a:close/>
              </a:path>
            </a:pathLst>
          </a:custGeom>
          <a:solidFill>
            <a:srgbClr val="E6E6E6"/>
          </a:solidFill>
          <a:ln w="12700">
            <a:miter lim="400000"/>
          </a:ln>
        </p:spPr>
        <p:txBody>
          <a:bodyPr lIns="0" tIns="0" rIns="0" bIns="0" anchor="ctr"/>
          <a:lstStyle/>
          <a:p>
            <a:pPr algn="ctr">
              <a:spcAft>
                <a:spcPts val="500"/>
              </a:spcAft>
              <a:defRPr>
                <a:latin typeface="微软雅黑"/>
                <a:ea typeface="微软雅黑"/>
                <a:cs typeface="微软雅黑"/>
              </a:defRPr>
            </a:pPr>
            <a:r>
              <a:rPr lang="zh-CN" altLang="en-US" sz="1000" b="1" dirty="0">
                <a:solidFill>
                  <a:srgbClr val="0042FF"/>
                </a:solidFill>
                <a:latin typeface="微软雅黑"/>
                <a:ea typeface="微软雅黑"/>
                <a:cs typeface="微软雅黑"/>
              </a:rPr>
              <a:t>标志设计</a:t>
            </a:r>
            <a:endParaRPr lang="zh-CN" altLang="en-US" sz="1000" b="1" dirty="0">
              <a:solidFill>
                <a:srgbClr val="0042FF"/>
              </a:solidFill>
              <a:latin typeface="微软雅黑"/>
              <a:ea typeface="微软雅黑"/>
              <a:cs typeface="微软雅黑"/>
            </a:endParaRPr>
          </a:p>
        </p:txBody>
      </p:sp>
      <p:sp>
        <p:nvSpPr>
          <p:cNvPr id="89" name="箭头: V 形 24"/>
          <p:cNvSpPr/>
          <p:nvPr/>
        </p:nvSpPr>
        <p:spPr>
          <a:xfrm>
            <a:off x="5372100" y="1560830"/>
            <a:ext cx="867410" cy="253365"/>
          </a:xfrm>
          <a:prstGeom prst="chevron">
            <a:avLst/>
          </a:prstGeom>
          <a:solidFill>
            <a:srgbClr val="E6E6E6"/>
          </a:solidFill>
          <a:ln w="12700">
            <a:miter lim="400000"/>
          </a:ln>
        </p:spPr>
        <p:txBody>
          <a:bodyPr lIns="0" tIns="0" rIns="0" bIns="0" rtlCol="0" anchor="ctr">
            <a:noAutofit/>
          </a:bodyPr>
          <a:lstStyle/>
          <a:p>
            <a:pPr lvl="0" algn="ctr">
              <a:spcAft>
                <a:spcPts val="500"/>
              </a:spcAft>
              <a:buClrTx/>
              <a:buSzTx/>
              <a:buFontTx/>
              <a:defRPr>
                <a:latin typeface="微软雅黑"/>
                <a:ea typeface="微软雅黑"/>
                <a:cs typeface="微软雅黑"/>
              </a:defRPr>
            </a:pPr>
            <a:r>
              <a:rPr lang="zh-CN" altLang="en-US" sz="1000" b="1" dirty="0">
                <a:solidFill>
                  <a:srgbClr val="0042FF"/>
                </a:solidFill>
                <a:latin typeface="微软雅黑"/>
                <a:ea typeface="微软雅黑"/>
                <a:cs typeface="微软雅黑"/>
                <a:sym typeface="微软雅黑"/>
              </a:rPr>
              <a:t>色彩设计</a:t>
            </a:r>
            <a:endParaRPr lang="zh-CN" altLang="en-US" sz="1000" b="1" dirty="0">
              <a:solidFill>
                <a:srgbClr val="0042FF"/>
              </a:solidFill>
              <a:latin typeface="微软雅黑"/>
              <a:ea typeface="微软雅黑"/>
              <a:cs typeface="微软雅黑"/>
              <a:sym typeface="微软雅黑"/>
            </a:endParaRPr>
          </a:p>
        </p:txBody>
      </p:sp>
      <p:sp>
        <p:nvSpPr>
          <p:cNvPr id="90" name="箭头: V 形 24"/>
          <p:cNvSpPr/>
          <p:nvPr/>
        </p:nvSpPr>
        <p:spPr>
          <a:xfrm>
            <a:off x="6155055" y="1560830"/>
            <a:ext cx="867410" cy="253365"/>
          </a:xfrm>
          <a:prstGeom prst="chevron">
            <a:avLst/>
          </a:prstGeom>
          <a:solidFill>
            <a:srgbClr val="E6E6E6"/>
          </a:solidFill>
          <a:ln w="12700">
            <a:miter lim="400000"/>
          </a:ln>
        </p:spPr>
        <p:txBody>
          <a:bodyPr lIns="0" tIns="0" rIns="0" bIns="0" rtlCol="0" anchor="ctr">
            <a:noAutofit/>
          </a:bodyPr>
          <a:lstStyle/>
          <a:p>
            <a:pPr lvl="0" algn="ctr">
              <a:spcAft>
                <a:spcPts val="500"/>
              </a:spcAft>
              <a:buClrTx/>
              <a:buSzTx/>
              <a:buFontTx/>
              <a:defRPr>
                <a:latin typeface="微软雅黑"/>
                <a:ea typeface="微软雅黑"/>
                <a:cs typeface="微软雅黑"/>
              </a:defRPr>
            </a:pPr>
            <a:r>
              <a:rPr lang="zh-CN" altLang="en-US" sz="1000" b="1" dirty="0">
                <a:solidFill>
                  <a:srgbClr val="0042FF"/>
                </a:solidFill>
                <a:latin typeface="微软雅黑"/>
                <a:ea typeface="微软雅黑"/>
                <a:cs typeface="微软雅黑"/>
                <a:sym typeface="微软雅黑"/>
              </a:rPr>
              <a:t>排版设计</a:t>
            </a:r>
            <a:endParaRPr lang="zh-CN" altLang="en-US" sz="1000" b="1" dirty="0">
              <a:solidFill>
                <a:srgbClr val="0042FF"/>
              </a:solidFill>
              <a:latin typeface="微软雅黑"/>
              <a:ea typeface="微软雅黑"/>
              <a:cs typeface="微软雅黑"/>
              <a:sym typeface="微软雅黑"/>
            </a:endParaRPr>
          </a:p>
        </p:txBody>
      </p:sp>
      <p:sp>
        <p:nvSpPr>
          <p:cNvPr id="91" name="箭头: V 形 24"/>
          <p:cNvSpPr/>
          <p:nvPr/>
        </p:nvSpPr>
        <p:spPr>
          <a:xfrm>
            <a:off x="6944360" y="1560830"/>
            <a:ext cx="867410" cy="253365"/>
          </a:xfrm>
          <a:prstGeom prst="chevron">
            <a:avLst/>
          </a:prstGeom>
          <a:solidFill>
            <a:srgbClr val="E6E6E6"/>
          </a:solidFill>
          <a:ln w="12700">
            <a:miter lim="400000"/>
          </a:ln>
        </p:spPr>
        <p:txBody>
          <a:bodyPr lIns="0" tIns="0" rIns="0" bIns="0" rtlCol="0" anchor="ctr">
            <a:noAutofit/>
          </a:bodyPr>
          <a:lstStyle/>
          <a:p>
            <a:pPr lvl="0" algn="ctr">
              <a:spcAft>
                <a:spcPts val="500"/>
              </a:spcAft>
              <a:buClrTx/>
              <a:buSzTx/>
              <a:buFontTx/>
              <a:defRPr>
                <a:latin typeface="微软雅黑"/>
                <a:ea typeface="微软雅黑"/>
                <a:cs typeface="微软雅黑"/>
              </a:defRPr>
            </a:pPr>
            <a:r>
              <a:rPr lang="zh-CN" altLang="en-US" sz="1000" b="1" dirty="0">
                <a:solidFill>
                  <a:srgbClr val="0042FF"/>
                </a:solidFill>
                <a:latin typeface="微软雅黑"/>
                <a:ea typeface="微软雅黑"/>
                <a:cs typeface="微软雅黑"/>
                <a:sym typeface="微软雅黑"/>
              </a:rPr>
              <a:t>元素设计</a:t>
            </a:r>
            <a:endParaRPr lang="zh-CN" altLang="en-US" sz="1000" b="1" dirty="0">
              <a:solidFill>
                <a:srgbClr val="0042FF"/>
              </a:solidFill>
              <a:latin typeface="微软雅黑"/>
              <a:ea typeface="微软雅黑"/>
              <a:cs typeface="微软雅黑"/>
              <a:sym typeface="微软雅黑"/>
            </a:endParaRPr>
          </a:p>
        </p:txBody>
      </p:sp>
      <p:cxnSp>
        <p:nvCxnSpPr>
          <p:cNvPr id="92" name="直接连接符 91"/>
          <p:cNvCxnSpPr/>
          <p:nvPr/>
        </p:nvCxnSpPr>
        <p:spPr>
          <a:xfrm>
            <a:off x="5337175" y="1842770"/>
            <a:ext cx="3175" cy="776605"/>
          </a:xfrm>
          <a:prstGeom prst="line">
            <a:avLst/>
          </a:prstGeom>
          <a:ln w="12700" cmpd="sng">
            <a:solidFill>
              <a:srgbClr val="DCDCDC"/>
            </a:solidFill>
            <a:prstDash val="sysDash"/>
          </a:ln>
        </p:spPr>
        <p:style>
          <a:lnRef idx="2">
            <a:srgbClr val="0042FF"/>
          </a:lnRef>
          <a:fillRef idx="0">
            <a:srgbClr val="FFFFFF"/>
          </a:fillRef>
          <a:effectRef idx="0">
            <a:srgbClr val="FFFFFF"/>
          </a:effectRef>
          <a:fontRef idx="minor">
            <a:srgbClr val="383838"/>
          </a:fontRef>
        </p:style>
      </p:cxnSp>
      <p:grpSp>
        <p:nvGrpSpPr>
          <p:cNvPr id="143" name="组合 142"/>
          <p:cNvGrpSpPr/>
          <p:nvPr/>
        </p:nvGrpSpPr>
        <p:grpSpPr>
          <a:xfrm>
            <a:off x="8301355" y="2220595"/>
            <a:ext cx="730250" cy="367030"/>
            <a:chOff x="788" y="3451"/>
            <a:chExt cx="1150" cy="578"/>
          </a:xfrm>
        </p:grpSpPr>
        <p:sp>
          <p:nvSpPr>
            <p:cNvPr id="144" name="圆角矩形 143"/>
            <p:cNvSpPr/>
            <p:nvPr/>
          </p:nvSpPr>
          <p:spPr>
            <a:xfrm>
              <a:off x="859" y="3451"/>
              <a:ext cx="1009" cy="578"/>
            </a:xfrm>
            <a:prstGeom prst="roundRect">
              <a:avLst>
                <a:gd name="adj" fmla="val 8650"/>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solidFill>
                  <a:srgbClr val="0042FF"/>
                </a:solidFill>
                <a:latin typeface="微软雅黑"/>
                <a:ea typeface="微软雅黑"/>
                <a:cs typeface="微软雅黑"/>
              </a:endParaRPr>
            </a:p>
          </p:txBody>
        </p:sp>
        <p:sp>
          <p:nvSpPr>
            <p:cNvPr id="145"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latin typeface="微软雅黑"/>
                  <a:ea typeface="微软雅黑"/>
                  <a:cs typeface="微软雅黑"/>
                </a:rPr>
                <a:t>产品改进</a:t>
              </a:r>
              <a:endParaRPr lang="zh-CN" altLang="en-US" sz="1000">
                <a:solidFill>
                  <a:srgbClr val="0042FF"/>
                </a:solidFill>
                <a:latin typeface="微软雅黑"/>
                <a:ea typeface="微软雅黑"/>
                <a:cs typeface="微软雅黑"/>
              </a:endParaRPr>
            </a:p>
          </p:txBody>
        </p:sp>
      </p:grpSp>
      <p:grpSp>
        <p:nvGrpSpPr>
          <p:cNvPr id="148" name="组合 147"/>
          <p:cNvGrpSpPr/>
          <p:nvPr/>
        </p:nvGrpSpPr>
        <p:grpSpPr>
          <a:xfrm>
            <a:off x="9156700" y="2220595"/>
            <a:ext cx="730250" cy="367030"/>
            <a:chOff x="788" y="3451"/>
            <a:chExt cx="1150" cy="578"/>
          </a:xfrm>
        </p:grpSpPr>
        <p:sp>
          <p:nvSpPr>
            <p:cNvPr id="149" name="圆角矩形 148"/>
            <p:cNvSpPr/>
            <p:nvPr/>
          </p:nvSpPr>
          <p:spPr>
            <a:xfrm>
              <a:off x="859" y="3451"/>
              <a:ext cx="1009" cy="578"/>
            </a:xfrm>
            <a:prstGeom prst="roundRect">
              <a:avLst>
                <a:gd name="adj" fmla="val 8650"/>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latin typeface="微软雅黑"/>
                <a:ea typeface="微软雅黑"/>
                <a:cs typeface="微软雅黑"/>
              </a:endParaRPr>
            </a:p>
          </p:txBody>
        </p:sp>
        <p:sp>
          <p:nvSpPr>
            <p:cNvPr id="150"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latin typeface="微软雅黑"/>
                  <a:ea typeface="微软雅黑"/>
                  <a:cs typeface="微软雅黑"/>
                </a:rPr>
                <a:t>市场定位</a:t>
              </a:r>
              <a:endParaRPr lang="zh-CN" altLang="en-US" sz="1000">
                <a:solidFill>
                  <a:srgbClr val="0042FF"/>
                </a:solidFill>
                <a:latin typeface="微软雅黑"/>
                <a:ea typeface="微软雅黑"/>
                <a:cs typeface="微软雅黑"/>
              </a:endParaRPr>
            </a:p>
          </p:txBody>
        </p:sp>
      </p:grpSp>
      <p:grpSp>
        <p:nvGrpSpPr>
          <p:cNvPr id="151" name="组合 150"/>
          <p:cNvGrpSpPr/>
          <p:nvPr/>
        </p:nvGrpSpPr>
        <p:grpSpPr>
          <a:xfrm>
            <a:off x="10012045" y="2220595"/>
            <a:ext cx="730250" cy="367030"/>
            <a:chOff x="788" y="3451"/>
            <a:chExt cx="1150" cy="578"/>
          </a:xfrm>
        </p:grpSpPr>
        <p:sp>
          <p:nvSpPr>
            <p:cNvPr id="162" name="圆角矩形 161"/>
            <p:cNvSpPr/>
            <p:nvPr/>
          </p:nvSpPr>
          <p:spPr>
            <a:xfrm>
              <a:off x="859" y="3451"/>
              <a:ext cx="1009" cy="578"/>
            </a:xfrm>
            <a:prstGeom prst="roundRect">
              <a:avLst>
                <a:gd name="adj" fmla="val 8650"/>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latin typeface="微软雅黑"/>
                <a:ea typeface="微软雅黑"/>
                <a:cs typeface="微软雅黑"/>
              </a:endParaRPr>
            </a:p>
          </p:txBody>
        </p:sp>
        <p:sp>
          <p:nvSpPr>
            <p:cNvPr id="163"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latin typeface="微软雅黑"/>
                  <a:ea typeface="微软雅黑"/>
                  <a:cs typeface="微软雅黑"/>
                </a:rPr>
                <a:t>客户满意</a:t>
              </a:r>
              <a:endParaRPr lang="zh-CN" altLang="en-US" sz="1000">
                <a:solidFill>
                  <a:srgbClr val="0042FF"/>
                </a:solidFill>
                <a:latin typeface="微软雅黑"/>
                <a:ea typeface="微软雅黑"/>
                <a:cs typeface="微软雅黑"/>
              </a:endParaRPr>
            </a:p>
          </p:txBody>
        </p:sp>
      </p:grpSp>
      <p:grpSp>
        <p:nvGrpSpPr>
          <p:cNvPr id="164" name="组合 163"/>
          <p:cNvGrpSpPr/>
          <p:nvPr/>
        </p:nvGrpSpPr>
        <p:grpSpPr>
          <a:xfrm>
            <a:off x="10867390" y="2220595"/>
            <a:ext cx="730250" cy="367030"/>
            <a:chOff x="788" y="3451"/>
            <a:chExt cx="1150" cy="578"/>
          </a:xfrm>
        </p:grpSpPr>
        <p:sp>
          <p:nvSpPr>
            <p:cNvPr id="165" name="圆角矩形 164"/>
            <p:cNvSpPr/>
            <p:nvPr/>
          </p:nvSpPr>
          <p:spPr>
            <a:xfrm>
              <a:off x="859" y="3451"/>
              <a:ext cx="1009" cy="578"/>
            </a:xfrm>
            <a:prstGeom prst="roundRect">
              <a:avLst>
                <a:gd name="adj" fmla="val 8650"/>
              </a:avLst>
            </a:prstGeom>
            <a:no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sz="1000" b="1" dirty="0">
                <a:latin typeface="微软雅黑"/>
                <a:ea typeface="微软雅黑"/>
                <a:cs typeface="微软雅黑"/>
              </a:endParaRPr>
            </a:p>
          </p:txBody>
        </p:sp>
        <p:sp>
          <p:nvSpPr>
            <p:cNvPr id="166" name="标题 2"/>
            <p:cNvSpPr>
              <a:spLocks noGrp="1"/>
            </p:cNvSpPr>
            <p:nvPr/>
          </p:nvSpPr>
          <p:spPr>
            <a:xfrm>
              <a:off x="788" y="3604"/>
              <a:ext cx="1150" cy="298"/>
            </a:xfrm>
            <a:prstGeom prst="rect">
              <a:avLst/>
            </a:prstGeom>
            <a:ln w="12700">
              <a:miter lim="400000"/>
            </a:ln>
          </p:spPr>
          <p:txBody>
            <a:bodyPr vert="horz" wrap="square" lIns="0" tIns="0" rIns="0" bIns="0" rtlCol="0" anchor="ctr">
              <a:sp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ctr">
                <a:defRPr>
                  <a:latin typeface="微软雅黑"/>
                  <a:ea typeface="微软雅黑"/>
                  <a:cs typeface="微软雅黑"/>
                </a:defRPr>
              </a:pPr>
              <a:r>
                <a:rPr sz="1000">
                  <a:solidFill>
                    <a:srgbClr val="0042FF"/>
                  </a:solidFill>
                  <a:latin typeface="微软雅黑"/>
                  <a:ea typeface="微软雅黑"/>
                  <a:cs typeface="微软雅黑"/>
                </a:rPr>
                <a:t>品牌声誉</a:t>
              </a:r>
              <a:endParaRPr lang="zh-CN" altLang="en-US" sz="1000">
                <a:solidFill>
                  <a:srgbClr val="0042FF"/>
                </a:solidFill>
                <a:latin typeface="微软雅黑"/>
                <a:ea typeface="微软雅黑"/>
                <a:cs typeface="微软雅黑"/>
              </a:endParaRPr>
            </a:p>
          </p:txBody>
        </p:sp>
      </p:grpSp>
      <p:sp>
        <p:nvSpPr>
          <p:cNvPr id="167" name="右箭头 166"/>
          <p:cNvSpPr/>
          <p:nvPr/>
        </p:nvSpPr>
        <p:spPr>
          <a:xfrm>
            <a:off x="9031605" y="2317750"/>
            <a:ext cx="164465" cy="194945"/>
          </a:xfrm>
          <a:prstGeom prst="rightArrow">
            <a:avLst/>
          </a:prstGeom>
          <a:gradFill flip="none" rotWithShape="1">
            <a:gsLst>
              <a:gs pos="0">
                <a:srgbClr val="0042FF"/>
              </a:gs>
              <a:gs pos="98000">
                <a:srgbClr val="0042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68" name="右箭头 167"/>
          <p:cNvSpPr/>
          <p:nvPr/>
        </p:nvSpPr>
        <p:spPr>
          <a:xfrm>
            <a:off x="9886950" y="2317750"/>
            <a:ext cx="164465" cy="194945"/>
          </a:xfrm>
          <a:prstGeom prst="rightArrow">
            <a:avLst/>
          </a:prstGeom>
          <a:gradFill flip="none" rotWithShape="1">
            <a:gsLst>
              <a:gs pos="0">
                <a:srgbClr val="0042FF"/>
              </a:gs>
              <a:gs pos="98000">
                <a:srgbClr val="0042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169" name="右箭头 168"/>
          <p:cNvSpPr/>
          <p:nvPr/>
        </p:nvSpPr>
        <p:spPr>
          <a:xfrm>
            <a:off x="10728325" y="2317750"/>
            <a:ext cx="164465" cy="194945"/>
          </a:xfrm>
          <a:prstGeom prst="rightArrow">
            <a:avLst/>
          </a:prstGeom>
          <a:gradFill flip="none" rotWithShape="1">
            <a:gsLst>
              <a:gs pos="0">
                <a:srgbClr val="0042FF"/>
              </a:gs>
              <a:gs pos="98000">
                <a:srgbClr val="0042FF">
                  <a:alpha val="0"/>
                </a:srgbClr>
              </a:gs>
            </a:gsLst>
            <a:lin ang="108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4" name="椭圆 3"/>
          <p:cNvSpPr/>
          <p:nvPr/>
        </p:nvSpPr>
        <p:spPr>
          <a:xfrm>
            <a:off x="3091733" y="3390754"/>
            <a:ext cx="538003" cy="538003"/>
          </a:xfrm>
          <a:prstGeom prst="ellipse">
            <a:avLst/>
          </a:prstGeom>
          <a:solidFill>
            <a:srgbClr val="FFFFFF"/>
          </a:solidFill>
          <a:ln w="38100">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en-US" altLang="zh-CN" sz="1300" b="1" dirty="0">
              <a:solidFill>
                <a:srgbClr val="0042FF"/>
              </a:solidFill>
              <a:latin typeface="微软雅黑"/>
              <a:ea typeface="微软雅黑"/>
              <a:cs typeface="微软雅黑"/>
              <a:sym typeface="微软雅黑"/>
            </a:endParaRPr>
          </a:p>
        </p:txBody>
      </p:sp>
      <p:sp>
        <p:nvSpPr>
          <p:cNvPr id="7" name="文本框 6"/>
          <p:cNvSpPr txBox="1"/>
          <p:nvPr/>
        </p:nvSpPr>
        <p:spPr>
          <a:xfrm>
            <a:off x="3128645" y="3398520"/>
            <a:ext cx="462280" cy="422910"/>
          </a:xfrm>
          <a:prstGeom prst="rect">
            <a:avLst/>
          </a:prstGeom>
          <a:noFill/>
        </p:spPr>
        <p:txBody>
          <a:bodyPr wrap="square" rtlCol="0" anchor="ctr" anchorCtr="0">
            <a:noAutofit/>
          </a:bodyPr>
          <a:lstStyle/>
          <a:p>
            <a:pPr algn="ctr">
              <a:lnSpc>
                <a:spcPct val="150000"/>
              </a:lnSpc>
              <a:defRPr>
                <a:latin typeface="微软雅黑"/>
                <a:ea typeface="微软雅黑"/>
                <a:cs typeface="微软雅黑"/>
              </a:defRPr>
            </a:pPr>
            <a:r>
              <a:rPr kumimoji="1" lang="en-US" sz="1600" b="1" dirty="0">
                <a:solidFill>
                  <a:srgbClr val="0042FF"/>
                </a:solidFill>
                <a:latin typeface="微软雅黑"/>
                <a:ea typeface="微软雅黑"/>
                <a:cs typeface="微软雅黑"/>
              </a:rPr>
              <a:t>02</a:t>
            </a:r>
            <a:endParaRPr kumimoji="1" lang="en-US" sz="1600" b="1" cap="all" dirty="0">
              <a:solidFill>
                <a:srgbClr val="0042FF"/>
              </a:solidFill>
              <a:latin typeface="微软雅黑"/>
              <a:ea typeface="微软雅黑"/>
              <a:cs typeface="微软雅黑"/>
            </a:endParaRPr>
          </a:p>
        </p:txBody>
      </p:sp>
      <p:grpSp>
        <p:nvGrpSpPr>
          <p:cNvPr id="18" name="组合 17"/>
          <p:cNvGrpSpPr/>
          <p:nvPr/>
        </p:nvGrpSpPr>
        <p:grpSpPr>
          <a:xfrm>
            <a:off x="865505" y="3390900"/>
            <a:ext cx="537210" cy="537210"/>
            <a:chOff x="1363" y="5340"/>
            <a:chExt cx="846" cy="846"/>
          </a:xfrm>
        </p:grpSpPr>
        <p:sp>
          <p:nvSpPr>
            <p:cNvPr id="14" name="椭圆 13"/>
            <p:cNvSpPr/>
            <p:nvPr/>
          </p:nvSpPr>
          <p:spPr>
            <a:xfrm>
              <a:off x="1363" y="5340"/>
              <a:ext cx="847" cy="847"/>
            </a:xfrm>
            <a:prstGeom prst="ellipse">
              <a:avLst/>
            </a:prstGeom>
            <a:solidFill>
              <a:srgbClr val="FFFFFF"/>
            </a:solidFill>
            <a:ln w="38100">
              <a:solidFill>
                <a:srgbClr val="E6E6E6"/>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kumimoji="1" lang="en-US" altLang="zh-CN" sz="1300" b="1" dirty="0">
                <a:solidFill>
                  <a:srgbClr val="0042FF"/>
                </a:solidFill>
                <a:latin typeface="微软雅黑"/>
                <a:ea typeface="微软雅黑"/>
                <a:cs typeface="微软雅黑"/>
              </a:endParaRPr>
            </a:p>
          </p:txBody>
        </p:sp>
        <p:sp>
          <p:nvSpPr>
            <p:cNvPr id="17" name="文本框 16"/>
            <p:cNvSpPr txBox="1"/>
            <p:nvPr/>
          </p:nvSpPr>
          <p:spPr>
            <a:xfrm>
              <a:off x="1416" y="5399"/>
              <a:ext cx="728" cy="607"/>
            </a:xfrm>
            <a:prstGeom prst="rect">
              <a:avLst/>
            </a:prstGeom>
            <a:noFill/>
          </p:spPr>
          <p:txBody>
            <a:bodyPr wrap="square" rtlCol="0" anchor="ctr" anchorCtr="0">
              <a:noAutofit/>
            </a:bodyPr>
            <a:lstStyle/>
            <a:p>
              <a:pPr algn="ctr">
                <a:lnSpc>
                  <a:spcPct val="150000"/>
                </a:lnSpc>
                <a:defRPr>
                  <a:latin typeface="微软雅黑"/>
                  <a:ea typeface="微软雅黑"/>
                  <a:cs typeface="微软雅黑"/>
                </a:defRPr>
              </a:pPr>
              <a:r>
                <a:rPr kumimoji="1" lang="en-US" sz="1600" b="1" dirty="0">
                  <a:solidFill>
                    <a:srgbClr val="0042FF"/>
                  </a:solidFill>
                  <a:latin typeface="微软雅黑"/>
                  <a:ea typeface="微软雅黑"/>
                  <a:cs typeface="微软雅黑"/>
                </a:rPr>
                <a:t>01</a:t>
              </a:r>
              <a:endParaRPr kumimoji="1" lang="en-US" sz="1600" b="1" cap="all" dirty="0">
                <a:solidFill>
                  <a:srgbClr val="0042FF"/>
                </a:solidFill>
                <a:latin typeface="微软雅黑"/>
                <a:ea typeface="微软雅黑"/>
                <a:cs typeface="微软雅黑"/>
              </a:endParaRPr>
            </a:p>
          </p:txBody>
        </p:sp>
      </p:grpSp>
      <p:grpSp>
        <p:nvGrpSpPr>
          <p:cNvPr id="21" name="组合 20"/>
          <p:cNvGrpSpPr/>
          <p:nvPr/>
        </p:nvGrpSpPr>
        <p:grpSpPr>
          <a:xfrm>
            <a:off x="5306695" y="3390900"/>
            <a:ext cx="537210" cy="537210"/>
            <a:chOff x="1363" y="5340"/>
            <a:chExt cx="846" cy="846"/>
          </a:xfrm>
        </p:grpSpPr>
        <p:sp>
          <p:nvSpPr>
            <p:cNvPr id="23" name="椭圆 22"/>
            <p:cNvSpPr/>
            <p:nvPr/>
          </p:nvSpPr>
          <p:spPr>
            <a:xfrm>
              <a:off x="1363" y="5340"/>
              <a:ext cx="847" cy="847"/>
            </a:xfrm>
            <a:prstGeom prst="ellipse">
              <a:avLst/>
            </a:prstGeom>
            <a:solidFill>
              <a:srgbClr val="FFFFFF"/>
            </a:solidFill>
            <a:ln w="38100">
              <a:solidFill>
                <a:srgbClr val="E6E6E6"/>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kumimoji="1" lang="en-US" altLang="zh-CN" sz="1300" b="1" dirty="0">
                <a:solidFill>
                  <a:srgbClr val="0042FF"/>
                </a:solidFill>
                <a:latin typeface="微软雅黑"/>
                <a:ea typeface="微软雅黑"/>
                <a:cs typeface="微软雅黑"/>
              </a:endParaRPr>
            </a:p>
          </p:txBody>
        </p:sp>
        <p:sp>
          <p:nvSpPr>
            <p:cNvPr id="31" name="文本框 30"/>
            <p:cNvSpPr txBox="1"/>
            <p:nvPr/>
          </p:nvSpPr>
          <p:spPr>
            <a:xfrm>
              <a:off x="1416" y="5399"/>
              <a:ext cx="728" cy="607"/>
            </a:xfrm>
            <a:prstGeom prst="rect">
              <a:avLst/>
            </a:prstGeom>
            <a:noFill/>
          </p:spPr>
          <p:txBody>
            <a:bodyPr wrap="square" rtlCol="0" anchor="ctr" anchorCtr="0">
              <a:noAutofit/>
            </a:bodyPr>
            <a:lstStyle/>
            <a:p>
              <a:pPr algn="ctr">
                <a:lnSpc>
                  <a:spcPct val="150000"/>
                </a:lnSpc>
                <a:defRPr>
                  <a:latin typeface="微软雅黑"/>
                  <a:ea typeface="微软雅黑"/>
                  <a:cs typeface="微软雅黑"/>
                </a:defRPr>
              </a:pPr>
              <a:r>
                <a:rPr kumimoji="1" lang="en-US" sz="1600" b="1" dirty="0">
                  <a:solidFill>
                    <a:srgbClr val="0042FF"/>
                  </a:solidFill>
                  <a:latin typeface="微软雅黑"/>
                  <a:ea typeface="微软雅黑"/>
                  <a:cs typeface="微软雅黑"/>
                </a:rPr>
                <a:t>03</a:t>
              </a:r>
              <a:endParaRPr kumimoji="1" lang="en-US" sz="1600" b="1" cap="all" dirty="0">
                <a:solidFill>
                  <a:srgbClr val="0042FF"/>
                </a:solidFill>
                <a:latin typeface="微软雅黑"/>
                <a:ea typeface="微软雅黑"/>
                <a:cs typeface="微软雅黑"/>
              </a:endParaRPr>
            </a:p>
          </p:txBody>
        </p:sp>
      </p:grpSp>
      <p:grpSp>
        <p:nvGrpSpPr>
          <p:cNvPr id="55" name="组合 54"/>
          <p:cNvGrpSpPr/>
          <p:nvPr/>
        </p:nvGrpSpPr>
        <p:grpSpPr>
          <a:xfrm>
            <a:off x="7541895" y="3398520"/>
            <a:ext cx="537210" cy="537210"/>
            <a:chOff x="1363" y="5340"/>
            <a:chExt cx="846" cy="846"/>
          </a:xfrm>
        </p:grpSpPr>
        <p:sp>
          <p:nvSpPr>
            <p:cNvPr id="56" name="椭圆 55"/>
            <p:cNvSpPr/>
            <p:nvPr/>
          </p:nvSpPr>
          <p:spPr>
            <a:xfrm>
              <a:off x="1363" y="5340"/>
              <a:ext cx="847" cy="847"/>
            </a:xfrm>
            <a:prstGeom prst="ellipse">
              <a:avLst/>
            </a:prstGeom>
            <a:solidFill>
              <a:srgbClr val="FFFF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kumimoji="1" lang="en-US" altLang="zh-CN" sz="1300" b="1" dirty="0">
                <a:solidFill>
                  <a:srgbClr val="0042FF"/>
                </a:solidFill>
                <a:latin typeface="微软雅黑"/>
                <a:ea typeface="微软雅黑"/>
                <a:cs typeface="微软雅黑"/>
              </a:endParaRPr>
            </a:p>
          </p:txBody>
        </p:sp>
        <p:sp>
          <p:nvSpPr>
            <p:cNvPr id="57" name="文本框 56"/>
            <p:cNvSpPr txBox="1"/>
            <p:nvPr/>
          </p:nvSpPr>
          <p:spPr>
            <a:xfrm>
              <a:off x="1416" y="5399"/>
              <a:ext cx="728" cy="607"/>
            </a:xfrm>
            <a:prstGeom prst="rect">
              <a:avLst/>
            </a:prstGeom>
            <a:noFill/>
          </p:spPr>
          <p:txBody>
            <a:bodyPr wrap="square" rtlCol="0" anchor="ctr" anchorCtr="0">
              <a:noAutofit/>
            </a:bodyPr>
            <a:lstStyle/>
            <a:p>
              <a:pPr algn="ctr">
                <a:lnSpc>
                  <a:spcPct val="150000"/>
                </a:lnSpc>
                <a:defRPr>
                  <a:latin typeface="微软雅黑"/>
                  <a:ea typeface="微软雅黑"/>
                  <a:cs typeface="微软雅黑"/>
                </a:defRPr>
              </a:pPr>
              <a:r>
                <a:rPr kumimoji="1" lang="en-US" sz="1600" b="1" dirty="0">
                  <a:solidFill>
                    <a:srgbClr val="0042FF"/>
                  </a:solidFill>
                  <a:latin typeface="微软雅黑"/>
                  <a:ea typeface="微软雅黑"/>
                  <a:cs typeface="微软雅黑"/>
                </a:rPr>
                <a:t>04</a:t>
              </a:r>
              <a:endParaRPr kumimoji="1" lang="en-US" sz="1600" b="1" cap="all" dirty="0">
                <a:solidFill>
                  <a:srgbClr val="0042FF"/>
                </a:solidFill>
                <a:latin typeface="微软雅黑"/>
                <a:ea typeface="微软雅黑"/>
                <a:cs typeface="微软雅黑"/>
              </a:endParaRPr>
            </a:p>
          </p:txBody>
        </p:sp>
      </p:grpSp>
      <p:grpSp>
        <p:nvGrpSpPr>
          <p:cNvPr id="58" name="组合 57"/>
          <p:cNvGrpSpPr/>
          <p:nvPr/>
        </p:nvGrpSpPr>
        <p:grpSpPr>
          <a:xfrm>
            <a:off x="9805670" y="3402965"/>
            <a:ext cx="537210" cy="537210"/>
            <a:chOff x="1363" y="5340"/>
            <a:chExt cx="846" cy="846"/>
          </a:xfrm>
        </p:grpSpPr>
        <p:sp>
          <p:nvSpPr>
            <p:cNvPr id="59" name="椭圆 58"/>
            <p:cNvSpPr/>
            <p:nvPr/>
          </p:nvSpPr>
          <p:spPr>
            <a:xfrm>
              <a:off x="1363" y="5340"/>
              <a:ext cx="847" cy="847"/>
            </a:xfrm>
            <a:prstGeom prst="ellipse">
              <a:avLst/>
            </a:prstGeom>
            <a:solidFill>
              <a:srgbClr val="FFFFFF"/>
            </a:solidFill>
            <a:ln w="38100">
              <a:solidFill>
                <a:srgbClr val="E6E6E6"/>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endParaRPr kumimoji="1" lang="en-US" altLang="zh-CN" sz="1300" b="1" dirty="0">
                <a:solidFill>
                  <a:srgbClr val="0042FF"/>
                </a:solidFill>
                <a:latin typeface="微软雅黑"/>
                <a:ea typeface="微软雅黑"/>
                <a:cs typeface="微软雅黑"/>
              </a:endParaRPr>
            </a:p>
          </p:txBody>
        </p:sp>
        <p:sp>
          <p:nvSpPr>
            <p:cNvPr id="60" name="文本框 59"/>
            <p:cNvSpPr txBox="1"/>
            <p:nvPr/>
          </p:nvSpPr>
          <p:spPr>
            <a:xfrm>
              <a:off x="1416" y="5399"/>
              <a:ext cx="728" cy="607"/>
            </a:xfrm>
            <a:prstGeom prst="rect">
              <a:avLst/>
            </a:prstGeom>
            <a:noFill/>
          </p:spPr>
          <p:txBody>
            <a:bodyPr wrap="square" rtlCol="0" anchor="ctr" anchorCtr="0">
              <a:noAutofit/>
            </a:bodyPr>
            <a:lstStyle/>
            <a:p>
              <a:pPr algn="ctr">
                <a:lnSpc>
                  <a:spcPct val="150000"/>
                </a:lnSpc>
                <a:defRPr>
                  <a:latin typeface="微软雅黑"/>
                  <a:ea typeface="微软雅黑"/>
                  <a:cs typeface="微软雅黑"/>
                </a:defRPr>
              </a:pPr>
              <a:r>
                <a:rPr kumimoji="1" lang="en-US" sz="1600" b="1" dirty="0">
                  <a:solidFill>
                    <a:srgbClr val="0042FF"/>
                  </a:solidFill>
                  <a:latin typeface="微软雅黑"/>
                  <a:ea typeface="微软雅黑"/>
                  <a:cs typeface="微软雅黑"/>
                </a:rPr>
                <a:t>05</a:t>
              </a:r>
              <a:endParaRPr kumimoji="1" lang="en-US" sz="1600" b="1" cap="all" dirty="0">
                <a:solidFill>
                  <a:srgbClr val="0042FF"/>
                </a:solidFill>
                <a:latin typeface="微软雅黑"/>
                <a:ea typeface="微软雅黑"/>
                <a:cs typeface="微软雅黑"/>
              </a:endParaRPr>
            </a:p>
          </p:txBody>
        </p:sp>
      </p:grpSp>
      <p:cxnSp>
        <p:nvCxnSpPr>
          <p:cNvPr id="68" name="直线箭头连接符 146"/>
          <p:cNvCxnSpPr/>
          <p:nvPr/>
        </p:nvCxnSpPr>
        <p:spPr>
          <a:xfrm flipV="1">
            <a:off x="10441902" y="2720057"/>
            <a:ext cx="0" cy="546506"/>
          </a:xfrm>
          <a:prstGeom prst="straightConnector1">
            <a:avLst/>
          </a:prstGeom>
          <a:ln>
            <a:solidFill>
              <a:srgbClr val="0042FF"/>
            </a:solidFill>
            <a:tailEnd type="triangle"/>
          </a:ln>
        </p:spPr>
        <p:style>
          <a:lnRef idx="2">
            <a:srgbClr val="0042FF"/>
          </a:lnRef>
          <a:fillRef idx="0">
            <a:srgbClr val="0042FF"/>
          </a:fillRef>
          <a:effectRef idx="1">
            <a:srgbClr val="0042FF"/>
          </a:effectRef>
          <a:fontRef idx="minor">
            <a:srgbClr val="383838"/>
          </a:fontRef>
        </p:style>
      </p:cxnSp>
      <p:cxnSp>
        <p:nvCxnSpPr>
          <p:cNvPr id="69" name="直线箭头连接符 145"/>
          <p:cNvCxnSpPr/>
          <p:nvPr/>
        </p:nvCxnSpPr>
        <p:spPr>
          <a:xfrm flipV="1">
            <a:off x="6096168" y="2719422"/>
            <a:ext cx="0" cy="546506"/>
          </a:xfrm>
          <a:prstGeom prst="straightConnector1">
            <a:avLst/>
          </a:prstGeom>
          <a:ln>
            <a:solidFill>
              <a:srgbClr val="0042FF"/>
            </a:solidFill>
            <a:tailEnd type="triangle"/>
          </a:ln>
        </p:spPr>
        <p:style>
          <a:lnRef idx="2">
            <a:srgbClr val="0042FF"/>
          </a:lnRef>
          <a:fillRef idx="0">
            <a:srgbClr val="0042FF"/>
          </a:fillRef>
          <a:effectRef idx="1">
            <a:srgbClr val="0042FF"/>
          </a:effectRef>
          <a:fontRef idx="minor">
            <a:srgbClr val="383838"/>
          </a:fontRef>
        </p:style>
      </p:cxnSp>
      <p:cxnSp>
        <p:nvCxnSpPr>
          <p:cNvPr id="75" name="直接连接符 74"/>
          <p:cNvCxnSpPr/>
          <p:nvPr/>
        </p:nvCxnSpPr>
        <p:spPr>
          <a:xfrm>
            <a:off x="6140450" y="1842770"/>
            <a:ext cx="3175" cy="776605"/>
          </a:xfrm>
          <a:prstGeom prst="line">
            <a:avLst/>
          </a:prstGeom>
          <a:ln w="12700" cmpd="sng">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76" name="直接连接符 75"/>
          <p:cNvCxnSpPr/>
          <p:nvPr/>
        </p:nvCxnSpPr>
        <p:spPr>
          <a:xfrm>
            <a:off x="6981190" y="1847215"/>
            <a:ext cx="3175" cy="776605"/>
          </a:xfrm>
          <a:prstGeom prst="line">
            <a:avLst/>
          </a:prstGeom>
          <a:ln w="12700" cmpd="sng">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8"/>
            <a:srcRect l="17002" t="-1765" r="56499" b="-1176"/>
            <a:stretch>
              <a:fillRect/>
            </a:stretch>
          </p:blipFill>
          <p:spPr>
            <a:xfrm>
              <a:off x="13761" y="549"/>
              <a:ext cx="1582" cy="525"/>
            </a:xfrm>
            <a:prstGeom prst="rect">
              <a:avLst/>
            </a:prstGeom>
          </p:spPr>
        </p:pic>
        <p:sp>
          <p:nvSpPr>
            <p:cNvPr id="8" name="文本框 7"/>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年度</a:t>
            </a:r>
            <a:r>
              <a:rPr sz="2500">
                <a:solidFill>
                  <a:srgbClr val="383838"/>
                </a:solidFill>
                <a:effectLst/>
                <a:latin typeface="微软雅黑"/>
                <a:ea typeface="微软雅黑"/>
                <a:cs typeface="微软雅黑"/>
                <a:sym typeface="微软雅黑"/>
              </a:rPr>
              <a:t>工作汇报时间轴</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0" name="子陵职场PPT3"/>
          <p:cNvSpPr/>
          <p:nvPr>
            <p:custDataLst>
              <p:tags r:id="rId3"/>
            </p:custDataLst>
          </p:nvPr>
        </p:nvSpPr>
        <p:spPr>
          <a:xfrm>
            <a:off x="2466340" y="3491231"/>
            <a:ext cx="1872000" cy="600075"/>
          </a:xfrm>
          <a:prstGeom prst="chevron">
            <a:avLst>
              <a:gd name="adj" fmla="val 32014"/>
            </a:avLst>
          </a:prstGeom>
          <a:gradFill>
            <a:gsLst>
              <a:gs pos="100000">
                <a:srgbClr val="3368FF"/>
              </a:gs>
              <a:gs pos="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277615" tIns="115887" rIns="163548" bIns="11588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b="1" dirty="0">
              <a:solidFill>
                <a:srgbClr val="383838"/>
              </a:solidFill>
              <a:latin typeface="微软雅黑"/>
              <a:ea typeface="微软雅黑"/>
              <a:cs typeface="微软雅黑"/>
              <a:sym typeface="微软雅黑"/>
            </a:endParaRPr>
          </a:p>
        </p:txBody>
      </p:sp>
      <p:sp>
        <p:nvSpPr>
          <p:cNvPr id="12" name="子陵职场PPT4"/>
          <p:cNvSpPr/>
          <p:nvPr>
            <p:custDataLst>
              <p:tags r:id="rId4"/>
            </p:custDataLst>
          </p:nvPr>
        </p:nvSpPr>
        <p:spPr>
          <a:xfrm>
            <a:off x="4251960" y="3491231"/>
            <a:ext cx="1872000" cy="600075"/>
          </a:xfrm>
          <a:prstGeom prst="chevron">
            <a:avLst>
              <a:gd name="adj" fmla="val 32014"/>
            </a:avLst>
          </a:prstGeom>
          <a:gradFill>
            <a:gsLst>
              <a:gs pos="100000">
                <a:srgbClr val="0042FF"/>
              </a:gs>
              <a:gs pos="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277615" tIns="115887" rIns="163548" bIns="11588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sym typeface="微软雅黑"/>
            </a:endParaRPr>
          </a:p>
        </p:txBody>
      </p:sp>
      <p:sp>
        <p:nvSpPr>
          <p:cNvPr id="13" name="子陵职场PPT5"/>
          <p:cNvSpPr/>
          <p:nvPr>
            <p:custDataLst>
              <p:tags r:id="rId5"/>
            </p:custDataLst>
          </p:nvPr>
        </p:nvSpPr>
        <p:spPr>
          <a:xfrm>
            <a:off x="6037580" y="3491231"/>
            <a:ext cx="1872000" cy="600075"/>
          </a:xfrm>
          <a:prstGeom prst="chevron">
            <a:avLst>
              <a:gd name="adj" fmla="val 32014"/>
            </a:avLst>
          </a:prstGeom>
          <a:gradFill>
            <a:gsLst>
              <a:gs pos="100000">
                <a:srgbClr val="3368FF"/>
              </a:gs>
              <a:gs pos="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277615" tIns="115887" rIns="163548" bIns="11588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b="1" dirty="0">
              <a:solidFill>
                <a:srgbClr val="383838"/>
              </a:solidFill>
              <a:latin typeface="微软雅黑"/>
              <a:ea typeface="微软雅黑"/>
              <a:cs typeface="微软雅黑"/>
              <a:sym typeface="微软雅黑"/>
            </a:endParaRPr>
          </a:p>
        </p:txBody>
      </p:sp>
      <p:sp>
        <p:nvSpPr>
          <p:cNvPr id="16" name="子陵职场PPT6"/>
          <p:cNvSpPr/>
          <p:nvPr>
            <p:custDataLst>
              <p:tags r:id="rId6"/>
            </p:custDataLst>
          </p:nvPr>
        </p:nvSpPr>
        <p:spPr>
          <a:xfrm>
            <a:off x="7823200" y="3491231"/>
            <a:ext cx="1872000" cy="600075"/>
          </a:xfrm>
          <a:prstGeom prst="chevron">
            <a:avLst>
              <a:gd name="adj" fmla="val 32014"/>
            </a:avLst>
          </a:prstGeom>
          <a:gradFill>
            <a:gsLst>
              <a:gs pos="100000">
                <a:srgbClr val="0042FF"/>
              </a:gs>
              <a:gs pos="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277615" tIns="115887" rIns="163548" bIns="11588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sym typeface="微软雅黑"/>
            </a:endParaRPr>
          </a:p>
        </p:txBody>
      </p:sp>
      <p:sp>
        <p:nvSpPr>
          <p:cNvPr id="17" name="子陵职场PPT7"/>
          <p:cNvSpPr/>
          <p:nvPr>
            <p:custDataLst>
              <p:tags r:id="rId7"/>
            </p:custDataLst>
          </p:nvPr>
        </p:nvSpPr>
        <p:spPr>
          <a:xfrm>
            <a:off x="9608820" y="3491231"/>
            <a:ext cx="1872000" cy="600075"/>
          </a:xfrm>
          <a:prstGeom prst="chevron">
            <a:avLst>
              <a:gd name="adj" fmla="val 32014"/>
            </a:avLst>
          </a:prstGeom>
          <a:gradFill>
            <a:gsLst>
              <a:gs pos="100000">
                <a:srgbClr val="3368FF"/>
              </a:gs>
              <a:gs pos="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277615" tIns="115887" rIns="163548" bIns="115888"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1600" b="1" dirty="0">
              <a:solidFill>
                <a:srgbClr val="383838"/>
              </a:solidFill>
              <a:latin typeface="微软雅黑"/>
              <a:ea typeface="微软雅黑"/>
              <a:cs typeface="微软雅黑"/>
              <a:sym typeface="微软雅黑"/>
            </a:endParaRPr>
          </a:p>
        </p:txBody>
      </p:sp>
      <p:sp>
        <p:nvSpPr>
          <p:cNvPr id="18" name="任意形状 17"/>
          <p:cNvSpPr/>
          <p:nvPr>
            <p:custDataLst>
              <p:tags r:id="rId8"/>
            </p:custDataLst>
          </p:nvPr>
        </p:nvSpPr>
        <p:spPr>
          <a:xfrm flipH="1">
            <a:off x="1399033" y="1417938"/>
            <a:ext cx="45719" cy="2160000"/>
          </a:xfrm>
          <a:custGeom>
            <a:avLst/>
            <a:gdLst>
              <a:gd name="connsiteX0" fmla="*/ 0 w 7620"/>
              <a:gd name="connsiteY0" fmla="*/ 2149602 h 2149602"/>
              <a:gd name="connsiteX1" fmla="*/ 0 w 7620"/>
              <a:gd name="connsiteY1" fmla="*/ 0 h 2149602"/>
            </a:gdLst>
            <a:ahLst/>
            <a:cxnLst>
              <a:cxn ang="0">
                <a:pos x="connsiteX0" y="connsiteY0"/>
              </a:cxn>
              <a:cxn ang="0">
                <a:pos x="connsiteX1" y="connsiteY1"/>
              </a:cxn>
            </a:cxnLst>
            <a:rect l="l" t="t" r="r" b="b"/>
            <a:pathLst>
              <a:path w="7620" h="2149602">
                <a:moveTo>
                  <a:pt x="0" y="2149602"/>
                </a:moveTo>
                <a:lnTo>
                  <a:pt x="0" y="0"/>
                </a:lnTo>
              </a:path>
            </a:pathLst>
          </a:custGeom>
          <a:ln w="15875" cap="flat">
            <a:solidFill>
              <a:srgbClr val="DCDCDC"/>
            </a:solidFill>
            <a:prstDash val="dash"/>
            <a:miter/>
            <a:tailEnd type="oval" w="lg" len="lg"/>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3" name="任意形状 47"/>
          <p:cNvSpPr/>
          <p:nvPr>
            <p:custDataLst>
              <p:tags r:id="rId9"/>
            </p:custDataLst>
          </p:nvPr>
        </p:nvSpPr>
        <p:spPr>
          <a:xfrm flipH="1">
            <a:off x="3571097" y="4168926"/>
            <a:ext cx="48074" cy="2159679"/>
          </a:xfrm>
          <a:custGeom>
            <a:avLst/>
            <a:gdLst>
              <a:gd name="connsiteX0" fmla="*/ 0 w 7620"/>
              <a:gd name="connsiteY0" fmla="*/ 2149602 h 2149602"/>
              <a:gd name="connsiteX1" fmla="*/ 0 w 7620"/>
              <a:gd name="connsiteY1" fmla="*/ 0 h 2149602"/>
            </a:gdLst>
            <a:ahLst/>
            <a:cxnLst>
              <a:cxn ang="0">
                <a:pos x="connsiteX0" y="connsiteY0"/>
              </a:cxn>
              <a:cxn ang="0">
                <a:pos x="connsiteX1" y="connsiteY1"/>
              </a:cxn>
            </a:cxnLst>
            <a:rect l="l" t="t" r="r" b="b"/>
            <a:pathLst>
              <a:path w="7620" h="2149602">
                <a:moveTo>
                  <a:pt x="0" y="2149602"/>
                </a:moveTo>
                <a:lnTo>
                  <a:pt x="0" y="0"/>
                </a:lnTo>
              </a:path>
            </a:pathLst>
          </a:custGeom>
          <a:ln w="15875" cap="flat">
            <a:solidFill>
              <a:srgbClr val="DCDCDC"/>
            </a:solidFill>
            <a:prstDash val="dash"/>
            <a:miter/>
            <a:tailEnd type="oval" w="lg" len="lg"/>
          </a:ln>
        </p:spPr>
        <p:txBody>
          <a:bodyPr rtlCol="0" anchor="ctr"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8" name="子陵职场PPT2"/>
          <p:cNvSpPr/>
          <p:nvPr>
            <p:custDataLst>
              <p:tags r:id="rId10"/>
            </p:custDataLst>
          </p:nvPr>
        </p:nvSpPr>
        <p:spPr>
          <a:xfrm>
            <a:off x="680720" y="3491231"/>
            <a:ext cx="1872000" cy="600075"/>
          </a:xfrm>
          <a:prstGeom prst="chevron">
            <a:avLst>
              <a:gd name="adj" fmla="val 32014"/>
            </a:avLst>
          </a:prstGeom>
          <a:gradFill>
            <a:gsLst>
              <a:gs pos="100000">
                <a:srgbClr val="0042FF"/>
              </a:gs>
              <a:gs pos="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lIns="277615" tIns="115887" rIns="163548" bIns="115888" rtlCol="0" anchor="ctr">
            <a:noAutofit/>
          </a:bodyPr>
          <a:lstStyle/>
          <a:p>
            <a:pPr algn="ctr">
              <a:defRPr>
                <a:solidFill>
                  <a:srgbClr val="FFFFFF"/>
                </a:solidFill>
                <a:latin typeface="微软雅黑"/>
                <a:ea typeface="微软雅黑"/>
                <a:cs typeface="微软雅黑"/>
              </a:defRPr>
            </a:pPr>
            <a:endParaRPr lang="zh-CN" altLang="en-US" sz="1600" b="1" dirty="0">
              <a:solidFill>
                <a:srgbClr val="FFFFFF"/>
              </a:solidFill>
              <a:latin typeface="微软雅黑"/>
              <a:ea typeface="微软雅黑"/>
              <a:cs typeface="微软雅黑"/>
            </a:endParaRPr>
          </a:p>
        </p:txBody>
      </p:sp>
      <p:sp>
        <p:nvSpPr>
          <p:cNvPr id="9" name="文本框 8"/>
          <p:cNvSpPr txBox="1"/>
          <p:nvPr>
            <p:custDataLst>
              <p:tags r:id="rId11"/>
            </p:custDataLst>
          </p:nvPr>
        </p:nvSpPr>
        <p:spPr>
          <a:xfrm>
            <a:off x="967105" y="3568700"/>
            <a:ext cx="1393190" cy="414020"/>
          </a:xfrm>
          <a:prstGeom prst="rect">
            <a:avLst/>
          </a:prstGeom>
          <a:noFill/>
        </p:spPr>
        <p:txBody>
          <a:bodyPr wrap="square" rtlCol="0">
            <a:spAutoFit/>
          </a:bodyPr>
          <a:lstStyle/>
          <a:p>
            <a:pPr algn="just">
              <a:lnSpc>
                <a:spcPct val="150000"/>
              </a:lnSpc>
              <a:defRPr>
                <a:solidFill>
                  <a:srgbClr val="FFFFFF"/>
                </a:solidFill>
                <a:latin typeface="微软雅黑"/>
                <a:ea typeface="微软雅黑"/>
                <a:cs typeface="微软雅黑"/>
              </a:defRPr>
            </a:pPr>
            <a:r>
              <a:rPr kumimoji="1" lang="en-US" sz="1400" b="1" dirty="0">
                <a:solidFill>
                  <a:srgbClr val="FFFFFF"/>
                </a:solidFill>
                <a:latin typeface="微软雅黑"/>
                <a:ea typeface="微软雅黑"/>
                <a:cs typeface="微软雅黑"/>
              </a:rPr>
              <a:t>2026</a:t>
            </a:r>
            <a:r>
              <a:rPr kumimoji="1" lang="zh-CN" altLang="en-US" sz="1400" b="1" dirty="0">
                <a:solidFill>
                  <a:srgbClr val="FFFFFF"/>
                </a:solidFill>
                <a:latin typeface="微软雅黑"/>
                <a:ea typeface="微软雅黑"/>
                <a:cs typeface="微软雅黑"/>
              </a:rPr>
              <a:t>年</a:t>
            </a:r>
            <a:r>
              <a:rPr kumimoji="1" lang="en-US" altLang="zh-CN" sz="1400" b="1" dirty="0">
                <a:solidFill>
                  <a:srgbClr val="FFFFFF"/>
                </a:solidFill>
                <a:latin typeface="微软雅黑"/>
                <a:ea typeface="微软雅黑"/>
                <a:cs typeface="微软雅黑"/>
              </a:rPr>
              <a:t>1-2</a:t>
            </a:r>
            <a:r>
              <a:rPr kumimoji="1" lang="zh-CN" altLang="en-US" sz="1400" b="1" dirty="0">
                <a:solidFill>
                  <a:srgbClr val="FFFFFF"/>
                </a:solidFill>
                <a:latin typeface="微软雅黑"/>
                <a:ea typeface="微软雅黑"/>
                <a:cs typeface="微软雅黑"/>
              </a:rPr>
              <a:t>月</a:t>
            </a:r>
            <a:endParaRPr kumimoji="1" lang="zh-CN" altLang="en-US" sz="1400" b="1" cap="all" dirty="0">
              <a:solidFill>
                <a:srgbClr val="FFFFFF"/>
              </a:solidFill>
              <a:latin typeface="微软雅黑"/>
              <a:ea typeface="微软雅黑"/>
              <a:cs typeface="微软雅黑"/>
            </a:endParaRPr>
          </a:p>
        </p:txBody>
      </p:sp>
      <p:sp>
        <p:nvSpPr>
          <p:cNvPr id="14" name="文本框 13"/>
          <p:cNvSpPr txBox="1"/>
          <p:nvPr>
            <p:custDataLst>
              <p:tags r:id="rId12"/>
            </p:custDataLst>
          </p:nvPr>
        </p:nvSpPr>
        <p:spPr>
          <a:xfrm>
            <a:off x="2705735" y="3568700"/>
            <a:ext cx="1393190" cy="414020"/>
          </a:xfrm>
          <a:prstGeom prst="rect">
            <a:avLst/>
          </a:prstGeom>
          <a:noFill/>
        </p:spPr>
        <p:txBody>
          <a:bodyPr wrap="square" rtlCol="0">
            <a:spAutoFit/>
          </a:bodyPr>
          <a:lstStyle/>
          <a:p>
            <a:pPr algn="just">
              <a:lnSpc>
                <a:spcPct val="150000"/>
              </a:lnSpc>
              <a:defRPr>
                <a:latin typeface="微软雅黑"/>
                <a:ea typeface="微软雅黑"/>
                <a:cs typeface="微软雅黑"/>
              </a:defRPr>
            </a:pPr>
            <a:r>
              <a:rPr kumimoji="1" lang="en-US" sz="1400" b="1" dirty="0">
                <a:solidFill>
                  <a:srgbClr val="383838"/>
                </a:solidFill>
                <a:latin typeface="微软雅黑"/>
                <a:ea typeface="微软雅黑"/>
                <a:cs typeface="微软雅黑"/>
              </a:rPr>
              <a:t>2026</a:t>
            </a:r>
            <a:r>
              <a:rPr kumimoji="1" lang="zh-CN" altLang="en-US" sz="1400" b="1" dirty="0">
                <a:solidFill>
                  <a:srgbClr val="383838"/>
                </a:solidFill>
                <a:latin typeface="微软雅黑"/>
                <a:ea typeface="微软雅黑"/>
                <a:cs typeface="微软雅黑"/>
              </a:rPr>
              <a:t>年</a:t>
            </a:r>
            <a:r>
              <a:rPr kumimoji="1" lang="en-US" altLang="zh-CN" sz="1400" b="1" dirty="0">
                <a:solidFill>
                  <a:srgbClr val="383838"/>
                </a:solidFill>
                <a:latin typeface="微软雅黑"/>
                <a:ea typeface="微软雅黑"/>
                <a:cs typeface="微软雅黑"/>
              </a:rPr>
              <a:t>3</a:t>
            </a:r>
            <a:r>
              <a:rPr kumimoji="1" lang="en-US" altLang="zh-CN" sz="1400" b="1" dirty="0">
                <a:solidFill>
                  <a:srgbClr val="383838"/>
                </a:solidFill>
                <a:latin typeface="微软雅黑"/>
                <a:ea typeface="微软雅黑"/>
                <a:cs typeface="微软雅黑"/>
              </a:rPr>
              <a:t>-4</a:t>
            </a:r>
            <a:r>
              <a:rPr kumimoji="1" lang="zh-CN" altLang="en-US" sz="1400" b="1" dirty="0">
                <a:solidFill>
                  <a:srgbClr val="383838"/>
                </a:solidFill>
                <a:latin typeface="微软雅黑"/>
                <a:ea typeface="微软雅黑"/>
                <a:cs typeface="微软雅黑"/>
              </a:rPr>
              <a:t>月</a:t>
            </a:r>
            <a:endParaRPr kumimoji="1" lang="zh-CN" altLang="en-US" sz="1400" b="1" cap="all" dirty="0">
              <a:solidFill>
                <a:srgbClr val="383838"/>
              </a:solidFill>
              <a:latin typeface="微软雅黑"/>
              <a:ea typeface="微软雅黑"/>
              <a:cs typeface="微软雅黑"/>
            </a:endParaRPr>
          </a:p>
        </p:txBody>
      </p:sp>
      <p:sp>
        <p:nvSpPr>
          <p:cNvPr id="15" name="文本框 14"/>
          <p:cNvSpPr txBox="1"/>
          <p:nvPr>
            <p:custDataLst>
              <p:tags r:id="rId13"/>
            </p:custDataLst>
          </p:nvPr>
        </p:nvSpPr>
        <p:spPr>
          <a:xfrm>
            <a:off x="4571365" y="3578225"/>
            <a:ext cx="1393190" cy="414020"/>
          </a:xfrm>
          <a:prstGeom prst="rect">
            <a:avLst/>
          </a:prstGeom>
          <a:noFill/>
        </p:spPr>
        <p:txBody>
          <a:bodyPr wrap="square" rtlCol="0">
            <a:spAutoFit/>
          </a:bodyPr>
          <a:lstStyle/>
          <a:p>
            <a:pPr algn="just">
              <a:lnSpc>
                <a:spcPct val="150000"/>
              </a:lnSpc>
              <a:defRPr>
                <a:solidFill>
                  <a:srgbClr val="FFFFFF"/>
                </a:solidFill>
                <a:latin typeface="微软雅黑"/>
                <a:ea typeface="微软雅黑"/>
                <a:cs typeface="微软雅黑"/>
              </a:defRPr>
            </a:pPr>
            <a:r>
              <a:rPr kumimoji="1" lang="en-US" sz="1400" b="1" dirty="0">
                <a:solidFill>
                  <a:srgbClr val="FFFFFF"/>
                </a:solidFill>
                <a:latin typeface="微软雅黑"/>
                <a:ea typeface="微软雅黑"/>
                <a:cs typeface="微软雅黑"/>
              </a:rPr>
              <a:t>2026</a:t>
            </a:r>
            <a:r>
              <a:rPr kumimoji="1" lang="zh-CN" altLang="en-US" sz="1400" b="1" dirty="0">
                <a:solidFill>
                  <a:srgbClr val="FFFFFF"/>
                </a:solidFill>
                <a:latin typeface="微软雅黑"/>
                <a:ea typeface="微软雅黑"/>
                <a:cs typeface="微软雅黑"/>
              </a:rPr>
              <a:t>年</a:t>
            </a:r>
            <a:r>
              <a:rPr kumimoji="1" lang="en-US" altLang="zh-CN" sz="1400" b="1" dirty="0">
                <a:solidFill>
                  <a:srgbClr val="FFFFFF"/>
                </a:solidFill>
                <a:latin typeface="微软雅黑"/>
                <a:ea typeface="微软雅黑"/>
                <a:cs typeface="微软雅黑"/>
              </a:rPr>
              <a:t>5</a:t>
            </a:r>
            <a:r>
              <a:rPr kumimoji="1" lang="en-US" altLang="zh-CN" sz="1400" b="1" dirty="0">
                <a:solidFill>
                  <a:srgbClr val="FFFFFF"/>
                </a:solidFill>
                <a:latin typeface="微软雅黑"/>
                <a:ea typeface="微软雅黑"/>
                <a:cs typeface="微软雅黑"/>
              </a:rPr>
              <a:t>-6</a:t>
            </a:r>
            <a:r>
              <a:rPr kumimoji="1" lang="zh-CN" altLang="en-US" sz="1400" b="1" dirty="0">
                <a:solidFill>
                  <a:srgbClr val="FFFFFF"/>
                </a:solidFill>
                <a:latin typeface="微软雅黑"/>
                <a:ea typeface="微软雅黑"/>
                <a:cs typeface="微软雅黑"/>
              </a:rPr>
              <a:t>月</a:t>
            </a:r>
            <a:endParaRPr kumimoji="1" lang="zh-CN" altLang="en-US" sz="1400" b="1" cap="all" dirty="0">
              <a:solidFill>
                <a:srgbClr val="FFFFFF"/>
              </a:solidFill>
              <a:latin typeface="微软雅黑"/>
              <a:ea typeface="微软雅黑"/>
              <a:cs typeface="微软雅黑"/>
            </a:endParaRPr>
          </a:p>
        </p:txBody>
      </p:sp>
      <p:sp>
        <p:nvSpPr>
          <p:cNvPr id="19" name="文本框 18"/>
          <p:cNvSpPr txBox="1"/>
          <p:nvPr>
            <p:custDataLst>
              <p:tags r:id="rId14"/>
            </p:custDataLst>
          </p:nvPr>
        </p:nvSpPr>
        <p:spPr>
          <a:xfrm>
            <a:off x="6309995" y="3578225"/>
            <a:ext cx="1393190" cy="414020"/>
          </a:xfrm>
          <a:prstGeom prst="rect">
            <a:avLst/>
          </a:prstGeom>
          <a:noFill/>
        </p:spPr>
        <p:txBody>
          <a:bodyPr wrap="square" rtlCol="0">
            <a:spAutoFit/>
          </a:bodyPr>
          <a:lstStyle/>
          <a:p>
            <a:pPr algn="just">
              <a:lnSpc>
                <a:spcPct val="150000"/>
              </a:lnSpc>
              <a:defRPr>
                <a:latin typeface="微软雅黑"/>
                <a:ea typeface="微软雅黑"/>
                <a:cs typeface="微软雅黑"/>
              </a:defRPr>
            </a:pPr>
            <a:r>
              <a:rPr kumimoji="1" lang="en-US" sz="1400" b="1" dirty="0">
                <a:solidFill>
                  <a:srgbClr val="383838"/>
                </a:solidFill>
                <a:latin typeface="微软雅黑"/>
                <a:ea typeface="微软雅黑"/>
                <a:cs typeface="微软雅黑"/>
              </a:rPr>
              <a:t>2026</a:t>
            </a:r>
            <a:r>
              <a:rPr kumimoji="1" lang="zh-CN" altLang="en-US" sz="1400" b="1" dirty="0">
                <a:solidFill>
                  <a:srgbClr val="383838"/>
                </a:solidFill>
                <a:latin typeface="微软雅黑"/>
                <a:ea typeface="微软雅黑"/>
                <a:cs typeface="微软雅黑"/>
              </a:rPr>
              <a:t>年</a:t>
            </a:r>
            <a:r>
              <a:rPr kumimoji="1" lang="en-US" altLang="zh-CN" sz="1400" b="1" dirty="0">
                <a:solidFill>
                  <a:srgbClr val="383838"/>
                </a:solidFill>
                <a:latin typeface="微软雅黑"/>
                <a:ea typeface="微软雅黑"/>
                <a:cs typeface="微软雅黑"/>
              </a:rPr>
              <a:t>7</a:t>
            </a:r>
            <a:r>
              <a:rPr kumimoji="1" lang="en-US" altLang="zh-CN" sz="1400" b="1" dirty="0">
                <a:solidFill>
                  <a:srgbClr val="383838"/>
                </a:solidFill>
                <a:latin typeface="微软雅黑"/>
                <a:ea typeface="微软雅黑"/>
                <a:cs typeface="微软雅黑"/>
              </a:rPr>
              <a:t>-8</a:t>
            </a:r>
            <a:r>
              <a:rPr kumimoji="1" lang="zh-CN" altLang="en-US" sz="1400" b="1" dirty="0">
                <a:solidFill>
                  <a:srgbClr val="383838"/>
                </a:solidFill>
                <a:latin typeface="微软雅黑"/>
                <a:ea typeface="微软雅黑"/>
                <a:cs typeface="微软雅黑"/>
              </a:rPr>
              <a:t>月</a:t>
            </a:r>
            <a:endParaRPr kumimoji="1" lang="zh-CN" altLang="en-US" sz="1400" b="1" cap="all" dirty="0">
              <a:solidFill>
                <a:srgbClr val="383838"/>
              </a:solidFill>
              <a:latin typeface="微软雅黑"/>
              <a:ea typeface="微软雅黑"/>
              <a:cs typeface="微软雅黑"/>
            </a:endParaRPr>
          </a:p>
        </p:txBody>
      </p:sp>
      <p:sp>
        <p:nvSpPr>
          <p:cNvPr id="22" name="文本框 21"/>
          <p:cNvSpPr txBox="1"/>
          <p:nvPr>
            <p:custDataLst>
              <p:tags r:id="rId15"/>
            </p:custDataLst>
          </p:nvPr>
        </p:nvSpPr>
        <p:spPr>
          <a:xfrm>
            <a:off x="8098790" y="3568700"/>
            <a:ext cx="1393190" cy="414020"/>
          </a:xfrm>
          <a:prstGeom prst="rect">
            <a:avLst/>
          </a:prstGeom>
          <a:noFill/>
        </p:spPr>
        <p:txBody>
          <a:bodyPr wrap="square" rtlCol="0">
            <a:spAutoFit/>
          </a:bodyPr>
          <a:lstStyle/>
          <a:p>
            <a:pPr algn="just">
              <a:lnSpc>
                <a:spcPct val="150000"/>
              </a:lnSpc>
              <a:defRPr>
                <a:solidFill>
                  <a:srgbClr val="FFFFFF"/>
                </a:solidFill>
                <a:latin typeface="微软雅黑"/>
                <a:ea typeface="微软雅黑"/>
                <a:cs typeface="微软雅黑"/>
              </a:defRPr>
            </a:pPr>
            <a:r>
              <a:rPr kumimoji="1" lang="en-US" sz="1400" b="1" dirty="0">
                <a:solidFill>
                  <a:srgbClr val="FFFFFF"/>
                </a:solidFill>
                <a:latin typeface="微软雅黑"/>
                <a:ea typeface="微软雅黑"/>
                <a:cs typeface="微软雅黑"/>
              </a:rPr>
              <a:t>2026</a:t>
            </a:r>
            <a:r>
              <a:rPr kumimoji="1" lang="zh-CN" altLang="en-US" sz="1400" b="1" dirty="0">
                <a:solidFill>
                  <a:srgbClr val="FFFFFF"/>
                </a:solidFill>
                <a:latin typeface="微软雅黑"/>
                <a:ea typeface="微软雅黑"/>
                <a:cs typeface="微软雅黑"/>
              </a:rPr>
              <a:t>年</a:t>
            </a:r>
            <a:r>
              <a:rPr kumimoji="1" lang="en-US" altLang="zh-CN" sz="1400" b="1" dirty="0">
                <a:solidFill>
                  <a:srgbClr val="FFFFFF"/>
                </a:solidFill>
                <a:latin typeface="微软雅黑"/>
                <a:ea typeface="微软雅黑"/>
                <a:cs typeface="微软雅黑"/>
              </a:rPr>
              <a:t>9</a:t>
            </a:r>
            <a:r>
              <a:rPr kumimoji="1" lang="en-US" altLang="zh-CN" sz="1400" b="1" dirty="0">
                <a:solidFill>
                  <a:srgbClr val="FFFFFF"/>
                </a:solidFill>
                <a:latin typeface="微软雅黑"/>
                <a:ea typeface="微软雅黑"/>
                <a:cs typeface="微软雅黑"/>
              </a:rPr>
              <a:t>-10</a:t>
            </a:r>
            <a:r>
              <a:rPr kumimoji="1" lang="zh-CN" altLang="en-US" sz="1400" b="1" dirty="0">
                <a:solidFill>
                  <a:srgbClr val="FFFFFF"/>
                </a:solidFill>
                <a:latin typeface="微软雅黑"/>
                <a:ea typeface="微软雅黑"/>
                <a:cs typeface="微软雅黑"/>
              </a:rPr>
              <a:t>月</a:t>
            </a:r>
            <a:endParaRPr kumimoji="1" lang="zh-CN" altLang="en-US" sz="1400" b="1" cap="all" dirty="0">
              <a:solidFill>
                <a:srgbClr val="FFFFFF"/>
              </a:solidFill>
              <a:latin typeface="微软雅黑"/>
              <a:ea typeface="微软雅黑"/>
              <a:cs typeface="微软雅黑"/>
            </a:endParaRPr>
          </a:p>
        </p:txBody>
      </p:sp>
      <p:sp>
        <p:nvSpPr>
          <p:cNvPr id="23" name="文本框 22"/>
          <p:cNvSpPr txBox="1"/>
          <p:nvPr>
            <p:custDataLst>
              <p:tags r:id="rId16"/>
            </p:custDataLst>
          </p:nvPr>
        </p:nvSpPr>
        <p:spPr>
          <a:xfrm>
            <a:off x="9837420" y="3568700"/>
            <a:ext cx="1541780" cy="414020"/>
          </a:xfrm>
          <a:prstGeom prst="rect">
            <a:avLst/>
          </a:prstGeom>
          <a:noFill/>
        </p:spPr>
        <p:txBody>
          <a:bodyPr wrap="square" rtlCol="0">
            <a:spAutoFit/>
          </a:bodyPr>
          <a:lstStyle/>
          <a:p>
            <a:pPr algn="just">
              <a:lnSpc>
                <a:spcPct val="150000"/>
              </a:lnSpc>
              <a:defRPr>
                <a:latin typeface="微软雅黑"/>
                <a:ea typeface="微软雅黑"/>
                <a:cs typeface="微软雅黑"/>
              </a:defRPr>
            </a:pPr>
            <a:r>
              <a:rPr kumimoji="1" lang="en-US" sz="1400" b="1" dirty="0">
                <a:solidFill>
                  <a:srgbClr val="383838"/>
                </a:solidFill>
                <a:latin typeface="微软雅黑"/>
                <a:ea typeface="微软雅黑"/>
                <a:cs typeface="微软雅黑"/>
              </a:rPr>
              <a:t>2026</a:t>
            </a:r>
            <a:r>
              <a:rPr kumimoji="1" lang="zh-CN" altLang="en-US" sz="1400" b="1" dirty="0">
                <a:solidFill>
                  <a:srgbClr val="383838"/>
                </a:solidFill>
                <a:latin typeface="微软雅黑"/>
                <a:ea typeface="微软雅黑"/>
                <a:cs typeface="微软雅黑"/>
              </a:rPr>
              <a:t>年</a:t>
            </a:r>
            <a:r>
              <a:rPr kumimoji="1" lang="en-US" altLang="zh-CN" sz="1400" b="1" dirty="0">
                <a:solidFill>
                  <a:srgbClr val="383838"/>
                </a:solidFill>
                <a:latin typeface="微软雅黑"/>
                <a:ea typeface="微软雅黑"/>
                <a:cs typeface="微软雅黑"/>
              </a:rPr>
              <a:t>11</a:t>
            </a:r>
            <a:r>
              <a:rPr kumimoji="1" lang="en-US" altLang="zh-CN" sz="1400" b="1" dirty="0">
                <a:solidFill>
                  <a:srgbClr val="383838"/>
                </a:solidFill>
                <a:latin typeface="微软雅黑"/>
                <a:ea typeface="微软雅黑"/>
                <a:cs typeface="微软雅黑"/>
              </a:rPr>
              <a:t>-12</a:t>
            </a:r>
            <a:r>
              <a:rPr kumimoji="1" lang="zh-CN" altLang="en-US" sz="1400" b="1" dirty="0">
                <a:solidFill>
                  <a:srgbClr val="383838"/>
                </a:solidFill>
                <a:latin typeface="微软雅黑"/>
                <a:ea typeface="微软雅黑"/>
                <a:cs typeface="微软雅黑"/>
              </a:rPr>
              <a:t>月</a:t>
            </a:r>
            <a:endParaRPr kumimoji="1" lang="zh-CN" altLang="en-US" sz="1400" b="1" cap="all" dirty="0">
              <a:solidFill>
                <a:srgbClr val="383838"/>
              </a:solidFill>
              <a:latin typeface="微软雅黑"/>
              <a:ea typeface="微软雅黑"/>
              <a:cs typeface="微软雅黑"/>
            </a:endParaRPr>
          </a:p>
        </p:txBody>
      </p:sp>
      <p:sp>
        <p:nvSpPr>
          <p:cNvPr id="26" name="任意形状 47"/>
          <p:cNvSpPr/>
          <p:nvPr>
            <p:custDataLst>
              <p:tags r:id="rId17"/>
            </p:custDataLst>
          </p:nvPr>
        </p:nvSpPr>
        <p:spPr>
          <a:xfrm flipH="1">
            <a:off x="7315057" y="4168926"/>
            <a:ext cx="48074" cy="2159679"/>
          </a:xfrm>
          <a:custGeom>
            <a:avLst/>
            <a:gdLst>
              <a:gd name="connsiteX0" fmla="*/ 0 w 7620"/>
              <a:gd name="connsiteY0" fmla="*/ 2149602 h 2149602"/>
              <a:gd name="connsiteX1" fmla="*/ 0 w 7620"/>
              <a:gd name="connsiteY1" fmla="*/ 0 h 2149602"/>
            </a:gdLst>
            <a:ahLst/>
            <a:cxnLst>
              <a:cxn ang="0">
                <a:pos x="connsiteX0" y="connsiteY0"/>
              </a:cxn>
              <a:cxn ang="0">
                <a:pos x="connsiteX1" y="connsiteY1"/>
              </a:cxn>
            </a:cxnLst>
            <a:rect l="l" t="t" r="r" b="b"/>
            <a:pathLst>
              <a:path w="7620" h="2149602">
                <a:moveTo>
                  <a:pt x="0" y="2149602"/>
                </a:moveTo>
                <a:lnTo>
                  <a:pt x="0" y="0"/>
                </a:lnTo>
              </a:path>
            </a:pathLst>
          </a:custGeom>
          <a:ln w="15875" cap="flat">
            <a:solidFill>
              <a:srgbClr val="DCDCDC"/>
            </a:solidFill>
            <a:prstDash val="dash"/>
            <a:miter/>
            <a:tailEnd type="oval" w="lg" len="lg"/>
          </a:ln>
        </p:spPr>
        <p:txBody>
          <a:bodyPr rtlCol="0" anchor="ctr"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31" name="任意形状 17"/>
          <p:cNvSpPr/>
          <p:nvPr>
            <p:custDataLst>
              <p:tags r:id="rId18"/>
            </p:custDataLst>
          </p:nvPr>
        </p:nvSpPr>
        <p:spPr>
          <a:xfrm flipH="1">
            <a:off x="5031233" y="1344278"/>
            <a:ext cx="45719" cy="2160000"/>
          </a:xfrm>
          <a:custGeom>
            <a:avLst/>
            <a:gdLst>
              <a:gd name="connsiteX0" fmla="*/ 0 w 7620"/>
              <a:gd name="connsiteY0" fmla="*/ 2149602 h 2149602"/>
              <a:gd name="connsiteX1" fmla="*/ 0 w 7620"/>
              <a:gd name="connsiteY1" fmla="*/ 0 h 2149602"/>
            </a:gdLst>
            <a:ahLst/>
            <a:cxnLst>
              <a:cxn ang="0">
                <a:pos x="connsiteX0" y="connsiteY0"/>
              </a:cxn>
              <a:cxn ang="0">
                <a:pos x="connsiteX1" y="connsiteY1"/>
              </a:cxn>
            </a:cxnLst>
            <a:rect l="l" t="t" r="r" b="b"/>
            <a:pathLst>
              <a:path w="7620" h="2149602">
                <a:moveTo>
                  <a:pt x="0" y="2149602"/>
                </a:moveTo>
                <a:lnTo>
                  <a:pt x="0" y="0"/>
                </a:lnTo>
              </a:path>
            </a:pathLst>
          </a:custGeom>
          <a:ln w="15875" cap="flat">
            <a:solidFill>
              <a:srgbClr val="DCDCDC"/>
            </a:solidFill>
            <a:prstDash val="dash"/>
            <a:miter/>
            <a:tailEnd type="oval" w="lg" len="lg"/>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35" name="任意形状 17"/>
          <p:cNvSpPr/>
          <p:nvPr>
            <p:custDataLst>
              <p:tags r:id="rId19"/>
            </p:custDataLst>
          </p:nvPr>
        </p:nvSpPr>
        <p:spPr>
          <a:xfrm flipH="1">
            <a:off x="8421498" y="1330943"/>
            <a:ext cx="45719" cy="2160000"/>
          </a:xfrm>
          <a:custGeom>
            <a:avLst/>
            <a:gdLst>
              <a:gd name="connsiteX0" fmla="*/ 0 w 7620"/>
              <a:gd name="connsiteY0" fmla="*/ 2149602 h 2149602"/>
              <a:gd name="connsiteX1" fmla="*/ 0 w 7620"/>
              <a:gd name="connsiteY1" fmla="*/ 0 h 2149602"/>
            </a:gdLst>
            <a:ahLst/>
            <a:cxnLst>
              <a:cxn ang="0">
                <a:pos x="connsiteX0" y="connsiteY0"/>
              </a:cxn>
              <a:cxn ang="0">
                <a:pos x="connsiteX1" y="connsiteY1"/>
              </a:cxn>
            </a:cxnLst>
            <a:rect l="l" t="t" r="r" b="b"/>
            <a:pathLst>
              <a:path w="7620" h="2149602">
                <a:moveTo>
                  <a:pt x="0" y="2149602"/>
                </a:moveTo>
                <a:lnTo>
                  <a:pt x="0" y="0"/>
                </a:lnTo>
              </a:path>
            </a:pathLst>
          </a:custGeom>
          <a:ln w="15875" cap="flat">
            <a:solidFill>
              <a:srgbClr val="DCDCDC"/>
            </a:solidFill>
            <a:prstDash val="dash"/>
            <a:miter/>
            <a:tailEnd type="oval" w="lg" len="lg"/>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39" name="任意形状 47"/>
          <p:cNvSpPr/>
          <p:nvPr>
            <p:custDataLst>
              <p:tags r:id="rId20"/>
            </p:custDataLst>
          </p:nvPr>
        </p:nvSpPr>
        <p:spPr>
          <a:xfrm flipH="1">
            <a:off x="10784697" y="4168926"/>
            <a:ext cx="48074" cy="2159679"/>
          </a:xfrm>
          <a:custGeom>
            <a:avLst/>
            <a:gdLst>
              <a:gd name="connsiteX0" fmla="*/ 0 w 7620"/>
              <a:gd name="connsiteY0" fmla="*/ 2149602 h 2149602"/>
              <a:gd name="connsiteX1" fmla="*/ 0 w 7620"/>
              <a:gd name="connsiteY1" fmla="*/ 0 h 2149602"/>
            </a:gdLst>
            <a:ahLst/>
            <a:cxnLst>
              <a:cxn ang="0">
                <a:pos x="connsiteX0" y="connsiteY0"/>
              </a:cxn>
              <a:cxn ang="0">
                <a:pos x="connsiteX1" y="connsiteY1"/>
              </a:cxn>
            </a:cxnLst>
            <a:rect l="l" t="t" r="r" b="b"/>
            <a:pathLst>
              <a:path w="7620" h="2149602">
                <a:moveTo>
                  <a:pt x="0" y="2149602"/>
                </a:moveTo>
                <a:lnTo>
                  <a:pt x="0" y="0"/>
                </a:lnTo>
              </a:path>
            </a:pathLst>
          </a:custGeom>
          <a:ln w="15875" cap="flat">
            <a:solidFill>
              <a:srgbClr val="DCDCDC"/>
            </a:solidFill>
            <a:prstDash val="dash"/>
            <a:miter/>
            <a:tailEnd type="oval" w="lg" len="lg"/>
          </a:ln>
        </p:spPr>
        <p:txBody>
          <a:bodyPr rtlCol="0" anchor="ctr"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grpSp>
        <p:nvGrpSpPr>
          <p:cNvPr id="43" name="组合 42"/>
          <p:cNvGrpSpPr/>
          <p:nvPr/>
        </p:nvGrpSpPr>
        <p:grpSpPr>
          <a:xfrm>
            <a:off x="759460" y="4472940"/>
            <a:ext cx="2554605" cy="2002790"/>
            <a:chOff x="1196" y="7060"/>
            <a:chExt cx="4023" cy="3154"/>
          </a:xfrm>
        </p:grpSpPr>
        <p:sp>
          <p:nvSpPr>
            <p:cNvPr id="6" name="任意形状 29"/>
            <p:cNvSpPr/>
            <p:nvPr>
              <p:custDataLst>
                <p:tags r:id="rId21"/>
              </p:custDataLst>
            </p:nvPr>
          </p:nvSpPr>
          <p:spPr>
            <a:xfrm>
              <a:off x="1196" y="9554"/>
              <a:ext cx="4022" cy="661"/>
            </a:xfrm>
            <a:custGeom>
              <a:avLst/>
              <a:gdLst>
                <a:gd name="connsiteX0" fmla="*/ 0 w 2554223"/>
                <a:gd name="connsiteY0" fmla="*/ 0 h 311657"/>
                <a:gd name="connsiteX1" fmla="*/ 2554224 w 2554223"/>
                <a:gd name="connsiteY1" fmla="*/ 0 h 311657"/>
                <a:gd name="connsiteX2" fmla="*/ 2554224 w 2554223"/>
                <a:gd name="connsiteY2" fmla="*/ 311658 h 311657"/>
                <a:gd name="connsiteX3" fmla="*/ 0 w 2554223"/>
                <a:gd name="connsiteY3" fmla="*/ 311658 h 311657"/>
              </a:gdLst>
              <a:ahLst/>
              <a:cxnLst>
                <a:cxn ang="0">
                  <a:pos x="connsiteX0" y="connsiteY0"/>
                </a:cxn>
                <a:cxn ang="0">
                  <a:pos x="connsiteX1" y="connsiteY1"/>
                </a:cxn>
                <a:cxn ang="0">
                  <a:pos x="connsiteX2" y="connsiteY2"/>
                </a:cxn>
                <a:cxn ang="0">
                  <a:pos x="connsiteX3" y="connsiteY3"/>
                </a:cxn>
              </a:cxnLst>
              <a:rect l="l" t="t" r="r" b="b"/>
              <a:pathLst>
                <a:path w="2554223" h="311657">
                  <a:moveTo>
                    <a:pt x="0" y="0"/>
                  </a:moveTo>
                  <a:lnTo>
                    <a:pt x="2554224" y="0"/>
                  </a:lnTo>
                  <a:lnTo>
                    <a:pt x="2554224" y="311658"/>
                  </a:lnTo>
                  <a:lnTo>
                    <a:pt x="0" y="311658"/>
                  </a:lnTo>
                  <a:close/>
                </a:path>
              </a:pathLst>
            </a:custGeom>
            <a:gradFill>
              <a:gsLst>
                <a:gs pos="100000">
                  <a:srgbClr val="3368FF"/>
                </a:gs>
                <a:gs pos="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b="1" dirty="0">
                  <a:solidFill>
                    <a:srgbClr val="383838"/>
                  </a:solidFill>
                  <a:latin typeface="微软雅黑"/>
                  <a:ea typeface="微软雅黑"/>
                  <a:cs typeface="微软雅黑"/>
                  <a:sym typeface="微软雅黑"/>
                </a:rPr>
                <a:t>② 基建优化期</a:t>
              </a:r>
              <a:endParaRPr lang="zh-CN" altLang="en-US" b="1" dirty="0">
                <a:solidFill>
                  <a:srgbClr val="383838"/>
                </a:solidFill>
                <a:latin typeface="微软雅黑"/>
                <a:ea typeface="微软雅黑"/>
                <a:cs typeface="微软雅黑"/>
                <a:sym typeface="微软雅黑"/>
              </a:endParaRPr>
            </a:p>
          </p:txBody>
        </p:sp>
        <p:sp>
          <p:nvSpPr>
            <p:cNvPr id="7" name="圆角矩形 6"/>
            <p:cNvSpPr/>
            <p:nvPr>
              <p:custDataLst>
                <p:tags r:id="rId22"/>
              </p:custDataLst>
            </p:nvPr>
          </p:nvSpPr>
          <p:spPr>
            <a:xfrm>
              <a:off x="1197" y="7060"/>
              <a:ext cx="4022" cy="2244"/>
            </a:xfrm>
            <a:prstGeom prst="roundRect">
              <a:avLst>
                <a:gd name="adj" fmla="val 5927"/>
              </a:avLst>
            </a:prstGeom>
            <a:solidFill>
              <a:srgbClr val="DCDCDC">
                <a:alpha val="20000"/>
              </a:srgbClr>
            </a:solidFill>
            <a:ln w="15875" cap="flat">
              <a:solidFill>
                <a:srgbClr val="DCDCDC"/>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1" name="文本框 10"/>
            <p:cNvSpPr txBox="1"/>
            <p:nvPr>
              <p:custDataLst>
                <p:tags r:id="rId23"/>
              </p:custDataLst>
            </p:nvPr>
          </p:nvSpPr>
          <p:spPr>
            <a:xfrm>
              <a:off x="1363" y="7179"/>
              <a:ext cx="3689" cy="2042"/>
            </a:xfrm>
            <a:prstGeom prst="rect">
              <a:avLst/>
            </a:prstGeom>
            <a:noFill/>
            <a:ln>
              <a:noFill/>
            </a:ln>
          </p:spPr>
          <p:txBody>
            <a:bodyPr wrap="square" rtlCol="0" lIns="0" rIns="0" tIns="0" bIns="0">
              <a:spAutoFit/>
            </a:bodyPr>
            <a:lstStyle/>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阶段目标：</a:t>
              </a:r>
              <a:r>
                <a:rPr lang="zh-CN" altLang="en-US" sz="1000" dirty="0">
                  <a:solidFill>
                    <a:srgbClr val="383838"/>
                  </a:solidFill>
                  <a:effectLst/>
                  <a:latin typeface="微软雅黑"/>
                  <a:ea typeface="微软雅黑"/>
                  <a:cs typeface="微软雅黑"/>
                </a:rPr>
                <a:t>完成用户标签清洗与自动化触达体系搭建，迭代核心功能，提升新用户留存。</a:t>
              </a:r>
              <a:endParaRPr lang="zh-CN" altLang="en-US" sz="1000" dirty="0">
                <a:solidFill>
                  <a:srgbClr val="383838"/>
                </a:solidFill>
                <a:effectLst/>
                <a:latin typeface="微软雅黑"/>
                <a:ea typeface="微软雅黑"/>
                <a:cs typeface="微软雅黑"/>
              </a:endParaRPr>
            </a:p>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完成情况：</a:t>
              </a:r>
              <a:r>
                <a:rPr lang="zh-CN" altLang="en-US" sz="1000" dirty="0">
                  <a:solidFill>
                    <a:srgbClr val="383838"/>
                  </a:solidFill>
                  <a:effectLst/>
                  <a:latin typeface="微软雅黑"/>
                  <a:ea typeface="微软雅黑"/>
                  <a:cs typeface="微软雅黑"/>
                </a:rPr>
                <a:t>激活沉默用户</a:t>
              </a:r>
              <a:r>
                <a:rPr lang="en-US" altLang="zh-CN" sz="1000" dirty="0">
                  <a:solidFill>
                    <a:srgbClr val="383838"/>
                  </a:solidFill>
                  <a:effectLst/>
                  <a:latin typeface="微软雅黑"/>
                  <a:ea typeface="微软雅黑"/>
                  <a:cs typeface="微软雅黑"/>
                </a:rPr>
                <a:t>200</a:t>
              </a:r>
              <a:r>
                <a:rPr lang="zh-CN" altLang="en-US" sz="1000" dirty="0">
                  <a:solidFill>
                    <a:srgbClr val="383838"/>
                  </a:solidFill>
                  <a:effectLst/>
                  <a:latin typeface="微软雅黑"/>
                  <a:ea typeface="微软雅黑"/>
                  <a:cs typeface="微软雅黑"/>
                </a:rPr>
                <a:t>万，新用户次日留存率从</a:t>
              </a:r>
              <a:r>
                <a:rPr lang="en-US" altLang="zh-CN" sz="1000" dirty="0">
                  <a:solidFill>
                    <a:srgbClr val="383838"/>
                  </a:solidFill>
                  <a:effectLst/>
                  <a:latin typeface="微软雅黑"/>
                  <a:ea typeface="微软雅黑"/>
                  <a:cs typeface="微软雅黑"/>
                </a:rPr>
                <a:t>40%</a:t>
              </a:r>
              <a:r>
                <a:rPr lang="zh-CN" altLang="en-US" sz="1000" dirty="0">
                  <a:solidFill>
                    <a:srgbClr val="383838"/>
                  </a:solidFill>
                  <a:effectLst/>
                  <a:latin typeface="微软雅黑"/>
                  <a:ea typeface="微软雅黑"/>
                  <a:cs typeface="微软雅黑"/>
                </a:rPr>
                <a:t>提升至</a:t>
              </a:r>
              <a:r>
                <a:rPr lang="en-US" altLang="zh-CN" sz="1000" dirty="0">
                  <a:solidFill>
                    <a:srgbClr val="383838"/>
                  </a:solidFill>
                  <a:effectLst/>
                  <a:latin typeface="微软雅黑"/>
                  <a:ea typeface="微软雅黑"/>
                  <a:cs typeface="微软雅黑"/>
                </a:rPr>
                <a:t>48%</a:t>
              </a:r>
              <a:r>
                <a:rPr lang="zh-CN" altLang="en-US" sz="1000" dirty="0">
                  <a:solidFill>
                    <a:srgbClr val="383838"/>
                  </a:solidFill>
                  <a:effectLst/>
                  <a:latin typeface="微软雅黑"/>
                  <a:ea typeface="微软雅黑"/>
                  <a:cs typeface="微软雅黑"/>
                </a:rPr>
                <a:t>；页面加载速度提升</a:t>
              </a:r>
              <a:r>
                <a:rPr lang="en-US" altLang="zh-CN" sz="1000" dirty="0">
                  <a:solidFill>
                    <a:srgbClr val="383838"/>
                  </a:solidFill>
                  <a:effectLst/>
                  <a:latin typeface="微软雅黑"/>
                  <a:ea typeface="微软雅黑"/>
                  <a:cs typeface="微软雅黑"/>
                </a:rPr>
                <a:t>15%</a:t>
              </a:r>
              <a:r>
                <a:rPr lang="zh-CN" altLang="en-US" sz="1000" dirty="0">
                  <a:solidFill>
                    <a:srgbClr val="383838"/>
                  </a:solidFill>
                  <a:effectLst/>
                  <a:latin typeface="微软雅黑"/>
                  <a:ea typeface="微软雅黑"/>
                  <a:cs typeface="微软雅黑"/>
                </a:rPr>
                <a:t>。</a:t>
              </a:r>
              <a:endParaRPr lang="zh-CN" altLang="en-US" sz="1000" dirty="0">
                <a:solidFill>
                  <a:srgbClr val="383838"/>
                </a:solidFill>
                <a:effectLst/>
                <a:latin typeface="微软雅黑"/>
                <a:ea typeface="微软雅黑"/>
                <a:cs typeface="微软雅黑"/>
              </a:endParaRPr>
            </a:p>
          </p:txBody>
        </p:sp>
      </p:grpSp>
      <p:grpSp>
        <p:nvGrpSpPr>
          <p:cNvPr id="47" name="组合 46"/>
          <p:cNvGrpSpPr/>
          <p:nvPr/>
        </p:nvGrpSpPr>
        <p:grpSpPr>
          <a:xfrm>
            <a:off x="4503420" y="4472940"/>
            <a:ext cx="2554605" cy="2002790"/>
            <a:chOff x="7092" y="7060"/>
            <a:chExt cx="4023" cy="3154"/>
          </a:xfrm>
        </p:grpSpPr>
        <p:sp>
          <p:nvSpPr>
            <p:cNvPr id="44" name="任意形状 29"/>
            <p:cNvSpPr/>
            <p:nvPr>
              <p:custDataLst>
                <p:tags r:id="rId24"/>
              </p:custDataLst>
            </p:nvPr>
          </p:nvSpPr>
          <p:spPr>
            <a:xfrm>
              <a:off x="7092" y="9554"/>
              <a:ext cx="4022" cy="661"/>
            </a:xfrm>
            <a:custGeom>
              <a:avLst/>
              <a:gdLst>
                <a:gd name="connsiteX0" fmla="*/ 0 w 2554223"/>
                <a:gd name="connsiteY0" fmla="*/ 0 h 311657"/>
                <a:gd name="connsiteX1" fmla="*/ 2554224 w 2554223"/>
                <a:gd name="connsiteY1" fmla="*/ 0 h 311657"/>
                <a:gd name="connsiteX2" fmla="*/ 2554224 w 2554223"/>
                <a:gd name="connsiteY2" fmla="*/ 311658 h 311657"/>
                <a:gd name="connsiteX3" fmla="*/ 0 w 2554223"/>
                <a:gd name="connsiteY3" fmla="*/ 311658 h 311657"/>
              </a:gdLst>
              <a:ahLst/>
              <a:cxnLst>
                <a:cxn ang="0">
                  <a:pos x="connsiteX0" y="connsiteY0"/>
                </a:cxn>
                <a:cxn ang="0">
                  <a:pos x="connsiteX1" y="connsiteY1"/>
                </a:cxn>
                <a:cxn ang="0">
                  <a:pos x="connsiteX2" y="connsiteY2"/>
                </a:cxn>
                <a:cxn ang="0">
                  <a:pos x="connsiteX3" y="connsiteY3"/>
                </a:cxn>
              </a:cxnLst>
              <a:rect l="l" t="t" r="r" b="b"/>
              <a:pathLst>
                <a:path w="2554223" h="311657">
                  <a:moveTo>
                    <a:pt x="0" y="0"/>
                  </a:moveTo>
                  <a:lnTo>
                    <a:pt x="2554224" y="0"/>
                  </a:lnTo>
                  <a:lnTo>
                    <a:pt x="2554224" y="311658"/>
                  </a:lnTo>
                  <a:lnTo>
                    <a:pt x="0" y="311658"/>
                  </a:lnTo>
                  <a:close/>
                </a:path>
              </a:pathLst>
            </a:custGeom>
            <a:gradFill>
              <a:gsLst>
                <a:gs pos="100000">
                  <a:srgbClr val="3368FF"/>
                </a:gs>
                <a:gs pos="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b="1" dirty="0">
                  <a:solidFill>
                    <a:srgbClr val="383838"/>
                  </a:solidFill>
                  <a:latin typeface="微软雅黑"/>
                  <a:ea typeface="微软雅黑"/>
                  <a:cs typeface="微软雅黑"/>
                  <a:sym typeface="微软雅黑"/>
                </a:rPr>
                <a:t>④ 精细运营期</a:t>
              </a:r>
              <a:endParaRPr lang="zh-CN" altLang="en-US" b="1" dirty="0">
                <a:solidFill>
                  <a:srgbClr val="383838"/>
                </a:solidFill>
                <a:latin typeface="微软雅黑"/>
                <a:ea typeface="微软雅黑"/>
                <a:cs typeface="微软雅黑"/>
                <a:sym typeface="微软雅黑"/>
              </a:endParaRPr>
            </a:p>
          </p:txBody>
        </p:sp>
        <p:sp>
          <p:nvSpPr>
            <p:cNvPr id="45" name="圆角矩形 44"/>
            <p:cNvSpPr/>
            <p:nvPr>
              <p:custDataLst>
                <p:tags r:id="rId25"/>
              </p:custDataLst>
            </p:nvPr>
          </p:nvSpPr>
          <p:spPr>
            <a:xfrm>
              <a:off x="7093" y="7060"/>
              <a:ext cx="4022" cy="2244"/>
            </a:xfrm>
            <a:prstGeom prst="roundRect">
              <a:avLst>
                <a:gd name="adj" fmla="val 5927"/>
              </a:avLst>
            </a:prstGeom>
            <a:solidFill>
              <a:srgbClr val="DCDCDC">
                <a:alpha val="20000"/>
              </a:srgbClr>
            </a:solidFill>
            <a:ln w="15875" cap="flat">
              <a:solidFill>
                <a:srgbClr val="DCDCDC"/>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6" name="文本框 45"/>
            <p:cNvSpPr txBox="1"/>
            <p:nvPr>
              <p:custDataLst>
                <p:tags r:id="rId26"/>
              </p:custDataLst>
            </p:nvPr>
          </p:nvSpPr>
          <p:spPr>
            <a:xfrm>
              <a:off x="7259" y="7179"/>
              <a:ext cx="3689" cy="2042"/>
            </a:xfrm>
            <a:prstGeom prst="rect">
              <a:avLst/>
            </a:prstGeom>
            <a:noFill/>
            <a:ln>
              <a:noFill/>
            </a:ln>
          </p:spPr>
          <p:txBody>
            <a:bodyPr wrap="square" rtlCol="0" lIns="0" rIns="0" tIns="0" bIns="0">
              <a:spAutoFit/>
            </a:bodyPr>
            <a:lstStyle/>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阶段目标：</a:t>
              </a:r>
              <a:r>
                <a:rPr lang="zh-CN" altLang="en-US" sz="1000" dirty="0">
                  <a:solidFill>
                    <a:srgbClr val="383838"/>
                  </a:solidFill>
                  <a:effectLst/>
                  <a:latin typeface="微软雅黑"/>
                  <a:ea typeface="微软雅黑"/>
                  <a:cs typeface="微软雅黑"/>
                </a:rPr>
                <a:t>沉淀上半年流量，通过</a:t>
              </a:r>
              <a:r>
                <a:rPr lang="en-US" altLang="zh-CN" sz="1000" dirty="0">
                  <a:solidFill>
                    <a:srgbClr val="383838"/>
                  </a:solidFill>
                  <a:effectLst/>
                  <a:latin typeface="微软雅黑"/>
                  <a:ea typeface="微软雅黑"/>
                  <a:cs typeface="微软雅黑"/>
                </a:rPr>
                <a:t>RFM</a:t>
              </a:r>
              <a:r>
                <a:rPr lang="zh-CN" altLang="en-US" sz="1000" dirty="0">
                  <a:solidFill>
                    <a:srgbClr val="383838"/>
                  </a:solidFill>
                  <a:effectLst/>
                  <a:latin typeface="微软雅黑"/>
                  <a:ea typeface="微软雅黑"/>
                  <a:cs typeface="微软雅黑"/>
                </a:rPr>
                <a:t>模型与用户成长体系，提升用户生命周期价值与留存。</a:t>
              </a:r>
              <a:endParaRPr lang="zh-CN" altLang="en-US" sz="1000" dirty="0">
                <a:solidFill>
                  <a:srgbClr val="383838"/>
                </a:solidFill>
                <a:effectLst/>
                <a:latin typeface="微软雅黑"/>
                <a:ea typeface="微软雅黑"/>
                <a:cs typeface="微软雅黑"/>
              </a:endParaRPr>
            </a:p>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完成情况：</a:t>
              </a:r>
              <a:r>
                <a:rPr lang="zh-CN" altLang="en-US" sz="1000" dirty="0">
                  <a:solidFill>
                    <a:srgbClr val="383838"/>
                  </a:solidFill>
                  <a:effectLst/>
                  <a:latin typeface="微软雅黑"/>
                  <a:ea typeface="微软雅黑"/>
                  <a:cs typeface="微软雅黑"/>
                </a:rPr>
                <a:t>高价值用户流失率降低</a:t>
              </a:r>
              <a:r>
                <a:rPr lang="en-US" altLang="zh-CN" sz="1000" dirty="0">
                  <a:solidFill>
                    <a:srgbClr val="383838"/>
                  </a:solidFill>
                  <a:effectLst/>
                  <a:latin typeface="微软雅黑"/>
                  <a:ea typeface="微软雅黑"/>
                  <a:cs typeface="微软雅黑"/>
                </a:rPr>
                <a:t>10%</a:t>
              </a:r>
              <a:r>
                <a:rPr lang="zh-CN" altLang="en-US" sz="1000" dirty="0">
                  <a:solidFill>
                    <a:srgbClr val="383838"/>
                  </a:solidFill>
                  <a:effectLst/>
                  <a:latin typeface="微软雅黑"/>
                  <a:ea typeface="微软雅黑"/>
                  <a:cs typeface="微软雅黑"/>
                </a:rPr>
                <a:t>，</a:t>
              </a:r>
              <a:r>
                <a:rPr lang="en-US" altLang="zh-CN" sz="1000" dirty="0">
                  <a:solidFill>
                    <a:srgbClr val="383838"/>
                  </a:solidFill>
                  <a:effectLst/>
                  <a:latin typeface="微软雅黑"/>
                  <a:ea typeface="微软雅黑"/>
                  <a:cs typeface="微软雅黑"/>
                </a:rPr>
                <a:t>MAU</a:t>
              </a:r>
              <a:r>
                <a:rPr lang="zh-CN" altLang="en-US" sz="1000" dirty="0">
                  <a:solidFill>
                    <a:srgbClr val="383838"/>
                  </a:solidFill>
                  <a:effectLst/>
                  <a:latin typeface="微软雅黑"/>
                  <a:ea typeface="微软雅黑"/>
                  <a:cs typeface="微软雅黑"/>
                </a:rPr>
                <a:t>环比稳定增长</a:t>
              </a:r>
              <a:r>
                <a:rPr lang="en-US" altLang="zh-CN" sz="1000" dirty="0">
                  <a:solidFill>
                    <a:srgbClr val="383838"/>
                  </a:solidFill>
                  <a:effectLst/>
                  <a:latin typeface="微软雅黑"/>
                  <a:ea typeface="微软雅黑"/>
                  <a:cs typeface="微软雅黑"/>
                </a:rPr>
                <a:t>5%</a:t>
              </a:r>
              <a:r>
                <a:rPr lang="zh-CN" altLang="en-US" sz="1000" dirty="0">
                  <a:solidFill>
                    <a:srgbClr val="383838"/>
                  </a:solidFill>
                  <a:effectLst/>
                  <a:latin typeface="微软雅黑"/>
                  <a:ea typeface="微软雅黑"/>
                  <a:cs typeface="微软雅黑"/>
                </a:rPr>
                <a:t>，用户使用时长提升至</a:t>
              </a:r>
              <a:r>
                <a:rPr lang="en-US" altLang="zh-CN" sz="1000" dirty="0">
                  <a:solidFill>
                    <a:srgbClr val="383838"/>
                  </a:solidFill>
                  <a:effectLst/>
                  <a:latin typeface="微软雅黑"/>
                  <a:ea typeface="微软雅黑"/>
                  <a:cs typeface="微软雅黑"/>
                </a:rPr>
                <a:t>22</a:t>
              </a:r>
              <a:r>
                <a:rPr lang="zh-CN" altLang="en-US" sz="1000" dirty="0">
                  <a:solidFill>
                    <a:srgbClr val="383838"/>
                  </a:solidFill>
                  <a:effectLst/>
                  <a:latin typeface="微软雅黑"/>
                  <a:ea typeface="微软雅黑"/>
                  <a:cs typeface="微软雅黑"/>
                </a:rPr>
                <a:t>分钟。</a:t>
              </a:r>
              <a:endParaRPr lang="zh-CN" altLang="en-US" sz="1000" dirty="0">
                <a:solidFill>
                  <a:srgbClr val="383838"/>
                </a:solidFill>
                <a:effectLst/>
                <a:latin typeface="微软雅黑"/>
                <a:ea typeface="微软雅黑"/>
                <a:cs typeface="微软雅黑"/>
              </a:endParaRPr>
            </a:p>
          </p:txBody>
        </p:sp>
      </p:grpSp>
      <p:grpSp>
        <p:nvGrpSpPr>
          <p:cNvPr id="51" name="组合 50"/>
          <p:cNvGrpSpPr/>
          <p:nvPr/>
        </p:nvGrpSpPr>
        <p:grpSpPr>
          <a:xfrm>
            <a:off x="7973060" y="4472940"/>
            <a:ext cx="2554605" cy="2002790"/>
            <a:chOff x="12556" y="7060"/>
            <a:chExt cx="4023" cy="3154"/>
          </a:xfrm>
        </p:grpSpPr>
        <p:sp>
          <p:nvSpPr>
            <p:cNvPr id="48" name="任意形状 29"/>
            <p:cNvSpPr/>
            <p:nvPr>
              <p:custDataLst>
                <p:tags r:id="rId27"/>
              </p:custDataLst>
            </p:nvPr>
          </p:nvSpPr>
          <p:spPr>
            <a:xfrm>
              <a:off x="12556" y="9554"/>
              <a:ext cx="4022" cy="661"/>
            </a:xfrm>
            <a:custGeom>
              <a:avLst/>
              <a:gdLst>
                <a:gd name="connsiteX0" fmla="*/ 0 w 2554223"/>
                <a:gd name="connsiteY0" fmla="*/ 0 h 311657"/>
                <a:gd name="connsiteX1" fmla="*/ 2554224 w 2554223"/>
                <a:gd name="connsiteY1" fmla="*/ 0 h 311657"/>
                <a:gd name="connsiteX2" fmla="*/ 2554224 w 2554223"/>
                <a:gd name="connsiteY2" fmla="*/ 311658 h 311657"/>
                <a:gd name="connsiteX3" fmla="*/ 0 w 2554223"/>
                <a:gd name="connsiteY3" fmla="*/ 311658 h 311657"/>
              </a:gdLst>
              <a:ahLst/>
              <a:cxnLst>
                <a:cxn ang="0">
                  <a:pos x="connsiteX0" y="connsiteY0"/>
                </a:cxn>
                <a:cxn ang="0">
                  <a:pos x="connsiteX1" y="connsiteY1"/>
                </a:cxn>
                <a:cxn ang="0">
                  <a:pos x="connsiteX2" y="connsiteY2"/>
                </a:cxn>
                <a:cxn ang="0">
                  <a:pos x="connsiteX3" y="connsiteY3"/>
                </a:cxn>
              </a:cxnLst>
              <a:rect l="l" t="t" r="r" b="b"/>
              <a:pathLst>
                <a:path w="2554223" h="311657">
                  <a:moveTo>
                    <a:pt x="0" y="0"/>
                  </a:moveTo>
                  <a:lnTo>
                    <a:pt x="2554224" y="0"/>
                  </a:lnTo>
                  <a:lnTo>
                    <a:pt x="2554224" y="311658"/>
                  </a:lnTo>
                  <a:lnTo>
                    <a:pt x="0" y="311658"/>
                  </a:lnTo>
                  <a:close/>
                </a:path>
              </a:pathLst>
            </a:custGeom>
            <a:gradFill>
              <a:gsLst>
                <a:gs pos="100000">
                  <a:srgbClr val="3368FF"/>
                </a:gs>
                <a:gs pos="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r>
                <a:rPr lang="zh-CN" altLang="en-US" b="1" dirty="0">
                  <a:solidFill>
                    <a:srgbClr val="383838"/>
                  </a:solidFill>
                  <a:latin typeface="微软雅黑"/>
                  <a:ea typeface="微软雅黑"/>
                  <a:cs typeface="微软雅黑"/>
                  <a:sym typeface="微软雅黑"/>
                </a:rPr>
                <a:t>⑥ 收官冲刺期</a:t>
              </a:r>
              <a:endParaRPr lang="zh-CN" altLang="en-US" b="1" dirty="0">
                <a:solidFill>
                  <a:srgbClr val="383838"/>
                </a:solidFill>
                <a:latin typeface="微软雅黑"/>
                <a:ea typeface="微软雅黑"/>
                <a:cs typeface="微软雅黑"/>
                <a:sym typeface="微软雅黑"/>
              </a:endParaRPr>
            </a:p>
          </p:txBody>
        </p:sp>
        <p:sp>
          <p:nvSpPr>
            <p:cNvPr id="49" name="圆角矩形 48"/>
            <p:cNvSpPr/>
            <p:nvPr>
              <p:custDataLst>
                <p:tags r:id="rId28"/>
              </p:custDataLst>
            </p:nvPr>
          </p:nvSpPr>
          <p:spPr>
            <a:xfrm>
              <a:off x="12557" y="7060"/>
              <a:ext cx="4022" cy="2244"/>
            </a:xfrm>
            <a:prstGeom prst="roundRect">
              <a:avLst>
                <a:gd name="adj" fmla="val 5927"/>
              </a:avLst>
            </a:prstGeom>
            <a:solidFill>
              <a:srgbClr val="DCDCDC">
                <a:alpha val="20000"/>
              </a:srgbClr>
            </a:solidFill>
            <a:ln w="15875" cap="flat">
              <a:solidFill>
                <a:srgbClr val="DCDCDC"/>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0" name="文本框 49"/>
            <p:cNvSpPr txBox="1"/>
            <p:nvPr>
              <p:custDataLst>
                <p:tags r:id="rId29"/>
              </p:custDataLst>
            </p:nvPr>
          </p:nvSpPr>
          <p:spPr>
            <a:xfrm>
              <a:off x="12723" y="7179"/>
              <a:ext cx="3689" cy="2042"/>
            </a:xfrm>
            <a:prstGeom prst="rect">
              <a:avLst/>
            </a:prstGeom>
            <a:noFill/>
            <a:ln>
              <a:noFill/>
            </a:ln>
          </p:spPr>
          <p:txBody>
            <a:bodyPr wrap="square" rtlCol="0" lIns="0" rIns="0" tIns="0" bIns="0">
              <a:spAutoFit/>
            </a:bodyPr>
            <a:lstStyle/>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阶段目标：</a:t>
              </a:r>
              <a:r>
                <a:rPr lang="zh-CN" altLang="en-US" sz="1000" dirty="0">
                  <a:solidFill>
                    <a:srgbClr val="383838"/>
                  </a:solidFill>
                  <a:effectLst/>
                  <a:latin typeface="微软雅黑"/>
                  <a:ea typeface="微软雅黑"/>
                  <a:cs typeface="微软雅黑"/>
                </a:rPr>
                <a:t>全力冲刺双</a:t>
              </a:r>
              <a:r>
                <a:rPr lang="en-US" altLang="zh-CN" sz="1000" dirty="0">
                  <a:solidFill>
                    <a:srgbClr val="383838"/>
                  </a:solidFill>
                  <a:effectLst/>
                  <a:latin typeface="微软雅黑"/>
                  <a:ea typeface="微软雅黑"/>
                  <a:cs typeface="微软雅黑"/>
                </a:rPr>
                <a:t>11</a:t>
              </a:r>
              <a:r>
                <a:rPr lang="zh-CN" altLang="en-US" sz="1000" dirty="0">
                  <a:solidFill>
                    <a:srgbClr val="383838"/>
                  </a:solidFill>
                  <a:effectLst/>
                  <a:latin typeface="微软雅黑"/>
                  <a:ea typeface="微软雅黑"/>
                  <a:cs typeface="微软雅黑"/>
                </a:rPr>
                <a:t>、双</a:t>
              </a:r>
              <a:r>
                <a:rPr lang="en-US" altLang="zh-CN" sz="1000" dirty="0">
                  <a:solidFill>
                    <a:srgbClr val="383838"/>
                  </a:solidFill>
                  <a:effectLst/>
                  <a:latin typeface="微软雅黑"/>
                  <a:ea typeface="微软雅黑"/>
                  <a:cs typeface="微软雅黑"/>
                </a:rPr>
                <a:t>12</a:t>
              </a:r>
              <a:r>
                <a:rPr lang="zh-CN" altLang="en-US" sz="1000" dirty="0">
                  <a:solidFill>
                    <a:srgbClr val="383838"/>
                  </a:solidFill>
                  <a:effectLst/>
                  <a:latin typeface="微软雅黑"/>
                  <a:ea typeface="微软雅黑"/>
                  <a:cs typeface="微软雅黑"/>
                </a:rPr>
                <a:t>及年货节，完成年度</a:t>
              </a:r>
              <a:r>
                <a:rPr lang="en-US" altLang="zh-CN" sz="1000" dirty="0">
                  <a:solidFill>
                    <a:srgbClr val="383838"/>
                  </a:solidFill>
                  <a:effectLst/>
                  <a:latin typeface="微软雅黑"/>
                  <a:ea typeface="微软雅黑"/>
                  <a:cs typeface="微软雅黑"/>
                </a:rPr>
                <a:t>KPI</a:t>
              </a:r>
              <a:r>
                <a:rPr lang="zh-CN" altLang="en-US" sz="1000" dirty="0">
                  <a:solidFill>
                    <a:srgbClr val="383838"/>
                  </a:solidFill>
                  <a:effectLst/>
                  <a:latin typeface="微软雅黑"/>
                  <a:ea typeface="微软雅黑"/>
                  <a:cs typeface="微软雅黑"/>
                </a:rPr>
                <a:t>，并布局下一年度战略方向。</a:t>
              </a:r>
              <a:endParaRPr lang="zh-CN" altLang="en-US" sz="1000" dirty="0">
                <a:solidFill>
                  <a:srgbClr val="383838"/>
                </a:solidFill>
                <a:effectLst/>
                <a:latin typeface="微软雅黑"/>
                <a:ea typeface="微软雅黑"/>
                <a:cs typeface="微软雅黑"/>
              </a:endParaRPr>
            </a:p>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完成情况：</a:t>
              </a:r>
              <a:r>
                <a:rPr lang="zh-CN" altLang="en-US" sz="1000" dirty="0">
                  <a:solidFill>
                    <a:srgbClr val="383838"/>
                  </a:solidFill>
                  <a:effectLst/>
                  <a:latin typeface="微软雅黑"/>
                  <a:ea typeface="微软雅黑"/>
                  <a:cs typeface="微软雅黑"/>
                </a:rPr>
                <a:t>双</a:t>
              </a:r>
              <a:r>
                <a:rPr lang="en-US" altLang="zh-CN" sz="1000" dirty="0">
                  <a:solidFill>
                    <a:srgbClr val="383838"/>
                  </a:solidFill>
                  <a:effectLst/>
                  <a:latin typeface="微软雅黑"/>
                  <a:ea typeface="微软雅黑"/>
                  <a:cs typeface="微软雅黑"/>
                </a:rPr>
                <a:t>11GMV</a:t>
              </a:r>
              <a:r>
                <a:rPr lang="zh-CN" altLang="en-US" sz="1000" dirty="0">
                  <a:solidFill>
                    <a:srgbClr val="383838"/>
                  </a:solidFill>
                  <a:effectLst/>
                  <a:latin typeface="微软雅黑"/>
                  <a:ea typeface="微软雅黑"/>
                  <a:cs typeface="微软雅黑"/>
                </a:rPr>
                <a:t>超额完成</a:t>
              </a:r>
              <a:r>
                <a:rPr lang="en-US" altLang="zh-CN" sz="1000" dirty="0">
                  <a:solidFill>
                    <a:srgbClr val="383838"/>
                  </a:solidFill>
                  <a:effectLst/>
                  <a:latin typeface="微软雅黑"/>
                  <a:ea typeface="微软雅黑"/>
                  <a:cs typeface="微软雅黑"/>
                </a:rPr>
                <a:t>110%</a:t>
              </a:r>
              <a:r>
                <a:rPr lang="zh-CN" altLang="en-US" sz="1000" dirty="0">
                  <a:solidFill>
                    <a:srgbClr val="383838"/>
                  </a:solidFill>
                  <a:effectLst/>
                  <a:latin typeface="微软雅黑"/>
                  <a:ea typeface="微软雅黑"/>
                  <a:cs typeface="微软雅黑"/>
                </a:rPr>
                <a:t>，</a:t>
              </a:r>
              <a:r>
                <a:rPr lang="en-US" altLang="zh-CN" sz="1000" dirty="0">
                  <a:solidFill>
                    <a:srgbClr val="383838"/>
                  </a:solidFill>
                  <a:effectLst/>
                  <a:latin typeface="微软雅黑"/>
                  <a:ea typeface="微软雅黑"/>
                  <a:cs typeface="微软雅黑"/>
                </a:rPr>
                <a:t>Q4</a:t>
              </a:r>
              <a:r>
                <a:rPr lang="zh-CN" altLang="en-US" sz="1000" dirty="0">
                  <a:solidFill>
                    <a:srgbClr val="383838"/>
                  </a:solidFill>
                  <a:effectLst/>
                  <a:latin typeface="微软雅黑"/>
                  <a:ea typeface="微软雅黑"/>
                  <a:cs typeface="微软雅黑"/>
                </a:rPr>
                <a:t>营收占全年</a:t>
              </a:r>
              <a:r>
                <a:rPr lang="en-US" altLang="zh-CN" sz="1000" dirty="0">
                  <a:solidFill>
                    <a:srgbClr val="383838"/>
                  </a:solidFill>
                  <a:effectLst/>
                  <a:latin typeface="微软雅黑"/>
                  <a:ea typeface="微软雅黑"/>
                  <a:cs typeface="微软雅黑"/>
                </a:rPr>
                <a:t>45%</a:t>
              </a:r>
              <a:r>
                <a:rPr lang="zh-CN" altLang="en-US" sz="1000" dirty="0">
                  <a:solidFill>
                    <a:srgbClr val="383838"/>
                  </a:solidFill>
                  <a:effectLst/>
                  <a:latin typeface="微软雅黑"/>
                  <a:ea typeface="微软雅黑"/>
                  <a:cs typeface="微软雅黑"/>
                </a:rPr>
                <a:t>；付费会员数突破</a:t>
              </a:r>
              <a:r>
                <a:rPr lang="en-US" altLang="zh-CN" sz="1000" dirty="0">
                  <a:solidFill>
                    <a:srgbClr val="383838"/>
                  </a:solidFill>
                  <a:effectLst/>
                  <a:latin typeface="微软雅黑"/>
                  <a:ea typeface="微软雅黑"/>
                  <a:cs typeface="微软雅黑"/>
                </a:rPr>
                <a:t>10</a:t>
              </a:r>
              <a:r>
                <a:rPr lang="zh-CN" altLang="en-US" sz="1000" dirty="0">
                  <a:solidFill>
                    <a:srgbClr val="383838"/>
                  </a:solidFill>
                  <a:effectLst/>
                  <a:latin typeface="微软雅黑"/>
                  <a:ea typeface="微软雅黑"/>
                  <a:cs typeface="微软雅黑"/>
                </a:rPr>
                <a:t>万，会员客单价为普通用户</a:t>
              </a:r>
              <a:r>
                <a:rPr lang="en-US" altLang="zh-CN" sz="1000" dirty="0">
                  <a:solidFill>
                    <a:srgbClr val="383838"/>
                  </a:solidFill>
                  <a:effectLst/>
                  <a:latin typeface="微软雅黑"/>
                  <a:ea typeface="微软雅黑"/>
                  <a:cs typeface="微软雅黑"/>
                </a:rPr>
                <a:t>3</a:t>
              </a:r>
              <a:r>
                <a:rPr lang="zh-CN" altLang="en-US" sz="1000" dirty="0">
                  <a:solidFill>
                    <a:srgbClr val="383838"/>
                  </a:solidFill>
                  <a:effectLst/>
                  <a:latin typeface="微软雅黑"/>
                  <a:ea typeface="微软雅黑"/>
                  <a:cs typeface="微软雅黑"/>
                </a:rPr>
                <a:t>倍。</a:t>
              </a:r>
              <a:endParaRPr lang="zh-CN" altLang="en-US" sz="1000" dirty="0">
                <a:solidFill>
                  <a:srgbClr val="383838"/>
                </a:solidFill>
                <a:effectLst/>
                <a:latin typeface="微软雅黑"/>
                <a:ea typeface="微软雅黑"/>
                <a:cs typeface="微软雅黑"/>
              </a:endParaRPr>
            </a:p>
          </p:txBody>
        </p:sp>
      </p:grpSp>
      <p:grpSp>
        <p:nvGrpSpPr>
          <p:cNvPr id="55" name="组合 54"/>
          <p:cNvGrpSpPr/>
          <p:nvPr/>
        </p:nvGrpSpPr>
        <p:grpSpPr>
          <a:xfrm>
            <a:off x="1713230" y="1217295"/>
            <a:ext cx="2556510" cy="1983105"/>
            <a:chOff x="2698" y="1917"/>
            <a:chExt cx="4026" cy="3123"/>
          </a:xfrm>
        </p:grpSpPr>
        <p:sp>
          <p:nvSpPr>
            <p:cNvPr id="52" name="任意形状 19"/>
            <p:cNvSpPr/>
            <p:nvPr>
              <p:custDataLst>
                <p:tags r:id="rId30"/>
              </p:custDataLst>
            </p:nvPr>
          </p:nvSpPr>
          <p:spPr>
            <a:xfrm>
              <a:off x="2700" y="1917"/>
              <a:ext cx="4024" cy="661"/>
            </a:xfrm>
            <a:custGeom>
              <a:avLst/>
              <a:gdLst>
                <a:gd name="connsiteX0" fmla="*/ 0 w 2554223"/>
                <a:gd name="connsiteY0" fmla="*/ 0 h 311658"/>
                <a:gd name="connsiteX1" fmla="*/ 2554224 w 2554223"/>
                <a:gd name="connsiteY1" fmla="*/ 0 h 311658"/>
                <a:gd name="connsiteX2" fmla="*/ 2554224 w 2554223"/>
                <a:gd name="connsiteY2" fmla="*/ 311658 h 311658"/>
                <a:gd name="connsiteX3" fmla="*/ 0 w 2554223"/>
                <a:gd name="connsiteY3" fmla="*/ 311658 h 311658"/>
              </a:gdLst>
              <a:ahLst/>
              <a:cxnLst>
                <a:cxn ang="0">
                  <a:pos x="connsiteX0" y="connsiteY0"/>
                </a:cxn>
                <a:cxn ang="0">
                  <a:pos x="connsiteX1" y="connsiteY1"/>
                </a:cxn>
                <a:cxn ang="0">
                  <a:pos x="connsiteX2" y="connsiteY2"/>
                </a:cxn>
                <a:cxn ang="0">
                  <a:pos x="connsiteX3" y="connsiteY3"/>
                </a:cxn>
              </a:cxnLst>
              <a:rect l="l" t="t" r="r" b="b"/>
              <a:pathLst>
                <a:path w="2554223" h="311658">
                  <a:moveTo>
                    <a:pt x="0" y="0"/>
                  </a:moveTo>
                  <a:lnTo>
                    <a:pt x="2554224" y="0"/>
                  </a:lnTo>
                  <a:lnTo>
                    <a:pt x="2554224" y="311658"/>
                  </a:lnTo>
                  <a:lnTo>
                    <a:pt x="0" y="311658"/>
                  </a:lnTo>
                  <a:close/>
                </a:path>
              </a:pathLst>
            </a:custGeom>
            <a:gradFill>
              <a:gsLst>
                <a:gs pos="100000">
                  <a:srgbClr val="0042FF"/>
                </a:gs>
                <a:gs pos="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 ① 规划蓄水期</a:t>
              </a:r>
              <a:endParaRPr lang="zh-CN" altLang="en-US" b="1" dirty="0">
                <a:solidFill>
                  <a:srgbClr val="FFFFFF"/>
                </a:solidFill>
                <a:latin typeface="微软雅黑"/>
                <a:ea typeface="微软雅黑"/>
                <a:cs typeface="微软雅黑"/>
                <a:sym typeface="微软雅黑"/>
              </a:endParaRPr>
            </a:p>
          </p:txBody>
        </p:sp>
        <p:sp>
          <p:nvSpPr>
            <p:cNvPr id="53" name="圆角矩形 52"/>
            <p:cNvSpPr/>
            <p:nvPr>
              <p:custDataLst>
                <p:tags r:id="rId31"/>
              </p:custDataLst>
            </p:nvPr>
          </p:nvSpPr>
          <p:spPr>
            <a:xfrm>
              <a:off x="2698" y="2796"/>
              <a:ext cx="4022" cy="2244"/>
            </a:xfrm>
            <a:prstGeom prst="roundRect">
              <a:avLst>
                <a:gd name="adj" fmla="val 5927"/>
              </a:avLst>
            </a:prstGeom>
            <a:solidFill>
              <a:srgbClr val="DCDCDC">
                <a:alpha val="20000"/>
              </a:srgbClr>
            </a:solidFill>
            <a:ln w="15875" cap="flat">
              <a:solidFill>
                <a:srgbClr val="DCDCDC"/>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4" name="文本框 53"/>
            <p:cNvSpPr txBox="1"/>
            <p:nvPr>
              <p:custDataLst>
                <p:tags r:id="rId32"/>
              </p:custDataLst>
            </p:nvPr>
          </p:nvSpPr>
          <p:spPr>
            <a:xfrm>
              <a:off x="2864" y="2915"/>
              <a:ext cx="3689" cy="2042"/>
            </a:xfrm>
            <a:prstGeom prst="rect">
              <a:avLst/>
            </a:prstGeom>
            <a:noFill/>
            <a:ln>
              <a:noFill/>
            </a:ln>
          </p:spPr>
          <p:txBody>
            <a:bodyPr wrap="square" rtlCol="0" lIns="0" rIns="0" tIns="0" bIns="0">
              <a:spAutoFit/>
            </a:bodyPr>
            <a:lstStyle/>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阶段目标：</a:t>
              </a:r>
              <a:r>
                <a:rPr lang="zh-CN" altLang="en-US" sz="1000" dirty="0">
                  <a:solidFill>
                    <a:srgbClr val="383838"/>
                  </a:solidFill>
                  <a:effectLst/>
                  <a:latin typeface="微软雅黑"/>
                  <a:ea typeface="微软雅黑"/>
                  <a:cs typeface="微软雅黑"/>
                </a:rPr>
                <a:t>完成年度策略拆解与资源盘点，保障春节假期业务平稳过渡，为</a:t>
              </a:r>
              <a:r>
                <a:rPr lang="en-US" altLang="zh-CN" sz="1000" dirty="0">
                  <a:solidFill>
                    <a:srgbClr val="383838"/>
                  </a:solidFill>
                  <a:effectLst/>
                  <a:latin typeface="微软雅黑"/>
                  <a:ea typeface="微软雅黑"/>
                  <a:cs typeface="微软雅黑"/>
                </a:rPr>
                <a:t>Q1</a:t>
              </a:r>
              <a:r>
                <a:rPr lang="zh-CN" altLang="en-US" sz="1000" dirty="0">
                  <a:solidFill>
                    <a:srgbClr val="383838"/>
                  </a:solidFill>
                  <a:effectLst/>
                  <a:latin typeface="微软雅黑"/>
                  <a:ea typeface="微软雅黑"/>
                  <a:cs typeface="微软雅黑"/>
                </a:rPr>
                <a:t>淡季蓄力。</a:t>
              </a:r>
              <a:endParaRPr lang="zh-CN" altLang="en-US" sz="1000" dirty="0">
                <a:solidFill>
                  <a:srgbClr val="383838"/>
                </a:solidFill>
                <a:effectLst/>
                <a:latin typeface="微软雅黑"/>
                <a:ea typeface="微软雅黑"/>
                <a:cs typeface="微软雅黑"/>
              </a:endParaRPr>
            </a:p>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完成情况：</a:t>
              </a:r>
              <a:r>
                <a:rPr lang="zh-CN" altLang="en-US" sz="1000" dirty="0">
                  <a:solidFill>
                    <a:srgbClr val="383838"/>
                  </a:solidFill>
                  <a:effectLst/>
                  <a:latin typeface="微软雅黑"/>
                  <a:ea typeface="微软雅黑"/>
                  <a:cs typeface="微软雅黑"/>
                </a:rPr>
                <a:t>输出年度运营日历及</a:t>
              </a:r>
              <a:r>
                <a:rPr lang="en-US" altLang="zh-CN" sz="1000" dirty="0">
                  <a:solidFill>
                    <a:srgbClr val="383838"/>
                  </a:solidFill>
                  <a:effectLst/>
                  <a:latin typeface="微软雅黑"/>
                  <a:ea typeface="微软雅黑"/>
                  <a:cs typeface="微软雅黑"/>
                </a:rPr>
                <a:t>A/B</a:t>
              </a:r>
              <a:r>
                <a:rPr lang="zh-CN" altLang="en-US" sz="1000" dirty="0">
                  <a:solidFill>
                    <a:srgbClr val="383838"/>
                  </a:solidFill>
                  <a:effectLst/>
                  <a:latin typeface="微软雅黑"/>
                  <a:ea typeface="微软雅黑"/>
                  <a:cs typeface="微软雅黑"/>
                </a:rPr>
                <a:t>测试框架；春节期间</a:t>
              </a:r>
              <a:r>
                <a:rPr lang="en-US" altLang="zh-CN" sz="1000" dirty="0">
                  <a:solidFill>
                    <a:srgbClr val="383838"/>
                  </a:solidFill>
                  <a:effectLst/>
                  <a:latin typeface="微软雅黑"/>
                  <a:ea typeface="微软雅黑"/>
                  <a:cs typeface="微软雅黑"/>
                </a:rPr>
                <a:t>DAU</a:t>
              </a:r>
              <a:r>
                <a:rPr lang="zh-CN" altLang="en-US" sz="1000" dirty="0">
                  <a:solidFill>
                    <a:srgbClr val="383838"/>
                  </a:solidFill>
                  <a:effectLst/>
                  <a:latin typeface="微软雅黑"/>
                  <a:ea typeface="微软雅黑"/>
                  <a:cs typeface="微软雅黑"/>
                </a:rPr>
                <a:t>仅下降</a:t>
              </a:r>
              <a:r>
                <a:rPr lang="en-US" altLang="zh-CN" sz="1000" dirty="0">
                  <a:solidFill>
                    <a:srgbClr val="383838"/>
                  </a:solidFill>
                  <a:effectLst/>
                  <a:latin typeface="微软雅黑"/>
                  <a:ea typeface="微软雅黑"/>
                  <a:cs typeface="微软雅黑"/>
                </a:rPr>
                <a:t>5%</a:t>
              </a:r>
              <a:r>
                <a:rPr lang="zh-CN" altLang="en-US" sz="1000" dirty="0">
                  <a:solidFill>
                    <a:srgbClr val="383838"/>
                  </a:solidFill>
                  <a:effectLst/>
                  <a:latin typeface="微软雅黑"/>
                  <a:ea typeface="微软雅黑"/>
                  <a:cs typeface="微软雅黑"/>
                </a:rPr>
                <a:t>，节后回流率达</a:t>
              </a:r>
              <a:r>
                <a:rPr lang="en-US" altLang="zh-CN" sz="1000" dirty="0">
                  <a:solidFill>
                    <a:srgbClr val="383838"/>
                  </a:solidFill>
                  <a:effectLst/>
                  <a:latin typeface="微软雅黑"/>
                  <a:ea typeface="微软雅黑"/>
                  <a:cs typeface="微软雅黑"/>
                </a:rPr>
                <a:t>85%</a:t>
              </a:r>
              <a:r>
                <a:rPr lang="zh-CN" altLang="en-US" sz="1000" dirty="0">
                  <a:solidFill>
                    <a:srgbClr val="383838"/>
                  </a:solidFill>
                  <a:effectLst/>
                  <a:latin typeface="微软雅黑"/>
                  <a:ea typeface="微软雅黑"/>
                  <a:cs typeface="微软雅黑"/>
                </a:rPr>
                <a:t>，超预期。</a:t>
              </a:r>
              <a:endParaRPr lang="zh-CN" altLang="en-US" sz="1000" dirty="0">
                <a:solidFill>
                  <a:srgbClr val="383838"/>
                </a:solidFill>
                <a:effectLst/>
                <a:latin typeface="微软雅黑"/>
                <a:ea typeface="微软雅黑"/>
                <a:cs typeface="微软雅黑"/>
              </a:endParaRPr>
            </a:p>
          </p:txBody>
        </p:sp>
      </p:grpSp>
      <p:grpSp>
        <p:nvGrpSpPr>
          <p:cNvPr id="59" name="组合 58"/>
          <p:cNvGrpSpPr/>
          <p:nvPr/>
        </p:nvGrpSpPr>
        <p:grpSpPr>
          <a:xfrm>
            <a:off x="5345430" y="1217295"/>
            <a:ext cx="2556510" cy="1983105"/>
            <a:chOff x="8418" y="1801"/>
            <a:chExt cx="4026" cy="3123"/>
          </a:xfrm>
        </p:grpSpPr>
        <p:sp>
          <p:nvSpPr>
            <p:cNvPr id="56" name="任意形状 19"/>
            <p:cNvSpPr/>
            <p:nvPr>
              <p:custDataLst>
                <p:tags r:id="rId33"/>
              </p:custDataLst>
            </p:nvPr>
          </p:nvSpPr>
          <p:spPr>
            <a:xfrm>
              <a:off x="8420" y="1801"/>
              <a:ext cx="4024" cy="661"/>
            </a:xfrm>
            <a:custGeom>
              <a:avLst/>
              <a:gdLst>
                <a:gd name="connsiteX0" fmla="*/ 0 w 2554223"/>
                <a:gd name="connsiteY0" fmla="*/ 0 h 311658"/>
                <a:gd name="connsiteX1" fmla="*/ 2554224 w 2554223"/>
                <a:gd name="connsiteY1" fmla="*/ 0 h 311658"/>
                <a:gd name="connsiteX2" fmla="*/ 2554224 w 2554223"/>
                <a:gd name="connsiteY2" fmla="*/ 311658 h 311658"/>
                <a:gd name="connsiteX3" fmla="*/ 0 w 2554223"/>
                <a:gd name="connsiteY3" fmla="*/ 311658 h 311658"/>
              </a:gdLst>
              <a:ahLst/>
              <a:cxnLst>
                <a:cxn ang="0">
                  <a:pos x="connsiteX0" y="connsiteY0"/>
                </a:cxn>
                <a:cxn ang="0">
                  <a:pos x="connsiteX1" y="connsiteY1"/>
                </a:cxn>
                <a:cxn ang="0">
                  <a:pos x="connsiteX2" y="connsiteY2"/>
                </a:cxn>
                <a:cxn ang="0">
                  <a:pos x="connsiteX3" y="connsiteY3"/>
                </a:cxn>
              </a:cxnLst>
              <a:rect l="l" t="t" r="r" b="b"/>
              <a:pathLst>
                <a:path w="2554223" h="311658">
                  <a:moveTo>
                    <a:pt x="0" y="0"/>
                  </a:moveTo>
                  <a:lnTo>
                    <a:pt x="2554224" y="0"/>
                  </a:lnTo>
                  <a:lnTo>
                    <a:pt x="2554224" y="311658"/>
                  </a:lnTo>
                  <a:lnTo>
                    <a:pt x="0" y="311658"/>
                  </a:lnTo>
                  <a:close/>
                </a:path>
              </a:pathLst>
            </a:custGeom>
            <a:gradFill>
              <a:gsLst>
                <a:gs pos="100000">
                  <a:srgbClr val="0042FF"/>
                </a:gs>
                <a:gs pos="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 ③ 爆发增长期</a:t>
              </a:r>
              <a:endParaRPr lang="zh-CN" altLang="en-US" b="1" dirty="0">
                <a:solidFill>
                  <a:srgbClr val="FFFFFF"/>
                </a:solidFill>
                <a:latin typeface="微软雅黑"/>
                <a:ea typeface="微软雅黑"/>
                <a:cs typeface="微软雅黑"/>
                <a:sym typeface="微软雅黑"/>
              </a:endParaRPr>
            </a:p>
          </p:txBody>
        </p:sp>
        <p:sp>
          <p:nvSpPr>
            <p:cNvPr id="57" name="圆角矩形 56"/>
            <p:cNvSpPr/>
            <p:nvPr>
              <p:custDataLst>
                <p:tags r:id="rId34"/>
              </p:custDataLst>
            </p:nvPr>
          </p:nvSpPr>
          <p:spPr>
            <a:xfrm>
              <a:off x="8418" y="2680"/>
              <a:ext cx="4022" cy="2244"/>
            </a:xfrm>
            <a:prstGeom prst="roundRect">
              <a:avLst>
                <a:gd name="adj" fmla="val 5927"/>
              </a:avLst>
            </a:prstGeom>
            <a:solidFill>
              <a:srgbClr val="DCDCDC">
                <a:alpha val="20000"/>
              </a:srgbClr>
            </a:solidFill>
            <a:ln w="15875" cap="flat">
              <a:solidFill>
                <a:srgbClr val="DCDCDC"/>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8" name="文本框 57"/>
            <p:cNvSpPr txBox="1"/>
            <p:nvPr>
              <p:custDataLst>
                <p:tags r:id="rId35"/>
              </p:custDataLst>
            </p:nvPr>
          </p:nvSpPr>
          <p:spPr>
            <a:xfrm>
              <a:off x="8584" y="2799"/>
              <a:ext cx="3689" cy="2042"/>
            </a:xfrm>
            <a:prstGeom prst="rect">
              <a:avLst/>
            </a:prstGeom>
            <a:noFill/>
            <a:ln>
              <a:noFill/>
            </a:ln>
          </p:spPr>
          <p:txBody>
            <a:bodyPr wrap="square" rtlCol="0" lIns="0" rIns="0" tIns="0" bIns="0">
              <a:spAutoFit/>
            </a:bodyPr>
            <a:lstStyle/>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阶段目标：</a:t>
              </a:r>
              <a:r>
                <a:rPr lang="zh-CN" altLang="en-US" sz="1000" dirty="0">
                  <a:solidFill>
                    <a:srgbClr val="383838"/>
                  </a:solidFill>
                  <a:effectLst/>
                  <a:latin typeface="微软雅黑"/>
                  <a:ea typeface="微软雅黑"/>
                  <a:cs typeface="微软雅黑"/>
                </a:rPr>
                <a:t>借势</a:t>
              </a:r>
              <a:r>
                <a:rPr lang="en-US" altLang="zh-CN" sz="1000" dirty="0">
                  <a:solidFill>
                    <a:srgbClr val="383838"/>
                  </a:solidFill>
                  <a:effectLst/>
                  <a:latin typeface="微软雅黑"/>
                  <a:ea typeface="微软雅黑"/>
                  <a:cs typeface="微软雅黑"/>
                </a:rPr>
                <a:t>618</a:t>
              </a:r>
              <a:r>
                <a:rPr lang="zh-CN" altLang="en-US" sz="1000" dirty="0">
                  <a:solidFill>
                    <a:srgbClr val="383838"/>
                  </a:solidFill>
                  <a:effectLst/>
                  <a:latin typeface="微软雅黑"/>
                  <a:ea typeface="微软雅黑"/>
                  <a:cs typeface="微软雅黑"/>
                </a:rPr>
                <a:t>大促，通过多渠道投放与裂变玩法，实现用户规模与</a:t>
              </a:r>
              <a:r>
                <a:rPr lang="en-US" altLang="zh-CN" sz="1000" dirty="0">
                  <a:solidFill>
                    <a:srgbClr val="383838"/>
                  </a:solidFill>
                  <a:effectLst/>
                  <a:latin typeface="微软雅黑"/>
                  <a:ea typeface="微软雅黑"/>
                  <a:cs typeface="微软雅黑"/>
                </a:rPr>
                <a:t>GMV</a:t>
              </a:r>
              <a:r>
                <a:rPr lang="zh-CN" altLang="en-US" sz="1000" dirty="0">
                  <a:solidFill>
                    <a:srgbClr val="383838"/>
                  </a:solidFill>
                  <a:effectLst/>
                  <a:latin typeface="微软雅黑"/>
                  <a:ea typeface="微软雅黑"/>
                  <a:cs typeface="微软雅黑"/>
                </a:rPr>
                <a:t>的双重突破。</a:t>
              </a:r>
              <a:endParaRPr lang="zh-CN" altLang="en-US" sz="1000" dirty="0">
                <a:solidFill>
                  <a:srgbClr val="383838"/>
                </a:solidFill>
                <a:effectLst/>
                <a:latin typeface="微软雅黑"/>
                <a:ea typeface="微软雅黑"/>
                <a:cs typeface="微软雅黑"/>
              </a:endParaRPr>
            </a:p>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完成情况：</a:t>
              </a:r>
              <a:r>
                <a:rPr lang="zh-CN" altLang="en-US" sz="1000" dirty="0">
                  <a:solidFill>
                    <a:srgbClr val="383838"/>
                  </a:solidFill>
                  <a:effectLst/>
                  <a:latin typeface="微软雅黑"/>
                  <a:ea typeface="微软雅黑"/>
                  <a:cs typeface="微软雅黑"/>
                </a:rPr>
                <a:t>新增用户环比增长</a:t>
              </a:r>
              <a:r>
                <a:rPr lang="en-US" altLang="zh-CN" sz="1000" dirty="0">
                  <a:solidFill>
                    <a:srgbClr val="383838"/>
                  </a:solidFill>
                  <a:effectLst/>
                  <a:latin typeface="微软雅黑"/>
                  <a:ea typeface="微软雅黑"/>
                  <a:cs typeface="微软雅黑"/>
                </a:rPr>
                <a:t>80%</a:t>
              </a:r>
              <a:r>
                <a:rPr lang="zh-CN" altLang="en-US" sz="1000" dirty="0">
                  <a:solidFill>
                    <a:srgbClr val="383838"/>
                  </a:solidFill>
                  <a:effectLst/>
                  <a:latin typeface="微软雅黑"/>
                  <a:ea typeface="微软雅黑"/>
                  <a:cs typeface="微软雅黑"/>
                </a:rPr>
                <a:t>，</a:t>
              </a:r>
              <a:r>
                <a:rPr lang="en-US" altLang="zh-CN" sz="1000" dirty="0">
                  <a:solidFill>
                    <a:srgbClr val="383838"/>
                  </a:solidFill>
                  <a:effectLst/>
                  <a:latin typeface="微软雅黑"/>
                  <a:ea typeface="微软雅黑"/>
                  <a:cs typeface="微软雅黑"/>
                </a:rPr>
                <a:t>618</a:t>
              </a:r>
              <a:r>
                <a:rPr lang="zh-CN" altLang="en-US" sz="1000" dirty="0">
                  <a:solidFill>
                    <a:srgbClr val="383838"/>
                  </a:solidFill>
                  <a:effectLst/>
                  <a:latin typeface="微软雅黑"/>
                  <a:ea typeface="微软雅黑"/>
                  <a:cs typeface="微软雅黑"/>
                </a:rPr>
                <a:t>期间</a:t>
              </a:r>
              <a:r>
                <a:rPr lang="en-US" altLang="zh-CN" sz="1000" dirty="0">
                  <a:solidFill>
                    <a:srgbClr val="383838"/>
                  </a:solidFill>
                  <a:effectLst/>
                  <a:latin typeface="微软雅黑"/>
                  <a:ea typeface="微软雅黑"/>
                  <a:cs typeface="微软雅黑"/>
                </a:rPr>
                <a:t>GMV</a:t>
              </a:r>
              <a:r>
                <a:rPr lang="zh-CN" altLang="en-US" sz="1000" dirty="0">
                  <a:solidFill>
                    <a:srgbClr val="383838"/>
                  </a:solidFill>
                  <a:effectLst/>
                  <a:latin typeface="微软雅黑"/>
                  <a:ea typeface="微软雅黑"/>
                  <a:cs typeface="微软雅黑"/>
                </a:rPr>
                <a:t>创历史新高，同比增长</a:t>
              </a:r>
              <a:r>
                <a:rPr lang="en-US" altLang="zh-CN" sz="1000" dirty="0">
                  <a:solidFill>
                    <a:srgbClr val="383838"/>
                  </a:solidFill>
                  <a:effectLst/>
                  <a:latin typeface="微软雅黑"/>
                  <a:ea typeface="微软雅黑"/>
                  <a:cs typeface="微软雅黑"/>
                </a:rPr>
                <a:t>120%</a:t>
              </a:r>
              <a:r>
                <a:rPr lang="zh-CN" altLang="en-US" sz="1000" dirty="0">
                  <a:solidFill>
                    <a:srgbClr val="383838"/>
                  </a:solidFill>
                  <a:effectLst/>
                  <a:latin typeface="微软雅黑"/>
                  <a:ea typeface="微软雅黑"/>
                  <a:cs typeface="微软雅黑"/>
                </a:rPr>
                <a:t>，转化率达</a:t>
              </a:r>
              <a:r>
                <a:rPr lang="en-US" altLang="zh-CN" sz="1000" dirty="0">
                  <a:solidFill>
                    <a:srgbClr val="383838"/>
                  </a:solidFill>
                  <a:effectLst/>
                  <a:latin typeface="微软雅黑"/>
                  <a:ea typeface="微软雅黑"/>
                  <a:cs typeface="微软雅黑"/>
                </a:rPr>
                <a:t>8.5%</a:t>
              </a:r>
              <a:r>
                <a:rPr lang="zh-CN" altLang="en-US" sz="1000" dirty="0">
                  <a:solidFill>
                    <a:srgbClr val="383838"/>
                  </a:solidFill>
                  <a:effectLst/>
                  <a:latin typeface="微软雅黑"/>
                  <a:ea typeface="微软雅黑"/>
                  <a:cs typeface="微软雅黑"/>
                </a:rPr>
                <a:t>。</a:t>
              </a:r>
              <a:endParaRPr lang="zh-CN" altLang="en-US" sz="1000" dirty="0">
                <a:solidFill>
                  <a:srgbClr val="383838"/>
                </a:solidFill>
                <a:effectLst/>
                <a:latin typeface="微软雅黑"/>
                <a:ea typeface="微软雅黑"/>
                <a:cs typeface="微软雅黑"/>
              </a:endParaRPr>
            </a:p>
          </p:txBody>
        </p:sp>
      </p:grpSp>
      <p:grpSp>
        <p:nvGrpSpPr>
          <p:cNvPr id="63" name="组合 62"/>
          <p:cNvGrpSpPr/>
          <p:nvPr/>
        </p:nvGrpSpPr>
        <p:grpSpPr>
          <a:xfrm>
            <a:off x="8735695" y="1217295"/>
            <a:ext cx="2556510" cy="1983105"/>
            <a:chOff x="13757" y="1780"/>
            <a:chExt cx="4026" cy="3123"/>
          </a:xfrm>
        </p:grpSpPr>
        <p:sp>
          <p:nvSpPr>
            <p:cNvPr id="60" name="任意形状 19"/>
            <p:cNvSpPr/>
            <p:nvPr>
              <p:custDataLst>
                <p:tags r:id="rId36"/>
              </p:custDataLst>
            </p:nvPr>
          </p:nvSpPr>
          <p:spPr>
            <a:xfrm>
              <a:off x="13759" y="1780"/>
              <a:ext cx="4024" cy="661"/>
            </a:xfrm>
            <a:custGeom>
              <a:avLst/>
              <a:gdLst>
                <a:gd name="connsiteX0" fmla="*/ 0 w 2554223"/>
                <a:gd name="connsiteY0" fmla="*/ 0 h 311658"/>
                <a:gd name="connsiteX1" fmla="*/ 2554224 w 2554223"/>
                <a:gd name="connsiteY1" fmla="*/ 0 h 311658"/>
                <a:gd name="connsiteX2" fmla="*/ 2554224 w 2554223"/>
                <a:gd name="connsiteY2" fmla="*/ 311658 h 311658"/>
                <a:gd name="connsiteX3" fmla="*/ 0 w 2554223"/>
                <a:gd name="connsiteY3" fmla="*/ 311658 h 311658"/>
              </a:gdLst>
              <a:ahLst/>
              <a:cxnLst>
                <a:cxn ang="0">
                  <a:pos x="connsiteX0" y="connsiteY0"/>
                </a:cxn>
                <a:cxn ang="0">
                  <a:pos x="connsiteX1" y="connsiteY1"/>
                </a:cxn>
                <a:cxn ang="0">
                  <a:pos x="connsiteX2" y="connsiteY2"/>
                </a:cxn>
                <a:cxn ang="0">
                  <a:pos x="connsiteX3" y="connsiteY3"/>
                </a:cxn>
              </a:cxnLst>
              <a:rect l="l" t="t" r="r" b="b"/>
              <a:pathLst>
                <a:path w="2554223" h="311658">
                  <a:moveTo>
                    <a:pt x="0" y="0"/>
                  </a:moveTo>
                  <a:lnTo>
                    <a:pt x="2554224" y="0"/>
                  </a:lnTo>
                  <a:lnTo>
                    <a:pt x="2554224" y="311658"/>
                  </a:lnTo>
                  <a:lnTo>
                    <a:pt x="0" y="311658"/>
                  </a:lnTo>
                  <a:close/>
                </a:path>
              </a:pathLst>
            </a:custGeom>
            <a:gradFill>
              <a:gsLst>
                <a:gs pos="100000">
                  <a:srgbClr val="0042FF"/>
                </a:gs>
                <a:gs pos="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⑤ 双11备战期</a:t>
              </a:r>
              <a:endParaRPr lang="zh-CN" altLang="en-US" b="1" dirty="0">
                <a:solidFill>
                  <a:srgbClr val="FFFFFF"/>
                </a:solidFill>
                <a:latin typeface="微软雅黑"/>
                <a:ea typeface="微软雅黑"/>
                <a:cs typeface="微软雅黑"/>
                <a:sym typeface="微软雅黑"/>
              </a:endParaRPr>
            </a:p>
          </p:txBody>
        </p:sp>
        <p:sp>
          <p:nvSpPr>
            <p:cNvPr id="61" name="圆角矩形 60"/>
            <p:cNvSpPr/>
            <p:nvPr>
              <p:custDataLst>
                <p:tags r:id="rId37"/>
              </p:custDataLst>
            </p:nvPr>
          </p:nvSpPr>
          <p:spPr>
            <a:xfrm>
              <a:off x="13757" y="2659"/>
              <a:ext cx="4022" cy="2244"/>
            </a:xfrm>
            <a:prstGeom prst="roundRect">
              <a:avLst>
                <a:gd name="adj" fmla="val 5927"/>
              </a:avLst>
            </a:prstGeom>
            <a:solidFill>
              <a:srgbClr val="DCDCDC">
                <a:alpha val="20000"/>
              </a:srgbClr>
            </a:solidFill>
            <a:ln w="15875" cap="flat">
              <a:solidFill>
                <a:srgbClr val="DCDCDC"/>
              </a:solid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2" name="文本框 61"/>
            <p:cNvSpPr txBox="1"/>
            <p:nvPr>
              <p:custDataLst>
                <p:tags r:id="rId38"/>
              </p:custDataLst>
            </p:nvPr>
          </p:nvSpPr>
          <p:spPr>
            <a:xfrm>
              <a:off x="13923" y="2778"/>
              <a:ext cx="3689" cy="2042"/>
            </a:xfrm>
            <a:prstGeom prst="rect">
              <a:avLst/>
            </a:prstGeom>
            <a:noFill/>
            <a:ln>
              <a:noFill/>
            </a:ln>
          </p:spPr>
          <p:txBody>
            <a:bodyPr wrap="square" rtlCol="0" lIns="0" rIns="0" tIns="0" bIns="0">
              <a:spAutoFit/>
            </a:bodyPr>
            <a:lstStyle/>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阶段目标：</a:t>
              </a:r>
              <a:r>
                <a:rPr lang="zh-CN" altLang="en-US" sz="1000" dirty="0">
                  <a:solidFill>
                    <a:srgbClr val="383838"/>
                  </a:solidFill>
                  <a:effectLst/>
                  <a:latin typeface="微软雅黑"/>
                  <a:ea typeface="微软雅黑"/>
                  <a:cs typeface="微软雅黑"/>
                </a:rPr>
                <a:t>筹备双</a:t>
              </a:r>
              <a:r>
                <a:rPr lang="en-US" altLang="zh-CN" sz="1000" dirty="0">
                  <a:solidFill>
                    <a:srgbClr val="383838"/>
                  </a:solidFill>
                  <a:effectLst/>
                  <a:latin typeface="微软雅黑"/>
                  <a:ea typeface="微软雅黑"/>
                  <a:cs typeface="微软雅黑"/>
                </a:rPr>
                <a:t>11</a:t>
              </a:r>
              <a:r>
                <a:rPr lang="zh-CN" altLang="en-US" sz="1000" dirty="0">
                  <a:solidFill>
                    <a:srgbClr val="383838"/>
                  </a:solidFill>
                  <a:effectLst/>
                  <a:latin typeface="微软雅黑"/>
                  <a:ea typeface="微软雅黑"/>
                  <a:cs typeface="微软雅黑"/>
                </a:rPr>
                <a:t>大促资源，优化预售玩法与直播矩阵，完成流量蓄水与供应链协同。</a:t>
              </a:r>
              <a:endParaRPr lang="zh-CN" altLang="en-US" sz="1000" dirty="0">
                <a:solidFill>
                  <a:srgbClr val="383838"/>
                </a:solidFill>
                <a:effectLst/>
                <a:latin typeface="微软雅黑"/>
                <a:ea typeface="微软雅黑"/>
                <a:cs typeface="微软雅黑"/>
              </a:endParaRPr>
            </a:p>
            <a:p>
              <a:pPr indent="0" fontAlgn="auto">
                <a:lnSpc>
                  <a:spcPts val="14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完成情况：</a:t>
              </a:r>
              <a:r>
                <a:rPr lang="zh-CN" altLang="en-US" sz="1000" dirty="0">
                  <a:solidFill>
                    <a:srgbClr val="383838"/>
                  </a:solidFill>
                  <a:effectLst/>
                  <a:latin typeface="微软雅黑"/>
                  <a:ea typeface="微软雅黑"/>
                  <a:cs typeface="微软雅黑"/>
                </a:rPr>
                <a:t>锁定头部主播合作，预售期定金转化率达</a:t>
              </a:r>
              <a:r>
                <a:rPr lang="en-US" altLang="zh-CN" sz="1000" dirty="0">
                  <a:solidFill>
                    <a:srgbClr val="383838"/>
                  </a:solidFill>
                  <a:effectLst/>
                  <a:latin typeface="微软雅黑"/>
                  <a:ea typeface="微软雅黑"/>
                  <a:cs typeface="微软雅黑"/>
                </a:rPr>
                <a:t>35%</a:t>
              </a:r>
              <a:r>
                <a:rPr lang="zh-CN" altLang="en-US" sz="1000" dirty="0">
                  <a:solidFill>
                    <a:srgbClr val="383838"/>
                  </a:solidFill>
                  <a:effectLst/>
                  <a:latin typeface="微软雅黑"/>
                  <a:ea typeface="微软雅黑"/>
                  <a:cs typeface="微软雅黑"/>
                </a:rPr>
                <a:t>；页面</a:t>
              </a:r>
              <a:r>
                <a:rPr lang="en-US" altLang="zh-CN" sz="1000" dirty="0">
                  <a:solidFill>
                    <a:srgbClr val="383838"/>
                  </a:solidFill>
                  <a:effectLst/>
                  <a:latin typeface="微软雅黑"/>
                  <a:ea typeface="微软雅黑"/>
                  <a:cs typeface="微软雅黑"/>
                </a:rPr>
                <a:t>UV</a:t>
              </a:r>
              <a:r>
                <a:rPr lang="zh-CN" altLang="en-US" sz="1000" dirty="0">
                  <a:solidFill>
                    <a:srgbClr val="383838"/>
                  </a:solidFill>
                  <a:effectLst/>
                  <a:latin typeface="微软雅黑"/>
                  <a:ea typeface="微软雅黑"/>
                  <a:cs typeface="微软雅黑"/>
                </a:rPr>
                <a:t>蓄水池达</a:t>
              </a:r>
              <a:r>
                <a:rPr lang="en-US" altLang="zh-CN" sz="1000" dirty="0">
                  <a:solidFill>
                    <a:srgbClr val="383838"/>
                  </a:solidFill>
                  <a:effectLst/>
                  <a:latin typeface="微软雅黑"/>
                  <a:ea typeface="微软雅黑"/>
                  <a:cs typeface="微软雅黑"/>
                </a:rPr>
                <a:t>500</a:t>
              </a:r>
              <a:r>
                <a:rPr lang="zh-CN" altLang="en-US" sz="1000" dirty="0">
                  <a:solidFill>
                    <a:srgbClr val="383838"/>
                  </a:solidFill>
                  <a:effectLst/>
                  <a:latin typeface="微软雅黑"/>
                  <a:ea typeface="微软雅黑"/>
                  <a:cs typeface="微软雅黑"/>
                </a:rPr>
                <a:t>万，为爆发奠定基础。</a:t>
              </a:r>
              <a:endParaRPr lang="zh-CN" altLang="en-US" sz="1000" dirty="0">
                <a:solidFill>
                  <a:srgbClr val="383838"/>
                </a:solidFill>
                <a:effectLst/>
                <a:latin typeface="微软雅黑"/>
                <a:ea typeface="微软雅黑"/>
                <a:cs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20" name="图片 19"/>
            <p:cNvPicPr>
              <a:picLocks noChangeAspect="1"/>
            </p:cNvPicPr>
            <p:nvPr userDrawn="1"/>
          </p:nvPicPr>
          <p:blipFill>
            <a:blip r:embed="rId39"/>
            <a:srcRect l="17002" t="-1765" r="56499" b="-1176"/>
            <a:stretch>
              <a:fillRect/>
            </a:stretch>
          </p:blipFill>
          <p:spPr>
            <a:xfrm>
              <a:off x="13761" y="549"/>
              <a:ext cx="1582" cy="525"/>
            </a:xfrm>
            <a:prstGeom prst="rect">
              <a:avLst/>
            </a:prstGeom>
          </p:spPr>
        </p:pic>
        <p:sp>
          <p:nvSpPr>
            <p:cNvPr id="21" name="文本框 2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95694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产品研发年度</a:t>
            </a:r>
            <a:r>
              <a:rPr sz="2500">
                <a:solidFill>
                  <a:srgbClr val="383838"/>
                </a:solidFill>
                <a:effectLst/>
                <a:latin typeface="微软雅黑"/>
                <a:ea typeface="微软雅黑"/>
                <a:cs typeface="微软雅黑"/>
                <a:sym typeface="微软雅黑"/>
              </a:rPr>
              <a:t>工作汇报</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4" name="任意形状 13"/>
          <p:cNvSpPr/>
          <p:nvPr/>
        </p:nvSpPr>
        <p:spPr>
          <a:xfrm>
            <a:off x="196850" y="3649980"/>
            <a:ext cx="11418570" cy="331470"/>
          </a:xfrm>
          <a:custGeom>
            <a:avLst/>
            <a:gdLst>
              <a:gd name="connsiteX0" fmla="*/ 0 w 11266169"/>
              <a:gd name="connsiteY0" fmla="*/ 0 h 331470"/>
              <a:gd name="connsiteX1" fmla="*/ 0 w 11266169"/>
              <a:gd name="connsiteY1" fmla="*/ 166370 h 331470"/>
              <a:gd name="connsiteX2" fmla="*/ 0 w 11266169"/>
              <a:gd name="connsiteY2" fmla="*/ 331470 h 331470"/>
              <a:gd name="connsiteX3" fmla="*/ 11176000 w 11266169"/>
              <a:gd name="connsiteY3" fmla="*/ 331470 h 331470"/>
              <a:gd name="connsiteX4" fmla="*/ 11266170 w 11266169"/>
              <a:gd name="connsiteY4" fmla="*/ 166370 h 331470"/>
              <a:gd name="connsiteX5" fmla="*/ 11176000 w 11266169"/>
              <a:gd name="connsiteY5" fmla="*/ 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66169" h="331470">
                <a:moveTo>
                  <a:pt x="0" y="0"/>
                </a:moveTo>
                <a:lnTo>
                  <a:pt x="0" y="166370"/>
                </a:lnTo>
                <a:lnTo>
                  <a:pt x="0" y="331470"/>
                </a:lnTo>
                <a:lnTo>
                  <a:pt x="11176000" y="331470"/>
                </a:lnTo>
                <a:lnTo>
                  <a:pt x="11266170" y="166370"/>
                </a:lnTo>
                <a:lnTo>
                  <a:pt x="11176000" y="0"/>
                </a:lnTo>
                <a:close/>
              </a:path>
            </a:pathLst>
          </a:custGeom>
          <a:gradFill>
            <a:gsLst>
              <a:gs pos="0">
                <a:srgbClr val="E6E6E6"/>
              </a:gs>
              <a:gs pos="99000">
                <a:srgbClr val="668EFF"/>
              </a:gs>
            </a:gsLst>
            <a:lin ang="0" scaled="0"/>
          </a:gradFill>
          <a:ln w="1270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20" name="图形 8"/>
          <p:cNvGrpSpPr/>
          <p:nvPr/>
        </p:nvGrpSpPr>
        <p:grpSpPr>
          <a:xfrm>
            <a:off x="252730" y="3256280"/>
            <a:ext cx="311150" cy="166370"/>
            <a:chOff x="659130" y="3732530"/>
            <a:chExt cx="311150" cy="166370"/>
          </a:xfrm>
          <a:gradFill>
            <a:gsLst>
              <a:gs pos="0">
                <a:srgbClr val="3368FF"/>
              </a:gs>
              <a:gs pos="99000">
                <a:srgbClr val="0042FF"/>
              </a:gs>
            </a:gsLst>
            <a:lin ang="0" scaled="0"/>
          </a:gradFill>
        </p:grpSpPr>
        <p:sp>
          <p:nvSpPr>
            <p:cNvPr id="21" name="任意形状 16"/>
            <p:cNvSpPr/>
            <p:nvPr/>
          </p:nvSpPr>
          <p:spPr>
            <a:xfrm>
              <a:off x="762000" y="3732530"/>
              <a:ext cx="104139" cy="166370"/>
            </a:xfrm>
            <a:custGeom>
              <a:avLst/>
              <a:gdLst>
                <a:gd name="connsiteX0" fmla="*/ 58420 w 104139"/>
                <a:gd name="connsiteY0" fmla="*/ 0 h 166370"/>
                <a:gd name="connsiteX1" fmla="*/ 0 w 104139"/>
                <a:gd name="connsiteY1" fmla="*/ 0 h 166370"/>
                <a:gd name="connsiteX2" fmla="*/ 45720 w 104139"/>
                <a:gd name="connsiteY2" fmla="*/ 83820 h 166370"/>
                <a:gd name="connsiteX3" fmla="*/ 0 w 104139"/>
                <a:gd name="connsiteY3" fmla="*/ 166370 h 166370"/>
                <a:gd name="connsiteX4" fmla="*/ 58420 w 104139"/>
                <a:gd name="connsiteY4" fmla="*/ 166370 h 166370"/>
                <a:gd name="connsiteX5" fmla="*/ 104140 w 104139"/>
                <a:gd name="connsiteY5" fmla="*/ 83820 h 16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139" h="166370">
                  <a:moveTo>
                    <a:pt x="58420" y="0"/>
                  </a:moveTo>
                  <a:lnTo>
                    <a:pt x="0" y="0"/>
                  </a:lnTo>
                  <a:lnTo>
                    <a:pt x="45720" y="83820"/>
                  </a:lnTo>
                  <a:lnTo>
                    <a:pt x="0" y="166370"/>
                  </a:lnTo>
                  <a:lnTo>
                    <a:pt x="58420" y="166370"/>
                  </a:lnTo>
                  <a:lnTo>
                    <a:pt x="104140" y="83820"/>
                  </a:lnTo>
                  <a:close/>
                </a:path>
              </a:pathLst>
            </a:custGeom>
            <a:grpFill/>
            <a:ln w="1270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 name="任意形状 17"/>
            <p:cNvSpPr/>
            <p:nvPr/>
          </p:nvSpPr>
          <p:spPr>
            <a:xfrm>
              <a:off x="866139" y="3732530"/>
              <a:ext cx="104140" cy="166370"/>
            </a:xfrm>
            <a:custGeom>
              <a:avLst/>
              <a:gdLst>
                <a:gd name="connsiteX0" fmla="*/ 58420 w 104140"/>
                <a:gd name="connsiteY0" fmla="*/ 0 h 166370"/>
                <a:gd name="connsiteX1" fmla="*/ 0 w 104140"/>
                <a:gd name="connsiteY1" fmla="*/ 0 h 166370"/>
                <a:gd name="connsiteX2" fmla="*/ 44450 w 104140"/>
                <a:gd name="connsiteY2" fmla="*/ 83820 h 166370"/>
                <a:gd name="connsiteX3" fmla="*/ 0 w 104140"/>
                <a:gd name="connsiteY3" fmla="*/ 166370 h 166370"/>
                <a:gd name="connsiteX4" fmla="*/ 58420 w 104140"/>
                <a:gd name="connsiteY4" fmla="*/ 166370 h 166370"/>
                <a:gd name="connsiteX5" fmla="*/ 104140 w 104140"/>
                <a:gd name="connsiteY5" fmla="*/ 83820 h 16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140" h="166370">
                  <a:moveTo>
                    <a:pt x="58420" y="0"/>
                  </a:moveTo>
                  <a:lnTo>
                    <a:pt x="0" y="0"/>
                  </a:lnTo>
                  <a:lnTo>
                    <a:pt x="44450" y="83820"/>
                  </a:lnTo>
                  <a:lnTo>
                    <a:pt x="0" y="166370"/>
                  </a:lnTo>
                  <a:lnTo>
                    <a:pt x="58420" y="166370"/>
                  </a:lnTo>
                  <a:lnTo>
                    <a:pt x="104140" y="83820"/>
                  </a:lnTo>
                  <a:close/>
                </a:path>
              </a:pathLst>
            </a:custGeom>
            <a:grpFill/>
            <a:ln w="1270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 name="任意形状 19"/>
            <p:cNvSpPr/>
            <p:nvPr/>
          </p:nvSpPr>
          <p:spPr>
            <a:xfrm>
              <a:off x="659130" y="3732530"/>
              <a:ext cx="102869" cy="166370"/>
            </a:xfrm>
            <a:custGeom>
              <a:avLst/>
              <a:gdLst>
                <a:gd name="connsiteX0" fmla="*/ 58420 w 102869"/>
                <a:gd name="connsiteY0" fmla="*/ 0 h 166370"/>
                <a:gd name="connsiteX1" fmla="*/ 0 w 102869"/>
                <a:gd name="connsiteY1" fmla="*/ 0 h 166370"/>
                <a:gd name="connsiteX2" fmla="*/ 44450 w 102869"/>
                <a:gd name="connsiteY2" fmla="*/ 83820 h 166370"/>
                <a:gd name="connsiteX3" fmla="*/ 0 w 102869"/>
                <a:gd name="connsiteY3" fmla="*/ 166370 h 166370"/>
                <a:gd name="connsiteX4" fmla="*/ 58420 w 102869"/>
                <a:gd name="connsiteY4" fmla="*/ 166370 h 166370"/>
                <a:gd name="connsiteX5" fmla="*/ 102870 w 102869"/>
                <a:gd name="connsiteY5" fmla="*/ 83820 h 16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869" h="166370">
                  <a:moveTo>
                    <a:pt x="58420" y="0"/>
                  </a:moveTo>
                  <a:lnTo>
                    <a:pt x="0" y="0"/>
                  </a:lnTo>
                  <a:lnTo>
                    <a:pt x="44450" y="83820"/>
                  </a:lnTo>
                  <a:lnTo>
                    <a:pt x="0" y="166370"/>
                  </a:lnTo>
                  <a:lnTo>
                    <a:pt x="58420" y="166370"/>
                  </a:lnTo>
                  <a:lnTo>
                    <a:pt x="102870" y="83820"/>
                  </a:lnTo>
                  <a:close/>
                </a:path>
              </a:pathLst>
            </a:custGeom>
            <a:grpFill/>
            <a:ln w="1270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109" name="组合 108"/>
          <p:cNvGrpSpPr/>
          <p:nvPr/>
        </p:nvGrpSpPr>
        <p:grpSpPr>
          <a:xfrm>
            <a:off x="949960" y="1092835"/>
            <a:ext cx="1590675" cy="2263140"/>
            <a:chOff x="2090" y="1721"/>
            <a:chExt cx="2505" cy="3564"/>
          </a:xfrm>
        </p:grpSpPr>
        <p:sp>
          <p:nvSpPr>
            <p:cNvPr id="106" name="任意形状 23"/>
            <p:cNvSpPr/>
            <p:nvPr/>
          </p:nvSpPr>
          <p:spPr>
            <a:xfrm>
              <a:off x="2090" y="1721"/>
              <a:ext cx="20" cy="3564"/>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07" name="文本框 106"/>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完成年度规划，明确</a:t>
              </a:r>
              <a:r>
                <a:rPr kumimoji="1" lang="en-US" altLang="zh-CN" sz="1000" dirty="0">
                  <a:solidFill>
                    <a:srgbClr val="383838">
                      <a:alpha val="80000"/>
                    </a:srgbClr>
                  </a:solidFill>
                  <a:latin typeface="微软雅黑"/>
                  <a:ea typeface="微软雅黑"/>
                  <a:cs typeface="微软雅黑"/>
                </a:rPr>
                <a:t>Q1</a:t>
              </a:r>
              <a:r>
                <a:rPr kumimoji="1" lang="zh-CN" altLang="en-US" sz="1000" dirty="0">
                  <a:solidFill>
                    <a:srgbClr val="383838">
                      <a:alpha val="80000"/>
                    </a:srgbClr>
                  </a:solidFill>
                  <a:latin typeface="微软雅黑"/>
                  <a:ea typeface="微软雅黑"/>
                  <a:cs typeface="微软雅黑"/>
                </a:rPr>
                <a:t>优先级；</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输出年度产品路线图，确定</a:t>
              </a:r>
              <a:r>
                <a:rPr kumimoji="1" lang="en-US" altLang="zh-CN" sz="1000" dirty="0">
                  <a:solidFill>
                    <a:srgbClr val="383838">
                      <a:alpha val="80000"/>
                    </a:srgbClr>
                  </a:solidFill>
                  <a:latin typeface="微软雅黑"/>
                  <a:ea typeface="微软雅黑"/>
                  <a:cs typeface="微软雅黑"/>
                </a:rPr>
                <a:t>3</a:t>
              </a:r>
              <a:r>
                <a:rPr kumimoji="1" lang="zh-CN" altLang="en-US" sz="1000" dirty="0">
                  <a:solidFill>
                    <a:srgbClr val="383838">
                      <a:alpha val="80000"/>
                    </a:srgbClr>
                  </a:solidFill>
                  <a:latin typeface="微软雅黑"/>
                  <a:ea typeface="微软雅黑"/>
                  <a:cs typeface="微软雅黑"/>
                </a:rPr>
                <a:t>个核心项目排期，完成去年复盘报告。</a:t>
              </a:r>
              <a:endParaRPr kumimoji="1" lang="zh-CN" altLang="en-US" sz="1000" dirty="0">
                <a:solidFill>
                  <a:srgbClr val="383838">
                    <a:alpha val="80000"/>
                  </a:srgbClr>
                </a:solidFill>
                <a:latin typeface="微软雅黑"/>
                <a:ea typeface="微软雅黑"/>
                <a:cs typeface="微软雅黑"/>
              </a:endParaRPr>
            </a:p>
          </p:txBody>
        </p:sp>
        <p:sp>
          <p:nvSpPr>
            <p:cNvPr id="108" name="文本框 107"/>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规划与复盘</a:t>
              </a:r>
              <a:endParaRPr kumimoji="1" lang="zh-CN" altLang="en-US" sz="1400" b="1" dirty="0">
                <a:solidFill>
                  <a:srgbClr val="0042FF"/>
                </a:solidFill>
                <a:latin typeface="微软雅黑"/>
                <a:ea typeface="微软雅黑"/>
                <a:cs typeface="微软雅黑"/>
              </a:endParaRPr>
            </a:p>
          </p:txBody>
        </p:sp>
      </p:grpSp>
      <p:grpSp>
        <p:nvGrpSpPr>
          <p:cNvPr id="110" name="组合 109"/>
          <p:cNvGrpSpPr/>
          <p:nvPr/>
        </p:nvGrpSpPr>
        <p:grpSpPr>
          <a:xfrm>
            <a:off x="2711450" y="1092835"/>
            <a:ext cx="1590675" cy="2263140"/>
            <a:chOff x="2090" y="1721"/>
            <a:chExt cx="2505" cy="3564"/>
          </a:xfrm>
        </p:grpSpPr>
        <p:sp>
          <p:nvSpPr>
            <p:cNvPr id="111" name="任意形状 23"/>
            <p:cNvSpPr/>
            <p:nvPr/>
          </p:nvSpPr>
          <p:spPr>
            <a:xfrm>
              <a:off x="2090" y="1721"/>
              <a:ext cx="20" cy="3564"/>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12" name="文本框 111"/>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梳理</a:t>
              </a:r>
              <a:r>
                <a:rPr kumimoji="1" lang="en-US" altLang="zh-CN" sz="1000" dirty="0">
                  <a:solidFill>
                    <a:srgbClr val="383838">
                      <a:alpha val="80000"/>
                    </a:srgbClr>
                  </a:solidFill>
                  <a:latin typeface="微软雅黑"/>
                  <a:ea typeface="微软雅黑"/>
                  <a:cs typeface="微软雅黑"/>
                </a:rPr>
                <a:t>Q2</a:t>
              </a:r>
              <a:r>
                <a:rPr kumimoji="1" lang="zh-CN" altLang="en-US" sz="1000" dirty="0">
                  <a:solidFill>
                    <a:srgbClr val="383838">
                      <a:alpha val="80000"/>
                    </a:srgbClr>
                  </a:solidFill>
                  <a:latin typeface="微软雅黑"/>
                  <a:ea typeface="微软雅黑"/>
                  <a:cs typeface="微软雅黑"/>
                </a:rPr>
                <a:t>需求池，启动用户调研；</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输出</a:t>
              </a:r>
              <a:r>
                <a:rPr kumimoji="1" lang="en-US" altLang="zh-CN" sz="1000" dirty="0">
                  <a:solidFill>
                    <a:srgbClr val="383838">
                      <a:alpha val="80000"/>
                    </a:srgbClr>
                  </a:solidFill>
                  <a:latin typeface="微软雅黑"/>
                  <a:ea typeface="微软雅黑"/>
                  <a:cs typeface="微软雅黑"/>
                </a:rPr>
                <a:t>Q2</a:t>
              </a:r>
              <a:r>
                <a:rPr kumimoji="1" lang="zh-CN" altLang="en-US" sz="1000" dirty="0">
                  <a:solidFill>
                    <a:srgbClr val="383838">
                      <a:alpha val="80000"/>
                    </a:srgbClr>
                  </a:solidFill>
                  <a:latin typeface="微软雅黑"/>
                  <a:ea typeface="微软雅黑"/>
                  <a:cs typeface="微软雅黑"/>
                </a:rPr>
                <a:t>迭代计划，完成</a:t>
              </a:r>
              <a:r>
                <a:rPr kumimoji="1" lang="en-US" altLang="zh-CN" sz="1000" dirty="0">
                  <a:solidFill>
                    <a:srgbClr val="383838">
                      <a:alpha val="80000"/>
                    </a:srgbClr>
                  </a:solidFill>
                  <a:latin typeface="微软雅黑"/>
                  <a:ea typeface="微软雅黑"/>
                  <a:cs typeface="微软雅黑"/>
                </a:rPr>
                <a:t>50+</a:t>
              </a:r>
              <a:r>
                <a:rPr kumimoji="1" lang="zh-CN" altLang="en-US" sz="1000" dirty="0">
                  <a:solidFill>
                    <a:srgbClr val="383838">
                      <a:alpha val="80000"/>
                    </a:srgbClr>
                  </a:solidFill>
                  <a:latin typeface="微软雅黑"/>
                  <a:ea typeface="微软雅黑"/>
                  <a:cs typeface="微软雅黑"/>
                </a:rPr>
                <a:t>用户深度访谈，沉淀需求文档</a:t>
              </a:r>
              <a:r>
                <a:rPr kumimoji="1" lang="en-US" altLang="zh-CN" sz="1000" dirty="0">
                  <a:solidFill>
                    <a:srgbClr val="383838">
                      <a:alpha val="80000"/>
                    </a:srgbClr>
                  </a:solidFill>
                  <a:latin typeface="微软雅黑"/>
                  <a:ea typeface="微软雅黑"/>
                  <a:cs typeface="微软雅黑"/>
                </a:rPr>
                <a:t>12</a:t>
              </a:r>
              <a:r>
                <a:rPr kumimoji="1" lang="zh-CN" altLang="en-US" sz="1000" dirty="0">
                  <a:solidFill>
                    <a:srgbClr val="383838">
                      <a:alpha val="80000"/>
                    </a:srgbClr>
                  </a:solidFill>
                  <a:latin typeface="微软雅黑"/>
                  <a:ea typeface="微软雅黑"/>
                  <a:cs typeface="微软雅黑"/>
                </a:rPr>
                <a:t>份。</a:t>
              </a:r>
              <a:endParaRPr kumimoji="1" lang="zh-CN" altLang="en-US" sz="1000" dirty="0">
                <a:solidFill>
                  <a:srgbClr val="383838">
                    <a:alpha val="80000"/>
                  </a:srgbClr>
                </a:solidFill>
                <a:latin typeface="微软雅黑"/>
                <a:ea typeface="微软雅黑"/>
                <a:cs typeface="微软雅黑"/>
              </a:endParaRPr>
            </a:p>
          </p:txBody>
        </p:sp>
        <p:sp>
          <p:nvSpPr>
            <p:cNvPr id="113" name="文本框 112"/>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需求梳理</a:t>
              </a:r>
              <a:endParaRPr kumimoji="1" lang="zh-CN" altLang="en-US" sz="1400" b="1" dirty="0">
                <a:solidFill>
                  <a:srgbClr val="0042FF"/>
                </a:solidFill>
                <a:latin typeface="微软雅黑"/>
                <a:ea typeface="微软雅黑"/>
                <a:cs typeface="微软雅黑"/>
              </a:endParaRPr>
            </a:p>
          </p:txBody>
        </p:sp>
      </p:grpSp>
      <p:grpSp>
        <p:nvGrpSpPr>
          <p:cNvPr id="114" name="组合 113"/>
          <p:cNvGrpSpPr/>
          <p:nvPr/>
        </p:nvGrpSpPr>
        <p:grpSpPr>
          <a:xfrm>
            <a:off x="4478020" y="1092835"/>
            <a:ext cx="1590675" cy="2263140"/>
            <a:chOff x="2090" y="1721"/>
            <a:chExt cx="2505" cy="3564"/>
          </a:xfrm>
        </p:grpSpPr>
        <p:sp>
          <p:nvSpPr>
            <p:cNvPr id="115" name="任意形状 23"/>
            <p:cNvSpPr/>
            <p:nvPr/>
          </p:nvSpPr>
          <p:spPr>
            <a:xfrm>
              <a:off x="2090" y="1721"/>
              <a:ext cx="20" cy="3564"/>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16" name="文本框 115"/>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优化注册流程，提升转化率；</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注册转化率从</a:t>
              </a:r>
              <a:r>
                <a:rPr kumimoji="1" lang="en-US" altLang="zh-CN" sz="1000" dirty="0">
                  <a:solidFill>
                    <a:srgbClr val="383838">
                      <a:alpha val="80000"/>
                    </a:srgbClr>
                  </a:solidFill>
                  <a:latin typeface="微软雅黑"/>
                  <a:ea typeface="微软雅黑"/>
                  <a:cs typeface="微软雅黑"/>
                </a:rPr>
                <a:t>65%</a:t>
              </a:r>
              <a:r>
                <a:rPr kumimoji="1" lang="zh-CN" altLang="en-US" sz="1000" dirty="0">
                  <a:solidFill>
                    <a:srgbClr val="383838">
                      <a:alpha val="80000"/>
                    </a:srgbClr>
                  </a:solidFill>
                  <a:latin typeface="微软雅黑"/>
                  <a:ea typeface="微软雅黑"/>
                  <a:cs typeface="微软雅黑"/>
                </a:rPr>
                <a:t>提升至</a:t>
              </a:r>
              <a:r>
                <a:rPr kumimoji="1" lang="en-US" altLang="zh-CN" sz="1000" dirty="0">
                  <a:solidFill>
                    <a:srgbClr val="383838">
                      <a:alpha val="80000"/>
                    </a:srgbClr>
                  </a:solidFill>
                  <a:latin typeface="微软雅黑"/>
                  <a:ea typeface="微软雅黑"/>
                  <a:cs typeface="微软雅黑"/>
                </a:rPr>
                <a:t>78%</a:t>
              </a:r>
              <a:r>
                <a:rPr kumimoji="1" lang="zh-CN" altLang="en-US" sz="1000" dirty="0">
                  <a:solidFill>
                    <a:srgbClr val="383838">
                      <a:alpha val="80000"/>
                    </a:srgbClr>
                  </a:solidFill>
                  <a:latin typeface="微软雅黑"/>
                  <a:ea typeface="微软雅黑"/>
                  <a:cs typeface="微软雅黑"/>
                </a:rPr>
                <a:t>，平均注册时长缩短</a:t>
              </a:r>
              <a:r>
                <a:rPr kumimoji="1" lang="en-US" altLang="zh-CN" sz="1000" dirty="0">
                  <a:solidFill>
                    <a:srgbClr val="383838">
                      <a:alpha val="80000"/>
                    </a:srgbClr>
                  </a:solidFill>
                  <a:latin typeface="微软雅黑"/>
                  <a:ea typeface="微软雅黑"/>
                  <a:cs typeface="微软雅黑"/>
                </a:rPr>
                <a:t>40</a:t>
              </a:r>
              <a:r>
                <a:rPr kumimoji="1" lang="zh-CN" altLang="en-US" sz="1000" dirty="0">
                  <a:solidFill>
                    <a:srgbClr val="383838">
                      <a:alpha val="80000"/>
                    </a:srgbClr>
                  </a:solidFill>
                  <a:latin typeface="微软雅黑"/>
                  <a:ea typeface="微软雅黑"/>
                  <a:cs typeface="微软雅黑"/>
                </a:rPr>
                <a:t>秒。</a:t>
              </a:r>
              <a:endParaRPr kumimoji="1" lang="zh-CN" altLang="en-US" sz="1000" dirty="0">
                <a:solidFill>
                  <a:srgbClr val="383838">
                    <a:alpha val="80000"/>
                  </a:srgbClr>
                </a:solidFill>
                <a:latin typeface="微软雅黑"/>
                <a:ea typeface="微软雅黑"/>
                <a:cs typeface="微软雅黑"/>
              </a:endParaRPr>
            </a:p>
          </p:txBody>
        </p:sp>
        <p:sp>
          <p:nvSpPr>
            <p:cNvPr id="117" name="文本框 116"/>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体验</a:t>
              </a:r>
              <a:r>
                <a:rPr kumimoji="1" lang="zh-CN" altLang="en-US" sz="1400" b="1" dirty="0">
                  <a:solidFill>
                    <a:srgbClr val="0042FF"/>
                  </a:solidFill>
                  <a:latin typeface="微软雅黑"/>
                  <a:ea typeface="微软雅黑"/>
                  <a:cs typeface="微软雅黑"/>
                  <a:sym typeface="微软雅黑"/>
                </a:rPr>
                <a:t>优化</a:t>
              </a:r>
              <a:endParaRPr kumimoji="1" lang="zh-CN" altLang="en-US" sz="1400" b="1" dirty="0">
                <a:solidFill>
                  <a:srgbClr val="0042FF"/>
                </a:solidFill>
                <a:latin typeface="微软雅黑"/>
                <a:ea typeface="微软雅黑"/>
                <a:cs typeface="微软雅黑"/>
              </a:endParaRPr>
            </a:p>
          </p:txBody>
        </p:sp>
      </p:grpSp>
      <p:grpSp>
        <p:nvGrpSpPr>
          <p:cNvPr id="118" name="组合 117"/>
          <p:cNvGrpSpPr/>
          <p:nvPr/>
        </p:nvGrpSpPr>
        <p:grpSpPr>
          <a:xfrm>
            <a:off x="6210935" y="1092835"/>
            <a:ext cx="1590675" cy="2263140"/>
            <a:chOff x="2090" y="1721"/>
            <a:chExt cx="2505" cy="3564"/>
          </a:xfrm>
        </p:grpSpPr>
        <p:sp>
          <p:nvSpPr>
            <p:cNvPr id="119" name="任意形状 23"/>
            <p:cNvSpPr/>
            <p:nvPr/>
          </p:nvSpPr>
          <p:spPr>
            <a:xfrm>
              <a:off x="2090" y="1721"/>
              <a:ext cx="20" cy="3564"/>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20" name="文本框 119"/>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搭建数据看板，完善埋点体系；</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上线数据分析看板，覆盖</a:t>
              </a:r>
              <a:r>
                <a:rPr kumimoji="1" lang="en-US" altLang="zh-CN" sz="1000" dirty="0">
                  <a:solidFill>
                    <a:srgbClr val="383838">
                      <a:alpha val="80000"/>
                    </a:srgbClr>
                  </a:solidFill>
                  <a:latin typeface="微软雅黑"/>
                  <a:ea typeface="微软雅黑"/>
                  <a:cs typeface="微软雅黑"/>
                </a:rPr>
                <a:t>30+</a:t>
              </a:r>
              <a:r>
                <a:rPr kumimoji="1" lang="zh-CN" altLang="en-US" sz="1000" dirty="0">
                  <a:solidFill>
                    <a:srgbClr val="383838">
                      <a:alpha val="80000"/>
                    </a:srgbClr>
                  </a:solidFill>
                  <a:latin typeface="微软雅黑"/>
                  <a:ea typeface="微软雅黑"/>
                  <a:cs typeface="微软雅黑"/>
                </a:rPr>
                <a:t>核心指标，埋点准确率提升至</a:t>
              </a:r>
              <a:r>
                <a:rPr kumimoji="1" lang="en-US" altLang="zh-CN" sz="1000" dirty="0">
                  <a:solidFill>
                    <a:srgbClr val="383838">
                      <a:alpha val="80000"/>
                    </a:srgbClr>
                  </a:solidFill>
                  <a:latin typeface="微软雅黑"/>
                  <a:ea typeface="微软雅黑"/>
                  <a:cs typeface="微软雅黑"/>
                </a:rPr>
                <a:t>98%</a:t>
              </a:r>
              <a:r>
                <a:rPr kumimoji="1" lang="zh-CN" altLang="en-US" sz="1000" dirty="0">
                  <a:solidFill>
                    <a:srgbClr val="383838">
                      <a:alpha val="80000"/>
                    </a:srgbClr>
                  </a:solidFill>
                  <a:latin typeface="微软雅黑"/>
                  <a:ea typeface="微软雅黑"/>
                  <a:cs typeface="微软雅黑"/>
                </a:rPr>
                <a:t>。</a:t>
              </a:r>
              <a:endParaRPr kumimoji="1" lang="zh-CN" altLang="en-US" sz="1000" dirty="0">
                <a:solidFill>
                  <a:srgbClr val="383838">
                    <a:alpha val="80000"/>
                  </a:srgbClr>
                </a:solidFill>
                <a:latin typeface="微软雅黑"/>
                <a:ea typeface="微软雅黑"/>
                <a:cs typeface="微软雅黑"/>
              </a:endParaRPr>
            </a:p>
          </p:txBody>
        </p:sp>
        <p:sp>
          <p:nvSpPr>
            <p:cNvPr id="121" name="文本框 120"/>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数据基建</a:t>
              </a:r>
              <a:endParaRPr kumimoji="1" lang="zh-CN" altLang="en-US" sz="1400" b="1" dirty="0">
                <a:solidFill>
                  <a:srgbClr val="0042FF"/>
                </a:solidFill>
                <a:latin typeface="微软雅黑"/>
                <a:ea typeface="微软雅黑"/>
                <a:cs typeface="微软雅黑"/>
              </a:endParaRPr>
            </a:p>
          </p:txBody>
        </p:sp>
      </p:grpSp>
      <p:grpSp>
        <p:nvGrpSpPr>
          <p:cNvPr id="122" name="组合 121"/>
          <p:cNvGrpSpPr/>
          <p:nvPr/>
        </p:nvGrpSpPr>
        <p:grpSpPr>
          <a:xfrm>
            <a:off x="7959090" y="1092835"/>
            <a:ext cx="1590675" cy="2263140"/>
            <a:chOff x="2090" y="1721"/>
            <a:chExt cx="2505" cy="3564"/>
          </a:xfrm>
        </p:grpSpPr>
        <p:sp>
          <p:nvSpPr>
            <p:cNvPr id="123" name="任意形状 23"/>
            <p:cNvSpPr/>
            <p:nvPr/>
          </p:nvSpPr>
          <p:spPr>
            <a:xfrm>
              <a:off x="2090" y="1721"/>
              <a:ext cx="20" cy="3564"/>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24" name="文本框 123"/>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完成双</a:t>
              </a:r>
              <a:r>
                <a:rPr kumimoji="1" lang="en-US" altLang="zh-CN" sz="1000" dirty="0">
                  <a:solidFill>
                    <a:srgbClr val="383838">
                      <a:alpha val="80000"/>
                    </a:srgbClr>
                  </a:solidFill>
                  <a:latin typeface="微软雅黑"/>
                  <a:ea typeface="微软雅黑"/>
                  <a:cs typeface="微软雅黑"/>
                </a:rPr>
                <a:t>11</a:t>
              </a:r>
              <a:r>
                <a:rPr kumimoji="1" lang="zh-CN" altLang="en-US" sz="1000" dirty="0">
                  <a:solidFill>
                    <a:srgbClr val="383838">
                      <a:alpha val="80000"/>
                    </a:srgbClr>
                  </a:solidFill>
                  <a:latin typeface="微软雅黑"/>
                  <a:ea typeface="微软雅黑"/>
                  <a:cs typeface="微软雅黑"/>
                </a:rPr>
                <a:t>预售、凑单等功能开发；</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提前完成功能开发，通过</a:t>
              </a:r>
              <a:r>
                <a:rPr kumimoji="1" lang="en-US" altLang="zh-CN" sz="1000" dirty="0">
                  <a:solidFill>
                    <a:srgbClr val="383838">
                      <a:alpha val="80000"/>
                    </a:srgbClr>
                  </a:solidFill>
                  <a:latin typeface="微软雅黑"/>
                  <a:ea typeface="微软雅黑"/>
                  <a:cs typeface="微软雅黑"/>
                </a:rPr>
                <a:t>3</a:t>
              </a:r>
              <a:r>
                <a:rPr kumimoji="1" lang="zh-CN" altLang="en-US" sz="1000" dirty="0">
                  <a:solidFill>
                    <a:srgbClr val="383838">
                      <a:alpha val="80000"/>
                    </a:srgbClr>
                  </a:solidFill>
                  <a:latin typeface="微软雅黑"/>
                  <a:ea typeface="微软雅黑"/>
                  <a:cs typeface="微软雅黑"/>
                </a:rPr>
                <a:t>轮压力测试，预留</a:t>
              </a:r>
              <a:r>
                <a:rPr kumimoji="1" lang="en-US" altLang="zh-CN" sz="1000" dirty="0">
                  <a:solidFill>
                    <a:srgbClr val="383838">
                      <a:alpha val="80000"/>
                    </a:srgbClr>
                  </a:solidFill>
                  <a:latin typeface="微软雅黑"/>
                  <a:ea typeface="微软雅黑"/>
                  <a:cs typeface="微软雅黑"/>
                </a:rPr>
                <a:t>20%</a:t>
              </a:r>
              <a:r>
                <a:rPr kumimoji="1" lang="zh-CN" altLang="en-US" sz="1000" dirty="0">
                  <a:solidFill>
                    <a:srgbClr val="383838">
                      <a:alpha val="80000"/>
                    </a:srgbClr>
                  </a:solidFill>
                  <a:latin typeface="微软雅黑"/>
                  <a:ea typeface="微软雅黑"/>
                  <a:cs typeface="微软雅黑"/>
                </a:rPr>
                <a:t>冗余容量。</a:t>
              </a:r>
              <a:endParaRPr kumimoji="1" lang="zh-CN" altLang="en-US" sz="1000" dirty="0">
                <a:solidFill>
                  <a:srgbClr val="383838">
                    <a:alpha val="80000"/>
                  </a:srgbClr>
                </a:solidFill>
                <a:latin typeface="微软雅黑"/>
                <a:ea typeface="微软雅黑"/>
                <a:cs typeface="微软雅黑"/>
              </a:endParaRPr>
            </a:p>
          </p:txBody>
        </p:sp>
        <p:sp>
          <p:nvSpPr>
            <p:cNvPr id="125" name="文本框 124"/>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双</a:t>
              </a:r>
              <a:r>
                <a:rPr kumimoji="1" lang="en-US" altLang="zh-CN" sz="1400" b="1" dirty="0">
                  <a:solidFill>
                    <a:srgbClr val="0042FF"/>
                  </a:solidFill>
                  <a:latin typeface="微软雅黑"/>
                  <a:ea typeface="微软雅黑"/>
                  <a:cs typeface="微软雅黑"/>
                </a:rPr>
                <a:t>11</a:t>
              </a:r>
              <a:r>
                <a:rPr kumimoji="1" lang="zh-CN" altLang="en-US" sz="1400" b="1" dirty="0">
                  <a:solidFill>
                    <a:srgbClr val="0042FF"/>
                  </a:solidFill>
                  <a:latin typeface="微软雅黑"/>
                  <a:ea typeface="微软雅黑"/>
                  <a:cs typeface="微软雅黑"/>
                </a:rPr>
                <a:t>筹备</a:t>
              </a:r>
              <a:endParaRPr kumimoji="1" lang="zh-CN" altLang="en-US" sz="1400" b="1" dirty="0">
                <a:solidFill>
                  <a:srgbClr val="0042FF"/>
                </a:solidFill>
                <a:latin typeface="微软雅黑"/>
                <a:ea typeface="微软雅黑"/>
                <a:cs typeface="微软雅黑"/>
              </a:endParaRPr>
            </a:p>
          </p:txBody>
        </p:sp>
      </p:grpSp>
      <p:grpSp>
        <p:nvGrpSpPr>
          <p:cNvPr id="126" name="组合 125"/>
          <p:cNvGrpSpPr/>
          <p:nvPr/>
        </p:nvGrpSpPr>
        <p:grpSpPr>
          <a:xfrm>
            <a:off x="9692005" y="1092835"/>
            <a:ext cx="1590675" cy="2263140"/>
            <a:chOff x="2090" y="1721"/>
            <a:chExt cx="2505" cy="3564"/>
          </a:xfrm>
        </p:grpSpPr>
        <p:sp>
          <p:nvSpPr>
            <p:cNvPr id="127" name="任意形状 23"/>
            <p:cNvSpPr/>
            <p:nvPr/>
          </p:nvSpPr>
          <p:spPr>
            <a:xfrm>
              <a:off x="2090" y="1721"/>
              <a:ext cx="20" cy="3564"/>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28" name="文本框 127"/>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保障双</a:t>
              </a:r>
              <a:r>
                <a:rPr kumimoji="1" lang="en-US" altLang="zh-CN" sz="1000" dirty="0">
                  <a:solidFill>
                    <a:srgbClr val="383838">
                      <a:alpha val="80000"/>
                    </a:srgbClr>
                  </a:solidFill>
                  <a:latin typeface="微软雅黑"/>
                  <a:ea typeface="微软雅黑"/>
                  <a:cs typeface="微软雅黑"/>
                </a:rPr>
                <a:t>11</a:t>
              </a:r>
              <a:r>
                <a:rPr kumimoji="1" lang="zh-CN" altLang="en-US" sz="1000" dirty="0">
                  <a:solidFill>
                    <a:srgbClr val="383838">
                      <a:alpha val="80000"/>
                    </a:srgbClr>
                  </a:solidFill>
                  <a:latin typeface="微软雅黑"/>
                  <a:ea typeface="微软雅黑"/>
                  <a:cs typeface="微软雅黑"/>
                </a:rPr>
                <a:t>系统稳定与实时监控；</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双</a:t>
              </a:r>
              <a:r>
                <a:rPr kumimoji="1" lang="en-US" altLang="zh-CN" sz="1000" dirty="0">
                  <a:solidFill>
                    <a:srgbClr val="383838">
                      <a:alpha val="80000"/>
                    </a:srgbClr>
                  </a:solidFill>
                  <a:latin typeface="微软雅黑"/>
                  <a:ea typeface="微软雅黑"/>
                  <a:cs typeface="微软雅黑"/>
                </a:rPr>
                <a:t>11</a:t>
              </a:r>
              <a:r>
                <a:rPr kumimoji="1" lang="zh-CN" altLang="en-US" sz="1000" dirty="0">
                  <a:solidFill>
                    <a:srgbClr val="383838">
                      <a:alpha val="80000"/>
                    </a:srgbClr>
                  </a:solidFill>
                  <a:latin typeface="微软雅黑"/>
                  <a:ea typeface="微软雅黑"/>
                  <a:cs typeface="微软雅黑"/>
                </a:rPr>
                <a:t>当日</a:t>
              </a:r>
              <a:r>
                <a:rPr kumimoji="1" lang="en-US" altLang="zh-CN" sz="1000" dirty="0">
                  <a:solidFill>
                    <a:srgbClr val="383838">
                      <a:alpha val="80000"/>
                    </a:srgbClr>
                  </a:solidFill>
                  <a:latin typeface="微软雅黑"/>
                  <a:ea typeface="微软雅黑"/>
                  <a:cs typeface="微软雅黑"/>
                </a:rPr>
                <a:t>GMV</a:t>
              </a:r>
              <a:r>
                <a:rPr kumimoji="1" lang="zh-CN" altLang="en-US" sz="1000" dirty="0">
                  <a:solidFill>
                    <a:srgbClr val="383838">
                      <a:alpha val="80000"/>
                    </a:srgbClr>
                  </a:solidFill>
                  <a:latin typeface="微软雅黑"/>
                  <a:ea typeface="微软雅黑"/>
                  <a:cs typeface="微软雅黑"/>
                </a:rPr>
                <a:t>创历史新高，系统可用性</a:t>
              </a:r>
              <a:r>
                <a:rPr kumimoji="1" lang="en-US" altLang="zh-CN" sz="1000" dirty="0">
                  <a:solidFill>
                    <a:srgbClr val="383838">
                      <a:alpha val="80000"/>
                    </a:srgbClr>
                  </a:solidFill>
                  <a:latin typeface="微软雅黑"/>
                  <a:ea typeface="微软雅黑"/>
                  <a:cs typeface="微软雅黑"/>
                </a:rPr>
                <a:t>99.95%</a:t>
              </a:r>
              <a:r>
                <a:rPr kumimoji="1" lang="zh-CN" altLang="en-US" sz="1000" dirty="0">
                  <a:solidFill>
                    <a:srgbClr val="383838">
                      <a:alpha val="80000"/>
                    </a:srgbClr>
                  </a:solidFill>
                  <a:latin typeface="微软雅黑"/>
                  <a:ea typeface="微软雅黑"/>
                  <a:cs typeface="微软雅黑"/>
                </a:rPr>
                <a:t>，首屏加载</a:t>
              </a:r>
              <a:r>
                <a:rPr kumimoji="1" lang="en-US" altLang="zh-CN" sz="1000" dirty="0">
                  <a:solidFill>
                    <a:srgbClr val="383838">
                      <a:alpha val="80000"/>
                    </a:srgbClr>
                  </a:solidFill>
                  <a:latin typeface="微软雅黑"/>
                  <a:ea typeface="微软雅黑"/>
                  <a:cs typeface="微软雅黑"/>
                </a:rPr>
                <a:t>1.2</a:t>
              </a:r>
              <a:r>
                <a:rPr kumimoji="1" lang="zh-CN" altLang="en-US" sz="1000" dirty="0">
                  <a:solidFill>
                    <a:srgbClr val="383838">
                      <a:alpha val="80000"/>
                    </a:srgbClr>
                  </a:solidFill>
                  <a:latin typeface="微软雅黑"/>
                  <a:ea typeface="微软雅黑"/>
                  <a:cs typeface="微软雅黑"/>
                </a:rPr>
                <a:t>秒内。</a:t>
              </a:r>
              <a:endParaRPr kumimoji="1" lang="zh-CN" altLang="en-US" sz="1000" dirty="0">
                <a:solidFill>
                  <a:srgbClr val="383838">
                    <a:alpha val="80000"/>
                  </a:srgbClr>
                </a:solidFill>
                <a:latin typeface="微软雅黑"/>
                <a:ea typeface="微软雅黑"/>
                <a:cs typeface="微软雅黑"/>
              </a:endParaRPr>
            </a:p>
          </p:txBody>
        </p:sp>
        <p:sp>
          <p:nvSpPr>
            <p:cNvPr id="129" name="文本框 128"/>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大促保障</a:t>
              </a:r>
              <a:endParaRPr kumimoji="1" lang="zh-CN" altLang="en-US" sz="1400" b="1" dirty="0">
                <a:solidFill>
                  <a:srgbClr val="0042FF"/>
                </a:solidFill>
                <a:latin typeface="微软雅黑"/>
                <a:ea typeface="微软雅黑"/>
                <a:cs typeface="微软雅黑"/>
              </a:endParaRPr>
            </a:p>
          </p:txBody>
        </p:sp>
      </p:grpSp>
      <p:grpSp>
        <p:nvGrpSpPr>
          <p:cNvPr id="130" name="组合 129"/>
          <p:cNvGrpSpPr/>
          <p:nvPr/>
        </p:nvGrpSpPr>
        <p:grpSpPr>
          <a:xfrm>
            <a:off x="1873885" y="4462145"/>
            <a:ext cx="1551940" cy="1878965"/>
            <a:chOff x="2151" y="2116"/>
            <a:chExt cx="2444" cy="2959"/>
          </a:xfrm>
        </p:grpSpPr>
        <p:sp>
          <p:nvSpPr>
            <p:cNvPr id="132" name="文本框 131"/>
            <p:cNvSpPr txBox="1"/>
            <p:nvPr/>
          </p:nvSpPr>
          <p:spPr>
            <a:xfrm>
              <a:off x="2151" y="2766"/>
              <a:ext cx="2444" cy="2309"/>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保障春节系统稳定运行；</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春节期间系统零故障，核心页面加载耗时优化</a:t>
              </a:r>
              <a:r>
                <a:rPr kumimoji="1" lang="en-US" altLang="zh-CN" sz="1000" dirty="0">
                  <a:solidFill>
                    <a:srgbClr val="383838">
                      <a:alpha val="80000"/>
                    </a:srgbClr>
                  </a:solidFill>
                  <a:latin typeface="微软雅黑"/>
                  <a:ea typeface="微软雅黑"/>
                  <a:cs typeface="微软雅黑"/>
                </a:rPr>
                <a:t>15%</a:t>
              </a:r>
              <a:r>
                <a:rPr kumimoji="1" lang="zh-CN" altLang="en-US" sz="1000" dirty="0">
                  <a:solidFill>
                    <a:srgbClr val="383838">
                      <a:alpha val="80000"/>
                    </a:srgbClr>
                  </a:solidFill>
                  <a:latin typeface="微软雅黑"/>
                  <a:ea typeface="微软雅黑"/>
                  <a:cs typeface="微软雅黑"/>
                </a:rPr>
                <a:t>，用户满意度提升</a:t>
              </a:r>
              <a:r>
                <a:rPr kumimoji="1" lang="en-US" altLang="zh-CN" sz="1000" dirty="0">
                  <a:solidFill>
                    <a:srgbClr val="383838">
                      <a:alpha val="80000"/>
                    </a:srgbClr>
                  </a:solidFill>
                  <a:latin typeface="微软雅黑"/>
                  <a:ea typeface="微软雅黑"/>
                  <a:cs typeface="微软雅黑"/>
                </a:rPr>
                <a:t>5%</a:t>
              </a:r>
              <a:r>
                <a:rPr kumimoji="1" lang="zh-CN" altLang="en-US" sz="1000" dirty="0">
                  <a:solidFill>
                    <a:srgbClr val="383838">
                      <a:alpha val="80000"/>
                    </a:srgbClr>
                  </a:solidFill>
                  <a:latin typeface="微软雅黑"/>
                  <a:ea typeface="微软雅黑"/>
                  <a:cs typeface="微软雅黑"/>
                </a:rPr>
                <a:t>。</a:t>
              </a:r>
              <a:endParaRPr kumimoji="1" lang="zh-CN" altLang="en-US" sz="1000" dirty="0">
                <a:solidFill>
                  <a:srgbClr val="383838">
                    <a:alpha val="80000"/>
                  </a:srgbClr>
                </a:solidFill>
                <a:latin typeface="微软雅黑"/>
                <a:ea typeface="微软雅黑"/>
                <a:cs typeface="微软雅黑"/>
              </a:endParaRPr>
            </a:p>
          </p:txBody>
        </p:sp>
        <p:sp>
          <p:nvSpPr>
            <p:cNvPr id="133" name="文本框 132"/>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春节保障</a:t>
              </a:r>
              <a:endParaRPr kumimoji="1" lang="zh-CN" altLang="en-US" sz="1400" b="1" dirty="0">
                <a:solidFill>
                  <a:srgbClr val="0042FF"/>
                </a:solidFill>
                <a:latin typeface="微软雅黑"/>
                <a:ea typeface="微软雅黑"/>
                <a:cs typeface="微软雅黑"/>
              </a:endParaRPr>
            </a:p>
          </p:txBody>
        </p:sp>
      </p:grpSp>
      <p:grpSp>
        <p:nvGrpSpPr>
          <p:cNvPr id="134" name="组合 133"/>
          <p:cNvGrpSpPr/>
          <p:nvPr/>
        </p:nvGrpSpPr>
        <p:grpSpPr>
          <a:xfrm>
            <a:off x="3627120" y="4455160"/>
            <a:ext cx="1551940" cy="1878965"/>
            <a:chOff x="2151" y="2116"/>
            <a:chExt cx="2444" cy="2959"/>
          </a:xfrm>
        </p:grpSpPr>
        <p:sp>
          <p:nvSpPr>
            <p:cNvPr id="136" name="文本框 135"/>
            <p:cNvSpPr txBox="1"/>
            <p:nvPr/>
          </p:nvSpPr>
          <p:spPr>
            <a:xfrm>
              <a:off x="2151" y="2766"/>
              <a:ext cx="2444" cy="2309"/>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上线用户成长体系</a:t>
              </a:r>
              <a:r>
                <a:rPr kumimoji="1" lang="en-US" altLang="zh-CN" sz="1000" dirty="0">
                  <a:solidFill>
                    <a:srgbClr val="383838">
                      <a:alpha val="80000"/>
                    </a:srgbClr>
                  </a:solidFill>
                  <a:latin typeface="微软雅黑"/>
                  <a:ea typeface="微软雅黑"/>
                  <a:cs typeface="微软雅黑"/>
                </a:rPr>
                <a:t>V1.0</a:t>
              </a:r>
              <a:r>
                <a:rPr kumimoji="1" lang="zh-CN" altLang="en-US" sz="1000" dirty="0">
                  <a:solidFill>
                    <a:srgbClr val="383838">
                      <a:alpha val="80000"/>
                    </a:srgbClr>
                  </a:solidFill>
                  <a:latin typeface="微软雅黑"/>
                  <a:ea typeface="微软雅黑"/>
                  <a:cs typeface="微软雅黑"/>
                </a:rPr>
                <a:t>；</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成长体系如期上线，参与用户达</a:t>
              </a:r>
              <a:r>
                <a:rPr kumimoji="1" lang="en-US" altLang="zh-CN" sz="1000" dirty="0">
                  <a:solidFill>
                    <a:srgbClr val="383838">
                      <a:alpha val="80000"/>
                    </a:srgbClr>
                  </a:solidFill>
                  <a:latin typeface="微软雅黑"/>
                  <a:ea typeface="微软雅黑"/>
                  <a:cs typeface="微软雅黑"/>
                </a:rPr>
                <a:t>30</a:t>
              </a:r>
              <a:r>
                <a:rPr kumimoji="1" lang="zh-CN" altLang="en-US" sz="1000" dirty="0">
                  <a:solidFill>
                    <a:srgbClr val="383838">
                      <a:alpha val="80000"/>
                    </a:srgbClr>
                  </a:solidFill>
                  <a:latin typeface="微软雅黑"/>
                  <a:ea typeface="微软雅黑"/>
                  <a:cs typeface="微软雅黑"/>
                </a:rPr>
                <a:t>万，次月留存率较未参与用户高</a:t>
              </a:r>
              <a:r>
                <a:rPr kumimoji="1" lang="en-US" altLang="zh-CN" sz="1000" dirty="0">
                  <a:solidFill>
                    <a:srgbClr val="383838">
                      <a:alpha val="80000"/>
                    </a:srgbClr>
                  </a:solidFill>
                  <a:latin typeface="微软雅黑"/>
                  <a:ea typeface="微软雅黑"/>
                  <a:cs typeface="微软雅黑"/>
                </a:rPr>
                <a:t>18%</a:t>
              </a:r>
              <a:r>
                <a:rPr kumimoji="1" lang="zh-CN" altLang="en-US" sz="1000" dirty="0">
                  <a:solidFill>
                    <a:srgbClr val="383838">
                      <a:alpha val="80000"/>
                    </a:srgbClr>
                  </a:solidFill>
                  <a:latin typeface="微软雅黑"/>
                  <a:ea typeface="微软雅黑"/>
                  <a:cs typeface="微软雅黑"/>
                </a:rPr>
                <a:t>。</a:t>
              </a:r>
              <a:endParaRPr kumimoji="1" lang="zh-CN" altLang="en-US" sz="1000" dirty="0">
                <a:solidFill>
                  <a:srgbClr val="383838">
                    <a:alpha val="80000"/>
                  </a:srgbClr>
                </a:solidFill>
                <a:latin typeface="微软雅黑"/>
                <a:ea typeface="微软雅黑"/>
                <a:cs typeface="微软雅黑"/>
              </a:endParaRPr>
            </a:p>
          </p:txBody>
        </p:sp>
        <p:sp>
          <p:nvSpPr>
            <p:cNvPr id="137" name="文本框 136"/>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功能上线</a:t>
              </a:r>
              <a:endParaRPr kumimoji="1" lang="zh-CN" altLang="en-US" sz="1400" b="1" dirty="0">
                <a:solidFill>
                  <a:srgbClr val="0042FF"/>
                </a:solidFill>
                <a:latin typeface="微软雅黑"/>
                <a:ea typeface="微软雅黑"/>
                <a:cs typeface="微软雅黑"/>
              </a:endParaRPr>
            </a:p>
          </p:txBody>
        </p:sp>
      </p:grpSp>
      <p:grpSp>
        <p:nvGrpSpPr>
          <p:cNvPr id="138" name="组合 137"/>
          <p:cNvGrpSpPr/>
          <p:nvPr/>
        </p:nvGrpSpPr>
        <p:grpSpPr>
          <a:xfrm>
            <a:off x="5393690" y="4460875"/>
            <a:ext cx="1551940" cy="1878965"/>
            <a:chOff x="2151" y="2116"/>
            <a:chExt cx="2444" cy="2959"/>
          </a:xfrm>
        </p:grpSpPr>
        <p:sp>
          <p:nvSpPr>
            <p:cNvPr id="140" name="文本框 139"/>
            <p:cNvSpPr txBox="1"/>
            <p:nvPr/>
          </p:nvSpPr>
          <p:spPr>
            <a:xfrm>
              <a:off x="2151" y="2766"/>
              <a:ext cx="2444" cy="2309"/>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完成</a:t>
              </a:r>
              <a:r>
                <a:rPr kumimoji="1" lang="en-US" altLang="zh-CN" sz="1000" dirty="0">
                  <a:solidFill>
                    <a:srgbClr val="383838">
                      <a:alpha val="80000"/>
                    </a:srgbClr>
                  </a:solidFill>
                  <a:latin typeface="微软雅黑"/>
                  <a:ea typeface="微软雅黑"/>
                  <a:cs typeface="微软雅黑"/>
                </a:rPr>
                <a:t>618</a:t>
              </a:r>
              <a:r>
                <a:rPr kumimoji="1" lang="zh-CN" altLang="en-US" sz="1000" dirty="0">
                  <a:solidFill>
                    <a:srgbClr val="383838">
                      <a:alpha val="80000"/>
                    </a:srgbClr>
                  </a:solidFill>
                  <a:latin typeface="微软雅黑"/>
                  <a:ea typeface="微软雅黑"/>
                  <a:cs typeface="微软雅黑"/>
                </a:rPr>
                <a:t>大促功能开发与压测；</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大促期间系统承载峰值</a:t>
              </a:r>
              <a:r>
                <a:rPr kumimoji="1" lang="en-US" altLang="zh-CN" sz="1000" dirty="0">
                  <a:solidFill>
                    <a:srgbClr val="383838">
                      <a:alpha val="80000"/>
                    </a:srgbClr>
                  </a:solidFill>
                  <a:latin typeface="微软雅黑"/>
                  <a:ea typeface="微软雅黑"/>
                  <a:cs typeface="微软雅黑"/>
                </a:rPr>
                <a:t>QPS</a:t>
              </a:r>
              <a:r>
                <a:rPr kumimoji="1" lang="zh-CN" altLang="en-US" sz="1000" dirty="0">
                  <a:solidFill>
                    <a:srgbClr val="383838">
                      <a:alpha val="80000"/>
                    </a:srgbClr>
                  </a:solidFill>
                  <a:latin typeface="微软雅黑"/>
                  <a:ea typeface="微软雅黑"/>
                  <a:cs typeface="微软雅黑"/>
                </a:rPr>
                <a:t>达</a:t>
              </a:r>
              <a:r>
                <a:rPr kumimoji="1" lang="en-US" altLang="zh-CN" sz="1000" dirty="0">
                  <a:solidFill>
                    <a:srgbClr val="383838">
                      <a:alpha val="80000"/>
                    </a:srgbClr>
                  </a:solidFill>
                  <a:latin typeface="微软雅黑"/>
                  <a:ea typeface="微软雅黑"/>
                  <a:cs typeface="微软雅黑"/>
                </a:rPr>
                <a:t>8000</a:t>
              </a:r>
              <a:r>
                <a:rPr kumimoji="1" lang="zh-CN" altLang="en-US" sz="1000" dirty="0">
                  <a:solidFill>
                    <a:srgbClr val="383838">
                      <a:alpha val="80000"/>
                    </a:srgbClr>
                  </a:solidFill>
                  <a:latin typeface="微软雅黑"/>
                  <a:ea typeface="微软雅黑"/>
                  <a:cs typeface="微软雅黑"/>
                </a:rPr>
                <a:t>，订单处理成功率</a:t>
              </a:r>
              <a:r>
                <a:rPr kumimoji="1" lang="en-US" altLang="zh-CN" sz="1000" dirty="0">
                  <a:solidFill>
                    <a:srgbClr val="383838">
                      <a:alpha val="80000"/>
                    </a:srgbClr>
                  </a:solidFill>
                  <a:latin typeface="微软雅黑"/>
                  <a:ea typeface="微软雅黑"/>
                  <a:cs typeface="微软雅黑"/>
                </a:rPr>
                <a:t>99.5%</a:t>
              </a:r>
              <a:r>
                <a:rPr kumimoji="1" lang="zh-CN" altLang="en-US" sz="1000" dirty="0">
                  <a:solidFill>
                    <a:srgbClr val="383838">
                      <a:alpha val="80000"/>
                    </a:srgbClr>
                  </a:solidFill>
                  <a:latin typeface="微软雅黑"/>
                  <a:ea typeface="微软雅黑"/>
                  <a:cs typeface="微软雅黑"/>
                </a:rPr>
                <a:t>，零重大事故。</a:t>
              </a:r>
              <a:endParaRPr kumimoji="1" lang="zh-CN" altLang="en-US" sz="1000" dirty="0">
                <a:solidFill>
                  <a:srgbClr val="383838">
                    <a:alpha val="80000"/>
                  </a:srgbClr>
                </a:solidFill>
                <a:latin typeface="微软雅黑"/>
                <a:ea typeface="微软雅黑"/>
                <a:cs typeface="微软雅黑"/>
              </a:endParaRPr>
            </a:p>
          </p:txBody>
        </p:sp>
        <p:sp>
          <p:nvSpPr>
            <p:cNvPr id="141" name="文本框 140"/>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大促备战</a:t>
              </a:r>
              <a:endParaRPr kumimoji="1" lang="zh-CN" altLang="en-US" sz="1400" b="1" dirty="0">
                <a:solidFill>
                  <a:srgbClr val="0042FF"/>
                </a:solidFill>
                <a:latin typeface="微软雅黑"/>
                <a:ea typeface="微软雅黑"/>
                <a:cs typeface="微软雅黑"/>
              </a:endParaRPr>
            </a:p>
          </p:txBody>
        </p:sp>
      </p:grpSp>
      <p:grpSp>
        <p:nvGrpSpPr>
          <p:cNvPr id="142" name="组合 141"/>
          <p:cNvGrpSpPr/>
          <p:nvPr/>
        </p:nvGrpSpPr>
        <p:grpSpPr>
          <a:xfrm>
            <a:off x="7126605" y="4460875"/>
            <a:ext cx="1551940" cy="1670685"/>
            <a:chOff x="2151" y="2116"/>
            <a:chExt cx="2444" cy="2631"/>
          </a:xfrm>
        </p:grpSpPr>
        <p:sp>
          <p:nvSpPr>
            <p:cNvPr id="144" name="文本框 143"/>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上线个性化推荐模块</a:t>
              </a:r>
              <a:r>
                <a:rPr kumimoji="1" lang="en-US" altLang="zh-CN" sz="1000" dirty="0">
                  <a:solidFill>
                    <a:srgbClr val="383838">
                      <a:alpha val="80000"/>
                    </a:srgbClr>
                  </a:solidFill>
                  <a:latin typeface="微软雅黑"/>
                  <a:ea typeface="微软雅黑"/>
                  <a:cs typeface="微软雅黑"/>
                </a:rPr>
                <a:t>V1.0</a:t>
              </a:r>
              <a:r>
                <a:rPr kumimoji="1" lang="zh-CN" altLang="en-US" sz="1000" dirty="0">
                  <a:solidFill>
                    <a:srgbClr val="383838">
                      <a:alpha val="80000"/>
                    </a:srgbClr>
                  </a:solidFill>
                  <a:latin typeface="微软雅黑"/>
                  <a:ea typeface="微软雅黑"/>
                  <a:cs typeface="微软雅黑"/>
                </a:rPr>
                <a:t>；</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推荐位点击率提升</a:t>
              </a:r>
              <a:r>
                <a:rPr kumimoji="1" lang="en-US" altLang="zh-CN" sz="1000" dirty="0">
                  <a:solidFill>
                    <a:srgbClr val="383838">
                      <a:alpha val="80000"/>
                    </a:srgbClr>
                  </a:solidFill>
                  <a:latin typeface="微软雅黑"/>
                  <a:ea typeface="微软雅黑"/>
                  <a:cs typeface="微软雅黑"/>
                </a:rPr>
                <a:t>25%</a:t>
              </a:r>
              <a:r>
                <a:rPr kumimoji="1" lang="zh-CN" altLang="en-US" sz="1000" dirty="0">
                  <a:solidFill>
                    <a:srgbClr val="383838">
                      <a:alpha val="80000"/>
                    </a:srgbClr>
                  </a:solidFill>
                  <a:latin typeface="微软雅黑"/>
                  <a:ea typeface="微软雅黑"/>
                  <a:cs typeface="微软雅黑"/>
                </a:rPr>
                <a:t>，用户人均使用时长从</a:t>
              </a:r>
              <a:r>
                <a:rPr kumimoji="1" lang="en-US" altLang="zh-CN" sz="1000" dirty="0">
                  <a:solidFill>
                    <a:srgbClr val="383838">
                      <a:alpha val="80000"/>
                    </a:srgbClr>
                  </a:solidFill>
                  <a:latin typeface="微软雅黑"/>
                  <a:ea typeface="微软雅黑"/>
                  <a:cs typeface="微软雅黑"/>
                </a:rPr>
                <a:t>15</a:t>
              </a:r>
              <a:r>
                <a:rPr kumimoji="1" lang="zh-CN" altLang="en-US" sz="1000" dirty="0">
                  <a:solidFill>
                    <a:srgbClr val="383838">
                      <a:alpha val="80000"/>
                    </a:srgbClr>
                  </a:solidFill>
                  <a:latin typeface="微软雅黑"/>
                  <a:ea typeface="微软雅黑"/>
                  <a:cs typeface="微软雅黑"/>
                </a:rPr>
                <a:t>分钟增至</a:t>
              </a:r>
              <a:r>
                <a:rPr kumimoji="1" lang="en-US" altLang="zh-CN" sz="1000" dirty="0">
                  <a:solidFill>
                    <a:srgbClr val="383838">
                      <a:alpha val="80000"/>
                    </a:srgbClr>
                  </a:solidFill>
                  <a:latin typeface="微软雅黑"/>
                  <a:ea typeface="微软雅黑"/>
                  <a:cs typeface="微软雅黑"/>
                </a:rPr>
                <a:t>22</a:t>
              </a:r>
              <a:r>
                <a:rPr kumimoji="1" lang="zh-CN" altLang="en-US" sz="1000" dirty="0">
                  <a:solidFill>
                    <a:srgbClr val="383838">
                      <a:alpha val="80000"/>
                    </a:srgbClr>
                  </a:solidFill>
                  <a:latin typeface="微软雅黑"/>
                  <a:ea typeface="微软雅黑"/>
                  <a:cs typeface="微软雅黑"/>
                </a:rPr>
                <a:t>分钟。</a:t>
              </a:r>
              <a:endParaRPr kumimoji="1" lang="zh-CN" altLang="en-US" sz="1000" dirty="0">
                <a:solidFill>
                  <a:srgbClr val="383838">
                    <a:alpha val="80000"/>
                  </a:srgbClr>
                </a:solidFill>
                <a:latin typeface="微软雅黑"/>
                <a:ea typeface="微软雅黑"/>
                <a:cs typeface="微软雅黑"/>
              </a:endParaRPr>
            </a:p>
          </p:txBody>
        </p:sp>
        <p:sp>
          <p:nvSpPr>
            <p:cNvPr id="145" name="文本框 144"/>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推荐算法</a:t>
              </a:r>
              <a:endParaRPr kumimoji="1" lang="zh-CN" altLang="en-US" sz="1400" b="1" dirty="0">
                <a:solidFill>
                  <a:srgbClr val="0042FF"/>
                </a:solidFill>
                <a:latin typeface="微软雅黑"/>
                <a:ea typeface="微软雅黑"/>
                <a:cs typeface="微软雅黑"/>
              </a:endParaRPr>
            </a:p>
          </p:txBody>
        </p:sp>
      </p:grpSp>
      <p:grpSp>
        <p:nvGrpSpPr>
          <p:cNvPr id="146" name="组合 145"/>
          <p:cNvGrpSpPr/>
          <p:nvPr/>
        </p:nvGrpSpPr>
        <p:grpSpPr>
          <a:xfrm>
            <a:off x="8874760" y="4450715"/>
            <a:ext cx="1551940" cy="1670685"/>
            <a:chOff x="2151" y="2116"/>
            <a:chExt cx="2444" cy="2631"/>
          </a:xfrm>
        </p:grpSpPr>
        <p:sp>
          <p:nvSpPr>
            <p:cNvPr id="148" name="文本框 147"/>
            <p:cNvSpPr txBox="1"/>
            <p:nvPr/>
          </p:nvSpPr>
          <p:spPr>
            <a:xfrm>
              <a:off x="2151" y="2766"/>
              <a:ext cx="2444" cy="1981"/>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开展年度用户满意度调研；</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回收问卷</a:t>
              </a:r>
              <a:r>
                <a:rPr kumimoji="1" lang="en-US" altLang="zh-CN" sz="1000" dirty="0">
                  <a:solidFill>
                    <a:srgbClr val="383838">
                      <a:alpha val="80000"/>
                    </a:srgbClr>
                  </a:solidFill>
                  <a:latin typeface="微软雅黑"/>
                  <a:ea typeface="微软雅黑"/>
                  <a:cs typeface="微软雅黑"/>
                </a:rPr>
                <a:t>5000</a:t>
              </a:r>
              <a:r>
                <a:rPr kumimoji="1" lang="zh-CN" altLang="en-US" sz="1000" dirty="0">
                  <a:solidFill>
                    <a:srgbClr val="383838">
                      <a:alpha val="80000"/>
                    </a:srgbClr>
                  </a:solidFill>
                  <a:latin typeface="微软雅黑"/>
                  <a:ea typeface="微软雅黑"/>
                  <a:cs typeface="微软雅黑"/>
                </a:rPr>
                <a:t>份，</a:t>
              </a:r>
              <a:r>
                <a:rPr kumimoji="1" lang="en-US" altLang="zh-CN" sz="1000" dirty="0">
                  <a:solidFill>
                    <a:srgbClr val="383838">
                      <a:alpha val="80000"/>
                    </a:srgbClr>
                  </a:solidFill>
                  <a:latin typeface="微软雅黑"/>
                  <a:ea typeface="微软雅黑"/>
                  <a:cs typeface="微软雅黑"/>
                </a:rPr>
                <a:t>NPS</a:t>
              </a:r>
              <a:r>
                <a:rPr kumimoji="1" lang="zh-CN" altLang="en-US" sz="1000" dirty="0">
                  <a:solidFill>
                    <a:srgbClr val="383838">
                      <a:alpha val="80000"/>
                    </a:srgbClr>
                  </a:solidFill>
                  <a:latin typeface="微软雅黑"/>
                  <a:ea typeface="微软雅黑"/>
                  <a:cs typeface="微软雅黑"/>
                </a:rPr>
                <a:t>得分提升至</a:t>
              </a:r>
              <a:r>
                <a:rPr kumimoji="1" lang="en-US" altLang="zh-CN" sz="1000" dirty="0">
                  <a:solidFill>
                    <a:srgbClr val="383838">
                      <a:alpha val="80000"/>
                    </a:srgbClr>
                  </a:solidFill>
                  <a:latin typeface="微软雅黑"/>
                  <a:ea typeface="微软雅黑"/>
                  <a:cs typeface="微软雅黑"/>
                </a:rPr>
                <a:t>55</a:t>
              </a:r>
              <a:r>
                <a:rPr kumimoji="1" lang="zh-CN" altLang="en-US" sz="1000" dirty="0">
                  <a:solidFill>
                    <a:srgbClr val="383838">
                      <a:alpha val="80000"/>
                    </a:srgbClr>
                  </a:solidFill>
                  <a:latin typeface="微软雅黑"/>
                  <a:ea typeface="微软雅黑"/>
                  <a:cs typeface="微软雅黑"/>
                </a:rPr>
                <a:t>，整理优化建议</a:t>
              </a:r>
              <a:r>
                <a:rPr kumimoji="1" lang="en-US" altLang="zh-CN" sz="1000" dirty="0">
                  <a:solidFill>
                    <a:srgbClr val="383838">
                      <a:alpha val="80000"/>
                    </a:srgbClr>
                  </a:solidFill>
                  <a:latin typeface="微软雅黑"/>
                  <a:ea typeface="微软雅黑"/>
                  <a:cs typeface="微软雅黑"/>
                </a:rPr>
                <a:t>120</a:t>
              </a:r>
              <a:r>
                <a:rPr kumimoji="1" lang="zh-CN" altLang="en-US" sz="1000" dirty="0">
                  <a:solidFill>
                    <a:srgbClr val="383838">
                      <a:alpha val="80000"/>
                    </a:srgbClr>
                  </a:solidFill>
                  <a:latin typeface="微软雅黑"/>
                  <a:ea typeface="微软雅黑"/>
                  <a:cs typeface="微软雅黑"/>
                </a:rPr>
                <a:t>条。</a:t>
              </a:r>
              <a:endParaRPr kumimoji="1" lang="zh-CN" altLang="en-US" sz="1000" dirty="0">
                <a:solidFill>
                  <a:srgbClr val="383838">
                    <a:alpha val="80000"/>
                  </a:srgbClr>
                </a:solidFill>
                <a:latin typeface="微软雅黑"/>
                <a:ea typeface="微软雅黑"/>
                <a:cs typeface="微软雅黑"/>
              </a:endParaRPr>
            </a:p>
          </p:txBody>
        </p:sp>
        <p:sp>
          <p:nvSpPr>
            <p:cNvPr id="149" name="文本框 148"/>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sz="1400" b="1" dirty="0">
                  <a:solidFill>
                    <a:srgbClr val="0042FF"/>
                  </a:solidFill>
                  <a:latin typeface="微软雅黑"/>
                  <a:ea typeface="微软雅黑"/>
                  <a:cs typeface="微软雅黑"/>
                </a:rPr>
                <a:t>用户调研</a:t>
              </a:r>
              <a:endParaRPr kumimoji="1" lang="zh-CN" sz="1400" b="1" dirty="0">
                <a:solidFill>
                  <a:srgbClr val="0042FF"/>
                </a:solidFill>
                <a:latin typeface="微软雅黑"/>
                <a:ea typeface="微软雅黑"/>
                <a:cs typeface="微软雅黑"/>
              </a:endParaRPr>
            </a:p>
          </p:txBody>
        </p:sp>
      </p:grpSp>
      <p:grpSp>
        <p:nvGrpSpPr>
          <p:cNvPr id="150" name="组合 149"/>
          <p:cNvGrpSpPr/>
          <p:nvPr/>
        </p:nvGrpSpPr>
        <p:grpSpPr>
          <a:xfrm>
            <a:off x="10546715" y="4465955"/>
            <a:ext cx="1551940" cy="1878965"/>
            <a:chOff x="2151" y="2116"/>
            <a:chExt cx="2444" cy="2959"/>
          </a:xfrm>
        </p:grpSpPr>
        <p:sp>
          <p:nvSpPr>
            <p:cNvPr id="152" name="文本框 151"/>
            <p:cNvSpPr txBox="1"/>
            <p:nvPr/>
          </p:nvSpPr>
          <p:spPr>
            <a:xfrm>
              <a:off x="2151" y="2766"/>
              <a:ext cx="2444" cy="2309"/>
            </a:xfrm>
            <a:prstGeom prst="rect">
              <a:avLst/>
            </a:prstGeom>
            <a:noFill/>
          </p:spPr>
          <p:txBody>
            <a:bodyPr wrap="square" rtlCol="0" lIns="0" rIns="0" tIns="0" bIns="0" anchor="t">
              <a:noAutofit/>
            </a:bodyPr>
            <a:lstStyle/>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阶段目标：</a:t>
              </a:r>
              <a:r>
                <a:rPr kumimoji="1" lang="zh-CN" altLang="en-US" sz="1000" dirty="0">
                  <a:solidFill>
                    <a:srgbClr val="383838">
                      <a:alpha val="80000"/>
                    </a:srgbClr>
                  </a:solidFill>
                  <a:latin typeface="微软雅黑"/>
                  <a:ea typeface="微软雅黑"/>
                  <a:cs typeface="微软雅黑"/>
                </a:rPr>
                <a:t>完成年度复盘与次年规划；</a:t>
              </a:r>
              <a:endParaRPr kumimoji="1" lang="zh-CN" altLang="en-US" sz="1000" dirty="0">
                <a:solidFill>
                  <a:srgbClr val="383838">
                    <a:alpha val="80000"/>
                  </a:srgbClr>
                </a:solidFill>
                <a:latin typeface="微软雅黑"/>
                <a:ea typeface="微软雅黑"/>
                <a:cs typeface="微软雅黑"/>
              </a:endParaRPr>
            </a:p>
            <a:p>
              <a:pPr algn="just">
                <a:lnSpc>
                  <a:spcPts val="1120"/>
                </a:lnSpc>
                <a:spcAft>
                  <a:spcPts val="0"/>
                </a:spcAft>
                <a:defRPr>
                  <a:latin typeface="微软雅黑"/>
                  <a:ea typeface="微软雅黑"/>
                  <a:cs typeface="微软雅黑"/>
                </a:defRPr>
                <a:spcBef>
                  <a:spcPts val="0"/>
                </a:spcBef>
              </a:pPr>
              <a:r>
                <a:rPr kumimoji="1" lang="zh-CN" altLang="en-US" sz="1000" b="1" dirty="0">
                  <a:solidFill>
                    <a:srgbClr val="383838">
                      <a:alpha val="80000"/>
                    </a:srgbClr>
                  </a:solidFill>
                  <a:latin typeface="微软雅黑"/>
                  <a:ea typeface="微软雅黑"/>
                  <a:cs typeface="微软雅黑"/>
                </a:rPr>
                <a:t>完成情况：</a:t>
              </a:r>
              <a:r>
                <a:rPr kumimoji="1" lang="zh-CN" altLang="en-US" sz="1000" dirty="0">
                  <a:solidFill>
                    <a:srgbClr val="383838">
                      <a:alpha val="80000"/>
                    </a:srgbClr>
                  </a:solidFill>
                  <a:latin typeface="微软雅黑"/>
                  <a:ea typeface="微软雅黑"/>
                  <a:cs typeface="微软雅黑"/>
                </a:rPr>
                <a:t>完成年度复盘报告，确定次年</a:t>
              </a:r>
              <a:r>
                <a:rPr kumimoji="1" lang="en-US" altLang="zh-CN" sz="1000" dirty="0">
                  <a:solidFill>
                    <a:srgbClr val="383838">
                      <a:alpha val="80000"/>
                    </a:srgbClr>
                  </a:solidFill>
                  <a:latin typeface="微软雅黑"/>
                  <a:ea typeface="微软雅黑"/>
                  <a:cs typeface="微软雅黑"/>
                </a:rPr>
                <a:t>3</a:t>
              </a:r>
              <a:r>
                <a:rPr kumimoji="1" lang="zh-CN" altLang="en-US" sz="1000" dirty="0">
                  <a:solidFill>
                    <a:srgbClr val="383838">
                      <a:alpha val="80000"/>
                    </a:srgbClr>
                  </a:solidFill>
                  <a:latin typeface="微软雅黑"/>
                  <a:ea typeface="微软雅黑"/>
                  <a:cs typeface="微软雅黑"/>
                </a:rPr>
                <a:t>个重点项目，</a:t>
              </a:r>
              <a:r>
                <a:rPr kumimoji="1" lang="en-US" altLang="zh-CN" sz="1000" dirty="0">
                  <a:solidFill>
                    <a:srgbClr val="383838">
                      <a:alpha val="80000"/>
                    </a:srgbClr>
                  </a:solidFill>
                  <a:latin typeface="微软雅黑"/>
                  <a:ea typeface="微软雅黑"/>
                  <a:cs typeface="微软雅黑"/>
                </a:rPr>
                <a:t>AI</a:t>
              </a:r>
              <a:r>
                <a:rPr kumimoji="1" lang="zh-CN" altLang="en-US" sz="1000" dirty="0">
                  <a:solidFill>
                    <a:srgbClr val="383838">
                      <a:alpha val="80000"/>
                    </a:srgbClr>
                  </a:solidFill>
                  <a:latin typeface="微软雅黑"/>
                  <a:ea typeface="微软雅黑"/>
                  <a:cs typeface="微软雅黑"/>
                </a:rPr>
                <a:t>助手进入</a:t>
              </a:r>
              <a:r>
                <a:rPr kumimoji="1" lang="en-US" altLang="zh-CN" sz="1000" dirty="0">
                  <a:solidFill>
                    <a:srgbClr val="383838">
                      <a:alpha val="80000"/>
                    </a:srgbClr>
                  </a:solidFill>
                  <a:latin typeface="微软雅黑"/>
                  <a:ea typeface="微软雅黑"/>
                  <a:cs typeface="微软雅黑"/>
                </a:rPr>
                <a:t>MVP</a:t>
              </a:r>
              <a:r>
                <a:rPr kumimoji="1" lang="zh-CN" altLang="en-US" sz="1000" dirty="0">
                  <a:solidFill>
                    <a:srgbClr val="383838">
                      <a:alpha val="80000"/>
                    </a:srgbClr>
                  </a:solidFill>
                  <a:latin typeface="微软雅黑"/>
                  <a:ea typeface="微软雅黑"/>
                  <a:cs typeface="微软雅黑"/>
                </a:rPr>
                <a:t>开发阶段。</a:t>
              </a:r>
              <a:endParaRPr kumimoji="1" lang="zh-CN" altLang="en-US" sz="1000" dirty="0">
                <a:solidFill>
                  <a:srgbClr val="383838">
                    <a:alpha val="80000"/>
                  </a:srgbClr>
                </a:solidFill>
                <a:latin typeface="微软雅黑"/>
                <a:ea typeface="微软雅黑"/>
                <a:cs typeface="微软雅黑"/>
              </a:endParaRPr>
            </a:p>
          </p:txBody>
        </p:sp>
        <p:sp>
          <p:nvSpPr>
            <p:cNvPr id="153" name="文本框 152"/>
            <p:cNvSpPr txBox="1"/>
            <p:nvPr/>
          </p:nvSpPr>
          <p:spPr>
            <a:xfrm>
              <a:off x="2151" y="2116"/>
              <a:ext cx="2383" cy="652"/>
            </a:xfrm>
            <a:prstGeom prst="rect">
              <a:avLst/>
            </a:prstGeom>
            <a:noFill/>
          </p:spPr>
          <p:txBody>
            <a:bodyPr wrap="square" rtlCol="0">
              <a:spAutoFit/>
            </a:bodyPr>
            <a:lstStyle/>
            <a:p>
              <a:pPr algn="just">
                <a:lnSpc>
                  <a:spcPct val="150000"/>
                </a:lnSpc>
                <a:spcAft>
                  <a:spcPts val="1000"/>
                </a:spcAft>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年度收官</a:t>
              </a:r>
              <a:endParaRPr kumimoji="1" lang="zh-CN" altLang="en-US" sz="1400" b="1" dirty="0">
                <a:solidFill>
                  <a:srgbClr val="0042FF"/>
                </a:solidFill>
                <a:latin typeface="微软雅黑"/>
                <a:ea typeface="微软雅黑"/>
                <a:cs typeface="微软雅黑"/>
              </a:endParaRPr>
            </a:p>
          </p:txBody>
        </p:sp>
      </p:grpSp>
      <p:sp>
        <p:nvSpPr>
          <p:cNvPr id="154" name="任意形状 23"/>
          <p:cNvSpPr/>
          <p:nvPr/>
        </p:nvSpPr>
        <p:spPr>
          <a:xfrm flipH="1" flipV="1">
            <a:off x="1777365" y="4116070"/>
            <a:ext cx="76200" cy="2504440"/>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56" name="任意形状 23"/>
          <p:cNvSpPr/>
          <p:nvPr/>
        </p:nvSpPr>
        <p:spPr>
          <a:xfrm flipH="1" flipV="1">
            <a:off x="3509645" y="4116070"/>
            <a:ext cx="76200" cy="2504440"/>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58" name="任意形状 23"/>
          <p:cNvSpPr/>
          <p:nvPr/>
        </p:nvSpPr>
        <p:spPr>
          <a:xfrm flipH="1" flipV="1">
            <a:off x="5254625" y="4116070"/>
            <a:ext cx="76200" cy="2504440"/>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60" name="任意形状 23"/>
          <p:cNvSpPr/>
          <p:nvPr/>
        </p:nvSpPr>
        <p:spPr>
          <a:xfrm flipH="1" flipV="1">
            <a:off x="7035165" y="4116070"/>
            <a:ext cx="76200" cy="2504440"/>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61" name="任意形状 23"/>
          <p:cNvSpPr/>
          <p:nvPr/>
        </p:nvSpPr>
        <p:spPr>
          <a:xfrm flipH="1" flipV="1">
            <a:off x="8767445" y="4116070"/>
            <a:ext cx="76200" cy="2504440"/>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62" name="任意形状 23"/>
          <p:cNvSpPr/>
          <p:nvPr/>
        </p:nvSpPr>
        <p:spPr>
          <a:xfrm flipH="1" flipV="1">
            <a:off x="10465435" y="4116070"/>
            <a:ext cx="76200" cy="2504440"/>
          </a:xfrm>
          <a:custGeom>
            <a:avLst/>
            <a:gdLst>
              <a:gd name="connsiteX0" fmla="*/ 0 w 12700"/>
              <a:gd name="connsiteY0" fmla="*/ 2263140 h 2263140"/>
              <a:gd name="connsiteX1" fmla="*/ 0 w 12700"/>
              <a:gd name="connsiteY1" fmla="*/ 0 h 2263140"/>
            </a:gdLst>
            <a:ahLst/>
            <a:cxnLst>
              <a:cxn ang="0">
                <a:pos x="connsiteX0" y="connsiteY0"/>
              </a:cxn>
              <a:cxn ang="0">
                <a:pos x="connsiteX1" y="connsiteY1"/>
              </a:cxn>
            </a:cxnLst>
            <a:rect l="l" t="t" r="r" b="b"/>
            <a:pathLst>
              <a:path w="12700" h="2263140">
                <a:moveTo>
                  <a:pt x="0" y="2263140"/>
                </a:moveTo>
                <a:lnTo>
                  <a:pt x="0" y="0"/>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63" name="任意形状 22"/>
          <p:cNvSpPr/>
          <p:nvPr/>
        </p:nvSpPr>
        <p:spPr>
          <a:xfrm>
            <a:off x="2357665" y="3422651"/>
            <a:ext cx="719455" cy="720000"/>
          </a:xfrm>
          <a:custGeom>
            <a:avLst/>
            <a:gdLst>
              <a:gd name="connsiteX0" fmla="*/ 784860 w 784860"/>
              <a:gd name="connsiteY0" fmla="*/ 392430 h 784859"/>
              <a:gd name="connsiteX1" fmla="*/ 392430 w 784860"/>
              <a:gd name="connsiteY1" fmla="*/ 784860 h 784859"/>
              <a:gd name="connsiteX2" fmla="*/ 0 w 784860"/>
              <a:gd name="connsiteY2" fmla="*/ 392430 h 784859"/>
              <a:gd name="connsiteX3" fmla="*/ 392430 w 784860"/>
              <a:gd name="connsiteY3" fmla="*/ 0 h 784859"/>
              <a:gd name="connsiteX4" fmla="*/ 784860 w 784860"/>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60"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3368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3</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64" name="任意形状 26"/>
          <p:cNvSpPr/>
          <p:nvPr/>
        </p:nvSpPr>
        <p:spPr>
          <a:xfrm>
            <a:off x="4106455" y="3422651"/>
            <a:ext cx="719455" cy="720000"/>
          </a:xfrm>
          <a:custGeom>
            <a:avLst/>
            <a:gdLst>
              <a:gd name="connsiteX0" fmla="*/ 784860 w 784859"/>
              <a:gd name="connsiteY0" fmla="*/ 392430 h 784859"/>
              <a:gd name="connsiteX1" fmla="*/ 392430 w 784859"/>
              <a:gd name="connsiteY1" fmla="*/ 784860 h 784859"/>
              <a:gd name="connsiteX2" fmla="*/ 0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3368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5</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65" name="任意形状 31"/>
          <p:cNvSpPr/>
          <p:nvPr/>
        </p:nvSpPr>
        <p:spPr>
          <a:xfrm>
            <a:off x="5855245" y="3422651"/>
            <a:ext cx="719455" cy="720000"/>
          </a:xfrm>
          <a:custGeom>
            <a:avLst/>
            <a:gdLst>
              <a:gd name="connsiteX0" fmla="*/ 784860 w 784860"/>
              <a:gd name="connsiteY0" fmla="*/ 392430 h 784859"/>
              <a:gd name="connsiteX1" fmla="*/ 392430 w 784860"/>
              <a:gd name="connsiteY1" fmla="*/ 784860 h 784859"/>
              <a:gd name="connsiteX2" fmla="*/ 0 w 784860"/>
              <a:gd name="connsiteY2" fmla="*/ 392430 h 784859"/>
              <a:gd name="connsiteX3" fmla="*/ 392430 w 784860"/>
              <a:gd name="connsiteY3" fmla="*/ 0 h 784859"/>
              <a:gd name="connsiteX4" fmla="*/ 784860 w 784860"/>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60" h="784859">
                <a:moveTo>
                  <a:pt x="784860" y="392430"/>
                </a:moveTo>
                <a:cubicBezTo>
                  <a:pt x="784860" y="609163"/>
                  <a:pt x="609163" y="784860"/>
                  <a:pt x="392430" y="784860"/>
                </a:cubicBezTo>
                <a:cubicBezTo>
                  <a:pt x="175696" y="784860"/>
                  <a:pt x="0" y="609163"/>
                  <a:pt x="0" y="392430"/>
                </a:cubicBezTo>
                <a:cubicBezTo>
                  <a:pt x="0" y="175697"/>
                  <a:pt x="175697" y="0"/>
                  <a:pt x="392430" y="0"/>
                </a:cubicBezTo>
                <a:cubicBezTo>
                  <a:pt x="609163" y="0"/>
                  <a:pt x="784860" y="175697"/>
                  <a:pt x="784860" y="392430"/>
                </a:cubicBezTo>
                <a:close/>
              </a:path>
            </a:pathLst>
          </a:custGeom>
          <a:solidFill>
            <a:srgbClr val="B3D4FE"/>
          </a:solidFill>
          <a:ln w="38100" cap="flat">
            <a:solidFill>
              <a:srgbClr val="FFFFFF"/>
            </a:solidFill>
            <a:prstDash val="solid"/>
            <a:miter/>
          </a:ln>
        </p:spPr>
        <p:txBody>
          <a:bodyPr rtlCol="0" anchor="ctr"/>
          <a:lstStyle/>
          <a:p>
            <a:pPr algn="ctr">
              <a:spcAft>
                <a:spcPts val="500"/>
              </a:spcAft>
              <a:defRPr>
                <a:latin typeface="微软雅黑"/>
                <a:ea typeface="微软雅黑"/>
                <a:cs typeface="微软雅黑"/>
              </a:defRPr>
            </a:pPr>
            <a:r>
              <a:rPr lang="en-US" altLang="zh-CN" sz="1500" b="1" dirty="0">
                <a:solidFill>
                  <a:srgbClr val="383838"/>
                </a:solidFill>
                <a:latin typeface="微软雅黑"/>
                <a:ea typeface="微软雅黑"/>
                <a:cs typeface="微软雅黑"/>
              </a:rPr>
              <a:t>7</a:t>
            </a:r>
            <a:r>
              <a:rPr lang="zh-CN" altLang="en-US" sz="1500" b="1" dirty="0">
                <a:solidFill>
                  <a:srgbClr val="383838"/>
                </a:solidFill>
                <a:latin typeface="微软雅黑"/>
                <a:ea typeface="微软雅黑"/>
                <a:cs typeface="微软雅黑"/>
              </a:rPr>
              <a:t>月</a:t>
            </a:r>
            <a:endParaRPr lang="zh-CN" altLang="en-US" sz="1500" b="1" dirty="0">
              <a:solidFill>
                <a:srgbClr val="383838"/>
              </a:solidFill>
              <a:latin typeface="微软雅黑"/>
              <a:ea typeface="微软雅黑"/>
              <a:cs typeface="微软雅黑"/>
            </a:endParaRPr>
          </a:p>
        </p:txBody>
      </p:sp>
      <p:sp>
        <p:nvSpPr>
          <p:cNvPr id="166" name="任意形状 35"/>
          <p:cNvSpPr/>
          <p:nvPr/>
        </p:nvSpPr>
        <p:spPr>
          <a:xfrm>
            <a:off x="7604035" y="3422651"/>
            <a:ext cx="719455" cy="720000"/>
          </a:xfrm>
          <a:custGeom>
            <a:avLst/>
            <a:gdLst>
              <a:gd name="connsiteX0" fmla="*/ 784860 w 784859"/>
              <a:gd name="connsiteY0" fmla="*/ 392430 h 784859"/>
              <a:gd name="connsiteX1" fmla="*/ 392430 w 784859"/>
              <a:gd name="connsiteY1" fmla="*/ 784860 h 784859"/>
              <a:gd name="connsiteX2" fmla="*/ 0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3368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9</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67" name="任意形状 40"/>
          <p:cNvSpPr/>
          <p:nvPr/>
        </p:nvSpPr>
        <p:spPr>
          <a:xfrm>
            <a:off x="9352825" y="3422651"/>
            <a:ext cx="719455" cy="720000"/>
          </a:xfrm>
          <a:custGeom>
            <a:avLst/>
            <a:gdLst>
              <a:gd name="connsiteX0" fmla="*/ 784860 w 784859"/>
              <a:gd name="connsiteY0" fmla="*/ 392430 h 784859"/>
              <a:gd name="connsiteX1" fmla="*/ 392430 w 784859"/>
              <a:gd name="connsiteY1" fmla="*/ 784860 h 784859"/>
              <a:gd name="connsiteX2" fmla="*/ 0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0042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11</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68" name="任意形状 52"/>
          <p:cNvSpPr/>
          <p:nvPr/>
        </p:nvSpPr>
        <p:spPr>
          <a:xfrm>
            <a:off x="1483270" y="3422651"/>
            <a:ext cx="719455" cy="720000"/>
          </a:xfrm>
          <a:custGeom>
            <a:avLst/>
            <a:gdLst>
              <a:gd name="connsiteX0" fmla="*/ 784860 w 784860"/>
              <a:gd name="connsiteY0" fmla="*/ 392430 h 784859"/>
              <a:gd name="connsiteX1" fmla="*/ 392430 w 784860"/>
              <a:gd name="connsiteY1" fmla="*/ 784860 h 784859"/>
              <a:gd name="connsiteX2" fmla="*/ 0 w 784860"/>
              <a:gd name="connsiteY2" fmla="*/ 392430 h 784859"/>
              <a:gd name="connsiteX3" fmla="*/ 392430 w 784860"/>
              <a:gd name="connsiteY3" fmla="*/ 0 h 784859"/>
              <a:gd name="connsiteX4" fmla="*/ 784860 w 784860"/>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60"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0042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2</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69" name="任意形状 55"/>
          <p:cNvSpPr/>
          <p:nvPr/>
        </p:nvSpPr>
        <p:spPr>
          <a:xfrm>
            <a:off x="3232060" y="3422651"/>
            <a:ext cx="719455" cy="720000"/>
          </a:xfrm>
          <a:custGeom>
            <a:avLst/>
            <a:gdLst>
              <a:gd name="connsiteX0" fmla="*/ 784860 w 784859"/>
              <a:gd name="connsiteY0" fmla="*/ 392430 h 784859"/>
              <a:gd name="connsiteX1" fmla="*/ 392430 w 784859"/>
              <a:gd name="connsiteY1" fmla="*/ 784860 h 784859"/>
              <a:gd name="connsiteX2" fmla="*/ 0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3368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4</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70" name="任意形状 81"/>
          <p:cNvSpPr/>
          <p:nvPr/>
        </p:nvSpPr>
        <p:spPr>
          <a:xfrm>
            <a:off x="4980850" y="3422651"/>
            <a:ext cx="719455" cy="720000"/>
          </a:xfrm>
          <a:custGeom>
            <a:avLst/>
            <a:gdLst>
              <a:gd name="connsiteX0" fmla="*/ 784860 w 784859"/>
              <a:gd name="connsiteY0" fmla="*/ 392430 h 784859"/>
              <a:gd name="connsiteX1" fmla="*/ 392430 w 784859"/>
              <a:gd name="connsiteY1" fmla="*/ 784860 h 784859"/>
              <a:gd name="connsiteX2" fmla="*/ 0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4" y="0"/>
                  <a:pt x="784860" y="175697"/>
                  <a:pt x="784860" y="392430"/>
                </a:cubicBezTo>
                <a:close/>
              </a:path>
            </a:pathLst>
          </a:custGeom>
          <a:solidFill>
            <a:srgbClr val="3368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6</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71" name="任意形状 84"/>
          <p:cNvSpPr/>
          <p:nvPr/>
        </p:nvSpPr>
        <p:spPr>
          <a:xfrm>
            <a:off x="6729640" y="3422651"/>
            <a:ext cx="719455" cy="720000"/>
          </a:xfrm>
          <a:custGeom>
            <a:avLst/>
            <a:gdLst>
              <a:gd name="connsiteX0" fmla="*/ 784860 w 784859"/>
              <a:gd name="connsiteY0" fmla="*/ 392430 h 784859"/>
              <a:gd name="connsiteX1" fmla="*/ 392430 w 784859"/>
              <a:gd name="connsiteY1" fmla="*/ 784860 h 784859"/>
              <a:gd name="connsiteX2" fmla="*/ 0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B3D4FE"/>
          </a:solidFill>
          <a:ln w="38100" cap="flat">
            <a:solidFill>
              <a:srgbClr val="FFFFFF"/>
            </a:solidFill>
            <a:prstDash val="solid"/>
            <a:miter/>
          </a:ln>
        </p:spPr>
        <p:txBody>
          <a:bodyPr rtlCol="0" anchor="ctr"/>
          <a:lstStyle/>
          <a:p>
            <a:pPr algn="ctr">
              <a:spcAft>
                <a:spcPts val="500"/>
              </a:spcAft>
              <a:defRPr>
                <a:latin typeface="微软雅黑"/>
                <a:ea typeface="微软雅黑"/>
                <a:cs typeface="微软雅黑"/>
              </a:defRPr>
            </a:pPr>
            <a:r>
              <a:rPr lang="en-US" altLang="zh-CN" sz="1500" b="1" dirty="0">
                <a:solidFill>
                  <a:srgbClr val="383838"/>
                </a:solidFill>
                <a:latin typeface="微软雅黑"/>
                <a:ea typeface="微软雅黑"/>
                <a:cs typeface="微软雅黑"/>
              </a:rPr>
              <a:t>8</a:t>
            </a:r>
            <a:r>
              <a:rPr lang="zh-CN" altLang="en-US" sz="1500" b="1" dirty="0">
                <a:solidFill>
                  <a:srgbClr val="383838"/>
                </a:solidFill>
                <a:latin typeface="微软雅黑"/>
                <a:ea typeface="微软雅黑"/>
                <a:cs typeface="微软雅黑"/>
              </a:rPr>
              <a:t>月</a:t>
            </a:r>
            <a:endParaRPr lang="zh-CN" altLang="en-US" sz="1500" b="1" dirty="0">
              <a:solidFill>
                <a:srgbClr val="383838"/>
              </a:solidFill>
              <a:latin typeface="微软雅黑"/>
              <a:ea typeface="微软雅黑"/>
              <a:cs typeface="微软雅黑"/>
            </a:endParaRPr>
          </a:p>
        </p:txBody>
      </p:sp>
      <p:sp>
        <p:nvSpPr>
          <p:cNvPr id="172" name="任意形状 87"/>
          <p:cNvSpPr/>
          <p:nvPr/>
        </p:nvSpPr>
        <p:spPr>
          <a:xfrm>
            <a:off x="8478430" y="3422651"/>
            <a:ext cx="719455" cy="720000"/>
          </a:xfrm>
          <a:custGeom>
            <a:avLst/>
            <a:gdLst>
              <a:gd name="connsiteX0" fmla="*/ 784860 w 784859"/>
              <a:gd name="connsiteY0" fmla="*/ 392430 h 784859"/>
              <a:gd name="connsiteX1" fmla="*/ 392430 w 784859"/>
              <a:gd name="connsiteY1" fmla="*/ 784860 h 784859"/>
              <a:gd name="connsiteX2" fmla="*/ -1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6" y="784860"/>
                  <a:pt x="-1" y="609163"/>
                  <a:pt x="-1" y="392430"/>
                </a:cubicBezTo>
                <a:cubicBezTo>
                  <a:pt x="-1" y="175697"/>
                  <a:pt x="175696" y="0"/>
                  <a:pt x="392430" y="0"/>
                </a:cubicBezTo>
                <a:cubicBezTo>
                  <a:pt x="609163" y="0"/>
                  <a:pt x="784860" y="175697"/>
                  <a:pt x="784860" y="392430"/>
                </a:cubicBezTo>
                <a:close/>
              </a:path>
            </a:pathLst>
          </a:custGeom>
          <a:solidFill>
            <a:srgbClr val="3368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10</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73" name="任意形状 52"/>
          <p:cNvSpPr/>
          <p:nvPr/>
        </p:nvSpPr>
        <p:spPr>
          <a:xfrm>
            <a:off x="608330" y="3422651"/>
            <a:ext cx="720000" cy="720000"/>
          </a:xfrm>
          <a:custGeom>
            <a:avLst/>
            <a:gdLst>
              <a:gd name="connsiteX0" fmla="*/ 784860 w 784860"/>
              <a:gd name="connsiteY0" fmla="*/ 392430 h 784859"/>
              <a:gd name="connsiteX1" fmla="*/ 392430 w 784860"/>
              <a:gd name="connsiteY1" fmla="*/ 784860 h 784859"/>
              <a:gd name="connsiteX2" fmla="*/ 0 w 784860"/>
              <a:gd name="connsiteY2" fmla="*/ 392430 h 784859"/>
              <a:gd name="connsiteX3" fmla="*/ 392430 w 784860"/>
              <a:gd name="connsiteY3" fmla="*/ 0 h 784859"/>
              <a:gd name="connsiteX4" fmla="*/ 784860 w 784860"/>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60"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0042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1</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sp>
        <p:nvSpPr>
          <p:cNvPr id="174" name="任意形状 40"/>
          <p:cNvSpPr/>
          <p:nvPr/>
        </p:nvSpPr>
        <p:spPr>
          <a:xfrm>
            <a:off x="10227220" y="3422651"/>
            <a:ext cx="719455" cy="720000"/>
          </a:xfrm>
          <a:custGeom>
            <a:avLst/>
            <a:gdLst>
              <a:gd name="connsiteX0" fmla="*/ 784860 w 784859"/>
              <a:gd name="connsiteY0" fmla="*/ 392430 h 784859"/>
              <a:gd name="connsiteX1" fmla="*/ 392430 w 784859"/>
              <a:gd name="connsiteY1" fmla="*/ 784860 h 784859"/>
              <a:gd name="connsiteX2" fmla="*/ 0 w 784859"/>
              <a:gd name="connsiteY2" fmla="*/ 392430 h 784859"/>
              <a:gd name="connsiteX3" fmla="*/ 392430 w 784859"/>
              <a:gd name="connsiteY3" fmla="*/ 0 h 784859"/>
              <a:gd name="connsiteX4" fmla="*/ 784860 w 784859"/>
              <a:gd name="connsiteY4" fmla="*/ 392430 h 78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59" h="784859">
                <a:moveTo>
                  <a:pt x="784860" y="392430"/>
                </a:moveTo>
                <a:cubicBezTo>
                  <a:pt x="784860" y="609163"/>
                  <a:pt x="609163" y="784860"/>
                  <a:pt x="392430" y="784860"/>
                </a:cubicBezTo>
                <a:cubicBezTo>
                  <a:pt x="175697" y="784860"/>
                  <a:pt x="0" y="609163"/>
                  <a:pt x="0" y="392430"/>
                </a:cubicBezTo>
                <a:cubicBezTo>
                  <a:pt x="0" y="175697"/>
                  <a:pt x="175697" y="0"/>
                  <a:pt x="392430" y="0"/>
                </a:cubicBezTo>
                <a:cubicBezTo>
                  <a:pt x="609163" y="0"/>
                  <a:pt x="784860" y="175697"/>
                  <a:pt x="784860" y="392430"/>
                </a:cubicBezTo>
                <a:close/>
              </a:path>
            </a:pathLst>
          </a:custGeom>
          <a:solidFill>
            <a:srgbClr val="0042FF"/>
          </a:solidFill>
          <a:ln w="38100" cap="flat">
            <a:solidFill>
              <a:srgbClr val="FFFFFF"/>
            </a:solidFill>
            <a:prstDash val="solid"/>
            <a:miter/>
          </a:ln>
        </p:spPr>
        <p:txBody>
          <a:bodyPr rtlCol="0" anchor="ctr"/>
          <a:lstStyle/>
          <a:p>
            <a:pPr algn="ctr">
              <a:spcAft>
                <a:spcPts val="500"/>
              </a:spcAft>
              <a:defRPr>
                <a:solidFill>
                  <a:srgbClr val="FFFFFF"/>
                </a:solidFill>
                <a:latin typeface="微软雅黑"/>
                <a:ea typeface="微软雅黑"/>
                <a:cs typeface="微软雅黑"/>
              </a:defRPr>
            </a:pPr>
            <a:r>
              <a:rPr lang="en-US" altLang="zh-CN" sz="1500" b="1" dirty="0">
                <a:solidFill>
                  <a:srgbClr val="FFFFFF"/>
                </a:solidFill>
                <a:latin typeface="微软雅黑"/>
                <a:ea typeface="微软雅黑"/>
                <a:cs typeface="微软雅黑"/>
              </a:rPr>
              <a:t>12</a:t>
            </a:r>
            <a:r>
              <a:rPr lang="zh-CN" altLang="en-US" sz="1500" b="1" dirty="0">
                <a:solidFill>
                  <a:srgbClr val="FFFFFF"/>
                </a:solidFill>
                <a:latin typeface="微软雅黑"/>
                <a:ea typeface="微软雅黑"/>
                <a:cs typeface="微软雅黑"/>
              </a:rPr>
              <a:t>月</a:t>
            </a:r>
            <a:endParaRPr lang="zh-CN" altLang="en-US" sz="1500" b="1" dirty="0">
              <a:solidFill>
                <a:srgbClr val="FFFFFF"/>
              </a:solidFill>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2" name="图片 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95694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个人职业发展时间轴</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天蝎PPT1"/>
          <p:cNvSpPr/>
          <p:nvPr/>
        </p:nvSpPr>
        <p:spPr>
          <a:xfrm>
            <a:off x="406200" y="5476846"/>
            <a:ext cx="2364451" cy="1016870"/>
          </a:xfrm>
          <a:prstGeom prst="rect">
            <a:avLst/>
          </a:prstGeom>
          <a:solidFill>
            <a:srgbClr val="E6E6E6">
              <a:alpha val="4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algn="ctr">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88" name="©天蝎PPT2"/>
          <p:cNvSpPr/>
          <p:nvPr/>
        </p:nvSpPr>
        <p:spPr>
          <a:xfrm>
            <a:off x="2847648" y="5476846"/>
            <a:ext cx="2364451" cy="1016870"/>
          </a:xfrm>
          <a:prstGeom prst="rect">
            <a:avLst/>
          </a:prstGeom>
          <a:solidFill>
            <a:srgbClr val="E6E6E6">
              <a:alpha val="4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89" name="©天蝎PPT3"/>
          <p:cNvSpPr/>
          <p:nvPr/>
        </p:nvSpPr>
        <p:spPr>
          <a:xfrm>
            <a:off x="5289096" y="5476846"/>
            <a:ext cx="4003684" cy="1016870"/>
          </a:xfrm>
          <a:prstGeom prst="rect">
            <a:avLst/>
          </a:prstGeom>
          <a:solidFill>
            <a:srgbClr val="FFFFFF">
              <a:alpha val="4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190" name="©天蝎PPT4"/>
          <p:cNvSpPr/>
          <p:nvPr/>
        </p:nvSpPr>
        <p:spPr>
          <a:xfrm>
            <a:off x="9394752" y="5476846"/>
            <a:ext cx="2364451" cy="1016870"/>
          </a:xfrm>
          <a:prstGeom prst="rect">
            <a:avLst/>
          </a:prstGeom>
          <a:solidFill>
            <a:srgbClr val="E6E6E6">
              <a:alpha val="4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59" name="©天蝎PPT5"/>
          <p:cNvSpPr/>
          <p:nvPr/>
        </p:nvSpPr>
        <p:spPr>
          <a:xfrm>
            <a:off x="312421" y="2967714"/>
            <a:ext cx="11464246" cy="205242"/>
          </a:xfrm>
          <a:custGeom>
            <a:avLst/>
            <a:gdLst>
              <a:gd name="connsiteX0" fmla="*/ 0 w 10434427"/>
              <a:gd name="connsiteY0" fmla="*/ 0 h 205242"/>
              <a:gd name="connsiteX1" fmla="*/ 10434428 w 10434427"/>
              <a:gd name="connsiteY1" fmla="*/ 0 h 205242"/>
              <a:gd name="connsiteX2" fmla="*/ 10434428 w 10434427"/>
              <a:gd name="connsiteY2" fmla="*/ 205242 h 205242"/>
              <a:gd name="connsiteX3" fmla="*/ 0 w 10434427"/>
              <a:gd name="connsiteY3" fmla="*/ 205242 h 205242"/>
            </a:gdLst>
            <a:ahLst/>
            <a:cxnLst>
              <a:cxn ang="0">
                <a:pos x="connsiteX0" y="connsiteY0"/>
              </a:cxn>
              <a:cxn ang="0">
                <a:pos x="connsiteX1" y="connsiteY1"/>
              </a:cxn>
              <a:cxn ang="0">
                <a:pos x="connsiteX2" y="connsiteY2"/>
              </a:cxn>
              <a:cxn ang="0">
                <a:pos x="connsiteX3" y="connsiteY3"/>
              </a:cxn>
            </a:cxnLst>
            <a:rect l="l" t="t" r="r" b="b"/>
            <a:pathLst>
              <a:path w="10434427" h="205242">
                <a:moveTo>
                  <a:pt x="0" y="0"/>
                </a:moveTo>
                <a:lnTo>
                  <a:pt x="10434428" y="0"/>
                </a:lnTo>
                <a:lnTo>
                  <a:pt x="10434428" y="205242"/>
                </a:lnTo>
                <a:lnTo>
                  <a:pt x="0" y="205242"/>
                </a:lnTo>
                <a:close/>
              </a:path>
            </a:pathLst>
          </a:custGeom>
          <a:solidFill>
            <a:srgbClr val="E6E6E6">
              <a:alpha val="50000"/>
            </a:srgbClr>
          </a:solidFill>
          <a:ln w="6371"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sym typeface="微软雅黑"/>
            </a:endParaRPr>
          </a:p>
        </p:txBody>
      </p:sp>
      <p:cxnSp>
        <p:nvCxnSpPr>
          <p:cNvPr id="3" name="©天蝎PPT10"/>
          <p:cNvCxnSpPr/>
          <p:nvPr/>
        </p:nvCxnSpPr>
        <p:spPr>
          <a:xfrm>
            <a:off x="370114" y="3078100"/>
            <a:ext cx="11568361" cy="0"/>
          </a:xfrm>
          <a:prstGeom prst="line">
            <a:avLst/>
          </a:prstGeom>
          <a:ln w="38100">
            <a:gradFill>
              <a:gsLst>
                <a:gs pos="0">
                  <a:srgbClr val="3368FF"/>
                </a:gs>
                <a:gs pos="99000">
                  <a:srgbClr val="0042FF"/>
                </a:gs>
              </a:gsLst>
              <a:lin ang="0" scaled="1"/>
            </a:gradFill>
          </a:ln>
        </p:spPr>
        <p:style>
          <a:lnRef idx="1">
            <a:srgbClr val="0042FF"/>
          </a:lnRef>
          <a:fillRef idx="0">
            <a:srgbClr val="0042FF"/>
          </a:fillRef>
          <a:effectRef idx="0">
            <a:srgbClr val="0042FF"/>
          </a:effectRef>
          <a:fontRef idx="minor">
            <a:srgbClr val="383838"/>
          </a:fontRef>
        </p:style>
      </p:cxnSp>
      <p:sp>
        <p:nvSpPr>
          <p:cNvPr id="6" name="©天蝎PPT11"/>
          <p:cNvSpPr/>
          <p:nvPr/>
        </p:nvSpPr>
        <p:spPr>
          <a:xfrm>
            <a:off x="1150799" y="2944523"/>
            <a:ext cx="924275" cy="251623"/>
          </a:xfrm>
          <a:prstGeom prst="roundRect">
            <a:avLst/>
          </a:prstGeom>
          <a:gradFill>
            <a:gsLst>
              <a:gs pos="0">
                <a:srgbClr val="3368FF"/>
              </a:gs>
              <a:gs pos="99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kumimoji="1" lang="en-US" sz="1000" b="1">
                <a:solidFill>
                  <a:srgbClr val="FFFFFF"/>
                </a:solidFill>
                <a:latin typeface="微软雅黑"/>
                <a:ea typeface="微软雅黑"/>
                <a:cs typeface="微软雅黑"/>
                <a:sym typeface="微软雅黑"/>
              </a:rPr>
              <a:t>2019-2020</a:t>
            </a:r>
            <a:endParaRPr kumimoji="1" lang="en-US" sz="1000" b="1">
              <a:solidFill>
                <a:srgbClr val="FFFFFF"/>
              </a:solidFill>
              <a:latin typeface="微软雅黑"/>
              <a:ea typeface="微软雅黑"/>
              <a:cs typeface="微软雅黑"/>
              <a:sym typeface="微软雅黑"/>
            </a:endParaRPr>
          </a:p>
        </p:txBody>
      </p:sp>
      <p:sp>
        <p:nvSpPr>
          <p:cNvPr id="11" name="©天蝎PPT12"/>
          <p:cNvSpPr txBox="1"/>
          <p:nvPr/>
        </p:nvSpPr>
        <p:spPr>
          <a:xfrm>
            <a:off x="1022985" y="1391285"/>
            <a:ext cx="1924050" cy="349250"/>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运营部</a:t>
            </a:r>
            <a:r>
              <a:rPr lang="en-US" altLang="zh-CN" sz="1400" b="1" dirty="0">
                <a:solidFill>
                  <a:srgbClr val="0042FF"/>
                </a:solidFill>
                <a:latin typeface="微软雅黑"/>
                <a:ea typeface="微软雅黑"/>
                <a:cs typeface="微软雅黑"/>
                <a:sym typeface="微软雅黑"/>
              </a:rPr>
              <a:t>-</a:t>
            </a:r>
            <a:r>
              <a:rPr lang="zh-CN" altLang="en-US" sz="1400" b="1" dirty="0">
                <a:solidFill>
                  <a:srgbClr val="0042FF"/>
                </a:solidFill>
                <a:latin typeface="微软雅黑"/>
                <a:ea typeface="微软雅黑"/>
                <a:cs typeface="微软雅黑"/>
                <a:sym typeface="微软雅黑"/>
              </a:rPr>
              <a:t>运营专员</a:t>
            </a:r>
            <a:endParaRPr lang="zh-CN" altLang="en-US" sz="1400" b="1" dirty="0">
              <a:solidFill>
                <a:srgbClr val="0042FF"/>
              </a:solidFill>
              <a:latin typeface="微软雅黑"/>
              <a:ea typeface="微软雅黑"/>
              <a:cs typeface="微软雅黑"/>
              <a:sym typeface="微软雅黑"/>
            </a:endParaRPr>
          </a:p>
        </p:txBody>
      </p:sp>
      <p:sp>
        <p:nvSpPr>
          <p:cNvPr id="12" name="©天蝎PPT13"/>
          <p:cNvSpPr txBox="1"/>
          <p:nvPr/>
        </p:nvSpPr>
        <p:spPr>
          <a:xfrm>
            <a:off x="730727" y="1698693"/>
            <a:ext cx="3354385" cy="751205"/>
          </a:xfrm>
          <a:prstGeom prst="rect">
            <a:avLst/>
          </a:prstGeom>
          <a:noFill/>
        </p:spPr>
        <p:txBody>
          <a:bodyPr wrap="square" rtlCol="0">
            <a:spAutoFit/>
          </a:bodyPr>
          <a:lstStyle/>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协助运营经理完成日常运营流程的执行与优化</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sym typeface="微软雅黑"/>
              </a:rPr>
              <a:t> </a:t>
            </a:r>
            <a:r>
              <a:rPr lang="zh-CN" altLang="en-US" sz="1100" dirty="0">
                <a:solidFill>
                  <a:srgbClr val="383838"/>
                </a:solidFill>
                <a:latin typeface="微软雅黑"/>
                <a:ea typeface="微软雅黑"/>
                <a:cs typeface="微软雅黑"/>
                <a:sym typeface="微软雅黑"/>
              </a:rPr>
              <a:t>收集并整理运营数据，为部门决策提供基础支持</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参与撰写运营报告，配合完成部门内部协调工作</a:t>
            </a:r>
            <a:endParaRPr lang="zh-CN" altLang="en-US" sz="1100" dirty="0">
              <a:solidFill>
                <a:srgbClr val="383838"/>
              </a:solidFill>
              <a:latin typeface="微软雅黑"/>
              <a:ea typeface="微软雅黑"/>
              <a:cs typeface="微软雅黑"/>
              <a:sym typeface="微软雅黑"/>
            </a:endParaRPr>
          </a:p>
        </p:txBody>
      </p:sp>
      <p:sp>
        <p:nvSpPr>
          <p:cNvPr id="42" name="©天蝎PPT14"/>
          <p:cNvSpPr txBox="1"/>
          <p:nvPr/>
        </p:nvSpPr>
        <p:spPr>
          <a:xfrm>
            <a:off x="798823" y="5650604"/>
            <a:ext cx="1623367" cy="299056"/>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初入职场，积累经验</a:t>
            </a:r>
            <a:endParaRPr lang="zh-CN" altLang="en-US" sz="1200" b="1" dirty="0">
              <a:solidFill>
                <a:srgbClr val="0042FF"/>
              </a:solidFill>
              <a:latin typeface="微软雅黑"/>
              <a:ea typeface="微软雅黑"/>
              <a:cs typeface="微软雅黑"/>
              <a:sym typeface="微软雅黑"/>
            </a:endParaRPr>
          </a:p>
        </p:txBody>
      </p:sp>
      <p:sp>
        <p:nvSpPr>
          <p:cNvPr id="43" name="©天蝎PPT15"/>
          <p:cNvSpPr txBox="1"/>
          <p:nvPr/>
        </p:nvSpPr>
        <p:spPr>
          <a:xfrm>
            <a:off x="495414" y="5943144"/>
            <a:ext cx="2230184" cy="478155"/>
          </a:xfrm>
          <a:prstGeom prst="rect">
            <a:avLst/>
          </a:prstGeom>
          <a:noFill/>
        </p:spPr>
        <p:txBody>
          <a:bodyPr wrap="square" rtlCol="0">
            <a:spAutoFit/>
          </a:bodyPr>
          <a:lstStyle/>
          <a:p>
            <a:pPr algn="ctr">
              <a:lnSpc>
                <a:spcPct val="12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在岗位实践中建立规范意识与协作能力，夯实运营基础。</a:t>
            </a:r>
            <a:endParaRPr lang="zh-CN" altLang="en-US" sz="1050" dirty="0">
              <a:solidFill>
                <a:srgbClr val="383838"/>
              </a:solidFill>
              <a:latin typeface="微软雅黑"/>
              <a:ea typeface="微软雅黑"/>
              <a:cs typeface="微软雅黑"/>
              <a:sym typeface="微软雅黑"/>
            </a:endParaRPr>
          </a:p>
        </p:txBody>
      </p:sp>
      <p:cxnSp>
        <p:nvCxnSpPr>
          <p:cNvPr id="53" name="©天蝎PPT16"/>
          <p:cNvCxnSpPr>
            <a:endCxn id="26" idx="4"/>
          </p:cNvCxnSpPr>
          <p:nvPr/>
        </p:nvCxnSpPr>
        <p:spPr>
          <a:xfrm>
            <a:off x="686277" y="1301038"/>
            <a:ext cx="0" cy="1824611"/>
          </a:xfrm>
          <a:prstGeom prst="line">
            <a:avLst/>
          </a:prstGeom>
          <a:ln w="15875">
            <a:gradFill>
              <a:gsLst>
                <a:gs pos="0">
                  <a:srgbClr val="E6E6E6">
                    <a:alpha val="0"/>
                  </a:srgbClr>
                </a:gs>
                <a:gs pos="73000">
                  <a:srgbClr val="3368FF"/>
                </a:gs>
                <a:gs pos="100000">
                  <a:srgbClr val="0042FF"/>
                </a:gs>
              </a:gsLst>
              <a:lin ang="5400000" scaled="1"/>
            </a:gradFill>
          </a:ln>
        </p:spPr>
        <p:style>
          <a:lnRef idx="1">
            <a:srgbClr val="0042FF"/>
          </a:lnRef>
          <a:fillRef idx="0">
            <a:srgbClr val="0042FF"/>
          </a:fillRef>
          <a:effectRef idx="0">
            <a:srgbClr val="0042FF"/>
          </a:effectRef>
          <a:fontRef idx="minor">
            <a:srgbClr val="383838"/>
          </a:fontRef>
        </p:style>
      </p:cxnSp>
      <p:sp>
        <p:nvSpPr>
          <p:cNvPr id="26" name="©天蝎PPT17"/>
          <p:cNvSpPr/>
          <p:nvPr/>
        </p:nvSpPr>
        <p:spPr>
          <a:xfrm>
            <a:off x="641458" y="3036011"/>
            <a:ext cx="89638" cy="89638"/>
          </a:xfrm>
          <a:prstGeom prst="ellipse">
            <a:avLst/>
          </a:prstGeom>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2" name="©天蝎PPT18"/>
          <p:cNvSpPr/>
          <p:nvPr/>
        </p:nvSpPr>
        <p:spPr>
          <a:xfrm>
            <a:off x="909834" y="2525801"/>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63" name="©天蝎PPT19"/>
          <p:cNvSpPr/>
          <p:nvPr/>
        </p:nvSpPr>
        <p:spPr>
          <a:xfrm>
            <a:off x="1717554" y="2525801"/>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64" name="©天蝎PPT20"/>
          <p:cNvSpPr/>
          <p:nvPr/>
        </p:nvSpPr>
        <p:spPr>
          <a:xfrm>
            <a:off x="2529084" y="2525801"/>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67" name="©天蝎PPT21"/>
          <p:cNvSpPr txBox="1"/>
          <p:nvPr/>
        </p:nvSpPr>
        <p:spPr>
          <a:xfrm>
            <a:off x="5097055" y="1391170"/>
            <a:ext cx="1937658" cy="349250"/>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运营部</a:t>
            </a:r>
            <a:r>
              <a:rPr lang="en-US" altLang="zh-CN" sz="1400" b="1" dirty="0">
                <a:solidFill>
                  <a:srgbClr val="0042FF"/>
                </a:solidFill>
                <a:latin typeface="微软雅黑"/>
                <a:ea typeface="微软雅黑"/>
                <a:cs typeface="微软雅黑"/>
                <a:sym typeface="微软雅黑"/>
              </a:rPr>
              <a:t>-</a:t>
            </a:r>
            <a:r>
              <a:rPr lang="zh-CN" altLang="en-US" sz="1400" b="1" dirty="0">
                <a:solidFill>
                  <a:srgbClr val="0042FF"/>
                </a:solidFill>
                <a:latin typeface="微软雅黑"/>
                <a:ea typeface="微软雅黑"/>
                <a:cs typeface="微软雅黑"/>
                <a:sym typeface="微软雅黑"/>
              </a:rPr>
              <a:t>项目组长</a:t>
            </a:r>
            <a:r>
              <a:rPr lang="en-US" altLang="zh-CN" sz="1400" b="1" dirty="0">
                <a:solidFill>
                  <a:srgbClr val="0042FF"/>
                </a:solidFill>
                <a:latin typeface="微软雅黑"/>
                <a:ea typeface="微软雅黑"/>
                <a:cs typeface="微软雅黑"/>
                <a:sym typeface="微软雅黑"/>
              </a:rPr>
              <a:t> </a:t>
            </a:r>
            <a:endParaRPr lang="en-US" altLang="zh-CN" sz="1400" b="1" dirty="0">
              <a:solidFill>
                <a:srgbClr val="0042FF"/>
              </a:solidFill>
              <a:latin typeface="微软雅黑"/>
              <a:ea typeface="微软雅黑"/>
              <a:cs typeface="微软雅黑"/>
              <a:sym typeface="微软雅黑"/>
            </a:endParaRPr>
          </a:p>
        </p:txBody>
      </p:sp>
      <p:sp>
        <p:nvSpPr>
          <p:cNvPr id="68" name="©天蝎PPT22"/>
          <p:cNvSpPr txBox="1"/>
          <p:nvPr/>
        </p:nvSpPr>
        <p:spPr>
          <a:xfrm>
            <a:off x="4803241" y="1698693"/>
            <a:ext cx="3953167" cy="751205"/>
          </a:xfrm>
          <a:prstGeom prst="rect">
            <a:avLst/>
          </a:prstGeom>
          <a:noFill/>
        </p:spPr>
        <p:txBody>
          <a:bodyPr wrap="square" rtlCol="0">
            <a:spAutoFit/>
          </a:bodyPr>
          <a:lstStyle/>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带领项目团队，统筹多条线运营项目的执行与交付</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优化项目管理机制，提升团队协作与执行效率</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参与部门运营策略制定，推动重点项目落地</a:t>
            </a:r>
            <a:endParaRPr lang="zh-CN" altLang="en-US" sz="1100" dirty="0">
              <a:solidFill>
                <a:srgbClr val="383838"/>
              </a:solidFill>
              <a:latin typeface="微软雅黑"/>
              <a:ea typeface="微软雅黑"/>
              <a:cs typeface="微软雅黑"/>
              <a:sym typeface="微软雅黑"/>
            </a:endParaRPr>
          </a:p>
        </p:txBody>
      </p:sp>
      <p:cxnSp>
        <p:nvCxnSpPr>
          <p:cNvPr id="69" name="©天蝎PPT23"/>
          <p:cNvCxnSpPr>
            <a:endCxn id="70" idx="4"/>
          </p:cNvCxnSpPr>
          <p:nvPr/>
        </p:nvCxnSpPr>
        <p:spPr>
          <a:xfrm>
            <a:off x="4758792" y="1301038"/>
            <a:ext cx="0" cy="1824611"/>
          </a:xfrm>
          <a:prstGeom prst="line">
            <a:avLst/>
          </a:prstGeom>
          <a:ln w="15875">
            <a:gradFill>
              <a:gsLst>
                <a:gs pos="0">
                  <a:srgbClr val="E6E6E6">
                    <a:alpha val="0"/>
                  </a:srgbClr>
                </a:gs>
                <a:gs pos="73000">
                  <a:srgbClr val="3368FF"/>
                </a:gs>
                <a:gs pos="100000">
                  <a:srgbClr val="0042FF"/>
                </a:gs>
              </a:gsLst>
              <a:lin ang="5400000" scaled="1"/>
            </a:gradFill>
          </a:ln>
        </p:spPr>
        <p:style>
          <a:lnRef idx="1">
            <a:srgbClr val="0042FF"/>
          </a:lnRef>
          <a:fillRef idx="0">
            <a:srgbClr val="0042FF"/>
          </a:fillRef>
          <a:effectRef idx="0">
            <a:srgbClr val="0042FF"/>
          </a:effectRef>
          <a:fontRef idx="minor">
            <a:srgbClr val="383838"/>
          </a:fontRef>
        </p:style>
      </p:cxnSp>
      <p:sp>
        <p:nvSpPr>
          <p:cNvPr id="70" name="©天蝎PPT24"/>
          <p:cNvSpPr/>
          <p:nvPr/>
        </p:nvSpPr>
        <p:spPr>
          <a:xfrm>
            <a:off x="4713973" y="3036011"/>
            <a:ext cx="89638" cy="89638"/>
          </a:xfrm>
          <a:prstGeom prst="ellipse">
            <a:avLst/>
          </a:prstGeom>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1" name="©天蝎PPT25"/>
          <p:cNvSpPr/>
          <p:nvPr/>
        </p:nvSpPr>
        <p:spPr>
          <a:xfrm>
            <a:off x="4982349" y="2525801"/>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72" name="©天蝎PPT26"/>
          <p:cNvSpPr/>
          <p:nvPr/>
        </p:nvSpPr>
        <p:spPr>
          <a:xfrm>
            <a:off x="5790069" y="2525801"/>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73" name="©天蝎PPT27"/>
          <p:cNvSpPr/>
          <p:nvPr/>
        </p:nvSpPr>
        <p:spPr>
          <a:xfrm>
            <a:off x="6601599" y="2525801"/>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74" name="©天蝎PPT28"/>
          <p:cNvSpPr txBox="1"/>
          <p:nvPr/>
        </p:nvSpPr>
        <p:spPr>
          <a:xfrm>
            <a:off x="9187180" y="1398905"/>
            <a:ext cx="2092960" cy="607695"/>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运营部</a:t>
            </a:r>
            <a:r>
              <a:rPr lang="en-US" altLang="zh-CN" sz="1400" b="1" dirty="0">
                <a:solidFill>
                  <a:srgbClr val="0042FF"/>
                </a:solidFill>
                <a:latin typeface="微软雅黑"/>
                <a:ea typeface="微软雅黑"/>
                <a:cs typeface="微软雅黑"/>
                <a:sym typeface="微软雅黑"/>
              </a:rPr>
              <a:t>-</a:t>
            </a:r>
            <a:r>
              <a:rPr lang="zh-CN" altLang="en-US" sz="1400" b="1" dirty="0">
                <a:solidFill>
                  <a:srgbClr val="0042FF"/>
                </a:solidFill>
                <a:latin typeface="微软雅黑"/>
                <a:ea typeface="微软雅黑"/>
                <a:cs typeface="微软雅黑"/>
                <a:sym typeface="微软雅黑"/>
              </a:rPr>
              <a:t>运营总经理</a:t>
            </a:r>
            <a:r>
              <a:rPr lang="en-US" altLang="zh-CN" sz="1400" b="1" dirty="0">
                <a:solidFill>
                  <a:srgbClr val="0042FF"/>
                </a:solidFill>
                <a:latin typeface="微软雅黑"/>
                <a:ea typeface="微软雅黑"/>
                <a:cs typeface="微软雅黑"/>
                <a:sym typeface="微软雅黑"/>
              </a:rPr>
              <a:t> </a:t>
            </a:r>
            <a:endParaRPr lang="en-US" altLang="zh-CN" sz="1400" b="1" dirty="0">
              <a:solidFill>
                <a:srgbClr val="0042FF"/>
              </a:solidFill>
              <a:latin typeface="微软雅黑"/>
              <a:ea typeface="微软雅黑"/>
              <a:cs typeface="微软雅黑"/>
              <a:sym typeface="微软雅黑"/>
            </a:endParaRPr>
          </a:p>
          <a:p>
            <a:pPr>
              <a:lnSpc>
                <a:spcPct val="120000"/>
              </a:lnSpc>
              <a:defRPr>
                <a:latin typeface="微软雅黑"/>
                <a:ea typeface="微软雅黑"/>
                <a:cs typeface="微软雅黑"/>
              </a:defRPr>
            </a:pPr>
            <a:endParaRPr lang="en-US" altLang="zh-CN" sz="1400" b="1" dirty="0">
              <a:solidFill>
                <a:srgbClr val="0042FF"/>
              </a:solidFill>
              <a:latin typeface="微软雅黑"/>
              <a:ea typeface="微软雅黑"/>
              <a:cs typeface="微软雅黑"/>
              <a:sym typeface="微软雅黑"/>
            </a:endParaRPr>
          </a:p>
        </p:txBody>
      </p:sp>
      <p:sp>
        <p:nvSpPr>
          <p:cNvPr id="75" name="©天蝎PPT29"/>
          <p:cNvSpPr txBox="1"/>
          <p:nvPr/>
        </p:nvSpPr>
        <p:spPr>
          <a:xfrm>
            <a:off x="8871585" y="1698625"/>
            <a:ext cx="3170555" cy="751205"/>
          </a:xfrm>
          <a:prstGeom prst="rect">
            <a:avLst/>
          </a:prstGeom>
          <a:noFill/>
        </p:spPr>
        <p:txBody>
          <a:bodyPr wrap="square" rtlCol="0">
            <a:spAutoFit/>
          </a:bodyPr>
          <a:lstStyle/>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a:t>
            </a:r>
            <a:r>
              <a:rPr lang="zh-CN" altLang="en-US" sz="1100" dirty="0">
                <a:solidFill>
                  <a:srgbClr val="383838"/>
                </a:solidFill>
                <a:latin typeface="微软雅黑"/>
                <a:ea typeface="微软雅黑"/>
                <a:cs typeface="微软雅黑"/>
                <a:sym typeface="微软雅黑"/>
              </a:rPr>
              <a:t>全面负责运营体系建设与部门整体管理工作</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sym typeface="微软雅黑"/>
              </a:rPr>
              <a:t> </a:t>
            </a:r>
            <a:r>
              <a:rPr lang="zh-CN" altLang="en-US" sz="1100" dirty="0">
                <a:solidFill>
                  <a:srgbClr val="383838"/>
                </a:solidFill>
                <a:latin typeface="微软雅黑"/>
                <a:ea typeface="微软雅黑"/>
                <a:cs typeface="微软雅黑"/>
                <a:sym typeface="微软雅黑"/>
              </a:rPr>
              <a:t>制定年度运营规划，统筹资源配置与目标分解</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sym typeface="微软雅黑"/>
              </a:rPr>
              <a:t> </a:t>
            </a:r>
            <a:r>
              <a:rPr lang="zh-CN" altLang="en-US" sz="1100" dirty="0">
                <a:solidFill>
                  <a:srgbClr val="383838"/>
                </a:solidFill>
                <a:latin typeface="微软雅黑"/>
                <a:ea typeface="微软雅黑"/>
                <a:cs typeface="微软雅黑"/>
                <a:sym typeface="微软雅黑"/>
              </a:rPr>
              <a:t>牵头制度建设与人才培养，支撑组织发展</a:t>
            </a:r>
            <a:endParaRPr lang="zh-CN" altLang="en-US" sz="1100" dirty="0">
              <a:solidFill>
                <a:srgbClr val="383838"/>
              </a:solidFill>
              <a:latin typeface="微软雅黑"/>
              <a:ea typeface="微软雅黑"/>
              <a:cs typeface="微软雅黑"/>
              <a:sym typeface="微软雅黑"/>
            </a:endParaRPr>
          </a:p>
        </p:txBody>
      </p:sp>
      <p:cxnSp>
        <p:nvCxnSpPr>
          <p:cNvPr id="76" name="©天蝎PPT30"/>
          <p:cNvCxnSpPr>
            <a:endCxn id="77" idx="4"/>
          </p:cNvCxnSpPr>
          <p:nvPr/>
        </p:nvCxnSpPr>
        <p:spPr>
          <a:xfrm>
            <a:off x="8827062" y="1367094"/>
            <a:ext cx="0" cy="1758555"/>
          </a:xfrm>
          <a:prstGeom prst="line">
            <a:avLst/>
          </a:prstGeom>
          <a:ln w="15875">
            <a:gradFill>
              <a:gsLst>
                <a:gs pos="0">
                  <a:srgbClr val="FFFFFF">
                    <a:alpha val="0"/>
                  </a:srgbClr>
                </a:gs>
                <a:gs pos="72000">
                  <a:srgbClr val="B3D4FE"/>
                </a:gs>
                <a:gs pos="99000">
                  <a:srgbClr val="3368FF"/>
                </a:gs>
              </a:gsLst>
              <a:lin ang="5400000" scaled="1"/>
            </a:gradFill>
          </a:ln>
        </p:spPr>
        <p:style>
          <a:lnRef idx="1">
            <a:srgbClr val="0042FF"/>
          </a:lnRef>
          <a:fillRef idx="0">
            <a:srgbClr val="0042FF"/>
          </a:fillRef>
          <a:effectRef idx="0">
            <a:srgbClr val="0042FF"/>
          </a:effectRef>
          <a:fontRef idx="minor">
            <a:srgbClr val="383838"/>
          </a:fontRef>
        </p:style>
      </p:cxnSp>
      <p:sp>
        <p:nvSpPr>
          <p:cNvPr id="77" name="©天蝎PPT31"/>
          <p:cNvSpPr/>
          <p:nvPr/>
        </p:nvSpPr>
        <p:spPr>
          <a:xfrm>
            <a:off x="8782243" y="3036011"/>
            <a:ext cx="89638" cy="89638"/>
          </a:xfrm>
          <a:prstGeom prst="ellipse">
            <a:avLst/>
          </a:prstGeom>
          <a:solidFill>
            <a:srgbClr val="3368FF"/>
          </a:solidFill>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8" name="©天蝎PPT32"/>
          <p:cNvSpPr/>
          <p:nvPr/>
        </p:nvSpPr>
        <p:spPr>
          <a:xfrm>
            <a:off x="9050619" y="2525801"/>
            <a:ext cx="748219" cy="236517"/>
          </a:xfrm>
          <a:prstGeom prst="roundRect">
            <a:avLst>
              <a:gd name="adj" fmla="val 6704"/>
            </a:avLst>
          </a:prstGeom>
          <a:solidFill>
            <a:srgbClr val="FFFFFF">
              <a:alpha val="20000"/>
            </a:srgbClr>
          </a:solidFill>
          <a:ln w="9525">
            <a:solidFill>
              <a:srgbClr val="3368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79" name="©天蝎PPT33"/>
          <p:cNvSpPr/>
          <p:nvPr/>
        </p:nvSpPr>
        <p:spPr>
          <a:xfrm>
            <a:off x="9858339" y="2525801"/>
            <a:ext cx="748219" cy="236517"/>
          </a:xfrm>
          <a:prstGeom prst="roundRect">
            <a:avLst>
              <a:gd name="adj" fmla="val 6704"/>
            </a:avLst>
          </a:prstGeom>
          <a:solidFill>
            <a:srgbClr val="FFFFFF">
              <a:alpha val="20000"/>
            </a:srgbClr>
          </a:solidFill>
          <a:ln w="9525">
            <a:solidFill>
              <a:srgbClr val="3368FF">
                <a:alpha val="33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80" name="©天蝎PPT34"/>
          <p:cNvSpPr/>
          <p:nvPr/>
        </p:nvSpPr>
        <p:spPr>
          <a:xfrm>
            <a:off x="10669869" y="2525801"/>
            <a:ext cx="748219" cy="236517"/>
          </a:xfrm>
          <a:prstGeom prst="roundRect">
            <a:avLst>
              <a:gd name="adj" fmla="val 6704"/>
            </a:avLst>
          </a:prstGeom>
          <a:solidFill>
            <a:srgbClr val="FFFFFF">
              <a:alpha val="20000"/>
            </a:srgbClr>
          </a:solidFill>
          <a:ln w="9525">
            <a:solidFill>
              <a:srgbClr val="3368FF">
                <a:alpha val="33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81" name="©天蝎PPT35"/>
          <p:cNvSpPr txBox="1"/>
          <p:nvPr/>
        </p:nvSpPr>
        <p:spPr>
          <a:xfrm>
            <a:off x="2956165" y="3347536"/>
            <a:ext cx="1937658" cy="349250"/>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运营部</a:t>
            </a:r>
            <a:r>
              <a:rPr lang="en-US" altLang="zh-CN" sz="1400" b="1" dirty="0">
                <a:solidFill>
                  <a:srgbClr val="0042FF"/>
                </a:solidFill>
                <a:latin typeface="微软雅黑"/>
                <a:ea typeface="微软雅黑"/>
                <a:cs typeface="微软雅黑"/>
                <a:sym typeface="微软雅黑"/>
              </a:rPr>
              <a:t>-</a:t>
            </a:r>
            <a:r>
              <a:rPr lang="zh-CN" altLang="en-US" sz="1400" b="1" dirty="0">
                <a:solidFill>
                  <a:srgbClr val="0042FF"/>
                </a:solidFill>
                <a:latin typeface="微软雅黑"/>
                <a:ea typeface="微软雅黑"/>
                <a:cs typeface="微软雅黑"/>
                <a:sym typeface="微软雅黑"/>
              </a:rPr>
              <a:t>项目经理</a:t>
            </a:r>
            <a:endParaRPr lang="zh-CN" altLang="en-US" sz="1400" b="1" dirty="0">
              <a:solidFill>
                <a:srgbClr val="0042FF"/>
              </a:solidFill>
              <a:latin typeface="微软雅黑"/>
              <a:ea typeface="微软雅黑"/>
              <a:cs typeface="微软雅黑"/>
              <a:sym typeface="微软雅黑"/>
            </a:endParaRPr>
          </a:p>
        </p:txBody>
      </p:sp>
      <p:sp>
        <p:nvSpPr>
          <p:cNvPr id="85" name="©天蝎PPT36"/>
          <p:cNvSpPr txBox="1"/>
          <p:nvPr/>
        </p:nvSpPr>
        <p:spPr>
          <a:xfrm>
            <a:off x="2673143" y="3632767"/>
            <a:ext cx="3254062" cy="751205"/>
          </a:xfrm>
          <a:prstGeom prst="rect">
            <a:avLst/>
          </a:prstGeom>
          <a:noFill/>
        </p:spPr>
        <p:txBody>
          <a:bodyPr wrap="square" rtlCol="0">
            <a:spAutoFit/>
          </a:bodyPr>
          <a:lstStyle/>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独立负责某一业务板块的日常运营工作</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深入分析运营数据，提出流程改进建议</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参与跨部门协作，推动运营项目落地执行</a:t>
            </a:r>
            <a:endParaRPr lang="zh-CN" altLang="en-US" sz="1100" dirty="0">
              <a:solidFill>
                <a:srgbClr val="383838"/>
              </a:solidFill>
              <a:latin typeface="微软雅黑"/>
              <a:ea typeface="微软雅黑"/>
              <a:cs typeface="微软雅黑"/>
              <a:sym typeface="微软雅黑"/>
            </a:endParaRPr>
          </a:p>
        </p:txBody>
      </p:sp>
      <p:grpSp>
        <p:nvGrpSpPr>
          <p:cNvPr id="98" name="©天蝎PPT37"/>
          <p:cNvGrpSpPr/>
          <p:nvPr/>
        </p:nvGrpSpPr>
        <p:grpSpPr>
          <a:xfrm rot="10800000">
            <a:off x="2557748" y="3028945"/>
            <a:ext cx="89638" cy="1667234"/>
            <a:chOff x="2817116" y="4022018"/>
            <a:chExt cx="89638" cy="1667234"/>
          </a:xfrm>
        </p:grpSpPr>
        <p:cxnSp>
          <p:nvCxnSpPr>
            <p:cNvPr id="86" name="©天蝎PPT37-1"/>
            <p:cNvCxnSpPr/>
            <p:nvPr/>
          </p:nvCxnSpPr>
          <p:spPr>
            <a:xfrm rot="10800000" flipV="1">
              <a:off x="2861935" y="4022018"/>
              <a:ext cx="0" cy="1650142"/>
            </a:xfrm>
            <a:prstGeom prst="line">
              <a:avLst/>
            </a:prstGeom>
            <a:ln w="15875">
              <a:gradFill>
                <a:gsLst>
                  <a:gs pos="0">
                    <a:srgbClr val="E6E6E6">
                      <a:alpha val="0"/>
                    </a:srgbClr>
                  </a:gs>
                  <a:gs pos="73000">
                    <a:srgbClr val="3368FF"/>
                  </a:gs>
                  <a:gs pos="100000">
                    <a:srgbClr val="0042FF"/>
                  </a:gs>
                </a:gsLst>
                <a:lin ang="5400000" scaled="1"/>
              </a:gradFill>
            </a:ln>
          </p:spPr>
          <p:style>
            <a:lnRef idx="1">
              <a:srgbClr val="0042FF"/>
            </a:lnRef>
            <a:fillRef idx="0">
              <a:srgbClr val="0042FF"/>
            </a:fillRef>
            <a:effectRef idx="0">
              <a:srgbClr val="0042FF"/>
            </a:effectRef>
            <a:fontRef idx="minor">
              <a:srgbClr val="383838"/>
            </a:fontRef>
          </p:style>
        </p:cxnSp>
        <p:sp>
          <p:nvSpPr>
            <p:cNvPr id="87" name="©天蝎PPT37-2"/>
            <p:cNvSpPr/>
            <p:nvPr/>
          </p:nvSpPr>
          <p:spPr>
            <a:xfrm>
              <a:off x="2817116" y="5599614"/>
              <a:ext cx="89638" cy="89638"/>
            </a:xfrm>
            <a:prstGeom prst="ellipse">
              <a:avLst/>
            </a:prstGeom>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sym typeface="微软雅黑"/>
              </a:endParaRPr>
            </a:p>
          </p:txBody>
        </p:sp>
      </p:grpSp>
      <p:sp>
        <p:nvSpPr>
          <p:cNvPr id="88" name="©天蝎PPT38"/>
          <p:cNvSpPr/>
          <p:nvPr/>
        </p:nvSpPr>
        <p:spPr>
          <a:xfrm>
            <a:off x="2852250" y="4442570"/>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89" name="©天蝎PPT39"/>
          <p:cNvSpPr/>
          <p:nvPr/>
        </p:nvSpPr>
        <p:spPr>
          <a:xfrm>
            <a:off x="3666509" y="4442570"/>
            <a:ext cx="748030"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91" name="©天蝎PPT40"/>
          <p:cNvSpPr txBox="1"/>
          <p:nvPr/>
        </p:nvSpPr>
        <p:spPr>
          <a:xfrm>
            <a:off x="7191322" y="3349077"/>
            <a:ext cx="1937658" cy="349250"/>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运营部</a:t>
            </a:r>
            <a:r>
              <a:rPr lang="en-US" altLang="zh-CN" sz="1400" b="1" dirty="0">
                <a:solidFill>
                  <a:srgbClr val="0042FF"/>
                </a:solidFill>
                <a:latin typeface="微软雅黑"/>
                <a:ea typeface="微软雅黑"/>
                <a:cs typeface="微软雅黑"/>
                <a:sym typeface="微软雅黑"/>
              </a:rPr>
              <a:t>-</a:t>
            </a:r>
            <a:r>
              <a:rPr lang="zh-CN" altLang="en-US" sz="1400" b="1" dirty="0">
                <a:solidFill>
                  <a:srgbClr val="0042FF"/>
                </a:solidFill>
                <a:latin typeface="微软雅黑"/>
                <a:ea typeface="微软雅黑"/>
                <a:cs typeface="微软雅黑"/>
                <a:sym typeface="微软雅黑"/>
              </a:rPr>
              <a:t>运营副总经理</a:t>
            </a:r>
            <a:r>
              <a:rPr lang="en-US" altLang="zh-CN" sz="1400" b="1" dirty="0">
                <a:solidFill>
                  <a:srgbClr val="0042FF"/>
                </a:solidFill>
                <a:latin typeface="微软雅黑"/>
                <a:ea typeface="微软雅黑"/>
                <a:cs typeface="微软雅黑"/>
                <a:sym typeface="微软雅黑"/>
              </a:rPr>
              <a:t> </a:t>
            </a:r>
            <a:endParaRPr lang="zh-CN" altLang="en-US" sz="1400" b="1" dirty="0">
              <a:solidFill>
                <a:srgbClr val="0042FF"/>
              </a:solidFill>
              <a:latin typeface="微软雅黑"/>
              <a:ea typeface="微软雅黑"/>
              <a:cs typeface="微软雅黑"/>
              <a:sym typeface="微软雅黑"/>
            </a:endParaRPr>
          </a:p>
        </p:txBody>
      </p:sp>
      <p:sp>
        <p:nvSpPr>
          <p:cNvPr id="95" name="©天蝎PPT41"/>
          <p:cNvSpPr/>
          <p:nvPr/>
        </p:nvSpPr>
        <p:spPr>
          <a:xfrm>
            <a:off x="7109726" y="4442570"/>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96" name="©天蝎PPT42"/>
          <p:cNvSpPr/>
          <p:nvPr/>
        </p:nvSpPr>
        <p:spPr>
          <a:xfrm>
            <a:off x="7917446" y="4442570"/>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97" name="©天蝎PPT43"/>
          <p:cNvSpPr/>
          <p:nvPr/>
        </p:nvSpPr>
        <p:spPr>
          <a:xfrm>
            <a:off x="8728976" y="4442570"/>
            <a:ext cx="748219"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grpSp>
        <p:nvGrpSpPr>
          <p:cNvPr id="99" name="©天蝎PPT44"/>
          <p:cNvGrpSpPr/>
          <p:nvPr/>
        </p:nvGrpSpPr>
        <p:grpSpPr>
          <a:xfrm rot="10800000">
            <a:off x="6797746" y="3028945"/>
            <a:ext cx="89638" cy="1650142"/>
            <a:chOff x="2817116" y="4039110"/>
            <a:chExt cx="89638" cy="1650142"/>
          </a:xfrm>
        </p:grpSpPr>
        <p:cxnSp>
          <p:nvCxnSpPr>
            <p:cNvPr id="100" name="©天蝎PPT44-1"/>
            <p:cNvCxnSpPr>
              <a:endCxn id="101" idx="4"/>
            </p:cNvCxnSpPr>
            <p:nvPr/>
          </p:nvCxnSpPr>
          <p:spPr>
            <a:xfrm rot="10800000" flipV="1">
              <a:off x="2861935" y="4039110"/>
              <a:ext cx="0" cy="1650142"/>
            </a:xfrm>
            <a:prstGeom prst="line">
              <a:avLst/>
            </a:prstGeom>
            <a:ln w="15875">
              <a:gradFill>
                <a:gsLst>
                  <a:gs pos="0">
                    <a:srgbClr val="E6E6E6">
                      <a:alpha val="0"/>
                    </a:srgbClr>
                  </a:gs>
                  <a:gs pos="73000">
                    <a:srgbClr val="668EFF"/>
                  </a:gs>
                  <a:gs pos="100000">
                    <a:srgbClr val="0042FF"/>
                  </a:gs>
                </a:gsLst>
                <a:lin ang="5400000" scaled="1"/>
              </a:gradFill>
            </a:ln>
          </p:spPr>
          <p:style>
            <a:lnRef idx="1">
              <a:srgbClr val="0042FF"/>
            </a:lnRef>
            <a:fillRef idx="0">
              <a:srgbClr val="0042FF"/>
            </a:fillRef>
            <a:effectRef idx="0">
              <a:srgbClr val="0042FF"/>
            </a:effectRef>
            <a:fontRef idx="minor">
              <a:srgbClr val="383838"/>
            </a:fontRef>
          </p:style>
        </p:cxnSp>
        <p:sp>
          <p:nvSpPr>
            <p:cNvPr id="101" name="©天蝎PPT44-2"/>
            <p:cNvSpPr/>
            <p:nvPr/>
          </p:nvSpPr>
          <p:spPr>
            <a:xfrm>
              <a:off x="2817116" y="5599614"/>
              <a:ext cx="89638" cy="89638"/>
            </a:xfrm>
            <a:prstGeom prst="ellipse">
              <a:avLst/>
            </a:prstGeom>
            <a:ln>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sym typeface="微软雅黑"/>
              </a:endParaRPr>
            </a:p>
          </p:txBody>
        </p:sp>
      </p:grpSp>
      <p:sp>
        <p:nvSpPr>
          <p:cNvPr id="7" name="©天蝎PPT45"/>
          <p:cNvSpPr/>
          <p:nvPr/>
        </p:nvSpPr>
        <p:spPr>
          <a:xfrm>
            <a:off x="11586214" y="2793134"/>
            <a:ext cx="413281" cy="569931"/>
          </a:xfrm>
          <a:custGeom>
            <a:avLst/>
            <a:gdLst>
              <a:gd name="connsiteX0" fmla="*/ 0 w 1029884"/>
              <a:gd name="connsiteY0" fmla="*/ 0 h 2112809"/>
              <a:gd name="connsiteX1" fmla="*/ 1029884 w 1029884"/>
              <a:gd name="connsiteY1" fmla="*/ 1051946 h 2112809"/>
              <a:gd name="connsiteX2" fmla="*/ 0 w 1029884"/>
              <a:gd name="connsiteY2" fmla="*/ 2112810 h 2112809"/>
              <a:gd name="connsiteX3" fmla="*/ 314652 w 1029884"/>
              <a:gd name="connsiteY3" fmla="*/ 1014745 h 2112809"/>
              <a:gd name="connsiteX4" fmla="*/ 0 w 1029884"/>
              <a:gd name="connsiteY4" fmla="*/ 0 h 21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884" h="2112809">
                <a:moveTo>
                  <a:pt x="0" y="0"/>
                </a:moveTo>
                <a:lnTo>
                  <a:pt x="1029884" y="1051946"/>
                </a:lnTo>
                <a:lnTo>
                  <a:pt x="0" y="2112810"/>
                </a:lnTo>
                <a:lnTo>
                  <a:pt x="314652" y="1014745"/>
                </a:lnTo>
                <a:lnTo>
                  <a:pt x="0" y="0"/>
                </a:lnTo>
                <a:close/>
              </a:path>
            </a:pathLst>
          </a:custGeom>
          <a:solidFill>
            <a:srgbClr val="0042FF"/>
          </a:solidFill>
          <a:ln w="6371"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8" name="©天蝎PPT46"/>
          <p:cNvSpPr/>
          <p:nvPr/>
        </p:nvSpPr>
        <p:spPr>
          <a:xfrm>
            <a:off x="3297314" y="2944523"/>
            <a:ext cx="924275" cy="251623"/>
          </a:xfrm>
          <a:prstGeom prst="roundRect">
            <a:avLst/>
          </a:prstGeom>
          <a:gradFill>
            <a:gsLst>
              <a:gs pos="0">
                <a:srgbClr val="3368FF"/>
              </a:gs>
              <a:gs pos="99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kumimoji="1" lang="en-US" altLang="zh-CN" sz="1000" b="1">
                <a:solidFill>
                  <a:srgbClr val="FFFFFF"/>
                </a:solidFill>
                <a:latin typeface="微软雅黑"/>
                <a:ea typeface="微软雅黑"/>
                <a:cs typeface="微软雅黑"/>
                <a:sym typeface="微软雅黑"/>
              </a:rPr>
              <a:t>2020-2022</a:t>
            </a:r>
            <a:endParaRPr kumimoji="1" lang="en-US" altLang="zh-CN" sz="1000" b="1">
              <a:solidFill>
                <a:srgbClr val="FFFFFF"/>
              </a:solidFill>
              <a:latin typeface="微软雅黑"/>
              <a:ea typeface="微软雅黑"/>
              <a:cs typeface="微软雅黑"/>
              <a:sym typeface="微软雅黑"/>
            </a:endParaRPr>
          </a:p>
        </p:txBody>
      </p:sp>
      <p:sp>
        <p:nvSpPr>
          <p:cNvPr id="9" name="©天蝎PPT47"/>
          <p:cNvSpPr/>
          <p:nvPr/>
        </p:nvSpPr>
        <p:spPr>
          <a:xfrm>
            <a:off x="5327592" y="2944523"/>
            <a:ext cx="924275" cy="251623"/>
          </a:xfrm>
          <a:prstGeom prst="roundRect">
            <a:avLst/>
          </a:prstGeom>
          <a:gradFill>
            <a:gsLst>
              <a:gs pos="0">
                <a:srgbClr val="3368FF"/>
              </a:gs>
              <a:gs pos="99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kumimoji="1" lang="en-US" altLang="zh-CN" sz="1000" b="1">
                <a:solidFill>
                  <a:srgbClr val="FFFFFF"/>
                </a:solidFill>
                <a:latin typeface="微软雅黑"/>
                <a:ea typeface="微软雅黑"/>
                <a:cs typeface="微软雅黑"/>
                <a:sym typeface="微软雅黑"/>
              </a:rPr>
              <a:t>2022-2024</a:t>
            </a:r>
            <a:endParaRPr kumimoji="1" lang="en-US" altLang="zh-CN" sz="1000" b="1">
              <a:solidFill>
                <a:srgbClr val="FFFFFF"/>
              </a:solidFill>
              <a:latin typeface="微软雅黑"/>
              <a:ea typeface="微软雅黑"/>
              <a:cs typeface="微软雅黑"/>
              <a:sym typeface="微软雅黑"/>
            </a:endParaRPr>
          </a:p>
        </p:txBody>
      </p:sp>
      <p:sp>
        <p:nvSpPr>
          <p:cNvPr id="13" name="©天蝎PPT48"/>
          <p:cNvSpPr/>
          <p:nvPr/>
        </p:nvSpPr>
        <p:spPr>
          <a:xfrm>
            <a:off x="7381117" y="2944523"/>
            <a:ext cx="924275" cy="251623"/>
          </a:xfrm>
          <a:prstGeom prst="roundRect">
            <a:avLst/>
          </a:prstGeom>
          <a:gradFill>
            <a:gsLst>
              <a:gs pos="0">
                <a:srgbClr val="3368FF"/>
              </a:gs>
              <a:gs pos="99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r>
              <a:rPr kumimoji="1" lang="zh-CN" altLang="en-US" sz="1000" b="1">
                <a:solidFill>
                  <a:srgbClr val="FFFFFF"/>
                </a:solidFill>
                <a:latin typeface="微软雅黑"/>
                <a:ea typeface="微软雅黑"/>
                <a:cs typeface="微软雅黑"/>
                <a:sym typeface="微软雅黑"/>
              </a:rPr>
              <a:t>202</a:t>
            </a:r>
            <a:r>
              <a:rPr kumimoji="1" lang="en-US" altLang="zh-CN" sz="1000" b="1">
                <a:solidFill>
                  <a:srgbClr val="FFFFFF"/>
                </a:solidFill>
                <a:latin typeface="微软雅黑"/>
                <a:ea typeface="微软雅黑"/>
                <a:cs typeface="微软雅黑"/>
                <a:sym typeface="微软雅黑"/>
              </a:rPr>
              <a:t>4</a:t>
            </a:r>
            <a:r>
              <a:rPr kumimoji="1" lang="zh-CN" altLang="en-US" sz="1000" b="1">
                <a:solidFill>
                  <a:srgbClr val="FFFFFF"/>
                </a:solidFill>
                <a:latin typeface="微软雅黑"/>
                <a:ea typeface="微软雅黑"/>
                <a:cs typeface="微软雅黑"/>
                <a:sym typeface="微软雅黑"/>
              </a:rPr>
              <a:t>-2026</a:t>
            </a:r>
            <a:endParaRPr kumimoji="1" lang="zh-CN" altLang="en-US" sz="1000" b="1">
              <a:solidFill>
                <a:srgbClr val="FFFFFF"/>
              </a:solidFill>
              <a:latin typeface="微软雅黑"/>
              <a:ea typeface="微软雅黑"/>
              <a:cs typeface="微软雅黑"/>
              <a:sym typeface="微软雅黑"/>
            </a:endParaRPr>
          </a:p>
        </p:txBody>
      </p:sp>
      <p:sp>
        <p:nvSpPr>
          <p:cNvPr id="14" name="©天蝎PPT49"/>
          <p:cNvSpPr/>
          <p:nvPr/>
        </p:nvSpPr>
        <p:spPr>
          <a:xfrm>
            <a:off x="9760107" y="2944523"/>
            <a:ext cx="924275" cy="251623"/>
          </a:xfrm>
          <a:prstGeom prst="roundRect">
            <a:avLst/>
          </a:prstGeom>
          <a:gradFill>
            <a:gsLst>
              <a:gs pos="0">
                <a:srgbClr val="B3D4FE"/>
              </a:gs>
              <a:gs pos="99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r>
              <a:rPr kumimoji="1" lang="zh-CN" altLang="en-US" sz="1000" b="1">
                <a:latin typeface="微软雅黑"/>
                <a:ea typeface="微软雅黑"/>
                <a:cs typeface="微软雅黑"/>
                <a:sym typeface="微软雅黑"/>
              </a:rPr>
              <a:t>202</a:t>
            </a:r>
            <a:r>
              <a:rPr kumimoji="1" lang="en-US" altLang="zh-CN" sz="1000" b="1">
                <a:latin typeface="微软雅黑"/>
                <a:ea typeface="微软雅黑"/>
                <a:cs typeface="微软雅黑"/>
                <a:sym typeface="微软雅黑"/>
              </a:rPr>
              <a:t>6</a:t>
            </a:r>
            <a:r>
              <a:rPr kumimoji="1" lang="zh-CN" altLang="en-US" sz="1000" b="1">
                <a:latin typeface="微软雅黑"/>
                <a:ea typeface="微软雅黑"/>
                <a:cs typeface="微软雅黑"/>
                <a:sym typeface="微软雅黑"/>
              </a:rPr>
              <a:t>-</a:t>
            </a:r>
            <a:r>
              <a:rPr kumimoji="1" lang="zh-CN" altLang="en-US" sz="1000" b="1">
                <a:latin typeface="微软雅黑"/>
                <a:ea typeface="微软雅黑"/>
                <a:cs typeface="微软雅黑"/>
                <a:sym typeface="微软雅黑"/>
              </a:rPr>
              <a:t>至今</a:t>
            </a:r>
            <a:endParaRPr kumimoji="1" lang="zh-CN" altLang="en-US" sz="1000" b="1">
              <a:latin typeface="微软雅黑"/>
              <a:ea typeface="微软雅黑"/>
              <a:cs typeface="微软雅黑"/>
              <a:sym typeface="微软雅黑"/>
            </a:endParaRPr>
          </a:p>
        </p:txBody>
      </p:sp>
      <p:grpSp>
        <p:nvGrpSpPr>
          <p:cNvPr id="187" name="©天蝎PPT50"/>
          <p:cNvGrpSpPr/>
          <p:nvPr/>
        </p:nvGrpSpPr>
        <p:grpSpPr>
          <a:xfrm>
            <a:off x="408653" y="5241684"/>
            <a:ext cx="11507987" cy="381850"/>
            <a:chOff x="340557" y="5221227"/>
            <a:chExt cx="11193815" cy="381850"/>
          </a:xfrm>
        </p:grpSpPr>
        <p:sp>
          <p:nvSpPr>
            <p:cNvPr id="15" name="©天蝎PPT50-1"/>
            <p:cNvSpPr/>
            <p:nvPr/>
          </p:nvSpPr>
          <p:spPr>
            <a:xfrm>
              <a:off x="340557" y="5221227"/>
              <a:ext cx="2479350" cy="381850"/>
            </a:xfrm>
            <a:prstGeom prst="homePlate">
              <a:avLst/>
            </a:prstGeom>
            <a:gradFill>
              <a:gsLst>
                <a:gs pos="0">
                  <a:srgbClr val="3368FF"/>
                </a:gs>
                <a:gs pos="99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82" name="©天蝎PPT50-2"/>
            <p:cNvSpPr/>
            <p:nvPr/>
          </p:nvSpPr>
          <p:spPr>
            <a:xfrm>
              <a:off x="2709086" y="5221227"/>
              <a:ext cx="2479350" cy="381850"/>
            </a:xfrm>
            <a:prstGeom prst="chevron">
              <a:avLst/>
            </a:prstGeom>
            <a:gradFill>
              <a:gsLst>
                <a:gs pos="0">
                  <a:srgbClr val="3368FF"/>
                </a:gs>
                <a:gs pos="99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85" name="©天蝎PPT50-3"/>
            <p:cNvSpPr/>
            <p:nvPr/>
          </p:nvSpPr>
          <p:spPr>
            <a:xfrm>
              <a:off x="5095669" y="5221227"/>
              <a:ext cx="4057471" cy="381850"/>
            </a:xfrm>
            <a:prstGeom prst="chevron">
              <a:avLst/>
            </a:prstGeom>
            <a:gradFill>
              <a:gsLst>
                <a:gs pos="0">
                  <a:srgbClr val="B3D4FE"/>
                </a:gs>
                <a:gs pos="99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86" name="©天蝎PPT50-4"/>
            <p:cNvSpPr/>
            <p:nvPr/>
          </p:nvSpPr>
          <p:spPr>
            <a:xfrm>
              <a:off x="9055022" y="5221227"/>
              <a:ext cx="2479350" cy="381850"/>
            </a:xfrm>
            <a:prstGeom prst="chevron">
              <a:avLst/>
            </a:prstGeom>
            <a:gradFill>
              <a:gsLst>
                <a:gs pos="0">
                  <a:srgbClr val="3368FF"/>
                </a:gs>
                <a:gs pos="99000">
                  <a:srgbClr val="0042FF"/>
                </a:gs>
              </a:gsLst>
              <a:lin ang="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grpSp>
      <p:sp>
        <p:nvSpPr>
          <p:cNvPr id="193" name="©天蝎PPT52"/>
          <p:cNvSpPr txBox="1"/>
          <p:nvPr/>
        </p:nvSpPr>
        <p:spPr>
          <a:xfrm>
            <a:off x="1706414"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流程执行</a:t>
            </a:r>
            <a:endParaRPr lang="zh-CN" altLang="en-US" sz="1100" dirty="0">
              <a:solidFill>
                <a:srgbClr val="383838"/>
              </a:solidFill>
              <a:latin typeface="微软雅黑"/>
              <a:ea typeface="微软雅黑"/>
              <a:cs typeface="微软雅黑"/>
              <a:sym typeface="微软雅黑"/>
            </a:endParaRPr>
          </a:p>
        </p:txBody>
      </p:sp>
      <p:sp>
        <p:nvSpPr>
          <p:cNvPr id="194" name="©天蝎PPT53"/>
          <p:cNvSpPr txBox="1"/>
          <p:nvPr/>
        </p:nvSpPr>
        <p:spPr>
          <a:xfrm>
            <a:off x="2514797" y="2513254"/>
            <a:ext cx="748220" cy="261610"/>
          </a:xfrm>
          <a:prstGeom prst="rect">
            <a:avLst/>
          </a:prstGeom>
          <a:noFill/>
        </p:spPr>
        <p:txBody>
          <a:bodyPr wrap="square">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协调沟通</a:t>
            </a:r>
            <a:endParaRPr lang="zh-CN" altLang="en-US" sz="1100" dirty="0">
              <a:solidFill>
                <a:srgbClr val="383838"/>
              </a:solidFill>
              <a:latin typeface="微软雅黑"/>
              <a:ea typeface="微软雅黑"/>
              <a:cs typeface="微软雅黑"/>
              <a:sym typeface="微软雅黑"/>
            </a:endParaRPr>
          </a:p>
        </p:txBody>
      </p:sp>
      <p:sp>
        <p:nvSpPr>
          <p:cNvPr id="197" name="©天蝎PPT56"/>
          <p:cNvSpPr txBox="1"/>
          <p:nvPr/>
        </p:nvSpPr>
        <p:spPr>
          <a:xfrm>
            <a:off x="4983894"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团队带领</a:t>
            </a:r>
            <a:endParaRPr lang="zh-CN" altLang="en-US" sz="1100" dirty="0">
              <a:latin typeface="微软雅黑"/>
              <a:ea typeface="微软雅黑"/>
              <a:cs typeface="微软雅黑"/>
              <a:sym typeface="微软雅黑"/>
            </a:endParaRPr>
          </a:p>
        </p:txBody>
      </p:sp>
      <p:sp>
        <p:nvSpPr>
          <p:cNvPr id="198" name="©天蝎PPT57"/>
          <p:cNvSpPr txBox="1"/>
          <p:nvPr/>
        </p:nvSpPr>
        <p:spPr>
          <a:xfrm>
            <a:off x="5792277"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机制优化</a:t>
            </a:r>
            <a:endParaRPr lang="zh-CN" altLang="en-US" sz="1100" dirty="0">
              <a:latin typeface="微软雅黑"/>
              <a:ea typeface="微软雅黑"/>
              <a:cs typeface="微软雅黑"/>
              <a:sym typeface="微软雅黑"/>
            </a:endParaRPr>
          </a:p>
        </p:txBody>
      </p:sp>
      <p:sp>
        <p:nvSpPr>
          <p:cNvPr id="199" name="©天蝎PPT58"/>
          <p:cNvSpPr txBox="1"/>
          <p:nvPr/>
        </p:nvSpPr>
        <p:spPr>
          <a:xfrm>
            <a:off x="6600660"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策略落地</a:t>
            </a:r>
            <a:endParaRPr lang="zh-CN" altLang="en-US" sz="1100" dirty="0">
              <a:latin typeface="微软雅黑"/>
              <a:ea typeface="微软雅黑"/>
              <a:cs typeface="微软雅黑"/>
              <a:sym typeface="微软雅黑"/>
            </a:endParaRPr>
          </a:p>
        </p:txBody>
      </p:sp>
      <p:pic>
        <p:nvPicPr>
          <p:cNvPr id="201" name="©天蝎PPT59"/>
          <p:cNvPicPr>
            <a:picLocks noChangeAspect="1"/>
          </p:cNvPicPr>
          <p:nvPr/>
        </p:nvPicPr>
        <p:blipFill>
          <a:blip r:embed="rId3" cstate="email">
            <a:extLst>
              <a:ext uri="{96DAC541-7B7A-43D3-8B79-37D633B846F1}">
                <asvg:svgBlip xmlns:asvg="http://schemas.microsoft.com/office/drawing/2016/SVG/main" r:embed="rId4"/>
              </a:ext>
            </a:extLst>
          </a:blip>
          <a:stretch>
            <a:fillRect/>
          </a:stretch>
        </p:blipFill>
        <p:spPr>
          <a:xfrm>
            <a:off x="849728" y="1437552"/>
            <a:ext cx="229801" cy="229801"/>
          </a:xfrm>
          <a:prstGeom prst="rect">
            <a:avLst/>
          </a:prstGeom>
        </p:spPr>
      </p:pic>
      <p:pic>
        <p:nvPicPr>
          <p:cNvPr id="202" name="©天蝎PPT60"/>
          <p:cNvPicPr>
            <a:picLocks noChangeAspect="1"/>
          </p:cNvPicPr>
          <p:nvPr/>
        </p:nvPicPr>
        <p:blipFill>
          <a:blip r:embed="rId3" cstate="email">
            <a:extLst>
              <a:ext uri="{96DAC541-7B7A-43D3-8B79-37D633B846F1}">
                <asvg:svgBlip xmlns:asvg="http://schemas.microsoft.com/office/drawing/2016/SVG/main" r:embed="rId5"/>
              </a:ext>
            </a:extLst>
          </a:blip>
          <a:stretch>
            <a:fillRect/>
          </a:stretch>
        </p:blipFill>
        <p:spPr>
          <a:xfrm>
            <a:off x="2788256" y="3394368"/>
            <a:ext cx="229801" cy="229801"/>
          </a:xfrm>
          <a:prstGeom prst="rect">
            <a:avLst/>
          </a:prstGeom>
        </p:spPr>
      </p:pic>
      <p:pic>
        <p:nvPicPr>
          <p:cNvPr id="203" name="©天蝎PPT61"/>
          <p:cNvPicPr>
            <a:picLocks noChangeAspect="1"/>
          </p:cNvPicPr>
          <p:nvPr/>
        </p:nvPicPr>
        <p:blipFill>
          <a:blip r:embed="rId3" cstate="email">
            <a:extLst>
              <a:ext uri="{96DAC541-7B7A-43D3-8B79-37D633B846F1}">
                <asvg:svgBlip xmlns:asvg="http://schemas.microsoft.com/office/drawing/2016/SVG/main" r:embed="rId6"/>
              </a:ext>
            </a:extLst>
          </a:blip>
          <a:stretch>
            <a:fillRect/>
          </a:stretch>
        </p:blipFill>
        <p:spPr>
          <a:xfrm>
            <a:off x="4918808" y="1437552"/>
            <a:ext cx="229801" cy="229801"/>
          </a:xfrm>
          <a:prstGeom prst="rect">
            <a:avLst/>
          </a:prstGeom>
        </p:spPr>
      </p:pic>
      <p:pic>
        <p:nvPicPr>
          <p:cNvPr id="204" name="©天蝎PPT62"/>
          <p:cNvPicPr>
            <a:picLocks noChangeAspect="1"/>
          </p:cNvPicPr>
          <p:nvPr/>
        </p:nvPicPr>
        <p:blipFill>
          <a:blip r:embed="rId3" cstate="email">
            <a:extLst>
              <a:ext uri="{96DAC541-7B7A-43D3-8B79-37D633B846F1}">
                <asvg:svgBlip xmlns:asvg="http://schemas.microsoft.com/office/drawing/2016/SVG/main" r:embed="rId7"/>
              </a:ext>
            </a:extLst>
          </a:blip>
          <a:stretch>
            <a:fillRect/>
          </a:stretch>
        </p:blipFill>
        <p:spPr>
          <a:xfrm>
            <a:off x="7040216" y="3385224"/>
            <a:ext cx="229801" cy="229801"/>
          </a:xfrm>
          <a:prstGeom prst="rect">
            <a:avLst/>
          </a:prstGeom>
        </p:spPr>
      </p:pic>
      <p:sp>
        <p:nvSpPr>
          <p:cNvPr id="205" name="©天蝎PPT63"/>
          <p:cNvSpPr txBox="1"/>
          <p:nvPr/>
        </p:nvSpPr>
        <p:spPr>
          <a:xfrm>
            <a:off x="6961679" y="3632767"/>
            <a:ext cx="3254062" cy="751205"/>
          </a:xfrm>
          <a:prstGeom prst="rect">
            <a:avLst/>
          </a:prstGeom>
          <a:noFill/>
        </p:spPr>
        <p:txBody>
          <a:bodyPr wrap="square" rtlCol="0">
            <a:spAutoFit/>
          </a:bodyPr>
          <a:lstStyle/>
          <a:p>
            <a:pPr algn="l">
              <a:lnSpc>
                <a:spcPct val="130000"/>
              </a:lnSpc>
              <a:buFont typeface="微软雅黑"/>
              <a:buChar cha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 协助总经理制定运营战略，分管核心业务板块</a:t>
            </a:r>
            <a:endParaRPr lang="zh-CN" altLang="en-US"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sym typeface="微软雅黑"/>
              </a:rPr>
              <a:t> </a:t>
            </a:r>
            <a:r>
              <a:rPr lang="zh-CN" altLang="en-US" sz="1100" dirty="0">
                <a:solidFill>
                  <a:srgbClr val="383838"/>
                </a:solidFill>
                <a:latin typeface="微软雅黑"/>
                <a:ea typeface="微软雅黑"/>
                <a:cs typeface="微软雅黑"/>
                <a:sym typeface="微软雅黑"/>
              </a:rPr>
              <a:t>统筹部门资源配置，推动运营体系建设与优化</a:t>
            </a:r>
            <a:endParaRPr lang="en-US" altLang="zh-CN" sz="1100" dirty="0">
              <a:solidFill>
                <a:srgbClr val="383838"/>
              </a:solidFill>
              <a:latin typeface="微软雅黑"/>
              <a:ea typeface="微软雅黑"/>
              <a:cs typeface="微软雅黑"/>
              <a:sym typeface="微软雅黑"/>
            </a:endParaRPr>
          </a:p>
          <a:p>
            <a:pPr algn="l">
              <a:lnSpc>
                <a:spcPct val="130000"/>
              </a:lnSpc>
              <a:buFont typeface="微软雅黑"/>
              <a:buChar char="•"/>
              <a:defRPr>
                <a:latin typeface="微软雅黑"/>
                <a:ea typeface="微软雅黑"/>
                <a:cs typeface="微软雅黑"/>
              </a:defRPr>
            </a:pPr>
            <a:r>
              <a:rPr lang="en-US" altLang="zh-CN" sz="1100" dirty="0">
                <a:solidFill>
                  <a:srgbClr val="383838"/>
                </a:solidFill>
                <a:latin typeface="微软雅黑"/>
                <a:ea typeface="微软雅黑"/>
                <a:cs typeface="微软雅黑"/>
                <a:sym typeface="微软雅黑"/>
              </a:rPr>
              <a:t> </a:t>
            </a:r>
            <a:r>
              <a:rPr lang="zh-CN" altLang="en-US" sz="1100" dirty="0">
                <a:solidFill>
                  <a:srgbClr val="383838"/>
                </a:solidFill>
                <a:latin typeface="微软雅黑"/>
                <a:ea typeface="微软雅黑"/>
                <a:cs typeface="微软雅黑"/>
                <a:sym typeface="微软雅黑"/>
              </a:rPr>
              <a:t>负责关键人才培养与团队梯队建设</a:t>
            </a:r>
            <a:endParaRPr lang="zh-CN" altLang="en-US" sz="1100" dirty="0">
              <a:solidFill>
                <a:srgbClr val="383838"/>
              </a:solidFill>
              <a:latin typeface="微软雅黑"/>
              <a:ea typeface="微软雅黑"/>
              <a:cs typeface="微软雅黑"/>
              <a:sym typeface="微软雅黑"/>
            </a:endParaRPr>
          </a:p>
        </p:txBody>
      </p:sp>
      <p:sp>
        <p:nvSpPr>
          <p:cNvPr id="206" name="©天蝎PPT64"/>
          <p:cNvSpPr txBox="1"/>
          <p:nvPr/>
        </p:nvSpPr>
        <p:spPr>
          <a:xfrm>
            <a:off x="7081581" y="4424350"/>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战略执行</a:t>
            </a:r>
            <a:endParaRPr lang="zh-CN" altLang="en-US" sz="1100" dirty="0">
              <a:latin typeface="微软雅黑"/>
              <a:ea typeface="微软雅黑"/>
              <a:cs typeface="微软雅黑"/>
              <a:sym typeface="微软雅黑"/>
            </a:endParaRPr>
          </a:p>
        </p:txBody>
      </p:sp>
      <p:sp>
        <p:nvSpPr>
          <p:cNvPr id="207" name="©天蝎PPT65"/>
          <p:cNvSpPr txBox="1"/>
          <p:nvPr/>
        </p:nvSpPr>
        <p:spPr>
          <a:xfrm>
            <a:off x="7895397" y="4424350"/>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体系搭建</a:t>
            </a:r>
            <a:endParaRPr lang="zh-CN" altLang="en-US" sz="1100" dirty="0">
              <a:latin typeface="微软雅黑"/>
              <a:ea typeface="微软雅黑"/>
              <a:cs typeface="微软雅黑"/>
              <a:sym typeface="微软雅黑"/>
            </a:endParaRPr>
          </a:p>
        </p:txBody>
      </p:sp>
      <p:sp>
        <p:nvSpPr>
          <p:cNvPr id="208" name="©天蝎PPT66"/>
          <p:cNvSpPr txBox="1"/>
          <p:nvPr/>
        </p:nvSpPr>
        <p:spPr>
          <a:xfrm>
            <a:off x="8727501" y="4424350"/>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人才梯队</a:t>
            </a:r>
            <a:endParaRPr lang="zh-CN" altLang="en-US" sz="1100" dirty="0">
              <a:latin typeface="微软雅黑"/>
              <a:ea typeface="微软雅黑"/>
              <a:cs typeface="微软雅黑"/>
              <a:sym typeface="微软雅黑"/>
            </a:endParaRPr>
          </a:p>
        </p:txBody>
      </p:sp>
      <p:pic>
        <p:nvPicPr>
          <p:cNvPr id="209" name="©天蝎PPT67"/>
          <p:cNvPicPr>
            <a:picLocks noChangeAspect="1"/>
          </p:cNvPicPr>
          <p:nvPr/>
        </p:nvPicPr>
        <p:blipFill>
          <a:blip r:embed="rId8" cstate="email">
            <a:extLst>
              <a:ext uri="{96DAC541-7B7A-43D3-8B79-37D633B846F1}">
                <asvg:svgBlip xmlns:asvg="http://schemas.microsoft.com/office/drawing/2016/SVG/main" r:embed="rId9"/>
              </a:ext>
            </a:extLst>
          </a:blip>
          <a:stretch>
            <a:fillRect/>
          </a:stretch>
        </p:blipFill>
        <p:spPr>
          <a:xfrm>
            <a:off x="9006176" y="1437552"/>
            <a:ext cx="229801" cy="229801"/>
          </a:xfrm>
          <a:prstGeom prst="rect">
            <a:avLst/>
          </a:prstGeom>
        </p:spPr>
      </p:pic>
      <p:sp>
        <p:nvSpPr>
          <p:cNvPr id="213" name="©天蝎PPT68"/>
          <p:cNvSpPr txBox="1"/>
          <p:nvPr/>
        </p:nvSpPr>
        <p:spPr>
          <a:xfrm>
            <a:off x="3250193" y="5650604"/>
            <a:ext cx="1623367" cy="299056"/>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稳扎稳打，专业进阶</a:t>
            </a:r>
            <a:endParaRPr lang="zh-CN" altLang="en-US" sz="1200" b="1" dirty="0">
              <a:solidFill>
                <a:srgbClr val="0042FF"/>
              </a:solidFill>
              <a:latin typeface="微软雅黑"/>
              <a:ea typeface="微软雅黑"/>
              <a:cs typeface="微软雅黑"/>
              <a:sym typeface="微软雅黑"/>
            </a:endParaRPr>
          </a:p>
        </p:txBody>
      </p:sp>
      <p:sp>
        <p:nvSpPr>
          <p:cNvPr id="214" name="©天蝎PPT69"/>
          <p:cNvSpPr txBox="1"/>
          <p:nvPr/>
        </p:nvSpPr>
        <p:spPr>
          <a:xfrm>
            <a:off x="2946784" y="5943144"/>
            <a:ext cx="2230184" cy="478155"/>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深入业务环节，提升数据分析与流程优化能力，逐步承担核心任务。</a:t>
            </a:r>
            <a:endParaRPr lang="zh-CN" altLang="en-US" sz="1050" dirty="0">
              <a:solidFill>
                <a:srgbClr val="383838"/>
              </a:solidFill>
              <a:latin typeface="微软雅黑"/>
              <a:ea typeface="微软雅黑"/>
              <a:cs typeface="微软雅黑"/>
              <a:sym typeface="微软雅黑"/>
            </a:endParaRPr>
          </a:p>
        </p:txBody>
      </p:sp>
      <p:sp>
        <p:nvSpPr>
          <p:cNvPr id="215" name="©天蝎PPT70"/>
          <p:cNvSpPr txBox="1"/>
          <p:nvPr/>
        </p:nvSpPr>
        <p:spPr>
          <a:xfrm>
            <a:off x="6547870" y="5650604"/>
            <a:ext cx="1623367" cy="299056"/>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职业突破，成就斐然</a:t>
            </a:r>
            <a:endParaRPr lang="zh-CN" altLang="en-US" sz="1200" b="1" dirty="0">
              <a:solidFill>
                <a:srgbClr val="0042FF"/>
              </a:solidFill>
              <a:latin typeface="微软雅黑"/>
              <a:ea typeface="微软雅黑"/>
              <a:cs typeface="微软雅黑"/>
              <a:sym typeface="微软雅黑"/>
            </a:endParaRPr>
          </a:p>
        </p:txBody>
      </p:sp>
      <p:sp>
        <p:nvSpPr>
          <p:cNvPr id="216" name="©天蝎PPT71"/>
          <p:cNvSpPr txBox="1"/>
          <p:nvPr/>
        </p:nvSpPr>
        <p:spPr>
          <a:xfrm>
            <a:off x="5922426" y="5943144"/>
            <a:ext cx="2874254" cy="478155"/>
          </a:xfrm>
          <a:prstGeom prst="rect">
            <a:avLst/>
          </a:prstGeom>
          <a:noFill/>
        </p:spPr>
        <p:txBody>
          <a:bodyPr wrap="square" rtlCol="0">
            <a:spAutoFit/>
          </a:bodyPr>
          <a:lstStyle/>
          <a:p>
            <a:pPr algn="ctr">
              <a:lnSpc>
                <a:spcPct val="12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承担管理职责，推动重点项目落地，实现运营效率与团队能力双提升。</a:t>
            </a:r>
            <a:endParaRPr lang="zh-CN" altLang="en-US" sz="1050" dirty="0">
              <a:solidFill>
                <a:srgbClr val="383838"/>
              </a:solidFill>
              <a:latin typeface="微软雅黑"/>
              <a:ea typeface="微软雅黑"/>
              <a:cs typeface="微软雅黑"/>
              <a:sym typeface="微软雅黑"/>
            </a:endParaRPr>
          </a:p>
        </p:txBody>
      </p:sp>
      <p:sp>
        <p:nvSpPr>
          <p:cNvPr id="217" name="©天蝎PPT72"/>
          <p:cNvSpPr txBox="1"/>
          <p:nvPr/>
        </p:nvSpPr>
        <p:spPr>
          <a:xfrm>
            <a:off x="9796909" y="5650604"/>
            <a:ext cx="1623367" cy="299056"/>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200" b="1" dirty="0">
                <a:solidFill>
                  <a:srgbClr val="0042FF"/>
                </a:solidFill>
                <a:latin typeface="微软雅黑"/>
                <a:ea typeface="微软雅黑"/>
                <a:cs typeface="微软雅黑"/>
                <a:sym typeface="微软雅黑"/>
              </a:rPr>
              <a:t>黄金阶段，事业有成</a:t>
            </a:r>
            <a:endParaRPr lang="zh-CN" altLang="en-US" sz="1200" b="1" dirty="0">
              <a:solidFill>
                <a:srgbClr val="0042FF"/>
              </a:solidFill>
              <a:latin typeface="微软雅黑"/>
              <a:ea typeface="微软雅黑"/>
              <a:cs typeface="微软雅黑"/>
              <a:sym typeface="微软雅黑"/>
            </a:endParaRPr>
          </a:p>
        </p:txBody>
      </p:sp>
      <p:sp>
        <p:nvSpPr>
          <p:cNvPr id="218" name="©天蝎PPT73"/>
          <p:cNvSpPr txBox="1"/>
          <p:nvPr/>
        </p:nvSpPr>
        <p:spPr>
          <a:xfrm>
            <a:off x="9475470" y="5942965"/>
            <a:ext cx="2226945" cy="478155"/>
          </a:xfrm>
          <a:prstGeom prst="rect">
            <a:avLst/>
          </a:prstGeom>
          <a:noFill/>
        </p:spPr>
        <p:txBody>
          <a:bodyPr wrap="square" rtlCol="0">
            <a:spAutoFit/>
          </a:bodyPr>
          <a:lstStyle/>
          <a:p>
            <a:pPr>
              <a:lnSpc>
                <a:spcPct val="120000"/>
              </a:lnSpc>
              <a:defRPr>
                <a:latin typeface="微软雅黑"/>
                <a:ea typeface="微软雅黑"/>
                <a:cs typeface="微软雅黑"/>
              </a:defRPr>
            </a:pPr>
            <a:r>
              <a:rPr lang="zh-CN" altLang="en-US" sz="1050" dirty="0">
                <a:solidFill>
                  <a:srgbClr val="383838"/>
                </a:solidFill>
                <a:latin typeface="微软雅黑"/>
                <a:ea typeface="微软雅黑"/>
                <a:cs typeface="微软雅黑"/>
                <a:sym typeface="微软雅黑"/>
              </a:rPr>
              <a:t>立足全局，统筹运营，为组织发展提供坚实支撑，持续拓展职业空间。</a:t>
            </a:r>
            <a:endParaRPr lang="zh-CN" altLang="en-US" sz="1050" dirty="0">
              <a:solidFill>
                <a:srgbClr val="383838"/>
              </a:solidFill>
              <a:latin typeface="微软雅黑"/>
              <a:ea typeface="微软雅黑"/>
              <a:cs typeface="微软雅黑"/>
              <a:sym typeface="微软雅黑"/>
            </a:endParaRPr>
          </a:p>
        </p:txBody>
      </p:sp>
      <p:sp>
        <p:nvSpPr>
          <p:cNvPr id="219" name="©天蝎PPT74"/>
          <p:cNvSpPr/>
          <p:nvPr/>
        </p:nvSpPr>
        <p:spPr>
          <a:xfrm>
            <a:off x="1010555" y="5312222"/>
            <a:ext cx="1271391" cy="251623"/>
          </a:xfrm>
          <a:prstGeom prst="roundRect">
            <a:avLst/>
          </a:prstGeom>
          <a:no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en-US" altLang="zh-CN" sz="1100" b="1" dirty="0">
                <a:solidFill>
                  <a:srgbClr val="FFFFFF"/>
                </a:solidFill>
                <a:latin typeface="微软雅黑"/>
                <a:ea typeface="微软雅黑"/>
                <a:cs typeface="微软雅黑"/>
                <a:sym typeface="微软雅黑"/>
              </a:rPr>
              <a:t>2019-2020</a:t>
            </a:r>
            <a:endParaRPr lang="en-US" altLang="zh-CN" sz="1100" b="1" dirty="0">
              <a:solidFill>
                <a:srgbClr val="FFFFFF"/>
              </a:solidFill>
              <a:latin typeface="微软雅黑"/>
              <a:ea typeface="微软雅黑"/>
              <a:cs typeface="微软雅黑"/>
              <a:sym typeface="微软雅黑"/>
            </a:endParaRPr>
          </a:p>
        </p:txBody>
      </p:sp>
      <p:sp>
        <p:nvSpPr>
          <p:cNvPr id="220" name="©天蝎PPT75"/>
          <p:cNvSpPr/>
          <p:nvPr/>
        </p:nvSpPr>
        <p:spPr>
          <a:xfrm>
            <a:off x="3460861" y="5312222"/>
            <a:ext cx="1271391" cy="251623"/>
          </a:xfrm>
          <a:prstGeom prst="roundRect">
            <a:avLst/>
          </a:prstGeom>
          <a:no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en-US" altLang="zh-CN" sz="1100" b="1" dirty="0">
                <a:solidFill>
                  <a:srgbClr val="FFFFFF"/>
                </a:solidFill>
                <a:latin typeface="微软雅黑"/>
                <a:ea typeface="微软雅黑"/>
                <a:cs typeface="微软雅黑"/>
                <a:sym typeface="微软雅黑"/>
              </a:rPr>
              <a:t>2020-2022</a:t>
            </a:r>
            <a:endParaRPr lang="en-US" altLang="zh-CN" sz="1100" b="1" dirty="0">
              <a:solidFill>
                <a:srgbClr val="FFFFFF"/>
              </a:solidFill>
              <a:latin typeface="微软雅黑"/>
              <a:ea typeface="微软雅黑"/>
              <a:cs typeface="微软雅黑"/>
              <a:sym typeface="微软雅黑"/>
            </a:endParaRPr>
          </a:p>
        </p:txBody>
      </p:sp>
      <p:sp>
        <p:nvSpPr>
          <p:cNvPr id="221" name="©天蝎PPT76"/>
          <p:cNvSpPr/>
          <p:nvPr/>
        </p:nvSpPr>
        <p:spPr>
          <a:xfrm>
            <a:off x="6706992" y="5306797"/>
            <a:ext cx="1271391" cy="251623"/>
          </a:xfrm>
          <a:prstGeom prst="roundRect">
            <a:avLst/>
          </a:prstGeom>
          <a:noFill/>
          <a:ln>
            <a:no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lang="en-US" altLang="zh-CN" sz="1100" b="1" dirty="0">
                <a:latin typeface="微软雅黑"/>
                <a:ea typeface="微软雅黑"/>
                <a:cs typeface="微软雅黑"/>
                <a:sym typeface="微软雅黑"/>
              </a:rPr>
              <a:t>2022-2026</a:t>
            </a:r>
            <a:endParaRPr lang="en-US" altLang="zh-CN" sz="1100" b="1" dirty="0">
              <a:latin typeface="微软雅黑"/>
              <a:ea typeface="微软雅黑"/>
              <a:cs typeface="微软雅黑"/>
              <a:sym typeface="微软雅黑"/>
            </a:endParaRPr>
          </a:p>
        </p:txBody>
      </p:sp>
      <p:sp>
        <p:nvSpPr>
          <p:cNvPr id="222" name="©天蝎PPT77"/>
          <p:cNvSpPr/>
          <p:nvPr/>
        </p:nvSpPr>
        <p:spPr>
          <a:xfrm>
            <a:off x="9970309" y="5306797"/>
            <a:ext cx="1271391" cy="251623"/>
          </a:xfrm>
          <a:prstGeom prst="roundRect">
            <a:avLst/>
          </a:prstGeom>
          <a:noFill/>
          <a:ln>
            <a:noFill/>
          </a:ln>
          <a:extLst>
            <a:ext uri="{909E8E84-426E-40DD-AFC4-6F175D3DCCD1}">
              <a14:hiddenFill xmlns:a14="http://schemas.microsoft.com/office/drawing/2010/main">
                <a:solidFill>
                  <a:srgbClr val="0042FF"/>
                </a:solidFill>
              </a14:hiddenFill>
            </a:ext>
          </a:extLst>
        </p:spPr>
        <p:style>
          <a:lnRef idx="2">
            <a:srgbClr val="0042FF"/>
          </a:lnRef>
          <a:fillRef idx="1">
            <a:srgbClr val="0042FF"/>
          </a:fillRef>
          <a:effectRef idx="0">
            <a:srgbClr val="0042FF"/>
          </a:effectRef>
          <a:fontRef idx="minor">
            <a:srgbClr val="FFFFFF"/>
          </a:fontRef>
        </p:style>
        <p:txBody>
          <a:bodyPr rtlCol="0" anchor="ctr"/>
          <a:lstStyle/>
          <a:p>
            <a:pPr algn="ctr">
              <a:defRPr>
                <a:solidFill>
                  <a:srgbClr val="FFFFFF"/>
                </a:solidFill>
                <a:latin typeface="微软雅黑"/>
                <a:ea typeface="微软雅黑"/>
                <a:cs typeface="微软雅黑"/>
              </a:defRPr>
            </a:pPr>
            <a:r>
              <a:rPr lang="en-US" altLang="zh-CN" sz="1100" b="1" dirty="0">
                <a:solidFill>
                  <a:srgbClr val="FFFFFF"/>
                </a:solidFill>
                <a:latin typeface="微软雅黑"/>
                <a:ea typeface="微软雅黑"/>
                <a:cs typeface="微软雅黑"/>
                <a:sym typeface="微软雅黑"/>
              </a:rPr>
              <a:t>2026-</a:t>
            </a:r>
            <a:r>
              <a:rPr lang="zh-CN" altLang="en-US" sz="1100" b="1" dirty="0">
                <a:solidFill>
                  <a:srgbClr val="FFFFFF"/>
                </a:solidFill>
                <a:latin typeface="微软雅黑"/>
                <a:ea typeface="微软雅黑"/>
                <a:cs typeface="微软雅黑"/>
                <a:sym typeface="微软雅黑"/>
              </a:rPr>
              <a:t>至今</a:t>
            </a:r>
            <a:endParaRPr lang="zh-CN" altLang="en-US" sz="1100" b="1" dirty="0">
              <a:solidFill>
                <a:srgbClr val="FFFFFF"/>
              </a:solidFill>
              <a:latin typeface="微软雅黑"/>
              <a:ea typeface="微软雅黑"/>
              <a:cs typeface="微软雅黑"/>
              <a:sym typeface="微软雅黑"/>
            </a:endParaRPr>
          </a:p>
        </p:txBody>
      </p:sp>
      <p:sp>
        <p:nvSpPr>
          <p:cNvPr id="16" name="©天蝎PPT78"/>
          <p:cNvSpPr txBox="1"/>
          <p:nvPr/>
        </p:nvSpPr>
        <p:spPr>
          <a:xfrm>
            <a:off x="9056685"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全面统筹</a:t>
            </a:r>
            <a:endParaRPr lang="zh-CN" altLang="en-US" sz="1100" dirty="0">
              <a:solidFill>
                <a:srgbClr val="383838"/>
              </a:solidFill>
              <a:latin typeface="微软雅黑"/>
              <a:ea typeface="微软雅黑"/>
              <a:cs typeface="微软雅黑"/>
              <a:sym typeface="微软雅黑"/>
            </a:endParaRPr>
          </a:p>
        </p:txBody>
      </p:sp>
      <p:sp>
        <p:nvSpPr>
          <p:cNvPr id="17" name="©天蝎PPT79"/>
          <p:cNvSpPr txBox="1"/>
          <p:nvPr/>
        </p:nvSpPr>
        <p:spPr>
          <a:xfrm>
            <a:off x="9852213"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战略决策</a:t>
            </a:r>
            <a:endParaRPr lang="zh-CN" altLang="en-US" sz="1100" dirty="0">
              <a:solidFill>
                <a:srgbClr val="383838"/>
              </a:solidFill>
              <a:latin typeface="微软雅黑"/>
              <a:ea typeface="微软雅黑"/>
              <a:cs typeface="微软雅黑"/>
              <a:sym typeface="微软雅黑"/>
            </a:endParaRPr>
          </a:p>
        </p:txBody>
      </p:sp>
      <p:sp>
        <p:nvSpPr>
          <p:cNvPr id="18" name="©天蝎PPT80"/>
          <p:cNvSpPr txBox="1"/>
          <p:nvPr/>
        </p:nvSpPr>
        <p:spPr>
          <a:xfrm>
            <a:off x="10675173"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组织效能</a:t>
            </a:r>
            <a:endParaRPr lang="zh-CN" altLang="en-US" sz="1100" dirty="0">
              <a:solidFill>
                <a:srgbClr val="383838"/>
              </a:solidFill>
              <a:latin typeface="微软雅黑"/>
              <a:ea typeface="微软雅黑"/>
              <a:cs typeface="微软雅黑"/>
              <a:sym typeface="微软雅黑"/>
            </a:endParaRPr>
          </a:p>
        </p:txBody>
      </p:sp>
      <p:sp>
        <p:nvSpPr>
          <p:cNvPr id="19" name="©天蝎PPT51"/>
          <p:cNvSpPr txBox="1"/>
          <p:nvPr/>
        </p:nvSpPr>
        <p:spPr>
          <a:xfrm>
            <a:off x="898031" y="2513254"/>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数据处理</a:t>
            </a:r>
            <a:endParaRPr lang="zh-CN" altLang="en-US" sz="1100" dirty="0">
              <a:solidFill>
                <a:srgbClr val="383838"/>
              </a:solidFill>
              <a:latin typeface="微软雅黑"/>
              <a:ea typeface="微软雅黑"/>
              <a:cs typeface="微软雅黑"/>
              <a:sym typeface="微软雅黑"/>
            </a:endParaRPr>
          </a:p>
        </p:txBody>
      </p:sp>
      <p:sp>
        <p:nvSpPr>
          <p:cNvPr id="22" name="©天蝎PPT39"/>
          <p:cNvSpPr/>
          <p:nvPr/>
        </p:nvSpPr>
        <p:spPr>
          <a:xfrm>
            <a:off x="4480579" y="4442570"/>
            <a:ext cx="748030" cy="236517"/>
          </a:xfrm>
          <a:prstGeom prst="roundRect">
            <a:avLst>
              <a:gd name="adj" fmla="val 6704"/>
            </a:avLst>
          </a:prstGeom>
          <a:solidFill>
            <a:srgbClr val="E6E6E6">
              <a:alpha val="20120"/>
            </a:srgbClr>
          </a:solidFill>
          <a:ln w="9525">
            <a:solidFill>
              <a:srgbClr val="0042FF">
                <a:alpha val="33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7" name="©天蝎PPT54"/>
          <p:cNvSpPr txBox="1"/>
          <p:nvPr/>
        </p:nvSpPr>
        <p:spPr>
          <a:xfrm>
            <a:off x="2863883" y="4434652"/>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数据分析</a:t>
            </a:r>
            <a:endParaRPr lang="zh-CN" altLang="en-US" sz="1100" dirty="0">
              <a:latin typeface="微软雅黑"/>
              <a:ea typeface="微软雅黑"/>
              <a:cs typeface="微软雅黑"/>
              <a:sym typeface="微软雅黑"/>
            </a:endParaRPr>
          </a:p>
        </p:txBody>
      </p:sp>
      <p:sp>
        <p:nvSpPr>
          <p:cNvPr id="28" name="©天蝎PPT55"/>
          <p:cNvSpPr txBox="1"/>
          <p:nvPr/>
        </p:nvSpPr>
        <p:spPr>
          <a:xfrm>
            <a:off x="3672266" y="4434652"/>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流程优化</a:t>
            </a:r>
            <a:endParaRPr lang="zh-CN" altLang="en-US" sz="1100" dirty="0">
              <a:latin typeface="微软雅黑"/>
              <a:ea typeface="微软雅黑"/>
              <a:cs typeface="微软雅黑"/>
              <a:sym typeface="微软雅黑"/>
            </a:endParaRPr>
          </a:p>
        </p:txBody>
      </p:sp>
      <p:sp>
        <p:nvSpPr>
          <p:cNvPr id="29" name="©天蝎PPT55"/>
          <p:cNvSpPr txBox="1"/>
          <p:nvPr/>
        </p:nvSpPr>
        <p:spPr>
          <a:xfrm>
            <a:off x="4492686" y="4438462"/>
            <a:ext cx="748220" cy="260350"/>
          </a:xfrm>
          <a:prstGeom prst="rect">
            <a:avLst/>
          </a:prstGeom>
          <a:noFill/>
        </p:spPr>
        <p:txBody>
          <a:bodyPr wrap="square">
            <a:spAutoFit/>
          </a:bodyPr>
          <a:lstStyle/>
          <a:p>
            <a:pPr algn="ctr">
              <a:defRPr>
                <a:latin typeface="微软雅黑"/>
                <a:ea typeface="微软雅黑"/>
                <a:cs typeface="微软雅黑"/>
              </a:defRPr>
            </a:pPr>
            <a:r>
              <a:rPr lang="zh-CN" altLang="en-US" sz="1100" dirty="0">
                <a:latin typeface="微软雅黑"/>
                <a:ea typeface="微软雅黑"/>
                <a:cs typeface="微软雅黑"/>
                <a:sym typeface="微软雅黑"/>
              </a:rPr>
              <a:t>项目协作</a:t>
            </a:r>
            <a:endParaRPr lang="zh-CN" altLang="en-US" sz="1100" dirty="0">
              <a:latin typeface="微软雅黑"/>
              <a:ea typeface="微软雅黑"/>
              <a:cs typeface="微软雅黑"/>
              <a:sym typeface="微软雅黑"/>
            </a:endParaRPr>
          </a:p>
        </p:txBody>
      </p:sp>
      <p:cxnSp>
        <p:nvCxnSpPr>
          <p:cNvPr id="4"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0" name="组合 19"/>
          <p:cNvGrpSpPr/>
          <p:nvPr/>
        </p:nvGrpSpPr>
        <p:grpSpPr>
          <a:xfrm>
            <a:off x="8738235" y="348615"/>
            <a:ext cx="3219450" cy="332740"/>
            <a:chOff x="13761" y="549"/>
            <a:chExt cx="5070" cy="524"/>
          </a:xfrm>
        </p:grpSpPr>
        <p:pic>
          <p:nvPicPr>
            <p:cNvPr id="21" name="图片 20"/>
            <p:cNvPicPr>
              <a:picLocks noChangeAspect="1"/>
            </p:cNvPicPr>
            <p:nvPr userDrawn="1"/>
          </p:nvPicPr>
          <p:blipFill>
            <a:blip r:embed="rId10"/>
            <a:srcRect l="17002" t="-1765" r="56499" b="-1176"/>
            <a:stretch>
              <a:fillRect/>
            </a:stretch>
          </p:blipFill>
          <p:spPr>
            <a:xfrm>
              <a:off x="13761" y="549"/>
              <a:ext cx="1582" cy="525"/>
            </a:xfrm>
            <a:prstGeom prst="rect">
              <a:avLst/>
            </a:prstGeom>
          </p:spPr>
        </p:pic>
        <p:sp>
          <p:nvSpPr>
            <p:cNvPr id="23" name="文本框 2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信息化转型的五个阶段</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6" name="isļïḑê"/>
          <p:cNvSpPr/>
          <p:nvPr/>
        </p:nvSpPr>
        <p:spPr>
          <a:xfrm>
            <a:off x="912495" y="1162685"/>
            <a:ext cx="10485755" cy="3689350"/>
          </a:xfrm>
          <a:custGeom>
            <a:avLst/>
            <a:gdLst>
              <a:gd name="connsiteX0" fmla="*/ 16666 w 16666"/>
              <a:gd name="connsiteY0" fmla="*/ 0 h 5761"/>
              <a:gd name="connsiteX1" fmla="*/ 16666 w 16666"/>
              <a:gd name="connsiteY1" fmla="*/ 5372 h 5761"/>
              <a:gd name="connsiteX2" fmla="*/ 6 w 16666"/>
              <a:gd name="connsiteY2" fmla="*/ 5719 h 5761"/>
              <a:gd name="connsiteX3" fmla="*/ 12 w 16666"/>
              <a:gd name="connsiteY3" fmla="*/ 5761 h 5761"/>
              <a:gd name="connsiteX4" fmla="*/ 12 w 16666"/>
              <a:gd name="connsiteY4" fmla="*/ 5761 h 5761"/>
              <a:gd name="connsiteX5" fmla="*/ 0 w 16666"/>
              <a:gd name="connsiteY5" fmla="*/ 5743 h 5761"/>
              <a:gd name="connsiteX6" fmla="*/ 2168 w 16666"/>
              <a:gd name="connsiteY6" fmla="*/ 4802 h 5761"/>
              <a:gd name="connsiteX7" fmla="*/ 5585 w 16666"/>
              <a:gd name="connsiteY7" fmla="*/ 4184 h 5761"/>
              <a:gd name="connsiteX8" fmla="*/ 7313 w 16666"/>
              <a:gd name="connsiteY8" fmla="*/ 3450 h 5761"/>
              <a:gd name="connsiteX9" fmla="*/ 9755 w 16666"/>
              <a:gd name="connsiteY9" fmla="*/ 2967 h 5761"/>
              <a:gd name="connsiteX10" fmla="*/ 10787 w 16666"/>
              <a:gd name="connsiteY10" fmla="*/ 2311 h 5761"/>
              <a:gd name="connsiteX11" fmla="*/ 12217 w 16666"/>
              <a:gd name="connsiteY11" fmla="*/ 1673 h 5761"/>
              <a:gd name="connsiteX12" fmla="*/ 14521 w 16666"/>
              <a:gd name="connsiteY12" fmla="*/ 1287 h 5761"/>
              <a:gd name="connsiteX13" fmla="*/ 15812 w 16666"/>
              <a:gd name="connsiteY13" fmla="*/ 360 h 5761"/>
              <a:gd name="connsiteX14" fmla="*/ 16429 w 16666"/>
              <a:gd name="connsiteY14" fmla="*/ 86 h 5761"/>
              <a:gd name="connsiteX15" fmla="*/ 16666 w 16666"/>
              <a:gd name="connsiteY15" fmla="*/ 0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495" h="5810">
                <a:moveTo>
                  <a:pt x="16495" y="0"/>
                </a:moveTo>
                <a:lnTo>
                  <a:pt x="16495" y="461"/>
                </a:lnTo>
                <a:lnTo>
                  <a:pt x="16275" y="541"/>
                </a:lnTo>
                <a:cubicBezTo>
                  <a:pt x="16201" y="577"/>
                  <a:pt x="16104" y="611"/>
                  <a:pt x="16060" y="627"/>
                </a:cubicBezTo>
                <a:lnTo>
                  <a:pt x="16058" y="628"/>
                </a:lnTo>
                <a:lnTo>
                  <a:pt x="16055" y="629"/>
                </a:lnTo>
                <a:lnTo>
                  <a:pt x="16053" y="630"/>
                </a:lnTo>
                <a:lnTo>
                  <a:pt x="16050" y="631"/>
                </a:lnTo>
                <a:lnTo>
                  <a:pt x="16048" y="632"/>
                </a:lnTo>
                <a:cubicBezTo>
                  <a:pt x="15862" y="682"/>
                  <a:pt x="15553" y="851"/>
                  <a:pt x="15178" y="1197"/>
                </a:cubicBezTo>
                <a:cubicBezTo>
                  <a:pt x="14876" y="1654"/>
                  <a:pt x="13897" y="1937"/>
                  <a:pt x="13093" y="1969"/>
                </a:cubicBezTo>
                <a:cubicBezTo>
                  <a:pt x="11962" y="2034"/>
                  <a:pt x="11276" y="2425"/>
                  <a:pt x="10891" y="2637"/>
                </a:cubicBezTo>
                <a:cubicBezTo>
                  <a:pt x="10731" y="2725"/>
                  <a:pt x="10709" y="2736"/>
                  <a:pt x="10637" y="2774"/>
                </a:cubicBezTo>
                <a:cubicBezTo>
                  <a:pt x="10486" y="2852"/>
                  <a:pt x="10349" y="2974"/>
                  <a:pt x="10285" y="3030"/>
                </a:cubicBezTo>
                <a:lnTo>
                  <a:pt x="10282" y="3033"/>
                </a:lnTo>
                <a:lnTo>
                  <a:pt x="10277" y="3037"/>
                </a:lnTo>
                <a:lnTo>
                  <a:pt x="10273" y="3040"/>
                </a:lnTo>
                <a:lnTo>
                  <a:pt x="10269" y="3044"/>
                </a:lnTo>
                <a:cubicBezTo>
                  <a:pt x="10141" y="3303"/>
                  <a:pt x="9264" y="3566"/>
                  <a:pt x="8428" y="3662"/>
                </a:cubicBezTo>
                <a:cubicBezTo>
                  <a:pt x="7476" y="3771"/>
                  <a:pt x="6674" y="4050"/>
                  <a:pt x="6422" y="4245"/>
                </a:cubicBezTo>
                <a:cubicBezTo>
                  <a:pt x="6179" y="4638"/>
                  <a:pt x="3008" y="5131"/>
                  <a:pt x="2033" y="5261"/>
                </a:cubicBezTo>
                <a:cubicBezTo>
                  <a:pt x="1746" y="5299"/>
                  <a:pt x="1264" y="5456"/>
                  <a:pt x="1038" y="5529"/>
                </a:cubicBezTo>
                <a:lnTo>
                  <a:pt x="1025" y="5533"/>
                </a:lnTo>
                <a:lnTo>
                  <a:pt x="1011" y="5538"/>
                </a:lnTo>
                <a:lnTo>
                  <a:pt x="997" y="5542"/>
                </a:lnTo>
                <a:lnTo>
                  <a:pt x="979" y="5549"/>
                </a:lnTo>
                <a:cubicBezTo>
                  <a:pt x="647" y="5666"/>
                  <a:pt x="158" y="5793"/>
                  <a:pt x="0" y="5810"/>
                </a:cubicBezTo>
                <a:lnTo>
                  <a:pt x="0" y="5796"/>
                </a:lnTo>
                <a:cubicBezTo>
                  <a:pt x="211" y="5727"/>
                  <a:pt x="612" y="5497"/>
                  <a:pt x="775" y="5401"/>
                </a:cubicBezTo>
                <a:lnTo>
                  <a:pt x="785" y="5395"/>
                </a:lnTo>
                <a:lnTo>
                  <a:pt x="796" y="5388"/>
                </a:lnTo>
                <a:lnTo>
                  <a:pt x="815" y="5377"/>
                </a:lnTo>
                <a:cubicBezTo>
                  <a:pt x="1202" y="5140"/>
                  <a:pt x="1706" y="4897"/>
                  <a:pt x="1952" y="4890"/>
                </a:cubicBezTo>
                <a:cubicBezTo>
                  <a:pt x="3767" y="4659"/>
                  <a:pt x="6159" y="4155"/>
                  <a:pt x="6329" y="3853"/>
                </a:cubicBezTo>
                <a:cubicBezTo>
                  <a:pt x="6673" y="3571"/>
                  <a:pt x="7707" y="3342"/>
                  <a:pt x="8478" y="3250"/>
                </a:cubicBezTo>
                <a:cubicBezTo>
                  <a:pt x="9536" y="3119"/>
                  <a:pt x="10072" y="2817"/>
                  <a:pt x="10204" y="2629"/>
                </a:cubicBezTo>
                <a:cubicBezTo>
                  <a:pt x="10299" y="2536"/>
                  <a:pt x="10484" y="2400"/>
                  <a:pt x="10597" y="2346"/>
                </a:cubicBezTo>
                <a:cubicBezTo>
                  <a:pt x="10654" y="2316"/>
                  <a:pt x="10753" y="2261"/>
                  <a:pt x="10784" y="2245"/>
                </a:cubicBezTo>
                <a:lnTo>
                  <a:pt x="10785" y="2244"/>
                </a:lnTo>
                <a:cubicBezTo>
                  <a:pt x="10789" y="2242"/>
                  <a:pt x="10794" y="2239"/>
                  <a:pt x="10794" y="2239"/>
                </a:cubicBezTo>
                <a:cubicBezTo>
                  <a:pt x="11264" y="1923"/>
                  <a:pt x="12214" y="1566"/>
                  <a:pt x="13184" y="1534"/>
                </a:cubicBezTo>
                <a:cubicBezTo>
                  <a:pt x="14209" y="1486"/>
                  <a:pt x="14916" y="1068"/>
                  <a:pt x="15167" y="740"/>
                </a:cubicBezTo>
                <a:cubicBezTo>
                  <a:pt x="15630" y="316"/>
                  <a:pt x="15864" y="239"/>
                  <a:pt x="16016" y="185"/>
                </a:cubicBezTo>
                <a:lnTo>
                  <a:pt x="16024" y="183"/>
                </a:lnTo>
                <a:cubicBezTo>
                  <a:pt x="16092" y="160"/>
                  <a:pt x="16203" y="116"/>
                  <a:pt x="16256" y="88"/>
                </a:cubicBezTo>
                <a:lnTo>
                  <a:pt x="16495" y="0"/>
                </a:lnTo>
                <a:close/>
              </a:path>
            </a:pathLst>
          </a:custGeom>
          <a:solidFill>
            <a:srgbClr val="E6E6E6"/>
          </a:solidFill>
          <a:ln w="44450">
            <a:noFill/>
          </a:ln>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algn="ctr">
              <a:defRPr>
                <a:latin typeface="微软雅黑"/>
                <a:ea typeface="微软雅黑"/>
                <a:cs typeface="微软雅黑"/>
              </a:defRPr>
            </a:pPr>
            <a:endParaRPr lang="zh-CN" altLang="en-US">
              <a:latin typeface="微软雅黑"/>
              <a:ea typeface="微软雅黑"/>
              <a:cs typeface="微软雅黑"/>
            </a:endParaRPr>
          </a:p>
        </p:txBody>
      </p:sp>
      <p:cxnSp>
        <p:nvCxnSpPr>
          <p:cNvPr id="6" name="直接箭头连接符 5"/>
          <p:cNvCxnSpPr/>
          <p:nvPr/>
        </p:nvCxnSpPr>
        <p:spPr>
          <a:xfrm>
            <a:off x="912495" y="4853305"/>
            <a:ext cx="10824845" cy="0"/>
          </a:xfrm>
          <a:prstGeom prst="straightConnector1">
            <a:avLst/>
          </a:prstGeom>
          <a:ln>
            <a:tailEnd type="arrow"/>
          </a:ln>
        </p:spPr>
        <p:style>
          <a:lnRef idx="2">
            <a:srgbClr val="0042FF"/>
          </a:lnRef>
          <a:fillRef idx="0">
            <a:srgbClr val="FFFFFF"/>
          </a:fillRef>
          <a:effectRef idx="0">
            <a:srgbClr val="FFFFFF"/>
          </a:effectRef>
          <a:fontRef idx="minor">
            <a:srgbClr val="383838"/>
          </a:fontRef>
        </p:style>
      </p:cxnSp>
      <p:cxnSp>
        <p:nvCxnSpPr>
          <p:cNvPr id="7" name="直接箭头连接符 6"/>
          <p:cNvCxnSpPr>
            <a:stCxn id="9" idx="4"/>
          </p:cNvCxnSpPr>
          <p:nvPr/>
        </p:nvCxnSpPr>
        <p:spPr>
          <a:xfrm flipH="1" flipV="1">
            <a:off x="912495" y="1597025"/>
            <a:ext cx="11430" cy="3251835"/>
          </a:xfrm>
          <a:prstGeom prst="straightConnector1">
            <a:avLst/>
          </a:prstGeom>
          <a:ln>
            <a:solidFill>
              <a:srgbClr val="0042FF"/>
            </a:solidFill>
            <a:tailEnd type="arrow"/>
          </a:ln>
        </p:spPr>
        <p:style>
          <a:lnRef idx="2">
            <a:srgbClr val="0042FF"/>
          </a:lnRef>
          <a:fillRef idx="0">
            <a:srgbClr val="FFFFFF"/>
          </a:fillRef>
          <a:effectRef idx="0">
            <a:srgbClr val="FFFFFF"/>
          </a:effectRef>
          <a:fontRef idx="minor">
            <a:srgbClr val="383838"/>
          </a:fontRef>
        </p:style>
      </p:cxnSp>
      <p:sp>
        <p:nvSpPr>
          <p:cNvPr id="9" name="isļïḑê"/>
          <p:cNvSpPr/>
          <p:nvPr/>
        </p:nvSpPr>
        <p:spPr>
          <a:xfrm>
            <a:off x="912495" y="1442085"/>
            <a:ext cx="10485755" cy="3411220"/>
          </a:xfrm>
          <a:custGeom>
            <a:avLst/>
            <a:gdLst>
              <a:gd name="connsiteX0" fmla="*/ 16642 w 16642"/>
              <a:gd name="connsiteY0" fmla="*/ 0 h 5372"/>
              <a:gd name="connsiteX1" fmla="*/ 16642 w 16642"/>
              <a:gd name="connsiteY1" fmla="*/ 5372 h 5372"/>
              <a:gd name="connsiteX2" fmla="*/ 16 w 16642"/>
              <a:gd name="connsiteY2" fmla="*/ 5372 h 5372"/>
              <a:gd name="connsiteX3" fmla="*/ 0 w 16642"/>
              <a:gd name="connsiteY3" fmla="*/ 5353 h 5372"/>
              <a:gd name="connsiteX4" fmla="*/ 18 w 16642"/>
              <a:gd name="connsiteY4" fmla="*/ 5365 h 5372"/>
              <a:gd name="connsiteX5" fmla="*/ 2193 w 16642"/>
              <a:gd name="connsiteY5" fmla="*/ 4802 h 5372"/>
              <a:gd name="connsiteX6" fmla="*/ 5598 w 16642"/>
              <a:gd name="connsiteY6" fmla="*/ 4184 h 5372"/>
              <a:gd name="connsiteX7" fmla="*/ 7320 w 16642"/>
              <a:gd name="connsiteY7" fmla="*/ 3450 h 5372"/>
              <a:gd name="connsiteX8" fmla="*/ 9754 w 16642"/>
              <a:gd name="connsiteY8" fmla="*/ 2967 h 5372"/>
              <a:gd name="connsiteX9" fmla="*/ 10783 w 16642"/>
              <a:gd name="connsiteY9" fmla="*/ 2311 h 5372"/>
              <a:gd name="connsiteX10" fmla="*/ 12208 w 16642"/>
              <a:gd name="connsiteY10" fmla="*/ 1673 h 5372"/>
              <a:gd name="connsiteX11" fmla="*/ 14504 w 16642"/>
              <a:gd name="connsiteY11" fmla="*/ 1287 h 5372"/>
              <a:gd name="connsiteX12" fmla="*/ 15791 w 16642"/>
              <a:gd name="connsiteY12" fmla="*/ 360 h 5372"/>
              <a:gd name="connsiteX13" fmla="*/ 16406 w 16642"/>
              <a:gd name="connsiteY13" fmla="*/ 86 h 5372"/>
              <a:gd name="connsiteX14" fmla="*/ 16642 w 16642"/>
              <a:gd name="connsiteY14" fmla="*/ 0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13" h="5372">
                <a:moveTo>
                  <a:pt x="16513" y="0"/>
                </a:moveTo>
                <a:lnTo>
                  <a:pt x="16513" y="5372"/>
                </a:lnTo>
                <a:lnTo>
                  <a:pt x="0" y="5372"/>
                </a:lnTo>
                <a:lnTo>
                  <a:pt x="0" y="5354"/>
                </a:lnTo>
                <a:cubicBezTo>
                  <a:pt x="232" y="5333"/>
                  <a:pt x="742" y="5174"/>
                  <a:pt x="1036" y="5075"/>
                </a:cubicBezTo>
                <a:cubicBezTo>
                  <a:pt x="1408" y="4953"/>
                  <a:pt x="1821" y="4828"/>
                  <a:pt x="2113" y="4795"/>
                </a:cubicBezTo>
                <a:cubicBezTo>
                  <a:pt x="3871" y="4554"/>
                  <a:pt x="6101" y="4146"/>
                  <a:pt x="6447" y="3778"/>
                </a:cubicBezTo>
                <a:cubicBezTo>
                  <a:pt x="6801" y="3515"/>
                  <a:pt x="7627" y="3313"/>
                  <a:pt x="8473" y="3200"/>
                </a:cubicBezTo>
                <a:cubicBezTo>
                  <a:pt x="9566" y="3066"/>
                  <a:pt x="10093" y="2814"/>
                  <a:pt x="10284" y="2578"/>
                </a:cubicBezTo>
                <a:cubicBezTo>
                  <a:pt x="10383" y="2486"/>
                  <a:pt x="10534" y="2369"/>
                  <a:pt x="10673" y="2301"/>
                </a:cubicBezTo>
                <a:cubicBezTo>
                  <a:pt x="10736" y="2267"/>
                  <a:pt x="10836" y="2213"/>
                  <a:pt x="10868" y="2195"/>
                </a:cubicBezTo>
                <a:cubicBezTo>
                  <a:pt x="11370" y="1901"/>
                  <a:pt x="12042" y="1583"/>
                  <a:pt x="13136" y="1510"/>
                </a:cubicBezTo>
                <a:cubicBezTo>
                  <a:pt x="14193" y="1458"/>
                  <a:pt x="14858" y="1130"/>
                  <a:pt x="15198" y="725"/>
                </a:cubicBezTo>
                <a:cubicBezTo>
                  <a:pt x="15832" y="162"/>
                  <a:pt x="15957" y="244"/>
                  <a:pt x="16277" y="86"/>
                </a:cubicBezTo>
                <a:lnTo>
                  <a:pt x="16513" y="0"/>
                </a:lnTo>
                <a:close/>
              </a:path>
            </a:pathLst>
          </a:custGeom>
          <a:gradFill>
            <a:gsLst>
              <a:gs pos="0">
                <a:srgbClr val="3368FF"/>
              </a:gs>
              <a:gs pos="100000">
                <a:srgbClr val="0042FF"/>
              </a:gs>
            </a:gsLst>
            <a:lin ang="0" scaled="0"/>
          </a:gradFill>
          <a:ln w="44450">
            <a:noFill/>
          </a:ln>
        </p:spPr>
        <p:style>
          <a:lnRef idx="2">
            <a:srgbClr val="0042FF"/>
          </a:lnRef>
          <a:fillRef idx="1">
            <a:srgbClr val="0042FF"/>
          </a:fillRef>
          <a:effectRef idx="0">
            <a:srgbClr val="0042FF"/>
          </a:effectRef>
          <a:fontRef idx="minor">
            <a:srgbClr val="FFFFFF"/>
          </a:fontRef>
        </p:style>
        <p:txBody>
          <a:bodyPr wrap="square" lIns="0" tIns="0" rIns="0" bIns="0" rtlCol="0" anchor="ctr">
            <a:noAutofit/>
          </a:bodyPr>
          <a:lstStyle>
            <a:defPPr>
              <a:defRPr lang="zh-CN">
                <a:solidFill>
                  <a:srgbClr val="FFFFFF"/>
                </a:solidFill>
                <a:latin typeface="微软雅黑"/>
                <a:ea typeface="微软雅黑"/>
                <a:cs typeface="微软雅黑"/>
              </a:defRPr>
            </a:defPPr>
            <a:lvl1pPr marL="0" algn="l" defTabSz="914400" rtl="0" eaLnBrk="1" latinLnBrk="0" hangingPunct="1">
              <a:defRPr sz="1800" kern="1200">
                <a:solidFill>
                  <a:srgbClr val="FFFFFF"/>
                </a:solidFill>
                <a:latin typeface="微软雅黑"/>
                <a:ea typeface="微软雅黑"/>
                <a:cs typeface="微软雅黑"/>
              </a:defRPr>
            </a:lvl1pPr>
            <a:lvl2pPr marL="457200" algn="l" defTabSz="914400" rtl="0" eaLnBrk="1" latinLnBrk="0" hangingPunct="1">
              <a:defRPr sz="1800" kern="1200">
                <a:solidFill>
                  <a:srgbClr val="FFFFFF"/>
                </a:solidFill>
                <a:latin typeface="微软雅黑"/>
                <a:ea typeface="微软雅黑"/>
                <a:cs typeface="微软雅黑"/>
              </a:defRPr>
            </a:lvl2pPr>
            <a:lvl3pPr marL="914400" algn="l" defTabSz="914400" rtl="0" eaLnBrk="1" latinLnBrk="0" hangingPunct="1">
              <a:defRPr sz="1800" kern="1200">
                <a:solidFill>
                  <a:srgbClr val="FFFFFF"/>
                </a:solidFill>
                <a:latin typeface="微软雅黑"/>
                <a:ea typeface="微软雅黑"/>
                <a:cs typeface="微软雅黑"/>
              </a:defRPr>
            </a:lvl3pPr>
            <a:lvl4pPr marL="1371600" algn="l" defTabSz="914400" rtl="0" eaLnBrk="1" latinLnBrk="0" hangingPunct="1">
              <a:defRPr sz="1800" kern="1200">
                <a:solidFill>
                  <a:srgbClr val="FFFFFF"/>
                </a:solidFill>
                <a:latin typeface="微软雅黑"/>
                <a:ea typeface="微软雅黑"/>
                <a:cs typeface="微软雅黑"/>
              </a:defRPr>
            </a:lvl4pPr>
            <a:lvl5pPr marL="1828800" algn="l" defTabSz="914400" rtl="0" eaLnBrk="1" latinLnBrk="0" hangingPunct="1">
              <a:defRPr sz="1800" kern="1200">
                <a:solidFill>
                  <a:srgbClr val="FFFFFF"/>
                </a:solidFill>
                <a:latin typeface="微软雅黑"/>
                <a:ea typeface="微软雅黑"/>
                <a:cs typeface="微软雅黑"/>
              </a:defRPr>
            </a:lvl5pPr>
            <a:lvl6pPr marL="2286000" algn="l" defTabSz="914400" rtl="0" eaLnBrk="1" latinLnBrk="0" hangingPunct="1">
              <a:defRPr sz="1800" kern="1200">
                <a:solidFill>
                  <a:srgbClr val="FFFFFF"/>
                </a:solidFill>
                <a:latin typeface="微软雅黑"/>
                <a:ea typeface="微软雅黑"/>
                <a:cs typeface="微软雅黑"/>
              </a:defRPr>
            </a:lvl6pPr>
            <a:lvl7pPr marL="2743200" algn="l" defTabSz="914400" rtl="0" eaLnBrk="1" latinLnBrk="0" hangingPunct="1">
              <a:defRPr sz="1800" kern="1200">
                <a:solidFill>
                  <a:srgbClr val="FFFFFF"/>
                </a:solidFill>
                <a:latin typeface="微软雅黑"/>
                <a:ea typeface="微软雅黑"/>
                <a:cs typeface="微软雅黑"/>
              </a:defRPr>
            </a:lvl7pPr>
            <a:lvl8pPr marL="3200400" algn="l" defTabSz="914400" rtl="0" eaLnBrk="1" latinLnBrk="0" hangingPunct="1">
              <a:defRPr sz="1800" kern="1200">
                <a:solidFill>
                  <a:srgbClr val="FFFFFF"/>
                </a:solidFill>
                <a:latin typeface="微软雅黑"/>
                <a:ea typeface="微软雅黑"/>
                <a:cs typeface="微软雅黑"/>
              </a:defRPr>
            </a:lvl8pPr>
            <a:lvl9pPr marL="3657600" algn="l" defTabSz="914400" rtl="0" eaLnBrk="1" latinLnBrk="0" hangingPunct="1">
              <a:defRPr sz="1800" kern="1200">
                <a:solidFill>
                  <a:srgbClr val="FFFFFF"/>
                </a:solidFill>
                <a:latin typeface="微软雅黑"/>
                <a:ea typeface="微软雅黑"/>
                <a:cs typeface="微软雅黑"/>
              </a:defRPr>
            </a:lvl9pPr>
          </a:lstStyle>
          <a:p>
            <a:pPr algn="ctr">
              <a:defRPr>
                <a:solidFill>
                  <a:srgbClr val="383838"/>
                </a:solidFill>
                <a:latin typeface="微软雅黑"/>
                <a:ea typeface="微软雅黑"/>
                <a:cs typeface="微软雅黑"/>
              </a:defRPr>
            </a:pPr>
            <a:endParaRPr lang="zh-CN" altLang="en-US">
              <a:solidFill>
                <a:srgbClr val="383838"/>
              </a:solidFill>
              <a:latin typeface="微软雅黑"/>
              <a:ea typeface="微软雅黑"/>
              <a:cs typeface="微软雅黑"/>
            </a:endParaRPr>
          </a:p>
        </p:txBody>
      </p:sp>
      <p:cxnSp>
        <p:nvCxnSpPr>
          <p:cNvPr id="14" name="直接连接符 13"/>
          <p:cNvCxnSpPr/>
          <p:nvPr/>
        </p:nvCxnSpPr>
        <p:spPr>
          <a:xfrm>
            <a:off x="3009900" y="3938270"/>
            <a:ext cx="0" cy="2306955"/>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15" name="直接连接符 14"/>
          <p:cNvCxnSpPr/>
          <p:nvPr/>
        </p:nvCxnSpPr>
        <p:spPr>
          <a:xfrm>
            <a:off x="5107305" y="3290570"/>
            <a:ext cx="0" cy="2967355"/>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17" name="直接连接符 16"/>
          <p:cNvCxnSpPr/>
          <p:nvPr/>
        </p:nvCxnSpPr>
        <p:spPr>
          <a:xfrm>
            <a:off x="7204710" y="2747645"/>
            <a:ext cx="0" cy="3516630"/>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cxnSp>
        <p:nvCxnSpPr>
          <p:cNvPr id="18" name="直接连接符 17"/>
          <p:cNvCxnSpPr/>
          <p:nvPr/>
        </p:nvCxnSpPr>
        <p:spPr>
          <a:xfrm>
            <a:off x="9302115" y="1991995"/>
            <a:ext cx="0" cy="4270375"/>
          </a:xfrm>
          <a:prstGeom prst="line">
            <a:avLst/>
          </a:prstGeom>
          <a:ln>
            <a:solidFill>
              <a:srgbClr val="DCDCDC"/>
            </a:solidFill>
            <a:prstDash val="sysDash"/>
          </a:ln>
        </p:spPr>
        <p:style>
          <a:lnRef idx="2">
            <a:srgbClr val="0042FF"/>
          </a:lnRef>
          <a:fillRef idx="0">
            <a:srgbClr val="FFFFFF"/>
          </a:fillRef>
          <a:effectRef idx="0">
            <a:srgbClr val="FFFFFF"/>
          </a:effectRef>
          <a:fontRef idx="minor">
            <a:srgbClr val="383838"/>
          </a:fontRef>
        </p:style>
      </p:cxnSp>
      <p:sp>
        <p:nvSpPr>
          <p:cNvPr id="21" name="文本框 20"/>
          <p:cNvSpPr txBox="1"/>
          <p:nvPr/>
        </p:nvSpPr>
        <p:spPr>
          <a:xfrm>
            <a:off x="1208088" y="4989195"/>
            <a:ext cx="1599565" cy="337185"/>
          </a:xfrm>
          <a:prstGeom prst="rect">
            <a:avLst/>
          </a:prstGeom>
          <a:noFill/>
        </p:spPr>
        <p:txBody>
          <a:bodyPr wrap="square" rtlCol="0">
            <a:spAutoFit/>
          </a:bodyPr>
          <a:p>
            <a:pPr algn="ctr">
              <a:defRPr>
                <a:latin typeface="微软雅黑"/>
                <a:ea typeface="微软雅黑"/>
                <a:cs typeface="微软雅黑"/>
              </a:defRPr>
            </a:pPr>
            <a:r>
              <a:rPr lang="en-US" altLang="zh-CN" sz="1600">
                <a:solidFill>
                  <a:srgbClr val="383838"/>
                </a:solidFill>
                <a:latin typeface="微软雅黑"/>
                <a:ea typeface="微软雅黑"/>
                <a:cs typeface="微软雅黑"/>
              </a:rPr>
              <a:t>2010-2014</a:t>
            </a:r>
            <a:endParaRPr lang="en-US" altLang="zh-CN" sz="1600">
              <a:solidFill>
                <a:srgbClr val="383838"/>
              </a:solidFill>
              <a:latin typeface="微软雅黑"/>
              <a:ea typeface="微软雅黑"/>
              <a:cs typeface="微软雅黑"/>
            </a:endParaRPr>
          </a:p>
        </p:txBody>
      </p:sp>
      <p:sp>
        <p:nvSpPr>
          <p:cNvPr id="22" name="文本框 21"/>
          <p:cNvSpPr txBox="1"/>
          <p:nvPr/>
        </p:nvSpPr>
        <p:spPr>
          <a:xfrm>
            <a:off x="3280728" y="4989195"/>
            <a:ext cx="1599565" cy="337185"/>
          </a:xfrm>
          <a:prstGeom prst="rect">
            <a:avLst/>
          </a:prstGeom>
          <a:noFill/>
        </p:spPr>
        <p:txBody>
          <a:bodyPr wrap="square" rtlCol="0">
            <a:spAutoFit/>
          </a:bodyPr>
          <a:p>
            <a:pPr algn="ctr">
              <a:defRPr>
                <a:latin typeface="微软雅黑"/>
                <a:ea typeface="微软雅黑"/>
                <a:cs typeface="微软雅黑"/>
              </a:defRPr>
            </a:pPr>
            <a:r>
              <a:rPr lang="en-US" altLang="zh-CN" sz="1600">
                <a:solidFill>
                  <a:srgbClr val="383838"/>
                </a:solidFill>
                <a:latin typeface="微软雅黑"/>
                <a:ea typeface="微软雅黑"/>
                <a:cs typeface="微软雅黑"/>
              </a:rPr>
              <a:t>2014-2018</a:t>
            </a:r>
            <a:endParaRPr lang="en-US" altLang="zh-CN" sz="1600">
              <a:solidFill>
                <a:srgbClr val="383838"/>
              </a:solidFill>
              <a:latin typeface="微软雅黑"/>
              <a:ea typeface="微软雅黑"/>
              <a:cs typeface="微软雅黑"/>
            </a:endParaRPr>
          </a:p>
        </p:txBody>
      </p:sp>
      <p:sp>
        <p:nvSpPr>
          <p:cNvPr id="23" name="文本框 22"/>
          <p:cNvSpPr txBox="1"/>
          <p:nvPr/>
        </p:nvSpPr>
        <p:spPr>
          <a:xfrm>
            <a:off x="5375910" y="4938395"/>
            <a:ext cx="1599565" cy="337185"/>
          </a:xfrm>
          <a:prstGeom prst="rect">
            <a:avLst/>
          </a:prstGeom>
          <a:noFill/>
        </p:spPr>
        <p:txBody>
          <a:bodyPr wrap="square" rtlCol="0">
            <a:spAutoFit/>
          </a:bodyPr>
          <a:p>
            <a:pPr algn="ctr">
              <a:defRPr>
                <a:latin typeface="微软雅黑"/>
                <a:ea typeface="微软雅黑"/>
                <a:cs typeface="微软雅黑"/>
              </a:defRPr>
            </a:pPr>
            <a:r>
              <a:rPr lang="en-US" altLang="zh-CN" sz="1600">
                <a:solidFill>
                  <a:srgbClr val="383838"/>
                </a:solidFill>
                <a:latin typeface="微软雅黑"/>
                <a:ea typeface="微软雅黑"/>
                <a:cs typeface="微软雅黑"/>
              </a:rPr>
              <a:t>2018-2021</a:t>
            </a:r>
            <a:endParaRPr lang="en-US" altLang="zh-CN" sz="1600">
              <a:solidFill>
                <a:srgbClr val="383838"/>
              </a:solidFill>
              <a:latin typeface="微软雅黑"/>
              <a:ea typeface="微软雅黑"/>
              <a:cs typeface="微软雅黑"/>
            </a:endParaRPr>
          </a:p>
        </p:txBody>
      </p:sp>
      <p:sp>
        <p:nvSpPr>
          <p:cNvPr id="24" name="文本框 23"/>
          <p:cNvSpPr txBox="1"/>
          <p:nvPr/>
        </p:nvSpPr>
        <p:spPr>
          <a:xfrm>
            <a:off x="7467283" y="4938395"/>
            <a:ext cx="1599565" cy="337185"/>
          </a:xfrm>
          <a:prstGeom prst="rect">
            <a:avLst/>
          </a:prstGeom>
          <a:noFill/>
        </p:spPr>
        <p:txBody>
          <a:bodyPr wrap="square" rtlCol="0">
            <a:spAutoFit/>
          </a:bodyPr>
          <a:p>
            <a:pPr algn="ctr">
              <a:defRPr>
                <a:latin typeface="微软雅黑"/>
                <a:ea typeface="微软雅黑"/>
                <a:cs typeface="微软雅黑"/>
              </a:defRPr>
            </a:pPr>
            <a:r>
              <a:rPr lang="en-US" altLang="zh-CN" sz="1600">
                <a:solidFill>
                  <a:srgbClr val="383838"/>
                </a:solidFill>
                <a:latin typeface="微软雅黑"/>
                <a:ea typeface="微软雅黑"/>
                <a:cs typeface="微软雅黑"/>
              </a:rPr>
              <a:t>2021-2023</a:t>
            </a:r>
            <a:endParaRPr lang="en-US" altLang="zh-CN" sz="1600">
              <a:solidFill>
                <a:srgbClr val="383838"/>
              </a:solidFill>
              <a:latin typeface="微软雅黑"/>
              <a:ea typeface="微软雅黑"/>
              <a:cs typeface="微软雅黑"/>
            </a:endParaRPr>
          </a:p>
        </p:txBody>
      </p:sp>
      <p:sp>
        <p:nvSpPr>
          <p:cNvPr id="25" name="文本框 24"/>
          <p:cNvSpPr txBox="1"/>
          <p:nvPr/>
        </p:nvSpPr>
        <p:spPr>
          <a:xfrm>
            <a:off x="9552305" y="4938395"/>
            <a:ext cx="1599565" cy="337185"/>
          </a:xfrm>
          <a:prstGeom prst="rect">
            <a:avLst/>
          </a:prstGeom>
          <a:noFill/>
        </p:spPr>
        <p:txBody>
          <a:bodyPr wrap="square" rtlCol="0">
            <a:spAutoFit/>
          </a:bodyPr>
          <a:p>
            <a:pPr algn="ctr">
              <a:defRPr>
                <a:latin typeface="微软雅黑"/>
                <a:ea typeface="微软雅黑"/>
                <a:cs typeface="微软雅黑"/>
              </a:defRPr>
            </a:pPr>
            <a:r>
              <a:rPr lang="en-US" altLang="zh-CN" sz="1600">
                <a:solidFill>
                  <a:srgbClr val="383838"/>
                </a:solidFill>
                <a:latin typeface="微软雅黑"/>
                <a:ea typeface="微软雅黑"/>
                <a:cs typeface="微软雅黑"/>
              </a:rPr>
              <a:t>2023-</a:t>
            </a:r>
            <a:r>
              <a:rPr lang="zh-CN" altLang="en-US" sz="1600">
                <a:solidFill>
                  <a:srgbClr val="383838"/>
                </a:solidFill>
                <a:latin typeface="微软雅黑"/>
                <a:ea typeface="微软雅黑"/>
                <a:cs typeface="微软雅黑"/>
              </a:rPr>
              <a:t>至今</a:t>
            </a:r>
            <a:endParaRPr lang="zh-CN" altLang="en-US" sz="1600">
              <a:solidFill>
                <a:srgbClr val="383838"/>
              </a:solidFill>
              <a:latin typeface="微软雅黑"/>
              <a:ea typeface="微软雅黑"/>
              <a:cs typeface="微软雅黑"/>
            </a:endParaRPr>
          </a:p>
        </p:txBody>
      </p:sp>
      <p:grpSp>
        <p:nvGrpSpPr>
          <p:cNvPr id="28" name="组合 27"/>
          <p:cNvGrpSpPr/>
          <p:nvPr/>
        </p:nvGrpSpPr>
        <p:grpSpPr>
          <a:xfrm>
            <a:off x="1146810" y="3763645"/>
            <a:ext cx="1634490" cy="812800"/>
            <a:chOff x="1316" y="5927"/>
            <a:chExt cx="2574" cy="1280"/>
          </a:xfrm>
        </p:grpSpPr>
        <p:cxnSp>
          <p:nvCxnSpPr>
            <p:cNvPr id="26" name="直接连接符 25"/>
            <p:cNvCxnSpPr/>
            <p:nvPr/>
          </p:nvCxnSpPr>
          <p:spPr>
            <a:xfrm>
              <a:off x="1316" y="5927"/>
              <a:ext cx="1700" cy="0"/>
            </a:xfrm>
            <a:prstGeom prst="line">
              <a:avLst/>
            </a:prstGeom>
            <a:ln w="19050">
              <a:solidFill>
                <a:srgbClr val="0042FF"/>
              </a:solidFill>
            </a:ln>
          </p:spPr>
          <p:style>
            <a:lnRef idx="2">
              <a:srgbClr val="0042FF"/>
            </a:lnRef>
            <a:fillRef idx="0">
              <a:srgbClr val="FFFFFF"/>
            </a:fillRef>
            <a:effectRef idx="0">
              <a:srgbClr val="FFFFFF"/>
            </a:effectRef>
            <a:fontRef idx="minor">
              <a:srgbClr val="383838"/>
            </a:fontRef>
          </p:style>
        </p:cxnSp>
        <p:cxnSp>
          <p:nvCxnSpPr>
            <p:cNvPr id="27" name="直接连接符 26"/>
            <p:cNvCxnSpPr/>
            <p:nvPr/>
          </p:nvCxnSpPr>
          <p:spPr>
            <a:xfrm>
              <a:off x="3000" y="5927"/>
              <a:ext cx="890" cy="1280"/>
            </a:xfrm>
            <a:prstGeom prst="line">
              <a:avLst/>
            </a:prstGeom>
            <a:ln w="19050">
              <a:solidFill>
                <a:srgbClr val="0042FF"/>
              </a:solidFill>
              <a:tailEnd type="oval"/>
            </a:ln>
          </p:spPr>
          <p:style>
            <a:lnRef idx="2">
              <a:srgbClr val="0042FF"/>
            </a:lnRef>
            <a:fillRef idx="0">
              <a:srgbClr val="FFFFFF"/>
            </a:fillRef>
            <a:effectRef idx="0">
              <a:srgbClr val="FFFFFF"/>
            </a:effectRef>
            <a:fontRef idx="minor">
              <a:srgbClr val="383838"/>
            </a:fontRef>
          </p:style>
        </p:cxnSp>
      </p:grpSp>
      <p:sp>
        <p:nvSpPr>
          <p:cNvPr id="29" name="文本框 28"/>
          <p:cNvSpPr txBox="1"/>
          <p:nvPr/>
        </p:nvSpPr>
        <p:spPr>
          <a:xfrm>
            <a:off x="1089025" y="3429000"/>
            <a:ext cx="1487170" cy="306705"/>
          </a:xfrm>
          <a:prstGeom prst="rect">
            <a:avLst/>
          </a:prstGeom>
          <a:noFill/>
        </p:spPr>
        <p:txBody>
          <a:bodyPr wrap="square" rtlCol="0">
            <a:spAutoFit/>
          </a:bodyPr>
          <a:p>
            <a:pPr>
              <a:defRPr>
                <a:solidFill>
                  <a:srgbClr val="383838"/>
                </a:solidFill>
                <a:latin typeface="微软雅黑"/>
                <a:ea typeface="微软雅黑"/>
                <a:cs typeface="微软雅黑"/>
              </a:defRPr>
            </a:pP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技术筑基战略</a:t>
            </a:r>
            <a:endParaRPr lang="zh-CN" altLang="en-US" sz="1400">
              <a:solidFill>
                <a:srgbClr val="383838"/>
              </a:solidFill>
              <a:latin typeface="微软雅黑"/>
              <a:ea typeface="微软雅黑"/>
              <a:cs typeface="微软雅黑"/>
            </a:endParaRPr>
          </a:p>
        </p:txBody>
      </p:sp>
      <p:sp>
        <p:nvSpPr>
          <p:cNvPr id="30" name="文本框 29"/>
          <p:cNvSpPr txBox="1"/>
          <p:nvPr/>
        </p:nvSpPr>
        <p:spPr>
          <a:xfrm>
            <a:off x="942975" y="3821430"/>
            <a:ext cx="1487170" cy="245110"/>
          </a:xfrm>
          <a:prstGeom prst="rect">
            <a:avLst/>
          </a:prstGeom>
          <a:noFill/>
        </p:spPr>
        <p:txBody>
          <a:bodyPr wrap="square" rtlCol="0" lIns="0" rIns="0" tIns="0" bIns="0">
            <a:spAutoFit/>
          </a:bodyPr>
          <a:p>
            <a:pPr>
              <a:defRPr>
                <a:solidFill>
                  <a:srgbClr val="383838"/>
                </a:solidFill>
                <a:latin typeface="微软雅黑"/>
                <a:ea typeface="微软雅黑"/>
                <a:cs typeface="微软雅黑"/>
              </a:defRPr>
            </a:pPr>
            <a:r>
              <a:rPr 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从单点系统到统一</a:t>
            </a:r>
            <a:r>
              <a:rPr lang="zh-CN" sz="1000">
                <a:solidFill>
                  <a:srgbClr val="383838"/>
                </a:solidFill>
                <a:latin typeface="微软雅黑"/>
                <a:ea typeface="微软雅黑"/>
                <a:cs typeface="微软雅黑"/>
              </a:rPr>
              <a:t>）</a:t>
            </a:r>
            <a:endParaRPr lang="zh-CN" sz="1000">
              <a:solidFill>
                <a:srgbClr val="383838"/>
              </a:solidFill>
              <a:latin typeface="微软雅黑"/>
              <a:ea typeface="微软雅黑"/>
              <a:cs typeface="微软雅黑"/>
            </a:endParaRPr>
          </a:p>
        </p:txBody>
      </p:sp>
      <p:grpSp>
        <p:nvGrpSpPr>
          <p:cNvPr id="31" name="组合 30"/>
          <p:cNvGrpSpPr/>
          <p:nvPr/>
        </p:nvGrpSpPr>
        <p:grpSpPr>
          <a:xfrm>
            <a:off x="2824480" y="3380740"/>
            <a:ext cx="1634490" cy="812800"/>
            <a:chOff x="1316" y="5927"/>
            <a:chExt cx="2574" cy="1280"/>
          </a:xfrm>
        </p:grpSpPr>
        <p:cxnSp>
          <p:nvCxnSpPr>
            <p:cNvPr id="32" name="直接连接符 31"/>
            <p:cNvCxnSpPr/>
            <p:nvPr/>
          </p:nvCxnSpPr>
          <p:spPr>
            <a:xfrm>
              <a:off x="1316" y="5927"/>
              <a:ext cx="1700" cy="0"/>
            </a:xfrm>
            <a:prstGeom prst="line">
              <a:avLst/>
            </a:prstGeom>
            <a:ln w="19050">
              <a:solidFill>
                <a:srgbClr val="0042FF"/>
              </a:solidFill>
            </a:ln>
          </p:spPr>
          <p:style>
            <a:lnRef idx="2">
              <a:srgbClr val="0042FF"/>
            </a:lnRef>
            <a:fillRef idx="0">
              <a:srgbClr val="FFFFFF"/>
            </a:fillRef>
            <a:effectRef idx="0">
              <a:srgbClr val="FFFFFF"/>
            </a:effectRef>
            <a:fontRef idx="minor">
              <a:srgbClr val="383838"/>
            </a:fontRef>
          </p:style>
        </p:cxnSp>
        <p:cxnSp>
          <p:nvCxnSpPr>
            <p:cNvPr id="33" name="直接连接符 32"/>
            <p:cNvCxnSpPr/>
            <p:nvPr/>
          </p:nvCxnSpPr>
          <p:spPr>
            <a:xfrm>
              <a:off x="3000" y="5927"/>
              <a:ext cx="890" cy="1280"/>
            </a:xfrm>
            <a:prstGeom prst="line">
              <a:avLst/>
            </a:prstGeom>
            <a:ln w="19050">
              <a:solidFill>
                <a:srgbClr val="0042FF"/>
              </a:solidFill>
              <a:tailEnd type="oval"/>
            </a:ln>
          </p:spPr>
          <p:style>
            <a:lnRef idx="2">
              <a:srgbClr val="0042FF"/>
            </a:lnRef>
            <a:fillRef idx="0">
              <a:srgbClr val="FFFFFF"/>
            </a:fillRef>
            <a:effectRef idx="0">
              <a:srgbClr val="FFFFFF"/>
            </a:effectRef>
            <a:fontRef idx="minor">
              <a:srgbClr val="383838"/>
            </a:fontRef>
          </p:style>
        </p:cxnSp>
      </p:grpSp>
      <p:sp>
        <p:nvSpPr>
          <p:cNvPr id="34" name="文本框 33"/>
          <p:cNvSpPr txBox="1"/>
          <p:nvPr/>
        </p:nvSpPr>
        <p:spPr>
          <a:xfrm>
            <a:off x="2766695" y="3046095"/>
            <a:ext cx="1487170" cy="306705"/>
          </a:xfrm>
          <a:prstGeom prst="rect">
            <a:avLst/>
          </a:prstGeom>
          <a:noFill/>
        </p:spPr>
        <p:txBody>
          <a:bodyPr wrap="square" rtlCol="0">
            <a:spAutoFit/>
          </a:bodyPr>
          <a:p>
            <a:pPr>
              <a:defRPr>
                <a:solidFill>
                  <a:srgbClr val="383838"/>
                </a:solidFill>
                <a:latin typeface="微软雅黑"/>
                <a:ea typeface="微软雅黑"/>
                <a:cs typeface="微软雅黑"/>
              </a:defRPr>
            </a:pP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平台化战略</a:t>
            </a:r>
            <a:endParaRPr lang="zh-CN" altLang="en-US" sz="1400">
              <a:solidFill>
                <a:srgbClr val="383838"/>
              </a:solidFill>
              <a:latin typeface="微软雅黑"/>
              <a:ea typeface="微软雅黑"/>
              <a:cs typeface="微软雅黑"/>
            </a:endParaRPr>
          </a:p>
        </p:txBody>
      </p:sp>
      <p:sp>
        <p:nvSpPr>
          <p:cNvPr id="35" name="文本框 34"/>
          <p:cNvSpPr txBox="1"/>
          <p:nvPr/>
        </p:nvSpPr>
        <p:spPr>
          <a:xfrm>
            <a:off x="2706370" y="3438525"/>
            <a:ext cx="1283335" cy="398780"/>
          </a:xfrm>
          <a:prstGeom prst="rect">
            <a:avLst/>
          </a:prstGeom>
          <a:noFill/>
        </p:spPr>
        <p:txBody>
          <a:bodyPr wrap="square" rtlCol="0" lIns="0" rIns="0" tIns="0" bIns="0">
            <a:spAutoFit/>
          </a:bodyPr>
          <a:p>
            <a:pPr>
              <a:defRPr>
                <a:solidFill>
                  <a:srgbClr val="383838"/>
                </a:solidFill>
                <a:latin typeface="微软雅黑"/>
                <a:ea typeface="微软雅黑"/>
                <a:cs typeface="微软雅黑"/>
              </a:defRPr>
            </a:pPr>
            <a:r>
              <a:rPr 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从烟囱架构到服务化中台</a:t>
            </a:r>
            <a:r>
              <a:rPr lang="zh-CN" sz="1000">
                <a:solidFill>
                  <a:srgbClr val="383838"/>
                </a:solidFill>
                <a:latin typeface="微软雅黑"/>
                <a:ea typeface="微软雅黑"/>
                <a:cs typeface="微软雅黑"/>
              </a:rPr>
              <a:t>）</a:t>
            </a:r>
            <a:endParaRPr lang="zh-CN" sz="1000">
              <a:solidFill>
                <a:srgbClr val="383838"/>
              </a:solidFill>
              <a:latin typeface="微软雅黑"/>
              <a:ea typeface="微软雅黑"/>
              <a:cs typeface="微软雅黑"/>
            </a:endParaRPr>
          </a:p>
        </p:txBody>
      </p:sp>
      <p:grpSp>
        <p:nvGrpSpPr>
          <p:cNvPr id="36" name="组合 35"/>
          <p:cNvGrpSpPr/>
          <p:nvPr/>
        </p:nvGrpSpPr>
        <p:grpSpPr>
          <a:xfrm>
            <a:off x="7082790" y="2058670"/>
            <a:ext cx="1634490" cy="812800"/>
            <a:chOff x="1316" y="5927"/>
            <a:chExt cx="2574" cy="1280"/>
          </a:xfrm>
        </p:grpSpPr>
        <p:cxnSp>
          <p:nvCxnSpPr>
            <p:cNvPr id="37" name="直接连接符 36"/>
            <p:cNvCxnSpPr/>
            <p:nvPr/>
          </p:nvCxnSpPr>
          <p:spPr>
            <a:xfrm>
              <a:off x="1316" y="5927"/>
              <a:ext cx="1700" cy="0"/>
            </a:xfrm>
            <a:prstGeom prst="line">
              <a:avLst/>
            </a:prstGeom>
            <a:ln w="19050">
              <a:solidFill>
                <a:srgbClr val="B3D4FE"/>
              </a:solidFill>
            </a:ln>
          </p:spPr>
          <p:style>
            <a:lnRef idx="2">
              <a:srgbClr val="0042FF"/>
            </a:lnRef>
            <a:fillRef idx="0">
              <a:srgbClr val="FFFFFF"/>
            </a:fillRef>
            <a:effectRef idx="0">
              <a:srgbClr val="FFFFFF"/>
            </a:effectRef>
            <a:fontRef idx="minor">
              <a:srgbClr val="383838"/>
            </a:fontRef>
          </p:style>
        </p:cxnSp>
        <p:cxnSp>
          <p:nvCxnSpPr>
            <p:cNvPr id="38" name="直接连接符 37"/>
            <p:cNvCxnSpPr/>
            <p:nvPr/>
          </p:nvCxnSpPr>
          <p:spPr>
            <a:xfrm>
              <a:off x="3000" y="5927"/>
              <a:ext cx="890" cy="1280"/>
            </a:xfrm>
            <a:prstGeom prst="line">
              <a:avLst/>
            </a:prstGeom>
            <a:ln w="19050">
              <a:solidFill>
                <a:srgbClr val="B3D4FE"/>
              </a:solidFill>
              <a:tailEnd type="oval"/>
            </a:ln>
          </p:spPr>
          <p:style>
            <a:lnRef idx="2">
              <a:srgbClr val="0042FF"/>
            </a:lnRef>
            <a:fillRef idx="0">
              <a:srgbClr val="FFFFFF"/>
            </a:fillRef>
            <a:effectRef idx="0">
              <a:srgbClr val="FFFFFF"/>
            </a:effectRef>
            <a:fontRef idx="minor">
              <a:srgbClr val="383838"/>
            </a:fontRef>
          </p:style>
        </p:cxnSp>
      </p:grpSp>
      <p:sp>
        <p:nvSpPr>
          <p:cNvPr id="39" name="文本框 38"/>
          <p:cNvSpPr txBox="1"/>
          <p:nvPr/>
        </p:nvSpPr>
        <p:spPr>
          <a:xfrm>
            <a:off x="7025005" y="1724025"/>
            <a:ext cx="1433830" cy="306705"/>
          </a:xfrm>
          <a:prstGeom prst="rect">
            <a:avLst/>
          </a:prstGeom>
          <a:noFill/>
        </p:spPr>
        <p:txBody>
          <a:bodyPr wrap="square" rtlCol="0">
            <a:spAutoFit/>
          </a:bodyPr>
          <a:p>
            <a:pPr>
              <a:defRPr>
                <a:solidFill>
                  <a:srgbClr val="383838"/>
                </a:solidFill>
                <a:latin typeface="微软雅黑"/>
                <a:ea typeface="微软雅黑"/>
                <a:cs typeface="微软雅黑"/>
              </a:defRPr>
            </a:pP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智能化战略</a:t>
            </a:r>
            <a:endParaRPr lang="zh-CN" altLang="en-US" sz="1400">
              <a:solidFill>
                <a:srgbClr val="383838"/>
              </a:solidFill>
              <a:latin typeface="微软雅黑"/>
              <a:ea typeface="微软雅黑"/>
              <a:cs typeface="微软雅黑"/>
            </a:endParaRPr>
          </a:p>
        </p:txBody>
      </p:sp>
      <p:sp>
        <p:nvSpPr>
          <p:cNvPr id="40" name="文本框 39"/>
          <p:cNvSpPr txBox="1"/>
          <p:nvPr/>
        </p:nvSpPr>
        <p:spPr>
          <a:xfrm>
            <a:off x="6760210" y="2124075"/>
            <a:ext cx="1487170" cy="245110"/>
          </a:xfrm>
          <a:prstGeom prst="rect">
            <a:avLst/>
          </a:prstGeom>
          <a:noFill/>
        </p:spPr>
        <p:txBody>
          <a:bodyPr wrap="square" rtlCol="0" lIns="0" rIns="0" tIns="0" bIns="0">
            <a:spAutoFit/>
          </a:bodyPr>
          <a:p>
            <a:pPr>
              <a:defRPr>
                <a:solidFill>
                  <a:srgbClr val="383838"/>
                </a:solidFill>
                <a:latin typeface="微软雅黑"/>
                <a:ea typeface="微软雅黑"/>
                <a:cs typeface="微软雅黑"/>
              </a:defRPr>
            </a:pPr>
            <a:r>
              <a:rPr 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从数据孤岛到</a:t>
            </a:r>
            <a:r>
              <a:rPr lang="en-US" altLang="zh-CN" sz="1000">
                <a:solidFill>
                  <a:srgbClr val="383838"/>
                </a:solidFill>
                <a:latin typeface="微软雅黑"/>
                <a:ea typeface="微软雅黑"/>
                <a:cs typeface="微软雅黑"/>
              </a:rPr>
              <a:t>AI</a:t>
            </a:r>
            <a:r>
              <a:rPr lang="zh-CN" altLang="en-US" sz="1000">
                <a:solidFill>
                  <a:srgbClr val="383838"/>
                </a:solidFill>
                <a:latin typeface="微软雅黑"/>
                <a:ea typeface="微软雅黑"/>
                <a:cs typeface="微软雅黑"/>
              </a:rPr>
              <a:t>驱动</a:t>
            </a:r>
            <a:r>
              <a:rPr lang="zh-CN" sz="1000">
                <a:solidFill>
                  <a:srgbClr val="383838"/>
                </a:solidFill>
                <a:latin typeface="微软雅黑"/>
                <a:ea typeface="微软雅黑"/>
                <a:cs typeface="微软雅黑"/>
              </a:rPr>
              <a:t>）</a:t>
            </a:r>
            <a:endParaRPr lang="zh-CN" sz="1000">
              <a:solidFill>
                <a:srgbClr val="383838"/>
              </a:solidFill>
              <a:latin typeface="微软雅黑"/>
              <a:ea typeface="微软雅黑"/>
              <a:cs typeface="微软雅黑"/>
            </a:endParaRPr>
          </a:p>
        </p:txBody>
      </p:sp>
      <p:grpSp>
        <p:nvGrpSpPr>
          <p:cNvPr id="41" name="组合 40"/>
          <p:cNvGrpSpPr/>
          <p:nvPr/>
        </p:nvGrpSpPr>
        <p:grpSpPr>
          <a:xfrm>
            <a:off x="9000490" y="1524000"/>
            <a:ext cx="1634490" cy="812800"/>
            <a:chOff x="1316" y="5927"/>
            <a:chExt cx="2574" cy="1280"/>
          </a:xfrm>
        </p:grpSpPr>
        <p:cxnSp>
          <p:nvCxnSpPr>
            <p:cNvPr id="42" name="直接连接符 41"/>
            <p:cNvCxnSpPr/>
            <p:nvPr/>
          </p:nvCxnSpPr>
          <p:spPr>
            <a:xfrm>
              <a:off x="1316" y="5927"/>
              <a:ext cx="1700" cy="0"/>
            </a:xfrm>
            <a:prstGeom prst="line">
              <a:avLst/>
            </a:prstGeom>
            <a:ln w="19050">
              <a:solidFill>
                <a:srgbClr val="3368FF"/>
              </a:solidFill>
            </a:ln>
          </p:spPr>
          <p:style>
            <a:lnRef idx="2">
              <a:srgbClr val="0042FF"/>
            </a:lnRef>
            <a:fillRef idx="0">
              <a:srgbClr val="FFFFFF"/>
            </a:fillRef>
            <a:effectRef idx="0">
              <a:srgbClr val="FFFFFF"/>
            </a:effectRef>
            <a:fontRef idx="minor">
              <a:srgbClr val="383838"/>
            </a:fontRef>
          </p:style>
        </p:cxnSp>
        <p:cxnSp>
          <p:nvCxnSpPr>
            <p:cNvPr id="43" name="直接连接符 42"/>
            <p:cNvCxnSpPr/>
            <p:nvPr/>
          </p:nvCxnSpPr>
          <p:spPr>
            <a:xfrm>
              <a:off x="3000" y="5927"/>
              <a:ext cx="890" cy="1280"/>
            </a:xfrm>
            <a:prstGeom prst="line">
              <a:avLst/>
            </a:prstGeom>
            <a:ln w="19050">
              <a:solidFill>
                <a:srgbClr val="3368FF"/>
              </a:solidFill>
              <a:tailEnd type="oval"/>
            </a:ln>
          </p:spPr>
          <p:style>
            <a:lnRef idx="2">
              <a:srgbClr val="0042FF"/>
            </a:lnRef>
            <a:fillRef idx="0">
              <a:srgbClr val="FFFFFF"/>
            </a:fillRef>
            <a:effectRef idx="0">
              <a:srgbClr val="FFFFFF"/>
            </a:effectRef>
            <a:fontRef idx="minor">
              <a:srgbClr val="383838"/>
            </a:fontRef>
          </p:style>
        </p:cxnSp>
      </p:grpSp>
      <p:sp>
        <p:nvSpPr>
          <p:cNvPr id="44" name="文本框 43"/>
          <p:cNvSpPr txBox="1"/>
          <p:nvPr/>
        </p:nvSpPr>
        <p:spPr>
          <a:xfrm>
            <a:off x="8942705" y="1189355"/>
            <a:ext cx="1487170" cy="306705"/>
          </a:xfrm>
          <a:prstGeom prst="rect">
            <a:avLst/>
          </a:prstGeom>
          <a:noFill/>
        </p:spPr>
        <p:txBody>
          <a:bodyPr wrap="square" rtlCol="0">
            <a:spAutoFit/>
          </a:bodyPr>
          <a:p>
            <a:pPr>
              <a:defRPr>
                <a:latin typeface="微软雅黑"/>
                <a:ea typeface="微软雅黑"/>
                <a:cs typeface="微软雅黑"/>
              </a:defRPr>
            </a:pPr>
            <a:r>
              <a:rPr lang="en-US" altLang="zh-CN" sz="1400">
                <a:solidFill>
                  <a:srgbClr val="0042FF"/>
                </a:solidFill>
                <a:latin typeface="微软雅黑"/>
                <a:ea typeface="微软雅黑"/>
                <a:cs typeface="微软雅黑"/>
              </a:rPr>
              <a:t>@</a:t>
            </a:r>
            <a:r>
              <a:rPr lang="zh-CN" altLang="en-US" sz="1400">
                <a:solidFill>
                  <a:srgbClr val="0042FF"/>
                </a:solidFill>
                <a:latin typeface="微软雅黑"/>
                <a:ea typeface="微软雅黑"/>
                <a:cs typeface="微软雅黑"/>
              </a:rPr>
              <a:t>生态开放战略</a:t>
            </a:r>
            <a:endParaRPr lang="zh-CN" altLang="en-US" sz="1400">
              <a:solidFill>
                <a:srgbClr val="0042FF"/>
              </a:solidFill>
              <a:latin typeface="微软雅黑"/>
              <a:ea typeface="微软雅黑"/>
              <a:cs typeface="微软雅黑"/>
            </a:endParaRPr>
          </a:p>
        </p:txBody>
      </p:sp>
      <p:sp>
        <p:nvSpPr>
          <p:cNvPr id="45" name="文本框 44"/>
          <p:cNvSpPr txBox="1"/>
          <p:nvPr/>
        </p:nvSpPr>
        <p:spPr>
          <a:xfrm>
            <a:off x="8630285" y="1581785"/>
            <a:ext cx="1653540" cy="245110"/>
          </a:xfrm>
          <a:prstGeom prst="rect">
            <a:avLst/>
          </a:prstGeom>
          <a:noFill/>
        </p:spPr>
        <p:txBody>
          <a:bodyPr wrap="square" rtlCol="0" lIns="0" rIns="0" tIns="0" bIns="0">
            <a:spAutoFit/>
          </a:bodyPr>
          <a:p>
            <a:pPr>
              <a:defRPr>
                <a:solidFill>
                  <a:srgbClr val="383838"/>
                </a:solidFill>
                <a:latin typeface="微软雅黑"/>
                <a:ea typeface="微软雅黑"/>
                <a:cs typeface="微软雅黑"/>
              </a:defRPr>
            </a:pPr>
            <a:r>
              <a:rPr lang="zh-CN" sz="1000">
                <a:solidFill>
                  <a:srgbClr val="383838"/>
                </a:solidFill>
                <a:latin typeface="微软雅黑"/>
                <a:ea typeface="微软雅黑"/>
                <a:cs typeface="微软雅黑"/>
                <a:sym typeface="微软雅黑"/>
              </a:rPr>
              <a:t>（</a:t>
            </a:r>
            <a:r>
              <a:rPr lang="zh-CN" altLang="en-US" sz="1000">
                <a:solidFill>
                  <a:srgbClr val="383838"/>
                </a:solidFill>
                <a:latin typeface="微软雅黑"/>
                <a:ea typeface="微软雅黑"/>
                <a:cs typeface="微软雅黑"/>
                <a:sym typeface="微软雅黑"/>
              </a:rPr>
              <a:t>从封闭系统到</a:t>
            </a:r>
            <a:r>
              <a:rPr lang="en-US" altLang="zh-CN" sz="1000">
                <a:solidFill>
                  <a:srgbClr val="383838"/>
                </a:solidFill>
                <a:latin typeface="微软雅黑"/>
                <a:ea typeface="微软雅黑"/>
                <a:cs typeface="微软雅黑"/>
                <a:sym typeface="微软雅黑"/>
              </a:rPr>
              <a:t>API</a:t>
            </a:r>
            <a:r>
              <a:rPr lang="zh-CN" altLang="en-US" sz="1000">
                <a:solidFill>
                  <a:srgbClr val="383838"/>
                </a:solidFill>
                <a:latin typeface="微软雅黑"/>
                <a:ea typeface="微软雅黑"/>
                <a:cs typeface="微软雅黑"/>
                <a:sym typeface="微软雅黑"/>
              </a:rPr>
              <a:t>经济</a:t>
            </a:r>
            <a:r>
              <a:rPr lang="zh-CN" sz="1000">
                <a:solidFill>
                  <a:srgbClr val="383838"/>
                </a:solidFill>
                <a:latin typeface="微软雅黑"/>
                <a:ea typeface="微软雅黑"/>
                <a:cs typeface="微软雅黑"/>
                <a:sym typeface="微软雅黑"/>
              </a:rPr>
              <a:t>）</a:t>
            </a:r>
            <a:endParaRPr lang="zh-CN" sz="1000">
              <a:solidFill>
                <a:srgbClr val="383838"/>
              </a:solidFill>
              <a:latin typeface="微软雅黑"/>
              <a:ea typeface="微软雅黑"/>
              <a:cs typeface="微软雅黑"/>
            </a:endParaRPr>
          </a:p>
        </p:txBody>
      </p:sp>
      <p:grpSp>
        <p:nvGrpSpPr>
          <p:cNvPr id="66" name="组合 65"/>
          <p:cNvGrpSpPr/>
          <p:nvPr/>
        </p:nvGrpSpPr>
        <p:grpSpPr>
          <a:xfrm>
            <a:off x="4683760" y="2522855"/>
            <a:ext cx="2055495" cy="1147445"/>
            <a:chOff x="9795" y="3190"/>
            <a:chExt cx="3237" cy="1807"/>
          </a:xfrm>
        </p:grpSpPr>
        <p:grpSp>
          <p:nvGrpSpPr>
            <p:cNvPr id="61" name="组合 60"/>
            <p:cNvGrpSpPr/>
            <p:nvPr/>
          </p:nvGrpSpPr>
          <p:grpSpPr>
            <a:xfrm>
              <a:off x="10458" y="3717"/>
              <a:ext cx="2574" cy="1280"/>
              <a:chOff x="1316" y="5927"/>
              <a:chExt cx="2574" cy="1280"/>
            </a:xfrm>
          </p:grpSpPr>
          <p:cxnSp>
            <p:nvCxnSpPr>
              <p:cNvPr id="62" name="直接连接符 61"/>
              <p:cNvCxnSpPr/>
              <p:nvPr/>
            </p:nvCxnSpPr>
            <p:spPr>
              <a:xfrm>
                <a:off x="1316" y="5927"/>
                <a:ext cx="1700" cy="0"/>
              </a:xfrm>
              <a:prstGeom prst="line">
                <a:avLst/>
              </a:prstGeom>
              <a:ln w="19050">
                <a:solidFill>
                  <a:srgbClr val="3368FF"/>
                </a:solidFill>
              </a:ln>
            </p:spPr>
            <p:style>
              <a:lnRef idx="2">
                <a:srgbClr val="0042FF"/>
              </a:lnRef>
              <a:fillRef idx="0">
                <a:srgbClr val="FFFFFF"/>
              </a:fillRef>
              <a:effectRef idx="0">
                <a:srgbClr val="FFFFFF"/>
              </a:effectRef>
              <a:fontRef idx="minor">
                <a:srgbClr val="383838"/>
              </a:fontRef>
            </p:style>
          </p:cxnSp>
          <p:cxnSp>
            <p:nvCxnSpPr>
              <p:cNvPr id="63" name="直接连接符 62"/>
              <p:cNvCxnSpPr/>
              <p:nvPr/>
            </p:nvCxnSpPr>
            <p:spPr>
              <a:xfrm>
                <a:off x="3000" y="5927"/>
                <a:ext cx="890" cy="1280"/>
              </a:xfrm>
              <a:prstGeom prst="line">
                <a:avLst/>
              </a:prstGeom>
              <a:ln w="19050">
                <a:solidFill>
                  <a:srgbClr val="3368FF"/>
                </a:solidFill>
                <a:tailEnd type="oval"/>
              </a:ln>
            </p:spPr>
            <p:style>
              <a:lnRef idx="2">
                <a:srgbClr val="0042FF"/>
              </a:lnRef>
              <a:fillRef idx="0">
                <a:srgbClr val="FFFFFF"/>
              </a:fillRef>
              <a:effectRef idx="0">
                <a:srgbClr val="FFFFFF"/>
              </a:effectRef>
              <a:fontRef idx="minor">
                <a:srgbClr val="383838"/>
              </a:fontRef>
            </p:style>
          </p:cxnSp>
        </p:grpSp>
        <p:sp>
          <p:nvSpPr>
            <p:cNvPr id="64" name="文本框 63"/>
            <p:cNvSpPr txBox="1"/>
            <p:nvPr/>
          </p:nvSpPr>
          <p:spPr>
            <a:xfrm>
              <a:off x="10367" y="3190"/>
              <a:ext cx="2342" cy="483"/>
            </a:xfrm>
            <a:prstGeom prst="rect">
              <a:avLst/>
            </a:prstGeom>
            <a:noFill/>
          </p:spPr>
          <p:txBody>
            <a:bodyPr wrap="square" rtlCol="0">
              <a:spAutoFit/>
            </a:bodyPr>
            <a:p>
              <a:pPr>
                <a:defRPr>
                  <a:solidFill>
                    <a:srgbClr val="383838"/>
                  </a:solidFill>
                  <a:latin typeface="微软雅黑"/>
                  <a:ea typeface="微软雅黑"/>
                  <a:cs typeface="微软雅黑"/>
                </a:defRPr>
              </a:pPr>
              <a:r>
                <a:rPr lang="en-US" altLang="zh-CN" sz="1400">
                  <a:solidFill>
                    <a:srgbClr val="383838"/>
                  </a:solidFill>
                  <a:latin typeface="微软雅黑"/>
                  <a:ea typeface="微软雅黑"/>
                  <a:cs typeface="微软雅黑"/>
                </a:rPr>
                <a:t>@</a:t>
              </a:r>
              <a:r>
                <a:rPr lang="zh-CN" altLang="en-US" sz="1400">
                  <a:solidFill>
                    <a:srgbClr val="383838"/>
                  </a:solidFill>
                  <a:latin typeface="微软雅黑"/>
                  <a:ea typeface="微软雅黑"/>
                  <a:cs typeface="微软雅黑"/>
                </a:rPr>
                <a:t>云原生战略</a:t>
              </a:r>
              <a:endParaRPr lang="zh-CN" altLang="en-US" sz="1400">
                <a:solidFill>
                  <a:srgbClr val="383838"/>
                </a:solidFill>
                <a:latin typeface="微软雅黑"/>
                <a:ea typeface="微软雅黑"/>
                <a:cs typeface="微软雅黑"/>
              </a:endParaRPr>
            </a:p>
          </p:txBody>
        </p:sp>
        <p:sp>
          <p:nvSpPr>
            <p:cNvPr id="65" name="文本框 64"/>
            <p:cNvSpPr txBox="1"/>
            <p:nvPr/>
          </p:nvSpPr>
          <p:spPr>
            <a:xfrm>
              <a:off x="9795" y="3808"/>
              <a:ext cx="2684" cy="386"/>
            </a:xfrm>
            <a:prstGeom prst="rect">
              <a:avLst/>
            </a:prstGeom>
            <a:noFill/>
          </p:spPr>
          <p:txBody>
            <a:bodyPr wrap="square" rtlCol="0" lIns="0" rIns="0" tIns="0" bIns="0">
              <a:spAutoFit/>
            </a:bodyPr>
            <a:p>
              <a:pPr>
                <a:defRPr>
                  <a:solidFill>
                    <a:srgbClr val="383838"/>
                  </a:solidFill>
                  <a:latin typeface="微软雅黑"/>
                  <a:ea typeface="微软雅黑"/>
                  <a:cs typeface="微软雅黑"/>
                </a:defRPr>
              </a:pPr>
              <a:r>
                <a:rPr lang="zh-CN" sz="1000">
                  <a:solidFill>
                    <a:srgbClr val="383838"/>
                  </a:solidFill>
                  <a:latin typeface="微软雅黑"/>
                  <a:ea typeface="微软雅黑"/>
                  <a:cs typeface="微软雅黑"/>
                  <a:sym typeface="微软雅黑"/>
                </a:rPr>
                <a:t>（</a:t>
              </a:r>
              <a:r>
                <a:rPr lang="zh-CN" altLang="en-US" sz="1000">
                  <a:solidFill>
                    <a:srgbClr val="383838"/>
                  </a:solidFill>
                  <a:latin typeface="微软雅黑"/>
                  <a:ea typeface="微软雅黑"/>
                  <a:cs typeface="微软雅黑"/>
                  <a:sym typeface="微软雅黑"/>
                </a:rPr>
                <a:t>从物理机到全域云原生</a:t>
              </a:r>
              <a:r>
                <a:rPr lang="zh-CN" sz="1000">
                  <a:solidFill>
                    <a:srgbClr val="383838"/>
                  </a:solidFill>
                  <a:latin typeface="微软雅黑"/>
                  <a:ea typeface="微软雅黑"/>
                  <a:cs typeface="微软雅黑"/>
                  <a:sym typeface="微软雅黑"/>
                </a:rPr>
                <a:t>）</a:t>
              </a:r>
              <a:endParaRPr lang="zh-CN" sz="1000">
                <a:solidFill>
                  <a:srgbClr val="383838"/>
                </a:solidFill>
                <a:latin typeface="微软雅黑"/>
                <a:ea typeface="微软雅黑"/>
                <a:cs typeface="微软雅黑"/>
              </a:endParaRPr>
            </a:p>
          </p:txBody>
        </p:sp>
      </p:grpSp>
      <p:sp>
        <p:nvSpPr>
          <p:cNvPr id="67" name="文本框 66"/>
          <p:cNvSpPr txBox="1"/>
          <p:nvPr/>
        </p:nvSpPr>
        <p:spPr>
          <a:xfrm>
            <a:off x="9552305" y="3168015"/>
            <a:ext cx="1773555"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从智能到生态化</a:t>
            </a:r>
            <a:endParaRPr lang="zh-CN" altLang="en-US" sz="1600" b="1">
              <a:solidFill>
                <a:srgbClr val="FFFFFF"/>
              </a:solidFill>
              <a:latin typeface="微软雅黑"/>
              <a:ea typeface="微软雅黑"/>
              <a:cs typeface="微软雅黑"/>
            </a:endParaRPr>
          </a:p>
        </p:txBody>
      </p:sp>
      <p:sp>
        <p:nvSpPr>
          <p:cNvPr id="68" name="文本框 67"/>
          <p:cNvSpPr txBox="1"/>
          <p:nvPr/>
        </p:nvSpPr>
        <p:spPr>
          <a:xfrm>
            <a:off x="7306310" y="3484245"/>
            <a:ext cx="1900555"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sym typeface="微软雅黑"/>
              </a:rPr>
              <a:t>从云服务到智能化</a:t>
            </a:r>
            <a:endParaRPr lang="zh-CN" altLang="en-US" sz="1600" b="1">
              <a:solidFill>
                <a:srgbClr val="FFFFFF"/>
              </a:solidFill>
              <a:latin typeface="微软雅黑"/>
              <a:ea typeface="微软雅黑"/>
              <a:cs typeface="微软雅黑"/>
              <a:sym typeface="微软雅黑"/>
            </a:endParaRPr>
          </a:p>
        </p:txBody>
      </p:sp>
      <p:sp>
        <p:nvSpPr>
          <p:cNvPr id="69" name="文本框 68"/>
          <p:cNvSpPr txBox="1"/>
          <p:nvPr/>
        </p:nvSpPr>
        <p:spPr>
          <a:xfrm>
            <a:off x="1018540" y="1597025"/>
            <a:ext cx="1628140" cy="337185"/>
          </a:xfrm>
          <a:prstGeom prst="rect">
            <a:avLst/>
          </a:prstGeom>
          <a:noFill/>
        </p:spPr>
        <p:txBody>
          <a:bodyPr wrap="square" rtlCol="0">
            <a:spAutoFit/>
          </a:bodyPr>
          <a:p>
            <a:pPr>
              <a:defRPr>
                <a:solidFill>
                  <a:srgbClr val="383838"/>
                </a:solidFill>
                <a:latin typeface="微软雅黑"/>
                <a:ea typeface="微软雅黑"/>
                <a:cs typeface="微软雅黑"/>
              </a:defRPr>
            </a:pPr>
            <a:r>
              <a:rPr lang="zh-CN" altLang="en-US" sz="1600" b="1">
                <a:solidFill>
                  <a:srgbClr val="383838"/>
                </a:solidFill>
                <a:latin typeface="微软雅黑"/>
                <a:ea typeface="微软雅黑"/>
                <a:cs typeface="微软雅黑"/>
              </a:rPr>
              <a:t>五个战略阶段</a:t>
            </a:r>
            <a:endParaRPr lang="zh-CN" altLang="en-US" sz="1600" b="1">
              <a:solidFill>
                <a:srgbClr val="383838"/>
              </a:solidFill>
              <a:latin typeface="微软雅黑"/>
              <a:ea typeface="微软雅黑"/>
              <a:cs typeface="微软雅黑"/>
            </a:endParaRPr>
          </a:p>
        </p:txBody>
      </p:sp>
      <p:sp>
        <p:nvSpPr>
          <p:cNvPr id="4" name="文本框 3"/>
          <p:cNvSpPr txBox="1"/>
          <p:nvPr/>
        </p:nvSpPr>
        <p:spPr>
          <a:xfrm>
            <a:off x="5171440" y="4067175"/>
            <a:ext cx="1849755"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从平台到云服务化</a:t>
            </a:r>
            <a:endParaRPr lang="zh-CN" altLang="en-US" sz="1600" b="1">
              <a:solidFill>
                <a:srgbClr val="FFFFFF"/>
              </a:solidFill>
              <a:latin typeface="微软雅黑"/>
              <a:ea typeface="微软雅黑"/>
              <a:cs typeface="微软雅黑"/>
            </a:endParaRPr>
          </a:p>
        </p:txBody>
      </p:sp>
      <p:sp>
        <p:nvSpPr>
          <p:cNvPr id="8" name="文本框 7"/>
          <p:cNvSpPr txBox="1"/>
          <p:nvPr/>
        </p:nvSpPr>
        <p:spPr>
          <a:xfrm>
            <a:off x="3194050" y="4404360"/>
            <a:ext cx="1773555" cy="3371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600" b="1">
                <a:solidFill>
                  <a:srgbClr val="FFFFFF"/>
                </a:solidFill>
                <a:latin typeface="微软雅黑"/>
                <a:ea typeface="微软雅黑"/>
                <a:cs typeface="微软雅黑"/>
              </a:rPr>
              <a:t>从数据到平台化</a:t>
            </a:r>
            <a:endParaRPr lang="zh-CN" altLang="en-US" sz="1600" b="1">
              <a:solidFill>
                <a:srgbClr val="FFFFFF"/>
              </a:solidFill>
              <a:latin typeface="微软雅黑"/>
              <a:ea typeface="微软雅黑"/>
              <a:cs typeface="微软雅黑"/>
            </a:endParaRPr>
          </a:p>
        </p:txBody>
      </p:sp>
      <p:sp>
        <p:nvSpPr>
          <p:cNvPr id="11" name="熊大的PPT宝库36"/>
          <p:cNvSpPr/>
          <p:nvPr/>
        </p:nvSpPr>
        <p:spPr>
          <a:xfrm>
            <a:off x="589280" y="5511165"/>
            <a:ext cx="11262995" cy="252095"/>
          </a:xfrm>
          <a:prstGeom prst="rightArrow">
            <a:avLst>
              <a:gd name="adj1" fmla="val 50000"/>
              <a:gd name="adj2" fmla="val 65723"/>
            </a:avLst>
          </a:prstGeom>
          <a:gradFill>
            <a:gsLst>
              <a:gs pos="0">
                <a:srgbClr val="3368FF">
                  <a:alpha val="0"/>
                </a:srgbClr>
              </a:gs>
              <a:gs pos="100000">
                <a:srgbClr val="3368FF"/>
              </a:gs>
            </a:gsLst>
            <a:lin ang="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i="0" u="none" strike="noStrike" kern="1200" cap="none" spc="0" normalizeH="0" baseline="0" noProof="0" dirty="0">
              <a:ln>
                <a:noFill/>
              </a:ln>
              <a:solidFill>
                <a:srgbClr val="383838"/>
              </a:solidFill>
              <a:effectLst/>
              <a:uLnTx/>
              <a:uFillTx/>
              <a:latin typeface="微软雅黑"/>
              <a:ea typeface="微软雅黑"/>
              <a:cs typeface="微软雅黑"/>
            </a:endParaRPr>
          </a:p>
        </p:txBody>
      </p:sp>
      <p:cxnSp>
        <p:nvCxnSpPr>
          <p:cNvPr id="20" name="熊大的PPT宝库37"/>
          <p:cNvCxnSpPr/>
          <p:nvPr/>
        </p:nvCxnSpPr>
        <p:spPr>
          <a:xfrm>
            <a:off x="661436" y="5494533"/>
            <a:ext cx="8928000" cy="0"/>
          </a:xfrm>
          <a:prstGeom prst="line">
            <a:avLst/>
          </a:prstGeom>
          <a:ln>
            <a:solidFill>
              <a:srgbClr val="FFFFFF"/>
            </a:solidFill>
            <a:prstDash val="lgDash"/>
          </a:ln>
        </p:spPr>
        <p:style>
          <a:lnRef idx="1">
            <a:srgbClr val="0042FF"/>
          </a:lnRef>
          <a:fillRef idx="0">
            <a:srgbClr val="0042FF"/>
          </a:fillRef>
          <a:effectRef idx="0">
            <a:srgbClr val="0042FF"/>
          </a:effectRef>
          <a:fontRef idx="minor">
            <a:srgbClr val="383838"/>
          </a:fontRef>
        </p:style>
      </p:cxnSp>
      <p:cxnSp>
        <p:nvCxnSpPr>
          <p:cNvPr id="112" name="熊大的PPT宝库38"/>
          <p:cNvCxnSpPr/>
          <p:nvPr/>
        </p:nvCxnSpPr>
        <p:spPr>
          <a:xfrm>
            <a:off x="751023" y="5625269"/>
            <a:ext cx="10983595" cy="0"/>
          </a:xfrm>
          <a:prstGeom prst="line">
            <a:avLst/>
          </a:prstGeom>
          <a:ln>
            <a:solidFill>
              <a:srgbClr val="FFFFFF"/>
            </a:solidFill>
            <a:prstDash val="lgDash"/>
          </a:ln>
        </p:spPr>
        <p:style>
          <a:lnRef idx="1">
            <a:srgbClr val="0042FF"/>
          </a:lnRef>
          <a:fillRef idx="0">
            <a:srgbClr val="0042FF"/>
          </a:fillRef>
          <a:effectRef idx="0">
            <a:srgbClr val="0042FF"/>
          </a:effectRef>
          <a:fontRef idx="minor">
            <a:srgbClr val="383838"/>
          </a:fontRef>
        </p:style>
      </p:cxnSp>
      <p:grpSp>
        <p:nvGrpSpPr>
          <p:cNvPr id="70" name="组合 69"/>
          <p:cNvGrpSpPr/>
          <p:nvPr/>
        </p:nvGrpSpPr>
        <p:grpSpPr>
          <a:xfrm>
            <a:off x="4009390" y="5411470"/>
            <a:ext cx="215900" cy="391795"/>
            <a:chOff x="2883" y="8402"/>
            <a:chExt cx="340" cy="617"/>
          </a:xfrm>
        </p:grpSpPr>
        <p:sp>
          <p:nvSpPr>
            <p:cNvPr id="73" name="熊大的PPT宝库39"/>
            <p:cNvSpPr/>
            <p:nvPr/>
          </p:nvSpPr>
          <p:spPr>
            <a:xfrm rot="8100000">
              <a:off x="2883" y="8402"/>
              <a:ext cx="340" cy="340"/>
            </a:xfrm>
            <a:prstGeom prst="teardrop">
              <a:avLst/>
            </a:prstGeom>
            <a:solidFill>
              <a:srgbClr val="FFFFFF"/>
            </a:solidFill>
            <a:ln w="28575">
              <a:gradFill>
                <a:gsLst>
                  <a:gs pos="0">
                    <a:srgbClr val="B3D4FE"/>
                  </a:gs>
                  <a:gs pos="100000">
                    <a:srgbClr val="3368FF"/>
                  </a:gs>
                </a:gsLst>
                <a:lin ang="5400000" scaled="1"/>
              </a:grad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sp>
          <p:nvSpPr>
            <p:cNvPr id="75" name="熊大的PPT宝库40"/>
            <p:cNvSpPr/>
            <p:nvPr/>
          </p:nvSpPr>
          <p:spPr>
            <a:xfrm>
              <a:off x="2927" y="8907"/>
              <a:ext cx="253" cy="113"/>
            </a:xfrm>
            <a:prstGeom prst="ellipse">
              <a:avLst/>
            </a:prstGeom>
            <a:gradFill>
              <a:gsLst>
                <a:gs pos="0">
                  <a:srgbClr val="B3D4FE"/>
                </a:gs>
                <a:gs pos="100000">
                  <a:srgbClr val="3368FF"/>
                </a:gs>
              </a:gsLst>
              <a:lin ang="0" scaled="0"/>
            </a:gradFill>
            <a:ln>
              <a:no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grpSp>
      <p:grpSp>
        <p:nvGrpSpPr>
          <p:cNvPr id="81" name="组合 80"/>
          <p:cNvGrpSpPr/>
          <p:nvPr/>
        </p:nvGrpSpPr>
        <p:grpSpPr>
          <a:xfrm>
            <a:off x="6115685" y="5411470"/>
            <a:ext cx="215900" cy="391795"/>
            <a:chOff x="2883" y="8402"/>
            <a:chExt cx="340" cy="617"/>
          </a:xfrm>
        </p:grpSpPr>
        <p:sp>
          <p:nvSpPr>
            <p:cNvPr id="82" name="熊大的PPT宝库39"/>
            <p:cNvSpPr/>
            <p:nvPr/>
          </p:nvSpPr>
          <p:spPr>
            <a:xfrm rot="8100000">
              <a:off x="2883" y="8402"/>
              <a:ext cx="340" cy="340"/>
            </a:xfrm>
            <a:prstGeom prst="teardrop">
              <a:avLst/>
            </a:prstGeom>
            <a:solidFill>
              <a:srgbClr val="FFFFFF"/>
            </a:solidFill>
            <a:ln w="28575">
              <a:gradFill>
                <a:gsLst>
                  <a:gs pos="0">
                    <a:srgbClr val="B3D4FE"/>
                  </a:gs>
                  <a:gs pos="100000">
                    <a:srgbClr val="3368FF"/>
                  </a:gs>
                </a:gsLst>
                <a:lin ang="5400000" scaled="1"/>
              </a:grad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sp>
          <p:nvSpPr>
            <p:cNvPr id="83" name="熊大的PPT宝库40"/>
            <p:cNvSpPr/>
            <p:nvPr/>
          </p:nvSpPr>
          <p:spPr>
            <a:xfrm>
              <a:off x="2927" y="8907"/>
              <a:ext cx="253" cy="113"/>
            </a:xfrm>
            <a:prstGeom prst="ellipse">
              <a:avLst/>
            </a:prstGeom>
            <a:gradFill>
              <a:gsLst>
                <a:gs pos="0">
                  <a:srgbClr val="B3D4FE"/>
                </a:gs>
                <a:gs pos="100000">
                  <a:srgbClr val="3368FF"/>
                </a:gs>
              </a:gsLst>
              <a:lin ang="0" scaled="0"/>
            </a:gradFill>
            <a:ln>
              <a:no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grpSp>
      <p:grpSp>
        <p:nvGrpSpPr>
          <p:cNvPr id="87" name="组合 86"/>
          <p:cNvGrpSpPr/>
          <p:nvPr/>
        </p:nvGrpSpPr>
        <p:grpSpPr>
          <a:xfrm>
            <a:off x="8221345" y="5411470"/>
            <a:ext cx="215900" cy="391795"/>
            <a:chOff x="2883" y="8402"/>
            <a:chExt cx="340" cy="617"/>
          </a:xfrm>
        </p:grpSpPr>
        <p:sp>
          <p:nvSpPr>
            <p:cNvPr id="88" name="熊大的PPT宝库39"/>
            <p:cNvSpPr/>
            <p:nvPr/>
          </p:nvSpPr>
          <p:spPr>
            <a:xfrm rot="8100000">
              <a:off x="2883" y="8402"/>
              <a:ext cx="340" cy="340"/>
            </a:xfrm>
            <a:prstGeom prst="teardrop">
              <a:avLst/>
            </a:prstGeom>
            <a:solidFill>
              <a:srgbClr val="FFFFFF"/>
            </a:solidFill>
            <a:ln w="28575">
              <a:gradFill>
                <a:gsLst>
                  <a:gs pos="0">
                    <a:srgbClr val="B3D4FE"/>
                  </a:gs>
                  <a:gs pos="100000">
                    <a:srgbClr val="3368FF"/>
                  </a:gs>
                </a:gsLst>
                <a:lin ang="5400000" scaled="1"/>
              </a:grad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sp>
          <p:nvSpPr>
            <p:cNvPr id="89" name="熊大的PPT宝库40"/>
            <p:cNvSpPr/>
            <p:nvPr/>
          </p:nvSpPr>
          <p:spPr>
            <a:xfrm>
              <a:off x="2927" y="8907"/>
              <a:ext cx="253" cy="113"/>
            </a:xfrm>
            <a:prstGeom prst="ellipse">
              <a:avLst/>
            </a:prstGeom>
            <a:gradFill>
              <a:gsLst>
                <a:gs pos="0">
                  <a:srgbClr val="B3D4FE"/>
                </a:gs>
                <a:gs pos="100000">
                  <a:srgbClr val="3368FF"/>
                </a:gs>
              </a:gsLst>
              <a:lin ang="0" scaled="0"/>
            </a:gradFill>
            <a:ln>
              <a:no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grpSp>
      <p:grpSp>
        <p:nvGrpSpPr>
          <p:cNvPr id="99" name="组合 98"/>
          <p:cNvGrpSpPr/>
          <p:nvPr/>
        </p:nvGrpSpPr>
        <p:grpSpPr>
          <a:xfrm>
            <a:off x="10328275" y="5410835"/>
            <a:ext cx="215900" cy="391795"/>
            <a:chOff x="2883" y="8402"/>
            <a:chExt cx="340" cy="617"/>
          </a:xfrm>
        </p:grpSpPr>
        <p:sp>
          <p:nvSpPr>
            <p:cNvPr id="100" name="熊大的PPT宝库39"/>
            <p:cNvSpPr/>
            <p:nvPr/>
          </p:nvSpPr>
          <p:spPr>
            <a:xfrm rot="8100000">
              <a:off x="2883" y="8402"/>
              <a:ext cx="340" cy="340"/>
            </a:xfrm>
            <a:prstGeom prst="teardrop">
              <a:avLst/>
            </a:prstGeom>
            <a:solidFill>
              <a:srgbClr val="FFFFFF"/>
            </a:solidFill>
            <a:ln w="28575">
              <a:gradFill>
                <a:gsLst>
                  <a:gs pos="0">
                    <a:srgbClr val="B3D4FE"/>
                  </a:gs>
                  <a:gs pos="100000">
                    <a:srgbClr val="3368FF"/>
                  </a:gs>
                </a:gsLst>
                <a:lin ang="5400000" scaled="1"/>
              </a:grad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sp>
          <p:nvSpPr>
            <p:cNvPr id="101" name="熊大的PPT宝库40"/>
            <p:cNvSpPr/>
            <p:nvPr/>
          </p:nvSpPr>
          <p:spPr>
            <a:xfrm>
              <a:off x="2927" y="8907"/>
              <a:ext cx="253" cy="113"/>
            </a:xfrm>
            <a:prstGeom prst="ellipse">
              <a:avLst/>
            </a:prstGeom>
            <a:gradFill>
              <a:gsLst>
                <a:gs pos="0">
                  <a:srgbClr val="B3D4FE"/>
                </a:gs>
                <a:gs pos="100000">
                  <a:srgbClr val="3368FF"/>
                </a:gs>
              </a:gsLst>
              <a:lin ang="0" scaled="0"/>
            </a:gradFill>
            <a:ln>
              <a:no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grpSp>
      <p:grpSp>
        <p:nvGrpSpPr>
          <p:cNvPr id="105" name="组合 104"/>
          <p:cNvGrpSpPr/>
          <p:nvPr/>
        </p:nvGrpSpPr>
        <p:grpSpPr>
          <a:xfrm>
            <a:off x="1858010" y="5429885"/>
            <a:ext cx="215900" cy="391795"/>
            <a:chOff x="2883" y="8402"/>
            <a:chExt cx="340" cy="617"/>
          </a:xfrm>
        </p:grpSpPr>
        <p:sp>
          <p:nvSpPr>
            <p:cNvPr id="106" name="熊大的PPT宝库39"/>
            <p:cNvSpPr/>
            <p:nvPr/>
          </p:nvSpPr>
          <p:spPr>
            <a:xfrm rot="8100000">
              <a:off x="2883" y="8402"/>
              <a:ext cx="340" cy="340"/>
            </a:xfrm>
            <a:prstGeom prst="teardrop">
              <a:avLst/>
            </a:prstGeom>
            <a:solidFill>
              <a:srgbClr val="FFFFFF"/>
            </a:solidFill>
            <a:ln w="28575">
              <a:gradFill>
                <a:gsLst>
                  <a:gs pos="0">
                    <a:srgbClr val="B3D4FE"/>
                  </a:gs>
                  <a:gs pos="100000">
                    <a:srgbClr val="3368FF"/>
                  </a:gs>
                </a:gsLst>
                <a:lin ang="5400000" scaled="1"/>
              </a:grad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sp>
          <p:nvSpPr>
            <p:cNvPr id="107" name="熊大的PPT宝库40"/>
            <p:cNvSpPr/>
            <p:nvPr/>
          </p:nvSpPr>
          <p:spPr>
            <a:xfrm>
              <a:off x="2927" y="8907"/>
              <a:ext cx="253" cy="113"/>
            </a:xfrm>
            <a:prstGeom prst="ellipse">
              <a:avLst/>
            </a:prstGeom>
            <a:gradFill>
              <a:gsLst>
                <a:gs pos="0">
                  <a:srgbClr val="B3D4FE"/>
                </a:gs>
                <a:gs pos="100000">
                  <a:srgbClr val="3368FF"/>
                </a:gs>
              </a:gsLst>
              <a:lin ang="0" scaled="0"/>
            </a:gradFill>
            <a:ln>
              <a:noFill/>
            </a:ln>
          </p:spPr>
          <p:txBody>
            <a:bodyPr wrap="square" lIns="0" tIns="0" rIns="0" bIns="0" rtlCol="0" anchor="t">
              <a:spAutoFit/>
            </a:bodyPr>
            <a:lstStyle/>
            <a:p>
              <a:pPr algn="just" defTabSz="731520">
                <a:lnSpc>
                  <a:spcPct val="130000"/>
                </a:lnSpc>
                <a:defRPr>
                  <a:latin typeface="微软雅黑"/>
                  <a:ea typeface="微软雅黑"/>
                  <a:cs typeface="微软雅黑"/>
                </a:defRPr>
              </a:pPr>
              <a:endParaRPr lang="zh-CN" altLang="en-US" sz="1400" dirty="0">
                <a:solidFill>
                  <a:srgbClr val="383838"/>
                </a:solidFill>
                <a:latin typeface="微软雅黑"/>
                <a:ea typeface="微软雅黑"/>
                <a:cs typeface="微软雅黑"/>
              </a:endParaRPr>
            </a:p>
          </p:txBody>
        </p:sp>
      </p:grpSp>
      <p:sp>
        <p:nvSpPr>
          <p:cNvPr id="108" name="文本框 107"/>
          <p:cNvSpPr txBox="1"/>
          <p:nvPr/>
        </p:nvSpPr>
        <p:spPr>
          <a:xfrm>
            <a:off x="1784350" y="5408295"/>
            <a:ext cx="364490" cy="24511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en-US" altLang="zh-CN" sz="1000" b="1">
                <a:solidFill>
                  <a:srgbClr val="383838"/>
                </a:solidFill>
                <a:latin typeface="微软雅黑"/>
                <a:ea typeface="微软雅黑"/>
                <a:cs typeface="微软雅黑"/>
              </a:rPr>
              <a:t>1</a:t>
            </a:r>
            <a:endParaRPr lang="en-US" altLang="zh-CN" sz="1000" b="1">
              <a:solidFill>
                <a:srgbClr val="383838"/>
              </a:solidFill>
              <a:latin typeface="微软雅黑"/>
              <a:ea typeface="微软雅黑"/>
              <a:cs typeface="微软雅黑"/>
            </a:endParaRPr>
          </a:p>
        </p:txBody>
      </p:sp>
      <p:sp>
        <p:nvSpPr>
          <p:cNvPr id="109" name="文本框 108"/>
          <p:cNvSpPr txBox="1"/>
          <p:nvPr/>
        </p:nvSpPr>
        <p:spPr>
          <a:xfrm>
            <a:off x="3935730" y="5393055"/>
            <a:ext cx="364490" cy="24511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en-US" altLang="zh-CN" sz="1000" b="1">
                <a:solidFill>
                  <a:srgbClr val="383838"/>
                </a:solidFill>
                <a:latin typeface="微软雅黑"/>
                <a:ea typeface="微软雅黑"/>
                <a:cs typeface="微软雅黑"/>
              </a:rPr>
              <a:t>2</a:t>
            </a:r>
            <a:endParaRPr lang="en-US" altLang="zh-CN" sz="1000" b="1">
              <a:solidFill>
                <a:srgbClr val="383838"/>
              </a:solidFill>
              <a:latin typeface="微软雅黑"/>
              <a:ea typeface="微软雅黑"/>
              <a:cs typeface="微软雅黑"/>
            </a:endParaRPr>
          </a:p>
        </p:txBody>
      </p:sp>
      <p:sp>
        <p:nvSpPr>
          <p:cNvPr id="110" name="文本框 109"/>
          <p:cNvSpPr txBox="1"/>
          <p:nvPr/>
        </p:nvSpPr>
        <p:spPr>
          <a:xfrm>
            <a:off x="6042660" y="5389245"/>
            <a:ext cx="364490" cy="24511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en-US" altLang="zh-CN" sz="1000" b="1">
                <a:solidFill>
                  <a:srgbClr val="383838"/>
                </a:solidFill>
                <a:latin typeface="微软雅黑"/>
                <a:ea typeface="微软雅黑"/>
                <a:cs typeface="微软雅黑"/>
              </a:rPr>
              <a:t>3</a:t>
            </a:r>
            <a:endParaRPr lang="en-US" altLang="zh-CN" sz="1000" b="1">
              <a:solidFill>
                <a:srgbClr val="383838"/>
              </a:solidFill>
              <a:latin typeface="微软雅黑"/>
              <a:ea typeface="微软雅黑"/>
              <a:cs typeface="微软雅黑"/>
            </a:endParaRPr>
          </a:p>
        </p:txBody>
      </p:sp>
      <p:sp>
        <p:nvSpPr>
          <p:cNvPr id="111" name="文本框 110"/>
          <p:cNvSpPr txBox="1"/>
          <p:nvPr/>
        </p:nvSpPr>
        <p:spPr>
          <a:xfrm>
            <a:off x="8143875" y="5385435"/>
            <a:ext cx="364490" cy="245110"/>
          </a:xfrm>
          <a:prstGeom prst="rect">
            <a:avLst/>
          </a:prstGeom>
          <a:noFill/>
        </p:spPr>
        <p:txBody>
          <a:bodyPr wrap="square" rtlCol="0" lIns="0" rIns="0" tIns="0" bIns="0">
            <a:spAutoFit/>
          </a:bodyPr>
          <a:p>
            <a:pPr algn="ctr">
              <a:defRPr>
                <a:latin typeface="微软雅黑"/>
                <a:ea typeface="微软雅黑"/>
                <a:cs typeface="微软雅黑"/>
              </a:defRPr>
            </a:pPr>
            <a:r>
              <a:rPr lang="en-US" altLang="zh-CN" sz="1000" b="1">
                <a:solidFill>
                  <a:srgbClr val="0042FF"/>
                </a:solidFill>
                <a:latin typeface="微软雅黑"/>
                <a:ea typeface="微软雅黑"/>
                <a:cs typeface="微软雅黑"/>
              </a:rPr>
              <a:t>4</a:t>
            </a:r>
            <a:endParaRPr lang="en-US" altLang="zh-CN" sz="1000" b="1">
              <a:solidFill>
                <a:srgbClr val="0042FF"/>
              </a:solidFill>
              <a:latin typeface="微软雅黑"/>
              <a:ea typeface="微软雅黑"/>
              <a:cs typeface="微软雅黑"/>
            </a:endParaRPr>
          </a:p>
        </p:txBody>
      </p:sp>
      <p:sp>
        <p:nvSpPr>
          <p:cNvPr id="113" name="文本框 112"/>
          <p:cNvSpPr txBox="1"/>
          <p:nvPr/>
        </p:nvSpPr>
        <p:spPr>
          <a:xfrm>
            <a:off x="10250805" y="5393055"/>
            <a:ext cx="364490" cy="245110"/>
          </a:xfrm>
          <a:prstGeom prst="rect">
            <a:avLst/>
          </a:prstGeom>
          <a:noFill/>
        </p:spPr>
        <p:txBody>
          <a:bodyPr wrap="square" rtlCol="0" lIns="0" rIns="0" tIns="0" bIns="0">
            <a:spAutoFit/>
          </a:bodyPr>
          <a:p>
            <a:pPr algn="ctr">
              <a:defRPr>
                <a:solidFill>
                  <a:srgbClr val="383838"/>
                </a:solidFill>
                <a:latin typeface="微软雅黑"/>
                <a:ea typeface="微软雅黑"/>
                <a:cs typeface="微软雅黑"/>
              </a:defRPr>
            </a:pPr>
            <a:r>
              <a:rPr lang="en-US" altLang="zh-CN" sz="1000" b="1">
                <a:solidFill>
                  <a:srgbClr val="383838"/>
                </a:solidFill>
                <a:latin typeface="微软雅黑"/>
                <a:ea typeface="微软雅黑"/>
                <a:cs typeface="微软雅黑"/>
              </a:rPr>
              <a:t>5</a:t>
            </a:r>
            <a:endParaRPr lang="en-US" altLang="zh-CN" sz="1000" b="1">
              <a:solidFill>
                <a:srgbClr val="383838"/>
              </a:solidFill>
              <a:latin typeface="微软雅黑"/>
              <a:ea typeface="微软雅黑"/>
              <a:cs typeface="微软雅黑"/>
            </a:endParaRPr>
          </a:p>
        </p:txBody>
      </p:sp>
      <p:sp>
        <p:nvSpPr>
          <p:cNvPr id="114" name="文本框 113"/>
          <p:cNvSpPr txBox="1"/>
          <p:nvPr/>
        </p:nvSpPr>
        <p:spPr>
          <a:xfrm>
            <a:off x="1166813" y="5927090"/>
            <a:ext cx="1599565" cy="58356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基础信息化</a:t>
            </a:r>
            <a:endParaRPr lang="zh-CN" altLang="en-US" sz="16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建设期</a:t>
            </a:r>
            <a:endParaRPr lang="zh-CN" altLang="en-US" sz="1600" b="1">
              <a:solidFill>
                <a:srgbClr val="0042FF"/>
              </a:solidFill>
              <a:latin typeface="微软雅黑"/>
              <a:ea typeface="微软雅黑"/>
              <a:cs typeface="微软雅黑"/>
              <a:sym typeface="微软雅黑"/>
            </a:endParaRPr>
          </a:p>
        </p:txBody>
      </p:sp>
      <p:sp>
        <p:nvSpPr>
          <p:cNvPr id="115" name="文本框 114"/>
          <p:cNvSpPr txBox="1"/>
          <p:nvPr/>
        </p:nvSpPr>
        <p:spPr>
          <a:xfrm>
            <a:off x="3285173" y="5927090"/>
            <a:ext cx="1599565" cy="58356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开放平台</a:t>
            </a:r>
            <a:endParaRPr lang="zh-CN" altLang="en-US" sz="16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集成阶段</a:t>
            </a:r>
            <a:endParaRPr lang="zh-CN" altLang="en-US" sz="1600" b="1">
              <a:solidFill>
                <a:srgbClr val="0042FF"/>
              </a:solidFill>
              <a:latin typeface="微软雅黑"/>
              <a:ea typeface="微软雅黑"/>
              <a:cs typeface="微软雅黑"/>
              <a:sym typeface="微软雅黑"/>
            </a:endParaRPr>
          </a:p>
        </p:txBody>
      </p:sp>
      <p:sp>
        <p:nvSpPr>
          <p:cNvPr id="116" name="文本框 115"/>
          <p:cNvSpPr txBox="1"/>
          <p:nvPr/>
        </p:nvSpPr>
        <p:spPr>
          <a:xfrm>
            <a:off x="5410835" y="5876290"/>
            <a:ext cx="1599565" cy="58356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服务化</a:t>
            </a:r>
            <a:endParaRPr lang="zh-CN" altLang="en-US" sz="16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拆分阶段</a:t>
            </a:r>
            <a:endParaRPr lang="zh-CN" altLang="en-US" sz="1600" b="1">
              <a:solidFill>
                <a:srgbClr val="0042FF"/>
              </a:solidFill>
              <a:latin typeface="微软雅黑"/>
              <a:ea typeface="微软雅黑"/>
              <a:cs typeface="微软雅黑"/>
              <a:sym typeface="微软雅黑"/>
            </a:endParaRPr>
          </a:p>
        </p:txBody>
      </p:sp>
      <p:sp>
        <p:nvSpPr>
          <p:cNvPr id="117" name="文本框 116"/>
          <p:cNvSpPr txBox="1"/>
          <p:nvPr/>
        </p:nvSpPr>
        <p:spPr>
          <a:xfrm>
            <a:off x="7494588" y="5876290"/>
            <a:ext cx="1599565" cy="583565"/>
          </a:xfrm>
          <a:prstGeom prst="rect">
            <a:avLst/>
          </a:prstGeom>
          <a:noFill/>
        </p:spPr>
        <p:txBody>
          <a:bodyPr wrap="square" rtlCol="0">
            <a:spAutoFit/>
          </a:bodyPr>
          <a:p>
            <a:pPr algn="ctr">
              <a:defRPr>
                <a:latin typeface="微软雅黑"/>
                <a:ea typeface="微软雅黑"/>
                <a:cs typeface="微软雅黑"/>
              </a:defRPr>
            </a:pPr>
            <a:r>
              <a:rPr lang="en-US" altLang="zh-CN" sz="1600" b="1">
                <a:solidFill>
                  <a:srgbClr val="0042FF"/>
                </a:solidFill>
                <a:latin typeface="微软雅黑"/>
                <a:ea typeface="微软雅黑"/>
                <a:cs typeface="微软雅黑"/>
                <a:sym typeface="微软雅黑"/>
              </a:rPr>
              <a:t>AI</a:t>
            </a:r>
            <a:r>
              <a:rPr lang="zh-CN" altLang="en-US" sz="1600" b="1">
                <a:solidFill>
                  <a:srgbClr val="0042FF"/>
                </a:solidFill>
                <a:latin typeface="微软雅黑"/>
                <a:ea typeface="微软雅黑"/>
                <a:cs typeface="微软雅黑"/>
                <a:sym typeface="微软雅黑"/>
              </a:rPr>
              <a:t>中台</a:t>
            </a:r>
            <a:endParaRPr lang="zh-CN" altLang="en-US" sz="16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建设阶段</a:t>
            </a:r>
            <a:endParaRPr lang="zh-CN" altLang="en-US" sz="1600" b="1">
              <a:solidFill>
                <a:srgbClr val="0042FF"/>
              </a:solidFill>
              <a:latin typeface="微软雅黑"/>
              <a:ea typeface="微软雅黑"/>
              <a:cs typeface="微软雅黑"/>
              <a:sym typeface="微软雅黑"/>
            </a:endParaRPr>
          </a:p>
        </p:txBody>
      </p:sp>
      <p:sp>
        <p:nvSpPr>
          <p:cNvPr id="118" name="文本框 117"/>
          <p:cNvSpPr txBox="1"/>
          <p:nvPr/>
        </p:nvSpPr>
        <p:spPr>
          <a:xfrm>
            <a:off x="9648190" y="5876290"/>
            <a:ext cx="1599565" cy="58356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生态智能</a:t>
            </a:r>
            <a:endParaRPr lang="zh-CN" altLang="en-US" sz="1600" b="1">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融合期</a:t>
            </a:r>
            <a:endParaRPr lang="zh-CN" altLang="en-US" sz="1600" b="1">
              <a:solidFill>
                <a:srgbClr val="0042FF"/>
              </a:solidFill>
              <a:latin typeface="微软雅黑"/>
              <a:ea typeface="微软雅黑"/>
              <a:cs typeface="微软雅黑"/>
              <a:sym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3" name="组合 2"/>
          <p:cNvGrpSpPr/>
          <p:nvPr/>
        </p:nvGrpSpPr>
        <p:grpSpPr>
          <a:xfrm>
            <a:off x="8738235" y="348615"/>
            <a:ext cx="3219450" cy="332740"/>
            <a:chOff x="13761" y="549"/>
            <a:chExt cx="5070" cy="524"/>
          </a:xfrm>
        </p:grpSpPr>
        <p:pic>
          <p:nvPicPr>
            <p:cNvPr id="12" name="图片 1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3" name="文本框 12"/>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工作汇报时间轴</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Arrow"/>
          <p:cNvSpPr/>
          <p:nvPr/>
        </p:nvSpPr>
        <p:spPr>
          <a:xfrm>
            <a:off x="454762" y="1392501"/>
            <a:ext cx="11282470" cy="635001"/>
          </a:xfrm>
          <a:prstGeom prst="rightArrow">
            <a:avLst>
              <a:gd name="adj1" fmla="val 100000"/>
              <a:gd name="adj2" fmla="val 26560"/>
            </a:avLst>
          </a:prstGeom>
          <a:gradFill>
            <a:gsLst>
              <a:gs pos="100000">
                <a:srgbClr val="E6E6E6">
                  <a:alpha val="20000"/>
                </a:srgbClr>
              </a:gs>
              <a:gs pos="0">
                <a:srgbClr val="E6E6E6"/>
              </a:gs>
            </a:gsLst>
            <a:lin ang="13500000" scaled="0"/>
          </a:gradFill>
          <a:ln w="12700">
            <a:miter lim="400000"/>
          </a:ln>
        </p:spPr>
        <p:txBody>
          <a:bodyPr lIns="0" tIns="0" rIns="0" bIns="0" anchor="ctr" wrap="square">
            <a:noAutofit/>
          </a:bodyPr>
          <a:lstStyle/>
          <a:p>
            <a:pPr>
              <a:defRPr>
                <a:latin typeface="微软雅黑"/>
                <a:ea typeface="微软雅黑"/>
                <a:cs typeface="微软雅黑"/>
              </a:defRPr>
              <a:lnSpc>
                <a:spcPts val="1120"/>
              </a:lnSpc>
              <a:spcBef>
                <a:spcPts val="0"/>
              </a:spcBef>
              <a:spcAft>
                <a:spcPts val="0"/>
              </a:spcAft>
            </a:pPr>
            <a:r>
              <a:rPr lang="en-US" sz="1000">
                <a:latin typeface="微软雅黑"/>
                <a:ea typeface="微软雅黑"/>
                <a:cs typeface="微软雅黑"/>
              </a:rPr>
              <a:t>.</a:t>
            </a:r>
            <a:endParaRPr lang="en-US" sz="1000">
              <a:latin typeface="微软雅黑"/>
              <a:ea typeface="微软雅黑"/>
              <a:cs typeface="微软雅黑"/>
            </a:endParaRPr>
          </a:p>
        </p:txBody>
      </p:sp>
      <p:sp>
        <p:nvSpPr>
          <p:cNvPr id="7" name="Shape"/>
          <p:cNvSpPr/>
          <p:nvPr/>
        </p:nvSpPr>
        <p:spPr>
          <a:xfrm>
            <a:off x="2749459" y="1177551"/>
            <a:ext cx="1221489" cy="1064884"/>
          </a:xfrm>
          <a:custGeom>
            <a:avLst/>
            <a:gdLst/>
            <a:ahLst/>
            <a:cxnLst>
              <a:cxn ang="0">
                <a:pos x="wd2" y="hd2"/>
              </a:cxn>
              <a:cxn ang="5400000">
                <a:pos x="wd2" y="hd2"/>
              </a:cxn>
              <a:cxn ang="10800000">
                <a:pos x="wd2" y="hd2"/>
              </a:cxn>
              <a:cxn ang="16200000">
                <a:pos x="wd2" y="hd2"/>
              </a:cxn>
            </a:cxnLst>
            <a:rect l="0" t="0" r="r" b="b"/>
            <a:pathLst>
              <a:path w="21585" h="21577" extrusionOk="0">
                <a:moveTo>
                  <a:pt x="434" y="0"/>
                </a:moveTo>
                <a:cubicBezTo>
                  <a:pt x="273" y="-8"/>
                  <a:pt x="123" y="94"/>
                  <a:pt x="51" y="260"/>
                </a:cubicBezTo>
                <a:cubicBezTo>
                  <a:pt x="0" y="379"/>
                  <a:pt x="-4" y="519"/>
                  <a:pt x="42" y="641"/>
                </a:cubicBezTo>
                <a:lnTo>
                  <a:pt x="4808" y="10418"/>
                </a:lnTo>
                <a:cubicBezTo>
                  <a:pt x="4865" y="10529"/>
                  <a:pt x="4895" y="10657"/>
                  <a:pt x="4893" y="10786"/>
                </a:cubicBezTo>
                <a:cubicBezTo>
                  <a:pt x="4892" y="10900"/>
                  <a:pt x="4866" y="11012"/>
                  <a:pt x="4819" y="11112"/>
                </a:cubicBezTo>
                <a:lnTo>
                  <a:pt x="20" y="21002"/>
                </a:lnTo>
                <a:cubicBezTo>
                  <a:pt x="-15" y="21121"/>
                  <a:pt x="-3" y="21251"/>
                  <a:pt x="53" y="21359"/>
                </a:cubicBezTo>
                <a:cubicBezTo>
                  <a:pt x="129" y="21507"/>
                  <a:pt x="274" y="21591"/>
                  <a:pt x="423" y="21573"/>
                </a:cubicBezTo>
                <a:lnTo>
                  <a:pt x="16020" y="21577"/>
                </a:lnTo>
                <a:cubicBezTo>
                  <a:pt x="16159" y="21582"/>
                  <a:pt x="16296" y="21534"/>
                  <a:pt x="16410" y="21441"/>
                </a:cubicBezTo>
                <a:cubicBezTo>
                  <a:pt x="16492" y="21373"/>
                  <a:pt x="16558" y="21285"/>
                  <a:pt x="16604" y="21182"/>
                </a:cubicBezTo>
                <a:lnTo>
                  <a:pt x="21500" y="11154"/>
                </a:lnTo>
                <a:cubicBezTo>
                  <a:pt x="21556" y="11050"/>
                  <a:pt x="21585" y="10931"/>
                  <a:pt x="21585" y="10810"/>
                </a:cubicBezTo>
                <a:cubicBezTo>
                  <a:pt x="21585" y="10697"/>
                  <a:pt x="21558" y="10585"/>
                  <a:pt x="21509" y="10487"/>
                </a:cubicBezTo>
                <a:lnTo>
                  <a:pt x="16624" y="444"/>
                </a:lnTo>
                <a:cubicBezTo>
                  <a:pt x="16579" y="329"/>
                  <a:pt x="16509" y="228"/>
                  <a:pt x="16421" y="152"/>
                </a:cubicBezTo>
                <a:cubicBezTo>
                  <a:pt x="16296" y="44"/>
                  <a:pt x="16142" y="-9"/>
                  <a:pt x="15986" y="2"/>
                </a:cubicBezTo>
                <a:lnTo>
                  <a:pt x="434" y="0"/>
                </a:lnTo>
                <a:close/>
              </a:path>
            </a:pathLst>
          </a:custGeom>
          <a:gradFill flip="none" rotWithShape="1">
            <a:gsLst>
              <a:gs pos="2900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8" name="Shape"/>
          <p:cNvSpPr/>
          <p:nvPr/>
        </p:nvSpPr>
        <p:spPr>
          <a:xfrm>
            <a:off x="3922093" y="1177551"/>
            <a:ext cx="1221489" cy="1064884"/>
          </a:xfrm>
          <a:custGeom>
            <a:avLst/>
            <a:gdLst/>
            <a:ahLst/>
            <a:cxnLst>
              <a:cxn ang="0">
                <a:pos x="wd2" y="hd2"/>
              </a:cxn>
              <a:cxn ang="5400000">
                <a:pos x="wd2" y="hd2"/>
              </a:cxn>
              <a:cxn ang="10800000">
                <a:pos x="wd2" y="hd2"/>
              </a:cxn>
              <a:cxn ang="16200000">
                <a:pos x="wd2" y="hd2"/>
              </a:cxn>
            </a:cxnLst>
            <a:rect l="0" t="0" r="r" b="b"/>
            <a:pathLst>
              <a:path w="21585" h="21577" extrusionOk="0">
                <a:moveTo>
                  <a:pt x="434" y="0"/>
                </a:moveTo>
                <a:cubicBezTo>
                  <a:pt x="273" y="-8"/>
                  <a:pt x="123" y="94"/>
                  <a:pt x="51" y="260"/>
                </a:cubicBezTo>
                <a:cubicBezTo>
                  <a:pt x="0" y="379"/>
                  <a:pt x="-4" y="519"/>
                  <a:pt x="42" y="641"/>
                </a:cubicBezTo>
                <a:lnTo>
                  <a:pt x="4808" y="10418"/>
                </a:lnTo>
                <a:cubicBezTo>
                  <a:pt x="4865" y="10529"/>
                  <a:pt x="4895" y="10657"/>
                  <a:pt x="4893" y="10786"/>
                </a:cubicBezTo>
                <a:cubicBezTo>
                  <a:pt x="4892" y="10900"/>
                  <a:pt x="4866" y="11012"/>
                  <a:pt x="4819" y="11112"/>
                </a:cubicBezTo>
                <a:lnTo>
                  <a:pt x="20" y="21002"/>
                </a:lnTo>
                <a:cubicBezTo>
                  <a:pt x="-15" y="21121"/>
                  <a:pt x="-3" y="21251"/>
                  <a:pt x="53" y="21359"/>
                </a:cubicBezTo>
                <a:cubicBezTo>
                  <a:pt x="129" y="21507"/>
                  <a:pt x="274" y="21591"/>
                  <a:pt x="423" y="21573"/>
                </a:cubicBezTo>
                <a:lnTo>
                  <a:pt x="16020" y="21577"/>
                </a:lnTo>
                <a:cubicBezTo>
                  <a:pt x="16159" y="21582"/>
                  <a:pt x="16296" y="21534"/>
                  <a:pt x="16410" y="21441"/>
                </a:cubicBezTo>
                <a:cubicBezTo>
                  <a:pt x="16492" y="21373"/>
                  <a:pt x="16558" y="21285"/>
                  <a:pt x="16604" y="21182"/>
                </a:cubicBezTo>
                <a:lnTo>
                  <a:pt x="21500" y="11154"/>
                </a:lnTo>
                <a:cubicBezTo>
                  <a:pt x="21556" y="11050"/>
                  <a:pt x="21585" y="10931"/>
                  <a:pt x="21585" y="10810"/>
                </a:cubicBezTo>
                <a:cubicBezTo>
                  <a:pt x="21585" y="10697"/>
                  <a:pt x="21558" y="10585"/>
                  <a:pt x="21509" y="10487"/>
                </a:cubicBezTo>
                <a:lnTo>
                  <a:pt x="16624" y="444"/>
                </a:lnTo>
                <a:cubicBezTo>
                  <a:pt x="16579" y="329"/>
                  <a:pt x="16509" y="228"/>
                  <a:pt x="16421" y="152"/>
                </a:cubicBezTo>
                <a:cubicBezTo>
                  <a:pt x="16296" y="44"/>
                  <a:pt x="16142" y="-9"/>
                  <a:pt x="15986" y="2"/>
                </a:cubicBezTo>
                <a:lnTo>
                  <a:pt x="434" y="0"/>
                </a:lnTo>
                <a:close/>
              </a:path>
            </a:pathLst>
          </a:custGeom>
          <a:gradFill flip="none" rotWithShape="1">
            <a:gsLst>
              <a:gs pos="29000">
                <a:srgbClr val="3368FF"/>
              </a:gs>
              <a:gs pos="98000">
                <a:srgbClr val="668E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13" name="Shape"/>
          <p:cNvSpPr/>
          <p:nvPr/>
        </p:nvSpPr>
        <p:spPr>
          <a:xfrm>
            <a:off x="5094726" y="1177551"/>
            <a:ext cx="1221489" cy="1064884"/>
          </a:xfrm>
          <a:custGeom>
            <a:avLst/>
            <a:gdLst/>
            <a:ahLst/>
            <a:cxnLst>
              <a:cxn ang="0">
                <a:pos x="wd2" y="hd2"/>
              </a:cxn>
              <a:cxn ang="5400000">
                <a:pos x="wd2" y="hd2"/>
              </a:cxn>
              <a:cxn ang="10800000">
                <a:pos x="wd2" y="hd2"/>
              </a:cxn>
              <a:cxn ang="16200000">
                <a:pos x="wd2" y="hd2"/>
              </a:cxn>
            </a:cxnLst>
            <a:rect l="0" t="0" r="r" b="b"/>
            <a:pathLst>
              <a:path w="21585" h="21577" extrusionOk="0">
                <a:moveTo>
                  <a:pt x="434" y="0"/>
                </a:moveTo>
                <a:cubicBezTo>
                  <a:pt x="273" y="-8"/>
                  <a:pt x="123" y="94"/>
                  <a:pt x="51" y="260"/>
                </a:cubicBezTo>
                <a:cubicBezTo>
                  <a:pt x="0" y="379"/>
                  <a:pt x="-4" y="519"/>
                  <a:pt x="42" y="641"/>
                </a:cubicBezTo>
                <a:lnTo>
                  <a:pt x="4808" y="10418"/>
                </a:lnTo>
                <a:cubicBezTo>
                  <a:pt x="4865" y="10529"/>
                  <a:pt x="4895" y="10657"/>
                  <a:pt x="4893" y="10786"/>
                </a:cubicBezTo>
                <a:cubicBezTo>
                  <a:pt x="4892" y="10900"/>
                  <a:pt x="4866" y="11012"/>
                  <a:pt x="4819" y="11112"/>
                </a:cubicBezTo>
                <a:lnTo>
                  <a:pt x="20" y="21002"/>
                </a:lnTo>
                <a:cubicBezTo>
                  <a:pt x="-15" y="21121"/>
                  <a:pt x="-3" y="21251"/>
                  <a:pt x="53" y="21359"/>
                </a:cubicBezTo>
                <a:cubicBezTo>
                  <a:pt x="129" y="21507"/>
                  <a:pt x="274" y="21591"/>
                  <a:pt x="423" y="21573"/>
                </a:cubicBezTo>
                <a:lnTo>
                  <a:pt x="16020" y="21577"/>
                </a:lnTo>
                <a:cubicBezTo>
                  <a:pt x="16159" y="21582"/>
                  <a:pt x="16296" y="21534"/>
                  <a:pt x="16410" y="21441"/>
                </a:cubicBezTo>
                <a:cubicBezTo>
                  <a:pt x="16492" y="21373"/>
                  <a:pt x="16558" y="21285"/>
                  <a:pt x="16604" y="21182"/>
                </a:cubicBezTo>
                <a:lnTo>
                  <a:pt x="21500" y="11154"/>
                </a:lnTo>
                <a:cubicBezTo>
                  <a:pt x="21556" y="11050"/>
                  <a:pt x="21585" y="10931"/>
                  <a:pt x="21585" y="10810"/>
                </a:cubicBezTo>
                <a:cubicBezTo>
                  <a:pt x="21585" y="10697"/>
                  <a:pt x="21558" y="10585"/>
                  <a:pt x="21509" y="10487"/>
                </a:cubicBezTo>
                <a:lnTo>
                  <a:pt x="16624" y="444"/>
                </a:lnTo>
                <a:cubicBezTo>
                  <a:pt x="16579" y="329"/>
                  <a:pt x="16509" y="228"/>
                  <a:pt x="16421" y="152"/>
                </a:cubicBezTo>
                <a:cubicBezTo>
                  <a:pt x="16296" y="44"/>
                  <a:pt x="16142" y="-9"/>
                  <a:pt x="15986" y="2"/>
                </a:cubicBezTo>
                <a:lnTo>
                  <a:pt x="434" y="0"/>
                </a:lnTo>
                <a:close/>
              </a:path>
            </a:pathLst>
          </a:custGeom>
          <a:gradFill flip="none" rotWithShape="1">
            <a:gsLst>
              <a:gs pos="2900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14" name="Shape"/>
          <p:cNvSpPr/>
          <p:nvPr/>
        </p:nvSpPr>
        <p:spPr>
          <a:xfrm>
            <a:off x="6267359" y="1177551"/>
            <a:ext cx="1221489" cy="1064884"/>
          </a:xfrm>
          <a:custGeom>
            <a:avLst/>
            <a:gdLst/>
            <a:ahLst/>
            <a:cxnLst>
              <a:cxn ang="0">
                <a:pos x="wd2" y="hd2"/>
              </a:cxn>
              <a:cxn ang="5400000">
                <a:pos x="wd2" y="hd2"/>
              </a:cxn>
              <a:cxn ang="10800000">
                <a:pos x="wd2" y="hd2"/>
              </a:cxn>
              <a:cxn ang="16200000">
                <a:pos x="wd2" y="hd2"/>
              </a:cxn>
            </a:cxnLst>
            <a:rect l="0" t="0" r="r" b="b"/>
            <a:pathLst>
              <a:path w="21585" h="21577" extrusionOk="0">
                <a:moveTo>
                  <a:pt x="434" y="0"/>
                </a:moveTo>
                <a:cubicBezTo>
                  <a:pt x="273" y="-8"/>
                  <a:pt x="123" y="94"/>
                  <a:pt x="51" y="260"/>
                </a:cubicBezTo>
                <a:cubicBezTo>
                  <a:pt x="0" y="379"/>
                  <a:pt x="-4" y="519"/>
                  <a:pt x="42" y="641"/>
                </a:cubicBezTo>
                <a:lnTo>
                  <a:pt x="4808" y="10418"/>
                </a:lnTo>
                <a:cubicBezTo>
                  <a:pt x="4865" y="10529"/>
                  <a:pt x="4895" y="10657"/>
                  <a:pt x="4893" y="10786"/>
                </a:cubicBezTo>
                <a:cubicBezTo>
                  <a:pt x="4892" y="10900"/>
                  <a:pt x="4866" y="11012"/>
                  <a:pt x="4819" y="11112"/>
                </a:cubicBezTo>
                <a:lnTo>
                  <a:pt x="20" y="21002"/>
                </a:lnTo>
                <a:cubicBezTo>
                  <a:pt x="-15" y="21121"/>
                  <a:pt x="-3" y="21251"/>
                  <a:pt x="53" y="21359"/>
                </a:cubicBezTo>
                <a:cubicBezTo>
                  <a:pt x="129" y="21507"/>
                  <a:pt x="274" y="21591"/>
                  <a:pt x="423" y="21573"/>
                </a:cubicBezTo>
                <a:lnTo>
                  <a:pt x="16020" y="21577"/>
                </a:lnTo>
                <a:cubicBezTo>
                  <a:pt x="16159" y="21582"/>
                  <a:pt x="16296" y="21534"/>
                  <a:pt x="16410" y="21441"/>
                </a:cubicBezTo>
                <a:cubicBezTo>
                  <a:pt x="16492" y="21373"/>
                  <a:pt x="16558" y="21285"/>
                  <a:pt x="16604" y="21182"/>
                </a:cubicBezTo>
                <a:lnTo>
                  <a:pt x="21500" y="11154"/>
                </a:lnTo>
                <a:cubicBezTo>
                  <a:pt x="21556" y="11050"/>
                  <a:pt x="21585" y="10931"/>
                  <a:pt x="21585" y="10810"/>
                </a:cubicBezTo>
                <a:cubicBezTo>
                  <a:pt x="21585" y="10697"/>
                  <a:pt x="21558" y="10585"/>
                  <a:pt x="21509" y="10487"/>
                </a:cubicBezTo>
                <a:lnTo>
                  <a:pt x="16624" y="444"/>
                </a:lnTo>
                <a:cubicBezTo>
                  <a:pt x="16579" y="329"/>
                  <a:pt x="16509" y="228"/>
                  <a:pt x="16421" y="152"/>
                </a:cubicBezTo>
                <a:cubicBezTo>
                  <a:pt x="16296" y="44"/>
                  <a:pt x="16142" y="-9"/>
                  <a:pt x="15986" y="2"/>
                </a:cubicBezTo>
                <a:lnTo>
                  <a:pt x="434" y="0"/>
                </a:lnTo>
                <a:close/>
              </a:path>
            </a:pathLst>
          </a:custGeom>
          <a:gradFill flip="none" rotWithShape="1">
            <a:gsLst>
              <a:gs pos="29000">
                <a:srgbClr val="3368FF"/>
              </a:gs>
              <a:gs pos="98000">
                <a:srgbClr val="668E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17" name="Shape"/>
          <p:cNvSpPr/>
          <p:nvPr/>
        </p:nvSpPr>
        <p:spPr>
          <a:xfrm>
            <a:off x="7439992" y="1177551"/>
            <a:ext cx="1221489" cy="1064884"/>
          </a:xfrm>
          <a:custGeom>
            <a:avLst/>
            <a:gdLst/>
            <a:ahLst/>
            <a:cxnLst>
              <a:cxn ang="0">
                <a:pos x="wd2" y="hd2"/>
              </a:cxn>
              <a:cxn ang="5400000">
                <a:pos x="wd2" y="hd2"/>
              </a:cxn>
              <a:cxn ang="10800000">
                <a:pos x="wd2" y="hd2"/>
              </a:cxn>
              <a:cxn ang="16200000">
                <a:pos x="wd2" y="hd2"/>
              </a:cxn>
            </a:cxnLst>
            <a:rect l="0" t="0" r="r" b="b"/>
            <a:pathLst>
              <a:path w="21585" h="21577" extrusionOk="0">
                <a:moveTo>
                  <a:pt x="434" y="0"/>
                </a:moveTo>
                <a:cubicBezTo>
                  <a:pt x="273" y="-8"/>
                  <a:pt x="123" y="94"/>
                  <a:pt x="51" y="260"/>
                </a:cubicBezTo>
                <a:cubicBezTo>
                  <a:pt x="0" y="379"/>
                  <a:pt x="-4" y="519"/>
                  <a:pt x="42" y="641"/>
                </a:cubicBezTo>
                <a:lnTo>
                  <a:pt x="4808" y="10418"/>
                </a:lnTo>
                <a:cubicBezTo>
                  <a:pt x="4865" y="10529"/>
                  <a:pt x="4895" y="10657"/>
                  <a:pt x="4893" y="10786"/>
                </a:cubicBezTo>
                <a:cubicBezTo>
                  <a:pt x="4892" y="10900"/>
                  <a:pt x="4866" y="11012"/>
                  <a:pt x="4819" y="11112"/>
                </a:cubicBezTo>
                <a:lnTo>
                  <a:pt x="20" y="21002"/>
                </a:lnTo>
                <a:cubicBezTo>
                  <a:pt x="-15" y="21121"/>
                  <a:pt x="-3" y="21251"/>
                  <a:pt x="53" y="21359"/>
                </a:cubicBezTo>
                <a:cubicBezTo>
                  <a:pt x="129" y="21507"/>
                  <a:pt x="274" y="21591"/>
                  <a:pt x="423" y="21573"/>
                </a:cubicBezTo>
                <a:lnTo>
                  <a:pt x="16020" y="21577"/>
                </a:lnTo>
                <a:cubicBezTo>
                  <a:pt x="16159" y="21582"/>
                  <a:pt x="16296" y="21534"/>
                  <a:pt x="16410" y="21441"/>
                </a:cubicBezTo>
                <a:cubicBezTo>
                  <a:pt x="16492" y="21373"/>
                  <a:pt x="16558" y="21285"/>
                  <a:pt x="16604" y="21182"/>
                </a:cubicBezTo>
                <a:lnTo>
                  <a:pt x="21500" y="11154"/>
                </a:lnTo>
                <a:cubicBezTo>
                  <a:pt x="21556" y="11050"/>
                  <a:pt x="21585" y="10931"/>
                  <a:pt x="21585" y="10810"/>
                </a:cubicBezTo>
                <a:cubicBezTo>
                  <a:pt x="21585" y="10697"/>
                  <a:pt x="21558" y="10585"/>
                  <a:pt x="21509" y="10487"/>
                </a:cubicBezTo>
                <a:lnTo>
                  <a:pt x="16624" y="444"/>
                </a:lnTo>
                <a:cubicBezTo>
                  <a:pt x="16579" y="329"/>
                  <a:pt x="16509" y="228"/>
                  <a:pt x="16421" y="152"/>
                </a:cubicBezTo>
                <a:cubicBezTo>
                  <a:pt x="16296" y="44"/>
                  <a:pt x="16142" y="-9"/>
                  <a:pt x="15986" y="2"/>
                </a:cubicBezTo>
                <a:lnTo>
                  <a:pt x="434" y="0"/>
                </a:lnTo>
                <a:close/>
              </a:path>
            </a:pathLst>
          </a:custGeom>
          <a:gradFill flip="none" rotWithShape="1">
            <a:gsLst>
              <a:gs pos="29000">
                <a:srgbClr val="3368FF"/>
              </a:gs>
              <a:gs pos="99000">
                <a:srgbClr val="B3D4FE"/>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latin typeface="微软雅黑"/>
                <a:ea typeface="微软雅黑"/>
                <a:cs typeface="微软雅黑"/>
              </a:defRPr>
            </a:pPr>
            <a:endParaRPr kumimoji="1" lang="en-US">
              <a:latin typeface="微软雅黑"/>
              <a:ea typeface="微软雅黑"/>
              <a:cs typeface="微软雅黑"/>
              <a:sym typeface="微软雅黑"/>
            </a:endParaRPr>
          </a:p>
        </p:txBody>
      </p:sp>
      <p:sp>
        <p:nvSpPr>
          <p:cNvPr id="18" name="Shape"/>
          <p:cNvSpPr/>
          <p:nvPr/>
        </p:nvSpPr>
        <p:spPr>
          <a:xfrm>
            <a:off x="8612626" y="1177551"/>
            <a:ext cx="1221489" cy="1064884"/>
          </a:xfrm>
          <a:custGeom>
            <a:avLst/>
            <a:gdLst/>
            <a:ahLst/>
            <a:cxnLst>
              <a:cxn ang="0">
                <a:pos x="wd2" y="hd2"/>
              </a:cxn>
              <a:cxn ang="5400000">
                <a:pos x="wd2" y="hd2"/>
              </a:cxn>
              <a:cxn ang="10800000">
                <a:pos x="wd2" y="hd2"/>
              </a:cxn>
              <a:cxn ang="16200000">
                <a:pos x="wd2" y="hd2"/>
              </a:cxn>
            </a:cxnLst>
            <a:rect l="0" t="0" r="r" b="b"/>
            <a:pathLst>
              <a:path w="21585" h="21577" extrusionOk="0">
                <a:moveTo>
                  <a:pt x="434" y="0"/>
                </a:moveTo>
                <a:cubicBezTo>
                  <a:pt x="273" y="-8"/>
                  <a:pt x="123" y="94"/>
                  <a:pt x="51" y="260"/>
                </a:cubicBezTo>
                <a:cubicBezTo>
                  <a:pt x="0" y="379"/>
                  <a:pt x="-4" y="519"/>
                  <a:pt x="42" y="641"/>
                </a:cubicBezTo>
                <a:lnTo>
                  <a:pt x="4808" y="10418"/>
                </a:lnTo>
                <a:cubicBezTo>
                  <a:pt x="4865" y="10529"/>
                  <a:pt x="4895" y="10657"/>
                  <a:pt x="4893" y="10786"/>
                </a:cubicBezTo>
                <a:cubicBezTo>
                  <a:pt x="4892" y="10900"/>
                  <a:pt x="4866" y="11012"/>
                  <a:pt x="4819" y="11112"/>
                </a:cubicBezTo>
                <a:lnTo>
                  <a:pt x="20" y="21002"/>
                </a:lnTo>
                <a:cubicBezTo>
                  <a:pt x="-15" y="21121"/>
                  <a:pt x="-3" y="21251"/>
                  <a:pt x="53" y="21359"/>
                </a:cubicBezTo>
                <a:cubicBezTo>
                  <a:pt x="129" y="21507"/>
                  <a:pt x="274" y="21591"/>
                  <a:pt x="423" y="21573"/>
                </a:cubicBezTo>
                <a:lnTo>
                  <a:pt x="16020" y="21577"/>
                </a:lnTo>
                <a:cubicBezTo>
                  <a:pt x="16159" y="21582"/>
                  <a:pt x="16296" y="21534"/>
                  <a:pt x="16410" y="21441"/>
                </a:cubicBezTo>
                <a:cubicBezTo>
                  <a:pt x="16492" y="21373"/>
                  <a:pt x="16558" y="21285"/>
                  <a:pt x="16604" y="21182"/>
                </a:cubicBezTo>
                <a:lnTo>
                  <a:pt x="21500" y="11154"/>
                </a:lnTo>
                <a:cubicBezTo>
                  <a:pt x="21556" y="11050"/>
                  <a:pt x="21585" y="10931"/>
                  <a:pt x="21585" y="10810"/>
                </a:cubicBezTo>
                <a:cubicBezTo>
                  <a:pt x="21585" y="10697"/>
                  <a:pt x="21558" y="10585"/>
                  <a:pt x="21509" y="10487"/>
                </a:cubicBezTo>
                <a:lnTo>
                  <a:pt x="16624" y="444"/>
                </a:lnTo>
                <a:cubicBezTo>
                  <a:pt x="16579" y="329"/>
                  <a:pt x="16509" y="228"/>
                  <a:pt x="16421" y="152"/>
                </a:cubicBezTo>
                <a:cubicBezTo>
                  <a:pt x="16296" y="44"/>
                  <a:pt x="16142" y="-9"/>
                  <a:pt x="15986" y="2"/>
                </a:cubicBezTo>
                <a:lnTo>
                  <a:pt x="434" y="0"/>
                </a:lnTo>
                <a:close/>
              </a:path>
            </a:pathLst>
          </a:custGeom>
          <a:gradFill flip="none" rotWithShape="1">
            <a:gsLst>
              <a:gs pos="29000">
                <a:srgbClr val="3368FF"/>
              </a:gs>
              <a:gs pos="98000">
                <a:srgbClr val="668E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383838"/>
                </a:solidFill>
                <a:latin typeface="微软雅黑"/>
                <a:ea typeface="微软雅黑"/>
                <a:cs typeface="微软雅黑"/>
              </a:defRPr>
            </a:pPr>
            <a:endParaRPr kumimoji="1" lang="en-US">
              <a:solidFill>
                <a:srgbClr val="383838"/>
              </a:solidFill>
              <a:latin typeface="微软雅黑"/>
              <a:ea typeface="微软雅黑"/>
              <a:cs typeface="微软雅黑"/>
              <a:sym typeface="微软雅黑"/>
            </a:endParaRPr>
          </a:p>
        </p:txBody>
      </p:sp>
      <p:sp>
        <p:nvSpPr>
          <p:cNvPr id="23" name="Shape"/>
          <p:cNvSpPr/>
          <p:nvPr/>
        </p:nvSpPr>
        <p:spPr>
          <a:xfrm>
            <a:off x="9785259" y="1177551"/>
            <a:ext cx="1221489" cy="1064884"/>
          </a:xfrm>
          <a:custGeom>
            <a:avLst/>
            <a:gdLst/>
            <a:ahLst/>
            <a:cxnLst>
              <a:cxn ang="0">
                <a:pos x="wd2" y="hd2"/>
              </a:cxn>
              <a:cxn ang="5400000">
                <a:pos x="wd2" y="hd2"/>
              </a:cxn>
              <a:cxn ang="10800000">
                <a:pos x="wd2" y="hd2"/>
              </a:cxn>
              <a:cxn ang="16200000">
                <a:pos x="wd2" y="hd2"/>
              </a:cxn>
            </a:cxnLst>
            <a:rect l="0" t="0" r="r" b="b"/>
            <a:pathLst>
              <a:path w="21585" h="21577" extrusionOk="0">
                <a:moveTo>
                  <a:pt x="434" y="0"/>
                </a:moveTo>
                <a:cubicBezTo>
                  <a:pt x="273" y="-8"/>
                  <a:pt x="123" y="94"/>
                  <a:pt x="51" y="260"/>
                </a:cubicBezTo>
                <a:cubicBezTo>
                  <a:pt x="0" y="379"/>
                  <a:pt x="-4" y="519"/>
                  <a:pt x="42" y="641"/>
                </a:cubicBezTo>
                <a:lnTo>
                  <a:pt x="4808" y="10418"/>
                </a:lnTo>
                <a:cubicBezTo>
                  <a:pt x="4865" y="10529"/>
                  <a:pt x="4895" y="10657"/>
                  <a:pt x="4893" y="10786"/>
                </a:cubicBezTo>
                <a:cubicBezTo>
                  <a:pt x="4892" y="10900"/>
                  <a:pt x="4866" y="11012"/>
                  <a:pt x="4819" y="11112"/>
                </a:cubicBezTo>
                <a:lnTo>
                  <a:pt x="20" y="21002"/>
                </a:lnTo>
                <a:cubicBezTo>
                  <a:pt x="-15" y="21121"/>
                  <a:pt x="-3" y="21251"/>
                  <a:pt x="53" y="21359"/>
                </a:cubicBezTo>
                <a:cubicBezTo>
                  <a:pt x="129" y="21507"/>
                  <a:pt x="274" y="21591"/>
                  <a:pt x="423" y="21573"/>
                </a:cubicBezTo>
                <a:lnTo>
                  <a:pt x="16020" y="21577"/>
                </a:lnTo>
                <a:cubicBezTo>
                  <a:pt x="16159" y="21582"/>
                  <a:pt x="16296" y="21534"/>
                  <a:pt x="16410" y="21441"/>
                </a:cubicBezTo>
                <a:cubicBezTo>
                  <a:pt x="16492" y="21373"/>
                  <a:pt x="16558" y="21285"/>
                  <a:pt x="16604" y="21182"/>
                </a:cubicBezTo>
                <a:lnTo>
                  <a:pt x="21500" y="11154"/>
                </a:lnTo>
                <a:cubicBezTo>
                  <a:pt x="21556" y="11050"/>
                  <a:pt x="21585" y="10931"/>
                  <a:pt x="21585" y="10810"/>
                </a:cubicBezTo>
                <a:cubicBezTo>
                  <a:pt x="21585" y="10697"/>
                  <a:pt x="21558" y="10585"/>
                  <a:pt x="21509" y="10487"/>
                </a:cubicBezTo>
                <a:lnTo>
                  <a:pt x="16624" y="444"/>
                </a:lnTo>
                <a:cubicBezTo>
                  <a:pt x="16579" y="329"/>
                  <a:pt x="16509" y="228"/>
                  <a:pt x="16421" y="152"/>
                </a:cubicBezTo>
                <a:cubicBezTo>
                  <a:pt x="16296" y="44"/>
                  <a:pt x="16142" y="-9"/>
                  <a:pt x="15986" y="2"/>
                </a:cubicBezTo>
                <a:lnTo>
                  <a:pt x="434" y="0"/>
                </a:lnTo>
                <a:close/>
              </a:path>
            </a:pathLst>
          </a:custGeom>
          <a:gradFill flip="none" rotWithShape="1">
            <a:gsLst>
              <a:gs pos="2900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5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827863" y="1581745"/>
            <a:ext cx="1191112" cy="266740"/>
          </a:xfrm>
          <a:prstGeom prst="rect">
            <a:avLst/>
          </a:prstGeom>
          <a:ln w="12700">
            <a:miter lim="400000"/>
          </a:ln>
        </p:spPr>
        <p:txBody>
          <a:bodyPr wrap="square" lIns="25400" tIns="25400" rIns="25400" bIns="25400">
            <a:spAutoFit/>
          </a:bodyPr>
          <a:lstStyle>
            <a:lvl1pPr algn="l">
              <a:defRPr sz="22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项目阶段目标</a:t>
            </a:r>
            <a:endParaRPr lang="zh-CN" altLang="en-US" sz="1400" b="1" dirty="0">
              <a:solidFill>
                <a:srgbClr val="0042FF"/>
              </a:solidFill>
              <a:latin typeface="微软雅黑"/>
              <a:ea typeface="微软雅黑"/>
              <a:cs typeface="微软雅黑"/>
              <a:sym typeface="微软雅黑"/>
            </a:endParaRPr>
          </a:p>
        </p:txBody>
      </p:sp>
      <p:sp>
        <p:nvSpPr>
          <p:cNvPr id="55" name="Line"/>
          <p:cNvSpPr/>
          <p:nvPr/>
        </p:nvSpPr>
        <p:spPr>
          <a:xfrm flipV="1">
            <a:off x="2652183"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56" name="Line"/>
          <p:cNvSpPr/>
          <p:nvPr/>
        </p:nvSpPr>
        <p:spPr>
          <a:xfrm flipV="1">
            <a:off x="3822693"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57" name="Line"/>
          <p:cNvSpPr/>
          <p:nvPr/>
        </p:nvSpPr>
        <p:spPr>
          <a:xfrm flipV="1">
            <a:off x="4993203"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58" name="Line"/>
          <p:cNvSpPr/>
          <p:nvPr/>
        </p:nvSpPr>
        <p:spPr>
          <a:xfrm flipV="1">
            <a:off x="6163713"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59" name="Line"/>
          <p:cNvSpPr/>
          <p:nvPr/>
        </p:nvSpPr>
        <p:spPr>
          <a:xfrm flipV="1">
            <a:off x="7334223"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31" name="Line"/>
          <p:cNvSpPr/>
          <p:nvPr/>
        </p:nvSpPr>
        <p:spPr>
          <a:xfrm flipV="1">
            <a:off x="8504733"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61" name="Line"/>
          <p:cNvSpPr/>
          <p:nvPr/>
        </p:nvSpPr>
        <p:spPr>
          <a:xfrm flipV="1">
            <a:off x="9675243"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62" name="Line"/>
          <p:cNvSpPr/>
          <p:nvPr/>
        </p:nvSpPr>
        <p:spPr>
          <a:xfrm flipV="1">
            <a:off x="10845755" y="2237052"/>
            <a:ext cx="0" cy="4267497"/>
          </a:xfrm>
          <a:prstGeom prst="line">
            <a:avLst/>
          </a:prstGeom>
          <a:ln w="19050">
            <a:solidFill>
              <a:srgbClr val="DCDCDC">
                <a:alpha val="70000"/>
              </a:srgbClr>
            </a:solidFill>
            <a:custDash>
              <a:ds d="200000" sp="200000"/>
            </a:custDash>
            <a:miter lim="400000"/>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32" name="Line"/>
          <p:cNvSpPr/>
          <p:nvPr/>
        </p:nvSpPr>
        <p:spPr>
          <a:xfrm flipV="1">
            <a:off x="454660" y="4425315"/>
            <a:ext cx="11282680" cy="0"/>
          </a:xfrm>
          <a:prstGeom prst="line">
            <a:avLst/>
          </a:prstGeom>
          <a:ln w="19050">
            <a:solidFill>
              <a:srgbClr val="DCDCDC"/>
            </a:solidFill>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33" name="Line"/>
          <p:cNvSpPr/>
          <p:nvPr/>
        </p:nvSpPr>
        <p:spPr>
          <a:xfrm flipV="1">
            <a:off x="454660" y="6523355"/>
            <a:ext cx="11282680" cy="0"/>
          </a:xfrm>
          <a:prstGeom prst="line">
            <a:avLst/>
          </a:prstGeom>
          <a:ln w="19050">
            <a:solidFill>
              <a:srgbClr val="DCDCDC"/>
            </a:solidFill>
          </a:ln>
        </p:spPr>
        <p:txBody>
          <a:bodyPr lIns="0" tIns="0" rIns="0" bIns="0"/>
          <a:lstStyle/>
          <a:p>
            <a:pPr>
              <a:defRPr>
                <a:latin typeface="微软雅黑"/>
                <a:ea typeface="微软雅黑"/>
                <a:cs typeface="微软雅黑"/>
              </a:defRPr>
            </a:pPr>
            <a:endParaRPr sz="1000">
              <a:latin typeface="微软雅黑"/>
              <a:ea typeface="微软雅黑"/>
              <a:cs typeface="微软雅黑"/>
            </a:endParaRPr>
          </a:p>
        </p:txBody>
      </p:sp>
      <p:sp>
        <p:nvSpPr>
          <p:cNvPr id="101" name="右箭头 100"/>
          <p:cNvSpPr/>
          <p:nvPr/>
        </p:nvSpPr>
        <p:spPr>
          <a:xfrm>
            <a:off x="2067613" y="1580971"/>
            <a:ext cx="633208" cy="266740"/>
          </a:xfrm>
          <a:prstGeom prst="rightArrow">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10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54762" y="2599415"/>
            <a:ext cx="1273871" cy="266740"/>
          </a:xfrm>
          <a:prstGeom prst="rect">
            <a:avLst/>
          </a:prstGeom>
          <a:noFill/>
          <a:ln w="12700" cap="flat">
            <a:noFill/>
            <a:miter lim="400000"/>
          </a:ln>
          <a:effectLst/>
        </p:spPr>
        <p:txBody>
          <a:bodyPr wrap="square" lIns="25400" tIns="25400" rIns="25400" bIns="25400" numCol="1" anchor="t">
            <a:spAutoFit/>
          </a:bodyPr>
          <a:lstStyle>
            <a:lvl1pPr algn="l">
              <a:defRPr sz="2200">
                <a:solidFill>
                  <a:srgbClr val="383838"/>
                </a:solidFill>
                <a:latin typeface="微软雅黑"/>
                <a:ea typeface="微软雅黑"/>
                <a:cs typeface="微软雅黑"/>
                <a:sym typeface="微软雅黑"/>
              </a:defRPr>
            </a:lvl1pPr>
          </a:lstStyle>
          <a:p>
            <a:pPr>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小型工程项目</a:t>
            </a:r>
            <a:endParaRPr lang="zh-CN" altLang="en-US" sz="1400" b="1" dirty="0">
              <a:solidFill>
                <a:srgbClr val="0042FF"/>
              </a:solidFill>
              <a:latin typeface="微软雅黑"/>
              <a:ea typeface="微软雅黑"/>
              <a:cs typeface="微软雅黑"/>
              <a:sym typeface="微软雅黑"/>
            </a:endParaRPr>
          </a:p>
        </p:txBody>
      </p:sp>
      <p:sp>
        <p:nvSpPr>
          <p:cNvPr id="103"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61652" y="2948536"/>
            <a:ext cx="1956428" cy="857799"/>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just">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项目建设进度安排是项目管理中针对项目的执行阶段，按照时间顺序和优先级安排任务和活动的计划，这个安排通常以项目时间表的形式呈现。</a:t>
            </a:r>
            <a:endParaRPr kumimoji="1" lang="zh-CN" altLang="en-US" sz="1000" dirty="0">
              <a:solidFill>
                <a:srgbClr val="383838"/>
              </a:solidFill>
              <a:latin typeface="微软雅黑"/>
              <a:ea typeface="微软雅黑"/>
              <a:cs typeface="微软雅黑"/>
              <a:sym typeface="微软雅黑"/>
            </a:endParaRPr>
          </a:p>
        </p:txBody>
      </p:sp>
      <p:sp>
        <p:nvSpPr>
          <p:cNvPr id="105"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54762" y="4763495"/>
            <a:ext cx="1273871" cy="266065"/>
          </a:xfrm>
          <a:prstGeom prst="rect">
            <a:avLst/>
          </a:prstGeom>
          <a:noFill/>
          <a:ln w="12700" cap="flat">
            <a:noFill/>
            <a:miter lim="400000"/>
          </a:ln>
          <a:effectLst/>
        </p:spPr>
        <p:txBody>
          <a:bodyPr wrap="square" lIns="25400" tIns="25400" rIns="25400" bIns="25400" numCol="1" anchor="t">
            <a:spAutoFit/>
          </a:bodyPr>
          <a:lstStyle>
            <a:lvl1pPr algn="l">
              <a:defRPr sz="2200">
                <a:solidFill>
                  <a:srgbClr val="383838"/>
                </a:solidFill>
                <a:latin typeface="微软雅黑"/>
                <a:ea typeface="微软雅黑"/>
                <a:cs typeface="微软雅黑"/>
                <a:sym typeface="微软雅黑"/>
              </a:defRPr>
            </a:lvl1pPr>
          </a:lstStyle>
          <a:p>
            <a:pPr lvl="0" algn="l">
              <a:buClrTx/>
              <a:buSzTx/>
              <a:buFontTx/>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大型工程项目</a:t>
            </a:r>
            <a:endParaRPr lang="zh-CN" altLang="en-US" sz="1400" b="1" dirty="0">
              <a:solidFill>
                <a:srgbClr val="0042FF"/>
              </a:solidFill>
              <a:latin typeface="微软雅黑"/>
              <a:ea typeface="微软雅黑"/>
              <a:cs typeface="微软雅黑"/>
              <a:sym typeface="微软雅黑"/>
            </a:endParaRPr>
          </a:p>
        </p:txBody>
      </p:sp>
      <p:sp>
        <p:nvSpPr>
          <p:cNvPr id="106"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61652" y="5112616"/>
            <a:ext cx="1956428" cy="857799"/>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just">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项目建设进度安排是项目可行性研究中的一个重要组成部分，其任务是对项目建设的投资时期议订出实际项目进度表。</a:t>
            </a:r>
            <a:endParaRPr kumimoji="1" lang="zh-CN" altLang="en-US" sz="1000" dirty="0">
              <a:solidFill>
                <a:srgbClr val="383838"/>
              </a:solidFill>
              <a:latin typeface="微软雅黑"/>
              <a:ea typeface="微软雅黑"/>
              <a:cs typeface="微软雅黑"/>
              <a:sym typeface="微软雅黑"/>
            </a:endParaRPr>
          </a:p>
        </p:txBody>
      </p:sp>
      <p:sp>
        <p:nvSpPr>
          <p:cNvPr id="107" name="椭圆 106"/>
          <p:cNvSpPr/>
          <p:nvPr/>
        </p:nvSpPr>
        <p:spPr>
          <a:xfrm>
            <a:off x="3152143" y="1430831"/>
            <a:ext cx="538003" cy="538003"/>
          </a:xfrm>
          <a:prstGeom prst="ellipse">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200" b="1" dirty="0">
                <a:solidFill>
                  <a:srgbClr val="0042FF"/>
                </a:solidFill>
                <a:latin typeface="微软雅黑"/>
                <a:ea typeface="微软雅黑"/>
                <a:cs typeface="微软雅黑"/>
              </a:rPr>
              <a:t>1</a:t>
            </a:r>
            <a:r>
              <a:rPr kumimoji="1" lang="zh-CN" altLang="en-US" sz="1200" b="1" dirty="0">
                <a:solidFill>
                  <a:srgbClr val="0042FF"/>
                </a:solidFill>
                <a:latin typeface="微软雅黑"/>
                <a:ea typeface="微软雅黑"/>
                <a:cs typeface="微软雅黑"/>
              </a:rPr>
              <a:t>月</a:t>
            </a:r>
            <a:endParaRPr kumimoji="1" lang="zh-CN" altLang="en-US" sz="1200" b="1" dirty="0">
              <a:solidFill>
                <a:srgbClr val="0042FF"/>
              </a:solidFill>
              <a:latin typeface="微软雅黑"/>
              <a:ea typeface="微软雅黑"/>
              <a:cs typeface="微软雅黑"/>
            </a:endParaRPr>
          </a:p>
        </p:txBody>
      </p:sp>
      <p:sp>
        <p:nvSpPr>
          <p:cNvPr id="108" name="椭圆 107"/>
          <p:cNvSpPr/>
          <p:nvPr/>
        </p:nvSpPr>
        <p:spPr>
          <a:xfrm>
            <a:off x="4323874" y="1430831"/>
            <a:ext cx="538003" cy="538003"/>
          </a:xfrm>
          <a:prstGeom prst="ellipse">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200" b="1" dirty="0">
                <a:solidFill>
                  <a:srgbClr val="0042FF"/>
                </a:solidFill>
                <a:latin typeface="微软雅黑"/>
                <a:ea typeface="微软雅黑"/>
                <a:cs typeface="微软雅黑"/>
              </a:rPr>
              <a:t>2</a:t>
            </a:r>
            <a:r>
              <a:rPr kumimoji="1" lang="zh-CN" altLang="en-US" sz="1200" b="1" dirty="0">
                <a:solidFill>
                  <a:srgbClr val="0042FF"/>
                </a:solidFill>
                <a:latin typeface="微软雅黑"/>
                <a:ea typeface="微软雅黑"/>
                <a:cs typeface="微软雅黑"/>
              </a:rPr>
              <a:t>月</a:t>
            </a:r>
            <a:endParaRPr kumimoji="1" lang="zh-CN" altLang="en-US" sz="1200" b="1" dirty="0">
              <a:solidFill>
                <a:srgbClr val="0042FF"/>
              </a:solidFill>
              <a:latin typeface="微软雅黑"/>
              <a:ea typeface="微软雅黑"/>
              <a:cs typeface="微软雅黑"/>
            </a:endParaRPr>
          </a:p>
        </p:txBody>
      </p:sp>
      <p:sp>
        <p:nvSpPr>
          <p:cNvPr id="109" name="椭圆 108"/>
          <p:cNvSpPr/>
          <p:nvPr/>
        </p:nvSpPr>
        <p:spPr>
          <a:xfrm>
            <a:off x="5495605" y="1430831"/>
            <a:ext cx="538003" cy="538003"/>
          </a:xfrm>
          <a:prstGeom prst="ellipse">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kumimoji="1" lang="en-US" altLang="zh-CN" sz="1200" b="1" dirty="0">
                <a:solidFill>
                  <a:srgbClr val="0042FF"/>
                </a:solidFill>
                <a:latin typeface="微软雅黑"/>
                <a:ea typeface="微软雅黑"/>
                <a:cs typeface="微软雅黑"/>
                <a:sym typeface="微软雅黑"/>
              </a:rPr>
              <a:t>3月</a:t>
            </a:r>
            <a:endParaRPr kumimoji="1" lang="en-US" altLang="zh-CN" sz="1200" b="1" dirty="0">
              <a:solidFill>
                <a:srgbClr val="0042FF"/>
              </a:solidFill>
              <a:latin typeface="微软雅黑"/>
              <a:ea typeface="微软雅黑"/>
              <a:cs typeface="微软雅黑"/>
              <a:sym typeface="微软雅黑"/>
            </a:endParaRPr>
          </a:p>
        </p:txBody>
      </p:sp>
      <p:sp>
        <p:nvSpPr>
          <p:cNvPr id="110" name="椭圆 109"/>
          <p:cNvSpPr/>
          <p:nvPr/>
        </p:nvSpPr>
        <p:spPr>
          <a:xfrm>
            <a:off x="6667336" y="1430831"/>
            <a:ext cx="538003" cy="538003"/>
          </a:xfrm>
          <a:prstGeom prst="ellipse">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kumimoji="1" lang="en-US" altLang="zh-CN" sz="1200" b="1" dirty="0">
                <a:solidFill>
                  <a:srgbClr val="0042FF"/>
                </a:solidFill>
                <a:latin typeface="微软雅黑"/>
                <a:ea typeface="微软雅黑"/>
                <a:cs typeface="微软雅黑"/>
                <a:sym typeface="微软雅黑"/>
              </a:rPr>
              <a:t>4月</a:t>
            </a:r>
            <a:endParaRPr kumimoji="1" lang="en-US" altLang="zh-CN" sz="1200" b="1" dirty="0">
              <a:solidFill>
                <a:srgbClr val="0042FF"/>
              </a:solidFill>
              <a:latin typeface="微软雅黑"/>
              <a:ea typeface="微软雅黑"/>
              <a:cs typeface="微软雅黑"/>
              <a:sym typeface="微软雅黑"/>
            </a:endParaRPr>
          </a:p>
        </p:txBody>
      </p:sp>
      <p:sp>
        <p:nvSpPr>
          <p:cNvPr id="111" name="椭圆 110"/>
          <p:cNvSpPr/>
          <p:nvPr/>
        </p:nvSpPr>
        <p:spPr>
          <a:xfrm>
            <a:off x="7839067" y="1430831"/>
            <a:ext cx="538003" cy="538003"/>
          </a:xfrm>
          <a:prstGeom prst="ellipse">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kumimoji="1" lang="en-US" altLang="zh-CN" sz="1200" b="1" dirty="0">
                <a:solidFill>
                  <a:srgbClr val="0042FF"/>
                </a:solidFill>
                <a:latin typeface="微软雅黑"/>
                <a:ea typeface="微软雅黑"/>
                <a:cs typeface="微软雅黑"/>
                <a:sym typeface="微软雅黑"/>
              </a:rPr>
              <a:t>5月</a:t>
            </a:r>
            <a:endParaRPr kumimoji="1" lang="en-US" altLang="zh-CN" sz="1200" b="1" dirty="0">
              <a:solidFill>
                <a:srgbClr val="0042FF"/>
              </a:solidFill>
              <a:latin typeface="微软雅黑"/>
              <a:ea typeface="微软雅黑"/>
              <a:cs typeface="微软雅黑"/>
              <a:sym typeface="微软雅黑"/>
            </a:endParaRPr>
          </a:p>
        </p:txBody>
      </p:sp>
      <p:sp>
        <p:nvSpPr>
          <p:cNvPr id="112" name="椭圆 111"/>
          <p:cNvSpPr/>
          <p:nvPr/>
        </p:nvSpPr>
        <p:spPr>
          <a:xfrm>
            <a:off x="9010798" y="1430831"/>
            <a:ext cx="538003" cy="538003"/>
          </a:xfrm>
          <a:prstGeom prst="ellipse">
            <a:avLst/>
          </a:pr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kumimoji="1" lang="en-US" altLang="zh-CN" sz="1200" b="1" dirty="0">
                <a:solidFill>
                  <a:srgbClr val="0042FF"/>
                </a:solidFill>
                <a:latin typeface="微软雅黑"/>
                <a:ea typeface="微软雅黑"/>
                <a:cs typeface="微软雅黑"/>
                <a:sym typeface="微软雅黑"/>
              </a:rPr>
              <a:t>6月</a:t>
            </a:r>
            <a:endParaRPr kumimoji="1" lang="en-US" altLang="zh-CN" sz="1200" b="1" dirty="0">
              <a:solidFill>
                <a:srgbClr val="0042FF"/>
              </a:solidFill>
              <a:latin typeface="微软雅黑"/>
              <a:ea typeface="微软雅黑"/>
              <a:cs typeface="微软雅黑"/>
              <a:sym typeface="微软雅黑"/>
            </a:endParaRPr>
          </a:p>
        </p:txBody>
      </p:sp>
      <p:sp>
        <p:nvSpPr>
          <p:cNvPr id="113" name="椭圆 112"/>
          <p:cNvSpPr/>
          <p:nvPr/>
        </p:nvSpPr>
        <p:spPr>
          <a:xfrm>
            <a:off x="10182529" y="1430831"/>
            <a:ext cx="538003" cy="538003"/>
          </a:xfrm>
          <a:prstGeom prst="ellipse">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r>
              <a:rPr kumimoji="1" lang="en-US" altLang="zh-CN" sz="1200" b="1" dirty="0">
                <a:solidFill>
                  <a:srgbClr val="0042FF"/>
                </a:solidFill>
                <a:latin typeface="微软雅黑"/>
                <a:ea typeface="微软雅黑"/>
                <a:cs typeface="微软雅黑"/>
                <a:sym typeface="微软雅黑"/>
              </a:rPr>
              <a:t>7月</a:t>
            </a:r>
            <a:endParaRPr kumimoji="1" lang="en-US" altLang="zh-CN" sz="1200" b="1" dirty="0">
              <a:solidFill>
                <a:srgbClr val="0042FF"/>
              </a:solidFill>
              <a:latin typeface="微软雅黑"/>
              <a:ea typeface="微软雅黑"/>
              <a:cs typeface="微软雅黑"/>
              <a:sym typeface="微软雅黑"/>
            </a:endParaRPr>
          </a:p>
        </p:txBody>
      </p:sp>
      <p:sp>
        <p:nvSpPr>
          <p:cNvPr id="11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2803079" y="4610100"/>
            <a:ext cx="1041400" cy="16256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立项阶段：</a:t>
            </a:r>
            <a:endParaRPr kumimoji="1" lang="zh-CN" altLang="en-US" sz="1000" b="1" dirty="0">
              <a:solidFill>
                <a:srgbClr val="0042FF"/>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1</a:t>
            </a:r>
            <a:r>
              <a:rPr kumimoji="1" lang="zh-CN" altLang="en-US" sz="1000" dirty="0">
                <a:solidFill>
                  <a:srgbClr val="383838"/>
                </a:solidFill>
                <a:latin typeface="微软雅黑"/>
                <a:ea typeface="微软雅黑"/>
                <a:cs typeface="微软雅黑"/>
                <a:sym typeface="微软雅黑"/>
              </a:rPr>
              <a:t>、确定项目的可行性和必要性。</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2</a:t>
            </a:r>
            <a:r>
              <a:rPr kumimoji="1" lang="zh-CN" altLang="en-US" sz="1000" dirty="0">
                <a:solidFill>
                  <a:srgbClr val="383838"/>
                </a:solidFill>
                <a:latin typeface="微软雅黑"/>
                <a:ea typeface="微软雅黑"/>
                <a:cs typeface="微软雅黑"/>
                <a:sym typeface="微软雅黑"/>
              </a:rPr>
              <a:t>、确定项目的基本范围和目标。</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3</a:t>
            </a:r>
            <a:r>
              <a:rPr kumimoji="1" lang="zh-CN" altLang="en-US" sz="1000" dirty="0">
                <a:solidFill>
                  <a:srgbClr val="383838"/>
                </a:solidFill>
                <a:latin typeface="微软雅黑"/>
                <a:ea typeface="微软雅黑"/>
                <a:cs typeface="微软雅黑"/>
                <a:sym typeface="微软雅黑"/>
              </a:rPr>
              <a:t>、制定初步的项目计划和预算。</a:t>
            </a:r>
            <a:endParaRPr kumimoji="1" lang="zh-CN" altLang="en-US" sz="1000" dirty="0">
              <a:solidFill>
                <a:srgbClr val="383838"/>
              </a:solidFill>
              <a:latin typeface="微软雅黑"/>
              <a:ea typeface="微软雅黑"/>
              <a:cs typeface="微软雅黑"/>
              <a:sym typeface="微软雅黑"/>
            </a:endParaRPr>
          </a:p>
        </p:txBody>
      </p:sp>
      <p:sp>
        <p:nvSpPr>
          <p:cNvPr id="115"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3976084" y="4610100"/>
            <a:ext cx="1041400" cy="16256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准备阶段：</a:t>
            </a:r>
            <a:endParaRPr kumimoji="1" lang="zh-CN" altLang="en-US" sz="1000" b="1" dirty="0">
              <a:solidFill>
                <a:srgbClr val="0042FF"/>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1</a:t>
            </a:r>
            <a:r>
              <a:rPr kumimoji="1" lang="zh-CN" altLang="en-US" sz="1000" dirty="0">
                <a:solidFill>
                  <a:srgbClr val="383838"/>
                </a:solidFill>
                <a:latin typeface="微软雅黑"/>
                <a:ea typeface="微软雅黑"/>
                <a:cs typeface="微软雅黑"/>
                <a:sym typeface="微软雅黑"/>
              </a:rPr>
              <a:t>、完善项目的详细范围和要求。</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2</a:t>
            </a:r>
            <a:r>
              <a:rPr kumimoji="1" lang="zh-CN" altLang="en-US" sz="1000" dirty="0">
                <a:solidFill>
                  <a:srgbClr val="383838"/>
                </a:solidFill>
                <a:latin typeface="微软雅黑"/>
                <a:ea typeface="微软雅黑"/>
                <a:cs typeface="微软雅黑"/>
                <a:sym typeface="微软雅黑"/>
              </a:rPr>
              <a:t>、确定项目资源及供应链管理。</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3</a:t>
            </a:r>
            <a:r>
              <a:rPr kumimoji="1" lang="zh-CN" altLang="en-US" sz="1000" dirty="0">
                <a:solidFill>
                  <a:srgbClr val="383838"/>
                </a:solidFill>
                <a:latin typeface="微软雅黑"/>
                <a:ea typeface="微软雅黑"/>
                <a:cs typeface="微软雅黑"/>
                <a:sym typeface="微软雅黑"/>
              </a:rPr>
              <a:t>、确定项目法律、环境和安全要求。</a:t>
            </a:r>
            <a:endParaRPr kumimoji="1" lang="zh-CN" altLang="en-US" sz="1000" dirty="0">
              <a:solidFill>
                <a:srgbClr val="383838"/>
              </a:solidFill>
              <a:latin typeface="微软雅黑"/>
              <a:ea typeface="微软雅黑"/>
              <a:cs typeface="微软雅黑"/>
              <a:sym typeface="微软雅黑"/>
            </a:endParaRPr>
          </a:p>
        </p:txBody>
      </p:sp>
      <p:sp>
        <p:nvSpPr>
          <p:cNvPr id="116"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5149089" y="4610100"/>
            <a:ext cx="1041400" cy="16256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设计阶段：</a:t>
            </a:r>
            <a:endParaRPr kumimoji="1" lang="zh-CN" altLang="en-US" sz="1000" b="1" dirty="0">
              <a:solidFill>
                <a:srgbClr val="0042FF"/>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1</a:t>
            </a:r>
            <a:r>
              <a:rPr kumimoji="1" lang="zh-CN" altLang="en-US" sz="1000" dirty="0">
                <a:solidFill>
                  <a:srgbClr val="383838"/>
                </a:solidFill>
                <a:latin typeface="微软雅黑"/>
                <a:ea typeface="微软雅黑"/>
                <a:cs typeface="微软雅黑"/>
                <a:sym typeface="微软雅黑"/>
              </a:rPr>
              <a:t>、开展项目的设计和工程规划。</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2</a:t>
            </a:r>
            <a:r>
              <a:rPr kumimoji="1" lang="zh-CN" altLang="en-US" sz="1000" dirty="0">
                <a:solidFill>
                  <a:srgbClr val="383838"/>
                </a:solidFill>
                <a:latin typeface="微软雅黑"/>
                <a:ea typeface="微软雅黑"/>
                <a:cs typeface="微软雅黑"/>
                <a:sym typeface="微软雅黑"/>
              </a:rPr>
              <a:t>、制定详细工程设计和施工图纸。</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3</a:t>
            </a:r>
            <a:r>
              <a:rPr kumimoji="1" lang="zh-CN" altLang="en-US" sz="1000" dirty="0">
                <a:solidFill>
                  <a:srgbClr val="383838"/>
                </a:solidFill>
                <a:latin typeface="微软雅黑"/>
                <a:ea typeface="微软雅黑"/>
                <a:cs typeface="微软雅黑"/>
                <a:sym typeface="微软雅黑"/>
              </a:rPr>
              <a:t>、确定项目所需技术标准和规范。</a:t>
            </a:r>
            <a:endParaRPr kumimoji="1" lang="zh-CN" altLang="en-US" sz="1000" dirty="0">
              <a:solidFill>
                <a:srgbClr val="383838"/>
              </a:solidFill>
              <a:latin typeface="微软雅黑"/>
              <a:ea typeface="微软雅黑"/>
              <a:cs typeface="微软雅黑"/>
              <a:sym typeface="微软雅黑"/>
            </a:endParaRPr>
          </a:p>
        </p:txBody>
      </p:sp>
      <p:sp>
        <p:nvSpPr>
          <p:cNvPr id="117"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6322094" y="4610100"/>
            <a:ext cx="1041400" cy="16256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招标阶段：</a:t>
            </a:r>
            <a:endParaRPr kumimoji="1" lang="zh-CN" altLang="en-US" sz="1000" b="1" dirty="0">
              <a:solidFill>
                <a:srgbClr val="0042FF"/>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1</a:t>
            </a:r>
            <a:r>
              <a:rPr kumimoji="1" lang="zh-CN" altLang="en-US" sz="1000" dirty="0">
                <a:solidFill>
                  <a:srgbClr val="383838"/>
                </a:solidFill>
                <a:latin typeface="微软雅黑"/>
                <a:ea typeface="微软雅黑"/>
                <a:cs typeface="微软雅黑"/>
                <a:sym typeface="微软雅黑"/>
              </a:rPr>
              <a:t>、进行项目相关物资和设备采购。</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2</a:t>
            </a:r>
            <a:r>
              <a:rPr kumimoji="1" lang="zh-CN" altLang="en-US" sz="1000" dirty="0">
                <a:solidFill>
                  <a:srgbClr val="383838"/>
                </a:solidFill>
                <a:latin typeface="微软雅黑"/>
                <a:ea typeface="微软雅黑"/>
                <a:cs typeface="微软雅黑"/>
                <a:sym typeface="微软雅黑"/>
              </a:rPr>
              <a:t>、发布和管理相关的招投标工作。</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3</a:t>
            </a:r>
            <a:r>
              <a:rPr kumimoji="1" lang="zh-CN" altLang="en-US" sz="1000" dirty="0">
                <a:solidFill>
                  <a:srgbClr val="383838"/>
                </a:solidFill>
                <a:latin typeface="微软雅黑"/>
                <a:ea typeface="微软雅黑"/>
                <a:cs typeface="微软雅黑"/>
                <a:sym typeface="微软雅黑"/>
              </a:rPr>
              <a:t>、签订合同和准备施工物资供应。</a:t>
            </a:r>
            <a:endParaRPr kumimoji="1" lang="zh-CN" altLang="en-US" sz="1000" dirty="0">
              <a:solidFill>
                <a:srgbClr val="383838"/>
              </a:solidFill>
              <a:latin typeface="微软雅黑"/>
              <a:ea typeface="微软雅黑"/>
              <a:cs typeface="微软雅黑"/>
              <a:sym typeface="微软雅黑"/>
            </a:endParaRPr>
          </a:p>
        </p:txBody>
      </p:sp>
      <p:sp>
        <p:nvSpPr>
          <p:cNvPr id="3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7495099" y="4610100"/>
            <a:ext cx="1041400" cy="16256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施工阶段：</a:t>
            </a:r>
            <a:endParaRPr kumimoji="1" lang="zh-CN" altLang="en-US" sz="1000" b="1" dirty="0">
              <a:solidFill>
                <a:srgbClr val="0042FF"/>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1</a:t>
            </a:r>
            <a:r>
              <a:rPr kumimoji="1" lang="zh-CN" altLang="en-US" sz="1000" dirty="0">
                <a:solidFill>
                  <a:srgbClr val="383838"/>
                </a:solidFill>
                <a:latin typeface="微软雅黑"/>
                <a:ea typeface="微软雅黑"/>
                <a:cs typeface="微软雅黑"/>
                <a:sym typeface="微软雅黑"/>
              </a:rPr>
              <a:t>、实施项目的建设和工程施工。</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2</a:t>
            </a:r>
            <a:r>
              <a:rPr kumimoji="1" lang="zh-CN" altLang="en-US" sz="1000" dirty="0">
                <a:solidFill>
                  <a:srgbClr val="383838"/>
                </a:solidFill>
                <a:latin typeface="微软雅黑"/>
                <a:ea typeface="微软雅黑"/>
                <a:cs typeface="微软雅黑"/>
                <a:sym typeface="微软雅黑"/>
              </a:rPr>
              <a:t>、进行施工质量、安全和进度控制。</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3</a:t>
            </a:r>
            <a:r>
              <a:rPr kumimoji="1" lang="zh-CN" altLang="en-US" sz="1000" dirty="0">
                <a:solidFill>
                  <a:srgbClr val="383838"/>
                </a:solidFill>
                <a:latin typeface="微软雅黑"/>
                <a:ea typeface="微软雅黑"/>
                <a:cs typeface="微软雅黑"/>
                <a:sym typeface="微软雅黑"/>
              </a:rPr>
              <a:t>、协调施工团队、承包商沟通工作。</a:t>
            </a:r>
            <a:endParaRPr kumimoji="1" lang="zh-CN" altLang="en-US" sz="1000" dirty="0">
              <a:solidFill>
                <a:srgbClr val="383838"/>
              </a:solidFill>
              <a:latin typeface="微软雅黑"/>
              <a:ea typeface="微软雅黑"/>
              <a:cs typeface="微软雅黑"/>
              <a:sym typeface="微软雅黑"/>
            </a:endParaRPr>
          </a:p>
        </p:txBody>
      </p:sp>
      <p:sp>
        <p:nvSpPr>
          <p:cNvPr id="119"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8668104" y="4610100"/>
            <a:ext cx="1041400" cy="16256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内审阶段：</a:t>
            </a:r>
            <a:endParaRPr kumimoji="1" lang="zh-CN" altLang="en-US" sz="1000" b="1" dirty="0">
              <a:solidFill>
                <a:srgbClr val="0042FF"/>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1</a:t>
            </a:r>
            <a:r>
              <a:rPr kumimoji="1" lang="zh-CN" altLang="en-US" sz="1000" dirty="0">
                <a:solidFill>
                  <a:srgbClr val="383838"/>
                </a:solidFill>
                <a:latin typeface="微软雅黑"/>
                <a:ea typeface="微软雅黑"/>
                <a:cs typeface="微软雅黑"/>
                <a:sym typeface="微软雅黑"/>
              </a:rPr>
              <a:t>、对已建成的工程进行内审。</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2</a:t>
            </a:r>
            <a:r>
              <a:rPr kumimoji="1" lang="zh-CN" altLang="en-US" sz="1000" dirty="0">
                <a:solidFill>
                  <a:srgbClr val="383838"/>
                </a:solidFill>
                <a:latin typeface="微软雅黑"/>
                <a:ea typeface="微软雅黑"/>
                <a:cs typeface="微软雅黑"/>
                <a:sym typeface="微软雅黑"/>
              </a:rPr>
              <a:t>、确保项目功能和性能符合要求。</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3</a:t>
            </a:r>
            <a:r>
              <a:rPr kumimoji="1" lang="zh-CN" altLang="en-US" sz="1000" dirty="0">
                <a:solidFill>
                  <a:srgbClr val="383838"/>
                </a:solidFill>
                <a:latin typeface="微软雅黑"/>
                <a:ea typeface="微软雅黑"/>
                <a:cs typeface="微软雅黑"/>
                <a:sym typeface="微软雅黑"/>
              </a:rPr>
              <a:t>、优化项目中发现的问题和缺陷。</a:t>
            </a:r>
            <a:endParaRPr kumimoji="1" lang="zh-CN" altLang="en-US" sz="1000" dirty="0">
              <a:solidFill>
                <a:srgbClr val="383838"/>
              </a:solidFill>
              <a:latin typeface="微软雅黑"/>
              <a:ea typeface="微软雅黑"/>
              <a:cs typeface="微软雅黑"/>
              <a:sym typeface="微软雅黑"/>
            </a:endParaRPr>
          </a:p>
        </p:txBody>
      </p:sp>
      <p:sp>
        <p:nvSpPr>
          <p:cNvPr id="120"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9841111" y="4610100"/>
            <a:ext cx="1041400" cy="16256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交付阶段：</a:t>
            </a:r>
            <a:endParaRPr kumimoji="1" lang="zh-CN" altLang="en-US" sz="1000" b="1" dirty="0">
              <a:solidFill>
                <a:srgbClr val="0042FF"/>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1</a:t>
            </a:r>
            <a:r>
              <a:rPr kumimoji="1" lang="zh-CN" altLang="en-US" sz="1000" dirty="0">
                <a:solidFill>
                  <a:srgbClr val="383838"/>
                </a:solidFill>
                <a:latin typeface="微软雅黑"/>
                <a:ea typeface="微软雅黑"/>
                <a:cs typeface="微软雅黑"/>
                <a:sym typeface="微软雅黑"/>
              </a:rPr>
              <a:t>、完成项目最终验收和客户交付。</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2</a:t>
            </a:r>
            <a:r>
              <a:rPr kumimoji="1" lang="zh-CN" altLang="en-US" sz="1000" dirty="0">
                <a:solidFill>
                  <a:srgbClr val="383838"/>
                </a:solidFill>
                <a:latin typeface="微软雅黑"/>
                <a:ea typeface="微软雅黑"/>
                <a:cs typeface="微软雅黑"/>
                <a:sym typeface="微软雅黑"/>
              </a:rPr>
              <a:t>、确保项目交付的成果符合要求。</a:t>
            </a:r>
            <a:endParaRPr kumimoji="1" lang="zh-CN" altLang="en-US" sz="1000" dirty="0">
              <a:solidFill>
                <a:srgbClr val="383838"/>
              </a:solidFill>
              <a:latin typeface="微软雅黑"/>
              <a:ea typeface="微软雅黑"/>
              <a:cs typeface="微软雅黑"/>
              <a:sym typeface="微软雅黑"/>
            </a:endParaRPr>
          </a:p>
          <a:p>
            <a:pPr algn="l" eaLnBrk="1" latinLnBrk="0" marL="0" marR="0" indent="0">
              <a:lnSpc>
                <a:spcPts val="1150"/>
              </a:lnSpc>
              <a:spcBef>
                <a:spcPts val="0"/>
              </a:spcBef>
              <a:spcAft>
                <a:spcPts val="0"/>
              </a:spcAft>
              <a:defRPr>
                <a:latin typeface="微软雅黑"/>
                <a:ea typeface="微软雅黑"/>
                <a:cs typeface="微软雅黑"/>
              </a:defRPr>
            </a:pPr>
            <a:r>
              <a:rPr kumimoji="1" lang="en-US" altLang="zh-CN" sz="1000" dirty="0">
                <a:solidFill>
                  <a:srgbClr val="383838"/>
                </a:solidFill>
                <a:latin typeface="微软雅黑"/>
                <a:ea typeface="微软雅黑"/>
                <a:cs typeface="微软雅黑"/>
                <a:sym typeface="微软雅黑"/>
              </a:rPr>
              <a:t>3</a:t>
            </a:r>
            <a:r>
              <a:rPr kumimoji="1" lang="zh-CN" altLang="en-US" sz="1000" dirty="0">
                <a:solidFill>
                  <a:srgbClr val="383838"/>
                </a:solidFill>
                <a:latin typeface="微软雅黑"/>
                <a:ea typeface="微软雅黑"/>
                <a:cs typeface="微软雅黑"/>
                <a:sym typeface="微软雅黑"/>
              </a:rPr>
              <a:t>、解决最终法律、财务和技术问题。</a:t>
            </a:r>
            <a:endParaRPr kumimoji="1" lang="zh-CN" altLang="en-US" sz="1000" dirty="0">
              <a:solidFill>
                <a:srgbClr val="383838"/>
              </a:solidFill>
              <a:latin typeface="微软雅黑"/>
              <a:ea typeface="微软雅黑"/>
              <a:cs typeface="微软雅黑"/>
              <a:sym typeface="微软雅黑"/>
            </a:endParaRPr>
          </a:p>
        </p:txBody>
      </p:sp>
      <p:sp>
        <p:nvSpPr>
          <p:cNvPr id="121" name="Freeform 90"/>
          <p:cNvSpPr/>
          <p:nvPr/>
        </p:nvSpPr>
        <p:spPr>
          <a:xfrm>
            <a:off x="3115548" y="6107036"/>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0042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22" name="Freeform 90"/>
          <p:cNvSpPr/>
          <p:nvPr/>
        </p:nvSpPr>
        <p:spPr>
          <a:xfrm>
            <a:off x="4287504" y="6107036"/>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3368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23" name="Freeform 90"/>
          <p:cNvSpPr/>
          <p:nvPr/>
        </p:nvSpPr>
        <p:spPr>
          <a:xfrm>
            <a:off x="5459460" y="6107036"/>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0042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24" name="Freeform 90"/>
          <p:cNvSpPr/>
          <p:nvPr/>
        </p:nvSpPr>
        <p:spPr>
          <a:xfrm>
            <a:off x="6631416" y="6107036"/>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3368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25" name="Freeform 90"/>
          <p:cNvSpPr/>
          <p:nvPr/>
        </p:nvSpPr>
        <p:spPr>
          <a:xfrm>
            <a:off x="7803372" y="6107036"/>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3368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26" name="Freeform 90"/>
          <p:cNvSpPr/>
          <p:nvPr/>
        </p:nvSpPr>
        <p:spPr>
          <a:xfrm>
            <a:off x="8975328" y="6107036"/>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3368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27" name="Freeform 90"/>
          <p:cNvSpPr/>
          <p:nvPr/>
        </p:nvSpPr>
        <p:spPr>
          <a:xfrm>
            <a:off x="10147284" y="6107036"/>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0042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30" name="任意形状 129"/>
          <p:cNvSpPr/>
          <p:nvPr/>
        </p:nvSpPr>
        <p:spPr>
          <a:xfrm>
            <a:off x="6304411" y="2028273"/>
            <a:ext cx="3208793" cy="2114021"/>
          </a:xfrm>
          <a:custGeom>
            <a:avLst/>
            <a:gdLst>
              <a:gd name="connsiteX0" fmla="*/ 1607715 w 3208793"/>
              <a:gd name="connsiteY0" fmla="*/ 0 h 2114021"/>
              <a:gd name="connsiteX1" fmla="*/ 1685724 w 3208793"/>
              <a:gd name="connsiteY1" fmla="*/ 498052 h 2114021"/>
              <a:gd name="connsiteX2" fmla="*/ 3104046 w 3208793"/>
              <a:gd name="connsiteY2" fmla="*/ 498052 h 2114021"/>
              <a:gd name="connsiteX3" fmla="*/ 3208793 w 3208793"/>
              <a:gd name="connsiteY3" fmla="*/ 602799 h 2114021"/>
              <a:gd name="connsiteX4" fmla="*/ 3208793 w 3208793"/>
              <a:gd name="connsiteY4" fmla="*/ 2009274 h 2114021"/>
              <a:gd name="connsiteX5" fmla="*/ 3104046 w 3208793"/>
              <a:gd name="connsiteY5" fmla="*/ 2114021 h 2114021"/>
              <a:gd name="connsiteX6" fmla="*/ 104747 w 3208793"/>
              <a:gd name="connsiteY6" fmla="*/ 2114021 h 2114021"/>
              <a:gd name="connsiteX7" fmla="*/ 0 w 3208793"/>
              <a:gd name="connsiteY7" fmla="*/ 2009274 h 2114021"/>
              <a:gd name="connsiteX8" fmla="*/ 0 w 3208793"/>
              <a:gd name="connsiteY8" fmla="*/ 602799 h 2114021"/>
              <a:gd name="connsiteX9" fmla="*/ 104747 w 3208793"/>
              <a:gd name="connsiteY9" fmla="*/ 498052 h 2114021"/>
              <a:gd name="connsiteX10" fmla="*/ 1529706 w 3208793"/>
              <a:gd name="connsiteY10" fmla="*/ 498052 h 2114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08793" h="2114021">
                <a:moveTo>
                  <a:pt x="1607715" y="0"/>
                </a:moveTo>
                <a:lnTo>
                  <a:pt x="1685724" y="498052"/>
                </a:lnTo>
                <a:lnTo>
                  <a:pt x="3104046" y="498052"/>
                </a:lnTo>
                <a:cubicBezTo>
                  <a:pt x="3161896" y="498052"/>
                  <a:pt x="3208793" y="544949"/>
                  <a:pt x="3208793" y="602799"/>
                </a:cubicBezTo>
                <a:lnTo>
                  <a:pt x="3208793" y="2009274"/>
                </a:lnTo>
                <a:cubicBezTo>
                  <a:pt x="3208793" y="2067124"/>
                  <a:pt x="3161896" y="2114021"/>
                  <a:pt x="3104046" y="2114021"/>
                </a:cubicBezTo>
                <a:lnTo>
                  <a:pt x="104747" y="2114021"/>
                </a:lnTo>
                <a:cubicBezTo>
                  <a:pt x="46897" y="2114021"/>
                  <a:pt x="0" y="2067124"/>
                  <a:pt x="0" y="2009274"/>
                </a:cubicBezTo>
                <a:lnTo>
                  <a:pt x="0" y="602799"/>
                </a:lnTo>
                <a:cubicBezTo>
                  <a:pt x="0" y="544949"/>
                  <a:pt x="46897" y="498052"/>
                  <a:pt x="104747" y="498052"/>
                </a:cubicBezTo>
                <a:lnTo>
                  <a:pt x="1529706" y="498052"/>
                </a:lnTo>
                <a:close/>
              </a:path>
            </a:pathLst>
          </a:custGeom>
          <a:solidFill>
            <a:srgbClr val="FFFFFF"/>
          </a:solidFill>
          <a:ln>
            <a:solidFill>
              <a:srgbClr val="3368FF"/>
            </a:solid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131" name="文本框 130"/>
          <p:cNvSpPr txBox="1"/>
          <p:nvPr/>
        </p:nvSpPr>
        <p:spPr>
          <a:xfrm>
            <a:off x="6378268" y="2525756"/>
            <a:ext cx="1723245" cy="922020"/>
          </a:xfrm>
          <a:prstGeom prst="rect">
            <a:avLst/>
          </a:prstGeom>
          <a:noFill/>
        </p:spPr>
        <p:txBody>
          <a:bodyPr wrap="square" rtlCol="0">
            <a:spAutoFit/>
          </a:bodyPr>
          <a:lstStyle/>
          <a:p>
            <a:pPr>
              <a:defRPr>
                <a:latin typeface="微软雅黑"/>
                <a:ea typeface="微软雅黑"/>
                <a:cs typeface="微软雅黑"/>
              </a:defRPr>
            </a:pPr>
            <a:r>
              <a:rPr kumimoji="1" lang="en-US" altLang="zh-CN" sz="5400" b="1" dirty="0">
                <a:solidFill>
                  <a:srgbClr val="0042FF"/>
                </a:solidFill>
                <a:latin typeface="微软雅黑"/>
                <a:ea typeface="微软雅黑"/>
                <a:cs typeface="微软雅黑"/>
              </a:rPr>
              <a:t>60%</a:t>
            </a:r>
            <a:endParaRPr kumimoji="1" lang="en-US" altLang="zh-CN" sz="5400" b="1" dirty="0">
              <a:solidFill>
                <a:srgbClr val="0042FF"/>
              </a:solidFill>
              <a:latin typeface="微软雅黑"/>
              <a:ea typeface="微软雅黑"/>
              <a:cs typeface="微软雅黑"/>
            </a:endParaRPr>
          </a:p>
        </p:txBody>
      </p:sp>
      <p:sp>
        <p:nvSpPr>
          <p:cNvPr id="132" name="文本框 131"/>
          <p:cNvSpPr txBox="1"/>
          <p:nvPr/>
        </p:nvSpPr>
        <p:spPr>
          <a:xfrm>
            <a:off x="6396557" y="3340374"/>
            <a:ext cx="3031528" cy="691087"/>
          </a:xfrm>
          <a:prstGeom prst="rect">
            <a:avLst/>
          </a:prstGeom>
          <a:noFill/>
        </p:spPr>
        <p:txBody>
          <a:bodyPr wrap="square" rtlCol="0" lIns="0" rIns="0" tIns="0" bIns="0" anchor="t">
            <a:noAutofit/>
          </a:bodyPr>
          <a:lstStyle/>
          <a:p>
            <a:pPr algn="just">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rPr>
              <a:t>按照项目计划执行，确保项目按时交付；持续监控项目进度，及时应对风险；保持团队有效沟通，及时更新项目进展和问题解决方案。</a:t>
            </a:r>
            <a:endParaRPr kumimoji="1" lang="zh-CN" altLang="en-US" sz="1000" dirty="0">
              <a:solidFill>
                <a:srgbClr val="383838"/>
              </a:solidFill>
              <a:latin typeface="微软雅黑"/>
              <a:ea typeface="微软雅黑"/>
              <a:cs typeface="微软雅黑"/>
            </a:endParaRPr>
          </a:p>
        </p:txBody>
      </p:sp>
      <p:sp>
        <p:nvSpPr>
          <p:cNvPr id="135" name="椭圆 134"/>
          <p:cNvSpPr/>
          <p:nvPr/>
        </p:nvSpPr>
        <p:spPr>
          <a:xfrm>
            <a:off x="8792210" y="2679700"/>
            <a:ext cx="521970" cy="521970"/>
          </a:xfrm>
          <a:prstGeom prst="ellipse">
            <a:avLst/>
          </a:prstGeom>
          <a:solidFill>
            <a:srgbClr val="FFFFFF"/>
          </a:solidFill>
          <a:ln w="31750">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136"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3976084" y="2522741"/>
            <a:ext cx="1041400" cy="14351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dirty="0">
                <a:solidFill>
                  <a:srgbClr val="383838"/>
                </a:solidFill>
                <a:latin typeface="微软雅黑"/>
                <a:ea typeface="微软雅黑"/>
                <a:cs typeface="微软雅黑"/>
                <a:sym typeface="微软雅黑"/>
              </a:rPr>
              <a:t>确立项目目标和范围；组建项目团队；制定详细的项目执行计划，包括工作分解、时间表、资源分配和风险应对。</a:t>
            </a:r>
            <a:endParaRPr kumimoji="1" lang="zh-CN" altLang="en-US" sz="1000" dirty="0">
              <a:solidFill>
                <a:srgbClr val="383838"/>
              </a:solidFill>
              <a:latin typeface="微软雅黑"/>
              <a:ea typeface="微软雅黑"/>
              <a:cs typeface="微软雅黑"/>
              <a:sym typeface="微软雅黑"/>
            </a:endParaRPr>
          </a:p>
        </p:txBody>
      </p:sp>
      <p:sp>
        <p:nvSpPr>
          <p:cNvPr id="35"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9841111" y="2522741"/>
            <a:ext cx="1041400" cy="1435100"/>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algn="l" eaLnBrk="1" latinLnBrk="0" marL="0" marR="0" indent="0">
              <a:lnSpc>
                <a:spcPts val="1150"/>
              </a:lnSpc>
              <a:spcBef>
                <a:spcPts val="0"/>
              </a:spcBef>
              <a:spcAft>
                <a:spcPts val="0"/>
              </a:spcAft>
              <a:defRPr>
                <a:latin typeface="微软雅黑"/>
                <a:ea typeface="微软雅黑"/>
                <a:cs typeface="微软雅黑"/>
              </a:defRPr>
            </a:pPr>
            <a:r>
              <a:rPr kumimoji="1" lang="zh-CN" altLang="en-US" sz="1000" dirty="0">
                <a:solidFill>
                  <a:srgbClr val="383838"/>
                </a:solidFill>
                <a:latin typeface="微软雅黑"/>
                <a:ea typeface="微软雅黑"/>
                <a:cs typeface="微软雅黑"/>
                <a:sym typeface="微软雅黑"/>
              </a:rPr>
              <a:t>确保项目交付的成果符合质量标准和客户要求，完成项目验收和交付流程。对项目的整体执行过程进行回顾和评估。</a:t>
            </a:r>
            <a:endParaRPr kumimoji="1" lang="zh-CN" altLang="en-US" sz="1000" dirty="0">
              <a:solidFill>
                <a:srgbClr val="383838"/>
              </a:solidFill>
              <a:latin typeface="微软雅黑"/>
              <a:ea typeface="微软雅黑"/>
              <a:cs typeface="微软雅黑"/>
              <a:sym typeface="微软雅黑"/>
            </a:endParaRPr>
          </a:p>
        </p:txBody>
      </p:sp>
      <p:sp>
        <p:nvSpPr>
          <p:cNvPr id="138" name="Freeform 90"/>
          <p:cNvSpPr/>
          <p:nvPr/>
        </p:nvSpPr>
        <p:spPr>
          <a:xfrm>
            <a:off x="4287504" y="3994772"/>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3368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sp>
        <p:nvSpPr>
          <p:cNvPr id="139" name="Freeform 90"/>
          <p:cNvSpPr/>
          <p:nvPr/>
        </p:nvSpPr>
        <p:spPr>
          <a:xfrm>
            <a:off x="10147284" y="3994772"/>
            <a:ext cx="216271" cy="216275"/>
          </a:xfrm>
          <a:custGeom>
            <a:avLst/>
            <a:gdLst/>
            <a:ahLst/>
            <a:cxnLst>
              <a:cxn ang="0">
                <a:pos x="wd2" y="hd2"/>
              </a:cxn>
              <a:cxn ang="5400000">
                <a:pos x="wd2" y="hd2"/>
              </a:cxn>
              <a:cxn ang="10800000">
                <a:pos x="wd2" y="hd2"/>
              </a:cxn>
              <a:cxn ang="16200000">
                <a:pos x="wd2" y="hd2"/>
              </a:cxn>
            </a:cxnLst>
            <a:rect l="0" t="0" r="r" b="b"/>
            <a:pathLst>
              <a:path w="21256" h="21256" extrusionOk="0">
                <a:moveTo>
                  <a:pt x="20740" y="9375"/>
                </a:moveTo>
                <a:lnTo>
                  <a:pt x="19290" y="7926"/>
                </a:lnTo>
                <a:cubicBezTo>
                  <a:pt x="18946" y="7582"/>
                  <a:pt x="18664" y="6902"/>
                  <a:pt x="18664" y="6414"/>
                </a:cubicBezTo>
                <a:lnTo>
                  <a:pt x="18664" y="4365"/>
                </a:lnTo>
                <a:cubicBezTo>
                  <a:pt x="18664" y="3389"/>
                  <a:pt x="17868" y="2593"/>
                  <a:pt x="16893" y="2592"/>
                </a:cubicBezTo>
                <a:lnTo>
                  <a:pt x="14842" y="2592"/>
                </a:lnTo>
                <a:cubicBezTo>
                  <a:pt x="14355" y="2592"/>
                  <a:pt x="13674" y="2310"/>
                  <a:pt x="13330" y="1966"/>
                </a:cubicBezTo>
                <a:lnTo>
                  <a:pt x="11881" y="517"/>
                </a:lnTo>
                <a:cubicBezTo>
                  <a:pt x="11192" y="-172"/>
                  <a:pt x="10064" y="-172"/>
                  <a:pt x="9376" y="517"/>
                </a:cubicBezTo>
                <a:lnTo>
                  <a:pt x="7926" y="1967"/>
                </a:lnTo>
                <a:cubicBezTo>
                  <a:pt x="7582" y="2311"/>
                  <a:pt x="6900" y="2593"/>
                  <a:pt x="6414" y="2593"/>
                </a:cubicBezTo>
                <a:lnTo>
                  <a:pt x="4364" y="2593"/>
                </a:lnTo>
                <a:cubicBezTo>
                  <a:pt x="3391" y="2593"/>
                  <a:pt x="2593" y="3389"/>
                  <a:pt x="2593" y="4365"/>
                </a:cubicBezTo>
                <a:lnTo>
                  <a:pt x="2593" y="6414"/>
                </a:lnTo>
                <a:cubicBezTo>
                  <a:pt x="2593" y="6900"/>
                  <a:pt x="2311" y="7582"/>
                  <a:pt x="1967" y="7926"/>
                </a:cubicBezTo>
                <a:lnTo>
                  <a:pt x="517" y="9375"/>
                </a:lnTo>
                <a:cubicBezTo>
                  <a:pt x="-172" y="10064"/>
                  <a:pt x="-172" y="11192"/>
                  <a:pt x="517" y="11882"/>
                </a:cubicBezTo>
                <a:lnTo>
                  <a:pt x="1967" y="13331"/>
                </a:lnTo>
                <a:cubicBezTo>
                  <a:pt x="2311" y="13675"/>
                  <a:pt x="2593" y="14357"/>
                  <a:pt x="2593" y="14843"/>
                </a:cubicBezTo>
                <a:lnTo>
                  <a:pt x="2593" y="16892"/>
                </a:lnTo>
                <a:cubicBezTo>
                  <a:pt x="2593" y="17867"/>
                  <a:pt x="3391" y="18664"/>
                  <a:pt x="4364" y="18664"/>
                </a:cubicBezTo>
                <a:lnTo>
                  <a:pt x="6414" y="18664"/>
                </a:lnTo>
                <a:cubicBezTo>
                  <a:pt x="6901" y="18664"/>
                  <a:pt x="7582" y="18946"/>
                  <a:pt x="7926" y="19290"/>
                </a:cubicBezTo>
                <a:lnTo>
                  <a:pt x="9376" y="20740"/>
                </a:lnTo>
                <a:cubicBezTo>
                  <a:pt x="10064" y="21428"/>
                  <a:pt x="11192" y="21428"/>
                  <a:pt x="11881" y="20740"/>
                </a:cubicBezTo>
                <a:lnTo>
                  <a:pt x="13330" y="19290"/>
                </a:lnTo>
                <a:cubicBezTo>
                  <a:pt x="13674" y="18946"/>
                  <a:pt x="14355" y="18664"/>
                  <a:pt x="14842" y="18664"/>
                </a:cubicBezTo>
                <a:lnTo>
                  <a:pt x="16893" y="18664"/>
                </a:lnTo>
                <a:cubicBezTo>
                  <a:pt x="17868" y="18664"/>
                  <a:pt x="18664" y="17867"/>
                  <a:pt x="18664" y="16892"/>
                </a:cubicBezTo>
                <a:lnTo>
                  <a:pt x="18664" y="14843"/>
                </a:lnTo>
                <a:cubicBezTo>
                  <a:pt x="18664" y="14355"/>
                  <a:pt x="18946" y="13675"/>
                  <a:pt x="19290" y="13331"/>
                </a:cubicBezTo>
                <a:lnTo>
                  <a:pt x="20740" y="11882"/>
                </a:lnTo>
                <a:cubicBezTo>
                  <a:pt x="21428" y="11192"/>
                  <a:pt x="21428" y="10064"/>
                  <a:pt x="20740" y="9375"/>
                </a:cubicBezTo>
                <a:close/>
                <a:moveTo>
                  <a:pt x="9222" y="14614"/>
                </a:moveTo>
                <a:lnTo>
                  <a:pt x="5314" y="10705"/>
                </a:lnTo>
                <a:lnTo>
                  <a:pt x="6566" y="9453"/>
                </a:lnTo>
                <a:lnTo>
                  <a:pt x="9222" y="12109"/>
                </a:lnTo>
                <a:lnTo>
                  <a:pt x="14690" y="6643"/>
                </a:lnTo>
                <a:lnTo>
                  <a:pt x="15942" y="7895"/>
                </a:lnTo>
                <a:lnTo>
                  <a:pt x="9222" y="14614"/>
                </a:lnTo>
                <a:close/>
              </a:path>
            </a:pathLst>
          </a:custGeom>
          <a:solidFill>
            <a:srgbClr val="0042FF"/>
          </a:solidFill>
          <a:ln w="12700" cap="flat">
            <a:noFill/>
            <a:miter lim="400000"/>
          </a:ln>
          <a:effectLst/>
        </p:spPr>
        <p:txBody>
          <a:bodyPr wrap="square" lIns="0" tIns="0" rIns="0" bIns="0" numCol="1" anchor="ctr">
            <a:noAutofit/>
          </a:bodyPr>
          <a:lstStyle/>
          <a:p>
            <a:pPr defTabSz="457200">
              <a:defRPr sz="1800">
                <a:solidFill>
                  <a:srgbClr val="FFFFFF"/>
                </a:solidFill>
                <a:latin typeface="微软雅黑"/>
                <a:ea typeface="微软雅黑"/>
                <a:cs typeface="微软雅黑"/>
                <a:sym typeface="微软雅黑"/>
              </a:defRPr>
            </a:pPr>
            <a:endParaRPr sz="1000">
              <a:solidFill>
                <a:srgbClr val="FFFFFF"/>
              </a:solidFill>
              <a:latin typeface="微软雅黑"/>
              <a:ea typeface="微软雅黑"/>
              <a:cs typeface="微软雅黑"/>
              <a:sym typeface="微软雅黑"/>
            </a:endParaRPr>
          </a:p>
        </p:txBody>
      </p:sp>
      <p:pic>
        <p:nvPicPr>
          <p:cNvPr id="43" name="图片 42" descr="数据服务"/>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834120" y="2729865"/>
            <a:ext cx="386080" cy="386080"/>
          </a:xfrm>
          <a:prstGeom prst="rect">
            <a:avLst/>
          </a:prstGeom>
        </p:spPr>
      </p:pic>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6" name="图片 5"/>
            <p:cNvPicPr>
              <a:picLocks noChangeAspect="1"/>
            </p:cNvPicPr>
            <p:nvPr userDrawn="1"/>
          </p:nvPicPr>
          <p:blipFill>
            <a:blip r:embed="rId5"/>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天蝎PPT原创©18"/>
          <p:cNvSpPr/>
          <p:nvPr/>
        </p:nvSpPr>
        <p:spPr>
          <a:xfrm rot="5400000">
            <a:off x="5872206" y="-4345145"/>
            <a:ext cx="780763" cy="11389299"/>
          </a:xfrm>
          <a:custGeom>
            <a:avLst/>
            <a:gdLst>
              <a:gd name="connsiteX0" fmla="*/ 0 w 298898"/>
              <a:gd name="connsiteY0" fmla="*/ 257670 h 10698196"/>
              <a:gd name="connsiteX1" fmla="*/ 149449 w 298898"/>
              <a:gd name="connsiteY1" fmla="*/ 0 h 10698196"/>
              <a:gd name="connsiteX2" fmla="*/ 298898 w 298898"/>
              <a:gd name="connsiteY2" fmla="*/ 257670 h 10698196"/>
              <a:gd name="connsiteX3" fmla="*/ 213612 w 298898"/>
              <a:gd name="connsiteY3" fmla="*/ 257670 h 10698196"/>
              <a:gd name="connsiteX4" fmla="*/ 213612 w 298898"/>
              <a:gd name="connsiteY4" fmla="*/ 10698196 h 10698196"/>
              <a:gd name="connsiteX5" fmla="*/ 87002 w 298898"/>
              <a:gd name="connsiteY5" fmla="*/ 10698196 h 10698196"/>
              <a:gd name="connsiteX6" fmla="*/ 87002 w 298898"/>
              <a:gd name="connsiteY6" fmla="*/ 257670 h 10698196"/>
              <a:gd name="connsiteX0-1" fmla="*/ 0 w 270261"/>
              <a:gd name="connsiteY0-2" fmla="*/ 271117 h 10698196"/>
              <a:gd name="connsiteX1-3" fmla="*/ 120812 w 270261"/>
              <a:gd name="connsiteY1-4" fmla="*/ 0 h 10698196"/>
              <a:gd name="connsiteX2-5" fmla="*/ 270261 w 270261"/>
              <a:gd name="connsiteY2-6" fmla="*/ 257670 h 10698196"/>
              <a:gd name="connsiteX3-7" fmla="*/ 184975 w 270261"/>
              <a:gd name="connsiteY3-8" fmla="*/ 257670 h 10698196"/>
              <a:gd name="connsiteX4-9" fmla="*/ 184975 w 270261"/>
              <a:gd name="connsiteY4-10" fmla="*/ 10698196 h 10698196"/>
              <a:gd name="connsiteX5-11" fmla="*/ 58365 w 270261"/>
              <a:gd name="connsiteY5-12" fmla="*/ 10698196 h 10698196"/>
              <a:gd name="connsiteX6-13" fmla="*/ 58365 w 270261"/>
              <a:gd name="connsiteY6-14" fmla="*/ 257670 h 10698196"/>
              <a:gd name="connsiteX7" fmla="*/ 0 w 270261"/>
              <a:gd name="connsiteY7" fmla="*/ 271117 h 10698196"/>
              <a:gd name="connsiteX0-15" fmla="*/ 0 w 270261"/>
              <a:gd name="connsiteY0-16" fmla="*/ 432483 h 10859562"/>
              <a:gd name="connsiteX1-17" fmla="*/ 120813 w 270261"/>
              <a:gd name="connsiteY1-18" fmla="*/ 0 h 10859562"/>
              <a:gd name="connsiteX2-19" fmla="*/ 270261 w 270261"/>
              <a:gd name="connsiteY2-20" fmla="*/ 419036 h 10859562"/>
              <a:gd name="connsiteX3-21" fmla="*/ 184975 w 270261"/>
              <a:gd name="connsiteY3-22" fmla="*/ 419036 h 10859562"/>
              <a:gd name="connsiteX4-23" fmla="*/ 184975 w 270261"/>
              <a:gd name="connsiteY4-24" fmla="*/ 10859562 h 10859562"/>
              <a:gd name="connsiteX5-25" fmla="*/ 58365 w 270261"/>
              <a:gd name="connsiteY5-26" fmla="*/ 10859562 h 10859562"/>
              <a:gd name="connsiteX6-27" fmla="*/ 58365 w 270261"/>
              <a:gd name="connsiteY6-28" fmla="*/ 419036 h 10859562"/>
              <a:gd name="connsiteX7-29" fmla="*/ 0 w 270261"/>
              <a:gd name="connsiteY7-30" fmla="*/ 432483 h 10859562"/>
              <a:gd name="connsiteX0-31" fmla="*/ 0 w 237533"/>
              <a:gd name="connsiteY0-32" fmla="*/ 432483 h 10859562"/>
              <a:gd name="connsiteX1-33" fmla="*/ 120813 w 237533"/>
              <a:gd name="connsiteY1-34" fmla="*/ 0 h 10859562"/>
              <a:gd name="connsiteX2-35" fmla="*/ 237533 w 237533"/>
              <a:gd name="connsiteY2-36" fmla="*/ 405589 h 10859562"/>
              <a:gd name="connsiteX3-37" fmla="*/ 184975 w 237533"/>
              <a:gd name="connsiteY3-38" fmla="*/ 419036 h 10859562"/>
              <a:gd name="connsiteX4-39" fmla="*/ 184975 w 237533"/>
              <a:gd name="connsiteY4-40" fmla="*/ 10859562 h 10859562"/>
              <a:gd name="connsiteX5-41" fmla="*/ 58365 w 237533"/>
              <a:gd name="connsiteY5-42" fmla="*/ 10859562 h 10859562"/>
              <a:gd name="connsiteX6-43" fmla="*/ 58365 w 237533"/>
              <a:gd name="connsiteY6-44" fmla="*/ 419036 h 10859562"/>
              <a:gd name="connsiteX7-45" fmla="*/ 0 w 237533"/>
              <a:gd name="connsiteY7-46" fmla="*/ 432483 h 1085956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29" y="connsiteY7-30"/>
              </a:cxn>
            </a:cxnLst>
            <a:rect l="l" t="t" r="r" b="b"/>
            <a:pathLst>
              <a:path w="237533" h="10859562">
                <a:moveTo>
                  <a:pt x="0" y="432483"/>
                </a:moveTo>
                <a:lnTo>
                  <a:pt x="120813" y="0"/>
                </a:lnTo>
                <a:lnTo>
                  <a:pt x="237533" y="405589"/>
                </a:lnTo>
                <a:lnTo>
                  <a:pt x="184975" y="419036"/>
                </a:lnTo>
                <a:lnTo>
                  <a:pt x="184975" y="10859562"/>
                </a:lnTo>
                <a:lnTo>
                  <a:pt x="58365" y="10859562"/>
                </a:lnTo>
                <a:lnTo>
                  <a:pt x="58365" y="419036"/>
                </a:lnTo>
                <a:cubicBezTo>
                  <a:pt x="29364" y="419036"/>
                  <a:pt x="29001" y="432483"/>
                  <a:pt x="0" y="432483"/>
                </a:cubicBezTo>
                <a:close/>
              </a:path>
            </a:pathLst>
          </a:custGeom>
          <a:solidFill>
            <a:srgbClr val="FFFFFF">
              <a:alpha val="65000"/>
            </a:srgbClr>
          </a:solidFill>
          <a:ln>
            <a:noFill/>
          </a:ln>
        </p:spPr>
        <p:style>
          <a:lnRef idx="2">
            <a:srgbClr val="0042FF"/>
          </a:lnRef>
          <a:fillRef idx="1">
            <a:srgbClr val="0042FF"/>
          </a:fillRef>
          <a:effectRef idx="0">
            <a:srgbClr val="0042FF"/>
          </a:effectRef>
          <a:fontRef idx="minor">
            <a:srgbClr val="FFFFFF"/>
          </a:fontRef>
        </p:style>
        <p:txBody>
          <a:bodyPr wrap="square" rtlCol="0" anchor="ctr" lIns="0" rIns="0" tIns="0" bIns="0">
            <a:noAutofit/>
          </a:bodyPr>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年度项目规划表</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天蝎PPT原创©1-1"/>
          <p:cNvSpPr/>
          <p:nvPr/>
        </p:nvSpPr>
        <p:spPr>
          <a:xfrm>
            <a:off x="361950" y="1732915"/>
            <a:ext cx="2812415" cy="3703320"/>
          </a:xfrm>
          <a:prstGeom prst="rect">
            <a:avLst/>
          </a:prstGeom>
          <a:solidFill>
            <a:srgbClr val="E6E6E6">
              <a:alpha val="34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en-US">
              <a:latin typeface="微软雅黑"/>
              <a:ea typeface="微软雅黑"/>
              <a:cs typeface="微软雅黑"/>
              <a:sym typeface="微软雅黑"/>
            </a:endParaRPr>
          </a:p>
        </p:txBody>
      </p:sp>
      <p:sp>
        <p:nvSpPr>
          <p:cNvPr id="6" name="天蝎PPT原创©1-2"/>
          <p:cNvSpPr/>
          <p:nvPr/>
        </p:nvSpPr>
        <p:spPr>
          <a:xfrm>
            <a:off x="3291840" y="1732915"/>
            <a:ext cx="2812415" cy="3703320"/>
          </a:xfrm>
          <a:prstGeom prst="rect">
            <a:avLst/>
          </a:prstGeom>
          <a:solidFill>
            <a:srgbClr val="E6E6E6">
              <a:alpha val="34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en-US">
              <a:latin typeface="微软雅黑"/>
              <a:ea typeface="微软雅黑"/>
              <a:cs typeface="微软雅黑"/>
              <a:sym typeface="微软雅黑"/>
            </a:endParaRPr>
          </a:p>
        </p:txBody>
      </p:sp>
      <p:sp>
        <p:nvSpPr>
          <p:cNvPr id="7" name="天蝎PPT原创©1-3"/>
          <p:cNvSpPr/>
          <p:nvPr/>
        </p:nvSpPr>
        <p:spPr>
          <a:xfrm>
            <a:off x="6205220" y="1732915"/>
            <a:ext cx="2812415" cy="3702685"/>
          </a:xfrm>
          <a:prstGeom prst="rect">
            <a:avLst/>
          </a:prstGeom>
          <a:solidFill>
            <a:srgbClr val="E6E6E6">
              <a:alpha val="34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en-US">
              <a:latin typeface="微软雅黑"/>
              <a:ea typeface="微软雅黑"/>
              <a:cs typeface="微软雅黑"/>
              <a:sym typeface="微软雅黑"/>
            </a:endParaRPr>
          </a:p>
        </p:txBody>
      </p:sp>
      <p:sp>
        <p:nvSpPr>
          <p:cNvPr id="9" name="天蝎PPT原创©1-4"/>
          <p:cNvSpPr/>
          <p:nvPr/>
        </p:nvSpPr>
        <p:spPr>
          <a:xfrm>
            <a:off x="9135110" y="1732915"/>
            <a:ext cx="2812415" cy="3702685"/>
          </a:xfrm>
          <a:prstGeom prst="rect">
            <a:avLst/>
          </a:prstGeom>
          <a:solidFill>
            <a:srgbClr val="E6E6E6">
              <a:alpha val="34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en-US">
              <a:latin typeface="微软雅黑"/>
              <a:ea typeface="微软雅黑"/>
              <a:cs typeface="微软雅黑"/>
              <a:sym typeface="微软雅黑"/>
            </a:endParaRPr>
          </a:p>
        </p:txBody>
      </p:sp>
      <p:sp>
        <p:nvSpPr>
          <p:cNvPr id="410" name="天蝎PPT原创©2-1"/>
          <p:cNvSpPr/>
          <p:nvPr/>
        </p:nvSpPr>
        <p:spPr>
          <a:xfrm>
            <a:off x="372110" y="1731010"/>
            <a:ext cx="2812415" cy="983615"/>
          </a:xfrm>
          <a:prstGeom prst="rect">
            <a:avLst/>
          </a:prstGeom>
          <a:gradFill flip="none" rotWithShape="1">
            <a:gsLst>
              <a:gs pos="2900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411" name="天蝎PPT原创©2-2"/>
          <p:cNvSpPr/>
          <p:nvPr/>
        </p:nvSpPr>
        <p:spPr>
          <a:xfrm>
            <a:off x="3302000" y="1731010"/>
            <a:ext cx="2812415" cy="983615"/>
          </a:xfrm>
          <a:prstGeom prst="rect">
            <a:avLst/>
          </a:prstGeom>
          <a:gradFill flip="none" rotWithShape="1">
            <a:gsLst>
              <a:gs pos="29000">
                <a:srgbClr val="3368FF"/>
              </a:gs>
              <a:gs pos="98000">
                <a:srgbClr val="668E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412" name="天蝎PPT原创©2-3"/>
          <p:cNvSpPr/>
          <p:nvPr/>
        </p:nvSpPr>
        <p:spPr>
          <a:xfrm>
            <a:off x="6214745" y="1731010"/>
            <a:ext cx="2812415" cy="983615"/>
          </a:xfrm>
          <a:prstGeom prst="rect">
            <a:avLst/>
          </a:prstGeom>
          <a:gradFill flip="none" rotWithShape="1">
            <a:gsLst>
              <a:gs pos="29000">
                <a:srgbClr val="0042FF"/>
              </a:gs>
              <a:gs pos="99000">
                <a:srgbClr val="3368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413" name="天蝎PPT原创©2-4"/>
          <p:cNvSpPr/>
          <p:nvPr/>
        </p:nvSpPr>
        <p:spPr>
          <a:xfrm>
            <a:off x="9144635" y="1731010"/>
            <a:ext cx="2812415" cy="983615"/>
          </a:xfrm>
          <a:prstGeom prst="rect">
            <a:avLst/>
          </a:prstGeom>
          <a:gradFill flip="none" rotWithShape="1">
            <a:gsLst>
              <a:gs pos="29000">
                <a:srgbClr val="3368FF"/>
              </a:gs>
              <a:gs pos="98000">
                <a:srgbClr val="668EFF"/>
              </a:gs>
            </a:gsLst>
            <a:lin ang="13500000" scaled="1"/>
            <a:tileRect/>
          </a:gradFill>
          <a:ln>
            <a:noFill/>
          </a:ln>
          <a:effectLst/>
        </p:spPr>
        <p:style>
          <a:lnRef idx="2">
            <a:srgbClr val="0042FF"/>
          </a:lnRef>
          <a:fillRef idx="1">
            <a:srgbClr val="0042FF"/>
          </a:fillRef>
          <a:effectRef idx="0">
            <a:srgbClr val="0042FF"/>
          </a:effectRef>
          <a:fontRef idx="minor">
            <a:srgbClr val="FFFFFF"/>
          </a:fontRef>
        </p:style>
        <p:txBody>
          <a:bodyPr spcFirstLastPara="0" vertOverflow="overflow" horzOverflow="overflow" vert="horz" wrap="square" lIns="0" tIns="0" rIns="0" bIns="0"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kumimoji="1" lang="en-US">
              <a:solidFill>
                <a:srgbClr val="FFFFFF"/>
              </a:solidFill>
              <a:latin typeface="微软雅黑"/>
              <a:ea typeface="微软雅黑"/>
              <a:cs typeface="微软雅黑"/>
              <a:sym typeface="微软雅黑"/>
            </a:endParaRPr>
          </a:p>
        </p:txBody>
      </p:sp>
      <p:sp>
        <p:nvSpPr>
          <p:cNvPr id="344" name="天蝎PPT原创©7"/>
          <p:cNvSpPr/>
          <p:nvPr>
            <p:custDataLst>
              <p:tags r:id="rId3"/>
            </p:custDataLst>
          </p:nvPr>
        </p:nvSpPr>
        <p:spPr>
          <a:xfrm>
            <a:off x="371833" y="5567848"/>
            <a:ext cx="1854681" cy="990293"/>
          </a:xfrm>
          <a:prstGeom prst="rect">
            <a:avLst/>
          </a:prstGeom>
          <a:gradFill>
            <a:gsLst>
              <a:gs pos="29000">
                <a:srgbClr val="3368FF"/>
              </a:gs>
              <a:gs pos="99000">
                <a:srgbClr val="B3D4FE"/>
              </a:gs>
            </a:gsLst>
            <a:lin ang="135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345" name="天蝎PPT原创©8"/>
          <p:cNvSpPr/>
          <p:nvPr>
            <p:custDataLst>
              <p:tags r:id="rId4"/>
            </p:custDataLst>
          </p:nvPr>
        </p:nvSpPr>
        <p:spPr>
          <a:xfrm>
            <a:off x="2302525" y="5567848"/>
            <a:ext cx="9654713" cy="990293"/>
          </a:xfrm>
          <a:prstGeom prst="rect">
            <a:avLst/>
          </a:prstGeom>
          <a:solidFill>
            <a:srgbClr val="FFFFFF">
              <a:alpha val="5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algn="ctr">
              <a:defRPr>
                <a:latin typeface="微软雅黑"/>
                <a:ea typeface="微软雅黑"/>
                <a:cs typeface="微软雅黑"/>
              </a:defRPr>
            </a:pPr>
            <a:endParaRPr kumimoji="1" lang="zh-CN" altLang="en-US" dirty="0">
              <a:latin typeface="微软雅黑"/>
              <a:ea typeface="微软雅黑"/>
              <a:cs typeface="微软雅黑"/>
              <a:sym typeface="微软雅黑"/>
            </a:endParaRPr>
          </a:p>
        </p:txBody>
      </p:sp>
      <p:sp>
        <p:nvSpPr>
          <p:cNvPr id="377" name="天蝎PPT原创©9"/>
          <p:cNvSpPr txBox="1"/>
          <p:nvPr/>
        </p:nvSpPr>
        <p:spPr>
          <a:xfrm>
            <a:off x="2633926" y="5702051"/>
            <a:ext cx="1441420" cy="688330"/>
          </a:xfrm>
          <a:prstGeom prst="rect">
            <a:avLst/>
          </a:prstGeom>
          <a:noFill/>
        </p:spPr>
        <p:txBody>
          <a:bodyPr wrap="none" lIns="0" rIns="0" tIns="0" bIns="0">
            <a:spAutoFit/>
          </a:bodyPr>
          <a:lstStyle>
            <a:defPPr>
              <a:defRPr lang="zh-CN">
                <a:latin typeface="微软雅黑"/>
                <a:ea typeface="微软雅黑"/>
                <a:cs typeface="微软雅黑"/>
              </a:defRPr>
            </a:defPPr>
            <a:lvl1pPr>
              <a:defRPr sz="1200">
                <a:solidFill>
                  <a:srgbClr val="383838"/>
                </a:solidFill>
                <a:latin typeface="微软雅黑"/>
                <a:ea typeface="微软雅黑"/>
                <a:cs typeface="微软雅黑"/>
              </a:defRPr>
            </a:lvl1pPr>
          </a:lstStyle>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全年累计销售额</a:t>
            </a:r>
            <a:endParaRPr lang="en-US" altLang="zh-CN" sz="1400" dirty="0">
              <a:solidFill>
                <a:srgbClr val="383838"/>
              </a:solidFill>
              <a:latin typeface="微软雅黑"/>
              <a:ea typeface="微软雅黑"/>
              <a:cs typeface="微软雅黑"/>
              <a:sym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lang="en-US" altLang="zh-CN" sz="2000" b="1" dirty="0">
                <a:solidFill>
                  <a:srgbClr val="0042FF"/>
                </a:solidFill>
                <a:latin typeface="微软雅黑"/>
                <a:ea typeface="微软雅黑"/>
                <a:cs typeface="微软雅黑"/>
                <a:sym typeface="微软雅黑"/>
              </a:rPr>
              <a:t>2</a:t>
            </a:r>
            <a:r>
              <a:rPr kumimoji="0" lang="en-US" altLang="zh-CN" sz="2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005 </a:t>
            </a:r>
            <a:r>
              <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万元</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cxnSp>
        <p:nvCxnSpPr>
          <p:cNvPr id="378" name="天蝎PPT原创©10"/>
          <p:cNvCxnSpPr/>
          <p:nvPr/>
        </p:nvCxnSpPr>
        <p:spPr>
          <a:xfrm>
            <a:off x="4307409" y="5792580"/>
            <a:ext cx="0" cy="497676"/>
          </a:xfrm>
          <a:prstGeom prst="line">
            <a:avLst/>
          </a:prstGeom>
          <a:ln w="6350">
            <a:solidFill>
              <a:srgbClr val="383838">
                <a:alpha val="50000"/>
              </a:srgbClr>
            </a:solidFill>
            <a:prstDash val="dash"/>
          </a:ln>
        </p:spPr>
        <p:style>
          <a:lnRef idx="2">
            <a:srgbClr val="0042FF"/>
          </a:lnRef>
          <a:fillRef idx="0">
            <a:srgbClr val="0042FF"/>
          </a:fillRef>
          <a:effectRef idx="1">
            <a:srgbClr val="0042FF"/>
          </a:effectRef>
          <a:fontRef idx="minor">
            <a:srgbClr val="383838"/>
          </a:fontRef>
        </p:style>
      </p:cxnSp>
      <p:sp>
        <p:nvSpPr>
          <p:cNvPr id="379" name="天蝎PPT原创©11"/>
          <p:cNvSpPr txBox="1"/>
          <p:nvPr/>
        </p:nvSpPr>
        <p:spPr>
          <a:xfrm>
            <a:off x="4719013" y="5702051"/>
            <a:ext cx="1082348" cy="686278"/>
          </a:xfrm>
          <a:prstGeom prst="rect">
            <a:avLst/>
          </a:prstGeom>
          <a:noFill/>
        </p:spPr>
        <p:txBody>
          <a:bodyPr wrap="none" lIns="0" rIns="0" tIns="0" bIns="0">
            <a:spAutoFit/>
          </a:bodyPr>
          <a:lstStyle>
            <a:defPPr>
              <a:defRPr lang="zh-CN">
                <a:latin typeface="微软雅黑"/>
                <a:ea typeface="微软雅黑"/>
                <a:cs typeface="微软雅黑"/>
              </a:defRPr>
            </a:defPPr>
            <a:lvl1pPr>
              <a:defRPr sz="1200">
                <a:solidFill>
                  <a:srgbClr val="383838"/>
                </a:solidFill>
                <a:latin typeface="微软雅黑"/>
                <a:ea typeface="微软雅黑"/>
                <a:cs typeface="微软雅黑"/>
              </a:defRPr>
            </a:lvl1pPr>
          </a:lstStyle>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团队扩充至</a:t>
            </a:r>
            <a:endParaRPr lang="en-US" altLang="zh-CN" sz="1400" dirty="0">
              <a:solidFill>
                <a:srgbClr val="383838"/>
              </a:solidFill>
              <a:latin typeface="微软雅黑"/>
              <a:ea typeface="微软雅黑"/>
              <a:cs typeface="微软雅黑"/>
              <a:sym typeface="微软雅黑"/>
            </a:endParaRPr>
          </a:p>
          <a:p>
            <a:pPr algn="ctr">
              <a:lnSpc>
                <a:spcPct val="120000"/>
              </a:lnSpc>
              <a:defRPr>
                <a:latin typeface="微软雅黑"/>
                <a:ea typeface="微软雅黑"/>
                <a:cs typeface="微软雅黑"/>
              </a:defRPr>
            </a:pPr>
            <a:r>
              <a:rPr lang="en-US" altLang="zh-CN" sz="2000" b="1" dirty="0">
                <a:solidFill>
                  <a:srgbClr val="0042FF"/>
                </a:solidFill>
                <a:latin typeface="微软雅黑"/>
                <a:ea typeface="微软雅黑"/>
                <a:cs typeface="微软雅黑"/>
                <a:sym typeface="微软雅黑"/>
              </a:rPr>
              <a:t>25</a:t>
            </a:r>
            <a:r>
              <a:rPr lang="zh-CN" altLang="en-US" sz="1400" b="1" dirty="0">
                <a:solidFill>
                  <a:srgbClr val="0042FF"/>
                </a:solidFill>
                <a:latin typeface="微软雅黑"/>
                <a:ea typeface="微软雅黑"/>
                <a:cs typeface="微软雅黑"/>
                <a:sym typeface="微软雅黑"/>
              </a:rPr>
              <a:t>人</a:t>
            </a:r>
            <a:endParaRPr lang="zh-CN" altLang="en-US" sz="1400" b="1" dirty="0">
              <a:solidFill>
                <a:srgbClr val="0042FF"/>
              </a:solidFill>
              <a:latin typeface="微软雅黑"/>
              <a:ea typeface="微软雅黑"/>
              <a:cs typeface="微软雅黑"/>
              <a:sym typeface="微软雅黑"/>
            </a:endParaRPr>
          </a:p>
        </p:txBody>
      </p:sp>
      <p:sp>
        <p:nvSpPr>
          <p:cNvPr id="380" name="天蝎PPT原创©12"/>
          <p:cNvSpPr txBox="1"/>
          <p:nvPr/>
        </p:nvSpPr>
        <p:spPr>
          <a:xfrm>
            <a:off x="6534788" y="5702051"/>
            <a:ext cx="1261884" cy="686278"/>
          </a:xfrm>
          <a:prstGeom prst="rect">
            <a:avLst/>
          </a:prstGeom>
          <a:noFill/>
        </p:spPr>
        <p:txBody>
          <a:bodyPr wrap="none" lIns="0" rIns="0" tIns="0" bIns="0">
            <a:spAutoFit/>
          </a:bodyPr>
          <a:lstStyle>
            <a:defPPr>
              <a:defRPr lang="zh-CN">
                <a:latin typeface="微软雅黑"/>
                <a:ea typeface="微软雅黑"/>
                <a:cs typeface="微软雅黑"/>
              </a:defRPr>
            </a:defPPr>
            <a:lvl1pPr>
              <a:defRPr sz="1200">
                <a:solidFill>
                  <a:srgbClr val="383838"/>
                </a:solidFill>
                <a:latin typeface="微软雅黑"/>
                <a:ea typeface="微软雅黑"/>
                <a:cs typeface="微软雅黑"/>
              </a:defRPr>
            </a:lvl1pPr>
          </a:lstStyle>
          <a:p>
            <a:pPr algn="ctr">
              <a:lnSpc>
                <a:spcPct val="120000"/>
              </a:lnSpc>
              <a:defRPr>
                <a:latin typeface="微软雅黑"/>
                <a:ea typeface="微软雅黑"/>
                <a:cs typeface="微软雅黑"/>
              </a:defRPr>
            </a:pPr>
            <a:r>
              <a:rPr lang="zh-CN" altLang="en-US" sz="1400" dirty="0">
                <a:solidFill>
                  <a:srgbClr val="383838"/>
                </a:solidFill>
                <a:latin typeface="微软雅黑"/>
                <a:ea typeface="微软雅黑"/>
                <a:cs typeface="微软雅黑"/>
                <a:sym typeface="微软雅黑"/>
              </a:rPr>
              <a:t>会员总数突破</a:t>
            </a:r>
            <a:endParaRPr lang="en-US" altLang="zh-CN" sz="1400" dirty="0">
              <a:solidFill>
                <a:srgbClr val="383838"/>
              </a:solidFill>
              <a:latin typeface="微软雅黑"/>
              <a:ea typeface="微软雅黑"/>
              <a:cs typeface="微软雅黑"/>
              <a:sym typeface="微软雅黑"/>
            </a:endParaRPr>
          </a:p>
          <a:p>
            <a:pPr algn="ctr">
              <a:lnSpc>
                <a:spcPct val="120000"/>
              </a:lnSpc>
              <a:defRPr>
                <a:latin typeface="微软雅黑"/>
                <a:ea typeface="微软雅黑"/>
                <a:cs typeface="微软雅黑"/>
              </a:defRPr>
            </a:pPr>
            <a:r>
              <a:rPr kumimoji="0" lang="en-US" altLang="zh-CN" sz="20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15</a:t>
            </a:r>
            <a:r>
              <a:rPr lang="zh-CN" altLang="en-US" sz="1400" b="1" dirty="0">
                <a:solidFill>
                  <a:srgbClr val="0042FF"/>
                </a:solidFill>
                <a:latin typeface="微软雅黑"/>
                <a:ea typeface="微软雅黑"/>
                <a:cs typeface="微软雅黑"/>
                <a:sym typeface="微软雅黑"/>
              </a:rPr>
              <a:t>万人次</a:t>
            </a:r>
            <a:endParaRPr lang="zh-CN" altLang="en-US" sz="1400" b="1" dirty="0">
              <a:solidFill>
                <a:srgbClr val="0042FF"/>
              </a:solidFill>
              <a:latin typeface="微软雅黑"/>
              <a:ea typeface="微软雅黑"/>
              <a:cs typeface="微软雅黑"/>
              <a:sym typeface="微软雅黑"/>
            </a:endParaRPr>
          </a:p>
        </p:txBody>
      </p:sp>
      <p:sp>
        <p:nvSpPr>
          <p:cNvPr id="381" name="天蝎PPT原创©13"/>
          <p:cNvSpPr txBox="1"/>
          <p:nvPr/>
        </p:nvSpPr>
        <p:spPr>
          <a:xfrm>
            <a:off x="8207898" y="5702051"/>
            <a:ext cx="1726755" cy="686278"/>
          </a:xfrm>
          <a:prstGeom prst="rect">
            <a:avLst/>
          </a:prstGeom>
          <a:noFill/>
        </p:spPr>
        <p:txBody>
          <a:bodyPr wrap="none" lIns="0" rIns="0" tIns="0" bIns="0">
            <a:spAutoFit/>
          </a:bodyPr>
          <a:lstStyle>
            <a:defPPr>
              <a:defRPr lang="zh-CN">
                <a:latin typeface="微软雅黑"/>
                <a:ea typeface="微软雅黑"/>
                <a:cs typeface="微软雅黑"/>
              </a:defRPr>
            </a:defPPr>
            <a:lvl1pPr>
              <a:defRPr sz="1200">
                <a:solidFill>
                  <a:srgbClr val="383838"/>
                </a:solidFill>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en-US" altLang="zh-CN" sz="14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VIP</a:t>
            </a:r>
            <a:r>
              <a:rPr kumimoji="0" lang="zh-CN" altLang="en-US" sz="14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客户服务覆盖率</a:t>
            </a:r>
            <a:endParaRPr kumimoji="0" lang="en-US" altLang="zh-CN" sz="14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algn="ctr">
              <a:lnSpc>
                <a:spcPct val="120000"/>
              </a:lnSpc>
              <a:defRPr>
                <a:latin typeface="微软雅黑"/>
                <a:ea typeface="微软雅黑"/>
                <a:cs typeface="微软雅黑"/>
              </a:defRPr>
            </a:pPr>
            <a:r>
              <a:rPr lang="en-US" altLang="zh-CN" sz="2000" b="1" dirty="0">
                <a:solidFill>
                  <a:srgbClr val="0042FF"/>
                </a:solidFill>
                <a:latin typeface="微软雅黑"/>
                <a:ea typeface="微软雅黑"/>
                <a:cs typeface="微软雅黑"/>
                <a:sym typeface="微软雅黑"/>
              </a:rPr>
              <a:t>100%</a:t>
            </a:r>
            <a:endParaRPr lang="en-US" altLang="zh-CN" sz="2000" b="1" dirty="0">
              <a:solidFill>
                <a:srgbClr val="0042FF"/>
              </a:solidFill>
              <a:latin typeface="微软雅黑"/>
              <a:ea typeface="微软雅黑"/>
              <a:cs typeface="微软雅黑"/>
              <a:sym typeface="微软雅黑"/>
            </a:endParaRPr>
          </a:p>
        </p:txBody>
      </p:sp>
      <p:cxnSp>
        <p:nvCxnSpPr>
          <p:cNvPr id="383" name="天蝎PPT原创©14"/>
          <p:cNvCxnSpPr/>
          <p:nvPr/>
        </p:nvCxnSpPr>
        <p:spPr>
          <a:xfrm>
            <a:off x="6212955" y="5792580"/>
            <a:ext cx="0" cy="497676"/>
          </a:xfrm>
          <a:prstGeom prst="line">
            <a:avLst/>
          </a:prstGeom>
          <a:ln w="6350">
            <a:solidFill>
              <a:srgbClr val="383838">
                <a:alpha val="50000"/>
              </a:srgbClr>
            </a:solidFill>
            <a:prstDash val="dash"/>
          </a:ln>
        </p:spPr>
        <p:style>
          <a:lnRef idx="2">
            <a:srgbClr val="0042FF"/>
          </a:lnRef>
          <a:fillRef idx="0">
            <a:srgbClr val="0042FF"/>
          </a:fillRef>
          <a:effectRef idx="1">
            <a:srgbClr val="0042FF"/>
          </a:effectRef>
          <a:fontRef idx="minor">
            <a:srgbClr val="383838"/>
          </a:fontRef>
        </p:style>
      </p:cxnSp>
      <p:cxnSp>
        <p:nvCxnSpPr>
          <p:cNvPr id="384" name="天蝎PPT原创©15"/>
          <p:cNvCxnSpPr/>
          <p:nvPr/>
        </p:nvCxnSpPr>
        <p:spPr>
          <a:xfrm>
            <a:off x="8118501" y="5792580"/>
            <a:ext cx="0" cy="497676"/>
          </a:xfrm>
          <a:prstGeom prst="line">
            <a:avLst/>
          </a:prstGeom>
          <a:ln w="6350">
            <a:solidFill>
              <a:srgbClr val="383838">
                <a:alpha val="50000"/>
              </a:srgbClr>
            </a:solidFill>
            <a:prstDash val="dash"/>
          </a:ln>
        </p:spPr>
        <p:style>
          <a:lnRef idx="2">
            <a:srgbClr val="0042FF"/>
          </a:lnRef>
          <a:fillRef idx="0">
            <a:srgbClr val="0042FF"/>
          </a:fillRef>
          <a:effectRef idx="1">
            <a:srgbClr val="0042FF"/>
          </a:effectRef>
          <a:fontRef idx="minor">
            <a:srgbClr val="383838"/>
          </a:fontRef>
        </p:style>
      </p:cxnSp>
      <p:cxnSp>
        <p:nvCxnSpPr>
          <p:cNvPr id="385" name="天蝎PPT原创©16"/>
          <p:cNvCxnSpPr/>
          <p:nvPr/>
        </p:nvCxnSpPr>
        <p:spPr>
          <a:xfrm>
            <a:off x="10024047" y="5792580"/>
            <a:ext cx="0" cy="497676"/>
          </a:xfrm>
          <a:prstGeom prst="line">
            <a:avLst/>
          </a:prstGeom>
          <a:ln w="6350">
            <a:solidFill>
              <a:srgbClr val="383838">
                <a:alpha val="50000"/>
              </a:srgbClr>
            </a:solidFill>
            <a:prstDash val="dash"/>
          </a:ln>
        </p:spPr>
        <p:style>
          <a:lnRef idx="2">
            <a:srgbClr val="0042FF"/>
          </a:lnRef>
          <a:fillRef idx="0">
            <a:srgbClr val="0042FF"/>
          </a:fillRef>
          <a:effectRef idx="1">
            <a:srgbClr val="0042FF"/>
          </a:effectRef>
          <a:fontRef idx="minor">
            <a:srgbClr val="383838"/>
          </a:fontRef>
        </p:style>
      </p:cxnSp>
      <p:sp>
        <p:nvSpPr>
          <p:cNvPr id="389" name="天蝎PPT原创©17"/>
          <p:cNvSpPr/>
          <p:nvPr/>
        </p:nvSpPr>
        <p:spPr>
          <a:xfrm>
            <a:off x="360671" y="1145514"/>
            <a:ext cx="421067" cy="421067"/>
          </a:xfrm>
          <a:prstGeom prst="ellipse">
            <a:avLst/>
          </a:prstGeom>
          <a:gradFill flip="none" rotWithShape="1">
            <a:gsLst>
              <a:gs pos="29000">
                <a:srgbClr val="3368FF"/>
              </a:gs>
              <a:gs pos="99000">
                <a:srgbClr val="B3D4FE"/>
              </a:gs>
            </a:gsLst>
            <a:lin ang="13500000" scaled="1"/>
            <a:tileRect/>
          </a:gradFill>
          <a:ln>
            <a:noFill/>
          </a:ln>
          <a:effectLst>
            <a:outerShdw blurRad="381000" dist="190500" dir="5400000" sx="90000" sy="90000" algn="ctr"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sym typeface="微软雅黑"/>
            </a:endParaRPr>
          </a:p>
        </p:txBody>
      </p:sp>
      <p:sp>
        <p:nvSpPr>
          <p:cNvPr id="394" name="天蝎PPT原创©19"/>
          <p:cNvSpPr txBox="1"/>
          <p:nvPr/>
        </p:nvSpPr>
        <p:spPr>
          <a:xfrm>
            <a:off x="1296668" y="1174169"/>
            <a:ext cx="1334020" cy="338554"/>
          </a:xfrm>
          <a:prstGeom prst="rect">
            <a:avLst/>
          </a:prstGeom>
          <a:noFill/>
        </p:spPr>
        <p:txBody>
          <a:bodyPr wrap="none" rtlCol="0">
            <a:spAutoFit/>
          </a:bodyPr>
          <a:lstStyle/>
          <a:p>
            <a:pPr>
              <a:defRPr>
                <a:latin typeface="微软雅黑"/>
                <a:ea typeface="微软雅黑"/>
                <a:cs typeface="微软雅黑"/>
              </a:defRPr>
            </a:pPr>
            <a:r>
              <a:rPr kumimoji="1" lang="zh-CN" altLang="en-US" sz="1600" dirty="0">
                <a:solidFill>
                  <a:srgbClr val="383838"/>
                </a:solidFill>
                <a:latin typeface="微软雅黑"/>
                <a:ea typeface="微软雅黑"/>
                <a:cs typeface="微软雅黑"/>
                <a:sym typeface="微软雅黑"/>
              </a:rPr>
              <a:t>一季度</a:t>
            </a:r>
            <a:r>
              <a:rPr kumimoji="1" lang="en-US" altLang="zh-CN" sz="1600" dirty="0">
                <a:solidFill>
                  <a:srgbClr val="383838"/>
                </a:solidFill>
                <a:latin typeface="微软雅黑"/>
                <a:ea typeface="微软雅黑"/>
                <a:cs typeface="微软雅黑"/>
                <a:sym typeface="微软雅黑"/>
              </a:rPr>
              <a:t>1-3</a:t>
            </a:r>
            <a:r>
              <a:rPr kumimoji="1" lang="zh-CN" altLang="en-US" sz="1600" dirty="0">
                <a:solidFill>
                  <a:srgbClr val="383838"/>
                </a:solidFill>
                <a:latin typeface="微软雅黑"/>
                <a:ea typeface="微软雅黑"/>
                <a:cs typeface="微软雅黑"/>
                <a:sym typeface="微软雅黑"/>
              </a:rPr>
              <a:t>月</a:t>
            </a:r>
            <a:endParaRPr kumimoji="1" lang="zh-CN" altLang="en-US" sz="1600" dirty="0">
              <a:solidFill>
                <a:srgbClr val="383838"/>
              </a:solidFill>
              <a:latin typeface="微软雅黑"/>
              <a:ea typeface="微软雅黑"/>
              <a:cs typeface="微软雅黑"/>
              <a:sym typeface="微软雅黑"/>
            </a:endParaRPr>
          </a:p>
        </p:txBody>
      </p:sp>
      <p:sp>
        <p:nvSpPr>
          <p:cNvPr id="395" name="天蝎PPT原创©20"/>
          <p:cNvSpPr txBox="1"/>
          <p:nvPr/>
        </p:nvSpPr>
        <p:spPr>
          <a:xfrm>
            <a:off x="4190723" y="1185933"/>
            <a:ext cx="1334020" cy="338554"/>
          </a:xfrm>
          <a:prstGeom prst="rect">
            <a:avLst/>
          </a:prstGeom>
          <a:noFill/>
        </p:spPr>
        <p:txBody>
          <a:bodyPr wrap="none" rtlCol="0">
            <a:spAutoFit/>
          </a:bodyPr>
          <a:lstStyle/>
          <a:p>
            <a:pPr>
              <a:defRPr>
                <a:latin typeface="微软雅黑"/>
                <a:ea typeface="微软雅黑"/>
                <a:cs typeface="微软雅黑"/>
              </a:defRPr>
            </a:pPr>
            <a:r>
              <a:rPr kumimoji="1" lang="zh-CN" altLang="en-US" sz="1600" dirty="0">
                <a:solidFill>
                  <a:srgbClr val="383838"/>
                </a:solidFill>
                <a:latin typeface="微软雅黑"/>
                <a:ea typeface="微软雅黑"/>
                <a:cs typeface="微软雅黑"/>
                <a:sym typeface="微软雅黑"/>
              </a:rPr>
              <a:t>二季度</a:t>
            </a:r>
            <a:r>
              <a:rPr kumimoji="1" lang="en-US" altLang="zh-CN" sz="1600" dirty="0">
                <a:solidFill>
                  <a:srgbClr val="383838"/>
                </a:solidFill>
                <a:latin typeface="微软雅黑"/>
                <a:ea typeface="微软雅黑"/>
                <a:cs typeface="微软雅黑"/>
                <a:sym typeface="微软雅黑"/>
              </a:rPr>
              <a:t>4-6</a:t>
            </a:r>
            <a:r>
              <a:rPr kumimoji="1" lang="zh-CN" altLang="en-US" sz="1600" dirty="0">
                <a:solidFill>
                  <a:srgbClr val="383838"/>
                </a:solidFill>
                <a:latin typeface="微软雅黑"/>
                <a:ea typeface="微软雅黑"/>
                <a:cs typeface="微软雅黑"/>
                <a:sym typeface="微软雅黑"/>
              </a:rPr>
              <a:t>月</a:t>
            </a:r>
            <a:endParaRPr kumimoji="1" lang="zh-CN" altLang="en-US" sz="1600" dirty="0">
              <a:solidFill>
                <a:srgbClr val="383838"/>
              </a:solidFill>
              <a:latin typeface="微软雅黑"/>
              <a:ea typeface="微软雅黑"/>
              <a:cs typeface="微软雅黑"/>
              <a:sym typeface="微软雅黑"/>
            </a:endParaRPr>
          </a:p>
        </p:txBody>
      </p:sp>
      <p:sp>
        <p:nvSpPr>
          <p:cNvPr id="396" name="天蝎PPT原创©21"/>
          <p:cNvSpPr txBox="1"/>
          <p:nvPr/>
        </p:nvSpPr>
        <p:spPr>
          <a:xfrm>
            <a:off x="7015586" y="1196093"/>
            <a:ext cx="1334020" cy="338554"/>
          </a:xfrm>
          <a:prstGeom prst="rect">
            <a:avLst/>
          </a:prstGeom>
          <a:noFill/>
        </p:spPr>
        <p:txBody>
          <a:bodyPr wrap="none" rtlCol="0">
            <a:spAutoFit/>
          </a:bodyPr>
          <a:lstStyle/>
          <a:p>
            <a:pPr>
              <a:defRPr>
                <a:latin typeface="微软雅黑"/>
                <a:ea typeface="微软雅黑"/>
                <a:cs typeface="微软雅黑"/>
              </a:defRPr>
            </a:pPr>
            <a:r>
              <a:rPr kumimoji="1" lang="zh-CN" altLang="en-US" sz="1600" dirty="0">
                <a:solidFill>
                  <a:srgbClr val="383838"/>
                </a:solidFill>
                <a:latin typeface="微软雅黑"/>
                <a:ea typeface="微软雅黑"/>
                <a:cs typeface="微软雅黑"/>
                <a:sym typeface="微软雅黑"/>
              </a:rPr>
              <a:t>三季度</a:t>
            </a:r>
            <a:r>
              <a:rPr kumimoji="1" lang="en-US" altLang="zh-CN" sz="1600" dirty="0">
                <a:solidFill>
                  <a:srgbClr val="383838"/>
                </a:solidFill>
                <a:latin typeface="微软雅黑"/>
                <a:ea typeface="微软雅黑"/>
                <a:cs typeface="微软雅黑"/>
                <a:sym typeface="微软雅黑"/>
              </a:rPr>
              <a:t>7-9</a:t>
            </a:r>
            <a:r>
              <a:rPr kumimoji="1" lang="zh-CN" altLang="en-US" sz="1600" dirty="0">
                <a:solidFill>
                  <a:srgbClr val="383838"/>
                </a:solidFill>
                <a:latin typeface="微软雅黑"/>
                <a:ea typeface="微软雅黑"/>
                <a:cs typeface="微软雅黑"/>
                <a:sym typeface="微软雅黑"/>
              </a:rPr>
              <a:t>月</a:t>
            </a:r>
            <a:endParaRPr kumimoji="1" lang="zh-CN" altLang="en-US" sz="1600" dirty="0">
              <a:solidFill>
                <a:srgbClr val="383838"/>
              </a:solidFill>
              <a:latin typeface="微软雅黑"/>
              <a:ea typeface="微软雅黑"/>
              <a:cs typeface="微软雅黑"/>
              <a:sym typeface="微软雅黑"/>
            </a:endParaRPr>
          </a:p>
        </p:txBody>
      </p:sp>
      <p:sp>
        <p:nvSpPr>
          <p:cNvPr id="397" name="天蝎PPT原创©22"/>
          <p:cNvSpPr txBox="1"/>
          <p:nvPr/>
        </p:nvSpPr>
        <p:spPr>
          <a:xfrm>
            <a:off x="9734641" y="1196093"/>
            <a:ext cx="1574470" cy="338554"/>
          </a:xfrm>
          <a:prstGeom prst="rect">
            <a:avLst/>
          </a:prstGeom>
          <a:noFill/>
        </p:spPr>
        <p:txBody>
          <a:bodyPr wrap="none" rtlCol="0">
            <a:spAutoFit/>
          </a:bodyPr>
          <a:lstStyle/>
          <a:p>
            <a:pPr>
              <a:defRPr>
                <a:latin typeface="微软雅黑"/>
                <a:ea typeface="微软雅黑"/>
                <a:cs typeface="微软雅黑"/>
              </a:defRPr>
            </a:pPr>
            <a:r>
              <a:rPr kumimoji="1" lang="zh-CN" altLang="en-US" sz="1600" dirty="0">
                <a:solidFill>
                  <a:srgbClr val="383838"/>
                </a:solidFill>
                <a:latin typeface="微软雅黑"/>
                <a:ea typeface="微软雅黑"/>
                <a:cs typeface="微软雅黑"/>
                <a:sym typeface="微软雅黑"/>
              </a:rPr>
              <a:t>四季度</a:t>
            </a:r>
            <a:r>
              <a:rPr kumimoji="1" lang="en-US" altLang="zh-CN" sz="1600" dirty="0">
                <a:solidFill>
                  <a:srgbClr val="383838"/>
                </a:solidFill>
                <a:latin typeface="微软雅黑"/>
                <a:ea typeface="微软雅黑"/>
                <a:cs typeface="微软雅黑"/>
                <a:sym typeface="微软雅黑"/>
              </a:rPr>
              <a:t>10-12</a:t>
            </a:r>
            <a:r>
              <a:rPr kumimoji="1" lang="zh-CN" altLang="en-US" sz="1600" dirty="0">
                <a:solidFill>
                  <a:srgbClr val="383838"/>
                </a:solidFill>
                <a:latin typeface="微软雅黑"/>
                <a:ea typeface="微软雅黑"/>
                <a:cs typeface="微软雅黑"/>
                <a:sym typeface="微软雅黑"/>
              </a:rPr>
              <a:t>月</a:t>
            </a:r>
            <a:endParaRPr kumimoji="1" lang="zh-CN" altLang="en-US" sz="1600" dirty="0">
              <a:solidFill>
                <a:srgbClr val="383838"/>
              </a:solidFill>
              <a:latin typeface="微软雅黑"/>
              <a:ea typeface="微软雅黑"/>
              <a:cs typeface="微软雅黑"/>
              <a:sym typeface="微软雅黑"/>
            </a:endParaRPr>
          </a:p>
        </p:txBody>
      </p:sp>
      <p:cxnSp>
        <p:nvCxnSpPr>
          <p:cNvPr id="16" name="天蝎PPT原创©24"/>
          <p:cNvCxnSpPr/>
          <p:nvPr/>
        </p:nvCxnSpPr>
        <p:spPr>
          <a:xfrm>
            <a:off x="1878666" y="1852380"/>
            <a:ext cx="0" cy="739048"/>
          </a:xfrm>
          <a:prstGeom prst="line">
            <a:avLst/>
          </a:prstGeom>
          <a:ln w="9525">
            <a:solidFill>
              <a:srgbClr val="FFFFFF">
                <a:alpha val="30000"/>
              </a:srgbClr>
            </a:solidFill>
            <a:prstDash val="dash"/>
          </a:ln>
        </p:spPr>
        <p:style>
          <a:lnRef idx="2">
            <a:srgbClr val="0042FF"/>
          </a:lnRef>
          <a:fillRef idx="0">
            <a:srgbClr val="0042FF"/>
          </a:fillRef>
          <a:effectRef idx="1">
            <a:srgbClr val="0042FF"/>
          </a:effectRef>
          <a:fontRef idx="minor">
            <a:srgbClr val="383838"/>
          </a:fontRef>
        </p:style>
      </p:cxnSp>
      <p:sp>
        <p:nvSpPr>
          <p:cNvPr id="17" name="天蝎PPT原创©25"/>
          <p:cNvSpPr/>
          <p:nvPr/>
        </p:nvSpPr>
        <p:spPr>
          <a:xfrm>
            <a:off x="3279180" y="1145514"/>
            <a:ext cx="421067" cy="421067"/>
          </a:xfrm>
          <a:prstGeom prst="ellipse">
            <a:avLst/>
          </a:prstGeom>
          <a:gradFill flip="none" rotWithShape="1">
            <a:gsLst>
              <a:gs pos="29000">
                <a:srgbClr val="3368FF"/>
              </a:gs>
              <a:gs pos="99000">
                <a:srgbClr val="B3D4FE"/>
              </a:gs>
            </a:gsLst>
            <a:lin ang="13500000" scaled="1"/>
            <a:tileRect/>
          </a:gradFill>
          <a:ln>
            <a:noFill/>
          </a:ln>
          <a:effectLst>
            <a:outerShdw blurRad="381000" dist="190500" dir="5400000" sx="90000" sy="90000" algn="ctr"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405" name="天蝎PPT原创©27"/>
          <p:cNvSpPr/>
          <p:nvPr/>
        </p:nvSpPr>
        <p:spPr>
          <a:xfrm>
            <a:off x="6174299" y="1145514"/>
            <a:ext cx="421067" cy="421067"/>
          </a:xfrm>
          <a:prstGeom prst="ellipse">
            <a:avLst/>
          </a:prstGeom>
          <a:gradFill flip="none" rotWithShape="1">
            <a:gsLst>
              <a:gs pos="29000">
                <a:srgbClr val="3368FF"/>
              </a:gs>
              <a:gs pos="99000">
                <a:srgbClr val="B3D4FE"/>
              </a:gs>
            </a:gsLst>
            <a:lin ang="13500000" scaled="1"/>
            <a:tileRect/>
          </a:gradFill>
          <a:ln>
            <a:noFill/>
          </a:ln>
          <a:effectLst>
            <a:outerShdw blurRad="381000" dist="190500" dir="5400000" sx="90000" sy="90000" algn="ctr"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407" name="天蝎PPT原创©29"/>
          <p:cNvSpPr/>
          <p:nvPr/>
        </p:nvSpPr>
        <p:spPr>
          <a:xfrm>
            <a:off x="9038232" y="1145514"/>
            <a:ext cx="421067" cy="421067"/>
          </a:xfrm>
          <a:prstGeom prst="ellipse">
            <a:avLst/>
          </a:prstGeom>
          <a:gradFill flip="none" rotWithShape="1">
            <a:gsLst>
              <a:gs pos="29000">
                <a:srgbClr val="3368FF"/>
              </a:gs>
              <a:gs pos="99000">
                <a:srgbClr val="B3D4FE"/>
              </a:gs>
            </a:gsLst>
            <a:lin ang="13500000" scaled="1"/>
            <a:tileRect/>
          </a:gradFill>
          <a:ln>
            <a:noFill/>
          </a:ln>
          <a:effectLst>
            <a:outerShdw blurRad="381000" dist="190500" dir="5400000" sx="90000" sy="90000" algn="ctr" rotWithShape="0">
              <a:srgbClr val="3368FF">
                <a:alpha val="30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415" name="天蝎PPT原创©31"/>
          <p:cNvSpPr txBox="1"/>
          <p:nvPr/>
        </p:nvSpPr>
        <p:spPr>
          <a:xfrm>
            <a:off x="571691" y="2205564"/>
            <a:ext cx="1107996" cy="369332"/>
          </a:xfrm>
          <a:prstGeom prst="rect">
            <a:avLst/>
          </a:prstGeom>
          <a:noFill/>
        </p:spPr>
        <p:txBody>
          <a:bodyPr wrap="none" lIns="0" rIns="0" tIns="0" bIns="0">
            <a:spAutoFit/>
          </a:bodyPr>
          <a:lstStyle/>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节庆引爆</a:t>
            </a:r>
            <a:endParaRPr lang="zh-CN" altLang="en-US" b="1" dirty="0">
              <a:solidFill>
                <a:srgbClr val="FFFFFF"/>
              </a:solidFill>
              <a:latin typeface="微软雅黑"/>
              <a:ea typeface="微软雅黑"/>
              <a:cs typeface="微软雅黑"/>
              <a:sym typeface="微软雅黑"/>
            </a:endParaRPr>
          </a:p>
        </p:txBody>
      </p:sp>
      <p:sp>
        <p:nvSpPr>
          <p:cNvPr id="416" name="天蝎PPT原创©32"/>
          <p:cNvSpPr/>
          <p:nvPr/>
        </p:nvSpPr>
        <p:spPr>
          <a:xfrm>
            <a:off x="645356" y="1863880"/>
            <a:ext cx="960659" cy="305791"/>
          </a:xfrm>
          <a:prstGeom prst="roundRect">
            <a:avLst>
              <a:gd name="adj" fmla="val 50000"/>
            </a:avLst>
          </a:prstGeom>
          <a:solidFill>
            <a:srgbClr val="FFFF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r>
              <a:rPr lang="zh-SG" altLang="en-US" sz="1200" b="1" dirty="0">
                <a:solidFill>
                  <a:srgbClr val="0042FF"/>
                </a:solidFill>
                <a:latin typeface="微软雅黑"/>
                <a:ea typeface="微软雅黑"/>
                <a:cs typeface="微软雅黑"/>
                <a:sym typeface="微软雅黑"/>
              </a:rPr>
              <a:t>春节</a:t>
            </a:r>
            <a:endParaRPr lang="zh-SG" altLang="en-US" sz="1200" b="1" dirty="0">
              <a:solidFill>
                <a:srgbClr val="0042FF"/>
              </a:solidFill>
              <a:latin typeface="微软雅黑"/>
              <a:ea typeface="微软雅黑"/>
              <a:cs typeface="微软雅黑"/>
              <a:sym typeface="微软雅黑"/>
            </a:endParaRPr>
          </a:p>
        </p:txBody>
      </p:sp>
      <p:sp>
        <p:nvSpPr>
          <p:cNvPr id="417" name="天蝎PPT原创©33"/>
          <p:cNvSpPr/>
          <p:nvPr/>
        </p:nvSpPr>
        <p:spPr>
          <a:xfrm>
            <a:off x="568419"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418" name="天蝎PPT原创©34"/>
          <p:cNvSpPr/>
          <p:nvPr/>
        </p:nvSpPr>
        <p:spPr>
          <a:xfrm>
            <a:off x="1367485"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22" name="天蝎PPT原创©35"/>
          <p:cNvSpPr/>
          <p:nvPr/>
        </p:nvSpPr>
        <p:spPr>
          <a:xfrm>
            <a:off x="2166552"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23" name="天蝎PPT原创©36"/>
          <p:cNvSpPr txBox="1"/>
          <p:nvPr/>
        </p:nvSpPr>
        <p:spPr>
          <a:xfrm>
            <a:off x="718938" y="3346357"/>
            <a:ext cx="466795" cy="430887"/>
          </a:xfrm>
          <a:prstGeom prst="rect">
            <a:avLst/>
          </a:prstGeom>
          <a:noFill/>
        </p:spPr>
        <p:txBody>
          <a:bodyPr wrap="non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主题</a:t>
            </a:r>
            <a:endParaRPr kumimoji="0" lang="en-US" altLang="zh-CN"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营销</a:t>
            </a:r>
            <a:endPar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4" name="天蝎PPT原创©37"/>
          <p:cNvSpPr txBox="1"/>
          <p:nvPr/>
        </p:nvSpPr>
        <p:spPr>
          <a:xfrm>
            <a:off x="1518763" y="3346357"/>
            <a:ext cx="466795" cy="430887"/>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新品</a:t>
            </a:r>
            <a:endParaRPr lang="en-US" altLang="zh-CN" sz="11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首发</a:t>
            </a:r>
            <a:endParaRPr lang="zh-CN" altLang="en-US" sz="1100" b="1" dirty="0">
              <a:solidFill>
                <a:srgbClr val="383838"/>
              </a:solidFill>
              <a:latin typeface="微软雅黑"/>
              <a:ea typeface="微软雅黑"/>
              <a:cs typeface="微软雅黑"/>
              <a:sym typeface="微软雅黑"/>
            </a:endParaRPr>
          </a:p>
        </p:txBody>
      </p:sp>
      <p:sp>
        <p:nvSpPr>
          <p:cNvPr id="25" name="天蝎PPT原创©38"/>
          <p:cNvSpPr txBox="1"/>
          <p:nvPr/>
        </p:nvSpPr>
        <p:spPr>
          <a:xfrm>
            <a:off x="2317831" y="3338761"/>
            <a:ext cx="466794" cy="430887"/>
          </a:xfrm>
          <a:prstGeom prst="rect">
            <a:avLst/>
          </a:prstGeom>
          <a:noFill/>
        </p:spPr>
        <p:txBody>
          <a:bodyPr wrap="none" rtlCol="0" lIns="0" rIns="0" tIns="0" bIns="0">
            <a:spAutoFit/>
          </a:bodyPr>
          <a:lstStyle/>
          <a:p>
            <a:pPr marR="0" lvl="0" indent="0" algn="ctr" fontAlgn="auto">
              <a:spcBef>
                <a:spcPts val="0"/>
              </a:spcBef>
              <a:spcAft>
                <a:spcPts val="0"/>
              </a:spcAft>
              <a:buClrTx/>
              <a:buSzTx/>
              <a:buFontTx/>
              <a:buNone/>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限时</a:t>
            </a:r>
            <a:endParaRPr lang="en-US" altLang="zh-CN" sz="1100" b="1" dirty="0">
              <a:solidFill>
                <a:srgbClr val="383838"/>
              </a:solidFill>
              <a:latin typeface="微软雅黑"/>
              <a:ea typeface="微软雅黑"/>
              <a:cs typeface="微软雅黑"/>
              <a:sym typeface="微软雅黑"/>
            </a:endParaRPr>
          </a:p>
          <a:p>
            <a:pPr marR="0" lvl="0" indent="0" algn="ctr" fontAlgn="auto">
              <a:spcBef>
                <a:spcPts val="0"/>
              </a:spcBef>
              <a:spcAft>
                <a:spcPts val="0"/>
              </a:spcAft>
              <a:buClrTx/>
              <a:buSzTx/>
              <a:buFontTx/>
              <a:buNone/>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折扣</a:t>
            </a:r>
            <a:endParaRPr lang="zh-CN" altLang="en-US" sz="1100" b="1" dirty="0">
              <a:solidFill>
                <a:srgbClr val="383838"/>
              </a:solidFill>
              <a:latin typeface="微软雅黑"/>
              <a:ea typeface="微软雅黑"/>
              <a:cs typeface="微软雅黑"/>
              <a:sym typeface="微软雅黑"/>
            </a:endParaRPr>
          </a:p>
        </p:txBody>
      </p:sp>
      <p:sp>
        <p:nvSpPr>
          <p:cNvPr id="26" name="天蝎PPT原创©39"/>
          <p:cNvSpPr txBox="1"/>
          <p:nvPr/>
        </p:nvSpPr>
        <p:spPr>
          <a:xfrm>
            <a:off x="577991" y="4049172"/>
            <a:ext cx="1554042" cy="261610"/>
          </a:xfrm>
          <a:prstGeom prst="rect">
            <a:avLst/>
          </a:prstGeom>
          <a:noFill/>
        </p:spPr>
        <p:txBody>
          <a:bodyPr wrap="square" rtlCol="0" lIns="0" rIns="0" tIns="0" bIns="0">
            <a:spAutoFit/>
          </a:bodyPr>
          <a:lstStyle/>
          <a:p>
            <a:pPr marL="0" marR="0" lvl="0" indent="0"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会员消费占比提升至</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7" name="天蝎PPT原创©40"/>
          <p:cNvSpPr/>
          <p:nvPr/>
        </p:nvSpPr>
        <p:spPr>
          <a:xfrm>
            <a:off x="2220747" y="4080323"/>
            <a:ext cx="732945" cy="229241"/>
          </a:xfrm>
          <a:prstGeom prst="roundRect">
            <a:avLst>
              <a:gd name="adj" fmla="val 50000"/>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42</a:t>
            </a:r>
            <a:r>
              <a:rPr lang="en-US" altLang="zh-SG" sz="1050" dirty="0">
                <a:solidFill>
                  <a:srgbClr val="FFFFFF"/>
                </a:solidFill>
                <a:latin typeface="微软雅黑"/>
                <a:ea typeface="微软雅黑"/>
                <a:cs typeface="微软雅黑"/>
                <a:sym typeface="微软雅黑"/>
              </a:rPr>
              <a:t>%</a:t>
            </a:r>
            <a:endParaRPr lang="zh-SG" altLang="en-US" sz="1050" dirty="0">
              <a:solidFill>
                <a:srgbClr val="FFFFFF"/>
              </a:solidFill>
              <a:latin typeface="微软雅黑"/>
              <a:ea typeface="微软雅黑"/>
              <a:cs typeface="微软雅黑"/>
              <a:sym typeface="微软雅黑"/>
            </a:endParaRPr>
          </a:p>
        </p:txBody>
      </p:sp>
      <p:cxnSp>
        <p:nvCxnSpPr>
          <p:cNvPr id="28" name="天蝎PPT原创©41"/>
          <p:cNvCxnSpPr/>
          <p:nvPr/>
        </p:nvCxnSpPr>
        <p:spPr>
          <a:xfrm>
            <a:off x="636151" y="4389601"/>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29" name="天蝎PPT原创©42"/>
          <p:cNvSpPr txBox="1"/>
          <p:nvPr/>
        </p:nvSpPr>
        <p:spPr>
          <a:xfrm>
            <a:off x="565799" y="4438486"/>
            <a:ext cx="1724534" cy="261610"/>
          </a:xfrm>
          <a:prstGeom prst="rect">
            <a:avLst/>
          </a:prstGeom>
          <a:noFill/>
        </p:spPr>
        <p:txBody>
          <a:bodyPr wrap="square" rtlCol="0" lIns="0" rIns="0" tIns="0" bIns="0">
            <a:spAutoFit/>
          </a:bodyPr>
          <a:lstStyle/>
          <a:p>
            <a:pPr marL="0" marR="0" lvl="0" indent="0"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活动期间客单价提升至</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30" name="天蝎PPT原创©43"/>
          <p:cNvSpPr/>
          <p:nvPr/>
        </p:nvSpPr>
        <p:spPr>
          <a:xfrm>
            <a:off x="2220747" y="4469638"/>
            <a:ext cx="732945" cy="229241"/>
          </a:xfrm>
          <a:prstGeom prst="roundRect">
            <a:avLst>
              <a:gd name="adj" fmla="val 50000"/>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200</a:t>
            </a:r>
            <a:r>
              <a:rPr lang="zh-CN" altLang="en-US" sz="1050" dirty="0">
                <a:solidFill>
                  <a:srgbClr val="FFFFFF"/>
                </a:solidFill>
                <a:latin typeface="微软雅黑"/>
                <a:ea typeface="微软雅黑"/>
                <a:cs typeface="微软雅黑"/>
                <a:sym typeface="微软雅黑"/>
              </a:rPr>
              <a:t>以上</a:t>
            </a:r>
            <a:endParaRPr lang="zh-SG" altLang="en-US" sz="1050" dirty="0">
              <a:solidFill>
                <a:srgbClr val="FFFFFF"/>
              </a:solidFill>
              <a:latin typeface="微软雅黑"/>
              <a:ea typeface="微软雅黑"/>
              <a:cs typeface="微软雅黑"/>
              <a:sym typeface="微软雅黑"/>
            </a:endParaRPr>
          </a:p>
        </p:txBody>
      </p:sp>
      <p:cxnSp>
        <p:nvCxnSpPr>
          <p:cNvPr id="31" name="天蝎PPT原创©44"/>
          <p:cNvCxnSpPr/>
          <p:nvPr/>
        </p:nvCxnSpPr>
        <p:spPr>
          <a:xfrm>
            <a:off x="636151" y="4778916"/>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32" name="天蝎PPT原创©45"/>
          <p:cNvSpPr txBox="1"/>
          <p:nvPr/>
        </p:nvSpPr>
        <p:spPr>
          <a:xfrm>
            <a:off x="560262" y="4878601"/>
            <a:ext cx="1554042" cy="261610"/>
          </a:xfrm>
          <a:prstGeom prst="rect">
            <a:avLst/>
          </a:prstGeom>
          <a:noFill/>
        </p:spPr>
        <p:txBody>
          <a:bodyPr wrap="square" rtlCol="0" lIns="0" rIns="0" tIns="0" bIns="0">
            <a:spAutoFit/>
          </a:bodyPr>
          <a:lstStyle/>
          <a:p>
            <a:pPr marL="0" marR="0" lvl="0" indent="0"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门店日均客流量突破</a:t>
            </a:r>
            <a:endParaRPr kumimoji="0" lang="zh-CN" altLang="en-US" sz="11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33" name="天蝎PPT原创©46"/>
          <p:cNvSpPr/>
          <p:nvPr/>
        </p:nvSpPr>
        <p:spPr>
          <a:xfrm>
            <a:off x="2208397" y="4909752"/>
            <a:ext cx="732945" cy="229241"/>
          </a:xfrm>
          <a:prstGeom prst="roundRect">
            <a:avLst>
              <a:gd name="adj" fmla="val 50000"/>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500</a:t>
            </a:r>
            <a:r>
              <a:rPr lang="zh-CN" altLang="en-US" sz="1050" dirty="0">
                <a:solidFill>
                  <a:srgbClr val="FFFFFF"/>
                </a:solidFill>
                <a:latin typeface="微软雅黑"/>
                <a:ea typeface="微软雅黑"/>
                <a:cs typeface="微软雅黑"/>
                <a:sym typeface="微软雅黑"/>
              </a:rPr>
              <a:t>人次</a:t>
            </a:r>
            <a:endParaRPr lang="zh-SG" altLang="en-US" sz="1050" dirty="0">
              <a:solidFill>
                <a:srgbClr val="FFFFFF"/>
              </a:solidFill>
              <a:latin typeface="微软雅黑"/>
              <a:ea typeface="微软雅黑"/>
              <a:cs typeface="微软雅黑"/>
              <a:sym typeface="微软雅黑"/>
            </a:endParaRPr>
          </a:p>
        </p:txBody>
      </p:sp>
      <p:cxnSp>
        <p:nvCxnSpPr>
          <p:cNvPr id="443" name="天蝎PPT原创©47"/>
          <p:cNvCxnSpPr/>
          <p:nvPr/>
        </p:nvCxnSpPr>
        <p:spPr>
          <a:xfrm>
            <a:off x="618422" y="5219030"/>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447" name="天蝎PPT原创©48"/>
          <p:cNvSpPr txBox="1"/>
          <p:nvPr/>
        </p:nvSpPr>
        <p:spPr>
          <a:xfrm>
            <a:off x="2061954" y="1832642"/>
            <a:ext cx="902811" cy="753283"/>
          </a:xfrm>
          <a:prstGeom prst="rect">
            <a:avLst/>
          </a:prstGeom>
          <a:noFill/>
        </p:spPr>
        <p:txBody>
          <a:bodyPr wrap="none" lIns="0" rIns="0" tIns="0" bIns="0">
            <a:spAutoFit/>
          </a:bodyPr>
          <a:lstStyle>
            <a:defPPr>
              <a:defRPr lang="zh-CN">
                <a:solidFill>
                  <a:srgbClr val="FFFFFF"/>
                </a:solidFill>
                <a:latin typeface="微软雅黑"/>
                <a:ea typeface="微软雅黑"/>
                <a:cs typeface="微软雅黑"/>
              </a:defRPr>
            </a:defPPr>
            <a:lvl1pPr>
              <a:defRPr sz="1200">
                <a:solidFill>
                  <a:srgbClr val="FFFFFF"/>
                </a:solidFill>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季度目标</a:t>
            </a:r>
            <a:endPar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lang="en-US" altLang="zh-CN" sz="2400" b="1" dirty="0">
                <a:solidFill>
                  <a:srgbClr val="FFFFFF"/>
                </a:solidFill>
                <a:latin typeface="微软雅黑"/>
                <a:ea typeface="微软雅黑"/>
                <a:cs typeface="微软雅黑"/>
                <a:sym typeface="微软雅黑"/>
              </a:rPr>
              <a:t>380</a:t>
            </a:r>
            <a:r>
              <a:rPr lang="zh-CN" altLang="en-US" sz="1600" dirty="0">
                <a:solidFill>
                  <a:srgbClr val="FFFFFF"/>
                </a:solidFill>
                <a:latin typeface="微软雅黑"/>
                <a:ea typeface="微软雅黑"/>
                <a:cs typeface="微软雅黑"/>
                <a:sym typeface="微软雅黑"/>
              </a:rPr>
              <a:t>万</a:t>
            </a:r>
            <a:endParaRPr kumimoji="0" lang="en-US" altLang="zh-CN" sz="16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cxnSp>
        <p:nvCxnSpPr>
          <p:cNvPr id="448" name="天蝎PPT原创©49"/>
          <p:cNvCxnSpPr/>
          <p:nvPr/>
        </p:nvCxnSpPr>
        <p:spPr>
          <a:xfrm>
            <a:off x="4761087" y="1852380"/>
            <a:ext cx="0" cy="739048"/>
          </a:xfrm>
          <a:prstGeom prst="line">
            <a:avLst/>
          </a:prstGeom>
          <a:ln w="9525">
            <a:solidFill>
              <a:srgbClr val="FFFFFF">
                <a:alpha val="30000"/>
              </a:srgbClr>
            </a:solidFill>
            <a:prstDash val="dash"/>
          </a:ln>
        </p:spPr>
        <p:style>
          <a:lnRef idx="2">
            <a:srgbClr val="0042FF"/>
          </a:lnRef>
          <a:fillRef idx="0">
            <a:srgbClr val="0042FF"/>
          </a:fillRef>
          <a:effectRef idx="1">
            <a:srgbClr val="0042FF"/>
          </a:effectRef>
          <a:fontRef idx="minor">
            <a:srgbClr val="383838"/>
          </a:fontRef>
        </p:style>
      </p:cxnSp>
      <p:sp>
        <p:nvSpPr>
          <p:cNvPr id="34" name="天蝎PPT原创©50"/>
          <p:cNvSpPr txBox="1"/>
          <p:nvPr/>
        </p:nvSpPr>
        <p:spPr>
          <a:xfrm>
            <a:off x="3454110" y="2205564"/>
            <a:ext cx="1107996" cy="369332"/>
          </a:xfrm>
          <a:prstGeom prst="rect">
            <a:avLst/>
          </a:prstGeom>
          <a:noFill/>
        </p:spPr>
        <p:txBody>
          <a:bodyPr wrap="none" lIns="0" rIns="0" tIns="0" bIns="0">
            <a:spAutoFit/>
          </a:bodyPr>
          <a:lstStyle/>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深耕用户</a:t>
            </a:r>
            <a:endParaRPr lang="zh-CN" altLang="en-US" b="1" dirty="0">
              <a:solidFill>
                <a:srgbClr val="FFFFFF"/>
              </a:solidFill>
              <a:latin typeface="微软雅黑"/>
              <a:ea typeface="微软雅黑"/>
              <a:cs typeface="微软雅黑"/>
              <a:sym typeface="微软雅黑"/>
            </a:endParaRPr>
          </a:p>
        </p:txBody>
      </p:sp>
      <p:sp>
        <p:nvSpPr>
          <p:cNvPr id="35" name="天蝎PPT原创©51"/>
          <p:cNvSpPr/>
          <p:nvPr/>
        </p:nvSpPr>
        <p:spPr>
          <a:xfrm>
            <a:off x="3527777" y="1866420"/>
            <a:ext cx="960659" cy="305791"/>
          </a:xfrm>
          <a:prstGeom prst="roundRect">
            <a:avLst>
              <a:gd name="adj" fmla="val 50000"/>
            </a:avLst>
          </a:prstGeom>
          <a:solidFill>
            <a:srgbClr val="FFFF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r>
              <a:rPr lang="zh-SG" altLang="en-US" sz="1200" b="1" dirty="0">
                <a:solidFill>
                  <a:srgbClr val="0042FF"/>
                </a:solidFill>
                <a:latin typeface="微软雅黑"/>
                <a:ea typeface="微软雅黑"/>
                <a:cs typeface="微软雅黑"/>
                <a:sym typeface="微软雅黑"/>
              </a:rPr>
              <a:t>会员体系</a:t>
            </a:r>
            <a:endParaRPr lang="zh-SG" altLang="en-US" sz="1200" b="1" dirty="0">
              <a:solidFill>
                <a:srgbClr val="0042FF"/>
              </a:solidFill>
              <a:latin typeface="微软雅黑"/>
              <a:ea typeface="微软雅黑"/>
              <a:cs typeface="微软雅黑"/>
              <a:sym typeface="微软雅黑"/>
            </a:endParaRPr>
          </a:p>
        </p:txBody>
      </p:sp>
      <p:cxnSp>
        <p:nvCxnSpPr>
          <p:cNvPr id="36" name="天蝎PPT原创©52"/>
          <p:cNvCxnSpPr/>
          <p:nvPr/>
        </p:nvCxnSpPr>
        <p:spPr>
          <a:xfrm>
            <a:off x="7682540" y="1852380"/>
            <a:ext cx="0" cy="739048"/>
          </a:xfrm>
          <a:prstGeom prst="line">
            <a:avLst/>
          </a:prstGeom>
          <a:ln w="9525">
            <a:solidFill>
              <a:srgbClr val="FFFFFF">
                <a:alpha val="30000"/>
              </a:srgbClr>
            </a:solidFill>
            <a:prstDash val="dash"/>
          </a:ln>
        </p:spPr>
        <p:style>
          <a:lnRef idx="2">
            <a:srgbClr val="0042FF"/>
          </a:lnRef>
          <a:fillRef idx="0">
            <a:srgbClr val="0042FF"/>
          </a:fillRef>
          <a:effectRef idx="1">
            <a:srgbClr val="0042FF"/>
          </a:effectRef>
          <a:fontRef idx="minor">
            <a:srgbClr val="383838"/>
          </a:fontRef>
        </p:style>
      </p:cxnSp>
      <p:sp>
        <p:nvSpPr>
          <p:cNvPr id="453" name="天蝎PPT原创©53"/>
          <p:cNvSpPr txBox="1"/>
          <p:nvPr/>
        </p:nvSpPr>
        <p:spPr>
          <a:xfrm>
            <a:off x="6375563" y="2205564"/>
            <a:ext cx="1107996" cy="369332"/>
          </a:xfrm>
          <a:prstGeom prst="rect">
            <a:avLst/>
          </a:prstGeom>
          <a:noFill/>
        </p:spPr>
        <p:txBody>
          <a:bodyPr wrap="none" lIns="0" rIns="0" tIns="0" bIns="0">
            <a:spAutoFit/>
          </a:bodyPr>
          <a:lstStyle/>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杠杆撬动</a:t>
            </a:r>
            <a:endParaRPr lang="zh-CN" altLang="en-US" b="1" dirty="0">
              <a:solidFill>
                <a:srgbClr val="FFFFFF"/>
              </a:solidFill>
              <a:latin typeface="微软雅黑"/>
              <a:ea typeface="微软雅黑"/>
              <a:cs typeface="微软雅黑"/>
              <a:sym typeface="微软雅黑"/>
            </a:endParaRPr>
          </a:p>
        </p:txBody>
      </p:sp>
      <p:sp>
        <p:nvSpPr>
          <p:cNvPr id="454" name="天蝎PPT原创©54"/>
          <p:cNvSpPr/>
          <p:nvPr/>
        </p:nvSpPr>
        <p:spPr>
          <a:xfrm>
            <a:off x="6449230" y="1891820"/>
            <a:ext cx="960659" cy="305791"/>
          </a:xfrm>
          <a:prstGeom prst="roundRect">
            <a:avLst>
              <a:gd name="adj" fmla="val 50000"/>
            </a:avLst>
          </a:prstGeom>
          <a:solidFill>
            <a:srgbClr val="FFFF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r>
              <a:rPr lang="zh-SG" altLang="en-US" sz="1200" b="1" dirty="0">
                <a:solidFill>
                  <a:srgbClr val="0042FF"/>
                </a:solidFill>
                <a:latin typeface="微软雅黑"/>
                <a:ea typeface="微软雅黑"/>
                <a:cs typeface="微软雅黑"/>
                <a:sym typeface="微软雅黑"/>
              </a:rPr>
              <a:t>暑期消费</a:t>
            </a:r>
            <a:endParaRPr lang="zh-SG" altLang="en-US" sz="1200" b="1" dirty="0">
              <a:solidFill>
                <a:srgbClr val="0042FF"/>
              </a:solidFill>
              <a:latin typeface="微软雅黑"/>
              <a:ea typeface="微软雅黑"/>
              <a:cs typeface="微软雅黑"/>
              <a:sym typeface="微软雅黑"/>
            </a:endParaRPr>
          </a:p>
        </p:txBody>
      </p:sp>
      <p:cxnSp>
        <p:nvCxnSpPr>
          <p:cNvPr id="456" name="天蝎PPT原创©55"/>
          <p:cNvCxnSpPr/>
          <p:nvPr/>
        </p:nvCxnSpPr>
        <p:spPr>
          <a:xfrm>
            <a:off x="10640411" y="1852380"/>
            <a:ext cx="0" cy="739048"/>
          </a:xfrm>
          <a:prstGeom prst="line">
            <a:avLst/>
          </a:prstGeom>
          <a:ln w="9525">
            <a:solidFill>
              <a:srgbClr val="FFFFFF">
                <a:alpha val="30000"/>
              </a:srgbClr>
            </a:solidFill>
            <a:prstDash val="dash"/>
          </a:ln>
        </p:spPr>
        <p:style>
          <a:lnRef idx="2">
            <a:srgbClr val="0042FF"/>
          </a:lnRef>
          <a:fillRef idx="0">
            <a:srgbClr val="0042FF"/>
          </a:fillRef>
          <a:effectRef idx="1">
            <a:srgbClr val="0042FF"/>
          </a:effectRef>
          <a:fontRef idx="minor">
            <a:srgbClr val="383838"/>
          </a:fontRef>
        </p:style>
      </p:cxnSp>
      <p:sp>
        <p:nvSpPr>
          <p:cNvPr id="37" name="天蝎PPT原创©56"/>
          <p:cNvSpPr txBox="1"/>
          <p:nvPr/>
        </p:nvSpPr>
        <p:spPr>
          <a:xfrm>
            <a:off x="9333439" y="2205564"/>
            <a:ext cx="1107996" cy="369332"/>
          </a:xfrm>
          <a:prstGeom prst="rect">
            <a:avLst/>
          </a:prstGeom>
          <a:noFill/>
        </p:spPr>
        <p:txBody>
          <a:bodyPr wrap="none" lIns="0" rIns="0" tIns="0" bIns="0">
            <a:spAutoFit/>
          </a:bodyPr>
          <a:lstStyle/>
          <a:p>
            <a:pPr algn="ctr">
              <a:defRPr>
                <a:solidFill>
                  <a:srgbClr val="FFFFFF"/>
                </a:solidFill>
                <a:latin typeface="微软雅黑"/>
                <a:ea typeface="微软雅黑"/>
                <a:cs typeface="微软雅黑"/>
              </a:defRPr>
            </a:pPr>
            <a:r>
              <a:rPr lang="zh-CN" altLang="en-US" b="1" dirty="0">
                <a:solidFill>
                  <a:srgbClr val="FFFFFF"/>
                </a:solidFill>
                <a:latin typeface="微软雅黑"/>
                <a:ea typeface="微软雅黑"/>
                <a:cs typeface="微软雅黑"/>
                <a:sym typeface="微软雅黑"/>
              </a:rPr>
              <a:t>冲刺收官</a:t>
            </a:r>
            <a:endParaRPr lang="zh-CN" altLang="en-US" b="1" dirty="0">
              <a:solidFill>
                <a:srgbClr val="FFFFFF"/>
              </a:solidFill>
              <a:latin typeface="微软雅黑"/>
              <a:ea typeface="微软雅黑"/>
              <a:cs typeface="微软雅黑"/>
              <a:sym typeface="微软雅黑"/>
            </a:endParaRPr>
          </a:p>
        </p:txBody>
      </p:sp>
      <p:sp>
        <p:nvSpPr>
          <p:cNvPr id="38" name="天蝎PPT原创©57"/>
          <p:cNvSpPr/>
          <p:nvPr/>
        </p:nvSpPr>
        <p:spPr>
          <a:xfrm>
            <a:off x="9407101" y="1891820"/>
            <a:ext cx="960659" cy="305791"/>
          </a:xfrm>
          <a:prstGeom prst="roundRect">
            <a:avLst>
              <a:gd name="adj" fmla="val 50000"/>
            </a:avLst>
          </a:prstGeom>
          <a:solidFill>
            <a:srgbClr val="FFFFFF"/>
          </a:solidFill>
          <a:ln>
            <a:solidFill>
              <a:srgbClr val="FFFF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latin typeface="微软雅黑"/>
                <a:ea typeface="微软雅黑"/>
                <a:cs typeface="微软雅黑"/>
              </a:defRPr>
            </a:pPr>
            <a:r>
              <a:rPr lang="zh-SG" altLang="en-US" sz="1200" b="1" dirty="0">
                <a:solidFill>
                  <a:srgbClr val="0042FF"/>
                </a:solidFill>
                <a:latin typeface="微软雅黑"/>
                <a:ea typeface="微软雅黑"/>
                <a:cs typeface="微软雅黑"/>
                <a:sym typeface="微软雅黑"/>
              </a:rPr>
              <a:t>年中大促</a:t>
            </a:r>
            <a:endParaRPr lang="zh-SG" altLang="en-US" sz="1200" b="1" dirty="0">
              <a:solidFill>
                <a:srgbClr val="0042FF"/>
              </a:solidFill>
              <a:latin typeface="微软雅黑"/>
              <a:ea typeface="微软雅黑"/>
              <a:cs typeface="微软雅黑"/>
              <a:sym typeface="微软雅黑"/>
            </a:endParaRPr>
          </a:p>
        </p:txBody>
      </p:sp>
      <p:sp>
        <p:nvSpPr>
          <p:cNvPr id="39" name="天蝎PPT原创©58"/>
          <p:cNvSpPr txBox="1"/>
          <p:nvPr/>
        </p:nvSpPr>
        <p:spPr>
          <a:xfrm>
            <a:off x="3479252" y="4049172"/>
            <a:ext cx="1724534" cy="261610"/>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高等级会员复购率提升</a:t>
            </a:r>
            <a:endParaRPr lang="zh-CN" altLang="en-US" sz="1100" dirty="0">
              <a:solidFill>
                <a:srgbClr val="383838"/>
              </a:solidFill>
              <a:latin typeface="微软雅黑"/>
              <a:ea typeface="微软雅黑"/>
              <a:cs typeface="微软雅黑"/>
              <a:sym typeface="微软雅黑"/>
            </a:endParaRPr>
          </a:p>
        </p:txBody>
      </p:sp>
      <p:cxnSp>
        <p:nvCxnSpPr>
          <p:cNvPr id="40" name="天蝎PPT原创©59"/>
          <p:cNvCxnSpPr/>
          <p:nvPr/>
        </p:nvCxnSpPr>
        <p:spPr>
          <a:xfrm>
            <a:off x="3537412" y="4389601"/>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41" name="天蝎PPT原创©60"/>
          <p:cNvSpPr txBox="1"/>
          <p:nvPr/>
        </p:nvSpPr>
        <p:spPr>
          <a:xfrm>
            <a:off x="3479252" y="4438486"/>
            <a:ext cx="1654368" cy="261610"/>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新增付费会员人数增加</a:t>
            </a:r>
            <a:endParaRPr lang="zh-CN" altLang="en-US" sz="1100" dirty="0">
              <a:solidFill>
                <a:srgbClr val="383838"/>
              </a:solidFill>
              <a:latin typeface="微软雅黑"/>
              <a:ea typeface="微软雅黑"/>
              <a:cs typeface="微软雅黑"/>
              <a:sym typeface="微软雅黑"/>
            </a:endParaRPr>
          </a:p>
        </p:txBody>
      </p:sp>
      <p:cxnSp>
        <p:nvCxnSpPr>
          <p:cNvPr id="488" name="天蝎PPT原创©61"/>
          <p:cNvCxnSpPr/>
          <p:nvPr/>
        </p:nvCxnSpPr>
        <p:spPr>
          <a:xfrm>
            <a:off x="3537412" y="4778916"/>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489" name="天蝎PPT原创©62"/>
          <p:cNvSpPr txBox="1"/>
          <p:nvPr/>
        </p:nvSpPr>
        <p:spPr>
          <a:xfrm>
            <a:off x="3461523" y="4878601"/>
            <a:ext cx="1554042" cy="261610"/>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会员客单价提升至</a:t>
            </a:r>
            <a:endParaRPr lang="zh-CN" altLang="en-US" sz="1100" dirty="0">
              <a:solidFill>
                <a:srgbClr val="383838"/>
              </a:solidFill>
              <a:latin typeface="微软雅黑"/>
              <a:ea typeface="微软雅黑"/>
              <a:cs typeface="微软雅黑"/>
              <a:sym typeface="微软雅黑"/>
            </a:endParaRPr>
          </a:p>
        </p:txBody>
      </p:sp>
      <p:cxnSp>
        <p:nvCxnSpPr>
          <p:cNvPr id="491" name="天蝎PPT原创©63"/>
          <p:cNvCxnSpPr/>
          <p:nvPr/>
        </p:nvCxnSpPr>
        <p:spPr>
          <a:xfrm>
            <a:off x="3519683" y="5219030"/>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42" name="天蝎PPT原创©64"/>
          <p:cNvSpPr/>
          <p:nvPr/>
        </p:nvSpPr>
        <p:spPr>
          <a:xfrm>
            <a:off x="6435819"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493" name="天蝎PPT原创©65"/>
          <p:cNvSpPr/>
          <p:nvPr/>
        </p:nvSpPr>
        <p:spPr>
          <a:xfrm>
            <a:off x="7234885"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494" name="天蝎PPT原创©66"/>
          <p:cNvSpPr/>
          <p:nvPr/>
        </p:nvSpPr>
        <p:spPr>
          <a:xfrm>
            <a:off x="8033952"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510" name="天蝎PPT原创©67"/>
          <p:cNvSpPr txBox="1"/>
          <p:nvPr/>
        </p:nvSpPr>
        <p:spPr>
          <a:xfrm>
            <a:off x="6445391" y="4049172"/>
            <a:ext cx="1554042" cy="261610"/>
          </a:xfrm>
          <a:prstGeom prst="rect">
            <a:avLst/>
          </a:prstGeom>
          <a:noFill/>
        </p:spPr>
        <p:txBody>
          <a:bodyPr wrap="square" rtlCol="0" lIns="0" rIns="0" tIns="0" bIns="0">
            <a:spAutoFit/>
          </a:bodyPr>
          <a:lstStyle/>
          <a:p>
            <a:pPr marR="0" lvl="0" indent="0" fontAlgn="auto">
              <a:spcBef>
                <a:spcPts val="0"/>
              </a:spcBef>
              <a:spcAft>
                <a:spcPts val="0"/>
              </a:spcAft>
              <a:buClrTx/>
              <a:buSzTx/>
              <a:buFontTx/>
              <a:buNone/>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积分兑换率突破</a:t>
            </a:r>
            <a:endParaRPr lang="zh-CN" altLang="en-US" sz="1100" dirty="0">
              <a:solidFill>
                <a:srgbClr val="383838"/>
              </a:solidFill>
              <a:latin typeface="微软雅黑"/>
              <a:ea typeface="微软雅黑"/>
              <a:cs typeface="微软雅黑"/>
              <a:sym typeface="微软雅黑"/>
            </a:endParaRPr>
          </a:p>
        </p:txBody>
      </p:sp>
      <p:cxnSp>
        <p:nvCxnSpPr>
          <p:cNvPr id="512" name="天蝎PPT原创©68"/>
          <p:cNvCxnSpPr/>
          <p:nvPr/>
        </p:nvCxnSpPr>
        <p:spPr>
          <a:xfrm>
            <a:off x="6503551" y="4389601"/>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513" name="天蝎PPT原创©69"/>
          <p:cNvSpPr txBox="1"/>
          <p:nvPr/>
        </p:nvSpPr>
        <p:spPr>
          <a:xfrm>
            <a:off x="6445391" y="4438486"/>
            <a:ext cx="1554042" cy="261610"/>
          </a:xfrm>
          <a:prstGeom prst="rect">
            <a:avLst/>
          </a:prstGeom>
          <a:noFill/>
        </p:spPr>
        <p:txBody>
          <a:bodyPr wrap="square" rtlCol="0" lIns="0" rIns="0" tIns="0" bIns="0">
            <a:spAutoFit/>
          </a:bodyPr>
          <a:lstStyle/>
          <a:p>
            <a:pPr marR="0" lvl="0" indent="0" fontAlgn="auto">
              <a:spcBef>
                <a:spcPts val="0"/>
              </a:spcBef>
              <a:spcAft>
                <a:spcPts val="0"/>
              </a:spcAft>
              <a:buClrTx/>
              <a:buSzTx/>
              <a:buFontTx/>
              <a:buNone/>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连带销售率提升至</a:t>
            </a:r>
            <a:endParaRPr lang="zh-CN" altLang="en-US" sz="1100" dirty="0">
              <a:solidFill>
                <a:srgbClr val="383838"/>
              </a:solidFill>
              <a:latin typeface="微软雅黑"/>
              <a:ea typeface="微软雅黑"/>
              <a:cs typeface="微软雅黑"/>
              <a:sym typeface="微软雅黑"/>
            </a:endParaRPr>
          </a:p>
        </p:txBody>
      </p:sp>
      <p:cxnSp>
        <p:nvCxnSpPr>
          <p:cNvPr id="515" name="天蝎PPT原创©70"/>
          <p:cNvCxnSpPr/>
          <p:nvPr/>
        </p:nvCxnSpPr>
        <p:spPr>
          <a:xfrm>
            <a:off x="6503551" y="4778916"/>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516" name="天蝎PPT原创©71"/>
          <p:cNvSpPr txBox="1"/>
          <p:nvPr/>
        </p:nvSpPr>
        <p:spPr>
          <a:xfrm>
            <a:off x="6427662" y="4878601"/>
            <a:ext cx="1554042" cy="261610"/>
          </a:xfrm>
          <a:prstGeom prst="rect">
            <a:avLst/>
          </a:prstGeom>
          <a:noFill/>
        </p:spPr>
        <p:txBody>
          <a:bodyPr wrap="square" rtlCol="0" lIns="0" rIns="0" tIns="0" bIns="0">
            <a:spAutoFit/>
          </a:bodyPr>
          <a:lstStyle/>
          <a:p>
            <a:pPr marR="0" lvl="0" indent="0" fontAlgn="auto">
              <a:spcBef>
                <a:spcPts val="0"/>
              </a:spcBef>
              <a:spcAft>
                <a:spcPts val="0"/>
              </a:spcAft>
              <a:buClrTx/>
              <a:buSzTx/>
              <a:buFontTx/>
              <a:buNone/>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沉睡会员唤醒率达成</a:t>
            </a:r>
            <a:endParaRPr lang="zh-CN" altLang="en-US" sz="1100" dirty="0">
              <a:solidFill>
                <a:srgbClr val="383838"/>
              </a:solidFill>
              <a:latin typeface="微软雅黑"/>
              <a:ea typeface="微软雅黑"/>
              <a:cs typeface="微软雅黑"/>
              <a:sym typeface="微软雅黑"/>
            </a:endParaRPr>
          </a:p>
        </p:txBody>
      </p:sp>
      <p:cxnSp>
        <p:nvCxnSpPr>
          <p:cNvPr id="518" name="天蝎PPT原创©72"/>
          <p:cNvCxnSpPr/>
          <p:nvPr/>
        </p:nvCxnSpPr>
        <p:spPr>
          <a:xfrm>
            <a:off x="6485822" y="5219030"/>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519" name="天蝎PPT原创©73"/>
          <p:cNvSpPr/>
          <p:nvPr/>
        </p:nvSpPr>
        <p:spPr>
          <a:xfrm>
            <a:off x="9346659"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520" name="天蝎PPT原创©74"/>
          <p:cNvSpPr/>
          <p:nvPr/>
        </p:nvSpPr>
        <p:spPr>
          <a:xfrm>
            <a:off x="10145725"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521" name="天蝎PPT原创©75"/>
          <p:cNvSpPr/>
          <p:nvPr/>
        </p:nvSpPr>
        <p:spPr>
          <a:xfrm>
            <a:off x="10944792"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537" name="天蝎PPT原创©76"/>
          <p:cNvSpPr txBox="1"/>
          <p:nvPr/>
        </p:nvSpPr>
        <p:spPr>
          <a:xfrm>
            <a:off x="9356231" y="4049172"/>
            <a:ext cx="1554042" cy="261610"/>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大促单日峰值突破</a:t>
            </a:r>
            <a:endParaRPr lang="zh-CN" altLang="en-US" sz="1100" dirty="0">
              <a:solidFill>
                <a:srgbClr val="383838"/>
              </a:solidFill>
              <a:latin typeface="微软雅黑"/>
              <a:ea typeface="微软雅黑"/>
              <a:cs typeface="微软雅黑"/>
              <a:sym typeface="微软雅黑"/>
            </a:endParaRPr>
          </a:p>
        </p:txBody>
      </p:sp>
      <p:sp>
        <p:nvSpPr>
          <p:cNvPr id="538" name="天蝎PPT原创©77"/>
          <p:cNvSpPr/>
          <p:nvPr/>
        </p:nvSpPr>
        <p:spPr>
          <a:xfrm>
            <a:off x="11095355" y="4080510"/>
            <a:ext cx="636905" cy="229235"/>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80万+</a:t>
            </a:r>
            <a:endParaRPr lang="en-US" altLang="zh-CN" sz="1050" dirty="0">
              <a:solidFill>
                <a:srgbClr val="FFFFFF"/>
              </a:solidFill>
              <a:latin typeface="微软雅黑"/>
              <a:ea typeface="微软雅黑"/>
              <a:cs typeface="微软雅黑"/>
              <a:sym typeface="微软雅黑"/>
            </a:endParaRPr>
          </a:p>
        </p:txBody>
      </p:sp>
      <p:cxnSp>
        <p:nvCxnSpPr>
          <p:cNvPr id="539" name="天蝎PPT原创©78"/>
          <p:cNvCxnSpPr/>
          <p:nvPr/>
        </p:nvCxnSpPr>
        <p:spPr>
          <a:xfrm>
            <a:off x="9414391" y="4389601"/>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540" name="天蝎PPT原创©79"/>
          <p:cNvSpPr txBox="1"/>
          <p:nvPr/>
        </p:nvSpPr>
        <p:spPr>
          <a:xfrm>
            <a:off x="9356231" y="4438486"/>
            <a:ext cx="1554042" cy="261610"/>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新客转化率提升至</a:t>
            </a:r>
            <a:endParaRPr lang="zh-CN" altLang="en-US" sz="1100" dirty="0">
              <a:solidFill>
                <a:srgbClr val="383838"/>
              </a:solidFill>
              <a:latin typeface="微软雅黑"/>
              <a:ea typeface="微软雅黑"/>
              <a:cs typeface="微软雅黑"/>
              <a:sym typeface="微软雅黑"/>
            </a:endParaRPr>
          </a:p>
        </p:txBody>
      </p:sp>
      <p:sp>
        <p:nvSpPr>
          <p:cNvPr id="541" name="天蝎PPT原创©80"/>
          <p:cNvSpPr/>
          <p:nvPr/>
        </p:nvSpPr>
        <p:spPr>
          <a:xfrm>
            <a:off x="11095990" y="4469765"/>
            <a:ext cx="636270" cy="229235"/>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12%</a:t>
            </a:r>
            <a:endParaRPr lang="en-US" altLang="zh-CN" sz="1050" dirty="0">
              <a:solidFill>
                <a:srgbClr val="FFFFFF"/>
              </a:solidFill>
              <a:latin typeface="微软雅黑"/>
              <a:ea typeface="微软雅黑"/>
              <a:cs typeface="微软雅黑"/>
              <a:sym typeface="微软雅黑"/>
            </a:endParaRPr>
          </a:p>
        </p:txBody>
      </p:sp>
      <p:cxnSp>
        <p:nvCxnSpPr>
          <p:cNvPr id="542" name="天蝎PPT原创©81"/>
          <p:cNvCxnSpPr/>
          <p:nvPr/>
        </p:nvCxnSpPr>
        <p:spPr>
          <a:xfrm>
            <a:off x="9414391" y="4778916"/>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543" name="天蝎PPT原创©82"/>
          <p:cNvSpPr txBox="1"/>
          <p:nvPr/>
        </p:nvSpPr>
        <p:spPr>
          <a:xfrm>
            <a:off x="9338501" y="4878601"/>
            <a:ext cx="1757295" cy="261610"/>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100" dirty="0">
                <a:solidFill>
                  <a:srgbClr val="383838"/>
                </a:solidFill>
                <a:latin typeface="微软雅黑"/>
                <a:ea typeface="微软雅黑"/>
                <a:cs typeface="微软雅黑"/>
                <a:sym typeface="微软雅黑"/>
              </a:rPr>
              <a:t>滞销品库存周转率提升</a:t>
            </a:r>
            <a:endParaRPr lang="zh-CN" altLang="en-US" sz="1100" dirty="0">
              <a:solidFill>
                <a:srgbClr val="383838"/>
              </a:solidFill>
              <a:latin typeface="微软雅黑"/>
              <a:ea typeface="微软雅黑"/>
              <a:cs typeface="微软雅黑"/>
              <a:sym typeface="微软雅黑"/>
            </a:endParaRPr>
          </a:p>
        </p:txBody>
      </p:sp>
      <p:sp>
        <p:nvSpPr>
          <p:cNvPr id="544" name="天蝎PPT原创©83"/>
          <p:cNvSpPr/>
          <p:nvPr/>
        </p:nvSpPr>
        <p:spPr>
          <a:xfrm>
            <a:off x="11096625" y="4909820"/>
            <a:ext cx="622935" cy="229235"/>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33%</a:t>
            </a:r>
            <a:endParaRPr lang="en-US" altLang="zh-CN" sz="1050" dirty="0">
              <a:solidFill>
                <a:srgbClr val="FFFFFF"/>
              </a:solidFill>
              <a:latin typeface="微软雅黑"/>
              <a:ea typeface="微软雅黑"/>
              <a:cs typeface="微软雅黑"/>
              <a:sym typeface="微软雅黑"/>
            </a:endParaRPr>
          </a:p>
        </p:txBody>
      </p:sp>
      <p:cxnSp>
        <p:nvCxnSpPr>
          <p:cNvPr id="545" name="天蝎PPT原创©84"/>
          <p:cNvCxnSpPr/>
          <p:nvPr/>
        </p:nvCxnSpPr>
        <p:spPr>
          <a:xfrm>
            <a:off x="9396662" y="5219030"/>
            <a:ext cx="2367481" cy="0"/>
          </a:xfrm>
          <a:prstGeom prst="line">
            <a:avLst/>
          </a:prstGeom>
          <a:ln w="9525">
            <a:solidFill>
              <a:srgbClr val="DCDCDC"/>
            </a:solidFill>
            <a:prstDash val="dash"/>
          </a:ln>
        </p:spPr>
        <p:style>
          <a:lnRef idx="2">
            <a:srgbClr val="0042FF"/>
          </a:lnRef>
          <a:fillRef idx="0">
            <a:srgbClr val="0042FF"/>
          </a:fillRef>
          <a:effectRef idx="1">
            <a:srgbClr val="0042FF"/>
          </a:effectRef>
          <a:fontRef idx="minor">
            <a:srgbClr val="383838"/>
          </a:fontRef>
        </p:style>
      </p:cxnSp>
      <p:sp>
        <p:nvSpPr>
          <p:cNvPr id="689" name="天蝎PPT原创©85"/>
          <p:cNvSpPr txBox="1"/>
          <p:nvPr/>
        </p:nvSpPr>
        <p:spPr>
          <a:xfrm>
            <a:off x="4971409" y="1832642"/>
            <a:ext cx="902811" cy="753283"/>
          </a:xfrm>
          <a:prstGeom prst="rect">
            <a:avLst/>
          </a:prstGeom>
          <a:noFill/>
        </p:spPr>
        <p:txBody>
          <a:bodyPr wrap="none" lIns="0" rIns="0" tIns="0" bIns="0">
            <a:spAutoFit/>
          </a:bodyPr>
          <a:lstStyle>
            <a:defPPr>
              <a:defRPr lang="zh-CN">
                <a:solidFill>
                  <a:srgbClr val="FFFFFF"/>
                </a:solidFill>
                <a:latin typeface="微软雅黑"/>
                <a:ea typeface="微软雅黑"/>
                <a:cs typeface="微软雅黑"/>
              </a:defRPr>
            </a:defPPr>
            <a:lvl1pPr>
              <a:defRPr sz="1200">
                <a:solidFill>
                  <a:srgbClr val="FFFFFF"/>
                </a:solidFill>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季度目标</a:t>
            </a:r>
            <a:endPar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lang="en-US" altLang="zh-CN" sz="2400" b="1" dirty="0">
                <a:solidFill>
                  <a:srgbClr val="FFFFFF"/>
                </a:solidFill>
                <a:latin typeface="微软雅黑"/>
                <a:ea typeface="微软雅黑"/>
                <a:cs typeface="微软雅黑"/>
                <a:sym typeface="微软雅黑"/>
              </a:rPr>
              <a:t>420</a:t>
            </a:r>
            <a:r>
              <a:rPr lang="zh-CN" altLang="en-US" sz="1600" dirty="0">
                <a:solidFill>
                  <a:srgbClr val="FFFFFF"/>
                </a:solidFill>
                <a:latin typeface="微软雅黑"/>
                <a:ea typeface="微软雅黑"/>
                <a:cs typeface="微软雅黑"/>
                <a:sym typeface="微软雅黑"/>
              </a:rPr>
              <a:t>万</a:t>
            </a:r>
            <a:endParaRPr kumimoji="0" lang="en-US" altLang="zh-CN" sz="16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90" name="天蝎PPT原创©86"/>
          <p:cNvSpPr txBox="1"/>
          <p:nvPr/>
        </p:nvSpPr>
        <p:spPr>
          <a:xfrm>
            <a:off x="7845237" y="1832642"/>
            <a:ext cx="902811" cy="753283"/>
          </a:xfrm>
          <a:prstGeom prst="rect">
            <a:avLst/>
          </a:prstGeom>
          <a:noFill/>
        </p:spPr>
        <p:txBody>
          <a:bodyPr wrap="none" lIns="0" rIns="0" tIns="0" bIns="0">
            <a:spAutoFit/>
          </a:bodyPr>
          <a:lstStyle>
            <a:defPPr>
              <a:defRPr lang="zh-CN">
                <a:solidFill>
                  <a:srgbClr val="FFFFFF"/>
                </a:solidFill>
                <a:latin typeface="微软雅黑"/>
                <a:ea typeface="微软雅黑"/>
                <a:cs typeface="微软雅黑"/>
              </a:defRPr>
            </a:defPPr>
            <a:lvl1pPr>
              <a:defRPr sz="1200">
                <a:solidFill>
                  <a:srgbClr val="FFFFFF"/>
                </a:solidFill>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季度目标</a:t>
            </a:r>
            <a:endPar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lang="en-US" altLang="zh-CN" sz="2400" b="1" dirty="0">
                <a:solidFill>
                  <a:srgbClr val="FFFFFF"/>
                </a:solidFill>
                <a:latin typeface="微软雅黑"/>
                <a:ea typeface="微软雅黑"/>
                <a:cs typeface="微软雅黑"/>
                <a:sym typeface="微软雅黑"/>
              </a:rPr>
              <a:t>450</a:t>
            </a:r>
            <a:r>
              <a:rPr lang="zh-CN" altLang="en-US" sz="1600" dirty="0">
                <a:solidFill>
                  <a:srgbClr val="FFFFFF"/>
                </a:solidFill>
                <a:latin typeface="微软雅黑"/>
                <a:ea typeface="微软雅黑"/>
                <a:cs typeface="微软雅黑"/>
                <a:sym typeface="微软雅黑"/>
              </a:rPr>
              <a:t>万</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91" name="天蝎PPT原创©87"/>
          <p:cNvSpPr txBox="1"/>
          <p:nvPr/>
        </p:nvSpPr>
        <p:spPr>
          <a:xfrm>
            <a:off x="10825943" y="1832642"/>
            <a:ext cx="902811" cy="753283"/>
          </a:xfrm>
          <a:prstGeom prst="rect">
            <a:avLst/>
          </a:prstGeom>
          <a:noFill/>
        </p:spPr>
        <p:txBody>
          <a:bodyPr wrap="none" lIns="0" rIns="0" tIns="0" bIns="0">
            <a:spAutoFit/>
          </a:bodyPr>
          <a:lstStyle>
            <a:defPPr>
              <a:defRPr lang="zh-CN">
                <a:solidFill>
                  <a:srgbClr val="FFFFFF"/>
                </a:solidFill>
                <a:latin typeface="微软雅黑"/>
                <a:ea typeface="微软雅黑"/>
                <a:cs typeface="微软雅黑"/>
              </a:defRPr>
            </a:defPPr>
            <a:lvl1pPr>
              <a:defRPr sz="1200">
                <a:solidFill>
                  <a:srgbClr val="FFFFFF"/>
                </a:solidFill>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季度目标</a:t>
            </a:r>
            <a:endParaRPr kumimoji="0" lang="en-US" altLang="zh-CN" sz="14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lang="en-US" altLang="zh-CN" sz="2400" b="1" dirty="0">
                <a:solidFill>
                  <a:srgbClr val="FFFFFF"/>
                </a:solidFill>
                <a:latin typeface="微软雅黑"/>
                <a:ea typeface="微软雅黑"/>
                <a:cs typeface="微软雅黑"/>
                <a:sym typeface="微软雅黑"/>
              </a:rPr>
              <a:t>800</a:t>
            </a:r>
            <a:r>
              <a:rPr lang="zh-CN" altLang="en-US" sz="1600" dirty="0">
                <a:solidFill>
                  <a:srgbClr val="FFFFFF"/>
                </a:solidFill>
                <a:latin typeface="微软雅黑"/>
                <a:ea typeface="微软雅黑"/>
                <a:cs typeface="微软雅黑"/>
                <a:sym typeface="微软雅黑"/>
              </a:rPr>
              <a:t>万</a:t>
            </a:r>
            <a:endParaRPr kumimoji="0" lang="zh-CN" altLang="en-US" sz="16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43" name="天蝎PPT原创©88"/>
          <p:cNvSpPr txBox="1"/>
          <p:nvPr/>
        </p:nvSpPr>
        <p:spPr>
          <a:xfrm>
            <a:off x="542777" y="6056741"/>
            <a:ext cx="1539204" cy="369332"/>
          </a:xfrm>
          <a:prstGeom prst="rect">
            <a:avLst/>
          </a:prstGeom>
          <a:noFill/>
        </p:spPr>
        <p:txBody>
          <a:bodyPr wrap="none" rtlCol="0" lIns="0" rIns="0" tIns="0" bIns="0">
            <a:spAutoFit/>
          </a:bodyPr>
          <a:lstStyle/>
          <a:p>
            <a:pPr>
              <a:defRPr>
                <a:solidFill>
                  <a:srgbClr val="FFFFFF"/>
                </a:solidFill>
                <a:latin typeface="微软雅黑"/>
                <a:ea typeface="微软雅黑"/>
                <a:cs typeface="微软雅黑"/>
              </a:defRPr>
            </a:pPr>
            <a:r>
              <a:rPr kumimoji="1" lang="en-US" altLang="zh-CN" dirty="0">
                <a:solidFill>
                  <a:srgbClr val="FFFFFF"/>
                </a:solidFill>
                <a:latin typeface="微软雅黑"/>
                <a:ea typeface="微软雅黑"/>
                <a:cs typeface="微软雅黑"/>
                <a:sym typeface="微软雅黑"/>
              </a:rPr>
              <a:t>2025</a:t>
            </a:r>
            <a:r>
              <a:rPr kumimoji="1" lang="zh-CN" altLang="en-US" dirty="0">
                <a:solidFill>
                  <a:srgbClr val="FFFFFF"/>
                </a:solidFill>
                <a:latin typeface="微软雅黑"/>
                <a:ea typeface="微软雅黑"/>
                <a:cs typeface="微软雅黑"/>
                <a:sym typeface="微软雅黑"/>
              </a:rPr>
              <a:t>年度</a:t>
            </a:r>
            <a:r>
              <a:rPr kumimoji="1" lang="en-US" altLang="zh-CN" dirty="0">
                <a:solidFill>
                  <a:srgbClr val="FFFFFF"/>
                </a:solidFill>
                <a:latin typeface="微软雅黑"/>
                <a:ea typeface="微软雅黑"/>
                <a:cs typeface="微软雅黑"/>
                <a:sym typeface="微软雅黑"/>
              </a:rPr>
              <a:t>KPI</a:t>
            </a:r>
            <a:endParaRPr kumimoji="1" lang="zh-CN" altLang="en-US" dirty="0">
              <a:solidFill>
                <a:srgbClr val="FFFFFF"/>
              </a:solidFill>
              <a:latin typeface="微软雅黑"/>
              <a:ea typeface="微软雅黑"/>
              <a:cs typeface="微软雅黑"/>
              <a:sym typeface="微软雅黑"/>
            </a:endParaRPr>
          </a:p>
        </p:txBody>
      </p:sp>
      <p:pic>
        <p:nvPicPr>
          <p:cNvPr id="44" name="天蝎PPT原创©89"/>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135440" y="5688600"/>
            <a:ext cx="327467" cy="327467"/>
          </a:xfrm>
          <a:prstGeom prst="rect">
            <a:avLst/>
          </a:prstGeom>
        </p:spPr>
      </p:pic>
      <p:pic>
        <p:nvPicPr>
          <p:cNvPr id="47" name="天蝎PPT原创©92"/>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675366" y="3023487"/>
            <a:ext cx="302688" cy="302688"/>
          </a:xfrm>
          <a:prstGeom prst="rect">
            <a:avLst/>
          </a:prstGeom>
        </p:spPr>
      </p:pic>
      <p:sp>
        <p:nvSpPr>
          <p:cNvPr id="693" name="天蝎PPT原创©93"/>
          <p:cNvSpPr/>
          <p:nvPr/>
        </p:nvSpPr>
        <p:spPr>
          <a:xfrm>
            <a:off x="3528789"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694" name="天蝎PPT原创©94"/>
          <p:cNvSpPr/>
          <p:nvPr/>
        </p:nvSpPr>
        <p:spPr>
          <a:xfrm>
            <a:off x="4327855"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695" name="天蝎PPT原创©95"/>
          <p:cNvSpPr/>
          <p:nvPr/>
        </p:nvSpPr>
        <p:spPr>
          <a:xfrm>
            <a:off x="5126922" y="2910251"/>
            <a:ext cx="769349" cy="940924"/>
          </a:xfrm>
          <a:prstGeom prst="roundRect">
            <a:avLst>
              <a:gd name="adj" fmla="val 8390"/>
            </a:avLst>
          </a:prstGeom>
          <a:solidFill>
            <a:srgbClr val="FFFFFF"/>
          </a:solidFill>
          <a:ln w="6350">
            <a:solidFill>
              <a:srgbClr val="DCDCDC"/>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latin typeface="微软雅黑"/>
              <a:ea typeface="微软雅黑"/>
              <a:cs typeface="微软雅黑"/>
              <a:sym typeface="微软雅黑"/>
            </a:endParaRPr>
          </a:p>
        </p:txBody>
      </p:sp>
      <p:sp>
        <p:nvSpPr>
          <p:cNvPr id="696" name="天蝎PPT原创©96"/>
          <p:cNvSpPr txBox="1"/>
          <p:nvPr/>
        </p:nvSpPr>
        <p:spPr>
          <a:xfrm>
            <a:off x="3679309" y="3346357"/>
            <a:ext cx="466794" cy="430887"/>
          </a:xfrm>
          <a:prstGeom prst="rect">
            <a:avLst/>
          </a:prstGeom>
          <a:noFill/>
        </p:spPr>
        <p:txBody>
          <a:bodyPr wrap="non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会员</a:t>
            </a:r>
            <a:endParaRPr kumimoji="0" lang="en-US" altLang="zh-CN"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专享</a:t>
            </a:r>
            <a:endPar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697" name="天蝎PPT原创©97"/>
          <p:cNvSpPr txBox="1"/>
          <p:nvPr/>
        </p:nvSpPr>
        <p:spPr>
          <a:xfrm>
            <a:off x="4479134" y="3346357"/>
            <a:ext cx="466794" cy="430887"/>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社群</a:t>
            </a:r>
            <a:endParaRPr lang="en-US" altLang="zh-CN" sz="11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运营</a:t>
            </a:r>
            <a:endParaRPr lang="zh-CN" altLang="en-US" sz="1100" b="1" dirty="0">
              <a:solidFill>
                <a:srgbClr val="383838"/>
              </a:solidFill>
              <a:latin typeface="微软雅黑"/>
              <a:ea typeface="微软雅黑"/>
              <a:cs typeface="微软雅黑"/>
              <a:sym typeface="微软雅黑"/>
            </a:endParaRPr>
          </a:p>
        </p:txBody>
      </p:sp>
      <p:sp>
        <p:nvSpPr>
          <p:cNvPr id="698" name="天蝎PPT原创©98"/>
          <p:cNvSpPr txBox="1"/>
          <p:nvPr/>
        </p:nvSpPr>
        <p:spPr>
          <a:xfrm>
            <a:off x="5278197" y="3338761"/>
            <a:ext cx="466794" cy="430887"/>
          </a:xfrm>
          <a:prstGeom prst="rect">
            <a:avLst/>
          </a:prstGeom>
          <a:noFill/>
        </p:spPr>
        <p:txBody>
          <a:bodyPr wrap="none" rtlCol="0" lIns="0" rIns="0" tIns="0" bIns="0">
            <a:spAutoFit/>
          </a:bodyPr>
          <a:lstStyle/>
          <a:p>
            <a:pPr marR="0" lvl="0" indent="0" algn="ctr" fontAlgn="auto">
              <a:spcBef>
                <a:spcPts val="0"/>
              </a:spcBef>
              <a:spcAft>
                <a:spcPts val="0"/>
              </a:spcAft>
              <a:buClrTx/>
              <a:buSzTx/>
              <a:buFontTx/>
              <a:buNone/>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跨界</a:t>
            </a:r>
            <a:endParaRPr lang="en-US" altLang="zh-CN" sz="1100" b="1" dirty="0">
              <a:solidFill>
                <a:srgbClr val="383838"/>
              </a:solidFill>
              <a:latin typeface="微软雅黑"/>
              <a:ea typeface="微软雅黑"/>
              <a:cs typeface="微软雅黑"/>
              <a:sym typeface="微软雅黑"/>
            </a:endParaRPr>
          </a:p>
          <a:p>
            <a:pPr marR="0" lvl="0" indent="0" algn="ctr" fontAlgn="auto">
              <a:spcBef>
                <a:spcPts val="0"/>
              </a:spcBef>
              <a:spcAft>
                <a:spcPts val="0"/>
              </a:spcAft>
              <a:buClrTx/>
              <a:buSzTx/>
              <a:buFontTx/>
              <a:buNone/>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合作</a:t>
            </a:r>
            <a:endParaRPr lang="zh-CN" altLang="en-US" sz="1100" b="1" dirty="0">
              <a:solidFill>
                <a:srgbClr val="383838"/>
              </a:solidFill>
              <a:latin typeface="微软雅黑"/>
              <a:ea typeface="微软雅黑"/>
              <a:cs typeface="微软雅黑"/>
              <a:sym typeface="微软雅黑"/>
            </a:endParaRPr>
          </a:p>
        </p:txBody>
      </p:sp>
      <p:sp>
        <p:nvSpPr>
          <p:cNvPr id="702" name="天蝎PPT原创©102"/>
          <p:cNvSpPr txBox="1"/>
          <p:nvPr/>
        </p:nvSpPr>
        <p:spPr>
          <a:xfrm>
            <a:off x="6595309" y="3346357"/>
            <a:ext cx="466794" cy="430887"/>
          </a:xfrm>
          <a:prstGeom prst="rect">
            <a:avLst/>
          </a:prstGeom>
          <a:noFill/>
        </p:spPr>
        <p:txBody>
          <a:bodyPr wrap="non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积分</a:t>
            </a:r>
            <a:endParaRPr kumimoji="0" lang="en-US" altLang="zh-CN"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翻倍</a:t>
            </a:r>
            <a:endPar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703" name="天蝎PPT原创©103"/>
          <p:cNvSpPr txBox="1"/>
          <p:nvPr/>
        </p:nvSpPr>
        <p:spPr>
          <a:xfrm>
            <a:off x="7395134" y="3346357"/>
            <a:ext cx="466794" cy="430887"/>
          </a:xfrm>
          <a:prstGeom prst="rect">
            <a:avLst/>
          </a:prstGeom>
          <a:noFill/>
        </p:spPr>
        <p:txBody>
          <a:bodyPr wrap="none" rtlCol="0" lIns="0" rIns="0" tIns="0" bIns="0">
            <a:spAutoFit/>
          </a:bodyPr>
          <a:lstStyle/>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直播</a:t>
            </a:r>
            <a:endParaRPr lang="en-US" altLang="zh-CN" sz="11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带货</a:t>
            </a:r>
            <a:endParaRPr lang="zh-CN" altLang="en-US" sz="1100" b="1" dirty="0">
              <a:solidFill>
                <a:srgbClr val="383838"/>
              </a:solidFill>
              <a:latin typeface="微软雅黑"/>
              <a:ea typeface="微软雅黑"/>
              <a:cs typeface="微软雅黑"/>
              <a:sym typeface="微软雅黑"/>
            </a:endParaRPr>
          </a:p>
        </p:txBody>
      </p:sp>
      <p:sp>
        <p:nvSpPr>
          <p:cNvPr id="704" name="天蝎PPT原创©104"/>
          <p:cNvSpPr txBox="1"/>
          <p:nvPr/>
        </p:nvSpPr>
        <p:spPr>
          <a:xfrm>
            <a:off x="8194197" y="3338761"/>
            <a:ext cx="466794" cy="430887"/>
          </a:xfrm>
          <a:prstGeom prst="rect">
            <a:avLst/>
          </a:prstGeom>
          <a:noFill/>
        </p:spPr>
        <p:txBody>
          <a:bodyPr wrap="none" rtlCol="0" lIns="0" rIns="0" tIns="0" bIns="0">
            <a:spAutoFit/>
          </a:bodyPr>
          <a:lstStyle/>
          <a:p>
            <a:pPr marR="0" lvl="0" indent="0" algn="ctr" fontAlgn="auto">
              <a:spcBef>
                <a:spcPts val="0"/>
              </a:spcBef>
              <a:spcAft>
                <a:spcPts val="0"/>
              </a:spcAft>
              <a:buClrTx/>
              <a:buSzTx/>
              <a:buFontTx/>
              <a:buNone/>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场景</a:t>
            </a:r>
            <a:endParaRPr lang="en-US" altLang="zh-CN" sz="1100" b="1" dirty="0">
              <a:solidFill>
                <a:srgbClr val="383838"/>
              </a:solidFill>
              <a:latin typeface="微软雅黑"/>
              <a:ea typeface="微软雅黑"/>
              <a:cs typeface="微软雅黑"/>
              <a:sym typeface="微软雅黑"/>
            </a:endParaRPr>
          </a:p>
          <a:p>
            <a:pPr marR="0" lvl="0" indent="0" algn="ctr" fontAlgn="auto">
              <a:spcBef>
                <a:spcPts val="0"/>
              </a:spcBef>
              <a:spcAft>
                <a:spcPts val="0"/>
              </a:spcAft>
              <a:buClrTx/>
              <a:buSzTx/>
              <a:buFontTx/>
              <a:buNone/>
              <a:defRPr>
                <a:latin typeface="微软雅黑"/>
                <a:ea typeface="微软雅黑"/>
                <a:cs typeface="微软雅黑"/>
              </a:defRPr>
            </a:pPr>
            <a:r>
              <a:rPr lang="zh-CN" altLang="en-US" sz="1100" b="1" dirty="0">
                <a:solidFill>
                  <a:srgbClr val="383838"/>
                </a:solidFill>
                <a:latin typeface="微软雅黑"/>
                <a:ea typeface="微软雅黑"/>
                <a:cs typeface="微软雅黑"/>
                <a:sym typeface="微软雅黑"/>
              </a:rPr>
              <a:t>营销</a:t>
            </a:r>
            <a:endParaRPr lang="zh-CN" altLang="en-US" sz="1100" b="1" dirty="0">
              <a:solidFill>
                <a:srgbClr val="383838"/>
              </a:solidFill>
              <a:latin typeface="微软雅黑"/>
              <a:ea typeface="微软雅黑"/>
              <a:cs typeface="微软雅黑"/>
              <a:sym typeface="微软雅黑"/>
            </a:endParaRPr>
          </a:p>
        </p:txBody>
      </p:sp>
      <p:pic>
        <p:nvPicPr>
          <p:cNvPr id="51" name="天蝎PPT原创©106"/>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505126" y="3043625"/>
            <a:ext cx="291545" cy="291545"/>
          </a:xfrm>
          <a:prstGeom prst="rect">
            <a:avLst/>
          </a:prstGeom>
        </p:spPr>
      </p:pic>
      <p:pic>
        <p:nvPicPr>
          <p:cNvPr id="52" name="天蝎PPT原创©107"/>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304491" y="3059630"/>
            <a:ext cx="253362" cy="253362"/>
          </a:xfrm>
          <a:prstGeom prst="rect">
            <a:avLst/>
          </a:prstGeom>
        </p:spPr>
      </p:pic>
      <p:sp>
        <p:nvSpPr>
          <p:cNvPr id="709" name="天蝎PPT原创©108"/>
          <p:cNvSpPr txBox="1"/>
          <p:nvPr/>
        </p:nvSpPr>
        <p:spPr>
          <a:xfrm>
            <a:off x="9498531" y="3346357"/>
            <a:ext cx="463550" cy="429895"/>
          </a:xfrm>
          <a:prstGeom prst="rect">
            <a:avLst/>
          </a:prstGeom>
          <a:noFill/>
        </p:spPr>
        <p:txBody>
          <a:bodyPr wrap="none" rtlCol="0" lIns="0" rIns="0" tIns="0" bIns="0">
            <a:spAutoFit/>
          </a:bodyPr>
          <a:lstStyle/>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活动</a:t>
            </a:r>
            <a:endPar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ctr" defTabSz="914400" rtl="0" eaLnBrk="1" fontAlgn="auto" latinLnBrk="0" hangingPunct="1">
              <a:spcBef>
                <a:spcPts val="0"/>
              </a:spcBef>
              <a:spcAft>
                <a:spcPts val="0"/>
              </a:spcAft>
              <a:buClrTx/>
              <a:buSzTx/>
              <a:buFontTx/>
              <a:buNone/>
              <a:defRPr>
                <a:latin typeface="微软雅黑"/>
                <a:ea typeface="微软雅黑"/>
                <a:cs typeface="微软雅黑"/>
              </a:defRPr>
            </a:pPr>
            <a:r>
              <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加码</a:t>
            </a:r>
            <a:endParaRPr kumimoji="0" lang="zh-CN" altLang="en-US" sz="11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710" name="天蝎PPT原创©109"/>
          <p:cNvSpPr txBox="1"/>
          <p:nvPr/>
        </p:nvSpPr>
        <p:spPr>
          <a:xfrm>
            <a:off x="10298356" y="3346357"/>
            <a:ext cx="463550" cy="429895"/>
          </a:xfrm>
          <a:prstGeom prst="rect">
            <a:avLst/>
          </a:prstGeom>
          <a:noFill/>
        </p:spPr>
        <p:txBody>
          <a:bodyPr wrap="none" rtlCol="0" lIns="0" rIns="0" tIns="0" bIns="0">
            <a:spAutoFit/>
          </a:bodyPr>
          <a:lstStyle/>
          <a:p>
            <a:pPr algn="ctr">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全站</a:t>
            </a:r>
            <a:endParaRPr lang="zh-CN" sz="1100" b="1" dirty="0">
              <a:solidFill>
                <a:srgbClr val="383838"/>
              </a:solidFill>
              <a:latin typeface="微软雅黑"/>
              <a:ea typeface="微软雅黑"/>
              <a:cs typeface="微软雅黑"/>
              <a:sym typeface="微软雅黑"/>
            </a:endParaRPr>
          </a:p>
          <a:p>
            <a:pPr algn="ctr">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推广</a:t>
            </a:r>
            <a:endParaRPr lang="zh-CN" sz="1100" b="1" dirty="0">
              <a:solidFill>
                <a:srgbClr val="383838"/>
              </a:solidFill>
              <a:latin typeface="微软雅黑"/>
              <a:ea typeface="微软雅黑"/>
              <a:cs typeface="微软雅黑"/>
              <a:sym typeface="微软雅黑"/>
            </a:endParaRPr>
          </a:p>
        </p:txBody>
      </p:sp>
      <p:sp>
        <p:nvSpPr>
          <p:cNvPr id="711" name="天蝎PPT原创©110"/>
          <p:cNvSpPr txBox="1"/>
          <p:nvPr/>
        </p:nvSpPr>
        <p:spPr>
          <a:xfrm>
            <a:off x="11097419" y="3338761"/>
            <a:ext cx="463550" cy="429895"/>
          </a:xfrm>
          <a:prstGeom prst="rect">
            <a:avLst/>
          </a:prstGeom>
          <a:noFill/>
        </p:spPr>
        <p:txBody>
          <a:bodyPr wrap="none" rtlCol="0" lIns="0" rIns="0" tIns="0" bIns="0">
            <a:spAutoFit/>
          </a:bodyPr>
          <a:lstStyle/>
          <a:p>
            <a:pPr marR="0" lvl="0" indent="0" algn="ctr" fontAlgn="auto">
              <a:spcBef>
                <a:spcPts val="0"/>
              </a:spcBef>
              <a:spcAft>
                <a:spcPts val="0"/>
              </a:spcAft>
              <a:buClrTx/>
              <a:buSzTx/>
              <a:buFontTx/>
              <a:buNone/>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礼券</a:t>
            </a:r>
            <a:endParaRPr lang="zh-CN" sz="1100" b="1" dirty="0">
              <a:solidFill>
                <a:srgbClr val="383838"/>
              </a:solidFill>
              <a:latin typeface="微软雅黑"/>
              <a:ea typeface="微软雅黑"/>
              <a:cs typeface="微软雅黑"/>
              <a:sym typeface="微软雅黑"/>
            </a:endParaRPr>
          </a:p>
          <a:p>
            <a:pPr marR="0" lvl="0" indent="0" algn="ctr" fontAlgn="auto">
              <a:spcBef>
                <a:spcPts val="0"/>
              </a:spcBef>
              <a:spcAft>
                <a:spcPts val="0"/>
              </a:spcAft>
              <a:buClrTx/>
              <a:buSzTx/>
              <a:buFontTx/>
              <a:buNone/>
              <a:defRPr>
                <a:latin typeface="微软雅黑"/>
                <a:ea typeface="微软雅黑"/>
                <a:cs typeface="微软雅黑"/>
              </a:defRPr>
            </a:pPr>
            <a:r>
              <a:rPr lang="zh-CN" sz="1100" b="1" dirty="0">
                <a:solidFill>
                  <a:srgbClr val="383838"/>
                </a:solidFill>
                <a:latin typeface="微软雅黑"/>
                <a:ea typeface="微软雅黑"/>
                <a:cs typeface="微软雅黑"/>
                <a:sym typeface="微软雅黑"/>
              </a:rPr>
              <a:t>派发</a:t>
            </a:r>
            <a:endParaRPr lang="zh-CN" sz="1100" b="1" dirty="0">
              <a:solidFill>
                <a:srgbClr val="383838"/>
              </a:solidFill>
              <a:latin typeface="微软雅黑"/>
              <a:ea typeface="微软雅黑"/>
              <a:cs typeface="微软雅黑"/>
              <a:sym typeface="微软雅黑"/>
            </a:endParaRPr>
          </a:p>
        </p:txBody>
      </p:sp>
      <p:sp>
        <p:nvSpPr>
          <p:cNvPr id="734" name="天蝎PPT原创©114"/>
          <p:cNvSpPr/>
          <p:nvPr/>
        </p:nvSpPr>
        <p:spPr>
          <a:xfrm>
            <a:off x="5182608" y="4080323"/>
            <a:ext cx="732945" cy="229241"/>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65</a:t>
            </a:r>
            <a:r>
              <a:rPr lang="en-US" altLang="zh-SG" sz="1050" dirty="0">
                <a:solidFill>
                  <a:srgbClr val="FFFFFF"/>
                </a:solidFill>
                <a:latin typeface="微软雅黑"/>
                <a:ea typeface="微软雅黑"/>
                <a:cs typeface="微软雅黑"/>
                <a:sym typeface="微软雅黑"/>
              </a:rPr>
              <a:t>%</a:t>
            </a:r>
            <a:endParaRPr lang="zh-SG" altLang="en-US" sz="1050" dirty="0">
              <a:solidFill>
                <a:srgbClr val="FFFFFF"/>
              </a:solidFill>
              <a:latin typeface="微软雅黑"/>
              <a:ea typeface="微软雅黑"/>
              <a:cs typeface="微软雅黑"/>
              <a:sym typeface="微软雅黑"/>
            </a:endParaRPr>
          </a:p>
        </p:txBody>
      </p:sp>
      <p:sp>
        <p:nvSpPr>
          <p:cNvPr id="735" name="天蝎PPT原创©115"/>
          <p:cNvSpPr/>
          <p:nvPr/>
        </p:nvSpPr>
        <p:spPr>
          <a:xfrm>
            <a:off x="5182608" y="4469638"/>
            <a:ext cx="732945" cy="229241"/>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3000人</a:t>
            </a:r>
            <a:endParaRPr lang="en-US" altLang="zh-CN" sz="1050" dirty="0">
              <a:solidFill>
                <a:srgbClr val="FFFFFF"/>
              </a:solidFill>
              <a:latin typeface="微软雅黑"/>
              <a:ea typeface="微软雅黑"/>
              <a:cs typeface="微软雅黑"/>
              <a:sym typeface="微软雅黑"/>
            </a:endParaRPr>
          </a:p>
        </p:txBody>
      </p:sp>
      <p:sp>
        <p:nvSpPr>
          <p:cNvPr id="736" name="天蝎PPT原创©116"/>
          <p:cNvSpPr/>
          <p:nvPr/>
        </p:nvSpPr>
        <p:spPr>
          <a:xfrm>
            <a:off x="5170258" y="4909752"/>
            <a:ext cx="732945" cy="229241"/>
          </a:xfrm>
          <a:prstGeom prst="roundRect">
            <a:avLst>
              <a:gd name="adj" fmla="val 50000"/>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none"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320元+</a:t>
            </a:r>
            <a:endParaRPr lang="en-US" altLang="zh-CN" sz="1050" dirty="0">
              <a:solidFill>
                <a:srgbClr val="FFFFFF"/>
              </a:solidFill>
              <a:latin typeface="微软雅黑"/>
              <a:ea typeface="微软雅黑"/>
              <a:cs typeface="微软雅黑"/>
              <a:sym typeface="微软雅黑"/>
            </a:endParaRPr>
          </a:p>
        </p:txBody>
      </p:sp>
      <p:sp>
        <p:nvSpPr>
          <p:cNvPr id="737" name="天蝎PPT原创©117"/>
          <p:cNvSpPr/>
          <p:nvPr/>
        </p:nvSpPr>
        <p:spPr>
          <a:xfrm>
            <a:off x="8134529" y="4080323"/>
            <a:ext cx="732945" cy="229241"/>
          </a:xfrm>
          <a:prstGeom prst="roundRect">
            <a:avLst>
              <a:gd name="adj" fmla="val 50000"/>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altLang="zh-SG" sz="1050" dirty="0">
                <a:solidFill>
                  <a:srgbClr val="FFFFFF"/>
                </a:solidFill>
                <a:latin typeface="微软雅黑"/>
                <a:ea typeface="微软雅黑"/>
                <a:cs typeface="微软雅黑"/>
                <a:sym typeface="微软雅黑"/>
              </a:rPr>
              <a:t>40%</a:t>
            </a:r>
            <a:endParaRPr lang="en-US" altLang="zh-SG" sz="1050" dirty="0">
              <a:solidFill>
                <a:srgbClr val="FFFFFF"/>
              </a:solidFill>
              <a:latin typeface="微软雅黑"/>
              <a:ea typeface="微软雅黑"/>
              <a:cs typeface="微软雅黑"/>
              <a:sym typeface="微软雅黑"/>
            </a:endParaRPr>
          </a:p>
        </p:txBody>
      </p:sp>
      <p:sp>
        <p:nvSpPr>
          <p:cNvPr id="738" name="天蝎PPT原创©118"/>
          <p:cNvSpPr/>
          <p:nvPr/>
        </p:nvSpPr>
        <p:spPr>
          <a:xfrm>
            <a:off x="8134529" y="4469638"/>
            <a:ext cx="732945" cy="229241"/>
          </a:xfrm>
          <a:prstGeom prst="roundRect">
            <a:avLst>
              <a:gd name="adj" fmla="val 50000"/>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50</a:t>
            </a:r>
            <a:r>
              <a:rPr lang="zh-CN" altLang="en-US" sz="1050" dirty="0">
                <a:solidFill>
                  <a:srgbClr val="FFFFFF"/>
                </a:solidFill>
                <a:latin typeface="微软雅黑"/>
                <a:ea typeface="微软雅黑"/>
                <a:cs typeface="微软雅黑"/>
                <a:sym typeface="微软雅黑"/>
              </a:rPr>
              <a:t>人</a:t>
            </a:r>
            <a:endParaRPr lang="zh-CN" altLang="en-US" sz="1050" dirty="0">
              <a:solidFill>
                <a:srgbClr val="FFFFFF"/>
              </a:solidFill>
              <a:latin typeface="微软雅黑"/>
              <a:ea typeface="微软雅黑"/>
              <a:cs typeface="微软雅黑"/>
              <a:sym typeface="微软雅黑"/>
            </a:endParaRPr>
          </a:p>
        </p:txBody>
      </p:sp>
      <p:sp>
        <p:nvSpPr>
          <p:cNvPr id="739" name="天蝎PPT原创©119"/>
          <p:cNvSpPr/>
          <p:nvPr/>
        </p:nvSpPr>
        <p:spPr>
          <a:xfrm>
            <a:off x="8122179" y="4909752"/>
            <a:ext cx="732945" cy="229241"/>
          </a:xfrm>
          <a:prstGeom prst="roundRect">
            <a:avLst>
              <a:gd name="adj" fmla="val 50000"/>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altLang="zh-CN" sz="1050" dirty="0">
                <a:solidFill>
                  <a:srgbClr val="FFFFFF"/>
                </a:solidFill>
                <a:latin typeface="微软雅黑"/>
                <a:ea typeface="微软雅黑"/>
                <a:cs typeface="微软雅黑"/>
                <a:sym typeface="微软雅黑"/>
              </a:rPr>
              <a:t>30%</a:t>
            </a:r>
            <a:endParaRPr lang="en-US" altLang="zh-CN" sz="1050" dirty="0">
              <a:solidFill>
                <a:srgbClr val="FFFFFF"/>
              </a:solidFill>
              <a:latin typeface="微软雅黑"/>
              <a:ea typeface="微软雅黑"/>
              <a:cs typeface="微软雅黑"/>
              <a:sym typeface="微软雅黑"/>
            </a:endParaRPr>
          </a:p>
        </p:txBody>
      </p:sp>
      <p:sp>
        <p:nvSpPr>
          <p:cNvPr id="740" name="天蝎PPT原创©120"/>
          <p:cNvSpPr txBox="1"/>
          <p:nvPr/>
        </p:nvSpPr>
        <p:spPr>
          <a:xfrm>
            <a:off x="10336872" y="5702051"/>
            <a:ext cx="1261884" cy="686278"/>
          </a:xfrm>
          <a:prstGeom prst="rect">
            <a:avLst/>
          </a:prstGeom>
          <a:noFill/>
        </p:spPr>
        <p:txBody>
          <a:bodyPr wrap="none" lIns="0" rIns="0" tIns="0" bIns="0">
            <a:spAutoFit/>
          </a:bodyPr>
          <a:lstStyle>
            <a:defPPr>
              <a:defRPr lang="zh-CN">
                <a:latin typeface="微软雅黑"/>
                <a:ea typeface="微软雅黑"/>
                <a:cs typeface="微软雅黑"/>
              </a:defRPr>
            </a:defPPr>
            <a:lvl1pPr>
              <a:defRPr sz="1200">
                <a:solidFill>
                  <a:srgbClr val="383838"/>
                </a:solidFill>
                <a:latin typeface="微软雅黑"/>
                <a:ea typeface="微软雅黑"/>
                <a:cs typeface="微软雅黑"/>
              </a:defRPr>
            </a:lvl1p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4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线上渠道占比</a:t>
            </a:r>
            <a:endParaRPr kumimoji="0" lang="en-US" altLang="zh-CN" sz="14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lang="en-US" altLang="zh-CN" sz="2000" b="1" dirty="0">
                <a:solidFill>
                  <a:srgbClr val="0042FF"/>
                </a:solidFill>
                <a:latin typeface="微软雅黑"/>
                <a:ea typeface="微软雅黑"/>
                <a:cs typeface="微软雅黑"/>
                <a:sym typeface="微软雅黑"/>
              </a:rPr>
              <a:t>45%</a:t>
            </a:r>
            <a:endParaRPr lang="en-US" altLang="zh-CN" sz="2000" b="1" dirty="0">
              <a:solidFill>
                <a:srgbClr val="0042FF"/>
              </a:solidFill>
              <a:latin typeface="微软雅黑"/>
              <a:ea typeface="微软雅黑"/>
              <a:cs typeface="微软雅黑"/>
              <a:sym typeface="微软雅黑"/>
            </a:endParaRPr>
          </a:p>
        </p:txBody>
      </p:sp>
      <p:pic>
        <p:nvPicPr>
          <p:cNvPr id="56" name="图片 55" descr="数据分析 (1)"/>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842645" y="3052445"/>
            <a:ext cx="262890" cy="262890"/>
          </a:xfrm>
          <a:prstGeom prst="rect">
            <a:avLst/>
          </a:prstGeom>
        </p:spPr>
      </p:pic>
      <p:pic>
        <p:nvPicPr>
          <p:cNvPr id="58" name="图片 57" descr="新品发布"/>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590675" y="3002915"/>
            <a:ext cx="320040" cy="320040"/>
          </a:xfrm>
          <a:prstGeom prst="rect">
            <a:avLst/>
          </a:prstGeom>
        </p:spPr>
      </p:pic>
      <p:pic>
        <p:nvPicPr>
          <p:cNvPr id="59" name="图片 58" descr="优惠 折扣 福利 券 钱 红包 人民币 "/>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2402205" y="3013075"/>
            <a:ext cx="297815" cy="297815"/>
          </a:xfrm>
          <a:prstGeom prst="rect">
            <a:avLst/>
          </a:prstGeom>
        </p:spPr>
      </p:pic>
      <p:pic>
        <p:nvPicPr>
          <p:cNvPr id="61" name="图片 60" descr="社群"/>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a:off x="4525645" y="2989580"/>
            <a:ext cx="358775" cy="358775"/>
          </a:xfrm>
          <a:prstGeom prst="rect">
            <a:avLst/>
          </a:prstGeom>
        </p:spPr>
      </p:pic>
      <p:pic>
        <p:nvPicPr>
          <p:cNvPr id="62" name="图片 61" descr="会员"/>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3769360" y="3023235"/>
            <a:ext cx="292100" cy="292100"/>
          </a:xfrm>
          <a:prstGeom prst="rect">
            <a:avLst/>
          </a:prstGeom>
        </p:spPr>
      </p:pic>
      <p:pic>
        <p:nvPicPr>
          <p:cNvPr id="64" name="图片 63" descr="跨界商域v3.0-82"/>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5330825" y="2990215"/>
            <a:ext cx="339725" cy="339725"/>
          </a:xfrm>
          <a:prstGeom prst="rect">
            <a:avLst/>
          </a:prstGeom>
        </p:spPr>
      </p:pic>
      <p:pic>
        <p:nvPicPr>
          <p:cNvPr id="224" name="图片 223" descr="礼盒"/>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9584055" y="3028315"/>
            <a:ext cx="287020" cy="287020"/>
          </a:xfrm>
          <a:prstGeom prst="rect">
            <a:avLst/>
          </a:prstGeom>
        </p:spPr>
      </p:pic>
      <p:pic>
        <p:nvPicPr>
          <p:cNvPr id="225" name="图片 224" descr="商品推广"/>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10379710" y="3023235"/>
            <a:ext cx="316230" cy="316230"/>
          </a:xfrm>
          <a:prstGeom prst="rect">
            <a:avLst/>
          </a:prstGeom>
        </p:spPr>
      </p:pic>
      <p:pic>
        <p:nvPicPr>
          <p:cNvPr id="227" name="图片 226" descr="money"/>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11179175" y="3023870"/>
            <a:ext cx="299085" cy="299085"/>
          </a:xfrm>
          <a:prstGeom prst="rect">
            <a:avLst/>
          </a:prstGeom>
        </p:spPr>
      </p:pic>
      <p:sp>
        <p:nvSpPr>
          <p:cNvPr id="2" name="天蝎PPT原创©23"/>
          <p:cNvSpPr txBox="1"/>
          <p:nvPr/>
        </p:nvSpPr>
        <p:spPr>
          <a:xfrm>
            <a:off x="350760" y="1194942"/>
            <a:ext cx="438150" cy="306705"/>
          </a:xfrm>
          <a:prstGeom prst="rect">
            <a:avLst/>
          </a:prstGeom>
          <a:noFill/>
        </p:spPr>
        <p:txBody>
          <a:bodyPr wrap="none" rtlCol="0">
            <a:spAutoFit/>
          </a:bodyPr>
          <a:lstStyle/>
          <a:p>
            <a:pPr>
              <a:defRPr>
                <a:latin typeface="微软雅黑"/>
                <a:ea typeface="微软雅黑"/>
                <a:cs typeface="微软雅黑"/>
              </a:defRPr>
            </a:pPr>
            <a:r>
              <a:rPr kumimoji="1" lang="en-US" altLang="zh-CN" sz="1400" b="1" dirty="0">
                <a:solidFill>
                  <a:srgbClr val="383838"/>
                </a:solidFill>
                <a:latin typeface="微软雅黑"/>
                <a:ea typeface="微软雅黑"/>
                <a:cs typeface="微软雅黑"/>
                <a:sym typeface="微软雅黑"/>
              </a:rPr>
              <a:t>Q1</a:t>
            </a:r>
            <a:endParaRPr kumimoji="1" lang="en-US" altLang="zh-CN" sz="1400" b="1" dirty="0">
              <a:solidFill>
                <a:srgbClr val="383838"/>
              </a:solidFill>
              <a:latin typeface="微软雅黑"/>
              <a:ea typeface="微软雅黑"/>
              <a:cs typeface="微软雅黑"/>
              <a:sym typeface="微软雅黑"/>
            </a:endParaRPr>
          </a:p>
        </p:txBody>
      </p:sp>
      <p:sp>
        <p:nvSpPr>
          <p:cNvPr id="4" name="天蝎PPT原创©26"/>
          <p:cNvSpPr txBox="1"/>
          <p:nvPr/>
        </p:nvSpPr>
        <p:spPr>
          <a:xfrm>
            <a:off x="3283239" y="1194942"/>
            <a:ext cx="438150" cy="306705"/>
          </a:xfrm>
          <a:prstGeom prst="rect">
            <a:avLst/>
          </a:prstGeom>
          <a:noFill/>
        </p:spPr>
        <p:txBody>
          <a:bodyPr wrap="none" rtlCol="0">
            <a:spAutoFit/>
          </a:bodyPr>
          <a:lstStyle/>
          <a:p>
            <a:pPr>
              <a:defRPr>
                <a:solidFill>
                  <a:srgbClr val="383838"/>
                </a:solidFill>
                <a:latin typeface="微软雅黑"/>
                <a:ea typeface="微软雅黑"/>
                <a:cs typeface="微软雅黑"/>
              </a:defRPr>
            </a:pPr>
            <a:r>
              <a:rPr kumimoji="1" lang="en-US" altLang="zh-CN" sz="1400" b="1" dirty="0">
                <a:solidFill>
                  <a:srgbClr val="383838"/>
                </a:solidFill>
                <a:latin typeface="微软雅黑"/>
                <a:ea typeface="微软雅黑"/>
                <a:cs typeface="微软雅黑"/>
                <a:sym typeface="微软雅黑"/>
              </a:rPr>
              <a:t>Q2</a:t>
            </a:r>
            <a:endParaRPr kumimoji="1" lang="en-US" altLang="zh-CN" sz="1400" b="1" dirty="0">
              <a:solidFill>
                <a:srgbClr val="383838"/>
              </a:solidFill>
              <a:latin typeface="微软雅黑"/>
              <a:ea typeface="微软雅黑"/>
              <a:cs typeface="微软雅黑"/>
              <a:sym typeface="微软雅黑"/>
            </a:endParaRPr>
          </a:p>
        </p:txBody>
      </p:sp>
      <p:sp>
        <p:nvSpPr>
          <p:cNvPr id="8" name="天蝎PPT原创©28"/>
          <p:cNvSpPr txBox="1"/>
          <p:nvPr/>
        </p:nvSpPr>
        <p:spPr>
          <a:xfrm>
            <a:off x="6164388" y="1194942"/>
            <a:ext cx="438150" cy="306705"/>
          </a:xfrm>
          <a:prstGeom prst="rect">
            <a:avLst/>
          </a:prstGeom>
          <a:noFill/>
        </p:spPr>
        <p:txBody>
          <a:bodyPr wrap="none" rtlCol="0">
            <a:spAutoFit/>
          </a:bodyPr>
          <a:lstStyle/>
          <a:p>
            <a:pPr>
              <a:defRPr>
                <a:latin typeface="微软雅黑"/>
                <a:ea typeface="微软雅黑"/>
                <a:cs typeface="微软雅黑"/>
              </a:defRPr>
            </a:pPr>
            <a:r>
              <a:rPr kumimoji="1" lang="en-US" altLang="zh-CN" sz="1400" b="1" dirty="0">
                <a:solidFill>
                  <a:srgbClr val="383838"/>
                </a:solidFill>
                <a:latin typeface="微软雅黑"/>
                <a:ea typeface="微软雅黑"/>
                <a:cs typeface="微软雅黑"/>
                <a:sym typeface="微软雅黑"/>
              </a:rPr>
              <a:t>Q3</a:t>
            </a:r>
            <a:endParaRPr kumimoji="1" lang="en-US" altLang="zh-CN" sz="1400" b="1" dirty="0">
              <a:solidFill>
                <a:srgbClr val="383838"/>
              </a:solidFill>
              <a:latin typeface="微软雅黑"/>
              <a:ea typeface="微软雅黑"/>
              <a:cs typeface="微软雅黑"/>
              <a:sym typeface="微软雅黑"/>
            </a:endParaRPr>
          </a:p>
        </p:txBody>
      </p:sp>
      <p:sp>
        <p:nvSpPr>
          <p:cNvPr id="11" name="天蝎PPT原创©30"/>
          <p:cNvSpPr txBox="1"/>
          <p:nvPr/>
        </p:nvSpPr>
        <p:spPr>
          <a:xfrm>
            <a:off x="9028321" y="1194942"/>
            <a:ext cx="438150" cy="306705"/>
          </a:xfrm>
          <a:prstGeom prst="rect">
            <a:avLst/>
          </a:prstGeom>
          <a:noFill/>
        </p:spPr>
        <p:txBody>
          <a:bodyPr wrap="none" rtlCol="0">
            <a:spAutoFit/>
          </a:bodyPr>
          <a:lstStyle/>
          <a:p>
            <a:pPr>
              <a:defRPr>
                <a:latin typeface="微软雅黑"/>
                <a:ea typeface="微软雅黑"/>
                <a:cs typeface="微软雅黑"/>
              </a:defRPr>
            </a:pPr>
            <a:r>
              <a:rPr kumimoji="1" lang="en-US" altLang="zh-CN" sz="1400" b="1" dirty="0">
                <a:solidFill>
                  <a:srgbClr val="383838"/>
                </a:solidFill>
                <a:latin typeface="微软雅黑"/>
                <a:ea typeface="微软雅黑"/>
                <a:cs typeface="微软雅黑"/>
                <a:sym typeface="微软雅黑"/>
              </a:rPr>
              <a:t>Q4</a:t>
            </a:r>
            <a:endParaRPr kumimoji="1" lang="en-US" altLang="zh-CN" sz="1400" b="1" dirty="0">
              <a:solidFill>
                <a:srgbClr val="383838"/>
              </a:solidFill>
              <a:latin typeface="微软雅黑"/>
              <a:ea typeface="微软雅黑"/>
              <a:cs typeface="微软雅黑"/>
              <a:sym typeface="微软雅黑"/>
            </a:endParaRPr>
          </a:p>
        </p:txBody>
      </p:sp>
      <p:cxnSp>
        <p:nvCxnSpPr>
          <p:cNvPr id="1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3" name="图片 12"/>
            <p:cNvPicPr>
              <a:picLocks noChangeAspect="1"/>
            </p:cNvPicPr>
            <p:nvPr userDrawn="1"/>
          </p:nvPicPr>
          <p:blipFill>
            <a:blip r:embed="rId31"/>
            <a:srcRect l="17002" t="-1765" r="56499" b="-1176"/>
            <a:stretch>
              <a:fillRect/>
            </a:stretch>
          </p:blipFill>
          <p:spPr>
            <a:xfrm>
              <a:off x="13761" y="549"/>
              <a:ext cx="1582" cy="525"/>
            </a:xfrm>
            <a:prstGeom prst="rect">
              <a:avLst/>
            </a:prstGeom>
          </p:spPr>
        </p:pic>
        <p:sp>
          <p:nvSpPr>
            <p:cNvPr id="14" name="文本框 1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营销推广计划时间表</a:t>
            </a:r>
            <a:endParaRPr sz="250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65" name="矩形: 圆角 58"/>
          <p:cNvSpPr/>
          <p:nvPr/>
        </p:nvSpPr>
        <p:spPr>
          <a:xfrm flipH="1">
            <a:off x="392111" y="5829996"/>
            <a:ext cx="1079252" cy="522685"/>
          </a:xfrm>
          <a:prstGeom prst="roundRect">
            <a:avLst>
              <a:gd name="adj" fmla="val 4253"/>
            </a:avLst>
          </a:prstGeom>
          <a:solidFill>
            <a:srgbClr val="FFFFFF"/>
          </a:solidFill>
          <a:ln w="12700" cap="flat" cmpd="sng" algn="ctr">
            <a:solidFill>
              <a:srgbClr val="3368FF"/>
            </a:solidFill>
            <a:prstDash val="solid"/>
            <a:miter lim="800000"/>
          </a:ln>
          <a:effectLst/>
        </p:spPr>
        <p:txBody>
          <a:bodyPr rtlCol="0" anchor="ctr" lIns="0" rIns="0" tIns="0" bIns="0"/>
          <a:lstStyle/>
          <a:p>
            <a:pPr algn="ctr">
              <a:defRPr>
                <a:latin typeface="微软雅黑"/>
                <a:ea typeface="微软雅黑"/>
                <a:cs typeface="微软雅黑"/>
              </a:defRPr>
            </a:pPr>
            <a:endParaRPr lang="zh-CN" altLang="en-US" dirty="0">
              <a:solidFill>
                <a:srgbClr val="0042FF"/>
              </a:solidFill>
              <a:latin typeface="微软雅黑"/>
              <a:ea typeface="微软雅黑"/>
              <a:cs typeface="微软雅黑"/>
            </a:endParaRPr>
          </a:p>
        </p:txBody>
      </p:sp>
      <p:grpSp>
        <p:nvGrpSpPr>
          <p:cNvPr id="149" name="组合 148"/>
          <p:cNvGrpSpPr/>
          <p:nvPr/>
        </p:nvGrpSpPr>
        <p:grpSpPr>
          <a:xfrm>
            <a:off x="1584823" y="4016709"/>
            <a:ext cx="2450457" cy="1650344"/>
            <a:chOff x="1584823" y="3217776"/>
            <a:chExt cx="2450457" cy="1542196"/>
          </a:xfrm>
        </p:grpSpPr>
        <p:sp>
          <p:nvSpPr>
            <p:cNvPr id="144" name="矩形: 圆角 565"/>
            <p:cNvSpPr/>
            <p:nvPr/>
          </p:nvSpPr>
          <p:spPr>
            <a:xfrm flipH="1">
              <a:off x="1584823" y="3217776"/>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47" name="矩形: 圆角 565"/>
            <p:cNvSpPr/>
            <p:nvPr/>
          </p:nvSpPr>
          <p:spPr>
            <a:xfrm flipH="1">
              <a:off x="1584823" y="3750132"/>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48" name="矩形: 圆角 565"/>
            <p:cNvSpPr/>
            <p:nvPr/>
          </p:nvSpPr>
          <p:spPr>
            <a:xfrm flipH="1">
              <a:off x="1584823" y="4276225"/>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grpSp>
        <p:nvGrpSpPr>
          <p:cNvPr id="150" name="组合 149"/>
          <p:cNvGrpSpPr/>
          <p:nvPr/>
        </p:nvGrpSpPr>
        <p:grpSpPr>
          <a:xfrm>
            <a:off x="4157542" y="4016709"/>
            <a:ext cx="2450457" cy="1650344"/>
            <a:chOff x="1584823" y="3217776"/>
            <a:chExt cx="2450457" cy="1542196"/>
          </a:xfrm>
        </p:grpSpPr>
        <p:sp>
          <p:nvSpPr>
            <p:cNvPr id="151" name="矩形: 圆角 565"/>
            <p:cNvSpPr/>
            <p:nvPr/>
          </p:nvSpPr>
          <p:spPr>
            <a:xfrm flipH="1">
              <a:off x="1584823" y="3217776"/>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52" name="矩形: 圆角 565"/>
            <p:cNvSpPr/>
            <p:nvPr/>
          </p:nvSpPr>
          <p:spPr>
            <a:xfrm flipH="1">
              <a:off x="1584823" y="3750132"/>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53" name="矩形: 圆角 565"/>
            <p:cNvSpPr/>
            <p:nvPr/>
          </p:nvSpPr>
          <p:spPr>
            <a:xfrm flipH="1">
              <a:off x="1584823" y="4276225"/>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grpSp>
        <p:nvGrpSpPr>
          <p:cNvPr id="154" name="组合 153"/>
          <p:cNvGrpSpPr/>
          <p:nvPr/>
        </p:nvGrpSpPr>
        <p:grpSpPr>
          <a:xfrm>
            <a:off x="6738009" y="4016709"/>
            <a:ext cx="2450457" cy="1650344"/>
            <a:chOff x="1584823" y="3217776"/>
            <a:chExt cx="2450457" cy="1542196"/>
          </a:xfrm>
        </p:grpSpPr>
        <p:sp>
          <p:nvSpPr>
            <p:cNvPr id="155" name="矩形: 圆角 565"/>
            <p:cNvSpPr/>
            <p:nvPr/>
          </p:nvSpPr>
          <p:spPr>
            <a:xfrm flipH="1">
              <a:off x="1584823" y="3217776"/>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56" name="矩形: 圆角 565"/>
            <p:cNvSpPr/>
            <p:nvPr/>
          </p:nvSpPr>
          <p:spPr>
            <a:xfrm flipH="1">
              <a:off x="1584823" y="3750132"/>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57" name="矩形: 圆角 565"/>
            <p:cNvSpPr/>
            <p:nvPr/>
          </p:nvSpPr>
          <p:spPr>
            <a:xfrm flipH="1">
              <a:off x="1584823" y="4276225"/>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grpSp>
        <p:nvGrpSpPr>
          <p:cNvPr id="158" name="组合 157"/>
          <p:cNvGrpSpPr/>
          <p:nvPr/>
        </p:nvGrpSpPr>
        <p:grpSpPr>
          <a:xfrm>
            <a:off x="9295229" y="4016709"/>
            <a:ext cx="2450457" cy="1650344"/>
            <a:chOff x="1584823" y="3217776"/>
            <a:chExt cx="2450457" cy="1542196"/>
          </a:xfrm>
        </p:grpSpPr>
        <p:sp>
          <p:nvSpPr>
            <p:cNvPr id="159" name="矩形: 圆角 565"/>
            <p:cNvSpPr/>
            <p:nvPr/>
          </p:nvSpPr>
          <p:spPr>
            <a:xfrm flipH="1">
              <a:off x="1584823" y="3217776"/>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60" name="矩形: 圆角 565"/>
            <p:cNvSpPr/>
            <p:nvPr/>
          </p:nvSpPr>
          <p:spPr>
            <a:xfrm flipH="1">
              <a:off x="1584823" y="3750132"/>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61" name="矩形: 圆角 565"/>
            <p:cNvSpPr/>
            <p:nvPr/>
          </p:nvSpPr>
          <p:spPr>
            <a:xfrm flipH="1">
              <a:off x="1584823" y="4276225"/>
              <a:ext cx="2450457" cy="483747"/>
            </a:xfrm>
            <a:prstGeom prst="roundRect">
              <a:avLst>
                <a:gd name="adj" fmla="val 3718"/>
              </a:avLst>
            </a:prstGeom>
            <a:solidFill>
              <a:srgbClr val="FFFFFF"/>
            </a:solidFill>
            <a:ln>
              <a:solidFill>
                <a:srgbClr val="3368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grpSp>
      <p:sp>
        <p:nvSpPr>
          <p:cNvPr id="138" name="矩形: 圆角 58"/>
          <p:cNvSpPr/>
          <p:nvPr/>
        </p:nvSpPr>
        <p:spPr>
          <a:xfrm flipH="1">
            <a:off x="392111" y="2622616"/>
            <a:ext cx="1079252" cy="553170"/>
          </a:xfrm>
          <a:prstGeom prst="roundRect">
            <a:avLst>
              <a:gd name="adj" fmla="val 4253"/>
            </a:avLst>
          </a:prstGeom>
          <a:solidFill>
            <a:srgbClr val="FFFFFF"/>
          </a:solidFill>
          <a:ln w="12700" cap="flat" cmpd="sng" algn="ctr">
            <a:solidFill>
              <a:srgbClr val="0042FF"/>
            </a:solidFill>
            <a:prstDash val="solid"/>
            <a:miter lim="800000"/>
          </a:ln>
          <a:effectLst/>
        </p:spPr>
        <p:txBody>
          <a:bodyPr rtlCol="0" anchor="ctr" lIns="0" rIns="0" tIns="0" bIns="0"/>
          <a:lstStyle/>
          <a:p>
            <a:pPr algn="ctr">
              <a:defRPr>
                <a:latin typeface="微软雅黑"/>
                <a:ea typeface="微软雅黑"/>
                <a:cs typeface="微软雅黑"/>
              </a:defRPr>
            </a:pPr>
            <a:endParaRPr lang="zh-CN" altLang="en-US" dirty="0">
              <a:solidFill>
                <a:srgbClr val="0042FF"/>
              </a:solidFill>
              <a:latin typeface="微软雅黑"/>
              <a:ea typeface="微软雅黑"/>
              <a:cs typeface="微软雅黑"/>
            </a:endParaRPr>
          </a:p>
        </p:txBody>
      </p:sp>
      <p:sp>
        <p:nvSpPr>
          <p:cNvPr id="139" name="矩形: 圆角 58"/>
          <p:cNvSpPr/>
          <p:nvPr/>
        </p:nvSpPr>
        <p:spPr>
          <a:xfrm flipH="1">
            <a:off x="392111" y="3391593"/>
            <a:ext cx="1079252" cy="2261216"/>
          </a:xfrm>
          <a:prstGeom prst="roundRect">
            <a:avLst>
              <a:gd name="adj" fmla="val 4253"/>
            </a:avLst>
          </a:prstGeom>
          <a:solidFill>
            <a:srgbClr val="FFFFFF"/>
          </a:solidFill>
          <a:ln w="12700" cap="flat" cmpd="sng" algn="ctr">
            <a:solidFill>
              <a:srgbClr val="0042FF"/>
            </a:solidFill>
            <a:prstDash val="solid"/>
            <a:miter lim="800000"/>
          </a:ln>
          <a:effectLst/>
        </p:spPr>
        <p:txBody>
          <a:bodyPr rtlCol="0" anchor="ctr" lIns="0" rIns="0" tIns="0" bIns="0"/>
          <a:lstStyle/>
          <a:p>
            <a:pPr algn="ctr">
              <a:defRPr>
                <a:latin typeface="微软雅黑"/>
                <a:ea typeface="微软雅黑"/>
                <a:cs typeface="微软雅黑"/>
              </a:defRPr>
            </a:pPr>
            <a:endParaRPr lang="zh-CN" altLang="en-US" dirty="0">
              <a:solidFill>
                <a:srgbClr val="0042FF"/>
              </a:solidFill>
              <a:latin typeface="微软雅黑"/>
              <a:ea typeface="微软雅黑"/>
              <a:cs typeface="微软雅黑"/>
            </a:endParaRPr>
          </a:p>
        </p:txBody>
      </p:sp>
      <p:sp>
        <p:nvSpPr>
          <p:cNvPr id="13" name="矩形: 圆角 58"/>
          <p:cNvSpPr/>
          <p:nvPr/>
        </p:nvSpPr>
        <p:spPr>
          <a:xfrm flipH="1">
            <a:off x="392111" y="1132232"/>
            <a:ext cx="11363323" cy="557958"/>
          </a:xfrm>
          <a:prstGeom prst="roundRect">
            <a:avLst>
              <a:gd name="adj" fmla="val 4253"/>
            </a:avLst>
          </a:prstGeom>
          <a:solidFill>
            <a:srgbClr val="FFFFFF"/>
          </a:solidFill>
          <a:ln w="12700" cap="flat" cmpd="sng" algn="ctr">
            <a:solidFill>
              <a:srgbClr val="3368FF"/>
            </a:solidFill>
            <a:prstDash val="solid"/>
            <a:miter lim="800000"/>
          </a:ln>
          <a:effectLst/>
        </p:spPr>
        <p:txBody>
          <a:bodyPr rtlCol="0" anchor="ctr" lIns="0" rIns="0" tIns="0" bIns="0">
            <a:noAutofit/>
          </a:bodyPr>
          <a:lstStyle/>
          <a:p>
            <a:pPr lvl="0" algn="ctr">
              <a:buClrTx/>
              <a:buSzTx/>
              <a:buFontTx/>
              <a:defRPr>
                <a:latin typeface="微软雅黑"/>
                <a:ea typeface="微软雅黑"/>
                <a:cs typeface="微软雅黑"/>
              </a:defRPr>
            </a:pPr>
            <a:endParaRPr lang="zh-CN" altLang="en-US" dirty="0">
              <a:solidFill>
                <a:srgbClr val="0042FF"/>
              </a:solidFill>
              <a:latin typeface="微软雅黑"/>
              <a:ea typeface="微软雅黑"/>
              <a:cs typeface="微软雅黑"/>
              <a:sym typeface="微软雅黑"/>
            </a:endParaRPr>
          </a:p>
        </p:txBody>
      </p:sp>
      <p:sp>
        <p:nvSpPr>
          <p:cNvPr id="14" name="文本框 13"/>
          <p:cNvSpPr txBox="1"/>
          <p:nvPr/>
        </p:nvSpPr>
        <p:spPr>
          <a:xfrm>
            <a:off x="4118610" y="1227455"/>
            <a:ext cx="3072765" cy="368300"/>
          </a:xfrm>
          <a:prstGeom prst="rect">
            <a:avLst/>
          </a:prstGeom>
          <a:noFill/>
        </p:spPr>
        <p:txBody>
          <a:bodyPr wrap="square" rtlCol="0" lIns="0" rIns="0" tIns="0" bIns="0">
            <a:spAutoFit/>
          </a:bodyPr>
          <a:lstStyle/>
          <a:p>
            <a:pPr algn="ctr">
              <a:defRPr>
                <a:latin typeface="微软雅黑"/>
                <a:ea typeface="微软雅黑"/>
                <a:cs typeface="微软雅黑"/>
              </a:defRPr>
            </a:pPr>
            <a:r>
              <a:rPr lang="zh-CN" altLang="en-US" b="1" dirty="0">
                <a:solidFill>
                  <a:srgbClr val="0042FF"/>
                </a:solidFill>
                <a:latin typeface="微软雅黑"/>
                <a:ea typeface="微软雅黑"/>
                <a:cs typeface="微软雅黑"/>
              </a:rPr>
              <a:t>下阶段推广铺排计划</a:t>
            </a:r>
            <a:endParaRPr kumimoji="1" lang="en-US" altLang="zh-CN" b="1" dirty="0">
              <a:solidFill>
                <a:srgbClr val="0042FF"/>
              </a:solidFill>
              <a:latin typeface="微软雅黑"/>
              <a:ea typeface="微软雅黑"/>
              <a:cs typeface="微软雅黑"/>
            </a:endParaRPr>
          </a:p>
        </p:txBody>
      </p:sp>
      <p:grpSp>
        <p:nvGrpSpPr>
          <p:cNvPr id="17" name="组合 16"/>
          <p:cNvGrpSpPr/>
          <p:nvPr/>
        </p:nvGrpSpPr>
        <p:grpSpPr>
          <a:xfrm>
            <a:off x="1590262" y="2621915"/>
            <a:ext cx="10144154" cy="553998"/>
            <a:chOff x="2756031" y="1888971"/>
            <a:chExt cx="8208986" cy="553998"/>
          </a:xfrm>
        </p:grpSpPr>
        <p:sp>
          <p:nvSpPr>
            <p:cNvPr id="15" name="矩形: 圆顶角 4"/>
            <p:cNvSpPr/>
            <p:nvPr/>
          </p:nvSpPr>
          <p:spPr>
            <a:xfrm>
              <a:off x="2756031" y="1888971"/>
              <a:ext cx="2103662" cy="553998"/>
            </a:xfrm>
            <a:prstGeom prst="homePlate">
              <a:avLst/>
            </a:prstGeom>
            <a:solidFill>
              <a:srgbClr val="FFFFFF"/>
            </a:solidFill>
            <a:ln>
              <a:solidFill>
                <a:srgbClr val="0042FF"/>
              </a:solidFill>
            </a:ln>
            <a:effectLst>
              <a:outerShdw blurRad="177800" dist="50800" dir="2700000" sx="99000" sy="99000" algn="tl" rotWithShape="0">
                <a:srgbClr val="0042FF">
                  <a:alpha val="6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b="1" dirty="0">
                <a:solidFill>
                  <a:srgbClr val="0042FF"/>
                </a:solidFill>
                <a:latin typeface="微软雅黑"/>
                <a:ea typeface="微软雅黑"/>
                <a:cs typeface="微软雅黑"/>
                <a:sym typeface="微软雅黑"/>
              </a:endParaRPr>
            </a:p>
          </p:txBody>
        </p:sp>
        <p:sp>
          <p:nvSpPr>
            <p:cNvPr id="16" name="矩形: 圆顶角 4"/>
            <p:cNvSpPr/>
            <p:nvPr/>
          </p:nvSpPr>
          <p:spPr>
            <a:xfrm>
              <a:off x="4802003" y="1888971"/>
              <a:ext cx="2103662" cy="553998"/>
            </a:xfrm>
            <a:prstGeom prst="chevron">
              <a:avLst/>
            </a:prstGeom>
            <a:solidFill>
              <a:srgbClr val="FFFFFF"/>
            </a:solidFill>
            <a:ln>
              <a:solidFill>
                <a:srgbClr val="0042FF"/>
              </a:solidFill>
            </a:ln>
            <a:effectLst>
              <a:outerShdw blurRad="177800" dist="50800" dir="2700000" sx="99000" sy="99000" algn="tl" rotWithShape="0">
                <a:srgbClr val="0042FF">
                  <a:alpha val="6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b="1" dirty="0">
                <a:solidFill>
                  <a:srgbClr val="0042FF"/>
                </a:solidFill>
                <a:latin typeface="微软雅黑"/>
                <a:ea typeface="微软雅黑"/>
                <a:cs typeface="微软雅黑"/>
                <a:sym typeface="微软雅黑"/>
              </a:endParaRPr>
            </a:p>
          </p:txBody>
        </p:sp>
        <p:sp>
          <p:nvSpPr>
            <p:cNvPr id="18" name="矩形: 圆顶角 4"/>
            <p:cNvSpPr/>
            <p:nvPr/>
          </p:nvSpPr>
          <p:spPr>
            <a:xfrm>
              <a:off x="6825012" y="1888971"/>
              <a:ext cx="2103662" cy="553998"/>
            </a:xfrm>
            <a:prstGeom prst="chevron">
              <a:avLst/>
            </a:prstGeom>
            <a:solidFill>
              <a:srgbClr val="FFFFFF"/>
            </a:solidFill>
            <a:ln>
              <a:solidFill>
                <a:srgbClr val="0042FF"/>
              </a:solidFill>
            </a:ln>
            <a:effectLst>
              <a:outerShdw blurRad="177800" dist="50800" dir="2700000" sx="99000" sy="99000" algn="tl" rotWithShape="0">
                <a:srgbClr val="0042FF">
                  <a:alpha val="6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b="1" dirty="0">
                <a:solidFill>
                  <a:srgbClr val="0042FF"/>
                </a:solidFill>
                <a:latin typeface="微软雅黑"/>
                <a:ea typeface="微软雅黑"/>
                <a:cs typeface="微软雅黑"/>
                <a:sym typeface="微软雅黑"/>
              </a:endParaRPr>
            </a:p>
          </p:txBody>
        </p:sp>
        <p:sp>
          <p:nvSpPr>
            <p:cNvPr id="19" name="矩形: 圆顶角 4"/>
            <p:cNvSpPr/>
            <p:nvPr/>
          </p:nvSpPr>
          <p:spPr>
            <a:xfrm>
              <a:off x="8861355" y="1888971"/>
              <a:ext cx="2103662" cy="553998"/>
            </a:xfrm>
            <a:prstGeom prst="chevron">
              <a:avLst/>
            </a:prstGeom>
            <a:solidFill>
              <a:srgbClr val="FFFFFF"/>
            </a:solidFill>
            <a:ln>
              <a:solidFill>
                <a:srgbClr val="0042FF"/>
              </a:solidFill>
            </a:ln>
            <a:effectLst>
              <a:outerShdw blurRad="177800" dist="50800" dir="2700000" sx="99000" sy="99000" algn="tl" rotWithShape="0">
                <a:srgbClr val="0042FF">
                  <a:alpha val="6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lstStyle/>
            <a:p>
              <a:pPr lvl="0" algn="ctr">
                <a:buClrTx/>
                <a:buSzTx/>
                <a:buFontTx/>
                <a:defRPr>
                  <a:latin typeface="微软雅黑"/>
                  <a:ea typeface="微软雅黑"/>
                  <a:cs typeface="微软雅黑"/>
                </a:defRPr>
              </a:pPr>
              <a:endParaRPr lang="zh-CN" altLang="en-US" sz="2000" b="1" dirty="0">
                <a:solidFill>
                  <a:srgbClr val="0042FF"/>
                </a:solidFill>
                <a:latin typeface="微软雅黑"/>
                <a:ea typeface="微软雅黑"/>
                <a:cs typeface="微软雅黑"/>
                <a:sym typeface="微软雅黑"/>
              </a:endParaRPr>
            </a:p>
          </p:txBody>
        </p:sp>
      </p:grpSp>
      <p:sp>
        <p:nvSpPr>
          <p:cNvPr id="20" name="文本框 19"/>
          <p:cNvSpPr txBox="1"/>
          <p:nvPr/>
        </p:nvSpPr>
        <p:spPr>
          <a:xfrm>
            <a:off x="474261" y="2717954"/>
            <a:ext cx="899715" cy="307777"/>
          </a:xfrm>
          <a:prstGeom prst="rect">
            <a:avLst/>
          </a:prstGeom>
          <a:noFill/>
        </p:spPr>
        <p:txBody>
          <a:bodyPr wrap="square">
            <a:spAutoFit/>
          </a:bodyPr>
          <a:lstStyle/>
          <a:p>
            <a:pPr lvl="0" algn="ctr">
              <a:buClrTx/>
              <a:buSzTx/>
              <a:buFontTx/>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时间阶段</a:t>
            </a:r>
            <a:endParaRPr lang="zh-CN" altLang="en-US" sz="1400" b="1" dirty="0">
              <a:solidFill>
                <a:srgbClr val="0042FF"/>
              </a:solidFill>
              <a:latin typeface="微软雅黑"/>
              <a:ea typeface="微软雅黑"/>
              <a:cs typeface="微软雅黑"/>
              <a:sym typeface="微软雅黑"/>
            </a:endParaRPr>
          </a:p>
        </p:txBody>
      </p:sp>
      <p:sp>
        <p:nvSpPr>
          <p:cNvPr id="21" name="文本框 20"/>
          <p:cNvSpPr txBox="1"/>
          <p:nvPr/>
        </p:nvSpPr>
        <p:spPr>
          <a:xfrm>
            <a:off x="413713" y="4403192"/>
            <a:ext cx="1036047" cy="307777"/>
          </a:xfrm>
          <a:prstGeom prst="rect">
            <a:avLst/>
          </a:prstGeom>
          <a:noFill/>
        </p:spPr>
        <p:txBody>
          <a:bodyPr wrap="square">
            <a:spAutoFit/>
          </a:bodyPr>
          <a:lstStyle/>
          <a:p>
            <a:pPr lvl="0" algn="ctr">
              <a:buClrTx/>
              <a:buSzTx/>
              <a:buFontTx/>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活动内容</a:t>
            </a:r>
            <a:endParaRPr lang="zh-CN" altLang="en-US" sz="1400" b="1" dirty="0">
              <a:solidFill>
                <a:srgbClr val="0042FF"/>
              </a:solidFill>
              <a:latin typeface="微软雅黑"/>
              <a:ea typeface="微软雅黑"/>
              <a:cs typeface="微软雅黑"/>
              <a:sym typeface="微软雅黑"/>
            </a:endParaRPr>
          </a:p>
        </p:txBody>
      </p:sp>
      <p:sp>
        <p:nvSpPr>
          <p:cNvPr id="26" name="文本框 25"/>
          <p:cNvSpPr txBox="1"/>
          <p:nvPr/>
        </p:nvSpPr>
        <p:spPr>
          <a:xfrm>
            <a:off x="2354293" y="2676158"/>
            <a:ext cx="810035" cy="307777"/>
          </a:xfrm>
          <a:prstGeom prst="rect">
            <a:avLst/>
          </a:prstGeom>
          <a:noFill/>
        </p:spPr>
        <p:txBody>
          <a:bodyPr wrap="square" rtlCol="0">
            <a:spAutoFit/>
          </a:bodyPr>
          <a:lstStyle/>
          <a:p>
            <a:pPr>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预热期</a:t>
            </a:r>
            <a:endParaRPr kumimoji="1" lang="zh-CN" altLang="en-US" sz="1400" b="1" dirty="0">
              <a:solidFill>
                <a:srgbClr val="0042FF"/>
              </a:solidFill>
              <a:latin typeface="微软雅黑"/>
              <a:ea typeface="微软雅黑"/>
              <a:cs typeface="微软雅黑"/>
            </a:endParaRPr>
          </a:p>
        </p:txBody>
      </p:sp>
      <p:sp>
        <p:nvSpPr>
          <p:cNvPr id="27" name="文本框 26"/>
          <p:cNvSpPr txBox="1"/>
          <p:nvPr/>
        </p:nvSpPr>
        <p:spPr>
          <a:xfrm>
            <a:off x="5115079" y="2652911"/>
            <a:ext cx="810035" cy="307777"/>
          </a:xfrm>
          <a:prstGeom prst="rect">
            <a:avLst/>
          </a:prstGeom>
          <a:noFill/>
        </p:spPr>
        <p:txBody>
          <a:bodyPr wrap="square" rtlCol="0">
            <a:spAutoFit/>
          </a:bodyPr>
          <a:lstStyle/>
          <a:p>
            <a:pPr>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高潮期</a:t>
            </a:r>
            <a:endParaRPr kumimoji="1" lang="zh-CN" altLang="en-US" sz="1400" b="1" dirty="0">
              <a:solidFill>
                <a:srgbClr val="0042FF"/>
              </a:solidFill>
              <a:latin typeface="微软雅黑"/>
              <a:ea typeface="微软雅黑"/>
              <a:cs typeface="微软雅黑"/>
            </a:endParaRPr>
          </a:p>
        </p:txBody>
      </p:sp>
      <p:sp>
        <p:nvSpPr>
          <p:cNvPr id="28" name="文本框 27"/>
          <p:cNvSpPr txBox="1"/>
          <p:nvPr/>
        </p:nvSpPr>
        <p:spPr>
          <a:xfrm>
            <a:off x="7631465" y="2645162"/>
            <a:ext cx="810035" cy="307777"/>
          </a:xfrm>
          <a:prstGeom prst="rect">
            <a:avLst/>
          </a:prstGeom>
          <a:noFill/>
        </p:spPr>
        <p:txBody>
          <a:bodyPr wrap="square" rtlCol="0">
            <a:spAutoFit/>
          </a:bodyPr>
          <a:lstStyle/>
          <a:p>
            <a:pPr>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爆发期</a:t>
            </a:r>
            <a:endParaRPr kumimoji="1" lang="zh-CN" altLang="en-US" sz="1400" b="1" dirty="0">
              <a:solidFill>
                <a:srgbClr val="0042FF"/>
              </a:solidFill>
              <a:latin typeface="微软雅黑"/>
              <a:ea typeface="微软雅黑"/>
              <a:cs typeface="微软雅黑"/>
            </a:endParaRPr>
          </a:p>
        </p:txBody>
      </p:sp>
      <p:sp>
        <p:nvSpPr>
          <p:cNvPr id="29" name="文本框 28"/>
          <p:cNvSpPr txBox="1"/>
          <p:nvPr/>
        </p:nvSpPr>
        <p:spPr>
          <a:xfrm>
            <a:off x="10041451" y="2645162"/>
            <a:ext cx="810035" cy="307777"/>
          </a:xfrm>
          <a:prstGeom prst="rect">
            <a:avLst/>
          </a:prstGeom>
          <a:noFill/>
        </p:spPr>
        <p:txBody>
          <a:bodyPr wrap="square" rtlCol="0">
            <a:spAutoFit/>
          </a:bodyPr>
          <a:lstStyle/>
          <a:p>
            <a:pPr>
              <a:defRPr>
                <a:latin typeface="微软雅黑"/>
                <a:ea typeface="微软雅黑"/>
                <a:cs typeface="微软雅黑"/>
              </a:defRPr>
            </a:pPr>
            <a:r>
              <a:rPr kumimoji="1" lang="zh-CN" altLang="en-US" sz="1400" b="1" dirty="0">
                <a:solidFill>
                  <a:srgbClr val="0042FF"/>
                </a:solidFill>
                <a:latin typeface="微软雅黑"/>
                <a:ea typeface="微软雅黑"/>
                <a:cs typeface="微软雅黑"/>
              </a:rPr>
              <a:t>长尾期</a:t>
            </a:r>
            <a:endParaRPr kumimoji="1" lang="zh-CN" altLang="en-US" sz="1400" b="1" dirty="0">
              <a:solidFill>
                <a:srgbClr val="0042FF"/>
              </a:solidFill>
              <a:latin typeface="微软雅黑"/>
              <a:ea typeface="微软雅黑"/>
              <a:cs typeface="微软雅黑"/>
            </a:endParaRPr>
          </a:p>
        </p:txBody>
      </p:sp>
      <p:sp>
        <p:nvSpPr>
          <p:cNvPr id="31" name="矩形: 圆角 192"/>
          <p:cNvSpPr/>
          <p:nvPr/>
        </p:nvSpPr>
        <p:spPr>
          <a:xfrm>
            <a:off x="1590252" y="3390144"/>
            <a:ext cx="2439602" cy="509814"/>
          </a:xfrm>
          <a:prstGeom prst="roundRect">
            <a:avLst>
              <a:gd name="adj" fmla="val 13820"/>
            </a:avLst>
          </a:prstGeom>
          <a:gradFill>
            <a:gsLst>
              <a:gs pos="0">
                <a:srgbClr val="3368FF"/>
              </a:gs>
              <a:gs pos="100000">
                <a:srgbClr val="0042FF"/>
              </a:gs>
            </a:gsLst>
            <a:lin ang="2700000" scaled="0"/>
          </a:gradFill>
          <a:ln w="38100">
            <a:noFill/>
          </a:ln>
          <a:effectLst/>
        </p:spPr>
        <p:style>
          <a:lnRef idx="2">
            <a:srgbClr val="0042FF"/>
          </a:lnRef>
          <a:fillRef idx="1">
            <a:srgbClr val="0042FF"/>
          </a:fillRef>
          <a:effectRef idx="0">
            <a:srgbClr val="0042FF"/>
          </a:effectRef>
          <a:fontRef idx="minor">
            <a:srgbClr val="FFFFFF"/>
          </a:fontRef>
        </p:style>
        <p:txBody>
          <a:bodyPr wrap="square" lIns="98755" tIns="49378" rIns="98755" bIns="49378" rtlCol="0" anchor="ctr">
            <a:noAutofit/>
          </a:bodyPr>
          <a:lstStyle/>
          <a:p>
            <a:pPr algn="ctr">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endParaRPr>
          </a:p>
        </p:txBody>
      </p:sp>
      <p:sp>
        <p:nvSpPr>
          <p:cNvPr id="38" name="文本框 37"/>
          <p:cNvSpPr txBox="1"/>
          <p:nvPr/>
        </p:nvSpPr>
        <p:spPr>
          <a:xfrm>
            <a:off x="1803421" y="3491162"/>
            <a:ext cx="2127959" cy="307777"/>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合作确认 资源对接</a:t>
            </a:r>
            <a:endParaRPr lang="zh-CN" altLang="en-US" sz="1400" b="1" dirty="0">
              <a:solidFill>
                <a:srgbClr val="FFFFFF"/>
              </a:solidFill>
              <a:latin typeface="微软雅黑"/>
              <a:ea typeface="微软雅黑"/>
              <a:cs typeface="微软雅黑"/>
            </a:endParaRPr>
          </a:p>
        </p:txBody>
      </p:sp>
      <p:sp>
        <p:nvSpPr>
          <p:cNvPr id="49" name="矩形: 圆角 511"/>
          <p:cNvSpPr/>
          <p:nvPr/>
        </p:nvSpPr>
        <p:spPr>
          <a:xfrm>
            <a:off x="4161339" y="3390144"/>
            <a:ext cx="2439602" cy="509814"/>
          </a:xfrm>
          <a:prstGeom prst="roundRect">
            <a:avLst>
              <a:gd name="adj" fmla="val 13820"/>
            </a:avLst>
          </a:prstGeom>
          <a:gradFill>
            <a:gsLst>
              <a:gs pos="0">
                <a:srgbClr val="3368FF"/>
              </a:gs>
              <a:gs pos="100000">
                <a:srgbClr val="0042FF"/>
              </a:gs>
            </a:gsLst>
            <a:lin ang="27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56" name="文本框 55"/>
          <p:cNvSpPr txBox="1"/>
          <p:nvPr/>
        </p:nvSpPr>
        <p:spPr>
          <a:xfrm>
            <a:off x="4374509" y="3491162"/>
            <a:ext cx="2127959" cy="307777"/>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话题炒作 高潮推动</a:t>
            </a:r>
            <a:endParaRPr lang="zh-CN" altLang="en-US" sz="1400" b="1" dirty="0">
              <a:solidFill>
                <a:srgbClr val="FFFFFF"/>
              </a:solidFill>
              <a:latin typeface="微软雅黑"/>
              <a:ea typeface="微软雅黑"/>
              <a:cs typeface="微软雅黑"/>
            </a:endParaRPr>
          </a:p>
        </p:txBody>
      </p:sp>
      <p:sp>
        <p:nvSpPr>
          <p:cNvPr id="67" name="矩形: 圆角 529"/>
          <p:cNvSpPr/>
          <p:nvPr/>
        </p:nvSpPr>
        <p:spPr>
          <a:xfrm>
            <a:off x="6752245" y="3390144"/>
            <a:ext cx="2439602" cy="509814"/>
          </a:xfrm>
          <a:prstGeom prst="roundRect">
            <a:avLst>
              <a:gd name="adj" fmla="val 13820"/>
            </a:avLst>
          </a:prstGeom>
          <a:gradFill>
            <a:gsLst>
              <a:gs pos="0">
                <a:srgbClr val="3368FF"/>
              </a:gs>
              <a:gs pos="100000">
                <a:srgbClr val="0042FF"/>
              </a:gs>
            </a:gsLst>
            <a:lin ang="27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73" name="文本框 72"/>
          <p:cNvSpPr txBox="1"/>
          <p:nvPr/>
        </p:nvSpPr>
        <p:spPr>
          <a:xfrm>
            <a:off x="7144223" y="4162056"/>
            <a:ext cx="1623093"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多位明星同时发微博宣传</a:t>
            </a:r>
            <a:endParaRPr lang="zh-CN" altLang="en-US" sz="1035" dirty="0">
              <a:solidFill>
                <a:srgbClr val="383838"/>
              </a:solidFill>
              <a:latin typeface="微软雅黑"/>
              <a:ea typeface="微软雅黑"/>
              <a:cs typeface="微软雅黑"/>
            </a:endParaRPr>
          </a:p>
        </p:txBody>
      </p:sp>
      <p:sp>
        <p:nvSpPr>
          <p:cNvPr id="74" name="文本框 73"/>
          <p:cNvSpPr txBox="1"/>
          <p:nvPr/>
        </p:nvSpPr>
        <p:spPr>
          <a:xfrm>
            <a:off x="6965415" y="3491162"/>
            <a:ext cx="2127959" cy="307777"/>
          </a:xfrm>
          <a:prstGeom prst="rect">
            <a:avLst/>
          </a:prstGeom>
          <a:noFill/>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圈层事件 激发共鸣</a:t>
            </a:r>
            <a:endParaRPr lang="zh-CN" altLang="en-US" sz="1400" b="1" dirty="0">
              <a:solidFill>
                <a:srgbClr val="FFFFFF"/>
              </a:solidFill>
              <a:latin typeface="微软雅黑"/>
              <a:ea typeface="微软雅黑"/>
              <a:cs typeface="微软雅黑"/>
            </a:endParaRPr>
          </a:p>
        </p:txBody>
      </p:sp>
      <p:sp>
        <p:nvSpPr>
          <p:cNvPr id="79" name="文本框 78"/>
          <p:cNvSpPr txBox="1"/>
          <p:nvPr/>
        </p:nvSpPr>
        <p:spPr>
          <a:xfrm>
            <a:off x="7115516" y="4740913"/>
            <a:ext cx="1889192"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发起微博话题，吸引粉丝讨论</a:t>
            </a:r>
            <a:endParaRPr lang="zh-CN" altLang="en-US" sz="1035" dirty="0">
              <a:solidFill>
                <a:srgbClr val="383838"/>
              </a:solidFill>
              <a:latin typeface="微软雅黑"/>
              <a:ea typeface="微软雅黑"/>
              <a:cs typeface="微软雅黑"/>
            </a:endParaRPr>
          </a:p>
        </p:txBody>
      </p:sp>
      <p:sp>
        <p:nvSpPr>
          <p:cNvPr id="84" name="文本框 83"/>
          <p:cNvSpPr txBox="1"/>
          <p:nvPr/>
        </p:nvSpPr>
        <p:spPr>
          <a:xfrm>
            <a:off x="7168443" y="5307427"/>
            <a:ext cx="1623093"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流量收割，周边电商转化</a:t>
            </a:r>
            <a:endParaRPr lang="zh-CN" altLang="en-US" sz="1035" dirty="0">
              <a:solidFill>
                <a:srgbClr val="383838"/>
              </a:solidFill>
              <a:latin typeface="微软雅黑"/>
              <a:ea typeface="微软雅黑"/>
              <a:cs typeface="微软雅黑"/>
            </a:endParaRPr>
          </a:p>
        </p:txBody>
      </p:sp>
      <p:sp>
        <p:nvSpPr>
          <p:cNvPr id="85" name="矩形: 圆角 547"/>
          <p:cNvSpPr/>
          <p:nvPr/>
        </p:nvSpPr>
        <p:spPr>
          <a:xfrm>
            <a:off x="9304423" y="3390144"/>
            <a:ext cx="2439602" cy="509814"/>
          </a:xfrm>
          <a:prstGeom prst="roundRect">
            <a:avLst>
              <a:gd name="adj" fmla="val 13820"/>
            </a:avLst>
          </a:prstGeom>
          <a:gradFill>
            <a:gsLst>
              <a:gs pos="0">
                <a:srgbClr val="3368FF"/>
              </a:gs>
              <a:gs pos="100000">
                <a:srgbClr val="0042FF"/>
              </a:gs>
            </a:gsLst>
            <a:lin ang="2700000" scaled="0"/>
          </a:gradFill>
          <a:ln w="38100">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lIns="98755" tIns="49378" rIns="98755" bIns="49378" numCol="1" spcCol="0" rtlCol="0" fromWordArt="0" anchor="ctr" anchorCtr="0" forceAA="0" compatLnSpc="1">
            <a:noAutofit/>
          </a:bodyPr>
          <a:lstStyle/>
          <a:p>
            <a:pPr lvl="0" algn="ctr">
              <a:buClrTx/>
              <a:buSzTx/>
              <a:buFontTx/>
              <a:defRPr>
                <a:solidFill>
                  <a:srgbClr val="FFFFFF"/>
                </a:solidFill>
                <a:latin typeface="微软雅黑"/>
                <a:ea typeface="微软雅黑"/>
                <a:cs typeface="微软雅黑"/>
              </a:defRPr>
            </a:pPr>
            <a:endParaRPr lang="zh-CN" altLang="en-US" sz="1945" dirty="0">
              <a:solidFill>
                <a:srgbClr val="FFFFFF"/>
              </a:solidFill>
              <a:effectLst>
                <a:outerShdw blurRad="137160" dist="41148" dir="2699997" algn="tl">
                  <a:srgbClr val="383838">
                    <a:alpha val="40000"/>
                  </a:srgbClr>
                </a:outerShdw>
              </a:effectLst>
              <a:latin typeface="微软雅黑"/>
              <a:ea typeface="微软雅黑"/>
              <a:cs typeface="微软雅黑"/>
              <a:sym typeface="微软雅黑"/>
            </a:endParaRPr>
          </a:p>
        </p:txBody>
      </p:sp>
      <p:sp>
        <p:nvSpPr>
          <p:cNvPr id="91" name="文本框 90"/>
          <p:cNvSpPr txBox="1"/>
          <p:nvPr/>
        </p:nvSpPr>
        <p:spPr>
          <a:xfrm>
            <a:off x="9621975" y="4143641"/>
            <a:ext cx="1889192"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话题持续发酵，长尾流量获取</a:t>
            </a:r>
            <a:endParaRPr lang="zh-CN" altLang="en-US" sz="1035" dirty="0">
              <a:solidFill>
                <a:srgbClr val="383838"/>
              </a:solidFill>
              <a:latin typeface="微软雅黑"/>
              <a:ea typeface="微软雅黑"/>
              <a:cs typeface="微软雅黑"/>
            </a:endParaRPr>
          </a:p>
        </p:txBody>
      </p:sp>
      <p:sp>
        <p:nvSpPr>
          <p:cNvPr id="92" name="文本框 91"/>
          <p:cNvSpPr txBox="1"/>
          <p:nvPr/>
        </p:nvSpPr>
        <p:spPr>
          <a:xfrm>
            <a:off x="9517592" y="3491162"/>
            <a:ext cx="2127959" cy="307777"/>
          </a:xfrm>
          <a:prstGeom prst="rect">
            <a:avLst/>
          </a:prstGeom>
          <a:noFill/>
          <a:effectLst/>
        </p:spPr>
        <p:txBody>
          <a:bodyPr wrap="square" rtlCol="0" lIns="0" rIns="0" tIns="0" bIns="0">
            <a:spAutoFit/>
          </a:bodyPr>
          <a:lstStyle>
            <a:defPPr>
              <a:defRPr lang="zh-CN">
                <a:solidFill>
                  <a:srgbClr val="FFFFFF"/>
                </a:solidFill>
                <a:latin typeface="微软雅黑"/>
                <a:ea typeface="微软雅黑"/>
                <a:cs typeface="微软雅黑"/>
              </a:defRPr>
            </a:defPPr>
            <a:lvl1pPr>
              <a:defRPr>
                <a:solidFill>
                  <a:srgbClr val="FFFFFF"/>
                </a:solidFill>
                <a:latin typeface="微软雅黑"/>
                <a:ea typeface="微软雅黑"/>
                <a:cs typeface="微软雅黑"/>
              </a:defRPr>
            </a:lvl1pPr>
          </a:lstStyle>
          <a:p>
            <a:pPr algn="ctr">
              <a:defRPr>
                <a:solidFill>
                  <a:srgbClr val="FFFFFF"/>
                </a:solidFill>
                <a:latin typeface="微软雅黑"/>
                <a:ea typeface="微软雅黑"/>
                <a:cs typeface="微软雅黑"/>
              </a:defRPr>
            </a:pPr>
            <a:r>
              <a:rPr lang="zh-CN" altLang="en-US" sz="1400" b="1" dirty="0">
                <a:solidFill>
                  <a:srgbClr val="FFFFFF"/>
                </a:solidFill>
                <a:latin typeface="微软雅黑"/>
                <a:ea typeface="微软雅黑"/>
                <a:cs typeface="微软雅黑"/>
              </a:rPr>
              <a:t>持续发酵 细水长流</a:t>
            </a:r>
            <a:endParaRPr lang="zh-CN" altLang="en-US" sz="1400" b="1" dirty="0">
              <a:solidFill>
                <a:srgbClr val="FFFFFF"/>
              </a:solidFill>
              <a:latin typeface="微软雅黑"/>
              <a:ea typeface="微软雅黑"/>
              <a:cs typeface="微软雅黑"/>
            </a:endParaRPr>
          </a:p>
        </p:txBody>
      </p:sp>
      <p:sp>
        <p:nvSpPr>
          <p:cNvPr id="104" name="矩形: 圆角 571"/>
          <p:cNvSpPr/>
          <p:nvPr/>
        </p:nvSpPr>
        <p:spPr>
          <a:xfrm>
            <a:off x="1584822" y="5847463"/>
            <a:ext cx="10187477" cy="509814"/>
          </a:xfrm>
          <a:prstGeom prst="roundRect">
            <a:avLst>
              <a:gd name="adj" fmla="val 7149"/>
            </a:avLst>
          </a:prstGeom>
          <a:gradFill>
            <a:gsLst>
              <a:gs pos="0">
                <a:srgbClr val="B3D4FE"/>
              </a:gs>
              <a:gs pos="100000">
                <a:srgbClr val="3368FF"/>
              </a:gs>
            </a:gsLst>
            <a:lin ang="2700000" scaled="0"/>
          </a:gradFill>
          <a:ln w="38100">
            <a:noFill/>
          </a:ln>
          <a:effectLst>
            <a:outerShdw blurRad="254000" dist="50800" dir="5400000" algn="ctr" rotWithShape="0">
              <a:srgbClr val="0042FF">
                <a:alpha val="40000"/>
              </a:srgbClr>
            </a:outerShdw>
          </a:effectLst>
        </p:spPr>
        <p:style>
          <a:lnRef idx="2">
            <a:srgbClr val="0042FF"/>
          </a:lnRef>
          <a:fillRef idx="1">
            <a:srgbClr val="0042FF"/>
          </a:fillRef>
          <a:effectRef idx="0">
            <a:srgbClr val="0042FF"/>
          </a:effectRef>
          <a:fontRef idx="minor">
            <a:srgbClr val="FFFFFF"/>
          </a:fontRef>
        </p:style>
        <p:txBody>
          <a:bodyPr lIns="98755" tIns="49378" rIns="98755" bIns="49378" rtlCol="0" anchor="ctr"/>
          <a:lstStyle/>
          <a:p>
            <a:pPr algn="ctr">
              <a:defRPr>
                <a:latin typeface="微软雅黑"/>
                <a:ea typeface="微软雅黑"/>
                <a:cs typeface="微软雅黑"/>
              </a:defRPr>
            </a:pPr>
            <a:endParaRPr lang="zh-CN" altLang="en-US" sz="1945" dirty="0">
              <a:solidFill>
                <a:srgbClr val="383838"/>
              </a:solidFill>
              <a:effectLst>
                <a:outerShdw blurRad="137160" dist="41148" dir="2699997" algn="tl">
                  <a:srgbClr val="383838">
                    <a:alpha val="40000"/>
                  </a:srgbClr>
                </a:outerShdw>
              </a:effectLst>
              <a:latin typeface="微软雅黑"/>
              <a:ea typeface="微软雅黑"/>
              <a:cs typeface="微软雅黑"/>
            </a:endParaRPr>
          </a:p>
        </p:txBody>
      </p:sp>
      <p:sp>
        <p:nvSpPr>
          <p:cNvPr id="113" name="文本框 112"/>
          <p:cNvSpPr txBox="1"/>
          <p:nvPr/>
        </p:nvSpPr>
        <p:spPr>
          <a:xfrm>
            <a:off x="3101983" y="5935865"/>
            <a:ext cx="2251150" cy="338554"/>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383838"/>
                </a:solidFill>
                <a:latin typeface="微软雅黑"/>
                <a:ea typeface="微软雅黑"/>
                <a:cs typeface="微软雅黑"/>
              </a:defRPr>
            </a:lvl1pPr>
          </a:lstStyle>
          <a:p>
            <a:pPr algn="ctr">
              <a:defRPr>
                <a:latin typeface="微软雅黑"/>
                <a:ea typeface="微软雅黑"/>
                <a:cs typeface="微软雅黑"/>
              </a:defRPr>
            </a:pPr>
            <a:r>
              <a:rPr lang="en-US" altLang="zh-CN" sz="1600" b="1" dirty="0">
                <a:solidFill>
                  <a:srgbClr val="383838"/>
                </a:solidFill>
                <a:latin typeface="微软雅黑"/>
                <a:ea typeface="微软雅黑"/>
                <a:cs typeface="微软雅黑"/>
              </a:rPr>
              <a:t>1000+</a:t>
            </a:r>
            <a:r>
              <a:rPr lang="zh-CN" altLang="en-US" sz="1600" b="1" dirty="0">
                <a:solidFill>
                  <a:srgbClr val="383838"/>
                </a:solidFill>
                <a:latin typeface="微软雅黑"/>
                <a:ea typeface="微软雅黑"/>
                <a:cs typeface="微软雅黑"/>
              </a:rPr>
              <a:t>篇笔记、文章</a:t>
            </a:r>
            <a:endParaRPr lang="zh-CN" altLang="en-US" sz="1600" b="1" dirty="0">
              <a:solidFill>
                <a:srgbClr val="383838"/>
              </a:solidFill>
              <a:latin typeface="微软雅黑"/>
              <a:ea typeface="微软雅黑"/>
              <a:cs typeface="微软雅黑"/>
            </a:endParaRPr>
          </a:p>
        </p:txBody>
      </p:sp>
      <p:sp>
        <p:nvSpPr>
          <p:cNvPr id="114" name="文本框 113"/>
          <p:cNvSpPr txBox="1"/>
          <p:nvPr/>
        </p:nvSpPr>
        <p:spPr>
          <a:xfrm>
            <a:off x="5810786" y="5935865"/>
            <a:ext cx="1814614" cy="338554"/>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383838"/>
                </a:solidFill>
                <a:latin typeface="微软雅黑"/>
                <a:ea typeface="微软雅黑"/>
                <a:cs typeface="微软雅黑"/>
              </a:defRPr>
            </a:lvl1pPr>
          </a:lstStyle>
          <a:p>
            <a:pPr algn="ctr">
              <a:defRPr>
                <a:latin typeface="微软雅黑"/>
                <a:ea typeface="微软雅黑"/>
                <a:cs typeface="微软雅黑"/>
              </a:defRPr>
            </a:pPr>
            <a:r>
              <a:rPr lang="en-US" altLang="zh-CN" sz="1600" b="1" dirty="0">
                <a:solidFill>
                  <a:srgbClr val="383838"/>
                </a:solidFill>
                <a:latin typeface="微软雅黑"/>
                <a:ea typeface="微软雅黑"/>
                <a:cs typeface="微软雅黑"/>
              </a:rPr>
              <a:t>1000w+</a:t>
            </a:r>
            <a:r>
              <a:rPr lang="zh-CN" altLang="en-US" sz="1600" b="1" dirty="0">
                <a:solidFill>
                  <a:srgbClr val="383838"/>
                </a:solidFill>
                <a:latin typeface="微软雅黑"/>
                <a:ea typeface="微软雅黑"/>
                <a:cs typeface="微软雅黑"/>
              </a:rPr>
              <a:t>浏览量</a:t>
            </a:r>
            <a:endParaRPr lang="zh-CN" altLang="en-US" sz="1600" b="1" dirty="0">
              <a:solidFill>
                <a:srgbClr val="383838"/>
              </a:solidFill>
              <a:latin typeface="微软雅黑"/>
              <a:ea typeface="微软雅黑"/>
              <a:cs typeface="微软雅黑"/>
            </a:endParaRPr>
          </a:p>
        </p:txBody>
      </p:sp>
      <p:sp>
        <p:nvSpPr>
          <p:cNvPr id="115" name="文本框 114"/>
          <p:cNvSpPr txBox="1"/>
          <p:nvPr/>
        </p:nvSpPr>
        <p:spPr>
          <a:xfrm>
            <a:off x="8143068" y="5935865"/>
            <a:ext cx="1814614" cy="338554"/>
          </a:xfrm>
          <a:prstGeom prst="rect">
            <a:avLst/>
          </a:prstGeom>
          <a:noFill/>
        </p:spPr>
        <p:txBody>
          <a:bodyPr wrap="square" rtlCol="0" lIns="0" rIns="0" tIns="0" bIns="0">
            <a:spAutoFit/>
          </a:bodyPr>
          <a:lstStyle>
            <a:defPPr>
              <a:defRPr lang="zh-CN">
                <a:latin typeface="微软雅黑"/>
                <a:ea typeface="微软雅黑"/>
                <a:cs typeface="微软雅黑"/>
              </a:defRPr>
            </a:defPPr>
            <a:lvl1pPr>
              <a:defRPr>
                <a:solidFill>
                  <a:srgbClr val="383838"/>
                </a:solidFill>
                <a:latin typeface="微软雅黑"/>
                <a:ea typeface="微软雅黑"/>
                <a:cs typeface="微软雅黑"/>
              </a:defRPr>
            </a:lvl1pPr>
          </a:lstStyle>
          <a:p>
            <a:pPr algn="ctr">
              <a:defRPr>
                <a:solidFill>
                  <a:srgbClr val="383838"/>
                </a:solidFill>
                <a:latin typeface="微软雅黑"/>
                <a:ea typeface="微软雅黑"/>
                <a:cs typeface="微软雅黑"/>
              </a:defRPr>
            </a:pPr>
            <a:r>
              <a:rPr lang="en-US" altLang="zh-CN" sz="1600" b="1" dirty="0">
                <a:solidFill>
                  <a:srgbClr val="383838"/>
                </a:solidFill>
                <a:latin typeface="微软雅黑"/>
                <a:ea typeface="微软雅黑"/>
                <a:cs typeface="微软雅黑"/>
              </a:rPr>
              <a:t>10w</a:t>
            </a:r>
            <a:r>
              <a:rPr lang="zh-CN" altLang="en-US" sz="1600" b="1" dirty="0">
                <a:solidFill>
                  <a:srgbClr val="383838"/>
                </a:solidFill>
                <a:latin typeface="微软雅黑"/>
                <a:ea typeface="微软雅黑"/>
                <a:cs typeface="微软雅黑"/>
              </a:rPr>
              <a:t>转化粉丝</a:t>
            </a:r>
            <a:endParaRPr lang="zh-CN" altLang="en-US" sz="1600" b="1" dirty="0">
              <a:solidFill>
                <a:srgbClr val="383838"/>
              </a:solidFill>
              <a:latin typeface="微软雅黑"/>
              <a:ea typeface="微软雅黑"/>
              <a:cs typeface="微软雅黑"/>
            </a:endParaRPr>
          </a:p>
        </p:txBody>
      </p:sp>
      <p:cxnSp>
        <p:nvCxnSpPr>
          <p:cNvPr id="116" name="直接连接符 575"/>
          <p:cNvCxnSpPr/>
          <p:nvPr/>
        </p:nvCxnSpPr>
        <p:spPr>
          <a:xfrm>
            <a:off x="5569723" y="6006437"/>
            <a:ext cx="0" cy="206623"/>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cxnSp>
        <p:nvCxnSpPr>
          <p:cNvPr id="117" name="直接连接符 576"/>
          <p:cNvCxnSpPr/>
          <p:nvPr/>
        </p:nvCxnSpPr>
        <p:spPr>
          <a:xfrm>
            <a:off x="7911066" y="6006437"/>
            <a:ext cx="0" cy="206623"/>
          </a:xfrm>
          <a:prstGeom prst="line">
            <a:avLst/>
          </a:prstGeom>
          <a:ln>
            <a:solidFill>
              <a:srgbClr val="FFFFFF"/>
            </a:solidFill>
          </a:ln>
        </p:spPr>
        <p:style>
          <a:lnRef idx="1">
            <a:srgbClr val="0042FF"/>
          </a:lnRef>
          <a:fillRef idx="0">
            <a:srgbClr val="0042FF"/>
          </a:fillRef>
          <a:effectRef idx="0">
            <a:srgbClr val="0042FF"/>
          </a:effectRef>
          <a:fontRef idx="minor">
            <a:srgbClr val="383838"/>
          </a:fontRef>
        </p:style>
      </p:cxnSp>
      <p:sp>
        <p:nvSpPr>
          <p:cNvPr id="133" name="文本框 132"/>
          <p:cNvSpPr txBox="1"/>
          <p:nvPr/>
        </p:nvSpPr>
        <p:spPr>
          <a:xfrm>
            <a:off x="2082872" y="2907290"/>
            <a:ext cx="1547218" cy="261610"/>
          </a:xfrm>
          <a:prstGeom prst="rect">
            <a:avLst/>
          </a:prstGeom>
          <a:noFill/>
        </p:spPr>
        <p:txBody>
          <a:bodyPr wrap="none" rtlCol="0">
            <a:spAutoFit/>
          </a:bodyPr>
          <a:lstStyle/>
          <a:p>
            <a:pPr>
              <a:defRPr>
                <a:latin typeface="微软雅黑"/>
                <a:ea typeface="微软雅黑"/>
                <a:cs typeface="微软雅黑"/>
              </a:defRPr>
            </a:pPr>
            <a:r>
              <a:rPr kumimoji="1" lang="en-US" altLang="zh-CN" sz="1100" dirty="0">
                <a:solidFill>
                  <a:srgbClr val="383838"/>
                </a:solidFill>
                <a:latin typeface="微软雅黑"/>
                <a:ea typeface="微软雅黑"/>
                <a:cs typeface="微软雅黑"/>
              </a:rPr>
              <a:t>2024.5.10-2024.5.18</a:t>
            </a:r>
            <a:endParaRPr kumimoji="1" lang="en-US" altLang="zh-CN" sz="1100" dirty="0">
              <a:solidFill>
                <a:srgbClr val="383838"/>
              </a:solidFill>
              <a:latin typeface="微软雅黑"/>
              <a:ea typeface="微软雅黑"/>
              <a:cs typeface="微软雅黑"/>
            </a:endParaRPr>
          </a:p>
        </p:txBody>
      </p:sp>
      <p:sp>
        <p:nvSpPr>
          <p:cNvPr id="134" name="文本框 133"/>
          <p:cNvSpPr txBox="1"/>
          <p:nvPr/>
        </p:nvSpPr>
        <p:spPr>
          <a:xfrm>
            <a:off x="4809318" y="2898678"/>
            <a:ext cx="1547218" cy="261610"/>
          </a:xfrm>
          <a:prstGeom prst="rect">
            <a:avLst/>
          </a:prstGeom>
          <a:noFill/>
        </p:spPr>
        <p:txBody>
          <a:bodyPr wrap="none" rtlCol="0">
            <a:spAutoFit/>
          </a:bodyPr>
          <a:lstStyle/>
          <a:p>
            <a:pPr>
              <a:defRPr>
                <a:latin typeface="微软雅黑"/>
                <a:ea typeface="微软雅黑"/>
                <a:cs typeface="微软雅黑"/>
              </a:defRPr>
            </a:pPr>
            <a:r>
              <a:rPr kumimoji="1" lang="en-US" altLang="zh-CN" sz="1100" dirty="0">
                <a:solidFill>
                  <a:srgbClr val="383838"/>
                </a:solidFill>
                <a:latin typeface="微软雅黑"/>
                <a:ea typeface="微软雅黑"/>
                <a:cs typeface="微软雅黑"/>
              </a:rPr>
              <a:t>2024.5.19-2024.6.18</a:t>
            </a:r>
            <a:endParaRPr kumimoji="1" lang="en-US" altLang="zh-CN" sz="1100" dirty="0">
              <a:solidFill>
                <a:srgbClr val="383838"/>
              </a:solidFill>
              <a:latin typeface="微软雅黑"/>
              <a:ea typeface="微软雅黑"/>
              <a:cs typeface="微软雅黑"/>
            </a:endParaRPr>
          </a:p>
        </p:txBody>
      </p:sp>
      <p:sp>
        <p:nvSpPr>
          <p:cNvPr id="135" name="文本框 134"/>
          <p:cNvSpPr txBox="1"/>
          <p:nvPr/>
        </p:nvSpPr>
        <p:spPr>
          <a:xfrm>
            <a:off x="7258050" y="2898678"/>
            <a:ext cx="1547218" cy="261610"/>
          </a:xfrm>
          <a:prstGeom prst="rect">
            <a:avLst/>
          </a:prstGeom>
          <a:noFill/>
        </p:spPr>
        <p:txBody>
          <a:bodyPr wrap="none" rtlCol="0">
            <a:spAutoFit/>
          </a:bodyPr>
          <a:lstStyle/>
          <a:p>
            <a:pPr>
              <a:defRPr>
                <a:latin typeface="微软雅黑"/>
                <a:ea typeface="微软雅黑"/>
                <a:cs typeface="微软雅黑"/>
              </a:defRPr>
            </a:pPr>
            <a:r>
              <a:rPr kumimoji="1" lang="en-US" altLang="zh-CN" sz="1100" dirty="0">
                <a:solidFill>
                  <a:srgbClr val="383838"/>
                </a:solidFill>
                <a:latin typeface="微软雅黑"/>
                <a:ea typeface="微软雅黑"/>
                <a:cs typeface="微软雅黑"/>
              </a:rPr>
              <a:t>2024.6.18-2024.6.30</a:t>
            </a:r>
            <a:endParaRPr kumimoji="1" lang="en-US" altLang="zh-CN" sz="1100" dirty="0">
              <a:solidFill>
                <a:srgbClr val="383838"/>
              </a:solidFill>
              <a:latin typeface="微软雅黑"/>
              <a:ea typeface="微软雅黑"/>
              <a:cs typeface="微软雅黑"/>
            </a:endParaRPr>
          </a:p>
        </p:txBody>
      </p:sp>
      <p:sp>
        <p:nvSpPr>
          <p:cNvPr id="136" name="文本框 135"/>
          <p:cNvSpPr txBox="1"/>
          <p:nvPr/>
        </p:nvSpPr>
        <p:spPr>
          <a:xfrm>
            <a:off x="9714531" y="2914176"/>
            <a:ext cx="1463862" cy="261610"/>
          </a:xfrm>
          <a:prstGeom prst="rect">
            <a:avLst/>
          </a:prstGeom>
          <a:noFill/>
        </p:spPr>
        <p:txBody>
          <a:bodyPr wrap="none" rtlCol="0">
            <a:spAutoFit/>
          </a:bodyPr>
          <a:lstStyle/>
          <a:p>
            <a:pPr>
              <a:defRPr>
                <a:latin typeface="微软雅黑"/>
                <a:ea typeface="微软雅黑"/>
                <a:cs typeface="微软雅黑"/>
              </a:defRPr>
            </a:pPr>
            <a:r>
              <a:rPr kumimoji="1" lang="en-US" altLang="zh-CN" sz="1100" dirty="0">
                <a:solidFill>
                  <a:srgbClr val="383838"/>
                </a:solidFill>
                <a:latin typeface="微软雅黑"/>
                <a:ea typeface="微软雅黑"/>
                <a:cs typeface="微软雅黑"/>
              </a:rPr>
              <a:t>2024.7.1-2024.7.15</a:t>
            </a:r>
            <a:endParaRPr kumimoji="1" lang="en-US" altLang="zh-CN" sz="1100" dirty="0">
              <a:solidFill>
                <a:srgbClr val="383838"/>
              </a:solidFill>
              <a:latin typeface="微软雅黑"/>
              <a:ea typeface="微软雅黑"/>
              <a:cs typeface="微软雅黑"/>
            </a:endParaRPr>
          </a:p>
        </p:txBody>
      </p:sp>
      <p:sp>
        <p:nvSpPr>
          <p:cNvPr id="143" name="文本框 142"/>
          <p:cNvSpPr txBox="1"/>
          <p:nvPr/>
        </p:nvSpPr>
        <p:spPr>
          <a:xfrm>
            <a:off x="474261" y="5932937"/>
            <a:ext cx="899715" cy="307777"/>
          </a:xfrm>
          <a:prstGeom prst="rect">
            <a:avLst/>
          </a:prstGeom>
          <a:noFill/>
        </p:spPr>
        <p:txBody>
          <a:bodyPr wrap="square">
            <a:spAutoFit/>
          </a:bodyPr>
          <a:lstStyle/>
          <a:p>
            <a:pPr lvl="0" algn="ctr">
              <a:buClrTx/>
              <a:buSzTx/>
              <a:buFontTx/>
              <a:defRPr>
                <a:latin typeface="微软雅黑"/>
                <a:ea typeface="微软雅黑"/>
                <a:cs typeface="微软雅黑"/>
              </a:defRPr>
            </a:pPr>
            <a:r>
              <a:rPr lang="zh-CN" altLang="en-US" sz="1400" b="1" dirty="0">
                <a:solidFill>
                  <a:srgbClr val="0042FF"/>
                </a:solidFill>
                <a:latin typeface="微软雅黑"/>
                <a:ea typeface="微软雅黑"/>
                <a:cs typeface="微软雅黑"/>
                <a:sym typeface="微软雅黑"/>
              </a:rPr>
              <a:t>预估效果</a:t>
            </a:r>
            <a:endParaRPr lang="zh-CN" altLang="en-US" sz="1400" b="1" dirty="0">
              <a:solidFill>
                <a:srgbClr val="0042FF"/>
              </a:solidFill>
              <a:latin typeface="微软雅黑"/>
              <a:ea typeface="微软雅黑"/>
              <a:cs typeface="微软雅黑"/>
              <a:sym typeface="微软雅黑"/>
            </a:endParaRPr>
          </a:p>
        </p:txBody>
      </p:sp>
      <p:sp>
        <p:nvSpPr>
          <p:cNvPr id="37" name="文本框 36"/>
          <p:cNvSpPr txBox="1"/>
          <p:nvPr/>
        </p:nvSpPr>
        <p:spPr>
          <a:xfrm>
            <a:off x="2070319" y="4136298"/>
            <a:ext cx="1490043"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合作方确定，资源就位</a:t>
            </a:r>
            <a:endParaRPr lang="zh-CN" altLang="en-US" sz="1035" dirty="0">
              <a:solidFill>
                <a:srgbClr val="383838"/>
              </a:solidFill>
              <a:latin typeface="微软雅黑"/>
              <a:ea typeface="微软雅黑"/>
              <a:cs typeface="微软雅黑"/>
            </a:endParaRPr>
          </a:p>
        </p:txBody>
      </p:sp>
      <p:sp>
        <p:nvSpPr>
          <p:cNvPr id="43" name="文本框 42"/>
          <p:cNvSpPr txBox="1"/>
          <p:nvPr/>
        </p:nvSpPr>
        <p:spPr>
          <a:xfrm>
            <a:off x="2070319" y="4741654"/>
            <a:ext cx="1369819"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敲定关键</a:t>
            </a:r>
            <a:r>
              <a:rPr lang="en-US" altLang="zh-CN" sz="1035" dirty="0">
                <a:solidFill>
                  <a:srgbClr val="383838"/>
                </a:solidFill>
                <a:latin typeface="微软雅黑"/>
                <a:ea typeface="微软雅黑"/>
                <a:cs typeface="微软雅黑"/>
              </a:rPr>
              <a:t>KOL</a:t>
            </a:r>
            <a:r>
              <a:rPr lang="zh-CN" altLang="en-US" sz="1035" dirty="0">
                <a:solidFill>
                  <a:srgbClr val="383838"/>
                </a:solidFill>
                <a:latin typeface="微软雅黑"/>
                <a:ea typeface="微软雅黑"/>
                <a:cs typeface="微软雅黑"/>
              </a:rPr>
              <a:t>、</a:t>
            </a:r>
            <a:r>
              <a:rPr lang="en-US" altLang="zh-CN" sz="1035" dirty="0">
                <a:solidFill>
                  <a:srgbClr val="383838"/>
                </a:solidFill>
                <a:latin typeface="微软雅黑"/>
                <a:ea typeface="微软雅黑"/>
                <a:cs typeface="微软雅黑"/>
              </a:rPr>
              <a:t>KOC</a:t>
            </a:r>
            <a:endParaRPr lang="en-US" altLang="zh-CN" sz="1035" dirty="0">
              <a:solidFill>
                <a:srgbClr val="383838"/>
              </a:solidFill>
              <a:latin typeface="微软雅黑"/>
              <a:ea typeface="微软雅黑"/>
              <a:cs typeface="微软雅黑"/>
            </a:endParaRPr>
          </a:p>
        </p:txBody>
      </p:sp>
      <p:sp>
        <p:nvSpPr>
          <p:cNvPr id="48" name="文本框 47"/>
          <p:cNvSpPr txBox="1"/>
          <p:nvPr/>
        </p:nvSpPr>
        <p:spPr>
          <a:xfrm>
            <a:off x="2236043" y="5307428"/>
            <a:ext cx="957847"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确定营销方向</a:t>
            </a:r>
            <a:endParaRPr lang="zh-CN" altLang="en-US" sz="1035" dirty="0">
              <a:solidFill>
                <a:srgbClr val="383838"/>
              </a:solidFill>
              <a:latin typeface="微软雅黑"/>
              <a:ea typeface="微软雅黑"/>
              <a:cs typeface="微软雅黑"/>
            </a:endParaRPr>
          </a:p>
        </p:txBody>
      </p:sp>
      <p:sp>
        <p:nvSpPr>
          <p:cNvPr id="162" name="文本框 161"/>
          <p:cNvSpPr txBox="1"/>
          <p:nvPr/>
        </p:nvSpPr>
        <p:spPr>
          <a:xfrm>
            <a:off x="4447980" y="4162056"/>
            <a:ext cx="1889192"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发起微博话题，吸引粉丝讨论</a:t>
            </a:r>
            <a:endParaRPr lang="zh-CN" altLang="en-US" sz="1035" dirty="0">
              <a:solidFill>
                <a:srgbClr val="383838"/>
              </a:solidFill>
              <a:latin typeface="微软雅黑"/>
              <a:ea typeface="微软雅黑"/>
              <a:cs typeface="微软雅黑"/>
            </a:endParaRPr>
          </a:p>
        </p:txBody>
      </p:sp>
      <p:sp>
        <p:nvSpPr>
          <p:cNvPr id="163" name="文本框 162"/>
          <p:cNvSpPr txBox="1"/>
          <p:nvPr/>
        </p:nvSpPr>
        <p:spPr>
          <a:xfrm>
            <a:off x="4447980" y="4728726"/>
            <a:ext cx="1889192"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发起小红书</a:t>
            </a:r>
            <a:r>
              <a:rPr lang="en-US" altLang="zh-CN" sz="1035" dirty="0">
                <a:solidFill>
                  <a:srgbClr val="383838"/>
                </a:solidFill>
                <a:latin typeface="微软雅黑"/>
                <a:ea typeface="微软雅黑"/>
                <a:cs typeface="微软雅黑"/>
              </a:rPr>
              <a:t>KOC</a:t>
            </a:r>
            <a:r>
              <a:rPr lang="zh-CN" altLang="en-US" sz="1035" dirty="0">
                <a:solidFill>
                  <a:srgbClr val="383838"/>
                </a:solidFill>
                <a:latin typeface="微软雅黑"/>
                <a:ea typeface="微软雅黑"/>
                <a:cs typeface="微软雅黑"/>
              </a:rPr>
              <a:t>推，抬高热度</a:t>
            </a:r>
            <a:endParaRPr lang="zh-CN" altLang="en-US" sz="1035" dirty="0">
              <a:solidFill>
                <a:srgbClr val="383838"/>
              </a:solidFill>
              <a:latin typeface="微软雅黑"/>
              <a:ea typeface="微软雅黑"/>
              <a:cs typeface="微软雅黑"/>
            </a:endParaRPr>
          </a:p>
        </p:txBody>
      </p:sp>
      <p:sp>
        <p:nvSpPr>
          <p:cNvPr id="164" name="文本框 163"/>
          <p:cNvSpPr txBox="1"/>
          <p:nvPr/>
        </p:nvSpPr>
        <p:spPr>
          <a:xfrm>
            <a:off x="4447980" y="5290635"/>
            <a:ext cx="1756142"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发起公众号，吸引粉丝讨论</a:t>
            </a:r>
            <a:endParaRPr lang="zh-CN" altLang="en-US" sz="1035" dirty="0">
              <a:solidFill>
                <a:srgbClr val="383838"/>
              </a:solidFill>
              <a:latin typeface="微软雅黑"/>
              <a:ea typeface="微软雅黑"/>
              <a:cs typeface="微软雅黑"/>
            </a:endParaRPr>
          </a:p>
        </p:txBody>
      </p:sp>
      <p:sp>
        <p:nvSpPr>
          <p:cNvPr id="166" name="文本框 165"/>
          <p:cNvSpPr txBox="1"/>
          <p:nvPr/>
        </p:nvSpPr>
        <p:spPr>
          <a:xfrm>
            <a:off x="9621975" y="4740754"/>
            <a:ext cx="1889192"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话题持续发酵，长尾流量获取</a:t>
            </a:r>
            <a:endParaRPr lang="zh-CN" altLang="en-US" sz="1035" dirty="0">
              <a:solidFill>
                <a:srgbClr val="383838"/>
              </a:solidFill>
              <a:latin typeface="微软雅黑"/>
              <a:ea typeface="微软雅黑"/>
              <a:cs typeface="微软雅黑"/>
            </a:endParaRPr>
          </a:p>
        </p:txBody>
      </p:sp>
      <p:sp>
        <p:nvSpPr>
          <p:cNvPr id="167" name="文本框 166"/>
          <p:cNvSpPr txBox="1"/>
          <p:nvPr/>
        </p:nvSpPr>
        <p:spPr>
          <a:xfrm>
            <a:off x="9621975" y="5287833"/>
            <a:ext cx="1889192" cy="239371"/>
          </a:xfrm>
          <a:prstGeom prst="rect">
            <a:avLst/>
          </a:prstGeom>
          <a:noFill/>
          <a:effectLst/>
        </p:spPr>
        <p:txBody>
          <a:bodyPr wrap="none" lIns="79004" tIns="39502" rIns="79004" bIns="39502" rtlCol="0">
            <a:spAutoFit/>
          </a:bodyPr>
          <a:lstStyle/>
          <a:p>
            <a:pPr>
              <a:defRPr>
                <a:latin typeface="微软雅黑"/>
                <a:ea typeface="微软雅黑"/>
                <a:cs typeface="微软雅黑"/>
              </a:defRPr>
            </a:pPr>
            <a:r>
              <a:rPr lang="zh-CN" altLang="en-US" sz="1035" dirty="0">
                <a:solidFill>
                  <a:srgbClr val="383838"/>
                </a:solidFill>
                <a:latin typeface="微软雅黑"/>
                <a:ea typeface="微软雅黑"/>
                <a:cs typeface="微软雅黑"/>
              </a:rPr>
              <a:t>话题持续发酵，长尾流量获取</a:t>
            </a:r>
            <a:endParaRPr lang="zh-CN" altLang="en-US" sz="1035" dirty="0">
              <a:solidFill>
                <a:srgbClr val="383838"/>
              </a:solidFill>
              <a:latin typeface="微软雅黑"/>
              <a:ea typeface="微软雅黑"/>
              <a:cs typeface="微软雅黑"/>
            </a:endParaRPr>
          </a:p>
        </p:txBody>
      </p:sp>
      <p:grpSp>
        <p:nvGrpSpPr>
          <p:cNvPr id="183" name="组合 182"/>
          <p:cNvGrpSpPr/>
          <p:nvPr/>
        </p:nvGrpSpPr>
        <p:grpSpPr>
          <a:xfrm>
            <a:off x="555941" y="1899006"/>
            <a:ext cx="11188084" cy="530860"/>
            <a:chOff x="1623695" y="1221740"/>
            <a:chExt cx="10470515" cy="530860"/>
          </a:xfrm>
        </p:grpSpPr>
        <p:sp>
          <p:nvSpPr>
            <p:cNvPr id="184" name="矩形 183"/>
            <p:cNvSpPr/>
            <p:nvPr/>
          </p:nvSpPr>
          <p:spPr>
            <a:xfrm>
              <a:off x="1857375" y="1279193"/>
              <a:ext cx="9925050" cy="6480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85" name="椭圆 184"/>
            <p:cNvSpPr/>
            <p:nvPr/>
          </p:nvSpPr>
          <p:spPr>
            <a:xfrm>
              <a:off x="9176385" y="1221740"/>
              <a:ext cx="179705" cy="179705"/>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86" name="椭圆 185"/>
            <p:cNvSpPr/>
            <p:nvPr/>
          </p:nvSpPr>
          <p:spPr>
            <a:xfrm>
              <a:off x="11643360" y="1221740"/>
              <a:ext cx="179705" cy="179705"/>
            </a:xfrm>
            <a:prstGeom prst="ellipse">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87" name="矩形 186"/>
            <p:cNvSpPr/>
            <p:nvPr/>
          </p:nvSpPr>
          <p:spPr>
            <a:xfrm>
              <a:off x="1857375" y="1279193"/>
              <a:ext cx="4896000" cy="64800"/>
            </a:xfrm>
            <a:prstGeom prst="rect">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88" name="椭圆 187"/>
            <p:cNvSpPr/>
            <p:nvPr/>
          </p:nvSpPr>
          <p:spPr>
            <a:xfrm>
              <a:off x="4242435" y="1221740"/>
              <a:ext cx="179705" cy="179705"/>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89" name="椭圆 188"/>
            <p:cNvSpPr/>
            <p:nvPr/>
          </p:nvSpPr>
          <p:spPr>
            <a:xfrm>
              <a:off x="6709410" y="1221740"/>
              <a:ext cx="179705" cy="179705"/>
            </a:xfrm>
            <a:prstGeom prst="ellipse">
              <a:avLst/>
            </a:prstGeom>
            <a:solidFill>
              <a:srgbClr val="B3D4FE"/>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190" name="椭圆 189"/>
            <p:cNvSpPr/>
            <p:nvPr/>
          </p:nvSpPr>
          <p:spPr>
            <a:xfrm>
              <a:off x="1775460" y="1221740"/>
              <a:ext cx="179705" cy="179705"/>
            </a:xfrm>
            <a:prstGeom prst="ellipse">
              <a:avLst/>
            </a:prstGeom>
            <a:solidFill>
              <a:srgbClr val="3368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191" name="文本框 190"/>
            <p:cNvSpPr txBox="1"/>
            <p:nvPr/>
          </p:nvSpPr>
          <p:spPr>
            <a:xfrm>
              <a:off x="1623695" y="1464310"/>
              <a:ext cx="570865" cy="288290"/>
            </a:xfrm>
            <a:prstGeom prst="rect">
              <a:avLst/>
            </a:prstGeom>
            <a:noFill/>
          </p:spPr>
          <p:txBody>
            <a:bodyPr wrap="square" rtlCol="0">
              <a:no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启动</a:t>
              </a:r>
              <a:endParaRPr lang="zh-CN" altLang="en-US" sz="1200" dirty="0">
                <a:solidFill>
                  <a:srgbClr val="383838"/>
                </a:solidFill>
                <a:latin typeface="微软雅黑"/>
                <a:ea typeface="微软雅黑"/>
                <a:cs typeface="微软雅黑"/>
              </a:endParaRPr>
            </a:p>
          </p:txBody>
        </p:sp>
        <p:sp>
          <p:nvSpPr>
            <p:cNvPr id="192" name="文本框 191"/>
            <p:cNvSpPr txBox="1"/>
            <p:nvPr/>
          </p:nvSpPr>
          <p:spPr>
            <a:xfrm>
              <a:off x="4086860" y="1464310"/>
              <a:ext cx="570865" cy="288290"/>
            </a:xfrm>
            <a:prstGeom prst="rect">
              <a:avLst/>
            </a:prstGeom>
            <a:noFill/>
          </p:spPr>
          <p:txBody>
            <a:bodyPr wrap="square" rtlCol="0">
              <a:no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规划</a:t>
              </a:r>
              <a:endParaRPr lang="zh-CN" altLang="en-US" sz="1200" dirty="0">
                <a:solidFill>
                  <a:srgbClr val="383838"/>
                </a:solidFill>
                <a:latin typeface="微软雅黑"/>
                <a:ea typeface="微软雅黑"/>
                <a:cs typeface="微软雅黑"/>
              </a:endParaRPr>
            </a:p>
          </p:txBody>
        </p:sp>
        <p:sp>
          <p:nvSpPr>
            <p:cNvPr id="193" name="文本框 192"/>
            <p:cNvSpPr txBox="1"/>
            <p:nvPr/>
          </p:nvSpPr>
          <p:spPr>
            <a:xfrm>
              <a:off x="6556375" y="1464310"/>
              <a:ext cx="570865" cy="288290"/>
            </a:xfrm>
            <a:prstGeom prst="rect">
              <a:avLst/>
            </a:prstGeom>
            <a:noFill/>
          </p:spPr>
          <p:txBody>
            <a:bodyPr wrap="square" rtlCol="0">
              <a:no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执行</a:t>
              </a:r>
              <a:endParaRPr lang="zh-CN" altLang="en-US" sz="1200" dirty="0">
                <a:solidFill>
                  <a:srgbClr val="383838"/>
                </a:solidFill>
                <a:latin typeface="微软雅黑"/>
                <a:ea typeface="微软雅黑"/>
                <a:cs typeface="微软雅黑"/>
              </a:endParaRPr>
            </a:p>
          </p:txBody>
        </p:sp>
        <p:sp>
          <p:nvSpPr>
            <p:cNvPr id="194" name="文本框 193"/>
            <p:cNvSpPr txBox="1"/>
            <p:nvPr/>
          </p:nvSpPr>
          <p:spPr>
            <a:xfrm>
              <a:off x="9013190" y="1464310"/>
              <a:ext cx="570865" cy="288290"/>
            </a:xfrm>
            <a:prstGeom prst="rect">
              <a:avLst/>
            </a:prstGeom>
            <a:noFill/>
          </p:spPr>
          <p:txBody>
            <a:bodyPr wrap="square" rtlCol="0">
              <a:no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优化</a:t>
              </a:r>
              <a:endParaRPr lang="zh-CN" altLang="en-US" sz="1200" dirty="0">
                <a:solidFill>
                  <a:srgbClr val="383838"/>
                </a:solidFill>
                <a:latin typeface="微软雅黑"/>
                <a:ea typeface="微软雅黑"/>
                <a:cs typeface="微软雅黑"/>
              </a:endParaRPr>
            </a:p>
          </p:txBody>
        </p:sp>
        <p:sp>
          <p:nvSpPr>
            <p:cNvPr id="195" name="文本框 194"/>
            <p:cNvSpPr txBox="1"/>
            <p:nvPr/>
          </p:nvSpPr>
          <p:spPr>
            <a:xfrm>
              <a:off x="11523345" y="1464310"/>
              <a:ext cx="570865" cy="288290"/>
            </a:xfrm>
            <a:prstGeom prst="rect">
              <a:avLst/>
            </a:prstGeom>
            <a:noFill/>
          </p:spPr>
          <p:txBody>
            <a:bodyPr wrap="square" rtlCol="0">
              <a:noAutofit/>
            </a:bodyPr>
            <a:lstStyle/>
            <a:p>
              <a:pPr>
                <a:defRPr>
                  <a:latin typeface="微软雅黑"/>
                  <a:ea typeface="微软雅黑"/>
                  <a:cs typeface="微软雅黑"/>
                </a:defRPr>
              </a:pPr>
              <a:r>
                <a:rPr lang="zh-CN" altLang="en-US" sz="1200" dirty="0">
                  <a:solidFill>
                    <a:srgbClr val="383838"/>
                  </a:solidFill>
                  <a:latin typeface="微软雅黑"/>
                  <a:ea typeface="微软雅黑"/>
                  <a:cs typeface="微软雅黑"/>
                </a:rPr>
                <a:t>复盘</a:t>
              </a:r>
              <a:endParaRPr lang="zh-CN" altLang="en-US" sz="1200" dirty="0">
                <a:solidFill>
                  <a:srgbClr val="383838"/>
                </a:solidFill>
                <a:latin typeface="微软雅黑"/>
                <a:ea typeface="微软雅黑"/>
                <a:cs typeface="微软雅黑"/>
              </a:endParaRPr>
            </a:p>
          </p:txBody>
        </p:sp>
      </p:gr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en-US" altLang="zh-CN" sz="2500">
                <a:solidFill>
                  <a:srgbClr val="383838"/>
                </a:solidFill>
                <a:effectLst/>
                <a:latin typeface="微软雅黑"/>
                <a:ea typeface="微软雅黑"/>
                <a:cs typeface="微软雅黑"/>
              </a:rPr>
              <a:t>2026</a:t>
            </a:r>
            <a:r>
              <a:rPr sz="2500">
                <a:solidFill>
                  <a:srgbClr val="383838"/>
                </a:solidFill>
                <a:effectLst/>
                <a:latin typeface="微软雅黑"/>
                <a:ea typeface="微软雅黑"/>
                <a:cs typeface="微软雅黑"/>
              </a:rPr>
              <a:t>年各月工作计划</a:t>
            </a:r>
            <a:endParaRPr sz="250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7" name="任意形状 6"/>
          <p:cNvSpPr/>
          <p:nvPr/>
        </p:nvSpPr>
        <p:spPr>
          <a:xfrm>
            <a:off x="451866" y="1146810"/>
            <a:ext cx="1253490" cy="505968"/>
          </a:xfrm>
          <a:custGeom>
            <a:avLst/>
            <a:gdLst>
              <a:gd name="connsiteX0" fmla="*/ 0 w 1253490"/>
              <a:gd name="connsiteY0" fmla="*/ 0 h 505968"/>
              <a:gd name="connsiteX1" fmla="*/ 1253490 w 1253490"/>
              <a:gd name="connsiteY1" fmla="*/ 0 h 505968"/>
              <a:gd name="connsiteX2" fmla="*/ 1253490 w 1253490"/>
              <a:gd name="connsiteY2" fmla="*/ 505968 h 505968"/>
              <a:gd name="connsiteX3" fmla="*/ 0 w 1253490"/>
              <a:gd name="connsiteY3" fmla="*/ 505968 h 505968"/>
            </a:gdLst>
            <a:ahLst/>
            <a:cxnLst>
              <a:cxn ang="0">
                <a:pos x="connsiteX0" y="connsiteY0"/>
              </a:cxn>
              <a:cxn ang="0">
                <a:pos x="connsiteX1" y="connsiteY1"/>
              </a:cxn>
              <a:cxn ang="0">
                <a:pos x="connsiteX2" y="connsiteY2"/>
              </a:cxn>
              <a:cxn ang="0">
                <a:pos x="connsiteX3" y="connsiteY3"/>
              </a:cxn>
            </a:cxnLst>
            <a:rect l="l" t="t" r="r" b="b"/>
            <a:pathLst>
              <a:path w="1253490" h="505968">
                <a:moveTo>
                  <a:pt x="0" y="0"/>
                </a:moveTo>
                <a:lnTo>
                  <a:pt x="1253490" y="0"/>
                </a:lnTo>
                <a:lnTo>
                  <a:pt x="1253490" y="505968"/>
                </a:lnTo>
                <a:lnTo>
                  <a:pt x="0" y="505968"/>
                </a:lnTo>
                <a:close/>
              </a:path>
            </a:pathLst>
          </a:custGeom>
          <a:solidFill>
            <a:srgbClr val="0042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1</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8" name="任意形状 7"/>
          <p:cNvSpPr/>
          <p:nvPr/>
        </p:nvSpPr>
        <p:spPr>
          <a:xfrm>
            <a:off x="1705356" y="1146810"/>
            <a:ext cx="1253490" cy="505968"/>
          </a:xfrm>
          <a:custGeom>
            <a:avLst/>
            <a:gdLst>
              <a:gd name="connsiteX0" fmla="*/ 0 w 1253490"/>
              <a:gd name="connsiteY0" fmla="*/ 0 h 505968"/>
              <a:gd name="connsiteX1" fmla="*/ 1253490 w 1253490"/>
              <a:gd name="connsiteY1" fmla="*/ 0 h 505968"/>
              <a:gd name="connsiteX2" fmla="*/ 1253490 w 1253490"/>
              <a:gd name="connsiteY2" fmla="*/ 505968 h 505968"/>
              <a:gd name="connsiteX3" fmla="*/ 0 w 1253490"/>
              <a:gd name="connsiteY3" fmla="*/ 505968 h 505968"/>
            </a:gdLst>
            <a:ahLst/>
            <a:cxnLst>
              <a:cxn ang="0">
                <a:pos x="connsiteX0" y="connsiteY0"/>
              </a:cxn>
              <a:cxn ang="0">
                <a:pos x="connsiteX1" y="connsiteY1"/>
              </a:cxn>
              <a:cxn ang="0">
                <a:pos x="connsiteX2" y="connsiteY2"/>
              </a:cxn>
              <a:cxn ang="0">
                <a:pos x="connsiteX3" y="connsiteY3"/>
              </a:cxn>
            </a:cxnLst>
            <a:rect l="l" t="t" r="r" b="b"/>
            <a:pathLst>
              <a:path w="1253490" h="505968">
                <a:moveTo>
                  <a:pt x="0" y="0"/>
                </a:moveTo>
                <a:lnTo>
                  <a:pt x="1253490" y="0"/>
                </a:lnTo>
                <a:lnTo>
                  <a:pt x="1253490" y="505968"/>
                </a:lnTo>
                <a:lnTo>
                  <a:pt x="0" y="505968"/>
                </a:lnTo>
                <a:close/>
              </a:path>
            </a:pathLst>
          </a:custGeom>
          <a:solidFill>
            <a:srgbClr val="0042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2</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9" name="任意形状 8"/>
          <p:cNvSpPr/>
          <p:nvPr/>
        </p:nvSpPr>
        <p:spPr>
          <a:xfrm>
            <a:off x="2958846" y="1146810"/>
            <a:ext cx="1253490" cy="505968"/>
          </a:xfrm>
          <a:custGeom>
            <a:avLst/>
            <a:gdLst>
              <a:gd name="connsiteX0" fmla="*/ 0 w 1253490"/>
              <a:gd name="connsiteY0" fmla="*/ 0 h 505968"/>
              <a:gd name="connsiteX1" fmla="*/ 1253490 w 1253490"/>
              <a:gd name="connsiteY1" fmla="*/ 0 h 505968"/>
              <a:gd name="connsiteX2" fmla="*/ 1253490 w 1253490"/>
              <a:gd name="connsiteY2" fmla="*/ 505968 h 505968"/>
              <a:gd name="connsiteX3" fmla="*/ 0 w 1253490"/>
              <a:gd name="connsiteY3" fmla="*/ 505968 h 505968"/>
            </a:gdLst>
            <a:ahLst/>
            <a:cxnLst>
              <a:cxn ang="0">
                <a:pos x="connsiteX0" y="connsiteY0"/>
              </a:cxn>
              <a:cxn ang="0">
                <a:pos x="connsiteX1" y="connsiteY1"/>
              </a:cxn>
              <a:cxn ang="0">
                <a:pos x="connsiteX2" y="connsiteY2"/>
              </a:cxn>
              <a:cxn ang="0">
                <a:pos x="connsiteX3" y="connsiteY3"/>
              </a:cxn>
            </a:cxnLst>
            <a:rect l="l" t="t" r="r" b="b"/>
            <a:pathLst>
              <a:path w="1253490" h="505968">
                <a:moveTo>
                  <a:pt x="0" y="0"/>
                </a:moveTo>
                <a:lnTo>
                  <a:pt x="1253490" y="0"/>
                </a:lnTo>
                <a:lnTo>
                  <a:pt x="1253490" y="505968"/>
                </a:lnTo>
                <a:lnTo>
                  <a:pt x="0" y="505968"/>
                </a:lnTo>
                <a:close/>
              </a:path>
            </a:pathLst>
          </a:custGeom>
          <a:solidFill>
            <a:srgbClr val="0042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3</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10" name="任意形状 9"/>
          <p:cNvSpPr/>
          <p:nvPr/>
        </p:nvSpPr>
        <p:spPr>
          <a:xfrm>
            <a:off x="4212336" y="1146810"/>
            <a:ext cx="1253490" cy="505968"/>
          </a:xfrm>
          <a:custGeom>
            <a:avLst/>
            <a:gdLst>
              <a:gd name="connsiteX0" fmla="*/ 0 w 1253490"/>
              <a:gd name="connsiteY0" fmla="*/ 0 h 505968"/>
              <a:gd name="connsiteX1" fmla="*/ 1253490 w 1253490"/>
              <a:gd name="connsiteY1" fmla="*/ 0 h 505968"/>
              <a:gd name="connsiteX2" fmla="*/ 1253490 w 1253490"/>
              <a:gd name="connsiteY2" fmla="*/ 505968 h 505968"/>
              <a:gd name="connsiteX3" fmla="*/ 0 w 1253490"/>
              <a:gd name="connsiteY3" fmla="*/ 505968 h 505968"/>
            </a:gdLst>
            <a:ahLst/>
            <a:cxnLst>
              <a:cxn ang="0">
                <a:pos x="connsiteX0" y="connsiteY0"/>
              </a:cxn>
              <a:cxn ang="0">
                <a:pos x="connsiteX1" y="connsiteY1"/>
              </a:cxn>
              <a:cxn ang="0">
                <a:pos x="connsiteX2" y="connsiteY2"/>
              </a:cxn>
              <a:cxn ang="0">
                <a:pos x="connsiteX3" y="connsiteY3"/>
              </a:cxn>
            </a:cxnLst>
            <a:rect l="l" t="t" r="r" b="b"/>
            <a:pathLst>
              <a:path w="1253490" h="505968">
                <a:moveTo>
                  <a:pt x="0" y="0"/>
                </a:moveTo>
                <a:lnTo>
                  <a:pt x="1253490" y="0"/>
                </a:lnTo>
                <a:lnTo>
                  <a:pt x="1253490" y="505968"/>
                </a:lnTo>
                <a:lnTo>
                  <a:pt x="0" y="505968"/>
                </a:lnTo>
                <a:close/>
              </a:path>
            </a:pathLst>
          </a:custGeom>
          <a:solidFill>
            <a:srgbClr val="3368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4</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11" name="任意形状 10"/>
          <p:cNvSpPr/>
          <p:nvPr/>
        </p:nvSpPr>
        <p:spPr>
          <a:xfrm>
            <a:off x="5465826" y="1146810"/>
            <a:ext cx="1253490" cy="505968"/>
          </a:xfrm>
          <a:custGeom>
            <a:avLst/>
            <a:gdLst>
              <a:gd name="connsiteX0" fmla="*/ 0 w 1253490"/>
              <a:gd name="connsiteY0" fmla="*/ 0 h 505968"/>
              <a:gd name="connsiteX1" fmla="*/ 1253490 w 1253490"/>
              <a:gd name="connsiteY1" fmla="*/ 0 h 505968"/>
              <a:gd name="connsiteX2" fmla="*/ 1253490 w 1253490"/>
              <a:gd name="connsiteY2" fmla="*/ 505968 h 505968"/>
              <a:gd name="connsiteX3" fmla="*/ 0 w 1253490"/>
              <a:gd name="connsiteY3" fmla="*/ 505968 h 505968"/>
            </a:gdLst>
            <a:ahLst/>
            <a:cxnLst>
              <a:cxn ang="0">
                <a:pos x="connsiteX0" y="connsiteY0"/>
              </a:cxn>
              <a:cxn ang="0">
                <a:pos x="connsiteX1" y="connsiteY1"/>
              </a:cxn>
              <a:cxn ang="0">
                <a:pos x="connsiteX2" y="connsiteY2"/>
              </a:cxn>
              <a:cxn ang="0">
                <a:pos x="connsiteX3" y="connsiteY3"/>
              </a:cxn>
            </a:cxnLst>
            <a:rect l="l" t="t" r="r" b="b"/>
            <a:pathLst>
              <a:path w="1253490" h="505968">
                <a:moveTo>
                  <a:pt x="0" y="0"/>
                </a:moveTo>
                <a:lnTo>
                  <a:pt x="1253490" y="0"/>
                </a:lnTo>
                <a:lnTo>
                  <a:pt x="1253490" y="505968"/>
                </a:lnTo>
                <a:lnTo>
                  <a:pt x="0" y="505968"/>
                </a:lnTo>
                <a:close/>
              </a:path>
            </a:pathLst>
          </a:custGeom>
          <a:solidFill>
            <a:srgbClr val="3368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5</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12" name="任意形状 11"/>
          <p:cNvSpPr/>
          <p:nvPr/>
        </p:nvSpPr>
        <p:spPr>
          <a:xfrm flipH="1">
            <a:off x="4157473" y="1866138"/>
            <a:ext cx="45719" cy="1367063"/>
          </a:xfrm>
          <a:custGeom>
            <a:avLst/>
            <a:gdLst>
              <a:gd name="connsiteX0" fmla="*/ 0 w 7620"/>
              <a:gd name="connsiteY0" fmla="*/ 0 h 1744979"/>
              <a:gd name="connsiteX1" fmla="*/ 0 w 7620"/>
              <a:gd name="connsiteY1" fmla="*/ 1744980 h 1744979"/>
            </a:gdLst>
            <a:ahLst/>
            <a:cxnLst>
              <a:cxn ang="0">
                <a:pos x="connsiteX0" y="connsiteY0"/>
              </a:cxn>
              <a:cxn ang="0">
                <a:pos x="connsiteX1" y="connsiteY1"/>
              </a:cxn>
            </a:cxnLst>
            <a:rect l="l" t="t" r="r" b="b"/>
            <a:pathLst>
              <a:path w="7620" h="1744979">
                <a:moveTo>
                  <a:pt x="0" y="0"/>
                </a:moveTo>
                <a:lnTo>
                  <a:pt x="0" y="17449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 name="任意形状 12"/>
          <p:cNvSpPr/>
          <p:nvPr/>
        </p:nvSpPr>
        <p:spPr>
          <a:xfrm>
            <a:off x="5471160" y="3992118"/>
            <a:ext cx="1253490" cy="505967"/>
          </a:xfrm>
          <a:custGeom>
            <a:avLst/>
            <a:gdLst>
              <a:gd name="connsiteX0" fmla="*/ 0 w 1253490"/>
              <a:gd name="connsiteY0" fmla="*/ 0 h 505967"/>
              <a:gd name="connsiteX1" fmla="*/ 1253490 w 1253490"/>
              <a:gd name="connsiteY1" fmla="*/ 0 h 505967"/>
              <a:gd name="connsiteX2" fmla="*/ 1253490 w 1253490"/>
              <a:gd name="connsiteY2" fmla="*/ 505968 h 505967"/>
              <a:gd name="connsiteX3" fmla="*/ 0 w 1253490"/>
              <a:gd name="connsiteY3" fmla="*/ 505968 h 505967"/>
            </a:gdLst>
            <a:ahLst/>
            <a:cxnLst>
              <a:cxn ang="0">
                <a:pos x="connsiteX0" y="connsiteY0"/>
              </a:cxn>
              <a:cxn ang="0">
                <a:pos x="connsiteX1" y="connsiteY1"/>
              </a:cxn>
              <a:cxn ang="0">
                <a:pos x="connsiteX2" y="connsiteY2"/>
              </a:cxn>
              <a:cxn ang="0">
                <a:pos x="connsiteX3" y="connsiteY3"/>
              </a:cxn>
            </a:cxnLst>
            <a:rect l="l" t="t" r="r" b="b"/>
            <a:pathLst>
              <a:path w="1253490" h="505967">
                <a:moveTo>
                  <a:pt x="0" y="0"/>
                </a:moveTo>
                <a:lnTo>
                  <a:pt x="1253490" y="0"/>
                </a:lnTo>
                <a:lnTo>
                  <a:pt x="1253490" y="505968"/>
                </a:lnTo>
                <a:lnTo>
                  <a:pt x="0" y="505968"/>
                </a:lnTo>
                <a:close/>
              </a:path>
            </a:pathLst>
          </a:custGeom>
          <a:solidFill>
            <a:srgbClr val="B3D4FE"/>
          </a:solidFill>
          <a:ln w="19050" cap="flat">
            <a:solidFill>
              <a:srgbClr val="FFFFFF"/>
            </a:solidFill>
            <a:prstDash val="solid"/>
            <a:miter/>
          </a:ln>
        </p:spPr>
        <p:txBody>
          <a:bodyPr rtlCol="0" anchor="ctr"/>
          <a:lstStyle/>
          <a:p>
            <a:pPr algn="ctr">
              <a:defRPr>
                <a:latin typeface="微软雅黑"/>
                <a:ea typeface="微软雅黑"/>
                <a:cs typeface="微软雅黑"/>
              </a:defRPr>
            </a:pPr>
            <a:r>
              <a:rPr lang="en-US" altLang="zh-CN" sz="1600" b="1" dirty="0">
                <a:solidFill>
                  <a:srgbClr val="383838"/>
                </a:solidFill>
                <a:latin typeface="微软雅黑"/>
                <a:ea typeface="微软雅黑"/>
                <a:cs typeface="微软雅黑"/>
              </a:rPr>
              <a:t>11</a:t>
            </a:r>
            <a:r>
              <a:rPr lang="zh-CN" altLang="en-US" sz="1600" b="1" dirty="0">
                <a:solidFill>
                  <a:srgbClr val="383838"/>
                </a:solidFill>
                <a:latin typeface="微软雅黑"/>
                <a:ea typeface="微软雅黑"/>
                <a:cs typeface="微软雅黑"/>
              </a:rPr>
              <a:t>月</a:t>
            </a:r>
            <a:endParaRPr lang="zh-CN" altLang="en-US" sz="1600" b="1" dirty="0">
              <a:solidFill>
                <a:srgbClr val="383838"/>
              </a:solidFill>
              <a:latin typeface="微软雅黑"/>
              <a:ea typeface="微软雅黑"/>
              <a:cs typeface="微软雅黑"/>
            </a:endParaRPr>
          </a:p>
        </p:txBody>
      </p:sp>
      <p:sp>
        <p:nvSpPr>
          <p:cNvPr id="4" name="任意形状 13"/>
          <p:cNvSpPr/>
          <p:nvPr/>
        </p:nvSpPr>
        <p:spPr>
          <a:xfrm>
            <a:off x="6724650" y="3992118"/>
            <a:ext cx="1253490" cy="505967"/>
          </a:xfrm>
          <a:custGeom>
            <a:avLst/>
            <a:gdLst>
              <a:gd name="connsiteX0" fmla="*/ 0 w 1253490"/>
              <a:gd name="connsiteY0" fmla="*/ 0 h 505967"/>
              <a:gd name="connsiteX1" fmla="*/ 1253490 w 1253490"/>
              <a:gd name="connsiteY1" fmla="*/ 0 h 505967"/>
              <a:gd name="connsiteX2" fmla="*/ 1253490 w 1253490"/>
              <a:gd name="connsiteY2" fmla="*/ 505968 h 505967"/>
              <a:gd name="connsiteX3" fmla="*/ 0 w 1253490"/>
              <a:gd name="connsiteY3" fmla="*/ 505968 h 505967"/>
            </a:gdLst>
            <a:ahLst/>
            <a:cxnLst>
              <a:cxn ang="0">
                <a:pos x="connsiteX0" y="connsiteY0"/>
              </a:cxn>
              <a:cxn ang="0">
                <a:pos x="connsiteX1" y="connsiteY1"/>
              </a:cxn>
              <a:cxn ang="0">
                <a:pos x="connsiteX2" y="connsiteY2"/>
              </a:cxn>
              <a:cxn ang="0">
                <a:pos x="connsiteX3" y="connsiteY3"/>
              </a:cxn>
            </a:cxnLst>
            <a:rect l="l" t="t" r="r" b="b"/>
            <a:pathLst>
              <a:path w="1253490" h="505967">
                <a:moveTo>
                  <a:pt x="0" y="0"/>
                </a:moveTo>
                <a:lnTo>
                  <a:pt x="1253490" y="0"/>
                </a:lnTo>
                <a:lnTo>
                  <a:pt x="1253490" y="505968"/>
                </a:lnTo>
                <a:lnTo>
                  <a:pt x="0" y="505968"/>
                </a:lnTo>
                <a:close/>
              </a:path>
            </a:pathLst>
          </a:custGeom>
          <a:solidFill>
            <a:srgbClr val="B3D4FE"/>
          </a:solidFill>
          <a:ln w="19050" cap="flat">
            <a:solidFill>
              <a:srgbClr val="FFFFFF"/>
            </a:solidFill>
            <a:prstDash val="solid"/>
            <a:miter/>
          </a:ln>
        </p:spPr>
        <p:txBody>
          <a:bodyPr rtlCol="0" anchor="ctr"/>
          <a:lstStyle/>
          <a:p>
            <a:pPr algn="ctr">
              <a:defRPr>
                <a:latin typeface="微软雅黑"/>
                <a:ea typeface="微软雅黑"/>
                <a:cs typeface="微软雅黑"/>
              </a:defRPr>
            </a:pPr>
            <a:r>
              <a:rPr lang="en-US" altLang="zh-CN" sz="1600" b="1" dirty="0">
                <a:solidFill>
                  <a:srgbClr val="383838"/>
                </a:solidFill>
                <a:latin typeface="微软雅黑"/>
                <a:ea typeface="微软雅黑"/>
                <a:cs typeface="微软雅黑"/>
              </a:rPr>
              <a:t>10</a:t>
            </a:r>
            <a:r>
              <a:rPr lang="zh-CN" altLang="en-US" sz="1600" b="1" dirty="0">
                <a:solidFill>
                  <a:srgbClr val="383838"/>
                </a:solidFill>
                <a:latin typeface="微软雅黑"/>
                <a:ea typeface="微软雅黑"/>
                <a:cs typeface="微软雅黑"/>
              </a:rPr>
              <a:t>月</a:t>
            </a:r>
            <a:endParaRPr lang="zh-CN" altLang="en-US" sz="1600" b="1" dirty="0">
              <a:solidFill>
                <a:srgbClr val="383838"/>
              </a:solidFill>
              <a:latin typeface="微软雅黑"/>
              <a:ea typeface="微软雅黑"/>
              <a:cs typeface="微软雅黑"/>
            </a:endParaRPr>
          </a:p>
        </p:txBody>
      </p:sp>
      <p:sp>
        <p:nvSpPr>
          <p:cNvPr id="6" name="任意形状 14"/>
          <p:cNvSpPr/>
          <p:nvPr/>
        </p:nvSpPr>
        <p:spPr>
          <a:xfrm>
            <a:off x="7978140" y="3992118"/>
            <a:ext cx="1253490" cy="505967"/>
          </a:xfrm>
          <a:custGeom>
            <a:avLst/>
            <a:gdLst>
              <a:gd name="connsiteX0" fmla="*/ 0 w 1253490"/>
              <a:gd name="connsiteY0" fmla="*/ 0 h 505967"/>
              <a:gd name="connsiteX1" fmla="*/ 1253490 w 1253490"/>
              <a:gd name="connsiteY1" fmla="*/ 0 h 505967"/>
              <a:gd name="connsiteX2" fmla="*/ 1253490 w 1253490"/>
              <a:gd name="connsiteY2" fmla="*/ 505968 h 505967"/>
              <a:gd name="connsiteX3" fmla="*/ 0 w 1253490"/>
              <a:gd name="connsiteY3" fmla="*/ 505968 h 505967"/>
            </a:gdLst>
            <a:ahLst/>
            <a:cxnLst>
              <a:cxn ang="0">
                <a:pos x="connsiteX0" y="connsiteY0"/>
              </a:cxn>
              <a:cxn ang="0">
                <a:pos x="connsiteX1" y="connsiteY1"/>
              </a:cxn>
              <a:cxn ang="0">
                <a:pos x="connsiteX2" y="connsiteY2"/>
              </a:cxn>
              <a:cxn ang="0">
                <a:pos x="connsiteX3" y="connsiteY3"/>
              </a:cxn>
            </a:cxnLst>
            <a:rect l="l" t="t" r="r" b="b"/>
            <a:pathLst>
              <a:path w="1253490" h="505967">
                <a:moveTo>
                  <a:pt x="0" y="0"/>
                </a:moveTo>
                <a:lnTo>
                  <a:pt x="1253490" y="0"/>
                </a:lnTo>
                <a:lnTo>
                  <a:pt x="1253490" y="505968"/>
                </a:lnTo>
                <a:lnTo>
                  <a:pt x="0" y="505968"/>
                </a:lnTo>
                <a:close/>
              </a:path>
            </a:pathLst>
          </a:custGeom>
          <a:solidFill>
            <a:srgbClr val="3368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9</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22" name="任意形状 15"/>
          <p:cNvSpPr/>
          <p:nvPr/>
        </p:nvSpPr>
        <p:spPr>
          <a:xfrm>
            <a:off x="9231630" y="3992118"/>
            <a:ext cx="1253490" cy="505967"/>
          </a:xfrm>
          <a:custGeom>
            <a:avLst/>
            <a:gdLst>
              <a:gd name="connsiteX0" fmla="*/ 0 w 1253490"/>
              <a:gd name="connsiteY0" fmla="*/ 0 h 505967"/>
              <a:gd name="connsiteX1" fmla="*/ 1253490 w 1253490"/>
              <a:gd name="connsiteY1" fmla="*/ 0 h 505967"/>
              <a:gd name="connsiteX2" fmla="*/ 1253490 w 1253490"/>
              <a:gd name="connsiteY2" fmla="*/ 505968 h 505967"/>
              <a:gd name="connsiteX3" fmla="*/ 0 w 1253490"/>
              <a:gd name="connsiteY3" fmla="*/ 505968 h 505967"/>
            </a:gdLst>
            <a:ahLst/>
            <a:cxnLst>
              <a:cxn ang="0">
                <a:pos x="connsiteX0" y="connsiteY0"/>
              </a:cxn>
              <a:cxn ang="0">
                <a:pos x="connsiteX1" y="connsiteY1"/>
              </a:cxn>
              <a:cxn ang="0">
                <a:pos x="connsiteX2" y="connsiteY2"/>
              </a:cxn>
              <a:cxn ang="0">
                <a:pos x="connsiteX3" y="connsiteY3"/>
              </a:cxn>
            </a:cxnLst>
            <a:rect l="l" t="t" r="r" b="b"/>
            <a:pathLst>
              <a:path w="1253490" h="505967">
                <a:moveTo>
                  <a:pt x="0" y="0"/>
                </a:moveTo>
                <a:lnTo>
                  <a:pt x="1253490" y="0"/>
                </a:lnTo>
                <a:lnTo>
                  <a:pt x="1253490" y="505968"/>
                </a:lnTo>
                <a:lnTo>
                  <a:pt x="0" y="505968"/>
                </a:lnTo>
                <a:close/>
              </a:path>
            </a:pathLst>
          </a:custGeom>
          <a:solidFill>
            <a:srgbClr val="3368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8</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23" name="任意形状 16"/>
          <p:cNvSpPr/>
          <p:nvPr/>
        </p:nvSpPr>
        <p:spPr>
          <a:xfrm>
            <a:off x="10485120" y="3992118"/>
            <a:ext cx="1253490" cy="505967"/>
          </a:xfrm>
          <a:custGeom>
            <a:avLst/>
            <a:gdLst>
              <a:gd name="connsiteX0" fmla="*/ 0 w 1253490"/>
              <a:gd name="connsiteY0" fmla="*/ 0 h 505967"/>
              <a:gd name="connsiteX1" fmla="*/ 1253490 w 1253490"/>
              <a:gd name="connsiteY1" fmla="*/ 0 h 505967"/>
              <a:gd name="connsiteX2" fmla="*/ 1253490 w 1253490"/>
              <a:gd name="connsiteY2" fmla="*/ 505968 h 505967"/>
              <a:gd name="connsiteX3" fmla="*/ 0 w 1253490"/>
              <a:gd name="connsiteY3" fmla="*/ 505968 h 505967"/>
            </a:gdLst>
            <a:ahLst/>
            <a:cxnLst>
              <a:cxn ang="0">
                <a:pos x="connsiteX0" y="connsiteY0"/>
              </a:cxn>
              <a:cxn ang="0">
                <a:pos x="connsiteX1" y="connsiteY1"/>
              </a:cxn>
              <a:cxn ang="0">
                <a:pos x="connsiteX2" y="connsiteY2"/>
              </a:cxn>
              <a:cxn ang="0">
                <a:pos x="connsiteX3" y="connsiteY3"/>
              </a:cxn>
            </a:cxnLst>
            <a:rect l="l" t="t" r="r" b="b"/>
            <a:pathLst>
              <a:path w="1253490" h="505967">
                <a:moveTo>
                  <a:pt x="0" y="0"/>
                </a:moveTo>
                <a:lnTo>
                  <a:pt x="1253490" y="0"/>
                </a:lnTo>
                <a:lnTo>
                  <a:pt x="1253490" y="505968"/>
                </a:lnTo>
                <a:lnTo>
                  <a:pt x="0" y="505968"/>
                </a:lnTo>
                <a:close/>
              </a:path>
            </a:pathLst>
          </a:custGeom>
          <a:solidFill>
            <a:srgbClr val="3368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7</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24" name="任意形状 17"/>
          <p:cNvSpPr/>
          <p:nvPr/>
        </p:nvSpPr>
        <p:spPr>
          <a:xfrm>
            <a:off x="7978140" y="4658106"/>
            <a:ext cx="7620" cy="1744980"/>
          </a:xfrm>
          <a:custGeom>
            <a:avLst/>
            <a:gdLst>
              <a:gd name="connsiteX0" fmla="*/ 0 w 7620"/>
              <a:gd name="connsiteY0" fmla="*/ 0 h 1744980"/>
              <a:gd name="connsiteX1" fmla="*/ 0 w 7620"/>
              <a:gd name="connsiteY1" fmla="*/ 1744980 h 1744980"/>
            </a:gdLst>
            <a:ahLst/>
            <a:cxnLst>
              <a:cxn ang="0">
                <a:pos x="connsiteX0" y="connsiteY0"/>
              </a:cxn>
              <a:cxn ang="0">
                <a:pos x="connsiteX1" y="connsiteY1"/>
              </a:cxn>
            </a:cxnLst>
            <a:rect l="l" t="t" r="r" b="b"/>
            <a:pathLst>
              <a:path w="7620" h="1744980">
                <a:moveTo>
                  <a:pt x="0" y="0"/>
                </a:moveTo>
                <a:lnTo>
                  <a:pt x="0" y="1744980"/>
                </a:lnTo>
              </a:path>
            </a:pathLst>
          </a:custGeom>
          <a:ln w="15875" cap="flat">
            <a:solidFill>
              <a:srgbClr val="DCDCDC"/>
            </a:solidFill>
            <a:prstDash val="dash"/>
            <a:miter/>
          </a:ln>
        </p:spPr>
        <p:txBody>
          <a:bodyPr rtlCol="0" anchor="ctr"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25" name="任意形状 18"/>
          <p:cNvSpPr/>
          <p:nvPr/>
        </p:nvSpPr>
        <p:spPr>
          <a:xfrm>
            <a:off x="6719316" y="1146810"/>
            <a:ext cx="1430273" cy="505967"/>
          </a:xfrm>
          <a:custGeom>
            <a:avLst/>
            <a:gdLst>
              <a:gd name="connsiteX0" fmla="*/ 1253490 w 1430273"/>
              <a:gd name="connsiteY0" fmla="*/ 0 h 505967"/>
              <a:gd name="connsiteX1" fmla="*/ 1253490 w 1430273"/>
              <a:gd name="connsiteY1" fmla="*/ 0 h 505967"/>
              <a:gd name="connsiteX2" fmla="*/ 0 w 1430273"/>
              <a:gd name="connsiteY2" fmla="*/ 0 h 505967"/>
              <a:gd name="connsiteX3" fmla="*/ 0 w 1430273"/>
              <a:gd name="connsiteY3" fmla="*/ 505968 h 505967"/>
              <a:gd name="connsiteX4" fmla="*/ 1253490 w 1430273"/>
              <a:gd name="connsiteY4" fmla="*/ 505968 h 505967"/>
              <a:gd name="connsiteX5" fmla="*/ 1253490 w 1430273"/>
              <a:gd name="connsiteY5" fmla="*/ 505968 h 505967"/>
              <a:gd name="connsiteX6" fmla="*/ 1430274 w 1430273"/>
              <a:gd name="connsiteY6" fmla="*/ 252984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0273" h="505967">
                <a:moveTo>
                  <a:pt x="1253490" y="0"/>
                </a:moveTo>
                <a:lnTo>
                  <a:pt x="1253490" y="0"/>
                </a:lnTo>
                <a:lnTo>
                  <a:pt x="0" y="0"/>
                </a:lnTo>
                <a:lnTo>
                  <a:pt x="0" y="505968"/>
                </a:lnTo>
                <a:lnTo>
                  <a:pt x="1253490" y="505968"/>
                </a:lnTo>
                <a:lnTo>
                  <a:pt x="1253490" y="505968"/>
                </a:lnTo>
                <a:lnTo>
                  <a:pt x="1430274" y="252984"/>
                </a:lnTo>
                <a:close/>
              </a:path>
            </a:pathLst>
          </a:custGeom>
          <a:solidFill>
            <a:srgbClr val="3368FF"/>
          </a:solidFill>
          <a:ln w="19050" cap="flat">
            <a:solidFill>
              <a:srgbClr val="FFFFFF"/>
            </a:solidFill>
            <a:prstDash val="solid"/>
            <a:miter/>
          </a:ln>
        </p:spPr>
        <p:txBody>
          <a:bodyPr rtlCol="0" anchor="ctr"/>
          <a:lstStyle/>
          <a:p>
            <a:pPr algn="ctr">
              <a:defRPr>
                <a:solidFill>
                  <a:srgbClr val="FFFFFF"/>
                </a:solidFill>
                <a:latin typeface="微软雅黑"/>
                <a:ea typeface="微软雅黑"/>
                <a:cs typeface="微软雅黑"/>
              </a:defRPr>
            </a:pPr>
            <a:r>
              <a:rPr lang="en-US" altLang="zh-CN" sz="1600" b="1" dirty="0">
                <a:solidFill>
                  <a:srgbClr val="FFFFFF"/>
                </a:solidFill>
                <a:latin typeface="微软雅黑"/>
                <a:ea typeface="微软雅黑"/>
                <a:cs typeface="微软雅黑"/>
              </a:rPr>
              <a:t>6</a:t>
            </a:r>
            <a:r>
              <a:rPr lang="zh-CN" altLang="en-US" sz="1600" b="1" dirty="0">
                <a:solidFill>
                  <a:srgbClr val="FFFFFF"/>
                </a:solidFill>
                <a:latin typeface="微软雅黑"/>
                <a:ea typeface="微软雅黑"/>
                <a:cs typeface="微软雅黑"/>
              </a:rPr>
              <a:t>月</a:t>
            </a:r>
            <a:endParaRPr lang="zh-CN" altLang="en-US" sz="1600" b="1" dirty="0">
              <a:solidFill>
                <a:srgbClr val="FFFFFF"/>
              </a:solidFill>
              <a:latin typeface="微软雅黑"/>
              <a:ea typeface="微软雅黑"/>
              <a:cs typeface="微软雅黑"/>
            </a:endParaRPr>
          </a:p>
        </p:txBody>
      </p:sp>
      <p:sp>
        <p:nvSpPr>
          <p:cNvPr id="30" name="任意形状 19"/>
          <p:cNvSpPr/>
          <p:nvPr/>
        </p:nvSpPr>
        <p:spPr>
          <a:xfrm>
            <a:off x="4040885" y="3992118"/>
            <a:ext cx="1430274" cy="505967"/>
          </a:xfrm>
          <a:custGeom>
            <a:avLst/>
            <a:gdLst>
              <a:gd name="connsiteX0" fmla="*/ 176784 w 1430274"/>
              <a:gd name="connsiteY0" fmla="*/ 0 h 505967"/>
              <a:gd name="connsiteX1" fmla="*/ 0 w 1430274"/>
              <a:gd name="connsiteY1" fmla="*/ 252984 h 505967"/>
              <a:gd name="connsiteX2" fmla="*/ 176784 w 1430274"/>
              <a:gd name="connsiteY2" fmla="*/ 505968 h 505967"/>
              <a:gd name="connsiteX3" fmla="*/ 176784 w 1430274"/>
              <a:gd name="connsiteY3" fmla="*/ 505968 h 505967"/>
              <a:gd name="connsiteX4" fmla="*/ 1430274 w 1430274"/>
              <a:gd name="connsiteY4" fmla="*/ 505968 h 505967"/>
              <a:gd name="connsiteX5" fmla="*/ 1430274 w 1430274"/>
              <a:gd name="connsiteY5" fmla="*/ 0 h 5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0274" h="505967">
                <a:moveTo>
                  <a:pt x="176784" y="0"/>
                </a:moveTo>
                <a:lnTo>
                  <a:pt x="0" y="252984"/>
                </a:lnTo>
                <a:lnTo>
                  <a:pt x="176784" y="505968"/>
                </a:lnTo>
                <a:lnTo>
                  <a:pt x="176784" y="505968"/>
                </a:lnTo>
                <a:lnTo>
                  <a:pt x="1430274" y="505968"/>
                </a:lnTo>
                <a:lnTo>
                  <a:pt x="1430274" y="0"/>
                </a:lnTo>
                <a:close/>
              </a:path>
            </a:pathLst>
          </a:custGeom>
          <a:solidFill>
            <a:srgbClr val="B3D4FE"/>
          </a:solidFill>
          <a:ln w="19050" cap="flat">
            <a:solidFill>
              <a:srgbClr val="FFFFFF"/>
            </a:solidFill>
            <a:prstDash val="solid"/>
            <a:miter/>
          </a:ln>
        </p:spPr>
        <p:txBody>
          <a:bodyPr rtlCol="0" anchor="ctr"/>
          <a:lstStyle/>
          <a:p>
            <a:pPr algn="ctr">
              <a:defRPr>
                <a:latin typeface="微软雅黑"/>
                <a:ea typeface="微软雅黑"/>
                <a:cs typeface="微软雅黑"/>
              </a:defRPr>
            </a:pPr>
            <a:r>
              <a:rPr lang="en-US" altLang="zh-CN" sz="1600" b="1" dirty="0">
                <a:solidFill>
                  <a:srgbClr val="383838"/>
                </a:solidFill>
                <a:latin typeface="微软雅黑"/>
                <a:ea typeface="微软雅黑"/>
                <a:cs typeface="微软雅黑"/>
              </a:rPr>
              <a:t>12</a:t>
            </a:r>
            <a:r>
              <a:rPr lang="zh-CN" altLang="en-US" sz="1600" b="1" dirty="0">
                <a:solidFill>
                  <a:srgbClr val="383838"/>
                </a:solidFill>
                <a:latin typeface="微软雅黑"/>
                <a:ea typeface="微软雅黑"/>
                <a:cs typeface="微软雅黑"/>
              </a:rPr>
              <a:t>月</a:t>
            </a:r>
            <a:endParaRPr lang="zh-CN" altLang="en-US" sz="1600" b="1" dirty="0">
              <a:solidFill>
                <a:srgbClr val="383838"/>
              </a:solidFill>
              <a:latin typeface="微软雅黑"/>
              <a:ea typeface="微软雅黑"/>
              <a:cs typeface="微软雅黑"/>
            </a:endParaRPr>
          </a:p>
        </p:txBody>
      </p:sp>
      <p:sp>
        <p:nvSpPr>
          <p:cNvPr id="32" name="任意形状 26"/>
          <p:cNvSpPr/>
          <p:nvPr/>
        </p:nvSpPr>
        <p:spPr>
          <a:xfrm>
            <a:off x="588263" y="1942288"/>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0042FF"/>
          </a:solidFill>
          <a:ln w="762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3" name="任意形状 27"/>
          <p:cNvSpPr/>
          <p:nvPr/>
        </p:nvSpPr>
        <p:spPr>
          <a:xfrm>
            <a:off x="588263" y="2707084"/>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0042FF"/>
          </a:solidFill>
          <a:ln w="762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4" name="任意形状 29"/>
          <p:cNvSpPr/>
          <p:nvPr/>
        </p:nvSpPr>
        <p:spPr>
          <a:xfrm>
            <a:off x="4348734" y="1942288"/>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3368FF"/>
          </a:solidFill>
          <a:ln w="762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5" name="任意形状 30"/>
          <p:cNvSpPr/>
          <p:nvPr/>
        </p:nvSpPr>
        <p:spPr>
          <a:xfrm>
            <a:off x="4348734" y="2707084"/>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3368FF"/>
          </a:solidFill>
          <a:ln w="762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0" name="文本框 39"/>
          <p:cNvSpPr txBox="1"/>
          <p:nvPr/>
        </p:nvSpPr>
        <p:spPr>
          <a:xfrm>
            <a:off x="907665" y="1848623"/>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目标分解：</a:t>
            </a:r>
            <a:r>
              <a:rPr lang="zh-CN" altLang="en-US" sz="1000" dirty="0">
                <a:solidFill>
                  <a:srgbClr val="383838"/>
                </a:solidFill>
                <a:effectLst/>
                <a:latin typeface="微软雅黑"/>
                <a:ea typeface="微软雅黑"/>
                <a:cs typeface="微软雅黑"/>
              </a:rPr>
              <a:t>明确年度责任目标，细化季度工作任务，确保执行方向清晰明确。</a:t>
            </a:r>
            <a:endParaRPr lang="zh-CN" altLang="en-US" sz="1000" dirty="0">
              <a:solidFill>
                <a:srgbClr val="383838"/>
              </a:solidFill>
              <a:effectLst/>
              <a:latin typeface="微软雅黑"/>
              <a:ea typeface="微软雅黑"/>
              <a:cs typeface="微软雅黑"/>
            </a:endParaRPr>
          </a:p>
        </p:txBody>
      </p:sp>
      <p:sp>
        <p:nvSpPr>
          <p:cNvPr id="41" name="文本框 40"/>
          <p:cNvSpPr txBox="1"/>
          <p:nvPr/>
        </p:nvSpPr>
        <p:spPr>
          <a:xfrm>
            <a:off x="907665" y="2596949"/>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资源整合：</a:t>
            </a:r>
            <a:r>
              <a:rPr lang="zh-CN" altLang="en-US" sz="1000" dirty="0">
                <a:solidFill>
                  <a:srgbClr val="383838"/>
                </a:solidFill>
                <a:effectLst/>
                <a:latin typeface="微软雅黑"/>
                <a:ea typeface="微软雅黑"/>
                <a:cs typeface="微软雅黑"/>
              </a:rPr>
              <a:t>优化项目资源配置，提升团队协作效率，推动项目顺利启动。</a:t>
            </a:r>
            <a:endParaRPr lang="zh-CN" altLang="en-US" sz="1000" dirty="0">
              <a:solidFill>
                <a:srgbClr val="383838"/>
              </a:solidFill>
              <a:effectLst/>
              <a:latin typeface="微软雅黑"/>
              <a:ea typeface="微软雅黑"/>
              <a:cs typeface="微软雅黑"/>
            </a:endParaRPr>
          </a:p>
        </p:txBody>
      </p:sp>
      <p:sp>
        <p:nvSpPr>
          <p:cNvPr id="42" name="文本框 41"/>
          <p:cNvSpPr txBox="1"/>
          <p:nvPr/>
        </p:nvSpPr>
        <p:spPr>
          <a:xfrm>
            <a:off x="4673753" y="1848623"/>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市场拓展：</a:t>
            </a:r>
            <a:r>
              <a:rPr lang="zh-CN" altLang="en-US" sz="1000" dirty="0">
                <a:solidFill>
                  <a:srgbClr val="383838"/>
                </a:solidFill>
                <a:effectLst/>
                <a:latin typeface="微软雅黑"/>
                <a:ea typeface="微软雅黑"/>
                <a:cs typeface="微软雅黑"/>
              </a:rPr>
              <a:t>新增客户</a:t>
            </a:r>
            <a:r>
              <a:rPr lang="en-US" altLang="zh-CN" sz="1000" dirty="0">
                <a:solidFill>
                  <a:srgbClr val="383838"/>
                </a:solidFill>
                <a:effectLst/>
                <a:latin typeface="微软雅黑"/>
                <a:ea typeface="微软雅黑"/>
                <a:cs typeface="微软雅黑"/>
              </a:rPr>
              <a:t>30</a:t>
            </a:r>
            <a:r>
              <a:rPr lang="zh-CN" altLang="en-US" sz="1000" dirty="0">
                <a:solidFill>
                  <a:srgbClr val="383838"/>
                </a:solidFill>
                <a:effectLst/>
                <a:latin typeface="微软雅黑"/>
                <a:ea typeface="微软雅黑"/>
                <a:cs typeface="微软雅黑"/>
              </a:rPr>
              <a:t>家，销售额同比增长</a:t>
            </a:r>
            <a:r>
              <a:rPr lang="en-US" altLang="zh-CN" sz="1000" dirty="0">
                <a:solidFill>
                  <a:srgbClr val="383838"/>
                </a:solidFill>
                <a:effectLst/>
                <a:latin typeface="微软雅黑"/>
                <a:ea typeface="微软雅黑"/>
                <a:cs typeface="微软雅黑"/>
              </a:rPr>
              <a:t>12%</a:t>
            </a:r>
            <a:r>
              <a:rPr lang="zh-CN" altLang="en-US" sz="1000" dirty="0">
                <a:solidFill>
                  <a:srgbClr val="383838"/>
                </a:solidFill>
                <a:effectLst/>
                <a:latin typeface="微软雅黑"/>
                <a:ea typeface="微软雅黑"/>
                <a:cs typeface="微软雅黑"/>
              </a:rPr>
              <a:t>，扩大市场份额显著。</a:t>
            </a:r>
            <a:endParaRPr lang="zh-CN" altLang="en-US" sz="1000" dirty="0">
              <a:solidFill>
                <a:srgbClr val="383838"/>
              </a:solidFill>
              <a:effectLst/>
              <a:latin typeface="微软雅黑"/>
              <a:ea typeface="微软雅黑"/>
              <a:cs typeface="微软雅黑"/>
            </a:endParaRPr>
          </a:p>
        </p:txBody>
      </p:sp>
      <p:sp>
        <p:nvSpPr>
          <p:cNvPr id="36" name="文本框 35"/>
          <p:cNvSpPr txBox="1"/>
          <p:nvPr/>
        </p:nvSpPr>
        <p:spPr>
          <a:xfrm>
            <a:off x="4673753" y="2596949"/>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流程优化：</a:t>
            </a:r>
            <a:r>
              <a:rPr lang="zh-CN" altLang="en-US" sz="1000" dirty="0">
                <a:solidFill>
                  <a:srgbClr val="383838"/>
                </a:solidFill>
                <a:effectLst/>
                <a:latin typeface="微软雅黑"/>
                <a:ea typeface="微软雅黑"/>
                <a:cs typeface="微软雅黑"/>
              </a:rPr>
              <a:t>改进内部流程，减少冗余环节，加速提升整体运营效率显著。</a:t>
            </a:r>
            <a:endParaRPr lang="zh-CN" altLang="en-US" sz="1000" dirty="0">
              <a:solidFill>
                <a:srgbClr val="383838"/>
              </a:solidFill>
              <a:effectLst/>
              <a:latin typeface="微软雅黑"/>
              <a:ea typeface="微软雅黑"/>
              <a:cs typeface="微软雅黑"/>
            </a:endParaRPr>
          </a:p>
        </p:txBody>
      </p:sp>
      <p:sp>
        <p:nvSpPr>
          <p:cNvPr id="45" name="任意形状 44"/>
          <p:cNvSpPr/>
          <p:nvPr/>
        </p:nvSpPr>
        <p:spPr>
          <a:xfrm>
            <a:off x="4354351" y="4790748"/>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B3D4FE"/>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6" name="任意形状 45"/>
          <p:cNvSpPr/>
          <p:nvPr/>
        </p:nvSpPr>
        <p:spPr>
          <a:xfrm>
            <a:off x="4354351" y="5592864"/>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B3D4FE"/>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7" name="任意形状 46"/>
          <p:cNvSpPr/>
          <p:nvPr/>
        </p:nvSpPr>
        <p:spPr>
          <a:xfrm>
            <a:off x="8114822" y="4790748"/>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3368FF"/>
          </a:solidFill>
          <a:ln w="762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9" name="任意形状 47"/>
          <p:cNvSpPr/>
          <p:nvPr/>
        </p:nvSpPr>
        <p:spPr>
          <a:xfrm>
            <a:off x="8114822" y="5592864"/>
            <a:ext cx="252984" cy="248412"/>
          </a:xfrm>
          <a:custGeom>
            <a:avLst/>
            <a:gdLst>
              <a:gd name="connsiteX0" fmla="*/ 126492 w 252984"/>
              <a:gd name="connsiteY0" fmla="*/ 0 h 248412"/>
              <a:gd name="connsiteX1" fmla="*/ 0 w 252984"/>
              <a:gd name="connsiteY1" fmla="*/ 124206 h 248412"/>
              <a:gd name="connsiteX2" fmla="*/ 126492 w 252984"/>
              <a:gd name="connsiteY2" fmla="*/ 248412 h 248412"/>
              <a:gd name="connsiteX3" fmla="*/ 252984 w 252984"/>
              <a:gd name="connsiteY3" fmla="*/ 124206 h 248412"/>
              <a:gd name="connsiteX4" fmla="*/ 126492 w 252984"/>
              <a:gd name="connsiteY4" fmla="*/ 0 h 248412"/>
              <a:gd name="connsiteX5" fmla="*/ 108204 w 252984"/>
              <a:gd name="connsiteY5" fmla="*/ 200406 h 248412"/>
              <a:gd name="connsiteX6" fmla="*/ 34290 w 252984"/>
              <a:gd name="connsiteY6" fmla="*/ 127254 h 248412"/>
              <a:gd name="connsiteX7" fmla="*/ 64008 w 252984"/>
              <a:gd name="connsiteY7" fmla="*/ 99060 h 248412"/>
              <a:gd name="connsiteX8" fmla="*/ 108966 w 252984"/>
              <a:gd name="connsiteY8" fmla="*/ 142494 h 248412"/>
              <a:gd name="connsiteX9" fmla="*/ 190500 w 252984"/>
              <a:gd name="connsiteY9" fmla="*/ 62484 h 248412"/>
              <a:gd name="connsiteX10" fmla="*/ 220218 w 252984"/>
              <a:gd name="connsiteY10" fmla="*/ 90678 h 248412"/>
              <a:gd name="connsiteX11" fmla="*/ 108204 w 252984"/>
              <a:gd name="connsiteY11" fmla="*/ 2004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84" h="248412">
                <a:moveTo>
                  <a:pt x="126492" y="0"/>
                </a:moveTo>
                <a:cubicBezTo>
                  <a:pt x="57150" y="0"/>
                  <a:pt x="0" y="56388"/>
                  <a:pt x="0" y="124206"/>
                </a:cubicBezTo>
                <a:cubicBezTo>
                  <a:pt x="0" y="192786"/>
                  <a:pt x="56388" y="248412"/>
                  <a:pt x="126492" y="248412"/>
                </a:cubicBezTo>
                <a:cubicBezTo>
                  <a:pt x="196596" y="248412"/>
                  <a:pt x="252984" y="192024"/>
                  <a:pt x="252984" y="124206"/>
                </a:cubicBezTo>
                <a:cubicBezTo>
                  <a:pt x="252222" y="54864"/>
                  <a:pt x="195072" y="0"/>
                  <a:pt x="126492" y="0"/>
                </a:cubicBezTo>
                <a:close/>
                <a:moveTo>
                  <a:pt x="108204" y="200406"/>
                </a:moveTo>
                <a:lnTo>
                  <a:pt x="34290" y="127254"/>
                </a:lnTo>
                <a:lnTo>
                  <a:pt x="64008" y="99060"/>
                </a:lnTo>
                <a:lnTo>
                  <a:pt x="108966" y="142494"/>
                </a:lnTo>
                <a:lnTo>
                  <a:pt x="190500" y="62484"/>
                </a:lnTo>
                <a:lnTo>
                  <a:pt x="220218" y="90678"/>
                </a:lnTo>
                <a:lnTo>
                  <a:pt x="108204" y="200406"/>
                </a:lnTo>
                <a:close/>
              </a:path>
            </a:pathLst>
          </a:custGeom>
          <a:solidFill>
            <a:srgbClr val="3368FF"/>
          </a:solidFill>
          <a:ln w="762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4" name="文本框 43"/>
          <p:cNvSpPr txBox="1"/>
          <p:nvPr/>
        </p:nvSpPr>
        <p:spPr>
          <a:xfrm>
            <a:off x="4673753" y="4687939"/>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业绩冲刺：</a:t>
            </a:r>
            <a:r>
              <a:rPr lang="zh-CN" altLang="en-US" sz="1000" dirty="0">
                <a:solidFill>
                  <a:srgbClr val="383838"/>
                </a:solidFill>
                <a:effectLst/>
                <a:latin typeface="微软雅黑"/>
                <a:ea typeface="微软雅黑"/>
                <a:cs typeface="微软雅黑"/>
              </a:rPr>
              <a:t>超额完成年度任务目标，营收同比增长</a:t>
            </a:r>
            <a:r>
              <a:rPr lang="en-US" altLang="zh-CN" sz="1000" dirty="0">
                <a:solidFill>
                  <a:srgbClr val="383838"/>
                </a:solidFill>
                <a:effectLst/>
                <a:latin typeface="微软雅黑"/>
                <a:ea typeface="微软雅黑"/>
                <a:cs typeface="微软雅黑"/>
              </a:rPr>
              <a:t>18%</a:t>
            </a:r>
            <a:r>
              <a:rPr lang="zh-CN" altLang="en-US" sz="1000" dirty="0">
                <a:solidFill>
                  <a:srgbClr val="383838"/>
                </a:solidFill>
                <a:effectLst/>
                <a:latin typeface="微软雅黑"/>
                <a:ea typeface="微软雅黑"/>
                <a:cs typeface="微软雅黑"/>
              </a:rPr>
              <a:t>，实现业绩突破显著。</a:t>
            </a:r>
            <a:endParaRPr lang="zh-CN" altLang="en-US" sz="1000" dirty="0">
              <a:solidFill>
                <a:srgbClr val="383838"/>
              </a:solidFill>
              <a:effectLst/>
              <a:latin typeface="微软雅黑"/>
              <a:ea typeface="微软雅黑"/>
              <a:cs typeface="微软雅黑"/>
            </a:endParaRPr>
          </a:p>
        </p:txBody>
      </p:sp>
      <p:sp>
        <p:nvSpPr>
          <p:cNvPr id="50" name="文本框 49"/>
          <p:cNvSpPr txBox="1"/>
          <p:nvPr/>
        </p:nvSpPr>
        <p:spPr>
          <a:xfrm>
            <a:off x="4673753" y="5482729"/>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总结规划：</a:t>
            </a:r>
            <a:r>
              <a:rPr lang="zh-CN" altLang="en-US" sz="1000" dirty="0">
                <a:solidFill>
                  <a:srgbClr val="383838"/>
                </a:solidFill>
                <a:effectLst/>
                <a:latin typeface="微软雅黑"/>
                <a:ea typeface="微软雅黑"/>
                <a:cs typeface="微软雅黑"/>
              </a:rPr>
              <a:t>提炼经验，总结不足与优势，制定新年度工作计划，明确发展方向清晰。</a:t>
            </a:r>
            <a:endParaRPr lang="zh-CN" altLang="en-US" sz="1000" dirty="0">
              <a:solidFill>
                <a:srgbClr val="383838"/>
              </a:solidFill>
              <a:effectLst/>
              <a:latin typeface="微软雅黑"/>
              <a:ea typeface="微软雅黑"/>
              <a:cs typeface="微软雅黑"/>
            </a:endParaRPr>
          </a:p>
        </p:txBody>
      </p:sp>
      <p:sp>
        <p:nvSpPr>
          <p:cNvPr id="51" name="文本框 50"/>
          <p:cNvSpPr txBox="1"/>
          <p:nvPr/>
        </p:nvSpPr>
        <p:spPr>
          <a:xfrm>
            <a:off x="8439841" y="4687939"/>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品质提升：</a:t>
            </a:r>
            <a:r>
              <a:rPr lang="zh-CN" altLang="en-US" sz="1000" dirty="0">
                <a:solidFill>
                  <a:srgbClr val="383838"/>
                </a:solidFill>
                <a:effectLst/>
                <a:latin typeface="微软雅黑"/>
                <a:ea typeface="微软雅黑"/>
                <a:cs typeface="微软雅黑"/>
              </a:rPr>
              <a:t>优化生产流程，产品合格率提升至</a:t>
            </a:r>
            <a:r>
              <a:rPr lang="en-US" altLang="zh-CN" sz="1000" dirty="0">
                <a:solidFill>
                  <a:srgbClr val="383838"/>
                </a:solidFill>
                <a:effectLst/>
                <a:latin typeface="微软雅黑"/>
                <a:ea typeface="微软雅黑"/>
                <a:cs typeface="微软雅黑"/>
              </a:rPr>
              <a:t>98%</a:t>
            </a:r>
            <a:r>
              <a:rPr lang="zh-CN" altLang="en-US" sz="1000" dirty="0">
                <a:solidFill>
                  <a:srgbClr val="383838"/>
                </a:solidFill>
                <a:effectLst/>
                <a:latin typeface="微软雅黑"/>
                <a:ea typeface="微软雅黑"/>
                <a:cs typeface="微软雅黑"/>
              </a:rPr>
              <a:t>，确保质量稳定可靠。</a:t>
            </a:r>
            <a:endParaRPr lang="zh-CN" altLang="en-US" sz="1000" dirty="0">
              <a:solidFill>
                <a:srgbClr val="383838"/>
              </a:solidFill>
              <a:effectLst/>
              <a:latin typeface="微软雅黑"/>
              <a:ea typeface="微软雅黑"/>
              <a:cs typeface="微软雅黑"/>
            </a:endParaRPr>
          </a:p>
        </p:txBody>
      </p:sp>
      <p:sp>
        <p:nvSpPr>
          <p:cNvPr id="52" name="文本框 51"/>
          <p:cNvSpPr txBox="1"/>
          <p:nvPr/>
        </p:nvSpPr>
        <p:spPr>
          <a:xfrm>
            <a:off x="8439841" y="5482729"/>
            <a:ext cx="2820358" cy="532390"/>
          </a:xfrm>
          <a:prstGeom prst="rect">
            <a:avLst/>
          </a:prstGeom>
          <a:noFill/>
          <a:ln>
            <a:noFill/>
          </a:ln>
          <a:effectLst/>
        </p:spPr>
        <p:txBody>
          <a:bodyPr wrap="square" rtlCol="0" lIns="0" rIns="0" tIns="0" bIns="0">
            <a:spAutoFit/>
          </a:bodyPr>
          <a:lstStyle/>
          <a:p>
            <a:pPr algn="just">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成本管控：</a:t>
            </a:r>
            <a:r>
              <a:rPr lang="zh-CN" altLang="en-US" sz="1000" dirty="0">
                <a:solidFill>
                  <a:srgbClr val="383838"/>
                </a:solidFill>
                <a:effectLst/>
                <a:latin typeface="微软雅黑"/>
                <a:ea typeface="微软雅黑"/>
                <a:cs typeface="微软雅黑"/>
              </a:rPr>
              <a:t>实施降本增效措施，降低运营成本</a:t>
            </a:r>
            <a:r>
              <a:rPr lang="en-US" altLang="zh-CN" sz="1000" dirty="0">
                <a:solidFill>
                  <a:srgbClr val="383838"/>
                </a:solidFill>
                <a:effectLst/>
                <a:latin typeface="微软雅黑"/>
                <a:ea typeface="微软雅黑"/>
                <a:cs typeface="微软雅黑"/>
              </a:rPr>
              <a:t>5%</a:t>
            </a:r>
            <a:r>
              <a:rPr lang="zh-CN" altLang="en-US" sz="1000" dirty="0">
                <a:solidFill>
                  <a:srgbClr val="383838"/>
                </a:solidFill>
                <a:effectLst/>
                <a:latin typeface="微软雅黑"/>
                <a:ea typeface="微软雅黑"/>
                <a:cs typeface="微软雅黑"/>
              </a:rPr>
              <a:t>，提升利润率效果显著。</a:t>
            </a:r>
            <a:endParaRPr lang="zh-CN" altLang="en-US" sz="1000" dirty="0">
              <a:solidFill>
                <a:srgbClr val="383838"/>
              </a:solidFill>
              <a:effectLst/>
              <a:latin typeface="微软雅黑"/>
              <a:ea typeface="微软雅黑"/>
              <a:cs typeface="微软雅黑"/>
            </a:endParaRPr>
          </a:p>
        </p:txBody>
      </p:sp>
      <p:cxnSp>
        <p:nvCxnSpPr>
          <p:cNvPr id="53" name="直线箭头连接符 25"/>
          <p:cNvCxnSpPr/>
          <p:nvPr/>
        </p:nvCxnSpPr>
        <p:spPr>
          <a:xfrm flipH="1">
            <a:off x="3133663" y="4242169"/>
            <a:ext cx="795528" cy="0"/>
          </a:xfrm>
          <a:prstGeom prst="straightConnector1">
            <a:avLst/>
          </a:prstGeom>
          <a:ln>
            <a:tailEnd type="triangle"/>
          </a:ln>
        </p:spPr>
        <p:style>
          <a:lnRef idx="2">
            <a:srgbClr val="DCDCDC"/>
          </a:lnRef>
          <a:fillRef idx="0">
            <a:srgbClr val="DCDCDC"/>
          </a:fillRef>
          <a:effectRef idx="1">
            <a:srgbClr val="DCDCDC"/>
          </a:effectRef>
          <a:fontRef idx="minor">
            <a:srgbClr val="383838"/>
          </a:fontRef>
        </p:style>
      </p:cxnSp>
      <p:cxnSp>
        <p:nvCxnSpPr>
          <p:cNvPr id="54" name="直线箭头连接符 31"/>
          <p:cNvCxnSpPr/>
          <p:nvPr/>
        </p:nvCxnSpPr>
        <p:spPr>
          <a:xfrm>
            <a:off x="8293537" y="1398385"/>
            <a:ext cx="756000" cy="0"/>
          </a:xfrm>
          <a:prstGeom prst="straightConnector1">
            <a:avLst/>
          </a:prstGeom>
          <a:ln>
            <a:solidFill>
              <a:srgbClr val="3368FF"/>
            </a:solidFill>
            <a:tailEnd type="triangle"/>
          </a:ln>
        </p:spPr>
        <p:style>
          <a:lnRef idx="2">
            <a:srgbClr val="668EFF"/>
          </a:lnRef>
          <a:fillRef idx="0">
            <a:srgbClr val="668EFF"/>
          </a:fillRef>
          <a:effectRef idx="1">
            <a:srgbClr val="668EFF"/>
          </a:effectRef>
          <a:fontRef idx="minor">
            <a:srgbClr val="383838"/>
          </a:fontRef>
        </p:style>
      </p:cxnSp>
      <p:sp>
        <p:nvSpPr>
          <p:cNvPr id="55" name="任意形状 23"/>
          <p:cNvSpPr/>
          <p:nvPr/>
        </p:nvSpPr>
        <p:spPr>
          <a:xfrm>
            <a:off x="9231630" y="1146810"/>
            <a:ext cx="2506980" cy="2471166"/>
          </a:xfrm>
          <a:custGeom>
            <a:avLst/>
            <a:gdLst>
              <a:gd name="connsiteX0" fmla="*/ 0 w 2506980"/>
              <a:gd name="connsiteY0" fmla="*/ 0 h 2471166"/>
              <a:gd name="connsiteX1" fmla="*/ 2506980 w 2506980"/>
              <a:gd name="connsiteY1" fmla="*/ 0 h 2471166"/>
              <a:gd name="connsiteX2" fmla="*/ 2506980 w 2506980"/>
              <a:gd name="connsiteY2" fmla="*/ 2471166 h 2471166"/>
              <a:gd name="connsiteX3" fmla="*/ 0 w 2506980"/>
              <a:gd name="connsiteY3" fmla="*/ 2471166 h 2471166"/>
            </a:gdLst>
            <a:ahLst/>
            <a:cxnLst>
              <a:cxn ang="0">
                <a:pos x="connsiteX0" y="connsiteY0"/>
              </a:cxn>
              <a:cxn ang="0">
                <a:pos x="connsiteX1" y="connsiteY1"/>
              </a:cxn>
              <a:cxn ang="0">
                <a:pos x="connsiteX2" y="connsiteY2"/>
              </a:cxn>
              <a:cxn ang="0">
                <a:pos x="connsiteX3" y="connsiteY3"/>
              </a:cxn>
            </a:cxnLst>
            <a:rect l="l" t="t" r="r" b="b"/>
            <a:pathLst>
              <a:path w="2506980" h="2471166">
                <a:moveTo>
                  <a:pt x="0" y="0"/>
                </a:moveTo>
                <a:lnTo>
                  <a:pt x="2506980" y="0"/>
                </a:lnTo>
                <a:lnTo>
                  <a:pt x="2506980" y="2471166"/>
                </a:lnTo>
                <a:lnTo>
                  <a:pt x="0" y="2471166"/>
                </a:lnTo>
                <a:close/>
              </a:path>
            </a:pathLst>
          </a:custGeom>
          <a:solidFill>
            <a:srgbClr val="E6E6E6">
              <a:alpha val="20000"/>
            </a:srgbClr>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7" name="任意形状 20"/>
          <p:cNvSpPr/>
          <p:nvPr/>
        </p:nvSpPr>
        <p:spPr>
          <a:xfrm>
            <a:off x="9231630" y="1146810"/>
            <a:ext cx="2506980" cy="505966"/>
          </a:xfrm>
          <a:custGeom>
            <a:avLst/>
            <a:gdLst>
              <a:gd name="connsiteX0" fmla="*/ 0 w 2506980"/>
              <a:gd name="connsiteY0" fmla="*/ 0 h 505968"/>
              <a:gd name="connsiteX1" fmla="*/ 2506980 w 2506980"/>
              <a:gd name="connsiteY1" fmla="*/ 0 h 505968"/>
              <a:gd name="connsiteX2" fmla="*/ 2506980 w 2506980"/>
              <a:gd name="connsiteY2" fmla="*/ 505968 h 505968"/>
              <a:gd name="connsiteX3" fmla="*/ 0 w 2506980"/>
              <a:gd name="connsiteY3" fmla="*/ 505968 h 505968"/>
            </a:gdLst>
            <a:ahLst/>
            <a:cxnLst>
              <a:cxn ang="0">
                <a:pos x="connsiteX0" y="connsiteY0"/>
              </a:cxn>
              <a:cxn ang="0">
                <a:pos x="connsiteX1" y="connsiteY1"/>
              </a:cxn>
              <a:cxn ang="0">
                <a:pos x="connsiteX2" y="connsiteY2"/>
              </a:cxn>
              <a:cxn ang="0">
                <a:pos x="connsiteX3" y="connsiteY3"/>
              </a:cxn>
            </a:cxnLst>
            <a:rect l="l" t="t" r="r" b="b"/>
            <a:pathLst>
              <a:path w="2506980" h="505968">
                <a:moveTo>
                  <a:pt x="0" y="0"/>
                </a:moveTo>
                <a:lnTo>
                  <a:pt x="2506980" y="0"/>
                </a:lnTo>
                <a:lnTo>
                  <a:pt x="2506980" y="505968"/>
                </a:lnTo>
                <a:lnTo>
                  <a:pt x="0" y="505968"/>
                </a:lnTo>
                <a:close/>
              </a:path>
            </a:pathLst>
          </a:custGeom>
          <a:solidFill>
            <a:srgbClr val="3368FF"/>
          </a:solidFill>
          <a:ln w="7620" cap="flat">
            <a:noFill/>
            <a:prstDash val="solid"/>
            <a:miter/>
          </a:ln>
        </p:spPr>
        <p:txBody>
          <a:bodyPr rtlCol="0" anchor="ctr" lIns="0" rIns="0" tIns="0" bIns="0"/>
          <a:lstStyle/>
          <a:p>
            <a:pPr algn="ctr">
              <a:defRPr>
                <a:solidFill>
                  <a:srgbClr val="FFFFFF"/>
                </a:solidFill>
                <a:latin typeface="微软雅黑"/>
                <a:ea typeface="微软雅黑"/>
                <a:cs typeface="微软雅黑"/>
              </a:defRPr>
            </a:pPr>
            <a:r>
              <a:rPr lang="en-US" altLang="zh-CN" b="1" dirty="0">
                <a:solidFill>
                  <a:srgbClr val="FFFFFF"/>
                </a:solidFill>
                <a:latin typeface="微软雅黑"/>
                <a:ea typeface="微软雅黑"/>
                <a:cs typeface="微软雅黑"/>
              </a:rPr>
              <a:t>2025</a:t>
            </a:r>
            <a:r>
              <a:rPr lang="zh-CN" altLang="en-US" b="1" dirty="0">
                <a:solidFill>
                  <a:srgbClr val="FFFFFF"/>
                </a:solidFill>
                <a:latin typeface="微软雅黑"/>
                <a:ea typeface="微软雅黑"/>
                <a:cs typeface="微软雅黑"/>
              </a:rPr>
              <a:t>年上半年总结</a:t>
            </a:r>
            <a:endParaRPr lang="zh-CN" altLang="en-US" b="1" dirty="0">
              <a:solidFill>
                <a:srgbClr val="FFFFFF"/>
              </a:solidFill>
              <a:latin typeface="微软雅黑"/>
              <a:ea typeface="微软雅黑"/>
              <a:cs typeface="微软雅黑"/>
            </a:endParaRPr>
          </a:p>
        </p:txBody>
      </p:sp>
      <p:sp>
        <p:nvSpPr>
          <p:cNvPr id="58" name="文本框 57"/>
          <p:cNvSpPr txBox="1"/>
          <p:nvPr/>
        </p:nvSpPr>
        <p:spPr>
          <a:xfrm>
            <a:off x="9302877" y="1861220"/>
            <a:ext cx="2364487" cy="1353127"/>
          </a:xfrm>
          <a:prstGeom prst="rect">
            <a:avLst/>
          </a:prstGeom>
          <a:noFill/>
          <a:ln>
            <a:noFill/>
          </a:ln>
        </p:spPr>
        <p:txBody>
          <a:bodyPr wrap="square" rtlCol="0" lIns="0" rIns="0" tIns="0" bIns="0">
            <a:spAutoFit/>
          </a:bodyPr>
          <a:lstStyle/>
          <a:p>
            <a:pPr>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目标达成：</a:t>
            </a:r>
            <a:r>
              <a:rPr lang="zh-CN" altLang="en-US" sz="1000" dirty="0">
                <a:solidFill>
                  <a:srgbClr val="383838"/>
                </a:solidFill>
                <a:effectLst/>
                <a:latin typeface="微软雅黑"/>
                <a:ea typeface="微软雅黑"/>
                <a:cs typeface="微软雅黑"/>
              </a:rPr>
              <a:t>完成重点项目阶段性工作任务，高效的同时确保高质量交付，提升团队执行力。</a:t>
            </a:r>
            <a:endParaRPr lang="en-US" altLang="zh-CN" sz="1000" dirty="0">
              <a:solidFill>
                <a:srgbClr val="383838"/>
              </a:solidFill>
              <a:effectLst/>
              <a:latin typeface="微软雅黑"/>
              <a:ea typeface="微软雅黑"/>
              <a:cs typeface="微软雅黑"/>
            </a:endParaRPr>
          </a:p>
          <a:p>
            <a:pPr>
              <a:lnSpc>
                <a:spcPct val="150000"/>
              </a:lnSpc>
              <a:spcAft>
                <a:spcPts val="100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创新突破</a:t>
            </a:r>
            <a:r>
              <a:rPr lang="zh-CN" altLang="en-US" sz="1000" b="1"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引入新技术，优化流程，提升生产效率，推动业务模式升级。</a:t>
            </a:r>
            <a:endParaRPr lang="zh-CN" altLang="en-US" sz="1000" dirty="0">
              <a:solidFill>
                <a:srgbClr val="383838"/>
              </a:solidFill>
              <a:effectLst/>
              <a:latin typeface="微软雅黑"/>
              <a:ea typeface="微软雅黑"/>
              <a:cs typeface="微软雅黑"/>
            </a:endParaRPr>
          </a:p>
        </p:txBody>
      </p:sp>
      <p:sp>
        <p:nvSpPr>
          <p:cNvPr id="59" name="矩形 58"/>
          <p:cNvSpPr/>
          <p:nvPr/>
        </p:nvSpPr>
        <p:spPr>
          <a:xfrm>
            <a:off x="9231630" y="3460497"/>
            <a:ext cx="2504693" cy="150620"/>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endParaRPr>
          </a:p>
        </p:txBody>
      </p:sp>
      <p:sp>
        <p:nvSpPr>
          <p:cNvPr id="60" name="任意形状 32"/>
          <p:cNvSpPr/>
          <p:nvPr/>
        </p:nvSpPr>
        <p:spPr>
          <a:xfrm>
            <a:off x="461010" y="3994404"/>
            <a:ext cx="2506980" cy="2471166"/>
          </a:xfrm>
          <a:custGeom>
            <a:avLst/>
            <a:gdLst>
              <a:gd name="connsiteX0" fmla="*/ 0 w 2506980"/>
              <a:gd name="connsiteY0" fmla="*/ 0 h 2471166"/>
              <a:gd name="connsiteX1" fmla="*/ 2506980 w 2506980"/>
              <a:gd name="connsiteY1" fmla="*/ 0 h 2471166"/>
              <a:gd name="connsiteX2" fmla="*/ 2506980 w 2506980"/>
              <a:gd name="connsiteY2" fmla="*/ 2471166 h 2471166"/>
              <a:gd name="connsiteX3" fmla="*/ 0 w 2506980"/>
              <a:gd name="connsiteY3" fmla="*/ 2471166 h 2471166"/>
            </a:gdLst>
            <a:ahLst/>
            <a:cxnLst>
              <a:cxn ang="0">
                <a:pos x="connsiteX0" y="connsiteY0"/>
              </a:cxn>
              <a:cxn ang="0">
                <a:pos x="connsiteX1" y="connsiteY1"/>
              </a:cxn>
              <a:cxn ang="0">
                <a:pos x="connsiteX2" y="connsiteY2"/>
              </a:cxn>
              <a:cxn ang="0">
                <a:pos x="connsiteX3" y="connsiteY3"/>
              </a:cxn>
            </a:cxnLst>
            <a:rect l="l" t="t" r="r" b="b"/>
            <a:pathLst>
              <a:path w="2506980" h="2471166">
                <a:moveTo>
                  <a:pt x="0" y="0"/>
                </a:moveTo>
                <a:lnTo>
                  <a:pt x="2506980" y="0"/>
                </a:lnTo>
                <a:lnTo>
                  <a:pt x="2506980" y="2471166"/>
                </a:lnTo>
                <a:lnTo>
                  <a:pt x="0" y="2471166"/>
                </a:lnTo>
                <a:close/>
              </a:path>
            </a:pathLst>
          </a:custGeom>
          <a:solidFill>
            <a:srgbClr val="FFFFFF">
              <a:alpha val="20000"/>
            </a:srgbClr>
          </a:solidFill>
          <a:ln w="7620" cap="flat">
            <a:no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61" name="任意形状 35"/>
          <p:cNvSpPr/>
          <p:nvPr/>
        </p:nvSpPr>
        <p:spPr>
          <a:xfrm>
            <a:off x="461009" y="3994404"/>
            <a:ext cx="2506980" cy="505968"/>
          </a:xfrm>
          <a:custGeom>
            <a:avLst/>
            <a:gdLst>
              <a:gd name="connsiteX0" fmla="*/ 0 w 2506980"/>
              <a:gd name="connsiteY0" fmla="*/ 0 h 505968"/>
              <a:gd name="connsiteX1" fmla="*/ 2506980 w 2506980"/>
              <a:gd name="connsiteY1" fmla="*/ 0 h 505968"/>
              <a:gd name="connsiteX2" fmla="*/ 2506980 w 2506980"/>
              <a:gd name="connsiteY2" fmla="*/ 505968 h 505968"/>
              <a:gd name="connsiteX3" fmla="*/ 0 w 2506980"/>
              <a:gd name="connsiteY3" fmla="*/ 505968 h 505968"/>
            </a:gdLst>
            <a:ahLst/>
            <a:cxnLst>
              <a:cxn ang="0">
                <a:pos x="connsiteX0" y="connsiteY0"/>
              </a:cxn>
              <a:cxn ang="0">
                <a:pos x="connsiteX1" y="connsiteY1"/>
              </a:cxn>
              <a:cxn ang="0">
                <a:pos x="connsiteX2" y="connsiteY2"/>
              </a:cxn>
              <a:cxn ang="0">
                <a:pos x="connsiteX3" y="connsiteY3"/>
              </a:cxn>
            </a:cxnLst>
            <a:rect l="l" t="t" r="r" b="b"/>
            <a:pathLst>
              <a:path w="2506980" h="505968">
                <a:moveTo>
                  <a:pt x="0" y="0"/>
                </a:moveTo>
                <a:lnTo>
                  <a:pt x="2506980" y="0"/>
                </a:lnTo>
                <a:lnTo>
                  <a:pt x="2506980" y="505968"/>
                </a:lnTo>
                <a:lnTo>
                  <a:pt x="0" y="505968"/>
                </a:lnTo>
                <a:close/>
              </a:path>
            </a:pathLst>
          </a:custGeom>
          <a:solidFill>
            <a:srgbClr val="B3D4FE"/>
          </a:solidFill>
          <a:ln w="7620" cap="flat">
            <a:noFill/>
            <a:prstDash val="solid"/>
            <a:miter/>
          </a:ln>
        </p:spPr>
        <p:txBody>
          <a:bodyPr rtlCol="0" anchor="ctr" lIns="0" rIns="0" tIns="0" bIns="0"/>
          <a:lstStyle/>
          <a:p>
            <a:pPr algn="ctr">
              <a:defRPr>
                <a:latin typeface="微软雅黑"/>
                <a:ea typeface="微软雅黑"/>
                <a:cs typeface="微软雅黑"/>
              </a:defRPr>
            </a:pPr>
            <a:r>
              <a:rPr lang="en-US" altLang="zh-CN" b="1" dirty="0">
                <a:solidFill>
                  <a:srgbClr val="383838"/>
                </a:solidFill>
                <a:latin typeface="微软雅黑"/>
                <a:ea typeface="微软雅黑"/>
                <a:cs typeface="微软雅黑"/>
              </a:rPr>
              <a:t>2025</a:t>
            </a:r>
            <a:r>
              <a:rPr lang="zh-CN" altLang="en-US" b="1" dirty="0">
                <a:solidFill>
                  <a:srgbClr val="383838"/>
                </a:solidFill>
                <a:latin typeface="微软雅黑"/>
                <a:ea typeface="微软雅黑"/>
                <a:cs typeface="微软雅黑"/>
              </a:rPr>
              <a:t>年下半年规划</a:t>
            </a:r>
            <a:endParaRPr lang="zh-CN" altLang="en-US" b="1" dirty="0">
              <a:solidFill>
                <a:srgbClr val="383838"/>
              </a:solidFill>
              <a:latin typeface="微软雅黑"/>
              <a:ea typeface="微软雅黑"/>
              <a:cs typeface="微软雅黑"/>
            </a:endParaRPr>
          </a:p>
        </p:txBody>
      </p:sp>
      <p:sp>
        <p:nvSpPr>
          <p:cNvPr id="62" name="文本框 61"/>
          <p:cNvSpPr txBox="1"/>
          <p:nvPr/>
        </p:nvSpPr>
        <p:spPr>
          <a:xfrm>
            <a:off x="532257" y="4708814"/>
            <a:ext cx="2364487" cy="1353127"/>
          </a:xfrm>
          <a:prstGeom prst="rect">
            <a:avLst/>
          </a:prstGeom>
          <a:noFill/>
          <a:ln>
            <a:noFill/>
          </a:ln>
        </p:spPr>
        <p:txBody>
          <a:bodyPr wrap="square" rtlCol="0" lIns="0" rIns="0" tIns="0" bIns="0">
            <a:spAutoFit/>
          </a:bodyPr>
          <a:lstStyle/>
          <a:p>
            <a:pPr>
              <a:lnSpc>
                <a:spcPct val="150000"/>
              </a:lnSpc>
              <a:spcAft>
                <a:spcPts val="1000"/>
              </a:spcAft>
              <a:defRPr>
                <a:latin typeface="微软雅黑"/>
                <a:ea typeface="微软雅黑"/>
                <a:cs typeface="微软雅黑"/>
              </a:defRPr>
            </a:pPr>
            <a:r>
              <a:rPr lang="zh-CN" altLang="en-US" sz="1000" b="1" dirty="0">
                <a:solidFill>
                  <a:srgbClr val="383838"/>
                </a:solidFill>
                <a:effectLst/>
                <a:latin typeface="微软雅黑"/>
                <a:ea typeface="微软雅黑"/>
                <a:cs typeface="微软雅黑"/>
              </a:rPr>
              <a:t>市场拓展：</a:t>
            </a:r>
            <a:r>
              <a:rPr lang="zh-CN" altLang="en-US" sz="1000" dirty="0">
                <a:solidFill>
                  <a:srgbClr val="383838"/>
                </a:solidFill>
                <a:effectLst/>
                <a:latin typeface="微软雅黑"/>
                <a:ea typeface="微软雅黑"/>
                <a:cs typeface="微软雅黑"/>
              </a:rPr>
              <a:t>新增目标客户</a:t>
            </a:r>
            <a:r>
              <a:rPr lang="en-US" altLang="zh-CN" sz="1000" dirty="0">
                <a:solidFill>
                  <a:srgbClr val="383838"/>
                </a:solidFill>
                <a:effectLst/>
                <a:latin typeface="微软雅黑"/>
                <a:ea typeface="微软雅黑"/>
                <a:cs typeface="微软雅黑"/>
              </a:rPr>
              <a:t>50</a:t>
            </a:r>
            <a:r>
              <a:rPr lang="zh-CN" altLang="en-US" sz="1000" dirty="0">
                <a:solidFill>
                  <a:srgbClr val="383838"/>
                </a:solidFill>
                <a:effectLst/>
                <a:latin typeface="微软雅黑"/>
                <a:ea typeface="微软雅黑"/>
                <a:cs typeface="微软雅黑"/>
              </a:rPr>
              <a:t>家，业绩同比增长</a:t>
            </a:r>
            <a:r>
              <a:rPr lang="en-US" altLang="zh-CN" sz="1000" dirty="0">
                <a:solidFill>
                  <a:srgbClr val="383838"/>
                </a:solidFill>
                <a:effectLst/>
                <a:latin typeface="微软雅黑"/>
                <a:ea typeface="微软雅黑"/>
                <a:cs typeface="微软雅黑"/>
              </a:rPr>
              <a:t>15%</a:t>
            </a:r>
            <a:r>
              <a:rPr lang="zh-CN" altLang="en-US" sz="1000" dirty="0">
                <a:solidFill>
                  <a:srgbClr val="383838"/>
                </a:solidFill>
                <a:effectLst/>
                <a:latin typeface="微软雅黑"/>
                <a:ea typeface="微软雅黑"/>
                <a:cs typeface="微软雅黑"/>
              </a:rPr>
              <a:t>，扩大市场份额，提升企业品牌影响力。</a:t>
            </a:r>
            <a:endParaRPr lang="en-US" altLang="zh-CN" sz="1000" dirty="0">
              <a:solidFill>
                <a:srgbClr val="383838"/>
              </a:solidFill>
              <a:effectLst/>
              <a:latin typeface="微软雅黑"/>
              <a:ea typeface="微软雅黑"/>
              <a:cs typeface="微软雅黑"/>
            </a:endParaRPr>
          </a:p>
          <a:p>
            <a:pPr>
              <a:lnSpc>
                <a:spcPct val="150000"/>
              </a:lnSpc>
              <a:spcAft>
                <a:spcPts val="1000"/>
              </a:spcAft>
              <a:defRPr>
                <a:latin typeface="微软雅黑"/>
                <a:ea typeface="微软雅黑"/>
                <a:cs typeface="微软雅黑"/>
              </a:defRPr>
            </a:pPr>
            <a:r>
              <a:rPr lang="zh-CN" altLang="en-US" sz="1000" b="1" dirty="0">
                <a:solidFill>
                  <a:srgbClr val="383838"/>
                </a:solidFill>
                <a:latin typeface="微软雅黑"/>
                <a:ea typeface="微软雅黑"/>
                <a:cs typeface="微软雅黑"/>
              </a:rPr>
              <a:t>人才培养</a:t>
            </a:r>
            <a:r>
              <a:rPr lang="zh-CN" altLang="en-US" sz="1000" b="1" dirty="0">
                <a:solidFill>
                  <a:srgbClr val="383838"/>
                </a:solidFill>
                <a:effectLst/>
                <a:latin typeface="微软雅黑"/>
                <a:ea typeface="微软雅黑"/>
                <a:cs typeface="微软雅黑"/>
              </a:rPr>
              <a:t>：</a:t>
            </a:r>
            <a:r>
              <a:rPr lang="zh-CN" altLang="en-US" sz="1000" dirty="0">
                <a:solidFill>
                  <a:srgbClr val="383838"/>
                </a:solidFill>
                <a:effectLst/>
                <a:latin typeface="微软雅黑"/>
                <a:ea typeface="微软雅黑"/>
                <a:cs typeface="微软雅黑"/>
              </a:rPr>
              <a:t>开展技能培训，提升专业能力，增强核心竞争力，推动持续发展。</a:t>
            </a:r>
            <a:endParaRPr lang="zh-CN" altLang="en-US" sz="1000" dirty="0">
              <a:solidFill>
                <a:srgbClr val="383838"/>
              </a:solidFill>
              <a:effectLst/>
              <a:latin typeface="微软雅黑"/>
              <a:ea typeface="微软雅黑"/>
              <a:cs typeface="微软雅黑"/>
            </a:endParaRPr>
          </a:p>
        </p:txBody>
      </p:sp>
      <p:sp>
        <p:nvSpPr>
          <p:cNvPr id="63" name="矩形 62"/>
          <p:cNvSpPr/>
          <p:nvPr/>
        </p:nvSpPr>
        <p:spPr>
          <a:xfrm>
            <a:off x="461010" y="6319342"/>
            <a:ext cx="2504693" cy="154319"/>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64" name="右箭头 63"/>
          <p:cNvSpPr/>
          <p:nvPr/>
        </p:nvSpPr>
        <p:spPr>
          <a:xfrm>
            <a:off x="451865" y="3343987"/>
            <a:ext cx="7697723" cy="333977"/>
          </a:xfrm>
          <a:prstGeom prst="rightArrow">
            <a:avLst/>
          </a:prstGeom>
          <a:gradFill>
            <a:gsLst>
              <a:gs pos="100000">
                <a:srgbClr val="0042FF">
                  <a:alpha val="0"/>
                </a:srgbClr>
              </a:gs>
              <a:gs pos="0">
                <a:srgbClr val="0042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zh-CN" altLang="en-US">
              <a:solidFill>
                <a:srgbClr val="383838"/>
              </a:solidFill>
              <a:latin typeface="微软雅黑"/>
              <a:ea typeface="微软雅黑"/>
              <a:cs typeface="微软雅黑"/>
            </a:endParaRPr>
          </a:p>
        </p:txBody>
      </p:sp>
      <p:sp>
        <p:nvSpPr>
          <p:cNvPr id="65" name="右箭头 64"/>
          <p:cNvSpPr/>
          <p:nvPr/>
        </p:nvSpPr>
        <p:spPr>
          <a:xfrm rot="10800000">
            <a:off x="4040882" y="6208195"/>
            <a:ext cx="7690105" cy="333977"/>
          </a:xfrm>
          <a:prstGeom prst="rightArrow">
            <a:avLst/>
          </a:prstGeom>
          <a:gradFill>
            <a:gsLst>
              <a:gs pos="100000">
                <a:srgbClr val="3368FF">
                  <a:alpha val="0"/>
                </a:srgbClr>
              </a:gs>
              <a:gs pos="0">
                <a:srgbClr val="3368FF"/>
              </a:gs>
            </a:gsLst>
            <a:lin ang="108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383838"/>
                </a:solidFill>
                <a:latin typeface="微软雅黑"/>
                <a:ea typeface="微软雅黑"/>
                <a:cs typeface="微软雅黑"/>
              </a:defRPr>
            </a:pPr>
            <a:endParaRPr kumimoji="1" lang="zh-CN" altLang="en-US" dirty="0">
              <a:solidFill>
                <a:srgbClr val="383838"/>
              </a:solidFill>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3" name="图片 12"/>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4" name="文本框 1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en-US" altLang="zh-CN" sz="2500">
                <a:solidFill>
                  <a:srgbClr val="383838"/>
                </a:solidFill>
                <a:effectLst/>
                <a:latin typeface="微软雅黑"/>
                <a:ea typeface="微软雅黑"/>
                <a:cs typeface="微软雅黑"/>
              </a:rPr>
              <a:t>2026</a:t>
            </a:r>
            <a:r>
              <a:rPr sz="2500">
                <a:solidFill>
                  <a:srgbClr val="383838"/>
                </a:solidFill>
                <a:effectLst/>
                <a:latin typeface="微软雅黑"/>
                <a:ea typeface="微软雅黑"/>
                <a:cs typeface="微软雅黑"/>
              </a:rPr>
              <a:t>年各月工作计划</a:t>
            </a:r>
            <a:endParaRPr sz="250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3" name="任意形状 56"/>
          <p:cNvSpPr/>
          <p:nvPr/>
        </p:nvSpPr>
        <p:spPr>
          <a:xfrm>
            <a:off x="1316989" y="2824727"/>
            <a:ext cx="10382147" cy="809422"/>
          </a:xfrm>
          <a:custGeom>
            <a:avLst/>
            <a:gdLst>
              <a:gd name="connsiteX0" fmla="*/ 0 w 721360"/>
              <a:gd name="connsiteY0" fmla="*/ 0 h 721359"/>
              <a:gd name="connsiteX1" fmla="*/ 721360 w 721360"/>
              <a:gd name="connsiteY1" fmla="*/ 0 h 721359"/>
              <a:gd name="connsiteX2" fmla="*/ 721360 w 721360"/>
              <a:gd name="connsiteY2" fmla="*/ 721360 h 721359"/>
              <a:gd name="connsiteX3" fmla="*/ 0 w 721360"/>
              <a:gd name="connsiteY3" fmla="*/ 721360 h 721359"/>
            </a:gdLst>
            <a:ahLst/>
            <a:cxnLst>
              <a:cxn ang="0">
                <a:pos x="connsiteX0" y="connsiteY0"/>
              </a:cxn>
              <a:cxn ang="0">
                <a:pos x="connsiteX1" y="connsiteY1"/>
              </a:cxn>
              <a:cxn ang="0">
                <a:pos x="connsiteX2" y="connsiteY2"/>
              </a:cxn>
              <a:cxn ang="0">
                <a:pos x="connsiteX3" y="connsiteY3"/>
              </a:cxn>
            </a:cxnLst>
            <a:rect l="l" t="t" r="r" b="b"/>
            <a:pathLst>
              <a:path w="721360" h="721359">
                <a:moveTo>
                  <a:pt x="0" y="0"/>
                </a:moveTo>
                <a:lnTo>
                  <a:pt x="721360" y="0"/>
                </a:lnTo>
                <a:lnTo>
                  <a:pt x="721360" y="721360"/>
                </a:lnTo>
                <a:lnTo>
                  <a:pt x="0" y="721360"/>
                </a:lnTo>
                <a:close/>
              </a:path>
            </a:pathLst>
          </a:custGeom>
          <a:solidFill>
            <a:srgbClr val="E6E6E6">
              <a:alpha val="40000"/>
            </a:srgbClr>
          </a:solidFill>
          <a:ln w="12700" cap="flat">
            <a:noFill/>
            <a:prstDash val="solid"/>
            <a:miter/>
          </a:ln>
        </p:spPr>
        <p:txBody>
          <a:bodyPr vert="eaVert" rtlCol="0" anchor="ctr"/>
          <a:lstStyle/>
          <a:p>
            <a:pPr algn="ctr">
              <a:defRPr>
                <a:latin typeface="微软雅黑"/>
                <a:ea typeface="微软雅黑"/>
                <a:cs typeface="微软雅黑"/>
              </a:defRPr>
            </a:pPr>
            <a:endParaRPr lang="zh-CN" altLang="en-US" sz="1200" dirty="0">
              <a:solidFill>
                <a:srgbClr val="0042FF"/>
              </a:solidFill>
              <a:latin typeface="微软雅黑"/>
              <a:ea typeface="微软雅黑"/>
              <a:cs typeface="微软雅黑"/>
            </a:endParaRPr>
          </a:p>
        </p:txBody>
      </p:sp>
      <p:sp>
        <p:nvSpPr>
          <p:cNvPr id="14" name="任意形状 8"/>
          <p:cNvSpPr/>
          <p:nvPr/>
        </p:nvSpPr>
        <p:spPr>
          <a:xfrm>
            <a:off x="1319530" y="1160781"/>
            <a:ext cx="10513955" cy="721359"/>
          </a:xfrm>
          <a:custGeom>
            <a:avLst/>
            <a:gdLst>
              <a:gd name="connsiteX0" fmla="*/ 0 w 10372089"/>
              <a:gd name="connsiteY0" fmla="*/ 0 h 721359"/>
              <a:gd name="connsiteX1" fmla="*/ 0 w 10372089"/>
              <a:gd name="connsiteY1" fmla="*/ 360680 h 721359"/>
              <a:gd name="connsiteX2" fmla="*/ 0 w 10372089"/>
              <a:gd name="connsiteY2" fmla="*/ 721360 h 721359"/>
              <a:gd name="connsiteX3" fmla="*/ 10233660 w 10372089"/>
              <a:gd name="connsiteY3" fmla="*/ 721360 h 721359"/>
              <a:gd name="connsiteX4" fmla="*/ 10372090 w 10372089"/>
              <a:gd name="connsiteY4" fmla="*/ 360680 h 721359"/>
              <a:gd name="connsiteX5" fmla="*/ 10233660 w 10372089"/>
              <a:gd name="connsiteY5" fmla="*/ 0 h 721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72089" h="721359">
                <a:moveTo>
                  <a:pt x="0" y="0"/>
                </a:moveTo>
                <a:lnTo>
                  <a:pt x="0" y="360680"/>
                </a:lnTo>
                <a:lnTo>
                  <a:pt x="0" y="721360"/>
                </a:lnTo>
                <a:lnTo>
                  <a:pt x="10233660" y="721360"/>
                </a:lnTo>
                <a:lnTo>
                  <a:pt x="10372090" y="360680"/>
                </a:lnTo>
                <a:lnTo>
                  <a:pt x="10233660" y="0"/>
                </a:lnTo>
                <a:close/>
              </a:path>
            </a:pathLst>
          </a:custGeom>
          <a:gradFill>
            <a:gsLst>
              <a:gs pos="0">
                <a:srgbClr val="0042FF"/>
              </a:gs>
              <a:gs pos="99000">
                <a:srgbClr val="3368FF"/>
              </a:gs>
            </a:gsLst>
            <a:lin ang="10800000" scaled="0"/>
          </a:gradFill>
          <a:ln w="12700"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15" name="任意形状 10"/>
          <p:cNvSpPr/>
          <p:nvPr/>
        </p:nvSpPr>
        <p:spPr>
          <a:xfrm>
            <a:off x="1319530" y="1990090"/>
            <a:ext cx="12700" cy="1670050"/>
          </a:xfrm>
          <a:custGeom>
            <a:avLst/>
            <a:gdLst>
              <a:gd name="connsiteX0" fmla="*/ 0 w 12700"/>
              <a:gd name="connsiteY0" fmla="*/ 0 h 1670050"/>
              <a:gd name="connsiteX1" fmla="*/ 0 w 12700"/>
              <a:gd name="connsiteY1" fmla="*/ 1670050 h 1670050"/>
            </a:gdLst>
            <a:ahLst/>
            <a:cxnLst>
              <a:cxn ang="0">
                <a:pos x="connsiteX0" y="connsiteY0"/>
              </a:cxn>
              <a:cxn ang="0">
                <a:pos x="connsiteX1" y="connsiteY1"/>
              </a:cxn>
            </a:cxnLst>
            <a:rect l="l" t="t" r="r" b="b"/>
            <a:pathLst>
              <a:path w="12700" h="1670050">
                <a:moveTo>
                  <a:pt x="0" y="0"/>
                </a:moveTo>
                <a:lnTo>
                  <a:pt x="0" y="167005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6" name="任意形状 11"/>
          <p:cNvSpPr/>
          <p:nvPr/>
        </p:nvSpPr>
        <p:spPr>
          <a:xfrm>
            <a:off x="3048000" y="1990090"/>
            <a:ext cx="12700" cy="1670050"/>
          </a:xfrm>
          <a:custGeom>
            <a:avLst/>
            <a:gdLst>
              <a:gd name="connsiteX0" fmla="*/ 0 w 12700"/>
              <a:gd name="connsiteY0" fmla="*/ 0 h 1670050"/>
              <a:gd name="connsiteX1" fmla="*/ 0 w 12700"/>
              <a:gd name="connsiteY1" fmla="*/ 1670050 h 1670050"/>
            </a:gdLst>
            <a:ahLst/>
            <a:cxnLst>
              <a:cxn ang="0">
                <a:pos x="connsiteX0" y="connsiteY0"/>
              </a:cxn>
              <a:cxn ang="0">
                <a:pos x="connsiteX1" y="connsiteY1"/>
              </a:cxn>
            </a:cxnLst>
            <a:rect l="l" t="t" r="r" b="b"/>
            <a:pathLst>
              <a:path w="12700" h="1670050">
                <a:moveTo>
                  <a:pt x="0" y="0"/>
                </a:moveTo>
                <a:lnTo>
                  <a:pt x="0" y="167005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7" name="任意形状 12"/>
          <p:cNvSpPr/>
          <p:nvPr/>
        </p:nvSpPr>
        <p:spPr>
          <a:xfrm>
            <a:off x="4776470" y="1990090"/>
            <a:ext cx="12700" cy="1670050"/>
          </a:xfrm>
          <a:custGeom>
            <a:avLst/>
            <a:gdLst>
              <a:gd name="connsiteX0" fmla="*/ 0 w 12700"/>
              <a:gd name="connsiteY0" fmla="*/ 0 h 1670050"/>
              <a:gd name="connsiteX1" fmla="*/ 0 w 12700"/>
              <a:gd name="connsiteY1" fmla="*/ 1670050 h 1670050"/>
            </a:gdLst>
            <a:ahLst/>
            <a:cxnLst>
              <a:cxn ang="0">
                <a:pos x="connsiteX0" y="connsiteY0"/>
              </a:cxn>
              <a:cxn ang="0">
                <a:pos x="connsiteX1" y="connsiteY1"/>
              </a:cxn>
            </a:cxnLst>
            <a:rect l="l" t="t" r="r" b="b"/>
            <a:pathLst>
              <a:path w="12700" h="1670050">
                <a:moveTo>
                  <a:pt x="0" y="0"/>
                </a:moveTo>
                <a:lnTo>
                  <a:pt x="0" y="167005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8" name="任意形状 13"/>
          <p:cNvSpPr/>
          <p:nvPr/>
        </p:nvSpPr>
        <p:spPr>
          <a:xfrm>
            <a:off x="6506209" y="1990090"/>
            <a:ext cx="12700" cy="1670050"/>
          </a:xfrm>
          <a:custGeom>
            <a:avLst/>
            <a:gdLst>
              <a:gd name="connsiteX0" fmla="*/ 0 w 12700"/>
              <a:gd name="connsiteY0" fmla="*/ 0 h 1670050"/>
              <a:gd name="connsiteX1" fmla="*/ 0 w 12700"/>
              <a:gd name="connsiteY1" fmla="*/ 1670050 h 1670050"/>
            </a:gdLst>
            <a:ahLst/>
            <a:cxnLst>
              <a:cxn ang="0">
                <a:pos x="connsiteX0" y="connsiteY0"/>
              </a:cxn>
              <a:cxn ang="0">
                <a:pos x="connsiteX1" y="connsiteY1"/>
              </a:cxn>
            </a:cxnLst>
            <a:rect l="l" t="t" r="r" b="b"/>
            <a:pathLst>
              <a:path w="12700" h="1670050">
                <a:moveTo>
                  <a:pt x="0" y="0"/>
                </a:moveTo>
                <a:lnTo>
                  <a:pt x="0" y="167005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9" name="任意形状 14"/>
          <p:cNvSpPr/>
          <p:nvPr/>
        </p:nvSpPr>
        <p:spPr>
          <a:xfrm>
            <a:off x="8234680" y="1990090"/>
            <a:ext cx="12700" cy="1670050"/>
          </a:xfrm>
          <a:custGeom>
            <a:avLst/>
            <a:gdLst>
              <a:gd name="connsiteX0" fmla="*/ 0 w 12700"/>
              <a:gd name="connsiteY0" fmla="*/ 0 h 1670050"/>
              <a:gd name="connsiteX1" fmla="*/ 0 w 12700"/>
              <a:gd name="connsiteY1" fmla="*/ 1670050 h 1670050"/>
            </a:gdLst>
            <a:ahLst/>
            <a:cxnLst>
              <a:cxn ang="0">
                <a:pos x="connsiteX0" y="connsiteY0"/>
              </a:cxn>
              <a:cxn ang="0">
                <a:pos x="connsiteX1" y="connsiteY1"/>
              </a:cxn>
            </a:cxnLst>
            <a:rect l="l" t="t" r="r" b="b"/>
            <a:pathLst>
              <a:path w="12700" h="1670050">
                <a:moveTo>
                  <a:pt x="0" y="0"/>
                </a:moveTo>
                <a:lnTo>
                  <a:pt x="0" y="167005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0" name="任意形状 15"/>
          <p:cNvSpPr/>
          <p:nvPr/>
        </p:nvSpPr>
        <p:spPr>
          <a:xfrm>
            <a:off x="9963150" y="1990090"/>
            <a:ext cx="12700" cy="1670050"/>
          </a:xfrm>
          <a:custGeom>
            <a:avLst/>
            <a:gdLst>
              <a:gd name="connsiteX0" fmla="*/ 0 w 12700"/>
              <a:gd name="connsiteY0" fmla="*/ 0 h 1670050"/>
              <a:gd name="connsiteX1" fmla="*/ 0 w 12700"/>
              <a:gd name="connsiteY1" fmla="*/ 1670050 h 1670050"/>
            </a:gdLst>
            <a:ahLst/>
            <a:cxnLst>
              <a:cxn ang="0">
                <a:pos x="connsiteX0" y="connsiteY0"/>
              </a:cxn>
              <a:cxn ang="0">
                <a:pos x="connsiteX1" y="connsiteY1"/>
              </a:cxn>
            </a:cxnLst>
            <a:rect l="l" t="t" r="r" b="b"/>
            <a:pathLst>
              <a:path w="12700" h="1670050">
                <a:moveTo>
                  <a:pt x="0" y="0"/>
                </a:moveTo>
                <a:lnTo>
                  <a:pt x="0" y="167005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1" name="任意形状 16"/>
          <p:cNvSpPr/>
          <p:nvPr/>
        </p:nvSpPr>
        <p:spPr>
          <a:xfrm>
            <a:off x="11691620" y="1990090"/>
            <a:ext cx="12700" cy="1670050"/>
          </a:xfrm>
          <a:custGeom>
            <a:avLst/>
            <a:gdLst>
              <a:gd name="connsiteX0" fmla="*/ 0 w 12700"/>
              <a:gd name="connsiteY0" fmla="*/ 0 h 1670050"/>
              <a:gd name="connsiteX1" fmla="*/ 0 w 12700"/>
              <a:gd name="connsiteY1" fmla="*/ 1670050 h 1670050"/>
            </a:gdLst>
            <a:ahLst/>
            <a:cxnLst>
              <a:cxn ang="0">
                <a:pos x="connsiteX0" y="connsiteY0"/>
              </a:cxn>
              <a:cxn ang="0">
                <a:pos x="connsiteX1" y="connsiteY1"/>
              </a:cxn>
            </a:cxnLst>
            <a:rect l="l" t="t" r="r" b="b"/>
            <a:pathLst>
              <a:path w="12700" h="1670050">
                <a:moveTo>
                  <a:pt x="0" y="0"/>
                </a:moveTo>
                <a:lnTo>
                  <a:pt x="0" y="167005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6" name="任意形状 17"/>
          <p:cNvSpPr/>
          <p:nvPr/>
        </p:nvSpPr>
        <p:spPr>
          <a:xfrm>
            <a:off x="1319530" y="4801871"/>
            <a:ext cx="12700" cy="1668779"/>
          </a:xfrm>
          <a:custGeom>
            <a:avLst/>
            <a:gdLst>
              <a:gd name="connsiteX0" fmla="*/ 0 w 12700"/>
              <a:gd name="connsiteY0" fmla="*/ 0 h 1668779"/>
              <a:gd name="connsiteX1" fmla="*/ 0 w 12700"/>
              <a:gd name="connsiteY1" fmla="*/ 1668780 h 1668779"/>
            </a:gdLst>
            <a:ahLst/>
            <a:cxnLst>
              <a:cxn ang="0">
                <a:pos x="connsiteX0" y="connsiteY0"/>
              </a:cxn>
              <a:cxn ang="0">
                <a:pos x="connsiteX1" y="connsiteY1"/>
              </a:cxn>
            </a:cxnLst>
            <a:rect l="l" t="t" r="r" b="b"/>
            <a:pathLst>
              <a:path w="12700" h="1668779">
                <a:moveTo>
                  <a:pt x="0" y="0"/>
                </a:moveTo>
                <a:lnTo>
                  <a:pt x="0" y="1668780"/>
                </a:lnTo>
              </a:path>
            </a:pathLst>
          </a:custGeom>
          <a:ln w="12700"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7" name="任意形状 18"/>
          <p:cNvSpPr/>
          <p:nvPr/>
        </p:nvSpPr>
        <p:spPr>
          <a:xfrm>
            <a:off x="3048000" y="4801871"/>
            <a:ext cx="12700" cy="1668779"/>
          </a:xfrm>
          <a:custGeom>
            <a:avLst/>
            <a:gdLst>
              <a:gd name="connsiteX0" fmla="*/ 0 w 12700"/>
              <a:gd name="connsiteY0" fmla="*/ 0 h 1668779"/>
              <a:gd name="connsiteX1" fmla="*/ 0 w 12700"/>
              <a:gd name="connsiteY1" fmla="*/ 1668780 h 1668779"/>
            </a:gdLst>
            <a:ahLst/>
            <a:cxnLst>
              <a:cxn ang="0">
                <a:pos x="connsiteX0" y="connsiteY0"/>
              </a:cxn>
              <a:cxn ang="0">
                <a:pos x="connsiteX1" y="connsiteY1"/>
              </a:cxn>
            </a:cxnLst>
            <a:rect l="l" t="t" r="r" b="b"/>
            <a:pathLst>
              <a:path w="12700" h="1668779">
                <a:moveTo>
                  <a:pt x="0" y="0"/>
                </a:moveTo>
                <a:lnTo>
                  <a:pt x="0" y="16687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8" name="任意形状 19"/>
          <p:cNvSpPr/>
          <p:nvPr/>
        </p:nvSpPr>
        <p:spPr>
          <a:xfrm>
            <a:off x="4776470" y="4801871"/>
            <a:ext cx="12700" cy="1668779"/>
          </a:xfrm>
          <a:custGeom>
            <a:avLst/>
            <a:gdLst>
              <a:gd name="connsiteX0" fmla="*/ 0 w 12700"/>
              <a:gd name="connsiteY0" fmla="*/ 0 h 1668779"/>
              <a:gd name="connsiteX1" fmla="*/ 0 w 12700"/>
              <a:gd name="connsiteY1" fmla="*/ 1668780 h 1668779"/>
            </a:gdLst>
            <a:ahLst/>
            <a:cxnLst>
              <a:cxn ang="0">
                <a:pos x="connsiteX0" y="connsiteY0"/>
              </a:cxn>
              <a:cxn ang="0">
                <a:pos x="connsiteX1" y="connsiteY1"/>
              </a:cxn>
            </a:cxnLst>
            <a:rect l="l" t="t" r="r" b="b"/>
            <a:pathLst>
              <a:path w="12700" h="1668779">
                <a:moveTo>
                  <a:pt x="0" y="0"/>
                </a:moveTo>
                <a:lnTo>
                  <a:pt x="0" y="16687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9" name="任意形状 20"/>
          <p:cNvSpPr/>
          <p:nvPr/>
        </p:nvSpPr>
        <p:spPr>
          <a:xfrm>
            <a:off x="6506209" y="4801871"/>
            <a:ext cx="12700" cy="1668779"/>
          </a:xfrm>
          <a:custGeom>
            <a:avLst/>
            <a:gdLst>
              <a:gd name="connsiteX0" fmla="*/ 0 w 12700"/>
              <a:gd name="connsiteY0" fmla="*/ 0 h 1668779"/>
              <a:gd name="connsiteX1" fmla="*/ 0 w 12700"/>
              <a:gd name="connsiteY1" fmla="*/ 1668780 h 1668779"/>
            </a:gdLst>
            <a:ahLst/>
            <a:cxnLst>
              <a:cxn ang="0">
                <a:pos x="connsiteX0" y="connsiteY0"/>
              </a:cxn>
              <a:cxn ang="0">
                <a:pos x="connsiteX1" y="connsiteY1"/>
              </a:cxn>
            </a:cxnLst>
            <a:rect l="l" t="t" r="r" b="b"/>
            <a:pathLst>
              <a:path w="12700" h="1668779">
                <a:moveTo>
                  <a:pt x="0" y="0"/>
                </a:moveTo>
                <a:lnTo>
                  <a:pt x="0" y="16687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31" name="任意形状 21"/>
          <p:cNvSpPr/>
          <p:nvPr/>
        </p:nvSpPr>
        <p:spPr>
          <a:xfrm>
            <a:off x="8234680" y="4801871"/>
            <a:ext cx="12700" cy="1668779"/>
          </a:xfrm>
          <a:custGeom>
            <a:avLst/>
            <a:gdLst>
              <a:gd name="connsiteX0" fmla="*/ 0 w 12700"/>
              <a:gd name="connsiteY0" fmla="*/ 0 h 1668779"/>
              <a:gd name="connsiteX1" fmla="*/ 0 w 12700"/>
              <a:gd name="connsiteY1" fmla="*/ 1668780 h 1668779"/>
            </a:gdLst>
            <a:ahLst/>
            <a:cxnLst>
              <a:cxn ang="0">
                <a:pos x="connsiteX0" y="connsiteY0"/>
              </a:cxn>
              <a:cxn ang="0">
                <a:pos x="connsiteX1" y="connsiteY1"/>
              </a:cxn>
            </a:cxnLst>
            <a:rect l="l" t="t" r="r" b="b"/>
            <a:pathLst>
              <a:path w="12700" h="1668779">
                <a:moveTo>
                  <a:pt x="0" y="0"/>
                </a:moveTo>
                <a:lnTo>
                  <a:pt x="0" y="16687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37" name="任意形状 22"/>
          <p:cNvSpPr/>
          <p:nvPr/>
        </p:nvSpPr>
        <p:spPr>
          <a:xfrm>
            <a:off x="9963150" y="4801871"/>
            <a:ext cx="12700" cy="1668779"/>
          </a:xfrm>
          <a:custGeom>
            <a:avLst/>
            <a:gdLst>
              <a:gd name="connsiteX0" fmla="*/ 0 w 12700"/>
              <a:gd name="connsiteY0" fmla="*/ 0 h 1668779"/>
              <a:gd name="connsiteX1" fmla="*/ 0 w 12700"/>
              <a:gd name="connsiteY1" fmla="*/ 1668780 h 1668779"/>
            </a:gdLst>
            <a:ahLst/>
            <a:cxnLst>
              <a:cxn ang="0">
                <a:pos x="connsiteX0" y="connsiteY0"/>
              </a:cxn>
              <a:cxn ang="0">
                <a:pos x="connsiteX1" y="connsiteY1"/>
              </a:cxn>
            </a:cxnLst>
            <a:rect l="l" t="t" r="r" b="b"/>
            <a:pathLst>
              <a:path w="12700" h="1668779">
                <a:moveTo>
                  <a:pt x="0" y="0"/>
                </a:moveTo>
                <a:lnTo>
                  <a:pt x="0" y="16687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38" name="任意形状 23"/>
          <p:cNvSpPr/>
          <p:nvPr/>
        </p:nvSpPr>
        <p:spPr>
          <a:xfrm>
            <a:off x="11691620" y="4801871"/>
            <a:ext cx="12700" cy="1668779"/>
          </a:xfrm>
          <a:custGeom>
            <a:avLst/>
            <a:gdLst>
              <a:gd name="connsiteX0" fmla="*/ 0 w 12700"/>
              <a:gd name="connsiteY0" fmla="*/ 0 h 1668779"/>
              <a:gd name="connsiteX1" fmla="*/ 0 w 12700"/>
              <a:gd name="connsiteY1" fmla="*/ 1668780 h 1668779"/>
            </a:gdLst>
            <a:ahLst/>
            <a:cxnLst>
              <a:cxn ang="0">
                <a:pos x="connsiteX0" y="connsiteY0"/>
              </a:cxn>
              <a:cxn ang="0">
                <a:pos x="connsiteX1" y="connsiteY1"/>
              </a:cxn>
            </a:cxnLst>
            <a:rect l="l" t="t" r="r" b="b"/>
            <a:pathLst>
              <a:path w="12700" h="1668779">
                <a:moveTo>
                  <a:pt x="0" y="0"/>
                </a:moveTo>
                <a:lnTo>
                  <a:pt x="0" y="166878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3" name="任意形状 24"/>
          <p:cNvSpPr/>
          <p:nvPr/>
        </p:nvSpPr>
        <p:spPr>
          <a:xfrm>
            <a:off x="425450" y="1160781"/>
            <a:ext cx="721360" cy="721359"/>
          </a:xfrm>
          <a:custGeom>
            <a:avLst/>
            <a:gdLst>
              <a:gd name="connsiteX0" fmla="*/ 0 w 721360"/>
              <a:gd name="connsiteY0" fmla="*/ 0 h 721359"/>
              <a:gd name="connsiteX1" fmla="*/ 721360 w 721360"/>
              <a:gd name="connsiteY1" fmla="*/ 0 h 721359"/>
              <a:gd name="connsiteX2" fmla="*/ 721360 w 721360"/>
              <a:gd name="connsiteY2" fmla="*/ 721360 h 721359"/>
              <a:gd name="connsiteX3" fmla="*/ 0 w 721360"/>
              <a:gd name="connsiteY3" fmla="*/ 721360 h 721359"/>
            </a:gdLst>
            <a:ahLst/>
            <a:cxnLst>
              <a:cxn ang="0">
                <a:pos x="connsiteX0" y="connsiteY0"/>
              </a:cxn>
              <a:cxn ang="0">
                <a:pos x="connsiteX1" y="connsiteY1"/>
              </a:cxn>
              <a:cxn ang="0">
                <a:pos x="connsiteX2" y="connsiteY2"/>
              </a:cxn>
              <a:cxn ang="0">
                <a:pos x="connsiteX3" y="connsiteY3"/>
              </a:cxn>
            </a:cxnLst>
            <a:rect l="l" t="t" r="r" b="b"/>
            <a:pathLst>
              <a:path w="721360" h="721359">
                <a:moveTo>
                  <a:pt x="0" y="0"/>
                </a:moveTo>
                <a:lnTo>
                  <a:pt x="721360" y="0"/>
                </a:lnTo>
                <a:lnTo>
                  <a:pt x="721360" y="721360"/>
                </a:lnTo>
                <a:lnTo>
                  <a:pt x="0" y="721360"/>
                </a:lnTo>
                <a:close/>
              </a:path>
            </a:pathLst>
          </a:custGeom>
          <a:gradFill>
            <a:gsLst>
              <a:gs pos="0">
                <a:srgbClr val="0042FF"/>
              </a:gs>
              <a:gs pos="99000">
                <a:srgbClr val="3368FF"/>
              </a:gs>
            </a:gsLst>
            <a:lin ang="2700000" scaled="0"/>
          </a:gradFill>
          <a:ln w="12700" cap="flat">
            <a:noFill/>
            <a:prstDash val="solid"/>
            <a:miter/>
          </a:ln>
        </p:spPr>
        <p:txBody>
          <a:bodyPr rtlCol="0" anchor="ctr" lIns="0" rIns="0" tIns="0" bIns="0"/>
          <a:lstStyle/>
          <a:p>
            <a:pPr algn="ctr">
              <a:defRPr>
                <a:solidFill>
                  <a:srgbClr val="383838"/>
                </a:solidFill>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48" name="任意形状 25"/>
          <p:cNvSpPr/>
          <p:nvPr/>
        </p:nvSpPr>
        <p:spPr>
          <a:xfrm>
            <a:off x="425450" y="3978911"/>
            <a:ext cx="721360" cy="721360"/>
          </a:xfrm>
          <a:custGeom>
            <a:avLst/>
            <a:gdLst>
              <a:gd name="connsiteX0" fmla="*/ 0 w 721360"/>
              <a:gd name="connsiteY0" fmla="*/ 0 h 721360"/>
              <a:gd name="connsiteX1" fmla="*/ 721360 w 721360"/>
              <a:gd name="connsiteY1" fmla="*/ 0 h 721360"/>
              <a:gd name="connsiteX2" fmla="*/ 721360 w 721360"/>
              <a:gd name="connsiteY2" fmla="*/ 721360 h 721360"/>
              <a:gd name="connsiteX3" fmla="*/ 0 w 721360"/>
              <a:gd name="connsiteY3" fmla="*/ 721360 h 721360"/>
            </a:gdLst>
            <a:ahLst/>
            <a:cxnLst>
              <a:cxn ang="0">
                <a:pos x="connsiteX0" y="connsiteY0"/>
              </a:cxn>
              <a:cxn ang="0">
                <a:pos x="connsiteX1" y="connsiteY1"/>
              </a:cxn>
              <a:cxn ang="0">
                <a:pos x="connsiteX2" y="connsiteY2"/>
              </a:cxn>
              <a:cxn ang="0">
                <a:pos x="connsiteX3" y="connsiteY3"/>
              </a:cxn>
            </a:cxnLst>
            <a:rect l="l" t="t" r="r" b="b"/>
            <a:pathLst>
              <a:path w="721360" h="721360">
                <a:moveTo>
                  <a:pt x="0" y="0"/>
                </a:moveTo>
                <a:lnTo>
                  <a:pt x="721360" y="0"/>
                </a:lnTo>
                <a:lnTo>
                  <a:pt x="721360" y="721360"/>
                </a:lnTo>
                <a:lnTo>
                  <a:pt x="0" y="721360"/>
                </a:lnTo>
                <a:close/>
              </a:path>
            </a:pathLst>
          </a:custGeom>
          <a:gradFill>
            <a:gsLst>
              <a:gs pos="0">
                <a:srgbClr val="3368FF"/>
              </a:gs>
              <a:gs pos="99000">
                <a:srgbClr val="B3D4FE"/>
              </a:gs>
            </a:gsLst>
            <a:lin ang="2700000" scaled="0"/>
          </a:gradFill>
          <a:ln w="12700" cap="flat">
            <a:noFill/>
            <a:prstDash val="solid"/>
            <a:miter/>
          </a:ln>
        </p:spPr>
        <p:txBody>
          <a:bodyPr rtlCol="0" anchor="ctr" lIns="0" rIns="0" tIns="0" bIns="0"/>
          <a:lstStyle/>
          <a:p>
            <a:pPr algn="ctr">
              <a:defRPr>
                <a:latin typeface="微软雅黑"/>
                <a:ea typeface="微软雅黑"/>
                <a:cs typeface="微软雅黑"/>
              </a:defRPr>
            </a:pPr>
            <a:endParaRPr lang="zh-CN" altLang="en-US" dirty="0">
              <a:solidFill>
                <a:srgbClr val="383838"/>
              </a:solidFill>
              <a:latin typeface="微软雅黑"/>
              <a:ea typeface="微软雅黑"/>
              <a:cs typeface="微软雅黑"/>
            </a:endParaRPr>
          </a:p>
        </p:txBody>
      </p:sp>
      <p:sp>
        <p:nvSpPr>
          <p:cNvPr id="70" name="任意形状 30"/>
          <p:cNvSpPr/>
          <p:nvPr/>
        </p:nvSpPr>
        <p:spPr>
          <a:xfrm>
            <a:off x="425450" y="1988095"/>
            <a:ext cx="721360" cy="1670050"/>
          </a:xfrm>
          <a:custGeom>
            <a:avLst/>
            <a:gdLst>
              <a:gd name="connsiteX0" fmla="*/ 0 w 721360"/>
              <a:gd name="connsiteY0" fmla="*/ 0 h 721359"/>
              <a:gd name="connsiteX1" fmla="*/ 721360 w 721360"/>
              <a:gd name="connsiteY1" fmla="*/ 0 h 721359"/>
              <a:gd name="connsiteX2" fmla="*/ 721360 w 721360"/>
              <a:gd name="connsiteY2" fmla="*/ 721360 h 721359"/>
              <a:gd name="connsiteX3" fmla="*/ 0 w 721360"/>
              <a:gd name="connsiteY3" fmla="*/ 721360 h 721359"/>
            </a:gdLst>
            <a:ahLst/>
            <a:cxnLst>
              <a:cxn ang="0">
                <a:pos x="connsiteX0" y="connsiteY0"/>
              </a:cxn>
              <a:cxn ang="0">
                <a:pos x="connsiteX1" y="connsiteY1"/>
              </a:cxn>
              <a:cxn ang="0">
                <a:pos x="connsiteX2" y="connsiteY2"/>
              </a:cxn>
              <a:cxn ang="0">
                <a:pos x="connsiteX3" y="connsiteY3"/>
              </a:cxn>
            </a:cxnLst>
            <a:rect l="l" t="t" r="r" b="b"/>
            <a:pathLst>
              <a:path w="721360" h="721359">
                <a:moveTo>
                  <a:pt x="0" y="0"/>
                </a:moveTo>
                <a:lnTo>
                  <a:pt x="721360" y="0"/>
                </a:lnTo>
                <a:lnTo>
                  <a:pt x="721360" y="721360"/>
                </a:lnTo>
                <a:lnTo>
                  <a:pt x="0" y="721360"/>
                </a:lnTo>
                <a:close/>
              </a:path>
            </a:pathLst>
          </a:custGeom>
          <a:solidFill>
            <a:srgbClr val="FFFFFF"/>
          </a:solidFill>
          <a:ln w="12700" cap="flat">
            <a:solidFill>
              <a:srgbClr val="0042FF"/>
            </a:solidFill>
            <a:prstDash val="solid"/>
            <a:miter/>
          </a:ln>
        </p:spPr>
        <p:txBody>
          <a:bodyPr vert="eaVert" rtlCol="0" anchor="ct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上半年工作计划</a:t>
            </a:r>
            <a:endParaRPr lang="zh-CN" altLang="en-US" sz="1400" b="1" dirty="0">
              <a:solidFill>
                <a:srgbClr val="0042FF"/>
              </a:solidFill>
              <a:latin typeface="微软雅黑"/>
              <a:ea typeface="微软雅黑"/>
              <a:cs typeface="微软雅黑"/>
            </a:endParaRPr>
          </a:p>
        </p:txBody>
      </p:sp>
      <p:sp>
        <p:nvSpPr>
          <p:cNvPr id="71" name="任意形状 31"/>
          <p:cNvSpPr/>
          <p:nvPr/>
        </p:nvSpPr>
        <p:spPr>
          <a:xfrm>
            <a:off x="425450" y="4796609"/>
            <a:ext cx="721360" cy="1670050"/>
          </a:xfrm>
          <a:custGeom>
            <a:avLst/>
            <a:gdLst>
              <a:gd name="connsiteX0" fmla="*/ 0 w 721360"/>
              <a:gd name="connsiteY0" fmla="*/ 0 h 721359"/>
              <a:gd name="connsiteX1" fmla="*/ 721360 w 721360"/>
              <a:gd name="connsiteY1" fmla="*/ 0 h 721359"/>
              <a:gd name="connsiteX2" fmla="*/ 721360 w 721360"/>
              <a:gd name="connsiteY2" fmla="*/ 721360 h 721359"/>
              <a:gd name="connsiteX3" fmla="*/ 0 w 721360"/>
              <a:gd name="connsiteY3" fmla="*/ 721360 h 721359"/>
            </a:gdLst>
            <a:ahLst/>
            <a:cxnLst>
              <a:cxn ang="0">
                <a:pos x="connsiteX0" y="connsiteY0"/>
              </a:cxn>
              <a:cxn ang="0">
                <a:pos x="connsiteX1" y="connsiteY1"/>
              </a:cxn>
              <a:cxn ang="0">
                <a:pos x="connsiteX2" y="connsiteY2"/>
              </a:cxn>
              <a:cxn ang="0">
                <a:pos x="connsiteX3" y="connsiteY3"/>
              </a:cxn>
            </a:cxnLst>
            <a:rect l="l" t="t" r="r" b="b"/>
            <a:pathLst>
              <a:path w="721360" h="721359">
                <a:moveTo>
                  <a:pt x="0" y="0"/>
                </a:moveTo>
                <a:lnTo>
                  <a:pt x="721360" y="0"/>
                </a:lnTo>
                <a:lnTo>
                  <a:pt x="721360" y="721360"/>
                </a:lnTo>
                <a:lnTo>
                  <a:pt x="0" y="721360"/>
                </a:lnTo>
                <a:close/>
              </a:path>
            </a:pathLst>
          </a:custGeom>
          <a:solidFill>
            <a:srgbClr val="FFFFFF"/>
          </a:solidFill>
          <a:ln w="12700" cap="flat">
            <a:solidFill>
              <a:srgbClr val="3368FF"/>
            </a:solidFill>
            <a:prstDash val="solid"/>
            <a:miter/>
          </a:ln>
        </p:spPr>
        <p:txBody>
          <a:bodyPr vert="eaVert" rtlCol="0" anchor="ctr"/>
          <a:lstStyle/>
          <a:p>
            <a:pPr algn="ctr">
              <a:defRPr>
                <a:latin typeface="微软雅黑"/>
                <a:ea typeface="微软雅黑"/>
                <a:cs typeface="微软雅黑"/>
              </a:defRPr>
            </a:pPr>
            <a:r>
              <a:rPr lang="zh-CN" altLang="en-US" sz="1400" b="1" dirty="0">
                <a:solidFill>
                  <a:srgbClr val="0042FF"/>
                </a:solidFill>
                <a:latin typeface="微软雅黑"/>
                <a:ea typeface="微软雅黑"/>
                <a:cs typeface="微软雅黑"/>
              </a:rPr>
              <a:t>下半年工作计划</a:t>
            </a:r>
            <a:endParaRPr lang="zh-CN" altLang="en-US" sz="1400" b="1" dirty="0">
              <a:solidFill>
                <a:srgbClr val="0042FF"/>
              </a:solidFill>
              <a:latin typeface="微软雅黑"/>
              <a:ea typeface="微软雅黑"/>
              <a:cs typeface="微软雅黑"/>
            </a:endParaRPr>
          </a:p>
        </p:txBody>
      </p:sp>
      <p:cxnSp>
        <p:nvCxnSpPr>
          <p:cNvPr id="78" name="直线连接符 38"/>
          <p:cNvCxnSpPr/>
          <p:nvPr/>
        </p:nvCxnSpPr>
        <p:spPr>
          <a:xfrm>
            <a:off x="1455568" y="1521460"/>
            <a:ext cx="10248752" cy="0"/>
          </a:xfrm>
          <a:prstGeom prst="line">
            <a:avLst/>
          </a:prstGeom>
          <a:ln w="15875">
            <a:solidFill>
              <a:srgbClr val="FFFFFF"/>
            </a:solidFill>
            <a:tailEnd type="triangle" w="lg" len="med"/>
          </a:ln>
        </p:spPr>
        <p:style>
          <a:lnRef idx="2">
            <a:srgbClr val="0042FF"/>
          </a:lnRef>
          <a:fillRef idx="0">
            <a:srgbClr val="0042FF"/>
          </a:fillRef>
          <a:effectRef idx="1">
            <a:srgbClr val="0042FF"/>
          </a:effectRef>
          <a:fontRef idx="minor">
            <a:srgbClr val="383838"/>
          </a:fontRef>
        </p:style>
      </p:cxnSp>
      <p:sp>
        <p:nvSpPr>
          <p:cNvPr id="79" name="圆角矩形 78"/>
          <p:cNvSpPr/>
          <p:nvPr/>
        </p:nvSpPr>
        <p:spPr>
          <a:xfrm>
            <a:off x="1676400" y="1361440"/>
            <a:ext cx="1186759" cy="320040"/>
          </a:xfrm>
          <a:prstGeom prst="roundRect">
            <a:avLst>
              <a:gd name="adj" fmla="val 50000"/>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1</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0" name="圆角矩形 79"/>
          <p:cNvSpPr/>
          <p:nvPr/>
        </p:nvSpPr>
        <p:spPr>
          <a:xfrm>
            <a:off x="3405088" y="1361440"/>
            <a:ext cx="1186759" cy="320040"/>
          </a:xfrm>
          <a:prstGeom prst="roundRect">
            <a:avLst>
              <a:gd name="adj" fmla="val 50000"/>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2</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1" name="圆角矩形 80"/>
          <p:cNvSpPr/>
          <p:nvPr/>
        </p:nvSpPr>
        <p:spPr>
          <a:xfrm>
            <a:off x="5133776" y="1361440"/>
            <a:ext cx="1186759" cy="320040"/>
          </a:xfrm>
          <a:prstGeom prst="roundRect">
            <a:avLst>
              <a:gd name="adj" fmla="val 50000"/>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3</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2" name="圆角矩形 81"/>
          <p:cNvSpPr/>
          <p:nvPr/>
        </p:nvSpPr>
        <p:spPr>
          <a:xfrm>
            <a:off x="6862464" y="1361440"/>
            <a:ext cx="1186759" cy="320040"/>
          </a:xfrm>
          <a:prstGeom prst="roundRect">
            <a:avLst>
              <a:gd name="adj" fmla="val 50000"/>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4</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3" name="圆角矩形 82"/>
          <p:cNvSpPr/>
          <p:nvPr/>
        </p:nvSpPr>
        <p:spPr>
          <a:xfrm>
            <a:off x="8591152" y="1361440"/>
            <a:ext cx="1186759" cy="320040"/>
          </a:xfrm>
          <a:prstGeom prst="roundRect">
            <a:avLst>
              <a:gd name="adj" fmla="val 50000"/>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5</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4" name="圆角矩形 83"/>
          <p:cNvSpPr/>
          <p:nvPr/>
        </p:nvSpPr>
        <p:spPr>
          <a:xfrm>
            <a:off x="10319839" y="1361440"/>
            <a:ext cx="1186759" cy="320040"/>
          </a:xfrm>
          <a:prstGeom prst="roundRect">
            <a:avLst>
              <a:gd name="adj" fmla="val 50000"/>
            </a:avLst>
          </a:prstGeom>
          <a:solidFill>
            <a:srgbClr val="FFFFFF"/>
          </a:solidFill>
          <a:ln w="19050">
            <a:solidFill>
              <a:srgbClr val="0042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6</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5" name="任意形状 48"/>
          <p:cNvSpPr/>
          <p:nvPr/>
        </p:nvSpPr>
        <p:spPr>
          <a:xfrm>
            <a:off x="1319530" y="3980181"/>
            <a:ext cx="10513955" cy="721359"/>
          </a:xfrm>
          <a:custGeom>
            <a:avLst/>
            <a:gdLst>
              <a:gd name="connsiteX0" fmla="*/ 0 w 10372089"/>
              <a:gd name="connsiteY0" fmla="*/ 0 h 721359"/>
              <a:gd name="connsiteX1" fmla="*/ 0 w 10372089"/>
              <a:gd name="connsiteY1" fmla="*/ 360680 h 721359"/>
              <a:gd name="connsiteX2" fmla="*/ 0 w 10372089"/>
              <a:gd name="connsiteY2" fmla="*/ 721360 h 721359"/>
              <a:gd name="connsiteX3" fmla="*/ 10233660 w 10372089"/>
              <a:gd name="connsiteY3" fmla="*/ 721360 h 721359"/>
              <a:gd name="connsiteX4" fmla="*/ 10372090 w 10372089"/>
              <a:gd name="connsiteY4" fmla="*/ 360680 h 721359"/>
              <a:gd name="connsiteX5" fmla="*/ 10233660 w 10372089"/>
              <a:gd name="connsiteY5" fmla="*/ 0 h 721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72089" h="721359">
                <a:moveTo>
                  <a:pt x="0" y="0"/>
                </a:moveTo>
                <a:lnTo>
                  <a:pt x="0" y="360680"/>
                </a:lnTo>
                <a:lnTo>
                  <a:pt x="0" y="721360"/>
                </a:lnTo>
                <a:lnTo>
                  <a:pt x="10233660" y="721360"/>
                </a:lnTo>
                <a:lnTo>
                  <a:pt x="10372090" y="360680"/>
                </a:lnTo>
                <a:lnTo>
                  <a:pt x="10233660" y="0"/>
                </a:lnTo>
                <a:close/>
              </a:path>
            </a:pathLst>
          </a:custGeom>
          <a:gradFill>
            <a:gsLst>
              <a:gs pos="0">
                <a:srgbClr val="3368FF"/>
              </a:gs>
              <a:gs pos="99000">
                <a:srgbClr val="B3D4FE"/>
              </a:gs>
            </a:gsLst>
            <a:lin ang="10800000" scaled="0"/>
          </a:gradFill>
          <a:ln w="12700" cap="flat">
            <a:noFill/>
            <a:prstDash val="solid"/>
            <a:miter/>
          </a:ln>
        </p:spPr>
        <p:txBody>
          <a:bodyPr rtlCol="0" anchor="ctr" lIns="0" rIns="0" tIns="0" bIns="0">
            <a:noAutofit/>
          </a:bodyPr>
          <a:lstStyle/>
          <a:p>
            <a:pPr lvl="0" algn="l">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cxnSp>
        <p:nvCxnSpPr>
          <p:cNvPr id="86" name="直线连接符 49"/>
          <p:cNvCxnSpPr/>
          <p:nvPr/>
        </p:nvCxnSpPr>
        <p:spPr>
          <a:xfrm>
            <a:off x="1455568" y="4340860"/>
            <a:ext cx="10248752" cy="0"/>
          </a:xfrm>
          <a:prstGeom prst="line">
            <a:avLst/>
          </a:prstGeom>
          <a:ln w="15875">
            <a:solidFill>
              <a:srgbClr val="FFFFFF"/>
            </a:solidFill>
            <a:tailEnd type="triangle" w="lg" len="med"/>
          </a:ln>
        </p:spPr>
        <p:style>
          <a:lnRef idx="2">
            <a:srgbClr val="0042FF"/>
          </a:lnRef>
          <a:fillRef idx="0">
            <a:srgbClr val="0042FF"/>
          </a:fillRef>
          <a:effectRef idx="1">
            <a:srgbClr val="0042FF"/>
          </a:effectRef>
          <a:fontRef idx="minor">
            <a:srgbClr val="383838"/>
          </a:fontRef>
        </p:style>
      </p:cxnSp>
      <p:sp>
        <p:nvSpPr>
          <p:cNvPr id="87" name="圆角矩形 86"/>
          <p:cNvSpPr/>
          <p:nvPr/>
        </p:nvSpPr>
        <p:spPr>
          <a:xfrm>
            <a:off x="1676400" y="4180840"/>
            <a:ext cx="1186759" cy="320040"/>
          </a:xfrm>
          <a:prstGeom prst="roundRect">
            <a:avLst>
              <a:gd name="adj" fmla="val 50000"/>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7</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8" name="圆角矩形 87"/>
          <p:cNvSpPr/>
          <p:nvPr/>
        </p:nvSpPr>
        <p:spPr>
          <a:xfrm>
            <a:off x="3405088" y="4180840"/>
            <a:ext cx="1186759" cy="320040"/>
          </a:xfrm>
          <a:prstGeom prst="roundRect">
            <a:avLst>
              <a:gd name="adj" fmla="val 50000"/>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8</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89" name="圆角矩形 88"/>
          <p:cNvSpPr/>
          <p:nvPr/>
        </p:nvSpPr>
        <p:spPr>
          <a:xfrm>
            <a:off x="5133776" y="4180840"/>
            <a:ext cx="1186759" cy="320040"/>
          </a:xfrm>
          <a:prstGeom prst="roundRect">
            <a:avLst>
              <a:gd name="adj" fmla="val 50000"/>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9</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90" name="圆角矩形 89"/>
          <p:cNvSpPr/>
          <p:nvPr/>
        </p:nvSpPr>
        <p:spPr>
          <a:xfrm>
            <a:off x="6862464" y="4180840"/>
            <a:ext cx="1186759" cy="320040"/>
          </a:xfrm>
          <a:prstGeom prst="roundRect">
            <a:avLst>
              <a:gd name="adj" fmla="val 50000"/>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10</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91" name="圆角矩形 90"/>
          <p:cNvSpPr/>
          <p:nvPr/>
        </p:nvSpPr>
        <p:spPr>
          <a:xfrm>
            <a:off x="8591152" y="4180840"/>
            <a:ext cx="1186759" cy="320040"/>
          </a:xfrm>
          <a:prstGeom prst="roundRect">
            <a:avLst>
              <a:gd name="adj" fmla="val 50000"/>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11</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92" name="圆角矩形 91"/>
          <p:cNvSpPr/>
          <p:nvPr/>
        </p:nvSpPr>
        <p:spPr>
          <a:xfrm>
            <a:off x="10319839" y="4180840"/>
            <a:ext cx="1186759" cy="320040"/>
          </a:xfrm>
          <a:prstGeom prst="roundRect">
            <a:avLst>
              <a:gd name="adj" fmla="val 50000"/>
            </a:avLst>
          </a:prstGeom>
          <a:solidFill>
            <a:srgbClr val="FFFFFF"/>
          </a:solidFill>
          <a:ln w="19050">
            <a:solidFill>
              <a:srgbClr val="3368FF"/>
            </a:solidFill>
          </a:ln>
        </p:spPr>
        <p:style>
          <a:lnRef idx="2">
            <a:srgbClr val="0042FF"/>
          </a:lnRef>
          <a:fillRef idx="1">
            <a:srgbClr val="0042FF"/>
          </a:fillRef>
          <a:effectRef idx="0">
            <a:srgbClr val="0042FF"/>
          </a:effectRef>
          <a:fontRef idx="minor">
            <a:srgbClr val="FFFFFF"/>
          </a:fontRef>
        </p:style>
        <p:txBody>
          <a:bodyPr rtlCol="0" anchor="ctr"/>
          <a:lstStyle/>
          <a:p>
            <a:pPr algn="ctr">
              <a:defRPr>
                <a:latin typeface="微软雅黑"/>
                <a:ea typeface="微软雅黑"/>
                <a:cs typeface="微软雅黑"/>
              </a:defRPr>
            </a:pPr>
            <a:r>
              <a:rPr kumimoji="1" lang="en-US" altLang="zh-CN" sz="1400" b="1" dirty="0">
                <a:solidFill>
                  <a:srgbClr val="0042FF"/>
                </a:solidFill>
                <a:latin typeface="微软雅黑"/>
                <a:ea typeface="微软雅黑"/>
                <a:cs typeface="微软雅黑"/>
              </a:rPr>
              <a:t>12</a:t>
            </a:r>
            <a:r>
              <a:rPr kumimoji="1" lang="zh-CN" altLang="en-US" sz="1400" b="1" dirty="0">
                <a:solidFill>
                  <a:srgbClr val="0042FF"/>
                </a:solidFill>
                <a:latin typeface="微软雅黑"/>
                <a:ea typeface="微软雅黑"/>
                <a:cs typeface="微软雅黑"/>
              </a:rPr>
              <a:t>月</a:t>
            </a:r>
            <a:endParaRPr kumimoji="1" lang="zh-CN" altLang="en-US" sz="1400" b="1" dirty="0">
              <a:solidFill>
                <a:srgbClr val="0042FF"/>
              </a:solidFill>
              <a:latin typeface="微软雅黑"/>
              <a:ea typeface="微软雅黑"/>
              <a:cs typeface="微软雅黑"/>
            </a:endParaRPr>
          </a:p>
        </p:txBody>
      </p:sp>
      <p:sp>
        <p:nvSpPr>
          <p:cNvPr id="93" name="椭圆 92"/>
          <p:cNvSpPr/>
          <p:nvPr/>
        </p:nvSpPr>
        <p:spPr>
          <a:xfrm>
            <a:off x="540698" y="1276028"/>
            <a:ext cx="490865" cy="49086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sp>
        <p:nvSpPr>
          <p:cNvPr id="94" name="椭圆 93"/>
          <p:cNvSpPr/>
          <p:nvPr/>
        </p:nvSpPr>
        <p:spPr>
          <a:xfrm>
            <a:off x="540698" y="4094159"/>
            <a:ext cx="490865" cy="490865"/>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endParaRPr>
          </a:p>
        </p:txBody>
      </p:sp>
      <p:grpSp>
        <p:nvGrpSpPr>
          <p:cNvPr id="95" name="Google Shape;10776;p79"/>
          <p:cNvGrpSpPr/>
          <p:nvPr/>
        </p:nvGrpSpPr>
        <p:grpSpPr>
          <a:xfrm>
            <a:off x="635816" y="4232018"/>
            <a:ext cx="285989" cy="217684"/>
            <a:chOff x="-47523400" y="3973950"/>
            <a:chExt cx="300100" cy="228425"/>
          </a:xfrm>
          <a:gradFill>
            <a:gsLst>
              <a:gs pos="0">
                <a:srgbClr val="3368FF"/>
              </a:gs>
              <a:gs pos="99000">
                <a:srgbClr val="B3D4FE"/>
              </a:gs>
            </a:gsLst>
            <a:lin ang="2700000" scaled="0"/>
          </a:gradFill>
        </p:grpSpPr>
        <p:sp>
          <p:nvSpPr>
            <p:cNvPr id="96" name="Google Shape;10777;p79"/>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grpFill/>
            <a:ln>
              <a:noFill/>
            </a:ln>
          </p:spPr>
          <p:txBody>
            <a:bodyPr spcFirstLastPara="1" wrap="square" lIns="0" tIns="0" rIns="0" bIns="0" anchor="ctr" anchorCtr="0">
              <a:noAutofit/>
            </a:bodyPr>
            <a:lstStyle/>
            <a:p>
              <a:pPr marL="0" lvl="0" indent="0" algn="l" rtl="0">
                <a:spcBef>
                  <a:spcPts val="0"/>
                </a:spcBef>
                <a:spcAft>
                  <a:spcPts val="0"/>
                </a:spcAft>
                <a:buNone/>
                <a:defRPr>
                  <a:latin typeface="微软雅黑"/>
                  <a:ea typeface="微软雅黑"/>
                  <a:cs typeface="微软雅黑"/>
                </a:defRPr>
              </a:pPr>
              <a:endParaRPr>
                <a:latin typeface="微软雅黑"/>
                <a:ea typeface="微软雅黑"/>
                <a:cs typeface="微软雅黑"/>
              </a:endParaRPr>
            </a:p>
          </p:txBody>
        </p:sp>
        <p:sp>
          <p:nvSpPr>
            <p:cNvPr id="97" name="Google Shape;10778;p79"/>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grpFill/>
            <a:ln>
              <a:noFill/>
            </a:ln>
          </p:spPr>
          <p:txBody>
            <a:bodyPr spcFirstLastPara="1" wrap="square" lIns="0" tIns="0" rIns="0" bIns="0" anchor="ctr" anchorCtr="0">
              <a:noAutofit/>
            </a:bodyPr>
            <a:lstStyle/>
            <a:p>
              <a:pPr marL="0" lvl="0" indent="0" algn="l" rtl="0">
                <a:spcBef>
                  <a:spcPts val="0"/>
                </a:spcBef>
                <a:spcAft>
                  <a:spcPts val="0"/>
                </a:spcAft>
                <a:buNone/>
                <a:defRPr>
                  <a:latin typeface="微软雅黑"/>
                  <a:ea typeface="微软雅黑"/>
                  <a:cs typeface="微软雅黑"/>
                </a:defRPr>
              </a:pPr>
              <a:endParaRPr>
                <a:latin typeface="微软雅黑"/>
                <a:ea typeface="微软雅黑"/>
                <a:cs typeface="微软雅黑"/>
              </a:endParaRPr>
            </a:p>
          </p:txBody>
        </p:sp>
        <p:sp>
          <p:nvSpPr>
            <p:cNvPr id="98" name="Google Shape;10779;p79"/>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grpFill/>
            <a:ln>
              <a:noFill/>
            </a:ln>
          </p:spPr>
          <p:txBody>
            <a:bodyPr spcFirstLastPara="1" wrap="square" lIns="0" tIns="0" rIns="0" bIns="0" anchor="ctr" anchorCtr="0">
              <a:noAutofit/>
            </a:bodyPr>
            <a:lstStyle/>
            <a:p>
              <a:pPr marL="0" lvl="0" indent="0" algn="l" rtl="0">
                <a:spcBef>
                  <a:spcPts val="0"/>
                </a:spcBef>
                <a:spcAft>
                  <a:spcPts val="0"/>
                </a:spcAft>
                <a:buNone/>
                <a:defRPr>
                  <a:latin typeface="微软雅黑"/>
                  <a:ea typeface="微软雅黑"/>
                  <a:cs typeface="微软雅黑"/>
                </a:defRPr>
              </a:pPr>
              <a:endParaRPr>
                <a:latin typeface="微软雅黑"/>
                <a:ea typeface="微软雅黑"/>
                <a:cs typeface="微软雅黑"/>
              </a:endParaRPr>
            </a:p>
          </p:txBody>
        </p:sp>
        <p:sp>
          <p:nvSpPr>
            <p:cNvPr id="99" name="Google Shape;10780;p79"/>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grpFill/>
            <a:ln>
              <a:noFill/>
            </a:ln>
          </p:spPr>
          <p:txBody>
            <a:bodyPr spcFirstLastPara="1" wrap="square" lIns="0" tIns="0" rIns="0" bIns="0" anchor="ctr" anchorCtr="0">
              <a:noAutofit/>
            </a:bodyPr>
            <a:lstStyle/>
            <a:p>
              <a:pPr marL="0" lvl="0" indent="0" algn="l" rtl="0">
                <a:spcBef>
                  <a:spcPts val="0"/>
                </a:spcBef>
                <a:spcAft>
                  <a:spcPts val="0"/>
                </a:spcAft>
                <a:buNone/>
                <a:defRPr>
                  <a:latin typeface="微软雅黑"/>
                  <a:ea typeface="微软雅黑"/>
                  <a:cs typeface="微软雅黑"/>
                </a:defRPr>
              </a:pPr>
              <a:endParaRPr>
                <a:latin typeface="微软雅黑"/>
                <a:ea typeface="微软雅黑"/>
                <a:cs typeface="微软雅黑"/>
              </a:endParaRPr>
            </a:p>
          </p:txBody>
        </p:sp>
        <p:sp>
          <p:nvSpPr>
            <p:cNvPr id="100" name="Google Shape;10781;p79"/>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grpFill/>
            <a:ln>
              <a:noFill/>
            </a:ln>
          </p:spPr>
          <p:txBody>
            <a:bodyPr spcFirstLastPara="1" wrap="square" lIns="0" tIns="0" rIns="0" bIns="0" anchor="ctr" anchorCtr="0">
              <a:noAutofit/>
            </a:bodyPr>
            <a:lstStyle/>
            <a:p>
              <a:pPr marL="0" lvl="0" indent="0" algn="l" rtl="0">
                <a:spcBef>
                  <a:spcPts val="0"/>
                </a:spcBef>
                <a:spcAft>
                  <a:spcPts val="0"/>
                </a:spcAft>
                <a:buNone/>
                <a:defRPr>
                  <a:latin typeface="微软雅黑"/>
                  <a:ea typeface="微软雅黑"/>
                  <a:cs typeface="微软雅黑"/>
                </a:defRPr>
              </a:pPr>
              <a:endParaRPr>
                <a:latin typeface="微软雅黑"/>
                <a:ea typeface="微软雅黑"/>
                <a:cs typeface="微软雅黑"/>
              </a:endParaRPr>
            </a:p>
          </p:txBody>
        </p:sp>
      </p:grpSp>
      <p:sp>
        <p:nvSpPr>
          <p:cNvPr id="101" name="Freeform 20"/>
          <p:cNvSpPr>
            <a:spLocks noChangeArrowheads="1"/>
          </p:cNvSpPr>
          <p:nvPr/>
        </p:nvSpPr>
        <p:spPr bwMode="auto">
          <a:xfrm>
            <a:off x="658433" y="1393763"/>
            <a:ext cx="255395" cy="255395"/>
          </a:xfrm>
          <a:custGeom>
            <a:avLst/>
            <a:gdLst>
              <a:gd name="T0" fmla="*/ 933 w 1166"/>
              <a:gd name="T1" fmla="*/ 350 h 1165"/>
              <a:gd name="T2" fmla="*/ 933 w 1166"/>
              <a:gd name="T3" fmla="*/ 232 h 1165"/>
              <a:gd name="T4" fmla="*/ 233 w 1166"/>
              <a:gd name="T5" fmla="*/ 232 h 1165"/>
              <a:gd name="T6" fmla="*/ 233 w 1166"/>
              <a:gd name="T7" fmla="*/ 350 h 1165"/>
              <a:gd name="T8" fmla="*/ 933 w 1166"/>
              <a:gd name="T9" fmla="*/ 350 h 1165"/>
              <a:gd name="T10" fmla="*/ 933 w 1166"/>
              <a:gd name="T11" fmla="*/ 524 h 1165"/>
              <a:gd name="T12" fmla="*/ 933 w 1166"/>
              <a:gd name="T13" fmla="*/ 407 h 1165"/>
              <a:gd name="T14" fmla="*/ 233 w 1166"/>
              <a:gd name="T15" fmla="*/ 407 h 1165"/>
              <a:gd name="T16" fmla="*/ 233 w 1166"/>
              <a:gd name="T17" fmla="*/ 524 h 1165"/>
              <a:gd name="T18" fmla="*/ 933 w 1166"/>
              <a:gd name="T19" fmla="*/ 524 h 1165"/>
              <a:gd name="T20" fmla="*/ 933 w 1166"/>
              <a:gd name="T21" fmla="*/ 699 h 1165"/>
              <a:gd name="T22" fmla="*/ 933 w 1166"/>
              <a:gd name="T23" fmla="*/ 582 h 1165"/>
              <a:gd name="T24" fmla="*/ 233 w 1166"/>
              <a:gd name="T25" fmla="*/ 582 h 1165"/>
              <a:gd name="T26" fmla="*/ 233 w 1166"/>
              <a:gd name="T27" fmla="*/ 699 h 1165"/>
              <a:gd name="T28" fmla="*/ 933 w 1166"/>
              <a:gd name="T29" fmla="*/ 699 h 1165"/>
              <a:gd name="T30" fmla="*/ 1165 w 1166"/>
              <a:gd name="T31" fmla="*/ 114 h 1165"/>
              <a:gd name="T32" fmla="*/ 1165 w 1166"/>
              <a:gd name="T33" fmla="*/ 1164 h 1165"/>
              <a:gd name="T34" fmla="*/ 933 w 1166"/>
              <a:gd name="T35" fmla="*/ 932 h 1165"/>
              <a:gd name="T36" fmla="*/ 115 w 1166"/>
              <a:gd name="T37" fmla="*/ 932 h 1165"/>
              <a:gd name="T38" fmla="*/ 0 w 1166"/>
              <a:gd name="T39" fmla="*/ 814 h 1165"/>
              <a:gd name="T40" fmla="*/ 0 w 1166"/>
              <a:gd name="T41" fmla="*/ 114 h 1165"/>
              <a:gd name="T42" fmla="*/ 115 w 1166"/>
              <a:gd name="T43" fmla="*/ 0 h 1165"/>
              <a:gd name="T44" fmla="*/ 1050 w 1166"/>
              <a:gd name="T45" fmla="*/ 0 h 1165"/>
              <a:gd name="T46" fmla="*/ 1165 w 1166"/>
              <a:gd name="T47" fmla="*/ 114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66" h="1165">
                <a:moveTo>
                  <a:pt x="933" y="350"/>
                </a:moveTo>
                <a:lnTo>
                  <a:pt x="933" y="232"/>
                </a:lnTo>
                <a:lnTo>
                  <a:pt x="233" y="232"/>
                </a:lnTo>
                <a:lnTo>
                  <a:pt x="233" y="350"/>
                </a:lnTo>
                <a:lnTo>
                  <a:pt x="933" y="350"/>
                </a:lnTo>
                <a:close/>
                <a:moveTo>
                  <a:pt x="933" y="524"/>
                </a:moveTo>
                <a:lnTo>
                  <a:pt x="933" y="407"/>
                </a:lnTo>
                <a:lnTo>
                  <a:pt x="233" y="407"/>
                </a:lnTo>
                <a:lnTo>
                  <a:pt x="233" y="524"/>
                </a:lnTo>
                <a:lnTo>
                  <a:pt x="933" y="524"/>
                </a:lnTo>
                <a:close/>
                <a:moveTo>
                  <a:pt x="933" y="699"/>
                </a:moveTo>
                <a:lnTo>
                  <a:pt x="933" y="582"/>
                </a:lnTo>
                <a:lnTo>
                  <a:pt x="233" y="582"/>
                </a:lnTo>
                <a:lnTo>
                  <a:pt x="233" y="699"/>
                </a:lnTo>
                <a:lnTo>
                  <a:pt x="933" y="699"/>
                </a:lnTo>
                <a:close/>
                <a:moveTo>
                  <a:pt x="1165" y="114"/>
                </a:moveTo>
                <a:lnTo>
                  <a:pt x="1165" y="1164"/>
                </a:lnTo>
                <a:lnTo>
                  <a:pt x="933" y="932"/>
                </a:lnTo>
                <a:lnTo>
                  <a:pt x="115" y="932"/>
                </a:lnTo>
                <a:cubicBezTo>
                  <a:pt x="52" y="932"/>
                  <a:pt x="0" y="877"/>
                  <a:pt x="0" y="814"/>
                </a:cubicBezTo>
                <a:lnTo>
                  <a:pt x="0" y="114"/>
                </a:lnTo>
                <a:cubicBezTo>
                  <a:pt x="0" y="51"/>
                  <a:pt x="52" y="0"/>
                  <a:pt x="115" y="0"/>
                </a:cubicBezTo>
                <a:lnTo>
                  <a:pt x="1050" y="0"/>
                </a:lnTo>
                <a:cubicBezTo>
                  <a:pt x="1113" y="0"/>
                  <a:pt x="1165" y="51"/>
                  <a:pt x="1165" y="114"/>
                </a:cubicBezTo>
                <a:close/>
              </a:path>
            </a:pathLst>
          </a:custGeom>
          <a:gradFill>
            <a:gsLst>
              <a:gs pos="0">
                <a:srgbClr val="0042FF"/>
              </a:gs>
              <a:gs pos="99000">
                <a:srgbClr val="3368FF"/>
              </a:gs>
            </a:gsLst>
            <a:lin ang="2700000" scaled="0"/>
          </a:gradFill>
          <a:ln>
            <a:noFill/>
          </a:ln>
          <a:effectLst/>
        </p:spPr>
        <p:txBody>
          <a:bodyPr wrap="none" anchor="ctr" lIns="0" rIns="0" tIns="0" bIns="0"/>
          <a:lstStyle>
            <a:defPPr>
              <a:defRPr lang="en-GB">
                <a:solidFill>
                  <a:srgbClr val="FFFFFF"/>
                </a:solidFill>
                <a:latin typeface="微软雅黑"/>
                <a:ea typeface="微软雅黑"/>
                <a:cs typeface="微软雅黑"/>
              </a:defRPr>
            </a:defPPr>
            <a:lvl1pPr algn="l" defTabSz="457200" rtl="0" fontAlgn="base" hangingPunct="0">
              <a:lnSpc>
                <a:spcPct val="93000"/>
              </a:lnSpc>
              <a:spcBef>
                <a:spcPct val="0"/>
              </a:spcBef>
              <a:spcAft>
                <a:spcPct val="0"/>
              </a:spcAft>
              <a:buClr>
                <a:srgbClr val="383838"/>
              </a:buClr>
              <a:buSzPct val="100000"/>
              <a:buFont typeface="微软雅黑"/>
              <a:defRPr kern="1200">
                <a:solidFill>
                  <a:srgbClr val="FFFFFF"/>
                </a:solidFill>
                <a:latin typeface="微软雅黑"/>
                <a:ea typeface="微软雅黑"/>
                <a:cs typeface="微软雅黑"/>
              </a:defRPr>
            </a:lvl1pPr>
            <a:lvl2pPr marL="742950" indent="-285750" algn="l" defTabSz="457200" rtl="0" fontAlgn="base" hangingPunct="0">
              <a:lnSpc>
                <a:spcPct val="93000"/>
              </a:lnSpc>
              <a:spcBef>
                <a:spcPct val="0"/>
              </a:spcBef>
              <a:spcAft>
                <a:spcPct val="0"/>
              </a:spcAft>
              <a:buClr>
                <a:srgbClr val="383838"/>
              </a:buClr>
              <a:buSzPct val="100000"/>
              <a:buFont typeface="微软雅黑"/>
              <a:defRPr kern="1200">
                <a:solidFill>
                  <a:srgbClr val="FFFFFF"/>
                </a:solidFill>
                <a:latin typeface="微软雅黑"/>
                <a:ea typeface="微软雅黑"/>
                <a:cs typeface="微软雅黑"/>
              </a:defRPr>
            </a:lvl2pPr>
            <a:lvl3pPr marL="1143000" indent="-228600" algn="l" defTabSz="457200" rtl="0" fontAlgn="base" hangingPunct="0">
              <a:lnSpc>
                <a:spcPct val="93000"/>
              </a:lnSpc>
              <a:spcBef>
                <a:spcPct val="0"/>
              </a:spcBef>
              <a:spcAft>
                <a:spcPct val="0"/>
              </a:spcAft>
              <a:buClr>
                <a:srgbClr val="383838"/>
              </a:buClr>
              <a:buSzPct val="100000"/>
              <a:buFont typeface="微软雅黑"/>
              <a:defRPr kern="1200">
                <a:solidFill>
                  <a:srgbClr val="FFFFFF"/>
                </a:solidFill>
                <a:latin typeface="微软雅黑"/>
                <a:ea typeface="微软雅黑"/>
                <a:cs typeface="微软雅黑"/>
              </a:defRPr>
            </a:lvl3pPr>
            <a:lvl4pPr marL="1600200" indent="-228600" algn="l" defTabSz="457200" rtl="0" fontAlgn="base" hangingPunct="0">
              <a:lnSpc>
                <a:spcPct val="93000"/>
              </a:lnSpc>
              <a:spcBef>
                <a:spcPct val="0"/>
              </a:spcBef>
              <a:spcAft>
                <a:spcPct val="0"/>
              </a:spcAft>
              <a:buClr>
                <a:srgbClr val="383838"/>
              </a:buClr>
              <a:buSzPct val="100000"/>
              <a:buFont typeface="微软雅黑"/>
              <a:defRPr kern="1200">
                <a:solidFill>
                  <a:srgbClr val="FFFFFF"/>
                </a:solidFill>
                <a:latin typeface="微软雅黑"/>
                <a:ea typeface="微软雅黑"/>
                <a:cs typeface="微软雅黑"/>
              </a:defRPr>
            </a:lvl4pPr>
            <a:lvl5pPr marL="2057400" indent="-228600" algn="l" defTabSz="457200" rtl="0" fontAlgn="base" hangingPunct="0">
              <a:lnSpc>
                <a:spcPct val="93000"/>
              </a:lnSpc>
              <a:spcBef>
                <a:spcPct val="0"/>
              </a:spcBef>
              <a:spcAft>
                <a:spcPct val="0"/>
              </a:spcAft>
              <a:buClr>
                <a:srgbClr val="383838"/>
              </a:buClr>
              <a:buSzPct val="100000"/>
              <a:buFont typeface="微软雅黑"/>
              <a:defRPr kern="1200">
                <a:solidFill>
                  <a:srgbClr val="FFFFFF"/>
                </a:solidFill>
                <a:latin typeface="微软雅黑"/>
                <a:ea typeface="微软雅黑"/>
                <a:cs typeface="微软雅黑"/>
              </a:defRPr>
            </a:lvl5pPr>
            <a:lvl6pPr marL="2286000" algn="l" defTabSz="457200" rtl="0" eaLnBrk="1" latinLnBrk="0" hangingPunct="1">
              <a:defRPr kern="1200">
                <a:solidFill>
                  <a:srgbClr val="FFFFFF"/>
                </a:solidFill>
                <a:latin typeface="微软雅黑"/>
                <a:ea typeface="微软雅黑"/>
                <a:cs typeface="微软雅黑"/>
              </a:defRPr>
            </a:lvl6pPr>
            <a:lvl7pPr marL="2743200" algn="l" defTabSz="457200" rtl="0" eaLnBrk="1" latinLnBrk="0" hangingPunct="1">
              <a:defRPr kern="1200">
                <a:solidFill>
                  <a:srgbClr val="FFFFFF"/>
                </a:solidFill>
                <a:latin typeface="微软雅黑"/>
                <a:ea typeface="微软雅黑"/>
                <a:cs typeface="微软雅黑"/>
              </a:defRPr>
            </a:lvl7pPr>
            <a:lvl8pPr marL="3200400" algn="l" defTabSz="457200" rtl="0" eaLnBrk="1" latinLnBrk="0" hangingPunct="1">
              <a:defRPr kern="1200">
                <a:solidFill>
                  <a:srgbClr val="FFFFFF"/>
                </a:solidFill>
                <a:latin typeface="微软雅黑"/>
                <a:ea typeface="微软雅黑"/>
                <a:cs typeface="微软雅黑"/>
              </a:defRPr>
            </a:lvl8pPr>
            <a:lvl9pPr marL="3657600" algn="l" defTabSz="457200" rtl="0" eaLnBrk="1" latinLnBrk="0" hangingPunct="1">
              <a:defRPr kern="1200">
                <a:solidFill>
                  <a:srgbClr val="FFFFFF"/>
                </a:solidFill>
                <a:latin typeface="微软雅黑"/>
                <a:ea typeface="微软雅黑"/>
                <a:cs typeface="微软雅黑"/>
              </a:defRPr>
            </a:lvl9pPr>
          </a:lstStyle>
          <a:p>
            <a:pPr>
              <a:defRPr>
                <a:solidFill>
                  <a:srgbClr val="383838"/>
                </a:solidFill>
                <a:latin typeface="微软雅黑"/>
                <a:ea typeface="微软雅黑"/>
                <a:cs typeface="微软雅黑"/>
              </a:defRPr>
            </a:pPr>
            <a:endParaRPr lang="en-US">
              <a:solidFill>
                <a:srgbClr val="383838"/>
              </a:solidFill>
              <a:latin typeface="微软雅黑"/>
              <a:ea typeface="微软雅黑"/>
              <a:cs typeface="微软雅黑"/>
            </a:endParaRPr>
          </a:p>
        </p:txBody>
      </p:sp>
      <p:sp>
        <p:nvSpPr>
          <p:cNvPr id="102" name="任意形状 62"/>
          <p:cNvSpPr/>
          <p:nvPr/>
        </p:nvSpPr>
        <p:spPr>
          <a:xfrm>
            <a:off x="1316989" y="5656418"/>
            <a:ext cx="10382147" cy="809422"/>
          </a:xfrm>
          <a:custGeom>
            <a:avLst/>
            <a:gdLst>
              <a:gd name="connsiteX0" fmla="*/ 0 w 721360"/>
              <a:gd name="connsiteY0" fmla="*/ 0 h 721359"/>
              <a:gd name="connsiteX1" fmla="*/ 721360 w 721360"/>
              <a:gd name="connsiteY1" fmla="*/ 0 h 721359"/>
              <a:gd name="connsiteX2" fmla="*/ 721360 w 721360"/>
              <a:gd name="connsiteY2" fmla="*/ 721360 h 721359"/>
              <a:gd name="connsiteX3" fmla="*/ 0 w 721360"/>
              <a:gd name="connsiteY3" fmla="*/ 721360 h 721359"/>
            </a:gdLst>
            <a:ahLst/>
            <a:cxnLst>
              <a:cxn ang="0">
                <a:pos x="connsiteX0" y="connsiteY0"/>
              </a:cxn>
              <a:cxn ang="0">
                <a:pos x="connsiteX1" y="connsiteY1"/>
              </a:cxn>
              <a:cxn ang="0">
                <a:pos x="connsiteX2" y="connsiteY2"/>
              </a:cxn>
              <a:cxn ang="0">
                <a:pos x="connsiteX3" y="connsiteY3"/>
              </a:cxn>
            </a:cxnLst>
            <a:rect l="l" t="t" r="r" b="b"/>
            <a:pathLst>
              <a:path w="721360" h="721359">
                <a:moveTo>
                  <a:pt x="0" y="0"/>
                </a:moveTo>
                <a:lnTo>
                  <a:pt x="721360" y="0"/>
                </a:lnTo>
                <a:lnTo>
                  <a:pt x="721360" y="721360"/>
                </a:lnTo>
                <a:lnTo>
                  <a:pt x="0" y="721360"/>
                </a:lnTo>
                <a:close/>
              </a:path>
            </a:pathLst>
          </a:custGeom>
          <a:solidFill>
            <a:srgbClr val="FFFFFF">
              <a:alpha val="40000"/>
            </a:srgbClr>
          </a:solidFill>
          <a:ln w="12700" cap="flat">
            <a:noFill/>
            <a:prstDash val="solid"/>
            <a:miter/>
          </a:ln>
        </p:spPr>
        <p:txBody>
          <a:bodyPr vert="eaVert" rtlCol="0" anchor="ctr">
            <a:noAutofit/>
          </a:bodyPr>
          <a:lstStyle/>
          <a:p>
            <a:pPr lvl="0" algn="ctr">
              <a:buClrTx/>
              <a:buSzTx/>
              <a:buFontTx/>
              <a:defRPr>
                <a:latin typeface="微软雅黑"/>
                <a:ea typeface="微软雅黑"/>
                <a:cs typeface="微软雅黑"/>
              </a:defRPr>
            </a:pPr>
            <a:endParaRPr lang="zh-CN" altLang="en-US" sz="1200" dirty="0">
              <a:solidFill>
                <a:srgbClr val="0042FF"/>
              </a:solidFill>
              <a:latin typeface="微软雅黑"/>
              <a:ea typeface="微软雅黑"/>
              <a:cs typeface="微软雅黑"/>
              <a:sym typeface="微软雅黑"/>
            </a:endParaRPr>
          </a:p>
        </p:txBody>
      </p:sp>
      <p:sp>
        <p:nvSpPr>
          <p:cNvPr id="103"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470808" y="4961945"/>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目标回顾：</a:t>
            </a:r>
            <a:r>
              <a:rPr kumimoji="1" lang="zh-CN" altLang="en-US" sz="1000" dirty="0">
                <a:solidFill>
                  <a:srgbClr val="383838"/>
                </a:solidFill>
                <a:latin typeface="微软雅黑"/>
                <a:ea typeface="微软雅黑"/>
                <a:cs typeface="微软雅黑"/>
                <a:sym typeface="微软雅黑"/>
              </a:rPr>
              <a:t>回顾上半年工作，对比年初目标，评估达成情况。</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策略调整：</a:t>
            </a:r>
            <a:r>
              <a:rPr kumimoji="1" lang="zh-CN" altLang="en-US" sz="1000" dirty="0">
                <a:solidFill>
                  <a:srgbClr val="383838"/>
                </a:solidFill>
                <a:latin typeface="微软雅黑"/>
                <a:ea typeface="微软雅黑"/>
                <a:cs typeface="微软雅黑"/>
                <a:sym typeface="微软雅黑"/>
              </a:rPr>
              <a:t>根据上半年工作成果，调整下半年工作策略。</a:t>
            </a:r>
            <a:endParaRPr kumimoji="1" lang="zh-CN" altLang="en-US" sz="1000" dirty="0">
              <a:solidFill>
                <a:srgbClr val="383838"/>
              </a:solidFill>
              <a:latin typeface="微软雅黑"/>
              <a:ea typeface="微软雅黑"/>
              <a:cs typeface="微软雅黑"/>
              <a:sym typeface="微软雅黑"/>
            </a:endParaRPr>
          </a:p>
        </p:txBody>
      </p:sp>
      <p:sp>
        <p:nvSpPr>
          <p:cNvPr id="10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3199496" y="4961945"/>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业务拓展：</a:t>
            </a:r>
            <a:r>
              <a:rPr kumimoji="1" lang="zh-CN" altLang="en-US" sz="1000" dirty="0">
                <a:solidFill>
                  <a:srgbClr val="383838"/>
                </a:solidFill>
                <a:latin typeface="微软雅黑"/>
                <a:ea typeface="微软雅黑"/>
                <a:cs typeface="微软雅黑"/>
                <a:sym typeface="微软雅黑"/>
              </a:rPr>
              <a:t>探索新的业务领域和机会，寻找新的业务增长点。</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客户维护：</a:t>
            </a:r>
            <a:r>
              <a:rPr kumimoji="1" lang="zh-CN" altLang="en-US" sz="1000" dirty="0">
                <a:solidFill>
                  <a:srgbClr val="383838"/>
                </a:solidFill>
                <a:latin typeface="微软雅黑"/>
                <a:ea typeface="微软雅黑"/>
                <a:cs typeface="微软雅黑"/>
                <a:sym typeface="微软雅黑"/>
              </a:rPr>
              <a:t>加强客户的沟通，了解客户需求，提供优质服务。</a:t>
            </a:r>
            <a:endParaRPr kumimoji="1" lang="zh-CN" altLang="en-US" sz="1000" dirty="0">
              <a:solidFill>
                <a:srgbClr val="383838"/>
              </a:solidFill>
              <a:latin typeface="微软雅黑"/>
              <a:ea typeface="微软雅黑"/>
              <a:cs typeface="微软雅黑"/>
              <a:sym typeface="微软雅黑"/>
            </a:endParaRPr>
          </a:p>
        </p:txBody>
      </p:sp>
      <p:sp>
        <p:nvSpPr>
          <p:cNvPr id="105"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928184" y="4961945"/>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团队建设：</a:t>
            </a:r>
            <a:r>
              <a:rPr kumimoji="1" lang="zh-CN" altLang="en-US" sz="1000" dirty="0">
                <a:solidFill>
                  <a:srgbClr val="383838"/>
                </a:solidFill>
                <a:latin typeface="微软雅黑"/>
                <a:ea typeface="微软雅黑"/>
                <a:cs typeface="微软雅黑"/>
                <a:sym typeface="微软雅黑"/>
              </a:rPr>
              <a:t>组织团队建设活动，增强团队凝聚力和协作能力。</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技能提升：</a:t>
            </a:r>
            <a:r>
              <a:rPr kumimoji="1" lang="zh-CN" altLang="en-US" sz="1000" dirty="0">
                <a:solidFill>
                  <a:srgbClr val="383838"/>
                </a:solidFill>
                <a:latin typeface="微软雅黑"/>
                <a:ea typeface="微软雅黑"/>
                <a:cs typeface="微软雅黑"/>
                <a:sym typeface="微软雅黑"/>
              </a:rPr>
              <a:t>提供内外部培训机会，提升团队整体技能水平。</a:t>
            </a:r>
            <a:endParaRPr kumimoji="1" lang="zh-CN" altLang="en-US" sz="1000" dirty="0">
              <a:solidFill>
                <a:srgbClr val="383838"/>
              </a:solidFill>
              <a:latin typeface="微软雅黑"/>
              <a:ea typeface="微软雅黑"/>
              <a:cs typeface="微软雅黑"/>
              <a:sym typeface="微软雅黑"/>
            </a:endParaRPr>
          </a:p>
        </p:txBody>
      </p:sp>
      <p:sp>
        <p:nvSpPr>
          <p:cNvPr id="106"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6656872" y="4961945"/>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市场分析：</a:t>
            </a:r>
            <a:r>
              <a:rPr kumimoji="1" lang="zh-CN" altLang="en-US" sz="1000" dirty="0">
                <a:solidFill>
                  <a:srgbClr val="383838"/>
                </a:solidFill>
                <a:latin typeface="微软雅黑"/>
                <a:ea typeface="微软雅黑"/>
                <a:cs typeface="微软雅黑"/>
                <a:sym typeface="微软雅黑"/>
              </a:rPr>
              <a:t>分析市场动态和竞争对手，为工作提供数据支持。</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策略优化：</a:t>
            </a:r>
            <a:r>
              <a:rPr kumimoji="1" lang="zh-CN" altLang="en-US" sz="1000" dirty="0">
                <a:solidFill>
                  <a:srgbClr val="383838"/>
                </a:solidFill>
                <a:latin typeface="微软雅黑"/>
                <a:ea typeface="微软雅黑"/>
                <a:cs typeface="微软雅黑"/>
                <a:sym typeface="微软雅黑"/>
              </a:rPr>
              <a:t>根据市场分析，优化产品策略提高市场竞争力。</a:t>
            </a:r>
            <a:endParaRPr kumimoji="1" lang="zh-CN" altLang="en-US" sz="1000" dirty="0">
              <a:solidFill>
                <a:srgbClr val="383838"/>
              </a:solidFill>
              <a:latin typeface="微软雅黑"/>
              <a:ea typeface="微软雅黑"/>
              <a:cs typeface="微软雅黑"/>
              <a:sym typeface="微软雅黑"/>
            </a:endParaRPr>
          </a:p>
        </p:txBody>
      </p:sp>
      <p:sp>
        <p:nvSpPr>
          <p:cNvPr id="107"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8385560" y="4961945"/>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目标冲刺：</a:t>
            </a:r>
            <a:r>
              <a:rPr kumimoji="1" lang="zh-CN" altLang="en-US" sz="1000" dirty="0">
                <a:solidFill>
                  <a:srgbClr val="383838"/>
                </a:solidFill>
                <a:latin typeface="微软雅黑"/>
                <a:ea typeface="微软雅黑"/>
                <a:cs typeface="微软雅黑"/>
                <a:sym typeface="微软雅黑"/>
              </a:rPr>
              <a:t>全力冲刺年度工作目标，确保各项任务按时完成。</a:t>
            </a:r>
            <a:endParaRPr kumimoji="1" lang="en-US" altLang="zh-CN"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客户感谢：</a:t>
            </a:r>
            <a:r>
              <a:rPr kumimoji="1" lang="zh-CN" altLang="en-US" sz="1000" dirty="0">
                <a:solidFill>
                  <a:srgbClr val="383838"/>
                </a:solidFill>
                <a:latin typeface="微软雅黑"/>
                <a:ea typeface="微软雅黑"/>
                <a:cs typeface="微软雅黑"/>
                <a:sym typeface="微软雅黑"/>
              </a:rPr>
              <a:t>向重要客户表达感谢，为来年合作奠定良好基础。</a:t>
            </a:r>
            <a:endParaRPr kumimoji="1" lang="zh-CN" altLang="en-US" sz="1000" dirty="0">
              <a:solidFill>
                <a:srgbClr val="383838"/>
              </a:solidFill>
              <a:latin typeface="微软雅黑"/>
              <a:ea typeface="微软雅黑"/>
              <a:cs typeface="微软雅黑"/>
              <a:sym typeface="微软雅黑"/>
            </a:endParaRPr>
          </a:p>
        </p:txBody>
      </p:sp>
      <p:sp>
        <p:nvSpPr>
          <p:cNvPr id="108"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0114247" y="4961945"/>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工作总结：</a:t>
            </a:r>
            <a:r>
              <a:rPr kumimoji="1" lang="zh-CN" altLang="en-US" sz="1000" dirty="0">
                <a:solidFill>
                  <a:srgbClr val="383838"/>
                </a:solidFill>
                <a:latin typeface="微软雅黑"/>
                <a:ea typeface="微软雅黑"/>
                <a:cs typeface="微软雅黑"/>
                <a:sym typeface="微软雅黑"/>
              </a:rPr>
              <a:t>对下半年进行全面总结，提炼可复制的工作模式。</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未来规划：</a:t>
            </a:r>
            <a:r>
              <a:rPr kumimoji="1" lang="zh-CN" altLang="en-US" sz="1000" dirty="0">
                <a:solidFill>
                  <a:srgbClr val="383838"/>
                </a:solidFill>
                <a:latin typeface="微软雅黑"/>
                <a:ea typeface="微软雅黑"/>
                <a:cs typeface="微软雅黑"/>
                <a:sym typeface="微软雅黑"/>
              </a:rPr>
              <a:t>规划下一年度的方向和重点任务，为来年奠定基础。</a:t>
            </a:r>
            <a:endParaRPr kumimoji="1" lang="zh-CN" altLang="en-US" sz="1000" dirty="0">
              <a:solidFill>
                <a:srgbClr val="383838"/>
              </a:solidFill>
              <a:latin typeface="微软雅黑"/>
              <a:ea typeface="微软雅黑"/>
              <a:cs typeface="微软雅黑"/>
              <a:sym typeface="微软雅黑"/>
            </a:endParaRPr>
          </a:p>
        </p:txBody>
      </p:sp>
      <p:sp>
        <p:nvSpPr>
          <p:cNvPr id="109"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470808" y="2113919"/>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目标设定：</a:t>
            </a:r>
            <a:r>
              <a:rPr kumimoji="1" lang="zh-CN" altLang="en-US" sz="1000" dirty="0">
                <a:solidFill>
                  <a:srgbClr val="383838"/>
                </a:solidFill>
                <a:latin typeface="微软雅黑"/>
                <a:ea typeface="微软雅黑"/>
                <a:cs typeface="微软雅黑"/>
                <a:sym typeface="微软雅黑"/>
              </a:rPr>
              <a:t>明确个人的主要目标，与公司整体战略保持一致。</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资源筹备：</a:t>
            </a:r>
            <a:r>
              <a:rPr kumimoji="1" lang="zh-CN" altLang="en-US" sz="1000" dirty="0">
                <a:solidFill>
                  <a:srgbClr val="383838"/>
                </a:solidFill>
                <a:latin typeface="微软雅黑"/>
                <a:ea typeface="微软雅黑"/>
                <a:cs typeface="微软雅黑"/>
                <a:sym typeface="微软雅黑"/>
              </a:rPr>
              <a:t>评估筹备完成项目所需的资源，包括人力、物力。</a:t>
            </a:r>
            <a:endParaRPr kumimoji="1" lang="zh-CN" altLang="en-US" sz="1000" dirty="0">
              <a:solidFill>
                <a:srgbClr val="383838"/>
              </a:solidFill>
              <a:latin typeface="微软雅黑"/>
              <a:ea typeface="微软雅黑"/>
              <a:cs typeface="微软雅黑"/>
              <a:sym typeface="微软雅黑"/>
            </a:endParaRPr>
          </a:p>
        </p:txBody>
      </p:sp>
      <p:sp>
        <p:nvSpPr>
          <p:cNvPr id="110"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3199496" y="2113919"/>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团队整合：</a:t>
            </a:r>
            <a:r>
              <a:rPr kumimoji="1" lang="zh-CN" altLang="en-US" sz="1000" dirty="0">
                <a:solidFill>
                  <a:srgbClr val="383838"/>
                </a:solidFill>
                <a:latin typeface="微软雅黑"/>
                <a:ea typeface="微软雅黑"/>
                <a:cs typeface="微软雅黑"/>
                <a:sym typeface="微软雅黑"/>
              </a:rPr>
              <a:t>加强团队成员之间的沟通，促进团队凝聚力提升。</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文化塑造：</a:t>
            </a:r>
            <a:r>
              <a:rPr kumimoji="1" lang="zh-CN" altLang="en-US" sz="1000" dirty="0">
                <a:solidFill>
                  <a:srgbClr val="383838"/>
                </a:solidFill>
                <a:latin typeface="微软雅黑"/>
                <a:ea typeface="微软雅黑"/>
                <a:cs typeface="微软雅黑"/>
                <a:sym typeface="微软雅黑"/>
              </a:rPr>
              <a:t>强化公司文化和价值观，营造良好的工作氛围。</a:t>
            </a:r>
            <a:endParaRPr kumimoji="1" lang="zh-CN" altLang="en-US" sz="1000" dirty="0">
              <a:solidFill>
                <a:srgbClr val="383838"/>
              </a:solidFill>
              <a:latin typeface="微软雅黑"/>
              <a:ea typeface="微软雅黑"/>
              <a:cs typeface="微软雅黑"/>
              <a:sym typeface="微软雅黑"/>
            </a:endParaRPr>
          </a:p>
        </p:txBody>
      </p:sp>
      <p:sp>
        <p:nvSpPr>
          <p:cNvPr id="111"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4928184" y="2113919"/>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团队分工：</a:t>
            </a:r>
            <a:r>
              <a:rPr kumimoji="1" lang="zh-CN" altLang="en-US" sz="1000" dirty="0">
                <a:solidFill>
                  <a:srgbClr val="383838"/>
                </a:solidFill>
                <a:latin typeface="微软雅黑"/>
                <a:ea typeface="微软雅黑"/>
                <a:cs typeface="微软雅黑"/>
                <a:sym typeface="微软雅黑"/>
              </a:rPr>
              <a:t>明确团队成员在项目中的具体职责和分工。</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初步实施：</a:t>
            </a:r>
            <a:r>
              <a:rPr kumimoji="1" lang="zh-CN" altLang="en-US" sz="1000" dirty="0">
                <a:solidFill>
                  <a:srgbClr val="383838"/>
                </a:solidFill>
                <a:latin typeface="微软雅黑"/>
                <a:ea typeface="微软雅黑"/>
                <a:cs typeface="微软雅黑"/>
                <a:sym typeface="微软雅黑"/>
              </a:rPr>
              <a:t>项目的初步实施，包括市场调研、客户沟通等。</a:t>
            </a:r>
            <a:endParaRPr kumimoji="1" lang="zh-CN" altLang="en-US" sz="1000" dirty="0">
              <a:solidFill>
                <a:srgbClr val="383838"/>
              </a:solidFill>
              <a:latin typeface="微软雅黑"/>
              <a:ea typeface="微软雅黑"/>
              <a:cs typeface="微软雅黑"/>
              <a:sym typeface="微软雅黑"/>
            </a:endParaRPr>
          </a:p>
        </p:txBody>
      </p:sp>
      <p:sp>
        <p:nvSpPr>
          <p:cNvPr id="112"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6656872" y="2113919"/>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进度跟踪：</a:t>
            </a:r>
            <a:r>
              <a:rPr kumimoji="1" lang="zh-CN" altLang="en-US" sz="1000" dirty="0">
                <a:solidFill>
                  <a:srgbClr val="383838"/>
                </a:solidFill>
                <a:latin typeface="微软雅黑"/>
                <a:ea typeface="微软雅黑"/>
                <a:cs typeface="微软雅黑"/>
                <a:sym typeface="微软雅黑"/>
              </a:rPr>
              <a:t>定期跟踪项目的进度，确保项目按计划推进。</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问题反馈：</a:t>
            </a:r>
            <a:r>
              <a:rPr kumimoji="1" lang="zh-CN" altLang="en-US" sz="1000" dirty="0">
                <a:solidFill>
                  <a:srgbClr val="383838"/>
                </a:solidFill>
                <a:latin typeface="微软雅黑"/>
                <a:ea typeface="微软雅黑"/>
                <a:cs typeface="微软雅黑"/>
                <a:sym typeface="微软雅黑"/>
              </a:rPr>
              <a:t>及时发现并解决项目遇到的问题，确保项目质量。</a:t>
            </a:r>
            <a:endParaRPr kumimoji="1" lang="zh-CN" altLang="en-US" sz="1000" dirty="0">
              <a:solidFill>
                <a:srgbClr val="383838"/>
              </a:solidFill>
              <a:latin typeface="微软雅黑"/>
              <a:ea typeface="微软雅黑"/>
              <a:cs typeface="微软雅黑"/>
              <a:sym typeface="微软雅黑"/>
            </a:endParaRPr>
          </a:p>
        </p:txBody>
      </p:sp>
      <p:sp>
        <p:nvSpPr>
          <p:cNvPr id="113"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8385560" y="2113919"/>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成果展示：</a:t>
            </a:r>
            <a:r>
              <a:rPr kumimoji="1" lang="zh-CN" altLang="en-US" sz="1000" dirty="0">
                <a:solidFill>
                  <a:srgbClr val="383838"/>
                </a:solidFill>
                <a:latin typeface="微软雅黑"/>
                <a:ea typeface="微软雅黑"/>
                <a:cs typeface="微软雅黑"/>
                <a:sym typeface="微软雅黑"/>
              </a:rPr>
              <a:t>通过内部会议等形式，向公司展示阶段性成果。</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客户反馈：</a:t>
            </a:r>
            <a:r>
              <a:rPr kumimoji="1" lang="zh-CN" altLang="en-US" sz="1000" dirty="0">
                <a:solidFill>
                  <a:srgbClr val="383838"/>
                </a:solidFill>
                <a:latin typeface="微软雅黑"/>
                <a:ea typeface="微软雅黑"/>
                <a:cs typeface="微软雅黑"/>
                <a:sym typeface="微软雅黑"/>
              </a:rPr>
              <a:t>积极收集客户反馈，调整项目方向或优化产品。</a:t>
            </a:r>
            <a:endParaRPr kumimoji="1" lang="zh-CN" altLang="en-US" sz="1000" dirty="0">
              <a:solidFill>
                <a:srgbClr val="383838"/>
              </a:solidFill>
              <a:latin typeface="微软雅黑"/>
              <a:ea typeface="微软雅黑"/>
              <a:cs typeface="微软雅黑"/>
              <a:sym typeface="微软雅黑"/>
            </a:endParaRPr>
          </a:p>
        </p:txBody>
      </p:sp>
      <p:sp>
        <p:nvSpPr>
          <p:cNvPr id="114" name="Lorem Ipsum is simply dummy text of the printing and typesetting industry. Lorem Ipsum has been the industry's standard dummy text ever since the 1500s, when an unknown printer took a galley of type and scrambled it to make a type specimen book. It has s"/>
          <p:cNvSpPr txBox="1"/>
          <p:nvPr/>
        </p:nvSpPr>
        <p:spPr>
          <a:xfrm>
            <a:off x="10114247" y="2113919"/>
            <a:ext cx="1392351" cy="1406604"/>
          </a:xfrm>
          <a:prstGeom prst="rect">
            <a:avLst/>
          </a:prstGeom>
          <a:noFill/>
          <a:ln w="12700" cap="flat">
            <a:noFill/>
            <a:miter lim="400000"/>
          </a:ln>
          <a:effectLst/>
        </p:spPr>
        <p:txBody>
          <a:bodyPr wrap="square" lIns="0" tIns="0" rIns="0" bIns="0" numCol="1" anchor="t">
            <a:noAutofit/>
          </a:bodyPr>
          <a:lstStyle>
            <a:lvl1pPr algn="l">
              <a:defRPr sz="2000">
                <a:solidFill>
                  <a:srgbClr val="383838"/>
                </a:solidFill>
                <a:latin typeface="微软雅黑"/>
                <a:ea typeface="微软雅黑"/>
                <a:cs typeface="微软雅黑"/>
                <a:sym typeface="微软雅黑"/>
              </a:defRPr>
            </a:lvl1pPr>
          </a:lstStyle>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工作总结：</a:t>
            </a:r>
            <a:r>
              <a:rPr kumimoji="1" lang="zh-CN" altLang="en-US" sz="1000" dirty="0">
                <a:solidFill>
                  <a:srgbClr val="383838"/>
                </a:solidFill>
                <a:latin typeface="微软雅黑"/>
                <a:ea typeface="微软雅黑"/>
                <a:cs typeface="微软雅黑"/>
                <a:sym typeface="微软雅黑"/>
              </a:rPr>
              <a:t>对上半年进行总结，分析成功经验和不足之处。</a:t>
            </a:r>
            <a:endParaRPr kumimoji="1" lang="zh-CN" altLang="en-US" sz="1000" dirty="0">
              <a:solidFill>
                <a:srgbClr val="383838"/>
              </a:solidFill>
              <a:latin typeface="微软雅黑"/>
              <a:ea typeface="微软雅黑"/>
              <a:cs typeface="微软雅黑"/>
              <a:sym typeface="微软雅黑"/>
            </a:endParaRPr>
          </a:p>
          <a:p>
            <a:pPr marL="228600" indent="-228600" algn="just">
              <a:lnSpc>
                <a:spcPts val="1120"/>
              </a:lnSpc>
              <a:spcAft>
                <a:spcPts val="0"/>
              </a:spcAft>
              <a:buFont typeface="微软雅黑"/>
              <a:buAutoNum type="circleNumDbPlain"/>
              <a:defRPr>
                <a:latin typeface="微软雅黑"/>
                <a:ea typeface="微软雅黑"/>
                <a:cs typeface="微软雅黑"/>
              </a:defRPr>
              <a:spcBef>
                <a:spcPts val="0"/>
              </a:spcBef>
            </a:pPr>
            <a:r>
              <a:rPr kumimoji="1" lang="zh-CN" altLang="en-US" sz="1000" b="1" dirty="0">
                <a:solidFill>
                  <a:srgbClr val="383838"/>
                </a:solidFill>
                <a:latin typeface="微软雅黑"/>
                <a:ea typeface="微软雅黑"/>
                <a:cs typeface="微软雅黑"/>
                <a:sym typeface="微软雅黑"/>
              </a:rPr>
              <a:t>团队复盘：</a:t>
            </a:r>
            <a:r>
              <a:rPr kumimoji="1" lang="zh-CN" altLang="en-US" sz="1000" dirty="0">
                <a:solidFill>
                  <a:srgbClr val="383838"/>
                </a:solidFill>
                <a:latin typeface="微软雅黑"/>
                <a:ea typeface="微软雅黑"/>
                <a:cs typeface="微软雅黑"/>
                <a:sym typeface="微软雅黑"/>
              </a:rPr>
              <a:t>组织团队复盘会议，讨论亮点与待改进之处。</a:t>
            </a:r>
            <a:endParaRPr kumimoji="1" lang="zh-CN" altLang="en-US" sz="1000" dirty="0">
              <a:solidFill>
                <a:srgbClr val="383838"/>
              </a:solidFill>
              <a:latin typeface="微软雅黑"/>
              <a:ea typeface="微软雅黑"/>
              <a:cs typeface="微软雅黑"/>
              <a:sym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4" name="组合 3"/>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我的职业发展规划</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36" name="猫爪PPT-2-1"/>
          <p:cNvSpPr/>
          <p:nvPr>
            <p:custDataLst>
              <p:tags r:id="rId3"/>
            </p:custDataLst>
          </p:nvPr>
        </p:nvSpPr>
        <p:spPr>
          <a:xfrm>
            <a:off x="0" y="3338830"/>
            <a:ext cx="11887200" cy="702310"/>
          </a:xfrm>
          <a:prstGeom prst="homePlate">
            <a:avLst/>
          </a:prstGeom>
          <a:gradFill>
            <a:gsLst>
              <a:gs pos="0">
                <a:srgbClr val="0042FF"/>
              </a:gs>
              <a:gs pos="99000">
                <a:srgbClr val="3368FF"/>
              </a:gs>
            </a:gsLst>
            <a:lin ang="10800000" scaled="0"/>
          </a:gradFill>
          <a:ln>
            <a:noFill/>
          </a:ln>
        </p:spPr>
        <p:txBody>
          <a:bodyPr vert="horz" wrap="square" lIns="91440" tIns="45720" rIns="91440" bIns="45720" numCol="1" anchor="t" anchorCtr="0" compatLnSpc="1"/>
          <a:lstStyle/>
          <a:p>
            <a:pPr>
              <a:defRPr>
                <a:solidFill>
                  <a:srgbClr val="FFFFFF"/>
                </a:solidFill>
                <a:latin typeface="微软雅黑"/>
                <a:ea typeface="微软雅黑"/>
                <a:cs typeface="微软雅黑"/>
              </a:defRPr>
            </a:pPr>
            <a:endParaRPr lang="zh-CN" altLang="en-US" sz="2800">
              <a:solidFill>
                <a:srgbClr val="FFFFFF"/>
              </a:solidFill>
              <a:latin typeface="微软雅黑"/>
              <a:ea typeface="微软雅黑"/>
              <a:cs typeface="微软雅黑"/>
            </a:endParaRPr>
          </a:p>
        </p:txBody>
      </p:sp>
      <p:grpSp>
        <p:nvGrpSpPr>
          <p:cNvPr id="71" name="组合 70"/>
          <p:cNvGrpSpPr/>
          <p:nvPr>
            <p:custDataLst>
              <p:tags r:id="rId4"/>
            </p:custDataLst>
          </p:nvPr>
        </p:nvGrpSpPr>
        <p:grpSpPr>
          <a:xfrm>
            <a:off x="2991485" y="1149985"/>
            <a:ext cx="2453005" cy="2270760"/>
            <a:chOff x="4560" y="1824"/>
            <a:chExt cx="3863" cy="3576"/>
          </a:xfrm>
        </p:grpSpPr>
        <p:sp>
          <p:nvSpPr>
            <p:cNvPr id="198" name="任意形状 197"/>
            <p:cNvSpPr/>
            <p:nvPr>
              <p:custDataLst>
                <p:tags r:id="rId5"/>
              </p:custDataLst>
            </p:nvPr>
          </p:nvSpPr>
          <p:spPr>
            <a:xfrm flipH="1">
              <a:off x="4560" y="1882"/>
              <a:ext cx="72" cy="3518"/>
            </a:xfrm>
            <a:custGeom>
              <a:avLst/>
              <a:gdLst>
                <a:gd name="connsiteX0" fmla="*/ 0 w 7620"/>
                <a:gd name="connsiteY0" fmla="*/ 0 h 2509266"/>
                <a:gd name="connsiteX1" fmla="*/ 0 w 7620"/>
                <a:gd name="connsiteY1" fmla="*/ 2509266 h 2509266"/>
              </a:gdLst>
              <a:ahLst/>
              <a:cxnLst>
                <a:cxn ang="0">
                  <a:pos x="connsiteX0" y="connsiteY0"/>
                </a:cxn>
                <a:cxn ang="0">
                  <a:pos x="connsiteX1" y="connsiteY1"/>
                </a:cxn>
              </a:cxnLst>
              <a:rect l="l" t="t" r="r" b="b"/>
              <a:pathLst>
                <a:path w="7620" h="2509266">
                  <a:moveTo>
                    <a:pt x="0" y="0"/>
                  </a:moveTo>
                  <a:lnTo>
                    <a:pt x="0" y="2509266"/>
                  </a:lnTo>
                </a:path>
              </a:pathLst>
            </a:custGeom>
            <a:ln w="15875" cap="flat">
              <a:solidFill>
                <a:srgbClr val="DCDCDC"/>
              </a:solidFill>
              <a:prstDash val="dash"/>
              <a:miter/>
              <a:head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37" name="文本框 236"/>
            <p:cNvSpPr txBox="1"/>
            <p:nvPr>
              <p:custDataLst>
                <p:tags r:id="rId6"/>
              </p:custDataLst>
            </p:nvPr>
          </p:nvSpPr>
          <p:spPr>
            <a:xfrm>
              <a:off x="4743" y="2694"/>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爆款制造：</a:t>
              </a:r>
              <a:r>
                <a:rPr lang="zh-CN" altLang="en-US" sz="1000" dirty="0">
                  <a:solidFill>
                    <a:srgbClr val="383838"/>
                  </a:solidFill>
                  <a:latin typeface="微软雅黑"/>
                  <a:ea typeface="微软雅黑"/>
                  <a:cs typeface="微软雅黑"/>
                </a:rPr>
                <a:t>集中资源冲击单一渠道或活动，力求产出行业级爆款案例，形成可复制的爆款方法论。</a:t>
              </a:r>
              <a:endParaRPr lang="en-US" altLang="zh-CN"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用户深耕：</a:t>
              </a:r>
              <a:r>
                <a:rPr lang="zh-CN" altLang="en-US" sz="1000" dirty="0">
                  <a:solidFill>
                    <a:srgbClr val="383838"/>
                  </a:solidFill>
                  <a:latin typeface="微软雅黑"/>
                  <a:ea typeface="微软雅黑"/>
                  <a:cs typeface="微软雅黑"/>
                </a:rPr>
                <a:t>挖掘深层需求，将用户洞察转化为高粘性策略。</a:t>
              </a:r>
              <a:endParaRPr lang="zh-CN" altLang="en-US" sz="1000" dirty="0">
                <a:solidFill>
                  <a:srgbClr val="383838"/>
                </a:solidFill>
                <a:latin typeface="微软雅黑"/>
                <a:ea typeface="微软雅黑"/>
                <a:cs typeface="微软雅黑"/>
              </a:endParaRPr>
            </a:p>
          </p:txBody>
        </p:sp>
        <p:sp>
          <p:nvSpPr>
            <p:cNvPr id="45" name="矩形 44"/>
            <p:cNvSpPr/>
            <p:nvPr>
              <p:custDataLst>
                <p:tags r:id="rId7"/>
              </p:custDataLst>
            </p:nvPr>
          </p:nvSpPr>
          <p:spPr>
            <a:xfrm>
              <a:off x="4825" y="1824"/>
              <a:ext cx="3518" cy="533"/>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增长突破年</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72" name="组合 71"/>
          <p:cNvGrpSpPr/>
          <p:nvPr>
            <p:custDataLst>
              <p:tags r:id="rId8"/>
            </p:custDataLst>
          </p:nvPr>
        </p:nvGrpSpPr>
        <p:grpSpPr>
          <a:xfrm>
            <a:off x="5520055" y="1149985"/>
            <a:ext cx="2458085" cy="2270760"/>
            <a:chOff x="8469" y="1824"/>
            <a:chExt cx="3871" cy="3576"/>
          </a:xfrm>
        </p:grpSpPr>
        <p:sp>
          <p:nvSpPr>
            <p:cNvPr id="43" name="任意形状 34"/>
            <p:cNvSpPr/>
            <p:nvPr>
              <p:custDataLst>
                <p:tags r:id="rId9"/>
              </p:custDataLst>
            </p:nvPr>
          </p:nvSpPr>
          <p:spPr>
            <a:xfrm flipH="1">
              <a:off x="8469" y="1882"/>
              <a:ext cx="72" cy="3518"/>
            </a:xfrm>
            <a:custGeom>
              <a:avLst/>
              <a:gdLst>
                <a:gd name="connsiteX0" fmla="*/ 0 w 7620"/>
                <a:gd name="connsiteY0" fmla="*/ 0 h 2509266"/>
                <a:gd name="connsiteX1" fmla="*/ 0 w 7620"/>
                <a:gd name="connsiteY1" fmla="*/ 2509266 h 2509266"/>
              </a:gdLst>
              <a:ahLst/>
              <a:cxnLst>
                <a:cxn ang="0">
                  <a:pos x="connsiteX0" y="connsiteY0"/>
                </a:cxn>
                <a:cxn ang="0">
                  <a:pos x="connsiteX1" y="connsiteY1"/>
                </a:cxn>
              </a:cxnLst>
              <a:rect l="l" t="t" r="r" b="b"/>
              <a:pathLst>
                <a:path w="7620" h="2509266">
                  <a:moveTo>
                    <a:pt x="0" y="0"/>
                  </a:moveTo>
                  <a:lnTo>
                    <a:pt x="0" y="2509266"/>
                  </a:lnTo>
                </a:path>
              </a:pathLst>
            </a:custGeom>
            <a:ln w="15875" cap="flat">
              <a:solidFill>
                <a:srgbClr val="DCDCDC"/>
              </a:solidFill>
              <a:prstDash val="dash"/>
              <a:miter/>
              <a:head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7" name="文本框 46"/>
            <p:cNvSpPr txBox="1"/>
            <p:nvPr>
              <p:custDataLst>
                <p:tags r:id="rId10"/>
              </p:custDataLst>
            </p:nvPr>
          </p:nvSpPr>
          <p:spPr>
            <a:xfrm>
              <a:off x="8660" y="2694"/>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全域布局：</a:t>
              </a:r>
              <a:r>
                <a:rPr lang="zh-CN" altLang="en-US" sz="1000" dirty="0">
                  <a:solidFill>
                    <a:srgbClr val="383838"/>
                  </a:solidFill>
                  <a:latin typeface="微软雅黑"/>
                  <a:ea typeface="微软雅黑"/>
                  <a:cs typeface="微软雅黑"/>
                </a:rPr>
                <a:t>搭建多平台、多维度的流量矩阵，平衡公域与私域，构建抗风险的流量生态。</a:t>
              </a:r>
              <a:endParaRPr lang="zh-CN" altLang="en-US"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伙伴共赢：</a:t>
              </a:r>
              <a:r>
                <a:rPr lang="zh-CN" altLang="en-US" sz="1000" dirty="0">
                  <a:solidFill>
                    <a:srgbClr val="383838"/>
                  </a:solidFill>
                  <a:latin typeface="微软雅黑"/>
                  <a:ea typeface="微软雅黑"/>
                  <a:cs typeface="微软雅黑"/>
                </a:rPr>
                <a:t>拓展异业合作与</a:t>
              </a:r>
              <a:r>
                <a:rPr lang="en-US" altLang="zh-CN" sz="1000" dirty="0">
                  <a:solidFill>
                    <a:srgbClr val="383838"/>
                  </a:solidFill>
                  <a:latin typeface="微软雅黑"/>
                  <a:ea typeface="微软雅黑"/>
                  <a:cs typeface="微软雅黑"/>
                </a:rPr>
                <a:t>KOL</a:t>
              </a:r>
              <a:r>
                <a:rPr lang="zh-CN" altLang="en-US" sz="1000" dirty="0">
                  <a:solidFill>
                    <a:srgbClr val="383838"/>
                  </a:solidFill>
                  <a:latin typeface="微软雅黑"/>
                  <a:ea typeface="微软雅黑"/>
                  <a:cs typeface="微软雅黑"/>
                </a:rPr>
                <a:t>资源，建立互利共赢的生态圈。</a:t>
              </a:r>
              <a:endParaRPr lang="zh-CN" altLang="en-US" sz="1000" dirty="0">
                <a:solidFill>
                  <a:srgbClr val="383838"/>
                </a:solidFill>
                <a:latin typeface="微软雅黑"/>
                <a:ea typeface="微软雅黑"/>
                <a:cs typeface="微软雅黑"/>
              </a:endParaRPr>
            </a:p>
          </p:txBody>
        </p:sp>
        <p:sp>
          <p:nvSpPr>
            <p:cNvPr id="49" name="矩形 48"/>
            <p:cNvSpPr/>
            <p:nvPr>
              <p:custDataLst>
                <p:tags r:id="rId11"/>
              </p:custDataLst>
            </p:nvPr>
          </p:nvSpPr>
          <p:spPr>
            <a:xfrm>
              <a:off x="8742" y="1824"/>
              <a:ext cx="3518" cy="533"/>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生态构建年</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73" name="组合 72"/>
          <p:cNvGrpSpPr/>
          <p:nvPr>
            <p:custDataLst>
              <p:tags r:id="rId12"/>
            </p:custDataLst>
          </p:nvPr>
        </p:nvGrpSpPr>
        <p:grpSpPr>
          <a:xfrm>
            <a:off x="8033385" y="1149985"/>
            <a:ext cx="2463165" cy="2270125"/>
            <a:chOff x="12378" y="1811"/>
            <a:chExt cx="3879" cy="3575"/>
          </a:xfrm>
        </p:grpSpPr>
        <p:sp>
          <p:nvSpPr>
            <p:cNvPr id="230" name="任意形状 229"/>
            <p:cNvSpPr/>
            <p:nvPr>
              <p:custDataLst>
                <p:tags r:id="rId13"/>
              </p:custDataLst>
            </p:nvPr>
          </p:nvSpPr>
          <p:spPr>
            <a:xfrm flipH="1">
              <a:off x="12378" y="1868"/>
              <a:ext cx="72" cy="3518"/>
            </a:xfrm>
            <a:custGeom>
              <a:avLst/>
              <a:gdLst>
                <a:gd name="connsiteX0" fmla="*/ 0 w 7620"/>
                <a:gd name="connsiteY0" fmla="*/ 0 h 2509266"/>
                <a:gd name="connsiteX1" fmla="*/ 0 w 7620"/>
                <a:gd name="connsiteY1" fmla="*/ 2509266 h 2509266"/>
              </a:gdLst>
              <a:ahLst/>
              <a:cxnLst>
                <a:cxn ang="0">
                  <a:pos x="connsiteX0" y="connsiteY0"/>
                </a:cxn>
                <a:cxn ang="0">
                  <a:pos x="connsiteX1" y="connsiteY1"/>
                </a:cxn>
              </a:cxnLst>
              <a:rect l="l" t="t" r="r" b="b"/>
              <a:pathLst>
                <a:path w="7620" h="2509266">
                  <a:moveTo>
                    <a:pt x="0" y="0"/>
                  </a:moveTo>
                  <a:lnTo>
                    <a:pt x="0" y="2509266"/>
                  </a:lnTo>
                </a:path>
              </a:pathLst>
            </a:custGeom>
            <a:ln w="15875" cap="flat">
              <a:solidFill>
                <a:srgbClr val="DCDCDC"/>
              </a:solidFill>
              <a:prstDash val="dash"/>
              <a:miter/>
              <a:head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1" name="文本框 50"/>
            <p:cNvSpPr txBox="1"/>
            <p:nvPr>
              <p:custDataLst>
                <p:tags r:id="rId14"/>
              </p:custDataLst>
            </p:nvPr>
          </p:nvSpPr>
          <p:spPr>
            <a:xfrm>
              <a:off x="12577" y="2694"/>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梯队建设：</a:t>
              </a:r>
              <a:r>
                <a:rPr lang="zh-CN" altLang="en-US" sz="1000" dirty="0">
                  <a:solidFill>
                    <a:srgbClr val="383838"/>
                  </a:solidFill>
                  <a:latin typeface="微软雅黑"/>
                  <a:ea typeface="微软雅黑"/>
                  <a:cs typeface="微软雅黑"/>
                </a:rPr>
                <a:t>建立人才梯队，通过师徒制与轮岗制，培养骨干力量，让团队能力不依赖于单点。</a:t>
              </a:r>
              <a:endParaRPr lang="en-US" altLang="zh-CN"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文化塑造：</a:t>
              </a:r>
              <a:r>
                <a:rPr lang="zh-CN" altLang="en-US" sz="1000" dirty="0">
                  <a:solidFill>
                    <a:srgbClr val="383838"/>
                  </a:solidFill>
                  <a:latin typeface="微软雅黑"/>
                  <a:ea typeface="微软雅黑"/>
                  <a:cs typeface="微软雅黑"/>
                </a:rPr>
                <a:t>沉淀团队工作方法与价值观，提升整体战斗力与归属感。</a:t>
              </a:r>
              <a:endParaRPr lang="zh-CN" altLang="en-US" sz="1000" dirty="0">
                <a:solidFill>
                  <a:srgbClr val="383838"/>
                </a:solidFill>
                <a:latin typeface="微软雅黑"/>
                <a:ea typeface="微软雅黑"/>
                <a:cs typeface="微软雅黑"/>
              </a:endParaRPr>
            </a:p>
          </p:txBody>
        </p:sp>
        <p:sp>
          <p:nvSpPr>
            <p:cNvPr id="52" name="矩形 51"/>
            <p:cNvSpPr/>
            <p:nvPr>
              <p:custDataLst>
                <p:tags r:id="rId15"/>
              </p:custDataLst>
            </p:nvPr>
          </p:nvSpPr>
          <p:spPr>
            <a:xfrm>
              <a:off x="12659" y="1811"/>
              <a:ext cx="3518" cy="533"/>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赋能领导年</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grpSp>
        <p:nvGrpSpPr>
          <p:cNvPr id="70" name="组合 69"/>
          <p:cNvGrpSpPr/>
          <p:nvPr>
            <p:custDataLst>
              <p:tags r:id="rId16"/>
            </p:custDataLst>
          </p:nvPr>
        </p:nvGrpSpPr>
        <p:grpSpPr>
          <a:xfrm>
            <a:off x="454025" y="1149985"/>
            <a:ext cx="2482215" cy="2233930"/>
            <a:chOff x="480" y="1811"/>
            <a:chExt cx="3909" cy="3518"/>
          </a:xfrm>
        </p:grpSpPr>
        <p:sp>
          <p:nvSpPr>
            <p:cNvPr id="44" name="文本框 43"/>
            <p:cNvSpPr txBox="1"/>
            <p:nvPr>
              <p:custDataLst>
                <p:tags r:id="rId17"/>
              </p:custDataLst>
            </p:nvPr>
          </p:nvSpPr>
          <p:spPr>
            <a:xfrm>
              <a:off x="709" y="2694"/>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流程精进：</a:t>
              </a:r>
              <a:r>
                <a:rPr lang="zh-CN" altLang="en-US" sz="1000" dirty="0">
                  <a:solidFill>
                    <a:srgbClr val="383838"/>
                  </a:solidFill>
                  <a:latin typeface="微软雅黑"/>
                  <a:ea typeface="微软雅黑"/>
                  <a:cs typeface="微软雅黑"/>
                </a:rPr>
                <a:t>梳理核心业务</a:t>
              </a:r>
              <a:r>
                <a:rPr lang="en-US" altLang="zh-CN" sz="1000" dirty="0">
                  <a:solidFill>
                    <a:srgbClr val="383838"/>
                  </a:solidFill>
                  <a:latin typeface="微软雅黑"/>
                  <a:ea typeface="微软雅黑"/>
                  <a:cs typeface="微软雅黑"/>
                </a:rPr>
                <a:t>SOP</a:t>
              </a:r>
              <a:r>
                <a:rPr lang="zh-CN" altLang="en-US" sz="1000" dirty="0">
                  <a:solidFill>
                    <a:srgbClr val="383838"/>
                  </a:solidFill>
                  <a:latin typeface="微软雅黑"/>
                  <a:ea typeface="微软雅黑"/>
                  <a:cs typeface="微软雅黑"/>
                </a:rPr>
                <a:t>，建立数据监控看板，确保日常工作零差错、高效率流转。</a:t>
              </a:r>
              <a:endParaRPr lang="en-US" altLang="zh-CN"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数据敏感：</a:t>
              </a:r>
              <a:r>
                <a:rPr lang="zh-CN" altLang="en-US" sz="1000" dirty="0">
                  <a:solidFill>
                    <a:srgbClr val="383838"/>
                  </a:solidFill>
                  <a:latin typeface="微软雅黑"/>
                  <a:ea typeface="微软雅黑"/>
                  <a:cs typeface="微软雅黑"/>
                </a:rPr>
                <a:t>每日复盘核心指标，培养对数据波动的本能反应。</a:t>
              </a:r>
              <a:endParaRPr lang="zh-CN" altLang="en-US" sz="1000" dirty="0">
                <a:solidFill>
                  <a:srgbClr val="383838"/>
                </a:solidFill>
                <a:latin typeface="微软雅黑"/>
                <a:ea typeface="微软雅黑"/>
                <a:cs typeface="微软雅黑"/>
              </a:endParaRPr>
            </a:p>
          </p:txBody>
        </p:sp>
        <p:sp>
          <p:nvSpPr>
            <p:cNvPr id="164" name="矩形 163"/>
            <p:cNvSpPr/>
            <p:nvPr>
              <p:custDataLst>
                <p:tags r:id="rId18"/>
              </p:custDataLst>
            </p:nvPr>
          </p:nvSpPr>
          <p:spPr>
            <a:xfrm>
              <a:off x="791" y="1824"/>
              <a:ext cx="3518" cy="533"/>
            </a:xfrm>
            <a:prstGeom prst="rect">
              <a:avLst/>
            </a:prstGeom>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专业筑基年</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3" name="任意形状 261"/>
            <p:cNvSpPr/>
            <p:nvPr>
              <p:custDataLst>
                <p:tags r:id="rId19"/>
              </p:custDataLst>
            </p:nvPr>
          </p:nvSpPr>
          <p:spPr>
            <a:xfrm flipH="1">
              <a:off x="480" y="1811"/>
              <a:ext cx="72" cy="3518"/>
            </a:xfrm>
            <a:custGeom>
              <a:avLst/>
              <a:gdLst>
                <a:gd name="connsiteX0" fmla="*/ 0 w 7620"/>
                <a:gd name="connsiteY0" fmla="*/ 0 h 2509266"/>
                <a:gd name="connsiteX1" fmla="*/ 0 w 7620"/>
                <a:gd name="connsiteY1" fmla="*/ 2509266 h 2509266"/>
              </a:gdLst>
              <a:ahLst/>
              <a:cxnLst>
                <a:cxn ang="0">
                  <a:pos x="connsiteX0" y="connsiteY0"/>
                </a:cxn>
                <a:cxn ang="0">
                  <a:pos x="connsiteX1" y="connsiteY1"/>
                </a:cxn>
              </a:cxnLst>
              <a:rect l="l" t="t" r="r" b="b"/>
              <a:pathLst>
                <a:path w="7620" h="2509266">
                  <a:moveTo>
                    <a:pt x="0" y="0"/>
                  </a:moveTo>
                  <a:lnTo>
                    <a:pt x="0" y="2509266"/>
                  </a:lnTo>
                </a:path>
              </a:pathLst>
            </a:custGeom>
            <a:ln w="15875" cap="flat">
              <a:solidFill>
                <a:srgbClr val="DCDCDC"/>
              </a:solidFill>
              <a:prstDash val="dash"/>
              <a:miter/>
              <a:head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grpSp>
        <p:nvGrpSpPr>
          <p:cNvPr id="74" name="组合 73"/>
          <p:cNvGrpSpPr/>
          <p:nvPr>
            <p:custDataLst>
              <p:tags r:id="rId20"/>
            </p:custDataLst>
          </p:nvPr>
        </p:nvGrpSpPr>
        <p:grpSpPr>
          <a:xfrm>
            <a:off x="1517015" y="4106545"/>
            <a:ext cx="2422525" cy="2274570"/>
            <a:chOff x="2628" y="6590"/>
            <a:chExt cx="3815" cy="3582"/>
          </a:xfrm>
        </p:grpSpPr>
        <p:sp>
          <p:nvSpPr>
            <p:cNvPr id="55" name="任意形状 26"/>
            <p:cNvSpPr/>
            <p:nvPr>
              <p:custDataLst>
                <p:tags r:id="rId21"/>
              </p:custDataLst>
            </p:nvPr>
          </p:nvSpPr>
          <p:spPr>
            <a:xfrm>
              <a:off x="2628" y="6590"/>
              <a:ext cx="72" cy="3526"/>
            </a:xfrm>
            <a:custGeom>
              <a:avLst/>
              <a:gdLst>
                <a:gd name="connsiteX0" fmla="*/ 0 w 7620"/>
                <a:gd name="connsiteY0" fmla="*/ 0 h 2510028"/>
                <a:gd name="connsiteX1" fmla="*/ 0 w 7620"/>
                <a:gd name="connsiteY1" fmla="*/ 2510028 h 2510028"/>
              </a:gdLst>
              <a:ahLst/>
              <a:cxnLst>
                <a:cxn ang="0">
                  <a:pos x="connsiteX0" y="connsiteY0"/>
                </a:cxn>
                <a:cxn ang="0">
                  <a:pos x="connsiteX1" y="connsiteY1"/>
                </a:cxn>
              </a:cxnLst>
              <a:rect l="l" t="t" r="r" b="b"/>
              <a:pathLst>
                <a:path w="7620" h="2510028">
                  <a:moveTo>
                    <a:pt x="0" y="0"/>
                  </a:moveTo>
                  <a:lnTo>
                    <a:pt x="0" y="2510028"/>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32" name="文本框 231"/>
            <p:cNvSpPr txBox="1"/>
            <p:nvPr>
              <p:custDataLst>
                <p:tags r:id="rId22"/>
              </p:custDataLst>
            </p:nvPr>
          </p:nvSpPr>
          <p:spPr>
            <a:xfrm>
              <a:off x="2763" y="7097"/>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技能拓宽：</a:t>
              </a:r>
              <a:r>
                <a:rPr lang="zh-CN" altLang="en-US" sz="1000" dirty="0">
                  <a:solidFill>
                    <a:srgbClr val="383838"/>
                  </a:solidFill>
                  <a:latin typeface="微软雅黑"/>
                  <a:ea typeface="微软雅黑"/>
                  <a:cs typeface="微软雅黑"/>
                </a:rPr>
                <a:t>主动涉猎文案、设计或投放等上下游技能，消除协作壁垒，让自己成为团队的</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万能补丁</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a:t>
              </a:r>
              <a:endParaRPr lang="en-US" altLang="zh-CN"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项目领跑：</a:t>
              </a:r>
              <a:r>
                <a:rPr lang="zh-CN" altLang="en-US" sz="1000" dirty="0">
                  <a:solidFill>
                    <a:srgbClr val="383838"/>
                  </a:solidFill>
                  <a:latin typeface="微软雅黑"/>
                  <a:ea typeface="微软雅黑"/>
                  <a:cs typeface="微软雅黑"/>
                </a:rPr>
                <a:t>从策划到落地全程把控，积累完整的项目闭环经验。</a:t>
              </a:r>
              <a:endParaRPr lang="zh-CN" altLang="en-US" sz="1000" dirty="0">
                <a:solidFill>
                  <a:srgbClr val="383838"/>
                </a:solidFill>
                <a:latin typeface="微软雅黑"/>
                <a:ea typeface="微软雅黑"/>
                <a:cs typeface="微软雅黑"/>
              </a:endParaRPr>
            </a:p>
          </p:txBody>
        </p:sp>
        <p:sp>
          <p:nvSpPr>
            <p:cNvPr id="233" name="矩形 232"/>
            <p:cNvSpPr/>
            <p:nvPr>
              <p:custDataLst>
                <p:tags r:id="rId23"/>
              </p:custDataLst>
            </p:nvPr>
          </p:nvSpPr>
          <p:spPr>
            <a:xfrm>
              <a:off x="2845" y="9640"/>
              <a:ext cx="3518" cy="533"/>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能力破局年</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75" name="组合 74"/>
          <p:cNvGrpSpPr/>
          <p:nvPr>
            <p:custDataLst>
              <p:tags r:id="rId24"/>
            </p:custDataLst>
          </p:nvPr>
        </p:nvGrpSpPr>
        <p:grpSpPr>
          <a:xfrm>
            <a:off x="4057015" y="4106545"/>
            <a:ext cx="2414905" cy="2274570"/>
            <a:chOff x="6558" y="6590"/>
            <a:chExt cx="3803" cy="3582"/>
          </a:xfrm>
        </p:grpSpPr>
        <p:sp>
          <p:nvSpPr>
            <p:cNvPr id="57" name="任意形状 27"/>
            <p:cNvSpPr/>
            <p:nvPr>
              <p:custDataLst>
                <p:tags r:id="rId25"/>
              </p:custDataLst>
            </p:nvPr>
          </p:nvSpPr>
          <p:spPr>
            <a:xfrm>
              <a:off x="6558" y="6590"/>
              <a:ext cx="72" cy="3526"/>
            </a:xfrm>
            <a:custGeom>
              <a:avLst/>
              <a:gdLst>
                <a:gd name="connsiteX0" fmla="*/ 0 w 7620"/>
                <a:gd name="connsiteY0" fmla="*/ 0 h 2510028"/>
                <a:gd name="connsiteX1" fmla="*/ 0 w 7620"/>
                <a:gd name="connsiteY1" fmla="*/ 2510028 h 2510028"/>
              </a:gdLst>
              <a:ahLst/>
              <a:cxnLst>
                <a:cxn ang="0">
                  <a:pos x="connsiteX0" y="connsiteY0"/>
                </a:cxn>
                <a:cxn ang="0">
                  <a:pos x="connsiteX1" y="connsiteY1"/>
                </a:cxn>
              </a:cxnLst>
              <a:rect l="l" t="t" r="r" b="b"/>
              <a:pathLst>
                <a:path w="7620" h="2510028">
                  <a:moveTo>
                    <a:pt x="0" y="0"/>
                  </a:moveTo>
                  <a:lnTo>
                    <a:pt x="0" y="2510028"/>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0" name="文本框 59"/>
            <p:cNvSpPr txBox="1"/>
            <p:nvPr>
              <p:custDataLst>
                <p:tags r:id="rId26"/>
              </p:custDataLst>
            </p:nvPr>
          </p:nvSpPr>
          <p:spPr>
            <a:xfrm>
              <a:off x="6681" y="7097"/>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工具赋能：</a:t>
              </a:r>
              <a:r>
                <a:rPr lang="zh-CN" altLang="en-US" sz="1000" dirty="0">
                  <a:solidFill>
                    <a:srgbClr val="383838"/>
                  </a:solidFill>
                  <a:latin typeface="微软雅黑"/>
                  <a:ea typeface="微软雅黑"/>
                  <a:cs typeface="微软雅黑"/>
                </a:rPr>
                <a:t>引入自动化工具或</a:t>
              </a:r>
              <a:r>
                <a:rPr lang="en-US" altLang="zh-CN" sz="1000" dirty="0">
                  <a:solidFill>
                    <a:srgbClr val="383838"/>
                  </a:solidFill>
                  <a:latin typeface="微软雅黑"/>
                  <a:ea typeface="微软雅黑"/>
                  <a:cs typeface="微软雅黑"/>
                </a:rPr>
                <a:t>RPA</a:t>
              </a:r>
              <a:r>
                <a:rPr lang="zh-CN" altLang="en-US" sz="1000" dirty="0">
                  <a:solidFill>
                    <a:srgbClr val="383838"/>
                  </a:solidFill>
                  <a:latin typeface="微软雅黑"/>
                  <a:ea typeface="微软雅黑"/>
                  <a:cs typeface="微软雅黑"/>
                </a:rPr>
                <a:t>机器人，解放重复人力，将团队人效提升</a:t>
              </a:r>
              <a:r>
                <a:rPr lang="en-US" altLang="zh-CN" sz="1000" dirty="0">
                  <a:solidFill>
                    <a:srgbClr val="383838"/>
                  </a:solidFill>
                  <a:latin typeface="微软雅黑"/>
                  <a:ea typeface="微软雅黑"/>
                  <a:cs typeface="微软雅黑"/>
                </a:rPr>
                <a:t>30%</a:t>
              </a:r>
              <a:r>
                <a:rPr lang="zh-CN" altLang="en-US" sz="1000" dirty="0">
                  <a:solidFill>
                    <a:srgbClr val="383838"/>
                  </a:solidFill>
                  <a:latin typeface="微软雅黑"/>
                  <a:ea typeface="微软雅黑"/>
                  <a:cs typeface="微软雅黑"/>
                </a:rPr>
                <a:t>以上。</a:t>
              </a:r>
              <a:endParaRPr lang="en-US" altLang="zh-CN"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机制建立：</a:t>
              </a:r>
              <a:r>
                <a:rPr lang="zh-CN" altLang="en-US" sz="1000" dirty="0">
                  <a:solidFill>
                    <a:srgbClr val="383838"/>
                  </a:solidFill>
                  <a:latin typeface="微软雅黑"/>
                  <a:ea typeface="微软雅黑"/>
                  <a:cs typeface="微软雅黑"/>
                </a:rPr>
                <a:t>建立标准化运营体系，告别</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人治</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，转向</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法治</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a:t>
              </a:r>
              <a:endParaRPr lang="zh-CN" altLang="en-US" sz="1000" dirty="0">
                <a:solidFill>
                  <a:srgbClr val="383838"/>
                </a:solidFill>
                <a:latin typeface="微软雅黑"/>
                <a:ea typeface="微软雅黑"/>
                <a:cs typeface="微软雅黑"/>
              </a:endParaRPr>
            </a:p>
          </p:txBody>
        </p:sp>
        <p:sp>
          <p:nvSpPr>
            <p:cNvPr id="61" name="矩形 60"/>
            <p:cNvSpPr/>
            <p:nvPr>
              <p:custDataLst>
                <p:tags r:id="rId27"/>
              </p:custDataLst>
            </p:nvPr>
          </p:nvSpPr>
          <p:spPr>
            <a:xfrm>
              <a:off x="6763" y="9640"/>
              <a:ext cx="3518" cy="533"/>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效率优化年</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76" name="组合 75"/>
          <p:cNvGrpSpPr/>
          <p:nvPr>
            <p:custDataLst>
              <p:tags r:id="rId28"/>
            </p:custDataLst>
          </p:nvPr>
        </p:nvGrpSpPr>
        <p:grpSpPr>
          <a:xfrm>
            <a:off x="6589395" y="4106545"/>
            <a:ext cx="2407285" cy="2274570"/>
            <a:chOff x="10467" y="6590"/>
            <a:chExt cx="3791" cy="3582"/>
          </a:xfrm>
        </p:grpSpPr>
        <p:sp>
          <p:nvSpPr>
            <p:cNvPr id="59" name="任意形状 29"/>
            <p:cNvSpPr/>
            <p:nvPr>
              <p:custDataLst>
                <p:tags r:id="rId29"/>
              </p:custDataLst>
            </p:nvPr>
          </p:nvSpPr>
          <p:spPr>
            <a:xfrm>
              <a:off x="10467" y="6590"/>
              <a:ext cx="72" cy="3526"/>
            </a:xfrm>
            <a:custGeom>
              <a:avLst/>
              <a:gdLst>
                <a:gd name="connsiteX0" fmla="*/ 0 w 7620"/>
                <a:gd name="connsiteY0" fmla="*/ 0 h 2510028"/>
                <a:gd name="connsiteX1" fmla="*/ 0 w 7620"/>
                <a:gd name="connsiteY1" fmla="*/ 2510028 h 2510028"/>
              </a:gdLst>
              <a:ahLst/>
              <a:cxnLst>
                <a:cxn ang="0">
                  <a:pos x="connsiteX0" y="connsiteY0"/>
                </a:cxn>
                <a:cxn ang="0">
                  <a:pos x="connsiteX1" y="connsiteY1"/>
                </a:cxn>
              </a:cxnLst>
              <a:rect l="l" t="t" r="r" b="b"/>
              <a:pathLst>
                <a:path w="7620" h="2510028">
                  <a:moveTo>
                    <a:pt x="0" y="0"/>
                  </a:moveTo>
                  <a:lnTo>
                    <a:pt x="0" y="2510028"/>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3" name="文本框 62"/>
            <p:cNvSpPr txBox="1"/>
            <p:nvPr>
              <p:custDataLst>
                <p:tags r:id="rId30"/>
              </p:custDataLst>
            </p:nvPr>
          </p:nvSpPr>
          <p:spPr>
            <a:xfrm>
              <a:off x="10578" y="7097"/>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盈亏算账：</a:t>
              </a:r>
              <a:r>
                <a:rPr lang="zh-CN" altLang="en-US" sz="1000" dirty="0">
                  <a:solidFill>
                    <a:srgbClr val="383838"/>
                  </a:solidFill>
                  <a:latin typeface="微软雅黑"/>
                  <a:ea typeface="微软雅黑"/>
                  <a:cs typeface="微软雅黑"/>
                </a:rPr>
                <a:t>学会看</a:t>
              </a:r>
              <a:r>
                <a:rPr lang="en-US" altLang="zh-CN" sz="1000" dirty="0">
                  <a:solidFill>
                    <a:srgbClr val="383838"/>
                  </a:solidFill>
                  <a:latin typeface="微软雅黑"/>
                  <a:ea typeface="微软雅黑"/>
                  <a:cs typeface="微软雅黑"/>
                </a:rPr>
                <a:t>P&amp;L</a:t>
              </a:r>
              <a:r>
                <a:rPr lang="zh-CN" altLang="en-US" sz="1000" dirty="0">
                  <a:solidFill>
                    <a:srgbClr val="383838"/>
                  </a:solidFill>
                  <a:latin typeface="微软雅黑"/>
                  <a:ea typeface="微软雅黑"/>
                  <a:cs typeface="微软雅黑"/>
                </a:rPr>
                <a:t>报表，从</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花钱做活动</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转变为</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投资看</a:t>
              </a:r>
              <a:r>
                <a:rPr lang="en-US" altLang="zh-CN" sz="1000" dirty="0">
                  <a:solidFill>
                    <a:srgbClr val="383838"/>
                  </a:solidFill>
                  <a:latin typeface="微软雅黑"/>
                  <a:ea typeface="微软雅黑"/>
                  <a:cs typeface="微软雅黑"/>
                </a:rPr>
                <a:t>ROI”</a:t>
              </a:r>
              <a:r>
                <a:rPr lang="zh-CN" altLang="en-US" sz="1000" dirty="0">
                  <a:solidFill>
                    <a:srgbClr val="383838"/>
                  </a:solidFill>
                  <a:latin typeface="微软雅黑"/>
                  <a:ea typeface="微软雅黑"/>
                  <a:cs typeface="微软雅黑"/>
                </a:rPr>
                <a:t>，具备经营者意识。</a:t>
              </a:r>
              <a:endParaRPr lang="en-US" altLang="zh-CN"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商业洞察：</a:t>
              </a:r>
              <a:r>
                <a:rPr lang="zh-CN" altLang="en-US" sz="1000" dirty="0">
                  <a:solidFill>
                    <a:srgbClr val="383838"/>
                  </a:solidFill>
                  <a:latin typeface="微软雅黑"/>
                  <a:ea typeface="微软雅黑"/>
                  <a:cs typeface="微软雅黑"/>
                </a:rPr>
                <a:t>寻找业务新的增长点或创新模式，探索商业化变现路径。</a:t>
              </a:r>
              <a:endParaRPr lang="zh-CN" altLang="en-US" sz="1000" dirty="0">
                <a:solidFill>
                  <a:srgbClr val="383838"/>
                </a:solidFill>
                <a:latin typeface="微软雅黑"/>
                <a:ea typeface="微软雅黑"/>
                <a:cs typeface="微软雅黑"/>
              </a:endParaRPr>
            </a:p>
          </p:txBody>
        </p:sp>
        <p:sp>
          <p:nvSpPr>
            <p:cNvPr id="64" name="矩形 63"/>
            <p:cNvSpPr/>
            <p:nvPr>
              <p:custDataLst>
                <p:tags r:id="rId31"/>
              </p:custDataLst>
            </p:nvPr>
          </p:nvSpPr>
          <p:spPr>
            <a:xfrm>
              <a:off x="10660" y="9640"/>
              <a:ext cx="3518" cy="533"/>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rPr>
                <a:t>商业进化年</a:t>
              </a:r>
              <a:endParaRPr kumimoji="1" lang="zh-CN" altLang="en-US" sz="1400" b="1" i="0" u="none" strike="noStrike" kern="1200" cap="none" spc="0" normalizeH="0" baseline="0" noProof="0" dirty="0">
                <a:ln>
                  <a:noFill/>
                </a:ln>
                <a:solidFill>
                  <a:srgbClr val="FFFFFF"/>
                </a:solidFill>
                <a:effectLst/>
                <a:uLnTx/>
                <a:uFillTx/>
                <a:latin typeface="微软雅黑"/>
                <a:ea typeface="微软雅黑"/>
                <a:cs typeface="微软雅黑"/>
              </a:endParaRPr>
            </a:p>
          </p:txBody>
        </p:sp>
      </p:grpSp>
      <p:grpSp>
        <p:nvGrpSpPr>
          <p:cNvPr id="77" name="组合 76"/>
          <p:cNvGrpSpPr/>
          <p:nvPr>
            <p:custDataLst>
              <p:tags r:id="rId32"/>
            </p:custDataLst>
          </p:nvPr>
        </p:nvGrpSpPr>
        <p:grpSpPr>
          <a:xfrm>
            <a:off x="9114155" y="4106545"/>
            <a:ext cx="2399665" cy="2274570"/>
            <a:chOff x="14381" y="6590"/>
            <a:chExt cx="3779" cy="3582"/>
          </a:xfrm>
        </p:grpSpPr>
        <p:sp>
          <p:nvSpPr>
            <p:cNvPr id="201" name="任意形状 200"/>
            <p:cNvSpPr/>
            <p:nvPr>
              <p:custDataLst>
                <p:tags r:id="rId33"/>
              </p:custDataLst>
            </p:nvPr>
          </p:nvSpPr>
          <p:spPr>
            <a:xfrm>
              <a:off x="14381" y="6590"/>
              <a:ext cx="72" cy="3526"/>
            </a:xfrm>
            <a:custGeom>
              <a:avLst/>
              <a:gdLst>
                <a:gd name="connsiteX0" fmla="*/ 0 w 7620"/>
                <a:gd name="connsiteY0" fmla="*/ 0 h 2510028"/>
                <a:gd name="connsiteX1" fmla="*/ 0 w 7620"/>
                <a:gd name="connsiteY1" fmla="*/ 2510028 h 2510028"/>
              </a:gdLst>
              <a:ahLst/>
              <a:cxnLst>
                <a:cxn ang="0">
                  <a:pos x="connsiteX0" y="connsiteY0"/>
                </a:cxn>
                <a:cxn ang="0">
                  <a:pos x="connsiteX1" y="connsiteY1"/>
                </a:cxn>
              </a:cxnLst>
              <a:rect l="l" t="t" r="r" b="b"/>
              <a:pathLst>
                <a:path w="7620" h="2510028">
                  <a:moveTo>
                    <a:pt x="0" y="0"/>
                  </a:moveTo>
                  <a:lnTo>
                    <a:pt x="0" y="2510028"/>
                  </a:lnTo>
                </a:path>
              </a:pathLst>
            </a:custGeom>
            <a:ln w="15875" cap="flat">
              <a:solidFill>
                <a:srgbClr val="DCDCDC"/>
              </a:solidFill>
              <a:prstDash val="dash"/>
              <a:miter/>
              <a:tailEnd type="oval"/>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65" name="文本框 64"/>
            <p:cNvSpPr txBox="1"/>
            <p:nvPr>
              <p:custDataLst>
                <p:tags r:id="rId34"/>
              </p:custDataLst>
            </p:nvPr>
          </p:nvSpPr>
          <p:spPr>
            <a:xfrm>
              <a:off x="14480" y="7097"/>
              <a:ext cx="3681" cy="2163"/>
            </a:xfrm>
            <a:prstGeom prst="rect">
              <a:avLst/>
            </a:prstGeom>
            <a:noFill/>
          </p:spPr>
          <p:txBody>
            <a:bodyPr wrap="square" lIns="0" rIns="0" tIns="0" bIns="0">
              <a:spAutoFit/>
            </a:bodyPr>
            <a:lstStyle/>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洞察趋势：</a:t>
              </a:r>
              <a:r>
                <a:rPr lang="zh-CN" altLang="en-US" sz="1000" dirty="0">
                  <a:solidFill>
                    <a:srgbClr val="383838"/>
                  </a:solidFill>
                  <a:latin typeface="微软雅黑"/>
                  <a:ea typeface="微软雅黑"/>
                  <a:cs typeface="微软雅黑"/>
                </a:rPr>
                <a:t>参与公司顶层战略讨论，能将行业趋势拆解为具体的运营落地动作，具备业务一号位视野。</a:t>
              </a:r>
              <a:endParaRPr lang="en-US" altLang="zh-CN" sz="1000" dirty="0">
                <a:solidFill>
                  <a:srgbClr val="383838"/>
                </a:solidFill>
                <a:latin typeface="微软雅黑"/>
                <a:ea typeface="微软雅黑"/>
                <a:cs typeface="微软雅黑"/>
              </a:endParaRPr>
            </a:p>
            <a:p>
              <a:pPr marL="228600" indent="-228600" algn="just">
                <a:lnSpc>
                  <a:spcPct val="150000"/>
                </a:lnSpc>
                <a:spcAft>
                  <a:spcPts val="1000"/>
                </a:spcAft>
                <a:buFont typeface="微软雅黑"/>
                <a:buAutoNum type="arabicPeriod"/>
                <a:defRPr>
                  <a:latin typeface="微软雅黑"/>
                  <a:ea typeface="微软雅黑"/>
                  <a:cs typeface="微软雅黑"/>
                </a:defRPr>
              </a:pPr>
              <a:r>
                <a:rPr lang="zh-CN" altLang="en-US" sz="1000" b="1" dirty="0">
                  <a:solidFill>
                    <a:srgbClr val="383838"/>
                  </a:solidFill>
                  <a:latin typeface="微软雅黑"/>
                  <a:ea typeface="微软雅黑"/>
                  <a:cs typeface="微软雅黑"/>
                </a:rPr>
                <a:t>价值放大：</a:t>
              </a:r>
              <a:r>
                <a:rPr lang="zh-CN" altLang="en-US" sz="1000" dirty="0">
                  <a:solidFill>
                    <a:srgbClr val="383838"/>
                  </a:solidFill>
                  <a:latin typeface="微软雅黑"/>
                  <a:ea typeface="微软雅黑"/>
                  <a:cs typeface="微软雅黑"/>
                </a:rPr>
                <a:t>审视运营资产，通过运营手段提升企业整体估值。</a:t>
              </a:r>
              <a:endParaRPr lang="zh-CN" altLang="en-US" sz="1000" dirty="0">
                <a:solidFill>
                  <a:srgbClr val="383838"/>
                </a:solidFill>
                <a:latin typeface="微软雅黑"/>
                <a:ea typeface="微软雅黑"/>
                <a:cs typeface="微软雅黑"/>
              </a:endParaRPr>
            </a:p>
          </p:txBody>
        </p:sp>
        <p:sp>
          <p:nvSpPr>
            <p:cNvPr id="66" name="矩形 65"/>
            <p:cNvSpPr/>
            <p:nvPr>
              <p:custDataLst>
                <p:tags r:id="rId35"/>
              </p:custDataLst>
            </p:nvPr>
          </p:nvSpPr>
          <p:spPr>
            <a:xfrm>
              <a:off x="14562" y="9640"/>
              <a:ext cx="3518" cy="533"/>
            </a:xfrm>
            <a:prstGeom prst="rect">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rPr>
                <a:t>战略远见年</a:t>
              </a:r>
              <a:endParaRPr kumimoji="1" lang="zh-CN" altLang="en-US" sz="14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grpSp>
      <p:sp>
        <p:nvSpPr>
          <p:cNvPr id="128" name="Google Shape;1681;p34"/>
          <p:cNvSpPr txBox="1"/>
          <p:nvPr>
            <p:custDataLst>
              <p:tags r:id="rId36"/>
            </p:custDataLst>
          </p:nvPr>
        </p:nvSpPr>
        <p:spPr>
          <a:xfrm>
            <a:off x="199390"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2020</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1" name="Google Shape;1681;p34"/>
          <p:cNvSpPr txBox="1"/>
          <p:nvPr>
            <p:custDataLst>
              <p:tags r:id="rId37"/>
            </p:custDataLst>
          </p:nvPr>
        </p:nvSpPr>
        <p:spPr>
          <a:xfrm>
            <a:off x="1419225"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2021</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2" name="Google Shape;1681;p34"/>
          <p:cNvSpPr txBox="1"/>
          <p:nvPr>
            <p:custDataLst>
              <p:tags r:id="rId38"/>
            </p:custDataLst>
          </p:nvPr>
        </p:nvSpPr>
        <p:spPr>
          <a:xfrm>
            <a:off x="2639060"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2022</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3" name="Google Shape;1681;p34"/>
          <p:cNvSpPr txBox="1"/>
          <p:nvPr>
            <p:custDataLst>
              <p:tags r:id="rId39"/>
            </p:custDataLst>
          </p:nvPr>
        </p:nvSpPr>
        <p:spPr>
          <a:xfrm>
            <a:off x="3858895"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2023</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4" name="Google Shape;1681;p34"/>
          <p:cNvSpPr txBox="1"/>
          <p:nvPr>
            <p:custDataLst>
              <p:tags r:id="rId40"/>
            </p:custDataLst>
          </p:nvPr>
        </p:nvSpPr>
        <p:spPr>
          <a:xfrm>
            <a:off x="5078730"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2024</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5" name="Google Shape;1681;p34"/>
          <p:cNvSpPr txBox="1"/>
          <p:nvPr>
            <p:custDataLst>
              <p:tags r:id="rId41"/>
            </p:custDataLst>
          </p:nvPr>
        </p:nvSpPr>
        <p:spPr>
          <a:xfrm>
            <a:off x="6298565"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2025</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6" name="Google Shape;1681;p34"/>
          <p:cNvSpPr txBox="1"/>
          <p:nvPr>
            <p:custDataLst>
              <p:tags r:id="rId42"/>
            </p:custDataLst>
          </p:nvPr>
        </p:nvSpPr>
        <p:spPr>
          <a:xfrm>
            <a:off x="7518400"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2026</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137" name="Google Shape;1681;p34"/>
          <p:cNvSpPr txBox="1"/>
          <p:nvPr>
            <p:custDataLst>
              <p:tags r:id="rId43"/>
            </p:custDataLst>
          </p:nvPr>
        </p:nvSpPr>
        <p:spPr>
          <a:xfrm>
            <a:off x="8738235" y="3717925"/>
            <a:ext cx="620395" cy="234950"/>
          </a:xfrm>
          <a:prstGeom prst="rect">
            <a:avLst/>
          </a:prstGeom>
          <a:noFill/>
          <a:ln>
            <a:noFill/>
          </a:ln>
        </p:spPr>
        <p:txBody>
          <a:bodyPr spcFirstLastPara="1" wrap="square" lIns="0" tIns="0" rIns="0" bIns="0" anchor="t" anchorCtr="0">
            <a:spAutoFit/>
          </a:bodyPr>
          <a:lstStyle/>
          <a:p>
            <a:pPr marL="0" marR="0" lvl="0" indent="0" algn="ctr" defTabSz="914400" rtl="0" eaLnBrk="1" fontAlgn="auto" latinLnBrk="0" hangingPunct="1">
              <a:lnSpc>
                <a:spcPct val="100000"/>
              </a:lnSpc>
              <a:spcBef>
                <a:spcPts val="0"/>
              </a:spcBef>
              <a:spcAft>
                <a:spcPts val="0"/>
              </a:spcAft>
              <a:buClr>
                <a:prstClr val="black"/>
              </a:buClr>
              <a:buSzPts val="1000"/>
              <a:buFontTx/>
              <a:buNone/>
              <a:defRPr>
                <a:solidFill>
                  <a:srgbClr val="FFFFFF"/>
                </a:solidFill>
                <a:latin typeface="微软雅黑"/>
                <a:ea typeface="微软雅黑"/>
                <a:cs typeface="微软雅黑"/>
              </a:defRPr>
            </a:pPr>
            <a:r>
              <a:rPr kumimoji="0" 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2027</a:t>
            </a:r>
            <a:r>
              <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a:t>
            </a:r>
            <a:endParaRPr kumimoji="0" lang="zh-CN" altLang="en-US" sz="1200" b="1"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grpSp>
        <p:nvGrpSpPr>
          <p:cNvPr id="179" name="组合 178"/>
          <p:cNvGrpSpPr/>
          <p:nvPr>
            <p:custDataLst>
              <p:tags r:id="rId44"/>
            </p:custDataLst>
          </p:nvPr>
        </p:nvGrpSpPr>
        <p:grpSpPr>
          <a:xfrm rot="0">
            <a:off x="8743315" y="-690880"/>
            <a:ext cx="2085975" cy="189865"/>
            <a:chOff x="776" y="5508"/>
            <a:chExt cx="2851" cy="394"/>
          </a:xfrm>
        </p:grpSpPr>
        <p:cxnSp>
          <p:nvCxnSpPr>
            <p:cNvPr id="180" name="猫爪PPT-2-3"/>
            <p:cNvCxnSpPr/>
            <p:nvPr>
              <p:custDataLst>
                <p:tags r:id="rId45"/>
              </p:custDataLst>
            </p:nvPr>
          </p:nvCxnSpPr>
          <p:spPr>
            <a:xfrm>
              <a:off x="776"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1" name="猫爪PPT-2-4"/>
            <p:cNvCxnSpPr/>
            <p:nvPr>
              <p:custDataLst>
                <p:tags r:id="rId46"/>
              </p:custDataLst>
            </p:nvPr>
          </p:nvCxnSpPr>
          <p:spPr>
            <a:xfrm>
              <a:off x="943"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2" name="猫爪PPT-2-5"/>
            <p:cNvCxnSpPr/>
            <p:nvPr>
              <p:custDataLst>
                <p:tags r:id="rId47"/>
              </p:custDataLst>
            </p:nvPr>
          </p:nvCxnSpPr>
          <p:spPr>
            <a:xfrm>
              <a:off x="1111"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3" name="猫爪PPT-2-6"/>
            <p:cNvCxnSpPr/>
            <p:nvPr>
              <p:custDataLst>
                <p:tags r:id="rId48"/>
              </p:custDataLst>
            </p:nvPr>
          </p:nvCxnSpPr>
          <p:spPr>
            <a:xfrm>
              <a:off x="1279"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4" name="猫爪PPT-2-7"/>
            <p:cNvCxnSpPr/>
            <p:nvPr>
              <p:custDataLst>
                <p:tags r:id="rId49"/>
              </p:custDataLst>
            </p:nvPr>
          </p:nvCxnSpPr>
          <p:spPr>
            <a:xfrm>
              <a:off x="1614"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5" name="猫爪PPT-2-8"/>
            <p:cNvCxnSpPr/>
            <p:nvPr>
              <p:custDataLst>
                <p:tags r:id="rId50"/>
              </p:custDataLst>
            </p:nvPr>
          </p:nvCxnSpPr>
          <p:spPr>
            <a:xfrm>
              <a:off x="1950"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6" name="猫爪PPT-2-9"/>
            <p:cNvCxnSpPr/>
            <p:nvPr>
              <p:custDataLst>
                <p:tags r:id="rId51"/>
              </p:custDataLst>
            </p:nvPr>
          </p:nvCxnSpPr>
          <p:spPr>
            <a:xfrm>
              <a:off x="1447"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7" name="猫爪PPT-2-10"/>
            <p:cNvCxnSpPr/>
            <p:nvPr>
              <p:custDataLst>
                <p:tags r:id="rId52"/>
              </p:custDataLst>
            </p:nvPr>
          </p:nvCxnSpPr>
          <p:spPr>
            <a:xfrm>
              <a:off x="1782"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8" name="猫爪PPT-2-11"/>
            <p:cNvCxnSpPr/>
            <p:nvPr>
              <p:custDataLst>
                <p:tags r:id="rId53"/>
              </p:custDataLst>
            </p:nvPr>
          </p:nvCxnSpPr>
          <p:spPr>
            <a:xfrm>
              <a:off x="2117"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89" name="猫爪PPT-2-12"/>
            <p:cNvCxnSpPr/>
            <p:nvPr>
              <p:custDataLst>
                <p:tags r:id="rId54"/>
              </p:custDataLst>
            </p:nvPr>
          </p:nvCxnSpPr>
          <p:spPr>
            <a:xfrm>
              <a:off x="2285"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0" name="猫爪PPT-2-13"/>
            <p:cNvCxnSpPr/>
            <p:nvPr>
              <p:custDataLst>
                <p:tags r:id="rId55"/>
              </p:custDataLst>
            </p:nvPr>
          </p:nvCxnSpPr>
          <p:spPr>
            <a:xfrm>
              <a:off x="2453"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1" name="猫爪PPT-2-14"/>
            <p:cNvCxnSpPr/>
            <p:nvPr>
              <p:custDataLst>
                <p:tags r:id="rId56"/>
              </p:custDataLst>
            </p:nvPr>
          </p:nvCxnSpPr>
          <p:spPr>
            <a:xfrm>
              <a:off x="2620" y="5508"/>
              <a:ext cx="0" cy="394"/>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2" name="猫爪PPT-2-15"/>
            <p:cNvCxnSpPr/>
            <p:nvPr>
              <p:custDataLst>
                <p:tags r:id="rId57"/>
              </p:custDataLst>
            </p:nvPr>
          </p:nvCxnSpPr>
          <p:spPr>
            <a:xfrm>
              <a:off x="2788"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3" name="猫爪PPT-2-16"/>
            <p:cNvCxnSpPr/>
            <p:nvPr>
              <p:custDataLst>
                <p:tags r:id="rId58"/>
              </p:custDataLst>
            </p:nvPr>
          </p:nvCxnSpPr>
          <p:spPr>
            <a:xfrm>
              <a:off x="2956"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4" name="猫爪PPT-2-17"/>
            <p:cNvCxnSpPr/>
            <p:nvPr>
              <p:custDataLst>
                <p:tags r:id="rId59"/>
              </p:custDataLst>
            </p:nvPr>
          </p:nvCxnSpPr>
          <p:spPr>
            <a:xfrm>
              <a:off x="3124"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5" name="猫爪PPT-2-18"/>
            <p:cNvCxnSpPr/>
            <p:nvPr>
              <p:custDataLst>
                <p:tags r:id="rId60"/>
              </p:custDataLst>
            </p:nvPr>
          </p:nvCxnSpPr>
          <p:spPr>
            <a:xfrm>
              <a:off x="3291"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6" name="猫爪PPT-2-19"/>
            <p:cNvCxnSpPr/>
            <p:nvPr>
              <p:custDataLst>
                <p:tags r:id="rId61"/>
              </p:custDataLst>
            </p:nvPr>
          </p:nvCxnSpPr>
          <p:spPr>
            <a:xfrm>
              <a:off x="3459"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197" name="猫爪PPT-2-20"/>
            <p:cNvCxnSpPr/>
            <p:nvPr>
              <p:custDataLst>
                <p:tags r:id="rId62"/>
              </p:custDataLst>
            </p:nvPr>
          </p:nvCxnSpPr>
          <p:spPr>
            <a:xfrm>
              <a:off x="3627"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cxnSp>
        <p:nvCxnSpPr>
          <p:cNvPr id="199" name="猫爪PPT-2-21"/>
          <p:cNvCxnSpPr/>
          <p:nvPr>
            <p:custDataLst>
              <p:tags r:id="rId63"/>
            </p:custDataLst>
          </p:nvPr>
        </p:nvCxnSpPr>
        <p:spPr>
          <a:xfrm>
            <a:off x="63246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0" name="猫爪PPT-2-22"/>
          <p:cNvCxnSpPr/>
          <p:nvPr>
            <p:custDataLst>
              <p:tags r:id="rId64"/>
            </p:custDataLst>
          </p:nvPr>
        </p:nvCxnSpPr>
        <p:spPr>
          <a:xfrm>
            <a:off x="75565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2" name="猫爪PPT-2-23"/>
          <p:cNvCxnSpPr/>
          <p:nvPr>
            <p:custDataLst>
              <p:tags r:id="rId65"/>
            </p:custDataLst>
          </p:nvPr>
        </p:nvCxnSpPr>
        <p:spPr>
          <a:xfrm>
            <a:off x="87820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3" name="猫爪PPT-2-24"/>
          <p:cNvCxnSpPr/>
          <p:nvPr>
            <p:custDataLst>
              <p:tags r:id="rId66"/>
            </p:custDataLst>
          </p:nvPr>
        </p:nvCxnSpPr>
        <p:spPr>
          <a:xfrm>
            <a:off x="100139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4" name="猫爪PPT-2-25"/>
          <p:cNvCxnSpPr/>
          <p:nvPr>
            <p:custDataLst>
              <p:tags r:id="rId67"/>
            </p:custDataLst>
          </p:nvPr>
        </p:nvCxnSpPr>
        <p:spPr>
          <a:xfrm>
            <a:off x="112331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5" name="猫爪PPT-2-26"/>
          <p:cNvCxnSpPr/>
          <p:nvPr>
            <p:custDataLst>
              <p:tags r:id="rId68"/>
            </p:custDataLst>
          </p:nvPr>
        </p:nvCxnSpPr>
        <p:spPr>
          <a:xfrm>
            <a:off x="1246505" y="-678180"/>
            <a:ext cx="0" cy="18986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6" name="猫爪PPT-2-27"/>
          <p:cNvCxnSpPr/>
          <p:nvPr>
            <p:custDataLst>
              <p:tags r:id="rId69"/>
            </p:custDataLst>
          </p:nvPr>
        </p:nvCxnSpPr>
        <p:spPr>
          <a:xfrm>
            <a:off x="136906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7" name="猫爪PPT-2-28"/>
          <p:cNvCxnSpPr/>
          <p:nvPr>
            <p:custDataLst>
              <p:tags r:id="rId70"/>
            </p:custDataLst>
          </p:nvPr>
        </p:nvCxnSpPr>
        <p:spPr>
          <a:xfrm>
            <a:off x="149161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8" name="猫爪PPT-2-29"/>
          <p:cNvCxnSpPr/>
          <p:nvPr>
            <p:custDataLst>
              <p:tags r:id="rId71"/>
            </p:custDataLst>
          </p:nvPr>
        </p:nvCxnSpPr>
        <p:spPr>
          <a:xfrm>
            <a:off x="161417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09" name="猫爪PPT-2-30"/>
          <p:cNvCxnSpPr/>
          <p:nvPr>
            <p:custDataLst>
              <p:tags r:id="rId72"/>
            </p:custDataLst>
          </p:nvPr>
        </p:nvCxnSpPr>
        <p:spPr>
          <a:xfrm>
            <a:off x="173736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0" name="猫爪PPT-2-31"/>
          <p:cNvCxnSpPr/>
          <p:nvPr>
            <p:custDataLst>
              <p:tags r:id="rId73"/>
            </p:custDataLst>
          </p:nvPr>
        </p:nvCxnSpPr>
        <p:spPr>
          <a:xfrm>
            <a:off x="186055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1" name="猫爪PPT-2-32"/>
          <p:cNvCxnSpPr/>
          <p:nvPr>
            <p:custDataLst>
              <p:tags r:id="rId74"/>
            </p:custDataLst>
          </p:nvPr>
        </p:nvCxnSpPr>
        <p:spPr>
          <a:xfrm>
            <a:off x="198247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2" name="猫爪PPT-2-33"/>
          <p:cNvCxnSpPr/>
          <p:nvPr>
            <p:custDataLst>
              <p:tags r:id="rId75"/>
            </p:custDataLst>
          </p:nvPr>
        </p:nvCxnSpPr>
        <p:spPr>
          <a:xfrm>
            <a:off x="210566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3" name="猫爪PPT-2-34"/>
          <p:cNvCxnSpPr/>
          <p:nvPr>
            <p:custDataLst>
              <p:tags r:id="rId76"/>
            </p:custDataLst>
          </p:nvPr>
        </p:nvCxnSpPr>
        <p:spPr>
          <a:xfrm>
            <a:off x="222821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4" name="猫爪PPT-2-35"/>
          <p:cNvCxnSpPr/>
          <p:nvPr>
            <p:custDataLst>
              <p:tags r:id="rId77"/>
            </p:custDataLst>
          </p:nvPr>
        </p:nvCxnSpPr>
        <p:spPr>
          <a:xfrm>
            <a:off x="235077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5" name="猫爪PPT-2-36"/>
          <p:cNvCxnSpPr/>
          <p:nvPr>
            <p:custDataLst>
              <p:tags r:id="rId78"/>
            </p:custDataLst>
          </p:nvPr>
        </p:nvCxnSpPr>
        <p:spPr>
          <a:xfrm>
            <a:off x="247332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6" name="猫爪PPT-2-37"/>
          <p:cNvCxnSpPr/>
          <p:nvPr>
            <p:custDataLst>
              <p:tags r:id="rId79"/>
            </p:custDataLst>
          </p:nvPr>
        </p:nvCxnSpPr>
        <p:spPr>
          <a:xfrm>
            <a:off x="259651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7" name="猫爪PPT-2-38"/>
          <p:cNvCxnSpPr/>
          <p:nvPr>
            <p:custDataLst>
              <p:tags r:id="rId80"/>
            </p:custDataLst>
          </p:nvPr>
        </p:nvCxnSpPr>
        <p:spPr>
          <a:xfrm>
            <a:off x="2718435" y="-678180"/>
            <a:ext cx="0" cy="18986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8" name="猫爪PPT-2-39"/>
          <p:cNvCxnSpPr/>
          <p:nvPr>
            <p:custDataLst>
              <p:tags r:id="rId81"/>
            </p:custDataLst>
          </p:nvPr>
        </p:nvCxnSpPr>
        <p:spPr>
          <a:xfrm>
            <a:off x="284162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19" name="猫爪PPT-2-40"/>
          <p:cNvCxnSpPr/>
          <p:nvPr>
            <p:custDataLst>
              <p:tags r:id="rId82"/>
            </p:custDataLst>
          </p:nvPr>
        </p:nvCxnSpPr>
        <p:spPr>
          <a:xfrm>
            <a:off x="296481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26" name="猫爪PPT-2-41"/>
          <p:cNvCxnSpPr/>
          <p:nvPr>
            <p:custDataLst>
              <p:tags r:id="rId83"/>
            </p:custDataLst>
          </p:nvPr>
        </p:nvCxnSpPr>
        <p:spPr>
          <a:xfrm>
            <a:off x="308737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27" name="猫爪PPT-2-42"/>
          <p:cNvCxnSpPr/>
          <p:nvPr>
            <p:custDataLst>
              <p:tags r:id="rId84"/>
            </p:custDataLst>
          </p:nvPr>
        </p:nvCxnSpPr>
        <p:spPr>
          <a:xfrm>
            <a:off x="320992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28" name="猫爪PPT-2-43"/>
          <p:cNvCxnSpPr/>
          <p:nvPr>
            <p:custDataLst>
              <p:tags r:id="rId85"/>
            </p:custDataLst>
          </p:nvPr>
        </p:nvCxnSpPr>
        <p:spPr>
          <a:xfrm>
            <a:off x="333248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29" name="猫爪PPT-2-44"/>
          <p:cNvCxnSpPr/>
          <p:nvPr>
            <p:custDataLst>
              <p:tags r:id="rId86"/>
            </p:custDataLst>
          </p:nvPr>
        </p:nvCxnSpPr>
        <p:spPr>
          <a:xfrm>
            <a:off x="345567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31" name="猫爪PPT-2-45"/>
          <p:cNvCxnSpPr/>
          <p:nvPr>
            <p:custDataLst>
              <p:tags r:id="rId87"/>
            </p:custDataLst>
          </p:nvPr>
        </p:nvCxnSpPr>
        <p:spPr>
          <a:xfrm>
            <a:off x="357759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34" name="猫爪PPT-2-46"/>
          <p:cNvCxnSpPr/>
          <p:nvPr>
            <p:custDataLst>
              <p:tags r:id="rId88"/>
            </p:custDataLst>
          </p:nvPr>
        </p:nvCxnSpPr>
        <p:spPr>
          <a:xfrm>
            <a:off x="370078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235" name="猫爪PPT-2-47"/>
          <p:cNvCxnSpPr/>
          <p:nvPr>
            <p:custDataLst>
              <p:tags r:id="rId89"/>
            </p:custDataLst>
          </p:nvPr>
        </p:nvCxnSpPr>
        <p:spPr>
          <a:xfrm>
            <a:off x="382333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23" name="猫爪PPT-2-48"/>
          <p:cNvCxnSpPr/>
          <p:nvPr>
            <p:custDataLst>
              <p:tags r:id="rId90"/>
            </p:custDataLst>
          </p:nvPr>
        </p:nvCxnSpPr>
        <p:spPr>
          <a:xfrm>
            <a:off x="394652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25" name="猫爪PPT-2-49"/>
          <p:cNvCxnSpPr/>
          <p:nvPr>
            <p:custDataLst>
              <p:tags r:id="rId91"/>
            </p:custDataLst>
          </p:nvPr>
        </p:nvCxnSpPr>
        <p:spPr>
          <a:xfrm>
            <a:off x="406844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30" name="猫爪PPT-2-50"/>
          <p:cNvCxnSpPr/>
          <p:nvPr>
            <p:custDataLst>
              <p:tags r:id="rId92"/>
            </p:custDataLst>
          </p:nvPr>
        </p:nvCxnSpPr>
        <p:spPr>
          <a:xfrm>
            <a:off x="4191635" y="-678180"/>
            <a:ext cx="0" cy="18986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33" name="猫爪PPT-2-51"/>
          <p:cNvCxnSpPr/>
          <p:nvPr>
            <p:custDataLst>
              <p:tags r:id="rId93"/>
            </p:custDataLst>
          </p:nvPr>
        </p:nvCxnSpPr>
        <p:spPr>
          <a:xfrm>
            <a:off x="431482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34" name="猫爪PPT-2-52"/>
          <p:cNvCxnSpPr/>
          <p:nvPr>
            <p:custDataLst>
              <p:tags r:id="rId94"/>
            </p:custDataLst>
          </p:nvPr>
        </p:nvCxnSpPr>
        <p:spPr>
          <a:xfrm>
            <a:off x="443674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36" name="猫爪PPT-2-53"/>
          <p:cNvCxnSpPr/>
          <p:nvPr>
            <p:custDataLst>
              <p:tags r:id="rId95"/>
            </p:custDataLst>
          </p:nvPr>
        </p:nvCxnSpPr>
        <p:spPr>
          <a:xfrm>
            <a:off x="455993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37" name="猫爪PPT-2-54"/>
          <p:cNvCxnSpPr/>
          <p:nvPr>
            <p:custDataLst>
              <p:tags r:id="rId96"/>
            </p:custDataLst>
          </p:nvPr>
        </p:nvCxnSpPr>
        <p:spPr>
          <a:xfrm>
            <a:off x="468249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38" name="猫爪PPT-2-55"/>
          <p:cNvCxnSpPr/>
          <p:nvPr>
            <p:custDataLst>
              <p:tags r:id="rId97"/>
            </p:custDataLst>
          </p:nvPr>
        </p:nvCxnSpPr>
        <p:spPr>
          <a:xfrm>
            <a:off x="480504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39" name="猫爪PPT-2-56"/>
          <p:cNvCxnSpPr/>
          <p:nvPr>
            <p:custDataLst>
              <p:tags r:id="rId98"/>
            </p:custDataLst>
          </p:nvPr>
        </p:nvCxnSpPr>
        <p:spPr>
          <a:xfrm>
            <a:off x="492760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0" name="猫爪PPT-2-57"/>
          <p:cNvCxnSpPr/>
          <p:nvPr>
            <p:custDataLst>
              <p:tags r:id="rId99"/>
            </p:custDataLst>
          </p:nvPr>
        </p:nvCxnSpPr>
        <p:spPr>
          <a:xfrm>
            <a:off x="505079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1" name="猫爪PPT-2-58"/>
          <p:cNvCxnSpPr/>
          <p:nvPr>
            <p:custDataLst>
              <p:tags r:id="rId100"/>
            </p:custDataLst>
          </p:nvPr>
        </p:nvCxnSpPr>
        <p:spPr>
          <a:xfrm>
            <a:off x="517398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2" name="猫爪PPT-2-59"/>
          <p:cNvCxnSpPr/>
          <p:nvPr>
            <p:custDataLst>
              <p:tags r:id="rId101"/>
            </p:custDataLst>
          </p:nvPr>
        </p:nvCxnSpPr>
        <p:spPr>
          <a:xfrm>
            <a:off x="529590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3" name="猫爪PPT-2-60"/>
          <p:cNvCxnSpPr/>
          <p:nvPr>
            <p:custDataLst>
              <p:tags r:id="rId102"/>
            </p:custDataLst>
          </p:nvPr>
        </p:nvCxnSpPr>
        <p:spPr>
          <a:xfrm>
            <a:off x="541909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4" name="猫爪PPT-2-61"/>
          <p:cNvCxnSpPr/>
          <p:nvPr>
            <p:custDataLst>
              <p:tags r:id="rId103"/>
            </p:custDataLst>
          </p:nvPr>
        </p:nvCxnSpPr>
        <p:spPr>
          <a:xfrm>
            <a:off x="554164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5" name="猫爪PPT-2-62"/>
          <p:cNvCxnSpPr/>
          <p:nvPr>
            <p:custDataLst>
              <p:tags r:id="rId104"/>
            </p:custDataLst>
          </p:nvPr>
        </p:nvCxnSpPr>
        <p:spPr>
          <a:xfrm>
            <a:off x="5664200" y="-678180"/>
            <a:ext cx="0" cy="18986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7" name="猫爪PPT-2-63"/>
          <p:cNvCxnSpPr/>
          <p:nvPr>
            <p:custDataLst>
              <p:tags r:id="rId105"/>
            </p:custDataLst>
          </p:nvPr>
        </p:nvCxnSpPr>
        <p:spPr>
          <a:xfrm>
            <a:off x="578675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8" name="猫爪PPT-2-64"/>
          <p:cNvCxnSpPr/>
          <p:nvPr>
            <p:custDataLst>
              <p:tags r:id="rId106"/>
            </p:custDataLst>
          </p:nvPr>
        </p:nvCxnSpPr>
        <p:spPr>
          <a:xfrm>
            <a:off x="590994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49" name="猫爪PPT-2-65"/>
          <p:cNvCxnSpPr/>
          <p:nvPr>
            <p:custDataLst>
              <p:tags r:id="rId107"/>
            </p:custDataLst>
          </p:nvPr>
        </p:nvCxnSpPr>
        <p:spPr>
          <a:xfrm>
            <a:off x="603250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0" name="猫爪PPT-2-66"/>
          <p:cNvCxnSpPr/>
          <p:nvPr>
            <p:custDataLst>
              <p:tags r:id="rId108"/>
            </p:custDataLst>
          </p:nvPr>
        </p:nvCxnSpPr>
        <p:spPr>
          <a:xfrm>
            <a:off x="615505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1" name="猫爪PPT-2-67"/>
          <p:cNvCxnSpPr/>
          <p:nvPr>
            <p:custDataLst>
              <p:tags r:id="rId109"/>
            </p:custDataLst>
          </p:nvPr>
        </p:nvCxnSpPr>
        <p:spPr>
          <a:xfrm>
            <a:off x="627761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2" name="猫爪PPT-2-68"/>
          <p:cNvCxnSpPr/>
          <p:nvPr>
            <p:custDataLst>
              <p:tags r:id="rId110"/>
            </p:custDataLst>
          </p:nvPr>
        </p:nvCxnSpPr>
        <p:spPr>
          <a:xfrm>
            <a:off x="640080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3" name="猫爪PPT-2-69"/>
          <p:cNvCxnSpPr/>
          <p:nvPr>
            <p:custDataLst>
              <p:tags r:id="rId111"/>
            </p:custDataLst>
          </p:nvPr>
        </p:nvCxnSpPr>
        <p:spPr>
          <a:xfrm>
            <a:off x="652335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4" name="猫爪PPT-2-70"/>
          <p:cNvCxnSpPr/>
          <p:nvPr>
            <p:custDataLst>
              <p:tags r:id="rId112"/>
            </p:custDataLst>
          </p:nvPr>
        </p:nvCxnSpPr>
        <p:spPr>
          <a:xfrm>
            <a:off x="664591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5" name="猫爪PPT-2-71"/>
          <p:cNvCxnSpPr/>
          <p:nvPr>
            <p:custDataLst>
              <p:tags r:id="rId113"/>
            </p:custDataLst>
          </p:nvPr>
        </p:nvCxnSpPr>
        <p:spPr>
          <a:xfrm>
            <a:off x="676910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6" name="猫爪PPT-2-72"/>
          <p:cNvCxnSpPr/>
          <p:nvPr>
            <p:custDataLst>
              <p:tags r:id="rId114"/>
            </p:custDataLst>
          </p:nvPr>
        </p:nvCxnSpPr>
        <p:spPr>
          <a:xfrm>
            <a:off x="689165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7" name="猫爪PPT-2-73"/>
          <p:cNvCxnSpPr/>
          <p:nvPr>
            <p:custDataLst>
              <p:tags r:id="rId115"/>
            </p:custDataLst>
          </p:nvPr>
        </p:nvCxnSpPr>
        <p:spPr>
          <a:xfrm>
            <a:off x="701421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58" name="猫爪PPT-2-74"/>
          <p:cNvCxnSpPr/>
          <p:nvPr>
            <p:custDataLst>
              <p:tags r:id="rId116"/>
            </p:custDataLst>
          </p:nvPr>
        </p:nvCxnSpPr>
        <p:spPr>
          <a:xfrm>
            <a:off x="7136765" y="-678180"/>
            <a:ext cx="0" cy="18986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nvGrpSpPr>
          <p:cNvPr id="359" name="组合 358"/>
          <p:cNvGrpSpPr/>
          <p:nvPr>
            <p:custDataLst>
              <p:tags r:id="rId117"/>
            </p:custDataLst>
          </p:nvPr>
        </p:nvGrpSpPr>
        <p:grpSpPr>
          <a:xfrm rot="0">
            <a:off x="7259955" y="-595630"/>
            <a:ext cx="981710" cy="107315"/>
            <a:chOff x="9379868" y="2818486"/>
            <a:chExt cx="994528" cy="195921"/>
          </a:xfrm>
        </p:grpSpPr>
        <p:cxnSp>
          <p:nvCxnSpPr>
            <p:cNvPr id="360" name="猫爪PPT-2-75"/>
            <p:cNvCxnSpPr/>
            <p:nvPr>
              <p:custDataLst>
                <p:tags r:id="rId118"/>
              </p:custDataLst>
            </p:nvPr>
          </p:nvCxnSpPr>
          <p:spPr>
            <a:xfrm>
              <a:off x="9379868"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1" name="猫爪PPT-2-76"/>
            <p:cNvCxnSpPr/>
            <p:nvPr>
              <p:custDataLst>
                <p:tags r:id="rId119"/>
              </p:custDataLst>
            </p:nvPr>
          </p:nvCxnSpPr>
          <p:spPr>
            <a:xfrm>
              <a:off x="9504184"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2" name="猫爪PPT-2-77"/>
            <p:cNvCxnSpPr/>
            <p:nvPr>
              <p:custDataLst>
                <p:tags r:id="rId120"/>
              </p:custDataLst>
            </p:nvPr>
          </p:nvCxnSpPr>
          <p:spPr>
            <a:xfrm>
              <a:off x="9628500"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3" name="猫爪PPT-2-78"/>
            <p:cNvCxnSpPr/>
            <p:nvPr>
              <p:custDataLst>
                <p:tags r:id="rId121"/>
              </p:custDataLst>
            </p:nvPr>
          </p:nvCxnSpPr>
          <p:spPr>
            <a:xfrm>
              <a:off x="9877132"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4" name="猫爪PPT-2-79"/>
            <p:cNvCxnSpPr/>
            <p:nvPr>
              <p:custDataLst>
                <p:tags r:id="rId122"/>
              </p:custDataLst>
            </p:nvPr>
          </p:nvCxnSpPr>
          <p:spPr>
            <a:xfrm>
              <a:off x="10125764"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5" name="猫爪PPT-2-80"/>
            <p:cNvCxnSpPr/>
            <p:nvPr>
              <p:custDataLst>
                <p:tags r:id="rId123"/>
              </p:custDataLst>
            </p:nvPr>
          </p:nvCxnSpPr>
          <p:spPr>
            <a:xfrm>
              <a:off x="9752816"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6" name="猫爪PPT-2-81"/>
            <p:cNvCxnSpPr/>
            <p:nvPr>
              <p:custDataLst>
                <p:tags r:id="rId124"/>
              </p:custDataLst>
            </p:nvPr>
          </p:nvCxnSpPr>
          <p:spPr>
            <a:xfrm>
              <a:off x="10001448"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7" name="猫爪PPT-2-82"/>
            <p:cNvCxnSpPr/>
            <p:nvPr>
              <p:custDataLst>
                <p:tags r:id="rId125"/>
              </p:custDataLst>
            </p:nvPr>
          </p:nvCxnSpPr>
          <p:spPr>
            <a:xfrm>
              <a:off x="10250080"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68" name="猫爪PPT-2-83"/>
            <p:cNvCxnSpPr/>
            <p:nvPr>
              <p:custDataLst>
                <p:tags r:id="rId126"/>
              </p:custDataLst>
            </p:nvPr>
          </p:nvCxnSpPr>
          <p:spPr>
            <a:xfrm>
              <a:off x="10374396" y="2818486"/>
              <a:ext cx="0" cy="195921"/>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cxnSp>
        <p:nvCxnSpPr>
          <p:cNvPr id="369" name="猫爪PPT-2-84"/>
          <p:cNvCxnSpPr/>
          <p:nvPr>
            <p:custDataLst>
              <p:tags r:id="rId127"/>
            </p:custDataLst>
          </p:nvPr>
        </p:nvCxnSpPr>
        <p:spPr>
          <a:xfrm>
            <a:off x="8364220"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70" name="猫爪PPT-2-85"/>
          <p:cNvCxnSpPr/>
          <p:nvPr>
            <p:custDataLst>
              <p:tags r:id="rId128"/>
            </p:custDataLst>
          </p:nvPr>
        </p:nvCxnSpPr>
        <p:spPr>
          <a:xfrm>
            <a:off x="8486775" y="-595630"/>
            <a:ext cx="0" cy="10731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71" name="猫爪PPT-2-86"/>
          <p:cNvCxnSpPr/>
          <p:nvPr>
            <p:custDataLst>
              <p:tags r:id="rId129"/>
            </p:custDataLst>
          </p:nvPr>
        </p:nvCxnSpPr>
        <p:spPr>
          <a:xfrm>
            <a:off x="8609330" y="-678180"/>
            <a:ext cx="0" cy="189865"/>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nvGrpSpPr>
          <p:cNvPr id="372" name="组合 371"/>
          <p:cNvGrpSpPr/>
          <p:nvPr>
            <p:custDataLst>
              <p:tags r:id="rId130"/>
            </p:custDataLst>
          </p:nvPr>
        </p:nvGrpSpPr>
        <p:grpSpPr>
          <a:xfrm rot="0">
            <a:off x="10931525" y="-688975"/>
            <a:ext cx="613410" cy="189865"/>
            <a:chOff x="1782" y="5508"/>
            <a:chExt cx="838" cy="394"/>
          </a:xfrm>
        </p:grpSpPr>
        <p:cxnSp>
          <p:nvCxnSpPr>
            <p:cNvPr id="373" name="猫爪PPT-2-8"/>
            <p:cNvCxnSpPr/>
            <p:nvPr>
              <p:custDataLst>
                <p:tags r:id="rId131"/>
              </p:custDataLst>
            </p:nvPr>
          </p:nvCxnSpPr>
          <p:spPr>
            <a:xfrm>
              <a:off x="1950"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74" name="猫爪PPT-2-10"/>
            <p:cNvCxnSpPr/>
            <p:nvPr>
              <p:custDataLst>
                <p:tags r:id="rId132"/>
              </p:custDataLst>
            </p:nvPr>
          </p:nvCxnSpPr>
          <p:spPr>
            <a:xfrm>
              <a:off x="1782"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75" name="猫爪PPT-2-11"/>
            <p:cNvCxnSpPr/>
            <p:nvPr>
              <p:custDataLst>
                <p:tags r:id="rId133"/>
              </p:custDataLst>
            </p:nvPr>
          </p:nvCxnSpPr>
          <p:spPr>
            <a:xfrm>
              <a:off x="2117"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76" name="猫爪PPT-2-12"/>
            <p:cNvCxnSpPr/>
            <p:nvPr>
              <p:custDataLst>
                <p:tags r:id="rId134"/>
              </p:custDataLst>
            </p:nvPr>
          </p:nvCxnSpPr>
          <p:spPr>
            <a:xfrm>
              <a:off x="2285"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77" name="猫爪PPT-2-13"/>
            <p:cNvCxnSpPr/>
            <p:nvPr>
              <p:custDataLst>
                <p:tags r:id="rId135"/>
              </p:custDataLst>
            </p:nvPr>
          </p:nvCxnSpPr>
          <p:spPr>
            <a:xfrm>
              <a:off x="2453" y="5679"/>
              <a:ext cx="0" cy="223"/>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78" name="猫爪PPT-2-14"/>
            <p:cNvCxnSpPr/>
            <p:nvPr>
              <p:custDataLst>
                <p:tags r:id="rId136"/>
              </p:custDataLst>
            </p:nvPr>
          </p:nvCxnSpPr>
          <p:spPr>
            <a:xfrm>
              <a:off x="2620" y="5508"/>
              <a:ext cx="0" cy="394"/>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nvGrpSpPr>
          <p:cNvPr id="408" name="组合 407"/>
          <p:cNvGrpSpPr/>
          <p:nvPr/>
        </p:nvGrpSpPr>
        <p:grpSpPr>
          <a:xfrm>
            <a:off x="509270" y="3471545"/>
            <a:ext cx="2292985" cy="189230"/>
            <a:chOff x="802" y="5387"/>
            <a:chExt cx="3898" cy="298"/>
          </a:xfrm>
        </p:grpSpPr>
        <p:grpSp>
          <p:nvGrpSpPr>
            <p:cNvPr id="396" name="组合 395"/>
            <p:cNvGrpSpPr/>
            <p:nvPr/>
          </p:nvGrpSpPr>
          <p:grpSpPr>
            <a:xfrm>
              <a:off x="802" y="5387"/>
              <a:ext cx="1872" cy="299"/>
              <a:chOff x="9120" y="-868"/>
              <a:chExt cx="1740" cy="299"/>
            </a:xfrm>
          </p:grpSpPr>
          <p:cxnSp>
            <p:nvCxnSpPr>
              <p:cNvPr id="383" name="猫爪PPT-2-62"/>
              <p:cNvCxnSpPr/>
              <p:nvPr>
                <p:custDataLst>
                  <p:tags r:id="rId13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84" name="猫爪PPT-2-63"/>
              <p:cNvCxnSpPr/>
              <p:nvPr>
                <p:custDataLst>
                  <p:tags r:id="rId13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85" name="猫爪PPT-2-64"/>
              <p:cNvCxnSpPr/>
              <p:nvPr>
                <p:custDataLst>
                  <p:tags r:id="rId13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86" name="猫爪PPT-2-65"/>
              <p:cNvCxnSpPr/>
              <p:nvPr>
                <p:custDataLst>
                  <p:tags r:id="rId14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87" name="猫爪PPT-2-66"/>
              <p:cNvCxnSpPr/>
              <p:nvPr>
                <p:custDataLst>
                  <p:tags r:id="rId14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88" name="猫爪PPT-2-67"/>
              <p:cNvCxnSpPr/>
              <p:nvPr>
                <p:custDataLst>
                  <p:tags r:id="rId14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89" name="猫爪PPT-2-68"/>
              <p:cNvCxnSpPr/>
              <p:nvPr>
                <p:custDataLst>
                  <p:tags r:id="rId14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90" name="猫爪PPT-2-69"/>
              <p:cNvCxnSpPr/>
              <p:nvPr>
                <p:custDataLst>
                  <p:tags r:id="rId14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91" name="猫爪PPT-2-70"/>
              <p:cNvCxnSpPr/>
              <p:nvPr>
                <p:custDataLst>
                  <p:tags r:id="rId14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92" name="猫爪PPT-2-71"/>
              <p:cNvCxnSpPr/>
              <p:nvPr>
                <p:custDataLst>
                  <p:tags r:id="rId14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nvGrpSpPr>
            <p:cNvPr id="397" name="组合 396"/>
            <p:cNvGrpSpPr/>
            <p:nvPr/>
          </p:nvGrpSpPr>
          <p:grpSpPr>
            <a:xfrm>
              <a:off x="2828" y="5387"/>
              <a:ext cx="1872" cy="299"/>
              <a:chOff x="9120" y="-868"/>
              <a:chExt cx="1740" cy="299"/>
            </a:xfrm>
          </p:grpSpPr>
          <p:cxnSp>
            <p:nvCxnSpPr>
              <p:cNvPr id="398" name="猫爪PPT-2-62"/>
              <p:cNvCxnSpPr/>
              <p:nvPr>
                <p:custDataLst>
                  <p:tags r:id="rId14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399" name="猫爪PPT-2-63"/>
              <p:cNvCxnSpPr/>
              <p:nvPr>
                <p:custDataLst>
                  <p:tags r:id="rId14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0" name="猫爪PPT-2-64"/>
              <p:cNvCxnSpPr/>
              <p:nvPr>
                <p:custDataLst>
                  <p:tags r:id="rId14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1" name="猫爪PPT-2-65"/>
              <p:cNvCxnSpPr/>
              <p:nvPr>
                <p:custDataLst>
                  <p:tags r:id="rId15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2" name="猫爪PPT-2-66"/>
              <p:cNvCxnSpPr/>
              <p:nvPr>
                <p:custDataLst>
                  <p:tags r:id="rId15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3" name="猫爪PPT-2-67"/>
              <p:cNvCxnSpPr/>
              <p:nvPr>
                <p:custDataLst>
                  <p:tags r:id="rId15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4" name="猫爪PPT-2-68"/>
              <p:cNvCxnSpPr/>
              <p:nvPr>
                <p:custDataLst>
                  <p:tags r:id="rId15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5" name="猫爪PPT-2-69"/>
              <p:cNvCxnSpPr/>
              <p:nvPr>
                <p:custDataLst>
                  <p:tags r:id="rId15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6" name="猫爪PPT-2-70"/>
              <p:cNvCxnSpPr/>
              <p:nvPr>
                <p:custDataLst>
                  <p:tags r:id="rId15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07" name="猫爪PPT-2-71"/>
              <p:cNvCxnSpPr/>
              <p:nvPr>
                <p:custDataLst>
                  <p:tags r:id="rId15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grpSp>
        <p:nvGrpSpPr>
          <p:cNvPr id="478" name="组合 477"/>
          <p:cNvGrpSpPr/>
          <p:nvPr/>
        </p:nvGrpSpPr>
        <p:grpSpPr>
          <a:xfrm>
            <a:off x="2928620" y="3471545"/>
            <a:ext cx="2292985" cy="189230"/>
            <a:chOff x="802" y="5387"/>
            <a:chExt cx="3898" cy="298"/>
          </a:xfrm>
        </p:grpSpPr>
        <p:grpSp>
          <p:nvGrpSpPr>
            <p:cNvPr id="479" name="组合 478"/>
            <p:cNvGrpSpPr/>
            <p:nvPr/>
          </p:nvGrpSpPr>
          <p:grpSpPr>
            <a:xfrm>
              <a:off x="802" y="5387"/>
              <a:ext cx="1872" cy="299"/>
              <a:chOff x="9120" y="-868"/>
              <a:chExt cx="1740" cy="299"/>
            </a:xfrm>
          </p:grpSpPr>
          <p:cxnSp>
            <p:nvCxnSpPr>
              <p:cNvPr id="480" name="猫爪PPT-2-62"/>
              <p:cNvCxnSpPr/>
              <p:nvPr>
                <p:custDataLst>
                  <p:tags r:id="rId15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1" name="猫爪PPT-2-63"/>
              <p:cNvCxnSpPr/>
              <p:nvPr>
                <p:custDataLst>
                  <p:tags r:id="rId15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2" name="猫爪PPT-2-64"/>
              <p:cNvCxnSpPr/>
              <p:nvPr>
                <p:custDataLst>
                  <p:tags r:id="rId15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3" name="猫爪PPT-2-65"/>
              <p:cNvCxnSpPr/>
              <p:nvPr>
                <p:custDataLst>
                  <p:tags r:id="rId16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4" name="猫爪PPT-2-66"/>
              <p:cNvCxnSpPr/>
              <p:nvPr>
                <p:custDataLst>
                  <p:tags r:id="rId16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5" name="猫爪PPT-2-67"/>
              <p:cNvCxnSpPr/>
              <p:nvPr>
                <p:custDataLst>
                  <p:tags r:id="rId16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6" name="猫爪PPT-2-68"/>
              <p:cNvCxnSpPr/>
              <p:nvPr>
                <p:custDataLst>
                  <p:tags r:id="rId16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7" name="猫爪PPT-2-69"/>
              <p:cNvCxnSpPr/>
              <p:nvPr>
                <p:custDataLst>
                  <p:tags r:id="rId16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8" name="猫爪PPT-2-70"/>
              <p:cNvCxnSpPr/>
              <p:nvPr>
                <p:custDataLst>
                  <p:tags r:id="rId16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89" name="猫爪PPT-2-71"/>
              <p:cNvCxnSpPr/>
              <p:nvPr>
                <p:custDataLst>
                  <p:tags r:id="rId16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nvGrpSpPr>
            <p:cNvPr id="490" name="组合 489"/>
            <p:cNvGrpSpPr/>
            <p:nvPr/>
          </p:nvGrpSpPr>
          <p:grpSpPr>
            <a:xfrm>
              <a:off x="2828" y="5387"/>
              <a:ext cx="1872" cy="299"/>
              <a:chOff x="9120" y="-868"/>
              <a:chExt cx="1740" cy="299"/>
            </a:xfrm>
          </p:grpSpPr>
          <p:cxnSp>
            <p:nvCxnSpPr>
              <p:cNvPr id="491" name="猫爪PPT-2-62"/>
              <p:cNvCxnSpPr/>
              <p:nvPr>
                <p:custDataLst>
                  <p:tags r:id="rId16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2" name="猫爪PPT-2-63"/>
              <p:cNvCxnSpPr/>
              <p:nvPr>
                <p:custDataLst>
                  <p:tags r:id="rId16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3" name="猫爪PPT-2-64"/>
              <p:cNvCxnSpPr/>
              <p:nvPr>
                <p:custDataLst>
                  <p:tags r:id="rId16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4" name="猫爪PPT-2-65"/>
              <p:cNvCxnSpPr/>
              <p:nvPr>
                <p:custDataLst>
                  <p:tags r:id="rId17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5" name="猫爪PPT-2-66"/>
              <p:cNvCxnSpPr/>
              <p:nvPr>
                <p:custDataLst>
                  <p:tags r:id="rId17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6" name="猫爪PPT-2-67"/>
              <p:cNvCxnSpPr/>
              <p:nvPr>
                <p:custDataLst>
                  <p:tags r:id="rId17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7" name="猫爪PPT-2-68"/>
              <p:cNvCxnSpPr/>
              <p:nvPr>
                <p:custDataLst>
                  <p:tags r:id="rId17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8" name="猫爪PPT-2-69"/>
              <p:cNvCxnSpPr/>
              <p:nvPr>
                <p:custDataLst>
                  <p:tags r:id="rId17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499" name="猫爪PPT-2-70"/>
              <p:cNvCxnSpPr/>
              <p:nvPr>
                <p:custDataLst>
                  <p:tags r:id="rId17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00" name="猫爪PPT-2-71"/>
              <p:cNvCxnSpPr/>
              <p:nvPr>
                <p:custDataLst>
                  <p:tags r:id="rId17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grpSp>
        <p:nvGrpSpPr>
          <p:cNvPr id="501" name="组合 500"/>
          <p:cNvGrpSpPr/>
          <p:nvPr/>
        </p:nvGrpSpPr>
        <p:grpSpPr>
          <a:xfrm>
            <a:off x="5353685" y="3479800"/>
            <a:ext cx="2292985" cy="189230"/>
            <a:chOff x="802" y="5387"/>
            <a:chExt cx="3898" cy="298"/>
          </a:xfrm>
        </p:grpSpPr>
        <p:grpSp>
          <p:nvGrpSpPr>
            <p:cNvPr id="502" name="组合 501"/>
            <p:cNvGrpSpPr/>
            <p:nvPr/>
          </p:nvGrpSpPr>
          <p:grpSpPr>
            <a:xfrm>
              <a:off x="802" y="5387"/>
              <a:ext cx="1872" cy="299"/>
              <a:chOff x="9120" y="-868"/>
              <a:chExt cx="1740" cy="299"/>
            </a:xfrm>
          </p:grpSpPr>
          <p:cxnSp>
            <p:nvCxnSpPr>
              <p:cNvPr id="503" name="猫爪PPT-2-62"/>
              <p:cNvCxnSpPr/>
              <p:nvPr>
                <p:custDataLst>
                  <p:tags r:id="rId17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04" name="猫爪PPT-2-63"/>
              <p:cNvCxnSpPr/>
              <p:nvPr>
                <p:custDataLst>
                  <p:tags r:id="rId17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05" name="猫爪PPT-2-64"/>
              <p:cNvCxnSpPr/>
              <p:nvPr>
                <p:custDataLst>
                  <p:tags r:id="rId17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06" name="猫爪PPT-2-65"/>
              <p:cNvCxnSpPr/>
              <p:nvPr>
                <p:custDataLst>
                  <p:tags r:id="rId18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07" name="猫爪PPT-2-66"/>
              <p:cNvCxnSpPr/>
              <p:nvPr>
                <p:custDataLst>
                  <p:tags r:id="rId18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08" name="猫爪PPT-2-67"/>
              <p:cNvCxnSpPr/>
              <p:nvPr>
                <p:custDataLst>
                  <p:tags r:id="rId18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09" name="猫爪PPT-2-68"/>
              <p:cNvCxnSpPr/>
              <p:nvPr>
                <p:custDataLst>
                  <p:tags r:id="rId18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0" name="猫爪PPT-2-69"/>
              <p:cNvCxnSpPr/>
              <p:nvPr>
                <p:custDataLst>
                  <p:tags r:id="rId18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1" name="猫爪PPT-2-70"/>
              <p:cNvCxnSpPr/>
              <p:nvPr>
                <p:custDataLst>
                  <p:tags r:id="rId18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2" name="猫爪PPT-2-71"/>
              <p:cNvCxnSpPr/>
              <p:nvPr>
                <p:custDataLst>
                  <p:tags r:id="rId18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nvGrpSpPr>
            <p:cNvPr id="513" name="组合 512"/>
            <p:cNvGrpSpPr/>
            <p:nvPr/>
          </p:nvGrpSpPr>
          <p:grpSpPr>
            <a:xfrm>
              <a:off x="2828" y="5387"/>
              <a:ext cx="1872" cy="299"/>
              <a:chOff x="9120" y="-868"/>
              <a:chExt cx="1740" cy="299"/>
            </a:xfrm>
          </p:grpSpPr>
          <p:cxnSp>
            <p:nvCxnSpPr>
              <p:cNvPr id="514" name="猫爪PPT-2-62"/>
              <p:cNvCxnSpPr/>
              <p:nvPr>
                <p:custDataLst>
                  <p:tags r:id="rId18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5" name="猫爪PPT-2-63"/>
              <p:cNvCxnSpPr/>
              <p:nvPr>
                <p:custDataLst>
                  <p:tags r:id="rId18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6" name="猫爪PPT-2-64"/>
              <p:cNvCxnSpPr/>
              <p:nvPr>
                <p:custDataLst>
                  <p:tags r:id="rId18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7" name="猫爪PPT-2-65"/>
              <p:cNvCxnSpPr/>
              <p:nvPr>
                <p:custDataLst>
                  <p:tags r:id="rId19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8" name="猫爪PPT-2-66"/>
              <p:cNvCxnSpPr/>
              <p:nvPr>
                <p:custDataLst>
                  <p:tags r:id="rId19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19" name="猫爪PPT-2-67"/>
              <p:cNvCxnSpPr/>
              <p:nvPr>
                <p:custDataLst>
                  <p:tags r:id="rId19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20" name="猫爪PPT-2-68"/>
              <p:cNvCxnSpPr/>
              <p:nvPr>
                <p:custDataLst>
                  <p:tags r:id="rId19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21" name="猫爪PPT-2-69"/>
              <p:cNvCxnSpPr/>
              <p:nvPr>
                <p:custDataLst>
                  <p:tags r:id="rId19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22" name="猫爪PPT-2-70"/>
              <p:cNvCxnSpPr/>
              <p:nvPr>
                <p:custDataLst>
                  <p:tags r:id="rId19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23" name="猫爪PPT-2-71"/>
              <p:cNvCxnSpPr/>
              <p:nvPr>
                <p:custDataLst>
                  <p:tags r:id="rId19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grpSp>
        <p:nvGrpSpPr>
          <p:cNvPr id="524" name="组合 523"/>
          <p:cNvGrpSpPr/>
          <p:nvPr/>
        </p:nvGrpSpPr>
        <p:grpSpPr>
          <a:xfrm>
            <a:off x="7773035" y="3479800"/>
            <a:ext cx="2292985" cy="189230"/>
            <a:chOff x="802" y="5387"/>
            <a:chExt cx="3898" cy="298"/>
          </a:xfrm>
        </p:grpSpPr>
        <p:grpSp>
          <p:nvGrpSpPr>
            <p:cNvPr id="525" name="组合 524"/>
            <p:cNvGrpSpPr/>
            <p:nvPr/>
          </p:nvGrpSpPr>
          <p:grpSpPr>
            <a:xfrm>
              <a:off x="802" y="5387"/>
              <a:ext cx="1872" cy="299"/>
              <a:chOff x="9120" y="-868"/>
              <a:chExt cx="1740" cy="299"/>
            </a:xfrm>
          </p:grpSpPr>
          <p:cxnSp>
            <p:nvCxnSpPr>
              <p:cNvPr id="526" name="猫爪PPT-2-62"/>
              <p:cNvCxnSpPr/>
              <p:nvPr>
                <p:custDataLst>
                  <p:tags r:id="rId19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27" name="猫爪PPT-2-63"/>
              <p:cNvCxnSpPr/>
              <p:nvPr>
                <p:custDataLst>
                  <p:tags r:id="rId19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28" name="猫爪PPT-2-64"/>
              <p:cNvCxnSpPr/>
              <p:nvPr>
                <p:custDataLst>
                  <p:tags r:id="rId19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29" name="猫爪PPT-2-65"/>
              <p:cNvCxnSpPr/>
              <p:nvPr>
                <p:custDataLst>
                  <p:tags r:id="rId20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0" name="猫爪PPT-2-66"/>
              <p:cNvCxnSpPr/>
              <p:nvPr>
                <p:custDataLst>
                  <p:tags r:id="rId20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1" name="猫爪PPT-2-67"/>
              <p:cNvCxnSpPr/>
              <p:nvPr>
                <p:custDataLst>
                  <p:tags r:id="rId20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2" name="猫爪PPT-2-68"/>
              <p:cNvCxnSpPr/>
              <p:nvPr>
                <p:custDataLst>
                  <p:tags r:id="rId20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3" name="猫爪PPT-2-69"/>
              <p:cNvCxnSpPr/>
              <p:nvPr>
                <p:custDataLst>
                  <p:tags r:id="rId20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4" name="猫爪PPT-2-70"/>
              <p:cNvCxnSpPr/>
              <p:nvPr>
                <p:custDataLst>
                  <p:tags r:id="rId20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5" name="猫爪PPT-2-71"/>
              <p:cNvCxnSpPr/>
              <p:nvPr>
                <p:custDataLst>
                  <p:tags r:id="rId20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nvGrpSpPr>
            <p:cNvPr id="536" name="组合 535"/>
            <p:cNvGrpSpPr/>
            <p:nvPr/>
          </p:nvGrpSpPr>
          <p:grpSpPr>
            <a:xfrm>
              <a:off x="2828" y="5387"/>
              <a:ext cx="1872" cy="299"/>
              <a:chOff x="9120" y="-868"/>
              <a:chExt cx="1740" cy="299"/>
            </a:xfrm>
          </p:grpSpPr>
          <p:cxnSp>
            <p:nvCxnSpPr>
              <p:cNvPr id="537" name="猫爪PPT-2-62"/>
              <p:cNvCxnSpPr/>
              <p:nvPr>
                <p:custDataLst>
                  <p:tags r:id="rId207"/>
                </p:custDataLst>
              </p:nvPr>
            </p:nvCxnSpPr>
            <p:spPr>
              <a:xfrm>
                <a:off x="9120" y="-868"/>
                <a:ext cx="0" cy="29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8" name="猫爪PPT-2-63"/>
              <p:cNvCxnSpPr/>
              <p:nvPr>
                <p:custDataLst>
                  <p:tags r:id="rId208"/>
                </p:custDataLst>
              </p:nvPr>
            </p:nvCxnSpPr>
            <p:spPr>
              <a:xfrm>
                <a:off x="931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39" name="猫爪PPT-2-64"/>
              <p:cNvCxnSpPr/>
              <p:nvPr>
                <p:custDataLst>
                  <p:tags r:id="rId209"/>
                </p:custDataLst>
              </p:nvPr>
            </p:nvCxnSpPr>
            <p:spPr>
              <a:xfrm>
                <a:off x="9507"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40" name="猫爪PPT-2-65"/>
              <p:cNvCxnSpPr/>
              <p:nvPr>
                <p:custDataLst>
                  <p:tags r:id="rId210"/>
                </p:custDataLst>
              </p:nvPr>
            </p:nvCxnSpPr>
            <p:spPr>
              <a:xfrm>
                <a:off x="970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41" name="猫爪PPT-2-66"/>
              <p:cNvCxnSpPr/>
              <p:nvPr>
                <p:custDataLst>
                  <p:tags r:id="rId211"/>
                </p:custDataLst>
              </p:nvPr>
            </p:nvCxnSpPr>
            <p:spPr>
              <a:xfrm>
                <a:off x="989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42" name="猫爪PPT-2-67"/>
              <p:cNvCxnSpPr/>
              <p:nvPr>
                <p:custDataLst>
                  <p:tags r:id="rId212"/>
                </p:custDataLst>
              </p:nvPr>
            </p:nvCxnSpPr>
            <p:spPr>
              <a:xfrm>
                <a:off x="1008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43" name="猫爪PPT-2-68"/>
              <p:cNvCxnSpPr/>
              <p:nvPr>
                <p:custDataLst>
                  <p:tags r:id="rId213"/>
                </p:custDataLst>
              </p:nvPr>
            </p:nvCxnSpPr>
            <p:spPr>
              <a:xfrm>
                <a:off x="1028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44" name="猫爪PPT-2-69"/>
              <p:cNvCxnSpPr/>
              <p:nvPr>
                <p:custDataLst>
                  <p:tags r:id="rId214"/>
                </p:custDataLst>
              </p:nvPr>
            </p:nvCxnSpPr>
            <p:spPr>
              <a:xfrm>
                <a:off x="10473"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45" name="猫爪PPT-2-70"/>
              <p:cNvCxnSpPr/>
              <p:nvPr>
                <p:custDataLst>
                  <p:tags r:id="rId215"/>
                </p:custDataLst>
              </p:nvPr>
            </p:nvCxnSpPr>
            <p:spPr>
              <a:xfrm>
                <a:off x="10666"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cxnSp>
            <p:nvCxnSpPr>
              <p:cNvPr id="546" name="猫爪PPT-2-71"/>
              <p:cNvCxnSpPr/>
              <p:nvPr>
                <p:custDataLst>
                  <p:tags r:id="rId216"/>
                </p:custDataLst>
              </p:nvPr>
            </p:nvCxnSpPr>
            <p:spPr>
              <a:xfrm>
                <a:off x="10860" y="-738"/>
                <a:ext cx="0" cy="169"/>
              </a:xfrm>
              <a:prstGeom prst="line">
                <a:avLst/>
              </a:prstGeom>
              <a:ln w="19050">
                <a:solidFill>
                  <a:srgbClr val="E6E6E6"/>
                </a:solidFill>
              </a:ln>
            </p:spPr>
            <p:style>
              <a:lnRef idx="1">
                <a:srgbClr val="0042FF"/>
              </a:lnRef>
              <a:fillRef idx="0">
                <a:srgbClr val="0042FF"/>
              </a:fillRef>
              <a:effectRef idx="0">
                <a:srgbClr val="0042FF"/>
              </a:effectRef>
              <a:fontRef idx="minor">
                <a:srgbClr val="383838"/>
              </a:fontRef>
            </p:style>
          </p:cxnSp>
        </p:grpSp>
      </p:gr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2" name="图片 1"/>
            <p:cNvPicPr>
              <a:picLocks noChangeAspect="1"/>
            </p:cNvPicPr>
            <p:nvPr userDrawn="1"/>
          </p:nvPicPr>
          <p:blipFill>
            <a:blip r:embed="rId217"/>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项目规划</a:t>
            </a:r>
            <a:r>
              <a:rPr lang="en-US" altLang="zh-CN" sz="2500">
                <a:solidFill>
                  <a:srgbClr val="383838"/>
                </a:solidFill>
                <a:effectLst/>
                <a:latin typeface="微软雅黑"/>
                <a:ea typeface="微软雅黑"/>
                <a:cs typeface="微软雅黑"/>
              </a:rPr>
              <a:t>/</a:t>
            </a:r>
            <a:r>
              <a:rPr lang="zh-CN" altLang="en-US" sz="2500">
                <a:solidFill>
                  <a:srgbClr val="383838"/>
                </a:solidFill>
                <a:effectLst/>
                <a:latin typeface="微软雅黑"/>
                <a:ea typeface="微软雅黑"/>
                <a:cs typeface="微软雅黑"/>
              </a:rPr>
              <a:t>目标制定</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8" name="矩形 7"/>
          <p:cNvSpPr/>
          <p:nvPr/>
        </p:nvSpPr>
        <p:spPr>
          <a:xfrm>
            <a:off x="6205748" y="3176218"/>
            <a:ext cx="2691410" cy="3408623"/>
          </a:xfrm>
          <a:prstGeom prst="rect">
            <a:avLst/>
          </a:prstGeom>
          <a:solidFill>
            <a:srgbClr val="E6E6E6">
              <a:alpha val="2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cxnSp>
        <p:nvCxnSpPr>
          <p:cNvPr id="14" name="直线连接符 516"/>
          <p:cNvCxnSpPr/>
          <p:nvPr/>
        </p:nvCxnSpPr>
        <p:spPr>
          <a:xfrm>
            <a:off x="6537801" y="4422513"/>
            <a:ext cx="0" cy="1104576"/>
          </a:xfrm>
          <a:prstGeom prst="line">
            <a:avLst/>
          </a:prstGeom>
          <a:ln w="12700">
            <a:solidFill>
              <a:srgbClr val="668EFF"/>
            </a:solidFill>
          </a:ln>
        </p:spPr>
        <p:style>
          <a:lnRef idx="1">
            <a:srgbClr val="0042FF"/>
          </a:lnRef>
          <a:fillRef idx="0">
            <a:srgbClr val="0042FF"/>
          </a:fillRef>
          <a:effectRef idx="0">
            <a:srgbClr val="0042FF"/>
          </a:effectRef>
          <a:fontRef idx="minor">
            <a:srgbClr val="383838"/>
          </a:fontRef>
        </p:style>
      </p:cxnSp>
      <p:sp>
        <p:nvSpPr>
          <p:cNvPr id="15" name="矩形 14"/>
          <p:cNvSpPr/>
          <p:nvPr/>
        </p:nvSpPr>
        <p:spPr>
          <a:xfrm>
            <a:off x="9104976" y="2687709"/>
            <a:ext cx="2691410" cy="3897132"/>
          </a:xfrm>
          <a:prstGeom prst="rect">
            <a:avLst/>
          </a:prstGeom>
          <a:solidFill>
            <a:srgbClr val="FFFFFF">
              <a:alpha val="2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16" name="矩形 15"/>
          <p:cNvSpPr/>
          <p:nvPr/>
        </p:nvSpPr>
        <p:spPr>
          <a:xfrm>
            <a:off x="9105040" y="5867035"/>
            <a:ext cx="2691410" cy="715642"/>
          </a:xfrm>
          <a:prstGeom prst="rect">
            <a:avLst/>
          </a:prstGeom>
          <a:gradFill>
            <a:gsLst>
              <a:gs pos="0">
                <a:srgbClr val="3368FF"/>
              </a:gs>
              <a:gs pos="100000">
                <a:srgbClr val="B3D4FE"/>
              </a:gs>
            </a:gsLst>
            <a:lin ang="2700000" scaled="0"/>
          </a:gradFill>
          <a:ln w="12700" cap="flat" cmpd="sng" algn="ctr">
            <a:noFill/>
            <a:prstDash val="dash"/>
            <a:miter lim="800000"/>
          </a:ln>
          <a:effectLst/>
        </p:spPr>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0" name="三角形 514"/>
          <p:cNvSpPr/>
          <p:nvPr/>
        </p:nvSpPr>
        <p:spPr>
          <a:xfrm rot="10800000" flipV="1">
            <a:off x="10297552" y="5678177"/>
            <a:ext cx="306386" cy="188356"/>
          </a:xfrm>
          <a:prstGeom prst="triangle">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zh-CN" altLang="en-US" noProof="0">
              <a:ln>
                <a:noFill/>
              </a:ln>
              <a:solidFill>
                <a:prstClr val="white"/>
              </a:solidFill>
              <a:effectLst/>
              <a:uLnTx/>
              <a:uFillTx/>
              <a:latin typeface="微软雅黑"/>
              <a:ea typeface="微软雅黑"/>
              <a:cs typeface="微软雅黑"/>
              <a:sym typeface="微软雅黑"/>
            </a:endParaRPr>
          </a:p>
        </p:txBody>
      </p:sp>
      <p:sp>
        <p:nvSpPr>
          <p:cNvPr id="22" name="矩形 21"/>
          <p:cNvSpPr/>
          <p:nvPr/>
        </p:nvSpPr>
        <p:spPr>
          <a:xfrm>
            <a:off x="6209440" y="5867035"/>
            <a:ext cx="2691410" cy="715642"/>
          </a:xfrm>
          <a:prstGeom prst="rect">
            <a:avLst/>
          </a:prstGeom>
          <a:gradFill>
            <a:gsLst>
              <a:gs pos="0">
                <a:srgbClr val="0042FF"/>
              </a:gs>
              <a:gs pos="100000">
                <a:srgbClr val="3368FF"/>
              </a:gs>
            </a:gsLst>
            <a:lin ang="2700000" scaled="0"/>
          </a:gradFill>
          <a:ln w="12700" cap="flat" cmpd="sng" algn="ctr">
            <a:noFill/>
            <a:prstDash val="dash"/>
            <a:miter lim="800000"/>
          </a:ln>
          <a:effectLst/>
        </p:spPr>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24" name="三角形 512"/>
          <p:cNvSpPr/>
          <p:nvPr/>
        </p:nvSpPr>
        <p:spPr>
          <a:xfrm rot="10800000" flipV="1">
            <a:off x="7401952" y="5678177"/>
            <a:ext cx="306386" cy="188356"/>
          </a:xfrm>
          <a:prstGeom prst="triangle">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25" name="矩形 24"/>
          <p:cNvSpPr/>
          <p:nvPr/>
        </p:nvSpPr>
        <p:spPr>
          <a:xfrm>
            <a:off x="3273894" y="3783059"/>
            <a:ext cx="2691410" cy="2801782"/>
          </a:xfrm>
          <a:prstGeom prst="rect">
            <a:avLst/>
          </a:prstGeom>
          <a:solidFill>
            <a:srgbClr val="FFFFFF">
              <a:alpha val="2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32" name="矩形 31"/>
          <p:cNvSpPr/>
          <p:nvPr/>
        </p:nvSpPr>
        <p:spPr>
          <a:xfrm>
            <a:off x="3275740" y="5867035"/>
            <a:ext cx="2691410" cy="715642"/>
          </a:xfrm>
          <a:prstGeom prst="rect">
            <a:avLst/>
          </a:prstGeom>
          <a:gradFill>
            <a:gsLst>
              <a:gs pos="0">
                <a:srgbClr val="3368FF"/>
              </a:gs>
              <a:gs pos="100000">
                <a:srgbClr val="B3D4FE"/>
              </a:gs>
            </a:gsLst>
            <a:lin ang="2700000" scaled="0"/>
          </a:gradFill>
          <a:ln w="12700" cap="flat" cmpd="sng" algn="ctr">
            <a:noFill/>
            <a:prstDash val="dash"/>
            <a:miter lim="800000"/>
          </a:ln>
          <a:effectLst/>
        </p:spPr>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33" name="三角形 510"/>
          <p:cNvSpPr/>
          <p:nvPr/>
        </p:nvSpPr>
        <p:spPr>
          <a:xfrm rot="10800000" flipV="1">
            <a:off x="4468252" y="5678177"/>
            <a:ext cx="306386" cy="188356"/>
          </a:xfrm>
          <a:prstGeom prst="triangle">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34" name="矩形 33"/>
          <p:cNvSpPr/>
          <p:nvPr/>
        </p:nvSpPr>
        <p:spPr>
          <a:xfrm>
            <a:off x="342040" y="3982778"/>
            <a:ext cx="2691410" cy="2602063"/>
          </a:xfrm>
          <a:prstGeom prst="rect">
            <a:avLst/>
          </a:prstGeom>
          <a:solidFill>
            <a:srgbClr val="E6E6E6">
              <a:alpha val="20000"/>
            </a:srgbClr>
          </a:solidFill>
          <a:ln w="9525">
            <a:noFill/>
            <a:prstDash val="dash"/>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35" name="五边形 706"/>
          <p:cNvSpPr/>
          <p:nvPr/>
        </p:nvSpPr>
        <p:spPr>
          <a:xfrm>
            <a:off x="369163" y="1143175"/>
            <a:ext cx="6857539" cy="518315"/>
          </a:xfrm>
          <a:prstGeom prst="homePlate">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grpSp>
        <p:nvGrpSpPr>
          <p:cNvPr id="36" name="组合 35"/>
          <p:cNvGrpSpPr/>
          <p:nvPr/>
        </p:nvGrpSpPr>
        <p:grpSpPr>
          <a:xfrm>
            <a:off x="1278209" y="3549192"/>
            <a:ext cx="873320" cy="873320"/>
            <a:chOff x="1390973" y="1041271"/>
            <a:chExt cx="687451" cy="687450"/>
          </a:xfrm>
          <a:gradFill>
            <a:gsLst>
              <a:gs pos="0">
                <a:srgbClr val="0042FF"/>
              </a:gs>
              <a:gs pos="100000">
                <a:srgbClr val="3368FF"/>
              </a:gs>
            </a:gsLst>
            <a:lin ang="2700000" scaled="0"/>
          </a:gradFill>
        </p:grpSpPr>
        <p:sp>
          <p:nvSpPr>
            <p:cNvPr id="37" name="椭圆 36"/>
            <p:cNvSpPr/>
            <p:nvPr/>
          </p:nvSpPr>
          <p:spPr>
            <a:xfrm>
              <a:off x="1390973" y="1041271"/>
              <a:ext cx="687451" cy="687450"/>
            </a:xfrm>
            <a:prstGeom prst="ellipse">
              <a:avLst/>
            </a:prstGeom>
            <a:grp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38" name="flag-pole-with-black-flag_38306"/>
            <p:cNvSpPr/>
            <p:nvPr/>
          </p:nvSpPr>
          <p:spPr>
            <a:xfrm>
              <a:off x="1608722" y="1229976"/>
              <a:ext cx="285637" cy="340022"/>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grpSp>
      <p:sp>
        <p:nvSpPr>
          <p:cNvPr id="39" name="椭圆 38"/>
          <p:cNvSpPr/>
          <p:nvPr/>
        </p:nvSpPr>
        <p:spPr>
          <a:xfrm>
            <a:off x="346015" y="3340900"/>
            <a:ext cx="254448" cy="254448"/>
          </a:xfrm>
          <a:prstGeom prst="ellips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cxnSp>
        <p:nvCxnSpPr>
          <p:cNvPr id="40" name="直线连接符 629"/>
          <p:cNvCxnSpPr/>
          <p:nvPr/>
        </p:nvCxnSpPr>
        <p:spPr>
          <a:xfrm>
            <a:off x="3148163" y="3066247"/>
            <a:ext cx="0" cy="171662"/>
          </a:xfrm>
          <a:prstGeom prst="line">
            <a:avLst/>
          </a:prstGeom>
          <a:ln w="63500"/>
        </p:spPr>
        <p:style>
          <a:lnRef idx="1">
            <a:srgbClr val="0042FF"/>
          </a:lnRef>
          <a:fillRef idx="0">
            <a:srgbClr val="0042FF"/>
          </a:fillRef>
          <a:effectRef idx="0">
            <a:srgbClr val="0042FF"/>
          </a:effectRef>
          <a:fontRef idx="minor">
            <a:srgbClr val="383838"/>
          </a:fontRef>
        </p:style>
      </p:cxnSp>
      <p:sp>
        <p:nvSpPr>
          <p:cNvPr id="41" name="图形 634"/>
          <p:cNvSpPr/>
          <p:nvPr/>
        </p:nvSpPr>
        <p:spPr>
          <a:xfrm>
            <a:off x="369165" y="1484874"/>
            <a:ext cx="11179233" cy="1982275"/>
          </a:xfrm>
          <a:custGeom>
            <a:avLst/>
            <a:gdLst>
              <a:gd name="connsiteX0" fmla="*/ 0 w 2934062"/>
              <a:gd name="connsiteY0" fmla="*/ 631963 h 631962"/>
              <a:gd name="connsiteX1" fmla="*/ 2934063 w 2934062"/>
              <a:gd name="connsiteY1" fmla="*/ 0 h 631962"/>
            </a:gdLst>
            <a:ahLst/>
            <a:cxnLst>
              <a:cxn ang="0">
                <a:pos x="connsiteX0" y="connsiteY0"/>
              </a:cxn>
              <a:cxn ang="0">
                <a:pos x="connsiteX1" y="connsiteY1"/>
              </a:cxn>
            </a:cxnLst>
            <a:rect l="l" t="t" r="r" b="b"/>
            <a:pathLst>
              <a:path w="2934062" h="631962">
                <a:moveTo>
                  <a:pt x="0" y="631963"/>
                </a:moveTo>
                <a:cubicBezTo>
                  <a:pt x="1064540" y="577392"/>
                  <a:pt x="2156371" y="364484"/>
                  <a:pt x="2934063" y="0"/>
                </a:cubicBezTo>
              </a:path>
            </a:pathLst>
          </a:custGeom>
          <a:noFill/>
          <a:ln w="88900" cap="flat">
            <a:gradFill>
              <a:gsLst>
                <a:gs pos="0">
                  <a:srgbClr val="0042FF"/>
                </a:gs>
                <a:gs pos="100000">
                  <a:srgbClr val="3368FF"/>
                </a:gs>
              </a:gsLst>
              <a:lin ang="0" scaled="1"/>
            </a:gradFill>
            <a:prstDash val="solid"/>
            <a:miter/>
          </a:ln>
        </p:spPr>
        <p:txBody>
          <a:bodyPr rtlCol="0" anchor="ctr" lIns="0" rIns="0" tIns="0" bIns="0"/>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2" name="三角形 636"/>
          <p:cNvSpPr/>
          <p:nvPr/>
        </p:nvSpPr>
        <p:spPr>
          <a:xfrm rot="4115951">
            <a:off x="11508856" y="1267694"/>
            <a:ext cx="298216" cy="339676"/>
          </a:xfrm>
          <a:prstGeom prst="triangl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grpSp>
        <p:nvGrpSpPr>
          <p:cNvPr id="43" name="组合 42"/>
          <p:cNvGrpSpPr/>
          <p:nvPr/>
        </p:nvGrpSpPr>
        <p:grpSpPr>
          <a:xfrm>
            <a:off x="705250" y="4619188"/>
            <a:ext cx="2002593" cy="328104"/>
            <a:chOff x="8931417" y="1756645"/>
            <a:chExt cx="1741923" cy="285396"/>
          </a:xfrm>
        </p:grpSpPr>
        <p:sp>
          <p:nvSpPr>
            <p:cNvPr id="44" name="圆角矩形 667"/>
            <p:cNvSpPr/>
            <p:nvPr/>
          </p:nvSpPr>
          <p:spPr>
            <a:xfrm>
              <a:off x="8931417" y="1756645"/>
              <a:ext cx="1741923" cy="285396"/>
            </a:xfrm>
            <a:prstGeom prst="roundRect">
              <a:avLst>
                <a:gd name="adj" fmla="val 50000"/>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5" name="文本框 44"/>
            <p:cNvSpPr txBox="1"/>
            <p:nvPr/>
          </p:nvSpPr>
          <p:spPr>
            <a:xfrm>
              <a:off x="9257939" y="1824191"/>
              <a:ext cx="1344810" cy="16062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新品推广与品牌宣传</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46" name="椭圆 45"/>
            <p:cNvSpPr/>
            <p:nvPr/>
          </p:nvSpPr>
          <p:spPr>
            <a:xfrm>
              <a:off x="8972912" y="1790014"/>
              <a:ext cx="218661" cy="218661"/>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47" name="矩形 2"/>
            <p:cNvSpPr/>
            <p:nvPr/>
          </p:nvSpPr>
          <p:spPr>
            <a:xfrm rot="2700000">
              <a:off x="9056210" y="1835105"/>
              <a:ext cx="57271" cy="9814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38100" cap="rnd">
              <a:solidFill>
                <a:srgbClr val="668E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0042FF"/>
                </a:solidFill>
                <a:effectLst/>
                <a:uLnTx/>
                <a:uFillTx/>
                <a:latin typeface="微软雅黑"/>
                <a:ea typeface="微软雅黑"/>
                <a:cs typeface="微软雅黑"/>
                <a:sym typeface="微软雅黑"/>
              </a:endParaRPr>
            </a:p>
          </p:txBody>
        </p:sp>
      </p:grpSp>
      <p:sp>
        <p:nvSpPr>
          <p:cNvPr id="48" name="文本框 47"/>
          <p:cNvSpPr txBox="1"/>
          <p:nvPr/>
        </p:nvSpPr>
        <p:spPr>
          <a:xfrm>
            <a:off x="964134" y="2789518"/>
            <a:ext cx="1447222"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第一季度</a:t>
            </a:r>
            <a:endPar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49" name="文本框 48"/>
          <p:cNvSpPr txBox="1"/>
          <p:nvPr/>
        </p:nvSpPr>
        <p:spPr>
          <a:xfrm>
            <a:off x="1058156" y="3035593"/>
            <a:ext cx="1259178" cy="230832"/>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2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rPr>
              <a:t>first quarter</a:t>
            </a:r>
            <a:endPar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0" name="文本框 49"/>
          <p:cNvSpPr txBox="1"/>
          <p:nvPr/>
        </p:nvSpPr>
        <p:spPr>
          <a:xfrm>
            <a:off x="8650307" y="1303233"/>
            <a:ext cx="2660880"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第四季度</a:t>
            </a:r>
            <a:endPar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1" name="文本框 50"/>
          <p:cNvSpPr txBox="1"/>
          <p:nvPr/>
        </p:nvSpPr>
        <p:spPr>
          <a:xfrm>
            <a:off x="9351158" y="1549308"/>
            <a:ext cx="1259178" cy="229870"/>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2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rPr>
              <a:t>Fourth quarter</a:t>
            </a:r>
            <a:endPar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2" name="文本框 51"/>
          <p:cNvSpPr txBox="1"/>
          <p:nvPr/>
        </p:nvSpPr>
        <p:spPr>
          <a:xfrm>
            <a:off x="3895988" y="2470662"/>
            <a:ext cx="1447222"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第二季度</a:t>
            </a:r>
            <a:endPar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3" name="文本框 52"/>
          <p:cNvSpPr txBox="1"/>
          <p:nvPr/>
        </p:nvSpPr>
        <p:spPr>
          <a:xfrm>
            <a:off x="3990010" y="2716737"/>
            <a:ext cx="1259178" cy="229870"/>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2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rPr>
              <a:t>Second quarter</a:t>
            </a:r>
            <a:endPar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4" name="文本框 53"/>
          <p:cNvSpPr txBox="1"/>
          <p:nvPr/>
        </p:nvSpPr>
        <p:spPr>
          <a:xfrm>
            <a:off x="6827842" y="1945161"/>
            <a:ext cx="1447222" cy="2768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第三季度</a:t>
            </a:r>
            <a:endParaRPr kumimoji="0" lang="zh-CN" altLang="en-US" sz="1800" b="1"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5" name="文本框 54"/>
          <p:cNvSpPr txBox="1"/>
          <p:nvPr/>
        </p:nvSpPr>
        <p:spPr>
          <a:xfrm>
            <a:off x="6921864" y="2191236"/>
            <a:ext cx="1259178" cy="229870"/>
          </a:xfrm>
          <a:prstGeom prst="rect">
            <a:avLst/>
          </a:prstGeom>
          <a:noFill/>
        </p:spPr>
        <p:txBody>
          <a:bodyPr wrap="square" rtlCol="0" lIns="0" rIns="0" tIns="0" bIns="0" anchor="t">
            <a:noAutofit/>
          </a:bodyPr>
          <a:lstStyle>
            <a:defPPr>
              <a:defRPr lang="zh-CN">
                <a:latin typeface="微软雅黑"/>
                <a:ea typeface="微软雅黑"/>
                <a:cs typeface="微软雅黑"/>
              </a:defRPr>
            </a:defPPr>
            <a:lvl1pPr marR="0" lvl="0" indent="0" fontAlgn="auto">
              <a:lnSpc>
                <a:spcPct val="100000"/>
              </a:lnSpc>
              <a:spcBef>
                <a:spcPts val="0"/>
              </a:spcBef>
              <a:spcAft>
                <a:spcPts val="0"/>
              </a:spcAft>
              <a:buClrTx/>
              <a:buSzTx/>
              <a:buFontTx/>
              <a:buNone/>
              <a:defRPr kumimoji="0" sz="1200" b="0" i="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rPr>
              <a:t>Third quarter</a:t>
            </a:r>
            <a:endParaRPr kumimoji="0" lang="en-US" altLang="zh-CN" sz="1000" b="0" i="0" u="none" strike="noStrike" kern="1200" cap="all"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6" name="TextBox 50"/>
          <p:cNvSpPr txBox="1"/>
          <p:nvPr/>
        </p:nvSpPr>
        <p:spPr>
          <a:xfrm>
            <a:off x="424992" y="1721185"/>
            <a:ext cx="5621564" cy="540917"/>
          </a:xfrm>
          <a:prstGeom prst="rect">
            <a:avLst/>
          </a:prstGeom>
          <a:noFill/>
        </p:spPr>
        <p:txBody>
          <a:bodyPr wrap="square" rtlCol="0" lIns="0" rIns="0" tIns="0" bIns="0">
            <a:spAutoFit/>
          </a:bodyPr>
          <a:lstStyle>
            <a:defPPr>
              <a:defRPr lang="zh-CN">
                <a:latin typeface="微软雅黑"/>
                <a:ea typeface="微软雅黑"/>
                <a:cs typeface="微软雅黑"/>
              </a:defRPr>
            </a:defPPr>
            <a:lvl1pPr>
              <a:lnSpc>
                <a:spcPct val="120000"/>
              </a:lnSpc>
              <a:defRPr sz="1200">
                <a:latin typeface="微软雅黑"/>
                <a:ea typeface="微软雅黑"/>
                <a:cs typeface="微软雅黑"/>
              </a:defRPr>
            </a:lvl1pPr>
          </a:lstStyle>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核心目标一：提升品牌市场份额，增强品牌知名度和美誉度，提高购买转化率</a:t>
            </a:r>
            <a:endPar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a:p>
            <a:pPr marL="0" marR="0" lvl="0" indent="0" algn="l" defTabSz="914400" rtl="0" eaLnBrk="1" fontAlgn="auto" latinLnBrk="0" hangingPunct="1">
              <a:lnSpc>
                <a:spcPct val="125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核心目标二：增强用户粘性和忠诚度</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57" name="TextBox 50"/>
          <p:cNvSpPr txBox="1"/>
          <p:nvPr/>
        </p:nvSpPr>
        <p:spPr>
          <a:xfrm>
            <a:off x="479708" y="1220587"/>
            <a:ext cx="6438900" cy="398780"/>
          </a:xfrm>
          <a:prstGeom prst="rect">
            <a:avLst/>
          </a:prstGeom>
          <a:noFill/>
        </p:spPr>
        <p:txBody>
          <a:bodyPr wrap="none" rtlCol="0"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en-US" altLang="zh-CN" sz="2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2026</a:t>
            </a:r>
            <a:r>
              <a:rPr kumimoji="0" lang="zh-CN" altLang="en-US" sz="2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年度营销活动的时间轴规划 </a:t>
            </a:r>
            <a:r>
              <a:rPr kumimoji="0" lang="en-US" altLang="zh-CN" sz="2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a:t>
            </a:r>
            <a:r>
              <a:rPr kumimoji="0" lang="zh-CN" altLang="en-US" sz="2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 线上商城运营策划部</a:t>
            </a:r>
            <a:endParaRPr kumimoji="0" lang="en-US" sz="20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58" name="矩形 57"/>
          <p:cNvSpPr/>
          <p:nvPr/>
        </p:nvSpPr>
        <p:spPr>
          <a:xfrm>
            <a:off x="374404" y="1854434"/>
            <a:ext cx="70639" cy="70639"/>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59" name="矩形 58"/>
          <p:cNvSpPr/>
          <p:nvPr/>
        </p:nvSpPr>
        <p:spPr>
          <a:xfrm>
            <a:off x="374404" y="2079859"/>
            <a:ext cx="70639" cy="70639"/>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60" name="矩形 59"/>
          <p:cNvSpPr/>
          <p:nvPr/>
        </p:nvSpPr>
        <p:spPr>
          <a:xfrm>
            <a:off x="342040" y="5867035"/>
            <a:ext cx="2691410" cy="715642"/>
          </a:xfrm>
          <a:prstGeom prst="rect">
            <a:avLst/>
          </a:prstGeom>
          <a:gradFill>
            <a:gsLst>
              <a:gs pos="0">
                <a:srgbClr val="0042FF"/>
              </a:gs>
              <a:gs pos="100000">
                <a:srgbClr val="3368FF"/>
              </a:gs>
            </a:gsLst>
            <a:lin ang="2700000" scaled="0"/>
          </a:gradFill>
          <a:ln w="12700" cap="flat" cmpd="sng" algn="ctr">
            <a:noFill/>
            <a:prstDash val="dash"/>
            <a:miter lim="800000"/>
          </a:ln>
          <a:effectLst/>
        </p:spPr>
        <p:txBody>
          <a:bodyPr wrap="square" rtlCol="0" anchor="ctr" lIns="0" rIns="0" tIns="0" bIns="0">
            <a:no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61" name="三角形 3"/>
          <p:cNvSpPr/>
          <p:nvPr/>
        </p:nvSpPr>
        <p:spPr>
          <a:xfrm rot="10800000" flipV="1">
            <a:off x="1534552" y="5678177"/>
            <a:ext cx="306386" cy="188356"/>
          </a:xfrm>
          <a:prstGeom prst="triangle">
            <a:avLst/>
          </a:prstGeom>
          <a:gradFill>
            <a:gsLst>
              <a:gs pos="0">
                <a:srgbClr val="0042FF"/>
              </a:gs>
              <a:gs pos="100000">
                <a:srgbClr val="3368FF"/>
              </a:gs>
            </a:gsLst>
            <a:lin ang="2700000" scaled="0"/>
          </a:gradFill>
          <a:ln w="12700" cap="flat" cmpd="sng" algn="ctr">
            <a:noFill/>
            <a:prstDash val="dash"/>
            <a:miter lim="800000"/>
          </a:ln>
          <a:effectLst/>
        </p:spPr>
        <p:txBody>
          <a:bodyPr wrap="square" rtlCol="0" anchor="ctr"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zh-CN" altLang="en-US" kern="0" noProof="0">
              <a:ln>
                <a:noFill/>
              </a:ln>
              <a:solidFill>
                <a:srgbClr val="FFFFFF"/>
              </a:solidFill>
              <a:effectLst/>
              <a:uLnTx/>
              <a:uFillTx/>
              <a:latin typeface="微软雅黑"/>
              <a:ea typeface="微软雅黑"/>
              <a:cs typeface="微软雅黑"/>
              <a:sym typeface="微软雅黑"/>
            </a:endParaRPr>
          </a:p>
        </p:txBody>
      </p:sp>
      <p:grpSp>
        <p:nvGrpSpPr>
          <p:cNvPr id="62" name="组合 61"/>
          <p:cNvGrpSpPr/>
          <p:nvPr/>
        </p:nvGrpSpPr>
        <p:grpSpPr>
          <a:xfrm>
            <a:off x="7114793" y="2826521"/>
            <a:ext cx="873320" cy="873320"/>
            <a:chOff x="1390973" y="1041271"/>
            <a:chExt cx="687451" cy="687450"/>
          </a:xfrm>
          <a:gradFill>
            <a:gsLst>
              <a:gs pos="0">
                <a:srgbClr val="0042FF"/>
              </a:gs>
              <a:gs pos="100000">
                <a:srgbClr val="3368FF"/>
              </a:gs>
            </a:gsLst>
            <a:lin ang="2700000" scaled="0"/>
          </a:gradFill>
        </p:grpSpPr>
        <p:sp>
          <p:nvSpPr>
            <p:cNvPr id="63" name="椭圆 62"/>
            <p:cNvSpPr/>
            <p:nvPr/>
          </p:nvSpPr>
          <p:spPr>
            <a:xfrm>
              <a:off x="1390973" y="1041271"/>
              <a:ext cx="687451" cy="687450"/>
            </a:xfrm>
            <a:prstGeom prst="ellipse">
              <a:avLst/>
            </a:prstGeom>
            <a:grp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0" cap="none" spc="0" normalizeH="0" baseline="0" noProof="0">
                <a:ln>
                  <a:noFill/>
                </a:ln>
                <a:solidFill>
                  <a:srgbClr val="FFFFFF"/>
                </a:solidFill>
                <a:effectLst/>
                <a:uLnTx/>
                <a:uFillTx/>
                <a:latin typeface="微软雅黑"/>
                <a:ea typeface="微软雅黑"/>
                <a:cs typeface="微软雅黑"/>
                <a:sym typeface="微软雅黑"/>
              </a:endParaRPr>
            </a:p>
          </p:txBody>
        </p:sp>
        <p:sp>
          <p:nvSpPr>
            <p:cNvPr id="64" name="flag-pole-with-black-flag_38306"/>
            <p:cNvSpPr/>
            <p:nvPr/>
          </p:nvSpPr>
          <p:spPr>
            <a:xfrm>
              <a:off x="1608722" y="1229976"/>
              <a:ext cx="285637" cy="340022"/>
            </a:xfrm>
            <a:custGeom>
              <a:avLst/>
              <a:gdLst>
                <a:gd name="T0" fmla="*/ 401 w 401"/>
                <a:gd name="T1" fmla="*/ 89 h 478"/>
                <a:gd name="T2" fmla="*/ 401 w 401"/>
                <a:gd name="T3" fmla="*/ 293 h 478"/>
                <a:gd name="T4" fmla="*/ 73 w 401"/>
                <a:gd name="T5" fmla="*/ 293 h 478"/>
                <a:gd name="T6" fmla="*/ 73 w 401"/>
                <a:gd name="T7" fmla="*/ 89 h 478"/>
                <a:gd name="T8" fmla="*/ 401 w 401"/>
                <a:gd name="T9" fmla="*/ 89 h 478"/>
                <a:gd name="T10" fmla="*/ 39 w 401"/>
                <a:gd name="T11" fmla="*/ 0 h 478"/>
                <a:gd name="T12" fmla="*/ 0 w 401"/>
                <a:gd name="T13" fmla="*/ 39 h 478"/>
                <a:gd name="T14" fmla="*/ 23 w 401"/>
                <a:gd name="T15" fmla="*/ 74 h 478"/>
                <a:gd name="T16" fmla="*/ 23 w 401"/>
                <a:gd name="T17" fmla="*/ 478 h 478"/>
                <a:gd name="T18" fmla="*/ 56 w 401"/>
                <a:gd name="T19" fmla="*/ 478 h 478"/>
                <a:gd name="T20" fmla="*/ 56 w 401"/>
                <a:gd name="T21" fmla="*/ 74 h 478"/>
                <a:gd name="T22" fmla="*/ 78 w 401"/>
                <a:gd name="T23" fmla="*/ 39 h 478"/>
                <a:gd name="T24" fmla="*/ 39 w 401"/>
                <a:gd name="T2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1" h="478">
                  <a:moveTo>
                    <a:pt x="401" y="89"/>
                  </a:moveTo>
                  <a:lnTo>
                    <a:pt x="401" y="293"/>
                  </a:lnTo>
                  <a:cubicBezTo>
                    <a:pt x="292" y="212"/>
                    <a:pt x="182" y="375"/>
                    <a:pt x="73" y="293"/>
                  </a:cubicBezTo>
                  <a:lnTo>
                    <a:pt x="73" y="89"/>
                  </a:lnTo>
                  <a:cubicBezTo>
                    <a:pt x="182" y="171"/>
                    <a:pt x="292" y="7"/>
                    <a:pt x="401" y="89"/>
                  </a:cubicBezTo>
                  <a:close/>
                  <a:moveTo>
                    <a:pt x="39" y="0"/>
                  </a:moveTo>
                  <a:cubicBezTo>
                    <a:pt x="18" y="0"/>
                    <a:pt x="0" y="17"/>
                    <a:pt x="0" y="39"/>
                  </a:cubicBezTo>
                  <a:cubicBezTo>
                    <a:pt x="0" y="54"/>
                    <a:pt x="9" y="68"/>
                    <a:pt x="23" y="74"/>
                  </a:cubicBezTo>
                  <a:lnTo>
                    <a:pt x="23" y="478"/>
                  </a:lnTo>
                  <a:lnTo>
                    <a:pt x="56" y="478"/>
                  </a:lnTo>
                  <a:lnTo>
                    <a:pt x="56" y="74"/>
                  </a:lnTo>
                  <a:cubicBezTo>
                    <a:pt x="69" y="68"/>
                    <a:pt x="78" y="54"/>
                    <a:pt x="78" y="39"/>
                  </a:cubicBezTo>
                  <a:cubicBezTo>
                    <a:pt x="78" y="17"/>
                    <a:pt x="61" y="0"/>
                    <a:pt x="39" y="0"/>
                  </a:cubicBezTo>
                  <a:close/>
                </a:path>
              </a:pathLst>
            </a:custGeom>
            <a:solidFill>
              <a:srgbClr val="FFFFFF"/>
            </a:solidFill>
            <a:ln w="12700" cap="flat" cmpd="sng" algn="ctr">
              <a:noFill/>
              <a:prstDash val="solid"/>
              <a:miter lim="800000"/>
            </a:ln>
            <a:effectLst/>
          </p:spPr>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grpSp>
      <p:sp>
        <p:nvSpPr>
          <p:cNvPr id="65" name="椭圆 64"/>
          <p:cNvSpPr/>
          <p:nvPr/>
        </p:nvSpPr>
        <p:spPr>
          <a:xfrm>
            <a:off x="4182939" y="3301543"/>
            <a:ext cx="873320" cy="873320"/>
          </a:xfrm>
          <a:prstGeom prst="ellipse">
            <a:avLst/>
          </a:prstGeom>
          <a:gradFill>
            <a:gsLst>
              <a:gs pos="0">
                <a:srgbClr val="3368FF"/>
              </a:gs>
              <a:gs pos="100000">
                <a:srgbClr val="B3D4FE"/>
              </a:gs>
            </a:gsLst>
            <a:lin ang="2700000" scaled="0"/>
          </a:gra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66" name="椭圆 65"/>
          <p:cNvSpPr/>
          <p:nvPr/>
        </p:nvSpPr>
        <p:spPr>
          <a:xfrm>
            <a:off x="10014021" y="2120443"/>
            <a:ext cx="873320" cy="873320"/>
          </a:xfrm>
          <a:prstGeom prst="ellipse">
            <a:avLst/>
          </a:prstGeom>
          <a:gradFill>
            <a:gsLst>
              <a:gs pos="0">
                <a:srgbClr val="3368FF"/>
              </a:gs>
              <a:gs pos="100000">
                <a:srgbClr val="B3D4FE"/>
              </a:gs>
            </a:gsLst>
            <a:lin ang="2700000" scaled="0"/>
          </a:gradFill>
          <a:ln w="12700" cap="flat" cmpd="sng" algn="ctr">
            <a:noFill/>
            <a:prstDash val="solid"/>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67" name="TextBox 50"/>
          <p:cNvSpPr txBox="1"/>
          <p:nvPr/>
        </p:nvSpPr>
        <p:spPr>
          <a:xfrm>
            <a:off x="787499" y="6045833"/>
            <a:ext cx="1800493"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增强品牌认知度</a:t>
            </a: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69" name="TextBox 50"/>
          <p:cNvSpPr txBox="1"/>
          <p:nvPr/>
        </p:nvSpPr>
        <p:spPr>
          <a:xfrm>
            <a:off x="3836615" y="6045833"/>
            <a:ext cx="1569660"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节日特色活动</a:t>
            </a: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70" name="TextBox 50"/>
          <p:cNvSpPr txBox="1"/>
          <p:nvPr/>
        </p:nvSpPr>
        <p:spPr>
          <a:xfrm>
            <a:off x="6770315" y="6045833"/>
            <a:ext cx="1569660"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rPr>
              <a:t>增强品牌形象</a:t>
            </a: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sym typeface="微软雅黑"/>
            </a:endParaRPr>
          </a:p>
        </p:txBody>
      </p:sp>
      <p:sp>
        <p:nvSpPr>
          <p:cNvPr id="74" name="TextBox 50"/>
          <p:cNvSpPr txBox="1"/>
          <p:nvPr/>
        </p:nvSpPr>
        <p:spPr>
          <a:xfrm>
            <a:off x="9435083" y="6045833"/>
            <a:ext cx="2031326" cy="369332"/>
          </a:xfrm>
          <a:prstGeom prst="rect">
            <a:avLst/>
          </a:prstGeom>
          <a:noFill/>
        </p:spPr>
        <p:txBody>
          <a:bodyPr wrap="none" rtlCol="0" lIns="0" rIns="0" tIns="0" bIns="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线上线下互动活动</a:t>
            </a: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grpSp>
        <p:nvGrpSpPr>
          <p:cNvPr id="75" name="组合 74"/>
          <p:cNvGrpSpPr/>
          <p:nvPr/>
        </p:nvGrpSpPr>
        <p:grpSpPr>
          <a:xfrm>
            <a:off x="3618303" y="4386106"/>
            <a:ext cx="2002593" cy="328104"/>
            <a:chOff x="8931417" y="1756645"/>
            <a:chExt cx="1741923" cy="285396"/>
          </a:xfrm>
        </p:grpSpPr>
        <p:sp>
          <p:nvSpPr>
            <p:cNvPr id="76" name="圆角矩形 465"/>
            <p:cNvSpPr/>
            <p:nvPr/>
          </p:nvSpPr>
          <p:spPr>
            <a:xfrm>
              <a:off x="8931417" y="1756645"/>
              <a:ext cx="1741923" cy="285396"/>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77" name="文本框 76"/>
            <p:cNvSpPr txBox="1"/>
            <p:nvPr/>
          </p:nvSpPr>
          <p:spPr>
            <a:xfrm>
              <a:off x="9257939" y="1824191"/>
              <a:ext cx="1344810" cy="16062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节日营销与用户互动</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78" name="椭圆 77"/>
            <p:cNvSpPr/>
            <p:nvPr/>
          </p:nvSpPr>
          <p:spPr>
            <a:xfrm>
              <a:off x="8972912" y="1790014"/>
              <a:ext cx="218661" cy="218661"/>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79" name="矩形 2"/>
            <p:cNvSpPr/>
            <p:nvPr/>
          </p:nvSpPr>
          <p:spPr>
            <a:xfrm rot="2700000">
              <a:off x="9056210" y="1835105"/>
              <a:ext cx="57271" cy="9814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38100" cap="rnd">
              <a:solidFill>
                <a:srgbClr val="B3D4FE"/>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80" name="组合 79"/>
          <p:cNvGrpSpPr/>
          <p:nvPr/>
        </p:nvGrpSpPr>
        <p:grpSpPr>
          <a:xfrm>
            <a:off x="6511696" y="3902012"/>
            <a:ext cx="2002593" cy="328104"/>
            <a:chOff x="8931417" y="1756645"/>
            <a:chExt cx="1741923" cy="285396"/>
          </a:xfrm>
        </p:grpSpPr>
        <p:sp>
          <p:nvSpPr>
            <p:cNvPr id="81" name="圆角矩形 470"/>
            <p:cNvSpPr/>
            <p:nvPr/>
          </p:nvSpPr>
          <p:spPr>
            <a:xfrm>
              <a:off x="8931417" y="1756645"/>
              <a:ext cx="1741923" cy="285396"/>
            </a:xfrm>
            <a:prstGeom prst="roundRect">
              <a:avLst>
                <a:gd name="adj" fmla="val 50000"/>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82" name="文本框 81"/>
            <p:cNvSpPr txBox="1"/>
            <p:nvPr/>
          </p:nvSpPr>
          <p:spPr>
            <a:xfrm>
              <a:off x="9257939" y="1824191"/>
              <a:ext cx="1344810" cy="16062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暑期促销与跨界合作</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83" name="椭圆 82"/>
            <p:cNvSpPr/>
            <p:nvPr/>
          </p:nvSpPr>
          <p:spPr>
            <a:xfrm>
              <a:off x="8972912" y="1790014"/>
              <a:ext cx="218661" cy="218661"/>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84" name="矩形 2"/>
            <p:cNvSpPr/>
            <p:nvPr/>
          </p:nvSpPr>
          <p:spPr>
            <a:xfrm rot="2700000">
              <a:off x="9056210" y="1835105"/>
              <a:ext cx="57271" cy="9814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38100" cap="rnd">
              <a:solidFill>
                <a:srgbClr val="668EFF"/>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85" name="组合 84"/>
          <p:cNvGrpSpPr/>
          <p:nvPr/>
        </p:nvGrpSpPr>
        <p:grpSpPr>
          <a:xfrm>
            <a:off x="9449385" y="3218526"/>
            <a:ext cx="2002593" cy="328104"/>
            <a:chOff x="8931417" y="1756645"/>
            <a:chExt cx="1741923" cy="285396"/>
          </a:xfrm>
        </p:grpSpPr>
        <p:sp>
          <p:nvSpPr>
            <p:cNvPr id="86" name="圆角矩形 475"/>
            <p:cNvSpPr/>
            <p:nvPr/>
          </p:nvSpPr>
          <p:spPr>
            <a:xfrm>
              <a:off x="8931417" y="1756645"/>
              <a:ext cx="1741923" cy="285396"/>
            </a:xfrm>
            <a:prstGeom prst="roundRect">
              <a:avLst>
                <a:gd name="adj" fmla="val 5000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87" name="文本框 86"/>
            <p:cNvSpPr txBox="1"/>
            <p:nvPr/>
          </p:nvSpPr>
          <p:spPr>
            <a:xfrm>
              <a:off x="9257939" y="1824191"/>
              <a:ext cx="1344810" cy="16062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秋冬新品与双</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11</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大促</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56" name="椭圆 255"/>
            <p:cNvSpPr/>
            <p:nvPr/>
          </p:nvSpPr>
          <p:spPr>
            <a:xfrm>
              <a:off x="8972912" y="1790014"/>
              <a:ext cx="218661" cy="218661"/>
            </a:xfrm>
            <a:prstGeom prst="ellipse">
              <a:avLst/>
            </a:pr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57" name="矩形 2"/>
            <p:cNvSpPr/>
            <p:nvPr/>
          </p:nvSpPr>
          <p:spPr>
            <a:xfrm rot="2700000">
              <a:off x="9056210" y="1835105"/>
              <a:ext cx="57271" cy="98140"/>
            </a:xfrm>
            <a:custGeom>
              <a:avLst/>
              <a:gdLst>
                <a:gd name="connsiteX0" fmla="*/ 0 w 415436"/>
                <a:gd name="connsiteY0" fmla="*/ 0 h 415436"/>
                <a:gd name="connsiteX1" fmla="*/ 415436 w 415436"/>
                <a:gd name="connsiteY1" fmla="*/ 0 h 415436"/>
                <a:gd name="connsiteX2" fmla="*/ 415436 w 415436"/>
                <a:gd name="connsiteY2" fmla="*/ 415436 h 415436"/>
                <a:gd name="connsiteX3" fmla="*/ 0 w 415436"/>
                <a:gd name="connsiteY3" fmla="*/ 415436 h 415436"/>
                <a:gd name="connsiteX4" fmla="*/ 0 w 415436"/>
                <a:gd name="connsiteY4" fmla="*/ 0 h 415436"/>
                <a:gd name="connsiteX0-1" fmla="*/ 0 w 415436"/>
                <a:gd name="connsiteY0-2" fmla="*/ 415436 h 415436"/>
                <a:gd name="connsiteX1-3" fmla="*/ 415436 w 415436"/>
                <a:gd name="connsiteY1-4" fmla="*/ 0 h 415436"/>
                <a:gd name="connsiteX2-5" fmla="*/ 415436 w 415436"/>
                <a:gd name="connsiteY2-6" fmla="*/ 415436 h 415436"/>
                <a:gd name="connsiteX3-7" fmla="*/ 0 w 415436"/>
                <a:gd name="connsiteY3-8" fmla="*/ 415436 h 415436"/>
                <a:gd name="connsiteX0-9" fmla="*/ 0 w 218174"/>
                <a:gd name="connsiteY0-10" fmla="*/ 415436 h 415436"/>
                <a:gd name="connsiteX1-11" fmla="*/ 218174 w 218174"/>
                <a:gd name="connsiteY1-12" fmla="*/ 0 h 415436"/>
                <a:gd name="connsiteX2-13" fmla="*/ 218174 w 218174"/>
                <a:gd name="connsiteY2-14" fmla="*/ 415436 h 415436"/>
                <a:gd name="connsiteX3-15" fmla="*/ 0 w 218174"/>
                <a:gd name="connsiteY3-16" fmla="*/ 415436 h 415436"/>
                <a:gd name="connsiteX0-17" fmla="*/ 0 w 218174"/>
                <a:gd name="connsiteY0-18" fmla="*/ 415436 h 415436"/>
                <a:gd name="connsiteX1-19" fmla="*/ 118424 w 218174"/>
                <a:gd name="connsiteY1-20" fmla="*/ 208567 h 415436"/>
                <a:gd name="connsiteX2-21" fmla="*/ 218174 w 218174"/>
                <a:gd name="connsiteY2-22" fmla="*/ 0 h 415436"/>
                <a:gd name="connsiteX3-23" fmla="*/ 218174 w 218174"/>
                <a:gd name="connsiteY3-24" fmla="*/ 415436 h 415436"/>
                <a:gd name="connsiteX4-25" fmla="*/ 0 w 218174"/>
                <a:gd name="connsiteY4-26" fmla="*/ 415436 h 415436"/>
                <a:gd name="connsiteX0-27" fmla="*/ 27697 w 245871"/>
                <a:gd name="connsiteY0-28" fmla="*/ 415436 h 415436"/>
                <a:gd name="connsiteX1-29" fmla="*/ 0 w 245871"/>
                <a:gd name="connsiteY1-30" fmla="*/ 120895 h 415436"/>
                <a:gd name="connsiteX2-31" fmla="*/ 245871 w 245871"/>
                <a:gd name="connsiteY2-32" fmla="*/ 0 h 415436"/>
                <a:gd name="connsiteX3-33" fmla="*/ 245871 w 245871"/>
                <a:gd name="connsiteY3-34" fmla="*/ 415436 h 415436"/>
                <a:gd name="connsiteX4-35" fmla="*/ 27697 w 245871"/>
                <a:gd name="connsiteY4-36" fmla="*/ 415436 h 415436"/>
                <a:gd name="connsiteX0-37" fmla="*/ 0 w 245871"/>
                <a:gd name="connsiteY0-38" fmla="*/ 120895 h 415436"/>
                <a:gd name="connsiteX1-39" fmla="*/ 245871 w 245871"/>
                <a:gd name="connsiteY1-40" fmla="*/ 0 h 415436"/>
                <a:gd name="connsiteX2-41" fmla="*/ 245871 w 245871"/>
                <a:gd name="connsiteY2-42" fmla="*/ 415436 h 415436"/>
                <a:gd name="connsiteX3-43" fmla="*/ 27697 w 245871"/>
                <a:gd name="connsiteY3-44" fmla="*/ 415436 h 415436"/>
                <a:gd name="connsiteX4-45" fmla="*/ 91440 w 245871"/>
                <a:gd name="connsiteY4-46" fmla="*/ 212335 h 415436"/>
                <a:gd name="connsiteX0-47" fmla="*/ 0 w 245871"/>
                <a:gd name="connsiteY0-48" fmla="*/ 120895 h 415436"/>
                <a:gd name="connsiteX1-49" fmla="*/ 245871 w 245871"/>
                <a:gd name="connsiteY1-50" fmla="*/ 0 h 415436"/>
                <a:gd name="connsiteX2-51" fmla="*/ 245871 w 245871"/>
                <a:gd name="connsiteY2-52" fmla="*/ 415436 h 415436"/>
                <a:gd name="connsiteX3-53" fmla="*/ 27697 w 245871"/>
                <a:gd name="connsiteY3-54" fmla="*/ 415436 h 415436"/>
                <a:gd name="connsiteX0-55" fmla="*/ 218174 w 218174"/>
                <a:gd name="connsiteY0-56" fmla="*/ 0 h 415436"/>
                <a:gd name="connsiteX1-57" fmla="*/ 218174 w 218174"/>
                <a:gd name="connsiteY1-58" fmla="*/ 415436 h 415436"/>
                <a:gd name="connsiteX2-59" fmla="*/ 0 w 218174"/>
                <a:gd name="connsiteY2-60" fmla="*/ 415436 h 415436"/>
              </a:gdLst>
              <a:ahLst/>
              <a:cxnLst>
                <a:cxn ang="0">
                  <a:pos x="connsiteX0-1" y="connsiteY0-2"/>
                </a:cxn>
                <a:cxn ang="0">
                  <a:pos x="connsiteX1-3" y="connsiteY1-4"/>
                </a:cxn>
                <a:cxn ang="0">
                  <a:pos x="connsiteX2-5" y="connsiteY2-6"/>
                </a:cxn>
              </a:cxnLst>
              <a:rect l="l" t="t" r="r" b="b"/>
              <a:pathLst>
                <a:path w="218174" h="415436">
                  <a:moveTo>
                    <a:pt x="218174" y="0"/>
                  </a:moveTo>
                  <a:lnTo>
                    <a:pt x="218174" y="415436"/>
                  </a:lnTo>
                  <a:lnTo>
                    <a:pt x="0" y="415436"/>
                  </a:lnTo>
                </a:path>
              </a:pathLst>
            </a:custGeom>
            <a:noFill/>
            <a:ln w="38100" cap="rnd">
              <a:solidFill>
                <a:srgbClr val="B3D4FE"/>
              </a:solidFill>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grpSp>
      <p:grpSp>
        <p:nvGrpSpPr>
          <p:cNvPr id="258" name="组合 257"/>
          <p:cNvGrpSpPr/>
          <p:nvPr/>
        </p:nvGrpSpPr>
        <p:grpSpPr>
          <a:xfrm>
            <a:off x="9301986" y="3747677"/>
            <a:ext cx="2308902" cy="496041"/>
            <a:chOff x="9278620" y="3660421"/>
            <a:chExt cx="2308902" cy="496041"/>
          </a:xfrm>
        </p:grpSpPr>
        <p:sp>
          <p:nvSpPr>
            <p:cNvPr id="259" name="矩形: 圆角 103"/>
            <p:cNvSpPr/>
            <p:nvPr/>
          </p:nvSpPr>
          <p:spPr>
            <a:xfrm>
              <a:off x="9278620" y="3660421"/>
              <a:ext cx="2308902" cy="496041"/>
            </a:xfrm>
            <a:prstGeom prst="roundRect">
              <a:avLst>
                <a:gd name="adj" fmla="val 0"/>
              </a:avLst>
            </a:prstGeom>
            <a:noFill/>
            <a:ln w="9525" cap="flat" cmpd="sng" algn="ctr">
              <a:solidFill>
                <a:srgbClr val="DCDCDC"/>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60" name="文本框 259"/>
            <p:cNvSpPr txBox="1"/>
            <p:nvPr/>
          </p:nvSpPr>
          <p:spPr>
            <a:xfrm>
              <a:off x="9404784" y="3812622"/>
              <a:ext cx="676854" cy="210185"/>
            </a:xfrm>
            <a:prstGeom prst="rect">
              <a:avLst/>
            </a:prstGeom>
            <a:noFill/>
          </p:spPr>
          <p:txBody>
            <a:bodyPr wrap="square" lIns="0" tIns="0" rIns="0" bIns="0" rtlCol="0">
              <a:spAutoFit/>
            </a:bodyPr>
            <a:lstStyle>
              <a:defPPr>
                <a:defRPr lang="zh-CN">
                  <a:latin typeface="微软雅黑"/>
                  <a:ea typeface="微软雅黑"/>
                  <a:cs typeface="微软雅黑"/>
                </a:defRPr>
              </a:defPPr>
              <a:lvl1pPr marR="0" lvl="0" indent="0" fontAlgn="auto">
                <a:lnSpc>
                  <a:spcPct val="114000"/>
                </a:lnSpc>
                <a:spcBef>
                  <a:spcPts val="0"/>
                </a:spcBef>
                <a:spcAft>
                  <a:spcPts val="0"/>
                </a:spcAft>
                <a:buClrTx/>
                <a:buSzTx/>
                <a:buFontTx/>
                <a:buNone/>
                <a:defRPr kumimoji="0" sz="100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秋冬新品</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61" name="圆角矩形 62"/>
            <p:cNvSpPr/>
            <p:nvPr/>
          </p:nvSpPr>
          <p:spPr>
            <a:xfrm>
              <a:off x="10082913" y="3794591"/>
              <a:ext cx="676854" cy="227985"/>
            </a:xfrm>
            <a:prstGeom prst="roundRect">
              <a:avLst>
                <a:gd name="adj" fmla="val 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62" name="文本框 261"/>
            <p:cNvSpPr txBox="1"/>
            <p:nvPr/>
          </p:nvSpPr>
          <p:spPr>
            <a:xfrm>
              <a:off x="10107018" y="3839334"/>
              <a:ext cx="628645" cy="171450"/>
            </a:xfrm>
            <a:prstGeom prst="rect">
              <a:avLst/>
            </a:prstGeom>
            <a:noFill/>
            <a:effectLst/>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时尚博主</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63" name="圆角矩形 479"/>
            <p:cNvSpPr/>
            <p:nvPr/>
          </p:nvSpPr>
          <p:spPr>
            <a:xfrm>
              <a:off x="10809744" y="3794591"/>
              <a:ext cx="676854" cy="227985"/>
            </a:xfrm>
            <a:prstGeom prst="roundRect">
              <a:avLst>
                <a:gd name="adj" fmla="val 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64" name="文本框 263"/>
            <p:cNvSpPr txBox="1"/>
            <p:nvPr/>
          </p:nvSpPr>
          <p:spPr>
            <a:xfrm>
              <a:off x="10833849" y="3839334"/>
              <a:ext cx="628645" cy="171450"/>
            </a:xfrm>
            <a:prstGeom prst="rect">
              <a:avLst/>
            </a:prstGeom>
            <a:noFill/>
            <a:effectLst/>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GB"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平台</a:t>
              </a:r>
              <a:r>
                <a:rPr kumimoji="0" lang="en-GB" altLang="zh-CN"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KOL</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grpSp>
      <p:grpSp>
        <p:nvGrpSpPr>
          <p:cNvPr id="265" name="组合 264"/>
          <p:cNvGrpSpPr/>
          <p:nvPr/>
        </p:nvGrpSpPr>
        <p:grpSpPr>
          <a:xfrm>
            <a:off x="9301986" y="4415587"/>
            <a:ext cx="2308902" cy="496041"/>
            <a:chOff x="9278620" y="3660421"/>
            <a:chExt cx="2308902" cy="496041"/>
          </a:xfrm>
        </p:grpSpPr>
        <p:sp>
          <p:nvSpPr>
            <p:cNvPr id="266" name="矩形: 圆角 103"/>
            <p:cNvSpPr/>
            <p:nvPr/>
          </p:nvSpPr>
          <p:spPr>
            <a:xfrm>
              <a:off x="9278620" y="3660421"/>
              <a:ext cx="2308902" cy="496041"/>
            </a:xfrm>
            <a:prstGeom prst="roundRect">
              <a:avLst>
                <a:gd name="adj" fmla="val 0"/>
              </a:avLst>
            </a:prstGeom>
            <a:noFill/>
            <a:ln w="9525" cap="flat" cmpd="sng" algn="ctr">
              <a:solidFill>
                <a:srgbClr val="DCDCDC"/>
              </a:solidFill>
              <a:prstDash val="dash"/>
              <a:miter lim="800000"/>
            </a:ln>
            <a:effectLst/>
          </p:spPr>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0" cap="none" spc="0" normalizeH="0" baseline="0" noProof="0">
                <a:ln>
                  <a:noFill/>
                </a:ln>
                <a:solidFill>
                  <a:prstClr val="white"/>
                </a:solidFill>
                <a:effectLst/>
                <a:uLnTx/>
                <a:uFillTx/>
                <a:latin typeface="微软雅黑"/>
                <a:ea typeface="微软雅黑"/>
                <a:cs typeface="微软雅黑"/>
                <a:sym typeface="微软雅黑"/>
              </a:endParaRPr>
            </a:p>
          </p:txBody>
        </p:sp>
        <p:sp>
          <p:nvSpPr>
            <p:cNvPr id="267" name="文本框 266"/>
            <p:cNvSpPr txBox="1"/>
            <p:nvPr/>
          </p:nvSpPr>
          <p:spPr>
            <a:xfrm>
              <a:off x="9404784" y="3812622"/>
              <a:ext cx="676854" cy="210185"/>
            </a:xfrm>
            <a:prstGeom prst="rect">
              <a:avLst/>
            </a:prstGeom>
            <a:noFill/>
          </p:spPr>
          <p:txBody>
            <a:bodyPr wrap="square" lIns="0" tIns="0" rIns="0" bIns="0" rtlCol="0">
              <a:spAutoFit/>
            </a:bodyPr>
            <a:lstStyle>
              <a:defPPr>
                <a:defRPr lang="zh-CN">
                  <a:latin typeface="微软雅黑"/>
                  <a:ea typeface="微软雅黑"/>
                  <a:cs typeface="微软雅黑"/>
                </a:defRPr>
              </a:defPPr>
              <a:lvl1pPr marR="0" lvl="0" indent="0" fontAlgn="auto">
                <a:lnSpc>
                  <a:spcPct val="114000"/>
                </a:lnSpc>
                <a:spcBef>
                  <a:spcPts val="0"/>
                </a:spcBef>
                <a:spcAft>
                  <a:spcPts val="0"/>
                </a:spcAft>
                <a:buClrTx/>
                <a:buSzTx/>
                <a:buFontTx/>
                <a:buNone/>
                <a:defRPr kumimoji="0" sz="1000" u="none" strike="noStrike" cap="none" spc="0" normalizeH="0" baseline="0">
                  <a:ln>
                    <a:noFill/>
                  </a:ln>
                  <a:solidFill>
                    <a:srgbClr val="383838"/>
                  </a:solidFill>
                  <a:effectLst/>
                  <a:uLnTx/>
                  <a:uFillTx/>
                  <a:latin typeface="微软雅黑"/>
                  <a:ea typeface="微软雅黑"/>
                  <a:cs typeface="微软雅黑"/>
                </a:defRPr>
              </a:lvl1p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双</a:t>
              </a:r>
              <a:r>
                <a:rPr kumimoji="0" lang="en-US" altLang="zh-CN"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11</a:t>
              </a:r>
              <a:r>
                <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rPr>
                <a:t>大促</a:t>
              </a:r>
              <a:endParaRPr kumimoji="0" lang="zh-CN" altLang="en-US" sz="1200" b="1" i="0" u="none" strike="noStrike" kern="1200" cap="none" spc="0" normalizeH="0" baseline="0" noProof="0" dirty="0">
                <a:ln>
                  <a:noFill/>
                </a:ln>
                <a:solidFill>
                  <a:srgbClr val="0042FF"/>
                </a:solidFill>
                <a:effectLst/>
                <a:uLnTx/>
                <a:uFillTx/>
                <a:latin typeface="微软雅黑"/>
                <a:ea typeface="微软雅黑"/>
                <a:cs typeface="微软雅黑"/>
                <a:sym typeface="微软雅黑"/>
              </a:endParaRPr>
            </a:p>
          </p:txBody>
        </p:sp>
        <p:sp>
          <p:nvSpPr>
            <p:cNvPr id="268" name="圆角矩形 486"/>
            <p:cNvSpPr/>
            <p:nvPr/>
          </p:nvSpPr>
          <p:spPr>
            <a:xfrm>
              <a:off x="10082913" y="3794591"/>
              <a:ext cx="676854" cy="227985"/>
            </a:xfrm>
            <a:prstGeom prst="roundRect">
              <a:avLst>
                <a:gd name="adj" fmla="val 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69" name="文本框 268"/>
            <p:cNvSpPr txBox="1"/>
            <p:nvPr/>
          </p:nvSpPr>
          <p:spPr>
            <a:xfrm>
              <a:off x="10107018" y="3839334"/>
              <a:ext cx="628645" cy="171450"/>
            </a:xfrm>
            <a:prstGeom prst="rect">
              <a:avLst/>
            </a:prstGeom>
            <a:noFill/>
            <a:effectLst/>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线上促销</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70" name="圆角矩形 488"/>
            <p:cNvSpPr/>
            <p:nvPr/>
          </p:nvSpPr>
          <p:spPr>
            <a:xfrm>
              <a:off x="10809744" y="3794591"/>
              <a:ext cx="676854" cy="227985"/>
            </a:xfrm>
            <a:prstGeom prst="roundRect">
              <a:avLst>
                <a:gd name="adj" fmla="val 0"/>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71" name="文本框 270"/>
            <p:cNvSpPr txBox="1"/>
            <p:nvPr/>
          </p:nvSpPr>
          <p:spPr>
            <a:xfrm>
              <a:off x="10833849" y="3839334"/>
              <a:ext cx="628645" cy="171450"/>
            </a:xfrm>
            <a:prstGeom prst="rect">
              <a:avLst/>
            </a:prstGeom>
            <a:noFill/>
            <a:effectLst/>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用户互动</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grpSp>
      <p:sp>
        <p:nvSpPr>
          <p:cNvPr id="272" name="文本框 271"/>
          <p:cNvSpPr txBox="1"/>
          <p:nvPr/>
        </p:nvSpPr>
        <p:spPr>
          <a:xfrm>
            <a:off x="9281200" y="5123961"/>
            <a:ext cx="2322266" cy="452688"/>
          </a:xfrm>
          <a:prstGeom prst="rect">
            <a:avLst/>
          </a:prstGeom>
          <a:noFill/>
        </p:spPr>
        <p:txBody>
          <a:bodyPr wrap="square" lIns="0" rIns="0" t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圣诞节和元旦期间推出跨年大促，结合线上线下互动活动</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73" name="文本框 272"/>
          <p:cNvSpPr txBox="1"/>
          <p:nvPr/>
        </p:nvSpPr>
        <p:spPr>
          <a:xfrm>
            <a:off x="6603001" y="4461545"/>
            <a:ext cx="2052027" cy="436530"/>
          </a:xfrm>
          <a:prstGeom prst="rect">
            <a:avLst/>
          </a:prstGeom>
          <a:noFill/>
        </p:spPr>
        <p:txBody>
          <a:bodyPr wrap="square" rtlCol="0" lIns="0" rIns="0" tIns="0" bIns="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暑期大促销，针对学生群体推出优惠活动</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84" name="椭圆 283"/>
          <p:cNvSpPr/>
          <p:nvPr/>
        </p:nvSpPr>
        <p:spPr>
          <a:xfrm>
            <a:off x="6449233" y="4525749"/>
            <a:ext cx="184666" cy="184666"/>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85" name="文本框 284"/>
          <p:cNvSpPr txBox="1"/>
          <p:nvPr/>
        </p:nvSpPr>
        <p:spPr>
          <a:xfrm>
            <a:off x="6465036" y="4552719"/>
            <a:ext cx="151148"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1</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86" name="文本框 285"/>
          <p:cNvSpPr txBox="1"/>
          <p:nvPr/>
        </p:nvSpPr>
        <p:spPr>
          <a:xfrm>
            <a:off x="6603001" y="5038462"/>
            <a:ext cx="2052027" cy="436530"/>
          </a:xfrm>
          <a:prstGeom prst="rect">
            <a:avLst/>
          </a:prstGeom>
          <a:noFill/>
        </p:spPr>
        <p:txBody>
          <a:bodyPr wrap="square" rtlCol="0" lIns="0" rIns="0" tIns="0" bIns="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与知名品牌或</a:t>
            </a:r>
            <a:r>
              <a:rPr kumimoji="0" lang="en-GB" altLang="zh-CN"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IP</a:t>
            </a: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合作，推出联名产品或限定系列</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87" name="椭圆 286"/>
          <p:cNvSpPr/>
          <p:nvPr/>
        </p:nvSpPr>
        <p:spPr>
          <a:xfrm>
            <a:off x="6449233" y="5102666"/>
            <a:ext cx="184666" cy="184666"/>
          </a:xfrm>
          <a:prstGeom prst="ellipse">
            <a:avLst/>
          </a:prstGeom>
          <a:solidFill>
            <a:srgbClr val="668E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1" lang="zh-CN" altLang="en-US" sz="1800" b="0"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88" name="文本框 287"/>
          <p:cNvSpPr txBox="1"/>
          <p:nvPr/>
        </p:nvSpPr>
        <p:spPr>
          <a:xfrm>
            <a:off x="6465036" y="5129636"/>
            <a:ext cx="151148" cy="171450"/>
          </a:xfrm>
          <a:prstGeom prst="rect">
            <a:avLst/>
          </a:prstGeom>
          <a:noFill/>
        </p:spPr>
        <p:txBody>
          <a:bodyPr wrap="square" lIns="0" tIns="0" rIns="0" bIns="0" rtlCol="0" anchor="t">
            <a:noAutofit/>
          </a:bodyPr>
          <a:lstStyle/>
          <a:p>
            <a:pPr marL="0" marR="0" lvl="0" indent="0" algn="ctr" defTabSz="914400" rtl="0" eaLnBrk="1" fontAlgn="auto" latinLnBrk="0" hangingPunct="1">
              <a:lnSpc>
                <a:spcPts val="1120"/>
              </a:lnSpc>
              <a:spcBef>
                <a:spcPts val="0"/>
              </a:spcBef>
              <a:spcAft>
                <a:spcPts val="0"/>
              </a:spcAft>
              <a:buClrTx/>
              <a:buSzTx/>
              <a:buFontTx/>
              <a:buNone/>
              <a:defRPr>
                <a:solidFill>
                  <a:srgbClr val="383838"/>
                </a:solidFill>
                <a:latin typeface="微软雅黑"/>
                <a:ea typeface="微软雅黑"/>
                <a:cs typeface="微软雅黑"/>
              </a:defRPr>
            </a:pPr>
            <a:r>
              <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2</a:t>
            </a:r>
            <a:endParaRPr kumimoji="0" lang="en-US" altLang="zh-CN"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89" name="文本框 288"/>
          <p:cNvSpPr txBox="1"/>
          <p:nvPr/>
        </p:nvSpPr>
        <p:spPr>
          <a:xfrm>
            <a:off x="3581268" y="4964336"/>
            <a:ext cx="2076662" cy="525145"/>
          </a:xfrm>
          <a:prstGeom prst="rect">
            <a:avLst/>
          </a:prstGeom>
          <a:noFill/>
        </p:spPr>
        <p:txBody>
          <a:bodyPr wrap="square" lIns="0" tIns="0" rIns="0" bIns="0" rtlCol="0">
            <a:spAutoFit/>
          </a:bodyPr>
          <a:lstStyle/>
          <a:p>
            <a:pPr lvl="0" algn="l">
              <a:lnSpc>
                <a:spcPct val="114000"/>
              </a:lnSpc>
              <a:spcBef>
                <a:spcPts val="0"/>
              </a:spcBef>
              <a:spcAft>
                <a:spcPts val="0"/>
              </a:spcAft>
              <a:buClrTx/>
              <a:buSzTx/>
              <a:buFontTx/>
              <a:defRPr>
                <a:latin typeface="微软雅黑"/>
                <a:ea typeface="微软雅黑"/>
                <a:cs typeface="微软雅黑"/>
              </a:defRPr>
            </a:pPr>
            <a:r>
              <a:rPr lang="zh-CN" altLang="en-US" sz="1000" noProof="0" dirty="0">
                <a:ln>
                  <a:noFill/>
                </a:ln>
                <a:solidFill>
                  <a:srgbClr val="383838"/>
                </a:solidFill>
                <a:effectLst/>
                <a:uLnTx/>
                <a:uFillTx/>
                <a:latin typeface="微软雅黑"/>
                <a:ea typeface="微软雅黑"/>
                <a:cs typeface="微软雅黑"/>
                <a:sym typeface="微软雅黑"/>
              </a:rPr>
              <a:t>清明节期间推出折扣活动，五一劳动节推出特别优惠，儿童节期间推出儿童用品系列活动</a:t>
            </a:r>
            <a:endParaRPr lang="zh-CN" altLang="en-US" sz="1000" noProof="0" dirty="0">
              <a:ln>
                <a:noFill/>
              </a:ln>
              <a:solidFill>
                <a:srgbClr val="383838"/>
              </a:solidFill>
              <a:effectLst/>
              <a:uLnTx/>
              <a:uFillTx/>
              <a:latin typeface="微软雅黑"/>
              <a:ea typeface="微软雅黑"/>
              <a:cs typeface="微软雅黑"/>
              <a:sym typeface="微软雅黑"/>
            </a:endParaRPr>
          </a:p>
        </p:txBody>
      </p:sp>
      <p:sp>
        <p:nvSpPr>
          <p:cNvPr id="290" name="文本框 289"/>
          <p:cNvSpPr txBox="1"/>
          <p:nvPr/>
        </p:nvSpPr>
        <p:spPr>
          <a:xfrm>
            <a:off x="655187" y="5182892"/>
            <a:ext cx="2076662" cy="344197"/>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0"/>
              </a:spcAft>
              <a:buClrTx/>
              <a:buSzTx/>
              <a:buFontTx/>
              <a:buNone/>
              <a:defRPr>
                <a:latin typeface="微软雅黑"/>
                <a:ea typeface="微软雅黑"/>
                <a:cs typeface="微软雅黑"/>
              </a:defRPr>
            </a:pPr>
            <a:r>
              <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rPr>
              <a:t>推出春季新品系列，策划情人节主题活动，进行品牌周年庆活动</a:t>
            </a:r>
            <a:endParaRPr kumimoji="0" lang="zh-CN" altLang="en-US" sz="1000" b="0" i="0"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291" name="statistics-settings_72708"/>
          <p:cNvSpPr>
            <a:spLocks noChangeAspect="1"/>
          </p:cNvSpPr>
          <p:nvPr/>
        </p:nvSpPr>
        <p:spPr>
          <a:xfrm>
            <a:off x="4382055" y="3523414"/>
            <a:ext cx="411633" cy="396000"/>
          </a:xfrm>
          <a:custGeom>
            <a:avLst/>
            <a:gdLst>
              <a:gd name="connsiteX0" fmla="*/ 195114 w 608814"/>
              <a:gd name="connsiteY0" fmla="*/ 351627 h 585693"/>
              <a:gd name="connsiteX1" fmla="*/ 258290 w 608814"/>
              <a:gd name="connsiteY1" fmla="*/ 351627 h 585693"/>
              <a:gd name="connsiteX2" fmla="*/ 282731 w 608814"/>
              <a:gd name="connsiteY2" fmla="*/ 376018 h 585693"/>
              <a:gd name="connsiteX3" fmla="*/ 282731 w 608814"/>
              <a:gd name="connsiteY3" fmla="*/ 561210 h 585693"/>
              <a:gd name="connsiteX4" fmla="*/ 258290 w 608814"/>
              <a:gd name="connsiteY4" fmla="*/ 585693 h 585693"/>
              <a:gd name="connsiteX5" fmla="*/ 195114 w 608814"/>
              <a:gd name="connsiteY5" fmla="*/ 585693 h 585693"/>
              <a:gd name="connsiteX6" fmla="*/ 170673 w 608814"/>
              <a:gd name="connsiteY6" fmla="*/ 561210 h 585693"/>
              <a:gd name="connsiteX7" fmla="*/ 170673 w 608814"/>
              <a:gd name="connsiteY7" fmla="*/ 376018 h 585693"/>
              <a:gd name="connsiteX8" fmla="*/ 195114 w 608814"/>
              <a:gd name="connsiteY8" fmla="*/ 351627 h 585693"/>
              <a:gd name="connsiteX9" fmla="*/ 358100 w 608814"/>
              <a:gd name="connsiteY9" fmla="*/ 249872 h 585693"/>
              <a:gd name="connsiteX10" fmla="*/ 421316 w 608814"/>
              <a:gd name="connsiteY10" fmla="*/ 249872 h 585693"/>
              <a:gd name="connsiteX11" fmla="*/ 445737 w 608814"/>
              <a:gd name="connsiteY11" fmla="*/ 274267 h 585693"/>
              <a:gd name="connsiteX12" fmla="*/ 445737 w 608814"/>
              <a:gd name="connsiteY12" fmla="*/ 561206 h 585693"/>
              <a:gd name="connsiteX13" fmla="*/ 421316 w 608814"/>
              <a:gd name="connsiteY13" fmla="*/ 585693 h 585693"/>
              <a:gd name="connsiteX14" fmla="*/ 358100 w 608814"/>
              <a:gd name="connsiteY14" fmla="*/ 585693 h 585693"/>
              <a:gd name="connsiteX15" fmla="*/ 333679 w 608814"/>
              <a:gd name="connsiteY15" fmla="*/ 561206 h 585693"/>
              <a:gd name="connsiteX16" fmla="*/ 333679 w 608814"/>
              <a:gd name="connsiteY16" fmla="*/ 274267 h 585693"/>
              <a:gd name="connsiteX17" fmla="*/ 358100 w 608814"/>
              <a:gd name="connsiteY17" fmla="*/ 249872 h 585693"/>
              <a:gd name="connsiteX18" fmla="*/ 140260 w 608814"/>
              <a:gd name="connsiteY18" fmla="*/ 224680 h 585693"/>
              <a:gd name="connsiteX19" fmla="*/ 191844 w 608814"/>
              <a:gd name="connsiteY19" fmla="*/ 276122 h 585693"/>
              <a:gd name="connsiteX20" fmla="*/ 140260 w 608814"/>
              <a:gd name="connsiteY20" fmla="*/ 327564 h 585693"/>
              <a:gd name="connsiteX21" fmla="*/ 88676 w 608814"/>
              <a:gd name="connsiteY21" fmla="*/ 276122 h 585693"/>
              <a:gd name="connsiteX22" fmla="*/ 140260 w 608814"/>
              <a:gd name="connsiteY22" fmla="*/ 224680 h 585693"/>
              <a:gd name="connsiteX23" fmla="*/ 521177 w 608814"/>
              <a:gd name="connsiteY23" fmla="*/ 148117 h 585693"/>
              <a:gd name="connsiteX24" fmla="*/ 584301 w 608814"/>
              <a:gd name="connsiteY24" fmla="*/ 148117 h 585693"/>
              <a:gd name="connsiteX25" fmla="*/ 608814 w 608814"/>
              <a:gd name="connsiteY25" fmla="*/ 172601 h 585693"/>
              <a:gd name="connsiteX26" fmla="*/ 608814 w 608814"/>
              <a:gd name="connsiteY26" fmla="*/ 561209 h 585693"/>
              <a:gd name="connsiteX27" fmla="*/ 584301 w 608814"/>
              <a:gd name="connsiteY27" fmla="*/ 585693 h 585693"/>
              <a:gd name="connsiteX28" fmla="*/ 521177 w 608814"/>
              <a:gd name="connsiteY28" fmla="*/ 585693 h 585693"/>
              <a:gd name="connsiteX29" fmla="*/ 496756 w 608814"/>
              <a:gd name="connsiteY29" fmla="*/ 561209 h 585693"/>
              <a:gd name="connsiteX30" fmla="*/ 496756 w 608814"/>
              <a:gd name="connsiteY30" fmla="*/ 172601 h 585693"/>
              <a:gd name="connsiteX31" fmla="*/ 521177 w 608814"/>
              <a:gd name="connsiteY31" fmla="*/ 148117 h 585693"/>
              <a:gd name="connsiteX32" fmla="*/ 116229 w 608814"/>
              <a:gd name="connsiteY32" fmla="*/ 131322 h 585693"/>
              <a:gd name="connsiteX33" fmla="*/ 164246 w 608814"/>
              <a:gd name="connsiteY33" fmla="*/ 131322 h 585693"/>
              <a:gd name="connsiteX34" fmla="*/ 184061 w 608814"/>
              <a:gd name="connsiteY34" fmla="*/ 151113 h 585693"/>
              <a:gd name="connsiteX35" fmla="*/ 184061 w 608814"/>
              <a:gd name="connsiteY35" fmla="*/ 171457 h 585693"/>
              <a:gd name="connsiteX36" fmla="*/ 208669 w 608814"/>
              <a:gd name="connsiteY36" fmla="*/ 186094 h 585693"/>
              <a:gd name="connsiteX37" fmla="*/ 226641 w 608814"/>
              <a:gd name="connsiteY37" fmla="*/ 175692 h 585693"/>
              <a:gd name="connsiteX38" fmla="*/ 253737 w 608814"/>
              <a:gd name="connsiteY38" fmla="*/ 182964 h 585693"/>
              <a:gd name="connsiteX39" fmla="*/ 277792 w 608814"/>
              <a:gd name="connsiteY39" fmla="*/ 224572 h 585693"/>
              <a:gd name="connsiteX40" fmla="*/ 279727 w 608814"/>
              <a:gd name="connsiteY40" fmla="*/ 239577 h 585693"/>
              <a:gd name="connsiteX41" fmla="*/ 270511 w 608814"/>
              <a:gd name="connsiteY41" fmla="*/ 251544 h 585693"/>
              <a:gd name="connsiteX42" fmla="*/ 252355 w 608814"/>
              <a:gd name="connsiteY42" fmla="*/ 262038 h 585693"/>
              <a:gd name="connsiteX43" fmla="*/ 253829 w 608814"/>
              <a:gd name="connsiteY43" fmla="*/ 276122 h 585693"/>
              <a:gd name="connsiteX44" fmla="*/ 252355 w 608814"/>
              <a:gd name="connsiteY44" fmla="*/ 290206 h 585693"/>
              <a:gd name="connsiteX45" fmla="*/ 270511 w 608814"/>
              <a:gd name="connsiteY45" fmla="*/ 300700 h 585693"/>
              <a:gd name="connsiteX46" fmla="*/ 278714 w 608814"/>
              <a:gd name="connsiteY46" fmla="*/ 325094 h 585693"/>
              <a:gd name="connsiteX47" fmla="*/ 258253 w 608814"/>
              <a:gd name="connsiteY47" fmla="*/ 321136 h 585693"/>
              <a:gd name="connsiteX48" fmla="*/ 195858 w 608814"/>
              <a:gd name="connsiteY48" fmla="*/ 321136 h 585693"/>
              <a:gd name="connsiteX49" fmla="*/ 212171 w 608814"/>
              <a:gd name="connsiteY49" fmla="*/ 276122 h 585693"/>
              <a:gd name="connsiteX50" fmla="*/ 140191 w 608814"/>
              <a:gd name="connsiteY50" fmla="*/ 204320 h 585693"/>
              <a:gd name="connsiteX51" fmla="*/ 68304 w 608814"/>
              <a:gd name="connsiteY51" fmla="*/ 276122 h 585693"/>
              <a:gd name="connsiteX52" fmla="*/ 140191 w 608814"/>
              <a:gd name="connsiteY52" fmla="*/ 348016 h 585693"/>
              <a:gd name="connsiteX53" fmla="*/ 148486 w 608814"/>
              <a:gd name="connsiteY53" fmla="*/ 347095 h 585693"/>
              <a:gd name="connsiteX54" fmla="*/ 140099 w 608814"/>
              <a:gd name="connsiteY54" fmla="*/ 376000 h 585693"/>
              <a:gd name="connsiteX55" fmla="*/ 140099 w 608814"/>
              <a:gd name="connsiteY55" fmla="*/ 420922 h 585693"/>
              <a:gd name="connsiteX56" fmla="*/ 116229 w 608814"/>
              <a:gd name="connsiteY56" fmla="*/ 420922 h 585693"/>
              <a:gd name="connsiteX57" fmla="*/ 96413 w 608814"/>
              <a:gd name="connsiteY57" fmla="*/ 401131 h 585693"/>
              <a:gd name="connsiteX58" fmla="*/ 96413 w 608814"/>
              <a:gd name="connsiteY58" fmla="*/ 380787 h 585693"/>
              <a:gd name="connsiteX59" fmla="*/ 71806 w 608814"/>
              <a:gd name="connsiteY59" fmla="*/ 366150 h 585693"/>
              <a:gd name="connsiteX60" fmla="*/ 53742 w 608814"/>
              <a:gd name="connsiteY60" fmla="*/ 376552 h 585693"/>
              <a:gd name="connsiteX61" fmla="*/ 38719 w 608814"/>
              <a:gd name="connsiteY61" fmla="*/ 378577 h 585693"/>
              <a:gd name="connsiteX62" fmla="*/ 26738 w 608814"/>
              <a:gd name="connsiteY62" fmla="*/ 369372 h 585693"/>
              <a:gd name="connsiteX63" fmla="*/ 2683 w 608814"/>
              <a:gd name="connsiteY63" fmla="*/ 327764 h 585693"/>
              <a:gd name="connsiteX64" fmla="*/ 9872 w 608814"/>
              <a:gd name="connsiteY64" fmla="*/ 300700 h 585693"/>
              <a:gd name="connsiteX65" fmla="*/ 28120 w 608814"/>
              <a:gd name="connsiteY65" fmla="*/ 290206 h 585693"/>
              <a:gd name="connsiteX66" fmla="*/ 26645 w 608814"/>
              <a:gd name="connsiteY66" fmla="*/ 276122 h 585693"/>
              <a:gd name="connsiteX67" fmla="*/ 28120 w 608814"/>
              <a:gd name="connsiteY67" fmla="*/ 262038 h 585693"/>
              <a:gd name="connsiteX68" fmla="*/ 9872 w 608814"/>
              <a:gd name="connsiteY68" fmla="*/ 251544 h 585693"/>
              <a:gd name="connsiteX69" fmla="*/ 2683 w 608814"/>
              <a:gd name="connsiteY69" fmla="*/ 224572 h 585693"/>
              <a:gd name="connsiteX70" fmla="*/ 26738 w 608814"/>
              <a:gd name="connsiteY70" fmla="*/ 182964 h 585693"/>
              <a:gd name="connsiteX71" fmla="*/ 38719 w 608814"/>
              <a:gd name="connsiteY71" fmla="*/ 173759 h 585693"/>
              <a:gd name="connsiteX72" fmla="*/ 53742 w 608814"/>
              <a:gd name="connsiteY72" fmla="*/ 175692 h 585693"/>
              <a:gd name="connsiteX73" fmla="*/ 71806 w 608814"/>
              <a:gd name="connsiteY73" fmla="*/ 186094 h 585693"/>
              <a:gd name="connsiteX74" fmla="*/ 96413 w 608814"/>
              <a:gd name="connsiteY74" fmla="*/ 171457 h 585693"/>
              <a:gd name="connsiteX75" fmla="*/ 96413 w 608814"/>
              <a:gd name="connsiteY75" fmla="*/ 151113 h 585693"/>
              <a:gd name="connsiteX76" fmla="*/ 116229 w 608814"/>
              <a:gd name="connsiteY76" fmla="*/ 131322 h 585693"/>
              <a:gd name="connsiteX77" fmla="*/ 445756 w 608814"/>
              <a:gd name="connsiteY77" fmla="*/ 83476 h 585693"/>
              <a:gd name="connsiteX78" fmla="*/ 414140 w 608814"/>
              <a:gd name="connsiteY78" fmla="*/ 115044 h 585693"/>
              <a:gd name="connsiteX79" fmla="*/ 445756 w 608814"/>
              <a:gd name="connsiteY79" fmla="*/ 146520 h 585693"/>
              <a:gd name="connsiteX80" fmla="*/ 477371 w 608814"/>
              <a:gd name="connsiteY80" fmla="*/ 115044 h 585693"/>
              <a:gd name="connsiteX81" fmla="*/ 445756 w 608814"/>
              <a:gd name="connsiteY81" fmla="*/ 83476 h 585693"/>
              <a:gd name="connsiteX82" fmla="*/ 426676 w 608814"/>
              <a:gd name="connsiteY82" fmla="*/ 0 h 585693"/>
              <a:gd name="connsiteX83" fmla="*/ 464835 w 608814"/>
              <a:gd name="connsiteY83" fmla="*/ 0 h 585693"/>
              <a:gd name="connsiteX84" fmla="*/ 480597 w 608814"/>
              <a:gd name="connsiteY84" fmla="*/ 15738 h 585693"/>
              <a:gd name="connsiteX85" fmla="*/ 480597 w 608814"/>
              <a:gd name="connsiteY85" fmla="*/ 31936 h 585693"/>
              <a:gd name="connsiteX86" fmla="*/ 500138 w 608814"/>
              <a:gd name="connsiteY86" fmla="*/ 43533 h 585693"/>
              <a:gd name="connsiteX87" fmla="*/ 514425 w 608814"/>
              <a:gd name="connsiteY87" fmla="*/ 35249 h 585693"/>
              <a:gd name="connsiteX88" fmla="*/ 535901 w 608814"/>
              <a:gd name="connsiteY88" fmla="*/ 40956 h 585693"/>
              <a:gd name="connsiteX89" fmla="*/ 554981 w 608814"/>
              <a:gd name="connsiteY89" fmla="*/ 73996 h 585693"/>
              <a:gd name="connsiteX90" fmla="*/ 556640 w 608814"/>
              <a:gd name="connsiteY90" fmla="*/ 85961 h 585693"/>
              <a:gd name="connsiteX91" fmla="*/ 549266 w 608814"/>
              <a:gd name="connsiteY91" fmla="*/ 95440 h 585693"/>
              <a:gd name="connsiteX92" fmla="*/ 534887 w 608814"/>
              <a:gd name="connsiteY92" fmla="*/ 103815 h 585693"/>
              <a:gd name="connsiteX93" fmla="*/ 535993 w 608814"/>
              <a:gd name="connsiteY93" fmla="*/ 115044 h 585693"/>
              <a:gd name="connsiteX94" fmla="*/ 535717 w 608814"/>
              <a:gd name="connsiteY94" fmla="*/ 117621 h 585693"/>
              <a:gd name="connsiteX95" fmla="*/ 521153 w 608814"/>
              <a:gd name="connsiteY95" fmla="*/ 117621 h 585693"/>
              <a:gd name="connsiteX96" fmla="*/ 466126 w 608814"/>
              <a:gd name="connsiteY96" fmla="*/ 172565 h 585693"/>
              <a:gd name="connsiteX97" fmla="*/ 466126 w 608814"/>
              <a:gd name="connsiteY97" fmla="*/ 229719 h 585693"/>
              <a:gd name="connsiteX98" fmla="*/ 466126 w 608814"/>
              <a:gd name="connsiteY98" fmla="*/ 242604 h 585693"/>
              <a:gd name="connsiteX99" fmla="*/ 453590 w 608814"/>
              <a:gd name="connsiteY99" fmla="*/ 229995 h 585693"/>
              <a:gd name="connsiteX100" fmla="*/ 421330 w 608814"/>
              <a:gd name="connsiteY100" fmla="*/ 219319 h 585693"/>
              <a:gd name="connsiteX101" fmla="*/ 411928 w 608814"/>
              <a:gd name="connsiteY101" fmla="*/ 219319 h 585693"/>
              <a:gd name="connsiteX102" fmla="*/ 410914 w 608814"/>
              <a:gd name="connsiteY102" fmla="*/ 214257 h 585693"/>
              <a:gd name="connsiteX103" fmla="*/ 410914 w 608814"/>
              <a:gd name="connsiteY103" fmla="*/ 198059 h 585693"/>
              <a:gd name="connsiteX104" fmla="*/ 391373 w 608814"/>
              <a:gd name="connsiteY104" fmla="*/ 186463 h 585693"/>
              <a:gd name="connsiteX105" fmla="*/ 377086 w 608814"/>
              <a:gd name="connsiteY105" fmla="*/ 194746 h 585693"/>
              <a:gd name="connsiteX106" fmla="*/ 365104 w 608814"/>
              <a:gd name="connsiteY106" fmla="*/ 196310 h 585693"/>
              <a:gd name="connsiteX107" fmla="*/ 355610 w 608814"/>
              <a:gd name="connsiteY107" fmla="*/ 189040 h 585693"/>
              <a:gd name="connsiteX108" fmla="*/ 336530 w 608814"/>
              <a:gd name="connsiteY108" fmla="*/ 155999 h 585693"/>
              <a:gd name="connsiteX109" fmla="*/ 342245 w 608814"/>
              <a:gd name="connsiteY109" fmla="*/ 134463 h 585693"/>
              <a:gd name="connsiteX110" fmla="*/ 356716 w 608814"/>
              <a:gd name="connsiteY110" fmla="*/ 126180 h 585693"/>
              <a:gd name="connsiteX111" fmla="*/ 355518 w 608814"/>
              <a:gd name="connsiteY111" fmla="*/ 115044 h 585693"/>
              <a:gd name="connsiteX112" fmla="*/ 356716 w 608814"/>
              <a:gd name="connsiteY112" fmla="*/ 103815 h 585693"/>
              <a:gd name="connsiteX113" fmla="*/ 342245 w 608814"/>
              <a:gd name="connsiteY113" fmla="*/ 95440 h 585693"/>
              <a:gd name="connsiteX114" fmla="*/ 336530 w 608814"/>
              <a:gd name="connsiteY114" fmla="*/ 73996 h 585693"/>
              <a:gd name="connsiteX115" fmla="*/ 355610 w 608814"/>
              <a:gd name="connsiteY115" fmla="*/ 40956 h 585693"/>
              <a:gd name="connsiteX116" fmla="*/ 365104 w 608814"/>
              <a:gd name="connsiteY116" fmla="*/ 33685 h 585693"/>
              <a:gd name="connsiteX117" fmla="*/ 377086 w 608814"/>
              <a:gd name="connsiteY117" fmla="*/ 35249 h 585693"/>
              <a:gd name="connsiteX118" fmla="*/ 391373 w 608814"/>
              <a:gd name="connsiteY118" fmla="*/ 43533 h 585693"/>
              <a:gd name="connsiteX119" fmla="*/ 410914 w 608814"/>
              <a:gd name="connsiteY119" fmla="*/ 31936 h 585693"/>
              <a:gd name="connsiteX120" fmla="*/ 410914 w 608814"/>
              <a:gd name="connsiteY120" fmla="*/ 15738 h 585693"/>
              <a:gd name="connsiteX121" fmla="*/ 426676 w 608814"/>
              <a:gd name="connsiteY121" fmla="*/ 0 h 58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08814" h="585693">
                <a:moveTo>
                  <a:pt x="195114" y="351627"/>
                </a:moveTo>
                <a:lnTo>
                  <a:pt x="258290" y="351627"/>
                </a:lnTo>
                <a:cubicBezTo>
                  <a:pt x="271848" y="351627"/>
                  <a:pt x="282731" y="362580"/>
                  <a:pt x="282731" y="376018"/>
                </a:cubicBezTo>
                <a:lnTo>
                  <a:pt x="282731" y="561210"/>
                </a:lnTo>
                <a:cubicBezTo>
                  <a:pt x="282731" y="574740"/>
                  <a:pt x="271848" y="585693"/>
                  <a:pt x="258290" y="585693"/>
                </a:cubicBezTo>
                <a:lnTo>
                  <a:pt x="195114" y="585693"/>
                </a:lnTo>
                <a:cubicBezTo>
                  <a:pt x="181556" y="585693"/>
                  <a:pt x="170673" y="574740"/>
                  <a:pt x="170673" y="561210"/>
                </a:cubicBezTo>
                <a:lnTo>
                  <a:pt x="170673" y="376018"/>
                </a:lnTo>
                <a:cubicBezTo>
                  <a:pt x="170673" y="362580"/>
                  <a:pt x="181556" y="351627"/>
                  <a:pt x="195114" y="351627"/>
                </a:cubicBezTo>
                <a:close/>
                <a:moveTo>
                  <a:pt x="358100" y="249872"/>
                </a:moveTo>
                <a:lnTo>
                  <a:pt x="421316" y="249872"/>
                </a:lnTo>
                <a:cubicBezTo>
                  <a:pt x="434771" y="249872"/>
                  <a:pt x="445737" y="260735"/>
                  <a:pt x="445737" y="274267"/>
                </a:cubicBezTo>
                <a:lnTo>
                  <a:pt x="445737" y="561206"/>
                </a:lnTo>
                <a:cubicBezTo>
                  <a:pt x="445737" y="574738"/>
                  <a:pt x="434771" y="585693"/>
                  <a:pt x="421316" y="585693"/>
                </a:cubicBezTo>
                <a:lnTo>
                  <a:pt x="358100" y="585693"/>
                </a:lnTo>
                <a:cubicBezTo>
                  <a:pt x="344645" y="585693"/>
                  <a:pt x="333679" y="574738"/>
                  <a:pt x="333679" y="561206"/>
                </a:cubicBezTo>
                <a:lnTo>
                  <a:pt x="333679" y="274267"/>
                </a:lnTo>
                <a:cubicBezTo>
                  <a:pt x="333679" y="260735"/>
                  <a:pt x="344645" y="249872"/>
                  <a:pt x="358100" y="249872"/>
                </a:cubicBezTo>
                <a:close/>
                <a:moveTo>
                  <a:pt x="140260" y="224680"/>
                </a:moveTo>
                <a:cubicBezTo>
                  <a:pt x="168749" y="224680"/>
                  <a:pt x="191844" y="247711"/>
                  <a:pt x="191844" y="276122"/>
                </a:cubicBezTo>
                <a:cubicBezTo>
                  <a:pt x="191844" y="304533"/>
                  <a:pt x="168749" y="327564"/>
                  <a:pt x="140260" y="327564"/>
                </a:cubicBezTo>
                <a:cubicBezTo>
                  <a:pt x="111771" y="327564"/>
                  <a:pt x="88676" y="304533"/>
                  <a:pt x="88676" y="276122"/>
                </a:cubicBezTo>
                <a:cubicBezTo>
                  <a:pt x="88676" y="247711"/>
                  <a:pt x="111771" y="224680"/>
                  <a:pt x="140260" y="224680"/>
                </a:cubicBezTo>
                <a:close/>
                <a:moveTo>
                  <a:pt x="521177" y="148117"/>
                </a:moveTo>
                <a:lnTo>
                  <a:pt x="584301" y="148117"/>
                </a:lnTo>
                <a:cubicBezTo>
                  <a:pt x="597848" y="148117"/>
                  <a:pt x="608814" y="159070"/>
                  <a:pt x="608814" y="172601"/>
                </a:cubicBezTo>
                <a:lnTo>
                  <a:pt x="608814" y="561209"/>
                </a:lnTo>
                <a:cubicBezTo>
                  <a:pt x="608814" y="574740"/>
                  <a:pt x="597848" y="585693"/>
                  <a:pt x="584301" y="585693"/>
                </a:cubicBezTo>
                <a:lnTo>
                  <a:pt x="521177" y="585693"/>
                </a:lnTo>
                <a:cubicBezTo>
                  <a:pt x="507722" y="585693"/>
                  <a:pt x="496756" y="574740"/>
                  <a:pt x="496756" y="561209"/>
                </a:cubicBezTo>
                <a:lnTo>
                  <a:pt x="496756" y="172601"/>
                </a:lnTo>
                <a:cubicBezTo>
                  <a:pt x="496756" y="159070"/>
                  <a:pt x="507722" y="148117"/>
                  <a:pt x="521177" y="148117"/>
                </a:cubicBezTo>
                <a:close/>
                <a:moveTo>
                  <a:pt x="116229" y="131322"/>
                </a:moveTo>
                <a:lnTo>
                  <a:pt x="164246" y="131322"/>
                </a:lnTo>
                <a:cubicBezTo>
                  <a:pt x="175214" y="131322"/>
                  <a:pt x="184061" y="140159"/>
                  <a:pt x="184061" y="151113"/>
                </a:cubicBezTo>
                <a:lnTo>
                  <a:pt x="184061" y="171457"/>
                </a:lnTo>
                <a:cubicBezTo>
                  <a:pt x="193001" y="175231"/>
                  <a:pt x="201019" y="180386"/>
                  <a:pt x="208669" y="186094"/>
                </a:cubicBezTo>
                <a:lnTo>
                  <a:pt x="226641" y="175692"/>
                </a:lnTo>
                <a:cubicBezTo>
                  <a:pt x="236134" y="170261"/>
                  <a:pt x="248300" y="173482"/>
                  <a:pt x="253737" y="182964"/>
                </a:cubicBezTo>
                <a:lnTo>
                  <a:pt x="277792" y="224572"/>
                </a:lnTo>
                <a:cubicBezTo>
                  <a:pt x="280465" y="229083"/>
                  <a:pt x="281110" y="234514"/>
                  <a:pt x="279727" y="239577"/>
                </a:cubicBezTo>
                <a:cubicBezTo>
                  <a:pt x="278437" y="244640"/>
                  <a:pt x="275119" y="248966"/>
                  <a:pt x="270511" y="251544"/>
                </a:cubicBezTo>
                <a:lnTo>
                  <a:pt x="252355" y="262038"/>
                </a:lnTo>
                <a:cubicBezTo>
                  <a:pt x="253000" y="266733"/>
                  <a:pt x="253829" y="271335"/>
                  <a:pt x="253829" y="276122"/>
                </a:cubicBezTo>
                <a:cubicBezTo>
                  <a:pt x="253829" y="281001"/>
                  <a:pt x="253000" y="285604"/>
                  <a:pt x="252355" y="290206"/>
                </a:cubicBezTo>
                <a:lnTo>
                  <a:pt x="270511" y="300700"/>
                </a:lnTo>
                <a:cubicBezTo>
                  <a:pt x="279174" y="305671"/>
                  <a:pt x="282308" y="316165"/>
                  <a:pt x="278714" y="325094"/>
                </a:cubicBezTo>
                <a:cubicBezTo>
                  <a:pt x="272354" y="322609"/>
                  <a:pt x="265442" y="321136"/>
                  <a:pt x="258253" y="321136"/>
                </a:cubicBezTo>
                <a:lnTo>
                  <a:pt x="195858" y="321136"/>
                </a:lnTo>
                <a:cubicBezTo>
                  <a:pt x="205904" y="308709"/>
                  <a:pt x="212171" y="293244"/>
                  <a:pt x="212171" y="276122"/>
                </a:cubicBezTo>
                <a:cubicBezTo>
                  <a:pt x="212171" y="236539"/>
                  <a:pt x="179914" y="204320"/>
                  <a:pt x="140191" y="204320"/>
                </a:cubicBezTo>
                <a:cubicBezTo>
                  <a:pt x="100561" y="204320"/>
                  <a:pt x="68304" y="236539"/>
                  <a:pt x="68304" y="276122"/>
                </a:cubicBezTo>
                <a:cubicBezTo>
                  <a:pt x="68304" y="315797"/>
                  <a:pt x="100561" y="348016"/>
                  <a:pt x="140191" y="348016"/>
                </a:cubicBezTo>
                <a:cubicBezTo>
                  <a:pt x="143048" y="348016"/>
                  <a:pt x="145721" y="347463"/>
                  <a:pt x="148486" y="347095"/>
                </a:cubicBezTo>
                <a:cubicBezTo>
                  <a:pt x="143233" y="355564"/>
                  <a:pt x="140099" y="365414"/>
                  <a:pt x="140099" y="376000"/>
                </a:cubicBezTo>
                <a:lnTo>
                  <a:pt x="140099" y="420922"/>
                </a:lnTo>
                <a:lnTo>
                  <a:pt x="116229" y="420922"/>
                </a:lnTo>
                <a:cubicBezTo>
                  <a:pt x="105261" y="420922"/>
                  <a:pt x="96413" y="412085"/>
                  <a:pt x="96413" y="401131"/>
                </a:cubicBezTo>
                <a:lnTo>
                  <a:pt x="96413" y="380787"/>
                </a:lnTo>
                <a:cubicBezTo>
                  <a:pt x="87474" y="377013"/>
                  <a:pt x="79455" y="371950"/>
                  <a:pt x="71806" y="366150"/>
                </a:cubicBezTo>
                <a:lnTo>
                  <a:pt x="53742" y="376552"/>
                </a:lnTo>
                <a:cubicBezTo>
                  <a:pt x="49226" y="379222"/>
                  <a:pt x="43788" y="379866"/>
                  <a:pt x="38719" y="378577"/>
                </a:cubicBezTo>
                <a:cubicBezTo>
                  <a:pt x="33650" y="377197"/>
                  <a:pt x="29318" y="373883"/>
                  <a:pt x="26738" y="369372"/>
                </a:cubicBezTo>
                <a:lnTo>
                  <a:pt x="2683" y="327764"/>
                </a:lnTo>
                <a:cubicBezTo>
                  <a:pt x="-2847" y="318282"/>
                  <a:pt x="471" y="306131"/>
                  <a:pt x="9872" y="300700"/>
                </a:cubicBezTo>
                <a:lnTo>
                  <a:pt x="28120" y="290206"/>
                </a:lnTo>
                <a:cubicBezTo>
                  <a:pt x="27475" y="285604"/>
                  <a:pt x="26645" y="281001"/>
                  <a:pt x="26645" y="276122"/>
                </a:cubicBezTo>
                <a:cubicBezTo>
                  <a:pt x="26645" y="271335"/>
                  <a:pt x="27475" y="266733"/>
                  <a:pt x="28120" y="262038"/>
                </a:cubicBezTo>
                <a:lnTo>
                  <a:pt x="9872" y="251544"/>
                </a:lnTo>
                <a:cubicBezTo>
                  <a:pt x="471" y="246113"/>
                  <a:pt x="-2847" y="233962"/>
                  <a:pt x="2683" y="224572"/>
                </a:cubicBezTo>
                <a:lnTo>
                  <a:pt x="26738" y="182964"/>
                </a:lnTo>
                <a:cubicBezTo>
                  <a:pt x="29318" y="178361"/>
                  <a:pt x="33650" y="175139"/>
                  <a:pt x="38719" y="173759"/>
                </a:cubicBezTo>
                <a:cubicBezTo>
                  <a:pt x="43788" y="172378"/>
                  <a:pt x="49226" y="173114"/>
                  <a:pt x="53742" y="175692"/>
                </a:cubicBezTo>
                <a:lnTo>
                  <a:pt x="71806" y="186094"/>
                </a:lnTo>
                <a:cubicBezTo>
                  <a:pt x="79455" y="180386"/>
                  <a:pt x="87474" y="175231"/>
                  <a:pt x="96413" y="171457"/>
                </a:cubicBezTo>
                <a:lnTo>
                  <a:pt x="96413" y="151113"/>
                </a:lnTo>
                <a:cubicBezTo>
                  <a:pt x="96413" y="140159"/>
                  <a:pt x="105261" y="131322"/>
                  <a:pt x="116229" y="131322"/>
                </a:cubicBezTo>
                <a:close/>
                <a:moveTo>
                  <a:pt x="445756" y="83476"/>
                </a:moveTo>
                <a:cubicBezTo>
                  <a:pt x="428335" y="83476"/>
                  <a:pt x="414140" y="97557"/>
                  <a:pt x="414140" y="115044"/>
                </a:cubicBezTo>
                <a:cubicBezTo>
                  <a:pt x="414140" y="132438"/>
                  <a:pt x="428335" y="146520"/>
                  <a:pt x="445756" y="146520"/>
                </a:cubicBezTo>
                <a:cubicBezTo>
                  <a:pt x="463176" y="146520"/>
                  <a:pt x="477371" y="132438"/>
                  <a:pt x="477371" y="115044"/>
                </a:cubicBezTo>
                <a:cubicBezTo>
                  <a:pt x="477371" y="97557"/>
                  <a:pt x="463176" y="83476"/>
                  <a:pt x="445756" y="83476"/>
                </a:cubicBezTo>
                <a:close/>
                <a:moveTo>
                  <a:pt x="426676" y="0"/>
                </a:moveTo>
                <a:lnTo>
                  <a:pt x="464835" y="0"/>
                </a:lnTo>
                <a:cubicBezTo>
                  <a:pt x="473500" y="0"/>
                  <a:pt x="480597" y="7087"/>
                  <a:pt x="480597" y="15738"/>
                </a:cubicBezTo>
                <a:lnTo>
                  <a:pt x="480597" y="31936"/>
                </a:lnTo>
                <a:cubicBezTo>
                  <a:pt x="487694" y="34881"/>
                  <a:pt x="494054" y="38931"/>
                  <a:pt x="500138" y="43533"/>
                </a:cubicBezTo>
                <a:lnTo>
                  <a:pt x="514425" y="35249"/>
                </a:lnTo>
                <a:cubicBezTo>
                  <a:pt x="521983" y="30924"/>
                  <a:pt x="531569" y="33501"/>
                  <a:pt x="535901" y="40956"/>
                </a:cubicBezTo>
                <a:lnTo>
                  <a:pt x="554981" y="73996"/>
                </a:lnTo>
                <a:cubicBezTo>
                  <a:pt x="557101" y="77585"/>
                  <a:pt x="557654" y="81911"/>
                  <a:pt x="556640" y="85961"/>
                </a:cubicBezTo>
                <a:cubicBezTo>
                  <a:pt x="555534" y="89918"/>
                  <a:pt x="552861" y="93415"/>
                  <a:pt x="549266" y="95440"/>
                </a:cubicBezTo>
                <a:lnTo>
                  <a:pt x="534887" y="103815"/>
                </a:lnTo>
                <a:cubicBezTo>
                  <a:pt x="535348" y="107497"/>
                  <a:pt x="535993" y="111178"/>
                  <a:pt x="535993" y="115044"/>
                </a:cubicBezTo>
                <a:cubicBezTo>
                  <a:pt x="535993" y="115872"/>
                  <a:pt x="535809" y="116700"/>
                  <a:pt x="535717" y="117621"/>
                </a:cubicBezTo>
                <a:lnTo>
                  <a:pt x="521153" y="117621"/>
                </a:lnTo>
                <a:cubicBezTo>
                  <a:pt x="490828" y="117621"/>
                  <a:pt x="466126" y="142286"/>
                  <a:pt x="466126" y="172565"/>
                </a:cubicBezTo>
                <a:lnTo>
                  <a:pt x="466126" y="229719"/>
                </a:lnTo>
                <a:lnTo>
                  <a:pt x="466126" y="242604"/>
                </a:lnTo>
                <a:cubicBezTo>
                  <a:pt x="462715" y="237726"/>
                  <a:pt x="458383" y="233493"/>
                  <a:pt x="453590" y="229995"/>
                </a:cubicBezTo>
                <a:cubicBezTo>
                  <a:pt x="444465" y="223369"/>
                  <a:pt x="433404" y="219319"/>
                  <a:pt x="421330" y="219319"/>
                </a:cubicBezTo>
                <a:lnTo>
                  <a:pt x="411928" y="219319"/>
                </a:lnTo>
                <a:cubicBezTo>
                  <a:pt x="411375" y="217755"/>
                  <a:pt x="410914" y="216098"/>
                  <a:pt x="410914" y="214257"/>
                </a:cubicBezTo>
                <a:lnTo>
                  <a:pt x="410914" y="198059"/>
                </a:lnTo>
                <a:cubicBezTo>
                  <a:pt x="403817" y="195114"/>
                  <a:pt x="397457" y="191064"/>
                  <a:pt x="391373" y="186463"/>
                </a:cubicBezTo>
                <a:lnTo>
                  <a:pt x="377086" y="194746"/>
                </a:lnTo>
                <a:cubicBezTo>
                  <a:pt x="373492" y="196863"/>
                  <a:pt x="369160" y="197415"/>
                  <a:pt x="365104" y="196310"/>
                </a:cubicBezTo>
                <a:cubicBezTo>
                  <a:pt x="361140" y="195206"/>
                  <a:pt x="357638" y="192629"/>
                  <a:pt x="355610" y="189040"/>
                </a:cubicBezTo>
                <a:lnTo>
                  <a:pt x="336530" y="155999"/>
                </a:lnTo>
                <a:cubicBezTo>
                  <a:pt x="332198" y="148452"/>
                  <a:pt x="334687" y="138881"/>
                  <a:pt x="342245" y="134463"/>
                </a:cubicBezTo>
                <a:lnTo>
                  <a:pt x="356716" y="126180"/>
                </a:lnTo>
                <a:cubicBezTo>
                  <a:pt x="356163" y="122498"/>
                  <a:pt x="355518" y="118817"/>
                  <a:pt x="355518" y="115044"/>
                </a:cubicBezTo>
                <a:cubicBezTo>
                  <a:pt x="355518" y="111178"/>
                  <a:pt x="356163" y="107497"/>
                  <a:pt x="356716" y="103815"/>
                </a:cubicBezTo>
                <a:lnTo>
                  <a:pt x="342245" y="95440"/>
                </a:lnTo>
                <a:cubicBezTo>
                  <a:pt x="334687" y="91115"/>
                  <a:pt x="332198" y="81543"/>
                  <a:pt x="336530" y="73996"/>
                </a:cubicBezTo>
                <a:lnTo>
                  <a:pt x="355610" y="40956"/>
                </a:lnTo>
                <a:cubicBezTo>
                  <a:pt x="357638" y="37366"/>
                  <a:pt x="361140" y="34789"/>
                  <a:pt x="365104" y="33685"/>
                </a:cubicBezTo>
                <a:cubicBezTo>
                  <a:pt x="369160" y="32580"/>
                  <a:pt x="373492" y="33133"/>
                  <a:pt x="377086" y="35249"/>
                </a:cubicBezTo>
                <a:lnTo>
                  <a:pt x="391373" y="43533"/>
                </a:lnTo>
                <a:cubicBezTo>
                  <a:pt x="397457" y="38931"/>
                  <a:pt x="403817" y="34881"/>
                  <a:pt x="410914" y="31936"/>
                </a:cubicBezTo>
                <a:lnTo>
                  <a:pt x="410914" y="15738"/>
                </a:lnTo>
                <a:cubicBezTo>
                  <a:pt x="410914" y="7087"/>
                  <a:pt x="418011" y="0"/>
                  <a:pt x="426676" y="0"/>
                </a:cubicBez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sp>
        <p:nvSpPr>
          <p:cNvPr id="292" name="statistics-settings_72708"/>
          <p:cNvSpPr>
            <a:spLocks noChangeAspect="1"/>
          </p:cNvSpPr>
          <p:nvPr/>
        </p:nvSpPr>
        <p:spPr>
          <a:xfrm>
            <a:off x="10211355" y="2342314"/>
            <a:ext cx="411633" cy="396000"/>
          </a:xfrm>
          <a:custGeom>
            <a:avLst/>
            <a:gdLst>
              <a:gd name="connsiteX0" fmla="*/ 195114 w 608814"/>
              <a:gd name="connsiteY0" fmla="*/ 351627 h 585693"/>
              <a:gd name="connsiteX1" fmla="*/ 258290 w 608814"/>
              <a:gd name="connsiteY1" fmla="*/ 351627 h 585693"/>
              <a:gd name="connsiteX2" fmla="*/ 282731 w 608814"/>
              <a:gd name="connsiteY2" fmla="*/ 376018 h 585693"/>
              <a:gd name="connsiteX3" fmla="*/ 282731 w 608814"/>
              <a:gd name="connsiteY3" fmla="*/ 561210 h 585693"/>
              <a:gd name="connsiteX4" fmla="*/ 258290 w 608814"/>
              <a:gd name="connsiteY4" fmla="*/ 585693 h 585693"/>
              <a:gd name="connsiteX5" fmla="*/ 195114 w 608814"/>
              <a:gd name="connsiteY5" fmla="*/ 585693 h 585693"/>
              <a:gd name="connsiteX6" fmla="*/ 170673 w 608814"/>
              <a:gd name="connsiteY6" fmla="*/ 561210 h 585693"/>
              <a:gd name="connsiteX7" fmla="*/ 170673 w 608814"/>
              <a:gd name="connsiteY7" fmla="*/ 376018 h 585693"/>
              <a:gd name="connsiteX8" fmla="*/ 195114 w 608814"/>
              <a:gd name="connsiteY8" fmla="*/ 351627 h 585693"/>
              <a:gd name="connsiteX9" fmla="*/ 358100 w 608814"/>
              <a:gd name="connsiteY9" fmla="*/ 249872 h 585693"/>
              <a:gd name="connsiteX10" fmla="*/ 421316 w 608814"/>
              <a:gd name="connsiteY10" fmla="*/ 249872 h 585693"/>
              <a:gd name="connsiteX11" fmla="*/ 445737 w 608814"/>
              <a:gd name="connsiteY11" fmla="*/ 274267 h 585693"/>
              <a:gd name="connsiteX12" fmla="*/ 445737 w 608814"/>
              <a:gd name="connsiteY12" fmla="*/ 561206 h 585693"/>
              <a:gd name="connsiteX13" fmla="*/ 421316 w 608814"/>
              <a:gd name="connsiteY13" fmla="*/ 585693 h 585693"/>
              <a:gd name="connsiteX14" fmla="*/ 358100 w 608814"/>
              <a:gd name="connsiteY14" fmla="*/ 585693 h 585693"/>
              <a:gd name="connsiteX15" fmla="*/ 333679 w 608814"/>
              <a:gd name="connsiteY15" fmla="*/ 561206 h 585693"/>
              <a:gd name="connsiteX16" fmla="*/ 333679 w 608814"/>
              <a:gd name="connsiteY16" fmla="*/ 274267 h 585693"/>
              <a:gd name="connsiteX17" fmla="*/ 358100 w 608814"/>
              <a:gd name="connsiteY17" fmla="*/ 249872 h 585693"/>
              <a:gd name="connsiteX18" fmla="*/ 140260 w 608814"/>
              <a:gd name="connsiteY18" fmla="*/ 224680 h 585693"/>
              <a:gd name="connsiteX19" fmla="*/ 191844 w 608814"/>
              <a:gd name="connsiteY19" fmla="*/ 276122 h 585693"/>
              <a:gd name="connsiteX20" fmla="*/ 140260 w 608814"/>
              <a:gd name="connsiteY20" fmla="*/ 327564 h 585693"/>
              <a:gd name="connsiteX21" fmla="*/ 88676 w 608814"/>
              <a:gd name="connsiteY21" fmla="*/ 276122 h 585693"/>
              <a:gd name="connsiteX22" fmla="*/ 140260 w 608814"/>
              <a:gd name="connsiteY22" fmla="*/ 224680 h 585693"/>
              <a:gd name="connsiteX23" fmla="*/ 521177 w 608814"/>
              <a:gd name="connsiteY23" fmla="*/ 148117 h 585693"/>
              <a:gd name="connsiteX24" fmla="*/ 584301 w 608814"/>
              <a:gd name="connsiteY24" fmla="*/ 148117 h 585693"/>
              <a:gd name="connsiteX25" fmla="*/ 608814 w 608814"/>
              <a:gd name="connsiteY25" fmla="*/ 172601 h 585693"/>
              <a:gd name="connsiteX26" fmla="*/ 608814 w 608814"/>
              <a:gd name="connsiteY26" fmla="*/ 561209 h 585693"/>
              <a:gd name="connsiteX27" fmla="*/ 584301 w 608814"/>
              <a:gd name="connsiteY27" fmla="*/ 585693 h 585693"/>
              <a:gd name="connsiteX28" fmla="*/ 521177 w 608814"/>
              <a:gd name="connsiteY28" fmla="*/ 585693 h 585693"/>
              <a:gd name="connsiteX29" fmla="*/ 496756 w 608814"/>
              <a:gd name="connsiteY29" fmla="*/ 561209 h 585693"/>
              <a:gd name="connsiteX30" fmla="*/ 496756 w 608814"/>
              <a:gd name="connsiteY30" fmla="*/ 172601 h 585693"/>
              <a:gd name="connsiteX31" fmla="*/ 521177 w 608814"/>
              <a:gd name="connsiteY31" fmla="*/ 148117 h 585693"/>
              <a:gd name="connsiteX32" fmla="*/ 116229 w 608814"/>
              <a:gd name="connsiteY32" fmla="*/ 131322 h 585693"/>
              <a:gd name="connsiteX33" fmla="*/ 164246 w 608814"/>
              <a:gd name="connsiteY33" fmla="*/ 131322 h 585693"/>
              <a:gd name="connsiteX34" fmla="*/ 184061 w 608814"/>
              <a:gd name="connsiteY34" fmla="*/ 151113 h 585693"/>
              <a:gd name="connsiteX35" fmla="*/ 184061 w 608814"/>
              <a:gd name="connsiteY35" fmla="*/ 171457 h 585693"/>
              <a:gd name="connsiteX36" fmla="*/ 208669 w 608814"/>
              <a:gd name="connsiteY36" fmla="*/ 186094 h 585693"/>
              <a:gd name="connsiteX37" fmla="*/ 226641 w 608814"/>
              <a:gd name="connsiteY37" fmla="*/ 175692 h 585693"/>
              <a:gd name="connsiteX38" fmla="*/ 253737 w 608814"/>
              <a:gd name="connsiteY38" fmla="*/ 182964 h 585693"/>
              <a:gd name="connsiteX39" fmla="*/ 277792 w 608814"/>
              <a:gd name="connsiteY39" fmla="*/ 224572 h 585693"/>
              <a:gd name="connsiteX40" fmla="*/ 279727 w 608814"/>
              <a:gd name="connsiteY40" fmla="*/ 239577 h 585693"/>
              <a:gd name="connsiteX41" fmla="*/ 270511 w 608814"/>
              <a:gd name="connsiteY41" fmla="*/ 251544 h 585693"/>
              <a:gd name="connsiteX42" fmla="*/ 252355 w 608814"/>
              <a:gd name="connsiteY42" fmla="*/ 262038 h 585693"/>
              <a:gd name="connsiteX43" fmla="*/ 253829 w 608814"/>
              <a:gd name="connsiteY43" fmla="*/ 276122 h 585693"/>
              <a:gd name="connsiteX44" fmla="*/ 252355 w 608814"/>
              <a:gd name="connsiteY44" fmla="*/ 290206 h 585693"/>
              <a:gd name="connsiteX45" fmla="*/ 270511 w 608814"/>
              <a:gd name="connsiteY45" fmla="*/ 300700 h 585693"/>
              <a:gd name="connsiteX46" fmla="*/ 278714 w 608814"/>
              <a:gd name="connsiteY46" fmla="*/ 325094 h 585693"/>
              <a:gd name="connsiteX47" fmla="*/ 258253 w 608814"/>
              <a:gd name="connsiteY47" fmla="*/ 321136 h 585693"/>
              <a:gd name="connsiteX48" fmla="*/ 195858 w 608814"/>
              <a:gd name="connsiteY48" fmla="*/ 321136 h 585693"/>
              <a:gd name="connsiteX49" fmla="*/ 212171 w 608814"/>
              <a:gd name="connsiteY49" fmla="*/ 276122 h 585693"/>
              <a:gd name="connsiteX50" fmla="*/ 140191 w 608814"/>
              <a:gd name="connsiteY50" fmla="*/ 204320 h 585693"/>
              <a:gd name="connsiteX51" fmla="*/ 68304 w 608814"/>
              <a:gd name="connsiteY51" fmla="*/ 276122 h 585693"/>
              <a:gd name="connsiteX52" fmla="*/ 140191 w 608814"/>
              <a:gd name="connsiteY52" fmla="*/ 348016 h 585693"/>
              <a:gd name="connsiteX53" fmla="*/ 148486 w 608814"/>
              <a:gd name="connsiteY53" fmla="*/ 347095 h 585693"/>
              <a:gd name="connsiteX54" fmla="*/ 140099 w 608814"/>
              <a:gd name="connsiteY54" fmla="*/ 376000 h 585693"/>
              <a:gd name="connsiteX55" fmla="*/ 140099 w 608814"/>
              <a:gd name="connsiteY55" fmla="*/ 420922 h 585693"/>
              <a:gd name="connsiteX56" fmla="*/ 116229 w 608814"/>
              <a:gd name="connsiteY56" fmla="*/ 420922 h 585693"/>
              <a:gd name="connsiteX57" fmla="*/ 96413 w 608814"/>
              <a:gd name="connsiteY57" fmla="*/ 401131 h 585693"/>
              <a:gd name="connsiteX58" fmla="*/ 96413 w 608814"/>
              <a:gd name="connsiteY58" fmla="*/ 380787 h 585693"/>
              <a:gd name="connsiteX59" fmla="*/ 71806 w 608814"/>
              <a:gd name="connsiteY59" fmla="*/ 366150 h 585693"/>
              <a:gd name="connsiteX60" fmla="*/ 53742 w 608814"/>
              <a:gd name="connsiteY60" fmla="*/ 376552 h 585693"/>
              <a:gd name="connsiteX61" fmla="*/ 38719 w 608814"/>
              <a:gd name="connsiteY61" fmla="*/ 378577 h 585693"/>
              <a:gd name="connsiteX62" fmla="*/ 26738 w 608814"/>
              <a:gd name="connsiteY62" fmla="*/ 369372 h 585693"/>
              <a:gd name="connsiteX63" fmla="*/ 2683 w 608814"/>
              <a:gd name="connsiteY63" fmla="*/ 327764 h 585693"/>
              <a:gd name="connsiteX64" fmla="*/ 9872 w 608814"/>
              <a:gd name="connsiteY64" fmla="*/ 300700 h 585693"/>
              <a:gd name="connsiteX65" fmla="*/ 28120 w 608814"/>
              <a:gd name="connsiteY65" fmla="*/ 290206 h 585693"/>
              <a:gd name="connsiteX66" fmla="*/ 26645 w 608814"/>
              <a:gd name="connsiteY66" fmla="*/ 276122 h 585693"/>
              <a:gd name="connsiteX67" fmla="*/ 28120 w 608814"/>
              <a:gd name="connsiteY67" fmla="*/ 262038 h 585693"/>
              <a:gd name="connsiteX68" fmla="*/ 9872 w 608814"/>
              <a:gd name="connsiteY68" fmla="*/ 251544 h 585693"/>
              <a:gd name="connsiteX69" fmla="*/ 2683 w 608814"/>
              <a:gd name="connsiteY69" fmla="*/ 224572 h 585693"/>
              <a:gd name="connsiteX70" fmla="*/ 26738 w 608814"/>
              <a:gd name="connsiteY70" fmla="*/ 182964 h 585693"/>
              <a:gd name="connsiteX71" fmla="*/ 38719 w 608814"/>
              <a:gd name="connsiteY71" fmla="*/ 173759 h 585693"/>
              <a:gd name="connsiteX72" fmla="*/ 53742 w 608814"/>
              <a:gd name="connsiteY72" fmla="*/ 175692 h 585693"/>
              <a:gd name="connsiteX73" fmla="*/ 71806 w 608814"/>
              <a:gd name="connsiteY73" fmla="*/ 186094 h 585693"/>
              <a:gd name="connsiteX74" fmla="*/ 96413 w 608814"/>
              <a:gd name="connsiteY74" fmla="*/ 171457 h 585693"/>
              <a:gd name="connsiteX75" fmla="*/ 96413 w 608814"/>
              <a:gd name="connsiteY75" fmla="*/ 151113 h 585693"/>
              <a:gd name="connsiteX76" fmla="*/ 116229 w 608814"/>
              <a:gd name="connsiteY76" fmla="*/ 131322 h 585693"/>
              <a:gd name="connsiteX77" fmla="*/ 445756 w 608814"/>
              <a:gd name="connsiteY77" fmla="*/ 83476 h 585693"/>
              <a:gd name="connsiteX78" fmla="*/ 414140 w 608814"/>
              <a:gd name="connsiteY78" fmla="*/ 115044 h 585693"/>
              <a:gd name="connsiteX79" fmla="*/ 445756 w 608814"/>
              <a:gd name="connsiteY79" fmla="*/ 146520 h 585693"/>
              <a:gd name="connsiteX80" fmla="*/ 477371 w 608814"/>
              <a:gd name="connsiteY80" fmla="*/ 115044 h 585693"/>
              <a:gd name="connsiteX81" fmla="*/ 445756 w 608814"/>
              <a:gd name="connsiteY81" fmla="*/ 83476 h 585693"/>
              <a:gd name="connsiteX82" fmla="*/ 426676 w 608814"/>
              <a:gd name="connsiteY82" fmla="*/ 0 h 585693"/>
              <a:gd name="connsiteX83" fmla="*/ 464835 w 608814"/>
              <a:gd name="connsiteY83" fmla="*/ 0 h 585693"/>
              <a:gd name="connsiteX84" fmla="*/ 480597 w 608814"/>
              <a:gd name="connsiteY84" fmla="*/ 15738 h 585693"/>
              <a:gd name="connsiteX85" fmla="*/ 480597 w 608814"/>
              <a:gd name="connsiteY85" fmla="*/ 31936 h 585693"/>
              <a:gd name="connsiteX86" fmla="*/ 500138 w 608814"/>
              <a:gd name="connsiteY86" fmla="*/ 43533 h 585693"/>
              <a:gd name="connsiteX87" fmla="*/ 514425 w 608814"/>
              <a:gd name="connsiteY87" fmla="*/ 35249 h 585693"/>
              <a:gd name="connsiteX88" fmla="*/ 535901 w 608814"/>
              <a:gd name="connsiteY88" fmla="*/ 40956 h 585693"/>
              <a:gd name="connsiteX89" fmla="*/ 554981 w 608814"/>
              <a:gd name="connsiteY89" fmla="*/ 73996 h 585693"/>
              <a:gd name="connsiteX90" fmla="*/ 556640 w 608814"/>
              <a:gd name="connsiteY90" fmla="*/ 85961 h 585693"/>
              <a:gd name="connsiteX91" fmla="*/ 549266 w 608814"/>
              <a:gd name="connsiteY91" fmla="*/ 95440 h 585693"/>
              <a:gd name="connsiteX92" fmla="*/ 534887 w 608814"/>
              <a:gd name="connsiteY92" fmla="*/ 103815 h 585693"/>
              <a:gd name="connsiteX93" fmla="*/ 535993 w 608814"/>
              <a:gd name="connsiteY93" fmla="*/ 115044 h 585693"/>
              <a:gd name="connsiteX94" fmla="*/ 535717 w 608814"/>
              <a:gd name="connsiteY94" fmla="*/ 117621 h 585693"/>
              <a:gd name="connsiteX95" fmla="*/ 521153 w 608814"/>
              <a:gd name="connsiteY95" fmla="*/ 117621 h 585693"/>
              <a:gd name="connsiteX96" fmla="*/ 466126 w 608814"/>
              <a:gd name="connsiteY96" fmla="*/ 172565 h 585693"/>
              <a:gd name="connsiteX97" fmla="*/ 466126 w 608814"/>
              <a:gd name="connsiteY97" fmla="*/ 229719 h 585693"/>
              <a:gd name="connsiteX98" fmla="*/ 466126 w 608814"/>
              <a:gd name="connsiteY98" fmla="*/ 242604 h 585693"/>
              <a:gd name="connsiteX99" fmla="*/ 453590 w 608814"/>
              <a:gd name="connsiteY99" fmla="*/ 229995 h 585693"/>
              <a:gd name="connsiteX100" fmla="*/ 421330 w 608814"/>
              <a:gd name="connsiteY100" fmla="*/ 219319 h 585693"/>
              <a:gd name="connsiteX101" fmla="*/ 411928 w 608814"/>
              <a:gd name="connsiteY101" fmla="*/ 219319 h 585693"/>
              <a:gd name="connsiteX102" fmla="*/ 410914 w 608814"/>
              <a:gd name="connsiteY102" fmla="*/ 214257 h 585693"/>
              <a:gd name="connsiteX103" fmla="*/ 410914 w 608814"/>
              <a:gd name="connsiteY103" fmla="*/ 198059 h 585693"/>
              <a:gd name="connsiteX104" fmla="*/ 391373 w 608814"/>
              <a:gd name="connsiteY104" fmla="*/ 186463 h 585693"/>
              <a:gd name="connsiteX105" fmla="*/ 377086 w 608814"/>
              <a:gd name="connsiteY105" fmla="*/ 194746 h 585693"/>
              <a:gd name="connsiteX106" fmla="*/ 365104 w 608814"/>
              <a:gd name="connsiteY106" fmla="*/ 196310 h 585693"/>
              <a:gd name="connsiteX107" fmla="*/ 355610 w 608814"/>
              <a:gd name="connsiteY107" fmla="*/ 189040 h 585693"/>
              <a:gd name="connsiteX108" fmla="*/ 336530 w 608814"/>
              <a:gd name="connsiteY108" fmla="*/ 155999 h 585693"/>
              <a:gd name="connsiteX109" fmla="*/ 342245 w 608814"/>
              <a:gd name="connsiteY109" fmla="*/ 134463 h 585693"/>
              <a:gd name="connsiteX110" fmla="*/ 356716 w 608814"/>
              <a:gd name="connsiteY110" fmla="*/ 126180 h 585693"/>
              <a:gd name="connsiteX111" fmla="*/ 355518 w 608814"/>
              <a:gd name="connsiteY111" fmla="*/ 115044 h 585693"/>
              <a:gd name="connsiteX112" fmla="*/ 356716 w 608814"/>
              <a:gd name="connsiteY112" fmla="*/ 103815 h 585693"/>
              <a:gd name="connsiteX113" fmla="*/ 342245 w 608814"/>
              <a:gd name="connsiteY113" fmla="*/ 95440 h 585693"/>
              <a:gd name="connsiteX114" fmla="*/ 336530 w 608814"/>
              <a:gd name="connsiteY114" fmla="*/ 73996 h 585693"/>
              <a:gd name="connsiteX115" fmla="*/ 355610 w 608814"/>
              <a:gd name="connsiteY115" fmla="*/ 40956 h 585693"/>
              <a:gd name="connsiteX116" fmla="*/ 365104 w 608814"/>
              <a:gd name="connsiteY116" fmla="*/ 33685 h 585693"/>
              <a:gd name="connsiteX117" fmla="*/ 377086 w 608814"/>
              <a:gd name="connsiteY117" fmla="*/ 35249 h 585693"/>
              <a:gd name="connsiteX118" fmla="*/ 391373 w 608814"/>
              <a:gd name="connsiteY118" fmla="*/ 43533 h 585693"/>
              <a:gd name="connsiteX119" fmla="*/ 410914 w 608814"/>
              <a:gd name="connsiteY119" fmla="*/ 31936 h 585693"/>
              <a:gd name="connsiteX120" fmla="*/ 410914 w 608814"/>
              <a:gd name="connsiteY120" fmla="*/ 15738 h 585693"/>
              <a:gd name="connsiteX121" fmla="*/ 426676 w 608814"/>
              <a:gd name="connsiteY121" fmla="*/ 0 h 58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08814" h="585693">
                <a:moveTo>
                  <a:pt x="195114" y="351627"/>
                </a:moveTo>
                <a:lnTo>
                  <a:pt x="258290" y="351627"/>
                </a:lnTo>
                <a:cubicBezTo>
                  <a:pt x="271848" y="351627"/>
                  <a:pt x="282731" y="362580"/>
                  <a:pt x="282731" y="376018"/>
                </a:cubicBezTo>
                <a:lnTo>
                  <a:pt x="282731" y="561210"/>
                </a:lnTo>
                <a:cubicBezTo>
                  <a:pt x="282731" y="574740"/>
                  <a:pt x="271848" y="585693"/>
                  <a:pt x="258290" y="585693"/>
                </a:cubicBezTo>
                <a:lnTo>
                  <a:pt x="195114" y="585693"/>
                </a:lnTo>
                <a:cubicBezTo>
                  <a:pt x="181556" y="585693"/>
                  <a:pt x="170673" y="574740"/>
                  <a:pt x="170673" y="561210"/>
                </a:cubicBezTo>
                <a:lnTo>
                  <a:pt x="170673" y="376018"/>
                </a:lnTo>
                <a:cubicBezTo>
                  <a:pt x="170673" y="362580"/>
                  <a:pt x="181556" y="351627"/>
                  <a:pt x="195114" y="351627"/>
                </a:cubicBezTo>
                <a:close/>
                <a:moveTo>
                  <a:pt x="358100" y="249872"/>
                </a:moveTo>
                <a:lnTo>
                  <a:pt x="421316" y="249872"/>
                </a:lnTo>
                <a:cubicBezTo>
                  <a:pt x="434771" y="249872"/>
                  <a:pt x="445737" y="260735"/>
                  <a:pt x="445737" y="274267"/>
                </a:cubicBezTo>
                <a:lnTo>
                  <a:pt x="445737" y="561206"/>
                </a:lnTo>
                <a:cubicBezTo>
                  <a:pt x="445737" y="574738"/>
                  <a:pt x="434771" y="585693"/>
                  <a:pt x="421316" y="585693"/>
                </a:cubicBezTo>
                <a:lnTo>
                  <a:pt x="358100" y="585693"/>
                </a:lnTo>
                <a:cubicBezTo>
                  <a:pt x="344645" y="585693"/>
                  <a:pt x="333679" y="574738"/>
                  <a:pt x="333679" y="561206"/>
                </a:cubicBezTo>
                <a:lnTo>
                  <a:pt x="333679" y="274267"/>
                </a:lnTo>
                <a:cubicBezTo>
                  <a:pt x="333679" y="260735"/>
                  <a:pt x="344645" y="249872"/>
                  <a:pt x="358100" y="249872"/>
                </a:cubicBezTo>
                <a:close/>
                <a:moveTo>
                  <a:pt x="140260" y="224680"/>
                </a:moveTo>
                <a:cubicBezTo>
                  <a:pt x="168749" y="224680"/>
                  <a:pt x="191844" y="247711"/>
                  <a:pt x="191844" y="276122"/>
                </a:cubicBezTo>
                <a:cubicBezTo>
                  <a:pt x="191844" y="304533"/>
                  <a:pt x="168749" y="327564"/>
                  <a:pt x="140260" y="327564"/>
                </a:cubicBezTo>
                <a:cubicBezTo>
                  <a:pt x="111771" y="327564"/>
                  <a:pt x="88676" y="304533"/>
                  <a:pt x="88676" y="276122"/>
                </a:cubicBezTo>
                <a:cubicBezTo>
                  <a:pt x="88676" y="247711"/>
                  <a:pt x="111771" y="224680"/>
                  <a:pt x="140260" y="224680"/>
                </a:cubicBezTo>
                <a:close/>
                <a:moveTo>
                  <a:pt x="521177" y="148117"/>
                </a:moveTo>
                <a:lnTo>
                  <a:pt x="584301" y="148117"/>
                </a:lnTo>
                <a:cubicBezTo>
                  <a:pt x="597848" y="148117"/>
                  <a:pt x="608814" y="159070"/>
                  <a:pt x="608814" y="172601"/>
                </a:cubicBezTo>
                <a:lnTo>
                  <a:pt x="608814" y="561209"/>
                </a:lnTo>
                <a:cubicBezTo>
                  <a:pt x="608814" y="574740"/>
                  <a:pt x="597848" y="585693"/>
                  <a:pt x="584301" y="585693"/>
                </a:cubicBezTo>
                <a:lnTo>
                  <a:pt x="521177" y="585693"/>
                </a:lnTo>
                <a:cubicBezTo>
                  <a:pt x="507722" y="585693"/>
                  <a:pt x="496756" y="574740"/>
                  <a:pt x="496756" y="561209"/>
                </a:cubicBezTo>
                <a:lnTo>
                  <a:pt x="496756" y="172601"/>
                </a:lnTo>
                <a:cubicBezTo>
                  <a:pt x="496756" y="159070"/>
                  <a:pt x="507722" y="148117"/>
                  <a:pt x="521177" y="148117"/>
                </a:cubicBezTo>
                <a:close/>
                <a:moveTo>
                  <a:pt x="116229" y="131322"/>
                </a:moveTo>
                <a:lnTo>
                  <a:pt x="164246" y="131322"/>
                </a:lnTo>
                <a:cubicBezTo>
                  <a:pt x="175214" y="131322"/>
                  <a:pt x="184061" y="140159"/>
                  <a:pt x="184061" y="151113"/>
                </a:cubicBezTo>
                <a:lnTo>
                  <a:pt x="184061" y="171457"/>
                </a:lnTo>
                <a:cubicBezTo>
                  <a:pt x="193001" y="175231"/>
                  <a:pt x="201019" y="180386"/>
                  <a:pt x="208669" y="186094"/>
                </a:cubicBezTo>
                <a:lnTo>
                  <a:pt x="226641" y="175692"/>
                </a:lnTo>
                <a:cubicBezTo>
                  <a:pt x="236134" y="170261"/>
                  <a:pt x="248300" y="173482"/>
                  <a:pt x="253737" y="182964"/>
                </a:cubicBezTo>
                <a:lnTo>
                  <a:pt x="277792" y="224572"/>
                </a:lnTo>
                <a:cubicBezTo>
                  <a:pt x="280465" y="229083"/>
                  <a:pt x="281110" y="234514"/>
                  <a:pt x="279727" y="239577"/>
                </a:cubicBezTo>
                <a:cubicBezTo>
                  <a:pt x="278437" y="244640"/>
                  <a:pt x="275119" y="248966"/>
                  <a:pt x="270511" y="251544"/>
                </a:cubicBezTo>
                <a:lnTo>
                  <a:pt x="252355" y="262038"/>
                </a:lnTo>
                <a:cubicBezTo>
                  <a:pt x="253000" y="266733"/>
                  <a:pt x="253829" y="271335"/>
                  <a:pt x="253829" y="276122"/>
                </a:cubicBezTo>
                <a:cubicBezTo>
                  <a:pt x="253829" y="281001"/>
                  <a:pt x="253000" y="285604"/>
                  <a:pt x="252355" y="290206"/>
                </a:cubicBezTo>
                <a:lnTo>
                  <a:pt x="270511" y="300700"/>
                </a:lnTo>
                <a:cubicBezTo>
                  <a:pt x="279174" y="305671"/>
                  <a:pt x="282308" y="316165"/>
                  <a:pt x="278714" y="325094"/>
                </a:cubicBezTo>
                <a:cubicBezTo>
                  <a:pt x="272354" y="322609"/>
                  <a:pt x="265442" y="321136"/>
                  <a:pt x="258253" y="321136"/>
                </a:cubicBezTo>
                <a:lnTo>
                  <a:pt x="195858" y="321136"/>
                </a:lnTo>
                <a:cubicBezTo>
                  <a:pt x="205904" y="308709"/>
                  <a:pt x="212171" y="293244"/>
                  <a:pt x="212171" y="276122"/>
                </a:cubicBezTo>
                <a:cubicBezTo>
                  <a:pt x="212171" y="236539"/>
                  <a:pt x="179914" y="204320"/>
                  <a:pt x="140191" y="204320"/>
                </a:cubicBezTo>
                <a:cubicBezTo>
                  <a:pt x="100561" y="204320"/>
                  <a:pt x="68304" y="236539"/>
                  <a:pt x="68304" y="276122"/>
                </a:cubicBezTo>
                <a:cubicBezTo>
                  <a:pt x="68304" y="315797"/>
                  <a:pt x="100561" y="348016"/>
                  <a:pt x="140191" y="348016"/>
                </a:cubicBezTo>
                <a:cubicBezTo>
                  <a:pt x="143048" y="348016"/>
                  <a:pt x="145721" y="347463"/>
                  <a:pt x="148486" y="347095"/>
                </a:cubicBezTo>
                <a:cubicBezTo>
                  <a:pt x="143233" y="355564"/>
                  <a:pt x="140099" y="365414"/>
                  <a:pt x="140099" y="376000"/>
                </a:cubicBezTo>
                <a:lnTo>
                  <a:pt x="140099" y="420922"/>
                </a:lnTo>
                <a:lnTo>
                  <a:pt x="116229" y="420922"/>
                </a:lnTo>
                <a:cubicBezTo>
                  <a:pt x="105261" y="420922"/>
                  <a:pt x="96413" y="412085"/>
                  <a:pt x="96413" y="401131"/>
                </a:cubicBezTo>
                <a:lnTo>
                  <a:pt x="96413" y="380787"/>
                </a:lnTo>
                <a:cubicBezTo>
                  <a:pt x="87474" y="377013"/>
                  <a:pt x="79455" y="371950"/>
                  <a:pt x="71806" y="366150"/>
                </a:cubicBezTo>
                <a:lnTo>
                  <a:pt x="53742" y="376552"/>
                </a:lnTo>
                <a:cubicBezTo>
                  <a:pt x="49226" y="379222"/>
                  <a:pt x="43788" y="379866"/>
                  <a:pt x="38719" y="378577"/>
                </a:cubicBezTo>
                <a:cubicBezTo>
                  <a:pt x="33650" y="377197"/>
                  <a:pt x="29318" y="373883"/>
                  <a:pt x="26738" y="369372"/>
                </a:cubicBezTo>
                <a:lnTo>
                  <a:pt x="2683" y="327764"/>
                </a:lnTo>
                <a:cubicBezTo>
                  <a:pt x="-2847" y="318282"/>
                  <a:pt x="471" y="306131"/>
                  <a:pt x="9872" y="300700"/>
                </a:cubicBezTo>
                <a:lnTo>
                  <a:pt x="28120" y="290206"/>
                </a:lnTo>
                <a:cubicBezTo>
                  <a:pt x="27475" y="285604"/>
                  <a:pt x="26645" y="281001"/>
                  <a:pt x="26645" y="276122"/>
                </a:cubicBezTo>
                <a:cubicBezTo>
                  <a:pt x="26645" y="271335"/>
                  <a:pt x="27475" y="266733"/>
                  <a:pt x="28120" y="262038"/>
                </a:cubicBezTo>
                <a:lnTo>
                  <a:pt x="9872" y="251544"/>
                </a:lnTo>
                <a:cubicBezTo>
                  <a:pt x="471" y="246113"/>
                  <a:pt x="-2847" y="233962"/>
                  <a:pt x="2683" y="224572"/>
                </a:cubicBezTo>
                <a:lnTo>
                  <a:pt x="26738" y="182964"/>
                </a:lnTo>
                <a:cubicBezTo>
                  <a:pt x="29318" y="178361"/>
                  <a:pt x="33650" y="175139"/>
                  <a:pt x="38719" y="173759"/>
                </a:cubicBezTo>
                <a:cubicBezTo>
                  <a:pt x="43788" y="172378"/>
                  <a:pt x="49226" y="173114"/>
                  <a:pt x="53742" y="175692"/>
                </a:cubicBezTo>
                <a:lnTo>
                  <a:pt x="71806" y="186094"/>
                </a:lnTo>
                <a:cubicBezTo>
                  <a:pt x="79455" y="180386"/>
                  <a:pt x="87474" y="175231"/>
                  <a:pt x="96413" y="171457"/>
                </a:cubicBezTo>
                <a:lnTo>
                  <a:pt x="96413" y="151113"/>
                </a:lnTo>
                <a:cubicBezTo>
                  <a:pt x="96413" y="140159"/>
                  <a:pt x="105261" y="131322"/>
                  <a:pt x="116229" y="131322"/>
                </a:cubicBezTo>
                <a:close/>
                <a:moveTo>
                  <a:pt x="445756" y="83476"/>
                </a:moveTo>
                <a:cubicBezTo>
                  <a:pt x="428335" y="83476"/>
                  <a:pt x="414140" y="97557"/>
                  <a:pt x="414140" y="115044"/>
                </a:cubicBezTo>
                <a:cubicBezTo>
                  <a:pt x="414140" y="132438"/>
                  <a:pt x="428335" y="146520"/>
                  <a:pt x="445756" y="146520"/>
                </a:cubicBezTo>
                <a:cubicBezTo>
                  <a:pt x="463176" y="146520"/>
                  <a:pt x="477371" y="132438"/>
                  <a:pt x="477371" y="115044"/>
                </a:cubicBezTo>
                <a:cubicBezTo>
                  <a:pt x="477371" y="97557"/>
                  <a:pt x="463176" y="83476"/>
                  <a:pt x="445756" y="83476"/>
                </a:cubicBezTo>
                <a:close/>
                <a:moveTo>
                  <a:pt x="426676" y="0"/>
                </a:moveTo>
                <a:lnTo>
                  <a:pt x="464835" y="0"/>
                </a:lnTo>
                <a:cubicBezTo>
                  <a:pt x="473500" y="0"/>
                  <a:pt x="480597" y="7087"/>
                  <a:pt x="480597" y="15738"/>
                </a:cubicBezTo>
                <a:lnTo>
                  <a:pt x="480597" y="31936"/>
                </a:lnTo>
                <a:cubicBezTo>
                  <a:pt x="487694" y="34881"/>
                  <a:pt x="494054" y="38931"/>
                  <a:pt x="500138" y="43533"/>
                </a:cubicBezTo>
                <a:lnTo>
                  <a:pt x="514425" y="35249"/>
                </a:lnTo>
                <a:cubicBezTo>
                  <a:pt x="521983" y="30924"/>
                  <a:pt x="531569" y="33501"/>
                  <a:pt x="535901" y="40956"/>
                </a:cubicBezTo>
                <a:lnTo>
                  <a:pt x="554981" y="73996"/>
                </a:lnTo>
                <a:cubicBezTo>
                  <a:pt x="557101" y="77585"/>
                  <a:pt x="557654" y="81911"/>
                  <a:pt x="556640" y="85961"/>
                </a:cubicBezTo>
                <a:cubicBezTo>
                  <a:pt x="555534" y="89918"/>
                  <a:pt x="552861" y="93415"/>
                  <a:pt x="549266" y="95440"/>
                </a:cubicBezTo>
                <a:lnTo>
                  <a:pt x="534887" y="103815"/>
                </a:lnTo>
                <a:cubicBezTo>
                  <a:pt x="535348" y="107497"/>
                  <a:pt x="535993" y="111178"/>
                  <a:pt x="535993" y="115044"/>
                </a:cubicBezTo>
                <a:cubicBezTo>
                  <a:pt x="535993" y="115872"/>
                  <a:pt x="535809" y="116700"/>
                  <a:pt x="535717" y="117621"/>
                </a:cubicBezTo>
                <a:lnTo>
                  <a:pt x="521153" y="117621"/>
                </a:lnTo>
                <a:cubicBezTo>
                  <a:pt x="490828" y="117621"/>
                  <a:pt x="466126" y="142286"/>
                  <a:pt x="466126" y="172565"/>
                </a:cubicBezTo>
                <a:lnTo>
                  <a:pt x="466126" y="229719"/>
                </a:lnTo>
                <a:lnTo>
                  <a:pt x="466126" y="242604"/>
                </a:lnTo>
                <a:cubicBezTo>
                  <a:pt x="462715" y="237726"/>
                  <a:pt x="458383" y="233493"/>
                  <a:pt x="453590" y="229995"/>
                </a:cubicBezTo>
                <a:cubicBezTo>
                  <a:pt x="444465" y="223369"/>
                  <a:pt x="433404" y="219319"/>
                  <a:pt x="421330" y="219319"/>
                </a:cubicBezTo>
                <a:lnTo>
                  <a:pt x="411928" y="219319"/>
                </a:lnTo>
                <a:cubicBezTo>
                  <a:pt x="411375" y="217755"/>
                  <a:pt x="410914" y="216098"/>
                  <a:pt x="410914" y="214257"/>
                </a:cubicBezTo>
                <a:lnTo>
                  <a:pt x="410914" y="198059"/>
                </a:lnTo>
                <a:cubicBezTo>
                  <a:pt x="403817" y="195114"/>
                  <a:pt x="397457" y="191064"/>
                  <a:pt x="391373" y="186463"/>
                </a:cubicBezTo>
                <a:lnTo>
                  <a:pt x="377086" y="194746"/>
                </a:lnTo>
                <a:cubicBezTo>
                  <a:pt x="373492" y="196863"/>
                  <a:pt x="369160" y="197415"/>
                  <a:pt x="365104" y="196310"/>
                </a:cubicBezTo>
                <a:cubicBezTo>
                  <a:pt x="361140" y="195206"/>
                  <a:pt x="357638" y="192629"/>
                  <a:pt x="355610" y="189040"/>
                </a:cubicBezTo>
                <a:lnTo>
                  <a:pt x="336530" y="155999"/>
                </a:lnTo>
                <a:cubicBezTo>
                  <a:pt x="332198" y="148452"/>
                  <a:pt x="334687" y="138881"/>
                  <a:pt x="342245" y="134463"/>
                </a:cubicBezTo>
                <a:lnTo>
                  <a:pt x="356716" y="126180"/>
                </a:lnTo>
                <a:cubicBezTo>
                  <a:pt x="356163" y="122498"/>
                  <a:pt x="355518" y="118817"/>
                  <a:pt x="355518" y="115044"/>
                </a:cubicBezTo>
                <a:cubicBezTo>
                  <a:pt x="355518" y="111178"/>
                  <a:pt x="356163" y="107497"/>
                  <a:pt x="356716" y="103815"/>
                </a:cubicBezTo>
                <a:lnTo>
                  <a:pt x="342245" y="95440"/>
                </a:lnTo>
                <a:cubicBezTo>
                  <a:pt x="334687" y="91115"/>
                  <a:pt x="332198" y="81543"/>
                  <a:pt x="336530" y="73996"/>
                </a:cubicBezTo>
                <a:lnTo>
                  <a:pt x="355610" y="40956"/>
                </a:lnTo>
                <a:cubicBezTo>
                  <a:pt x="357638" y="37366"/>
                  <a:pt x="361140" y="34789"/>
                  <a:pt x="365104" y="33685"/>
                </a:cubicBezTo>
                <a:cubicBezTo>
                  <a:pt x="369160" y="32580"/>
                  <a:pt x="373492" y="33133"/>
                  <a:pt x="377086" y="35249"/>
                </a:cubicBezTo>
                <a:lnTo>
                  <a:pt x="391373" y="43533"/>
                </a:lnTo>
                <a:cubicBezTo>
                  <a:pt x="397457" y="38931"/>
                  <a:pt x="403817" y="34881"/>
                  <a:pt x="410914" y="31936"/>
                </a:cubicBezTo>
                <a:lnTo>
                  <a:pt x="410914" y="15738"/>
                </a:lnTo>
                <a:cubicBezTo>
                  <a:pt x="410914" y="7087"/>
                  <a:pt x="418011" y="0"/>
                  <a:pt x="426676" y="0"/>
                </a:cubicBezTo>
                <a:close/>
              </a:path>
            </a:pathLst>
          </a:custGeom>
          <a:solidFill>
            <a:srgbClr val="FFFF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456565"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1" i="0" u="none" strike="noStrike" kern="1200" cap="none" spc="0" normalizeH="0" baseline="0" noProof="0">
              <a:ln>
                <a:noFill/>
              </a:ln>
              <a:solidFill>
                <a:srgbClr val="383838"/>
              </a:solidFill>
              <a:effectLst/>
              <a:uLnTx/>
              <a:uFillTx/>
              <a:latin typeface="微软雅黑"/>
              <a:ea typeface="微软雅黑"/>
              <a:cs typeface="微软雅黑"/>
              <a:sym typeface="微软雅黑"/>
            </a:endParaRPr>
          </a:p>
        </p:txBody>
      </p:sp>
      <p:cxnSp>
        <p:nvCxnSpPr>
          <p:cNvPr id="293" name="直线连接符 6"/>
          <p:cNvCxnSpPr/>
          <p:nvPr/>
        </p:nvCxnSpPr>
        <p:spPr>
          <a:xfrm>
            <a:off x="6076894" y="2700961"/>
            <a:ext cx="0" cy="171662"/>
          </a:xfrm>
          <a:prstGeom prst="line">
            <a:avLst/>
          </a:prstGeom>
          <a:ln w="63500">
            <a:solidFill>
              <a:srgbClr val="3368FF"/>
            </a:solidFill>
          </a:ln>
        </p:spPr>
        <p:style>
          <a:lnRef idx="1">
            <a:srgbClr val="0042FF"/>
          </a:lnRef>
          <a:fillRef idx="0">
            <a:srgbClr val="0042FF"/>
          </a:fillRef>
          <a:effectRef idx="0">
            <a:srgbClr val="0042FF"/>
          </a:effectRef>
          <a:fontRef idx="minor">
            <a:srgbClr val="383838"/>
          </a:fontRef>
        </p:style>
      </p:cxnSp>
      <p:cxnSp>
        <p:nvCxnSpPr>
          <p:cNvPr id="294" name="直线连接符 9"/>
          <p:cNvCxnSpPr/>
          <p:nvPr/>
        </p:nvCxnSpPr>
        <p:spPr>
          <a:xfrm>
            <a:off x="9005624" y="2088759"/>
            <a:ext cx="0" cy="171662"/>
          </a:xfrm>
          <a:prstGeom prst="line">
            <a:avLst/>
          </a:prstGeom>
          <a:ln w="63500">
            <a:solidFill>
              <a:srgbClr val="3368FF"/>
            </a:solidFill>
          </a:ln>
        </p:spPr>
        <p:style>
          <a:lnRef idx="1">
            <a:srgbClr val="0042FF"/>
          </a:lnRef>
          <a:fillRef idx="0">
            <a:srgbClr val="0042FF"/>
          </a:fillRef>
          <a:effectRef idx="0">
            <a:srgbClr val="0042FF"/>
          </a:effectRef>
          <a:fontRef idx="minor">
            <a:srgbClr val="383838"/>
          </a:fontRef>
        </p:style>
      </p:cxn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2" name="图片 1"/>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个人年度重点成果回顾</a:t>
            </a:r>
            <a:endParaRPr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grpSp>
        <p:nvGrpSpPr>
          <p:cNvPr id="3" name="组合 2"/>
          <p:cNvGrpSpPr/>
          <p:nvPr/>
        </p:nvGrpSpPr>
        <p:grpSpPr>
          <a:xfrm>
            <a:off x="227012" y="1186344"/>
            <a:ext cx="11737973" cy="2561194"/>
            <a:chOff x="508130" y="908051"/>
            <a:chExt cx="11456855" cy="2579921"/>
          </a:xfrm>
        </p:grpSpPr>
        <p:sp>
          <p:nvSpPr>
            <p:cNvPr id="17" name="等腰三角形 16"/>
            <p:cNvSpPr/>
            <p:nvPr/>
          </p:nvSpPr>
          <p:spPr>
            <a:xfrm rot="5400000">
              <a:off x="10935836" y="1277030"/>
              <a:ext cx="368458" cy="408798"/>
            </a:xfrm>
            <a:prstGeom prst="triangle">
              <a:avLst>
                <a:gd name="adj" fmla="val 30422"/>
              </a:avLst>
            </a:prstGeom>
            <a:gradFill flip="none" rotWithShape="1">
              <a:gsLst>
                <a:gs pos="61000">
                  <a:srgbClr val="0042FF">
                    <a:alpha val="20000"/>
                  </a:srgbClr>
                </a:gs>
                <a:gs pos="29000">
                  <a:srgbClr val="0042FF">
                    <a:alpha val="0"/>
                  </a:srgbClr>
                </a:gs>
                <a:gs pos="100000">
                  <a:srgbClr val="0042FF">
                    <a:alpha val="30000"/>
                  </a:srgbClr>
                </a:gs>
              </a:gsLst>
              <a:lin ang="108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zh-CN" alt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18" name="任意多边形: 形状 99"/>
            <p:cNvSpPr/>
            <p:nvPr/>
          </p:nvSpPr>
          <p:spPr>
            <a:xfrm>
              <a:off x="11691104" y="908201"/>
              <a:ext cx="273881" cy="1813273"/>
            </a:xfrm>
            <a:custGeom>
              <a:avLst/>
              <a:gdLst>
                <a:gd name="connsiteX0" fmla="*/ 0 w 266217"/>
                <a:gd name="connsiteY0" fmla="*/ 1099595 h 3009417"/>
                <a:gd name="connsiteX1" fmla="*/ 266217 w 266217"/>
                <a:gd name="connsiteY1" fmla="*/ 0 h 3009417"/>
                <a:gd name="connsiteX2" fmla="*/ 266217 w 266217"/>
                <a:gd name="connsiteY2" fmla="*/ 3009417 h 3009417"/>
                <a:gd name="connsiteX3" fmla="*/ 23149 w 266217"/>
                <a:gd name="connsiteY3" fmla="*/ 3009417 h 3009417"/>
                <a:gd name="connsiteX4" fmla="*/ 0 w 266217"/>
                <a:gd name="connsiteY4" fmla="*/ 1099595 h 3009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17" h="3009417">
                  <a:moveTo>
                    <a:pt x="0" y="1099595"/>
                  </a:moveTo>
                  <a:lnTo>
                    <a:pt x="266217" y="0"/>
                  </a:lnTo>
                  <a:lnTo>
                    <a:pt x="266217" y="3009417"/>
                  </a:lnTo>
                  <a:lnTo>
                    <a:pt x="23149" y="3009417"/>
                  </a:lnTo>
                  <a:lnTo>
                    <a:pt x="0" y="1099595"/>
                  </a:lnTo>
                  <a:close/>
                </a:path>
              </a:pathLst>
            </a:custGeom>
            <a:gradFill flip="none" rotWithShape="1">
              <a:gsLst>
                <a:gs pos="61000">
                  <a:srgbClr val="0042FF">
                    <a:alpha val="20000"/>
                  </a:srgbClr>
                </a:gs>
                <a:gs pos="29000">
                  <a:srgbClr val="0042FF">
                    <a:alpha val="0"/>
                  </a:srgbClr>
                </a:gs>
                <a:gs pos="100000">
                  <a:srgbClr val="0042FF">
                    <a:alpha val="3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9" name="任意多边形: 形状 100"/>
            <p:cNvSpPr/>
            <p:nvPr/>
          </p:nvSpPr>
          <p:spPr>
            <a:xfrm>
              <a:off x="599571" y="1477424"/>
              <a:ext cx="10795811" cy="1269647"/>
            </a:xfrm>
            <a:custGeom>
              <a:avLst/>
              <a:gdLst>
                <a:gd name="connsiteX0" fmla="*/ 10781933 w 10795811"/>
                <a:gd name="connsiteY0" fmla="*/ 0 h 2078817"/>
                <a:gd name="connsiteX1" fmla="*/ 10784522 w 10795811"/>
                <a:gd name="connsiteY1" fmla="*/ 1625 h 2078817"/>
                <a:gd name="connsiteX2" fmla="*/ 10795811 w 10795811"/>
                <a:gd name="connsiteY2" fmla="*/ 2078817 h 2078817"/>
                <a:gd name="connsiteX3" fmla="*/ 0 w 10795811"/>
                <a:gd name="connsiteY3" fmla="*/ 2078817 h 2078817"/>
                <a:gd name="connsiteX4" fmla="*/ 0 w 10795811"/>
                <a:gd name="connsiteY4" fmla="*/ 1519202 h 2078817"/>
                <a:gd name="connsiteX5" fmla="*/ 8451 w 10795811"/>
                <a:gd name="connsiteY5" fmla="*/ 1520241 h 2078817"/>
                <a:gd name="connsiteX6" fmla="*/ 2131626 w 10795811"/>
                <a:gd name="connsiteY6" fmla="*/ 1660364 h 2078817"/>
                <a:gd name="connsiteX7" fmla="*/ 2879999 w 10795811"/>
                <a:gd name="connsiteY7" fmla="*/ 1670149 h 2078817"/>
                <a:gd name="connsiteX8" fmla="*/ 2880130 w 10795811"/>
                <a:gd name="connsiteY8" fmla="*/ 1670149 h 2078817"/>
                <a:gd name="connsiteX9" fmla="*/ 3733989 w 10795811"/>
                <a:gd name="connsiteY9" fmla="*/ 1657395 h 2078817"/>
                <a:gd name="connsiteX10" fmla="*/ 10589678 w 10795811"/>
                <a:gd name="connsiteY10" fmla="*/ 151323 h 207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5811" h="2078817">
                  <a:moveTo>
                    <a:pt x="10781933" y="0"/>
                  </a:moveTo>
                  <a:lnTo>
                    <a:pt x="10784522" y="1625"/>
                  </a:lnTo>
                  <a:lnTo>
                    <a:pt x="10795811" y="2078817"/>
                  </a:lnTo>
                  <a:lnTo>
                    <a:pt x="0" y="2078817"/>
                  </a:lnTo>
                  <a:lnTo>
                    <a:pt x="0" y="1519202"/>
                  </a:lnTo>
                  <a:lnTo>
                    <a:pt x="8451" y="1520241"/>
                  </a:lnTo>
                  <a:cubicBezTo>
                    <a:pt x="680012" y="1592978"/>
                    <a:pt x="1391956" y="1640934"/>
                    <a:pt x="2131626" y="1660364"/>
                  </a:cubicBezTo>
                  <a:lnTo>
                    <a:pt x="2879999" y="1670149"/>
                  </a:lnTo>
                  <a:lnTo>
                    <a:pt x="2880130" y="1670149"/>
                  </a:lnTo>
                  <a:lnTo>
                    <a:pt x="3733989" y="1657395"/>
                  </a:lnTo>
                  <a:cubicBezTo>
                    <a:pt x="6834981" y="1564241"/>
                    <a:pt x="9434453" y="969263"/>
                    <a:pt x="10589678" y="151323"/>
                  </a:cubicBezTo>
                  <a:close/>
                </a:path>
              </a:pathLst>
            </a:custGeom>
            <a:gradFill flip="none" rotWithShape="1">
              <a:gsLst>
                <a:gs pos="49000">
                  <a:srgbClr val="0042FF">
                    <a:alpha val="10000"/>
                  </a:srgbClr>
                </a:gs>
                <a:gs pos="0">
                  <a:srgbClr val="0042FF">
                    <a:alpha val="0"/>
                  </a:srgbClr>
                </a:gs>
                <a:gs pos="100000">
                  <a:srgbClr val="0042FF">
                    <a:alpha val="2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21" name="任意多边形: 形状 101"/>
            <p:cNvSpPr/>
            <p:nvPr/>
          </p:nvSpPr>
          <p:spPr>
            <a:xfrm>
              <a:off x="508130" y="908051"/>
              <a:ext cx="11454229" cy="1589423"/>
            </a:xfrm>
            <a:custGeom>
              <a:avLst/>
              <a:gdLst>
                <a:gd name="connsiteX0" fmla="*/ 11454229 w 11454229"/>
                <a:gd name="connsiteY0" fmla="*/ 0 h 2602392"/>
                <a:gd name="connsiteX1" fmla="*/ 11188421 w 11454229"/>
                <a:gd name="connsiteY1" fmla="*/ 1129963 h 2602392"/>
                <a:gd name="connsiteX2" fmla="*/ 10873373 w 11454229"/>
                <a:gd name="connsiteY2" fmla="*/ 932243 h 2602392"/>
                <a:gd name="connsiteX3" fmla="*/ 10681118 w 11454229"/>
                <a:gd name="connsiteY3" fmla="*/ 1083566 h 2602392"/>
                <a:gd name="connsiteX4" fmla="*/ 3825429 w 11454229"/>
                <a:gd name="connsiteY4" fmla="*/ 2589638 h 2602392"/>
                <a:gd name="connsiteX5" fmla="*/ 2971570 w 11454229"/>
                <a:gd name="connsiteY5" fmla="*/ 2602392 h 2602392"/>
                <a:gd name="connsiteX6" fmla="*/ 2971439 w 11454229"/>
                <a:gd name="connsiteY6" fmla="*/ 2602392 h 2602392"/>
                <a:gd name="connsiteX7" fmla="*/ 2223066 w 11454229"/>
                <a:gd name="connsiteY7" fmla="*/ 2592607 h 2602392"/>
                <a:gd name="connsiteX8" fmla="*/ 99891 w 11454229"/>
                <a:gd name="connsiteY8" fmla="*/ 2452484 h 2602392"/>
                <a:gd name="connsiteX9" fmla="*/ 0 w 11454229"/>
                <a:gd name="connsiteY9" fmla="*/ 2440204 h 2602392"/>
                <a:gd name="connsiteX10" fmla="*/ 0 w 11454229"/>
                <a:gd name="connsiteY10" fmla="*/ 2390806 h 2602392"/>
                <a:gd name="connsiteX11" fmla="*/ 141860 w 11454229"/>
                <a:gd name="connsiteY11" fmla="*/ 2405581 h 2602392"/>
                <a:gd name="connsiteX12" fmla="*/ 2625420 w 11454229"/>
                <a:gd name="connsiteY12" fmla="*/ 2516650 h 2602392"/>
                <a:gd name="connsiteX13" fmla="*/ 10414128 w 11454229"/>
                <a:gd name="connsiteY13" fmla="*/ 939746 h 2602392"/>
                <a:gd name="connsiteX14" fmla="*/ 10612323 w 11454229"/>
                <a:gd name="connsiteY14" fmla="*/ 768412 h 2602392"/>
                <a:gd name="connsiteX15" fmla="*/ 10403228 w 11454229"/>
                <a:gd name="connsiteY15" fmla="*/ 637187 h 260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54229" h="2602392">
                  <a:moveTo>
                    <a:pt x="11454229" y="0"/>
                  </a:moveTo>
                  <a:lnTo>
                    <a:pt x="11188421" y="1129963"/>
                  </a:lnTo>
                  <a:lnTo>
                    <a:pt x="10873373" y="932243"/>
                  </a:lnTo>
                  <a:lnTo>
                    <a:pt x="10681118" y="1083566"/>
                  </a:lnTo>
                  <a:cubicBezTo>
                    <a:pt x="9525893" y="1901506"/>
                    <a:pt x="6926421" y="2496484"/>
                    <a:pt x="3825429" y="2589638"/>
                  </a:cubicBezTo>
                  <a:lnTo>
                    <a:pt x="2971570" y="2602392"/>
                  </a:lnTo>
                  <a:lnTo>
                    <a:pt x="2971439" y="2602392"/>
                  </a:lnTo>
                  <a:lnTo>
                    <a:pt x="2223066" y="2592607"/>
                  </a:lnTo>
                  <a:cubicBezTo>
                    <a:pt x="1483396" y="2573177"/>
                    <a:pt x="771452" y="2525221"/>
                    <a:pt x="99891" y="2452484"/>
                  </a:cubicBezTo>
                  <a:lnTo>
                    <a:pt x="0" y="2440204"/>
                  </a:lnTo>
                  <a:lnTo>
                    <a:pt x="0" y="2390806"/>
                  </a:lnTo>
                  <a:lnTo>
                    <a:pt x="141860" y="2405581"/>
                  </a:lnTo>
                  <a:cubicBezTo>
                    <a:pt x="926417" y="2477764"/>
                    <a:pt x="1760566" y="2516650"/>
                    <a:pt x="2625420" y="2516650"/>
                  </a:cubicBezTo>
                  <a:cubicBezTo>
                    <a:pt x="6172670" y="2516650"/>
                    <a:pt x="9203405" y="1862489"/>
                    <a:pt x="10414128" y="939746"/>
                  </a:cubicBezTo>
                  <a:lnTo>
                    <a:pt x="10612323" y="768412"/>
                  </a:lnTo>
                  <a:lnTo>
                    <a:pt x="10403228" y="637187"/>
                  </a:lnTo>
                  <a:close/>
                </a:path>
              </a:pathLst>
            </a:custGeom>
            <a:gradFill>
              <a:gsLst>
                <a:gs pos="46000">
                  <a:srgbClr val="0042FF"/>
                </a:gs>
                <a:gs pos="0">
                  <a:srgbClr val="0042FF">
                    <a:alpha val="0"/>
                  </a:srgbClr>
                </a:gs>
                <a:gs pos="100000">
                  <a:srgbClr val="0042FF"/>
                </a:gs>
              </a:gsLst>
              <a:lin ang="0" scaled="1"/>
            </a:gradFill>
            <a:ln w="12700" cap="flat" cmpd="sng" algn="ctr">
              <a:no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zh-CN" alt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23" name="任意多边形: 形状 102"/>
            <p:cNvSpPr/>
            <p:nvPr/>
          </p:nvSpPr>
          <p:spPr>
            <a:xfrm>
              <a:off x="11382862" y="1238954"/>
              <a:ext cx="327611" cy="2249018"/>
            </a:xfrm>
            <a:custGeom>
              <a:avLst/>
              <a:gdLst>
                <a:gd name="connsiteX0" fmla="*/ 289560 w 325120"/>
                <a:gd name="connsiteY0" fmla="*/ 193040 h 2108200"/>
                <a:gd name="connsiteX1" fmla="*/ 0 w 325120"/>
                <a:gd name="connsiteY1" fmla="*/ 0 h 2108200"/>
                <a:gd name="connsiteX2" fmla="*/ 0 w 325120"/>
                <a:gd name="connsiteY2" fmla="*/ 2108200 h 2108200"/>
                <a:gd name="connsiteX3" fmla="*/ 325120 w 325120"/>
                <a:gd name="connsiteY3" fmla="*/ 2108200 h 2108200"/>
                <a:gd name="connsiteX4" fmla="*/ 289560 w 325120"/>
                <a:gd name="connsiteY4" fmla="*/ 193040 h 2108200"/>
                <a:gd name="connsiteX0-1" fmla="*/ 304800 w 325120"/>
                <a:gd name="connsiteY0-2" fmla="*/ 187960 h 2108200"/>
                <a:gd name="connsiteX1-3" fmla="*/ 0 w 325120"/>
                <a:gd name="connsiteY1-4" fmla="*/ 0 h 2108200"/>
                <a:gd name="connsiteX2-5" fmla="*/ 0 w 325120"/>
                <a:gd name="connsiteY2-6" fmla="*/ 2108200 h 2108200"/>
                <a:gd name="connsiteX3-7" fmla="*/ 325120 w 325120"/>
                <a:gd name="connsiteY3-8" fmla="*/ 2108200 h 2108200"/>
                <a:gd name="connsiteX4-9" fmla="*/ 304800 w 325120"/>
                <a:gd name="connsiteY4-10" fmla="*/ 187960 h 2108200"/>
                <a:gd name="connsiteX0-11" fmla="*/ 316230 w 336550"/>
                <a:gd name="connsiteY0-12" fmla="*/ 233680 h 2153920"/>
                <a:gd name="connsiteX1-13" fmla="*/ 0 w 336550"/>
                <a:gd name="connsiteY1-14" fmla="*/ 0 h 2153920"/>
                <a:gd name="connsiteX2-15" fmla="*/ 11430 w 336550"/>
                <a:gd name="connsiteY2-16" fmla="*/ 2153920 h 2153920"/>
                <a:gd name="connsiteX3-17" fmla="*/ 336550 w 336550"/>
                <a:gd name="connsiteY3-18" fmla="*/ 2153920 h 2153920"/>
                <a:gd name="connsiteX4-19" fmla="*/ 316230 w 336550"/>
                <a:gd name="connsiteY4-20" fmla="*/ 233680 h 2153920"/>
                <a:gd name="connsiteX0-1-1" fmla="*/ 318198 w 338518"/>
                <a:gd name="connsiteY0-2-2" fmla="*/ 240053 h 2160293"/>
                <a:gd name="connsiteX1-3-3" fmla="*/ 0 w 338518"/>
                <a:gd name="connsiteY1-4-4" fmla="*/ 0 h 2160293"/>
                <a:gd name="connsiteX2-5-5" fmla="*/ 13398 w 338518"/>
                <a:gd name="connsiteY2-6-6" fmla="*/ 2160293 h 2160293"/>
                <a:gd name="connsiteX3-7-7" fmla="*/ 338518 w 338518"/>
                <a:gd name="connsiteY3-8-8" fmla="*/ 2160293 h 2160293"/>
                <a:gd name="connsiteX4-9-9" fmla="*/ 318198 w 338518"/>
                <a:gd name="connsiteY4-10-10" fmla="*/ 240053 h 2160293"/>
              </a:gdLst>
              <a:ahLst/>
              <a:cxnLst>
                <a:cxn ang="0">
                  <a:pos x="connsiteX0-1-1" y="connsiteY0-2-2"/>
                </a:cxn>
                <a:cxn ang="0">
                  <a:pos x="connsiteX1-3-3" y="connsiteY1-4-4"/>
                </a:cxn>
                <a:cxn ang="0">
                  <a:pos x="connsiteX2-5-5" y="connsiteY2-6-6"/>
                </a:cxn>
                <a:cxn ang="0">
                  <a:pos x="connsiteX3-7-7" y="connsiteY3-8-8"/>
                </a:cxn>
                <a:cxn ang="0">
                  <a:pos x="connsiteX4-9-9" y="connsiteY4-10-10"/>
                </a:cxn>
              </a:cxnLst>
              <a:rect l="l" t="t" r="r" b="b"/>
              <a:pathLst>
                <a:path w="338518" h="2160293">
                  <a:moveTo>
                    <a:pt x="318198" y="240053"/>
                  </a:moveTo>
                  <a:lnTo>
                    <a:pt x="0" y="0"/>
                  </a:lnTo>
                  <a:lnTo>
                    <a:pt x="13398" y="2160293"/>
                  </a:lnTo>
                  <a:lnTo>
                    <a:pt x="338518" y="2160293"/>
                  </a:lnTo>
                  <a:lnTo>
                    <a:pt x="318198" y="240053"/>
                  </a:lnTo>
                  <a:close/>
                </a:path>
              </a:pathLst>
            </a:custGeom>
            <a:gradFill flip="none" rotWithShape="1">
              <a:gsLst>
                <a:gs pos="49000">
                  <a:srgbClr val="0042FF">
                    <a:alpha val="20000"/>
                  </a:srgbClr>
                </a:gs>
                <a:gs pos="0">
                  <a:srgbClr val="0042FF">
                    <a:alpha val="0"/>
                  </a:srgbClr>
                </a:gs>
                <a:gs pos="100000">
                  <a:srgbClr val="0042FF">
                    <a:alpha val="30000"/>
                  </a:srgbClr>
                </a:gs>
              </a:gsLst>
              <a:lin ang="16200000" scaled="1"/>
              <a:tileRect/>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sp>
        <p:nvSpPr>
          <p:cNvPr id="26" name="矩形 25"/>
          <p:cNvSpPr/>
          <p:nvPr/>
        </p:nvSpPr>
        <p:spPr>
          <a:xfrm>
            <a:off x="8939317" y="3761751"/>
            <a:ext cx="2815900" cy="2907751"/>
          </a:xfrm>
          <a:prstGeom prst="rect">
            <a:avLst/>
          </a:prstGeom>
          <a:gradFill>
            <a:gsLst>
              <a:gs pos="0">
                <a:srgbClr val="FFFFFF">
                  <a:alpha val="0"/>
                </a:srgbClr>
              </a:gs>
              <a:gs pos="100000">
                <a:srgbClr val="FFFFFF"/>
              </a:gs>
            </a:gsLst>
            <a:lin ang="16200000" scaled="1"/>
          </a:gradFill>
          <a:ln w="12700">
            <a:gradFill flip="none" rotWithShape="1">
              <a:gsLst>
                <a:gs pos="0">
                  <a:srgbClr val="DCDCDC">
                    <a:alpha val="0"/>
                  </a:srgbClr>
                </a:gs>
                <a:gs pos="100000">
                  <a:srgbClr val="DCDCDC"/>
                </a:gs>
              </a:gsLst>
              <a:lin ang="16200000" scaled="1"/>
              <a:tileRect/>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27" name="矩形 26"/>
          <p:cNvSpPr/>
          <p:nvPr/>
        </p:nvSpPr>
        <p:spPr>
          <a:xfrm>
            <a:off x="6039073" y="3761751"/>
            <a:ext cx="2815900" cy="2907751"/>
          </a:xfrm>
          <a:prstGeom prst="rect">
            <a:avLst/>
          </a:prstGeom>
          <a:gradFill>
            <a:gsLst>
              <a:gs pos="0">
                <a:srgbClr val="FFFFFF">
                  <a:alpha val="0"/>
                </a:srgbClr>
              </a:gs>
              <a:gs pos="100000">
                <a:srgbClr val="E6E6E6"/>
              </a:gs>
            </a:gsLst>
            <a:lin ang="16200000" scaled="1"/>
          </a:gradFill>
          <a:ln w="12700">
            <a:gradFill flip="none" rotWithShape="1">
              <a:gsLst>
                <a:gs pos="0">
                  <a:srgbClr val="0042FF">
                    <a:alpha val="0"/>
                  </a:srgbClr>
                </a:gs>
                <a:gs pos="100000">
                  <a:srgbClr val="0042FF"/>
                </a:gs>
              </a:gsLst>
              <a:lin ang="16200000" scaled="1"/>
              <a:tileRect/>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28" name="矩形 27"/>
          <p:cNvSpPr/>
          <p:nvPr/>
        </p:nvSpPr>
        <p:spPr>
          <a:xfrm>
            <a:off x="3131611" y="3761751"/>
            <a:ext cx="2823118" cy="2907751"/>
          </a:xfrm>
          <a:prstGeom prst="rect">
            <a:avLst/>
          </a:prstGeom>
          <a:gradFill>
            <a:gsLst>
              <a:gs pos="0">
                <a:srgbClr val="FFFFFF">
                  <a:alpha val="0"/>
                </a:srgbClr>
              </a:gs>
              <a:gs pos="100000">
                <a:srgbClr val="FFFFFF"/>
              </a:gs>
            </a:gsLst>
            <a:lin ang="16200000" scaled="1"/>
          </a:gradFill>
          <a:ln w="12700">
            <a:gradFill flip="none" rotWithShape="1">
              <a:gsLst>
                <a:gs pos="0">
                  <a:srgbClr val="DCDCDC">
                    <a:alpha val="0"/>
                  </a:srgbClr>
                </a:gs>
                <a:gs pos="100000">
                  <a:srgbClr val="DCDCDC"/>
                </a:gs>
              </a:gsLst>
              <a:lin ang="16200000" scaled="1"/>
              <a:tileRect/>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29" name="矩形 28"/>
          <p:cNvSpPr/>
          <p:nvPr/>
        </p:nvSpPr>
        <p:spPr>
          <a:xfrm>
            <a:off x="233907" y="3761751"/>
            <a:ext cx="2820578" cy="2907751"/>
          </a:xfrm>
          <a:prstGeom prst="rect">
            <a:avLst/>
          </a:prstGeom>
          <a:gradFill>
            <a:gsLst>
              <a:gs pos="0">
                <a:srgbClr val="FFFFFF">
                  <a:alpha val="0"/>
                </a:srgbClr>
              </a:gs>
              <a:gs pos="100000">
                <a:srgbClr val="E6E6E6"/>
              </a:gs>
            </a:gsLst>
            <a:lin ang="16200000" scaled="1"/>
          </a:gradFill>
          <a:ln w="12700">
            <a:gradFill flip="none" rotWithShape="1">
              <a:gsLst>
                <a:gs pos="0">
                  <a:srgbClr val="0042FF">
                    <a:alpha val="0"/>
                  </a:srgbClr>
                </a:gs>
                <a:gs pos="100000">
                  <a:srgbClr val="0042FF"/>
                </a:gs>
              </a:gsLst>
              <a:lin ang="16200000" scaled="1"/>
              <a:tileRect/>
            </a:gra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30" name="箭头: V 形 107"/>
          <p:cNvSpPr/>
          <p:nvPr/>
        </p:nvSpPr>
        <p:spPr>
          <a:xfrm>
            <a:off x="3131611" y="3359883"/>
            <a:ext cx="3025990" cy="402639"/>
          </a:xfrm>
          <a:prstGeom prst="chevron">
            <a:avLst/>
          </a:prstGeom>
          <a:gradFill>
            <a:gsLst>
              <a:gs pos="0">
                <a:srgbClr val="B3D4FE"/>
              </a:gs>
              <a:gs pos="8000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600" b="0" i="0" u="none" strike="noStrike" kern="1200" cap="none" spc="0" normalizeH="0" baseline="0" noProof="0" dirty="0">
                <a:ln>
                  <a:noFill/>
                </a:ln>
                <a:solidFill>
                  <a:prstClr val="white"/>
                </a:solidFill>
                <a:effectLst/>
                <a:uLnTx/>
                <a:uFillTx/>
                <a:latin typeface="微软雅黑"/>
                <a:ea typeface="微软雅黑"/>
                <a:cs typeface="微软雅黑"/>
              </a:rPr>
              <a:t>2025.07-2025.12</a:t>
            </a:r>
            <a:endParaRPr kumimoji="0" lang="en-US" altLang="zh-CN" sz="16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09" name="箭头: V 形 108"/>
          <p:cNvSpPr/>
          <p:nvPr/>
        </p:nvSpPr>
        <p:spPr>
          <a:xfrm>
            <a:off x="6031856" y="3359883"/>
            <a:ext cx="3025990" cy="402639"/>
          </a:xfrm>
          <a:prstGeom prst="chevron">
            <a:avLst/>
          </a:prstGeom>
          <a:gradFill>
            <a:gsLst>
              <a:gs pos="0">
                <a:srgbClr val="3368FF"/>
              </a:gs>
              <a:gs pos="80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en-US" altLang="zh-CN" sz="1600" noProof="0" dirty="0">
                <a:ln>
                  <a:noFill/>
                </a:ln>
                <a:solidFill>
                  <a:srgbClr val="FFFFFF"/>
                </a:solidFill>
                <a:effectLst/>
                <a:uLnTx/>
                <a:uFillTx/>
                <a:latin typeface="微软雅黑"/>
                <a:ea typeface="微软雅黑"/>
                <a:cs typeface="微软雅黑"/>
                <a:sym typeface="微软雅黑"/>
              </a:rPr>
              <a:t>2026.01-2026.06</a:t>
            </a:r>
            <a:endParaRPr lang="en-US" altLang="zh-CN" sz="1600" noProof="0" dirty="0">
              <a:ln>
                <a:noFill/>
              </a:ln>
              <a:solidFill>
                <a:srgbClr val="FFFFFF"/>
              </a:solidFill>
              <a:effectLst/>
              <a:uLnTx/>
              <a:uFillTx/>
              <a:latin typeface="微软雅黑"/>
              <a:ea typeface="微软雅黑"/>
              <a:cs typeface="微软雅黑"/>
              <a:sym typeface="微软雅黑"/>
            </a:endParaRPr>
          </a:p>
        </p:txBody>
      </p:sp>
      <p:sp>
        <p:nvSpPr>
          <p:cNvPr id="31" name="箭头: V 形 109"/>
          <p:cNvSpPr/>
          <p:nvPr/>
        </p:nvSpPr>
        <p:spPr>
          <a:xfrm>
            <a:off x="231366" y="3359883"/>
            <a:ext cx="3033210" cy="402639"/>
          </a:xfrm>
          <a:prstGeom prst="chevron">
            <a:avLst/>
          </a:prstGeom>
          <a:gradFill>
            <a:gsLst>
              <a:gs pos="0">
                <a:srgbClr val="3368FF"/>
              </a:gs>
              <a:gs pos="80000">
                <a:srgbClr val="0042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r>
              <a:rPr lang="en-US" altLang="zh-CN" sz="1600" noProof="0" dirty="0">
                <a:ln>
                  <a:noFill/>
                </a:ln>
                <a:solidFill>
                  <a:srgbClr val="FFFFFF"/>
                </a:solidFill>
                <a:effectLst/>
                <a:uLnTx/>
                <a:uFillTx/>
                <a:latin typeface="微软雅黑"/>
                <a:ea typeface="微软雅黑"/>
                <a:cs typeface="微软雅黑"/>
                <a:sym typeface="微软雅黑"/>
              </a:rPr>
              <a:t>2025.01-2025.6</a:t>
            </a:r>
            <a:endParaRPr lang="en-US" altLang="zh-CN" sz="1600" noProof="0" dirty="0">
              <a:ln>
                <a:noFill/>
              </a:ln>
              <a:solidFill>
                <a:srgbClr val="FFFFFF"/>
              </a:solidFill>
              <a:effectLst/>
              <a:uLnTx/>
              <a:uFillTx/>
              <a:latin typeface="微软雅黑"/>
              <a:ea typeface="微软雅黑"/>
              <a:cs typeface="微软雅黑"/>
              <a:sym typeface="微软雅黑"/>
            </a:endParaRPr>
          </a:p>
        </p:txBody>
      </p:sp>
      <p:sp>
        <p:nvSpPr>
          <p:cNvPr id="68" name="箭头: V 形 110"/>
          <p:cNvSpPr/>
          <p:nvPr/>
        </p:nvSpPr>
        <p:spPr>
          <a:xfrm>
            <a:off x="8932099" y="3359883"/>
            <a:ext cx="3025990" cy="402639"/>
          </a:xfrm>
          <a:prstGeom prst="chevron">
            <a:avLst/>
          </a:prstGeom>
          <a:gradFill>
            <a:gsLst>
              <a:gs pos="0">
                <a:srgbClr val="B3D4FE"/>
              </a:gs>
              <a:gs pos="80000">
                <a:srgbClr val="3368FF"/>
              </a:gs>
            </a:gsLst>
            <a:lin ang="27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r>
              <a:rPr lang="en-US" altLang="zh-CN" sz="1600" noProof="0" dirty="0">
                <a:ln>
                  <a:noFill/>
                </a:ln>
                <a:solidFill>
                  <a:prstClr val="white"/>
                </a:solidFill>
                <a:effectLst/>
                <a:uLnTx/>
                <a:uFillTx/>
                <a:latin typeface="微软雅黑"/>
                <a:ea typeface="微软雅黑"/>
                <a:cs typeface="微软雅黑"/>
                <a:sym typeface="微软雅黑"/>
              </a:rPr>
              <a:t>2024.01-2024.12</a:t>
            </a:r>
            <a:endParaRPr lang="en-US" altLang="zh-CN" sz="1600" noProof="0" dirty="0">
              <a:ln>
                <a:noFill/>
              </a:ln>
              <a:solidFill>
                <a:prstClr val="white"/>
              </a:solidFill>
              <a:effectLst/>
              <a:uLnTx/>
              <a:uFillTx/>
              <a:latin typeface="微软雅黑"/>
              <a:ea typeface="微软雅黑"/>
              <a:cs typeface="微软雅黑"/>
              <a:sym typeface="微软雅黑"/>
            </a:endParaRPr>
          </a:p>
        </p:txBody>
      </p:sp>
      <p:sp>
        <p:nvSpPr>
          <p:cNvPr id="112" name="任意多边形: 形状 106"/>
          <p:cNvSpPr/>
          <p:nvPr/>
        </p:nvSpPr>
        <p:spPr>
          <a:xfrm>
            <a:off x="1505268" y="2354234"/>
            <a:ext cx="277857" cy="361438"/>
          </a:xfrm>
          <a:custGeom>
            <a:avLst/>
            <a:gdLst>
              <a:gd name="T0" fmla="*/ 1520 w 3040"/>
              <a:gd name="T1" fmla="*/ 0 h 3960"/>
              <a:gd name="T2" fmla="*/ 0 w 3040"/>
              <a:gd name="T3" fmla="*/ 1520 h 3960"/>
              <a:gd name="T4" fmla="*/ 309 w 3040"/>
              <a:gd name="T5" fmla="*/ 2438 h 3960"/>
              <a:gd name="T6" fmla="*/ 1024 w 3040"/>
              <a:gd name="T7" fmla="*/ 2957 h 3960"/>
              <a:gd name="T8" fmla="*/ 1391 w 3040"/>
              <a:gd name="T9" fmla="*/ 3872 h 3960"/>
              <a:gd name="T10" fmla="*/ 1520 w 3040"/>
              <a:gd name="T11" fmla="*/ 3960 h 3960"/>
              <a:gd name="T12" fmla="*/ 1649 w 3040"/>
              <a:gd name="T13" fmla="*/ 3872 h 3960"/>
              <a:gd name="T14" fmla="*/ 2016 w 3040"/>
              <a:gd name="T15" fmla="*/ 2957 h 3960"/>
              <a:gd name="T16" fmla="*/ 2731 w 3040"/>
              <a:gd name="T17" fmla="*/ 2438 h 3960"/>
              <a:gd name="T18" fmla="*/ 3040 w 3040"/>
              <a:gd name="T19" fmla="*/ 1520 h 3960"/>
              <a:gd name="T20" fmla="*/ 1520 w 3040"/>
              <a:gd name="T21" fmla="*/ 0 h 3960"/>
              <a:gd name="T22" fmla="*/ 1520 w 3040"/>
              <a:gd name="T23" fmla="*/ 969 h 3960"/>
              <a:gd name="T24" fmla="*/ 2071 w 3040"/>
              <a:gd name="T25" fmla="*/ 1520 h 3960"/>
              <a:gd name="T26" fmla="*/ 1520 w 3040"/>
              <a:gd name="T27" fmla="*/ 2071 h 3960"/>
              <a:gd name="T28" fmla="*/ 969 w 3040"/>
              <a:gd name="T29" fmla="*/ 1520 h 3960"/>
              <a:gd name="T30" fmla="*/ 1520 w 3040"/>
              <a:gd name="T31" fmla="*/ 969 h 3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40" h="3960">
                <a:moveTo>
                  <a:pt x="1520" y="0"/>
                </a:moveTo>
                <a:cubicBezTo>
                  <a:pt x="682" y="0"/>
                  <a:pt x="0" y="682"/>
                  <a:pt x="0" y="1520"/>
                </a:cubicBezTo>
                <a:cubicBezTo>
                  <a:pt x="0" y="1855"/>
                  <a:pt x="107" y="2172"/>
                  <a:pt x="309" y="2438"/>
                </a:cubicBezTo>
                <a:cubicBezTo>
                  <a:pt x="490" y="2677"/>
                  <a:pt x="742" y="2859"/>
                  <a:pt x="1024" y="2957"/>
                </a:cubicBezTo>
                <a:lnTo>
                  <a:pt x="1391" y="3872"/>
                </a:lnTo>
                <a:cubicBezTo>
                  <a:pt x="1412" y="3925"/>
                  <a:pt x="1463" y="3960"/>
                  <a:pt x="1520" y="3960"/>
                </a:cubicBezTo>
                <a:cubicBezTo>
                  <a:pt x="1577" y="3960"/>
                  <a:pt x="1628" y="3925"/>
                  <a:pt x="1649" y="3872"/>
                </a:cubicBezTo>
                <a:lnTo>
                  <a:pt x="2016" y="2957"/>
                </a:lnTo>
                <a:cubicBezTo>
                  <a:pt x="2298" y="2859"/>
                  <a:pt x="2550" y="2677"/>
                  <a:pt x="2731" y="2438"/>
                </a:cubicBezTo>
                <a:cubicBezTo>
                  <a:pt x="2933" y="2172"/>
                  <a:pt x="3040" y="1855"/>
                  <a:pt x="3040" y="1520"/>
                </a:cubicBezTo>
                <a:cubicBezTo>
                  <a:pt x="3040" y="682"/>
                  <a:pt x="2358" y="0"/>
                  <a:pt x="1520" y="0"/>
                </a:cubicBezTo>
                <a:close/>
                <a:moveTo>
                  <a:pt x="1520" y="969"/>
                </a:moveTo>
                <a:cubicBezTo>
                  <a:pt x="1824" y="969"/>
                  <a:pt x="2071" y="1216"/>
                  <a:pt x="2071" y="1520"/>
                </a:cubicBezTo>
                <a:cubicBezTo>
                  <a:pt x="2071" y="1824"/>
                  <a:pt x="1824" y="2071"/>
                  <a:pt x="1520" y="2071"/>
                </a:cubicBezTo>
                <a:cubicBezTo>
                  <a:pt x="1216" y="2071"/>
                  <a:pt x="969" y="1824"/>
                  <a:pt x="969" y="1520"/>
                </a:cubicBezTo>
                <a:cubicBezTo>
                  <a:pt x="969" y="1216"/>
                  <a:pt x="1216" y="969"/>
                  <a:pt x="1520" y="969"/>
                </a:cubicBezTo>
                <a:close/>
              </a:path>
            </a:pathLst>
          </a:custGeom>
          <a:gradFill>
            <a:gsLst>
              <a:gs pos="0">
                <a:srgbClr val="B3D4FE"/>
              </a:gs>
              <a:gs pos="100000">
                <a:srgbClr val="3368FF"/>
              </a:gs>
            </a:gsLst>
            <a:lin ang="16200000" scaled="0"/>
          </a:gra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13" name="文本框 112"/>
          <p:cNvSpPr txBox="1"/>
          <p:nvPr/>
        </p:nvSpPr>
        <p:spPr>
          <a:xfrm>
            <a:off x="686245" y="2811765"/>
            <a:ext cx="1913360" cy="346075"/>
          </a:xfrm>
          <a:prstGeom prst="rect">
            <a:avLst/>
          </a:prstGeom>
          <a:noFill/>
          <a:effec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品类销售攀升</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71" name="文本框 70"/>
          <p:cNvSpPr txBox="1"/>
          <p:nvPr/>
        </p:nvSpPr>
        <p:spPr>
          <a:xfrm>
            <a:off x="686435" y="1751330"/>
            <a:ext cx="2122805" cy="533399"/>
          </a:xfrm>
          <a:prstGeom prst="roundRect">
            <a:avLst>
              <a:gd name="adj" fmla="val 0"/>
            </a:avLst>
          </a:prstGeom>
          <a:solidFill>
            <a:srgbClr val="FFFFFF"/>
          </a:solidFill>
          <a:ln w="12700">
            <a:noFill/>
            <a:prstDash val="solid"/>
          </a:ln>
        </p:spPr>
        <p:txBody>
          <a:bodyPr wrap="square" lIns="0" rIns="0" tIns="0" bIns="0">
            <a:spAutoFit/>
          </a:body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深耕家居赛道，联动商家促销，实现销售额跨越式增长。</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2" name="文本框 71"/>
          <p:cNvSpPr txBox="1"/>
          <p:nvPr/>
        </p:nvSpPr>
        <p:spPr>
          <a:xfrm>
            <a:off x="3586490" y="2811765"/>
            <a:ext cx="1913360" cy="346075"/>
          </a:xfrm>
          <a:prstGeom prst="rect">
            <a:avLst/>
          </a:prstGeom>
          <a:noFill/>
          <a:effec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用户规模扩容</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6" name="文本框 115"/>
          <p:cNvSpPr txBox="1"/>
          <p:nvPr/>
        </p:nvSpPr>
        <p:spPr>
          <a:xfrm>
            <a:off x="3586480" y="1751330"/>
            <a:ext cx="2012950" cy="533399"/>
          </a:xfrm>
          <a:prstGeom prst="roundRect">
            <a:avLst>
              <a:gd name="adj" fmla="val 0"/>
            </a:avLst>
          </a:prstGeom>
          <a:solidFill>
            <a:srgbClr val="FFFFFF"/>
          </a:solidFill>
          <a:ln w="12700">
            <a:noFill/>
            <a:prstDash val="solid"/>
          </a:ln>
        </p:spPr>
        <p:txBody>
          <a:bodyPr wrap="square" lIns="0" rIns="0" tIns="0" bIns="0">
            <a:spAutoFit/>
          </a:bodyPr>
          <a:lstStyle/>
          <a:p>
            <a:pPr lvl="0" algn="just">
              <a:lnSpc>
                <a:spcPct val="120000"/>
              </a:lnSpc>
              <a:spcBef>
                <a:spcPts val="600"/>
              </a:spcBef>
              <a:spcAft>
                <a:spcPts val="0"/>
              </a:spcAft>
              <a:buClrTx/>
              <a:buSzTx/>
              <a:buFontTx/>
              <a:defRPr>
                <a:latin typeface="微软雅黑"/>
                <a:ea typeface="微软雅黑"/>
                <a:cs typeface="微软雅黑"/>
              </a:defRPr>
            </a:pPr>
            <a:r>
              <a:rPr lang="zh-CN" altLang="en-US" sz="1200" noProof="0" dirty="0">
                <a:ln>
                  <a:noFill/>
                </a:ln>
                <a:solidFill>
                  <a:srgbClr val="383838"/>
                </a:solidFill>
                <a:effectLst/>
                <a:uLnTx/>
                <a:uFillTx/>
                <a:latin typeface="微软雅黑"/>
                <a:ea typeface="微软雅黑"/>
                <a:cs typeface="微软雅黑"/>
                <a:sym typeface="微软雅黑"/>
              </a:rPr>
              <a:t>精准定位客群，优化获客链路，核心用户持续增长。</a:t>
            </a:r>
            <a:endParaRPr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117" name="文本框 116"/>
          <p:cNvSpPr txBox="1"/>
          <p:nvPr/>
        </p:nvSpPr>
        <p:spPr>
          <a:xfrm>
            <a:off x="6486735" y="2680986"/>
            <a:ext cx="1913360" cy="346075"/>
          </a:xfrm>
          <a:prstGeom prst="rect">
            <a:avLst/>
          </a:prstGeom>
          <a:noFill/>
          <a:effec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商家生态优化</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118" name="文本框 117"/>
          <p:cNvSpPr txBox="1"/>
          <p:nvPr/>
        </p:nvSpPr>
        <p:spPr>
          <a:xfrm>
            <a:off x="6486525" y="1515110"/>
            <a:ext cx="2092325" cy="533399"/>
          </a:xfrm>
          <a:prstGeom prst="roundRect">
            <a:avLst>
              <a:gd name="adj" fmla="val 0"/>
            </a:avLst>
          </a:prstGeom>
          <a:solidFill>
            <a:srgbClr val="FFFFFF"/>
          </a:solidFill>
          <a:ln w="12700">
            <a:noFill/>
            <a:prstDash val="solid"/>
          </a:ln>
        </p:spPr>
        <p:txBody>
          <a:bodyPr wrap="square" lIns="0" rIns="0" tIns="0" bIns="0">
            <a:spAutoFit/>
          </a:bodyPr>
          <a:lstStyle/>
          <a:p>
            <a:pPr lvl="0" algn="just">
              <a:lnSpc>
                <a:spcPct val="120000"/>
              </a:lnSpc>
              <a:spcBef>
                <a:spcPts val="600"/>
              </a:spcBef>
              <a:spcAft>
                <a:spcPts val="0"/>
              </a:spcAft>
              <a:buClrTx/>
              <a:buSzTx/>
              <a:buFontTx/>
              <a:defRPr>
                <a:latin typeface="微软雅黑"/>
                <a:ea typeface="微软雅黑"/>
                <a:cs typeface="微软雅黑"/>
              </a:defRPr>
            </a:pPr>
            <a:r>
              <a:rPr lang="zh-CN" altLang="en-US" sz="1200" noProof="0" dirty="0">
                <a:ln>
                  <a:noFill/>
                </a:ln>
                <a:solidFill>
                  <a:srgbClr val="383838"/>
                </a:solidFill>
                <a:effectLst/>
                <a:uLnTx/>
                <a:uFillTx/>
                <a:latin typeface="微软雅黑"/>
                <a:ea typeface="微软雅黑"/>
                <a:cs typeface="微软雅黑"/>
                <a:sym typeface="微软雅黑"/>
              </a:rPr>
              <a:t>扩容优质商家，赋能运营能力，商家存活率与效能双升。</a:t>
            </a:r>
            <a:endParaRPr lang="zh-CN" altLang="en-US" sz="1200" noProof="0" dirty="0">
              <a:ln>
                <a:noFill/>
              </a:ln>
              <a:solidFill>
                <a:srgbClr val="383838"/>
              </a:solidFill>
              <a:effectLst/>
              <a:uLnTx/>
              <a:uFillTx/>
              <a:latin typeface="微软雅黑"/>
              <a:ea typeface="微软雅黑"/>
              <a:cs typeface="微软雅黑"/>
              <a:sym typeface="微软雅黑"/>
            </a:endParaRPr>
          </a:p>
        </p:txBody>
      </p:sp>
      <p:sp>
        <p:nvSpPr>
          <p:cNvPr id="119" name="任意多边形: 形状 106"/>
          <p:cNvSpPr/>
          <p:nvPr/>
        </p:nvSpPr>
        <p:spPr>
          <a:xfrm>
            <a:off x="4404242" y="2361598"/>
            <a:ext cx="277857" cy="361438"/>
          </a:xfrm>
          <a:custGeom>
            <a:avLst/>
            <a:gdLst>
              <a:gd name="T0" fmla="*/ 1520 w 3040"/>
              <a:gd name="T1" fmla="*/ 0 h 3960"/>
              <a:gd name="T2" fmla="*/ 0 w 3040"/>
              <a:gd name="T3" fmla="*/ 1520 h 3960"/>
              <a:gd name="T4" fmla="*/ 309 w 3040"/>
              <a:gd name="T5" fmla="*/ 2438 h 3960"/>
              <a:gd name="T6" fmla="*/ 1024 w 3040"/>
              <a:gd name="T7" fmla="*/ 2957 h 3960"/>
              <a:gd name="T8" fmla="*/ 1391 w 3040"/>
              <a:gd name="T9" fmla="*/ 3872 h 3960"/>
              <a:gd name="T10" fmla="*/ 1520 w 3040"/>
              <a:gd name="T11" fmla="*/ 3960 h 3960"/>
              <a:gd name="T12" fmla="*/ 1649 w 3040"/>
              <a:gd name="T13" fmla="*/ 3872 h 3960"/>
              <a:gd name="T14" fmla="*/ 2016 w 3040"/>
              <a:gd name="T15" fmla="*/ 2957 h 3960"/>
              <a:gd name="T16" fmla="*/ 2731 w 3040"/>
              <a:gd name="T17" fmla="*/ 2438 h 3960"/>
              <a:gd name="T18" fmla="*/ 3040 w 3040"/>
              <a:gd name="T19" fmla="*/ 1520 h 3960"/>
              <a:gd name="T20" fmla="*/ 1520 w 3040"/>
              <a:gd name="T21" fmla="*/ 0 h 3960"/>
              <a:gd name="T22" fmla="*/ 1520 w 3040"/>
              <a:gd name="T23" fmla="*/ 969 h 3960"/>
              <a:gd name="T24" fmla="*/ 2071 w 3040"/>
              <a:gd name="T25" fmla="*/ 1520 h 3960"/>
              <a:gd name="T26" fmla="*/ 1520 w 3040"/>
              <a:gd name="T27" fmla="*/ 2071 h 3960"/>
              <a:gd name="T28" fmla="*/ 969 w 3040"/>
              <a:gd name="T29" fmla="*/ 1520 h 3960"/>
              <a:gd name="T30" fmla="*/ 1520 w 3040"/>
              <a:gd name="T31" fmla="*/ 969 h 3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40" h="3960">
                <a:moveTo>
                  <a:pt x="1520" y="0"/>
                </a:moveTo>
                <a:cubicBezTo>
                  <a:pt x="682" y="0"/>
                  <a:pt x="0" y="682"/>
                  <a:pt x="0" y="1520"/>
                </a:cubicBezTo>
                <a:cubicBezTo>
                  <a:pt x="0" y="1855"/>
                  <a:pt x="107" y="2172"/>
                  <a:pt x="309" y="2438"/>
                </a:cubicBezTo>
                <a:cubicBezTo>
                  <a:pt x="490" y="2677"/>
                  <a:pt x="742" y="2859"/>
                  <a:pt x="1024" y="2957"/>
                </a:cubicBezTo>
                <a:lnTo>
                  <a:pt x="1391" y="3872"/>
                </a:lnTo>
                <a:cubicBezTo>
                  <a:pt x="1412" y="3925"/>
                  <a:pt x="1463" y="3960"/>
                  <a:pt x="1520" y="3960"/>
                </a:cubicBezTo>
                <a:cubicBezTo>
                  <a:pt x="1577" y="3960"/>
                  <a:pt x="1628" y="3925"/>
                  <a:pt x="1649" y="3872"/>
                </a:cubicBezTo>
                <a:lnTo>
                  <a:pt x="2016" y="2957"/>
                </a:lnTo>
                <a:cubicBezTo>
                  <a:pt x="2298" y="2859"/>
                  <a:pt x="2550" y="2677"/>
                  <a:pt x="2731" y="2438"/>
                </a:cubicBezTo>
                <a:cubicBezTo>
                  <a:pt x="2933" y="2172"/>
                  <a:pt x="3040" y="1855"/>
                  <a:pt x="3040" y="1520"/>
                </a:cubicBezTo>
                <a:cubicBezTo>
                  <a:pt x="3040" y="682"/>
                  <a:pt x="2358" y="0"/>
                  <a:pt x="1520" y="0"/>
                </a:cubicBezTo>
                <a:close/>
                <a:moveTo>
                  <a:pt x="1520" y="969"/>
                </a:moveTo>
                <a:cubicBezTo>
                  <a:pt x="1824" y="969"/>
                  <a:pt x="2071" y="1216"/>
                  <a:pt x="2071" y="1520"/>
                </a:cubicBezTo>
                <a:cubicBezTo>
                  <a:pt x="2071" y="1824"/>
                  <a:pt x="1824" y="2071"/>
                  <a:pt x="1520" y="2071"/>
                </a:cubicBezTo>
                <a:cubicBezTo>
                  <a:pt x="1216" y="2071"/>
                  <a:pt x="969" y="1824"/>
                  <a:pt x="969" y="1520"/>
                </a:cubicBezTo>
                <a:cubicBezTo>
                  <a:pt x="969" y="1216"/>
                  <a:pt x="1216" y="969"/>
                  <a:pt x="1520" y="969"/>
                </a:cubicBezTo>
                <a:close/>
              </a:path>
            </a:pathLst>
          </a:custGeom>
          <a:gradFill>
            <a:gsLst>
              <a:gs pos="0">
                <a:srgbClr val="B3D4FE"/>
              </a:gs>
              <a:gs pos="100000">
                <a:srgbClr val="3368FF"/>
              </a:gs>
            </a:gsLst>
            <a:lin ang="162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noProof="0" dirty="0">
              <a:ln>
                <a:noFill/>
              </a:ln>
              <a:solidFill>
                <a:prstClr val="white"/>
              </a:solidFill>
              <a:effectLst/>
              <a:uLnTx/>
              <a:uFillTx/>
              <a:latin typeface="微软雅黑"/>
              <a:ea typeface="微软雅黑"/>
              <a:cs typeface="微软雅黑"/>
              <a:sym typeface="微软雅黑"/>
            </a:endParaRPr>
          </a:p>
        </p:txBody>
      </p:sp>
      <p:sp>
        <p:nvSpPr>
          <p:cNvPr id="120" name="任意多边形: 形状 106"/>
          <p:cNvSpPr/>
          <p:nvPr/>
        </p:nvSpPr>
        <p:spPr>
          <a:xfrm>
            <a:off x="7308095" y="2169445"/>
            <a:ext cx="277857" cy="361438"/>
          </a:xfrm>
          <a:custGeom>
            <a:avLst/>
            <a:gdLst>
              <a:gd name="T0" fmla="*/ 1520 w 3040"/>
              <a:gd name="T1" fmla="*/ 0 h 3960"/>
              <a:gd name="T2" fmla="*/ 0 w 3040"/>
              <a:gd name="T3" fmla="*/ 1520 h 3960"/>
              <a:gd name="T4" fmla="*/ 309 w 3040"/>
              <a:gd name="T5" fmla="*/ 2438 h 3960"/>
              <a:gd name="T6" fmla="*/ 1024 w 3040"/>
              <a:gd name="T7" fmla="*/ 2957 h 3960"/>
              <a:gd name="T8" fmla="*/ 1391 w 3040"/>
              <a:gd name="T9" fmla="*/ 3872 h 3960"/>
              <a:gd name="T10" fmla="*/ 1520 w 3040"/>
              <a:gd name="T11" fmla="*/ 3960 h 3960"/>
              <a:gd name="T12" fmla="*/ 1649 w 3040"/>
              <a:gd name="T13" fmla="*/ 3872 h 3960"/>
              <a:gd name="T14" fmla="*/ 2016 w 3040"/>
              <a:gd name="T15" fmla="*/ 2957 h 3960"/>
              <a:gd name="T16" fmla="*/ 2731 w 3040"/>
              <a:gd name="T17" fmla="*/ 2438 h 3960"/>
              <a:gd name="T18" fmla="*/ 3040 w 3040"/>
              <a:gd name="T19" fmla="*/ 1520 h 3960"/>
              <a:gd name="T20" fmla="*/ 1520 w 3040"/>
              <a:gd name="T21" fmla="*/ 0 h 3960"/>
              <a:gd name="T22" fmla="*/ 1520 w 3040"/>
              <a:gd name="T23" fmla="*/ 969 h 3960"/>
              <a:gd name="T24" fmla="*/ 2071 w 3040"/>
              <a:gd name="T25" fmla="*/ 1520 h 3960"/>
              <a:gd name="T26" fmla="*/ 1520 w 3040"/>
              <a:gd name="T27" fmla="*/ 2071 h 3960"/>
              <a:gd name="T28" fmla="*/ 969 w 3040"/>
              <a:gd name="T29" fmla="*/ 1520 h 3960"/>
              <a:gd name="T30" fmla="*/ 1520 w 3040"/>
              <a:gd name="T31" fmla="*/ 969 h 3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40" h="3960">
                <a:moveTo>
                  <a:pt x="1520" y="0"/>
                </a:moveTo>
                <a:cubicBezTo>
                  <a:pt x="682" y="0"/>
                  <a:pt x="0" y="682"/>
                  <a:pt x="0" y="1520"/>
                </a:cubicBezTo>
                <a:cubicBezTo>
                  <a:pt x="0" y="1855"/>
                  <a:pt x="107" y="2172"/>
                  <a:pt x="309" y="2438"/>
                </a:cubicBezTo>
                <a:cubicBezTo>
                  <a:pt x="490" y="2677"/>
                  <a:pt x="742" y="2859"/>
                  <a:pt x="1024" y="2957"/>
                </a:cubicBezTo>
                <a:lnTo>
                  <a:pt x="1391" y="3872"/>
                </a:lnTo>
                <a:cubicBezTo>
                  <a:pt x="1412" y="3925"/>
                  <a:pt x="1463" y="3960"/>
                  <a:pt x="1520" y="3960"/>
                </a:cubicBezTo>
                <a:cubicBezTo>
                  <a:pt x="1577" y="3960"/>
                  <a:pt x="1628" y="3925"/>
                  <a:pt x="1649" y="3872"/>
                </a:cubicBezTo>
                <a:lnTo>
                  <a:pt x="2016" y="2957"/>
                </a:lnTo>
                <a:cubicBezTo>
                  <a:pt x="2298" y="2859"/>
                  <a:pt x="2550" y="2677"/>
                  <a:pt x="2731" y="2438"/>
                </a:cubicBezTo>
                <a:cubicBezTo>
                  <a:pt x="2933" y="2172"/>
                  <a:pt x="3040" y="1855"/>
                  <a:pt x="3040" y="1520"/>
                </a:cubicBezTo>
                <a:cubicBezTo>
                  <a:pt x="3040" y="682"/>
                  <a:pt x="2358" y="0"/>
                  <a:pt x="1520" y="0"/>
                </a:cubicBezTo>
                <a:close/>
                <a:moveTo>
                  <a:pt x="1520" y="969"/>
                </a:moveTo>
                <a:cubicBezTo>
                  <a:pt x="1824" y="969"/>
                  <a:pt x="2071" y="1216"/>
                  <a:pt x="2071" y="1520"/>
                </a:cubicBezTo>
                <a:cubicBezTo>
                  <a:pt x="2071" y="1824"/>
                  <a:pt x="1824" y="2071"/>
                  <a:pt x="1520" y="2071"/>
                </a:cubicBezTo>
                <a:cubicBezTo>
                  <a:pt x="1216" y="2071"/>
                  <a:pt x="969" y="1824"/>
                  <a:pt x="969" y="1520"/>
                </a:cubicBezTo>
                <a:cubicBezTo>
                  <a:pt x="969" y="1216"/>
                  <a:pt x="1216" y="969"/>
                  <a:pt x="1520" y="969"/>
                </a:cubicBezTo>
                <a:close/>
              </a:path>
            </a:pathLst>
          </a:custGeom>
          <a:gradFill>
            <a:gsLst>
              <a:gs pos="0">
                <a:srgbClr val="B3D4FE"/>
              </a:gs>
              <a:gs pos="100000">
                <a:srgbClr val="3368FF"/>
              </a:gs>
            </a:gsLst>
            <a:lin ang="162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noProof="0" dirty="0">
              <a:ln>
                <a:noFill/>
              </a:ln>
              <a:solidFill>
                <a:prstClr val="white"/>
              </a:solidFill>
              <a:effectLst/>
              <a:uLnTx/>
              <a:uFillTx/>
              <a:latin typeface="微软雅黑"/>
              <a:ea typeface="微软雅黑"/>
              <a:cs typeface="微软雅黑"/>
              <a:sym typeface="微软雅黑"/>
            </a:endParaRPr>
          </a:p>
        </p:txBody>
      </p:sp>
      <p:sp>
        <p:nvSpPr>
          <p:cNvPr id="121" name="任意多边形: 形状 106"/>
          <p:cNvSpPr/>
          <p:nvPr/>
        </p:nvSpPr>
        <p:spPr>
          <a:xfrm>
            <a:off x="10208339" y="1629650"/>
            <a:ext cx="277857" cy="361438"/>
          </a:xfrm>
          <a:custGeom>
            <a:avLst/>
            <a:gdLst>
              <a:gd name="T0" fmla="*/ 1520 w 3040"/>
              <a:gd name="T1" fmla="*/ 0 h 3960"/>
              <a:gd name="T2" fmla="*/ 0 w 3040"/>
              <a:gd name="T3" fmla="*/ 1520 h 3960"/>
              <a:gd name="T4" fmla="*/ 309 w 3040"/>
              <a:gd name="T5" fmla="*/ 2438 h 3960"/>
              <a:gd name="T6" fmla="*/ 1024 w 3040"/>
              <a:gd name="T7" fmla="*/ 2957 h 3960"/>
              <a:gd name="T8" fmla="*/ 1391 w 3040"/>
              <a:gd name="T9" fmla="*/ 3872 h 3960"/>
              <a:gd name="T10" fmla="*/ 1520 w 3040"/>
              <a:gd name="T11" fmla="*/ 3960 h 3960"/>
              <a:gd name="T12" fmla="*/ 1649 w 3040"/>
              <a:gd name="T13" fmla="*/ 3872 h 3960"/>
              <a:gd name="T14" fmla="*/ 2016 w 3040"/>
              <a:gd name="T15" fmla="*/ 2957 h 3960"/>
              <a:gd name="T16" fmla="*/ 2731 w 3040"/>
              <a:gd name="T17" fmla="*/ 2438 h 3960"/>
              <a:gd name="T18" fmla="*/ 3040 w 3040"/>
              <a:gd name="T19" fmla="*/ 1520 h 3960"/>
              <a:gd name="T20" fmla="*/ 1520 w 3040"/>
              <a:gd name="T21" fmla="*/ 0 h 3960"/>
              <a:gd name="T22" fmla="*/ 1520 w 3040"/>
              <a:gd name="T23" fmla="*/ 969 h 3960"/>
              <a:gd name="T24" fmla="*/ 2071 w 3040"/>
              <a:gd name="T25" fmla="*/ 1520 h 3960"/>
              <a:gd name="T26" fmla="*/ 1520 w 3040"/>
              <a:gd name="T27" fmla="*/ 2071 h 3960"/>
              <a:gd name="T28" fmla="*/ 969 w 3040"/>
              <a:gd name="T29" fmla="*/ 1520 h 3960"/>
              <a:gd name="T30" fmla="*/ 1520 w 3040"/>
              <a:gd name="T31" fmla="*/ 969 h 3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40" h="3960">
                <a:moveTo>
                  <a:pt x="1520" y="0"/>
                </a:moveTo>
                <a:cubicBezTo>
                  <a:pt x="682" y="0"/>
                  <a:pt x="0" y="682"/>
                  <a:pt x="0" y="1520"/>
                </a:cubicBezTo>
                <a:cubicBezTo>
                  <a:pt x="0" y="1855"/>
                  <a:pt x="107" y="2172"/>
                  <a:pt x="309" y="2438"/>
                </a:cubicBezTo>
                <a:cubicBezTo>
                  <a:pt x="490" y="2677"/>
                  <a:pt x="742" y="2859"/>
                  <a:pt x="1024" y="2957"/>
                </a:cubicBezTo>
                <a:lnTo>
                  <a:pt x="1391" y="3872"/>
                </a:lnTo>
                <a:cubicBezTo>
                  <a:pt x="1412" y="3925"/>
                  <a:pt x="1463" y="3960"/>
                  <a:pt x="1520" y="3960"/>
                </a:cubicBezTo>
                <a:cubicBezTo>
                  <a:pt x="1577" y="3960"/>
                  <a:pt x="1628" y="3925"/>
                  <a:pt x="1649" y="3872"/>
                </a:cubicBezTo>
                <a:lnTo>
                  <a:pt x="2016" y="2957"/>
                </a:lnTo>
                <a:cubicBezTo>
                  <a:pt x="2298" y="2859"/>
                  <a:pt x="2550" y="2677"/>
                  <a:pt x="2731" y="2438"/>
                </a:cubicBezTo>
                <a:cubicBezTo>
                  <a:pt x="2933" y="2172"/>
                  <a:pt x="3040" y="1855"/>
                  <a:pt x="3040" y="1520"/>
                </a:cubicBezTo>
                <a:cubicBezTo>
                  <a:pt x="3040" y="682"/>
                  <a:pt x="2358" y="0"/>
                  <a:pt x="1520" y="0"/>
                </a:cubicBezTo>
                <a:close/>
                <a:moveTo>
                  <a:pt x="1520" y="969"/>
                </a:moveTo>
                <a:cubicBezTo>
                  <a:pt x="1824" y="969"/>
                  <a:pt x="2071" y="1216"/>
                  <a:pt x="2071" y="1520"/>
                </a:cubicBezTo>
                <a:cubicBezTo>
                  <a:pt x="2071" y="1824"/>
                  <a:pt x="1824" y="2071"/>
                  <a:pt x="1520" y="2071"/>
                </a:cubicBezTo>
                <a:cubicBezTo>
                  <a:pt x="1216" y="2071"/>
                  <a:pt x="969" y="1824"/>
                  <a:pt x="969" y="1520"/>
                </a:cubicBezTo>
                <a:cubicBezTo>
                  <a:pt x="969" y="1216"/>
                  <a:pt x="1216" y="969"/>
                  <a:pt x="1520" y="969"/>
                </a:cubicBezTo>
                <a:close/>
              </a:path>
            </a:pathLst>
          </a:custGeom>
          <a:gradFill>
            <a:gsLst>
              <a:gs pos="0">
                <a:srgbClr val="B3D4FE"/>
              </a:gs>
              <a:gs pos="100000">
                <a:srgbClr val="3368FF"/>
              </a:gs>
            </a:gsLst>
            <a:lin ang="16200000" scaled="0"/>
          </a:gra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noProof="0" dirty="0">
              <a:ln>
                <a:noFill/>
              </a:ln>
              <a:solidFill>
                <a:prstClr val="white"/>
              </a:solidFill>
              <a:effectLst/>
              <a:uLnTx/>
              <a:uFillTx/>
              <a:latin typeface="微软雅黑"/>
              <a:ea typeface="微软雅黑"/>
              <a:cs typeface="微软雅黑"/>
              <a:sym typeface="微软雅黑"/>
            </a:endParaRPr>
          </a:p>
        </p:txBody>
      </p:sp>
      <p:sp>
        <p:nvSpPr>
          <p:cNvPr id="122" name="文本框 121"/>
          <p:cNvSpPr txBox="1"/>
          <p:nvPr/>
        </p:nvSpPr>
        <p:spPr>
          <a:xfrm>
            <a:off x="9386978" y="2339138"/>
            <a:ext cx="1913360" cy="346075"/>
          </a:xfrm>
          <a:prstGeom prst="rect">
            <a:avLst/>
          </a:prstGeom>
          <a:noFill/>
          <a:effectLst/>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r>
              <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rPr>
              <a:t>转化效率提升</a:t>
            </a:r>
            <a:endParaRPr kumimoji="0" lang="zh-CN" altLang="en-US" sz="1600" b="1"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3" name="文本框 122"/>
          <p:cNvSpPr txBox="1"/>
          <p:nvPr/>
        </p:nvSpPr>
        <p:spPr>
          <a:xfrm>
            <a:off x="9057640" y="1039495"/>
            <a:ext cx="2036445" cy="533399"/>
          </a:xfrm>
          <a:prstGeom prst="roundRect">
            <a:avLst>
              <a:gd name="adj" fmla="val 0"/>
            </a:avLst>
          </a:prstGeom>
          <a:noFill/>
          <a:ln w="12700">
            <a:noFill/>
            <a:prstDash val="solid"/>
          </a:ln>
        </p:spPr>
        <p:txBody>
          <a:bodyPr wrap="square" lIns="0" rIns="0" tIns="0" bIns="0">
            <a:spAutoFit/>
          </a:bodyPr>
          <a:lstStyle/>
          <a:p>
            <a:pPr lvl="0" algn="just">
              <a:lnSpc>
                <a:spcPct val="120000"/>
              </a:lnSpc>
              <a:spcBef>
                <a:spcPts val="600"/>
              </a:spcBef>
              <a:spcAft>
                <a:spcPts val="0"/>
              </a:spcAft>
              <a:buClrTx/>
              <a:buSzTx/>
              <a:buFontTx/>
              <a:defRPr>
                <a:solidFill>
                  <a:srgbClr val="383838"/>
                </a:solidFill>
                <a:latin typeface="微软雅黑"/>
                <a:ea typeface="微软雅黑"/>
                <a:cs typeface="微软雅黑"/>
              </a:defRPr>
            </a:pPr>
            <a:r>
              <a:rPr lang="zh-CN" altLang="en-US" sz="1200" noProof="0" dirty="0">
                <a:ln>
                  <a:noFill/>
                </a:ln>
                <a:solidFill>
                  <a:srgbClr val="383838"/>
                </a:solidFill>
                <a:effectLst/>
                <a:uLnTx/>
                <a:uFillTx/>
                <a:latin typeface="微软雅黑"/>
                <a:ea typeface="微软雅黑"/>
                <a:cs typeface="微软雅黑"/>
                <a:sym typeface="微软雅黑"/>
              </a:rPr>
              <a:t>优化页面体验，精准匹配供需，全链路转化效率提升。</a:t>
            </a:r>
            <a:endParaRPr lang="zh-CN" altLang="en-US" sz="1200" noProof="0" dirty="0">
              <a:ln>
                <a:noFill/>
              </a:ln>
              <a:solidFill>
                <a:srgbClr val="383838"/>
              </a:solidFill>
              <a:effectLst/>
              <a:uLnTx/>
              <a:uFillTx/>
              <a:latin typeface="微软雅黑"/>
              <a:ea typeface="微软雅黑"/>
              <a:cs typeface="微软雅黑"/>
              <a:sym typeface="微软雅黑"/>
            </a:endParaRPr>
          </a:p>
        </p:txBody>
      </p:sp>
      <p:grpSp>
        <p:nvGrpSpPr>
          <p:cNvPr id="2" name="组合 1"/>
          <p:cNvGrpSpPr/>
          <p:nvPr/>
        </p:nvGrpSpPr>
        <p:grpSpPr>
          <a:xfrm>
            <a:off x="439420" y="4003040"/>
            <a:ext cx="2408555" cy="1042035"/>
            <a:chOff x="692" y="6304"/>
            <a:chExt cx="3793" cy="1641"/>
          </a:xfrm>
        </p:grpSpPr>
        <p:sp>
          <p:nvSpPr>
            <p:cNvPr id="124" name="文本框 123"/>
            <p:cNvSpPr txBox="1"/>
            <p:nvPr/>
          </p:nvSpPr>
          <p:spPr>
            <a:xfrm>
              <a:off x="965" y="6777"/>
              <a:ext cx="3521" cy="1169"/>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全年品类销售额达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8.2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亿元，较去年增长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45%</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，超额完成年度目标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18%</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7" name="文本框 126"/>
            <p:cNvSpPr txBox="1"/>
            <p:nvPr/>
          </p:nvSpPr>
          <p:spPr>
            <a:xfrm>
              <a:off x="965" y="6304"/>
              <a:ext cx="2217"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整体营收突破</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40" name="组合 139"/>
            <p:cNvGrpSpPr/>
            <p:nvPr/>
          </p:nvGrpSpPr>
          <p:grpSpPr>
            <a:xfrm>
              <a:off x="692" y="6418"/>
              <a:ext cx="255" cy="255"/>
              <a:chOff x="-292825" y="4083833"/>
              <a:chExt cx="162032" cy="162032"/>
            </a:xfrm>
            <a:solidFill>
              <a:srgbClr val="FFFFFF"/>
            </a:solidFill>
            <a:effectLst/>
          </p:grpSpPr>
          <p:sp>
            <p:nvSpPr>
              <p:cNvPr id="141" name="流程图: 接点 140"/>
              <p:cNvSpPr/>
              <p:nvPr/>
            </p:nvSpPr>
            <p:spPr>
              <a:xfrm flipV="1">
                <a:off x="-270234" y="4106424"/>
                <a:ext cx="116851" cy="116851"/>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42" name="流程图: 接点 141"/>
              <p:cNvSpPr/>
              <p:nvPr/>
            </p:nvSpPr>
            <p:spPr>
              <a:xfrm flipV="1">
                <a:off x="-292825" y="4083833"/>
                <a:ext cx="162032" cy="162032"/>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grpSp>
        <p:nvGrpSpPr>
          <p:cNvPr id="7" name="组合 6"/>
          <p:cNvGrpSpPr/>
          <p:nvPr/>
        </p:nvGrpSpPr>
        <p:grpSpPr>
          <a:xfrm>
            <a:off x="439420" y="5196840"/>
            <a:ext cx="2408555" cy="1026795"/>
            <a:chOff x="692" y="8184"/>
            <a:chExt cx="3793" cy="1617"/>
          </a:xfrm>
        </p:grpSpPr>
        <p:sp>
          <p:nvSpPr>
            <p:cNvPr id="125" name="文本框 124"/>
            <p:cNvSpPr txBox="1"/>
            <p:nvPr/>
          </p:nvSpPr>
          <p:spPr>
            <a:xfrm>
              <a:off x="965" y="8633"/>
              <a:ext cx="3521" cy="1169"/>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双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11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单场销售额破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2.3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亿元，占平台家居类总销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32%</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，同比增长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52%</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26" name="文本框 125"/>
            <p:cNvSpPr txBox="1"/>
            <p:nvPr/>
          </p:nvSpPr>
          <p:spPr>
            <a:xfrm>
              <a:off x="965" y="8184"/>
              <a:ext cx="3368"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大促表现亮眼</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43" name="组合 142"/>
            <p:cNvGrpSpPr/>
            <p:nvPr/>
          </p:nvGrpSpPr>
          <p:grpSpPr>
            <a:xfrm>
              <a:off x="692" y="8323"/>
              <a:ext cx="255" cy="255"/>
              <a:chOff x="-292825" y="4083833"/>
              <a:chExt cx="162032" cy="162032"/>
            </a:xfrm>
            <a:solidFill>
              <a:srgbClr val="FFFFFF"/>
            </a:solidFill>
            <a:effectLst/>
          </p:grpSpPr>
          <p:sp>
            <p:nvSpPr>
              <p:cNvPr id="144" name="流程图: 接点 143"/>
              <p:cNvSpPr/>
              <p:nvPr/>
            </p:nvSpPr>
            <p:spPr>
              <a:xfrm flipV="1">
                <a:off x="-270234" y="4106424"/>
                <a:ext cx="116851" cy="116851"/>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45" name="流程图: 接点 144"/>
              <p:cNvSpPr/>
              <p:nvPr/>
            </p:nvSpPr>
            <p:spPr>
              <a:xfrm flipV="1">
                <a:off x="-292825" y="4083833"/>
                <a:ext cx="162032" cy="162032"/>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grpSp>
        <p:nvGrpSpPr>
          <p:cNvPr id="4" name="组合 3"/>
          <p:cNvGrpSpPr/>
          <p:nvPr/>
        </p:nvGrpSpPr>
        <p:grpSpPr>
          <a:xfrm>
            <a:off x="3342640" y="4003040"/>
            <a:ext cx="2408555" cy="1042035"/>
            <a:chOff x="5263" y="6124"/>
            <a:chExt cx="3793" cy="1641"/>
          </a:xfrm>
        </p:grpSpPr>
        <p:sp>
          <p:nvSpPr>
            <p:cNvPr id="128" name="文本框 127"/>
            <p:cNvSpPr txBox="1"/>
            <p:nvPr/>
          </p:nvSpPr>
          <p:spPr>
            <a:xfrm>
              <a:off x="5536" y="6597"/>
              <a:ext cx="3521" cy="1169"/>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年度累计购买用户达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128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万，新增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65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万，增长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103%</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，其中新客转化率提升至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15%</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1" name="文本框 130"/>
            <p:cNvSpPr txBox="1"/>
            <p:nvPr/>
          </p:nvSpPr>
          <p:spPr>
            <a:xfrm>
              <a:off x="5536" y="6124"/>
              <a:ext cx="2217"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购买用户增长</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46" name="组合 145"/>
            <p:cNvGrpSpPr/>
            <p:nvPr/>
          </p:nvGrpSpPr>
          <p:grpSpPr>
            <a:xfrm>
              <a:off x="5263" y="6238"/>
              <a:ext cx="255" cy="255"/>
              <a:chOff x="-292825" y="4083833"/>
              <a:chExt cx="162032" cy="162032"/>
            </a:xfrm>
            <a:solidFill>
              <a:srgbClr val="FFFFFF"/>
            </a:solidFill>
            <a:effectLst/>
          </p:grpSpPr>
          <p:sp>
            <p:nvSpPr>
              <p:cNvPr id="147" name="流程图: 接点 146"/>
              <p:cNvSpPr/>
              <p:nvPr/>
            </p:nvSpPr>
            <p:spPr>
              <a:xfrm flipV="1">
                <a:off x="-270234" y="4106424"/>
                <a:ext cx="116851" cy="116851"/>
              </a:xfrm>
              <a:prstGeom prst="flowChartConnector">
                <a:avLst/>
              </a:prstGeom>
              <a:grpFill/>
              <a:ln>
                <a:solidFill>
                  <a:srgbClr val="DCDCDC"/>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48" name="流程图: 接点 147"/>
              <p:cNvSpPr/>
              <p:nvPr/>
            </p:nvSpPr>
            <p:spPr>
              <a:xfrm flipV="1">
                <a:off x="-292825" y="4083833"/>
                <a:ext cx="162032" cy="162032"/>
              </a:xfrm>
              <a:prstGeom prst="flowChartConnector">
                <a:avLst/>
              </a:prstGeom>
              <a:grp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grpSp>
        <p:nvGrpSpPr>
          <p:cNvPr id="6" name="组合 5"/>
          <p:cNvGrpSpPr/>
          <p:nvPr/>
        </p:nvGrpSpPr>
        <p:grpSpPr>
          <a:xfrm>
            <a:off x="3342005" y="5196840"/>
            <a:ext cx="2408555" cy="1030605"/>
            <a:chOff x="5263" y="8445"/>
            <a:chExt cx="3793" cy="1623"/>
          </a:xfrm>
        </p:grpSpPr>
        <p:sp>
          <p:nvSpPr>
            <p:cNvPr id="129" name="文本框 128"/>
            <p:cNvSpPr txBox="1"/>
            <p:nvPr/>
          </p:nvSpPr>
          <p:spPr>
            <a:xfrm>
              <a:off x="5536" y="8894"/>
              <a:ext cx="3521" cy="1175"/>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品类月均活跃用户（</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MAU</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）达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320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万，较去年增长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68%</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，用户停留时长增加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22%</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0" name="文本框 129"/>
            <p:cNvSpPr txBox="1"/>
            <p:nvPr/>
          </p:nvSpPr>
          <p:spPr>
            <a:xfrm>
              <a:off x="5536" y="8445"/>
              <a:ext cx="3368"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用户活跃度提升</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49" name="组合 148"/>
            <p:cNvGrpSpPr/>
            <p:nvPr/>
          </p:nvGrpSpPr>
          <p:grpSpPr>
            <a:xfrm>
              <a:off x="5263" y="8584"/>
              <a:ext cx="255" cy="255"/>
              <a:chOff x="-292825" y="4083833"/>
              <a:chExt cx="162032" cy="162032"/>
            </a:xfrm>
            <a:solidFill>
              <a:srgbClr val="FFFFFF"/>
            </a:solidFill>
            <a:effectLst/>
          </p:grpSpPr>
          <p:sp>
            <p:nvSpPr>
              <p:cNvPr id="150" name="流程图: 接点 149"/>
              <p:cNvSpPr/>
              <p:nvPr/>
            </p:nvSpPr>
            <p:spPr>
              <a:xfrm flipV="1">
                <a:off x="-270234" y="4106424"/>
                <a:ext cx="116851" cy="116851"/>
              </a:xfrm>
              <a:prstGeom prst="flowChartConnector">
                <a:avLst/>
              </a:prstGeom>
              <a:grpFill/>
              <a:ln>
                <a:solidFill>
                  <a:srgbClr val="3368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51" name="流程图: 接点 150"/>
              <p:cNvSpPr/>
              <p:nvPr/>
            </p:nvSpPr>
            <p:spPr>
              <a:xfrm flipV="1">
                <a:off x="-292825" y="4083833"/>
                <a:ext cx="162032" cy="162032"/>
              </a:xfrm>
              <a:prstGeom prst="flowChartConnector">
                <a:avLst/>
              </a:prstGeom>
              <a:grp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grpSp>
        <p:nvGrpSpPr>
          <p:cNvPr id="9" name="组合 8"/>
          <p:cNvGrpSpPr/>
          <p:nvPr/>
        </p:nvGrpSpPr>
        <p:grpSpPr>
          <a:xfrm>
            <a:off x="6244590" y="4003040"/>
            <a:ext cx="2495550" cy="1045845"/>
            <a:chOff x="9832" y="6124"/>
            <a:chExt cx="3930" cy="1647"/>
          </a:xfrm>
        </p:grpSpPr>
        <p:sp>
          <p:nvSpPr>
            <p:cNvPr id="132" name="文本框 131"/>
            <p:cNvSpPr txBox="1"/>
            <p:nvPr/>
          </p:nvSpPr>
          <p:spPr>
            <a:xfrm>
              <a:off x="10104" y="6597"/>
              <a:ext cx="3659" cy="1175"/>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新增优质商家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280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家，品类商家总数达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850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家，增长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49%</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，头部商家占比提升至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25%</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73" name="文本框 72"/>
            <p:cNvSpPr txBox="1"/>
            <p:nvPr/>
          </p:nvSpPr>
          <p:spPr>
            <a:xfrm>
              <a:off x="10104" y="6124"/>
              <a:ext cx="2217"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商家数量增长</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52" name="组合 151"/>
            <p:cNvGrpSpPr/>
            <p:nvPr/>
          </p:nvGrpSpPr>
          <p:grpSpPr>
            <a:xfrm>
              <a:off x="9832" y="6238"/>
              <a:ext cx="255" cy="255"/>
              <a:chOff x="-292825" y="4083833"/>
              <a:chExt cx="162032" cy="162032"/>
            </a:xfrm>
            <a:solidFill>
              <a:srgbClr val="FFFFFF"/>
            </a:solidFill>
            <a:effectLst/>
          </p:grpSpPr>
          <p:sp>
            <p:nvSpPr>
              <p:cNvPr id="153" name="流程图: 接点 152"/>
              <p:cNvSpPr/>
              <p:nvPr/>
            </p:nvSpPr>
            <p:spPr>
              <a:xfrm flipV="1">
                <a:off x="-270234" y="4106424"/>
                <a:ext cx="116851" cy="116851"/>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54" name="流程图: 接点 153"/>
              <p:cNvSpPr/>
              <p:nvPr/>
            </p:nvSpPr>
            <p:spPr>
              <a:xfrm flipV="1">
                <a:off x="-292825" y="4083833"/>
                <a:ext cx="162032" cy="162032"/>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grpSp>
        <p:nvGrpSpPr>
          <p:cNvPr id="11" name="组合 10"/>
          <p:cNvGrpSpPr/>
          <p:nvPr/>
        </p:nvGrpSpPr>
        <p:grpSpPr>
          <a:xfrm>
            <a:off x="6243320" y="5196840"/>
            <a:ext cx="2495550" cy="1026795"/>
            <a:chOff x="9832" y="8445"/>
            <a:chExt cx="3930" cy="1617"/>
          </a:xfrm>
        </p:grpSpPr>
        <p:sp>
          <p:nvSpPr>
            <p:cNvPr id="133" name="文本框 132"/>
            <p:cNvSpPr txBox="1"/>
            <p:nvPr/>
          </p:nvSpPr>
          <p:spPr>
            <a:xfrm>
              <a:off x="10104" y="8894"/>
              <a:ext cx="3659" cy="1169"/>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商家平均动销率从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42%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提升至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68%</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62%</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，中小商家月均营收增长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58%</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4" name="文本框 133"/>
            <p:cNvSpPr txBox="1"/>
            <p:nvPr/>
          </p:nvSpPr>
          <p:spPr>
            <a:xfrm>
              <a:off x="10104" y="8445"/>
              <a:ext cx="3368"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商家效能提升</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55" name="组合 154"/>
            <p:cNvGrpSpPr/>
            <p:nvPr/>
          </p:nvGrpSpPr>
          <p:grpSpPr>
            <a:xfrm>
              <a:off x="9832" y="8584"/>
              <a:ext cx="255" cy="255"/>
              <a:chOff x="-292825" y="4083833"/>
              <a:chExt cx="162032" cy="162032"/>
            </a:xfrm>
            <a:solidFill>
              <a:srgbClr val="FFFFFF"/>
            </a:solidFill>
            <a:effectLst/>
          </p:grpSpPr>
          <p:sp>
            <p:nvSpPr>
              <p:cNvPr id="156" name="流程图: 接点 155"/>
              <p:cNvSpPr/>
              <p:nvPr/>
            </p:nvSpPr>
            <p:spPr>
              <a:xfrm flipV="1">
                <a:off x="-270234" y="4106424"/>
                <a:ext cx="116851" cy="116851"/>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57" name="流程图: 接点 156"/>
              <p:cNvSpPr/>
              <p:nvPr/>
            </p:nvSpPr>
            <p:spPr>
              <a:xfrm flipV="1">
                <a:off x="-292825" y="4083833"/>
                <a:ext cx="162032" cy="162032"/>
              </a:xfrm>
              <a:prstGeom prst="flowChartConnector">
                <a:avLst/>
              </a:prstGeom>
              <a:grp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grpSp>
        <p:nvGrpSpPr>
          <p:cNvPr id="12" name="组合 11"/>
          <p:cNvGrpSpPr/>
          <p:nvPr/>
        </p:nvGrpSpPr>
        <p:grpSpPr>
          <a:xfrm>
            <a:off x="9143365" y="4003040"/>
            <a:ext cx="2408555" cy="1042035"/>
            <a:chOff x="14399" y="6124"/>
            <a:chExt cx="3793" cy="1641"/>
          </a:xfrm>
        </p:grpSpPr>
        <p:sp>
          <p:nvSpPr>
            <p:cNvPr id="136" name="文本框 135"/>
            <p:cNvSpPr txBox="1"/>
            <p:nvPr/>
          </p:nvSpPr>
          <p:spPr>
            <a:xfrm>
              <a:off x="14672" y="6597"/>
              <a:ext cx="3521" cy="1169"/>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品类搜索转化率从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6.8%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提升至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11.2%</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，增长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65%</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，核心单品点击率提升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38%</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9" name="文本框 138"/>
            <p:cNvSpPr txBox="1"/>
            <p:nvPr/>
          </p:nvSpPr>
          <p:spPr>
            <a:xfrm>
              <a:off x="14672" y="6124"/>
              <a:ext cx="2217"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搜索转化增长</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58" name="组合 157"/>
            <p:cNvGrpSpPr/>
            <p:nvPr/>
          </p:nvGrpSpPr>
          <p:grpSpPr>
            <a:xfrm>
              <a:off x="14399" y="6238"/>
              <a:ext cx="255" cy="255"/>
              <a:chOff x="-292825" y="4083833"/>
              <a:chExt cx="162032" cy="162032"/>
            </a:xfrm>
            <a:solidFill>
              <a:srgbClr val="FFFFFF"/>
            </a:solidFill>
            <a:effectLst/>
          </p:grpSpPr>
          <p:sp>
            <p:nvSpPr>
              <p:cNvPr id="159" name="流程图: 接点 158"/>
              <p:cNvSpPr/>
              <p:nvPr/>
            </p:nvSpPr>
            <p:spPr>
              <a:xfrm flipV="1">
                <a:off x="-270234" y="4106424"/>
                <a:ext cx="116851" cy="116851"/>
              </a:xfrm>
              <a:prstGeom prst="flowChartConnector">
                <a:avLst/>
              </a:prstGeom>
              <a:grpFill/>
              <a:ln>
                <a:solidFill>
                  <a:srgbClr val="3368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60" name="流程图: 接点 159"/>
              <p:cNvSpPr/>
              <p:nvPr/>
            </p:nvSpPr>
            <p:spPr>
              <a:xfrm flipV="1">
                <a:off x="-292825" y="4083833"/>
                <a:ext cx="162032" cy="162032"/>
              </a:xfrm>
              <a:prstGeom prst="flowChartConnector">
                <a:avLst/>
              </a:prstGeom>
              <a:grp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grpSp>
        <p:nvGrpSpPr>
          <p:cNvPr id="13" name="组合 12"/>
          <p:cNvGrpSpPr/>
          <p:nvPr/>
        </p:nvGrpSpPr>
        <p:grpSpPr>
          <a:xfrm>
            <a:off x="9143365" y="5196840"/>
            <a:ext cx="2408555" cy="1026795"/>
            <a:chOff x="14399" y="8445"/>
            <a:chExt cx="3793" cy="1617"/>
          </a:xfrm>
        </p:grpSpPr>
        <p:sp>
          <p:nvSpPr>
            <p:cNvPr id="137" name="文本框 136"/>
            <p:cNvSpPr txBox="1"/>
            <p:nvPr/>
          </p:nvSpPr>
          <p:spPr>
            <a:xfrm>
              <a:off x="14672" y="8894"/>
              <a:ext cx="3521" cy="1169"/>
            </a:xfrm>
            <a:prstGeom prst="rect">
              <a:avLst/>
            </a:prstGeom>
            <a:noFill/>
          </p:spPr>
          <p:txBody>
            <a:bodyPr wrap="square" lIns="0" rIns="0" tIns="0" bIns="0">
              <a:spAutoFit/>
            </a:bodyPr>
            <a:lstStyle>
              <a:defPPr>
                <a:defRPr lang="zh-CN">
                  <a:latin typeface="微软雅黑"/>
                  <a:ea typeface="微软雅黑"/>
                  <a:cs typeface="微软雅黑"/>
                </a:defRPr>
              </a:defPPr>
              <a:lvl1pPr algn="just">
                <a:lnSpc>
                  <a:spcPct val="120000"/>
                </a:lnSpc>
                <a:spcBef>
                  <a:spcPts val="600"/>
                </a:spcBef>
                <a:defRPr sz="1200">
                  <a:latin typeface="微软雅黑"/>
                  <a:ea typeface="微软雅黑"/>
                  <a:cs typeface="微软雅黑"/>
                </a:defRPr>
              </a:lvl1pPr>
            </a:lstStyle>
            <a:p>
              <a:pPr marL="0" marR="0" lvl="0" indent="0" algn="just" defTabSz="914400" rtl="0" eaLnBrk="1" fontAlgn="auto" latinLnBrk="0" hangingPunct="1">
                <a:lnSpc>
                  <a:spcPct val="120000"/>
                </a:lnSpc>
                <a:spcBef>
                  <a:spcPts val="600"/>
                </a:spcBef>
                <a:spcAft>
                  <a:spcPts val="0"/>
                </a:spcAft>
                <a:buClrTx/>
                <a:buSzTx/>
                <a:buFontTx/>
                <a:buNone/>
                <a:defRPr>
                  <a:latin typeface="微软雅黑"/>
                  <a:ea typeface="微软雅黑"/>
                  <a:cs typeface="微软雅黑"/>
                </a:defRPr>
              </a:pP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品类用户复购率达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42%</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，较去年提升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14 </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个百分点，复购贡献营收占比达 </a:t>
              </a:r>
              <a:r>
                <a:rPr kumimoji="0" lang="en-US" altLang="zh-CN" sz="1200" b="0" i="0" u="none" strike="noStrike" kern="1200" cap="none" spc="0" normalizeH="0" baseline="0" noProof="0" dirty="0">
                  <a:ln>
                    <a:noFill/>
                  </a:ln>
                  <a:solidFill>
                    <a:srgbClr val="383838"/>
                  </a:solidFill>
                  <a:effectLst/>
                  <a:uLnTx/>
                  <a:uFillTx/>
                  <a:latin typeface="微软雅黑"/>
                  <a:ea typeface="微软雅黑"/>
                  <a:cs typeface="微软雅黑"/>
                </a:rPr>
                <a:t>55%</a:t>
              </a:r>
              <a:r>
                <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rPr>
                <a:t>。</a:t>
              </a:r>
              <a:endParaRPr kumimoji="0" lang="zh-CN" altLang="en-US" sz="12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138" name="文本框 137"/>
            <p:cNvSpPr txBox="1"/>
            <p:nvPr/>
          </p:nvSpPr>
          <p:spPr>
            <a:xfrm>
              <a:off x="14672" y="8445"/>
              <a:ext cx="3368" cy="531"/>
            </a:xfrm>
            <a:prstGeom prst="rect">
              <a:avLst/>
            </a:prstGeom>
            <a:noFill/>
          </p:spPr>
          <p:txBody>
            <a:bodyPr wrap="square" rtlCol="0" lIns="0" rIns="0" tIns="0" bIns="0">
              <a:spAutoFit/>
            </a:bodyPr>
            <a:lstStyle/>
            <a:p>
              <a:pPr marL="0" marR="0" lvl="0" indent="0" algn="just"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rPr>
                <a:t>复购表现优异</a:t>
              </a:r>
              <a:endParaRPr kumimoji="0" lang="zh-CN" altLang="en-US" sz="16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grpSp>
          <p:nvGrpSpPr>
            <p:cNvPr id="161" name="组合 160"/>
            <p:cNvGrpSpPr/>
            <p:nvPr/>
          </p:nvGrpSpPr>
          <p:grpSpPr>
            <a:xfrm>
              <a:off x="14399" y="8584"/>
              <a:ext cx="255" cy="255"/>
              <a:chOff x="-292825" y="4083833"/>
              <a:chExt cx="162032" cy="162032"/>
            </a:xfrm>
            <a:solidFill>
              <a:srgbClr val="FFFFFF"/>
            </a:solidFill>
            <a:effectLst/>
          </p:grpSpPr>
          <p:sp>
            <p:nvSpPr>
              <p:cNvPr id="162" name="流程图: 接点 161"/>
              <p:cNvSpPr/>
              <p:nvPr/>
            </p:nvSpPr>
            <p:spPr>
              <a:xfrm flipV="1">
                <a:off x="-270234" y="4106424"/>
                <a:ext cx="116851" cy="116851"/>
              </a:xfrm>
              <a:prstGeom prst="flowChartConnector">
                <a:avLst/>
              </a:prstGeom>
              <a:grpFill/>
              <a:ln>
                <a:solidFill>
                  <a:srgbClr val="3368FF"/>
                </a:solidFill>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63" name="流程图: 接点 162"/>
              <p:cNvSpPr/>
              <p:nvPr/>
            </p:nvSpPr>
            <p:spPr>
              <a:xfrm flipV="1">
                <a:off x="-292825" y="4083833"/>
                <a:ext cx="162032" cy="162032"/>
              </a:xfrm>
              <a:prstGeom prst="flowChartConnector">
                <a:avLst/>
              </a:prstGeom>
              <a:grpFill/>
              <a:ln>
                <a:solidFill>
                  <a:srgbClr val="3368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zh-CN" alt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grpSp>
      </p:grpSp>
      <p:cxnSp>
        <p:nvCxnSpPr>
          <p:cNvPr id="8"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4" name="组合 13"/>
          <p:cNvGrpSpPr/>
          <p:nvPr/>
        </p:nvGrpSpPr>
        <p:grpSpPr>
          <a:xfrm>
            <a:off x="8738235" y="348615"/>
            <a:ext cx="3219450" cy="332740"/>
            <a:chOff x="13761" y="549"/>
            <a:chExt cx="5070" cy="524"/>
          </a:xfrm>
        </p:grpSpPr>
        <p:pic>
          <p:nvPicPr>
            <p:cNvPr id="15" name="图片 14"/>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 name="矩形 140"/>
          <p:cNvSpPr/>
          <p:nvPr/>
        </p:nvSpPr>
        <p:spPr>
          <a:xfrm>
            <a:off x="356235" y="2676525"/>
            <a:ext cx="2147570" cy="3686175"/>
          </a:xfrm>
          <a:prstGeom prst="rect">
            <a:avLst/>
          </a:prstGeom>
          <a:solidFill>
            <a:srgbClr val="E6E6E6">
              <a:alpha val="10000"/>
            </a:srgbClr>
          </a:solidFill>
          <a:ln w="6350">
            <a:solidFill>
              <a:srgbClr val="3368FF">
                <a:alpha val="10000"/>
              </a:srgbClr>
            </a:solidFill>
          </a:ln>
          <a:effectLst>
            <a:outerShdw blurRad="127000" dist="101600" dir="5400000" algn="t" rotWithShape="0">
              <a:srgbClr val="668EFF">
                <a:alpha val="12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42" name="矩形 141"/>
          <p:cNvSpPr/>
          <p:nvPr/>
        </p:nvSpPr>
        <p:spPr>
          <a:xfrm>
            <a:off x="2647315" y="2676525"/>
            <a:ext cx="2319020" cy="3686175"/>
          </a:xfrm>
          <a:prstGeom prst="rect">
            <a:avLst/>
          </a:prstGeom>
          <a:solidFill>
            <a:srgbClr val="FFFFFF">
              <a:alpha val="10000"/>
            </a:srgbClr>
          </a:solidFill>
          <a:ln w="6350">
            <a:solidFill>
              <a:srgbClr val="3368FF">
                <a:alpha val="10000"/>
              </a:srgbClr>
            </a:solidFill>
          </a:ln>
          <a:effectLst>
            <a:outerShdw blurRad="127000" dist="101600" dir="5400000" algn="t" rotWithShape="0">
              <a:srgbClr val="B3D4FE">
                <a:alpha val="12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43" name="矩形 142"/>
          <p:cNvSpPr/>
          <p:nvPr/>
        </p:nvSpPr>
        <p:spPr>
          <a:xfrm>
            <a:off x="5121275" y="2676525"/>
            <a:ext cx="3217545" cy="3686175"/>
          </a:xfrm>
          <a:prstGeom prst="rect">
            <a:avLst/>
          </a:prstGeom>
          <a:solidFill>
            <a:srgbClr val="E6E6E6">
              <a:alpha val="10000"/>
            </a:srgbClr>
          </a:solidFill>
          <a:ln w="6350">
            <a:solidFill>
              <a:srgbClr val="3368FF">
                <a:alpha val="10000"/>
              </a:srgbClr>
            </a:solidFill>
          </a:ln>
          <a:effectLst>
            <a:outerShdw blurRad="127000" dist="101600" dir="5400000" algn="t" rotWithShape="0">
              <a:srgbClr val="668EFF">
                <a:alpha val="1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noProof="0" dirty="0">
              <a:ln>
                <a:noFill/>
              </a:ln>
              <a:solidFill>
                <a:prstClr val="white"/>
              </a:solidFill>
              <a:effectLst/>
              <a:uLnTx/>
              <a:uFillTx/>
              <a:latin typeface="微软雅黑"/>
              <a:ea typeface="微软雅黑"/>
              <a:cs typeface="微软雅黑"/>
              <a:sym typeface="微软雅黑"/>
            </a:endParaRPr>
          </a:p>
        </p:txBody>
      </p:sp>
      <p:sp>
        <p:nvSpPr>
          <p:cNvPr id="144" name="矩形 143"/>
          <p:cNvSpPr/>
          <p:nvPr/>
        </p:nvSpPr>
        <p:spPr>
          <a:xfrm>
            <a:off x="8554720" y="2676525"/>
            <a:ext cx="3217545" cy="3686175"/>
          </a:xfrm>
          <a:prstGeom prst="rect">
            <a:avLst/>
          </a:prstGeom>
          <a:solidFill>
            <a:srgbClr val="FFFFFF">
              <a:alpha val="10000"/>
            </a:srgbClr>
          </a:solidFill>
          <a:ln w="6350">
            <a:solidFill>
              <a:srgbClr val="3368FF">
                <a:alpha val="10000"/>
              </a:srgbClr>
            </a:solidFill>
          </a:ln>
          <a:effectLst>
            <a:outerShdw blurRad="127000" dist="101600" dir="5400000" algn="t" rotWithShape="0">
              <a:srgbClr val="B3D4FE">
                <a:alpha val="12000"/>
              </a:srgbClr>
            </a:outerShdw>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noProof="0" dirty="0">
              <a:ln>
                <a:noFill/>
              </a:ln>
              <a:solidFill>
                <a:prstClr val="white"/>
              </a:solidFill>
              <a:effectLst/>
              <a:uLnTx/>
              <a:uFillTx/>
              <a:latin typeface="微软雅黑"/>
              <a:ea typeface="微软雅黑"/>
              <a:cs typeface="微软雅黑"/>
              <a:sym typeface="微软雅黑"/>
            </a:endParaRPr>
          </a:p>
        </p:txBody>
      </p:sp>
      <p:sp>
        <p:nvSpPr>
          <p:cNvPr id="148" name="矩形 147"/>
          <p:cNvSpPr/>
          <p:nvPr/>
        </p:nvSpPr>
        <p:spPr>
          <a:xfrm>
            <a:off x="5121275" y="2316480"/>
            <a:ext cx="3217545" cy="453390"/>
          </a:xfrm>
          <a:prstGeom prst="rect">
            <a:avLst/>
          </a:prstGeom>
          <a:gradFill>
            <a:gsLst>
              <a:gs pos="0">
                <a:srgbClr val="3368FF"/>
              </a:gs>
              <a:gs pos="100000">
                <a:srgbClr val="0042FF"/>
              </a:gs>
            </a:gsLst>
            <a:lin ang="2700000" scaled="0"/>
          </a:gradFill>
          <a:ln w="635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solidFill>
                  <a:srgbClr val="FFFFFF"/>
                </a:solidFill>
                <a:latin typeface="微软雅黑"/>
                <a:ea typeface="微软雅黑"/>
                <a:cs typeface="微软雅黑"/>
              </a:defRPr>
            </a:pPr>
            <a:endParaRPr lang="en-US" noProof="0">
              <a:ln>
                <a:noFill/>
              </a:ln>
              <a:solidFill>
                <a:srgbClr val="FFFFFF"/>
              </a:solidFill>
              <a:effectLst/>
              <a:uLnTx/>
              <a:uFillTx/>
              <a:latin typeface="微软雅黑"/>
              <a:ea typeface="微软雅黑"/>
              <a:cs typeface="微软雅黑"/>
              <a:sym typeface="微软雅黑"/>
            </a:endParaRPr>
          </a:p>
        </p:txBody>
      </p:sp>
      <p:sp>
        <p:nvSpPr>
          <p:cNvPr id="149" name="矩形 148"/>
          <p:cNvSpPr/>
          <p:nvPr/>
        </p:nvSpPr>
        <p:spPr>
          <a:xfrm>
            <a:off x="8554720" y="2316480"/>
            <a:ext cx="3217545" cy="453390"/>
          </a:xfrm>
          <a:prstGeom prst="rect">
            <a:avLst/>
          </a:prstGeom>
          <a:gradFill>
            <a:gsLst>
              <a:gs pos="0">
                <a:srgbClr val="B3D4FE"/>
              </a:gs>
              <a:gs pos="100000">
                <a:srgbClr val="3368FF"/>
              </a:gs>
            </a:gsLst>
            <a:lin ang="2700000" scaled="0"/>
          </a:gradFill>
          <a:ln w="635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spcBef>
                <a:spcPts val="0"/>
              </a:spcBef>
              <a:spcAft>
                <a:spcPts val="0"/>
              </a:spcAft>
              <a:buClrTx/>
              <a:buSzTx/>
              <a:buFontTx/>
              <a:defRPr>
                <a:latin typeface="微软雅黑"/>
                <a:ea typeface="微软雅黑"/>
                <a:cs typeface="微软雅黑"/>
              </a:defRPr>
            </a:pPr>
            <a:endParaRPr lang="en-US" noProof="0">
              <a:ln>
                <a:noFill/>
              </a:ln>
              <a:solidFill>
                <a:prstClr val="white"/>
              </a:solidFill>
              <a:effectLst/>
              <a:uLnTx/>
              <a:uFillTx/>
              <a:latin typeface="微软雅黑"/>
              <a:ea typeface="微软雅黑"/>
              <a:cs typeface="微软雅黑"/>
              <a:sym typeface="微软雅黑"/>
            </a:endParaRPr>
          </a:p>
        </p:txBody>
      </p:sp>
      <p:sp>
        <p:nvSpPr>
          <p:cNvPr id="153" name="文本框 152"/>
          <p:cNvSpPr txBox="1"/>
          <p:nvPr/>
        </p:nvSpPr>
        <p:spPr>
          <a:xfrm>
            <a:off x="5915660" y="2386965"/>
            <a:ext cx="1628775" cy="294640"/>
          </a:xfrm>
          <a:prstGeom prst="rect">
            <a:avLst/>
          </a:prstGeom>
          <a:noFill/>
          <a:ln>
            <a:noFill/>
          </a:ln>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1" i="0" u="none" strike="noStrike" kern="1200" cap="none" spc="0" normalizeH="0" baseline="0" noProof="0" dirty="0">
                <a:ln>
                  <a:noFill/>
                </a:ln>
                <a:solidFill>
                  <a:srgbClr val="FFFFFF"/>
                </a:solidFill>
                <a:effectLst>
                  <a:outerShdw blurRad="190500" dist="127000" dir="5400000" algn="t" rotWithShape="0">
                    <a:srgbClr val="383838">
                      <a:alpha val="20000"/>
                    </a:srgbClr>
                  </a:outerShdw>
                </a:effectLst>
                <a:uLnTx/>
                <a:uFillTx/>
                <a:latin typeface="微软雅黑"/>
                <a:ea typeface="微软雅黑"/>
                <a:cs typeface="微软雅黑"/>
              </a:rPr>
              <a:t>加速期</a:t>
            </a:r>
            <a:endParaRPr kumimoji="0" lang="zh-CN" altLang="en-US" sz="1600" b="1" i="0" u="none" strike="noStrike" kern="1200" cap="none" spc="0" normalizeH="0" baseline="0" noProof="0" dirty="0">
              <a:ln>
                <a:noFill/>
              </a:ln>
              <a:solidFill>
                <a:srgbClr val="FFFFFF"/>
              </a:solidFill>
              <a:effectLst>
                <a:outerShdw blurRad="190500" dist="127000" dir="5400000" algn="t" rotWithShape="0">
                  <a:srgbClr val="383838">
                    <a:alpha val="20000"/>
                  </a:srgbClr>
                </a:outerShdw>
              </a:effectLst>
              <a:uLnTx/>
              <a:uFillTx/>
              <a:latin typeface="微软雅黑"/>
              <a:ea typeface="微软雅黑"/>
              <a:cs typeface="微软雅黑"/>
            </a:endParaRPr>
          </a:p>
        </p:txBody>
      </p:sp>
      <p:sp>
        <p:nvSpPr>
          <p:cNvPr id="154" name="文本框 153"/>
          <p:cNvSpPr txBox="1"/>
          <p:nvPr/>
        </p:nvSpPr>
        <p:spPr>
          <a:xfrm>
            <a:off x="9348470" y="2386965"/>
            <a:ext cx="1628775" cy="294640"/>
          </a:xfrm>
          <a:prstGeom prst="rect">
            <a:avLst/>
          </a:prstGeom>
          <a:noFill/>
          <a:ln>
            <a:noFill/>
          </a:ln>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383838"/>
                </a:solidFill>
                <a:effectLst>
                  <a:outerShdw blurRad="190500" dist="127000" dir="5400000" algn="t" rotWithShape="0">
                    <a:srgbClr val="383838">
                      <a:alpha val="20000"/>
                    </a:srgbClr>
                  </a:outerShdw>
                </a:effectLst>
                <a:uLnTx/>
                <a:uFillTx/>
                <a:latin typeface="微软雅黑"/>
                <a:ea typeface="微软雅黑"/>
                <a:cs typeface="微软雅黑"/>
              </a:rPr>
              <a:t>爆发期</a:t>
            </a:r>
            <a:endParaRPr kumimoji="0" lang="zh-CN" altLang="en-US" sz="1600" b="1" i="0" u="none" strike="noStrike" kern="1200" cap="none" spc="0" normalizeH="0" baseline="0" noProof="0" dirty="0">
              <a:ln>
                <a:noFill/>
              </a:ln>
              <a:solidFill>
                <a:srgbClr val="383838"/>
              </a:solidFill>
              <a:effectLst>
                <a:outerShdw blurRad="190500" dist="127000" dir="5400000" algn="t" rotWithShape="0">
                  <a:srgbClr val="383838">
                    <a:alpha val="20000"/>
                  </a:srgbClr>
                </a:outerShdw>
              </a:effectLst>
              <a:uLnTx/>
              <a:uFillTx/>
              <a:latin typeface="微软雅黑"/>
              <a:ea typeface="微软雅黑"/>
              <a:cs typeface="微软雅黑"/>
            </a:endParaRPr>
          </a:p>
        </p:txBody>
      </p:sp>
      <p:sp>
        <p:nvSpPr>
          <p:cNvPr id="166" name="文本框 165"/>
          <p:cNvSpPr txBox="1"/>
          <p:nvPr/>
        </p:nvSpPr>
        <p:spPr>
          <a:xfrm>
            <a:off x="5298440" y="3347720"/>
            <a:ext cx="2863215" cy="368935"/>
          </a:xfrm>
          <a:prstGeom prst="rect">
            <a:avLst/>
          </a:prstGeom>
          <a:noFill/>
        </p:spPr>
        <p:txBody>
          <a:bodyPr wrap="square" lIns="0" tIns="0" rIns="0" bIns="0">
            <a:spAutoFit/>
          </a:bodyPr>
          <a:lstStyle/>
          <a:p>
            <a:pPr marL="171450" lvl="0" indent="-171450" algn="just">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企业微信与微信实现消息互通，打通微信支付、公众号等生态能力</a:t>
            </a:r>
            <a:endParaRPr lang="zh-CN" altLang="en-US" sz="1200" dirty="0">
              <a:solidFill>
                <a:srgbClr val="0042FF"/>
              </a:solidFill>
              <a:effectLst/>
              <a:latin typeface="微软雅黑"/>
              <a:ea typeface="微软雅黑"/>
              <a:cs typeface="微软雅黑"/>
              <a:sym typeface="微软雅黑"/>
            </a:endParaRPr>
          </a:p>
        </p:txBody>
      </p:sp>
      <p:sp>
        <p:nvSpPr>
          <p:cNvPr id="169" name="文本框 168"/>
          <p:cNvSpPr txBox="1"/>
          <p:nvPr/>
        </p:nvSpPr>
        <p:spPr>
          <a:xfrm>
            <a:off x="8730615" y="4144645"/>
            <a:ext cx="2863215" cy="1804670"/>
          </a:xfrm>
          <a:prstGeom prst="rect">
            <a:avLst/>
          </a:prstGeom>
          <a:noFill/>
        </p:spPr>
        <p:txBody>
          <a:bodyPr wrap="square" lIns="0" tIns="0" rIns="0" bIns="0">
            <a:spAutoFit/>
          </a:bodyPr>
          <a:lstStyle/>
          <a:p>
            <a:pPr marL="171450" lvl="0" indent="-171450" algn="just">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传统线下经营模式受阻，企业直播大爆发，私域运营加速向传统企业渗透;</a:t>
            </a:r>
            <a:endParaRPr lang="zh-CN" altLang="en-US" sz="1200" dirty="0">
              <a:solidFill>
                <a:srgbClr val="0042FF"/>
              </a:solidFill>
              <a:effectLst/>
              <a:latin typeface="微软雅黑"/>
              <a:ea typeface="微软雅黑"/>
              <a:cs typeface="微软雅黑"/>
              <a:sym typeface="微软雅黑"/>
            </a:endParaRPr>
          </a:p>
          <a:p>
            <a:pPr marL="171450" lvl="0" indent="-171450" algn="just">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微信视频号上线，并在企业微信与微信间实现互通，成为新的私域阵地;</a:t>
            </a:r>
            <a:endParaRPr lang="zh-CN" altLang="en-US" sz="1200" dirty="0">
              <a:solidFill>
                <a:srgbClr val="0042FF"/>
              </a:solidFill>
              <a:effectLst/>
              <a:latin typeface="微软雅黑"/>
              <a:ea typeface="微软雅黑"/>
              <a:cs typeface="微软雅黑"/>
              <a:sym typeface="微软雅黑"/>
            </a:endParaRPr>
          </a:p>
          <a:p>
            <a:pPr marL="171450" lvl="0" indent="-171450" algn="just">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以小鹅通为代表的私域运营Saas与微信、抖音、快手、小红书等众多生态互通，加速私域能力建设。</a:t>
            </a:r>
            <a:endParaRPr lang="zh-CN" altLang="en-US" sz="1200" dirty="0">
              <a:solidFill>
                <a:srgbClr val="0042FF"/>
              </a:solidFill>
              <a:effectLst/>
              <a:latin typeface="微软雅黑"/>
              <a:ea typeface="微软雅黑"/>
              <a:cs typeface="微软雅黑"/>
              <a:sym typeface="微软雅黑"/>
            </a:endParaRPr>
          </a:p>
        </p:txBody>
      </p:sp>
      <p:cxnSp>
        <p:nvCxnSpPr>
          <p:cNvPr id="180" name="直接连接符 179"/>
          <p:cNvCxnSpPr/>
          <p:nvPr/>
        </p:nvCxnSpPr>
        <p:spPr>
          <a:xfrm>
            <a:off x="8561070" y="6362700"/>
            <a:ext cx="3215005" cy="0"/>
          </a:xfrm>
          <a:prstGeom prst="line">
            <a:avLst/>
          </a:prstGeom>
          <a:ln w="38100" cap="flat" cmpd="sng" algn="ctr">
            <a:solidFill>
              <a:srgbClr val="3368FF"/>
            </a:solidFill>
            <a:prstDash val="solid"/>
            <a:miter lim="800000"/>
            <a:headEnd type="none" w="med" len="med"/>
            <a:tailEnd type="none" w="med" len="med"/>
          </a:ln>
        </p:spPr>
        <p:style>
          <a:lnRef idx="1">
            <a:srgbClr val="0042FF"/>
          </a:lnRef>
          <a:fillRef idx="0">
            <a:srgbClr val="0042FF"/>
          </a:fillRef>
          <a:effectRef idx="0">
            <a:srgbClr val="0042FF"/>
          </a:effectRef>
          <a:fontRef idx="minor">
            <a:srgbClr val="383838"/>
          </a:fontRef>
        </p:style>
      </p:cxnSp>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时间流程架构 | </a:t>
            </a:r>
            <a:r>
              <a:rPr sz="2500">
                <a:solidFill>
                  <a:srgbClr val="383838"/>
                </a:solidFill>
                <a:effectLst/>
                <a:latin typeface="微软雅黑"/>
                <a:ea typeface="微软雅黑"/>
                <a:cs typeface="微软雅黑"/>
              </a:rPr>
              <a:t>私域运营的发展脉络</a:t>
            </a:r>
            <a:endParaRPr sz="2500" b="0">
              <a:solidFill>
                <a:srgbClr val="383838"/>
              </a:solidFill>
              <a:effectLst/>
              <a:latin typeface="微软雅黑"/>
              <a:ea typeface="微软雅黑"/>
              <a:cs typeface="微软雅黑"/>
            </a:endParaRPr>
          </a:p>
        </p:txBody>
      </p:sp>
      <p:grpSp>
        <p:nvGrpSpPr>
          <p:cNvPr id="7" name="组合 6"/>
          <p:cNvGrpSpPr/>
          <p:nvPr/>
        </p:nvGrpSpPr>
        <p:grpSpPr>
          <a:xfrm>
            <a:off x="355600" y="1058545"/>
            <a:ext cx="11417300" cy="1084580"/>
            <a:chOff x="425" y="4355"/>
            <a:chExt cx="17980" cy="1708"/>
          </a:xfrm>
        </p:grpSpPr>
        <p:sp>
          <p:nvSpPr>
            <p:cNvPr id="138" name="矩形 137"/>
            <p:cNvSpPr/>
            <p:nvPr/>
          </p:nvSpPr>
          <p:spPr>
            <a:xfrm>
              <a:off x="425" y="4355"/>
              <a:ext cx="17980" cy="1709"/>
            </a:xfrm>
            <a:prstGeom prst="rect">
              <a:avLst/>
            </a:prstGeom>
            <a:solidFill>
              <a:srgbClr val="E6E6E6">
                <a:alpha val="20000"/>
              </a:srgbClr>
            </a:solidFill>
            <a:ln>
              <a:solidFill>
                <a:srgbClr val="0042FF">
                  <a:alpha val="20000"/>
                </a:srgbClr>
              </a:solidFill>
            </a:ln>
          </p:spPr>
          <p:style>
            <a:lnRef idx="2">
              <a:srgbClr val="0042FF"/>
            </a:lnRef>
            <a:fillRef idx="1">
              <a:srgbClr val="0042FF"/>
            </a:fillRef>
            <a:effectRef idx="0">
              <a:srgbClr val="FFFFFF"/>
            </a:effectRef>
            <a:fontRef idx="minor">
              <a:srgbClr val="FFFFFF"/>
            </a:fontRef>
          </p:style>
          <p:txBody>
            <a:bodyPr rtlCol="0" anchor="ctr"/>
            <a:p>
              <a:pPr algn="l">
                <a:defRPr>
                  <a:latin typeface="微软雅黑"/>
                  <a:ea typeface="微软雅黑"/>
                  <a:cs typeface="微软雅黑"/>
                </a:defRPr>
              </a:pPr>
              <a:endParaRPr lang="zh-CN" altLang="en-US" sz="1600">
                <a:solidFill>
                  <a:srgbClr val="383838"/>
                </a:solidFill>
                <a:latin typeface="微软雅黑"/>
                <a:ea typeface="微软雅黑"/>
                <a:cs typeface="微软雅黑"/>
              </a:endParaRPr>
            </a:p>
          </p:txBody>
        </p:sp>
        <p:sp>
          <p:nvSpPr>
            <p:cNvPr id="6" name="文本框 5"/>
            <p:cNvSpPr txBox="1"/>
            <p:nvPr/>
          </p:nvSpPr>
          <p:spPr>
            <a:xfrm>
              <a:off x="780" y="4556"/>
              <a:ext cx="17271" cy="1307"/>
            </a:xfrm>
            <a:prstGeom prst="rect">
              <a:avLst/>
            </a:prstGeom>
            <a:noFill/>
          </p:spPr>
          <p:txBody>
            <a:bodyPr wrap="square" rtlCol="0">
              <a:spAutoFit/>
            </a:bodyPr>
            <a:p>
              <a:pPr>
                <a:defRPr>
                  <a:latin typeface="微软雅黑"/>
                  <a:ea typeface="微软雅黑"/>
                  <a:cs typeface="微软雅黑"/>
                </a:defRPr>
              </a:pPr>
              <a:r>
                <a:rPr lang="zh-CN" altLang="en-US" sz="1600">
                  <a:solidFill>
                    <a:srgbClr val="383838"/>
                  </a:solidFill>
                  <a:latin typeface="微软雅黑"/>
                  <a:ea typeface="微软雅黑"/>
                  <a:cs typeface="微软雅黑"/>
                  <a:sym typeface="微软雅黑"/>
                </a:rPr>
                <a:t>私域运营最早始于</a:t>
              </a:r>
              <a:r>
                <a:rPr lang="en-US" altLang="zh-CN" sz="1600">
                  <a:solidFill>
                    <a:srgbClr val="383838"/>
                  </a:solidFill>
                  <a:latin typeface="微软雅黑"/>
                  <a:ea typeface="微软雅黑"/>
                  <a:cs typeface="微软雅黑"/>
                  <a:sym typeface="微软雅黑"/>
                </a:rPr>
                <a:t>“</a:t>
              </a:r>
              <a:r>
                <a:rPr lang="zh-CN" altLang="en-US" sz="1600">
                  <a:solidFill>
                    <a:srgbClr val="383838"/>
                  </a:solidFill>
                  <a:latin typeface="微软雅黑"/>
                  <a:ea typeface="微软雅黑"/>
                  <a:cs typeface="微软雅黑"/>
                  <a:sym typeface="微软雅黑"/>
                </a:rPr>
                <a:t>两微</a:t>
              </a:r>
              <a:r>
                <a:rPr lang="en-US" altLang="zh-CN" sz="1600">
                  <a:solidFill>
                    <a:srgbClr val="383838"/>
                  </a:solidFill>
                  <a:latin typeface="微软雅黑"/>
                  <a:ea typeface="微软雅黑"/>
                  <a:cs typeface="微软雅黑"/>
                  <a:sym typeface="微软雅黑"/>
                </a:rPr>
                <a:t>”</a:t>
              </a:r>
              <a:r>
                <a:rPr lang="zh-CN" altLang="en-US" sz="1600">
                  <a:solidFill>
                    <a:srgbClr val="383838"/>
                  </a:solidFill>
                  <a:latin typeface="微软雅黑"/>
                  <a:ea typeface="微软雅黑"/>
                  <a:cs typeface="微软雅黑"/>
                  <a:sym typeface="微软雅黑"/>
                </a:rPr>
                <a:t>时代，</a:t>
              </a:r>
              <a:r>
                <a:rPr lang="zh-CN" altLang="en-US" sz="1600" b="1">
                  <a:solidFill>
                    <a:srgbClr val="383838"/>
                  </a:solidFill>
                  <a:latin typeface="微软雅黑"/>
                  <a:ea typeface="微软雅黑"/>
                  <a:cs typeface="微软雅黑"/>
                  <a:sym typeface="微软雅黑"/>
                </a:rPr>
                <a:t>企业获得了与用户关系更直接的品牌宣传渠道。</a:t>
              </a:r>
              <a:r>
                <a:rPr lang="en-US" altLang="zh-CN" sz="1600">
                  <a:solidFill>
                    <a:srgbClr val="383838"/>
                  </a:solidFill>
                  <a:latin typeface="微软雅黑"/>
                  <a:ea typeface="微软雅黑"/>
                  <a:cs typeface="微软雅黑"/>
                  <a:sym typeface="微软雅黑"/>
                </a:rPr>
                <a:t>2018</a:t>
              </a:r>
              <a:r>
                <a:rPr lang="zh-CN" altLang="en-US" sz="1600">
                  <a:solidFill>
                    <a:srgbClr val="383838"/>
                  </a:solidFill>
                  <a:latin typeface="微软雅黑"/>
                  <a:ea typeface="微软雅黑"/>
                  <a:cs typeface="微软雅黑"/>
                  <a:sym typeface="微软雅黑"/>
                </a:rPr>
                <a:t>年以来，</a:t>
              </a:r>
              <a:r>
                <a:rPr lang="zh-CN" altLang="en-US" sz="1600" b="1">
                  <a:solidFill>
                    <a:srgbClr val="0042FF"/>
                  </a:solidFill>
                  <a:latin typeface="微软雅黑"/>
                  <a:ea typeface="微软雅黑"/>
                  <a:cs typeface="微软雅黑"/>
                  <a:sym typeface="微软雅黑"/>
                </a:rPr>
                <a:t>企业微信与微信逐步打通</a:t>
              </a:r>
              <a:r>
                <a:rPr lang="zh-CN" altLang="en-US" sz="1600">
                  <a:solidFill>
                    <a:srgbClr val="383838"/>
                  </a:solidFill>
                  <a:latin typeface="微软雅黑"/>
                  <a:ea typeface="微软雅黑"/>
                  <a:cs typeface="微软雅黑"/>
                  <a:sym typeface="微软雅黑"/>
                </a:rPr>
                <a:t>，推动围绕微信、企业微信的服务商生态走向专业化，私域运营能力得以不断完善。进入</a:t>
              </a:r>
              <a:r>
                <a:rPr lang="en-US" altLang="zh-CN" sz="1600">
                  <a:solidFill>
                    <a:srgbClr val="383838"/>
                  </a:solidFill>
                  <a:latin typeface="微软雅黑"/>
                  <a:ea typeface="微软雅黑"/>
                  <a:cs typeface="微软雅黑"/>
                  <a:sym typeface="微软雅黑"/>
                </a:rPr>
                <a:t>2020</a:t>
              </a:r>
              <a:r>
                <a:rPr lang="zh-CN" altLang="en-US" sz="1600">
                  <a:solidFill>
                    <a:srgbClr val="383838"/>
                  </a:solidFill>
                  <a:latin typeface="微软雅黑"/>
                  <a:ea typeface="微软雅黑"/>
                  <a:cs typeface="微软雅黑"/>
                  <a:sym typeface="微软雅黑"/>
                </a:rPr>
                <a:t>年，黑天鹅事件的出现加速企业线上运营意识的发展，越来越多的企业开始认识到私域运营的重要性，并</a:t>
              </a:r>
              <a:r>
                <a:rPr lang="zh-CN" altLang="en-US" sz="1600" b="1">
                  <a:solidFill>
                    <a:srgbClr val="0042FF"/>
                  </a:solidFill>
                  <a:latin typeface="微软雅黑"/>
                  <a:ea typeface="微软雅黑"/>
                  <a:cs typeface="微软雅黑"/>
                  <a:sym typeface="微软雅黑"/>
                </a:rPr>
                <a:t>利用私域运营</a:t>
              </a:r>
              <a:r>
                <a:rPr lang="en-US" altLang="zh-CN" sz="1600" b="1">
                  <a:solidFill>
                    <a:srgbClr val="0042FF"/>
                  </a:solidFill>
                  <a:latin typeface="微软雅黑"/>
                  <a:ea typeface="微软雅黑"/>
                  <a:cs typeface="微软雅黑"/>
                  <a:sym typeface="微软雅黑"/>
                </a:rPr>
                <a:t>SaaS</a:t>
              </a:r>
              <a:r>
                <a:rPr lang="zh-CN" altLang="en-US" sz="1600" b="1">
                  <a:solidFill>
                    <a:srgbClr val="0042FF"/>
                  </a:solidFill>
                  <a:latin typeface="微软雅黑"/>
                  <a:ea typeface="微软雅黑"/>
                  <a:cs typeface="微软雅黑"/>
                  <a:sym typeface="微软雅黑"/>
                </a:rPr>
                <a:t>快速转战线上</a:t>
              </a:r>
              <a:r>
                <a:rPr lang="zh-CN" altLang="en-US" sz="1600">
                  <a:solidFill>
                    <a:srgbClr val="383838"/>
                  </a:solidFill>
                  <a:latin typeface="微软雅黑"/>
                  <a:ea typeface="微软雅黑"/>
                  <a:cs typeface="微软雅黑"/>
                  <a:sym typeface="微软雅黑"/>
                </a:rPr>
                <a:t>。</a:t>
              </a:r>
              <a:endParaRPr lang="zh-CN" altLang="en-US" sz="1600">
                <a:solidFill>
                  <a:srgbClr val="383838"/>
                </a:solidFill>
                <a:latin typeface="微软雅黑"/>
                <a:ea typeface="微软雅黑"/>
                <a:cs typeface="微软雅黑"/>
              </a:endParaRPr>
            </a:p>
          </p:txBody>
        </p:sp>
      </p:grpSp>
      <p:sp>
        <p:nvSpPr>
          <p:cNvPr id="171" name="任意多边形: 形状 170"/>
          <p:cNvSpPr/>
          <p:nvPr/>
        </p:nvSpPr>
        <p:spPr>
          <a:xfrm>
            <a:off x="725170" y="3063240"/>
            <a:ext cx="10252075" cy="2853055"/>
          </a:xfrm>
          <a:custGeom>
            <a:avLst/>
            <a:gdLst>
              <a:gd name="connsiteX0" fmla="*/ 0 w 9793224"/>
              <a:gd name="connsiteY0" fmla="*/ 2843784 h 2843784"/>
              <a:gd name="connsiteX1" fmla="*/ 3538728 w 9793224"/>
              <a:gd name="connsiteY1" fmla="*/ 2514600 h 2843784"/>
              <a:gd name="connsiteX2" fmla="*/ 6976872 w 9793224"/>
              <a:gd name="connsiteY2" fmla="*/ 1024128 h 2843784"/>
              <a:gd name="connsiteX3" fmla="*/ 8860536 w 9793224"/>
              <a:gd name="connsiteY3" fmla="*/ 265176 h 2843784"/>
              <a:gd name="connsiteX4" fmla="*/ 9793224 w 9793224"/>
              <a:gd name="connsiteY4" fmla="*/ 0 h 2843784"/>
              <a:gd name="connsiteX0-1" fmla="*/ 0 w 9793224"/>
              <a:gd name="connsiteY0-2" fmla="*/ 2843784 h 2843784"/>
              <a:gd name="connsiteX1-3" fmla="*/ 3538728 w 9793224"/>
              <a:gd name="connsiteY1-4" fmla="*/ 2514600 h 2843784"/>
              <a:gd name="connsiteX2-5" fmla="*/ 6976872 w 9793224"/>
              <a:gd name="connsiteY2-6" fmla="*/ 1024128 h 2843784"/>
              <a:gd name="connsiteX3-7" fmla="*/ 8860536 w 9793224"/>
              <a:gd name="connsiteY3-8" fmla="*/ 265176 h 2843784"/>
              <a:gd name="connsiteX4-9" fmla="*/ 9793224 w 9793224"/>
              <a:gd name="connsiteY4-10" fmla="*/ 0 h 2843784"/>
              <a:gd name="connsiteX0-11" fmla="*/ 0 w 9793224"/>
              <a:gd name="connsiteY0-12" fmla="*/ 2843784 h 2843784"/>
              <a:gd name="connsiteX1-13" fmla="*/ 3538728 w 9793224"/>
              <a:gd name="connsiteY1-14" fmla="*/ 2514600 h 2843784"/>
              <a:gd name="connsiteX2-15" fmla="*/ 6976872 w 9793224"/>
              <a:gd name="connsiteY2-16" fmla="*/ 1024128 h 2843784"/>
              <a:gd name="connsiteX3-17" fmla="*/ 8860536 w 9793224"/>
              <a:gd name="connsiteY3-18" fmla="*/ 265176 h 2843784"/>
              <a:gd name="connsiteX4-19" fmla="*/ 9793224 w 9793224"/>
              <a:gd name="connsiteY4-20" fmla="*/ 0 h 2843784"/>
              <a:gd name="connsiteX0-21" fmla="*/ 0 w 9793224"/>
              <a:gd name="connsiteY0-22" fmla="*/ 2843784 h 2843784"/>
              <a:gd name="connsiteX1-23" fmla="*/ 3538728 w 9793224"/>
              <a:gd name="connsiteY1-24" fmla="*/ 2514600 h 2843784"/>
              <a:gd name="connsiteX2-25" fmla="*/ 6976872 w 9793224"/>
              <a:gd name="connsiteY2-26" fmla="*/ 1024128 h 2843784"/>
              <a:gd name="connsiteX3-27" fmla="*/ 8860536 w 9793224"/>
              <a:gd name="connsiteY3-28" fmla="*/ 265176 h 2843784"/>
              <a:gd name="connsiteX4-29" fmla="*/ 9793224 w 9793224"/>
              <a:gd name="connsiteY4-30" fmla="*/ 0 h 2843784"/>
              <a:gd name="connsiteX0-31" fmla="*/ 0 w 9807511"/>
              <a:gd name="connsiteY0-32" fmla="*/ 2853309 h 2853309"/>
              <a:gd name="connsiteX1-33" fmla="*/ 3538728 w 9807511"/>
              <a:gd name="connsiteY1-34" fmla="*/ 2524125 h 2853309"/>
              <a:gd name="connsiteX2-35" fmla="*/ 6976872 w 9807511"/>
              <a:gd name="connsiteY2-36" fmla="*/ 1033653 h 2853309"/>
              <a:gd name="connsiteX3-37" fmla="*/ 8860536 w 9807511"/>
              <a:gd name="connsiteY3-38" fmla="*/ 274701 h 2853309"/>
              <a:gd name="connsiteX4-39" fmla="*/ 9807511 w 9807511"/>
              <a:gd name="connsiteY4-40" fmla="*/ 0 h 2853309"/>
              <a:gd name="connsiteX0-41" fmla="*/ 0 w 9807511"/>
              <a:gd name="connsiteY0-42" fmla="*/ 2853309 h 2853309"/>
              <a:gd name="connsiteX1-43" fmla="*/ 3538728 w 9807511"/>
              <a:gd name="connsiteY1-44" fmla="*/ 2524125 h 2853309"/>
              <a:gd name="connsiteX2-45" fmla="*/ 6976872 w 9807511"/>
              <a:gd name="connsiteY2-46" fmla="*/ 1033653 h 2853309"/>
              <a:gd name="connsiteX3-47" fmla="*/ 8860536 w 9807511"/>
              <a:gd name="connsiteY3-48" fmla="*/ 274701 h 2853309"/>
              <a:gd name="connsiteX4-49" fmla="*/ 9807511 w 9807511"/>
              <a:gd name="connsiteY4-50" fmla="*/ 0 h 2853309"/>
              <a:gd name="connsiteX0-51" fmla="*/ 0 w 9807511"/>
              <a:gd name="connsiteY0-52" fmla="*/ 2853309 h 2853309"/>
              <a:gd name="connsiteX1-53" fmla="*/ 3538728 w 9807511"/>
              <a:gd name="connsiteY1-54" fmla="*/ 2524125 h 2853309"/>
              <a:gd name="connsiteX2-55" fmla="*/ 6976872 w 9807511"/>
              <a:gd name="connsiteY2-56" fmla="*/ 1033653 h 2853309"/>
              <a:gd name="connsiteX3-57" fmla="*/ 8860536 w 9807511"/>
              <a:gd name="connsiteY3-58" fmla="*/ 274701 h 2853309"/>
              <a:gd name="connsiteX4-59" fmla="*/ 9807511 w 9807511"/>
              <a:gd name="connsiteY4-60" fmla="*/ 0 h 285330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807511" h="2853309">
                <a:moveTo>
                  <a:pt x="0" y="2853309"/>
                </a:moveTo>
                <a:cubicBezTo>
                  <a:pt x="1187958" y="2840355"/>
                  <a:pt x="2375916" y="2827401"/>
                  <a:pt x="3538728" y="2524125"/>
                </a:cubicBezTo>
                <a:cubicBezTo>
                  <a:pt x="4701540" y="2220849"/>
                  <a:pt x="6089904" y="1408557"/>
                  <a:pt x="6976872" y="1033653"/>
                </a:cubicBezTo>
                <a:cubicBezTo>
                  <a:pt x="7863840" y="658749"/>
                  <a:pt x="8391144" y="445389"/>
                  <a:pt x="8860536" y="274701"/>
                </a:cubicBezTo>
                <a:cubicBezTo>
                  <a:pt x="9329928" y="104013"/>
                  <a:pt x="9566338" y="56769"/>
                  <a:pt x="9807511" y="0"/>
                </a:cubicBezTo>
              </a:path>
            </a:pathLst>
          </a:custGeom>
          <a:noFill/>
          <a:ln w="38100" cap="flat" cmpd="sng" algn="ctr">
            <a:solidFill>
              <a:srgbClr val="0042FF"/>
            </a:solidFill>
            <a:prstDash val="solid"/>
            <a:miter lim="800000"/>
            <a:headEnd type="none" w="med" len="med"/>
            <a:tailEnd type="none" w="med" len="med"/>
          </a:ln>
          <a:effectLst>
            <a:outerShdw blurRad="50800" dist="127000" dir="5400000" algn="t" rotWithShape="0">
              <a:srgbClr val="3368FF">
                <a:alpha val="15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dirty="0">
              <a:ln>
                <a:noFill/>
              </a:ln>
              <a:solidFill>
                <a:prstClr val="white"/>
              </a:solidFill>
              <a:effectLst/>
              <a:uLnTx/>
              <a:uFillTx/>
              <a:latin typeface="微软雅黑"/>
              <a:ea typeface="微软雅黑"/>
              <a:cs typeface="微软雅黑"/>
            </a:endParaRPr>
          </a:p>
        </p:txBody>
      </p:sp>
      <p:sp>
        <p:nvSpPr>
          <p:cNvPr id="146" name="矩形 145"/>
          <p:cNvSpPr/>
          <p:nvPr/>
        </p:nvSpPr>
        <p:spPr>
          <a:xfrm>
            <a:off x="356235" y="2316480"/>
            <a:ext cx="2147570" cy="453390"/>
          </a:xfrm>
          <a:prstGeom prst="rect">
            <a:avLst/>
          </a:prstGeom>
          <a:gradFill>
            <a:gsLst>
              <a:gs pos="0">
                <a:srgbClr val="3368FF"/>
              </a:gs>
              <a:gs pos="100000">
                <a:srgbClr val="0042FF"/>
              </a:gs>
            </a:gsLst>
            <a:lin ang="2700000" scaled="0"/>
          </a:gradFill>
          <a:ln w="635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1200" cap="none" spc="0" normalizeH="0" baseline="0" noProof="0">
              <a:ln>
                <a:noFill/>
              </a:ln>
              <a:solidFill>
                <a:srgbClr val="FFFFFF"/>
              </a:solidFill>
              <a:effectLst/>
              <a:uLnTx/>
              <a:uFillTx/>
              <a:latin typeface="微软雅黑"/>
              <a:ea typeface="微软雅黑"/>
              <a:cs typeface="微软雅黑"/>
            </a:endParaRPr>
          </a:p>
        </p:txBody>
      </p:sp>
      <p:sp>
        <p:nvSpPr>
          <p:cNvPr id="151" name="文本框 150"/>
          <p:cNvSpPr txBox="1"/>
          <p:nvPr/>
        </p:nvSpPr>
        <p:spPr>
          <a:xfrm>
            <a:off x="885825" y="2386965"/>
            <a:ext cx="1087120" cy="294640"/>
          </a:xfrm>
          <a:prstGeom prst="rect">
            <a:avLst/>
          </a:prstGeom>
          <a:noFill/>
          <a:ln>
            <a:noFill/>
          </a:ln>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solidFill>
                  <a:srgbClr val="FFFFFF"/>
                </a:solidFill>
                <a:latin typeface="微软雅黑"/>
                <a:ea typeface="微软雅黑"/>
                <a:cs typeface="微软雅黑"/>
              </a:defRPr>
            </a:pPr>
            <a:r>
              <a:rPr kumimoji="0" lang="zh-CN" altLang="en-US" sz="1600" b="1" i="0" u="none" strike="noStrike" kern="1200" cap="none" spc="0" normalizeH="0" baseline="0" noProof="0" dirty="0">
                <a:ln>
                  <a:noFill/>
                </a:ln>
                <a:solidFill>
                  <a:srgbClr val="FFFFFF"/>
                </a:solidFill>
                <a:effectLst>
                  <a:outerShdw blurRad="190500" dist="127000" dir="5400000" algn="t" rotWithShape="0">
                    <a:srgbClr val="383838">
                      <a:alpha val="20000"/>
                    </a:srgbClr>
                  </a:outerShdw>
                </a:effectLst>
                <a:uLnTx/>
                <a:uFillTx/>
                <a:latin typeface="微软雅黑"/>
                <a:ea typeface="微软雅黑"/>
                <a:cs typeface="微软雅黑"/>
              </a:rPr>
              <a:t>萌芽期</a:t>
            </a:r>
            <a:endParaRPr kumimoji="0" lang="zh-CN" altLang="en-US" sz="1600" b="1" i="0" u="none" strike="noStrike" kern="1200" cap="none" spc="0" normalizeH="0" baseline="0" noProof="0" dirty="0">
              <a:ln>
                <a:noFill/>
              </a:ln>
              <a:solidFill>
                <a:srgbClr val="FFFFFF"/>
              </a:solidFill>
              <a:effectLst>
                <a:outerShdw blurRad="190500" dist="127000" dir="5400000" algn="t" rotWithShape="0">
                  <a:srgbClr val="383838">
                    <a:alpha val="20000"/>
                  </a:srgbClr>
                </a:outerShdw>
              </a:effectLst>
              <a:uLnTx/>
              <a:uFillTx/>
              <a:latin typeface="微软雅黑"/>
              <a:ea typeface="微软雅黑"/>
              <a:cs typeface="微软雅黑"/>
            </a:endParaRPr>
          </a:p>
        </p:txBody>
      </p:sp>
      <p:cxnSp>
        <p:nvCxnSpPr>
          <p:cNvPr id="156" name="直接连接符 155"/>
          <p:cNvCxnSpPr/>
          <p:nvPr/>
        </p:nvCxnSpPr>
        <p:spPr>
          <a:xfrm>
            <a:off x="356235" y="6362700"/>
            <a:ext cx="2145665" cy="0"/>
          </a:xfrm>
          <a:prstGeom prst="line">
            <a:avLst/>
          </a:prstGeom>
          <a:ln w="38100" cap="flat" cmpd="sng" algn="ctr">
            <a:solidFill>
              <a:srgbClr val="0042FF"/>
            </a:solidFill>
            <a:prstDash val="solid"/>
            <a:miter lim="800000"/>
            <a:headEnd type="none" w="med" len="med"/>
            <a:tailEnd type="none" w="med" len="med"/>
          </a:ln>
        </p:spPr>
        <p:style>
          <a:lnRef idx="1">
            <a:srgbClr val="0042FF"/>
          </a:lnRef>
          <a:fillRef idx="0">
            <a:srgbClr val="0042FF"/>
          </a:fillRef>
          <a:effectRef idx="0">
            <a:srgbClr val="0042FF"/>
          </a:effectRef>
          <a:fontRef idx="minor">
            <a:srgbClr val="383838"/>
          </a:fontRef>
        </p:style>
      </p:cxnSp>
      <p:sp>
        <p:nvSpPr>
          <p:cNvPr id="165" name="文本框 164"/>
          <p:cNvSpPr txBox="1"/>
          <p:nvPr/>
        </p:nvSpPr>
        <p:spPr>
          <a:xfrm>
            <a:off x="504190" y="3347720"/>
            <a:ext cx="1881505" cy="663575"/>
          </a:xfrm>
          <a:prstGeom prst="rect">
            <a:avLst/>
          </a:prstGeom>
          <a:noFill/>
        </p:spPr>
        <p:txBody>
          <a:bodyPr wrap="square" lIns="0" tIns="0" rIns="0" bIns="0">
            <a:spAutoFit/>
          </a:bodyPr>
          <a:lstStyle/>
          <a:p>
            <a:pPr marL="171450" lvl="0" indent="-171450" algn="just">
              <a:lnSpc>
                <a:spcPct val="120000"/>
              </a:lnSpc>
              <a:spcBef>
                <a:spcPts val="0"/>
              </a:spcBef>
              <a:spcAft>
                <a:spcPts val="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微博、微信公众号兴起，新媒体运营向具有社交属性的内容运营迈进。</a:t>
            </a:r>
            <a:endParaRPr lang="zh-CN" altLang="en-US" sz="1200" dirty="0">
              <a:solidFill>
                <a:srgbClr val="0042FF"/>
              </a:solidFill>
              <a:effectLst/>
              <a:latin typeface="微软雅黑"/>
              <a:ea typeface="微软雅黑"/>
              <a:cs typeface="微软雅黑"/>
              <a:sym typeface="微软雅黑"/>
            </a:endParaRPr>
          </a:p>
        </p:txBody>
      </p:sp>
      <p:sp>
        <p:nvSpPr>
          <p:cNvPr id="147" name="矩形 146"/>
          <p:cNvSpPr/>
          <p:nvPr/>
        </p:nvSpPr>
        <p:spPr>
          <a:xfrm>
            <a:off x="2647315" y="2316480"/>
            <a:ext cx="2319020" cy="453390"/>
          </a:xfrm>
          <a:prstGeom prst="rect">
            <a:avLst/>
          </a:prstGeom>
          <a:gradFill>
            <a:gsLst>
              <a:gs pos="0">
                <a:srgbClr val="B3D4FE"/>
              </a:gs>
              <a:gs pos="100000">
                <a:srgbClr val="3368FF"/>
              </a:gs>
            </a:gsLst>
            <a:lin ang="2700000" scaled="0"/>
          </a:gradFill>
          <a:ln w="6350">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endParaRPr kumimoji="0" lang="en-US" sz="1800" b="0" i="0" u="none" strike="noStrike" kern="1200" cap="none" spc="0" normalizeH="0" baseline="0" noProof="0">
              <a:ln>
                <a:noFill/>
              </a:ln>
              <a:solidFill>
                <a:prstClr val="white"/>
              </a:solidFill>
              <a:effectLst/>
              <a:uLnTx/>
              <a:uFillTx/>
              <a:latin typeface="微软雅黑"/>
              <a:ea typeface="微软雅黑"/>
              <a:cs typeface="微软雅黑"/>
            </a:endParaRPr>
          </a:p>
        </p:txBody>
      </p:sp>
      <p:sp>
        <p:nvSpPr>
          <p:cNvPr id="152" name="文本框 151"/>
          <p:cNvSpPr txBox="1"/>
          <p:nvPr/>
        </p:nvSpPr>
        <p:spPr>
          <a:xfrm>
            <a:off x="3220085" y="2386965"/>
            <a:ext cx="1174115" cy="294640"/>
          </a:xfrm>
          <a:prstGeom prst="rect">
            <a:avLst/>
          </a:prstGeom>
          <a:noFill/>
          <a:ln>
            <a:noFill/>
          </a:ln>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kumimoji="0" lang="zh-CN" altLang="en-US" sz="1600" b="1" i="0" u="none" strike="noStrike" kern="1200" cap="none" spc="0" normalizeH="0" baseline="0" noProof="0" dirty="0">
                <a:ln>
                  <a:noFill/>
                </a:ln>
                <a:solidFill>
                  <a:srgbClr val="383838"/>
                </a:solidFill>
                <a:effectLst>
                  <a:outerShdw blurRad="190500" dist="127000" dir="5400000" algn="t" rotWithShape="0">
                    <a:srgbClr val="383838">
                      <a:alpha val="20000"/>
                    </a:srgbClr>
                  </a:outerShdw>
                </a:effectLst>
                <a:uLnTx/>
                <a:uFillTx/>
                <a:latin typeface="微软雅黑"/>
                <a:ea typeface="微软雅黑"/>
                <a:cs typeface="微软雅黑"/>
              </a:rPr>
              <a:t>成长期</a:t>
            </a:r>
            <a:endParaRPr kumimoji="0" lang="zh-CN" altLang="en-US" sz="1600" b="1" i="0" u="none" strike="noStrike" kern="1200" cap="none" spc="0" normalizeH="0" baseline="0" noProof="0" dirty="0">
              <a:ln>
                <a:noFill/>
              </a:ln>
              <a:solidFill>
                <a:srgbClr val="383838"/>
              </a:solidFill>
              <a:effectLst>
                <a:outerShdw blurRad="190500" dist="127000" dir="5400000" algn="t" rotWithShape="0">
                  <a:srgbClr val="383838">
                    <a:alpha val="20000"/>
                  </a:srgbClr>
                </a:outerShdw>
              </a:effectLst>
              <a:uLnTx/>
              <a:uFillTx/>
              <a:latin typeface="微软雅黑"/>
              <a:ea typeface="微软雅黑"/>
              <a:cs typeface="微软雅黑"/>
            </a:endParaRPr>
          </a:p>
        </p:txBody>
      </p:sp>
      <p:sp>
        <p:nvSpPr>
          <p:cNvPr id="168" name="文本框 167"/>
          <p:cNvSpPr txBox="1"/>
          <p:nvPr/>
        </p:nvSpPr>
        <p:spPr>
          <a:xfrm>
            <a:off x="2774315" y="3347720"/>
            <a:ext cx="2063750" cy="1583690"/>
          </a:xfrm>
          <a:prstGeom prst="rect">
            <a:avLst/>
          </a:prstGeom>
          <a:noFill/>
        </p:spPr>
        <p:txBody>
          <a:bodyPr wrap="square" lIns="0" tIns="0" rIns="0" bIns="0">
            <a:spAutoFit/>
          </a:bodyPr>
          <a:lstStyle/>
          <a:p>
            <a:pPr marL="171450" lvl="0" indent="-171450" algn="just" fontAlgn="auto">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微信群和微信支付上线，形成微信体系内的交易闭环；</a:t>
            </a:r>
            <a:endParaRPr lang="zh-CN" altLang="en-US" sz="1200" dirty="0">
              <a:solidFill>
                <a:srgbClr val="0042FF"/>
              </a:solidFill>
              <a:effectLst/>
              <a:latin typeface="微软雅黑"/>
              <a:ea typeface="微软雅黑"/>
              <a:cs typeface="微软雅黑"/>
              <a:sym typeface="微软雅黑"/>
            </a:endParaRPr>
          </a:p>
          <a:p>
            <a:pPr marL="171450" lvl="0" indent="-171450" algn="just" fontAlgn="auto">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社交电商发展日渐成熟，分化出品牌型、平台型等模式；</a:t>
            </a:r>
            <a:endParaRPr lang="zh-CN" altLang="en-US" sz="1200" dirty="0">
              <a:solidFill>
                <a:srgbClr val="0042FF"/>
              </a:solidFill>
              <a:effectLst/>
              <a:latin typeface="微软雅黑"/>
              <a:ea typeface="微软雅黑"/>
              <a:cs typeface="微软雅黑"/>
              <a:sym typeface="微软雅黑"/>
            </a:endParaRPr>
          </a:p>
          <a:p>
            <a:pPr marL="171450" lvl="0" indent="-171450" algn="just" fontAlgn="auto">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知识付费与私域电商相结合，迈向社群经济。</a:t>
            </a:r>
            <a:endParaRPr lang="zh-CN" altLang="en-US" sz="1200" dirty="0">
              <a:solidFill>
                <a:srgbClr val="0042FF"/>
              </a:solidFill>
              <a:effectLst/>
              <a:latin typeface="微软雅黑"/>
              <a:ea typeface="微软雅黑"/>
              <a:cs typeface="微软雅黑"/>
              <a:sym typeface="微软雅黑"/>
            </a:endParaRPr>
          </a:p>
        </p:txBody>
      </p:sp>
      <p:cxnSp>
        <p:nvCxnSpPr>
          <p:cNvPr id="178" name="直接连接符 177"/>
          <p:cNvCxnSpPr/>
          <p:nvPr/>
        </p:nvCxnSpPr>
        <p:spPr>
          <a:xfrm>
            <a:off x="2647315" y="6362700"/>
            <a:ext cx="2317115" cy="0"/>
          </a:xfrm>
          <a:prstGeom prst="line">
            <a:avLst/>
          </a:prstGeom>
          <a:ln w="38100" cap="flat" cmpd="sng" algn="ctr">
            <a:solidFill>
              <a:srgbClr val="3368FF"/>
            </a:solidFill>
            <a:prstDash val="solid"/>
            <a:miter lim="800000"/>
            <a:headEnd type="none" w="med" len="med"/>
            <a:tailEnd type="none" w="med" len="med"/>
          </a:ln>
        </p:spPr>
        <p:style>
          <a:lnRef idx="1">
            <a:srgbClr val="0042FF"/>
          </a:lnRef>
          <a:fillRef idx="0">
            <a:srgbClr val="0042FF"/>
          </a:fillRef>
          <a:effectRef idx="0">
            <a:srgbClr val="0042FF"/>
          </a:effectRef>
          <a:fontRef idx="minor">
            <a:srgbClr val="383838"/>
          </a:fontRef>
        </p:style>
      </p:cxnSp>
      <p:sp>
        <p:nvSpPr>
          <p:cNvPr id="170" name="rocket-flying_72487"/>
          <p:cNvSpPr/>
          <p:nvPr/>
        </p:nvSpPr>
        <p:spPr>
          <a:xfrm rot="4592817">
            <a:off x="10919874" y="2852537"/>
            <a:ext cx="271796" cy="381196"/>
          </a:xfrm>
          <a:custGeom>
            <a:avLst/>
            <a:gdLst>
              <a:gd name="T0" fmla="*/ 5809 w 5812"/>
              <a:gd name="T1" fmla="*/ 6108 h 8163"/>
              <a:gd name="T2" fmla="*/ 4840 w 5812"/>
              <a:gd name="T3" fmla="*/ 4042 h 8163"/>
              <a:gd name="T4" fmla="*/ 4702 w 5812"/>
              <a:gd name="T5" fmla="*/ 3922 h 8163"/>
              <a:gd name="T6" fmla="*/ 3828 w 5812"/>
              <a:gd name="T7" fmla="*/ 888 h 8163"/>
              <a:gd name="T8" fmla="*/ 2944 w 5812"/>
              <a:gd name="T9" fmla="*/ 13 h 8163"/>
              <a:gd name="T10" fmla="*/ 2868 w 5812"/>
              <a:gd name="T11" fmla="*/ 13 h 8163"/>
              <a:gd name="T12" fmla="*/ 1984 w 5812"/>
              <a:gd name="T13" fmla="*/ 888 h 8163"/>
              <a:gd name="T14" fmla="*/ 1110 w 5812"/>
              <a:gd name="T15" fmla="*/ 3922 h 8163"/>
              <a:gd name="T16" fmla="*/ 972 w 5812"/>
              <a:gd name="T17" fmla="*/ 4042 h 8163"/>
              <a:gd name="T18" fmla="*/ 3 w 5812"/>
              <a:gd name="T19" fmla="*/ 6108 h 8163"/>
              <a:gd name="T20" fmla="*/ 35 w 5812"/>
              <a:gd name="T21" fmla="*/ 6200 h 8163"/>
              <a:gd name="T22" fmla="*/ 124 w 5812"/>
              <a:gd name="T23" fmla="*/ 6239 h 8163"/>
              <a:gd name="T24" fmla="*/ 1659 w 5812"/>
              <a:gd name="T25" fmla="*/ 6239 h 8163"/>
              <a:gd name="T26" fmla="*/ 1926 w 5812"/>
              <a:gd name="T27" fmla="*/ 6630 h 8163"/>
              <a:gd name="T28" fmla="*/ 1980 w 5812"/>
              <a:gd name="T29" fmla="*/ 6652 h 8163"/>
              <a:gd name="T30" fmla="*/ 2017 w 5812"/>
              <a:gd name="T31" fmla="*/ 6652 h 8163"/>
              <a:gd name="T32" fmla="*/ 2743 w 5812"/>
              <a:gd name="T33" fmla="*/ 8098 h 8163"/>
              <a:gd name="T34" fmla="*/ 2906 w 5812"/>
              <a:gd name="T35" fmla="*/ 8163 h 8163"/>
              <a:gd name="T36" fmla="*/ 3069 w 5812"/>
              <a:gd name="T37" fmla="*/ 8098 h 8163"/>
              <a:gd name="T38" fmla="*/ 3795 w 5812"/>
              <a:gd name="T39" fmla="*/ 6652 h 8163"/>
              <a:gd name="T40" fmla="*/ 3832 w 5812"/>
              <a:gd name="T41" fmla="*/ 6652 h 8163"/>
              <a:gd name="T42" fmla="*/ 3886 w 5812"/>
              <a:gd name="T43" fmla="*/ 6630 h 8163"/>
              <a:gd name="T44" fmla="*/ 4153 w 5812"/>
              <a:gd name="T45" fmla="*/ 6239 h 8163"/>
              <a:gd name="T46" fmla="*/ 5688 w 5812"/>
              <a:gd name="T47" fmla="*/ 6239 h 8163"/>
              <a:gd name="T48" fmla="*/ 5777 w 5812"/>
              <a:gd name="T49" fmla="*/ 6200 h 8163"/>
              <a:gd name="T50" fmla="*/ 5809 w 5812"/>
              <a:gd name="T51" fmla="*/ 6108 h 8163"/>
              <a:gd name="T52" fmla="*/ 2906 w 5812"/>
              <a:gd name="T53" fmla="*/ 2094 h 8163"/>
              <a:gd name="T54" fmla="*/ 3576 w 5812"/>
              <a:gd name="T55" fmla="*/ 2764 h 8163"/>
              <a:gd name="T56" fmla="*/ 2906 w 5812"/>
              <a:gd name="T57" fmla="*/ 3434 h 8163"/>
              <a:gd name="T58" fmla="*/ 2236 w 5812"/>
              <a:gd name="T59" fmla="*/ 2764 h 8163"/>
              <a:gd name="T60" fmla="*/ 2906 w 5812"/>
              <a:gd name="T61" fmla="*/ 2094 h 8163"/>
              <a:gd name="T62" fmla="*/ 2906 w 5812"/>
              <a:gd name="T63" fmla="*/ 7567 h 8163"/>
              <a:gd name="T64" fmla="*/ 2494 w 5812"/>
              <a:gd name="T65" fmla="*/ 6652 h 8163"/>
              <a:gd name="T66" fmla="*/ 3318 w 5812"/>
              <a:gd name="T67" fmla="*/ 6652 h 8163"/>
              <a:gd name="T68" fmla="*/ 2906 w 5812"/>
              <a:gd name="T69" fmla="*/ 7567 h 8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12" h="8163">
                <a:moveTo>
                  <a:pt x="5809" y="6108"/>
                </a:moveTo>
                <a:cubicBezTo>
                  <a:pt x="5733" y="5070"/>
                  <a:pt x="5240" y="4412"/>
                  <a:pt x="4840" y="4042"/>
                </a:cubicBezTo>
                <a:cubicBezTo>
                  <a:pt x="4793" y="3999"/>
                  <a:pt x="4748" y="3959"/>
                  <a:pt x="4702" y="3922"/>
                </a:cubicBezTo>
                <a:cubicBezTo>
                  <a:pt x="4702" y="2430"/>
                  <a:pt x="4227" y="1449"/>
                  <a:pt x="3828" y="888"/>
                </a:cubicBezTo>
                <a:cubicBezTo>
                  <a:pt x="3393" y="277"/>
                  <a:pt x="2962" y="24"/>
                  <a:pt x="2944" y="13"/>
                </a:cubicBezTo>
                <a:cubicBezTo>
                  <a:pt x="2920" y="0"/>
                  <a:pt x="2892" y="0"/>
                  <a:pt x="2868" y="13"/>
                </a:cubicBezTo>
                <a:cubicBezTo>
                  <a:pt x="2850" y="24"/>
                  <a:pt x="2419" y="277"/>
                  <a:pt x="1984" y="888"/>
                </a:cubicBezTo>
                <a:cubicBezTo>
                  <a:pt x="1585" y="1449"/>
                  <a:pt x="1110" y="2430"/>
                  <a:pt x="1110" y="3922"/>
                </a:cubicBezTo>
                <a:cubicBezTo>
                  <a:pt x="1064" y="3959"/>
                  <a:pt x="1019" y="3999"/>
                  <a:pt x="972" y="4042"/>
                </a:cubicBezTo>
                <a:cubicBezTo>
                  <a:pt x="572" y="4412"/>
                  <a:pt x="79" y="5070"/>
                  <a:pt x="3" y="6108"/>
                </a:cubicBezTo>
                <a:cubicBezTo>
                  <a:pt x="0" y="6142"/>
                  <a:pt x="12" y="6176"/>
                  <a:pt x="35" y="6200"/>
                </a:cubicBezTo>
                <a:cubicBezTo>
                  <a:pt x="58" y="6225"/>
                  <a:pt x="90" y="6239"/>
                  <a:pt x="124" y="6239"/>
                </a:cubicBezTo>
                <a:lnTo>
                  <a:pt x="1659" y="6239"/>
                </a:lnTo>
                <a:cubicBezTo>
                  <a:pt x="1747" y="6406"/>
                  <a:pt x="1837" y="6540"/>
                  <a:pt x="1926" y="6630"/>
                </a:cubicBezTo>
                <a:cubicBezTo>
                  <a:pt x="1940" y="6644"/>
                  <a:pt x="1959" y="6652"/>
                  <a:pt x="1980" y="6652"/>
                </a:cubicBezTo>
                <a:lnTo>
                  <a:pt x="2017" y="6652"/>
                </a:lnTo>
                <a:cubicBezTo>
                  <a:pt x="2073" y="7455"/>
                  <a:pt x="2714" y="8071"/>
                  <a:pt x="2743" y="8098"/>
                </a:cubicBezTo>
                <a:cubicBezTo>
                  <a:pt x="2788" y="8141"/>
                  <a:pt x="2847" y="8163"/>
                  <a:pt x="2906" y="8163"/>
                </a:cubicBezTo>
                <a:cubicBezTo>
                  <a:pt x="2965" y="8163"/>
                  <a:pt x="3024" y="8141"/>
                  <a:pt x="3069" y="8098"/>
                </a:cubicBezTo>
                <a:cubicBezTo>
                  <a:pt x="3098" y="8071"/>
                  <a:pt x="3738" y="7455"/>
                  <a:pt x="3795" y="6652"/>
                </a:cubicBezTo>
                <a:lnTo>
                  <a:pt x="3832" y="6652"/>
                </a:lnTo>
                <a:cubicBezTo>
                  <a:pt x="3853" y="6652"/>
                  <a:pt x="3872" y="6644"/>
                  <a:pt x="3886" y="6630"/>
                </a:cubicBezTo>
                <a:cubicBezTo>
                  <a:pt x="3975" y="6540"/>
                  <a:pt x="4065" y="6406"/>
                  <a:pt x="4153" y="6239"/>
                </a:cubicBezTo>
                <a:lnTo>
                  <a:pt x="5688" y="6239"/>
                </a:lnTo>
                <a:cubicBezTo>
                  <a:pt x="5721" y="6239"/>
                  <a:pt x="5754" y="6225"/>
                  <a:pt x="5777" y="6200"/>
                </a:cubicBezTo>
                <a:cubicBezTo>
                  <a:pt x="5800" y="6176"/>
                  <a:pt x="5812" y="6142"/>
                  <a:pt x="5809" y="6108"/>
                </a:cubicBezTo>
                <a:close/>
                <a:moveTo>
                  <a:pt x="2906" y="2094"/>
                </a:moveTo>
                <a:cubicBezTo>
                  <a:pt x="3276" y="2094"/>
                  <a:pt x="3576" y="2394"/>
                  <a:pt x="3576" y="2764"/>
                </a:cubicBezTo>
                <a:cubicBezTo>
                  <a:pt x="3576" y="3134"/>
                  <a:pt x="3276" y="3434"/>
                  <a:pt x="2906" y="3434"/>
                </a:cubicBezTo>
                <a:cubicBezTo>
                  <a:pt x="2536" y="3434"/>
                  <a:pt x="2236" y="3134"/>
                  <a:pt x="2236" y="2764"/>
                </a:cubicBezTo>
                <a:cubicBezTo>
                  <a:pt x="2236" y="2394"/>
                  <a:pt x="2536" y="2094"/>
                  <a:pt x="2906" y="2094"/>
                </a:cubicBezTo>
                <a:close/>
                <a:moveTo>
                  <a:pt x="2906" y="7567"/>
                </a:moveTo>
                <a:cubicBezTo>
                  <a:pt x="2749" y="7369"/>
                  <a:pt x="2531" y="7032"/>
                  <a:pt x="2494" y="6652"/>
                </a:cubicBezTo>
                <a:lnTo>
                  <a:pt x="3318" y="6652"/>
                </a:lnTo>
                <a:cubicBezTo>
                  <a:pt x="3281" y="7032"/>
                  <a:pt x="3063" y="7369"/>
                  <a:pt x="2906" y="7567"/>
                </a:cubicBezTo>
                <a:close/>
              </a:path>
            </a:pathLst>
          </a:cu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7" name="椭圆 56"/>
          <p:cNvSpPr/>
          <p:nvPr/>
        </p:nvSpPr>
        <p:spPr>
          <a:xfrm>
            <a:off x="1309267" y="5846112"/>
            <a:ext cx="108000" cy="108000"/>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FFFFFF"/>
                </a:solidFill>
                <a:latin typeface="微软雅黑"/>
                <a:ea typeface="微软雅黑"/>
                <a:cs typeface="微软雅黑"/>
              </a:defRPr>
            </a:pPr>
            <a:endParaRPr kumimoji="0" lang="en-US" sz="1800" b="0" i="0" u="none" strike="noStrike" kern="1200" cap="none" spc="0" normalizeH="0" baseline="0" noProof="0" dirty="0">
              <a:ln>
                <a:noFill/>
              </a:ln>
              <a:solidFill>
                <a:srgbClr val="FFFFFF"/>
              </a:solidFill>
              <a:effectLst/>
              <a:uLnTx/>
              <a:uFillTx/>
              <a:latin typeface="微软雅黑"/>
              <a:ea typeface="微软雅黑"/>
              <a:cs typeface="微软雅黑"/>
            </a:endParaRPr>
          </a:p>
        </p:txBody>
      </p:sp>
      <p:sp>
        <p:nvSpPr>
          <p:cNvPr id="58" name="文本框 57"/>
          <p:cNvSpPr txBox="1"/>
          <p:nvPr/>
        </p:nvSpPr>
        <p:spPr>
          <a:xfrm>
            <a:off x="1059180" y="5488940"/>
            <a:ext cx="739775" cy="257810"/>
          </a:xfrm>
          <a:prstGeom prst="rect">
            <a:avLst/>
          </a:prstGeom>
          <a:noFill/>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lang="en-US" sz="1400" b="1" dirty="0">
                <a:solidFill>
                  <a:srgbClr val="0042FF"/>
                </a:solidFill>
                <a:latin typeface="微软雅黑"/>
                <a:ea typeface="微软雅黑"/>
                <a:cs typeface="微软雅黑"/>
              </a:rPr>
              <a:t>2010</a:t>
            </a:r>
            <a:r>
              <a:rPr lang="zh-CN" altLang="en-US" sz="1400" b="1" dirty="0">
                <a:solidFill>
                  <a:srgbClr val="0042FF"/>
                </a:solidFill>
                <a:latin typeface="微软雅黑"/>
                <a:ea typeface="微软雅黑"/>
                <a:cs typeface="微软雅黑"/>
              </a:rPr>
              <a:t>年</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59" name="椭圆 58"/>
          <p:cNvSpPr/>
          <p:nvPr/>
        </p:nvSpPr>
        <p:spPr>
          <a:xfrm>
            <a:off x="3693057" y="5650532"/>
            <a:ext cx="108000" cy="108000"/>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0" name="文本框 59"/>
          <p:cNvSpPr txBox="1"/>
          <p:nvPr/>
        </p:nvSpPr>
        <p:spPr>
          <a:xfrm>
            <a:off x="3442970" y="5293360"/>
            <a:ext cx="739775" cy="257810"/>
          </a:xfrm>
          <a:prstGeom prst="rect">
            <a:avLst/>
          </a:prstGeom>
          <a:noFill/>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lang="en-US" sz="1400" b="1" dirty="0">
                <a:solidFill>
                  <a:srgbClr val="0042FF"/>
                </a:solidFill>
                <a:latin typeface="微软雅黑"/>
                <a:ea typeface="微软雅黑"/>
                <a:cs typeface="微软雅黑"/>
              </a:rPr>
              <a:t>2013</a:t>
            </a:r>
            <a:r>
              <a:rPr lang="zh-CN" altLang="en-US" sz="1400" b="1" dirty="0">
                <a:solidFill>
                  <a:srgbClr val="0042FF"/>
                </a:solidFill>
                <a:latin typeface="微软雅黑"/>
                <a:ea typeface="微软雅黑"/>
                <a:cs typeface="微软雅黑"/>
              </a:rPr>
              <a:t>年</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sp>
        <p:nvSpPr>
          <p:cNvPr id="61" name="椭圆 60"/>
          <p:cNvSpPr/>
          <p:nvPr/>
        </p:nvSpPr>
        <p:spPr>
          <a:xfrm>
            <a:off x="6550557" y="4678347"/>
            <a:ext cx="108000" cy="108000"/>
          </a:xfrm>
          <a:prstGeom prst="ellipse">
            <a:avLst/>
          </a:prstGeom>
          <a:solidFill>
            <a:srgbClr val="0042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2" name="文本框 61"/>
          <p:cNvSpPr txBox="1"/>
          <p:nvPr/>
        </p:nvSpPr>
        <p:spPr>
          <a:xfrm>
            <a:off x="6112510" y="4341495"/>
            <a:ext cx="739775" cy="257810"/>
          </a:xfrm>
          <a:prstGeom prst="rect">
            <a:avLst/>
          </a:prstGeom>
          <a:noFill/>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lang="en-US" sz="1400" b="1" dirty="0">
                <a:solidFill>
                  <a:srgbClr val="0042FF"/>
                </a:solidFill>
                <a:latin typeface="微软雅黑"/>
                <a:ea typeface="微软雅黑"/>
                <a:cs typeface="微软雅黑"/>
              </a:rPr>
              <a:t>2018</a:t>
            </a:r>
            <a:r>
              <a:rPr lang="zh-CN" altLang="en-US" sz="1400" b="1" dirty="0">
                <a:solidFill>
                  <a:srgbClr val="0042FF"/>
                </a:solidFill>
                <a:latin typeface="微软雅黑"/>
                <a:ea typeface="微软雅黑"/>
                <a:cs typeface="微软雅黑"/>
              </a:rPr>
              <a:t>年</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cxnSp>
        <p:nvCxnSpPr>
          <p:cNvPr id="63" name="直接连接符 62"/>
          <p:cNvCxnSpPr/>
          <p:nvPr/>
        </p:nvCxnSpPr>
        <p:spPr>
          <a:xfrm>
            <a:off x="5111750" y="6362700"/>
            <a:ext cx="3222625" cy="0"/>
          </a:xfrm>
          <a:prstGeom prst="line">
            <a:avLst/>
          </a:prstGeom>
          <a:ln w="38100" cap="flat" cmpd="sng" algn="ctr">
            <a:solidFill>
              <a:srgbClr val="0042FF"/>
            </a:solidFill>
            <a:prstDash val="solid"/>
            <a:miter lim="800000"/>
            <a:headEnd type="none" w="med" len="med"/>
            <a:tailEnd type="none" w="med" len="med"/>
          </a:ln>
        </p:spPr>
        <p:style>
          <a:lnRef idx="1">
            <a:srgbClr val="0042FF"/>
          </a:lnRef>
          <a:fillRef idx="0">
            <a:srgbClr val="0042FF"/>
          </a:fillRef>
          <a:effectRef idx="0">
            <a:srgbClr val="0042FF"/>
          </a:effectRef>
          <a:fontRef idx="minor">
            <a:srgbClr val="383838"/>
          </a:fontRef>
        </p:style>
      </p:cxnSp>
      <p:sp>
        <p:nvSpPr>
          <p:cNvPr id="64" name="文本框 63"/>
          <p:cNvSpPr txBox="1"/>
          <p:nvPr/>
        </p:nvSpPr>
        <p:spPr>
          <a:xfrm>
            <a:off x="5379720" y="5389880"/>
            <a:ext cx="2863215" cy="368935"/>
          </a:xfrm>
          <a:prstGeom prst="rect">
            <a:avLst/>
          </a:prstGeom>
          <a:noFill/>
        </p:spPr>
        <p:txBody>
          <a:bodyPr wrap="square" lIns="0" tIns="0" rIns="0" bIns="0">
            <a:spAutoFit/>
          </a:bodyPr>
          <a:lstStyle/>
          <a:p>
            <a:pPr marL="171450" lvl="0" indent="-171450" algn="just">
              <a:lnSpc>
                <a:spcPct val="120000"/>
              </a:lnSpc>
              <a:spcBef>
                <a:spcPts val="0"/>
              </a:spcBef>
              <a:spcAft>
                <a:spcPts val="1000"/>
              </a:spcAft>
              <a:buClrTx/>
              <a:buSzTx/>
              <a:buFont typeface="微软雅黑"/>
              <a:buChar char="●"/>
              <a:defRPr>
                <a:latin typeface="微软雅黑"/>
                <a:ea typeface="微软雅黑"/>
                <a:cs typeface="微软雅黑"/>
              </a:defRPr>
            </a:pPr>
            <a:r>
              <a:rPr lang="zh-CN" altLang="en-US" sz="1200" dirty="0">
                <a:solidFill>
                  <a:srgbClr val="0042FF"/>
                </a:solidFill>
                <a:effectLst/>
                <a:latin typeface="微软雅黑"/>
                <a:ea typeface="微软雅黑"/>
                <a:cs typeface="微软雅黑"/>
                <a:sym typeface="微软雅黑"/>
              </a:rPr>
              <a:t>企业微信开放性增强，催生企业微信服务生态，SCRM乘风而起</a:t>
            </a:r>
            <a:endParaRPr lang="zh-CN" altLang="en-US" sz="1200" dirty="0">
              <a:solidFill>
                <a:srgbClr val="0042FF"/>
              </a:solidFill>
              <a:effectLst/>
              <a:latin typeface="微软雅黑"/>
              <a:ea typeface="微软雅黑"/>
              <a:cs typeface="微软雅黑"/>
              <a:sym typeface="微软雅黑"/>
            </a:endParaRPr>
          </a:p>
        </p:txBody>
      </p:sp>
      <p:sp>
        <p:nvSpPr>
          <p:cNvPr id="66" name="椭圆 65"/>
          <p:cNvSpPr/>
          <p:nvPr/>
        </p:nvSpPr>
        <p:spPr>
          <a:xfrm>
            <a:off x="9888752" y="3299127"/>
            <a:ext cx="108000" cy="108000"/>
          </a:xfrm>
          <a:prstGeom prst="ellipse">
            <a:avLst/>
          </a:prstGeom>
          <a:solidFill>
            <a:srgbClr val="3368FF"/>
          </a:solidFill>
          <a:ln w="38100">
            <a:solidFill>
              <a:srgbClr val="FFFF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marL="0" marR="0" lvl="0" indent="0" algn="ctr" defTabSz="914400" rtl="0" eaLnBrk="1" fontAlgn="auto" latinLnBrk="0" hangingPunct="1">
              <a:lnSpc>
                <a:spcPct val="100000"/>
              </a:lnSpc>
              <a:spcBef>
                <a:spcPts val="0"/>
              </a:spcBef>
              <a:spcAft>
                <a:spcPts val="0"/>
              </a:spcAft>
              <a:buClrTx/>
              <a:buSzTx/>
              <a:buFontTx/>
              <a:buNone/>
              <a:defRPr>
                <a:solidFill>
                  <a:srgbClr val="383838"/>
                </a:solidFill>
                <a:latin typeface="微软雅黑"/>
                <a:ea typeface="微软雅黑"/>
                <a:cs typeface="微软雅黑"/>
              </a:defRPr>
            </a:pPr>
            <a:endParaRPr kumimoji="0" lang="en-US" sz="1800" b="0" i="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7" name="文本框 66"/>
          <p:cNvSpPr txBox="1"/>
          <p:nvPr/>
        </p:nvSpPr>
        <p:spPr>
          <a:xfrm>
            <a:off x="9464675" y="2951480"/>
            <a:ext cx="739775" cy="257810"/>
          </a:xfrm>
          <a:prstGeom prst="rect">
            <a:avLst/>
          </a:prstGeom>
          <a:noFill/>
        </p:spPr>
        <p:txBody>
          <a:bodyPr wrap="square" lIns="0" tIns="0" rIns="0" bIns="0">
            <a:spAutoFit/>
          </a:bodyPr>
          <a:lstStyle/>
          <a:p>
            <a:pPr marL="0" marR="0" lvl="0" indent="0" algn="ctr" defTabSz="914400" rtl="0" eaLnBrk="1" fontAlgn="auto" latinLnBrk="0" hangingPunct="1">
              <a:lnSpc>
                <a:spcPct val="120000"/>
              </a:lnSpc>
              <a:spcBef>
                <a:spcPts val="0"/>
              </a:spcBef>
              <a:spcAft>
                <a:spcPts val="0"/>
              </a:spcAft>
              <a:buClrTx/>
              <a:buSzTx/>
              <a:buFontTx/>
              <a:buNone/>
              <a:defRPr>
                <a:latin typeface="微软雅黑"/>
                <a:ea typeface="微软雅黑"/>
                <a:cs typeface="微软雅黑"/>
              </a:defRPr>
            </a:pPr>
            <a:r>
              <a:rPr lang="en-US" sz="1400" b="1" dirty="0">
                <a:solidFill>
                  <a:srgbClr val="0042FF"/>
                </a:solidFill>
                <a:latin typeface="微软雅黑"/>
                <a:ea typeface="微软雅黑"/>
                <a:cs typeface="微软雅黑"/>
              </a:rPr>
              <a:t>2020</a:t>
            </a:r>
            <a:r>
              <a:rPr lang="zh-CN" altLang="en-US" sz="1400" b="1" dirty="0">
                <a:solidFill>
                  <a:srgbClr val="0042FF"/>
                </a:solidFill>
                <a:latin typeface="微软雅黑"/>
                <a:ea typeface="微软雅黑"/>
                <a:cs typeface="微软雅黑"/>
              </a:rPr>
              <a:t>年</a:t>
            </a:r>
            <a:endParaRPr kumimoji="0" lang="zh-CN" altLang="en-US" sz="1400" b="1" i="0" u="none" strike="noStrike" kern="1200" cap="none" spc="0" normalizeH="0" baseline="0" noProof="0" dirty="0">
              <a:ln>
                <a:noFill/>
              </a:ln>
              <a:solidFill>
                <a:srgbClr val="0042FF"/>
              </a:solidFill>
              <a:effectLst/>
              <a:uLnTx/>
              <a:uFillTx/>
              <a:latin typeface="微软雅黑"/>
              <a:ea typeface="微软雅黑"/>
              <a:cs typeface="微软雅黑"/>
            </a:endParaRPr>
          </a:p>
        </p:txBody>
      </p:sp>
      <p:pic>
        <p:nvPicPr>
          <p:cNvPr id="2" name="图片 1"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latin typeface="微软雅黑"/>
                <a:ea typeface="微软雅黑"/>
                <a:cs typeface="微软雅黑"/>
              </a:rPr>
              <a:t>业务框架</a:t>
            </a:r>
            <a:r>
              <a:rPr lang="en-US" altLang="zh-CN" sz="2500">
                <a:solidFill>
                  <a:srgbClr val="0042FF"/>
                </a:solidFill>
                <a:latin typeface="微软雅黑"/>
                <a:ea typeface="微软雅黑"/>
                <a:cs typeface="微软雅黑"/>
              </a:rPr>
              <a:t>-</a:t>
            </a:r>
            <a:r>
              <a:rPr sz="2500">
                <a:solidFill>
                  <a:srgbClr val="0042FF"/>
                </a:solidFill>
                <a:latin typeface="微软雅黑"/>
                <a:ea typeface="微软雅黑"/>
                <a:cs typeface="微软雅黑"/>
              </a:rPr>
              <a:t>时间流程架构 | </a:t>
            </a:r>
            <a:r>
              <a:rPr sz="2500">
                <a:solidFill>
                  <a:srgbClr val="383838"/>
                </a:solidFill>
                <a:effectLst/>
                <a:latin typeface="微软雅黑"/>
                <a:ea typeface="微软雅黑"/>
                <a:cs typeface="微软雅黑"/>
                <a:sym typeface="微软雅黑"/>
              </a:rPr>
              <a:t>年度工作项目规划</a:t>
            </a:r>
            <a:endParaRPr sz="2500" b="0">
              <a:solidFill>
                <a:srgbClr val="383838"/>
              </a:solidFill>
              <a:effectLst/>
              <a:latin typeface="微软雅黑"/>
              <a:ea typeface="微软雅黑"/>
              <a:cs typeface="微软雅黑"/>
            </a:endParaRPr>
          </a:p>
        </p:txBody>
      </p:sp>
      <p:pic>
        <p:nvPicPr>
          <p:cNvPr id="2" name="图片 1"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9" name="任意形状 18"/>
          <p:cNvSpPr/>
          <p:nvPr/>
        </p:nvSpPr>
        <p:spPr>
          <a:xfrm>
            <a:off x="640953" y="1143382"/>
            <a:ext cx="11097656" cy="713994"/>
          </a:xfrm>
          <a:custGeom>
            <a:avLst/>
            <a:gdLst>
              <a:gd name="connsiteX0" fmla="*/ 11138154 w 11138153"/>
              <a:gd name="connsiteY0" fmla="*/ 357378 h 713994"/>
              <a:gd name="connsiteX1" fmla="*/ 10855452 w 11138153"/>
              <a:gd name="connsiteY1" fmla="*/ 0 h 713994"/>
              <a:gd name="connsiteX2" fmla="*/ 10855452 w 11138153"/>
              <a:gd name="connsiteY2" fmla="*/ 161544 h 713994"/>
              <a:gd name="connsiteX3" fmla="*/ 0 w 11138153"/>
              <a:gd name="connsiteY3" fmla="*/ 161544 h 713994"/>
              <a:gd name="connsiteX4" fmla="*/ 0 w 11138153"/>
              <a:gd name="connsiteY4" fmla="*/ 552450 h 713994"/>
              <a:gd name="connsiteX5" fmla="*/ 10855452 w 11138153"/>
              <a:gd name="connsiteY5" fmla="*/ 552450 h 713994"/>
              <a:gd name="connsiteX6" fmla="*/ 10855452 w 11138153"/>
              <a:gd name="connsiteY6" fmla="*/ 713994 h 7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8153" h="713994">
                <a:moveTo>
                  <a:pt x="11138154" y="357378"/>
                </a:moveTo>
                <a:lnTo>
                  <a:pt x="10855452" y="0"/>
                </a:lnTo>
                <a:lnTo>
                  <a:pt x="10855452" y="161544"/>
                </a:lnTo>
                <a:lnTo>
                  <a:pt x="0" y="161544"/>
                </a:lnTo>
                <a:lnTo>
                  <a:pt x="0" y="552450"/>
                </a:lnTo>
                <a:lnTo>
                  <a:pt x="10855452" y="552450"/>
                </a:lnTo>
                <a:lnTo>
                  <a:pt x="10855452" y="713994"/>
                </a:lnTo>
                <a:close/>
              </a:path>
            </a:pathLst>
          </a:custGeom>
          <a:solidFill>
            <a:srgbClr val="E6E6E6">
              <a:alpha val="50000"/>
            </a:srgbClr>
          </a:solidFill>
          <a:ln w="7620"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84" name="Placeholder text"/>
          <p:cNvSpPr txBox="1"/>
          <p:nvPr/>
        </p:nvSpPr>
        <p:spPr>
          <a:xfrm>
            <a:off x="1232992" y="1382398"/>
            <a:ext cx="1834292" cy="234950"/>
          </a:xfrm>
          <a:prstGeom prst="rect">
            <a:avLst/>
          </a:prstGeom>
          <a:ln w="12700">
            <a:miter lim="400000"/>
          </a:ln>
        </p:spPr>
        <p:txBody>
          <a:bodyPr wrap="square" lIns="0" tIns="0" rIns="0" bIns="0">
            <a:spAutoFit/>
          </a:bodyPr>
          <a:lstStyle>
            <a:lvl1pPr defTabSz="457200">
              <a:defRPr sz="2600">
                <a:latin typeface="微软雅黑"/>
                <a:ea typeface="微软雅黑"/>
                <a:cs typeface="微软雅黑"/>
                <a:sym typeface="微软雅黑"/>
              </a:defRPr>
            </a:lvl1pPr>
          </a:lstStyle>
          <a:p>
            <a:pPr marL="0" marR="0" lvl="0" indent="0" algn="ctr" defTabSz="4572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2026</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年</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01</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-03</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endPar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85" name="Placeholder text"/>
          <p:cNvSpPr txBox="1"/>
          <p:nvPr/>
        </p:nvSpPr>
        <p:spPr>
          <a:xfrm>
            <a:off x="3935726" y="1382398"/>
            <a:ext cx="1834292" cy="234950"/>
          </a:xfrm>
          <a:prstGeom prst="rect">
            <a:avLst/>
          </a:prstGeom>
          <a:ln w="12700">
            <a:miter lim="400000"/>
          </a:ln>
        </p:spPr>
        <p:txBody>
          <a:bodyPr wrap="square" lIns="0" tIns="0" rIns="0" bIns="0">
            <a:spAutoFit/>
          </a:bodyPr>
          <a:lstStyle>
            <a:lvl1pPr defTabSz="457200">
              <a:defRPr sz="2600">
                <a:latin typeface="微软雅黑"/>
                <a:ea typeface="微软雅黑"/>
                <a:cs typeface="微软雅黑"/>
                <a:sym typeface="微软雅黑"/>
              </a:defRPr>
            </a:lvl1pPr>
          </a:lstStyle>
          <a:p>
            <a:pPr marL="0" marR="0" lvl="0" indent="0" algn="ctr" defTabSz="4572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2026</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年</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04</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a:t>
            </a:r>
            <a:r>
              <a:rPr kumimoji="0" 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0</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6</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endPar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86" name="Placeholder text"/>
          <p:cNvSpPr txBox="1"/>
          <p:nvPr/>
        </p:nvSpPr>
        <p:spPr>
          <a:xfrm>
            <a:off x="6638459" y="1382398"/>
            <a:ext cx="1834292" cy="234950"/>
          </a:xfrm>
          <a:prstGeom prst="rect">
            <a:avLst/>
          </a:prstGeom>
          <a:ln w="12700">
            <a:miter lim="400000"/>
          </a:ln>
        </p:spPr>
        <p:txBody>
          <a:bodyPr wrap="square" lIns="0" tIns="0" rIns="0" bIns="0">
            <a:spAutoFit/>
          </a:bodyPr>
          <a:lstStyle>
            <a:lvl1pPr defTabSz="457200">
              <a:defRPr sz="2600">
                <a:latin typeface="微软雅黑"/>
                <a:ea typeface="微软雅黑"/>
                <a:cs typeface="微软雅黑"/>
                <a:sym typeface="微软雅黑"/>
              </a:defRPr>
            </a:lvl1pPr>
          </a:lstStyle>
          <a:p>
            <a:pPr marL="0" marR="0" lvl="0" indent="0" algn="ctr" defTabSz="4572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2026</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年</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07</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a:t>
            </a:r>
            <a:r>
              <a:rPr kumimoji="0" 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0</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9</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endPar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87" name="Placeholder text"/>
          <p:cNvSpPr txBox="1"/>
          <p:nvPr/>
        </p:nvSpPr>
        <p:spPr>
          <a:xfrm>
            <a:off x="9411994" y="1382398"/>
            <a:ext cx="1834292" cy="234950"/>
          </a:xfrm>
          <a:prstGeom prst="rect">
            <a:avLst/>
          </a:prstGeom>
          <a:ln w="12700">
            <a:miter lim="400000"/>
          </a:ln>
        </p:spPr>
        <p:txBody>
          <a:bodyPr wrap="square" lIns="0" tIns="0" rIns="0" bIns="0">
            <a:spAutoFit/>
          </a:bodyPr>
          <a:lstStyle>
            <a:lvl1pPr defTabSz="457200">
              <a:defRPr sz="2600">
                <a:latin typeface="微软雅黑"/>
                <a:ea typeface="微软雅黑"/>
                <a:cs typeface="微软雅黑"/>
                <a:sym typeface="微软雅黑"/>
              </a:defRPr>
            </a:lvl1pPr>
          </a:lstStyle>
          <a:p>
            <a:pPr marL="0" marR="0" lvl="0" indent="0" algn="ctr" defTabSz="4572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2026</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年</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10</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r>
              <a:rPr kumimoji="0" 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a:t>
            </a:r>
            <a:r>
              <a:rPr kumimoji="0" lang="en-US" altLang="zh-CN"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12</a:t>
            </a:r>
            <a:r>
              <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rPr>
              <a:t>月</a:t>
            </a:r>
            <a:endParaRPr kumimoji="0" lang="zh-CN" altLang="en-US" sz="1200" b="1" u="none" strike="noStrike" kern="1200" cap="none" spc="0" normalizeH="0" baseline="0" noProof="0" dirty="0">
              <a:ln>
                <a:noFill/>
              </a:ln>
              <a:solidFill>
                <a:srgbClr val="383838"/>
              </a:solidFill>
              <a:effectLst/>
              <a:uLnTx/>
              <a:uFillTx/>
              <a:latin typeface="微软雅黑"/>
              <a:ea typeface="微软雅黑"/>
              <a:cs typeface="微软雅黑"/>
              <a:sym typeface="微软雅黑"/>
            </a:endParaRPr>
          </a:p>
        </p:txBody>
      </p:sp>
      <p:sp>
        <p:nvSpPr>
          <p:cNvPr id="110" name="任意形状 109"/>
          <p:cNvSpPr/>
          <p:nvPr/>
        </p:nvSpPr>
        <p:spPr>
          <a:xfrm>
            <a:off x="467759" y="2982828"/>
            <a:ext cx="11251692" cy="7620"/>
          </a:xfrm>
          <a:custGeom>
            <a:avLst/>
            <a:gdLst>
              <a:gd name="connsiteX0" fmla="*/ 0 w 11251692"/>
              <a:gd name="connsiteY0" fmla="*/ 0 h 7620"/>
              <a:gd name="connsiteX1" fmla="*/ 11251692 w 11251692"/>
              <a:gd name="connsiteY1" fmla="*/ 0 h 7620"/>
            </a:gdLst>
            <a:ahLst/>
            <a:cxnLst>
              <a:cxn ang="0">
                <a:pos x="connsiteX0" y="connsiteY0"/>
              </a:cxn>
              <a:cxn ang="0">
                <a:pos x="connsiteX1" y="connsiteY1"/>
              </a:cxn>
            </a:cxnLst>
            <a:rect l="l" t="t" r="r" b="b"/>
            <a:pathLst>
              <a:path w="11251692" h="7620">
                <a:moveTo>
                  <a:pt x="0" y="0"/>
                </a:moveTo>
                <a:lnTo>
                  <a:pt x="11251692"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11" name="任意形状 110"/>
          <p:cNvSpPr/>
          <p:nvPr/>
        </p:nvSpPr>
        <p:spPr>
          <a:xfrm>
            <a:off x="467759" y="4095801"/>
            <a:ext cx="11251692" cy="7620"/>
          </a:xfrm>
          <a:custGeom>
            <a:avLst/>
            <a:gdLst>
              <a:gd name="connsiteX0" fmla="*/ 0 w 11251692"/>
              <a:gd name="connsiteY0" fmla="*/ 0 h 7620"/>
              <a:gd name="connsiteX1" fmla="*/ 11251692 w 11251692"/>
              <a:gd name="connsiteY1" fmla="*/ 0 h 7620"/>
            </a:gdLst>
            <a:ahLst/>
            <a:cxnLst>
              <a:cxn ang="0">
                <a:pos x="connsiteX0" y="connsiteY0"/>
              </a:cxn>
              <a:cxn ang="0">
                <a:pos x="connsiteX1" y="connsiteY1"/>
              </a:cxn>
            </a:cxnLst>
            <a:rect l="l" t="t" r="r" b="b"/>
            <a:pathLst>
              <a:path w="11251692" h="7620">
                <a:moveTo>
                  <a:pt x="0" y="0"/>
                </a:moveTo>
                <a:lnTo>
                  <a:pt x="11251692"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4" name="任意形状 13"/>
          <p:cNvSpPr/>
          <p:nvPr/>
        </p:nvSpPr>
        <p:spPr>
          <a:xfrm>
            <a:off x="8553008" y="1143763"/>
            <a:ext cx="713231" cy="713232"/>
          </a:xfrm>
          <a:custGeom>
            <a:avLst/>
            <a:gdLst>
              <a:gd name="connsiteX0" fmla="*/ 713232 w 713231"/>
              <a:gd name="connsiteY0" fmla="*/ 356616 h 713232"/>
              <a:gd name="connsiteX1" fmla="*/ 356616 w 713231"/>
              <a:gd name="connsiteY1" fmla="*/ 713232 h 713232"/>
              <a:gd name="connsiteX2" fmla="*/ 0 w 713231"/>
              <a:gd name="connsiteY2" fmla="*/ 356616 h 713232"/>
              <a:gd name="connsiteX3" fmla="*/ 356616 w 713231"/>
              <a:gd name="connsiteY3" fmla="*/ 0 h 713232"/>
              <a:gd name="connsiteX4" fmla="*/ 713232 w 713231"/>
              <a:gd name="connsiteY4" fmla="*/ 356616 h 713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231" h="713232">
                <a:moveTo>
                  <a:pt x="713232" y="356616"/>
                </a:moveTo>
                <a:cubicBezTo>
                  <a:pt x="713232" y="553570"/>
                  <a:pt x="553570" y="713232"/>
                  <a:pt x="356616" y="713232"/>
                </a:cubicBezTo>
                <a:cubicBezTo>
                  <a:pt x="159662" y="713232"/>
                  <a:pt x="0" y="553570"/>
                  <a:pt x="0" y="356616"/>
                </a:cubicBezTo>
                <a:cubicBezTo>
                  <a:pt x="0" y="159662"/>
                  <a:pt x="159662" y="0"/>
                  <a:pt x="356616" y="0"/>
                </a:cubicBezTo>
                <a:cubicBezTo>
                  <a:pt x="553570" y="0"/>
                  <a:pt x="713232" y="159662"/>
                  <a:pt x="713232" y="356616"/>
                </a:cubicBezTo>
                <a:close/>
              </a:path>
            </a:pathLst>
          </a:custGeom>
          <a:solidFill>
            <a:srgbClr val="B3D4FE"/>
          </a:solidFill>
          <a:ln w="7620" cap="flat">
            <a:noFill/>
            <a:prstDash val="solid"/>
            <a:miter/>
          </a:ln>
        </p:spPr>
        <p:txBody>
          <a:bodyPr rtlCol="0" anchor="ctr" lIns="0" rIns="0" tIns="0" bIns="0"/>
          <a:lstStyle/>
          <a:p>
            <a:pPr algn="ctr">
              <a:defRPr>
                <a:latin typeface="微软雅黑"/>
                <a:ea typeface="微软雅黑"/>
                <a:cs typeface="微软雅黑"/>
              </a:defRPr>
            </a:pPr>
            <a:r>
              <a:rPr lang="en-US" altLang="zh-CN" b="1" dirty="0">
                <a:solidFill>
                  <a:srgbClr val="383838"/>
                </a:solidFill>
                <a:latin typeface="微软雅黑"/>
                <a:ea typeface="微软雅黑"/>
                <a:cs typeface="微软雅黑"/>
              </a:rPr>
              <a:t>Q4</a:t>
            </a:r>
            <a:endParaRPr lang="en-US" altLang="zh-CN" b="1" dirty="0">
              <a:solidFill>
                <a:srgbClr val="383838"/>
              </a:solidFill>
              <a:latin typeface="微软雅黑"/>
              <a:ea typeface="微软雅黑"/>
              <a:cs typeface="微软雅黑"/>
            </a:endParaRPr>
          </a:p>
        </p:txBody>
      </p:sp>
      <p:sp>
        <p:nvSpPr>
          <p:cNvPr id="13" name="任意形状 12"/>
          <p:cNvSpPr/>
          <p:nvPr/>
        </p:nvSpPr>
        <p:spPr>
          <a:xfrm>
            <a:off x="8905875" y="1860550"/>
            <a:ext cx="76200" cy="4432935"/>
          </a:xfrm>
          <a:custGeom>
            <a:avLst/>
            <a:gdLst>
              <a:gd name="connsiteX0" fmla="*/ 0 w 7620"/>
              <a:gd name="connsiteY0" fmla="*/ 3888486 h 3888486"/>
              <a:gd name="connsiteX1" fmla="*/ 0 w 7620"/>
              <a:gd name="connsiteY1" fmla="*/ 0 h 3888486"/>
            </a:gdLst>
            <a:ahLst/>
            <a:cxnLst>
              <a:cxn ang="0">
                <a:pos x="connsiteX0" y="connsiteY0"/>
              </a:cxn>
              <a:cxn ang="0">
                <a:pos x="connsiteX1" y="connsiteY1"/>
              </a:cxn>
            </a:cxnLst>
            <a:rect l="l" t="t" r="r" b="b"/>
            <a:pathLst>
              <a:path w="7620" h="3888486">
                <a:moveTo>
                  <a:pt x="0" y="3888486"/>
                </a:moveTo>
                <a:lnTo>
                  <a:pt x="0"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1" name="任意形状 20"/>
          <p:cNvSpPr/>
          <p:nvPr/>
        </p:nvSpPr>
        <p:spPr>
          <a:xfrm>
            <a:off x="5855675" y="1143763"/>
            <a:ext cx="713231" cy="713232"/>
          </a:xfrm>
          <a:custGeom>
            <a:avLst/>
            <a:gdLst>
              <a:gd name="connsiteX0" fmla="*/ 713232 w 713231"/>
              <a:gd name="connsiteY0" fmla="*/ 356616 h 713232"/>
              <a:gd name="connsiteX1" fmla="*/ 356616 w 713231"/>
              <a:gd name="connsiteY1" fmla="*/ 713232 h 713232"/>
              <a:gd name="connsiteX2" fmla="*/ 0 w 713231"/>
              <a:gd name="connsiteY2" fmla="*/ 356616 h 713232"/>
              <a:gd name="connsiteX3" fmla="*/ 356616 w 713231"/>
              <a:gd name="connsiteY3" fmla="*/ 0 h 713232"/>
              <a:gd name="connsiteX4" fmla="*/ 713232 w 713231"/>
              <a:gd name="connsiteY4" fmla="*/ 356616 h 713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231" h="713232">
                <a:moveTo>
                  <a:pt x="713232" y="356616"/>
                </a:moveTo>
                <a:cubicBezTo>
                  <a:pt x="713232" y="553570"/>
                  <a:pt x="553570" y="713232"/>
                  <a:pt x="356616" y="713232"/>
                </a:cubicBezTo>
                <a:cubicBezTo>
                  <a:pt x="159663" y="713232"/>
                  <a:pt x="0" y="553570"/>
                  <a:pt x="0" y="356616"/>
                </a:cubicBezTo>
                <a:cubicBezTo>
                  <a:pt x="0" y="159662"/>
                  <a:pt x="159663" y="0"/>
                  <a:pt x="356616" y="0"/>
                </a:cubicBezTo>
                <a:cubicBezTo>
                  <a:pt x="553570" y="0"/>
                  <a:pt x="713232" y="159662"/>
                  <a:pt x="713232" y="356616"/>
                </a:cubicBezTo>
                <a:close/>
              </a:path>
            </a:pathLst>
          </a:custGeom>
          <a:solidFill>
            <a:srgbClr val="3368FF"/>
          </a:solidFill>
          <a:ln w="7620" cap="flat">
            <a:noFill/>
            <a:prstDash val="solid"/>
            <a:miter/>
          </a:ln>
        </p:spPr>
        <p:txBody>
          <a:bodyPr rtlCol="0" anchor="ctr" lIns="0" rIns="0" tIns="0" bIns="0"/>
          <a:lstStyle/>
          <a:p>
            <a:pPr algn="ctr">
              <a:defRPr>
                <a:solidFill>
                  <a:srgbClr val="FFFFFF"/>
                </a:solidFill>
                <a:latin typeface="微软雅黑"/>
                <a:ea typeface="微软雅黑"/>
                <a:cs typeface="微软雅黑"/>
              </a:defRPr>
            </a:pPr>
            <a:r>
              <a:rPr lang="en-US" altLang="zh-CN" b="1" dirty="0">
                <a:solidFill>
                  <a:srgbClr val="FFFFFF"/>
                </a:solidFill>
                <a:latin typeface="微软雅黑"/>
                <a:ea typeface="微软雅黑"/>
                <a:cs typeface="微软雅黑"/>
              </a:rPr>
              <a:t>Q3</a:t>
            </a:r>
            <a:endParaRPr lang="en-US" altLang="zh-CN" b="1" dirty="0">
              <a:solidFill>
                <a:srgbClr val="FFFFFF"/>
              </a:solidFill>
              <a:latin typeface="微软雅黑"/>
              <a:ea typeface="微软雅黑"/>
              <a:cs typeface="微软雅黑"/>
            </a:endParaRPr>
          </a:p>
        </p:txBody>
      </p:sp>
      <p:sp>
        <p:nvSpPr>
          <p:cNvPr id="22" name="任意形状 21"/>
          <p:cNvSpPr/>
          <p:nvPr/>
        </p:nvSpPr>
        <p:spPr>
          <a:xfrm>
            <a:off x="6208395" y="1860550"/>
            <a:ext cx="76200" cy="4395470"/>
          </a:xfrm>
          <a:custGeom>
            <a:avLst/>
            <a:gdLst>
              <a:gd name="connsiteX0" fmla="*/ 0 w 7620"/>
              <a:gd name="connsiteY0" fmla="*/ 3888486 h 3888486"/>
              <a:gd name="connsiteX1" fmla="*/ 0 w 7620"/>
              <a:gd name="connsiteY1" fmla="*/ 0 h 3888486"/>
            </a:gdLst>
            <a:ahLst/>
            <a:cxnLst>
              <a:cxn ang="0">
                <a:pos x="connsiteX0" y="connsiteY0"/>
              </a:cxn>
              <a:cxn ang="0">
                <a:pos x="connsiteX1" y="connsiteY1"/>
              </a:cxn>
            </a:cxnLst>
            <a:rect l="l" t="t" r="r" b="b"/>
            <a:pathLst>
              <a:path w="7620" h="3888486">
                <a:moveTo>
                  <a:pt x="0" y="3888486"/>
                </a:moveTo>
                <a:lnTo>
                  <a:pt x="0"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8" name="任意形状 17"/>
          <p:cNvSpPr/>
          <p:nvPr/>
        </p:nvSpPr>
        <p:spPr>
          <a:xfrm>
            <a:off x="3158342" y="1143763"/>
            <a:ext cx="713232" cy="713232"/>
          </a:xfrm>
          <a:custGeom>
            <a:avLst/>
            <a:gdLst>
              <a:gd name="connsiteX0" fmla="*/ 713232 w 713232"/>
              <a:gd name="connsiteY0" fmla="*/ 356616 h 713232"/>
              <a:gd name="connsiteX1" fmla="*/ 356616 w 713232"/>
              <a:gd name="connsiteY1" fmla="*/ 713232 h 713232"/>
              <a:gd name="connsiteX2" fmla="*/ 0 w 713232"/>
              <a:gd name="connsiteY2" fmla="*/ 356616 h 713232"/>
              <a:gd name="connsiteX3" fmla="*/ 356616 w 713232"/>
              <a:gd name="connsiteY3" fmla="*/ 0 h 713232"/>
              <a:gd name="connsiteX4" fmla="*/ 713232 w 713232"/>
              <a:gd name="connsiteY4" fmla="*/ 356616 h 713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232" h="713232">
                <a:moveTo>
                  <a:pt x="713232" y="356616"/>
                </a:moveTo>
                <a:cubicBezTo>
                  <a:pt x="713232" y="553570"/>
                  <a:pt x="553570" y="713232"/>
                  <a:pt x="356616" y="713232"/>
                </a:cubicBezTo>
                <a:cubicBezTo>
                  <a:pt x="159663" y="713232"/>
                  <a:pt x="0" y="553570"/>
                  <a:pt x="0" y="356616"/>
                </a:cubicBezTo>
                <a:cubicBezTo>
                  <a:pt x="0" y="159662"/>
                  <a:pt x="159663" y="0"/>
                  <a:pt x="356616" y="0"/>
                </a:cubicBezTo>
                <a:cubicBezTo>
                  <a:pt x="553570" y="0"/>
                  <a:pt x="713232" y="159662"/>
                  <a:pt x="713232" y="356616"/>
                </a:cubicBezTo>
                <a:close/>
              </a:path>
            </a:pathLst>
          </a:custGeom>
          <a:solidFill>
            <a:srgbClr val="3368FF"/>
          </a:solidFill>
          <a:ln w="7620" cap="flat">
            <a:noFill/>
            <a:prstDash val="solid"/>
            <a:miter/>
          </a:ln>
        </p:spPr>
        <p:txBody>
          <a:bodyPr rtlCol="0" anchor="ctr" lIns="0" rIns="0" tIns="0" bIns="0"/>
          <a:lstStyle/>
          <a:p>
            <a:pPr algn="ctr">
              <a:defRPr>
                <a:solidFill>
                  <a:srgbClr val="FFFFFF"/>
                </a:solidFill>
                <a:latin typeface="微软雅黑"/>
                <a:ea typeface="微软雅黑"/>
                <a:cs typeface="微软雅黑"/>
              </a:defRPr>
            </a:pPr>
            <a:r>
              <a:rPr lang="en-US" altLang="zh-CN" b="1" dirty="0">
                <a:solidFill>
                  <a:srgbClr val="FFFFFF"/>
                </a:solidFill>
                <a:latin typeface="微软雅黑"/>
                <a:ea typeface="微软雅黑"/>
                <a:cs typeface="微软雅黑"/>
              </a:rPr>
              <a:t>Q2</a:t>
            </a:r>
            <a:endParaRPr lang="en-US" altLang="zh-CN" b="1" dirty="0">
              <a:solidFill>
                <a:srgbClr val="FFFFFF"/>
              </a:solidFill>
              <a:latin typeface="微软雅黑"/>
              <a:ea typeface="微软雅黑"/>
              <a:cs typeface="微软雅黑"/>
            </a:endParaRPr>
          </a:p>
        </p:txBody>
      </p:sp>
      <p:sp>
        <p:nvSpPr>
          <p:cNvPr id="17" name="任意形状 16"/>
          <p:cNvSpPr/>
          <p:nvPr/>
        </p:nvSpPr>
        <p:spPr>
          <a:xfrm>
            <a:off x="3510915" y="1860550"/>
            <a:ext cx="76200" cy="4395470"/>
          </a:xfrm>
          <a:custGeom>
            <a:avLst/>
            <a:gdLst>
              <a:gd name="connsiteX0" fmla="*/ 0 w 7620"/>
              <a:gd name="connsiteY0" fmla="*/ 3888486 h 3888486"/>
              <a:gd name="connsiteX1" fmla="*/ 0 w 7620"/>
              <a:gd name="connsiteY1" fmla="*/ 0 h 3888486"/>
            </a:gdLst>
            <a:ahLst/>
            <a:cxnLst>
              <a:cxn ang="0">
                <a:pos x="connsiteX0" y="connsiteY0"/>
              </a:cxn>
              <a:cxn ang="0">
                <a:pos x="connsiteX1" y="connsiteY1"/>
              </a:cxn>
            </a:cxnLst>
            <a:rect l="l" t="t" r="r" b="b"/>
            <a:pathLst>
              <a:path w="7620" h="3888486">
                <a:moveTo>
                  <a:pt x="0" y="3888486"/>
                </a:moveTo>
                <a:lnTo>
                  <a:pt x="0"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15" name="任意形状 8"/>
          <p:cNvSpPr/>
          <p:nvPr/>
        </p:nvSpPr>
        <p:spPr>
          <a:xfrm flipH="1">
            <a:off x="753745" y="1860550"/>
            <a:ext cx="76200" cy="4391660"/>
          </a:xfrm>
          <a:custGeom>
            <a:avLst/>
            <a:gdLst>
              <a:gd name="connsiteX0" fmla="*/ 0 w 7620"/>
              <a:gd name="connsiteY0" fmla="*/ 3888486 h 3888486"/>
              <a:gd name="connsiteX1" fmla="*/ 0 w 7620"/>
              <a:gd name="connsiteY1" fmla="*/ 0 h 3888486"/>
            </a:gdLst>
            <a:ahLst/>
            <a:cxnLst>
              <a:cxn ang="0">
                <a:pos x="connsiteX0" y="connsiteY0"/>
              </a:cxn>
              <a:cxn ang="0">
                <a:pos x="connsiteX1" y="connsiteY1"/>
              </a:cxn>
            </a:cxnLst>
            <a:rect l="l" t="t" r="r" b="b"/>
            <a:pathLst>
              <a:path w="7620" h="3888486">
                <a:moveTo>
                  <a:pt x="0" y="3888486"/>
                </a:moveTo>
                <a:lnTo>
                  <a:pt x="0"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23" name="任意形状 9"/>
          <p:cNvSpPr/>
          <p:nvPr/>
        </p:nvSpPr>
        <p:spPr>
          <a:xfrm>
            <a:off x="461009" y="1143763"/>
            <a:ext cx="713232" cy="713232"/>
          </a:xfrm>
          <a:custGeom>
            <a:avLst/>
            <a:gdLst>
              <a:gd name="connsiteX0" fmla="*/ 713232 w 713232"/>
              <a:gd name="connsiteY0" fmla="*/ 356616 h 713232"/>
              <a:gd name="connsiteX1" fmla="*/ 356616 w 713232"/>
              <a:gd name="connsiteY1" fmla="*/ 713232 h 713232"/>
              <a:gd name="connsiteX2" fmla="*/ 0 w 713232"/>
              <a:gd name="connsiteY2" fmla="*/ 356616 h 713232"/>
              <a:gd name="connsiteX3" fmla="*/ 356616 w 713232"/>
              <a:gd name="connsiteY3" fmla="*/ 0 h 713232"/>
              <a:gd name="connsiteX4" fmla="*/ 713232 w 713232"/>
              <a:gd name="connsiteY4" fmla="*/ 356616 h 713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232" h="713232">
                <a:moveTo>
                  <a:pt x="713232" y="356616"/>
                </a:moveTo>
                <a:cubicBezTo>
                  <a:pt x="713232" y="553570"/>
                  <a:pt x="553570" y="713232"/>
                  <a:pt x="356616" y="713232"/>
                </a:cubicBezTo>
                <a:cubicBezTo>
                  <a:pt x="159662" y="713232"/>
                  <a:pt x="0" y="553570"/>
                  <a:pt x="0" y="356616"/>
                </a:cubicBezTo>
                <a:cubicBezTo>
                  <a:pt x="0" y="159662"/>
                  <a:pt x="159662" y="0"/>
                  <a:pt x="356616" y="0"/>
                </a:cubicBezTo>
                <a:cubicBezTo>
                  <a:pt x="553570" y="0"/>
                  <a:pt x="713232" y="159662"/>
                  <a:pt x="713232" y="356616"/>
                </a:cubicBezTo>
                <a:close/>
              </a:path>
            </a:pathLst>
          </a:custGeom>
          <a:solidFill>
            <a:srgbClr val="0042FF"/>
          </a:solidFill>
          <a:ln w="7620" cap="flat">
            <a:noFill/>
            <a:prstDash val="solid"/>
            <a:miter/>
          </a:ln>
        </p:spPr>
        <p:txBody>
          <a:bodyPr rtlCol="0" anchor="ctr" lIns="0" rIns="0" tIns="0" bIns="0"/>
          <a:lstStyle/>
          <a:p>
            <a:pPr algn="ctr">
              <a:defRPr>
                <a:solidFill>
                  <a:srgbClr val="FFFFFF"/>
                </a:solidFill>
                <a:latin typeface="微软雅黑"/>
                <a:ea typeface="微软雅黑"/>
                <a:cs typeface="微软雅黑"/>
              </a:defRPr>
            </a:pPr>
            <a:r>
              <a:rPr lang="en-US" altLang="zh-CN" b="1" dirty="0">
                <a:solidFill>
                  <a:srgbClr val="FFFFFF"/>
                </a:solidFill>
                <a:latin typeface="微软雅黑"/>
                <a:ea typeface="微软雅黑"/>
                <a:cs typeface="微软雅黑"/>
              </a:rPr>
              <a:t>Q1</a:t>
            </a:r>
            <a:endParaRPr lang="en-US" altLang="zh-CN" b="1" dirty="0">
              <a:solidFill>
                <a:srgbClr val="FFFFFF"/>
              </a:solidFill>
              <a:latin typeface="微软雅黑"/>
              <a:ea typeface="微软雅黑"/>
              <a:cs typeface="微软雅黑"/>
            </a:endParaRPr>
          </a:p>
        </p:txBody>
      </p:sp>
      <p:grpSp>
        <p:nvGrpSpPr>
          <p:cNvPr id="41" name="组合 40"/>
          <p:cNvGrpSpPr/>
          <p:nvPr/>
        </p:nvGrpSpPr>
        <p:grpSpPr>
          <a:xfrm>
            <a:off x="683260" y="2113280"/>
            <a:ext cx="10440670" cy="756920"/>
            <a:chOff x="1076" y="3328"/>
            <a:chExt cx="16442" cy="1192"/>
          </a:xfrm>
        </p:grpSpPr>
        <p:sp>
          <p:nvSpPr>
            <p:cNvPr id="72" name="TextBox 70"/>
            <p:cNvSpPr txBox="1"/>
            <p:nvPr/>
          </p:nvSpPr>
          <p:spPr>
            <a:xfrm>
              <a:off x="1888" y="3328"/>
              <a:ext cx="1858"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01.</a:t>
              </a:r>
              <a:r>
                <a:rPr lang="zh-CN" altLang="en-US" sz="1200" b="1" noProof="1">
                  <a:solidFill>
                    <a:srgbClr val="383838"/>
                  </a:solidFill>
                  <a:latin typeface="微软雅黑"/>
                  <a:ea typeface="微软雅黑"/>
                  <a:cs typeface="微软雅黑"/>
                </a:rPr>
                <a:t>业绩稳步增长</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73" name="TextBox 71"/>
            <p:cNvSpPr txBox="1"/>
            <p:nvPr/>
          </p:nvSpPr>
          <p:spPr>
            <a:xfrm>
              <a:off x="1888" y="368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销售额同比增长</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10%</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，完成季度目标，为全年奠定基础。</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0" name="TextBox 70"/>
            <p:cNvSpPr txBox="1"/>
            <p:nvPr/>
          </p:nvSpPr>
          <p:spPr>
            <a:xfrm>
              <a:off x="6178" y="3328"/>
              <a:ext cx="1937"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01.</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新型产品上线</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1" name="TextBox 71"/>
            <p:cNvSpPr txBox="1"/>
            <p:nvPr/>
          </p:nvSpPr>
          <p:spPr>
            <a:xfrm>
              <a:off x="6178" y="368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成功推出</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1</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款新产品，市场反馈良好，销售额贡献显著。</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7" name="TextBox 70"/>
            <p:cNvSpPr txBox="1"/>
            <p:nvPr/>
          </p:nvSpPr>
          <p:spPr>
            <a:xfrm>
              <a:off x="10425" y="3328"/>
              <a:ext cx="1853"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01.</a:t>
              </a:r>
              <a:r>
                <a:rPr lang="zh-CN" altLang="en-US" sz="1200" b="1" noProof="1">
                  <a:solidFill>
                    <a:srgbClr val="383838"/>
                  </a:solidFill>
                  <a:latin typeface="微软雅黑"/>
                  <a:ea typeface="微软雅黑"/>
                  <a:cs typeface="微软雅黑"/>
                </a:rPr>
                <a:t>重点项目推进</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8" name="TextBox 71"/>
            <p:cNvSpPr txBox="1"/>
            <p:nvPr/>
          </p:nvSpPr>
          <p:spPr>
            <a:xfrm>
              <a:off x="10425" y="368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完成</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2</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个重点项目，进度符合预期，为年底目标提供保障。</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4" name="TextBox 70"/>
            <p:cNvSpPr txBox="1"/>
            <p:nvPr/>
          </p:nvSpPr>
          <p:spPr>
            <a:xfrm>
              <a:off x="14666" y="3330"/>
              <a:ext cx="1931" cy="434"/>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01.</a:t>
              </a:r>
              <a:r>
                <a:rPr lang="zh-CN" altLang="en-US" sz="1200" b="1" noProof="1">
                  <a:solidFill>
                    <a:srgbClr val="383838"/>
                  </a:solidFill>
                  <a:latin typeface="微软雅黑"/>
                  <a:ea typeface="微软雅黑"/>
                  <a:cs typeface="微软雅黑"/>
                </a:rPr>
                <a:t>年度目标达成</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5" name="TextBox 71"/>
            <p:cNvSpPr txBox="1"/>
            <p:nvPr/>
          </p:nvSpPr>
          <p:spPr>
            <a:xfrm>
              <a:off x="14666" y="368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超额完成全年销售目标，同比增长</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15%</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，业绩表现优异。</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51" name="任意形状 50"/>
            <p:cNvSpPr/>
            <p:nvPr/>
          </p:nvSpPr>
          <p:spPr>
            <a:xfrm>
              <a:off x="13820" y="3379"/>
              <a:ext cx="422" cy="422"/>
            </a:xfrm>
            <a:custGeom>
              <a:avLst/>
              <a:gdLst>
                <a:gd name="connsiteX0" fmla="*/ 268224 w 268223"/>
                <a:gd name="connsiteY0" fmla="*/ 134112 h 268224"/>
                <a:gd name="connsiteX1" fmla="*/ 134112 w 268223"/>
                <a:gd name="connsiteY1" fmla="*/ 268224 h 268224"/>
                <a:gd name="connsiteX2" fmla="*/ 0 w 268223"/>
                <a:gd name="connsiteY2" fmla="*/ 134112 h 268224"/>
                <a:gd name="connsiteX3" fmla="*/ 134112 w 268223"/>
                <a:gd name="connsiteY3" fmla="*/ 0 h 268224"/>
                <a:gd name="connsiteX4" fmla="*/ 268224 w 268223"/>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3"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2" name="任意形状 51"/>
            <p:cNvSpPr/>
            <p:nvPr/>
          </p:nvSpPr>
          <p:spPr>
            <a:xfrm>
              <a:off x="13820" y="3380"/>
              <a:ext cx="422" cy="422"/>
            </a:xfrm>
            <a:custGeom>
              <a:avLst/>
              <a:gdLst>
                <a:gd name="connsiteX0" fmla="*/ 115062 w 268223"/>
                <a:gd name="connsiteY0" fmla="*/ 216408 h 268224"/>
                <a:gd name="connsiteX1" fmla="*/ 36575 w 268223"/>
                <a:gd name="connsiteY1" fmla="*/ 137922 h 268224"/>
                <a:gd name="connsiteX2" fmla="*/ 67818 w 268223"/>
                <a:gd name="connsiteY2" fmla="*/ 106680 h 268224"/>
                <a:gd name="connsiteX3" fmla="*/ 115062 w 268223"/>
                <a:gd name="connsiteY3" fmla="*/ 153924 h 268224"/>
                <a:gd name="connsiteX4" fmla="*/ 201168 w 268223"/>
                <a:gd name="connsiteY4" fmla="*/ 67818 h 268224"/>
                <a:gd name="connsiteX5" fmla="*/ 232410 w 268223"/>
                <a:gd name="connsiteY5" fmla="*/ 99060 h 268224"/>
                <a:gd name="connsiteX6" fmla="*/ 115062 w 268223"/>
                <a:gd name="connsiteY6" fmla="*/ 216408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6408"/>
                  </a:moveTo>
                  <a:lnTo>
                    <a:pt x="36575" y="137922"/>
                  </a:lnTo>
                  <a:lnTo>
                    <a:pt x="67818" y="106680"/>
                  </a:lnTo>
                  <a:lnTo>
                    <a:pt x="115062" y="153924"/>
                  </a:lnTo>
                  <a:lnTo>
                    <a:pt x="201168" y="67818"/>
                  </a:lnTo>
                  <a:lnTo>
                    <a:pt x="232410" y="99060"/>
                  </a:lnTo>
                  <a:lnTo>
                    <a:pt x="115062" y="216408"/>
                  </a:lnTo>
                  <a:close/>
                  <a:moveTo>
                    <a:pt x="134112" y="0"/>
                  </a:moveTo>
                  <a:cubicBezTo>
                    <a:pt x="60198" y="0"/>
                    <a:pt x="0" y="60198"/>
                    <a:pt x="0" y="134112"/>
                  </a:cubicBezTo>
                  <a:cubicBezTo>
                    <a:pt x="0" y="208026"/>
                    <a:pt x="60198" y="268224"/>
                    <a:pt x="134112" y="268224"/>
                  </a:cubicBezTo>
                  <a:cubicBezTo>
                    <a:pt x="208025" y="268224"/>
                    <a:pt x="268224" y="208026"/>
                    <a:pt x="268224" y="134112"/>
                  </a:cubicBezTo>
                  <a:cubicBezTo>
                    <a:pt x="268224" y="60198"/>
                    <a:pt x="208025" y="0"/>
                    <a:pt x="134112" y="0"/>
                  </a:cubicBezTo>
                  <a:close/>
                </a:path>
              </a:pathLst>
            </a:custGeom>
            <a:solidFill>
              <a:srgbClr val="B3D4FE"/>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2" name="任意形状 41"/>
            <p:cNvSpPr/>
            <p:nvPr/>
          </p:nvSpPr>
          <p:spPr>
            <a:xfrm>
              <a:off x="9572" y="3379"/>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3" name="任意形状 42"/>
            <p:cNvSpPr/>
            <p:nvPr/>
          </p:nvSpPr>
          <p:spPr>
            <a:xfrm>
              <a:off x="9572" y="3380"/>
              <a:ext cx="422" cy="422"/>
            </a:xfrm>
            <a:custGeom>
              <a:avLst/>
              <a:gdLst>
                <a:gd name="connsiteX0" fmla="*/ 115062 w 268224"/>
                <a:gd name="connsiteY0" fmla="*/ 216408 h 268224"/>
                <a:gd name="connsiteX1" fmla="*/ 36576 w 268224"/>
                <a:gd name="connsiteY1" fmla="*/ 137922 h 268224"/>
                <a:gd name="connsiteX2" fmla="*/ 67818 w 268224"/>
                <a:gd name="connsiteY2" fmla="*/ 106680 h 268224"/>
                <a:gd name="connsiteX3" fmla="*/ 115062 w 268224"/>
                <a:gd name="connsiteY3" fmla="*/ 153924 h 268224"/>
                <a:gd name="connsiteX4" fmla="*/ 201168 w 268224"/>
                <a:gd name="connsiteY4" fmla="*/ 67818 h 268224"/>
                <a:gd name="connsiteX5" fmla="*/ 232410 w 268224"/>
                <a:gd name="connsiteY5" fmla="*/ 99060 h 268224"/>
                <a:gd name="connsiteX6" fmla="*/ 115062 w 268224"/>
                <a:gd name="connsiteY6" fmla="*/ 216408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062" y="216408"/>
                  </a:moveTo>
                  <a:lnTo>
                    <a:pt x="36576" y="137922"/>
                  </a:lnTo>
                  <a:lnTo>
                    <a:pt x="67818" y="106680"/>
                  </a:lnTo>
                  <a:lnTo>
                    <a:pt x="115062" y="153924"/>
                  </a:lnTo>
                  <a:lnTo>
                    <a:pt x="201168" y="67818"/>
                  </a:lnTo>
                  <a:lnTo>
                    <a:pt x="232410" y="99060"/>
                  </a:lnTo>
                  <a:lnTo>
                    <a:pt x="115062" y="216408"/>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3" name="任意形状 32"/>
            <p:cNvSpPr/>
            <p:nvPr/>
          </p:nvSpPr>
          <p:spPr>
            <a:xfrm>
              <a:off x="5324" y="3379"/>
              <a:ext cx="420" cy="420"/>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4" name="任意形状 33"/>
            <p:cNvSpPr/>
            <p:nvPr/>
          </p:nvSpPr>
          <p:spPr>
            <a:xfrm>
              <a:off x="5324" y="3380"/>
              <a:ext cx="420" cy="420"/>
            </a:xfrm>
            <a:custGeom>
              <a:avLst/>
              <a:gdLst>
                <a:gd name="connsiteX0" fmla="*/ 115062 w 268223"/>
                <a:gd name="connsiteY0" fmla="*/ 216408 h 268224"/>
                <a:gd name="connsiteX1" fmla="*/ 36576 w 268223"/>
                <a:gd name="connsiteY1" fmla="*/ 137922 h 268224"/>
                <a:gd name="connsiteX2" fmla="*/ 67818 w 268223"/>
                <a:gd name="connsiteY2" fmla="*/ 106680 h 268224"/>
                <a:gd name="connsiteX3" fmla="*/ 115062 w 268223"/>
                <a:gd name="connsiteY3" fmla="*/ 153924 h 268224"/>
                <a:gd name="connsiteX4" fmla="*/ 201168 w 268223"/>
                <a:gd name="connsiteY4" fmla="*/ 67818 h 268224"/>
                <a:gd name="connsiteX5" fmla="*/ 232410 w 268223"/>
                <a:gd name="connsiteY5" fmla="*/ 99060 h 268224"/>
                <a:gd name="connsiteX6" fmla="*/ 115062 w 268223"/>
                <a:gd name="connsiteY6" fmla="*/ 216408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6408"/>
                  </a:moveTo>
                  <a:lnTo>
                    <a:pt x="36576" y="137922"/>
                  </a:lnTo>
                  <a:lnTo>
                    <a:pt x="67818" y="106680"/>
                  </a:lnTo>
                  <a:lnTo>
                    <a:pt x="115062" y="153924"/>
                  </a:lnTo>
                  <a:lnTo>
                    <a:pt x="201168" y="67818"/>
                  </a:lnTo>
                  <a:lnTo>
                    <a:pt x="232410" y="99060"/>
                  </a:lnTo>
                  <a:lnTo>
                    <a:pt x="115062" y="216408"/>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4" name="任意形状 23"/>
            <p:cNvSpPr/>
            <p:nvPr/>
          </p:nvSpPr>
          <p:spPr>
            <a:xfrm>
              <a:off x="1076" y="3379"/>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5" name="任意形状 24"/>
            <p:cNvSpPr/>
            <p:nvPr/>
          </p:nvSpPr>
          <p:spPr>
            <a:xfrm>
              <a:off x="1076" y="3380"/>
              <a:ext cx="422" cy="422"/>
            </a:xfrm>
            <a:custGeom>
              <a:avLst/>
              <a:gdLst>
                <a:gd name="connsiteX0" fmla="*/ 115824 w 268224"/>
                <a:gd name="connsiteY0" fmla="*/ 216408 h 268224"/>
                <a:gd name="connsiteX1" fmla="*/ 37338 w 268224"/>
                <a:gd name="connsiteY1" fmla="*/ 137922 h 268224"/>
                <a:gd name="connsiteX2" fmla="*/ 68580 w 268224"/>
                <a:gd name="connsiteY2" fmla="*/ 106680 h 268224"/>
                <a:gd name="connsiteX3" fmla="*/ 115824 w 268224"/>
                <a:gd name="connsiteY3" fmla="*/ 153924 h 268224"/>
                <a:gd name="connsiteX4" fmla="*/ 201930 w 268224"/>
                <a:gd name="connsiteY4" fmla="*/ 67818 h 268224"/>
                <a:gd name="connsiteX5" fmla="*/ 233172 w 268224"/>
                <a:gd name="connsiteY5" fmla="*/ 99060 h 268224"/>
                <a:gd name="connsiteX6" fmla="*/ 115824 w 268224"/>
                <a:gd name="connsiteY6" fmla="*/ 216408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824" y="216408"/>
                  </a:moveTo>
                  <a:lnTo>
                    <a:pt x="37338" y="137922"/>
                  </a:lnTo>
                  <a:lnTo>
                    <a:pt x="68580" y="106680"/>
                  </a:lnTo>
                  <a:lnTo>
                    <a:pt x="115824" y="153924"/>
                  </a:lnTo>
                  <a:lnTo>
                    <a:pt x="201930" y="67818"/>
                  </a:lnTo>
                  <a:lnTo>
                    <a:pt x="233172" y="99060"/>
                  </a:lnTo>
                  <a:lnTo>
                    <a:pt x="115824" y="216408"/>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788" y="0"/>
                    <a:pt x="134112" y="0"/>
                  </a:cubicBezTo>
                  <a:close/>
                </a:path>
              </a:pathLst>
            </a:custGeom>
            <a:solidFill>
              <a:srgbClr val="0042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38" name="组合 37"/>
          <p:cNvGrpSpPr/>
          <p:nvPr/>
        </p:nvGrpSpPr>
        <p:grpSpPr>
          <a:xfrm>
            <a:off x="683260" y="3166745"/>
            <a:ext cx="10443845" cy="782320"/>
            <a:chOff x="1076" y="5475"/>
            <a:chExt cx="16447" cy="1232"/>
          </a:xfrm>
        </p:grpSpPr>
        <p:sp>
          <p:nvSpPr>
            <p:cNvPr id="74" name="TextBox 70"/>
            <p:cNvSpPr txBox="1"/>
            <p:nvPr/>
          </p:nvSpPr>
          <p:spPr>
            <a:xfrm>
              <a:off x="1893" y="5475"/>
              <a:ext cx="1853"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02.</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流程优化实施</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76" name="TextBox 71"/>
            <p:cNvSpPr txBox="1"/>
            <p:nvPr/>
          </p:nvSpPr>
          <p:spPr>
            <a:xfrm>
              <a:off x="1893" y="5869"/>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优化内部流程</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2</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项，效率提升</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15%</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，减少资源浪费。</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2" name="TextBox 70"/>
            <p:cNvSpPr txBox="1"/>
            <p:nvPr/>
          </p:nvSpPr>
          <p:spPr>
            <a:xfrm>
              <a:off x="6183" y="5477"/>
              <a:ext cx="2082" cy="434"/>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02.</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成本管控见效</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4" name="TextBox 71"/>
            <p:cNvSpPr txBox="1"/>
            <p:nvPr/>
          </p:nvSpPr>
          <p:spPr>
            <a:xfrm>
              <a:off x="6183" y="5869"/>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通过优化采购流程，成本降低</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8%</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，利润率提升</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5%</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9" name="TextBox 70"/>
            <p:cNvSpPr txBox="1"/>
            <p:nvPr/>
          </p:nvSpPr>
          <p:spPr>
            <a:xfrm>
              <a:off x="10430" y="5475"/>
              <a:ext cx="1848"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02.</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 部门协作加强</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1" name="TextBox 71"/>
            <p:cNvSpPr txBox="1"/>
            <p:nvPr/>
          </p:nvSpPr>
          <p:spPr>
            <a:xfrm>
              <a:off x="10430" y="5869"/>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组织跨部门会议</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4</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次，解决协作问题，项目交付效率提升。</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6" name="TextBox 70"/>
            <p:cNvSpPr txBox="1"/>
            <p:nvPr/>
          </p:nvSpPr>
          <p:spPr>
            <a:xfrm>
              <a:off x="14671" y="5477"/>
              <a:ext cx="2320" cy="434"/>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02.</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问题整改落实</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8" name="TextBox 71"/>
            <p:cNvSpPr txBox="1"/>
            <p:nvPr/>
          </p:nvSpPr>
          <p:spPr>
            <a:xfrm>
              <a:off x="14671" y="5869"/>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针对全年问题制定整改计划，已完成</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80%</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，效果显著。</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54" name="任意形状 53"/>
            <p:cNvSpPr/>
            <p:nvPr/>
          </p:nvSpPr>
          <p:spPr>
            <a:xfrm>
              <a:off x="13820" y="5522"/>
              <a:ext cx="422" cy="422"/>
            </a:xfrm>
            <a:custGeom>
              <a:avLst/>
              <a:gdLst>
                <a:gd name="connsiteX0" fmla="*/ 268224 w 268223"/>
                <a:gd name="connsiteY0" fmla="*/ 134112 h 268224"/>
                <a:gd name="connsiteX1" fmla="*/ 134112 w 268223"/>
                <a:gd name="connsiteY1" fmla="*/ 268224 h 268224"/>
                <a:gd name="connsiteX2" fmla="*/ 0 w 268223"/>
                <a:gd name="connsiteY2" fmla="*/ 134112 h 268224"/>
                <a:gd name="connsiteX3" fmla="*/ 134112 w 268223"/>
                <a:gd name="connsiteY3" fmla="*/ 0 h 268224"/>
                <a:gd name="connsiteX4" fmla="*/ 268224 w 268223"/>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3"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55" name="任意形状 54"/>
            <p:cNvSpPr/>
            <p:nvPr/>
          </p:nvSpPr>
          <p:spPr>
            <a:xfrm>
              <a:off x="13820" y="5522"/>
              <a:ext cx="422" cy="422"/>
            </a:xfrm>
            <a:custGeom>
              <a:avLst/>
              <a:gdLst>
                <a:gd name="connsiteX0" fmla="*/ 115062 w 268223"/>
                <a:gd name="connsiteY0" fmla="*/ 217170 h 268224"/>
                <a:gd name="connsiteX1" fmla="*/ 36575 w 268223"/>
                <a:gd name="connsiteY1" fmla="*/ 138684 h 268224"/>
                <a:gd name="connsiteX2" fmla="*/ 67818 w 268223"/>
                <a:gd name="connsiteY2" fmla="*/ 107442 h 268224"/>
                <a:gd name="connsiteX3" fmla="*/ 115062 w 268223"/>
                <a:gd name="connsiteY3" fmla="*/ 154686 h 268224"/>
                <a:gd name="connsiteX4" fmla="*/ 201168 w 268223"/>
                <a:gd name="connsiteY4" fmla="*/ 68580 h 268224"/>
                <a:gd name="connsiteX5" fmla="*/ 232410 w 268223"/>
                <a:gd name="connsiteY5" fmla="*/ 99822 h 268224"/>
                <a:gd name="connsiteX6" fmla="*/ 115062 w 268223"/>
                <a:gd name="connsiteY6" fmla="*/ 217170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7170"/>
                  </a:moveTo>
                  <a:lnTo>
                    <a:pt x="36575"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5" y="268224"/>
                    <a:pt x="268224" y="208026"/>
                    <a:pt x="268224" y="134112"/>
                  </a:cubicBezTo>
                  <a:cubicBezTo>
                    <a:pt x="267462" y="59436"/>
                    <a:pt x="208025" y="0"/>
                    <a:pt x="134112" y="0"/>
                  </a:cubicBezTo>
                  <a:close/>
                </a:path>
              </a:pathLst>
            </a:custGeom>
            <a:solidFill>
              <a:srgbClr val="B3D4FE"/>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5" name="任意形状 44"/>
            <p:cNvSpPr/>
            <p:nvPr/>
          </p:nvSpPr>
          <p:spPr>
            <a:xfrm>
              <a:off x="9572" y="5522"/>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6" name="任意形状 45"/>
            <p:cNvSpPr/>
            <p:nvPr/>
          </p:nvSpPr>
          <p:spPr>
            <a:xfrm>
              <a:off x="9572" y="5522"/>
              <a:ext cx="422" cy="422"/>
            </a:xfrm>
            <a:custGeom>
              <a:avLst/>
              <a:gdLst>
                <a:gd name="connsiteX0" fmla="*/ 115062 w 268224"/>
                <a:gd name="connsiteY0" fmla="*/ 217170 h 268224"/>
                <a:gd name="connsiteX1" fmla="*/ 36576 w 268224"/>
                <a:gd name="connsiteY1" fmla="*/ 138684 h 268224"/>
                <a:gd name="connsiteX2" fmla="*/ 67818 w 268224"/>
                <a:gd name="connsiteY2" fmla="*/ 107442 h 268224"/>
                <a:gd name="connsiteX3" fmla="*/ 115062 w 268224"/>
                <a:gd name="connsiteY3" fmla="*/ 154686 h 268224"/>
                <a:gd name="connsiteX4" fmla="*/ 201168 w 268224"/>
                <a:gd name="connsiteY4" fmla="*/ 68580 h 268224"/>
                <a:gd name="connsiteX5" fmla="*/ 232410 w 268224"/>
                <a:gd name="connsiteY5" fmla="*/ 99822 h 268224"/>
                <a:gd name="connsiteX6" fmla="*/ 115062 w 268224"/>
                <a:gd name="connsiteY6" fmla="*/ 217170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062" y="217170"/>
                  </a:moveTo>
                  <a:lnTo>
                    <a:pt x="36576"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59436"/>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6" name="任意形状 35"/>
            <p:cNvSpPr/>
            <p:nvPr/>
          </p:nvSpPr>
          <p:spPr>
            <a:xfrm>
              <a:off x="5324" y="5522"/>
              <a:ext cx="420" cy="420"/>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7" name="任意形状 36"/>
            <p:cNvSpPr/>
            <p:nvPr/>
          </p:nvSpPr>
          <p:spPr>
            <a:xfrm>
              <a:off x="5324" y="5522"/>
              <a:ext cx="420" cy="420"/>
            </a:xfrm>
            <a:custGeom>
              <a:avLst/>
              <a:gdLst>
                <a:gd name="connsiteX0" fmla="*/ 115062 w 268223"/>
                <a:gd name="connsiteY0" fmla="*/ 217170 h 268224"/>
                <a:gd name="connsiteX1" fmla="*/ 36576 w 268223"/>
                <a:gd name="connsiteY1" fmla="*/ 138684 h 268224"/>
                <a:gd name="connsiteX2" fmla="*/ 67818 w 268223"/>
                <a:gd name="connsiteY2" fmla="*/ 107442 h 268224"/>
                <a:gd name="connsiteX3" fmla="*/ 115062 w 268223"/>
                <a:gd name="connsiteY3" fmla="*/ 154686 h 268224"/>
                <a:gd name="connsiteX4" fmla="*/ 201168 w 268223"/>
                <a:gd name="connsiteY4" fmla="*/ 68580 h 268224"/>
                <a:gd name="connsiteX5" fmla="*/ 232410 w 268223"/>
                <a:gd name="connsiteY5" fmla="*/ 99822 h 268224"/>
                <a:gd name="connsiteX6" fmla="*/ 115062 w 268223"/>
                <a:gd name="connsiteY6" fmla="*/ 217170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7170"/>
                  </a:moveTo>
                  <a:lnTo>
                    <a:pt x="36576"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59436"/>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7" name="任意形状 26"/>
            <p:cNvSpPr/>
            <p:nvPr/>
          </p:nvSpPr>
          <p:spPr>
            <a:xfrm>
              <a:off x="1076" y="5522"/>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28" name="任意形状 27"/>
            <p:cNvSpPr/>
            <p:nvPr/>
          </p:nvSpPr>
          <p:spPr>
            <a:xfrm>
              <a:off x="1076" y="5522"/>
              <a:ext cx="422" cy="422"/>
            </a:xfrm>
            <a:custGeom>
              <a:avLst/>
              <a:gdLst>
                <a:gd name="connsiteX0" fmla="*/ 115824 w 268224"/>
                <a:gd name="connsiteY0" fmla="*/ 217170 h 268224"/>
                <a:gd name="connsiteX1" fmla="*/ 37338 w 268224"/>
                <a:gd name="connsiteY1" fmla="*/ 138684 h 268224"/>
                <a:gd name="connsiteX2" fmla="*/ 68580 w 268224"/>
                <a:gd name="connsiteY2" fmla="*/ 107442 h 268224"/>
                <a:gd name="connsiteX3" fmla="*/ 115824 w 268224"/>
                <a:gd name="connsiteY3" fmla="*/ 154686 h 268224"/>
                <a:gd name="connsiteX4" fmla="*/ 201930 w 268224"/>
                <a:gd name="connsiteY4" fmla="*/ 68580 h 268224"/>
                <a:gd name="connsiteX5" fmla="*/ 233172 w 268224"/>
                <a:gd name="connsiteY5" fmla="*/ 99822 h 268224"/>
                <a:gd name="connsiteX6" fmla="*/ 115824 w 268224"/>
                <a:gd name="connsiteY6" fmla="*/ 217170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824" y="217170"/>
                  </a:moveTo>
                  <a:lnTo>
                    <a:pt x="37338" y="138684"/>
                  </a:lnTo>
                  <a:lnTo>
                    <a:pt x="68580" y="107442"/>
                  </a:lnTo>
                  <a:lnTo>
                    <a:pt x="115824" y="154686"/>
                  </a:lnTo>
                  <a:lnTo>
                    <a:pt x="201930" y="68580"/>
                  </a:lnTo>
                  <a:lnTo>
                    <a:pt x="233172" y="99822"/>
                  </a:lnTo>
                  <a:lnTo>
                    <a:pt x="115824"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59436"/>
                    <a:pt x="208788" y="0"/>
                    <a:pt x="134112" y="0"/>
                  </a:cubicBezTo>
                  <a:close/>
                </a:path>
              </a:pathLst>
            </a:custGeom>
            <a:solidFill>
              <a:srgbClr val="0042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grpSp>
        <p:nvGrpSpPr>
          <p:cNvPr id="35" name="组合 34"/>
          <p:cNvGrpSpPr/>
          <p:nvPr/>
        </p:nvGrpSpPr>
        <p:grpSpPr>
          <a:xfrm>
            <a:off x="683260" y="4245610"/>
            <a:ext cx="10473055" cy="788670"/>
            <a:chOff x="1076" y="7488"/>
            <a:chExt cx="16493" cy="1242"/>
          </a:xfrm>
        </p:grpSpPr>
        <p:sp>
          <p:nvSpPr>
            <p:cNvPr id="75" name="TextBox 70"/>
            <p:cNvSpPr txBox="1"/>
            <p:nvPr/>
          </p:nvSpPr>
          <p:spPr>
            <a:xfrm>
              <a:off x="1900" y="7488"/>
              <a:ext cx="1846"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03.</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团队能力提升</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77" name="TextBox 71"/>
            <p:cNvSpPr txBox="1"/>
            <p:nvPr/>
          </p:nvSpPr>
          <p:spPr>
            <a:xfrm>
              <a:off x="1939" y="789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组织培训</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3</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次，员工技能显著提高，团队协作更加顺畅。</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3" name="TextBox 70"/>
            <p:cNvSpPr txBox="1"/>
            <p:nvPr/>
          </p:nvSpPr>
          <p:spPr>
            <a:xfrm>
              <a:off x="6190" y="7488"/>
              <a:ext cx="2075"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03.</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客户满意度提升</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95" name="TextBox 71"/>
            <p:cNvSpPr txBox="1"/>
            <p:nvPr/>
          </p:nvSpPr>
          <p:spPr>
            <a:xfrm>
              <a:off x="6229" y="789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客户投诉率下降</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20%</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，服务质量改善，客户忠诚度增强。</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0" name="TextBox 70"/>
            <p:cNvSpPr txBox="1"/>
            <p:nvPr/>
          </p:nvSpPr>
          <p:spPr>
            <a:xfrm>
              <a:off x="10437" y="7488"/>
              <a:ext cx="1841"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03.</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市场扩展成果</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2" name="TextBox 71"/>
            <p:cNvSpPr txBox="1"/>
            <p:nvPr/>
          </p:nvSpPr>
          <p:spPr>
            <a:xfrm>
              <a:off x="10476" y="789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新增合作客户</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5</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家，市场份额扩大，品牌影响力提升。</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7" name="TextBox 70"/>
            <p:cNvSpPr txBox="1"/>
            <p:nvPr/>
          </p:nvSpPr>
          <p:spPr>
            <a:xfrm>
              <a:off x="14678" y="7488"/>
              <a:ext cx="1919" cy="436"/>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03.</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明年规划启动</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109" name="TextBox 71"/>
            <p:cNvSpPr txBox="1"/>
            <p:nvPr/>
          </p:nvSpPr>
          <p:spPr>
            <a:xfrm>
              <a:off x="14717" y="7892"/>
              <a:ext cx="2853" cy="838"/>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制定下年度工作计划，明确目标与重点，为开局做好准备。</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4" name="任意形状 56"/>
            <p:cNvSpPr/>
            <p:nvPr/>
          </p:nvSpPr>
          <p:spPr>
            <a:xfrm>
              <a:off x="13820" y="7538"/>
              <a:ext cx="422" cy="422"/>
            </a:xfrm>
            <a:custGeom>
              <a:avLst/>
              <a:gdLst>
                <a:gd name="connsiteX0" fmla="*/ 268224 w 268223"/>
                <a:gd name="connsiteY0" fmla="*/ 134112 h 268224"/>
                <a:gd name="connsiteX1" fmla="*/ 134112 w 268223"/>
                <a:gd name="connsiteY1" fmla="*/ 268224 h 268224"/>
                <a:gd name="connsiteX2" fmla="*/ 0 w 268223"/>
                <a:gd name="connsiteY2" fmla="*/ 134112 h 268224"/>
                <a:gd name="connsiteX3" fmla="*/ 134112 w 268223"/>
                <a:gd name="connsiteY3" fmla="*/ 0 h 268224"/>
                <a:gd name="connsiteX4" fmla="*/ 268224 w 268223"/>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3"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8" name="任意形状 57"/>
            <p:cNvSpPr/>
            <p:nvPr/>
          </p:nvSpPr>
          <p:spPr>
            <a:xfrm>
              <a:off x="13820" y="7538"/>
              <a:ext cx="422" cy="422"/>
            </a:xfrm>
            <a:custGeom>
              <a:avLst/>
              <a:gdLst>
                <a:gd name="connsiteX0" fmla="*/ 115062 w 268223"/>
                <a:gd name="connsiteY0" fmla="*/ 217170 h 268224"/>
                <a:gd name="connsiteX1" fmla="*/ 36575 w 268223"/>
                <a:gd name="connsiteY1" fmla="*/ 138684 h 268224"/>
                <a:gd name="connsiteX2" fmla="*/ 67818 w 268223"/>
                <a:gd name="connsiteY2" fmla="*/ 107442 h 268224"/>
                <a:gd name="connsiteX3" fmla="*/ 115062 w 268223"/>
                <a:gd name="connsiteY3" fmla="*/ 154686 h 268224"/>
                <a:gd name="connsiteX4" fmla="*/ 201168 w 268223"/>
                <a:gd name="connsiteY4" fmla="*/ 68580 h 268224"/>
                <a:gd name="connsiteX5" fmla="*/ 232410 w 268223"/>
                <a:gd name="connsiteY5" fmla="*/ 99822 h 268224"/>
                <a:gd name="connsiteX6" fmla="*/ 115062 w 268223"/>
                <a:gd name="connsiteY6" fmla="*/ 217170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7170"/>
                  </a:moveTo>
                  <a:lnTo>
                    <a:pt x="36575"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5" y="268224"/>
                    <a:pt x="268224" y="208026"/>
                    <a:pt x="268224" y="134112"/>
                  </a:cubicBezTo>
                  <a:cubicBezTo>
                    <a:pt x="267462" y="60198"/>
                    <a:pt x="208025" y="0"/>
                    <a:pt x="134112" y="0"/>
                  </a:cubicBezTo>
                  <a:close/>
                </a:path>
              </a:pathLst>
            </a:custGeom>
            <a:solidFill>
              <a:srgbClr val="B3D4FE"/>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48" name="任意形状 47"/>
            <p:cNvSpPr/>
            <p:nvPr/>
          </p:nvSpPr>
          <p:spPr>
            <a:xfrm>
              <a:off x="9572" y="7538"/>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9" name="任意形状 48"/>
            <p:cNvSpPr/>
            <p:nvPr/>
          </p:nvSpPr>
          <p:spPr>
            <a:xfrm>
              <a:off x="9572" y="7538"/>
              <a:ext cx="422" cy="422"/>
            </a:xfrm>
            <a:custGeom>
              <a:avLst/>
              <a:gdLst>
                <a:gd name="connsiteX0" fmla="*/ 115062 w 268224"/>
                <a:gd name="connsiteY0" fmla="*/ 217170 h 268224"/>
                <a:gd name="connsiteX1" fmla="*/ 36576 w 268224"/>
                <a:gd name="connsiteY1" fmla="*/ 138684 h 268224"/>
                <a:gd name="connsiteX2" fmla="*/ 67818 w 268224"/>
                <a:gd name="connsiteY2" fmla="*/ 107442 h 268224"/>
                <a:gd name="connsiteX3" fmla="*/ 115062 w 268224"/>
                <a:gd name="connsiteY3" fmla="*/ 154686 h 268224"/>
                <a:gd name="connsiteX4" fmla="*/ 201168 w 268224"/>
                <a:gd name="connsiteY4" fmla="*/ 68580 h 268224"/>
                <a:gd name="connsiteX5" fmla="*/ 232410 w 268224"/>
                <a:gd name="connsiteY5" fmla="*/ 99822 h 268224"/>
                <a:gd name="connsiteX6" fmla="*/ 115062 w 268224"/>
                <a:gd name="connsiteY6" fmla="*/ 217170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062" y="217170"/>
                  </a:moveTo>
                  <a:lnTo>
                    <a:pt x="36576"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9" name="任意形状 38"/>
            <p:cNvSpPr/>
            <p:nvPr/>
          </p:nvSpPr>
          <p:spPr>
            <a:xfrm>
              <a:off x="5324" y="7538"/>
              <a:ext cx="420" cy="420"/>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40" name="任意形状 39"/>
            <p:cNvSpPr/>
            <p:nvPr/>
          </p:nvSpPr>
          <p:spPr>
            <a:xfrm>
              <a:off x="5324" y="7538"/>
              <a:ext cx="420" cy="420"/>
            </a:xfrm>
            <a:custGeom>
              <a:avLst/>
              <a:gdLst>
                <a:gd name="connsiteX0" fmla="*/ 115062 w 268223"/>
                <a:gd name="connsiteY0" fmla="*/ 217170 h 268224"/>
                <a:gd name="connsiteX1" fmla="*/ 36576 w 268223"/>
                <a:gd name="connsiteY1" fmla="*/ 138684 h 268224"/>
                <a:gd name="connsiteX2" fmla="*/ 67818 w 268223"/>
                <a:gd name="connsiteY2" fmla="*/ 107442 h 268224"/>
                <a:gd name="connsiteX3" fmla="*/ 115062 w 268223"/>
                <a:gd name="connsiteY3" fmla="*/ 154686 h 268224"/>
                <a:gd name="connsiteX4" fmla="*/ 201168 w 268223"/>
                <a:gd name="connsiteY4" fmla="*/ 68580 h 268224"/>
                <a:gd name="connsiteX5" fmla="*/ 232410 w 268223"/>
                <a:gd name="connsiteY5" fmla="*/ 99822 h 268224"/>
                <a:gd name="connsiteX6" fmla="*/ 115062 w 268223"/>
                <a:gd name="connsiteY6" fmla="*/ 217170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7170"/>
                  </a:moveTo>
                  <a:lnTo>
                    <a:pt x="36576"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0" name="任意形状 29"/>
            <p:cNvSpPr/>
            <p:nvPr/>
          </p:nvSpPr>
          <p:spPr>
            <a:xfrm>
              <a:off x="1076" y="7538"/>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31" name="任意形状 30"/>
            <p:cNvSpPr/>
            <p:nvPr/>
          </p:nvSpPr>
          <p:spPr>
            <a:xfrm>
              <a:off x="1076" y="7538"/>
              <a:ext cx="422" cy="422"/>
            </a:xfrm>
            <a:custGeom>
              <a:avLst/>
              <a:gdLst>
                <a:gd name="connsiteX0" fmla="*/ 115824 w 268224"/>
                <a:gd name="connsiteY0" fmla="*/ 217170 h 268224"/>
                <a:gd name="connsiteX1" fmla="*/ 37338 w 268224"/>
                <a:gd name="connsiteY1" fmla="*/ 138684 h 268224"/>
                <a:gd name="connsiteX2" fmla="*/ 68580 w 268224"/>
                <a:gd name="connsiteY2" fmla="*/ 107442 h 268224"/>
                <a:gd name="connsiteX3" fmla="*/ 115824 w 268224"/>
                <a:gd name="connsiteY3" fmla="*/ 154686 h 268224"/>
                <a:gd name="connsiteX4" fmla="*/ 201930 w 268224"/>
                <a:gd name="connsiteY4" fmla="*/ 68580 h 268224"/>
                <a:gd name="connsiteX5" fmla="*/ 233172 w 268224"/>
                <a:gd name="connsiteY5" fmla="*/ 99822 h 268224"/>
                <a:gd name="connsiteX6" fmla="*/ 115824 w 268224"/>
                <a:gd name="connsiteY6" fmla="*/ 217170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824" y="217170"/>
                  </a:moveTo>
                  <a:lnTo>
                    <a:pt x="37338" y="138684"/>
                  </a:lnTo>
                  <a:lnTo>
                    <a:pt x="68580" y="107442"/>
                  </a:lnTo>
                  <a:lnTo>
                    <a:pt x="115824" y="154686"/>
                  </a:lnTo>
                  <a:lnTo>
                    <a:pt x="201930" y="68580"/>
                  </a:lnTo>
                  <a:lnTo>
                    <a:pt x="233172" y="99822"/>
                  </a:lnTo>
                  <a:lnTo>
                    <a:pt x="115824"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788" y="0"/>
                    <a:pt x="134112" y="0"/>
                  </a:cubicBezTo>
                  <a:close/>
                </a:path>
              </a:pathLst>
            </a:custGeom>
            <a:solidFill>
              <a:srgbClr val="0042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191" name="Line"/>
          <p:cNvSpPr/>
          <p:nvPr/>
        </p:nvSpPr>
        <p:spPr>
          <a:xfrm>
            <a:off x="454763" y="6363398"/>
            <a:ext cx="11282474" cy="0"/>
          </a:xfrm>
          <a:prstGeom prst="line">
            <a:avLst/>
          </a:prstGeom>
          <a:ln w="38100">
            <a:solidFill>
              <a:srgbClr val="E6E6E6"/>
            </a:solidFill>
            <a:miter lim="400000"/>
            <a:tailEnd type="triangle"/>
          </a:ln>
        </p:spPr>
        <p:txBody>
          <a:bodyPr lIns="0" tIns="0" rIns="0" bIns="0" anchor="ctr"/>
          <a:lstStyle/>
          <a:p>
            <a:pPr>
              <a:spcAft>
                <a:spcPts val="500"/>
              </a:spcAft>
              <a:defRPr sz="3200">
                <a:solidFill>
                  <a:srgbClr val="383838"/>
                </a:solidFill>
                <a:latin typeface="微软雅黑"/>
                <a:ea typeface="微软雅黑"/>
                <a:cs typeface="微软雅黑"/>
              </a:defRPr>
            </a:pPr>
            <a:endParaRPr sz="1600">
              <a:latin typeface="微软雅黑"/>
              <a:ea typeface="微软雅黑"/>
              <a:cs typeface="微软雅黑"/>
            </a:endParaRPr>
          </a:p>
        </p:txBody>
      </p:sp>
      <p:grpSp>
        <p:nvGrpSpPr>
          <p:cNvPr id="32" name="组合 31"/>
          <p:cNvGrpSpPr/>
          <p:nvPr/>
        </p:nvGrpSpPr>
        <p:grpSpPr>
          <a:xfrm>
            <a:off x="728980" y="6256020"/>
            <a:ext cx="214630" cy="214630"/>
            <a:chOff x="1724" y="9852"/>
            <a:chExt cx="338" cy="338"/>
          </a:xfrm>
        </p:grpSpPr>
        <p:sp>
          <p:nvSpPr>
            <p:cNvPr id="193" name="Circle"/>
            <p:cNvSpPr/>
            <p:nvPr/>
          </p:nvSpPr>
          <p:spPr>
            <a:xfrm>
              <a:off x="1724" y="9852"/>
              <a:ext cx="338" cy="338"/>
            </a:xfrm>
            <a:prstGeom prst="ellipse">
              <a:avLst/>
            </a:prstGeom>
            <a:solidFill>
              <a:srgbClr val="0042FF"/>
            </a:solidFill>
            <a:ln w="12700" cap="flat">
              <a:noFill/>
              <a:miter lim="400000"/>
            </a:ln>
            <a:effectLst/>
          </p:spPr>
          <p:txBody>
            <a:bodyPr wrap="square" lIns="0" tIns="0" rIns="0" bIns="0" numCol="1" anchor="ctr">
              <a:noAutofit/>
            </a:bodyPr>
            <a:lstStyle/>
            <a:p>
              <a:pPr>
                <a:spcAft>
                  <a:spcPts val="500"/>
                </a:spcAft>
                <a:defRPr sz="3200">
                  <a:solidFill>
                    <a:srgbClr val="FFFFFF"/>
                  </a:solidFill>
                  <a:latin typeface="微软雅黑"/>
                  <a:ea typeface="微软雅黑"/>
                  <a:cs typeface="微软雅黑"/>
                </a:defRPr>
              </a:pPr>
              <a:endParaRPr sz="1600">
                <a:solidFill>
                  <a:srgbClr val="FFFFFF"/>
                </a:solidFill>
                <a:latin typeface="微软雅黑"/>
                <a:ea typeface="微软雅黑"/>
                <a:cs typeface="微软雅黑"/>
              </a:endParaRPr>
            </a:p>
          </p:txBody>
        </p:sp>
        <p:sp>
          <p:nvSpPr>
            <p:cNvPr id="194" name="Circle"/>
            <p:cNvSpPr/>
            <p:nvPr/>
          </p:nvSpPr>
          <p:spPr>
            <a:xfrm>
              <a:off x="1834" y="9963"/>
              <a:ext cx="117" cy="117"/>
            </a:xfrm>
            <a:prstGeom prst="ellipse">
              <a:avLst/>
            </a:prstGeom>
            <a:solidFill>
              <a:srgbClr val="FFFFFF"/>
            </a:solidFill>
            <a:ln w="12700" cap="flat">
              <a:noFill/>
              <a:miter lim="400000"/>
            </a:ln>
            <a:effectLst/>
          </p:spPr>
          <p:txBody>
            <a:bodyPr wrap="square" lIns="0" tIns="0" rIns="0" bIns="0" numCol="1" anchor="ctr">
              <a:noAutofit/>
            </a:bodyPr>
            <a:lstStyle/>
            <a:p>
              <a:pPr>
                <a:spcAft>
                  <a:spcPts val="500"/>
                </a:spcAft>
                <a:defRPr sz="3200">
                  <a:solidFill>
                    <a:srgbClr val="383838"/>
                  </a:solidFill>
                  <a:latin typeface="微软雅黑"/>
                  <a:ea typeface="微软雅黑"/>
                  <a:cs typeface="微软雅黑"/>
                </a:defRPr>
              </a:pPr>
              <a:endParaRPr sz="1600">
                <a:latin typeface="微软雅黑"/>
                <a:ea typeface="微软雅黑"/>
                <a:cs typeface="微软雅黑"/>
              </a:endParaRPr>
            </a:p>
          </p:txBody>
        </p:sp>
      </p:grpSp>
      <p:grpSp>
        <p:nvGrpSpPr>
          <p:cNvPr id="89" name="组合 88"/>
          <p:cNvGrpSpPr/>
          <p:nvPr/>
        </p:nvGrpSpPr>
        <p:grpSpPr>
          <a:xfrm>
            <a:off x="3408045" y="6252210"/>
            <a:ext cx="214630" cy="214630"/>
            <a:chOff x="5824" y="9852"/>
            <a:chExt cx="338" cy="338"/>
          </a:xfrm>
        </p:grpSpPr>
        <p:sp>
          <p:nvSpPr>
            <p:cNvPr id="196" name="Circle"/>
            <p:cNvSpPr/>
            <p:nvPr/>
          </p:nvSpPr>
          <p:spPr>
            <a:xfrm>
              <a:off x="5824" y="9852"/>
              <a:ext cx="338" cy="338"/>
            </a:xfrm>
            <a:prstGeom prst="ellipse">
              <a:avLst/>
            </a:prstGeom>
            <a:solidFill>
              <a:srgbClr val="3368FF"/>
            </a:solidFill>
            <a:ln w="12700" cap="flat">
              <a:noFill/>
              <a:miter lim="400000"/>
            </a:ln>
            <a:effectLst/>
          </p:spPr>
          <p:txBody>
            <a:bodyPr wrap="square" lIns="0" tIns="0" rIns="0" bIns="0" numCol="1" anchor="ctr">
              <a:noAutofit/>
            </a:bodyPr>
            <a:lstStyle/>
            <a:p>
              <a:pPr>
                <a:spcAft>
                  <a:spcPts val="500"/>
                </a:spcAft>
                <a:defRPr sz="3200">
                  <a:solidFill>
                    <a:srgbClr val="FFFFFF"/>
                  </a:solidFill>
                  <a:latin typeface="微软雅黑"/>
                  <a:ea typeface="微软雅黑"/>
                  <a:cs typeface="微软雅黑"/>
                </a:defRPr>
              </a:pPr>
              <a:endParaRPr sz="1600">
                <a:solidFill>
                  <a:srgbClr val="FFFFFF"/>
                </a:solidFill>
                <a:latin typeface="微软雅黑"/>
                <a:ea typeface="微软雅黑"/>
                <a:cs typeface="微软雅黑"/>
              </a:endParaRPr>
            </a:p>
          </p:txBody>
        </p:sp>
        <p:sp>
          <p:nvSpPr>
            <p:cNvPr id="197" name="Circle"/>
            <p:cNvSpPr/>
            <p:nvPr/>
          </p:nvSpPr>
          <p:spPr>
            <a:xfrm>
              <a:off x="5934" y="9963"/>
              <a:ext cx="117" cy="117"/>
            </a:xfrm>
            <a:prstGeom prst="ellipse">
              <a:avLst/>
            </a:prstGeom>
            <a:solidFill>
              <a:srgbClr val="FFFFFF"/>
            </a:solidFill>
            <a:ln w="12700" cap="flat">
              <a:noFill/>
              <a:miter lim="400000"/>
            </a:ln>
            <a:effectLst/>
          </p:spPr>
          <p:txBody>
            <a:bodyPr wrap="square" lIns="0" tIns="0" rIns="0" bIns="0" numCol="1" anchor="ctr">
              <a:noAutofit/>
            </a:bodyPr>
            <a:lstStyle/>
            <a:p>
              <a:pPr>
                <a:spcAft>
                  <a:spcPts val="500"/>
                </a:spcAft>
                <a:defRPr sz="3200">
                  <a:solidFill>
                    <a:srgbClr val="383838"/>
                  </a:solidFill>
                  <a:latin typeface="微软雅黑"/>
                  <a:ea typeface="微软雅黑"/>
                  <a:cs typeface="微软雅黑"/>
                </a:defRPr>
              </a:pPr>
              <a:endParaRPr sz="1600">
                <a:latin typeface="微软雅黑"/>
                <a:ea typeface="微软雅黑"/>
                <a:cs typeface="微软雅黑"/>
              </a:endParaRPr>
            </a:p>
          </p:txBody>
        </p:sp>
      </p:grpSp>
      <p:grpSp>
        <p:nvGrpSpPr>
          <p:cNvPr id="44" name="组合 43"/>
          <p:cNvGrpSpPr/>
          <p:nvPr/>
        </p:nvGrpSpPr>
        <p:grpSpPr>
          <a:xfrm>
            <a:off x="683260" y="5332095"/>
            <a:ext cx="10473690" cy="808355"/>
            <a:chOff x="1076" y="7490"/>
            <a:chExt cx="16494" cy="1273"/>
          </a:xfrm>
        </p:grpSpPr>
        <p:sp>
          <p:nvSpPr>
            <p:cNvPr id="47" name="TextBox 70"/>
            <p:cNvSpPr txBox="1"/>
            <p:nvPr/>
          </p:nvSpPr>
          <p:spPr>
            <a:xfrm>
              <a:off x="1900" y="7490"/>
              <a:ext cx="1846" cy="434"/>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04.</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市场布局启动</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50" name="TextBox 71"/>
            <p:cNvSpPr txBox="1"/>
            <p:nvPr/>
          </p:nvSpPr>
          <p:spPr>
            <a:xfrm>
              <a:off x="1939" y="7892"/>
              <a:ext cx="2853" cy="871"/>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初步完成重点区域市场调研，确定上半年拓展方向。</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53" name="TextBox 70"/>
            <p:cNvSpPr txBox="1"/>
            <p:nvPr/>
          </p:nvSpPr>
          <p:spPr>
            <a:xfrm>
              <a:off x="6190" y="7490"/>
              <a:ext cx="2075" cy="434"/>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04.</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供应链优化落地</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56" name="TextBox 71"/>
            <p:cNvSpPr txBox="1"/>
            <p:nvPr/>
          </p:nvSpPr>
          <p:spPr>
            <a:xfrm>
              <a:off x="6229" y="7892"/>
              <a:ext cx="2853" cy="871"/>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引入新供应商，关键物料交付周期缩短</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12%</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65" name="TextBox 70"/>
            <p:cNvSpPr txBox="1"/>
            <p:nvPr/>
          </p:nvSpPr>
          <p:spPr>
            <a:xfrm>
              <a:off x="10437" y="7490"/>
              <a:ext cx="2057" cy="434"/>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04.</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数字化工具应用</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68" name="TextBox 71"/>
            <p:cNvSpPr txBox="1"/>
            <p:nvPr/>
          </p:nvSpPr>
          <p:spPr>
            <a:xfrm>
              <a:off x="10476" y="7892"/>
              <a:ext cx="2853" cy="871"/>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线项目管理系统，关键节点可视化率达</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100%</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69" name="TextBox 70"/>
            <p:cNvSpPr txBox="1"/>
            <p:nvPr/>
          </p:nvSpPr>
          <p:spPr>
            <a:xfrm>
              <a:off x="14678" y="7490"/>
              <a:ext cx="1919" cy="434"/>
            </a:xfrm>
            <a:prstGeom prst="rect">
              <a:avLst/>
            </a:prstGeom>
            <a:noFill/>
          </p:spPr>
          <p:txBody>
            <a:bodyPr wrap="square" lIns="0" rIns="0" rtlCol="0" anchor="b"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l" defTabSz="914400" rtl="0" eaLnBrk="1" fontAlgn="auto" latinLnBrk="0" hangingPunct="1">
                <a:lnSpc>
                  <a:spcPct val="100000"/>
                </a:lnSpc>
                <a:spcBef>
                  <a:spcPts val="0"/>
                </a:spcBef>
                <a:spcAft>
                  <a:spcPts val="500"/>
                </a:spcAft>
                <a:buClrTx/>
                <a:buSzTx/>
                <a:buFontTx/>
                <a:buNone/>
                <a:defRPr>
                  <a:latin typeface="微软雅黑"/>
                  <a:ea typeface="微软雅黑"/>
                  <a:cs typeface="微软雅黑"/>
                </a:defRPr>
              </a:pPr>
              <a:r>
                <a:rPr kumimoji="0" lang="en-US" altLang="zh-CN" sz="1200" b="1" u="none" strike="noStrike" kern="1200" cap="none" spc="0" normalizeH="0" baseline="0" noProof="1">
                  <a:ln>
                    <a:noFill/>
                  </a:ln>
                  <a:solidFill>
                    <a:srgbClr val="383838"/>
                  </a:solidFill>
                  <a:effectLst/>
                  <a:uLnTx/>
                  <a:uFillTx/>
                  <a:latin typeface="微软雅黑"/>
                  <a:ea typeface="微软雅黑"/>
                  <a:cs typeface="微软雅黑"/>
                </a:rPr>
                <a:t>04.</a:t>
              </a:r>
              <a:r>
                <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rPr>
                <a:t>人才梯队建设</a:t>
              </a:r>
              <a:endParaRPr kumimoji="0" lang="zh-CN" altLang="en-US" sz="1200" b="1"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70" name="TextBox 71"/>
            <p:cNvSpPr txBox="1"/>
            <p:nvPr/>
          </p:nvSpPr>
          <p:spPr>
            <a:xfrm>
              <a:off x="14717" y="7892"/>
              <a:ext cx="2853" cy="871"/>
            </a:xfrm>
            <a:prstGeom prst="rect">
              <a:avLst/>
            </a:prstGeom>
            <a:noFill/>
          </p:spPr>
          <p:txBody>
            <a:bodyPr wrap="square" lIns="0" rIns="0" rtlCol="0" anchor="t" tIns="0" bIns="0">
              <a:spAutoFit/>
            </a:bodyPr>
            <a:lstStyle>
              <a:defPPr>
                <a:defRPr lang="en-US">
                  <a:latin typeface="微软雅黑"/>
                  <a:ea typeface="微软雅黑"/>
                  <a:cs typeface="微软雅黑"/>
                </a:defRPr>
              </a:defPPr>
              <a:lvl1pPr marL="0" algn="l" defTabSz="914400" rtl="0" eaLnBrk="1" latinLnBrk="0" hangingPunct="1">
                <a:defRPr sz="1800" kern="1200">
                  <a:solidFill>
                    <a:srgbClr val="383838"/>
                  </a:solidFill>
                  <a:latin typeface="微软雅黑"/>
                  <a:ea typeface="微软雅黑"/>
                  <a:cs typeface="微软雅黑"/>
                </a:defRPr>
              </a:lvl1pPr>
              <a:lvl2pPr marL="457200" algn="l" defTabSz="914400" rtl="0" eaLnBrk="1" latinLnBrk="0" hangingPunct="1">
                <a:defRPr sz="1800" kern="1200">
                  <a:solidFill>
                    <a:srgbClr val="383838"/>
                  </a:solidFill>
                  <a:latin typeface="微软雅黑"/>
                  <a:ea typeface="微软雅黑"/>
                  <a:cs typeface="微软雅黑"/>
                </a:defRPr>
              </a:lvl2pPr>
              <a:lvl3pPr marL="914400" algn="l" defTabSz="914400" rtl="0" eaLnBrk="1" latinLnBrk="0" hangingPunct="1">
                <a:defRPr sz="1800" kern="1200">
                  <a:solidFill>
                    <a:srgbClr val="383838"/>
                  </a:solidFill>
                  <a:latin typeface="微软雅黑"/>
                  <a:ea typeface="微软雅黑"/>
                  <a:cs typeface="微软雅黑"/>
                </a:defRPr>
              </a:lvl3pPr>
              <a:lvl4pPr marL="1371600" algn="l" defTabSz="914400" rtl="0" eaLnBrk="1" latinLnBrk="0" hangingPunct="1">
                <a:defRPr sz="1800" kern="1200">
                  <a:solidFill>
                    <a:srgbClr val="383838"/>
                  </a:solidFill>
                  <a:latin typeface="微软雅黑"/>
                  <a:ea typeface="微软雅黑"/>
                  <a:cs typeface="微软雅黑"/>
                </a:defRPr>
              </a:lvl4pPr>
              <a:lvl5pPr marL="1828800" algn="l" defTabSz="914400" rtl="0" eaLnBrk="1" latinLnBrk="0" hangingPunct="1">
                <a:defRPr sz="1800" kern="1200">
                  <a:solidFill>
                    <a:srgbClr val="383838"/>
                  </a:solidFill>
                  <a:latin typeface="微软雅黑"/>
                  <a:ea typeface="微软雅黑"/>
                  <a:cs typeface="微软雅黑"/>
                </a:defRPr>
              </a:lvl5pPr>
              <a:lvl6pPr marL="2286000" algn="l" defTabSz="914400" rtl="0" eaLnBrk="1" latinLnBrk="0" hangingPunct="1">
                <a:defRPr sz="1800" kern="1200">
                  <a:solidFill>
                    <a:srgbClr val="383838"/>
                  </a:solidFill>
                  <a:latin typeface="微软雅黑"/>
                  <a:ea typeface="微软雅黑"/>
                  <a:cs typeface="微软雅黑"/>
                </a:defRPr>
              </a:lvl6pPr>
              <a:lvl7pPr marL="2743200" algn="l" defTabSz="914400" rtl="0" eaLnBrk="1" latinLnBrk="0" hangingPunct="1">
                <a:defRPr sz="1800" kern="1200">
                  <a:solidFill>
                    <a:srgbClr val="383838"/>
                  </a:solidFill>
                  <a:latin typeface="微软雅黑"/>
                  <a:ea typeface="微软雅黑"/>
                  <a:cs typeface="微软雅黑"/>
                </a:defRPr>
              </a:lvl7pPr>
              <a:lvl8pPr marL="3200400" algn="l" defTabSz="914400" rtl="0" eaLnBrk="1" latinLnBrk="0" hangingPunct="1">
                <a:defRPr sz="1800" kern="1200">
                  <a:solidFill>
                    <a:srgbClr val="383838"/>
                  </a:solidFill>
                  <a:latin typeface="微软雅黑"/>
                  <a:ea typeface="微软雅黑"/>
                  <a:cs typeface="微软雅黑"/>
                </a:defRPr>
              </a:lvl8pPr>
              <a:lvl9pPr marL="3657600" algn="l" defTabSz="914400" rtl="0" eaLnBrk="1" latinLnBrk="0" hangingPunct="1">
                <a:defRPr sz="1800" kern="1200">
                  <a:solidFill>
                    <a:srgbClr val="383838"/>
                  </a:solidFill>
                  <a:latin typeface="微软雅黑"/>
                  <a:ea typeface="微软雅黑"/>
                  <a:cs typeface="微软雅黑"/>
                </a:defRPr>
              </a:lvl9pPr>
            </a:lstStyle>
            <a:p>
              <a:pPr marL="0" marR="0" lvl="0" indent="0" algn="just" defTabSz="914400" rtl="0" eaLnBrk="1" fontAlgn="auto" latinLnBrk="0" hangingPunct="1">
                <a:lnSpc>
                  <a:spcPct val="150000"/>
                </a:lnSpc>
                <a:spcBef>
                  <a:spcPts val="0"/>
                </a:spcBef>
                <a:spcAft>
                  <a:spcPts val="500"/>
                </a:spcAft>
                <a:buClrTx/>
                <a:buSzTx/>
                <a:buFontTx/>
                <a:buNone/>
                <a:defRPr>
                  <a:latin typeface="微软雅黑"/>
                  <a:ea typeface="微软雅黑"/>
                  <a:cs typeface="微软雅黑"/>
                </a:defRPr>
              </a:pP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完成关键岗位继任计划，内部晋升率达</a:t>
              </a:r>
              <a:r>
                <a:rPr kumimoji="0" lang="en-US" altLang="zh-CN" sz="1000" u="none" strike="noStrike" kern="1200" cap="none" spc="0" normalizeH="0" baseline="0" noProof="1">
                  <a:ln>
                    <a:noFill/>
                  </a:ln>
                  <a:solidFill>
                    <a:srgbClr val="383838"/>
                  </a:solidFill>
                  <a:effectLst/>
                  <a:uLnTx/>
                  <a:uFillTx/>
                  <a:latin typeface="微软雅黑"/>
                  <a:ea typeface="微软雅黑"/>
                  <a:cs typeface="微软雅黑"/>
                </a:rPr>
                <a:t>30%</a:t>
              </a:r>
              <a:r>
                <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rPr>
                <a:t>。</a:t>
              </a:r>
              <a:endParaRPr kumimoji="0" lang="zh-CN" altLang="en-US" sz="1000" u="none" strike="noStrike" kern="1200" cap="none" spc="0" normalizeH="0" baseline="0" noProof="1">
                <a:ln>
                  <a:noFill/>
                </a:ln>
                <a:solidFill>
                  <a:srgbClr val="383838"/>
                </a:solidFill>
                <a:effectLst/>
                <a:uLnTx/>
                <a:uFillTx/>
                <a:latin typeface="微软雅黑"/>
                <a:ea typeface="微软雅黑"/>
                <a:cs typeface="微软雅黑"/>
              </a:endParaRPr>
            </a:p>
          </p:txBody>
        </p:sp>
        <p:sp>
          <p:nvSpPr>
            <p:cNvPr id="71" name="任意形状 56"/>
            <p:cNvSpPr/>
            <p:nvPr/>
          </p:nvSpPr>
          <p:spPr>
            <a:xfrm>
              <a:off x="13820" y="7538"/>
              <a:ext cx="422" cy="422"/>
            </a:xfrm>
            <a:custGeom>
              <a:avLst/>
              <a:gdLst>
                <a:gd name="connsiteX0" fmla="*/ 268224 w 268223"/>
                <a:gd name="connsiteY0" fmla="*/ 134112 h 268224"/>
                <a:gd name="connsiteX1" fmla="*/ 134112 w 268223"/>
                <a:gd name="connsiteY1" fmla="*/ 268224 h 268224"/>
                <a:gd name="connsiteX2" fmla="*/ 0 w 268223"/>
                <a:gd name="connsiteY2" fmla="*/ 134112 h 268224"/>
                <a:gd name="connsiteX3" fmla="*/ 134112 w 268223"/>
                <a:gd name="connsiteY3" fmla="*/ 0 h 268224"/>
                <a:gd name="connsiteX4" fmla="*/ 268224 w 268223"/>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3"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78" name="任意形状 57"/>
            <p:cNvSpPr/>
            <p:nvPr/>
          </p:nvSpPr>
          <p:spPr>
            <a:xfrm>
              <a:off x="13820" y="7538"/>
              <a:ext cx="422" cy="422"/>
            </a:xfrm>
            <a:custGeom>
              <a:avLst/>
              <a:gdLst>
                <a:gd name="connsiteX0" fmla="*/ 115062 w 268223"/>
                <a:gd name="connsiteY0" fmla="*/ 217170 h 268224"/>
                <a:gd name="connsiteX1" fmla="*/ 36575 w 268223"/>
                <a:gd name="connsiteY1" fmla="*/ 138684 h 268224"/>
                <a:gd name="connsiteX2" fmla="*/ 67818 w 268223"/>
                <a:gd name="connsiteY2" fmla="*/ 107442 h 268224"/>
                <a:gd name="connsiteX3" fmla="*/ 115062 w 268223"/>
                <a:gd name="connsiteY3" fmla="*/ 154686 h 268224"/>
                <a:gd name="connsiteX4" fmla="*/ 201168 w 268223"/>
                <a:gd name="connsiteY4" fmla="*/ 68580 h 268224"/>
                <a:gd name="connsiteX5" fmla="*/ 232410 w 268223"/>
                <a:gd name="connsiteY5" fmla="*/ 99822 h 268224"/>
                <a:gd name="connsiteX6" fmla="*/ 115062 w 268223"/>
                <a:gd name="connsiteY6" fmla="*/ 217170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7170"/>
                  </a:moveTo>
                  <a:lnTo>
                    <a:pt x="36575"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5" y="268224"/>
                    <a:pt x="268224" y="208026"/>
                    <a:pt x="268224" y="134112"/>
                  </a:cubicBezTo>
                  <a:cubicBezTo>
                    <a:pt x="267462" y="60198"/>
                    <a:pt x="208025" y="0"/>
                    <a:pt x="134112" y="0"/>
                  </a:cubicBezTo>
                  <a:close/>
                </a:path>
              </a:pathLst>
            </a:custGeom>
            <a:solidFill>
              <a:srgbClr val="B3D4FE"/>
            </a:solidFill>
            <a:ln w="4572" cap="flat">
              <a:noFill/>
              <a:prstDash val="solid"/>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sp>
          <p:nvSpPr>
            <p:cNvPr id="79" name="任意形状 47"/>
            <p:cNvSpPr/>
            <p:nvPr/>
          </p:nvSpPr>
          <p:spPr>
            <a:xfrm>
              <a:off x="9572" y="7538"/>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0" name="任意形状 48"/>
            <p:cNvSpPr/>
            <p:nvPr/>
          </p:nvSpPr>
          <p:spPr>
            <a:xfrm>
              <a:off x="9572" y="7538"/>
              <a:ext cx="422" cy="422"/>
            </a:xfrm>
            <a:custGeom>
              <a:avLst/>
              <a:gdLst>
                <a:gd name="connsiteX0" fmla="*/ 115062 w 268224"/>
                <a:gd name="connsiteY0" fmla="*/ 217170 h 268224"/>
                <a:gd name="connsiteX1" fmla="*/ 36576 w 268224"/>
                <a:gd name="connsiteY1" fmla="*/ 138684 h 268224"/>
                <a:gd name="connsiteX2" fmla="*/ 67818 w 268224"/>
                <a:gd name="connsiteY2" fmla="*/ 107442 h 268224"/>
                <a:gd name="connsiteX3" fmla="*/ 115062 w 268224"/>
                <a:gd name="connsiteY3" fmla="*/ 154686 h 268224"/>
                <a:gd name="connsiteX4" fmla="*/ 201168 w 268224"/>
                <a:gd name="connsiteY4" fmla="*/ 68580 h 268224"/>
                <a:gd name="connsiteX5" fmla="*/ 232410 w 268224"/>
                <a:gd name="connsiteY5" fmla="*/ 99822 h 268224"/>
                <a:gd name="connsiteX6" fmla="*/ 115062 w 268224"/>
                <a:gd name="connsiteY6" fmla="*/ 217170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062" y="217170"/>
                  </a:moveTo>
                  <a:lnTo>
                    <a:pt x="36576"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1" name="任意形状 38"/>
            <p:cNvSpPr/>
            <p:nvPr/>
          </p:nvSpPr>
          <p:spPr>
            <a:xfrm>
              <a:off x="5324" y="7538"/>
              <a:ext cx="420" cy="420"/>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2" name="任意形状 39"/>
            <p:cNvSpPr/>
            <p:nvPr/>
          </p:nvSpPr>
          <p:spPr>
            <a:xfrm>
              <a:off x="5324" y="7538"/>
              <a:ext cx="420" cy="420"/>
            </a:xfrm>
            <a:custGeom>
              <a:avLst/>
              <a:gdLst>
                <a:gd name="connsiteX0" fmla="*/ 115062 w 268223"/>
                <a:gd name="connsiteY0" fmla="*/ 217170 h 268224"/>
                <a:gd name="connsiteX1" fmla="*/ 36576 w 268223"/>
                <a:gd name="connsiteY1" fmla="*/ 138684 h 268224"/>
                <a:gd name="connsiteX2" fmla="*/ 67818 w 268223"/>
                <a:gd name="connsiteY2" fmla="*/ 107442 h 268224"/>
                <a:gd name="connsiteX3" fmla="*/ 115062 w 268223"/>
                <a:gd name="connsiteY3" fmla="*/ 154686 h 268224"/>
                <a:gd name="connsiteX4" fmla="*/ 201168 w 268223"/>
                <a:gd name="connsiteY4" fmla="*/ 68580 h 268224"/>
                <a:gd name="connsiteX5" fmla="*/ 232410 w 268223"/>
                <a:gd name="connsiteY5" fmla="*/ 99822 h 268224"/>
                <a:gd name="connsiteX6" fmla="*/ 115062 w 268223"/>
                <a:gd name="connsiteY6" fmla="*/ 217170 h 268224"/>
                <a:gd name="connsiteX7" fmla="*/ 134112 w 268223"/>
                <a:gd name="connsiteY7" fmla="*/ 0 h 268224"/>
                <a:gd name="connsiteX8" fmla="*/ 0 w 268223"/>
                <a:gd name="connsiteY8" fmla="*/ 134112 h 268224"/>
                <a:gd name="connsiteX9" fmla="*/ 134112 w 268223"/>
                <a:gd name="connsiteY9" fmla="*/ 268224 h 268224"/>
                <a:gd name="connsiteX10" fmla="*/ 268224 w 268223"/>
                <a:gd name="connsiteY10" fmla="*/ 134112 h 268224"/>
                <a:gd name="connsiteX11" fmla="*/ 134112 w 268223"/>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3" h="268224">
                  <a:moveTo>
                    <a:pt x="115062" y="217170"/>
                  </a:moveTo>
                  <a:lnTo>
                    <a:pt x="36576" y="138684"/>
                  </a:lnTo>
                  <a:lnTo>
                    <a:pt x="67818" y="107442"/>
                  </a:lnTo>
                  <a:lnTo>
                    <a:pt x="115062" y="154686"/>
                  </a:lnTo>
                  <a:lnTo>
                    <a:pt x="201168" y="68580"/>
                  </a:lnTo>
                  <a:lnTo>
                    <a:pt x="232410" y="99822"/>
                  </a:lnTo>
                  <a:lnTo>
                    <a:pt x="115062"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026" y="0"/>
                    <a:pt x="134112" y="0"/>
                  </a:cubicBezTo>
                  <a:close/>
                </a:path>
              </a:pathLst>
            </a:custGeom>
            <a:solidFill>
              <a:srgbClr val="3368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3" name="任意形状 29"/>
            <p:cNvSpPr/>
            <p:nvPr/>
          </p:nvSpPr>
          <p:spPr>
            <a:xfrm>
              <a:off x="1076" y="7538"/>
              <a:ext cx="422" cy="422"/>
            </a:xfrm>
            <a:custGeom>
              <a:avLst/>
              <a:gdLst>
                <a:gd name="connsiteX0" fmla="*/ 268224 w 268224"/>
                <a:gd name="connsiteY0" fmla="*/ 134112 h 268224"/>
                <a:gd name="connsiteX1" fmla="*/ 134112 w 268224"/>
                <a:gd name="connsiteY1" fmla="*/ 268224 h 268224"/>
                <a:gd name="connsiteX2" fmla="*/ 0 w 268224"/>
                <a:gd name="connsiteY2" fmla="*/ 134112 h 268224"/>
                <a:gd name="connsiteX3" fmla="*/ 134112 w 268224"/>
                <a:gd name="connsiteY3" fmla="*/ 0 h 268224"/>
                <a:gd name="connsiteX4" fmla="*/ 268224 w 268224"/>
                <a:gd name="connsiteY4" fmla="*/ 134112 h 26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24" h="268224">
                  <a:moveTo>
                    <a:pt x="268224" y="134112"/>
                  </a:moveTo>
                  <a:cubicBezTo>
                    <a:pt x="268224" y="208180"/>
                    <a:pt x="208180" y="268224"/>
                    <a:pt x="134112" y="268224"/>
                  </a:cubicBezTo>
                  <a:cubicBezTo>
                    <a:pt x="60044" y="268224"/>
                    <a:pt x="0" y="208180"/>
                    <a:pt x="0" y="134112"/>
                  </a:cubicBezTo>
                  <a:cubicBezTo>
                    <a:pt x="0" y="60044"/>
                    <a:pt x="60044" y="0"/>
                    <a:pt x="134112" y="0"/>
                  </a:cubicBezTo>
                  <a:cubicBezTo>
                    <a:pt x="208180" y="0"/>
                    <a:pt x="268224" y="60044"/>
                    <a:pt x="268224" y="134112"/>
                  </a:cubicBezTo>
                  <a:close/>
                </a:path>
              </a:pathLst>
            </a:custGeom>
            <a:solidFill>
              <a:srgbClr val="FFFF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sp>
          <p:nvSpPr>
            <p:cNvPr id="88" name="任意形状 30"/>
            <p:cNvSpPr/>
            <p:nvPr/>
          </p:nvSpPr>
          <p:spPr>
            <a:xfrm>
              <a:off x="1076" y="7538"/>
              <a:ext cx="422" cy="422"/>
            </a:xfrm>
            <a:custGeom>
              <a:avLst/>
              <a:gdLst>
                <a:gd name="connsiteX0" fmla="*/ 115824 w 268224"/>
                <a:gd name="connsiteY0" fmla="*/ 217170 h 268224"/>
                <a:gd name="connsiteX1" fmla="*/ 37338 w 268224"/>
                <a:gd name="connsiteY1" fmla="*/ 138684 h 268224"/>
                <a:gd name="connsiteX2" fmla="*/ 68580 w 268224"/>
                <a:gd name="connsiteY2" fmla="*/ 107442 h 268224"/>
                <a:gd name="connsiteX3" fmla="*/ 115824 w 268224"/>
                <a:gd name="connsiteY3" fmla="*/ 154686 h 268224"/>
                <a:gd name="connsiteX4" fmla="*/ 201930 w 268224"/>
                <a:gd name="connsiteY4" fmla="*/ 68580 h 268224"/>
                <a:gd name="connsiteX5" fmla="*/ 233172 w 268224"/>
                <a:gd name="connsiteY5" fmla="*/ 99822 h 268224"/>
                <a:gd name="connsiteX6" fmla="*/ 115824 w 268224"/>
                <a:gd name="connsiteY6" fmla="*/ 217170 h 268224"/>
                <a:gd name="connsiteX7" fmla="*/ 134112 w 268224"/>
                <a:gd name="connsiteY7" fmla="*/ 0 h 268224"/>
                <a:gd name="connsiteX8" fmla="*/ 0 w 268224"/>
                <a:gd name="connsiteY8" fmla="*/ 134112 h 268224"/>
                <a:gd name="connsiteX9" fmla="*/ 134112 w 268224"/>
                <a:gd name="connsiteY9" fmla="*/ 268224 h 268224"/>
                <a:gd name="connsiteX10" fmla="*/ 268224 w 268224"/>
                <a:gd name="connsiteY10" fmla="*/ 134112 h 268224"/>
                <a:gd name="connsiteX11" fmla="*/ 134112 w 268224"/>
                <a:gd name="connsiteY11" fmla="*/ 0 h 26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24" h="268224">
                  <a:moveTo>
                    <a:pt x="115824" y="217170"/>
                  </a:moveTo>
                  <a:lnTo>
                    <a:pt x="37338" y="138684"/>
                  </a:lnTo>
                  <a:lnTo>
                    <a:pt x="68580" y="107442"/>
                  </a:lnTo>
                  <a:lnTo>
                    <a:pt x="115824" y="154686"/>
                  </a:lnTo>
                  <a:lnTo>
                    <a:pt x="201930" y="68580"/>
                  </a:lnTo>
                  <a:lnTo>
                    <a:pt x="233172" y="99822"/>
                  </a:lnTo>
                  <a:lnTo>
                    <a:pt x="115824" y="217170"/>
                  </a:lnTo>
                  <a:close/>
                  <a:moveTo>
                    <a:pt x="134112" y="0"/>
                  </a:moveTo>
                  <a:cubicBezTo>
                    <a:pt x="60198" y="0"/>
                    <a:pt x="0" y="60198"/>
                    <a:pt x="0" y="134112"/>
                  </a:cubicBezTo>
                  <a:cubicBezTo>
                    <a:pt x="0" y="208026"/>
                    <a:pt x="60198" y="268224"/>
                    <a:pt x="134112" y="268224"/>
                  </a:cubicBezTo>
                  <a:cubicBezTo>
                    <a:pt x="208026" y="268224"/>
                    <a:pt x="268224" y="208026"/>
                    <a:pt x="268224" y="134112"/>
                  </a:cubicBezTo>
                  <a:cubicBezTo>
                    <a:pt x="268224" y="60198"/>
                    <a:pt x="208788" y="0"/>
                    <a:pt x="134112" y="0"/>
                  </a:cubicBezTo>
                  <a:close/>
                </a:path>
              </a:pathLst>
            </a:custGeom>
            <a:solidFill>
              <a:srgbClr val="0042FF"/>
            </a:solidFill>
            <a:ln w="4572" cap="flat">
              <a:noFill/>
              <a:prstDash val="solid"/>
              <a:miter/>
            </a:ln>
          </p:spPr>
          <p:txBody>
            <a:bodyPr rtlCol="0" anchor="ctr" lIns="0" rIns="0" tIns="0" bIns="0"/>
            <a:lstStyle/>
            <a:p>
              <a:pP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sp>
        <p:nvSpPr>
          <p:cNvPr id="96" name="任意形状 109"/>
          <p:cNvSpPr/>
          <p:nvPr/>
        </p:nvSpPr>
        <p:spPr>
          <a:xfrm>
            <a:off x="486809" y="5167228"/>
            <a:ext cx="11251692" cy="7620"/>
          </a:xfrm>
          <a:custGeom>
            <a:avLst/>
            <a:gdLst>
              <a:gd name="connsiteX0" fmla="*/ 0 w 11251692"/>
              <a:gd name="connsiteY0" fmla="*/ 0 h 7620"/>
              <a:gd name="connsiteX1" fmla="*/ 11251692 w 11251692"/>
              <a:gd name="connsiteY1" fmla="*/ 0 h 7620"/>
            </a:gdLst>
            <a:ahLst/>
            <a:cxnLst>
              <a:cxn ang="0">
                <a:pos x="connsiteX0" y="connsiteY0"/>
              </a:cxn>
              <a:cxn ang="0">
                <a:pos x="connsiteX1" y="connsiteY1"/>
              </a:cxn>
            </a:cxnLst>
            <a:rect l="l" t="t" r="r" b="b"/>
            <a:pathLst>
              <a:path w="11251692" h="7620">
                <a:moveTo>
                  <a:pt x="0" y="0"/>
                </a:moveTo>
                <a:lnTo>
                  <a:pt x="11251692" y="0"/>
                </a:lnTo>
              </a:path>
            </a:pathLst>
          </a:custGeom>
          <a:ln w="15875" cap="flat">
            <a:solidFill>
              <a:srgbClr val="DCDCDC"/>
            </a:solidFill>
            <a:prstDash val="dash"/>
            <a:miter/>
          </a:ln>
        </p:spPr>
        <p:txBody>
          <a:bodyPr rtlCol="0" anchor="ctr" lIns="0" rIns="0" tIns="0" bIns="0"/>
          <a:lstStyle/>
          <a:p>
            <a:pPr>
              <a:defRPr>
                <a:latin typeface="微软雅黑"/>
                <a:ea typeface="微软雅黑"/>
                <a:cs typeface="微软雅黑"/>
              </a:defRPr>
            </a:pPr>
            <a:endParaRPr lang="zh-CN" altLang="en-US">
              <a:latin typeface="微软雅黑"/>
              <a:ea typeface="微软雅黑"/>
              <a:cs typeface="微软雅黑"/>
            </a:endParaRPr>
          </a:p>
        </p:txBody>
      </p:sp>
      <p:grpSp>
        <p:nvGrpSpPr>
          <p:cNvPr id="112" name="组合 111"/>
          <p:cNvGrpSpPr/>
          <p:nvPr/>
        </p:nvGrpSpPr>
        <p:grpSpPr>
          <a:xfrm>
            <a:off x="6104890" y="6252210"/>
            <a:ext cx="214630" cy="214630"/>
            <a:chOff x="5824" y="9852"/>
            <a:chExt cx="338" cy="338"/>
          </a:xfrm>
        </p:grpSpPr>
        <p:sp>
          <p:nvSpPr>
            <p:cNvPr id="113" name="Circle"/>
            <p:cNvSpPr/>
            <p:nvPr/>
          </p:nvSpPr>
          <p:spPr>
            <a:xfrm>
              <a:off x="5824" y="9852"/>
              <a:ext cx="338" cy="338"/>
            </a:xfrm>
            <a:prstGeom prst="ellipse">
              <a:avLst/>
            </a:prstGeom>
            <a:solidFill>
              <a:srgbClr val="3368FF"/>
            </a:solidFill>
            <a:ln w="12700" cap="flat">
              <a:noFill/>
              <a:miter lim="400000"/>
            </a:ln>
            <a:effectLst/>
          </p:spPr>
          <p:txBody>
            <a:bodyPr wrap="square" lIns="0" tIns="0" rIns="0" bIns="0" numCol="1" anchor="ctr">
              <a:noAutofit/>
            </a:bodyPr>
            <a:lstStyle/>
            <a:p>
              <a:pPr>
                <a:spcAft>
                  <a:spcPts val="500"/>
                </a:spcAft>
                <a:defRPr sz="3200">
                  <a:solidFill>
                    <a:srgbClr val="FFFFFF"/>
                  </a:solidFill>
                  <a:latin typeface="微软雅黑"/>
                  <a:ea typeface="微软雅黑"/>
                  <a:cs typeface="微软雅黑"/>
                </a:defRPr>
              </a:pPr>
              <a:endParaRPr sz="1600">
                <a:solidFill>
                  <a:srgbClr val="FFFFFF"/>
                </a:solidFill>
                <a:latin typeface="微软雅黑"/>
                <a:ea typeface="微软雅黑"/>
                <a:cs typeface="微软雅黑"/>
              </a:endParaRPr>
            </a:p>
          </p:txBody>
        </p:sp>
        <p:sp>
          <p:nvSpPr>
            <p:cNvPr id="114" name="Circle"/>
            <p:cNvSpPr/>
            <p:nvPr/>
          </p:nvSpPr>
          <p:spPr>
            <a:xfrm>
              <a:off x="5934" y="9963"/>
              <a:ext cx="117" cy="117"/>
            </a:xfrm>
            <a:prstGeom prst="ellipse">
              <a:avLst/>
            </a:prstGeom>
            <a:solidFill>
              <a:srgbClr val="FFFFFF"/>
            </a:solidFill>
            <a:ln w="12700" cap="flat">
              <a:noFill/>
              <a:miter lim="400000"/>
            </a:ln>
            <a:effectLst/>
          </p:spPr>
          <p:txBody>
            <a:bodyPr wrap="square" lIns="0" tIns="0" rIns="0" bIns="0" numCol="1" anchor="ctr">
              <a:noAutofit/>
            </a:bodyPr>
            <a:lstStyle/>
            <a:p>
              <a:pPr>
                <a:spcAft>
                  <a:spcPts val="500"/>
                </a:spcAft>
                <a:defRPr sz="3200">
                  <a:solidFill>
                    <a:srgbClr val="383838"/>
                  </a:solidFill>
                  <a:latin typeface="微软雅黑"/>
                  <a:ea typeface="微软雅黑"/>
                  <a:cs typeface="微软雅黑"/>
                </a:defRPr>
              </a:pPr>
              <a:endParaRPr sz="1600">
                <a:latin typeface="微软雅黑"/>
                <a:ea typeface="微软雅黑"/>
                <a:cs typeface="微软雅黑"/>
              </a:endParaRPr>
            </a:p>
          </p:txBody>
        </p:sp>
      </p:grpSp>
      <p:grpSp>
        <p:nvGrpSpPr>
          <p:cNvPr id="115" name="组合 114"/>
          <p:cNvGrpSpPr/>
          <p:nvPr/>
        </p:nvGrpSpPr>
        <p:grpSpPr>
          <a:xfrm>
            <a:off x="8803005" y="6275070"/>
            <a:ext cx="214630" cy="214630"/>
            <a:chOff x="5824" y="9852"/>
            <a:chExt cx="338" cy="338"/>
          </a:xfrm>
        </p:grpSpPr>
        <p:sp>
          <p:nvSpPr>
            <p:cNvPr id="116" name="Circle"/>
            <p:cNvSpPr/>
            <p:nvPr/>
          </p:nvSpPr>
          <p:spPr>
            <a:xfrm>
              <a:off x="5824" y="9852"/>
              <a:ext cx="338" cy="338"/>
            </a:xfrm>
            <a:prstGeom prst="ellipse">
              <a:avLst/>
            </a:prstGeom>
            <a:solidFill>
              <a:srgbClr val="B3D4FE"/>
            </a:solidFill>
            <a:ln w="12700" cap="flat">
              <a:noFill/>
              <a:miter lim="400000"/>
            </a:ln>
            <a:effectLst/>
          </p:spPr>
          <p:txBody>
            <a:bodyPr wrap="square" lIns="0" tIns="0" rIns="0" bIns="0" numCol="1" anchor="ctr">
              <a:noAutofit/>
            </a:bodyPr>
            <a:lstStyle/>
            <a:p>
              <a:pPr>
                <a:spcAft>
                  <a:spcPts val="500"/>
                </a:spcAft>
                <a:defRPr sz="3200">
                  <a:solidFill>
                    <a:srgbClr val="383838"/>
                  </a:solidFill>
                  <a:latin typeface="微软雅黑"/>
                  <a:ea typeface="微软雅黑"/>
                  <a:cs typeface="微软雅黑"/>
                </a:defRPr>
              </a:pPr>
              <a:endParaRPr sz="1600">
                <a:latin typeface="微软雅黑"/>
                <a:ea typeface="微软雅黑"/>
                <a:cs typeface="微软雅黑"/>
              </a:endParaRPr>
            </a:p>
          </p:txBody>
        </p:sp>
        <p:sp>
          <p:nvSpPr>
            <p:cNvPr id="117" name="Circle"/>
            <p:cNvSpPr/>
            <p:nvPr/>
          </p:nvSpPr>
          <p:spPr>
            <a:xfrm>
              <a:off x="5934" y="9963"/>
              <a:ext cx="117" cy="117"/>
            </a:xfrm>
            <a:prstGeom prst="ellipse">
              <a:avLst/>
            </a:prstGeom>
            <a:solidFill>
              <a:srgbClr val="FFFFFF"/>
            </a:solidFill>
            <a:ln w="12700" cap="flat">
              <a:noFill/>
              <a:miter lim="400000"/>
            </a:ln>
            <a:effectLst/>
          </p:spPr>
          <p:txBody>
            <a:bodyPr wrap="square" lIns="0" tIns="0" rIns="0" bIns="0" numCol="1" anchor="ctr">
              <a:noAutofit/>
            </a:bodyPr>
            <a:lstStyle/>
            <a:p>
              <a:pPr>
                <a:spcAft>
                  <a:spcPts val="500"/>
                </a:spcAft>
                <a:defRPr sz="3200">
                  <a:solidFill>
                    <a:srgbClr val="383838"/>
                  </a:solidFill>
                  <a:latin typeface="微软雅黑"/>
                  <a:ea typeface="微软雅黑"/>
                  <a:cs typeface="微软雅黑"/>
                </a:defRPr>
              </a:pPr>
              <a:endParaRPr sz="1600">
                <a:latin typeface="微软雅黑"/>
                <a:ea typeface="微软雅黑"/>
                <a:cs typeface="微软雅黑"/>
              </a:endParaRPr>
            </a:p>
          </p:txBody>
        </p:sp>
      </p:grpSp>
      <p:cxnSp>
        <p:nvCxnSpPr>
          <p:cNvPr id="3"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6" name="组合 5"/>
          <p:cNvGrpSpPr/>
          <p:nvPr/>
        </p:nvGrpSpPr>
        <p:grpSpPr>
          <a:xfrm>
            <a:off x="8738235" y="348615"/>
            <a:ext cx="3219450" cy="332740"/>
            <a:chOff x="13761" y="549"/>
            <a:chExt cx="5070" cy="524"/>
          </a:xfrm>
        </p:grpSpPr>
        <p:pic>
          <p:nvPicPr>
            <p:cNvPr id="10" name="图片 9"/>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汽车客户运营推进思路</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3" name="椭圆 2"/>
          <p:cNvSpPr/>
          <p:nvPr/>
        </p:nvSpPr>
        <p:spPr>
          <a:xfrm>
            <a:off x="716280" y="1099820"/>
            <a:ext cx="628650" cy="628650"/>
          </a:xfrm>
          <a:prstGeom prst="ellipse">
            <a:avLst/>
          </a:prstGeom>
          <a:solidFill>
            <a:srgbClr val="3368FF"/>
          </a:solidFill>
          <a:ln w="19050">
            <a:solidFill>
              <a:srgbClr val="3368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cxnSp>
        <p:nvCxnSpPr>
          <p:cNvPr id="4" name="直接箭头连接符 3"/>
          <p:cNvCxnSpPr>
            <a:stCxn id="3" idx="6"/>
          </p:cNvCxnSpPr>
          <p:nvPr/>
        </p:nvCxnSpPr>
        <p:spPr>
          <a:xfrm>
            <a:off x="1344930" y="1414145"/>
            <a:ext cx="9976485" cy="0"/>
          </a:xfrm>
          <a:prstGeom prst="straightConnector1">
            <a:avLst/>
          </a:prstGeom>
          <a:ln w="19050">
            <a:solidFill>
              <a:srgbClr val="3368FF"/>
            </a:solidFill>
            <a:tailEnd type="arrow"/>
          </a:ln>
        </p:spPr>
        <p:style>
          <a:lnRef idx="2">
            <a:srgbClr val="0042FF"/>
          </a:lnRef>
          <a:fillRef idx="0">
            <a:srgbClr val="FFFFFF"/>
          </a:fillRef>
          <a:effectRef idx="0">
            <a:srgbClr val="FFFFFF"/>
          </a:effectRef>
          <a:fontRef idx="minor">
            <a:srgbClr val="383838"/>
          </a:fontRef>
        </p:style>
      </p:cxnSp>
      <p:cxnSp>
        <p:nvCxnSpPr>
          <p:cNvPr id="6" name="直接箭头连接符 5"/>
          <p:cNvCxnSpPr>
            <a:stCxn id="3" idx="4"/>
          </p:cNvCxnSpPr>
          <p:nvPr/>
        </p:nvCxnSpPr>
        <p:spPr>
          <a:xfrm>
            <a:off x="1030605" y="1728470"/>
            <a:ext cx="0" cy="4777740"/>
          </a:xfrm>
          <a:prstGeom prst="straightConnector1">
            <a:avLst/>
          </a:prstGeom>
          <a:ln w="19050">
            <a:solidFill>
              <a:srgbClr val="3368FF"/>
            </a:solidFill>
            <a:tailEnd type="arrow"/>
          </a:ln>
        </p:spPr>
        <p:style>
          <a:lnRef idx="2">
            <a:srgbClr val="0042FF"/>
          </a:lnRef>
          <a:fillRef idx="0">
            <a:srgbClr val="FFFFFF"/>
          </a:fillRef>
          <a:effectRef idx="0">
            <a:srgbClr val="FFFFFF"/>
          </a:effectRef>
          <a:fontRef idx="minor">
            <a:srgbClr val="383838"/>
          </a:fontRef>
        </p:style>
      </p:cxnSp>
      <p:sp>
        <p:nvSpPr>
          <p:cNvPr id="7" name="文本框 6"/>
          <p:cNvSpPr txBox="1"/>
          <p:nvPr/>
        </p:nvSpPr>
        <p:spPr>
          <a:xfrm>
            <a:off x="1355725" y="1988185"/>
            <a:ext cx="165354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客户生命周期</a:t>
            </a:r>
            <a:endParaRPr lang="zh-CN" altLang="en-US" sz="1600" b="1">
              <a:solidFill>
                <a:srgbClr val="0042FF"/>
              </a:solidFill>
              <a:latin typeface="微软雅黑"/>
              <a:ea typeface="微软雅黑"/>
              <a:cs typeface="微软雅黑"/>
            </a:endParaRPr>
          </a:p>
        </p:txBody>
      </p:sp>
      <p:sp>
        <p:nvSpPr>
          <p:cNvPr id="9" name="五边形 8"/>
          <p:cNvSpPr/>
          <p:nvPr>
            <p:custDataLst>
              <p:tags r:id="rId3"/>
            </p:custDataLst>
          </p:nvPr>
        </p:nvSpPr>
        <p:spPr>
          <a:xfrm>
            <a:off x="2998470" y="1800860"/>
            <a:ext cx="1501775" cy="699135"/>
          </a:xfrm>
          <a:prstGeom prst="homePlate">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1" name="燕尾形 10"/>
          <p:cNvSpPr/>
          <p:nvPr>
            <p:custDataLst>
              <p:tags r:id="rId4"/>
            </p:custDataLst>
          </p:nvPr>
        </p:nvSpPr>
        <p:spPr>
          <a:xfrm>
            <a:off x="4229100" y="1800860"/>
            <a:ext cx="1665605" cy="706755"/>
          </a:xfrm>
          <a:prstGeom prst="chevron">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12" name="燕尾形 11"/>
          <p:cNvSpPr/>
          <p:nvPr>
            <p:custDataLst>
              <p:tags r:id="rId5"/>
            </p:custDataLst>
          </p:nvPr>
        </p:nvSpPr>
        <p:spPr>
          <a:xfrm>
            <a:off x="5623560" y="1800860"/>
            <a:ext cx="1665605" cy="706755"/>
          </a:xfrm>
          <a:prstGeom prst="chevron">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3" name="燕尾形 12"/>
          <p:cNvSpPr/>
          <p:nvPr>
            <p:custDataLst>
              <p:tags r:id="rId6"/>
            </p:custDataLst>
          </p:nvPr>
        </p:nvSpPr>
        <p:spPr>
          <a:xfrm>
            <a:off x="7018020" y="1800860"/>
            <a:ext cx="1665605" cy="706755"/>
          </a:xfrm>
          <a:prstGeom prst="chevron">
            <a:avLst/>
          </a:prstGeom>
          <a:gradFill>
            <a:gsLst>
              <a:gs pos="0">
                <a:srgbClr val="3368FF"/>
              </a:gs>
              <a:gs pos="100000">
                <a:srgbClr val="B3D4FE"/>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4" name="燕尾形 13"/>
          <p:cNvSpPr/>
          <p:nvPr>
            <p:custDataLst>
              <p:tags r:id="rId7"/>
            </p:custDataLst>
          </p:nvPr>
        </p:nvSpPr>
        <p:spPr>
          <a:xfrm>
            <a:off x="9806940" y="1800860"/>
            <a:ext cx="1558290" cy="706755"/>
          </a:xfrm>
          <a:prstGeom prst="chevron">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graphicFrame>
        <p:nvGraphicFramePr>
          <p:cNvPr id="15" name="表格 14"/>
          <p:cNvGraphicFramePr/>
          <p:nvPr>
            <p:custDataLst>
              <p:tags r:id="rId8"/>
            </p:custDataLst>
          </p:nvPr>
        </p:nvGraphicFramePr>
        <p:xfrm>
          <a:off x="1400810" y="3602990"/>
          <a:ext cx="9862820" cy="3103880"/>
        </p:xfrm>
        <a:graphic>
          <a:graphicData uri="http://schemas.openxmlformats.org/drawingml/2006/table">
            <a:tbl>
              <a:tblPr firstRow="1" lastRow="1" bandRow="1">
                <a:tableStyleId>{F1E6A8D6-9716-4E29-9561-8EDCAC0E31F7}</a:tableStyleId>
              </a:tblPr>
              <a:tblGrid>
                <a:gridCol w="647065"/>
                <a:gridCol w="976630"/>
                <a:gridCol w="1183005"/>
                <a:gridCol w="1423035"/>
                <a:gridCol w="1411605"/>
                <a:gridCol w="1363980"/>
                <a:gridCol w="1422400"/>
                <a:gridCol w="1435100"/>
              </a:tblGrid>
              <a:tr h="457200">
                <a:tc rowSpan="2">
                  <a:txBody>
                    <a:bodyPr/>
                    <a:p>
                      <a:pPr algn="ctr">
                        <a:buNone/>
                        <a:defRPr>
                          <a:latin typeface="微软雅黑"/>
                          <a:ea typeface="微软雅黑"/>
                          <a:cs typeface="微软雅黑"/>
                        </a:defRPr>
                      </a:pPr>
                      <a:r>
                        <a:rPr lang="zh-CN" altLang="en-US" sz="1200" b="1">
                          <a:solidFill>
                            <a:srgbClr val="383838"/>
                          </a:solidFill>
                          <a:latin typeface="微软雅黑"/>
                          <a:ea typeface="微软雅黑"/>
                          <a:cs typeface="微软雅黑"/>
                        </a:rPr>
                        <a:t>体验类</a:t>
                      </a:r>
                      <a:endParaRPr lang="zh-CN" altLang="en-US" sz="1200" b="1">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a:p>
                      <a:pPr algn="ctr">
                        <a:buNone/>
                        <a:defRPr>
                          <a:latin typeface="微软雅黑"/>
                          <a:ea typeface="微软雅黑"/>
                          <a:cs typeface="微软雅黑"/>
                        </a:defRPr>
                      </a:pPr>
                      <a:r>
                        <a:rPr lang="zh-CN" altLang="en-US" sz="1200" b="0">
                          <a:solidFill>
                            <a:srgbClr val="383838"/>
                          </a:solidFill>
                          <a:latin typeface="微软雅黑"/>
                          <a:ea typeface="微软雅黑"/>
                          <a:cs typeface="微软雅黑"/>
                        </a:rPr>
                        <a:t>感官体验型</a:t>
                      </a:r>
                      <a:endParaRPr lang="zh-CN" altLang="en-US"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668E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r>
              <a:tr h="365760">
                <a:tc vMerge="1">
                  <a:tcPr>
                    <a:lnL w="12700">
                      <a:solidFill>
                        <a:srgbClr val="DCDCDC"/>
                      </a:solidFill>
                      <a:prstDash val="solid"/>
                    </a:lnL>
                    <a:lnR w="12700">
                      <a:solidFill>
                        <a:srgbClr val="DCDCDC"/>
                      </a:solidFill>
                      <a:prstDash val="solid"/>
                    </a:lnR>
                    <a:lnB w="12700">
                      <a:solidFill>
                        <a:srgbClr val="DCDCDC"/>
                      </a:solidFill>
                      <a:prstDash val="solid"/>
                    </a:lnB>
                    <a:solidFill>
                      <a:srgbClr val="E6E6E6"/>
                    </a:solidFill>
                  </a:tcPr>
                </a:tc>
                <a:tc>
                  <a:txBody>
                    <a:bodyPr/>
                    <a:p>
                      <a:pPr algn="ctr">
                        <a:buNone/>
                        <a:defRPr>
                          <a:latin typeface="微软雅黑"/>
                          <a:ea typeface="微软雅黑"/>
                          <a:cs typeface="微软雅黑"/>
                        </a:defRPr>
                      </a:pPr>
                      <a:r>
                        <a:rPr lang="zh-CN" altLang="en-US" sz="1200" b="0">
                          <a:solidFill>
                            <a:srgbClr val="383838"/>
                          </a:solidFill>
                          <a:latin typeface="微软雅黑"/>
                          <a:ea typeface="微软雅黑"/>
                          <a:cs typeface="微软雅黑"/>
                        </a:rPr>
                        <a:t>情感共鸣型</a:t>
                      </a:r>
                      <a:endParaRPr lang="zh-CN" altLang="en-US"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3368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r>
              <a:tr h="452120">
                <a:tc>
                  <a:txBody>
                    <a:bodyPr/>
                    <a:p>
                      <a:pPr algn="ctr">
                        <a:buNone/>
                        <a:defRPr>
                          <a:latin typeface="微软雅黑"/>
                          <a:ea typeface="微软雅黑"/>
                          <a:cs typeface="微软雅黑"/>
                        </a:defRPr>
                      </a:pPr>
                      <a:r>
                        <a:rPr lang="zh-CN" altLang="en-US" sz="1200" b="1">
                          <a:solidFill>
                            <a:srgbClr val="383838"/>
                          </a:solidFill>
                          <a:latin typeface="微软雅黑"/>
                          <a:ea typeface="微软雅黑"/>
                          <a:cs typeface="微软雅黑"/>
                        </a:rPr>
                        <a:t>服务类</a:t>
                      </a:r>
                      <a:endParaRPr lang="zh-CN" altLang="en-US" sz="1200" b="1">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a:p>
                      <a:pPr algn="ctr">
                        <a:buNone/>
                        <a:defRPr>
                          <a:latin typeface="微软雅黑"/>
                          <a:ea typeface="微软雅黑"/>
                          <a:cs typeface="微软雅黑"/>
                        </a:defRPr>
                      </a:pPr>
                      <a:r>
                        <a:rPr lang="zh-CN" altLang="en-US" sz="1200" b="0">
                          <a:solidFill>
                            <a:srgbClr val="383838"/>
                          </a:solidFill>
                          <a:latin typeface="微软雅黑"/>
                          <a:ea typeface="微软雅黑"/>
                          <a:cs typeface="微软雅黑"/>
                        </a:rPr>
                        <a:t>省心托管型</a:t>
                      </a:r>
                      <a:endParaRPr lang="zh-CN" altLang="en-US"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r>
              <a:tr h="365760">
                <a:tc rowSpan="5">
                  <a:txBody>
                    <a:bodyPr/>
                    <a:p>
                      <a:pPr algn="ctr">
                        <a:buNone/>
                        <a:defRPr>
                          <a:latin typeface="微软雅黑"/>
                          <a:ea typeface="微软雅黑"/>
                          <a:cs typeface="微软雅黑"/>
                        </a:defRPr>
                      </a:pPr>
                      <a:r>
                        <a:rPr lang="zh-CN" altLang="en-US" sz="1200" b="1">
                          <a:solidFill>
                            <a:srgbClr val="383838"/>
                          </a:solidFill>
                          <a:latin typeface="微软雅黑"/>
                          <a:ea typeface="微软雅黑"/>
                          <a:cs typeface="微软雅黑"/>
                        </a:rPr>
                        <a:t>功能类</a:t>
                      </a:r>
                      <a:endParaRPr lang="zh-CN" altLang="en-US" sz="1200" b="1">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a:p>
                      <a:pPr algn="ctr">
                        <a:buNone/>
                        <a:defRPr>
                          <a:latin typeface="微软雅黑"/>
                          <a:ea typeface="微软雅黑"/>
                          <a:cs typeface="微软雅黑"/>
                        </a:defRPr>
                      </a:pPr>
                      <a:r>
                        <a:rPr lang="zh-CN" altLang="en-US" sz="1200" b="0">
                          <a:solidFill>
                            <a:srgbClr val="383838"/>
                          </a:solidFill>
                          <a:latin typeface="微软雅黑"/>
                          <a:ea typeface="微软雅黑"/>
                          <a:cs typeface="微软雅黑"/>
                        </a:rPr>
                        <a:t>用车保障型</a:t>
                      </a:r>
                      <a:endParaRPr lang="zh-CN" altLang="en-US"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3368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r>
              <a:tr h="365760">
                <a:tc vMerge="1">
                  <a:tcPr>
                    <a:lnL w="12700">
                      <a:solidFill>
                        <a:srgbClr val="DCDCDC"/>
                      </a:solidFill>
                      <a:prstDash val="solid"/>
                    </a:lnL>
                    <a:lnR w="12700">
                      <a:solidFill>
                        <a:srgbClr val="DCDCDC"/>
                      </a:solidFill>
                      <a:prstDash val="solid"/>
                    </a:lnR>
                    <a:solidFill>
                      <a:srgbClr val="E6E6E6"/>
                    </a:solidFill>
                  </a:tcPr>
                </a:tc>
                <a:tc>
                  <a:txBody>
                    <a:bodyPr/>
                    <a:p>
                      <a:pPr algn="ctr">
                        <a:buNone/>
                        <a:defRPr>
                          <a:latin typeface="微软雅黑"/>
                          <a:ea typeface="微软雅黑"/>
                          <a:cs typeface="微软雅黑"/>
                        </a:defRPr>
                      </a:pPr>
                      <a:r>
                        <a:rPr lang="zh-CN" sz="1200" b="0">
                          <a:solidFill>
                            <a:srgbClr val="383838"/>
                          </a:solidFill>
                          <a:latin typeface="微软雅黑"/>
                          <a:ea typeface="微软雅黑"/>
                          <a:cs typeface="微软雅黑"/>
                        </a:rPr>
                        <a:t>养车无忧型</a:t>
                      </a:r>
                      <a:endParaRPr lang="zh-CN"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3368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c>
                  <a:txBody>
                    <a:bodyPr lIns="0" rIns="0" tIns="0" bIns="0"/>
                    <a:p>
                      <a:pPr>
                        <a:buNone/>
                        <a:defRPr>
                          <a:latin typeface="微软雅黑"/>
                          <a:ea typeface="微软雅黑"/>
                          <a:cs typeface="微软雅黑"/>
                        </a:defRPr>
                      </a:pPr>
                      <a:endParaRPr lang="zh-CN" altLang="en-US">
                        <a:solidFill>
                          <a:srgbClr val="0042FF"/>
                        </a:solidFill>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r>
              <a:tr h="365760">
                <a:tc vMerge="1">
                  <a:tcPr>
                    <a:lnL w="12700">
                      <a:solidFill>
                        <a:srgbClr val="DCDCDC"/>
                      </a:solidFill>
                      <a:prstDash val="solid"/>
                    </a:lnL>
                    <a:lnR w="12700">
                      <a:solidFill>
                        <a:srgbClr val="DCDCDC"/>
                      </a:solidFill>
                      <a:prstDash val="solid"/>
                    </a:lnR>
                    <a:solidFill>
                      <a:srgbClr val="E6E6E6"/>
                    </a:solidFill>
                  </a:tcPr>
                </a:tc>
                <a:tc>
                  <a:txBody>
                    <a:bodyPr/>
                    <a:p>
                      <a:pPr algn="ctr">
                        <a:buNone/>
                        <a:defRPr>
                          <a:latin typeface="微软雅黑"/>
                          <a:ea typeface="微软雅黑"/>
                          <a:cs typeface="微软雅黑"/>
                        </a:defRPr>
                      </a:pPr>
                      <a:r>
                        <a:rPr lang="zh-CN" altLang="en-US" sz="1200" b="0">
                          <a:solidFill>
                            <a:srgbClr val="383838"/>
                          </a:solidFill>
                          <a:latin typeface="微软雅黑"/>
                          <a:ea typeface="微软雅黑"/>
                          <a:cs typeface="微软雅黑"/>
                        </a:rPr>
                        <a:t>安全防御型</a:t>
                      </a:r>
                      <a:endParaRPr lang="zh-CN" altLang="en-US"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668EFF">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r>
              <a:tr h="365760">
                <a:tc vMerge="1">
                  <a:tcPr>
                    <a:lnL w="12700">
                      <a:solidFill>
                        <a:srgbClr val="DCDCDC"/>
                      </a:solidFill>
                      <a:prstDash val="solid"/>
                    </a:lnL>
                    <a:lnR w="12700">
                      <a:solidFill>
                        <a:srgbClr val="DCDCDC"/>
                      </a:solidFill>
                      <a:prstDash val="solid"/>
                    </a:lnR>
                    <a:solidFill>
                      <a:srgbClr val="E6E6E6"/>
                    </a:solidFill>
                  </a:tcPr>
                </a:tc>
                <a:tc>
                  <a:txBody>
                    <a:bodyPr/>
                    <a:p>
                      <a:pPr algn="ctr">
                        <a:buNone/>
                        <a:defRPr>
                          <a:latin typeface="微软雅黑"/>
                          <a:ea typeface="微软雅黑"/>
                          <a:cs typeface="微软雅黑"/>
                        </a:defRPr>
                      </a:pPr>
                      <a:r>
                        <a:rPr lang="zh-CN" sz="1200" b="0">
                          <a:solidFill>
                            <a:srgbClr val="383838"/>
                          </a:solidFill>
                          <a:latin typeface="微软雅黑"/>
                          <a:ea typeface="微软雅黑"/>
                          <a:cs typeface="微软雅黑"/>
                        </a:rPr>
                        <a:t>外观美容型</a:t>
                      </a:r>
                      <a:endParaRPr lang="zh-CN"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3368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r>
              <a:tr h="365760">
                <a:tc vMerge="1">
                  <a:tcPr>
                    <a:lnL w="12700">
                      <a:solidFill>
                        <a:srgbClr val="DCDCDC"/>
                      </a:solidFill>
                      <a:prstDash val="solid"/>
                    </a:lnL>
                    <a:lnR w="12700">
                      <a:solidFill>
                        <a:srgbClr val="DCDCDC"/>
                      </a:solidFill>
                      <a:prstDash val="solid"/>
                    </a:lnR>
                    <a:lnB w="12700">
                      <a:solidFill>
                        <a:srgbClr val="DCDCDC"/>
                      </a:solidFill>
                      <a:prstDash val="solid"/>
                    </a:lnB>
                    <a:solidFill>
                      <a:srgbClr val="E6E6E6"/>
                    </a:solidFill>
                  </a:tcPr>
                </a:tc>
                <a:tc>
                  <a:txBody>
                    <a:bodyPr/>
                    <a:p>
                      <a:pPr algn="ctr">
                        <a:buNone/>
                        <a:defRPr>
                          <a:latin typeface="微软雅黑"/>
                          <a:ea typeface="微软雅黑"/>
                          <a:cs typeface="微软雅黑"/>
                        </a:defRPr>
                      </a:pPr>
                      <a:r>
                        <a:rPr lang="zh-CN" altLang="en-US" sz="1200" b="0">
                          <a:solidFill>
                            <a:srgbClr val="383838"/>
                          </a:solidFill>
                          <a:latin typeface="微软雅黑"/>
                          <a:ea typeface="微软雅黑"/>
                          <a:cs typeface="微软雅黑"/>
                        </a:rPr>
                        <a:t>硬件改装型</a:t>
                      </a:r>
                      <a:endParaRPr lang="zh-CN" altLang="en-US" sz="1200" b="0">
                        <a:solidFill>
                          <a:srgbClr val="383838"/>
                        </a:solidFill>
                        <a:latin typeface="微软雅黑"/>
                        <a:ea typeface="微软雅黑"/>
                        <a:cs typeface="微软雅黑"/>
                      </a:endParaRPr>
                    </a:p>
                  </a:txBody>
                  <a:tcPr anchor="ctr" anchorCtr="0">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FFFFFF"/>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B3D4FE"/>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c>
                  <a:txBody>
                    <a:bodyPr lIns="0" rIns="0" tIns="0" bIns="0"/>
                    <a:p>
                      <a:pPr>
                        <a:buNone/>
                        <a:defRPr>
                          <a:latin typeface="微软雅黑"/>
                          <a:ea typeface="微软雅黑"/>
                          <a:cs typeface="微软雅黑"/>
                        </a:defRPr>
                      </a:pPr>
                      <a:endParaRPr lang="zh-CN" altLang="en-US">
                        <a:latin typeface="微软雅黑"/>
                        <a:ea typeface="微软雅黑"/>
                        <a:cs typeface="微软雅黑"/>
                      </a:endParaRPr>
                    </a:p>
                  </a:txBody>
                  <a:tcPr>
                    <a:lnL w="12700">
                      <a:solidFill>
                        <a:srgbClr val="DCDCDC"/>
                      </a:solidFill>
                      <a:prstDash val="solid"/>
                    </a:lnL>
                    <a:lnR w="12700">
                      <a:solidFill>
                        <a:srgbClr val="DCDCDC"/>
                      </a:solidFill>
                      <a:prstDash val="solid"/>
                    </a:lnR>
                    <a:lnT w="12700">
                      <a:solidFill>
                        <a:srgbClr val="DCDCDC"/>
                      </a:solidFill>
                      <a:prstDash val="solid"/>
                    </a:lnT>
                    <a:lnB w="12700">
                      <a:solidFill>
                        <a:srgbClr val="DCDCDC"/>
                      </a:solidFill>
                      <a:prstDash val="solid"/>
                    </a:lnB>
                    <a:solidFill>
                      <a:srgbClr val="E6E6E6">
                        <a:alpha val="50000"/>
                      </a:srgbClr>
                    </a:solidFill>
                  </a:tcPr>
                </a:tc>
              </a:tr>
            </a:tbl>
          </a:graphicData>
        </a:graphic>
      </p:graphicFrame>
      <p:sp>
        <p:nvSpPr>
          <p:cNvPr id="16" name="文本框 15"/>
          <p:cNvSpPr txBox="1"/>
          <p:nvPr/>
        </p:nvSpPr>
        <p:spPr>
          <a:xfrm>
            <a:off x="648335" y="1153160"/>
            <a:ext cx="764540" cy="521970"/>
          </a:xfrm>
          <a:prstGeom prst="rect">
            <a:avLst/>
          </a:prstGeom>
          <a:noFill/>
          <a:extLst>
            <a:ext uri="{909E8E84-426E-40DD-AFC4-6F175D3DCCD1}">
              <a14:hiddenFill xmlns:a14="http://schemas.microsoft.com/office/drawing/2010/main">
                <a:solidFill>
                  <a:srgbClr val="3368FF"/>
                </a:solidFill>
              </a14:hiddenFill>
            </a:ext>
          </a:extLst>
        </p:spPr>
        <p:txBody>
          <a:bodyPr wrap="square" rtlCol="0">
            <a:spAutoFit/>
          </a:bodyPr>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数据</a:t>
            </a:r>
            <a:endParaRPr lang="zh-CN" altLang="en-US" sz="14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支撑</a:t>
            </a:r>
            <a:endParaRPr lang="zh-CN" altLang="en-US" sz="1400" b="1">
              <a:solidFill>
                <a:srgbClr val="FFFFFF"/>
              </a:solidFill>
              <a:latin typeface="微软雅黑"/>
              <a:ea typeface="微软雅黑"/>
              <a:cs typeface="微软雅黑"/>
            </a:endParaRPr>
          </a:p>
        </p:txBody>
      </p:sp>
      <p:sp>
        <p:nvSpPr>
          <p:cNvPr id="17" name="矩形 16"/>
          <p:cNvSpPr/>
          <p:nvPr/>
        </p:nvSpPr>
        <p:spPr>
          <a:xfrm>
            <a:off x="5252085" y="1241425"/>
            <a:ext cx="2025015" cy="33655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车主运营精细化</a:t>
            </a:r>
            <a:endParaRPr lang="zh-CN" altLang="en-US" sz="1600" b="1">
              <a:solidFill>
                <a:srgbClr val="0042FF"/>
              </a:solidFill>
              <a:latin typeface="微软雅黑"/>
              <a:ea typeface="微软雅黑"/>
              <a:cs typeface="微软雅黑"/>
            </a:endParaRPr>
          </a:p>
        </p:txBody>
      </p:sp>
      <p:sp>
        <p:nvSpPr>
          <p:cNvPr id="19" name="矩形 18"/>
          <p:cNvSpPr/>
          <p:nvPr/>
        </p:nvSpPr>
        <p:spPr>
          <a:xfrm>
            <a:off x="956945" y="2942590"/>
            <a:ext cx="353060" cy="2026285"/>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solidFill>
                <a:srgbClr val="0042FF"/>
              </a:solidFill>
              <a:latin typeface="微软雅黑"/>
              <a:ea typeface="微软雅黑"/>
              <a:cs typeface="微软雅黑"/>
            </a:endParaRPr>
          </a:p>
        </p:txBody>
      </p:sp>
      <p:sp>
        <p:nvSpPr>
          <p:cNvPr id="20" name="矩形 19"/>
          <p:cNvSpPr/>
          <p:nvPr/>
        </p:nvSpPr>
        <p:spPr>
          <a:xfrm>
            <a:off x="783590" y="2961005"/>
            <a:ext cx="459740" cy="2056765"/>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r>
              <a:rPr lang="zh-CN" altLang="en-US" sz="1600" b="1">
                <a:solidFill>
                  <a:srgbClr val="0042FF"/>
                </a:solidFill>
                <a:latin typeface="微软雅黑"/>
                <a:ea typeface="微软雅黑"/>
                <a:cs typeface="微软雅黑"/>
                <a:sym typeface="微软雅黑"/>
              </a:rPr>
              <a:t>产品推荐精准化</a:t>
            </a:r>
            <a:endParaRPr lang="zh-CN" altLang="en-US" sz="1600" b="1">
              <a:solidFill>
                <a:srgbClr val="0042FF"/>
              </a:solidFill>
              <a:latin typeface="微软雅黑"/>
              <a:ea typeface="微软雅黑"/>
              <a:cs typeface="微软雅黑"/>
              <a:sym typeface="微软雅黑"/>
            </a:endParaRPr>
          </a:p>
        </p:txBody>
      </p:sp>
      <p:sp>
        <p:nvSpPr>
          <p:cNvPr id="26" name="文本框 25"/>
          <p:cNvSpPr txBox="1"/>
          <p:nvPr/>
        </p:nvSpPr>
        <p:spPr>
          <a:xfrm>
            <a:off x="1400810" y="2886710"/>
            <a:ext cx="1653540" cy="337185"/>
          </a:xfrm>
          <a:prstGeom prst="rect">
            <a:avLst/>
          </a:prstGeom>
          <a:noFill/>
        </p:spPr>
        <p:txBody>
          <a:bodyPr wrap="square" rtlCol="0">
            <a:spAutoFit/>
          </a:bodyPr>
          <a:p>
            <a:pPr algn="ctr">
              <a:defRPr>
                <a:latin typeface="微软雅黑"/>
                <a:ea typeface="微软雅黑"/>
                <a:cs typeface="微软雅黑"/>
              </a:defRPr>
            </a:pPr>
            <a:r>
              <a:rPr lang="zh-CN" altLang="en-US" sz="1600" b="1">
                <a:solidFill>
                  <a:srgbClr val="0042FF"/>
                </a:solidFill>
                <a:latin typeface="微软雅黑"/>
                <a:ea typeface="微软雅黑"/>
                <a:cs typeface="微软雅黑"/>
              </a:rPr>
              <a:t>营销目的</a:t>
            </a:r>
            <a:endParaRPr lang="zh-CN" altLang="en-US" sz="1600" b="1">
              <a:solidFill>
                <a:srgbClr val="0042FF"/>
              </a:solidFill>
              <a:latin typeface="微软雅黑"/>
              <a:ea typeface="微软雅黑"/>
              <a:cs typeface="微软雅黑"/>
            </a:endParaRPr>
          </a:p>
        </p:txBody>
      </p:sp>
      <p:sp>
        <p:nvSpPr>
          <p:cNvPr id="28" name="燕尾形 27"/>
          <p:cNvSpPr/>
          <p:nvPr>
            <p:custDataLst>
              <p:tags r:id="rId9"/>
            </p:custDataLst>
          </p:nvPr>
        </p:nvSpPr>
        <p:spPr>
          <a:xfrm>
            <a:off x="8412480" y="1800860"/>
            <a:ext cx="1665605" cy="706755"/>
          </a:xfrm>
          <a:prstGeom prst="chevron">
            <a:avLst/>
          </a:prstGeom>
          <a:gradFill>
            <a:gsLst>
              <a:gs pos="0">
                <a:srgbClr val="0042FF"/>
              </a:gs>
              <a:gs pos="100000">
                <a:srgbClr val="3368FF"/>
              </a:gs>
            </a:gsLst>
            <a:lin ang="27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8" name="文本框 37"/>
          <p:cNvSpPr txBox="1"/>
          <p:nvPr>
            <p:custDataLst>
              <p:tags r:id="rId10"/>
            </p:custDataLst>
          </p:nvPr>
        </p:nvSpPr>
        <p:spPr>
          <a:xfrm>
            <a:off x="3022600" y="2597150"/>
            <a:ext cx="1229995" cy="82994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sym typeface="微软雅黑"/>
              </a:rPr>
              <a:t>快速渗透，提升渗透率与高客单价产品的转化率</a:t>
            </a:r>
            <a:endParaRPr lang="zh-CN" altLang="en-US" sz="1200">
              <a:solidFill>
                <a:srgbClr val="383838"/>
              </a:solidFill>
              <a:latin typeface="微软雅黑"/>
              <a:ea typeface="微软雅黑"/>
              <a:cs typeface="微软雅黑"/>
              <a:sym typeface="微软雅黑"/>
            </a:endParaRPr>
          </a:p>
        </p:txBody>
      </p:sp>
      <p:sp>
        <p:nvSpPr>
          <p:cNvPr id="39" name="文本框 38"/>
          <p:cNvSpPr txBox="1"/>
          <p:nvPr>
            <p:custDataLst>
              <p:tags r:id="rId11"/>
            </p:custDataLst>
          </p:nvPr>
        </p:nvSpPr>
        <p:spPr>
          <a:xfrm>
            <a:off x="4392295" y="2597150"/>
            <a:ext cx="1229995" cy="82994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高频营销，抓住用户痛点，促进活跃，提升转化</a:t>
            </a:r>
            <a:endParaRPr lang="zh-CN" altLang="en-US" sz="1200">
              <a:solidFill>
                <a:srgbClr val="383838"/>
              </a:solidFill>
              <a:latin typeface="微软雅黑"/>
              <a:ea typeface="微软雅黑"/>
              <a:cs typeface="微软雅黑"/>
            </a:endParaRPr>
          </a:p>
        </p:txBody>
      </p:sp>
      <p:sp>
        <p:nvSpPr>
          <p:cNvPr id="40" name="文本框 39"/>
          <p:cNvSpPr txBox="1"/>
          <p:nvPr>
            <p:custDataLst>
              <p:tags r:id="rId12"/>
            </p:custDataLst>
          </p:nvPr>
        </p:nvSpPr>
        <p:spPr>
          <a:xfrm>
            <a:off x="5761990" y="2597150"/>
            <a:ext cx="1229995" cy="82994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积分体系绑定高频服务</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固化忠诚行为，建立服务依赖</a:t>
            </a:r>
            <a:endParaRPr lang="zh-CN" altLang="en-US" sz="1200">
              <a:solidFill>
                <a:srgbClr val="383838"/>
              </a:solidFill>
              <a:latin typeface="微软雅黑"/>
              <a:ea typeface="微软雅黑"/>
              <a:cs typeface="微软雅黑"/>
            </a:endParaRPr>
          </a:p>
        </p:txBody>
      </p:sp>
      <p:sp>
        <p:nvSpPr>
          <p:cNvPr id="41" name="文本框 40"/>
          <p:cNvSpPr txBox="1"/>
          <p:nvPr>
            <p:custDataLst>
              <p:tags r:id="rId13"/>
            </p:custDataLst>
          </p:nvPr>
        </p:nvSpPr>
        <p:spPr>
          <a:xfrm>
            <a:off x="7131685" y="2597150"/>
            <a:ext cx="1229995" cy="82994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多重营销，深挖需求，提升转化率与复购率</a:t>
            </a:r>
            <a:endParaRPr lang="zh-CN" altLang="en-US" sz="1200">
              <a:solidFill>
                <a:srgbClr val="383838"/>
              </a:solidFill>
              <a:latin typeface="微软雅黑"/>
              <a:ea typeface="微软雅黑"/>
              <a:cs typeface="微软雅黑"/>
            </a:endParaRPr>
          </a:p>
        </p:txBody>
      </p:sp>
      <p:sp>
        <p:nvSpPr>
          <p:cNvPr id="42" name="文本框 41"/>
          <p:cNvSpPr txBox="1"/>
          <p:nvPr>
            <p:custDataLst>
              <p:tags r:id="rId14"/>
            </p:custDataLst>
          </p:nvPr>
        </p:nvSpPr>
        <p:spPr>
          <a:xfrm>
            <a:off x="8501380" y="2597150"/>
            <a:ext cx="1229995" cy="82994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低强度维系（生日福利</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a:t>
            </a:r>
            <a:r>
              <a:rPr lang="en-US" altLang="zh-CN" sz="1200">
                <a:solidFill>
                  <a:srgbClr val="383838"/>
                </a:solidFill>
                <a:latin typeface="微软雅黑"/>
                <a:ea typeface="微软雅黑"/>
                <a:cs typeface="微软雅黑"/>
              </a:rPr>
              <a:t>,</a:t>
            </a:r>
            <a:r>
              <a:rPr lang="zh-CN" altLang="en-US" sz="1200">
                <a:solidFill>
                  <a:srgbClr val="383838"/>
                </a:solidFill>
                <a:latin typeface="微软雅黑"/>
                <a:ea typeface="微软雅黑"/>
                <a:cs typeface="微软雅黑"/>
              </a:rPr>
              <a:t>延缓流失，维持基础贡献</a:t>
            </a:r>
            <a:endParaRPr lang="zh-CN" altLang="en-US" sz="1200">
              <a:solidFill>
                <a:srgbClr val="383838"/>
              </a:solidFill>
              <a:latin typeface="微软雅黑"/>
              <a:ea typeface="微软雅黑"/>
              <a:cs typeface="微软雅黑"/>
            </a:endParaRPr>
          </a:p>
        </p:txBody>
      </p:sp>
      <p:sp>
        <p:nvSpPr>
          <p:cNvPr id="43" name="文本框 42"/>
          <p:cNvSpPr txBox="1"/>
          <p:nvPr>
            <p:custDataLst>
              <p:tags r:id="rId15"/>
            </p:custDataLst>
          </p:nvPr>
        </p:nvSpPr>
        <p:spPr>
          <a:xfrm>
            <a:off x="9871075" y="2597150"/>
            <a:ext cx="1229995" cy="829945"/>
          </a:xfrm>
          <a:prstGeom prst="rect">
            <a:avLst/>
          </a:prstGeom>
          <a:noFill/>
        </p:spPr>
        <p:txBody>
          <a:bodyPr wrap="square" rtlCol="0">
            <a:spAutoFit/>
          </a:bodyPr>
          <a:p>
            <a:pPr algn="ctr">
              <a:defRPr>
                <a:latin typeface="微软雅黑"/>
                <a:ea typeface="微软雅黑"/>
                <a:cs typeface="微软雅黑"/>
              </a:defRPr>
            </a:pPr>
            <a:r>
              <a:rPr lang="zh-CN" altLang="en-US" sz="1200">
                <a:solidFill>
                  <a:srgbClr val="383838"/>
                </a:solidFill>
                <a:latin typeface="微软雅黑"/>
                <a:ea typeface="微软雅黑"/>
                <a:cs typeface="微软雅黑"/>
              </a:rPr>
              <a:t>客户召回，硬件升级定向推送（旧换新补贴）</a:t>
            </a:r>
            <a:endParaRPr lang="zh-CN" altLang="en-US" sz="1200">
              <a:solidFill>
                <a:srgbClr val="383838"/>
              </a:solidFill>
              <a:latin typeface="微软雅黑"/>
              <a:ea typeface="微软雅黑"/>
              <a:cs typeface="微软雅黑"/>
            </a:endParaRPr>
          </a:p>
        </p:txBody>
      </p:sp>
      <p:sp>
        <p:nvSpPr>
          <p:cNvPr id="8" name="矩形 7"/>
          <p:cNvSpPr/>
          <p:nvPr>
            <p:custDataLst>
              <p:tags r:id="rId16"/>
            </p:custDataLst>
          </p:nvPr>
        </p:nvSpPr>
        <p:spPr>
          <a:xfrm>
            <a:off x="3127375" y="1873885"/>
            <a:ext cx="1142365" cy="553085"/>
          </a:xfrm>
          <a:prstGeom prst="rect">
            <a:avLst/>
          </a:prstGeom>
          <a:noFill/>
          <a:ln>
            <a:noFill/>
          </a:ln>
          <a:extLst>
            <a:ext uri="{909E8E84-426E-40DD-AFC4-6F175D3DCCD1}">
              <a14:hiddenFill xmlns:a14="http://schemas.microsoft.com/office/drawing/2010/main">
                <a:gradFill>
                  <a:gsLst>
                    <a:gs pos="0">
                      <a:srgbClr val="0042FF"/>
                    </a:gs>
                    <a:gs pos="100000">
                      <a:srgbClr val="3368FF"/>
                    </a:gs>
                  </a:gsLst>
                  <a:lin ang="2700000" scaled="0"/>
                </a:gradFill>
              </a14:hiddenFill>
            </a:ext>
          </a:extLst>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sym typeface="微软雅黑"/>
              </a:rPr>
              <a:t>引入期</a:t>
            </a:r>
            <a:endParaRPr lang="zh-CN" altLang="en-US" sz="1500" b="1">
              <a:solidFill>
                <a:srgbClr val="FFFFFF"/>
              </a:solidFill>
              <a:latin typeface="微软雅黑"/>
              <a:ea typeface="微软雅黑"/>
              <a:cs typeface="微软雅黑"/>
              <a:sym typeface="微软雅黑"/>
            </a:endParaRPr>
          </a:p>
          <a:p>
            <a:pPr lvl="0" algn="ctr">
              <a:buClrTx/>
              <a:buSzTx/>
              <a:buFontTx/>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sym typeface="微软雅黑"/>
              </a:rPr>
              <a:t>新车交付</a:t>
            </a:r>
            <a:endParaRPr lang="zh-CN" altLang="en-US" sz="1500" b="1">
              <a:solidFill>
                <a:srgbClr val="FFFFFF"/>
              </a:solidFill>
              <a:latin typeface="微软雅黑"/>
              <a:ea typeface="微软雅黑"/>
              <a:cs typeface="微软雅黑"/>
              <a:sym typeface="微软雅黑"/>
            </a:endParaRPr>
          </a:p>
        </p:txBody>
      </p:sp>
      <p:sp>
        <p:nvSpPr>
          <p:cNvPr id="18" name="文本框 17"/>
          <p:cNvSpPr txBox="1"/>
          <p:nvPr>
            <p:custDataLst>
              <p:tags r:id="rId17"/>
            </p:custDataLst>
          </p:nvPr>
        </p:nvSpPr>
        <p:spPr>
          <a:xfrm>
            <a:off x="4528820" y="1880235"/>
            <a:ext cx="1142365" cy="5530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rPr>
              <a:t>成长期</a:t>
            </a:r>
            <a:endParaRPr lang="zh-CN" altLang="en-US" sz="15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rPr>
              <a:t>交车</a:t>
            </a:r>
            <a:r>
              <a:rPr lang="en-US" altLang="zh-CN" sz="1500" b="1">
                <a:solidFill>
                  <a:srgbClr val="FFFFFF"/>
                </a:solidFill>
                <a:latin typeface="微软雅黑"/>
                <a:ea typeface="微软雅黑"/>
                <a:cs typeface="微软雅黑"/>
              </a:rPr>
              <a:t>100</a:t>
            </a:r>
            <a:r>
              <a:rPr lang="zh-CN" altLang="en-US" sz="1500" b="1">
                <a:solidFill>
                  <a:srgbClr val="FFFFFF"/>
                </a:solidFill>
                <a:latin typeface="微软雅黑"/>
                <a:ea typeface="微软雅黑"/>
                <a:cs typeface="微软雅黑"/>
              </a:rPr>
              <a:t>天</a:t>
            </a:r>
            <a:endParaRPr lang="zh-CN" altLang="en-US" sz="1500" b="1">
              <a:solidFill>
                <a:srgbClr val="FFFFFF"/>
              </a:solidFill>
              <a:latin typeface="微软雅黑"/>
              <a:ea typeface="微软雅黑"/>
              <a:cs typeface="微软雅黑"/>
            </a:endParaRPr>
          </a:p>
        </p:txBody>
      </p:sp>
      <p:sp>
        <p:nvSpPr>
          <p:cNvPr id="21" name="文本框 20"/>
          <p:cNvSpPr txBox="1"/>
          <p:nvPr>
            <p:custDataLst>
              <p:tags r:id="rId18"/>
            </p:custDataLst>
          </p:nvPr>
        </p:nvSpPr>
        <p:spPr>
          <a:xfrm>
            <a:off x="5928995" y="1873885"/>
            <a:ext cx="1142365" cy="553085"/>
          </a:xfrm>
          <a:prstGeom prst="rect">
            <a:avLst/>
          </a:prstGeom>
          <a:noFill/>
        </p:spPr>
        <p:txBody>
          <a:bodyPr wrap="square" rtlCol="0">
            <a:spAutoFit/>
          </a:bodyPr>
          <a:p>
            <a:pPr algn="ctr">
              <a:defRPr>
                <a:latin typeface="微软雅黑"/>
                <a:ea typeface="微软雅黑"/>
                <a:cs typeface="微软雅黑"/>
              </a:defRPr>
            </a:pPr>
            <a:r>
              <a:rPr lang="zh-CN" altLang="en-US" sz="1500" b="1">
                <a:solidFill>
                  <a:srgbClr val="383838"/>
                </a:solidFill>
                <a:latin typeface="微软雅黑"/>
                <a:ea typeface="微软雅黑"/>
                <a:cs typeface="微软雅黑"/>
              </a:rPr>
              <a:t>养成期</a:t>
            </a:r>
            <a:endParaRPr lang="zh-CN" altLang="en-US" sz="1500" b="1">
              <a:solidFill>
                <a:srgbClr val="383838"/>
              </a:solidFill>
              <a:latin typeface="微软雅黑"/>
              <a:ea typeface="微软雅黑"/>
              <a:cs typeface="微软雅黑"/>
            </a:endParaRPr>
          </a:p>
          <a:p>
            <a:pPr algn="ctr">
              <a:defRPr>
                <a:latin typeface="微软雅黑"/>
                <a:ea typeface="微软雅黑"/>
                <a:cs typeface="微软雅黑"/>
              </a:defRPr>
            </a:pPr>
            <a:r>
              <a:rPr lang="en-US" altLang="zh-CN" sz="1500" b="1">
                <a:solidFill>
                  <a:srgbClr val="383838"/>
                </a:solidFill>
                <a:latin typeface="微软雅黑"/>
                <a:ea typeface="微软雅黑"/>
                <a:cs typeface="微软雅黑"/>
              </a:rPr>
              <a:t>&lt;1</a:t>
            </a:r>
            <a:r>
              <a:rPr lang="zh-CN" altLang="en-US" sz="1500" b="1">
                <a:solidFill>
                  <a:srgbClr val="383838"/>
                </a:solidFill>
                <a:latin typeface="微软雅黑"/>
                <a:ea typeface="微软雅黑"/>
                <a:cs typeface="微软雅黑"/>
              </a:rPr>
              <a:t>年车龄</a:t>
            </a:r>
            <a:endParaRPr lang="zh-CN" altLang="en-US" sz="1500" b="1">
              <a:solidFill>
                <a:srgbClr val="383838"/>
              </a:solidFill>
              <a:latin typeface="微软雅黑"/>
              <a:ea typeface="微软雅黑"/>
              <a:cs typeface="微软雅黑"/>
            </a:endParaRPr>
          </a:p>
        </p:txBody>
      </p:sp>
      <p:sp>
        <p:nvSpPr>
          <p:cNvPr id="22" name="文本框 21"/>
          <p:cNvSpPr txBox="1"/>
          <p:nvPr>
            <p:custDataLst>
              <p:tags r:id="rId19"/>
            </p:custDataLst>
          </p:nvPr>
        </p:nvSpPr>
        <p:spPr>
          <a:xfrm>
            <a:off x="7329170" y="1873885"/>
            <a:ext cx="1142365" cy="553085"/>
          </a:xfrm>
          <a:prstGeom prst="rect">
            <a:avLst/>
          </a:prstGeom>
          <a:noFill/>
        </p:spPr>
        <p:txBody>
          <a:bodyPr wrap="square" rtlCol="0">
            <a:spAutoFit/>
          </a:bodyPr>
          <a:p>
            <a:pPr algn="ctr">
              <a:defRPr>
                <a:latin typeface="微软雅黑"/>
                <a:ea typeface="微软雅黑"/>
                <a:cs typeface="微软雅黑"/>
              </a:defRPr>
            </a:pPr>
            <a:r>
              <a:rPr lang="zh-CN" altLang="en-US" sz="1500" b="1">
                <a:solidFill>
                  <a:srgbClr val="383838"/>
                </a:solidFill>
                <a:latin typeface="微软雅黑"/>
                <a:ea typeface="微软雅黑"/>
                <a:cs typeface="微软雅黑"/>
              </a:rPr>
              <a:t>成熟期</a:t>
            </a:r>
            <a:endParaRPr lang="zh-CN" altLang="en-US" sz="1500" b="1">
              <a:solidFill>
                <a:srgbClr val="383838"/>
              </a:solidFill>
              <a:latin typeface="微软雅黑"/>
              <a:ea typeface="微软雅黑"/>
              <a:cs typeface="微软雅黑"/>
            </a:endParaRPr>
          </a:p>
          <a:p>
            <a:pPr algn="ctr">
              <a:defRPr>
                <a:latin typeface="微软雅黑"/>
                <a:ea typeface="微软雅黑"/>
                <a:cs typeface="微软雅黑"/>
              </a:defRPr>
            </a:pPr>
            <a:r>
              <a:rPr lang="en-US" altLang="zh-CN" sz="1500" b="1">
                <a:solidFill>
                  <a:srgbClr val="383838"/>
                </a:solidFill>
                <a:latin typeface="微软雅黑"/>
                <a:ea typeface="微软雅黑"/>
                <a:cs typeface="微软雅黑"/>
              </a:rPr>
              <a:t>&lt;3</a:t>
            </a:r>
            <a:r>
              <a:rPr lang="zh-CN" altLang="en-US" sz="1500" b="1">
                <a:solidFill>
                  <a:srgbClr val="383838"/>
                </a:solidFill>
                <a:latin typeface="微软雅黑"/>
                <a:ea typeface="微软雅黑"/>
                <a:cs typeface="微软雅黑"/>
              </a:rPr>
              <a:t>年车龄</a:t>
            </a:r>
            <a:endParaRPr lang="zh-CN" altLang="en-US" sz="1500" b="1">
              <a:solidFill>
                <a:srgbClr val="383838"/>
              </a:solidFill>
              <a:latin typeface="微软雅黑"/>
              <a:ea typeface="微软雅黑"/>
              <a:cs typeface="微软雅黑"/>
            </a:endParaRPr>
          </a:p>
        </p:txBody>
      </p:sp>
      <p:sp>
        <p:nvSpPr>
          <p:cNvPr id="23" name="文本框 22"/>
          <p:cNvSpPr txBox="1"/>
          <p:nvPr>
            <p:custDataLst>
              <p:tags r:id="rId20"/>
            </p:custDataLst>
          </p:nvPr>
        </p:nvSpPr>
        <p:spPr>
          <a:xfrm>
            <a:off x="8729345" y="1867535"/>
            <a:ext cx="1142365" cy="5530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rPr>
              <a:t>休眠期</a:t>
            </a:r>
            <a:endParaRPr lang="zh-CN" altLang="en-US" sz="15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en-US" altLang="zh-CN" sz="1500" b="1">
                <a:solidFill>
                  <a:srgbClr val="FFFFFF"/>
                </a:solidFill>
                <a:latin typeface="微软雅黑"/>
                <a:ea typeface="微软雅黑"/>
                <a:cs typeface="微软雅黑"/>
              </a:rPr>
              <a:t>3-5</a:t>
            </a:r>
            <a:r>
              <a:rPr lang="zh-CN" altLang="en-US" sz="1500" b="1">
                <a:solidFill>
                  <a:srgbClr val="FFFFFF"/>
                </a:solidFill>
                <a:latin typeface="微软雅黑"/>
                <a:ea typeface="微软雅黑"/>
                <a:cs typeface="微软雅黑"/>
              </a:rPr>
              <a:t>年车龄</a:t>
            </a:r>
            <a:endParaRPr lang="zh-CN" altLang="en-US" sz="1500" b="1">
              <a:solidFill>
                <a:srgbClr val="FFFFFF"/>
              </a:solidFill>
              <a:latin typeface="微软雅黑"/>
              <a:ea typeface="微软雅黑"/>
              <a:cs typeface="微软雅黑"/>
            </a:endParaRPr>
          </a:p>
        </p:txBody>
      </p:sp>
      <p:sp>
        <p:nvSpPr>
          <p:cNvPr id="24" name="文本框 23"/>
          <p:cNvSpPr txBox="1"/>
          <p:nvPr>
            <p:custDataLst>
              <p:tags r:id="rId21"/>
            </p:custDataLst>
          </p:nvPr>
        </p:nvSpPr>
        <p:spPr>
          <a:xfrm>
            <a:off x="10110470" y="1873885"/>
            <a:ext cx="1142365" cy="553085"/>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500" b="1">
                <a:solidFill>
                  <a:srgbClr val="FFFFFF"/>
                </a:solidFill>
                <a:latin typeface="微软雅黑"/>
                <a:ea typeface="微软雅黑"/>
                <a:cs typeface="微软雅黑"/>
              </a:rPr>
              <a:t>流失期</a:t>
            </a:r>
            <a:endParaRPr lang="zh-CN" altLang="en-US" sz="1500" b="1">
              <a:solidFill>
                <a:srgbClr val="FFFFFF"/>
              </a:solidFill>
              <a:latin typeface="微软雅黑"/>
              <a:ea typeface="微软雅黑"/>
              <a:cs typeface="微软雅黑"/>
            </a:endParaRPr>
          </a:p>
          <a:p>
            <a:pPr algn="ctr">
              <a:defRPr>
                <a:solidFill>
                  <a:srgbClr val="FFFFFF"/>
                </a:solidFill>
                <a:latin typeface="微软雅黑"/>
                <a:ea typeface="微软雅黑"/>
                <a:cs typeface="微软雅黑"/>
              </a:defRPr>
            </a:pPr>
            <a:r>
              <a:rPr lang="en-US" sz="1500" b="1">
                <a:solidFill>
                  <a:srgbClr val="FFFFFF"/>
                </a:solidFill>
                <a:latin typeface="微软雅黑"/>
                <a:ea typeface="微软雅黑"/>
                <a:cs typeface="微软雅黑"/>
              </a:rPr>
              <a:t>5</a:t>
            </a:r>
            <a:r>
              <a:rPr lang="zh-CN" altLang="en-US" sz="1500" b="1">
                <a:solidFill>
                  <a:srgbClr val="FFFFFF"/>
                </a:solidFill>
                <a:latin typeface="微软雅黑"/>
                <a:ea typeface="微软雅黑"/>
                <a:cs typeface="微软雅黑"/>
              </a:rPr>
              <a:t>年</a:t>
            </a:r>
            <a:r>
              <a:rPr lang="en-US" altLang="zh-CN" sz="1500" b="1">
                <a:solidFill>
                  <a:srgbClr val="FFFFFF"/>
                </a:solidFill>
                <a:latin typeface="微软雅黑"/>
                <a:ea typeface="微软雅黑"/>
                <a:cs typeface="微软雅黑"/>
              </a:rPr>
              <a:t>+</a:t>
            </a:r>
            <a:r>
              <a:rPr lang="zh-CN" altLang="en-US" sz="1500" b="1">
                <a:solidFill>
                  <a:srgbClr val="FFFFFF"/>
                </a:solidFill>
                <a:latin typeface="微软雅黑"/>
                <a:ea typeface="微软雅黑"/>
                <a:cs typeface="微软雅黑"/>
              </a:rPr>
              <a:t>车龄</a:t>
            </a:r>
            <a:endParaRPr lang="zh-CN" altLang="en-US" sz="1500" b="1">
              <a:solidFill>
                <a:srgbClr val="FFFFFF"/>
              </a:solidFill>
              <a:latin typeface="微软雅黑"/>
              <a:ea typeface="微软雅黑"/>
              <a:cs typeface="微软雅黑"/>
            </a:endParaRPr>
          </a:p>
        </p:txBody>
      </p:sp>
      <p:cxnSp>
        <p:nvCxnSpPr>
          <p:cNvPr id="2"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25" name="组合 24"/>
          <p:cNvGrpSpPr/>
          <p:nvPr/>
        </p:nvGrpSpPr>
        <p:grpSpPr>
          <a:xfrm>
            <a:off x="8738235" y="348615"/>
            <a:ext cx="3219450" cy="332740"/>
            <a:chOff x="13761" y="549"/>
            <a:chExt cx="5070" cy="524"/>
          </a:xfrm>
        </p:grpSpPr>
        <p:pic>
          <p:nvPicPr>
            <p:cNvPr id="27" name="图片 26"/>
            <p:cNvPicPr>
              <a:picLocks noChangeAspect="1"/>
            </p:cNvPicPr>
            <p:nvPr userDrawn="1"/>
          </p:nvPicPr>
          <p:blipFill>
            <a:blip r:embed="rId22"/>
            <a:srcRect l="17002" t="-1765" r="56499" b="-1176"/>
            <a:stretch>
              <a:fillRect/>
            </a:stretch>
          </p:blipFill>
          <p:spPr>
            <a:xfrm>
              <a:off x="13761" y="549"/>
              <a:ext cx="1582" cy="525"/>
            </a:xfrm>
            <a:prstGeom prst="rect">
              <a:avLst/>
            </a:prstGeom>
          </p:spPr>
        </p:pic>
        <p:sp>
          <p:nvSpPr>
            <p:cNvPr id="29" name="文本框 28"/>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双十一推广方案</a:t>
            </a:r>
            <a:endParaRPr sz="2500" b="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44" name="天蝎PPT原创©1"/>
          <p:cNvSpPr/>
          <p:nvPr/>
        </p:nvSpPr>
        <p:spPr>
          <a:xfrm>
            <a:off x="1689340" y="2509832"/>
            <a:ext cx="3114259" cy="1509699"/>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45" name="天蝎PPT原创©6"/>
          <p:cNvSpPr/>
          <p:nvPr/>
        </p:nvSpPr>
        <p:spPr>
          <a:xfrm>
            <a:off x="549826" y="1045935"/>
            <a:ext cx="1012699" cy="827810"/>
          </a:xfrm>
          <a:prstGeom prst="rect">
            <a:avLst/>
          </a:prstGeom>
          <a:solidFill>
            <a:srgbClr val="FFFFFF"/>
          </a:solidFill>
          <a:ln w="12700">
            <a:solidFill>
              <a:srgbClr val="0042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46" name="天蝎PPT原创©7"/>
          <p:cNvSpPr/>
          <p:nvPr/>
        </p:nvSpPr>
        <p:spPr>
          <a:xfrm>
            <a:off x="1689340" y="1953985"/>
            <a:ext cx="3114259" cy="470195"/>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47" name="天蝎PPT原创©8"/>
          <p:cNvSpPr/>
          <p:nvPr/>
        </p:nvSpPr>
        <p:spPr>
          <a:xfrm>
            <a:off x="5072083" y="1953985"/>
            <a:ext cx="3114259" cy="470195"/>
          </a:xfrm>
          <a:prstGeom prst="rect">
            <a:avLst/>
          </a:prstGeom>
          <a:solidFill>
            <a:srgbClr val="FFFFFF">
              <a:alpha val="20000"/>
            </a:srgbClr>
          </a:solidFill>
          <a:ln w="12700">
            <a:solidFill>
              <a:srgbClr val="B3D4FE">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48" name="天蝎PPT原创©9"/>
          <p:cNvSpPr/>
          <p:nvPr/>
        </p:nvSpPr>
        <p:spPr>
          <a:xfrm>
            <a:off x="8449330" y="1953985"/>
            <a:ext cx="3114259" cy="470195"/>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49" name="天蝎PPT原创©10"/>
          <p:cNvSpPr/>
          <p:nvPr/>
        </p:nvSpPr>
        <p:spPr>
          <a:xfrm>
            <a:off x="549826" y="1956216"/>
            <a:ext cx="1012699" cy="470195"/>
          </a:xfrm>
          <a:prstGeom prst="rect">
            <a:avLst/>
          </a:prstGeom>
          <a:solidFill>
            <a:srgbClr val="FFFFFF"/>
          </a:solidFill>
          <a:ln w="12700">
            <a:solidFill>
              <a:srgbClr val="0042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51" name="天蝎PPT原创©12"/>
          <p:cNvSpPr/>
          <p:nvPr/>
        </p:nvSpPr>
        <p:spPr>
          <a:xfrm>
            <a:off x="549826" y="2513860"/>
            <a:ext cx="1012699" cy="1509700"/>
          </a:xfrm>
          <a:prstGeom prst="rect">
            <a:avLst/>
          </a:prstGeom>
          <a:solidFill>
            <a:srgbClr val="FFFFFF"/>
          </a:solidFill>
          <a:ln w="12700">
            <a:solidFill>
              <a:srgbClr val="0042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53" name="天蝎PPT原创©14"/>
          <p:cNvSpPr/>
          <p:nvPr/>
        </p:nvSpPr>
        <p:spPr>
          <a:xfrm>
            <a:off x="549826" y="4115051"/>
            <a:ext cx="1012699" cy="628754"/>
          </a:xfrm>
          <a:prstGeom prst="rect">
            <a:avLst/>
          </a:prstGeom>
          <a:solidFill>
            <a:srgbClr val="FFFFFF"/>
          </a:solidFill>
          <a:ln w="12700">
            <a:solidFill>
              <a:srgbClr val="0042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54" name="天蝎PPT原创©15"/>
          <p:cNvSpPr/>
          <p:nvPr/>
        </p:nvSpPr>
        <p:spPr>
          <a:xfrm>
            <a:off x="549826" y="4835296"/>
            <a:ext cx="1012699" cy="753301"/>
          </a:xfrm>
          <a:prstGeom prst="rect">
            <a:avLst/>
          </a:prstGeom>
          <a:solidFill>
            <a:srgbClr val="FFFFFF"/>
          </a:solidFill>
          <a:ln w="12700">
            <a:solidFill>
              <a:srgbClr val="3368FF"/>
            </a:solidFill>
            <a:prstDash val="solid"/>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55" name="天蝎PPT原创©16"/>
          <p:cNvSpPr/>
          <p:nvPr/>
        </p:nvSpPr>
        <p:spPr>
          <a:xfrm>
            <a:off x="549826" y="5680088"/>
            <a:ext cx="1012699" cy="893648"/>
          </a:xfrm>
          <a:prstGeom prst="rect">
            <a:avLst/>
          </a:prstGeom>
          <a:solidFill>
            <a:srgbClr val="FFFFFF"/>
          </a:solidFill>
          <a:ln w="12700">
            <a:solidFill>
              <a:srgbClr val="0042FF"/>
            </a:solidFill>
            <a:prstDash val="soli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57" name="天蝎PPT原创©18"/>
          <p:cNvSpPr/>
          <p:nvPr/>
        </p:nvSpPr>
        <p:spPr>
          <a:xfrm>
            <a:off x="1683771" y="1548669"/>
            <a:ext cx="3260088" cy="325076"/>
          </a:xfrm>
          <a:prstGeom prst="homePlate">
            <a:avLst/>
          </a:prstGeom>
          <a:gradFill>
            <a:gsLst>
              <a:gs pos="0">
                <a:srgbClr val="0042FF"/>
              </a:gs>
              <a:gs pos="100000">
                <a:srgbClr val="3368FF"/>
              </a:gs>
            </a:gsLst>
            <a:lin ang="2700000" scaled="0"/>
          </a:gradFill>
          <a:ln>
            <a:noFill/>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58" name="天蝎PPT原创©19"/>
          <p:cNvSpPr/>
          <p:nvPr/>
        </p:nvSpPr>
        <p:spPr>
          <a:xfrm>
            <a:off x="5053895" y="1542067"/>
            <a:ext cx="3208500" cy="342196"/>
          </a:xfrm>
          <a:prstGeom prst="chevron">
            <a:avLst/>
          </a:prstGeom>
          <a:gradFill>
            <a:gsLst>
              <a:gs pos="0">
                <a:srgbClr val="3368FF"/>
              </a:gs>
              <a:gs pos="100000">
                <a:srgbClr val="B3D4FE"/>
              </a:gs>
            </a:gsLst>
            <a:lin ang="2700000" scaled="0"/>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65" name="天蝎PPT原创©20"/>
          <p:cNvSpPr/>
          <p:nvPr/>
        </p:nvSpPr>
        <p:spPr>
          <a:xfrm>
            <a:off x="8372431" y="1542067"/>
            <a:ext cx="3208500" cy="342196"/>
          </a:xfrm>
          <a:prstGeom prst="chevron">
            <a:avLst/>
          </a:prstGeom>
          <a:gradFill>
            <a:gsLst>
              <a:gs pos="0">
                <a:srgbClr val="0042FF"/>
              </a:gs>
              <a:gs pos="100000">
                <a:srgbClr val="3368FF"/>
              </a:gs>
            </a:gsLst>
            <a:lin ang="2700000" scaled="0"/>
          </a:gradFill>
          <a:ln>
            <a:noFill/>
          </a:ln>
          <a:effectLst/>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66" name="天蝎PPT原创©21"/>
          <p:cNvSpPr txBox="1"/>
          <p:nvPr/>
        </p:nvSpPr>
        <p:spPr>
          <a:xfrm>
            <a:off x="2150189" y="1555957"/>
            <a:ext cx="1986441" cy="307777"/>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en-US" altLang="zh-CN" sz="1400" b="1" dirty="0">
                <a:solidFill>
                  <a:srgbClr val="FFFFFF"/>
                </a:solidFill>
                <a:latin typeface="微软雅黑"/>
                <a:ea typeface="微软雅黑"/>
                <a:cs typeface="微软雅黑"/>
                <a:sym typeface="微软雅黑"/>
              </a:rPr>
              <a:t>【</a:t>
            </a:r>
            <a:r>
              <a:rPr kumimoji="1" lang="zh-CN" altLang="en-US" sz="1400" b="1" dirty="0">
                <a:solidFill>
                  <a:srgbClr val="FFFFFF"/>
                </a:solidFill>
                <a:latin typeface="微软雅黑"/>
                <a:ea typeface="微软雅黑"/>
                <a:cs typeface="微软雅黑"/>
                <a:sym typeface="微软雅黑"/>
              </a:rPr>
              <a:t>种草期</a:t>
            </a:r>
            <a:r>
              <a:rPr kumimoji="1" lang="en-US" altLang="zh-CN" sz="1400" b="1" dirty="0">
                <a:solidFill>
                  <a:srgbClr val="FFFFFF"/>
                </a:solidFill>
                <a:latin typeface="微软雅黑"/>
                <a:ea typeface="微软雅黑"/>
                <a:cs typeface="微软雅黑"/>
                <a:sym typeface="微软雅黑"/>
              </a:rPr>
              <a:t>】</a:t>
            </a:r>
            <a:r>
              <a:rPr kumimoji="1" lang="zh-CN" altLang="en-US" sz="1400" b="1" dirty="0">
                <a:solidFill>
                  <a:srgbClr val="FFFFFF"/>
                </a:solidFill>
                <a:latin typeface="微软雅黑"/>
                <a:ea typeface="微软雅黑"/>
                <a:cs typeface="微软雅黑"/>
                <a:sym typeface="微软雅黑"/>
              </a:rPr>
              <a:t> </a:t>
            </a:r>
            <a:r>
              <a:rPr kumimoji="1" lang="en-US" altLang="zh-CN" sz="1400" b="1" dirty="0">
                <a:solidFill>
                  <a:srgbClr val="FFFFFF"/>
                </a:solidFill>
                <a:latin typeface="微软雅黑"/>
                <a:ea typeface="微软雅黑"/>
                <a:cs typeface="微软雅黑"/>
                <a:sym typeface="微软雅黑"/>
              </a:rPr>
              <a:t>9/30-10/09</a:t>
            </a:r>
            <a:endParaRPr kumimoji="1" lang="zh-CN" altLang="en-US" sz="1400" b="1" dirty="0">
              <a:solidFill>
                <a:srgbClr val="FFFFFF"/>
              </a:solidFill>
              <a:latin typeface="微软雅黑"/>
              <a:ea typeface="微软雅黑"/>
              <a:cs typeface="微软雅黑"/>
              <a:sym typeface="微软雅黑"/>
            </a:endParaRPr>
          </a:p>
        </p:txBody>
      </p:sp>
      <p:sp>
        <p:nvSpPr>
          <p:cNvPr id="167" name="天蝎PPT原创©22"/>
          <p:cNvSpPr txBox="1"/>
          <p:nvPr/>
        </p:nvSpPr>
        <p:spPr>
          <a:xfrm>
            <a:off x="5657469" y="1562492"/>
            <a:ext cx="2036135" cy="307777"/>
          </a:xfrm>
          <a:prstGeom prst="rect">
            <a:avLst/>
          </a:prstGeom>
          <a:noFill/>
        </p:spPr>
        <p:txBody>
          <a:bodyPr wrap="none" rtlCol="0">
            <a:spAutoFit/>
          </a:bodyPr>
          <a:lstStyle/>
          <a:p>
            <a:pPr>
              <a:defRPr>
                <a:latin typeface="微软雅黑"/>
                <a:ea typeface="微软雅黑"/>
                <a:cs typeface="微软雅黑"/>
              </a:defRPr>
            </a:pPr>
            <a:r>
              <a:rPr kumimoji="1" lang="en-US" altLang="zh-CN" sz="1400" b="1" dirty="0">
                <a:solidFill>
                  <a:srgbClr val="383838"/>
                </a:solidFill>
                <a:latin typeface="微软雅黑"/>
                <a:ea typeface="微软雅黑"/>
                <a:cs typeface="微软雅黑"/>
                <a:sym typeface="微软雅黑"/>
              </a:rPr>
              <a:t>【</a:t>
            </a:r>
            <a:r>
              <a:rPr kumimoji="1" lang="zh-CN" altLang="en-US" sz="1400" b="1" dirty="0">
                <a:solidFill>
                  <a:srgbClr val="383838"/>
                </a:solidFill>
                <a:latin typeface="微软雅黑"/>
                <a:ea typeface="微软雅黑"/>
                <a:cs typeface="微软雅黑"/>
                <a:sym typeface="微软雅黑"/>
              </a:rPr>
              <a:t>预售期</a:t>
            </a:r>
            <a:r>
              <a:rPr kumimoji="1" lang="en-US" altLang="zh-CN" sz="1400" b="1" dirty="0">
                <a:solidFill>
                  <a:srgbClr val="383838"/>
                </a:solidFill>
                <a:latin typeface="微软雅黑"/>
                <a:ea typeface="微软雅黑"/>
                <a:cs typeface="微软雅黑"/>
                <a:sym typeface="微软雅黑"/>
              </a:rPr>
              <a:t>】10.10-10.30</a:t>
            </a:r>
            <a:endParaRPr kumimoji="1" lang="zh-CN" altLang="en-US" sz="1400" b="1" dirty="0">
              <a:solidFill>
                <a:srgbClr val="383838"/>
              </a:solidFill>
              <a:latin typeface="微软雅黑"/>
              <a:ea typeface="微软雅黑"/>
              <a:cs typeface="微软雅黑"/>
              <a:sym typeface="微软雅黑"/>
            </a:endParaRPr>
          </a:p>
        </p:txBody>
      </p:sp>
      <p:sp>
        <p:nvSpPr>
          <p:cNvPr id="168" name="天蝎PPT原创©23"/>
          <p:cNvSpPr txBox="1"/>
          <p:nvPr/>
        </p:nvSpPr>
        <p:spPr>
          <a:xfrm>
            <a:off x="9012609" y="1562492"/>
            <a:ext cx="1907125" cy="307777"/>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en-US" altLang="zh-CN" sz="1400" b="1" dirty="0">
                <a:solidFill>
                  <a:srgbClr val="FFFFFF"/>
                </a:solidFill>
                <a:latin typeface="微软雅黑"/>
                <a:ea typeface="微软雅黑"/>
                <a:cs typeface="微软雅黑"/>
                <a:sym typeface="微软雅黑"/>
              </a:rPr>
              <a:t>【</a:t>
            </a:r>
            <a:r>
              <a:rPr kumimoji="1" lang="zh-CN" altLang="en-US" sz="1400" b="1" dirty="0">
                <a:solidFill>
                  <a:srgbClr val="FFFFFF"/>
                </a:solidFill>
                <a:latin typeface="微软雅黑"/>
                <a:ea typeface="微软雅黑"/>
                <a:cs typeface="微软雅黑"/>
                <a:sym typeface="微软雅黑"/>
              </a:rPr>
              <a:t>冲刺期</a:t>
            </a:r>
            <a:r>
              <a:rPr kumimoji="1" lang="en-US" altLang="zh-CN" sz="1400" b="1" dirty="0">
                <a:solidFill>
                  <a:srgbClr val="FFFFFF"/>
                </a:solidFill>
                <a:latin typeface="微软雅黑"/>
                <a:ea typeface="微软雅黑"/>
                <a:cs typeface="微软雅黑"/>
                <a:sym typeface="微软雅黑"/>
              </a:rPr>
              <a:t>】11.1-11.11</a:t>
            </a:r>
            <a:endParaRPr kumimoji="1" lang="zh-CN" altLang="en-US" sz="1400" b="1" dirty="0">
              <a:solidFill>
                <a:srgbClr val="FFFFFF"/>
              </a:solidFill>
              <a:latin typeface="微软雅黑"/>
              <a:ea typeface="微软雅黑"/>
              <a:cs typeface="微软雅黑"/>
              <a:sym typeface="微软雅黑"/>
            </a:endParaRPr>
          </a:p>
        </p:txBody>
      </p:sp>
      <p:sp>
        <p:nvSpPr>
          <p:cNvPr id="169" name="天蝎PPT原创©24"/>
          <p:cNvSpPr txBox="1"/>
          <p:nvPr/>
        </p:nvSpPr>
        <p:spPr>
          <a:xfrm>
            <a:off x="2433370" y="2032663"/>
            <a:ext cx="1704313" cy="307777"/>
          </a:xfrm>
          <a:prstGeom prst="rect">
            <a:avLst/>
          </a:prstGeom>
          <a:noFill/>
        </p:spPr>
        <p:txBody>
          <a:bodyPr wrap="none" rtlCol="0">
            <a:spAutoFit/>
          </a:bodyPr>
          <a:lstStyle/>
          <a:p>
            <a:pPr>
              <a:defRPr>
                <a:latin typeface="微软雅黑"/>
                <a:ea typeface="微软雅黑"/>
                <a:cs typeface="微软雅黑"/>
              </a:defRPr>
            </a:pPr>
            <a:r>
              <a:rPr kumimoji="1" lang="zh-CN" altLang="en-US" sz="1400" b="1" dirty="0">
                <a:gradFill>
                  <a:gsLst>
                    <a:gs pos="0">
                      <a:srgbClr val="0042FF"/>
                    </a:gs>
                    <a:gs pos="100000">
                      <a:srgbClr val="0042FF"/>
                    </a:gs>
                  </a:gsLst>
                  <a:lin ang="5400000" scaled="0"/>
                </a:gradFill>
                <a:latin typeface="微软雅黑"/>
                <a:ea typeface="微软雅黑"/>
                <a:cs typeface="微软雅黑"/>
                <a:sym typeface="微软雅黑"/>
              </a:rPr>
              <a:t>补充内容 多向种草</a:t>
            </a:r>
            <a:endParaRPr kumimoji="1" lang="zh-CN" altLang="en-US" sz="1400" b="1"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71" name="天蝎PPT原创©25"/>
          <p:cNvSpPr txBox="1"/>
          <p:nvPr/>
        </p:nvSpPr>
        <p:spPr>
          <a:xfrm>
            <a:off x="5929979" y="2044461"/>
            <a:ext cx="1798890" cy="307777"/>
          </a:xfrm>
          <a:prstGeom prst="rect">
            <a:avLst/>
          </a:prstGeom>
          <a:noFill/>
        </p:spPr>
        <p:txBody>
          <a:bodyPr wrap="none" rtlCol="0">
            <a:spAutoFit/>
          </a:bodyPr>
          <a:lstStyle/>
          <a:p>
            <a:pPr>
              <a:defRPr>
                <a:latin typeface="微软雅黑"/>
                <a:ea typeface="微软雅黑"/>
                <a:cs typeface="微软雅黑"/>
              </a:defRPr>
            </a:pPr>
            <a:r>
              <a:rPr kumimoji="1" lang="zh-CN" altLang="en-US" sz="1400" b="1" dirty="0">
                <a:gradFill>
                  <a:gsLst>
                    <a:gs pos="0">
                      <a:srgbClr val="0042FF"/>
                    </a:gs>
                    <a:gs pos="100000">
                      <a:srgbClr val="0042FF"/>
                    </a:gs>
                  </a:gsLst>
                  <a:lin ang="5400000" scaled="0"/>
                </a:gradFill>
                <a:latin typeface="微软雅黑"/>
                <a:ea typeface="微软雅黑"/>
                <a:cs typeface="微软雅黑"/>
                <a:sym typeface="微软雅黑"/>
              </a:rPr>
              <a:t>单品</a:t>
            </a:r>
            <a:r>
              <a:rPr kumimoji="1" lang="en-US" altLang="zh-CN" sz="1400" b="1" dirty="0">
                <a:gradFill>
                  <a:gsLst>
                    <a:gs pos="0">
                      <a:srgbClr val="0042FF"/>
                    </a:gs>
                    <a:gs pos="100000">
                      <a:srgbClr val="0042FF"/>
                    </a:gs>
                  </a:gsLst>
                  <a:lin ang="5400000" scaled="0"/>
                </a:gradFill>
                <a:latin typeface="微软雅黑"/>
                <a:ea typeface="微软雅黑"/>
                <a:cs typeface="微软雅黑"/>
                <a:sym typeface="微软雅黑"/>
              </a:rPr>
              <a:t>x</a:t>
            </a:r>
            <a:r>
              <a:rPr kumimoji="1" lang="zh-CN" altLang="en-US" sz="1400" b="1" dirty="0">
                <a:gradFill>
                  <a:gsLst>
                    <a:gs pos="0">
                      <a:srgbClr val="0042FF"/>
                    </a:gs>
                    <a:gs pos="100000">
                      <a:srgbClr val="0042FF"/>
                    </a:gs>
                  </a:gsLst>
                  <a:lin ang="5400000" scaled="0"/>
                </a:gradFill>
                <a:latin typeface="微软雅黑"/>
                <a:ea typeface="微软雅黑"/>
                <a:cs typeface="微软雅黑"/>
                <a:sym typeface="微软雅黑"/>
              </a:rPr>
              <a:t>套系 影响决策</a:t>
            </a:r>
            <a:endParaRPr kumimoji="1" lang="zh-CN" altLang="en-US" sz="1400" b="1" dirty="0">
              <a:gradFill>
                <a:gsLst>
                  <a:gs pos="0">
                    <a:srgbClr val="0042FF"/>
                  </a:gs>
                  <a:gs pos="100000">
                    <a:srgbClr val="0042FF"/>
                  </a:gs>
                </a:gsLst>
                <a:lin ang="5400000" scaled="0"/>
              </a:gradFill>
              <a:latin typeface="微软雅黑"/>
              <a:ea typeface="微软雅黑"/>
              <a:cs typeface="微软雅黑"/>
              <a:sym typeface="微软雅黑"/>
            </a:endParaRPr>
          </a:p>
        </p:txBody>
      </p:sp>
      <p:sp>
        <p:nvSpPr>
          <p:cNvPr id="172" name="天蝎PPT原创©26"/>
          <p:cNvSpPr txBox="1"/>
          <p:nvPr/>
        </p:nvSpPr>
        <p:spPr>
          <a:xfrm>
            <a:off x="9208420" y="2044461"/>
            <a:ext cx="1704313" cy="307777"/>
          </a:xfrm>
          <a:prstGeom prst="rect">
            <a:avLst/>
          </a:prstGeom>
          <a:noFill/>
        </p:spPr>
        <p:txBody>
          <a:bodyPr wrap="none" rtlCol="0">
            <a:spAutoFit/>
          </a:bodyPr>
          <a:lstStyle/>
          <a:p>
            <a:pPr>
              <a:defRPr>
                <a:latin typeface="微软雅黑"/>
                <a:ea typeface="微软雅黑"/>
                <a:cs typeface="微软雅黑"/>
              </a:defRPr>
            </a:pPr>
            <a:r>
              <a:rPr kumimoji="1" lang="zh-CN" altLang="en-US" sz="1400" b="1" dirty="0">
                <a:gradFill>
                  <a:gsLst>
                    <a:gs pos="0">
                      <a:srgbClr val="0042FF"/>
                    </a:gs>
                    <a:gs pos="100000">
                      <a:srgbClr val="0042FF"/>
                    </a:gs>
                  </a:gsLst>
                  <a:lin ang="5400000" scaled="0"/>
                </a:gradFill>
                <a:latin typeface="微软雅黑"/>
                <a:ea typeface="微软雅黑"/>
                <a:cs typeface="微软雅黑"/>
                <a:sym typeface="微软雅黑"/>
              </a:rPr>
              <a:t>预算聚焦 破圈冲刺</a:t>
            </a:r>
            <a:endParaRPr kumimoji="1" lang="zh-CN" altLang="en-US" sz="1400" b="1" dirty="0">
              <a:gradFill>
                <a:gsLst>
                  <a:gs pos="0">
                    <a:srgbClr val="0042FF"/>
                  </a:gs>
                  <a:gs pos="100000">
                    <a:srgbClr val="0042FF"/>
                  </a:gs>
                </a:gsLst>
                <a:lin ang="5400000" scaled="0"/>
              </a:gradFill>
              <a:latin typeface="微软雅黑"/>
              <a:ea typeface="微软雅黑"/>
              <a:cs typeface="微软雅黑"/>
              <a:sym typeface="微软雅黑"/>
            </a:endParaRPr>
          </a:p>
        </p:txBody>
      </p:sp>
      <p:cxnSp>
        <p:nvCxnSpPr>
          <p:cNvPr id="173" name="天蝎PPT原创©27"/>
          <p:cNvCxnSpPr/>
          <p:nvPr/>
        </p:nvCxnSpPr>
        <p:spPr>
          <a:xfrm>
            <a:off x="4943859" y="1953985"/>
            <a:ext cx="0" cy="2873276"/>
          </a:xfrm>
          <a:prstGeom prst="line">
            <a:avLst/>
          </a:prstGeom>
          <a:ln w="9525">
            <a:solidFill>
              <a:srgbClr val="0042FF">
                <a:alpha val="27237"/>
              </a:srgbClr>
            </a:solidFill>
            <a:prstDash val="sysDash"/>
          </a:ln>
        </p:spPr>
        <p:style>
          <a:lnRef idx="2">
            <a:srgbClr val="0042FF"/>
          </a:lnRef>
          <a:fillRef idx="0">
            <a:srgbClr val="0042FF"/>
          </a:fillRef>
          <a:effectRef idx="1">
            <a:srgbClr val="0042FF"/>
          </a:effectRef>
          <a:fontRef idx="minor">
            <a:srgbClr val="383838"/>
          </a:fontRef>
        </p:style>
      </p:cxnSp>
      <p:cxnSp>
        <p:nvCxnSpPr>
          <p:cNvPr id="174" name="天蝎PPT原创©28"/>
          <p:cNvCxnSpPr/>
          <p:nvPr/>
        </p:nvCxnSpPr>
        <p:spPr>
          <a:xfrm>
            <a:off x="8317679" y="1953985"/>
            <a:ext cx="0" cy="2873276"/>
          </a:xfrm>
          <a:prstGeom prst="line">
            <a:avLst/>
          </a:prstGeom>
          <a:ln w="9525">
            <a:solidFill>
              <a:srgbClr val="0042FF">
                <a:alpha val="27237"/>
              </a:srgbClr>
            </a:solidFill>
            <a:prstDash val="sysDash"/>
          </a:ln>
        </p:spPr>
        <p:style>
          <a:lnRef idx="2">
            <a:srgbClr val="0042FF"/>
          </a:lnRef>
          <a:fillRef idx="0">
            <a:srgbClr val="0042FF"/>
          </a:fillRef>
          <a:effectRef idx="1">
            <a:srgbClr val="0042FF"/>
          </a:effectRef>
          <a:fontRef idx="minor">
            <a:srgbClr val="383838"/>
          </a:fontRef>
        </p:style>
      </p:cxnSp>
      <p:sp>
        <p:nvSpPr>
          <p:cNvPr id="175" name="天蝎PPT原创©29"/>
          <p:cNvSpPr/>
          <p:nvPr/>
        </p:nvSpPr>
        <p:spPr>
          <a:xfrm>
            <a:off x="1690577" y="2509023"/>
            <a:ext cx="3114259" cy="553998"/>
          </a:xfrm>
          <a:prstGeom prst="rect">
            <a:avLst/>
          </a:prstGeom>
          <a:solidFill>
            <a:srgbClr val="668EFF">
              <a:alpha val="20000"/>
            </a:srgbClr>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77" name="天蝎PPT原创©30"/>
          <p:cNvSpPr/>
          <p:nvPr/>
        </p:nvSpPr>
        <p:spPr>
          <a:xfrm>
            <a:off x="1753545" y="2553881"/>
            <a:ext cx="216902" cy="459763"/>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179" name="天蝎PPT原创©31"/>
          <p:cNvSpPr txBox="1"/>
          <p:nvPr/>
        </p:nvSpPr>
        <p:spPr>
          <a:xfrm>
            <a:off x="2021691" y="2572242"/>
            <a:ext cx="2262158"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延续家装节热度，重点复用沉淀优质素材</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同时增加产品测评</a:t>
            </a:r>
            <a:r>
              <a:rPr kumimoji="1" lang="en-US" altLang="zh-CN"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购物导向素材</a:t>
            </a:r>
            <a:endParaRPr kumimoji="1" lang="zh-CN" altLang="en-US" sz="1000" dirty="0">
              <a:solidFill>
                <a:srgbClr val="383838"/>
              </a:solidFill>
              <a:latin typeface="微软雅黑"/>
              <a:ea typeface="微软雅黑"/>
              <a:cs typeface="微软雅黑"/>
              <a:sym typeface="微软雅黑"/>
            </a:endParaRPr>
          </a:p>
        </p:txBody>
      </p:sp>
      <p:sp>
        <p:nvSpPr>
          <p:cNvPr id="181" name="天蝎PPT原创©32"/>
          <p:cNvSpPr/>
          <p:nvPr/>
        </p:nvSpPr>
        <p:spPr>
          <a:xfrm>
            <a:off x="1690577" y="3102294"/>
            <a:ext cx="3114259" cy="553998"/>
          </a:xfrm>
          <a:prstGeom prst="rect">
            <a:avLst/>
          </a:prstGeom>
          <a:solidFill>
            <a:srgbClr val="668EFF">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82" name="天蝎PPT原创©33"/>
          <p:cNvSpPr txBox="1"/>
          <p:nvPr/>
        </p:nvSpPr>
        <p:spPr>
          <a:xfrm>
            <a:off x="2021691" y="3158417"/>
            <a:ext cx="2031325"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充分探索流量，充分拓词，以单品类</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素材卡位核心品类词</a:t>
            </a:r>
            <a:r>
              <a:rPr kumimoji="1" lang="en-US" altLang="zh-CN" sz="1000" dirty="0">
                <a:solidFill>
                  <a:srgbClr val="383838"/>
                </a:solidFill>
                <a:latin typeface="微软雅黑"/>
                <a:ea typeface="微软雅黑"/>
                <a:cs typeface="微软雅黑"/>
                <a:sym typeface="微软雅黑"/>
              </a:rPr>
              <a:t>;</a:t>
            </a:r>
            <a:endParaRPr kumimoji="1" lang="en-US" altLang="zh-CN" sz="1000" dirty="0">
              <a:solidFill>
                <a:srgbClr val="383838"/>
              </a:solidFill>
              <a:latin typeface="微软雅黑"/>
              <a:ea typeface="微软雅黑"/>
              <a:cs typeface="微软雅黑"/>
              <a:sym typeface="微软雅黑"/>
            </a:endParaRPr>
          </a:p>
        </p:txBody>
      </p:sp>
      <p:sp>
        <p:nvSpPr>
          <p:cNvPr id="183" name="天蝎PPT原创©34"/>
          <p:cNvSpPr txBox="1"/>
          <p:nvPr/>
        </p:nvSpPr>
        <p:spPr>
          <a:xfrm>
            <a:off x="2106405" y="3711860"/>
            <a:ext cx="2230098" cy="3136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侧重信息流打优质笔记 </a:t>
            </a:r>
            <a:r>
              <a:rPr kumimoji="1" lang="zh-CN" altLang="en-US" sz="1000" b="1" dirty="0">
                <a:solidFill>
                  <a:srgbClr val="0042FF"/>
                </a:solidFill>
                <a:latin typeface="微软雅黑"/>
                <a:ea typeface="微软雅黑"/>
                <a:cs typeface="微软雅黑"/>
                <a:sym typeface="微软雅黑"/>
              </a:rPr>
              <a:t>信息流</a:t>
            </a:r>
            <a:r>
              <a:rPr kumimoji="1" lang="en-US" altLang="zh-CN" sz="1000" b="1" dirty="0">
                <a:solidFill>
                  <a:srgbClr val="0042FF"/>
                </a:solidFill>
                <a:latin typeface="微软雅黑"/>
                <a:ea typeface="微软雅黑"/>
                <a:cs typeface="微软雅黑"/>
                <a:sym typeface="微软雅黑"/>
              </a:rPr>
              <a:t>:</a:t>
            </a:r>
            <a:r>
              <a:rPr kumimoji="1" lang="zh-CN" altLang="en-US" sz="1000" b="1" dirty="0">
                <a:solidFill>
                  <a:srgbClr val="0042FF"/>
                </a:solidFill>
                <a:latin typeface="微软雅黑"/>
                <a:ea typeface="微软雅黑"/>
                <a:cs typeface="微软雅黑"/>
                <a:sym typeface="微软雅黑"/>
              </a:rPr>
              <a:t>搜索</a:t>
            </a:r>
            <a:r>
              <a:rPr kumimoji="1" lang="en-US" altLang="zh-CN" sz="1000" b="1" dirty="0">
                <a:solidFill>
                  <a:srgbClr val="0042FF"/>
                </a:solidFill>
                <a:latin typeface="微软雅黑"/>
                <a:ea typeface="微软雅黑"/>
                <a:cs typeface="微软雅黑"/>
                <a:sym typeface="微软雅黑"/>
              </a:rPr>
              <a:t>=6:4</a:t>
            </a:r>
            <a:endParaRPr kumimoji="1" lang="en-US" altLang="zh-CN" sz="1000" b="1" dirty="0">
              <a:solidFill>
                <a:srgbClr val="0042FF"/>
              </a:solidFill>
              <a:latin typeface="微软雅黑"/>
              <a:ea typeface="微软雅黑"/>
              <a:cs typeface="微软雅黑"/>
              <a:sym typeface="微软雅黑"/>
            </a:endParaRPr>
          </a:p>
        </p:txBody>
      </p:sp>
      <p:sp>
        <p:nvSpPr>
          <p:cNvPr id="185" name="天蝎PPT原创©35"/>
          <p:cNvSpPr/>
          <p:nvPr/>
        </p:nvSpPr>
        <p:spPr>
          <a:xfrm>
            <a:off x="1689340" y="4111280"/>
            <a:ext cx="3114259" cy="628754"/>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86" name="天蝎PPT原创©36"/>
          <p:cNvSpPr txBox="1"/>
          <p:nvPr/>
        </p:nvSpPr>
        <p:spPr>
          <a:xfrm>
            <a:off x="1930684" y="4134754"/>
            <a:ext cx="2624436" cy="643890"/>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腰尾部</a:t>
            </a:r>
            <a:r>
              <a:rPr kumimoji="1" lang="en-GB" altLang="zh-CN" sz="1000" dirty="0">
                <a:solidFill>
                  <a:srgbClr val="383838"/>
                </a:solidFill>
                <a:latin typeface="微软雅黑"/>
                <a:ea typeface="微软雅黑"/>
                <a:cs typeface="微软雅黑"/>
                <a:sym typeface="微软雅黑"/>
              </a:rPr>
              <a:t>KOL</a:t>
            </a:r>
            <a:r>
              <a:rPr kumimoji="1" lang="zh-CN" altLang="en-US" sz="1000" dirty="0">
                <a:solidFill>
                  <a:srgbClr val="383838"/>
                </a:solidFill>
                <a:latin typeface="微软雅黑"/>
                <a:ea typeface="微软雅黑"/>
                <a:cs typeface="微软雅黑"/>
                <a:sym typeface="微软雅黑"/>
              </a:rPr>
              <a:t>为主，沟通场景</a:t>
            </a:r>
            <a:r>
              <a:rPr kumimoji="1" lang="en-US" altLang="zh-CN"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单品真实评测</a:t>
            </a:r>
            <a:r>
              <a:rPr kumimoji="1" lang="en-US" altLang="zh-CN"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种草</a:t>
            </a:r>
            <a:endParaRPr kumimoji="1" lang="en-US" altLang="zh-CN" sz="1000" dirty="0">
              <a:solidFill>
                <a:srgbClr val="383838"/>
              </a:solidFill>
              <a:latin typeface="微软雅黑"/>
              <a:ea typeface="微软雅黑"/>
              <a:cs typeface="微软雅黑"/>
              <a:sym typeface="微软雅黑"/>
            </a:endParaRPr>
          </a:p>
          <a:p>
            <a:pPr algn="ct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丰富触达兴趣圈层，积累口碑沉淀</a:t>
            </a:r>
            <a:endParaRPr kumimoji="1" lang="en-US" altLang="zh-CN" sz="1000" dirty="0">
              <a:solidFill>
                <a:srgbClr val="383838"/>
              </a:solidFill>
              <a:latin typeface="微软雅黑"/>
              <a:ea typeface="微软雅黑"/>
              <a:cs typeface="微软雅黑"/>
              <a:sym typeface="微软雅黑"/>
            </a:endParaRPr>
          </a:p>
          <a:p>
            <a:pPr algn="ctr">
              <a:lnSpc>
                <a:spcPts val="1120"/>
              </a:lnSpc>
              <a:defRPr>
                <a:latin typeface="微软雅黑"/>
                <a:ea typeface="微软雅黑"/>
                <a:cs typeface="微软雅黑"/>
              </a:defRPr>
              <a:spcBef>
                <a:spcPts val="0"/>
              </a:spcBef>
              <a:spcAft>
                <a:spcPts val="0"/>
              </a:spcAft>
            </a:pPr>
            <a:r>
              <a:rPr kumimoji="1" lang="zh-CN" altLang="en-US" sz="1000" b="1" dirty="0">
                <a:solidFill>
                  <a:srgbClr val="0042FF"/>
                </a:solidFill>
                <a:latin typeface="微软雅黑"/>
                <a:ea typeface="微软雅黑"/>
                <a:cs typeface="微软雅黑"/>
                <a:sym typeface="微软雅黑"/>
              </a:rPr>
              <a:t>产品种草：场景沟通</a:t>
            </a:r>
            <a:r>
              <a:rPr kumimoji="1" lang="en-US" altLang="zh-CN" sz="1000" b="1" dirty="0">
                <a:solidFill>
                  <a:srgbClr val="0042FF"/>
                </a:solidFill>
                <a:latin typeface="微软雅黑"/>
                <a:ea typeface="微软雅黑"/>
                <a:cs typeface="微软雅黑"/>
                <a:sym typeface="微软雅黑"/>
              </a:rPr>
              <a:t>=40%:60%</a:t>
            </a:r>
            <a:endParaRPr kumimoji="1" lang="en-US" altLang="zh-CN" sz="1000" b="1" dirty="0">
              <a:solidFill>
                <a:srgbClr val="0042FF"/>
              </a:solidFill>
              <a:latin typeface="微软雅黑"/>
              <a:ea typeface="微软雅黑"/>
              <a:cs typeface="微软雅黑"/>
              <a:sym typeface="微软雅黑"/>
            </a:endParaRPr>
          </a:p>
        </p:txBody>
      </p:sp>
      <p:sp>
        <p:nvSpPr>
          <p:cNvPr id="187" name="天蝎PPT原创©37"/>
          <p:cNvSpPr/>
          <p:nvPr/>
        </p:nvSpPr>
        <p:spPr>
          <a:xfrm>
            <a:off x="5081050" y="4111280"/>
            <a:ext cx="3114259" cy="628754"/>
          </a:xfrm>
          <a:prstGeom prst="rect">
            <a:avLst/>
          </a:prstGeom>
          <a:solidFill>
            <a:srgbClr val="FFFFFF">
              <a:alpha val="20000"/>
            </a:srgbClr>
          </a:solidFill>
          <a:ln w="12700">
            <a:solidFill>
              <a:srgbClr val="B3D4FE">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88" name="天蝎PPT原创©38"/>
          <p:cNvSpPr txBox="1"/>
          <p:nvPr/>
        </p:nvSpPr>
        <p:spPr>
          <a:xfrm>
            <a:off x="5536396" y="4134754"/>
            <a:ext cx="2196434" cy="643890"/>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单品</a:t>
            </a:r>
            <a:r>
              <a:rPr kumimoji="1" lang="en-US" altLang="zh-CN"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套系策路双开，丰富品牌内容短阵</a:t>
            </a:r>
            <a:endParaRPr kumimoji="1" lang="en-US" altLang="zh-CN" sz="1000" dirty="0">
              <a:solidFill>
                <a:srgbClr val="383838"/>
              </a:solidFill>
              <a:latin typeface="微软雅黑"/>
              <a:ea typeface="微软雅黑"/>
              <a:cs typeface="微软雅黑"/>
              <a:sym typeface="微软雅黑"/>
            </a:endParaRPr>
          </a:p>
          <a:p>
            <a:pPr algn="ct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拉动品牌单品</a:t>
            </a:r>
            <a:r>
              <a:rPr kumimoji="1" lang="en-US" altLang="zh-CN"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系列</a:t>
            </a:r>
            <a:r>
              <a:rPr kumimoji="1" lang="en-US" altLang="zh-CN"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复购需求</a:t>
            </a:r>
            <a:endParaRPr kumimoji="1" lang="en-US" altLang="zh-CN" sz="1000" dirty="0">
              <a:solidFill>
                <a:srgbClr val="383838"/>
              </a:solidFill>
              <a:latin typeface="微软雅黑"/>
              <a:ea typeface="微软雅黑"/>
              <a:cs typeface="微软雅黑"/>
              <a:sym typeface="微软雅黑"/>
            </a:endParaRPr>
          </a:p>
          <a:p>
            <a:pPr algn="ctr">
              <a:lnSpc>
                <a:spcPts val="1120"/>
              </a:lnSpc>
              <a:defRPr>
                <a:latin typeface="微软雅黑"/>
                <a:ea typeface="微软雅黑"/>
                <a:cs typeface="微软雅黑"/>
              </a:defRPr>
              <a:spcBef>
                <a:spcPts val="0"/>
              </a:spcBef>
              <a:spcAft>
                <a:spcPts val="0"/>
              </a:spcAft>
            </a:pPr>
            <a:r>
              <a:rPr kumimoji="1" lang="zh-CN" altLang="en-US" sz="1000" b="1" dirty="0">
                <a:solidFill>
                  <a:srgbClr val="0042FF"/>
                </a:solidFill>
                <a:latin typeface="微软雅黑"/>
                <a:ea typeface="微软雅黑"/>
                <a:cs typeface="微软雅黑"/>
                <a:sym typeface="微软雅黑"/>
              </a:rPr>
              <a:t>产品种草</a:t>
            </a:r>
            <a:r>
              <a:rPr kumimoji="1" lang="en-US" altLang="zh-CN" sz="1000" b="1" dirty="0">
                <a:solidFill>
                  <a:srgbClr val="0042FF"/>
                </a:solidFill>
                <a:latin typeface="微软雅黑"/>
                <a:ea typeface="微软雅黑"/>
                <a:cs typeface="微软雅黑"/>
                <a:sym typeface="微软雅黑"/>
              </a:rPr>
              <a:t>/</a:t>
            </a:r>
            <a:r>
              <a:rPr kumimoji="1" lang="zh-CN" altLang="en-US" sz="1000" b="1" dirty="0">
                <a:solidFill>
                  <a:srgbClr val="0042FF"/>
                </a:solidFill>
                <a:latin typeface="微软雅黑"/>
                <a:ea typeface="微软雅黑"/>
                <a:cs typeface="微软雅黑"/>
                <a:sym typeface="微软雅黑"/>
              </a:rPr>
              <a:t>评测：场景沟通</a:t>
            </a:r>
            <a:r>
              <a:rPr kumimoji="1" lang="en-US" altLang="zh-CN" sz="1000" b="1" dirty="0">
                <a:solidFill>
                  <a:srgbClr val="0042FF"/>
                </a:solidFill>
                <a:latin typeface="微软雅黑"/>
                <a:ea typeface="微软雅黑"/>
                <a:cs typeface="微软雅黑"/>
                <a:sym typeface="微软雅黑"/>
              </a:rPr>
              <a:t>=40%:60%</a:t>
            </a:r>
            <a:endParaRPr kumimoji="1" lang="en-US" altLang="zh-CN" sz="1000" b="1" dirty="0">
              <a:solidFill>
                <a:srgbClr val="0042FF"/>
              </a:solidFill>
              <a:latin typeface="微软雅黑"/>
              <a:ea typeface="微软雅黑"/>
              <a:cs typeface="微软雅黑"/>
              <a:sym typeface="微软雅黑"/>
            </a:endParaRPr>
          </a:p>
        </p:txBody>
      </p:sp>
      <p:sp>
        <p:nvSpPr>
          <p:cNvPr id="190" name="天蝎PPT原创©39"/>
          <p:cNvSpPr/>
          <p:nvPr/>
        </p:nvSpPr>
        <p:spPr>
          <a:xfrm>
            <a:off x="8440335" y="4111280"/>
            <a:ext cx="3114259" cy="628754"/>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191" name="天蝎PPT原创©40"/>
          <p:cNvSpPr txBox="1"/>
          <p:nvPr/>
        </p:nvSpPr>
        <p:spPr>
          <a:xfrm>
            <a:off x="8978234" y="4134754"/>
            <a:ext cx="2031325" cy="643890"/>
          </a:xfrm>
          <a:prstGeom prst="rect">
            <a:avLst/>
          </a:prstGeom>
          <a:noFill/>
        </p:spPr>
        <p:txBody>
          <a:bodyPr wrap="square" rtlCol="0" lIns="0" rIns="0" tIns="0" bIns="0" anchor="t">
            <a:noAutofit/>
          </a:bodyPr>
          <a:lstStyle/>
          <a:p>
            <a:pPr algn="ct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预算聚焦，给到热门主推品进阶预算</a:t>
            </a:r>
            <a:endParaRPr kumimoji="1" lang="en-US" altLang="zh-CN" sz="1000" dirty="0">
              <a:solidFill>
                <a:srgbClr val="383838"/>
              </a:solidFill>
              <a:latin typeface="微软雅黑"/>
              <a:ea typeface="微软雅黑"/>
              <a:cs typeface="微软雅黑"/>
              <a:sym typeface="微软雅黑"/>
            </a:endParaRPr>
          </a:p>
          <a:p>
            <a:pPr algn="ct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在大促转化期集中</a:t>
            </a:r>
            <a:endParaRPr kumimoji="1" lang="en-US" altLang="zh-CN" sz="1000" dirty="0">
              <a:solidFill>
                <a:srgbClr val="383838"/>
              </a:solidFill>
              <a:latin typeface="微软雅黑"/>
              <a:ea typeface="微软雅黑"/>
              <a:cs typeface="微软雅黑"/>
              <a:sym typeface="微软雅黑"/>
            </a:endParaRPr>
          </a:p>
          <a:p>
            <a:pPr algn="ctr">
              <a:lnSpc>
                <a:spcPts val="1120"/>
              </a:lnSpc>
              <a:defRPr>
                <a:latin typeface="微软雅黑"/>
                <a:ea typeface="微软雅黑"/>
                <a:cs typeface="微软雅黑"/>
              </a:defRPr>
              <a:spcBef>
                <a:spcPts val="0"/>
              </a:spcBef>
              <a:spcAft>
                <a:spcPts val="0"/>
              </a:spcAft>
            </a:pPr>
            <a:r>
              <a:rPr kumimoji="1" lang="zh-CN" altLang="en-US" sz="1000" b="1" dirty="0">
                <a:solidFill>
                  <a:srgbClr val="0042FF"/>
                </a:solidFill>
                <a:latin typeface="微软雅黑"/>
                <a:ea typeface="微软雅黑"/>
                <a:cs typeface="微软雅黑"/>
                <a:sym typeface="微软雅黑"/>
              </a:rPr>
              <a:t>种草向</a:t>
            </a:r>
            <a:r>
              <a:rPr kumimoji="1" lang="en-US" altLang="zh-CN" sz="1000" b="1" dirty="0">
                <a:solidFill>
                  <a:srgbClr val="0042FF"/>
                </a:solidFill>
                <a:latin typeface="微软雅黑"/>
                <a:ea typeface="微软雅黑"/>
                <a:cs typeface="微软雅黑"/>
                <a:sym typeface="微软雅黑"/>
              </a:rPr>
              <a:t>:</a:t>
            </a:r>
            <a:r>
              <a:rPr kumimoji="1" lang="zh-CN" altLang="en-US" sz="1000" b="1" dirty="0">
                <a:solidFill>
                  <a:srgbClr val="0042FF"/>
                </a:solidFill>
                <a:latin typeface="微软雅黑"/>
                <a:ea typeface="微软雅黑"/>
                <a:cs typeface="微软雅黑"/>
                <a:sym typeface="微软雅黑"/>
              </a:rPr>
              <a:t>购物向</a:t>
            </a:r>
            <a:r>
              <a:rPr kumimoji="1" lang="en-US" altLang="zh-CN" sz="1000" b="1" dirty="0">
                <a:solidFill>
                  <a:srgbClr val="0042FF"/>
                </a:solidFill>
                <a:latin typeface="微软雅黑"/>
                <a:ea typeface="微软雅黑"/>
                <a:cs typeface="微软雅黑"/>
                <a:sym typeface="微软雅黑"/>
              </a:rPr>
              <a:t>=50%:50%</a:t>
            </a:r>
            <a:endParaRPr kumimoji="1" lang="en-US" altLang="zh-CN" sz="1000" b="1" dirty="0">
              <a:solidFill>
                <a:srgbClr val="0042FF"/>
              </a:solidFill>
              <a:latin typeface="微软雅黑"/>
              <a:ea typeface="微软雅黑"/>
              <a:cs typeface="微软雅黑"/>
              <a:sym typeface="微软雅黑"/>
            </a:endParaRPr>
          </a:p>
        </p:txBody>
      </p:sp>
      <p:sp>
        <p:nvSpPr>
          <p:cNvPr id="193" name="天蝎PPT原创©41"/>
          <p:cNvSpPr/>
          <p:nvPr/>
        </p:nvSpPr>
        <p:spPr>
          <a:xfrm>
            <a:off x="1670890" y="1054201"/>
            <a:ext cx="9871787" cy="45719"/>
          </a:xfrm>
          <a:prstGeom prst="rect">
            <a:avLst/>
          </a:prstGeom>
          <a:solidFill>
            <a:srgbClr val="E6E6E6"/>
          </a:solidFill>
          <a:ln>
            <a:solidFill>
              <a:srgbClr val="E6E6E6"/>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kumimoji="1" lang="zh-CN" altLang="en-US">
              <a:latin typeface="微软雅黑"/>
              <a:ea typeface="微软雅黑"/>
              <a:cs typeface="微软雅黑"/>
              <a:sym typeface="微软雅黑"/>
            </a:endParaRPr>
          </a:p>
        </p:txBody>
      </p:sp>
      <p:pic>
        <p:nvPicPr>
          <p:cNvPr id="203" name="天蝎PPT原创©43"/>
          <p:cNvPicPr>
            <a:picLocks noChangeAspect="1"/>
          </p:cNvPicPr>
          <p:nvPr/>
        </p:nvPicPr>
        <p:blipFill>
          <a:blip r:embed="rId3" cstate="email">
            <a:extLst>
              <a:ext uri="{96DAC541-7B7A-43D3-8B79-37D633B846F1}">
                <asvg:svgBlip xmlns:asvg="http://schemas.microsoft.com/office/drawing/2016/SVG/main" r:embed="rId4"/>
              </a:ext>
            </a:extLst>
          </a:blip>
          <a:stretch>
            <a:fillRect/>
          </a:stretch>
        </p:blipFill>
        <p:spPr>
          <a:xfrm>
            <a:off x="2213107" y="2075915"/>
            <a:ext cx="248303" cy="240891"/>
          </a:xfrm>
          <a:prstGeom prst="rect">
            <a:avLst/>
          </a:prstGeom>
        </p:spPr>
      </p:pic>
      <p:pic>
        <p:nvPicPr>
          <p:cNvPr id="211" name="天蝎PPT原创©44"/>
          <p:cNvPicPr>
            <a:picLocks noChangeAspect="1"/>
          </p:cNvPicPr>
          <p:nvPr/>
        </p:nvPicPr>
        <p:blipFill>
          <a:blip r:embed="rId5" cstate="email">
            <a:extLst>
              <a:ext uri="{96DAC541-7B7A-43D3-8B79-37D633B846F1}">
                <asvg:svgBlip xmlns:asvg="http://schemas.microsoft.com/office/drawing/2016/SVG/main" r:embed="rId6"/>
              </a:ext>
            </a:extLst>
          </a:blip>
          <a:stretch>
            <a:fillRect/>
          </a:stretch>
        </p:blipFill>
        <p:spPr>
          <a:xfrm>
            <a:off x="5762561" y="2093572"/>
            <a:ext cx="200485" cy="194501"/>
          </a:xfrm>
          <a:prstGeom prst="rect">
            <a:avLst/>
          </a:prstGeom>
        </p:spPr>
      </p:pic>
      <p:pic>
        <p:nvPicPr>
          <p:cNvPr id="213" name="天蝎PPT原创©45"/>
          <p:cNvPicPr>
            <a:picLocks noChangeAspect="1"/>
          </p:cNvPicPr>
          <p:nvPr/>
        </p:nvPicPr>
        <p:blipFill>
          <a:blip r:embed="rId7" cstate="email">
            <a:extLst>
              <a:ext uri="{96DAC541-7B7A-43D3-8B79-37D633B846F1}">
                <asvg:svgBlip xmlns:asvg="http://schemas.microsoft.com/office/drawing/2016/SVG/main" r:embed="rId8"/>
              </a:ext>
            </a:extLst>
          </a:blip>
          <a:stretch>
            <a:fillRect/>
          </a:stretch>
        </p:blipFill>
        <p:spPr>
          <a:xfrm>
            <a:off x="9005833" y="2075525"/>
            <a:ext cx="258026" cy="250324"/>
          </a:xfrm>
          <a:prstGeom prst="rect">
            <a:avLst/>
          </a:prstGeom>
        </p:spPr>
      </p:pic>
      <p:sp>
        <p:nvSpPr>
          <p:cNvPr id="214" name="天蝎PPT原创©46"/>
          <p:cNvSpPr/>
          <p:nvPr/>
        </p:nvSpPr>
        <p:spPr>
          <a:xfrm>
            <a:off x="1753545" y="3156309"/>
            <a:ext cx="216902" cy="459763"/>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15" name="天蝎PPT原创©47"/>
          <p:cNvSpPr/>
          <p:nvPr/>
        </p:nvSpPr>
        <p:spPr>
          <a:xfrm>
            <a:off x="5073287" y="2509832"/>
            <a:ext cx="3114259" cy="1509699"/>
          </a:xfrm>
          <a:prstGeom prst="rect">
            <a:avLst/>
          </a:prstGeom>
          <a:solidFill>
            <a:srgbClr val="FFFFFF">
              <a:alpha val="20000"/>
            </a:srgbClr>
          </a:solidFill>
          <a:ln w="12700">
            <a:solidFill>
              <a:srgbClr val="B3D4FE">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16" name="天蝎PPT原创©48"/>
          <p:cNvSpPr/>
          <p:nvPr/>
        </p:nvSpPr>
        <p:spPr>
          <a:xfrm>
            <a:off x="5074524" y="2509023"/>
            <a:ext cx="3114259" cy="553998"/>
          </a:xfrm>
          <a:prstGeom prst="rect">
            <a:avLst/>
          </a:prstGeom>
          <a:solidFill>
            <a:srgbClr val="B3D4FE">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29" name="天蝎PPT原创©49"/>
          <p:cNvSpPr/>
          <p:nvPr/>
        </p:nvSpPr>
        <p:spPr>
          <a:xfrm>
            <a:off x="5137492" y="2553881"/>
            <a:ext cx="216902" cy="459763"/>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30" name="天蝎PPT原创©50"/>
          <p:cNvSpPr txBox="1"/>
          <p:nvPr/>
        </p:nvSpPr>
        <p:spPr>
          <a:xfrm>
            <a:off x="5405638" y="2572242"/>
            <a:ext cx="2268570"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对高种草值笔记充分放量</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补充精准</a:t>
            </a:r>
            <a:r>
              <a:rPr kumimoji="1" lang="en-GB" altLang="zh-CN" sz="1000" dirty="0">
                <a:solidFill>
                  <a:srgbClr val="383838"/>
                </a:solidFill>
                <a:latin typeface="微软雅黑"/>
                <a:ea typeface="微软雅黑"/>
                <a:cs typeface="微软雅黑"/>
                <a:sym typeface="微软雅黑"/>
              </a:rPr>
              <a:t>DMP&amp;</a:t>
            </a:r>
            <a:r>
              <a:rPr kumimoji="1" lang="zh-CN" altLang="en-US" sz="1000" dirty="0">
                <a:solidFill>
                  <a:srgbClr val="383838"/>
                </a:solidFill>
                <a:latin typeface="微软雅黑"/>
                <a:ea typeface="微软雅黑"/>
                <a:cs typeface="微软雅黑"/>
                <a:sym typeface="微软雅黑"/>
              </a:rPr>
              <a:t>特色标签人群</a:t>
            </a:r>
            <a:r>
              <a:rPr kumimoji="1" lang="en-GB" altLang="zh-CN" sz="1000" dirty="0">
                <a:solidFill>
                  <a:srgbClr val="383838"/>
                </a:solidFill>
                <a:latin typeface="微软雅黑"/>
                <a:ea typeface="微软雅黑"/>
                <a:cs typeface="微软雅黑"/>
                <a:sym typeface="微软雅黑"/>
              </a:rPr>
              <a:t>Retargeting</a:t>
            </a:r>
            <a:endParaRPr kumimoji="1" lang="en-GB" altLang="zh-CN" sz="1000" dirty="0">
              <a:solidFill>
                <a:srgbClr val="383838"/>
              </a:solidFill>
              <a:latin typeface="微软雅黑"/>
              <a:ea typeface="微软雅黑"/>
              <a:cs typeface="微软雅黑"/>
              <a:sym typeface="微软雅黑"/>
            </a:endParaRPr>
          </a:p>
        </p:txBody>
      </p:sp>
      <p:sp>
        <p:nvSpPr>
          <p:cNvPr id="231" name="天蝎PPT原创©51"/>
          <p:cNvSpPr/>
          <p:nvPr/>
        </p:nvSpPr>
        <p:spPr>
          <a:xfrm>
            <a:off x="5074524" y="3102294"/>
            <a:ext cx="3114259" cy="553998"/>
          </a:xfrm>
          <a:prstGeom prst="rect">
            <a:avLst/>
          </a:prstGeom>
          <a:solidFill>
            <a:srgbClr val="B3D4FE">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32" name="天蝎PPT原创©52"/>
          <p:cNvSpPr txBox="1"/>
          <p:nvPr/>
        </p:nvSpPr>
        <p:spPr>
          <a:xfrm>
            <a:off x="5405638" y="3164554"/>
            <a:ext cx="1800493" cy="410625"/>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产品种草向素材抢占搜索核心词</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提升出价强考核卡位影响决策</a:t>
            </a:r>
            <a:endParaRPr kumimoji="1" lang="zh-CN" altLang="en-US" sz="1000" dirty="0">
              <a:solidFill>
                <a:srgbClr val="383838"/>
              </a:solidFill>
              <a:latin typeface="微软雅黑"/>
              <a:ea typeface="微软雅黑"/>
              <a:cs typeface="微软雅黑"/>
              <a:sym typeface="微软雅黑"/>
            </a:endParaRPr>
          </a:p>
        </p:txBody>
      </p:sp>
      <p:sp>
        <p:nvSpPr>
          <p:cNvPr id="235" name="天蝎PPT原创©53"/>
          <p:cNvSpPr txBox="1"/>
          <p:nvPr/>
        </p:nvSpPr>
        <p:spPr>
          <a:xfrm>
            <a:off x="5337265" y="3711860"/>
            <a:ext cx="2576346" cy="3136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信息流持续灌入搜索逐步加强 </a:t>
            </a:r>
            <a:r>
              <a:rPr kumimoji="1" lang="zh-CN" altLang="en-US" sz="1000" b="1" dirty="0">
                <a:solidFill>
                  <a:srgbClr val="0042FF"/>
                </a:solidFill>
                <a:latin typeface="微软雅黑"/>
                <a:ea typeface="微软雅黑"/>
                <a:cs typeface="微软雅黑"/>
                <a:sym typeface="微软雅黑"/>
              </a:rPr>
              <a:t>信息流</a:t>
            </a:r>
            <a:r>
              <a:rPr kumimoji="1" lang="en-US" altLang="zh-CN" sz="1000" b="1" dirty="0">
                <a:solidFill>
                  <a:srgbClr val="0042FF"/>
                </a:solidFill>
                <a:latin typeface="微软雅黑"/>
                <a:ea typeface="微软雅黑"/>
                <a:cs typeface="微软雅黑"/>
                <a:sym typeface="微软雅黑"/>
              </a:rPr>
              <a:t>:</a:t>
            </a:r>
            <a:r>
              <a:rPr kumimoji="1" lang="zh-CN" altLang="en-US" sz="1000" b="1" dirty="0">
                <a:solidFill>
                  <a:srgbClr val="0042FF"/>
                </a:solidFill>
                <a:latin typeface="微软雅黑"/>
                <a:ea typeface="微软雅黑"/>
                <a:cs typeface="微软雅黑"/>
                <a:sym typeface="微软雅黑"/>
              </a:rPr>
              <a:t>搜索</a:t>
            </a:r>
            <a:r>
              <a:rPr kumimoji="1" lang="en-US" altLang="zh-CN" sz="1000" b="1" dirty="0">
                <a:solidFill>
                  <a:srgbClr val="0042FF"/>
                </a:solidFill>
                <a:latin typeface="微软雅黑"/>
                <a:ea typeface="微软雅黑"/>
                <a:cs typeface="微软雅黑"/>
                <a:sym typeface="微软雅黑"/>
              </a:rPr>
              <a:t>=6:4</a:t>
            </a:r>
            <a:endParaRPr kumimoji="1" lang="en-US" altLang="zh-CN" sz="1000" b="1" dirty="0">
              <a:solidFill>
                <a:srgbClr val="0042FF"/>
              </a:solidFill>
              <a:latin typeface="微软雅黑"/>
              <a:ea typeface="微软雅黑"/>
              <a:cs typeface="微软雅黑"/>
              <a:sym typeface="微软雅黑"/>
            </a:endParaRPr>
          </a:p>
        </p:txBody>
      </p:sp>
      <p:sp>
        <p:nvSpPr>
          <p:cNvPr id="236" name="天蝎PPT原创©54"/>
          <p:cNvSpPr/>
          <p:nvPr/>
        </p:nvSpPr>
        <p:spPr>
          <a:xfrm>
            <a:off x="5137492" y="3156309"/>
            <a:ext cx="216902" cy="459763"/>
          </a:xfrm>
          <a:prstGeom prst="rect">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37" name="天蝎PPT原创©55"/>
          <p:cNvSpPr/>
          <p:nvPr/>
        </p:nvSpPr>
        <p:spPr>
          <a:xfrm>
            <a:off x="8443886" y="2509832"/>
            <a:ext cx="3114259" cy="1509699"/>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38" name="天蝎PPT原创©56"/>
          <p:cNvSpPr/>
          <p:nvPr/>
        </p:nvSpPr>
        <p:spPr>
          <a:xfrm>
            <a:off x="8445123" y="2509023"/>
            <a:ext cx="3114259" cy="553998"/>
          </a:xfrm>
          <a:prstGeom prst="rect">
            <a:avLst/>
          </a:prstGeom>
          <a:solidFill>
            <a:srgbClr val="668EFF">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39" name="天蝎PPT原创©57"/>
          <p:cNvSpPr/>
          <p:nvPr/>
        </p:nvSpPr>
        <p:spPr>
          <a:xfrm>
            <a:off x="8508091" y="2553881"/>
            <a:ext cx="216902" cy="459763"/>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40" name="天蝎PPT原创©58"/>
          <p:cNvSpPr txBox="1"/>
          <p:nvPr/>
        </p:nvSpPr>
        <p:spPr>
          <a:xfrm>
            <a:off x="8781317" y="2549382"/>
            <a:ext cx="2717411"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各品线聚焦预算至主推</a:t>
            </a:r>
            <a:r>
              <a:rPr kumimoji="1" lang="en-GB" altLang="zh-CN" sz="1000" dirty="0">
                <a:solidFill>
                  <a:srgbClr val="383838"/>
                </a:solidFill>
                <a:latin typeface="微软雅黑"/>
                <a:ea typeface="微软雅黑"/>
                <a:cs typeface="微软雅黑"/>
                <a:sym typeface="微软雅黑"/>
              </a:rPr>
              <a:t>SPU</a:t>
            </a:r>
            <a:r>
              <a:rPr kumimoji="1" lang="zh-CN" altLang="en-GB"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对高优素材给到进阶</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预算放大流量，深度种草</a:t>
            </a:r>
            <a:endParaRPr kumimoji="1" lang="zh-CN" altLang="en-US" sz="1000" dirty="0">
              <a:solidFill>
                <a:srgbClr val="383838"/>
              </a:solidFill>
              <a:latin typeface="微软雅黑"/>
              <a:ea typeface="微软雅黑"/>
              <a:cs typeface="微软雅黑"/>
              <a:sym typeface="微软雅黑"/>
            </a:endParaRPr>
          </a:p>
        </p:txBody>
      </p:sp>
      <p:sp>
        <p:nvSpPr>
          <p:cNvPr id="241" name="天蝎PPT原创©59"/>
          <p:cNvSpPr/>
          <p:nvPr/>
        </p:nvSpPr>
        <p:spPr>
          <a:xfrm>
            <a:off x="8445123" y="3102294"/>
            <a:ext cx="3114259" cy="553998"/>
          </a:xfrm>
          <a:prstGeom prst="rect">
            <a:avLst/>
          </a:prstGeom>
          <a:solidFill>
            <a:srgbClr val="668EFF">
              <a:alpha val="20000"/>
            </a:srgbClr>
          </a:solidFill>
          <a:ln>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42" name="天蝎PPT原创©60"/>
          <p:cNvSpPr txBox="1"/>
          <p:nvPr/>
        </p:nvSpPr>
        <p:spPr>
          <a:xfrm>
            <a:off x="8776237" y="3170691"/>
            <a:ext cx="2492990"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巩固品牌词及品类词搜索阵地，重点抢占装修</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改造需求</a:t>
            </a:r>
            <a:r>
              <a:rPr kumimoji="1" lang="en-US" altLang="zh-CN" sz="1000" dirty="0">
                <a:solidFill>
                  <a:srgbClr val="383838"/>
                </a:solidFill>
                <a:latin typeface="微软雅黑"/>
                <a:ea typeface="微软雅黑"/>
                <a:cs typeface="微软雅黑"/>
                <a:sym typeface="微软雅黑"/>
              </a:rPr>
              <a:t>&amp;</a:t>
            </a:r>
            <a:r>
              <a:rPr kumimoji="1" lang="zh-CN" altLang="en-US" sz="1000" dirty="0">
                <a:solidFill>
                  <a:srgbClr val="383838"/>
                </a:solidFill>
                <a:latin typeface="微软雅黑"/>
                <a:ea typeface="微软雅黑"/>
                <a:cs typeface="微软雅黑"/>
                <a:sym typeface="微软雅黑"/>
              </a:rPr>
              <a:t>同类品人群，攻守兼备</a:t>
            </a:r>
            <a:endParaRPr kumimoji="1" lang="zh-CN" altLang="en-US" sz="1000" dirty="0">
              <a:solidFill>
                <a:srgbClr val="383838"/>
              </a:solidFill>
              <a:latin typeface="微软雅黑"/>
              <a:ea typeface="微软雅黑"/>
              <a:cs typeface="微软雅黑"/>
              <a:sym typeface="微软雅黑"/>
            </a:endParaRPr>
          </a:p>
        </p:txBody>
      </p:sp>
      <p:sp>
        <p:nvSpPr>
          <p:cNvPr id="259" name="天蝎PPT原创©61"/>
          <p:cNvSpPr txBox="1"/>
          <p:nvPr/>
        </p:nvSpPr>
        <p:spPr>
          <a:xfrm>
            <a:off x="8860951" y="3711860"/>
            <a:ext cx="2265364" cy="3136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搜索加强承接双</a:t>
            </a:r>
            <a:r>
              <a:rPr kumimoji="1" lang="en-US" altLang="zh-CN" sz="1000" dirty="0">
                <a:solidFill>
                  <a:srgbClr val="383838"/>
                </a:solidFill>
                <a:latin typeface="微软雅黑"/>
                <a:ea typeface="微软雅黑"/>
                <a:cs typeface="微软雅黑"/>
                <a:sym typeface="微软雅黑"/>
              </a:rPr>
              <a:t>11</a:t>
            </a:r>
            <a:r>
              <a:rPr kumimoji="1" lang="zh-CN" altLang="en-US" sz="1000" dirty="0">
                <a:solidFill>
                  <a:srgbClr val="383838"/>
                </a:solidFill>
                <a:latin typeface="微软雅黑"/>
                <a:ea typeface="微软雅黑"/>
                <a:cs typeface="微软雅黑"/>
                <a:sym typeface="微软雅黑"/>
              </a:rPr>
              <a:t>流量 </a:t>
            </a:r>
            <a:r>
              <a:rPr kumimoji="1" lang="zh-CN" altLang="en-US" sz="1000" b="1" dirty="0">
                <a:solidFill>
                  <a:srgbClr val="0042FF"/>
                </a:solidFill>
                <a:latin typeface="微软雅黑"/>
                <a:ea typeface="微软雅黑"/>
                <a:cs typeface="微软雅黑"/>
                <a:sym typeface="微软雅黑"/>
              </a:rPr>
              <a:t>信息流</a:t>
            </a:r>
            <a:r>
              <a:rPr kumimoji="1" lang="en-US" altLang="zh-CN" sz="1000" b="1" dirty="0">
                <a:solidFill>
                  <a:srgbClr val="0042FF"/>
                </a:solidFill>
                <a:latin typeface="微软雅黑"/>
                <a:ea typeface="微软雅黑"/>
                <a:cs typeface="微软雅黑"/>
                <a:sym typeface="微软雅黑"/>
              </a:rPr>
              <a:t>:</a:t>
            </a:r>
            <a:r>
              <a:rPr kumimoji="1" lang="zh-CN" altLang="en-US" sz="1000" b="1" dirty="0">
                <a:solidFill>
                  <a:srgbClr val="0042FF"/>
                </a:solidFill>
                <a:latin typeface="微软雅黑"/>
                <a:ea typeface="微软雅黑"/>
                <a:cs typeface="微软雅黑"/>
                <a:sym typeface="微软雅黑"/>
              </a:rPr>
              <a:t>搜索</a:t>
            </a:r>
            <a:r>
              <a:rPr kumimoji="1" lang="en-US" altLang="zh-CN" sz="1000" b="1" dirty="0">
                <a:solidFill>
                  <a:srgbClr val="0042FF"/>
                </a:solidFill>
                <a:latin typeface="微软雅黑"/>
                <a:ea typeface="微软雅黑"/>
                <a:cs typeface="微软雅黑"/>
                <a:sym typeface="微软雅黑"/>
              </a:rPr>
              <a:t>=5:5</a:t>
            </a:r>
            <a:endParaRPr kumimoji="1" lang="en-US" altLang="zh-CN" sz="1000" b="1" dirty="0">
              <a:solidFill>
                <a:srgbClr val="0042FF"/>
              </a:solidFill>
              <a:latin typeface="微软雅黑"/>
              <a:ea typeface="微软雅黑"/>
              <a:cs typeface="微软雅黑"/>
              <a:sym typeface="微软雅黑"/>
            </a:endParaRPr>
          </a:p>
        </p:txBody>
      </p:sp>
      <p:sp>
        <p:nvSpPr>
          <p:cNvPr id="265" name="天蝎PPT原创©62"/>
          <p:cNvSpPr/>
          <p:nvPr/>
        </p:nvSpPr>
        <p:spPr>
          <a:xfrm>
            <a:off x="8508091" y="3156309"/>
            <a:ext cx="216902" cy="459763"/>
          </a:xfrm>
          <a:prstGeom prst="rect">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66" name="天蝎PPT原创©63"/>
          <p:cNvSpPr/>
          <p:nvPr/>
        </p:nvSpPr>
        <p:spPr>
          <a:xfrm>
            <a:off x="1689340" y="4831410"/>
            <a:ext cx="9865254" cy="346126"/>
          </a:xfrm>
          <a:prstGeom prst="rect">
            <a:avLst/>
          </a:prstGeom>
          <a:solidFill>
            <a:srgbClr val="3368FF"/>
          </a:solidFill>
          <a:ln>
            <a:solidFill>
              <a:srgbClr val="3368FF"/>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67" name="天蝎PPT原创©64"/>
          <p:cNvSpPr txBox="1"/>
          <p:nvPr/>
        </p:nvSpPr>
        <p:spPr>
          <a:xfrm>
            <a:off x="5354394" y="4866083"/>
            <a:ext cx="2658100" cy="307777"/>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en-GB" altLang="zh-CN" sz="1400" b="1" dirty="0">
                <a:solidFill>
                  <a:srgbClr val="FFFFFF"/>
                </a:solidFill>
                <a:latin typeface="微软雅黑"/>
                <a:ea typeface="微软雅黑"/>
                <a:cs typeface="微软雅黑"/>
                <a:sym typeface="微软雅黑"/>
              </a:rPr>
              <a:t>K:FEED:SEM=30%:35%:35%</a:t>
            </a:r>
            <a:endParaRPr kumimoji="1" lang="en-GB" altLang="zh-CN" sz="1400" b="1" dirty="0">
              <a:solidFill>
                <a:srgbClr val="FFFFFF"/>
              </a:solidFill>
              <a:latin typeface="微软雅黑"/>
              <a:ea typeface="微软雅黑"/>
              <a:cs typeface="微软雅黑"/>
              <a:sym typeface="微软雅黑"/>
            </a:endParaRPr>
          </a:p>
        </p:txBody>
      </p:sp>
      <p:sp>
        <p:nvSpPr>
          <p:cNvPr id="268" name="天蝎PPT原创©65"/>
          <p:cNvSpPr/>
          <p:nvPr/>
        </p:nvSpPr>
        <p:spPr>
          <a:xfrm>
            <a:off x="1689340" y="5242471"/>
            <a:ext cx="3114259" cy="346126"/>
          </a:xfrm>
          <a:prstGeom prst="rect">
            <a:avLst/>
          </a:prstGeom>
          <a:solidFill>
            <a:srgbClr val="FFFFFF"/>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69" name="天蝎PPT原创©66"/>
          <p:cNvSpPr/>
          <p:nvPr/>
        </p:nvSpPr>
        <p:spPr>
          <a:xfrm>
            <a:off x="5086881" y="5242471"/>
            <a:ext cx="3114259" cy="346126"/>
          </a:xfrm>
          <a:prstGeom prst="rect">
            <a:avLst/>
          </a:prstGeom>
          <a:solidFill>
            <a:srgbClr val="FFFFFF"/>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70" name="天蝎PPT原创©67"/>
          <p:cNvSpPr/>
          <p:nvPr/>
        </p:nvSpPr>
        <p:spPr>
          <a:xfrm>
            <a:off x="8442477" y="5242471"/>
            <a:ext cx="3114259" cy="346126"/>
          </a:xfrm>
          <a:prstGeom prst="rect">
            <a:avLst/>
          </a:prstGeom>
          <a:solidFill>
            <a:srgbClr val="FFFFFF"/>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71" name="天蝎PPT原创©68"/>
          <p:cNvSpPr txBox="1"/>
          <p:nvPr/>
        </p:nvSpPr>
        <p:spPr>
          <a:xfrm>
            <a:off x="2191007" y="5287587"/>
            <a:ext cx="2052164" cy="261097"/>
          </a:xfrm>
          <a:prstGeom prst="rect">
            <a:avLst/>
          </a:prstGeom>
          <a:noFill/>
        </p:spPr>
        <p:txBody>
          <a:bodyPr wrap="none" rtlCol="0" lIns="0" rIns="0" tIns="0" bIns="0">
            <a:spAutoFit/>
          </a:bodyPr>
          <a:lstStyle/>
          <a:p>
            <a:pPr algn="ctr">
              <a:lnSpc>
                <a:spcPct val="120000"/>
              </a:lnSpc>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信息流</a:t>
            </a:r>
            <a:r>
              <a:rPr kumimoji="1" lang="en-US" altLang="zh-CN" sz="1000" b="1" dirty="0">
                <a:solidFill>
                  <a:srgbClr val="0042FF"/>
                </a:solidFill>
                <a:latin typeface="微软雅黑"/>
                <a:ea typeface="微软雅黑"/>
                <a:cs typeface="微软雅黑"/>
                <a:sym typeface="微软雅黑"/>
              </a:rPr>
              <a:t>&amp;</a:t>
            </a:r>
            <a:r>
              <a:rPr kumimoji="1" lang="zh-CN" altLang="en-US" sz="1000" b="1" dirty="0">
                <a:solidFill>
                  <a:srgbClr val="0042FF"/>
                </a:solidFill>
                <a:latin typeface="微软雅黑"/>
                <a:ea typeface="微软雅黑"/>
                <a:cs typeface="微软雅黑"/>
                <a:sym typeface="微软雅黑"/>
              </a:rPr>
              <a:t>搜索 出价上调</a:t>
            </a:r>
            <a:r>
              <a:rPr kumimoji="1" lang="en-US" altLang="zh-CN" sz="1000" b="1" dirty="0">
                <a:solidFill>
                  <a:srgbClr val="0042FF"/>
                </a:solidFill>
                <a:latin typeface="微软雅黑"/>
                <a:ea typeface="微软雅黑"/>
                <a:cs typeface="微软雅黑"/>
                <a:sym typeface="微软雅黑"/>
              </a:rPr>
              <a:t>20%~40%</a:t>
            </a:r>
            <a:endParaRPr kumimoji="1" lang="en-US" altLang="zh-CN" sz="1000" b="1" dirty="0">
              <a:solidFill>
                <a:srgbClr val="0042FF"/>
              </a:solidFill>
              <a:latin typeface="微软雅黑"/>
              <a:ea typeface="微软雅黑"/>
              <a:cs typeface="微软雅黑"/>
              <a:sym typeface="微软雅黑"/>
            </a:endParaRPr>
          </a:p>
        </p:txBody>
      </p:sp>
      <p:sp>
        <p:nvSpPr>
          <p:cNvPr id="272" name="天蝎PPT原创©69"/>
          <p:cNvSpPr txBox="1"/>
          <p:nvPr/>
        </p:nvSpPr>
        <p:spPr>
          <a:xfrm>
            <a:off x="5655660" y="5287587"/>
            <a:ext cx="2052164" cy="261097"/>
          </a:xfrm>
          <a:prstGeom prst="rect">
            <a:avLst/>
          </a:prstGeom>
          <a:noFill/>
        </p:spPr>
        <p:txBody>
          <a:bodyPr wrap="none" rtlCol="0" lIns="0" rIns="0" tIns="0" bIns="0">
            <a:spAutoFit/>
          </a:bodyPr>
          <a:lstStyle/>
          <a:p>
            <a:pPr algn="ctr">
              <a:lnSpc>
                <a:spcPct val="120000"/>
              </a:lnSpc>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信息流</a:t>
            </a:r>
            <a:r>
              <a:rPr kumimoji="1" lang="en-US" altLang="zh-CN" sz="1000" b="1" dirty="0">
                <a:solidFill>
                  <a:srgbClr val="0042FF"/>
                </a:solidFill>
                <a:latin typeface="微软雅黑"/>
                <a:ea typeface="微软雅黑"/>
                <a:cs typeface="微软雅黑"/>
                <a:sym typeface="微软雅黑"/>
              </a:rPr>
              <a:t>&amp;</a:t>
            </a:r>
            <a:r>
              <a:rPr kumimoji="1" lang="zh-CN" altLang="en-US" sz="1000" b="1" dirty="0">
                <a:solidFill>
                  <a:srgbClr val="0042FF"/>
                </a:solidFill>
                <a:latin typeface="微软雅黑"/>
                <a:ea typeface="微软雅黑"/>
                <a:cs typeface="微软雅黑"/>
                <a:sym typeface="微软雅黑"/>
              </a:rPr>
              <a:t>搜索 出价上调</a:t>
            </a:r>
            <a:r>
              <a:rPr kumimoji="1" lang="en-US" altLang="zh-CN" sz="1000" b="1" dirty="0">
                <a:solidFill>
                  <a:srgbClr val="0042FF"/>
                </a:solidFill>
                <a:latin typeface="微软雅黑"/>
                <a:ea typeface="微软雅黑"/>
                <a:cs typeface="微软雅黑"/>
                <a:sym typeface="微软雅黑"/>
              </a:rPr>
              <a:t>20%~40%</a:t>
            </a:r>
            <a:endParaRPr kumimoji="1" lang="en-US" altLang="zh-CN" sz="1000" b="1" dirty="0">
              <a:solidFill>
                <a:srgbClr val="0042FF"/>
              </a:solidFill>
              <a:latin typeface="微软雅黑"/>
              <a:ea typeface="微软雅黑"/>
              <a:cs typeface="微软雅黑"/>
              <a:sym typeface="微软雅黑"/>
            </a:endParaRPr>
          </a:p>
        </p:txBody>
      </p:sp>
      <p:sp>
        <p:nvSpPr>
          <p:cNvPr id="273" name="天蝎PPT原创©70"/>
          <p:cNvSpPr txBox="1"/>
          <p:nvPr/>
        </p:nvSpPr>
        <p:spPr>
          <a:xfrm>
            <a:off x="9002867" y="5287587"/>
            <a:ext cx="2052164" cy="261097"/>
          </a:xfrm>
          <a:prstGeom prst="rect">
            <a:avLst/>
          </a:prstGeom>
          <a:noFill/>
        </p:spPr>
        <p:txBody>
          <a:bodyPr wrap="none" rtlCol="0" lIns="0" rIns="0" tIns="0" bIns="0">
            <a:spAutoFit/>
          </a:bodyPr>
          <a:lstStyle/>
          <a:p>
            <a:pPr algn="ctr">
              <a:lnSpc>
                <a:spcPct val="120000"/>
              </a:lnSpc>
              <a:defRPr>
                <a:latin typeface="微软雅黑"/>
                <a:ea typeface="微软雅黑"/>
                <a:cs typeface="微软雅黑"/>
              </a:defRPr>
            </a:pPr>
            <a:r>
              <a:rPr kumimoji="1" lang="zh-CN" altLang="en-US" sz="1000" b="1" dirty="0">
                <a:solidFill>
                  <a:srgbClr val="0042FF"/>
                </a:solidFill>
                <a:latin typeface="微软雅黑"/>
                <a:ea typeface="微软雅黑"/>
                <a:cs typeface="微软雅黑"/>
                <a:sym typeface="微软雅黑"/>
              </a:rPr>
              <a:t>信息流</a:t>
            </a:r>
            <a:r>
              <a:rPr kumimoji="1" lang="en-US" altLang="zh-CN" sz="1000" b="1" dirty="0">
                <a:solidFill>
                  <a:srgbClr val="0042FF"/>
                </a:solidFill>
                <a:latin typeface="微软雅黑"/>
                <a:ea typeface="微软雅黑"/>
                <a:cs typeface="微软雅黑"/>
                <a:sym typeface="微软雅黑"/>
              </a:rPr>
              <a:t>&amp;</a:t>
            </a:r>
            <a:r>
              <a:rPr kumimoji="1" lang="zh-CN" altLang="en-US" sz="1000" b="1" dirty="0">
                <a:solidFill>
                  <a:srgbClr val="0042FF"/>
                </a:solidFill>
                <a:latin typeface="微软雅黑"/>
                <a:ea typeface="微软雅黑"/>
                <a:cs typeface="微软雅黑"/>
                <a:sym typeface="微软雅黑"/>
              </a:rPr>
              <a:t>搜索 出价上调</a:t>
            </a:r>
            <a:r>
              <a:rPr kumimoji="1" lang="en-US" altLang="zh-CN" sz="1000" b="1" dirty="0">
                <a:solidFill>
                  <a:srgbClr val="0042FF"/>
                </a:solidFill>
                <a:latin typeface="微软雅黑"/>
                <a:ea typeface="微软雅黑"/>
                <a:cs typeface="微软雅黑"/>
                <a:sym typeface="微软雅黑"/>
              </a:rPr>
              <a:t>20%~40%</a:t>
            </a:r>
            <a:endParaRPr kumimoji="1" lang="en-US" altLang="zh-CN" sz="1000" b="1" dirty="0">
              <a:solidFill>
                <a:srgbClr val="0042FF"/>
              </a:solidFill>
              <a:latin typeface="微软雅黑"/>
              <a:ea typeface="微软雅黑"/>
              <a:cs typeface="微软雅黑"/>
              <a:sym typeface="微软雅黑"/>
            </a:endParaRPr>
          </a:p>
        </p:txBody>
      </p:sp>
      <p:sp>
        <p:nvSpPr>
          <p:cNvPr id="274" name="天蝎PPT原创©71"/>
          <p:cNvSpPr/>
          <p:nvPr/>
        </p:nvSpPr>
        <p:spPr>
          <a:xfrm>
            <a:off x="1689340" y="5670309"/>
            <a:ext cx="3114259" cy="903427"/>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75" name="天蝎PPT原创©72"/>
          <p:cNvSpPr/>
          <p:nvPr/>
        </p:nvSpPr>
        <p:spPr>
          <a:xfrm>
            <a:off x="5086881" y="5670309"/>
            <a:ext cx="3114259" cy="903427"/>
          </a:xfrm>
          <a:prstGeom prst="rect">
            <a:avLst/>
          </a:prstGeom>
          <a:solidFill>
            <a:srgbClr val="FFFFFF">
              <a:alpha val="50000"/>
            </a:srgbClr>
          </a:solidFill>
          <a:ln w="12700">
            <a:solidFill>
              <a:srgbClr val="3368FF">
                <a:alpha val="5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76" name="天蝎PPT原创©73"/>
          <p:cNvSpPr/>
          <p:nvPr/>
        </p:nvSpPr>
        <p:spPr>
          <a:xfrm>
            <a:off x="8442477" y="5670309"/>
            <a:ext cx="3114259" cy="903427"/>
          </a:xfrm>
          <a:prstGeom prst="rect">
            <a:avLst/>
          </a:prstGeom>
          <a:solidFill>
            <a:srgbClr val="E6E6E6">
              <a:alpha val="20000"/>
            </a:srgbClr>
          </a:solidFill>
          <a:ln w="12700">
            <a:solidFill>
              <a:srgbClr val="3368FF">
                <a:alpha val="70000"/>
              </a:srgbClr>
            </a:solid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lIns="0" rIns="0" tIns="0" bIns="0">
            <a:noAutofit/>
          </a:bodyPr>
          <a:lstStyle/>
          <a:p>
            <a:pPr lvl="0" algn="ctr">
              <a:buClrTx/>
              <a:buSzTx/>
              <a:buFontTx/>
              <a:defRPr>
                <a:latin typeface="微软雅黑"/>
                <a:ea typeface="微软雅黑"/>
                <a:cs typeface="微软雅黑"/>
              </a:defRPr>
            </a:pPr>
            <a:endParaRPr kumimoji="1" lang="zh-CN" altLang="en-US">
              <a:latin typeface="微软雅黑"/>
              <a:ea typeface="微软雅黑"/>
              <a:cs typeface="微软雅黑"/>
              <a:sym typeface="微软雅黑"/>
            </a:endParaRPr>
          </a:p>
        </p:txBody>
      </p:sp>
      <p:sp>
        <p:nvSpPr>
          <p:cNvPr id="277" name="天蝎PPT原创©74"/>
          <p:cNvSpPr txBox="1"/>
          <p:nvPr/>
        </p:nvSpPr>
        <p:spPr>
          <a:xfrm>
            <a:off x="1804364" y="5729977"/>
            <a:ext cx="2253615" cy="3136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b="1" dirty="0">
                <a:solidFill>
                  <a:srgbClr val="0042FF"/>
                </a:solidFill>
                <a:latin typeface="微软雅黑"/>
                <a:ea typeface="微软雅黑"/>
                <a:cs typeface="微软雅黑"/>
                <a:sym typeface="微软雅黑"/>
              </a:rPr>
              <a:t>信息流：</a:t>
            </a:r>
            <a:r>
              <a:rPr kumimoji="1" lang="zh-CN" altLang="en-US" sz="1000" dirty="0">
                <a:solidFill>
                  <a:srgbClr val="383838"/>
                </a:solidFill>
                <a:latin typeface="微软雅黑"/>
                <a:ea typeface="微软雅黑"/>
                <a:cs typeface="微软雅黑"/>
                <a:sym typeface="微软雅黑"/>
              </a:rPr>
              <a:t>品牌</a:t>
            </a:r>
            <a:r>
              <a:rPr kumimoji="1" lang="en-US" altLang="zh-CN"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单品内容渗透率</a:t>
            </a:r>
            <a:r>
              <a:rPr kumimoji="1" lang="en-US" altLang="zh-CN" sz="1000" dirty="0">
                <a:solidFill>
                  <a:srgbClr val="383838"/>
                </a:solidFill>
                <a:latin typeface="微软雅黑"/>
                <a:ea typeface="微软雅黑"/>
                <a:cs typeface="微软雅黑"/>
                <a:sym typeface="微软雅黑"/>
              </a:rPr>
              <a:t>&amp;</a:t>
            </a:r>
            <a:r>
              <a:rPr kumimoji="1" lang="zh-CN" altLang="en-US" sz="1000" dirty="0">
                <a:solidFill>
                  <a:srgbClr val="383838"/>
                </a:solidFill>
                <a:latin typeface="微软雅黑"/>
                <a:ea typeface="微软雅黑"/>
                <a:cs typeface="微软雅黑"/>
                <a:sym typeface="微软雅黑"/>
              </a:rPr>
              <a:t>互动量口</a:t>
            </a:r>
            <a:endParaRPr kumimoji="1" lang="zh-CN" altLang="en-US" sz="1000" dirty="0">
              <a:solidFill>
                <a:srgbClr val="383838"/>
              </a:solidFill>
              <a:latin typeface="微软雅黑"/>
              <a:ea typeface="微软雅黑"/>
              <a:cs typeface="微软雅黑"/>
              <a:sym typeface="微软雅黑"/>
            </a:endParaRPr>
          </a:p>
        </p:txBody>
      </p:sp>
      <p:sp>
        <p:nvSpPr>
          <p:cNvPr id="280" name="天蝎PPT原创©77"/>
          <p:cNvSpPr txBox="1"/>
          <p:nvPr/>
        </p:nvSpPr>
        <p:spPr>
          <a:xfrm>
            <a:off x="3056022" y="1183126"/>
            <a:ext cx="981359" cy="276999"/>
          </a:xfrm>
          <a:prstGeom prst="rect">
            <a:avLst/>
          </a:prstGeom>
          <a:noFill/>
        </p:spPr>
        <p:txBody>
          <a:bodyPr wrap="none" rtlCol="0">
            <a:spAutoFit/>
          </a:bodyPr>
          <a:lstStyle/>
          <a:p>
            <a:pPr>
              <a:defRPr>
                <a:latin typeface="微软雅黑"/>
                <a:ea typeface="微软雅黑"/>
                <a:cs typeface="微软雅黑"/>
              </a:defRPr>
            </a:pPr>
            <a:r>
              <a:rPr kumimoji="1" lang="en-US" altLang="zh-CN" sz="1200" dirty="0">
                <a:solidFill>
                  <a:srgbClr val="383838"/>
                </a:solidFill>
                <a:latin typeface="微软雅黑"/>
                <a:ea typeface="微软雅黑"/>
                <a:cs typeface="微软雅黑"/>
                <a:sym typeface="微软雅黑"/>
              </a:rPr>
              <a:t>10/1</a:t>
            </a:r>
            <a:r>
              <a:rPr kumimoji="1" lang="zh-CN" altLang="en-US" sz="1200" dirty="0">
                <a:solidFill>
                  <a:srgbClr val="383838"/>
                </a:solidFill>
                <a:latin typeface="微软雅黑"/>
                <a:ea typeface="微软雅黑"/>
                <a:cs typeface="微软雅黑"/>
                <a:sym typeface="微软雅黑"/>
              </a:rPr>
              <a:t>国庆节</a:t>
            </a:r>
            <a:endParaRPr kumimoji="1" lang="zh-CN" altLang="en-US" sz="1200" dirty="0">
              <a:solidFill>
                <a:srgbClr val="383838"/>
              </a:solidFill>
              <a:latin typeface="微软雅黑"/>
              <a:ea typeface="微软雅黑"/>
              <a:cs typeface="微软雅黑"/>
              <a:sym typeface="微软雅黑"/>
            </a:endParaRPr>
          </a:p>
        </p:txBody>
      </p:sp>
      <p:sp>
        <p:nvSpPr>
          <p:cNvPr id="281" name="天蝎PPT原创©78"/>
          <p:cNvSpPr txBox="1"/>
          <p:nvPr/>
        </p:nvSpPr>
        <p:spPr>
          <a:xfrm>
            <a:off x="5008903" y="1182494"/>
            <a:ext cx="1378904" cy="276999"/>
          </a:xfrm>
          <a:prstGeom prst="rect">
            <a:avLst/>
          </a:prstGeom>
          <a:noFill/>
        </p:spPr>
        <p:txBody>
          <a:bodyPr wrap="none" rtlCol="0">
            <a:spAutoFit/>
          </a:bodyPr>
          <a:lstStyle/>
          <a:p>
            <a:pPr>
              <a:defRPr>
                <a:latin typeface="微软雅黑"/>
                <a:ea typeface="微软雅黑"/>
                <a:cs typeface="微软雅黑"/>
              </a:defRPr>
            </a:pPr>
            <a:r>
              <a:rPr kumimoji="1" lang="en-US" altLang="zh-CN" sz="1200" dirty="0">
                <a:solidFill>
                  <a:srgbClr val="383838"/>
                </a:solidFill>
                <a:latin typeface="微软雅黑"/>
                <a:ea typeface="微软雅黑"/>
                <a:cs typeface="微软雅黑"/>
                <a:sym typeface="微软雅黑"/>
              </a:rPr>
              <a:t>10/10</a:t>
            </a:r>
            <a:r>
              <a:rPr kumimoji="1" lang="zh-CN" altLang="en-US" sz="1200" dirty="0">
                <a:solidFill>
                  <a:srgbClr val="383838"/>
                </a:solidFill>
                <a:latin typeface="微软雅黑"/>
                <a:ea typeface="微软雅黑"/>
                <a:cs typeface="微软雅黑"/>
                <a:sym typeface="微软雅黑"/>
              </a:rPr>
              <a:t>第一波付款</a:t>
            </a:r>
            <a:endParaRPr kumimoji="1" lang="zh-CN" altLang="en-US" sz="1200" dirty="0">
              <a:solidFill>
                <a:srgbClr val="383838"/>
              </a:solidFill>
              <a:latin typeface="微软雅黑"/>
              <a:ea typeface="微软雅黑"/>
              <a:cs typeface="微软雅黑"/>
              <a:sym typeface="微软雅黑"/>
            </a:endParaRPr>
          </a:p>
        </p:txBody>
      </p:sp>
      <p:sp>
        <p:nvSpPr>
          <p:cNvPr id="282" name="天蝎PPT原创©79"/>
          <p:cNvSpPr txBox="1"/>
          <p:nvPr/>
        </p:nvSpPr>
        <p:spPr>
          <a:xfrm>
            <a:off x="7602122" y="1182494"/>
            <a:ext cx="1370888" cy="276999"/>
          </a:xfrm>
          <a:prstGeom prst="rect">
            <a:avLst/>
          </a:prstGeom>
          <a:noFill/>
        </p:spPr>
        <p:txBody>
          <a:bodyPr wrap="none" rtlCol="0">
            <a:spAutoFit/>
          </a:bodyPr>
          <a:lstStyle/>
          <a:p>
            <a:pPr>
              <a:defRPr>
                <a:latin typeface="微软雅黑"/>
                <a:ea typeface="微软雅黑"/>
                <a:cs typeface="微软雅黑"/>
              </a:defRPr>
            </a:pPr>
            <a:r>
              <a:rPr kumimoji="1" lang="en-US" altLang="zh-CN" sz="1200" dirty="0">
                <a:solidFill>
                  <a:srgbClr val="383838"/>
                </a:solidFill>
                <a:latin typeface="微软雅黑"/>
                <a:ea typeface="微软雅黑"/>
                <a:cs typeface="微软雅黑"/>
                <a:sym typeface="微软雅黑"/>
              </a:rPr>
              <a:t>10/30</a:t>
            </a:r>
            <a:r>
              <a:rPr kumimoji="1" lang="zh-CN" altLang="en-US" sz="1200" dirty="0">
                <a:solidFill>
                  <a:srgbClr val="383838"/>
                </a:solidFill>
                <a:latin typeface="微软雅黑"/>
                <a:ea typeface="微软雅黑"/>
                <a:cs typeface="微软雅黑"/>
                <a:sym typeface="微软雅黑"/>
              </a:rPr>
              <a:t>第二波付款</a:t>
            </a:r>
            <a:endParaRPr kumimoji="1" lang="zh-CN" altLang="en-US" sz="1200" dirty="0">
              <a:solidFill>
                <a:srgbClr val="383838"/>
              </a:solidFill>
              <a:latin typeface="微软雅黑"/>
              <a:ea typeface="微软雅黑"/>
              <a:cs typeface="微软雅黑"/>
              <a:sym typeface="微软雅黑"/>
            </a:endParaRPr>
          </a:p>
        </p:txBody>
      </p:sp>
      <p:sp>
        <p:nvSpPr>
          <p:cNvPr id="283" name="天蝎PPT原创©80"/>
          <p:cNvSpPr txBox="1"/>
          <p:nvPr/>
        </p:nvSpPr>
        <p:spPr>
          <a:xfrm>
            <a:off x="10473995" y="1182494"/>
            <a:ext cx="1006622" cy="276999"/>
          </a:xfrm>
          <a:prstGeom prst="rect">
            <a:avLst/>
          </a:prstGeom>
          <a:noFill/>
        </p:spPr>
        <p:txBody>
          <a:bodyPr wrap="none" rtlCol="0">
            <a:spAutoFit/>
          </a:bodyPr>
          <a:lstStyle/>
          <a:p>
            <a:pPr>
              <a:defRPr>
                <a:latin typeface="微软雅黑"/>
                <a:ea typeface="微软雅黑"/>
                <a:cs typeface="微软雅黑"/>
              </a:defRPr>
            </a:pPr>
            <a:r>
              <a:rPr kumimoji="1" lang="en-US" altLang="zh-CN" sz="1200" dirty="0">
                <a:solidFill>
                  <a:srgbClr val="383838"/>
                </a:solidFill>
                <a:latin typeface="微软雅黑"/>
                <a:ea typeface="微软雅黑"/>
                <a:cs typeface="微软雅黑"/>
                <a:sym typeface="微软雅黑"/>
              </a:rPr>
              <a:t>11/11</a:t>
            </a:r>
            <a:r>
              <a:rPr kumimoji="1" lang="zh-CN" altLang="en-US" sz="1200" dirty="0">
                <a:solidFill>
                  <a:srgbClr val="383838"/>
                </a:solidFill>
                <a:latin typeface="微软雅黑"/>
                <a:ea typeface="微软雅黑"/>
                <a:cs typeface="微软雅黑"/>
                <a:sym typeface="微软雅黑"/>
              </a:rPr>
              <a:t>狂欢节</a:t>
            </a:r>
            <a:endParaRPr kumimoji="1" lang="zh-CN" altLang="en-US" sz="1200" dirty="0">
              <a:solidFill>
                <a:srgbClr val="383838"/>
              </a:solidFill>
              <a:latin typeface="微软雅黑"/>
              <a:ea typeface="微软雅黑"/>
              <a:cs typeface="微软雅黑"/>
              <a:sym typeface="微软雅黑"/>
            </a:endParaRPr>
          </a:p>
        </p:txBody>
      </p:sp>
      <p:grpSp>
        <p:nvGrpSpPr>
          <p:cNvPr id="284" name="天蝎PPT原创©81"/>
          <p:cNvGrpSpPr/>
          <p:nvPr/>
        </p:nvGrpSpPr>
        <p:grpSpPr>
          <a:xfrm>
            <a:off x="3438701" y="962851"/>
            <a:ext cx="216000" cy="216000"/>
            <a:chOff x="3438701" y="962851"/>
            <a:chExt cx="216000" cy="216000"/>
          </a:xfrm>
        </p:grpSpPr>
        <p:sp>
          <p:nvSpPr>
            <p:cNvPr id="285" name="天蝎PPT原创©81-1"/>
            <p:cNvSpPr/>
            <p:nvPr/>
          </p:nvSpPr>
          <p:spPr>
            <a:xfrm>
              <a:off x="3438701" y="962851"/>
              <a:ext cx="216000" cy="216000"/>
            </a:xfrm>
            <a:prstGeom prst="roundRect">
              <a:avLst>
                <a:gd name="adj" fmla="val 50000"/>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86" name="天蝎PPT原创©81-2"/>
            <p:cNvSpPr/>
            <p:nvPr/>
          </p:nvSpPr>
          <p:spPr>
            <a:xfrm>
              <a:off x="3474224" y="1001982"/>
              <a:ext cx="144000" cy="144000"/>
            </a:xfrm>
            <a:prstGeom prst="roundRect">
              <a:avLst>
                <a:gd name="adj" fmla="val 50000"/>
              </a:avLst>
            </a:prstGeom>
            <a:solidFill>
              <a:srgbClr val="0042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grpSp>
      <p:grpSp>
        <p:nvGrpSpPr>
          <p:cNvPr id="287" name="天蝎PPT原创©82"/>
          <p:cNvGrpSpPr/>
          <p:nvPr/>
        </p:nvGrpSpPr>
        <p:grpSpPr>
          <a:xfrm>
            <a:off x="5568650" y="962851"/>
            <a:ext cx="216000" cy="216000"/>
            <a:chOff x="3438701" y="962851"/>
            <a:chExt cx="216000" cy="216000"/>
          </a:xfrm>
        </p:grpSpPr>
        <p:sp>
          <p:nvSpPr>
            <p:cNvPr id="288" name="天蝎PPT原创©82-1"/>
            <p:cNvSpPr/>
            <p:nvPr/>
          </p:nvSpPr>
          <p:spPr>
            <a:xfrm>
              <a:off x="3438701" y="962851"/>
              <a:ext cx="216000" cy="216000"/>
            </a:xfrm>
            <a:prstGeom prst="roundRect">
              <a:avLst>
                <a:gd name="adj" fmla="val 50000"/>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89" name="天蝎PPT原创©82-2"/>
            <p:cNvSpPr/>
            <p:nvPr/>
          </p:nvSpPr>
          <p:spPr>
            <a:xfrm>
              <a:off x="3474224" y="1001982"/>
              <a:ext cx="144000" cy="144000"/>
            </a:xfrm>
            <a:prstGeom prst="roundRect">
              <a:avLst>
                <a:gd name="adj" fmla="val 50000"/>
              </a:avLst>
            </a:prstGeom>
            <a:solidFill>
              <a:srgbClr val="0042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grpSp>
      <p:grpSp>
        <p:nvGrpSpPr>
          <p:cNvPr id="290" name="天蝎PPT原创©83"/>
          <p:cNvGrpSpPr/>
          <p:nvPr/>
        </p:nvGrpSpPr>
        <p:grpSpPr>
          <a:xfrm>
            <a:off x="8181672" y="962851"/>
            <a:ext cx="216000" cy="216000"/>
            <a:chOff x="3438701" y="962851"/>
            <a:chExt cx="216000" cy="216000"/>
          </a:xfrm>
        </p:grpSpPr>
        <p:sp>
          <p:nvSpPr>
            <p:cNvPr id="291" name="天蝎PPT原创©83-1"/>
            <p:cNvSpPr/>
            <p:nvPr/>
          </p:nvSpPr>
          <p:spPr>
            <a:xfrm>
              <a:off x="3438701" y="962851"/>
              <a:ext cx="216000" cy="216000"/>
            </a:xfrm>
            <a:prstGeom prst="roundRect">
              <a:avLst>
                <a:gd name="adj" fmla="val 50000"/>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92" name="天蝎PPT原创©83-2"/>
            <p:cNvSpPr/>
            <p:nvPr/>
          </p:nvSpPr>
          <p:spPr>
            <a:xfrm>
              <a:off x="3474224" y="1001982"/>
              <a:ext cx="144000" cy="144000"/>
            </a:xfrm>
            <a:prstGeom prst="roundRect">
              <a:avLst>
                <a:gd name="adj" fmla="val 50000"/>
              </a:avLst>
            </a:prstGeom>
            <a:solidFill>
              <a:srgbClr val="0042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grpSp>
      <p:grpSp>
        <p:nvGrpSpPr>
          <p:cNvPr id="293" name="天蝎PPT原创©84"/>
          <p:cNvGrpSpPr/>
          <p:nvPr/>
        </p:nvGrpSpPr>
        <p:grpSpPr>
          <a:xfrm>
            <a:off x="10901737" y="962851"/>
            <a:ext cx="216000" cy="216000"/>
            <a:chOff x="3438701" y="962851"/>
            <a:chExt cx="216000" cy="216000"/>
          </a:xfrm>
        </p:grpSpPr>
        <p:sp>
          <p:nvSpPr>
            <p:cNvPr id="294" name="天蝎PPT原创©84-1"/>
            <p:cNvSpPr/>
            <p:nvPr/>
          </p:nvSpPr>
          <p:spPr>
            <a:xfrm>
              <a:off x="3438701" y="962851"/>
              <a:ext cx="216000" cy="216000"/>
            </a:xfrm>
            <a:prstGeom prst="roundRect">
              <a:avLst>
                <a:gd name="adj" fmla="val 50000"/>
              </a:avLst>
            </a:prstGeom>
            <a:solidFill>
              <a:srgbClr val="FFFF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sp>
          <p:nvSpPr>
            <p:cNvPr id="295" name="天蝎PPT原创©84-2"/>
            <p:cNvSpPr/>
            <p:nvPr/>
          </p:nvSpPr>
          <p:spPr>
            <a:xfrm>
              <a:off x="3474224" y="1001982"/>
              <a:ext cx="144000" cy="144000"/>
            </a:xfrm>
            <a:prstGeom prst="roundRect">
              <a:avLst>
                <a:gd name="adj" fmla="val 50000"/>
              </a:avLst>
            </a:prstGeom>
            <a:solidFill>
              <a:srgbClr val="0042FF"/>
            </a:solidFill>
            <a:ln>
              <a:solidFill>
                <a:srgbClr val="0042FF"/>
              </a:soli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kumimoji="1" lang="zh-CN" altLang="en-US">
                <a:solidFill>
                  <a:srgbClr val="FFFFFF"/>
                </a:solidFill>
                <a:latin typeface="微软雅黑"/>
                <a:ea typeface="微软雅黑"/>
                <a:cs typeface="微软雅黑"/>
                <a:sym typeface="微软雅黑"/>
              </a:endParaRPr>
            </a:p>
          </p:txBody>
        </p:sp>
      </p:grpSp>
      <p:sp>
        <p:nvSpPr>
          <p:cNvPr id="296" name="天蝎PPT原创©85"/>
          <p:cNvSpPr txBox="1"/>
          <p:nvPr/>
        </p:nvSpPr>
        <p:spPr>
          <a:xfrm>
            <a:off x="1804364" y="6056367"/>
            <a:ext cx="2752725"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b="1" dirty="0">
                <a:solidFill>
                  <a:srgbClr val="0042FF"/>
                </a:solidFill>
                <a:latin typeface="微软雅黑"/>
                <a:ea typeface="微软雅黑"/>
                <a:cs typeface="微软雅黑"/>
                <a:sym typeface="微软雅黑"/>
              </a:rPr>
              <a:t>搜    索</a:t>
            </a:r>
            <a:r>
              <a:rPr kumimoji="1" lang="zh-CN" sz="1000" b="1" dirty="0">
                <a:solidFill>
                  <a:srgbClr val="0042FF"/>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品牌词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&gt;70%</a:t>
            </a:r>
            <a:r>
              <a:rPr kumimoji="1" lang="zh-CN" altLang="en-GB"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核心品类词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&gt;40%</a:t>
            </a:r>
            <a:r>
              <a:rPr kumimoji="1" lang="zh-CN" altLang="en-GB" sz="1000" dirty="0">
                <a:solidFill>
                  <a:srgbClr val="383838"/>
                </a:solidFill>
                <a:latin typeface="微软雅黑"/>
                <a:ea typeface="微软雅黑"/>
                <a:cs typeface="微软雅黑"/>
                <a:sym typeface="微软雅黑"/>
              </a:rPr>
              <a:t>，</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场景词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&gt;30%</a:t>
            </a:r>
            <a:endParaRPr kumimoji="1" lang="en-GB" altLang="zh-CN" sz="1000" dirty="0">
              <a:solidFill>
                <a:srgbClr val="383838"/>
              </a:solidFill>
              <a:latin typeface="微软雅黑"/>
              <a:ea typeface="微软雅黑"/>
              <a:cs typeface="微软雅黑"/>
              <a:sym typeface="微软雅黑"/>
            </a:endParaRPr>
          </a:p>
        </p:txBody>
      </p:sp>
      <p:sp>
        <p:nvSpPr>
          <p:cNvPr id="297" name="天蝎PPT原创©86"/>
          <p:cNvSpPr txBox="1"/>
          <p:nvPr/>
        </p:nvSpPr>
        <p:spPr>
          <a:xfrm>
            <a:off x="5190295" y="5729977"/>
            <a:ext cx="2451100" cy="3136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b="1" dirty="0">
                <a:solidFill>
                  <a:srgbClr val="383838"/>
                </a:solidFill>
                <a:latin typeface="微软雅黑"/>
                <a:ea typeface="微软雅黑"/>
                <a:cs typeface="微软雅黑"/>
                <a:sym typeface="微软雅黑"/>
              </a:rPr>
              <a:t>信息流：</a:t>
            </a:r>
            <a:r>
              <a:rPr kumimoji="1" lang="zh-CN" altLang="en-US" sz="1000" dirty="0">
                <a:solidFill>
                  <a:srgbClr val="383838"/>
                </a:solidFill>
                <a:latin typeface="微软雅黑"/>
                <a:ea typeface="微软雅黑"/>
                <a:cs typeface="微软雅黑"/>
                <a:sym typeface="微软雅黑"/>
              </a:rPr>
              <a:t>品类下热门单品</a:t>
            </a:r>
            <a:r>
              <a:rPr kumimoji="1" lang="en-GB" altLang="zh-CN" sz="1000" dirty="0">
                <a:solidFill>
                  <a:srgbClr val="383838"/>
                </a:solidFill>
                <a:latin typeface="微软雅黑"/>
                <a:ea typeface="微软雅黑"/>
                <a:cs typeface="微软雅黑"/>
                <a:sym typeface="微软雅黑"/>
              </a:rPr>
              <a:t>SPU/Nickname</a:t>
            </a:r>
            <a:r>
              <a:rPr kumimoji="1" lang="zh-CN" altLang="en-US" sz="1000" dirty="0">
                <a:solidFill>
                  <a:srgbClr val="383838"/>
                </a:solidFill>
                <a:latin typeface="微软雅黑"/>
                <a:ea typeface="微软雅黑"/>
                <a:cs typeface="微软雅黑"/>
                <a:sym typeface="微软雅黑"/>
              </a:rPr>
              <a:t>露出</a:t>
            </a:r>
            <a:endParaRPr kumimoji="1" lang="zh-CN" altLang="en-US" sz="1000" dirty="0">
              <a:solidFill>
                <a:srgbClr val="383838"/>
              </a:solidFill>
              <a:latin typeface="微软雅黑"/>
              <a:ea typeface="微软雅黑"/>
              <a:cs typeface="微软雅黑"/>
              <a:sym typeface="微软雅黑"/>
            </a:endParaRPr>
          </a:p>
        </p:txBody>
      </p:sp>
      <p:sp>
        <p:nvSpPr>
          <p:cNvPr id="298" name="天蝎PPT原创©87"/>
          <p:cNvSpPr txBox="1"/>
          <p:nvPr/>
        </p:nvSpPr>
        <p:spPr>
          <a:xfrm>
            <a:off x="5190295" y="6056367"/>
            <a:ext cx="2560955"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b="1" dirty="0">
                <a:solidFill>
                  <a:srgbClr val="383838"/>
                </a:solidFill>
                <a:latin typeface="微软雅黑"/>
                <a:ea typeface="微软雅黑"/>
                <a:cs typeface="微软雅黑"/>
                <a:sym typeface="微软雅黑"/>
              </a:rPr>
              <a:t>搜    索：</a:t>
            </a:r>
            <a:r>
              <a:rPr kumimoji="1" lang="zh-CN" altLang="en-US" sz="1000" dirty="0">
                <a:solidFill>
                  <a:srgbClr val="383838"/>
                </a:solidFill>
                <a:latin typeface="微软雅黑"/>
                <a:ea typeface="微软雅黑"/>
                <a:cs typeface="微软雅黑"/>
                <a:sym typeface="微软雅黑"/>
              </a:rPr>
              <a:t>品牌词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&gt;90%</a:t>
            </a:r>
            <a:r>
              <a:rPr kumimoji="1" lang="zh-CN" altLang="en-GB"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核心品类词</a:t>
            </a:r>
            <a:r>
              <a:rPr kumimoji="1" lang="en-US" altLang="zh-CN" sz="1000" dirty="0">
                <a:solidFill>
                  <a:srgbClr val="383838"/>
                </a:solidFill>
                <a:latin typeface="微软雅黑"/>
                <a:ea typeface="微软雅黑"/>
                <a:cs typeface="微软雅黑"/>
                <a:sym typeface="微软雅黑"/>
              </a:rPr>
              <a:t>&gt;40%</a:t>
            </a:r>
            <a:r>
              <a:rPr kumimoji="1" lang="zh-CN" altLang="en-US" sz="1000" dirty="0">
                <a:solidFill>
                  <a:srgbClr val="383838"/>
                </a:solidFill>
                <a:latin typeface="微软雅黑"/>
                <a:ea typeface="微软雅黑"/>
                <a:cs typeface="微软雅黑"/>
                <a:sym typeface="微软雅黑"/>
              </a:rPr>
              <a:t>，</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同类词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&gt;30%</a:t>
            </a:r>
            <a:endParaRPr kumimoji="1" lang="en-GB" altLang="zh-CN" sz="1000" dirty="0">
              <a:solidFill>
                <a:srgbClr val="383838"/>
              </a:solidFill>
              <a:latin typeface="微软雅黑"/>
              <a:ea typeface="微软雅黑"/>
              <a:cs typeface="微软雅黑"/>
              <a:sym typeface="微软雅黑"/>
            </a:endParaRPr>
          </a:p>
        </p:txBody>
      </p:sp>
      <p:sp>
        <p:nvSpPr>
          <p:cNvPr id="299" name="天蝎PPT原创©88"/>
          <p:cNvSpPr txBox="1"/>
          <p:nvPr/>
        </p:nvSpPr>
        <p:spPr>
          <a:xfrm>
            <a:off x="8582852" y="5729977"/>
            <a:ext cx="2128520" cy="3136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b="1" dirty="0">
                <a:solidFill>
                  <a:srgbClr val="0042FF"/>
                </a:solidFill>
                <a:latin typeface="微软雅黑"/>
                <a:ea typeface="微软雅黑"/>
                <a:cs typeface="微软雅黑"/>
                <a:sym typeface="微软雅黑"/>
              </a:rPr>
              <a:t>信息流：</a:t>
            </a:r>
            <a:r>
              <a:rPr kumimoji="1" lang="zh-CN" altLang="en-US" sz="1000" dirty="0">
                <a:solidFill>
                  <a:srgbClr val="383838"/>
                </a:solidFill>
                <a:latin typeface="微软雅黑"/>
                <a:ea typeface="微软雅黑"/>
                <a:cs typeface="微软雅黑"/>
                <a:sym typeface="微软雅黑"/>
              </a:rPr>
              <a:t>内容渗透率增速高于大盘均值</a:t>
            </a:r>
            <a:endParaRPr kumimoji="1" lang="zh-CN" altLang="en-US" sz="1000" dirty="0">
              <a:solidFill>
                <a:srgbClr val="383838"/>
              </a:solidFill>
              <a:latin typeface="微软雅黑"/>
              <a:ea typeface="微软雅黑"/>
              <a:cs typeface="微软雅黑"/>
              <a:sym typeface="微软雅黑"/>
            </a:endParaRPr>
          </a:p>
        </p:txBody>
      </p:sp>
      <p:sp>
        <p:nvSpPr>
          <p:cNvPr id="300" name="天蝎PPT原创©89"/>
          <p:cNvSpPr txBox="1"/>
          <p:nvPr/>
        </p:nvSpPr>
        <p:spPr>
          <a:xfrm>
            <a:off x="8582852" y="6056367"/>
            <a:ext cx="2734945" cy="47879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kumimoji="1" lang="zh-CN" altLang="en-US" sz="1000" b="1" dirty="0">
                <a:solidFill>
                  <a:srgbClr val="0042FF"/>
                </a:solidFill>
                <a:latin typeface="微软雅黑"/>
                <a:ea typeface="微软雅黑"/>
                <a:cs typeface="微软雅黑"/>
                <a:sym typeface="微软雅黑"/>
              </a:rPr>
              <a:t>搜    索</a:t>
            </a:r>
            <a:r>
              <a:rPr kumimoji="1" lang="zh-CN" sz="1000" b="1" dirty="0">
                <a:solidFill>
                  <a:srgbClr val="0042FF"/>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品牌词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a:t>
            </a:r>
            <a:r>
              <a:rPr kumimoji="1" lang="en-US" altLang="zh-CN" sz="1000" dirty="0">
                <a:solidFill>
                  <a:srgbClr val="383838"/>
                </a:solidFill>
                <a:latin typeface="微软雅黑"/>
                <a:ea typeface="微软雅黑"/>
                <a:cs typeface="微软雅黑"/>
                <a:sym typeface="微软雅黑"/>
              </a:rPr>
              <a:t>9</a:t>
            </a:r>
            <a:r>
              <a:rPr kumimoji="1" lang="en-GB" altLang="zh-CN" sz="1000" dirty="0">
                <a:solidFill>
                  <a:srgbClr val="383838"/>
                </a:solidFill>
                <a:latin typeface="微软雅黑"/>
                <a:ea typeface="微软雅黑"/>
                <a:cs typeface="微软雅黑"/>
                <a:sym typeface="微软雅黑"/>
              </a:rPr>
              <a:t>0%</a:t>
            </a:r>
            <a:r>
              <a:rPr kumimoji="1" lang="zh-CN" altLang="en-GB" sz="1000" dirty="0">
                <a:solidFill>
                  <a:srgbClr val="383838"/>
                </a:solidFill>
                <a:latin typeface="微软雅黑"/>
                <a:ea typeface="微软雅黑"/>
                <a:cs typeface="微软雅黑"/>
                <a:sym typeface="微软雅黑"/>
              </a:rPr>
              <a:t>，</a:t>
            </a:r>
            <a:r>
              <a:rPr kumimoji="1" lang="zh-CN" altLang="en-US" sz="1000" dirty="0">
                <a:solidFill>
                  <a:srgbClr val="383838"/>
                </a:solidFill>
                <a:latin typeface="微软雅黑"/>
                <a:ea typeface="微软雅黑"/>
                <a:cs typeface="微软雅黑"/>
                <a:sym typeface="微软雅黑"/>
              </a:rPr>
              <a:t>核心品类词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a:t>
            </a:r>
            <a:r>
              <a:rPr kumimoji="1" lang="en-US" altLang="zh-CN" sz="1000" dirty="0">
                <a:solidFill>
                  <a:srgbClr val="383838"/>
                </a:solidFill>
                <a:latin typeface="微软雅黑"/>
                <a:ea typeface="微软雅黑"/>
                <a:cs typeface="微软雅黑"/>
                <a:sym typeface="微软雅黑"/>
              </a:rPr>
              <a:t>6</a:t>
            </a:r>
            <a:r>
              <a:rPr kumimoji="1" lang="en-GB" altLang="zh-CN" sz="1000" dirty="0">
                <a:solidFill>
                  <a:srgbClr val="383838"/>
                </a:solidFill>
                <a:latin typeface="微软雅黑"/>
                <a:ea typeface="微软雅黑"/>
                <a:cs typeface="微软雅黑"/>
                <a:sym typeface="微软雅黑"/>
              </a:rPr>
              <a:t>0%</a:t>
            </a:r>
            <a:r>
              <a:rPr kumimoji="1" lang="zh-CN" altLang="en-GB" sz="1000" dirty="0">
                <a:solidFill>
                  <a:srgbClr val="383838"/>
                </a:solidFill>
                <a:latin typeface="微软雅黑"/>
                <a:ea typeface="微软雅黑"/>
                <a:cs typeface="微软雅黑"/>
                <a:sym typeface="微软雅黑"/>
              </a:rPr>
              <a:t>，</a:t>
            </a:r>
            <a:endParaRPr kumimoji="1" lang="en-US" altLang="zh-CN" sz="1000" dirty="0">
              <a:solidFill>
                <a:srgbClr val="383838"/>
              </a:solidFill>
              <a:latin typeface="微软雅黑"/>
              <a:ea typeface="微软雅黑"/>
              <a:cs typeface="微软雅黑"/>
              <a:sym typeface="微软雅黑"/>
            </a:endParaRPr>
          </a:p>
          <a:p>
            <a:pPr>
              <a:lnSpc>
                <a:spcPts val="1120"/>
              </a:lnSpc>
              <a:defRPr>
                <a:latin typeface="微软雅黑"/>
                <a:ea typeface="微软雅黑"/>
                <a:cs typeface="微软雅黑"/>
              </a:defRPr>
              <a:spcBef>
                <a:spcPts val="0"/>
              </a:spcBef>
              <a:spcAft>
                <a:spcPts val="0"/>
              </a:spcAft>
            </a:pPr>
            <a:r>
              <a:rPr kumimoji="1" lang="zh-CN" altLang="en-US" sz="1000" dirty="0">
                <a:solidFill>
                  <a:srgbClr val="383838"/>
                </a:solidFill>
                <a:latin typeface="微软雅黑"/>
                <a:ea typeface="微软雅黑"/>
                <a:cs typeface="微软雅黑"/>
                <a:sym typeface="微软雅黑"/>
              </a:rPr>
              <a:t>场景词</a:t>
            </a:r>
            <a:r>
              <a:rPr kumimoji="1" lang="en-GB" altLang="zh-CN" sz="1000" dirty="0" err="1">
                <a:solidFill>
                  <a:srgbClr val="383838"/>
                </a:solidFill>
                <a:latin typeface="微软雅黑"/>
                <a:ea typeface="微软雅黑"/>
                <a:cs typeface="微软雅黑"/>
                <a:sym typeface="微软雅黑"/>
              </a:rPr>
              <a:t>sov</a:t>
            </a:r>
            <a:r>
              <a:rPr kumimoji="1" lang="en-GB" altLang="zh-CN" sz="1000" dirty="0">
                <a:solidFill>
                  <a:srgbClr val="383838"/>
                </a:solidFill>
                <a:latin typeface="微软雅黑"/>
                <a:ea typeface="微软雅黑"/>
                <a:cs typeface="微软雅黑"/>
                <a:sym typeface="微软雅黑"/>
              </a:rPr>
              <a:t>&gt;</a:t>
            </a:r>
            <a:r>
              <a:rPr kumimoji="1" lang="en-US" altLang="zh-CN" sz="1000" dirty="0">
                <a:solidFill>
                  <a:srgbClr val="383838"/>
                </a:solidFill>
                <a:latin typeface="微软雅黑"/>
                <a:ea typeface="微软雅黑"/>
                <a:cs typeface="微软雅黑"/>
                <a:sym typeface="微软雅黑"/>
              </a:rPr>
              <a:t>5</a:t>
            </a:r>
            <a:r>
              <a:rPr kumimoji="1" lang="en-GB" altLang="zh-CN" sz="1000" dirty="0">
                <a:solidFill>
                  <a:srgbClr val="383838"/>
                </a:solidFill>
                <a:latin typeface="微软雅黑"/>
                <a:ea typeface="微软雅黑"/>
                <a:cs typeface="微软雅黑"/>
                <a:sym typeface="微软雅黑"/>
              </a:rPr>
              <a:t>0%</a:t>
            </a:r>
            <a:endParaRPr kumimoji="1" lang="en-GB" altLang="zh-CN" sz="1000" dirty="0">
              <a:solidFill>
                <a:srgbClr val="383838"/>
              </a:solidFill>
              <a:latin typeface="微软雅黑"/>
              <a:ea typeface="微软雅黑"/>
              <a:cs typeface="微软雅黑"/>
              <a:sym typeface="微软雅黑"/>
            </a:endParaRPr>
          </a:p>
        </p:txBody>
      </p:sp>
      <p:sp>
        <p:nvSpPr>
          <p:cNvPr id="301" name="天蝎PPT原创©90"/>
          <p:cNvSpPr txBox="1"/>
          <p:nvPr/>
        </p:nvSpPr>
        <p:spPr>
          <a:xfrm>
            <a:off x="1698562" y="2549793"/>
            <a:ext cx="338554" cy="477054"/>
          </a:xfrm>
          <a:prstGeom prst="rect">
            <a:avLst/>
          </a:prstGeom>
          <a:noFill/>
          <a:extLst>
            <a:ext uri="{909E8E84-426E-40DD-AFC4-6F175D3DCCD1}">
              <a14:hiddenFill xmlns:a14="http://schemas.microsoft.com/office/drawing/2010/main">
                <a:solidFill>
                  <a:srgbClr val="0042FF"/>
                </a:solidFill>
              </a14:hiddenFill>
            </a:ext>
          </a:extLst>
        </p:spPr>
        <p:txBody>
          <a:bodyPr vert="eaVert" wrap="none" rtlCol="0" lIns="0" rIns="0" tIns="0" bIns="0">
            <a:spAutoFit/>
          </a:bodyPr>
          <a:lstStyle/>
          <a:p>
            <a:pPr>
              <a:defRPr>
                <a:solidFill>
                  <a:srgbClr val="FFFFFF"/>
                </a:solidFill>
                <a:latin typeface="微软雅黑"/>
                <a:ea typeface="微软雅黑"/>
                <a:cs typeface="微软雅黑"/>
              </a:defRPr>
            </a:pPr>
            <a:r>
              <a:rPr kumimoji="1" lang="zh-CN" altLang="en-US" sz="1000" dirty="0">
                <a:solidFill>
                  <a:srgbClr val="FFFFFF"/>
                </a:solidFill>
                <a:latin typeface="微软雅黑"/>
                <a:ea typeface="微软雅黑"/>
                <a:cs typeface="微软雅黑"/>
                <a:sym typeface="微软雅黑"/>
              </a:rPr>
              <a:t>信息流</a:t>
            </a:r>
            <a:endParaRPr kumimoji="1" lang="zh-CN" altLang="en-US" sz="1000" dirty="0">
              <a:solidFill>
                <a:srgbClr val="FFFFFF"/>
              </a:solidFill>
              <a:latin typeface="微软雅黑"/>
              <a:ea typeface="微软雅黑"/>
              <a:cs typeface="微软雅黑"/>
              <a:sym typeface="微软雅黑"/>
            </a:endParaRPr>
          </a:p>
        </p:txBody>
      </p:sp>
      <p:sp>
        <p:nvSpPr>
          <p:cNvPr id="302" name="天蝎PPT原创©91"/>
          <p:cNvSpPr txBox="1"/>
          <p:nvPr/>
        </p:nvSpPr>
        <p:spPr>
          <a:xfrm>
            <a:off x="1692212" y="3192545"/>
            <a:ext cx="338554" cy="348813"/>
          </a:xfrm>
          <a:prstGeom prst="rect">
            <a:avLst/>
          </a:prstGeom>
          <a:noFill/>
        </p:spPr>
        <p:txBody>
          <a:bodyPr vert="eaVert" wrap="none" rtlCol="0" lIns="0" rIns="0" tIns="0" bIns="0">
            <a:spAutoFit/>
          </a:bodyPr>
          <a:lstStyle/>
          <a:p>
            <a:pPr>
              <a:defRPr>
                <a:solidFill>
                  <a:srgbClr val="FFFFFF"/>
                </a:solidFill>
                <a:latin typeface="微软雅黑"/>
                <a:ea typeface="微软雅黑"/>
                <a:cs typeface="微软雅黑"/>
              </a:defRPr>
            </a:pPr>
            <a:r>
              <a:rPr kumimoji="1" lang="zh-CN" altLang="en-US" sz="1000" dirty="0">
                <a:solidFill>
                  <a:srgbClr val="FFFFFF"/>
                </a:solidFill>
                <a:latin typeface="微软雅黑"/>
                <a:ea typeface="微软雅黑"/>
                <a:cs typeface="微软雅黑"/>
                <a:sym typeface="微软雅黑"/>
              </a:rPr>
              <a:t>搜索</a:t>
            </a:r>
            <a:endParaRPr kumimoji="1" lang="zh-CN" altLang="en-US" sz="1000" dirty="0">
              <a:solidFill>
                <a:srgbClr val="FFFFFF"/>
              </a:solidFill>
              <a:latin typeface="微软雅黑"/>
              <a:ea typeface="微软雅黑"/>
              <a:cs typeface="微软雅黑"/>
              <a:sym typeface="微软雅黑"/>
            </a:endParaRPr>
          </a:p>
        </p:txBody>
      </p:sp>
      <p:sp>
        <p:nvSpPr>
          <p:cNvPr id="304" name="天蝎PPT原创©93"/>
          <p:cNvSpPr txBox="1"/>
          <p:nvPr/>
        </p:nvSpPr>
        <p:spPr>
          <a:xfrm>
            <a:off x="5087620" y="3211195"/>
            <a:ext cx="333375" cy="348615"/>
          </a:xfrm>
          <a:prstGeom prst="rect">
            <a:avLst/>
          </a:prstGeom>
          <a:noFill/>
        </p:spPr>
        <p:txBody>
          <a:bodyPr vert="eaVert" wrap="none" rtlCol="0" lIns="0" rIns="0" tIns="0" bIns="0">
            <a:noAutofit/>
          </a:bodyPr>
          <a:lstStyle/>
          <a:p>
            <a:pPr>
              <a:defRPr>
                <a:solidFill>
                  <a:srgbClr val="FFFFFF"/>
                </a:solidFill>
                <a:latin typeface="微软雅黑"/>
                <a:ea typeface="微软雅黑"/>
                <a:cs typeface="微软雅黑"/>
              </a:defRPr>
            </a:pPr>
            <a:r>
              <a:rPr kumimoji="1" lang="zh-CN" altLang="en-US" sz="1000" dirty="0">
                <a:solidFill>
                  <a:srgbClr val="FFFFFF"/>
                </a:solidFill>
                <a:latin typeface="微软雅黑"/>
                <a:ea typeface="微软雅黑"/>
                <a:cs typeface="微软雅黑"/>
                <a:sym typeface="微软雅黑"/>
              </a:rPr>
              <a:t>搜索</a:t>
            </a:r>
            <a:endParaRPr kumimoji="1" lang="zh-CN" altLang="en-US" sz="1000" dirty="0">
              <a:solidFill>
                <a:srgbClr val="FFFFFF"/>
              </a:solidFill>
              <a:latin typeface="微软雅黑"/>
              <a:ea typeface="微软雅黑"/>
              <a:cs typeface="微软雅黑"/>
              <a:sym typeface="微软雅黑"/>
            </a:endParaRPr>
          </a:p>
        </p:txBody>
      </p:sp>
      <p:sp>
        <p:nvSpPr>
          <p:cNvPr id="305" name="天蝎PPT原创©94"/>
          <p:cNvSpPr txBox="1"/>
          <p:nvPr/>
        </p:nvSpPr>
        <p:spPr>
          <a:xfrm>
            <a:off x="8451838" y="2531378"/>
            <a:ext cx="338554" cy="477054"/>
          </a:xfrm>
          <a:prstGeom prst="rect">
            <a:avLst/>
          </a:prstGeom>
          <a:noFill/>
        </p:spPr>
        <p:txBody>
          <a:bodyPr vert="eaVert" wrap="none" rtlCol="0" lIns="0" rIns="0" tIns="0" bIns="0">
            <a:spAutoFit/>
          </a:bodyPr>
          <a:lstStyle/>
          <a:p>
            <a:pPr>
              <a:defRPr>
                <a:solidFill>
                  <a:srgbClr val="FFFFFF"/>
                </a:solidFill>
                <a:latin typeface="微软雅黑"/>
                <a:ea typeface="微软雅黑"/>
                <a:cs typeface="微软雅黑"/>
              </a:defRPr>
            </a:pPr>
            <a:r>
              <a:rPr kumimoji="1" lang="zh-CN" altLang="en-US" sz="1000" dirty="0">
                <a:solidFill>
                  <a:srgbClr val="FFFFFF"/>
                </a:solidFill>
                <a:latin typeface="微软雅黑"/>
                <a:ea typeface="微软雅黑"/>
                <a:cs typeface="微软雅黑"/>
                <a:sym typeface="微软雅黑"/>
              </a:rPr>
              <a:t>信息流</a:t>
            </a:r>
            <a:endParaRPr kumimoji="1" lang="zh-CN" altLang="en-US" sz="1000" dirty="0">
              <a:solidFill>
                <a:srgbClr val="FFFFFF"/>
              </a:solidFill>
              <a:latin typeface="微软雅黑"/>
              <a:ea typeface="微软雅黑"/>
              <a:cs typeface="微软雅黑"/>
              <a:sym typeface="微软雅黑"/>
            </a:endParaRPr>
          </a:p>
        </p:txBody>
      </p:sp>
      <p:sp>
        <p:nvSpPr>
          <p:cNvPr id="306" name="天蝎PPT原创©95"/>
          <p:cNvSpPr txBox="1"/>
          <p:nvPr/>
        </p:nvSpPr>
        <p:spPr>
          <a:xfrm>
            <a:off x="8451838" y="3192545"/>
            <a:ext cx="338554" cy="348813"/>
          </a:xfrm>
          <a:prstGeom prst="rect">
            <a:avLst/>
          </a:prstGeom>
          <a:noFill/>
        </p:spPr>
        <p:txBody>
          <a:bodyPr vert="eaVert" wrap="none" rtlCol="0" lIns="0" rIns="0" tIns="0" bIns="0">
            <a:spAutoFit/>
          </a:bodyPr>
          <a:lstStyle/>
          <a:p>
            <a:pPr>
              <a:defRPr>
                <a:solidFill>
                  <a:srgbClr val="FFFFFF"/>
                </a:solidFill>
                <a:latin typeface="微软雅黑"/>
                <a:ea typeface="微软雅黑"/>
                <a:cs typeface="微软雅黑"/>
              </a:defRPr>
            </a:pPr>
            <a:r>
              <a:rPr kumimoji="1" lang="zh-CN" altLang="en-US" sz="1000" dirty="0">
                <a:solidFill>
                  <a:srgbClr val="FFFFFF"/>
                </a:solidFill>
                <a:latin typeface="微软雅黑"/>
                <a:ea typeface="微软雅黑"/>
                <a:cs typeface="微软雅黑"/>
                <a:sym typeface="微软雅黑"/>
              </a:rPr>
              <a:t>搜索</a:t>
            </a:r>
            <a:endParaRPr kumimoji="1" lang="zh-CN" altLang="en-US" sz="1000" dirty="0">
              <a:solidFill>
                <a:srgbClr val="FFFFFF"/>
              </a:solidFill>
              <a:latin typeface="微软雅黑"/>
              <a:ea typeface="微软雅黑"/>
              <a:cs typeface="微软雅黑"/>
              <a:sym typeface="微软雅黑"/>
            </a:endParaRPr>
          </a:p>
        </p:txBody>
      </p:sp>
      <p:sp>
        <p:nvSpPr>
          <p:cNvPr id="2" name="天蝎PPT原创©92"/>
          <p:cNvSpPr txBox="1"/>
          <p:nvPr/>
        </p:nvSpPr>
        <p:spPr>
          <a:xfrm>
            <a:off x="5087620" y="2549525"/>
            <a:ext cx="333375" cy="476885"/>
          </a:xfrm>
          <a:prstGeom prst="rect">
            <a:avLst/>
          </a:prstGeom>
          <a:noFill/>
          <a:extLst>
            <a:ext uri="{909E8E84-426E-40DD-AFC4-6F175D3DCCD1}">
              <a14:hiddenFill xmlns:a14="http://schemas.microsoft.com/office/drawing/2010/main">
                <a:solidFill>
                  <a:srgbClr val="3368FF"/>
                </a:solidFill>
              </a14:hiddenFill>
            </a:ext>
          </a:extLst>
        </p:spPr>
        <p:txBody>
          <a:bodyPr vert="eaVert" wrap="none" rtlCol="0" lIns="0" rIns="0" tIns="0" bIns="0">
            <a:noAutofit/>
          </a:bodyPr>
          <a:lstStyle/>
          <a:p>
            <a:pPr>
              <a:defRPr>
                <a:solidFill>
                  <a:srgbClr val="FFFFFF"/>
                </a:solidFill>
                <a:latin typeface="微软雅黑"/>
                <a:ea typeface="微软雅黑"/>
                <a:cs typeface="微软雅黑"/>
              </a:defRPr>
            </a:pPr>
            <a:r>
              <a:rPr kumimoji="1" lang="zh-CN" altLang="en-US" sz="1000" dirty="0">
                <a:solidFill>
                  <a:srgbClr val="FFFFFF"/>
                </a:solidFill>
                <a:latin typeface="微软雅黑"/>
                <a:ea typeface="微软雅黑"/>
                <a:cs typeface="微软雅黑"/>
                <a:sym typeface="微软雅黑"/>
              </a:rPr>
              <a:t>信息流</a:t>
            </a:r>
            <a:endParaRPr kumimoji="1" lang="zh-CN" altLang="en-US" sz="1000" dirty="0">
              <a:solidFill>
                <a:srgbClr val="FFFFFF"/>
              </a:solidFill>
              <a:latin typeface="微软雅黑"/>
              <a:ea typeface="微软雅黑"/>
              <a:cs typeface="微软雅黑"/>
              <a:sym typeface="微软雅黑"/>
            </a:endParaRPr>
          </a:p>
        </p:txBody>
      </p:sp>
      <p:sp>
        <p:nvSpPr>
          <p:cNvPr id="8" name="天蝎PPT原创©13"/>
          <p:cNvSpPr txBox="1"/>
          <p:nvPr/>
        </p:nvSpPr>
        <p:spPr>
          <a:xfrm>
            <a:off x="594292" y="3045594"/>
            <a:ext cx="942043" cy="460375"/>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竞价</a:t>
            </a:r>
            <a:endParaRPr kumimoji="1" lang="en-US" altLang="zh-CN" sz="1200" b="1"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策略</a:t>
            </a:r>
            <a:endParaRPr kumimoji="1" lang="zh-CN" altLang="en-US" sz="1200" b="1" dirty="0">
              <a:solidFill>
                <a:srgbClr val="0042FF"/>
              </a:solidFill>
              <a:latin typeface="微软雅黑"/>
              <a:ea typeface="微软雅黑"/>
              <a:cs typeface="微软雅黑"/>
              <a:sym typeface="微软雅黑"/>
            </a:endParaRPr>
          </a:p>
        </p:txBody>
      </p:sp>
      <p:sp>
        <p:nvSpPr>
          <p:cNvPr id="9" name="天蝎PPT原创©17"/>
          <p:cNvSpPr txBox="1"/>
          <p:nvPr/>
        </p:nvSpPr>
        <p:spPr>
          <a:xfrm>
            <a:off x="594292" y="5891189"/>
            <a:ext cx="942043" cy="460375"/>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指标</a:t>
            </a:r>
            <a:endParaRPr kumimoji="1" lang="en-US" altLang="zh-CN" sz="1200" b="1"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考核</a:t>
            </a:r>
            <a:endParaRPr kumimoji="1" lang="zh-CN" altLang="en-US" sz="1200" b="1" dirty="0">
              <a:solidFill>
                <a:srgbClr val="0042FF"/>
              </a:solidFill>
              <a:latin typeface="微软雅黑"/>
              <a:ea typeface="微软雅黑"/>
              <a:cs typeface="微软雅黑"/>
              <a:sym typeface="微软雅黑"/>
            </a:endParaRPr>
          </a:p>
        </p:txBody>
      </p:sp>
      <p:sp>
        <p:nvSpPr>
          <p:cNvPr id="11" name="天蝎PPT原创©11"/>
          <p:cNvSpPr txBox="1"/>
          <p:nvPr/>
        </p:nvSpPr>
        <p:spPr>
          <a:xfrm>
            <a:off x="594292" y="2044377"/>
            <a:ext cx="942043" cy="275590"/>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目标</a:t>
            </a:r>
            <a:endParaRPr kumimoji="1" lang="zh-CN" altLang="en-US" sz="1200" b="1" dirty="0">
              <a:solidFill>
                <a:srgbClr val="0042FF"/>
              </a:solidFill>
              <a:latin typeface="微软雅黑"/>
              <a:ea typeface="微软雅黑"/>
              <a:cs typeface="微软雅黑"/>
              <a:sym typeface="微软雅黑"/>
            </a:endParaRPr>
          </a:p>
        </p:txBody>
      </p:sp>
      <p:sp>
        <p:nvSpPr>
          <p:cNvPr id="12" name="天蝎PPT原创©42"/>
          <p:cNvSpPr txBox="1"/>
          <p:nvPr/>
        </p:nvSpPr>
        <p:spPr>
          <a:xfrm>
            <a:off x="594292" y="1215609"/>
            <a:ext cx="942043" cy="460375"/>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传播</a:t>
            </a:r>
            <a:endParaRPr kumimoji="1" lang="en-US" altLang="zh-CN" sz="1200" b="1"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节点</a:t>
            </a:r>
            <a:endParaRPr kumimoji="1" lang="zh-CN" altLang="en-US" sz="1200" b="1" dirty="0">
              <a:solidFill>
                <a:srgbClr val="0042FF"/>
              </a:solidFill>
              <a:latin typeface="微软雅黑"/>
              <a:ea typeface="微软雅黑"/>
              <a:cs typeface="微软雅黑"/>
              <a:sym typeface="微软雅黑"/>
            </a:endParaRPr>
          </a:p>
        </p:txBody>
      </p:sp>
      <p:sp>
        <p:nvSpPr>
          <p:cNvPr id="13" name="天蝎PPT原创©75"/>
          <p:cNvSpPr txBox="1"/>
          <p:nvPr/>
        </p:nvSpPr>
        <p:spPr>
          <a:xfrm>
            <a:off x="594292" y="4198626"/>
            <a:ext cx="942043" cy="460375"/>
          </a:xfrm>
          <a:prstGeom prst="rect">
            <a:avLst/>
          </a:prstGeom>
          <a:noFill/>
        </p:spPr>
        <p:txBody>
          <a:bodyPr wrap="square" rtlCol="0">
            <a:spAutoFit/>
          </a:bodyPr>
          <a:lstStyle/>
          <a:p>
            <a:pPr algn="ctr">
              <a:defRPr>
                <a:latin typeface="微软雅黑"/>
                <a:ea typeface="微软雅黑"/>
                <a:cs typeface="微软雅黑"/>
              </a:defRPr>
            </a:pPr>
            <a:r>
              <a:rPr kumimoji="1" lang="en-US" altLang="zh-CN" sz="1200" b="1" dirty="0">
                <a:solidFill>
                  <a:srgbClr val="0042FF"/>
                </a:solidFill>
                <a:latin typeface="微软雅黑"/>
                <a:ea typeface="微软雅黑"/>
                <a:cs typeface="微软雅黑"/>
                <a:sym typeface="微软雅黑"/>
              </a:rPr>
              <a:t>KOL/</a:t>
            </a:r>
            <a:r>
              <a:rPr kumimoji="1" lang="zh-CN" altLang="en-US" sz="1200" b="1" dirty="0">
                <a:solidFill>
                  <a:srgbClr val="0042FF"/>
                </a:solidFill>
                <a:latin typeface="微软雅黑"/>
                <a:ea typeface="微软雅黑"/>
                <a:cs typeface="微软雅黑"/>
                <a:sym typeface="微软雅黑"/>
              </a:rPr>
              <a:t>内容策略</a:t>
            </a:r>
            <a:endParaRPr kumimoji="1" lang="zh-CN" altLang="en-US" sz="1200" b="1" dirty="0">
              <a:solidFill>
                <a:srgbClr val="0042FF"/>
              </a:solidFill>
              <a:latin typeface="微软雅黑"/>
              <a:ea typeface="微软雅黑"/>
              <a:cs typeface="微软雅黑"/>
              <a:sym typeface="微软雅黑"/>
            </a:endParaRPr>
          </a:p>
        </p:txBody>
      </p:sp>
      <p:sp>
        <p:nvSpPr>
          <p:cNvPr id="14" name="天蝎PPT原创©76"/>
          <p:cNvSpPr txBox="1"/>
          <p:nvPr/>
        </p:nvSpPr>
        <p:spPr>
          <a:xfrm>
            <a:off x="594292" y="4981113"/>
            <a:ext cx="942043" cy="460375"/>
          </a:xfrm>
          <a:prstGeom prst="rect">
            <a:avLst/>
          </a:prstGeom>
          <a:noFill/>
        </p:spPr>
        <p:txBody>
          <a:bodyPr wrap="square" rtlCol="0">
            <a:spAutoFit/>
          </a:bodyPr>
          <a:lstStyle/>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预算布局</a:t>
            </a:r>
            <a:endParaRPr kumimoji="1" lang="en-US" altLang="zh-CN" sz="1200" b="1" dirty="0">
              <a:solidFill>
                <a:srgbClr val="0042FF"/>
              </a:solidFill>
              <a:latin typeface="微软雅黑"/>
              <a:ea typeface="微软雅黑"/>
              <a:cs typeface="微软雅黑"/>
              <a:sym typeface="微软雅黑"/>
            </a:endParaRPr>
          </a:p>
          <a:p>
            <a:pPr algn="ctr">
              <a:defRPr>
                <a:latin typeface="微软雅黑"/>
                <a:ea typeface="微软雅黑"/>
                <a:cs typeface="微软雅黑"/>
              </a:defRPr>
            </a:pPr>
            <a:r>
              <a:rPr kumimoji="1" lang="zh-CN" altLang="en-US" sz="1200" b="1" dirty="0">
                <a:solidFill>
                  <a:srgbClr val="0042FF"/>
                </a:solidFill>
                <a:latin typeface="微软雅黑"/>
                <a:ea typeface="微软雅黑"/>
                <a:cs typeface="微软雅黑"/>
                <a:sym typeface="微软雅黑"/>
              </a:rPr>
              <a:t>出价建议</a:t>
            </a:r>
            <a:endParaRPr kumimoji="1" lang="zh-CN" altLang="en-US" sz="1200" b="1" dirty="0">
              <a:solidFill>
                <a:srgbClr val="0042FF"/>
              </a:solidFill>
              <a:latin typeface="微软雅黑"/>
              <a:ea typeface="微软雅黑"/>
              <a:cs typeface="微软雅黑"/>
              <a:sym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3" name="图片 2"/>
            <p:cNvPicPr>
              <a:picLocks noChangeAspect="1"/>
            </p:cNvPicPr>
            <p:nvPr userDrawn="1"/>
          </p:nvPicPr>
          <p:blipFill>
            <a:blip r:embed="rId9"/>
            <a:srcRect l="17002" t="-1765" r="56499" b="-1176"/>
            <a:stretch>
              <a:fillRect/>
            </a:stretch>
          </p:blipFill>
          <p:spPr>
            <a:xfrm>
              <a:off x="13761" y="549"/>
              <a:ext cx="1582" cy="525"/>
            </a:xfrm>
            <a:prstGeom prst="rect">
              <a:avLst/>
            </a:prstGeom>
          </p:spPr>
        </p:pic>
        <p:sp>
          <p:nvSpPr>
            <p:cNvPr id="4" name="文本框 3"/>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sz="2500">
                <a:solidFill>
                  <a:srgbClr val="383838"/>
                </a:solidFill>
                <a:effectLst/>
                <a:latin typeface="微软雅黑"/>
                <a:ea typeface="微软雅黑"/>
                <a:cs typeface="微软雅黑"/>
              </a:rPr>
              <a:t>公司发展历程介绍</a:t>
            </a:r>
            <a:endParaRPr sz="2500">
              <a:solidFill>
                <a:srgbClr val="383838"/>
              </a:solidFill>
              <a:effectLst/>
              <a:latin typeface="微软雅黑"/>
              <a:ea typeface="微软雅黑"/>
              <a:cs typeface="微软雅黑"/>
            </a:endParaRPr>
          </a:p>
        </p:txBody>
      </p:sp>
      <p:pic>
        <p:nvPicPr>
          <p:cNvPr id="3" name="图片 2"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14" name="任意多边形: 形状 4"/>
          <p:cNvSpPr/>
          <p:nvPr/>
        </p:nvSpPr>
        <p:spPr>
          <a:xfrm>
            <a:off x="-623209" y="2046777"/>
            <a:ext cx="12946742" cy="3248302"/>
          </a:xfrm>
          <a:custGeom>
            <a:avLst/>
            <a:gdLst>
              <a:gd name="connsiteX0" fmla="*/ 0 w 13246100"/>
              <a:gd name="connsiteY0" fmla="*/ 3721100 h 3794081"/>
              <a:gd name="connsiteX1" fmla="*/ 1993900 w 13246100"/>
              <a:gd name="connsiteY1" fmla="*/ 3683000 h 3794081"/>
              <a:gd name="connsiteX2" fmla="*/ 4902200 w 13246100"/>
              <a:gd name="connsiteY2" fmla="*/ 2667000 h 3794081"/>
              <a:gd name="connsiteX3" fmla="*/ 7569200 w 13246100"/>
              <a:gd name="connsiteY3" fmla="*/ 2349500 h 3794081"/>
              <a:gd name="connsiteX4" fmla="*/ 10083800 w 13246100"/>
              <a:gd name="connsiteY4" fmla="*/ 673100 h 3794081"/>
              <a:gd name="connsiteX5" fmla="*/ 12623800 w 13246100"/>
              <a:gd name="connsiteY5" fmla="*/ 393700 h 3794081"/>
              <a:gd name="connsiteX6" fmla="*/ 13246100 w 13246100"/>
              <a:gd name="connsiteY6" fmla="*/ 0 h 3794081"/>
              <a:gd name="connsiteX0-1" fmla="*/ 0 w 13246100"/>
              <a:gd name="connsiteY0-2" fmla="*/ 3721100 h 3794922"/>
              <a:gd name="connsiteX1-3" fmla="*/ 1993900 w 13246100"/>
              <a:gd name="connsiteY1-4" fmla="*/ 3683000 h 3794922"/>
              <a:gd name="connsiteX2-5" fmla="*/ 4216400 w 13246100"/>
              <a:gd name="connsiteY2-6" fmla="*/ 2654300 h 3794922"/>
              <a:gd name="connsiteX3-7" fmla="*/ 7569200 w 13246100"/>
              <a:gd name="connsiteY3-8" fmla="*/ 2349500 h 3794922"/>
              <a:gd name="connsiteX4-9" fmla="*/ 10083800 w 13246100"/>
              <a:gd name="connsiteY4-10" fmla="*/ 673100 h 3794922"/>
              <a:gd name="connsiteX5-11" fmla="*/ 12623800 w 13246100"/>
              <a:gd name="connsiteY5-12" fmla="*/ 393700 h 3794922"/>
              <a:gd name="connsiteX6-13" fmla="*/ 13246100 w 13246100"/>
              <a:gd name="connsiteY6-14" fmla="*/ 0 h 3794922"/>
              <a:gd name="connsiteX0-15" fmla="*/ 0 w 13246100"/>
              <a:gd name="connsiteY0-16" fmla="*/ 3721100 h 3776203"/>
              <a:gd name="connsiteX1-17" fmla="*/ 1892300 w 13246100"/>
              <a:gd name="connsiteY1-18" fmla="*/ 3644900 h 3776203"/>
              <a:gd name="connsiteX2-19" fmla="*/ 4216400 w 13246100"/>
              <a:gd name="connsiteY2-20" fmla="*/ 2654300 h 3776203"/>
              <a:gd name="connsiteX3-21" fmla="*/ 7569200 w 13246100"/>
              <a:gd name="connsiteY3-22" fmla="*/ 2349500 h 3776203"/>
              <a:gd name="connsiteX4-23" fmla="*/ 10083800 w 13246100"/>
              <a:gd name="connsiteY4-24" fmla="*/ 673100 h 3776203"/>
              <a:gd name="connsiteX5-25" fmla="*/ 12623800 w 13246100"/>
              <a:gd name="connsiteY5-26" fmla="*/ 393700 h 3776203"/>
              <a:gd name="connsiteX6-27" fmla="*/ 13246100 w 13246100"/>
              <a:gd name="connsiteY6-28" fmla="*/ 0 h 3776203"/>
              <a:gd name="connsiteX0-29" fmla="*/ 0 w 12623800"/>
              <a:gd name="connsiteY0-30" fmla="*/ 3327400 h 3382503"/>
              <a:gd name="connsiteX1-31" fmla="*/ 1892300 w 12623800"/>
              <a:gd name="connsiteY1-32" fmla="*/ 3251200 h 3382503"/>
              <a:gd name="connsiteX2-33" fmla="*/ 4216400 w 12623800"/>
              <a:gd name="connsiteY2-34" fmla="*/ 2260600 h 3382503"/>
              <a:gd name="connsiteX3-35" fmla="*/ 7569200 w 12623800"/>
              <a:gd name="connsiteY3-36" fmla="*/ 1955800 h 3382503"/>
              <a:gd name="connsiteX4-37" fmla="*/ 10083800 w 12623800"/>
              <a:gd name="connsiteY4-38" fmla="*/ 279400 h 3382503"/>
              <a:gd name="connsiteX5-39" fmla="*/ 12623800 w 12623800"/>
              <a:gd name="connsiteY5-40" fmla="*/ 0 h 3382503"/>
              <a:gd name="connsiteX0-41" fmla="*/ 0 w 12903200"/>
              <a:gd name="connsiteY0-42" fmla="*/ 3144439 h 3199542"/>
              <a:gd name="connsiteX1-43" fmla="*/ 1892300 w 12903200"/>
              <a:gd name="connsiteY1-44" fmla="*/ 3068239 h 3199542"/>
              <a:gd name="connsiteX2-45" fmla="*/ 4216400 w 12903200"/>
              <a:gd name="connsiteY2-46" fmla="*/ 2077639 h 3199542"/>
              <a:gd name="connsiteX3-47" fmla="*/ 7569200 w 12903200"/>
              <a:gd name="connsiteY3-48" fmla="*/ 1772839 h 3199542"/>
              <a:gd name="connsiteX4-49" fmla="*/ 10083800 w 12903200"/>
              <a:gd name="connsiteY4-50" fmla="*/ 96439 h 3199542"/>
              <a:gd name="connsiteX5-51" fmla="*/ 12903200 w 12903200"/>
              <a:gd name="connsiteY5-52" fmla="*/ 121839 h 3199542"/>
              <a:gd name="connsiteX0-53" fmla="*/ 0 w 12903200"/>
              <a:gd name="connsiteY0-54" fmla="*/ 3157086 h 3212189"/>
              <a:gd name="connsiteX1-55" fmla="*/ 1892300 w 12903200"/>
              <a:gd name="connsiteY1-56" fmla="*/ 3080886 h 3212189"/>
              <a:gd name="connsiteX2-57" fmla="*/ 4216400 w 12903200"/>
              <a:gd name="connsiteY2-58" fmla="*/ 2090286 h 3212189"/>
              <a:gd name="connsiteX3-59" fmla="*/ 7569200 w 12903200"/>
              <a:gd name="connsiteY3-60" fmla="*/ 1785486 h 3212189"/>
              <a:gd name="connsiteX4-61" fmla="*/ 10083800 w 12903200"/>
              <a:gd name="connsiteY4-62" fmla="*/ 109086 h 3212189"/>
              <a:gd name="connsiteX5-63" fmla="*/ 12903200 w 12903200"/>
              <a:gd name="connsiteY5-64" fmla="*/ 134486 h 3212189"/>
              <a:gd name="connsiteX0-65" fmla="*/ 0 w 12903200"/>
              <a:gd name="connsiteY0-66" fmla="*/ 3081966 h 3137069"/>
              <a:gd name="connsiteX1-67" fmla="*/ 1892300 w 12903200"/>
              <a:gd name="connsiteY1-68" fmla="*/ 3005766 h 3137069"/>
              <a:gd name="connsiteX2-69" fmla="*/ 4216400 w 12903200"/>
              <a:gd name="connsiteY2-70" fmla="*/ 2015166 h 3137069"/>
              <a:gd name="connsiteX3-71" fmla="*/ 7569200 w 12903200"/>
              <a:gd name="connsiteY3-72" fmla="*/ 1710366 h 3137069"/>
              <a:gd name="connsiteX4-73" fmla="*/ 10185400 w 12903200"/>
              <a:gd name="connsiteY4-74" fmla="*/ 135566 h 3137069"/>
              <a:gd name="connsiteX5-75" fmla="*/ 12903200 w 12903200"/>
              <a:gd name="connsiteY5-76" fmla="*/ 59366 h 3137069"/>
              <a:gd name="connsiteX0-77" fmla="*/ 0 w 12903200"/>
              <a:gd name="connsiteY0-78" fmla="*/ 3081039 h 3136142"/>
              <a:gd name="connsiteX1-79" fmla="*/ 1892300 w 12903200"/>
              <a:gd name="connsiteY1-80" fmla="*/ 3004839 h 3136142"/>
              <a:gd name="connsiteX2-81" fmla="*/ 4216400 w 12903200"/>
              <a:gd name="connsiteY2-82" fmla="*/ 2014239 h 3136142"/>
              <a:gd name="connsiteX3-83" fmla="*/ 7429500 w 12903200"/>
              <a:gd name="connsiteY3-84" fmla="*/ 1696739 h 3136142"/>
              <a:gd name="connsiteX4-85" fmla="*/ 10185400 w 12903200"/>
              <a:gd name="connsiteY4-86" fmla="*/ 134639 h 3136142"/>
              <a:gd name="connsiteX5-87" fmla="*/ 12903200 w 12903200"/>
              <a:gd name="connsiteY5-88" fmla="*/ 58439 h 3136142"/>
              <a:gd name="connsiteX0-89" fmla="*/ 0 w 12903200"/>
              <a:gd name="connsiteY0-90" fmla="*/ 3081039 h 3136142"/>
              <a:gd name="connsiteX1-91" fmla="*/ 1892300 w 12903200"/>
              <a:gd name="connsiteY1-92" fmla="*/ 3004839 h 3136142"/>
              <a:gd name="connsiteX2-93" fmla="*/ 4216400 w 12903200"/>
              <a:gd name="connsiteY2-94" fmla="*/ 2014239 h 3136142"/>
              <a:gd name="connsiteX3-95" fmla="*/ 7429500 w 12903200"/>
              <a:gd name="connsiteY3-96" fmla="*/ 1696739 h 3136142"/>
              <a:gd name="connsiteX4-97" fmla="*/ 10020300 w 12903200"/>
              <a:gd name="connsiteY4-98" fmla="*/ 134639 h 3136142"/>
              <a:gd name="connsiteX5-99" fmla="*/ 12903200 w 12903200"/>
              <a:gd name="connsiteY5-100" fmla="*/ 58439 h 3136142"/>
              <a:gd name="connsiteX0-101" fmla="*/ 0 w 12903200"/>
              <a:gd name="connsiteY0-102" fmla="*/ 3022600 h 3077703"/>
              <a:gd name="connsiteX1-103" fmla="*/ 1892300 w 12903200"/>
              <a:gd name="connsiteY1-104" fmla="*/ 2946400 h 3077703"/>
              <a:gd name="connsiteX2-105" fmla="*/ 4216400 w 12903200"/>
              <a:gd name="connsiteY2-106" fmla="*/ 1955800 h 3077703"/>
              <a:gd name="connsiteX3-107" fmla="*/ 7429500 w 12903200"/>
              <a:gd name="connsiteY3-108" fmla="*/ 1638300 h 3077703"/>
              <a:gd name="connsiteX4-109" fmla="*/ 9918700 w 12903200"/>
              <a:gd name="connsiteY4-110" fmla="*/ 250371 h 3077703"/>
              <a:gd name="connsiteX5-111" fmla="*/ 12903200 w 12903200"/>
              <a:gd name="connsiteY5-112" fmla="*/ 0 h 3077703"/>
              <a:gd name="connsiteX0-113" fmla="*/ 0 w 12903200"/>
              <a:gd name="connsiteY0-114" fmla="*/ 3022600 h 3077703"/>
              <a:gd name="connsiteX1-115" fmla="*/ 1892300 w 12903200"/>
              <a:gd name="connsiteY1-116" fmla="*/ 2946400 h 3077703"/>
              <a:gd name="connsiteX2-117" fmla="*/ 4216400 w 12903200"/>
              <a:gd name="connsiteY2-118" fmla="*/ 1955800 h 3077703"/>
              <a:gd name="connsiteX3-119" fmla="*/ 7429500 w 12903200"/>
              <a:gd name="connsiteY3-120" fmla="*/ 1638300 h 3077703"/>
              <a:gd name="connsiteX4-121" fmla="*/ 9176423 w 12903200"/>
              <a:gd name="connsiteY4-122" fmla="*/ 487039 h 3077703"/>
              <a:gd name="connsiteX5-123" fmla="*/ 12903200 w 12903200"/>
              <a:gd name="connsiteY5-124" fmla="*/ 0 h 3077703"/>
              <a:gd name="connsiteX0-125" fmla="*/ 0 w 12932228"/>
              <a:gd name="connsiteY0-126" fmla="*/ 3240314 h 3295417"/>
              <a:gd name="connsiteX1-127" fmla="*/ 1892300 w 12932228"/>
              <a:gd name="connsiteY1-128" fmla="*/ 3164114 h 3295417"/>
              <a:gd name="connsiteX2-129" fmla="*/ 4216400 w 12932228"/>
              <a:gd name="connsiteY2-130" fmla="*/ 2173514 h 3295417"/>
              <a:gd name="connsiteX3-131" fmla="*/ 7429500 w 12932228"/>
              <a:gd name="connsiteY3-132" fmla="*/ 1856014 h 3295417"/>
              <a:gd name="connsiteX4-133" fmla="*/ 9176423 w 12932228"/>
              <a:gd name="connsiteY4-134" fmla="*/ 704753 h 3295417"/>
              <a:gd name="connsiteX5-135" fmla="*/ 12932228 w 12932228"/>
              <a:gd name="connsiteY5-136" fmla="*/ 0 h 3295417"/>
              <a:gd name="connsiteX0-137" fmla="*/ 0 w 12729028"/>
              <a:gd name="connsiteY0-138" fmla="*/ 3182257 h 3237360"/>
              <a:gd name="connsiteX1-139" fmla="*/ 1892300 w 12729028"/>
              <a:gd name="connsiteY1-140" fmla="*/ 3106057 h 3237360"/>
              <a:gd name="connsiteX2-141" fmla="*/ 4216400 w 12729028"/>
              <a:gd name="connsiteY2-142" fmla="*/ 2115457 h 3237360"/>
              <a:gd name="connsiteX3-143" fmla="*/ 7429500 w 12729028"/>
              <a:gd name="connsiteY3-144" fmla="*/ 1797957 h 3237360"/>
              <a:gd name="connsiteX4-145" fmla="*/ 9176423 w 12729028"/>
              <a:gd name="connsiteY4-146" fmla="*/ 646696 h 3237360"/>
              <a:gd name="connsiteX5-147" fmla="*/ 12729028 w 12729028"/>
              <a:gd name="connsiteY5-148" fmla="*/ 0 h 3237360"/>
              <a:gd name="connsiteX0-149" fmla="*/ 0 w 12946742"/>
              <a:gd name="connsiteY0-150" fmla="*/ 3196771 h 3251874"/>
              <a:gd name="connsiteX1-151" fmla="*/ 1892300 w 12946742"/>
              <a:gd name="connsiteY1-152" fmla="*/ 3120571 h 3251874"/>
              <a:gd name="connsiteX2-153" fmla="*/ 4216400 w 12946742"/>
              <a:gd name="connsiteY2-154" fmla="*/ 2129971 h 3251874"/>
              <a:gd name="connsiteX3-155" fmla="*/ 7429500 w 12946742"/>
              <a:gd name="connsiteY3-156" fmla="*/ 1812471 h 3251874"/>
              <a:gd name="connsiteX4-157" fmla="*/ 9176423 w 12946742"/>
              <a:gd name="connsiteY4-158" fmla="*/ 661210 h 3251874"/>
              <a:gd name="connsiteX5-159" fmla="*/ 12946742 w 12946742"/>
              <a:gd name="connsiteY5-160" fmla="*/ 0 h 3251874"/>
              <a:gd name="connsiteX0-161" fmla="*/ 0 w 12946742"/>
              <a:gd name="connsiteY0-162" fmla="*/ 3196771 h 3248302"/>
              <a:gd name="connsiteX1-163" fmla="*/ 1892300 w 12946742"/>
              <a:gd name="connsiteY1-164" fmla="*/ 3120571 h 3248302"/>
              <a:gd name="connsiteX2-165" fmla="*/ 4291703 w 12946742"/>
              <a:gd name="connsiteY2-166" fmla="*/ 2194517 h 3248302"/>
              <a:gd name="connsiteX3-167" fmla="*/ 7429500 w 12946742"/>
              <a:gd name="connsiteY3-168" fmla="*/ 1812471 h 3248302"/>
              <a:gd name="connsiteX4-169" fmla="*/ 9176423 w 12946742"/>
              <a:gd name="connsiteY4-170" fmla="*/ 661210 h 3248302"/>
              <a:gd name="connsiteX5-171" fmla="*/ 12946742 w 12946742"/>
              <a:gd name="connsiteY5-172" fmla="*/ 0 h 3248302"/>
              <a:gd name="connsiteX0-173" fmla="*/ 0 w 12946742"/>
              <a:gd name="connsiteY0-174" fmla="*/ 3196771 h 3248302"/>
              <a:gd name="connsiteX1-175" fmla="*/ 1892300 w 12946742"/>
              <a:gd name="connsiteY1-176" fmla="*/ 3120571 h 3248302"/>
              <a:gd name="connsiteX2-177" fmla="*/ 4291703 w 12946742"/>
              <a:gd name="connsiteY2-178" fmla="*/ 2194517 h 3248302"/>
              <a:gd name="connsiteX3-179" fmla="*/ 7096013 w 12946742"/>
              <a:gd name="connsiteY3-180" fmla="*/ 1790955 h 3248302"/>
              <a:gd name="connsiteX4-181" fmla="*/ 9176423 w 12946742"/>
              <a:gd name="connsiteY4-182" fmla="*/ 661210 h 3248302"/>
              <a:gd name="connsiteX5-183" fmla="*/ 12946742 w 12946742"/>
              <a:gd name="connsiteY5-184" fmla="*/ 0 h 324830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2946742" h="3248302">
                <a:moveTo>
                  <a:pt x="0" y="3196771"/>
                </a:moveTo>
                <a:cubicBezTo>
                  <a:pt x="588433" y="3265562"/>
                  <a:pt x="1177016" y="3287613"/>
                  <a:pt x="1892300" y="3120571"/>
                </a:cubicBezTo>
                <a:cubicBezTo>
                  <a:pt x="2607584" y="2953529"/>
                  <a:pt x="3424418" y="2416120"/>
                  <a:pt x="4291703" y="2194517"/>
                </a:cubicBezTo>
                <a:cubicBezTo>
                  <a:pt x="5158988" y="1972914"/>
                  <a:pt x="6281893" y="2046506"/>
                  <a:pt x="7096013" y="1790955"/>
                </a:cubicBezTo>
                <a:cubicBezTo>
                  <a:pt x="7910133" y="1535404"/>
                  <a:pt x="8201302" y="959702"/>
                  <a:pt x="9176424" y="661210"/>
                </a:cubicBezTo>
                <a:cubicBezTo>
                  <a:pt x="10151544" y="362718"/>
                  <a:pt x="12292692" y="35983"/>
                  <a:pt x="12946742" y="0"/>
                </a:cubicBezTo>
              </a:path>
            </a:pathLst>
          </a:custGeom>
          <a:noFill/>
          <a:ln w="19050">
            <a:gradFill>
              <a:gsLst>
                <a:gs pos="100000">
                  <a:srgbClr val="3368FF">
                    <a:alpha val="0"/>
                  </a:srgbClr>
                </a:gs>
                <a:gs pos="38000">
                  <a:srgbClr val="0042FF">
                    <a:alpha val="40000"/>
                  </a:srgbClr>
                </a:gs>
                <a:gs pos="73000">
                  <a:srgbClr val="3368FF"/>
                </a:gs>
                <a:gs pos="0">
                  <a:srgbClr val="0042FF">
                    <a:alpha val="0"/>
                  </a:srgbClr>
                </a:gs>
                <a:gs pos="13000">
                  <a:srgbClr val="0042FF">
                    <a:alpha val="18000"/>
                  </a:srgbClr>
                </a:gs>
              </a:gsLst>
              <a:lin ang="0" scaled="0"/>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a:latin typeface="微软雅黑"/>
              <a:ea typeface="微软雅黑"/>
              <a:cs typeface="微软雅黑"/>
            </a:endParaRPr>
          </a:p>
        </p:txBody>
      </p:sp>
      <p:sp>
        <p:nvSpPr>
          <p:cNvPr id="15" name="任意多边形: 形状 5"/>
          <p:cNvSpPr/>
          <p:nvPr/>
        </p:nvSpPr>
        <p:spPr>
          <a:xfrm>
            <a:off x="-479013" y="1680184"/>
            <a:ext cx="13345630" cy="3464383"/>
          </a:xfrm>
          <a:custGeom>
            <a:avLst/>
            <a:gdLst>
              <a:gd name="connsiteX0" fmla="*/ 0 w 11393715"/>
              <a:gd name="connsiteY0" fmla="*/ 3657600 h 3657600"/>
              <a:gd name="connsiteX1" fmla="*/ 58058 w 11393715"/>
              <a:gd name="connsiteY1" fmla="*/ 3657600 h 3657600"/>
              <a:gd name="connsiteX2" fmla="*/ 2540000 w 11393715"/>
              <a:gd name="connsiteY2" fmla="*/ 3526971 h 3657600"/>
              <a:gd name="connsiteX3" fmla="*/ 4673600 w 11393715"/>
              <a:gd name="connsiteY3" fmla="*/ 2336800 h 3657600"/>
              <a:gd name="connsiteX4" fmla="*/ 8084458 w 11393715"/>
              <a:gd name="connsiteY4" fmla="*/ 2191657 h 3657600"/>
              <a:gd name="connsiteX5" fmla="*/ 11393715 w 11393715"/>
              <a:gd name="connsiteY5" fmla="*/ 0 h 3657600"/>
              <a:gd name="connsiteX0-1" fmla="*/ 0 w 12540344"/>
              <a:gd name="connsiteY0-2" fmla="*/ 4281714 h 4281714"/>
              <a:gd name="connsiteX1-3" fmla="*/ 58058 w 12540344"/>
              <a:gd name="connsiteY1-4" fmla="*/ 4281714 h 4281714"/>
              <a:gd name="connsiteX2-5" fmla="*/ 2540000 w 12540344"/>
              <a:gd name="connsiteY2-6" fmla="*/ 4151085 h 4281714"/>
              <a:gd name="connsiteX3-7" fmla="*/ 4673600 w 12540344"/>
              <a:gd name="connsiteY3-8" fmla="*/ 2960914 h 4281714"/>
              <a:gd name="connsiteX4-9" fmla="*/ 8084458 w 12540344"/>
              <a:gd name="connsiteY4-10" fmla="*/ 2815771 h 4281714"/>
              <a:gd name="connsiteX5-11" fmla="*/ 12540344 w 12540344"/>
              <a:gd name="connsiteY5-12" fmla="*/ 0 h 4281714"/>
              <a:gd name="connsiteX0-13" fmla="*/ 0 w 12540344"/>
              <a:gd name="connsiteY0-14" fmla="*/ 4281714 h 4281714"/>
              <a:gd name="connsiteX1-15" fmla="*/ 58058 w 12540344"/>
              <a:gd name="connsiteY1-16" fmla="*/ 4281714 h 4281714"/>
              <a:gd name="connsiteX2-17" fmla="*/ 2540000 w 12540344"/>
              <a:gd name="connsiteY2-18" fmla="*/ 4151085 h 4281714"/>
              <a:gd name="connsiteX3-19" fmla="*/ 4673600 w 12540344"/>
              <a:gd name="connsiteY3-20" fmla="*/ 2960914 h 4281714"/>
              <a:gd name="connsiteX4-21" fmla="*/ 8084458 w 12540344"/>
              <a:gd name="connsiteY4-22" fmla="*/ 2815771 h 4281714"/>
              <a:gd name="connsiteX5-23" fmla="*/ 12540344 w 12540344"/>
              <a:gd name="connsiteY5-24" fmla="*/ 0 h 4281714"/>
              <a:gd name="connsiteX0-25" fmla="*/ 0 w 10566401"/>
              <a:gd name="connsiteY0-26" fmla="*/ 3396343 h 3396343"/>
              <a:gd name="connsiteX1-27" fmla="*/ 58058 w 10566401"/>
              <a:gd name="connsiteY1-28" fmla="*/ 3396343 h 3396343"/>
              <a:gd name="connsiteX2-29" fmla="*/ 2540000 w 10566401"/>
              <a:gd name="connsiteY2-30" fmla="*/ 3265714 h 3396343"/>
              <a:gd name="connsiteX3-31" fmla="*/ 4673600 w 10566401"/>
              <a:gd name="connsiteY3-32" fmla="*/ 2075543 h 3396343"/>
              <a:gd name="connsiteX4-33" fmla="*/ 8084458 w 10566401"/>
              <a:gd name="connsiteY4-34" fmla="*/ 1930400 h 3396343"/>
              <a:gd name="connsiteX5-35" fmla="*/ 10566401 w 10566401"/>
              <a:gd name="connsiteY5-36" fmla="*/ 0 h 3396343"/>
              <a:gd name="connsiteX0-37" fmla="*/ 0 w 10566401"/>
              <a:gd name="connsiteY0-38" fmla="*/ 3396343 h 3396343"/>
              <a:gd name="connsiteX1-39" fmla="*/ 58058 w 10566401"/>
              <a:gd name="connsiteY1-40" fmla="*/ 3396343 h 3396343"/>
              <a:gd name="connsiteX2-41" fmla="*/ 2540000 w 10566401"/>
              <a:gd name="connsiteY2-42" fmla="*/ 3265714 h 3396343"/>
              <a:gd name="connsiteX3-43" fmla="*/ 4673600 w 10566401"/>
              <a:gd name="connsiteY3-44" fmla="*/ 2075543 h 3396343"/>
              <a:gd name="connsiteX4-45" fmla="*/ 8084458 w 10566401"/>
              <a:gd name="connsiteY4-46" fmla="*/ 1930400 h 3396343"/>
              <a:gd name="connsiteX5-47" fmla="*/ 10174515 w 10566401"/>
              <a:gd name="connsiteY5-48" fmla="*/ 319314 h 3396343"/>
              <a:gd name="connsiteX6" fmla="*/ 10566401 w 10566401"/>
              <a:gd name="connsiteY6" fmla="*/ 0 h 3396343"/>
              <a:gd name="connsiteX0-49" fmla="*/ 0 w 13483772"/>
              <a:gd name="connsiteY0-50" fmla="*/ 3120655 h 3120655"/>
              <a:gd name="connsiteX1-51" fmla="*/ 58058 w 13483772"/>
              <a:gd name="connsiteY1-52" fmla="*/ 3120655 h 3120655"/>
              <a:gd name="connsiteX2-53" fmla="*/ 2540000 w 13483772"/>
              <a:gd name="connsiteY2-54" fmla="*/ 2990026 h 3120655"/>
              <a:gd name="connsiteX3-55" fmla="*/ 4673600 w 13483772"/>
              <a:gd name="connsiteY3-56" fmla="*/ 1799855 h 3120655"/>
              <a:gd name="connsiteX4-57" fmla="*/ 8084458 w 13483772"/>
              <a:gd name="connsiteY4-58" fmla="*/ 1654712 h 3120655"/>
              <a:gd name="connsiteX5-59" fmla="*/ 10174515 w 13483772"/>
              <a:gd name="connsiteY5-60" fmla="*/ 43626 h 3120655"/>
              <a:gd name="connsiteX6-61" fmla="*/ 13483772 w 13483772"/>
              <a:gd name="connsiteY6-62" fmla="*/ 1233797 h 3120655"/>
              <a:gd name="connsiteX0-63" fmla="*/ 0 w 13483772"/>
              <a:gd name="connsiteY0-64" fmla="*/ 3120655 h 3120655"/>
              <a:gd name="connsiteX1-65" fmla="*/ 58058 w 13483772"/>
              <a:gd name="connsiteY1-66" fmla="*/ 3120655 h 3120655"/>
              <a:gd name="connsiteX2-67" fmla="*/ 2540000 w 13483772"/>
              <a:gd name="connsiteY2-68" fmla="*/ 2990026 h 3120655"/>
              <a:gd name="connsiteX3-69" fmla="*/ 4673600 w 13483772"/>
              <a:gd name="connsiteY3-70" fmla="*/ 1799855 h 3120655"/>
              <a:gd name="connsiteX4-71" fmla="*/ 8084458 w 13483772"/>
              <a:gd name="connsiteY4-72" fmla="*/ 1654712 h 3120655"/>
              <a:gd name="connsiteX5-73" fmla="*/ 10174515 w 13483772"/>
              <a:gd name="connsiteY5-74" fmla="*/ 43626 h 3120655"/>
              <a:gd name="connsiteX6-75" fmla="*/ 13483772 w 13483772"/>
              <a:gd name="connsiteY6-76" fmla="*/ 1233797 h 3120655"/>
              <a:gd name="connsiteX0-77" fmla="*/ 0 w 13483772"/>
              <a:gd name="connsiteY0-78" fmla="*/ 3077033 h 3077033"/>
              <a:gd name="connsiteX1-79" fmla="*/ 58058 w 13483772"/>
              <a:gd name="connsiteY1-80" fmla="*/ 3077033 h 3077033"/>
              <a:gd name="connsiteX2-81" fmla="*/ 2540000 w 13483772"/>
              <a:gd name="connsiteY2-82" fmla="*/ 2946404 h 3077033"/>
              <a:gd name="connsiteX3-83" fmla="*/ 4673600 w 13483772"/>
              <a:gd name="connsiteY3-84" fmla="*/ 1756233 h 3077033"/>
              <a:gd name="connsiteX4-85" fmla="*/ 8084458 w 13483772"/>
              <a:gd name="connsiteY4-86" fmla="*/ 1611090 h 3077033"/>
              <a:gd name="connsiteX5-87" fmla="*/ 10174515 w 13483772"/>
              <a:gd name="connsiteY5-88" fmla="*/ 4 h 3077033"/>
              <a:gd name="connsiteX6-89" fmla="*/ 13483772 w 13483772"/>
              <a:gd name="connsiteY6-90" fmla="*/ 1190175 h 3077033"/>
              <a:gd name="connsiteX0-91" fmla="*/ 0 w 14136915"/>
              <a:gd name="connsiteY0-92" fmla="*/ 3078985 h 3078985"/>
              <a:gd name="connsiteX1-93" fmla="*/ 58058 w 14136915"/>
              <a:gd name="connsiteY1-94" fmla="*/ 3078985 h 3078985"/>
              <a:gd name="connsiteX2-95" fmla="*/ 2540000 w 14136915"/>
              <a:gd name="connsiteY2-96" fmla="*/ 2948356 h 3078985"/>
              <a:gd name="connsiteX3-97" fmla="*/ 4673600 w 14136915"/>
              <a:gd name="connsiteY3-98" fmla="*/ 1758185 h 3078985"/>
              <a:gd name="connsiteX4-99" fmla="*/ 8084458 w 14136915"/>
              <a:gd name="connsiteY4-100" fmla="*/ 1613042 h 3078985"/>
              <a:gd name="connsiteX5-101" fmla="*/ 10174515 w 14136915"/>
              <a:gd name="connsiteY5-102" fmla="*/ 1956 h 3078985"/>
              <a:gd name="connsiteX6-103" fmla="*/ 14136915 w 14136915"/>
              <a:gd name="connsiteY6-104" fmla="*/ 1250184 h 3078985"/>
              <a:gd name="connsiteX0-105" fmla="*/ 0 w 14136915"/>
              <a:gd name="connsiteY0-106" fmla="*/ 2963049 h 2963049"/>
              <a:gd name="connsiteX1-107" fmla="*/ 58058 w 14136915"/>
              <a:gd name="connsiteY1-108" fmla="*/ 2963049 h 2963049"/>
              <a:gd name="connsiteX2-109" fmla="*/ 2540000 w 14136915"/>
              <a:gd name="connsiteY2-110" fmla="*/ 2832420 h 2963049"/>
              <a:gd name="connsiteX3-111" fmla="*/ 4673600 w 14136915"/>
              <a:gd name="connsiteY3-112" fmla="*/ 1642249 h 2963049"/>
              <a:gd name="connsiteX4-113" fmla="*/ 8084458 w 14136915"/>
              <a:gd name="connsiteY4-114" fmla="*/ 1497106 h 2963049"/>
              <a:gd name="connsiteX5-115" fmla="*/ 11219543 w 14136915"/>
              <a:gd name="connsiteY5-116" fmla="*/ 2134 h 2963049"/>
              <a:gd name="connsiteX6-117" fmla="*/ 14136915 w 14136915"/>
              <a:gd name="connsiteY6-118" fmla="*/ 1134248 h 2963049"/>
              <a:gd name="connsiteX0-119" fmla="*/ 0 w 14136915"/>
              <a:gd name="connsiteY0-120" fmla="*/ 2962046 h 2962046"/>
              <a:gd name="connsiteX1-121" fmla="*/ 58058 w 14136915"/>
              <a:gd name="connsiteY1-122" fmla="*/ 2962046 h 2962046"/>
              <a:gd name="connsiteX2-123" fmla="*/ 2540000 w 14136915"/>
              <a:gd name="connsiteY2-124" fmla="*/ 2831417 h 2962046"/>
              <a:gd name="connsiteX3-125" fmla="*/ 4673600 w 14136915"/>
              <a:gd name="connsiteY3-126" fmla="*/ 1641246 h 2962046"/>
              <a:gd name="connsiteX4-127" fmla="*/ 7982858 w 14136915"/>
              <a:gd name="connsiteY4-128" fmla="*/ 1394503 h 2962046"/>
              <a:gd name="connsiteX5-129" fmla="*/ 11219543 w 14136915"/>
              <a:gd name="connsiteY5-130" fmla="*/ 1131 h 2962046"/>
              <a:gd name="connsiteX6-131" fmla="*/ 14136915 w 14136915"/>
              <a:gd name="connsiteY6-132" fmla="*/ 1133245 h 2962046"/>
              <a:gd name="connsiteX0-133" fmla="*/ 0 w 14136915"/>
              <a:gd name="connsiteY0-134" fmla="*/ 3266625 h 3266625"/>
              <a:gd name="connsiteX1-135" fmla="*/ 58058 w 14136915"/>
              <a:gd name="connsiteY1-136" fmla="*/ 3266625 h 3266625"/>
              <a:gd name="connsiteX2-137" fmla="*/ 2540000 w 14136915"/>
              <a:gd name="connsiteY2-138" fmla="*/ 3135996 h 3266625"/>
              <a:gd name="connsiteX3-139" fmla="*/ 4673600 w 14136915"/>
              <a:gd name="connsiteY3-140" fmla="*/ 1945825 h 3266625"/>
              <a:gd name="connsiteX4-141" fmla="*/ 7982858 w 14136915"/>
              <a:gd name="connsiteY4-142" fmla="*/ 1699082 h 3266625"/>
              <a:gd name="connsiteX5-143" fmla="*/ 11001829 w 14136915"/>
              <a:gd name="connsiteY5-144" fmla="*/ 910 h 3266625"/>
              <a:gd name="connsiteX6-145" fmla="*/ 14136915 w 14136915"/>
              <a:gd name="connsiteY6-146" fmla="*/ 1437824 h 3266625"/>
              <a:gd name="connsiteX0-147" fmla="*/ 0 w 14136915"/>
              <a:gd name="connsiteY0-148" fmla="*/ 3266944 h 3266944"/>
              <a:gd name="connsiteX1-149" fmla="*/ 58058 w 14136915"/>
              <a:gd name="connsiteY1-150" fmla="*/ 3266944 h 3266944"/>
              <a:gd name="connsiteX2-151" fmla="*/ 2540000 w 14136915"/>
              <a:gd name="connsiteY2-152" fmla="*/ 3136315 h 3266944"/>
              <a:gd name="connsiteX3-153" fmla="*/ 4673600 w 14136915"/>
              <a:gd name="connsiteY3-154" fmla="*/ 1946144 h 3266944"/>
              <a:gd name="connsiteX4-155" fmla="*/ 8142515 w 14136915"/>
              <a:gd name="connsiteY4-156" fmla="*/ 1742944 h 3266944"/>
              <a:gd name="connsiteX5-157" fmla="*/ 11001829 w 14136915"/>
              <a:gd name="connsiteY5-158" fmla="*/ 1229 h 3266944"/>
              <a:gd name="connsiteX6-159" fmla="*/ 14136915 w 14136915"/>
              <a:gd name="connsiteY6-160" fmla="*/ 1438143 h 3266944"/>
              <a:gd name="connsiteX0-161" fmla="*/ 0 w 14136915"/>
              <a:gd name="connsiteY0-162" fmla="*/ 3266944 h 3266944"/>
              <a:gd name="connsiteX1-163" fmla="*/ 58058 w 14136915"/>
              <a:gd name="connsiteY1-164" fmla="*/ 3266944 h 3266944"/>
              <a:gd name="connsiteX2-165" fmla="*/ 2540000 w 14136915"/>
              <a:gd name="connsiteY2-166" fmla="*/ 3136315 h 3266944"/>
              <a:gd name="connsiteX3-167" fmla="*/ 4673600 w 14136915"/>
              <a:gd name="connsiteY3-168" fmla="*/ 1946144 h 3266944"/>
              <a:gd name="connsiteX4-169" fmla="*/ 8142515 w 14136915"/>
              <a:gd name="connsiteY4-170" fmla="*/ 1742944 h 3266944"/>
              <a:gd name="connsiteX5-171" fmla="*/ 11001829 w 14136915"/>
              <a:gd name="connsiteY5-172" fmla="*/ 1229 h 3266944"/>
              <a:gd name="connsiteX6-173" fmla="*/ 14136915 w 14136915"/>
              <a:gd name="connsiteY6-174" fmla="*/ 1438143 h 3266944"/>
              <a:gd name="connsiteX0-175" fmla="*/ 0 w 14136915"/>
              <a:gd name="connsiteY0-176" fmla="*/ 3266944 h 3266944"/>
              <a:gd name="connsiteX1-177" fmla="*/ 58058 w 14136915"/>
              <a:gd name="connsiteY1-178" fmla="*/ 3266944 h 3266944"/>
              <a:gd name="connsiteX2-179" fmla="*/ 2540000 w 14136915"/>
              <a:gd name="connsiteY2-180" fmla="*/ 3136315 h 3266944"/>
              <a:gd name="connsiteX3-181" fmla="*/ 4673600 w 14136915"/>
              <a:gd name="connsiteY3-182" fmla="*/ 1946144 h 3266944"/>
              <a:gd name="connsiteX4-183" fmla="*/ 8142515 w 14136915"/>
              <a:gd name="connsiteY4-184" fmla="*/ 1742944 h 3266944"/>
              <a:gd name="connsiteX5-185" fmla="*/ 11001829 w 14136915"/>
              <a:gd name="connsiteY5-186" fmla="*/ 1229 h 3266944"/>
              <a:gd name="connsiteX6-187" fmla="*/ 14136915 w 14136915"/>
              <a:gd name="connsiteY6-188" fmla="*/ 1438143 h 3266944"/>
              <a:gd name="connsiteX0-189" fmla="*/ 0 w 14136915"/>
              <a:gd name="connsiteY0-190" fmla="*/ 3266944 h 3401021"/>
              <a:gd name="connsiteX1-191" fmla="*/ 58058 w 14136915"/>
              <a:gd name="connsiteY1-192" fmla="*/ 3266944 h 3401021"/>
              <a:gd name="connsiteX2-193" fmla="*/ 2540000 w 14136915"/>
              <a:gd name="connsiteY2-194" fmla="*/ 3136315 h 3401021"/>
              <a:gd name="connsiteX3-195" fmla="*/ 4673600 w 14136915"/>
              <a:gd name="connsiteY3-196" fmla="*/ 1946144 h 3401021"/>
              <a:gd name="connsiteX4-197" fmla="*/ 8142515 w 14136915"/>
              <a:gd name="connsiteY4-198" fmla="*/ 1742944 h 3401021"/>
              <a:gd name="connsiteX5-199" fmla="*/ 11001829 w 14136915"/>
              <a:gd name="connsiteY5-200" fmla="*/ 1229 h 3401021"/>
              <a:gd name="connsiteX6-201" fmla="*/ 14136915 w 14136915"/>
              <a:gd name="connsiteY6-202" fmla="*/ 1438143 h 3401021"/>
              <a:gd name="connsiteX0-203" fmla="*/ 0 w 14078857"/>
              <a:gd name="connsiteY0-204" fmla="*/ 3266944 h 3401021"/>
              <a:gd name="connsiteX1-205" fmla="*/ 2481942 w 14078857"/>
              <a:gd name="connsiteY1-206" fmla="*/ 3136315 h 3401021"/>
              <a:gd name="connsiteX2-207" fmla="*/ 4615542 w 14078857"/>
              <a:gd name="connsiteY2-208" fmla="*/ 1946144 h 3401021"/>
              <a:gd name="connsiteX3-209" fmla="*/ 8084457 w 14078857"/>
              <a:gd name="connsiteY3-210" fmla="*/ 1742944 h 3401021"/>
              <a:gd name="connsiteX4-211" fmla="*/ 10943771 w 14078857"/>
              <a:gd name="connsiteY4-212" fmla="*/ 1229 h 3401021"/>
              <a:gd name="connsiteX5-213" fmla="*/ 14078857 w 14078857"/>
              <a:gd name="connsiteY5-214" fmla="*/ 1438143 h 3401021"/>
              <a:gd name="connsiteX0-215" fmla="*/ 0 w 14325599"/>
              <a:gd name="connsiteY0-216" fmla="*/ 2686373 h 3170456"/>
              <a:gd name="connsiteX1-217" fmla="*/ 2728684 w 14325599"/>
              <a:gd name="connsiteY1-218" fmla="*/ 3136315 h 3170456"/>
              <a:gd name="connsiteX2-219" fmla="*/ 4862284 w 14325599"/>
              <a:gd name="connsiteY2-220" fmla="*/ 1946144 h 3170456"/>
              <a:gd name="connsiteX3-221" fmla="*/ 8331199 w 14325599"/>
              <a:gd name="connsiteY3-222" fmla="*/ 1742944 h 3170456"/>
              <a:gd name="connsiteX4-223" fmla="*/ 11190513 w 14325599"/>
              <a:gd name="connsiteY4-224" fmla="*/ 1229 h 3170456"/>
              <a:gd name="connsiteX5-225" fmla="*/ 14325599 w 14325599"/>
              <a:gd name="connsiteY5-226" fmla="*/ 1438143 h 3170456"/>
              <a:gd name="connsiteX0-227" fmla="*/ 0 w 14325599"/>
              <a:gd name="connsiteY0-228" fmla="*/ 2686373 h 3165984"/>
              <a:gd name="connsiteX1-229" fmla="*/ 2728684 w 14325599"/>
              <a:gd name="connsiteY1-230" fmla="*/ 3136315 h 3165984"/>
              <a:gd name="connsiteX2-231" fmla="*/ 4862284 w 14325599"/>
              <a:gd name="connsiteY2-232" fmla="*/ 1946144 h 3165984"/>
              <a:gd name="connsiteX3-233" fmla="*/ 8331199 w 14325599"/>
              <a:gd name="connsiteY3-234" fmla="*/ 1742944 h 3165984"/>
              <a:gd name="connsiteX4-235" fmla="*/ 11190513 w 14325599"/>
              <a:gd name="connsiteY4-236" fmla="*/ 1229 h 3165984"/>
              <a:gd name="connsiteX5-237" fmla="*/ 14325599 w 14325599"/>
              <a:gd name="connsiteY5-238" fmla="*/ 1438143 h 3165984"/>
              <a:gd name="connsiteX0-239" fmla="*/ 0 w 14325599"/>
              <a:gd name="connsiteY0-240" fmla="*/ 2700875 h 3180486"/>
              <a:gd name="connsiteX1-241" fmla="*/ 2728684 w 14325599"/>
              <a:gd name="connsiteY1-242" fmla="*/ 3150817 h 3180486"/>
              <a:gd name="connsiteX2-243" fmla="*/ 4862284 w 14325599"/>
              <a:gd name="connsiteY2-244" fmla="*/ 1960646 h 3180486"/>
              <a:gd name="connsiteX3-245" fmla="*/ 8331199 w 14325599"/>
              <a:gd name="connsiteY3-246" fmla="*/ 1757446 h 3180486"/>
              <a:gd name="connsiteX4-247" fmla="*/ 11553370 w 14325599"/>
              <a:gd name="connsiteY4-248" fmla="*/ 1217 h 3180486"/>
              <a:gd name="connsiteX5-249" fmla="*/ 14325599 w 14325599"/>
              <a:gd name="connsiteY5-250" fmla="*/ 1452645 h 3180486"/>
              <a:gd name="connsiteX0-251" fmla="*/ 0 w 14935199"/>
              <a:gd name="connsiteY0-252" fmla="*/ 2709494 h 3189105"/>
              <a:gd name="connsiteX1-253" fmla="*/ 2728684 w 14935199"/>
              <a:gd name="connsiteY1-254" fmla="*/ 3159436 h 3189105"/>
              <a:gd name="connsiteX2-255" fmla="*/ 4862284 w 14935199"/>
              <a:gd name="connsiteY2-256" fmla="*/ 1969265 h 3189105"/>
              <a:gd name="connsiteX3-257" fmla="*/ 8331199 w 14935199"/>
              <a:gd name="connsiteY3-258" fmla="*/ 1766065 h 3189105"/>
              <a:gd name="connsiteX4-259" fmla="*/ 11553370 w 14935199"/>
              <a:gd name="connsiteY4-260" fmla="*/ 9836 h 3189105"/>
              <a:gd name="connsiteX5-261" fmla="*/ 14935199 w 14935199"/>
              <a:gd name="connsiteY5-262" fmla="*/ 996807 h 3189105"/>
              <a:gd name="connsiteX0-263" fmla="*/ 0 w 15646399"/>
              <a:gd name="connsiteY0-264" fmla="*/ 3018972 h 3498583"/>
              <a:gd name="connsiteX1-265" fmla="*/ 2728684 w 15646399"/>
              <a:gd name="connsiteY1-266" fmla="*/ 3468914 h 3498583"/>
              <a:gd name="connsiteX2-267" fmla="*/ 4862284 w 15646399"/>
              <a:gd name="connsiteY2-268" fmla="*/ 2278743 h 3498583"/>
              <a:gd name="connsiteX3-269" fmla="*/ 8331199 w 15646399"/>
              <a:gd name="connsiteY3-270" fmla="*/ 2075543 h 3498583"/>
              <a:gd name="connsiteX4-271" fmla="*/ 11553370 w 15646399"/>
              <a:gd name="connsiteY4-272" fmla="*/ 319314 h 3498583"/>
              <a:gd name="connsiteX5-273" fmla="*/ 15646399 w 15646399"/>
              <a:gd name="connsiteY5-274" fmla="*/ 0 h 3498583"/>
              <a:gd name="connsiteX0-275" fmla="*/ 0 w 13527313"/>
              <a:gd name="connsiteY0-276" fmla="*/ 3004458 h 3484069"/>
              <a:gd name="connsiteX1-277" fmla="*/ 2728684 w 13527313"/>
              <a:gd name="connsiteY1-278" fmla="*/ 3454400 h 3484069"/>
              <a:gd name="connsiteX2-279" fmla="*/ 4862284 w 13527313"/>
              <a:gd name="connsiteY2-280" fmla="*/ 2264229 h 3484069"/>
              <a:gd name="connsiteX3-281" fmla="*/ 8331199 w 13527313"/>
              <a:gd name="connsiteY3-282" fmla="*/ 2061029 h 3484069"/>
              <a:gd name="connsiteX4-283" fmla="*/ 11553370 w 13527313"/>
              <a:gd name="connsiteY4-284" fmla="*/ 304800 h 3484069"/>
              <a:gd name="connsiteX5-285" fmla="*/ 13527313 w 13527313"/>
              <a:gd name="connsiteY5-286" fmla="*/ 0 h 3484069"/>
              <a:gd name="connsiteX0-287" fmla="*/ 0 w 13324113"/>
              <a:gd name="connsiteY0-288" fmla="*/ 3004458 h 3484069"/>
              <a:gd name="connsiteX1-289" fmla="*/ 2728684 w 13324113"/>
              <a:gd name="connsiteY1-290" fmla="*/ 3454400 h 3484069"/>
              <a:gd name="connsiteX2-291" fmla="*/ 4862284 w 13324113"/>
              <a:gd name="connsiteY2-292" fmla="*/ 2264229 h 3484069"/>
              <a:gd name="connsiteX3-293" fmla="*/ 8331199 w 13324113"/>
              <a:gd name="connsiteY3-294" fmla="*/ 2061029 h 3484069"/>
              <a:gd name="connsiteX4-295" fmla="*/ 11553370 w 13324113"/>
              <a:gd name="connsiteY4-296" fmla="*/ 304800 h 3484069"/>
              <a:gd name="connsiteX5-297" fmla="*/ 13324113 w 13324113"/>
              <a:gd name="connsiteY5-298" fmla="*/ 0 h 3484069"/>
              <a:gd name="connsiteX0-299" fmla="*/ 0 w 13324113"/>
              <a:gd name="connsiteY0-300" fmla="*/ 3004458 h 3484069"/>
              <a:gd name="connsiteX1-301" fmla="*/ 2728684 w 13324113"/>
              <a:gd name="connsiteY1-302" fmla="*/ 3454400 h 3484069"/>
              <a:gd name="connsiteX2-303" fmla="*/ 4862284 w 13324113"/>
              <a:gd name="connsiteY2-304" fmla="*/ 2264229 h 3484069"/>
              <a:gd name="connsiteX3-305" fmla="*/ 8374742 w 13324113"/>
              <a:gd name="connsiteY3-306" fmla="*/ 2162629 h 3484069"/>
              <a:gd name="connsiteX4-307" fmla="*/ 11553370 w 13324113"/>
              <a:gd name="connsiteY4-308" fmla="*/ 304800 h 3484069"/>
              <a:gd name="connsiteX5-309" fmla="*/ 13324113 w 13324113"/>
              <a:gd name="connsiteY5-310" fmla="*/ 0 h 3484069"/>
              <a:gd name="connsiteX0-311" fmla="*/ 0 w 13324113"/>
              <a:gd name="connsiteY0-312" fmla="*/ 3010957 h 3490568"/>
              <a:gd name="connsiteX1-313" fmla="*/ 2728684 w 13324113"/>
              <a:gd name="connsiteY1-314" fmla="*/ 3460899 h 3490568"/>
              <a:gd name="connsiteX2-315" fmla="*/ 4862284 w 13324113"/>
              <a:gd name="connsiteY2-316" fmla="*/ 2270728 h 3490568"/>
              <a:gd name="connsiteX3-317" fmla="*/ 8374742 w 13324113"/>
              <a:gd name="connsiteY3-318" fmla="*/ 2169128 h 3490568"/>
              <a:gd name="connsiteX4-319" fmla="*/ 11393713 w 13324113"/>
              <a:gd name="connsiteY4-320" fmla="*/ 224214 h 3490568"/>
              <a:gd name="connsiteX5-321" fmla="*/ 13324113 w 13324113"/>
              <a:gd name="connsiteY5-322" fmla="*/ 6499 h 3490568"/>
              <a:gd name="connsiteX0-323" fmla="*/ 0 w 13324113"/>
              <a:gd name="connsiteY0-324" fmla="*/ 3010957 h 3490568"/>
              <a:gd name="connsiteX1-325" fmla="*/ 2728684 w 13324113"/>
              <a:gd name="connsiteY1-326" fmla="*/ 3460899 h 3490568"/>
              <a:gd name="connsiteX2-327" fmla="*/ 4862284 w 13324113"/>
              <a:gd name="connsiteY2-328" fmla="*/ 2270728 h 3490568"/>
              <a:gd name="connsiteX3-329" fmla="*/ 8374742 w 13324113"/>
              <a:gd name="connsiteY3-330" fmla="*/ 2169128 h 3490568"/>
              <a:gd name="connsiteX4-331" fmla="*/ 11321141 w 13324113"/>
              <a:gd name="connsiteY4-332" fmla="*/ 224214 h 3490568"/>
              <a:gd name="connsiteX5-333" fmla="*/ 13324113 w 13324113"/>
              <a:gd name="connsiteY5-334" fmla="*/ 6499 h 3490568"/>
              <a:gd name="connsiteX0-335" fmla="*/ 0 w 13324113"/>
              <a:gd name="connsiteY0-336" fmla="*/ 3010957 h 3749481"/>
              <a:gd name="connsiteX1-337" fmla="*/ 2599593 w 13324113"/>
              <a:gd name="connsiteY1-338" fmla="*/ 3731840 h 3749481"/>
              <a:gd name="connsiteX2-339" fmla="*/ 4862284 w 13324113"/>
              <a:gd name="connsiteY2-340" fmla="*/ 2270728 h 3749481"/>
              <a:gd name="connsiteX3-341" fmla="*/ 8374742 w 13324113"/>
              <a:gd name="connsiteY3-342" fmla="*/ 2169128 h 3749481"/>
              <a:gd name="connsiteX4-343" fmla="*/ 11321141 w 13324113"/>
              <a:gd name="connsiteY4-344" fmla="*/ 224214 h 3749481"/>
              <a:gd name="connsiteX5-345" fmla="*/ 13324113 w 13324113"/>
              <a:gd name="connsiteY5-346" fmla="*/ 6499 h 3749481"/>
              <a:gd name="connsiteX0-347" fmla="*/ 0 w 13345629"/>
              <a:gd name="connsiteY0-348" fmla="*/ 3387917 h 3797499"/>
              <a:gd name="connsiteX1-349" fmla="*/ 2621109 w 13345629"/>
              <a:gd name="connsiteY1-350" fmla="*/ 3731840 h 3797499"/>
              <a:gd name="connsiteX2-351" fmla="*/ 4883800 w 13345629"/>
              <a:gd name="connsiteY2-352" fmla="*/ 2270728 h 3797499"/>
              <a:gd name="connsiteX3-353" fmla="*/ 8396258 w 13345629"/>
              <a:gd name="connsiteY3-354" fmla="*/ 2169128 h 3797499"/>
              <a:gd name="connsiteX4-355" fmla="*/ 11342657 w 13345629"/>
              <a:gd name="connsiteY4-356" fmla="*/ 224214 h 3797499"/>
              <a:gd name="connsiteX5-357" fmla="*/ 13345629 w 13345629"/>
              <a:gd name="connsiteY5-358" fmla="*/ 6499 h 3797499"/>
              <a:gd name="connsiteX0-359" fmla="*/ 0 w 13345629"/>
              <a:gd name="connsiteY0-360" fmla="*/ 3387917 h 3799970"/>
              <a:gd name="connsiteX1-361" fmla="*/ 2621109 w 13345629"/>
              <a:gd name="connsiteY1-362" fmla="*/ 3731840 h 3799970"/>
              <a:gd name="connsiteX2-363" fmla="*/ 5174257 w 13345629"/>
              <a:gd name="connsiteY2-364" fmla="*/ 2235388 h 3799970"/>
              <a:gd name="connsiteX3-365" fmla="*/ 8396258 w 13345629"/>
              <a:gd name="connsiteY3-366" fmla="*/ 2169128 h 3799970"/>
              <a:gd name="connsiteX4-367" fmla="*/ 11342657 w 13345629"/>
              <a:gd name="connsiteY4-368" fmla="*/ 224214 h 3799970"/>
              <a:gd name="connsiteX5-369" fmla="*/ 13345629 w 13345629"/>
              <a:gd name="connsiteY5-370" fmla="*/ 6499 h 3799970"/>
              <a:gd name="connsiteX0-371" fmla="*/ 0 w 13345629"/>
              <a:gd name="connsiteY0-372" fmla="*/ 3387917 h 3795036"/>
              <a:gd name="connsiteX1-373" fmla="*/ 2621109 w 13345629"/>
              <a:gd name="connsiteY1-374" fmla="*/ 3731840 h 3795036"/>
              <a:gd name="connsiteX2-375" fmla="*/ 5281834 w 13345629"/>
              <a:gd name="connsiteY2-376" fmla="*/ 2306068 h 3795036"/>
              <a:gd name="connsiteX3-377" fmla="*/ 8396258 w 13345629"/>
              <a:gd name="connsiteY3-378" fmla="*/ 2169128 h 3795036"/>
              <a:gd name="connsiteX4-379" fmla="*/ 11342657 w 13345629"/>
              <a:gd name="connsiteY4-380" fmla="*/ 224214 h 3795036"/>
              <a:gd name="connsiteX5-381" fmla="*/ 13345629 w 13345629"/>
              <a:gd name="connsiteY5-382" fmla="*/ 6499 h 3795036"/>
              <a:gd name="connsiteX0-383" fmla="*/ 0 w 13345629"/>
              <a:gd name="connsiteY0-384" fmla="*/ 3386508 h 3793627"/>
              <a:gd name="connsiteX1-385" fmla="*/ 2621109 w 13345629"/>
              <a:gd name="connsiteY1-386" fmla="*/ 3730431 h 3793627"/>
              <a:gd name="connsiteX2-387" fmla="*/ 5281834 w 13345629"/>
              <a:gd name="connsiteY2-388" fmla="*/ 2304659 h 3793627"/>
              <a:gd name="connsiteX3-389" fmla="*/ 8331712 w 13345629"/>
              <a:gd name="connsiteY3-390" fmla="*/ 2144159 h 3793627"/>
              <a:gd name="connsiteX4-391" fmla="*/ 11342657 w 13345629"/>
              <a:gd name="connsiteY4-392" fmla="*/ 222805 h 3793627"/>
              <a:gd name="connsiteX5-393" fmla="*/ 13345629 w 13345629"/>
              <a:gd name="connsiteY5-394" fmla="*/ 5090 h 379362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13345630" h="3793627">
                <a:moveTo>
                  <a:pt x="0" y="3386508"/>
                </a:moveTo>
                <a:cubicBezTo>
                  <a:pt x="667658" y="3676794"/>
                  <a:pt x="1740803" y="3910739"/>
                  <a:pt x="2621109" y="3730431"/>
                </a:cubicBezTo>
                <a:cubicBezTo>
                  <a:pt x="3501415" y="3550123"/>
                  <a:pt x="4330067" y="2569038"/>
                  <a:pt x="5281834" y="2304659"/>
                </a:cubicBezTo>
                <a:cubicBezTo>
                  <a:pt x="6233601" y="2040280"/>
                  <a:pt x="7414893" y="2436864"/>
                  <a:pt x="8331712" y="2144159"/>
                </a:cubicBezTo>
                <a:cubicBezTo>
                  <a:pt x="9248532" y="1851454"/>
                  <a:pt x="10507004" y="579316"/>
                  <a:pt x="11342658" y="222805"/>
                </a:cubicBezTo>
                <a:cubicBezTo>
                  <a:pt x="12178310" y="-133706"/>
                  <a:pt x="13280316" y="58309"/>
                  <a:pt x="13345630" y="5090"/>
                </a:cubicBezTo>
              </a:path>
            </a:pathLst>
          </a:custGeom>
          <a:noFill/>
          <a:ln w="19050">
            <a:gradFill>
              <a:gsLst>
                <a:gs pos="0">
                  <a:srgbClr val="E6E6E6">
                    <a:alpha val="0"/>
                  </a:srgbClr>
                </a:gs>
                <a:gs pos="44000">
                  <a:srgbClr val="668EFF"/>
                </a:gs>
                <a:gs pos="91000">
                  <a:srgbClr val="E6E6E6">
                    <a:alpha val="0"/>
                  </a:srgbClr>
                </a:gs>
              </a:gsLst>
              <a:lin ang="0" scaled="0"/>
            </a:gradFill>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18" name="任意多边形: 形状 6"/>
          <p:cNvSpPr/>
          <p:nvPr/>
        </p:nvSpPr>
        <p:spPr>
          <a:xfrm>
            <a:off x="-879023" y="1607721"/>
            <a:ext cx="13872030" cy="4609812"/>
          </a:xfrm>
          <a:custGeom>
            <a:avLst/>
            <a:gdLst>
              <a:gd name="connsiteX0" fmla="*/ 97237 w 12454337"/>
              <a:gd name="connsiteY0" fmla="*/ 5448300 h 5546742"/>
              <a:gd name="connsiteX1" fmla="*/ 135337 w 12454337"/>
              <a:gd name="connsiteY1" fmla="*/ 5359400 h 5546742"/>
              <a:gd name="connsiteX2" fmla="*/ 1405337 w 12454337"/>
              <a:gd name="connsiteY2" fmla="*/ 3746500 h 5546742"/>
              <a:gd name="connsiteX3" fmla="*/ 5050237 w 12454337"/>
              <a:gd name="connsiteY3" fmla="*/ 3162300 h 5546742"/>
              <a:gd name="connsiteX4" fmla="*/ 7780737 w 12454337"/>
              <a:gd name="connsiteY4" fmla="*/ 1346200 h 5546742"/>
              <a:gd name="connsiteX5" fmla="*/ 11273237 w 12454337"/>
              <a:gd name="connsiteY5" fmla="*/ 787400 h 5546742"/>
              <a:gd name="connsiteX6" fmla="*/ 12454337 w 12454337"/>
              <a:gd name="connsiteY6" fmla="*/ 0 h 5546742"/>
              <a:gd name="connsiteX0-1" fmla="*/ 0 w 12319000"/>
              <a:gd name="connsiteY0-2" fmla="*/ 5359400 h 5359400"/>
              <a:gd name="connsiteX1-3" fmla="*/ 1270000 w 12319000"/>
              <a:gd name="connsiteY1-4" fmla="*/ 3746500 h 5359400"/>
              <a:gd name="connsiteX2-5" fmla="*/ 4914900 w 12319000"/>
              <a:gd name="connsiteY2-6" fmla="*/ 3162300 h 5359400"/>
              <a:gd name="connsiteX3-7" fmla="*/ 7645400 w 12319000"/>
              <a:gd name="connsiteY3-8" fmla="*/ 1346200 h 5359400"/>
              <a:gd name="connsiteX4-9" fmla="*/ 11137900 w 12319000"/>
              <a:gd name="connsiteY4-10" fmla="*/ 787400 h 5359400"/>
              <a:gd name="connsiteX5-11" fmla="*/ 12319000 w 12319000"/>
              <a:gd name="connsiteY5-12" fmla="*/ 0 h 5359400"/>
              <a:gd name="connsiteX0-13" fmla="*/ 0 w 12319000"/>
              <a:gd name="connsiteY0-14" fmla="*/ 5359400 h 5359400"/>
              <a:gd name="connsiteX1-15" fmla="*/ 1270000 w 12319000"/>
              <a:gd name="connsiteY1-16" fmla="*/ 3746500 h 5359400"/>
              <a:gd name="connsiteX2-17" fmla="*/ 4914900 w 12319000"/>
              <a:gd name="connsiteY2-18" fmla="*/ 3162300 h 5359400"/>
              <a:gd name="connsiteX3-19" fmla="*/ 7645400 w 12319000"/>
              <a:gd name="connsiteY3-20" fmla="*/ 1346200 h 5359400"/>
              <a:gd name="connsiteX4-21" fmla="*/ 11137900 w 12319000"/>
              <a:gd name="connsiteY4-22" fmla="*/ 787400 h 5359400"/>
              <a:gd name="connsiteX5-23" fmla="*/ 12319000 w 12319000"/>
              <a:gd name="connsiteY5-24" fmla="*/ 0 h 5359400"/>
              <a:gd name="connsiteX0-25" fmla="*/ 0 w 13088257"/>
              <a:gd name="connsiteY0-26" fmla="*/ 5388428 h 5388428"/>
              <a:gd name="connsiteX1-27" fmla="*/ 2039257 w 13088257"/>
              <a:gd name="connsiteY1-28" fmla="*/ 3746500 h 5388428"/>
              <a:gd name="connsiteX2-29" fmla="*/ 5684157 w 13088257"/>
              <a:gd name="connsiteY2-30" fmla="*/ 3162300 h 5388428"/>
              <a:gd name="connsiteX3-31" fmla="*/ 8414657 w 13088257"/>
              <a:gd name="connsiteY3-32" fmla="*/ 1346200 h 5388428"/>
              <a:gd name="connsiteX4-33" fmla="*/ 11907157 w 13088257"/>
              <a:gd name="connsiteY4-34" fmla="*/ 787400 h 5388428"/>
              <a:gd name="connsiteX5-35" fmla="*/ 13088257 w 13088257"/>
              <a:gd name="connsiteY5-36" fmla="*/ 0 h 5388428"/>
              <a:gd name="connsiteX0-37" fmla="*/ 0 w 13088257"/>
              <a:gd name="connsiteY0-38" fmla="*/ 5388428 h 5388428"/>
              <a:gd name="connsiteX1-39" fmla="*/ 2126343 w 13088257"/>
              <a:gd name="connsiteY1-40" fmla="*/ 3804557 h 5388428"/>
              <a:gd name="connsiteX2-41" fmla="*/ 5684157 w 13088257"/>
              <a:gd name="connsiteY2-42" fmla="*/ 3162300 h 5388428"/>
              <a:gd name="connsiteX3-43" fmla="*/ 8414657 w 13088257"/>
              <a:gd name="connsiteY3-44" fmla="*/ 1346200 h 5388428"/>
              <a:gd name="connsiteX4-45" fmla="*/ 11907157 w 13088257"/>
              <a:gd name="connsiteY4-46" fmla="*/ 787400 h 5388428"/>
              <a:gd name="connsiteX5-47" fmla="*/ 13088257 w 13088257"/>
              <a:gd name="connsiteY5-48" fmla="*/ 0 h 5388428"/>
              <a:gd name="connsiteX0-49" fmla="*/ 0 w 13088257"/>
              <a:gd name="connsiteY0-50" fmla="*/ 5388428 h 5388428"/>
              <a:gd name="connsiteX1-51" fmla="*/ 2084914 w 13088257"/>
              <a:gd name="connsiteY1-52" fmla="*/ 3684610 h 5388428"/>
              <a:gd name="connsiteX2-53" fmla="*/ 5684157 w 13088257"/>
              <a:gd name="connsiteY2-54" fmla="*/ 3162300 h 5388428"/>
              <a:gd name="connsiteX3-55" fmla="*/ 8414657 w 13088257"/>
              <a:gd name="connsiteY3-56" fmla="*/ 1346200 h 5388428"/>
              <a:gd name="connsiteX4-57" fmla="*/ 11907157 w 13088257"/>
              <a:gd name="connsiteY4-58" fmla="*/ 787400 h 5388428"/>
              <a:gd name="connsiteX5-59" fmla="*/ 13088257 w 13088257"/>
              <a:gd name="connsiteY5-60" fmla="*/ 0 h 5388428"/>
              <a:gd name="connsiteX0-61" fmla="*/ 0 w 13198736"/>
              <a:gd name="connsiteY0-62" fmla="*/ 4863659 h 4863659"/>
              <a:gd name="connsiteX1-63" fmla="*/ 2195393 w 13198736"/>
              <a:gd name="connsiteY1-64" fmla="*/ 3684610 h 4863659"/>
              <a:gd name="connsiteX2-65" fmla="*/ 5794636 w 13198736"/>
              <a:gd name="connsiteY2-66" fmla="*/ 3162300 h 4863659"/>
              <a:gd name="connsiteX3-67" fmla="*/ 8525136 w 13198736"/>
              <a:gd name="connsiteY3-68" fmla="*/ 1346200 h 4863659"/>
              <a:gd name="connsiteX4-69" fmla="*/ 12017636 w 13198736"/>
              <a:gd name="connsiteY4-70" fmla="*/ 787400 h 4863659"/>
              <a:gd name="connsiteX5-71" fmla="*/ 13198736 w 13198736"/>
              <a:gd name="connsiteY5-72" fmla="*/ 0 h 4863659"/>
              <a:gd name="connsiteX0-73" fmla="*/ 0 w 13198736"/>
              <a:gd name="connsiteY0-74" fmla="*/ 4863659 h 4863659"/>
              <a:gd name="connsiteX1-75" fmla="*/ 2195393 w 13198736"/>
              <a:gd name="connsiteY1-76" fmla="*/ 3684610 h 4863659"/>
              <a:gd name="connsiteX2-77" fmla="*/ 5725588 w 13198736"/>
              <a:gd name="connsiteY2-78" fmla="*/ 2832445 h 4863659"/>
              <a:gd name="connsiteX3-79" fmla="*/ 8525136 w 13198736"/>
              <a:gd name="connsiteY3-80" fmla="*/ 1346200 h 4863659"/>
              <a:gd name="connsiteX4-81" fmla="*/ 12017636 w 13198736"/>
              <a:gd name="connsiteY4-82" fmla="*/ 787400 h 4863659"/>
              <a:gd name="connsiteX5-83" fmla="*/ 13198736 w 13198736"/>
              <a:gd name="connsiteY5-84" fmla="*/ 0 h 4863659"/>
              <a:gd name="connsiteX0-85" fmla="*/ 0 w 13198736"/>
              <a:gd name="connsiteY0-86" fmla="*/ 4863659 h 4863659"/>
              <a:gd name="connsiteX1-87" fmla="*/ 2195393 w 13198736"/>
              <a:gd name="connsiteY1-88" fmla="*/ 3684610 h 4863659"/>
              <a:gd name="connsiteX2-89" fmla="*/ 6057024 w 13198736"/>
              <a:gd name="connsiteY2-90" fmla="*/ 2832445 h 4863659"/>
              <a:gd name="connsiteX3-91" fmla="*/ 8525136 w 13198736"/>
              <a:gd name="connsiteY3-92" fmla="*/ 1346200 h 4863659"/>
              <a:gd name="connsiteX4-93" fmla="*/ 12017636 w 13198736"/>
              <a:gd name="connsiteY4-94" fmla="*/ 787400 h 4863659"/>
              <a:gd name="connsiteX5-95" fmla="*/ 13198736 w 13198736"/>
              <a:gd name="connsiteY5-96" fmla="*/ 0 h 4863659"/>
              <a:gd name="connsiteX0-97" fmla="*/ 0 w 13198736"/>
              <a:gd name="connsiteY0-98" fmla="*/ 4863659 h 4863659"/>
              <a:gd name="connsiteX1-99" fmla="*/ 2195393 w 13198736"/>
              <a:gd name="connsiteY1-100" fmla="*/ 3684610 h 4863659"/>
              <a:gd name="connsiteX2-101" fmla="*/ 5513263 w 13198736"/>
              <a:gd name="connsiteY2-102" fmla="*/ 2556941 h 4863659"/>
              <a:gd name="connsiteX3-103" fmla="*/ 8525136 w 13198736"/>
              <a:gd name="connsiteY3-104" fmla="*/ 1346200 h 4863659"/>
              <a:gd name="connsiteX4-105" fmla="*/ 12017636 w 13198736"/>
              <a:gd name="connsiteY4-106" fmla="*/ 787400 h 4863659"/>
              <a:gd name="connsiteX5-107" fmla="*/ 13198736 w 13198736"/>
              <a:gd name="connsiteY5-108" fmla="*/ 0 h 4863659"/>
              <a:gd name="connsiteX0-109" fmla="*/ 0 w 13198736"/>
              <a:gd name="connsiteY0-110" fmla="*/ 4863659 h 4863659"/>
              <a:gd name="connsiteX1-111" fmla="*/ 2195393 w 13198736"/>
              <a:gd name="connsiteY1-112" fmla="*/ 3684610 h 4863659"/>
              <a:gd name="connsiteX2-113" fmla="*/ 5513263 w 13198736"/>
              <a:gd name="connsiteY2-114" fmla="*/ 2556941 h 4863659"/>
              <a:gd name="connsiteX3-115" fmla="*/ 8658056 w 13198736"/>
              <a:gd name="connsiteY3-116" fmla="*/ 1674181 h 4863659"/>
              <a:gd name="connsiteX4-117" fmla="*/ 12017636 w 13198736"/>
              <a:gd name="connsiteY4-118" fmla="*/ 787400 h 4863659"/>
              <a:gd name="connsiteX5-119" fmla="*/ 13198736 w 13198736"/>
              <a:gd name="connsiteY5-120" fmla="*/ 0 h 4863659"/>
              <a:gd name="connsiteX0-121" fmla="*/ 0 w 13198736"/>
              <a:gd name="connsiteY0-122" fmla="*/ 4863659 h 4863659"/>
              <a:gd name="connsiteX1-123" fmla="*/ 2195393 w 13198736"/>
              <a:gd name="connsiteY1-124" fmla="*/ 3684610 h 4863659"/>
              <a:gd name="connsiteX2-125" fmla="*/ 5694517 w 13198736"/>
              <a:gd name="connsiteY2-126" fmla="*/ 2884922 h 4863659"/>
              <a:gd name="connsiteX3-127" fmla="*/ 8658056 w 13198736"/>
              <a:gd name="connsiteY3-128" fmla="*/ 1674181 h 4863659"/>
              <a:gd name="connsiteX4-129" fmla="*/ 12017636 w 13198736"/>
              <a:gd name="connsiteY4-130" fmla="*/ 787400 h 4863659"/>
              <a:gd name="connsiteX5-131" fmla="*/ 13198736 w 13198736"/>
              <a:gd name="connsiteY5-132" fmla="*/ 0 h 4863659"/>
              <a:gd name="connsiteX0-133" fmla="*/ 0 w 13198736"/>
              <a:gd name="connsiteY0-134" fmla="*/ 4863659 h 4863659"/>
              <a:gd name="connsiteX1-135" fmla="*/ 2195393 w 13198736"/>
              <a:gd name="connsiteY1-136" fmla="*/ 3684610 h 4863659"/>
              <a:gd name="connsiteX2-137" fmla="*/ 5694517 w 13198736"/>
              <a:gd name="connsiteY2-138" fmla="*/ 2884922 h 4863659"/>
              <a:gd name="connsiteX3-139" fmla="*/ 6727110 w 13198736"/>
              <a:gd name="connsiteY3-140" fmla="*/ 1924780 h 4863659"/>
              <a:gd name="connsiteX4-141" fmla="*/ 8658056 w 13198736"/>
              <a:gd name="connsiteY4-142" fmla="*/ 1674181 h 4863659"/>
              <a:gd name="connsiteX5-143" fmla="*/ 12017636 w 13198736"/>
              <a:gd name="connsiteY5-144" fmla="*/ 787400 h 4863659"/>
              <a:gd name="connsiteX6-145" fmla="*/ 13198736 w 13198736"/>
              <a:gd name="connsiteY6-146" fmla="*/ 0 h 4863659"/>
              <a:gd name="connsiteX0-147" fmla="*/ 0 w 13198736"/>
              <a:gd name="connsiteY0-148" fmla="*/ 4863659 h 4863659"/>
              <a:gd name="connsiteX1-149" fmla="*/ 2195393 w 13198736"/>
              <a:gd name="connsiteY1-150" fmla="*/ 3684610 h 4863659"/>
              <a:gd name="connsiteX2-151" fmla="*/ 4957419 w 13198736"/>
              <a:gd name="connsiteY2-152" fmla="*/ 2832445 h 4863659"/>
              <a:gd name="connsiteX3-153" fmla="*/ 6727110 w 13198736"/>
              <a:gd name="connsiteY3-154" fmla="*/ 1924780 h 4863659"/>
              <a:gd name="connsiteX4-155" fmla="*/ 8658056 w 13198736"/>
              <a:gd name="connsiteY4-156" fmla="*/ 1674181 h 4863659"/>
              <a:gd name="connsiteX5-157" fmla="*/ 12017636 w 13198736"/>
              <a:gd name="connsiteY5-158" fmla="*/ 787400 h 4863659"/>
              <a:gd name="connsiteX6-159" fmla="*/ 13198736 w 13198736"/>
              <a:gd name="connsiteY6-160" fmla="*/ 0 h 4863659"/>
              <a:gd name="connsiteX0-161" fmla="*/ 0 w 13198736"/>
              <a:gd name="connsiteY0-162" fmla="*/ 4863659 h 4863659"/>
              <a:gd name="connsiteX1-163" fmla="*/ 2195393 w 13198736"/>
              <a:gd name="connsiteY1-164" fmla="*/ 3684610 h 4863659"/>
              <a:gd name="connsiteX2-165" fmla="*/ 5029921 w 13198736"/>
              <a:gd name="connsiteY2-166" fmla="*/ 3055472 h 4863659"/>
              <a:gd name="connsiteX3-167" fmla="*/ 6727110 w 13198736"/>
              <a:gd name="connsiteY3-168" fmla="*/ 1924780 h 4863659"/>
              <a:gd name="connsiteX4-169" fmla="*/ 8658056 w 13198736"/>
              <a:gd name="connsiteY4-170" fmla="*/ 1674181 h 4863659"/>
              <a:gd name="connsiteX5-171" fmla="*/ 12017636 w 13198736"/>
              <a:gd name="connsiteY5-172" fmla="*/ 787400 h 4863659"/>
              <a:gd name="connsiteX6-173" fmla="*/ 13198736 w 13198736"/>
              <a:gd name="connsiteY6-174" fmla="*/ 0 h 4863659"/>
              <a:gd name="connsiteX0-175" fmla="*/ 0 w 13198736"/>
              <a:gd name="connsiteY0-176" fmla="*/ 4863659 h 4863659"/>
              <a:gd name="connsiteX1-177" fmla="*/ 2195393 w 13198736"/>
              <a:gd name="connsiteY1-178" fmla="*/ 3684610 h 4863659"/>
              <a:gd name="connsiteX2-179" fmla="*/ 5029921 w 13198736"/>
              <a:gd name="connsiteY2-180" fmla="*/ 3055472 h 4863659"/>
              <a:gd name="connsiteX3-181" fmla="*/ 6449187 w 13198736"/>
              <a:gd name="connsiteY3-182" fmla="*/ 2003495 h 4863659"/>
              <a:gd name="connsiteX4-183" fmla="*/ 8658056 w 13198736"/>
              <a:gd name="connsiteY4-184" fmla="*/ 1674181 h 4863659"/>
              <a:gd name="connsiteX5-185" fmla="*/ 12017636 w 13198736"/>
              <a:gd name="connsiteY5-186" fmla="*/ 787400 h 4863659"/>
              <a:gd name="connsiteX6-187" fmla="*/ 13198736 w 13198736"/>
              <a:gd name="connsiteY6-188" fmla="*/ 0 h 4863659"/>
              <a:gd name="connsiteX0-189" fmla="*/ 0 w 13198736"/>
              <a:gd name="connsiteY0-190" fmla="*/ 4863659 h 4863659"/>
              <a:gd name="connsiteX1-191" fmla="*/ 2195393 w 13198736"/>
              <a:gd name="connsiteY1-192" fmla="*/ 3684610 h 4863659"/>
              <a:gd name="connsiteX2-193" fmla="*/ 5029921 w 13198736"/>
              <a:gd name="connsiteY2-194" fmla="*/ 3055472 h 4863659"/>
              <a:gd name="connsiteX3-195" fmla="*/ 6449187 w 13198736"/>
              <a:gd name="connsiteY3-196" fmla="*/ 2003495 h 4863659"/>
              <a:gd name="connsiteX4-197" fmla="*/ 8658056 w 13198736"/>
              <a:gd name="connsiteY4-198" fmla="*/ 1674181 h 4863659"/>
              <a:gd name="connsiteX5-199" fmla="*/ 10410518 w 13198736"/>
              <a:gd name="connsiteY5-200" fmla="*/ 892354 h 4863659"/>
              <a:gd name="connsiteX6-201" fmla="*/ 13198736 w 13198736"/>
              <a:gd name="connsiteY6-202" fmla="*/ 0 h 4863659"/>
              <a:gd name="connsiteX0-203" fmla="*/ 0 w 12763727"/>
              <a:gd name="connsiteY0-204" fmla="*/ 5558978 h 5558978"/>
              <a:gd name="connsiteX1-205" fmla="*/ 2195393 w 12763727"/>
              <a:gd name="connsiteY1-206" fmla="*/ 4379929 h 5558978"/>
              <a:gd name="connsiteX2-207" fmla="*/ 5029921 w 12763727"/>
              <a:gd name="connsiteY2-208" fmla="*/ 3750791 h 5558978"/>
              <a:gd name="connsiteX3-209" fmla="*/ 6449187 w 12763727"/>
              <a:gd name="connsiteY3-210" fmla="*/ 2698814 h 5558978"/>
              <a:gd name="connsiteX4-211" fmla="*/ 8658056 w 12763727"/>
              <a:gd name="connsiteY4-212" fmla="*/ 2369500 h 5558978"/>
              <a:gd name="connsiteX5-213" fmla="*/ 10410518 w 12763727"/>
              <a:gd name="connsiteY5-214" fmla="*/ 1587673 h 5558978"/>
              <a:gd name="connsiteX6-215" fmla="*/ 12763727 w 12763727"/>
              <a:gd name="connsiteY6-216" fmla="*/ 0 h 5558978"/>
              <a:gd name="connsiteX0-217" fmla="*/ 0 w 12763727"/>
              <a:gd name="connsiteY0-218" fmla="*/ 5558978 h 5558978"/>
              <a:gd name="connsiteX1-219" fmla="*/ 2195393 w 12763727"/>
              <a:gd name="connsiteY1-220" fmla="*/ 4379929 h 5558978"/>
              <a:gd name="connsiteX2-221" fmla="*/ 5029921 w 12763727"/>
              <a:gd name="connsiteY2-222" fmla="*/ 3750791 h 5558978"/>
              <a:gd name="connsiteX3-223" fmla="*/ 6449187 w 12763727"/>
              <a:gd name="connsiteY3-224" fmla="*/ 2698814 h 5558978"/>
              <a:gd name="connsiteX4-225" fmla="*/ 8658056 w 12763727"/>
              <a:gd name="connsiteY4-226" fmla="*/ 2369500 h 5558978"/>
              <a:gd name="connsiteX5-227" fmla="*/ 10410518 w 12763727"/>
              <a:gd name="connsiteY5-228" fmla="*/ 1587673 h 5558978"/>
              <a:gd name="connsiteX6-229" fmla="*/ 12763727 w 12763727"/>
              <a:gd name="connsiteY6-230" fmla="*/ 0 h 5558978"/>
              <a:gd name="connsiteX0-231" fmla="*/ 0 w 12763727"/>
              <a:gd name="connsiteY0-232" fmla="*/ 5558978 h 5558978"/>
              <a:gd name="connsiteX1-233" fmla="*/ 2195393 w 12763727"/>
              <a:gd name="connsiteY1-234" fmla="*/ 4379929 h 5558978"/>
              <a:gd name="connsiteX2-235" fmla="*/ 5029921 w 12763727"/>
              <a:gd name="connsiteY2-236" fmla="*/ 3750791 h 5558978"/>
              <a:gd name="connsiteX3-237" fmla="*/ 6449187 w 12763727"/>
              <a:gd name="connsiteY3-238" fmla="*/ 2698814 h 5558978"/>
              <a:gd name="connsiteX4-239" fmla="*/ 8440551 w 12763727"/>
              <a:gd name="connsiteY4-240" fmla="*/ 2303904 h 5558978"/>
              <a:gd name="connsiteX5-241" fmla="*/ 10410518 w 12763727"/>
              <a:gd name="connsiteY5-242" fmla="*/ 1587673 h 5558978"/>
              <a:gd name="connsiteX6-243" fmla="*/ 12763727 w 12763727"/>
              <a:gd name="connsiteY6-244" fmla="*/ 0 h 5558978"/>
              <a:gd name="connsiteX0-245" fmla="*/ 0 w 12763727"/>
              <a:gd name="connsiteY0-246" fmla="*/ 5558978 h 5558978"/>
              <a:gd name="connsiteX1-247" fmla="*/ 2195393 w 12763727"/>
              <a:gd name="connsiteY1-248" fmla="*/ 4379929 h 5558978"/>
              <a:gd name="connsiteX2-249" fmla="*/ 5029921 w 12763727"/>
              <a:gd name="connsiteY2-250" fmla="*/ 3750791 h 5558978"/>
              <a:gd name="connsiteX3-251" fmla="*/ 6449187 w 12763727"/>
              <a:gd name="connsiteY3-252" fmla="*/ 2698814 h 5558978"/>
              <a:gd name="connsiteX4-253" fmla="*/ 8428468 w 12763727"/>
              <a:gd name="connsiteY4-254" fmla="*/ 2513812 h 5558978"/>
              <a:gd name="connsiteX5-255" fmla="*/ 10410518 w 12763727"/>
              <a:gd name="connsiteY5-256" fmla="*/ 1587673 h 5558978"/>
              <a:gd name="connsiteX6-257" fmla="*/ 12763727 w 12763727"/>
              <a:gd name="connsiteY6-258" fmla="*/ 0 h 5558978"/>
              <a:gd name="connsiteX0-259" fmla="*/ 0 w 12763727"/>
              <a:gd name="connsiteY0-260" fmla="*/ 5558978 h 5558978"/>
              <a:gd name="connsiteX1-261" fmla="*/ 2026223 w 12763727"/>
              <a:gd name="connsiteY1-262" fmla="*/ 4209380 h 5558978"/>
              <a:gd name="connsiteX2-263" fmla="*/ 5029921 w 12763727"/>
              <a:gd name="connsiteY2-264" fmla="*/ 3750791 h 5558978"/>
              <a:gd name="connsiteX3-265" fmla="*/ 6449187 w 12763727"/>
              <a:gd name="connsiteY3-266" fmla="*/ 2698814 h 5558978"/>
              <a:gd name="connsiteX4-267" fmla="*/ 8428468 w 12763727"/>
              <a:gd name="connsiteY4-268" fmla="*/ 2513812 h 5558978"/>
              <a:gd name="connsiteX5-269" fmla="*/ 10410518 w 12763727"/>
              <a:gd name="connsiteY5-270" fmla="*/ 1587673 h 5558978"/>
              <a:gd name="connsiteX6-271" fmla="*/ 12763727 w 12763727"/>
              <a:gd name="connsiteY6-272" fmla="*/ 0 h 5558978"/>
              <a:gd name="connsiteX0-273" fmla="*/ 0 w 12763727"/>
              <a:gd name="connsiteY0-274" fmla="*/ 5558978 h 5558978"/>
              <a:gd name="connsiteX1-275" fmla="*/ 2026223 w 12763727"/>
              <a:gd name="connsiteY1-276" fmla="*/ 4209380 h 5558978"/>
              <a:gd name="connsiteX2-277" fmla="*/ 4570745 w 12763727"/>
              <a:gd name="connsiteY2-278" fmla="*/ 3842626 h 5558978"/>
              <a:gd name="connsiteX3-279" fmla="*/ 6449187 w 12763727"/>
              <a:gd name="connsiteY3-280" fmla="*/ 2698814 h 5558978"/>
              <a:gd name="connsiteX4-281" fmla="*/ 8428468 w 12763727"/>
              <a:gd name="connsiteY4-282" fmla="*/ 2513812 h 5558978"/>
              <a:gd name="connsiteX5-283" fmla="*/ 10410518 w 12763727"/>
              <a:gd name="connsiteY5-284" fmla="*/ 1587673 h 5558978"/>
              <a:gd name="connsiteX6-285" fmla="*/ 12763727 w 12763727"/>
              <a:gd name="connsiteY6-286" fmla="*/ 0 h 5558978"/>
              <a:gd name="connsiteX0-287" fmla="*/ 0 w 12763727"/>
              <a:gd name="connsiteY0-288" fmla="*/ 5558978 h 5558978"/>
              <a:gd name="connsiteX1-289" fmla="*/ 2026223 w 12763727"/>
              <a:gd name="connsiteY1-290" fmla="*/ 4209380 h 5558978"/>
              <a:gd name="connsiteX2-291" fmla="*/ 4570745 w 12763727"/>
              <a:gd name="connsiteY2-292" fmla="*/ 3842626 h 5558978"/>
              <a:gd name="connsiteX3-293" fmla="*/ 6098763 w 12763727"/>
              <a:gd name="connsiteY3-294" fmla="*/ 2830007 h 5558978"/>
              <a:gd name="connsiteX4-295" fmla="*/ 8428468 w 12763727"/>
              <a:gd name="connsiteY4-296" fmla="*/ 2513812 h 5558978"/>
              <a:gd name="connsiteX5-297" fmla="*/ 10410518 w 12763727"/>
              <a:gd name="connsiteY5-298" fmla="*/ 1587673 h 5558978"/>
              <a:gd name="connsiteX6-299" fmla="*/ 12763727 w 12763727"/>
              <a:gd name="connsiteY6-300" fmla="*/ 0 h 5558978"/>
              <a:gd name="connsiteX0-301" fmla="*/ 0 w 12763727"/>
              <a:gd name="connsiteY0-302" fmla="*/ 5558978 h 5558978"/>
              <a:gd name="connsiteX1-303" fmla="*/ 2026223 w 12763727"/>
              <a:gd name="connsiteY1-304" fmla="*/ 4209380 h 5558978"/>
              <a:gd name="connsiteX2-305" fmla="*/ 4280739 w 12763727"/>
              <a:gd name="connsiteY2-306" fmla="*/ 3921341 h 5558978"/>
              <a:gd name="connsiteX3-307" fmla="*/ 6098763 w 12763727"/>
              <a:gd name="connsiteY3-308" fmla="*/ 2830007 h 5558978"/>
              <a:gd name="connsiteX4-309" fmla="*/ 8428468 w 12763727"/>
              <a:gd name="connsiteY4-310" fmla="*/ 2513812 h 5558978"/>
              <a:gd name="connsiteX5-311" fmla="*/ 10410518 w 12763727"/>
              <a:gd name="connsiteY5-312" fmla="*/ 1587673 h 5558978"/>
              <a:gd name="connsiteX6-313" fmla="*/ 12763727 w 12763727"/>
              <a:gd name="connsiteY6-314" fmla="*/ 0 h 5558978"/>
              <a:gd name="connsiteX0-315" fmla="*/ 0 w 12763727"/>
              <a:gd name="connsiteY0-316" fmla="*/ 5558978 h 5558978"/>
              <a:gd name="connsiteX1-317" fmla="*/ 2026223 w 12763727"/>
              <a:gd name="connsiteY1-318" fmla="*/ 4209380 h 5558978"/>
              <a:gd name="connsiteX2-319" fmla="*/ 4280739 w 12763727"/>
              <a:gd name="connsiteY2-320" fmla="*/ 3921341 h 5558978"/>
              <a:gd name="connsiteX3-321" fmla="*/ 6098763 w 12763727"/>
              <a:gd name="connsiteY3-322" fmla="*/ 2830007 h 5558978"/>
              <a:gd name="connsiteX4-323" fmla="*/ 8428468 w 12763727"/>
              <a:gd name="connsiteY4-324" fmla="*/ 2513812 h 5558978"/>
              <a:gd name="connsiteX5-325" fmla="*/ 10410518 w 12763727"/>
              <a:gd name="connsiteY5-326" fmla="*/ 1587673 h 5558978"/>
              <a:gd name="connsiteX6-327" fmla="*/ 12763727 w 12763727"/>
              <a:gd name="connsiteY6-328" fmla="*/ 0 h 5558978"/>
              <a:gd name="connsiteX0-329" fmla="*/ 0 w 12763727"/>
              <a:gd name="connsiteY0-330" fmla="*/ 5558978 h 5558978"/>
              <a:gd name="connsiteX1-331" fmla="*/ 2026223 w 12763727"/>
              <a:gd name="connsiteY1-332" fmla="*/ 4209380 h 5558978"/>
              <a:gd name="connsiteX2-333" fmla="*/ 4280739 w 12763727"/>
              <a:gd name="connsiteY2-334" fmla="*/ 3921341 h 5558978"/>
              <a:gd name="connsiteX3-335" fmla="*/ 6098763 w 12763727"/>
              <a:gd name="connsiteY3-336" fmla="*/ 2830007 h 5558978"/>
              <a:gd name="connsiteX4-337" fmla="*/ 8428468 w 12763727"/>
              <a:gd name="connsiteY4-338" fmla="*/ 2513812 h 5558978"/>
              <a:gd name="connsiteX5-339" fmla="*/ 10410518 w 12763727"/>
              <a:gd name="connsiteY5-340" fmla="*/ 1587673 h 5558978"/>
              <a:gd name="connsiteX6-341" fmla="*/ 12763727 w 12763727"/>
              <a:gd name="connsiteY6-342" fmla="*/ 0 h 5558978"/>
              <a:gd name="connsiteX0-343" fmla="*/ 0 w 12944981"/>
              <a:gd name="connsiteY0-344" fmla="*/ 5047328 h 5047328"/>
              <a:gd name="connsiteX1-345" fmla="*/ 2026223 w 12944981"/>
              <a:gd name="connsiteY1-346" fmla="*/ 3697730 h 5047328"/>
              <a:gd name="connsiteX2-347" fmla="*/ 4280739 w 12944981"/>
              <a:gd name="connsiteY2-348" fmla="*/ 3409691 h 5047328"/>
              <a:gd name="connsiteX3-349" fmla="*/ 6098763 w 12944981"/>
              <a:gd name="connsiteY3-350" fmla="*/ 2318357 h 5047328"/>
              <a:gd name="connsiteX4-351" fmla="*/ 8428468 w 12944981"/>
              <a:gd name="connsiteY4-352" fmla="*/ 2002162 h 5047328"/>
              <a:gd name="connsiteX5-353" fmla="*/ 10410518 w 12944981"/>
              <a:gd name="connsiteY5-354" fmla="*/ 1076023 h 5047328"/>
              <a:gd name="connsiteX6-355" fmla="*/ 12944981 w 12944981"/>
              <a:gd name="connsiteY6-356" fmla="*/ 0 h 5047328"/>
              <a:gd name="connsiteX0-357" fmla="*/ 0 w 13198736"/>
              <a:gd name="connsiteY0-358" fmla="*/ 4761985 h 4761985"/>
              <a:gd name="connsiteX1-359" fmla="*/ 2026223 w 13198736"/>
              <a:gd name="connsiteY1-360" fmla="*/ 3412387 h 4761985"/>
              <a:gd name="connsiteX2-361" fmla="*/ 4280739 w 13198736"/>
              <a:gd name="connsiteY2-362" fmla="*/ 3124348 h 4761985"/>
              <a:gd name="connsiteX3-363" fmla="*/ 6098763 w 13198736"/>
              <a:gd name="connsiteY3-364" fmla="*/ 2033014 h 4761985"/>
              <a:gd name="connsiteX4-365" fmla="*/ 8428468 w 13198736"/>
              <a:gd name="connsiteY4-366" fmla="*/ 1716819 h 4761985"/>
              <a:gd name="connsiteX5-367" fmla="*/ 10410518 w 13198736"/>
              <a:gd name="connsiteY5-368" fmla="*/ 790680 h 4761985"/>
              <a:gd name="connsiteX6-369" fmla="*/ 13198736 w 13198736"/>
              <a:gd name="connsiteY6-370" fmla="*/ 0 h 476198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45" y="connsiteY6-146"/>
              </a:cxn>
            </a:cxnLst>
            <a:rect l="l" t="t" r="r" b="b"/>
            <a:pathLst>
              <a:path w="13198736" h="4761985">
                <a:moveTo>
                  <a:pt x="0" y="4761985"/>
                </a:moveTo>
                <a:cubicBezTo>
                  <a:pt x="164229" y="4467594"/>
                  <a:pt x="1312767" y="3685326"/>
                  <a:pt x="2026223" y="3412387"/>
                </a:cubicBezTo>
                <a:cubicBezTo>
                  <a:pt x="2739679" y="3139448"/>
                  <a:pt x="3601982" y="3354243"/>
                  <a:pt x="4280739" y="3124348"/>
                </a:cubicBezTo>
                <a:cubicBezTo>
                  <a:pt x="4959496" y="2894453"/>
                  <a:pt x="5604840" y="2234804"/>
                  <a:pt x="6098763" y="2033014"/>
                </a:cubicBezTo>
                <a:cubicBezTo>
                  <a:pt x="6592686" y="1831224"/>
                  <a:pt x="7709842" y="1923875"/>
                  <a:pt x="8428468" y="1716819"/>
                </a:cubicBezTo>
                <a:cubicBezTo>
                  <a:pt x="9147094" y="1509763"/>
                  <a:pt x="9290658" y="1086274"/>
                  <a:pt x="10410518" y="790680"/>
                </a:cubicBezTo>
                <a:cubicBezTo>
                  <a:pt x="11189452" y="566313"/>
                  <a:pt x="12743896" y="45370"/>
                  <a:pt x="13198736" y="0"/>
                </a:cubicBezTo>
              </a:path>
            </a:pathLst>
          </a:custGeom>
          <a:noFill/>
          <a:ln w="50800">
            <a:gradFill>
              <a:gsLst>
                <a:gs pos="0">
                  <a:srgbClr val="3368FF">
                    <a:alpha val="0"/>
                  </a:srgbClr>
                </a:gs>
                <a:gs pos="23000">
                  <a:srgbClr val="3368FF"/>
                </a:gs>
                <a:gs pos="94000">
                  <a:srgbClr val="0042FF">
                    <a:alpha val="0"/>
                  </a:srgbClr>
                </a:gs>
                <a:gs pos="64000">
                  <a:srgbClr val="0042FF"/>
                </a:gs>
              </a:gsLst>
              <a:lin ang="0" scaled="0"/>
            </a:gradFill>
          </a:ln>
          <a:effectLst>
            <a:outerShdw blurRad="139700" dist="101600" dir="2700000" algn="tl" rotWithShape="0">
              <a:srgbClr val="3368FF">
                <a:alpha val="40000"/>
              </a:srgb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zh-CN" altLang="en-US" dirty="0">
              <a:latin typeface="微软雅黑"/>
              <a:ea typeface="微软雅黑"/>
              <a:cs typeface="微软雅黑"/>
            </a:endParaRPr>
          </a:p>
        </p:txBody>
      </p:sp>
      <p:sp>
        <p:nvSpPr>
          <p:cNvPr id="27" name="椭圆 26"/>
          <p:cNvSpPr/>
          <p:nvPr/>
        </p:nvSpPr>
        <p:spPr>
          <a:xfrm>
            <a:off x="1129704" y="4730649"/>
            <a:ext cx="260064" cy="260064"/>
          </a:xfrm>
          <a:prstGeom prst="ellipse">
            <a:avLst/>
          </a:prstGeom>
          <a:solidFill>
            <a:srgbClr val="3368FF"/>
          </a:solidFill>
          <a:ln w="63500">
            <a:solidFill>
              <a:srgbClr val="FFFFFF"/>
            </a:solidFill>
          </a:ln>
          <a:effectLst>
            <a:outerShdw blurRad="203200" dist="63500" dir="2700000" algn="tl" rotWithShape="0">
              <a:prstClr val="black">
                <a:alpha val="3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47" name="椭圆 46"/>
          <p:cNvSpPr/>
          <p:nvPr>
            <p:custDataLst>
              <p:tags r:id="rId3"/>
            </p:custDataLst>
          </p:nvPr>
        </p:nvSpPr>
        <p:spPr>
          <a:xfrm>
            <a:off x="4162178" y="4175195"/>
            <a:ext cx="259715" cy="260064"/>
          </a:xfrm>
          <a:prstGeom prst="ellipse">
            <a:avLst/>
          </a:prstGeom>
          <a:solidFill>
            <a:srgbClr val="0042FF"/>
          </a:solidFill>
          <a:ln w="63500">
            <a:solidFill>
              <a:srgbClr val="FFFFFF"/>
            </a:solidFill>
          </a:ln>
          <a:effectLst>
            <a:outerShdw blurRad="203200" dist="63500" dir="2700000" algn="tl" rotWithShape="0">
              <a:prstClr val="black">
                <a:alpha val="3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74" name="椭圆 73"/>
          <p:cNvSpPr/>
          <p:nvPr>
            <p:custDataLst>
              <p:tags r:id="rId4"/>
            </p:custDataLst>
          </p:nvPr>
        </p:nvSpPr>
        <p:spPr>
          <a:xfrm>
            <a:off x="7194303" y="3215201"/>
            <a:ext cx="259715" cy="260064"/>
          </a:xfrm>
          <a:prstGeom prst="ellipse">
            <a:avLst/>
          </a:prstGeom>
          <a:solidFill>
            <a:srgbClr val="3368FF"/>
          </a:solidFill>
          <a:ln w="63500">
            <a:solidFill>
              <a:srgbClr val="FFFFFF"/>
            </a:solidFill>
          </a:ln>
          <a:effectLst>
            <a:outerShdw blurRad="203200" dist="63500" dir="2700000" algn="tl" rotWithShape="0">
              <a:prstClr val="black">
                <a:alpha val="3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sp>
        <p:nvSpPr>
          <p:cNvPr id="2" name="椭圆 1"/>
          <p:cNvSpPr/>
          <p:nvPr/>
        </p:nvSpPr>
        <p:spPr>
          <a:xfrm>
            <a:off x="10226428" y="2154751"/>
            <a:ext cx="259715" cy="260064"/>
          </a:xfrm>
          <a:prstGeom prst="ellipse">
            <a:avLst/>
          </a:prstGeom>
          <a:solidFill>
            <a:srgbClr val="3368FF"/>
          </a:solidFill>
          <a:ln w="63500">
            <a:solidFill>
              <a:srgbClr val="FFFFFF"/>
            </a:solidFill>
          </a:ln>
          <a:effectLst>
            <a:outerShdw blurRad="203200" dist="63500" dir="2700000" algn="tl" rotWithShape="0">
              <a:prstClr val="black">
                <a:alpha val="30000"/>
              </a:prstClr>
            </a:outerShdw>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dirty="0">
              <a:solidFill>
                <a:srgbClr val="FFFFFF"/>
              </a:solidFill>
              <a:latin typeface="微软雅黑"/>
              <a:ea typeface="微软雅黑"/>
              <a:cs typeface="微软雅黑"/>
            </a:endParaRPr>
          </a:p>
        </p:txBody>
      </p:sp>
      <p:grpSp>
        <p:nvGrpSpPr>
          <p:cNvPr id="7" name="组合 6"/>
          <p:cNvGrpSpPr/>
          <p:nvPr>
            <p:custDataLst>
              <p:tags r:id="rId5"/>
            </p:custDataLst>
          </p:nvPr>
        </p:nvGrpSpPr>
        <p:grpSpPr>
          <a:xfrm>
            <a:off x="543560" y="3505200"/>
            <a:ext cx="2075180" cy="1059180"/>
            <a:chOff x="968" y="3691"/>
            <a:chExt cx="3268" cy="1668"/>
          </a:xfrm>
        </p:grpSpPr>
        <p:sp>
          <p:nvSpPr>
            <p:cNvPr id="4" name="矩形 3"/>
            <p:cNvSpPr/>
            <p:nvPr>
              <p:custDataLst>
                <p:tags r:id="rId6"/>
              </p:custDataLst>
            </p:nvPr>
          </p:nvSpPr>
          <p:spPr>
            <a:xfrm>
              <a:off x="1784" y="3705"/>
              <a:ext cx="1311" cy="628"/>
            </a:xfrm>
            <a:prstGeom prst="rect">
              <a:avLst/>
            </a:prstGeom>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rPr>
                <a:t>产业起步期</a:t>
              </a:r>
              <a:endPar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ctr"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2008-2013</a:t>
              </a:r>
              <a:endPar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 name="文本框 5"/>
            <p:cNvSpPr txBox="1"/>
            <p:nvPr>
              <p:custDataLst>
                <p:tags r:id="rId7"/>
              </p:custDataLst>
            </p:nvPr>
          </p:nvSpPr>
          <p:spPr>
            <a:xfrm>
              <a:off x="968" y="4523"/>
              <a:ext cx="3268" cy="978"/>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a:t>
              </a:r>
              <a:r>
                <a:rPr lang="zh-CN" altLang="en-US" sz="1000" b="1" dirty="0">
                  <a:solidFill>
                    <a:srgbClr val="383838"/>
                  </a:solidFill>
                  <a:latin typeface="微软雅黑"/>
                  <a:ea typeface="微软雅黑"/>
                  <a:cs typeface="微软雅黑"/>
                </a:rPr>
                <a:t>抓住痛点，野蛮生长</a:t>
              </a:r>
              <a:r>
                <a:rPr lang="en-US" altLang="zh-CN" sz="1000" b="1" dirty="0">
                  <a:solidFill>
                    <a:srgbClr val="383838"/>
                  </a:solidFill>
                  <a:latin typeface="微软雅黑"/>
                  <a:ea typeface="微软雅黑"/>
                  <a:cs typeface="微软雅黑"/>
                </a:rPr>
                <a:t>”</a:t>
              </a:r>
              <a:endParaRPr lang="en-US" altLang="zh-CN" sz="1000" b="1"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从</a:t>
              </a:r>
              <a:r>
                <a:rPr lang="en-US" altLang="zh-CN" sz="1000" dirty="0">
                  <a:solidFill>
                    <a:srgbClr val="383838"/>
                  </a:solidFill>
                  <a:latin typeface="微软雅黑"/>
                  <a:ea typeface="微软雅黑"/>
                  <a:cs typeface="微软雅黑"/>
                </a:rPr>
                <a:t>PC</a:t>
              </a:r>
              <a:r>
                <a:rPr lang="zh-CN" altLang="en-US" sz="1000" dirty="0">
                  <a:solidFill>
                    <a:srgbClr val="383838"/>
                  </a:solidFill>
                  <a:latin typeface="微软雅黑"/>
                  <a:ea typeface="微软雅黑"/>
                  <a:cs typeface="微软雅黑"/>
                </a:rPr>
                <a:t>端修图软件起步，敏锐捕捉移动互联网浪潮，奠定</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国民修图工具</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的根基。</a:t>
              </a:r>
              <a:endParaRPr lang="zh-CN" altLang="en-US" sz="1000" dirty="0">
                <a:solidFill>
                  <a:srgbClr val="383838"/>
                </a:solidFill>
                <a:latin typeface="微软雅黑"/>
                <a:ea typeface="微软雅黑"/>
                <a:cs typeface="微软雅黑"/>
              </a:endParaRPr>
            </a:p>
          </p:txBody>
        </p:sp>
        <p:sp>
          <p:nvSpPr>
            <p:cNvPr id="60" name="圆角矩形 59"/>
            <p:cNvSpPr/>
            <p:nvPr>
              <p:custDataLst>
                <p:tags r:id="rId8"/>
              </p:custDataLst>
            </p:nvPr>
          </p:nvSpPr>
          <p:spPr>
            <a:xfrm>
              <a:off x="1091" y="3691"/>
              <a:ext cx="655" cy="655"/>
            </a:xfrm>
            <a:prstGeom prst="roundRect">
              <a:avLst/>
            </a:prstGeom>
            <a:solidFill>
              <a:srgbClr val="3368FF"/>
            </a:solidFill>
            <a:ln>
              <a:noFill/>
            </a:ln>
            <a:effectLst>
              <a:outerShdw blurRad="228600" dist="38100" dir="5400000" sx="112000" sy="112000" algn="t" rotWithShape="0">
                <a:srgbClr val="3368FF">
                  <a:alpha val="32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61" name="文本框 60"/>
            <p:cNvSpPr txBox="1"/>
            <p:nvPr>
              <p:custDataLst>
                <p:tags r:id="rId9"/>
              </p:custDataLst>
            </p:nvPr>
          </p:nvSpPr>
          <p:spPr>
            <a:xfrm>
              <a:off x="1078" y="3753"/>
              <a:ext cx="682" cy="531"/>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en-US" altLang="zh-CN" sz="1600" b="1" dirty="0">
                  <a:solidFill>
                    <a:srgbClr val="FFFFFF"/>
                  </a:solidFill>
                  <a:latin typeface="微软雅黑"/>
                  <a:ea typeface="微软雅黑"/>
                  <a:cs typeface="微软雅黑"/>
                </a:rPr>
                <a:t>01</a:t>
              </a:r>
              <a:endParaRPr kumimoji="1" lang="en-US" altLang="zh-CN" sz="1600" b="1" dirty="0">
                <a:solidFill>
                  <a:srgbClr val="FFFFFF"/>
                </a:solidFill>
                <a:latin typeface="微软雅黑"/>
                <a:ea typeface="微软雅黑"/>
                <a:cs typeface="微软雅黑"/>
              </a:endParaRPr>
            </a:p>
          </p:txBody>
        </p:sp>
      </p:grpSp>
      <p:sp>
        <p:nvSpPr>
          <p:cNvPr id="9" name="文本框 8"/>
          <p:cNvSpPr txBox="1"/>
          <p:nvPr/>
        </p:nvSpPr>
        <p:spPr>
          <a:xfrm>
            <a:off x="621665" y="5314315"/>
            <a:ext cx="2693035" cy="1419860"/>
          </a:xfrm>
          <a:prstGeom prst="rect">
            <a:avLst/>
          </a:prstGeom>
          <a:noFill/>
        </p:spPr>
        <p:txBody>
          <a:bodyPr wrap="square" rtlCol="0" lIns="0" rIns="0" tIns="0" bIns="0" anchor="t">
            <a:noAutofit/>
          </a:bodyPr>
          <a:lstStyle/>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1. 2008</a:t>
            </a:r>
            <a:r>
              <a:rPr lang="zh-CN" altLang="en-US" sz="1000" b="1" dirty="0">
                <a:solidFill>
                  <a:srgbClr val="383838"/>
                </a:solidFill>
                <a:latin typeface="微软雅黑"/>
                <a:ea typeface="微软雅黑"/>
                <a:cs typeface="微软雅黑"/>
              </a:rPr>
              <a:t>年</a:t>
            </a:r>
            <a:r>
              <a:rPr lang="en-US" altLang="zh-CN" sz="1000" b="1" dirty="0">
                <a:solidFill>
                  <a:srgbClr val="383838"/>
                </a:solidFill>
                <a:latin typeface="微软雅黑"/>
                <a:ea typeface="微软雅黑"/>
                <a:cs typeface="微软雅黑"/>
              </a:rPr>
              <a:t>10</a:t>
            </a:r>
            <a:r>
              <a:rPr lang="zh-CN" altLang="en-US" sz="1000" b="1" dirty="0">
                <a:solidFill>
                  <a:srgbClr val="383838"/>
                </a:solidFill>
                <a:latin typeface="微软雅黑"/>
                <a:ea typeface="微软雅黑"/>
                <a:cs typeface="微软雅黑"/>
              </a:rPr>
              <a:t>月：</a:t>
            </a:r>
            <a:r>
              <a:rPr lang="zh-CN" altLang="en-US" sz="1000" dirty="0">
                <a:solidFill>
                  <a:srgbClr val="383838"/>
                </a:solidFill>
                <a:latin typeface="微软雅黑"/>
                <a:ea typeface="微软雅黑"/>
                <a:cs typeface="微软雅黑"/>
              </a:rPr>
              <a:t>推出美图秀秀</a:t>
            </a:r>
            <a:r>
              <a:rPr lang="en-US" altLang="zh-CN" sz="1000" dirty="0">
                <a:solidFill>
                  <a:srgbClr val="383838"/>
                </a:solidFill>
                <a:latin typeface="微软雅黑"/>
                <a:ea typeface="微软雅黑"/>
                <a:cs typeface="微软雅黑"/>
              </a:rPr>
              <a:t>PC</a:t>
            </a:r>
            <a:r>
              <a:rPr lang="zh-CN" altLang="en-US" sz="1000" dirty="0">
                <a:solidFill>
                  <a:srgbClr val="383838"/>
                </a:solidFill>
                <a:latin typeface="微软雅黑"/>
                <a:ea typeface="微软雅黑"/>
                <a:cs typeface="微软雅黑"/>
              </a:rPr>
              <a:t>版，以</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傻瓜式</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修图快速占领市场。</a:t>
            </a:r>
            <a:endParaRPr lang="zh-CN" altLang="en-US"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2. 2011</a:t>
            </a:r>
            <a:r>
              <a:rPr lang="zh-CN" altLang="en-US" sz="1000" b="1" dirty="0">
                <a:solidFill>
                  <a:srgbClr val="383838"/>
                </a:solidFill>
                <a:latin typeface="微软雅黑"/>
                <a:ea typeface="微软雅黑"/>
                <a:cs typeface="微软雅黑"/>
              </a:rPr>
              <a:t>年</a:t>
            </a:r>
            <a:r>
              <a:rPr lang="en-US" altLang="zh-CN" sz="1000" b="1" dirty="0">
                <a:solidFill>
                  <a:srgbClr val="383838"/>
                </a:solidFill>
                <a:latin typeface="微软雅黑"/>
                <a:ea typeface="微软雅黑"/>
                <a:cs typeface="微软雅黑"/>
              </a:rPr>
              <a:t>2</a:t>
            </a:r>
            <a:r>
              <a:rPr lang="zh-CN" altLang="en-US" sz="1000" b="1" dirty="0">
                <a:solidFill>
                  <a:srgbClr val="383838"/>
                </a:solidFill>
                <a:latin typeface="微软雅黑"/>
                <a:ea typeface="微软雅黑"/>
                <a:cs typeface="微软雅黑"/>
              </a:rPr>
              <a:t>月：</a:t>
            </a:r>
            <a:r>
              <a:rPr lang="zh-CN" altLang="en-US" sz="1000" dirty="0">
                <a:solidFill>
                  <a:srgbClr val="383838"/>
                </a:solidFill>
                <a:latin typeface="微软雅黑"/>
                <a:ea typeface="微软雅黑"/>
                <a:cs typeface="微软雅黑"/>
              </a:rPr>
              <a:t>推出美图秀秀移动版，完成从</a:t>
            </a:r>
            <a:r>
              <a:rPr lang="en-US" altLang="zh-CN" sz="1000" dirty="0">
                <a:solidFill>
                  <a:srgbClr val="383838"/>
                </a:solidFill>
                <a:latin typeface="微软雅黑"/>
                <a:ea typeface="微软雅黑"/>
                <a:cs typeface="微软雅黑"/>
              </a:rPr>
              <a:t>PC</a:t>
            </a:r>
            <a:r>
              <a:rPr lang="zh-CN" altLang="en-US" sz="1000" dirty="0">
                <a:solidFill>
                  <a:srgbClr val="383838"/>
                </a:solidFill>
                <a:latin typeface="微软雅黑"/>
                <a:ea typeface="微软雅黑"/>
                <a:cs typeface="微软雅黑"/>
              </a:rPr>
              <a:t>到移动端的关键转型。</a:t>
            </a:r>
            <a:endParaRPr lang="zh-CN" altLang="en-US"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3. 2012</a:t>
            </a:r>
            <a:r>
              <a:rPr lang="zh-CN" altLang="en-US" sz="1000" b="1" dirty="0">
                <a:solidFill>
                  <a:srgbClr val="383838"/>
                </a:solidFill>
                <a:latin typeface="微软雅黑"/>
                <a:ea typeface="微软雅黑"/>
                <a:cs typeface="微软雅黑"/>
              </a:rPr>
              <a:t>年</a:t>
            </a:r>
            <a:r>
              <a:rPr lang="en-US" altLang="zh-CN" sz="1000" b="1" dirty="0">
                <a:solidFill>
                  <a:srgbClr val="383838"/>
                </a:solidFill>
                <a:latin typeface="微软雅黑"/>
                <a:ea typeface="微软雅黑"/>
                <a:cs typeface="微软雅黑"/>
              </a:rPr>
              <a:t>12</a:t>
            </a:r>
            <a:r>
              <a:rPr lang="zh-CN" altLang="en-US" sz="1000" b="1" dirty="0">
                <a:solidFill>
                  <a:srgbClr val="383838"/>
                </a:solidFill>
                <a:latin typeface="微软雅黑"/>
                <a:ea typeface="微软雅黑"/>
                <a:cs typeface="微软雅黑"/>
              </a:rPr>
              <a:t>月：</a:t>
            </a:r>
            <a:r>
              <a:rPr lang="zh-CN" altLang="en-US" sz="1000" dirty="0">
                <a:solidFill>
                  <a:srgbClr val="383838"/>
                </a:solidFill>
                <a:latin typeface="微软雅黑"/>
                <a:ea typeface="微软雅黑"/>
                <a:cs typeface="微软雅黑"/>
              </a:rPr>
              <a:t>美图秀秀</a:t>
            </a:r>
            <a:r>
              <a:rPr lang="en-US" altLang="zh-CN" sz="1000" dirty="0">
                <a:solidFill>
                  <a:srgbClr val="383838"/>
                </a:solidFill>
                <a:latin typeface="微软雅黑"/>
                <a:ea typeface="微软雅黑"/>
                <a:cs typeface="微软雅黑"/>
              </a:rPr>
              <a:t>PC</a:t>
            </a:r>
            <a:r>
              <a:rPr lang="zh-CN" altLang="en-US" sz="1000" dirty="0">
                <a:solidFill>
                  <a:srgbClr val="383838"/>
                </a:solidFill>
                <a:latin typeface="微软雅黑"/>
                <a:ea typeface="微软雅黑"/>
                <a:cs typeface="微软雅黑"/>
              </a:rPr>
              <a:t>端</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移动端用户数突破</a:t>
            </a:r>
            <a:r>
              <a:rPr lang="en-US" altLang="zh-CN" sz="1000" dirty="0">
                <a:solidFill>
                  <a:srgbClr val="383838"/>
                </a:solidFill>
                <a:latin typeface="微软雅黑"/>
                <a:ea typeface="微软雅黑"/>
                <a:cs typeface="微软雅黑"/>
              </a:rPr>
              <a:t>2</a:t>
            </a:r>
            <a:r>
              <a:rPr lang="zh-CN" altLang="en-US" sz="1000" dirty="0">
                <a:solidFill>
                  <a:srgbClr val="383838"/>
                </a:solidFill>
                <a:latin typeface="微软雅黑"/>
                <a:ea typeface="微软雅黑"/>
                <a:cs typeface="微软雅黑"/>
              </a:rPr>
              <a:t>亿。</a:t>
            </a:r>
            <a:endParaRPr lang="zh-CN" altLang="en-US" sz="1000"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4. 2013</a:t>
            </a:r>
            <a:r>
              <a:rPr lang="zh-CN" altLang="en-US" sz="1000" b="1" dirty="0">
                <a:solidFill>
                  <a:srgbClr val="383838"/>
                </a:solidFill>
                <a:latin typeface="微软雅黑"/>
                <a:ea typeface="微软雅黑"/>
                <a:cs typeface="微软雅黑"/>
              </a:rPr>
              <a:t>年</a:t>
            </a:r>
            <a:r>
              <a:rPr lang="en-US" altLang="zh-CN" sz="1000" b="1" dirty="0">
                <a:solidFill>
                  <a:srgbClr val="383838"/>
                </a:solidFill>
                <a:latin typeface="微软雅黑"/>
                <a:ea typeface="微软雅黑"/>
                <a:cs typeface="微软雅黑"/>
              </a:rPr>
              <a:t>1</a:t>
            </a:r>
            <a:r>
              <a:rPr lang="zh-CN" altLang="en-US" sz="1000" b="1" dirty="0">
                <a:solidFill>
                  <a:srgbClr val="383838"/>
                </a:solidFill>
                <a:latin typeface="微软雅黑"/>
                <a:ea typeface="微软雅黑"/>
                <a:cs typeface="微软雅黑"/>
              </a:rPr>
              <a:t>月：</a:t>
            </a:r>
            <a:r>
              <a:rPr lang="zh-CN" altLang="en-US" sz="1000" dirty="0">
                <a:solidFill>
                  <a:srgbClr val="383838"/>
                </a:solidFill>
                <a:latin typeface="微软雅黑"/>
                <a:ea typeface="微软雅黑"/>
                <a:cs typeface="微软雅黑"/>
              </a:rPr>
              <a:t>推出美颜相机，首创</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一键美颜</a:t>
            </a:r>
            <a:r>
              <a:rPr lang="en-US" altLang="zh-CN" sz="1000" dirty="0">
                <a:solidFill>
                  <a:srgbClr val="383838"/>
                </a:solidFill>
                <a:latin typeface="微软雅黑"/>
                <a:ea typeface="微软雅黑"/>
                <a:cs typeface="微软雅黑"/>
              </a:rPr>
              <a:t>”</a:t>
            </a:r>
            <a:r>
              <a:rPr lang="zh-CN" altLang="en-US" sz="1000" dirty="0">
                <a:solidFill>
                  <a:srgbClr val="383838"/>
                </a:solidFill>
                <a:latin typeface="微软雅黑"/>
                <a:ea typeface="微软雅黑"/>
                <a:cs typeface="微软雅黑"/>
              </a:rPr>
              <a:t>功能，首年用户即破亿</a:t>
            </a:r>
            <a:endParaRPr lang="zh-CN" altLang="en-US" sz="1000" dirty="0">
              <a:solidFill>
                <a:srgbClr val="383838"/>
              </a:solidFill>
              <a:latin typeface="微软雅黑"/>
              <a:ea typeface="微软雅黑"/>
              <a:cs typeface="微软雅黑"/>
            </a:endParaRPr>
          </a:p>
        </p:txBody>
      </p:sp>
      <p:sp>
        <p:nvSpPr>
          <p:cNvPr id="8" name="文本框 7"/>
          <p:cNvSpPr txBox="1"/>
          <p:nvPr/>
        </p:nvSpPr>
        <p:spPr>
          <a:xfrm>
            <a:off x="3606165" y="4730750"/>
            <a:ext cx="2583180" cy="1751965"/>
          </a:xfrm>
          <a:prstGeom prst="rect">
            <a:avLst/>
          </a:prstGeom>
          <a:noFill/>
        </p:spPr>
        <p:txBody>
          <a:bodyPr wrap="square" rtlCol="0" lIns="0" rIns="0" tIns="0" bIns="0" anchor="t">
            <a:noAutofit/>
          </a:bodyPr>
          <a:lstStyle/>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1. 2013年5月：</a:t>
            </a:r>
            <a:r>
              <a:rPr lang="en-US" altLang="zh-CN" sz="1000" dirty="0">
                <a:solidFill>
                  <a:srgbClr val="383838"/>
                </a:solidFill>
                <a:latin typeface="微软雅黑"/>
                <a:ea typeface="微软雅黑"/>
                <a:cs typeface="微软雅黑"/>
                <a:sym typeface="微软雅黑"/>
              </a:rPr>
              <a:t>发布首款美图手机，开创“自拍手机”品类，一度成为公司最大收入来源。</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2. 2014年5月：</a:t>
            </a:r>
            <a:r>
              <a:rPr lang="en-US" altLang="zh-CN" sz="1000" dirty="0">
                <a:solidFill>
                  <a:srgbClr val="383838"/>
                </a:solidFill>
                <a:latin typeface="微软雅黑"/>
                <a:ea typeface="微软雅黑"/>
                <a:cs typeface="微软雅黑"/>
                <a:sym typeface="微软雅黑"/>
              </a:rPr>
              <a:t>推出短视频社区美拍，上线后连续24天蝉联App Store免费总榜冠军，成为早期短视频领头羊。</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3. 2016年12月15日：</a:t>
            </a:r>
            <a:r>
              <a:rPr lang="en-US" altLang="zh-CN" sz="1000" dirty="0">
                <a:solidFill>
                  <a:srgbClr val="383838"/>
                </a:solidFill>
                <a:latin typeface="微软雅黑"/>
                <a:ea typeface="微软雅黑"/>
                <a:cs typeface="微软雅黑"/>
                <a:sym typeface="微软雅黑"/>
              </a:rPr>
              <a:t>在香港联交所主板挂牌上市（股票代码：1357.HK），成为腾讯之后港股最大的科技企业IPO。</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4. 2017年3月：</a:t>
            </a:r>
            <a:r>
              <a:rPr lang="en-US" altLang="zh-CN" sz="1000" dirty="0">
                <a:solidFill>
                  <a:srgbClr val="383838"/>
                </a:solidFill>
                <a:latin typeface="微软雅黑"/>
                <a:ea typeface="微软雅黑"/>
                <a:cs typeface="微软雅黑"/>
                <a:sym typeface="微软雅黑"/>
              </a:rPr>
              <a:t>市值一度突破970亿港元，达到历史巅。</a:t>
            </a:r>
            <a:endParaRPr lang="en-US" altLang="zh-CN" sz="1000" dirty="0">
              <a:solidFill>
                <a:srgbClr val="383838"/>
              </a:solidFill>
              <a:latin typeface="微软雅黑"/>
              <a:ea typeface="微软雅黑"/>
              <a:cs typeface="微软雅黑"/>
              <a:sym typeface="微软雅黑"/>
            </a:endParaRPr>
          </a:p>
        </p:txBody>
      </p:sp>
      <p:sp>
        <p:nvSpPr>
          <p:cNvPr id="10" name="文本框 9"/>
          <p:cNvSpPr txBox="1"/>
          <p:nvPr/>
        </p:nvSpPr>
        <p:spPr>
          <a:xfrm>
            <a:off x="6480810" y="3921125"/>
            <a:ext cx="2693035" cy="1751965"/>
          </a:xfrm>
          <a:prstGeom prst="rect">
            <a:avLst/>
          </a:prstGeom>
          <a:noFill/>
        </p:spPr>
        <p:txBody>
          <a:bodyPr wrap="square" rtlCol="0" lIns="0" rIns="0" tIns="0" bIns="0" anchor="t">
            <a:noAutofit/>
          </a:bodyPr>
          <a:lstStyle/>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1. 2018年11月：</a:t>
            </a:r>
            <a:r>
              <a:rPr lang="en-US" altLang="zh-CN" sz="1000" dirty="0">
                <a:solidFill>
                  <a:srgbClr val="383838"/>
                </a:solidFill>
                <a:latin typeface="微软雅黑"/>
                <a:ea typeface="微软雅黑"/>
                <a:cs typeface="微软雅黑"/>
                <a:sym typeface="微软雅黑"/>
              </a:rPr>
              <a:t>将美图手机品牌授权给小米，正式关停手机业务。</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2. 2018年：</a:t>
            </a:r>
            <a:r>
              <a:rPr lang="en-US" altLang="zh-CN" sz="1000" dirty="0">
                <a:solidFill>
                  <a:srgbClr val="383838"/>
                </a:solidFill>
                <a:latin typeface="微软雅黑"/>
                <a:ea typeface="微软雅黑"/>
                <a:cs typeface="微软雅黑"/>
                <a:sym typeface="微软雅黑"/>
              </a:rPr>
              <a:t>美拍用户流失严重，从巅峰期过亿日活跌至不足千万。</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3. 2019年：</a:t>
            </a:r>
            <a:r>
              <a:rPr lang="en-US" altLang="zh-CN" sz="1000" dirty="0">
                <a:solidFill>
                  <a:srgbClr val="383838"/>
                </a:solidFill>
                <a:latin typeface="微软雅黑"/>
                <a:ea typeface="微软雅黑"/>
                <a:cs typeface="微软雅黑"/>
                <a:sym typeface="微软雅黑"/>
              </a:rPr>
              <a:t>公司全年净亏损1.9亿元，员工从3300多人骤降至1300多人。</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4. 2021年3月：</a:t>
            </a:r>
            <a:r>
              <a:rPr lang="en-US" altLang="zh-CN" sz="1000" dirty="0">
                <a:solidFill>
                  <a:srgbClr val="383838"/>
                </a:solidFill>
                <a:latin typeface="微软雅黑"/>
                <a:ea typeface="微软雅黑"/>
                <a:cs typeface="微软雅黑"/>
                <a:sym typeface="微软雅黑"/>
              </a:rPr>
              <a:t>高调进军加密货币，购入比特币和以太币，随后因币价波动产生巨额账面亏损。</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5. 2021年底：</a:t>
            </a:r>
            <a:r>
              <a:rPr lang="en-US" altLang="zh-CN" sz="1000" dirty="0">
                <a:solidFill>
                  <a:srgbClr val="383838"/>
                </a:solidFill>
                <a:latin typeface="微软雅黑"/>
                <a:ea typeface="微软雅黑"/>
                <a:cs typeface="微软雅黑"/>
                <a:sym typeface="微软雅黑"/>
              </a:rPr>
              <a:t>月活跃用户较2016年上市时流失一半</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p:txBody>
      </p:sp>
      <p:sp>
        <p:nvSpPr>
          <p:cNvPr id="11" name="文本框 10"/>
          <p:cNvSpPr txBox="1"/>
          <p:nvPr/>
        </p:nvSpPr>
        <p:spPr>
          <a:xfrm>
            <a:off x="9465310" y="2813050"/>
            <a:ext cx="2534920" cy="2084070"/>
          </a:xfrm>
          <a:prstGeom prst="rect">
            <a:avLst/>
          </a:prstGeom>
          <a:noFill/>
        </p:spPr>
        <p:txBody>
          <a:bodyPr wrap="square" rtlCol="0" lIns="0" rIns="0" tIns="0" bIns="0" anchor="t">
            <a:noAutofit/>
          </a:bodyPr>
          <a:lstStyle/>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1. 2022年底：</a:t>
            </a:r>
            <a:r>
              <a:rPr lang="en-US" altLang="zh-CN" sz="1000" dirty="0">
                <a:solidFill>
                  <a:srgbClr val="383838"/>
                </a:solidFill>
                <a:latin typeface="微软雅黑"/>
                <a:ea typeface="微软雅黑"/>
                <a:cs typeface="微软雅黑"/>
                <a:sym typeface="微软雅黑"/>
              </a:rPr>
              <a:t>美图秀秀凭借AI绘画功能风靡全球，登顶美国、日本等数十个国家应用商店榜首。</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2. 2023年：</a:t>
            </a:r>
            <a:r>
              <a:rPr lang="en-US" altLang="zh-CN" sz="1000" dirty="0">
                <a:solidFill>
                  <a:srgbClr val="383838"/>
                </a:solidFill>
                <a:latin typeface="微软雅黑"/>
                <a:ea typeface="微软雅黑"/>
                <a:cs typeface="微软雅黑"/>
                <a:sym typeface="微软雅黑"/>
              </a:rPr>
              <a:t>吴欣鸿重掌董事长之位，发布自研视觉大模型MiracleVision及七大AI生产力工具。</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3. 2023年：</a:t>
            </a:r>
            <a:r>
              <a:rPr lang="en-US" altLang="zh-CN" sz="1000" dirty="0">
                <a:solidFill>
                  <a:srgbClr val="383838"/>
                </a:solidFill>
                <a:latin typeface="微软雅黑"/>
                <a:ea typeface="微软雅黑"/>
                <a:cs typeface="微软雅黑"/>
                <a:sym typeface="微软雅黑"/>
              </a:rPr>
              <a:t>经调整净利润3.7亿元，同比增长233.2%，实现历史性逆转。</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4. 2024年：</a:t>
            </a:r>
            <a:r>
              <a:rPr lang="en-US" altLang="zh-CN" sz="1000" dirty="0">
                <a:solidFill>
                  <a:srgbClr val="383838"/>
                </a:solidFill>
                <a:latin typeface="微软雅黑"/>
                <a:ea typeface="微软雅黑"/>
                <a:cs typeface="微软雅黑"/>
                <a:sym typeface="微软雅黑"/>
              </a:rPr>
              <a:t>付费订阅用户突破1261万，付费渗透率提升至4.7%。</a:t>
            </a:r>
            <a:endParaRPr lang="en-US" altLang="zh-CN" sz="1000" dirty="0">
              <a:solidFill>
                <a:srgbClr val="383838"/>
              </a:solidFill>
              <a:latin typeface="微软雅黑"/>
              <a:ea typeface="微软雅黑"/>
              <a:cs typeface="微软雅黑"/>
              <a:sym typeface="微软雅黑"/>
            </a:endParaRPr>
          </a:p>
          <a:p>
            <a:pPr lvl="0" algn="l">
              <a:lnSpc>
                <a:spcPts val="1120"/>
              </a:lnSpc>
              <a:buClrTx/>
              <a:buSzTx/>
              <a:buFontTx/>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sym typeface="微软雅黑"/>
              </a:rPr>
              <a:t>5. 2025年6月：</a:t>
            </a:r>
            <a:r>
              <a:rPr lang="en-US" altLang="zh-CN" sz="1000" dirty="0">
                <a:solidFill>
                  <a:srgbClr val="383838"/>
                </a:solidFill>
                <a:latin typeface="微软雅黑"/>
                <a:ea typeface="微软雅黑"/>
                <a:cs typeface="微软雅黑"/>
                <a:sym typeface="微软雅黑"/>
              </a:rPr>
              <a:t>全球月活跃用户数达2.8亿，其中海外用户9800万</a:t>
            </a:r>
            <a:r>
              <a:rPr lang="zh-CN" altLang="en-US" sz="1000" dirty="0">
                <a:solidFill>
                  <a:srgbClr val="383838"/>
                </a:solidFill>
                <a:latin typeface="微软雅黑"/>
                <a:ea typeface="微软雅黑"/>
                <a:cs typeface="微软雅黑"/>
                <a:sym typeface="微软雅黑"/>
              </a:rPr>
              <a:t>。</a:t>
            </a:r>
            <a:endParaRPr lang="zh-CN" altLang="en-US" sz="1000" dirty="0">
              <a:solidFill>
                <a:srgbClr val="383838"/>
              </a:solidFill>
              <a:latin typeface="微软雅黑"/>
              <a:ea typeface="微软雅黑"/>
              <a:cs typeface="微软雅黑"/>
              <a:sym typeface="微软雅黑"/>
            </a:endParaRPr>
          </a:p>
        </p:txBody>
      </p:sp>
      <p:grpSp>
        <p:nvGrpSpPr>
          <p:cNvPr id="55" name="组合 54"/>
          <p:cNvGrpSpPr/>
          <p:nvPr>
            <p:custDataLst>
              <p:tags r:id="rId10"/>
            </p:custDataLst>
          </p:nvPr>
        </p:nvGrpSpPr>
        <p:grpSpPr>
          <a:xfrm>
            <a:off x="3108960" y="2746375"/>
            <a:ext cx="2075180" cy="1059180"/>
            <a:chOff x="968" y="3691"/>
            <a:chExt cx="3268" cy="1668"/>
          </a:xfrm>
        </p:grpSpPr>
        <p:sp>
          <p:nvSpPr>
            <p:cNvPr id="56" name="矩形 55"/>
            <p:cNvSpPr/>
            <p:nvPr>
              <p:custDataLst>
                <p:tags r:id="rId11"/>
              </p:custDataLst>
            </p:nvPr>
          </p:nvSpPr>
          <p:spPr>
            <a:xfrm>
              <a:off x="1784" y="3705"/>
              <a:ext cx="1488" cy="628"/>
            </a:xfrm>
            <a:prstGeom prst="rect">
              <a:avLst/>
            </a:prstGeom>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rPr>
                <a:t>多元化探索期</a:t>
              </a:r>
              <a:endPar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2013-2018</a:t>
              </a:r>
              <a:endPar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58" name="文本框 57"/>
            <p:cNvSpPr txBox="1"/>
            <p:nvPr>
              <p:custDataLst>
                <p:tags r:id="rId12"/>
              </p:custDataLst>
            </p:nvPr>
          </p:nvSpPr>
          <p:spPr>
            <a:xfrm>
              <a:off x="968" y="4523"/>
              <a:ext cx="3268" cy="836"/>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a:t>
              </a:r>
              <a:r>
                <a:rPr lang="zh-CN" altLang="en-US" sz="1000" b="1" dirty="0">
                  <a:solidFill>
                    <a:srgbClr val="383838"/>
                  </a:solidFill>
                  <a:latin typeface="微软雅黑"/>
                  <a:ea typeface="微软雅黑"/>
                  <a:cs typeface="微软雅黑"/>
                </a:rPr>
                <a:t>追风逐浪，高光坠落</a:t>
              </a:r>
              <a:r>
                <a:rPr lang="en-US" altLang="zh-CN" sz="1000" b="1" dirty="0">
                  <a:solidFill>
                    <a:srgbClr val="383838"/>
                  </a:solidFill>
                  <a:latin typeface="微软雅黑"/>
                  <a:ea typeface="微软雅黑"/>
                  <a:cs typeface="微软雅黑"/>
                </a:rPr>
                <a:t>”</a:t>
              </a:r>
              <a:endParaRPr lang="en-US" altLang="zh-CN" sz="1000" b="1"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跨界进入手机硬件、短视频、电商等多个领域，并成功登陆港交所。</a:t>
              </a:r>
              <a:endParaRPr lang="zh-CN" altLang="en-US" sz="1000" dirty="0">
                <a:solidFill>
                  <a:srgbClr val="383838"/>
                </a:solidFill>
                <a:latin typeface="微软雅黑"/>
                <a:ea typeface="微软雅黑"/>
                <a:cs typeface="微软雅黑"/>
              </a:endParaRPr>
            </a:p>
          </p:txBody>
        </p:sp>
        <p:sp>
          <p:nvSpPr>
            <p:cNvPr id="59" name="圆角矩形 58"/>
            <p:cNvSpPr/>
            <p:nvPr>
              <p:custDataLst>
                <p:tags r:id="rId13"/>
              </p:custDataLst>
            </p:nvPr>
          </p:nvSpPr>
          <p:spPr>
            <a:xfrm>
              <a:off x="1091" y="3691"/>
              <a:ext cx="655" cy="655"/>
            </a:xfrm>
            <a:prstGeom prst="roundRect">
              <a:avLst/>
            </a:prstGeom>
            <a:solidFill>
              <a:srgbClr val="0042FF"/>
            </a:solidFill>
            <a:ln>
              <a:noFill/>
            </a:ln>
            <a:effectLst>
              <a:outerShdw blurRad="228600" dist="38100" dir="5400000" sx="112000" sy="112000" algn="t" rotWithShape="0">
                <a:srgbClr val="0042FF">
                  <a:alpha val="32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62" name="文本框 61"/>
            <p:cNvSpPr txBox="1"/>
            <p:nvPr>
              <p:custDataLst>
                <p:tags r:id="rId14"/>
              </p:custDataLst>
            </p:nvPr>
          </p:nvSpPr>
          <p:spPr>
            <a:xfrm>
              <a:off x="1078" y="3753"/>
              <a:ext cx="682" cy="531"/>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en-US" altLang="zh-CN" sz="1600" b="1" dirty="0">
                  <a:solidFill>
                    <a:srgbClr val="FFFFFF"/>
                  </a:solidFill>
                  <a:latin typeface="微软雅黑"/>
                  <a:ea typeface="微软雅黑"/>
                  <a:cs typeface="微软雅黑"/>
                </a:rPr>
                <a:t>02</a:t>
              </a:r>
              <a:endParaRPr kumimoji="1" lang="en-US" altLang="zh-CN" sz="1600" b="1" dirty="0">
                <a:solidFill>
                  <a:srgbClr val="FFFFFF"/>
                </a:solidFill>
                <a:latin typeface="微软雅黑"/>
                <a:ea typeface="微软雅黑"/>
                <a:cs typeface="微软雅黑"/>
              </a:endParaRPr>
            </a:p>
          </p:txBody>
        </p:sp>
      </p:grpSp>
      <p:grpSp>
        <p:nvGrpSpPr>
          <p:cNvPr id="63" name="组合 62"/>
          <p:cNvGrpSpPr/>
          <p:nvPr>
            <p:custDataLst>
              <p:tags r:id="rId15"/>
            </p:custDataLst>
          </p:nvPr>
        </p:nvGrpSpPr>
        <p:grpSpPr>
          <a:xfrm>
            <a:off x="5845175" y="1863725"/>
            <a:ext cx="2075180" cy="1194435"/>
            <a:chOff x="968" y="3691"/>
            <a:chExt cx="3268" cy="1881"/>
          </a:xfrm>
        </p:grpSpPr>
        <p:sp>
          <p:nvSpPr>
            <p:cNvPr id="68" name="矩形 67"/>
            <p:cNvSpPr/>
            <p:nvPr>
              <p:custDataLst>
                <p:tags r:id="rId16"/>
              </p:custDataLst>
            </p:nvPr>
          </p:nvSpPr>
          <p:spPr>
            <a:xfrm>
              <a:off x="1784" y="3705"/>
              <a:ext cx="1888" cy="628"/>
            </a:xfrm>
            <a:prstGeom prst="rect">
              <a:avLst/>
            </a:prstGeom>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rPr>
                <a:t>战略收缩与阵痛期</a:t>
              </a:r>
              <a:endPar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2018-2022</a:t>
              </a:r>
              <a:endPar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69" name="文本框 68"/>
            <p:cNvSpPr txBox="1"/>
            <p:nvPr>
              <p:custDataLst>
                <p:tags r:id="rId17"/>
              </p:custDataLst>
            </p:nvPr>
          </p:nvSpPr>
          <p:spPr>
            <a:xfrm>
              <a:off x="968" y="4523"/>
              <a:ext cx="3268" cy="1202"/>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a:t>
              </a:r>
              <a:r>
                <a:rPr lang="zh-CN" altLang="en-US" sz="1000" b="1" dirty="0">
                  <a:solidFill>
                    <a:srgbClr val="383838"/>
                  </a:solidFill>
                  <a:latin typeface="微软雅黑"/>
                  <a:ea typeface="微软雅黑"/>
                  <a:cs typeface="微软雅黑"/>
                </a:rPr>
                <a:t>断臂求生，寻找方向</a:t>
              </a:r>
              <a:r>
                <a:rPr lang="en-US" altLang="zh-CN" sz="1000" b="1" dirty="0">
                  <a:solidFill>
                    <a:srgbClr val="383838"/>
                  </a:solidFill>
                  <a:latin typeface="微软雅黑"/>
                  <a:ea typeface="微软雅黑"/>
                  <a:cs typeface="微软雅黑"/>
                </a:rPr>
                <a:t>”</a:t>
              </a:r>
              <a:endParaRPr lang="en-US" altLang="zh-CN" sz="1000" b="1"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手机和美拍两大业务在激烈竞争中败退，公司陷入连续亏损；剥离硬件业务，尝试社交、电商、区块链、加密货币等新方向。</a:t>
              </a:r>
              <a:endParaRPr lang="zh-CN" altLang="en-US" sz="1000" dirty="0">
                <a:solidFill>
                  <a:srgbClr val="383838"/>
                </a:solidFill>
                <a:latin typeface="微软雅黑"/>
                <a:ea typeface="微软雅黑"/>
                <a:cs typeface="微软雅黑"/>
              </a:endParaRPr>
            </a:p>
          </p:txBody>
        </p:sp>
        <p:sp>
          <p:nvSpPr>
            <p:cNvPr id="70" name="圆角矩形 69"/>
            <p:cNvSpPr/>
            <p:nvPr>
              <p:custDataLst>
                <p:tags r:id="rId18"/>
              </p:custDataLst>
            </p:nvPr>
          </p:nvSpPr>
          <p:spPr>
            <a:xfrm>
              <a:off x="1091" y="3691"/>
              <a:ext cx="655" cy="655"/>
            </a:xfrm>
            <a:prstGeom prst="roundRect">
              <a:avLst/>
            </a:prstGeom>
            <a:solidFill>
              <a:srgbClr val="3368FF"/>
            </a:solidFill>
            <a:ln>
              <a:noFill/>
            </a:ln>
            <a:effectLst>
              <a:outerShdw blurRad="228600" dist="38100" dir="5400000" sx="112000" sy="112000" algn="t" rotWithShape="0">
                <a:srgbClr val="3368FF">
                  <a:alpha val="32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85" name="文本框 84"/>
            <p:cNvSpPr txBox="1"/>
            <p:nvPr>
              <p:custDataLst>
                <p:tags r:id="rId19"/>
              </p:custDataLst>
            </p:nvPr>
          </p:nvSpPr>
          <p:spPr>
            <a:xfrm>
              <a:off x="1078" y="3753"/>
              <a:ext cx="682" cy="531"/>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en-US" altLang="zh-CN" sz="1600" b="1" dirty="0">
                  <a:solidFill>
                    <a:srgbClr val="FFFFFF"/>
                  </a:solidFill>
                  <a:latin typeface="微软雅黑"/>
                  <a:ea typeface="微软雅黑"/>
                  <a:cs typeface="微软雅黑"/>
                </a:rPr>
                <a:t>03</a:t>
              </a:r>
              <a:endParaRPr kumimoji="1" lang="en-US" altLang="zh-CN" sz="1600" b="1" dirty="0">
                <a:solidFill>
                  <a:srgbClr val="FFFFFF"/>
                </a:solidFill>
                <a:latin typeface="微软雅黑"/>
                <a:ea typeface="微软雅黑"/>
                <a:cs typeface="微软雅黑"/>
              </a:endParaRPr>
            </a:p>
          </p:txBody>
        </p:sp>
      </p:grpSp>
      <p:grpSp>
        <p:nvGrpSpPr>
          <p:cNvPr id="86" name="组合 85"/>
          <p:cNvGrpSpPr/>
          <p:nvPr>
            <p:custDataLst>
              <p:tags r:id="rId20"/>
            </p:custDataLst>
          </p:nvPr>
        </p:nvGrpSpPr>
        <p:grpSpPr>
          <a:xfrm>
            <a:off x="9511030" y="1067435"/>
            <a:ext cx="2075180" cy="1024890"/>
            <a:chOff x="968" y="3691"/>
            <a:chExt cx="3268" cy="1614"/>
          </a:xfrm>
        </p:grpSpPr>
        <p:sp>
          <p:nvSpPr>
            <p:cNvPr id="87" name="矩形 86"/>
            <p:cNvSpPr/>
            <p:nvPr>
              <p:custDataLst>
                <p:tags r:id="rId21"/>
              </p:custDataLst>
            </p:nvPr>
          </p:nvSpPr>
          <p:spPr>
            <a:xfrm>
              <a:off x="1784" y="3705"/>
              <a:ext cx="1505" cy="628"/>
            </a:xfrm>
            <a:prstGeom prst="rect">
              <a:avLst/>
            </a:prstGeom>
          </p:spPr>
          <p:txBody>
            <a:bodyPr wrap="none" lIns="0" rIns="0" tIns="0" bIns="0">
              <a:spAutoFit/>
            </a:bodyPr>
            <a:lstStyle/>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b="1" u="none" strike="noStrike" kern="1200" cap="none" spc="0" normalizeH="0" baseline="0" noProof="0" dirty="0">
                  <a:ln>
                    <a:noFill/>
                  </a:ln>
                  <a:solidFill>
                    <a:srgbClr val="0042FF"/>
                  </a:solidFill>
                  <a:effectLst/>
                  <a:uLnTx/>
                  <a:uFillTx/>
                  <a:latin typeface="微软雅黑"/>
                  <a:ea typeface="微软雅黑"/>
                  <a:cs typeface="微软雅黑"/>
                </a:rPr>
                <a:t>AI</a:t>
              </a:r>
              <a:r>
                <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rPr>
                <a:t>驱动重生期</a:t>
              </a:r>
              <a:endParaRPr kumimoji="0" lang="zh-CN" altLang="en-US" sz="1000" b="1" u="none" strike="noStrike" kern="1200" cap="none" spc="0" normalizeH="0" baseline="0" noProof="0" dirty="0">
                <a:ln>
                  <a:noFill/>
                </a:ln>
                <a:solidFill>
                  <a:srgbClr val="0042FF"/>
                </a:solidFill>
                <a:effectLst/>
                <a:uLnTx/>
                <a:uFillTx/>
                <a:latin typeface="微软雅黑"/>
                <a:ea typeface="微软雅黑"/>
                <a:cs typeface="微软雅黑"/>
              </a:endParaRPr>
            </a:p>
            <a:p>
              <a:pPr marL="0" marR="0" lvl="0" indent="0" algn="l" defTabSz="914400" rtl="0" eaLnBrk="1" fontAlgn="auto" latinLnBrk="0" hangingPunct="1">
                <a:lnSpc>
                  <a:spcPct val="100000"/>
                </a:lnSpc>
                <a:spcBef>
                  <a:spcPts val="0"/>
                </a:spcBef>
                <a:spcAft>
                  <a:spcPts val="0"/>
                </a:spcAft>
                <a:buClrTx/>
                <a:buSzTx/>
                <a:buFontTx/>
                <a:buNone/>
                <a:defRPr>
                  <a:latin typeface="微软雅黑"/>
                  <a:ea typeface="微软雅黑"/>
                  <a:cs typeface="微软雅黑"/>
                </a:defRPr>
              </a:pPr>
              <a:r>
                <a:rPr kumimoji="0" lang="en-US" altLang="zh-CN" sz="1000" u="none" strike="noStrike" kern="1200" cap="none" spc="0" normalizeH="0" baseline="0" noProof="0" dirty="0">
                  <a:ln>
                    <a:noFill/>
                  </a:ln>
                  <a:solidFill>
                    <a:srgbClr val="383838"/>
                  </a:solidFill>
                  <a:effectLst/>
                  <a:uLnTx/>
                  <a:uFillTx/>
                  <a:latin typeface="微软雅黑"/>
                  <a:ea typeface="微软雅黑"/>
                  <a:cs typeface="微软雅黑"/>
                </a:rPr>
                <a:t>2022-</a:t>
              </a:r>
              <a:r>
                <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rPr>
                <a:t>至今</a:t>
              </a:r>
              <a:endParaRPr kumimoji="0" lang="zh-CN" altLang="en-US" sz="1000" u="none" strike="noStrike" kern="1200" cap="none" spc="0" normalizeH="0" baseline="0" noProof="0" dirty="0">
                <a:ln>
                  <a:noFill/>
                </a:ln>
                <a:solidFill>
                  <a:srgbClr val="383838"/>
                </a:solidFill>
                <a:effectLst/>
                <a:uLnTx/>
                <a:uFillTx/>
                <a:latin typeface="微软雅黑"/>
                <a:ea typeface="微软雅黑"/>
                <a:cs typeface="微软雅黑"/>
              </a:endParaRPr>
            </a:p>
          </p:txBody>
        </p:sp>
        <p:sp>
          <p:nvSpPr>
            <p:cNvPr id="88" name="文本框 87"/>
            <p:cNvSpPr txBox="1"/>
            <p:nvPr>
              <p:custDataLst>
                <p:tags r:id="rId22"/>
              </p:custDataLst>
            </p:nvPr>
          </p:nvSpPr>
          <p:spPr>
            <a:xfrm>
              <a:off x="968" y="4469"/>
              <a:ext cx="3268" cy="836"/>
            </a:xfrm>
            <a:prstGeom prst="rect">
              <a:avLst/>
            </a:prstGeom>
            <a:noFill/>
          </p:spPr>
          <p:txBody>
            <a:bodyPr wrap="square" lIns="0" rIns="0" tIns="0" bIns="0" anchor="t">
              <a:noAutofit/>
            </a:bodyPr>
            <a:lstStyle/>
            <a:p>
              <a:pPr>
                <a:lnSpc>
                  <a:spcPts val="1120"/>
                </a:lnSpc>
                <a:defRPr>
                  <a:latin typeface="微软雅黑"/>
                  <a:ea typeface="微软雅黑"/>
                  <a:cs typeface="微软雅黑"/>
                </a:defRPr>
                <a:spcBef>
                  <a:spcPts val="0"/>
                </a:spcBef>
                <a:spcAft>
                  <a:spcPts val="0"/>
                </a:spcAft>
              </a:pPr>
              <a:r>
                <a:rPr lang="en-US" altLang="zh-CN" sz="1000" b="1" dirty="0">
                  <a:solidFill>
                    <a:srgbClr val="383838"/>
                  </a:solidFill>
                  <a:latin typeface="微软雅黑"/>
                  <a:ea typeface="微软雅黑"/>
                  <a:cs typeface="微软雅黑"/>
                </a:rPr>
                <a:t>“</a:t>
              </a:r>
              <a:r>
                <a:rPr lang="zh-CN" altLang="en-US" sz="1000" b="1" dirty="0">
                  <a:solidFill>
                    <a:srgbClr val="383838"/>
                  </a:solidFill>
                  <a:latin typeface="微软雅黑"/>
                  <a:ea typeface="微软雅黑"/>
                  <a:cs typeface="微软雅黑"/>
                </a:rPr>
                <a:t>聚焦</a:t>
              </a:r>
              <a:r>
                <a:rPr lang="en-US" altLang="zh-CN" sz="1000" b="1" dirty="0">
                  <a:solidFill>
                    <a:srgbClr val="383838"/>
                  </a:solidFill>
                  <a:latin typeface="微软雅黑"/>
                  <a:ea typeface="微软雅黑"/>
                  <a:cs typeface="微软雅黑"/>
                </a:rPr>
                <a:t>AI</a:t>
              </a:r>
              <a:r>
                <a:rPr lang="zh-CN" altLang="en-US" sz="1000" b="1" dirty="0">
                  <a:solidFill>
                    <a:srgbClr val="383838"/>
                  </a:solidFill>
                  <a:latin typeface="微软雅黑"/>
                  <a:ea typeface="微软雅黑"/>
                  <a:cs typeface="微软雅黑"/>
                </a:rPr>
                <a:t>，王者归来</a:t>
              </a:r>
              <a:r>
                <a:rPr lang="en-US" altLang="zh-CN" sz="1000" b="1" dirty="0">
                  <a:solidFill>
                    <a:srgbClr val="383838"/>
                  </a:solidFill>
                  <a:latin typeface="微软雅黑"/>
                  <a:ea typeface="微软雅黑"/>
                  <a:cs typeface="微软雅黑"/>
                </a:rPr>
                <a:t>”</a:t>
              </a:r>
              <a:endParaRPr lang="en-US" altLang="zh-CN" sz="1000" b="1" dirty="0">
                <a:solidFill>
                  <a:srgbClr val="383838"/>
                </a:solidFill>
                <a:latin typeface="微软雅黑"/>
                <a:ea typeface="微软雅黑"/>
                <a:cs typeface="微软雅黑"/>
              </a:endParaRPr>
            </a:p>
            <a:p>
              <a:pPr>
                <a:lnSpc>
                  <a:spcPts val="1120"/>
                </a:lnSpc>
                <a:defRPr>
                  <a:latin typeface="微软雅黑"/>
                  <a:ea typeface="微软雅黑"/>
                  <a:cs typeface="微软雅黑"/>
                </a:defRPr>
                <a:spcBef>
                  <a:spcPts val="0"/>
                </a:spcBef>
                <a:spcAft>
                  <a:spcPts val="0"/>
                </a:spcAft>
              </a:pPr>
              <a:r>
                <a:rPr lang="zh-CN" altLang="en-US" sz="1000" dirty="0">
                  <a:solidFill>
                    <a:srgbClr val="383838"/>
                  </a:solidFill>
                  <a:latin typeface="微软雅黑"/>
                  <a:ea typeface="微软雅黑"/>
                  <a:cs typeface="微软雅黑"/>
                </a:rPr>
                <a:t>回归影像主业，全面押注人工智能；付费订阅模式跑通，业绩大幅逆转</a:t>
              </a:r>
              <a:r>
                <a:rPr lang="zh-CN" sz="1000" dirty="0">
                  <a:solidFill>
                    <a:srgbClr val="383838"/>
                  </a:solidFill>
                  <a:latin typeface="微软雅黑"/>
                  <a:ea typeface="微软雅黑"/>
                  <a:cs typeface="微软雅黑"/>
                </a:rPr>
                <a:t>。</a:t>
              </a:r>
              <a:endParaRPr lang="zh-CN" sz="1000" dirty="0">
                <a:solidFill>
                  <a:srgbClr val="383838"/>
                </a:solidFill>
                <a:latin typeface="微软雅黑"/>
                <a:ea typeface="微软雅黑"/>
                <a:cs typeface="微软雅黑"/>
              </a:endParaRPr>
            </a:p>
          </p:txBody>
        </p:sp>
        <p:sp>
          <p:nvSpPr>
            <p:cNvPr id="89" name="圆角矩形 88"/>
            <p:cNvSpPr/>
            <p:nvPr>
              <p:custDataLst>
                <p:tags r:id="rId23"/>
              </p:custDataLst>
            </p:nvPr>
          </p:nvSpPr>
          <p:spPr>
            <a:xfrm>
              <a:off x="1091" y="3691"/>
              <a:ext cx="655" cy="655"/>
            </a:xfrm>
            <a:prstGeom prst="roundRect">
              <a:avLst/>
            </a:prstGeom>
            <a:solidFill>
              <a:srgbClr val="3368FF"/>
            </a:solidFill>
            <a:ln>
              <a:noFill/>
            </a:ln>
            <a:effectLst>
              <a:outerShdw blurRad="228600" dist="38100" dir="5400000" sx="112000" sy="112000" algn="t" rotWithShape="0">
                <a:srgbClr val="3368FF">
                  <a:alpha val="32000"/>
                </a:srgbClr>
              </a:outerShdw>
            </a:effectLst>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sz="1000">
                <a:solidFill>
                  <a:srgbClr val="FFFFFF"/>
                </a:solidFill>
                <a:latin typeface="微软雅黑"/>
                <a:ea typeface="微软雅黑"/>
                <a:cs typeface="微软雅黑"/>
              </a:endParaRPr>
            </a:p>
          </p:txBody>
        </p:sp>
        <p:sp>
          <p:nvSpPr>
            <p:cNvPr id="90" name="文本框 89"/>
            <p:cNvSpPr txBox="1"/>
            <p:nvPr>
              <p:custDataLst>
                <p:tags r:id="rId24"/>
              </p:custDataLst>
            </p:nvPr>
          </p:nvSpPr>
          <p:spPr>
            <a:xfrm>
              <a:off x="1078" y="3753"/>
              <a:ext cx="682" cy="531"/>
            </a:xfrm>
            <a:prstGeom prst="rect">
              <a:avLst/>
            </a:prstGeom>
            <a:noFill/>
          </p:spPr>
          <p:txBody>
            <a:bodyPr wrap="none" rtlCol="0">
              <a:spAutoFit/>
            </a:bodyPr>
            <a:lstStyle/>
            <a:p>
              <a:pPr>
                <a:defRPr>
                  <a:solidFill>
                    <a:srgbClr val="FFFFFF"/>
                  </a:solidFill>
                  <a:latin typeface="微软雅黑"/>
                  <a:ea typeface="微软雅黑"/>
                  <a:cs typeface="微软雅黑"/>
                </a:defRPr>
              </a:pPr>
              <a:r>
                <a:rPr kumimoji="1" lang="en-US" altLang="zh-CN" sz="1600" b="1" dirty="0">
                  <a:solidFill>
                    <a:srgbClr val="FFFFFF"/>
                  </a:solidFill>
                  <a:latin typeface="微软雅黑"/>
                  <a:ea typeface="微软雅黑"/>
                  <a:cs typeface="微软雅黑"/>
                </a:rPr>
                <a:t>04</a:t>
              </a:r>
              <a:endParaRPr kumimoji="1" lang="en-US" altLang="zh-CN" sz="1600" b="1" dirty="0">
                <a:solidFill>
                  <a:srgbClr val="FFFFFF"/>
                </a:solidFill>
                <a:latin typeface="微软雅黑"/>
                <a:ea typeface="微软雅黑"/>
                <a:cs typeface="微软雅黑"/>
              </a:endParaRPr>
            </a:p>
          </p:txBody>
        </p:sp>
      </p:gr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2" name="组合 11"/>
          <p:cNvGrpSpPr/>
          <p:nvPr/>
        </p:nvGrpSpPr>
        <p:grpSpPr>
          <a:xfrm>
            <a:off x="8738235" y="348615"/>
            <a:ext cx="3219450" cy="332740"/>
            <a:chOff x="13761" y="549"/>
            <a:chExt cx="5070" cy="524"/>
          </a:xfrm>
        </p:grpSpPr>
        <p:pic>
          <p:nvPicPr>
            <p:cNvPr id="13" name="图片 12"/>
            <p:cNvPicPr>
              <a:picLocks noChangeAspect="1"/>
            </p:cNvPicPr>
            <p:nvPr userDrawn="1"/>
          </p:nvPicPr>
          <p:blipFill>
            <a:blip r:embed="rId25"/>
            <a:srcRect l="17002" t="-1765" r="56499" b="-1176"/>
            <a:stretch>
              <a:fillRect/>
            </a:stretch>
          </p:blipFill>
          <p:spPr>
            <a:xfrm>
              <a:off x="13761" y="549"/>
              <a:ext cx="1582" cy="525"/>
            </a:xfrm>
            <a:prstGeom prst="rect">
              <a:avLst/>
            </a:prstGeom>
          </p:spPr>
        </p:pic>
        <p:sp>
          <p:nvSpPr>
            <p:cNvPr id="16" name="文本框 15"/>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solidFill>
                  <a:srgbClr val="0042FF"/>
                </a:solidFill>
                <a:effectLst/>
                <a:latin typeface="微软雅黑"/>
                <a:ea typeface="微软雅黑"/>
                <a:cs typeface="微软雅黑"/>
              </a:rPr>
              <a:t>业务框架</a:t>
            </a:r>
            <a:r>
              <a:rPr lang="en-US" altLang="zh-CN" sz="2500">
                <a:solidFill>
                  <a:srgbClr val="0042FF"/>
                </a:solidFill>
                <a:effectLst/>
                <a:latin typeface="微软雅黑"/>
                <a:ea typeface="微软雅黑"/>
                <a:cs typeface="微软雅黑"/>
              </a:rPr>
              <a:t>-</a:t>
            </a:r>
            <a:r>
              <a:rPr sz="2500">
                <a:solidFill>
                  <a:srgbClr val="0042FF"/>
                </a:solidFill>
                <a:effectLst/>
                <a:latin typeface="微软雅黑"/>
                <a:ea typeface="微软雅黑"/>
                <a:cs typeface="微软雅黑"/>
              </a:rPr>
              <a:t>时间流程架构 | </a:t>
            </a:r>
            <a:r>
              <a:rPr lang="zh-CN" altLang="en-US" sz="2500">
                <a:solidFill>
                  <a:srgbClr val="383838"/>
                </a:solidFill>
                <a:effectLst/>
                <a:latin typeface="微软雅黑"/>
                <a:ea typeface="微软雅黑"/>
                <a:cs typeface="微软雅黑"/>
              </a:rPr>
              <a:t>营销计划关键节点达成</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图形 111"/>
          <p:cNvSpPr/>
          <p:nvPr/>
        </p:nvSpPr>
        <p:spPr>
          <a:xfrm>
            <a:off x="753832" y="2416727"/>
            <a:ext cx="10033238" cy="2556797"/>
          </a:xfrm>
          <a:custGeom>
            <a:avLst/>
            <a:gdLst>
              <a:gd name="connsiteX0" fmla="*/ -3553 w 10033238"/>
              <a:gd name="connsiteY0" fmla="*/ 1510353 h 2556797"/>
              <a:gd name="connsiteX1" fmla="*/ 1548604 w 10033238"/>
              <a:gd name="connsiteY1" fmla="*/ 1510353 h 2556797"/>
              <a:gd name="connsiteX2" fmla="*/ 1894676 w 10033238"/>
              <a:gd name="connsiteY2" fmla="*/ 1856424 h 2556797"/>
              <a:gd name="connsiteX3" fmla="*/ 1894676 w 10033238"/>
              <a:gd name="connsiteY3" fmla="*/ 2210244 h 2556797"/>
              <a:gd name="connsiteX4" fmla="*/ 2240749 w 10033238"/>
              <a:gd name="connsiteY4" fmla="*/ 2556316 h 2556797"/>
              <a:gd name="connsiteX5" fmla="*/ 2775351 w 10033238"/>
              <a:gd name="connsiteY5" fmla="*/ 2556316 h 2556797"/>
              <a:gd name="connsiteX6" fmla="*/ 3121423 w 10033238"/>
              <a:gd name="connsiteY6" fmla="*/ 2210244 h 2556797"/>
              <a:gd name="connsiteX7" fmla="*/ 3121423 w 10033238"/>
              <a:gd name="connsiteY7" fmla="*/ 855657 h 2556797"/>
              <a:gd name="connsiteX8" fmla="*/ 3467495 w 10033238"/>
              <a:gd name="connsiteY8" fmla="*/ 509586 h 2556797"/>
              <a:gd name="connsiteX9" fmla="*/ 4290966 w 10033238"/>
              <a:gd name="connsiteY9" fmla="*/ 509586 h 2556797"/>
              <a:gd name="connsiteX10" fmla="*/ 4637164 w 10033238"/>
              <a:gd name="connsiteY10" fmla="*/ 855528 h 2556797"/>
              <a:gd name="connsiteX11" fmla="*/ 4637164 w 10033238"/>
              <a:gd name="connsiteY11" fmla="*/ 855657 h 2556797"/>
              <a:gd name="connsiteX12" fmla="*/ 4637164 w 10033238"/>
              <a:gd name="connsiteY12" fmla="*/ 893106 h 2556797"/>
              <a:gd name="connsiteX13" fmla="*/ 4983236 w 10033238"/>
              <a:gd name="connsiteY13" fmla="*/ 1239177 h 2556797"/>
              <a:gd name="connsiteX14" fmla="*/ 5822589 w 10033238"/>
              <a:gd name="connsiteY14" fmla="*/ 1239177 h 2556797"/>
              <a:gd name="connsiteX15" fmla="*/ 6168662 w 10033238"/>
              <a:gd name="connsiteY15" fmla="*/ 893106 h 2556797"/>
              <a:gd name="connsiteX16" fmla="*/ 6168662 w 10033238"/>
              <a:gd name="connsiteY16" fmla="*/ 345589 h 2556797"/>
              <a:gd name="connsiteX17" fmla="*/ 6514734 w 10033238"/>
              <a:gd name="connsiteY17" fmla="*/ -483 h 2556797"/>
              <a:gd name="connsiteX18" fmla="*/ 6946031 w 10033238"/>
              <a:gd name="connsiteY18" fmla="*/ -483 h 2556797"/>
              <a:gd name="connsiteX19" fmla="*/ 7292103 w 10033238"/>
              <a:gd name="connsiteY19" fmla="*/ 345589 h 2556797"/>
              <a:gd name="connsiteX20" fmla="*/ 7292103 w 10033238"/>
              <a:gd name="connsiteY20" fmla="*/ 2068200 h 2556797"/>
              <a:gd name="connsiteX21" fmla="*/ 7638173 w 10033238"/>
              <a:gd name="connsiteY21" fmla="*/ 2414271 h 2556797"/>
              <a:gd name="connsiteX22" fmla="*/ 7979084 w 10033238"/>
              <a:gd name="connsiteY22" fmla="*/ 2414271 h 2556797"/>
              <a:gd name="connsiteX23" fmla="*/ 8325153 w 10033238"/>
              <a:gd name="connsiteY23" fmla="*/ 2068200 h 2556797"/>
              <a:gd name="connsiteX24" fmla="*/ 8325153 w 10033238"/>
              <a:gd name="connsiteY24" fmla="*/ 1533596 h 2556797"/>
              <a:gd name="connsiteX25" fmla="*/ 8671222 w 10033238"/>
              <a:gd name="connsiteY25" fmla="*/ 1187525 h 2556797"/>
              <a:gd name="connsiteX26" fmla="*/ 9683616 w 10033238"/>
              <a:gd name="connsiteY26" fmla="*/ 1187525 h 2556797"/>
              <a:gd name="connsiteX27" fmla="*/ 10029685 w 10033238"/>
              <a:gd name="connsiteY27" fmla="*/ 841453 h 2556797"/>
              <a:gd name="connsiteX28" fmla="*/ 10029685 w 10033238"/>
              <a:gd name="connsiteY28" fmla="*/ 793029 h 255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033238" h="2556797">
                <a:moveTo>
                  <a:pt x="-3553" y="1510353"/>
                </a:moveTo>
                <a:lnTo>
                  <a:pt x="1548604" y="1510353"/>
                </a:lnTo>
                <a:cubicBezTo>
                  <a:pt x="1739719" y="1510353"/>
                  <a:pt x="1894676" y="1665298"/>
                  <a:pt x="1894676" y="1856424"/>
                </a:cubicBezTo>
                <a:lnTo>
                  <a:pt x="1894676" y="2210244"/>
                </a:lnTo>
                <a:cubicBezTo>
                  <a:pt x="1894676" y="2401371"/>
                  <a:pt x="2049634" y="2556316"/>
                  <a:pt x="2240749" y="2556316"/>
                </a:cubicBezTo>
                <a:lnTo>
                  <a:pt x="2775351" y="2556316"/>
                </a:lnTo>
                <a:cubicBezTo>
                  <a:pt x="2966466" y="2556316"/>
                  <a:pt x="3121423" y="2401371"/>
                  <a:pt x="3121423" y="2210244"/>
                </a:cubicBezTo>
                <a:lnTo>
                  <a:pt x="3121423" y="855657"/>
                </a:lnTo>
                <a:cubicBezTo>
                  <a:pt x="3121423" y="664531"/>
                  <a:pt x="3276380" y="509586"/>
                  <a:pt x="3467495" y="509586"/>
                </a:cubicBezTo>
                <a:lnTo>
                  <a:pt x="4290966" y="509586"/>
                </a:lnTo>
                <a:cubicBezTo>
                  <a:pt x="4482080" y="509521"/>
                  <a:pt x="4637038" y="664401"/>
                  <a:pt x="4637164" y="855528"/>
                </a:cubicBezTo>
                <a:cubicBezTo>
                  <a:pt x="4637164" y="855567"/>
                  <a:pt x="4637164" y="855619"/>
                  <a:pt x="4637164" y="855657"/>
                </a:cubicBezTo>
                <a:lnTo>
                  <a:pt x="4637164" y="893106"/>
                </a:lnTo>
                <a:cubicBezTo>
                  <a:pt x="4637164" y="1084232"/>
                  <a:pt x="4792122" y="1239177"/>
                  <a:pt x="4983236" y="1239177"/>
                </a:cubicBezTo>
                <a:lnTo>
                  <a:pt x="5822589" y="1239177"/>
                </a:lnTo>
                <a:cubicBezTo>
                  <a:pt x="6013704" y="1239177"/>
                  <a:pt x="6168662" y="1084232"/>
                  <a:pt x="6168662" y="893106"/>
                </a:cubicBezTo>
                <a:lnTo>
                  <a:pt x="6168662" y="345589"/>
                </a:lnTo>
                <a:cubicBezTo>
                  <a:pt x="6168662" y="154462"/>
                  <a:pt x="6323619" y="-483"/>
                  <a:pt x="6514734" y="-483"/>
                </a:cubicBezTo>
                <a:lnTo>
                  <a:pt x="6946031" y="-483"/>
                </a:lnTo>
                <a:cubicBezTo>
                  <a:pt x="7137146" y="-483"/>
                  <a:pt x="7292103" y="154462"/>
                  <a:pt x="7292103" y="345589"/>
                </a:cubicBezTo>
                <a:lnTo>
                  <a:pt x="7292103" y="2068200"/>
                </a:lnTo>
                <a:cubicBezTo>
                  <a:pt x="7292103" y="2259326"/>
                  <a:pt x="7447061" y="2414271"/>
                  <a:pt x="7638173" y="2414271"/>
                </a:cubicBezTo>
                <a:lnTo>
                  <a:pt x="7979084" y="2414271"/>
                </a:lnTo>
                <a:cubicBezTo>
                  <a:pt x="8170196" y="2414271"/>
                  <a:pt x="8325153" y="2259326"/>
                  <a:pt x="8325153" y="2068200"/>
                </a:cubicBezTo>
                <a:lnTo>
                  <a:pt x="8325153" y="1533596"/>
                </a:lnTo>
                <a:cubicBezTo>
                  <a:pt x="8325153" y="1342469"/>
                  <a:pt x="8480111" y="1187525"/>
                  <a:pt x="8671222" y="1187525"/>
                </a:cubicBezTo>
                <a:lnTo>
                  <a:pt x="9683616" y="1187525"/>
                </a:lnTo>
                <a:cubicBezTo>
                  <a:pt x="9874728" y="1187525"/>
                  <a:pt x="10029685" y="1032580"/>
                  <a:pt x="10029685" y="841453"/>
                </a:cubicBezTo>
                <a:lnTo>
                  <a:pt x="10029685" y="793029"/>
                </a:lnTo>
              </a:path>
            </a:pathLst>
          </a:custGeom>
          <a:noFill/>
          <a:ln w="60325" cap="flat">
            <a:gradFill>
              <a:gsLst>
                <a:gs pos="0">
                  <a:srgbClr val="E6E6E6"/>
                </a:gs>
                <a:gs pos="61000">
                  <a:srgbClr val="3368FF"/>
                </a:gs>
              </a:gsLst>
              <a:lin ang="2700000" scaled="1"/>
            </a:gradFill>
            <a:prstDash val="solid"/>
            <a:miter/>
          </a:ln>
          <a:effectLst/>
        </p:spPr>
        <p:txBody>
          <a:bodyPr rtlCol="0" anchor="ctr" lIns="0" rIns="0" tIns="0" bIns="0"/>
          <a:lstStyle/>
          <a:p>
            <a:pPr>
              <a:defRPr>
                <a:latin typeface="微软雅黑"/>
                <a:ea typeface="微软雅黑"/>
                <a:cs typeface="微软雅黑"/>
              </a:defRPr>
            </a:pPr>
            <a:endParaRPr lang="en-US">
              <a:latin typeface="微软雅黑"/>
              <a:ea typeface="微软雅黑"/>
              <a:cs typeface="微软雅黑"/>
            </a:endParaRPr>
          </a:p>
        </p:txBody>
      </p:sp>
      <p:sp>
        <p:nvSpPr>
          <p:cNvPr id="113" name="椭圆 112"/>
          <p:cNvSpPr/>
          <p:nvPr/>
        </p:nvSpPr>
        <p:spPr>
          <a:xfrm>
            <a:off x="499920" y="3671321"/>
            <a:ext cx="507824" cy="507824"/>
          </a:xfrm>
          <a:prstGeom prst="ellips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sz="1400">
                <a:solidFill>
                  <a:srgbClr val="FFFFFF"/>
                </a:solidFill>
                <a:latin typeface="微软雅黑"/>
                <a:ea typeface="微软雅黑"/>
                <a:cs typeface="微软雅黑"/>
              </a:rPr>
              <a:t>3</a:t>
            </a:r>
            <a:r>
              <a:rPr lang="zh-CN" altLang="en-US" sz="1400">
                <a:solidFill>
                  <a:srgbClr val="FFFFFF"/>
                </a:solidFill>
                <a:latin typeface="微软雅黑"/>
                <a:ea typeface="微软雅黑"/>
                <a:cs typeface="微软雅黑"/>
              </a:rPr>
              <a:t>月</a:t>
            </a:r>
            <a:endParaRPr lang="en-US" sz="1400" dirty="0">
              <a:solidFill>
                <a:srgbClr val="FFFFFF"/>
              </a:solidFill>
              <a:latin typeface="微软雅黑"/>
              <a:ea typeface="微软雅黑"/>
              <a:cs typeface="微软雅黑"/>
            </a:endParaRPr>
          </a:p>
        </p:txBody>
      </p:sp>
      <p:sp>
        <p:nvSpPr>
          <p:cNvPr id="114" name="椭圆 113"/>
          <p:cNvSpPr/>
          <p:nvPr/>
        </p:nvSpPr>
        <p:spPr>
          <a:xfrm>
            <a:off x="2367181" y="4136810"/>
            <a:ext cx="507824" cy="507824"/>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sz="1400" dirty="0">
                <a:solidFill>
                  <a:srgbClr val="FFFFFF"/>
                </a:solidFill>
                <a:latin typeface="微软雅黑"/>
                <a:ea typeface="微软雅黑"/>
                <a:cs typeface="微软雅黑"/>
              </a:rPr>
              <a:t>5</a:t>
            </a:r>
            <a:r>
              <a:rPr lang="zh-CN" altLang="en-US" sz="1400" dirty="0">
                <a:solidFill>
                  <a:srgbClr val="FFFFFF"/>
                </a:solidFill>
                <a:latin typeface="微软雅黑"/>
                <a:ea typeface="微软雅黑"/>
                <a:cs typeface="微软雅黑"/>
              </a:rPr>
              <a:t>月</a:t>
            </a:r>
            <a:endParaRPr lang="en-US" sz="1400" dirty="0">
              <a:solidFill>
                <a:srgbClr val="FFFFFF"/>
              </a:solidFill>
              <a:latin typeface="微软雅黑"/>
              <a:ea typeface="微软雅黑"/>
              <a:cs typeface="微软雅黑"/>
            </a:endParaRPr>
          </a:p>
        </p:txBody>
      </p:sp>
      <p:sp>
        <p:nvSpPr>
          <p:cNvPr id="151" name="椭圆 150"/>
          <p:cNvSpPr/>
          <p:nvPr/>
        </p:nvSpPr>
        <p:spPr>
          <a:xfrm>
            <a:off x="2302352" y="4071981"/>
            <a:ext cx="637482" cy="637482"/>
          </a:xfrm>
          <a:prstGeom prst="ellipse">
            <a:avLst/>
          </a:prstGeom>
          <a:noFill/>
          <a:ln w="190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115" name="椭圆 114"/>
          <p:cNvSpPr/>
          <p:nvPr/>
        </p:nvSpPr>
        <p:spPr>
          <a:xfrm>
            <a:off x="3629139" y="4525599"/>
            <a:ext cx="507824" cy="507824"/>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sz="1400" dirty="0">
                <a:solidFill>
                  <a:srgbClr val="FFFFFF"/>
                </a:solidFill>
                <a:latin typeface="微软雅黑"/>
                <a:ea typeface="微软雅黑"/>
                <a:cs typeface="微软雅黑"/>
              </a:rPr>
              <a:t>6</a:t>
            </a:r>
            <a:r>
              <a:rPr lang="zh-CN" altLang="en-US" sz="1400" dirty="0">
                <a:solidFill>
                  <a:srgbClr val="FFFFFF"/>
                </a:solidFill>
                <a:latin typeface="微软雅黑"/>
                <a:ea typeface="微软雅黑"/>
                <a:cs typeface="微软雅黑"/>
              </a:rPr>
              <a:t>月</a:t>
            </a:r>
            <a:endParaRPr lang="en-US" sz="1400" dirty="0">
              <a:solidFill>
                <a:srgbClr val="FFFFFF"/>
              </a:solidFill>
              <a:latin typeface="微软雅黑"/>
              <a:ea typeface="微软雅黑"/>
              <a:cs typeface="微软雅黑"/>
            </a:endParaRPr>
          </a:p>
        </p:txBody>
      </p:sp>
      <p:sp>
        <p:nvSpPr>
          <p:cNvPr id="116" name="椭圆 115"/>
          <p:cNvSpPr/>
          <p:nvPr/>
        </p:nvSpPr>
        <p:spPr>
          <a:xfrm>
            <a:off x="4254142" y="2668695"/>
            <a:ext cx="507824" cy="507824"/>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sz="1400" dirty="0">
                <a:solidFill>
                  <a:srgbClr val="FFFFFF"/>
                </a:solidFill>
                <a:latin typeface="微软雅黑"/>
                <a:ea typeface="微软雅黑"/>
                <a:cs typeface="微软雅黑"/>
              </a:rPr>
              <a:t>7</a:t>
            </a:r>
            <a:r>
              <a:rPr lang="zh-CN" altLang="en-US" sz="1400" dirty="0">
                <a:solidFill>
                  <a:srgbClr val="FFFFFF"/>
                </a:solidFill>
                <a:latin typeface="微软雅黑"/>
                <a:ea typeface="微软雅黑"/>
                <a:cs typeface="微软雅黑"/>
              </a:rPr>
              <a:t>月</a:t>
            </a:r>
            <a:endParaRPr lang="en-US" sz="1400" dirty="0">
              <a:solidFill>
                <a:srgbClr val="FFFFFF"/>
              </a:solidFill>
              <a:latin typeface="微软雅黑"/>
              <a:ea typeface="微软雅黑"/>
              <a:cs typeface="微软雅黑"/>
            </a:endParaRPr>
          </a:p>
        </p:txBody>
      </p:sp>
      <p:sp>
        <p:nvSpPr>
          <p:cNvPr id="117" name="椭圆 116"/>
          <p:cNvSpPr/>
          <p:nvPr/>
        </p:nvSpPr>
        <p:spPr>
          <a:xfrm>
            <a:off x="5880035" y="3417409"/>
            <a:ext cx="507824" cy="507824"/>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sz="1400" dirty="0">
                <a:solidFill>
                  <a:srgbClr val="FFFFFF"/>
                </a:solidFill>
                <a:latin typeface="微软雅黑"/>
                <a:ea typeface="微软雅黑"/>
                <a:cs typeface="微软雅黑"/>
              </a:rPr>
              <a:t>8</a:t>
            </a:r>
            <a:r>
              <a:rPr lang="zh-CN" altLang="en-US" sz="1400" dirty="0">
                <a:solidFill>
                  <a:srgbClr val="FFFFFF"/>
                </a:solidFill>
                <a:latin typeface="微软雅黑"/>
                <a:ea typeface="微软雅黑"/>
                <a:cs typeface="微软雅黑"/>
              </a:rPr>
              <a:t>月</a:t>
            </a:r>
            <a:endParaRPr lang="en-US" sz="1400" dirty="0">
              <a:solidFill>
                <a:srgbClr val="FFFFFF"/>
              </a:solidFill>
              <a:latin typeface="微软雅黑"/>
              <a:ea typeface="微软雅黑"/>
              <a:cs typeface="微软雅黑"/>
            </a:endParaRPr>
          </a:p>
        </p:txBody>
      </p:sp>
      <p:sp>
        <p:nvSpPr>
          <p:cNvPr id="118" name="椭圆 117"/>
          <p:cNvSpPr/>
          <p:nvPr/>
        </p:nvSpPr>
        <p:spPr>
          <a:xfrm>
            <a:off x="7234672" y="2160871"/>
            <a:ext cx="507824" cy="507824"/>
          </a:xfrm>
          <a:prstGeom prst="ellipse">
            <a:avLst/>
          </a:prstGeom>
          <a:solidFill>
            <a:srgbClr val="3368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sz="1400" dirty="0">
                <a:solidFill>
                  <a:srgbClr val="FFFFFF"/>
                </a:solidFill>
                <a:latin typeface="微软雅黑"/>
                <a:ea typeface="微软雅黑"/>
                <a:cs typeface="微软雅黑"/>
              </a:rPr>
              <a:t>10</a:t>
            </a:r>
            <a:r>
              <a:rPr lang="zh-CN" altLang="en-US" sz="1400" dirty="0">
                <a:solidFill>
                  <a:srgbClr val="FFFFFF"/>
                </a:solidFill>
                <a:latin typeface="微软雅黑"/>
                <a:ea typeface="微软雅黑"/>
                <a:cs typeface="微软雅黑"/>
              </a:rPr>
              <a:t>月</a:t>
            </a:r>
            <a:endParaRPr lang="en-US" sz="1400" dirty="0">
              <a:solidFill>
                <a:srgbClr val="FFFFFF"/>
              </a:solidFill>
              <a:latin typeface="微软雅黑"/>
              <a:ea typeface="微软雅黑"/>
              <a:cs typeface="微软雅黑"/>
            </a:endParaRPr>
          </a:p>
        </p:txBody>
      </p:sp>
      <p:sp>
        <p:nvSpPr>
          <p:cNvPr id="152" name="椭圆 151"/>
          <p:cNvSpPr/>
          <p:nvPr/>
        </p:nvSpPr>
        <p:spPr>
          <a:xfrm>
            <a:off x="7169843" y="2096042"/>
            <a:ext cx="637482" cy="637482"/>
          </a:xfrm>
          <a:prstGeom prst="ellipse">
            <a:avLst/>
          </a:prstGeom>
          <a:noFill/>
          <a:ln w="19050" cap="flat" cmpd="sng" algn="ctr">
            <a:solidFill>
              <a:srgbClr val="3368FF"/>
            </a:solidFill>
            <a:prstDash val="solid"/>
            <a:miter lim="800000"/>
          </a:ln>
          <a:effectLst/>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en-US">
              <a:solidFill>
                <a:srgbClr val="FFFFFF"/>
              </a:solidFill>
              <a:latin typeface="微软雅黑"/>
              <a:ea typeface="微软雅黑"/>
              <a:cs typeface="微软雅黑"/>
            </a:endParaRPr>
          </a:p>
        </p:txBody>
      </p:sp>
      <p:sp>
        <p:nvSpPr>
          <p:cNvPr id="120" name="椭圆 119"/>
          <p:cNvSpPr/>
          <p:nvPr/>
        </p:nvSpPr>
        <p:spPr>
          <a:xfrm>
            <a:off x="8339321" y="4579039"/>
            <a:ext cx="507824" cy="507824"/>
          </a:xfrm>
          <a:prstGeom prst="ellipse">
            <a:avLst/>
          </a:prstGeom>
          <a:solidFill>
            <a:srgbClr val="B3D4FE"/>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latin typeface="微软雅黑"/>
                <a:ea typeface="微软雅黑"/>
                <a:cs typeface="微软雅黑"/>
              </a:defRPr>
            </a:pPr>
            <a:r>
              <a:rPr lang="en-US" sz="1400" dirty="0">
                <a:latin typeface="微软雅黑"/>
                <a:ea typeface="微软雅黑"/>
                <a:cs typeface="微软雅黑"/>
              </a:rPr>
              <a:t>11</a:t>
            </a:r>
            <a:r>
              <a:rPr lang="zh-CN" altLang="en-US" sz="1400" dirty="0">
                <a:latin typeface="微软雅黑"/>
                <a:ea typeface="微软雅黑"/>
                <a:cs typeface="微软雅黑"/>
              </a:rPr>
              <a:t>月</a:t>
            </a:r>
            <a:endParaRPr lang="en-US" sz="1400" dirty="0">
              <a:latin typeface="微软雅黑"/>
              <a:ea typeface="微软雅黑"/>
              <a:cs typeface="微软雅黑"/>
            </a:endParaRPr>
          </a:p>
        </p:txBody>
      </p:sp>
      <p:sp>
        <p:nvSpPr>
          <p:cNvPr id="121" name="椭圆 120"/>
          <p:cNvSpPr/>
          <p:nvPr/>
        </p:nvSpPr>
        <p:spPr>
          <a:xfrm>
            <a:off x="10539190" y="2888712"/>
            <a:ext cx="507824" cy="507824"/>
          </a:xfrm>
          <a:prstGeom prst="ellipse">
            <a:avLst/>
          </a:prstGeom>
          <a:solidFill>
            <a:srgbClr val="0042FF"/>
          </a:solidFill>
          <a:ln>
            <a:noFill/>
          </a:ln>
        </p:spPr>
        <p:style>
          <a:lnRef idx="2">
            <a:srgbClr val="0042FF"/>
          </a:lnRef>
          <a:fillRef idx="1">
            <a:srgbClr val="0042FF"/>
          </a:fillRef>
          <a:effectRef idx="0">
            <a:srgbClr val="0042FF"/>
          </a:effectRef>
          <a:fontRef idx="minor">
            <a:srgbClr val="FFFFFF"/>
          </a:fontRef>
        </p:style>
        <p:txBody>
          <a:bodyPr wrap="none" rtlCol="0" anchor="ctr"/>
          <a:lstStyle/>
          <a:p>
            <a:pPr algn="ctr">
              <a:defRPr>
                <a:solidFill>
                  <a:srgbClr val="FFFFFF"/>
                </a:solidFill>
                <a:latin typeface="微软雅黑"/>
                <a:ea typeface="微软雅黑"/>
                <a:cs typeface="微软雅黑"/>
              </a:defRPr>
            </a:pPr>
            <a:r>
              <a:rPr lang="en-US" sz="1400" dirty="0">
                <a:solidFill>
                  <a:srgbClr val="FFFFFF"/>
                </a:solidFill>
                <a:latin typeface="微软雅黑"/>
                <a:ea typeface="微软雅黑"/>
                <a:cs typeface="微软雅黑"/>
              </a:rPr>
              <a:t>12</a:t>
            </a:r>
            <a:r>
              <a:rPr lang="zh-CN" altLang="en-US" sz="1400" dirty="0">
                <a:solidFill>
                  <a:srgbClr val="FFFFFF"/>
                </a:solidFill>
                <a:latin typeface="微软雅黑"/>
                <a:ea typeface="微软雅黑"/>
                <a:cs typeface="微软雅黑"/>
              </a:rPr>
              <a:t>月</a:t>
            </a:r>
            <a:endParaRPr lang="en-US" altLang="zh-CN" sz="1400" dirty="0">
              <a:solidFill>
                <a:srgbClr val="FFFFFF"/>
              </a:solidFill>
              <a:latin typeface="微软雅黑"/>
              <a:ea typeface="微软雅黑"/>
              <a:cs typeface="微软雅黑"/>
            </a:endParaRPr>
          </a:p>
        </p:txBody>
      </p:sp>
      <p:sp>
        <p:nvSpPr>
          <p:cNvPr id="123" name="文本框 122"/>
          <p:cNvSpPr txBox="1"/>
          <p:nvPr/>
        </p:nvSpPr>
        <p:spPr>
          <a:xfrm>
            <a:off x="961390" y="2573655"/>
            <a:ext cx="2477135" cy="1232535"/>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a:lnSpc>
                <a:spcPct val="110000"/>
              </a:lnSpc>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rPr>
              <a:t>团队扩编（</a:t>
            </a:r>
            <a:r>
              <a:rPr lang="en-US" altLang="zh-CN" dirty="0">
                <a:solidFill>
                  <a:srgbClr val="383838"/>
                </a:solidFill>
                <a:latin typeface="微软雅黑"/>
                <a:ea typeface="微软雅黑"/>
                <a:cs typeface="微软雅黑"/>
              </a:rPr>
              <a:t>2</a:t>
            </a:r>
            <a:r>
              <a:rPr lang="zh-CN" altLang="en-US" dirty="0">
                <a:solidFill>
                  <a:srgbClr val="383838"/>
                </a:solidFill>
                <a:latin typeface="微软雅黑"/>
                <a:ea typeface="微软雅黑"/>
                <a:cs typeface="微软雅黑"/>
              </a:rPr>
              <a:t>月报告渠道二部架构调整及计划</a:t>
            </a:r>
            <a:r>
              <a:rPr lang="en-US" altLang="zh-CN" dirty="0">
                <a:solidFill>
                  <a:srgbClr val="383838"/>
                </a:solidFill>
                <a:latin typeface="微软雅黑"/>
                <a:ea typeface="微软雅黑"/>
                <a:cs typeface="微软雅黑"/>
              </a:rPr>
              <a:t>3-4</a:t>
            </a:r>
            <a:r>
              <a:rPr lang="zh-CN" altLang="en-US" dirty="0">
                <a:solidFill>
                  <a:srgbClr val="383838"/>
                </a:solidFill>
                <a:latin typeface="微软雅黑"/>
                <a:ea typeface="微软雅黑"/>
                <a:cs typeface="微软雅黑"/>
              </a:rPr>
              <a:t>月完成团队扩编</a:t>
            </a:r>
            <a:r>
              <a:rPr lang="en-US" altLang="zh-CN" dirty="0">
                <a:solidFill>
                  <a:srgbClr val="383838"/>
                </a:solidFill>
                <a:latin typeface="微软雅黑"/>
                <a:ea typeface="微软雅黑"/>
                <a:cs typeface="微软雅黑"/>
              </a:rPr>
              <a:t>60</a:t>
            </a:r>
            <a:r>
              <a:rPr lang="zh-CN" altLang="en-US" dirty="0">
                <a:solidFill>
                  <a:srgbClr val="383838"/>
                </a:solidFill>
                <a:latin typeface="微软雅黑"/>
                <a:ea typeface="微软雅黑"/>
                <a:cs typeface="微软雅黑"/>
              </a:rPr>
              <a:t>人）</a:t>
            </a:r>
            <a:endParaRPr lang="zh-CN" altLang="en-US" dirty="0">
              <a:solidFill>
                <a:srgbClr val="383838"/>
              </a:solidFill>
              <a:latin typeface="微软雅黑"/>
              <a:ea typeface="微软雅黑"/>
              <a:cs typeface="微软雅黑"/>
            </a:endParaRPr>
          </a:p>
          <a:p>
            <a:pPr>
              <a:lnSpc>
                <a:spcPct val="110000"/>
              </a:lnSpc>
              <a:buFont typeface="微软雅黑"/>
              <a:buChar char="➢"/>
              <a:defRPr>
                <a:latin typeface="微软雅黑"/>
                <a:ea typeface="微软雅黑"/>
                <a:cs typeface="微软雅黑"/>
              </a:defRPr>
            </a:pPr>
            <a:r>
              <a:rPr lang="en-US" altLang="zh-CN" dirty="0">
                <a:solidFill>
                  <a:srgbClr val="383838"/>
                </a:solidFill>
                <a:latin typeface="微软雅黑"/>
                <a:ea typeface="微软雅黑"/>
                <a:cs typeface="微软雅黑"/>
              </a:rPr>
              <a:t>3</a:t>
            </a:r>
            <a:r>
              <a:rPr lang="zh-CN" altLang="en-US" dirty="0">
                <a:solidFill>
                  <a:srgbClr val="383838"/>
                </a:solidFill>
                <a:latin typeface="微软雅黑"/>
                <a:ea typeface="微软雅黑"/>
                <a:cs typeface="微软雅黑"/>
              </a:rPr>
              <a:t>月团队业绩突破</a:t>
            </a:r>
            <a:r>
              <a:rPr lang="en-US" altLang="zh-CN" dirty="0">
                <a:solidFill>
                  <a:srgbClr val="383838"/>
                </a:solidFill>
                <a:latin typeface="微软雅黑"/>
                <a:ea typeface="微软雅黑"/>
                <a:cs typeface="微软雅黑"/>
              </a:rPr>
              <a:t>1.2</a:t>
            </a:r>
            <a:r>
              <a:rPr lang="zh-CN" altLang="en-US" dirty="0">
                <a:solidFill>
                  <a:srgbClr val="383838"/>
                </a:solidFill>
                <a:latin typeface="微软雅黑"/>
                <a:ea typeface="微软雅黑"/>
                <a:cs typeface="微软雅黑"/>
              </a:rPr>
              <a:t>亿，</a:t>
            </a:r>
            <a:r>
              <a:rPr lang="en-US" altLang="zh-CN" dirty="0">
                <a:solidFill>
                  <a:srgbClr val="383838"/>
                </a:solidFill>
                <a:latin typeface="微软雅黑"/>
                <a:ea typeface="微软雅黑"/>
                <a:cs typeface="微软雅黑"/>
              </a:rPr>
              <a:t>4</a:t>
            </a:r>
            <a:r>
              <a:rPr lang="zh-CN" altLang="en-US" dirty="0">
                <a:solidFill>
                  <a:srgbClr val="383838"/>
                </a:solidFill>
                <a:latin typeface="微软雅黑"/>
                <a:ea typeface="微软雅黑"/>
                <a:cs typeface="微软雅黑"/>
              </a:rPr>
              <a:t>月突破</a:t>
            </a:r>
            <a:r>
              <a:rPr lang="en-US" altLang="zh-CN" dirty="0">
                <a:solidFill>
                  <a:srgbClr val="383838"/>
                </a:solidFill>
                <a:latin typeface="微软雅黑"/>
                <a:ea typeface="微软雅黑"/>
                <a:cs typeface="微软雅黑"/>
              </a:rPr>
              <a:t>2</a:t>
            </a:r>
            <a:r>
              <a:rPr lang="zh-CN" altLang="en-US" dirty="0">
                <a:solidFill>
                  <a:srgbClr val="383838"/>
                </a:solidFill>
                <a:latin typeface="微软雅黑"/>
                <a:ea typeface="微软雅黑"/>
                <a:cs typeface="微软雅黑"/>
              </a:rPr>
              <a:t>亿</a:t>
            </a:r>
            <a:endParaRPr lang="zh-CN" altLang="en-US" dirty="0">
              <a:solidFill>
                <a:srgbClr val="383838"/>
              </a:solidFill>
              <a:latin typeface="微软雅黑"/>
              <a:ea typeface="微软雅黑"/>
              <a:cs typeface="微软雅黑"/>
            </a:endParaRPr>
          </a:p>
        </p:txBody>
      </p:sp>
      <p:sp>
        <p:nvSpPr>
          <p:cNvPr id="127" name="文本框 126"/>
          <p:cNvSpPr txBox="1"/>
          <p:nvPr/>
        </p:nvSpPr>
        <p:spPr>
          <a:xfrm>
            <a:off x="820420" y="5450840"/>
            <a:ext cx="2251075" cy="1029970"/>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组织舞林大会</a:t>
            </a:r>
            <a:r>
              <a:rPr lang="zh-CN" altLang="en-US" dirty="0">
                <a:solidFill>
                  <a:srgbClr val="383838"/>
                </a:solidFill>
                <a:latin typeface="微软雅黑"/>
                <a:ea typeface="微软雅黑"/>
                <a:cs typeface="微软雅黑"/>
                <a:sym typeface="微软雅黑"/>
              </a:rPr>
              <a:t>,</a:t>
            </a:r>
            <a:r>
              <a:rPr lang="zh-CN" altLang="en-US" dirty="0">
                <a:solidFill>
                  <a:srgbClr val="383838"/>
                </a:solidFill>
                <a:latin typeface="微软雅黑"/>
                <a:ea typeface="微软雅黑"/>
                <a:cs typeface="微软雅黑"/>
                <a:sym typeface="微软雅黑"/>
              </a:rPr>
              <a:t>参加人数</a:t>
            </a:r>
            <a:r>
              <a:rPr lang="zh-CN" altLang="en-US" dirty="0">
                <a:solidFill>
                  <a:srgbClr val="383838"/>
                </a:solidFill>
                <a:latin typeface="微软雅黑"/>
                <a:ea typeface="微软雅黑"/>
                <a:cs typeface="微软雅黑"/>
                <a:sym typeface="微软雅黑"/>
              </a:rPr>
              <a:t>200</a:t>
            </a:r>
            <a:r>
              <a:rPr lang="zh-CN" altLang="en-US" dirty="0">
                <a:solidFill>
                  <a:srgbClr val="383838"/>
                </a:solidFill>
                <a:latin typeface="微软雅黑"/>
                <a:ea typeface="微软雅黑"/>
                <a:cs typeface="微软雅黑"/>
                <a:sym typeface="微软雅黑"/>
              </a:rPr>
              <a:t>人，认购</a:t>
            </a:r>
            <a:r>
              <a:rPr lang="zh-CN" altLang="en-US" dirty="0">
                <a:solidFill>
                  <a:srgbClr val="383838"/>
                </a:solidFill>
                <a:latin typeface="微软雅黑"/>
                <a:ea typeface="微软雅黑"/>
                <a:cs typeface="微软雅黑"/>
                <a:sym typeface="微软雅黑"/>
              </a:rPr>
              <a:t>3</a:t>
            </a:r>
            <a:r>
              <a:rPr lang="zh-CN" altLang="en-US" dirty="0">
                <a:solidFill>
                  <a:srgbClr val="383838"/>
                </a:solidFill>
                <a:latin typeface="微软雅黑"/>
                <a:ea typeface="微软雅黑"/>
                <a:cs typeface="微软雅黑"/>
                <a:sym typeface="微软雅黑"/>
              </a:rPr>
              <a:t>套</a:t>
            </a:r>
            <a:endParaRPr lang="zh-CN" altLang="en-US" dirty="0">
              <a:solidFill>
                <a:srgbClr val="383838"/>
              </a:solidFill>
              <a:latin typeface="微软雅黑"/>
              <a:ea typeface="微软雅黑"/>
              <a:cs typeface="微软雅黑"/>
              <a:sym typeface="微软雅黑"/>
            </a:endParaRPr>
          </a:p>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走进河北钢铁集团实现认购</a:t>
            </a:r>
            <a:r>
              <a:rPr lang="zh-CN" altLang="en-US" dirty="0">
                <a:solidFill>
                  <a:srgbClr val="383838"/>
                </a:solidFill>
                <a:latin typeface="微软雅黑"/>
                <a:ea typeface="微软雅黑"/>
                <a:cs typeface="微软雅黑"/>
                <a:sym typeface="微软雅黑"/>
              </a:rPr>
              <a:t>3</a:t>
            </a:r>
            <a:r>
              <a:rPr lang="zh-CN" altLang="en-US" dirty="0">
                <a:solidFill>
                  <a:srgbClr val="383838"/>
                </a:solidFill>
                <a:latin typeface="微软雅黑"/>
                <a:ea typeface="微软雅黑"/>
                <a:cs typeface="微软雅黑"/>
                <a:sym typeface="微软雅黑"/>
              </a:rPr>
              <a:t>套，同时</a:t>
            </a:r>
            <a:r>
              <a:rPr lang="zh-CN" altLang="en-US" dirty="0">
                <a:solidFill>
                  <a:srgbClr val="383838"/>
                </a:solidFill>
                <a:latin typeface="微软雅黑"/>
                <a:ea typeface="微软雅黑"/>
                <a:cs typeface="微软雅黑"/>
                <a:sym typeface="微软雅黑"/>
              </a:rPr>
              <a:t>5</a:t>
            </a:r>
            <a:r>
              <a:rPr lang="zh-CN" altLang="en-US" dirty="0">
                <a:solidFill>
                  <a:srgbClr val="383838"/>
                </a:solidFill>
                <a:latin typeface="微软雅黑"/>
                <a:ea typeface="微软雅黑"/>
                <a:cs typeface="微软雅黑"/>
                <a:sym typeface="微软雅黑"/>
              </a:rPr>
              <a:t>月突破</a:t>
            </a:r>
            <a:r>
              <a:rPr lang="zh-CN" altLang="en-US" dirty="0">
                <a:solidFill>
                  <a:srgbClr val="383838"/>
                </a:solidFill>
                <a:latin typeface="微软雅黑"/>
                <a:ea typeface="微软雅黑"/>
                <a:cs typeface="微软雅黑"/>
                <a:sym typeface="微软雅黑"/>
              </a:rPr>
              <a:t>2.2</a:t>
            </a:r>
            <a:r>
              <a:rPr lang="zh-CN" altLang="en-US" dirty="0">
                <a:solidFill>
                  <a:srgbClr val="383838"/>
                </a:solidFill>
                <a:latin typeface="微软雅黑"/>
                <a:ea typeface="微软雅黑"/>
                <a:cs typeface="微软雅黑"/>
                <a:sym typeface="微软雅黑"/>
              </a:rPr>
              <a:t>亿</a:t>
            </a:r>
            <a:endParaRPr lang="zh-CN" altLang="en-US" dirty="0">
              <a:solidFill>
                <a:srgbClr val="383838"/>
              </a:solidFill>
              <a:latin typeface="微软雅黑"/>
              <a:ea typeface="微软雅黑"/>
              <a:cs typeface="微软雅黑"/>
              <a:sym typeface="微软雅黑"/>
            </a:endParaRPr>
          </a:p>
        </p:txBody>
      </p:sp>
      <p:sp>
        <p:nvSpPr>
          <p:cNvPr id="128" name="文本框 127"/>
          <p:cNvSpPr txBox="1"/>
          <p:nvPr/>
        </p:nvSpPr>
        <p:spPr>
          <a:xfrm>
            <a:off x="4587875" y="1566545"/>
            <a:ext cx="2331720" cy="1029970"/>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政府严查，售楼部关闭，所有工作停滞</a:t>
            </a:r>
            <a:endParaRPr lang="zh-CN" altLang="en-US" dirty="0">
              <a:solidFill>
                <a:srgbClr val="383838"/>
              </a:solidFill>
              <a:latin typeface="微软雅黑"/>
              <a:ea typeface="微软雅黑"/>
              <a:cs typeface="微软雅黑"/>
              <a:sym typeface="微软雅黑"/>
            </a:endParaRPr>
          </a:p>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组织员工专项培训，并考试，将团队业务能力再提升</a:t>
            </a:r>
            <a:endParaRPr lang="zh-CN" altLang="en-US" dirty="0">
              <a:solidFill>
                <a:srgbClr val="383838"/>
              </a:solidFill>
              <a:latin typeface="微软雅黑"/>
              <a:ea typeface="微软雅黑"/>
              <a:cs typeface="微软雅黑"/>
              <a:sym typeface="微软雅黑"/>
            </a:endParaRPr>
          </a:p>
        </p:txBody>
      </p:sp>
      <p:sp>
        <p:nvSpPr>
          <p:cNvPr id="129" name="文本框 128"/>
          <p:cNvSpPr txBox="1"/>
          <p:nvPr/>
        </p:nvSpPr>
        <p:spPr>
          <a:xfrm>
            <a:off x="3438525" y="5878195"/>
            <a:ext cx="3229610" cy="624840"/>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团购成功，实现签约并回款</a:t>
            </a:r>
            <a:r>
              <a:rPr lang="zh-CN" altLang="en-US" dirty="0">
                <a:solidFill>
                  <a:srgbClr val="383838"/>
                </a:solidFill>
                <a:latin typeface="微软雅黑"/>
                <a:ea typeface="微软雅黑"/>
                <a:cs typeface="微软雅黑"/>
                <a:sym typeface="微软雅黑"/>
              </a:rPr>
              <a:t>7600</a:t>
            </a:r>
            <a:r>
              <a:rPr lang="zh-CN" altLang="en-US" dirty="0">
                <a:solidFill>
                  <a:srgbClr val="383838"/>
                </a:solidFill>
                <a:latin typeface="微软雅黑"/>
                <a:ea typeface="微软雅黑"/>
                <a:cs typeface="微软雅黑"/>
                <a:sym typeface="微软雅黑"/>
              </a:rPr>
              <a:t>余万</a:t>
            </a:r>
            <a:endParaRPr lang="zh-CN" altLang="en-US" dirty="0">
              <a:solidFill>
                <a:srgbClr val="383838"/>
              </a:solidFill>
              <a:latin typeface="微软雅黑"/>
              <a:ea typeface="微软雅黑"/>
              <a:cs typeface="微软雅黑"/>
              <a:sym typeface="微软雅黑"/>
            </a:endParaRPr>
          </a:p>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历时</a:t>
            </a:r>
            <a:r>
              <a:rPr lang="zh-CN" altLang="en-US" dirty="0">
                <a:solidFill>
                  <a:srgbClr val="383838"/>
                </a:solidFill>
                <a:latin typeface="微软雅黑"/>
                <a:ea typeface="微软雅黑"/>
                <a:cs typeface="微软雅黑"/>
                <a:sym typeface="微软雅黑"/>
              </a:rPr>
              <a:t>6</a:t>
            </a:r>
            <a:r>
              <a:rPr lang="zh-CN" altLang="en-US" dirty="0">
                <a:solidFill>
                  <a:srgbClr val="383838"/>
                </a:solidFill>
                <a:latin typeface="微软雅黑"/>
                <a:ea typeface="微软雅黑"/>
                <a:cs typeface="微软雅黑"/>
                <a:sym typeface="微软雅黑"/>
              </a:rPr>
              <a:t>个月洽谈协商，实现渠道首例团购</a:t>
            </a:r>
            <a:endParaRPr lang="zh-CN" altLang="en-US" dirty="0">
              <a:solidFill>
                <a:srgbClr val="383838"/>
              </a:solidFill>
              <a:latin typeface="微软雅黑"/>
              <a:ea typeface="微软雅黑"/>
              <a:cs typeface="微软雅黑"/>
              <a:sym typeface="微软雅黑"/>
            </a:endParaRPr>
          </a:p>
        </p:txBody>
      </p:sp>
      <p:sp>
        <p:nvSpPr>
          <p:cNvPr id="130" name="文本框 129"/>
          <p:cNvSpPr txBox="1"/>
          <p:nvPr/>
        </p:nvSpPr>
        <p:spPr>
          <a:xfrm>
            <a:off x="5662515" y="4811058"/>
            <a:ext cx="2139851" cy="827405"/>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组织世纪花园国际城小区业主水消夏畅游活动</a:t>
            </a:r>
            <a:endParaRPr lang="zh-CN" altLang="en-US" dirty="0">
              <a:solidFill>
                <a:srgbClr val="383838"/>
              </a:solidFill>
              <a:latin typeface="微软雅黑"/>
              <a:ea typeface="微软雅黑"/>
              <a:cs typeface="微软雅黑"/>
              <a:sym typeface="微软雅黑"/>
            </a:endParaRPr>
          </a:p>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认购</a:t>
            </a:r>
            <a:r>
              <a:rPr lang="zh-CN" altLang="en-US" dirty="0">
                <a:solidFill>
                  <a:srgbClr val="383838"/>
                </a:solidFill>
                <a:latin typeface="微软雅黑"/>
                <a:ea typeface="微软雅黑"/>
                <a:cs typeface="微软雅黑"/>
                <a:sym typeface="微软雅黑"/>
              </a:rPr>
              <a:t>4</a:t>
            </a:r>
            <a:r>
              <a:rPr lang="zh-CN" altLang="en-US" dirty="0">
                <a:solidFill>
                  <a:srgbClr val="383838"/>
                </a:solidFill>
                <a:latin typeface="微软雅黑"/>
                <a:ea typeface="微软雅黑"/>
                <a:cs typeface="微软雅黑"/>
                <a:sym typeface="微软雅黑"/>
              </a:rPr>
              <a:t>套龙口认筹</a:t>
            </a:r>
            <a:r>
              <a:rPr lang="zh-CN" altLang="en-US" dirty="0">
                <a:solidFill>
                  <a:srgbClr val="383838"/>
                </a:solidFill>
                <a:latin typeface="微软雅黑"/>
                <a:ea typeface="微软雅黑"/>
                <a:cs typeface="微软雅黑"/>
                <a:sym typeface="微软雅黑"/>
              </a:rPr>
              <a:t>8</a:t>
            </a:r>
            <a:r>
              <a:rPr lang="zh-CN" altLang="en-US" dirty="0">
                <a:solidFill>
                  <a:srgbClr val="383838"/>
                </a:solidFill>
                <a:latin typeface="微软雅黑"/>
                <a:ea typeface="微软雅黑"/>
                <a:cs typeface="微软雅黑"/>
                <a:sym typeface="微软雅黑"/>
              </a:rPr>
              <a:t>组</a:t>
            </a:r>
            <a:endParaRPr lang="zh-CN" altLang="en-US" dirty="0">
              <a:solidFill>
                <a:srgbClr val="383838"/>
              </a:solidFill>
              <a:latin typeface="微软雅黑"/>
              <a:ea typeface="微软雅黑"/>
              <a:cs typeface="微软雅黑"/>
              <a:sym typeface="微软雅黑"/>
            </a:endParaRPr>
          </a:p>
        </p:txBody>
      </p:sp>
      <p:sp>
        <p:nvSpPr>
          <p:cNvPr id="131" name="文本框 130"/>
          <p:cNvSpPr txBox="1"/>
          <p:nvPr/>
        </p:nvSpPr>
        <p:spPr>
          <a:xfrm>
            <a:off x="7694914" y="1516343"/>
            <a:ext cx="2159495" cy="901700"/>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4S</a:t>
            </a:r>
            <a:r>
              <a:rPr lang="zh-CN" altLang="en-US" dirty="0">
                <a:solidFill>
                  <a:srgbClr val="383838"/>
                </a:solidFill>
                <a:latin typeface="微软雅黑"/>
                <a:ea typeface="微软雅黑"/>
                <a:cs typeface="微软雅黑"/>
                <a:sym typeface="微软雅黑"/>
              </a:rPr>
              <a:t>店集中巡展</a:t>
            </a:r>
            <a:r>
              <a:rPr lang="zh-CN" altLang="en-US" dirty="0">
                <a:solidFill>
                  <a:srgbClr val="383838"/>
                </a:solidFill>
                <a:latin typeface="微软雅黑"/>
                <a:ea typeface="微软雅黑"/>
                <a:cs typeface="微软雅黑"/>
                <a:sym typeface="微软雅黑"/>
              </a:rPr>
              <a:t>(</a:t>
            </a:r>
            <a:r>
              <a:rPr lang="zh-CN" altLang="en-US" dirty="0">
                <a:solidFill>
                  <a:srgbClr val="383838"/>
                </a:solidFill>
                <a:latin typeface="微软雅黑"/>
                <a:ea typeface="微软雅黑"/>
                <a:cs typeface="微软雅黑"/>
                <a:sym typeface="微软雅黑"/>
              </a:rPr>
              <a:t>奥迪、凯迪拉克、奔驰丰田等）合活动</a:t>
            </a:r>
            <a:r>
              <a:rPr lang="zh-CN" altLang="en-US" dirty="0">
                <a:solidFill>
                  <a:srgbClr val="383838"/>
                </a:solidFill>
                <a:latin typeface="微软雅黑"/>
                <a:ea typeface="微软雅黑"/>
                <a:cs typeface="微软雅黑"/>
                <a:sym typeface="微软雅黑"/>
              </a:rPr>
              <a:t>5</a:t>
            </a:r>
            <a:r>
              <a:rPr lang="zh-CN" altLang="en-US" dirty="0">
                <a:solidFill>
                  <a:srgbClr val="383838"/>
                </a:solidFill>
                <a:latin typeface="微软雅黑"/>
                <a:ea typeface="微软雅黑"/>
                <a:cs typeface="微软雅黑"/>
                <a:sym typeface="微软雅黑"/>
              </a:rPr>
              <a:t>场，冠名活动</a:t>
            </a:r>
            <a:r>
              <a:rPr lang="zh-CN" altLang="en-US" dirty="0">
                <a:solidFill>
                  <a:srgbClr val="383838"/>
                </a:solidFill>
                <a:latin typeface="微软雅黑"/>
                <a:ea typeface="微软雅黑"/>
                <a:cs typeface="微软雅黑"/>
                <a:sym typeface="微软雅黑"/>
              </a:rPr>
              <a:t>1</a:t>
            </a:r>
            <a:r>
              <a:rPr lang="zh-CN" altLang="en-US" dirty="0">
                <a:solidFill>
                  <a:srgbClr val="383838"/>
                </a:solidFill>
                <a:latin typeface="微软雅黑"/>
                <a:ea typeface="微软雅黑"/>
                <a:cs typeface="微软雅黑"/>
                <a:sym typeface="微软雅黑"/>
              </a:rPr>
              <a:t>次，实现成交</a:t>
            </a:r>
            <a:r>
              <a:rPr lang="zh-CN" altLang="en-US" dirty="0">
                <a:solidFill>
                  <a:srgbClr val="383838"/>
                </a:solidFill>
                <a:latin typeface="微软雅黑"/>
                <a:ea typeface="微软雅黑"/>
                <a:cs typeface="微软雅黑"/>
                <a:sym typeface="微软雅黑"/>
              </a:rPr>
              <a:t>5</a:t>
            </a:r>
            <a:r>
              <a:rPr lang="zh-CN" altLang="en-US" dirty="0">
                <a:solidFill>
                  <a:srgbClr val="383838"/>
                </a:solidFill>
                <a:latin typeface="微软雅黑"/>
                <a:ea typeface="微软雅黑"/>
                <a:cs typeface="微软雅黑"/>
                <a:sym typeface="微软雅黑"/>
              </a:rPr>
              <a:t>套</a:t>
            </a:r>
            <a:endParaRPr lang="zh-CN" altLang="en-US" dirty="0">
              <a:solidFill>
                <a:srgbClr val="383838"/>
              </a:solidFill>
              <a:latin typeface="微软雅黑"/>
              <a:ea typeface="微软雅黑"/>
              <a:cs typeface="微软雅黑"/>
              <a:sym typeface="微软雅黑"/>
            </a:endParaRPr>
          </a:p>
        </p:txBody>
      </p:sp>
      <p:sp>
        <p:nvSpPr>
          <p:cNvPr id="25" name="文本框 24"/>
          <p:cNvSpPr txBox="1"/>
          <p:nvPr/>
        </p:nvSpPr>
        <p:spPr>
          <a:xfrm>
            <a:off x="10026650" y="1508760"/>
            <a:ext cx="1914525" cy="699135"/>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成交业主拜访填写问卷分析成交原因，做老带新以及业主圈层</a:t>
            </a:r>
            <a:endParaRPr lang="zh-CN" altLang="en-US" dirty="0">
              <a:solidFill>
                <a:srgbClr val="383838"/>
              </a:solidFill>
              <a:latin typeface="微软雅黑"/>
              <a:ea typeface="微软雅黑"/>
              <a:cs typeface="微软雅黑"/>
              <a:sym typeface="微软雅黑"/>
            </a:endParaRPr>
          </a:p>
        </p:txBody>
      </p:sp>
      <p:sp>
        <p:nvSpPr>
          <p:cNvPr id="27" name="文本框 26"/>
          <p:cNvSpPr txBox="1"/>
          <p:nvPr/>
        </p:nvSpPr>
        <p:spPr>
          <a:xfrm>
            <a:off x="961353" y="2201303"/>
            <a:ext cx="2910625" cy="344005"/>
          </a:xfrm>
          <a:prstGeom prst="rect">
            <a:avLst/>
          </a:prstGeom>
          <a:noFill/>
        </p:spPr>
        <p:txBody>
          <a:bodyPr wrap="squar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团队飞跃</a:t>
            </a:r>
            <a:endParaRPr lang="zh-CN" altLang="en-US" b="1" dirty="0">
              <a:solidFill>
                <a:srgbClr val="0042FF"/>
              </a:solidFill>
              <a:latin typeface="微软雅黑"/>
              <a:ea typeface="微软雅黑"/>
              <a:cs typeface="微软雅黑"/>
            </a:endParaRPr>
          </a:p>
        </p:txBody>
      </p:sp>
      <p:sp>
        <p:nvSpPr>
          <p:cNvPr id="107" name="文本框 106"/>
          <p:cNvSpPr txBox="1"/>
          <p:nvPr/>
        </p:nvSpPr>
        <p:spPr>
          <a:xfrm>
            <a:off x="820566" y="5022034"/>
            <a:ext cx="2499144" cy="344005"/>
          </a:xfrm>
          <a:prstGeom prst="rect">
            <a:avLst/>
          </a:prstGeom>
          <a:noFill/>
        </p:spPr>
        <p:txBody>
          <a:bodyPr wrap="squar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舞动辉煌</a:t>
            </a:r>
            <a:endParaRPr lang="zh-CN" altLang="en-US" b="1" dirty="0">
              <a:solidFill>
                <a:srgbClr val="0042FF"/>
              </a:solidFill>
              <a:latin typeface="微软雅黑"/>
              <a:ea typeface="微软雅黑"/>
              <a:cs typeface="微软雅黑"/>
            </a:endParaRPr>
          </a:p>
        </p:txBody>
      </p:sp>
      <p:sp>
        <p:nvSpPr>
          <p:cNvPr id="109" name="文本框 108"/>
          <p:cNvSpPr txBox="1"/>
          <p:nvPr/>
        </p:nvSpPr>
        <p:spPr>
          <a:xfrm>
            <a:off x="4666098" y="1168178"/>
            <a:ext cx="2476508" cy="344005"/>
          </a:xfrm>
          <a:prstGeom prst="rect">
            <a:avLst/>
          </a:prstGeom>
          <a:noFill/>
        </p:spPr>
        <p:txBody>
          <a:bodyPr wrap="squar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逆境提升</a:t>
            </a:r>
            <a:endParaRPr lang="zh-CN" altLang="en-US" b="1" dirty="0">
              <a:solidFill>
                <a:srgbClr val="0042FF"/>
              </a:solidFill>
              <a:latin typeface="微软雅黑"/>
              <a:ea typeface="微软雅黑"/>
              <a:cs typeface="微软雅黑"/>
            </a:endParaRPr>
          </a:p>
        </p:txBody>
      </p:sp>
      <p:sp>
        <p:nvSpPr>
          <p:cNvPr id="111" name="文本框 110"/>
          <p:cNvSpPr txBox="1"/>
          <p:nvPr/>
        </p:nvSpPr>
        <p:spPr>
          <a:xfrm>
            <a:off x="3438639" y="5465232"/>
            <a:ext cx="1005403" cy="344325"/>
          </a:xfrm>
          <a:prstGeom prst="rect">
            <a:avLst/>
          </a:prstGeom>
          <a:noFill/>
        </p:spPr>
        <p:txBody>
          <a:bodyPr wrap="non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团购盛果</a:t>
            </a:r>
            <a:endParaRPr lang="zh-CN" altLang="en-US" b="1" dirty="0">
              <a:solidFill>
                <a:srgbClr val="0042FF"/>
              </a:solidFill>
              <a:latin typeface="微软雅黑"/>
              <a:ea typeface="微软雅黑"/>
              <a:cs typeface="微软雅黑"/>
            </a:endParaRPr>
          </a:p>
        </p:txBody>
      </p:sp>
      <p:sp>
        <p:nvSpPr>
          <p:cNvPr id="122" name="文本框 121"/>
          <p:cNvSpPr txBox="1"/>
          <p:nvPr/>
        </p:nvSpPr>
        <p:spPr>
          <a:xfrm>
            <a:off x="5662515" y="4382433"/>
            <a:ext cx="1005403" cy="344325"/>
          </a:xfrm>
          <a:prstGeom prst="rect">
            <a:avLst/>
          </a:prstGeom>
          <a:noFill/>
        </p:spPr>
        <p:txBody>
          <a:bodyPr wrap="non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夏日盛事</a:t>
            </a:r>
            <a:endParaRPr lang="zh-CN" altLang="en-US" b="1" dirty="0">
              <a:solidFill>
                <a:srgbClr val="0042FF"/>
              </a:solidFill>
              <a:latin typeface="微软雅黑"/>
              <a:ea typeface="微软雅黑"/>
              <a:cs typeface="微软雅黑"/>
            </a:endParaRPr>
          </a:p>
        </p:txBody>
      </p:sp>
      <p:sp>
        <p:nvSpPr>
          <p:cNvPr id="124" name="文本框 123"/>
          <p:cNvSpPr txBox="1"/>
          <p:nvPr/>
        </p:nvSpPr>
        <p:spPr>
          <a:xfrm>
            <a:off x="7694914" y="1110578"/>
            <a:ext cx="2331691" cy="344005"/>
          </a:xfrm>
          <a:prstGeom prst="rect">
            <a:avLst/>
          </a:prstGeom>
          <a:noFill/>
        </p:spPr>
        <p:txBody>
          <a:bodyPr wrap="squar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名车巡礼</a:t>
            </a:r>
            <a:endParaRPr lang="zh-CN" altLang="en-US" b="1" dirty="0">
              <a:solidFill>
                <a:srgbClr val="0042FF"/>
              </a:solidFill>
              <a:latin typeface="微软雅黑"/>
              <a:ea typeface="微软雅黑"/>
              <a:cs typeface="微软雅黑"/>
            </a:endParaRPr>
          </a:p>
        </p:txBody>
      </p:sp>
      <p:sp>
        <p:nvSpPr>
          <p:cNvPr id="132" name="文本框 131"/>
          <p:cNvSpPr txBox="1"/>
          <p:nvPr/>
        </p:nvSpPr>
        <p:spPr>
          <a:xfrm>
            <a:off x="9283542" y="5667864"/>
            <a:ext cx="2516345" cy="1029970"/>
          </a:xfrm>
          <a:prstGeom prst="rect">
            <a:avLst/>
          </a:prstGeom>
          <a:noFill/>
        </p:spPr>
        <p:txBody>
          <a:bodyPr wrap="square" lIns="0" rIns="0" tIns="0" bIns="0">
            <a:spAutoFit/>
          </a:bodyPr>
          <a:lstStyle>
            <a:defPPr>
              <a:defRPr lang="en-US">
                <a:latin typeface="微软雅黑"/>
                <a:ea typeface="微软雅黑"/>
                <a:cs typeface="微软雅黑"/>
              </a:defRPr>
            </a:defPPr>
            <a:lvl1pPr marL="285750" indent="-285750">
              <a:lnSpc>
                <a:spcPct val="120000"/>
              </a:lnSpc>
              <a:spcAft>
                <a:spcPts val="1000"/>
              </a:spcAft>
              <a:buFont typeface="微软雅黑"/>
              <a:buChar char="■"/>
              <a:defRPr sz="1200">
                <a:latin typeface="微软雅黑"/>
                <a:ea typeface="微软雅黑"/>
                <a:cs typeface="微软雅黑"/>
              </a:defRPr>
            </a:lvl1pPr>
          </a:lstStyle>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走进金融机构，奢侈品拍卖会</a:t>
            </a:r>
            <a:endParaRPr lang="zh-CN" altLang="en-US" dirty="0">
              <a:solidFill>
                <a:srgbClr val="383838"/>
              </a:solidFill>
              <a:latin typeface="微软雅黑"/>
              <a:ea typeface="微软雅黑"/>
              <a:cs typeface="微软雅黑"/>
              <a:sym typeface="微软雅黑"/>
            </a:endParaRPr>
          </a:p>
          <a:p>
            <a:pPr lvl="0" algn="l">
              <a:lnSpc>
                <a:spcPct val="110000"/>
              </a:lnSpc>
              <a:buClrTx/>
              <a:buSzTx/>
              <a:buFont typeface="微软雅黑"/>
              <a:buChar char="➢"/>
              <a:defRPr>
                <a:latin typeface="微软雅黑"/>
                <a:ea typeface="微软雅黑"/>
                <a:cs typeface="微软雅黑"/>
              </a:defRPr>
            </a:pPr>
            <a:r>
              <a:rPr lang="zh-CN" altLang="en-US" dirty="0">
                <a:solidFill>
                  <a:srgbClr val="383838"/>
                </a:solidFill>
                <a:latin typeface="微软雅黑"/>
                <a:ea typeface="微软雅黑"/>
                <a:cs typeface="微软雅黑"/>
                <a:sym typeface="微软雅黑"/>
              </a:rPr>
              <a:t>后期形成到访</a:t>
            </a:r>
            <a:r>
              <a:rPr lang="zh-CN" altLang="en-US" dirty="0">
                <a:solidFill>
                  <a:srgbClr val="383838"/>
                </a:solidFill>
                <a:latin typeface="微软雅黑"/>
                <a:ea typeface="微软雅黑"/>
                <a:cs typeface="微软雅黑"/>
                <a:sym typeface="微软雅黑"/>
              </a:rPr>
              <a:t>8</a:t>
            </a:r>
            <a:r>
              <a:rPr lang="zh-CN" altLang="en-US" dirty="0">
                <a:solidFill>
                  <a:srgbClr val="383838"/>
                </a:solidFill>
                <a:latin typeface="微软雅黑"/>
                <a:ea typeface="微软雅黑"/>
                <a:cs typeface="微软雅黑"/>
                <a:sym typeface="微软雅黑"/>
              </a:rPr>
              <a:t>组，认购</a:t>
            </a:r>
            <a:r>
              <a:rPr lang="zh-CN" altLang="en-US" dirty="0">
                <a:solidFill>
                  <a:srgbClr val="383838"/>
                </a:solidFill>
                <a:latin typeface="微软雅黑"/>
                <a:ea typeface="微软雅黑"/>
                <a:cs typeface="微软雅黑"/>
                <a:sym typeface="微软雅黑"/>
              </a:rPr>
              <a:t>2</a:t>
            </a:r>
            <a:r>
              <a:rPr lang="zh-CN" altLang="en-US" dirty="0">
                <a:solidFill>
                  <a:srgbClr val="383838"/>
                </a:solidFill>
                <a:latin typeface="微软雅黑"/>
                <a:ea typeface="微软雅黑"/>
                <a:cs typeface="微软雅黑"/>
                <a:sym typeface="微软雅黑"/>
              </a:rPr>
              <a:t>套同月传奇成交占比案场</a:t>
            </a:r>
            <a:r>
              <a:rPr lang="zh-CN" altLang="en-US" dirty="0">
                <a:solidFill>
                  <a:srgbClr val="383838"/>
                </a:solidFill>
                <a:latin typeface="微软雅黑"/>
                <a:ea typeface="微软雅黑"/>
                <a:cs typeface="微软雅黑"/>
                <a:sym typeface="微软雅黑"/>
              </a:rPr>
              <a:t>1/6</a:t>
            </a:r>
            <a:r>
              <a:rPr lang="zh-CN" altLang="en-US" dirty="0">
                <a:solidFill>
                  <a:srgbClr val="383838"/>
                </a:solidFill>
                <a:latin typeface="微软雅黑"/>
                <a:ea typeface="微软雅黑"/>
                <a:cs typeface="微软雅黑"/>
                <a:sym typeface="微软雅黑"/>
              </a:rPr>
              <a:t>，占比部门</a:t>
            </a:r>
            <a:r>
              <a:rPr lang="zh-CN" altLang="en-US" dirty="0">
                <a:solidFill>
                  <a:srgbClr val="383838"/>
                </a:solidFill>
                <a:latin typeface="微软雅黑"/>
                <a:ea typeface="微软雅黑"/>
                <a:cs typeface="微软雅黑"/>
                <a:sym typeface="微软雅黑"/>
              </a:rPr>
              <a:t>1/4</a:t>
            </a:r>
            <a:endParaRPr lang="zh-CN" altLang="en-US" dirty="0">
              <a:solidFill>
                <a:srgbClr val="383838"/>
              </a:solidFill>
              <a:latin typeface="微软雅黑"/>
              <a:ea typeface="微软雅黑"/>
              <a:cs typeface="微软雅黑"/>
              <a:sym typeface="微软雅黑"/>
            </a:endParaRPr>
          </a:p>
        </p:txBody>
      </p:sp>
      <p:sp>
        <p:nvSpPr>
          <p:cNvPr id="125" name="文本框 124"/>
          <p:cNvSpPr txBox="1"/>
          <p:nvPr/>
        </p:nvSpPr>
        <p:spPr>
          <a:xfrm>
            <a:off x="9283542" y="5262099"/>
            <a:ext cx="2258693" cy="344005"/>
          </a:xfrm>
          <a:prstGeom prst="rect">
            <a:avLst/>
          </a:prstGeom>
          <a:noFill/>
        </p:spPr>
        <p:txBody>
          <a:bodyPr wrap="squar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财智交融</a:t>
            </a:r>
            <a:endParaRPr lang="zh-CN" altLang="en-US" b="1" dirty="0">
              <a:solidFill>
                <a:srgbClr val="0042FF"/>
              </a:solidFill>
              <a:latin typeface="微软雅黑"/>
              <a:ea typeface="微软雅黑"/>
              <a:cs typeface="微软雅黑"/>
            </a:endParaRPr>
          </a:p>
        </p:txBody>
      </p:sp>
      <p:sp>
        <p:nvSpPr>
          <p:cNvPr id="126" name="文本框 125"/>
          <p:cNvSpPr txBox="1"/>
          <p:nvPr/>
        </p:nvSpPr>
        <p:spPr>
          <a:xfrm>
            <a:off x="10119950" y="1110578"/>
            <a:ext cx="1880550" cy="344005"/>
          </a:xfrm>
          <a:prstGeom prst="rect">
            <a:avLst/>
          </a:prstGeom>
          <a:noFill/>
        </p:spPr>
        <p:txBody>
          <a:bodyPr wrap="square" lIns="0" rIns="0" tIns="0" bIns="0">
            <a:spAutoFit/>
          </a:bodyPr>
          <a:lstStyle>
            <a:defPPr>
              <a:defRPr lang="en-US">
                <a:latin typeface="微软雅黑"/>
                <a:ea typeface="微软雅黑"/>
                <a:cs typeface="微软雅黑"/>
              </a:defRPr>
            </a:defPPr>
            <a:lvl1pPr indent="0">
              <a:lnSpc>
                <a:spcPct val="110000"/>
              </a:lnSpc>
              <a:spcAft>
                <a:spcPts val="1000"/>
              </a:spcAft>
              <a:buFont typeface="微软雅黑"/>
              <a:buNone/>
              <a:defRPr sz="1600">
                <a:solidFill>
                  <a:srgbClr val="383838"/>
                </a:solidFill>
                <a:latin typeface="微软雅黑"/>
                <a:ea typeface="微软雅黑"/>
                <a:cs typeface="微软雅黑"/>
              </a:defRPr>
            </a:lvl1pPr>
          </a:lstStyle>
          <a:p>
            <a:pPr>
              <a:defRPr>
                <a:latin typeface="微软雅黑"/>
                <a:ea typeface="微软雅黑"/>
                <a:cs typeface="微软雅黑"/>
              </a:defRPr>
            </a:pPr>
            <a:r>
              <a:rPr lang="zh-CN" altLang="en-US" b="1" dirty="0">
                <a:solidFill>
                  <a:srgbClr val="0042FF"/>
                </a:solidFill>
                <a:latin typeface="微软雅黑"/>
                <a:ea typeface="微软雅黑"/>
                <a:cs typeface="微软雅黑"/>
              </a:rPr>
              <a:t>客户深耕</a:t>
            </a:r>
            <a:endParaRPr lang="zh-CN" altLang="en-US" b="1" dirty="0">
              <a:solidFill>
                <a:srgbClr val="0042FF"/>
              </a:solidFill>
              <a:latin typeface="微软雅黑"/>
              <a:ea typeface="微软雅黑"/>
              <a:cs typeface="微软雅黑"/>
            </a:endParaRPr>
          </a:p>
        </p:txBody>
      </p:sp>
      <p:sp>
        <p:nvSpPr>
          <p:cNvPr id="135" name="Freeform 133"/>
          <p:cNvSpPr/>
          <p:nvPr/>
        </p:nvSpPr>
        <p:spPr>
          <a:xfrm>
            <a:off x="1303759" y="4390722"/>
            <a:ext cx="927995" cy="582912"/>
          </a:xfrm>
          <a:custGeom>
            <a:avLst/>
            <a:gdLst/>
            <a:ahLst/>
            <a:cxnLst/>
            <a:rect l="0" t="0" r="0" b="0"/>
            <a:pathLst>
              <a:path w="947739" h="595314">
                <a:moveTo>
                  <a:pt x="0" y="595313"/>
                </a:moveTo>
                <a:lnTo>
                  <a:pt x="0" y="180000"/>
                </a:lnTo>
                <a:cubicBezTo>
                  <a:pt x="0" y="80640"/>
                  <a:pt x="80640" y="0"/>
                  <a:pt x="180000" y="0"/>
                </a:cubicBezTo>
                <a:lnTo>
                  <a:pt x="947738" y="0"/>
                </a:lnTo>
              </a:path>
            </a:pathLst>
          </a:custGeom>
          <a:noFill/>
          <a:ln w="25400" cap="rnd">
            <a:solidFill>
              <a:srgbClr val="3368FF"/>
            </a:solidFill>
            <a:prstDash val="sysDot"/>
            <a:round/>
          </a:ln>
        </p:spPr>
        <p:style>
          <a:lnRef idx="2">
            <a:srgbClr val="0042FF"/>
          </a:lnRef>
          <a:fillRef idx="1">
            <a:srgbClr val="0042FF"/>
          </a:fillRef>
          <a:effectRef idx="0">
            <a:srgbClr val="0042FF"/>
          </a:effectRef>
          <a:fontRef idx="minor">
            <a:srgbClr val="FFFFFF"/>
          </a:fontRef>
        </p:style>
        <p:txBody>
          <a:bodyPr rtlCol="0" anchor="ctr" lIns="0" rIns="0" tIns="0" bIns="0"/>
          <a:lstStyle/>
          <a:p>
            <a:pPr algn="ctr">
              <a:defRPr>
                <a:latin typeface="微软雅黑"/>
                <a:ea typeface="微软雅黑"/>
                <a:cs typeface="微软雅黑"/>
              </a:defRPr>
            </a:pPr>
            <a:endParaRPr lang="en-US">
              <a:solidFill>
                <a:srgbClr val="383838"/>
              </a:solidFill>
              <a:latin typeface="微软雅黑"/>
              <a:ea typeface="微软雅黑"/>
              <a:cs typeface="微软雅黑"/>
            </a:endParaRPr>
          </a:p>
        </p:txBody>
      </p:sp>
      <p:cxnSp>
        <p:nvCxnSpPr>
          <p:cNvPr id="141" name="直接连接符 140"/>
          <p:cNvCxnSpPr/>
          <p:nvPr/>
        </p:nvCxnSpPr>
        <p:spPr>
          <a:xfrm>
            <a:off x="3883051" y="5086863"/>
            <a:ext cx="0" cy="366200"/>
          </a:xfrm>
          <a:prstGeom prst="line">
            <a:avLst/>
          </a:prstGeom>
          <a:noFill/>
          <a:ln w="25400" cap="rnd">
            <a:solidFill>
              <a:srgbClr val="3368FF"/>
            </a:solidFill>
            <a:prstDash val="sysDot"/>
            <a:round/>
          </a:ln>
        </p:spPr>
        <p:style>
          <a:lnRef idx="2">
            <a:srgbClr val="0042FF"/>
          </a:lnRef>
          <a:fillRef idx="1">
            <a:srgbClr val="0042FF"/>
          </a:fillRef>
          <a:effectRef idx="0">
            <a:srgbClr val="0042FF"/>
          </a:effectRef>
          <a:fontRef idx="minor">
            <a:srgbClr val="FFFFFF"/>
          </a:fontRef>
        </p:style>
      </p:cxnSp>
      <p:cxnSp>
        <p:nvCxnSpPr>
          <p:cNvPr id="143" name="直接连接符 142"/>
          <p:cNvCxnSpPr/>
          <p:nvPr/>
        </p:nvCxnSpPr>
        <p:spPr>
          <a:xfrm>
            <a:off x="6133947" y="3996045"/>
            <a:ext cx="0" cy="366200"/>
          </a:xfrm>
          <a:prstGeom prst="line">
            <a:avLst/>
          </a:prstGeom>
          <a:noFill/>
          <a:ln w="25400" cap="rnd">
            <a:solidFill>
              <a:srgbClr val="3368FF"/>
            </a:solidFill>
            <a:prstDash val="sysDot"/>
            <a:round/>
          </a:ln>
        </p:spPr>
        <p:style>
          <a:lnRef idx="2">
            <a:srgbClr val="0042FF"/>
          </a:lnRef>
          <a:fillRef idx="1">
            <a:srgbClr val="0042FF"/>
          </a:fillRef>
          <a:effectRef idx="0">
            <a:srgbClr val="0042FF"/>
          </a:effectRef>
          <a:fontRef idx="minor">
            <a:srgbClr val="FFFFFF"/>
          </a:fontRef>
        </p:style>
      </p:cxnSp>
      <p:sp>
        <p:nvSpPr>
          <p:cNvPr id="145" name="Freeform 143"/>
          <p:cNvSpPr/>
          <p:nvPr/>
        </p:nvSpPr>
        <p:spPr>
          <a:xfrm>
            <a:off x="7480300" y="1263650"/>
            <a:ext cx="232939" cy="708733"/>
          </a:xfrm>
          <a:custGeom>
            <a:avLst/>
            <a:gdLst>
              <a:gd name="connsiteX0" fmla="*/ 4804 w 234950"/>
              <a:gd name="connsiteY0" fmla="*/ 714852 h 714852"/>
              <a:gd name="connsiteX1" fmla="*/ 0 w 234950"/>
              <a:gd name="connsiteY1" fmla="*/ 180000 h 714852"/>
              <a:gd name="connsiteX2" fmla="*/ 180000 w 234950"/>
              <a:gd name="connsiteY2" fmla="*/ 0 h 714852"/>
              <a:gd name="connsiteX3" fmla="*/ 234950 w 234950"/>
              <a:gd name="connsiteY3" fmla="*/ 0 h 714852"/>
            </a:gdLst>
            <a:ahLst/>
            <a:cxnLst>
              <a:cxn ang="0">
                <a:pos x="connsiteX0" y="connsiteY0"/>
              </a:cxn>
              <a:cxn ang="0">
                <a:pos x="connsiteX1" y="connsiteY1"/>
              </a:cxn>
              <a:cxn ang="0">
                <a:pos x="connsiteX2" y="connsiteY2"/>
              </a:cxn>
              <a:cxn ang="0">
                <a:pos x="connsiteX3" y="connsiteY3"/>
              </a:cxn>
            </a:cxnLst>
            <a:rect l="l" t="t" r="r" b="b"/>
            <a:pathLst>
              <a:path w="234950" h="714852">
                <a:moveTo>
                  <a:pt x="4804" y="714852"/>
                </a:moveTo>
                <a:cubicBezTo>
                  <a:pt x="4804" y="493335"/>
                  <a:pt x="0" y="401517"/>
                  <a:pt x="0" y="180000"/>
                </a:cubicBezTo>
                <a:cubicBezTo>
                  <a:pt x="0" y="80640"/>
                  <a:pt x="80640" y="0"/>
                  <a:pt x="180000" y="0"/>
                </a:cubicBezTo>
                <a:lnTo>
                  <a:pt x="234950" y="0"/>
                </a:lnTo>
              </a:path>
            </a:pathLst>
          </a:custGeom>
          <a:noFill/>
          <a:ln w="25400" cap="rnd">
            <a:solidFill>
              <a:srgbClr val="3368FF"/>
            </a:solidFill>
            <a:prstDash val="sysDot"/>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en-US">
              <a:latin typeface="微软雅黑"/>
              <a:ea typeface="微软雅黑"/>
              <a:cs typeface="微软雅黑"/>
            </a:endParaRPr>
          </a:p>
        </p:txBody>
      </p:sp>
      <p:sp>
        <p:nvSpPr>
          <p:cNvPr id="146" name="Freeform 143"/>
          <p:cNvSpPr/>
          <p:nvPr/>
        </p:nvSpPr>
        <p:spPr>
          <a:xfrm>
            <a:off x="741132" y="2382503"/>
            <a:ext cx="232939" cy="1218321"/>
          </a:xfrm>
          <a:custGeom>
            <a:avLst/>
            <a:gdLst>
              <a:gd name="connsiteX0" fmla="*/ 0 w 234950"/>
              <a:gd name="connsiteY0" fmla="*/ 1228839 h 1228839"/>
              <a:gd name="connsiteX1" fmla="*/ 0 w 234950"/>
              <a:gd name="connsiteY1" fmla="*/ 180000 h 1228839"/>
              <a:gd name="connsiteX2" fmla="*/ 180000 w 234950"/>
              <a:gd name="connsiteY2" fmla="*/ 0 h 1228839"/>
              <a:gd name="connsiteX3" fmla="*/ 234950 w 234950"/>
              <a:gd name="connsiteY3" fmla="*/ 0 h 1228839"/>
            </a:gdLst>
            <a:ahLst/>
            <a:cxnLst>
              <a:cxn ang="0">
                <a:pos x="connsiteX0" y="connsiteY0"/>
              </a:cxn>
              <a:cxn ang="0">
                <a:pos x="connsiteX1" y="connsiteY1"/>
              </a:cxn>
              <a:cxn ang="0">
                <a:pos x="connsiteX2" y="connsiteY2"/>
              </a:cxn>
              <a:cxn ang="0">
                <a:pos x="connsiteX3" y="connsiteY3"/>
              </a:cxn>
            </a:cxnLst>
            <a:rect l="l" t="t" r="r" b="b"/>
            <a:pathLst>
              <a:path w="234950" h="1228839">
                <a:moveTo>
                  <a:pt x="0" y="1228839"/>
                </a:moveTo>
                <a:lnTo>
                  <a:pt x="0" y="180000"/>
                </a:lnTo>
                <a:cubicBezTo>
                  <a:pt x="0" y="80640"/>
                  <a:pt x="80640" y="0"/>
                  <a:pt x="180000" y="0"/>
                </a:cubicBezTo>
                <a:lnTo>
                  <a:pt x="234950" y="0"/>
                </a:lnTo>
              </a:path>
            </a:pathLst>
          </a:custGeom>
          <a:noFill/>
          <a:ln w="25400" cap="rnd">
            <a:solidFill>
              <a:srgbClr val="0042FF"/>
            </a:solidFill>
            <a:prstDash val="sysDot"/>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en-US">
              <a:latin typeface="微软雅黑"/>
              <a:ea typeface="微软雅黑"/>
              <a:cs typeface="微软雅黑"/>
            </a:endParaRPr>
          </a:p>
        </p:txBody>
      </p:sp>
      <p:sp>
        <p:nvSpPr>
          <p:cNvPr id="147" name="Freeform 143"/>
          <p:cNvSpPr/>
          <p:nvPr/>
        </p:nvSpPr>
        <p:spPr>
          <a:xfrm>
            <a:off x="4506236" y="1355296"/>
            <a:ext cx="232939" cy="1218321"/>
          </a:xfrm>
          <a:custGeom>
            <a:avLst/>
            <a:gdLst>
              <a:gd name="connsiteX0" fmla="*/ 0 w 234950"/>
              <a:gd name="connsiteY0" fmla="*/ 1228839 h 1228839"/>
              <a:gd name="connsiteX1" fmla="*/ 0 w 234950"/>
              <a:gd name="connsiteY1" fmla="*/ 180000 h 1228839"/>
              <a:gd name="connsiteX2" fmla="*/ 180000 w 234950"/>
              <a:gd name="connsiteY2" fmla="*/ 0 h 1228839"/>
              <a:gd name="connsiteX3" fmla="*/ 234950 w 234950"/>
              <a:gd name="connsiteY3" fmla="*/ 0 h 1228839"/>
            </a:gdLst>
            <a:ahLst/>
            <a:cxnLst>
              <a:cxn ang="0">
                <a:pos x="connsiteX0" y="connsiteY0"/>
              </a:cxn>
              <a:cxn ang="0">
                <a:pos x="connsiteX1" y="connsiteY1"/>
              </a:cxn>
              <a:cxn ang="0">
                <a:pos x="connsiteX2" y="connsiteY2"/>
              </a:cxn>
              <a:cxn ang="0">
                <a:pos x="connsiteX3" y="connsiteY3"/>
              </a:cxn>
            </a:cxnLst>
            <a:rect l="l" t="t" r="r" b="b"/>
            <a:pathLst>
              <a:path w="234950" h="1228839">
                <a:moveTo>
                  <a:pt x="0" y="1228839"/>
                </a:moveTo>
                <a:lnTo>
                  <a:pt x="0" y="180000"/>
                </a:lnTo>
                <a:cubicBezTo>
                  <a:pt x="0" y="80640"/>
                  <a:pt x="80640" y="0"/>
                  <a:pt x="180000" y="0"/>
                </a:cubicBezTo>
                <a:lnTo>
                  <a:pt x="234950" y="0"/>
                </a:lnTo>
              </a:path>
            </a:pathLst>
          </a:custGeom>
          <a:noFill/>
          <a:ln w="25400" cap="rnd">
            <a:solidFill>
              <a:srgbClr val="3368FF"/>
            </a:solidFill>
            <a:prstDash val="sysDot"/>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en-US">
              <a:latin typeface="微软雅黑"/>
              <a:ea typeface="微软雅黑"/>
              <a:cs typeface="微软雅黑"/>
            </a:endParaRPr>
          </a:p>
        </p:txBody>
      </p:sp>
      <p:sp>
        <p:nvSpPr>
          <p:cNvPr id="150" name="Freeform 147"/>
          <p:cNvSpPr/>
          <p:nvPr/>
        </p:nvSpPr>
        <p:spPr>
          <a:xfrm>
            <a:off x="8593931" y="5143499"/>
            <a:ext cx="666751" cy="307160"/>
          </a:xfrm>
          <a:custGeom>
            <a:avLst/>
            <a:gdLst/>
            <a:ahLst/>
            <a:cxnLst/>
            <a:rect l="0" t="0" r="0" b="0"/>
            <a:pathLst>
              <a:path w="666751" h="307160">
                <a:moveTo>
                  <a:pt x="0" y="0"/>
                </a:moveTo>
                <a:lnTo>
                  <a:pt x="0" y="127159"/>
                </a:lnTo>
                <a:cubicBezTo>
                  <a:pt x="0" y="226519"/>
                  <a:pt x="80640" y="307159"/>
                  <a:pt x="180000" y="307159"/>
                </a:cubicBezTo>
                <a:lnTo>
                  <a:pt x="666750" y="307159"/>
                </a:lnTo>
              </a:path>
            </a:pathLst>
          </a:custGeom>
          <a:noFill/>
          <a:ln w="25400" cap="rnd">
            <a:solidFill>
              <a:srgbClr val="B3D4FE"/>
            </a:solidFill>
            <a:prstDash val="sysDot"/>
            <a:round/>
          </a:ln>
        </p:spPr>
        <p:style>
          <a:lnRef idx="2">
            <a:srgbClr val="0042FF"/>
          </a:lnRef>
          <a:fillRef idx="1">
            <a:srgbClr val="0042FF"/>
          </a:fillRef>
          <a:effectRef idx="0">
            <a:srgbClr val="0042FF"/>
          </a:effectRef>
          <a:fontRef idx="minor">
            <a:srgbClr val="FFFFFF"/>
          </a:fontRef>
        </p:style>
        <p:txBody>
          <a:bodyPr rot="0" spcFirstLastPara="0" vertOverflow="overflow" horzOverflow="overflow" vert="horz" wrap="square" lIns="0" tIns="0" rIns="0" bIns="0" numCol="1" spcCol="0" rtlCol="0" fromWordArt="0" anchor="ctr" anchorCtr="0" forceAA="0" compatLnSpc="1">
            <a:noAutofit/>
          </a:bodyPr>
          <a:lstStyle/>
          <a:p>
            <a:pPr algn="ctr">
              <a:defRPr>
                <a:latin typeface="微软雅黑"/>
                <a:ea typeface="微软雅黑"/>
                <a:cs typeface="微软雅黑"/>
              </a:defRPr>
            </a:pPr>
            <a:endParaRPr lang="en-US">
              <a:latin typeface="微软雅黑"/>
              <a:ea typeface="微软雅黑"/>
              <a:cs typeface="微软雅黑"/>
            </a:endParaRPr>
          </a:p>
        </p:txBody>
      </p:sp>
      <p:cxnSp>
        <p:nvCxnSpPr>
          <p:cNvPr id="153" name="直接连接符 152"/>
          <p:cNvCxnSpPr/>
          <p:nvPr/>
        </p:nvCxnSpPr>
        <p:spPr>
          <a:xfrm>
            <a:off x="10793102" y="2271713"/>
            <a:ext cx="0" cy="563009"/>
          </a:xfrm>
          <a:prstGeom prst="line">
            <a:avLst/>
          </a:prstGeom>
          <a:noFill/>
          <a:ln w="25400" cap="rnd">
            <a:solidFill>
              <a:srgbClr val="0042FF"/>
            </a:solidFill>
            <a:prstDash val="sysDot"/>
            <a:round/>
          </a:ln>
        </p:spPr>
        <p:style>
          <a:lnRef idx="2">
            <a:srgbClr val="0042FF"/>
          </a:lnRef>
          <a:fillRef idx="1">
            <a:srgbClr val="0042FF"/>
          </a:fillRef>
          <a:effectRef idx="0">
            <a:srgbClr val="0042FF"/>
          </a:effectRef>
          <a:fontRef idx="minor">
            <a:srgbClr val="FFFFFF"/>
          </a:fontRef>
        </p:style>
      </p:cxn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8" name="组合 17"/>
          <p:cNvGrpSpPr/>
          <p:nvPr/>
        </p:nvGrpSpPr>
        <p:grpSpPr>
          <a:xfrm>
            <a:off x="8738235" y="348615"/>
            <a:ext cx="3219450" cy="332740"/>
            <a:chOff x="13761" y="549"/>
            <a:chExt cx="5070" cy="524"/>
          </a:xfrm>
        </p:grpSpPr>
        <p:pic>
          <p:nvPicPr>
            <p:cNvPr id="3" name="图片 2"/>
            <p:cNvPicPr>
              <a:picLocks noChangeAspect="1"/>
            </p:cNvPicPr>
            <p:nvPr userDrawn="1"/>
          </p:nvPicPr>
          <p:blipFill>
            <a:blip r:embed="rId3"/>
            <a:srcRect l="17002" t="-1765" r="56499" b="-1176"/>
            <a:stretch>
              <a:fillRect/>
            </a:stretch>
          </p:blipFill>
          <p:spPr>
            <a:xfrm>
              <a:off x="13761" y="549"/>
              <a:ext cx="1582" cy="525"/>
            </a:xfrm>
            <a:prstGeom prst="rect">
              <a:avLst/>
            </a:prstGeom>
          </p:spPr>
        </p:pic>
        <p:sp>
          <p:nvSpPr>
            <p:cNvPr id="11" name="文本框 10"/>
            <p:cNvSpPr txBox="1"/>
            <p:nvPr userDrawn="1"/>
          </p:nvSpPr>
          <p:spPr>
            <a:xfrm>
              <a:off x="15219" y="655"/>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latin typeface="微软雅黑"/>
                  <a:ea typeface="微软雅黑"/>
                  <a:cs typeface="微软雅黑"/>
                </a:rPr>
                <a:t>复杂逻辑场景</a:t>
              </a:r>
              <a:r>
                <a:rPr lang="en-US" altLang="zh-CN" sz="1000">
                  <a:latin typeface="微软雅黑"/>
                  <a:ea typeface="微软雅黑"/>
                  <a:cs typeface="微软雅黑"/>
                </a:rPr>
                <a:t>·</a:t>
              </a:r>
              <a:r>
                <a:rPr lang="zh-CN" altLang="en-US" sz="1000">
                  <a:latin typeface="微软雅黑"/>
                  <a:ea typeface="微软雅黑"/>
                  <a:cs typeface="微软雅黑"/>
                </a:rPr>
                <a:t>框架搭建系列</a:t>
              </a:r>
              <a:r>
                <a:rPr lang="en-US" altLang="zh-CN" sz="1000">
                  <a:latin typeface="微软雅黑"/>
                  <a:ea typeface="微软雅黑"/>
                  <a:cs typeface="微软雅黑"/>
                </a:rPr>
                <a:t>PPT</a:t>
              </a:r>
              <a:r>
                <a:rPr lang="zh-CN" altLang="en-US" sz="1000">
                  <a:latin typeface="微软雅黑"/>
                  <a:ea typeface="微软雅黑"/>
                  <a:cs typeface="微软雅黑"/>
                </a:rPr>
                <a:t>模板</a:t>
              </a:r>
              <a:endParaRPr lang="zh-CN" altLang="en-US" sz="1000">
                <a:latin typeface="微软雅黑"/>
                <a:ea typeface="微软雅黑"/>
                <a:cs typeface="微软雅黑"/>
              </a:endParaRPr>
            </a:p>
          </p:txBody>
        </p:sp>
      </p:gr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2"/>
          <p:cNvSpPr>
            <a:spLocks noGrp="1"/>
          </p:cNvSpPr>
          <p:nvPr/>
        </p:nvSpPr>
        <p:spPr>
          <a:xfrm>
            <a:off x="1105535" y="347980"/>
            <a:ext cx="7137400" cy="396875"/>
          </a:xfrm>
          <a:prstGeom prst="rect">
            <a:avLst/>
          </a:prstGeom>
          <a:ln w="12700">
            <a:miter lim="400000"/>
          </a:ln>
        </p:spPr>
        <p:txBody>
          <a:bodyPr vert="horz" wrap="none" lIns="0" tIns="0" rIns="0" bIns="0" rtlCol="0" anchor="ctr">
            <a:noAutofit/>
          </a:bodyPr>
          <a:lstStyle>
            <a:lvl1pPr algn="l" defTabSz="914400" rtl="0" eaLnBrk="1" latinLnBrk="0" hangingPunct="1">
              <a:lnSpc>
                <a:spcPct val="90000"/>
              </a:lnSpc>
              <a:spcBef>
                <a:spcPct val="0"/>
              </a:spcBef>
              <a:buNone/>
              <a:defRPr kumimoji="0" lang="zh-CN" altLang="en-US" sz="2800" b="1" u="none" strike="noStrike" kern="1200" cap="none" spc="0" normalizeH="0" baseline="0" dirty="0">
                <a:ln>
                  <a:noFill/>
                </a:ln>
                <a:solidFill>
                  <a:srgbClr val="0042FF"/>
                </a:solidFill>
                <a:effectLst>
                  <a:outerShdw blurRad="187896" dist="38100" dir="2700000" algn="tl" rotWithShape="0">
                    <a:srgbClr val="0042FF">
                      <a:alpha val="6000"/>
                    </a:srgbClr>
                  </a:outerShdw>
                </a:effectLst>
                <a:uLnTx/>
                <a:uFillTx/>
                <a:latin typeface="微软雅黑"/>
                <a:ea typeface="微软雅黑"/>
                <a:cs typeface="微软雅黑"/>
              </a:defRPr>
            </a:lvl1pPr>
          </a:lstStyle>
          <a:p>
            <a:pPr algn="l">
              <a:defRPr>
                <a:latin typeface="微软雅黑"/>
                <a:ea typeface="微软雅黑"/>
                <a:cs typeface="微软雅黑"/>
              </a:defRPr>
              <a:lnSpc>
                <a:spcPct val="100000"/>
              </a:lnSpc>
              <a:spcBef>
                <a:spcPts val="0"/>
              </a:spcBef>
              <a:spcAft>
                <a:spcPts val="0"/>
              </a:spcAft>
            </a:pPr>
            <a:r>
              <a:rPr sz="2500">
                <a:effectLst/>
                <a:latin typeface="微软雅黑"/>
                <a:ea typeface="微软雅黑"/>
                <a:cs typeface="微软雅黑"/>
                <a:sym typeface="微软雅黑"/>
              </a:rPr>
              <a:t>业务框架</a:t>
            </a:r>
            <a:r>
              <a:rPr lang="en-US" altLang="zh-CN" sz="2500">
                <a:effectLst/>
                <a:latin typeface="微软雅黑"/>
                <a:ea typeface="微软雅黑"/>
                <a:cs typeface="微软雅黑"/>
                <a:sym typeface="微软雅黑"/>
              </a:rPr>
              <a:t>-</a:t>
            </a:r>
            <a:r>
              <a:rPr sz="2500">
                <a:effectLst/>
                <a:latin typeface="微软雅黑"/>
                <a:ea typeface="微软雅黑"/>
                <a:cs typeface="微软雅黑"/>
                <a:sym typeface="微软雅黑"/>
              </a:rPr>
              <a:t>时间流程架构</a:t>
            </a:r>
            <a:r>
              <a:rPr sz="2500">
                <a:solidFill>
                  <a:srgbClr val="0042FF"/>
                </a:solidFill>
                <a:effectLst/>
                <a:latin typeface="微软雅黑"/>
                <a:ea typeface="微软雅黑"/>
                <a:cs typeface="微软雅黑"/>
              </a:rPr>
              <a:t> | </a:t>
            </a:r>
            <a:r>
              <a:rPr lang="zh-CN" altLang="en-US" sz="2500">
                <a:solidFill>
                  <a:srgbClr val="383838"/>
                </a:solidFill>
                <a:effectLst/>
                <a:latin typeface="微软雅黑"/>
                <a:ea typeface="微软雅黑"/>
                <a:cs typeface="微软雅黑"/>
              </a:rPr>
              <a:t>营养趋势三阶段分析法</a:t>
            </a:r>
            <a:endParaRPr lang="zh-CN" altLang="en-US" sz="2500">
              <a:solidFill>
                <a:srgbClr val="383838"/>
              </a:solidFill>
              <a:effectLst/>
              <a:latin typeface="微软雅黑"/>
              <a:ea typeface="微软雅黑"/>
              <a:cs typeface="微软雅黑"/>
            </a:endParaRPr>
          </a:p>
        </p:txBody>
      </p:sp>
      <p:pic>
        <p:nvPicPr>
          <p:cNvPr id="10" name="图片 9" descr="屋顶资源管理"/>
          <p:cNvPicPr>
            <a:picLocks noChangeAspect="1"/>
          </p:cNvPicPr>
          <p:nvPr/>
        </p:nvPicPr>
        <p:blipFill>
          <a:blip r:embed="rId1">
            <a:extLst>
              <a:ext uri="{96DAC541-7B7A-43D3-8B79-37D633B846F1}">
                <asvg:svgBlip xmlns:asvg="http://schemas.microsoft.com/office/drawing/2016/SVG/main" r:embed="rId2"/>
              </a:ext>
            </a:extLst>
          </a:blip>
          <a:stretch>
            <a:fillRect/>
          </a:stretch>
        </p:blipFill>
        <p:spPr>
          <a:xfrm>
            <a:off x="355600" y="186055"/>
            <a:ext cx="549910" cy="549910"/>
          </a:xfrm>
          <a:prstGeom prst="rect">
            <a:avLst/>
          </a:prstGeom>
        </p:spPr>
      </p:pic>
      <p:sp>
        <p:nvSpPr>
          <p:cNvPr id="2" name="五边形 1"/>
          <p:cNvSpPr/>
          <p:nvPr/>
        </p:nvSpPr>
        <p:spPr>
          <a:xfrm>
            <a:off x="1691005" y="1021715"/>
            <a:ext cx="3448050" cy="513715"/>
          </a:xfrm>
          <a:prstGeom prst="homePlate">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3" name="燕尾形 2"/>
          <p:cNvSpPr/>
          <p:nvPr/>
        </p:nvSpPr>
        <p:spPr>
          <a:xfrm>
            <a:off x="5012690" y="1021080"/>
            <a:ext cx="3237865" cy="514350"/>
          </a:xfrm>
          <a:prstGeom prst="chevron">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6" name="燕尾形 5"/>
          <p:cNvSpPr/>
          <p:nvPr/>
        </p:nvSpPr>
        <p:spPr>
          <a:xfrm>
            <a:off x="8114665" y="1021080"/>
            <a:ext cx="3602355" cy="514350"/>
          </a:xfrm>
          <a:prstGeom prst="chevron">
            <a:avLst/>
          </a:prstGeom>
          <a:gradFill>
            <a:gsLst>
              <a:gs pos="0">
                <a:srgbClr val="0042FF"/>
              </a:gs>
              <a:gs pos="100000">
                <a:srgbClr val="3368FF"/>
              </a:gs>
            </a:gsLst>
            <a:lin ang="5400000" scaled="0"/>
          </a:gradFill>
          <a:ln>
            <a:no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sym typeface="微软雅黑"/>
            </a:endParaRPr>
          </a:p>
        </p:txBody>
      </p:sp>
      <p:sp>
        <p:nvSpPr>
          <p:cNvPr id="7" name="文本框 6"/>
          <p:cNvSpPr txBox="1"/>
          <p:nvPr>
            <p:custDataLst>
              <p:tags r:id="rId3"/>
            </p:custDataLst>
          </p:nvPr>
        </p:nvSpPr>
        <p:spPr>
          <a:xfrm>
            <a:off x="1909445" y="1125220"/>
            <a:ext cx="2876550" cy="30670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第一阶段：数据收集、案头研究</a:t>
            </a:r>
            <a:endParaRPr lang="zh-CN" altLang="en-US" sz="1400" b="1">
              <a:solidFill>
                <a:srgbClr val="FFFFFF"/>
              </a:solidFill>
              <a:latin typeface="微软雅黑"/>
              <a:ea typeface="微软雅黑"/>
              <a:cs typeface="微软雅黑"/>
            </a:endParaRPr>
          </a:p>
        </p:txBody>
      </p:sp>
      <p:sp>
        <p:nvSpPr>
          <p:cNvPr id="56" name="文本框 55"/>
          <p:cNvSpPr txBox="1"/>
          <p:nvPr/>
        </p:nvSpPr>
        <p:spPr>
          <a:xfrm>
            <a:off x="10910570" y="2611755"/>
            <a:ext cx="1087120" cy="521970"/>
          </a:xfrm>
          <a:prstGeom prst="rect">
            <a:avLst/>
          </a:prstGeom>
          <a:noFill/>
        </p:spPr>
        <p:txBody>
          <a:bodyPr wrap="square" rtlCol="0">
            <a:spAutoFit/>
          </a:bodyPr>
          <a:p>
            <a:pPr>
              <a:defRPr>
                <a:latin typeface="微软雅黑"/>
                <a:ea typeface="微软雅黑"/>
                <a:cs typeface="微软雅黑"/>
              </a:defRPr>
            </a:pPr>
            <a:r>
              <a:rPr lang="zh-CN" sz="1400" b="1">
                <a:solidFill>
                  <a:srgbClr val="0042FF"/>
                </a:solidFill>
                <a:latin typeface="微软雅黑"/>
                <a:ea typeface="微软雅黑"/>
                <a:cs typeface="微软雅黑"/>
              </a:rPr>
              <a:t>内外部研究总结结论</a:t>
            </a:r>
            <a:endParaRPr lang="zh-CN" sz="1400" b="1">
              <a:solidFill>
                <a:srgbClr val="0042FF"/>
              </a:solidFill>
              <a:latin typeface="微软雅黑"/>
              <a:ea typeface="微软雅黑"/>
              <a:cs typeface="微软雅黑"/>
            </a:endParaRPr>
          </a:p>
        </p:txBody>
      </p:sp>
      <p:cxnSp>
        <p:nvCxnSpPr>
          <p:cNvPr id="63" name="直接箭头连接符 62"/>
          <p:cNvCxnSpPr/>
          <p:nvPr/>
        </p:nvCxnSpPr>
        <p:spPr>
          <a:xfrm>
            <a:off x="1611630" y="2030730"/>
            <a:ext cx="417830" cy="0"/>
          </a:xfrm>
          <a:prstGeom prst="straightConnector1">
            <a:avLst/>
          </a:prstGeom>
          <a:ln w="25400">
            <a:gradFill>
              <a:gsLst>
                <a:gs pos="0">
                  <a:srgbClr val="0042FF">
                    <a:alpha val="0"/>
                  </a:srgbClr>
                </a:gs>
                <a:gs pos="100000">
                  <a:srgbClr val="0042FF"/>
                </a:gs>
              </a:gsLst>
              <a:lin ang="0" scaled="1"/>
            </a:gradFill>
            <a:tailEnd type="arrow"/>
          </a:ln>
        </p:spPr>
        <p:style>
          <a:lnRef idx="2">
            <a:srgbClr val="0042FF"/>
          </a:lnRef>
          <a:fillRef idx="0">
            <a:srgbClr val="FFFFFF"/>
          </a:fillRef>
          <a:effectRef idx="0">
            <a:srgbClr val="FFFFFF"/>
          </a:effectRef>
          <a:fontRef idx="minor">
            <a:srgbClr val="383838"/>
          </a:fontRef>
        </p:style>
      </p:cxnSp>
      <p:cxnSp>
        <p:nvCxnSpPr>
          <p:cNvPr id="64" name="直接箭头连接符 63"/>
          <p:cNvCxnSpPr/>
          <p:nvPr/>
        </p:nvCxnSpPr>
        <p:spPr>
          <a:xfrm>
            <a:off x="1438275" y="2572385"/>
            <a:ext cx="558800" cy="0"/>
          </a:xfrm>
          <a:prstGeom prst="straightConnector1">
            <a:avLst/>
          </a:prstGeom>
          <a:ln w="25400">
            <a:gradFill>
              <a:gsLst>
                <a:gs pos="0">
                  <a:srgbClr val="0042FF">
                    <a:alpha val="0"/>
                  </a:srgbClr>
                </a:gs>
                <a:gs pos="100000">
                  <a:srgbClr val="0042FF"/>
                </a:gs>
              </a:gsLst>
              <a:lin ang="0" scaled="1"/>
            </a:gradFill>
            <a:tailEnd type="arrow"/>
          </a:ln>
        </p:spPr>
        <p:style>
          <a:lnRef idx="2">
            <a:srgbClr val="0042FF"/>
          </a:lnRef>
          <a:fillRef idx="0">
            <a:srgbClr val="FFFFFF"/>
          </a:fillRef>
          <a:effectRef idx="0">
            <a:srgbClr val="FFFFFF"/>
          </a:effectRef>
          <a:fontRef idx="minor">
            <a:srgbClr val="383838"/>
          </a:fontRef>
        </p:style>
      </p:cxnSp>
      <p:cxnSp>
        <p:nvCxnSpPr>
          <p:cNvPr id="74" name="直接箭头连接符 73"/>
          <p:cNvCxnSpPr/>
          <p:nvPr/>
        </p:nvCxnSpPr>
        <p:spPr>
          <a:xfrm>
            <a:off x="1706245" y="3545205"/>
            <a:ext cx="417830" cy="0"/>
          </a:xfrm>
          <a:prstGeom prst="straightConnector1">
            <a:avLst/>
          </a:prstGeom>
          <a:ln w="25400">
            <a:gradFill>
              <a:gsLst>
                <a:gs pos="0">
                  <a:srgbClr val="0042FF">
                    <a:alpha val="0"/>
                  </a:srgbClr>
                </a:gs>
                <a:gs pos="100000">
                  <a:srgbClr val="0042FF"/>
                </a:gs>
              </a:gsLst>
              <a:lin ang="0" scaled="1"/>
            </a:gradFill>
            <a:tailEnd type="arrow"/>
          </a:ln>
        </p:spPr>
        <p:style>
          <a:lnRef idx="2">
            <a:srgbClr val="0042FF"/>
          </a:lnRef>
          <a:fillRef idx="0">
            <a:srgbClr val="FFFFFF"/>
          </a:fillRef>
          <a:effectRef idx="0">
            <a:srgbClr val="FFFFFF"/>
          </a:effectRef>
          <a:fontRef idx="minor">
            <a:srgbClr val="383838"/>
          </a:fontRef>
        </p:style>
      </p:cxnSp>
      <p:cxnSp>
        <p:nvCxnSpPr>
          <p:cNvPr id="75" name="直接箭头连接符 74"/>
          <p:cNvCxnSpPr/>
          <p:nvPr/>
        </p:nvCxnSpPr>
        <p:spPr>
          <a:xfrm>
            <a:off x="1470660" y="3082925"/>
            <a:ext cx="558800" cy="0"/>
          </a:xfrm>
          <a:prstGeom prst="straightConnector1">
            <a:avLst/>
          </a:prstGeom>
          <a:ln w="25400">
            <a:gradFill>
              <a:gsLst>
                <a:gs pos="0">
                  <a:srgbClr val="0042FF">
                    <a:alpha val="0"/>
                  </a:srgbClr>
                </a:gs>
                <a:gs pos="100000">
                  <a:srgbClr val="0042FF"/>
                </a:gs>
              </a:gsLst>
              <a:lin ang="0" scaled="1"/>
            </a:gradFill>
            <a:tailEnd type="arrow"/>
          </a:ln>
        </p:spPr>
        <p:style>
          <a:lnRef idx="2">
            <a:srgbClr val="0042FF"/>
          </a:lnRef>
          <a:fillRef idx="0">
            <a:srgbClr val="FFFFFF"/>
          </a:fillRef>
          <a:effectRef idx="0">
            <a:srgbClr val="FFFFFF"/>
          </a:effectRef>
          <a:fontRef idx="minor">
            <a:srgbClr val="383838"/>
          </a:fontRef>
        </p:style>
      </p:cxnSp>
      <p:sp>
        <p:nvSpPr>
          <p:cNvPr id="76" name="Oval 56"/>
          <p:cNvSpPr>
            <a:spLocks noChangeArrowheads="1"/>
          </p:cNvSpPr>
          <p:nvPr/>
        </p:nvSpPr>
        <p:spPr bwMode="auto">
          <a:xfrm flipH="1">
            <a:off x="2157730" y="1781810"/>
            <a:ext cx="1052830" cy="2163445"/>
          </a:xfrm>
          <a:prstGeom prst="ellipse">
            <a:avLst/>
          </a:prstGeom>
          <a:solidFill>
            <a:srgbClr val="0042FF"/>
          </a:solidFill>
          <a:ln w="25400">
            <a:solidFill>
              <a:srgbClr val="FFFFFF"/>
            </a:solidFill>
          </a:ln>
          <a:effectLst/>
        </p:spPr>
        <p:txBody>
          <a:bodyPr vert="horz" wrap="square" lIns="119474" tIns="59737" rIns="119474" bIns="59737" numCol="1" anchor="t" anchorCtr="0" compatLnSpc="1"/>
          <a:p>
            <a:pPr>
              <a:defRPr>
                <a:solidFill>
                  <a:srgbClr val="FFFFFF"/>
                </a:solidFill>
                <a:latin typeface="微软雅黑"/>
                <a:ea typeface="微软雅黑"/>
                <a:cs typeface="微软雅黑"/>
              </a:defRPr>
            </a:pPr>
            <a:endParaRPr lang="en-US" sz="3135">
              <a:solidFill>
                <a:srgbClr val="FFFFFF"/>
              </a:solidFill>
              <a:latin typeface="微软雅黑"/>
              <a:ea typeface="微软雅黑"/>
              <a:cs typeface="微软雅黑"/>
            </a:endParaRPr>
          </a:p>
        </p:txBody>
      </p:sp>
      <p:sp>
        <p:nvSpPr>
          <p:cNvPr id="77" name="流程图: 接点 6"/>
          <p:cNvSpPr/>
          <p:nvPr/>
        </p:nvSpPr>
        <p:spPr>
          <a:xfrm>
            <a:off x="2592705" y="2200275"/>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98" name="流程图: 接点 6"/>
          <p:cNvSpPr/>
          <p:nvPr/>
        </p:nvSpPr>
        <p:spPr>
          <a:xfrm>
            <a:off x="2760345" y="2505075"/>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99" name="流程图: 接点 6"/>
          <p:cNvSpPr/>
          <p:nvPr/>
        </p:nvSpPr>
        <p:spPr>
          <a:xfrm>
            <a:off x="2799715" y="2890520"/>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00" name="流程图: 接点 6"/>
          <p:cNvSpPr/>
          <p:nvPr/>
        </p:nvSpPr>
        <p:spPr>
          <a:xfrm>
            <a:off x="2660650" y="3270885"/>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02" name="流程图: 接点 6"/>
          <p:cNvSpPr/>
          <p:nvPr/>
        </p:nvSpPr>
        <p:spPr>
          <a:xfrm>
            <a:off x="2139950" y="2200275"/>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03" name="流程图: 接点 6"/>
          <p:cNvSpPr/>
          <p:nvPr/>
        </p:nvSpPr>
        <p:spPr>
          <a:xfrm>
            <a:off x="2383155" y="2524125"/>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04" name="流程图: 接点 6"/>
          <p:cNvSpPr/>
          <p:nvPr/>
        </p:nvSpPr>
        <p:spPr>
          <a:xfrm>
            <a:off x="2417445" y="2961005"/>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05" name="流程图: 接点 6"/>
          <p:cNvSpPr/>
          <p:nvPr/>
        </p:nvSpPr>
        <p:spPr>
          <a:xfrm>
            <a:off x="2075180" y="2767330"/>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07" name="流程图: 接点 6"/>
          <p:cNvSpPr/>
          <p:nvPr/>
        </p:nvSpPr>
        <p:spPr>
          <a:xfrm>
            <a:off x="2163445" y="3270885"/>
            <a:ext cx="243205" cy="243205"/>
          </a:xfrm>
          <a:prstGeom prst="flowChartConnector">
            <a:avLst/>
          </a:prstGeom>
          <a:gradFill>
            <a:gsLst>
              <a:gs pos="38000">
                <a:srgbClr val="E6E6E6">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grpSp>
        <p:nvGrpSpPr>
          <p:cNvPr id="135" name="组合 134"/>
          <p:cNvGrpSpPr/>
          <p:nvPr/>
        </p:nvGrpSpPr>
        <p:grpSpPr>
          <a:xfrm>
            <a:off x="529590" y="1821180"/>
            <a:ext cx="735965" cy="2178685"/>
            <a:chOff x="834" y="2868"/>
            <a:chExt cx="1159" cy="3431"/>
          </a:xfrm>
        </p:grpSpPr>
        <p:cxnSp>
          <p:nvCxnSpPr>
            <p:cNvPr id="9" name="直接连接符 8"/>
            <p:cNvCxnSpPr/>
            <p:nvPr/>
          </p:nvCxnSpPr>
          <p:spPr>
            <a:xfrm>
              <a:off x="903" y="2868"/>
              <a:ext cx="1090" cy="0"/>
            </a:xfrm>
            <a:prstGeom prst="line">
              <a:avLst/>
            </a:prstGeom>
            <a:ln>
              <a:headEnd type="diamond"/>
            </a:ln>
          </p:spPr>
          <p:style>
            <a:lnRef idx="2">
              <a:srgbClr val="0042FF"/>
            </a:lnRef>
            <a:fillRef idx="0">
              <a:srgbClr val="FFFFFF"/>
            </a:fillRef>
            <a:effectRef idx="0">
              <a:srgbClr val="FFFFFF"/>
            </a:effectRef>
            <a:fontRef idx="minor">
              <a:srgbClr val="383838"/>
            </a:fontRef>
          </p:style>
        </p:cxnSp>
        <p:cxnSp>
          <p:nvCxnSpPr>
            <p:cNvPr id="11" name="直接连接符 10"/>
            <p:cNvCxnSpPr/>
            <p:nvPr/>
          </p:nvCxnSpPr>
          <p:spPr>
            <a:xfrm flipV="1">
              <a:off x="834" y="6285"/>
              <a:ext cx="1157" cy="14"/>
            </a:xfrm>
            <a:prstGeom prst="line">
              <a:avLst/>
            </a:prstGeom>
            <a:ln>
              <a:headEnd type="diamond"/>
            </a:ln>
          </p:spPr>
          <p:style>
            <a:lnRef idx="2">
              <a:srgbClr val="0042FF"/>
            </a:lnRef>
            <a:fillRef idx="0">
              <a:srgbClr val="FFFFFF"/>
            </a:fillRef>
            <a:effectRef idx="0">
              <a:srgbClr val="FFFFFF"/>
            </a:effectRef>
            <a:fontRef idx="minor">
              <a:srgbClr val="383838"/>
            </a:fontRef>
          </p:style>
        </p:cxnSp>
        <p:cxnSp>
          <p:nvCxnSpPr>
            <p:cNvPr id="12" name="直接连接符 11"/>
            <p:cNvCxnSpPr/>
            <p:nvPr/>
          </p:nvCxnSpPr>
          <p:spPr>
            <a:xfrm flipV="1">
              <a:off x="1993" y="2868"/>
              <a:ext cx="0" cy="3423"/>
            </a:xfrm>
            <a:prstGeom prst="line">
              <a:avLst/>
            </a:prstGeom>
          </p:spPr>
          <p:style>
            <a:lnRef idx="2">
              <a:srgbClr val="0042FF"/>
            </a:lnRef>
            <a:fillRef idx="0">
              <a:srgbClr val="FFFFFF"/>
            </a:fillRef>
            <a:effectRef idx="0">
              <a:srgbClr val="FFFFFF"/>
            </a:effectRef>
            <a:fontRef idx="minor">
              <a:srgbClr val="383838"/>
            </a:fontRef>
          </p:style>
        </p:cxnSp>
        <p:sp>
          <p:nvSpPr>
            <p:cNvPr id="108" name="文本框 107"/>
            <p:cNvSpPr txBox="1"/>
            <p:nvPr>
              <p:custDataLst>
                <p:tags r:id="rId4"/>
              </p:custDataLst>
            </p:nvPr>
          </p:nvSpPr>
          <p:spPr>
            <a:xfrm>
              <a:off x="1059" y="3557"/>
              <a:ext cx="762" cy="2082"/>
            </a:xfrm>
            <a:prstGeom prst="rect">
              <a:avLst/>
            </a:prstGeom>
            <a:noFill/>
          </p:spPr>
          <p:txBody>
            <a:bodyPr wrap="square" rtlCol="0" anchor="ctr" anchorCtr="0">
              <a:spAutoFit/>
            </a:bodyPr>
            <a:p>
              <a:pPr>
                <a:defRPr>
                  <a:latin typeface="微软雅黑"/>
                  <a:ea typeface="微软雅黑"/>
                  <a:cs typeface="微软雅黑"/>
                </a:defRPr>
              </a:pPr>
              <a:r>
                <a:rPr lang="zh-CN" altLang="en-US" sz="2000" b="1">
                  <a:solidFill>
                    <a:srgbClr val="0042FF"/>
                  </a:solidFill>
                  <a:latin typeface="微软雅黑"/>
                  <a:ea typeface="微软雅黑"/>
                  <a:cs typeface="微软雅黑"/>
                </a:rPr>
                <a:t>结</a:t>
              </a:r>
              <a:endParaRPr lang="zh-CN" altLang="en-US" sz="2000" b="1">
                <a:solidFill>
                  <a:srgbClr val="0042FF"/>
                </a:solidFill>
                <a:latin typeface="微软雅黑"/>
                <a:ea typeface="微软雅黑"/>
                <a:cs typeface="微软雅黑"/>
              </a:endParaRPr>
            </a:p>
            <a:p>
              <a:pPr>
                <a:defRPr>
                  <a:latin typeface="微软雅黑"/>
                  <a:ea typeface="微软雅黑"/>
                  <a:cs typeface="微软雅黑"/>
                </a:defRPr>
              </a:pPr>
              <a:r>
                <a:rPr lang="zh-CN" altLang="en-US" sz="2000" b="1">
                  <a:solidFill>
                    <a:srgbClr val="0042FF"/>
                  </a:solidFill>
                  <a:latin typeface="微软雅黑"/>
                  <a:ea typeface="微软雅黑"/>
                  <a:cs typeface="微软雅黑"/>
                </a:rPr>
                <a:t>论成果</a:t>
              </a:r>
              <a:endParaRPr lang="en-US" altLang="zh-CN" sz="2000" b="1">
                <a:solidFill>
                  <a:srgbClr val="0042FF"/>
                </a:solidFill>
                <a:latin typeface="微软雅黑"/>
                <a:ea typeface="微软雅黑"/>
                <a:cs typeface="微软雅黑"/>
              </a:endParaRPr>
            </a:p>
          </p:txBody>
        </p:sp>
      </p:grpSp>
      <p:sp>
        <p:nvSpPr>
          <p:cNvPr id="109" name="Freeform 7"/>
          <p:cNvSpPr>
            <a:spLocks noChangeArrowheads="1"/>
          </p:cNvSpPr>
          <p:nvPr/>
        </p:nvSpPr>
        <p:spPr bwMode="auto">
          <a:xfrm flipH="1">
            <a:off x="4706620" y="2192020"/>
            <a:ext cx="590550" cy="1339850"/>
          </a:xfrm>
          <a:custGeom>
            <a:avLst/>
            <a:gdLst>
              <a:gd name="connsiteX0" fmla="*/ 229410 w 458820"/>
              <a:gd name="connsiteY0" fmla="*/ 0 h 1964056"/>
              <a:gd name="connsiteX1" fmla="*/ 458820 w 458820"/>
              <a:gd name="connsiteY1" fmla="*/ 982028 h 1964056"/>
              <a:gd name="connsiteX2" fmla="*/ 229410 w 458820"/>
              <a:gd name="connsiteY2" fmla="*/ 1964056 h 1964056"/>
              <a:gd name="connsiteX3" fmla="*/ 140113 w 458820"/>
              <a:gd name="connsiteY3" fmla="*/ 1886884 h 1964056"/>
              <a:gd name="connsiteX4" fmla="*/ 138579 w 458820"/>
              <a:gd name="connsiteY4" fmla="*/ 1883719 h 1964056"/>
              <a:gd name="connsiteX5" fmla="*/ 107603 w 458820"/>
              <a:gd name="connsiteY5" fmla="*/ 1812513 h 1964056"/>
              <a:gd name="connsiteX6" fmla="*/ 85554 w 458820"/>
              <a:gd name="connsiteY6" fmla="*/ 1741278 h 1964056"/>
              <a:gd name="connsiteX7" fmla="*/ 73264 w 458820"/>
              <a:gd name="connsiteY7" fmla="*/ 1697871 h 1964056"/>
              <a:gd name="connsiteX8" fmla="*/ 59948 w 458820"/>
              <a:gd name="connsiteY8" fmla="*/ 1638839 h 1964056"/>
              <a:gd name="connsiteX9" fmla="*/ 41390 w 458820"/>
              <a:gd name="connsiteY9" fmla="*/ 1542555 h 1964056"/>
              <a:gd name="connsiteX10" fmla="*/ 37932 w 458820"/>
              <a:gd name="connsiteY10" fmla="*/ 1521246 h 1964056"/>
              <a:gd name="connsiteX11" fmla="*/ 18028 w 458820"/>
              <a:gd name="connsiteY11" fmla="*/ 1364278 h 1964056"/>
              <a:gd name="connsiteX12" fmla="*/ 0 w 458820"/>
              <a:gd name="connsiteY12" fmla="*/ 982028 h 1964056"/>
              <a:gd name="connsiteX13" fmla="*/ 18028 w 458820"/>
              <a:gd name="connsiteY13" fmla="*/ 599779 h 1964056"/>
              <a:gd name="connsiteX14" fmla="*/ 37188 w 458820"/>
              <a:gd name="connsiteY14" fmla="*/ 448673 h 1964056"/>
              <a:gd name="connsiteX15" fmla="*/ 43174 w 458820"/>
              <a:gd name="connsiteY15" fmla="*/ 412243 h 1964056"/>
              <a:gd name="connsiteX16" fmla="*/ 58294 w 458820"/>
              <a:gd name="connsiteY16" fmla="*/ 333799 h 1964056"/>
              <a:gd name="connsiteX17" fmla="*/ 75762 w 458820"/>
              <a:gd name="connsiteY17" fmla="*/ 257365 h 1964056"/>
              <a:gd name="connsiteX18" fmla="*/ 82158 w 458820"/>
              <a:gd name="connsiteY18" fmla="*/ 234776 h 1964056"/>
              <a:gd name="connsiteX19" fmla="*/ 109349 w 458820"/>
              <a:gd name="connsiteY19" fmla="*/ 148147 h 1964056"/>
              <a:gd name="connsiteX20" fmla="*/ 142088 w 458820"/>
              <a:gd name="connsiteY20" fmla="*/ 74079 h 1964056"/>
              <a:gd name="connsiteX21" fmla="*/ 161191 w 458820"/>
              <a:gd name="connsiteY21" fmla="*/ 44150 h 1964056"/>
              <a:gd name="connsiteX22" fmla="*/ 229410 w 458820"/>
              <a:gd name="connsiteY22" fmla="*/ 0 h 1964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8820" h="1964056">
                <a:moveTo>
                  <a:pt x="229410" y="0"/>
                </a:moveTo>
                <a:cubicBezTo>
                  <a:pt x="356110" y="0"/>
                  <a:pt x="458820" y="439669"/>
                  <a:pt x="458820" y="982028"/>
                </a:cubicBezTo>
                <a:cubicBezTo>
                  <a:pt x="458820" y="1524387"/>
                  <a:pt x="356110" y="1964056"/>
                  <a:pt x="229410" y="1964056"/>
                </a:cubicBezTo>
                <a:cubicBezTo>
                  <a:pt x="197735" y="1964056"/>
                  <a:pt x="167560" y="1936577"/>
                  <a:pt x="140113" y="1886884"/>
                </a:cubicBezTo>
                <a:lnTo>
                  <a:pt x="138579" y="1883719"/>
                </a:lnTo>
                <a:lnTo>
                  <a:pt x="107603" y="1812513"/>
                </a:lnTo>
                <a:lnTo>
                  <a:pt x="85554" y="1741278"/>
                </a:lnTo>
                <a:lnTo>
                  <a:pt x="73264" y="1697871"/>
                </a:lnTo>
                <a:lnTo>
                  <a:pt x="59948" y="1638839"/>
                </a:lnTo>
                <a:lnTo>
                  <a:pt x="41390" y="1542555"/>
                </a:lnTo>
                <a:lnTo>
                  <a:pt x="37932" y="1521246"/>
                </a:lnTo>
                <a:lnTo>
                  <a:pt x="18028" y="1364278"/>
                </a:lnTo>
                <a:cubicBezTo>
                  <a:pt x="6420" y="1246790"/>
                  <a:pt x="0" y="1117618"/>
                  <a:pt x="0" y="982028"/>
                </a:cubicBezTo>
                <a:cubicBezTo>
                  <a:pt x="0" y="846439"/>
                  <a:pt x="6420" y="717267"/>
                  <a:pt x="18028" y="599779"/>
                </a:cubicBezTo>
                <a:lnTo>
                  <a:pt x="37188" y="448673"/>
                </a:lnTo>
                <a:lnTo>
                  <a:pt x="43174" y="412243"/>
                </a:lnTo>
                <a:lnTo>
                  <a:pt x="58294" y="333799"/>
                </a:lnTo>
                <a:lnTo>
                  <a:pt x="75762" y="257365"/>
                </a:lnTo>
                <a:lnTo>
                  <a:pt x="82158" y="234776"/>
                </a:lnTo>
                <a:lnTo>
                  <a:pt x="109349" y="148147"/>
                </a:lnTo>
                <a:lnTo>
                  <a:pt x="142088" y="74079"/>
                </a:lnTo>
                <a:lnTo>
                  <a:pt x="161191" y="44150"/>
                </a:lnTo>
                <a:cubicBezTo>
                  <a:pt x="182741" y="15457"/>
                  <a:pt x="205654" y="0"/>
                  <a:pt x="229410" y="0"/>
                </a:cubicBezTo>
                <a:close/>
              </a:path>
            </a:pathLst>
          </a:custGeom>
          <a:solidFill>
            <a:srgbClr val="E6E6E6"/>
          </a:solidFill>
          <a:ln>
            <a:noFill/>
          </a:ln>
          <a:effectLst/>
        </p:spPr>
        <p:txBody>
          <a:bodyPr vert="horz" wrap="square" lIns="119474" tIns="59737" rIns="119474" bIns="59737" numCol="1" anchor="t" anchorCtr="0" compatLnSpc="1">
            <a:noAutofit/>
          </a:bodyPr>
          <a:p>
            <a:pPr>
              <a:defRPr>
                <a:solidFill>
                  <a:srgbClr val="FFFFFF"/>
                </a:solidFill>
                <a:latin typeface="微软雅黑"/>
                <a:ea typeface="微软雅黑"/>
                <a:cs typeface="微软雅黑"/>
              </a:defRPr>
            </a:pPr>
            <a:endParaRPr lang="en-US" sz="3135">
              <a:solidFill>
                <a:srgbClr val="FFFFFF"/>
              </a:solidFill>
              <a:latin typeface="微软雅黑"/>
              <a:ea typeface="微软雅黑"/>
              <a:cs typeface="微软雅黑"/>
            </a:endParaRPr>
          </a:p>
        </p:txBody>
      </p:sp>
      <p:sp>
        <p:nvSpPr>
          <p:cNvPr id="114" name="Freeform 70"/>
          <p:cNvSpPr/>
          <p:nvPr/>
        </p:nvSpPr>
        <p:spPr bwMode="auto">
          <a:xfrm flipH="1">
            <a:off x="2663825" y="1781810"/>
            <a:ext cx="2633345" cy="2163445"/>
          </a:xfrm>
          <a:custGeom>
            <a:avLst/>
            <a:gdLst>
              <a:gd name="T0" fmla="*/ 1446 w 1446"/>
              <a:gd name="T1" fmla="*/ 3 h 2257"/>
              <a:gd name="T2" fmla="*/ 1446 w 1446"/>
              <a:gd name="T3" fmla="*/ 0 h 2257"/>
              <a:gd name="T4" fmla="*/ 214 w 1446"/>
              <a:gd name="T5" fmla="*/ 405 h 2257"/>
              <a:gd name="T6" fmla="*/ 135 w 1446"/>
              <a:gd name="T7" fmla="*/ 426 h 2257"/>
              <a:gd name="T8" fmla="*/ 0 w 1446"/>
              <a:gd name="T9" fmla="*/ 1130 h 2257"/>
              <a:gd name="T10" fmla="*/ 133 w 1446"/>
              <a:gd name="T11" fmla="*/ 1832 h 2257"/>
              <a:gd name="T12" fmla="*/ 215 w 1446"/>
              <a:gd name="T13" fmla="*/ 1854 h 2257"/>
              <a:gd name="T14" fmla="*/ 1446 w 1446"/>
              <a:gd name="T15" fmla="*/ 2257 h 2257"/>
              <a:gd name="T16" fmla="*/ 1446 w 1446"/>
              <a:gd name="T17" fmla="*/ 2253 h 2257"/>
              <a:gd name="T18" fmla="*/ 1180 w 1446"/>
              <a:gd name="T19" fmla="*/ 1128 h 2257"/>
              <a:gd name="T20" fmla="*/ 1446 w 1446"/>
              <a:gd name="T21" fmla="*/ 3 h 2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6" h="2257">
                <a:moveTo>
                  <a:pt x="1446" y="3"/>
                </a:moveTo>
                <a:cubicBezTo>
                  <a:pt x="1446" y="2"/>
                  <a:pt x="1446" y="1"/>
                  <a:pt x="1446" y="0"/>
                </a:cubicBezTo>
                <a:cubicBezTo>
                  <a:pt x="1075" y="149"/>
                  <a:pt x="662" y="285"/>
                  <a:pt x="214" y="405"/>
                </a:cubicBezTo>
                <a:cubicBezTo>
                  <a:pt x="188" y="412"/>
                  <a:pt x="161" y="419"/>
                  <a:pt x="135" y="426"/>
                </a:cubicBezTo>
                <a:cubicBezTo>
                  <a:pt x="57" y="514"/>
                  <a:pt x="0" y="796"/>
                  <a:pt x="0" y="1130"/>
                </a:cubicBezTo>
                <a:cubicBezTo>
                  <a:pt x="0" y="1462"/>
                  <a:pt x="56" y="1743"/>
                  <a:pt x="133" y="1832"/>
                </a:cubicBezTo>
                <a:cubicBezTo>
                  <a:pt x="161" y="1840"/>
                  <a:pt x="188" y="1847"/>
                  <a:pt x="215" y="1854"/>
                </a:cubicBezTo>
                <a:cubicBezTo>
                  <a:pt x="663" y="1973"/>
                  <a:pt x="1075" y="2108"/>
                  <a:pt x="1446" y="2257"/>
                </a:cubicBezTo>
                <a:cubicBezTo>
                  <a:pt x="1446" y="2256"/>
                  <a:pt x="1446" y="2254"/>
                  <a:pt x="1446" y="2253"/>
                </a:cubicBezTo>
                <a:cubicBezTo>
                  <a:pt x="1297" y="2210"/>
                  <a:pt x="1180" y="1723"/>
                  <a:pt x="1180" y="1128"/>
                </a:cubicBezTo>
                <a:cubicBezTo>
                  <a:pt x="1180" y="533"/>
                  <a:pt x="1297" y="46"/>
                  <a:pt x="1446" y="3"/>
                </a:cubicBezTo>
                <a:close/>
              </a:path>
            </a:pathLst>
          </a:custGeom>
          <a:solidFill>
            <a:srgbClr val="0042FF">
              <a:alpha val="80000"/>
            </a:srgbClr>
          </a:solidFill>
          <a:ln>
            <a:noFill/>
          </a:ln>
          <a:effectLst/>
        </p:spPr>
        <p:txBody>
          <a:bodyPr vert="horz" wrap="square" lIns="119474" tIns="59737" rIns="119474" bIns="59737" numCol="1" anchor="t" anchorCtr="0" compatLnSpc="1">
            <a:noAutofit/>
          </a:bodyPr>
          <a:p>
            <a:pPr lvl="0" algn="l">
              <a:buClrTx/>
              <a:buSzTx/>
              <a:buFontTx/>
              <a:defRPr>
                <a:solidFill>
                  <a:srgbClr val="FFFFFF"/>
                </a:solidFill>
                <a:latin typeface="微软雅黑"/>
                <a:ea typeface="微软雅黑"/>
                <a:cs typeface="微软雅黑"/>
              </a:defRPr>
            </a:pPr>
            <a:endParaRPr lang="en-US" sz="3135">
              <a:solidFill>
                <a:srgbClr val="FFFFFF"/>
              </a:solidFill>
              <a:latin typeface="微软雅黑"/>
              <a:ea typeface="微软雅黑"/>
              <a:cs typeface="微软雅黑"/>
              <a:sym typeface="微软雅黑"/>
            </a:endParaRPr>
          </a:p>
        </p:txBody>
      </p:sp>
      <p:sp>
        <p:nvSpPr>
          <p:cNvPr id="123" name="Freeform 72"/>
          <p:cNvSpPr/>
          <p:nvPr/>
        </p:nvSpPr>
        <p:spPr bwMode="auto">
          <a:xfrm flipH="1">
            <a:off x="7927975" y="2424455"/>
            <a:ext cx="2960461" cy="879428"/>
          </a:xfrm>
          <a:custGeom>
            <a:avLst/>
            <a:gdLst>
              <a:gd name="T0" fmla="*/ 1078 w 1078"/>
              <a:gd name="T1" fmla="*/ 0 h 919"/>
              <a:gd name="T2" fmla="*/ 103 w 1078"/>
              <a:gd name="T3" fmla="*/ 139 h 919"/>
              <a:gd name="T4" fmla="*/ 73 w 1078"/>
              <a:gd name="T5" fmla="*/ 142 h 919"/>
              <a:gd name="T6" fmla="*/ 58 w 1078"/>
              <a:gd name="T7" fmla="*/ 144 h 919"/>
              <a:gd name="T8" fmla="*/ 0 w 1078"/>
              <a:gd name="T9" fmla="*/ 460 h 919"/>
              <a:gd name="T10" fmla="*/ 57 w 1078"/>
              <a:gd name="T11" fmla="*/ 774 h 919"/>
              <a:gd name="T12" fmla="*/ 73 w 1078"/>
              <a:gd name="T13" fmla="*/ 776 h 919"/>
              <a:gd name="T14" fmla="*/ 104 w 1078"/>
              <a:gd name="T15" fmla="*/ 779 h 919"/>
              <a:gd name="T16" fmla="*/ 1075 w 1078"/>
              <a:gd name="T17" fmla="*/ 919 h 919"/>
              <a:gd name="T18" fmla="*/ 997 w 1078"/>
              <a:gd name="T19" fmla="*/ 461 h 919"/>
              <a:gd name="T20" fmla="*/ 1078 w 1078"/>
              <a:gd name="T21"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62" h="1385">
                <a:moveTo>
                  <a:pt x="4642" y="0"/>
                </a:moveTo>
                <a:cubicBezTo>
                  <a:pt x="3337" y="79"/>
                  <a:pt x="1419" y="170"/>
                  <a:pt x="400" y="208"/>
                </a:cubicBezTo>
                <a:lnTo>
                  <a:pt x="379" y="209"/>
                </a:lnTo>
                <a:lnTo>
                  <a:pt x="360" y="209"/>
                </a:lnTo>
                <a:lnTo>
                  <a:pt x="329" y="211"/>
                </a:lnTo>
                <a:lnTo>
                  <a:pt x="319" y="211"/>
                </a:lnTo>
                <a:cubicBezTo>
                  <a:pt x="308" y="212"/>
                  <a:pt x="293" y="212"/>
                  <a:pt x="286" y="212"/>
                </a:cubicBezTo>
                <a:cubicBezTo>
                  <a:pt x="281" y="212"/>
                  <a:pt x="273" y="213"/>
                  <a:pt x="269" y="213"/>
                </a:cubicBezTo>
                <a:cubicBezTo>
                  <a:pt x="264" y="213"/>
                  <a:pt x="256" y="214"/>
                  <a:pt x="253" y="214"/>
                </a:cubicBezTo>
                <a:cubicBezTo>
                  <a:pt x="102" y="266"/>
                  <a:pt x="-3" y="500"/>
                  <a:pt x="0" y="682"/>
                </a:cubicBezTo>
                <a:lnTo>
                  <a:pt x="0" y="692"/>
                </a:lnTo>
                <a:lnTo>
                  <a:pt x="0" y="703"/>
                </a:lnTo>
                <a:cubicBezTo>
                  <a:pt x="-8" y="922"/>
                  <a:pt x="137" y="1124"/>
                  <a:pt x="245" y="1166"/>
                </a:cubicBezTo>
                <a:cubicBezTo>
                  <a:pt x="285" y="1165"/>
                  <a:pt x="3468" y="1303"/>
                  <a:pt x="4662" y="1385"/>
                </a:cubicBezTo>
                <a:lnTo>
                  <a:pt x="4657" y="1382"/>
                </a:lnTo>
                <a:lnTo>
                  <a:pt x="4656" y="1382"/>
                </a:lnTo>
                <a:lnTo>
                  <a:pt x="4651" y="1382"/>
                </a:lnTo>
                <a:lnTo>
                  <a:pt x="4645" y="1381"/>
                </a:lnTo>
                <a:lnTo>
                  <a:pt x="4640" y="1381"/>
                </a:lnTo>
                <a:cubicBezTo>
                  <a:pt x="4469" y="1295"/>
                  <a:pt x="4317" y="984"/>
                  <a:pt x="4323" y="705"/>
                </a:cubicBezTo>
                <a:lnTo>
                  <a:pt x="4323" y="690"/>
                </a:lnTo>
                <a:lnTo>
                  <a:pt x="4323" y="676"/>
                </a:lnTo>
                <a:cubicBezTo>
                  <a:pt x="4317" y="394"/>
                  <a:pt x="4474" y="84"/>
                  <a:pt x="4642" y="0"/>
                </a:cubicBezTo>
                <a:close/>
                <a:moveTo>
                  <a:pt x="245" y="1166"/>
                </a:moveTo>
                <a:lnTo>
                  <a:pt x="246" y="1166"/>
                </a:lnTo>
                <a:lnTo>
                  <a:pt x="240" y="1166"/>
                </a:lnTo>
                <a:lnTo>
                  <a:pt x="237" y="1166"/>
                </a:lnTo>
                <a:lnTo>
                  <a:pt x="240" y="1166"/>
                </a:lnTo>
                <a:lnTo>
                  <a:pt x="245" y="1166"/>
                </a:lnTo>
                <a:close/>
                <a:moveTo>
                  <a:pt x="246" y="1166"/>
                </a:moveTo>
                <a:lnTo>
                  <a:pt x="249" y="1168"/>
                </a:lnTo>
                <a:lnTo>
                  <a:pt x="250" y="1168"/>
                </a:lnTo>
                <a:cubicBezTo>
                  <a:pt x="255" y="1168"/>
                  <a:pt x="264" y="1168"/>
                  <a:pt x="269" y="1168"/>
                </a:cubicBezTo>
                <a:cubicBezTo>
                  <a:pt x="274" y="1169"/>
                  <a:pt x="282" y="1169"/>
                  <a:pt x="285" y="1169"/>
                </a:cubicBezTo>
                <a:cubicBezTo>
                  <a:pt x="295" y="1169"/>
                  <a:pt x="311" y="1170"/>
                  <a:pt x="319" y="1171"/>
                </a:cubicBezTo>
                <a:cubicBezTo>
                  <a:pt x="333" y="1171"/>
                  <a:pt x="354" y="1171"/>
                  <a:pt x="366" y="1172"/>
                </a:cubicBezTo>
                <a:cubicBezTo>
                  <a:pt x="317" y="1170"/>
                  <a:pt x="214" y="1165"/>
                  <a:pt x="246" y="1166"/>
                </a:cubicBezTo>
                <a:close/>
                <a:moveTo>
                  <a:pt x="366" y="1172"/>
                </a:moveTo>
                <a:cubicBezTo>
                  <a:pt x="373" y="1172"/>
                  <a:pt x="384" y="1173"/>
                  <a:pt x="388" y="1173"/>
                </a:cubicBezTo>
                <a:lnTo>
                  <a:pt x="366" y="1172"/>
                </a:lnTo>
                <a:close/>
              </a:path>
            </a:pathLst>
          </a:custGeom>
          <a:solidFill>
            <a:srgbClr val="3368FF">
              <a:alpha val="80000"/>
            </a:srgbClr>
          </a:solidFill>
          <a:ln>
            <a:noFill/>
          </a:ln>
          <a:effectLst/>
        </p:spPr>
        <p:txBody>
          <a:bodyPr vert="horz" wrap="square" lIns="119474" tIns="59737" rIns="119474" bIns="59737" numCol="1" anchor="t" anchorCtr="0" compatLnSpc="1">
            <a:noAutofit/>
          </a:bodyPr>
          <a:p>
            <a:pPr lvl="0" algn="l">
              <a:buClrTx/>
              <a:buSzTx/>
              <a:buFontTx/>
              <a:defRPr>
                <a:solidFill>
                  <a:srgbClr val="383838"/>
                </a:solidFill>
                <a:latin typeface="微软雅黑"/>
                <a:ea typeface="微软雅黑"/>
                <a:cs typeface="微软雅黑"/>
              </a:defRPr>
            </a:pPr>
            <a:endParaRPr lang="en-US" sz="3135">
              <a:solidFill>
                <a:srgbClr val="383838"/>
              </a:solidFill>
              <a:latin typeface="微软雅黑"/>
              <a:ea typeface="微软雅黑"/>
              <a:cs typeface="微软雅黑"/>
              <a:sym typeface="微软雅黑"/>
            </a:endParaRPr>
          </a:p>
        </p:txBody>
      </p:sp>
      <p:sp>
        <p:nvSpPr>
          <p:cNvPr id="124" name="文本框 123"/>
          <p:cNvSpPr txBox="1"/>
          <p:nvPr>
            <p:custDataLst>
              <p:tags r:id="rId5"/>
            </p:custDataLst>
          </p:nvPr>
        </p:nvSpPr>
        <p:spPr>
          <a:xfrm>
            <a:off x="3211195" y="2533650"/>
            <a:ext cx="1615440" cy="521970"/>
          </a:xfrm>
          <a:prstGeom prst="rect">
            <a:avLst/>
          </a:prstGeom>
          <a:noFill/>
        </p:spPr>
        <p:txBody>
          <a:bodyPr wrap="square" rtlCol="0">
            <a:spAutoFit/>
          </a:bodyPr>
          <a:p>
            <a:pPr algn="ctr">
              <a:defRPr>
                <a:solidFill>
                  <a:srgbClr val="FFFFFF"/>
                </a:solidFill>
                <a:latin typeface="微软雅黑"/>
                <a:ea typeface="微软雅黑"/>
                <a:cs typeface="微软雅黑"/>
              </a:defRPr>
            </a:pPr>
            <a:r>
              <a:rPr lang="zh-CN" altLang="en-US" sz="1400">
                <a:solidFill>
                  <a:srgbClr val="FFFFFF"/>
                </a:solidFill>
                <a:latin typeface="微软雅黑"/>
                <a:ea typeface="微软雅黑"/>
                <a:cs typeface="微软雅黑"/>
              </a:rPr>
              <a:t>全球政治、社会、经济、文化大趋势</a:t>
            </a:r>
            <a:endParaRPr lang="zh-CN" altLang="en-US" sz="1400">
              <a:solidFill>
                <a:srgbClr val="FFFFFF"/>
              </a:solidFill>
              <a:latin typeface="微软雅黑"/>
              <a:ea typeface="微软雅黑"/>
              <a:cs typeface="微软雅黑"/>
            </a:endParaRPr>
          </a:p>
        </p:txBody>
      </p:sp>
      <p:sp>
        <p:nvSpPr>
          <p:cNvPr id="126" name="流程图: 接点 6"/>
          <p:cNvSpPr/>
          <p:nvPr/>
        </p:nvSpPr>
        <p:spPr>
          <a:xfrm>
            <a:off x="10478770" y="2611120"/>
            <a:ext cx="156210" cy="156210"/>
          </a:xfrm>
          <a:prstGeom prst="flowChartConnector">
            <a:avLst/>
          </a:prstGeom>
          <a:gradFill>
            <a:gsLst>
              <a:gs pos="38000">
                <a:srgbClr val="FFFFFF">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28" name="流程图: 接点 6"/>
          <p:cNvSpPr/>
          <p:nvPr/>
        </p:nvSpPr>
        <p:spPr>
          <a:xfrm>
            <a:off x="10634980" y="2767330"/>
            <a:ext cx="156210" cy="156210"/>
          </a:xfrm>
          <a:prstGeom prst="flowChartConnector">
            <a:avLst/>
          </a:prstGeom>
          <a:gradFill>
            <a:gsLst>
              <a:gs pos="38000">
                <a:srgbClr val="FFFFFF">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29" name="流程图: 接点 6"/>
          <p:cNvSpPr/>
          <p:nvPr/>
        </p:nvSpPr>
        <p:spPr>
          <a:xfrm>
            <a:off x="10516870" y="2961005"/>
            <a:ext cx="156210" cy="156210"/>
          </a:xfrm>
          <a:prstGeom prst="flowChartConnector">
            <a:avLst/>
          </a:prstGeom>
          <a:gradFill>
            <a:gsLst>
              <a:gs pos="38000">
                <a:srgbClr val="FFFFFF">
                  <a:alpha val="100000"/>
                </a:srgbClr>
              </a:gs>
              <a:gs pos="0">
                <a:srgbClr val="FFFFFF"/>
              </a:gs>
              <a:gs pos="100000">
                <a:srgbClr val="B3D4FE"/>
              </a:gs>
            </a:gsLst>
            <a:path path="circle">
              <a:fillToRect l="50000" t="50000" r="50000" b="50000"/>
            </a:path>
            <a:tileRect/>
          </a:gradFill>
          <a:ln w="12700">
            <a:noFill/>
          </a:ln>
        </p:spPr>
        <p:style>
          <a:lnRef idx="2">
            <a:srgbClr val="0042FF"/>
          </a:lnRef>
          <a:fillRef idx="1">
            <a:srgbClr val="0042FF"/>
          </a:fillRef>
          <a:effectRef idx="0">
            <a:srgbClr val="0042FF"/>
          </a:effectRef>
          <a:fontRef idx="minor">
            <a:srgbClr val="FFFFFF"/>
          </a:fontRef>
        </p:style>
        <p:txBody>
          <a:bodyPr vertOverflow="overflow" horzOverflow="overflow" vert="horz" wrap="square" numCol="1" spcCol="0" rtlCol="0" fromWordArt="0" anchor="ctr" anchorCtr="0" forceAA="0" compatLnSpc="1">
            <a:noAutofit/>
          </a:bodyPr>
          <a:p>
            <a:pPr lvl="0" algn="ctr">
              <a:buClrTx/>
              <a:buSzTx/>
              <a:buFontTx/>
              <a:defRPr>
                <a:latin typeface="微软雅黑"/>
                <a:ea typeface="微软雅黑"/>
                <a:cs typeface="微软雅黑"/>
              </a:defRPr>
            </a:pPr>
            <a:endParaRPr lang="zh-CN" altLang="en-US" sz="1600" dirty="0">
              <a:latin typeface="微软雅黑"/>
              <a:ea typeface="微软雅黑"/>
              <a:cs typeface="微软雅黑"/>
              <a:sym typeface="微软雅黑"/>
            </a:endParaRPr>
          </a:p>
        </p:txBody>
      </p:sp>
      <p:sp>
        <p:nvSpPr>
          <p:cNvPr id="130" name="文本框 129"/>
          <p:cNvSpPr txBox="1"/>
          <p:nvPr>
            <p:custDataLst>
              <p:tags r:id="rId6"/>
            </p:custDataLst>
          </p:nvPr>
        </p:nvSpPr>
        <p:spPr>
          <a:xfrm>
            <a:off x="8408035" y="2611120"/>
            <a:ext cx="1615440" cy="521970"/>
          </a:xfrm>
          <a:prstGeom prst="rect">
            <a:avLst/>
          </a:prstGeom>
          <a:noFill/>
        </p:spPr>
        <p:txBody>
          <a:bodyPr wrap="square" rtlCol="0">
            <a:spAutoFit/>
          </a:bodyPr>
          <a:p>
            <a:pPr algn="ctr">
              <a:defRPr>
                <a:solidFill>
                  <a:srgbClr val="383838"/>
                </a:solidFill>
                <a:latin typeface="微软雅黑"/>
                <a:ea typeface="微软雅黑"/>
                <a:cs typeface="微软雅黑"/>
              </a:defRPr>
            </a:pPr>
            <a:r>
              <a:rPr lang="en-US" altLang="zh-CN" sz="1400">
                <a:solidFill>
                  <a:srgbClr val="383838"/>
                </a:solidFill>
                <a:latin typeface="微软雅黑"/>
                <a:ea typeface="微软雅黑"/>
                <a:cs typeface="微软雅黑"/>
              </a:rPr>
              <a:t>8</a:t>
            </a:r>
            <a:r>
              <a:rPr lang="zh-CN" altLang="en-US" sz="1400">
                <a:solidFill>
                  <a:srgbClr val="383838"/>
                </a:solidFill>
                <a:latin typeface="微软雅黑"/>
                <a:ea typeface="微软雅黑"/>
                <a:cs typeface="微软雅黑"/>
              </a:rPr>
              <a:t>个中国相关的</a:t>
            </a:r>
            <a:endParaRPr lang="zh-CN" altLang="en-US" sz="1400">
              <a:solidFill>
                <a:srgbClr val="383838"/>
              </a:solidFill>
              <a:latin typeface="微软雅黑"/>
              <a:ea typeface="微软雅黑"/>
              <a:cs typeface="微软雅黑"/>
            </a:endParaRPr>
          </a:p>
          <a:p>
            <a:pPr algn="ctr">
              <a:defRPr>
                <a:solidFill>
                  <a:srgbClr val="383838"/>
                </a:solidFill>
                <a:latin typeface="微软雅黑"/>
                <a:ea typeface="微软雅黑"/>
                <a:cs typeface="微软雅黑"/>
              </a:defRPr>
            </a:pPr>
            <a:r>
              <a:rPr lang="zh-CN" altLang="en-US" sz="1400">
                <a:solidFill>
                  <a:srgbClr val="383838"/>
                </a:solidFill>
                <a:latin typeface="微软雅黑"/>
                <a:ea typeface="微软雅黑"/>
                <a:cs typeface="微软雅黑"/>
              </a:rPr>
              <a:t>影响趋势</a:t>
            </a:r>
            <a:endParaRPr lang="zh-CN" altLang="en-US" sz="1400">
              <a:solidFill>
                <a:srgbClr val="383838"/>
              </a:solidFill>
              <a:latin typeface="微软雅黑"/>
              <a:ea typeface="微软雅黑"/>
              <a:cs typeface="微软雅黑"/>
            </a:endParaRPr>
          </a:p>
        </p:txBody>
      </p:sp>
      <p:sp>
        <p:nvSpPr>
          <p:cNvPr id="131" name="任意多边形 130"/>
          <p:cNvSpPr/>
          <p:nvPr/>
        </p:nvSpPr>
        <p:spPr>
          <a:xfrm>
            <a:off x="3112770" y="3350260"/>
            <a:ext cx="7486650" cy="752475"/>
          </a:xfrm>
          <a:custGeom>
            <a:avLst/>
            <a:gdLst>
              <a:gd name="connisteX0" fmla="*/ 0 w 7486650"/>
              <a:gd name="connsiteY0" fmla="*/ 752475 h 752475"/>
              <a:gd name="connisteX1" fmla="*/ 3681095 w 7486650"/>
              <a:gd name="connsiteY1" fmla="*/ 219075 h 752475"/>
              <a:gd name="connisteX2" fmla="*/ 7486650 w 7486650"/>
              <a:gd name="connsiteY2" fmla="*/ 0 h 752475"/>
              <a:gd name="connisteX3" fmla="*/ 7343775 w 7486650"/>
              <a:gd name="connsiteY3" fmla="*/ 209550 h 752475"/>
            </a:gdLst>
            <a:ahLst/>
            <a:cxnLst>
              <a:cxn ang="0">
                <a:pos x="connisteX0" y="connsiteY0"/>
              </a:cxn>
              <a:cxn ang="0">
                <a:pos x="connisteX1" y="connsiteY1"/>
              </a:cxn>
              <a:cxn ang="0">
                <a:pos x="connisteX2" y="connsiteY2"/>
              </a:cxn>
              <a:cxn ang="0">
                <a:pos x="connisteX3" y="connsiteY3"/>
              </a:cxn>
            </a:cxnLst>
            <a:rect l="l" t="t" r="r" b="b"/>
            <a:pathLst>
              <a:path w="7486650" h="752475">
                <a:moveTo>
                  <a:pt x="0" y="752475"/>
                </a:moveTo>
                <a:cubicBezTo>
                  <a:pt x="660400" y="650240"/>
                  <a:pt x="2183765" y="369570"/>
                  <a:pt x="3681095" y="219075"/>
                </a:cubicBezTo>
                <a:cubicBezTo>
                  <a:pt x="5178425" y="68580"/>
                  <a:pt x="6753860" y="1905"/>
                  <a:pt x="7486650" y="0"/>
                </a:cubicBezTo>
              </a:path>
            </a:pathLst>
          </a:custGeom>
          <a:noFill/>
          <a:ln>
            <a:solidFill>
              <a:srgbClr val="DCDCDC"/>
            </a:solidFill>
            <a:prstDash val="sysDash"/>
            <a:tailEnd type="triangle" w="lg" len="med"/>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32" name="任意多边形 131"/>
          <p:cNvSpPr/>
          <p:nvPr/>
        </p:nvSpPr>
        <p:spPr>
          <a:xfrm flipV="1">
            <a:off x="2992120" y="1675765"/>
            <a:ext cx="7486650" cy="752475"/>
          </a:xfrm>
          <a:custGeom>
            <a:avLst/>
            <a:gdLst>
              <a:gd name="connisteX0" fmla="*/ 0 w 7486650"/>
              <a:gd name="connsiteY0" fmla="*/ 752475 h 752475"/>
              <a:gd name="connisteX1" fmla="*/ 3681095 w 7486650"/>
              <a:gd name="connsiteY1" fmla="*/ 219075 h 752475"/>
              <a:gd name="connisteX2" fmla="*/ 7486650 w 7486650"/>
              <a:gd name="connsiteY2" fmla="*/ 0 h 752475"/>
              <a:gd name="connisteX3" fmla="*/ 7343775 w 7486650"/>
              <a:gd name="connsiteY3" fmla="*/ 209550 h 752475"/>
            </a:gdLst>
            <a:ahLst/>
            <a:cxnLst>
              <a:cxn ang="0">
                <a:pos x="connisteX0" y="connsiteY0"/>
              </a:cxn>
              <a:cxn ang="0">
                <a:pos x="connisteX1" y="connsiteY1"/>
              </a:cxn>
              <a:cxn ang="0">
                <a:pos x="connisteX2" y="connsiteY2"/>
              </a:cxn>
              <a:cxn ang="0">
                <a:pos x="connisteX3" y="connsiteY3"/>
              </a:cxn>
            </a:cxnLst>
            <a:rect l="l" t="t" r="r" b="b"/>
            <a:pathLst>
              <a:path w="7486650" h="752475">
                <a:moveTo>
                  <a:pt x="0" y="752475"/>
                </a:moveTo>
                <a:cubicBezTo>
                  <a:pt x="660400" y="650240"/>
                  <a:pt x="2183765" y="369570"/>
                  <a:pt x="3681095" y="219075"/>
                </a:cubicBezTo>
                <a:cubicBezTo>
                  <a:pt x="5178425" y="68580"/>
                  <a:pt x="6753860" y="1905"/>
                  <a:pt x="7486650" y="0"/>
                </a:cubicBezTo>
              </a:path>
            </a:pathLst>
          </a:custGeom>
          <a:noFill/>
          <a:ln>
            <a:solidFill>
              <a:srgbClr val="DCDCDC"/>
            </a:solidFill>
            <a:prstDash val="sysDash"/>
            <a:tailEnd type="triangle" w="lg" len="med"/>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33" name="文本框 132"/>
          <p:cNvSpPr txBox="1"/>
          <p:nvPr>
            <p:custDataLst>
              <p:tags r:id="rId7"/>
            </p:custDataLst>
          </p:nvPr>
        </p:nvSpPr>
        <p:spPr>
          <a:xfrm>
            <a:off x="5292725" y="1125220"/>
            <a:ext cx="2876550" cy="30670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第二阶段：数据筛选、专家访谈</a:t>
            </a:r>
            <a:endParaRPr lang="zh-CN" altLang="en-US" sz="1400" b="1">
              <a:solidFill>
                <a:srgbClr val="FFFFFF"/>
              </a:solidFill>
              <a:latin typeface="微软雅黑"/>
              <a:ea typeface="微软雅黑"/>
              <a:cs typeface="微软雅黑"/>
            </a:endParaRPr>
          </a:p>
        </p:txBody>
      </p:sp>
      <p:sp>
        <p:nvSpPr>
          <p:cNvPr id="134" name="文本框 133"/>
          <p:cNvSpPr txBox="1"/>
          <p:nvPr>
            <p:custDataLst>
              <p:tags r:id="rId8"/>
            </p:custDataLst>
          </p:nvPr>
        </p:nvSpPr>
        <p:spPr>
          <a:xfrm>
            <a:off x="8477885" y="1125220"/>
            <a:ext cx="2876550" cy="306705"/>
          </a:xfrm>
          <a:prstGeom prst="rect">
            <a:avLst/>
          </a:prstGeom>
          <a:noFill/>
        </p:spPr>
        <p:txBody>
          <a:bodyPr wrap="square" rtlCol="0">
            <a:spAutoFit/>
          </a:bodyPr>
          <a:p>
            <a:pPr>
              <a:defRPr>
                <a:solidFill>
                  <a:srgbClr val="FFFFFF"/>
                </a:solidFill>
                <a:latin typeface="微软雅黑"/>
                <a:ea typeface="微软雅黑"/>
                <a:cs typeface="微软雅黑"/>
              </a:defRPr>
            </a:pPr>
            <a:r>
              <a:rPr lang="zh-CN" altLang="en-US" sz="1400" b="1">
                <a:solidFill>
                  <a:srgbClr val="FFFFFF"/>
                </a:solidFill>
                <a:latin typeface="微软雅黑"/>
                <a:ea typeface="微软雅黑"/>
                <a:cs typeface="微软雅黑"/>
              </a:rPr>
              <a:t>第三阶段：专家访谈、得出结论</a:t>
            </a:r>
            <a:endParaRPr lang="zh-CN" altLang="en-US" sz="1400" b="1">
              <a:solidFill>
                <a:srgbClr val="FFFFFF"/>
              </a:solidFill>
              <a:latin typeface="微软雅黑"/>
              <a:ea typeface="微软雅黑"/>
              <a:cs typeface="微软雅黑"/>
            </a:endParaRPr>
          </a:p>
        </p:txBody>
      </p:sp>
      <p:grpSp>
        <p:nvGrpSpPr>
          <p:cNvPr id="136" name="组合 135"/>
          <p:cNvGrpSpPr/>
          <p:nvPr/>
        </p:nvGrpSpPr>
        <p:grpSpPr>
          <a:xfrm>
            <a:off x="513715" y="4279265"/>
            <a:ext cx="739140" cy="2173605"/>
            <a:chOff x="834" y="2868"/>
            <a:chExt cx="1164" cy="3423"/>
          </a:xfrm>
        </p:grpSpPr>
        <p:cxnSp>
          <p:nvCxnSpPr>
            <p:cNvPr id="137" name="直接连接符 136"/>
            <p:cNvCxnSpPr/>
            <p:nvPr/>
          </p:nvCxnSpPr>
          <p:spPr>
            <a:xfrm>
              <a:off x="903" y="2868"/>
              <a:ext cx="1090" cy="0"/>
            </a:xfrm>
            <a:prstGeom prst="line">
              <a:avLst/>
            </a:prstGeom>
            <a:ln>
              <a:headEnd type="diamond"/>
            </a:ln>
          </p:spPr>
          <p:style>
            <a:lnRef idx="2">
              <a:srgbClr val="0042FF"/>
            </a:lnRef>
            <a:fillRef idx="0">
              <a:srgbClr val="FFFFFF"/>
            </a:fillRef>
            <a:effectRef idx="0">
              <a:srgbClr val="FFFFFF"/>
            </a:effectRef>
            <a:fontRef idx="minor">
              <a:srgbClr val="383838"/>
            </a:fontRef>
          </p:style>
        </p:cxnSp>
        <p:cxnSp>
          <p:nvCxnSpPr>
            <p:cNvPr id="138" name="直接连接符 137"/>
            <p:cNvCxnSpPr/>
            <p:nvPr/>
          </p:nvCxnSpPr>
          <p:spPr>
            <a:xfrm flipV="1">
              <a:off x="834" y="6280"/>
              <a:ext cx="1164" cy="10"/>
            </a:xfrm>
            <a:prstGeom prst="line">
              <a:avLst/>
            </a:prstGeom>
            <a:ln>
              <a:headEnd type="diamond"/>
            </a:ln>
          </p:spPr>
          <p:style>
            <a:lnRef idx="2">
              <a:srgbClr val="0042FF"/>
            </a:lnRef>
            <a:fillRef idx="0">
              <a:srgbClr val="FFFFFF"/>
            </a:fillRef>
            <a:effectRef idx="0">
              <a:srgbClr val="FFFFFF"/>
            </a:effectRef>
            <a:fontRef idx="minor">
              <a:srgbClr val="383838"/>
            </a:fontRef>
          </p:style>
        </p:cxnSp>
        <p:cxnSp>
          <p:nvCxnSpPr>
            <p:cNvPr id="139" name="直接连接符 138"/>
            <p:cNvCxnSpPr/>
            <p:nvPr/>
          </p:nvCxnSpPr>
          <p:spPr>
            <a:xfrm flipV="1">
              <a:off x="1993" y="2868"/>
              <a:ext cx="0" cy="3423"/>
            </a:xfrm>
            <a:prstGeom prst="line">
              <a:avLst/>
            </a:prstGeom>
          </p:spPr>
          <p:style>
            <a:lnRef idx="2">
              <a:srgbClr val="0042FF"/>
            </a:lnRef>
            <a:fillRef idx="0">
              <a:srgbClr val="FFFFFF"/>
            </a:fillRef>
            <a:effectRef idx="0">
              <a:srgbClr val="FFFFFF"/>
            </a:effectRef>
            <a:fontRef idx="minor">
              <a:srgbClr val="383838"/>
            </a:fontRef>
          </p:style>
        </p:cxnSp>
        <p:sp>
          <p:nvSpPr>
            <p:cNvPr id="140" name="文本框 139"/>
            <p:cNvSpPr txBox="1"/>
            <p:nvPr>
              <p:custDataLst>
                <p:tags r:id="rId9"/>
              </p:custDataLst>
            </p:nvPr>
          </p:nvSpPr>
          <p:spPr>
            <a:xfrm>
              <a:off x="1059" y="3549"/>
              <a:ext cx="762" cy="2082"/>
            </a:xfrm>
            <a:prstGeom prst="rect">
              <a:avLst/>
            </a:prstGeom>
            <a:noFill/>
          </p:spPr>
          <p:txBody>
            <a:bodyPr wrap="square" rtlCol="0" anchor="ctr" anchorCtr="0">
              <a:spAutoFit/>
            </a:bodyPr>
            <a:p>
              <a:pPr>
                <a:defRPr>
                  <a:latin typeface="微软雅黑"/>
                  <a:ea typeface="微软雅黑"/>
                  <a:cs typeface="微软雅黑"/>
                </a:defRPr>
              </a:pPr>
              <a:r>
                <a:rPr lang="zh-CN" altLang="en-US" sz="2000" b="1">
                  <a:solidFill>
                    <a:srgbClr val="0042FF"/>
                  </a:solidFill>
                  <a:latin typeface="微软雅黑"/>
                  <a:ea typeface="微软雅黑"/>
                  <a:cs typeface="微软雅黑"/>
                </a:rPr>
                <a:t>方法路径</a:t>
              </a:r>
              <a:endParaRPr lang="zh-CN" altLang="en-US" sz="2000" b="1">
                <a:solidFill>
                  <a:srgbClr val="0042FF"/>
                </a:solidFill>
                <a:latin typeface="微软雅黑"/>
                <a:ea typeface="微软雅黑"/>
                <a:cs typeface="微软雅黑"/>
              </a:endParaRPr>
            </a:p>
          </p:txBody>
        </p:sp>
      </p:grpSp>
      <p:grpSp>
        <p:nvGrpSpPr>
          <p:cNvPr id="156" name="组合 155"/>
          <p:cNvGrpSpPr/>
          <p:nvPr/>
        </p:nvGrpSpPr>
        <p:grpSpPr>
          <a:xfrm>
            <a:off x="1834515" y="4300855"/>
            <a:ext cx="3039110" cy="398780"/>
            <a:chOff x="2922" y="6773"/>
            <a:chExt cx="4786" cy="628"/>
          </a:xfrm>
        </p:grpSpPr>
        <p:cxnSp>
          <p:nvCxnSpPr>
            <p:cNvPr id="141" name="直接连接符 140"/>
            <p:cNvCxnSpPr/>
            <p:nvPr/>
          </p:nvCxnSpPr>
          <p:spPr>
            <a:xfrm>
              <a:off x="2922" y="6985"/>
              <a:ext cx="4787" cy="0"/>
            </a:xfrm>
            <a:prstGeom prst="line">
              <a:avLst/>
            </a:prstGeom>
            <a:ln w="28575">
              <a:solidFill>
                <a:srgbClr val="0042FF"/>
              </a:solidFill>
            </a:ln>
          </p:spPr>
          <p:style>
            <a:lnRef idx="2">
              <a:srgbClr val="0042FF"/>
            </a:lnRef>
            <a:fillRef idx="0">
              <a:srgbClr val="FFFFFF"/>
            </a:fillRef>
            <a:effectRef idx="0">
              <a:srgbClr val="FFFFFF"/>
            </a:effectRef>
            <a:fontRef idx="minor">
              <a:srgbClr val="383838"/>
            </a:fontRef>
          </p:style>
        </p:cxnSp>
        <p:sp>
          <p:nvSpPr>
            <p:cNvPr id="144" name="矩形 143"/>
            <p:cNvSpPr/>
            <p:nvPr/>
          </p:nvSpPr>
          <p:spPr>
            <a:xfrm>
              <a:off x="3952" y="6832"/>
              <a:ext cx="2728" cy="516"/>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48" name="组合 147"/>
            <p:cNvGrpSpPr/>
            <p:nvPr/>
          </p:nvGrpSpPr>
          <p:grpSpPr>
            <a:xfrm>
              <a:off x="4016" y="6773"/>
              <a:ext cx="382" cy="629"/>
              <a:chOff x="4207" y="6620"/>
              <a:chExt cx="505" cy="831"/>
            </a:xfrm>
          </p:grpSpPr>
          <p:sp>
            <p:nvSpPr>
              <p:cNvPr id="146" name="菱形 145"/>
              <p:cNvSpPr/>
              <p:nvPr/>
            </p:nvSpPr>
            <p:spPr>
              <a:xfrm rot="16200000" flipH="1" flipV="1">
                <a:off x="4155" y="6673"/>
                <a:ext cx="611" cy="504"/>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47" name="菱形 146"/>
              <p:cNvSpPr/>
              <p:nvPr/>
            </p:nvSpPr>
            <p:spPr>
              <a:xfrm rot="16200000" flipH="1" flipV="1">
                <a:off x="4154" y="6894"/>
                <a:ext cx="611" cy="504"/>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152" name="文本框 151"/>
            <p:cNvSpPr txBox="1"/>
            <p:nvPr>
              <p:custDataLst>
                <p:tags r:id="rId10"/>
              </p:custDataLst>
            </p:nvPr>
          </p:nvSpPr>
          <p:spPr>
            <a:xfrm>
              <a:off x="4454" y="6775"/>
              <a:ext cx="1751"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收集、整理</a:t>
              </a:r>
              <a:endParaRPr lang="zh-CN" altLang="en-US" sz="1400" b="1">
                <a:solidFill>
                  <a:srgbClr val="0042FF"/>
                </a:solidFill>
                <a:latin typeface="微软雅黑"/>
                <a:ea typeface="微软雅黑"/>
                <a:cs typeface="微软雅黑"/>
              </a:endParaRPr>
            </a:p>
          </p:txBody>
        </p:sp>
        <p:grpSp>
          <p:nvGrpSpPr>
            <p:cNvPr id="153" name="组合 152"/>
            <p:cNvGrpSpPr/>
            <p:nvPr/>
          </p:nvGrpSpPr>
          <p:grpSpPr>
            <a:xfrm>
              <a:off x="6299" y="6773"/>
              <a:ext cx="382" cy="629"/>
              <a:chOff x="4207" y="6620"/>
              <a:chExt cx="505" cy="831"/>
            </a:xfrm>
          </p:grpSpPr>
          <p:sp>
            <p:nvSpPr>
              <p:cNvPr id="154" name="菱形 153"/>
              <p:cNvSpPr/>
              <p:nvPr/>
            </p:nvSpPr>
            <p:spPr>
              <a:xfrm rot="16200000" flipH="1" flipV="1">
                <a:off x="4155" y="6673"/>
                <a:ext cx="611" cy="504"/>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55" name="菱形 154"/>
              <p:cNvSpPr/>
              <p:nvPr/>
            </p:nvSpPr>
            <p:spPr>
              <a:xfrm rot="16200000" flipH="1" flipV="1">
                <a:off x="4154" y="6894"/>
                <a:ext cx="611" cy="504"/>
              </a:xfrm>
              <a:prstGeom prst="diamond">
                <a:avLst/>
              </a:prstGeom>
              <a:gradFill flip="none" rotWithShape="1">
                <a:gsLst>
                  <a:gs pos="0">
                    <a:srgbClr val="0042FF"/>
                  </a:gs>
                  <a:gs pos="50000">
                    <a:srgbClr val="0042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grpSp>
        <p:nvGrpSpPr>
          <p:cNvPr id="157" name="组合 156"/>
          <p:cNvGrpSpPr/>
          <p:nvPr/>
        </p:nvGrpSpPr>
        <p:grpSpPr>
          <a:xfrm>
            <a:off x="5161915" y="4300855"/>
            <a:ext cx="3039745" cy="399415"/>
            <a:chOff x="2922" y="6773"/>
            <a:chExt cx="4787" cy="629"/>
          </a:xfrm>
        </p:grpSpPr>
        <p:cxnSp>
          <p:nvCxnSpPr>
            <p:cNvPr id="158" name="直接连接符 157"/>
            <p:cNvCxnSpPr/>
            <p:nvPr/>
          </p:nvCxnSpPr>
          <p:spPr>
            <a:xfrm>
              <a:off x="2922" y="6985"/>
              <a:ext cx="4787" cy="0"/>
            </a:xfrm>
            <a:prstGeom prst="line">
              <a:avLst/>
            </a:prstGeom>
            <a:ln w="28575">
              <a:solidFill>
                <a:srgbClr val="3368FF"/>
              </a:solidFill>
            </a:ln>
          </p:spPr>
          <p:style>
            <a:lnRef idx="2">
              <a:srgbClr val="0042FF"/>
            </a:lnRef>
            <a:fillRef idx="0">
              <a:srgbClr val="FFFFFF"/>
            </a:fillRef>
            <a:effectRef idx="0">
              <a:srgbClr val="FFFFFF"/>
            </a:effectRef>
            <a:fontRef idx="minor">
              <a:srgbClr val="383838"/>
            </a:fontRef>
          </p:style>
        </p:cxnSp>
        <p:sp>
          <p:nvSpPr>
            <p:cNvPr id="159" name="矩形 158"/>
            <p:cNvSpPr/>
            <p:nvPr/>
          </p:nvSpPr>
          <p:spPr>
            <a:xfrm>
              <a:off x="3952" y="6832"/>
              <a:ext cx="2728" cy="516"/>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60" name="组合 159"/>
            <p:cNvGrpSpPr/>
            <p:nvPr/>
          </p:nvGrpSpPr>
          <p:grpSpPr>
            <a:xfrm>
              <a:off x="4016" y="6773"/>
              <a:ext cx="382" cy="629"/>
              <a:chOff x="4207" y="6620"/>
              <a:chExt cx="505" cy="831"/>
            </a:xfrm>
          </p:grpSpPr>
          <p:sp>
            <p:nvSpPr>
              <p:cNvPr id="161" name="菱形 160"/>
              <p:cNvSpPr/>
              <p:nvPr/>
            </p:nvSpPr>
            <p:spPr>
              <a:xfrm rot="16200000" flipH="1" flipV="1">
                <a:off x="4155" y="6673"/>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62" name="菱形 161"/>
              <p:cNvSpPr/>
              <p:nvPr/>
            </p:nvSpPr>
            <p:spPr>
              <a:xfrm rot="16200000" flipH="1" flipV="1">
                <a:off x="4154" y="6894"/>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163" name="文本框 162"/>
            <p:cNvSpPr txBox="1"/>
            <p:nvPr>
              <p:custDataLst>
                <p:tags r:id="rId11"/>
              </p:custDataLst>
            </p:nvPr>
          </p:nvSpPr>
          <p:spPr>
            <a:xfrm>
              <a:off x="4454" y="6775"/>
              <a:ext cx="1751" cy="483"/>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筛选、分析</a:t>
              </a:r>
              <a:endParaRPr lang="zh-CN" altLang="en-US" sz="1400" b="1">
                <a:solidFill>
                  <a:srgbClr val="0042FF"/>
                </a:solidFill>
                <a:latin typeface="微软雅黑"/>
                <a:ea typeface="微软雅黑"/>
                <a:cs typeface="微软雅黑"/>
              </a:endParaRPr>
            </a:p>
          </p:txBody>
        </p:sp>
        <p:grpSp>
          <p:nvGrpSpPr>
            <p:cNvPr id="164" name="组合 163"/>
            <p:cNvGrpSpPr/>
            <p:nvPr/>
          </p:nvGrpSpPr>
          <p:grpSpPr>
            <a:xfrm>
              <a:off x="6299" y="6773"/>
              <a:ext cx="382" cy="629"/>
              <a:chOff x="4207" y="6620"/>
              <a:chExt cx="505" cy="831"/>
            </a:xfrm>
          </p:grpSpPr>
          <p:sp>
            <p:nvSpPr>
              <p:cNvPr id="165" name="菱形 164"/>
              <p:cNvSpPr/>
              <p:nvPr/>
            </p:nvSpPr>
            <p:spPr>
              <a:xfrm rot="16200000" flipH="1" flipV="1">
                <a:off x="4155" y="6673"/>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66" name="菱形 165"/>
              <p:cNvSpPr/>
              <p:nvPr/>
            </p:nvSpPr>
            <p:spPr>
              <a:xfrm rot="16200000" flipH="1" flipV="1">
                <a:off x="4154" y="6894"/>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grpSp>
      <p:cxnSp>
        <p:nvCxnSpPr>
          <p:cNvPr id="168" name="直接连接符 167"/>
          <p:cNvCxnSpPr/>
          <p:nvPr/>
        </p:nvCxnSpPr>
        <p:spPr>
          <a:xfrm>
            <a:off x="8489950" y="4435475"/>
            <a:ext cx="3039745" cy="0"/>
          </a:xfrm>
          <a:prstGeom prst="line">
            <a:avLst/>
          </a:prstGeom>
          <a:ln w="28575">
            <a:solidFill>
              <a:srgbClr val="3368FF"/>
            </a:solidFill>
          </a:ln>
        </p:spPr>
        <p:style>
          <a:lnRef idx="2">
            <a:srgbClr val="0042FF"/>
          </a:lnRef>
          <a:fillRef idx="0">
            <a:srgbClr val="FFFFFF"/>
          </a:fillRef>
          <a:effectRef idx="0">
            <a:srgbClr val="FFFFFF"/>
          </a:effectRef>
          <a:fontRef idx="minor">
            <a:srgbClr val="383838"/>
          </a:fontRef>
        </p:style>
      </p:cxnSp>
      <p:sp>
        <p:nvSpPr>
          <p:cNvPr id="169" name="矩形 168"/>
          <p:cNvSpPr/>
          <p:nvPr/>
        </p:nvSpPr>
        <p:spPr>
          <a:xfrm>
            <a:off x="9144000" y="4338320"/>
            <a:ext cx="1732280" cy="327660"/>
          </a:xfrm>
          <a:prstGeom prst="rect">
            <a:avLst/>
          </a:prstGeom>
          <a:solidFill>
            <a:srgbClr val="FFFFFF"/>
          </a:solidFill>
          <a:ln>
            <a:no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grpSp>
        <p:nvGrpSpPr>
          <p:cNvPr id="170" name="组合 169"/>
          <p:cNvGrpSpPr/>
          <p:nvPr/>
        </p:nvGrpSpPr>
        <p:grpSpPr>
          <a:xfrm rot="0">
            <a:off x="9184640" y="4300855"/>
            <a:ext cx="242570" cy="399415"/>
            <a:chOff x="4207" y="6620"/>
            <a:chExt cx="505" cy="831"/>
          </a:xfrm>
        </p:grpSpPr>
        <p:sp>
          <p:nvSpPr>
            <p:cNvPr id="171" name="菱形 170"/>
            <p:cNvSpPr/>
            <p:nvPr/>
          </p:nvSpPr>
          <p:spPr>
            <a:xfrm rot="16200000" flipH="1" flipV="1">
              <a:off x="4155" y="6673"/>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72" name="菱形 171"/>
            <p:cNvSpPr/>
            <p:nvPr/>
          </p:nvSpPr>
          <p:spPr>
            <a:xfrm rot="16200000" flipH="1" flipV="1">
              <a:off x="4154" y="6894"/>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173" name="文本框 172"/>
          <p:cNvSpPr txBox="1"/>
          <p:nvPr>
            <p:custDataLst>
              <p:tags r:id="rId12"/>
            </p:custDataLst>
          </p:nvPr>
        </p:nvSpPr>
        <p:spPr>
          <a:xfrm>
            <a:off x="9462770" y="4302125"/>
            <a:ext cx="1111885" cy="306705"/>
          </a:xfrm>
          <a:prstGeom prst="rect">
            <a:avLst/>
          </a:prstGeom>
          <a:noFill/>
        </p:spPr>
        <p:txBody>
          <a:bodyPr wrap="square" rtlCol="0">
            <a:spAutoFit/>
          </a:bodyPr>
          <a:p>
            <a:pPr algn="ctr">
              <a:defRPr>
                <a:latin typeface="微软雅黑"/>
                <a:ea typeface="微软雅黑"/>
                <a:cs typeface="微软雅黑"/>
              </a:defRPr>
            </a:pPr>
            <a:r>
              <a:rPr lang="zh-CN" altLang="en-US" sz="1400" b="1">
                <a:solidFill>
                  <a:srgbClr val="0042FF"/>
                </a:solidFill>
                <a:latin typeface="微软雅黑"/>
                <a:ea typeface="微软雅黑"/>
                <a:cs typeface="微软雅黑"/>
              </a:rPr>
              <a:t>验证、总结</a:t>
            </a:r>
            <a:endParaRPr lang="zh-CN" altLang="en-US" sz="1400" b="1">
              <a:solidFill>
                <a:srgbClr val="0042FF"/>
              </a:solidFill>
              <a:latin typeface="微软雅黑"/>
              <a:ea typeface="微软雅黑"/>
              <a:cs typeface="微软雅黑"/>
            </a:endParaRPr>
          </a:p>
        </p:txBody>
      </p:sp>
      <p:sp>
        <p:nvSpPr>
          <p:cNvPr id="177" name="矩形 176"/>
          <p:cNvSpPr/>
          <p:nvPr/>
        </p:nvSpPr>
        <p:spPr>
          <a:xfrm>
            <a:off x="1796415" y="4772660"/>
            <a:ext cx="3098800" cy="167386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rtlCol="0" anchor="ctr" lIns="0" rIns="0" tIns="0" bIns="0"/>
          <a:p>
            <a:pPr algn="ctr">
              <a:defRPr>
                <a:latin typeface="微软雅黑"/>
                <a:ea typeface="微软雅黑"/>
                <a:cs typeface="微软雅黑"/>
              </a:defRPr>
            </a:pPr>
            <a:endParaRPr lang="zh-CN" altLang="en-US">
              <a:latin typeface="微软雅黑"/>
              <a:ea typeface="微软雅黑"/>
              <a:cs typeface="微软雅黑"/>
            </a:endParaRPr>
          </a:p>
        </p:txBody>
      </p:sp>
      <p:sp>
        <p:nvSpPr>
          <p:cNvPr id="178" name="矩形 177"/>
          <p:cNvSpPr/>
          <p:nvPr/>
        </p:nvSpPr>
        <p:spPr>
          <a:xfrm>
            <a:off x="5137150" y="4772660"/>
            <a:ext cx="3098800" cy="1673860"/>
          </a:xfrm>
          <a:prstGeom prst="rect">
            <a:avLst/>
          </a:prstGeom>
          <a:solidFill>
            <a:srgbClr val="E6E6E6">
              <a:alpha val="20000"/>
            </a:srgbClr>
          </a:solidFill>
          <a:ln>
            <a:solidFill>
              <a:srgbClr val="668EFF"/>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79" name="矩形 178"/>
          <p:cNvSpPr/>
          <p:nvPr/>
        </p:nvSpPr>
        <p:spPr>
          <a:xfrm>
            <a:off x="8477885" y="4772660"/>
            <a:ext cx="3098800" cy="1673860"/>
          </a:xfrm>
          <a:prstGeom prst="rect">
            <a:avLst/>
          </a:prstGeom>
          <a:solidFill>
            <a:srgbClr val="FFFFFF">
              <a:alpha val="20000"/>
            </a:srgbClr>
          </a:solidFill>
          <a:ln>
            <a:solidFill>
              <a:srgbClr val="B3D4FE"/>
            </a:solidFill>
          </a:ln>
        </p:spPr>
        <p:style>
          <a:lnRef idx="2">
            <a:srgbClr val="0042FF"/>
          </a:lnRef>
          <a:fillRef idx="1">
            <a:srgbClr val="0042FF"/>
          </a:fillRef>
          <a:effectRef idx="0">
            <a:srgbClr val="FFFFFF"/>
          </a:effectRef>
          <a:fontRef idx="minor">
            <a:srgbClr val="FFFFFF"/>
          </a:fontRef>
        </p:style>
        <p:txBody>
          <a:bodyPr vertOverflow="overflow" horzOverflow="overflow" vert="horz" wrap="square" numCol="1" spcCol="0" rtlCol="0" fromWordArt="0" anchor="ctr" anchorCtr="0" forceAA="0" compatLnSpc="1" lIns="0" rIns="0" tIns="0" bIns="0">
            <a:noAutofit/>
          </a:bodyPr>
          <a:p>
            <a:pPr lvl="0" algn="ctr">
              <a:buClrTx/>
              <a:buSzTx/>
              <a:buFontTx/>
              <a:defRPr>
                <a:latin typeface="微软雅黑"/>
                <a:ea typeface="微软雅黑"/>
                <a:cs typeface="微软雅黑"/>
              </a:defRPr>
            </a:pPr>
            <a:endParaRPr lang="zh-CN" altLang="en-US">
              <a:latin typeface="微软雅黑"/>
              <a:ea typeface="微软雅黑"/>
              <a:cs typeface="微软雅黑"/>
              <a:sym typeface="微软雅黑"/>
            </a:endParaRPr>
          </a:p>
        </p:txBody>
      </p:sp>
      <p:sp>
        <p:nvSpPr>
          <p:cNvPr id="180" name="文本框 179"/>
          <p:cNvSpPr txBox="1"/>
          <p:nvPr>
            <p:custDataLst>
              <p:tags r:id="rId13"/>
            </p:custDataLst>
          </p:nvPr>
        </p:nvSpPr>
        <p:spPr>
          <a:xfrm>
            <a:off x="1909445" y="4921250"/>
            <a:ext cx="2797175" cy="1353185"/>
          </a:xfrm>
          <a:prstGeom prst="rect">
            <a:avLst/>
          </a:prstGeom>
          <a:noFill/>
        </p:spPr>
        <p:txBody>
          <a:bodyPr wrap="square" rtlCol="0">
            <a:noAutofit/>
          </a:bodyPr>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凯爱瑞内部研究；</a:t>
            </a:r>
            <a:endParaRPr lang="zh-CN" altLang="en-US" sz="1300" b="1">
              <a:solidFill>
                <a:srgbClr val="383838"/>
              </a:solidFill>
              <a:latin typeface="微软雅黑"/>
              <a:ea typeface="微软雅黑"/>
              <a:cs typeface="微软雅黑"/>
            </a:endParaRPr>
          </a:p>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凯爱瑞消费者调研；</a:t>
            </a:r>
            <a:endParaRPr lang="zh-CN" altLang="en-US" sz="1300" b="1">
              <a:solidFill>
                <a:srgbClr val="383838"/>
              </a:solidFill>
              <a:latin typeface="微软雅黑"/>
              <a:ea typeface="微软雅黑"/>
              <a:cs typeface="微软雅黑"/>
            </a:endParaRPr>
          </a:p>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公开数据收集</a:t>
            </a:r>
            <a:r>
              <a:rPr lang="zh-CN" altLang="en-US" sz="1300">
                <a:solidFill>
                  <a:srgbClr val="383838"/>
                </a:solidFill>
                <a:latin typeface="微软雅黑"/>
                <a:ea typeface="微软雅黑"/>
                <a:cs typeface="微软雅黑"/>
                <a:sym typeface="微软雅黑"/>
              </a:rPr>
              <a:t>（</a:t>
            </a:r>
            <a:r>
              <a:rPr lang="zh-CN" altLang="en-US" sz="1300">
                <a:solidFill>
                  <a:srgbClr val="383838"/>
                </a:solidFill>
                <a:latin typeface="微软雅黑"/>
                <a:ea typeface="微软雅黑"/>
                <a:cs typeface="微软雅黑"/>
              </a:rPr>
              <a:t>如政府统计、行业报告、学术出版物、新闻等）；</a:t>
            </a:r>
            <a:endParaRPr lang="zh-CN" altLang="en-US" sz="1300">
              <a:solidFill>
                <a:srgbClr val="383838"/>
              </a:solidFill>
              <a:latin typeface="微软雅黑"/>
              <a:ea typeface="微软雅黑"/>
              <a:cs typeface="微软雅黑"/>
            </a:endParaRPr>
          </a:p>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相关研究报告整理</a:t>
            </a:r>
            <a:r>
              <a:rPr lang="zh-CN" altLang="en-US" sz="1300">
                <a:solidFill>
                  <a:srgbClr val="383838"/>
                </a:solidFill>
                <a:latin typeface="微软雅黑"/>
                <a:ea typeface="微软雅黑"/>
                <a:cs typeface="微软雅黑"/>
              </a:rPr>
              <a:t>（如市场研究公司、咨询公司、行业协会的报告）。</a:t>
            </a:r>
            <a:endParaRPr lang="zh-CN" altLang="en-US" sz="1300">
              <a:solidFill>
                <a:srgbClr val="383838"/>
              </a:solidFill>
              <a:latin typeface="微软雅黑"/>
              <a:ea typeface="微软雅黑"/>
              <a:cs typeface="微软雅黑"/>
            </a:endParaRPr>
          </a:p>
        </p:txBody>
      </p:sp>
      <p:sp>
        <p:nvSpPr>
          <p:cNvPr id="4" name="文本框 3"/>
          <p:cNvSpPr txBox="1"/>
          <p:nvPr>
            <p:custDataLst>
              <p:tags r:id="rId14"/>
            </p:custDataLst>
          </p:nvPr>
        </p:nvSpPr>
        <p:spPr>
          <a:xfrm>
            <a:off x="5203825" y="4876800"/>
            <a:ext cx="2965450" cy="1353185"/>
          </a:xfrm>
          <a:prstGeom prst="rect">
            <a:avLst/>
          </a:prstGeom>
          <a:noFill/>
        </p:spPr>
        <p:txBody>
          <a:bodyPr wrap="square" rtlCol="0">
            <a:noAutofit/>
          </a:bodyPr>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数据筛选及验证：</a:t>
            </a:r>
            <a:r>
              <a:rPr lang="en-US" altLang="zh-CN" sz="1300" b="1">
                <a:solidFill>
                  <a:srgbClr val="383838"/>
                </a:solidFill>
                <a:latin typeface="微软雅黑"/>
                <a:ea typeface="微软雅黑"/>
                <a:cs typeface="微软雅黑"/>
              </a:rPr>
              <a:t> </a:t>
            </a:r>
            <a:r>
              <a:rPr lang="zh-CN" altLang="en-US" sz="1300">
                <a:solidFill>
                  <a:srgbClr val="383838"/>
                </a:solidFill>
                <a:latin typeface="微软雅黑"/>
                <a:ea typeface="微软雅黑"/>
                <a:cs typeface="微软雅黑"/>
              </a:rPr>
              <a:t>对第一阶段收集到的庞大数据和信息进行筛选，并进行初步的验证（检查数据准确性、一致性、时效性）。</a:t>
            </a:r>
            <a:endParaRPr lang="zh-CN" altLang="en-US" sz="1300">
              <a:solidFill>
                <a:srgbClr val="383838"/>
              </a:solidFill>
              <a:latin typeface="微软雅黑"/>
              <a:ea typeface="微软雅黑"/>
              <a:cs typeface="微软雅黑"/>
            </a:endParaRPr>
          </a:p>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全球营养健康消费品专家访谈：</a:t>
            </a:r>
            <a:r>
              <a:rPr lang="en-US" altLang="zh-CN" sz="1300">
                <a:solidFill>
                  <a:srgbClr val="383838"/>
                </a:solidFill>
                <a:latin typeface="微软雅黑"/>
                <a:ea typeface="微软雅黑"/>
                <a:cs typeface="微软雅黑"/>
              </a:rPr>
              <a:t> </a:t>
            </a:r>
            <a:r>
              <a:rPr lang="zh-CN" altLang="en-US" sz="1300">
                <a:solidFill>
                  <a:srgbClr val="383838"/>
                </a:solidFill>
                <a:latin typeface="微软雅黑"/>
                <a:ea typeface="微软雅黑"/>
                <a:cs typeface="微软雅黑"/>
              </a:rPr>
              <a:t>与专家进行访谈、探讨趋势背后的驱动因素和市场动态。</a:t>
            </a:r>
            <a:endParaRPr lang="zh-CN" altLang="en-US" sz="1300">
              <a:solidFill>
                <a:srgbClr val="383838"/>
              </a:solidFill>
              <a:latin typeface="微软雅黑"/>
              <a:ea typeface="微软雅黑"/>
              <a:cs typeface="微软雅黑"/>
            </a:endParaRPr>
          </a:p>
        </p:txBody>
      </p:sp>
      <p:sp>
        <p:nvSpPr>
          <p:cNvPr id="8" name="文本框 7"/>
          <p:cNvSpPr txBox="1"/>
          <p:nvPr>
            <p:custDataLst>
              <p:tags r:id="rId15"/>
            </p:custDataLst>
          </p:nvPr>
        </p:nvSpPr>
        <p:spPr>
          <a:xfrm>
            <a:off x="8532813" y="4932998"/>
            <a:ext cx="2988945" cy="1353185"/>
          </a:xfrm>
          <a:prstGeom prst="rect">
            <a:avLst/>
          </a:prstGeom>
          <a:noFill/>
        </p:spPr>
        <p:txBody>
          <a:bodyPr wrap="square" rtlCol="0">
            <a:noAutofit/>
          </a:bodyPr>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内外部研究总结</a:t>
            </a:r>
            <a:r>
              <a:rPr lang="en-US" altLang="zh-CN" sz="1300" b="1">
                <a:solidFill>
                  <a:srgbClr val="383838"/>
                </a:solidFill>
                <a:latin typeface="微软雅黑"/>
                <a:ea typeface="微软雅黑"/>
                <a:cs typeface="微软雅黑"/>
              </a:rPr>
              <a:t>;</a:t>
            </a:r>
            <a:endParaRPr lang="en-US" altLang="zh-CN" sz="1300" b="1">
              <a:solidFill>
                <a:srgbClr val="383838"/>
              </a:solidFill>
              <a:latin typeface="微软雅黑"/>
              <a:ea typeface="微软雅黑"/>
              <a:cs typeface="微软雅黑"/>
            </a:endParaRPr>
          </a:p>
          <a:p>
            <a:pPr marL="285750" indent="-285750" algn="l">
              <a:buFont typeface="微软雅黑"/>
              <a:buChar char="●"/>
              <a:defRPr>
                <a:latin typeface="微软雅黑"/>
                <a:ea typeface="微软雅黑"/>
                <a:cs typeface="微软雅黑"/>
              </a:defRPr>
            </a:pPr>
            <a:r>
              <a:rPr lang="zh-CN" altLang="en-US" sz="1300" b="1">
                <a:solidFill>
                  <a:srgbClr val="383838"/>
                </a:solidFill>
                <a:latin typeface="微软雅黑"/>
                <a:ea typeface="微软雅黑"/>
                <a:cs typeface="微软雅黑"/>
              </a:rPr>
              <a:t>中国专家访谈与洞察分析：</a:t>
            </a:r>
            <a:endParaRPr lang="zh-CN" altLang="en-US" sz="1300" b="1">
              <a:solidFill>
                <a:srgbClr val="383838"/>
              </a:solidFill>
              <a:latin typeface="微软雅黑"/>
              <a:ea typeface="微软雅黑"/>
              <a:cs typeface="微软雅黑"/>
            </a:endParaRPr>
          </a:p>
          <a:p>
            <a:pPr marL="381635" lvl="1" indent="-285750" algn="l" fontAlgn="auto">
              <a:buFont typeface="微软雅黑"/>
              <a:buChar char="➢"/>
              <a:defRPr>
                <a:latin typeface="微软雅黑"/>
                <a:ea typeface="微软雅黑"/>
                <a:cs typeface="微软雅黑"/>
              </a:defRPr>
            </a:pPr>
            <a:r>
              <a:rPr lang="zh-CN" altLang="en-US" sz="1300">
                <a:solidFill>
                  <a:srgbClr val="383838"/>
                </a:solidFill>
                <a:latin typeface="微软雅黑"/>
                <a:ea typeface="微软雅黑"/>
                <a:cs typeface="微软雅黑"/>
              </a:rPr>
              <a:t>保健食品公司专家</a:t>
            </a:r>
            <a:endParaRPr lang="zh-CN" altLang="en-US" sz="1300">
              <a:solidFill>
                <a:srgbClr val="383838"/>
              </a:solidFill>
              <a:latin typeface="微软雅黑"/>
              <a:ea typeface="微软雅黑"/>
              <a:cs typeface="微软雅黑"/>
            </a:endParaRPr>
          </a:p>
          <a:p>
            <a:pPr marL="381635" lvl="1" indent="-285750" algn="l" fontAlgn="auto">
              <a:buFont typeface="微软雅黑"/>
              <a:buChar char="➢"/>
              <a:defRPr>
                <a:latin typeface="微软雅黑"/>
                <a:ea typeface="微软雅黑"/>
                <a:cs typeface="微软雅黑"/>
              </a:defRPr>
            </a:pPr>
            <a:r>
              <a:rPr lang="zh-CN" altLang="en-US" sz="1300">
                <a:solidFill>
                  <a:srgbClr val="383838"/>
                </a:solidFill>
                <a:latin typeface="微软雅黑"/>
                <a:ea typeface="微软雅黑"/>
                <a:cs typeface="微软雅黑"/>
              </a:rPr>
              <a:t>大型食品公司营养方向专家</a:t>
            </a:r>
            <a:endParaRPr lang="zh-CN" altLang="en-US" sz="1300">
              <a:solidFill>
                <a:srgbClr val="383838"/>
              </a:solidFill>
              <a:latin typeface="微软雅黑"/>
              <a:ea typeface="微软雅黑"/>
              <a:cs typeface="微软雅黑"/>
            </a:endParaRPr>
          </a:p>
          <a:p>
            <a:pPr marL="381635" lvl="1" indent="-285750" algn="l" fontAlgn="auto">
              <a:buFont typeface="微软雅黑"/>
              <a:buChar char="➢"/>
              <a:defRPr>
                <a:latin typeface="微软雅黑"/>
                <a:ea typeface="微软雅黑"/>
                <a:cs typeface="微软雅黑"/>
              </a:defRPr>
            </a:pPr>
            <a:r>
              <a:rPr lang="zh-CN" altLang="en-US" sz="1300">
                <a:solidFill>
                  <a:srgbClr val="383838"/>
                </a:solidFill>
                <a:latin typeface="微软雅黑"/>
                <a:ea typeface="微软雅黑"/>
                <a:cs typeface="微软雅黑"/>
              </a:rPr>
              <a:t>功能性食品公司专家</a:t>
            </a:r>
            <a:endParaRPr lang="zh-CN" altLang="en-US" sz="1300">
              <a:solidFill>
                <a:srgbClr val="383838"/>
              </a:solidFill>
              <a:latin typeface="微软雅黑"/>
              <a:ea typeface="微软雅黑"/>
              <a:cs typeface="微软雅黑"/>
            </a:endParaRPr>
          </a:p>
          <a:p>
            <a:pPr marL="381635" lvl="1" indent="-285750" algn="l" fontAlgn="auto">
              <a:buFont typeface="微软雅黑"/>
              <a:buChar char="➢"/>
              <a:defRPr>
                <a:latin typeface="微软雅黑"/>
                <a:ea typeface="微软雅黑"/>
                <a:cs typeface="微软雅黑"/>
              </a:defRPr>
            </a:pPr>
            <a:r>
              <a:rPr lang="zh-CN" altLang="en-US" sz="1300">
                <a:solidFill>
                  <a:srgbClr val="383838"/>
                </a:solidFill>
                <a:latin typeface="微软雅黑"/>
                <a:ea typeface="微软雅黑"/>
                <a:cs typeface="微软雅黑"/>
              </a:rPr>
              <a:t>认证营养学家</a:t>
            </a:r>
            <a:endParaRPr lang="zh-CN" altLang="en-US" sz="1300">
              <a:solidFill>
                <a:srgbClr val="383838"/>
              </a:solidFill>
              <a:latin typeface="微软雅黑"/>
              <a:ea typeface="微软雅黑"/>
              <a:cs typeface="微软雅黑"/>
            </a:endParaRPr>
          </a:p>
        </p:txBody>
      </p:sp>
      <p:grpSp>
        <p:nvGrpSpPr>
          <p:cNvPr id="13" name="组合 12"/>
          <p:cNvGrpSpPr/>
          <p:nvPr/>
        </p:nvGrpSpPr>
        <p:grpSpPr>
          <a:xfrm rot="0">
            <a:off x="10634345" y="4300855"/>
            <a:ext cx="242570" cy="399415"/>
            <a:chOff x="4207" y="6620"/>
            <a:chExt cx="505" cy="831"/>
          </a:xfrm>
        </p:grpSpPr>
        <p:sp>
          <p:nvSpPr>
            <p:cNvPr id="14" name="菱形 13"/>
            <p:cNvSpPr/>
            <p:nvPr/>
          </p:nvSpPr>
          <p:spPr>
            <a:xfrm rot="16200000" flipH="1" flipV="1">
              <a:off x="4155" y="6673"/>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sp>
          <p:nvSpPr>
            <p:cNvPr id="15" name="菱形 14"/>
            <p:cNvSpPr/>
            <p:nvPr/>
          </p:nvSpPr>
          <p:spPr>
            <a:xfrm rot="16200000" flipH="1" flipV="1">
              <a:off x="4154" y="6894"/>
              <a:ext cx="611" cy="504"/>
            </a:xfrm>
            <a:prstGeom prst="diamond">
              <a:avLst/>
            </a:prstGeom>
            <a:gradFill flip="none" rotWithShape="1">
              <a:gsLst>
                <a:gs pos="0">
                  <a:srgbClr val="3368FF"/>
                </a:gs>
                <a:gs pos="50000">
                  <a:srgbClr val="3368FF">
                    <a:alpha val="0"/>
                  </a:srgbClr>
                </a:gs>
              </a:gsLst>
              <a:lin ang="0" scaled="0"/>
              <a:tileRect/>
            </a:gradFill>
            <a:ln w="12700" cap="flat" cmpd="sng" algn="ctr">
              <a:noFill/>
              <a:prstDash val="solid"/>
              <a:miter lim="800000"/>
            </a:ln>
            <a:effectLst/>
          </p:spPr>
          <p:txBody>
            <a:bodyPr rtlCol="0" anchor="ctr" lIns="0" rIns="0" tIns="0" bIns="0">
              <a:noAutofit/>
            </a:bodyPr>
            <a:p>
              <a:pPr lvl="0" algn="ctr">
                <a:buClrTx/>
                <a:buSzTx/>
                <a:buFontTx/>
                <a:defRPr>
                  <a:solidFill>
                    <a:srgbClr val="383838"/>
                  </a:solidFill>
                  <a:latin typeface="微软雅黑"/>
                  <a:ea typeface="微软雅黑"/>
                  <a:cs typeface="微软雅黑"/>
                </a:defRPr>
              </a:pPr>
              <a:endParaRPr lang="zh-CN" altLang="en-US" kern="0" dirty="0">
                <a:solidFill>
                  <a:srgbClr val="383838"/>
                </a:solidFill>
                <a:latin typeface="微软雅黑"/>
                <a:ea typeface="微软雅黑"/>
                <a:cs typeface="微软雅黑"/>
                <a:sym typeface="微软雅黑"/>
              </a:endParaRPr>
            </a:p>
          </p:txBody>
        </p:sp>
      </p:grpSp>
      <p:sp>
        <p:nvSpPr>
          <p:cNvPr id="16" name="Freeform 6"/>
          <p:cNvSpPr>
            <a:spLocks noChangeArrowheads="1"/>
          </p:cNvSpPr>
          <p:nvPr/>
        </p:nvSpPr>
        <p:spPr bwMode="auto">
          <a:xfrm flipH="1">
            <a:off x="7760335" y="2424430"/>
            <a:ext cx="382905" cy="874395"/>
          </a:xfrm>
          <a:custGeom>
            <a:avLst/>
            <a:gdLst>
              <a:gd name="connsiteX0" fmla="*/ 229410 w 458820"/>
              <a:gd name="connsiteY0" fmla="*/ 0 h 1964056"/>
              <a:gd name="connsiteX1" fmla="*/ 458820 w 458820"/>
              <a:gd name="connsiteY1" fmla="*/ 982028 h 1964056"/>
              <a:gd name="connsiteX2" fmla="*/ 229410 w 458820"/>
              <a:gd name="connsiteY2" fmla="*/ 1964056 h 1964056"/>
              <a:gd name="connsiteX3" fmla="*/ 140113 w 458820"/>
              <a:gd name="connsiteY3" fmla="*/ 1886884 h 1964056"/>
              <a:gd name="connsiteX4" fmla="*/ 138579 w 458820"/>
              <a:gd name="connsiteY4" fmla="*/ 1883719 h 1964056"/>
              <a:gd name="connsiteX5" fmla="*/ 107603 w 458820"/>
              <a:gd name="connsiteY5" fmla="*/ 1812513 h 1964056"/>
              <a:gd name="connsiteX6" fmla="*/ 85554 w 458820"/>
              <a:gd name="connsiteY6" fmla="*/ 1741278 h 1964056"/>
              <a:gd name="connsiteX7" fmla="*/ 73264 w 458820"/>
              <a:gd name="connsiteY7" fmla="*/ 1697871 h 1964056"/>
              <a:gd name="connsiteX8" fmla="*/ 59948 w 458820"/>
              <a:gd name="connsiteY8" fmla="*/ 1638839 h 1964056"/>
              <a:gd name="connsiteX9" fmla="*/ 41390 w 458820"/>
              <a:gd name="connsiteY9" fmla="*/ 1542555 h 1964056"/>
              <a:gd name="connsiteX10" fmla="*/ 37932 w 458820"/>
              <a:gd name="connsiteY10" fmla="*/ 1521246 h 1964056"/>
              <a:gd name="connsiteX11" fmla="*/ 18028 w 458820"/>
              <a:gd name="connsiteY11" fmla="*/ 1364278 h 1964056"/>
              <a:gd name="connsiteX12" fmla="*/ 0 w 458820"/>
              <a:gd name="connsiteY12" fmla="*/ 982028 h 1964056"/>
              <a:gd name="connsiteX13" fmla="*/ 18028 w 458820"/>
              <a:gd name="connsiteY13" fmla="*/ 599779 h 1964056"/>
              <a:gd name="connsiteX14" fmla="*/ 37188 w 458820"/>
              <a:gd name="connsiteY14" fmla="*/ 448673 h 1964056"/>
              <a:gd name="connsiteX15" fmla="*/ 43174 w 458820"/>
              <a:gd name="connsiteY15" fmla="*/ 412243 h 1964056"/>
              <a:gd name="connsiteX16" fmla="*/ 58294 w 458820"/>
              <a:gd name="connsiteY16" fmla="*/ 333799 h 1964056"/>
              <a:gd name="connsiteX17" fmla="*/ 75762 w 458820"/>
              <a:gd name="connsiteY17" fmla="*/ 257365 h 1964056"/>
              <a:gd name="connsiteX18" fmla="*/ 82158 w 458820"/>
              <a:gd name="connsiteY18" fmla="*/ 234776 h 1964056"/>
              <a:gd name="connsiteX19" fmla="*/ 109349 w 458820"/>
              <a:gd name="connsiteY19" fmla="*/ 148147 h 1964056"/>
              <a:gd name="connsiteX20" fmla="*/ 142088 w 458820"/>
              <a:gd name="connsiteY20" fmla="*/ 74079 h 1964056"/>
              <a:gd name="connsiteX21" fmla="*/ 161191 w 458820"/>
              <a:gd name="connsiteY21" fmla="*/ 44150 h 1964056"/>
              <a:gd name="connsiteX22" fmla="*/ 229410 w 458820"/>
              <a:gd name="connsiteY22" fmla="*/ 0 h 1964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8820" h="1964056">
                <a:moveTo>
                  <a:pt x="229410" y="0"/>
                </a:moveTo>
                <a:cubicBezTo>
                  <a:pt x="356110" y="0"/>
                  <a:pt x="458820" y="439669"/>
                  <a:pt x="458820" y="982028"/>
                </a:cubicBezTo>
                <a:cubicBezTo>
                  <a:pt x="458820" y="1524387"/>
                  <a:pt x="356110" y="1964056"/>
                  <a:pt x="229410" y="1964056"/>
                </a:cubicBezTo>
                <a:cubicBezTo>
                  <a:pt x="197735" y="1964056"/>
                  <a:pt x="167560" y="1936577"/>
                  <a:pt x="140113" y="1886884"/>
                </a:cubicBezTo>
                <a:lnTo>
                  <a:pt x="138579" y="1883719"/>
                </a:lnTo>
                <a:lnTo>
                  <a:pt x="107603" y="1812513"/>
                </a:lnTo>
                <a:lnTo>
                  <a:pt x="85554" y="1741278"/>
                </a:lnTo>
                <a:lnTo>
                  <a:pt x="73264" y="1697871"/>
                </a:lnTo>
                <a:lnTo>
                  <a:pt x="59948" y="1638839"/>
                </a:lnTo>
                <a:lnTo>
                  <a:pt x="41390" y="1542555"/>
                </a:lnTo>
                <a:lnTo>
                  <a:pt x="37932" y="1521246"/>
                </a:lnTo>
                <a:lnTo>
                  <a:pt x="18028" y="1364278"/>
                </a:lnTo>
                <a:cubicBezTo>
                  <a:pt x="6420" y="1246790"/>
                  <a:pt x="0" y="1117618"/>
                  <a:pt x="0" y="982028"/>
                </a:cubicBezTo>
                <a:cubicBezTo>
                  <a:pt x="0" y="846439"/>
                  <a:pt x="6420" y="717267"/>
                  <a:pt x="18028" y="599779"/>
                </a:cubicBezTo>
                <a:lnTo>
                  <a:pt x="37188" y="448673"/>
                </a:lnTo>
                <a:lnTo>
                  <a:pt x="43174" y="412243"/>
                </a:lnTo>
                <a:lnTo>
                  <a:pt x="58294" y="333799"/>
                </a:lnTo>
                <a:lnTo>
                  <a:pt x="75762" y="257365"/>
                </a:lnTo>
                <a:lnTo>
                  <a:pt x="82158" y="234776"/>
                </a:lnTo>
                <a:lnTo>
                  <a:pt x="109349" y="148147"/>
                </a:lnTo>
                <a:lnTo>
                  <a:pt x="142088" y="74079"/>
                </a:lnTo>
                <a:lnTo>
                  <a:pt x="161191" y="44150"/>
                </a:lnTo>
                <a:cubicBezTo>
                  <a:pt x="182741" y="15457"/>
                  <a:pt x="205654" y="0"/>
                  <a:pt x="229410" y="0"/>
                </a:cubicBezTo>
                <a:close/>
              </a:path>
            </a:pathLst>
          </a:custGeom>
          <a:solidFill>
            <a:srgbClr val="668EFF"/>
          </a:solidFill>
          <a:ln>
            <a:noFill/>
          </a:ln>
          <a:effectLst/>
        </p:spPr>
        <p:txBody>
          <a:bodyPr vert="horz" wrap="square" lIns="119474" tIns="59737" rIns="119474" bIns="59737" numCol="1" anchor="t" anchorCtr="0" compatLnSpc="1">
            <a:noAutofit/>
          </a:bodyPr>
          <a:p>
            <a:pPr lvl="0" algn="l">
              <a:buClrTx/>
              <a:buSzTx/>
              <a:buFontTx/>
              <a:defRPr>
                <a:solidFill>
                  <a:srgbClr val="FFFFFF"/>
                </a:solidFill>
                <a:latin typeface="微软雅黑"/>
                <a:ea typeface="微软雅黑"/>
                <a:cs typeface="微软雅黑"/>
              </a:defRPr>
            </a:pPr>
            <a:endParaRPr lang="en-US" sz="3135">
              <a:solidFill>
                <a:srgbClr val="FFFFFF"/>
              </a:solidFill>
              <a:latin typeface="微软雅黑"/>
              <a:ea typeface="微软雅黑"/>
              <a:cs typeface="微软雅黑"/>
              <a:sym typeface="微软雅黑"/>
            </a:endParaRPr>
          </a:p>
        </p:txBody>
      </p:sp>
      <p:sp>
        <p:nvSpPr>
          <p:cNvPr id="18" name="Freeform 71"/>
          <p:cNvSpPr/>
          <p:nvPr/>
        </p:nvSpPr>
        <p:spPr bwMode="auto">
          <a:xfrm flipH="1">
            <a:off x="5053802" y="2194437"/>
            <a:ext cx="3089438" cy="1337445"/>
          </a:xfrm>
          <a:custGeom>
            <a:avLst/>
            <a:gdLst>
              <a:gd name="connsiteX0" fmla="*/ 4937 w 4937"/>
              <a:gd name="connsiteY0" fmla="*/ 0 h 2130"/>
              <a:gd name="connsiteX1" fmla="*/ 646 w 4937"/>
              <a:gd name="connsiteY1" fmla="*/ 348 h 2130"/>
              <a:gd name="connsiteX2" fmla="*/ 329 w 4937"/>
              <a:gd name="connsiteY2" fmla="*/ 370 h 2130"/>
              <a:gd name="connsiteX3" fmla="*/ 0 w 4937"/>
              <a:gd name="connsiteY3" fmla="*/ 1068 h 2130"/>
              <a:gd name="connsiteX4" fmla="*/ 317 w 4937"/>
              <a:gd name="connsiteY4" fmla="*/ 1762 h 2130"/>
              <a:gd name="connsiteX5" fmla="*/ 658 w 4937"/>
              <a:gd name="connsiteY5" fmla="*/ 1783 h 2130"/>
              <a:gd name="connsiteX6" fmla="*/ 4929 w 4937"/>
              <a:gd name="connsiteY6" fmla="*/ 2130 h 2130"/>
              <a:gd name="connsiteX7" fmla="*/ 4499 w 4937"/>
              <a:gd name="connsiteY7" fmla="*/ 1056 h 2130"/>
              <a:gd name="connsiteX8" fmla="*/ 4937 w 4937"/>
              <a:gd name="connsiteY8" fmla="*/ 0 h 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0" t="0" r="r" b="b"/>
            <a:pathLst>
              <a:path w="4865" h="2106">
                <a:moveTo>
                  <a:pt x="4865" y="0"/>
                </a:moveTo>
                <a:cubicBezTo>
                  <a:pt x="3587" y="124"/>
                  <a:pt x="1843" y="261"/>
                  <a:pt x="641" y="340"/>
                </a:cubicBezTo>
                <a:cubicBezTo>
                  <a:pt x="538" y="346"/>
                  <a:pt x="422" y="354"/>
                  <a:pt x="329" y="361"/>
                </a:cubicBezTo>
                <a:cubicBezTo>
                  <a:pt x="135" y="459"/>
                  <a:pt x="-4" y="766"/>
                  <a:pt x="0" y="1056"/>
                </a:cubicBezTo>
                <a:cubicBezTo>
                  <a:pt x="-6" y="1370"/>
                  <a:pt x="146" y="1651"/>
                  <a:pt x="317" y="1747"/>
                </a:cubicBezTo>
                <a:cubicBezTo>
                  <a:pt x="428" y="1754"/>
                  <a:pt x="555" y="1762"/>
                  <a:pt x="658" y="1768"/>
                </a:cubicBezTo>
                <a:cubicBezTo>
                  <a:pt x="2100" y="1865"/>
                  <a:pt x="3673" y="1993"/>
                  <a:pt x="4856" y="2106"/>
                </a:cubicBezTo>
                <a:cubicBezTo>
                  <a:pt x="4647" y="1985"/>
                  <a:pt x="4481" y="1502"/>
                  <a:pt x="4489" y="1056"/>
                </a:cubicBezTo>
                <a:cubicBezTo>
                  <a:pt x="4484" y="882"/>
                  <a:pt x="4522" y="645"/>
                  <a:pt x="4547" y="557"/>
                </a:cubicBezTo>
                <a:cubicBezTo>
                  <a:pt x="4565" y="462"/>
                  <a:pt x="4615" y="332"/>
                  <a:pt x="4637" y="292"/>
                </a:cubicBezTo>
                <a:cubicBezTo>
                  <a:pt x="4695" y="158"/>
                  <a:pt x="4798" y="39"/>
                  <a:pt x="4865" y="0"/>
                </a:cubicBezTo>
                <a:close/>
              </a:path>
            </a:pathLst>
          </a:custGeom>
          <a:solidFill>
            <a:srgbClr val="3368FF">
              <a:alpha val="80000"/>
            </a:srgbClr>
          </a:solidFill>
          <a:ln>
            <a:noFill/>
          </a:ln>
          <a:effectLst/>
        </p:spPr>
        <p:txBody>
          <a:bodyPr vert="horz" wrap="square" lIns="119474" tIns="59737" rIns="119474" bIns="59737" numCol="1" anchor="t" anchorCtr="0" compatLnSpc="1">
            <a:noAutofit/>
          </a:bodyPr>
          <a:p>
            <a:pPr lvl="0" algn="l">
              <a:buClrTx/>
              <a:buSzTx/>
              <a:buFontTx/>
              <a:defRPr>
                <a:solidFill>
                  <a:srgbClr val="383838"/>
                </a:solidFill>
                <a:latin typeface="微软雅黑"/>
                <a:ea typeface="微软雅黑"/>
                <a:cs typeface="微软雅黑"/>
              </a:defRPr>
            </a:pPr>
            <a:endParaRPr lang="en-US" sz="3135">
              <a:solidFill>
                <a:srgbClr val="383838"/>
              </a:solidFill>
              <a:latin typeface="微软雅黑"/>
              <a:ea typeface="微软雅黑"/>
              <a:cs typeface="微软雅黑"/>
              <a:sym typeface="微软雅黑"/>
            </a:endParaRPr>
          </a:p>
        </p:txBody>
      </p:sp>
      <p:sp>
        <p:nvSpPr>
          <p:cNvPr id="20" name="文本框 19"/>
          <p:cNvSpPr txBox="1"/>
          <p:nvPr>
            <p:custDataLst>
              <p:tags r:id="rId16"/>
            </p:custDataLst>
          </p:nvPr>
        </p:nvSpPr>
        <p:spPr>
          <a:xfrm>
            <a:off x="5728335" y="2585720"/>
            <a:ext cx="1615440" cy="521970"/>
          </a:xfrm>
          <a:prstGeom prst="rect">
            <a:avLst/>
          </a:prstGeom>
          <a:noFill/>
        </p:spPr>
        <p:txBody>
          <a:bodyPr wrap="square" rtlCol="0">
            <a:spAutoFit/>
          </a:bodyPr>
          <a:p>
            <a:pPr algn="ctr">
              <a:defRPr>
                <a:solidFill>
                  <a:srgbClr val="383838"/>
                </a:solidFill>
                <a:latin typeface="微软雅黑"/>
                <a:ea typeface="微软雅黑"/>
                <a:cs typeface="微软雅黑"/>
              </a:defRPr>
            </a:pPr>
            <a:r>
              <a:rPr lang="zh-CN" altLang="en-US" sz="1400">
                <a:solidFill>
                  <a:srgbClr val="383838"/>
                </a:solidFill>
                <a:latin typeface="微软雅黑"/>
                <a:ea typeface="微软雅黑"/>
                <a:cs typeface="微软雅黑"/>
              </a:rPr>
              <a:t>全球大趋势驱动下的</a:t>
            </a:r>
            <a:r>
              <a:rPr lang="en-US" altLang="zh-CN" sz="1400">
                <a:solidFill>
                  <a:srgbClr val="383838"/>
                </a:solidFill>
                <a:latin typeface="微软雅黑"/>
                <a:ea typeface="微软雅黑"/>
                <a:cs typeface="微软雅黑"/>
              </a:rPr>
              <a:t>5</a:t>
            </a:r>
            <a:r>
              <a:rPr lang="zh-CN" altLang="en-US" sz="1400">
                <a:solidFill>
                  <a:srgbClr val="383838"/>
                </a:solidFill>
                <a:latin typeface="微软雅黑"/>
                <a:ea typeface="微软雅黑"/>
                <a:cs typeface="微软雅黑"/>
              </a:rPr>
              <a:t>个营养趋势</a:t>
            </a:r>
            <a:endParaRPr lang="zh-CN" altLang="en-US" sz="1400">
              <a:solidFill>
                <a:srgbClr val="383838"/>
              </a:solidFill>
              <a:latin typeface="微软雅黑"/>
              <a:ea typeface="微软雅黑"/>
              <a:cs typeface="微软雅黑"/>
            </a:endParaRPr>
          </a:p>
        </p:txBody>
      </p:sp>
      <p:cxnSp>
        <p:nvCxnSpPr>
          <p:cNvPr id="17" name="直线连接符 7"/>
          <p:cNvCxnSpPr/>
          <p:nvPr userDrawn="1"/>
        </p:nvCxnSpPr>
        <p:spPr>
          <a:xfrm>
            <a:off x="369165" y="839204"/>
            <a:ext cx="11459846" cy="0"/>
          </a:xfrm>
          <a:prstGeom prst="line">
            <a:avLst/>
          </a:prstGeom>
          <a:ln w="38100">
            <a:solidFill>
              <a:srgbClr val="0042FF"/>
            </a:solidFill>
          </a:ln>
        </p:spPr>
        <p:style>
          <a:lnRef idx="1">
            <a:srgbClr val="0042FF"/>
          </a:lnRef>
          <a:fillRef idx="0">
            <a:srgbClr val="0042FF"/>
          </a:fillRef>
          <a:effectRef idx="0">
            <a:srgbClr val="0042FF"/>
          </a:effectRef>
          <a:fontRef idx="minor">
            <a:srgbClr val="383838"/>
          </a:fontRef>
        </p:style>
      </p:cxnSp>
      <p:grpSp>
        <p:nvGrpSpPr>
          <p:cNvPr id="19" name="组合 18"/>
          <p:cNvGrpSpPr/>
          <p:nvPr/>
        </p:nvGrpSpPr>
        <p:grpSpPr>
          <a:xfrm>
            <a:off x="8738235" y="348615"/>
            <a:ext cx="3220085" cy="333375"/>
            <a:chOff x="13761" y="549"/>
            <a:chExt cx="5071" cy="525"/>
          </a:xfrm>
        </p:grpSpPr>
        <p:pic>
          <p:nvPicPr>
            <p:cNvPr id="44" name="图片 43"/>
            <p:cNvPicPr>
              <a:picLocks noChangeAspect="1"/>
            </p:cNvPicPr>
            <p:nvPr userDrawn="1"/>
          </p:nvPicPr>
          <p:blipFill>
            <a:blip r:embed="rId17"/>
            <a:srcRect l="17002" t="-1765" r="56499" b="-1176"/>
            <a:stretch>
              <a:fillRect/>
            </a:stretch>
          </p:blipFill>
          <p:spPr>
            <a:xfrm>
              <a:off x="13761" y="549"/>
              <a:ext cx="1582" cy="525"/>
            </a:xfrm>
            <a:prstGeom prst="rect">
              <a:avLst/>
            </a:prstGeom>
          </p:spPr>
        </p:pic>
        <p:sp>
          <p:nvSpPr>
            <p:cNvPr id="45" name="文本框 44"/>
            <p:cNvSpPr txBox="1"/>
            <p:nvPr userDrawn="1"/>
          </p:nvSpPr>
          <p:spPr>
            <a:xfrm>
              <a:off x="15219" y="637"/>
              <a:ext cx="3613" cy="386"/>
            </a:xfrm>
            <a:prstGeom prst="rect">
              <a:avLst/>
            </a:prstGeom>
            <a:noFill/>
          </p:spPr>
          <p:txBody>
            <a:bodyPr wrap="square" rtlCol="0" lIns="0" rIns="0" tIns="0" bIns="0">
              <a:spAutoFit/>
            </a:bodyPr>
            <a:lstStyle/>
            <a:p>
              <a:pPr>
                <a:defRPr>
                  <a:latin typeface="微软雅黑"/>
                  <a:ea typeface="微软雅黑"/>
                  <a:cs typeface="微软雅黑"/>
                </a:defRPr>
              </a:pPr>
              <a:r>
                <a:rPr lang="zh-CN" altLang="en-US" sz="1000">
                  <a:solidFill>
                    <a:srgbClr val="383838"/>
                  </a:solidFill>
                  <a:latin typeface="微软雅黑"/>
                  <a:ea typeface="微软雅黑"/>
                  <a:cs typeface="微软雅黑"/>
                </a:rPr>
                <a:t>复杂逻辑场景</a:t>
              </a:r>
              <a:r>
                <a:rPr lang="en-US" altLang="zh-CN" sz="1000">
                  <a:solidFill>
                    <a:srgbClr val="383838"/>
                  </a:solidFill>
                  <a:latin typeface="微软雅黑"/>
                  <a:ea typeface="微软雅黑"/>
                  <a:cs typeface="微软雅黑"/>
                </a:rPr>
                <a:t>·</a:t>
              </a:r>
              <a:r>
                <a:rPr lang="zh-CN" altLang="en-US" sz="1000">
                  <a:solidFill>
                    <a:srgbClr val="383838"/>
                  </a:solidFill>
                  <a:latin typeface="微软雅黑"/>
                  <a:ea typeface="微软雅黑"/>
                  <a:cs typeface="微软雅黑"/>
                </a:rPr>
                <a:t>框架搭建系列</a:t>
              </a:r>
              <a:r>
                <a:rPr lang="en-US" altLang="zh-CN" sz="1000">
                  <a:solidFill>
                    <a:srgbClr val="383838"/>
                  </a:solidFill>
                  <a:latin typeface="微软雅黑"/>
                  <a:ea typeface="微软雅黑"/>
                  <a:cs typeface="微软雅黑"/>
                </a:rPr>
                <a:t>PPT</a:t>
              </a:r>
              <a:r>
                <a:rPr lang="zh-CN" altLang="en-US" sz="1000">
                  <a:solidFill>
                    <a:srgbClr val="383838"/>
                  </a:solidFill>
                  <a:latin typeface="微软雅黑"/>
                  <a:ea typeface="微软雅黑"/>
                  <a:cs typeface="微软雅黑"/>
                </a:rPr>
                <a:t>模板</a:t>
              </a:r>
              <a:endParaRPr lang="zh-CN" altLang="en-US" sz="1000">
                <a:solidFill>
                  <a:srgbClr val="383838"/>
                </a:solidFill>
                <a:latin typeface="微软雅黑"/>
                <a:ea typeface="微软雅黑"/>
                <a:cs typeface="微软雅黑"/>
              </a:endParaRPr>
            </a:p>
          </p:txBody>
        </p:sp>
      </p:gr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天蝎PPT1"/>
          <p:cNvPicPr>
            <a:picLocks noChangeAspect="1"/>
          </p:cNvPicPr>
          <p:nvPr/>
        </p:nvPicPr>
        <p:blipFill rotWithShape="1">
          <a:blip r:embed="rId1" cstate="email"/>
          <a:srcRect/>
          <a:stretch>
            <a:fillRect/>
          </a:stretch>
        </p:blipFill>
        <p:spPr>
          <a:xfrm flipH="1">
            <a:off x="4431665" y="1270"/>
            <a:ext cx="7755825" cy="6858000"/>
          </a:xfrm>
          <a:prstGeom prst="rect">
            <a:avLst/>
          </a:prstGeom>
        </p:spPr>
      </p:pic>
      <p:sp>
        <p:nvSpPr>
          <p:cNvPr id="36" name="矩形 35"/>
          <p:cNvSpPr/>
          <p:nvPr/>
        </p:nvSpPr>
        <p:spPr>
          <a:xfrm>
            <a:off x="0" y="1270"/>
            <a:ext cx="12268200" cy="6858000"/>
          </a:xfrm>
          <a:prstGeom prst="rect">
            <a:avLst/>
          </a:prstGeom>
          <a:gradFill>
            <a:gsLst>
              <a:gs pos="0">
                <a:srgbClr val="FFFFFF"/>
              </a:gs>
              <a:gs pos="100000">
                <a:srgbClr val="DCDCDC">
                  <a:alpha val="50000"/>
                </a:srgbClr>
              </a:gs>
            </a:gsLst>
            <a:lin ang="0"/>
          </a:gradFill>
          <a:ln>
            <a:noFill/>
          </a:ln>
        </p:spPr>
        <p:style>
          <a:lnRef idx="2">
            <a:srgbClr val="0042FF"/>
          </a:lnRef>
          <a:fillRef idx="1">
            <a:srgbClr val="0042FF"/>
          </a:fillRef>
          <a:effectRef idx="0">
            <a:srgbClr val="FFFFFF"/>
          </a:effectRef>
          <a:fontRef idx="minor">
            <a:srgbClr val="FFFFFF"/>
          </a:fontRef>
        </p:style>
        <p:txBody>
          <a:bodyPr rtlCol="0" anchor="ctr" lIns="0" rIns="0" tIns="0" bIns="0"/>
          <a:lstStyle/>
          <a:p>
            <a:pPr algn="ctr">
              <a:defRPr>
                <a:solidFill>
                  <a:srgbClr val="FFFFFF"/>
                </a:solidFill>
                <a:latin typeface="微软雅黑"/>
                <a:ea typeface="微软雅黑"/>
                <a:cs typeface="微软雅黑"/>
              </a:defRPr>
            </a:pPr>
            <a:endParaRPr lang="zh-CN" altLang="en-US">
              <a:solidFill>
                <a:srgbClr val="FFFFFF"/>
              </a:solidFill>
              <a:latin typeface="微软雅黑"/>
              <a:ea typeface="微软雅黑"/>
              <a:cs typeface="微软雅黑"/>
            </a:endParaRPr>
          </a:p>
        </p:txBody>
      </p:sp>
      <p:grpSp>
        <p:nvGrpSpPr>
          <p:cNvPr id="5598" name="Group"/>
          <p:cNvGrpSpPr/>
          <p:nvPr/>
        </p:nvGrpSpPr>
        <p:grpSpPr>
          <a:xfrm>
            <a:off x="1443368" y="1358900"/>
            <a:ext cx="9305264" cy="4305301"/>
            <a:chOff x="0" y="0"/>
            <a:chExt cx="18610527" cy="8610600"/>
          </a:xfrm>
          <a:solidFill>
            <a:srgbClr val="0042FF"/>
          </a:solidFill>
        </p:grpSpPr>
        <p:sp>
          <p:nvSpPr>
            <p:cNvPr id="5596" name="Triangle"/>
            <p:cNvSpPr/>
            <p:nvPr/>
          </p:nvSpPr>
          <p:spPr>
            <a:xfrm rot="5400000">
              <a:off x="0" y="7340600"/>
              <a:ext cx="1270000" cy="1270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lose/>
                </a:path>
              </a:pathLst>
            </a:custGeom>
            <a:grpFill/>
            <a:ln w="12700" cap="flat">
              <a:noFill/>
              <a:miter lim="400000"/>
            </a:ln>
            <a:effectLst/>
          </p:spPr>
          <p:txBody>
            <a:bodyPr wrap="square" lIns="0" tIns="0" rIns="0" bIns="0" numCol="1" anchor="ctr">
              <a:noAutofit/>
            </a:bodyPr>
            <a:lstStyle/>
            <a:p>
              <a:pPr>
                <a:defRPr sz="3200" b="0">
                  <a:solidFill>
                    <a:srgbClr val="FFFFFF"/>
                  </a:solidFill>
                  <a:latin typeface="微软雅黑"/>
                  <a:ea typeface="微软雅黑"/>
                  <a:cs typeface="微软雅黑"/>
                  <a:sym typeface="微软雅黑"/>
                </a:defRPr>
              </a:pPr>
              <a:endParaRPr sz="1600" dirty="0">
                <a:solidFill>
                  <a:srgbClr val="FFFFFF"/>
                </a:solidFill>
                <a:latin typeface="微软雅黑"/>
                <a:ea typeface="微软雅黑"/>
                <a:cs typeface="微软雅黑"/>
                <a:sym typeface="微软雅黑"/>
              </a:endParaRPr>
            </a:p>
          </p:txBody>
        </p:sp>
        <p:sp>
          <p:nvSpPr>
            <p:cNvPr id="5597" name="Rounded Rectangle"/>
            <p:cNvSpPr/>
            <p:nvPr/>
          </p:nvSpPr>
          <p:spPr>
            <a:xfrm>
              <a:off x="0" y="0"/>
              <a:ext cx="18610528" cy="7924800"/>
            </a:xfrm>
            <a:prstGeom prst="roundRect">
              <a:avLst>
                <a:gd name="adj" fmla="val 2404"/>
              </a:avLst>
            </a:prstGeom>
            <a:grpFill/>
            <a:ln w="12700" cap="flat">
              <a:noFill/>
              <a:miter lim="400000"/>
            </a:ln>
            <a:effectLst/>
          </p:spPr>
          <p:txBody>
            <a:bodyPr wrap="square" lIns="0" tIns="0" rIns="0" bIns="0" numCol="1" anchor="ctr">
              <a:noAutofit/>
            </a:bodyPr>
            <a:lstStyle/>
            <a:p>
              <a:pPr>
                <a:defRPr sz="3200" b="0">
                  <a:solidFill>
                    <a:srgbClr val="FFFFFF"/>
                  </a:solidFill>
                  <a:latin typeface="微软雅黑"/>
                  <a:ea typeface="微软雅黑"/>
                  <a:cs typeface="微软雅黑"/>
                  <a:sym typeface="微软雅黑"/>
                </a:defRPr>
              </a:pPr>
              <a:endParaRPr sz="1600" dirty="0">
                <a:solidFill>
                  <a:srgbClr val="FFFFFF"/>
                </a:solidFill>
                <a:latin typeface="微软雅黑"/>
                <a:ea typeface="微软雅黑"/>
                <a:cs typeface="微软雅黑"/>
                <a:sym typeface="微软雅黑"/>
              </a:endParaRPr>
            </a:p>
          </p:txBody>
        </p:sp>
      </p:grpSp>
      <p:sp>
        <p:nvSpPr>
          <p:cNvPr id="2" name="TextBox 1"/>
          <p:cNvSpPr txBox="1"/>
          <p:nvPr/>
        </p:nvSpPr>
        <p:spPr>
          <a:xfrm>
            <a:off x="1454150" y="2272665"/>
            <a:ext cx="9283700" cy="1576070"/>
          </a:xfrm>
          <a:prstGeom prst="rect">
            <a:avLst/>
          </a:prstGeom>
          <a:noFill/>
        </p:spPr>
        <p:txBody>
          <a:bodyPr wrap="square" anchor="ctr" anchorCtr="0">
            <a:noAutofit/>
          </a:bodyPr>
          <a:lstStyle/>
          <a:p>
            <a:pPr algn="ctr">
              <a:defRPr>
                <a:solidFill>
                  <a:srgbClr val="FFFFFF"/>
                </a:solidFill>
                <a:latin typeface="微软雅黑"/>
                <a:ea typeface="微软雅黑"/>
                <a:cs typeface="微软雅黑"/>
              </a:defRPr>
            </a:pPr>
            <a:r>
              <a:rPr lang="id-ID" sz="8000" b="1" dirty="0">
                <a:solidFill>
                  <a:srgbClr val="FFFFFF"/>
                </a:solidFill>
                <a:latin typeface="微软雅黑"/>
                <a:ea typeface="微软雅黑"/>
                <a:cs typeface="微软雅黑"/>
              </a:rPr>
              <a:t>THANK YOU</a:t>
            </a:r>
            <a:endParaRPr lang="id-ID" sz="8000" b="1" dirty="0">
              <a:solidFill>
                <a:srgbClr val="FFFFFF"/>
              </a:solidFill>
              <a:latin typeface="微软雅黑"/>
              <a:ea typeface="微软雅黑"/>
              <a:cs typeface="微软雅黑"/>
            </a:endParaRPr>
          </a:p>
        </p:txBody>
      </p:sp>
      <p:sp>
        <p:nvSpPr>
          <p:cNvPr id="5" name="TextBox 47"/>
          <p:cNvSpPr txBox="1"/>
          <p:nvPr/>
        </p:nvSpPr>
        <p:spPr>
          <a:xfrm>
            <a:off x="3982085" y="4293870"/>
            <a:ext cx="4970145" cy="337185"/>
          </a:xfrm>
          <a:prstGeom prst="rect">
            <a:avLst/>
          </a:prstGeom>
          <a:noFill/>
        </p:spPr>
        <p:txBody>
          <a:bodyPr wrap="square">
            <a:spAutoFit/>
          </a:bodyPr>
          <a:lstStyle/>
          <a:p>
            <a:pPr algn="ctr">
              <a:defRPr>
                <a:solidFill>
                  <a:srgbClr val="FFFFFF"/>
                </a:solidFill>
                <a:latin typeface="微软雅黑"/>
                <a:ea typeface="微软雅黑"/>
                <a:cs typeface="微软雅黑"/>
              </a:defRPr>
            </a:pPr>
            <a:r>
              <a:rPr lang="id-ID" sz="1600" dirty="0" err="1">
                <a:solidFill>
                  <a:srgbClr val="FFFFFF"/>
                </a:solidFill>
                <a:latin typeface="微软雅黑"/>
                <a:ea typeface="微软雅黑"/>
                <a:cs typeface="微软雅黑"/>
              </a:rPr>
              <a:t>汇报人</a:t>
            </a:r>
            <a:r>
              <a:rPr lang="zh-CN" altLang="en-US" sz="1600" dirty="0">
                <a:solidFill>
                  <a:srgbClr val="FFFFFF"/>
                </a:solidFill>
                <a:latin typeface="微软雅黑"/>
                <a:ea typeface="微软雅黑"/>
                <a:cs typeface="微软雅黑"/>
              </a:rPr>
              <a:t>：开悟思维    </a:t>
            </a:r>
            <a:r>
              <a:rPr lang="id-ID" sz="1600" dirty="0" err="1">
                <a:solidFill>
                  <a:srgbClr val="FFFFFF"/>
                </a:solidFill>
                <a:latin typeface="微软雅黑"/>
                <a:ea typeface="微软雅黑"/>
                <a:cs typeface="微软雅黑"/>
              </a:rPr>
              <a:t>汇报时间</a:t>
            </a:r>
            <a:r>
              <a:rPr lang="zh-CN" altLang="en-US" sz="1600" dirty="0">
                <a:solidFill>
                  <a:srgbClr val="FFFFFF"/>
                </a:solidFill>
                <a:latin typeface="微软雅黑"/>
                <a:ea typeface="微软雅黑"/>
                <a:cs typeface="微软雅黑"/>
              </a:rPr>
              <a:t>：</a:t>
            </a:r>
            <a:r>
              <a:rPr lang="en-US" altLang="zh-CN" sz="1600" dirty="0">
                <a:solidFill>
                  <a:srgbClr val="FFFFFF"/>
                </a:solidFill>
                <a:latin typeface="微软雅黑"/>
                <a:ea typeface="微软雅黑"/>
                <a:cs typeface="微软雅黑"/>
              </a:rPr>
              <a:t>**</a:t>
            </a:r>
            <a:r>
              <a:rPr lang="zh-CN" altLang="en-US" sz="1600" dirty="0">
                <a:solidFill>
                  <a:srgbClr val="FFFFFF"/>
                </a:solidFill>
                <a:latin typeface="微软雅黑"/>
                <a:ea typeface="微软雅黑"/>
                <a:cs typeface="微软雅黑"/>
              </a:rPr>
              <a:t>年</a:t>
            </a:r>
            <a:r>
              <a:rPr lang="en-US" altLang="zh-CN" sz="1600" dirty="0">
                <a:solidFill>
                  <a:srgbClr val="FFFFFF"/>
                </a:solidFill>
                <a:latin typeface="微软雅黑"/>
                <a:ea typeface="微软雅黑"/>
                <a:cs typeface="微软雅黑"/>
              </a:rPr>
              <a:t>**</a:t>
            </a:r>
            <a:r>
              <a:rPr lang="zh-CN" altLang="en-US" sz="1600" dirty="0">
                <a:solidFill>
                  <a:srgbClr val="FFFFFF"/>
                </a:solidFill>
                <a:latin typeface="微软雅黑"/>
                <a:ea typeface="微软雅黑"/>
                <a:cs typeface="微软雅黑"/>
              </a:rPr>
              <a:t>月</a:t>
            </a:r>
            <a:r>
              <a:rPr lang="en-US" altLang="zh-CN" sz="1600" dirty="0">
                <a:solidFill>
                  <a:srgbClr val="FFFFFF"/>
                </a:solidFill>
                <a:latin typeface="微软雅黑"/>
                <a:ea typeface="微软雅黑"/>
                <a:cs typeface="微软雅黑"/>
              </a:rPr>
              <a:t>**</a:t>
            </a:r>
            <a:r>
              <a:rPr lang="zh-CN" altLang="en-US" sz="1600" dirty="0">
                <a:solidFill>
                  <a:srgbClr val="FFFFFF"/>
                </a:solidFill>
                <a:latin typeface="微软雅黑"/>
                <a:ea typeface="微软雅黑"/>
                <a:cs typeface="微软雅黑"/>
              </a:rPr>
              <a:t>日</a:t>
            </a:r>
            <a:endParaRPr lang="en-ID" sz="1600" dirty="0">
              <a:solidFill>
                <a:srgbClr val="FFFFFF"/>
              </a:solidFill>
              <a:latin typeface="微软雅黑"/>
              <a:ea typeface="微软雅黑"/>
              <a:cs typeface="微软雅黑"/>
            </a:endParaRPr>
          </a:p>
        </p:txBody>
      </p:sp>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p:transition spd="slow">
        <p:fade/>
      </p:transition>
    </mc:Fallback>
  </mc:AlternateContent>
</p:sld>
</file>

<file path=ppt/tags/tag1.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2.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3.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4.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5.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6.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7.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8.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9.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10.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11.xml><?xml version="1.0" encoding="utf-8"?>
<p:tagLst xmlns:p="http://schemas.openxmlformats.org/presentationml/2006/main">
  <p:tag name="KSO_WM_BEAUTIFY_FLAG" val=""/>
</p:tagLst>
</file>

<file path=ppt/tags/tag12.xml><?xml version="1.0" encoding="utf-8"?>
<p:tagLst xmlns:p="http://schemas.openxmlformats.org/presentationml/2006/main">
  <p:tag name="KSO_WM_BEAUTIFY_FLAG" val=""/>
</p:tagLst>
</file>

<file path=ppt/tags/tag13.xml><?xml version="1.0" encoding="utf-8"?>
<p:tagLst xmlns:p="http://schemas.openxmlformats.org/presentationml/2006/main">
  <p:tag name="KSO_WM_BEAUTIFY_FLAG" val=""/>
</p:tagLst>
</file>

<file path=ppt/tags/tag14.xml><?xml version="1.0" encoding="utf-8"?>
<p:tagLst xmlns:p="http://schemas.openxmlformats.org/presentationml/2006/main">
  <p:tag name="KSO_WM_BEAUTIFY_FLAG" val=""/>
</p:tagLst>
</file>

<file path=ppt/tags/tag15.xml><?xml version="1.0" encoding="utf-8"?>
<p:tagLst xmlns:p="http://schemas.openxmlformats.org/presentationml/2006/main">
  <p:tag name="KSO_WM_BEAUTIFY_FLAG" val=""/>
</p:tagLst>
</file>

<file path=ppt/tags/tag16.xml><?xml version="1.0" encoding="utf-8"?>
<p:tagLst xmlns:p="http://schemas.openxmlformats.org/presentationml/2006/main">
  <p:tag name="KSO_WM_BEAUTIFY_FLAG" val=""/>
</p:tagLst>
</file>

<file path=ppt/tags/tag17.xml><?xml version="1.0" encoding="utf-8"?>
<p:tagLst xmlns:p="http://schemas.openxmlformats.org/presentationml/2006/main">
  <p:tag name="KSO_WM_BEAUTIFY_FLAG" val=""/>
</p:tagLst>
</file>

<file path=ppt/tags/tag18.xml><?xml version="1.0" encoding="utf-8"?>
<p:tagLst xmlns:p="http://schemas.openxmlformats.org/presentationml/2006/main">
  <p:tag name="KSO_WM_BEAUTIFY_FLAG" val=""/>
</p:tagLst>
</file>

<file path=ppt/tags/tag19.xml><?xml version="1.0" encoding="utf-8"?>
<p:tagLst xmlns:p="http://schemas.openxmlformats.org/presentationml/2006/main">
  <p:tag name="KSO_WM_DIAGRAM_VIRTUALLY_FRAME" val="{&amp;quot;height&amp;quot;:410,&amp;quot;left&amp;quot;:29.05,&amp;quot;top&amp;quot;:91.25,&amp;quot;width&amp;quot;:920.15}"/>
</p:tagLst>
</file>

<file path=ppt/tags/tag20.xml><?xml version="1.0" encoding="utf-8"?>
<p:tagLst xmlns:p="http://schemas.openxmlformats.org/presentationml/2006/main">
  <p:tag name="KSO_WM_DIAGRAM_VIRTUALLY_FRAME" val="{&amp;quot;height&amp;quot;:410,&amp;quot;left&amp;quot;:29.05,&amp;quot;top&amp;quot;:91.25,&amp;quot;width&amp;quot;:920.15}"/>
</p:tagLst>
</file>

<file path=ppt/tags/tag21.xml><?xml version="1.0" encoding="utf-8"?>
<p:tagLst xmlns:p="http://schemas.openxmlformats.org/presentationml/2006/main">
  <p:tag name="KSO_WM_DIAGRAM_VIRTUALLY_FRAME" val="{&amp;quot;height&amp;quot;:410,&amp;quot;left&amp;quot;:29.05,&amp;quot;top&amp;quot;:91.25,&amp;quot;width&amp;quot;:920.15}"/>
</p:tagLst>
</file>

<file path=ppt/tags/tag22.xml><?xml version="1.0" encoding="utf-8"?>
<p:tagLst xmlns:p="http://schemas.openxmlformats.org/presentationml/2006/main">
  <p:tag name="KSO_WM_DIAGRAM_VIRTUALLY_FRAME" val="{&amp;quot;height&amp;quot;:410,&amp;quot;left&amp;quot;:29.05,&amp;quot;top&amp;quot;:91.25,&amp;quot;width&amp;quot;:920.15}"/>
</p:tagLst>
</file>

<file path=ppt/tags/tag23.xml><?xml version="1.0" encoding="utf-8"?>
<p:tagLst xmlns:p="http://schemas.openxmlformats.org/presentationml/2006/main">
  <p:tag name="KSO_WM_DIAGRAM_VIRTUALLY_FRAME" val="{&amp;quot;height&amp;quot;:410,&amp;quot;left&amp;quot;:29.05,&amp;quot;top&amp;quot;:91.25,&amp;quot;width&amp;quot;:920.15}"/>
</p:tagLst>
</file>

<file path=ppt/tags/tag24.xml><?xml version="1.0" encoding="utf-8"?>
<p:tagLst xmlns:p="http://schemas.openxmlformats.org/presentationml/2006/main">
  <p:tag name="KSO_WM_DIAGRAM_VIRTUALLY_FRAME" val="{&amp;quot;height&amp;quot;:410,&amp;quot;left&amp;quot;:29.05,&amp;quot;top&amp;quot;:91.25,&amp;quot;width&amp;quot;:920.15}"/>
</p:tagLst>
</file>

<file path=ppt/tags/tag25.xml><?xml version="1.0" encoding="utf-8"?>
<p:tagLst xmlns:p="http://schemas.openxmlformats.org/presentationml/2006/main">
  <p:tag name="KSO_WM_DIAGRAM_VIRTUALLY_FRAME" val="{&amp;quot;height&amp;quot;:410,&amp;quot;left&amp;quot;:29.05,&amp;quot;top&amp;quot;:91.25,&amp;quot;width&amp;quot;:920.15}"/>
</p:tagLst>
</file>

<file path=ppt/tags/tag26.xml><?xml version="1.0" encoding="utf-8"?>
<p:tagLst xmlns:p="http://schemas.openxmlformats.org/presentationml/2006/main">
  <p:tag name="KSO_WM_DIAGRAM_VIRTUALLY_FRAME" val="{&amp;quot;height&amp;quot;:410,&amp;quot;left&amp;quot;:29.05,&amp;quot;top&amp;quot;:91.25,&amp;quot;width&amp;quot;:920.15}"/>
</p:tagLst>
</file>

<file path=ppt/tags/tag27.xml><?xml version="1.0" encoding="utf-8"?>
<p:tagLst xmlns:p="http://schemas.openxmlformats.org/presentationml/2006/main">
  <p:tag name="KSO_WM_DIAGRAM_VIRTUALLY_FRAME" val="{&amp;quot;height&amp;quot;:410,&amp;quot;left&amp;quot;:29.05,&amp;quot;top&amp;quot;:91.25,&amp;quot;width&amp;quot;:912.85}"/>
</p:tagLst>
</file>

<file path=ppt/tags/tag28.xml><?xml version="1.0" encoding="utf-8"?>
<p:tagLst xmlns:p="http://schemas.openxmlformats.org/presentationml/2006/main">
  <p:tag name="KSO_WM_DIAGRAM_VIRTUALLY_FRAME" val="{&amp;quot;height&amp;quot;:410,&amp;quot;left&amp;quot;:29.05,&amp;quot;top&amp;quot;:91.25,&amp;quot;width&amp;quot;:912.85}"/>
</p:tagLst>
</file>

<file path=ppt/tags/tag29.xml><?xml version="1.0" encoding="utf-8"?>
<p:tagLst xmlns:p="http://schemas.openxmlformats.org/presentationml/2006/main">
  <p:tag name="KSO_WM_DIAGRAM_VIRTUALLY_FRAME" val="{&amp;quot;height&amp;quot;:410,&amp;quot;left&amp;quot;:29.05,&amp;quot;top&amp;quot;:91.25,&amp;quot;width&amp;quot;:912.85}"/>
</p:tagLst>
</file>

<file path=ppt/tags/tag30.xml><?xml version="1.0" encoding="utf-8"?>
<p:tagLst xmlns:p="http://schemas.openxmlformats.org/presentationml/2006/main">
  <p:tag name="KSO_WM_DIAGRAM_VIRTUALLY_FRAME" val="{&amp;quot;height&amp;quot;:410,&amp;quot;left&amp;quot;:29.05,&amp;quot;top&amp;quot;:91.25,&amp;quot;width&amp;quot;:912.85}"/>
</p:tagLst>
</file>

<file path=ppt/tags/tag31.xml><?xml version="1.0" encoding="utf-8"?>
<p:tagLst xmlns:p="http://schemas.openxmlformats.org/presentationml/2006/main">
  <p:tag name="KSO_WM_DIAGRAM_VIRTUALLY_FRAME" val="{&amp;quot;height&amp;quot;:410,&amp;quot;left&amp;quot;:29.05,&amp;quot;top&amp;quot;:91.25,&amp;quot;width&amp;quot;:912.85}"/>
</p:tagLst>
</file>

<file path=ppt/tags/tag32.xml><?xml version="1.0" encoding="utf-8"?>
<p:tagLst xmlns:p="http://schemas.openxmlformats.org/presentationml/2006/main">
  <p:tag name="KSO_WM_DIAGRAM_VIRTUALLY_FRAME" val="{&amp;quot;height&amp;quot;:410,&amp;quot;left&amp;quot;:29.05,&amp;quot;top&amp;quot;:91.25,&amp;quot;width&amp;quot;:912.85}"/>
</p:tagLst>
</file>

<file path=ppt/tags/tag33.xml><?xml version="1.0" encoding="utf-8"?>
<p:tagLst xmlns:p="http://schemas.openxmlformats.org/presentationml/2006/main">
  <p:tag name="KSO_WM_DIAGRAM_VIRTUALLY_FRAME" val="{&amp;quot;height&amp;quot;:410,&amp;quot;left&amp;quot;:29.05,&amp;quot;top&amp;quot;:91.25,&amp;quot;width&amp;quot;:912.85}"/>
</p:tagLst>
</file>

<file path=ppt/tags/tag34.xml><?xml version="1.0" encoding="utf-8"?>
<p:tagLst xmlns:p="http://schemas.openxmlformats.org/presentationml/2006/main">
  <p:tag name="KSO_WM_DIAGRAM_VIRTUALLY_FRAME" val="{&amp;quot;height&amp;quot;:410,&amp;quot;left&amp;quot;:29.05,&amp;quot;top&amp;quot;:91.25,&amp;quot;width&amp;quot;:912.85}"/>
</p:tagLst>
</file>

<file path=ppt/tags/tag35.xml><?xml version="1.0" encoding="utf-8"?>
<p:tagLst xmlns:p="http://schemas.openxmlformats.org/presentationml/2006/main">
  <p:tag name="KSO_WM_DIAGRAM_VIRTUALLY_FRAME" val="{&amp;quot;height&amp;quot;:410,&amp;quot;left&amp;quot;:29.05,&amp;quot;top&amp;quot;:91.25,&amp;quot;width&amp;quot;:912.85}"/>
</p:tagLst>
</file>

<file path=ppt/tags/tag36.xml><?xml version="1.0" encoding="utf-8"?>
<p:tagLst xmlns:p="http://schemas.openxmlformats.org/presentationml/2006/main">
  <p:tag name="KSO_WM_DIAGRAM_VIRTUALLY_FRAME" val="{&amp;quot;height&amp;quot;:410,&amp;quot;left&amp;quot;:29.05,&amp;quot;top&amp;quot;:91.25,&amp;quot;width&amp;quot;:919.5}"/>
</p:tagLst>
</file>

<file path=ppt/tags/tag37.xml><?xml version="1.0" encoding="utf-8"?>
<p:tagLst xmlns:p="http://schemas.openxmlformats.org/presentationml/2006/main">
  <p:tag name="KSO_WM_DIAGRAM_VIRTUALLY_FRAME" val="{&amp;quot;height&amp;quot;:410,&amp;quot;left&amp;quot;:29.05,&amp;quot;top&amp;quot;:91.25,&amp;quot;width&amp;quot;:919.5}"/>
</p:tagLst>
</file>

<file path=ppt/tags/tag38.xml><?xml version="1.0" encoding="utf-8"?>
<p:tagLst xmlns:p="http://schemas.openxmlformats.org/presentationml/2006/main">
  <p:tag name="KSO_WM_DIAGRAM_VIRTUALLY_FRAME" val="{&amp;quot;height&amp;quot;:410,&amp;quot;left&amp;quot;:29.05,&amp;quot;top&amp;quot;:91.25,&amp;quot;width&amp;quot;:919.5}"/>
</p:tagLst>
</file>

<file path=ppt/tags/tag39.xml><?xml version="1.0" encoding="utf-8"?>
<p:tagLst xmlns:p="http://schemas.openxmlformats.org/presentationml/2006/main">
  <p:tag name="KSO_WM_DIAGRAM_VIRTUALLY_FRAME" val="{&amp;quot;height&amp;quot;:410,&amp;quot;left&amp;quot;:29.05,&amp;quot;top&amp;quot;:91.25,&amp;quot;width&amp;quot;:919.5}"/>
</p:tagLst>
</file>

<file path=ppt/tags/tag40.xml><?xml version="1.0" encoding="utf-8"?>
<p:tagLst xmlns:p="http://schemas.openxmlformats.org/presentationml/2006/main">
  <p:tag name="KSO_WM_DIAGRAM_VIRTUALLY_FRAME" val="{&amp;quot;height&amp;quot;:410,&amp;quot;left&amp;quot;:29.05,&amp;quot;top&amp;quot;:91.25,&amp;quot;width&amp;quot;:919.5}"/>
</p:tagLst>
</file>

<file path=ppt/tags/tag41.xml><?xml version="1.0" encoding="utf-8"?>
<p:tagLst xmlns:p="http://schemas.openxmlformats.org/presentationml/2006/main">
  <p:tag name="KSO_WM_DIAGRAM_VIRTUALLY_FRAME" val="{&amp;quot;height&amp;quot;:410,&amp;quot;left&amp;quot;:29.05,&amp;quot;top&amp;quot;:91.25,&amp;quot;width&amp;quot;:919.5}"/>
</p:tagLst>
</file>

<file path=ppt/tags/tag42.xml><?xml version="1.0" encoding="utf-8"?>
<p:tagLst xmlns:p="http://schemas.openxmlformats.org/presentationml/2006/main">
  <p:tag name="KSO_WM_DIAGRAM_VIRTUALLY_FRAME" val="{&amp;quot;height&amp;quot;:410,&amp;quot;left&amp;quot;:29.05,&amp;quot;top&amp;quot;:91.25,&amp;quot;width&amp;quot;:919.5}"/>
</p:tagLst>
</file>

<file path=ppt/tags/tag43.xml><?xml version="1.0" encoding="utf-8"?>
<p:tagLst xmlns:p="http://schemas.openxmlformats.org/presentationml/2006/main">
  <p:tag name="KSO_WM_DIAGRAM_VIRTUALLY_FRAME" val="{&amp;quot;height&amp;quot;:410,&amp;quot;left&amp;quot;:29.05,&amp;quot;top&amp;quot;:91.25,&amp;quot;width&amp;quot;:919.5}"/>
</p:tagLst>
</file>

<file path=ppt/tags/tag44.xml><?xml version="1.0" encoding="utf-8"?>
<p:tagLst xmlns:p="http://schemas.openxmlformats.org/presentationml/2006/main">
  <p:tag name="KSO_WM_DIAGRAM_VIRTUALLY_FRAME" val="{&amp;quot;height&amp;quot;:410,&amp;quot;left&amp;quot;:29.05,&amp;quot;top&amp;quot;:91.25,&amp;quot;width&amp;quot;:919.5}"/>
</p:tagLst>
</file>

<file path=ppt/tags/tag45.xml><?xml version="1.0" encoding="utf-8"?>
<p:tagLst xmlns:p="http://schemas.openxmlformats.org/presentationml/2006/main">
  <p:tag name="KSO_WM_DIAGRAM_VIRTUALLY_FRAME" val="{&amp;quot;height&amp;quot;:410,&amp;quot;left&amp;quot;:29.05,&amp;quot;top&amp;quot;:91.25,&amp;quot;width&amp;quot;:919.5}"/>
</p:tagLst>
</file>

<file path=ppt/tags/tag46.xml><?xml version="1.0" encoding="utf-8"?>
<p:tagLst xmlns:p="http://schemas.openxmlformats.org/presentationml/2006/main">
  <p:tag name="KSO_WM_DIAGRAM_VIRTUALLY_FRAME" val="{&amp;quot;height&amp;quot;:403.1,&amp;quot;left&amp;quot;:55.7,&amp;quot;top&amp;quot;:109.25,&amp;quot;width&amp;quot;:860.45}"/>
</p:tagLst>
</file>

<file path=ppt/tags/tag47.xml><?xml version="1.0" encoding="utf-8"?>
<p:tagLst xmlns:p="http://schemas.openxmlformats.org/presentationml/2006/main">
  <p:tag name="KSO_WM_DIAGRAM_VIRTUALLY_FRAME" val="{&amp;quot;height&amp;quot;:403.1,&amp;quot;left&amp;quot;:55.7,&amp;quot;top&amp;quot;:109.25,&amp;quot;width&amp;quot;:860.45}"/>
</p:tagLst>
</file>

<file path=ppt/tags/tag48.xml><?xml version="1.0" encoding="utf-8"?>
<p:tagLst xmlns:p="http://schemas.openxmlformats.org/presentationml/2006/main">
  <p:tag name="KSO_WM_DIAGRAM_VIRTUALLY_FRAME" val="{&amp;quot;height&amp;quot;:403.1,&amp;quot;left&amp;quot;:55.7,&amp;quot;top&amp;quot;:109.25,&amp;quot;width&amp;quot;:860.45}"/>
</p:tagLst>
</file>

<file path=ppt/tags/tag49.xml><?xml version="1.0" encoding="utf-8"?>
<p:tagLst xmlns:p="http://schemas.openxmlformats.org/presentationml/2006/main">
  <p:tag name="KSO_WM_DIAGRAM_VIRTUALLY_FRAME" val="{&amp;quot;height&amp;quot;:403.1,&amp;quot;left&amp;quot;:55.7,&amp;quot;top&amp;quot;:109.25,&amp;quot;width&amp;quot;:860.45}"/>
</p:tagLst>
</file>

<file path=ppt/tags/tag50.xml><?xml version="1.0" encoding="utf-8"?>
<p:tagLst xmlns:p="http://schemas.openxmlformats.org/presentationml/2006/main">
  <p:tag name="KSO_WM_DIAGRAM_VIRTUALLY_FRAME" val="{&amp;quot;height&amp;quot;:403.1,&amp;quot;left&amp;quot;:55.7,&amp;quot;top&amp;quot;:109.25,&amp;quot;width&amp;quot;:860.45}"/>
</p:tagLst>
</file>

<file path=ppt/tags/tag51.xml><?xml version="1.0" encoding="utf-8"?>
<p:tagLst xmlns:p="http://schemas.openxmlformats.org/presentationml/2006/main">
  <p:tag name="KSO_WM_DIAGRAM_VIRTUALLY_FRAME" val="{&amp;quot;height&amp;quot;:403.1,&amp;quot;left&amp;quot;:55.7,&amp;quot;top&amp;quot;:109.25,&amp;quot;width&amp;quot;:860.45}"/>
</p:tagLst>
</file>

<file path=ppt/tags/tag52.xml><?xml version="1.0" encoding="utf-8"?>
<p:tagLst xmlns:p="http://schemas.openxmlformats.org/presentationml/2006/main">
  <p:tag name="KSO_WM_DIAGRAM_VIRTUALLY_FRAME" val="{&amp;quot;height&amp;quot;:403.1,&amp;quot;left&amp;quot;:55.7,&amp;quot;top&amp;quot;:109.25,&amp;quot;width&amp;quot;:860.45}"/>
</p:tagLst>
</file>

<file path=ppt/tags/tag53.xml><?xml version="1.0" encoding="utf-8"?>
<p:tagLst xmlns:p="http://schemas.openxmlformats.org/presentationml/2006/main">
  <p:tag name="KSO_WM_DIAGRAM_VIRTUALLY_FRAME" val="{&amp;quot;height&amp;quot;:403.1,&amp;quot;left&amp;quot;:55.7,&amp;quot;top&amp;quot;:109.25,&amp;quot;width&amp;quot;:860.45}"/>
</p:tagLst>
</file>

<file path=ppt/tags/tag54.xml><?xml version="1.0" encoding="utf-8"?>
<p:tagLst xmlns:p="http://schemas.openxmlformats.org/presentationml/2006/main">
  <p:tag name="KSO_WM_DIAGRAM_VIRTUALLY_FRAME" val="{&amp;quot;height&amp;quot;:403.1,&amp;quot;left&amp;quot;:55.7,&amp;quot;top&amp;quot;:109.25,&amp;quot;width&amp;quot;:860.45}"/>
</p:tagLst>
</file>

<file path=ppt/tags/tag55.xml><?xml version="1.0" encoding="utf-8"?>
<p:tagLst xmlns:p="http://schemas.openxmlformats.org/presentationml/2006/main">
  <p:tag name="KSO_WM_DIAGRAM_VIRTUALLY_FRAME" val="{&amp;quot;height&amp;quot;:403.1,&amp;quot;left&amp;quot;:55.7,&amp;quot;top&amp;quot;:109.25,&amp;quot;width&amp;quot;:860.45}"/>
</p:tagLst>
</file>

<file path=ppt/tags/tag56.xml><?xml version="1.0" encoding="utf-8"?>
<p:tagLst xmlns:p="http://schemas.openxmlformats.org/presentationml/2006/main">
  <p:tag name="KSO_WM_DIAGRAM_VIRTUALLY_FRAME" val="{&amp;quot;height&amp;quot;:403.1,&amp;quot;left&amp;quot;:55.7,&amp;quot;top&amp;quot;:109.25,&amp;quot;width&amp;quot;:860.45}"/>
</p:tagLst>
</file>

<file path=ppt/tags/tag57.xml><?xml version="1.0" encoding="utf-8"?>
<p:tagLst xmlns:p="http://schemas.openxmlformats.org/presentationml/2006/main">
  <p:tag name="KSO_WM_DIAGRAM_VIRTUALLY_FRAME" val="{&amp;quot;height&amp;quot;:403.1,&amp;quot;left&amp;quot;:55.7,&amp;quot;top&amp;quot;:109.25,&amp;quot;width&amp;quot;:860.45}"/>
</p:tagLst>
</file>

<file path=ppt/tags/tag58.xml><?xml version="1.0" encoding="utf-8"?>
<p:tagLst xmlns:p="http://schemas.openxmlformats.org/presentationml/2006/main">
  <p:tag name="KSO_WM_DIAGRAM_VIRTUALLY_FRAME" val="{&amp;quot;height&amp;quot;:403.1,&amp;quot;left&amp;quot;:55.7,&amp;quot;top&amp;quot;:109.25,&amp;quot;width&amp;quot;:860.45}"/>
</p:tagLst>
</file>

<file path=ppt/tags/tag59.xml><?xml version="1.0" encoding="utf-8"?>
<p:tagLst xmlns:p="http://schemas.openxmlformats.org/presentationml/2006/main">
  <p:tag name="KSO_WM_DIAGRAM_VIRTUALLY_FRAME" val="{&amp;quot;height&amp;quot;:403.1,&amp;quot;left&amp;quot;:55.7,&amp;quot;top&amp;quot;:109.25,&amp;quot;width&amp;quot;:860.45}"/>
</p:tagLst>
</file>

<file path=ppt/tags/tag60.xml><?xml version="1.0" encoding="utf-8"?>
<p:tagLst xmlns:p="http://schemas.openxmlformats.org/presentationml/2006/main">
  <p:tag name="KSO_WM_DIAGRAM_VIRTUALLY_FRAME" val="{&amp;quot;height&amp;quot;:403.1,&amp;quot;left&amp;quot;:55.7,&amp;quot;top&amp;quot;:109.25,&amp;quot;width&amp;quot;:860.45}"/>
</p:tagLst>
</file>

<file path=ppt/tags/tag61.xml><?xml version="1.0" encoding="utf-8"?>
<p:tagLst xmlns:p="http://schemas.openxmlformats.org/presentationml/2006/main">
  <p:tag name="KSO_WM_DIAGRAM_VIRTUALLY_FRAME" val="{&amp;quot;height&amp;quot;:403.1,&amp;quot;left&amp;quot;:55.7,&amp;quot;top&amp;quot;:109.25,&amp;quot;width&amp;quot;:860.45}"/>
</p:tagLst>
</file>

<file path=ppt/tags/tag62.xml><?xml version="1.0" encoding="utf-8"?>
<p:tagLst xmlns:p="http://schemas.openxmlformats.org/presentationml/2006/main">
  <p:tag name="KSO_WM_DIAGRAM_VIRTUALLY_FRAME" val="{&amp;quot;height&amp;quot;:403.1,&amp;quot;left&amp;quot;:55.7,&amp;quot;top&amp;quot;:109.25,&amp;quot;width&amp;quot;:860.45}"/>
</p:tagLst>
</file>

<file path=ppt/tags/tag63.xml><?xml version="1.0" encoding="utf-8"?>
<p:tagLst xmlns:p="http://schemas.openxmlformats.org/presentationml/2006/main">
  <p:tag name="KSO_WM_DIAGRAM_VIRTUALLY_FRAME" val="{&amp;quot;height&amp;quot;:403.1,&amp;quot;left&amp;quot;:55.7,&amp;quot;top&amp;quot;:109.25,&amp;quot;width&amp;quot;:860.45}"/>
</p:tagLst>
</file>

<file path=ppt/tags/tag64.xml><?xml version="1.0" encoding="utf-8"?>
<p:tagLst xmlns:p="http://schemas.openxmlformats.org/presentationml/2006/main">
  <p:tag name="KSO_WM_DIAGRAM_VIRTUALLY_FRAME" val="{&amp;quot;height&amp;quot;:403.1,&amp;quot;left&amp;quot;:55.7,&amp;quot;top&amp;quot;:109.25,&amp;quot;width&amp;quot;:860.45}"/>
</p:tagLst>
</file>

<file path=ppt/tags/tag65.xml><?xml version="1.0" encoding="utf-8"?>
<p:tagLst xmlns:p="http://schemas.openxmlformats.org/presentationml/2006/main">
  <p:tag name="KSO_WM_DIAGRAM_VIRTUALLY_FRAME" val="{&amp;quot;height&amp;quot;:403.1,&amp;quot;left&amp;quot;:55.7,&amp;quot;top&amp;quot;:109.25,&amp;quot;width&amp;quot;:860.45}"/>
</p:tagLst>
</file>

<file path=ppt/tags/tag66.xml><?xml version="1.0" encoding="utf-8"?>
<p:tagLst xmlns:p="http://schemas.openxmlformats.org/presentationml/2006/main">
  <p:tag name="KSO_WM_DIAGRAM_VIRTUALLY_FRAME" val="{&amp;quot;height&amp;quot;:403.1,&amp;quot;left&amp;quot;:55.7,&amp;quot;top&amp;quot;:109.25,&amp;quot;width&amp;quot;:860.45}"/>
</p:tagLst>
</file>

<file path=ppt/tags/tag67.xml><?xml version="1.0" encoding="utf-8"?>
<p:tagLst xmlns:p="http://schemas.openxmlformats.org/presentationml/2006/main">
  <p:tag name="KSO_WM_DIAGRAM_VIRTUALLY_FRAME" val="{&amp;quot;height&amp;quot;:403.1,&amp;quot;left&amp;quot;:55.7,&amp;quot;top&amp;quot;:109.25,&amp;quot;width&amp;quot;:860.45}"/>
</p:tagLst>
</file>

<file path=ppt/tags/tag68.xml><?xml version="1.0" encoding="utf-8"?>
<p:tagLst xmlns:p="http://schemas.openxmlformats.org/presentationml/2006/main">
  <p:tag name="KSO_WM_DIAGRAM_VIRTUALLY_FRAME" val="{&amp;quot;height&amp;quot;:403.1,&amp;quot;left&amp;quot;:55.7,&amp;quot;top&amp;quot;:109.25,&amp;quot;width&amp;quot;:860.45}"/>
</p:tagLst>
</file>

<file path=ppt/tags/tag69.xml><?xml version="1.0" encoding="utf-8"?>
<p:tagLst xmlns:p="http://schemas.openxmlformats.org/presentationml/2006/main">
  <p:tag name="KSO_WM_DIAGRAM_VIRTUALLY_FRAME" val="{&amp;quot;height&amp;quot;:403.1,&amp;quot;left&amp;quot;:55.7,&amp;quot;top&amp;quot;:109.25,&amp;quot;width&amp;quot;:860.45}"/>
</p:tagLst>
</file>

<file path=ppt/tags/tag70.xml><?xml version="1.0" encoding="utf-8"?>
<p:tagLst xmlns:p="http://schemas.openxmlformats.org/presentationml/2006/main">
  <p:tag name="KSO_WM_DIAGRAM_VIRTUALLY_FRAME" val="{&amp;quot;height&amp;quot;:403.1,&amp;quot;left&amp;quot;:55.7,&amp;quot;top&amp;quot;:109.25,&amp;quot;width&amp;quot;:860.45}"/>
</p:tagLst>
</file>

<file path=ppt/tags/tag71.xml><?xml version="1.0" encoding="utf-8"?>
<p:tagLst xmlns:p="http://schemas.openxmlformats.org/presentationml/2006/main">
  <p:tag name="KSO_WM_DIAGRAM_VIRTUALLY_FRAME" val="{&amp;quot;height&amp;quot;:403.1,&amp;quot;left&amp;quot;:55.7,&amp;quot;top&amp;quot;:109.25,&amp;quot;width&amp;quot;:860.45}"/>
</p:tagLst>
</file>

<file path=ppt/tags/tag72.xml><?xml version="1.0" encoding="utf-8"?>
<p:tagLst xmlns:p="http://schemas.openxmlformats.org/presentationml/2006/main">
  <p:tag name="KSO_WM_DIAGRAM_VIRTUALLY_FRAME" val="{&amp;quot;height&amp;quot;:403.1,&amp;quot;left&amp;quot;:55.7,&amp;quot;top&amp;quot;:109.25,&amp;quot;width&amp;quot;:860.45}"/>
</p:tagLst>
</file>

<file path=ppt/tags/tag73.xml><?xml version="1.0" encoding="utf-8"?>
<p:tagLst xmlns:p="http://schemas.openxmlformats.org/presentationml/2006/main">
  <p:tag name="KSO_WM_DIAGRAM_VIRTUALLY_FRAME" val="{&amp;quot;height&amp;quot;:403.1,&amp;quot;left&amp;quot;:55.7,&amp;quot;top&amp;quot;:109.25,&amp;quot;width&amp;quot;:860.45}"/>
</p:tagLst>
</file>

<file path=ppt/tags/tag74.xml><?xml version="1.0" encoding="utf-8"?>
<p:tagLst xmlns:p="http://schemas.openxmlformats.org/presentationml/2006/main">
  <p:tag name="KSO_WM_DIAGRAM_VIRTUALLY_FRAME" val="{&amp;quot;height&amp;quot;:403.1,&amp;quot;left&amp;quot;:55.7,&amp;quot;top&amp;quot;:109.25,&amp;quot;width&amp;quot;:860.45}"/>
</p:tagLst>
</file>

<file path=ppt/tags/tag75.xml><?xml version="1.0" encoding="utf-8"?>
<p:tagLst xmlns:p="http://schemas.openxmlformats.org/presentationml/2006/main">
  <p:tag name="KSO_WM_DIAGRAM_VIRTUALLY_FRAME" val="{&amp;quot;height&amp;quot;:403.1,&amp;quot;left&amp;quot;:55.7,&amp;quot;top&amp;quot;:109.25,&amp;quot;width&amp;quot;:860.45}"/>
</p:tagLst>
</file>

<file path=ppt/tags/tag76.xml><?xml version="1.0" encoding="utf-8"?>
<p:tagLst xmlns:p="http://schemas.openxmlformats.org/presentationml/2006/main">
  <p:tag name="KSO_WM_DIAGRAM_VIRTUALLY_FRAME" val="{&amp;quot;height&amp;quot;:403.1,&amp;quot;left&amp;quot;:55.7,&amp;quot;top&amp;quot;:109.25,&amp;quot;width&amp;quot;:860.45}"/>
</p:tagLst>
</file>

<file path=ppt/tags/tag77.xml><?xml version="1.0" encoding="utf-8"?>
<p:tagLst xmlns:p="http://schemas.openxmlformats.org/presentationml/2006/main">
  <p:tag name="KSO_WM_DIAGRAM_VIRTUALLY_FRAME" val="{&amp;quot;height&amp;quot;:403.1,&amp;quot;left&amp;quot;:55.7,&amp;quot;top&amp;quot;:109.25,&amp;quot;width&amp;quot;:860.45}"/>
</p:tagLst>
</file>

<file path=ppt/tags/tag78.xml><?xml version="1.0" encoding="utf-8"?>
<p:tagLst xmlns:p="http://schemas.openxmlformats.org/presentationml/2006/main">
  <p:tag name="KSO_WM_DIAGRAM_VIRTUALLY_FRAME" val="{&amp;quot;height&amp;quot;:403.1,&amp;quot;left&amp;quot;:55.7,&amp;quot;top&amp;quot;:109.25,&amp;quot;width&amp;quot;:860.45}"/>
</p:tagLst>
</file>

<file path=ppt/tags/tag79.xml><?xml version="1.0" encoding="utf-8"?>
<p:tagLst xmlns:p="http://schemas.openxmlformats.org/presentationml/2006/main">
  <p:tag name="KSO_WM_DIAGRAM_VIRTUALLY_FRAME" val="{&amp;quot;height&amp;quot;:403.1,&amp;quot;left&amp;quot;:55.7,&amp;quot;top&amp;quot;:109.25,&amp;quot;width&amp;quot;:860.45}"/>
</p:tagLst>
</file>

<file path=ppt/tags/tag80.xml><?xml version="1.0" encoding="utf-8"?>
<p:tagLst xmlns:p="http://schemas.openxmlformats.org/presentationml/2006/main">
  <p:tag name="KSO_WM_DIAGRAM_VIRTUALLY_FRAME" val="{&amp;quot;height&amp;quot;:403.1,&amp;quot;left&amp;quot;:55.7,&amp;quot;top&amp;quot;:109.25,&amp;quot;width&amp;quot;:860.45}"/>
</p:tagLst>
</file>

<file path=ppt/tags/tag81.xml><?xml version="1.0" encoding="utf-8"?>
<p:tagLst xmlns:p="http://schemas.openxmlformats.org/presentationml/2006/main">
  <p:tag name="KSO_WM_DIAGRAM_VIRTUALLY_FRAME" val="{&amp;quot;height&amp;quot;:403.1,&amp;quot;left&amp;quot;:55.7,&amp;quot;top&amp;quot;:109.25,&amp;quot;width&amp;quot;:860.45}"/>
</p:tagLst>
</file>

<file path=ppt/tags/tag82.xml><?xml version="1.0" encoding="utf-8"?>
<p:tagLst xmlns:p="http://schemas.openxmlformats.org/presentationml/2006/main">
  <p:tag name="KSO_WM_DIAGRAM_VIRTUALLY_FRAME" val="{&amp;quot;height&amp;quot;:403.1,&amp;quot;left&amp;quot;:55.7,&amp;quot;top&amp;quot;:109.25,&amp;quot;width&amp;quot;:860.45}"/>
</p:tagLst>
</file>

<file path=ppt/tags/tag83.xml><?xml version="1.0" encoding="utf-8"?>
<p:tagLst xmlns:p="http://schemas.openxmlformats.org/presentationml/2006/main">
  <p:tag name="KSO_WM_DIAGRAM_VIRTUALLY_FRAME" val="{&amp;quot;height&amp;quot;:403.1,&amp;quot;left&amp;quot;:55.7,&amp;quot;top&amp;quot;:109.25,&amp;quot;width&amp;quot;:860.45}"/>
</p:tagLst>
</file>

<file path=ppt/tags/tag84.xml><?xml version="1.0" encoding="utf-8"?>
<p:tagLst xmlns:p="http://schemas.openxmlformats.org/presentationml/2006/main">
  <p:tag name="KSO_WM_DIAGRAM_VIRTUALLY_FRAME" val="{&amp;quot;height&amp;quot;:403.1,&amp;quot;left&amp;quot;:55.7,&amp;quot;top&amp;quot;:109.25,&amp;quot;width&amp;quot;:860.45}"/>
</p:tagLst>
</file>

<file path=ppt/tags/tag85.xml><?xml version="1.0" encoding="utf-8"?>
<p:tagLst xmlns:p="http://schemas.openxmlformats.org/presentationml/2006/main">
  <p:tag name="KSO_WM_DIAGRAM_VIRTUALLY_FRAME" val="{&amp;quot;height&amp;quot;:403.1,&amp;quot;left&amp;quot;:55.7,&amp;quot;top&amp;quot;:109.25,&amp;quot;width&amp;quot;:860.45}"/>
</p:tagLst>
</file>

<file path=ppt/tags/tag86.xml><?xml version="1.0" encoding="utf-8"?>
<p:tagLst xmlns:p="http://schemas.openxmlformats.org/presentationml/2006/main">
  <p:tag name="KSO_WM_DIAGRAM_VIRTUALLY_FRAME" val="{&amp;quot;height&amp;quot;:403.1,&amp;quot;left&amp;quot;:55.7,&amp;quot;top&amp;quot;:109.25,&amp;quot;width&amp;quot;:860.45}"/>
</p:tagLst>
</file>

<file path=ppt/tags/tag87.xml><?xml version="1.0" encoding="utf-8"?>
<p:tagLst xmlns:p="http://schemas.openxmlformats.org/presentationml/2006/main">
  <p:tag name="KSO_WM_DIAGRAM_VIRTUALLY_FRAME" val="{&amp;quot;height&amp;quot;:403.1,&amp;quot;left&amp;quot;:55.7,&amp;quot;top&amp;quot;:109.25,&amp;quot;width&amp;quot;:860.45}"/>
</p:tagLst>
</file>

<file path=ppt/tags/tag88.xml><?xml version="1.0" encoding="utf-8"?>
<p:tagLst xmlns:p="http://schemas.openxmlformats.org/presentationml/2006/main">
  <p:tag name="KSO_WM_DIAGRAM_VIRTUALLY_FRAME" val="{&amp;quot;height&amp;quot;:403.1,&amp;quot;left&amp;quot;:55.7,&amp;quot;top&amp;quot;:109.25,&amp;quot;width&amp;quot;:860.45}"/>
</p:tagLst>
</file>

<file path=ppt/tags/tag89.xml><?xml version="1.0" encoding="utf-8"?>
<p:tagLst xmlns:p="http://schemas.openxmlformats.org/presentationml/2006/main">
  <p:tag name="KSO_WM_DIAGRAM_VIRTUALLY_FRAME" val="{&amp;quot;height&amp;quot;:403.1,&amp;quot;left&amp;quot;:55.7,&amp;quot;top&amp;quot;:109.25,&amp;quot;width&amp;quot;:860.45}"/>
</p:tagLst>
</file>

<file path=ppt/tags/tag90.xml><?xml version="1.0" encoding="utf-8"?>
<p:tagLst xmlns:p="http://schemas.openxmlformats.org/presentationml/2006/main">
  <p:tag name="KSO_WM_DIAGRAM_VIRTUALLY_FRAME" val="{&amp;quot;height&amp;quot;:403.1,&amp;quot;left&amp;quot;:55.7,&amp;quot;top&amp;quot;:109.25,&amp;quot;width&amp;quot;:860.45}"/>
</p:tagLst>
</file>

<file path=ppt/tags/tag91.xml><?xml version="1.0" encoding="utf-8"?>
<p:tagLst xmlns:p="http://schemas.openxmlformats.org/presentationml/2006/main">
  <p:tag name="KSO_WM_DIAGRAM_VIRTUALLY_FRAME" val="{&amp;quot;height&amp;quot;:403.1,&amp;quot;left&amp;quot;:55.7,&amp;quot;top&amp;quot;:109.25,&amp;quot;width&amp;quot;:860.45}"/>
</p:tagLst>
</file>

<file path=ppt/tags/tag92.xml><?xml version="1.0" encoding="utf-8"?>
<p:tagLst xmlns:p="http://schemas.openxmlformats.org/presentationml/2006/main">
  <p:tag name="KSO_WM_DIAGRAM_VIRTUALLY_FRAME" val="{&amp;quot;height&amp;quot;:403.1,&amp;quot;left&amp;quot;:55.7,&amp;quot;top&amp;quot;:109.25,&amp;quot;width&amp;quot;:860.45}"/>
</p:tagLst>
</file>

<file path=ppt/tags/tag93.xml><?xml version="1.0" encoding="utf-8"?>
<p:tagLst xmlns:p="http://schemas.openxmlformats.org/presentationml/2006/main">
  <p:tag name="KSO_WM_DIAGRAM_VIRTUALLY_FRAME" val="{&amp;quot;height&amp;quot;:403.1,&amp;quot;left&amp;quot;:55.7,&amp;quot;top&amp;quot;:109.25,&amp;quot;width&amp;quot;:860.45}"/>
</p:tagLst>
</file>

<file path=ppt/tags/tag94.xml><?xml version="1.0" encoding="utf-8"?>
<p:tagLst xmlns:p="http://schemas.openxmlformats.org/presentationml/2006/main">
  <p:tag name="KSO_WM_DIAGRAM_VIRTUALLY_FRAME" val="{&amp;quot;height&amp;quot;:403.1,&amp;quot;left&amp;quot;:55.7,&amp;quot;top&amp;quot;:109.25,&amp;quot;width&amp;quot;:860.45}"/>
</p:tagLst>
</file>

<file path=ppt/tags/tag95.xml><?xml version="1.0" encoding="utf-8"?>
<p:tagLst xmlns:p="http://schemas.openxmlformats.org/presentationml/2006/main">
  <p:tag name="KSO_WM_DIAGRAM_VIRTUALLY_FRAME" val="{&amp;quot;height&amp;quot;:403.1,&amp;quot;left&amp;quot;:55.7,&amp;quot;top&amp;quot;:109.25,&amp;quot;width&amp;quot;:860.45}"/>
</p:tagLst>
</file>

<file path=ppt/tags/tag96.xml><?xml version="1.0" encoding="utf-8"?>
<p:tagLst xmlns:p="http://schemas.openxmlformats.org/presentationml/2006/main">
  <p:tag name="KSO_WM_DIAGRAM_VIRTUALLY_FRAME" val="{&amp;quot;height&amp;quot;:403.1,&amp;quot;left&amp;quot;:55.7,&amp;quot;top&amp;quot;:109.25,&amp;quot;width&amp;quot;:860.45}"/>
</p:tagLst>
</file>

<file path=ppt/tags/tag97.xml><?xml version="1.0" encoding="utf-8"?>
<p:tagLst xmlns:p="http://schemas.openxmlformats.org/presentationml/2006/main">
  <p:tag name="KSO_WM_DIAGRAM_VIRTUALLY_FRAME" val="{&amp;quot;height&amp;quot;:403.1,&amp;quot;left&amp;quot;:55.7,&amp;quot;top&amp;quot;:109.25,&amp;quot;width&amp;quot;:860.45}"/>
</p:tagLst>
</file>

<file path=ppt/tags/tag98.xml><?xml version="1.0" encoding="utf-8"?>
<p:tagLst xmlns:p="http://schemas.openxmlformats.org/presentationml/2006/main">
  <p:tag name="KSO_WM_DIAGRAM_VIRTUALLY_FRAME" val="{&amp;quot;height&amp;quot;:403.1,&amp;quot;left&amp;quot;:55.7,&amp;quot;top&amp;quot;:109.25,&amp;quot;width&amp;quot;:860.45}"/>
</p:tagLst>
</file>

<file path=ppt/tags/tag99.xml><?xml version="1.0" encoding="utf-8"?>
<p:tagLst xmlns:p="http://schemas.openxmlformats.org/presentationml/2006/main">
  <p:tag name="KSO_WM_DIAGRAM_VIRTUALLY_FRAME" val="{&amp;quot;height&amp;quot;:403.1,&amp;quot;left&amp;quot;:55.7,&amp;quot;top&amp;quot;:109.25,&amp;quot;width&amp;quot;:860.45}"/>
</p:tagLst>
</file>

<file path=ppt/tags/tag100.xml><?xml version="1.0" encoding="utf-8"?>
<p:tagLst xmlns:p="http://schemas.openxmlformats.org/presentationml/2006/main">
  <p:tag name="KSO_WM_DIAGRAM_VIRTUALLY_FRAME" val="{&amp;quot;height&amp;quot;:403.1,&amp;quot;left&amp;quot;:55.7,&amp;quot;top&amp;quot;:109.25,&amp;quot;width&amp;quot;:860.45}"/>
</p:tagLst>
</file>

<file path=ppt/tags/tag101.xml><?xml version="1.0" encoding="utf-8"?>
<p:tagLst xmlns:p="http://schemas.openxmlformats.org/presentationml/2006/main">
  <p:tag name="KSO_WM_DIAGRAM_VIRTUALLY_FRAME" val="{&amp;quot;height&amp;quot;:403.1,&amp;quot;left&amp;quot;:55.7,&amp;quot;top&amp;quot;:109.25,&amp;quot;width&amp;quot;:860.45}"/>
</p:tagLst>
</file>

<file path=ppt/tags/tag102.xml><?xml version="1.0" encoding="utf-8"?>
<p:tagLst xmlns:p="http://schemas.openxmlformats.org/presentationml/2006/main">
  <p:tag name="KSO_WM_DIAGRAM_VIRTUALLY_FRAME" val="{&amp;quot;height&amp;quot;:403.1,&amp;quot;left&amp;quot;:55.7,&amp;quot;top&amp;quot;:109.25,&amp;quot;width&amp;quot;:860.45}"/>
</p:tagLst>
</file>

<file path=ppt/tags/tag103.xml><?xml version="1.0" encoding="utf-8"?>
<p:tagLst xmlns:p="http://schemas.openxmlformats.org/presentationml/2006/main">
  <p:tag name="KSO_WM_DIAGRAM_VIRTUALLY_FRAME" val="{&amp;quot;height&amp;quot;:403.1,&amp;quot;left&amp;quot;:55.7,&amp;quot;top&amp;quot;:109.25,&amp;quot;width&amp;quot;:860.45}"/>
</p:tagLst>
</file>

<file path=ppt/tags/tag104.xml><?xml version="1.0" encoding="utf-8"?>
<p:tagLst xmlns:p="http://schemas.openxmlformats.org/presentationml/2006/main">
  <p:tag name="KSO_WM_DIAGRAM_VIRTUALLY_FRAME" val="{&amp;quot;height&amp;quot;:403.1,&amp;quot;left&amp;quot;:55.7,&amp;quot;top&amp;quot;:109.25,&amp;quot;width&amp;quot;:860.45}"/>
</p:tagLst>
</file>

<file path=ppt/tags/tag105.xml><?xml version="1.0" encoding="utf-8"?>
<p:tagLst xmlns:p="http://schemas.openxmlformats.org/presentationml/2006/main">
  <p:tag name="KSO_WM_DIAGRAM_VIRTUALLY_FRAME" val="{&amp;quot;height&amp;quot;:403.1,&amp;quot;left&amp;quot;:55.7,&amp;quot;top&amp;quot;:109.25,&amp;quot;width&amp;quot;:860.45}"/>
</p:tagLst>
</file>

<file path=ppt/tags/tag106.xml><?xml version="1.0" encoding="utf-8"?>
<p:tagLst xmlns:p="http://schemas.openxmlformats.org/presentationml/2006/main">
  <p:tag name="KSO_WM_DIAGRAM_VIRTUALLY_FRAME" val="{&amp;quot;height&amp;quot;:403.1,&amp;quot;left&amp;quot;:55.7,&amp;quot;top&amp;quot;:109.25,&amp;quot;width&amp;quot;:860.45}"/>
</p:tagLst>
</file>

<file path=ppt/tags/tag107.xml><?xml version="1.0" encoding="utf-8"?>
<p:tagLst xmlns:p="http://schemas.openxmlformats.org/presentationml/2006/main">
  <p:tag name="KSO_WM_DIAGRAM_VIRTUALLY_FRAME" val="{&amp;quot;height&amp;quot;:403.1,&amp;quot;left&amp;quot;:55.7,&amp;quot;top&amp;quot;:109.25,&amp;quot;width&amp;quot;:860.45}"/>
</p:tagLst>
</file>

<file path=ppt/tags/tag108.xml><?xml version="1.0" encoding="utf-8"?>
<p:tagLst xmlns:p="http://schemas.openxmlformats.org/presentationml/2006/main">
  <p:tag name="KSO_WM_DIAGRAM_VIRTUALLY_FRAME" val="{&amp;quot;height&amp;quot;:403.1,&amp;quot;left&amp;quot;:55.7,&amp;quot;top&amp;quot;:109.25,&amp;quot;width&amp;quot;:860.45}"/>
</p:tagLst>
</file>

<file path=ppt/tags/tag109.xml><?xml version="1.0" encoding="utf-8"?>
<p:tagLst xmlns:p="http://schemas.openxmlformats.org/presentationml/2006/main">
  <p:tag name="KSO_WM_DIAGRAM_VIRTUALLY_FRAME" val="{&amp;quot;height&amp;quot;:403.1,&amp;quot;left&amp;quot;:55.7,&amp;quot;top&amp;quot;:109.25,&amp;quot;width&amp;quot;:860.45}"/>
</p:tagLst>
</file>

<file path=ppt/tags/tag110.xml><?xml version="1.0" encoding="utf-8"?>
<p:tagLst xmlns:p="http://schemas.openxmlformats.org/presentationml/2006/main">
  <p:tag name="KSO_WM_DIAGRAM_VIRTUALLY_FRAME" val="{&amp;quot;height&amp;quot;:403.1,&amp;quot;left&amp;quot;:55.7,&amp;quot;top&amp;quot;:109.25,&amp;quot;width&amp;quot;:860.45}"/>
</p:tagLst>
</file>

<file path=ppt/tags/tag111.xml><?xml version="1.0" encoding="utf-8"?>
<p:tagLst xmlns:p="http://schemas.openxmlformats.org/presentationml/2006/main">
  <p:tag name="KSO_WM_DIAGRAM_VIRTUALLY_FRAME" val="{&amp;quot;height&amp;quot;:403.1,&amp;quot;left&amp;quot;:55.7,&amp;quot;top&amp;quot;:109.25,&amp;quot;width&amp;quot;:860.45}"/>
</p:tagLst>
</file>

<file path=ppt/tags/tag112.xml><?xml version="1.0" encoding="utf-8"?>
<p:tagLst xmlns:p="http://schemas.openxmlformats.org/presentationml/2006/main">
  <p:tag name="KSO_WM_DIAGRAM_VIRTUALLY_FRAME" val="{&amp;quot;height&amp;quot;:403.1,&amp;quot;left&amp;quot;:55.7,&amp;quot;top&amp;quot;:109.25,&amp;quot;width&amp;quot;:860.45}"/>
</p:tagLst>
</file>

<file path=ppt/tags/tag113.xml><?xml version="1.0" encoding="utf-8"?>
<p:tagLst xmlns:p="http://schemas.openxmlformats.org/presentationml/2006/main">
  <p:tag name="KSO_WM_DIAGRAM_VIRTUALLY_FRAME" val="{&amp;quot;height&amp;quot;:403.1,&amp;quot;left&amp;quot;:55.7,&amp;quot;top&amp;quot;:109.25,&amp;quot;width&amp;quot;:860.45}"/>
</p:tagLst>
</file>

<file path=ppt/tags/tag114.xml><?xml version="1.0" encoding="utf-8"?>
<p:tagLst xmlns:p="http://schemas.openxmlformats.org/presentationml/2006/main">
  <p:tag name="KSO_WM_DIAGRAM_VIRTUALLY_FRAME" val="{&amp;quot;height&amp;quot;:403.1,&amp;quot;left&amp;quot;:55.7,&amp;quot;top&amp;quot;:109.25,&amp;quot;width&amp;quot;:860.45}"/>
</p:tagLst>
</file>

<file path=ppt/tags/tag115.xml><?xml version="1.0" encoding="utf-8"?>
<p:tagLst xmlns:p="http://schemas.openxmlformats.org/presentationml/2006/main">
  <p:tag name="KSO_WM_DIAGRAM_VIRTUALLY_FRAME" val="{&amp;quot;height&amp;quot;:403.1,&amp;quot;left&amp;quot;:55.7,&amp;quot;top&amp;quot;:109.25,&amp;quot;width&amp;quot;:860.45}"/>
</p:tagLst>
</file>

<file path=ppt/tags/tag116.xml><?xml version="1.0" encoding="utf-8"?>
<p:tagLst xmlns:p="http://schemas.openxmlformats.org/presentationml/2006/main">
  <p:tag name="KSO_WM_DIAGRAM_VIRTUALLY_FRAME" val="{&amp;quot;height&amp;quot;:403.1,&amp;quot;left&amp;quot;:55.7,&amp;quot;top&amp;quot;:109.25,&amp;quot;width&amp;quot;:860.45}"/>
</p:tagLst>
</file>

<file path=ppt/tags/tag117.xml><?xml version="1.0" encoding="utf-8"?>
<p:tagLst xmlns:p="http://schemas.openxmlformats.org/presentationml/2006/main">
  <p:tag name="KSO_WM_DIAGRAM_VIRTUALLY_FRAME" val="{&amp;quot;height&amp;quot;:403.1,&amp;quot;left&amp;quot;:55.7,&amp;quot;top&amp;quot;:109.25,&amp;quot;width&amp;quot;:860.45}"/>
</p:tagLst>
</file>

<file path=ppt/tags/tag118.xml><?xml version="1.0" encoding="utf-8"?>
<p:tagLst xmlns:p="http://schemas.openxmlformats.org/presentationml/2006/main">
  <p:tag name="KSO_WM_DIAGRAM_VIRTUALLY_FRAME" val="{&amp;quot;height&amp;quot;:403.1,&amp;quot;left&amp;quot;:55.7,&amp;quot;top&amp;quot;:109.25,&amp;quot;width&amp;quot;:860.45}"/>
</p:tagLst>
</file>

<file path=ppt/tags/tag119.xml><?xml version="1.0" encoding="utf-8"?>
<p:tagLst xmlns:p="http://schemas.openxmlformats.org/presentationml/2006/main">
  <p:tag name="KSO_WM_DIAGRAM_VIRTUALLY_FRAME" val="{&amp;quot;height&amp;quot;:403.1,&amp;quot;left&amp;quot;:55.7,&amp;quot;top&amp;quot;:109.25,&amp;quot;width&amp;quot;:860.45}"/>
</p:tagLst>
</file>

<file path=ppt/tags/tag120.xml><?xml version="1.0" encoding="utf-8"?>
<p:tagLst xmlns:p="http://schemas.openxmlformats.org/presentationml/2006/main">
  <p:tag name="KSO_WM_DIAGRAM_VIRTUALLY_FRAME" val="{&amp;quot;height&amp;quot;:403.1,&amp;quot;left&amp;quot;:55.7,&amp;quot;top&amp;quot;:109.25,&amp;quot;width&amp;quot;:860.45}"/>
</p:tagLst>
</file>

<file path=ppt/tags/tag121.xml><?xml version="1.0" encoding="utf-8"?>
<p:tagLst xmlns:p="http://schemas.openxmlformats.org/presentationml/2006/main">
  <p:tag name="KSO_WM_DIAGRAM_VIRTUALLY_FRAME" val="{&amp;quot;height&amp;quot;:403.1,&amp;quot;left&amp;quot;:55.7,&amp;quot;top&amp;quot;:109.25,&amp;quot;width&amp;quot;:860.45}"/>
</p:tagLst>
</file>

<file path=ppt/tags/tag122.xml><?xml version="1.0" encoding="utf-8"?>
<p:tagLst xmlns:p="http://schemas.openxmlformats.org/presentationml/2006/main">
  <p:tag name="KSO_WM_DIAGRAM_VIRTUALLY_FRAME" val="{&amp;quot;height&amp;quot;:403.1,&amp;quot;left&amp;quot;:55.7,&amp;quot;top&amp;quot;:109.25,&amp;quot;width&amp;quot;:860.45}"/>
</p:tagLst>
</file>

<file path=ppt/tags/tag123.xml><?xml version="1.0" encoding="utf-8"?>
<p:tagLst xmlns:p="http://schemas.openxmlformats.org/presentationml/2006/main">
  <p:tag name="KSO_WM_DIAGRAM_VIRTUALLY_FRAME" val="{&amp;quot;height&amp;quot;:403.1,&amp;quot;left&amp;quot;:55.7,&amp;quot;top&amp;quot;:109.25,&amp;quot;width&amp;quot;:860.45}"/>
</p:tagLst>
</file>

<file path=ppt/tags/tag124.xml><?xml version="1.0" encoding="utf-8"?>
<p:tagLst xmlns:p="http://schemas.openxmlformats.org/presentationml/2006/main">
  <p:tag name="KSO_WM_DIAGRAM_VIRTUALLY_FRAME" val="{&amp;quot;height&amp;quot;:403.1,&amp;quot;left&amp;quot;:55.7,&amp;quot;top&amp;quot;:109.25,&amp;quot;width&amp;quot;:860.45}"/>
</p:tagLst>
</file>

<file path=ppt/tags/tag125.xml><?xml version="1.0" encoding="utf-8"?>
<p:tagLst xmlns:p="http://schemas.openxmlformats.org/presentationml/2006/main">
  <p:tag name="KSO_WM_DIAGRAM_VIRTUALLY_FRAME" val="{&amp;quot;height&amp;quot;:403.1,&amp;quot;left&amp;quot;:55.7,&amp;quot;top&amp;quot;:109.25,&amp;quot;width&amp;quot;:860.45}"/>
</p:tagLst>
</file>

<file path=ppt/tags/tag126.xml><?xml version="1.0" encoding="utf-8"?>
<p:tagLst xmlns:p="http://schemas.openxmlformats.org/presentationml/2006/main">
  <p:tag name="TEXTZ '" val="-2.147484E+09"/>
  <p:tag name="SHADOWSIZE" val="100"/>
  <p:tag name="KSO_WM_DIAGRAM_VIRTUALLY_FRAME" val="{&amp;quot;height&amp;quot;:403.1,&amp;quot;left&amp;quot;:55.7,&amp;quot;top&amp;quot;:109.25,&amp;quot;width&amp;quot;:860.45}"/>
</p:tagLst>
</file>

<file path=ppt/tags/tag127.xml><?xml version="1.0" encoding="utf-8"?>
<p:tagLst xmlns:p="http://schemas.openxmlformats.org/presentationml/2006/main">
  <p:tag name="KSO_WM_DIAGRAM_VIRTUALLY_FRAME" val="{&amp;quot;height&amp;quot;:403.1,&amp;quot;left&amp;quot;:55.7,&amp;quot;top&amp;quot;:109.25,&amp;quot;width&amp;quot;:860.45}"/>
</p:tagLst>
</file>

<file path=ppt/tags/tag128.xml><?xml version="1.0" encoding="utf-8"?>
<p:tagLst xmlns:p="http://schemas.openxmlformats.org/presentationml/2006/main">
  <p:tag name="KSO_WM_DIAGRAM_VIRTUALLY_FRAME" val="{&amp;quot;height&amp;quot;:403.1,&amp;quot;left&amp;quot;:55.7,&amp;quot;top&amp;quot;:109.25,&amp;quot;width&amp;quot;:860.45}"/>
</p:tagLst>
</file>

<file path=ppt/tags/tag129.xml><?xml version="1.0" encoding="utf-8"?>
<p:tagLst xmlns:p="http://schemas.openxmlformats.org/presentationml/2006/main">
  <p:tag name="KSO_WM_DIAGRAM_VIRTUALLY_FRAME" val="{&amp;quot;height&amp;quot;:403.1,&amp;quot;left&amp;quot;:55.7,&amp;quot;top&amp;quot;:109.25,&amp;quot;width&amp;quot;:860.45}"/>
</p:tagLst>
</file>

<file path=ppt/tags/tag130.xml><?xml version="1.0" encoding="utf-8"?>
<p:tagLst xmlns:p="http://schemas.openxmlformats.org/presentationml/2006/main">
  <p:tag name="KSO_WM_DIAGRAM_VIRTUALLY_FRAME" val="{&amp;quot;height&amp;quot;:403.1,&amp;quot;left&amp;quot;:55.7,&amp;quot;top&amp;quot;:109.25,&amp;quot;width&amp;quot;:860.45}"/>
</p:tagLst>
</file>

<file path=ppt/tags/tag131.xml><?xml version="1.0" encoding="utf-8"?>
<p:tagLst xmlns:p="http://schemas.openxmlformats.org/presentationml/2006/main">
  <p:tag name="KSO_WM_DIAGRAM_VIRTUALLY_FRAME" val="{&amp;quot;height&amp;quot;:403.1,&amp;quot;left&amp;quot;:55.7,&amp;quot;top&amp;quot;:109.25,&amp;quot;width&amp;quot;:860.45}"/>
</p:tagLst>
</file>

<file path=ppt/tags/tag132.xml><?xml version="1.0" encoding="utf-8"?>
<p:tagLst xmlns:p="http://schemas.openxmlformats.org/presentationml/2006/main">
  <p:tag name="KSO_WM_DIAGRAM_VIRTUALLY_FRAME" val="{&amp;quot;height&amp;quot;:403.1,&amp;quot;left&amp;quot;:55.7,&amp;quot;top&amp;quot;:109.25,&amp;quot;width&amp;quot;:860.45}"/>
</p:tagLst>
</file>

<file path=ppt/tags/tag133.xml><?xml version="1.0" encoding="utf-8"?>
<p:tagLst xmlns:p="http://schemas.openxmlformats.org/presentationml/2006/main">
  <p:tag name="KSO_WM_DIAGRAM_VIRTUALLY_FRAME" val="{&amp;quot;height&amp;quot;:336.9,&amp;quot;left&amp;quot;:59.1,&amp;quot;top&amp;quot;:200.4,&amp;quot;width&amp;quot;:851.65}"/>
</p:tagLst>
</file>

<file path=ppt/tags/tag134.xml><?xml version="1.0" encoding="utf-8"?>
<p:tagLst xmlns:p="http://schemas.openxmlformats.org/presentationml/2006/main">
  <p:tag name="KSO_WM_DIAGRAM_VIRTUALLY_FRAME" val="{&amp;quot;height&amp;quot;:403.1,&amp;quot;left&amp;quot;:55.7,&amp;quot;top&amp;quot;:109.25,&amp;quot;width&amp;quot;:860.45}"/>
</p:tagLst>
</file>

<file path=ppt/tags/tag135.xml><?xml version="1.0" encoding="utf-8"?>
<p:tagLst xmlns:p="http://schemas.openxmlformats.org/presentationml/2006/main">
  <p:tag name="KSO_WM_DIAGRAM_VIRTUALLY_FRAME" val="{&amp;quot;height&amp;quot;:403.1,&amp;quot;left&amp;quot;:55.7,&amp;quot;top&amp;quot;:109.25,&amp;quot;width&amp;quot;:860.45}"/>
</p:tagLst>
</file>

<file path=ppt/tags/tag136.xml><?xml version="1.0" encoding="utf-8"?>
<p:tagLst xmlns:p="http://schemas.openxmlformats.org/presentationml/2006/main">
  <p:tag name="KSO_WM_DIAGRAM_VIRTUALLY_FRAME" val="{&amp;quot;height&amp;quot;:403.1,&amp;quot;left&amp;quot;:55.7,&amp;quot;top&amp;quot;:109.25,&amp;quot;width&amp;quot;:860.45}"/>
</p:tagLst>
</file>

<file path=ppt/tags/tag137.xml><?xml version="1.0" encoding="utf-8"?>
<p:tagLst xmlns:p="http://schemas.openxmlformats.org/presentationml/2006/main">
  <p:tag name="KSO_WM_DIAGRAM_VIRTUALLY_FRAME" val="{&amp;quot;height&amp;quot;:403.1,&amp;quot;left&amp;quot;:55.7,&amp;quot;top&amp;quot;:109.25,&amp;quot;width&amp;quot;:860.45}"/>
</p:tagLst>
</file>

<file path=ppt/tags/tag138.xml><?xml version="1.0" encoding="utf-8"?>
<p:tagLst xmlns:p="http://schemas.openxmlformats.org/presentationml/2006/main">
  <p:tag name="KSO_WM_DIAGRAM_VIRTUALLY_FRAME" val="{&amp;quot;height&amp;quot;:403.1,&amp;quot;left&amp;quot;:55.7,&amp;quot;top&amp;quot;:109.25,&amp;quot;width&amp;quot;:860.45}"/>
</p:tagLst>
</file>

<file path=ppt/tags/tag139.xml><?xml version="1.0" encoding="utf-8"?>
<p:tagLst xmlns:p="http://schemas.openxmlformats.org/presentationml/2006/main">
  <p:tag name="KSO_WM_DIAGRAM_VIRTUALLY_FRAME" val="{&amp;quot;height&amp;quot;:403.1,&amp;quot;left&amp;quot;:55.7,&amp;quot;top&amp;quot;:109.25,&amp;quot;width&amp;quot;:860.45}"/>
</p:tagLst>
</file>

<file path=ppt/tags/tag140.xml><?xml version="1.0" encoding="utf-8"?>
<p:tagLst xmlns:p="http://schemas.openxmlformats.org/presentationml/2006/main">
  <p:tag name="KSO_WM_DIAGRAM_VIRTUALLY_FRAME" val="{&amp;quot;height&amp;quot;:403.1,&amp;quot;left&amp;quot;:55.7,&amp;quot;top&amp;quot;:109.25,&amp;quot;width&amp;quot;:860.45}"/>
</p:tagLst>
</file>

<file path=ppt/tags/tag141.xml><?xml version="1.0" encoding="utf-8"?>
<p:tagLst xmlns:p="http://schemas.openxmlformats.org/presentationml/2006/main">
  <p:tag name="KSO_WM_DIAGRAM_VIRTUALLY_FRAME" val="{&amp;quot;height&amp;quot;:403.1,&amp;quot;left&amp;quot;:55.7,&amp;quot;top&amp;quot;:109.25,&amp;quot;width&amp;quot;:860.45}"/>
</p:tagLst>
</file>

<file path=ppt/tags/tag142.xml><?xml version="1.0" encoding="utf-8"?>
<p:tagLst xmlns:p="http://schemas.openxmlformats.org/presentationml/2006/main">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DIAGRAM_VIRTUALLY_FRAME" val="{&amp;quot;height&amp;quot;:403.1,&amp;quot;left&amp;quot;:55.7,&amp;quot;top&amp;quot;:109.25,&amp;quot;width&amp;quot;:860.45}"/>
</p:tagLst>
</file>

<file path=ppt/tags/tag143.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 name="KSO_WM_DIAGRAM_VIRTUALLY_FRAME" val="{&amp;quot;height&amp;quot;:403.1,&amp;quot;left&amp;quot;:55.7,&amp;quot;top&amp;quot;:109.25,&amp;quot;width&amp;quot;:860.45}"/>
</p:tagLst>
</file>

<file path=ppt/tags/tag144.xml><?xml version="1.0" encoding="utf-8"?>
<p:tagLst xmlns:p="http://schemas.openxmlformats.org/presentationml/2006/main">
  <p:tag name="KSO_WM_DIAGRAM_VIRTUALLY_FRAME" val="{&amp;quot;height&amp;quot;:403.1,&amp;quot;left&amp;quot;:55.7,&amp;quot;top&amp;quot;:109.25,&amp;quot;width&amp;quot;:860.45}"/>
</p:tagLst>
</file>

<file path=ppt/tags/tag145.xml><?xml version="1.0" encoding="utf-8"?>
<p:tagLst xmlns:p="http://schemas.openxmlformats.org/presentationml/2006/main">
  <p:tag name="KSO_WM_DIAGRAM_VIRTUALLY_FRAME" val="{&amp;quot;height&amp;quot;:403.1,&amp;quot;left&amp;quot;:55.7,&amp;quot;top&amp;quot;:109.25,&amp;quot;width&amp;quot;:860.45}"/>
</p:tagLst>
</file>

<file path=ppt/tags/tag146.xml><?xml version="1.0" encoding="utf-8"?>
<p:tagLst xmlns:p="http://schemas.openxmlformats.org/presentationml/2006/main">
  <p:tag name="KSO_WM_DIAGRAM_VIRTUALLY_FRAME" val="{&amp;quot;height&amp;quot;:403.1,&amp;quot;left&amp;quot;:55.7,&amp;quot;top&amp;quot;:109.25,&amp;quot;width&amp;quot;:860.45}"/>
</p:tagLst>
</file>

<file path=ppt/tags/tag147.xml><?xml version="1.0" encoding="utf-8"?>
<p:tagLst xmlns:p="http://schemas.openxmlformats.org/presentationml/2006/main">
  <p:tag name="KSO_WM_DIAGRAM_VIRTUALLY_FRAME" val="{&amp;quot;height&amp;quot;:403.1,&amp;quot;left&amp;quot;:55.7,&amp;quot;top&amp;quot;:109.25,&amp;quot;width&amp;quot;:860.45}"/>
</p:tagLst>
</file>

<file path=ppt/tags/tag148.xml><?xml version="1.0" encoding="utf-8"?>
<p:tagLst xmlns:p="http://schemas.openxmlformats.org/presentationml/2006/main">
  <p:tag name="KSO_WM_DIAGRAM_VIRTUALLY_FRAME" val="{&amp;quot;height&amp;quot;:403.1,&amp;quot;left&amp;quot;:55.7,&amp;quot;top&amp;quot;:109.25,&amp;quot;width&amp;quot;:860.45}"/>
</p:tagLst>
</file>

<file path=ppt/tags/tag149.xml><?xml version="1.0" encoding="utf-8"?>
<p:tagLst xmlns:p="http://schemas.openxmlformats.org/presentationml/2006/main">
  <p:tag name="KSO_WM_DIAGRAM_VIRTUALLY_FRAME" val="{&amp;quot;height&amp;quot;:403.1,&amp;quot;left&amp;quot;:55.7,&amp;quot;top&amp;quot;:109.25,&amp;quot;width&amp;quot;:860.45}"/>
</p:tagLst>
</file>

<file path=ppt/tags/tag150.xml><?xml version="1.0" encoding="utf-8"?>
<p:tagLst xmlns:p="http://schemas.openxmlformats.org/presentationml/2006/main">
  <p:tag name="KSO_WM_DIAGRAM_VIRTUALLY_FRAME" val="{&amp;quot;height&amp;quot;:403.1,&amp;quot;left&amp;quot;:55.7,&amp;quot;top&amp;quot;:109.25,&amp;quot;width&amp;quot;:860.45}"/>
</p:tagLst>
</file>

<file path=ppt/tags/tag151.xml><?xml version="1.0" encoding="utf-8"?>
<p:tagLst xmlns:p="http://schemas.openxmlformats.org/presentationml/2006/main">
  <p:tag name="KSO_WM_DIAGRAM_VIRTUALLY_FRAME" val="{&amp;quot;height&amp;quot;:403.1,&amp;quot;left&amp;quot;:55.7,&amp;quot;top&amp;quot;:109.25,&amp;quot;width&amp;quot;:860.45}"/>
</p:tagLst>
</file>

<file path=ppt/tags/tag152.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53.xml><?xml version="1.0" encoding="utf-8"?>
<p:tagLst xmlns:p="http://schemas.openxmlformats.org/presentationml/2006/main">
  <p:tag name="KSO_WM_DIAGRAM_VIRTUALLY_FRAME" val="{&amp;quot;height&amp;quot;:403.1,&amp;quot;left&amp;quot;:55.7,&amp;quot;top&amp;quot;:109.25,&amp;quot;width&amp;quot;:860.45}"/>
</p:tagLst>
</file>

<file path=ppt/tags/tag154.xml><?xml version="1.0" encoding="utf-8"?>
<p:tagLst xmlns:p="http://schemas.openxmlformats.org/presentationml/2006/main">
  <p:tag name="KSO_WM_DIAGRAM_VIRTUALLY_FRAME" val="{&amp;quot;height&amp;quot;:403.1,&amp;quot;left&amp;quot;:55.7,&amp;quot;top&amp;quot;:109.25,&amp;quot;width&amp;quot;:860.45}"/>
</p:tagLst>
</file>

<file path=ppt/tags/tag155.xml><?xml version="1.0" encoding="utf-8"?>
<p:tagLst xmlns:p="http://schemas.openxmlformats.org/presentationml/2006/main">
  <p:tag name="KSO_WM_DIAGRAM_VIRTUALLY_FRAME" val="{&amp;quot;height&amp;quot;:403.1,&amp;quot;left&amp;quot;:55.7,&amp;quot;top&amp;quot;:109.25,&amp;quot;width&amp;quot;:860.45}"/>
</p:tagLst>
</file>

<file path=ppt/tags/tag156.xml><?xml version="1.0" encoding="utf-8"?>
<p:tagLst xmlns:p="http://schemas.openxmlformats.org/presentationml/2006/main">
  <p:tag name="KSO_WM_DIAGRAM_VIRTUALLY_FRAME" val="{&amp;quot;height&amp;quot;:403.1,&amp;quot;left&amp;quot;:55.7,&amp;quot;top&amp;quot;:109.25,&amp;quot;width&amp;quot;:860.45}"/>
</p:tagLst>
</file>

<file path=ppt/tags/tag157.xml><?xml version="1.0" encoding="utf-8"?>
<p:tagLst xmlns:p="http://schemas.openxmlformats.org/presentationml/2006/main">
  <p:tag name="KSO_WM_DIAGRAM_VIRTUALLY_FRAME" val="{&amp;quot;height&amp;quot;:403.1,&amp;quot;left&amp;quot;:55.7,&amp;quot;top&amp;quot;:109.25,&amp;quot;width&amp;quot;:860.45}"/>
</p:tagLst>
</file>

<file path=ppt/tags/tag158.xml><?xml version="1.0" encoding="utf-8"?>
<p:tagLst xmlns:p="http://schemas.openxmlformats.org/presentationml/2006/main">
  <p:tag name="KSO_WM_DIAGRAM_VIRTUALLY_FRAME" val="{&amp;quot;height&amp;quot;:403.1,&amp;quot;left&amp;quot;:55.7,&amp;quot;top&amp;quot;:109.25,&amp;quot;width&amp;quot;:860.45}"/>
</p:tagLst>
</file>

<file path=ppt/tags/tag159.xml><?xml version="1.0" encoding="utf-8"?>
<p:tagLst xmlns:p="http://schemas.openxmlformats.org/presentationml/2006/main">
  <p:tag name="KSO_WM_DIAGRAM_VIRTUALLY_FRAME" val="{&amp;quot;height&amp;quot;:403.1,&amp;quot;left&amp;quot;:55.7,&amp;quot;top&amp;quot;:109.25,&amp;quot;width&amp;quot;:860.45}"/>
</p:tagLst>
</file>

<file path=ppt/tags/tag160.xml><?xml version="1.0" encoding="utf-8"?>
<p:tagLst xmlns:p="http://schemas.openxmlformats.org/presentationml/2006/main">
  <p:tag name="KSO_WM_DIAGRAM_VIRTUALLY_FRAME" val="{&amp;quot;height&amp;quot;:403.1,&amp;quot;left&amp;quot;:55.7,&amp;quot;top&amp;quot;:109.25,&amp;quot;width&amp;quot;:860.45}"/>
</p:tagLst>
</file>

<file path=ppt/tags/tag161.xml><?xml version="1.0" encoding="utf-8"?>
<p:tagLst xmlns:p="http://schemas.openxmlformats.org/presentationml/2006/main">
  <p:tag name="KSO_WM_DIAGRAM_VIRTUALLY_FRAME" val="{&amp;quot;height&amp;quot;:403.1,&amp;quot;left&amp;quot;:55.7,&amp;quot;top&amp;quot;:109.25,&amp;quot;width&amp;quot;:860.45}"/>
</p:tagLst>
</file>

<file path=ppt/tags/tag162.xml><?xml version="1.0" encoding="utf-8"?>
<p:tagLst xmlns:p="http://schemas.openxmlformats.org/presentationml/2006/main">
  <p:tag name="KSO_WM_DIAGRAM_VIRTUALLY_FRAME" val="{&amp;quot;height&amp;quot;:403.1,&amp;quot;left&amp;quot;:55.7,&amp;quot;top&amp;quot;:109.25,&amp;quot;width&amp;quot;:860.45}"/>
</p:tagLst>
</file>

<file path=ppt/tags/tag163.xml><?xml version="1.0" encoding="utf-8"?>
<p:tagLst xmlns:p="http://schemas.openxmlformats.org/presentationml/2006/main">
  <p:tag name="KSO_WM_DIAGRAM_VIRTUALLY_FRAME" val="{&amp;quot;height&amp;quot;:403.1,&amp;quot;left&amp;quot;:55.7,&amp;quot;top&amp;quot;:109.25,&amp;quot;width&amp;quot;:860.45}"/>
</p:tagLst>
</file>

<file path=ppt/tags/tag164.xml><?xml version="1.0" encoding="utf-8"?>
<p:tagLst xmlns:p="http://schemas.openxmlformats.org/presentationml/2006/main">
  <p:tag name="KSO_WM_DIAGRAM_VIRTUALLY_FRAME" val="{&amp;quot;height&amp;quot;:403.1,&amp;quot;left&amp;quot;:55.7,&amp;quot;top&amp;quot;:109.25,&amp;quot;width&amp;quot;:860.45}"/>
</p:tagLst>
</file>

<file path=ppt/tags/tag165.xml><?xml version="1.0" encoding="utf-8"?>
<p:tagLst xmlns:p="http://schemas.openxmlformats.org/presentationml/2006/main">
  <p:tag name="KSO_WM_DIAGRAM_VIRTUALLY_FRAME" val="{&amp;quot;height&amp;quot;:403.1,&amp;quot;left&amp;quot;:55.7,&amp;quot;top&amp;quot;:109.25,&amp;quot;width&amp;quot;:860.45}"/>
</p:tagLst>
</file>

<file path=ppt/tags/tag166.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67.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68.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69.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70.xml><?xml version="1.0" encoding="utf-8"?>
<p:tagLst xmlns:p="http://schemas.openxmlformats.org/presentationml/2006/main">
  <p:tag name="KSO_WM_DIAGRAM_VIRTUALLY_FRAME" val="{&amp;quot;height&amp;quot;:403.1,&amp;quot;left&amp;quot;:55.7,&amp;quot;top&amp;quot;:109.25,&amp;quot;width&amp;quot;:860.45}"/>
</p:tagLst>
</file>

<file path=ppt/tags/tag171.xml><?xml version="1.0" encoding="utf-8"?>
<p:tagLst xmlns:p="http://schemas.openxmlformats.org/presentationml/2006/main">
  <p:tag name="KSO_WM_DIAGRAM_VIRTUALLY_FRAME" val="{&amp;quot;height&amp;quot;:403.1,&amp;quot;left&amp;quot;:55.7,&amp;quot;top&amp;quot;:109.25,&amp;quot;width&amp;quot;:860.45}"/>
</p:tagLst>
</file>

<file path=ppt/tags/tag172.xml><?xml version="1.0" encoding="utf-8"?>
<p:tagLst xmlns:p="http://schemas.openxmlformats.org/presentationml/2006/main">
  <p:tag name="KSO_WM_DIAGRAM_VIRTUALLY_FRAME" val="{&amp;quot;height&amp;quot;:403.1,&amp;quot;left&amp;quot;:55.7,&amp;quot;top&amp;quot;:109.25,&amp;quot;width&amp;quot;:860.45}"/>
</p:tagLst>
</file>

<file path=ppt/tags/tag173.xml><?xml version="1.0" encoding="utf-8"?>
<p:tagLst xmlns:p="http://schemas.openxmlformats.org/presentationml/2006/main">
  <p:tag name="KSO_WM_DIAGRAM_VIRTUALLY_FRAME" val="{&amp;quot;height&amp;quot;:403.1,&amp;quot;left&amp;quot;:55.7,&amp;quot;top&amp;quot;:109.25,&amp;quot;width&amp;quot;:860.45}"/>
</p:tagLst>
</file>

<file path=ppt/tags/tag174.xml><?xml version="1.0" encoding="utf-8"?>
<p:tagLst xmlns:p="http://schemas.openxmlformats.org/presentationml/2006/main">
  <p:tag name="KSO_WM_DIAGRAM_VIRTUALLY_FRAME" val="{&amp;quot;height&amp;quot;:403.1,&amp;quot;left&amp;quot;:55.7,&amp;quot;top&amp;quot;:109.25,&amp;quot;width&amp;quot;:860.45}"/>
</p:tagLst>
</file>

<file path=ppt/tags/tag175.xml><?xml version="1.0" encoding="utf-8"?>
<p:tagLst xmlns:p="http://schemas.openxmlformats.org/presentationml/2006/main">
  <p:tag name="KSO_WM_DIAGRAM_VIRTUALLY_FRAME" val="{&amp;quot;height&amp;quot;:403.1,&amp;quot;left&amp;quot;:55.7,&amp;quot;top&amp;quot;:109.25,&amp;quot;width&amp;quot;:860.45}"/>
</p:tagLst>
</file>

<file path=ppt/tags/tag176.xml><?xml version="1.0" encoding="utf-8"?>
<p:tagLst xmlns:p="http://schemas.openxmlformats.org/presentationml/2006/main">
  <p:tag name="KSO_WM_DIAGRAM_VIRTUALLY_FRAME" val="{&amp;quot;height&amp;quot;:403.1,&amp;quot;left&amp;quot;:55.7,&amp;quot;top&amp;quot;:109.25,&amp;quot;width&amp;quot;:860.45}"/>
</p:tagLst>
</file>

<file path=ppt/tags/tag177.xml><?xml version="1.0" encoding="utf-8"?>
<p:tagLst xmlns:p="http://schemas.openxmlformats.org/presentationml/2006/main">
  <p:tag name="KSO_WM_DIAGRAM_VIRTUALLY_FRAME" val="{&amp;quot;height&amp;quot;:403.1,&amp;quot;left&amp;quot;:55.7,&amp;quot;top&amp;quot;:109.25,&amp;quot;width&amp;quot;:860.45}"/>
</p:tagLst>
</file>

<file path=ppt/tags/tag178.xml><?xml version="1.0" encoding="utf-8"?>
<p:tagLst xmlns:p="http://schemas.openxmlformats.org/presentationml/2006/main">
  <p:tag name="KSO_WM_DIAGRAM_VIRTUALLY_FRAME" val="{&amp;quot;height&amp;quot;:403.1,&amp;quot;left&amp;quot;:55.7,&amp;quot;top&amp;quot;:109.25,&amp;quot;width&amp;quot;:860.45}"/>
</p:tagLst>
</file>

<file path=ppt/tags/tag179.xml><?xml version="1.0" encoding="utf-8"?>
<p:tagLst xmlns:p="http://schemas.openxmlformats.org/presentationml/2006/main">
  <p:tag name="KSO_WM_DIAGRAM_VIRTUALLY_FRAME" val="{&amp;quot;height&amp;quot;:403.1,&amp;quot;left&amp;quot;:55.7,&amp;quot;top&amp;quot;:109.25,&amp;quot;width&amp;quot;:860.45}"/>
</p:tagLst>
</file>

<file path=ppt/tags/tag180.xml><?xml version="1.0" encoding="utf-8"?>
<p:tagLst xmlns:p="http://schemas.openxmlformats.org/presentationml/2006/main">
  <p:tag name="KSO_WM_DIAGRAM_VIRTUALLY_FRAME" val="{&amp;quot;height&amp;quot;:403.1,&amp;quot;left&amp;quot;:55.7,&amp;quot;top&amp;quot;:109.25,&amp;quot;width&amp;quot;:860.45}"/>
</p:tagLst>
</file>

<file path=ppt/tags/tag181.xml><?xml version="1.0" encoding="utf-8"?>
<p:tagLst xmlns:p="http://schemas.openxmlformats.org/presentationml/2006/main">
  <p:tag name="KSO_WM_DIAGRAM_VIRTUALLY_FRAME" val="{&amp;quot;height&amp;quot;:403.1,&amp;quot;left&amp;quot;:55.7,&amp;quot;top&amp;quot;:109.25,&amp;quot;width&amp;quot;:860.45}"/>
</p:tagLst>
</file>

<file path=ppt/tags/tag182.xml><?xml version="1.0" encoding="utf-8"?>
<p:tagLst xmlns:p="http://schemas.openxmlformats.org/presentationml/2006/main">
  <p:tag name="KSO_WM_DIAGRAM_VIRTUALLY_FRAME" val="{&amp;quot;height&amp;quot;:403.1,&amp;quot;left&amp;quot;:55.7,&amp;quot;top&amp;quot;:109.25,&amp;quot;width&amp;quot;:860.45}"/>
</p:tagLst>
</file>

<file path=ppt/tags/tag183.xml><?xml version="1.0" encoding="utf-8"?>
<p:tagLst xmlns:p="http://schemas.openxmlformats.org/presentationml/2006/main">
  <p:tag name="KSO_WM_DIAGRAM_VIRTUALLY_FRAME" val="{&amp;quot;height&amp;quot;:403.1,&amp;quot;left&amp;quot;:55.7,&amp;quot;top&amp;quot;:109.25,&amp;quot;width&amp;quot;:860.45}"/>
</p:tagLst>
</file>

<file path=ppt/tags/tag184.xml><?xml version="1.0" encoding="utf-8"?>
<p:tagLst xmlns:p="http://schemas.openxmlformats.org/presentationml/2006/main">
  <p:tag name="KSO_WM_DIAGRAM_VIRTUALLY_FRAME" val="{&amp;quot;height&amp;quot;:403.1,&amp;quot;left&amp;quot;:55.7,&amp;quot;top&amp;quot;:109.25,&amp;quot;width&amp;quot;:860.45}"/>
</p:tagLst>
</file>

<file path=ppt/tags/tag185.xml><?xml version="1.0" encoding="utf-8"?>
<p:tagLst xmlns:p="http://schemas.openxmlformats.org/presentationml/2006/main">
  <p:tag name="KSO_WM_DIAGRAM_VIRTUALLY_FRAME" val="{&amp;quot;height&amp;quot;:403.1,&amp;quot;left&amp;quot;:55.7,&amp;quot;top&amp;quot;:109.25,&amp;quot;width&amp;quot;:860.45}"/>
</p:tagLst>
</file>

<file path=ppt/tags/tag186.xml><?xml version="1.0" encoding="utf-8"?>
<p:tagLst xmlns:p="http://schemas.openxmlformats.org/presentationml/2006/main">
  <p:tag name="KSO_WM_DIAGRAM_VIRTUALLY_FRAME" val="{&amp;quot;height&amp;quot;:403.1,&amp;quot;left&amp;quot;:55.7,&amp;quot;top&amp;quot;:109.25,&amp;quot;width&amp;quot;:860.45}"/>
</p:tagLst>
</file>

<file path=ppt/tags/tag187.xml><?xml version="1.0" encoding="utf-8"?>
<p:tagLst xmlns:p="http://schemas.openxmlformats.org/presentationml/2006/main">
  <p:tag name="KSO_WM_DIAGRAM_VIRTUALLY_FRAME" val="{&amp;quot;height&amp;quot;:403.1,&amp;quot;left&amp;quot;:55.7,&amp;quot;top&amp;quot;:109.25,&amp;quot;width&amp;quot;:860.45}"/>
</p:tagLst>
</file>

<file path=ppt/tags/tag188.xml><?xml version="1.0" encoding="utf-8"?>
<p:tagLst xmlns:p="http://schemas.openxmlformats.org/presentationml/2006/main">
  <p:tag name="KSO_WM_DIAGRAM_VIRTUALLY_FRAME" val="{&amp;quot;height&amp;quot;:403.1,&amp;quot;left&amp;quot;:55.7,&amp;quot;top&amp;quot;:109.25,&amp;quot;width&amp;quot;:860.45}"/>
</p:tagLst>
</file>

<file path=ppt/tags/tag189.xml><?xml version="1.0" encoding="utf-8"?>
<p:tagLst xmlns:p="http://schemas.openxmlformats.org/presentationml/2006/main">
  <p:tag name="KSO_WM_DIAGRAM_VIRTUALLY_FRAME" val="{&amp;quot;height&amp;quot;:403.1,&amp;quot;left&amp;quot;:55.7,&amp;quot;top&amp;quot;:109.25,&amp;quot;width&amp;quot;:860.45}"/>
</p:tagLst>
</file>

<file path=ppt/tags/tag190.xml><?xml version="1.0" encoding="utf-8"?>
<p:tagLst xmlns:p="http://schemas.openxmlformats.org/presentationml/2006/main">
  <p:tag name="KSO_WM_DIAGRAM_VIRTUALLY_FRAME" val="{&amp;quot;height&amp;quot;:403.1,&amp;quot;left&amp;quot;:55.7,&amp;quot;top&amp;quot;:109.25,&amp;quot;width&amp;quot;:860.45}"/>
</p:tagLst>
</file>

<file path=ppt/tags/tag191.xml><?xml version="1.0" encoding="utf-8"?>
<p:tagLst xmlns:p="http://schemas.openxmlformats.org/presentationml/2006/main">
  <p:tag name="KSO_WM_DIAGRAM_VIRTUALLY_FRAME" val="{&amp;quot;height&amp;quot;:119.55858267716535,&amp;quot;left&amp;quot;:56.673779527559056,&amp;quot;top&amp;quot;:327.6747244094488,&amp;quot;width&amp;quot;:876.6085826771654}"/>
</p:tagLst>
</file>

<file path=ppt/tags/tag192.xml><?xml version="1.0" encoding="utf-8"?>
<p:tagLst xmlns:p="http://schemas.openxmlformats.org/presentationml/2006/main">
  <p:tag name="KSO_WM_DIAGRAM_VIRTUALLY_FRAME" val="{&amp;quot;height&amp;quot;:119.55858267716535,&amp;quot;left&amp;quot;:56.673779527559056,&amp;quot;top&amp;quot;:327.6747244094488,&amp;quot;width&amp;quot;:876.6085826771654}"/>
</p:tagLst>
</file>

<file path=ppt/tags/tag193.xml><?xml version="1.0" encoding="utf-8"?>
<p:tagLst xmlns:p="http://schemas.openxmlformats.org/presentationml/2006/main">
  <p:tag name="KSO_WM_DIAGRAM_VIRTUALLY_FRAME" val="{&amp;quot;height&amp;quot;:119.55858267716535,&amp;quot;left&amp;quot;:56.673779527559056,&amp;quot;top&amp;quot;:327.6747244094488,&amp;quot;width&amp;quot;:876.6085826771654}"/>
</p:tagLst>
</file>

<file path=ppt/tags/tag194.xml><?xml version="1.0" encoding="utf-8"?>
<p:tagLst xmlns:p="http://schemas.openxmlformats.org/presentationml/2006/main">
  <p:tag name="KSO_WM_DIAGRAM_VIRTUALLY_FRAME" val="{&amp;quot;height&amp;quot;:119.55858267716535,&amp;quot;left&amp;quot;:56.673779527559056,&amp;quot;top&amp;quot;:327.6747244094488,&amp;quot;width&amp;quot;:876.6085826771654}"/>
</p:tagLst>
</file>

<file path=ppt/tags/tag195.xml><?xml version="1.0" encoding="utf-8"?>
<p:tagLst xmlns:p="http://schemas.openxmlformats.org/presentationml/2006/main">
  <p:tag name="KSO_WM_DIAGRAM_VIRTUALLY_FRAME" val="{&amp;quot;height&amp;quot;:119.55858267716535,&amp;quot;left&amp;quot;:56.673779527559056,&amp;quot;top&amp;quot;:327.6747244094488,&amp;quot;width&amp;quot;:876.6085826771654}"/>
</p:tagLst>
</file>

<file path=ppt/tags/tag196.xml><?xml version="1.0" encoding="utf-8"?>
<p:tagLst xmlns:p="http://schemas.openxmlformats.org/presentationml/2006/main">
  <p:tag name="SHADOWSIZE" val="108"/>
  <p:tag name="TEXTSHADOWSIZE" val="100"/>
</p:tagLst>
</file>

<file path=ppt/tags/tag197.xml><?xml version="1.0" encoding="utf-8"?>
<p:tagLst xmlns:p="http://schemas.openxmlformats.org/presentationml/2006/main">
  <p:tag name="SHADOWSIZE" val="108"/>
  <p:tag name="TEXTSHADOWSIZE" val="100"/>
</p:tagLst>
</file>

<file path=ppt/tags/tag198.xml><?xml version="1.0" encoding="utf-8"?>
<p:tagLst xmlns:p="http://schemas.openxmlformats.org/presentationml/2006/main">
  <p:tag name="SHADOWSIZE" val="108"/>
  <p:tag name="TEXTSHADOWSIZE" val="100"/>
</p:tagLst>
</file>

<file path=ppt/tags/tag199.xml><?xml version="1.0" encoding="utf-8"?>
<p:tagLst xmlns:p="http://schemas.openxmlformats.org/presentationml/2006/main">
  <p:tag name="SHADOWSIZE" val="108"/>
  <p:tag name="TEXTSHADOWSIZE" val="100"/>
</p:tagLst>
</file>

<file path=ppt/tags/tag200.xml><?xml version="1.0" encoding="utf-8"?>
<p:tagLst xmlns:p="http://schemas.openxmlformats.org/presentationml/2006/main">
  <p:tag name="SHADOWSIZE" val="108"/>
  <p:tag name="TEXTSHADOWSIZE" val="100"/>
</p:tagLst>
</file>

<file path=ppt/tags/tag201.xml><?xml version="1.0" encoding="utf-8"?>
<p:tagLst xmlns:p="http://schemas.openxmlformats.org/presentationml/2006/main">
  <p:tag name="SHADOWSIZE" val="108"/>
  <p:tag name="TEXTSHADOWSIZE" val="100"/>
</p:tagLst>
</file>

<file path=ppt/tags/tag202.xml><?xml version="1.0" encoding="utf-8"?>
<p:tagLst xmlns:p="http://schemas.openxmlformats.org/presentationml/2006/main">
  <p:tag name="KSO_WM_BEAUTIFY_FLAG" val=""/>
</p:tagLst>
</file>

<file path=ppt/tags/tag203.xml><?xml version="1.0" encoding="utf-8"?>
<p:tagLst xmlns:p="http://schemas.openxmlformats.org/presentationml/2006/main">
  <p:tag name="KSO_WM_BEAUTIFY_FLAG" val=""/>
</p:tagLst>
</file>

<file path=ppt/tags/tag204.xml><?xml version="1.0" encoding="utf-8"?>
<p:tagLst xmlns:p="http://schemas.openxmlformats.org/presentationml/2006/main">
  <p:tag name="KSO_WM_BEAUTIFY_FLAG" val=""/>
</p:tagLst>
</file>

<file path=ppt/tags/tag205.xml><?xml version="1.0" encoding="utf-8"?>
<p:tagLst xmlns:p="http://schemas.openxmlformats.org/presentationml/2006/main">
  <p:tag name="KSO_WM_BEAUTIFY_FLAG" val=""/>
</p:tagLst>
</file>

<file path=ppt/tags/tag206.xml><?xml version="1.0" encoding="utf-8"?>
<p:tagLst xmlns:p="http://schemas.openxmlformats.org/presentationml/2006/main">
  <p:tag name="KSO_WM_BEAUTIFY_FLAG" val=""/>
</p:tagLst>
</file>

<file path=ppt/tags/tag207.xml><?xml version="1.0" encoding="utf-8"?>
<p:tagLst xmlns:p="http://schemas.openxmlformats.org/presentationml/2006/main">
  <p:tag name="KSO_WM_BEAUTIFY_FLAG" val=""/>
</p:tagLst>
</file>

<file path=ppt/tags/tag208.xml><?xml version="1.0" encoding="utf-8"?>
<p:tagLst xmlns:p="http://schemas.openxmlformats.org/presentationml/2006/main">
  <p:tag name="KSO_WM_BEAUTIFY_FLAG" val=""/>
</p:tagLst>
</file>

<file path=ppt/tags/tag209.xml><?xml version="1.0" encoding="utf-8"?>
<p:tagLst xmlns:p="http://schemas.openxmlformats.org/presentationml/2006/main">
  <p:tag name="KSO_WM_BEAUTIFY_FLAG" val=""/>
</p:tagLst>
</file>

<file path=ppt/tags/tag210.xml><?xml version="1.0" encoding="utf-8"?>
<p:tagLst xmlns:p="http://schemas.openxmlformats.org/presentationml/2006/main">
  <p:tag name="KSO_WM_BEAUTIFY_FLAG" val=""/>
</p:tagLst>
</file>

<file path=ppt/tags/tag211.xml><?xml version="1.0" encoding="utf-8"?>
<p:tagLst xmlns:p="http://schemas.openxmlformats.org/presentationml/2006/main">
  <p:tag name="KSO_WM_BEAUTIFY_FLAG" val=""/>
</p:tagLst>
</file>

<file path=ppt/tags/tag212.xml><?xml version="1.0" encoding="utf-8"?>
<p:tagLst xmlns:p="http://schemas.openxmlformats.org/presentationml/2006/main">
  <p:tag name="KSO_WM_BEAUTIFY_FLAG" val=""/>
</p:tagLst>
</file>

<file path=ppt/tags/tag213.xml><?xml version="1.0" encoding="utf-8"?>
<p:tagLst xmlns:p="http://schemas.openxmlformats.org/presentationml/2006/main">
  <p:tag name="KSO_WM_BEAUTIFY_FLAG" val=""/>
</p:tagLst>
</file>

<file path=ppt/tags/tag214.xml><?xml version="1.0" encoding="utf-8"?>
<p:tagLst xmlns:p="http://schemas.openxmlformats.org/presentationml/2006/main">
  <p:tag name="TEXTSHADOWSIZE" val="100"/>
  <p:tag name="KSO_WM_BEAUTIFY_FLAG" val=""/>
</p:tagLst>
</file>

<file path=ppt/tags/tag215.xml><?xml version="1.0" encoding="utf-8"?>
<p:tagLst xmlns:p="http://schemas.openxmlformats.org/presentationml/2006/main">
  <p:tag name="KSO_WM_BEAUTIFY_FLAG" val=""/>
</p:tagLst>
</file>

<file path=ppt/tags/tag216.xml><?xml version="1.0" encoding="utf-8"?>
<p:tagLst xmlns:p="http://schemas.openxmlformats.org/presentationml/2006/main">
  <p:tag name="KSO_WM_BEAUTIFY_FLAG" val=""/>
</p:tagLst>
</file>

<file path=ppt/tags/tag217.xml><?xml version="1.0" encoding="utf-8"?>
<p:tagLst xmlns:p="http://schemas.openxmlformats.org/presentationml/2006/main">
  <p:tag name="KSO_WM_BEAUTIFY_FLAG" val=""/>
</p:tagLst>
</file>

<file path=ppt/tags/tag218.xml><?xml version="1.0" encoding="utf-8"?>
<p:tagLst xmlns:p="http://schemas.openxmlformats.org/presentationml/2006/main">
  <p:tag name="KSO_WM_BEAUTIFY_FLAG" val=""/>
</p:tagLst>
</file>

<file path=ppt/tags/tag219.xml><?xml version="1.0" encoding="utf-8"?>
<p:tagLst xmlns:p="http://schemas.openxmlformats.org/presentationml/2006/main">
  <p:tag name="SHADOWSIZE" val="100"/>
  <p:tag name="KSO_WM_BEAUTIFY_FLAG" val=""/>
</p:tagLst>
</file>

<file path=ppt/tags/tag220.xml><?xml version="1.0" encoding="utf-8"?>
<p:tagLst xmlns:p="http://schemas.openxmlformats.org/presentationml/2006/main">
  <p:tag name="SHADOWSIZE" val="100"/>
  <p:tag name="KSO_WM_BEAUTIFY_FLAG" val=""/>
</p:tagLst>
</file>

<file path=ppt/tags/tag221.xml><?xml version="1.0" encoding="utf-8"?>
<p:tagLst xmlns:p="http://schemas.openxmlformats.org/presentationml/2006/main">
  <p:tag name="SHADOWSIZE" val="100"/>
  <p:tag name="KSO_WM_BEAUTIFY_FLAG" val=""/>
</p:tagLst>
</file>

<file path=ppt/tags/tag222.xml><?xml version="1.0" encoding="utf-8"?>
<p:tagLst xmlns:p="http://schemas.openxmlformats.org/presentationml/2006/main">
  <p:tag name="SHADOWSIZE" val="100"/>
  <p:tag name="KSO_WM_BEAUTIFY_FLAG" val=""/>
</p:tagLst>
</file>

<file path=ppt/tags/tag223.xml><?xml version="1.0" encoding="utf-8"?>
<p:tagLst xmlns:p="http://schemas.openxmlformats.org/presentationml/2006/main">
  <p:tag name="KSO_WM_BEAUTIFY_FLAG" val=""/>
</p:tagLst>
</file>

<file path=ppt/tags/tag224.xml><?xml version="1.0" encoding="utf-8"?>
<p:tagLst xmlns:p="http://schemas.openxmlformats.org/presentationml/2006/main">
  <p:tag name="KSO_WM_BEAUTIFY_FLAG" val=""/>
</p:tagLst>
</file>

<file path=ppt/tags/tag225.xml><?xml version="1.0" encoding="utf-8"?>
<p:tagLst xmlns:p="http://schemas.openxmlformats.org/presentationml/2006/main">
  <p:tag name="KSO_WM_BEAUTIFY_FLAG" val=""/>
</p:tagLst>
</file>

<file path=ppt/tags/tag226.xml><?xml version="1.0" encoding="utf-8"?>
<p:tagLst xmlns:p="http://schemas.openxmlformats.org/presentationml/2006/main">
  <p:tag name="KSO_WM_BEAUTIFY_FLAG" val=""/>
</p:tagLst>
</file>

<file path=ppt/tags/tag227.xml><?xml version="1.0" encoding="utf-8"?>
<p:tagLst xmlns:p="http://schemas.openxmlformats.org/presentationml/2006/main">
  <p:tag name="KSO_WM_BEAUTIFY_FLAG" val=""/>
</p:tagLst>
</file>

<file path=ppt/tags/tag228.xml><?xml version="1.0" encoding="utf-8"?>
<p:tagLst xmlns:p="http://schemas.openxmlformats.org/presentationml/2006/main">
  <p:tag name="KSO_WM_BEAUTIFY_FLAG" val=""/>
</p:tagLst>
</file>

<file path=ppt/tags/tag229.xml><?xml version="1.0" encoding="utf-8"?>
<p:tagLst xmlns:p="http://schemas.openxmlformats.org/presentationml/2006/main">
  <p:tag name="KSO_WM_BEAUTIFY_FLAG" val=""/>
</p:tagLst>
</file>

<file path=ppt/tags/tag230.xml><?xml version="1.0" encoding="utf-8"?>
<p:tagLst xmlns:p="http://schemas.openxmlformats.org/presentationml/2006/main">
  <p:tag name="SHADOWSIZE" val="100"/>
  <p:tag name="KSO_WM_BEAUTIFY_FLAG" val=""/>
</p:tagLst>
</file>

<file path=ppt/tags/tag231.xml><?xml version="1.0" encoding="utf-8"?>
<p:tagLst xmlns:p="http://schemas.openxmlformats.org/presentationml/2006/main">
  <p:tag name="SHADOWSIZE" val="100"/>
  <p:tag name="KSO_WM_BEAUTIFY_FLAG" val=""/>
</p:tagLst>
</file>

<file path=ppt/tags/tag232.xml><?xml version="1.0" encoding="utf-8"?>
<p:tagLst xmlns:p="http://schemas.openxmlformats.org/presentationml/2006/main">
  <p:tag name="SHADOWSIZE" val="100"/>
  <p:tag name="KSO_WM_BEAUTIFY_FLAG" val=""/>
</p:tagLst>
</file>

<file path=ppt/tags/tag233.xml><?xml version="1.0" encoding="utf-8"?>
<p:tagLst xmlns:p="http://schemas.openxmlformats.org/presentationml/2006/main">
  <p:tag name="SHADOWSIZE" val="100"/>
  <p:tag name="KSO_WM_BEAUTIFY_FLAG" val=""/>
</p:tagLst>
</file>

<file path=ppt/tags/tag234.xml><?xml version="1.0" encoding="utf-8"?>
<p:tagLst xmlns:p="http://schemas.openxmlformats.org/presentationml/2006/main">
  <p:tag name="SHADOWSIZE" val="100"/>
  <p:tag name="KSO_WM_BEAUTIFY_FLAG" val=""/>
</p:tagLst>
</file>

<file path=ppt/tags/tag235.xml><?xml version="1.0" encoding="utf-8"?>
<p:tagLst xmlns:p="http://schemas.openxmlformats.org/presentationml/2006/main">
  <p:tag name="SHADOWSIZE" val="100"/>
  <p:tag name="KSO_WM_BEAUTIFY_FLAG" val=""/>
</p:tagLst>
</file>

<file path=ppt/tags/tag236.xml><?xml version="1.0" encoding="utf-8"?>
<p:tagLst xmlns:p="http://schemas.openxmlformats.org/presentationml/2006/main">
  <p:tag name="KSO_WM_BEAUTIFY_FLAG" val=""/>
</p:tagLst>
</file>

<file path=ppt/tags/tag237.xml><?xml version="1.0" encoding="utf-8"?>
<p:tagLst xmlns:p="http://schemas.openxmlformats.org/presentationml/2006/main">
  <p:tag name="KSO_WM_BEAUTIFY_FLAG" val=""/>
</p:tagLst>
</file>

<file path=ppt/tags/tag238.xml><?xml version="1.0" encoding="utf-8"?>
<p:tagLst xmlns:p="http://schemas.openxmlformats.org/presentationml/2006/main">
  <p:tag name="KSO_WM_BEAUTIFY_FLAG" val=""/>
</p:tagLst>
</file>

<file path=ppt/tags/tag239.xml><?xml version="1.0" encoding="utf-8"?>
<p:tagLst xmlns:p="http://schemas.openxmlformats.org/presentationml/2006/main">
  <p:tag name="KSO_WM_BEAUTIFY_FLAG" val=""/>
</p:tagLst>
</file>

<file path=ppt/tags/tag240.xml><?xml version="1.0" encoding="utf-8"?>
<p:tagLst xmlns:p="http://schemas.openxmlformats.org/presentationml/2006/main">
  <p:tag name="KSO_WM_BEAUTIFY_FLAG" val=""/>
</p:tagLst>
</file>

<file path=ppt/tags/tag241.xml><?xml version="1.0" encoding="utf-8"?>
<p:tagLst xmlns:p="http://schemas.openxmlformats.org/presentationml/2006/main">
  <p:tag name="SHADOWSIZE" val="100"/>
  <p:tag name="ADJUSTMENTS" val="4.790097"/>
</p:tagLst>
</file>

<file path=ppt/tags/tag242.xml><?xml version="1.0" encoding="utf-8"?>
<p:tagLst xmlns:p="http://schemas.openxmlformats.org/presentationml/2006/main">
  <p:tag name="KSO_WM_BEAUTIFY_FLAG" val=""/>
</p:tagLst>
</file>

<file path=ppt/tags/tag243.xml><?xml version="1.0" encoding="utf-8"?>
<p:tagLst xmlns:p="http://schemas.openxmlformats.org/presentationml/2006/main">
  <p:tag name="SHADOWSIZE" val="100"/>
  <p:tag name="ADJUSTMENTS" val="4.790097"/>
</p:tagLst>
</file>

<file path=ppt/tags/tag244.xml><?xml version="1.0" encoding="utf-8"?>
<p:tagLst xmlns:p="http://schemas.openxmlformats.org/presentationml/2006/main">
  <p:tag name="SHADOWSIZE" val="100"/>
  <p:tag name="ADJUSTMENTS" val="4.790097"/>
</p:tagLst>
</file>

<file path=ppt/tags/tag245.xml><?xml version="1.0" encoding="utf-8"?>
<p:tagLst xmlns:p="http://schemas.openxmlformats.org/presentationml/2006/main">
  <p:tag name="KSO_WM_BEAUTIFY_FLAG" val=""/>
</p:tagLst>
</file>

<file path=ppt/tags/tag246.xml><?xml version="1.0" encoding="utf-8"?>
<p:tagLst xmlns:p="http://schemas.openxmlformats.org/presentationml/2006/main">
  <p:tag name="KSO_WM_BEAUTIFY_FLAG" val=""/>
</p:tagLst>
</file>

<file path=ppt/tags/tag247.xml><?xml version="1.0" encoding="utf-8"?>
<p:tagLst xmlns:p="http://schemas.openxmlformats.org/presentationml/2006/main">
  <p:tag name="KSO_WM_BEAUTIFY_FLAG" val=""/>
</p:tagLst>
</file>

<file path=ppt/tags/tag248.xml><?xml version="1.0" encoding="utf-8"?>
<p:tagLst xmlns:p="http://schemas.openxmlformats.org/presentationml/2006/main">
  <p:tag name="KSO_WM_BEAUTIFY_FLAG" val=""/>
</p:tagLst>
</file>

<file path=ppt/tags/tag249.xml><?xml version="1.0" encoding="utf-8"?>
<p:tagLst xmlns:p="http://schemas.openxmlformats.org/presentationml/2006/main">
  <p:tag name="KSO_WM_BEAUTIFY_FLAG" val=""/>
</p:tagLst>
</file>

<file path=ppt/tags/tag250.xml><?xml version="1.0" encoding="utf-8"?>
<p:tagLst xmlns:p="http://schemas.openxmlformats.org/presentationml/2006/main">
  <p:tag name="KSO_WM_BEAUTIFY_FLAG" val=""/>
</p:tagLst>
</file>

<file path=ppt/tags/tag251.xml><?xml version="1.0" encoding="utf-8"?>
<p:tagLst xmlns:p="http://schemas.openxmlformats.org/presentationml/2006/main">
  <p:tag name="KSO_WM_BEAUTIFY_FLAG" val=""/>
</p:tagLst>
</file>

<file path=ppt/tags/tag252.xml><?xml version="1.0" encoding="utf-8"?>
<p:tagLst xmlns:p="http://schemas.openxmlformats.org/presentationml/2006/main">
  <p:tag name="KSO_WM_BEAUTIFY_FLAG" val=""/>
</p:tagLst>
</file>

<file path=ppt/tags/tag253.xml><?xml version="1.0" encoding="utf-8"?>
<p:tagLst xmlns:p="http://schemas.openxmlformats.org/presentationml/2006/main">
  <p:tag name="KSO_WM_BEAUTIFY_FLAG" val=""/>
</p:tagLst>
</file>

<file path=ppt/tags/tag254.xml><?xml version="1.0" encoding="utf-8"?>
<p:tagLst xmlns:p="http://schemas.openxmlformats.org/presentationml/2006/main">
  <p:tag name="KSO_WM_BEAUTIFY_FLAG" val=""/>
</p:tagLst>
</file>

<file path=ppt/tags/tag255.xml><?xml version="1.0" encoding="utf-8"?>
<p:tagLst xmlns:p="http://schemas.openxmlformats.org/presentationml/2006/main">
  <p:tag name="KSO_WM_BEAUTIFY_FLAG" val=""/>
</p:tagLst>
</file>

<file path=ppt/tags/tag256.xml><?xml version="1.0" encoding="utf-8"?>
<p:tagLst xmlns:p="http://schemas.openxmlformats.org/presentationml/2006/main">
  <p:tag name="KSO_WM_BEAUTIFY_FLAG" val=""/>
</p:tagLst>
</file>

<file path=ppt/tags/tag257.xml><?xml version="1.0" encoding="utf-8"?>
<p:tagLst xmlns:p="http://schemas.openxmlformats.org/presentationml/2006/main">
  <p:tag name="KSO_WM_BEAUTIFY_FLAG" val=""/>
</p:tagLst>
</file>

<file path=ppt/tags/tag258.xml><?xml version="1.0" encoding="utf-8"?>
<p:tagLst xmlns:p="http://schemas.openxmlformats.org/presentationml/2006/main">
  <p:tag name="KSO_WM_BEAUTIFY_FLAG" val=""/>
</p:tagLst>
</file>

<file path=ppt/tags/tag259.xml><?xml version="1.0" encoding="utf-8"?>
<p:tagLst xmlns:p="http://schemas.openxmlformats.org/presentationml/2006/main">
  <p:tag name="KSO_WM_BEAUTIFY_FLAG" val=""/>
</p:tagLst>
</file>

<file path=ppt/tags/tag260.xml><?xml version="1.0" encoding="utf-8"?>
<p:tagLst xmlns:p="http://schemas.openxmlformats.org/presentationml/2006/main">
  <p:tag name="KSO_WM_BEAUTIFY_FLAG" val=""/>
</p:tagLst>
</file>

<file path=ppt/tags/tag261.xml><?xml version="1.0" encoding="utf-8"?>
<p:tagLst xmlns:p="http://schemas.openxmlformats.org/presentationml/2006/main">
  <p:tag name="KSO_WM_BEAUTIFY_FLAG" val=""/>
</p:tagLst>
</file>

<file path=ppt/tags/tag262.xml><?xml version="1.0" encoding="utf-8"?>
<p:tagLst xmlns:p="http://schemas.openxmlformats.org/presentationml/2006/main">
  <p:tag name="KSO_WM_BEAUTIFY_FLAG" val=""/>
</p:tagLst>
</file>

<file path=ppt/tags/tag263.xml><?xml version="1.0" encoding="utf-8"?>
<p:tagLst xmlns:p="http://schemas.openxmlformats.org/presentationml/2006/main">
  <p:tag name="KSO_WM_BEAUTIFY_FLAG" val=""/>
</p:tagLst>
</file>

<file path=ppt/tags/tag264.xml><?xml version="1.0" encoding="utf-8"?>
<p:tagLst xmlns:p="http://schemas.openxmlformats.org/presentationml/2006/main">
  <p:tag name="KSO_WM_BEAUTIFY_FLAG" val=""/>
</p:tagLst>
</file>

<file path=ppt/tags/tag265.xml><?xml version="1.0" encoding="utf-8"?>
<p:tagLst xmlns:p="http://schemas.openxmlformats.org/presentationml/2006/main">
  <p:tag name="KSO_WM_BEAUTIFY_FLAG" val=""/>
</p:tagLst>
</file>

<file path=ppt/tags/tag266.xml><?xml version="1.0" encoding="utf-8"?>
<p:tagLst xmlns:p="http://schemas.openxmlformats.org/presentationml/2006/main">
  <p:tag name="KSO_WM_BEAUTIFY_FLAG" val=""/>
</p:tagLst>
</file>

<file path=ppt/tags/tag267.xml><?xml version="1.0" encoding="utf-8"?>
<p:tagLst xmlns:p="http://schemas.openxmlformats.org/presentationml/2006/main">
  <p:tag name="KSO_WM_BEAUTIFY_FLAG" val=""/>
</p:tagLst>
</file>

<file path=ppt/tags/tag268.xml><?xml version="1.0" encoding="utf-8"?>
<p:tagLst xmlns:p="http://schemas.openxmlformats.org/presentationml/2006/main">
  <p:tag name="KSO_WM_BEAUTIFY_FLAG" val=""/>
</p:tagLst>
</file>

<file path=ppt/tags/tag269.xml><?xml version="1.0" encoding="utf-8"?>
<p:tagLst xmlns:p="http://schemas.openxmlformats.org/presentationml/2006/main">
  <p:tag name="KSO_WM_BEAUTIFY_FLAG" val=""/>
</p:tagLst>
</file>

<file path=ppt/tags/tag270.xml><?xml version="1.0" encoding="utf-8"?>
<p:tagLst xmlns:p="http://schemas.openxmlformats.org/presentationml/2006/main">
  <p:tag name="KSO_WM_BEAUTIFY_FLAG" val=""/>
</p:tagLst>
</file>

<file path=ppt/tags/tag271.xml><?xml version="1.0" encoding="utf-8"?>
<p:tagLst xmlns:p="http://schemas.openxmlformats.org/presentationml/2006/main">
  <p:tag name="KSO_WM_BEAUTIFY_FLAG" val=""/>
</p:tagLst>
</file>

<file path=ppt/tags/tag272.xml><?xml version="1.0" encoding="utf-8"?>
<p:tagLst xmlns:p="http://schemas.openxmlformats.org/presentationml/2006/main">
  <p:tag name="KSO_WM_BEAUTIFY_FLAG" val=""/>
</p:tagLst>
</file>

<file path=ppt/tags/tag273.xml><?xml version="1.0" encoding="utf-8"?>
<p:tagLst xmlns:p="http://schemas.openxmlformats.org/presentationml/2006/main">
  <p:tag name="KSO_WM_BEAUTIFY_FLAG" val=""/>
</p:tagLst>
</file>

<file path=ppt/tags/tag274.xml><?xml version="1.0" encoding="utf-8"?>
<p:tagLst xmlns:p="http://schemas.openxmlformats.org/presentationml/2006/main">
  <p:tag name="KSO_WM_BEAUTIFY_FLAG" val=""/>
</p:tagLst>
</file>

<file path=ppt/tags/tag275.xml><?xml version="1.0" encoding="utf-8"?>
<p:tagLst xmlns:p="http://schemas.openxmlformats.org/presentationml/2006/main">
  <p:tag name="KSO_WM_BEAUTIFY_FLAG" val=""/>
</p:tagLst>
</file>

<file path=ppt/tags/tag276.xml><?xml version="1.0" encoding="utf-8"?>
<p:tagLst xmlns:p="http://schemas.openxmlformats.org/presentationml/2006/main">
  <p:tag name="KSO_WM_BEAUTIFY_FLAG" val=""/>
</p:tagLst>
</file>

<file path=ppt/tags/tag277.xml><?xml version="1.0" encoding="utf-8"?>
<p:tagLst xmlns:p="http://schemas.openxmlformats.org/presentationml/2006/main">
  <p:tag name="KSO_WM_BEAUTIFY_FLAG" val=""/>
</p:tagLst>
</file>

<file path=ppt/tags/tag278.xml><?xml version="1.0" encoding="utf-8"?>
<p:tagLst xmlns:p="http://schemas.openxmlformats.org/presentationml/2006/main">
  <p:tag name="KSO_WM_BEAUTIFY_FLAG" val=""/>
</p:tagLst>
</file>

<file path=ppt/tags/tag279.xml><?xml version="1.0" encoding="utf-8"?>
<p:tagLst xmlns:p="http://schemas.openxmlformats.org/presentationml/2006/main">
  <p:tag name="KSO_WM_BEAUTIFY_FLAG" val=""/>
</p:tagLst>
</file>

<file path=ppt/tags/tag280.xml><?xml version="1.0" encoding="utf-8"?>
<p:tagLst xmlns:p="http://schemas.openxmlformats.org/presentationml/2006/main">
  <p:tag name="KSO_WM_BEAUTIFY_FLAG" val=""/>
</p:tagLst>
</file>

<file path=ppt/tags/tag281.xml><?xml version="1.0" encoding="utf-8"?>
<p:tagLst xmlns:p="http://schemas.openxmlformats.org/presentationml/2006/main">
  <p:tag name="KSO_WM_BEAUTIFY_FLAG" val=""/>
</p:tagLst>
</file>

<file path=ppt/tags/tag282.xml><?xml version="1.0" encoding="utf-8"?>
<p:tagLst xmlns:p="http://schemas.openxmlformats.org/presentationml/2006/main">
  <p:tag name="KSO_WM_BEAUTIFY_FLAG" val=""/>
</p:tagLst>
</file>

<file path=ppt/tags/tag283.xml><?xml version="1.0" encoding="utf-8"?>
<p:tagLst xmlns:p="http://schemas.openxmlformats.org/presentationml/2006/main">
  <p:tag name="KSO_WM_BEAUTIFY_FLAG" val=""/>
</p:tagLst>
</file>

<file path=ppt/tags/tag284.xml><?xml version="1.0" encoding="utf-8"?>
<p:tagLst xmlns:p="http://schemas.openxmlformats.org/presentationml/2006/main">
  <p:tag name="KSO_WM_BEAUTIFY_FLAG" val=""/>
</p:tagLst>
</file>

<file path=ppt/tags/tag285.xml><?xml version="1.0" encoding="utf-8"?>
<p:tagLst xmlns:p="http://schemas.openxmlformats.org/presentationml/2006/main">
  <p:tag name="KSO_WM_BEAUTIFY_FLAG" val=""/>
</p:tagLst>
</file>

<file path=ppt/tags/tag286.xml><?xml version="1.0" encoding="utf-8"?>
<p:tagLst xmlns:p="http://schemas.openxmlformats.org/presentationml/2006/main">
  <p:tag name="KSO_WM_BEAUTIFY_FLAG" val=""/>
</p:tagLst>
</file>

<file path=ppt/tags/tag287.xml><?xml version="1.0" encoding="utf-8"?>
<p:tagLst xmlns:p="http://schemas.openxmlformats.org/presentationml/2006/main">
  <p:tag name="KSO_WM_BEAUTIFY_FLAG" val=""/>
</p:tagLst>
</file>

<file path=ppt/tags/tag288.xml><?xml version="1.0" encoding="utf-8"?>
<p:tagLst xmlns:p="http://schemas.openxmlformats.org/presentationml/2006/main">
  <p:tag name="KSO_WM_BEAUTIFY_FLAG" val=""/>
</p:tagLst>
</file>

<file path=ppt/tags/tag289.xml><?xml version="1.0" encoding="utf-8"?>
<p:tagLst xmlns:p="http://schemas.openxmlformats.org/presentationml/2006/main">
  <p:tag name="KSO_WM_BEAUTIFY_FLAG" val=""/>
</p:tagLst>
</file>

<file path=ppt/tags/tag290.xml><?xml version="1.0" encoding="utf-8"?>
<p:tagLst xmlns:p="http://schemas.openxmlformats.org/presentationml/2006/main">
  <p:tag name="KSO_WM_BEAUTIFY_FLAG" val=""/>
</p:tagLst>
</file>

<file path=ppt/tags/tag291.xml><?xml version="1.0" encoding="utf-8"?>
<p:tagLst xmlns:p="http://schemas.openxmlformats.org/presentationml/2006/main">
  <p:tag name="KSO_WM_BEAUTIFY_FLAG" val=""/>
</p:tagLst>
</file>

<file path=ppt/tags/tag292.xml><?xml version="1.0" encoding="utf-8"?>
<p:tagLst xmlns:p="http://schemas.openxmlformats.org/presentationml/2006/main">
  <p:tag name="KSO_WM_BEAUTIFY_FLAG" val=""/>
</p:tagLst>
</file>

<file path=ppt/tags/tag293.xml><?xml version="1.0" encoding="utf-8"?>
<p:tagLst xmlns:p="http://schemas.openxmlformats.org/presentationml/2006/main">
  <p:tag name="KSO_WM_BEAUTIFY_FLAG" val=""/>
</p:tagLst>
</file>

<file path=ppt/tags/tag294.xml><?xml version="1.0" encoding="utf-8"?>
<p:tagLst xmlns:p="http://schemas.openxmlformats.org/presentationml/2006/main">
  <p:tag name="KSO_WM_BEAUTIFY_FLAG" val=""/>
</p:tagLst>
</file>

<file path=ppt/tags/tag295.xml><?xml version="1.0" encoding="utf-8"?>
<p:tagLst xmlns:p="http://schemas.openxmlformats.org/presentationml/2006/main">
  <p:tag name="KSO_WM_BEAUTIFY_FLAG" val=""/>
</p:tagLst>
</file>

<file path=ppt/tags/tag296.xml><?xml version="1.0" encoding="utf-8"?>
<p:tagLst xmlns:p="http://schemas.openxmlformats.org/presentationml/2006/main">
  <p:tag name="KSO_WM_BEAUTIFY_FLAG" val=""/>
</p:tagLst>
</file>

<file path=ppt/tags/tag297.xml><?xml version="1.0" encoding="utf-8"?>
<p:tagLst xmlns:p="http://schemas.openxmlformats.org/presentationml/2006/main">
  <p:tag name="KSO_WM_BEAUTIFY_FLAG" val=""/>
</p:tagLst>
</file>

<file path=ppt/tags/tag298.xml><?xml version="1.0" encoding="utf-8"?>
<p:tagLst xmlns:p="http://schemas.openxmlformats.org/presentationml/2006/main">
  <p:tag name="KSO_WM_BEAUTIFY_FLAG" val=""/>
</p:tagLst>
</file>

<file path=ppt/tags/tag299.xml><?xml version="1.0" encoding="utf-8"?>
<p:tagLst xmlns:p="http://schemas.openxmlformats.org/presentationml/2006/main">
  <p:tag name="KSO_WM_BEAUTIFY_FLAG" val=""/>
</p:tagLst>
</file>

<file path=ppt/tags/tag300.xml><?xml version="1.0" encoding="utf-8"?>
<p:tagLst xmlns:p="http://schemas.openxmlformats.org/presentationml/2006/main">
  <p:tag name="KSO_WM_BEAUTIFY_FLAG" val=""/>
</p:tagLst>
</file>

<file path=ppt/tags/tag301.xml><?xml version="1.0" encoding="utf-8"?>
<p:tagLst xmlns:p="http://schemas.openxmlformats.org/presentationml/2006/main">
  <p:tag name="KSO_WM_BEAUTIFY_FLAG" val=""/>
</p:tagLst>
</file>

<file path=ppt/tags/tag302.xml><?xml version="1.0" encoding="utf-8"?>
<p:tagLst xmlns:p="http://schemas.openxmlformats.org/presentationml/2006/main">
  <p:tag name="KSO_WM_BEAUTIFY_FLAG" val=""/>
</p:tagLst>
</file>

<file path=ppt/tags/tag303.xml><?xml version="1.0" encoding="utf-8"?>
<p:tagLst xmlns:p="http://schemas.openxmlformats.org/presentationml/2006/main">
  <p:tag name="KSO_WM_BEAUTIFY_FLAG" val=""/>
</p:tagLst>
</file>

<file path=ppt/tags/tag304.xml><?xml version="1.0" encoding="utf-8"?>
<p:tagLst xmlns:p="http://schemas.openxmlformats.org/presentationml/2006/main">
  <p:tag name="KSO_WM_BEAUTIFY_FLAG" val=""/>
</p:tagLst>
</file>

<file path=ppt/tags/tag305.xml><?xml version="1.0" encoding="utf-8"?>
<p:tagLst xmlns:p="http://schemas.openxmlformats.org/presentationml/2006/main">
  <p:tag name="KSO_WM_BEAUTIFY_FLAG" val=""/>
</p:tagLst>
</file>

<file path=ppt/tags/tag306.xml><?xml version="1.0" encoding="utf-8"?>
<p:tagLst xmlns:p="http://schemas.openxmlformats.org/presentationml/2006/main">
  <p:tag name="KSO_WM_BEAUTIFY_FLAG" val=""/>
</p:tagLst>
</file>

<file path=ppt/tags/tag307.xml><?xml version="1.0" encoding="utf-8"?>
<p:tagLst xmlns:p="http://schemas.openxmlformats.org/presentationml/2006/main">
  <p:tag name="KSO_WM_BEAUTIFY_FLAG" val=""/>
</p:tagLst>
</file>

<file path=ppt/tags/tag308.xml><?xml version="1.0" encoding="utf-8"?>
<p:tagLst xmlns:p="http://schemas.openxmlformats.org/presentationml/2006/main">
  <p:tag name="KSO_WM_BEAUTIFY_FLAG" val=""/>
</p:tagLst>
</file>

<file path=ppt/tags/tag309.xml><?xml version="1.0" encoding="utf-8"?>
<p:tagLst xmlns:p="http://schemas.openxmlformats.org/presentationml/2006/main">
  <p:tag name="KSO_WM_BEAUTIFY_FLAG" val=""/>
</p:tagLst>
</file>

<file path=ppt/tags/tag310.xml><?xml version="1.0" encoding="utf-8"?>
<p:tagLst xmlns:p="http://schemas.openxmlformats.org/presentationml/2006/main">
  <p:tag name="KSO_WM_BEAUTIFY_FLAG" val=""/>
</p:tagLst>
</file>

<file path=ppt/tags/tag311.xml><?xml version="1.0" encoding="utf-8"?>
<p:tagLst xmlns:p="http://schemas.openxmlformats.org/presentationml/2006/main">
  <p:tag name="KSO_WM_BEAUTIFY_FLAG" val=""/>
</p:tagLst>
</file>

<file path=ppt/tags/tag312.xml><?xml version="1.0" encoding="utf-8"?>
<p:tagLst xmlns:p="http://schemas.openxmlformats.org/presentationml/2006/main">
  <p:tag name="KSO_WM_BEAUTIFY_FLAG" val=""/>
</p:tagLst>
</file>

<file path=ppt/tags/tag313.xml><?xml version="1.0" encoding="utf-8"?>
<p:tagLst xmlns:p="http://schemas.openxmlformats.org/presentationml/2006/main">
  <p:tag name="KSO_WM_BEAUTIFY_FLAG" val=""/>
</p:tagLst>
</file>

<file path=ppt/tags/tag314.xml><?xml version="1.0" encoding="utf-8"?>
<p:tagLst xmlns:p="http://schemas.openxmlformats.org/presentationml/2006/main">
  <p:tag name="KSO_WM_BEAUTIFY_FLAG" val=""/>
</p:tagLst>
</file>

<file path=ppt/tags/tag315.xml><?xml version="1.0" encoding="utf-8"?>
<p:tagLst xmlns:p="http://schemas.openxmlformats.org/presentationml/2006/main">
  <p:tag name="KSO_WM_BEAUTIFY_FLAG" val=""/>
</p:tagLst>
</file>

<file path=ppt/tags/tag316.xml><?xml version="1.0" encoding="utf-8"?>
<p:tagLst xmlns:p="http://schemas.openxmlformats.org/presentationml/2006/main">
  <p:tag name="KSO_WM_BEAUTIFY_FLAG" val=""/>
</p:tagLst>
</file>

<file path=ppt/tags/tag317.xml><?xml version="1.0" encoding="utf-8"?>
<p:tagLst xmlns:p="http://schemas.openxmlformats.org/presentationml/2006/main">
  <p:tag name="KSO_WM_BEAUTIFY_FLAG" val=""/>
</p:tagLst>
</file>

<file path=ppt/tags/tag318.xml><?xml version="1.0" encoding="utf-8"?>
<p:tagLst xmlns:p="http://schemas.openxmlformats.org/presentationml/2006/main">
  <p:tag name="KSO_WM_BEAUTIFY_FLAG" val=""/>
</p:tagLst>
</file>

<file path=ppt/tags/tag319.xml><?xml version="1.0" encoding="utf-8"?>
<p:tagLst xmlns:p="http://schemas.openxmlformats.org/presentationml/2006/main">
  <p:tag name="SHADOWSIZE" val="100"/>
  <p:tag name="ADJUSTMENTS" val="4.790097"/>
</p:tagLst>
</file>

<file path=ppt/tags/tag320.xml><?xml version="1.0" encoding="utf-8"?>
<p:tagLst xmlns:p="http://schemas.openxmlformats.org/presentationml/2006/main">
  <p:tag name="SHADOWSIZE" val="100"/>
  <p:tag name="ADJUSTMENTS" val="4.790097"/>
</p:tagLst>
</file>

<file path=ppt/tags/tag321.xml><?xml version="1.0" encoding="utf-8"?>
<p:tagLst xmlns:p="http://schemas.openxmlformats.org/presentationml/2006/main">
  <p:tag name="ADJUSTMENTS" val="34.13236"/>
</p:tagLst>
</file>

<file path=ppt/tags/tag322.xml><?xml version="1.0" encoding="utf-8"?>
<p:tagLst xmlns:p="http://schemas.openxmlformats.org/presentationml/2006/main">
  <p:tag name="SHADOWSIZE" val="95"/>
  <p:tag name="ADJUSTMENTS" val="10.52441"/>
</p:tagLst>
</file>

<file path=ppt/tags/tag323.xml><?xml version="1.0" encoding="utf-8"?>
<p:tagLst xmlns:p="http://schemas.openxmlformats.org/presentationml/2006/main">
  <p:tag name="SHADOWSIZE" val="95"/>
  <p:tag name="ADJUSTMENTS" val="10.52441"/>
</p:tagLst>
</file>

<file path=ppt/tags/tag324.xml><?xml version="1.0" encoding="utf-8"?>
<p:tagLst xmlns:p="http://schemas.openxmlformats.org/presentationml/2006/main">
  <p:tag name="SHADOWSIZE" val="95"/>
  <p:tag name="ADJUSTMENTS" val="10.52441"/>
</p:tagLst>
</file>

<file path=ppt/tags/tag325.xml><?xml version="1.0" encoding="utf-8"?>
<p:tagLst xmlns:p="http://schemas.openxmlformats.org/presentationml/2006/main">
  <p:tag name="SHADOWSIZE" val="95"/>
  <p:tag name="ADJUSTMENTS" val="10.52441"/>
</p:tagLst>
</file>

<file path=ppt/tags/tag326.xml><?xml version="1.0" encoding="utf-8"?>
<p:tagLst xmlns:p="http://schemas.openxmlformats.org/presentationml/2006/main">
  <p:tag name="SHADOWSIZE" val="95"/>
  <p:tag name="ADJUSTMENTS" val="10.52441"/>
</p:tagLst>
</file>

<file path=ppt/tags/tag327.xml><?xml version="1.0" encoding="utf-8"?>
<p:tagLst xmlns:p="http://schemas.openxmlformats.org/presentationml/2006/main">
  <p:tag name="SHADOWSIZE" val="95"/>
  <p:tag name="ADJUSTMENTS" val="10.52441"/>
</p:tagLst>
</file>

<file path=ppt/tags/tag328.xml><?xml version="1.0" encoding="utf-8"?>
<p:tagLst xmlns:p="http://schemas.openxmlformats.org/presentationml/2006/main">
  <p:tag name="SHADOWSIZE" val="95"/>
  <p:tag name="ADJUSTMENTS" val="10.52441"/>
</p:tagLst>
</file>

<file path=ppt/tags/tag329.xml><?xml version="1.0" encoding="utf-8"?>
<p:tagLst xmlns:p="http://schemas.openxmlformats.org/presentationml/2006/main">
  <p:tag name="SHADOWSIZE" val="100"/>
  <p:tag name="ADJUSTMENTS" val="8.475393"/>
</p:tagLst>
</file>

<file path=ppt/tags/tag330.xml><?xml version="1.0" encoding="utf-8"?>
<p:tagLst xmlns:p="http://schemas.openxmlformats.org/presentationml/2006/main">
  <p:tag name="SHADOWSIZE" val="95"/>
  <p:tag name="ADJUSTMENTS" val="10.52441"/>
</p:tagLst>
</file>

<file path=ppt/tags/tag331.xml><?xml version="1.0" encoding="utf-8"?>
<p:tagLst xmlns:p="http://schemas.openxmlformats.org/presentationml/2006/main">
  <p:tag name="ADJUSTMENTS" val="34.13236"/>
</p:tagLst>
</file>

<file path=ppt/tags/tag332.xml><?xml version="1.0" encoding="utf-8"?>
<p:tagLst xmlns:p="http://schemas.openxmlformats.org/presentationml/2006/main">
  <p:tag name="SHADOWSIZE" val="95"/>
  <p:tag name="ADJUSTMENTS" val="10.52441"/>
</p:tagLst>
</file>

<file path=ppt/tags/tag333.xml><?xml version="1.0" encoding="utf-8"?>
<p:tagLst xmlns:p="http://schemas.openxmlformats.org/presentationml/2006/main">
  <p:tag name="SHADOWSIZE" val="95"/>
  <p:tag name="ADJUSTMENTS" val="10.52441"/>
</p:tagLst>
</file>

<file path=ppt/tags/tag334.xml><?xml version="1.0" encoding="utf-8"?>
<p:tagLst xmlns:p="http://schemas.openxmlformats.org/presentationml/2006/main">
  <p:tag name="SHADOWSIZE" val="95"/>
  <p:tag name="ADJUSTMENTS" val="10.52441"/>
</p:tagLst>
</file>

<file path=ppt/tags/tag335.xml><?xml version="1.0" encoding="utf-8"?>
<p:tagLst xmlns:p="http://schemas.openxmlformats.org/presentationml/2006/main">
  <p:tag name="SHADOWSIZE" val="95"/>
  <p:tag name="ADJUSTMENTS" val="10.52441"/>
</p:tagLst>
</file>

<file path=ppt/tags/tag336.xml><?xml version="1.0" encoding="utf-8"?>
<p:tagLst xmlns:p="http://schemas.openxmlformats.org/presentationml/2006/main">
  <p:tag name="SHADOWSIZE" val="100"/>
  <p:tag name="ADJUSTMENTS" val="8.475393"/>
</p:tagLst>
</file>

<file path=ppt/tags/tag337.xml><?xml version="1.0" encoding="utf-8"?>
<p:tagLst xmlns:p="http://schemas.openxmlformats.org/presentationml/2006/main">
  <p:tag name="ADJUSTMENTS" val="34.13236"/>
</p:tagLst>
</file>

<file path=ppt/tags/tag338.xml><?xml version="1.0" encoding="utf-8"?>
<p:tagLst xmlns:p="http://schemas.openxmlformats.org/presentationml/2006/main">
  <p:tag name="SHADOWSIZE" val="95"/>
  <p:tag name="ADJUSTMENTS" val="10.52441"/>
</p:tagLst>
</file>

<file path=ppt/tags/tag339.xml><?xml version="1.0" encoding="utf-8"?>
<p:tagLst xmlns:p="http://schemas.openxmlformats.org/presentationml/2006/main">
  <p:tag name="SHADOWSIZE" val="95"/>
  <p:tag name="ADJUSTMENTS" val="10.52441"/>
</p:tagLst>
</file>

<file path=ppt/tags/tag340.xml><?xml version="1.0" encoding="utf-8"?>
<p:tagLst xmlns:p="http://schemas.openxmlformats.org/presentationml/2006/main">
  <p:tag name="SHADOWSIZE" val="95"/>
  <p:tag name="ADJUSTMENTS" val="10.52441"/>
</p:tagLst>
</file>

<file path=ppt/tags/tag341.xml><?xml version="1.0" encoding="utf-8"?>
<p:tagLst xmlns:p="http://schemas.openxmlformats.org/presentationml/2006/main">
  <p:tag name="SHADOWSIZE" val="95"/>
  <p:tag name="ADJUSTMENTS" val="10.52441"/>
</p:tagLst>
</file>

<file path=ppt/tags/tag342.xml><?xml version="1.0" encoding="utf-8"?>
<p:tagLst xmlns:p="http://schemas.openxmlformats.org/presentationml/2006/main">
  <p:tag name="SHADOWSIZE" val="95"/>
  <p:tag name="ADJUSTMENTS" val="10.52441"/>
</p:tagLst>
</file>

<file path=ppt/tags/tag343.xml><?xml version="1.0" encoding="utf-8"?>
<p:tagLst xmlns:p="http://schemas.openxmlformats.org/presentationml/2006/main">
  <p:tag name="SHADOWSIZE" val="95"/>
  <p:tag name="ADJUSTMENTS" val="10.52441"/>
</p:tagLst>
</file>

<file path=ppt/tags/tag344.xml><?xml version="1.0" encoding="utf-8"?>
<p:tagLst xmlns:p="http://schemas.openxmlformats.org/presentationml/2006/main">
  <p:tag name="SHADOWSIZE" val="95"/>
  <p:tag name="ADJUSTMENTS" val="10.52441"/>
</p:tagLst>
</file>

<file path=ppt/tags/tag345.xml><?xml version="1.0" encoding="utf-8"?>
<p:tagLst xmlns:p="http://schemas.openxmlformats.org/presentationml/2006/main">
  <p:tag name="SHADOWSIZE" val="95"/>
  <p:tag name="ADJUSTMENTS" val="10.52441"/>
</p:tagLst>
</file>

<file path=ppt/tags/tag346.xml><?xml version="1.0" encoding="utf-8"?>
<p:tagLst xmlns:p="http://schemas.openxmlformats.org/presentationml/2006/main">
  <p:tag name="SHADOWSIZE" val="95"/>
  <p:tag name="ADJUSTMENTS" val="10.52441"/>
</p:tagLst>
</file>

<file path=ppt/tags/tag347.xml><?xml version="1.0" encoding="utf-8"?>
<p:tagLst xmlns:p="http://schemas.openxmlformats.org/presentationml/2006/main">
  <p:tag name="SHADOWSIZE" val="100"/>
  <p:tag name="ADJUSTMENTS" val="8.475393"/>
</p:tagLst>
</file>

<file path=ppt/tags/tag348.xml><?xml version="1.0" encoding="utf-8"?>
<p:tagLst xmlns:p="http://schemas.openxmlformats.org/presentationml/2006/main">
  <p:tag name="SHADOWSIZE" val="100"/>
  <p:tag name="ADJUSTMENTS" val="4.790097"/>
</p:tagLst>
</file>

<file path=ppt/tags/tag349.xml><?xml version="1.0" encoding="utf-8"?>
<p:tagLst xmlns:p="http://schemas.openxmlformats.org/presentationml/2006/main">
  <p:tag name="SHADOWSIZE" val="100"/>
  <p:tag name="ADJUSTMENTS" val="4.790097"/>
</p:tagLst>
</file>

<file path=ppt/tags/tag350.xml><?xml version="1.0" encoding="utf-8"?>
<p:tagLst xmlns:p="http://schemas.openxmlformats.org/presentationml/2006/main">
  <p:tag name="KSO_WM_BEAUTIFY_FLAG" val=""/>
</p:tagLst>
</file>

<file path=ppt/tags/tag351.xml><?xml version="1.0" encoding="utf-8"?>
<p:tagLst xmlns:p="http://schemas.openxmlformats.org/presentationml/2006/main">
  <p:tag name="KSO_WM_BEAUTIFY_FLAG" val=""/>
</p:tagLst>
</file>

<file path=ppt/tags/tag352.xml><?xml version="1.0" encoding="utf-8"?>
<p:tagLst xmlns:p="http://schemas.openxmlformats.org/presentationml/2006/main">
  <p:tag name="KSO_WM_BEAUTIFY_FLAG" val=""/>
</p:tagLst>
</file>

<file path=ppt/tags/tag353.xml><?xml version="1.0" encoding="utf-8"?>
<p:tagLst xmlns:p="http://schemas.openxmlformats.org/presentationml/2006/main">
  <p:tag name="KSO_WM_BEAUTIFY_FLAG" val=""/>
</p:tagLst>
</file>

<file path=ppt/tags/tag354.xml><?xml version="1.0" encoding="utf-8"?>
<p:tagLst xmlns:p="http://schemas.openxmlformats.org/presentationml/2006/main">
  <p:tag name="KSO_WM_BEAUTIFY_FLAG" val=""/>
</p:tagLst>
</file>

<file path=ppt/tags/tag355.xml><?xml version="1.0" encoding="utf-8"?>
<p:tagLst xmlns:p="http://schemas.openxmlformats.org/presentationml/2006/main">
  <p:tag name="LTOP" val=" 112"/>
  <p:tag name="LLEFT" val=" 271.125"/>
</p:tagLst>
</file>

<file path=ppt/tags/tag356.xml><?xml version="1.0" encoding="utf-8"?>
<p:tagLst xmlns:p="http://schemas.openxmlformats.org/presentationml/2006/main">
  <p:tag name="LTOP" val=" 140.125"/>
  <p:tag name="LLEFT" val=" 278.125"/>
</p:tagLst>
</file>

<file path=ppt/tags/tag357.xml><?xml version="1.0" encoding="utf-8"?>
<p:tagLst xmlns:p="http://schemas.openxmlformats.org/presentationml/2006/main">
  <p:tag name="KSO_WM_BEAUTIFY_FLAG" val=""/>
</p:tagLst>
</file>

<file path=ppt/tags/tag358.xml><?xml version="1.0" encoding="utf-8"?>
<p:tagLst xmlns:p="http://schemas.openxmlformats.org/presentationml/2006/main">
  <p:tag name="KSO_WM_BEAUTIFY_FLAG" val=""/>
</p:tagLst>
</file>

<file path=ppt/tags/tag359.xml><?xml version="1.0" encoding="utf-8"?>
<p:tagLst xmlns:p="http://schemas.openxmlformats.org/presentationml/2006/main">
  <p:tag name="LTOP" val=" 412.125"/>
  <p:tag name="LLEFT" val=" 86"/>
</p:tagLst>
</file>

<file path=ppt/tags/tag360.xml><?xml version="1.0" encoding="utf-8"?>
<p:tagLst xmlns:p="http://schemas.openxmlformats.org/presentationml/2006/main">
  <p:tag name="LTOP" val=" 412.125"/>
  <p:tag name="LLEFT" val=" 86"/>
</p:tagLst>
</file>

<file path=ppt/tags/tag361.xml><?xml version="1.0" encoding="utf-8"?>
<p:tagLst xmlns:p="http://schemas.openxmlformats.org/presentationml/2006/main">
  <p:tag name="LTOP" val=" 412.125"/>
  <p:tag name="LLEFT" val=" 86"/>
</p:tagLst>
</file>

<file path=ppt/tags/tag362.xml><?xml version="1.0" encoding="utf-8"?>
<p:tagLst xmlns:p="http://schemas.openxmlformats.org/presentationml/2006/main">
  <p:tag name="LTOP" val=" 412.125"/>
  <p:tag name="LLEFT" val=" 86"/>
</p:tagLst>
</file>

<file path=ppt/tags/tag363.xml><?xml version="1.0" encoding="utf-8"?>
<p:tagLst xmlns:p="http://schemas.openxmlformats.org/presentationml/2006/main">
  <p:tag name="LTOP" val=" 412.125"/>
  <p:tag name="LLEFT" val=" 86"/>
</p:tagLst>
</file>

<file path=ppt/tags/tag364.xml><?xml version="1.0" encoding="utf-8"?>
<p:tagLst xmlns:p="http://schemas.openxmlformats.org/presentationml/2006/main">
  <p:tag name="KSO_WM_BEAUTIFY_FLAG" val=""/>
</p:tagLst>
</file>

<file path=ppt/tags/tag365.xml><?xml version="1.0" encoding="utf-8"?>
<p:tagLst xmlns:p="http://schemas.openxmlformats.org/presentationml/2006/main">
  <p:tag name="KSO_WM_BEAUTIFY_FLAG" val=""/>
</p:tagLst>
</file>

<file path=ppt/tags/tag366.xml><?xml version="1.0" encoding="utf-8"?>
<p:tagLst xmlns:p="http://schemas.openxmlformats.org/presentationml/2006/main">
  <p:tag name="LTOP" val=" 412.125"/>
  <p:tag name="LLEFT" val=" 86"/>
</p:tagLst>
</file>

<file path=ppt/tags/tag367.xml><?xml version="1.0" encoding="utf-8"?>
<p:tagLst xmlns:p="http://schemas.openxmlformats.org/presentationml/2006/main">
  <p:tag name="KSO_WM_BEAUTIFY_FLAG" val=""/>
</p:tagLst>
</file>

<file path=ppt/tags/tag368.xml><?xml version="1.0" encoding="utf-8"?>
<p:tagLst xmlns:p="http://schemas.openxmlformats.org/presentationml/2006/main">
  <p:tag name="ADJUSTMENTS" val="34.01449"/>
</p:tagLst>
</file>

<file path=ppt/tags/tag369.xml><?xml version="1.0" encoding="utf-8"?>
<p:tagLst xmlns:p="http://schemas.openxmlformats.org/presentationml/2006/main">
  <p:tag name="SHADOWSIZE" val="108"/>
  <p:tag name="TEXTSHADOWSIZE" val="100"/>
</p:tagLst>
</file>

<file path=ppt/tags/tag370.xml><?xml version="1.0" encoding="utf-8"?>
<p:tagLst xmlns:p="http://schemas.openxmlformats.org/presentationml/2006/main">
  <p:tag name="SHADOWSIZE" val="108"/>
  <p:tag name="TEXTSHADOWSIZE" val="100"/>
</p:tagLst>
</file>

<file path=ppt/tags/tag371.xml><?xml version="1.0" encoding="utf-8"?>
<p:tagLst xmlns:p="http://schemas.openxmlformats.org/presentationml/2006/main">
  <p:tag name="SHADOWSIZE" val="99"/>
  <p:tag name="TEXTSHADOWSIZE" val="100"/>
</p:tagLst>
</file>

<file path=ppt/tags/tag372.xml><?xml version="1.0" encoding="utf-8"?>
<p:tagLst xmlns:p="http://schemas.openxmlformats.org/presentationml/2006/main">
  <p:tag name="SHADOWSIZE" val="99"/>
  <p:tag name="TEXTSHADOWSIZE" val="100"/>
</p:tagLst>
</file>

<file path=ppt/tags/tag373.xml><?xml version="1.0" encoding="utf-8"?>
<p:tagLst xmlns:p="http://schemas.openxmlformats.org/presentationml/2006/main">
  <p:tag name="SHADOWSIZE" val="99"/>
  <p:tag name="TEXTSHADOWSIZE" val="100"/>
</p:tagLst>
</file>

<file path=ppt/tags/tag374.xml><?xml version="1.0" encoding="utf-8"?>
<p:tagLst xmlns:p="http://schemas.openxmlformats.org/presentationml/2006/main">
  <p:tag name="SHADOWSIZE" val="99"/>
  <p:tag name="TEXTSHADOWSIZE" val="100"/>
</p:tagLst>
</file>

<file path=ppt/tags/tag375.xml><?xml version="1.0" encoding="utf-8"?>
<p:tagLst xmlns:p="http://schemas.openxmlformats.org/presentationml/2006/main">
  <p:tag name="SHADOWSIZE" val="99"/>
  <p:tag name="TEXTSHADOWSIZE" val="100"/>
</p:tagLst>
</file>

<file path=ppt/tags/tag376.xml><?xml version="1.0" encoding="utf-8"?>
<p:tagLst xmlns:p="http://schemas.openxmlformats.org/presentationml/2006/main">
  <p:tag name="SHADOWSIZE" val="99"/>
  <p:tag name="TEXTSHADOWSIZE" val="100"/>
</p:tagLst>
</file>

<file path=ppt/tags/tag377.xml><?xml version="1.0" encoding="utf-8"?>
<p:tagLst xmlns:p="http://schemas.openxmlformats.org/presentationml/2006/main">
  <p:tag name="SHADOWSIZE" val="108"/>
  <p:tag name="TEXTSHADOWSIZE" val="100"/>
</p:tagLst>
</file>

<file path=ppt/tags/tag378.xml><?xml version="1.0" encoding="utf-8"?>
<p:tagLst xmlns:p="http://schemas.openxmlformats.org/presentationml/2006/main">
  <p:tag name="SHADOWSIZE" val="108"/>
  <p:tag name="TEXTSHADOWSIZE" val="100"/>
</p:tagLst>
</file>

<file path=ppt/tags/tag379.xml><?xml version="1.0" encoding="utf-8"?>
<p:tagLst xmlns:p="http://schemas.openxmlformats.org/presentationml/2006/main">
  <p:tag name="SHADOWSIZE" val="108"/>
  <p:tag name="TEXTSHADOWSIZE" val="100"/>
</p:tagLst>
</file>

<file path=ppt/tags/tag380.xml><?xml version="1.0" encoding="utf-8"?>
<p:tagLst xmlns:p="http://schemas.openxmlformats.org/presentationml/2006/main">
  <p:tag name="SHADOWSIZE" val="108"/>
  <p:tag name="TEXTSHADOWSIZE" val="100"/>
</p:tagLst>
</file>

<file path=ppt/tags/tag381.xml><?xml version="1.0" encoding="utf-8"?>
<p:tagLst xmlns:p="http://schemas.openxmlformats.org/presentationml/2006/main">
  <p:tag name="SHADOWSIZE" val="108"/>
  <p:tag name="TEXTSHADOWSIZE" val="100"/>
</p:tagLst>
</file>

<file path=ppt/tags/tag382.xml><?xml version="1.0" encoding="utf-8"?>
<p:tagLst xmlns:p="http://schemas.openxmlformats.org/presentationml/2006/main">
  <p:tag name="SHADOWSIZE" val="108"/>
  <p:tag name="TEXTSHADOWSIZE" val="100"/>
</p:tagLst>
</file>

<file path=ppt/tags/tag383.xml><?xml version="1.0" encoding="utf-8"?>
<p:tagLst xmlns:p="http://schemas.openxmlformats.org/presentationml/2006/main">
  <p:tag name="SHADOWSIZE" val="108"/>
  <p:tag name="TEXTSHADOWSIZE" val="100"/>
</p:tagLst>
</file>

<file path=ppt/tags/tag384.xml><?xml version="1.0" encoding="utf-8"?>
<p:tagLst xmlns:p="http://schemas.openxmlformats.org/presentationml/2006/main">
  <p:tag name="SHADOWSIZE" val="108"/>
  <p:tag name="TEXTSHADOWSIZE" val="100"/>
</p:tagLst>
</file>

<file path=ppt/tags/tag385.xml><?xml version="1.0" encoding="utf-8"?>
<p:tagLst xmlns:p="http://schemas.openxmlformats.org/presentationml/2006/main">
  <p:tag name="KSO_WM_DIAGRAM_VIRTUALLY_FRAME" val="{&amp;quot;height&amp;quot;:340.3533858267716,&amp;quot;left&amp;quot;:502.14023622047245,&amp;quot;top&amp;quot;:157.99566929133857,&amp;quot;width&amp;quot;:425.45937007874016}"/>
</p:tagLst>
</file>

<file path=ppt/tags/tag386.xml><?xml version="1.0" encoding="utf-8"?>
<p:tagLst xmlns:p="http://schemas.openxmlformats.org/presentationml/2006/main">
  <p:tag name="KSO_WM_DIAGRAM_VIRTUALLY_FRAME" val="{&amp;quot;height&amp;quot;:340.3533858267716,&amp;quot;left&amp;quot;:502.14023622047245,&amp;quot;top&amp;quot;:157.99566929133857,&amp;quot;width&amp;quot;:425.45937007874016}"/>
</p:tagLst>
</file>

<file path=ppt/tags/tag387.xml><?xml version="1.0" encoding="utf-8"?>
<p:tagLst xmlns:p="http://schemas.openxmlformats.org/presentationml/2006/main">
  <p:tag name="KSO_WM_DIAGRAM_VIRTUALLY_FRAME" val="{&amp;quot;height&amp;quot;:340.3533858267716,&amp;quot;left&amp;quot;:502.14023622047245,&amp;quot;top&amp;quot;:157.99566929133857,&amp;quot;width&amp;quot;:425.45937007874016}"/>
</p:tagLst>
</file>

<file path=ppt/tags/tag388.xml><?xml version="1.0" encoding="utf-8"?>
<p:tagLst xmlns:p="http://schemas.openxmlformats.org/presentationml/2006/main">
  <p:tag name="KSO_WM_DIAGRAM_VIRTUALLY_FRAME" val="{&amp;quot;height&amp;quot;:340.3533858267716,&amp;quot;left&amp;quot;:502.14023622047245,&amp;quot;top&amp;quot;:157.99566929133857,&amp;quot;width&amp;quot;:425.45937007874016}"/>
</p:tagLst>
</file>

<file path=ppt/tags/tag389.xml><?xml version="1.0" encoding="utf-8"?>
<p:tagLst xmlns:p="http://schemas.openxmlformats.org/presentationml/2006/main">
  <p:tag name="KSO_WM_BEAUTIFY_FLAG" val=""/>
</p:tagLst>
</file>

<file path=ppt/tags/tag390.xml><?xml version="1.0" encoding="utf-8"?>
<p:tagLst xmlns:p="http://schemas.openxmlformats.org/presentationml/2006/main">
  <p:tag name="KSO_WM_BEAUTIFY_FLAG" val=""/>
</p:tagLst>
</file>

<file path=ppt/tags/tag391.xml><?xml version="1.0" encoding="utf-8"?>
<p:tagLst xmlns:p="http://schemas.openxmlformats.org/presentationml/2006/main">
  <p:tag name="KSO_WM_BEAUTIFY_FLAG" val=""/>
</p:tagLst>
</file>

<file path=ppt/tags/tag392.xml><?xml version="1.0" encoding="utf-8"?>
<p:tagLst xmlns:p="http://schemas.openxmlformats.org/presentationml/2006/main">
  <p:tag name="KSO_WM_BEAUTIFY_FLAG" val=""/>
</p:tagLst>
</file>

<file path=ppt/tags/tag393.xml><?xml version="1.0" encoding="utf-8"?>
<p:tagLst xmlns:p="http://schemas.openxmlformats.org/presentationml/2006/main">
  <p:tag name="KSO_WM_BEAUTIFY_FLAG" val=""/>
</p:tagLst>
</file>

<file path=ppt/tags/tag394.xml><?xml version="1.0" encoding="utf-8"?>
<p:tagLst xmlns:p="http://schemas.openxmlformats.org/presentationml/2006/main">
  <p:tag name="KSO_WM_BEAUTIFY_FLAG" val=""/>
</p:tagLst>
</file>

<file path=ppt/tags/tag395.xml><?xml version="1.0" encoding="utf-8"?>
<p:tagLst xmlns:p="http://schemas.openxmlformats.org/presentationml/2006/main">
  <p:tag name="KSO_WM_BEAUTIFY_FLAG" val=""/>
</p:tagLst>
</file>

<file path=ppt/tags/tag396.xml><?xml version="1.0" encoding="utf-8"?>
<p:tagLst xmlns:p="http://schemas.openxmlformats.org/presentationml/2006/main">
  <p:tag name="KSO_WM_BEAUTIFY_FLAG" val=""/>
</p:tagLst>
</file>

<file path=ppt/tags/tag397.xml><?xml version="1.0" encoding="utf-8"?>
<p:tagLst xmlns:p="http://schemas.openxmlformats.org/presentationml/2006/main">
  <p:tag name="KSO_WM_BEAUTIFY_FLAG" val=""/>
</p:tagLst>
</file>

<file path=ppt/tags/tag398.xml><?xml version="1.0" encoding="utf-8"?>
<p:tagLst xmlns:p="http://schemas.openxmlformats.org/presentationml/2006/main">
  <p:tag name="KSO_WM_BEAUTIFY_FLAG" val=""/>
</p:tagLst>
</file>

<file path=ppt/tags/tag399.xml><?xml version="1.0" encoding="utf-8"?>
<p:tagLst xmlns:p="http://schemas.openxmlformats.org/presentationml/2006/main">
  <p:tag name="KSO_WM_BEAUTIFY_FLAG" val=""/>
</p:tagLst>
</file>

<file path=ppt/tags/tag400.xml><?xml version="1.0" encoding="utf-8"?>
<p:tagLst xmlns:p="http://schemas.openxmlformats.org/presentationml/2006/main">
  <p:tag name="KSO_WM_BEAUTIFY_FLAG" val=""/>
</p:tagLst>
</file>

<file path=ppt/tags/tag401.xml><?xml version="1.0" encoding="utf-8"?>
<p:tagLst xmlns:p="http://schemas.openxmlformats.org/presentationml/2006/main">
  <p:tag name="KSO_WM_BEAUTIFY_FLAG" val=""/>
</p:tagLst>
</file>

<file path=ppt/tags/tag402.xml><?xml version="1.0" encoding="utf-8"?>
<p:tagLst xmlns:p="http://schemas.openxmlformats.org/presentationml/2006/main">
  <p:tag name="KSO_WM_BEAUTIFY_FLAG" val=""/>
</p:tagLst>
</file>

<file path=ppt/tags/tag403.xml><?xml version="1.0" encoding="utf-8"?>
<p:tagLst xmlns:p="http://schemas.openxmlformats.org/presentationml/2006/main">
  <p:tag name="KSO_WM_BEAUTIFY_FLAG" val=""/>
</p:tagLst>
</file>

<file path=ppt/tags/tag404.xml><?xml version="1.0" encoding="utf-8"?>
<p:tagLst xmlns:p="http://schemas.openxmlformats.org/presentationml/2006/main">
  <p:tag name="KSO_WM_BEAUTIFY_FLAG" val=""/>
</p:tagLst>
</file>

<file path=ppt/tags/tag405.xml><?xml version="1.0" encoding="utf-8"?>
<p:tagLst xmlns:p="http://schemas.openxmlformats.org/presentationml/2006/main">
  <p:tag name="KSO_WM_BEAUTIFY_FLAG" val=""/>
</p:tagLst>
</file>

<file path=ppt/tags/tag406.xml><?xml version="1.0" encoding="utf-8"?>
<p:tagLst xmlns:p="http://schemas.openxmlformats.org/presentationml/2006/main">
  <p:tag name="KSO_WM_BEAUTIFY_FLAG" val=""/>
</p:tagLst>
</file>

<file path=ppt/tags/tag407.xml><?xml version="1.0" encoding="utf-8"?>
<p:tagLst xmlns:p="http://schemas.openxmlformats.org/presentationml/2006/main">
  <p:tag name="KSO_WM_BEAUTIFY_FLAG" val=""/>
</p:tagLst>
</file>

<file path=ppt/tags/tag408.xml><?xml version="1.0" encoding="utf-8"?>
<p:tagLst xmlns:p="http://schemas.openxmlformats.org/presentationml/2006/main">
  <p:tag name="KSO_WM_BEAUTIFY_FLAG" val=""/>
</p:tagLst>
</file>

<file path=ppt/tags/tag409.xml><?xml version="1.0" encoding="utf-8"?>
<p:tagLst xmlns:p="http://schemas.openxmlformats.org/presentationml/2006/main">
  <p:tag name="KSO_WM_BEAUTIFY_FLAG" val=""/>
</p:tagLst>
</file>

<file path=ppt/tags/tag410.xml><?xml version="1.0" encoding="utf-8"?>
<p:tagLst xmlns:p="http://schemas.openxmlformats.org/presentationml/2006/main">
  <p:tag name="KSO_WM_BEAUTIFY_FLAG" val=""/>
</p:tagLst>
</file>

<file path=ppt/tags/tag411.xml><?xml version="1.0" encoding="utf-8"?>
<p:tagLst xmlns:p="http://schemas.openxmlformats.org/presentationml/2006/main">
  <p:tag name="KSO_WM_BEAUTIFY_FLAG" val=""/>
</p:tagLst>
</file>

<file path=ppt/tags/tag412.xml><?xml version="1.0" encoding="utf-8"?>
<p:tagLst xmlns:p="http://schemas.openxmlformats.org/presentationml/2006/main">
  <p:tag name="KSO_WM_BEAUTIFY_FLAG" val=""/>
</p:tagLst>
</file>

<file path=ppt/tags/tag413.xml><?xml version="1.0" encoding="utf-8"?>
<p:tagLst xmlns:p="http://schemas.openxmlformats.org/presentationml/2006/main">
  <p:tag name="KSO_WM_BEAUTIFY_FLAG" val=""/>
</p:tagLst>
</file>

<file path=ppt/tags/tag414.xml><?xml version="1.0" encoding="utf-8"?>
<p:tagLst xmlns:p="http://schemas.openxmlformats.org/presentationml/2006/main">
  <p:tag name="KSO_WM_BEAUTIFY_FLAG" val=""/>
</p:tagLst>
</file>

<file path=ppt/tags/tag415.xml><?xml version="1.0" encoding="utf-8"?>
<p:tagLst xmlns:p="http://schemas.openxmlformats.org/presentationml/2006/main">
  <p:tag name="KSO_WM_BEAUTIFY_FLAG" val=""/>
</p:tagLst>
</file>

<file path=ppt/tags/tag416.xml><?xml version="1.0" encoding="utf-8"?>
<p:tagLst xmlns:p="http://schemas.openxmlformats.org/presentationml/2006/main">
  <p:tag name="KSO_WM_BEAUTIFY_FLAG" val=""/>
</p:tagLst>
</file>

<file path=ppt/tags/tag417.xml><?xml version="1.0" encoding="utf-8"?>
<p:tagLst xmlns:p="http://schemas.openxmlformats.org/presentationml/2006/main">
  <p:tag name="KSO_WM_BEAUTIFY_FLAG" val=""/>
</p:tagLst>
</file>

<file path=ppt/tags/tag418.xml><?xml version="1.0" encoding="utf-8"?>
<p:tagLst xmlns:p="http://schemas.openxmlformats.org/presentationml/2006/main">
  <p:tag name="KSO_WM_BEAUTIFY_FLAG" val=""/>
</p:tagLst>
</file>

<file path=ppt/tags/tag419.xml><?xml version="1.0" encoding="utf-8"?>
<p:tagLst xmlns:p="http://schemas.openxmlformats.org/presentationml/2006/main">
  <p:tag name="KSO_WM_BEAUTIFY_FLAG" val=""/>
</p:tagLst>
</file>

<file path=ppt/tags/tag420.xml><?xml version="1.0" encoding="utf-8"?>
<p:tagLst xmlns:p="http://schemas.openxmlformats.org/presentationml/2006/main">
  <p:tag name="KSO_WM_BEAUTIFY_FLAG" val=""/>
</p:tagLst>
</file>

<file path=ppt/tags/tag421.xml><?xml version="1.0" encoding="utf-8"?>
<p:tagLst xmlns:p="http://schemas.openxmlformats.org/presentationml/2006/main">
  <p:tag name="KSO_WM_BEAUTIFY_FLAG" val=""/>
</p:tagLst>
</file>

<file path=ppt/tags/tag422.xml><?xml version="1.0" encoding="utf-8"?>
<p:tagLst xmlns:p="http://schemas.openxmlformats.org/presentationml/2006/main">
  <p:tag name="KSO_WM_BEAUTIFY_FLAG" val=""/>
</p:tagLst>
</file>

<file path=ppt/tags/tag423.xml><?xml version="1.0" encoding="utf-8"?>
<p:tagLst xmlns:p="http://schemas.openxmlformats.org/presentationml/2006/main">
  <p:tag name="KSO_WM_BEAUTIFY_FLAG" val=""/>
</p:tagLst>
</file>

<file path=ppt/tags/tag424.xml><?xml version="1.0" encoding="utf-8"?>
<p:tagLst xmlns:p="http://schemas.openxmlformats.org/presentationml/2006/main">
  <p:tag name="KSO_WM_BEAUTIFY_FLAG" val=""/>
</p:tagLst>
</file>

<file path=ppt/tags/tag425.xml><?xml version="1.0" encoding="utf-8"?>
<p:tagLst xmlns:p="http://schemas.openxmlformats.org/presentationml/2006/main">
  <p:tag name="KSO_WM_BEAUTIFY_FLAG" val=""/>
</p:tagLst>
</file>

<file path=ppt/tags/tag426.xml><?xml version="1.0" encoding="utf-8"?>
<p:tagLst xmlns:p="http://schemas.openxmlformats.org/presentationml/2006/main">
  <p:tag name="KSO_WM_BEAUTIFY_FLAG" val=""/>
</p:tagLst>
</file>

<file path=ppt/tags/tag427.xml><?xml version="1.0" encoding="utf-8"?>
<p:tagLst xmlns:p="http://schemas.openxmlformats.org/presentationml/2006/main">
  <p:tag name="KSO_WM_BEAUTIFY_FLAG" val=""/>
</p:tagLst>
</file>

<file path=ppt/tags/tag428.xml><?xml version="1.0" encoding="utf-8"?>
<p:tagLst xmlns:p="http://schemas.openxmlformats.org/presentationml/2006/main">
  <p:tag name="KSO_WM_BEAUTIFY_FLAG" val=""/>
</p:tagLst>
</file>

<file path=ppt/tags/tag429.xml><?xml version="1.0" encoding="utf-8"?>
<p:tagLst xmlns:p="http://schemas.openxmlformats.org/presentationml/2006/main">
  <p:tag name="KSO_WM_BEAUTIFY_FLAG" val=""/>
</p:tagLst>
</file>

<file path=ppt/tags/tag430.xml><?xml version="1.0" encoding="utf-8"?>
<p:tagLst xmlns:p="http://schemas.openxmlformats.org/presentationml/2006/main">
  <p:tag name="KSO_WM_BEAUTIFY_FLAG" val=""/>
</p:tagLst>
</file>

<file path=ppt/tags/tag431.xml><?xml version="1.0" encoding="utf-8"?>
<p:tagLst xmlns:p="http://schemas.openxmlformats.org/presentationml/2006/main">
  <p:tag name="KSO_WM_BEAUTIFY_FLAG" val=""/>
</p:tagLst>
</file>

<file path=ppt/tags/tag432.xml><?xml version="1.0" encoding="utf-8"?>
<p:tagLst xmlns:p="http://schemas.openxmlformats.org/presentationml/2006/main">
  <p:tag name="KSO_WM_BEAUTIFY_FLAG" val=""/>
</p:tagLst>
</file>

<file path=ppt/tags/tag433.xml><?xml version="1.0" encoding="utf-8"?>
<p:tagLst xmlns:p="http://schemas.openxmlformats.org/presentationml/2006/main">
  <p:tag name="KSO_WM_BEAUTIFY_FLAG" val=""/>
</p:tagLst>
</file>

<file path=ppt/tags/tag434.xml><?xml version="1.0" encoding="utf-8"?>
<p:tagLst xmlns:p="http://schemas.openxmlformats.org/presentationml/2006/main">
  <p:tag name="KSO_WM_BEAUTIFY_FLAG" val=""/>
</p:tagLst>
</file>

<file path=ppt/tags/tag435.xml><?xml version="1.0" encoding="utf-8"?>
<p:tagLst xmlns:p="http://schemas.openxmlformats.org/presentationml/2006/main">
  <p:tag name="KSO_WM_BEAUTIFY_FLAG" val=""/>
</p:tagLst>
</file>

<file path=ppt/tags/tag436.xml><?xml version="1.0" encoding="utf-8"?>
<p:tagLst xmlns:p="http://schemas.openxmlformats.org/presentationml/2006/main">
  <p:tag name="KSO_WM_BEAUTIFY_FLAG" val=""/>
</p:tagLst>
</file>

<file path=ppt/tags/tag437.xml><?xml version="1.0" encoding="utf-8"?>
<p:tagLst xmlns:p="http://schemas.openxmlformats.org/presentationml/2006/main">
  <p:tag name="KSO_WM_BEAUTIFY_FLAG" val=""/>
</p:tagLst>
</file>

<file path=ppt/tags/tag438.xml><?xml version="1.0" encoding="utf-8"?>
<p:tagLst xmlns:p="http://schemas.openxmlformats.org/presentationml/2006/main">
  <p:tag name="KSO_WM_BEAUTIFY_FLAG" val=""/>
</p:tagLst>
</file>

<file path=ppt/tags/tag439.xml><?xml version="1.0" encoding="utf-8"?>
<p:tagLst xmlns:p="http://schemas.openxmlformats.org/presentationml/2006/main">
  <p:tag name="KSO_WM_BEAUTIFY_FLAG" val=""/>
</p:tagLst>
</file>

<file path=ppt/tags/tag440.xml><?xml version="1.0" encoding="utf-8"?>
<p:tagLst xmlns:p="http://schemas.openxmlformats.org/presentationml/2006/main">
  <p:tag name="KSO_WM_BEAUTIFY_FLAG" val=""/>
</p:tagLst>
</file>

<file path=ppt/tags/tag441.xml><?xml version="1.0" encoding="utf-8"?>
<p:tagLst xmlns:p="http://schemas.openxmlformats.org/presentationml/2006/main">
  <p:tag name="KSO_WM_BEAUTIFY_FLAG" val=""/>
</p:tagLst>
</file>

<file path=ppt/tags/tag442.xml><?xml version="1.0" encoding="utf-8"?>
<p:tagLst xmlns:p="http://schemas.openxmlformats.org/presentationml/2006/main">
  <p:tag name="KSO_WM_BEAUTIFY_FLAG" val=""/>
</p:tagLst>
</file>

<file path=ppt/tags/tag443.xml><?xml version="1.0" encoding="utf-8"?>
<p:tagLst xmlns:p="http://schemas.openxmlformats.org/presentationml/2006/main">
  <p:tag name="KSO_WM_BEAUTIFY_FLAG" val=""/>
</p:tagLst>
</file>

<file path=ppt/tags/tag444.xml><?xml version="1.0" encoding="utf-8"?>
<p:tagLst xmlns:p="http://schemas.openxmlformats.org/presentationml/2006/main">
  <p:tag name="KSO_WM_BEAUTIFY_FLAG" val=""/>
</p:tagLst>
</file>

<file path=ppt/tags/tag445.xml><?xml version="1.0" encoding="utf-8"?>
<p:tagLst xmlns:p="http://schemas.openxmlformats.org/presentationml/2006/main">
  <p:tag name="KSO_WM_BEAUTIFY_FLAG" val=""/>
</p:tagLst>
</file>

<file path=ppt/tags/tag446.xml><?xml version="1.0" encoding="utf-8"?>
<p:tagLst xmlns:p="http://schemas.openxmlformats.org/presentationml/2006/main">
  <p:tag name="KSO_WM_BEAUTIFY_FLAG" val=""/>
</p:tagLst>
</file>

<file path=ppt/tags/tag447.xml><?xml version="1.0" encoding="utf-8"?>
<p:tagLst xmlns:p="http://schemas.openxmlformats.org/presentationml/2006/main">
  <p:tag name="KSO_WM_BEAUTIFY_FLAG" val=""/>
</p:tagLst>
</file>

<file path=ppt/tags/tag448.xml><?xml version="1.0" encoding="utf-8"?>
<p:tagLst xmlns:p="http://schemas.openxmlformats.org/presentationml/2006/main">
  <p:tag name="SHADOWSIZE" val="100"/>
</p:tagLst>
</file>

<file path=ppt/tags/tag449.xml><?xml version="1.0" encoding="utf-8"?>
<p:tagLst xmlns:p="http://schemas.openxmlformats.org/presentationml/2006/main">
  <p:tag name="SHADOWSIZE" val="100"/>
</p:tagLst>
</file>

<file path=ppt/tags/tag450.xml><?xml version="1.0" encoding="utf-8"?>
<p:tagLst xmlns:p="http://schemas.openxmlformats.org/presentationml/2006/main">
  <p:tag name="SHADOWSIZE" val="100"/>
</p:tagLst>
</file>

<file path=ppt/tags/tag451.xml><?xml version="1.0" encoding="utf-8"?>
<p:tagLst xmlns:p="http://schemas.openxmlformats.org/presentationml/2006/main">
  <p:tag name="SHADOWSIZE" val="100"/>
</p:tagLst>
</file>

<file path=ppt/tags/tag452.xml><?xml version="1.0" encoding="utf-8"?>
<p:tagLst xmlns:p="http://schemas.openxmlformats.org/presentationml/2006/main">
  <p:tag name="SHADOWSIZE" val="100"/>
</p:tagLst>
</file>

<file path=ppt/tags/tag453.xml><?xml version="1.0" encoding="utf-8"?>
<p:tagLst xmlns:p="http://schemas.openxmlformats.org/presentationml/2006/main">
  <p:tag name="SHADOWSIZE" val="100"/>
</p:tagLst>
</file>

<file path=ppt/tags/tag454.xml><?xml version="1.0" encoding="utf-8"?>
<p:tagLst xmlns:p="http://schemas.openxmlformats.org/presentationml/2006/main">
  <p:tag name="SHADOWSIZE" val="100"/>
</p:tagLst>
</file>

<file path=ppt/tags/tag455.xml><?xml version="1.0" encoding="utf-8"?>
<p:tagLst xmlns:p="http://schemas.openxmlformats.org/presentationml/2006/main">
  <p:tag name="SHADOWSIZE" val="100"/>
</p:tagLst>
</file>

<file path=ppt/tags/tag456.xml><?xml version="1.0" encoding="utf-8"?>
<p:tagLst xmlns:p="http://schemas.openxmlformats.org/presentationml/2006/main">
  <p:tag name="SHADOWSIZE" val="100"/>
</p:tagLst>
</file>

<file path=ppt/tags/tag457.xml><?xml version="1.0" encoding="utf-8"?>
<p:tagLst xmlns:p="http://schemas.openxmlformats.org/presentationml/2006/main">
  <p:tag name="SHADOWSIZE" val="100"/>
</p:tagLst>
</file>

<file path=ppt/tags/tag458.xml><?xml version="1.0" encoding="utf-8"?>
<p:tagLst xmlns:p="http://schemas.openxmlformats.org/presentationml/2006/main">
  <p:tag name="SHADOWSIZE" val="100"/>
</p:tagLst>
</file>

<file path=ppt/tags/tag459.xml><?xml version="1.0" encoding="utf-8"?>
<p:tagLst xmlns:p="http://schemas.openxmlformats.org/presentationml/2006/main">
  <p:tag name="SHADOWSIZE" val="100"/>
</p:tagLst>
</file>

<file path=ppt/tags/tag460.xml><?xml version="1.0" encoding="utf-8"?>
<p:tagLst xmlns:p="http://schemas.openxmlformats.org/presentationml/2006/main">
  <p:tag name="KSO_WM_BEAUTIFY_FLAG" val=""/>
</p:tagLst>
</file>

<file path=ppt/tags/tag461.xml><?xml version="1.0" encoding="utf-8"?>
<p:tagLst xmlns:p="http://schemas.openxmlformats.org/presentationml/2006/main">
  <p:tag name="KSO_WM_BEAUTIFY_FLAG" val=""/>
</p:tagLst>
</file>

<file path=ppt/tags/tag462.xml><?xml version="1.0" encoding="utf-8"?>
<p:tagLst xmlns:p="http://schemas.openxmlformats.org/presentationml/2006/main">
  <p:tag name="KSO_WM_BEAUTIFY_FLAG" val=""/>
</p:tagLst>
</file>

<file path=ppt/tags/tag463.xml><?xml version="1.0" encoding="utf-8"?>
<p:tagLst xmlns:p="http://schemas.openxmlformats.org/presentationml/2006/main">
  <p:tag name="KSO_WM_BEAUTIFY_FLAG" val=""/>
</p:tagLst>
</file>

<file path=ppt/tags/tag464.xml><?xml version="1.0" encoding="utf-8"?>
<p:tagLst xmlns:p="http://schemas.openxmlformats.org/presentationml/2006/main">
  <p:tag name="KSO_WM_BEAUTIFY_FLAG" val=""/>
</p:tagLst>
</file>

<file path=ppt/tags/tag465.xml><?xml version="1.0" encoding="utf-8"?>
<p:tagLst xmlns:p="http://schemas.openxmlformats.org/presentationml/2006/main">
  <p:tag name="KSO_WM_BEAUTIFY_FLAG" val=""/>
</p:tagLst>
</file>

<file path=ppt/tags/tag466.xml><?xml version="1.0" encoding="utf-8"?>
<p:tagLst xmlns:p="http://schemas.openxmlformats.org/presentationml/2006/main">
  <p:tag name="KSO_WM_BEAUTIFY_FLAG" val=""/>
</p:tagLst>
</file>

<file path=ppt/tags/tag467.xml><?xml version="1.0" encoding="utf-8"?>
<p:tagLst xmlns:p="http://schemas.openxmlformats.org/presentationml/2006/main">
  <p:tag name="KSO_WM_BEAUTIFY_FLAG" val=""/>
</p:tagLst>
</file>

<file path=ppt/tags/tag468.xml><?xml version="1.0" encoding="utf-8"?>
<p:tagLst xmlns:p="http://schemas.openxmlformats.org/presentationml/2006/main">
  <p:tag name="KSO_WM_BEAUTIFY_FLAG" val=""/>
</p:tagLst>
</file>

<file path=ppt/tags/tag469.xml><?xml version="1.0" encoding="utf-8"?>
<p:tagLst xmlns:p="http://schemas.openxmlformats.org/presentationml/2006/main">
  <p:tag name="KSO_WM_BEAUTIFY_FLAG" val=""/>
</p:tagLst>
</file>

<file path=ppt/tags/tag470.xml><?xml version="1.0" encoding="utf-8"?>
<p:tagLst xmlns:p="http://schemas.openxmlformats.org/presentationml/2006/main">
  <p:tag name="KSO_WM_BEAUTIFY_FLAG" val=""/>
</p:tagLst>
</file>

<file path=ppt/tags/tag471.xml><?xml version="1.0" encoding="utf-8"?>
<p:tagLst xmlns:p="http://schemas.openxmlformats.org/presentationml/2006/main">
  <p:tag name="KSO_WM_BEAUTIFY_FLAG" val=""/>
</p:tagLst>
</file>

<file path=ppt/tags/tag472.xml><?xml version="1.0" encoding="utf-8"?>
<p:tagLst xmlns:p="http://schemas.openxmlformats.org/presentationml/2006/main">
  <p:tag name="KSO_WM_BEAUTIFY_FLAG" val=""/>
</p:tagLst>
</file>

<file path=ppt/tags/tag473.xml><?xml version="1.0" encoding="utf-8"?>
<p:tagLst xmlns:p="http://schemas.openxmlformats.org/presentationml/2006/main">
  <p:tag name="KSO_WM_BEAUTIFY_FLAG" val=""/>
</p:tagLst>
</file>

<file path=ppt/tags/tag474.xml><?xml version="1.0" encoding="utf-8"?>
<p:tagLst xmlns:p="http://schemas.openxmlformats.org/presentationml/2006/main">
  <p:tag name="KSO_WM_BEAUTIFY_FLAG" val=""/>
</p:tagLst>
</file>

<file path=ppt/tags/tag475.xml><?xml version="1.0" encoding="utf-8"?>
<p:tagLst xmlns:p="http://schemas.openxmlformats.org/presentationml/2006/main">
  <p:tag name="KSO_WM_BEAUTIFY_FLAG" val=""/>
</p:tagLst>
</file>

<file path=ppt/tags/tag476.xml><?xml version="1.0" encoding="utf-8"?>
<p:tagLst xmlns:p="http://schemas.openxmlformats.org/presentationml/2006/main">
  <p:tag name="KSO_WM_BEAUTIFY_FLAG" val=""/>
</p:tagLst>
</file>

<file path=ppt/tags/tag477.xml><?xml version="1.0" encoding="utf-8"?>
<p:tagLst xmlns:p="http://schemas.openxmlformats.org/presentationml/2006/main">
  <p:tag name="KSO_WM_BEAUTIFY_FLAG" val=""/>
</p:tagLst>
</file>

<file path=ppt/tags/tag478.xml><?xml version="1.0" encoding="utf-8"?>
<p:tagLst xmlns:p="http://schemas.openxmlformats.org/presentationml/2006/main">
  <p:tag name="KSO_WM_BEAUTIFY_FLAG" val=""/>
</p:tagLst>
</file>

<file path=ppt/tags/tag479.xml><?xml version="1.0" encoding="utf-8"?>
<p:tagLst xmlns:p="http://schemas.openxmlformats.org/presentationml/2006/main">
  <p:tag name="KSO_WM_BEAUTIFY_FLAG" val=""/>
</p:tagLst>
</file>

<file path=ppt/tags/tag480.xml><?xml version="1.0" encoding="utf-8"?>
<p:tagLst xmlns:p="http://schemas.openxmlformats.org/presentationml/2006/main">
  <p:tag name="KSO_WM_BEAUTIFY_FLAG" val=""/>
</p:tagLst>
</file>

<file path=ppt/tags/tag481.xml><?xml version="1.0" encoding="utf-8"?>
<p:tagLst xmlns:p="http://schemas.openxmlformats.org/presentationml/2006/main">
  <p:tag name="KSO_WM_BEAUTIFY_FLAG" val=""/>
</p:tagLst>
</file>

<file path=ppt/tags/tag482.xml><?xml version="1.0" encoding="utf-8"?>
<p:tagLst xmlns:p="http://schemas.openxmlformats.org/presentationml/2006/main">
  <p:tag name="KSO_WM_BEAUTIFY_FLAG" val=""/>
</p:tagLst>
</file>

<file path=ppt/tags/tag483.xml><?xml version="1.0" encoding="utf-8"?>
<p:tagLst xmlns:p="http://schemas.openxmlformats.org/presentationml/2006/main">
  <p:tag name="KSO_WM_BEAUTIFY_FLAG" val=""/>
</p:tagLst>
</file>

<file path=ppt/tags/tag484.xml><?xml version="1.0" encoding="utf-8"?>
<p:tagLst xmlns:p="http://schemas.openxmlformats.org/presentationml/2006/main">
  <p:tag name="KSO_WM_BEAUTIFY_FLAG" val=""/>
</p:tagLst>
</file>

<file path=ppt/tags/tag485.xml><?xml version="1.0" encoding="utf-8"?>
<p:tagLst xmlns:p="http://schemas.openxmlformats.org/presentationml/2006/main">
  <p:tag name="KSO_WM_BEAUTIFY_FLAG" val=""/>
</p:tagLst>
</file>

<file path=ppt/tags/tag486.xml><?xml version="1.0" encoding="utf-8"?>
<p:tagLst xmlns:p="http://schemas.openxmlformats.org/presentationml/2006/main">
  <p:tag name="KSO_WM_BEAUTIFY_FLAG" val=""/>
</p:tagLst>
</file>

<file path=ppt/tags/tag487.xml><?xml version="1.0" encoding="utf-8"?>
<p:tagLst xmlns:p="http://schemas.openxmlformats.org/presentationml/2006/main">
  <p:tag name="KSO_WM_BEAUTIFY_FLAG" val=""/>
</p:tagLst>
</file>

<file path=ppt/tags/tag488.xml><?xml version="1.0" encoding="utf-8"?>
<p:tagLst xmlns:p="http://schemas.openxmlformats.org/presentationml/2006/main">
  <p:tag name="KSO_WM_BEAUTIFY_FLAG" val=""/>
</p:tagLst>
</file>

<file path=ppt/tags/tag489.xml><?xml version="1.0" encoding="utf-8"?>
<p:tagLst xmlns:p="http://schemas.openxmlformats.org/presentationml/2006/main">
  <p:tag name="KSO_WM_BEAUTIFY_FLAG" val=""/>
</p:tagLst>
</file>

<file path=ppt/tags/tag490.xml><?xml version="1.0" encoding="utf-8"?>
<p:tagLst xmlns:p="http://schemas.openxmlformats.org/presentationml/2006/main">
  <p:tag name="KSO_WM_BEAUTIFY_FLAG" val=""/>
</p:tagLst>
</file>

<file path=ppt/tags/tag491.xml><?xml version="1.0" encoding="utf-8"?>
<p:tagLst xmlns:p="http://schemas.openxmlformats.org/presentationml/2006/main">
  <p:tag name="TEXTSHADOWSIZE" val="100"/>
  <p:tag name="KSO_WM_BEAUTIFY_FLAG" val=""/>
</p:tagLst>
</file>

<file path=ppt/tags/tag492.xml><?xml version="1.0" encoding="utf-8"?>
<p:tagLst xmlns:p="http://schemas.openxmlformats.org/presentationml/2006/main">
  <p:tag name="SHADOWSIZE" val="100"/>
  <p:tag name="KSO_WM_BEAUTIFY_FLAG" val=""/>
</p:tagLst>
</file>

<file path=ppt/tags/tag493.xml><?xml version="1.0" encoding="utf-8"?>
<p:tagLst xmlns:p="http://schemas.openxmlformats.org/presentationml/2006/main">
  <p:tag name="SHADOWSIZE" val="100"/>
  <p:tag name="KSO_WM_BEAUTIFY_FLAG" val=""/>
</p:tagLst>
</file>

<file path=ppt/tags/tag494.xml><?xml version="1.0" encoding="utf-8"?>
<p:tagLst xmlns:p="http://schemas.openxmlformats.org/presentationml/2006/main">
  <p:tag name="KSO_WM_BEAUTIFY_FLAG" val=""/>
</p:tagLst>
</file>

<file path=ppt/tags/tag495.xml><?xml version="1.0" encoding="utf-8"?>
<p:tagLst xmlns:p="http://schemas.openxmlformats.org/presentationml/2006/main">
  <p:tag name="TEXTSHADOWSIZE" val="100"/>
  <p:tag name="KSO_WM_BEAUTIFY_FLAG" val=""/>
</p:tagLst>
</file>

<file path=ppt/tags/tag496.xml><?xml version="1.0" encoding="utf-8"?>
<p:tagLst xmlns:p="http://schemas.openxmlformats.org/presentationml/2006/main">
  <p:tag name="KSO_WM_BEAUTIFY_FLAG" val=""/>
</p:tagLst>
</file>

<file path=ppt/tags/tag497.xml><?xml version="1.0" encoding="utf-8"?>
<p:tagLst xmlns:p="http://schemas.openxmlformats.org/presentationml/2006/main">
  <p:tag name="KSO_WM_BEAUTIFY_FLAG" val=""/>
</p:tagLst>
</file>

<file path=ppt/tags/tag498.xml><?xml version="1.0" encoding="utf-8"?>
<p:tagLst xmlns:p="http://schemas.openxmlformats.org/presentationml/2006/main">
  <p:tag name="KSO_WM_BEAUTIFY_FLAG" val=""/>
</p:tagLst>
</file>

<file path=ppt/tags/tag499.xml><?xml version="1.0" encoding="utf-8"?>
<p:tagLst xmlns:p="http://schemas.openxmlformats.org/presentationml/2006/main">
  <p:tag name="KSO_WM_BEAUTIFY_FLAG" val=""/>
</p:tagLst>
</file>

<file path=ppt/tags/tag500.xml><?xml version="1.0" encoding="utf-8"?>
<p:tagLst xmlns:p="http://schemas.openxmlformats.org/presentationml/2006/main">
  <p:tag name="KSO_WM_BEAUTIFY_FLAG" val=""/>
</p:tagLst>
</file>

<file path=ppt/tags/tag501.xml><?xml version="1.0" encoding="utf-8"?>
<p:tagLst xmlns:p="http://schemas.openxmlformats.org/presentationml/2006/main">
  <p:tag name="KSO_WM_BEAUTIFY_FLAG" val=""/>
</p:tagLst>
</file>

<file path=ppt/tags/tag502.xml><?xml version="1.0" encoding="utf-8"?>
<p:tagLst xmlns:p="http://schemas.openxmlformats.org/presentationml/2006/main">
  <p:tag name="KSO_WM_BEAUTIFY_FLAG" val=""/>
</p:tagLst>
</file>

<file path=ppt/tags/tag503.xml><?xml version="1.0" encoding="utf-8"?>
<p:tagLst xmlns:p="http://schemas.openxmlformats.org/presentationml/2006/main">
  <p:tag name="KSO_WM_BEAUTIFY_FLAG" val=""/>
</p:tagLst>
</file>

<file path=ppt/tags/tag504.xml><?xml version="1.0" encoding="utf-8"?>
<p:tagLst xmlns:p="http://schemas.openxmlformats.org/presentationml/2006/main">
  <p:tag name="KSO_WM_BEAUTIFY_FLAG" val=""/>
</p:tagLst>
</file>

<file path=ppt/tags/tag505.xml><?xml version="1.0" encoding="utf-8"?>
<p:tagLst xmlns:p="http://schemas.openxmlformats.org/presentationml/2006/main">
  <p:tag name="KSO_WM_BEAUTIFY_FLAG" val=""/>
</p:tagLst>
</file>

<file path=ppt/tags/tag506.xml><?xml version="1.0" encoding="utf-8"?>
<p:tagLst xmlns:p="http://schemas.openxmlformats.org/presentationml/2006/main">
  <p:tag name="KSO_WM_BEAUTIFY_FLAG" val=""/>
</p:tagLst>
</file>

<file path=ppt/tags/tag507.xml><?xml version="1.0" encoding="utf-8"?>
<p:tagLst xmlns:p="http://schemas.openxmlformats.org/presentationml/2006/main">
  <p:tag name="KSO_WM_BEAUTIFY_FLAG" val=""/>
</p:tagLst>
</file>

<file path=ppt/tags/tag508.xml><?xml version="1.0" encoding="utf-8"?>
<p:tagLst xmlns:p="http://schemas.openxmlformats.org/presentationml/2006/main">
  <p:tag name="KSO_WM_BEAUTIFY_FLAG" val=""/>
</p:tagLst>
</file>

<file path=ppt/tags/tag509.xml><?xml version="1.0" encoding="utf-8"?>
<p:tagLst xmlns:p="http://schemas.openxmlformats.org/presentationml/2006/main">
  <p:tag name="KSO_WM_BEAUTIFY_FLAG" val=""/>
</p:tagLst>
</file>

<file path=ppt/tags/tag510.xml><?xml version="1.0" encoding="utf-8"?>
<p:tagLst xmlns:p="http://schemas.openxmlformats.org/presentationml/2006/main">
  <p:tag name="KSO_WM_BEAUTIFY_FLAG" val=""/>
</p:tagLst>
</file>

<file path=ppt/tags/tag511.xml><?xml version="1.0" encoding="utf-8"?>
<p:tagLst xmlns:p="http://schemas.openxmlformats.org/presentationml/2006/main">
  <p:tag name="KSO_WM_BEAUTIFY_FLAG" val=""/>
</p:tagLst>
</file>

<file path=ppt/tags/tag512.xml><?xml version="1.0" encoding="utf-8"?>
<p:tagLst xmlns:p="http://schemas.openxmlformats.org/presentationml/2006/main">
  <p:tag name="KSO_WM_BEAUTIFY_FLAG" val=""/>
</p:tagLst>
</file>

<file path=ppt/tags/tag513.xml><?xml version="1.0" encoding="utf-8"?>
<p:tagLst xmlns:p="http://schemas.openxmlformats.org/presentationml/2006/main">
  <p:tag name="KSO_WM_BEAUTIFY_FLAG" val=""/>
</p:tagLst>
</file>

<file path=ppt/tags/tag514.xml><?xml version="1.0" encoding="utf-8"?>
<p:tagLst xmlns:p="http://schemas.openxmlformats.org/presentationml/2006/main">
  <p:tag name="KSO_WM_BEAUTIFY_FLAG" val=""/>
</p:tagLst>
</file>

<file path=ppt/tags/tag515.xml><?xml version="1.0" encoding="utf-8"?>
<p:tagLst xmlns:p="http://schemas.openxmlformats.org/presentationml/2006/main">
  <p:tag name="KSO_WM_BEAUTIFY_FLAG" val=""/>
</p:tagLst>
</file>

<file path=ppt/tags/tag516.xml><?xml version="1.0" encoding="utf-8"?>
<p:tagLst xmlns:p="http://schemas.openxmlformats.org/presentationml/2006/main">
  <p:tag name="KSO_WM_BEAUTIFY_FLAG" val=""/>
</p:tagLst>
</file>

<file path=ppt/tags/tag517.xml><?xml version="1.0" encoding="utf-8"?>
<p:tagLst xmlns:p="http://schemas.openxmlformats.org/presentationml/2006/main">
  <p:tag name="KSO_WM_BEAUTIFY_FLAG" val=""/>
</p:tagLst>
</file>

<file path=ppt/tags/tag518.xml><?xml version="1.0" encoding="utf-8"?>
<p:tagLst xmlns:p="http://schemas.openxmlformats.org/presentationml/2006/main">
  <p:tag name="KSO_WM_BEAUTIFY_FLAG" val=""/>
</p:tagLst>
</file>

<file path=ppt/tags/tag519.xml><?xml version="1.0" encoding="utf-8"?>
<p:tagLst xmlns:p="http://schemas.openxmlformats.org/presentationml/2006/main">
  <p:tag name="KSO_WM_BEAUTIFY_FLAG" val=""/>
</p:tagLst>
</file>

<file path=ppt/tags/tag520.xml><?xml version="1.0" encoding="utf-8"?>
<p:tagLst xmlns:p="http://schemas.openxmlformats.org/presentationml/2006/main">
  <p:tag name="KSO_WM_BEAUTIFY_FLAG" val=""/>
</p:tagLst>
</file>

<file path=ppt/tags/tag521.xml><?xml version="1.0" encoding="utf-8"?>
<p:tagLst xmlns:p="http://schemas.openxmlformats.org/presentationml/2006/main">
  <p:tag name="KSO_WM_BEAUTIFY_FLAG" val=""/>
</p:tagLst>
</file>

<file path=ppt/tags/tag522.xml><?xml version="1.0" encoding="utf-8"?>
<p:tagLst xmlns:p="http://schemas.openxmlformats.org/presentationml/2006/main">
  <p:tag name="KSO_WM_BEAUTIFY_FLAG" val=""/>
</p:tagLst>
</file>

<file path=ppt/tags/tag523.xml><?xml version="1.0" encoding="utf-8"?>
<p:tagLst xmlns:p="http://schemas.openxmlformats.org/presentationml/2006/main">
  <p:tag name="KSO_WM_BEAUTIFY_FLAG" val=""/>
</p:tagLst>
</file>

<file path=ppt/tags/tag524.xml><?xml version="1.0" encoding="utf-8"?>
<p:tagLst xmlns:p="http://schemas.openxmlformats.org/presentationml/2006/main">
  <p:tag name="KSO_WM_BEAUTIFY_FLAG" val=""/>
</p:tagLst>
</file>

<file path=ppt/tags/tag525.xml><?xml version="1.0" encoding="utf-8"?>
<p:tagLst xmlns:p="http://schemas.openxmlformats.org/presentationml/2006/main">
  <p:tag name="KSO_WM_BEAUTIFY_FLAG" val=""/>
</p:tagLst>
</file>

<file path=ppt/tags/tag526.xml><?xml version="1.0" encoding="utf-8"?>
<p:tagLst xmlns:p="http://schemas.openxmlformats.org/presentationml/2006/main">
  <p:tag name="KSO_WM_BEAUTIFY_FLAG" val=""/>
</p:tagLst>
</file>

<file path=ppt/tags/tag527.xml><?xml version="1.0" encoding="utf-8"?>
<p:tagLst xmlns:p="http://schemas.openxmlformats.org/presentationml/2006/main">
  <p:tag name="KSO_WM_BEAUTIFY_FLAG" val=""/>
</p:tagLst>
</file>

<file path=ppt/tags/tag528.xml><?xml version="1.0" encoding="utf-8"?>
<p:tagLst xmlns:p="http://schemas.openxmlformats.org/presentationml/2006/main">
  <p:tag name="KSO_WM_BEAUTIFY_FLAG" val=""/>
</p:tagLst>
</file>

<file path=ppt/tags/tag529.xml><?xml version="1.0" encoding="utf-8"?>
<p:tagLst xmlns:p="http://schemas.openxmlformats.org/presentationml/2006/main">
  <p:tag name="KSO_WM_BEAUTIFY_FLAG" val=""/>
</p:tagLst>
</file>

<file path=ppt/tags/tag530.xml><?xml version="1.0" encoding="utf-8"?>
<p:tagLst xmlns:p="http://schemas.openxmlformats.org/presentationml/2006/main">
  <p:tag name="KSO_WM_BEAUTIFY_FLAG" val=""/>
</p:tagLst>
</file>

<file path=ppt/tags/tag531.xml><?xml version="1.0" encoding="utf-8"?>
<p:tagLst xmlns:p="http://schemas.openxmlformats.org/presentationml/2006/main">
  <p:tag name="KSO_WM_BEAUTIFY_FLAG" val=""/>
</p:tagLst>
</file>

<file path=ppt/tags/tag532.xml><?xml version="1.0" encoding="utf-8"?>
<p:tagLst xmlns:p="http://schemas.openxmlformats.org/presentationml/2006/main">
  <p:tag name="KSO_WM_BEAUTIFY_FLAG" val=""/>
</p:tagLst>
</file>

<file path=ppt/tags/tag533.xml><?xml version="1.0" encoding="utf-8"?>
<p:tagLst xmlns:p="http://schemas.openxmlformats.org/presentationml/2006/main">
  <p:tag name="KSO_WM_BEAUTIFY_FLAG" val=""/>
</p:tagLst>
</file>

<file path=ppt/tags/tag534.xml><?xml version="1.0" encoding="utf-8"?>
<p:tagLst xmlns:p="http://schemas.openxmlformats.org/presentationml/2006/main">
  <p:tag name="KSO_WM_BEAUTIFY_FLAG" val=""/>
</p:tagLst>
</file>

<file path=ppt/tags/tag535.xml><?xml version="1.0" encoding="utf-8"?>
<p:tagLst xmlns:p="http://schemas.openxmlformats.org/presentationml/2006/main">
  <p:tag name="KSO_WM_BEAUTIFY_FLAG" val=""/>
</p:tagLst>
</file>

<file path=ppt/tags/tag536.xml><?xml version="1.0" encoding="utf-8"?>
<p:tagLst xmlns:p="http://schemas.openxmlformats.org/presentationml/2006/main">
  <p:tag name="KSO_WM_BEAUTIFY_FLAG" val=""/>
</p:tagLst>
</file>

<file path=ppt/tags/tag537.xml><?xml version="1.0" encoding="utf-8"?>
<p:tagLst xmlns:p="http://schemas.openxmlformats.org/presentationml/2006/main">
  <p:tag name="KSO_WM_BEAUTIFY_FLAG" val=""/>
</p:tagLst>
</file>

<file path=ppt/tags/tag538.xml><?xml version="1.0" encoding="utf-8"?>
<p:tagLst xmlns:p="http://schemas.openxmlformats.org/presentationml/2006/main">
  <p:tag name="KSO_WM_BEAUTIFY_FLAG" val=""/>
</p:tagLst>
</file>

<file path=ppt/tags/tag539.xml><?xml version="1.0" encoding="utf-8"?>
<p:tagLst xmlns:p="http://schemas.openxmlformats.org/presentationml/2006/main">
  <p:tag name="KSO_WM_BEAUTIFY_FLAG" val=""/>
</p:tagLst>
</file>

<file path=ppt/tags/tag540.xml><?xml version="1.0" encoding="utf-8"?>
<p:tagLst xmlns:p="http://schemas.openxmlformats.org/presentationml/2006/main">
  <p:tag name="SHADOWSIZE" val="100"/>
  <p:tag name="KSO_WM_BEAUTIFY_FLAG" val=""/>
</p:tagLst>
</file>

<file path=ppt/tags/tag541.xml><?xml version="1.0" encoding="utf-8"?>
<p:tagLst xmlns:p="http://schemas.openxmlformats.org/presentationml/2006/main">
  <p:tag name="SHADOWSIZE" val="100"/>
  <p:tag name="KSO_WM_BEAUTIFY_FLAG" val=""/>
</p:tagLst>
</file>

<file path=ppt/tags/tag542.xml><?xml version="1.0" encoding="utf-8"?>
<p:tagLst xmlns:p="http://schemas.openxmlformats.org/presentationml/2006/main">
  <p:tag name="SHADOWSIZE" val="100"/>
  <p:tag name="KSO_WM_BEAUTIFY_FLAG" val=""/>
</p:tagLst>
</file>

<file path=ppt/tags/tag543.xml><?xml version="1.0" encoding="utf-8"?>
<p:tagLst xmlns:p="http://schemas.openxmlformats.org/presentationml/2006/main">
  <p:tag name="SHADOWSIZE" val="100"/>
  <p:tag name="KSO_WM_BEAUTIFY_FLAG" val=""/>
</p:tagLst>
</file>

<file path=ppt/tags/tag544.xml><?xml version="1.0" encoding="utf-8"?>
<p:tagLst xmlns:p="http://schemas.openxmlformats.org/presentationml/2006/main">
  <p:tag name="SHADOWSIZE" val="100"/>
  <p:tag name="KSO_WM_BEAUTIFY_FLAG" val=""/>
</p:tagLst>
</file>

<file path=ppt/tags/tag545.xml><?xml version="1.0" encoding="utf-8"?>
<p:tagLst xmlns:p="http://schemas.openxmlformats.org/presentationml/2006/main">
  <p:tag name="SHADOWSIZE" val="100"/>
  <p:tag name="KSO_WM_BEAUTIFY_FLAG" val=""/>
</p:tagLst>
</file>

<file path=ppt/tags/tag546.xml><?xml version="1.0" encoding="utf-8"?>
<p:tagLst xmlns:p="http://schemas.openxmlformats.org/presentationml/2006/main">
  <p:tag name="KSO_WM_BEAUTIFY_FLAG" val=""/>
</p:tagLst>
</file>

<file path=ppt/tags/tag547.xml><?xml version="1.0" encoding="utf-8"?>
<p:tagLst xmlns:p="http://schemas.openxmlformats.org/presentationml/2006/main">
  <p:tag name="KSO_WM_BEAUTIFY_FLAG" val=""/>
</p:tagLst>
</file>

<file path=ppt/tags/tag548.xml><?xml version="1.0" encoding="utf-8"?>
<p:tagLst xmlns:p="http://schemas.openxmlformats.org/presentationml/2006/main">
  <p:tag name="KSO_WM_BEAUTIFY_FLAG" val=""/>
</p:tagLst>
</file>

<file path=ppt/tags/tag549.xml><?xml version="1.0" encoding="utf-8"?>
<p:tagLst xmlns:p="http://schemas.openxmlformats.org/presentationml/2006/main">
  <p:tag name="KSO_WM_BEAUTIFY_FLAG" val=""/>
</p:tagLst>
</file>

<file path=ppt/tags/tag550.xml><?xml version="1.0" encoding="utf-8"?>
<p:tagLst xmlns:p="http://schemas.openxmlformats.org/presentationml/2006/main">
  <p:tag name="KSO_WM_BEAUTIFY_FLAG" val=""/>
</p:tagLst>
</file>

<file path=ppt/tags/tag551.xml><?xml version="1.0" encoding="utf-8"?>
<p:tagLst xmlns:p="http://schemas.openxmlformats.org/presentationml/2006/main">
  <p:tag name="KSO_WM_BEAUTIFY_FLAG" val=""/>
</p:tagLst>
</file>

<file path=ppt/tags/tag552.xml><?xml version="1.0" encoding="utf-8"?>
<p:tagLst xmlns:p="http://schemas.openxmlformats.org/presentationml/2006/main">
  <p:tag name="KSO_WM_BEAUTIFY_FLAG" val=""/>
</p:tagLst>
</file>

<file path=ppt/tags/tag553.xml><?xml version="1.0" encoding="utf-8"?>
<p:tagLst xmlns:p="http://schemas.openxmlformats.org/presentationml/2006/main">
  <p:tag name="KSO_WM_DIAGRAM_VIRTUALLY_FRAME" val="{&amp;quot;height&amp;quot;:241.9,&amp;quot;left&amp;quot;:40.85,&amp;quot;top&amp;quot;:220.1,&amp;quot;width&amp;quot;:878.8}"/>
</p:tagLst>
</file>

<file path=ppt/tags/tag554.xml><?xml version="1.0" encoding="utf-8"?>
<p:tagLst xmlns:p="http://schemas.openxmlformats.org/presentationml/2006/main">
  <p:tag name="KSO_WM_DIAGRAM_VIRTUALLY_FRAME" val="{&amp;quot;height&amp;quot;:254.3,&amp;quot;left&amp;quot;:40.85,&amp;quot;top&amp;quot;:209.3,&amp;quot;width&amp;quot;:878.8}"/>
</p:tagLst>
</file>

<file path=ppt/tags/tag555.xml><?xml version="1.0" encoding="utf-8"?>
<p:tagLst xmlns:p="http://schemas.openxmlformats.org/presentationml/2006/main">
  <p:tag name="KSO_WM_BEAUTIFY_FLAG" val=""/>
</p:tagLst>
</file>

<file path=ppt/tags/tag556.xml><?xml version="1.0" encoding="utf-8"?>
<p:tagLst xmlns:p="http://schemas.openxmlformats.org/presentationml/2006/main">
  <p:tag name="KSO_WM_DIAGRAM_VIRTUALLY_FRAME" val="{&amp;quot;height&amp;quot;:254.3,&amp;quot;left&amp;quot;:40.85,&amp;quot;top&amp;quot;:209.3,&amp;quot;width&amp;quot;:878.8}"/>
</p:tagLst>
</file>

<file path=ppt/tags/tag557.xml><?xml version="1.0" encoding="utf-8"?>
<p:tagLst xmlns:p="http://schemas.openxmlformats.org/presentationml/2006/main">
  <p:tag name="KSO_WM_DIAGRAM_VIRTUALLY_FRAME" val="{&amp;quot;height&amp;quot;:254.3,&amp;quot;left&amp;quot;:40.85,&amp;quot;top&amp;quot;:209.3,&amp;quot;width&amp;quot;:878.8}"/>
</p:tagLst>
</file>

<file path=ppt/tags/tag558.xml><?xml version="1.0" encoding="utf-8"?>
<p:tagLst xmlns:p="http://schemas.openxmlformats.org/presentationml/2006/main">
  <p:tag name="KSO_WM_DIAGRAM_VIRTUALLY_FRAME" val="{&amp;quot;height&amp;quot;:254.3,&amp;quot;left&amp;quot;:40.85,&amp;quot;top&amp;quot;:209.3,&amp;quot;width&amp;quot;:878.8}"/>
</p:tagLst>
</file>

<file path=ppt/tags/tag559.xml><?xml version="1.0" encoding="utf-8"?>
<p:tagLst xmlns:p="http://schemas.openxmlformats.org/presentationml/2006/main">
  <p:tag name="KSO_WM_DIAGRAM_VIRTUALLY_FRAME" val="{&amp;quot;height&amp;quot;:254.3,&amp;quot;left&amp;quot;:40.85,&amp;quot;top&amp;quot;:209.3,&amp;quot;width&amp;quot;:878.8}"/>
</p:tagLst>
</file>

<file path=ppt/tags/tag560.xml><?xml version="1.0" encoding="utf-8"?>
<p:tagLst xmlns:p="http://schemas.openxmlformats.org/presentationml/2006/main">
  <p:tag name="KSO_WM_DIAGRAM_VIRTUALLY_FRAME" val="{&amp;quot;height&amp;quot;:254.3,&amp;quot;left&amp;quot;:40.85,&amp;quot;top&amp;quot;:209.3,&amp;quot;width&amp;quot;:878.8}"/>
</p:tagLst>
</file>

<file path=ppt/tags/tag561.xml><?xml version="1.0" encoding="utf-8"?>
<p:tagLst xmlns:p="http://schemas.openxmlformats.org/presentationml/2006/main">
  <p:tag name="KSO_WM_DIAGRAM_VIRTUALLY_FRAME" val="{&amp;quot;height&amp;quot;:254.3,&amp;quot;left&amp;quot;:40.85,&amp;quot;top&amp;quot;:209.3,&amp;quot;width&amp;quot;:878.8}"/>
</p:tagLst>
</file>

<file path=ppt/tags/tag562.xml><?xml version="1.0" encoding="utf-8"?>
<p:tagLst xmlns:p="http://schemas.openxmlformats.org/presentationml/2006/main">
  <p:tag name="KSO_WM_DIAGRAM_VIRTUALLY_FRAME" val="{&amp;quot;height&amp;quot;:254.3,&amp;quot;left&amp;quot;:40.85,&amp;quot;top&amp;quot;:209.3,&amp;quot;width&amp;quot;:878.8}"/>
</p:tagLst>
</file>

<file path=ppt/tags/tag563.xml><?xml version="1.0" encoding="utf-8"?>
<p:tagLst xmlns:p="http://schemas.openxmlformats.org/presentationml/2006/main">
  <p:tag name="KSO_WM_BEAUTIFY_FLAG" val=""/>
</p:tagLst>
</file>

<file path=ppt/tags/tag564.xml><?xml version="1.0" encoding="utf-8"?>
<p:tagLst xmlns:p="http://schemas.openxmlformats.org/presentationml/2006/main">
  <p:tag name="CONNECTOR" val="583,584"/>
  <p:tag name="CONNECTORTYPE" val="CONNECTORTYPE_STRAIGHT"/>
  <p:tag name="CONNECTORORIENTATION" val="CONNECTORORIENTATION_VERT"/>
</p:tagLst>
</file>

<file path=ppt/tags/tag565.xml><?xml version="1.0" encoding="utf-8"?>
<p:tagLst xmlns:p="http://schemas.openxmlformats.org/presentationml/2006/main">
  <p:tag name="CONNECTOR" val="583,585"/>
  <p:tag name="CONNECTORTYPE" val="CONNECTORTYPE_STRAIGHT"/>
  <p:tag name="CONNECTORORIENTATION" val="CONNECTORORIENTATION_VERT"/>
</p:tagLst>
</file>

<file path=ppt/tags/tag566.xml><?xml version="1.0" encoding="utf-8"?>
<p:tagLst xmlns:p="http://schemas.openxmlformats.org/presentationml/2006/main">
  <p:tag name="CONNECTOR" val="583,589"/>
  <p:tag name="CONNECTORTYPE" val="CONNECTORTYPE_STRAIGHT"/>
  <p:tag name="CONNECTORORIENTATION" val="CONNECTORORIENTATION_VERT"/>
</p:tagLst>
</file>

<file path=ppt/tags/tag567.xml><?xml version="1.0" encoding="utf-8"?>
<p:tagLst xmlns:p="http://schemas.openxmlformats.org/presentationml/2006/main">
  <p:tag name="CONNECTOR" val="583,590"/>
  <p:tag name="CONNECTORTYPE" val="CONNECTORTYPE_STRAIGHT"/>
  <p:tag name="CONNECTORORIENTATION" val="CONNECTORORIENTATION_VERT"/>
</p:tagLst>
</file>

<file path=ppt/tags/tag568.xml><?xml version="1.0" encoding="utf-8"?>
<p:tagLst xmlns:p="http://schemas.openxmlformats.org/presentationml/2006/main">
  <p:tag name="CONNECTOR" val="583,591"/>
  <p:tag name="CONNECTORTYPE" val="CONNECTORTYPE_STRAIGHT"/>
  <p:tag name="CONNECTORORIENTATION" val="CONNECTORORIENTATION_VERT"/>
</p:tagLst>
</file>

<file path=ppt/tags/tag569.xml><?xml version="1.0" encoding="utf-8"?>
<p:tagLst xmlns:p="http://schemas.openxmlformats.org/presentationml/2006/main">
  <p:tag name="CONNECTOR" val="583,595"/>
  <p:tag name="CONNECTORTYPE" val="CONNECTORTYPE_STRAIGHT"/>
  <p:tag name="CONNECTORORIENTATION" val="CONNECTORORIENTATION_VERT"/>
</p:tagLst>
</file>

<file path=ppt/tags/tag570.xml><?xml version="1.0" encoding="utf-8"?>
<p:tagLst xmlns:p="http://schemas.openxmlformats.org/presentationml/2006/main">
  <p:tag name="CONNECTORHOST" val="584,585,589,590,591,595"/>
</p:tagLst>
</file>

<file path=ppt/tags/tag571.xml><?xml version="1.0" encoding="utf-8"?>
<p:tagLst xmlns:p="http://schemas.openxmlformats.org/presentationml/2006/main">
  <p:tag name="CONNECTORHOST" val="583"/>
</p:tagLst>
</file>

<file path=ppt/tags/tag572.xml><?xml version="1.0" encoding="utf-8"?>
<p:tagLst xmlns:p="http://schemas.openxmlformats.org/presentationml/2006/main">
  <p:tag name="CONNECTORHOST" val="583"/>
</p:tagLst>
</file>

<file path=ppt/tags/tag573.xml><?xml version="1.0" encoding="utf-8"?>
<p:tagLst xmlns:p="http://schemas.openxmlformats.org/presentationml/2006/main">
  <p:tag name="CONNECTORHOST" val="583"/>
</p:tagLst>
</file>

<file path=ppt/tags/tag574.xml><?xml version="1.0" encoding="utf-8"?>
<p:tagLst xmlns:p="http://schemas.openxmlformats.org/presentationml/2006/main">
  <p:tag name="CONNECTORHOST" val="583"/>
</p:tagLst>
</file>

<file path=ppt/tags/tag575.xml><?xml version="1.0" encoding="utf-8"?>
<p:tagLst xmlns:p="http://schemas.openxmlformats.org/presentationml/2006/main">
  <p:tag name="CONNECTORHOST" val="583"/>
</p:tagLst>
</file>

<file path=ppt/tags/tag576.xml><?xml version="1.0" encoding="utf-8"?>
<p:tagLst xmlns:p="http://schemas.openxmlformats.org/presentationml/2006/main">
  <p:tag name="CONNECTORHOST" val="583"/>
</p:tagLst>
</file>

<file path=ppt/tags/tag577.xml><?xml version="1.0" encoding="utf-8"?>
<p:tagLst xmlns:p="http://schemas.openxmlformats.org/presentationml/2006/main">
  <p:tag name="KSO_WM_BEAUTIFY_FLAG" val=""/>
</p:tagLst>
</file>

<file path=ppt/tags/tag578.xml><?xml version="1.0" encoding="utf-8"?>
<p:tagLst xmlns:p="http://schemas.openxmlformats.org/presentationml/2006/main">
  <p:tag name="KSO_WM_BEAUTIFY_FLAG" val=""/>
</p:tagLst>
</file>

<file path=ppt/tags/tag579.xml><?xml version="1.0" encoding="utf-8"?>
<p:tagLst xmlns:p="http://schemas.openxmlformats.org/presentationml/2006/main">
  <p:tag name="KSO_WM_BEAUTIFY_FLAG" val=""/>
</p:tagLst>
</file>

<file path=ppt/tags/tag580.xml><?xml version="1.0" encoding="utf-8"?>
<p:tagLst xmlns:p="http://schemas.openxmlformats.org/presentationml/2006/main">
  <p:tag name="KSO_WM_BEAUTIFY_FLAG" val=""/>
</p:tagLst>
</file>

<file path=ppt/tags/tag581.xml><?xml version="1.0" encoding="utf-8"?>
<p:tagLst xmlns:p="http://schemas.openxmlformats.org/presentationml/2006/main">
  <p:tag name="KSO_WM_BEAUTIFY_FLAG" val=""/>
</p:tagLst>
</file>

<file path=ppt/tags/tag582.xml><?xml version="1.0" encoding="utf-8"?>
<p:tagLst xmlns:p="http://schemas.openxmlformats.org/presentationml/2006/main">
  <p:tag name="KSO_WM_BEAUTIFY_FLAG" val=""/>
</p:tagLst>
</file>

<file path=ppt/tags/tag583.xml><?xml version="1.0" encoding="utf-8"?>
<p:tagLst xmlns:p="http://schemas.openxmlformats.org/presentationml/2006/main">
  <p:tag name="KSO_WM_BEAUTIFY_FLAG" val=""/>
</p:tagLst>
</file>

<file path=ppt/tags/tag584.xml><?xml version="1.0" encoding="utf-8"?>
<p:tagLst xmlns:p="http://schemas.openxmlformats.org/presentationml/2006/main">
  <p:tag name="KSO_WM_BEAUTIFY_FLAG" val=""/>
</p:tagLst>
</file>

<file path=ppt/tags/tag585.xml><?xml version="1.0" encoding="utf-8"?>
<p:tagLst xmlns:p="http://schemas.openxmlformats.org/presentationml/2006/main">
  <p:tag name="KSO_WM_BEAUTIFY_FLAG" val=""/>
</p:tagLst>
</file>

<file path=ppt/tags/tag586.xml><?xml version="1.0" encoding="utf-8"?>
<p:tagLst xmlns:p="http://schemas.openxmlformats.org/presentationml/2006/main">
  <p:tag name="KSO_WM_BEAUTIFY_FLAG" val=""/>
</p:tagLst>
</file>

<file path=ppt/tags/tag587.xml><?xml version="1.0" encoding="utf-8"?>
<p:tagLst xmlns:p="http://schemas.openxmlformats.org/presentationml/2006/main">
  <p:tag name="KSO_WM_BEAUTIFY_FLAG" val=""/>
</p:tagLst>
</file>

<file path=ppt/tags/tag588.xml><?xml version="1.0" encoding="utf-8"?>
<p:tagLst xmlns:p="http://schemas.openxmlformats.org/presentationml/2006/main">
  <p:tag name="KSO_WM_BEAUTIFY_FLAG" val=""/>
</p:tagLst>
</file>

<file path=ppt/tags/tag589.xml><?xml version="1.0" encoding="utf-8"?>
<p:tagLst xmlns:p="http://schemas.openxmlformats.org/presentationml/2006/main">
  <p:tag name="KSO_WM_BEAUTIFY_FLAG" val=""/>
</p:tagLst>
</file>

<file path=ppt/tags/tag590.xml><?xml version="1.0" encoding="utf-8"?>
<p:tagLst xmlns:p="http://schemas.openxmlformats.org/presentationml/2006/main">
  <p:tag name="KSO_WM_BEAUTIFY_FLAG" val=""/>
</p:tagLst>
</file>

<file path=ppt/tags/tag591.xml><?xml version="1.0" encoding="utf-8"?>
<p:tagLst xmlns:p="http://schemas.openxmlformats.org/presentationml/2006/main">
  <p:tag name="KSO_WM_BEAUTIFY_FLAG" val=""/>
</p:tagLst>
</file>

<file path=ppt/tags/tag592.xml><?xml version="1.0" encoding="utf-8"?>
<p:tagLst xmlns:p="http://schemas.openxmlformats.org/presentationml/2006/main">
  <p:tag name="KSO_WM_BEAUTIFY_FLAG" val=""/>
</p:tagLst>
</file>

<file path=ppt/tags/tag593.xml><?xml version="1.0" encoding="utf-8"?>
<p:tagLst xmlns:p="http://schemas.openxmlformats.org/presentationml/2006/main">
  <p:tag name="KSO_WM_BEAUTIFY_FLAG" val=""/>
</p:tagLst>
</file>

<file path=ppt/tags/tag594.xml><?xml version="1.0" encoding="utf-8"?>
<p:tagLst xmlns:p="http://schemas.openxmlformats.org/presentationml/2006/main">
  <p:tag name="KSO_WM_BEAUTIFY_FLAG" val=""/>
</p:tagLst>
</file>

<file path=ppt/tags/tag595.xml><?xml version="1.0" encoding="utf-8"?>
<p:tagLst xmlns:p="http://schemas.openxmlformats.org/presentationml/2006/main">
  <p:tag name="KSO_WM_BEAUTIFY_FLAG" val=""/>
</p:tagLst>
</file>

<file path=ppt/tags/tag596.xml><?xml version="1.0" encoding="utf-8"?>
<p:tagLst xmlns:p="http://schemas.openxmlformats.org/presentationml/2006/main">
  <p:tag name="KSO_WM_BEAUTIFY_FLAG" val=""/>
</p:tagLst>
</file>

<file path=ppt/tags/tag597.xml><?xml version="1.0" encoding="utf-8"?>
<p:tagLst xmlns:p="http://schemas.openxmlformats.org/presentationml/2006/main">
  <p:tag name="KSO_WM_BEAUTIFY_FLAG" val=""/>
</p:tagLst>
</file>

<file path=ppt/tags/tag598.xml><?xml version="1.0" encoding="utf-8"?>
<p:tagLst xmlns:p="http://schemas.openxmlformats.org/presentationml/2006/main">
  <p:tag name="KSO_WM_BEAUTIFY_FLAG" val=""/>
</p:tagLst>
</file>

<file path=ppt/tags/tag599.xml><?xml version="1.0" encoding="utf-8"?>
<p:tagLst xmlns:p="http://schemas.openxmlformats.org/presentationml/2006/main">
  <p:tag name="KSO_WM_BEAUTIFY_FLAG" val=""/>
</p:tagLst>
</file>

<file path=ppt/tags/tag600.xml><?xml version="1.0" encoding="utf-8"?>
<p:tagLst xmlns:p="http://schemas.openxmlformats.org/presentationml/2006/main">
  <p:tag name="KSO_WM_BEAUTIFY_FLAG" val=""/>
</p:tagLst>
</file>

<file path=ppt/tags/tag601.xml><?xml version="1.0" encoding="utf-8"?>
<p:tagLst xmlns:p="http://schemas.openxmlformats.org/presentationml/2006/main">
  <p:tag name="KSO_WM_BEAUTIFY_FLAG" val=""/>
</p:tagLst>
</file>

<file path=ppt/tags/tag602.xml><?xml version="1.0" encoding="utf-8"?>
<p:tagLst xmlns:p="http://schemas.openxmlformats.org/presentationml/2006/main">
  <p:tag name="KSO_WM_BEAUTIFY_FLAG" val=""/>
</p:tagLst>
</file>

<file path=ppt/tags/tag603.xml><?xml version="1.0" encoding="utf-8"?>
<p:tagLst xmlns:p="http://schemas.openxmlformats.org/presentationml/2006/main">
  <p:tag name="KSO_WM_BEAUTIFY_FLAG" val=""/>
</p:tagLst>
</file>

<file path=ppt/tags/tag604.xml><?xml version="1.0" encoding="utf-8"?>
<p:tagLst xmlns:p="http://schemas.openxmlformats.org/presentationml/2006/main">
  <p:tag name="KSO_WM_BEAUTIFY_FLAG" val=""/>
</p:tagLst>
</file>

<file path=ppt/tags/tag605.xml><?xml version="1.0" encoding="utf-8"?>
<p:tagLst xmlns:p="http://schemas.openxmlformats.org/presentationml/2006/main">
  <p:tag name="KSO_WM_BEAUTIFY_FLAG" val=""/>
</p:tagLst>
</file>

<file path=ppt/tags/tag606.xml><?xml version="1.0" encoding="utf-8"?>
<p:tagLst xmlns:p="http://schemas.openxmlformats.org/presentationml/2006/main">
  <p:tag name="KSO_WM_BEAUTIFY_FLAG" val=""/>
</p:tagLst>
</file>

<file path=ppt/tags/tag607.xml><?xml version="1.0" encoding="utf-8"?>
<p:tagLst xmlns:p="http://schemas.openxmlformats.org/presentationml/2006/main">
  <p:tag name="KSO_WM_BEAUTIFY_FLAG" val=""/>
</p:tagLst>
</file>

<file path=ppt/tags/tag608.xml><?xml version="1.0" encoding="utf-8"?>
<p:tagLst xmlns:p="http://schemas.openxmlformats.org/presentationml/2006/main">
  <p:tag name="KSO_WM_BEAUTIFY_FLAG" val=""/>
</p:tagLst>
</file>

<file path=ppt/tags/tag609.xml><?xml version="1.0" encoding="utf-8"?>
<p:tagLst xmlns:p="http://schemas.openxmlformats.org/presentationml/2006/main">
  <p:tag name="KSO_WM_BEAUTIFY_FLAG" val=""/>
</p:tagLst>
</file>

<file path=ppt/tags/tag610.xml><?xml version="1.0" encoding="utf-8"?>
<p:tagLst xmlns:p="http://schemas.openxmlformats.org/presentationml/2006/main">
  <p:tag name="KSO_WM_BEAUTIFY_FLAG" val=""/>
</p:tagLst>
</file>

<file path=ppt/tags/tag611.xml><?xml version="1.0" encoding="utf-8"?>
<p:tagLst xmlns:p="http://schemas.openxmlformats.org/presentationml/2006/main">
  <p:tag name="KSO_WM_BEAUTIFY_FLAG" val=""/>
</p:tagLst>
</file>

<file path=ppt/tags/tag612.xml><?xml version="1.0" encoding="utf-8"?>
<p:tagLst xmlns:p="http://schemas.openxmlformats.org/presentationml/2006/main">
  <p:tag name="KSO_WM_BEAUTIFY_FLAG" val=""/>
</p:tagLst>
</file>

<file path=ppt/tags/tag613.xml><?xml version="1.0" encoding="utf-8"?>
<p:tagLst xmlns:p="http://schemas.openxmlformats.org/presentationml/2006/main">
  <p:tag name="KSO_WM_BEAUTIFY_FLAG" val=""/>
</p:tagLst>
</file>

<file path=ppt/tags/tag614.xml><?xml version="1.0" encoding="utf-8"?>
<p:tagLst xmlns:p="http://schemas.openxmlformats.org/presentationml/2006/main">
  <p:tag name="KSO_WM_BEAUTIFY_FLAG" val=""/>
</p:tagLst>
</file>

<file path=ppt/tags/tag615.xml><?xml version="1.0" encoding="utf-8"?>
<p:tagLst xmlns:p="http://schemas.openxmlformats.org/presentationml/2006/main">
  <p:tag name="KSO_WM_BEAUTIFY_FLAG" val=""/>
</p:tagLst>
</file>

<file path=ppt/tags/tag616.xml><?xml version="1.0" encoding="utf-8"?>
<p:tagLst xmlns:p="http://schemas.openxmlformats.org/presentationml/2006/main">
  <p:tag name="KSO_WM_BEAUTIFY_FLAG" val=""/>
</p:tagLst>
</file>

<file path=ppt/tags/tag617.xml><?xml version="1.0" encoding="utf-8"?>
<p:tagLst xmlns:p="http://schemas.openxmlformats.org/presentationml/2006/main">
  <p:tag name="KSO_WM_BEAUTIFY_FLAG" val=""/>
</p:tagLst>
</file>

<file path=ppt/tags/tag618.xml><?xml version="1.0" encoding="utf-8"?>
<p:tagLst xmlns:p="http://schemas.openxmlformats.org/presentationml/2006/main">
  <p:tag name="KSO_WM_BEAUTIFY_FLAG" val=""/>
</p:tagLst>
</file>

<file path=ppt/tags/tag619.xml><?xml version="1.0" encoding="utf-8"?>
<p:tagLst xmlns:p="http://schemas.openxmlformats.org/presentationml/2006/main">
  <p:tag name="KSO_WM_BEAUTIFY_FLAG" val=""/>
</p:tagLst>
</file>

<file path=ppt/tags/tag620.xml><?xml version="1.0" encoding="utf-8"?>
<p:tagLst xmlns:p="http://schemas.openxmlformats.org/presentationml/2006/main">
  <p:tag name="KSO_WM_BEAUTIFY_FLAG" val=""/>
</p:tagLst>
</file>

<file path=ppt/tags/tag621.xml><?xml version="1.0" encoding="utf-8"?>
<p:tagLst xmlns:p="http://schemas.openxmlformats.org/presentationml/2006/main">
  <p:tag name="KSO_WM_BEAUTIFY_FLAG" val=""/>
</p:tagLst>
</file>

<file path=ppt/tags/tag622.xml><?xml version="1.0" encoding="utf-8"?>
<p:tagLst xmlns:p="http://schemas.openxmlformats.org/presentationml/2006/main">
  <p:tag name="KSO_WM_BEAUTIFY_FLAG" val=""/>
</p:tagLst>
</file>

<file path=ppt/tags/tag623.xml><?xml version="1.0" encoding="utf-8"?>
<p:tagLst xmlns:p="http://schemas.openxmlformats.org/presentationml/2006/main">
  <p:tag name="KSO_WM_BEAUTIFY_FLAG" val=""/>
</p:tagLst>
</file>

<file path=ppt/tags/tag624.xml><?xml version="1.0" encoding="utf-8"?>
<p:tagLst xmlns:p="http://schemas.openxmlformats.org/presentationml/2006/main">
  <p:tag name="KSO_WM_BEAUTIFY_FLAG" val=""/>
</p:tagLst>
</file>

<file path=ppt/tags/tag625.xml><?xml version="1.0" encoding="utf-8"?>
<p:tagLst xmlns:p="http://schemas.openxmlformats.org/presentationml/2006/main">
  <p:tag name="KSO_WM_BEAUTIFY_FLAG" val=""/>
</p:tagLst>
</file>

<file path=ppt/tags/tag626.xml><?xml version="1.0" encoding="utf-8"?>
<p:tagLst xmlns:p="http://schemas.openxmlformats.org/presentationml/2006/main">
  <p:tag name="KSO_WM_BEAUTIFY_FLAG" val=""/>
</p:tagLst>
</file>

<file path=ppt/tags/tag627.xml><?xml version="1.0" encoding="utf-8"?>
<p:tagLst xmlns:p="http://schemas.openxmlformats.org/presentationml/2006/main">
  <p:tag name="KSO_WM_BEAUTIFY_FLAG" val=""/>
</p:tagLst>
</file>

<file path=ppt/tags/tag628.xml><?xml version="1.0" encoding="utf-8"?>
<p:tagLst xmlns:p="http://schemas.openxmlformats.org/presentationml/2006/main">
  <p:tag name="KSO_WM_BEAUTIFY_FLAG" val=""/>
</p:tagLst>
</file>

<file path=ppt/tags/tag629.xml><?xml version="1.0" encoding="utf-8"?>
<p:tagLst xmlns:p="http://schemas.openxmlformats.org/presentationml/2006/main">
  <p:tag name="KSO_WM_BEAUTIFY_FLAG" val=""/>
</p:tagLst>
</file>

<file path=ppt/tags/tag630.xml><?xml version="1.0" encoding="utf-8"?>
<p:tagLst xmlns:p="http://schemas.openxmlformats.org/presentationml/2006/main">
  <p:tag name="KSO_WM_BEAUTIFY_FLAG" val=""/>
</p:tagLst>
</file>

<file path=ppt/tags/tag631.xml><?xml version="1.0" encoding="utf-8"?>
<p:tagLst xmlns:p="http://schemas.openxmlformats.org/presentationml/2006/main">
  <p:tag name="KSO_WM_BEAUTIFY_FLAG" val=""/>
</p:tagLst>
</file>

<file path=ppt/tags/tag632.xml><?xml version="1.0" encoding="utf-8"?>
<p:tagLst xmlns:p="http://schemas.openxmlformats.org/presentationml/2006/main">
  <p:tag name="KSO_WM_BEAUTIFY_FLAG" val=""/>
</p:tagLst>
</file>

<file path=ppt/tags/tag633.xml><?xml version="1.0" encoding="utf-8"?>
<p:tagLst xmlns:p="http://schemas.openxmlformats.org/presentationml/2006/main">
  <p:tag name="KSO_WM_BEAUTIFY_FLAG" val=""/>
</p:tagLst>
</file>

<file path=ppt/tags/tag634.xml><?xml version="1.0" encoding="utf-8"?>
<p:tagLst xmlns:p="http://schemas.openxmlformats.org/presentationml/2006/main">
  <p:tag name="KSO_WM_BEAUTIFY_FLAG" val=""/>
</p:tagLst>
</file>

<file path=ppt/tags/tag635.xml><?xml version="1.0" encoding="utf-8"?>
<p:tagLst xmlns:p="http://schemas.openxmlformats.org/presentationml/2006/main">
  <p:tag name="KSO_WM_BEAUTIFY_FLAG" val=""/>
</p:tagLst>
</file>

<file path=ppt/tags/tag636.xml><?xml version="1.0" encoding="utf-8"?>
<p:tagLst xmlns:p="http://schemas.openxmlformats.org/presentationml/2006/main">
  <p:tag name="KSO_WM_BEAUTIFY_FLAG" val=""/>
</p:tagLst>
</file>

<file path=ppt/tags/tag637.xml><?xml version="1.0" encoding="utf-8"?>
<p:tagLst xmlns:p="http://schemas.openxmlformats.org/presentationml/2006/main">
  <p:tag name="KSO_WM_BEAUTIFY_FLAG" val=""/>
</p:tagLst>
</file>

<file path=ppt/tags/tag638.xml><?xml version="1.0" encoding="utf-8"?>
<p:tagLst xmlns:p="http://schemas.openxmlformats.org/presentationml/2006/main">
  <p:tag name="KSO_WM_BEAUTIFY_FLAG" val=""/>
</p:tagLst>
</file>

<file path=ppt/tags/tag639.xml><?xml version="1.0" encoding="utf-8"?>
<p:tagLst xmlns:p="http://schemas.openxmlformats.org/presentationml/2006/main">
  <p:tag name="KSO_WM_BEAUTIFY_FLAG" val=""/>
</p:tagLst>
</file>

<file path=ppt/tags/tag640.xml><?xml version="1.0" encoding="utf-8"?>
<p:tagLst xmlns:p="http://schemas.openxmlformats.org/presentationml/2006/main">
  <p:tag name="KSO_WM_BEAUTIFY_FLAG" val=""/>
</p:tagLst>
</file>

<file path=ppt/tags/tag641.xml><?xml version="1.0" encoding="utf-8"?>
<p:tagLst xmlns:p="http://schemas.openxmlformats.org/presentationml/2006/main">
  <p:tag name="KSO_WM_BEAUTIFY_FLAG" val=""/>
</p:tagLst>
</file>

<file path=ppt/tags/tag642.xml><?xml version="1.0" encoding="utf-8"?>
<p:tagLst xmlns:p="http://schemas.openxmlformats.org/presentationml/2006/main">
  <p:tag name="KSO_WM_BEAUTIFY_FLAG" val=""/>
</p:tagLst>
</file>

<file path=ppt/tags/tag643.xml><?xml version="1.0" encoding="utf-8"?>
<p:tagLst xmlns:p="http://schemas.openxmlformats.org/presentationml/2006/main">
  <p:tag name="KSO_WM_BEAUTIFY_FLAG" val=""/>
</p:tagLst>
</file>

<file path=ppt/tags/tag644.xml><?xml version="1.0" encoding="utf-8"?>
<p:tagLst xmlns:p="http://schemas.openxmlformats.org/presentationml/2006/main">
  <p:tag name="KSO_WM_BEAUTIFY_FLAG" val=""/>
</p:tagLst>
</file>

<file path=ppt/tags/tag645.xml><?xml version="1.0" encoding="utf-8"?>
<p:tagLst xmlns:p="http://schemas.openxmlformats.org/presentationml/2006/main">
  <p:tag name="KSO_WM_BEAUTIFY_FLAG" val=""/>
</p:tagLst>
</file>

<file path=ppt/tags/tag646.xml><?xml version="1.0" encoding="utf-8"?>
<p:tagLst xmlns:p="http://schemas.openxmlformats.org/presentationml/2006/main">
  <p:tag name="KSO_WM_BEAUTIFY_FLAG" val=""/>
</p:tagLst>
</file>

<file path=ppt/tags/tag647.xml><?xml version="1.0" encoding="utf-8"?>
<p:tagLst xmlns:p="http://schemas.openxmlformats.org/presentationml/2006/main">
  <p:tag name="KSO_WM_BEAUTIFY_FLAG" val=""/>
</p:tagLst>
</file>

<file path=ppt/tags/tag648.xml><?xml version="1.0" encoding="utf-8"?>
<p:tagLst xmlns:p="http://schemas.openxmlformats.org/presentationml/2006/main">
  <p:tag name="KSO_WM_BEAUTIFY_FLAG" val=""/>
</p:tagLst>
</file>

<file path=ppt/tags/tag649.xml><?xml version="1.0" encoding="utf-8"?>
<p:tagLst xmlns:p="http://schemas.openxmlformats.org/presentationml/2006/main">
  <p:tag name="KSO_WM_BEAUTIFY_FLAG" val=""/>
</p:tagLst>
</file>

<file path=ppt/tags/tag650.xml><?xml version="1.0" encoding="utf-8"?>
<p:tagLst xmlns:p="http://schemas.openxmlformats.org/presentationml/2006/main">
  <p:tag name="KSO_WM_BEAUTIFY_FLAG" val=""/>
</p:tagLst>
</file>

<file path=ppt/tags/tag651.xml><?xml version="1.0" encoding="utf-8"?>
<p:tagLst xmlns:p="http://schemas.openxmlformats.org/presentationml/2006/main">
  <p:tag name="KSO_WM_BEAUTIFY_FLAG" val=""/>
</p:tagLst>
</file>

<file path=ppt/tags/tag652.xml><?xml version="1.0" encoding="utf-8"?>
<p:tagLst xmlns:p="http://schemas.openxmlformats.org/presentationml/2006/main">
  <p:tag name="KSO_WM_BEAUTIFY_FLAG" val=""/>
</p:tagLst>
</file>

<file path=ppt/tags/tag653.xml><?xml version="1.0" encoding="utf-8"?>
<p:tagLst xmlns:p="http://schemas.openxmlformats.org/presentationml/2006/main">
  <p:tag name="KSO_WM_BEAUTIFY_FLAG" val=""/>
</p:tagLst>
</file>

<file path=ppt/tags/tag654.xml><?xml version="1.0" encoding="utf-8"?>
<p:tagLst xmlns:p="http://schemas.openxmlformats.org/presentationml/2006/main">
  <p:tag name="KSO_WM_BEAUTIFY_FLAG" val=""/>
</p:tagLst>
</file>

<file path=ppt/tags/tag655.xml><?xml version="1.0" encoding="utf-8"?>
<p:tagLst xmlns:p="http://schemas.openxmlformats.org/presentationml/2006/main">
  <p:tag name="KSO_WM_BEAUTIFY_FLAG" val=""/>
</p:tagLst>
</file>

<file path=ppt/tags/tag656.xml><?xml version="1.0" encoding="utf-8"?>
<p:tagLst xmlns:p="http://schemas.openxmlformats.org/presentationml/2006/main">
  <p:tag name="KSO_WM_BEAUTIFY_FLAG" val=""/>
</p:tagLst>
</file>

<file path=ppt/tags/tag657.xml><?xml version="1.0" encoding="utf-8"?>
<p:tagLst xmlns:p="http://schemas.openxmlformats.org/presentationml/2006/main">
  <p:tag name="KSO_WM_BEAUTIFY_FLAG" val=""/>
</p:tagLst>
</file>

<file path=ppt/tags/tag658.xml><?xml version="1.0" encoding="utf-8"?>
<p:tagLst xmlns:p="http://schemas.openxmlformats.org/presentationml/2006/main">
  <p:tag name="KSO_WM_BEAUTIFY_FLAG" val=""/>
</p:tagLst>
</file>

<file path=ppt/tags/tag659.xml><?xml version="1.0" encoding="utf-8"?>
<p:tagLst xmlns:p="http://schemas.openxmlformats.org/presentationml/2006/main">
  <p:tag name="KSO_WM_BEAUTIFY_FLAG" val=""/>
</p:tagLst>
</file>

<file path=ppt/tags/tag660.xml><?xml version="1.0" encoding="utf-8"?>
<p:tagLst xmlns:p="http://schemas.openxmlformats.org/presentationml/2006/main">
  <p:tag name="KSO_WM_BEAUTIFY_FLAG" val=""/>
</p:tagLst>
</file>

<file path=ppt/tags/tag661.xml><?xml version="1.0" encoding="utf-8"?>
<p:tagLst xmlns:p="http://schemas.openxmlformats.org/presentationml/2006/main">
  <p:tag name="KSO_WM_BEAUTIFY_FLAG" val=""/>
</p:tagLst>
</file>

<file path=ppt/tags/tag662.xml><?xml version="1.0" encoding="utf-8"?>
<p:tagLst xmlns:p="http://schemas.openxmlformats.org/presentationml/2006/main">
  <p:tag name="KSO_WM_BEAUTIFY_FLAG" val=""/>
</p:tagLst>
</file>

<file path=ppt/tags/tag663.xml><?xml version="1.0" encoding="utf-8"?>
<p:tagLst xmlns:p="http://schemas.openxmlformats.org/presentationml/2006/main">
  <p:tag name="KSO_WM_BEAUTIFY_FLAG" val=""/>
</p:tagLst>
</file>

<file path=ppt/tags/tag664.xml><?xml version="1.0" encoding="utf-8"?>
<p:tagLst xmlns:p="http://schemas.openxmlformats.org/presentationml/2006/main">
  <p:tag name="KSO_WM_BEAUTIFY_FLAG" val=""/>
</p:tagLst>
</file>

<file path=ppt/tags/tag665.xml><?xml version="1.0" encoding="utf-8"?>
<p:tagLst xmlns:p="http://schemas.openxmlformats.org/presentationml/2006/main">
  <p:tag name="KSO_WM_BEAUTIFY_FLAG" val=""/>
</p:tagLst>
</file>

<file path=ppt/tags/tag666.xml><?xml version="1.0" encoding="utf-8"?>
<p:tagLst xmlns:p="http://schemas.openxmlformats.org/presentationml/2006/main">
  <p:tag name="KSO_WM_BEAUTIFY_FLAG" val=""/>
</p:tagLst>
</file>

<file path=ppt/tags/tag667.xml><?xml version="1.0" encoding="utf-8"?>
<p:tagLst xmlns:p="http://schemas.openxmlformats.org/presentationml/2006/main">
  <p:tag name="KSO_WM_BEAUTIFY_FLAG" val=""/>
</p:tagLst>
</file>

<file path=ppt/tags/tag668.xml><?xml version="1.0" encoding="utf-8"?>
<p:tagLst xmlns:p="http://schemas.openxmlformats.org/presentationml/2006/main">
  <p:tag name="KSO_WM_BEAUTIFY_FLAG" val=""/>
</p:tagLst>
</file>

<file path=ppt/tags/tag669.xml><?xml version="1.0" encoding="utf-8"?>
<p:tagLst xmlns:p="http://schemas.openxmlformats.org/presentationml/2006/main">
  <p:tag name="KSO_WM_BEAUTIFY_FLAG" val=""/>
</p:tagLst>
</file>

<file path=ppt/tags/tag670.xml><?xml version="1.0" encoding="utf-8"?>
<p:tagLst xmlns:p="http://schemas.openxmlformats.org/presentationml/2006/main">
  <p:tag name="KSO_WM_BEAUTIFY_FLAG" val=""/>
</p:tagLst>
</file>

<file path=ppt/tags/tag671.xml><?xml version="1.0" encoding="utf-8"?>
<p:tagLst xmlns:p="http://schemas.openxmlformats.org/presentationml/2006/main">
  <p:tag name="KSO_WM_BEAUTIFY_FLAG" val=""/>
</p:tagLst>
</file>

<file path=ppt/tags/tag672.xml><?xml version="1.0" encoding="utf-8"?>
<p:tagLst xmlns:p="http://schemas.openxmlformats.org/presentationml/2006/main">
  <p:tag name="KSO_WM_BEAUTIFY_FLAG" val=""/>
</p:tagLst>
</file>

<file path=ppt/tags/tag673.xml><?xml version="1.0" encoding="utf-8"?>
<p:tagLst xmlns:p="http://schemas.openxmlformats.org/presentationml/2006/main">
  <p:tag name="KSO_WM_BEAUTIFY_FLAG" val=""/>
</p:tagLst>
</file>

<file path=ppt/tags/tag674.xml><?xml version="1.0" encoding="utf-8"?>
<p:tagLst xmlns:p="http://schemas.openxmlformats.org/presentationml/2006/main">
  <p:tag name="KSO_WM_BEAUTIFY_FLAG" val=""/>
</p:tagLst>
</file>

<file path=ppt/tags/tag675.xml><?xml version="1.0" encoding="utf-8"?>
<p:tagLst xmlns:p="http://schemas.openxmlformats.org/presentationml/2006/main">
  <p:tag name="KSO_WM_BEAUTIFY_FLAG" val=""/>
</p:tagLst>
</file>

<file path=ppt/tags/tag676.xml><?xml version="1.0" encoding="utf-8"?>
<p:tagLst xmlns:p="http://schemas.openxmlformats.org/presentationml/2006/main">
  <p:tag name="KSO_WM_BEAUTIFY_FLAG" val=""/>
</p:tagLst>
</file>

<file path=ppt/tags/tag677.xml><?xml version="1.0" encoding="utf-8"?>
<p:tagLst xmlns:p="http://schemas.openxmlformats.org/presentationml/2006/main">
  <p:tag name="KSO_WM_BEAUTIFY_FLAG" val=""/>
</p:tagLst>
</file>

<file path=ppt/tags/tag678.xml><?xml version="1.0" encoding="utf-8"?>
<p:tagLst xmlns:p="http://schemas.openxmlformats.org/presentationml/2006/main">
  <p:tag name="KSO_WM_BEAUTIFY_FLAG" val=""/>
</p:tagLst>
</file>

<file path=ppt/tags/tag679.xml><?xml version="1.0" encoding="utf-8"?>
<p:tagLst xmlns:p="http://schemas.openxmlformats.org/presentationml/2006/main">
  <p:tag name="KSO_WM_BEAUTIFY_FLAG" val=""/>
</p:tagLst>
</file>

<file path=ppt/tags/tag680.xml><?xml version="1.0" encoding="utf-8"?>
<p:tagLst xmlns:p="http://schemas.openxmlformats.org/presentationml/2006/main">
  <p:tag name="KSO_WM_BEAUTIFY_FLAG" val=""/>
</p:tagLst>
</file>

<file path=ppt/tags/tag681.xml><?xml version="1.0" encoding="utf-8"?>
<p:tagLst xmlns:p="http://schemas.openxmlformats.org/presentationml/2006/main">
  <p:tag name="KSO_WM_BEAUTIFY_FLAG" val=""/>
</p:tagLst>
</file>

<file path=ppt/tags/tag682.xml><?xml version="1.0" encoding="utf-8"?>
<p:tagLst xmlns:p="http://schemas.openxmlformats.org/presentationml/2006/main">
  <p:tag name="KSO_WM_BEAUTIFY_FLAG" val=""/>
</p:tagLst>
</file>

<file path=ppt/tags/tag683.xml><?xml version="1.0" encoding="utf-8"?>
<p:tagLst xmlns:p="http://schemas.openxmlformats.org/presentationml/2006/main">
  <p:tag name="KSO_WM_BEAUTIFY_FLAG" val=""/>
</p:tagLst>
</file>

<file path=ppt/tags/tag684.xml><?xml version="1.0" encoding="utf-8"?>
<p:tagLst xmlns:p="http://schemas.openxmlformats.org/presentationml/2006/main">
  <p:tag name="KSO_WM_BEAUTIFY_FLAG" val=""/>
</p:tagLst>
</file>

<file path=ppt/tags/tag685.xml><?xml version="1.0" encoding="utf-8"?>
<p:tagLst xmlns:p="http://schemas.openxmlformats.org/presentationml/2006/main">
  <p:tag name="KSO_WM_BEAUTIFY_FLAG" val=""/>
</p:tagLst>
</file>

<file path=ppt/tags/tag686.xml><?xml version="1.0" encoding="utf-8"?>
<p:tagLst xmlns:p="http://schemas.openxmlformats.org/presentationml/2006/main">
  <p:tag name="KSO_WM_BEAUTIFY_FLAG" val=""/>
</p:tagLst>
</file>

<file path=ppt/tags/tag687.xml><?xml version="1.0" encoding="utf-8"?>
<p:tagLst xmlns:p="http://schemas.openxmlformats.org/presentationml/2006/main">
  <p:tag name="KSO_WM_BEAUTIFY_FLAG" val=""/>
</p:tagLst>
</file>

<file path=ppt/tags/tag688.xml><?xml version="1.0" encoding="utf-8"?>
<p:tagLst xmlns:p="http://schemas.openxmlformats.org/presentationml/2006/main">
  <p:tag name="KSO_WM_BEAUTIFY_FLAG" val=""/>
</p:tagLst>
</file>

<file path=ppt/tags/tag689.xml><?xml version="1.0" encoding="utf-8"?>
<p:tagLst xmlns:p="http://schemas.openxmlformats.org/presentationml/2006/main">
  <p:tag name="KSO_WM_BEAUTIFY_FLAG" val=""/>
</p:tagLst>
</file>

<file path=ppt/tags/tag690.xml><?xml version="1.0" encoding="utf-8"?>
<p:tagLst xmlns:p="http://schemas.openxmlformats.org/presentationml/2006/main">
  <p:tag name="KSO_WM_BEAUTIFY_FLAG" val=""/>
</p:tagLst>
</file>

<file path=ppt/tags/tag691.xml><?xml version="1.0" encoding="utf-8"?>
<p:tagLst xmlns:p="http://schemas.openxmlformats.org/presentationml/2006/main">
  <p:tag name="KSO_WM_BEAUTIFY_FLAG" val=""/>
</p:tagLst>
</file>

<file path=ppt/tags/tag692.xml><?xml version="1.0" encoding="utf-8"?>
<p:tagLst xmlns:p="http://schemas.openxmlformats.org/presentationml/2006/main">
  <p:tag name="KSO_WM_BEAUTIFY_FLAG" val=""/>
</p:tagLst>
</file>

<file path=ppt/tags/tag693.xml><?xml version="1.0" encoding="utf-8"?>
<p:tagLst xmlns:p="http://schemas.openxmlformats.org/presentationml/2006/main">
  <p:tag name="KSO_WM_BEAUTIFY_FLAG" val=""/>
</p:tagLst>
</file>

<file path=ppt/tags/tag694.xml><?xml version="1.0" encoding="utf-8"?>
<p:tagLst xmlns:p="http://schemas.openxmlformats.org/presentationml/2006/main">
  <p:tag name="KSO_WM_BEAUTIFY_FLAG" val=""/>
</p:tagLst>
</file>

<file path=ppt/tags/tag695.xml><?xml version="1.0" encoding="utf-8"?>
<p:tagLst xmlns:p="http://schemas.openxmlformats.org/presentationml/2006/main">
  <p:tag name="KSO_WM_BEAUTIFY_FLAG" val=""/>
</p:tagLst>
</file>

<file path=ppt/tags/tag696.xml><?xml version="1.0" encoding="utf-8"?>
<p:tagLst xmlns:p="http://schemas.openxmlformats.org/presentationml/2006/main">
  <p:tag name="KSO_WM_BEAUTIFY_FLAG" val=""/>
</p:tagLst>
</file>

<file path=ppt/tags/tag697.xml><?xml version="1.0" encoding="utf-8"?>
<p:tagLst xmlns:p="http://schemas.openxmlformats.org/presentationml/2006/main">
  <p:tag name="KSO_WM_BEAUTIFY_FLAG" val=""/>
</p:tagLst>
</file>

<file path=ppt/tags/tag698.xml><?xml version="1.0" encoding="utf-8"?>
<p:tagLst xmlns:p="http://schemas.openxmlformats.org/presentationml/2006/main">
  <p:tag name="KSO_WM_BEAUTIFY_FLAG" val=""/>
</p:tagLst>
</file>

<file path=ppt/tags/tag699.xml><?xml version="1.0" encoding="utf-8"?>
<p:tagLst xmlns:p="http://schemas.openxmlformats.org/presentationml/2006/main">
  <p:tag name="KSO_WM_BEAUTIFY_FLAG" val=""/>
</p:tagLst>
</file>

<file path=ppt/tags/tag700.xml><?xml version="1.0" encoding="utf-8"?>
<p:tagLst xmlns:p="http://schemas.openxmlformats.org/presentationml/2006/main">
  <p:tag name="KSO_WM_BEAUTIFY_FLAG" val=""/>
</p:tagLst>
</file>

<file path=ppt/tags/tag701.xml><?xml version="1.0" encoding="utf-8"?>
<p:tagLst xmlns:p="http://schemas.openxmlformats.org/presentationml/2006/main">
  <p:tag name="KSO_WM_BEAUTIFY_FLAG" val=""/>
</p:tagLst>
</file>

<file path=ppt/tags/tag702.xml><?xml version="1.0" encoding="utf-8"?>
<p:tagLst xmlns:p="http://schemas.openxmlformats.org/presentationml/2006/main">
  <p:tag name="KSO_WM_BEAUTIFY_FLAG" val=""/>
</p:tagLst>
</file>

<file path=ppt/tags/tag703.xml><?xml version="1.0" encoding="utf-8"?>
<p:tagLst xmlns:p="http://schemas.openxmlformats.org/presentationml/2006/main">
  <p:tag name="KSO_WM_BEAUTIFY_FLAG" val=""/>
</p:tagLst>
</file>

<file path=ppt/tags/tag704.xml><?xml version="1.0" encoding="utf-8"?>
<p:tagLst xmlns:p="http://schemas.openxmlformats.org/presentationml/2006/main">
  <p:tag name="KSO_WM_BEAUTIFY_FLAG" val=""/>
</p:tagLst>
</file>

<file path=ppt/tags/tag705.xml><?xml version="1.0" encoding="utf-8"?>
<p:tagLst xmlns:p="http://schemas.openxmlformats.org/presentationml/2006/main">
  <p:tag name="KSO_WM_BEAUTIFY_FLAG" val=""/>
</p:tagLst>
</file>

<file path=ppt/tags/tag706.xml><?xml version="1.0" encoding="utf-8"?>
<p:tagLst xmlns:p="http://schemas.openxmlformats.org/presentationml/2006/main">
  <p:tag name="KSO_WM_BEAUTIFY_FLAG" val=""/>
</p:tagLst>
</file>

<file path=ppt/tags/tag707.xml><?xml version="1.0" encoding="utf-8"?>
<p:tagLst xmlns:p="http://schemas.openxmlformats.org/presentationml/2006/main">
  <p:tag name="KSO_WM_BEAUTIFY_FLAG" val=""/>
</p:tagLst>
</file>

<file path=ppt/tags/tag708.xml><?xml version="1.0" encoding="utf-8"?>
<p:tagLst xmlns:p="http://schemas.openxmlformats.org/presentationml/2006/main">
  <p:tag name="KSO_WM_BEAUTIFY_FLAG" val=""/>
</p:tagLst>
</file>

<file path=ppt/tags/tag709.xml><?xml version="1.0" encoding="utf-8"?>
<p:tagLst xmlns:p="http://schemas.openxmlformats.org/presentationml/2006/main">
  <p:tag name="KSO_WM_BEAUTIFY_FLAG" val=""/>
</p:tagLst>
</file>

<file path=ppt/tags/tag710.xml><?xml version="1.0" encoding="utf-8"?>
<p:tagLst xmlns:p="http://schemas.openxmlformats.org/presentationml/2006/main">
  <p:tag name="KSO_WM_BEAUTIFY_FLAG" val=""/>
</p:tagLst>
</file>

<file path=ppt/tags/tag711.xml><?xml version="1.0" encoding="utf-8"?>
<p:tagLst xmlns:p="http://schemas.openxmlformats.org/presentationml/2006/main">
  <p:tag name="KSO_WM_BEAUTIFY_FLAG" val=""/>
</p:tagLst>
</file>

<file path=ppt/tags/tag712.xml><?xml version="1.0" encoding="utf-8"?>
<p:tagLst xmlns:p="http://schemas.openxmlformats.org/presentationml/2006/main">
  <p:tag name="KSO_WM_BEAUTIFY_FLAG" val=""/>
</p:tagLst>
</file>

<file path=ppt/tags/tag713.xml><?xml version="1.0" encoding="utf-8"?>
<p:tagLst xmlns:p="http://schemas.openxmlformats.org/presentationml/2006/main">
  <p:tag name="KSO_WM_BEAUTIFY_FLAG" val=""/>
</p:tagLst>
</file>

<file path=ppt/tags/tag714.xml><?xml version="1.0" encoding="utf-8"?>
<p:tagLst xmlns:p="http://schemas.openxmlformats.org/presentationml/2006/main">
  <p:tag name="KSO_WM_BEAUTIFY_FLAG" val=""/>
</p:tagLst>
</file>

<file path=ppt/tags/tag715.xml><?xml version="1.0" encoding="utf-8"?>
<p:tagLst xmlns:p="http://schemas.openxmlformats.org/presentationml/2006/main">
  <p:tag name="KSO_WM_BEAUTIFY_FLAG" val=""/>
</p:tagLst>
</file>

<file path=ppt/tags/tag716.xml><?xml version="1.0" encoding="utf-8"?>
<p:tagLst xmlns:p="http://schemas.openxmlformats.org/presentationml/2006/main">
  <p:tag name="KSO_WM_BEAUTIFY_FLAG" val=""/>
</p:tagLst>
</file>

<file path=ppt/tags/tag717.xml><?xml version="1.0" encoding="utf-8"?>
<p:tagLst xmlns:p="http://schemas.openxmlformats.org/presentationml/2006/main">
  <p:tag name="KSO_WM_BEAUTIFY_FLAG" val=""/>
</p:tagLst>
</file>

<file path=ppt/tags/tag718.xml><?xml version="1.0" encoding="utf-8"?>
<p:tagLst xmlns:p="http://schemas.openxmlformats.org/presentationml/2006/main">
  <p:tag name="KSO_WM_BEAUTIFY_FLAG" val=""/>
</p:tagLst>
</file>

<file path=ppt/tags/tag719.xml><?xml version="1.0" encoding="utf-8"?>
<p:tagLst xmlns:p="http://schemas.openxmlformats.org/presentationml/2006/main">
  <p:tag name="KSO_WM_BEAUTIFY_FLAG" val=""/>
</p:tagLst>
</file>

<file path=ppt/tags/tag720.xml><?xml version="1.0" encoding="utf-8"?>
<p:tagLst xmlns:p="http://schemas.openxmlformats.org/presentationml/2006/main">
  <p:tag name="KSO_WM_BEAUTIFY_FLAG" val=""/>
</p:tagLst>
</file>

<file path=ppt/tags/tag721.xml><?xml version="1.0" encoding="utf-8"?>
<p:tagLst xmlns:p="http://schemas.openxmlformats.org/presentationml/2006/main">
  <p:tag name="KSO_WM_BEAUTIFY_FLAG" val=""/>
</p:tagLst>
</file>

<file path=ppt/tags/tag722.xml><?xml version="1.0" encoding="utf-8"?>
<p:tagLst xmlns:p="http://schemas.openxmlformats.org/presentationml/2006/main">
  <p:tag name="KSO_WM_BEAUTIFY_FLAG" val=""/>
</p:tagLst>
</file>

<file path=ppt/tags/tag723.xml><?xml version="1.0" encoding="utf-8"?>
<p:tagLst xmlns:p="http://schemas.openxmlformats.org/presentationml/2006/main">
  <p:tag name="KSO_WM_BEAUTIFY_FLAG" val=""/>
</p:tagLst>
</file>

<file path=ppt/tags/tag724.xml><?xml version="1.0" encoding="utf-8"?>
<p:tagLst xmlns:p="http://schemas.openxmlformats.org/presentationml/2006/main">
  <p:tag name="KSO_WM_BEAUTIFY_FLAG" val=""/>
</p:tagLst>
</file>

<file path=ppt/tags/tag725.xml><?xml version="1.0" encoding="utf-8"?>
<p:tagLst xmlns:p="http://schemas.openxmlformats.org/presentationml/2006/main">
  <p:tag name="KSO_WM_BEAUTIFY_FLAG" val=""/>
</p:tagLst>
</file>

<file path=ppt/tags/tag726.xml><?xml version="1.0" encoding="utf-8"?>
<p:tagLst xmlns:p="http://schemas.openxmlformats.org/presentationml/2006/main">
  <p:tag name="KSO_WM_BEAUTIFY_FLAG" val=""/>
</p:tagLst>
</file>

<file path=ppt/tags/tag727.xml><?xml version="1.0" encoding="utf-8"?>
<p:tagLst xmlns:p="http://schemas.openxmlformats.org/presentationml/2006/main">
  <p:tag name="KSO_WM_BEAUTIFY_FLAG" val=""/>
</p:tagLst>
</file>

<file path=ppt/tags/tag728.xml><?xml version="1.0" encoding="utf-8"?>
<p:tagLst xmlns:p="http://schemas.openxmlformats.org/presentationml/2006/main">
  <p:tag name="KSO_WM_BEAUTIFY_FLAG" val=""/>
</p:tagLst>
</file>

<file path=ppt/tags/tag729.xml><?xml version="1.0" encoding="utf-8"?>
<p:tagLst xmlns:p="http://schemas.openxmlformats.org/presentationml/2006/main">
  <p:tag name="KSO_WM_BEAUTIFY_FLAG" val=""/>
</p:tagLst>
</file>

<file path=ppt/tags/tag730.xml><?xml version="1.0" encoding="utf-8"?>
<p:tagLst xmlns:p="http://schemas.openxmlformats.org/presentationml/2006/main">
  <p:tag name="KSO_WM_BEAUTIFY_FLAG" val=""/>
</p:tagLst>
</file>

<file path=ppt/tags/tag731.xml><?xml version="1.0" encoding="utf-8"?>
<p:tagLst xmlns:p="http://schemas.openxmlformats.org/presentationml/2006/main">
  <p:tag name="KSO_WM_BEAUTIFY_FLAG" val=""/>
</p:tagLst>
</file>

<file path=ppt/tags/tag732.xml><?xml version="1.0" encoding="utf-8"?>
<p:tagLst xmlns:p="http://schemas.openxmlformats.org/presentationml/2006/main">
  <p:tag name="KSO_WM_BEAUTIFY_FLAG" val=""/>
</p:tagLst>
</file>

<file path=ppt/tags/tag733.xml><?xml version="1.0" encoding="utf-8"?>
<p:tagLst xmlns:p="http://schemas.openxmlformats.org/presentationml/2006/main">
  <p:tag name="KSO_WM_BEAUTIFY_FLAG" val=""/>
</p:tagLst>
</file>

<file path=ppt/tags/tag734.xml><?xml version="1.0" encoding="utf-8"?>
<p:tagLst xmlns:p="http://schemas.openxmlformats.org/presentationml/2006/main">
  <p:tag name="ADJUSTMENTS" val="9.331733"/>
</p:tagLst>
</file>

<file path=ppt/tags/tag735.xml><?xml version="1.0" encoding="utf-8"?>
<p:tagLst xmlns:p="http://schemas.openxmlformats.org/presentationml/2006/main">
  <p:tag name="ADJUSTMENTS" val="9.331733"/>
</p:tagLst>
</file>

<file path=ppt/tags/tag736.xml><?xml version="1.0" encoding="utf-8"?>
<p:tagLst xmlns:p="http://schemas.openxmlformats.org/presentationml/2006/main">
  <p:tag name="ADJUSTMENTS" val="9.331733"/>
</p:tagLst>
</file>

<file path=ppt/tags/tag737.xml><?xml version="1.0" encoding="utf-8"?>
<p:tagLst xmlns:p="http://schemas.openxmlformats.org/presentationml/2006/main">
  <p:tag name="ADJUSTMENTS" val="9.331733"/>
</p:tagLst>
</file>

<file path=ppt/tags/tag738.xml><?xml version="1.0" encoding="utf-8"?>
<p:tagLst xmlns:p="http://schemas.openxmlformats.org/presentationml/2006/main">
  <p:tag name="ADJUSTMENTS" val="9.331733"/>
</p:tagLst>
</file>

<file path=ppt/tags/tag739.xml><?xml version="1.0" encoding="utf-8"?>
<p:tagLst xmlns:p="http://schemas.openxmlformats.org/presentationml/2006/main">
  <p:tag name="ADJUSTMENTS" val="9.331733"/>
</p:tagLst>
</file>

<file path=ppt/tags/tag740.xml><?xml version="1.0" encoding="utf-8"?>
<p:tagLst xmlns:p="http://schemas.openxmlformats.org/presentationml/2006/main">
  <p:tag name="SHADOWSIZE" val="108"/>
  <p:tag name="TEXTSHADOWSIZE" val="100"/>
</p:tagLst>
</file>

<file path=ppt/tags/tag741.xml><?xml version="1.0" encoding="utf-8"?>
<p:tagLst xmlns:p="http://schemas.openxmlformats.org/presentationml/2006/main">
  <p:tag name="SHADOWSIZE" val="108"/>
  <p:tag name="TEXTSHADOWSIZE" val="100"/>
</p:tagLst>
</file>

<file path=ppt/tags/tag742.xml><?xml version="1.0" encoding="utf-8"?>
<p:tagLst xmlns:p="http://schemas.openxmlformats.org/presentationml/2006/main">
  <p:tag name="SHADOWSIZE" val="108"/>
  <p:tag name="TEXTSHADOWSIZE" val="100"/>
</p:tagLst>
</file>

<file path=ppt/tags/tag743.xml><?xml version="1.0" encoding="utf-8"?>
<p:tagLst xmlns:p="http://schemas.openxmlformats.org/presentationml/2006/main">
  <p:tag name="SHADOWSIZE" val="108"/>
  <p:tag name="TEXTSHADOWSIZE" val="100"/>
</p:tagLst>
</file>

<file path=ppt/tags/tag744.xml><?xml version="1.0" encoding="utf-8"?>
<p:tagLst xmlns:p="http://schemas.openxmlformats.org/presentationml/2006/main">
  <p:tag name="SHADOWSIZE" val="108"/>
  <p:tag name="TEXTSHADOWSIZE" val="100"/>
</p:tagLst>
</file>

<file path=ppt/tags/tag745.xml><?xml version="1.0" encoding="utf-8"?>
<p:tagLst xmlns:p="http://schemas.openxmlformats.org/presentationml/2006/main">
  <p:tag name="ESVMK000365" val="000365; 2024/8/19 22:37:31 ; 因律社群"/>
</p:tagLst>
</file>

<file path=ppt/tags/tag746.xml><?xml version="1.0" encoding="utf-8"?>
<p:tagLst xmlns:p="http://schemas.openxmlformats.org/presentationml/2006/main">
  <p:tag name="ADJUSTMENTS" val="9.331733"/>
</p:tagLst>
</file>

<file path=ppt/tags/tag747.xml><?xml version="1.0" encoding="utf-8"?>
<p:tagLst xmlns:p="http://schemas.openxmlformats.org/presentationml/2006/main">
  <p:tag name="ADJUSTMENTS" val="9.331733"/>
</p:tagLst>
</file>

<file path=ppt/tags/tag748.xml><?xml version="1.0" encoding="utf-8"?>
<p:tagLst xmlns:p="http://schemas.openxmlformats.org/presentationml/2006/main">
  <p:tag name="ADJUSTMENTS" val="9.331733"/>
</p:tagLst>
</file>

<file path=ppt/tags/tag749.xml><?xml version="1.0" encoding="utf-8"?>
<p:tagLst xmlns:p="http://schemas.openxmlformats.org/presentationml/2006/main">
  <p:tag name="ADJUSTMENTS" val="9.331733"/>
</p:tagLst>
</file>

<file path=ppt/tags/tag750.xml><?xml version="1.0" encoding="utf-8"?>
<p:tagLst xmlns:p="http://schemas.openxmlformats.org/presentationml/2006/main">
  <p:tag name="ADJUSTMENTS" val="9.331733"/>
</p:tagLst>
</file>

<file path=ppt/tags/tag751.xml><?xml version="1.0" encoding="utf-8"?>
<p:tagLst xmlns:p="http://schemas.openxmlformats.org/presentationml/2006/main">
  <p:tag name="ADJUSTMENTS" val="9.331733"/>
</p:tagLst>
</file>

<file path=ppt/tags/tag752.xml><?xml version="1.0" encoding="utf-8"?>
<p:tagLst xmlns:p="http://schemas.openxmlformats.org/presentationml/2006/main">
  <p:tag name="SHADOWSIZE" val="108"/>
  <p:tag name="TEXTSHADOWSIZE" val="100"/>
</p:tagLst>
</file>

<file path=ppt/tags/tag753.xml><?xml version="1.0" encoding="utf-8"?>
<p:tagLst xmlns:p="http://schemas.openxmlformats.org/presentationml/2006/main">
  <p:tag name="SHADOWSIZE" val="108"/>
  <p:tag name="TEXTSHADOWSIZE" val="100"/>
</p:tagLst>
</file>

<file path=ppt/tags/tag754.xml><?xml version="1.0" encoding="utf-8"?>
<p:tagLst xmlns:p="http://schemas.openxmlformats.org/presentationml/2006/main">
  <p:tag name="SHADOWSIZE" val="108"/>
  <p:tag name="TEXTSHADOWSIZE" val="100"/>
</p:tagLst>
</file>

<file path=ppt/tags/tag755.xml><?xml version="1.0" encoding="utf-8"?>
<p:tagLst xmlns:p="http://schemas.openxmlformats.org/presentationml/2006/main">
  <p:tag name="SHADOWSIZE" val="108"/>
  <p:tag name="TEXTSHADOWSIZE" val="100"/>
</p:tagLst>
</file>

<file path=ppt/tags/tag756.xml><?xml version="1.0" encoding="utf-8"?>
<p:tagLst xmlns:p="http://schemas.openxmlformats.org/presentationml/2006/main">
  <p:tag name="SHADOWSIZE" val="108"/>
  <p:tag name="TEXTSHADOWSIZE" val="100"/>
</p:tagLst>
</file>

<file path=ppt/tags/tag757.xml><?xml version="1.0" encoding="utf-8"?>
<p:tagLst xmlns:p="http://schemas.openxmlformats.org/presentationml/2006/main">
  <p:tag name="KSO_WM_UNIT_FILL_FORE_SCHEMECOLOR_INDEX_1_BRIGHTNESS" val="0"/>
  <p:tag name="KSO_WM_UNIT_FILL_FORE_SCHEMECOLOR_INDEX_1" val="7"/>
  <p:tag name="KSO_WM_UNIT_FILL_FORE_SCHEMECOLOR_INDEX_1_POS" val="0"/>
  <p:tag name="KSO_WM_UNIT_FILL_FORE_SCHEMECOLOR_INDEX_1_TRANS" val="0"/>
  <p:tag name="KSO_WM_UNIT_FILL_FORE_SCHEMECOLOR_INDEX_2_BRIGHTNESS" val="0.8"/>
  <p:tag name="KSO_WM_UNIT_FILL_FORE_SCHEMECOLOR_INDEX_2" val="7"/>
  <p:tag name="KSO_WM_UNIT_FILL_FORE_SCHEMECOLOR_INDEX_2_POS" val="1"/>
  <p:tag name="KSO_WM_UNIT_FILL_FORE_SCHEMECOLOR_INDEX_2_TRANS" val="0"/>
  <p:tag name="KSO_WM_UNIT_FILL_GRADIENT_TYPE" val="0"/>
  <p:tag name="KSO_WM_UNIT_FILL_GRADIENT_ANGLE" val="90"/>
  <p:tag name="KSO_WM_UNIT_FILL_GRADIENT_DIRECTION" val="1"/>
  <p:tag name="KSO_WM_UNIT_FILL_TYPE" val="3"/>
  <p:tag name="KSO_WM_UNIT_LINE_FORE_SCHEMECOLOR_INDEX_BRIGHTNESS" val="0"/>
  <p:tag name="KSO_WM_UNIT_LINE_FORE_SCHEMECOLOR_INDEX" val="14"/>
  <p:tag name="KSO_WM_UNIT_LINE_FILL_TYPE" val="2"/>
</p:tagLst>
</file>

<file path=ppt/tags/tag758.xml><?xml version="1.0" encoding="utf-8"?>
<p:tagLst xmlns:p="http://schemas.openxmlformats.org/presentationml/2006/main">
  <p:tag name="KSO_WM_UNIT_FILL_FORE_SCHEMECOLOR_INDEX_1_BRIGHTNESS" val="0"/>
  <p:tag name="KSO_WM_UNIT_FILL_FORE_SCHEMECOLOR_INDEX_1" val="7"/>
  <p:tag name="KSO_WM_UNIT_FILL_FORE_SCHEMECOLOR_INDEX_1_POS" val="0"/>
  <p:tag name="KSO_WM_UNIT_FILL_FORE_SCHEMECOLOR_INDEX_1_TRANS" val="0"/>
  <p:tag name="KSO_WM_UNIT_FILL_FORE_SCHEMECOLOR_INDEX_2_BRIGHTNESS" val="0.8"/>
  <p:tag name="KSO_WM_UNIT_FILL_FORE_SCHEMECOLOR_INDEX_2" val="7"/>
  <p:tag name="KSO_WM_UNIT_FILL_FORE_SCHEMECOLOR_INDEX_2_POS" val="1"/>
  <p:tag name="KSO_WM_UNIT_FILL_FORE_SCHEMECOLOR_INDEX_2_TRANS" val="0"/>
  <p:tag name="KSO_WM_UNIT_FILL_GRADIENT_TYPE" val="0"/>
  <p:tag name="KSO_WM_UNIT_FILL_GRADIENT_ANGLE" val="90"/>
  <p:tag name="KSO_WM_UNIT_FILL_GRADIENT_DIRECTION" val="1"/>
  <p:tag name="KSO_WM_UNIT_FILL_TYPE" val="3"/>
  <p:tag name="KSO_WM_UNIT_LINE_FORE_SCHEMECOLOR_INDEX_BRIGHTNESS" val="0"/>
  <p:tag name="KSO_WM_UNIT_LINE_FORE_SCHEMECOLOR_INDEX" val="14"/>
  <p:tag name="KSO_WM_UNIT_LINE_FILL_TYPE" val="2"/>
</p:tagLst>
</file>

<file path=ppt/tags/tag759.xml><?xml version="1.0" encoding="utf-8"?>
<p:tagLst xmlns:p="http://schemas.openxmlformats.org/presentationml/2006/main">
  <p:tag name="KSO_WM_DIAGRAM_VIRTUALLY_FRAME" val="{&amp;quot;height&amp;quot;:432.57811023622054,&amp;quot;left&amp;quot;:31.814409448818896,&amp;quot;top&amp;quot;:86.10307086614173,&amp;quot;width&amp;quot;:878.1855905511811}"/>
</p:tagLst>
</file>

<file path=ppt/tags/tag760.xml><?xml version="1.0" encoding="utf-8"?>
<p:tagLst xmlns:p="http://schemas.openxmlformats.org/presentationml/2006/main">
  <p:tag name="KSO_WM_DIAGRAM_VIRTUALLY_FRAME" val="{&amp;quot;height&amp;quot;:432.57811023622054,&amp;quot;left&amp;quot;:31.814409448818896,&amp;quot;top&amp;quot;:86.10307086614173,&amp;quot;width&amp;quot;:878.1855905511811}"/>
</p:tagLst>
</file>

<file path=ppt/tags/tag761.xml><?xml version="1.0" encoding="utf-8"?>
<p:tagLst xmlns:p="http://schemas.openxmlformats.org/presentationml/2006/main">
  <p:tag name="KSO_WM_DIAGRAM_VIRTUALLY_FRAME" val="{&amp;quot;height&amp;quot;:432.57811023622054,&amp;quot;left&amp;quot;:31.814409448818896,&amp;quot;top&amp;quot;:86.10307086614173,&amp;quot;width&amp;quot;:878.1855905511811}"/>
</p:tagLst>
</file>

<file path=ppt/tags/tag762.xml><?xml version="1.0" encoding="utf-8"?>
<p:tagLst xmlns:p="http://schemas.openxmlformats.org/presentationml/2006/main">
  <p:tag name="KSO_WM_DIAGRAM_VIRTUALLY_FRAME" val="{&amp;quot;height&amp;quot;:432.57811023622054,&amp;quot;left&amp;quot;:31.814409448818896,&amp;quot;top&amp;quot;:86.10307086614173,&amp;quot;width&amp;quot;:878.1855905511811}"/>
</p:tagLst>
</file>

<file path=ppt/tags/tag763.xml><?xml version="1.0" encoding="utf-8"?>
<p:tagLst xmlns:p="http://schemas.openxmlformats.org/presentationml/2006/main">
  <p:tag name="KSO_WM_BEAUTIFY_FLAG" val=""/>
</p:tagLst>
</file>

<file path=ppt/tags/tag764.xml><?xml version="1.0" encoding="utf-8"?>
<p:tagLst xmlns:p="http://schemas.openxmlformats.org/presentationml/2006/main">
  <p:tag name="KSO_WM_BEAUTIFY_FLAG" val=""/>
</p:tagLst>
</file>

<file path=ppt/tags/tag765.xml><?xml version="1.0" encoding="utf-8"?>
<p:tagLst xmlns:p="http://schemas.openxmlformats.org/presentationml/2006/main">
  <p:tag name="KSO_WM_BEAUTIFY_FLAG" val=""/>
</p:tagLst>
</file>

<file path=ppt/tags/tag766.xml><?xml version="1.0" encoding="utf-8"?>
<p:tagLst xmlns:p="http://schemas.openxmlformats.org/presentationml/2006/main">
  <p:tag name="KSO_WM_BEAUTIFY_FLAG" val=""/>
</p:tagLst>
</file>

<file path=ppt/tags/tag767.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768.xml><?xml version="1.0" encoding="utf-8"?>
<p:tagLst xmlns:p="http://schemas.openxmlformats.org/presentationml/2006/main">
  <p:tag name="KSO_WM_BEAUTIFY_FLAG" val=""/>
</p:tagLst>
</file>

<file path=ppt/tags/tag769.xml><?xml version="1.0" encoding="utf-8"?>
<p:tagLst xmlns:p="http://schemas.openxmlformats.org/presentationml/2006/main">
  <p:tag name="KSO_WM_BEAUTIFY_FLAG" val=""/>
</p:tagLst>
</file>

<file path=ppt/tags/tag770.xml><?xml version="1.0" encoding="utf-8"?>
<p:tagLst xmlns:p="http://schemas.openxmlformats.org/presentationml/2006/main">
  <p:tag name="KSO_WM_BEAUTIFY_FLAG" val=""/>
</p:tagLst>
</file>

<file path=ppt/tags/tag771.xml><?xml version="1.0" encoding="utf-8"?>
<p:tagLst xmlns:p="http://schemas.openxmlformats.org/presentationml/2006/main">
  <p:tag name="KSO_WM_BEAUTIFY_FLAG" val=""/>
</p:tagLst>
</file>

<file path=ppt/tags/tag772.xml><?xml version="1.0" encoding="utf-8"?>
<p:tagLst xmlns:p="http://schemas.openxmlformats.org/presentationml/2006/main">
  <p:tag name="KSO_WM_DIAGRAM_VIRTUALLY_FRAME" val="{&amp;quot;height&amp;quot;:130.2,&amp;quot;left&amp;quot;:103.8,&amp;quot;top&amp;quot;:91.5,&amp;quot;width&amp;quot;:749.7}"/>
</p:tagLst>
</file>

<file path=ppt/tags/tag773.xml><?xml version="1.0" encoding="utf-8"?>
<p:tagLst xmlns:p="http://schemas.openxmlformats.org/presentationml/2006/main">
  <p:tag name="KSO_WM_DIAGRAM_VIRTUALLY_FRAME" val="{&amp;quot;height&amp;quot;:130.2,&amp;quot;left&amp;quot;:103.8,&amp;quot;top&amp;quot;:91.5,&amp;quot;width&amp;quot;:749.7}"/>
</p:tagLst>
</file>

<file path=ppt/tags/tag774.xml><?xml version="1.0" encoding="utf-8"?>
<p:tagLst xmlns:p="http://schemas.openxmlformats.org/presentationml/2006/main">
  <p:tag name="KSO_WM_DIAGRAM_VIRTUALLY_FRAME" val="{&amp;quot;height&amp;quot;:130.2,&amp;quot;left&amp;quot;:103.8,&amp;quot;top&amp;quot;:91.5,&amp;quot;width&amp;quot;:749.7}"/>
</p:tagLst>
</file>

<file path=ppt/tags/tag775.xml><?xml version="1.0" encoding="utf-8"?>
<p:tagLst xmlns:p="http://schemas.openxmlformats.org/presentationml/2006/main">
  <p:tag name="KSO_WM_DIAGRAM_VIRTUALLY_FRAME" val="{&amp;quot;height&amp;quot;:130.2,&amp;quot;left&amp;quot;:103.8,&amp;quot;top&amp;quot;:91.5,&amp;quot;width&amp;quot;:749.7}"/>
</p:tagLst>
</file>

<file path=ppt/tags/tag776.xml><?xml version="1.0" encoding="utf-8"?>
<p:tagLst xmlns:p="http://schemas.openxmlformats.org/presentationml/2006/main">
  <p:tag name="KSO_WM_DIAGRAM_VIRTUALLY_FRAME" val="{&amp;quot;height&amp;quot;:130.2,&amp;quot;left&amp;quot;:103.8,&amp;quot;top&amp;quot;:91.5,&amp;quot;width&amp;quot;:749.7}"/>
</p:tagLst>
</file>

<file path=ppt/tags/tag777.xml><?xml version="1.0" encoding="utf-8"?>
<p:tagLst xmlns:p="http://schemas.openxmlformats.org/presentationml/2006/main">
  <p:tag name="KSO_WM_DIAGRAM_VIRTUALLY_FRAME" val="{&amp;quot;height&amp;quot;:130.2,&amp;quot;left&amp;quot;:103.8,&amp;quot;top&amp;quot;:91.5,&amp;quot;width&amp;quot;:749.7}"/>
</p:tagLst>
</file>

<file path=ppt/tags/tag778.xml><?xml version="1.0" encoding="utf-8"?>
<p:tagLst xmlns:p="http://schemas.openxmlformats.org/presentationml/2006/main">
  <p:tag name="KSO_WM_DIAGRAM_VIRTUALLY_FRAME" val="{&amp;quot;height&amp;quot;:130.2,&amp;quot;left&amp;quot;:103.8,&amp;quot;top&amp;quot;:91.5,&amp;quot;width&amp;quot;:749.7}"/>
</p:tagLst>
</file>

<file path=ppt/tags/tag779.xml><?xml version="1.0" encoding="utf-8"?>
<p:tagLst xmlns:p="http://schemas.openxmlformats.org/presentationml/2006/main">
  <p:tag name="KSO_WM_DIAGRAM_VIRTUALLY_FRAME" val="{&amp;quot;height&amp;quot;:130.2,&amp;quot;left&amp;quot;:103.8,&amp;quot;top&amp;quot;:91.5,&amp;quot;width&amp;quot;:749.7}"/>
</p:tagLst>
</file>

<file path=ppt/tags/tag780.xml><?xml version="1.0" encoding="utf-8"?>
<p:tagLst xmlns:p="http://schemas.openxmlformats.org/presentationml/2006/main">
  <p:tag name="KSO_WM_DIAGRAM_VIRTUALLY_FRAME" val="{&amp;quot;height&amp;quot;:130.2,&amp;quot;left&amp;quot;:103.8,&amp;quot;top&amp;quot;:91.5,&amp;quot;width&amp;quot;:749.7}"/>
</p:tagLst>
</file>

<file path=ppt/tags/tag781.xml><?xml version="1.0" encoding="utf-8"?>
<p:tagLst xmlns:p="http://schemas.openxmlformats.org/presentationml/2006/main">
  <p:tag name="KSO_WM_DIAGRAM_VIRTUALLY_FRAME" val="{&amp;quot;height&amp;quot;:130.2,&amp;quot;left&amp;quot;:103.8,&amp;quot;top&amp;quot;:91.5,&amp;quot;width&amp;quot;:749.7}"/>
</p:tagLst>
</file>

<file path=ppt/tags/tag782.xml><?xml version="1.0" encoding="utf-8"?>
<p:tagLst xmlns:p="http://schemas.openxmlformats.org/presentationml/2006/main">
  <p:tag name="KSO_WM_DIAGRAM_VIRTUALLY_FRAME" val="{&amp;quot;height&amp;quot;:130.2,&amp;quot;left&amp;quot;:103.8,&amp;quot;top&amp;quot;:91.5,&amp;quot;width&amp;quot;:749.7}"/>
</p:tagLst>
</file>

<file path=ppt/tags/tag783.xml><?xml version="1.0" encoding="utf-8"?>
<p:tagLst xmlns:p="http://schemas.openxmlformats.org/presentationml/2006/main">
  <p:tag name="KSO_WM_DIAGRAM_VIRTUALLY_FRAME" val="{&amp;quot;height&amp;quot;:130.2,&amp;quot;left&amp;quot;:103.8,&amp;quot;top&amp;quot;:91.5,&amp;quot;width&amp;quot;:749.7}"/>
</p:tagLst>
</file>

<file path=ppt/tags/tag784.xml><?xml version="1.0" encoding="utf-8"?>
<p:tagLst xmlns:p="http://schemas.openxmlformats.org/presentationml/2006/main">
  <p:tag name="KSO_WM_DIAGRAM_VIRTUALLY_FRAME" val="{&amp;quot;height&amp;quot;:130.2,&amp;quot;left&amp;quot;:103.8,&amp;quot;top&amp;quot;:91.5,&amp;quot;width&amp;quot;:749.7}"/>
</p:tagLst>
</file>

<file path=ppt/tags/tag785.xml><?xml version="1.0" encoding="utf-8"?>
<p:tagLst xmlns:p="http://schemas.openxmlformats.org/presentationml/2006/main">
  <p:tag name="KSO_WM_DIAGRAM_VIRTUALLY_FRAME" val="{&amp;quot;height&amp;quot;:130.2,&amp;quot;left&amp;quot;:103.8,&amp;quot;top&amp;quot;:91.5,&amp;quot;width&amp;quot;:749.7}"/>
</p:tagLst>
</file>

<file path=ppt/tags/tag786.xml><?xml version="1.0" encoding="utf-8"?>
<p:tagLst xmlns:p="http://schemas.openxmlformats.org/presentationml/2006/main">
  <p:tag name="KSO_WM_DIAGRAM_VIRTUALLY_FRAME" val="{&amp;quot;height&amp;quot;:130.2,&amp;quot;left&amp;quot;:103.8,&amp;quot;top&amp;quot;:91.5,&amp;quot;width&amp;quot;:749.7}"/>
</p:tagLst>
</file>

<file path=ppt/tags/tag787.xml><?xml version="1.0" encoding="utf-8"?>
<p:tagLst xmlns:p="http://schemas.openxmlformats.org/presentationml/2006/main">
  <p:tag name="KSO_WM_DIAGRAM_VIRTUALLY_FRAME" val="{&amp;quot;height&amp;quot;:130.2,&amp;quot;left&amp;quot;:103.8,&amp;quot;top&amp;quot;:91.5,&amp;quot;width&amp;quot;:749.7}"/>
</p:tagLst>
</file>

<file path=ppt/tags/tag788.xml><?xml version="1.0" encoding="utf-8"?>
<p:tagLst xmlns:p="http://schemas.openxmlformats.org/presentationml/2006/main">
  <p:tag name="KSO_WM_DIAGRAM_VIRTUALLY_FRAME" val="{&amp;quot;height&amp;quot;:130.2,&amp;quot;left&amp;quot;:103.8,&amp;quot;top&amp;quot;:91.5,&amp;quot;width&amp;quot;:749.7}"/>
</p:tagLst>
</file>

<file path=ppt/tags/tag789.xml><?xml version="1.0" encoding="utf-8"?>
<p:tagLst xmlns:p="http://schemas.openxmlformats.org/presentationml/2006/main">
  <p:tag name="KSO_WM_DIAGRAM_VIRTUALLY_FRAME" val="{&amp;quot;height&amp;quot;:130.2,&amp;quot;left&amp;quot;:103.8,&amp;quot;top&amp;quot;:91.5,&amp;quot;width&amp;quot;:749.7}"/>
</p:tagLst>
</file>

<file path=ppt/tags/tag790.xml><?xml version="1.0" encoding="utf-8"?>
<p:tagLst xmlns:p="http://schemas.openxmlformats.org/presentationml/2006/main">
  <p:tag name="KSO_WM_DIAGRAM_VIRTUALLY_FRAME" val="{&amp;quot;height&amp;quot;:130.2,&amp;quot;left&amp;quot;:103.8,&amp;quot;top&amp;quot;:91.5,&amp;quot;width&amp;quot;:749.7}"/>
</p:tagLst>
</file>

<file path=ppt/tags/tag791.xml><?xml version="1.0" encoding="utf-8"?>
<p:tagLst xmlns:p="http://schemas.openxmlformats.org/presentationml/2006/main">
  <p:tag name="KSO_WM_DIAGRAM_VIRTUALLY_FRAME" val="{&amp;quot;height&amp;quot;:130.2,&amp;quot;left&amp;quot;:103.8,&amp;quot;top&amp;quot;:91.5,&amp;quot;width&amp;quot;:749.7}"/>
</p:tagLst>
</file>

<file path=ppt/tags/tag792.xml><?xml version="1.0" encoding="utf-8"?>
<p:tagLst xmlns:p="http://schemas.openxmlformats.org/presentationml/2006/main">
  <p:tag name="KSO_WM_DIAGRAM_VIRTUALLY_FRAME" val="{&amp;quot;height&amp;quot;:130.2,&amp;quot;left&amp;quot;:103.8,&amp;quot;top&amp;quot;:91.5,&amp;quot;width&amp;quot;:749.7}"/>
</p:tagLst>
</file>

<file path=ppt/tags/tag793.xml><?xml version="1.0" encoding="utf-8"?>
<p:tagLst xmlns:p="http://schemas.openxmlformats.org/presentationml/2006/main">
  <p:tag name="KSO_WM_DIAGRAM_VIRTUALLY_FRAME" val="{&amp;quot;height&amp;quot;:130.2,&amp;quot;left&amp;quot;:103.8,&amp;quot;top&amp;quot;:91.5,&amp;quot;width&amp;quot;:749.7}"/>
</p:tagLst>
</file>

<file path=ppt/tags/tag794.xml><?xml version="1.0" encoding="utf-8"?>
<p:tagLst xmlns:p="http://schemas.openxmlformats.org/presentationml/2006/main">
  <p:tag name="KSO_WM_DIAGRAM_VIRTUALLY_FRAME" val="{&amp;quot;height&amp;quot;:130.2,&amp;quot;left&amp;quot;:103.8,&amp;quot;top&amp;quot;:91.5,&amp;quot;width&amp;quot;:749.7}"/>
</p:tagLst>
</file>

<file path=ppt/tags/tag795.xml><?xml version="1.0" encoding="utf-8"?>
<p:tagLst xmlns:p="http://schemas.openxmlformats.org/presentationml/2006/main">
  <p:tag name="KSO_WM_DIAGRAM_VIRTUALLY_FRAME" val="{&amp;quot;height&amp;quot;:130.2,&amp;quot;left&amp;quot;:103.8,&amp;quot;top&amp;quot;:91.5,&amp;quot;width&amp;quot;:749.7}"/>
</p:tagLst>
</file>

<file path=ppt/tags/tag796.xml><?xml version="1.0" encoding="utf-8"?>
<p:tagLst xmlns:p="http://schemas.openxmlformats.org/presentationml/2006/main">
  <p:tag name="KSO_WM_DIAGRAM_VIRTUALLY_FRAME" val="{&amp;quot;height&amp;quot;:130.2,&amp;quot;left&amp;quot;:103.8,&amp;quot;top&amp;quot;:91.5,&amp;quot;width&amp;quot;:749.7}"/>
</p:tagLst>
</file>

<file path=ppt/tags/tag797.xml><?xml version="1.0" encoding="utf-8"?>
<p:tagLst xmlns:p="http://schemas.openxmlformats.org/presentationml/2006/main">
  <p:tag name="KSO_WM_DIAGRAM_VIRTUALLY_FRAME" val="{&amp;quot;height&amp;quot;:130.2,&amp;quot;left&amp;quot;:103.8,&amp;quot;top&amp;quot;:91.5,&amp;quot;width&amp;quot;:749.7}"/>
</p:tagLst>
</file>

<file path=ppt/tags/tag798.xml><?xml version="1.0" encoding="utf-8"?>
<p:tagLst xmlns:p="http://schemas.openxmlformats.org/presentationml/2006/main">
  <p:tag name="KSO_WM_DIAGRAM_VIRTUALLY_FRAME" val="{&amp;quot;height&amp;quot;:130.2,&amp;quot;left&amp;quot;:103.8,&amp;quot;top&amp;quot;:91.5,&amp;quot;width&amp;quot;:749.7}"/>
</p:tagLst>
</file>

<file path=ppt/tags/tag799.xml><?xml version="1.0" encoding="utf-8"?>
<p:tagLst xmlns:p="http://schemas.openxmlformats.org/presentationml/2006/main">
  <p:tag name="KSO_WM_DIAGRAM_VIRTUALLY_FRAME" val="{&amp;quot;height&amp;quot;:130.2,&amp;quot;left&amp;quot;:103.8,&amp;quot;top&amp;quot;:91.5,&amp;quot;width&amp;quot;:749.7}"/>
</p:tagLst>
</file>

<file path=ppt/tags/tag800.xml><?xml version="1.0" encoding="utf-8"?>
<p:tagLst xmlns:p="http://schemas.openxmlformats.org/presentationml/2006/main">
  <p:tag name="KSO_WM_DIAGRAM_VIRTUALLY_FRAME" val="{&amp;quot;height&amp;quot;:130.2,&amp;quot;left&amp;quot;:103.8,&amp;quot;top&amp;quot;:91.5,&amp;quot;width&amp;quot;:749.7}"/>
</p:tagLst>
</file>

<file path=ppt/tags/tag801.xml><?xml version="1.0" encoding="utf-8"?>
<p:tagLst xmlns:p="http://schemas.openxmlformats.org/presentationml/2006/main">
  <p:tag name="KSO_WM_DIAGRAM_VIRTUALLY_FRAME" val="{&amp;quot;height&amp;quot;:130.2,&amp;quot;left&amp;quot;:103.8,&amp;quot;top&amp;quot;:91.5,&amp;quot;width&amp;quot;:749.7}"/>
</p:tagLst>
</file>

<file path=ppt/tags/tag802.xml><?xml version="1.0" encoding="utf-8"?>
<p:tagLst xmlns:p="http://schemas.openxmlformats.org/presentationml/2006/main">
  <p:tag name="KSO_WM_DIAGRAM_VIRTUALLY_FRAME" val="{&amp;quot;height&amp;quot;:130.2,&amp;quot;left&amp;quot;:103.8,&amp;quot;top&amp;quot;:91.5,&amp;quot;width&amp;quot;:749.7}"/>
</p:tagLst>
</file>

<file path=ppt/tags/tag803.xml><?xml version="1.0" encoding="utf-8"?>
<p:tagLst xmlns:p="http://schemas.openxmlformats.org/presentationml/2006/main">
  <p:tag name="KSO_WM_DIAGRAM_VIRTUALLY_FRAME" val="{&amp;quot;height&amp;quot;:130.2,&amp;quot;left&amp;quot;:103.8,&amp;quot;top&amp;quot;:91.5,&amp;quot;width&amp;quot;:749.7}"/>
</p:tagLst>
</file>

<file path=ppt/tags/tag804.xml><?xml version="1.0" encoding="utf-8"?>
<p:tagLst xmlns:p="http://schemas.openxmlformats.org/presentationml/2006/main">
  <p:tag name="KSO_WM_DIAGRAM_VIRTUALLY_FRAME" val="{&amp;quot;height&amp;quot;:130.2,&amp;quot;left&amp;quot;:103.8,&amp;quot;top&amp;quot;:91.5,&amp;quot;width&amp;quot;:749.7}"/>
</p:tagLst>
</file>

<file path=ppt/tags/tag805.xml><?xml version="1.0" encoding="utf-8"?>
<p:tagLst xmlns:p="http://schemas.openxmlformats.org/presentationml/2006/main">
  <p:tag name="KSO_WM_DIAGRAM_VIRTUALLY_FRAME" val="{&amp;quot;height&amp;quot;:130.2,&amp;quot;left&amp;quot;:103.8,&amp;quot;top&amp;quot;:91.5,&amp;quot;width&amp;quot;:749.7}"/>
</p:tagLst>
</file>

<file path=ppt/tags/tag806.xml><?xml version="1.0" encoding="utf-8"?>
<p:tagLst xmlns:p="http://schemas.openxmlformats.org/presentationml/2006/main">
  <p:tag name="KSO_WM_DIAGRAM_VIRTUALLY_FRAME" val="{&amp;quot;height&amp;quot;:130.2,&amp;quot;left&amp;quot;:103.8,&amp;quot;top&amp;quot;:91.5,&amp;quot;width&amp;quot;:749.7}"/>
</p:tagLst>
</file>

<file path=ppt/tags/tag807.xml><?xml version="1.0" encoding="utf-8"?>
<p:tagLst xmlns:p="http://schemas.openxmlformats.org/presentationml/2006/main">
  <p:tag name="KSO_WM_DIAGRAM_VIRTUALLY_FRAME" val="{&amp;quot;height&amp;quot;:130.2,&amp;quot;left&amp;quot;:103.8,&amp;quot;top&amp;quot;:91.5,&amp;quot;width&amp;quot;:749.7}"/>
</p:tagLst>
</file>

<file path=ppt/tags/tag808.xml><?xml version="1.0" encoding="utf-8"?>
<p:tagLst xmlns:p="http://schemas.openxmlformats.org/presentationml/2006/main">
  <p:tag name="KSO_WM_DIAGRAM_VIRTUALLY_FRAME" val="{&amp;quot;height&amp;quot;:130.2,&amp;quot;left&amp;quot;:103.8,&amp;quot;top&amp;quot;:91.5,&amp;quot;width&amp;quot;:749.7}"/>
</p:tagLst>
</file>

<file path=ppt/tags/tag809.xml><?xml version="1.0" encoding="utf-8"?>
<p:tagLst xmlns:p="http://schemas.openxmlformats.org/presentationml/2006/main">
  <p:tag name="KSO_WM_DIAGRAM_VIRTUALLY_FRAME" val="{&amp;quot;height&amp;quot;:130.2,&amp;quot;left&amp;quot;:103.8,&amp;quot;top&amp;quot;:91.5,&amp;quot;width&amp;quot;:749.7}"/>
</p:tagLst>
</file>

<file path=ppt/tags/tag810.xml><?xml version="1.0" encoding="utf-8"?>
<p:tagLst xmlns:p="http://schemas.openxmlformats.org/presentationml/2006/main">
  <p:tag name="KSO_WM_DIAGRAM_VIRTUALLY_FRAME" val="{&amp;quot;height&amp;quot;:130.2,&amp;quot;left&amp;quot;:103.8,&amp;quot;top&amp;quot;:91.5,&amp;quot;width&amp;quot;:749.7}"/>
</p:tagLst>
</file>

<file path=ppt/tags/tag811.xml><?xml version="1.0" encoding="utf-8"?>
<p:tagLst xmlns:p="http://schemas.openxmlformats.org/presentationml/2006/main">
  <p:tag name="KSO_WM_DIAGRAM_VIRTUALLY_FRAME" val="{&amp;quot;height&amp;quot;:130.2,&amp;quot;left&amp;quot;:103.8,&amp;quot;top&amp;quot;:91.5,&amp;quot;width&amp;quot;:749.7}"/>
</p:tagLst>
</file>

<file path=ppt/tags/tag812.xml><?xml version="1.0" encoding="utf-8"?>
<p:tagLst xmlns:p="http://schemas.openxmlformats.org/presentationml/2006/main">
  <p:tag name="KSO_WM_BEAUTIFY_FLAG" val=""/>
</p:tagLst>
</file>

<file path=ppt/tags/tag813.xml><?xml version="1.0" encoding="utf-8"?>
<p:tagLst xmlns:p="http://schemas.openxmlformats.org/presentationml/2006/main">
  <p:tag name="KSO_WM_BEAUTIFY_FLAG" val=""/>
</p:tagLst>
</file>

<file path=ppt/tags/tag814.xml><?xml version="1.0" encoding="utf-8"?>
<p:tagLst xmlns:p="http://schemas.openxmlformats.org/presentationml/2006/main">
  <p:tag name="KSO_WM_BEAUTIFY_FLAG" val=""/>
</p:tagLst>
</file>

<file path=ppt/tags/tag815.xml><?xml version="1.0" encoding="utf-8"?>
<p:tagLst xmlns:p="http://schemas.openxmlformats.org/presentationml/2006/main">
  <p:tag name="KSO_WM_BEAUTIFY_FLAG" val=""/>
</p:tagLst>
</file>

<file path=ppt/tags/tag816.xml><?xml version="1.0" encoding="utf-8"?>
<p:tagLst xmlns:p="http://schemas.openxmlformats.org/presentationml/2006/main">
  <p:tag name="KSO_WM_BEAUTIFY_FLAG" val=""/>
</p:tagLst>
</file>

<file path=ppt/tags/tag817.xml><?xml version="1.0" encoding="utf-8"?>
<p:tagLst xmlns:p="http://schemas.openxmlformats.org/presentationml/2006/main">
  <p:tag name="KSO_WM_BEAUTIFY_FLAG" val=""/>
</p:tagLst>
</file>

<file path=ppt/tags/tag818.xml><?xml version="1.0" encoding="utf-8"?>
<p:tagLst xmlns:p="http://schemas.openxmlformats.org/presentationml/2006/main">
  <p:tag name="SHADOWSIZE" val="100"/>
  <p:tag name="KSO_WM_BEAUTIFY_FLAG" val=""/>
</p:tagLst>
</file>

<file path=ppt/tags/tag819.xml><?xml version="1.0" encoding="utf-8"?>
<p:tagLst xmlns:p="http://schemas.openxmlformats.org/presentationml/2006/main">
  <p:tag name="KSO_WM_BEAUTIFY_FLAG" val=""/>
</p:tagLst>
</file>

<file path=ppt/tags/tag820.xml><?xml version="1.0" encoding="utf-8"?>
<p:tagLst xmlns:p="http://schemas.openxmlformats.org/presentationml/2006/main">
  <p:tag name="KSO_WM_BEAUTIFY_FLAG" val=""/>
</p:tagLst>
</file>

<file path=ppt/tags/tag821.xml><?xml version="1.0" encoding="utf-8"?>
<p:tagLst xmlns:p="http://schemas.openxmlformats.org/presentationml/2006/main">
  <p:tag name="KSO_WM_BEAUTIFY_FLAG" val=""/>
</p:tagLst>
</file>

<file path=ppt/tags/tag822.xml><?xml version="1.0" encoding="utf-8"?>
<p:tagLst xmlns:p="http://schemas.openxmlformats.org/presentationml/2006/main">
  <p:tag name="KSO_WM_BEAUTIFY_FLAG" val=""/>
</p:tagLst>
</file>

<file path=ppt/tags/tag823.xml><?xml version="1.0" encoding="utf-8"?>
<p:tagLst xmlns:p="http://schemas.openxmlformats.org/presentationml/2006/main">
  <p:tag name="SHADOWSIZE" val="108"/>
  <p:tag name="TEXTSHADOWSIZE" val="100"/>
  <p:tag name="KSO_WM_BEAUTIFY_FLAG" val=""/>
</p:tagLst>
</file>

<file path=ppt/tags/tag824.xml><?xml version="1.0" encoding="utf-8"?>
<p:tagLst xmlns:p="http://schemas.openxmlformats.org/presentationml/2006/main">
  <p:tag name="KSO_WM_BEAUTIFY_FLAG" val=""/>
</p:tagLst>
</file>

<file path=ppt/tags/tag825.xml><?xml version="1.0" encoding="utf-8"?>
<p:tagLst xmlns:p="http://schemas.openxmlformats.org/presentationml/2006/main">
  <p:tag name="SHADOWSIZE" val="108"/>
  <p:tag name="TEXTSHADOWSIZE" val="100"/>
  <p:tag name="KSO_WM_BEAUTIFY_FLAG" val=""/>
</p:tagLst>
</file>

<file path=ppt/tags/tag826.xml><?xml version="1.0" encoding="utf-8"?>
<p:tagLst xmlns:p="http://schemas.openxmlformats.org/presentationml/2006/main">
  <p:tag name="KSO_WM_BEAUTIFY_FLAG" val=""/>
</p:tagLst>
</file>

<file path=ppt/tags/tag827.xml><?xml version="1.0" encoding="utf-8"?>
<p:tagLst xmlns:p="http://schemas.openxmlformats.org/presentationml/2006/main">
  <p:tag name="KSO_WM_BEAUTIFY_FLAG" val=""/>
</p:tagLst>
</file>

<file path=ppt/tags/tag828.xml><?xml version="1.0" encoding="utf-8"?>
<p:tagLst xmlns:p="http://schemas.openxmlformats.org/presentationml/2006/main">
  <p:tag name="KSO_WM_BEAUTIFY_FLAG" val=""/>
</p:tagLst>
</file>

<file path=ppt/tags/tag829.xml><?xml version="1.0" encoding="utf-8"?>
<p:tagLst xmlns:p="http://schemas.openxmlformats.org/presentationml/2006/main">
  <p:tag name="KSO_WM_BEAUTIFY_FLAG" val=""/>
</p:tagLst>
</file>

<file path=ppt/tags/tag830.xml><?xml version="1.0" encoding="utf-8"?>
<p:tagLst xmlns:p="http://schemas.openxmlformats.org/presentationml/2006/main">
  <p:tag name="KSO_WM_BEAUTIFY_FLAG" val=""/>
</p:tagLst>
</file>

<file path=ppt/tags/tag831.xml><?xml version="1.0" encoding="utf-8"?>
<p:tagLst xmlns:p="http://schemas.openxmlformats.org/presentationml/2006/main">
  <p:tag name="KSO_WM_BEAUTIFY_FLAG" val=""/>
</p:tagLst>
</file>

<file path=ppt/tags/tag832.xml><?xml version="1.0" encoding="utf-8"?>
<p:tagLst xmlns:p="http://schemas.openxmlformats.org/presentationml/2006/main">
  <p:tag name="KSO_WM_BEAUTIFY_FLAG" val=""/>
</p:tagLst>
</file>

<file path=ppt/tags/tag833.xml><?xml version="1.0" encoding="utf-8"?>
<p:tagLst xmlns:p="http://schemas.openxmlformats.org/presentationml/2006/main">
  <p:tag name="KSO_WM_BEAUTIFY_FLAG" val=""/>
</p:tagLst>
</file>

<file path=ppt/tags/tag834.xml><?xml version="1.0" encoding="utf-8"?>
<p:tagLst xmlns:p="http://schemas.openxmlformats.org/presentationml/2006/main">
  <p:tag name="KSO_WM_BEAUTIFY_FLAG" val=""/>
</p:tagLst>
</file>

<file path=ppt/tags/tag835.xml><?xml version="1.0" encoding="utf-8"?>
<p:tagLst xmlns:p="http://schemas.openxmlformats.org/presentationml/2006/main">
  <p:tag name="KSO_WM_BEAUTIFY_FLAG" val=""/>
</p:tagLst>
</file>

<file path=ppt/tags/tag836.xml><?xml version="1.0" encoding="utf-8"?>
<p:tagLst xmlns:p="http://schemas.openxmlformats.org/presentationml/2006/main">
  <p:tag name="KSO_WM_BEAUTIFY_FLAG" val=""/>
</p:tagLst>
</file>

<file path=ppt/tags/tag837.xml><?xml version="1.0" encoding="utf-8"?>
<p:tagLst xmlns:p="http://schemas.openxmlformats.org/presentationml/2006/main">
  <p:tag name="KSO_WM_BEAUTIFY_FLAG" val=""/>
</p:tagLst>
</file>

<file path=ppt/tags/tag838.xml><?xml version="1.0" encoding="utf-8"?>
<p:tagLst xmlns:p="http://schemas.openxmlformats.org/presentationml/2006/main">
  <p:tag name="KSO_WM_BEAUTIFY_FLAG" val=""/>
</p:tagLst>
</file>

<file path=ppt/tags/tag839.xml><?xml version="1.0" encoding="utf-8"?>
<p:tagLst xmlns:p="http://schemas.openxmlformats.org/presentationml/2006/main">
  <p:tag name="KSO_WM_BEAUTIFY_FLAG" val=""/>
</p:tagLst>
</file>

<file path=ppt/tags/tag840.xml><?xml version="1.0" encoding="utf-8"?>
<p:tagLst xmlns:p="http://schemas.openxmlformats.org/presentationml/2006/main">
  <p:tag name="KSO_WM_BEAUTIFY_FLAG" val=""/>
</p:tagLst>
</file>

<file path=ppt/tags/tag841.xml><?xml version="1.0" encoding="utf-8"?>
<p:tagLst xmlns:p="http://schemas.openxmlformats.org/presentationml/2006/main">
  <p:tag name="KSO_WM_BEAUTIFY_FLAG" val=""/>
</p:tagLst>
</file>

<file path=ppt/tags/tag842.xml><?xml version="1.0" encoding="utf-8"?>
<p:tagLst xmlns:p="http://schemas.openxmlformats.org/presentationml/2006/main">
  <p:tag name="KSO_WM_BEAUTIFY_FLAG" val=""/>
</p:tagLst>
</file>

<file path=ppt/tags/tag843.xml><?xml version="1.0" encoding="utf-8"?>
<p:tagLst xmlns:p="http://schemas.openxmlformats.org/presentationml/2006/main">
  <p:tag name="KSO_WM_BEAUTIFY_FLAG" val=""/>
</p:tagLst>
</file>

<file path=ppt/tags/tag844.xml><?xml version="1.0" encoding="utf-8"?>
<p:tagLst xmlns:p="http://schemas.openxmlformats.org/presentationml/2006/main">
  <p:tag name="KSO_WM_BEAUTIFY_FLAG" val=""/>
</p:tagLst>
</file>

<file path=ppt/tags/tag845.xml><?xml version="1.0" encoding="utf-8"?>
<p:tagLst xmlns:p="http://schemas.openxmlformats.org/presentationml/2006/main">
  <p:tag name="KSO_WM_BEAUTIFY_FLAG" val=""/>
</p:tagLst>
</file>

<file path=ppt/tags/tag846.xml><?xml version="1.0" encoding="utf-8"?>
<p:tagLst xmlns:p="http://schemas.openxmlformats.org/presentationml/2006/main">
  <p:tag name="KSO_WM_BEAUTIFY_FLAG" val=""/>
</p:tagLst>
</file>

<file path=ppt/tags/tag847.xml><?xml version="1.0" encoding="utf-8"?>
<p:tagLst xmlns:p="http://schemas.openxmlformats.org/presentationml/2006/main">
  <p:tag name="KSO_WM_BEAUTIFY_FLAG" val=""/>
</p:tagLst>
</file>

<file path=ppt/tags/tag848.xml><?xml version="1.0" encoding="utf-8"?>
<p:tagLst xmlns:p="http://schemas.openxmlformats.org/presentationml/2006/main">
  <p:tag name="KSO_WM_BEAUTIFY_FLAG" val=""/>
</p:tagLst>
</file>

<file path=ppt/tags/tag849.xml><?xml version="1.0" encoding="utf-8"?>
<p:tagLst xmlns:p="http://schemas.openxmlformats.org/presentationml/2006/main">
  <p:tag name="KSO_WM_BEAUTIFY_FLAG" val=""/>
</p:tagLst>
</file>

<file path=ppt/tags/tag850.xml><?xml version="1.0" encoding="utf-8"?>
<p:tagLst xmlns:p="http://schemas.openxmlformats.org/presentationml/2006/main">
  <p:tag name="KSO_WM_BEAUTIFY_FLAG" val=""/>
</p:tagLst>
</file>

<file path=ppt/tags/tag851.xml><?xml version="1.0" encoding="utf-8"?>
<p:tagLst xmlns:p="http://schemas.openxmlformats.org/presentationml/2006/main">
  <p:tag name="KSO_WM_BEAUTIFY_FLAG" val=""/>
</p:tagLst>
</file>

<file path=ppt/tags/tag852.xml><?xml version="1.0" encoding="utf-8"?>
<p:tagLst xmlns:p="http://schemas.openxmlformats.org/presentationml/2006/main">
  <p:tag name="KSO_WM_BEAUTIFY_FLAG" val=""/>
</p:tagLst>
</file>

<file path=ppt/tags/tag853.xml><?xml version="1.0" encoding="utf-8"?>
<p:tagLst xmlns:p="http://schemas.openxmlformats.org/presentationml/2006/main">
  <p:tag name="KSO_WM_BEAUTIFY_FLAG" val=""/>
</p:tagLst>
</file>

<file path=ppt/tags/tag854.xml><?xml version="1.0" encoding="utf-8"?>
<p:tagLst xmlns:p="http://schemas.openxmlformats.org/presentationml/2006/main">
  <p:tag name="KSO_WM_BEAUTIFY_FLAG" val=""/>
</p:tagLst>
</file>

<file path=ppt/tags/tag855.xml><?xml version="1.0" encoding="utf-8"?>
<p:tagLst xmlns:p="http://schemas.openxmlformats.org/presentationml/2006/main">
  <p:tag name="KSO_WM_BEAUTIFY_FLAG" val=""/>
</p:tagLst>
</file>

<file path=ppt/tags/tag856.xml><?xml version="1.0" encoding="utf-8"?>
<p:tagLst xmlns:p="http://schemas.openxmlformats.org/presentationml/2006/main">
  <p:tag name="KSO_WM_BEAUTIFY_FLAG" val=""/>
</p:tagLst>
</file>

<file path=ppt/tags/tag857.xml><?xml version="1.0" encoding="utf-8"?>
<p:tagLst xmlns:p="http://schemas.openxmlformats.org/presentationml/2006/main">
  <p:tag name="KSO_WM_BEAUTIFY_FLAG" val=""/>
</p:tagLst>
</file>

<file path=ppt/tags/tag858.xml><?xml version="1.0" encoding="utf-8"?>
<p:tagLst xmlns:p="http://schemas.openxmlformats.org/presentationml/2006/main">
  <p:tag name="SHADOWSIZE" val="108"/>
  <p:tag name="TEXTSHADOWSIZE" val="100"/>
  <p:tag name="KSO_WM_BEAUTIFY_FLAG" val=""/>
</p:tagLst>
</file>

<file path=ppt/tags/tag859.xml><?xml version="1.0" encoding="utf-8"?>
<p:tagLst xmlns:p="http://schemas.openxmlformats.org/presentationml/2006/main">
  <p:tag name="KSO_WM_BEAUTIFY_FLAG" val=""/>
</p:tagLst>
</file>

<file path=ppt/tags/tag860.xml><?xml version="1.0" encoding="utf-8"?>
<p:tagLst xmlns:p="http://schemas.openxmlformats.org/presentationml/2006/main">
  <p:tag name="SHADOWSIZE" val="100"/>
  <p:tag name="KSO_WM_BEAUTIFY_FLAG" val=""/>
</p:tagLst>
</file>

<file path=ppt/tags/tag861.xml><?xml version="1.0" encoding="utf-8"?>
<p:tagLst xmlns:p="http://schemas.openxmlformats.org/presentationml/2006/main">
  <p:tag name="KSO_WM_BEAUTIFY_FLAG" val=""/>
</p:tagLst>
</file>

<file path=ppt/tags/tag862.xml><?xml version="1.0" encoding="utf-8"?>
<p:tagLst xmlns:p="http://schemas.openxmlformats.org/presentationml/2006/main">
  <p:tag name="SHADOWSIZE" val="108"/>
  <p:tag name="TEXTSHADOWSIZE" val="100"/>
  <p:tag name="KSO_WM_BEAUTIFY_FLAG" val=""/>
</p:tagLst>
</file>

<file path=ppt/tags/tag863.xml><?xml version="1.0" encoding="utf-8"?>
<p:tagLst xmlns:p="http://schemas.openxmlformats.org/presentationml/2006/main">
  <p:tag name="SHADOWSIZE" val="108"/>
  <p:tag name="TEXTSHADOWSIZE" val="100"/>
  <p:tag name="KSO_WM_BEAUTIFY_FLAG" val=""/>
</p:tagLst>
</file>

<file path=ppt/tags/tag864.xml><?xml version="1.0" encoding="utf-8"?>
<p:tagLst xmlns:p="http://schemas.openxmlformats.org/presentationml/2006/main">
  <p:tag name="KSO_WM_BEAUTIFY_FLAG" val=""/>
</p:tagLst>
</file>

<file path=ppt/tags/tag865.xml><?xml version="1.0" encoding="utf-8"?>
<p:tagLst xmlns:p="http://schemas.openxmlformats.org/presentationml/2006/main">
  <p:tag name="SHADOWSIZE" val="108"/>
  <p:tag name="TEXTSHADOWSIZE" val="100"/>
  <p:tag name="KSO_WM_BEAUTIFY_FLAG" val=""/>
</p:tagLst>
</file>

<file path=ppt/tags/tag866.xml><?xml version="1.0" encoding="utf-8"?>
<p:tagLst xmlns:p="http://schemas.openxmlformats.org/presentationml/2006/main">
  <p:tag name="KSO_WM_BEAUTIFY_FLAG" val=""/>
</p:tagLst>
</file>

<file path=ppt/tags/tag867.xml><?xml version="1.0" encoding="utf-8"?>
<p:tagLst xmlns:p="http://schemas.openxmlformats.org/presentationml/2006/main">
  <p:tag name="SHADOWSIZE" val="108"/>
  <p:tag name="TEXTSHADOWSIZE" val="100"/>
  <p:tag name="KSO_WM_BEAUTIFY_FLAG" val=""/>
</p:tagLst>
</file>

<file path=ppt/tags/tag868.xml><?xml version="1.0" encoding="utf-8"?>
<p:tagLst xmlns:p="http://schemas.openxmlformats.org/presentationml/2006/main">
  <p:tag name="KSO_WM_BEAUTIFY_FLAG" val=""/>
</p:tagLst>
</file>

<file path=ppt/tags/tag869.xml><?xml version="1.0" encoding="utf-8"?>
<p:tagLst xmlns:p="http://schemas.openxmlformats.org/presentationml/2006/main">
  <p:tag name="SHADOWSIZE" val="108"/>
  <p:tag name="TEXTSHADOWSIZE" val="100"/>
  <p:tag name="KSO_WM_BEAUTIFY_FLAG" val=""/>
</p:tagLst>
</file>

<file path=ppt/tags/tag870.xml><?xml version="1.0" encoding="utf-8"?>
<p:tagLst xmlns:p="http://schemas.openxmlformats.org/presentationml/2006/main">
  <p:tag name="SHADOWSIZE" val="108"/>
  <p:tag name="TEXTSHADOWSIZE" val="100"/>
  <p:tag name="KSO_WM_BEAUTIFY_FLAG" val=""/>
</p:tagLst>
</file>

<file path=ppt/tags/tag871.xml><?xml version="1.0" encoding="utf-8"?>
<p:tagLst xmlns:p="http://schemas.openxmlformats.org/presentationml/2006/main">
  <p:tag name="SHADOWSIZE" val="108"/>
  <p:tag name="TEXTSHADOWSIZE" val="100"/>
  <p:tag name="KSO_WM_BEAUTIFY_FLAG" val=""/>
</p:tagLst>
</file>

<file path=ppt/tags/tag872.xml><?xml version="1.0" encoding="utf-8"?>
<p:tagLst xmlns:p="http://schemas.openxmlformats.org/presentationml/2006/main">
  <p:tag name="KSO_WM_BEAUTIFY_FLAG" val=""/>
</p:tagLst>
</file>

<file path=ppt/tags/tag873.xml><?xml version="1.0" encoding="utf-8"?>
<p:tagLst xmlns:p="http://schemas.openxmlformats.org/presentationml/2006/main">
  <p:tag name="KSO_WM_BEAUTIFY_FLAG" val=""/>
</p:tagLst>
</file>

<file path=ppt/tags/tag874.xml><?xml version="1.0" encoding="utf-8"?>
<p:tagLst xmlns:p="http://schemas.openxmlformats.org/presentationml/2006/main">
  <p:tag name="KSO_WM_BEAUTIFY_FLAG" val=""/>
</p:tagLst>
</file>

<file path=ppt/tags/tag875.xml><?xml version="1.0" encoding="utf-8"?>
<p:tagLst xmlns:p="http://schemas.openxmlformats.org/presentationml/2006/main">
  <p:tag name="KSO_WM_BEAUTIFY_FLAG" val=""/>
</p:tagLst>
</file>

<file path=ppt/tags/tag876.xml><?xml version="1.0" encoding="utf-8"?>
<p:tagLst xmlns:p="http://schemas.openxmlformats.org/presentationml/2006/main">
  <p:tag name="KSO_WM_BEAUTIFY_FLAG" val=""/>
</p:tagLst>
</file>

<file path=ppt/tags/tag877.xml><?xml version="1.0" encoding="utf-8"?>
<p:tagLst xmlns:p="http://schemas.openxmlformats.org/presentationml/2006/main">
  <p:tag name="KSO_WM_BEAUTIFY_FLAG" val=""/>
</p:tagLst>
</file>

<file path=ppt/tags/tag878.xml><?xml version="1.0" encoding="utf-8"?>
<p:tagLst xmlns:p="http://schemas.openxmlformats.org/presentationml/2006/main">
  <p:tag name="KSO_WM_BEAUTIFY_FLAG" val=""/>
</p:tagLst>
</file>

<file path=ppt/tags/tag879.xml><?xml version="1.0" encoding="utf-8"?>
<p:tagLst xmlns:p="http://schemas.openxmlformats.org/presentationml/2006/main">
  <p:tag name="KSO_WM_BEAUTIFY_FLAG" val=""/>
</p:tagLst>
</file>

<file path=ppt/tags/tag880.xml><?xml version="1.0" encoding="utf-8"?>
<p:tagLst xmlns:p="http://schemas.openxmlformats.org/presentationml/2006/main">
  <p:tag name="KSO_WM_BEAUTIFY_FLAG" val=""/>
</p:tagLst>
</file>

<file path=ppt/tags/tag881.xml><?xml version="1.0" encoding="utf-8"?>
<p:tagLst xmlns:p="http://schemas.openxmlformats.org/presentationml/2006/main">
  <p:tag name="KSO_WM_BEAUTIFY_FLAG" val=""/>
</p:tagLst>
</file>

<file path=ppt/tags/tag882.xml><?xml version="1.0" encoding="utf-8"?>
<p:tagLst xmlns:p="http://schemas.openxmlformats.org/presentationml/2006/main">
  <p:tag name="SHADOWSIZE" val="100"/>
</p:tagLst>
</file>

<file path=ppt/tags/tag883.xml><?xml version="1.0" encoding="utf-8"?>
<p:tagLst xmlns:p="http://schemas.openxmlformats.org/presentationml/2006/main">
  <p:tag name="SHADOWSIZE" val="100"/>
</p:tagLst>
</file>

<file path=ppt/tags/tag884.xml><?xml version="1.0" encoding="utf-8"?>
<p:tagLst xmlns:p="http://schemas.openxmlformats.org/presentationml/2006/main">
  <p:tag name="SHADOWSIZE" val="100"/>
</p:tagLst>
</file>

<file path=ppt/tags/tag885.xml><?xml version="1.0" encoding="utf-8"?>
<p:tagLst xmlns:p="http://schemas.openxmlformats.org/presentationml/2006/main">
  <p:tag name="SHADOWSIZE" val="100"/>
</p:tagLst>
</file>

<file path=ppt/tags/tag886.xml><?xml version="1.0" encoding="utf-8"?>
<p:tagLst xmlns:p="http://schemas.openxmlformats.org/presentationml/2006/main">
  <p:tag name="SHADOWSIZE" val="100"/>
</p:tagLst>
</file>

<file path=ppt/tags/tag887.xml><?xml version="1.0" encoding="utf-8"?>
<p:tagLst xmlns:p="http://schemas.openxmlformats.org/presentationml/2006/main">
  <p:tag name="SHADOWSIZE" val="100"/>
</p:tagLst>
</file>

<file path=ppt/tags/tag888.xml><?xml version="1.0" encoding="utf-8"?>
<p:tagLst xmlns:p="http://schemas.openxmlformats.org/presentationml/2006/main">
  <p:tag name="SHADOWSIZE" val="100"/>
</p:tagLst>
</file>

<file path=ppt/tags/tag889.xml><?xml version="1.0" encoding="utf-8"?>
<p:tagLst xmlns:p="http://schemas.openxmlformats.org/presentationml/2006/main">
  <p:tag name="SHADOWSIZE" val="100"/>
</p:tagLst>
</file>

<file path=ppt/tags/tag890.xml><?xml version="1.0" encoding="utf-8"?>
<p:tagLst xmlns:p="http://schemas.openxmlformats.org/presentationml/2006/main">
  <p:tag name="SHADOWSIZE" val="100"/>
</p:tagLst>
</file>

<file path=ppt/tags/tag891.xml><?xml version="1.0" encoding="utf-8"?>
<p:tagLst xmlns:p="http://schemas.openxmlformats.org/presentationml/2006/main">
  <p:tag name="SHADOWSIZE" val="100"/>
</p:tagLst>
</file>

<file path=ppt/tags/tag892.xml><?xml version="1.0" encoding="utf-8"?>
<p:tagLst xmlns:p="http://schemas.openxmlformats.org/presentationml/2006/main">
  <p:tag name="SHADOWSIZE" val="100"/>
</p:tagLst>
</file>

<file path=ppt/tags/tag893.xml><?xml version="1.0" encoding="utf-8"?>
<p:tagLst xmlns:p="http://schemas.openxmlformats.org/presentationml/2006/main">
  <p:tag name="SHADOWSIZE" val="100"/>
</p:tagLst>
</file>

<file path=ppt/tags/tag894.xml><?xml version="1.0" encoding="utf-8"?>
<p:tagLst xmlns:p="http://schemas.openxmlformats.org/presentationml/2006/main">
  <p:tag name="TEXTZ '" val="0"/>
</p:tagLst>
</file>

<file path=ppt/tags/tag895.xml><?xml version="1.0" encoding="utf-8"?>
<p:tagLst xmlns:p="http://schemas.openxmlformats.org/presentationml/2006/main">
  <p:tag name="KSO_WM_DIAGRAM_VIRTUALLY_FRAME" val="{&amp;quot;height&amp;quot;:352.3,&amp;quot;left&amp;quot;:217.3,&amp;quot;top&amp;quot;:110.65,&amp;quot;width&amp;quot;:707.1}"/>
</p:tagLst>
</file>

<file path=ppt/tags/tag896.xml><?xml version="1.0" encoding="utf-8"?>
<p:tagLst xmlns:p="http://schemas.openxmlformats.org/presentationml/2006/main">
  <p:tag name="KSO_WM_DIAGRAM_VIRTUALLY_FRAME" val="{&amp;quot;height&amp;quot;:352.3,&amp;quot;left&amp;quot;:217.3,&amp;quot;top&amp;quot;:110.65,&amp;quot;width&amp;quot;:707.1}"/>
</p:tagLst>
</file>

<file path=ppt/tags/tag897.xml><?xml version="1.0" encoding="utf-8"?>
<p:tagLst xmlns:p="http://schemas.openxmlformats.org/presentationml/2006/main">
  <p:tag name="KSO_WM_DIAGRAM_VIRTUALLY_FRAME" val="{&amp;quot;height&amp;quot;:352.3,&amp;quot;left&amp;quot;:217.3,&amp;quot;top&amp;quot;:110.65,&amp;quot;width&amp;quot;:707.1}"/>
</p:tagLst>
</file>

<file path=ppt/tags/tag898.xml><?xml version="1.0" encoding="utf-8"?>
<p:tagLst xmlns:p="http://schemas.openxmlformats.org/presentationml/2006/main">
  <p:tag name="KSO_WM_DIAGRAM_VIRTUALLY_FRAME" val="{&amp;quot;height&amp;quot;:352.3,&amp;quot;left&amp;quot;:217.3,&amp;quot;top&amp;quot;:110.65,&amp;quot;width&amp;quot;:707.1}"/>
</p:tagLst>
</file>

<file path=ppt/tags/tag899.xml><?xml version="1.0" encoding="utf-8"?>
<p:tagLst xmlns:p="http://schemas.openxmlformats.org/presentationml/2006/main">
  <p:tag name="KSO_WM_DIAGRAM_VIRTUALLY_FRAME" val="{&amp;quot;height&amp;quot;:352.3,&amp;quot;left&amp;quot;:217.3,&amp;quot;top&amp;quot;:110.65,&amp;quot;width&amp;quot;:707.1}"/>
</p:tagLst>
</file>

<file path=ppt/tags/tag900.xml><?xml version="1.0" encoding="utf-8"?>
<p:tagLst xmlns:p="http://schemas.openxmlformats.org/presentationml/2006/main">
  <p:tag name="KSO_WM_DIAGRAM_VIRTUALLY_FRAME" val="{&amp;quot;height&amp;quot;:352.3,&amp;quot;left&amp;quot;:217.3,&amp;quot;top&amp;quot;:110.65,&amp;quot;width&amp;quot;:707.1}"/>
</p:tagLst>
</file>

<file path=ppt/tags/tag901.xml><?xml version="1.0" encoding="utf-8"?>
<p:tagLst xmlns:p="http://schemas.openxmlformats.org/presentationml/2006/main">
  <p:tag name="KSO_WM_DIAGRAM_VIRTUALLY_FRAME" val="{&amp;quot;height&amp;quot;:352.3,&amp;quot;left&amp;quot;:217.3,&amp;quot;top&amp;quot;:110.65,&amp;quot;width&amp;quot;:707.1}"/>
</p:tagLst>
</file>

<file path=ppt/tags/tag902.xml><?xml version="1.0" encoding="utf-8"?>
<p:tagLst xmlns:p="http://schemas.openxmlformats.org/presentationml/2006/main">
  <p:tag name="KSO_WM_DIAGRAM_VIRTUALLY_FRAME" val="{&amp;quot;height&amp;quot;:352.3,&amp;quot;left&amp;quot;:217.3,&amp;quot;top&amp;quot;:110.65,&amp;quot;width&amp;quot;:707.1}"/>
</p:tagLst>
</file>

<file path=ppt/tags/tag903.xml><?xml version="1.0" encoding="utf-8"?>
<p:tagLst xmlns:p="http://schemas.openxmlformats.org/presentationml/2006/main">
  <p:tag name="KSO_WM_DIAGRAM_VIRTUALLY_FRAME" val="{&amp;quot;height&amp;quot;:352.3,&amp;quot;left&amp;quot;:217.3,&amp;quot;top&amp;quot;:110.65,&amp;quot;width&amp;quot;:707.1}"/>
</p:tagLst>
</file>

<file path=ppt/tags/tag904.xml><?xml version="1.0" encoding="utf-8"?>
<p:tagLst xmlns:p="http://schemas.openxmlformats.org/presentationml/2006/main">
  <p:tag name="KSO_WM_DIAGRAM_VIRTUALLY_FRAME" val="{&amp;quot;height&amp;quot;:352.3,&amp;quot;left&amp;quot;:217.3,&amp;quot;top&amp;quot;:110.65,&amp;quot;width&amp;quot;:707.1}"/>
</p:tagLst>
</file>

<file path=ppt/tags/tag905.xml><?xml version="1.0" encoding="utf-8"?>
<p:tagLst xmlns:p="http://schemas.openxmlformats.org/presentationml/2006/main">
  <p:tag name="KSO_WM_DIAGRAM_VIRTUALLY_FRAME" val="{&amp;quot;height&amp;quot;:352.3,&amp;quot;left&amp;quot;:217.3,&amp;quot;top&amp;quot;:110.65,&amp;quot;width&amp;quot;:707.1}"/>
</p:tagLst>
</file>

<file path=ppt/tags/tag906.xml><?xml version="1.0" encoding="utf-8"?>
<p:tagLst xmlns:p="http://schemas.openxmlformats.org/presentationml/2006/main">
  <p:tag name="KSO_WM_DIAGRAM_VIRTUALLY_FRAME" val="{&amp;quot;height&amp;quot;:352.3,&amp;quot;left&amp;quot;:217.3,&amp;quot;top&amp;quot;:110.65,&amp;quot;width&amp;quot;:707.1}"/>
</p:tagLst>
</file>

<file path=ppt/tags/tag907.xml><?xml version="1.0" encoding="utf-8"?>
<p:tagLst xmlns:p="http://schemas.openxmlformats.org/presentationml/2006/main">
  <p:tag name="KSO_WM_DIAGRAM_VIRTUALLY_FRAME" val="{&amp;quot;height&amp;quot;:352.3,&amp;quot;left&amp;quot;:217.3,&amp;quot;top&amp;quot;:110.65,&amp;quot;width&amp;quot;:707.1}"/>
</p:tagLst>
</file>

<file path=ppt/tags/tag908.xml><?xml version="1.0" encoding="utf-8"?>
<p:tagLst xmlns:p="http://schemas.openxmlformats.org/presentationml/2006/main">
  <p:tag name="KSO_WM_DIAGRAM_VIRTUALLY_FRAME" val="{&amp;quot;height&amp;quot;:352.3,&amp;quot;left&amp;quot;:217.3,&amp;quot;top&amp;quot;:110.65,&amp;quot;width&amp;quot;:707.1}"/>
</p:tagLst>
</file>

<file path=ppt/tags/tag909.xml><?xml version="1.0" encoding="utf-8"?>
<p:tagLst xmlns:p="http://schemas.openxmlformats.org/presentationml/2006/main">
  <p:tag name="KSO_WM_DIAGRAM_VIRTUALLY_FRAME" val="{&amp;quot;height&amp;quot;:352.3,&amp;quot;left&amp;quot;:217.3,&amp;quot;top&amp;quot;:110.65,&amp;quot;width&amp;quot;:707.1}"/>
</p:tagLst>
</file>

<file path=ppt/tags/tag910.xml><?xml version="1.0" encoding="utf-8"?>
<p:tagLst xmlns:p="http://schemas.openxmlformats.org/presentationml/2006/main">
  <p:tag name="KSO_WM_DIAGRAM_VIRTUALLY_FRAME" val="{&amp;quot;height&amp;quot;:352.3,&amp;quot;left&amp;quot;:217.3,&amp;quot;top&amp;quot;:110.65,&amp;quot;width&amp;quot;:707.1}"/>
</p:tagLst>
</file>

<file path=ppt/tags/tag911.xml><?xml version="1.0" encoding="utf-8"?>
<p:tagLst xmlns:p="http://schemas.openxmlformats.org/presentationml/2006/main">
  <p:tag name="KSO_WM_DIAGRAM_VIRTUALLY_FRAME" val="{&amp;quot;height&amp;quot;:352.3,&amp;quot;left&amp;quot;:217.3,&amp;quot;top&amp;quot;:110.65,&amp;quot;width&amp;quot;:707.1}"/>
</p:tagLst>
</file>

<file path=ppt/tags/tag912.xml><?xml version="1.0" encoding="utf-8"?>
<p:tagLst xmlns:p="http://schemas.openxmlformats.org/presentationml/2006/main">
  <p:tag name="KSO_WM_DIAGRAM_VIRTUALLY_FRAME" val="{&amp;quot;height&amp;quot;:352.3,&amp;quot;left&amp;quot;:217.3,&amp;quot;top&amp;quot;:110.65,&amp;quot;width&amp;quot;:707.1}"/>
</p:tagLst>
</file>

<file path=ppt/tags/tag913.xml><?xml version="1.0" encoding="utf-8"?>
<p:tagLst xmlns:p="http://schemas.openxmlformats.org/presentationml/2006/main">
  <p:tag name="KSO_WM_DIAGRAM_VIRTUALLY_FRAME" val="{&amp;quot;height&amp;quot;:352.3,&amp;quot;left&amp;quot;:217.3,&amp;quot;top&amp;quot;:110.65,&amp;quot;width&amp;quot;:707.1}"/>
</p:tagLst>
</file>

<file path=ppt/tags/tag914.xml><?xml version="1.0" encoding="utf-8"?>
<p:tagLst xmlns:p="http://schemas.openxmlformats.org/presentationml/2006/main">
  <p:tag name="KSO_WM_DIAGRAM_VIRTUALLY_FRAME" val="{&amp;quot;height&amp;quot;:352.3,&amp;quot;left&amp;quot;:217.3,&amp;quot;top&amp;quot;:110.65,&amp;quot;width&amp;quot;:707.1}"/>
</p:tagLst>
</file>

<file path=ppt/tags/tag915.xml><?xml version="1.0" encoding="utf-8"?>
<p:tagLst xmlns:p="http://schemas.openxmlformats.org/presentationml/2006/main">
  <p:tag name="KSO_WM_DIAGRAM_VIRTUALLY_FRAME" val="{&amp;quot;height&amp;quot;:352.3,&amp;quot;left&amp;quot;:217.3,&amp;quot;top&amp;quot;:110.65,&amp;quot;width&amp;quot;:707.1}"/>
</p:tagLst>
</file>

<file path=ppt/tags/tag916.xml><?xml version="1.0" encoding="utf-8"?>
<p:tagLst xmlns:p="http://schemas.openxmlformats.org/presentationml/2006/main">
  <p:tag name="KSO_WM_DIAGRAM_VIRTUALLY_FRAME" val="{&amp;quot;height&amp;quot;:352.3,&amp;quot;left&amp;quot;:217.3,&amp;quot;top&amp;quot;:110.65,&amp;quot;width&amp;quot;:707.1}"/>
</p:tagLst>
</file>

<file path=ppt/tags/tag917.xml><?xml version="1.0" encoding="utf-8"?>
<p:tagLst xmlns:p="http://schemas.openxmlformats.org/presentationml/2006/main">
  <p:tag name="KSO_WM_DIAGRAM_VIRTUALLY_FRAME" val="{&amp;quot;height&amp;quot;:352.3,&amp;quot;left&amp;quot;:217.3,&amp;quot;top&amp;quot;:110.65,&amp;quot;width&amp;quot;:707.1}"/>
</p:tagLst>
</file>

<file path=ppt/tags/tag918.xml><?xml version="1.0" encoding="utf-8"?>
<p:tagLst xmlns:p="http://schemas.openxmlformats.org/presentationml/2006/main">
  <p:tag name="KSO_WM_DIAGRAM_VIRTUALLY_FRAME" val="{&amp;quot;height&amp;quot;:352.3,&amp;quot;left&amp;quot;:217.3,&amp;quot;top&amp;quot;:110.65,&amp;quot;width&amp;quot;:707.1}"/>
</p:tagLst>
</file>

<file path=ppt/tags/tag919.xml><?xml version="1.0" encoding="utf-8"?>
<p:tagLst xmlns:p="http://schemas.openxmlformats.org/presentationml/2006/main">
  <p:tag name="KSO_WM_DIAGRAM_VIRTUALLY_FRAME" val="{&amp;quot;height&amp;quot;:352.3,&amp;quot;left&amp;quot;:217.3,&amp;quot;top&amp;quot;:110.65,&amp;quot;width&amp;quot;:707.1}"/>
</p:tagLst>
</file>

<file path=ppt/tags/tag920.xml><?xml version="1.0" encoding="utf-8"?>
<p:tagLst xmlns:p="http://schemas.openxmlformats.org/presentationml/2006/main">
  <p:tag name="KSO_WM_DIAGRAM_VIRTUALLY_FRAME" val="{&amp;quot;height&amp;quot;:352.3,&amp;quot;left&amp;quot;:217.3,&amp;quot;top&amp;quot;:110.65,&amp;quot;width&amp;quot;:707.1}"/>
</p:tagLst>
</file>

<file path=ppt/tags/tag921.xml><?xml version="1.0" encoding="utf-8"?>
<p:tagLst xmlns:p="http://schemas.openxmlformats.org/presentationml/2006/main">
  <p:tag name="KSO_WM_DIAGRAM_VIRTUALLY_FRAME" val="{&amp;quot;height&amp;quot;:352.3,&amp;quot;left&amp;quot;:217.3,&amp;quot;top&amp;quot;:110.65,&amp;quot;width&amp;quot;:707.1}"/>
</p:tagLst>
</file>

<file path=ppt/tags/tag922.xml><?xml version="1.0" encoding="utf-8"?>
<p:tagLst xmlns:p="http://schemas.openxmlformats.org/presentationml/2006/main">
  <p:tag name="KSO_WM_DIAGRAM_VIRTUALLY_FRAME" val="{&amp;quot;height&amp;quot;:352.3,&amp;quot;left&amp;quot;:217.3,&amp;quot;top&amp;quot;:110.65,&amp;quot;width&amp;quot;:707.1}"/>
</p:tagLst>
</file>

<file path=ppt/tags/tag923.xml><?xml version="1.0" encoding="utf-8"?>
<p:tagLst xmlns:p="http://schemas.openxmlformats.org/presentationml/2006/main">
  <p:tag name="KSO_WM_DIAGRAM_VIRTUALLY_FRAME" val="{&amp;quot;height&amp;quot;:352.3,&amp;quot;left&amp;quot;:217.3,&amp;quot;top&amp;quot;:110.65,&amp;quot;width&amp;quot;:707.1}"/>
</p:tagLst>
</file>

<file path=ppt/tags/tag924.xml><?xml version="1.0" encoding="utf-8"?>
<p:tagLst xmlns:p="http://schemas.openxmlformats.org/presentationml/2006/main">
  <p:tag name="KSO_WM_DIAGRAM_VIRTUALLY_FRAME" val="{&amp;quot;height&amp;quot;:352.3,&amp;quot;left&amp;quot;:217.3,&amp;quot;top&amp;quot;:110.65,&amp;quot;width&amp;quot;:707.1}"/>
</p:tagLst>
</file>

<file path=ppt/tags/tag925.xml><?xml version="1.0" encoding="utf-8"?>
<p:tagLst xmlns:p="http://schemas.openxmlformats.org/presentationml/2006/main">
  <p:tag name="KSO_WM_DIAGRAM_VIRTUALLY_FRAME" val="{&amp;quot;height&amp;quot;:352.3,&amp;quot;left&amp;quot;:217.3,&amp;quot;top&amp;quot;:110.65,&amp;quot;width&amp;quot;:707.1}"/>
</p:tagLst>
</file>

<file path=ppt/tags/tag926.xml><?xml version="1.0" encoding="utf-8"?>
<p:tagLst xmlns:p="http://schemas.openxmlformats.org/presentationml/2006/main">
  <p:tag name="KSO_WM_DIAGRAM_VIRTUALLY_FRAME" val="{&amp;quot;height&amp;quot;:352.3,&amp;quot;left&amp;quot;:217.3,&amp;quot;top&amp;quot;:110.65,&amp;quot;width&amp;quot;:707.1}"/>
</p:tagLst>
</file>

<file path=ppt/tags/tag927.xml><?xml version="1.0" encoding="utf-8"?>
<p:tagLst xmlns:p="http://schemas.openxmlformats.org/presentationml/2006/main">
  <p:tag name="KSO_WM_DIAGRAM_VIRTUALLY_FRAME" val="{&amp;quot;height&amp;quot;:352.3,&amp;quot;left&amp;quot;:217.3,&amp;quot;top&amp;quot;:110.65,&amp;quot;width&amp;quot;:707.1}"/>
</p:tagLst>
</file>

<file path=ppt/tags/tag928.xml><?xml version="1.0" encoding="utf-8"?>
<p:tagLst xmlns:p="http://schemas.openxmlformats.org/presentationml/2006/main">
  <p:tag name="KSO_WM_DIAGRAM_VIRTUALLY_FRAME" val="{&amp;quot;height&amp;quot;:352.3,&amp;quot;left&amp;quot;:217.3,&amp;quot;top&amp;quot;:110.65,&amp;quot;width&amp;quot;:707.1}"/>
</p:tagLst>
</file>

<file path=ppt/tags/tag929.xml><?xml version="1.0" encoding="utf-8"?>
<p:tagLst xmlns:p="http://schemas.openxmlformats.org/presentationml/2006/main">
  <p:tag name="KSO_WM_DIAGRAM_VIRTUALLY_FRAME" val="{&amp;quot;height&amp;quot;:352.3,&amp;quot;left&amp;quot;:217.3,&amp;quot;top&amp;quot;:110.65,&amp;quot;width&amp;quot;:707.1}"/>
</p:tagLst>
</file>

<file path=ppt/tags/tag930.xml><?xml version="1.0" encoding="utf-8"?>
<p:tagLst xmlns:p="http://schemas.openxmlformats.org/presentationml/2006/main">
  <p:tag name="KSO_WM_DIAGRAM_VIRTUALLY_FRAME" val="{&amp;quot;height&amp;quot;:352.3,&amp;quot;left&amp;quot;:217.3,&amp;quot;top&amp;quot;:110.65,&amp;quot;width&amp;quot;:707.1}"/>
</p:tagLst>
</file>

<file path=ppt/tags/tag931.xml><?xml version="1.0" encoding="utf-8"?>
<p:tagLst xmlns:p="http://schemas.openxmlformats.org/presentationml/2006/main">
  <p:tag name="KSO_WM_DIAGRAM_VIRTUALLY_FRAME" val="{&amp;quot;height&amp;quot;:352.3,&amp;quot;left&amp;quot;:217.3,&amp;quot;top&amp;quot;:110.65,&amp;quot;width&amp;quot;:707.1}"/>
</p:tagLst>
</file>

<file path=ppt/tags/tag932.xml><?xml version="1.0" encoding="utf-8"?>
<p:tagLst xmlns:p="http://schemas.openxmlformats.org/presentationml/2006/main">
  <p:tag name="KSO_WM_DIAGRAM_VIRTUALLY_FRAME" val="{&amp;quot;height&amp;quot;:352.3,&amp;quot;left&amp;quot;:217.3,&amp;quot;top&amp;quot;:110.65,&amp;quot;width&amp;quot;:707.1}"/>
</p:tagLst>
</file>

<file path=ppt/tags/tag933.xml><?xml version="1.0" encoding="utf-8"?>
<p:tagLst xmlns:p="http://schemas.openxmlformats.org/presentationml/2006/main">
  <p:tag name="KSO_WM_DIAGRAM_VIRTUALLY_FRAME" val="{&amp;quot;height&amp;quot;:352.3,&amp;quot;left&amp;quot;:217.3,&amp;quot;top&amp;quot;:110.65,&amp;quot;width&amp;quot;:707.1}"/>
</p:tagLst>
</file>

<file path=ppt/tags/tag934.xml><?xml version="1.0" encoding="utf-8"?>
<p:tagLst xmlns:p="http://schemas.openxmlformats.org/presentationml/2006/main">
  <p:tag name="KSO_WM_DIAGRAM_VIRTUALLY_FRAME" val="{&amp;quot;height&amp;quot;:352.3,&amp;quot;left&amp;quot;:217.3,&amp;quot;top&amp;quot;:110.65,&amp;quot;width&amp;quot;:707.1}"/>
</p:tagLst>
</file>

<file path=ppt/tags/tag935.xml><?xml version="1.0" encoding="utf-8"?>
<p:tagLst xmlns:p="http://schemas.openxmlformats.org/presentationml/2006/main">
  <p:tag name="KSO_WM_DIAGRAM_VIRTUALLY_FRAME" val="{&amp;quot;height&amp;quot;:352.3,&amp;quot;left&amp;quot;:217.3,&amp;quot;top&amp;quot;:110.65,&amp;quot;width&amp;quot;:707.1}"/>
</p:tagLst>
</file>

<file path=ppt/tags/tag936.xml><?xml version="1.0" encoding="utf-8"?>
<p:tagLst xmlns:p="http://schemas.openxmlformats.org/presentationml/2006/main">
  <p:tag name="KSO_WM_DIAGRAM_VIRTUALLY_FRAME" val="{&amp;quot;height&amp;quot;:352.3,&amp;quot;left&amp;quot;:217.3,&amp;quot;top&amp;quot;:110.65,&amp;quot;width&amp;quot;:707.1}"/>
</p:tagLst>
</file>

<file path=ppt/tags/tag937.xml><?xml version="1.0" encoding="utf-8"?>
<p:tagLst xmlns:p="http://schemas.openxmlformats.org/presentationml/2006/main">
  <p:tag name="KSO_WM_DIAGRAM_VIRTUALLY_FRAME" val="{&amp;quot;height&amp;quot;:352.3,&amp;quot;left&amp;quot;:217.3,&amp;quot;top&amp;quot;:110.65,&amp;quot;width&amp;quot;:707.1}"/>
</p:tagLst>
</file>

<file path=ppt/tags/tag938.xml><?xml version="1.0" encoding="utf-8"?>
<p:tagLst xmlns:p="http://schemas.openxmlformats.org/presentationml/2006/main">
  <p:tag name="KSO_WM_DIAGRAM_VIRTUALLY_FRAME" val="{&amp;quot;height&amp;quot;:352.3,&amp;quot;left&amp;quot;:217.3,&amp;quot;top&amp;quot;:110.65,&amp;quot;width&amp;quot;:707.1}"/>
</p:tagLst>
</file>

<file path=ppt/tags/tag939.xml><?xml version="1.0" encoding="utf-8"?>
<p:tagLst xmlns:p="http://schemas.openxmlformats.org/presentationml/2006/main">
  <p:tag name="KSO_WM_DIAGRAM_VIRTUALLY_FRAME" val="{&amp;quot;height&amp;quot;:352.3,&amp;quot;left&amp;quot;:217.3,&amp;quot;top&amp;quot;:110.65,&amp;quot;width&amp;quot;:707.1}"/>
</p:tagLst>
</file>

<file path=ppt/tags/tag940.xml><?xml version="1.0" encoding="utf-8"?>
<p:tagLst xmlns:p="http://schemas.openxmlformats.org/presentationml/2006/main">
  <p:tag name="KSO_WM_DIAGRAM_VIRTUALLY_FRAME" val="{&amp;quot;height&amp;quot;:352.3,&amp;quot;left&amp;quot;:217.3,&amp;quot;top&amp;quot;:110.65,&amp;quot;width&amp;quot;:707.1}"/>
</p:tagLst>
</file>

<file path=ppt/tags/tag941.xml><?xml version="1.0" encoding="utf-8"?>
<p:tagLst xmlns:p="http://schemas.openxmlformats.org/presentationml/2006/main">
  <p:tag name="KSO_WM_DIAGRAM_VIRTUALLY_FRAME" val="{&amp;quot;height&amp;quot;:352.3,&amp;quot;left&amp;quot;:217.3,&amp;quot;top&amp;quot;:110.65,&amp;quot;width&amp;quot;:707.1}"/>
</p:tagLst>
</file>

<file path=ppt/tags/tag942.xml><?xml version="1.0" encoding="utf-8"?>
<p:tagLst xmlns:p="http://schemas.openxmlformats.org/presentationml/2006/main">
  <p:tag name="KSO_WM_DIAGRAM_VIRTUALLY_FRAME" val="{&amp;quot;height&amp;quot;:352.3,&amp;quot;left&amp;quot;:217.3,&amp;quot;top&amp;quot;:110.65,&amp;quot;width&amp;quot;:707.1}"/>
</p:tagLst>
</file>

<file path=ppt/tags/tag943.xml><?xml version="1.0" encoding="utf-8"?>
<p:tagLst xmlns:p="http://schemas.openxmlformats.org/presentationml/2006/main">
  <p:tag name="KSO_WM_DIAGRAM_VIRTUALLY_FRAME" val="{&amp;quot;height&amp;quot;:352.3,&amp;quot;left&amp;quot;:217.3,&amp;quot;top&amp;quot;:110.65,&amp;quot;width&amp;quot;:707.1}"/>
</p:tagLst>
</file>

<file path=ppt/tags/tag944.xml><?xml version="1.0" encoding="utf-8"?>
<p:tagLst xmlns:p="http://schemas.openxmlformats.org/presentationml/2006/main">
  <p:tag name="KSO_WM_DIAGRAM_VIRTUALLY_FRAME" val="{&amp;quot;height&amp;quot;:352.3,&amp;quot;left&amp;quot;:217.3,&amp;quot;top&amp;quot;:110.65,&amp;quot;width&amp;quot;:707.1}"/>
</p:tagLst>
</file>

<file path=ppt/tags/tag945.xml><?xml version="1.0" encoding="utf-8"?>
<p:tagLst xmlns:p="http://schemas.openxmlformats.org/presentationml/2006/main">
  <p:tag name="KSO_WM_DIAGRAM_VIRTUALLY_FRAME" val="{&amp;quot;height&amp;quot;:352.3,&amp;quot;left&amp;quot;:217.3,&amp;quot;top&amp;quot;:110.65,&amp;quot;width&amp;quot;:707.1}"/>
</p:tagLst>
</file>

<file path=ppt/tags/tag946.xml><?xml version="1.0" encoding="utf-8"?>
<p:tagLst xmlns:p="http://schemas.openxmlformats.org/presentationml/2006/main">
  <p:tag name="KSO_WM_DIAGRAM_VIRTUALLY_FRAME" val="{&amp;quot;height&amp;quot;:352.3,&amp;quot;left&amp;quot;:217.3,&amp;quot;top&amp;quot;:110.65,&amp;quot;width&amp;quot;:707.1}"/>
</p:tagLst>
</file>

<file path=ppt/tags/tag947.xml><?xml version="1.0" encoding="utf-8"?>
<p:tagLst xmlns:p="http://schemas.openxmlformats.org/presentationml/2006/main">
  <p:tag name="KSO_WM_BEAUTIFY_FLAG" val=""/>
</p:tagLst>
</file>

<file path=ppt/tags/tag948.xml><?xml version="1.0" encoding="utf-8"?>
<p:tagLst xmlns:p="http://schemas.openxmlformats.org/presentationml/2006/main">
  <p:tag name="KSO_WM_BEAUTIFY_FLAG" val=""/>
</p:tagLst>
</file>

<file path=ppt/tags/tag949.xml><?xml version="1.0" encoding="utf-8"?>
<p:tagLst xmlns:p="http://schemas.openxmlformats.org/presentationml/2006/main">
  <p:tag name="KSO_WM_BEAUTIFY_FLAG" val=""/>
</p:tagLst>
</file>

<file path=ppt/tags/tag950.xml><?xml version="1.0" encoding="utf-8"?>
<p:tagLst xmlns:p="http://schemas.openxmlformats.org/presentationml/2006/main">
  <p:tag name="KSO_WM_BEAUTIFY_FLAG" val=""/>
</p:tagLst>
</file>

<file path=ppt/tags/tag951.xml><?xml version="1.0" encoding="utf-8"?>
<p:tagLst xmlns:p="http://schemas.openxmlformats.org/presentationml/2006/main">
  <p:tag name="KSO_WM_BEAUTIFY_FLAG" val=""/>
</p:tagLst>
</file>

<file path=ppt/tags/tag952.xml><?xml version="1.0" encoding="utf-8"?>
<p:tagLst xmlns:p="http://schemas.openxmlformats.org/presentationml/2006/main">
  <p:tag name="KSO_WM_BEAUTIFY_FLAG" val=""/>
</p:tagLst>
</file>

<file path=ppt/tags/tag953.xml><?xml version="1.0" encoding="utf-8"?>
<p:tagLst xmlns:p="http://schemas.openxmlformats.org/presentationml/2006/main">
  <p:tag name="KSO_WM_BEAUTIFY_FLAG" val=""/>
</p:tagLst>
</file>

<file path=ppt/tags/tag954.xml><?xml version="1.0" encoding="utf-8"?>
<p:tagLst xmlns:p="http://schemas.openxmlformats.org/presentationml/2006/main">
  <p:tag name="KSO_WM_BEAUTIFY_FLAG" val=""/>
</p:tagLst>
</file>

<file path=ppt/tags/tag955.xml><?xml version="1.0" encoding="utf-8"?>
<p:tagLst xmlns:p="http://schemas.openxmlformats.org/presentationml/2006/main">
  <p:tag name="KSO_WM_BEAUTIFY_FLAG" val=""/>
</p:tagLst>
</file>

<file path=ppt/tags/tag956.xml><?xml version="1.0" encoding="utf-8"?>
<p:tagLst xmlns:p="http://schemas.openxmlformats.org/presentationml/2006/main">
  <p:tag name="KSO_WM_BEAUTIFY_FLAG" val=""/>
</p:tagLst>
</file>

<file path=ppt/tags/tag957.xml><?xml version="1.0" encoding="utf-8"?>
<p:tagLst xmlns:p="http://schemas.openxmlformats.org/presentationml/2006/main">
  <p:tag name="KSO_WM_BEAUTIFY_FLAG" val=""/>
</p:tagLst>
</file>

<file path=ppt/tags/tag958.xml><?xml version="1.0" encoding="utf-8"?>
<p:tagLst xmlns:p="http://schemas.openxmlformats.org/presentationml/2006/main">
  <p:tag name="KSO_WM_BEAUTIFY_FLAG" val=""/>
</p:tagLst>
</file>

<file path=ppt/tags/tag959.xml><?xml version="1.0" encoding="utf-8"?>
<p:tagLst xmlns:p="http://schemas.openxmlformats.org/presentationml/2006/main">
  <p:tag name="KSO_WM_BEAUTIFY_FLAG" val=""/>
</p:tagLst>
</file>

<file path=ppt/tags/tag960.xml><?xml version="1.0" encoding="utf-8"?>
<p:tagLst xmlns:p="http://schemas.openxmlformats.org/presentationml/2006/main">
  <p:tag name="KSO_WM_BEAUTIFY_FLAG" val=""/>
</p:tagLst>
</file>

<file path=ppt/tags/tag961.xml><?xml version="1.0" encoding="utf-8"?>
<p:tagLst xmlns:p="http://schemas.openxmlformats.org/presentationml/2006/main">
  <p:tag name="KSO_WM_BEAUTIFY_FLAG" val=""/>
</p:tagLst>
</file>

<file path=ppt/tags/tag962.xml><?xml version="1.0" encoding="utf-8"?>
<p:tagLst xmlns:p="http://schemas.openxmlformats.org/presentationml/2006/main">
  <p:tag name="KSO_WM_BEAUTIFY_FLAG" val=""/>
</p:tagLst>
</file>

<file path=ppt/tags/tag963.xml><?xml version="1.0" encoding="utf-8"?>
<p:tagLst xmlns:p="http://schemas.openxmlformats.org/presentationml/2006/main">
  <p:tag name="KSO_WM_BEAUTIFY_FLAG" val=""/>
</p:tagLst>
</file>

<file path=ppt/tags/tag964.xml><?xml version="1.0" encoding="utf-8"?>
<p:tagLst xmlns:p="http://schemas.openxmlformats.org/presentationml/2006/main">
  <p:tag name="KSO_WM_BEAUTIFY_FLAG" val=""/>
</p:tagLst>
</file>

<file path=ppt/tags/tag965.xml><?xml version="1.0" encoding="utf-8"?>
<p:tagLst xmlns:p="http://schemas.openxmlformats.org/presentationml/2006/main">
  <p:tag name="KSO_WM_BEAUTIFY_FLAG" val=""/>
</p:tagLst>
</file>

<file path=ppt/tags/tag966.xml><?xml version="1.0" encoding="utf-8"?>
<p:tagLst xmlns:p="http://schemas.openxmlformats.org/presentationml/2006/main">
  <p:tag name="KSO_WM_BEAUTIFY_FLAG" val=""/>
</p:tagLst>
</file>

<file path=ppt/tags/tag967.xml><?xml version="1.0" encoding="utf-8"?>
<p:tagLst xmlns:p="http://schemas.openxmlformats.org/presentationml/2006/main">
  <p:tag name="KSO_WM_BEAUTIFY_FLAG" val=""/>
</p:tagLst>
</file>

<file path=ppt/tags/tag968.xml><?xml version="1.0" encoding="utf-8"?>
<p:tagLst xmlns:p="http://schemas.openxmlformats.org/presentationml/2006/main">
  <p:tag name="KSO_WM_BEAUTIFY_FLAG" val=""/>
</p:tagLst>
</file>

<file path=ppt/tags/tag969.xml><?xml version="1.0" encoding="utf-8"?>
<p:tagLst xmlns:p="http://schemas.openxmlformats.org/presentationml/2006/main">
  <p:tag name="KSO_WM_BEAUTIFY_FLAG" val=""/>
</p:tagLst>
</file>

<file path=ppt/tags/tag970.xml><?xml version="1.0" encoding="utf-8"?>
<p:tagLst xmlns:p="http://schemas.openxmlformats.org/presentationml/2006/main">
  <p:tag name="KSO_WM_BEAUTIFY_FLAG" val=""/>
</p:tagLst>
</file>

<file path=ppt/tags/tag971.xml><?xml version="1.0" encoding="utf-8"?>
<p:tagLst xmlns:p="http://schemas.openxmlformats.org/presentationml/2006/main">
  <p:tag name="KSO_WM_BEAUTIFY_FLAG" val=""/>
</p:tagLst>
</file>

<file path=ppt/tags/tag972.xml><?xml version="1.0" encoding="utf-8"?>
<p:tagLst xmlns:p="http://schemas.openxmlformats.org/presentationml/2006/main">
  <p:tag name="KSO_WM_BEAUTIFY_FLAG" val=""/>
</p:tagLst>
</file>

<file path=ppt/tags/tag973.xml><?xml version="1.0" encoding="utf-8"?>
<p:tagLst xmlns:p="http://schemas.openxmlformats.org/presentationml/2006/main">
  <p:tag name="KSO_WM_BEAUTIFY_FLAG" val=""/>
</p:tagLst>
</file>

<file path=ppt/tags/tag974.xml><?xml version="1.0" encoding="utf-8"?>
<p:tagLst xmlns:p="http://schemas.openxmlformats.org/presentationml/2006/main">
  <p:tag name="KSO_WM_BEAUTIFY_FLAG" val=""/>
</p:tagLst>
</file>

<file path=ppt/tags/tag975.xml><?xml version="1.0" encoding="utf-8"?>
<p:tagLst xmlns:p="http://schemas.openxmlformats.org/presentationml/2006/main">
  <p:tag name="KSO_WM_BEAUTIFY_FLAG" val=""/>
</p:tagLst>
</file>

<file path=ppt/tags/tag976.xml><?xml version="1.0" encoding="utf-8"?>
<p:tagLst xmlns:p="http://schemas.openxmlformats.org/presentationml/2006/main">
  <p:tag name="KSO_WM_BEAUTIFY_FLAG" val=""/>
</p:tagLst>
</file>

<file path=ppt/tags/tag977.xml><?xml version="1.0" encoding="utf-8"?>
<p:tagLst xmlns:p="http://schemas.openxmlformats.org/presentationml/2006/main">
  <p:tag name="KSO_WM_BEAUTIFY_FLAG" val=""/>
</p:tagLst>
</file>

<file path=ppt/tags/tag978.xml><?xml version="1.0" encoding="utf-8"?>
<p:tagLst xmlns:p="http://schemas.openxmlformats.org/presentationml/2006/main">
  <p:tag name="KSO_WM_BEAUTIFY_FLAG" val=""/>
</p:tagLst>
</file>

<file path=ppt/tags/tag979.xml><?xml version="1.0" encoding="utf-8"?>
<p:tagLst xmlns:p="http://schemas.openxmlformats.org/presentationml/2006/main">
  <p:tag name="KSO_WM_BEAUTIFY_FLAG" val=""/>
</p:tagLst>
</file>

<file path=ppt/tags/tag980.xml><?xml version="1.0" encoding="utf-8"?>
<p:tagLst xmlns:p="http://schemas.openxmlformats.org/presentationml/2006/main">
  <p:tag name="KSO_WM_BEAUTIFY_FLAG" val=""/>
</p:tagLst>
</file>

<file path=ppt/tags/tag981.xml><?xml version="1.0" encoding="utf-8"?>
<p:tagLst xmlns:p="http://schemas.openxmlformats.org/presentationml/2006/main">
  <p:tag name="KSO_WM_BEAUTIFY_FLAG" val=""/>
</p:tagLst>
</file>

<file path=ppt/tags/tag982.xml><?xml version="1.0" encoding="utf-8"?>
<p:tagLst xmlns:p="http://schemas.openxmlformats.org/presentationml/2006/main">
  <p:tag name="KSO_WM_BEAUTIFY_FLAG" val=""/>
</p:tagLst>
</file>

<file path=ppt/tags/tag983.xml><?xml version="1.0" encoding="utf-8"?>
<p:tagLst xmlns:p="http://schemas.openxmlformats.org/presentationml/2006/main">
  <p:tag name="KSO_WM_BEAUTIFY_FLAG" val=""/>
</p:tagLst>
</file>

<file path=ppt/tags/tag984.xml><?xml version="1.0" encoding="utf-8"?>
<p:tagLst xmlns:p="http://schemas.openxmlformats.org/presentationml/2006/main">
  <p:tag name="KSO_WM_BEAUTIFY_FLAG" val=""/>
</p:tagLst>
</file>

<file path=ppt/tags/tag985.xml><?xml version="1.0" encoding="utf-8"?>
<p:tagLst xmlns:p="http://schemas.openxmlformats.org/presentationml/2006/main">
  <p:tag name="KSO_WM_BEAUTIFY_FLAG" val=""/>
</p:tagLst>
</file>

<file path=ppt/tags/tag986.xml><?xml version="1.0" encoding="utf-8"?>
<p:tagLst xmlns:p="http://schemas.openxmlformats.org/presentationml/2006/main">
  <p:tag name="KSO_WM_BEAUTIFY_FLAG" val=""/>
</p:tagLst>
</file>

<file path=ppt/tags/tag987.xml><?xml version="1.0" encoding="utf-8"?>
<p:tagLst xmlns:p="http://schemas.openxmlformats.org/presentationml/2006/main">
  <p:tag name="KSO_WM_BEAUTIFY_FLAG" val=""/>
</p:tagLst>
</file>

<file path=ppt/tags/tag988.xml><?xml version="1.0" encoding="utf-8"?>
<p:tagLst xmlns:p="http://schemas.openxmlformats.org/presentationml/2006/main">
  <p:tag name="KSO_WM_BEAUTIFY_FLAG" val=""/>
</p:tagLst>
</file>

<file path=ppt/tags/tag989.xml><?xml version="1.0" encoding="utf-8"?>
<p:tagLst xmlns:p="http://schemas.openxmlformats.org/presentationml/2006/main">
  <p:tag name="KSO_WM_BEAUTIFY_FLAG" val=""/>
</p:tagLst>
</file>

<file path=ppt/tags/tag990.xml><?xml version="1.0" encoding="utf-8"?>
<p:tagLst xmlns:p="http://schemas.openxmlformats.org/presentationml/2006/main">
  <p:tag name="KSO_WM_BEAUTIFY_FLAG" val=""/>
</p:tagLst>
</file>

<file path=ppt/tags/tag991.xml><?xml version="1.0" encoding="utf-8"?>
<p:tagLst xmlns:p="http://schemas.openxmlformats.org/presentationml/2006/main">
  <p:tag name="KSO_WM_BEAUTIFY_FLAG" val=""/>
</p:tagLst>
</file>

<file path=ppt/tags/tag992.xml><?xml version="1.0" encoding="utf-8"?>
<p:tagLst xmlns:p="http://schemas.openxmlformats.org/presentationml/2006/main">
  <p:tag name="KSO_WM_BEAUTIFY_FLAG" val=""/>
</p:tagLst>
</file>

<file path=ppt/tags/tag993.xml><?xml version="1.0" encoding="utf-8"?>
<p:tagLst xmlns:p="http://schemas.openxmlformats.org/presentationml/2006/main">
  <p:tag name="SHADOWSIZE" val="108"/>
  <p:tag name="TEXTSHADOWSIZE" val="100"/>
</p:tagLst>
</file>

<file path=ppt/tags/tag994.xml><?xml version="1.0" encoding="utf-8"?>
<p:tagLst xmlns:p="http://schemas.openxmlformats.org/presentationml/2006/main">
  <p:tag name="SHADOWSIZE" val="108"/>
  <p:tag name="TEXTSHADOWSIZE" val="100"/>
</p:tagLst>
</file>

<file path=ppt/tags/tag995.xml><?xml version="1.0" encoding="utf-8"?>
<p:tagLst xmlns:p="http://schemas.openxmlformats.org/presentationml/2006/main">
  <p:tag name="SHADOWSIZE" val="108"/>
  <p:tag name="TEXTSHADOWSIZE" val="100"/>
</p:tagLst>
</file>

<file path=ppt/tags/tag996.xml><?xml version="1.0" encoding="utf-8"?>
<p:tagLst xmlns:p="http://schemas.openxmlformats.org/presentationml/2006/main">
  <p:tag name="SHADOWSIZE" val="108"/>
  <p:tag name="TEXTSHADOWSIZE" val="100"/>
</p:tagLst>
</file>

<file path=ppt/tags/tag997.xml><?xml version="1.0" encoding="utf-8"?>
<p:tagLst xmlns:p="http://schemas.openxmlformats.org/presentationml/2006/main">
  <p:tag name="SHADOWSIZE" val="108"/>
  <p:tag name="TEXTSHADOWSIZE" val="100"/>
</p:tagLst>
</file>

<file path=ppt/tags/tag998.xml><?xml version="1.0" encoding="utf-8"?>
<p:tagLst xmlns:p="http://schemas.openxmlformats.org/presentationml/2006/main">
  <p:tag name="SHADOWSIZE" val="108"/>
  <p:tag name="TEXTSHADOWSIZE" val="100"/>
</p:tagLst>
</file>

<file path=ppt/tags/tag999.xml><?xml version="1.0" encoding="utf-8"?>
<p:tagLst xmlns:p="http://schemas.openxmlformats.org/presentationml/2006/main">
  <p:tag name="SHADOWSIZE" val="100"/>
</p:tagLst>
</file>

<file path=ppt/tags/tag1000.xml><?xml version="1.0" encoding="utf-8"?>
<p:tagLst xmlns:p="http://schemas.openxmlformats.org/presentationml/2006/main">
  <p:tag name="SHADOWSIZE" val="100"/>
</p:tagLst>
</file>

<file path=ppt/tags/tag1001.xml><?xml version="1.0" encoding="utf-8"?>
<p:tagLst xmlns:p="http://schemas.openxmlformats.org/presentationml/2006/main">
  <p:tag name="SHADOWSIZE" val="100"/>
</p:tagLst>
</file>

<file path=ppt/tags/tag1002.xml><?xml version="1.0" encoding="utf-8"?>
<p:tagLst xmlns:p="http://schemas.openxmlformats.org/presentationml/2006/main">
  <p:tag name="SHADOWSIZE" val="100"/>
</p:tagLst>
</file>

<file path=ppt/tags/tag1003.xml><?xml version="1.0" encoding="utf-8"?>
<p:tagLst xmlns:p="http://schemas.openxmlformats.org/presentationml/2006/main">
  <p:tag name="SHADOWSIZE" val="100"/>
</p:tagLst>
</file>

<file path=ppt/tags/tag1004.xml><?xml version="1.0" encoding="utf-8"?>
<p:tagLst xmlns:p="http://schemas.openxmlformats.org/presentationml/2006/main">
  <p:tag name="KSO_WM_DIAGRAM_VIRTUALLY_FRAME" val="{&amp;quot;height&amp;quot;:352.3,&amp;quot;left&amp;quot;:217.3,&amp;quot;top&amp;quot;:110.65,&amp;quot;width&amp;quot;:707.1}"/>
</p:tagLst>
</file>

<file path=ppt/tags/tag1005.xml><?xml version="1.0" encoding="utf-8"?>
<p:tagLst xmlns:p="http://schemas.openxmlformats.org/presentationml/2006/main">
  <p:tag name="KSO_WM_DIAGRAM_VIRTUALLY_FRAME" val="{&amp;quot;height&amp;quot;:352.3,&amp;quot;left&amp;quot;:217.3,&amp;quot;top&amp;quot;:110.65,&amp;quot;width&amp;quot;:707.1}"/>
</p:tagLst>
</file>

<file path=ppt/tags/tag1006.xml><?xml version="1.0" encoding="utf-8"?>
<p:tagLst xmlns:p="http://schemas.openxmlformats.org/presentationml/2006/main">
  <p:tag name="KSO_WM_DIAGRAM_VIRTUALLY_FRAME" val="{&amp;quot;height&amp;quot;:352.3,&amp;quot;left&amp;quot;:217.3,&amp;quot;top&amp;quot;:110.65,&amp;quot;width&amp;quot;:707.1}"/>
</p:tagLst>
</file>

<file path=ppt/tags/tag1007.xml><?xml version="1.0" encoding="utf-8"?>
<p:tagLst xmlns:p="http://schemas.openxmlformats.org/presentationml/2006/main">
  <p:tag name="KSO_WM_DIAGRAM_VIRTUALLY_FRAME" val="{&amp;quot;height&amp;quot;:352.3,&amp;quot;left&amp;quot;:217.3,&amp;quot;top&amp;quot;:110.65,&amp;quot;width&amp;quot;:707.1}"/>
</p:tagLst>
</file>

<file path=ppt/tags/tag1008.xml><?xml version="1.0" encoding="utf-8"?>
<p:tagLst xmlns:p="http://schemas.openxmlformats.org/presentationml/2006/main">
  <p:tag name="KSO_WM_DIAGRAM_VIRTUALLY_FRAME" val="{&amp;quot;height&amp;quot;:352.3,&amp;quot;left&amp;quot;:217.3,&amp;quot;top&amp;quot;:110.65,&amp;quot;width&amp;quot;:707.1}"/>
</p:tagLst>
</file>

<file path=ppt/tags/tag1009.xml><?xml version="1.0" encoding="utf-8"?>
<p:tagLst xmlns:p="http://schemas.openxmlformats.org/presentationml/2006/main">
  <p:tag name="KSO_WM_DIAGRAM_VIRTUALLY_FRAME" val="{&amp;quot;height&amp;quot;:352.3,&amp;quot;left&amp;quot;:217.3,&amp;quot;top&amp;quot;:110.65,&amp;quot;width&amp;quot;:707.1}"/>
</p:tagLst>
</file>

<file path=ppt/tags/tag1010.xml><?xml version="1.0" encoding="utf-8"?>
<p:tagLst xmlns:p="http://schemas.openxmlformats.org/presentationml/2006/main">
  <p:tag name="KSO_WM_DIAGRAM_VIRTUALLY_FRAME" val="{&amp;quot;height&amp;quot;:352.3,&amp;quot;left&amp;quot;:217.3,&amp;quot;top&amp;quot;:110.65,&amp;quot;width&amp;quot;:707.1}"/>
</p:tagLst>
</file>

<file path=ppt/tags/tag1011.xml><?xml version="1.0" encoding="utf-8"?>
<p:tagLst xmlns:p="http://schemas.openxmlformats.org/presentationml/2006/main">
  <p:tag name="KSO_WM_DIAGRAM_VIRTUALLY_FRAME" val="{&amp;quot;height&amp;quot;:352.3,&amp;quot;left&amp;quot;:217.3,&amp;quot;top&amp;quot;:110.65,&amp;quot;width&amp;quot;:707.1}"/>
</p:tagLst>
</file>

<file path=ppt/tags/tag1012.xml><?xml version="1.0" encoding="utf-8"?>
<p:tagLst xmlns:p="http://schemas.openxmlformats.org/presentationml/2006/main">
  <p:tag name="KSO_WM_DIAGRAM_VIRTUALLY_FRAME" val="{&amp;quot;height&amp;quot;:352.3,&amp;quot;left&amp;quot;:217.3,&amp;quot;top&amp;quot;:110.65,&amp;quot;width&amp;quot;:707.1}"/>
</p:tagLst>
</file>

<file path=ppt/tags/tag1013.xml><?xml version="1.0" encoding="utf-8"?>
<p:tagLst xmlns:p="http://schemas.openxmlformats.org/presentationml/2006/main">
  <p:tag name="KSO_WM_DIAGRAM_VIRTUALLY_FRAME" val="{&amp;quot;height&amp;quot;:352.3,&amp;quot;left&amp;quot;:217.3,&amp;quot;top&amp;quot;:110.65,&amp;quot;width&amp;quot;:707.1}"/>
</p:tagLst>
</file>

<file path=ppt/tags/tag1014.xml><?xml version="1.0" encoding="utf-8"?>
<p:tagLst xmlns:p="http://schemas.openxmlformats.org/presentationml/2006/main">
  <p:tag name="KSO_WM_DIAGRAM_VIRTUALLY_FRAME" val="{&amp;quot;height&amp;quot;:352.3,&amp;quot;left&amp;quot;:217.3,&amp;quot;top&amp;quot;:110.65,&amp;quot;width&amp;quot;:707.1}"/>
</p:tagLst>
</file>

<file path=ppt/tags/tag1015.xml><?xml version="1.0" encoding="utf-8"?>
<p:tagLst xmlns:p="http://schemas.openxmlformats.org/presentationml/2006/main">
  <p:tag name="KSO_WM_DIAGRAM_VIRTUALLY_FRAME" val="{&amp;quot;height&amp;quot;:352.3,&amp;quot;left&amp;quot;:217.3,&amp;quot;top&amp;quot;:110.65,&amp;quot;width&amp;quot;:707.1}"/>
</p:tagLst>
</file>

<file path=ppt/tags/tag1016.xml><?xml version="1.0" encoding="utf-8"?>
<p:tagLst xmlns:p="http://schemas.openxmlformats.org/presentationml/2006/main">
  <p:tag name="KSO_WM_DIAGRAM_VIRTUALLY_FRAME" val="{&amp;quot;height&amp;quot;:352.3,&amp;quot;left&amp;quot;:217.3,&amp;quot;top&amp;quot;:110.65,&amp;quot;width&amp;quot;:707.1}"/>
</p:tagLst>
</file>

<file path=ppt/tags/tag1017.xml><?xml version="1.0" encoding="utf-8"?>
<p:tagLst xmlns:p="http://schemas.openxmlformats.org/presentationml/2006/main">
  <p:tag name="KSO_WM_DIAGRAM_VIRTUALLY_FRAME" val="{&amp;quot;height&amp;quot;:352.3,&amp;quot;left&amp;quot;:217.3,&amp;quot;top&amp;quot;:110.65,&amp;quot;width&amp;quot;:707.1}"/>
</p:tagLst>
</file>

<file path=ppt/tags/tag1018.xml><?xml version="1.0" encoding="utf-8"?>
<p:tagLst xmlns:p="http://schemas.openxmlformats.org/presentationml/2006/main">
  <p:tag name="KSO_WM_DIAGRAM_VIRTUALLY_FRAME" val="{&amp;quot;height&amp;quot;:352.3,&amp;quot;left&amp;quot;:217.3,&amp;quot;top&amp;quot;:110.65,&amp;quot;width&amp;quot;:707.1}"/>
</p:tagLst>
</file>

<file path=ppt/tags/tag1019.xml><?xml version="1.0" encoding="utf-8"?>
<p:tagLst xmlns:p="http://schemas.openxmlformats.org/presentationml/2006/main">
  <p:tag name="KSO_WM_DIAGRAM_VIRTUALLY_FRAME" val="{&amp;quot;height&amp;quot;:352.3,&amp;quot;left&amp;quot;:217.3,&amp;quot;top&amp;quot;:110.65,&amp;quot;width&amp;quot;:707.1}"/>
</p:tagLst>
</file>

<file path=ppt/tags/tag1020.xml><?xml version="1.0" encoding="utf-8"?>
<p:tagLst xmlns:p="http://schemas.openxmlformats.org/presentationml/2006/main">
  <p:tag name="KSO_WM_DIAGRAM_VIRTUALLY_FRAME" val="{&amp;quot;height&amp;quot;:352.3,&amp;quot;left&amp;quot;:217.3,&amp;quot;top&amp;quot;:110.65,&amp;quot;width&amp;quot;:707.1}"/>
</p:tagLst>
</file>

<file path=ppt/tags/tag1021.xml><?xml version="1.0" encoding="utf-8"?>
<p:tagLst xmlns:p="http://schemas.openxmlformats.org/presentationml/2006/main">
  <p:tag name="KSO_WM_DIAGRAM_VIRTUALLY_FRAME" val="{&amp;quot;height&amp;quot;:352.3,&amp;quot;left&amp;quot;:217.3,&amp;quot;top&amp;quot;:110.65,&amp;quot;width&amp;quot;:707.1}"/>
</p:tagLst>
</file>

<file path=ppt/tags/tag1022.xml><?xml version="1.0" encoding="utf-8"?>
<p:tagLst xmlns:p="http://schemas.openxmlformats.org/presentationml/2006/main">
  <p:tag name="KSO_WM_DIAGRAM_VIRTUALLY_FRAME" val="{&amp;quot;height&amp;quot;:352.3,&amp;quot;left&amp;quot;:217.3,&amp;quot;top&amp;quot;:110.65,&amp;quot;width&amp;quot;:707.1}"/>
</p:tagLst>
</file>

<file path=ppt/tags/tag1023.xml><?xml version="1.0" encoding="utf-8"?>
<p:tagLst xmlns:p="http://schemas.openxmlformats.org/presentationml/2006/main">
  <p:tag name="KSO_WM_DIAGRAM_VIRTUALLY_FRAME" val="{&amp;quot;height&amp;quot;:352.3,&amp;quot;left&amp;quot;:217.3,&amp;quot;top&amp;quot;:110.65,&amp;quot;width&amp;quot;:707.1}"/>
</p:tagLst>
</file>

<file path=ppt/tags/tag1024.xml><?xml version="1.0" encoding="utf-8"?>
<p:tagLst xmlns:p="http://schemas.openxmlformats.org/presentationml/2006/main">
  <p:tag name="KSO_WM_DIAGRAM_VIRTUALLY_FRAME" val="{&amp;quot;height&amp;quot;:352.3,&amp;quot;left&amp;quot;:217.3,&amp;quot;top&amp;quot;:110.65,&amp;quot;width&amp;quot;:707.1}"/>
</p:tagLst>
</file>

<file path=ppt/tags/tag1025.xml><?xml version="1.0" encoding="utf-8"?>
<p:tagLst xmlns:p="http://schemas.openxmlformats.org/presentationml/2006/main">
  <p:tag name="KSO_WM_DIAGRAM_VIRTUALLY_FRAME" val="{&amp;quot;height&amp;quot;:352.3,&amp;quot;left&amp;quot;:217.3,&amp;quot;top&amp;quot;:110.65,&amp;quot;width&amp;quot;:707.1}"/>
</p:tagLst>
</file>

<file path=ppt/tags/tag1026.xml><?xml version="1.0" encoding="utf-8"?>
<p:tagLst xmlns:p="http://schemas.openxmlformats.org/presentationml/2006/main">
  <p:tag name="KSO_WM_DIAGRAM_VIRTUALLY_FRAME" val="{&amp;quot;height&amp;quot;:352.3,&amp;quot;left&amp;quot;:217.3,&amp;quot;top&amp;quot;:110.65,&amp;quot;width&amp;quot;:707.1}"/>
</p:tagLst>
</file>

<file path=ppt/tags/tag1027.xml><?xml version="1.0" encoding="utf-8"?>
<p:tagLst xmlns:p="http://schemas.openxmlformats.org/presentationml/2006/main">
  <p:tag name="KSO_WM_DIAGRAM_VIRTUALLY_FRAME" val="{&amp;quot;height&amp;quot;:352.3,&amp;quot;left&amp;quot;:217.3,&amp;quot;top&amp;quot;:110.65,&amp;quot;width&amp;quot;:707.1}"/>
</p:tagLst>
</file>

<file path=ppt/tags/tag1028.xml><?xml version="1.0" encoding="utf-8"?>
<p:tagLst xmlns:p="http://schemas.openxmlformats.org/presentationml/2006/main">
  <p:tag name="KSO_WM_DIAGRAM_VIRTUALLY_FRAME" val="{&amp;quot;height&amp;quot;:352.3,&amp;quot;left&amp;quot;:217.3,&amp;quot;top&amp;quot;:110.65,&amp;quot;width&amp;quot;:707.1}"/>
</p:tagLst>
</file>

<file path=ppt/tags/tag1029.xml><?xml version="1.0" encoding="utf-8"?>
<p:tagLst xmlns:p="http://schemas.openxmlformats.org/presentationml/2006/main">
  <p:tag name="KSO_WM_DIAGRAM_VIRTUALLY_FRAME" val="{&amp;quot;height&amp;quot;:352.3,&amp;quot;left&amp;quot;:217.3,&amp;quot;top&amp;quot;:110.65,&amp;quot;width&amp;quot;:707.1}"/>
</p:tagLst>
</file>

<file path=ppt/tags/tag1030.xml><?xml version="1.0" encoding="utf-8"?>
<p:tagLst xmlns:p="http://schemas.openxmlformats.org/presentationml/2006/main">
  <p:tag name="KSO_WM_DIAGRAM_VIRTUALLY_FRAME" val="{&amp;quot;height&amp;quot;:352.3,&amp;quot;left&amp;quot;:217.3,&amp;quot;top&amp;quot;:110.65,&amp;quot;width&amp;quot;:707.1}"/>
</p:tagLst>
</file>

<file path=ppt/tags/tag1031.xml><?xml version="1.0" encoding="utf-8"?>
<p:tagLst xmlns:p="http://schemas.openxmlformats.org/presentationml/2006/main">
  <p:tag name="KSO_WM_DIAGRAM_VIRTUALLY_FRAME" val="{&amp;quot;height&amp;quot;:352.3,&amp;quot;left&amp;quot;:217.3,&amp;quot;top&amp;quot;:110.65,&amp;quot;width&amp;quot;:707.1}"/>
</p:tagLst>
</file>

<file path=ppt/tags/tag1032.xml><?xml version="1.0" encoding="utf-8"?>
<p:tagLst xmlns:p="http://schemas.openxmlformats.org/presentationml/2006/main">
  <p:tag name="KSO_WM_DIAGRAM_VIRTUALLY_FRAME" val="{&amp;quot;height&amp;quot;:352.3,&amp;quot;left&amp;quot;:217.3,&amp;quot;top&amp;quot;:110.65,&amp;quot;width&amp;quot;:707.1}"/>
</p:tagLst>
</file>

<file path=ppt/tags/tag1033.xml><?xml version="1.0" encoding="utf-8"?>
<p:tagLst xmlns:p="http://schemas.openxmlformats.org/presentationml/2006/main">
  <p:tag name="KSO_WM_DIAGRAM_VIRTUALLY_FRAME" val="{&amp;quot;height&amp;quot;:352.3,&amp;quot;left&amp;quot;:217.3,&amp;quot;top&amp;quot;:110.65,&amp;quot;width&amp;quot;:707.1}"/>
</p:tagLst>
</file>

<file path=ppt/tags/tag1034.xml><?xml version="1.0" encoding="utf-8"?>
<p:tagLst xmlns:p="http://schemas.openxmlformats.org/presentationml/2006/main">
  <p:tag name="KSO_WM_DIAGRAM_VIRTUALLY_FRAME" val="{&amp;quot;height&amp;quot;:352.3,&amp;quot;left&amp;quot;:217.3,&amp;quot;top&amp;quot;:110.65,&amp;quot;width&amp;quot;:707.1}"/>
</p:tagLst>
</file>

<file path=ppt/tags/tag1035.xml><?xml version="1.0" encoding="utf-8"?>
<p:tagLst xmlns:p="http://schemas.openxmlformats.org/presentationml/2006/main">
  <p:tag name="KSO_WM_DIAGRAM_VIRTUALLY_FRAME" val="{&amp;quot;height&amp;quot;:352.3,&amp;quot;left&amp;quot;:217.3,&amp;quot;top&amp;quot;:110.65,&amp;quot;width&amp;quot;:707.1}"/>
</p:tagLst>
</file>

<file path=ppt/tags/tag1036.xml><?xml version="1.0" encoding="utf-8"?>
<p:tagLst xmlns:p="http://schemas.openxmlformats.org/presentationml/2006/main">
  <p:tag name="SHADOWSIZE" val="99"/>
  <p:tag name="TEXTSHADOWSIZE" val="100"/>
</p:tagLst>
</file>

<file path=ppt/tags/tag1037.xml><?xml version="1.0" encoding="utf-8"?>
<p:tagLst xmlns:p="http://schemas.openxmlformats.org/presentationml/2006/main">
  <p:tag name="SHADOWSIZE" val="99"/>
  <p:tag name="TEXTSHADOWSIZE" val="100"/>
</p:tagLst>
</file>

<file path=ppt/tags/tag1038.xml><?xml version="1.0" encoding="utf-8"?>
<p:tagLst xmlns:p="http://schemas.openxmlformats.org/presentationml/2006/main">
  <p:tag name="SHADOWSIZE" val="99"/>
  <p:tag name="TEXTSHADOWSIZE" val="100"/>
</p:tagLst>
</file>

<file path=ppt/tags/tag1039.xml><?xml version="1.0" encoding="utf-8"?>
<p:tagLst xmlns:p="http://schemas.openxmlformats.org/presentationml/2006/main">
  <p:tag name="SHADOWSIZE" val="108"/>
  <p:tag name="TEXTSHADOWSIZE" val="100"/>
</p:tagLst>
</file>

<file path=ppt/tags/tag1040.xml><?xml version="1.0" encoding="utf-8"?>
<p:tagLst xmlns:p="http://schemas.openxmlformats.org/presentationml/2006/main">
  <p:tag name="SHADOWSIZE" val="108"/>
  <p:tag name="TEXTSHADOWSIZE" val="100"/>
</p:tagLst>
</file>

<file path=ppt/tags/tag1041.xml><?xml version="1.0" encoding="utf-8"?>
<p:tagLst xmlns:p="http://schemas.openxmlformats.org/presentationml/2006/main">
  <p:tag name="SHADOWSIZE" val="108"/>
  <p:tag name="TEXTSHADOWSIZE" val="100"/>
</p:tagLst>
</file>

<file path=ppt/tags/tag1042.xml><?xml version="1.0" encoding="utf-8"?>
<p:tagLst xmlns:p="http://schemas.openxmlformats.org/presentationml/2006/main">
  <p:tag name="SHADOWSIZE" val="108"/>
  <p:tag name="TEXTSHADOWSIZE" val="100"/>
</p:tagLst>
</file>

<file path=ppt/tags/tag1043.xml><?xml version="1.0" encoding="utf-8"?>
<p:tagLst xmlns:p="http://schemas.openxmlformats.org/presentationml/2006/main">
  <p:tag name="SHADOWSIZE" val="99"/>
  <p:tag name="TEXTSHADOWSIZE" val="100"/>
</p:tagLst>
</file>

<file path=ppt/tags/tag1044.xml><?xml version="1.0" encoding="utf-8"?>
<p:tagLst xmlns:p="http://schemas.openxmlformats.org/presentationml/2006/main">
  <p:tag name="SHADOWSIZE" val="99"/>
  <p:tag name="TEXTSHADOWSIZE" val="100"/>
</p:tagLst>
</file>

<file path=ppt/tags/tag1045.xml><?xml version="1.0" encoding="utf-8"?>
<p:tagLst xmlns:p="http://schemas.openxmlformats.org/presentationml/2006/main">
  <p:tag name="SHADOWSIZE" val="108"/>
  <p:tag name="TEXTSHADOWSIZE" val="100"/>
</p:tagLst>
</file>

<file path=ppt/tags/tag1046.xml><?xml version="1.0" encoding="utf-8"?>
<p:tagLst xmlns:p="http://schemas.openxmlformats.org/presentationml/2006/main">
  <p:tag name="SHADOWSIZE" val="99"/>
  <p:tag name="TEXTSHADOWSIZE" val="100"/>
</p:tagLst>
</file>

<file path=ppt/tags/tag1047.xml><?xml version="1.0" encoding="utf-8"?>
<p:tagLst xmlns:p="http://schemas.openxmlformats.org/presentationml/2006/main">
  <p:tag name="SHADOWSIZE" val="99"/>
  <p:tag name="TEXTSHADOWSIZE" val="100"/>
</p:tagLst>
</file>

<file path=ppt/tags/tag1048.xml><?xml version="1.0" encoding="utf-8"?>
<p:tagLst xmlns:p="http://schemas.openxmlformats.org/presentationml/2006/main">
  <p:tag name="SHADOWSIZE" val="99"/>
  <p:tag name="TEXTSHADOWSIZE" val="100"/>
</p:tagLst>
</file>

<file path=ppt/tags/tag1049.xml><?xml version="1.0" encoding="utf-8"?>
<p:tagLst xmlns:p="http://schemas.openxmlformats.org/presentationml/2006/main">
  <p:tag name="SHADOWSIZE" val="99"/>
  <p:tag name="TEXTSHADOWSIZE" val="100"/>
</p:tagLst>
</file>

<file path=ppt/tags/tag1050.xml><?xml version="1.0" encoding="utf-8"?>
<p:tagLst xmlns:p="http://schemas.openxmlformats.org/presentationml/2006/main">
  <p:tag name="SHADOWSIZE" val="99"/>
  <p:tag name="TEXTSHADOWSIZE" val="100"/>
</p:tagLst>
</file>

<file path=ppt/tags/tag1051.xml><?xml version="1.0" encoding="utf-8"?>
<p:tagLst xmlns:p="http://schemas.openxmlformats.org/presentationml/2006/main">
  <p:tag name="SHADOWSIZE" val="99"/>
  <p:tag name="TEXTSHADOWSIZE" val="100"/>
</p:tagLst>
</file>

<file path=ppt/tags/tag1052.xml><?xml version="1.0" encoding="utf-8"?>
<p:tagLst xmlns:p="http://schemas.openxmlformats.org/presentationml/2006/main">
  <p:tag name="SHADOWSIZE" val="99"/>
  <p:tag name="TEXTSHADOWSIZE" val="100"/>
</p:tagLst>
</file>

<file path=ppt/tags/tag1053.xml><?xml version="1.0" encoding="utf-8"?>
<p:tagLst xmlns:p="http://schemas.openxmlformats.org/presentationml/2006/main">
  <p:tag name="ADJUSTMENTS" val="11.23327"/>
  <p:tag name="SHADOWSIZE" val="108"/>
  <p:tag name="TEXTSHADOWSIZE" val="100"/>
</p:tagLst>
</file>

<file path=ppt/tags/tag1054.xml><?xml version="1.0" encoding="utf-8"?>
<p:tagLst xmlns:p="http://schemas.openxmlformats.org/presentationml/2006/main">
  <p:tag name="ADJUSTMENTS" val="7.334567"/>
  <p:tag name="SHADOWSIZE" val="108"/>
  <p:tag name="TEXTSHADOWSIZE" val="100"/>
</p:tagLst>
</file>

<file path=ppt/tags/tag1055.xml><?xml version="1.0" encoding="utf-8"?>
<p:tagLst xmlns:p="http://schemas.openxmlformats.org/presentationml/2006/main">
  <p:tag name="SHADOWSIZE" val="99"/>
  <p:tag name="TEXTSHADOWSIZE" val="100"/>
</p:tagLst>
</file>

<file path=ppt/tags/tag1056.xml><?xml version="1.0" encoding="utf-8"?>
<p:tagLst xmlns:p="http://schemas.openxmlformats.org/presentationml/2006/main">
  <p:tag name="SHADOWSIZE" val="99"/>
  <p:tag name="TEXTSHADOWSIZE" val="100"/>
</p:tagLst>
</file>

<file path=ppt/tags/tag1057.xml><?xml version="1.0" encoding="utf-8"?>
<p:tagLst xmlns:p="http://schemas.openxmlformats.org/presentationml/2006/main">
  <p:tag name="ADJUSTMENTS" val="11.23327"/>
  <p:tag name="SHADOWSIZE" val="108"/>
  <p:tag name="TEXTSHADOWSIZE" val="100"/>
</p:tagLst>
</file>

<file path=ppt/tags/tag1058.xml><?xml version="1.0" encoding="utf-8"?>
<p:tagLst xmlns:p="http://schemas.openxmlformats.org/presentationml/2006/main">
  <p:tag name="ADJUSTMENTS" val="11.23327"/>
  <p:tag name="SHADOWSIZE" val="108"/>
  <p:tag name="TEXTSHADOWSIZE" val="100"/>
</p:tagLst>
</file>

<file path=ppt/tags/tag1059.xml><?xml version="1.0" encoding="utf-8"?>
<p:tagLst xmlns:p="http://schemas.openxmlformats.org/presentationml/2006/main">
  <p:tag name="ADJUSTMENTS" val="11.23327"/>
  <p:tag name="SHADOWSIZE" val="108"/>
  <p:tag name="TEXTSHADOWSIZE" val="100"/>
</p:tagLst>
</file>

<file path=ppt/tags/tag1060.xml><?xml version="1.0" encoding="utf-8"?>
<p:tagLst xmlns:p="http://schemas.openxmlformats.org/presentationml/2006/main">
  <p:tag name="ADJUSTMENTS" val="11.23327"/>
  <p:tag name="SHADOWSIZE" val="108"/>
  <p:tag name="TEXTSHADOWSIZE" val="100"/>
</p:tagLst>
</file>

<file path=ppt/tags/tag1061.xml><?xml version="1.0" encoding="utf-8"?>
<p:tagLst xmlns:p="http://schemas.openxmlformats.org/presentationml/2006/main">
  <p:tag name="ADJUSTMENTS" val="11.23327"/>
  <p:tag name="SHADOWSIZE" val="108"/>
  <p:tag name="TEXTSHADOWSIZE" val="100"/>
</p:tagLst>
</file>

<file path=ppt/tags/tag1062.xml><?xml version="1.0" encoding="utf-8"?>
<p:tagLst xmlns:p="http://schemas.openxmlformats.org/presentationml/2006/main">
  <p:tag name="ADJUSTMENTS" val="11.23327"/>
  <p:tag name="SHADOWSIZE" val="108"/>
  <p:tag name="TEXTSHADOWSIZE" val="100"/>
</p:tagLst>
</file>

<file path=ppt/tags/tag1063.xml><?xml version="1.0" encoding="utf-8"?>
<p:tagLst xmlns:p="http://schemas.openxmlformats.org/presentationml/2006/main">
  <p:tag name="ADJUSTMENTS" val="11.23327"/>
  <p:tag name="SHADOWSIZE" val="108"/>
  <p:tag name="TEXTSHADOWSIZE" val="100"/>
</p:tagLst>
</file>

<file path=ppt/tags/tag1064.xml><?xml version="1.0" encoding="utf-8"?>
<p:tagLst xmlns:p="http://schemas.openxmlformats.org/presentationml/2006/main">
  <p:tag name="ADJUSTMENTS" val="11.23327"/>
  <p:tag name="SHADOWSIZE" val="108"/>
  <p:tag name="TEXTSHADOWSIZE" val="100"/>
</p:tagLst>
</file>

<file path=ppt/tags/tag1065.xml><?xml version="1.0" encoding="utf-8"?>
<p:tagLst xmlns:p="http://schemas.openxmlformats.org/presentationml/2006/main">
  <p:tag name="ADJUSTMENTS" val="7.334567"/>
  <p:tag name="SHADOWSIZE" val="108"/>
  <p:tag name="TEXTSHADOWSIZE" val="100"/>
</p:tagLst>
</file>

<file path=ppt/tags/tag1066.xml><?xml version="1.0" encoding="utf-8"?>
<p:tagLst xmlns:p="http://schemas.openxmlformats.org/presentationml/2006/main">
  <p:tag name="ADJUSTMENTS" val="7.334567"/>
  <p:tag name="SHADOWSIZE" val="108"/>
  <p:tag name="TEXTSHADOWSIZE" val="100"/>
</p:tagLst>
</file>

<file path=ppt/tags/tag1067.xml><?xml version="1.0" encoding="utf-8"?>
<p:tagLst xmlns:p="http://schemas.openxmlformats.org/presentationml/2006/main">
  <p:tag name="ADJUSTMENTS" val="7.334567"/>
  <p:tag name="SHADOWSIZE" val="108"/>
  <p:tag name="TEXTSHADOWSIZE" val="100"/>
</p:tagLst>
</file>

<file path=ppt/tags/tag1068.xml><?xml version="1.0" encoding="utf-8"?>
<p:tagLst xmlns:p="http://schemas.openxmlformats.org/presentationml/2006/main">
  <p:tag name="ADJUSTMENTS" val="7.334567"/>
  <p:tag name="SHADOWSIZE" val="108"/>
  <p:tag name="TEXTSHADOWSIZE" val="100"/>
</p:tagLst>
</file>

<file path=ppt/tags/tag1069.xml><?xml version="1.0" encoding="utf-8"?>
<p:tagLst xmlns:p="http://schemas.openxmlformats.org/presentationml/2006/main">
  <p:tag name="ADJUSTMENTS" val="7.334567"/>
  <p:tag name="SHADOWSIZE" val="108"/>
  <p:tag name="TEXTSHADOWSIZE" val="100"/>
</p:tagLst>
</file>

<file path=ppt/tags/tag1070.xml><?xml version="1.0" encoding="utf-8"?>
<p:tagLst xmlns:p="http://schemas.openxmlformats.org/presentationml/2006/main">
  <p:tag name="KSO_WM_DIAGRAM_VIRTUALLY_FRAME" val="{&amp;quot;height&amp;quot;:403.1,&amp;quot;left&amp;quot;:55.7,&amp;quot;top&amp;quot;:109.25,&amp;quot;width&amp;quot;:860.45}"/>
</p:tagLst>
</file>

<file path=ppt/tags/tag1071.xml><?xml version="1.0" encoding="utf-8"?>
<p:tagLst xmlns:p="http://schemas.openxmlformats.org/presentationml/2006/main">
  <p:tag name="KSO_WM_DIAGRAM_VIRTUALLY_FRAME" val="{&amp;quot;height&amp;quot;:403.1,&amp;quot;left&amp;quot;:55.7,&amp;quot;top&amp;quot;:109.25,&amp;quot;width&amp;quot;:860.45}"/>
</p:tagLst>
</file>

<file path=ppt/tags/tag1072.xml><?xml version="1.0" encoding="utf-8"?>
<p:tagLst xmlns:p="http://schemas.openxmlformats.org/presentationml/2006/main">
  <p:tag name="KSO_WM_DIAGRAM_VIRTUALLY_FRAME" val="{&amp;quot;height&amp;quot;:403.1,&amp;quot;left&amp;quot;:55.7,&amp;quot;top&amp;quot;:109.25,&amp;quot;width&amp;quot;:860.45}"/>
</p:tagLst>
</file>

<file path=ppt/tags/tag1073.xml><?xml version="1.0" encoding="utf-8"?>
<p:tagLst xmlns:p="http://schemas.openxmlformats.org/presentationml/2006/main">
  <p:tag name="KSO_WM_DIAGRAM_VIRTUALLY_FRAME" val="{&amp;quot;height&amp;quot;:403.1,&amp;quot;left&amp;quot;:55.7,&amp;quot;top&amp;quot;:109.25,&amp;quot;width&amp;quot;:860.45}"/>
</p:tagLst>
</file>

<file path=ppt/tags/tag1074.xml><?xml version="1.0" encoding="utf-8"?>
<p:tagLst xmlns:p="http://schemas.openxmlformats.org/presentationml/2006/main">
  <p:tag name="KSO_WM_DIAGRAM_VIRTUALLY_FRAME" val="{&amp;quot;height&amp;quot;:403.1,&amp;quot;left&amp;quot;:55.7,&amp;quot;top&amp;quot;:109.25,&amp;quot;width&amp;quot;:860.45}"/>
</p:tagLst>
</file>

<file path=ppt/tags/tag1075.xml><?xml version="1.0" encoding="utf-8"?>
<p:tagLst xmlns:p="http://schemas.openxmlformats.org/presentationml/2006/main">
  <p:tag name="KSO_WM_DIAGRAM_VIRTUALLY_FRAME" val="{&amp;quot;height&amp;quot;:403.1,&amp;quot;left&amp;quot;:55.7,&amp;quot;top&amp;quot;:109.25,&amp;quot;width&amp;quot;:860.45}"/>
</p:tagLst>
</file>

<file path=ppt/tags/tag1076.xml><?xml version="1.0" encoding="utf-8"?>
<p:tagLst xmlns:p="http://schemas.openxmlformats.org/presentationml/2006/main">
  <p:tag name="KSO_WM_DIAGRAM_VIRTUALLY_FRAME" val="{&amp;quot;height&amp;quot;:403.1,&amp;quot;left&amp;quot;:55.7,&amp;quot;top&amp;quot;:109.25,&amp;quot;width&amp;quot;:860.45}"/>
</p:tagLst>
</file>

<file path=ppt/tags/tag1077.xml><?xml version="1.0" encoding="utf-8"?>
<p:tagLst xmlns:p="http://schemas.openxmlformats.org/presentationml/2006/main">
  <p:tag name="KSO_WM_DIAGRAM_VIRTUALLY_FRAME" val="{&amp;quot;height&amp;quot;:403.1,&amp;quot;left&amp;quot;:55.7,&amp;quot;top&amp;quot;:109.25,&amp;quot;width&amp;quot;:860.45}"/>
</p:tagLst>
</file>

<file path=ppt/tags/tag1078.xml><?xml version="1.0" encoding="utf-8"?>
<p:tagLst xmlns:p="http://schemas.openxmlformats.org/presentationml/2006/main">
  <p:tag name="KSO_WM_DIAGRAM_VIRTUALLY_FRAME" val="{&amp;quot;height&amp;quot;:403.1,&amp;quot;left&amp;quot;:55.7,&amp;quot;top&amp;quot;:109.25,&amp;quot;width&amp;quot;:860.45}"/>
</p:tagLst>
</file>

<file path=ppt/tags/tag1079.xml><?xml version="1.0" encoding="utf-8"?>
<p:tagLst xmlns:p="http://schemas.openxmlformats.org/presentationml/2006/main">
  <p:tag name="KSO_WM_DIAGRAM_VIRTUALLY_FRAME" val="{&amp;quot;height&amp;quot;:403.1,&amp;quot;left&amp;quot;:55.7,&amp;quot;top&amp;quot;:109.25,&amp;quot;width&amp;quot;:860.45}"/>
</p:tagLst>
</file>

<file path=ppt/tags/tag1080.xml><?xml version="1.0" encoding="utf-8"?>
<p:tagLst xmlns:p="http://schemas.openxmlformats.org/presentationml/2006/main">
  <p:tag name="KSO_WM_DIAGRAM_VIRTUALLY_FRAME" val="{&amp;quot;height&amp;quot;:403.1,&amp;quot;left&amp;quot;:55.7,&amp;quot;top&amp;quot;:109.25,&amp;quot;width&amp;quot;:860.45}"/>
</p:tagLst>
</file>

<file path=ppt/tags/tag1081.xml><?xml version="1.0" encoding="utf-8"?>
<p:tagLst xmlns:p="http://schemas.openxmlformats.org/presentationml/2006/main">
  <p:tag name="KSO_WM_DIAGRAM_VIRTUALLY_FRAME" val="{&amp;quot;height&amp;quot;:403.1,&amp;quot;left&amp;quot;:55.7,&amp;quot;top&amp;quot;:109.25,&amp;quot;width&amp;quot;:860.45}"/>
</p:tagLst>
</file>

<file path=ppt/tags/tag1082.xml><?xml version="1.0" encoding="utf-8"?>
<p:tagLst xmlns:p="http://schemas.openxmlformats.org/presentationml/2006/main">
  <p:tag name="KSO_WM_DIAGRAM_VIRTUALLY_FRAME" val="{&amp;quot;height&amp;quot;:403.1,&amp;quot;left&amp;quot;:55.7,&amp;quot;top&amp;quot;:109.25,&amp;quot;width&amp;quot;:860.45}"/>
</p:tagLst>
</file>

<file path=ppt/tags/tag1083.xml><?xml version="1.0" encoding="utf-8"?>
<p:tagLst xmlns:p="http://schemas.openxmlformats.org/presentationml/2006/main">
  <p:tag name="KSO_WM_DIAGRAM_VIRTUALLY_FRAME" val="{&amp;quot;height&amp;quot;:403.1,&amp;quot;left&amp;quot;:55.7,&amp;quot;top&amp;quot;:109.25,&amp;quot;width&amp;quot;:860.45}"/>
</p:tagLst>
</file>

<file path=ppt/tags/tag1084.xml><?xml version="1.0" encoding="utf-8"?>
<p:tagLst xmlns:p="http://schemas.openxmlformats.org/presentationml/2006/main">
  <p:tag name="KSO_WM_DIAGRAM_VIRTUALLY_FRAME" val="{&amp;quot;height&amp;quot;:403.1,&amp;quot;left&amp;quot;:55.7,&amp;quot;top&amp;quot;:109.25,&amp;quot;width&amp;quot;:860.45}"/>
</p:tagLst>
</file>

<file path=ppt/tags/tag1085.xml><?xml version="1.0" encoding="utf-8"?>
<p:tagLst xmlns:p="http://schemas.openxmlformats.org/presentationml/2006/main">
  <p:tag name="KSO_WM_DIAGRAM_VIRTUALLY_FRAME" val="{&amp;quot;height&amp;quot;:403.1,&amp;quot;left&amp;quot;:55.7,&amp;quot;top&amp;quot;:109.25,&amp;quot;width&amp;quot;:860.45}"/>
</p:tagLst>
</file>

<file path=ppt/tags/tag1086.xml><?xml version="1.0" encoding="utf-8"?>
<p:tagLst xmlns:p="http://schemas.openxmlformats.org/presentationml/2006/main">
  <p:tag name="KSO_WM_DIAGRAM_VIRTUALLY_FRAME" val="{&amp;quot;height&amp;quot;:403.1,&amp;quot;left&amp;quot;:55.7,&amp;quot;top&amp;quot;:109.25,&amp;quot;width&amp;quot;:860.45}"/>
</p:tagLst>
</file>

<file path=ppt/tags/tag1087.xml><?xml version="1.0" encoding="utf-8"?>
<p:tagLst xmlns:p="http://schemas.openxmlformats.org/presentationml/2006/main">
  <p:tag name="KSO_WM_DIAGRAM_VIRTUALLY_FRAME" val="{&amp;quot;height&amp;quot;:403.1,&amp;quot;left&amp;quot;:55.7,&amp;quot;top&amp;quot;:109.25,&amp;quot;width&amp;quot;:860.45}"/>
</p:tagLst>
</file>

<file path=ppt/tags/tag1088.xml><?xml version="1.0" encoding="utf-8"?>
<p:tagLst xmlns:p="http://schemas.openxmlformats.org/presentationml/2006/main">
  <p:tag name="KSO_WM_DIAGRAM_VIRTUALLY_FRAME" val="{&amp;quot;height&amp;quot;:403.1,&amp;quot;left&amp;quot;:55.7,&amp;quot;top&amp;quot;:109.25,&amp;quot;width&amp;quot;:860.45}"/>
</p:tagLst>
</file>

<file path=ppt/tags/tag1089.xml><?xml version="1.0" encoding="utf-8"?>
<p:tagLst xmlns:p="http://schemas.openxmlformats.org/presentationml/2006/main">
  <p:tag name="KSO_WM_DIAGRAM_VIRTUALLY_FRAME" val="{&amp;quot;height&amp;quot;:403.1,&amp;quot;left&amp;quot;:55.7,&amp;quot;top&amp;quot;:109.25,&amp;quot;width&amp;quot;:860.45}"/>
</p:tagLst>
</file>

<file path=ppt/tags/tag1090.xml><?xml version="1.0" encoding="utf-8"?>
<p:tagLst xmlns:p="http://schemas.openxmlformats.org/presentationml/2006/main">
  <p:tag name="KSO_WM_DIAGRAM_VIRTUALLY_FRAME" val="{&amp;quot;height&amp;quot;:403.1,&amp;quot;left&amp;quot;:55.7,&amp;quot;top&amp;quot;:109.25,&amp;quot;width&amp;quot;:860.45}"/>
</p:tagLst>
</file>

<file path=ppt/tags/tag1091.xml><?xml version="1.0" encoding="utf-8"?>
<p:tagLst xmlns:p="http://schemas.openxmlformats.org/presentationml/2006/main">
  <p:tag name="KSO_WM_DIAGRAM_VIRTUALLY_FRAME" val="{&amp;quot;height&amp;quot;:403.1,&amp;quot;left&amp;quot;:55.7,&amp;quot;top&amp;quot;:109.25,&amp;quot;width&amp;quot;:860.45}"/>
</p:tagLst>
</file>

<file path=ppt/tags/tag1092.xml><?xml version="1.0" encoding="utf-8"?>
<p:tagLst xmlns:p="http://schemas.openxmlformats.org/presentationml/2006/main">
  <p:tag name="KSO_WM_DIAGRAM_VIRTUALLY_FRAME" val="{&amp;quot;height&amp;quot;:134.45,&amp;quot;left&amp;quot;:39.75,&amp;quot;top&amp;quot;:206.5,&amp;quot;width&amp;quot;:195.5}"/>
</p:tagLst>
</file>

<file path=ppt/tags/tag1093.xml><?xml version="1.0" encoding="utf-8"?>
<p:tagLst xmlns:p="http://schemas.openxmlformats.org/presentationml/2006/main">
  <p:tag name="KSO_WM_DIAGRAM_VIRTUALLY_FRAME" val="{&amp;quot;height&amp;quot;:134.45,&amp;quot;left&amp;quot;:39.75,&amp;quot;top&amp;quot;:206.5,&amp;quot;width&amp;quot;:195.5}"/>
</p:tagLst>
</file>

<file path=ppt/tags/tag1094.xml><?xml version="1.0" encoding="utf-8"?>
<p:tagLst xmlns:p="http://schemas.openxmlformats.org/presentationml/2006/main">
  <p:tag name="KSO_WM_DIAGRAM_VIRTUALLY_FRAME" val="{&amp;quot;height&amp;quot;:134.45,&amp;quot;left&amp;quot;:39.75,&amp;quot;top&amp;quot;:206.5,&amp;quot;width&amp;quot;:195.5}"/>
</p:tagLst>
</file>

<file path=ppt/tags/tag1095.xml><?xml version="1.0" encoding="utf-8"?>
<p:tagLst xmlns:p="http://schemas.openxmlformats.org/presentationml/2006/main">
  <p:tag name="KSO_WM_DIAGRAM_VIRTUALLY_FRAME" val="{&amp;quot;height&amp;quot;:134.45,&amp;quot;left&amp;quot;:39.75,&amp;quot;top&amp;quot;:206.5,&amp;quot;width&amp;quot;:195.5}"/>
</p:tagLst>
</file>

<file path=ppt/tags/tag1096.xml><?xml version="1.0" encoding="utf-8"?>
<p:tagLst xmlns:p="http://schemas.openxmlformats.org/presentationml/2006/main">
  <p:tag name="KSO_WM_DIAGRAM_VIRTUALLY_FRAME" val="{&amp;quot;height&amp;quot;:134.45,&amp;quot;left&amp;quot;:39.75,&amp;quot;top&amp;quot;:206.5,&amp;quot;width&amp;quot;:195.5}"/>
</p:tagLst>
</file>

<file path=ppt/tags/tag1097.xml><?xml version="1.0" encoding="utf-8"?>
<p:tagLst xmlns:p="http://schemas.openxmlformats.org/presentationml/2006/main">
  <p:tag name="KSO_WM_DIAGRAM_VIRTUALLY_FRAME" val="{&amp;quot;height&amp;quot;:134.45,&amp;quot;left&amp;quot;:39.75,&amp;quot;top&amp;quot;:206.5,&amp;quot;width&amp;quot;:195.5}"/>
</p:tagLst>
</file>

<file path=ppt/tags/tag1098.xml><?xml version="1.0" encoding="utf-8"?>
<p:tagLst xmlns:p="http://schemas.openxmlformats.org/presentationml/2006/main">
  <p:tag name="KSO_WM_DIAGRAM_VIRTUALLY_FRAME" val="{&amp;quot;height&amp;quot;:134.45,&amp;quot;left&amp;quot;:39.75,&amp;quot;top&amp;quot;:206.5,&amp;quot;width&amp;quot;:195.5}"/>
</p:tagLst>
</file>

<file path=ppt/tags/tag1099.xml><?xml version="1.0" encoding="utf-8"?>
<p:tagLst xmlns:p="http://schemas.openxmlformats.org/presentationml/2006/main">
  <p:tag name="KSO_WM_DIAGRAM_VIRTUALLY_FRAME" val="{&amp;quot;height&amp;quot;:134.45,&amp;quot;left&amp;quot;:39.75,&amp;quot;top&amp;quot;:206.5,&amp;quot;width&amp;quot;:195.5}"/>
</p:tagLst>
</file>

<file path=ppt/tags/tag1100.xml><?xml version="1.0" encoding="utf-8"?>
<p:tagLst xmlns:p="http://schemas.openxmlformats.org/presentationml/2006/main">
  <p:tag name="KSO_WM_DIAGRAM_VIRTUALLY_FRAME" val="{&amp;quot;height&amp;quot;:134.45,&amp;quot;left&amp;quot;:39.75,&amp;quot;top&amp;quot;:206.5,&amp;quot;width&amp;quot;:195.5}"/>
</p:tagLst>
</file>

<file path=ppt/tags/tag1101.xml><?xml version="1.0" encoding="utf-8"?>
<p:tagLst xmlns:p="http://schemas.openxmlformats.org/presentationml/2006/main">
  <p:tag name="KSO_WM_DIAGRAM_VIRTUALLY_FRAME" val="{&amp;quot;height&amp;quot;:134.45,&amp;quot;left&amp;quot;:39.75,&amp;quot;top&amp;quot;:206.5,&amp;quot;width&amp;quot;:195.5}"/>
</p:tagLst>
</file>

<file path=ppt/tags/tag1102.xml><?xml version="1.0" encoding="utf-8"?>
<p:tagLst xmlns:p="http://schemas.openxmlformats.org/presentationml/2006/main">
  <p:tag name="KSO_WM_DIAGRAM_VIRTUALLY_FRAME" val="{&amp;quot;height&amp;quot;:134.45,&amp;quot;left&amp;quot;:39.75,&amp;quot;top&amp;quot;:206.5,&amp;quot;width&amp;quot;:195.5}"/>
</p:tagLst>
</file>

<file path=ppt/tags/tag1103.xml><?xml version="1.0" encoding="utf-8"?>
<p:tagLst xmlns:p="http://schemas.openxmlformats.org/presentationml/2006/main">
  <p:tag name="KSO_WM_DIAGRAM_VIRTUALLY_FRAME" val="{&amp;quot;height&amp;quot;:134.45,&amp;quot;left&amp;quot;:39.75,&amp;quot;top&amp;quot;:206.5,&amp;quot;width&amp;quot;:195.5}"/>
</p:tagLst>
</file>

<file path=ppt/tags/tag1104.xml><?xml version="1.0" encoding="utf-8"?>
<p:tagLst xmlns:p="http://schemas.openxmlformats.org/presentationml/2006/main">
  <p:tag name="KSO_WM_DIAGRAM_VIRTUALLY_FRAME" val="{&amp;quot;height&amp;quot;:134.45,&amp;quot;left&amp;quot;:39.75,&amp;quot;top&amp;quot;:206.5,&amp;quot;width&amp;quot;:195.5}"/>
</p:tagLst>
</file>

<file path=ppt/tags/tag1105.xml><?xml version="1.0" encoding="utf-8"?>
<p:tagLst xmlns:p="http://schemas.openxmlformats.org/presentationml/2006/main">
  <p:tag name="KSO_WM_DIAGRAM_VIRTUALLY_FRAME" val="{&amp;quot;height&amp;quot;:134.45,&amp;quot;left&amp;quot;:39.75,&amp;quot;top&amp;quot;:206.5,&amp;quot;width&amp;quot;:195.5}"/>
</p:tagLst>
</file>

<file path=ppt/tags/tag1106.xml><?xml version="1.0" encoding="utf-8"?>
<p:tagLst xmlns:p="http://schemas.openxmlformats.org/presentationml/2006/main">
  <p:tag name="KSO_WM_DIAGRAM_VIRTUALLY_FRAME" val="{&amp;quot;height&amp;quot;:134.45,&amp;quot;left&amp;quot;:39.75,&amp;quot;top&amp;quot;:206.5,&amp;quot;width&amp;quot;:195.5}"/>
</p:tagLst>
</file>

<file path=ppt/tags/tag1107.xml><?xml version="1.0" encoding="utf-8"?>
<p:tagLst xmlns:p="http://schemas.openxmlformats.org/presentationml/2006/main">
  <p:tag name="KSO_WM_DIAGRAM_VIRTUALLY_FRAME" val="{&amp;quot;height&amp;quot;:134.45,&amp;quot;left&amp;quot;:39.75,&amp;quot;top&amp;quot;:206.5,&amp;quot;width&amp;quot;:195.5}"/>
</p:tagLst>
</file>

<file path=ppt/tags/tag1108.xml><?xml version="1.0" encoding="utf-8"?>
<p:tagLst xmlns:p="http://schemas.openxmlformats.org/presentationml/2006/main">
  <p:tag name="KSO_WM_DIAGRAM_VIRTUALLY_FRAME" val="{&amp;quot;height&amp;quot;:134.45,&amp;quot;left&amp;quot;:39.75,&amp;quot;top&amp;quot;:206.5,&amp;quot;width&amp;quot;:195.5}"/>
</p:tagLst>
</file>

<file path=ppt/tags/tag1109.xml><?xml version="1.0" encoding="utf-8"?>
<p:tagLst xmlns:p="http://schemas.openxmlformats.org/presentationml/2006/main">
  <p:tag name="KSO_WM_DIAGRAM_VIRTUALLY_FRAME" val="{&amp;quot;height&amp;quot;:134.45,&amp;quot;left&amp;quot;:39.75,&amp;quot;top&amp;quot;:206.5,&amp;quot;width&amp;quot;:195.5}"/>
</p:tagLst>
</file>

<file path=ppt/tags/tag1110.xml><?xml version="1.0" encoding="utf-8"?>
<p:tagLst xmlns:p="http://schemas.openxmlformats.org/presentationml/2006/main">
  <p:tag name="KSO_WM_DIAGRAM_VIRTUALLY_FRAME" val="{&amp;quot;height&amp;quot;:134.45,&amp;quot;left&amp;quot;:39.75,&amp;quot;top&amp;quot;:206.5,&amp;quot;width&amp;quot;:195.5}"/>
</p:tagLst>
</file>

<file path=ppt/tags/tag1111.xml><?xml version="1.0" encoding="utf-8"?>
<p:tagLst xmlns:p="http://schemas.openxmlformats.org/presentationml/2006/main">
  <p:tag name="KSO_WM_DIAGRAM_VIRTUALLY_FRAME" val="{&amp;quot;height&amp;quot;:134.45,&amp;quot;left&amp;quot;:39.75,&amp;quot;top&amp;quot;:206.5,&amp;quot;width&amp;quot;:195.5}"/>
</p:tagLst>
</file>

<file path=ppt/tags/tag1112.xml><?xml version="1.0" encoding="utf-8"?>
<p:tagLst xmlns:p="http://schemas.openxmlformats.org/presentationml/2006/main">
  <p:tag name="KSO_WM_DIAGRAM_VIRTUALLY_FRAME" val="{&amp;quot;height&amp;quot;:134.45,&amp;quot;left&amp;quot;:39.75,&amp;quot;top&amp;quot;:206.5,&amp;quot;width&amp;quot;:195.5}"/>
</p:tagLst>
</file>

<file path=ppt/tags/tag1113.xml><?xml version="1.0" encoding="utf-8"?>
<p:tagLst xmlns:p="http://schemas.openxmlformats.org/presentationml/2006/main">
  <p:tag name="KSO_WM_DIAGRAM_VIRTUALLY_FRAME" val="{&amp;quot;height&amp;quot;:134.45,&amp;quot;left&amp;quot;:39.75,&amp;quot;top&amp;quot;:206.5,&amp;quot;width&amp;quot;:195.5}"/>
</p:tagLst>
</file>

<file path=ppt/tags/tag1114.xml><?xml version="1.0" encoding="utf-8"?>
<p:tagLst xmlns:p="http://schemas.openxmlformats.org/presentationml/2006/main">
  <p:tag name="KSO_WM_DIAGRAM_VIRTUALLY_FRAME" val="{&amp;quot;height&amp;quot;:134.45,&amp;quot;left&amp;quot;:39.75,&amp;quot;top&amp;quot;:206.5,&amp;quot;width&amp;quot;:195.5}"/>
</p:tagLst>
</file>

<file path=ppt/tags/tag1115.xml><?xml version="1.0" encoding="utf-8"?>
<p:tagLst xmlns:p="http://schemas.openxmlformats.org/presentationml/2006/main">
  <p:tag name="KSO_WM_DIAGRAM_VIRTUALLY_FRAME" val="{&amp;quot;height&amp;quot;:134.45,&amp;quot;left&amp;quot;:39.75,&amp;quot;top&amp;quot;:206.5,&amp;quot;width&amp;quot;:195.5}"/>
</p:tagLst>
</file>

<file path=ppt/tags/tag1116.xml><?xml version="1.0" encoding="utf-8"?>
<p:tagLst xmlns:p="http://schemas.openxmlformats.org/presentationml/2006/main">
  <p:tag name="KSO_WM_DIAGRAM_VIRTUALLY_FRAME" val="{&amp;quot;height&amp;quot;:134.45,&amp;quot;left&amp;quot;:39.75,&amp;quot;top&amp;quot;:206.5,&amp;quot;width&amp;quot;:195.5}"/>
</p:tagLst>
</file>

<file path=ppt/tags/tag1117.xml><?xml version="1.0" encoding="utf-8"?>
<p:tagLst xmlns:p="http://schemas.openxmlformats.org/presentationml/2006/main">
  <p:tag name="KSO_WM_DIAGRAM_VIRTUALLY_FRAME" val="{&amp;quot;height&amp;quot;:134.45,&amp;quot;left&amp;quot;:39.75,&amp;quot;top&amp;quot;:206.5,&amp;quot;width&amp;quot;:195.5}"/>
</p:tagLst>
</file>

<file path=ppt/tags/tag1118.xml><?xml version="1.0" encoding="utf-8"?>
<p:tagLst xmlns:p="http://schemas.openxmlformats.org/presentationml/2006/main">
  <p:tag name="KSO_WM_DIAGRAM_VIRTUALLY_FRAME" val="{&amp;quot;height&amp;quot;:134.45,&amp;quot;left&amp;quot;:39.75,&amp;quot;top&amp;quot;:206.5,&amp;quot;width&amp;quot;:195.5}"/>
</p:tagLst>
</file>

<file path=ppt/tags/tag1119.xml><?xml version="1.0" encoding="utf-8"?>
<p:tagLst xmlns:p="http://schemas.openxmlformats.org/presentationml/2006/main">
  <p:tag name="KSO_WM_DIAGRAM_VIRTUALLY_FRAME" val="{&amp;quot;height&amp;quot;:134.45,&amp;quot;left&amp;quot;:39.75,&amp;quot;top&amp;quot;:206.5,&amp;quot;width&amp;quot;:195.5}"/>
</p:tagLst>
</file>

<file path=ppt/tags/tag1120.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1.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2.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3.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4.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5.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6.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7.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8.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29.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0.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1.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2.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3.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4.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5.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6.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7.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8.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39.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40.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41.xml><?xml version="1.0" encoding="utf-8"?>
<p:tagLst xmlns:p="http://schemas.openxmlformats.org/presentationml/2006/main">
  <p:tag name="KSO_WM_DIAGRAM_VIRTUALLY_FRAME" val="{&amp;quot;height&amp;quot;:206.25,&amp;quot;left&amp;quot;:59.7,&amp;quot;top&amp;quot;:247.3,&amp;quot;width&amp;quot;:398.15}"/>
</p:tagLst>
</file>

<file path=ppt/tags/tag1142.xml><?xml version="1.0" encoding="utf-8"?>
<p:tagLst xmlns:p="http://schemas.openxmlformats.org/presentationml/2006/main">
  <p:tag name="KSO_WM_DIAGRAM_VIRTUALLY_FRAME" val="{&amp;quot;height&amp;quot;:206.25,&amp;quot;left&amp;quot;:59.7,&amp;quot;top&amp;quot;:247.3,&amp;quot;width&amp;quot;:398.15}"/>
</p:tagLst>
</file>

<file path=ppt/tags/tag1143.xml><?xml version="1.0" encoding="utf-8"?>
<p:tagLst xmlns:p="http://schemas.openxmlformats.org/presentationml/2006/main">
  <p:tag name="KSO_WM_DIAGRAM_VIRTUALLY_FRAME" val="{&amp;quot;height&amp;quot;:206.25,&amp;quot;left&amp;quot;:59.7,&amp;quot;top&amp;quot;:247.3,&amp;quot;width&amp;quot;:398.15}"/>
</p:tagLst>
</file>

<file path=ppt/tags/tag1144.xml><?xml version="1.0" encoding="utf-8"?>
<p:tagLst xmlns:p="http://schemas.openxmlformats.org/presentationml/2006/main">
  <p:tag name="KSO_WM_DIAGRAM_VIRTUALLY_FRAME" val="{&amp;quot;height&amp;quot;:206.25,&amp;quot;left&amp;quot;:59.7,&amp;quot;top&amp;quot;:247.3,&amp;quot;width&amp;quot;:398.15}"/>
</p:tagLst>
</file>

<file path=ppt/tags/tag1145.xml><?xml version="1.0" encoding="utf-8"?>
<p:tagLst xmlns:p="http://schemas.openxmlformats.org/presentationml/2006/main">
  <p:tag name="KSO_WM_DIAGRAM_VIRTUALLY_FRAME" val="{&amp;quot;height&amp;quot;:206.25,&amp;quot;left&amp;quot;:59.7,&amp;quot;top&amp;quot;:247.3,&amp;quot;width&amp;quot;:398.15}"/>
</p:tagLst>
</file>

<file path=ppt/tags/tag1146.xml><?xml version="1.0" encoding="utf-8"?>
<p:tagLst xmlns:p="http://schemas.openxmlformats.org/presentationml/2006/main">
  <p:tag name="KSO_WM_DIAGRAM_VIRTUALLY_FRAME" val="{&amp;quot;height&amp;quot;:206.25,&amp;quot;left&amp;quot;:59.7,&amp;quot;top&amp;quot;:247.3,&amp;quot;width&amp;quot;:398.15}"/>
</p:tagLst>
</file>

<file path=ppt/tags/tag1147.xml><?xml version="1.0" encoding="utf-8"?>
<p:tagLst xmlns:p="http://schemas.openxmlformats.org/presentationml/2006/main">
  <p:tag name="KSO_WM_DIAGRAM_VIRTUALLY_FRAME" val="{&amp;quot;height&amp;quot;:206.25,&amp;quot;left&amp;quot;:59.7,&amp;quot;top&amp;quot;:247.3,&amp;quot;width&amp;quot;:398.15}"/>
</p:tagLst>
</file>

<file path=ppt/tags/tag1148.xml><?xml version="1.0" encoding="utf-8"?>
<p:tagLst xmlns:p="http://schemas.openxmlformats.org/presentationml/2006/main">
  <p:tag name="KSO_WM_DIAGRAM_VIRTUALLY_FRAME" val="{&amp;quot;height&amp;quot;:206.25,&amp;quot;left&amp;quot;:59.7,&amp;quot;top&amp;quot;:247.3,&amp;quot;width&amp;quot;:398.15}"/>
</p:tagLst>
</file>

<file path=ppt/tags/tag1149.xml><?xml version="1.0" encoding="utf-8"?>
<p:tagLst xmlns:p="http://schemas.openxmlformats.org/presentationml/2006/main">
  <p:tag name="KSO_WM_DIAGRAM_VIRTUALLY_FRAME" val="{&amp;quot;height&amp;quot;:206.25,&amp;quot;left&amp;quot;:59.7,&amp;quot;top&amp;quot;:247.3,&amp;quot;width&amp;quot;:398.15}"/>
</p:tagLst>
</file>

<file path=ppt/tags/tag1150.xml><?xml version="1.0" encoding="utf-8"?>
<p:tagLst xmlns:p="http://schemas.openxmlformats.org/presentationml/2006/main">
  <p:tag name="KSO_WM_DIAGRAM_VIRTUALLY_FRAME" val="{&amp;quot;height&amp;quot;:206.25,&amp;quot;left&amp;quot;:59.7,&amp;quot;top&amp;quot;:247.3,&amp;quot;width&amp;quot;:398.15}"/>
</p:tagLst>
</file>

<file path=ppt/tags/tag1151.xml><?xml version="1.0" encoding="utf-8"?>
<p:tagLst xmlns:p="http://schemas.openxmlformats.org/presentationml/2006/main">
  <p:tag name="KSO_WM_DIAGRAM_VIRTUALLY_FRAME" val="{&amp;quot;height&amp;quot;:206.25,&amp;quot;left&amp;quot;:59.7,&amp;quot;top&amp;quot;:247.3,&amp;quot;width&amp;quot;:398.15}"/>
</p:tagLst>
</file>

<file path=ppt/tags/tag1152.xml><?xml version="1.0" encoding="utf-8"?>
<p:tagLst xmlns:p="http://schemas.openxmlformats.org/presentationml/2006/main">
  <p:tag name="KSO_WM_DIAGRAM_VIRTUALLY_FRAME" val="{&amp;quot;height&amp;quot;:206.25,&amp;quot;left&amp;quot;:59.7,&amp;quot;top&amp;quot;:247.3,&amp;quot;width&amp;quot;:398.15}"/>
</p:tagLst>
</file>

<file path=ppt/tags/tag1153.xml><?xml version="1.0" encoding="utf-8"?>
<p:tagLst xmlns:p="http://schemas.openxmlformats.org/presentationml/2006/main">
  <p:tag name="KSO_WM_DIAGRAM_VIRTUALLY_FRAME" val="{&amp;quot;height&amp;quot;:206.25,&amp;quot;left&amp;quot;:59.7,&amp;quot;top&amp;quot;:247.3,&amp;quot;width&amp;quot;:398.15}"/>
</p:tagLst>
</file>

<file path=ppt/tags/tag1154.xml><?xml version="1.0" encoding="utf-8"?>
<p:tagLst xmlns:p="http://schemas.openxmlformats.org/presentationml/2006/main">
  <p:tag name="KSO_WM_DIAGRAM_VIRTUALLY_FRAME" val="{&amp;quot;height&amp;quot;:206.25,&amp;quot;left&amp;quot;:59.7,&amp;quot;top&amp;quot;:247.3,&amp;quot;width&amp;quot;:398.15}"/>
</p:tagLst>
</file>

<file path=ppt/tags/tag1155.xml><?xml version="1.0" encoding="utf-8"?>
<p:tagLst xmlns:p="http://schemas.openxmlformats.org/presentationml/2006/main">
  <p:tag name="KSO_WM_DIAGRAM_VIRTUALLY_FRAME" val="{&amp;quot;height&amp;quot;:206.25,&amp;quot;left&amp;quot;:59.7,&amp;quot;top&amp;quot;:247.3,&amp;quot;width&amp;quot;:398.15}"/>
</p:tagLst>
</file>

<file path=ppt/tags/tag1156.xml><?xml version="1.0" encoding="utf-8"?>
<p:tagLst xmlns:p="http://schemas.openxmlformats.org/presentationml/2006/main">
  <p:tag name="KSO_WM_DIAGRAM_VIRTUALLY_FRAME" val="{&amp;quot;height&amp;quot;:1067.5,&amp;quot;left&amp;quot;:-53.8,&amp;quot;top&amp;quot;:-48.9,&amp;quot;width&amp;quot;:1067.5}"/>
</p:tagLst>
</file>

<file path=ppt/tags/tag1157.xml><?xml version="1.0" encoding="utf-8"?>
<p:tagLst xmlns:p="http://schemas.openxmlformats.org/presentationml/2006/main">
  <p:tag name="KSO_WM_DIAGRAM_VIRTUALLY_FRAME" val="{&amp;quot;height&amp;quot;:1067.5,&amp;quot;left&amp;quot;:-53.8,&amp;quot;top&amp;quot;:-48.9,&amp;quot;width&amp;quot;:1067.5}"/>
</p:tagLst>
</file>

<file path=ppt/tags/tag1158.xml><?xml version="1.0" encoding="utf-8"?>
<p:tagLst xmlns:p="http://schemas.openxmlformats.org/presentationml/2006/main">
  <p:tag name="KSO_WM_DIAGRAM_VIRTUALLY_FRAME" val="{&amp;quot;height&amp;quot;:1067.5,&amp;quot;left&amp;quot;:-53.8,&amp;quot;top&amp;quot;:-48.9,&amp;quot;width&amp;quot;:1067.5}"/>
</p:tagLst>
</file>

<file path=ppt/tags/tag1159.xml><?xml version="1.0" encoding="utf-8"?>
<p:tagLst xmlns:p="http://schemas.openxmlformats.org/presentationml/2006/main">
  <p:tag name="KSO_WM_DIAGRAM_VIRTUALLY_FRAME" val="{&amp;quot;height&amp;quot;:1067.5,&amp;quot;left&amp;quot;:-53.8,&amp;quot;top&amp;quot;:-48.9,&amp;quot;width&amp;quot;:1067.5}"/>
</p:tagLst>
</file>

<file path=ppt/tags/tag1160.xml><?xml version="1.0" encoding="utf-8"?>
<p:tagLst xmlns:p="http://schemas.openxmlformats.org/presentationml/2006/main">
  <p:tag name="KSO_WM_DIAGRAM_VIRTUALLY_FRAME" val="{&amp;quot;height&amp;quot;:1067.5,&amp;quot;left&amp;quot;:-53.8,&amp;quot;top&amp;quot;:-48.9,&amp;quot;width&amp;quot;:1067.5}"/>
</p:tagLst>
</file>

<file path=ppt/tags/tag1161.xml><?xml version="1.0" encoding="utf-8"?>
<p:tagLst xmlns:p="http://schemas.openxmlformats.org/presentationml/2006/main">
  <p:tag name="KSO_WM_DIAGRAM_VIRTUALLY_FRAME" val="{&amp;quot;height&amp;quot;:1067.5,&amp;quot;left&amp;quot;:-53.8,&amp;quot;top&amp;quot;:-48.9,&amp;quot;width&amp;quot;:1067.5}"/>
</p:tagLst>
</file>

<file path=ppt/tags/tag1162.xml><?xml version="1.0" encoding="utf-8"?>
<p:tagLst xmlns:p="http://schemas.openxmlformats.org/presentationml/2006/main">
  <p:tag name="KSO_WM_DIAGRAM_VIRTUALLY_FRAME" val="{&amp;quot;height&amp;quot;:1067.5,&amp;quot;left&amp;quot;:-53.8,&amp;quot;top&amp;quot;:-48.9,&amp;quot;width&amp;quot;:1067.5}"/>
</p:tagLst>
</file>

<file path=ppt/tags/tag1163.xml><?xml version="1.0" encoding="utf-8"?>
<p:tagLst xmlns:p="http://schemas.openxmlformats.org/presentationml/2006/main">
  <p:tag name="KSO_WM_DIAGRAM_VIRTUALLY_FRAME" val="{&amp;quot;height&amp;quot;:1067.5,&amp;quot;left&amp;quot;:-53.8,&amp;quot;top&amp;quot;:-48.9,&amp;quot;width&amp;quot;:1067.5}"/>
</p:tagLst>
</file>

<file path=ppt/tags/tag1164.xml><?xml version="1.0" encoding="utf-8"?>
<p:tagLst xmlns:p="http://schemas.openxmlformats.org/presentationml/2006/main">
  <p:tag name="KSO_WM_DIAGRAM_VIRTUALLY_FRAME" val="{&amp;quot;height&amp;quot;:1067.5,&amp;quot;left&amp;quot;:-53.8,&amp;quot;top&amp;quot;:-48.9,&amp;quot;width&amp;quot;:1067.5}"/>
</p:tagLst>
</file>

<file path=ppt/tags/tag1165.xml><?xml version="1.0" encoding="utf-8"?>
<p:tagLst xmlns:p="http://schemas.openxmlformats.org/presentationml/2006/main">
  <p:tag name="KSO_WM_DIAGRAM_VIRTUALLY_FRAME" val="{&amp;quot;height&amp;quot;:1067.5,&amp;quot;left&amp;quot;:-53.8,&amp;quot;top&amp;quot;:-48.9,&amp;quot;width&amp;quot;:1067.5}"/>
</p:tagLst>
</file>

<file path=ppt/tags/tag1166.xml><?xml version="1.0" encoding="utf-8"?>
<p:tagLst xmlns:p="http://schemas.openxmlformats.org/presentationml/2006/main">
  <p:tag name="KSO_WM_DIAGRAM_VIRTUALLY_FRAME" val="{&amp;quot;height&amp;quot;:1067.5,&amp;quot;left&amp;quot;:-53.8,&amp;quot;top&amp;quot;:-48.9,&amp;quot;width&amp;quot;:1067.5}"/>
</p:tagLst>
</file>

<file path=ppt/tags/tag1167.xml><?xml version="1.0" encoding="utf-8"?>
<p:tagLst xmlns:p="http://schemas.openxmlformats.org/presentationml/2006/main">
  <p:tag name="KSO_WM_DIAGRAM_VIRTUALLY_FRAME" val="{&amp;quot;height&amp;quot;:1067.5,&amp;quot;left&amp;quot;:-53.8,&amp;quot;top&amp;quot;:-48.9,&amp;quot;width&amp;quot;:1067.5}"/>
</p:tagLst>
</file>

<file path=ppt/tags/tag1168.xml><?xml version="1.0" encoding="utf-8"?>
<p:tagLst xmlns:p="http://schemas.openxmlformats.org/presentationml/2006/main">
  <p:tag name="KSO_WM_DIAGRAM_VIRTUALLY_FRAME" val="{&amp;quot;height&amp;quot;:1067.5,&amp;quot;left&amp;quot;:-53.8,&amp;quot;top&amp;quot;:-48.9,&amp;quot;width&amp;quot;:1067.5}"/>
</p:tagLst>
</file>

<file path=ppt/tags/tag1169.xml><?xml version="1.0" encoding="utf-8"?>
<p:tagLst xmlns:p="http://schemas.openxmlformats.org/presentationml/2006/main">
  <p:tag name="KSO_WM_DIAGRAM_VIRTUALLY_FRAME" val="{&amp;quot;height&amp;quot;:1067.5,&amp;quot;left&amp;quot;:-53.8,&amp;quot;top&amp;quot;:-48.9,&amp;quot;width&amp;quot;:1067.5}"/>
</p:tagLst>
</file>

<file path=ppt/tags/tag1170.xml><?xml version="1.0" encoding="utf-8"?>
<p:tagLst xmlns:p="http://schemas.openxmlformats.org/presentationml/2006/main">
  <p:tag name="KSO_WM_DIAGRAM_VIRTUALLY_FRAME" val="{&amp;quot;height&amp;quot;:1067.5,&amp;quot;left&amp;quot;:-53.8,&amp;quot;top&amp;quot;:-48.9,&amp;quot;width&amp;quot;:1067.5}"/>
</p:tagLst>
</file>

<file path=ppt/tags/tag1171.xml><?xml version="1.0" encoding="utf-8"?>
<p:tagLst xmlns:p="http://schemas.openxmlformats.org/presentationml/2006/main">
  <p:tag name="KSO_WM_DIAGRAM_VIRTUALLY_FRAME" val="{&amp;quot;height&amp;quot;:1067.5,&amp;quot;left&amp;quot;:-53.8,&amp;quot;top&amp;quot;:-48.9,&amp;quot;width&amp;quot;:1067.5}"/>
</p:tagLst>
</file>

<file path=ppt/tags/tag1172.xml><?xml version="1.0" encoding="utf-8"?>
<p:tagLst xmlns:p="http://schemas.openxmlformats.org/presentationml/2006/main">
  <p:tag name="KSO_WM_DIAGRAM_VIRTUALLY_FRAME" val="{&amp;quot;height&amp;quot;:1067.5,&amp;quot;left&amp;quot;:-53.8,&amp;quot;top&amp;quot;:-48.9,&amp;quot;width&amp;quot;:1067.5}"/>
</p:tagLst>
</file>

<file path=ppt/tags/tag1173.xml><?xml version="1.0" encoding="utf-8"?>
<p:tagLst xmlns:p="http://schemas.openxmlformats.org/presentationml/2006/main">
  <p:tag name="KSO_WM_DIAGRAM_VIRTUALLY_FRAME" val="{&amp;quot;height&amp;quot;:1067.5,&amp;quot;left&amp;quot;:-53.8,&amp;quot;top&amp;quot;:-48.9,&amp;quot;width&amp;quot;:1067.5}"/>
</p:tagLst>
</file>

<file path=ppt/tags/tag1174.xml><?xml version="1.0" encoding="utf-8"?>
<p:tagLst xmlns:p="http://schemas.openxmlformats.org/presentationml/2006/main">
  <p:tag name="KSO_WM_DIAGRAM_VIRTUALLY_FRAME" val="{&amp;quot;height&amp;quot;:1067.5,&amp;quot;left&amp;quot;:-53.8,&amp;quot;top&amp;quot;:-48.9,&amp;quot;width&amp;quot;:1067.5}"/>
</p:tagLst>
</file>

<file path=ppt/tags/tag1175.xml><?xml version="1.0" encoding="utf-8"?>
<p:tagLst xmlns:p="http://schemas.openxmlformats.org/presentationml/2006/main">
  <p:tag name="KSO_WM_DIAGRAM_VIRTUALLY_FRAME" val="{&amp;quot;height&amp;quot;:1067.5,&amp;quot;left&amp;quot;:-53.8,&amp;quot;top&amp;quot;:-48.9,&amp;quot;width&amp;quot;:1067.5}"/>
</p:tagLst>
</file>

<file path=ppt/tags/tag1176.xml><?xml version="1.0" encoding="utf-8"?>
<p:tagLst xmlns:p="http://schemas.openxmlformats.org/presentationml/2006/main">
  <p:tag name="KSO_WM_DIAGRAM_VIRTUALLY_FRAME" val="{&amp;quot;height&amp;quot;:1067.5,&amp;quot;left&amp;quot;:-53.8,&amp;quot;top&amp;quot;:-48.9,&amp;quot;width&amp;quot;:1067.5}"/>
</p:tagLst>
</file>

<file path=ppt/tags/tag1177.xml><?xml version="1.0" encoding="utf-8"?>
<p:tagLst xmlns:p="http://schemas.openxmlformats.org/presentationml/2006/main">
  <p:tag name="KSO_WM_DIAGRAM_VIRTUALLY_FRAME" val="{&amp;quot;height&amp;quot;:1067.5,&amp;quot;left&amp;quot;:-53.8,&amp;quot;top&amp;quot;:-48.9,&amp;quot;width&amp;quot;:1067.5}"/>
</p:tagLst>
</file>

<file path=ppt/tags/tag1178.xml><?xml version="1.0" encoding="utf-8"?>
<p:tagLst xmlns:p="http://schemas.openxmlformats.org/presentationml/2006/main">
  <p:tag name="KSO_WM_DIAGRAM_VIRTUALLY_FRAME" val="{&amp;quot;height&amp;quot;:1067.5,&amp;quot;left&amp;quot;:-53.8,&amp;quot;top&amp;quot;:-48.9,&amp;quot;width&amp;quot;:1067.5}"/>
</p:tagLst>
</file>

<file path=ppt/tags/tag1179.xml><?xml version="1.0" encoding="utf-8"?>
<p:tagLst xmlns:p="http://schemas.openxmlformats.org/presentationml/2006/main">
  <p:tag name="KSO_WM_DIAGRAM_VIRTUALLY_FRAME" val="{&amp;quot;height&amp;quot;:1067.5,&amp;quot;left&amp;quot;:-53.8,&amp;quot;top&amp;quot;:-48.9,&amp;quot;width&amp;quot;:1067.5}"/>
</p:tagLst>
</file>

<file path=ppt/tags/tag1180.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1.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2.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3.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4.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5.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6.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7.xml><?xml version="1.0" encoding="utf-8"?>
<p:tagLst xmlns:p="http://schemas.openxmlformats.org/presentationml/2006/main">
  <p:tag name="BAINBULLET" val="True"/>
  <p:tag name="BAINBULLETSACTIVATED" val="True"/>
  <p:tag name="BAINBULLETSLINESPACING" val="1"/>
  <p:tag name="BAINBULLETSINDENTS" val="1"/>
  <p:tag name="BAINBULLETSLEVELSFINGERPRINT" val="1545760603"/>
</p:tagLst>
</file>

<file path=ppt/tags/tag1188.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89.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90.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91.xml><?xml version="1.0" encoding="utf-8"?>
<p:tagLst xmlns:p="http://schemas.openxmlformats.org/presentationml/2006/main">
  <p:tag name="KSO_WM_DIAGRAM_VIRTUALLY_FRAME" val="{&amp;quot;height&amp;quot;:391.37921259842517,&amp;quot;left&amp;quot;:19.61086614173228,&amp;quot;top&amp;quot;:129.6207874015748,&amp;quot;width&amp;quot;:920.9799212598425}"/>
</p:tagLst>
</file>

<file path=ppt/tags/tag1192.xml><?xml version="1.0" encoding="utf-8"?>
<p:tagLst xmlns:p="http://schemas.openxmlformats.org/presentationml/2006/main">
  <p:tag name="ADJUSTMENTS" val="0"/>
  <p:tag name="SHADOWSIZE" val="94"/>
</p:tagLst>
</file>

<file path=ppt/tags/tag1193.xml><?xml version="1.0" encoding="utf-8"?>
<p:tagLst xmlns:p="http://schemas.openxmlformats.org/presentationml/2006/main">
  <p:tag name="PA" val="v5.2.11"/>
</p:tagLst>
</file>

<file path=ppt/tags/tag1194.xml><?xml version="1.0" encoding="utf-8"?>
<p:tagLst xmlns:p="http://schemas.openxmlformats.org/presentationml/2006/main">
  <p:tag name="ADJUSTMENTS" val="3.196521"/>
  <p:tag name="SHADOWSIZE" val="100"/>
</p:tagLst>
</file>

<file path=ppt/tags/tag1195.xml><?xml version="1.0" encoding="utf-8"?>
<p:tagLst xmlns:p="http://schemas.openxmlformats.org/presentationml/2006/main">
  <p:tag name="ADJUSTMENTS" val="3.196521"/>
  <p:tag name="SHADOWSIZE" val="100"/>
</p:tagLst>
</file>

<file path=ppt/tags/tag1196.xml><?xml version="1.0" encoding="utf-8"?>
<p:tagLst xmlns:p="http://schemas.openxmlformats.org/presentationml/2006/main">
  <p:tag name="ADJUSTMENTS" val="3.196521"/>
  <p:tag name="SHADOWSIZE" val="100"/>
</p:tagLst>
</file>

<file path=ppt/tags/tag1197.xml><?xml version="1.0" encoding="utf-8"?>
<p:tagLst xmlns:p="http://schemas.openxmlformats.org/presentationml/2006/main">
  <p:tag name="ADJUSTMENTS" val="0"/>
  <p:tag name="SHADOWSIZE" val="94"/>
</p:tagLst>
</file>

<file path=ppt/tags/tag1198.xml><?xml version="1.0" encoding="utf-8"?>
<p:tagLst xmlns:p="http://schemas.openxmlformats.org/presentationml/2006/main">
  <p:tag name="PA" val="v5.2.11"/>
</p:tagLst>
</file>

<file path=ppt/tags/tag1199.xml><?xml version="1.0" encoding="utf-8"?>
<p:tagLst xmlns:p="http://schemas.openxmlformats.org/presentationml/2006/main">
  <p:tag name="ADJUSTMENTS" val="3.196521"/>
  <p:tag name="SHADOWSIZE" val="100"/>
</p:tagLst>
</file>

<file path=ppt/tags/tag1200.xml><?xml version="1.0" encoding="utf-8"?>
<p:tagLst xmlns:p="http://schemas.openxmlformats.org/presentationml/2006/main">
  <p:tag name="ADJUSTMENTS" val="3.196521"/>
  <p:tag name="SHADOWSIZE" val="100"/>
</p:tagLst>
</file>

<file path=ppt/tags/tag1201.xml><?xml version="1.0" encoding="utf-8"?>
<p:tagLst xmlns:p="http://schemas.openxmlformats.org/presentationml/2006/main">
  <p:tag name="ADJUSTMENTS" val="3.196521"/>
  <p:tag name="SHADOWSIZE" val="100"/>
</p:tagLst>
</file>

<file path=ppt/tags/tag1202.xml><?xml version="1.0" encoding="utf-8"?>
<p:tagLst xmlns:p="http://schemas.openxmlformats.org/presentationml/2006/main">
  <p:tag name="PA" val="v5.2.11"/>
</p:tagLst>
</file>

<file path=ppt/tags/tag1203.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04.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05.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06.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07.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08.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09.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0.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1.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2.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3.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4.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5.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6.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7.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8.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19.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0.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1.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2.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3.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4.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5.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6.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7.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8.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29.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30.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31.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32.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33.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34.xml><?xml version="1.0" encoding="utf-8"?>
<p:tagLst xmlns:p="http://schemas.openxmlformats.org/presentationml/2006/main">
  <p:tag name="KSO_WM_DIAGRAM_VIRTUALLY_FRAME" val="{&amp;quot;height&amp;quot;:288.1918110236221,&amp;quot;left&amp;quot;:-215.57944881889762,&amp;quot;top&amp;quot;:158.88614173228345,&amp;quot;width&amp;quot;:391.6548031496063}"/>
</p:tagLst>
</file>

<file path=ppt/tags/tag1235.xml><?xml version="1.0" encoding="utf-8"?>
<p:tagLst xmlns:p="http://schemas.openxmlformats.org/presentationml/2006/main">
  <p:tag name="SHADOWSIZE" val="108"/>
  <p:tag name="TEXTSHADOWSIZE" val="100"/>
</p:tagLst>
</file>

<file path=ppt/tags/tag1236.xml><?xml version="1.0" encoding="utf-8"?>
<p:tagLst xmlns:p="http://schemas.openxmlformats.org/presentationml/2006/main">
  <p:tag name="SHADOWSIZE" val="108"/>
  <p:tag name="TEXTSHADOWSIZE" val="100"/>
</p:tagLst>
</file>

<file path=ppt/tags/tag1237.xml><?xml version="1.0" encoding="utf-8"?>
<p:tagLst xmlns:p="http://schemas.openxmlformats.org/presentationml/2006/main">
  <p:tag name="SHADOWSIZE" val="108"/>
  <p:tag name="TEXTSHADOWSIZE" val="100"/>
</p:tagLst>
</file>

<file path=ppt/tags/tag1238.xml><?xml version="1.0" encoding="utf-8"?>
<p:tagLst xmlns:p="http://schemas.openxmlformats.org/presentationml/2006/main">
  <p:tag name="SHADOWSIZE" val="108"/>
  <p:tag name="TEXTSHADOWSIZE" val="100"/>
</p:tagLst>
</file>

<file path=ppt/tags/tag1239.xml><?xml version="1.0" encoding="utf-8"?>
<p:tagLst xmlns:p="http://schemas.openxmlformats.org/presentationml/2006/main">
  <p:tag name="ADJUSTMENTS" val="9.331733"/>
</p:tagLst>
</file>

<file path=ppt/tags/tag1240.xml><?xml version="1.0" encoding="utf-8"?>
<p:tagLst xmlns:p="http://schemas.openxmlformats.org/presentationml/2006/main">
  <p:tag name="ADJUSTMENTS" val="9.331733"/>
</p:tagLst>
</file>

<file path=ppt/tags/tag1241.xml><?xml version="1.0" encoding="utf-8"?>
<p:tagLst xmlns:p="http://schemas.openxmlformats.org/presentationml/2006/main">
  <p:tag name="ADJUSTMENTS" val="9.331733"/>
</p:tagLst>
</file>

<file path=ppt/tags/tag1242.xml><?xml version="1.0" encoding="utf-8"?>
<p:tagLst xmlns:p="http://schemas.openxmlformats.org/presentationml/2006/main">
  <p:tag name="ADJUSTMENTS" val="9.331733"/>
</p:tagLst>
</file>

<file path=ppt/tags/tag1243.xml><?xml version="1.0" encoding="utf-8"?>
<p:tagLst xmlns:p="http://schemas.openxmlformats.org/presentationml/2006/main">
  <p:tag name="ADJUSTMENTS" val="9.331733"/>
</p:tagLst>
</file>

<file path=ppt/tags/tag1244.xml><?xml version="1.0" encoding="utf-8"?>
<p:tagLst xmlns:p="http://schemas.openxmlformats.org/presentationml/2006/main">
  <p:tag name="ADJUSTMENTS" val="9.331733"/>
</p:tagLst>
</file>

<file path=ppt/tags/tag1245.xml><?xml version="1.0" encoding="utf-8"?>
<p:tagLst xmlns:p="http://schemas.openxmlformats.org/presentationml/2006/main">
  <p:tag name="ADJUSTMENTS" val="9.331733"/>
</p:tagLst>
</file>

<file path=ppt/tags/tag1246.xml><?xml version="1.0" encoding="utf-8"?>
<p:tagLst xmlns:p="http://schemas.openxmlformats.org/presentationml/2006/main">
  <p:tag name="ADJUSTMENTS" val="9.331733"/>
</p:tagLst>
</file>

<file path=ppt/tags/tag1247.xml><?xml version="1.0" encoding="utf-8"?>
<p:tagLst xmlns:p="http://schemas.openxmlformats.org/presentationml/2006/main">
  <p:tag name="ADJUSTMENTS" val="9.331733"/>
</p:tagLst>
</file>

<file path=ppt/tags/tag1248.xml><?xml version="1.0" encoding="utf-8"?>
<p:tagLst xmlns:p="http://schemas.openxmlformats.org/presentationml/2006/main">
  <p:tag name="ADJUSTMENTS" val="9.331733"/>
</p:tagLst>
</file>

<file path=ppt/tags/tag1249.xml><?xml version="1.0" encoding="utf-8"?>
<p:tagLst xmlns:p="http://schemas.openxmlformats.org/presentationml/2006/main">
  <p:tag name="ADJUSTMENTS" val="9.331733"/>
</p:tagLst>
</file>

<file path=ppt/tags/tag1250.xml><?xml version="1.0" encoding="utf-8"?>
<p:tagLst xmlns:p="http://schemas.openxmlformats.org/presentationml/2006/main">
  <p:tag name="ADJUSTMENTS" val="9.331733"/>
</p:tagLst>
</file>

<file path=ppt/tags/tag1251.xml><?xml version="1.0" encoding="utf-8"?>
<p:tagLst xmlns:p="http://schemas.openxmlformats.org/presentationml/2006/main">
  <p:tag name="ADJUSTMENTS" val="9.331733"/>
</p:tagLst>
</file>

<file path=ppt/tags/tag1252.xml><?xml version="1.0" encoding="utf-8"?>
<p:tagLst xmlns:p="http://schemas.openxmlformats.org/presentationml/2006/main">
  <p:tag name="ADJUSTMENTS" val="9.331733"/>
</p:tagLst>
</file>

<file path=ppt/tags/tag1253.xml><?xml version="1.0" encoding="utf-8"?>
<p:tagLst xmlns:p="http://schemas.openxmlformats.org/presentationml/2006/main">
  <p:tag name="ADJUSTMENTS" val="9.331733"/>
</p:tagLst>
</file>

<file path=ppt/tags/tag1254.xml><?xml version="1.0" encoding="utf-8"?>
<p:tagLst xmlns:p="http://schemas.openxmlformats.org/presentationml/2006/main">
  <p:tag name="ADJUSTMENTS" val="9.331733"/>
</p:tagLst>
</file>

<file path=ppt/tags/tag1255.xml><?xml version="1.0" encoding="utf-8"?>
<p:tagLst xmlns:p="http://schemas.openxmlformats.org/presentationml/2006/main">
  <p:tag name="ADJUSTMENTS" val="9.331733"/>
</p:tagLst>
</file>

<file path=ppt/tags/tag1256.xml><?xml version="1.0" encoding="utf-8"?>
<p:tagLst xmlns:p="http://schemas.openxmlformats.org/presentationml/2006/main">
  <p:tag name="ADJUSTMENTS" val="9.331733"/>
</p:tagLst>
</file>

<file path=ppt/tags/tag1257.xml><?xml version="1.0" encoding="utf-8"?>
<p:tagLst xmlns:p="http://schemas.openxmlformats.org/presentationml/2006/main">
  <p:tag name="ADJUSTMENTS" val="9.331733"/>
</p:tagLst>
</file>

<file path=ppt/tags/tag1258.xml><?xml version="1.0" encoding="utf-8"?>
<p:tagLst xmlns:p="http://schemas.openxmlformats.org/presentationml/2006/main">
  <p:tag name="ADJUSTMENTS" val="9.331733"/>
</p:tagLst>
</file>

<file path=ppt/tags/tag1259.xml><?xml version="1.0" encoding="utf-8"?>
<p:tagLst xmlns:p="http://schemas.openxmlformats.org/presentationml/2006/main">
  <p:tag name="ADJUSTMENTS" val="9.331733"/>
</p:tagLst>
</file>

<file path=ppt/tags/tag1260.xml><?xml version="1.0" encoding="utf-8"?>
<p:tagLst xmlns:p="http://schemas.openxmlformats.org/presentationml/2006/main">
  <p:tag name="ADJUSTMENTS" val="9.331733"/>
</p:tagLst>
</file>

<file path=ppt/tags/tag1261.xml><?xml version="1.0" encoding="utf-8"?>
<p:tagLst xmlns:p="http://schemas.openxmlformats.org/presentationml/2006/main">
  <p:tag name="ADJUSTMENTS" val="9.331733"/>
</p:tagLst>
</file>

<file path=ppt/tags/tag1262.xml><?xml version="1.0" encoding="utf-8"?>
<p:tagLst xmlns:p="http://schemas.openxmlformats.org/presentationml/2006/main">
  <p:tag name="ADJUSTMENTS" val="9.331733"/>
</p:tagLst>
</file>

<file path=ppt/tags/tag1263.xml><?xml version="1.0" encoding="utf-8"?>
<p:tagLst xmlns:p="http://schemas.openxmlformats.org/presentationml/2006/main">
  <p:tag name="ADJUSTMENTS" val="9.331733"/>
</p:tagLst>
</file>

<file path=ppt/tags/tag1264.xml><?xml version="1.0" encoding="utf-8"?>
<p:tagLst xmlns:p="http://schemas.openxmlformats.org/presentationml/2006/main">
  <p:tag name="ADJUSTMENTS" val="9.331733"/>
</p:tagLst>
</file>

<file path=ppt/tags/tag1265.xml><?xml version="1.0" encoding="utf-8"?>
<p:tagLst xmlns:p="http://schemas.openxmlformats.org/presentationml/2006/main">
  <p:tag name="ADJUSTMENTS" val="9.331733"/>
</p:tagLst>
</file>

<file path=ppt/tags/tag1266.xml><?xml version="1.0" encoding="utf-8"?>
<p:tagLst xmlns:p="http://schemas.openxmlformats.org/presentationml/2006/main">
  <p:tag name="ADJUSTMENTS" val="9.331733"/>
</p:tagLst>
</file>

<file path=ppt/tags/tag1267.xml><?xml version="1.0" encoding="utf-8"?>
<p:tagLst xmlns:p="http://schemas.openxmlformats.org/presentationml/2006/main">
  <p:tag name="ADJUSTMENTS" val="9.331733"/>
</p:tagLst>
</file>

<file path=ppt/tags/tag1268.xml><?xml version="1.0" encoding="utf-8"?>
<p:tagLst xmlns:p="http://schemas.openxmlformats.org/presentationml/2006/main">
  <p:tag name="KSO_WM_UNIT_FILL_FORE_SCHEMECOLOR_INDEX_1_BRIGHTNESS" val="0"/>
  <p:tag name="KSO_WM_UNIT_FILL_FORE_SCHEMECOLOR_INDEX_1" val="5"/>
  <p:tag name="KSO_WM_UNIT_FILL_FORE_SCHEMECOLOR_INDEX_1_POS" val="0"/>
  <p:tag name="KSO_WM_UNIT_FILL_FORE_SCHEMECOLOR_INDEX_1_TRANS" val="0.9"/>
  <p:tag name="KSO_WM_UNIT_FILL_FORE_SCHEMECOLOR_INDEX_2_BRIGHTNESS" val="0"/>
  <p:tag name="KSO_WM_UNIT_FILL_FORE_SCHEMECOLOR_INDEX_2" val="5"/>
  <p:tag name="KSO_WM_UNIT_FILL_FORE_SCHEMECOLOR_INDEX_2_POS" val="1"/>
  <p:tag name="KSO_WM_UNIT_FILL_FORE_SCHEMECOLOR_INDEX_2_TRANS" val="1"/>
  <p:tag name="KSO_WM_UNIT_FILL_GRADIENT_TYPE" val="0"/>
  <p:tag name="KSO_WM_UNIT_FILL_GRADIENT_ANGLE" val="90"/>
  <p:tag name="KSO_WM_UNIT_FILL_GRADIENT_DIRECTION" val="1"/>
  <p:tag name="KSO_WM_UNIT_FILL_TYPE" val="3"/>
  <p:tag name="KSO_WM_UNIT_LINE_FORE_SCHEMECOLOR_INDEX_1_BRIGHTNESS" val="0"/>
  <p:tag name="KSO_WM_UNIT_LINE_FORE_SCHEMECOLOR_INDEX_1" val="5"/>
  <p:tag name="KSO_WM_UNIT_LINE_FORE_SCHEMECOLOR_INDEX_1_POS" val="0"/>
  <p:tag name="KSO_WM_UNIT_LINE_FORE_SCHEMECOLOR_INDEX_1_TRANS" val="0.7"/>
  <p:tag name="KSO_WM_UNIT_LINE_FORE_SCHEMECOLOR_INDEX_2_BRIGHTNESS" val="0"/>
  <p:tag name="KSO_WM_UNIT_LINE_FORE_SCHEMECOLOR_INDEX_2" val="5"/>
  <p:tag name="KSO_WM_UNIT_LINE_FORE_SCHEMECOLOR_INDEX_2_POS" val="0.61"/>
  <p:tag name="KSO_WM_UNIT_LINE_FORE_SCHEMECOLOR_INDEX_2_TRANS" val="1"/>
  <p:tag name="KSO_WM_UNIT_LINE_GRADIENT_TYPE" val="0"/>
  <p:tag name="KSO_WM_UNIT_LINE_GRADIENT_ANGLE" val="90"/>
  <p:tag name="KSO_WM_UNIT_LINE_GRADIENT_DIRECTION" val="1"/>
  <p:tag name="KSO_WM_UNIT_LINE_FILL_TYPE" val="5"/>
</p:tagLst>
</file>

<file path=ppt/tags/tag1269.xml><?xml version="1.0" encoding="utf-8"?>
<p:tagLst xmlns:p="http://schemas.openxmlformats.org/presentationml/2006/main">
  <p:tag name="KSO_WM_UNIT_FILL_FORE_SCHEMECOLOR_INDEX_1_BRIGHTNESS" val="0"/>
  <p:tag name="KSO_WM_UNIT_FILL_FORE_SCHEMECOLOR_INDEX_1" val="5"/>
  <p:tag name="KSO_WM_UNIT_FILL_FORE_SCHEMECOLOR_INDEX_1_POS" val="0"/>
  <p:tag name="KSO_WM_UNIT_FILL_FORE_SCHEMECOLOR_INDEX_1_TRANS" val="0.9"/>
  <p:tag name="KSO_WM_UNIT_FILL_FORE_SCHEMECOLOR_INDEX_2_BRIGHTNESS" val="0"/>
  <p:tag name="KSO_WM_UNIT_FILL_FORE_SCHEMECOLOR_INDEX_2" val="5"/>
  <p:tag name="KSO_WM_UNIT_FILL_FORE_SCHEMECOLOR_INDEX_2_POS" val="1"/>
  <p:tag name="KSO_WM_UNIT_FILL_FORE_SCHEMECOLOR_INDEX_2_TRANS" val="1"/>
  <p:tag name="KSO_WM_UNIT_FILL_GRADIENT_TYPE" val="0"/>
  <p:tag name="KSO_WM_UNIT_FILL_GRADIENT_ANGLE" val="90"/>
  <p:tag name="KSO_WM_UNIT_FILL_GRADIENT_DIRECTION" val="1"/>
  <p:tag name="KSO_WM_UNIT_FILL_TYPE" val="3"/>
  <p:tag name="KSO_WM_UNIT_LINE_FORE_SCHEMECOLOR_INDEX_1_BRIGHTNESS" val="0"/>
  <p:tag name="KSO_WM_UNIT_LINE_FORE_SCHEMECOLOR_INDEX_1" val="5"/>
  <p:tag name="KSO_WM_UNIT_LINE_FORE_SCHEMECOLOR_INDEX_1_POS" val="0"/>
  <p:tag name="KSO_WM_UNIT_LINE_FORE_SCHEMECOLOR_INDEX_1_TRANS" val="0.7"/>
  <p:tag name="KSO_WM_UNIT_LINE_FORE_SCHEMECOLOR_INDEX_2_BRIGHTNESS" val="0"/>
  <p:tag name="KSO_WM_UNIT_LINE_FORE_SCHEMECOLOR_INDEX_2" val="5"/>
  <p:tag name="KSO_WM_UNIT_LINE_FORE_SCHEMECOLOR_INDEX_2_POS" val="0.61"/>
  <p:tag name="KSO_WM_UNIT_LINE_FORE_SCHEMECOLOR_INDEX_2_TRANS" val="1"/>
  <p:tag name="KSO_WM_UNIT_LINE_GRADIENT_TYPE" val="0"/>
  <p:tag name="KSO_WM_UNIT_LINE_GRADIENT_ANGLE" val="90"/>
  <p:tag name="KSO_WM_UNIT_LINE_GRADIENT_DIRECTION" val="1"/>
  <p:tag name="KSO_WM_UNIT_LINE_FILL_TYPE" val="5"/>
</p:tagLst>
</file>

<file path=ppt/tags/tag1270.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271.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272.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273.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274.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275.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276.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277.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278.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279.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280.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281.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282.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283.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284.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285.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286.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287.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288.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289.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290.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291.xml><?xml version="1.0" encoding="utf-8"?>
<p:tagLst xmlns:p="http://schemas.openxmlformats.org/presentationml/2006/main">
  <p:tag name="KSO_WM_UNIT_FILL_FORE_SCHEMECOLOR_INDEX_1_BRIGHTNESS" val="0"/>
  <p:tag name="KSO_WM_UNIT_FILL_FORE_SCHEMECOLOR_INDEX_1" val="5"/>
  <p:tag name="KSO_WM_UNIT_FILL_FORE_SCHEMECOLOR_INDEX_1_POS" val="0"/>
  <p:tag name="KSO_WM_UNIT_FILL_FORE_SCHEMECOLOR_INDEX_1_TRANS" val="0.9"/>
  <p:tag name="KSO_WM_UNIT_FILL_FORE_SCHEMECOLOR_INDEX_2_BRIGHTNESS" val="0"/>
  <p:tag name="KSO_WM_UNIT_FILL_FORE_SCHEMECOLOR_INDEX_2" val="5"/>
  <p:tag name="KSO_WM_UNIT_FILL_FORE_SCHEMECOLOR_INDEX_2_POS" val="1"/>
  <p:tag name="KSO_WM_UNIT_FILL_FORE_SCHEMECOLOR_INDEX_2_TRANS" val="1"/>
  <p:tag name="KSO_WM_UNIT_FILL_GRADIENT_TYPE" val="0"/>
  <p:tag name="KSO_WM_UNIT_FILL_GRADIENT_ANGLE" val="90"/>
  <p:tag name="KSO_WM_UNIT_FILL_GRADIENT_DIRECTION" val="1"/>
  <p:tag name="KSO_WM_UNIT_FILL_TYPE" val="3"/>
  <p:tag name="KSO_WM_UNIT_LINE_FORE_SCHEMECOLOR_INDEX_1_BRIGHTNESS" val="0"/>
  <p:tag name="KSO_WM_UNIT_LINE_FORE_SCHEMECOLOR_INDEX_1" val="5"/>
  <p:tag name="KSO_WM_UNIT_LINE_FORE_SCHEMECOLOR_INDEX_1_POS" val="0"/>
  <p:tag name="KSO_WM_UNIT_LINE_FORE_SCHEMECOLOR_INDEX_1_TRANS" val="0.7"/>
  <p:tag name="KSO_WM_UNIT_LINE_FORE_SCHEMECOLOR_INDEX_2_BRIGHTNESS" val="0"/>
  <p:tag name="KSO_WM_UNIT_LINE_FORE_SCHEMECOLOR_INDEX_2" val="5"/>
  <p:tag name="KSO_WM_UNIT_LINE_FORE_SCHEMECOLOR_INDEX_2_POS" val="0.61"/>
  <p:tag name="KSO_WM_UNIT_LINE_FORE_SCHEMECOLOR_INDEX_2_TRANS" val="1"/>
  <p:tag name="KSO_WM_UNIT_LINE_GRADIENT_TYPE" val="0"/>
  <p:tag name="KSO_WM_UNIT_LINE_GRADIENT_ANGLE" val="90"/>
  <p:tag name="KSO_WM_UNIT_LINE_GRADIENT_DIRECTION" val="1"/>
  <p:tag name="KSO_WM_UNIT_LINE_FILL_TYPE" val="5"/>
</p:tagLst>
</file>

<file path=ppt/tags/tag1292.xml><?xml version="1.0" encoding="utf-8"?>
<p:tagLst xmlns:p="http://schemas.openxmlformats.org/presentationml/2006/main">
  <p:tag name="KSO_WM_UNIT_FILL_FORE_SCHEMECOLOR_INDEX_1_BRIGHTNESS" val="0"/>
  <p:tag name="KSO_WM_UNIT_FILL_FORE_SCHEMECOLOR_INDEX_1" val="5"/>
  <p:tag name="KSO_WM_UNIT_FILL_FORE_SCHEMECOLOR_INDEX_1_POS" val="0"/>
  <p:tag name="KSO_WM_UNIT_FILL_FORE_SCHEMECOLOR_INDEX_1_TRANS" val="0.9"/>
  <p:tag name="KSO_WM_UNIT_FILL_FORE_SCHEMECOLOR_INDEX_2_BRIGHTNESS" val="0"/>
  <p:tag name="KSO_WM_UNIT_FILL_FORE_SCHEMECOLOR_INDEX_2" val="5"/>
  <p:tag name="KSO_WM_UNIT_FILL_FORE_SCHEMECOLOR_INDEX_2_POS" val="1"/>
  <p:tag name="KSO_WM_UNIT_FILL_FORE_SCHEMECOLOR_INDEX_2_TRANS" val="1"/>
  <p:tag name="KSO_WM_UNIT_FILL_GRADIENT_TYPE" val="0"/>
  <p:tag name="KSO_WM_UNIT_FILL_GRADIENT_ANGLE" val="90"/>
  <p:tag name="KSO_WM_UNIT_FILL_GRADIENT_DIRECTION" val="1"/>
  <p:tag name="KSO_WM_UNIT_FILL_TYPE" val="3"/>
  <p:tag name="KSO_WM_UNIT_LINE_FORE_SCHEMECOLOR_INDEX_1_BRIGHTNESS" val="0"/>
  <p:tag name="KSO_WM_UNIT_LINE_FORE_SCHEMECOLOR_INDEX_1" val="5"/>
  <p:tag name="KSO_WM_UNIT_LINE_FORE_SCHEMECOLOR_INDEX_1_POS" val="0"/>
  <p:tag name="KSO_WM_UNIT_LINE_FORE_SCHEMECOLOR_INDEX_1_TRANS" val="0.7"/>
  <p:tag name="KSO_WM_UNIT_LINE_FORE_SCHEMECOLOR_INDEX_2_BRIGHTNESS" val="0"/>
  <p:tag name="KSO_WM_UNIT_LINE_FORE_SCHEMECOLOR_INDEX_2" val="5"/>
  <p:tag name="KSO_WM_UNIT_LINE_FORE_SCHEMECOLOR_INDEX_2_POS" val="0.61"/>
  <p:tag name="KSO_WM_UNIT_LINE_FORE_SCHEMECOLOR_INDEX_2_TRANS" val="1"/>
  <p:tag name="KSO_WM_UNIT_LINE_GRADIENT_TYPE" val="0"/>
  <p:tag name="KSO_WM_UNIT_LINE_GRADIENT_ANGLE" val="90"/>
  <p:tag name="KSO_WM_UNIT_LINE_GRADIENT_DIRECTION" val="1"/>
  <p:tag name="KSO_WM_UNIT_LINE_FILL_TYPE" val="5"/>
</p:tagLst>
</file>

<file path=ppt/tags/tag1293.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BRIGHTNESS" val="0"/>
  <p:tag name="KSO_WM_UNIT_LINE_FORE_SCHEMECOLOR_INDEX" val="5"/>
  <p:tag name="KSO_WM_UNIT_LINE_FILL_TYPE" val="2"/>
</p:tagLst>
</file>

<file path=ppt/tags/tag1294.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295.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296.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297.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298.xml><?xml version="1.0" encoding="utf-8"?>
<p:tagLst xmlns:p="http://schemas.openxmlformats.org/presentationml/2006/main">
  <p:tag name="KSO_WM_UNIT_LINE_FORE_SCHEMECOLOR_INDEX_1_BRIGHTNESS" val="0"/>
  <p:tag name="KSO_WM_UNIT_LINE_FORE_SCHEMECOLOR_INDEX_1" val="5"/>
  <p:tag name="KSO_WM_UNIT_LINE_FORE_SCHEMECOLOR_INDEX_1_POS" val="0"/>
  <p:tag name="KSO_WM_UNIT_LINE_FORE_SCHEMECOLOR_INDEX_1_TRANS" val="0.7"/>
  <p:tag name="KSO_WM_UNIT_LINE_FORE_SCHEMECOLOR_INDEX_2_BRIGHTNESS" val="0"/>
  <p:tag name="KSO_WM_UNIT_LINE_FORE_SCHEMECOLOR_INDEX_2" val="5"/>
  <p:tag name="KSO_WM_UNIT_LINE_FORE_SCHEMECOLOR_INDEX_2_POS" val="1"/>
  <p:tag name="KSO_WM_UNIT_LINE_FORE_SCHEMECOLOR_INDEX_2_TRANS" val="1"/>
  <p:tag name="KSO_WM_UNIT_LINE_GRADIENT_TYPE" val="0"/>
  <p:tag name="KSO_WM_UNIT_LINE_GRADIENT_ANGLE" val="0"/>
  <p:tag name="KSO_WM_UNIT_LINE_GRADIENT_DIRECTION" val="3"/>
  <p:tag name="KSO_WM_UNIT_LINE_FILL_TYPE" val="5"/>
</p:tagLst>
</file>

<file path=ppt/tags/tag1299.xml><?xml version="1.0" encoding="utf-8"?>
<p:tagLst xmlns:p="http://schemas.openxmlformats.org/presentationml/2006/main">
  <p:tag name="KSO_WM_UNIT_LINE_FORE_SCHEMECOLOR_INDEX_1_BRIGHTNESS" val="0"/>
  <p:tag name="KSO_WM_UNIT_LINE_FORE_SCHEMECOLOR_INDEX_1" val="5"/>
  <p:tag name="KSO_WM_UNIT_LINE_FORE_SCHEMECOLOR_INDEX_1_POS" val="0"/>
  <p:tag name="KSO_WM_UNIT_LINE_FORE_SCHEMECOLOR_INDEX_1_TRANS" val="0.7"/>
  <p:tag name="KSO_WM_UNIT_LINE_FORE_SCHEMECOLOR_INDEX_2_BRIGHTNESS" val="0"/>
  <p:tag name="KSO_WM_UNIT_LINE_FORE_SCHEMECOLOR_INDEX_2" val="5"/>
  <p:tag name="KSO_WM_UNIT_LINE_FORE_SCHEMECOLOR_INDEX_2_POS" val="1"/>
  <p:tag name="KSO_WM_UNIT_LINE_FORE_SCHEMECOLOR_INDEX_2_TRANS" val="1"/>
  <p:tag name="KSO_WM_UNIT_LINE_GRADIENT_TYPE" val="0"/>
  <p:tag name="KSO_WM_UNIT_LINE_GRADIENT_ANGLE" val="0"/>
  <p:tag name="KSO_WM_UNIT_LINE_GRADIENT_DIRECTION" val="3"/>
  <p:tag name="KSO_WM_UNIT_LINE_FILL_TYPE" val="5"/>
</p:tagLst>
</file>

<file path=ppt/tags/tag1300.xml><?xml version="1.0" encoding="utf-8"?>
<p:tagLst xmlns:p="http://schemas.openxmlformats.org/presentationml/2006/main">
  <p:tag name="KSO_WM_UNIT_FILL_FORE_SCHEMECOLOR_INDEX_BRIGHTNESS" val="0"/>
  <p:tag name="KSO_WM_UNIT_FILL_FORE_SCHEMECOLOR_INDEX" val="14"/>
  <p:tag name="KSO_WM_UNIT_FILL_TYPE" val="1"/>
  <p:tag name="KSO_WM_UNIT_LINE_FORE_SCHEMECOLOR_INDEX_BRIGHTNESS" val="0"/>
  <p:tag name="KSO_WM_UNIT_LINE_FORE_SCHEMECOLOR_INDEX" val="5"/>
  <p:tag name="KSO_WM_UNIT_LINE_FILL_TYPE" val="2"/>
</p:tagLst>
</file>

<file path=ppt/tags/tag1301.xml><?xml version="1.0" encoding="utf-8"?>
<p:tagLst xmlns:p="http://schemas.openxmlformats.org/presentationml/2006/main">
  <p:tag name="KSO_WM_UNIT_TEXT_FILL_FORE_SCHEMECOLOR_INDEX_BRIGHTNESS" val="0"/>
  <p:tag name="KSO_WM_UNIT_TEXT_FILL_FORE_SCHEMECOLOR_INDEX" val="15"/>
  <p:tag name="KSO_WM_UNIT_TEXT_FILL_TYPE" val="1"/>
</p:tagLst>
</file>

<file path=ppt/tags/tag1302.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03.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04.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05.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06.xml><?xml version="1.0" encoding="utf-8"?>
<p:tagLst xmlns:p="http://schemas.openxmlformats.org/presentationml/2006/main">
  <p:tag name="SHADOWSIZE" val="90"/>
  <p:tag name="KSO_WM_UNIT_FILL_FORE_SCHEMECOLOR_INDEX_1_BRIGHTNESS" val="0"/>
  <p:tag name="KSO_WM_UNIT_FILL_FORE_SCHEMECOLOR_INDEX_1" val="6"/>
  <p:tag name="KSO_WM_UNIT_FILL_FORE_SCHEMECOLOR_INDEX_1_POS" val="0.14"/>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07.xml><?xml version="1.0" encoding="utf-8"?>
<p:tagLst xmlns:p="http://schemas.openxmlformats.org/presentationml/2006/main">
  <p:tag name="KSO_WM_UNIT_FILL_FORE_SCHEMECOLOR_INDEX_1_BRIGHTNESS" val="0"/>
  <p:tag name="KSO_WM_UNIT_FILL_FORE_SCHEMECOLOR_INDEX_1" val="5"/>
  <p:tag name="KSO_WM_UNIT_FILL_FORE_SCHEMECOLOR_INDEX_1_POS" val="0"/>
  <p:tag name="KSO_WM_UNIT_FILL_FORE_SCHEMECOLOR_INDEX_1_TRANS" val="1"/>
  <p:tag name="KSO_WM_UNIT_FILL_FORE_SCHEMECOLOR_INDEX_2_BRIGHTNESS" val="0"/>
  <p:tag name="KSO_WM_UNIT_FILL_FORE_SCHEMECOLOR_INDEX_2" val="5"/>
  <p:tag name="KSO_WM_UNIT_FILL_FORE_SCHEMECOLOR_INDEX_2_POS" val="1"/>
  <p:tag name="KSO_WM_UNIT_FILL_FORE_SCHEMECOLOR_INDEX_2_TRANS" val="0.7"/>
  <p:tag name="KSO_WM_UNIT_FILL_GRADIENT_TYPE" val="0"/>
  <p:tag name="KSO_WM_UNIT_FILL_GRADIENT_ANGLE" val="0"/>
  <p:tag name="KSO_WM_UNIT_FILL_GRADIENT_DIRECTION" val="3"/>
  <p:tag name="KSO_WM_UNIT_FILL_TYPE" val="3"/>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1"/>
  <p:tag name="KSO_WM_UNIT_LINE_FORE_SCHEMECOLOR_INDEX_2_TRANS" val="0.5"/>
  <p:tag name="KSO_WM_UNIT_LINE_GRADIENT_TYPE" val="0"/>
  <p:tag name="KSO_WM_UNIT_LINE_GRADIENT_ANGLE" val="0"/>
  <p:tag name="KSO_WM_UNIT_LINE_GRADIENT_DIRECTION" val="3"/>
  <p:tag name="KSO_WM_UNIT_LINE_FILL_TYPE" val="5"/>
</p:tagLst>
</file>

<file path=ppt/tags/tag1308.xml><?xml version="1.0" encoding="utf-8"?>
<p:tagLst xmlns:p="http://schemas.openxmlformats.org/presentationml/2006/main">
  <p:tag name="KSO_WM_UNIT_FILL_FORE_SCHEMECOLOR_INDEX_1_BRIGHTNESS" val="0"/>
  <p:tag name="KSO_WM_UNIT_FILL_FORE_SCHEMECOLOR_INDEX_1" val="5"/>
  <p:tag name="KSO_WM_UNIT_FILL_FORE_SCHEMECOLOR_INDEX_1_POS" val="0"/>
  <p:tag name="KSO_WM_UNIT_FILL_FORE_SCHEMECOLOR_INDEX_1_TRANS" val="1"/>
  <p:tag name="KSO_WM_UNIT_FILL_FORE_SCHEMECOLOR_INDEX_2_BRIGHTNESS" val="0"/>
  <p:tag name="KSO_WM_UNIT_FILL_FORE_SCHEMECOLOR_INDEX_2" val="5"/>
  <p:tag name="KSO_WM_UNIT_FILL_FORE_SCHEMECOLOR_INDEX_2_POS" val="1"/>
  <p:tag name="KSO_WM_UNIT_FILL_FORE_SCHEMECOLOR_INDEX_2_TRANS" val="0.7"/>
  <p:tag name="KSO_WM_UNIT_FILL_GRADIENT_TYPE" val="0"/>
  <p:tag name="KSO_WM_UNIT_FILL_GRADIENT_ANGLE" val="0"/>
  <p:tag name="KSO_WM_UNIT_FILL_GRADIENT_DIRECTION" val="3"/>
  <p:tag name="KSO_WM_UNIT_FILL_TYPE" val="3"/>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1"/>
  <p:tag name="KSO_WM_UNIT_LINE_FORE_SCHEMECOLOR_INDEX_2_TRANS" val="0.5"/>
  <p:tag name="KSO_WM_UNIT_LINE_GRADIENT_TYPE" val="0"/>
  <p:tag name="KSO_WM_UNIT_LINE_GRADIENT_ANGLE" val="0"/>
  <p:tag name="KSO_WM_UNIT_LINE_GRADIENT_DIRECTION" val="3"/>
  <p:tag name="KSO_WM_UNIT_LINE_FILL_TYPE" val="5"/>
</p:tagLst>
</file>

<file path=ppt/tags/tag1309.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10.xml><?xml version="1.0" encoding="utf-8"?>
<p:tagLst xmlns:p="http://schemas.openxmlformats.org/presentationml/2006/main">
  <p:tag name="KSO_WM_UNIT_TEXT_FILL_FORE_SCHEMECOLOR_INDEX_BRIGHTNESS" val="0"/>
  <p:tag name="KSO_WM_UNIT_TEXT_FILL_FORE_SCHEMECOLOR_INDEX" val="16"/>
  <p:tag name="KSO_WM_UNIT_TEXT_FILL_TYPE" val="1"/>
</p:tagLst>
</file>

<file path=ppt/tags/tag1311.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12.xml><?xml version="1.0" encoding="utf-8"?>
<p:tagLst xmlns:p="http://schemas.openxmlformats.org/presentationml/2006/main">
  <p:tag name="KSO_WM_UNIT_TEXT_FILL_FORE_SCHEMECOLOR_INDEX_BRIGHTNESS" val="0"/>
  <p:tag name="KSO_WM_UNIT_TEXT_FILL_FORE_SCHEMECOLOR_INDEX" val="16"/>
  <p:tag name="KSO_WM_UNIT_TEXT_FILL_TYPE" val="1"/>
</p:tagLst>
</file>

<file path=ppt/tags/tag1313.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14.xml><?xml version="1.0" encoding="utf-8"?>
<p:tagLst xmlns:p="http://schemas.openxmlformats.org/presentationml/2006/main">
  <p:tag name="KSO_WM_UNIT_TEXT_FILL_FORE_SCHEMECOLOR_INDEX_BRIGHTNESS" val="0"/>
  <p:tag name="KSO_WM_UNIT_TEXT_FILL_FORE_SCHEMECOLOR_INDEX" val="16"/>
  <p:tag name="KSO_WM_UNIT_TEXT_FILL_TYPE" val="1"/>
</p:tagLst>
</file>

<file path=ppt/tags/tag1315.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16.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17.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18.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19.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20.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21.xml><?xml version="1.0" encoding="utf-8"?>
<p:tagLst xmlns:p="http://schemas.openxmlformats.org/presentationml/2006/main">
  <p:tag name="PA" val="v5.2.9"/>
</p:tagLst>
</file>

<file path=ppt/tags/tag1322.xml><?xml version="1.0" encoding="utf-8"?>
<p:tagLst xmlns:p="http://schemas.openxmlformats.org/presentationml/2006/main">
  <p:tag name="PA" val="v5.2.9"/>
</p:tagLst>
</file>

<file path=ppt/tags/tag1323.xml><?xml version="1.0" encoding="utf-8"?>
<p:tagLst xmlns:p="http://schemas.openxmlformats.org/presentationml/2006/main">
  <p:tag name="PA" val="v5.2.9"/>
</p:tagLst>
</file>

<file path=ppt/tags/tag1324.xml><?xml version="1.0" encoding="utf-8"?>
<p:tagLst xmlns:p="http://schemas.openxmlformats.org/presentationml/2006/main">
  <p:tag name="PA" val="v5.2.9"/>
</p:tagLst>
</file>

<file path=ppt/tags/tag1325.xml><?xml version="1.0" encoding="utf-8"?>
<p:tagLst xmlns:p="http://schemas.openxmlformats.org/presentationml/2006/main">
  <p:tag name="PA" val="v5.2.9"/>
</p:tagLst>
</file>

<file path=ppt/tags/tag1326.xml><?xml version="1.0" encoding="utf-8"?>
<p:tagLst xmlns:p="http://schemas.openxmlformats.org/presentationml/2006/main">
  <p:tag name="PA" val="v5.2.9"/>
</p:tagLst>
</file>

<file path=ppt/tags/tag1327.xml><?xml version="1.0" encoding="utf-8"?>
<p:tagLst xmlns:p="http://schemas.openxmlformats.org/presentationml/2006/main">
  <p:tag name="PA" val="v5.2.9"/>
</p:tagLst>
</file>

<file path=ppt/tags/tag1328.xml><?xml version="1.0" encoding="utf-8"?>
<p:tagLst xmlns:p="http://schemas.openxmlformats.org/presentationml/2006/main">
  <p:tag name="PA" val="v5.2.9"/>
</p:tagLst>
</file>

<file path=ppt/tags/tag1329.xml><?xml version="1.0" encoding="utf-8"?>
<p:tagLst xmlns:p="http://schemas.openxmlformats.org/presentationml/2006/main">
  <p:tag name="PA" val="v5.2.9"/>
</p:tagLst>
</file>

<file path=ppt/tags/tag1330.xml><?xml version="1.0" encoding="utf-8"?>
<p:tagLst xmlns:p="http://schemas.openxmlformats.org/presentationml/2006/main">
  <p:tag name="PA" val="v5.2.9"/>
</p:tagLst>
</file>

<file path=ppt/tags/tag1331.xml><?xml version="1.0" encoding="utf-8"?>
<p:tagLst xmlns:p="http://schemas.openxmlformats.org/presentationml/2006/main">
  <p:tag name="PA" val="v5.2.9"/>
</p:tagLst>
</file>

<file path=ppt/tags/tag1332.xml><?xml version="1.0" encoding="utf-8"?>
<p:tagLst xmlns:p="http://schemas.openxmlformats.org/presentationml/2006/main">
  <p:tag name="PA" val="v5.2.9"/>
</p:tagLst>
</file>

<file path=ppt/tags/tag1333.xml><?xml version="1.0" encoding="utf-8"?>
<p:tagLst xmlns:p="http://schemas.openxmlformats.org/presentationml/2006/main">
  <p:tag name="PA" val="v5.2.9"/>
</p:tagLst>
</file>

<file path=ppt/tags/tag1334.xml><?xml version="1.0" encoding="utf-8"?>
<p:tagLst xmlns:p="http://schemas.openxmlformats.org/presentationml/2006/main">
  <p:tag name="PA" val="v5.2.9"/>
</p:tagLst>
</file>

<file path=ppt/tags/tag1335.xml><?xml version="1.0" encoding="utf-8"?>
<p:tagLst xmlns:p="http://schemas.openxmlformats.org/presentationml/2006/main">
  <p:tag name="PA" val="v5.2.9"/>
</p:tagLst>
</file>

<file path=ppt/tags/tag1336.xml><?xml version="1.0" encoding="utf-8"?>
<p:tagLst xmlns:p="http://schemas.openxmlformats.org/presentationml/2006/main">
  <p:tag name="PA" val="v5.2.9"/>
</p:tagLst>
</file>

<file path=ppt/tags/tag1337.xml><?xml version="1.0" encoding="utf-8"?>
<p:tagLst xmlns:p="http://schemas.openxmlformats.org/presentationml/2006/main">
  <p:tag name="PA" val="v5.2.9"/>
</p:tagLst>
</file>

<file path=ppt/tags/tag1338.xml><?xml version="1.0" encoding="utf-8"?>
<p:tagLst xmlns:p="http://schemas.openxmlformats.org/presentationml/2006/main">
  <p:tag name="PA" val="v5.2.9"/>
</p:tagLst>
</file>

<file path=ppt/tags/tag1339.xml><?xml version="1.0" encoding="utf-8"?>
<p:tagLst xmlns:p="http://schemas.openxmlformats.org/presentationml/2006/main">
  <p:tag name="PA" val="v5.2.9"/>
</p:tagLst>
</file>

<file path=ppt/tags/tag1340.xml><?xml version="1.0" encoding="utf-8"?>
<p:tagLst xmlns:p="http://schemas.openxmlformats.org/presentationml/2006/main">
  <p:tag name="PA" val="v5.2.9"/>
</p:tagLst>
</file>

<file path=ppt/tags/tag1341.xml><?xml version="1.0" encoding="utf-8"?>
<p:tagLst xmlns:p="http://schemas.openxmlformats.org/presentationml/2006/main">
  <p:tag name="PA" val="v5.2.9"/>
</p:tagLst>
</file>

<file path=ppt/tags/tag1342.xml><?xml version="1.0" encoding="utf-8"?>
<p:tagLst xmlns:p="http://schemas.openxmlformats.org/presentationml/2006/main">
  <p:tag name="PA" val="v5.2.9"/>
</p:tagLst>
</file>

<file path=ppt/tags/tag1343.xml><?xml version="1.0" encoding="utf-8"?>
<p:tagLst xmlns:p="http://schemas.openxmlformats.org/presentationml/2006/main">
  <p:tag name="PA" val="v5.2.9"/>
</p:tagLst>
</file>

<file path=ppt/tags/tag1344.xml><?xml version="1.0" encoding="utf-8"?>
<p:tagLst xmlns:p="http://schemas.openxmlformats.org/presentationml/2006/main">
  <p:tag name="PA" val="v5.2.9"/>
</p:tagLst>
</file>

<file path=ppt/tags/tag1345.xml><?xml version="1.0" encoding="utf-8"?>
<p:tagLst xmlns:p="http://schemas.openxmlformats.org/presentationml/2006/main">
  <p:tag name="PA" val="v5.2.9"/>
</p:tagLst>
</file>

<file path=ppt/tags/tag1346.xml><?xml version="1.0" encoding="utf-8"?>
<p:tagLst xmlns:p="http://schemas.openxmlformats.org/presentationml/2006/main">
  <p:tag name="PA" val="v5.2.9"/>
</p:tagLst>
</file>

<file path=ppt/tags/tag1347.xml><?xml version="1.0" encoding="utf-8"?>
<p:tagLst xmlns:p="http://schemas.openxmlformats.org/presentationml/2006/main">
  <p:tag name="PA" val="v5.2.9"/>
</p:tagLst>
</file>

<file path=ppt/tags/tag1348.xml><?xml version="1.0" encoding="utf-8"?>
<p:tagLst xmlns:p="http://schemas.openxmlformats.org/presentationml/2006/main">
  <p:tag name="PA" val="v5.2.9"/>
</p:tagLst>
</file>

<file path=ppt/tags/tag1349.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50.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51.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52.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53.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54.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55.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56.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57.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58.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59.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60.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61.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62.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63.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64.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65.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66.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67.xml><?xml version="1.0" encoding="utf-8"?>
<p:tagLst xmlns:p="http://schemas.openxmlformats.org/presentationml/2006/main">
  <p:tag name="KSO_WM_UNIT_FILL_FORE_SCHEMECOLOR_INDEX_BRIGHTNESS" val="0"/>
  <p:tag name="KSO_WM_UNIT_FILL_FORE_SCHEMECOLOR_INDEX" val="5"/>
  <p:tag name="KSO_WM_UNIT_FILL_TYPE" val="1"/>
</p:tagLst>
</file>

<file path=ppt/tags/tag1368.xml><?xml version="1.0" encoding="utf-8"?>
<p:tagLst xmlns:p="http://schemas.openxmlformats.org/presentationml/2006/main">
  <p:tag name="KSO_WM_UNIT_FILL_FORE_SCHEMECOLOR_INDEX_1_BRIGHTNESS" val="0.4"/>
  <p:tag name="KSO_WM_UNIT_FILL_FORE_SCHEMECOLOR_INDEX_1" val="6"/>
  <p:tag name="KSO_WM_UNIT_FILL_FORE_SCHEMECOLOR_INDEX_1_POS" val="0.15"/>
  <p:tag name="KSO_WM_UNIT_FILL_FORE_SCHEMECOLOR_INDEX_1_TRANS" val="0"/>
  <p:tag name="KSO_WM_UNIT_FILL_FORE_SCHEMECOLOR_INDEX_2_BRIGHTNESS" val="0"/>
  <p:tag name="KSO_WM_UNIT_FILL_FORE_SCHEMECOLOR_INDEX_2" val="5"/>
  <p:tag name="KSO_WM_UNIT_FILL_FORE_SCHEMECOLOR_INDEX_2_POS" val="0.69"/>
  <p:tag name="KSO_WM_UNIT_FILL_FORE_SCHEMECOLOR_INDEX_2_TRANS" val="0"/>
  <p:tag name="KSO_WM_UNIT_FILL_GRADIENT_TYPE" val="0"/>
  <p:tag name="KSO_WM_UNIT_FILL_GRADIENT_ANGLE" val="45"/>
  <p:tag name="KSO_WM_UNIT_FILL_GRADIENT_DIRECTION" val="0"/>
  <p:tag name="KSO_WM_UNIT_FILL_TYPE" val="3"/>
  <p:tag name="KSO_WM_UNIT_SHADOW_SCHEMECOLOR_INDEX_BRIGHTNESS" val="0"/>
  <p:tag name="KSO_WM_UNIT_SHADOW_SCHEMECOLOR_INDEX" val="5"/>
</p:tagLst>
</file>

<file path=ppt/tags/tag1369.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370.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371.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372.xml><?xml version="1.0" encoding="utf-8"?>
<p:tagLst xmlns:p="http://schemas.openxmlformats.org/presentationml/2006/main">
  <p:tag name="SHADOWSIZE" val="100"/>
</p:tagLst>
</file>

<file path=ppt/tags/tag1373.xml><?xml version="1.0" encoding="utf-8"?>
<p:tagLst xmlns:p="http://schemas.openxmlformats.org/presentationml/2006/main">
  <p:tag name="SHADOWSIZE" val="100"/>
</p:tagLst>
</file>

<file path=ppt/tags/tag1374.xml><?xml version="1.0" encoding="utf-8"?>
<p:tagLst xmlns:p="http://schemas.openxmlformats.org/presentationml/2006/main">
  <p:tag name="SHADOWSIZE" val="100"/>
</p:tagLst>
</file>

<file path=ppt/tags/tag1375.xml><?xml version="1.0" encoding="utf-8"?>
<p:tagLst xmlns:p="http://schemas.openxmlformats.org/presentationml/2006/main">
  <p:tag name="SHADOWSIZE" val="100"/>
</p:tagLst>
</file>

<file path=ppt/tags/tag1376.xml><?xml version="1.0" encoding="utf-8"?>
<p:tagLst xmlns:p="http://schemas.openxmlformats.org/presentationml/2006/main">
  <p:tag name="SHADOWSIZE" val="100"/>
</p:tagLst>
</file>

<file path=ppt/tags/tag1377.xml><?xml version="1.0" encoding="utf-8"?>
<p:tagLst xmlns:p="http://schemas.openxmlformats.org/presentationml/2006/main">
  <p:tag name="SHADOWSIZE" val="100"/>
</p:tagLst>
</file>

<file path=ppt/tags/tag1378.xml><?xml version="1.0" encoding="utf-8"?>
<p:tagLst xmlns:p="http://schemas.openxmlformats.org/presentationml/2006/main">
  <p:tag name="SHADOWSIZE" val="108"/>
  <p:tag name="TEXTSHADOWSIZE" val="100"/>
</p:tagLst>
</file>

<file path=ppt/tags/tag1379.xml><?xml version="1.0" encoding="utf-8"?>
<p:tagLst xmlns:p="http://schemas.openxmlformats.org/presentationml/2006/main">
  <p:tag name="SHADOWSIZE" val="108"/>
  <p:tag name="TEXTSHADOWSIZE" val="100"/>
</p:tagLst>
</file>

<file path=ppt/tags/tag1380.xml><?xml version="1.0" encoding="utf-8"?>
<p:tagLst xmlns:p="http://schemas.openxmlformats.org/presentationml/2006/main">
  <p:tag name="SHADOWSIZE" val="108"/>
  <p:tag name="TEXTSHADOWSIZE" val="100"/>
</p:tagLst>
</file>

<file path=ppt/tags/tag1381.xml><?xml version="1.0" encoding="utf-8"?>
<p:tagLst xmlns:p="http://schemas.openxmlformats.org/presentationml/2006/main">
  <p:tag name="KSO_WM_UNIT_FILL_FORE_SCHEMECOLOR_INDEX_1_BRIGHTNESS" val="0"/>
  <p:tag name="KSO_WM_UNIT_FILL_FORE_SCHEMECOLOR_INDEX_1" val="5"/>
  <p:tag name="KSO_WM_UNIT_FILL_FORE_SCHEMECOLOR_INDEX_1_POS" val="0.12"/>
  <p:tag name="KSO_WM_UNIT_FILL_FORE_SCHEMECOLOR_INDEX_1_TRANS" val="1"/>
  <p:tag name="KSO_WM_UNIT_FILL_FORE_SCHEMECOLOR_INDEX_2_BRIGHTNESS" val="0"/>
  <p:tag name="KSO_WM_UNIT_FILL_FORE_SCHEMECOLOR_INDEX_2" val="5"/>
  <p:tag name="KSO_WM_UNIT_FILL_FORE_SCHEMECOLOR_INDEX_2_POS" val="0.5"/>
  <p:tag name="KSO_WM_UNIT_FILL_FORE_SCHEMECOLOR_INDEX_2_TRANS" val="0.85"/>
  <p:tag name="KSO_WM_UNIT_FILL_FORE_SCHEMECOLOR_INDEX_3_BRIGHTNESS" val="0"/>
  <p:tag name="KSO_WM_UNIT_FILL_FORE_SCHEMECOLOR_INDEX_3" val="5"/>
  <p:tag name="KSO_WM_UNIT_FILL_FORE_SCHEMECOLOR_INDEX_3_POS" val="0.79"/>
  <p:tag name="KSO_WM_UNIT_FILL_FORE_SCHEMECOLOR_INDEX_3_TRANS" val="1"/>
  <p:tag name="KSO_WM_UNIT_FILL_GRADIENT_TYPE" val="0"/>
  <p:tag name="KSO_WM_UNIT_FILL_GRADIENT_ANGLE" val="0"/>
  <p:tag name="KSO_WM_UNIT_FILL_GRADIENT_DIRECTION" val="3"/>
  <p:tag name="KSO_WM_UNIT_FILL_TYPE" val="3"/>
</p:tagLst>
</file>

<file path=ppt/tags/tag1382.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BRIGHTNESS" val="0"/>
  <p:tag name="KSO_WM_UNIT_LINE_FORE_SCHEMECOLOR_INDEX" val="5"/>
  <p:tag name="KSO_WM_UNIT_LINE_FILL_TYPE" val="2"/>
  <p:tag name="KSO_WM_UNIT_SHADOW_SCHEMECOLOR_INDEX_BRIGHTNESS" val="0"/>
  <p:tag name="KSO_WM_UNIT_SHADOW_SCHEMECOLOR_INDEX" val="5"/>
  <p:tag name="KSO_WM_UNIT_TEXT_FILL_FORE_SCHEMECOLOR_INDEX_BRIGHTNESS" val="0"/>
  <p:tag name="KSO_WM_UNIT_TEXT_FILL_FORE_SCHEMECOLOR_INDEX" val="2"/>
  <p:tag name="KSO_WM_UNIT_TEXT_FILL_TYPE" val="1"/>
</p:tagLst>
</file>

<file path=ppt/tags/tag1383.xml><?xml version="1.0" encoding="utf-8"?>
<p:tagLst xmlns:p="http://schemas.openxmlformats.org/presentationml/2006/main">
  <p:tag name="KSO_WM_UNIT_FILL_FORE_SCHEMECOLOR_INDEX_1_BRIGHTNESS" val="0"/>
  <p:tag name="KSO_WM_UNIT_FILL_FORE_SCHEMECOLOR_INDEX_1" val="5"/>
  <p:tag name="KSO_WM_UNIT_FILL_FORE_SCHEMECOLOR_INDEX_1_POS" val="0.12"/>
  <p:tag name="KSO_WM_UNIT_FILL_FORE_SCHEMECOLOR_INDEX_1_TRANS" val="1"/>
  <p:tag name="KSO_WM_UNIT_FILL_FORE_SCHEMECOLOR_INDEX_2_BRIGHTNESS" val="0"/>
  <p:tag name="KSO_WM_UNIT_FILL_FORE_SCHEMECOLOR_INDEX_2" val="5"/>
  <p:tag name="KSO_WM_UNIT_FILL_FORE_SCHEMECOLOR_INDEX_2_POS" val="0.5"/>
  <p:tag name="KSO_WM_UNIT_FILL_FORE_SCHEMECOLOR_INDEX_2_TRANS" val="0.85"/>
  <p:tag name="KSO_WM_UNIT_FILL_FORE_SCHEMECOLOR_INDEX_3_BRIGHTNESS" val="0"/>
  <p:tag name="KSO_WM_UNIT_FILL_FORE_SCHEMECOLOR_INDEX_3" val="5"/>
  <p:tag name="KSO_WM_UNIT_FILL_FORE_SCHEMECOLOR_INDEX_3_POS" val="0.79"/>
  <p:tag name="KSO_WM_UNIT_FILL_FORE_SCHEMECOLOR_INDEX_3_TRANS" val="1"/>
  <p:tag name="KSO_WM_UNIT_FILL_GRADIENT_TYPE" val="0"/>
  <p:tag name="KSO_WM_UNIT_FILL_GRADIENT_ANGLE" val="0"/>
  <p:tag name="KSO_WM_UNIT_FILL_GRADIENT_DIRECTION" val="3"/>
  <p:tag name="KSO_WM_UNIT_FILL_TYPE" val="3"/>
</p:tagLst>
</file>

<file path=ppt/tags/tag1384.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BRIGHTNESS" val="0"/>
  <p:tag name="KSO_WM_UNIT_LINE_FORE_SCHEMECOLOR_INDEX" val="5"/>
  <p:tag name="KSO_WM_UNIT_LINE_FILL_TYPE" val="2"/>
  <p:tag name="KSO_WM_UNIT_SHADOW_SCHEMECOLOR_INDEX_BRIGHTNESS" val="0"/>
  <p:tag name="KSO_WM_UNIT_SHADOW_SCHEMECOLOR_INDEX" val="5"/>
  <p:tag name="KSO_WM_UNIT_TEXT_FILL_FORE_SCHEMECOLOR_INDEX_BRIGHTNESS" val="0"/>
  <p:tag name="KSO_WM_UNIT_TEXT_FILL_FORE_SCHEMECOLOR_INDEX" val="2"/>
  <p:tag name="KSO_WM_UNIT_TEXT_FILL_TYPE" val="1"/>
</p:tagLst>
</file>

<file path=ppt/tags/tag1385.xml><?xml version="1.0" encoding="utf-8"?>
<p:tagLst xmlns:p="http://schemas.openxmlformats.org/presentationml/2006/main">
  <p:tag name="KSO_WM_UNIT_FILL_FORE_SCHEMECOLOR_INDEX_1_BRIGHTNESS" val="0"/>
  <p:tag name="KSO_WM_UNIT_FILL_FORE_SCHEMECOLOR_INDEX_1" val="5"/>
  <p:tag name="KSO_WM_UNIT_FILL_FORE_SCHEMECOLOR_INDEX_1_POS" val="0.31"/>
  <p:tag name="KSO_WM_UNIT_FILL_FORE_SCHEMECOLOR_INDEX_1_TRANS" val="0"/>
  <p:tag name="KSO_WM_UNIT_FILL_FORE_SCHEMECOLOR_INDEX_2_BRIGHTNESS" val="0"/>
  <p:tag name="KSO_WM_UNIT_FILL_FORE_SCHEMECOLOR_INDEX_2" val="5"/>
  <p:tag name="KSO_WM_UNIT_FILL_FORE_SCHEMECOLOR_INDEX_2_POS" val="0.99"/>
  <p:tag name="KSO_WM_UNIT_FILL_FORE_SCHEMECOLOR_INDEX_2_TRANS" val="1"/>
  <p:tag name="KSO_WM_UNIT_FILL_GRADIENT_TYPE" val="0"/>
  <p:tag name="KSO_WM_UNIT_FILL_GRADIENT_ANGLE" val="0"/>
  <p:tag name="KSO_WM_UNIT_FILL_GRADIENT_DIRECTION" val="3"/>
  <p:tag name="KSO_WM_UNIT_FILL_TYPE" val="3"/>
  <p:tag name="KSO_WM_UNIT_TEXT_FILL_FORE_SCHEMECOLOR_INDEX_BRIGHTNESS" val="0"/>
  <p:tag name="KSO_WM_UNIT_TEXT_FILL_FORE_SCHEMECOLOR_INDEX" val="13"/>
  <p:tag name="KSO_WM_UNIT_TEXT_FILL_TYPE" val="1"/>
</p:tagLst>
</file>

<file path=ppt/tags/tag1386.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87.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88.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389.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390.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391.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392.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93.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394.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395.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96.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397.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398.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399.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400.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401.xml><?xml version="1.0" encoding="utf-8"?>
<p:tagLst xmlns:p="http://schemas.openxmlformats.org/presentationml/2006/main">
  <p:tag name="KSO_WM_UNIT_FILL_FORE_SCHEMECOLOR_INDEX_BRIGHTNESS" val="0"/>
  <p:tag name="KSO_WM_UNIT_FILL_FORE_SCHEMECOLOR_INDEX" val="6"/>
  <p:tag name="KSO_WM_UNIT_FILL_TYPE" val="1"/>
</p:tagLst>
</file>

<file path=ppt/tags/tag1402.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403.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404.xml><?xml version="1.0" encoding="utf-8"?>
<p:tagLst xmlns:p="http://schemas.openxmlformats.org/presentationml/2006/main">
  <p:tag name="KSO_WM_UNIT_FILL_FORE_SCHEMECOLOR_INDEX_1_BRIGHTNESS" val="0"/>
  <p:tag name="KSO_WM_UNIT_FILL_FORE_SCHEMECOLOR_INDEX_1" val="5"/>
  <p:tag name="KSO_WM_UNIT_FILL_FORE_SCHEMECOLOR_INDEX_1_POS" val="0.31"/>
  <p:tag name="KSO_WM_UNIT_FILL_FORE_SCHEMECOLOR_INDEX_1_TRANS" val="0"/>
  <p:tag name="KSO_WM_UNIT_FILL_FORE_SCHEMECOLOR_INDEX_2_BRIGHTNESS" val="0"/>
  <p:tag name="KSO_WM_UNIT_FILL_FORE_SCHEMECOLOR_INDEX_2" val="5"/>
  <p:tag name="KSO_WM_UNIT_FILL_FORE_SCHEMECOLOR_INDEX_2_POS" val="0.99"/>
  <p:tag name="KSO_WM_UNIT_FILL_FORE_SCHEMECOLOR_INDEX_2_TRANS" val="1"/>
  <p:tag name="KSO_WM_UNIT_FILL_GRADIENT_TYPE" val="0"/>
  <p:tag name="KSO_WM_UNIT_FILL_GRADIENT_ANGLE" val="0"/>
  <p:tag name="KSO_WM_UNIT_FILL_GRADIENT_DIRECTION" val="3"/>
  <p:tag name="KSO_WM_UNIT_FILL_TYPE" val="3"/>
  <p:tag name="KSO_WM_UNIT_TEXT_FILL_FORE_SCHEMECOLOR_INDEX_BRIGHTNESS" val="0"/>
  <p:tag name="KSO_WM_UNIT_TEXT_FILL_FORE_SCHEMECOLOR_INDEX" val="13"/>
  <p:tag name="KSO_WM_UNIT_TEXT_FILL_TYPE" val="1"/>
</p:tagLst>
</file>

<file path=ppt/tags/tag1405.xml><?xml version="1.0" encoding="utf-8"?>
<p:tagLst xmlns:p="http://schemas.openxmlformats.org/presentationml/2006/main">
  <p:tag name="KSO_WM_UNIT_FILL_FORE_SCHEMECOLOR_INDEX_BRIGHTNESS" val="0"/>
  <p:tag name="KSO_WM_UNIT_FILL_FORE_SCHEMECOLOR_INDEX" val="14"/>
  <p:tag name="KSO_WM_UNIT_FILL_TYPE" val="1"/>
  <p:tag name="KSO_WM_UNIT_SHADOW_SCHEMECOLOR_INDEX_BRIGHTNESS" val="0"/>
  <p:tag name="KSO_WM_UNIT_SHADOW_SCHEMECOLOR_INDEX" val="6"/>
  <p:tag name="KSO_WM_UNIT_TEXT_FILL_FORE_SCHEMECOLOR_INDEX_BRIGHTNESS" val="0"/>
  <p:tag name="KSO_WM_UNIT_TEXT_FILL_FORE_SCHEMECOLOR_INDEX" val="2"/>
  <p:tag name="KSO_WM_UNIT_TEXT_FILL_TYPE" val="1"/>
</p:tagLst>
</file>

<file path=ppt/tags/tag1406.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407.xml><?xml version="1.0" encoding="utf-8"?>
<p:tagLst xmlns:p="http://schemas.openxmlformats.org/presentationml/2006/main">
  <p:tag name="KSO_WM_UNIT_TEXT_FILL_FORE_SCHEMECOLOR_INDEX_BRIGHTNESS" val="0"/>
  <p:tag name="KSO_WM_UNIT_TEXT_FILL_FORE_SCHEMECOLOR_INDEX" val="13"/>
  <p:tag name="KSO_WM_UNIT_TEXT_FILL_TYPE" val="1"/>
</p:tagLst>
</file>

<file path=ppt/tags/tag1408.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409.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410.xml><?xml version="1.0" encoding="utf-8"?>
<p:tagLst xmlns:p="http://schemas.openxmlformats.org/presentationml/2006/main">
  <p:tag name="KSO_WM_UNIT_TEXT_FILL_FORE_SCHEMECOLOR_INDEX_BRIGHTNESS" val="0"/>
  <p:tag name="KSO_WM_UNIT_TEXT_FILL_FORE_SCHEMECOLOR_INDEX" val="14"/>
  <p:tag name="KSO_WM_UNIT_TEXT_FILL_TYPE" val="1"/>
</p:tagLst>
</file>

<file path=ppt/tags/tag1411.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412.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413.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414.xml><?xml version="1.0" encoding="utf-8"?>
<p:tagLst xmlns:p="http://schemas.openxmlformats.org/presentationml/2006/main">
  <p:tag name="TEXTSHADOWSIZE" val="100"/>
</p:tagLst>
</file>

<file path=ppt/tags/tag1415.xml><?xml version="1.0" encoding="utf-8"?>
<p:tagLst xmlns:p="http://schemas.openxmlformats.org/presentationml/2006/main">
  <p:tag name="TEXTSHADOWSIZE" val="100"/>
</p:tagLst>
</file>

<file path=ppt/tags/tag1416.xml><?xml version="1.0" encoding="utf-8"?>
<p:tagLst xmlns:p="http://schemas.openxmlformats.org/presentationml/2006/main">
  <p:tag name="TEXTSHADOWSIZE" val="100"/>
</p:tagLst>
</file>

<file path=ppt/tags/tag1417.xml><?xml version="1.0" encoding="utf-8"?>
<p:tagLst xmlns:p="http://schemas.openxmlformats.org/presentationml/2006/main">
  <p:tag name="TEXTSHADOWSIZE" val="100"/>
</p:tagLst>
</file>

<file path=ppt/tags/tag1418.xml><?xml version="1.0" encoding="utf-8"?>
<p:tagLst xmlns:p="http://schemas.openxmlformats.org/presentationml/2006/main">
  <p:tag name="PA" val="v5.2.9"/>
</p:tagLst>
</file>

<file path=ppt/tags/tag1419.xml><?xml version="1.0" encoding="utf-8"?>
<p:tagLst xmlns:p="http://schemas.openxmlformats.org/presentationml/2006/main">
  <p:tag name="PA" val="v5.2.9"/>
</p:tagLst>
</file>

<file path=ppt/tags/tag1420.xml><?xml version="1.0" encoding="utf-8"?>
<p:tagLst xmlns:p="http://schemas.openxmlformats.org/presentationml/2006/main">
  <p:tag name="PA" val="v5.2.9"/>
</p:tagLst>
</file>

<file path=ppt/tags/tag1421.xml><?xml version="1.0" encoding="utf-8"?>
<p:tagLst xmlns:p="http://schemas.openxmlformats.org/presentationml/2006/main">
  <p:tag name="PA" val="v5.2.9"/>
</p:tagLst>
</file>

<file path=ppt/tags/tag1422.xml><?xml version="1.0" encoding="utf-8"?>
<p:tagLst xmlns:p="http://schemas.openxmlformats.org/presentationml/2006/main">
  <p:tag name="PA" val="v5.2.9"/>
</p:tagLst>
</file>

<file path=ppt/tags/tag1423.xml><?xml version="1.0" encoding="utf-8"?>
<p:tagLst xmlns:p="http://schemas.openxmlformats.org/presentationml/2006/main">
  <p:tag name="PA" val="v5.2.9"/>
</p:tagLst>
</file>

<file path=ppt/tags/tag1424.xml><?xml version="1.0" encoding="utf-8"?>
<p:tagLst xmlns:p="http://schemas.openxmlformats.org/presentationml/2006/main">
  <p:tag name="PA" val="v5.2.9"/>
</p:tagLst>
</file>

<file path=ppt/tags/tag1425.xml><?xml version="1.0" encoding="utf-8"?>
<p:tagLst xmlns:p="http://schemas.openxmlformats.org/presentationml/2006/main">
  <p:tag name="PA" val="v5.2.9"/>
</p:tagLst>
</file>

<file path=ppt/tags/tag1426.xml><?xml version="1.0" encoding="utf-8"?>
<p:tagLst xmlns:p="http://schemas.openxmlformats.org/presentationml/2006/main">
  <p:tag name="PA" val="v5.2.9"/>
</p:tagLst>
</file>

<file path=ppt/tags/tag1427.xml><?xml version="1.0" encoding="utf-8"?>
<p:tagLst xmlns:p="http://schemas.openxmlformats.org/presentationml/2006/main">
  <p:tag name="PA" val="v5.2.9"/>
</p:tagLst>
</file>

<file path=ppt/tags/tag1428.xml><?xml version="1.0" encoding="utf-8"?>
<p:tagLst xmlns:p="http://schemas.openxmlformats.org/presentationml/2006/main">
  <p:tag name="PA" val="v5.2.9"/>
</p:tagLst>
</file>

<file path=ppt/tags/tag1429.xml><?xml version="1.0" encoding="utf-8"?>
<p:tagLst xmlns:p="http://schemas.openxmlformats.org/presentationml/2006/main">
  <p:tag name="PA" val="v5.2.9"/>
</p:tagLst>
</file>

<file path=ppt/tags/tag1430.xml><?xml version="1.0" encoding="utf-8"?>
<p:tagLst xmlns:p="http://schemas.openxmlformats.org/presentationml/2006/main">
  <p:tag name="PA" val="v5.2.9"/>
</p:tagLst>
</file>

<file path=ppt/tags/tag1431.xml><?xml version="1.0" encoding="utf-8"?>
<p:tagLst xmlns:p="http://schemas.openxmlformats.org/presentationml/2006/main">
  <p:tag name="PA" val="v5.2.9"/>
</p:tagLst>
</file>

<file path=ppt/tags/tag1432.xml><?xml version="1.0" encoding="utf-8"?>
<p:tagLst xmlns:p="http://schemas.openxmlformats.org/presentationml/2006/main">
  <p:tag name="PA" val="v5.2.9"/>
</p:tagLst>
</file>

<file path=ppt/tags/tag1433.xml><?xml version="1.0" encoding="utf-8"?>
<p:tagLst xmlns:p="http://schemas.openxmlformats.org/presentationml/2006/main">
  <p:tag name="PA" val="v5.2.9"/>
</p:tagLst>
</file>

<file path=ppt/tags/tag1434.xml><?xml version="1.0" encoding="utf-8"?>
<p:tagLst xmlns:p="http://schemas.openxmlformats.org/presentationml/2006/main">
  <p:tag name="PA" val="v5.2.9"/>
</p:tagLst>
</file>

<file path=ppt/tags/tag1435.xml><?xml version="1.0" encoding="utf-8"?>
<p:tagLst xmlns:p="http://schemas.openxmlformats.org/presentationml/2006/main">
  <p:tag name="PA" val="v5.2.9"/>
</p:tagLst>
</file>

<file path=ppt/tags/tag1436.xml><?xml version="1.0" encoding="utf-8"?>
<p:tagLst xmlns:p="http://schemas.openxmlformats.org/presentationml/2006/main">
  <p:tag name="ADJUSTMENTS" val="9.331733"/>
</p:tagLst>
</file>

<file path=ppt/tags/tag1437.xml><?xml version="1.0" encoding="utf-8"?>
<p:tagLst xmlns:p="http://schemas.openxmlformats.org/presentationml/2006/main">
  <p:tag name="ADJUSTMENTS" val="9.331733"/>
</p:tagLst>
</file>

<file path=ppt/tags/tag1438.xml><?xml version="1.0" encoding="utf-8"?>
<p:tagLst xmlns:p="http://schemas.openxmlformats.org/presentationml/2006/main">
  <p:tag name="ADJUSTMENTS" val="9.331733"/>
</p:tagLst>
</file>

<file path=ppt/tags/tag1439.xml><?xml version="1.0" encoding="utf-8"?>
<p:tagLst xmlns:p="http://schemas.openxmlformats.org/presentationml/2006/main">
  <p:tag name="ADJUSTMENTS" val="9.331733"/>
</p:tagLst>
</file>

<file path=ppt/tags/tag1440.xml><?xml version="1.0" encoding="utf-8"?>
<p:tagLst xmlns:p="http://schemas.openxmlformats.org/presentationml/2006/main">
  <p:tag name="ADJUSTMENTS" val="9.331733"/>
</p:tagLst>
</file>

<file path=ppt/tags/tag1441.xml><?xml version="1.0" encoding="utf-8"?>
<p:tagLst xmlns:p="http://schemas.openxmlformats.org/presentationml/2006/main">
  <p:tag name="ADJUSTMENTS" val="9.331733"/>
</p:tagLst>
</file>

<file path=ppt/tags/tag1442.xml><?xml version="1.0" encoding="utf-8"?>
<p:tagLst xmlns:p="http://schemas.openxmlformats.org/presentationml/2006/main">
  <p:tag name="ADJUSTMENTS" val="9.331733"/>
</p:tagLst>
</file>

<file path=ppt/tags/tag1443.xml><?xml version="1.0" encoding="utf-8"?>
<p:tagLst xmlns:p="http://schemas.openxmlformats.org/presentationml/2006/main">
  <p:tag name="ADJUSTMENTS" val="9.331733"/>
</p:tagLst>
</file>

<file path=ppt/tags/tag1444.xml><?xml version="1.0" encoding="utf-8"?>
<p:tagLst xmlns:p="http://schemas.openxmlformats.org/presentationml/2006/main">
  <p:tag name="ADJUSTMENTS" val="9.331733"/>
</p:tagLst>
</file>

<file path=ppt/tags/tag1445.xml><?xml version="1.0" encoding="utf-8"?>
<p:tagLst xmlns:p="http://schemas.openxmlformats.org/presentationml/2006/main">
  <p:tag name="TEXTSHADOWSIZE" val="100"/>
</p:tagLst>
</file>

<file path=ppt/tags/tag1446.xml><?xml version="1.0" encoding="utf-8"?>
<p:tagLst xmlns:p="http://schemas.openxmlformats.org/presentationml/2006/main">
  <p:tag name="TEXTSHADOWSIZE" val="100"/>
</p:tagLst>
</file>

<file path=ppt/tags/tag1447.xml><?xml version="1.0" encoding="utf-8"?>
<p:tagLst xmlns:p="http://schemas.openxmlformats.org/presentationml/2006/main">
  <p:tag name="ADJUSTMENTS" val="9.331733"/>
</p:tagLst>
</file>

<file path=ppt/tags/tag1448.xml><?xml version="1.0" encoding="utf-8"?>
<p:tagLst xmlns:p="http://schemas.openxmlformats.org/presentationml/2006/main">
  <p:tag name="ADJUSTMENTS" val="9.331733"/>
</p:tagLst>
</file>

<file path=ppt/tags/tag1449.xml><?xml version="1.0" encoding="utf-8"?>
<p:tagLst xmlns:p="http://schemas.openxmlformats.org/presentationml/2006/main">
  <p:tag name="ADJUSTMENTS" val="9.331733"/>
</p:tagLst>
</file>

<file path=ppt/tags/tag1450.xml><?xml version="1.0" encoding="utf-8"?>
<p:tagLst xmlns:p="http://schemas.openxmlformats.org/presentationml/2006/main">
  <p:tag name="ADJUSTMENTS" val="9.331733"/>
</p:tagLst>
</file>

<file path=ppt/tags/tag1451.xml><?xml version="1.0" encoding="utf-8"?>
<p:tagLst xmlns:p="http://schemas.openxmlformats.org/presentationml/2006/main">
  <p:tag name="ADJUSTMENTS" val="9.331733"/>
</p:tagLst>
</file>

<file path=ppt/tags/tag1452.xml><?xml version="1.0" encoding="utf-8"?>
<p:tagLst xmlns:p="http://schemas.openxmlformats.org/presentationml/2006/main">
  <p:tag name="ADJUSTMENTS" val="9.331733"/>
</p:tagLst>
</file>

<file path=ppt/tags/tag1453.xml><?xml version="1.0" encoding="utf-8"?>
<p:tagLst xmlns:p="http://schemas.openxmlformats.org/presentationml/2006/main">
  <p:tag name="ADJUSTMENTS" val="9.331733"/>
</p:tagLst>
</file>

<file path=ppt/tags/tag1454.xml><?xml version="1.0" encoding="utf-8"?>
<p:tagLst xmlns:p="http://schemas.openxmlformats.org/presentationml/2006/main">
  <p:tag name="ADJUSTMENTS" val="9.331733"/>
</p:tagLst>
</file>

<file path=ppt/tags/tag1455.xml><?xml version="1.0" encoding="utf-8"?>
<p:tagLst xmlns:p="http://schemas.openxmlformats.org/presentationml/2006/main">
  <p:tag name="ADJUSTMENTS" val="9.331733"/>
</p:tagLst>
</file>

<file path=ppt/tags/tag1456.xml><?xml version="1.0" encoding="utf-8"?>
<p:tagLst xmlns:p="http://schemas.openxmlformats.org/presentationml/2006/main">
  <p:tag name="ADJUSTMENTS" val="9.331733"/>
</p:tagLst>
</file>

<file path=ppt/tags/tag1457.xml><?xml version="1.0" encoding="utf-8"?>
<p:tagLst xmlns:p="http://schemas.openxmlformats.org/presentationml/2006/main">
  <p:tag name="ADJUSTMENTS" val="9.331733"/>
</p:tagLst>
</file>

<file path=ppt/tags/tag1458.xml><?xml version="1.0" encoding="utf-8"?>
<p:tagLst xmlns:p="http://schemas.openxmlformats.org/presentationml/2006/main">
  <p:tag name="ADJUSTMENTS" val="9.331733"/>
</p:tagLst>
</file>

<file path=ppt/tags/tag1459.xml><?xml version="1.0" encoding="utf-8"?>
<p:tagLst xmlns:p="http://schemas.openxmlformats.org/presentationml/2006/main">
  <p:tag name="ADJUSTMENTS" val="9.331733"/>
</p:tagLst>
</file>

<file path=ppt/tags/tag1460.xml><?xml version="1.0" encoding="utf-8"?>
<p:tagLst xmlns:p="http://schemas.openxmlformats.org/presentationml/2006/main">
  <p:tag name="ADJUSTMENTS" val="9.331733"/>
</p:tagLst>
</file>

<file path=ppt/tags/tag1461.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2.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3.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4.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5.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6.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7.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8.xml><?xml version="1.0" encoding="utf-8"?>
<p:tagLst xmlns:p="http://schemas.openxmlformats.org/presentationml/2006/main">
  <p:tag name="KSO_WM_UNIT_TEXT_FILL_FORE_SCHEMECOLOR_INDEX_BRIGHTNESS" val="0.5"/>
  <p:tag name="KSO_WM_UNIT_TEXT_FILL_FORE_SCHEMECOLOR_INDEX" val="13"/>
  <p:tag name="KSO_WM_UNIT_TEXT_FILL_TYPE" val="1"/>
</p:tagLst>
</file>

<file path=ppt/tags/tag1469.xml><?xml version="1.0" encoding="utf-8"?>
<p:tagLst xmlns:p="http://schemas.openxmlformats.org/presentationml/2006/main">
  <p:tag name="SHADOWSIZE" val="100"/>
</p:tagLst>
</file>

<file path=ppt/tags/tag1470.xml><?xml version="1.0" encoding="utf-8"?>
<p:tagLst xmlns:p="http://schemas.openxmlformats.org/presentationml/2006/main">
  <p:tag name="SHADOWSIZE" val="100"/>
</p:tagLst>
</file>

<file path=ppt/tags/tag1471.xml><?xml version="1.0" encoding="utf-8"?>
<p:tagLst xmlns:p="http://schemas.openxmlformats.org/presentationml/2006/main">
  <p:tag name="SHADOWSIZE" val="100"/>
</p:tagLst>
</file>

<file path=ppt/tags/tag1472.xml><?xml version="1.0" encoding="utf-8"?>
<p:tagLst xmlns:p="http://schemas.openxmlformats.org/presentationml/2006/main">
  <p:tag name="SHADOWSIZE" val="100"/>
</p:tagLst>
</file>

<file path=ppt/tags/tag1473.xml><?xml version="1.0" encoding="utf-8"?>
<p:tagLst xmlns:p="http://schemas.openxmlformats.org/presentationml/2006/main">
  <p:tag name="SHADOWSIZE" val="100"/>
</p:tagLst>
</file>

<file path=ppt/tags/tag1474.xml><?xml version="1.0" encoding="utf-8"?>
<p:tagLst xmlns:p="http://schemas.openxmlformats.org/presentationml/2006/main">
  <p:tag name="SHADOWSIZE" val="100"/>
</p:tagLst>
</file>

<file path=ppt/tags/tag1475.xml><?xml version="1.0" encoding="utf-8"?>
<p:tagLst xmlns:p="http://schemas.openxmlformats.org/presentationml/2006/main">
  <p:tag name="SHADOWSIZE" val="100"/>
</p:tagLst>
</file>

<file path=ppt/tags/tag1476.xml><?xml version="1.0" encoding="utf-8"?>
<p:tagLst xmlns:p="http://schemas.openxmlformats.org/presentationml/2006/main">
  <p:tag name="SHADOWSIZE" val="100"/>
</p:tagLst>
</file>

<file path=ppt/tags/tag1477.xml><?xml version="1.0" encoding="utf-8"?>
<p:tagLst xmlns:p="http://schemas.openxmlformats.org/presentationml/2006/main">
  <p:tag name="KSO_WM_DIAGRAM_VIRTUALLY_FRAME" val="{&amp;quot;height&amp;quot;:403.1,&amp;quot;left&amp;quot;:55.7,&amp;quot;top&amp;quot;:109.25,&amp;quot;width&amp;quot;:860.45}"/>
</p:tagLst>
</file>

<file path=ppt/tags/tag1478.xml><?xml version="1.0" encoding="utf-8"?>
<p:tagLst xmlns:p="http://schemas.openxmlformats.org/presentationml/2006/main">
  <p:tag name="KSO_WM_DIAGRAM_VIRTUALLY_FRAME" val="{&amp;quot;height&amp;quot;:403.1,&amp;quot;left&amp;quot;:55.7,&amp;quot;top&amp;quot;:109.25,&amp;quot;width&amp;quot;:860.45}"/>
</p:tagLst>
</file>

<file path=ppt/tags/tag1479.xml><?xml version="1.0" encoding="utf-8"?>
<p:tagLst xmlns:p="http://schemas.openxmlformats.org/presentationml/2006/main">
  <p:tag name="KSO_WM_DIAGRAM_VIRTUALLY_FRAME" val="{&amp;quot;height&amp;quot;:403.1,&amp;quot;left&amp;quot;:55.7,&amp;quot;top&amp;quot;:109.25,&amp;quot;width&amp;quot;:860.45}"/>
</p:tagLst>
</file>

<file path=ppt/tags/tag1480.xml><?xml version="1.0" encoding="utf-8"?>
<p:tagLst xmlns:p="http://schemas.openxmlformats.org/presentationml/2006/main">
  <p:tag name="KSO_WM_DIAGRAM_VIRTUALLY_FRAME" val="{&amp;quot;height&amp;quot;:403.1,&amp;quot;left&amp;quot;:55.7,&amp;quot;top&amp;quot;:109.25,&amp;quot;width&amp;quot;:860.45}"/>
</p:tagLst>
</file>

<file path=ppt/tags/tag1481.xml><?xml version="1.0" encoding="utf-8"?>
<p:tagLst xmlns:p="http://schemas.openxmlformats.org/presentationml/2006/main">
  <p:tag name="KSO_WM_DIAGRAM_VIRTUALLY_FRAME" val="{&amp;quot;height&amp;quot;:403.1,&amp;quot;left&amp;quot;:55.7,&amp;quot;top&amp;quot;:109.25,&amp;quot;width&amp;quot;:860.45}"/>
</p:tagLst>
</file>

<file path=ppt/tags/tag1482.xml><?xml version="1.0" encoding="utf-8"?>
<p:tagLst xmlns:p="http://schemas.openxmlformats.org/presentationml/2006/main">
  <p:tag name="KSO_WM_DIAGRAM_VIRTUALLY_FRAME" val="{&amp;quot;height&amp;quot;:403.1,&amp;quot;left&amp;quot;:55.7,&amp;quot;top&amp;quot;:109.25,&amp;quot;width&amp;quot;:860.45}"/>
</p:tagLst>
</file>

<file path=ppt/tags/tag1483.xml><?xml version="1.0" encoding="utf-8"?>
<p:tagLst xmlns:p="http://schemas.openxmlformats.org/presentationml/2006/main">
  <p:tag name="KSO_WM_DIAGRAM_VIRTUALLY_FRAME" val="{&amp;quot;height&amp;quot;:403.1,&amp;quot;left&amp;quot;:55.7,&amp;quot;top&amp;quot;:109.25,&amp;quot;width&amp;quot;:860.45}"/>
</p:tagLst>
</file>

<file path=ppt/tags/tag1484.xml><?xml version="1.0" encoding="utf-8"?>
<p:tagLst xmlns:p="http://schemas.openxmlformats.org/presentationml/2006/main">
  <p:tag name="KSO_WM_DIAGRAM_VIRTUALLY_FRAME" val="{&amp;quot;height&amp;quot;:403.1,&amp;quot;left&amp;quot;:55.7,&amp;quot;top&amp;quot;:109.25,&amp;quot;width&amp;quot;:860.45}"/>
</p:tagLst>
</file>

<file path=ppt/tags/tag1485.xml><?xml version="1.0" encoding="utf-8"?>
<p:tagLst xmlns:p="http://schemas.openxmlformats.org/presentationml/2006/main">
  <p:tag name="KSO_WM_DIAGRAM_VIRTUALLY_FRAME" val="{&amp;quot;height&amp;quot;:403.1,&amp;quot;left&amp;quot;:55.7,&amp;quot;top&amp;quot;:109.25,&amp;quot;width&amp;quot;:860.45}"/>
</p:tagLst>
</file>

<file path=ppt/tags/tag1486.xml><?xml version="1.0" encoding="utf-8"?>
<p:tagLst xmlns:p="http://schemas.openxmlformats.org/presentationml/2006/main">
  <p:tag name="KSO_WM_DIAGRAM_VIRTUALLY_FRAME" val="{&amp;quot;height&amp;quot;:403.1,&amp;quot;left&amp;quot;:55.7,&amp;quot;top&amp;quot;:109.25,&amp;quot;width&amp;quot;:860.45}"/>
</p:tagLst>
</file>

<file path=ppt/tags/tag1487.xml><?xml version="1.0" encoding="utf-8"?>
<p:tagLst xmlns:p="http://schemas.openxmlformats.org/presentationml/2006/main">
  <p:tag name="KSO_WM_DIAGRAM_VIRTUALLY_FRAME" val="{&amp;quot;height&amp;quot;:403.1,&amp;quot;left&amp;quot;:55.7,&amp;quot;top&amp;quot;:109.25,&amp;quot;width&amp;quot;:860.45}"/>
</p:tagLst>
</file>

<file path=ppt/tags/tag1488.xml><?xml version="1.0" encoding="utf-8"?>
<p:tagLst xmlns:p="http://schemas.openxmlformats.org/presentationml/2006/main">
  <p:tag name="TEXTZ '" val="-2.147484E+09"/>
  <p:tag name="SHADOWSIZE" val="100"/>
  <p:tag name="KSO_WM_DIAGRAM_VIRTUALLY_FRAME" val="{&amp;quot;height&amp;quot;:403.1,&amp;quot;left&amp;quot;:55.7,&amp;quot;top&amp;quot;:109.25,&amp;quot;width&amp;quot;:860.45}"/>
</p:tagLst>
</file>

<file path=ppt/tags/tag1489.xml><?xml version="1.0" encoding="utf-8"?>
<p:tagLst xmlns:p="http://schemas.openxmlformats.org/presentationml/2006/main">
  <p:tag name="KSO_WM_DIAGRAM_VIRTUALLY_FRAME" val="{&amp;quot;height&amp;quot;:403.1,&amp;quot;left&amp;quot;:55.7,&amp;quot;top&amp;quot;:109.25,&amp;quot;width&amp;quot;:860.45}"/>
</p:tagLst>
</file>

<file path=ppt/tags/tag1490.xml><?xml version="1.0" encoding="utf-8"?>
<p:tagLst xmlns:p="http://schemas.openxmlformats.org/presentationml/2006/main">
  <p:tag name="KSO_WM_DIAGRAM_VIRTUALLY_FRAME" val="{&amp;quot;height&amp;quot;:403.1,&amp;quot;left&amp;quot;:55.7,&amp;quot;top&amp;quot;:109.25,&amp;quot;width&amp;quot;:860.45}"/>
</p:tagLst>
</file>

<file path=ppt/tags/tag1491.xml><?xml version="1.0" encoding="utf-8"?>
<p:tagLst xmlns:p="http://schemas.openxmlformats.org/presentationml/2006/main">
  <p:tag name="KSO_WM_DIAGRAM_VIRTUALLY_FRAME" val="{&amp;quot;height&amp;quot;:403.1,&amp;quot;left&amp;quot;:55.7,&amp;quot;top&amp;quot;:109.25,&amp;quot;width&amp;quot;:860.45}"/>
</p:tagLst>
</file>

<file path=ppt/tags/tag1492.xml><?xml version="1.0" encoding="utf-8"?>
<p:tagLst xmlns:p="http://schemas.openxmlformats.org/presentationml/2006/main">
  <p:tag name="KSO_WM_DIAGRAM_VIRTUALLY_FRAME" val="{&amp;quot;height&amp;quot;:403.1,&amp;quot;left&amp;quot;:55.7,&amp;quot;top&amp;quot;:109.25,&amp;quot;width&amp;quot;:860.45}"/>
</p:tagLst>
</file>

<file path=ppt/tags/tag1493.xml><?xml version="1.0" encoding="utf-8"?>
<p:tagLst xmlns:p="http://schemas.openxmlformats.org/presentationml/2006/main">
  <p:tag name="KSO_WM_DIAGRAM_VIRTUALLY_FRAME" val="{&amp;quot;height&amp;quot;:403.1,&amp;quot;left&amp;quot;:55.7,&amp;quot;top&amp;quot;:109.25,&amp;quot;width&amp;quot;:860.45}"/>
</p:tagLst>
</file>

<file path=ppt/tags/tag1494.xml><?xml version="1.0" encoding="utf-8"?>
<p:tagLst xmlns:p="http://schemas.openxmlformats.org/presentationml/2006/main">
  <p:tag name="SHADOWSIZE" val="100"/>
  <p:tag name="ADJUSTMENTS" val="62.37"/>
</p:tagLst>
</file>

<file path=ppt/tags/tag1495.xml><?xml version="1.0" encoding="utf-8"?>
<p:tagLst xmlns:p="http://schemas.openxmlformats.org/presentationml/2006/main">
  <p:tag name="SHADOWSIZE" val="100"/>
  <p:tag name="ADJUSTMENTS" val="62.37"/>
</p:tagLst>
</file>

<file path=ppt/tags/tag1496.xml><?xml version="1.0" encoding="utf-8"?>
<p:tagLst xmlns:p="http://schemas.openxmlformats.org/presentationml/2006/main">
  <p:tag name="SHADOWSIZE" val="100"/>
  <p:tag name="ADJUSTMENTS" val="62.37"/>
</p:tagLst>
</file>

<file path=ppt/tags/tag1497.xml><?xml version="1.0" encoding="utf-8"?>
<p:tagLst xmlns:p="http://schemas.openxmlformats.org/presentationml/2006/main">
  <p:tag name="SHADOWSIZE" val="100"/>
  <p:tag name="ADJUSTMENTS" val="62.37"/>
</p:tagLst>
</file>

<file path=ppt/tags/tag1498.xml><?xml version="1.0" encoding="utf-8"?>
<p:tagLst xmlns:p="http://schemas.openxmlformats.org/presentationml/2006/main">
  <p:tag name="SHADOWSIZE" val="100"/>
  <p:tag name="ADJUSTMENTS" val="62.37"/>
</p:tagLst>
</file>

<file path=ppt/tags/tag1499.xml><?xml version="1.0" encoding="utf-8"?>
<p:tagLst xmlns:p="http://schemas.openxmlformats.org/presentationml/2006/main">
  <p:tag name="SHADOWSIZE" val="100"/>
  <p:tag name="ADJUSTMENTS" val="62.37"/>
</p:tagLst>
</file>

<file path=ppt/tags/tag1500.xml><?xml version="1.0" encoding="utf-8"?>
<p:tagLst xmlns:p="http://schemas.openxmlformats.org/presentationml/2006/main">
  <p:tag name="SHADOWSIZE" val="100"/>
  <p:tag name="ADJUSTMENTS" val="62.37"/>
</p:tagLst>
</file>

<file path=ppt/tags/tag1501.xml><?xml version="1.0" encoding="utf-8"?>
<p:tagLst xmlns:p="http://schemas.openxmlformats.org/presentationml/2006/main">
  <p:tag name="SHADOWSIZE" val="100"/>
  <p:tag name="ADJUSTMENTS" val="62.37"/>
</p:tagLst>
</file>

<file path=ppt/tags/tag1502.xml><?xml version="1.0" encoding="utf-8"?>
<p:tagLst xmlns:p="http://schemas.openxmlformats.org/presentationml/2006/main">
  <p:tag name="SHADOWSIZE" val="100"/>
  <p:tag name="ADJUSTMENTS" val="62.37"/>
</p:tagLst>
</file>

<file path=ppt/tags/tag1503.xml><?xml version="1.0" encoding="utf-8"?>
<p:tagLst xmlns:p="http://schemas.openxmlformats.org/presentationml/2006/main">
  <p:tag name="SHADOWSIZE" val="100"/>
  <p:tag name="ADJUSTMENTS" val="62.37"/>
</p:tagLst>
</file>

<file path=ppt/tags/tag1504.xml><?xml version="1.0" encoding="utf-8"?>
<p:tagLst xmlns:p="http://schemas.openxmlformats.org/presentationml/2006/main">
  <p:tag name="KSO_WM_DIAGRAM_VIRTUALLY_FRAME" val="{&amp;quot;height&amp;quot;:74.65,&amp;quot;left&amp;quot;:60.95,&amp;quot;top&amp;quot;:71.1,&amp;quot;width&amp;quot;:825.35}"/>
</p:tagLst>
</file>

<file path=ppt/tags/tag1505.xml><?xml version="1.0" encoding="utf-8"?>
<p:tagLst xmlns:p="http://schemas.openxmlformats.org/presentationml/2006/main">
  <p:tag name="KSO_WM_DIAGRAM_VIRTUALLY_FRAME" val="{&amp;quot;height&amp;quot;:74.65,&amp;quot;left&amp;quot;:60.95,&amp;quot;top&amp;quot;:71.1,&amp;quot;width&amp;quot;:825.35}"/>
</p:tagLst>
</file>

<file path=ppt/tags/tag1506.xml><?xml version="1.0" encoding="utf-8"?>
<p:tagLst xmlns:p="http://schemas.openxmlformats.org/presentationml/2006/main">
  <p:tag name="KSO_WM_DIAGRAM_VIRTUALLY_FRAME" val="{&amp;quot;height&amp;quot;:74.65,&amp;quot;left&amp;quot;:60.95,&amp;quot;top&amp;quot;:71.1,&amp;quot;width&amp;quot;:825.35}"/>
</p:tagLst>
</file>

<file path=ppt/tags/tag1507.xml><?xml version="1.0" encoding="utf-8"?>
<p:tagLst xmlns:p="http://schemas.openxmlformats.org/presentationml/2006/main">
  <p:tag name="KSO_WM_DIAGRAM_VIRTUALLY_FRAME" val="{&amp;quot;height&amp;quot;:74.65,&amp;quot;left&amp;quot;:60.95,&amp;quot;top&amp;quot;:71.1,&amp;quot;width&amp;quot;:825.35}"/>
</p:tagLst>
</file>

<file path=ppt/tags/tag1508.xml><?xml version="1.0" encoding="utf-8"?>
<p:tagLst xmlns:p="http://schemas.openxmlformats.org/presentationml/2006/main">
  <p:tag name="KSO_WM_DIAGRAM_VIRTUALLY_FRAME" val="{&amp;quot;height&amp;quot;:74.65,&amp;quot;left&amp;quot;:60.95,&amp;quot;top&amp;quot;:71.1,&amp;quot;width&amp;quot;:825.35}"/>
</p:tagLst>
</file>

<file path=ppt/tags/tag1509.xml><?xml version="1.0" encoding="utf-8"?>
<p:tagLst xmlns:p="http://schemas.openxmlformats.org/presentationml/2006/main">
  <p:tag name="KSO_WM_DIAGRAM_VIRTUALLY_FRAME" val="{&amp;quot;height&amp;quot;:74.65,&amp;quot;left&amp;quot;:60.95,&amp;quot;top&amp;quot;:71.1,&amp;quot;width&amp;quot;:825.35}"/>
</p:tagLst>
</file>

<file path=ppt/tags/tag1510.xml><?xml version="1.0" encoding="utf-8"?>
<p:tagLst xmlns:p="http://schemas.openxmlformats.org/presentationml/2006/main">
  <p:tag name="KSO_WM_DIAGRAM_VIRTUALLY_FRAME" val="{&amp;quot;height&amp;quot;:74.65,&amp;quot;left&amp;quot;:60.95,&amp;quot;top&amp;quot;:71.1,&amp;quot;width&amp;quot;:825.35}"/>
</p:tagLst>
</file>

<file path=ppt/tags/tag1511.xml><?xml version="1.0" encoding="utf-8"?>
<p:tagLst xmlns:p="http://schemas.openxmlformats.org/presentationml/2006/main">
  <p:tag name="KSO_WM_DIAGRAM_VIRTUALLY_FRAME" val="{&amp;quot;height&amp;quot;:74.65,&amp;quot;left&amp;quot;:60.95,&amp;quot;top&amp;quot;:71.1,&amp;quot;width&amp;quot;:825.35}"/>
</p:tagLst>
</file>

<file path=ppt/tags/tag1512.xml><?xml version="1.0" encoding="utf-8"?>
<p:tagLst xmlns:p="http://schemas.openxmlformats.org/presentationml/2006/main">
  <p:tag name="KSO_WM_DIAGRAM_VIRTUALLY_FRAME" val="{&amp;quot;height&amp;quot;:74.65,&amp;quot;left&amp;quot;:60.95,&amp;quot;top&amp;quot;:71.1,&amp;quot;width&amp;quot;:825.35}"/>
</p:tagLst>
</file>

<file path=ppt/tags/tag1513.xml><?xml version="1.0" encoding="utf-8"?>
<p:tagLst xmlns:p="http://schemas.openxmlformats.org/presentationml/2006/main">
  <p:tag name="KSO_WM_DIAGRAM_VIRTUALLY_FRAME" val="{&amp;quot;height&amp;quot;:74.65,&amp;quot;left&amp;quot;:60.95,&amp;quot;top&amp;quot;:71.1,&amp;quot;width&amp;quot;:825.35}"/>
</p:tagLst>
</file>

<file path=ppt/tags/tag1514.xml><?xml version="1.0" encoding="utf-8"?>
<p:tagLst xmlns:p="http://schemas.openxmlformats.org/presentationml/2006/main">
  <p:tag name="KSO_WM_DIAGRAM_VIRTUALLY_FRAME" val="{&amp;quot;height&amp;quot;:74.65,&amp;quot;left&amp;quot;:60.95,&amp;quot;top&amp;quot;:71.1,&amp;quot;width&amp;quot;:825.35}"/>
</p:tagLst>
</file>

<file path=ppt/tags/tag1515.xml><?xml version="1.0" encoding="utf-8"?>
<p:tagLst xmlns:p="http://schemas.openxmlformats.org/presentationml/2006/main">
  <p:tag name="KSO_WM_DIAGRAM_VIRTUALLY_FRAME" val="{&amp;quot;height&amp;quot;:74.65,&amp;quot;left&amp;quot;:60.95,&amp;quot;top&amp;quot;:71.1,&amp;quot;width&amp;quot;:825.35}"/>
</p:tagLst>
</file>

<file path=ppt/tags/tag1516.xml><?xml version="1.0" encoding="utf-8"?>
<p:tagLst xmlns:p="http://schemas.openxmlformats.org/presentationml/2006/main">
  <p:tag name="SHADOWSIZE" val="108"/>
  <p:tag name="TEXTSHADOWSIZE" val="100"/>
</p:tagLst>
</file>

<file path=ppt/tags/tag1517.xml><?xml version="1.0" encoding="utf-8"?>
<p:tagLst xmlns:p="http://schemas.openxmlformats.org/presentationml/2006/main">
  <p:tag name="SHADOWSIZE" val="108"/>
  <p:tag name="TEXTSHADOWSIZE" val="100"/>
</p:tagLst>
</file>

<file path=ppt/tags/tag1518.xml><?xml version="1.0" encoding="utf-8"?>
<p:tagLst xmlns:p="http://schemas.openxmlformats.org/presentationml/2006/main">
  <p:tag name="SHADOWSIZE" val="108"/>
  <p:tag name="TEXTSHADOWSIZE" val="100"/>
</p:tagLst>
</file>

<file path=ppt/tags/tag1519.xml><?xml version="1.0" encoding="utf-8"?>
<p:tagLst xmlns:p="http://schemas.openxmlformats.org/presentationml/2006/main">
  <p:tag name="SHADOWSIZE" val="108"/>
  <p:tag name="TEXTSHADOWSIZE" val="100"/>
</p:tagLst>
</file>

<file path=ppt/tags/tag1520.xml><?xml version="1.0" encoding="utf-8"?>
<p:tagLst xmlns:p="http://schemas.openxmlformats.org/presentationml/2006/main">
  <p:tag name="SHADOWSIZE" val="108"/>
  <p:tag name="TEXTSHADOWSIZE" val="100"/>
</p:tagLst>
</file>

<file path=ppt/tags/tag1521.xml><?xml version="1.0" encoding="utf-8"?>
<p:tagLst xmlns:p="http://schemas.openxmlformats.org/presentationml/2006/main">
  <p:tag name="SHADOWSIZE" val="108"/>
  <p:tag name="TEXTSHADOWSIZE" val="100"/>
</p:tagLst>
</file>

<file path=ppt/tags/tag1522.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23.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24.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25.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26.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27.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28.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29.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30.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31.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32.xml><?xml version="1.0" encoding="utf-8"?>
<p:tagLst xmlns:p="http://schemas.openxmlformats.org/presentationml/2006/main">
  <p:tag name="KSO_WM_DIAGRAM_VIRTUALLY_FRAME" val="{&amp;quot;height&amp;quot;:353.46,&amp;quot;left&amp;quot;:38.23842519685039,&amp;quot;top&amp;quot;:150.46173228346456,&amp;quot;width&amp;quot;:191.57669291338578}"/>
</p:tagLst>
</file>

<file path=ppt/tags/tag1533.xml><?xml version="1.0" encoding="utf-8"?>
<p:tagLst xmlns:p="http://schemas.openxmlformats.org/presentationml/2006/main">
  <p:tag name="KSO_WM_DIAGRAM_VIRTUALLY_FRAME" val="{&amp;quot;height&amp;quot;:284.1,&amp;quot;left&amp;quot;:536.7,&amp;quot;top&amp;quot;:101.1,&amp;quot;width&amp;quot;:401.2}"/>
</p:tagLst>
</file>

<file path=ppt/tags/tag1534.xml><?xml version="1.0" encoding="utf-8"?>
<p:tagLst xmlns:p="http://schemas.openxmlformats.org/presentationml/2006/main">
  <p:tag name="KSO_WM_DIAGRAM_VIRTUALLY_FRAME" val="{&amp;quot;height&amp;quot;:284.1,&amp;quot;left&amp;quot;:536.7,&amp;quot;top&amp;quot;:101.1,&amp;quot;width&amp;quot;:401.2}"/>
</p:tagLst>
</file>

<file path=ppt/tags/tag1535.xml><?xml version="1.0" encoding="utf-8"?>
<p:tagLst xmlns:p="http://schemas.openxmlformats.org/presentationml/2006/main">
  <p:tag name="KSO_WM_DIAGRAM_VIRTUALLY_FRAME" val="{&amp;quot;height&amp;quot;:234.8035433070866,&amp;quot;left&amp;quot;:578.6375590551181,&amp;quot;top&amp;quot;:138.08858267716533,&amp;quot;width&amp;quot;:304.56614173228354}"/>
</p:tagLst>
</file>

<file path=ppt/tags/tag1536.xml><?xml version="1.0" encoding="utf-8"?>
<p:tagLst xmlns:p="http://schemas.openxmlformats.org/presentationml/2006/main">
  <p:tag name="KSO_WM_DIAGRAM_VIRTUALLY_FRAME" val="{&amp;quot;height&amp;quot;:284.1,&amp;quot;left&amp;quot;:536.7,&amp;quot;top&amp;quot;:101.1,&amp;quot;width&amp;quot;:401.2}"/>
</p:tagLst>
</file>

<file path=ppt/tags/tag1537.xml><?xml version="1.0" encoding="utf-8"?>
<p:tagLst xmlns:p="http://schemas.openxmlformats.org/presentationml/2006/main">
  <p:tag name="KSO_WM_DIAGRAM_VIRTUALLY_FRAME" val="{&amp;quot;height&amp;quot;:284.1,&amp;quot;left&amp;quot;:536.7,&amp;quot;top&amp;quot;:101.1,&amp;quot;width&amp;quot;:401.2}"/>
</p:tagLst>
</file>

<file path=ppt/tags/tag1538.xml><?xml version="1.0" encoding="utf-8"?>
<p:tagLst xmlns:p="http://schemas.openxmlformats.org/presentationml/2006/main">
  <p:tag name="KSO_WM_DIAGRAM_VIRTUALLY_FRAME" val="{&amp;quot;height&amp;quot;:284.1,&amp;quot;left&amp;quot;:536.7,&amp;quot;top&amp;quot;:101.1,&amp;quot;width&amp;quot;:401.2}"/>
</p:tagLst>
</file>

<file path=ppt/tags/tag1539.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540.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541.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542.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543.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544.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545.xml><?xml version="1.0" encoding="utf-8"?>
<p:tagLst xmlns:p="http://schemas.openxmlformats.org/presentationml/2006/main">
  <p:tag name="KSO_WM_DIAGRAM_VIRTUALLY_FRAME" val="{&amp;quot;height&amp;quot;:284.1,&amp;quot;left&amp;quot;:536.7,&amp;quot;top&amp;quot;:101.1,&amp;quot;width&amp;quot;:401.2}"/>
</p:tagLst>
</file>

<file path=ppt/tags/tag1546.xml><?xml version="1.0" encoding="utf-8"?>
<p:tagLst xmlns:p="http://schemas.openxmlformats.org/presentationml/2006/main">
  <p:tag name="KSO_WM_DIAGRAM_VIRTUALLY_FRAME" val="{&amp;quot;height&amp;quot;:284.1,&amp;quot;left&amp;quot;:536.7,&amp;quot;top&amp;quot;:101.1,&amp;quot;width&amp;quot;:401.2}"/>
</p:tagLst>
</file>

<file path=ppt/tags/tag1547.xml><?xml version="1.0" encoding="utf-8"?>
<p:tagLst xmlns:p="http://schemas.openxmlformats.org/presentationml/2006/main">
  <p:tag name="KSO_WM_DIAGRAM_VIRTUALLY_FRAME" val="{&amp;quot;height&amp;quot;:234.8035433070866,&amp;quot;left&amp;quot;:578.6375590551181,&amp;quot;top&amp;quot;:138.08858267716533,&amp;quot;width&amp;quot;:304.56614173228354}"/>
</p:tagLst>
</file>

<file path=ppt/tags/tag1548.xml><?xml version="1.0" encoding="utf-8"?>
<p:tagLst xmlns:p="http://schemas.openxmlformats.org/presentationml/2006/main">
  <p:tag name="KSO_WM_DIAGRAM_VIRTUALLY_FRAME" val="{&amp;quot;height&amp;quot;:284.1,&amp;quot;left&amp;quot;:536.7,&amp;quot;top&amp;quot;:101.1,&amp;quot;width&amp;quot;:401.2}"/>
</p:tagLst>
</file>

<file path=ppt/tags/tag1549.xml><?xml version="1.0" encoding="utf-8"?>
<p:tagLst xmlns:p="http://schemas.openxmlformats.org/presentationml/2006/main">
  <p:tag name="KSO_WM_DIAGRAM_VIRTUALLY_FRAME" val="{&amp;quot;height&amp;quot;:284.1,&amp;quot;left&amp;quot;:536.7,&amp;quot;top&amp;quot;:101.1,&amp;quot;width&amp;quot;:401.2}"/>
</p:tagLst>
</file>

<file path=ppt/tags/tag1550.xml><?xml version="1.0" encoding="utf-8"?>
<p:tagLst xmlns:p="http://schemas.openxmlformats.org/presentationml/2006/main">
  <p:tag name="KSO_WM_DIAGRAM_VIRTUALLY_FRAME" val="{&amp;quot;height&amp;quot;:284.1,&amp;quot;left&amp;quot;:536.7,&amp;quot;top&amp;quot;:101.1,&amp;quot;width&amp;quot;:401.2}"/>
</p:tagLst>
</file>

<file path=ppt/tags/tag1551.xml><?xml version="1.0" encoding="utf-8"?>
<p:tagLst xmlns:p="http://schemas.openxmlformats.org/presentationml/2006/main">
  <p:tag name="KSO_WM_DIAGRAM_VIRTUALLY_FRAME" val="{&amp;quot;height&amp;quot;:284.1,&amp;quot;left&amp;quot;:536.7,&amp;quot;top&amp;quot;:101.1,&amp;quot;width&amp;quot;:401.2}"/>
</p:tagLst>
</file>

<file path=ppt/tags/tag1552.xml><?xml version="1.0" encoding="utf-8"?>
<p:tagLst xmlns:p="http://schemas.openxmlformats.org/presentationml/2006/main">
  <p:tag name="KSO_WM_DIAGRAM_VIRTUALLY_FRAME" val="{&amp;quot;height&amp;quot;:284.1,&amp;quot;left&amp;quot;:536.7,&amp;quot;top&amp;quot;:101.1,&amp;quot;width&amp;quot;:401.2}"/>
</p:tagLst>
</file>

<file path=ppt/tags/tag1553.xml><?xml version="1.0" encoding="utf-8"?>
<p:tagLst xmlns:p="http://schemas.openxmlformats.org/presentationml/2006/main">
  <p:tag name="KSO_WM_DIAGRAM_VIRTUALLY_FRAME" val="{&amp;quot;height&amp;quot;:234.8035433070866,&amp;quot;left&amp;quot;:578.6375590551181,&amp;quot;top&amp;quot;:138.08858267716533,&amp;quot;width&amp;quot;:304.56614173228354}"/>
</p:tagLst>
</file>

<file path=ppt/tags/tag1554.xml><?xml version="1.0" encoding="utf-8"?>
<p:tagLst xmlns:p="http://schemas.openxmlformats.org/presentationml/2006/main">
  <p:tag name="KSO_WM_DIAGRAM_VIRTUALLY_FRAME" val="{&amp;quot;height&amp;quot;:284.1,&amp;quot;left&amp;quot;:536.7,&amp;quot;top&amp;quot;:101.1,&amp;quot;width&amp;quot;:401.2}"/>
</p:tagLst>
</file>

<file path=ppt/tags/tag1555.xml><?xml version="1.0" encoding="utf-8"?>
<p:tagLst xmlns:p="http://schemas.openxmlformats.org/presentationml/2006/main">
  <p:tag name="KSO_WM_DIAGRAM_VIRTUALLY_FRAME" val="{&amp;quot;height&amp;quot;:284.1,&amp;quot;left&amp;quot;:536.7,&amp;quot;top&amp;quot;:101.1,&amp;quot;width&amp;quot;:401.2}"/>
</p:tagLst>
</file>

<file path=ppt/tags/tag1556.xml><?xml version="1.0" encoding="utf-8"?>
<p:tagLst xmlns:p="http://schemas.openxmlformats.org/presentationml/2006/main">
  <p:tag name="KSO_WM_DIAGRAM_VIRTUALLY_FRAME" val="{&amp;quot;height&amp;quot;:284.1,&amp;quot;left&amp;quot;:536.7,&amp;quot;top&amp;quot;:101.1,&amp;quot;width&amp;quot;:401.2}"/>
</p:tagLst>
</file>

<file path=ppt/tags/tag1557.xml><?xml version="1.0" encoding="utf-8"?>
<p:tagLst xmlns:p="http://schemas.openxmlformats.org/presentationml/2006/main">
  <p:tag name="KSO_WM_UNIT_TEXT_FILL_FORE_SCHEMECOLOR_INDEX_BRIGHTNESS" val="0"/>
  <p:tag name="KSO_WM_UNIT_TEXT_FILL_FORE_SCHEMECOLOR_INDEX" val="5"/>
  <p:tag name="KSO_WM_UNIT_TEXT_FILL_TYPE" val="1"/>
  <p:tag name="KSO_WM_DIAGRAM_VIRTUALLY_FRAME" val="{&amp;quot;height&amp;quot;:284.1,&amp;quot;left&amp;quot;:536.7,&amp;quot;top&amp;quot;:101.1,&amp;quot;width&amp;quot;:401.2}"/>
</p:tagLst>
</file>

<file path=ppt/tags/tag1558.xml><?xml version="1.0" encoding="utf-8"?>
<p:tagLst xmlns:p="http://schemas.openxmlformats.org/presentationml/2006/main">
  <p:tag name="KSO_WM_UNIT_TEXT_FILL_FORE_SCHEMECOLOR_INDEX_BRIGHTNESS" val="0"/>
  <p:tag name="KSO_WM_UNIT_TEXT_FILL_FORE_SCHEMECOLOR_INDEX" val="5"/>
  <p:tag name="KSO_WM_UNIT_TEXT_FILL_TYPE" val="1"/>
  <p:tag name="KSO_WM_DIAGRAM_VIRTUALLY_FRAME" val="{&amp;quot;height&amp;quot;:284.1,&amp;quot;left&amp;quot;:536.7,&amp;quot;top&amp;quot;:101.1,&amp;quot;width&amp;quot;:401.2}"/>
</p:tagLst>
</file>

<file path=ppt/tags/tag1559.xml><?xml version="1.0" encoding="utf-8"?>
<p:tagLst xmlns:p="http://schemas.openxmlformats.org/presentationml/2006/main">
  <p:tag name="KSO_WM_UNIT_TEXT_FILL_FORE_SCHEMECOLOR_INDEX_BRIGHTNESS" val="0"/>
  <p:tag name="KSO_WM_UNIT_TEXT_FILL_FORE_SCHEMECOLOR_INDEX" val="5"/>
  <p:tag name="KSO_WM_UNIT_TEXT_FILL_TYPE" val="1"/>
  <p:tag name="KSO_WM_DIAGRAM_VIRTUALLY_FRAME" val="{&amp;quot;height&amp;quot;:284.1,&amp;quot;left&amp;quot;:536.7,&amp;quot;top&amp;quot;:101.1,&amp;quot;width&amp;quot;:401.2}"/>
</p:tagLst>
</file>

<file path=ppt/tags/tag1560.xml><?xml version="1.0" encoding="utf-8"?>
<p:tagLst xmlns:p="http://schemas.openxmlformats.org/presentationml/2006/main">
  <p:tag name="KSO_WM_DIAGRAM_VIRTUALLY_FRAME" val="{&amp;quot;height&amp;quot;:365,&amp;quot;left&amp;quot;:72.55,&amp;quot;top&amp;quot;:431.05,&amp;quot;width&amp;quot;:816.25}"/>
</p:tagLst>
</file>

<file path=ppt/tags/tag1561.xml><?xml version="1.0" encoding="utf-8"?>
<p:tagLst xmlns:p="http://schemas.openxmlformats.org/presentationml/2006/main">
  <p:tag name="KSO_WM_DIAGRAM_VIRTUALLY_FRAME" val="{&amp;quot;height&amp;quot;:365,&amp;quot;left&amp;quot;:72.55,&amp;quot;top&amp;quot;:431.05,&amp;quot;width&amp;quot;:816.25}"/>
</p:tagLst>
</file>

<file path=ppt/tags/tag1562.xml><?xml version="1.0" encoding="utf-8"?>
<p:tagLst xmlns:p="http://schemas.openxmlformats.org/presentationml/2006/main">
  <p:tag name="KSO_WM_DIAGRAM_VIRTUALLY_FRAME" val="{&amp;quot;height&amp;quot;:365,&amp;quot;left&amp;quot;:72.55,&amp;quot;top&amp;quot;:431.05,&amp;quot;width&amp;quot;:816.25}"/>
</p:tagLst>
</file>

<file path=ppt/tags/tag1563.xml><?xml version="1.0" encoding="utf-8"?>
<p:tagLst xmlns:p="http://schemas.openxmlformats.org/presentationml/2006/main">
  <p:tag name="KSO_WM_DIAGRAM_VIRTUALLY_FRAME" val="{&amp;quot;height&amp;quot;:365,&amp;quot;left&amp;quot;:72.55,&amp;quot;top&amp;quot;:431.05,&amp;quot;width&amp;quot;:816.25}"/>
</p:tagLst>
</file>

<file path=ppt/tags/tag1564.xml><?xml version="1.0" encoding="utf-8"?>
<p:tagLst xmlns:p="http://schemas.openxmlformats.org/presentationml/2006/main">
  <p:tag name="KSO_WM_DIAGRAM_VIRTUALLY_FRAME" val="{&amp;quot;height&amp;quot;:365,&amp;quot;left&amp;quot;:72.55,&amp;quot;top&amp;quot;:431.05,&amp;quot;width&amp;quot;:816.25}"/>
</p:tagLst>
</file>

<file path=ppt/tags/tag1565.xml><?xml version="1.0" encoding="utf-8"?>
<p:tagLst xmlns:p="http://schemas.openxmlformats.org/presentationml/2006/main">
  <p:tag name="KSO_WM_DIAGRAM_VIRTUALLY_FRAME" val="{&amp;quot;height&amp;quot;:365,&amp;quot;left&amp;quot;:72.55,&amp;quot;top&amp;quot;:431.05,&amp;quot;width&amp;quot;:816.25}"/>
</p:tagLst>
</file>

<file path=ppt/tags/tag1566.xml><?xml version="1.0" encoding="utf-8"?>
<p:tagLst xmlns:p="http://schemas.openxmlformats.org/presentationml/2006/main">
  <p:tag name="KSO_WM_DIAGRAM_VIRTUALLY_FRAME" val="{&amp;quot;height&amp;quot;:365,&amp;quot;left&amp;quot;:72.55,&amp;quot;top&amp;quot;:431.05,&amp;quot;width&amp;quot;:816.25}"/>
</p:tagLst>
</file>

<file path=ppt/tags/tag1567.xml><?xml version="1.0" encoding="utf-8"?>
<p:tagLst xmlns:p="http://schemas.openxmlformats.org/presentationml/2006/main">
  <p:tag name="KSO_WM_DIAGRAM_VIRTUALLY_FRAME" val="{&amp;quot;height&amp;quot;:365,&amp;quot;left&amp;quot;:72.55,&amp;quot;top&amp;quot;:431.05,&amp;quot;width&amp;quot;:816.25}"/>
</p:tagLst>
</file>

<file path=ppt/tags/tag1568.xml><?xml version="1.0" encoding="utf-8"?>
<p:tagLst xmlns:p="http://schemas.openxmlformats.org/presentationml/2006/main">
  <p:tag name="TEXTZ '" val="-2.147484E+09"/>
  <p:tag name="SHADOWSIZE" val="100"/>
</p:tagLst>
</file>

<file path=ppt/tags/tag1569.xml><?xml version="1.0" encoding="utf-8"?>
<p:tagLst xmlns:p="http://schemas.openxmlformats.org/presentationml/2006/main">
  <p:tag name="KSO_WM_DIAGRAM_VIRTUALLY_FRAME" val="{&amp;quot;height&amp;quot;:440.05,&amp;quot;left&amp;quot;:156.9,&amp;quot;top&amp;quot;:396.15,&amp;quot;width&amp;quot;:627.7}"/>
</p:tagLst>
</file>

<file path=ppt/tags/tag1570.xml><?xml version="1.0" encoding="utf-8"?>
<p:tagLst xmlns:p="http://schemas.openxmlformats.org/presentationml/2006/main">
  <p:tag name="KSO_WM_DIAGRAM_VIRTUALLY_FRAME" val="{&amp;quot;height&amp;quot;:440.05,&amp;quot;left&amp;quot;:156.9,&amp;quot;top&amp;quot;:396.15,&amp;quot;width&amp;quot;:627.7}"/>
</p:tagLst>
</file>

<file path=ppt/tags/tag1571.xml><?xml version="1.0" encoding="utf-8"?>
<p:tagLst xmlns:p="http://schemas.openxmlformats.org/presentationml/2006/main">
  <p:tag name="KSO_WM_DIAGRAM_VIRTUALLY_FRAME" val="{&amp;quot;height&amp;quot;:440.05,&amp;quot;left&amp;quot;:156.9,&amp;quot;top&amp;quot;:396.15,&amp;quot;width&amp;quot;:627.7}"/>
</p:tagLst>
</file>

<file path=ppt/tags/tag1572.xml><?xml version="1.0" encoding="utf-8"?>
<p:tagLst xmlns:p="http://schemas.openxmlformats.org/presentationml/2006/main">
  <p:tag name="KSO_WM_DIAGRAM_VIRTUALLY_FRAME" val="{&amp;quot;height&amp;quot;:440.05,&amp;quot;left&amp;quot;:156.9,&amp;quot;top&amp;quot;:396.15,&amp;quot;width&amp;quot;:627.7}"/>
</p:tagLst>
</file>

<file path=ppt/tags/tag1573.xml><?xml version="1.0" encoding="utf-8"?>
<p:tagLst xmlns:p="http://schemas.openxmlformats.org/presentationml/2006/main">
  <p:tag name="KSO_WM_DIAGRAM_VIRTUALLY_FRAME" val="{&amp;quot;height&amp;quot;:440.05,&amp;quot;left&amp;quot;:156.9,&amp;quot;top&amp;quot;:396.15,&amp;quot;width&amp;quot;:627.7}"/>
</p:tagLst>
</file>

<file path=ppt/tags/tag1574.xml><?xml version="1.0" encoding="utf-8"?>
<p:tagLst xmlns:p="http://schemas.openxmlformats.org/presentationml/2006/main">
  <p:tag name="KSO_WM_DIAGRAM_VIRTUALLY_FRAME" val="{&amp;quot;height&amp;quot;:440.05,&amp;quot;left&amp;quot;:156.9,&amp;quot;top&amp;quot;:396.15,&amp;quot;width&amp;quot;:627.7}"/>
</p:tagLst>
</file>

<file path=ppt/tags/tag1575.xml><?xml version="1.0" encoding="utf-8"?>
<p:tagLst xmlns:p="http://schemas.openxmlformats.org/presentationml/2006/main">
  <p:tag name="KSO_WM_DIAGRAM_VIRTUALLY_FRAME" val="{&amp;quot;height&amp;quot;:440.05,&amp;quot;left&amp;quot;:156.9,&amp;quot;top&amp;quot;:396.15,&amp;quot;width&amp;quot;:627.7}"/>
</p:tagLst>
</file>

<file path=ppt/tags/tag1576.xml><?xml version="1.0" encoding="utf-8"?>
<p:tagLst xmlns:p="http://schemas.openxmlformats.org/presentationml/2006/main">
  <p:tag name="KSO_WM_DIAGRAM_VIRTUALLY_FRAME" val="{&amp;quot;height&amp;quot;:440.05,&amp;quot;left&amp;quot;:156.9,&amp;quot;top&amp;quot;:396.15,&amp;quot;width&amp;quot;:627.7}"/>
</p:tagLst>
</file>

<file path=ppt/tags/tag1577.xml><?xml version="1.0" encoding="utf-8"?>
<p:tagLst xmlns:p="http://schemas.openxmlformats.org/presentationml/2006/main">
  <p:tag name="KSO_WM_DIAGRAM_VIRTUALLY_FRAME" val="{&amp;quot;height&amp;quot;:440.05,&amp;quot;left&amp;quot;:156.9,&amp;quot;top&amp;quot;:396.15,&amp;quot;width&amp;quot;:627.7}"/>
</p:tagLst>
</file>

<file path=ppt/tags/tag1578.xml><?xml version="1.0" encoding="utf-8"?>
<p:tagLst xmlns:p="http://schemas.openxmlformats.org/presentationml/2006/main">
  <p:tag name="KSO_WM_DIAGRAM_VIRTUALLY_FRAME" val="{&amp;quot;height&amp;quot;:440.05,&amp;quot;left&amp;quot;:156.9,&amp;quot;top&amp;quot;:396.15,&amp;quot;width&amp;quot;:627.7}"/>
</p:tagLst>
</file>

<file path=ppt/tags/tag1579.xml><?xml version="1.0" encoding="utf-8"?>
<p:tagLst xmlns:p="http://schemas.openxmlformats.org/presentationml/2006/main">
  <p:tag name="KSO_WM_DIAGRAM_VIRTUALLY_FRAME" val="{&amp;quot;height&amp;quot;:440.05,&amp;quot;left&amp;quot;:156.9,&amp;quot;top&amp;quot;:396.15,&amp;quot;width&amp;quot;:627.7}"/>
</p:tagLst>
</file>

<file path=ppt/tags/tag1580.xml><?xml version="1.0" encoding="utf-8"?>
<p:tagLst xmlns:p="http://schemas.openxmlformats.org/presentationml/2006/main">
  <p:tag name="KSO_WM_DIAGRAM_VIRTUALLY_FRAME" val="{&amp;quot;height&amp;quot;:440.05,&amp;quot;left&amp;quot;:156.9,&amp;quot;top&amp;quot;:396.15,&amp;quot;width&amp;quot;:627.7}"/>
</p:tagLst>
</file>

<file path=ppt/tags/tag1581.xml><?xml version="1.0" encoding="utf-8"?>
<p:tagLst xmlns:p="http://schemas.openxmlformats.org/presentationml/2006/main">
  <p:tag name="KSO_WM_DIAGRAM_VIRTUALLY_FRAME" val="{&amp;quot;height&amp;quot;:440.05,&amp;quot;left&amp;quot;:156.9,&amp;quot;top&amp;quot;:396.15,&amp;quot;width&amp;quot;:627.7}"/>
</p:tagLst>
</file>

<file path=ppt/tags/tag1582.xml><?xml version="1.0" encoding="utf-8"?>
<p:tagLst xmlns:p="http://schemas.openxmlformats.org/presentationml/2006/main">
  <p:tag name="KSO_WM_DIAGRAM_VIRTUALLY_FRAME" val="{&amp;quot;height&amp;quot;:440.05,&amp;quot;left&amp;quot;:156.9,&amp;quot;top&amp;quot;:396.15,&amp;quot;width&amp;quot;:627.7}"/>
</p:tagLst>
</file>

<file path=ppt/tags/tag1583.xml><?xml version="1.0" encoding="utf-8"?>
<p:tagLst xmlns:p="http://schemas.openxmlformats.org/presentationml/2006/main">
  <p:tag name="KSO_WM_DIAGRAM_VIRTUALLY_FRAME" val="{&amp;quot;height&amp;quot;:440.05,&amp;quot;left&amp;quot;:156.9,&amp;quot;top&amp;quot;:396.15,&amp;quot;width&amp;quot;:627.7}"/>
</p:tagLst>
</file>

<file path=ppt/tags/tag1584.xml><?xml version="1.0" encoding="utf-8"?>
<p:tagLst xmlns:p="http://schemas.openxmlformats.org/presentationml/2006/main">
  <p:tag name="KSO_WM_DIAGRAM_VIRTUALLY_FRAME" val="{&amp;quot;height&amp;quot;:440.05,&amp;quot;left&amp;quot;:156.9,&amp;quot;top&amp;quot;:396.15,&amp;quot;width&amp;quot;:627.7}"/>
</p:tagLst>
</file>

<file path=ppt/tags/tag1585.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86.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87.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88.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89.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0.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1.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2.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3.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4.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5.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6.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7.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8.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599.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600.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601.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602.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603.xml><?xml version="1.0" encoding="utf-8"?>
<p:tagLst xmlns:p="http://schemas.openxmlformats.org/presentationml/2006/main">
  <p:tag name="KSO_WM_DIAGRAM_VIRTUALLY_FRAME" val="{&amp;quot;height&amp;quot;:446.3427847784018,&amp;quot;left&amp;quot;:232.24262371839396,&amp;quot;top&amp;quot;:77.85721522159824,&amp;quot;width&amp;quot;:505.93474074241533}"/>
</p:tagLst>
</file>

<file path=ppt/tags/tag160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0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0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0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0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0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0.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1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0.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2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0.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3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0.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4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0.xml><?xml version="1.0" encoding="utf-8"?>
<p:tagLst xmlns:p="http://schemas.openxmlformats.org/presentationml/2006/main">
  <p:tag name="KSO_WM_DIAGRAM_VIRTUALLY_FRAME" val="{&amp;quot;height&amp;quot;:378.468188976378,&amp;quot;left&amp;quot;:23.343937007874,&amp;quot;top&amp;quot;:112.17472440944883,&amp;quot;width&amp;quot;:909.498031496063}"/>
</p:tagLst>
</file>

<file path=ppt/tags/tag165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5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0.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6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0.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5.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6.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7.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8.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79.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80.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81.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82.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83.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84.xml><?xml version="1.0" encoding="utf-8"?>
<p:tagLst xmlns:p="http://schemas.openxmlformats.org/presentationml/2006/main">
  <p:tag name="KSO_WM_DIAGRAM_VIRTUALLY_FRAME" val="{&amp;quot;height&amp;quot;:605.1125984251969,&amp;quot;left&amp;quot;:23.343937007874,&amp;quot;top&amp;quot;:-114.46968503937009,&amp;quot;width&amp;quot;:909.498031496063}"/>
</p:tagLst>
</file>

<file path=ppt/tags/tag1685.xml><?xml version="1.0" encoding="utf-8"?>
<p:tagLst xmlns:p="http://schemas.openxmlformats.org/presentationml/2006/main">
  <p:tag name="ADJUSTMENTS" val="73.02477"/>
</p:tagLst>
</file>

<file path=ppt/tags/tag1686.xml><?xml version="1.0" encoding="utf-8"?>
<p:tagLst xmlns:p="http://schemas.openxmlformats.org/presentationml/2006/main">
  <p:tag name="KSO_WM_DIAGRAM_VIRTUALLY_FRAME" val="{&amp;quot;height&amp;quot;:430.8,&amp;quot;left&amp;quot;:7.1,&amp;quot;top&amp;quot;:90.8,&amp;quot;width&amp;quot;:944.7}"/>
</p:tagLst>
</file>

<file path=ppt/tags/tag1687.xml><?xml version="1.0" encoding="utf-8"?>
<p:tagLst xmlns:p="http://schemas.openxmlformats.org/presentationml/2006/main">
  <p:tag name="KSO_WM_DIAGRAM_VIRTUALLY_FRAME" val="{&amp;quot;height&amp;quot;:430.8,&amp;quot;left&amp;quot;:7.1,&amp;quot;top&amp;quot;:90.8,&amp;quot;width&amp;quot;:944.7}"/>
</p:tagLst>
</file>

<file path=ppt/tags/tag1688.xml><?xml version="1.0" encoding="utf-8"?>
<p:tagLst xmlns:p="http://schemas.openxmlformats.org/presentationml/2006/main">
  <p:tag name="KSO_WM_DIAGRAM_VIRTUALLY_FRAME" val="{&amp;quot;height&amp;quot;:430.8,&amp;quot;left&amp;quot;:7.1,&amp;quot;top&amp;quot;:90.8,&amp;quot;width&amp;quot;:944.7}"/>
</p:tagLst>
</file>

<file path=ppt/tags/tag1689.xml><?xml version="1.0" encoding="utf-8"?>
<p:tagLst xmlns:p="http://schemas.openxmlformats.org/presentationml/2006/main">
  <p:tag name="KSO_WM_DIAGRAM_VIRTUALLY_FRAME" val="{&amp;quot;height&amp;quot;:430.8,&amp;quot;left&amp;quot;:7.1,&amp;quot;top&amp;quot;:90.8,&amp;quot;width&amp;quot;:944.7}"/>
</p:tagLst>
</file>

<file path=ppt/tags/tag1690.xml><?xml version="1.0" encoding="utf-8"?>
<p:tagLst xmlns:p="http://schemas.openxmlformats.org/presentationml/2006/main">
  <p:tag name="KSO_WM_DIAGRAM_VIRTUALLY_FRAME" val="{&amp;quot;height&amp;quot;:430.8,&amp;quot;left&amp;quot;:7.1,&amp;quot;top&amp;quot;:90.8,&amp;quot;width&amp;quot;:944.7}"/>
</p:tagLst>
</file>

<file path=ppt/tags/tag1691.xml><?xml version="1.0" encoding="utf-8"?>
<p:tagLst xmlns:p="http://schemas.openxmlformats.org/presentationml/2006/main">
  <p:tag name="KSO_WM_DIAGRAM_VIRTUALLY_FRAME" val="{&amp;quot;height&amp;quot;:430.8,&amp;quot;left&amp;quot;:7.1,&amp;quot;top&amp;quot;:90.8,&amp;quot;width&amp;quot;:944.7}"/>
</p:tagLst>
</file>

<file path=ppt/tags/tag1692.xml><?xml version="1.0" encoding="utf-8"?>
<p:tagLst xmlns:p="http://schemas.openxmlformats.org/presentationml/2006/main">
  <p:tag name="KSO_WM_DIAGRAM_VIRTUALLY_FRAME" val="{&amp;quot;height&amp;quot;:430.8,&amp;quot;left&amp;quot;:7.1,&amp;quot;top&amp;quot;:90.8,&amp;quot;width&amp;quot;:944.7}"/>
</p:tagLst>
</file>

<file path=ppt/tags/tag1693.xml><?xml version="1.0" encoding="utf-8"?>
<p:tagLst xmlns:p="http://schemas.openxmlformats.org/presentationml/2006/main">
  <p:tag name="KSO_WM_DIAGRAM_VIRTUALLY_FRAME" val="{&amp;quot;height&amp;quot;:430.8,&amp;quot;left&amp;quot;:7.1,&amp;quot;top&amp;quot;:90.8,&amp;quot;width&amp;quot;:944.7}"/>
</p:tagLst>
</file>

<file path=ppt/tags/tag1694.xml><?xml version="1.0" encoding="utf-8"?>
<p:tagLst xmlns:p="http://schemas.openxmlformats.org/presentationml/2006/main">
  <p:tag name="KSO_WM_DIAGRAM_VIRTUALLY_FRAME" val="{&amp;quot;height&amp;quot;:430.8,&amp;quot;left&amp;quot;:7.1,&amp;quot;top&amp;quot;:90.8,&amp;quot;width&amp;quot;:944.7}"/>
</p:tagLst>
</file>

<file path=ppt/tags/tag1695.xml><?xml version="1.0" encoding="utf-8"?>
<p:tagLst xmlns:p="http://schemas.openxmlformats.org/presentationml/2006/main">
  <p:tag name="KSO_WM_DIAGRAM_VIRTUALLY_FRAME" val="{&amp;quot;height&amp;quot;:430.8,&amp;quot;left&amp;quot;:7.1,&amp;quot;top&amp;quot;:90.8,&amp;quot;width&amp;quot;:944.7}"/>
</p:tagLst>
</file>

<file path=ppt/tags/tag1696.xml><?xml version="1.0" encoding="utf-8"?>
<p:tagLst xmlns:p="http://schemas.openxmlformats.org/presentationml/2006/main">
  <p:tag name="KSO_WM_DIAGRAM_VIRTUALLY_FRAME" val="{&amp;quot;height&amp;quot;:430.8,&amp;quot;left&amp;quot;:7.1,&amp;quot;top&amp;quot;:90.8,&amp;quot;width&amp;quot;:944.7}"/>
</p:tagLst>
</file>

<file path=ppt/tags/tag1697.xml><?xml version="1.0" encoding="utf-8"?>
<p:tagLst xmlns:p="http://schemas.openxmlformats.org/presentationml/2006/main">
  <p:tag name="KSO_WM_DIAGRAM_VIRTUALLY_FRAME" val="{&amp;quot;height&amp;quot;:430.8,&amp;quot;left&amp;quot;:7.1,&amp;quot;top&amp;quot;:90.8,&amp;quot;width&amp;quot;:944.7}"/>
</p:tagLst>
</file>

<file path=ppt/tags/tag1698.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699.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00.xml><?xml version="1.0" encoding="utf-8"?>
<p:tagLst xmlns:p="http://schemas.openxmlformats.org/presentationml/2006/main">
  <p:tag name="KSO_WM_DIAGRAM_VIRTUALLY_FRAME" val="{&amp;quot;height&amp;quot;:430.8,&amp;quot;left&amp;quot;:7.1,&amp;quot;top&amp;quot;:90.8,&amp;quot;width&amp;quot;:944.7}"/>
</p:tagLst>
</file>

<file path=ppt/tags/tag1701.xml><?xml version="1.0" encoding="utf-8"?>
<p:tagLst xmlns:p="http://schemas.openxmlformats.org/presentationml/2006/main">
  <p:tag name="KSO_WM_DIAGRAM_VIRTUALLY_FRAME" val="{&amp;quot;height&amp;quot;:430.8,&amp;quot;left&amp;quot;:7.1,&amp;quot;top&amp;quot;:90.8,&amp;quot;width&amp;quot;:944.7}"/>
</p:tagLst>
</file>

<file path=ppt/tags/tag1702.xml><?xml version="1.0" encoding="utf-8"?>
<p:tagLst xmlns:p="http://schemas.openxmlformats.org/presentationml/2006/main">
  <p:tag name="KSO_WM_DIAGRAM_VIRTUALLY_FRAME" val="{&amp;quot;height&amp;quot;:430.8,&amp;quot;left&amp;quot;:7.1,&amp;quot;top&amp;quot;:90.8,&amp;quot;width&amp;quot;:944.7}"/>
</p:tagLst>
</file>

<file path=ppt/tags/tag1703.xml><?xml version="1.0" encoding="utf-8"?>
<p:tagLst xmlns:p="http://schemas.openxmlformats.org/presentationml/2006/main">
  <p:tag name="KSO_WM_DIAGRAM_VIRTUALLY_FRAME" val="{&amp;quot;height&amp;quot;:430.8,&amp;quot;left&amp;quot;:7.1,&amp;quot;top&amp;quot;:90.8,&amp;quot;width&amp;quot;:944.7}"/>
</p:tagLst>
</file>

<file path=ppt/tags/tag1704.xml><?xml version="1.0" encoding="utf-8"?>
<p:tagLst xmlns:p="http://schemas.openxmlformats.org/presentationml/2006/main">
  <p:tag name="KSO_WM_DIAGRAM_VIRTUALLY_FRAME" val="{&amp;quot;height&amp;quot;:430.8,&amp;quot;left&amp;quot;:7.1,&amp;quot;top&amp;quot;:90.8,&amp;quot;width&amp;quot;:944.7}"/>
</p:tagLst>
</file>

<file path=ppt/tags/tag1705.xml><?xml version="1.0" encoding="utf-8"?>
<p:tagLst xmlns:p="http://schemas.openxmlformats.org/presentationml/2006/main">
  <p:tag name="KSO_WM_DIAGRAM_VIRTUALLY_FRAME" val="{&amp;quot;height&amp;quot;:430.8,&amp;quot;left&amp;quot;:7.1,&amp;quot;top&amp;quot;:90.8,&amp;quot;width&amp;quot;:944.7}"/>
</p:tagLst>
</file>

<file path=ppt/tags/tag1706.xml><?xml version="1.0" encoding="utf-8"?>
<p:tagLst xmlns:p="http://schemas.openxmlformats.org/presentationml/2006/main">
  <p:tag name="KSO_WM_DIAGRAM_VIRTUALLY_FRAME" val="{&amp;quot;height&amp;quot;:430.8,&amp;quot;left&amp;quot;:7.1,&amp;quot;top&amp;quot;:90.8,&amp;quot;width&amp;quot;:944.7}"/>
</p:tagLst>
</file>

<file path=ppt/tags/tag1707.xml><?xml version="1.0" encoding="utf-8"?>
<p:tagLst xmlns:p="http://schemas.openxmlformats.org/presentationml/2006/main">
  <p:tag name="KSO_WM_DIAGRAM_VIRTUALLY_FRAME" val="{&amp;quot;height&amp;quot;:430.8,&amp;quot;left&amp;quot;:7.1,&amp;quot;top&amp;quot;:90.8,&amp;quot;width&amp;quot;:944.7}"/>
</p:tagLst>
</file>

<file path=ppt/tags/tag1708.xml><?xml version="1.0" encoding="utf-8"?>
<p:tagLst xmlns:p="http://schemas.openxmlformats.org/presentationml/2006/main">
  <p:tag name="KSO_WM_DIAGRAM_VIRTUALLY_FRAME" val="{&amp;quot;height&amp;quot;:430.8,&amp;quot;left&amp;quot;:7.1,&amp;quot;top&amp;quot;:90.8,&amp;quot;width&amp;quot;:944.7}"/>
</p:tagLst>
</file>

<file path=ppt/tags/tag1709.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10.xml><?xml version="1.0" encoding="utf-8"?>
<p:tagLst xmlns:p="http://schemas.openxmlformats.org/presentationml/2006/main">
  <p:tag name="KSO_WM_DIAGRAM_VIRTUALLY_FRAME" val="{&amp;quot;height&amp;quot;:430.8,&amp;quot;left&amp;quot;:7.1,&amp;quot;top&amp;quot;:90.8,&amp;quot;width&amp;quot;:944.7}"/>
</p:tagLst>
</file>

<file path=ppt/tags/tag1711.xml><?xml version="1.0" encoding="utf-8"?>
<p:tagLst xmlns:p="http://schemas.openxmlformats.org/presentationml/2006/main">
  <p:tag name="KSO_WM_DIAGRAM_VIRTUALLY_FRAME" val="{&amp;quot;height&amp;quot;:430.8,&amp;quot;left&amp;quot;:7.1,&amp;quot;top&amp;quot;:90.8,&amp;quot;width&amp;quot;:944.7}"/>
</p:tagLst>
</file>

<file path=ppt/tags/tag1712.xml><?xml version="1.0" encoding="utf-8"?>
<p:tagLst xmlns:p="http://schemas.openxmlformats.org/presentationml/2006/main">
  <p:tag name="KSO_WM_DIAGRAM_VIRTUALLY_FRAME" val="{&amp;quot;height&amp;quot;:430.8,&amp;quot;left&amp;quot;:7.1,&amp;quot;top&amp;quot;:90.8,&amp;quot;width&amp;quot;:944.7}"/>
</p:tagLst>
</file>

<file path=ppt/tags/tag1713.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14.xml><?xml version="1.0" encoding="utf-8"?>
<p:tagLst xmlns:p="http://schemas.openxmlformats.org/presentationml/2006/main">
  <p:tag name="KSO_WM_DIAGRAM_VIRTUALLY_FRAME" val="{&amp;quot;height&amp;quot;:430.8,&amp;quot;left&amp;quot;:7.1,&amp;quot;top&amp;quot;:90.8,&amp;quot;width&amp;quot;:944.7}"/>
</p:tagLst>
</file>

<file path=ppt/tags/tag1715.xml><?xml version="1.0" encoding="utf-8"?>
<p:tagLst xmlns:p="http://schemas.openxmlformats.org/presentationml/2006/main">
  <p:tag name="KSO_WM_DIAGRAM_VIRTUALLY_FRAME" val="{&amp;quot;height&amp;quot;:430.8,&amp;quot;left&amp;quot;:7.1,&amp;quot;top&amp;quot;:90.8,&amp;quot;width&amp;quot;:944.7}"/>
</p:tagLst>
</file>

<file path=ppt/tags/tag1716.xml><?xml version="1.0" encoding="utf-8"?>
<p:tagLst xmlns:p="http://schemas.openxmlformats.org/presentationml/2006/main">
  <p:tag name="KSO_WM_DIAGRAM_VIRTUALLY_FRAME" val="{&amp;quot;height&amp;quot;:430.8,&amp;quot;left&amp;quot;:7.1,&amp;quot;top&amp;quot;:90.8,&amp;quot;width&amp;quot;:944.7}"/>
</p:tagLst>
</file>

<file path=ppt/tags/tag1717.xml><?xml version="1.0" encoding="utf-8"?>
<p:tagLst xmlns:p="http://schemas.openxmlformats.org/presentationml/2006/main">
  <p:tag name="KSO_WM_DIAGRAM_VIRTUALLY_FRAME" val="{&amp;quot;height&amp;quot;:430.8,&amp;quot;left&amp;quot;:7.1,&amp;quot;top&amp;quot;:90.8,&amp;quot;width&amp;quot;:944.7}"/>
</p:tagLst>
</file>

<file path=ppt/tags/tag1718.xml><?xml version="1.0" encoding="utf-8"?>
<p:tagLst xmlns:p="http://schemas.openxmlformats.org/presentationml/2006/main">
  <p:tag name="KSO_WM_DIAGRAM_VIRTUALLY_FRAME" val="{&amp;quot;height&amp;quot;:430.8,&amp;quot;left&amp;quot;:7.1,&amp;quot;top&amp;quot;:90.8,&amp;quot;width&amp;quot;:944.7}"/>
</p:tagLst>
</file>

<file path=ppt/tags/tag1719.xml><?xml version="1.0" encoding="utf-8"?>
<p:tagLst xmlns:p="http://schemas.openxmlformats.org/presentationml/2006/main">
  <p:tag name="KSO_WM_DIAGRAM_VIRTUALLY_FRAME" val="{&amp;quot;height&amp;quot;:430.8,&amp;quot;left&amp;quot;:7.1,&amp;quot;top&amp;quot;:90.8,&amp;quot;width&amp;quot;:944.7}"/>
</p:tagLst>
</file>

<file path=ppt/tags/tag1720.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21.xml><?xml version="1.0" encoding="utf-8"?>
<p:tagLst xmlns:p="http://schemas.openxmlformats.org/presentationml/2006/main">
  <p:tag name="KSO_WM_DIAGRAM_VIRTUALLY_FRAME" val="{&amp;quot;height&amp;quot;:430.8,&amp;quot;left&amp;quot;:7.1,&amp;quot;top&amp;quot;:90.8,&amp;quot;width&amp;quot;:944.7}"/>
</p:tagLst>
</file>

<file path=ppt/tags/tag1722.xml><?xml version="1.0" encoding="utf-8"?>
<p:tagLst xmlns:p="http://schemas.openxmlformats.org/presentationml/2006/main">
  <p:tag name="KSO_WM_DIAGRAM_VIRTUALLY_FRAME" val="{&amp;quot;height&amp;quot;:430.8,&amp;quot;left&amp;quot;:7.1,&amp;quot;top&amp;quot;:90.8,&amp;quot;width&amp;quot;:944.7}"/>
</p:tagLst>
</file>

<file path=ppt/tags/tag1723.xml><?xml version="1.0" encoding="utf-8"?>
<p:tagLst xmlns:p="http://schemas.openxmlformats.org/presentationml/2006/main">
  <p:tag name="KSO_WM_DIAGRAM_VIRTUALLY_FRAME" val="{&amp;quot;height&amp;quot;:430.8,&amp;quot;left&amp;quot;:7.1,&amp;quot;top&amp;quot;:90.8,&amp;quot;width&amp;quot;:944.7}"/>
</p:tagLst>
</file>

<file path=ppt/tags/tag1724.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25.xml><?xml version="1.0" encoding="utf-8"?>
<p:tagLst xmlns:p="http://schemas.openxmlformats.org/presentationml/2006/main">
  <p:tag name="KSO_WM_DIAGRAM_VIRTUALLY_FRAME" val="{&amp;quot;height&amp;quot;:430.8,&amp;quot;left&amp;quot;:7.1,&amp;quot;top&amp;quot;:90.8,&amp;quot;width&amp;quot;:944.7}"/>
</p:tagLst>
</file>

<file path=ppt/tags/tag1726.xml><?xml version="1.0" encoding="utf-8"?>
<p:tagLst xmlns:p="http://schemas.openxmlformats.org/presentationml/2006/main">
  <p:tag name="KSO_WM_DIAGRAM_VIRTUALLY_FRAME" val="{&amp;quot;height&amp;quot;:430.8,&amp;quot;left&amp;quot;:7.1,&amp;quot;top&amp;quot;:90.8,&amp;quot;width&amp;quot;:944.7}"/>
</p:tagLst>
</file>

<file path=ppt/tags/tag1727.xml><?xml version="1.0" encoding="utf-8"?>
<p:tagLst xmlns:p="http://schemas.openxmlformats.org/presentationml/2006/main">
  <p:tag name="KSO_WM_DIAGRAM_VIRTUALLY_FRAME" val="{&amp;quot;height&amp;quot;:430.8,&amp;quot;left&amp;quot;:7.1,&amp;quot;top&amp;quot;:90.8,&amp;quot;width&amp;quot;:944.7}"/>
</p:tagLst>
</file>

<file path=ppt/tags/tag1728.xml><?xml version="1.0" encoding="utf-8"?>
<p:tagLst xmlns:p="http://schemas.openxmlformats.org/presentationml/2006/main">
  <p:tag name="KSO_WM_DIAGRAM_VIRTUALLY_FRAME" val="{&amp;quot;height&amp;quot;:430.8,&amp;quot;left&amp;quot;:7.1,&amp;quot;top&amp;quot;:90.8,&amp;quot;width&amp;quot;:944.7}"/>
</p:tagLst>
</file>

<file path=ppt/tags/tag1729.xml><?xml version="1.0" encoding="utf-8"?>
<p:tagLst xmlns:p="http://schemas.openxmlformats.org/presentationml/2006/main">
  <p:tag name="KSO_WM_DIAGRAM_VIRTUALLY_FRAME" val="{&amp;quot;height&amp;quot;:430.8,&amp;quot;left&amp;quot;:7.1,&amp;quot;top&amp;quot;:90.8,&amp;quot;width&amp;quot;:944.7}"/>
</p:tagLst>
</file>

<file path=ppt/tags/tag1730.xml><?xml version="1.0" encoding="utf-8"?>
<p:tagLst xmlns:p="http://schemas.openxmlformats.org/presentationml/2006/main">
  <p:tag name="KSO_WM_DIAGRAM_VIRTUALLY_FRAME" val="{&amp;quot;height&amp;quot;:430.8,&amp;quot;left&amp;quot;:7.1,&amp;quot;top&amp;quot;:90.8,&amp;quot;width&amp;quot;:944.7}"/>
</p:tagLst>
</file>

<file path=ppt/tags/tag1731.xml><?xml version="1.0" encoding="utf-8"?>
<p:tagLst xmlns:p="http://schemas.openxmlformats.org/presentationml/2006/main">
  <p:tag name="KSO_WM_DIAGRAM_VIRTUALLY_FRAME" val="{&amp;quot;height&amp;quot;:430.8,&amp;quot;left&amp;quot;:7.1,&amp;quot;top&amp;quot;:90.8,&amp;quot;width&amp;quot;:944.7}"/>
</p:tagLst>
</file>

<file path=ppt/tags/tag1732.xml><?xml version="1.0" encoding="utf-8"?>
<p:tagLst xmlns:p="http://schemas.openxmlformats.org/presentationml/2006/main">
  <p:tag name="KSO_WM_DIAGRAM_VIRTUALLY_FRAME" val="{&amp;quot;height&amp;quot;:430.8,&amp;quot;left&amp;quot;:7.1,&amp;quot;top&amp;quot;:90.8,&amp;quot;width&amp;quot;:944.7}"/>
</p:tagLst>
</file>

<file path=ppt/tags/tag1733.xml><?xml version="1.0" encoding="utf-8"?>
<p:tagLst xmlns:p="http://schemas.openxmlformats.org/presentationml/2006/main">
  <p:tag name="KSO_WM_DIAGRAM_VIRTUALLY_FRAME" val="{&amp;quot;height&amp;quot;:430.8,&amp;quot;left&amp;quot;:7.1,&amp;quot;top&amp;quot;:90.8,&amp;quot;width&amp;quot;:944.7}"/>
</p:tagLst>
</file>

<file path=ppt/tags/tag1734.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35.xml><?xml version="1.0" encoding="utf-8"?>
<p:tagLst xmlns:p="http://schemas.openxmlformats.org/presentationml/2006/main">
  <p:tag name="KSO_WM_DIAGRAM_VIRTUALLY_FRAME" val="{&amp;quot;height&amp;quot;:430.8,&amp;quot;left&amp;quot;:7.1,&amp;quot;top&amp;quot;:90.8,&amp;quot;width&amp;quot;:944.7}"/>
</p:tagLst>
</file>

<file path=ppt/tags/tag1736.xml><?xml version="1.0" encoding="utf-8"?>
<p:tagLst xmlns:p="http://schemas.openxmlformats.org/presentationml/2006/main">
  <p:tag name="KSO_WM_DIAGRAM_VIRTUALLY_FRAME" val="{&amp;quot;height&amp;quot;:430.8,&amp;quot;left&amp;quot;:7.1,&amp;quot;top&amp;quot;:90.8,&amp;quot;width&amp;quot;:944.7}"/>
</p:tagLst>
</file>

<file path=ppt/tags/tag1737.xml><?xml version="1.0" encoding="utf-8"?>
<p:tagLst xmlns:p="http://schemas.openxmlformats.org/presentationml/2006/main">
  <p:tag name="KSO_WM_DIAGRAM_VIRTUALLY_FRAME" val="{&amp;quot;height&amp;quot;:430.8,&amp;quot;left&amp;quot;:7.1,&amp;quot;top&amp;quot;:90.8,&amp;quot;width&amp;quot;:944.7}"/>
</p:tagLst>
</file>

<file path=ppt/tags/tag1738.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39.xml><?xml version="1.0" encoding="utf-8"?>
<p:tagLst xmlns:p="http://schemas.openxmlformats.org/presentationml/2006/main">
  <p:tag name="KSO_WM_DIAGRAM_VIRTUALLY_FRAME" val="{&amp;quot;height&amp;quot;:430.8,&amp;quot;left&amp;quot;:7.1,&amp;quot;top&amp;quot;:90.8,&amp;quot;width&amp;quot;:944.7}"/>
</p:tagLst>
</file>

<file path=ppt/tags/tag1740.xml><?xml version="1.0" encoding="utf-8"?>
<p:tagLst xmlns:p="http://schemas.openxmlformats.org/presentationml/2006/main">
  <p:tag name="KSO_WM_DIAGRAM_VIRTUALLY_FRAME" val="{&amp;quot;height&amp;quot;:430.8,&amp;quot;left&amp;quot;:7.1,&amp;quot;top&amp;quot;:90.8,&amp;quot;width&amp;quot;:944.7}"/>
</p:tagLst>
</file>

<file path=ppt/tags/tag1741.xml><?xml version="1.0" encoding="utf-8"?>
<p:tagLst xmlns:p="http://schemas.openxmlformats.org/presentationml/2006/main">
  <p:tag name="KSO_WM_DIAGRAM_VIRTUALLY_FRAME" val="{&amp;quot;height&amp;quot;:430.8,&amp;quot;left&amp;quot;:7.1,&amp;quot;top&amp;quot;:90.8,&amp;quot;width&amp;quot;:944.7}"/>
</p:tagLst>
</file>

<file path=ppt/tags/tag1742.xml><?xml version="1.0" encoding="utf-8"?>
<p:tagLst xmlns:p="http://schemas.openxmlformats.org/presentationml/2006/main">
  <p:tag name="KSO_WM_DIAGRAM_VIRTUALLY_FRAME" val="{&amp;quot;height&amp;quot;:430.8,&amp;quot;left&amp;quot;:7.1,&amp;quot;top&amp;quot;:90.8,&amp;quot;width&amp;quot;:944.7}"/>
</p:tagLst>
</file>

<file path=ppt/tags/tag1743.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44.xml><?xml version="1.0" encoding="utf-8"?>
<p:tagLst xmlns:p="http://schemas.openxmlformats.org/presentationml/2006/main">
  <p:tag name="KSO_WM_DIAGRAM_VIRTUALLY_FRAME" val="{&amp;quot;height&amp;quot;:430.8,&amp;quot;left&amp;quot;:7.1,&amp;quot;top&amp;quot;:90.8,&amp;quot;width&amp;quot;:944.7}"/>
</p:tagLst>
</file>

<file path=ppt/tags/tag1745.xml><?xml version="1.0" encoding="utf-8"?>
<p:tagLst xmlns:p="http://schemas.openxmlformats.org/presentationml/2006/main">
  <p:tag name="KSO_WM_DIAGRAM_VIRTUALLY_FRAME" val="{&amp;quot;height&amp;quot;:430.8,&amp;quot;left&amp;quot;:7.1,&amp;quot;top&amp;quot;:90.8,&amp;quot;width&amp;quot;:944.7}"/>
</p:tagLst>
</file>

<file path=ppt/tags/tag1746.xml><?xml version="1.0" encoding="utf-8"?>
<p:tagLst xmlns:p="http://schemas.openxmlformats.org/presentationml/2006/main">
  <p:tag name="KSO_WM_DIAGRAM_VIRTUALLY_FRAME" val="{&amp;quot;height&amp;quot;:430.8,&amp;quot;left&amp;quot;:7.1,&amp;quot;top&amp;quot;:90.8,&amp;quot;width&amp;quot;:944.7}"/>
</p:tagLst>
</file>

<file path=ppt/tags/tag1747.xml><?xml version="1.0" encoding="utf-8"?>
<p:tagLst xmlns:p="http://schemas.openxmlformats.org/presentationml/2006/main">
  <p:tag name="PA" val="v5.2.11"/>
  <p:tag name="KSO_WM_DIAGRAM_VIRTUALLY_FRAME" val="{&amp;quot;height&amp;quot;:430.8,&amp;quot;left&amp;quot;:7.1,&amp;quot;top&amp;quot;:90.8,&amp;quot;width&amp;quot;:944.7}"/>
</p:tagLst>
</file>

<file path=ppt/tags/tag1748.xml><?xml version="1.0" encoding="utf-8"?>
<p:tagLst xmlns:p="http://schemas.openxmlformats.org/presentationml/2006/main">
  <p:tag name="KSO_WM_DIAGRAM_VIRTUALLY_FRAME" val="{&amp;quot;height&amp;quot;:430.8,&amp;quot;left&amp;quot;:7.1,&amp;quot;top&amp;quot;:90.8,&amp;quot;width&amp;quot;:944.7}"/>
</p:tagLst>
</file>

<file path=ppt/tags/tag1749.xml><?xml version="1.0" encoding="utf-8"?>
<p:tagLst xmlns:p="http://schemas.openxmlformats.org/presentationml/2006/main">
  <p:tag name="KSO_WM_DIAGRAM_VIRTUALLY_FRAME" val="{&amp;quot;height&amp;quot;:430.8,&amp;quot;left&amp;quot;:7.1,&amp;quot;top&amp;quot;:90.8,&amp;quot;width&amp;quot;:944.7}"/>
</p:tagLst>
</file>

<file path=ppt/tags/tag1750.xml><?xml version="1.0" encoding="utf-8"?>
<p:tagLst xmlns:p="http://schemas.openxmlformats.org/presentationml/2006/main">
  <p:tag name="KSO_WM_UNIT_FILL_FORE_SCHEMECOLOR_INDEX_1_BRIGHTNESS" val="0"/>
  <p:tag name="KSO_WM_UNIT_FILL_FORE_SCHEMECOLOR_INDEX_1" val="5"/>
  <p:tag name="KSO_WM_UNIT_FILL_FORE_SCHEMECOLOR_INDEX_1_POS" val="0.12"/>
  <p:tag name="KSO_WM_UNIT_FILL_FORE_SCHEMECOLOR_INDEX_1_TRANS" val="1"/>
  <p:tag name="KSO_WM_UNIT_FILL_FORE_SCHEMECOLOR_INDEX_2_BRIGHTNESS" val="0"/>
  <p:tag name="KSO_WM_UNIT_FILL_FORE_SCHEMECOLOR_INDEX_2" val="5"/>
  <p:tag name="KSO_WM_UNIT_FILL_FORE_SCHEMECOLOR_INDEX_2_POS" val="0.5"/>
  <p:tag name="KSO_WM_UNIT_FILL_FORE_SCHEMECOLOR_INDEX_2_TRANS" val="0.85"/>
  <p:tag name="KSO_WM_UNIT_FILL_FORE_SCHEMECOLOR_INDEX_3_BRIGHTNESS" val="0"/>
  <p:tag name="KSO_WM_UNIT_FILL_FORE_SCHEMECOLOR_INDEX_3" val="5"/>
  <p:tag name="KSO_WM_UNIT_FILL_FORE_SCHEMECOLOR_INDEX_3_POS" val="0.79"/>
  <p:tag name="KSO_WM_UNIT_FILL_FORE_SCHEMECOLOR_INDEX_3_TRANS" val="1"/>
  <p:tag name="KSO_WM_UNIT_FILL_GRADIENT_TYPE" val="0"/>
  <p:tag name="KSO_WM_UNIT_FILL_GRADIENT_ANGLE" val="0"/>
  <p:tag name="KSO_WM_UNIT_FILL_GRADIENT_DIRECTION" val="3"/>
  <p:tag name="KSO_WM_UNIT_FILL_TYPE" val="3"/>
</p:tagLst>
</file>

<file path=ppt/tags/tag1751.xml><?xml version="1.0" encoding="utf-8"?>
<p:tagLst xmlns:p="http://schemas.openxmlformats.org/presentationml/2006/main">
  <p:tag name="KSO_WM_UNIT_FILL_FORE_SCHEMECOLOR_INDEX_1_BRIGHTNESS" val="0"/>
  <p:tag name="KSO_WM_UNIT_FILL_FORE_SCHEMECOLOR_INDEX_1" val="5"/>
  <p:tag name="KSO_WM_UNIT_FILL_FORE_SCHEMECOLOR_INDEX_1_POS" val="0.12"/>
  <p:tag name="KSO_WM_UNIT_FILL_FORE_SCHEMECOLOR_INDEX_1_TRANS" val="1"/>
  <p:tag name="KSO_WM_UNIT_FILL_FORE_SCHEMECOLOR_INDEX_2_BRIGHTNESS" val="0"/>
  <p:tag name="KSO_WM_UNIT_FILL_FORE_SCHEMECOLOR_INDEX_2" val="5"/>
  <p:tag name="KSO_WM_UNIT_FILL_FORE_SCHEMECOLOR_INDEX_2_POS" val="0.5"/>
  <p:tag name="KSO_WM_UNIT_FILL_FORE_SCHEMECOLOR_INDEX_2_TRANS" val="0.85"/>
  <p:tag name="KSO_WM_UNIT_FILL_FORE_SCHEMECOLOR_INDEX_3_BRIGHTNESS" val="0"/>
  <p:tag name="KSO_WM_UNIT_FILL_FORE_SCHEMECOLOR_INDEX_3" val="5"/>
  <p:tag name="KSO_WM_UNIT_FILL_FORE_SCHEMECOLOR_INDEX_3_POS" val="0.79"/>
  <p:tag name="KSO_WM_UNIT_FILL_FORE_SCHEMECOLOR_INDEX_3_TRANS" val="1"/>
  <p:tag name="KSO_WM_UNIT_FILL_GRADIENT_TYPE" val="0"/>
  <p:tag name="KSO_WM_UNIT_FILL_GRADIENT_ANGLE" val="0"/>
  <p:tag name="KSO_WM_UNIT_FILL_GRADIENT_DIRECTION" val="3"/>
  <p:tag name="KSO_WM_UNIT_FILL_TYPE" val="3"/>
</p:tagLst>
</file>

<file path=ppt/tags/tag1752.xml><?xml version="1.0" encoding="utf-8"?>
<p:tagLst xmlns:p="http://schemas.openxmlformats.org/presentationml/2006/main">
  <p:tag name="KSO_WM_UNIT_FILL_FORE_SCHEMECOLOR_INDEX_BRIGHTNESS" val="0"/>
  <p:tag name="KSO_WM_UNIT_FILL_FORE_SCHEMECOLOR_INDEX" val="14"/>
  <p:tag name="KSO_WM_UNIT_FILL_TYPE" val="1"/>
  <p:tag name="KSO_WM_UNIT_SHADOW_SCHEMECOLOR_INDEX_BRIGHTNESS" val="-0.5"/>
  <p:tag name="KSO_WM_UNIT_SHADOW_SCHEMECOLOR_INDEX" val="6"/>
</p:tagLst>
</file>

<file path=ppt/tags/tag1753.xml><?xml version="1.0" encoding="utf-8"?>
<p:tagLst xmlns:p="http://schemas.openxmlformats.org/presentationml/2006/main">
  <p:tag name="KSO_WM_UNIT_FILL_FORE_SCHEMECOLOR_INDEX_BRIGHTNESS" val="0"/>
  <p:tag name="KSO_WM_UNIT_FILL_FORE_SCHEMECOLOR_INDEX" val="14"/>
  <p:tag name="KSO_WM_UNIT_FILL_TYPE" val="1"/>
  <p:tag name="KSO_WM_UNIT_SHADOW_SCHEMECOLOR_INDEX_BRIGHTNESS" val="-0.5"/>
  <p:tag name="KSO_WM_UNIT_SHADOW_SCHEMECOLOR_INDEX" val="6"/>
</p:tagLst>
</file>

<file path=ppt/tags/tag1754.xml><?xml version="1.0" encoding="utf-8"?>
<p:tagLst xmlns:p="http://schemas.openxmlformats.org/presentationml/2006/main">
  <p:tag name="KSO_WM_UNIT_FILL_FORE_SCHEMECOLOR_INDEX_BRIGHTNESS" val="0"/>
  <p:tag name="KSO_WM_UNIT_FILL_FORE_SCHEMECOLOR_INDEX" val="14"/>
  <p:tag name="KSO_WM_UNIT_FILL_TYPE" val="1"/>
  <p:tag name="KSO_WM_UNIT_SHADOW_SCHEMECOLOR_INDEX_BRIGHTNESS" val="-0.5"/>
  <p:tag name="KSO_WM_UNIT_SHADOW_SCHEMECOLOR_INDEX" val="6"/>
</p:tagLst>
</file>

<file path=ppt/tags/tag1755.xml><?xml version="1.0" encoding="utf-8"?>
<p:tagLst xmlns:p="http://schemas.openxmlformats.org/presentationml/2006/main">
  <p:tag name="KSO_WM_UNIT_FILL_FORE_SCHEMECOLOR_INDEX_BRIGHTNESS" val="0"/>
  <p:tag name="KSO_WM_UNIT_FILL_FORE_SCHEMECOLOR_INDEX" val="14"/>
  <p:tag name="KSO_WM_UNIT_FILL_TYPE" val="1"/>
  <p:tag name="KSO_WM_UNIT_SHADOW_SCHEMECOLOR_INDEX_BRIGHTNESS" val="-0.5"/>
  <p:tag name="KSO_WM_UNIT_SHADOW_SCHEMECOLOR_INDEX" val="6"/>
</p:tagLst>
</file>

<file path=ppt/tags/tag1756.xml><?xml version="1.0" encoding="utf-8"?>
<p:tagLst xmlns:p="http://schemas.openxmlformats.org/presentationml/2006/main">
  <p:tag name="KSO_WM_UNIT_LINE_FORE_SCHEMECOLOR_INDEX_1_BRIGHTNESS" val="0.8"/>
  <p:tag name="KSO_WM_UNIT_LINE_FORE_SCHEMECOLOR_INDEX_1" val="5"/>
  <p:tag name="KSO_WM_UNIT_LINE_FORE_SCHEMECOLOR_INDEX_1_POS" val="0.02"/>
  <p:tag name="KSO_WM_UNIT_LINE_FORE_SCHEMECOLOR_INDEX_1_TRANS" val="0"/>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Lst>
</file>

<file path=ppt/tags/tag1757.xml><?xml version="1.0" encoding="utf-8"?>
<p:tagLst xmlns:p="http://schemas.openxmlformats.org/presentationml/2006/main">
  <p:tag name="KSO_WM_UNIT_LINE_FORE_SCHEMECOLOR_INDEX_1_BRIGHTNESS" val="0.8"/>
  <p:tag name="KSO_WM_UNIT_LINE_FORE_SCHEMECOLOR_INDEX_1" val="5"/>
  <p:tag name="KSO_WM_UNIT_LINE_FORE_SCHEMECOLOR_INDEX_1_POS" val="0.01"/>
  <p:tag name="KSO_WM_UNIT_LINE_FORE_SCHEMECOLOR_INDEX_1_TRANS" val="0"/>
  <p:tag name="KSO_WM_UNIT_LINE_FORE_SCHEMECOLOR_INDEX_2_BRIGHTNESS" val="0"/>
  <p:tag name="KSO_WM_UNIT_LINE_FORE_SCHEMECOLOR_INDEX_2" val="5"/>
  <p:tag name="KSO_WM_UNIT_LINE_FORE_SCHEMECOLOR_INDEX_2_POS" val="0.99"/>
  <p:tag name="KSO_WM_UNIT_LINE_FORE_SCHEMECOLOR_INDEX_2_TRANS" val="0"/>
  <p:tag name="KSO_WM_UNIT_LINE_GRADIENT_TYPE" val="0"/>
  <p:tag name="KSO_WM_UNIT_LINE_GRADIENT_ANGLE" val="90"/>
  <p:tag name="KSO_WM_UNIT_LINE_GRADIENT_DIRECTION" val="1"/>
  <p:tag name="KSO_WM_UNIT_LINE_FILL_TYPE" val="5"/>
</p:tagLst>
</file>

<file path=ppt/tags/tag1758.xml><?xml version="1.0" encoding="utf-8"?>
<p:tagLst xmlns:p="http://schemas.openxmlformats.org/presentationml/2006/main">
  <p:tag name="KSO_WM_UNIT_LINE_FORE_SCHEMECOLOR_INDEX_1_BRIGHTNESS" val="0.8"/>
  <p:tag name="KSO_WM_UNIT_LINE_FORE_SCHEMECOLOR_INDEX_1" val="5"/>
  <p:tag name="KSO_WM_UNIT_LINE_FORE_SCHEMECOLOR_INDEX_1_POS" val="0.01"/>
  <p:tag name="KSO_WM_UNIT_LINE_FORE_SCHEMECOLOR_INDEX_1_TRANS" val="0"/>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Lst>
</file>

<file path=ppt/tags/tag1759.xml><?xml version="1.0" encoding="utf-8"?>
<p:tagLst xmlns:p="http://schemas.openxmlformats.org/presentationml/2006/main">
  <p:tag name="KSO_WM_UNIT_LINE_FORE_SCHEMECOLOR_INDEX_1_BRIGHTNESS" val="0.8"/>
  <p:tag name="KSO_WM_UNIT_LINE_FORE_SCHEMECOLOR_INDEX_1" val="5"/>
  <p:tag name="KSO_WM_UNIT_LINE_FORE_SCHEMECOLOR_INDEX_1_POS" val="0.02"/>
  <p:tag name="KSO_WM_UNIT_LINE_FORE_SCHEMECOLOR_INDEX_1_TRANS" val="0"/>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Lst>
</file>

<file path=ppt/tags/tag1760.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1761.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1762.xml><?xml version="1.0" encoding="utf-8"?>
<p:tagLst xmlns:p="http://schemas.openxmlformats.org/presentationml/2006/main">
  <p:tag name="KSO_WM_UNIT_TEXT_FILL_FORE_SCHEMECOLOR_INDEX_BRIGHTNESS" val="0.35"/>
  <p:tag name="KSO_WM_UNIT_TEXT_FILL_FORE_SCHEMECOLOR_INDEX" val="13"/>
  <p:tag name="KSO_WM_UNIT_TEXT_FILL_TYPE" val="1"/>
</p:tagLst>
</file>

<file path=ppt/tags/tag1763.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64.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65.xml><?xml version="1.0" encoding="utf-8"?>
<p:tagLst xmlns:p="http://schemas.openxmlformats.org/presentationml/2006/main">
  <p:tag name="KSO_WM_UNIT_TEXT_FILL_FORE_SCHEMECOLOR_INDEX_BRIGHTNESS" val="0.35"/>
  <p:tag name="KSO_WM_UNIT_TEXT_FILL_FORE_SCHEMECOLOR_INDEX" val="13"/>
  <p:tag name="KSO_WM_UNIT_TEXT_FILL_TYPE" val="1"/>
</p:tagLst>
</file>

<file path=ppt/tags/tag1766.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67.xml><?xml version="1.0" encoding="utf-8"?>
<p:tagLst xmlns:p="http://schemas.openxmlformats.org/presentationml/2006/main">
  <p:tag name="KSO_WM_UNIT_TEXT_FILL_FORE_SCHEMECOLOR_INDEX_BRIGHTNESS" val="0.35"/>
  <p:tag name="KSO_WM_UNIT_TEXT_FILL_FORE_SCHEMECOLOR_INDEX" val="13"/>
  <p:tag name="KSO_WM_UNIT_TEXT_FILL_TYPE" val="1"/>
</p:tagLst>
</file>

<file path=ppt/tags/tag1768.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1769.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1770.xml><?xml version="1.0" encoding="utf-8"?>
<p:tagLst xmlns:p="http://schemas.openxmlformats.org/presentationml/2006/main">
  <p:tag name="KSO_WM_UNIT_TEXT_FILL_FORE_SCHEMECOLOR_INDEX_BRIGHTNESS" val="0.35"/>
  <p:tag name="KSO_WM_UNIT_TEXT_FILL_FORE_SCHEMECOLOR_INDEX" val="13"/>
  <p:tag name="KSO_WM_UNIT_TEXT_FILL_TYPE" val="1"/>
</p:tagLst>
</file>

<file path=ppt/tags/tag1771.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72.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73.xml><?xml version="1.0" encoding="utf-8"?>
<p:tagLst xmlns:p="http://schemas.openxmlformats.org/presentationml/2006/main">
  <p:tag name="KSO_WM_UNIT_TEXT_FILL_FORE_SCHEMECOLOR_INDEX_BRIGHTNESS" val="0.35"/>
  <p:tag name="KSO_WM_UNIT_TEXT_FILL_FORE_SCHEMECOLOR_INDEX" val="13"/>
  <p:tag name="KSO_WM_UNIT_TEXT_FILL_TYPE" val="1"/>
</p:tagLst>
</file>

<file path=ppt/tags/tag1774.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75.xml><?xml version="1.0" encoding="utf-8"?>
<p:tagLst xmlns:p="http://schemas.openxmlformats.org/presentationml/2006/main">
  <p:tag name="KSO_WM_UNIT_TEXT_FILL_FORE_SCHEMECOLOR_INDEX_BRIGHTNESS" val="0.35"/>
  <p:tag name="KSO_WM_UNIT_TEXT_FILL_FORE_SCHEMECOLOR_INDEX" val="13"/>
  <p:tag name="KSO_WM_UNIT_TEXT_FILL_TYPE" val="1"/>
</p:tagLst>
</file>

<file path=ppt/tags/tag1776.xml><?xml version="1.0" encoding="utf-8"?>
<p:tagLst xmlns:p="http://schemas.openxmlformats.org/presentationml/2006/main">
  <p:tag name="KSO_WM_UNIT_FILL_FORE_SCHEMECOLOR_INDEX_BRIGHTNESS" val="0"/>
  <p:tag name="KSO_WM_UNIT_FILL_FORE_SCHEMECOLOR_INDEX" val="14"/>
  <p:tag name="KSO_WM_UNIT_FILL_TYPE" val="1"/>
  <p:tag name="KSO_WM_UNIT_SHADOW_SCHEMECOLOR_INDEX_BRIGHTNESS" val="-0.5"/>
  <p:tag name="KSO_WM_UNIT_SHADOW_SCHEMECOLOR_INDEX" val="6"/>
</p:tagLst>
</file>

<file path=ppt/tags/tag1777.xml><?xml version="1.0" encoding="utf-8"?>
<p:tagLst xmlns:p="http://schemas.openxmlformats.org/presentationml/2006/main">
  <p:tag name="KSO_WM_UNIT_FILL_FORE_SCHEMECOLOR_INDEX_BRIGHTNESS" val="0"/>
  <p:tag name="KSO_WM_UNIT_FILL_FORE_SCHEMECOLOR_INDEX" val="14"/>
  <p:tag name="KSO_WM_UNIT_FILL_TYPE" val="1"/>
  <p:tag name="KSO_WM_UNIT_SHADOW_SCHEMECOLOR_INDEX_BRIGHTNESS" val="-0.5"/>
  <p:tag name="KSO_WM_UNIT_SHADOW_SCHEMECOLOR_INDEX" val="6"/>
</p:tagLst>
</file>

<file path=ppt/tags/tag1778.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 name="KSO_WM_UNIT_SHADOW_SCHEMECOLOR_INDEX_BRIGHTNESS" val="-0.5"/>
  <p:tag name="KSO_WM_UNIT_SHADOW_SCHEMECOLOR_INDEX" val="6"/>
</p:tagLst>
</file>

<file path=ppt/tags/tag1779.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 name="KSO_WM_UNIT_SHADOW_SCHEMECOLOR_INDEX_BRIGHTNESS" val="-0.5"/>
  <p:tag name="KSO_WM_UNIT_SHADOW_SCHEMECOLOR_INDEX" val="6"/>
</p:tagLst>
</file>

<file path=ppt/tags/tag1780.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 name="KSO_WM_UNIT_SHADOW_SCHEMECOLOR_INDEX_BRIGHTNESS" val="-0.5"/>
  <p:tag name="KSO_WM_UNIT_SHADOW_SCHEMECOLOR_INDEX" val="6"/>
</p:tagLst>
</file>

<file path=ppt/tags/tag1781.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 name="KSO_WM_UNIT_SHADOW_SCHEMECOLOR_INDEX_BRIGHTNESS" val="-0.5"/>
  <p:tag name="KSO_WM_UNIT_SHADOW_SCHEMECOLOR_INDEX" val="6"/>
</p:tagLst>
</file>

<file path=ppt/tags/tag1782.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 name="KSO_WM_UNIT_SHADOW_SCHEMECOLOR_INDEX_BRIGHTNESS" val="-0.5"/>
  <p:tag name="KSO_WM_UNIT_SHADOW_SCHEMECOLOR_INDEX" val="6"/>
</p:tagLst>
</file>

<file path=ppt/tags/tag1783.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84.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85.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86.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87.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88.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89.xml><?xml version="1.0" encoding="utf-8"?>
<p:tagLst xmlns:p="http://schemas.openxmlformats.org/presentationml/2006/main">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1790.xml><?xml version="1.0" encoding="utf-8"?>
<p:tagLst xmlns:p="http://schemas.openxmlformats.org/presentationml/2006/main">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1791.xml><?xml version="1.0" encoding="utf-8"?>
<p:tagLst xmlns:p="http://schemas.openxmlformats.org/presentationml/2006/main">
  <p:tag name="KSO_WM_UNIT_FILL_FORE_SCHEMECOLOR_INDEX_BRIGHTNESS" val="0.8"/>
  <p:tag name="KSO_WM_UNIT_FILL_FORE_SCHEMECOLOR_INDEX" val="6"/>
  <p:tag name="KSO_WM_UNIT_FILL_TYPE" val="1"/>
  <p:tag name="KSO_WM_UNIT_TEXT_FILL_FORE_SCHEMECOLOR_INDEX_BRIGHTNESS" val="0"/>
  <p:tag name="KSO_WM_UNIT_TEXT_FILL_FORE_SCHEMECOLOR_INDEX" val="2"/>
  <p:tag name="KSO_WM_UNIT_TEXT_FILL_TYPE" val="1"/>
</p:tagLst>
</file>

<file path=ppt/tags/tag1792.xml><?xml version="1.0" encoding="utf-8"?>
<p:tagLst xmlns:p="http://schemas.openxmlformats.org/presentationml/2006/main">
  <p:tag name="KSO_WM_UNIT_TEXT_FILL_FORE_SCHEMECOLOR_INDEX_BRIGHTNESS" val="0"/>
  <p:tag name="KSO_WM_UNIT_TEXT_FILL_FORE_SCHEMECOLOR_INDEX" val="5"/>
  <p:tag name="KSO_WM_UNIT_TEXT_FILL_TYPE" val="1"/>
</p:tagLst>
</file>

<file path=ppt/tags/tag1793.xml><?xml version="1.0" encoding="utf-8"?>
<p:tagLst xmlns:p="http://schemas.openxmlformats.org/presentationml/2006/main">
  <p:tag name="KSO_WM_UNIT_LINE_FORE_SCHEMECOLOR_INDEX_1_BRIGHTNESS" val="0.8"/>
  <p:tag name="KSO_WM_UNIT_LINE_FORE_SCHEMECOLOR_INDEX_1" val="5"/>
  <p:tag name="KSO_WM_UNIT_LINE_FORE_SCHEMECOLOR_INDEX_1_POS" val="0.01"/>
  <p:tag name="KSO_WM_UNIT_LINE_FORE_SCHEMECOLOR_INDEX_1_TRANS" val="0"/>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Lst>
</file>

<file path=ppt/tags/tag1794.xml><?xml version="1.0" encoding="utf-8"?>
<p:tagLst xmlns:p="http://schemas.openxmlformats.org/presentationml/2006/main">
  <p:tag name="KSO_WM_UNIT_LINE_FORE_SCHEMECOLOR_INDEX_1_BRIGHTNESS" val="0.8"/>
  <p:tag name="KSO_WM_UNIT_LINE_FORE_SCHEMECOLOR_INDEX_1" val="5"/>
  <p:tag name="KSO_WM_UNIT_LINE_FORE_SCHEMECOLOR_INDEX_1_POS" val="0.02"/>
  <p:tag name="KSO_WM_UNIT_LINE_FORE_SCHEMECOLOR_INDEX_1_TRANS" val="0"/>
  <p:tag name="KSO_WM_UNIT_LINE_FORE_SCHEMECOLOR_INDEX_2_BRIGHTNESS" val="0"/>
  <p:tag name="KSO_WM_UNIT_LINE_FORE_SCHEMECOLOR_INDEX_2" val="5"/>
  <p:tag name="KSO_WM_UNIT_LINE_FORE_SCHEMECOLOR_INDEX_2_POS" val="1"/>
  <p:tag name="KSO_WM_UNIT_LINE_FORE_SCHEMECOLOR_INDEX_2_TRANS" val="0"/>
  <p:tag name="KSO_WM_UNIT_LINE_GRADIENT_TYPE" val="0"/>
  <p:tag name="KSO_WM_UNIT_LINE_GRADIENT_ANGLE" val="90"/>
  <p:tag name="KSO_WM_UNIT_LINE_GRADIENT_DIRECTION" val="1"/>
  <p:tag name="KSO_WM_UNIT_LINE_FILL_TYPE" val="5"/>
</p:tagLst>
</file>

<file path=ppt/tags/tag1795.xml><?xml version="1.0" encoding="utf-8"?>
<p:tagLst xmlns:p="http://schemas.openxmlformats.org/presentationml/2006/main">
  <p:tag name="KSO_WM_UNIT_FILL_FORE_SCHEMECOLOR_INDEX_BRIGHTNESS" val="0"/>
  <p:tag name="KSO_WM_UNIT_FILL_FORE_SCHEMECOLOR_INDEX" val="5"/>
  <p:tag name="KSO_WM_UNIT_FILL_TYPE" val="1"/>
  <p:tag name="KSO_WM_UNIT_LINE_FORE_SCHEMECOLOR_INDEX_1_BRIGHTNESS" val="0"/>
  <p:tag name="KSO_WM_UNIT_LINE_FORE_SCHEMECOLOR_INDEX_1" val="5"/>
  <p:tag name="KSO_WM_UNIT_LINE_FORE_SCHEMECOLOR_INDEX_1_POS" val="0"/>
  <p:tag name="KSO_WM_UNIT_LINE_FORE_SCHEMECOLOR_INDEX_1_TRANS" val="1"/>
  <p:tag name="KSO_WM_UNIT_LINE_FORE_SCHEMECOLOR_INDEX_2_BRIGHTNESS" val="0"/>
  <p:tag name="KSO_WM_UNIT_LINE_FORE_SCHEMECOLOR_INDEX_2" val="5"/>
  <p:tag name="KSO_WM_UNIT_LINE_FORE_SCHEMECOLOR_INDEX_2_POS" val="0.99"/>
  <p:tag name="KSO_WM_UNIT_LINE_FORE_SCHEMECOLOR_INDEX_2_TRANS" val="0"/>
  <p:tag name="KSO_WM_UNIT_LINE_GRADIENT_TYPE" val="0"/>
  <p:tag name="KSO_WM_UNIT_LINE_GRADIENT_ANGLE" val="90"/>
  <p:tag name="KSO_WM_UNIT_LINE_GRADIENT_DIRECTION" val="1"/>
  <p:tag name="KSO_WM_UNIT_LINE_FILL_TYPE" val="5"/>
  <p:tag name="KSO_WM_UNIT_SHADOW_SCHEMECOLOR_INDEX_BRIGHTNESS" val="-0.5"/>
  <p:tag name="KSO_WM_UNIT_SHADOW_SCHEMECOLOR_INDEX" val="6"/>
</p:tagLst>
</file>

<file path=ppt/tags/tag1796.xml><?xml version="1.0" encoding="utf-8"?>
<p:tagLst xmlns:p="http://schemas.openxmlformats.org/presentationml/2006/main">
  <p:tag name="KSO_WM_BEAUTIFY_FLAG" val=""/>
</p:tagLst>
</file>

<file path=ppt/tags/tag1797.xml><?xml version="1.0" encoding="utf-8"?>
<p:tagLst xmlns:p="http://schemas.openxmlformats.org/presentationml/2006/main">
  <p:tag name="KSO_WM_DIAGRAM_VIRTUALLY_FRAME" val="{&amp;quot;height&amp;quot;:403.1,&amp;quot;left&amp;quot;:55.7,&amp;quot;top&amp;quot;:109.25,&amp;quot;width&amp;quot;:860.45}"/>
</p:tagLst>
</file>

<file path=ppt/tags/tag1798.xml><?xml version="1.0" encoding="utf-8"?>
<p:tagLst xmlns:p="http://schemas.openxmlformats.org/presentationml/2006/main">
  <p:tag name="KSO_WM_DIAGRAM_VIRTUALLY_FRAME" val="{&amp;quot;height&amp;quot;:403.1,&amp;quot;left&amp;quot;:55.7,&amp;quot;top&amp;quot;:109.25,&amp;quot;width&amp;quot;:860.45}"/>
</p:tagLst>
</file>

<file path=ppt/tags/tag1799.xml><?xml version="1.0" encoding="utf-8"?>
<p:tagLst xmlns:p="http://schemas.openxmlformats.org/presentationml/2006/main">
  <p:tag name="KSO_WM_DIAGRAM_VIRTUALLY_FRAME" val="{&amp;quot;height&amp;quot;:403.1,&amp;quot;left&amp;quot;:55.7,&amp;quot;top&amp;quot;:109.25,&amp;quot;width&amp;quot;:860.45}"/>
</p:tagLst>
</file>

<file path=ppt/tags/tag1800.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801.xml><?xml version="1.0" encoding="utf-8"?>
<p:tagLst xmlns:p="http://schemas.openxmlformats.org/presentationml/2006/main">
  <p:tag name="KSO_WM_DIAGRAM_VIRTUALLY_FRAME" val="{&amp;quot;height&amp;quot;:403.1,&amp;quot;left&amp;quot;:55.7,&amp;quot;top&amp;quot;:109.25,&amp;quot;width&amp;quot;:860.45}"/>
</p:tagLst>
</file>

<file path=ppt/tags/tag1802.xml><?xml version="1.0" encoding="utf-8"?>
<p:tagLst xmlns:p="http://schemas.openxmlformats.org/presentationml/2006/main">
  <p:tag name="KSO_WM_DIAGRAM_VIRTUALLY_FRAME" val="{&amp;quot;height&amp;quot;:403.1,&amp;quot;left&amp;quot;:55.7,&amp;quot;top&amp;quot;:109.25,&amp;quot;width&amp;quot;:860.45}"/>
</p:tagLst>
</file>

<file path=ppt/tags/tag1803.xml><?xml version="1.0" encoding="utf-8"?>
<p:tagLst xmlns:p="http://schemas.openxmlformats.org/presentationml/2006/main">
  <p:tag name="KSO_WM_DIAGRAM_VIRTUALLY_FRAME" val="{&amp;quot;height&amp;quot;:403.1,&amp;quot;left&amp;quot;:55.7,&amp;quot;top&amp;quot;:109.25,&amp;quot;width&amp;quot;:860.45}"/>
</p:tagLst>
</file>

<file path=ppt/tags/tag1804.xml><?xml version="1.0" encoding="utf-8"?>
<p:tagLst xmlns:p="http://schemas.openxmlformats.org/presentationml/2006/main">
  <p:tag name="KSO_WM_DIAGRAM_VIRTUALLY_FRAME" val="{&amp;quot;height&amp;quot;:403.1,&amp;quot;left&amp;quot;:55.7,&amp;quot;top&amp;quot;:109.25,&amp;quot;width&amp;quot;:860.45}"/>
</p:tagLst>
</file>

<file path=ppt/tags/tag1805.xml><?xml version="1.0" encoding="utf-8"?>
<p:tagLst xmlns:p="http://schemas.openxmlformats.org/presentationml/2006/main">
  <p:tag name="KSO_WM_DIAGRAM_VIRTUALLY_FRAME" val="{&amp;quot;height&amp;quot;:403.1,&amp;quot;left&amp;quot;:55.7,&amp;quot;top&amp;quot;:109.25,&amp;quot;width&amp;quot;:860.45}"/>
</p:tagLst>
</file>

<file path=ppt/tags/tag1806.xml><?xml version="1.0" encoding="utf-8"?>
<p:tagLst xmlns:p="http://schemas.openxmlformats.org/presentationml/2006/main">
  <p:tag name="KSO_WM_DIAGRAM_VIRTUALLY_FRAME" val="{&amp;quot;height&amp;quot;:403.1,&amp;quot;left&amp;quot;:55.7,&amp;quot;top&amp;quot;:109.25,&amp;quot;width&amp;quot;:860.45}"/>
</p:tagLst>
</file>

<file path=ppt/tags/tag1807.xml><?xml version="1.0" encoding="utf-8"?>
<p:tagLst xmlns:p="http://schemas.openxmlformats.org/presentationml/2006/main">
  <p:tag name="KSO_WM_DIAGRAM_VIRTUALLY_FRAME" val="{&amp;quot;height&amp;quot;:403.1,&amp;quot;left&amp;quot;:55.7,&amp;quot;top&amp;quot;:109.25,&amp;quot;width&amp;quot;:860.45}"/>
</p:tagLst>
</file>

<file path=ppt/tags/tag1808.xml><?xml version="1.0" encoding="utf-8"?>
<p:tagLst xmlns:p="http://schemas.openxmlformats.org/presentationml/2006/main">
  <p:tag name="KSO_WM_DIAGRAM_VIRTUALLY_FRAME" val="{&amp;quot;height&amp;quot;:403.1,&amp;quot;left&amp;quot;:55.7,&amp;quot;top&amp;quot;:109.25,&amp;quot;width&amp;quot;:860.45}"/>
</p:tagLst>
</file>

<file path=ppt/tags/tag1809.xml><?xml version="1.0" encoding="utf-8"?>
<p:tagLst xmlns:p="http://schemas.openxmlformats.org/presentationml/2006/main">
  <p:tag name="KSO_WM_DIAGRAM_VIRTUALLY_FRAME" val="{&amp;quot;height&amp;quot;:403.1,&amp;quot;left&amp;quot;:55.7,&amp;quot;top&amp;quot;:109.25,&amp;quot;width&amp;quot;:860.45}"/>
</p:tagLst>
</file>

<file path=ppt/tags/tag1810.xml><?xml version="1.0" encoding="utf-8"?>
<p:tagLst xmlns:p="http://schemas.openxmlformats.org/presentationml/2006/main">
  <p:tag name="KSO_WM_DIAGRAM_VIRTUALLY_FRAME" val="{&amp;quot;height&amp;quot;:403.1,&amp;quot;left&amp;quot;:55.7,&amp;quot;top&amp;quot;:109.25,&amp;quot;width&amp;quot;:860.45}"/>
</p:tagLst>
</file>

<file path=ppt/tags/tag1811.xml><?xml version="1.0" encoding="utf-8"?>
<p:tagLst xmlns:p="http://schemas.openxmlformats.org/presentationml/2006/main">
  <p:tag name="KSO_WM_DIAGRAM_VIRTUALLY_FRAME" val="{&amp;quot;height&amp;quot;:403.1,&amp;quot;left&amp;quot;:55.7,&amp;quot;top&amp;quot;:109.25,&amp;quot;width&amp;quot;:860.45}"/>
</p:tagLst>
</file>

<file path=ppt/tags/tag1812.xml><?xml version="1.0" encoding="utf-8"?>
<p:tagLst xmlns:p="http://schemas.openxmlformats.org/presentationml/2006/main">
  <p:tag name="KSO_WM_DIAGRAM_VIRTUALLY_FRAME" val="{&amp;quot;height&amp;quot;:403.1,&amp;quot;left&amp;quot;:55.7,&amp;quot;top&amp;quot;:109.25,&amp;quot;width&amp;quot;:860.45}"/>
</p:tagLst>
</file>

<file path=ppt/tags/tag1813.xml><?xml version="1.0" encoding="utf-8"?>
<p:tagLst xmlns:p="http://schemas.openxmlformats.org/presentationml/2006/main">
  <p:tag name="KSO_WM_DIAGRAM_VIRTUALLY_FRAME" val="{&amp;quot;height&amp;quot;:403.1,&amp;quot;left&amp;quot;:55.7,&amp;quot;top&amp;quot;:109.25,&amp;quot;width&amp;quot;:860.45}"/>
</p:tagLst>
</file>

<file path=ppt/tags/tag1814.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815.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816.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817.xml><?xml version="1.0" encoding="utf-8"?>
<p:tagLst xmlns:p="http://schemas.openxmlformats.org/presentationml/2006/main">
  <p:tag name="SHADOWSIZE" val="90"/>
  <p:tag name="ADJUSTMENTS" val="6.765331"/>
  <p:tag name="KSO_WM_DIAGRAM_VIRTUALLY_FRAME" val="{&amp;quot;height&amp;quot;:403.1,&amp;quot;left&amp;quot;:55.7,&amp;quot;top&amp;quot;:109.25,&amp;quot;width&amp;quot;:860.45}"/>
</p:tagLst>
</file>

<file path=ppt/tags/tag1818.xml><?xml version="1.0" encoding="utf-8"?>
<p:tagLst xmlns:p="http://schemas.openxmlformats.org/presentationml/2006/main">
  <p:tag name="KSO_WM_DIAGRAM_VIRTUALLY_FRAME" val="{&amp;quot;height&amp;quot;:403.1,&amp;quot;left&amp;quot;:55.7,&amp;quot;top&amp;quot;:109.25,&amp;quot;width&amp;quot;:860.45}"/>
</p:tagLst>
</file>

<file path=ppt/tags/tag1819.xml><?xml version="1.0" encoding="utf-8"?>
<p:tagLst xmlns:p="http://schemas.openxmlformats.org/presentationml/2006/main">
  <p:tag name="KSO_WM_DIAGRAM_VIRTUALLY_FRAME" val="{&amp;quot;height&amp;quot;:403.1,&amp;quot;left&amp;quot;:55.7,&amp;quot;top&amp;quot;:109.25,&amp;quot;width&amp;quot;:860.45}"/>
</p:tagLst>
</file>

<file path=ppt/tags/tag1820.xml><?xml version="1.0" encoding="utf-8"?>
<p:tagLst xmlns:p="http://schemas.openxmlformats.org/presentationml/2006/main">
  <p:tag name="KSO_WM_DIAGRAM_VIRTUALLY_FRAME" val="{&amp;quot;height&amp;quot;:403.1,&amp;quot;left&amp;quot;:55.7,&amp;quot;top&amp;quot;:109.25,&amp;quot;width&amp;quot;:860.45}"/>
</p:tagLst>
</file>

<file path=ppt/tags/tag1821.xml><?xml version="1.0" encoding="utf-8"?>
<p:tagLst xmlns:p="http://schemas.openxmlformats.org/presentationml/2006/main">
  <p:tag name="KSO_WM_DIAGRAM_VIRTUALLY_FRAME" val="{&amp;quot;height&amp;quot;:403.1,&amp;quot;left&amp;quot;:55.7,&amp;quot;top&amp;quot;:109.25,&amp;quot;width&amp;quot;:860.45}"/>
</p:tagLst>
</file>

<file path=ppt/tags/tag1822.xml><?xml version="1.0" encoding="utf-8"?>
<p:tagLst xmlns:p="http://schemas.openxmlformats.org/presentationml/2006/main">
  <p:tag name="KSO_WM_DIAGRAM_VIRTUALLY_FRAME" val="{&amp;quot;height&amp;quot;:403.1,&amp;quot;left&amp;quot;:55.7,&amp;quot;top&amp;quot;:109.25,&amp;quot;width&amp;quot;:860.45}"/>
</p:tagLst>
</file>

<file path=ppt/tags/tag1823.xml><?xml version="1.0" encoding="utf-8"?>
<p:tagLst xmlns:p="http://schemas.openxmlformats.org/presentationml/2006/main">
  <p:tag name="KSO_WM_DIAGRAM_VIRTUALLY_FRAME" val="{&amp;quot;height&amp;quot;:403.1,&amp;quot;left&amp;quot;:55.7,&amp;quot;top&amp;quot;:109.25,&amp;quot;width&amp;quot;:860.45}"/>
</p:tagLst>
</file>

<file path=ppt/tags/tag1824.xml><?xml version="1.0" encoding="utf-8"?>
<p:tagLst xmlns:p="http://schemas.openxmlformats.org/presentationml/2006/main">
  <p:tag name="KSO_WM_DIAGRAM_VIRTUALLY_FRAME" val="{&amp;quot;height&amp;quot;:403.1,&amp;quot;left&amp;quot;:55.7,&amp;quot;top&amp;quot;:109.25,&amp;quot;width&amp;quot;:860.45}"/>
</p:tagLst>
</file>

<file path=ppt/tags/tag1825.xml><?xml version="1.0" encoding="utf-8"?>
<p:tagLst xmlns:p="http://schemas.openxmlformats.org/presentationml/2006/main">
  <p:tag name="KSO_WM_DIAGRAM_VIRTUALLY_FRAME" val="{&amp;quot;height&amp;quot;:403.1,&amp;quot;left&amp;quot;:55.7,&amp;quot;top&amp;quot;:109.25,&amp;quot;width&amp;quot;:860.45}"/>
</p:tagLst>
</file>

<file path=ppt/tags/tag1826.xml><?xml version="1.0" encoding="utf-8"?>
<p:tagLst xmlns:p="http://schemas.openxmlformats.org/presentationml/2006/main">
  <p:tag name="KSO_WM_DIAGRAM_VIRTUALLY_FRAME" val="{&amp;quot;height&amp;quot;:403.1,&amp;quot;left&amp;quot;:55.7,&amp;quot;top&amp;quot;:109.25,&amp;quot;width&amp;quot;:860.45}"/>
</p:tagLst>
</file>

<file path=ppt/tags/tag1827.xml><?xml version="1.0" encoding="utf-8"?>
<p:tagLst xmlns:p="http://schemas.openxmlformats.org/presentationml/2006/main">
  <p:tag name="KSO_WM_DIAGRAM_VIRTUALLY_FRAME" val="{&amp;quot;height&amp;quot;:403.1,&amp;quot;left&amp;quot;:55.7,&amp;quot;top&amp;quot;:109.25,&amp;quot;width&amp;quot;:860.45}"/>
</p:tagLst>
</file>

<file path=ppt/tags/tag1828.xml><?xml version="1.0" encoding="utf-8"?>
<p:tagLst xmlns:p="http://schemas.openxmlformats.org/presentationml/2006/main">
  <p:tag name="KSO_WM_DIAGRAM_VIRTUALLY_FRAME" val="{&amp;quot;height&amp;quot;:403.1,&amp;quot;left&amp;quot;:55.7,&amp;quot;top&amp;quot;:109.25,&amp;quot;width&amp;quot;:860.45}"/>
</p:tagLst>
</file>

<file path=ppt/tags/tag1829.xml><?xml version="1.0" encoding="utf-8"?>
<p:tagLst xmlns:p="http://schemas.openxmlformats.org/presentationml/2006/main">
  <p:tag name="KSO_WM_DIAGRAM_VIRTUALLY_FRAME" val="{&amp;quot;height&amp;quot;:403.1,&amp;quot;left&amp;quot;:55.7,&amp;quot;top&amp;quot;:109.25,&amp;quot;width&amp;quot;:860.45}"/>
</p:tagLst>
</file>

<file path=ppt/tags/tag1830.xml><?xml version="1.0" encoding="utf-8"?>
<p:tagLst xmlns:p="http://schemas.openxmlformats.org/presentationml/2006/main">
  <p:tag name="KSO_WM_DIAGRAM_VIRTUALLY_FRAME" val="{&amp;quot;height&amp;quot;:403.1,&amp;quot;left&amp;quot;:55.7,&amp;quot;top&amp;quot;:109.25,&amp;quot;width&amp;quot;:860.45}"/>
</p:tagLst>
</file>

<file path=ppt/tags/tag1831.xml><?xml version="1.0" encoding="utf-8"?>
<p:tagLst xmlns:p="http://schemas.openxmlformats.org/presentationml/2006/main">
  <p:tag name="KSO_WM_DIAGRAM_VIRTUALLY_FRAME" val="{&amp;quot;height&amp;quot;:403.1,&amp;quot;left&amp;quot;:55.7,&amp;quot;top&amp;quot;:109.25,&amp;quot;width&amp;quot;:860.45}"/>
</p:tagLst>
</file>

<file path=ppt/tags/tag1832.xml><?xml version="1.0" encoding="utf-8"?>
<p:tagLst xmlns:p="http://schemas.openxmlformats.org/presentationml/2006/main">
  <p:tag name="KSO_WM_DIAGRAM_VIRTUALLY_FRAME" val="{&amp;quot;height&amp;quot;:74.65,&amp;quot;left&amp;quot;:60.95,&amp;quot;top&amp;quot;:71.1,&amp;quot;width&amp;quot;:825.35}"/>
</p:tagLst>
</file>

<file path=ppt/tags/tag1833.xml><?xml version="1.0" encoding="utf-8"?>
<p:tagLst xmlns:p="http://schemas.openxmlformats.org/presentationml/2006/main">
  <p:tag name="KSO_WM_DIAGRAM_VIRTUALLY_FRAME" val="{&amp;quot;height&amp;quot;:74.65,&amp;quot;left&amp;quot;:60.95,&amp;quot;top&amp;quot;:71.1,&amp;quot;width&amp;quot;:825.35}"/>
</p:tagLst>
</file>

<file path=ppt/tags/tag1834.xml><?xml version="1.0" encoding="utf-8"?>
<p:tagLst xmlns:p="http://schemas.openxmlformats.org/presentationml/2006/main">
  <p:tag name="KSO_WM_DIAGRAM_VIRTUALLY_FRAME" val="{&amp;quot;height&amp;quot;:74.65,&amp;quot;left&amp;quot;:60.95,&amp;quot;top&amp;quot;:71.1,&amp;quot;width&amp;quot;:825.35}"/>
</p:tagLst>
</file>

<file path=ppt/tags/tag1835.xml><?xml version="1.0" encoding="utf-8"?>
<p:tagLst xmlns:p="http://schemas.openxmlformats.org/presentationml/2006/main">
  <p:tag name="KSO_WM_DIAGRAM_VIRTUALLY_FRAME" val="{&amp;quot;height&amp;quot;:74.65,&amp;quot;left&amp;quot;:60.95,&amp;quot;top&amp;quot;:71.1,&amp;quot;width&amp;quot;:825.35}"/>
</p:tagLst>
</file>

<file path=ppt/tags/tag1836.xml><?xml version="1.0" encoding="utf-8"?>
<p:tagLst xmlns:p="http://schemas.openxmlformats.org/presentationml/2006/main">
  <p:tag name="KSO_WM_DIAGRAM_VIRTUALLY_FRAME" val="{&amp;quot;height&amp;quot;:74.65,&amp;quot;left&amp;quot;:60.95,&amp;quot;top&amp;quot;:71.1,&amp;quot;width&amp;quot;:825.35}"/>
</p:tagLst>
</file>

<file path=ppt/tags/tag1837.xml><?xml version="1.0" encoding="utf-8"?>
<p:tagLst xmlns:p="http://schemas.openxmlformats.org/presentationml/2006/main">
  <p:tag name="KSO_WM_DIAGRAM_VIRTUALLY_FRAME" val="{&amp;quot;height&amp;quot;:74.65,&amp;quot;left&amp;quot;:60.95,&amp;quot;top&amp;quot;:71.1,&amp;quot;width&amp;quot;:825.35}"/>
</p:tagLst>
</file>

<file path=ppt/tags/tag1838.xml><?xml version="1.0" encoding="utf-8"?>
<p:tagLst xmlns:p="http://schemas.openxmlformats.org/presentationml/2006/main">
  <p:tag name="KSO_WM_DIAGRAM_VIRTUALLY_FRAME" val="{&amp;quot;height&amp;quot;:74.65,&amp;quot;left&amp;quot;:60.95,&amp;quot;top&amp;quot;:71.1,&amp;quot;width&amp;quot;:825.35}"/>
</p:tagLst>
</file>

<file path=ppt/tags/tag1839.xml><?xml version="1.0" encoding="utf-8"?>
<p:tagLst xmlns:p="http://schemas.openxmlformats.org/presentationml/2006/main">
  <p:tag name="KSO_WM_DIAGRAM_VIRTUALLY_FRAME" val="{&amp;quot;height&amp;quot;:74.65,&amp;quot;left&amp;quot;:60.95,&amp;quot;top&amp;quot;:71.1,&amp;quot;width&amp;quot;:825.35}"/>
</p:tagLst>
</file>

<file path=ppt/tags/tag1840.xml><?xml version="1.0" encoding="utf-8"?>
<p:tagLst xmlns:p="http://schemas.openxmlformats.org/presentationml/2006/main">
  <p:tag name="KSO_WM_DIAGRAM_VIRTUALLY_FRAME" val="{&amp;quot;height&amp;quot;:74.65,&amp;quot;left&amp;quot;:60.95,&amp;quot;top&amp;quot;:71.1,&amp;quot;width&amp;quot;:825.35}"/>
</p:tagLst>
</file>

<file path=ppt/tags/tag1841.xml><?xml version="1.0" encoding="utf-8"?>
<p:tagLst xmlns:p="http://schemas.openxmlformats.org/presentationml/2006/main">
  <p:tag name="KSO_WM_DIAGRAM_VIRTUALLY_FRAME" val="{&amp;quot;height&amp;quot;:74.65,&amp;quot;left&amp;quot;:60.95,&amp;quot;top&amp;quot;:71.1,&amp;quot;width&amp;quot;:825.35}"/>
</p:tagLst>
</file>

<file path=ppt/tags/tag1842.xml><?xml version="1.0" encoding="utf-8"?>
<p:tagLst xmlns:p="http://schemas.openxmlformats.org/presentationml/2006/main">
  <p:tag name="KSO_WM_DIAGRAM_VIRTUALLY_FRAME" val="{&amp;quot;height&amp;quot;:74.65,&amp;quot;left&amp;quot;:60.95,&amp;quot;top&amp;quot;:71.1,&amp;quot;width&amp;quot;:825.35}"/>
</p:tagLst>
</file>

<file path=ppt/tags/tag1843.xml><?xml version="1.0" encoding="utf-8"?>
<p:tagLst xmlns:p="http://schemas.openxmlformats.org/presentationml/2006/main">
  <p:tag name="KSO_WM_DIAGRAM_VIRTUALLY_FRAME" val="{&amp;quot;height&amp;quot;:74.65,&amp;quot;left&amp;quot;:60.95,&amp;quot;top&amp;quot;:71.1,&amp;quot;width&amp;quot;:825.35}"/>
</p:tagLst>
</file>

<file path=ppt/tags/tag1844.xml><?xml version="1.0" encoding="utf-8"?>
<p:tagLst xmlns:p="http://schemas.openxmlformats.org/presentationml/2006/main">
  <p:tag name="KSO_WM_DIAGRAM_VIRTUALLY_FRAME" val="{&amp;quot;height&amp;quot;:74.65,&amp;quot;left&amp;quot;:60.95,&amp;quot;top&amp;quot;:71.1,&amp;quot;width&amp;quot;:825.35}"/>
</p:tagLst>
</file>

<file path=ppt/tags/tag1845.xml><?xml version="1.0" encoding="utf-8"?>
<p:tagLst xmlns:p="http://schemas.openxmlformats.org/presentationml/2006/main">
  <p:tag name="KSO_WM_DIAGRAM_VIRTUALLY_FRAME" val="{&amp;quot;height&amp;quot;:74.65,&amp;quot;left&amp;quot;:60.95,&amp;quot;top&amp;quot;:71.1,&amp;quot;width&amp;quot;:825.35}"/>
</p:tagLst>
</file>

<file path=ppt/tags/tag1846.xml><?xml version="1.0" encoding="utf-8"?>
<p:tagLst xmlns:p="http://schemas.openxmlformats.org/presentationml/2006/main">
  <p:tag name="KSO_WM_DIAGRAM_VIRTUALLY_FRAME" val="{&amp;quot;height&amp;quot;:74.65,&amp;quot;left&amp;quot;:60.95,&amp;quot;top&amp;quot;:71.1,&amp;quot;width&amp;quot;:825.35}"/>
</p:tagLst>
</file>

<file path=ppt/tags/tag1847.xml><?xml version="1.0" encoding="utf-8"?>
<p:tagLst xmlns:p="http://schemas.openxmlformats.org/presentationml/2006/main">
  <p:tag name="KSO_WM_DIAGRAM_VIRTUALLY_FRAME" val="{&amp;quot;height&amp;quot;:74.65,&amp;quot;left&amp;quot;:60.95,&amp;quot;top&amp;quot;:71.1,&amp;quot;width&amp;quot;:825.35}"/>
</p:tagLst>
</file>

<file path=ppt/tags/tag1848.xml><?xml version="1.0" encoding="utf-8"?>
<p:tagLst xmlns:p="http://schemas.openxmlformats.org/presentationml/2006/main">
  <p:tag name="KSO_WM_DIAGRAM_VIRTUALLY_FRAME" val="{&amp;quot;height&amp;quot;:74.65,&amp;quot;left&amp;quot;:60.95,&amp;quot;top&amp;quot;:71.1,&amp;quot;width&amp;quot;:825.35}"/>
</p:tagLst>
</file>

<file path=ppt/tags/tag1849.xml><?xml version="1.0" encoding="utf-8"?>
<p:tagLst xmlns:p="http://schemas.openxmlformats.org/presentationml/2006/main">
  <p:tag name="KSO_WM_DIAGRAM_VIRTUALLY_FRAME" val="{&amp;quot;height&amp;quot;:74.65,&amp;quot;left&amp;quot;:60.95,&amp;quot;top&amp;quot;:71.1,&amp;quot;width&amp;quot;:825.35}"/>
</p:tagLst>
</file>

<file path=ppt/tags/tag1850.xml><?xml version="1.0" encoding="utf-8"?>
<p:tagLst xmlns:p="http://schemas.openxmlformats.org/presentationml/2006/main">
  <p:tag name="KSO_WM_DIAGRAM_VIRTUALLY_FRAME" val="{&amp;quot;height&amp;quot;:74.65,&amp;quot;left&amp;quot;:60.95,&amp;quot;top&amp;quot;:71.1,&amp;quot;width&amp;quot;:825.35}"/>
</p:tagLst>
</file>

<file path=ppt/tags/tag1851.xml><?xml version="1.0" encoding="utf-8"?>
<p:tagLst xmlns:p="http://schemas.openxmlformats.org/presentationml/2006/main">
  <p:tag name="KSO_WM_DIAGRAM_VIRTUALLY_FRAME" val="{&amp;quot;height&amp;quot;:74.65,&amp;quot;left&amp;quot;:60.95,&amp;quot;top&amp;quot;:71.1,&amp;quot;width&amp;quot;:825.35}"/>
</p:tagLst>
</file>

<file path=ppt/tags/tag1852.xml><?xml version="1.0" encoding="utf-8"?>
<p:tagLst xmlns:p="http://schemas.openxmlformats.org/presentationml/2006/main">
  <p:tag name="KSO_WM_DIAGRAM_VIRTUALLY_FRAME" val="{&amp;quot;height&amp;quot;:74.65,&amp;quot;left&amp;quot;:60.95,&amp;quot;top&amp;quot;:71.1,&amp;quot;width&amp;quot;:825.35}"/>
</p:tagLst>
</file>

<file path=ppt/tags/tag1853.xml><?xml version="1.0" encoding="utf-8"?>
<p:tagLst xmlns:p="http://schemas.openxmlformats.org/presentationml/2006/main">
  <p:tag name="KSO_WM_DIAGRAM_VIRTUALLY_FRAME" val="{&amp;quot;height&amp;quot;:74.65,&amp;quot;left&amp;quot;:60.95,&amp;quot;top&amp;quot;:71.1,&amp;quot;width&amp;quot;:825.35}"/>
</p:tagLst>
</file>

<file path=ppt/tags/tag1854.xml><?xml version="1.0" encoding="utf-8"?>
<p:tagLst xmlns:p="http://schemas.openxmlformats.org/presentationml/2006/main">
  <p:tag name="KSO_WM_DIAGRAM_VIRTUALLY_FRAME" val="{&amp;quot;height&amp;quot;:74.65,&amp;quot;left&amp;quot;:60.95,&amp;quot;top&amp;quot;:71.1,&amp;quot;width&amp;quot;:825.35}"/>
</p:tagLst>
</file>

<file path=ppt/tags/tag1855.xml><?xml version="1.0" encoding="utf-8"?>
<p:tagLst xmlns:p="http://schemas.openxmlformats.org/presentationml/2006/main">
  <p:tag name="KSO_WM_DIAGRAM_VIRTUALLY_FRAME" val="{&amp;quot;height&amp;quot;:74.65,&amp;quot;left&amp;quot;:60.95,&amp;quot;top&amp;quot;:71.1,&amp;quot;width&amp;quot;:825.35}"/>
</p:tagLst>
</file>

<file path=ppt/tags/tag1856.xml><?xml version="1.0" encoding="utf-8"?>
<p:tagLst xmlns:p="http://schemas.openxmlformats.org/presentationml/2006/main">
  <p:tag name="KSO_WM_DIAGRAM_VIRTUALLY_FRAME" val="{&amp;quot;height&amp;quot;:74.65,&amp;quot;left&amp;quot;:60.95,&amp;quot;top&amp;quot;:71.1,&amp;quot;width&amp;quot;:825.35}"/>
</p:tagLst>
</file>

<file path=ppt/tags/tag1857.xml><?xml version="1.0" encoding="utf-8"?>
<p:tagLst xmlns:p="http://schemas.openxmlformats.org/presentationml/2006/main">
  <p:tag name="KSO_WM_DIAGRAM_VIRTUALLY_FRAME" val="{&amp;quot;height&amp;quot;:74.65,&amp;quot;left&amp;quot;:60.95,&amp;quot;top&amp;quot;:71.1,&amp;quot;width&amp;quot;:825.35}"/>
</p:tagLst>
</file>

<file path=ppt/tags/tag1858.xml><?xml version="1.0" encoding="utf-8"?>
<p:tagLst xmlns:p="http://schemas.openxmlformats.org/presentationml/2006/main">
  <p:tag name="KSO_WM_DIAGRAM_VIRTUALLY_FRAME" val="{&amp;quot;height&amp;quot;:74.65,&amp;quot;left&amp;quot;:60.95,&amp;quot;top&amp;quot;:71.1,&amp;quot;width&amp;quot;:825.35}"/>
</p:tagLst>
</file>

<file path=ppt/tags/tag1859.xml><?xml version="1.0" encoding="utf-8"?>
<p:tagLst xmlns:p="http://schemas.openxmlformats.org/presentationml/2006/main">
  <p:tag name="KSO_WM_DIAGRAM_VIRTUALLY_FRAME" val="{&amp;quot;height&amp;quot;:74.65,&amp;quot;left&amp;quot;:60.95,&amp;quot;top&amp;quot;:71.1,&amp;quot;width&amp;quot;:825.35}"/>
</p:tagLst>
</file>

<file path=ppt/tags/tag1860.xml><?xml version="1.0" encoding="utf-8"?>
<p:tagLst xmlns:p="http://schemas.openxmlformats.org/presentationml/2006/main">
  <p:tag name="KSO_WM_DIAGRAM_VIRTUALLY_FRAME" val="{&amp;quot;height&amp;quot;:74.65,&amp;quot;left&amp;quot;:60.95,&amp;quot;top&amp;quot;:71.1,&amp;quot;width&amp;quot;:825.35}"/>
</p:tagLst>
</file>

<file path=ppt/tags/tag1861.xml><?xml version="1.0" encoding="utf-8"?>
<p:tagLst xmlns:p="http://schemas.openxmlformats.org/presentationml/2006/main">
  <p:tag name="KSO_WM_DIAGRAM_VIRTUALLY_FRAME" val="{&amp;quot;height&amp;quot;:74.65,&amp;quot;left&amp;quot;:60.95,&amp;quot;top&amp;quot;:71.1,&amp;quot;width&amp;quot;:825.35}"/>
</p:tagLst>
</file>

<file path=ppt/tags/tag1862.xml><?xml version="1.0" encoding="utf-8"?>
<p:tagLst xmlns:p="http://schemas.openxmlformats.org/presentationml/2006/main">
  <p:tag name="KSO_WM_DIAGRAM_VIRTUALLY_FRAME" val="{&amp;quot;height&amp;quot;:74.65,&amp;quot;left&amp;quot;:60.95,&amp;quot;top&amp;quot;:71.1,&amp;quot;width&amp;quot;:825.35}"/>
</p:tagLst>
</file>

<file path=ppt/tags/tag1863.xml><?xml version="1.0" encoding="utf-8"?>
<p:tagLst xmlns:p="http://schemas.openxmlformats.org/presentationml/2006/main">
  <p:tag name="KSO_WM_DIAGRAM_VIRTUALLY_FRAME" val="{&amp;quot;height&amp;quot;:74.65,&amp;quot;left&amp;quot;:60.95,&amp;quot;top&amp;quot;:71.1,&amp;quot;width&amp;quot;:825.35}"/>
</p:tagLst>
</file>

<file path=ppt/tags/tag1864.xml><?xml version="1.0" encoding="utf-8"?>
<p:tagLst xmlns:p="http://schemas.openxmlformats.org/presentationml/2006/main">
  <p:tag name="KSO_WM_DIAGRAM_VIRTUALLY_FRAME" val="{&amp;quot;height&amp;quot;:74.65,&amp;quot;left&amp;quot;:60.95,&amp;quot;top&amp;quot;:71.1,&amp;quot;width&amp;quot;:825.35}"/>
</p:tagLst>
</file>

<file path=ppt/tags/tag1865.xml><?xml version="1.0" encoding="utf-8"?>
<p:tagLst xmlns:p="http://schemas.openxmlformats.org/presentationml/2006/main">
  <p:tag name="KSO_WM_DIAGRAM_VIRTUALLY_FRAME" val="{&amp;quot;height&amp;quot;:74.65,&amp;quot;left&amp;quot;:60.95,&amp;quot;top&amp;quot;:71.1,&amp;quot;width&amp;quot;:825.35}"/>
</p:tagLst>
</file>

<file path=ppt/tags/tag1866.xml><?xml version="1.0" encoding="utf-8"?>
<p:tagLst xmlns:p="http://schemas.openxmlformats.org/presentationml/2006/main">
  <p:tag name="KSO_WM_DIAGRAM_VIRTUALLY_FRAME" val="{&amp;quot;height&amp;quot;:74.65,&amp;quot;left&amp;quot;:60.95,&amp;quot;top&amp;quot;:71.1,&amp;quot;width&amp;quot;:825.35}"/>
</p:tagLst>
</file>

<file path=ppt/tags/tag1867.xml><?xml version="1.0" encoding="utf-8"?>
<p:tagLst xmlns:p="http://schemas.openxmlformats.org/presentationml/2006/main">
  <p:tag name="KSO_WM_DIAGRAM_VIRTUALLY_FRAME" val="{&amp;quot;height&amp;quot;:74.65,&amp;quot;left&amp;quot;:60.95,&amp;quot;top&amp;quot;:71.1,&amp;quot;width&amp;quot;:825.35}"/>
</p:tagLst>
</file>

<file path=ppt/tags/tag1868.xml><?xml version="1.0" encoding="utf-8"?>
<p:tagLst xmlns:p="http://schemas.openxmlformats.org/presentationml/2006/main">
  <p:tag name="KSO_WM_DIAGRAM_VIRTUALLY_FRAME" val="{&amp;quot;height&amp;quot;:74.65,&amp;quot;left&amp;quot;:60.95,&amp;quot;top&amp;quot;:71.1,&amp;quot;width&amp;quot;:825.35}"/>
</p:tagLst>
</file>

<file path=ppt/tags/tag1869.xml><?xml version="1.0" encoding="utf-8"?>
<p:tagLst xmlns:p="http://schemas.openxmlformats.org/presentationml/2006/main">
  <p:tag name="KSO_WM_DIAGRAM_VIRTUALLY_FRAME" val="{&amp;quot;height&amp;quot;:74.65,&amp;quot;left&amp;quot;:60.95,&amp;quot;top&amp;quot;:71.1,&amp;quot;width&amp;quot;:825.35}"/>
</p:tagLst>
</file>

<file path=ppt/tags/tag1870.xml><?xml version="1.0" encoding="utf-8"?>
<p:tagLst xmlns:p="http://schemas.openxmlformats.org/presentationml/2006/main">
  <p:tag name="KSO_WM_DIAGRAM_VIRTUALLY_FRAME" val="{&amp;quot;height&amp;quot;:74.65,&amp;quot;left&amp;quot;:60.95,&amp;quot;top&amp;quot;:71.1,&amp;quot;width&amp;quot;:825.35}"/>
</p:tagLst>
</file>

<file path=ppt/tags/tag1871.xml><?xml version="1.0" encoding="utf-8"?>
<p:tagLst xmlns:p="http://schemas.openxmlformats.org/presentationml/2006/main">
  <p:tag name="KSO_WM_DIAGRAM_VIRTUALLY_FRAME" val="{&amp;quot;height&amp;quot;:74.65,&amp;quot;left&amp;quot;:60.95,&amp;quot;top&amp;quot;:71.1,&amp;quot;width&amp;quot;:825.35}"/>
</p:tagLst>
</file>

<file path=ppt/tags/tag1872.xml><?xml version="1.0" encoding="utf-8"?>
<p:tagLst xmlns:p="http://schemas.openxmlformats.org/presentationml/2006/main">
  <p:tag name="KSO_WM_DIAGRAM_VIRTUALLY_FRAME" val="{&amp;quot;height&amp;quot;:74.65,&amp;quot;left&amp;quot;:60.95,&amp;quot;top&amp;quot;:71.1,&amp;quot;width&amp;quot;:825.35}"/>
</p:tagLst>
</file>

<file path=ppt/tags/tag1873.xml><?xml version="1.0" encoding="utf-8"?>
<p:tagLst xmlns:p="http://schemas.openxmlformats.org/presentationml/2006/main">
  <p:tag name="KSO_WM_BEAUTIFY_FLAG" val=""/>
</p:tagLst>
</file>

<file path=ppt/tags/tag1874.xml><?xml version="1.0" encoding="utf-8"?>
<p:tagLst xmlns:p="http://schemas.openxmlformats.org/presentationml/2006/main">
  <p:tag name="KSO_WM_BEAUTIFY_FLAG" val=""/>
</p:tagLst>
</file>

<file path=ppt/tags/tag1875.xml><?xml version="1.0" encoding="utf-8"?>
<p:tagLst xmlns:p="http://schemas.openxmlformats.org/presentationml/2006/main">
  <p:tag name="BAINBULLET" val="True"/>
  <p:tag name="BAINBULLETSACTIVATED" val="True"/>
  <p:tag name="BAINBULLETSLEVELSFINGERPRINT" val="-445028082"/>
</p:tagLst>
</file>

<file path=ppt/tags/tag1876.xml><?xml version="1.0" encoding="utf-8"?>
<p:tagLst xmlns:p="http://schemas.openxmlformats.org/presentationml/2006/main">
  <p:tag name="BAINBULLET" val="True"/>
  <p:tag name="BAINBULLETSACTIVATED" val="True"/>
  <p:tag name="BAINBULLETSLEVELSFINGERPRINT" val="-445028082"/>
</p:tagLst>
</file>

<file path=ppt/tags/tag1877.xml><?xml version="1.0" encoding="utf-8"?>
<p:tagLst xmlns:p="http://schemas.openxmlformats.org/presentationml/2006/main">
  <p:tag name="BAINBULLET" val="True"/>
  <p:tag name="BAINBULLETSACTIVATED" val="True"/>
  <p:tag name="BAINBULLETSLEVELSFINGERPRINT" val="-445028082"/>
</p:tagLst>
</file>

<file path=ppt/tags/tag1878.xml><?xml version="1.0" encoding="utf-8"?>
<p:tagLst xmlns:p="http://schemas.openxmlformats.org/presentationml/2006/main">
  <p:tag name="BAINBULLET" val="True"/>
  <p:tag name="BAINBULLETSACTIVATED" val="True"/>
  <p:tag name="BAINBULLETSLEVELSFINGERPRINT" val="-445028082"/>
</p:tagLst>
</file>

<file path=ppt/tags/tag1879.xml><?xml version="1.0" encoding="utf-8"?>
<p:tagLst xmlns:p="http://schemas.openxmlformats.org/presentationml/2006/main">
  <p:tag name="BAINBULLET" val="True"/>
  <p:tag name="BAINBULLETSACTIVATED" val="True"/>
  <p:tag name="BAINBULLETSLEVELSFINGERPRINT" val="-445028082"/>
</p:tagLst>
</file>

<file path=ppt/tags/tag1880.xml><?xml version="1.0" encoding="utf-8"?>
<p:tagLst xmlns:p="http://schemas.openxmlformats.org/presentationml/2006/main">
  <p:tag name="BAINBULLET" val="True"/>
  <p:tag name="BAINBULLETSACTIVATED" val="True"/>
  <p:tag name="BAINBULLETSLEVELSFINGERPRINT" val="-445028082"/>
</p:tagLst>
</file>

<file path=ppt/tags/tag1881.xml><?xml version="1.0" encoding="utf-8"?>
<p:tagLst xmlns:p="http://schemas.openxmlformats.org/presentationml/2006/main">
  <p:tag name="BAINBULLET" val="True"/>
  <p:tag name="BAINBULLETSACTIVATED" val="True"/>
  <p:tag name="BAINBULLETSLEVELSFINGERPRINT" val="-445028082"/>
</p:tagLst>
</file>

<file path=ppt/tags/tag1882.xml><?xml version="1.0" encoding="utf-8"?>
<p:tagLst xmlns:p="http://schemas.openxmlformats.org/presentationml/2006/main">
  <p:tag name="BAINBULLET" val="True"/>
  <p:tag name="BAINBULLETSACTIVATED" val="True"/>
  <p:tag name="BAINBULLETSLEVELSFINGERPRINT" val="-445028082"/>
</p:tagLst>
</file>

<file path=ppt/tags/tag1883.xml><?xml version="1.0" encoding="utf-8"?>
<p:tagLst xmlns:p="http://schemas.openxmlformats.org/presentationml/2006/main">
  <p:tag name="BAINBULLET" val="True"/>
  <p:tag name="BAINBULLETSACTIVATED" val="True"/>
  <p:tag name="BAINBULLETSLEVELSFINGERPRINT" val="-445028082"/>
</p:tagLst>
</file>

<file path=ppt/tags/tag1884.xml><?xml version="1.0" encoding="utf-8"?>
<p:tagLst xmlns:p="http://schemas.openxmlformats.org/presentationml/2006/main">
  <p:tag name="BAINBULLET" val="True"/>
  <p:tag name="BAINBULLETSACTIVATED" val="True"/>
  <p:tag name="BAINBULLETSLEVELSFINGERPRINT" val="-445028082"/>
</p:tagLst>
</file>

<file path=ppt/tags/tag1885.xml><?xml version="1.0" encoding="utf-8"?>
<p:tagLst xmlns:p="http://schemas.openxmlformats.org/presentationml/2006/main">
  <p:tag name="BAINBULLET" val="True"/>
  <p:tag name="BAINBULLETSACTIVATED" val="True"/>
  <p:tag name="BAINBULLETSLEVELSFINGERPRINT" val="-445028082"/>
</p:tagLst>
</file>

<file path=ppt/tags/tag1886.xml><?xml version="1.0" encoding="utf-8"?>
<p:tagLst xmlns:p="http://schemas.openxmlformats.org/presentationml/2006/main">
  <p:tag name="BAINBULLET" val="True"/>
  <p:tag name="BAINBULLETSACTIVATED" val="True"/>
  <p:tag name="BAINBULLETSLEVELSFINGERPRINT" val="-445028082"/>
</p:tagLst>
</file>

<file path=ppt/tags/tag1887.xml><?xml version="1.0" encoding="utf-8"?>
<p:tagLst xmlns:p="http://schemas.openxmlformats.org/presentationml/2006/main">
  <p:tag name="BAINBULLET" val="True"/>
  <p:tag name="BAINBULLETSACTIVATED" val="True"/>
  <p:tag name="BAINBULLETSLEVELSFINGERPRINT" val="-445028082"/>
</p:tagLst>
</file>

<file path=ppt/tags/tag1888.xml><?xml version="1.0" encoding="utf-8"?>
<p:tagLst xmlns:p="http://schemas.openxmlformats.org/presentationml/2006/main">
  <p:tag name="KSO_WM_BEAUTIFY_FLAG" val=""/>
</p:tagLst>
</file>

<file path=ppt/tags/tag1889.xml><?xml version="1.0" encoding="utf-8"?>
<p:tagLst xmlns:p="http://schemas.openxmlformats.org/presentationml/2006/main">
  <p:tag name="SHADOWSIZE" val="108"/>
  <p:tag name="TEXTSHADOWSIZE" val="100"/>
</p:tagLst>
</file>

<file path=ppt/tags/tag1890.xml><?xml version="1.0" encoding="utf-8"?>
<p:tagLst xmlns:p="http://schemas.openxmlformats.org/presentationml/2006/main">
  <p:tag name="SHADOWSIZE" val="108"/>
  <p:tag name="TEXTSHADOWSIZE" val="100"/>
</p:tagLst>
</file>

<file path=ppt/tags/tag1891.xml><?xml version="1.0" encoding="utf-8"?>
<p:tagLst xmlns:p="http://schemas.openxmlformats.org/presentationml/2006/main">
  <p:tag name="SHADOWSIZE" val="108"/>
  <p:tag name="TEXTSHADOWSIZE" val="100"/>
</p:tagLst>
</file>

<file path=ppt/tags/tag1892.xml><?xml version="1.0" encoding="utf-8"?>
<p:tagLst xmlns:p="http://schemas.openxmlformats.org/presentationml/2006/main">
  <p:tag name="SHADOWSIZE" val="108"/>
  <p:tag name="TEXTSHADOWSIZE" val="100"/>
</p:tagLst>
</file>

<file path=ppt/tags/tag1893.xml><?xml version="1.0" encoding="utf-8"?>
<p:tagLst xmlns:p="http://schemas.openxmlformats.org/presentationml/2006/main">
  <p:tag name="ADJUSTMENTS" val="12.57142"/>
</p:tagLst>
</file>

<file path=ppt/tags/tag1894.xml><?xml version="1.0" encoding="utf-8"?>
<p:tagLst xmlns:p="http://schemas.openxmlformats.org/presentationml/2006/main">
  <p:tag name="SHADOWSIZE" val="100"/>
</p:tagLst>
</file>

<file path=ppt/tags/tag1895.xml><?xml version="1.0" encoding="utf-8"?>
<p:tagLst xmlns:p="http://schemas.openxmlformats.org/presentationml/2006/main">
  <p:tag name="ADJUSTMENTS" val="12.57142"/>
</p:tagLst>
</file>

<file path=ppt/tags/tag1896.xml><?xml version="1.0" encoding="utf-8"?>
<p:tagLst xmlns:p="http://schemas.openxmlformats.org/presentationml/2006/main">
  <p:tag name="SHADOWSIZE" val="100"/>
</p:tagLst>
</file>

<file path=ppt/tags/tag1897.xml><?xml version="1.0" encoding="utf-8"?>
<p:tagLst xmlns:p="http://schemas.openxmlformats.org/presentationml/2006/main">
  <p:tag name="ADJUSTMENTS" val="12.57142"/>
</p:tagLst>
</file>

<file path=ppt/tags/tag1898.xml><?xml version="1.0" encoding="utf-8"?>
<p:tagLst xmlns:p="http://schemas.openxmlformats.org/presentationml/2006/main">
  <p:tag name="SHADOWSIZE" val="100"/>
</p:tagLst>
</file>

<file path=ppt/tags/tag1899.xml><?xml version="1.0" encoding="utf-8"?>
<p:tagLst xmlns:p="http://schemas.openxmlformats.org/presentationml/2006/main">
  <p:tag name="ADJUSTMENTS" val="12.57142"/>
</p:tagLst>
</file>

<file path=ppt/tags/tag1900.xml><?xml version="1.0" encoding="utf-8"?>
<p:tagLst xmlns:p="http://schemas.openxmlformats.org/presentationml/2006/main">
  <p:tag name="SHADOWSIZE" val="100"/>
</p:tagLst>
</file>

<file path=ppt/tags/tag1901.xml><?xml version="1.0" encoding="utf-8"?>
<p:tagLst xmlns:p="http://schemas.openxmlformats.org/presentationml/2006/main">
  <p:tag name="ADJUSTMENTS" val="12.57142"/>
</p:tagLst>
</file>

<file path=ppt/tags/tag1902.xml><?xml version="1.0" encoding="utf-8"?>
<p:tagLst xmlns:p="http://schemas.openxmlformats.org/presentationml/2006/main">
  <p:tag name="SHADOWSIZE" val="100"/>
</p:tagLst>
</file>

<file path=ppt/tags/tag1903.xml><?xml version="1.0" encoding="utf-8"?>
<p:tagLst xmlns:p="http://schemas.openxmlformats.org/presentationml/2006/main">
  <p:tag name="ADJUSTMENTS" val="7.71874"/>
  <p:tag name="SHADOWSIZE" val="108"/>
</p:tagLst>
</file>

<file path=ppt/tags/tag1904.xml><?xml version="1.0" encoding="utf-8"?>
<p:tagLst xmlns:p="http://schemas.openxmlformats.org/presentationml/2006/main">
  <p:tag name="ADJUSTMENTS" val="7.71874"/>
  <p:tag name="SHADOWSIZE" val="108"/>
</p:tagLst>
</file>

<file path=ppt/tags/tag1905.xml><?xml version="1.0" encoding="utf-8"?>
<p:tagLst xmlns:p="http://schemas.openxmlformats.org/presentationml/2006/main">
  <p:tag name="ADJUSTMENTS" val="7.71874"/>
  <p:tag name="SHADOWSIZE" val="108"/>
</p:tagLst>
</file>

<file path=ppt/tags/tag1906.xml><?xml version="1.0" encoding="utf-8"?>
<p:tagLst xmlns:p="http://schemas.openxmlformats.org/presentationml/2006/main">
  <p:tag name="ADJUSTMENTS" val="7.71874"/>
  <p:tag name="SHADOWSIZE" val="108"/>
</p:tagLst>
</file>

<file path=ppt/tags/tag1907.xml><?xml version="1.0" encoding="utf-8"?>
<p:tagLst xmlns:p="http://schemas.openxmlformats.org/presentationml/2006/main">
  <p:tag name="ADJUSTMENTS" val="7.71874"/>
  <p:tag name="SHADOWSIZE" val="108"/>
</p:tagLst>
</file>

<file path=ppt/tags/tag1908.xml><?xml version="1.0" encoding="utf-8"?>
<p:tagLst xmlns:p="http://schemas.openxmlformats.org/presentationml/2006/main">
  <p:tag name="ADJUSTMENTS" val="7.71874"/>
  <p:tag name="SHADOWSIZE" val="108"/>
</p:tagLst>
</file>

<file path=ppt/tags/tag1909.xml><?xml version="1.0" encoding="utf-8"?>
<p:tagLst xmlns:p="http://schemas.openxmlformats.org/presentationml/2006/main">
  <p:tag name="KSO_WM_BEAUTIFY_FLAG" val=""/>
</p:tagLst>
</file>

<file path=ppt/tags/tag1910.xml><?xml version="1.0" encoding="utf-8"?>
<p:tagLst xmlns:p="http://schemas.openxmlformats.org/presentationml/2006/main">
  <p:tag name="KSO_WM_BEAUTIFY_FLAG" val=""/>
</p:tagLst>
</file>

<file path=ppt/tags/tag1911.xml><?xml version="1.0" encoding="utf-8"?>
<p:tagLst xmlns:p="http://schemas.openxmlformats.org/presentationml/2006/main">
  <p:tag name="KSO_WM_BEAUTIFY_FLAG" val=""/>
</p:tagLst>
</file>

<file path=ppt/tags/tag1912.xml><?xml version="1.0" encoding="utf-8"?>
<p:tagLst xmlns:p="http://schemas.openxmlformats.org/presentationml/2006/main">
  <p:tag name="KSO_WM_BEAUTIFY_FLAG" val=""/>
</p:tagLst>
</file>

<file path=ppt/tags/tag1913.xml><?xml version="1.0" encoding="utf-8"?>
<p:tagLst xmlns:p="http://schemas.openxmlformats.org/presentationml/2006/main">
  <p:tag name="KSO_WM_BEAUTIFY_FLAG" val=""/>
</p:tagLst>
</file>

<file path=ppt/tags/tag1914.xml><?xml version="1.0" encoding="utf-8"?>
<p:tagLst xmlns:p="http://schemas.openxmlformats.org/presentationml/2006/main">
  <p:tag name="KSO_WM_BEAUTIFY_FLAG" val=""/>
</p:tagLst>
</file>

<file path=ppt/tags/tag1915.xml><?xml version="1.0" encoding="utf-8"?>
<p:tagLst xmlns:p="http://schemas.openxmlformats.org/presentationml/2006/main">
  <p:tag name="KSO_WM_BEAUTIFY_FLAG" val=""/>
</p:tagLst>
</file>

<file path=ppt/tags/tag1916.xml><?xml version="1.0" encoding="utf-8"?>
<p:tagLst xmlns:p="http://schemas.openxmlformats.org/presentationml/2006/main">
  <p:tag name="KSO_WM_BEAUTIFY_FLAG" val=""/>
</p:tagLst>
</file>

<file path=ppt/tags/tag1917.xml><?xml version="1.0" encoding="utf-8"?>
<p:tagLst xmlns:p="http://schemas.openxmlformats.org/presentationml/2006/main">
  <p:tag name="KSO_WM_BEAUTIFY_FLAG" val=""/>
</p:tagLst>
</file>

<file path=ppt/tags/tag1918.xml><?xml version="1.0" encoding="utf-8"?>
<p:tagLst xmlns:p="http://schemas.openxmlformats.org/presentationml/2006/main">
  <p:tag name="KSO_WM_BEAUTIFY_FLAG" val=""/>
</p:tagLst>
</file>

<file path=ppt/tags/tag1919.xml><?xml version="1.0" encoding="utf-8"?>
<p:tagLst xmlns:p="http://schemas.openxmlformats.org/presentationml/2006/main">
  <p:tag name="SHADOWSIZE" val="90"/>
  <p:tag name="ADJUSTMENTS" val="6.765331"/>
</p:tagLst>
</file>

<file path=ppt/tags/tag1920.xml><?xml version="1.0" encoding="utf-8"?>
<p:tagLst xmlns:p="http://schemas.openxmlformats.org/presentationml/2006/main">
  <p:tag name="SHADOWSIZE" val="90"/>
  <p:tag name="ADJUSTMENTS" val="6.765331"/>
</p:tagLst>
</file>

<file path=ppt/tags/tag1921.xml><?xml version="1.0" encoding="utf-8"?>
<p:tagLst xmlns:p="http://schemas.openxmlformats.org/presentationml/2006/main">
  <p:tag name="SHADOWSIZE" val="90"/>
  <p:tag name="ADJUSTMENTS" val="6.765331"/>
</p:tagLst>
</file>

<file path=ppt/tags/tag1922.xml><?xml version="1.0" encoding="utf-8"?>
<p:tagLst xmlns:p="http://schemas.openxmlformats.org/presentationml/2006/main">
  <p:tag name="KSO_WM_DIAGRAM_VIRTUALLY_FRAME" val="{&amp;quot;height&amp;quot;:403.1,&amp;quot;left&amp;quot;:55.7,&amp;quot;top&amp;quot;:109.25,&amp;quot;width&amp;quot;:860.45}"/>
</p:tagLst>
</file>

<file path=ppt/tags/tag1923.xml><?xml version="1.0" encoding="utf-8"?>
<p:tagLst xmlns:p="http://schemas.openxmlformats.org/presentationml/2006/main">
  <p:tag name="KSO_WM_DIAGRAM_VIRTUALLY_FRAME" val="{&amp;quot;height&amp;quot;:336.9,&amp;quot;left&amp;quot;:59.1,&amp;quot;top&amp;quot;:200.4,&amp;quot;width&amp;quot;:851.65}"/>
</p:tagLst>
</file>

<file path=ppt/tags/tag1924.xml><?xml version="1.0" encoding="utf-8"?>
<p:tagLst xmlns:p="http://schemas.openxmlformats.org/presentationml/2006/main">
  <p:tag name="KSO_WM_DIAGRAM_VIRTUALLY_FRAME" val="{&amp;quot;height&amp;quot;:403.1,&amp;quot;left&amp;quot;:55.7,&amp;quot;top&amp;quot;:109.25,&amp;quot;width&amp;quot;:860.45}"/>
</p:tagLst>
</file>

<file path=ppt/tags/tag1925.xml><?xml version="1.0" encoding="utf-8"?>
<p:tagLst xmlns:p="http://schemas.openxmlformats.org/presentationml/2006/main">
  <p:tag name="KSO_WM_DIAGRAM_VIRTUALLY_FRAME" val="{&amp;quot;height&amp;quot;:403.1,&amp;quot;left&amp;quot;:55.7,&amp;quot;top&amp;quot;:109.25,&amp;quot;width&amp;quot;:860.45}"/>
</p:tagLst>
</file>

<file path=ppt/tags/tag1926.xml><?xml version="1.0" encoding="utf-8"?>
<p:tagLst xmlns:p="http://schemas.openxmlformats.org/presentationml/2006/main">
  <p:tag name="KSO_WM_DIAGRAM_VIRTUALLY_FRAME" val="{&amp;quot;height&amp;quot;:403.1,&amp;quot;left&amp;quot;:55.7,&amp;quot;top&amp;quot;:109.25,&amp;quot;width&amp;quot;:860.45}"/>
</p:tagLst>
</file>

<file path=ppt/tags/tag1927.xml><?xml version="1.0" encoding="utf-8"?>
<p:tagLst xmlns:p="http://schemas.openxmlformats.org/presentationml/2006/main">
  <p:tag name="KSO_WM_DIAGRAM_VIRTUALLY_FRAME" val="{&amp;quot;height&amp;quot;:403.1,&amp;quot;left&amp;quot;:55.7,&amp;quot;top&amp;quot;:109.25,&amp;quot;width&amp;quot;:860.45}"/>
</p:tagLst>
</file>

<file path=ppt/tags/tag1928.xml><?xml version="1.0" encoding="utf-8"?>
<p:tagLst xmlns:p="http://schemas.openxmlformats.org/presentationml/2006/main">
  <p:tag name="KSO_WM_DIAGRAM_VIRTUALLY_FRAME" val="{&amp;quot;height&amp;quot;:403.1,&amp;quot;left&amp;quot;:55.7,&amp;quot;top&amp;quot;:109.25,&amp;quot;width&amp;quot;:860.45}"/>
</p:tagLst>
</file>

<file path=ppt/tags/tag1929.xml><?xml version="1.0" encoding="utf-8"?>
<p:tagLst xmlns:p="http://schemas.openxmlformats.org/presentationml/2006/main">
  <p:tag name="KSO_WM_DIAGRAM_VIRTUALLY_FRAME" val="{&amp;quot;height&amp;quot;:403.1,&amp;quot;left&amp;quot;:55.7,&amp;quot;top&amp;quot;:109.25,&amp;quot;width&amp;quot;:860.45}"/>
</p:tagLst>
</file>

<file path=ppt/tags/tag1930.xml><?xml version="1.0" encoding="utf-8"?>
<p:tagLst xmlns:p="http://schemas.openxmlformats.org/presentationml/2006/main">
  <p:tag name="KSO_WM_DIAGRAM_VIRTUALLY_FRAME" val="{&amp;quot;height&amp;quot;:403.1,&amp;quot;left&amp;quot;:55.7,&amp;quot;top&amp;quot;:109.25,&amp;quot;width&amp;quot;:860.45}"/>
</p:tagLst>
</file>

<file path=ppt/tags/tag1931.xml><?xml version="1.0" encoding="utf-8"?>
<p:tagLst xmlns:p="http://schemas.openxmlformats.org/presentationml/2006/main">
  <p:tag name="KSO_WM_DIAGRAM_VIRTUALLY_FRAME" val="{&amp;quot;height&amp;quot;:403.1,&amp;quot;left&amp;quot;:55.7,&amp;quot;top&amp;quot;:109.25,&amp;quot;width&amp;quot;:860.45}"/>
</p:tagLst>
</file>

<file path=ppt/tags/tag1932.xml><?xml version="1.0" encoding="utf-8"?>
<p:tagLst xmlns:p="http://schemas.openxmlformats.org/presentationml/2006/main">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DIAGRAM_VIRTUALLY_FRAME" val="{&amp;quot;height&amp;quot;:403.1,&amp;quot;left&amp;quot;:55.7,&amp;quot;top&amp;quot;:109.25,&amp;quot;width&amp;quot;:860.45}"/>
</p:tagLst>
</file>

<file path=ppt/tags/tag1933.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 name="KSO_WM_DIAGRAM_VIRTUALLY_FRAME" val="{&amp;quot;height&amp;quot;:403.1,&amp;quot;left&amp;quot;:55.7,&amp;quot;top&amp;quot;:109.25,&amp;quot;width&amp;quot;:860.45}"/>
</p:tagLst>
</file>

<file path=ppt/tags/tag1934.xml><?xml version="1.0" encoding="utf-8"?>
<p:tagLst xmlns:p="http://schemas.openxmlformats.org/presentationml/2006/main">
  <p:tag name="KSO_WM_DIAGRAM_VIRTUALLY_FRAME" val="{&amp;quot;height&amp;quot;:403.1,&amp;quot;left&amp;quot;:55.7,&amp;quot;top&amp;quot;:109.25,&amp;quot;width&amp;quot;:860.45}"/>
</p:tagLst>
</file>

<file path=ppt/tags/tag1935.xml><?xml version="1.0" encoding="utf-8"?>
<p:tagLst xmlns:p="http://schemas.openxmlformats.org/presentationml/2006/main">
  <p:tag name="KSO_WM_DIAGRAM_VIRTUALLY_FRAME" val="{&amp;quot;height&amp;quot;:403.1,&amp;quot;left&amp;quot;:55.7,&amp;quot;top&amp;quot;:109.25,&amp;quot;width&amp;quot;:860.45}"/>
</p:tagLst>
</file>

<file path=ppt/tags/tag1936.xml><?xml version="1.0" encoding="utf-8"?>
<p:tagLst xmlns:p="http://schemas.openxmlformats.org/presentationml/2006/main">
  <p:tag name="KSO_WM_DIAGRAM_VIRTUALLY_FRAME" val="{&amp;quot;height&amp;quot;:403.1,&amp;quot;left&amp;quot;:55.7,&amp;quot;top&amp;quot;:109.25,&amp;quot;width&amp;quot;:860.45}"/>
</p:tagLst>
</file>

<file path=ppt/tags/tag1937.xml><?xml version="1.0" encoding="utf-8"?>
<p:tagLst xmlns:p="http://schemas.openxmlformats.org/presentationml/2006/main">
  <p:tag name="KSO_WM_DIAGRAM_VIRTUALLY_FRAME" val="{&amp;quot;height&amp;quot;:403.1,&amp;quot;left&amp;quot;:55.7,&amp;quot;top&amp;quot;:109.25,&amp;quot;width&amp;quot;:860.45}"/>
</p:tagLst>
</file>

<file path=ppt/tags/tag1938.xml><?xml version="1.0" encoding="utf-8"?>
<p:tagLst xmlns:p="http://schemas.openxmlformats.org/presentationml/2006/main">
  <p:tag name="KSO_WM_DIAGRAM_VIRTUALLY_FRAME" val="{&amp;quot;height&amp;quot;:403.1,&amp;quot;left&amp;quot;:55.7,&amp;quot;top&amp;quot;:109.25,&amp;quot;width&amp;quot;:860.45}"/>
</p:tagLst>
</file>

<file path=ppt/tags/tag1939.xml><?xml version="1.0" encoding="utf-8"?>
<p:tagLst xmlns:p="http://schemas.openxmlformats.org/presentationml/2006/main">
  <p:tag name="KSO_WM_DIAGRAM_VIRTUALLY_FRAME" val="{&amp;quot;height&amp;quot;:103.75,&amp;quot;left&amp;quot;:146.2,&amp;quot;top&amp;quot;:388,&amp;quot;width&amp;quot;:683.5}"/>
</p:tagLst>
</file>

<file path=ppt/tags/tag1940.xml><?xml version="1.0" encoding="utf-8"?>
<p:tagLst xmlns:p="http://schemas.openxmlformats.org/presentationml/2006/main">
  <p:tag name="KSO_WM_DIAGRAM_VIRTUALLY_FRAME" val="{&amp;quot;height&amp;quot;:103.75,&amp;quot;left&amp;quot;:146.2,&amp;quot;top&amp;quot;:388,&amp;quot;width&amp;quot;:683.5}"/>
</p:tagLst>
</file>

<file path=ppt/tags/tag1941.xml><?xml version="1.0" encoding="utf-8"?>
<p:tagLst xmlns:p="http://schemas.openxmlformats.org/presentationml/2006/main">
  <p:tag name="KSO_WM_DIAGRAM_VIRTUALLY_FRAME" val="{&amp;quot;height&amp;quot;:103.75,&amp;quot;left&amp;quot;:146.2,&amp;quot;top&amp;quot;:388,&amp;quot;width&amp;quot;:683.5}"/>
</p:tagLst>
</file>

<file path=ppt/tags/tag1942.xml><?xml version="1.0" encoding="utf-8"?>
<p:tagLst xmlns:p="http://schemas.openxmlformats.org/presentationml/2006/main">
  <p:tag name="KSO_WM_DIAGRAM_VIRTUALLY_FRAME" val="{&amp;quot;height&amp;quot;:103.75,&amp;quot;left&amp;quot;:146.2,&amp;quot;top&amp;quot;:388,&amp;quot;width&amp;quot;:683.5}"/>
</p:tagLst>
</file>

<file path=ppt/tags/tag1943.xml><?xml version="1.0" encoding="utf-8"?>
<p:tagLst xmlns:p="http://schemas.openxmlformats.org/presentationml/2006/main">
  <p:tag name="KSO_WM_DIAGRAM_VIRTUALLY_FRAME" val="{&amp;quot;height&amp;quot;:103.75,&amp;quot;left&amp;quot;:146.2,&amp;quot;top&amp;quot;:388,&amp;quot;width&amp;quot;:683.5}"/>
</p:tagLst>
</file>

<file path=ppt/tags/tag1944.xml><?xml version="1.0" encoding="utf-8"?>
<p:tagLst xmlns:p="http://schemas.openxmlformats.org/presentationml/2006/main">
  <p:tag name="KSO_WM_DIAGRAM_VIRTUALLY_FRAME" val="{&amp;quot;height&amp;quot;:103.75,&amp;quot;left&amp;quot;:146.2,&amp;quot;top&amp;quot;:388,&amp;quot;width&amp;quot;:683.5}"/>
</p:tagLst>
</file>

<file path=ppt/tags/tag1945.xml><?xml version="1.0" encoding="utf-8"?>
<p:tagLst xmlns:p="http://schemas.openxmlformats.org/presentationml/2006/main">
  <p:tag name="KSO_WM_DIAGRAM_VIRTUALLY_FRAME" val="{&amp;quot;height&amp;quot;:103.75,&amp;quot;left&amp;quot;:146.2,&amp;quot;top&amp;quot;:388,&amp;quot;width&amp;quot;:683.5}"/>
</p:tagLst>
</file>

<file path=ppt/tags/tag1946.xml><?xml version="1.0" encoding="utf-8"?>
<p:tagLst xmlns:p="http://schemas.openxmlformats.org/presentationml/2006/main">
  <p:tag name="KSO_WM_DIAGRAM_VIRTUALLY_FRAME" val="{&amp;quot;height&amp;quot;:103.75,&amp;quot;left&amp;quot;:146.2,&amp;quot;top&amp;quot;:388,&amp;quot;width&amp;quot;:683.5}"/>
</p:tagLst>
</file>

<file path=ppt/tags/tag1947.xml><?xml version="1.0" encoding="utf-8"?>
<p:tagLst xmlns:p="http://schemas.openxmlformats.org/presentationml/2006/main">
  <p:tag name="KSO_WM_DIAGRAM_VIRTUALLY_FRAME" val="{&amp;quot;height&amp;quot;:103.75,&amp;quot;left&amp;quot;:146.2,&amp;quot;top&amp;quot;:388,&amp;quot;width&amp;quot;:683.5}"/>
</p:tagLst>
</file>

<file path=ppt/tags/tag1948.xml><?xml version="1.0" encoding="utf-8"?>
<p:tagLst xmlns:p="http://schemas.openxmlformats.org/presentationml/2006/main">
  <p:tag name="KSO_WM_DIAGRAM_VIRTUALLY_FRAME" val="{&amp;quot;height&amp;quot;:103.75,&amp;quot;left&amp;quot;:146.2,&amp;quot;top&amp;quot;:388,&amp;quot;width&amp;quot;:683.5}"/>
</p:tagLst>
</file>

<file path=ppt/tags/tag1949.xml><?xml version="1.0" encoding="utf-8"?>
<p:tagLst xmlns:p="http://schemas.openxmlformats.org/presentationml/2006/main">
  <p:tag name="KSO_WM_DIAGRAM_VIRTUALLY_FRAME" val="{&amp;quot;height&amp;quot;:103.75,&amp;quot;left&amp;quot;:146.2,&amp;quot;top&amp;quot;:388,&amp;quot;width&amp;quot;:683.5}"/>
</p:tagLst>
</file>

<file path=ppt/tags/tag1950.xml><?xml version="1.0" encoding="utf-8"?>
<p:tagLst xmlns:p="http://schemas.openxmlformats.org/presentationml/2006/main">
  <p:tag name="KSO_WM_DIAGRAM_VIRTUALLY_FRAME" val="{&amp;quot;height&amp;quot;:103.75,&amp;quot;left&amp;quot;:146.2,&amp;quot;top&amp;quot;:388,&amp;quot;width&amp;quot;:683.5}"/>
</p:tagLst>
</file>

<file path=ppt/tags/tag1951.xml><?xml version="1.0" encoding="utf-8"?>
<p:tagLst xmlns:p="http://schemas.openxmlformats.org/presentationml/2006/main">
  <p:tag name="KSO_WM_DIAGRAM_VIRTUALLY_FRAME" val="{&amp;quot;height&amp;quot;:103.75,&amp;quot;left&amp;quot;:146.2,&amp;quot;top&amp;quot;:388,&amp;quot;width&amp;quot;:683.5}"/>
</p:tagLst>
</file>

<file path=ppt/tags/tag1952.xml><?xml version="1.0" encoding="utf-8"?>
<p:tagLst xmlns:p="http://schemas.openxmlformats.org/presentationml/2006/main">
  <p:tag name="KSO_WM_DIAGRAM_VIRTUALLY_FRAME" val="{&amp;quot;height&amp;quot;:103.75,&amp;quot;left&amp;quot;:146.2,&amp;quot;top&amp;quot;:388,&amp;quot;width&amp;quot;:683.5}"/>
</p:tagLst>
</file>

<file path=ppt/tags/tag1953.xml><?xml version="1.0" encoding="utf-8"?>
<p:tagLst xmlns:p="http://schemas.openxmlformats.org/presentationml/2006/main">
  <p:tag name="KSO_WM_DIAGRAM_VIRTUALLY_FRAME" val="{&amp;quot;height&amp;quot;:103.75,&amp;quot;left&amp;quot;:146.2,&amp;quot;top&amp;quot;:388,&amp;quot;width&amp;quot;:683.5}"/>
</p:tagLst>
</file>

<file path=ppt/tags/tag1954.xml><?xml version="1.0" encoding="utf-8"?>
<p:tagLst xmlns:p="http://schemas.openxmlformats.org/presentationml/2006/main">
  <p:tag name="KSO_WM_DIAGRAM_VIRTUALLY_FRAME" val="{&amp;quot;height&amp;quot;:103.75,&amp;quot;left&amp;quot;:146.2,&amp;quot;top&amp;quot;:388,&amp;quot;width&amp;quot;:683.5}"/>
</p:tagLst>
</file>

<file path=ppt/tags/tag1955.xml><?xml version="1.0" encoding="utf-8"?>
<p:tagLst xmlns:p="http://schemas.openxmlformats.org/presentationml/2006/main">
  <p:tag name="KSO_WM_DIAGRAM_VIRTUALLY_FRAME" val="{&amp;quot;height&amp;quot;:103.75,&amp;quot;left&amp;quot;:146.2,&amp;quot;top&amp;quot;:388,&amp;quot;width&amp;quot;:683.5}"/>
</p:tagLst>
</file>

<file path=ppt/tags/tag1956.xml><?xml version="1.0" encoding="utf-8"?>
<p:tagLst xmlns:p="http://schemas.openxmlformats.org/presentationml/2006/main">
  <p:tag name="KSO_WM_DIAGRAM_VIRTUALLY_FRAME" val="{&amp;quot;height&amp;quot;:103.75,&amp;quot;left&amp;quot;:146.2,&amp;quot;top&amp;quot;:388,&amp;quot;width&amp;quot;:683.5}"/>
</p:tagLst>
</file>

<file path=ppt/tags/tag1957.xml><?xml version="1.0" encoding="utf-8"?>
<p:tagLst xmlns:p="http://schemas.openxmlformats.org/presentationml/2006/main">
  <p:tag name="KSO_WM_DIAGRAM_VIRTUALLY_FRAME" val="{&amp;quot;height&amp;quot;:103.75,&amp;quot;left&amp;quot;:146.2,&amp;quot;top&amp;quot;:388,&amp;quot;width&amp;quot;:683.5}"/>
</p:tagLst>
</file>

<file path=ppt/tags/tag1958.xml><?xml version="1.0" encoding="utf-8"?>
<p:tagLst xmlns:p="http://schemas.openxmlformats.org/presentationml/2006/main">
  <p:tag name="KSO_WM_DIAGRAM_VIRTUALLY_FRAME" val="{&amp;quot;height&amp;quot;:419.3622047244095,&amp;quot;left&amp;quot;:36,&amp;quot;top&amp;quot;:89.55771653543306,&amp;quot;width&amp;quot;:903.3}"/>
</p:tagLst>
</file>

<file path=ppt/tags/tag1959.xml><?xml version="1.0" encoding="utf-8"?>
<p:tagLst xmlns:p="http://schemas.openxmlformats.org/presentationml/2006/main">
  <p:tag name="KSO_WM_DIAGRAM_VIRTUALLY_FRAME" val="{&amp;quot;height&amp;quot;:419.3622047244095,&amp;quot;left&amp;quot;:36,&amp;quot;top&amp;quot;:89.55771653543306,&amp;quot;width&amp;quot;:903.3}"/>
</p:tagLst>
</file>

<file path=ppt/tags/tag1960.xml><?xml version="1.0" encoding="utf-8"?>
<p:tagLst xmlns:p="http://schemas.openxmlformats.org/presentationml/2006/main">
  <p:tag name="KSO_WM_DIAGRAM_VIRTUALLY_FRAME" val="{&amp;quot;height&amp;quot;:419.3622047244095,&amp;quot;left&amp;quot;:36,&amp;quot;top&amp;quot;:89.55771653543306,&amp;quot;width&amp;quot;:903.3}"/>
</p:tagLst>
</file>

<file path=ppt/tags/tag1961.xml><?xml version="1.0" encoding="utf-8"?>
<p:tagLst xmlns:p="http://schemas.openxmlformats.org/presentationml/2006/main">
  <p:tag name="KSO_WM_DIAGRAM_VIRTUALLY_FRAME" val="{&amp;quot;height&amp;quot;:419.3622047244095,&amp;quot;left&amp;quot;:36,&amp;quot;top&amp;quot;:89.55771653543306,&amp;quot;width&amp;quot;:903.3}"/>
</p:tagLst>
</file>

<file path=ppt/tags/tag196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6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6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6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6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6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68.xml><?xml version="1.0" encoding="utf-8"?>
<p:tagLst xmlns:p="http://schemas.openxmlformats.org/presentationml/2006/main">
  <p:tag name="KSO_WM_DIAGRAM_VIRTUALLY_FRAME" val="{&amp;quot;height&amp;quot;:503.4,&amp;quot;left&amp;quot;:45.4,&amp;quot;top&amp;quot;:113.5,&amp;quot;width&amp;quot;:861.45}"/>
</p:tagLst>
</file>

<file path=ppt/tags/tag1969.xml><?xml version="1.0" encoding="utf-8"?>
<p:tagLst xmlns:p="http://schemas.openxmlformats.org/presentationml/2006/main">
  <p:tag name="KSO_WM_DIAGRAM_VIRTUALLY_FRAME" val="{&amp;quot;height&amp;quot;:503.4,&amp;quot;left&amp;quot;:45.4,&amp;quot;top&amp;quot;:113.5,&amp;quot;width&amp;quot;:861.45}"/>
</p:tagLst>
</file>

<file path=ppt/tags/tag197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7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8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199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0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1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2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3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4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5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6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7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8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09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0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1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8.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29.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0.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1.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2.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3.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4.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5.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6.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7.xml><?xml version="1.0" encoding="utf-8"?>
<p:tagLst xmlns:p="http://schemas.openxmlformats.org/presentationml/2006/main">
  <p:tag name="KSO_WM_DIAGRAM_VIRTUALLY_FRAME" val="{&amp;quot;height&amp;quot;:544.3984434993888,&amp;quot;left&amp;quot;:45.4,&amp;quot;top&amp;quot;:73.40155650061115,&amp;quot;width&amp;quot;:951.3288687899139}"/>
</p:tagLst>
</file>

<file path=ppt/tags/tag2138.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39.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0.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1.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2.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3.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4.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5.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6.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7.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8.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49.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0.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1.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2.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3.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4.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5.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6.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7.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8.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59.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0.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1.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2.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3.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4.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5.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6.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7.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8.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69.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0.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1.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2.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3.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4.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5.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6.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7.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8.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79.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80.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81.xml><?xml version="1.0" encoding="utf-8"?>
<p:tagLst xmlns:p="http://schemas.openxmlformats.org/presentationml/2006/main">
  <p:tag name="SHADOWSIZE" val="99"/>
</p:tagLst>
</file>

<file path=ppt/tags/tag2182.xml><?xml version="1.0" encoding="utf-8"?>
<p:tagLst xmlns:p="http://schemas.openxmlformats.org/presentationml/2006/main">
  <p:tag name="SHADOWSIZE" val="102"/>
</p:tagLst>
</file>

<file path=ppt/tags/tag2183.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84.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85.xml><?xml version="1.0" encoding="utf-8"?>
<p:tagLst xmlns:p="http://schemas.openxmlformats.org/presentationml/2006/main">
  <p:tag name="SHADOWSIZE" val="99"/>
</p:tagLst>
</file>

<file path=ppt/tags/tag2186.xml><?xml version="1.0" encoding="utf-8"?>
<p:tagLst xmlns:p="http://schemas.openxmlformats.org/presentationml/2006/main">
  <p:tag name="SHADOWSIZE" val="102"/>
</p:tagLst>
</file>

<file path=ppt/tags/tag2187.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88.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89.xml><?xml version="1.0" encoding="utf-8"?>
<p:tagLst xmlns:p="http://schemas.openxmlformats.org/presentationml/2006/main">
  <p:tag name="SHADOWSIZE" val="99"/>
</p:tagLst>
</file>

<file path=ppt/tags/tag2190.xml><?xml version="1.0" encoding="utf-8"?>
<p:tagLst xmlns:p="http://schemas.openxmlformats.org/presentationml/2006/main">
  <p:tag name="SHADOWSIZE" val="102"/>
</p:tagLst>
</file>

<file path=ppt/tags/tag2191.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92.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93.xml><?xml version="1.0" encoding="utf-8"?>
<p:tagLst xmlns:p="http://schemas.openxmlformats.org/presentationml/2006/main">
  <p:tag name="SHADOWSIZE" val="99"/>
</p:tagLst>
</file>

<file path=ppt/tags/tag2194.xml><?xml version="1.0" encoding="utf-8"?>
<p:tagLst xmlns:p="http://schemas.openxmlformats.org/presentationml/2006/main">
  <p:tag name="SHADOWSIZE" val="102"/>
</p:tagLst>
</file>

<file path=ppt/tags/tag2195.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96.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197.xml><?xml version="1.0" encoding="utf-8"?>
<p:tagLst xmlns:p="http://schemas.openxmlformats.org/presentationml/2006/main">
  <p:tag name="SHADOWSIZE" val="99"/>
</p:tagLst>
</file>

<file path=ppt/tags/tag2198.xml><?xml version="1.0" encoding="utf-8"?>
<p:tagLst xmlns:p="http://schemas.openxmlformats.org/presentationml/2006/main">
  <p:tag name="SHADOWSIZE" val="102"/>
</p:tagLst>
</file>

<file path=ppt/tags/tag2199.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200.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201.xml><?xml version="1.0" encoding="utf-8"?>
<p:tagLst xmlns:p="http://schemas.openxmlformats.org/presentationml/2006/main">
  <p:tag name="KSO_WM_DIAGRAM_VIRTUALLY_FRAME" val="{&amp;quot;height&amp;quot;:491.65,&amp;quot;left&amp;quot;:29.465905511811023,&amp;quot;top&amp;quot;:81.55,&amp;quot;width&amp;quot;:957.2840944881889}"/>
</p:tagLst>
</file>

<file path=ppt/tags/tag2202.xml><?xml version="1.0" encoding="utf-8"?>
<p:tagLst xmlns:p="http://schemas.openxmlformats.org/presentationml/2006/main">
  <p:tag name="KSO_WM_DIAGRAM_VIRTUALLY_FRAME" val="{&amp;quot;height&amp;quot;:64.1,&amp;quot;left&amp;quot;:61.55,&amp;quot;top&amp;quot;:96.55,&amp;quot;width&amp;quot;:840.35}"/>
</p:tagLst>
</file>

<file path=ppt/tags/tag2203.xml><?xml version="1.0" encoding="utf-8"?>
<p:tagLst xmlns:p="http://schemas.openxmlformats.org/presentationml/2006/main">
  <p:tag name="KSO_WM_DIAGRAM_VIRTUALLY_FRAME" val="{&amp;quot;height&amp;quot;:64.1,&amp;quot;left&amp;quot;:61.55,&amp;quot;top&amp;quot;:96.55,&amp;quot;width&amp;quot;:840.35}"/>
</p:tagLst>
</file>

<file path=ppt/tags/tag2204.xml><?xml version="1.0" encoding="utf-8"?>
<p:tagLst xmlns:p="http://schemas.openxmlformats.org/presentationml/2006/main">
  <p:tag name="KSO_WM_DIAGRAM_VIRTUALLY_FRAME" val="{&amp;quot;height&amp;quot;:64.1,&amp;quot;left&amp;quot;:61.55,&amp;quot;top&amp;quot;:96.55,&amp;quot;width&amp;quot;:840.35}"/>
</p:tagLst>
</file>

<file path=ppt/tags/tag2205.xml><?xml version="1.0" encoding="utf-8"?>
<p:tagLst xmlns:p="http://schemas.openxmlformats.org/presentationml/2006/main">
  <p:tag name="KSO_WM_DIAGRAM_VIRTUALLY_FRAME" val="{&amp;quot;height&amp;quot;:64.1,&amp;quot;left&amp;quot;:61.55,&amp;quot;top&amp;quot;:96.55,&amp;quot;width&amp;quot;:840.35}"/>
</p:tagLst>
</file>

<file path=ppt/tags/tag2206.xml><?xml version="1.0" encoding="utf-8"?>
<p:tagLst xmlns:p="http://schemas.openxmlformats.org/presentationml/2006/main">
  <p:tag name="KSO_WM_DIAGRAM_VIRTUALLY_FRAME" val="{&amp;quot;height&amp;quot;:64.1,&amp;quot;left&amp;quot;:61.55,&amp;quot;top&amp;quot;:96.55,&amp;quot;width&amp;quot;:840.35}"/>
</p:tagLst>
</file>

<file path=ppt/tags/tag2207.xml><?xml version="1.0" encoding="utf-8"?>
<p:tagLst xmlns:p="http://schemas.openxmlformats.org/presentationml/2006/main">
  <p:tag name="KSO_WM_DIAGRAM_VIRTUALLY_FRAME" val="{&amp;quot;height&amp;quot;:64.1,&amp;quot;left&amp;quot;:61.55,&amp;quot;top&amp;quot;:96.55,&amp;quot;width&amp;quot;:840.35}"/>
</p:tagLst>
</file>

<file path=ppt/tags/tag2208.xml><?xml version="1.0" encoding="utf-8"?>
<p:tagLst xmlns:p="http://schemas.openxmlformats.org/presentationml/2006/main">
  <p:tag name="KSO_WM_DIAGRAM_VIRTUALLY_FRAME" val="{&amp;quot;height&amp;quot;:64.1,&amp;quot;left&amp;quot;:61.55,&amp;quot;top&amp;quot;:96.55,&amp;quot;width&amp;quot;:840.35}"/>
</p:tagLst>
</file>

<file path=ppt/tags/tag2209.xml><?xml version="1.0" encoding="utf-8"?>
<p:tagLst xmlns:p="http://schemas.openxmlformats.org/presentationml/2006/main">
  <p:tag name="KSO_WM_DIAGRAM_VIRTUALLY_FRAME" val="{&amp;quot;height&amp;quot;:64.1,&amp;quot;left&amp;quot;:61.55,&amp;quot;top&amp;quot;:96.55,&amp;quot;width&amp;quot;:840.35}"/>
</p:tagLst>
</file>

<file path=ppt/tags/tag2210.xml><?xml version="1.0" encoding="utf-8"?>
<p:tagLst xmlns:p="http://schemas.openxmlformats.org/presentationml/2006/main">
  <p:tag name="KSO_WM_DIAGRAM_VIRTUALLY_FRAME" val="{&amp;quot;height&amp;quot;:64.1,&amp;quot;left&amp;quot;:61.55,&amp;quot;top&amp;quot;:96.55,&amp;quot;width&amp;quot;:840.35}"/>
</p:tagLst>
</file>

<file path=ppt/tags/tag2211.xml><?xml version="1.0" encoding="utf-8"?>
<p:tagLst xmlns:p="http://schemas.openxmlformats.org/presentationml/2006/main">
  <p:tag name="KSO_WM_DIAGRAM_VIRTUALLY_FRAME" val="{&amp;quot;height&amp;quot;:64.1,&amp;quot;left&amp;quot;:61.55,&amp;quot;top&amp;quot;:96.55,&amp;quot;width&amp;quot;:840.35}"/>
</p:tagLst>
</file>

<file path=ppt/tags/tag2212.xml><?xml version="1.0" encoding="utf-8"?>
<p:tagLst xmlns:p="http://schemas.openxmlformats.org/presentationml/2006/main">
  <p:tag name="KSO_WM_DIAGRAM_VIRTUALLY_FRAME" val="{&amp;quot;height&amp;quot;:64.1,&amp;quot;left&amp;quot;:61.55,&amp;quot;top&amp;quot;:96.55,&amp;quot;width&amp;quot;:840.35}"/>
</p:tagLst>
</file>

<file path=ppt/tags/tag2213.xml><?xml version="1.0" encoding="utf-8"?>
<p:tagLst xmlns:p="http://schemas.openxmlformats.org/presentationml/2006/main">
  <p:tag name="KSO_WM_DIAGRAM_VIRTUALLY_FRAME" val="{&amp;quot;height&amp;quot;:64.1,&amp;quot;left&amp;quot;:61.55,&amp;quot;top&amp;quot;:96.55,&amp;quot;width&amp;quot;:840.35}"/>
</p:tagLst>
</file>

<file path=ppt/tags/tag2214.xml><?xml version="1.0" encoding="utf-8"?>
<p:tagLst xmlns:p="http://schemas.openxmlformats.org/presentationml/2006/main">
  <p:tag name="KSO_WM_DIAGRAM_VIRTUALLY_FRAME" val="{&amp;quot;height&amp;quot;:64.1,&amp;quot;left&amp;quot;:61.55,&amp;quot;top&amp;quot;:96.55,&amp;quot;width&amp;quot;:840.35}"/>
</p:tagLst>
</file>

<file path=ppt/tags/tag2215.xml><?xml version="1.0" encoding="utf-8"?>
<p:tagLst xmlns:p="http://schemas.openxmlformats.org/presentationml/2006/main">
  <p:tag name="KSO_WM_DIAGRAM_VIRTUALLY_FRAME" val="{&amp;quot;height&amp;quot;:64.1,&amp;quot;left&amp;quot;:61.55,&amp;quot;top&amp;quot;:96.55,&amp;quot;width&amp;quot;:840.35}"/>
</p:tagLst>
</file>

<file path=ppt/tags/tag2216.xml><?xml version="1.0" encoding="utf-8"?>
<p:tagLst xmlns:p="http://schemas.openxmlformats.org/presentationml/2006/main">
  <p:tag name="KSO_WM_DIAGRAM_VIRTUALLY_FRAME" val="{&amp;quot;height&amp;quot;:64.1,&amp;quot;left&amp;quot;:61.55,&amp;quot;top&amp;quot;:96.55,&amp;quot;width&amp;quot;:840.35}"/>
</p:tagLst>
</file>

<file path=ppt/tags/tag2217.xml><?xml version="1.0" encoding="utf-8"?>
<p:tagLst xmlns:p="http://schemas.openxmlformats.org/presentationml/2006/main">
  <p:tag name="KSO_WM_DIAGRAM_VIRTUALLY_FRAME" val="{&amp;quot;height&amp;quot;:64.1,&amp;quot;left&amp;quot;:61.55,&amp;quot;top&amp;quot;:96.55,&amp;quot;width&amp;quot;:840.35}"/>
</p:tagLst>
</file>

<file path=ppt/tags/tag2218.xml><?xml version="1.0" encoding="utf-8"?>
<p:tagLst xmlns:p="http://schemas.openxmlformats.org/presentationml/2006/main">
  <p:tag name="KSO_WM_DIAGRAM_VIRTUALLY_FRAME" val="{&amp;quot;height&amp;quot;:64.1,&amp;quot;left&amp;quot;:61.55,&amp;quot;top&amp;quot;:96.55,&amp;quot;width&amp;quot;:840.35}"/>
</p:tagLst>
</file>

<file path=ppt/tags/tag2219.xml><?xml version="1.0" encoding="utf-8"?>
<p:tagLst xmlns:p="http://schemas.openxmlformats.org/presentationml/2006/main">
  <p:tag name="KSO_WM_DIAGRAM_VIRTUALLY_FRAME" val="{&amp;quot;height&amp;quot;:64.1,&amp;quot;left&amp;quot;:61.55,&amp;quot;top&amp;quot;:96.55,&amp;quot;width&amp;quot;:840.35}"/>
</p:tagLst>
</file>

<file path=ppt/tags/tag2220.xml><?xml version="1.0" encoding="utf-8"?>
<p:tagLst xmlns:p="http://schemas.openxmlformats.org/presentationml/2006/main">
  <p:tag name="KSO_WM_DIAGRAM_VIRTUALLY_FRAME" val="{&amp;quot;height&amp;quot;:64.1,&amp;quot;left&amp;quot;:61.55,&amp;quot;top&amp;quot;:96.55,&amp;quot;width&amp;quot;:840.35}"/>
</p:tagLst>
</file>

<file path=ppt/tags/tag2221.xml><?xml version="1.0" encoding="utf-8"?>
<p:tagLst xmlns:p="http://schemas.openxmlformats.org/presentationml/2006/main">
  <p:tag name="KSO_WM_DIAGRAM_VIRTUALLY_FRAME" val="{&amp;quot;height&amp;quot;:64.1,&amp;quot;left&amp;quot;:61.55,&amp;quot;top&amp;quot;:96.55,&amp;quot;width&amp;quot;:840.35}"/>
</p:tagLst>
</file>

<file path=ppt/tags/tag2222.xml><?xml version="1.0" encoding="utf-8"?>
<p:tagLst xmlns:p="http://schemas.openxmlformats.org/presentationml/2006/main">
  <p:tag name="KSO_WM_DIAGRAM_VIRTUALLY_FRAME" val="{&amp;quot;height&amp;quot;:64.1,&amp;quot;left&amp;quot;:61.55,&amp;quot;top&amp;quot;:96.55,&amp;quot;width&amp;quot;:840.35}"/>
</p:tagLst>
</file>

<file path=ppt/tags/tag2223.xml><?xml version="1.0" encoding="utf-8"?>
<p:tagLst xmlns:p="http://schemas.openxmlformats.org/presentationml/2006/main">
  <p:tag name="KSO_WM_DIAGRAM_VIRTUALLY_FRAME" val="{&amp;quot;height&amp;quot;:64.1,&amp;quot;left&amp;quot;:61.55,&amp;quot;top&amp;quot;:96.55,&amp;quot;width&amp;quot;:840.35}"/>
</p:tagLst>
</file>

<file path=ppt/tags/tag2224.xml><?xml version="1.0" encoding="utf-8"?>
<p:tagLst xmlns:p="http://schemas.openxmlformats.org/presentationml/2006/main">
  <p:tag name="KSO_WM_DIAGRAM_VIRTUALLY_FRAME" val="{&amp;quot;height&amp;quot;:64.1,&amp;quot;left&amp;quot;:61.55,&amp;quot;top&amp;quot;:96.55,&amp;quot;width&amp;quot;:840.35}"/>
</p:tagLst>
</file>

<file path=ppt/tags/tag2225.xml><?xml version="1.0" encoding="utf-8"?>
<p:tagLst xmlns:p="http://schemas.openxmlformats.org/presentationml/2006/main">
  <p:tag name="KSO_WM_DIAGRAM_VIRTUALLY_FRAME" val="{&amp;quot;height&amp;quot;:64.1,&amp;quot;left&amp;quot;:61.55,&amp;quot;top&amp;quot;:96.55,&amp;quot;width&amp;quot;:840.35}"/>
</p:tagLst>
</file>

<file path=ppt/tags/tag2226.xml><?xml version="1.0" encoding="utf-8"?>
<p:tagLst xmlns:p="http://schemas.openxmlformats.org/presentationml/2006/main">
  <p:tag name="KSO_WM_DIAGRAM_VIRTUALLY_FRAME" val="{&amp;quot;height&amp;quot;:64.1,&amp;quot;left&amp;quot;:61.55,&amp;quot;top&amp;quot;:96.55,&amp;quot;width&amp;quot;:840.35}"/>
</p:tagLst>
</file>

<file path=ppt/tags/tag2227.xml><?xml version="1.0" encoding="utf-8"?>
<p:tagLst xmlns:p="http://schemas.openxmlformats.org/presentationml/2006/main">
  <p:tag name="KSO_WM_DIAGRAM_VIRTUALLY_FRAME" val="{&amp;quot;height&amp;quot;:64.1,&amp;quot;left&amp;quot;:61.55,&amp;quot;top&amp;quot;:96.55,&amp;quot;width&amp;quot;:840.35}"/>
</p:tagLst>
</file>

<file path=ppt/tags/tag2228.xml><?xml version="1.0" encoding="utf-8"?>
<p:tagLst xmlns:p="http://schemas.openxmlformats.org/presentationml/2006/main">
  <p:tag name="KSO_WM_DIAGRAM_VIRTUALLY_FRAME" val="{&amp;quot;height&amp;quot;:64.1,&amp;quot;left&amp;quot;:61.55,&amp;quot;top&amp;quot;:96.55,&amp;quot;width&amp;quot;:840.35}"/>
</p:tagLst>
</file>

<file path=ppt/tags/tag2229.xml><?xml version="1.0" encoding="utf-8"?>
<p:tagLst xmlns:p="http://schemas.openxmlformats.org/presentationml/2006/main">
  <p:tag name="KSO_WM_DIAGRAM_VIRTUALLY_FRAME" val="{&amp;quot;height&amp;quot;:64.1,&amp;quot;left&amp;quot;:61.55,&amp;quot;top&amp;quot;:96.55,&amp;quot;width&amp;quot;:840.35}"/>
</p:tagLst>
</file>

<file path=ppt/tags/tag2230.xml><?xml version="1.0" encoding="utf-8"?>
<p:tagLst xmlns:p="http://schemas.openxmlformats.org/presentationml/2006/main">
  <p:tag name="KSO_WM_DIAGRAM_VIRTUALLY_FRAME" val="{&amp;quot;height&amp;quot;:64.1,&amp;quot;left&amp;quot;:61.55,&amp;quot;top&amp;quot;:96.55,&amp;quot;width&amp;quot;:840.35}"/>
</p:tagLst>
</file>

<file path=ppt/tags/tag2231.xml><?xml version="1.0" encoding="utf-8"?>
<p:tagLst xmlns:p="http://schemas.openxmlformats.org/presentationml/2006/main">
  <p:tag name="KSO_WM_DIAGRAM_VIRTUALLY_FRAME" val="{&amp;quot;height&amp;quot;:64.1,&amp;quot;left&amp;quot;:61.55,&amp;quot;top&amp;quot;:96.55,&amp;quot;width&amp;quot;:840.35}"/>
</p:tagLst>
</file>

<file path=ppt/tags/tag2232.xml><?xml version="1.0" encoding="utf-8"?>
<p:tagLst xmlns:p="http://schemas.openxmlformats.org/presentationml/2006/main">
  <p:tag name="KSO_WM_DIAGRAM_VIRTUALLY_FRAME" val="{&amp;quot;height&amp;quot;:64.1,&amp;quot;left&amp;quot;:61.55,&amp;quot;top&amp;quot;:96.55,&amp;quot;width&amp;quot;:840.35}"/>
</p:tagLst>
</file>

<file path=ppt/tags/tag2233.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34.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35.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36.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37.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38.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39.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0.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1.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2.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3.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4.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5.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6.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7.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8.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49.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0.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1.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2.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3.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4.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5.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6.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7.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8.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59.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0.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1.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2.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3.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4.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5.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6.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7.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8.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69.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0.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1.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2.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3.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4.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5.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6.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7.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8.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79.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0.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1.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2.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3.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4.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5.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6.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7.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8.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89.xml><?xml version="1.0" encoding="utf-8"?>
<p:tagLst xmlns:p="http://schemas.openxmlformats.org/presentationml/2006/main">
  <p:tag name="KSO_WM_DIAGRAM_VIRTUALLY_FRAME" val="{&amp;quot;height&amp;quot;:417.9296850393701,&amp;quot;left&amp;quot;:-0.8372440944881889,&amp;quot;top&amp;quot;:93.7,&amp;quot;width&amp;quot;:946.4558267716535}"/>
</p:tagLst>
</file>

<file path=ppt/tags/tag2290.xml><?xml version="1.0" encoding="utf-8"?>
<p:tagLst xmlns:p="http://schemas.openxmlformats.org/presentationml/2006/main">
  <p:tag name="KSO_WM_UNIT_LINE_FORE_SCHEMECOLOR_INDEX_BRIGHTNESS" val="0"/>
  <p:tag name="KSO_WM_UNIT_LINE_FILL_TYPE" val="2"/>
  <p:tag name="KSO_WM_UNIT_TEXT_FILL_FORE_SCHEMECOLOR_INDEX_BRIGHTNESS" val="0"/>
  <p:tag name="KSO_WM_UNIT_TEXT_FILL_TYPE" val="1"/>
  <p:tag name="KSO_WM_UNIT_HIGHLIGHT" val="0"/>
  <p:tag name="KSO_WM_UNIT_COMPATIBLE" val="0"/>
  <p:tag name="KSO_WM_UNIT_DIAGRAM_ISNUMVISUAL" val="0"/>
  <p:tag name="KSO_WM_UNIT_DIAGRAM_ISREFERUNIT" val="0"/>
  <p:tag name="KSO_WM_DIAGRAM_GROUP_CODE" val="m1-1"/>
  <p:tag name="KSO_WM_UNIT_TYPE" val="m_h_a"/>
  <p:tag name="KSO_WM_UNIT_INDEX" val="1_2_1"/>
  <p:tag name="KSO_WM_UNIT_ID" val="diagram20233276_1*m_h_a*1_2_1"/>
  <p:tag name="KSO_WM_TEMPLATE_CATEGORY" val="diagram"/>
  <p:tag name="KSO_WM_TEMPLATE_INDEX" val="20233276"/>
  <p:tag name="KSO_WM_UNIT_LAYERLEVEL" val="1_1_1"/>
  <p:tag name="KSO_WM_TAG_VERSION" val="3.0"/>
  <p:tag name="KSO_WM_DIAGRAM_MAX_ITEMCNT" val="6"/>
  <p:tag name="KSO_WM_DIAGRAM_MIN_ITEMCNT" val="6"/>
  <p:tag name="KSO_WM_DIAGRAM_VIRTUALLY_FRAME" val="{&amp;quot;height&amp;quot;:426.544409448819,&amp;quot;left&amp;quot;:35.39984251968504,&amp;quot;top&amp;quot;:84.20850393700786,&amp;quot;width&amp;quot;:899.2767716535433}"/>
  <p:tag name="KSO_WM_DIAGRAM_COLOR_MATCH_VALUE" val="{&amp;quot;shape&amp;quot;:{&amp;quot;fill&amp;quot;:{&amp;quot;solid&amp;quot;:{&amp;quot;brightness&amp;quot;:0,&amp;quot;colorType&amp;quot;:1,&amp;quot;foreColorIndex&amp;quot;:5,&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amp;quot;text&amp;quot;:{&amp;quot;fill&amp;quot;:{&amp;quot;solid&amp;quot;:{&amp;quot;brightness&amp;quot;:0,&amp;quot;colorType&amp;quot;:2,&amp;quot;rgb&amp;quot;:&amp;quot;#ffffff&amp;quot;,&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
  <p:tag name="KSO_WM_DIAGRAM_VERSION" val="3"/>
  <p:tag name="KSO_WM_DIAGRAM_COLOR_TRICK" val="1"/>
  <p:tag name="KSO_WM_DIAGRAM_COLOR_TEXT_CAN_REMOVE" val="n"/>
  <p:tag name="KSO_WM_UNIT_ISCONTENTSTITLE" val="0"/>
  <p:tag name="KSO_WM_UNIT_ISNUMDGMTITLE" val="0"/>
  <p:tag name="KSO_WM_UNIT_NOCLEAR" val="0"/>
  <p:tag name="KSO_WM_UNIT_TEXT_TYPE" val="1"/>
  <p:tag name="KSO_WM_UNIT_PRESET_TEXT" val="添加项标题"/>
  <p:tag name="KSO_WM_UNIT_FILL_TYPE" val="1"/>
  <p:tag name="KSO_WM_UNIT_FILL_FORE_SCHEMECOLOR_INDEX" val="5"/>
  <p:tag name="KSO_WM_UNIT_FILL_FORE_SCHEMECOLOR_INDEX_BRIGHTNESS" val="0"/>
  <p:tag name="KSO_WM_DIAGRAM_USE_COLOR_VALUE" val="{&amp;quot;color_scheme&amp;quot;:1,&amp;quot;color_type&amp;quot;:1,&amp;quot;theme_color_indexes&amp;quot;:[5,6,5,6,5,6]}"/>
</p:tagLst>
</file>

<file path=ppt/tags/tag2291.xml><?xml version="1.0" encoding="utf-8"?>
<p:tagLst xmlns:p="http://schemas.openxmlformats.org/presentationml/2006/main">
  <p:tag name="KSO_WM_UNIT_TEXT_FILL_FORE_SCHEMECOLOR_INDEX_BRIGHTNESS" val="0"/>
  <p:tag name="KSO_WM_UNIT_TEXT_FILL_TYPE" val="1"/>
  <p:tag name="KSO_WM_UNIT_HIGHLIGHT" val="0"/>
  <p:tag name="KSO_WM_UNIT_COMPATIBLE" val="0"/>
  <p:tag name="KSO_WM_UNIT_DIAGRAM_ISNUMVISUAL" val="0"/>
  <p:tag name="KSO_WM_UNIT_DIAGRAM_ISREFERUNIT" val="0"/>
  <p:tag name="KSO_WM_DIAGRAM_GROUP_CODE" val="m1-1"/>
  <p:tag name="KSO_WM_UNIT_TYPE" val="m_h_a"/>
  <p:tag name="KSO_WM_UNIT_INDEX" val="1_3_1"/>
  <p:tag name="KSO_WM_UNIT_ID" val="diagram20233276_1*m_h_a*1_3_1"/>
  <p:tag name="KSO_WM_TEMPLATE_CATEGORY" val="diagram"/>
  <p:tag name="KSO_WM_TEMPLATE_INDEX" val="20233276"/>
  <p:tag name="KSO_WM_UNIT_LAYERLEVEL" val="1_1_1"/>
  <p:tag name="KSO_WM_TAG_VERSION" val="3.0"/>
  <p:tag name="KSO_WM_DIAGRAM_MAX_ITEMCNT" val="6"/>
  <p:tag name="KSO_WM_DIAGRAM_MIN_ITEMCNT" val="6"/>
  <p:tag name="KSO_WM_DIAGRAM_VIRTUALLY_FRAME" val="{&amp;quot;height&amp;quot;:426.544409448819,&amp;quot;left&amp;quot;:35.39984251968504,&amp;quot;top&amp;quot;:84.20850393700786,&amp;quot;width&amp;quot;:899.2767716535433}"/>
  <p:tag name="KSO_WM_DIAGRAM_COLOR_MATCH_VALUE" val="{&amp;quot;shape&amp;quot;:{&amp;quot;fill&amp;quot;:{&amp;quot;solid&amp;quot;:{&amp;quot;brightness&amp;quot;:0,&amp;quot;colorType&amp;quot;:1,&amp;quot;foreColorIndex&amp;quot;:5,&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amp;quot;text&amp;quot;:{&amp;quot;fill&amp;quot;:{&amp;quot;solid&amp;quot;:{&amp;quot;brightness&amp;quot;:0,&amp;quot;colorType&amp;quot;:2,&amp;quot;rgb&amp;quot;:&amp;quot;#ffffff&amp;quot;,&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
  <p:tag name="KSO_WM_DIAGRAM_VERSION" val="3"/>
  <p:tag name="KSO_WM_DIAGRAM_COLOR_TRICK" val="1"/>
  <p:tag name="KSO_WM_DIAGRAM_COLOR_TEXT_CAN_REMOVE" val="n"/>
  <p:tag name="KSO_WM_UNIT_ISCONTENTSTITLE" val="0"/>
  <p:tag name="KSO_WM_UNIT_ISNUMDGMTITLE" val="0"/>
  <p:tag name="KSO_WM_UNIT_NOCLEAR" val="0"/>
  <p:tag name="KSO_WM_UNIT_TEXT_TYPE" val="1"/>
  <p:tag name="KSO_WM_UNIT_PRESET_TEXT" val="添加项标题"/>
  <p:tag name="KSO_WM_UNIT_FILL_TYPE" val="1"/>
  <p:tag name="KSO_WM_UNIT_FILL_FORE_SCHEMECOLOR_INDEX" val="5"/>
  <p:tag name="KSO_WM_UNIT_FILL_FORE_SCHEMECOLOR_INDEX_BRIGHTNESS" val="0"/>
  <p:tag name="KSO_WM_DIAGRAM_USE_COLOR_VALUE" val="{&amp;quot;color_scheme&amp;quot;:1,&amp;quot;color_type&amp;quot;:1,&amp;quot;theme_color_indexes&amp;quot;:[5,6,5,6,5,6]}"/>
</p:tagLst>
</file>

<file path=ppt/tags/tag2292.xml><?xml version="1.0" encoding="utf-8"?>
<p:tagLst xmlns:p="http://schemas.openxmlformats.org/presentationml/2006/main">
  <p:tag name="KSO_WM_UNIT_LINE_FORE_SCHEMECOLOR_INDEX_BRIGHTNESS" val="0"/>
  <p:tag name="KSO_WM_UNIT_LINE_FILL_TYPE" val="2"/>
  <p:tag name="KSO_WM_UNIT_TEXT_FILL_FORE_SCHEMECOLOR_INDEX_BRIGHTNESS" val="0"/>
  <p:tag name="KSO_WM_UNIT_TEXT_FILL_TYPE" val="1"/>
  <p:tag name="KSO_WM_UNIT_HIGHLIGHT" val="0"/>
  <p:tag name="KSO_WM_UNIT_COMPATIBLE" val="0"/>
  <p:tag name="KSO_WM_UNIT_DIAGRAM_ISNUMVISUAL" val="0"/>
  <p:tag name="KSO_WM_UNIT_DIAGRAM_ISREFERUNIT" val="0"/>
  <p:tag name="KSO_WM_DIAGRAM_GROUP_CODE" val="m1-1"/>
  <p:tag name="KSO_WM_UNIT_TYPE" val="m_h_a"/>
  <p:tag name="KSO_WM_UNIT_INDEX" val="1_4_1"/>
  <p:tag name="KSO_WM_UNIT_ID" val="diagram20233276_1*m_h_a*1_4_1"/>
  <p:tag name="KSO_WM_TEMPLATE_CATEGORY" val="diagram"/>
  <p:tag name="KSO_WM_TEMPLATE_INDEX" val="20233276"/>
  <p:tag name="KSO_WM_UNIT_LAYERLEVEL" val="1_1_1"/>
  <p:tag name="KSO_WM_TAG_VERSION" val="3.0"/>
  <p:tag name="KSO_WM_DIAGRAM_MAX_ITEMCNT" val="6"/>
  <p:tag name="KSO_WM_DIAGRAM_MIN_ITEMCNT" val="6"/>
  <p:tag name="KSO_WM_DIAGRAM_VIRTUALLY_FRAME" val="{&amp;quot;height&amp;quot;:426.544409448819,&amp;quot;left&amp;quot;:35.39984251968504,&amp;quot;top&amp;quot;:84.20850393700786,&amp;quot;width&amp;quot;:899.2767716535433}"/>
  <p:tag name="KSO_WM_DIAGRAM_COLOR_MATCH_VALUE" val="{&amp;quot;shape&amp;quot;:{&amp;quot;fill&amp;quot;:{&amp;quot;solid&amp;quot;:{&amp;quot;brightness&amp;quot;:0,&amp;quot;colorType&amp;quot;:1,&amp;quot;foreColorIndex&amp;quot;:5,&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amp;quot;text&amp;quot;:{&amp;quot;fill&amp;quot;:{&amp;quot;solid&amp;quot;:{&amp;quot;brightness&amp;quot;:0,&amp;quot;colorType&amp;quot;:2,&amp;quot;rgb&amp;quot;:&amp;quot;#ffffff&amp;quot;,&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
  <p:tag name="KSO_WM_DIAGRAM_VERSION" val="3"/>
  <p:tag name="KSO_WM_DIAGRAM_COLOR_TRICK" val="1"/>
  <p:tag name="KSO_WM_DIAGRAM_COLOR_TEXT_CAN_REMOVE" val="n"/>
  <p:tag name="KSO_WM_UNIT_ISCONTENTSTITLE" val="0"/>
  <p:tag name="KSO_WM_UNIT_ISNUMDGMTITLE" val="0"/>
  <p:tag name="KSO_WM_UNIT_NOCLEAR" val="0"/>
  <p:tag name="KSO_WM_UNIT_TEXT_TYPE" val="1"/>
  <p:tag name="KSO_WM_UNIT_PRESET_TEXT" val="添加项标题"/>
  <p:tag name="KSO_WM_UNIT_FILL_TYPE" val="1"/>
  <p:tag name="KSO_WM_UNIT_FILL_FORE_SCHEMECOLOR_INDEX" val="5"/>
  <p:tag name="KSO_WM_UNIT_FILL_FORE_SCHEMECOLOR_INDEX_BRIGHTNESS" val="0"/>
  <p:tag name="KSO_WM_DIAGRAM_USE_COLOR_VALUE" val="{&amp;quot;color_scheme&amp;quot;:1,&amp;quot;color_type&amp;quot;:1,&amp;quot;theme_color_indexes&amp;quot;:[5,6,5,6,5,6]}"/>
</p:tagLst>
</file>

<file path=ppt/tags/tag2293.xml><?xml version="1.0" encoding="utf-8"?>
<p:tagLst xmlns:p="http://schemas.openxmlformats.org/presentationml/2006/main">
  <p:tag name="KSO_WM_UNIT_TEXT_FILL_FORE_SCHEMECOLOR_INDEX_BRIGHTNESS" val="0"/>
  <p:tag name="KSO_WM_UNIT_TEXT_FILL_TYPE" val="1"/>
  <p:tag name="KSO_WM_UNIT_HIGHLIGHT" val="0"/>
  <p:tag name="KSO_WM_UNIT_COMPATIBLE" val="0"/>
  <p:tag name="KSO_WM_UNIT_DIAGRAM_ISNUMVISUAL" val="0"/>
  <p:tag name="KSO_WM_UNIT_DIAGRAM_ISREFERUNIT" val="0"/>
  <p:tag name="KSO_WM_DIAGRAM_GROUP_CODE" val="m1-1"/>
  <p:tag name="KSO_WM_UNIT_TYPE" val="m_h_a"/>
  <p:tag name="KSO_WM_UNIT_INDEX" val="1_5_1"/>
  <p:tag name="KSO_WM_UNIT_ID" val="diagram20233276_1*m_h_a*1_5_1"/>
  <p:tag name="KSO_WM_TEMPLATE_CATEGORY" val="diagram"/>
  <p:tag name="KSO_WM_TEMPLATE_INDEX" val="20233276"/>
  <p:tag name="KSO_WM_UNIT_LAYERLEVEL" val="1_1_1"/>
  <p:tag name="KSO_WM_TAG_VERSION" val="3.0"/>
  <p:tag name="KSO_WM_DIAGRAM_MAX_ITEMCNT" val="6"/>
  <p:tag name="KSO_WM_DIAGRAM_MIN_ITEMCNT" val="6"/>
  <p:tag name="KSO_WM_DIAGRAM_VIRTUALLY_FRAME" val="{&amp;quot;height&amp;quot;:426.544409448819,&amp;quot;left&amp;quot;:35.39984251968504,&amp;quot;top&amp;quot;:84.20850393700786,&amp;quot;width&amp;quot;:899.2767716535433}"/>
  <p:tag name="KSO_WM_DIAGRAM_COLOR_MATCH_VALUE" val="{&amp;quot;shape&amp;quot;:{&amp;quot;fill&amp;quot;:{&amp;quot;solid&amp;quot;:{&amp;quot;brightness&amp;quot;:0,&amp;quot;colorType&amp;quot;:1,&amp;quot;foreColorIndex&amp;quot;:5,&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amp;quot;text&amp;quot;:{&amp;quot;fill&amp;quot;:{&amp;quot;solid&amp;quot;:{&amp;quot;brightness&amp;quot;:0,&amp;quot;colorType&amp;quot;:2,&amp;quot;rgb&amp;quot;:&amp;quot;#ffffff&amp;quot;,&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
  <p:tag name="KSO_WM_DIAGRAM_VERSION" val="3"/>
  <p:tag name="KSO_WM_DIAGRAM_COLOR_TRICK" val="1"/>
  <p:tag name="KSO_WM_DIAGRAM_COLOR_TEXT_CAN_REMOVE" val="n"/>
  <p:tag name="KSO_WM_UNIT_ISCONTENTSTITLE" val="0"/>
  <p:tag name="KSO_WM_UNIT_ISNUMDGMTITLE" val="0"/>
  <p:tag name="KSO_WM_UNIT_NOCLEAR" val="0"/>
  <p:tag name="KSO_WM_UNIT_TEXT_TYPE" val="1"/>
  <p:tag name="KSO_WM_UNIT_PRESET_TEXT" val="添加项标题"/>
  <p:tag name="KSO_WM_UNIT_FILL_TYPE" val="1"/>
  <p:tag name="KSO_WM_UNIT_FILL_FORE_SCHEMECOLOR_INDEX" val="5"/>
  <p:tag name="KSO_WM_UNIT_FILL_FORE_SCHEMECOLOR_INDEX_BRIGHTNESS" val="0"/>
  <p:tag name="KSO_WM_DIAGRAM_USE_COLOR_VALUE" val="{&amp;quot;color_scheme&amp;quot;:1,&amp;quot;color_type&amp;quot;:1,&amp;quot;theme_color_indexes&amp;quot;:[5,6,5,6,5,6]}"/>
</p:tagLst>
</file>

<file path=ppt/tags/tag2294.xml><?xml version="1.0" encoding="utf-8"?>
<p:tagLst xmlns:p="http://schemas.openxmlformats.org/presentationml/2006/main">
  <p:tag name="KSO_WM_UNIT_LINE_FORE_SCHEMECOLOR_INDEX_BRIGHTNESS" val="0"/>
  <p:tag name="KSO_WM_UNIT_LINE_FILL_TYPE" val="2"/>
  <p:tag name="KSO_WM_UNIT_TEXT_FILL_FORE_SCHEMECOLOR_INDEX_BRIGHTNESS" val="0"/>
  <p:tag name="KSO_WM_UNIT_TEXT_FILL_TYPE" val="1"/>
  <p:tag name="KSO_WM_UNIT_HIGHLIGHT" val="0"/>
  <p:tag name="KSO_WM_UNIT_COMPATIBLE" val="0"/>
  <p:tag name="KSO_WM_UNIT_DIAGRAM_ISNUMVISUAL" val="0"/>
  <p:tag name="KSO_WM_UNIT_DIAGRAM_ISREFERUNIT" val="0"/>
  <p:tag name="KSO_WM_DIAGRAM_GROUP_CODE" val="m1-1"/>
  <p:tag name="KSO_WM_UNIT_TYPE" val="m_h_a"/>
  <p:tag name="KSO_WM_UNIT_INDEX" val="1_6_1"/>
  <p:tag name="KSO_WM_UNIT_ID" val="diagram20233276_1*m_h_a*1_6_1"/>
  <p:tag name="KSO_WM_TEMPLATE_CATEGORY" val="diagram"/>
  <p:tag name="KSO_WM_TEMPLATE_INDEX" val="20233276"/>
  <p:tag name="KSO_WM_UNIT_LAYERLEVEL" val="1_1_1"/>
  <p:tag name="KSO_WM_TAG_VERSION" val="3.0"/>
  <p:tag name="KSO_WM_DIAGRAM_MAX_ITEMCNT" val="6"/>
  <p:tag name="KSO_WM_DIAGRAM_MIN_ITEMCNT" val="6"/>
  <p:tag name="KSO_WM_DIAGRAM_VIRTUALLY_FRAME" val="{&amp;quot;height&amp;quot;:426.544409448819,&amp;quot;left&amp;quot;:35.39984251968504,&amp;quot;top&amp;quot;:84.20850393700786,&amp;quot;width&amp;quot;:899.2767716535433}"/>
  <p:tag name="KSO_WM_DIAGRAM_COLOR_MATCH_VALUE" val="{&amp;quot;shape&amp;quot;:{&amp;quot;fill&amp;quot;:{&amp;quot;solid&amp;quot;:{&amp;quot;brightness&amp;quot;:0,&amp;quot;colorType&amp;quot;:1,&amp;quot;foreColorIndex&amp;quot;:5,&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amp;quot;text&amp;quot;:{&amp;quot;fill&amp;quot;:{&amp;quot;solid&amp;quot;:{&amp;quot;brightness&amp;quot;:0,&amp;quot;colorType&amp;quot;:2,&amp;quot;rgb&amp;quot;:&amp;quot;#ffffff&amp;quot;,&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
  <p:tag name="KSO_WM_DIAGRAM_VERSION" val="3"/>
  <p:tag name="KSO_WM_DIAGRAM_COLOR_TRICK" val="1"/>
  <p:tag name="KSO_WM_DIAGRAM_COLOR_TEXT_CAN_REMOVE" val="n"/>
  <p:tag name="KSO_WM_UNIT_ISCONTENTSTITLE" val="0"/>
  <p:tag name="KSO_WM_UNIT_ISNUMDGMTITLE" val="0"/>
  <p:tag name="KSO_WM_UNIT_NOCLEAR" val="0"/>
  <p:tag name="KSO_WM_UNIT_TEXT_TYPE" val="1"/>
  <p:tag name="KSO_WM_UNIT_PRESET_TEXT" val="添加项标题"/>
  <p:tag name="KSO_WM_UNIT_FILL_TYPE" val="1"/>
  <p:tag name="KSO_WM_UNIT_FILL_FORE_SCHEMECOLOR_INDEX" val="5"/>
  <p:tag name="KSO_WM_UNIT_FILL_FORE_SCHEMECOLOR_INDEX_BRIGHTNESS" val="0"/>
  <p:tag name="KSO_WM_DIAGRAM_USE_COLOR_VALUE" val="{&amp;quot;color_scheme&amp;quot;:1,&amp;quot;color_type&amp;quot;:1,&amp;quot;theme_color_indexes&amp;quot;:[5,6,5,6,5,6]}"/>
</p:tagLst>
</file>

<file path=ppt/tags/tag2295.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296.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297.xml><?xml version="1.0" encoding="utf-8"?>
<p:tagLst xmlns:p="http://schemas.openxmlformats.org/presentationml/2006/main">
  <p:tag name="KSO_WM_UNIT_TEXT_FILL_FORE_SCHEMECOLOR_INDEX_BRIGHTNESS" val="0"/>
  <p:tag name="KSO_WM_UNIT_TEXT_FILL_TYPE" val="1"/>
  <p:tag name="KSO_WM_UNIT_HIGHLIGHT" val="0"/>
  <p:tag name="KSO_WM_UNIT_COMPATIBLE" val="0"/>
  <p:tag name="KSO_WM_UNIT_DIAGRAM_ISNUMVISUAL" val="0"/>
  <p:tag name="KSO_WM_UNIT_DIAGRAM_ISREFERUNIT" val="0"/>
  <p:tag name="KSO_WM_DIAGRAM_GROUP_CODE" val="m1-1"/>
  <p:tag name="KSO_WM_UNIT_TYPE" val="m_h_a"/>
  <p:tag name="KSO_WM_UNIT_INDEX" val="1_1_1"/>
  <p:tag name="KSO_WM_UNIT_ID" val="diagram20233276_1*m_h_a*1_1_1"/>
  <p:tag name="KSO_WM_TEMPLATE_CATEGORY" val="diagram"/>
  <p:tag name="KSO_WM_TEMPLATE_INDEX" val="20233276"/>
  <p:tag name="KSO_WM_UNIT_LAYERLEVEL" val="1_1_1"/>
  <p:tag name="KSO_WM_TAG_VERSION" val="3.0"/>
  <p:tag name="KSO_WM_DIAGRAM_MAX_ITEMCNT" val="6"/>
  <p:tag name="KSO_WM_DIAGRAM_MIN_ITEMCNT" val="6"/>
  <p:tag name="KSO_WM_DIAGRAM_VIRTUALLY_FRAME" val="{&amp;quot;height&amp;quot;:426.544409448819,&amp;quot;left&amp;quot;:35.39984251968504,&amp;quot;top&amp;quot;:84.20850393700786,&amp;quot;width&amp;quot;:899.2767716535433}"/>
  <p:tag name="KSO_WM_DIAGRAM_COLOR_MATCH_VALUE" val="{&amp;quot;shape&amp;quot;:{&amp;quot;fill&amp;quot;:{&amp;quot;solid&amp;quot;:{&amp;quot;brightness&amp;quot;:0,&amp;quot;colorType&amp;quot;:1,&amp;quot;foreColorIndex&amp;quot;:5,&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amp;quot;text&amp;quot;:{&amp;quot;fill&amp;quot;:{&amp;quot;solid&amp;quot;:{&amp;quot;brightness&amp;quot;:0,&amp;quot;colorType&amp;quot;:2,&amp;quot;rgb&amp;quot;:&amp;quot;#ffffff&amp;quot;,&amp;quot;transparency&amp;quot;:0},&amp;quot;type&amp;quot;:1},&amp;quot;glow&amp;quot;:{&amp;quot;colorType&amp;quot;:0},&amp;quot;line&amp;quot;:{&amp;quot;type&amp;quot;:0},&amp;quot;shadow&amp;quot;:{&amp;quot;colorType&amp;quot;:0},&amp;quot;threeD&amp;quot;:{&amp;quot;curvedSurface&amp;quot;:{&amp;quot;brightness&amp;quot;:0,&amp;quot;colorType&amp;quot;:2,&amp;quot;rgb&amp;quot;:&amp;quot;#000000&amp;quot;},&amp;quot;depth&amp;quot;:{&amp;quot;colorType&amp;quot;:0}}}}"/>
  <p:tag name="KSO_WM_DIAGRAM_VERSION" val="3"/>
  <p:tag name="KSO_WM_DIAGRAM_COLOR_TRICK" val="1"/>
  <p:tag name="KSO_WM_DIAGRAM_COLOR_TEXT_CAN_REMOVE" val="n"/>
  <p:tag name="KSO_WM_UNIT_ISCONTENTSTITLE" val="0"/>
  <p:tag name="KSO_WM_UNIT_ISNUMDGMTITLE" val="0"/>
  <p:tag name="KSO_WM_UNIT_NOCLEAR" val="0"/>
  <p:tag name="KSO_WM_UNIT_TEXT_TYPE" val="1"/>
  <p:tag name="KSO_WM_UNIT_PRESET_TEXT" val="添加项标题"/>
  <p:tag name="KSO_WM_UNIT_FILL_TYPE" val="1"/>
  <p:tag name="KSO_WM_UNIT_FILL_FORE_SCHEMECOLOR_INDEX" val="5"/>
  <p:tag name="KSO_WM_UNIT_FILL_FORE_SCHEMECOLOR_INDEX_BRIGHTNESS" val="0"/>
  <p:tag name="KSO_WM_DIAGRAM_USE_COLOR_VALUE" val="{&amp;quot;color_scheme&amp;quot;:1,&amp;quot;color_type&amp;quot;:1,&amp;quot;theme_color_indexes&amp;quot;:[5,6,5,6,5,6]}"/>
</p:tagLst>
</file>

<file path=ppt/tags/tag2298.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299.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0.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1.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2.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3.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4.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5.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6.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7.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8.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09.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0.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1.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2.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3.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4.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5.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6.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7.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8.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19.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20.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21.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22.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23.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24.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25.xml><?xml version="1.0" encoding="utf-8"?>
<p:tagLst xmlns:p="http://schemas.openxmlformats.org/presentationml/2006/main">
  <p:tag name="KSO_WM_DIAGRAM_VIRTUALLY_FRAME" val="{&amp;quot;height&amp;quot;:426.544409448819,&amp;quot;left&amp;quot;:35.39984251968504,&amp;quot;top&amp;quot;:84.20850393700786,&amp;quot;width&amp;quot;:899.2767716535433}"/>
</p:tagLst>
</file>

<file path=ppt/tags/tag2326.xml><?xml version="1.0" encoding="utf-8"?>
<p:tagLst xmlns:p="http://schemas.openxmlformats.org/presentationml/2006/main">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Lst>
</file>

<file path=ppt/tags/tag2327.xml><?xml version="1.0" encoding="utf-8"?>
<p:tagLst xmlns:p="http://schemas.openxmlformats.org/presentationml/2006/main">
  <p:tag name="KSO_WM_UNIT_FILL_FORE_SCHEMECOLOR_INDEX_BRIGHTNESS" val="0.8"/>
  <p:tag name="KSO_WM_UNIT_FILL_FORE_SCHEMECOLOR_INDEX" val="5"/>
  <p:tag name="KSO_WM_UNIT_FILL_TYPE" val="1"/>
  <p:tag name="KSO_WM_UNIT_TEXT_FILL_FORE_SCHEMECOLOR_INDEX_BRIGHTNESS" val="0"/>
  <p:tag name="KSO_WM_UNIT_TEXT_FILL_FORE_SCHEMECOLOR_INDEX" val="2"/>
  <p:tag name="KSO_WM_UNIT_TEXT_FILL_TYPE" val="1"/>
</p:tagLst>
</file>

<file path=ppt/tags/tag2328.xml><?xml version="1.0" encoding="utf-8"?>
<p:tagLst xmlns:p="http://schemas.openxmlformats.org/presentationml/2006/main">
  <p:tag name="KSO_WM_DIAGRAM_VIRTUALLY_FRAME" val="{&amp;quot;height&amp;quot;:411.9,&amp;quot;left&amp;quot;:0,&amp;quot;top&amp;quot;:90.55,&amp;quot;width&amp;quot;:936}"/>
</p:tagLst>
</file>

<file path=ppt/tags/tag2329.xml><?xml version="1.0" encoding="utf-8"?>
<p:tagLst xmlns:p="http://schemas.openxmlformats.org/presentationml/2006/main">
  <p:tag name="KSO_WM_DIAGRAM_VIRTUALLY_FRAME" val="{&amp;quot;height&amp;quot;:411.9,&amp;quot;left&amp;quot;:0,&amp;quot;top&amp;quot;:90.55,&amp;quot;width&amp;quot;:936}"/>
</p:tagLst>
</file>

<file path=ppt/tags/tag2330.xml><?xml version="1.0" encoding="utf-8"?>
<p:tagLst xmlns:p="http://schemas.openxmlformats.org/presentationml/2006/main">
  <p:tag name="KSO_WM_DIAGRAM_VIRTUALLY_FRAME" val="{&amp;quot;height&amp;quot;:411.9,&amp;quot;left&amp;quot;:0,&amp;quot;top&amp;quot;:90.55,&amp;quot;width&amp;quot;:936}"/>
</p:tagLst>
</file>

<file path=ppt/tags/tag2331.xml><?xml version="1.0" encoding="utf-8"?>
<p:tagLst xmlns:p="http://schemas.openxmlformats.org/presentationml/2006/main">
  <p:tag name="KSO_WM_DIAGRAM_VIRTUALLY_FRAME" val="{&amp;quot;height&amp;quot;:411.9,&amp;quot;left&amp;quot;:0,&amp;quot;top&amp;quot;:90.55,&amp;quot;width&amp;quot;:936}"/>
</p:tagLst>
</file>

<file path=ppt/tags/tag2332.xml><?xml version="1.0" encoding="utf-8"?>
<p:tagLst xmlns:p="http://schemas.openxmlformats.org/presentationml/2006/main">
  <p:tag name="KSO_WM_DIAGRAM_VIRTUALLY_FRAME" val="{&amp;quot;height&amp;quot;:411.9,&amp;quot;left&amp;quot;:0,&amp;quot;top&amp;quot;:90.55,&amp;quot;width&amp;quot;:936}"/>
</p:tagLst>
</file>

<file path=ppt/tags/tag2333.xml><?xml version="1.0" encoding="utf-8"?>
<p:tagLst xmlns:p="http://schemas.openxmlformats.org/presentationml/2006/main">
  <p:tag name="KSO_WM_DIAGRAM_VIRTUALLY_FRAME" val="{&amp;quot;height&amp;quot;:411.9,&amp;quot;left&amp;quot;:0,&amp;quot;top&amp;quot;:90.55,&amp;quot;width&amp;quot;:936}"/>
</p:tagLst>
</file>

<file path=ppt/tags/tag2334.xml><?xml version="1.0" encoding="utf-8"?>
<p:tagLst xmlns:p="http://schemas.openxmlformats.org/presentationml/2006/main">
  <p:tag name="KSO_WM_DIAGRAM_VIRTUALLY_FRAME" val="{&amp;quot;height&amp;quot;:411.9,&amp;quot;left&amp;quot;:0,&amp;quot;top&amp;quot;:90.55,&amp;quot;width&amp;quot;:936}"/>
</p:tagLst>
</file>

<file path=ppt/tags/tag2335.xml><?xml version="1.0" encoding="utf-8"?>
<p:tagLst xmlns:p="http://schemas.openxmlformats.org/presentationml/2006/main">
  <p:tag name="KSO_WM_DIAGRAM_VIRTUALLY_FRAME" val="{&amp;quot;height&amp;quot;:411.9,&amp;quot;left&amp;quot;:0,&amp;quot;top&amp;quot;:90.55,&amp;quot;width&amp;quot;:936}"/>
</p:tagLst>
</file>

<file path=ppt/tags/tag2336.xml><?xml version="1.0" encoding="utf-8"?>
<p:tagLst xmlns:p="http://schemas.openxmlformats.org/presentationml/2006/main">
  <p:tag name="KSO_WM_DIAGRAM_VIRTUALLY_FRAME" val="{&amp;quot;height&amp;quot;:411.9,&amp;quot;left&amp;quot;:0,&amp;quot;top&amp;quot;:90.55,&amp;quot;width&amp;quot;:936}"/>
</p:tagLst>
</file>

<file path=ppt/tags/tag2337.xml><?xml version="1.0" encoding="utf-8"?>
<p:tagLst xmlns:p="http://schemas.openxmlformats.org/presentationml/2006/main">
  <p:tag name="KSO_WM_DIAGRAM_VIRTUALLY_FRAME" val="{&amp;quot;height&amp;quot;:411.9,&amp;quot;left&amp;quot;:0,&amp;quot;top&amp;quot;:90.55,&amp;quot;width&amp;quot;:936}"/>
</p:tagLst>
</file>

<file path=ppt/tags/tag2338.xml><?xml version="1.0" encoding="utf-8"?>
<p:tagLst xmlns:p="http://schemas.openxmlformats.org/presentationml/2006/main">
  <p:tag name="KSO_WM_DIAGRAM_VIRTUALLY_FRAME" val="{&amp;quot;height&amp;quot;:411.9,&amp;quot;left&amp;quot;:0,&amp;quot;top&amp;quot;:90.55,&amp;quot;width&amp;quot;:936}"/>
</p:tagLst>
</file>

<file path=ppt/tags/tag2339.xml><?xml version="1.0" encoding="utf-8"?>
<p:tagLst xmlns:p="http://schemas.openxmlformats.org/presentationml/2006/main">
  <p:tag name="KSO_WM_DIAGRAM_VIRTUALLY_FRAME" val="{&amp;quot;height&amp;quot;:411.9,&amp;quot;left&amp;quot;:0,&amp;quot;top&amp;quot;:90.55,&amp;quot;width&amp;quot;:936}"/>
</p:tagLst>
</file>

<file path=ppt/tags/tag2340.xml><?xml version="1.0" encoding="utf-8"?>
<p:tagLst xmlns:p="http://schemas.openxmlformats.org/presentationml/2006/main">
  <p:tag name="KSO_WM_DIAGRAM_VIRTUALLY_FRAME" val="{&amp;quot;height&amp;quot;:411.9,&amp;quot;left&amp;quot;:0,&amp;quot;top&amp;quot;:90.55,&amp;quot;width&amp;quot;:936}"/>
</p:tagLst>
</file>

<file path=ppt/tags/tag2341.xml><?xml version="1.0" encoding="utf-8"?>
<p:tagLst xmlns:p="http://schemas.openxmlformats.org/presentationml/2006/main">
  <p:tag name="KSO_WM_DIAGRAM_VIRTUALLY_FRAME" val="{&amp;quot;height&amp;quot;:411.9,&amp;quot;left&amp;quot;:0,&amp;quot;top&amp;quot;:90.55,&amp;quot;width&amp;quot;:936}"/>
</p:tagLst>
</file>

<file path=ppt/tags/tag2342.xml><?xml version="1.0" encoding="utf-8"?>
<p:tagLst xmlns:p="http://schemas.openxmlformats.org/presentationml/2006/main">
  <p:tag name="KSO_WM_DIAGRAM_VIRTUALLY_FRAME" val="{&amp;quot;height&amp;quot;:411.9,&amp;quot;left&amp;quot;:0,&amp;quot;top&amp;quot;:90.55,&amp;quot;width&amp;quot;:936}"/>
</p:tagLst>
</file>

<file path=ppt/tags/tag2343.xml><?xml version="1.0" encoding="utf-8"?>
<p:tagLst xmlns:p="http://schemas.openxmlformats.org/presentationml/2006/main">
  <p:tag name="KSO_WM_DIAGRAM_VIRTUALLY_FRAME" val="{&amp;quot;height&amp;quot;:411.9,&amp;quot;left&amp;quot;:0,&amp;quot;top&amp;quot;:90.55,&amp;quot;width&amp;quot;:936}"/>
</p:tagLst>
</file>

<file path=ppt/tags/tag2344.xml><?xml version="1.0" encoding="utf-8"?>
<p:tagLst xmlns:p="http://schemas.openxmlformats.org/presentationml/2006/main">
  <p:tag name="KSO_WM_DIAGRAM_VIRTUALLY_FRAME" val="{&amp;quot;height&amp;quot;:411.9,&amp;quot;left&amp;quot;:0,&amp;quot;top&amp;quot;:90.55,&amp;quot;width&amp;quot;:936}"/>
</p:tagLst>
</file>

<file path=ppt/tags/tag2345.xml><?xml version="1.0" encoding="utf-8"?>
<p:tagLst xmlns:p="http://schemas.openxmlformats.org/presentationml/2006/main">
  <p:tag name="KSO_WM_DIAGRAM_VIRTUALLY_FRAME" val="{&amp;quot;height&amp;quot;:411.9,&amp;quot;left&amp;quot;:0,&amp;quot;top&amp;quot;:90.55,&amp;quot;width&amp;quot;:936}"/>
</p:tagLst>
</file>

<file path=ppt/tags/tag2346.xml><?xml version="1.0" encoding="utf-8"?>
<p:tagLst xmlns:p="http://schemas.openxmlformats.org/presentationml/2006/main">
  <p:tag name="KSO_WM_DIAGRAM_VIRTUALLY_FRAME" val="{&amp;quot;height&amp;quot;:411.9,&amp;quot;left&amp;quot;:0,&amp;quot;top&amp;quot;:90.55,&amp;quot;width&amp;quot;:936}"/>
</p:tagLst>
</file>

<file path=ppt/tags/tag2347.xml><?xml version="1.0" encoding="utf-8"?>
<p:tagLst xmlns:p="http://schemas.openxmlformats.org/presentationml/2006/main">
  <p:tag name="KSO_WM_DIAGRAM_VIRTUALLY_FRAME" val="{&amp;quot;height&amp;quot;:411.9,&amp;quot;left&amp;quot;:0,&amp;quot;top&amp;quot;:90.55,&amp;quot;width&amp;quot;:936}"/>
</p:tagLst>
</file>

<file path=ppt/tags/tag2348.xml><?xml version="1.0" encoding="utf-8"?>
<p:tagLst xmlns:p="http://schemas.openxmlformats.org/presentationml/2006/main">
  <p:tag name="KSO_WM_DIAGRAM_VIRTUALLY_FRAME" val="{&amp;quot;height&amp;quot;:411.9,&amp;quot;left&amp;quot;:0,&amp;quot;top&amp;quot;:90.55,&amp;quot;width&amp;quot;:936}"/>
</p:tagLst>
</file>

<file path=ppt/tags/tag2349.xml><?xml version="1.0" encoding="utf-8"?>
<p:tagLst xmlns:p="http://schemas.openxmlformats.org/presentationml/2006/main">
  <p:tag name="KSO_WM_DIAGRAM_VIRTUALLY_FRAME" val="{&amp;quot;height&amp;quot;:411.9,&amp;quot;left&amp;quot;:0,&amp;quot;top&amp;quot;:90.55,&amp;quot;width&amp;quot;:936}"/>
</p:tagLst>
</file>

<file path=ppt/tags/tag2350.xml><?xml version="1.0" encoding="utf-8"?>
<p:tagLst xmlns:p="http://schemas.openxmlformats.org/presentationml/2006/main">
  <p:tag name="KSO_WM_DIAGRAM_VIRTUALLY_FRAME" val="{&amp;quot;height&amp;quot;:411.9,&amp;quot;left&amp;quot;:0,&amp;quot;top&amp;quot;:90.55,&amp;quot;width&amp;quot;:936}"/>
</p:tagLst>
</file>

<file path=ppt/tags/tag2351.xml><?xml version="1.0" encoding="utf-8"?>
<p:tagLst xmlns:p="http://schemas.openxmlformats.org/presentationml/2006/main">
  <p:tag name="KSO_WM_DIAGRAM_VIRTUALLY_FRAME" val="{&amp;quot;height&amp;quot;:411.9,&amp;quot;left&amp;quot;:0,&amp;quot;top&amp;quot;:90.55,&amp;quot;width&amp;quot;:936}"/>
</p:tagLst>
</file>

<file path=ppt/tags/tag2352.xml><?xml version="1.0" encoding="utf-8"?>
<p:tagLst xmlns:p="http://schemas.openxmlformats.org/presentationml/2006/main">
  <p:tag name="KSO_WM_DIAGRAM_VIRTUALLY_FRAME" val="{&amp;quot;height&amp;quot;:411.9,&amp;quot;left&amp;quot;:0,&amp;quot;top&amp;quot;:90.55,&amp;quot;width&amp;quot;:936}"/>
</p:tagLst>
</file>

<file path=ppt/tags/tag2353.xml><?xml version="1.0" encoding="utf-8"?>
<p:tagLst xmlns:p="http://schemas.openxmlformats.org/presentationml/2006/main">
  <p:tag name="KSO_WM_DIAGRAM_VIRTUALLY_FRAME" val="{&amp;quot;height&amp;quot;:411.9,&amp;quot;left&amp;quot;:0,&amp;quot;top&amp;quot;:90.55,&amp;quot;width&amp;quot;:936}"/>
</p:tagLst>
</file>

<file path=ppt/tags/tag2354.xml><?xml version="1.0" encoding="utf-8"?>
<p:tagLst xmlns:p="http://schemas.openxmlformats.org/presentationml/2006/main">
  <p:tag name="KSO_WM_DIAGRAM_VIRTUALLY_FRAME" val="{&amp;quot;height&amp;quot;:411.9,&amp;quot;left&amp;quot;:0,&amp;quot;top&amp;quot;:90.55,&amp;quot;width&amp;quot;:936}"/>
</p:tagLst>
</file>

<file path=ppt/tags/tag2355.xml><?xml version="1.0" encoding="utf-8"?>
<p:tagLst xmlns:p="http://schemas.openxmlformats.org/presentationml/2006/main">
  <p:tag name="KSO_WM_DIAGRAM_VIRTUALLY_FRAME" val="{&amp;quot;height&amp;quot;:411.9,&amp;quot;left&amp;quot;:0,&amp;quot;top&amp;quot;:90.55,&amp;quot;width&amp;quot;:936}"/>
</p:tagLst>
</file>

<file path=ppt/tags/tag2356.xml><?xml version="1.0" encoding="utf-8"?>
<p:tagLst xmlns:p="http://schemas.openxmlformats.org/presentationml/2006/main">
  <p:tag name="KSO_WM_DIAGRAM_VIRTUALLY_FRAME" val="{&amp;quot;height&amp;quot;:411.9,&amp;quot;left&amp;quot;:0,&amp;quot;top&amp;quot;:90.55,&amp;quot;width&amp;quot;:936}"/>
</p:tagLst>
</file>

<file path=ppt/tags/tag2357.xml><?xml version="1.0" encoding="utf-8"?>
<p:tagLst xmlns:p="http://schemas.openxmlformats.org/presentationml/2006/main">
  <p:tag name="KSO_WM_DIAGRAM_VIRTUALLY_FRAME" val="{&amp;quot;height&amp;quot;:411.9,&amp;quot;left&amp;quot;:0,&amp;quot;top&amp;quot;:90.55,&amp;quot;width&amp;quot;:936}"/>
</p:tagLst>
</file>

<file path=ppt/tags/tag2358.xml><?xml version="1.0" encoding="utf-8"?>
<p:tagLst xmlns:p="http://schemas.openxmlformats.org/presentationml/2006/main">
  <p:tag name="KSO_WM_DIAGRAM_VIRTUALLY_FRAME" val="{&amp;quot;height&amp;quot;:411.9,&amp;quot;left&amp;quot;:0,&amp;quot;top&amp;quot;:90.55,&amp;quot;width&amp;quot;:936}"/>
</p:tagLst>
</file>

<file path=ppt/tags/tag2359.xml><?xml version="1.0" encoding="utf-8"?>
<p:tagLst xmlns:p="http://schemas.openxmlformats.org/presentationml/2006/main">
  <p:tag name="KSO_WM_DIAGRAM_VIRTUALLY_FRAME" val="{&amp;quot;height&amp;quot;:411.9,&amp;quot;left&amp;quot;:0,&amp;quot;top&amp;quot;:90.55,&amp;quot;width&amp;quot;:936}"/>
</p:tagLst>
</file>

<file path=ppt/tags/tag2360.xml><?xml version="1.0" encoding="utf-8"?>
<p:tagLst xmlns:p="http://schemas.openxmlformats.org/presentationml/2006/main">
  <p:tag name="KSO_WM_DIAGRAM_VIRTUALLY_FRAME" val="{&amp;quot;height&amp;quot;:411.9,&amp;quot;left&amp;quot;:0,&amp;quot;top&amp;quot;:90.55,&amp;quot;width&amp;quot;:936}"/>
</p:tagLst>
</file>

<file path=ppt/tags/tag2361.xml><?xml version="1.0" encoding="utf-8"?>
<p:tagLst xmlns:p="http://schemas.openxmlformats.org/presentationml/2006/main">
  <p:tag name="KSO_WM_DIAGRAM_VIRTUALLY_FRAME" val="{&amp;quot;height&amp;quot;:411.9,&amp;quot;left&amp;quot;:0,&amp;quot;top&amp;quot;:90.55,&amp;quot;width&amp;quot;:936}"/>
</p:tagLst>
</file>

<file path=ppt/tags/tag2362.xml><?xml version="1.0" encoding="utf-8"?>
<p:tagLst xmlns:p="http://schemas.openxmlformats.org/presentationml/2006/main">
  <p:tag name="KSO_WM_DIAGRAM_VIRTUALLY_FRAME" val="{&amp;quot;height&amp;quot;:411.9,&amp;quot;left&amp;quot;:0,&amp;quot;top&amp;quot;:90.55,&amp;quot;width&amp;quot;:936}"/>
</p:tagLst>
</file>

<file path=ppt/tags/tag2363.xml><?xml version="1.0" encoding="utf-8"?>
<p:tagLst xmlns:p="http://schemas.openxmlformats.org/presentationml/2006/main">
  <p:tag name="KSO_WM_DIAGRAM_VIRTUALLY_FRAME" val="{&amp;quot;height&amp;quot;:411.9,&amp;quot;left&amp;quot;:0,&amp;quot;top&amp;quot;:90.55,&amp;quot;width&amp;quot;:936}"/>
</p:tagLst>
</file>

<file path=ppt/tags/tag2364.xml><?xml version="1.0" encoding="utf-8"?>
<p:tagLst xmlns:p="http://schemas.openxmlformats.org/presentationml/2006/main">
  <p:tag name="KSO_WM_DIAGRAM_VIRTUALLY_FRAME" val="{&amp;quot;height&amp;quot;:411.9,&amp;quot;left&amp;quot;:0,&amp;quot;top&amp;quot;:90.55,&amp;quot;width&amp;quot;:936}"/>
</p:tagLst>
</file>

<file path=ppt/tags/tag2365.xml><?xml version="1.0" encoding="utf-8"?>
<p:tagLst xmlns:p="http://schemas.openxmlformats.org/presentationml/2006/main">
  <p:tag name="KSO_WM_DIAGRAM_VIRTUALLY_FRAME" val="{&amp;quot;height&amp;quot;:411.9,&amp;quot;left&amp;quot;:0,&amp;quot;top&amp;quot;:90.55,&amp;quot;width&amp;quot;:936}"/>
</p:tagLst>
</file>

<file path=ppt/tags/tag2366.xml><?xml version="1.0" encoding="utf-8"?>
<p:tagLst xmlns:p="http://schemas.openxmlformats.org/presentationml/2006/main">
  <p:tag name="KSO_WM_DIAGRAM_VIRTUALLY_FRAME" val="{&amp;quot;height&amp;quot;:411.9,&amp;quot;left&amp;quot;:0,&amp;quot;top&amp;quot;:90.55,&amp;quot;width&amp;quot;:936}"/>
</p:tagLst>
</file>

<file path=ppt/tags/tag2367.xml><?xml version="1.0" encoding="utf-8"?>
<p:tagLst xmlns:p="http://schemas.openxmlformats.org/presentationml/2006/main">
  <p:tag name="KSO_WM_DIAGRAM_VIRTUALLY_FRAME" val="{&amp;quot;height&amp;quot;:411.9,&amp;quot;left&amp;quot;:0,&amp;quot;top&amp;quot;:90.55,&amp;quot;width&amp;quot;:936}"/>
</p:tagLst>
</file>

<file path=ppt/tags/tag2368.xml><?xml version="1.0" encoding="utf-8"?>
<p:tagLst xmlns:p="http://schemas.openxmlformats.org/presentationml/2006/main">
  <p:tag name="KSO_WM_DIAGRAM_VIRTUALLY_FRAME" val="{&amp;quot;height&amp;quot;:411.9,&amp;quot;left&amp;quot;:0,&amp;quot;top&amp;quot;:90.55,&amp;quot;width&amp;quot;:936}"/>
</p:tagLst>
</file>

<file path=ppt/tags/tag2369.xml><?xml version="1.0" encoding="utf-8"?>
<p:tagLst xmlns:p="http://schemas.openxmlformats.org/presentationml/2006/main">
  <p:tag name="KSO_WM_DIAGRAM_VIRTUALLY_FRAME" val="{&amp;quot;height&amp;quot;:411.9,&amp;quot;left&amp;quot;:0,&amp;quot;top&amp;quot;:90.55,&amp;quot;width&amp;quot;:936}"/>
</p:tagLst>
</file>

<file path=ppt/tags/tag2370.xml><?xml version="1.0" encoding="utf-8"?>
<p:tagLst xmlns:p="http://schemas.openxmlformats.org/presentationml/2006/main">
  <p:tag name="KSO_WM_DIAGRAM_VIRTUALLY_FRAME" val="{&amp;quot;height&amp;quot;:411.9,&amp;quot;left&amp;quot;:0,&amp;quot;top&amp;quot;:90.55,&amp;quot;width&amp;quot;:936}"/>
</p:tagLst>
</file>

<file path=ppt/tags/tag2371.xml><?xml version="1.0" encoding="utf-8"?>
<p:tagLst xmlns:p="http://schemas.openxmlformats.org/presentationml/2006/main">
  <p:tag name="KSO_WM_DIAGRAM_VIRTUALLY_FRAME" val="{&amp;quot;height&amp;quot;:411.9,&amp;quot;left&amp;quot;:0,&amp;quot;top&amp;quot;:90.55,&amp;quot;width&amp;quot;:936}"/>
</p:tagLst>
</file>

<file path=ppt/tags/tag2372.xml><?xml version="1.0" encoding="utf-8"?>
<p:tagLst xmlns:p="http://schemas.openxmlformats.org/presentationml/2006/main">
  <p:tag name="KSO_WM_DIAGRAM_VIRTUALLY_FRAME" val="{&amp;quot;height&amp;quot;:411.9,&amp;quot;left&amp;quot;:0,&amp;quot;top&amp;quot;:90.55,&amp;quot;width&amp;quot;:936}"/>
</p:tagLst>
</file>

<file path=ppt/tags/tag2373.xml><?xml version="1.0" encoding="utf-8"?>
<p:tagLst xmlns:p="http://schemas.openxmlformats.org/presentationml/2006/main">
  <p:tag name="KSO_WM_DIAGRAM_VIRTUALLY_FRAME" val="{&amp;quot;height&amp;quot;:411.9,&amp;quot;left&amp;quot;:0,&amp;quot;top&amp;quot;:90.55,&amp;quot;width&amp;quot;:936}"/>
</p:tagLst>
</file>

<file path=ppt/tags/tag2374.xml><?xml version="1.0" encoding="utf-8"?>
<p:tagLst xmlns:p="http://schemas.openxmlformats.org/presentationml/2006/main">
  <p:tag name="KSO_WM_DIAGRAM_VIRTUALLY_FRAME" val="{&amp;quot;height&amp;quot;:411.9,&amp;quot;left&amp;quot;:0,&amp;quot;top&amp;quot;:90.55,&amp;quot;width&amp;quot;:936}"/>
</p:tagLst>
</file>

<file path=ppt/tags/tag2375.xml><?xml version="1.0" encoding="utf-8"?>
<p:tagLst xmlns:p="http://schemas.openxmlformats.org/presentationml/2006/main">
  <p:tag name="KSO_WM_DIAGRAM_VIRTUALLY_FRAME" val="{&amp;quot;height&amp;quot;:411.9,&amp;quot;left&amp;quot;:0,&amp;quot;top&amp;quot;:90.55,&amp;quot;width&amp;quot;:936}"/>
</p:tagLst>
</file>

<file path=ppt/tags/tag2376.xml><?xml version="1.0" encoding="utf-8"?>
<p:tagLst xmlns:p="http://schemas.openxmlformats.org/presentationml/2006/main">
  <p:tag name="KSO_WM_DIAGRAM_VIRTUALLY_FRAME" val="{&amp;quot;height&amp;quot;:411.9,&amp;quot;left&amp;quot;:0,&amp;quot;top&amp;quot;:90.55,&amp;quot;width&amp;quot;:936}"/>
</p:tagLst>
</file>

<file path=ppt/tags/tag2377.xml><?xml version="1.0" encoding="utf-8"?>
<p:tagLst xmlns:p="http://schemas.openxmlformats.org/presentationml/2006/main">
  <p:tag name="KSO_WM_DIAGRAM_VIRTUALLY_FRAME" val="{&amp;quot;height&amp;quot;:411.9,&amp;quot;left&amp;quot;:0,&amp;quot;top&amp;quot;:90.55,&amp;quot;width&amp;quot;:936}"/>
</p:tagLst>
</file>

<file path=ppt/tags/tag2378.xml><?xml version="1.0" encoding="utf-8"?>
<p:tagLst xmlns:p="http://schemas.openxmlformats.org/presentationml/2006/main">
  <p:tag name="KSO_WM_DIAGRAM_VIRTUALLY_FRAME" val="{&amp;quot;height&amp;quot;:411.9,&amp;quot;left&amp;quot;:0,&amp;quot;top&amp;quot;:90.55,&amp;quot;width&amp;quot;:936}"/>
</p:tagLst>
</file>

<file path=ppt/tags/tag2379.xml><?xml version="1.0" encoding="utf-8"?>
<p:tagLst xmlns:p="http://schemas.openxmlformats.org/presentationml/2006/main">
  <p:tag name="KSO_WM_DIAGRAM_VIRTUALLY_FRAME" val="{&amp;quot;height&amp;quot;:411.9,&amp;quot;left&amp;quot;:0,&amp;quot;top&amp;quot;:90.55,&amp;quot;width&amp;quot;:936}"/>
</p:tagLst>
</file>

<file path=ppt/tags/tag2380.xml><?xml version="1.0" encoding="utf-8"?>
<p:tagLst xmlns:p="http://schemas.openxmlformats.org/presentationml/2006/main">
  <p:tag name="KSO_WM_DIAGRAM_VIRTUALLY_FRAME" val="{&amp;quot;height&amp;quot;:411.9,&amp;quot;left&amp;quot;:0,&amp;quot;top&amp;quot;:90.55,&amp;quot;width&amp;quot;:936}"/>
</p:tagLst>
</file>

<file path=ppt/tags/tag2381.xml><?xml version="1.0" encoding="utf-8"?>
<p:tagLst xmlns:p="http://schemas.openxmlformats.org/presentationml/2006/main">
  <p:tag name="KSO_WM_DIAGRAM_VIRTUALLY_FRAME" val="{&amp;quot;height&amp;quot;:411.9,&amp;quot;left&amp;quot;:0,&amp;quot;top&amp;quot;:90.55,&amp;quot;width&amp;quot;:936}"/>
</p:tagLst>
</file>

<file path=ppt/tags/tag2382.xml><?xml version="1.0" encoding="utf-8"?>
<p:tagLst xmlns:p="http://schemas.openxmlformats.org/presentationml/2006/main">
  <p:tag name="KSO_WM_DIAGRAM_VIRTUALLY_FRAME" val="{&amp;quot;height&amp;quot;:411.9,&amp;quot;left&amp;quot;:0,&amp;quot;top&amp;quot;:90.55,&amp;quot;width&amp;quot;:936}"/>
</p:tagLst>
</file>

<file path=ppt/tags/tag2383.xml><?xml version="1.0" encoding="utf-8"?>
<p:tagLst xmlns:p="http://schemas.openxmlformats.org/presentationml/2006/main">
  <p:tag name="KSO_WM_DIAGRAM_VIRTUALLY_FRAME" val="{&amp;quot;height&amp;quot;:411.9,&amp;quot;left&amp;quot;:0,&amp;quot;top&amp;quot;:90.55,&amp;quot;width&amp;quot;:936}"/>
</p:tagLst>
</file>

<file path=ppt/tags/tag2384.xml><?xml version="1.0" encoding="utf-8"?>
<p:tagLst xmlns:p="http://schemas.openxmlformats.org/presentationml/2006/main">
  <p:tag name="KSO_WM_DIAGRAM_VIRTUALLY_FRAME" val="{&amp;quot;height&amp;quot;:411.9,&amp;quot;left&amp;quot;:0,&amp;quot;top&amp;quot;:90.55,&amp;quot;width&amp;quot;:936}"/>
</p:tagLst>
</file>

<file path=ppt/tags/tag2385.xml><?xml version="1.0" encoding="utf-8"?>
<p:tagLst xmlns:p="http://schemas.openxmlformats.org/presentationml/2006/main">
  <p:tag name="KSO_WM_DIAGRAM_VIRTUALLY_FRAME" val="{&amp;quot;height&amp;quot;:411.9,&amp;quot;left&amp;quot;:0,&amp;quot;top&amp;quot;:90.55,&amp;quot;width&amp;quot;:936}"/>
</p:tagLst>
</file>

<file path=ppt/tags/tag2386.xml><?xml version="1.0" encoding="utf-8"?>
<p:tagLst xmlns:p="http://schemas.openxmlformats.org/presentationml/2006/main">
  <p:tag name="KSO_WM_DIAGRAM_VIRTUALLY_FRAME" val="{&amp;quot;height&amp;quot;:411.9,&amp;quot;left&amp;quot;:0,&amp;quot;top&amp;quot;:90.55,&amp;quot;width&amp;quot;:936}"/>
</p:tagLst>
</file>

<file path=ppt/tags/tag2387.xml><?xml version="1.0" encoding="utf-8"?>
<p:tagLst xmlns:p="http://schemas.openxmlformats.org/presentationml/2006/main">
  <p:tag name="KSO_WM_DIAGRAM_VIRTUALLY_FRAME" val="{&amp;quot;height&amp;quot;:411.9,&amp;quot;left&amp;quot;:0,&amp;quot;top&amp;quot;:90.55,&amp;quot;width&amp;quot;:936}"/>
</p:tagLst>
</file>

<file path=ppt/tags/tag2388.xml><?xml version="1.0" encoding="utf-8"?>
<p:tagLst xmlns:p="http://schemas.openxmlformats.org/presentationml/2006/main">
  <p:tag name="KSO_WM_DIAGRAM_VIRTUALLY_FRAME" val="{&amp;quot;height&amp;quot;:411.9,&amp;quot;left&amp;quot;:0,&amp;quot;top&amp;quot;:90.55,&amp;quot;width&amp;quot;:936}"/>
</p:tagLst>
</file>

<file path=ppt/tags/tag2389.xml><?xml version="1.0" encoding="utf-8"?>
<p:tagLst xmlns:p="http://schemas.openxmlformats.org/presentationml/2006/main">
  <p:tag name="KSO_WM_DIAGRAM_VIRTUALLY_FRAME" val="{&amp;quot;height&amp;quot;:411.9,&amp;quot;left&amp;quot;:0,&amp;quot;top&amp;quot;:90.55,&amp;quot;width&amp;quot;:936}"/>
</p:tagLst>
</file>

<file path=ppt/tags/tag2390.xml><?xml version="1.0" encoding="utf-8"?>
<p:tagLst xmlns:p="http://schemas.openxmlformats.org/presentationml/2006/main">
  <p:tag name="KSO_WM_DIAGRAM_VIRTUALLY_FRAME" val="{&amp;quot;height&amp;quot;:411.9,&amp;quot;left&amp;quot;:0,&amp;quot;top&amp;quot;:90.55,&amp;quot;width&amp;quot;:936}"/>
</p:tagLst>
</file>

<file path=ppt/tags/tag2391.xml><?xml version="1.0" encoding="utf-8"?>
<p:tagLst xmlns:p="http://schemas.openxmlformats.org/presentationml/2006/main">
  <p:tag name="KSO_WM_DIAGRAM_VIRTUALLY_FRAME" val="{&amp;quot;height&amp;quot;:411.9,&amp;quot;left&amp;quot;:0,&amp;quot;top&amp;quot;:90.55,&amp;quot;width&amp;quot;:936}"/>
</p:tagLst>
</file>

<file path=ppt/tags/tag2392.xml><?xml version="1.0" encoding="utf-8"?>
<p:tagLst xmlns:p="http://schemas.openxmlformats.org/presentationml/2006/main">
  <p:tag name="KSO_WM_DIAGRAM_VIRTUALLY_FRAME" val="{&amp;quot;height&amp;quot;:411.9,&amp;quot;left&amp;quot;:0,&amp;quot;top&amp;quot;:90.55,&amp;quot;width&amp;quot;:936}"/>
</p:tagLst>
</file>

<file path=ppt/tags/tag2393.xml><?xml version="1.0" encoding="utf-8"?>
<p:tagLst xmlns:p="http://schemas.openxmlformats.org/presentationml/2006/main">
  <p:tag name="KSO_WM_DIAGRAM_VIRTUALLY_FRAME" val="{&amp;quot;height&amp;quot;:411.9,&amp;quot;left&amp;quot;:0,&amp;quot;top&amp;quot;:90.55,&amp;quot;width&amp;quot;:936}"/>
</p:tagLst>
</file>

<file path=ppt/tags/tag2394.xml><?xml version="1.0" encoding="utf-8"?>
<p:tagLst xmlns:p="http://schemas.openxmlformats.org/presentationml/2006/main">
  <p:tag name="KSO_WM_DIAGRAM_VIRTUALLY_FRAME" val="{&amp;quot;height&amp;quot;:411.9,&amp;quot;left&amp;quot;:0,&amp;quot;top&amp;quot;:90.55,&amp;quot;width&amp;quot;:936}"/>
</p:tagLst>
</file>

<file path=ppt/tags/tag2395.xml><?xml version="1.0" encoding="utf-8"?>
<p:tagLst xmlns:p="http://schemas.openxmlformats.org/presentationml/2006/main">
  <p:tag name="KSO_WM_DIAGRAM_VIRTUALLY_FRAME" val="{&amp;quot;height&amp;quot;:411.9,&amp;quot;left&amp;quot;:0,&amp;quot;top&amp;quot;:90.55,&amp;quot;width&amp;quot;:936}"/>
</p:tagLst>
</file>

<file path=ppt/tags/tag2396.xml><?xml version="1.0" encoding="utf-8"?>
<p:tagLst xmlns:p="http://schemas.openxmlformats.org/presentationml/2006/main">
  <p:tag name="KSO_WM_DIAGRAM_VIRTUALLY_FRAME" val="{&amp;quot;height&amp;quot;:411.9,&amp;quot;left&amp;quot;:0,&amp;quot;top&amp;quot;:90.55,&amp;quot;width&amp;quot;:936}"/>
</p:tagLst>
</file>

<file path=ppt/tags/tag2397.xml><?xml version="1.0" encoding="utf-8"?>
<p:tagLst xmlns:p="http://schemas.openxmlformats.org/presentationml/2006/main">
  <p:tag name="KSO_WM_DIAGRAM_VIRTUALLY_FRAME" val="{&amp;quot;height&amp;quot;:411.9,&amp;quot;left&amp;quot;:0,&amp;quot;top&amp;quot;:90.55,&amp;quot;width&amp;quot;:936}"/>
</p:tagLst>
</file>

<file path=ppt/tags/tag2398.xml><?xml version="1.0" encoding="utf-8"?>
<p:tagLst xmlns:p="http://schemas.openxmlformats.org/presentationml/2006/main">
  <p:tag name="KSO_WM_DIAGRAM_VIRTUALLY_FRAME" val="{&amp;quot;height&amp;quot;:411.9,&amp;quot;left&amp;quot;:0,&amp;quot;top&amp;quot;:90.55,&amp;quot;width&amp;quot;:936}"/>
</p:tagLst>
</file>

<file path=ppt/tags/tag2399.xml><?xml version="1.0" encoding="utf-8"?>
<p:tagLst xmlns:p="http://schemas.openxmlformats.org/presentationml/2006/main">
  <p:tag name="KSO_WM_DIAGRAM_VIRTUALLY_FRAME" val="{&amp;quot;height&amp;quot;:411.9,&amp;quot;left&amp;quot;:0,&amp;quot;top&amp;quot;:90.55,&amp;quot;width&amp;quot;:936}"/>
</p:tagLst>
</file>

<file path=ppt/tags/tag2400.xml><?xml version="1.0" encoding="utf-8"?>
<p:tagLst xmlns:p="http://schemas.openxmlformats.org/presentationml/2006/main">
  <p:tag name="KSO_WM_DIAGRAM_VIRTUALLY_FRAME" val="{&amp;quot;height&amp;quot;:411.9,&amp;quot;left&amp;quot;:0,&amp;quot;top&amp;quot;:90.55,&amp;quot;width&amp;quot;:936}"/>
</p:tagLst>
</file>

<file path=ppt/tags/tag2401.xml><?xml version="1.0" encoding="utf-8"?>
<p:tagLst xmlns:p="http://schemas.openxmlformats.org/presentationml/2006/main">
  <p:tag name="KSO_WM_DIAGRAM_VIRTUALLY_FRAME" val="{&amp;quot;height&amp;quot;:411.9,&amp;quot;left&amp;quot;:0,&amp;quot;top&amp;quot;:90.55,&amp;quot;width&amp;quot;:936}"/>
</p:tagLst>
</file>

<file path=ppt/tags/tag2402.xml><?xml version="1.0" encoding="utf-8"?>
<p:tagLst xmlns:p="http://schemas.openxmlformats.org/presentationml/2006/main">
  <p:tag name="KSO_WM_DIAGRAM_VIRTUALLY_FRAME" val="{&amp;quot;height&amp;quot;:411.9,&amp;quot;left&amp;quot;:0,&amp;quot;top&amp;quot;:90.55,&amp;quot;width&amp;quot;:936}"/>
</p:tagLst>
</file>

<file path=ppt/tags/tag2403.xml><?xml version="1.0" encoding="utf-8"?>
<p:tagLst xmlns:p="http://schemas.openxmlformats.org/presentationml/2006/main">
  <p:tag name="KSO_WM_DIAGRAM_VIRTUALLY_FRAME" val="{&amp;quot;height&amp;quot;:411.9,&amp;quot;left&amp;quot;:0,&amp;quot;top&amp;quot;:90.55,&amp;quot;width&amp;quot;:936}"/>
</p:tagLst>
</file>

<file path=ppt/tags/tag2404.xml><?xml version="1.0" encoding="utf-8"?>
<p:tagLst xmlns:p="http://schemas.openxmlformats.org/presentationml/2006/main">
  <p:tag name="KSO_WM_DIAGRAM_VIRTUALLY_FRAME" val="{&amp;quot;height&amp;quot;:411.9,&amp;quot;left&amp;quot;:0,&amp;quot;top&amp;quot;:90.55,&amp;quot;width&amp;quot;:936}"/>
</p:tagLst>
</file>

<file path=ppt/tags/tag2405.xml><?xml version="1.0" encoding="utf-8"?>
<p:tagLst xmlns:p="http://schemas.openxmlformats.org/presentationml/2006/main">
  <p:tag name="KSO_WM_DIAGRAM_VIRTUALLY_FRAME" val="{&amp;quot;height&amp;quot;:411.9,&amp;quot;left&amp;quot;:0,&amp;quot;top&amp;quot;:90.55,&amp;quot;width&amp;quot;:936}"/>
</p:tagLst>
</file>

<file path=ppt/tags/tag2406.xml><?xml version="1.0" encoding="utf-8"?>
<p:tagLst xmlns:p="http://schemas.openxmlformats.org/presentationml/2006/main">
  <p:tag name="KSO_WM_DIAGRAM_VIRTUALLY_FRAME" val="{&amp;quot;height&amp;quot;:411.9,&amp;quot;left&amp;quot;:0,&amp;quot;top&amp;quot;:90.55,&amp;quot;width&amp;quot;:936}"/>
</p:tagLst>
</file>

<file path=ppt/tags/tag2407.xml><?xml version="1.0" encoding="utf-8"?>
<p:tagLst xmlns:p="http://schemas.openxmlformats.org/presentationml/2006/main">
  <p:tag name="KSO_WM_DIAGRAM_VIRTUALLY_FRAME" val="{&amp;quot;height&amp;quot;:411.9,&amp;quot;left&amp;quot;:0,&amp;quot;top&amp;quot;:90.55,&amp;quot;width&amp;quot;:936}"/>
</p:tagLst>
</file>

<file path=ppt/tags/tag2408.xml><?xml version="1.0" encoding="utf-8"?>
<p:tagLst xmlns:p="http://schemas.openxmlformats.org/presentationml/2006/main">
  <p:tag name="KSO_WM_DIAGRAM_VIRTUALLY_FRAME" val="{&amp;quot;height&amp;quot;:411.9,&amp;quot;left&amp;quot;:0,&amp;quot;top&amp;quot;:90.55,&amp;quot;width&amp;quot;:936}"/>
</p:tagLst>
</file>

<file path=ppt/tags/tag2409.xml><?xml version="1.0" encoding="utf-8"?>
<p:tagLst xmlns:p="http://schemas.openxmlformats.org/presentationml/2006/main">
  <p:tag name="KSO_WM_DIAGRAM_VIRTUALLY_FRAME" val="{&amp;quot;height&amp;quot;:411.9,&amp;quot;left&amp;quot;:0,&amp;quot;top&amp;quot;:90.55,&amp;quot;width&amp;quot;:936}"/>
</p:tagLst>
</file>

<file path=ppt/tags/tag2410.xml><?xml version="1.0" encoding="utf-8"?>
<p:tagLst xmlns:p="http://schemas.openxmlformats.org/presentationml/2006/main">
  <p:tag name="KSO_WM_DIAGRAM_VIRTUALLY_FRAME" val="{&amp;quot;height&amp;quot;:411.9,&amp;quot;left&amp;quot;:0,&amp;quot;top&amp;quot;:90.55,&amp;quot;width&amp;quot;:936}"/>
</p:tagLst>
</file>

<file path=ppt/tags/tag2411.xml><?xml version="1.0" encoding="utf-8"?>
<p:tagLst xmlns:p="http://schemas.openxmlformats.org/presentationml/2006/main">
  <p:tag name="KSO_WM_DIAGRAM_VIRTUALLY_FRAME" val="{&amp;quot;height&amp;quot;:411.9,&amp;quot;left&amp;quot;:0,&amp;quot;top&amp;quot;:90.55,&amp;quot;width&amp;quot;:936}"/>
</p:tagLst>
</file>

<file path=ppt/tags/tag2412.xml><?xml version="1.0" encoding="utf-8"?>
<p:tagLst xmlns:p="http://schemas.openxmlformats.org/presentationml/2006/main">
  <p:tag name="KSO_WM_DIAGRAM_VIRTUALLY_FRAME" val="{&amp;quot;height&amp;quot;:411.9,&amp;quot;left&amp;quot;:0,&amp;quot;top&amp;quot;:90.55,&amp;quot;width&amp;quot;:936}"/>
</p:tagLst>
</file>

<file path=ppt/tags/tag2413.xml><?xml version="1.0" encoding="utf-8"?>
<p:tagLst xmlns:p="http://schemas.openxmlformats.org/presentationml/2006/main">
  <p:tag name="KSO_WM_DIAGRAM_VIRTUALLY_FRAME" val="{&amp;quot;height&amp;quot;:411.9,&amp;quot;left&amp;quot;:0,&amp;quot;top&amp;quot;:90.55,&amp;quot;width&amp;quot;:936}"/>
</p:tagLst>
</file>

<file path=ppt/tags/tag2414.xml><?xml version="1.0" encoding="utf-8"?>
<p:tagLst xmlns:p="http://schemas.openxmlformats.org/presentationml/2006/main">
  <p:tag name="KSO_WM_DIAGRAM_VIRTUALLY_FRAME" val="{&amp;quot;height&amp;quot;:411.9,&amp;quot;left&amp;quot;:0,&amp;quot;top&amp;quot;:90.55,&amp;quot;width&amp;quot;:936}"/>
</p:tagLst>
</file>

<file path=ppt/tags/tag2415.xml><?xml version="1.0" encoding="utf-8"?>
<p:tagLst xmlns:p="http://schemas.openxmlformats.org/presentationml/2006/main">
  <p:tag name="KSO_WM_DIAGRAM_VIRTUALLY_FRAME" val="{&amp;quot;height&amp;quot;:411.9,&amp;quot;left&amp;quot;:0,&amp;quot;top&amp;quot;:90.55,&amp;quot;width&amp;quot;:936}"/>
</p:tagLst>
</file>

<file path=ppt/tags/tag2416.xml><?xml version="1.0" encoding="utf-8"?>
<p:tagLst xmlns:p="http://schemas.openxmlformats.org/presentationml/2006/main">
  <p:tag name="KSO_WM_DIAGRAM_VIRTUALLY_FRAME" val="{&amp;quot;height&amp;quot;:411.9,&amp;quot;left&amp;quot;:0,&amp;quot;top&amp;quot;:90.55,&amp;quot;width&amp;quot;:936}"/>
</p:tagLst>
</file>

<file path=ppt/tags/tag2417.xml><?xml version="1.0" encoding="utf-8"?>
<p:tagLst xmlns:p="http://schemas.openxmlformats.org/presentationml/2006/main">
  <p:tag name="KSO_WM_DIAGRAM_VIRTUALLY_FRAME" val="{&amp;quot;height&amp;quot;:411.9,&amp;quot;left&amp;quot;:0,&amp;quot;top&amp;quot;:90.55,&amp;quot;width&amp;quot;:936}"/>
</p:tagLst>
</file>

<file path=ppt/tags/tag2418.xml><?xml version="1.0" encoding="utf-8"?>
<p:tagLst xmlns:p="http://schemas.openxmlformats.org/presentationml/2006/main">
  <p:tag name="KSO_WM_DIAGRAM_VIRTUALLY_FRAME" val="{&amp;quot;height&amp;quot;:411.9,&amp;quot;left&amp;quot;:0,&amp;quot;top&amp;quot;:90.55,&amp;quot;width&amp;quot;:936}"/>
</p:tagLst>
</file>

<file path=ppt/tags/tag2419.xml><?xml version="1.0" encoding="utf-8"?>
<p:tagLst xmlns:p="http://schemas.openxmlformats.org/presentationml/2006/main">
  <p:tag name="KSO_WM_DIAGRAM_VIRTUALLY_FRAME" val="{&amp;quot;height&amp;quot;:411.9,&amp;quot;left&amp;quot;:0,&amp;quot;top&amp;quot;:90.55,&amp;quot;width&amp;quot;:936}"/>
</p:tagLst>
</file>

<file path=ppt/tags/tag2420.xml><?xml version="1.0" encoding="utf-8"?>
<p:tagLst xmlns:p="http://schemas.openxmlformats.org/presentationml/2006/main">
  <p:tag name="KSO_WM_DIAGRAM_VIRTUALLY_FRAME" val="{&amp;quot;height&amp;quot;:411.9,&amp;quot;left&amp;quot;:0,&amp;quot;top&amp;quot;:90.55,&amp;quot;width&amp;quot;:936}"/>
</p:tagLst>
</file>

<file path=ppt/tags/tag2421.xml><?xml version="1.0" encoding="utf-8"?>
<p:tagLst xmlns:p="http://schemas.openxmlformats.org/presentationml/2006/main">
  <p:tag name="KSO_WM_DIAGRAM_VIRTUALLY_FRAME" val="{&amp;quot;height&amp;quot;:411.9,&amp;quot;left&amp;quot;:0,&amp;quot;top&amp;quot;:90.55,&amp;quot;width&amp;quot;:936}"/>
</p:tagLst>
</file>

<file path=ppt/tags/tag2422.xml><?xml version="1.0" encoding="utf-8"?>
<p:tagLst xmlns:p="http://schemas.openxmlformats.org/presentationml/2006/main">
  <p:tag name="KSO_WM_DIAGRAM_VIRTUALLY_FRAME" val="{&amp;quot;height&amp;quot;:411.9,&amp;quot;left&amp;quot;:0,&amp;quot;top&amp;quot;:90.55,&amp;quot;width&amp;quot;:936}"/>
</p:tagLst>
</file>

<file path=ppt/tags/tag2423.xml><?xml version="1.0" encoding="utf-8"?>
<p:tagLst xmlns:p="http://schemas.openxmlformats.org/presentationml/2006/main">
  <p:tag name="KSO_WM_DIAGRAM_VIRTUALLY_FRAME" val="{&amp;quot;height&amp;quot;:411.9,&amp;quot;left&amp;quot;:0,&amp;quot;top&amp;quot;:90.55,&amp;quot;width&amp;quot;:936}"/>
</p:tagLst>
</file>

<file path=ppt/tags/tag2424.xml><?xml version="1.0" encoding="utf-8"?>
<p:tagLst xmlns:p="http://schemas.openxmlformats.org/presentationml/2006/main">
  <p:tag name="KSO_WM_DIAGRAM_VIRTUALLY_FRAME" val="{&amp;quot;height&amp;quot;:411.9,&amp;quot;left&amp;quot;:0,&amp;quot;top&amp;quot;:90.55,&amp;quot;width&amp;quot;:936}"/>
</p:tagLst>
</file>

<file path=ppt/tags/tag2425.xml><?xml version="1.0" encoding="utf-8"?>
<p:tagLst xmlns:p="http://schemas.openxmlformats.org/presentationml/2006/main">
  <p:tag name="KSO_WM_DIAGRAM_VIRTUALLY_FRAME" val="{&amp;quot;height&amp;quot;:411.9,&amp;quot;left&amp;quot;:0,&amp;quot;top&amp;quot;:90.55,&amp;quot;width&amp;quot;:936}"/>
</p:tagLst>
</file>

<file path=ppt/tags/tag2426.xml><?xml version="1.0" encoding="utf-8"?>
<p:tagLst xmlns:p="http://schemas.openxmlformats.org/presentationml/2006/main">
  <p:tag name="KSO_WM_DIAGRAM_VIRTUALLY_FRAME" val="{&amp;quot;height&amp;quot;:411.9,&amp;quot;left&amp;quot;:0,&amp;quot;top&amp;quot;:90.55,&amp;quot;width&amp;quot;:936}"/>
</p:tagLst>
</file>

<file path=ppt/tags/tag2427.xml><?xml version="1.0" encoding="utf-8"?>
<p:tagLst xmlns:p="http://schemas.openxmlformats.org/presentationml/2006/main">
  <p:tag name="KSO_WM_DIAGRAM_VIRTUALLY_FRAME" val="{&amp;quot;height&amp;quot;:411.9,&amp;quot;left&amp;quot;:0,&amp;quot;top&amp;quot;:90.55,&amp;quot;width&amp;quot;:936}"/>
</p:tagLst>
</file>

<file path=ppt/tags/tag2428.xml><?xml version="1.0" encoding="utf-8"?>
<p:tagLst xmlns:p="http://schemas.openxmlformats.org/presentationml/2006/main">
  <p:tag name="KSO_WM_DIAGRAM_VIRTUALLY_FRAME" val="{&amp;quot;height&amp;quot;:411.9,&amp;quot;left&amp;quot;:0,&amp;quot;top&amp;quot;:90.55,&amp;quot;width&amp;quot;:936}"/>
</p:tagLst>
</file>

<file path=ppt/tags/tag2429.xml><?xml version="1.0" encoding="utf-8"?>
<p:tagLst xmlns:p="http://schemas.openxmlformats.org/presentationml/2006/main">
  <p:tag name="KSO_WM_DIAGRAM_VIRTUALLY_FRAME" val="{&amp;quot;height&amp;quot;:411.9,&amp;quot;left&amp;quot;:0,&amp;quot;top&amp;quot;:90.55,&amp;quot;width&amp;quot;:936}"/>
</p:tagLst>
</file>

<file path=ppt/tags/tag2430.xml><?xml version="1.0" encoding="utf-8"?>
<p:tagLst xmlns:p="http://schemas.openxmlformats.org/presentationml/2006/main">
  <p:tag name="KSO_WM_DIAGRAM_VIRTUALLY_FRAME" val="{&amp;quot;height&amp;quot;:411.9,&amp;quot;left&amp;quot;:0,&amp;quot;top&amp;quot;:90.55,&amp;quot;width&amp;quot;:936}"/>
</p:tagLst>
</file>

<file path=ppt/tags/tag2431.xml><?xml version="1.0" encoding="utf-8"?>
<p:tagLst xmlns:p="http://schemas.openxmlformats.org/presentationml/2006/main">
  <p:tag name="KSO_WM_DIAGRAM_VIRTUALLY_FRAME" val="{&amp;quot;height&amp;quot;:411.9,&amp;quot;left&amp;quot;:0,&amp;quot;top&amp;quot;:90.55,&amp;quot;width&amp;quot;:936}"/>
</p:tagLst>
</file>

<file path=ppt/tags/tag2432.xml><?xml version="1.0" encoding="utf-8"?>
<p:tagLst xmlns:p="http://schemas.openxmlformats.org/presentationml/2006/main">
  <p:tag name="KSO_WM_DIAGRAM_VIRTUALLY_FRAME" val="{&amp;quot;height&amp;quot;:411.9,&amp;quot;left&amp;quot;:0,&amp;quot;top&amp;quot;:90.55,&amp;quot;width&amp;quot;:936}"/>
</p:tagLst>
</file>

<file path=ppt/tags/tag2433.xml><?xml version="1.0" encoding="utf-8"?>
<p:tagLst xmlns:p="http://schemas.openxmlformats.org/presentationml/2006/main">
  <p:tag name="KSO_WM_DIAGRAM_VIRTUALLY_FRAME" val="{&amp;quot;height&amp;quot;:411.9,&amp;quot;left&amp;quot;:0,&amp;quot;top&amp;quot;:90.55,&amp;quot;width&amp;quot;:936}"/>
</p:tagLst>
</file>

<file path=ppt/tags/tag2434.xml><?xml version="1.0" encoding="utf-8"?>
<p:tagLst xmlns:p="http://schemas.openxmlformats.org/presentationml/2006/main">
  <p:tag name="KSO_WM_DIAGRAM_VIRTUALLY_FRAME" val="{&amp;quot;height&amp;quot;:411.9,&amp;quot;left&amp;quot;:0,&amp;quot;top&amp;quot;:90.55,&amp;quot;width&amp;quot;:936}"/>
</p:tagLst>
</file>

<file path=ppt/tags/tag2435.xml><?xml version="1.0" encoding="utf-8"?>
<p:tagLst xmlns:p="http://schemas.openxmlformats.org/presentationml/2006/main">
  <p:tag name="KSO_WM_DIAGRAM_VIRTUALLY_FRAME" val="{&amp;quot;height&amp;quot;:411.9,&amp;quot;left&amp;quot;:0,&amp;quot;top&amp;quot;:90.55,&amp;quot;width&amp;quot;:936}"/>
</p:tagLst>
</file>

<file path=ppt/tags/tag2436.xml><?xml version="1.0" encoding="utf-8"?>
<p:tagLst xmlns:p="http://schemas.openxmlformats.org/presentationml/2006/main">
  <p:tag name="KSO_WM_DIAGRAM_VIRTUALLY_FRAME" val="{&amp;quot;height&amp;quot;:411.9,&amp;quot;left&amp;quot;:0,&amp;quot;top&amp;quot;:90.55,&amp;quot;width&amp;quot;:936}"/>
</p:tagLst>
</file>

<file path=ppt/tags/tag2437.xml><?xml version="1.0" encoding="utf-8"?>
<p:tagLst xmlns:p="http://schemas.openxmlformats.org/presentationml/2006/main">
  <p:tag name="KSO_WM_DIAGRAM_VIRTUALLY_FRAME" val="{&amp;quot;height&amp;quot;:411.9,&amp;quot;left&amp;quot;:0,&amp;quot;top&amp;quot;:90.55,&amp;quot;width&amp;quot;:936}"/>
</p:tagLst>
</file>

<file path=ppt/tags/tag2438.xml><?xml version="1.0" encoding="utf-8"?>
<p:tagLst xmlns:p="http://schemas.openxmlformats.org/presentationml/2006/main">
  <p:tag name="KSO_WM_DIAGRAM_VIRTUALLY_FRAME" val="{&amp;quot;height&amp;quot;:411.9,&amp;quot;left&amp;quot;:0,&amp;quot;top&amp;quot;:90.55,&amp;quot;width&amp;quot;:936}"/>
</p:tagLst>
</file>

<file path=ppt/tags/tag2439.xml><?xml version="1.0" encoding="utf-8"?>
<p:tagLst xmlns:p="http://schemas.openxmlformats.org/presentationml/2006/main">
  <p:tag name="KSO_WM_DIAGRAM_VIRTUALLY_FRAME" val="{&amp;quot;height&amp;quot;:411.9,&amp;quot;left&amp;quot;:0,&amp;quot;top&amp;quot;:90.55,&amp;quot;width&amp;quot;:936}"/>
</p:tagLst>
</file>

<file path=ppt/tags/tag2440.xml><?xml version="1.0" encoding="utf-8"?>
<p:tagLst xmlns:p="http://schemas.openxmlformats.org/presentationml/2006/main">
  <p:tag name="KSO_WM_DIAGRAM_VIRTUALLY_FRAME" val="{&amp;quot;height&amp;quot;:411.9,&amp;quot;left&amp;quot;:0,&amp;quot;top&amp;quot;:90.55,&amp;quot;width&amp;quot;:936}"/>
</p:tagLst>
</file>

<file path=ppt/tags/tag2441.xml><?xml version="1.0" encoding="utf-8"?>
<p:tagLst xmlns:p="http://schemas.openxmlformats.org/presentationml/2006/main">
  <p:tag name="KSO_WM_DIAGRAM_VIRTUALLY_FRAME" val="{&amp;quot;height&amp;quot;:411.9,&amp;quot;left&amp;quot;:0,&amp;quot;top&amp;quot;:90.55,&amp;quot;width&amp;quot;:936}"/>
</p:tagLst>
</file>

<file path=ppt/tags/tag2442.xml><?xml version="1.0" encoding="utf-8"?>
<p:tagLst xmlns:p="http://schemas.openxmlformats.org/presentationml/2006/main">
  <p:tag name="KSO_WM_DIAGRAM_VIRTUALLY_FRAME" val="{&amp;quot;height&amp;quot;:411.9,&amp;quot;left&amp;quot;:0,&amp;quot;top&amp;quot;:90.55,&amp;quot;width&amp;quot;:936}"/>
</p:tagLst>
</file>

<file path=ppt/tags/tag2443.xml><?xml version="1.0" encoding="utf-8"?>
<p:tagLst xmlns:p="http://schemas.openxmlformats.org/presentationml/2006/main">
  <p:tag name="KSO_WM_DIAGRAM_VIRTUALLY_FRAME" val="{&amp;quot;height&amp;quot;:411.9,&amp;quot;left&amp;quot;:0,&amp;quot;top&amp;quot;:90.55,&amp;quot;width&amp;quot;:936}"/>
</p:tagLst>
</file>

<file path=ppt/tags/tag2444.xml><?xml version="1.0" encoding="utf-8"?>
<p:tagLst xmlns:p="http://schemas.openxmlformats.org/presentationml/2006/main">
  <p:tag name="KSO_WM_DIAGRAM_VIRTUALLY_FRAME" val="{&amp;quot;height&amp;quot;:411.9,&amp;quot;left&amp;quot;:0,&amp;quot;top&amp;quot;:90.55,&amp;quot;width&amp;quot;:936}"/>
</p:tagLst>
</file>

<file path=ppt/tags/tag2445.xml><?xml version="1.0" encoding="utf-8"?>
<p:tagLst xmlns:p="http://schemas.openxmlformats.org/presentationml/2006/main">
  <p:tag name="KSO_WM_DIAGRAM_VIRTUALLY_FRAME" val="{&amp;quot;height&amp;quot;:411.9,&amp;quot;left&amp;quot;:0,&amp;quot;top&amp;quot;:90.55,&amp;quot;width&amp;quot;:936}"/>
</p:tagLst>
</file>

<file path=ppt/tags/tag2446.xml><?xml version="1.0" encoding="utf-8"?>
<p:tagLst xmlns:p="http://schemas.openxmlformats.org/presentationml/2006/main">
  <p:tag name="KSO_WM_DIAGRAM_VIRTUALLY_FRAME" val="{&amp;quot;height&amp;quot;:411.9,&amp;quot;left&amp;quot;:0,&amp;quot;top&amp;quot;:90.55,&amp;quot;width&amp;quot;:936}"/>
</p:tagLst>
</file>

<file path=ppt/tags/tag2447.xml><?xml version="1.0" encoding="utf-8"?>
<p:tagLst xmlns:p="http://schemas.openxmlformats.org/presentationml/2006/main">
  <p:tag name="KSO_WM_DIAGRAM_VIRTUALLY_FRAME" val="{&amp;quot;height&amp;quot;:411.9,&amp;quot;left&amp;quot;:0,&amp;quot;top&amp;quot;:90.55,&amp;quot;width&amp;quot;:936}"/>
</p:tagLst>
</file>

<file path=ppt/tags/tag2448.xml><?xml version="1.0" encoding="utf-8"?>
<p:tagLst xmlns:p="http://schemas.openxmlformats.org/presentationml/2006/main">
  <p:tag name="KSO_WM_DIAGRAM_VIRTUALLY_FRAME" val="{&amp;quot;height&amp;quot;:411.9,&amp;quot;left&amp;quot;:0,&amp;quot;top&amp;quot;:90.55,&amp;quot;width&amp;quot;:936}"/>
</p:tagLst>
</file>

<file path=ppt/tags/tag2449.xml><?xml version="1.0" encoding="utf-8"?>
<p:tagLst xmlns:p="http://schemas.openxmlformats.org/presentationml/2006/main">
  <p:tag name="KSO_WM_DIAGRAM_VIRTUALLY_FRAME" val="{&amp;quot;height&amp;quot;:411.9,&amp;quot;left&amp;quot;:0,&amp;quot;top&amp;quot;:90.55,&amp;quot;width&amp;quot;:936}"/>
</p:tagLst>
</file>

<file path=ppt/tags/tag2450.xml><?xml version="1.0" encoding="utf-8"?>
<p:tagLst xmlns:p="http://schemas.openxmlformats.org/presentationml/2006/main">
  <p:tag name="KSO_WM_DIAGRAM_VIRTUALLY_FRAME" val="{&amp;quot;height&amp;quot;:411.9,&amp;quot;left&amp;quot;:0,&amp;quot;top&amp;quot;:90.55,&amp;quot;width&amp;quot;:936}"/>
</p:tagLst>
</file>

<file path=ppt/tags/tag2451.xml><?xml version="1.0" encoding="utf-8"?>
<p:tagLst xmlns:p="http://schemas.openxmlformats.org/presentationml/2006/main">
  <p:tag name="KSO_WM_DIAGRAM_VIRTUALLY_FRAME" val="{&amp;quot;height&amp;quot;:411.9,&amp;quot;left&amp;quot;:0,&amp;quot;top&amp;quot;:90.55,&amp;quot;width&amp;quot;:936}"/>
</p:tagLst>
</file>

<file path=ppt/tags/tag2452.xml><?xml version="1.0" encoding="utf-8"?>
<p:tagLst xmlns:p="http://schemas.openxmlformats.org/presentationml/2006/main">
  <p:tag name="KSO_WM_DIAGRAM_VIRTUALLY_FRAME" val="{&amp;quot;height&amp;quot;:411.9,&amp;quot;left&amp;quot;:0,&amp;quot;top&amp;quot;:90.55,&amp;quot;width&amp;quot;:936}"/>
</p:tagLst>
</file>

<file path=ppt/tags/tag2453.xml><?xml version="1.0" encoding="utf-8"?>
<p:tagLst xmlns:p="http://schemas.openxmlformats.org/presentationml/2006/main">
  <p:tag name="KSO_WM_DIAGRAM_VIRTUALLY_FRAME" val="{&amp;quot;height&amp;quot;:411.9,&amp;quot;left&amp;quot;:0,&amp;quot;top&amp;quot;:90.55,&amp;quot;width&amp;quot;:936}"/>
</p:tagLst>
</file>

<file path=ppt/tags/tag2454.xml><?xml version="1.0" encoding="utf-8"?>
<p:tagLst xmlns:p="http://schemas.openxmlformats.org/presentationml/2006/main">
  <p:tag name="KSO_WM_DIAGRAM_VIRTUALLY_FRAME" val="{&amp;quot;height&amp;quot;:411.9,&amp;quot;left&amp;quot;:0,&amp;quot;top&amp;quot;:90.55,&amp;quot;width&amp;quot;:936}"/>
</p:tagLst>
</file>

<file path=ppt/tags/tag2455.xml><?xml version="1.0" encoding="utf-8"?>
<p:tagLst xmlns:p="http://schemas.openxmlformats.org/presentationml/2006/main">
  <p:tag name="KSO_WM_DIAGRAM_VIRTUALLY_FRAME" val="{&amp;quot;height&amp;quot;:411.9,&amp;quot;left&amp;quot;:0,&amp;quot;top&amp;quot;:90.55,&amp;quot;width&amp;quot;:936}"/>
</p:tagLst>
</file>

<file path=ppt/tags/tag2456.xml><?xml version="1.0" encoding="utf-8"?>
<p:tagLst xmlns:p="http://schemas.openxmlformats.org/presentationml/2006/main">
  <p:tag name="KSO_WM_DIAGRAM_VIRTUALLY_FRAME" val="{&amp;quot;height&amp;quot;:411.9,&amp;quot;left&amp;quot;:0,&amp;quot;top&amp;quot;:90.55,&amp;quot;width&amp;quot;:936}"/>
</p:tagLst>
</file>

<file path=ppt/tags/tag2457.xml><?xml version="1.0" encoding="utf-8"?>
<p:tagLst xmlns:p="http://schemas.openxmlformats.org/presentationml/2006/main">
  <p:tag name="KSO_WM_DIAGRAM_VIRTUALLY_FRAME" val="{&amp;quot;height&amp;quot;:411.9,&amp;quot;left&amp;quot;:0,&amp;quot;top&amp;quot;:90.55,&amp;quot;width&amp;quot;:936}"/>
</p:tagLst>
</file>

<file path=ppt/tags/tag2458.xml><?xml version="1.0" encoding="utf-8"?>
<p:tagLst xmlns:p="http://schemas.openxmlformats.org/presentationml/2006/main">
  <p:tag name="KSO_WM_DIAGRAM_VIRTUALLY_FRAME" val="{&amp;quot;height&amp;quot;:411.9,&amp;quot;left&amp;quot;:0,&amp;quot;top&amp;quot;:90.55,&amp;quot;width&amp;quot;:936}"/>
</p:tagLst>
</file>

<file path=ppt/tags/tag2459.xml><?xml version="1.0" encoding="utf-8"?>
<p:tagLst xmlns:p="http://schemas.openxmlformats.org/presentationml/2006/main">
  <p:tag name="KSO_WM_DIAGRAM_VIRTUALLY_FRAME" val="{&amp;quot;height&amp;quot;:411.9,&amp;quot;left&amp;quot;:0,&amp;quot;top&amp;quot;:90.55,&amp;quot;width&amp;quot;:936}"/>
</p:tagLst>
</file>

<file path=ppt/tags/tag2460.xml><?xml version="1.0" encoding="utf-8"?>
<p:tagLst xmlns:p="http://schemas.openxmlformats.org/presentationml/2006/main">
  <p:tag name="KSO_WM_DIAGRAM_VIRTUALLY_FRAME" val="{&amp;quot;height&amp;quot;:411.9,&amp;quot;left&amp;quot;:0,&amp;quot;top&amp;quot;:90.55,&amp;quot;width&amp;quot;:936}"/>
</p:tagLst>
</file>

<file path=ppt/tags/tag2461.xml><?xml version="1.0" encoding="utf-8"?>
<p:tagLst xmlns:p="http://schemas.openxmlformats.org/presentationml/2006/main">
  <p:tag name="KSO_WM_DIAGRAM_VIRTUALLY_FRAME" val="{&amp;quot;height&amp;quot;:411.9,&amp;quot;left&amp;quot;:0,&amp;quot;top&amp;quot;:90.55,&amp;quot;width&amp;quot;:936}"/>
</p:tagLst>
</file>

<file path=ppt/tags/tag2462.xml><?xml version="1.0" encoding="utf-8"?>
<p:tagLst xmlns:p="http://schemas.openxmlformats.org/presentationml/2006/main">
  <p:tag name="KSO_WM_DIAGRAM_VIRTUALLY_FRAME" val="{&amp;quot;height&amp;quot;:411.9,&amp;quot;left&amp;quot;:0,&amp;quot;top&amp;quot;:90.55,&amp;quot;width&amp;quot;:936}"/>
</p:tagLst>
</file>

<file path=ppt/tags/tag2463.xml><?xml version="1.0" encoding="utf-8"?>
<p:tagLst xmlns:p="http://schemas.openxmlformats.org/presentationml/2006/main">
  <p:tag name="KSO_WM_DIAGRAM_VIRTUALLY_FRAME" val="{&amp;quot;height&amp;quot;:411.9,&amp;quot;left&amp;quot;:0,&amp;quot;top&amp;quot;:90.55,&amp;quot;width&amp;quot;:936}"/>
</p:tagLst>
</file>

<file path=ppt/tags/tag2464.xml><?xml version="1.0" encoding="utf-8"?>
<p:tagLst xmlns:p="http://schemas.openxmlformats.org/presentationml/2006/main">
  <p:tag name="KSO_WM_DIAGRAM_VIRTUALLY_FRAME" val="{&amp;quot;height&amp;quot;:411.9,&amp;quot;left&amp;quot;:0,&amp;quot;top&amp;quot;:90.55,&amp;quot;width&amp;quot;:936}"/>
</p:tagLst>
</file>

<file path=ppt/tags/tag2465.xml><?xml version="1.0" encoding="utf-8"?>
<p:tagLst xmlns:p="http://schemas.openxmlformats.org/presentationml/2006/main">
  <p:tag name="KSO_WM_DIAGRAM_VIRTUALLY_FRAME" val="{&amp;quot;height&amp;quot;:411.9,&amp;quot;left&amp;quot;:0,&amp;quot;top&amp;quot;:90.55,&amp;quot;width&amp;quot;:936}"/>
</p:tagLst>
</file>

<file path=ppt/tags/tag2466.xml><?xml version="1.0" encoding="utf-8"?>
<p:tagLst xmlns:p="http://schemas.openxmlformats.org/presentationml/2006/main">
  <p:tag name="KSO_WM_DIAGRAM_VIRTUALLY_FRAME" val="{&amp;quot;height&amp;quot;:411.9,&amp;quot;left&amp;quot;:0,&amp;quot;top&amp;quot;:90.55,&amp;quot;width&amp;quot;:936}"/>
</p:tagLst>
</file>

<file path=ppt/tags/tag2467.xml><?xml version="1.0" encoding="utf-8"?>
<p:tagLst xmlns:p="http://schemas.openxmlformats.org/presentationml/2006/main">
  <p:tag name="KSO_WM_DIAGRAM_VIRTUALLY_FRAME" val="{&amp;quot;height&amp;quot;:411.9,&amp;quot;left&amp;quot;:0,&amp;quot;top&amp;quot;:90.55,&amp;quot;width&amp;quot;:936}"/>
</p:tagLst>
</file>

<file path=ppt/tags/tag2468.xml><?xml version="1.0" encoding="utf-8"?>
<p:tagLst xmlns:p="http://schemas.openxmlformats.org/presentationml/2006/main">
  <p:tag name="KSO_WM_DIAGRAM_VIRTUALLY_FRAME" val="{&amp;quot;height&amp;quot;:411.9,&amp;quot;left&amp;quot;:0,&amp;quot;top&amp;quot;:90.55,&amp;quot;width&amp;quot;:936}"/>
</p:tagLst>
</file>

<file path=ppt/tags/tag2469.xml><?xml version="1.0" encoding="utf-8"?>
<p:tagLst xmlns:p="http://schemas.openxmlformats.org/presentationml/2006/main">
  <p:tag name="KSO_WM_DIAGRAM_VIRTUALLY_FRAME" val="{&amp;quot;height&amp;quot;:411.9,&amp;quot;left&amp;quot;:0,&amp;quot;top&amp;quot;:90.55,&amp;quot;width&amp;quot;:936}"/>
</p:tagLst>
</file>

<file path=ppt/tags/tag2470.xml><?xml version="1.0" encoding="utf-8"?>
<p:tagLst xmlns:p="http://schemas.openxmlformats.org/presentationml/2006/main">
  <p:tag name="KSO_WM_DIAGRAM_VIRTUALLY_FRAME" val="{&amp;quot;height&amp;quot;:411.9,&amp;quot;left&amp;quot;:0,&amp;quot;top&amp;quot;:90.55,&amp;quot;width&amp;quot;:936}"/>
</p:tagLst>
</file>

<file path=ppt/tags/tag2471.xml><?xml version="1.0" encoding="utf-8"?>
<p:tagLst xmlns:p="http://schemas.openxmlformats.org/presentationml/2006/main">
  <p:tag name="KSO_WM_DIAGRAM_VIRTUALLY_FRAME" val="{&amp;quot;height&amp;quot;:411.9,&amp;quot;left&amp;quot;:0,&amp;quot;top&amp;quot;:90.55,&amp;quot;width&amp;quot;:936}"/>
</p:tagLst>
</file>

<file path=ppt/tags/tag2472.xml><?xml version="1.0" encoding="utf-8"?>
<p:tagLst xmlns:p="http://schemas.openxmlformats.org/presentationml/2006/main">
  <p:tag name="KSO_WM_DIAGRAM_VIRTUALLY_FRAME" val="{&amp;quot;height&amp;quot;:411.9,&amp;quot;left&amp;quot;:0,&amp;quot;top&amp;quot;:90.55,&amp;quot;width&amp;quot;:936}"/>
</p:tagLst>
</file>

<file path=ppt/tags/tag2473.xml><?xml version="1.0" encoding="utf-8"?>
<p:tagLst xmlns:p="http://schemas.openxmlformats.org/presentationml/2006/main">
  <p:tag name="KSO_WM_DIAGRAM_VIRTUALLY_FRAME" val="{&amp;quot;height&amp;quot;:411.9,&amp;quot;left&amp;quot;:0,&amp;quot;top&amp;quot;:90.55,&amp;quot;width&amp;quot;:936}"/>
</p:tagLst>
</file>

<file path=ppt/tags/tag2474.xml><?xml version="1.0" encoding="utf-8"?>
<p:tagLst xmlns:p="http://schemas.openxmlformats.org/presentationml/2006/main">
  <p:tag name="KSO_WM_DIAGRAM_VIRTUALLY_FRAME" val="{&amp;quot;height&amp;quot;:411.9,&amp;quot;left&amp;quot;:0,&amp;quot;top&amp;quot;:90.55,&amp;quot;width&amp;quot;:936}"/>
</p:tagLst>
</file>

<file path=ppt/tags/tag2475.xml><?xml version="1.0" encoding="utf-8"?>
<p:tagLst xmlns:p="http://schemas.openxmlformats.org/presentationml/2006/main">
  <p:tag name="KSO_WM_DIAGRAM_VIRTUALLY_FRAME" val="{&amp;quot;height&amp;quot;:411.9,&amp;quot;left&amp;quot;:0,&amp;quot;top&amp;quot;:90.55,&amp;quot;width&amp;quot;:936}"/>
</p:tagLst>
</file>

<file path=ppt/tags/tag2476.xml><?xml version="1.0" encoding="utf-8"?>
<p:tagLst xmlns:p="http://schemas.openxmlformats.org/presentationml/2006/main">
  <p:tag name="KSO_WM_DIAGRAM_VIRTUALLY_FRAME" val="{&amp;quot;height&amp;quot;:411.9,&amp;quot;left&amp;quot;:0,&amp;quot;top&amp;quot;:90.55,&amp;quot;width&amp;quot;:936}"/>
</p:tagLst>
</file>

<file path=ppt/tags/tag2477.xml><?xml version="1.0" encoding="utf-8"?>
<p:tagLst xmlns:p="http://schemas.openxmlformats.org/presentationml/2006/main">
  <p:tag name="KSO_WM_DIAGRAM_VIRTUALLY_FRAME" val="{&amp;quot;height&amp;quot;:411.9,&amp;quot;left&amp;quot;:0,&amp;quot;top&amp;quot;:90.55,&amp;quot;width&amp;quot;:936}"/>
</p:tagLst>
</file>

<file path=ppt/tags/tag2478.xml><?xml version="1.0" encoding="utf-8"?>
<p:tagLst xmlns:p="http://schemas.openxmlformats.org/presentationml/2006/main">
  <p:tag name="KSO_WM_DIAGRAM_VIRTUALLY_FRAME" val="{&amp;quot;height&amp;quot;:411.9,&amp;quot;left&amp;quot;:0,&amp;quot;top&amp;quot;:90.55,&amp;quot;width&amp;quot;:936}"/>
</p:tagLst>
</file>

<file path=ppt/tags/tag2479.xml><?xml version="1.0" encoding="utf-8"?>
<p:tagLst xmlns:p="http://schemas.openxmlformats.org/presentationml/2006/main">
  <p:tag name="KSO_WM_DIAGRAM_VIRTUALLY_FRAME" val="{&amp;quot;height&amp;quot;:411.9,&amp;quot;left&amp;quot;:0,&amp;quot;top&amp;quot;:90.55,&amp;quot;width&amp;quot;:936}"/>
</p:tagLst>
</file>

<file path=ppt/tags/tag2480.xml><?xml version="1.0" encoding="utf-8"?>
<p:tagLst xmlns:p="http://schemas.openxmlformats.org/presentationml/2006/main">
  <p:tag name="KSO_WM_DIAGRAM_VIRTUALLY_FRAME" val="{&amp;quot;height&amp;quot;:411.9,&amp;quot;left&amp;quot;:0,&amp;quot;top&amp;quot;:90.55,&amp;quot;width&amp;quot;:936}"/>
</p:tagLst>
</file>

<file path=ppt/tags/tag2481.xml><?xml version="1.0" encoding="utf-8"?>
<p:tagLst xmlns:p="http://schemas.openxmlformats.org/presentationml/2006/main">
  <p:tag name="KSO_WM_DIAGRAM_VIRTUALLY_FRAME" val="{&amp;quot;height&amp;quot;:411.9,&amp;quot;left&amp;quot;:0,&amp;quot;top&amp;quot;:90.55,&amp;quot;width&amp;quot;:936}"/>
</p:tagLst>
</file>

<file path=ppt/tags/tag2482.xml><?xml version="1.0" encoding="utf-8"?>
<p:tagLst xmlns:p="http://schemas.openxmlformats.org/presentationml/2006/main">
  <p:tag name="KSO_WM_DIAGRAM_VIRTUALLY_FRAME" val="{&amp;quot;height&amp;quot;:411.9,&amp;quot;left&amp;quot;:0,&amp;quot;top&amp;quot;:90.55,&amp;quot;width&amp;quot;:936}"/>
</p:tagLst>
</file>

<file path=ppt/tags/tag2483.xml><?xml version="1.0" encoding="utf-8"?>
<p:tagLst xmlns:p="http://schemas.openxmlformats.org/presentationml/2006/main">
  <p:tag name="KSO_WM_DIAGRAM_VIRTUALLY_FRAME" val="{&amp;quot;height&amp;quot;:411.9,&amp;quot;left&amp;quot;:0,&amp;quot;top&amp;quot;:90.55,&amp;quot;width&amp;quot;:936}"/>
</p:tagLst>
</file>

<file path=ppt/tags/tag2484.xml><?xml version="1.0" encoding="utf-8"?>
<p:tagLst xmlns:p="http://schemas.openxmlformats.org/presentationml/2006/main">
  <p:tag name="KSO_WM_DIAGRAM_VIRTUALLY_FRAME" val="{&amp;quot;height&amp;quot;:411.9,&amp;quot;left&amp;quot;:0,&amp;quot;top&amp;quot;:90.55,&amp;quot;width&amp;quot;:936}"/>
</p:tagLst>
</file>

<file path=ppt/tags/tag2485.xml><?xml version="1.0" encoding="utf-8"?>
<p:tagLst xmlns:p="http://schemas.openxmlformats.org/presentationml/2006/main">
  <p:tag name="KSO_WM_DIAGRAM_VIRTUALLY_FRAME" val="{&amp;quot;height&amp;quot;:411.9,&amp;quot;left&amp;quot;:0,&amp;quot;top&amp;quot;:90.55,&amp;quot;width&amp;quot;:936}"/>
</p:tagLst>
</file>

<file path=ppt/tags/tag2486.xml><?xml version="1.0" encoding="utf-8"?>
<p:tagLst xmlns:p="http://schemas.openxmlformats.org/presentationml/2006/main">
  <p:tag name="KSO_WM_DIAGRAM_VIRTUALLY_FRAME" val="{&amp;quot;height&amp;quot;:411.9,&amp;quot;left&amp;quot;:0,&amp;quot;top&amp;quot;:90.55,&amp;quot;width&amp;quot;:936}"/>
</p:tagLst>
</file>

<file path=ppt/tags/tag2487.xml><?xml version="1.0" encoding="utf-8"?>
<p:tagLst xmlns:p="http://schemas.openxmlformats.org/presentationml/2006/main">
  <p:tag name="KSO_WM_DIAGRAM_VIRTUALLY_FRAME" val="{&amp;quot;height&amp;quot;:411.9,&amp;quot;left&amp;quot;:0,&amp;quot;top&amp;quot;:90.55,&amp;quot;width&amp;quot;:936}"/>
</p:tagLst>
</file>

<file path=ppt/tags/tag2488.xml><?xml version="1.0" encoding="utf-8"?>
<p:tagLst xmlns:p="http://schemas.openxmlformats.org/presentationml/2006/main">
  <p:tag name="KSO_WM_DIAGRAM_VIRTUALLY_FRAME" val="{&amp;quot;height&amp;quot;:411.9,&amp;quot;left&amp;quot;:0,&amp;quot;top&amp;quot;:90.55,&amp;quot;width&amp;quot;:936}"/>
</p:tagLst>
</file>

<file path=ppt/tags/tag2489.xml><?xml version="1.0" encoding="utf-8"?>
<p:tagLst xmlns:p="http://schemas.openxmlformats.org/presentationml/2006/main">
  <p:tag name="KSO_WM_DIAGRAM_VIRTUALLY_FRAME" val="{&amp;quot;height&amp;quot;:411.9,&amp;quot;left&amp;quot;:0,&amp;quot;top&amp;quot;:90.55,&amp;quot;width&amp;quot;:936}"/>
</p:tagLst>
</file>

<file path=ppt/tags/tag2490.xml><?xml version="1.0" encoding="utf-8"?>
<p:tagLst xmlns:p="http://schemas.openxmlformats.org/presentationml/2006/main">
  <p:tag name="KSO_WM_DIAGRAM_VIRTUALLY_FRAME" val="{&amp;quot;height&amp;quot;:411.9,&amp;quot;left&amp;quot;:0,&amp;quot;top&amp;quot;:90.55,&amp;quot;width&amp;quot;:936}"/>
</p:tagLst>
</file>

<file path=ppt/tags/tag2491.xml><?xml version="1.0" encoding="utf-8"?>
<p:tagLst xmlns:p="http://schemas.openxmlformats.org/presentationml/2006/main">
  <p:tag name="KSO_WM_DIAGRAM_VIRTUALLY_FRAME" val="{&amp;quot;height&amp;quot;:411.9,&amp;quot;left&amp;quot;:0,&amp;quot;top&amp;quot;:90.55,&amp;quot;width&amp;quot;:936}"/>
</p:tagLst>
</file>

<file path=ppt/tags/tag2492.xml><?xml version="1.0" encoding="utf-8"?>
<p:tagLst xmlns:p="http://schemas.openxmlformats.org/presentationml/2006/main">
  <p:tag name="KSO_WM_DIAGRAM_VIRTUALLY_FRAME" val="{&amp;quot;height&amp;quot;:411.9,&amp;quot;left&amp;quot;:0,&amp;quot;top&amp;quot;:90.55,&amp;quot;width&amp;quot;:936}"/>
</p:tagLst>
</file>

<file path=ppt/tags/tag2493.xml><?xml version="1.0" encoding="utf-8"?>
<p:tagLst xmlns:p="http://schemas.openxmlformats.org/presentationml/2006/main">
  <p:tag name="KSO_WM_DIAGRAM_VIRTUALLY_FRAME" val="{&amp;quot;height&amp;quot;:411.9,&amp;quot;left&amp;quot;:0,&amp;quot;top&amp;quot;:90.55,&amp;quot;width&amp;quot;:936}"/>
</p:tagLst>
</file>

<file path=ppt/tags/tag2494.xml><?xml version="1.0" encoding="utf-8"?>
<p:tagLst xmlns:p="http://schemas.openxmlformats.org/presentationml/2006/main">
  <p:tag name="KSO_WM_DIAGRAM_VIRTUALLY_FRAME" val="{&amp;quot;height&amp;quot;:411.9,&amp;quot;left&amp;quot;:0,&amp;quot;top&amp;quot;:90.55,&amp;quot;width&amp;quot;:936}"/>
</p:tagLst>
</file>

<file path=ppt/tags/tag2495.xml><?xml version="1.0" encoding="utf-8"?>
<p:tagLst xmlns:p="http://schemas.openxmlformats.org/presentationml/2006/main">
  <p:tag name="KSO_WM_DIAGRAM_VIRTUALLY_FRAME" val="{&amp;quot;height&amp;quot;:411.9,&amp;quot;left&amp;quot;:0,&amp;quot;top&amp;quot;:90.55,&amp;quot;width&amp;quot;:936}"/>
</p:tagLst>
</file>

<file path=ppt/tags/tag2496.xml><?xml version="1.0" encoding="utf-8"?>
<p:tagLst xmlns:p="http://schemas.openxmlformats.org/presentationml/2006/main">
  <p:tag name="KSO_WM_DIAGRAM_VIRTUALLY_FRAME" val="{&amp;quot;height&amp;quot;:411.9,&amp;quot;left&amp;quot;:0,&amp;quot;top&amp;quot;:90.55,&amp;quot;width&amp;quot;:936}"/>
</p:tagLst>
</file>

<file path=ppt/tags/tag2497.xml><?xml version="1.0" encoding="utf-8"?>
<p:tagLst xmlns:p="http://schemas.openxmlformats.org/presentationml/2006/main">
  <p:tag name="KSO_WM_DIAGRAM_VIRTUALLY_FRAME" val="{&amp;quot;height&amp;quot;:411.9,&amp;quot;left&amp;quot;:0,&amp;quot;top&amp;quot;:90.55,&amp;quot;width&amp;quot;:936}"/>
</p:tagLst>
</file>

<file path=ppt/tags/tag2498.xml><?xml version="1.0" encoding="utf-8"?>
<p:tagLst xmlns:p="http://schemas.openxmlformats.org/presentationml/2006/main">
  <p:tag name="KSO_WM_DIAGRAM_VIRTUALLY_FRAME" val="{&amp;quot;height&amp;quot;:411.9,&amp;quot;left&amp;quot;:0,&amp;quot;top&amp;quot;:90.55,&amp;quot;width&amp;quot;:936}"/>
</p:tagLst>
</file>

<file path=ppt/tags/tag2499.xml><?xml version="1.0" encoding="utf-8"?>
<p:tagLst xmlns:p="http://schemas.openxmlformats.org/presentationml/2006/main">
  <p:tag name="KSO_WM_DIAGRAM_VIRTUALLY_FRAME" val="{&amp;quot;height&amp;quot;:411.9,&amp;quot;left&amp;quot;:0,&amp;quot;top&amp;quot;:90.55,&amp;quot;width&amp;quot;:936}"/>
</p:tagLst>
</file>

<file path=ppt/tags/tag2500.xml><?xml version="1.0" encoding="utf-8"?>
<p:tagLst xmlns:p="http://schemas.openxmlformats.org/presentationml/2006/main">
  <p:tag name="KSO_WM_DIAGRAM_VIRTUALLY_FRAME" val="{&amp;quot;height&amp;quot;:411.9,&amp;quot;left&amp;quot;:0,&amp;quot;top&amp;quot;:90.55,&amp;quot;width&amp;quot;:936}"/>
</p:tagLst>
</file>

<file path=ppt/tags/tag2501.xml><?xml version="1.0" encoding="utf-8"?>
<p:tagLst xmlns:p="http://schemas.openxmlformats.org/presentationml/2006/main">
  <p:tag name="KSO_WM_DIAGRAM_VIRTUALLY_FRAME" val="{&amp;quot;height&amp;quot;:411.9,&amp;quot;left&amp;quot;:0,&amp;quot;top&amp;quot;:90.55,&amp;quot;width&amp;quot;:936}"/>
</p:tagLst>
</file>

<file path=ppt/tags/tag2502.xml><?xml version="1.0" encoding="utf-8"?>
<p:tagLst xmlns:p="http://schemas.openxmlformats.org/presentationml/2006/main">
  <p:tag name="KSO_WM_DIAGRAM_VIRTUALLY_FRAME" val="{&amp;quot;height&amp;quot;:411.9,&amp;quot;left&amp;quot;:0,&amp;quot;top&amp;quot;:90.55,&amp;quot;width&amp;quot;:936}"/>
</p:tagLst>
</file>

<file path=ppt/tags/tag2503.xml><?xml version="1.0" encoding="utf-8"?>
<p:tagLst xmlns:p="http://schemas.openxmlformats.org/presentationml/2006/main">
  <p:tag name="KSO_WM_DIAGRAM_VIRTUALLY_FRAME" val="{&amp;quot;height&amp;quot;:411.9,&amp;quot;left&amp;quot;:0,&amp;quot;top&amp;quot;:90.55,&amp;quot;width&amp;quot;:936}"/>
</p:tagLst>
</file>

<file path=ppt/tags/tag2504.xml><?xml version="1.0" encoding="utf-8"?>
<p:tagLst xmlns:p="http://schemas.openxmlformats.org/presentationml/2006/main">
  <p:tag name="KSO_WM_DIAGRAM_VIRTUALLY_FRAME" val="{&amp;quot;height&amp;quot;:411.9,&amp;quot;left&amp;quot;:0,&amp;quot;top&amp;quot;:90.55,&amp;quot;width&amp;quot;:936}"/>
</p:tagLst>
</file>

<file path=ppt/tags/tag2505.xml><?xml version="1.0" encoding="utf-8"?>
<p:tagLst xmlns:p="http://schemas.openxmlformats.org/presentationml/2006/main">
  <p:tag name="KSO_WM_DIAGRAM_VIRTUALLY_FRAME" val="{&amp;quot;height&amp;quot;:411.9,&amp;quot;left&amp;quot;:0,&amp;quot;top&amp;quot;:90.55,&amp;quot;width&amp;quot;:936}"/>
</p:tagLst>
</file>

<file path=ppt/tags/tag2506.xml><?xml version="1.0" encoding="utf-8"?>
<p:tagLst xmlns:p="http://schemas.openxmlformats.org/presentationml/2006/main">
  <p:tag name="KSO_WM_DIAGRAM_VIRTUALLY_FRAME" val="{&amp;quot;height&amp;quot;:411.9,&amp;quot;left&amp;quot;:0,&amp;quot;top&amp;quot;:90.55,&amp;quot;width&amp;quot;:936}"/>
</p:tagLst>
</file>

<file path=ppt/tags/tag2507.xml><?xml version="1.0" encoding="utf-8"?>
<p:tagLst xmlns:p="http://schemas.openxmlformats.org/presentationml/2006/main">
  <p:tag name="KSO_WM_DIAGRAM_VIRTUALLY_FRAME" val="{&amp;quot;height&amp;quot;:411.9,&amp;quot;left&amp;quot;:0,&amp;quot;top&amp;quot;:90.55,&amp;quot;width&amp;quot;:936}"/>
</p:tagLst>
</file>

<file path=ppt/tags/tag2508.xml><?xml version="1.0" encoding="utf-8"?>
<p:tagLst xmlns:p="http://schemas.openxmlformats.org/presentationml/2006/main">
  <p:tag name="KSO_WM_DIAGRAM_VIRTUALLY_FRAME" val="{&amp;quot;height&amp;quot;:411.9,&amp;quot;left&amp;quot;:0,&amp;quot;top&amp;quot;:90.55,&amp;quot;width&amp;quot;:936}"/>
</p:tagLst>
</file>

<file path=ppt/tags/tag2509.xml><?xml version="1.0" encoding="utf-8"?>
<p:tagLst xmlns:p="http://schemas.openxmlformats.org/presentationml/2006/main">
  <p:tag name="KSO_WM_DIAGRAM_VIRTUALLY_FRAME" val="{&amp;quot;height&amp;quot;:411.9,&amp;quot;left&amp;quot;:0,&amp;quot;top&amp;quot;:90.55,&amp;quot;width&amp;quot;:936}"/>
</p:tagLst>
</file>

<file path=ppt/tags/tag2510.xml><?xml version="1.0" encoding="utf-8"?>
<p:tagLst xmlns:p="http://schemas.openxmlformats.org/presentationml/2006/main">
  <p:tag name="KSO_WM_DIAGRAM_VIRTUALLY_FRAME" val="{&amp;quot;height&amp;quot;:411.9,&amp;quot;left&amp;quot;:0,&amp;quot;top&amp;quot;:90.55,&amp;quot;width&amp;quot;:936}"/>
</p:tagLst>
</file>

<file path=ppt/tags/tag2511.xml><?xml version="1.0" encoding="utf-8"?>
<p:tagLst xmlns:p="http://schemas.openxmlformats.org/presentationml/2006/main">
  <p:tag name="KSO_WM_DIAGRAM_VIRTUALLY_FRAME" val="{&amp;quot;height&amp;quot;:411.9,&amp;quot;left&amp;quot;:0,&amp;quot;top&amp;quot;:90.55,&amp;quot;width&amp;quot;:936}"/>
</p:tagLst>
</file>

<file path=ppt/tags/tag2512.xml><?xml version="1.0" encoding="utf-8"?>
<p:tagLst xmlns:p="http://schemas.openxmlformats.org/presentationml/2006/main">
  <p:tag name="KSO_WM_DIAGRAM_VIRTUALLY_FRAME" val="{&amp;quot;height&amp;quot;:411.9,&amp;quot;left&amp;quot;:0,&amp;quot;top&amp;quot;:90.55,&amp;quot;width&amp;quot;:936}"/>
</p:tagLst>
</file>

<file path=ppt/tags/tag2513.xml><?xml version="1.0" encoding="utf-8"?>
<p:tagLst xmlns:p="http://schemas.openxmlformats.org/presentationml/2006/main">
  <p:tag name="KSO_WM_DIAGRAM_VIRTUALLY_FRAME" val="{&amp;quot;height&amp;quot;:411.9,&amp;quot;left&amp;quot;:0,&amp;quot;top&amp;quot;:90.55,&amp;quot;width&amp;quot;:936}"/>
</p:tagLst>
</file>

<file path=ppt/tags/tag2514.xml><?xml version="1.0" encoding="utf-8"?>
<p:tagLst xmlns:p="http://schemas.openxmlformats.org/presentationml/2006/main">
  <p:tag name="KSO_WM_DIAGRAM_VIRTUALLY_FRAME" val="{&amp;quot;height&amp;quot;:411.9,&amp;quot;left&amp;quot;:0,&amp;quot;top&amp;quot;:90.55,&amp;quot;width&amp;quot;:936}"/>
</p:tagLst>
</file>

<file path=ppt/tags/tag2515.xml><?xml version="1.0" encoding="utf-8"?>
<p:tagLst xmlns:p="http://schemas.openxmlformats.org/presentationml/2006/main">
  <p:tag name="KSO_WM_DIAGRAM_VIRTUALLY_FRAME" val="{&amp;quot;height&amp;quot;:411.9,&amp;quot;left&amp;quot;:0,&amp;quot;top&amp;quot;:90.55,&amp;quot;width&amp;quot;:936}"/>
</p:tagLst>
</file>

<file path=ppt/tags/tag2516.xml><?xml version="1.0" encoding="utf-8"?>
<p:tagLst xmlns:p="http://schemas.openxmlformats.org/presentationml/2006/main">
  <p:tag name="KSO_WM_DIAGRAM_VIRTUALLY_FRAME" val="{&amp;quot;height&amp;quot;:411.9,&amp;quot;left&amp;quot;:0,&amp;quot;top&amp;quot;:90.55,&amp;quot;width&amp;quot;:936}"/>
</p:tagLst>
</file>

<file path=ppt/tags/tag2517.xml><?xml version="1.0" encoding="utf-8"?>
<p:tagLst xmlns:p="http://schemas.openxmlformats.org/presentationml/2006/main">
  <p:tag name="KSO_WM_DIAGRAM_VIRTUALLY_FRAME" val="{&amp;quot;height&amp;quot;:411.9,&amp;quot;left&amp;quot;:0,&amp;quot;top&amp;quot;:90.55,&amp;quot;width&amp;quot;:936}"/>
</p:tagLst>
</file>

<file path=ppt/tags/tag2518.xml><?xml version="1.0" encoding="utf-8"?>
<p:tagLst xmlns:p="http://schemas.openxmlformats.org/presentationml/2006/main">
  <p:tag name="KSO_WM_DIAGRAM_VIRTUALLY_FRAME" val="{&amp;quot;height&amp;quot;:411.9,&amp;quot;left&amp;quot;:0,&amp;quot;top&amp;quot;:90.55,&amp;quot;width&amp;quot;:936}"/>
</p:tagLst>
</file>

<file path=ppt/tags/tag2519.xml><?xml version="1.0" encoding="utf-8"?>
<p:tagLst xmlns:p="http://schemas.openxmlformats.org/presentationml/2006/main">
  <p:tag name="KSO_WM_DIAGRAM_VIRTUALLY_FRAME" val="{&amp;quot;height&amp;quot;:411.9,&amp;quot;left&amp;quot;:0,&amp;quot;top&amp;quot;:90.55,&amp;quot;width&amp;quot;:936}"/>
</p:tagLst>
</file>

<file path=ppt/tags/tag2520.xml><?xml version="1.0" encoding="utf-8"?>
<p:tagLst xmlns:p="http://schemas.openxmlformats.org/presentationml/2006/main">
  <p:tag name="KSO_WM_DIAGRAM_VIRTUALLY_FRAME" val="{&amp;quot;height&amp;quot;:411.9,&amp;quot;left&amp;quot;:0,&amp;quot;top&amp;quot;:90.55,&amp;quot;width&amp;quot;:936}"/>
</p:tagLst>
</file>

<file path=ppt/tags/tag2521.xml><?xml version="1.0" encoding="utf-8"?>
<p:tagLst xmlns:p="http://schemas.openxmlformats.org/presentationml/2006/main">
  <p:tag name="KSO_WM_DIAGRAM_VIRTUALLY_FRAME" val="{&amp;quot;height&amp;quot;:411.9,&amp;quot;left&amp;quot;:0,&amp;quot;top&amp;quot;:90.55,&amp;quot;width&amp;quot;:936}"/>
</p:tagLst>
</file>

<file path=ppt/tags/tag2522.xml><?xml version="1.0" encoding="utf-8"?>
<p:tagLst xmlns:p="http://schemas.openxmlformats.org/presentationml/2006/main">
  <p:tag name="KSO_WM_DIAGRAM_VIRTUALLY_FRAME" val="{&amp;quot;height&amp;quot;:411.9,&amp;quot;left&amp;quot;:0,&amp;quot;top&amp;quot;:90.55,&amp;quot;width&amp;quot;:936}"/>
</p:tagLst>
</file>

<file path=ppt/tags/tag2523.xml><?xml version="1.0" encoding="utf-8"?>
<p:tagLst xmlns:p="http://schemas.openxmlformats.org/presentationml/2006/main">
  <p:tag name="KSO_WM_DIAGRAM_VIRTUALLY_FRAME" val="{&amp;quot;height&amp;quot;:411.9,&amp;quot;left&amp;quot;:0,&amp;quot;top&amp;quot;:90.55,&amp;quot;width&amp;quot;:936}"/>
</p:tagLst>
</file>

<file path=ppt/tags/tag2524.xml><?xml version="1.0" encoding="utf-8"?>
<p:tagLst xmlns:p="http://schemas.openxmlformats.org/presentationml/2006/main">
  <p:tag name="KSO_WM_DIAGRAM_VIRTUALLY_FRAME" val="{&amp;quot;height&amp;quot;:411.9,&amp;quot;left&amp;quot;:0,&amp;quot;top&amp;quot;:90.55,&amp;quot;width&amp;quot;:936}"/>
</p:tagLst>
</file>

<file path=ppt/tags/tag2525.xml><?xml version="1.0" encoding="utf-8"?>
<p:tagLst xmlns:p="http://schemas.openxmlformats.org/presentationml/2006/main">
  <p:tag name="KSO_WM_DIAGRAM_VIRTUALLY_FRAME" val="{&amp;quot;height&amp;quot;:411.9,&amp;quot;left&amp;quot;:0,&amp;quot;top&amp;quot;:90.55,&amp;quot;width&amp;quot;:936}"/>
</p:tagLst>
</file>

<file path=ppt/tags/tag2526.xml><?xml version="1.0" encoding="utf-8"?>
<p:tagLst xmlns:p="http://schemas.openxmlformats.org/presentationml/2006/main">
  <p:tag name="KSO_WM_DIAGRAM_VIRTUALLY_FRAME" val="{&amp;quot;height&amp;quot;:411.9,&amp;quot;left&amp;quot;:0,&amp;quot;top&amp;quot;:90.55,&amp;quot;width&amp;quot;:936}"/>
</p:tagLst>
</file>

<file path=ppt/tags/tag2527.xml><?xml version="1.0" encoding="utf-8"?>
<p:tagLst xmlns:p="http://schemas.openxmlformats.org/presentationml/2006/main">
  <p:tag name="KSO_WM_DIAGRAM_VIRTUALLY_FRAME" val="{&amp;quot;height&amp;quot;:411.9,&amp;quot;left&amp;quot;:0,&amp;quot;top&amp;quot;:90.55,&amp;quot;width&amp;quot;:936}"/>
</p:tagLst>
</file>

<file path=ppt/tags/tag2528.xml><?xml version="1.0" encoding="utf-8"?>
<p:tagLst xmlns:p="http://schemas.openxmlformats.org/presentationml/2006/main">
  <p:tag name="KSO_WM_DIAGRAM_VIRTUALLY_FRAME" val="{&amp;quot;height&amp;quot;:411.9,&amp;quot;left&amp;quot;:0,&amp;quot;top&amp;quot;:90.55,&amp;quot;width&amp;quot;:936}"/>
</p:tagLst>
</file>

<file path=ppt/tags/tag2529.xml><?xml version="1.0" encoding="utf-8"?>
<p:tagLst xmlns:p="http://schemas.openxmlformats.org/presentationml/2006/main">
  <p:tag name="KSO_WM_DIAGRAM_VIRTUALLY_FRAME" val="{&amp;quot;height&amp;quot;:411.9,&amp;quot;left&amp;quot;:0,&amp;quot;top&amp;quot;:90.55,&amp;quot;width&amp;quot;:936}"/>
</p:tagLst>
</file>

<file path=ppt/tags/tag2530.xml><?xml version="1.0" encoding="utf-8"?>
<p:tagLst xmlns:p="http://schemas.openxmlformats.org/presentationml/2006/main">
  <p:tag name="KSO_WM_DIAGRAM_VIRTUALLY_FRAME" val="{&amp;quot;height&amp;quot;:411.9,&amp;quot;left&amp;quot;:0,&amp;quot;top&amp;quot;:90.55,&amp;quot;width&amp;quot;:936}"/>
</p:tagLst>
</file>

<file path=ppt/tags/tag2531.xml><?xml version="1.0" encoding="utf-8"?>
<p:tagLst xmlns:p="http://schemas.openxmlformats.org/presentationml/2006/main">
  <p:tag name="KSO_WM_DIAGRAM_VIRTUALLY_FRAME" val="{&amp;quot;height&amp;quot;:411.9,&amp;quot;left&amp;quot;:0,&amp;quot;top&amp;quot;:90.55,&amp;quot;width&amp;quot;:936}"/>
</p:tagLst>
</file>

<file path=ppt/tags/tag2532.xml><?xml version="1.0" encoding="utf-8"?>
<p:tagLst xmlns:p="http://schemas.openxmlformats.org/presentationml/2006/main">
  <p:tag name="KSO_WM_DIAGRAM_VIRTUALLY_FRAME" val="{&amp;quot;height&amp;quot;:411.9,&amp;quot;left&amp;quot;:0,&amp;quot;top&amp;quot;:90.55,&amp;quot;width&amp;quot;:936}"/>
</p:tagLst>
</file>

<file path=ppt/tags/tag2533.xml><?xml version="1.0" encoding="utf-8"?>
<p:tagLst xmlns:p="http://schemas.openxmlformats.org/presentationml/2006/main">
  <p:tag name="KSO_WM_DIAGRAM_VIRTUALLY_FRAME" val="{&amp;quot;height&amp;quot;:411.9,&amp;quot;left&amp;quot;:0,&amp;quot;top&amp;quot;:90.55,&amp;quot;width&amp;quot;:936}"/>
</p:tagLst>
</file>

<file path=ppt/tags/tag2534.xml><?xml version="1.0" encoding="utf-8"?>
<p:tagLst xmlns:p="http://schemas.openxmlformats.org/presentationml/2006/main">
  <p:tag name="KSO_WM_DIAGRAM_VIRTUALLY_FRAME" val="{&amp;quot;height&amp;quot;:411.9,&amp;quot;left&amp;quot;:0,&amp;quot;top&amp;quot;:90.55,&amp;quot;width&amp;quot;:936}"/>
</p:tagLst>
</file>

<file path=ppt/tags/tag2535.xml><?xml version="1.0" encoding="utf-8"?>
<p:tagLst xmlns:p="http://schemas.openxmlformats.org/presentationml/2006/main">
  <p:tag name="KSO_WM_DIAGRAM_VIRTUALLY_FRAME" val="{&amp;quot;height&amp;quot;:411.9,&amp;quot;left&amp;quot;:0,&amp;quot;top&amp;quot;:90.55,&amp;quot;width&amp;quot;:936}"/>
</p:tagLst>
</file>

<file path=ppt/tags/tag2536.xml><?xml version="1.0" encoding="utf-8"?>
<p:tagLst xmlns:p="http://schemas.openxmlformats.org/presentationml/2006/main">
  <p:tag name="KSO_WM_DIAGRAM_VIRTUALLY_FRAME" val="{&amp;quot;height&amp;quot;:411.9,&amp;quot;left&amp;quot;:0,&amp;quot;top&amp;quot;:90.55,&amp;quot;width&amp;quot;:936}"/>
</p:tagLst>
</file>

<file path=ppt/tags/tag2537.xml><?xml version="1.0" encoding="utf-8"?>
<p:tagLst xmlns:p="http://schemas.openxmlformats.org/presentationml/2006/main">
  <p:tag name="KSO_WM_DIAGRAM_VIRTUALLY_FRAME" val="{&amp;quot;height&amp;quot;:411.9,&amp;quot;left&amp;quot;:0,&amp;quot;top&amp;quot;:90.55,&amp;quot;width&amp;quot;:936}"/>
</p:tagLst>
</file>

<file path=ppt/tags/tag2538.xml><?xml version="1.0" encoding="utf-8"?>
<p:tagLst xmlns:p="http://schemas.openxmlformats.org/presentationml/2006/main">
  <p:tag name="KSO_WM_DIAGRAM_VIRTUALLY_FRAME" val="{&amp;quot;height&amp;quot;:411.9,&amp;quot;left&amp;quot;:0,&amp;quot;top&amp;quot;:90.55,&amp;quot;width&amp;quot;:936}"/>
</p:tagLst>
</file>

<file path=ppt/tags/tag2539.xml><?xml version="1.0" encoding="utf-8"?>
<p:tagLst xmlns:p="http://schemas.openxmlformats.org/presentationml/2006/main">
  <p:tag name="KSO_WM_DIAGRAM_VIRTUALLY_FRAME" val="{&amp;quot;height&amp;quot;:411.9,&amp;quot;left&amp;quot;:0,&amp;quot;top&amp;quot;:90.55,&amp;quot;width&amp;quot;:936}"/>
</p:tagLst>
</file>

<file path=ppt/tags/tag2540.xml><?xml version="1.0" encoding="utf-8"?>
<p:tagLst xmlns:p="http://schemas.openxmlformats.org/presentationml/2006/main">
  <p:tag name="KSO_WM_DIAGRAM_VIRTUALLY_FRAME" val="{&amp;quot;height&amp;quot;:411.9,&amp;quot;left&amp;quot;:0,&amp;quot;top&amp;quot;:90.55,&amp;quot;width&amp;quot;:936}"/>
</p:tagLst>
</file>

<file path=ppt/tags/tag2541.xml><?xml version="1.0" encoding="utf-8"?>
<p:tagLst xmlns:p="http://schemas.openxmlformats.org/presentationml/2006/main">
  <p:tag name="KSO_WM_DIAGRAM_VIRTUALLY_FRAME" val="{&amp;quot;height&amp;quot;:411.9,&amp;quot;left&amp;quot;:0,&amp;quot;top&amp;quot;:90.55,&amp;quot;width&amp;quot;:936}"/>
</p:tagLst>
</file>

<file path=ppt/tags/tag2542.xml><?xml version="1.0" encoding="utf-8"?>
<p:tagLst xmlns:p="http://schemas.openxmlformats.org/presentationml/2006/main">
  <p:tag name="KSO_WM_DIAGRAM_VIRTUALLY_FRAME" val="{&amp;quot;height&amp;quot;:128.05,&amp;quot;left&amp;quot;:236.1,&amp;quot;top&amp;quot;:141.8,&amp;quot;width&amp;quot;:658.8}"/>
</p:tagLst>
</file>

<file path=ppt/tags/tag2543.xml><?xml version="1.0" encoding="utf-8"?>
<p:tagLst xmlns:p="http://schemas.openxmlformats.org/presentationml/2006/main">
  <p:tag name="KSO_WM_DIAGRAM_VIRTUALLY_FRAME" val="{&amp;quot;height&amp;quot;:128.05,&amp;quot;left&amp;quot;:236.1,&amp;quot;top&amp;quot;:141.8,&amp;quot;width&amp;quot;:658.8}"/>
</p:tagLst>
</file>

<file path=ppt/tags/tag2544.xml><?xml version="1.0" encoding="utf-8"?>
<p:tagLst xmlns:p="http://schemas.openxmlformats.org/presentationml/2006/main">
  <p:tag name="KSO_WM_DIAGRAM_VIRTUALLY_FRAME" val="{&amp;quot;height&amp;quot;:128.05,&amp;quot;left&amp;quot;:236.1,&amp;quot;top&amp;quot;:141.8,&amp;quot;width&amp;quot;:658.8}"/>
</p:tagLst>
</file>

<file path=ppt/tags/tag2545.xml><?xml version="1.0" encoding="utf-8"?>
<p:tagLst xmlns:p="http://schemas.openxmlformats.org/presentationml/2006/main">
  <p:tag name="KSO_WM_DIAGRAM_VIRTUALLY_FRAME" val="{&amp;quot;height&amp;quot;:128.05,&amp;quot;left&amp;quot;:236.1,&amp;quot;top&amp;quot;:141.8,&amp;quot;width&amp;quot;:658.8}"/>
</p:tagLst>
</file>

<file path=ppt/tags/tag2546.xml><?xml version="1.0" encoding="utf-8"?>
<p:tagLst xmlns:p="http://schemas.openxmlformats.org/presentationml/2006/main">
  <p:tag name="KSO_WM_DIAGRAM_VIRTUALLY_FRAME" val="{&amp;quot;height&amp;quot;:128.05,&amp;quot;left&amp;quot;:236.1,&amp;quot;top&amp;quot;:141.8,&amp;quot;width&amp;quot;:658.8}"/>
</p:tagLst>
</file>

<file path=ppt/tags/tag2547.xml><?xml version="1.0" encoding="utf-8"?>
<p:tagLst xmlns:p="http://schemas.openxmlformats.org/presentationml/2006/main">
  <p:tag name="TABLE_ENDDRAG_ORIGIN_RECT" val="776*241"/>
  <p:tag name="TABLE_ENDDRAG_RECT" val="110*283*776*241"/>
</p:tagLst>
</file>

<file path=ppt/tags/tag2548.xml><?xml version="1.0" encoding="utf-8"?>
<p:tagLst xmlns:p="http://schemas.openxmlformats.org/presentationml/2006/main">
  <p:tag name="KSO_WM_DIAGRAM_VIRTUALLY_FRAME" val="{&amp;quot;height&amp;quot;:128.05,&amp;quot;left&amp;quot;:236.1,&amp;quot;top&amp;quot;:141.8,&amp;quot;width&amp;quot;:658.8}"/>
</p:tagLst>
</file>

<file path=ppt/tags/tag2549.xml><?xml version="1.0" encoding="utf-8"?>
<p:tagLst xmlns:p="http://schemas.openxmlformats.org/presentationml/2006/main">
  <p:tag name="KSO_WM_DIAGRAM_VIRTUALLY_FRAME" val="{&amp;quot;height&amp;quot;:128.05,&amp;quot;left&amp;quot;:236.1,&amp;quot;top&amp;quot;:141.8,&amp;quot;width&amp;quot;:658.8}"/>
</p:tagLst>
</file>

<file path=ppt/tags/tag2550.xml><?xml version="1.0" encoding="utf-8"?>
<p:tagLst xmlns:p="http://schemas.openxmlformats.org/presentationml/2006/main">
  <p:tag name="KSO_WM_DIAGRAM_VIRTUALLY_FRAME" val="{&amp;quot;height&amp;quot;:128.05,&amp;quot;left&amp;quot;:236.1,&amp;quot;top&amp;quot;:141.8,&amp;quot;width&amp;quot;:658.8}"/>
</p:tagLst>
</file>

<file path=ppt/tags/tag2551.xml><?xml version="1.0" encoding="utf-8"?>
<p:tagLst xmlns:p="http://schemas.openxmlformats.org/presentationml/2006/main">
  <p:tag name="KSO_WM_DIAGRAM_VIRTUALLY_FRAME" val="{&amp;quot;height&amp;quot;:128.05,&amp;quot;left&amp;quot;:236.1,&amp;quot;top&amp;quot;:141.8,&amp;quot;width&amp;quot;:658.8}"/>
</p:tagLst>
</file>

<file path=ppt/tags/tag2552.xml><?xml version="1.0" encoding="utf-8"?>
<p:tagLst xmlns:p="http://schemas.openxmlformats.org/presentationml/2006/main">
  <p:tag name="KSO_WM_DIAGRAM_VIRTUALLY_FRAME" val="{&amp;quot;height&amp;quot;:128.05,&amp;quot;left&amp;quot;:236.1,&amp;quot;top&amp;quot;:141.8,&amp;quot;width&amp;quot;:658.8}"/>
</p:tagLst>
</file>

<file path=ppt/tags/tag2553.xml><?xml version="1.0" encoding="utf-8"?>
<p:tagLst xmlns:p="http://schemas.openxmlformats.org/presentationml/2006/main">
  <p:tag name="KSO_WM_DIAGRAM_VIRTUALLY_FRAME" val="{&amp;quot;height&amp;quot;:128.05,&amp;quot;left&amp;quot;:236.1,&amp;quot;top&amp;quot;:141.8,&amp;quot;width&amp;quot;:658.8}"/>
</p:tagLst>
</file>

<file path=ppt/tags/tag2554.xml><?xml version="1.0" encoding="utf-8"?>
<p:tagLst xmlns:p="http://schemas.openxmlformats.org/presentationml/2006/main">
  <p:tag name="KSO_WM_DIAGRAM_VIRTUALLY_FRAME" val="{&amp;quot;height&amp;quot;:128.05,&amp;quot;left&amp;quot;:236.1,&amp;quot;top&amp;quot;:141.8,&amp;quot;width&amp;quot;:658.8}"/>
</p:tagLst>
</file>

<file path=ppt/tags/tag2555.xml><?xml version="1.0" encoding="utf-8"?>
<p:tagLst xmlns:p="http://schemas.openxmlformats.org/presentationml/2006/main">
  <p:tag name="KSO_WM_DIAGRAM_VIRTUALLY_FRAME" val="{&amp;quot;height&amp;quot;:128.05,&amp;quot;left&amp;quot;:236.1,&amp;quot;top&amp;quot;:141.8,&amp;quot;width&amp;quot;:658.8}"/>
</p:tagLst>
</file>

<file path=ppt/tags/tag2556.xml><?xml version="1.0" encoding="utf-8"?>
<p:tagLst xmlns:p="http://schemas.openxmlformats.org/presentationml/2006/main">
  <p:tag name="KSO_WM_DIAGRAM_VIRTUALLY_FRAME" val="{&amp;quot;height&amp;quot;:128.05,&amp;quot;left&amp;quot;:236.1,&amp;quot;top&amp;quot;:141.8,&amp;quot;width&amp;quot;:658.8}"/>
</p:tagLst>
</file>

<file path=ppt/tags/tag2557.xml><?xml version="1.0" encoding="utf-8"?>
<p:tagLst xmlns:p="http://schemas.openxmlformats.org/presentationml/2006/main">
  <p:tag name="KSO_WM_DIAGRAM_VIRTUALLY_FRAME" val="{&amp;quot;height&amp;quot;:128.05,&amp;quot;left&amp;quot;:236.1,&amp;quot;top&amp;quot;:141.8,&amp;quot;width&amp;quot;:658.8}"/>
</p:tagLst>
</file>

<file path=ppt/tags/tag2558.xml><?xml version="1.0" encoding="utf-8"?>
<p:tagLst xmlns:p="http://schemas.openxmlformats.org/presentationml/2006/main">
  <p:tag name="KSO_WM_DIAGRAM_VIRTUALLY_FRAME" val="{&amp;quot;height&amp;quot;:128.05,&amp;quot;left&amp;quot;:236.1,&amp;quot;top&amp;quot;:141.8,&amp;quot;width&amp;quot;:658.8}"/>
</p:tagLst>
</file>

<file path=ppt/tags/tag2559.xml><?xml version="1.0" encoding="utf-8"?>
<p:tagLst xmlns:p="http://schemas.openxmlformats.org/presentationml/2006/main">
  <p:tag name="KSO_WM_DIAGRAM_VIRTUALLY_FRAME" val="{&amp;quot;height&amp;quot;:128.05,&amp;quot;left&amp;quot;:236.1,&amp;quot;top&amp;quot;:141.8,&amp;quot;width&amp;quot;:658.8}"/>
</p:tagLst>
</file>

<file path=ppt/tags/tag2560.xml><?xml version="1.0" encoding="utf-8"?>
<p:tagLst xmlns:p="http://schemas.openxmlformats.org/presentationml/2006/main">
  <p:tag name="KSO_WM_DIAGRAM_VIRTUALLY_FRAME" val="{&amp;quot;height&amp;quot;:128.05,&amp;quot;left&amp;quot;:236.1,&amp;quot;top&amp;quot;:141.8,&amp;quot;width&amp;quot;:658.8}"/>
</p:tagLst>
</file>

<file path=ppt/tags/tag2561.xml><?xml version="1.0" encoding="utf-8"?>
<p:tagLst xmlns:p="http://schemas.openxmlformats.org/presentationml/2006/main">
  <p:tag name="KSO_WM_DIAGRAM_VIRTUALLY_FRAME" val="{&amp;quot;height&amp;quot;:212.65000000000003,&amp;quot;left&amp;quot;:42.8,&amp;quot;top&amp;quot;:146.75,&amp;quot;width&amp;quot;:606.3}"/>
</p:tagLst>
</file>

<file path=ppt/tags/tag2562.xml><?xml version="1.0" encoding="utf-8"?>
<p:tagLst xmlns:p="http://schemas.openxmlformats.org/presentationml/2006/main">
  <p:tag name="KSO_WM_DIAGRAM_VIRTUALLY_FRAME" val="{&amp;quot;height&amp;quot;:212.65000000000003,&amp;quot;left&amp;quot;:42.8,&amp;quot;top&amp;quot;:146.75,&amp;quot;width&amp;quot;:606.3}"/>
</p:tagLst>
</file>

<file path=ppt/tags/tag2563.xml><?xml version="1.0" encoding="utf-8"?>
<p:tagLst xmlns:p="http://schemas.openxmlformats.org/presentationml/2006/main">
  <p:tag name="KSO_WM_DIAGRAM_VIRTUALLY_FRAME" val="{&amp;quot;height&amp;quot;:212.65000000000003,&amp;quot;left&amp;quot;:42.8,&amp;quot;top&amp;quot;:146.75,&amp;quot;width&amp;quot;:606.3}"/>
</p:tagLst>
</file>

<file path=ppt/tags/tag2564.xml><?xml version="1.0" encoding="utf-8"?>
<p:tagLst xmlns:p="http://schemas.openxmlformats.org/presentationml/2006/main">
  <p:tag name="KSO_WM_DIAGRAM_VIRTUALLY_FRAME" val="{&amp;quot;height&amp;quot;:212.65000000000003,&amp;quot;left&amp;quot;:42.8,&amp;quot;top&amp;quot;:146.75,&amp;quot;width&amp;quot;:606.3}"/>
</p:tagLst>
</file>

<file path=ppt/tags/tag2565.xml><?xml version="1.0" encoding="utf-8"?>
<p:tagLst xmlns:p="http://schemas.openxmlformats.org/presentationml/2006/main">
  <p:tag name="KSO_WM_DIAGRAM_VIRTUALLY_FRAME" val="{&amp;quot;height&amp;quot;:212.65000000000003,&amp;quot;left&amp;quot;:42.8,&amp;quot;top&amp;quot;:146.75,&amp;quot;width&amp;quot;:606.3}"/>
</p:tagLst>
</file>

<file path=ppt/tags/tag2566.xml><?xml version="1.0" encoding="utf-8"?>
<p:tagLst xmlns:p="http://schemas.openxmlformats.org/presentationml/2006/main">
  <p:tag name="KSO_WM_DIAGRAM_VIRTUALLY_FRAME" val="{&amp;quot;height&amp;quot;:212.65000000000003,&amp;quot;left&amp;quot;:42.8,&amp;quot;top&amp;quot;:146.75,&amp;quot;width&amp;quot;:606.3}"/>
</p:tagLst>
</file>

<file path=ppt/tags/tag2567.xml><?xml version="1.0" encoding="utf-8"?>
<p:tagLst xmlns:p="http://schemas.openxmlformats.org/presentationml/2006/main">
  <p:tag name="KSO_WM_DIAGRAM_VIRTUALLY_FRAME" val="{&amp;quot;height&amp;quot;:212.65000000000003,&amp;quot;left&amp;quot;:42.8,&amp;quot;top&amp;quot;:146.75,&amp;quot;width&amp;quot;:606.3}"/>
</p:tagLst>
</file>

<file path=ppt/tags/tag2568.xml><?xml version="1.0" encoding="utf-8"?>
<p:tagLst xmlns:p="http://schemas.openxmlformats.org/presentationml/2006/main">
  <p:tag name="KSO_WM_DIAGRAM_VIRTUALLY_FRAME" val="{&amp;quot;height&amp;quot;:212.65000000000003,&amp;quot;left&amp;quot;:42.8,&amp;quot;top&amp;quot;:146.75,&amp;quot;width&amp;quot;:606.3}"/>
</p:tagLst>
</file>

<file path=ppt/tags/tag2569.xml><?xml version="1.0" encoding="utf-8"?>
<p:tagLst xmlns:p="http://schemas.openxmlformats.org/presentationml/2006/main">
  <p:tag name="KSO_WM_DIAGRAM_VIRTUALLY_FRAME" val="{&amp;quot;height&amp;quot;:212.65000000000003,&amp;quot;left&amp;quot;:42.8,&amp;quot;top&amp;quot;:146.75,&amp;quot;width&amp;quot;:606.3}"/>
</p:tagLst>
</file>

<file path=ppt/tags/tag2570.xml><?xml version="1.0" encoding="utf-8"?>
<p:tagLst xmlns:p="http://schemas.openxmlformats.org/presentationml/2006/main">
  <p:tag name="KSO_WM_DIAGRAM_VIRTUALLY_FRAME" val="{&amp;quot;height&amp;quot;:212.65000000000003,&amp;quot;left&amp;quot;:42.8,&amp;quot;top&amp;quot;:146.75,&amp;quot;width&amp;quot;:606.3}"/>
</p:tagLst>
</file>

<file path=ppt/tags/tag2571.xml><?xml version="1.0" encoding="utf-8"?>
<p:tagLst xmlns:p="http://schemas.openxmlformats.org/presentationml/2006/main">
  <p:tag name="KSO_WM_DIAGRAM_VIRTUALLY_FRAME" val="{&amp;quot;height&amp;quot;:212.65000000000003,&amp;quot;left&amp;quot;:42.8,&amp;quot;top&amp;quot;:146.75,&amp;quot;width&amp;quot;:606.3}"/>
</p:tagLst>
</file>

<file path=ppt/tags/tag2572.xml><?xml version="1.0" encoding="utf-8"?>
<p:tagLst xmlns:p="http://schemas.openxmlformats.org/presentationml/2006/main">
  <p:tag name="KSO_WM_DIAGRAM_VIRTUALLY_FRAME" val="{&amp;quot;height&amp;quot;:212.65000000000003,&amp;quot;left&amp;quot;:42.8,&amp;quot;top&amp;quot;:146.75,&amp;quot;width&amp;quot;:606.3}"/>
</p:tagLst>
</file>

<file path=ppt/tags/tag2573.xml><?xml version="1.0" encoding="utf-8"?>
<p:tagLst xmlns:p="http://schemas.openxmlformats.org/presentationml/2006/main">
  <p:tag name="KSO_WM_DIAGRAM_VIRTUALLY_FRAME" val="{&amp;quot;height&amp;quot;:212.65000000000003,&amp;quot;left&amp;quot;:42.8,&amp;quot;top&amp;quot;:146.75,&amp;quot;width&amp;quot;:606.3}"/>
</p:tagLst>
</file>

<file path=ppt/tags/tag2574.xml><?xml version="1.0" encoding="utf-8"?>
<p:tagLst xmlns:p="http://schemas.openxmlformats.org/presentationml/2006/main">
  <p:tag name="KSO_WM_DIAGRAM_VIRTUALLY_FRAME" val="{&amp;quot;height&amp;quot;:212.65000000000003,&amp;quot;left&amp;quot;:42.8,&amp;quot;top&amp;quot;:146.75,&amp;quot;width&amp;quot;:606.3}"/>
</p:tagLst>
</file>

<file path=ppt/tags/tag2575.xml><?xml version="1.0" encoding="utf-8"?>
<p:tagLst xmlns:p="http://schemas.openxmlformats.org/presentationml/2006/main">
  <p:tag name="KSO_WM_DIAGRAM_VIRTUALLY_FRAME" val="{&amp;quot;height&amp;quot;:212.65000000000003,&amp;quot;left&amp;quot;:42.8,&amp;quot;top&amp;quot;:146.75,&amp;quot;width&amp;quot;:606.3}"/>
</p:tagLst>
</file>

<file path=ppt/tags/tag2576.xml><?xml version="1.0" encoding="utf-8"?>
<p:tagLst xmlns:p="http://schemas.openxmlformats.org/presentationml/2006/main">
  <p:tag name="KSO_WM_DIAGRAM_VIRTUALLY_FRAME" val="{&amp;quot;height&amp;quot;:212.65000000000003,&amp;quot;left&amp;quot;:42.8,&amp;quot;top&amp;quot;:146.75,&amp;quot;width&amp;quot;:606.3}"/>
</p:tagLst>
</file>

<file path=ppt/tags/tag2577.xml><?xml version="1.0" encoding="utf-8"?>
<p:tagLst xmlns:p="http://schemas.openxmlformats.org/presentationml/2006/main">
  <p:tag name="KSO_WM_DIAGRAM_VIRTUALLY_FRAME" val="{&amp;quot;height&amp;quot;:212.65000000000003,&amp;quot;left&amp;quot;:42.8,&amp;quot;top&amp;quot;:146.75,&amp;quot;width&amp;quot;:606.3}"/>
</p:tagLst>
</file>

<file path=ppt/tags/tag2578.xml><?xml version="1.0" encoding="utf-8"?>
<p:tagLst xmlns:p="http://schemas.openxmlformats.org/presentationml/2006/main">
  <p:tag name="KSO_WM_DIAGRAM_VIRTUALLY_FRAME" val="{&amp;quot;height&amp;quot;:212.65000000000003,&amp;quot;left&amp;quot;:42.8,&amp;quot;top&amp;quot;:146.75,&amp;quot;width&amp;quot;:606.3}"/>
</p:tagLst>
</file>

<file path=ppt/tags/tag2579.xml><?xml version="1.0" encoding="utf-8"?>
<p:tagLst xmlns:p="http://schemas.openxmlformats.org/presentationml/2006/main">
  <p:tag name="KSO_WM_DIAGRAM_VIRTUALLY_FRAME" val="{&amp;quot;height&amp;quot;:212.65000000000003,&amp;quot;left&amp;quot;:42.8,&amp;quot;top&amp;quot;:146.75,&amp;quot;width&amp;quot;:606.3}"/>
</p:tagLst>
</file>

<file path=ppt/tags/tag2580.xml><?xml version="1.0" encoding="utf-8"?>
<p:tagLst xmlns:p="http://schemas.openxmlformats.org/presentationml/2006/main">
  <p:tag name="KSO_WM_DIAGRAM_VIRTUALLY_FRAME" val="{&amp;quot;height&amp;quot;:212.65000000000003,&amp;quot;left&amp;quot;:42.8,&amp;quot;top&amp;quot;:146.75,&amp;quot;width&amp;quot;:606.3}"/>
</p:tagLst>
</file>

<file path=ppt/tags/tag2581.xml><?xml version="1.0" encoding="utf-8"?>
<p:tagLst xmlns:p="http://schemas.openxmlformats.org/presentationml/2006/main">
  <p:tag name="KSO_WM_DIAGRAM_VIRTUALLY_FRAME" val="{&amp;quot;height&amp;quot;:212.65000000000003,&amp;quot;left&amp;quot;:42.8,&amp;quot;top&amp;quot;:146.75,&amp;quot;width&amp;quot;:606.3}"/>
</p:tagLst>
</file>

<file path=ppt/tags/tag2582.xml><?xml version="1.0" encoding="utf-8"?>
<p:tagLst xmlns:p="http://schemas.openxmlformats.org/presentationml/2006/main">
  <p:tag name="KSO_WM_DIAGRAM_VIRTUALLY_FRAME" val="{&amp;quot;height&amp;quot;:212.65000000000003,&amp;quot;left&amp;quot;:42.8,&amp;quot;top&amp;quot;:146.75,&amp;quot;width&amp;quot;:606.3}"/>
</p:tagLst>
</file>

<file path=ppt/tags/tag2583.xml><?xml version="1.0" encoding="utf-8"?>
<p:tagLst xmlns:p="http://schemas.openxmlformats.org/presentationml/2006/main">
  <p:tag name="KSO_WM_DIAGRAM_VIRTUALLY_FRAME" val="{&amp;quot;height&amp;quot;:64.1,&amp;quot;left&amp;quot;:61.55,&amp;quot;top&amp;quot;:96.55,&amp;quot;width&amp;quot;:840.35}"/>
</p:tagLst>
</file>

<file path=ppt/tags/tag2584.xml><?xml version="1.0" encoding="utf-8"?>
<p:tagLst xmlns:p="http://schemas.openxmlformats.org/presentationml/2006/main">
  <p:tag name="KSO_WM_DIAGRAM_VIRTUALLY_FRAME" val="{&amp;quot;height&amp;quot;:64.1,&amp;quot;left&amp;quot;:61.55,&amp;quot;top&amp;quot;:96.55,&amp;quot;width&amp;quot;:840.35}"/>
</p:tagLst>
</file>

<file path=ppt/tags/tag2585.xml><?xml version="1.0" encoding="utf-8"?>
<p:tagLst xmlns:p="http://schemas.openxmlformats.org/presentationml/2006/main">
  <p:tag name="KSO_WM_DIAGRAM_VIRTUALLY_FRAME" val="{&amp;quot;height&amp;quot;:64.1,&amp;quot;left&amp;quot;:61.55,&amp;quot;top&amp;quot;:96.55,&amp;quot;width&amp;quot;:840.35}"/>
</p:tagLst>
</file>

<file path=ppt/tags/tag2586.xml><?xml version="1.0" encoding="utf-8"?>
<p:tagLst xmlns:p="http://schemas.openxmlformats.org/presentationml/2006/main">
  <p:tag name="KSO_WM_DIAGRAM_VIRTUALLY_FRAME" val="{&amp;quot;height&amp;quot;:64.1,&amp;quot;left&amp;quot;:61.55,&amp;quot;top&amp;quot;:96.55,&amp;quot;width&amp;quot;:840.35}"/>
</p:tagLst>
</file>

<file path=ppt/tags/tag2587.xml><?xml version="1.0" encoding="utf-8"?>
<p:tagLst xmlns:p="http://schemas.openxmlformats.org/presentationml/2006/main">
  <p:tag name="KSO_WM_DIAGRAM_VIRTUALLY_FRAME" val="{&amp;quot;height&amp;quot;:64.1,&amp;quot;left&amp;quot;:61.55,&amp;quot;top&amp;quot;:96.55,&amp;quot;width&amp;quot;:840.35}"/>
</p:tagLst>
</file>

<file path=ppt/tags/tag2588.xml><?xml version="1.0" encoding="utf-8"?>
<p:tagLst xmlns:p="http://schemas.openxmlformats.org/presentationml/2006/main">
  <p:tag name="KSO_WM_DIAGRAM_VIRTUALLY_FRAME" val="{&amp;quot;height&amp;quot;:64.1,&amp;quot;left&amp;quot;:61.55,&amp;quot;top&amp;quot;:96.55,&amp;quot;width&amp;quot;:840.35}"/>
</p:tagLst>
</file>

<file path=ppt/tags/tag2589.xml><?xml version="1.0" encoding="utf-8"?>
<p:tagLst xmlns:p="http://schemas.openxmlformats.org/presentationml/2006/main">
  <p:tag name="KSO_WM_DIAGRAM_VIRTUALLY_FRAME" val="{&amp;quot;height&amp;quot;:64.1,&amp;quot;left&amp;quot;:61.55,&amp;quot;top&amp;quot;:96.55,&amp;quot;width&amp;quot;:840.35}"/>
</p:tagLst>
</file>

<file path=ppt/tags/tag2590.xml><?xml version="1.0" encoding="utf-8"?>
<p:tagLst xmlns:p="http://schemas.openxmlformats.org/presentationml/2006/main">
  <p:tag name="KSO_WM_DIAGRAM_VIRTUALLY_FRAME" val="{&amp;quot;height&amp;quot;:64.1,&amp;quot;left&amp;quot;:61.55,&amp;quot;top&amp;quot;:96.55,&amp;quot;width&amp;quot;:840.35}"/>
</p:tagLst>
</file>

<file path=ppt/tags/tag2591.xml><?xml version="1.0" encoding="utf-8"?>
<p:tagLst xmlns:p="http://schemas.openxmlformats.org/presentationml/2006/main">
  <p:tag name="KSO_WM_DIAGRAM_VIRTUALLY_FRAME" val="{&amp;quot;height&amp;quot;:64.1,&amp;quot;left&amp;quot;:61.55,&amp;quot;top&amp;quot;:96.55,&amp;quot;width&amp;quot;:840.35}"/>
</p:tagLst>
</file>

<file path=ppt/tags/tag2592.xml><?xml version="1.0" encoding="utf-8"?>
<p:tagLst xmlns:p="http://schemas.openxmlformats.org/presentationml/2006/main">
  <p:tag name="KSO_WM_DIAGRAM_VIRTUALLY_FRAME" val="{&amp;quot;height&amp;quot;:64.1,&amp;quot;left&amp;quot;:61.55,&amp;quot;top&amp;quot;:96.55,&amp;quot;width&amp;quot;:840.35}"/>
</p:tagLst>
</file>

<file path=ppt/tags/tag2593.xml><?xml version="1.0" encoding="utf-8"?>
<p:tagLst xmlns:p="http://schemas.openxmlformats.org/presentationml/2006/main">
  <p:tag name="KSO_WM_DIAGRAM_VIRTUALLY_FRAME" val="{&amp;quot;height&amp;quot;:64.1,&amp;quot;left&amp;quot;:61.55,&amp;quot;top&amp;quot;:96.55,&amp;quot;width&amp;quot;:840.35}"/>
</p:tagLst>
</file>

<file path=ppt/tags/tag2594.xml><?xml version="1.0" encoding="utf-8"?>
<p:tagLst xmlns:p="http://schemas.openxmlformats.org/presentationml/2006/main">
  <p:tag name="KSO_WM_DIAGRAM_VIRTUALLY_FRAME" val="{&amp;quot;height&amp;quot;:64.1,&amp;quot;left&amp;quot;:61.55,&amp;quot;top&amp;quot;:96.55,&amp;quot;width&amp;quot;:840.35}"/>
</p:tagLst>
</file>

<file path=ppt/tags/tag2595.xml><?xml version="1.0" encoding="utf-8"?>
<p:tagLst xmlns:p="http://schemas.openxmlformats.org/presentationml/2006/main">
  <p:tag name="KSO_WM_DIAGRAM_VIRTUALLY_FRAME" val="{&amp;quot;height&amp;quot;:64.1,&amp;quot;left&amp;quot;:61.55,&amp;quot;top&amp;quot;:96.55,&amp;quot;width&amp;quot;:840.35}"/>
</p:tagLst>
</file>

<file path=ppt/tags/tag2596.xml><?xml version="1.0" encoding="utf-8"?>
<p:tagLst xmlns:p="http://schemas.openxmlformats.org/presentationml/2006/main">
  <p:tag name="KSO_WM_DIAGRAM_VIRTUALLY_FRAME" val="{&amp;quot;height&amp;quot;:64.1,&amp;quot;left&amp;quot;:61.55,&amp;quot;top&amp;quot;:96.55,&amp;quot;width&amp;quot;:840.35}"/>
</p:tagLst>
</file>

<file path=ppt/tags/tag2597.xml><?xml version="1.0" encoding="utf-8"?>
<p:tagLst xmlns:p="http://schemas.openxmlformats.org/presentationml/2006/main">
  <p:tag name="ISLIDE.GUIDESSETTING" val="{&amp;quot;Id&amp;quot;:&amp;quot;GuidesStyle_Moderate&amp;quot;,&amp;quot;Name&amp;quot;:&amp;quot;适中&amp;quot;,&amp;quot;Kind&amp;quot;:&amp;quot;System&amp;quot;,&amp;quot;OldGuidesSetting&amp;quot;:{&amp;quot;HeaderHeight&amp;quot;:13.0,&amp;quot;FooterHeight&amp;quot;:6.0,&amp;quot;SideMargin&amp;quot;:4.0,&amp;quot;TopMargin&amp;quot;:0.0,&amp;quot;BottomMargin&amp;quot;:0.0,&amp;quot;IntervalMargin&amp;quot;:1.5}}"/>
  <p:tag name="COMMONDATA" val="eyJoZGlkIjoiMmIxOGE2NGY5MzIzZTFjYjRkMjdkOTZiZDJlY2ZhYzQifQ=="/>
  <p:tag name="RESOURCE_RECORD_KEY" val="{&amp;quot;29&amp;quot;:[50000086]}"/>
</p:tagLst>
</file>

<file path=ppt/theme/theme1.xml><?xml version="1.0" encoding="utf-8"?>
<a:theme xmlns:a="http://schemas.openxmlformats.org/drawingml/2006/main" name="Office 主题​​">
  <a:themeElements>
    <a:clrScheme name="中智咨询规范配色">
      <a:dk1>
        <a:srgbClr val="383838"/>
      </a:dk1>
      <a:lt1>
        <a:srgbClr val="FFFFFF"/>
      </a:lt1>
      <a:dk2>
        <a:srgbClr val="383838"/>
      </a:dk2>
      <a:lt2>
        <a:srgbClr val="E6E6E6"/>
      </a:lt2>
      <a:accent1>
        <a:srgbClr val="0042FF"/>
      </a:accent1>
      <a:accent2>
        <a:srgbClr val="3368FF"/>
      </a:accent2>
      <a:accent3>
        <a:srgbClr val="668EFF"/>
      </a:accent3>
      <a:accent4>
        <a:srgbClr val="C6D4FE"/>
      </a:accent4>
      <a:accent5>
        <a:srgbClr val="B3D4FE"/>
      </a:accent5>
      <a:accent6>
        <a:srgbClr val="DCDCDC"/>
      </a:accent6>
      <a:hlink>
        <a:srgbClr val="0042FF"/>
      </a:hlink>
      <a:folHlink>
        <a:srgbClr val="DCDCDC"/>
      </a:folHlink>
    </a:clrScheme>
    <a:fontScheme name="微软雅黑">
      <a:majorFont>
        <a:latin typeface="微软雅黑"/>
        <a:ea typeface="微软雅黑"/>
        <a:cs typeface="微软雅黑"/>
      </a:majorFont>
      <a:minorFont>
        <a:latin typeface="微软雅黑"/>
        <a:ea typeface="微软雅黑"/>
        <a:cs typeface="微软雅黑"/>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383838">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defRPr lang="en-US" altLang="zh-CN">
            <a:latin typeface="微软雅黑"/>
            <a:ea typeface="微软雅黑"/>
            <a:cs typeface="微软雅黑"/>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5_Office 主题​​">
  <a:themeElements>
    <a:clrScheme name="中智咨询规范配色">
      <a:dk1>
        <a:srgbClr val="383838"/>
      </a:dk1>
      <a:lt1>
        <a:srgbClr val="FFFFFF"/>
      </a:lt1>
      <a:dk2>
        <a:srgbClr val="383838"/>
      </a:dk2>
      <a:lt2>
        <a:srgbClr val="E6E6E6"/>
      </a:lt2>
      <a:accent1>
        <a:srgbClr val="0042FF"/>
      </a:accent1>
      <a:accent2>
        <a:srgbClr val="3368FF"/>
      </a:accent2>
      <a:accent3>
        <a:srgbClr val="668EFF"/>
      </a:accent3>
      <a:accent4>
        <a:srgbClr val="C6D4FE"/>
      </a:accent4>
      <a:accent5>
        <a:srgbClr val="B3D4FE"/>
      </a:accent5>
      <a:accent6>
        <a:srgbClr val="DCDCDC"/>
      </a:accent6>
      <a:hlink>
        <a:srgbClr val="0042FF"/>
      </a:hlink>
      <a:folHlink>
        <a:srgbClr val="DCDCDC"/>
      </a:folHlink>
    </a:clrScheme>
    <a:fontScheme name="微软雅黑">
      <a:majorFont>
        <a:latin typeface="微软雅黑"/>
        <a:ea typeface="微软雅黑"/>
        <a:cs typeface="微软雅黑"/>
      </a:majorFont>
      <a:minorFont>
        <a:latin typeface="微软雅黑"/>
        <a:ea typeface="微软雅黑"/>
        <a:cs typeface="微软雅黑"/>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383838">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defRPr lang="en-US" altLang="zh-CN">
            <a:latin typeface="微软雅黑"/>
            <a:ea typeface="微软雅黑"/>
            <a:cs typeface="微软雅黑"/>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中智咨询规范配色">
      <a:dk1>
        <a:srgbClr val="383838"/>
      </a:dk1>
      <a:lt1>
        <a:srgbClr val="FFFFFF"/>
      </a:lt1>
      <a:dk2>
        <a:srgbClr val="383838"/>
      </a:dk2>
      <a:lt2>
        <a:srgbClr val="E6E6E6"/>
      </a:lt2>
      <a:accent1>
        <a:srgbClr val="0042FF"/>
      </a:accent1>
      <a:accent2>
        <a:srgbClr val="3368FF"/>
      </a:accent2>
      <a:accent3>
        <a:srgbClr val="668EFF"/>
      </a:accent3>
      <a:accent4>
        <a:srgbClr val="C6D4FE"/>
      </a:accent4>
      <a:accent5>
        <a:srgbClr val="B3D4FE"/>
      </a:accent5>
      <a:accent6>
        <a:srgbClr val="DCDCDC"/>
      </a:accent6>
      <a:hlink>
        <a:srgbClr val="0042FF"/>
      </a:hlink>
      <a:folHlink>
        <a:srgbClr val="DCDCDC"/>
      </a:folHlink>
    </a:clrScheme>
    <a:fontScheme name="微软雅黑">
      <a:majorFont>
        <a:latin typeface="微软雅黑"/>
        <a:ea typeface="微软雅黑"/>
        <a:cs typeface="微软雅黑"/>
        <a:font script="Jpan" typeface="微软雅黑"/>
        <a:font script="Hang" typeface="微软雅黑"/>
        <a:font script="Hans" typeface="微软雅黑"/>
        <a:font script="Hant" typeface="微软雅黑"/>
        <a:font script="Arab" typeface="微软雅黑"/>
        <a:font script="Hebr" typeface="微软雅黑"/>
        <a:font script="Thai" typeface="微软雅黑"/>
        <a:font script="Ethi" typeface="微软雅黑"/>
        <a:font script="Beng" typeface="微软雅黑"/>
        <a:font script="Gujr" typeface="微软雅黑"/>
        <a:font script="Khmr" typeface="微软雅黑"/>
        <a:font script="Knda" typeface="微软雅黑"/>
        <a:font script="Guru" typeface="微软雅黑"/>
        <a:font script="Cans" typeface="微软雅黑"/>
        <a:font script="Cher" typeface="微软雅黑"/>
        <a:font script="Yiii" typeface="微软雅黑"/>
        <a:font script="Tibt" typeface="微软雅黑"/>
        <a:font script="Thaa" typeface="微软雅黑"/>
        <a:font script="Deva" typeface="微软雅黑"/>
        <a:font script="Telu" typeface="微软雅黑"/>
        <a:font script="Taml" typeface="微软雅黑"/>
        <a:font script="Syrc" typeface="微软雅黑"/>
        <a:font script="Orya" typeface="微软雅黑"/>
        <a:font script="Mlym" typeface="微软雅黑"/>
        <a:font script="Laoo" typeface="微软雅黑"/>
        <a:font script="Sinh" typeface="微软雅黑"/>
        <a:font script="Mong" typeface="微软雅黑"/>
        <a:font script="Viet" typeface="微软雅黑"/>
        <a:font script="Uigh" typeface="微软雅黑"/>
        <a:font script="Geor" typeface="微软雅黑"/>
      </a:majorFont>
      <a:minorFont>
        <a:latin typeface="微软雅黑"/>
        <a:ea typeface="微软雅黑"/>
        <a:cs typeface="微软雅黑"/>
        <a:font script="Jpan" typeface="微软雅黑"/>
        <a:font script="Hang" typeface="微软雅黑"/>
        <a:font script="Hans" typeface="微软雅黑"/>
        <a:font script="Hant" typeface="微软雅黑"/>
        <a:font script="Arab" typeface="微软雅黑"/>
        <a:font script="Hebr" typeface="微软雅黑"/>
        <a:font script="Thai" typeface="微软雅黑"/>
        <a:font script="Ethi" typeface="微软雅黑"/>
        <a:font script="Beng" typeface="微软雅黑"/>
        <a:font script="Gujr" typeface="微软雅黑"/>
        <a:font script="Khmr" typeface="微软雅黑"/>
        <a:font script="Knda" typeface="微软雅黑"/>
        <a:font script="Guru" typeface="微软雅黑"/>
        <a:font script="Cans" typeface="微软雅黑"/>
        <a:font script="Cher" typeface="微软雅黑"/>
        <a:font script="Yiii" typeface="微软雅黑"/>
        <a:font script="Tibt" typeface="微软雅黑"/>
        <a:font script="Thaa" typeface="微软雅黑"/>
        <a:font script="Deva" typeface="微软雅黑"/>
        <a:font script="Telu" typeface="微软雅黑"/>
        <a:font script="Taml" typeface="微软雅黑"/>
        <a:font script="Syrc" typeface="微软雅黑"/>
        <a:font script="Orya" typeface="微软雅黑"/>
        <a:font script="Mlym" typeface="微软雅黑"/>
        <a:font script="Laoo" typeface="微软雅黑"/>
        <a:font script="Sinh" typeface="微软雅黑"/>
        <a:font script="Mong" typeface="微软雅黑"/>
        <a:font script="Viet" typeface="微软雅黑"/>
        <a:font script="Uigh" typeface="微软雅黑"/>
        <a:font script="Geor" typeface="微软雅黑"/>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383838">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中智咨询规范配色">
      <a:dk1>
        <a:srgbClr val="383838"/>
      </a:dk1>
      <a:lt1>
        <a:srgbClr val="FFFFFF"/>
      </a:lt1>
      <a:dk2>
        <a:srgbClr val="383838"/>
      </a:dk2>
      <a:lt2>
        <a:srgbClr val="E6E6E6"/>
      </a:lt2>
      <a:accent1>
        <a:srgbClr val="0042FF"/>
      </a:accent1>
      <a:accent2>
        <a:srgbClr val="3368FF"/>
      </a:accent2>
      <a:accent3>
        <a:srgbClr val="668EFF"/>
      </a:accent3>
      <a:accent4>
        <a:srgbClr val="C6D4FE"/>
      </a:accent4>
      <a:accent5>
        <a:srgbClr val="B3D4FE"/>
      </a:accent5>
      <a:accent6>
        <a:srgbClr val="DCDCDC"/>
      </a:accent6>
      <a:hlink>
        <a:srgbClr val="0042FF"/>
      </a:hlink>
      <a:folHlink>
        <a:srgbClr val="DCDCDC"/>
      </a:folHlink>
    </a:clrScheme>
    <a:fontScheme name="微软雅黑">
      <a:majorFont>
        <a:latin typeface="微软雅黑"/>
        <a:ea typeface="微软雅黑"/>
        <a:cs typeface="微软雅黑"/>
        <a:font script="Jpan" typeface="微软雅黑"/>
        <a:font script="Hang" typeface="微软雅黑"/>
        <a:font script="Hans" typeface="微软雅黑"/>
        <a:font script="Hant" typeface="微软雅黑"/>
        <a:font script="Arab" typeface="微软雅黑"/>
        <a:font script="Hebr" typeface="微软雅黑"/>
        <a:font script="Thai" typeface="微软雅黑"/>
        <a:font script="Ethi" typeface="微软雅黑"/>
        <a:font script="Beng" typeface="微软雅黑"/>
        <a:font script="Gujr" typeface="微软雅黑"/>
        <a:font script="Khmr" typeface="微软雅黑"/>
        <a:font script="Knda" typeface="微软雅黑"/>
        <a:font script="Guru" typeface="微软雅黑"/>
        <a:font script="Cans" typeface="微软雅黑"/>
        <a:font script="Cher" typeface="微软雅黑"/>
        <a:font script="Yiii" typeface="微软雅黑"/>
        <a:font script="Tibt" typeface="微软雅黑"/>
        <a:font script="Thaa" typeface="微软雅黑"/>
        <a:font script="Deva" typeface="微软雅黑"/>
        <a:font script="Telu" typeface="微软雅黑"/>
        <a:font script="Taml" typeface="微软雅黑"/>
        <a:font script="Syrc" typeface="微软雅黑"/>
        <a:font script="Orya" typeface="微软雅黑"/>
        <a:font script="Mlym" typeface="微软雅黑"/>
        <a:font script="Laoo" typeface="微软雅黑"/>
        <a:font script="Sinh" typeface="微软雅黑"/>
        <a:font script="Mong" typeface="微软雅黑"/>
        <a:font script="Viet" typeface="微软雅黑"/>
        <a:font script="Uigh" typeface="微软雅黑"/>
        <a:font script="Geor" typeface="微软雅黑"/>
      </a:majorFont>
      <a:minorFont>
        <a:latin typeface="微软雅黑"/>
        <a:ea typeface="微软雅黑"/>
        <a:cs typeface="微软雅黑"/>
        <a:font script="Jpan" typeface="微软雅黑"/>
        <a:font script="Hang" typeface="微软雅黑"/>
        <a:font script="Hans" typeface="微软雅黑"/>
        <a:font script="Hant" typeface="微软雅黑"/>
        <a:font script="Arab" typeface="微软雅黑"/>
        <a:font script="Hebr" typeface="微软雅黑"/>
        <a:font script="Thai" typeface="微软雅黑"/>
        <a:font script="Ethi" typeface="微软雅黑"/>
        <a:font script="Beng" typeface="微软雅黑"/>
        <a:font script="Gujr" typeface="微软雅黑"/>
        <a:font script="Khmr" typeface="微软雅黑"/>
        <a:font script="Knda" typeface="微软雅黑"/>
        <a:font script="Guru" typeface="微软雅黑"/>
        <a:font script="Cans" typeface="微软雅黑"/>
        <a:font script="Cher" typeface="微软雅黑"/>
        <a:font script="Yiii" typeface="微软雅黑"/>
        <a:font script="Tibt" typeface="微软雅黑"/>
        <a:font script="Thaa" typeface="微软雅黑"/>
        <a:font script="Deva" typeface="微软雅黑"/>
        <a:font script="Telu" typeface="微软雅黑"/>
        <a:font script="Taml" typeface="微软雅黑"/>
        <a:font script="Syrc" typeface="微软雅黑"/>
        <a:font script="Orya" typeface="微软雅黑"/>
        <a:font script="Mlym" typeface="微软雅黑"/>
        <a:font script="Laoo" typeface="微软雅黑"/>
        <a:font script="Sinh" typeface="微软雅黑"/>
        <a:font script="Mong" typeface="微软雅黑"/>
        <a:font script="Viet" typeface="微软雅黑"/>
        <a:font script="Uigh" typeface="微软雅黑"/>
        <a:font script="Geor" typeface="微软雅黑"/>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383838">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中智咨询规范配色">
    <a:dk1>
      <a:srgbClr val="383838"/>
    </a:dk1>
    <a:lt1>
      <a:srgbClr val="FFFFFF"/>
    </a:lt1>
    <a:dk2>
      <a:srgbClr val="383838"/>
    </a:dk2>
    <a:lt2>
      <a:srgbClr val="E6E6E6"/>
    </a:lt2>
    <a:accent1>
      <a:srgbClr val="0042FF"/>
    </a:accent1>
    <a:accent2>
      <a:srgbClr val="3368FF"/>
    </a:accent2>
    <a:accent3>
      <a:srgbClr val="668EFF"/>
    </a:accent3>
    <a:accent4>
      <a:srgbClr val="C6D4FE"/>
    </a:accent4>
    <a:accent5>
      <a:srgbClr val="B3D4FE"/>
    </a:accent5>
    <a:accent6>
      <a:srgbClr val="DCDCDC"/>
    </a:accent6>
    <a:hlink>
      <a:srgbClr val="0042FF"/>
    </a:hlink>
    <a:folHlink>
      <a:srgbClr val="DCDCDC"/>
    </a:folHlink>
  </a:clrScheme>
  <a:fontScheme name="微软雅黑">
    <a:majorFont>
      <a:latin typeface="微软雅黑"/>
      <a:ea typeface="微软雅黑"/>
      <a:cs typeface="微软雅黑"/>
    </a:majorFont>
    <a:minorFont>
      <a:latin typeface="微软雅黑"/>
      <a:ea typeface="微软雅黑"/>
      <a:cs typeface="微软雅黑"/>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383838">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Office Theme</Template>
  <TotalTime>0</TotalTime>
  <Words>95745</Words>
  <Application>WPS 演示</Application>
  <PresentationFormat>宽屏</PresentationFormat>
  <Paragraphs>18342</Paragraphs>
  <Slides>231</Slides>
  <Notes>40</Notes>
  <HiddenSlides>0</HiddenSlides>
  <MMClips>0</MMClips>
  <ScaleCrop>false</ScaleCrop>
  <HeadingPairs>
    <vt:vector size="6" baseType="variant">
      <vt:variant>
        <vt:lpstr>已用的字体</vt:lpstr>
      </vt:variant>
      <vt:variant>
        <vt:i4>56</vt:i4>
      </vt:variant>
      <vt:variant>
        <vt:lpstr>主题</vt:lpstr>
      </vt:variant>
      <vt:variant>
        <vt:i4>2</vt:i4>
      </vt:variant>
      <vt:variant>
        <vt:lpstr>幻灯片标题</vt:lpstr>
      </vt:variant>
      <vt:variant>
        <vt:i4>231</vt:i4>
      </vt:variant>
    </vt:vector>
  </HeadingPairs>
  <TitlesOfParts>
    <vt:vector size="289" baseType="lpstr">
      <vt:lpstr>Arial</vt:lpstr>
      <vt:lpstr>宋体</vt:lpstr>
      <vt:lpstr>Wingdings</vt:lpstr>
      <vt:lpstr>HONOR Sans CN</vt:lpstr>
      <vt:lpstr>微软雅黑</vt:lpstr>
      <vt:lpstr>OPPOSans H</vt:lpstr>
      <vt:lpstr>思源黑体 CN Bold</vt:lpstr>
      <vt:lpstr>思源黑体 CN Normal</vt:lpstr>
      <vt:lpstr>Arial Unicode MS</vt:lpstr>
      <vt:lpstr>vivo type 简 Regular</vt:lpstr>
      <vt:lpstr>Times New Roman</vt:lpstr>
      <vt:lpstr>Wingdings</vt:lpstr>
      <vt:lpstr>等线</vt:lpstr>
      <vt:lpstr>楷体</vt:lpstr>
      <vt:lpstr>-apple-system</vt:lpstr>
      <vt:lpstr>思源宋体 CN Heavy</vt:lpstr>
      <vt:lpstr>阿里巴巴普惠体 M</vt:lpstr>
      <vt:lpstr>黑体</vt:lpstr>
      <vt:lpstr>Barlow Medium</vt:lpstr>
      <vt:lpstr>Arial</vt:lpstr>
      <vt:lpstr>OPPOSans M</vt:lpstr>
      <vt:lpstr>Calibri</vt:lpstr>
      <vt:lpstr>OPPOSans B</vt:lpstr>
      <vt:lpstr>思源黑体 CN Regular</vt:lpstr>
      <vt:lpstr>MiSans Semibold</vt:lpstr>
      <vt:lpstr>OPPOSans R</vt:lpstr>
      <vt:lpstr>Helvetica Neue Medium</vt:lpstr>
      <vt:lpstr>Alimama ShuHeiTi Bold</vt:lpstr>
      <vt:lpstr>Microsoft YaHei Semilight</vt:lpstr>
      <vt:lpstr>PingFang SC Semibold</vt:lpstr>
      <vt:lpstr>Microsoft YaHei Bold</vt:lpstr>
      <vt:lpstr>Microsoft YaHei UI Regular</vt:lpstr>
      <vt:lpstr>Bahnschrift</vt:lpstr>
      <vt:lpstr>OPPO Sans</vt:lpstr>
      <vt:lpstr>Open Sans</vt:lpstr>
      <vt:lpstr>Neris Thin</vt:lpstr>
      <vt:lpstr>Barlow Bold</vt:lpstr>
      <vt:lpstr>Open Sans Bold</vt:lpstr>
      <vt:lpstr>Maven Pro Regular SemiBold</vt:lpstr>
      <vt:lpstr>OpenSans</vt:lpstr>
      <vt:lpstr>Open Sans Regular</vt:lpstr>
      <vt:lpstr>Barlow SemiBold</vt:lpstr>
      <vt:lpstr>HONOR Sans CN Medium</vt:lpstr>
      <vt:lpstr>思源黑体 CN Bold</vt:lpstr>
      <vt:lpstr>思源宋体 CN</vt:lpstr>
      <vt:lpstr>Roboto Regular</vt:lpstr>
      <vt:lpstr>Roboto</vt:lpstr>
      <vt:lpstr>Wingdings 3</vt:lpstr>
      <vt:lpstr>Calibri</vt:lpstr>
      <vt:lpstr>BrownStd Light</vt:lpstr>
      <vt:lpstr>Manrope ExtraLight SemiBold</vt:lpstr>
      <vt:lpstr>Manrope ExtraLight Regular</vt:lpstr>
      <vt:lpstr>Helvetica</vt:lpstr>
      <vt:lpstr>思源黑体 CN Regular</vt:lpstr>
      <vt:lpstr>DM Sans Medium</vt:lpstr>
      <vt:lpstr>Microsoft YaHei UI</vt:lpstr>
      <vt:lpstr>Office 主题​​</vt:lpstr>
      <vt:lpstr>5_Office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徐鸣冲</dc:creator>
  <cp:lastModifiedBy>xmc</cp:lastModifiedBy>
  <cp:revision>367</cp:revision>
  <dcterms:created xsi:type="dcterms:W3CDTF">2022-10-13T07:27:00Z</dcterms:created>
  <dcterms:modified xsi:type="dcterms:W3CDTF">2026-04-11T11:54:30Z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CA97EDF6D6A64F93AC17D52C38E77688_13</vt:lpwstr>
  </property>
  <property fmtid="{D5CDD505-2E9C-101B-9397-08002B2CF9AE}" pid="3" name="KSOProductBuildVer">
    <vt:lpwstr>2052-12.1.0.25222</vt:lpwstr>
  </property>
</Properties>
</file>